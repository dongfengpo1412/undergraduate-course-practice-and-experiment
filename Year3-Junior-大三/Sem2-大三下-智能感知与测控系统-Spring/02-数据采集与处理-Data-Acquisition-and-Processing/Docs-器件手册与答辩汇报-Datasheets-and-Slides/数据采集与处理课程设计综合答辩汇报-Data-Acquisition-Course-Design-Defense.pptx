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wav" ContentType="audio/x-wav"/>
  <Default Extension="png" ContentType="image/png"/>
  <Default Extension="wmf" ContentType="image/x-wmf"/>
  <Default Extension="gif" ContentType="image/gif"/>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0" r:id="rId3"/>
    <p:sldMasterId id="2147483672" r:id="rId4"/>
    <p:sldMasterId id="2147483686" r:id="rId5"/>
    <p:sldMasterId id="2147483700" r:id="rId6"/>
  </p:sldMasterIdLst>
  <p:notesMasterIdLst>
    <p:notesMasterId r:id="rId43"/>
  </p:notesMasterIdLst>
  <p:sldIdLst>
    <p:sldId id="2037" r:id="rId7"/>
    <p:sldId id="1991" r:id="rId8"/>
    <p:sldId id="2048" r:id="rId9"/>
    <p:sldId id="1992" r:id="rId10"/>
    <p:sldId id="1993" r:id="rId11"/>
    <p:sldId id="2066" r:id="rId12"/>
    <p:sldId id="2032" r:id="rId13"/>
    <p:sldId id="1998" r:id="rId14"/>
    <p:sldId id="2044" r:id="rId15"/>
    <p:sldId id="2028" r:id="rId16"/>
    <p:sldId id="2033" r:id="rId17"/>
    <p:sldId id="2034" r:id="rId18"/>
    <p:sldId id="2001" r:id="rId19"/>
    <p:sldId id="2002" r:id="rId20"/>
    <p:sldId id="2003" r:id="rId21"/>
    <p:sldId id="2035" r:id="rId22"/>
    <p:sldId id="2004" r:id="rId23"/>
    <p:sldId id="2036" r:id="rId24"/>
    <p:sldId id="2049" r:id="rId25"/>
    <p:sldId id="2006" r:id="rId26"/>
    <p:sldId id="2007" r:id="rId27"/>
    <p:sldId id="2038" r:id="rId28"/>
    <p:sldId id="2055" r:id="rId29"/>
    <p:sldId id="2008" r:id="rId30"/>
    <p:sldId id="2009" r:id="rId31"/>
    <p:sldId id="2010" r:id="rId32"/>
    <p:sldId id="2011" r:id="rId33"/>
    <p:sldId id="2012" r:id="rId34"/>
    <p:sldId id="2039" r:id="rId35"/>
    <p:sldId id="2013" r:id="rId36"/>
    <p:sldId id="2040" r:id="rId37"/>
    <p:sldId id="2014" r:id="rId38"/>
    <p:sldId id="2015" r:id="rId39"/>
    <p:sldId id="2016" r:id="rId40"/>
    <p:sldId id="2072" r:id="rId41"/>
    <p:sldId id="2073" r:id="rId42"/>
    <p:sldId id="2074" r:id="rId44"/>
    <p:sldId id="2075" r:id="rId45"/>
    <p:sldId id="2076" r:id="rId46"/>
    <p:sldId id="2077" r:id="rId47"/>
    <p:sldId id="2078" r:id="rId48"/>
    <p:sldId id="2079" r:id="rId49"/>
    <p:sldId id="2080" r:id="rId50"/>
    <p:sldId id="2081" r:id="rId51"/>
    <p:sldId id="2082" r:id="rId52"/>
    <p:sldId id="2083" r:id="rId53"/>
    <p:sldId id="2084" r:id="rId54"/>
    <p:sldId id="2085" r:id="rId55"/>
    <p:sldId id="2086" r:id="rId56"/>
    <p:sldId id="2087" r:id="rId57"/>
    <p:sldId id="2088" r:id="rId58"/>
    <p:sldId id="2089" r:id="rId59"/>
    <p:sldId id="2090" r:id="rId60"/>
    <p:sldId id="2091" r:id="rId61"/>
    <p:sldId id="2092" r:id="rId62"/>
    <p:sldId id="2093" r:id="rId63"/>
    <p:sldId id="2094" r:id="rId64"/>
    <p:sldId id="2095" r:id="rId65"/>
    <p:sldId id="2096" r:id="rId66"/>
    <p:sldId id="2097" r:id="rId67"/>
    <p:sldId id="2098" r:id="rId68"/>
    <p:sldId id="2099" r:id="rId69"/>
    <p:sldId id="2100" r:id="rId70"/>
    <p:sldId id="2101" r:id="rId71"/>
    <p:sldId id="2102" r:id="rId72"/>
    <p:sldId id="2103" r:id="rId73"/>
    <p:sldId id="2104" r:id="rId74"/>
    <p:sldId id="2105" r:id="rId75"/>
    <p:sldId id="2106" r:id="rId76"/>
    <p:sldId id="2107" r:id="rId77"/>
    <p:sldId id="2108" r:id="rId78"/>
    <p:sldId id="2109" r:id="rId79"/>
    <p:sldId id="2110" r:id="rId80"/>
    <p:sldId id="2111" r:id="rId81"/>
    <p:sldId id="2112" r:id="rId82"/>
    <p:sldId id="2113" r:id="rId83"/>
    <p:sldId id="2114" r:id="rId84"/>
    <p:sldId id="2115" r:id="rId85"/>
    <p:sldId id="2116" r:id="rId86"/>
    <p:sldId id="2117" r:id="rId87"/>
    <p:sldId id="2118" r:id="rId88"/>
    <p:sldId id="2119" r:id="rId89"/>
    <p:sldId id="2120" r:id="rId90"/>
    <p:sldId id="2121" r:id="rId91"/>
    <p:sldId id="2122" r:id="rId92"/>
    <p:sldId id="2123" r:id="rId93"/>
    <p:sldId id="2124" r:id="rId94"/>
    <p:sldId id="2125" r:id="rId95"/>
    <p:sldId id="2126" r:id="rId96"/>
    <p:sldId id="2127" r:id="rId97"/>
    <p:sldId id="2128" r:id="rId98"/>
    <p:sldId id="2129" r:id="rId99"/>
    <p:sldId id="2130" r:id="rId100"/>
    <p:sldId id="2131" r:id="rId101"/>
    <p:sldId id="2132" r:id="rId102"/>
    <p:sldId id="2133" r:id="rId103"/>
    <p:sldId id="2134" r:id="rId104"/>
    <p:sldId id="2135" r:id="rId105"/>
    <p:sldId id="2136" r:id="rId106"/>
    <p:sldId id="2137" r:id="rId107"/>
    <p:sldId id="2138" r:id="rId108"/>
    <p:sldId id="2139" r:id="rId109"/>
    <p:sldId id="2140" r:id="rId110"/>
    <p:sldId id="2141" r:id="rId111"/>
    <p:sldId id="2142" r:id="rId112"/>
    <p:sldId id="2143" r:id="rId113"/>
    <p:sldId id="2144" r:id="rId114"/>
    <p:sldId id="2145" r:id="rId115"/>
    <p:sldId id="2146" r:id="rId116"/>
    <p:sldId id="2147" r:id="rId117"/>
    <p:sldId id="2148" r:id="rId118"/>
    <p:sldId id="2149" r:id="rId119"/>
    <p:sldId id="2150" r:id="rId120"/>
    <p:sldId id="2151" r:id="rId121"/>
    <p:sldId id="2152" r:id="rId122"/>
    <p:sldId id="2153" r:id="rId123"/>
    <p:sldId id="2154" r:id="rId124"/>
    <p:sldId id="2155" r:id="rId125"/>
    <p:sldId id="2156" r:id="rId126"/>
    <p:sldId id="2157" r:id="rId127"/>
    <p:sldId id="2158" r:id="rId128"/>
    <p:sldId id="2159" r:id="rId129"/>
    <p:sldId id="2160" r:id="rId130"/>
    <p:sldId id="2161" r:id="rId131"/>
    <p:sldId id="2162" r:id="rId132"/>
    <p:sldId id="2163" r:id="rId133"/>
    <p:sldId id="2164" r:id="rId134"/>
    <p:sldId id="2165" r:id="rId135"/>
    <p:sldId id="2166" r:id="rId136"/>
    <p:sldId id="2167" r:id="rId137"/>
    <p:sldId id="2168" r:id="rId138"/>
    <p:sldId id="2169" r:id="rId139"/>
    <p:sldId id="2170" r:id="rId140"/>
    <p:sldId id="2171" r:id="rId141"/>
    <p:sldId id="2172" r:id="rId142"/>
    <p:sldId id="2173" r:id="rId143"/>
    <p:sldId id="2174" r:id="rId144"/>
    <p:sldId id="2175" r:id="rId145"/>
    <p:sldId id="2176" r:id="rId146"/>
    <p:sldId id="2177" r:id="rId147"/>
    <p:sldId id="2178" r:id="rId148"/>
    <p:sldId id="2179" r:id="rId149"/>
    <p:sldId id="2180" r:id="rId150"/>
    <p:sldId id="2181" r:id="rId151"/>
    <p:sldId id="2182" r:id="rId152"/>
    <p:sldId id="2183" r:id="rId153"/>
    <p:sldId id="2184" r:id="rId154"/>
    <p:sldId id="2185" r:id="rId155"/>
    <p:sldId id="2186" r:id="rId156"/>
    <p:sldId id="2187" r:id="rId157"/>
    <p:sldId id="2188" r:id="rId158"/>
    <p:sldId id="2189" r:id="rId159"/>
    <p:sldId id="2190" r:id="rId160"/>
    <p:sldId id="2191" r:id="rId161"/>
    <p:sldId id="2192" r:id="rId162"/>
    <p:sldId id="2193" r:id="rId163"/>
    <p:sldId id="2194" r:id="rId164"/>
    <p:sldId id="2195" r:id="rId165"/>
    <p:sldId id="2196" r:id="rId166"/>
    <p:sldId id="2197" r:id="rId167"/>
    <p:sldId id="2198" r:id="rId168"/>
    <p:sldId id="2199" r:id="rId169"/>
    <p:sldId id="2200" r:id="rId170"/>
    <p:sldId id="2201" r:id="rId171"/>
    <p:sldId id="2202" r:id="rId172"/>
    <p:sldId id="2203" r:id="rId173"/>
    <p:sldId id="2204" r:id="rId174"/>
    <p:sldId id="2205" r:id="rId175"/>
    <p:sldId id="2206" r:id="rId176"/>
    <p:sldId id="2207" r:id="rId177"/>
    <p:sldId id="2208" r:id="rId178"/>
    <p:sldId id="2209" r:id="rId179"/>
    <p:sldId id="2210" r:id="rId180"/>
    <p:sldId id="2211" r:id="rId181"/>
    <p:sldId id="2212" r:id="rId182"/>
    <p:sldId id="2213" r:id="rId183"/>
    <p:sldId id="2214" r:id="rId184"/>
    <p:sldId id="2215" r:id="rId185"/>
    <p:sldId id="2216" r:id="rId186"/>
    <p:sldId id="2217" r:id="rId187"/>
    <p:sldId id="2218" r:id="rId188"/>
    <p:sldId id="2219" r:id="rId189"/>
    <p:sldId id="2220" r:id="rId190"/>
    <p:sldId id="2221" r:id="rId191"/>
    <p:sldId id="2222" r:id="rId192"/>
    <p:sldId id="2223" r:id="rId193"/>
    <p:sldId id="2224" r:id="rId194"/>
    <p:sldId id="2225" r:id="rId195"/>
    <p:sldId id="2226" r:id="rId196"/>
    <p:sldId id="2227" r:id="rId197"/>
    <p:sldId id="2228" r:id="rId198"/>
    <p:sldId id="2229" r:id="rId199"/>
    <p:sldId id="2230" r:id="rId200"/>
    <p:sldId id="2231" r:id="rId201"/>
    <p:sldId id="2232" r:id="rId202"/>
    <p:sldId id="2233" r:id="rId203"/>
    <p:sldId id="2234" r:id="rId204"/>
    <p:sldId id="2235" r:id="rId205"/>
    <p:sldId id="2236" r:id="rId206"/>
    <p:sldId id="2237" r:id="rId207"/>
    <p:sldId id="2238" r:id="rId208"/>
    <p:sldId id="2239" r:id="rId209"/>
    <p:sldId id="2240" r:id="rId210"/>
    <p:sldId id="2241" r:id="rId211"/>
    <p:sldId id="2242" r:id="rId212"/>
    <p:sldId id="2243" r:id="rId213"/>
    <p:sldId id="2244" r:id="rId214"/>
    <p:sldId id="2245" r:id="rId215"/>
    <p:sldId id="2246" r:id="rId216"/>
    <p:sldId id="2247" r:id="rId217"/>
    <p:sldId id="2248" r:id="rId218"/>
    <p:sldId id="2249" r:id="rId219"/>
    <p:sldId id="2250" r:id="rId220"/>
    <p:sldId id="2251" r:id="rId221"/>
    <p:sldId id="2252" r:id="rId222"/>
    <p:sldId id="2253" r:id="rId223"/>
    <p:sldId id="2254" r:id="rId224"/>
    <p:sldId id="2255" r:id="rId225"/>
    <p:sldId id="2256" r:id="rId226"/>
    <p:sldId id="2257" r:id="rId227"/>
    <p:sldId id="2258" r:id="rId228"/>
    <p:sldId id="2259" r:id="rId229"/>
    <p:sldId id="2260" r:id="rId230"/>
    <p:sldId id="2261" r:id="rId231"/>
    <p:sldId id="2262" r:id="rId232"/>
    <p:sldId id="2263" r:id="rId233"/>
    <p:sldId id="2264" r:id="rId234"/>
    <p:sldId id="2265" r:id="rId235"/>
    <p:sldId id="2266" r:id="rId236"/>
    <p:sldId id="2267" r:id="rId237"/>
    <p:sldId id="2268" r:id="rId238"/>
    <p:sldId id="2269" r:id="rId239"/>
    <p:sldId id="2270" r:id="rId240"/>
    <p:sldId id="2271" r:id="rId241"/>
    <p:sldId id="2272" r:id="rId242"/>
    <p:sldId id="2273" r:id="rId243"/>
    <p:sldId id="2274" r:id="rId244"/>
    <p:sldId id="2275" r:id="rId245"/>
    <p:sldId id="2276" r:id="rId246"/>
    <p:sldId id="2277" r:id="rId247"/>
    <p:sldId id="2278" r:id="rId248"/>
    <p:sldId id="2279" r:id="rId249"/>
    <p:sldId id="2280" r:id="rId250"/>
    <p:sldId id="2281" r:id="rId251"/>
    <p:sldId id="2282" r:id="rId252"/>
    <p:sldId id="2283" r:id="rId253"/>
    <p:sldId id="2284" r:id="rId254"/>
    <p:sldId id="2285" r:id="rId255"/>
    <p:sldId id="2286" r:id="rId256"/>
    <p:sldId id="2287" r:id="rId257"/>
    <p:sldId id="2288" r:id="rId258"/>
    <p:sldId id="2289" r:id="rId259"/>
    <p:sldId id="2290" r:id="rId260"/>
    <p:sldId id="2291" r:id="rId261"/>
    <p:sldId id="2292" r:id="rId262"/>
    <p:sldId id="2293" r:id="rId263"/>
    <p:sldId id="2294" r:id="rId264"/>
    <p:sldId id="2295" r:id="rId265"/>
    <p:sldId id="2296" r:id="rId266"/>
    <p:sldId id="2297" r:id="rId267"/>
    <p:sldId id="2298" r:id="rId268"/>
    <p:sldId id="2299" r:id="rId269"/>
    <p:sldId id="2300" r:id="rId270"/>
    <p:sldId id="2301" r:id="rId271"/>
    <p:sldId id="2302" r:id="rId272"/>
    <p:sldId id="2303" r:id="rId273"/>
    <p:sldId id="2304" r:id="rId274"/>
    <p:sldId id="2305" r:id="rId275"/>
    <p:sldId id="2306" r:id="rId276"/>
    <p:sldId id="2307" r:id="rId277"/>
    <p:sldId id="2308" r:id="rId278"/>
    <p:sldId id="2309" r:id="rId279"/>
    <p:sldId id="2310" r:id="rId280"/>
    <p:sldId id="2311" r:id="rId281"/>
    <p:sldId id="2312" r:id="rId282"/>
    <p:sldId id="2313" r:id="rId283"/>
    <p:sldId id="2314" r:id="rId284"/>
    <p:sldId id="2315" r:id="rId285"/>
    <p:sldId id="2316" r:id="rId286"/>
    <p:sldId id="2317" r:id="rId287"/>
    <p:sldId id="2318" r:id="rId288"/>
    <p:sldId id="2319" r:id="rId289"/>
    <p:sldId id="2320" r:id="rId290"/>
    <p:sldId id="2321" r:id="rId291"/>
    <p:sldId id="2322" r:id="rId292"/>
    <p:sldId id="2323" r:id="rId293"/>
    <p:sldId id="2324" r:id="rId294"/>
    <p:sldId id="2325" r:id="rId295"/>
    <p:sldId id="2326" r:id="rId296"/>
    <p:sldId id="2327" r:id="rId297"/>
    <p:sldId id="2328" r:id="rId298"/>
    <p:sldId id="2329" r:id="rId299"/>
    <p:sldId id="2330" r:id="rId300"/>
    <p:sldId id="2331" r:id="rId301"/>
    <p:sldId id="2332" r:id="rId302"/>
    <p:sldId id="2333" r:id="rId303"/>
    <p:sldId id="2334" r:id="rId304"/>
    <p:sldId id="2335" r:id="rId305"/>
    <p:sldId id="2336" r:id="rId306"/>
    <p:sldId id="2337" r:id="rId307"/>
    <p:sldId id="2338" r:id="rId308"/>
    <p:sldId id="2339" r:id="rId309"/>
    <p:sldId id="2340" r:id="rId310"/>
    <p:sldId id="2341" r:id="rId311"/>
    <p:sldId id="2342" r:id="rId312"/>
    <p:sldId id="2343" r:id="rId313"/>
    <p:sldId id="2344" r:id="rId314"/>
    <p:sldId id="2345" r:id="rId315"/>
    <p:sldId id="2346" r:id="rId316"/>
    <p:sldId id="2347" r:id="rId317"/>
    <p:sldId id="2348" r:id="rId318"/>
    <p:sldId id="2349" r:id="rId319"/>
    <p:sldId id="2350" r:id="rId320"/>
    <p:sldId id="2351" r:id="rId321"/>
    <p:sldId id="2352" r:id="rId322"/>
    <p:sldId id="2353" r:id="rId323"/>
    <p:sldId id="2354" r:id="rId324"/>
    <p:sldId id="2355" r:id="rId325"/>
    <p:sldId id="2356" r:id="rId326"/>
    <p:sldId id="2357" r:id="rId327"/>
    <p:sldId id="2358" r:id="rId328"/>
    <p:sldId id="2359" r:id="rId329"/>
    <p:sldId id="2360" r:id="rId330"/>
    <p:sldId id="2361" r:id="rId331"/>
    <p:sldId id="2362" r:id="rId332"/>
    <p:sldId id="2363" r:id="rId333"/>
    <p:sldId id="2364" r:id="rId334"/>
    <p:sldId id="2365" r:id="rId335"/>
    <p:sldId id="2366" r:id="rId336"/>
    <p:sldId id="2367" r:id="rId337"/>
    <p:sldId id="2368" r:id="rId338"/>
    <p:sldId id="2369" r:id="rId339"/>
    <p:sldId id="2370" r:id="rId340"/>
    <p:sldId id="2371" r:id="rId341"/>
    <p:sldId id="2372" r:id="rId342"/>
    <p:sldId id="2373" r:id="rId343"/>
    <p:sldId id="2374" r:id="rId344"/>
    <p:sldId id="2375" r:id="rId345"/>
    <p:sldId id="2376" r:id="rId346"/>
    <p:sldId id="2377" r:id="rId347"/>
    <p:sldId id="2378" r:id="rId348"/>
    <p:sldId id="2379" r:id="rId349"/>
    <p:sldId id="2380" r:id="rId350"/>
    <p:sldId id="2381" r:id="rId351"/>
    <p:sldId id="2382" r:id="rId352"/>
    <p:sldId id="2383" r:id="rId353"/>
    <p:sldId id="2384" r:id="rId354"/>
    <p:sldId id="2385" r:id="rId355"/>
    <p:sldId id="2386" r:id="rId356"/>
    <p:sldId id="2387" r:id="rId357"/>
    <p:sldId id="2388" r:id="rId358"/>
    <p:sldId id="2389" r:id="rId359"/>
    <p:sldId id="2390" r:id="rId360"/>
    <p:sldId id="2391" r:id="rId361"/>
    <p:sldId id="2392" r:id="rId362"/>
    <p:sldId id="2393" r:id="rId363"/>
    <p:sldId id="2394" r:id="rId364"/>
    <p:sldId id="2395" r:id="rId365"/>
    <p:sldId id="2396" r:id="rId366"/>
    <p:sldId id="2397" r:id="rId367"/>
    <p:sldId id="2398" r:id="rId368"/>
    <p:sldId id="2399" r:id="rId369"/>
    <p:sldId id="2400" r:id="rId370"/>
    <p:sldId id="2401" r:id="rId371"/>
    <p:sldId id="2402" r:id="rId372"/>
    <p:sldId id="2403" r:id="rId373"/>
    <p:sldId id="2404" r:id="rId374"/>
    <p:sldId id="2405" r:id="rId375"/>
    <p:sldId id="2406" r:id="rId376"/>
    <p:sldId id="2407" r:id="rId377"/>
    <p:sldId id="2408" r:id="rId378"/>
    <p:sldId id="2409" r:id="rId379"/>
    <p:sldId id="2410" r:id="rId380"/>
    <p:sldId id="2411" r:id="rId381"/>
    <p:sldId id="2412" r:id="rId382"/>
    <p:sldId id="2413" r:id="rId383"/>
    <p:sldId id="2414" r:id="rId384"/>
    <p:sldId id="2415" r:id="rId385"/>
    <p:sldId id="2416" r:id="rId386"/>
    <p:sldId id="2417" r:id="rId387"/>
    <p:sldId id="2418" r:id="rId388"/>
    <p:sldId id="2419" r:id="rId389"/>
    <p:sldId id="2420" r:id="rId390"/>
    <p:sldId id="2421" r:id="rId391"/>
    <p:sldId id="2422" r:id="rId392"/>
    <p:sldId id="2423" r:id="rId393"/>
    <p:sldId id="2424" r:id="rId394"/>
    <p:sldId id="2425" r:id="rId395"/>
    <p:sldId id="2426" r:id="rId396"/>
    <p:sldId id="2427" r:id="rId397"/>
    <p:sldId id="2428" r:id="rId398"/>
    <p:sldId id="2429" r:id="rId399"/>
    <p:sldId id="2430" r:id="rId400"/>
    <p:sldId id="2431" r:id="rId401"/>
    <p:sldId id="2432" r:id="rId402"/>
    <p:sldId id="2433" r:id="rId403"/>
    <p:sldId id="2434" r:id="rId404"/>
    <p:sldId id="2435" r:id="rId405"/>
    <p:sldId id="2436" r:id="rId406"/>
    <p:sldId id="2437" r:id="rId407"/>
    <p:sldId id="2438" r:id="rId408"/>
    <p:sldId id="2439" r:id="rId409"/>
    <p:sldId id="2440" r:id="rId410"/>
    <p:sldId id="2441" r:id="rId411"/>
    <p:sldId id="2442" r:id="rId412"/>
    <p:sldId id="2443" r:id="rId413"/>
    <p:sldId id="2444" r:id="rId414"/>
    <p:sldId id="2445" r:id="rId415"/>
    <p:sldId id="2446" r:id="rId416"/>
    <p:sldId id="2447" r:id="rId417"/>
    <p:sldId id="2448" r:id="rId418"/>
    <p:sldId id="2449" r:id="rId419"/>
    <p:sldId id="2450" r:id="rId420"/>
    <p:sldId id="2451" r:id="rId421"/>
    <p:sldId id="2452" r:id="rId422"/>
    <p:sldId id="2453" r:id="rId423"/>
    <p:sldId id="2454" r:id="rId424"/>
    <p:sldId id="2455" r:id="rId425"/>
    <p:sldId id="2456" r:id="rId426"/>
    <p:sldId id="2457" r:id="rId427"/>
    <p:sldId id="2458" r:id="rId428"/>
    <p:sldId id="2459" r:id="rId429"/>
    <p:sldId id="2460" r:id="rId430"/>
    <p:sldId id="2461" r:id="rId431"/>
    <p:sldId id="2462" r:id="rId432"/>
    <p:sldId id="2463" r:id="rId433"/>
    <p:sldId id="2464" r:id="rId434"/>
    <p:sldId id="2465" r:id="rId435"/>
    <p:sldId id="2466" r:id="rId436"/>
    <p:sldId id="2467" r:id="rId437"/>
    <p:sldId id="2468" r:id="rId438"/>
    <p:sldId id="2469" r:id="rId439"/>
    <p:sldId id="2470" r:id="rId440"/>
    <p:sldId id="2471" r:id="rId441"/>
    <p:sldId id="2472" r:id="rId442"/>
    <p:sldId id="2473" r:id="rId443"/>
    <p:sldId id="2474" r:id="rId444"/>
    <p:sldId id="2475" r:id="rId445"/>
    <p:sldId id="2476" r:id="rId446"/>
    <p:sldId id="2477" r:id="rId447"/>
    <p:sldId id="2478" r:id="rId448"/>
    <p:sldId id="2479" r:id="rId449"/>
    <p:sldId id="2480" r:id="rId450"/>
    <p:sldId id="2481" r:id="rId451"/>
    <p:sldId id="2482" r:id="rId452"/>
    <p:sldId id="2483" r:id="rId453"/>
    <p:sldId id="2484" r:id="rId454"/>
    <p:sldId id="2485" r:id="rId455"/>
    <p:sldId id="2486" r:id="rId456"/>
    <p:sldId id="2487" r:id="rId457"/>
    <p:sldId id="2488" r:id="rId458"/>
    <p:sldId id="2489" r:id="rId459"/>
    <p:sldId id="2490" r:id="rId460"/>
    <p:sldId id="2491" r:id="rId461"/>
    <p:sldId id="2492" r:id="rId462"/>
    <p:sldId id="2493" r:id="rId463"/>
    <p:sldId id="2494" r:id="rId464"/>
    <p:sldId id="2495" r:id="rId465"/>
    <p:sldId id="2496" r:id="rId466"/>
    <p:sldId id="2497" r:id="rId467"/>
    <p:sldId id="2498" r:id="rId468"/>
    <p:sldId id="2499" r:id="rId469"/>
    <p:sldId id="2500" r:id="rId470"/>
    <p:sldId id="2501" r:id="rId471"/>
    <p:sldId id="2502" r:id="rId472"/>
    <p:sldId id="2503" r:id="rId473"/>
    <p:sldId id="2504" r:id="rId474"/>
    <p:sldId id="2505" r:id="rId475"/>
    <p:sldId id="2506" r:id="rId476"/>
    <p:sldId id="2507" r:id="rId477"/>
    <p:sldId id="2508" r:id="rId478"/>
    <p:sldId id="2509" r:id="rId479"/>
    <p:sldId id="2510" r:id="rId480"/>
    <p:sldId id="2511" r:id="rId481"/>
    <p:sldId id="2512" r:id="rId482"/>
    <p:sldId id="2513" r:id="rId483"/>
    <p:sldId id="2514" r:id="rId484"/>
    <p:sldId id="2515" r:id="rId485"/>
    <p:sldId id="2516" r:id="rId486"/>
    <p:sldId id="2517" r:id="rId487"/>
    <p:sldId id="2518" r:id="rId488"/>
    <p:sldId id="2519" r:id="rId489"/>
    <p:sldId id="2520" r:id="rId490"/>
    <p:sldId id="2521" r:id="rId491"/>
    <p:sldId id="2522" r:id="rId492"/>
    <p:sldId id="2523" r:id="rId493"/>
    <p:sldId id="2524" r:id="rId494"/>
    <p:sldId id="2525" r:id="rId495"/>
    <p:sldId id="2526" r:id="rId496"/>
    <p:sldId id="2527" r:id="rId497"/>
    <p:sldId id="2528" r:id="rId498"/>
    <p:sldId id="2529" r:id="rId499"/>
    <p:sldId id="2530" r:id="rId500"/>
    <p:sldId id="2531" r:id="rId501"/>
    <p:sldId id="2532" r:id="rId502"/>
    <p:sldId id="2533" r:id="rId503"/>
    <p:sldId id="2534" r:id="rId504"/>
    <p:sldId id="2535" r:id="rId505"/>
    <p:sldId id="2536" r:id="rId506"/>
    <p:sldId id="2537" r:id="rId507"/>
    <p:sldId id="2538" r:id="rId508"/>
    <p:sldId id="2539" r:id="rId509"/>
    <p:sldId id="2540" r:id="rId510"/>
    <p:sldId id="2541" r:id="rId511"/>
    <p:sldId id="2542" r:id="rId512"/>
    <p:sldId id="2543" r:id="rId513"/>
    <p:sldId id="2544" r:id="rId514"/>
    <p:sldId id="2545" r:id="rId515"/>
    <p:sldId id="2546" r:id="rId516"/>
    <p:sldId id="2547" r:id="rId517"/>
    <p:sldId id="2548" r:id="rId518"/>
    <p:sldId id="2549" r:id="rId519"/>
    <p:sldId id="2550" r:id="rId520"/>
    <p:sldId id="2551" r:id="rId521"/>
    <p:sldId id="2552" r:id="rId522"/>
    <p:sldId id="2553" r:id="rId523"/>
    <p:sldId id="2554" r:id="rId524"/>
    <p:sldId id="2555" r:id="rId525"/>
    <p:sldId id="2556" r:id="rId526"/>
    <p:sldId id="2557" r:id="rId527"/>
    <p:sldId id="2558" r:id="rId528"/>
    <p:sldId id="2559" r:id="rId529"/>
    <p:sldId id="2560" r:id="rId530"/>
    <p:sldId id="2561" r:id="rId531"/>
    <p:sldId id="2562" r:id="rId532"/>
    <p:sldId id="2563" r:id="rId533"/>
    <p:sldId id="2564" r:id="rId534"/>
    <p:sldId id="2565" r:id="rId535"/>
    <p:sldId id="2566" r:id="rId536"/>
    <p:sldId id="2567" r:id="rId537"/>
  </p:sldIdLst>
  <p:sldSz cx="9144000" cy="6858000" type="screen4x3"/>
  <p:notesSz cx="6858000" cy="9144000"/>
  <p:defaultTextStyle>
    <a:defPPr>
      <a:defRPr lang="zh-CN"/>
    </a:defPPr>
    <a:lvl1pPr marL="0" lvl="0"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1pPr>
    <a:lvl2pPr marL="457200" lvl="1"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5pPr>
    <a:lvl6pPr marL="2286000" lvl="5"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6pPr>
    <a:lvl7pPr marL="2743200" lvl="6"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7pPr>
    <a:lvl8pPr marL="3200400" lvl="7"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8pPr>
    <a:lvl9pPr marL="3657600" lvl="8" indent="0" algn="l" defTabSz="914400" rtl="0" eaLnBrk="0" fontAlgn="base" latinLnBrk="0" hangingPunct="0">
      <a:lnSpc>
        <a:spcPct val="100000"/>
      </a:lnSpc>
      <a:spcBef>
        <a:spcPct val="0"/>
      </a:spcBef>
      <a:spcAft>
        <a:spcPct val="0"/>
      </a:spcAft>
      <a:buNone/>
      <a:defRPr sz="3600" b="0" i="0" u="none" kern="1200" baseline="0">
        <a:solidFill>
          <a:srgbClr val="333399"/>
        </a:solidFill>
        <a:latin typeface="Times New Roman" panose="02020603050405020304" pitchFamily="18" charset="0"/>
        <a:ea typeface="楷体_GB2312" pitchFamily="49" charset="-122"/>
        <a:cs typeface="+mn-cs"/>
      </a:defRPr>
    </a:lvl9pPr>
  </p:defaultTextStyle>
  <p:extLst>
    <p:ext uri="{EFAFB233-063F-42B5-8137-9DF3F51BA10A}">
      <p15:sldGuideLst xmlns:p15="http://schemas.microsoft.com/office/powerpoint/2012/main">
        <p15:guide id="1" orient="horz" pos="2174" userDrawn="1">
          <p15:clr>
            <a:srgbClr val="A4A3A4"/>
          </p15:clr>
        </p15:guide>
        <p15:guide id="2" pos="287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C00CC"/>
    <a:srgbClr val="3333CC"/>
    <a:srgbClr val="3333FF"/>
    <a:srgbClr val="333399"/>
    <a:srgbClr val="CCFFFF"/>
    <a:srgbClr val="FF0000"/>
    <a:srgbClr val="3366CC"/>
    <a:srgbClr val="FFCC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0387"/>
    <p:restoredTop sz="99143"/>
  </p:normalViewPr>
  <p:slideViewPr>
    <p:cSldViewPr snapToObjects="1" showGuides="1">
      <p:cViewPr varScale="1">
        <p:scale>
          <a:sx n="107" d="100"/>
          <a:sy n="107" d="100"/>
        </p:scale>
        <p:origin x="705" y="57"/>
      </p:cViewPr>
      <p:guideLst>
        <p:guide orient="horz" pos="2174"/>
        <p:guide pos="2872"/>
      </p:guideLst>
    </p:cSldViewPr>
  </p:slideViewPr>
  <p:outlineViewPr>
    <p:cViewPr>
      <p:scale>
        <a:sx n="33" d="100"/>
        <a:sy n="33" d="100"/>
      </p:scale>
      <p:origin x="0" y="0"/>
    </p:cViewPr>
  </p:outlineViewPr>
  <p:notesTextViewPr>
    <p:cViewPr>
      <p:scale>
        <a:sx n="100" d="100"/>
        <a:sy n="100" d="100"/>
      </p:scale>
      <p:origin x="0" y="0"/>
    </p:cViewPr>
  </p:notesTextViewPr>
  <p:sorterViewPr showFormatting="0">
    <p:cViewPr>
      <p:scale>
        <a:sx n="75" d="100"/>
        <a:sy n="75" d="100"/>
      </p:scale>
      <p:origin x="0" y="0"/>
    </p:cViewPr>
  </p:sorterViewPr>
  <p:gridSpacing cx="36004" cy="36004"/>
</p:viewPr>
</file>

<file path=ppt/_rels/presentation.xml.rels><?xml version="1.0" encoding="UTF-8" standalone="yes"?>
<Relationships xmlns="http://schemas.openxmlformats.org/package/2006/relationships"><Relationship Id="rId99" Type="http://schemas.openxmlformats.org/officeDocument/2006/relationships/slide" Target="slides/slide92.xml"/><Relationship Id="rId98" Type="http://schemas.openxmlformats.org/officeDocument/2006/relationships/slide" Target="slides/slide91.xml"/><Relationship Id="rId97" Type="http://schemas.openxmlformats.org/officeDocument/2006/relationships/slide" Target="slides/slide90.xml"/><Relationship Id="rId96" Type="http://schemas.openxmlformats.org/officeDocument/2006/relationships/slide" Target="slides/slide89.xml"/><Relationship Id="rId95" Type="http://schemas.openxmlformats.org/officeDocument/2006/relationships/slide" Target="slides/slide88.xml"/><Relationship Id="rId94" Type="http://schemas.openxmlformats.org/officeDocument/2006/relationships/slide" Target="slides/slide87.xml"/><Relationship Id="rId93" Type="http://schemas.openxmlformats.org/officeDocument/2006/relationships/slide" Target="slides/slide86.xml"/><Relationship Id="rId92" Type="http://schemas.openxmlformats.org/officeDocument/2006/relationships/slide" Target="slides/slide85.xml"/><Relationship Id="rId91" Type="http://schemas.openxmlformats.org/officeDocument/2006/relationships/slide" Target="slides/slide84.xml"/><Relationship Id="rId90" Type="http://schemas.openxmlformats.org/officeDocument/2006/relationships/slide" Target="slides/slide83.xml"/><Relationship Id="rId9" Type="http://schemas.openxmlformats.org/officeDocument/2006/relationships/slide" Target="slides/slide3.xml"/><Relationship Id="rId89" Type="http://schemas.openxmlformats.org/officeDocument/2006/relationships/slide" Target="slides/slide82.xml"/><Relationship Id="rId88" Type="http://schemas.openxmlformats.org/officeDocument/2006/relationships/slide" Target="slides/slide81.xml"/><Relationship Id="rId87" Type="http://schemas.openxmlformats.org/officeDocument/2006/relationships/slide" Target="slides/slide80.xml"/><Relationship Id="rId86" Type="http://schemas.openxmlformats.org/officeDocument/2006/relationships/slide" Target="slides/slide79.xml"/><Relationship Id="rId85" Type="http://schemas.openxmlformats.org/officeDocument/2006/relationships/slide" Target="slides/slide78.xml"/><Relationship Id="rId84" Type="http://schemas.openxmlformats.org/officeDocument/2006/relationships/slide" Target="slides/slide77.xml"/><Relationship Id="rId83" Type="http://schemas.openxmlformats.org/officeDocument/2006/relationships/slide" Target="slides/slide76.xml"/><Relationship Id="rId82" Type="http://schemas.openxmlformats.org/officeDocument/2006/relationships/slide" Target="slides/slide75.xml"/><Relationship Id="rId81" Type="http://schemas.openxmlformats.org/officeDocument/2006/relationships/slide" Target="slides/slide74.xml"/><Relationship Id="rId80" Type="http://schemas.openxmlformats.org/officeDocument/2006/relationships/slide" Target="slides/slide73.xml"/><Relationship Id="rId8" Type="http://schemas.openxmlformats.org/officeDocument/2006/relationships/slide" Target="slides/slide2.xml"/><Relationship Id="rId79" Type="http://schemas.openxmlformats.org/officeDocument/2006/relationships/slide" Target="slides/slide72.xml"/><Relationship Id="rId78" Type="http://schemas.openxmlformats.org/officeDocument/2006/relationships/slide" Target="slides/slide71.xml"/><Relationship Id="rId77" Type="http://schemas.openxmlformats.org/officeDocument/2006/relationships/slide" Target="slides/slide70.xml"/><Relationship Id="rId76" Type="http://schemas.openxmlformats.org/officeDocument/2006/relationships/slide" Target="slides/slide69.xml"/><Relationship Id="rId75" Type="http://schemas.openxmlformats.org/officeDocument/2006/relationships/slide" Target="slides/slide68.xml"/><Relationship Id="rId74" Type="http://schemas.openxmlformats.org/officeDocument/2006/relationships/slide" Target="slides/slide67.xml"/><Relationship Id="rId73" Type="http://schemas.openxmlformats.org/officeDocument/2006/relationships/slide" Target="slides/slide66.xml"/><Relationship Id="rId72" Type="http://schemas.openxmlformats.org/officeDocument/2006/relationships/slide" Target="slides/slide65.xml"/><Relationship Id="rId71" Type="http://schemas.openxmlformats.org/officeDocument/2006/relationships/slide" Target="slides/slide64.xml"/><Relationship Id="rId70" Type="http://schemas.openxmlformats.org/officeDocument/2006/relationships/slide" Target="slides/slide63.xml"/><Relationship Id="rId7" Type="http://schemas.openxmlformats.org/officeDocument/2006/relationships/slide" Target="slides/slide1.xml"/><Relationship Id="rId69" Type="http://schemas.openxmlformats.org/officeDocument/2006/relationships/slide" Target="slides/slide62.xml"/><Relationship Id="rId68" Type="http://schemas.openxmlformats.org/officeDocument/2006/relationships/slide" Target="slides/slide61.xml"/><Relationship Id="rId67" Type="http://schemas.openxmlformats.org/officeDocument/2006/relationships/slide" Target="slides/slide60.xml"/><Relationship Id="rId66" Type="http://schemas.openxmlformats.org/officeDocument/2006/relationships/slide" Target="slides/slide59.xml"/><Relationship Id="rId65" Type="http://schemas.openxmlformats.org/officeDocument/2006/relationships/slide" Target="slides/slide58.xml"/><Relationship Id="rId64" Type="http://schemas.openxmlformats.org/officeDocument/2006/relationships/slide" Target="slides/slide57.xml"/><Relationship Id="rId63" Type="http://schemas.openxmlformats.org/officeDocument/2006/relationships/slide" Target="slides/slide56.xml"/><Relationship Id="rId62" Type="http://schemas.openxmlformats.org/officeDocument/2006/relationships/slide" Target="slides/slide55.xml"/><Relationship Id="rId61" Type="http://schemas.openxmlformats.org/officeDocument/2006/relationships/slide" Target="slides/slide54.xml"/><Relationship Id="rId60" Type="http://schemas.openxmlformats.org/officeDocument/2006/relationships/slide" Target="slides/slide53.xml"/><Relationship Id="rId6" Type="http://schemas.openxmlformats.org/officeDocument/2006/relationships/slideMaster" Target="slideMasters/slideMaster5.xml"/><Relationship Id="rId59" Type="http://schemas.openxmlformats.org/officeDocument/2006/relationships/slide" Target="slides/slide52.xml"/><Relationship Id="rId58" Type="http://schemas.openxmlformats.org/officeDocument/2006/relationships/slide" Target="slides/slide51.xml"/><Relationship Id="rId57" Type="http://schemas.openxmlformats.org/officeDocument/2006/relationships/slide" Target="slides/slide50.xml"/><Relationship Id="rId56" Type="http://schemas.openxmlformats.org/officeDocument/2006/relationships/slide" Target="slides/slide49.xml"/><Relationship Id="rId55" Type="http://schemas.openxmlformats.org/officeDocument/2006/relationships/slide" Target="slides/slide48.xml"/><Relationship Id="rId540" Type="http://schemas.openxmlformats.org/officeDocument/2006/relationships/tableStyles" Target="tableStyles.xml"/><Relationship Id="rId54" Type="http://schemas.openxmlformats.org/officeDocument/2006/relationships/slide" Target="slides/slide47.xml"/><Relationship Id="rId539" Type="http://schemas.openxmlformats.org/officeDocument/2006/relationships/viewProps" Target="viewProps.xml"/><Relationship Id="rId538" Type="http://schemas.openxmlformats.org/officeDocument/2006/relationships/presProps" Target="presProps.xml"/><Relationship Id="rId537" Type="http://schemas.openxmlformats.org/officeDocument/2006/relationships/slide" Target="slides/slide530.xml"/><Relationship Id="rId536" Type="http://schemas.openxmlformats.org/officeDocument/2006/relationships/slide" Target="slides/slide529.xml"/><Relationship Id="rId535" Type="http://schemas.openxmlformats.org/officeDocument/2006/relationships/slide" Target="slides/slide528.xml"/><Relationship Id="rId534" Type="http://schemas.openxmlformats.org/officeDocument/2006/relationships/slide" Target="slides/slide527.xml"/><Relationship Id="rId533" Type="http://schemas.openxmlformats.org/officeDocument/2006/relationships/slide" Target="slides/slide526.xml"/><Relationship Id="rId532" Type="http://schemas.openxmlformats.org/officeDocument/2006/relationships/slide" Target="slides/slide525.xml"/><Relationship Id="rId531" Type="http://schemas.openxmlformats.org/officeDocument/2006/relationships/slide" Target="slides/slide524.xml"/><Relationship Id="rId530" Type="http://schemas.openxmlformats.org/officeDocument/2006/relationships/slide" Target="slides/slide523.xml"/><Relationship Id="rId53" Type="http://schemas.openxmlformats.org/officeDocument/2006/relationships/slide" Target="slides/slide46.xml"/><Relationship Id="rId529" Type="http://schemas.openxmlformats.org/officeDocument/2006/relationships/slide" Target="slides/slide522.xml"/><Relationship Id="rId528" Type="http://schemas.openxmlformats.org/officeDocument/2006/relationships/slide" Target="slides/slide521.xml"/><Relationship Id="rId527" Type="http://schemas.openxmlformats.org/officeDocument/2006/relationships/slide" Target="slides/slide520.xml"/><Relationship Id="rId526" Type="http://schemas.openxmlformats.org/officeDocument/2006/relationships/slide" Target="slides/slide519.xml"/><Relationship Id="rId525" Type="http://schemas.openxmlformats.org/officeDocument/2006/relationships/slide" Target="slides/slide518.xml"/><Relationship Id="rId524" Type="http://schemas.openxmlformats.org/officeDocument/2006/relationships/slide" Target="slides/slide517.xml"/><Relationship Id="rId523" Type="http://schemas.openxmlformats.org/officeDocument/2006/relationships/slide" Target="slides/slide516.xml"/><Relationship Id="rId522" Type="http://schemas.openxmlformats.org/officeDocument/2006/relationships/slide" Target="slides/slide515.xml"/><Relationship Id="rId521" Type="http://schemas.openxmlformats.org/officeDocument/2006/relationships/slide" Target="slides/slide514.xml"/><Relationship Id="rId520" Type="http://schemas.openxmlformats.org/officeDocument/2006/relationships/slide" Target="slides/slide513.xml"/><Relationship Id="rId52" Type="http://schemas.openxmlformats.org/officeDocument/2006/relationships/slide" Target="slides/slide45.xml"/><Relationship Id="rId519" Type="http://schemas.openxmlformats.org/officeDocument/2006/relationships/slide" Target="slides/slide512.xml"/><Relationship Id="rId518" Type="http://schemas.openxmlformats.org/officeDocument/2006/relationships/slide" Target="slides/slide511.xml"/><Relationship Id="rId517" Type="http://schemas.openxmlformats.org/officeDocument/2006/relationships/slide" Target="slides/slide510.xml"/><Relationship Id="rId516" Type="http://schemas.openxmlformats.org/officeDocument/2006/relationships/slide" Target="slides/slide509.xml"/><Relationship Id="rId515" Type="http://schemas.openxmlformats.org/officeDocument/2006/relationships/slide" Target="slides/slide508.xml"/><Relationship Id="rId514" Type="http://schemas.openxmlformats.org/officeDocument/2006/relationships/slide" Target="slides/slide507.xml"/><Relationship Id="rId513" Type="http://schemas.openxmlformats.org/officeDocument/2006/relationships/slide" Target="slides/slide506.xml"/><Relationship Id="rId512" Type="http://schemas.openxmlformats.org/officeDocument/2006/relationships/slide" Target="slides/slide505.xml"/><Relationship Id="rId511" Type="http://schemas.openxmlformats.org/officeDocument/2006/relationships/slide" Target="slides/slide504.xml"/><Relationship Id="rId510" Type="http://schemas.openxmlformats.org/officeDocument/2006/relationships/slide" Target="slides/slide503.xml"/><Relationship Id="rId51" Type="http://schemas.openxmlformats.org/officeDocument/2006/relationships/slide" Target="slides/slide44.xml"/><Relationship Id="rId509" Type="http://schemas.openxmlformats.org/officeDocument/2006/relationships/slide" Target="slides/slide502.xml"/><Relationship Id="rId508" Type="http://schemas.openxmlformats.org/officeDocument/2006/relationships/slide" Target="slides/slide501.xml"/><Relationship Id="rId507" Type="http://schemas.openxmlformats.org/officeDocument/2006/relationships/slide" Target="slides/slide500.xml"/><Relationship Id="rId506" Type="http://schemas.openxmlformats.org/officeDocument/2006/relationships/slide" Target="slides/slide499.xml"/><Relationship Id="rId505" Type="http://schemas.openxmlformats.org/officeDocument/2006/relationships/slide" Target="slides/slide498.xml"/><Relationship Id="rId504" Type="http://schemas.openxmlformats.org/officeDocument/2006/relationships/slide" Target="slides/slide497.xml"/><Relationship Id="rId503" Type="http://schemas.openxmlformats.org/officeDocument/2006/relationships/slide" Target="slides/slide496.xml"/><Relationship Id="rId502" Type="http://schemas.openxmlformats.org/officeDocument/2006/relationships/slide" Target="slides/slide495.xml"/><Relationship Id="rId501" Type="http://schemas.openxmlformats.org/officeDocument/2006/relationships/slide" Target="slides/slide494.xml"/><Relationship Id="rId500" Type="http://schemas.openxmlformats.org/officeDocument/2006/relationships/slide" Target="slides/slide493.xml"/><Relationship Id="rId50" Type="http://schemas.openxmlformats.org/officeDocument/2006/relationships/slide" Target="slides/slide43.xml"/><Relationship Id="rId5" Type="http://schemas.openxmlformats.org/officeDocument/2006/relationships/slideMaster" Target="slideMasters/slideMaster4.xml"/><Relationship Id="rId499" Type="http://schemas.openxmlformats.org/officeDocument/2006/relationships/slide" Target="slides/slide492.xml"/><Relationship Id="rId498" Type="http://schemas.openxmlformats.org/officeDocument/2006/relationships/slide" Target="slides/slide491.xml"/><Relationship Id="rId497" Type="http://schemas.openxmlformats.org/officeDocument/2006/relationships/slide" Target="slides/slide490.xml"/><Relationship Id="rId496" Type="http://schemas.openxmlformats.org/officeDocument/2006/relationships/slide" Target="slides/slide489.xml"/><Relationship Id="rId495" Type="http://schemas.openxmlformats.org/officeDocument/2006/relationships/slide" Target="slides/slide488.xml"/><Relationship Id="rId494" Type="http://schemas.openxmlformats.org/officeDocument/2006/relationships/slide" Target="slides/slide487.xml"/><Relationship Id="rId493" Type="http://schemas.openxmlformats.org/officeDocument/2006/relationships/slide" Target="slides/slide486.xml"/><Relationship Id="rId492" Type="http://schemas.openxmlformats.org/officeDocument/2006/relationships/slide" Target="slides/slide485.xml"/><Relationship Id="rId491" Type="http://schemas.openxmlformats.org/officeDocument/2006/relationships/slide" Target="slides/slide484.xml"/><Relationship Id="rId490" Type="http://schemas.openxmlformats.org/officeDocument/2006/relationships/slide" Target="slides/slide483.xml"/><Relationship Id="rId49" Type="http://schemas.openxmlformats.org/officeDocument/2006/relationships/slide" Target="slides/slide42.xml"/><Relationship Id="rId489" Type="http://schemas.openxmlformats.org/officeDocument/2006/relationships/slide" Target="slides/slide482.xml"/><Relationship Id="rId488" Type="http://schemas.openxmlformats.org/officeDocument/2006/relationships/slide" Target="slides/slide481.xml"/><Relationship Id="rId487" Type="http://schemas.openxmlformats.org/officeDocument/2006/relationships/slide" Target="slides/slide480.xml"/><Relationship Id="rId486" Type="http://schemas.openxmlformats.org/officeDocument/2006/relationships/slide" Target="slides/slide479.xml"/><Relationship Id="rId485" Type="http://schemas.openxmlformats.org/officeDocument/2006/relationships/slide" Target="slides/slide478.xml"/><Relationship Id="rId484" Type="http://schemas.openxmlformats.org/officeDocument/2006/relationships/slide" Target="slides/slide477.xml"/><Relationship Id="rId483" Type="http://schemas.openxmlformats.org/officeDocument/2006/relationships/slide" Target="slides/slide476.xml"/><Relationship Id="rId482" Type="http://schemas.openxmlformats.org/officeDocument/2006/relationships/slide" Target="slides/slide475.xml"/><Relationship Id="rId481" Type="http://schemas.openxmlformats.org/officeDocument/2006/relationships/slide" Target="slides/slide474.xml"/><Relationship Id="rId480" Type="http://schemas.openxmlformats.org/officeDocument/2006/relationships/slide" Target="slides/slide473.xml"/><Relationship Id="rId48" Type="http://schemas.openxmlformats.org/officeDocument/2006/relationships/slide" Target="slides/slide41.xml"/><Relationship Id="rId479" Type="http://schemas.openxmlformats.org/officeDocument/2006/relationships/slide" Target="slides/slide472.xml"/><Relationship Id="rId478" Type="http://schemas.openxmlformats.org/officeDocument/2006/relationships/slide" Target="slides/slide471.xml"/><Relationship Id="rId477" Type="http://schemas.openxmlformats.org/officeDocument/2006/relationships/slide" Target="slides/slide470.xml"/><Relationship Id="rId476" Type="http://schemas.openxmlformats.org/officeDocument/2006/relationships/slide" Target="slides/slide469.xml"/><Relationship Id="rId475" Type="http://schemas.openxmlformats.org/officeDocument/2006/relationships/slide" Target="slides/slide468.xml"/><Relationship Id="rId474" Type="http://schemas.openxmlformats.org/officeDocument/2006/relationships/slide" Target="slides/slide467.xml"/><Relationship Id="rId473" Type="http://schemas.openxmlformats.org/officeDocument/2006/relationships/slide" Target="slides/slide466.xml"/><Relationship Id="rId472" Type="http://schemas.openxmlformats.org/officeDocument/2006/relationships/slide" Target="slides/slide465.xml"/><Relationship Id="rId471" Type="http://schemas.openxmlformats.org/officeDocument/2006/relationships/slide" Target="slides/slide464.xml"/><Relationship Id="rId470" Type="http://schemas.openxmlformats.org/officeDocument/2006/relationships/slide" Target="slides/slide463.xml"/><Relationship Id="rId47" Type="http://schemas.openxmlformats.org/officeDocument/2006/relationships/slide" Target="slides/slide40.xml"/><Relationship Id="rId469" Type="http://schemas.openxmlformats.org/officeDocument/2006/relationships/slide" Target="slides/slide462.xml"/><Relationship Id="rId468" Type="http://schemas.openxmlformats.org/officeDocument/2006/relationships/slide" Target="slides/slide461.xml"/><Relationship Id="rId467" Type="http://schemas.openxmlformats.org/officeDocument/2006/relationships/slide" Target="slides/slide460.xml"/><Relationship Id="rId466" Type="http://schemas.openxmlformats.org/officeDocument/2006/relationships/slide" Target="slides/slide459.xml"/><Relationship Id="rId465" Type="http://schemas.openxmlformats.org/officeDocument/2006/relationships/slide" Target="slides/slide458.xml"/><Relationship Id="rId464" Type="http://schemas.openxmlformats.org/officeDocument/2006/relationships/slide" Target="slides/slide457.xml"/><Relationship Id="rId463" Type="http://schemas.openxmlformats.org/officeDocument/2006/relationships/slide" Target="slides/slide456.xml"/><Relationship Id="rId462" Type="http://schemas.openxmlformats.org/officeDocument/2006/relationships/slide" Target="slides/slide455.xml"/><Relationship Id="rId461" Type="http://schemas.openxmlformats.org/officeDocument/2006/relationships/slide" Target="slides/slide454.xml"/><Relationship Id="rId460" Type="http://schemas.openxmlformats.org/officeDocument/2006/relationships/slide" Target="slides/slide453.xml"/><Relationship Id="rId46" Type="http://schemas.openxmlformats.org/officeDocument/2006/relationships/slide" Target="slides/slide39.xml"/><Relationship Id="rId459" Type="http://schemas.openxmlformats.org/officeDocument/2006/relationships/slide" Target="slides/slide452.xml"/><Relationship Id="rId458" Type="http://schemas.openxmlformats.org/officeDocument/2006/relationships/slide" Target="slides/slide451.xml"/><Relationship Id="rId457" Type="http://schemas.openxmlformats.org/officeDocument/2006/relationships/slide" Target="slides/slide450.xml"/><Relationship Id="rId456" Type="http://schemas.openxmlformats.org/officeDocument/2006/relationships/slide" Target="slides/slide449.xml"/><Relationship Id="rId455" Type="http://schemas.openxmlformats.org/officeDocument/2006/relationships/slide" Target="slides/slide448.xml"/><Relationship Id="rId454" Type="http://schemas.openxmlformats.org/officeDocument/2006/relationships/slide" Target="slides/slide447.xml"/><Relationship Id="rId453" Type="http://schemas.openxmlformats.org/officeDocument/2006/relationships/slide" Target="slides/slide446.xml"/><Relationship Id="rId452" Type="http://schemas.openxmlformats.org/officeDocument/2006/relationships/slide" Target="slides/slide445.xml"/><Relationship Id="rId451" Type="http://schemas.openxmlformats.org/officeDocument/2006/relationships/slide" Target="slides/slide444.xml"/><Relationship Id="rId450" Type="http://schemas.openxmlformats.org/officeDocument/2006/relationships/slide" Target="slides/slide443.xml"/><Relationship Id="rId45" Type="http://schemas.openxmlformats.org/officeDocument/2006/relationships/slide" Target="slides/slide38.xml"/><Relationship Id="rId449" Type="http://schemas.openxmlformats.org/officeDocument/2006/relationships/slide" Target="slides/slide442.xml"/><Relationship Id="rId448" Type="http://schemas.openxmlformats.org/officeDocument/2006/relationships/slide" Target="slides/slide441.xml"/><Relationship Id="rId447" Type="http://schemas.openxmlformats.org/officeDocument/2006/relationships/slide" Target="slides/slide440.xml"/><Relationship Id="rId446" Type="http://schemas.openxmlformats.org/officeDocument/2006/relationships/slide" Target="slides/slide439.xml"/><Relationship Id="rId445" Type="http://schemas.openxmlformats.org/officeDocument/2006/relationships/slide" Target="slides/slide438.xml"/><Relationship Id="rId444" Type="http://schemas.openxmlformats.org/officeDocument/2006/relationships/slide" Target="slides/slide437.xml"/><Relationship Id="rId443" Type="http://schemas.openxmlformats.org/officeDocument/2006/relationships/slide" Target="slides/slide436.xml"/><Relationship Id="rId442" Type="http://schemas.openxmlformats.org/officeDocument/2006/relationships/slide" Target="slides/slide435.xml"/><Relationship Id="rId441" Type="http://schemas.openxmlformats.org/officeDocument/2006/relationships/slide" Target="slides/slide434.xml"/><Relationship Id="rId440" Type="http://schemas.openxmlformats.org/officeDocument/2006/relationships/slide" Target="slides/slide433.xml"/><Relationship Id="rId44" Type="http://schemas.openxmlformats.org/officeDocument/2006/relationships/slide" Target="slides/slide37.xml"/><Relationship Id="rId439" Type="http://schemas.openxmlformats.org/officeDocument/2006/relationships/slide" Target="slides/slide432.xml"/><Relationship Id="rId438" Type="http://schemas.openxmlformats.org/officeDocument/2006/relationships/slide" Target="slides/slide431.xml"/><Relationship Id="rId437" Type="http://schemas.openxmlformats.org/officeDocument/2006/relationships/slide" Target="slides/slide430.xml"/><Relationship Id="rId436" Type="http://schemas.openxmlformats.org/officeDocument/2006/relationships/slide" Target="slides/slide429.xml"/><Relationship Id="rId435" Type="http://schemas.openxmlformats.org/officeDocument/2006/relationships/slide" Target="slides/slide428.xml"/><Relationship Id="rId434" Type="http://schemas.openxmlformats.org/officeDocument/2006/relationships/slide" Target="slides/slide427.xml"/><Relationship Id="rId433" Type="http://schemas.openxmlformats.org/officeDocument/2006/relationships/slide" Target="slides/slide426.xml"/><Relationship Id="rId432" Type="http://schemas.openxmlformats.org/officeDocument/2006/relationships/slide" Target="slides/slide425.xml"/><Relationship Id="rId431" Type="http://schemas.openxmlformats.org/officeDocument/2006/relationships/slide" Target="slides/slide424.xml"/><Relationship Id="rId430" Type="http://schemas.openxmlformats.org/officeDocument/2006/relationships/slide" Target="slides/slide423.xml"/><Relationship Id="rId43" Type="http://schemas.openxmlformats.org/officeDocument/2006/relationships/notesMaster" Target="notesMasters/notesMaster1.xml"/><Relationship Id="rId429" Type="http://schemas.openxmlformats.org/officeDocument/2006/relationships/slide" Target="slides/slide422.xml"/><Relationship Id="rId428" Type="http://schemas.openxmlformats.org/officeDocument/2006/relationships/slide" Target="slides/slide421.xml"/><Relationship Id="rId427" Type="http://schemas.openxmlformats.org/officeDocument/2006/relationships/slide" Target="slides/slide420.xml"/><Relationship Id="rId426" Type="http://schemas.openxmlformats.org/officeDocument/2006/relationships/slide" Target="slides/slide419.xml"/><Relationship Id="rId425" Type="http://schemas.openxmlformats.org/officeDocument/2006/relationships/slide" Target="slides/slide418.xml"/><Relationship Id="rId424" Type="http://schemas.openxmlformats.org/officeDocument/2006/relationships/slide" Target="slides/slide417.xml"/><Relationship Id="rId423" Type="http://schemas.openxmlformats.org/officeDocument/2006/relationships/slide" Target="slides/slide416.xml"/><Relationship Id="rId422" Type="http://schemas.openxmlformats.org/officeDocument/2006/relationships/slide" Target="slides/slide415.xml"/><Relationship Id="rId421" Type="http://schemas.openxmlformats.org/officeDocument/2006/relationships/slide" Target="slides/slide414.xml"/><Relationship Id="rId420" Type="http://schemas.openxmlformats.org/officeDocument/2006/relationships/slide" Target="slides/slide413.xml"/><Relationship Id="rId42" Type="http://schemas.openxmlformats.org/officeDocument/2006/relationships/slide" Target="slides/slide36.xml"/><Relationship Id="rId419" Type="http://schemas.openxmlformats.org/officeDocument/2006/relationships/slide" Target="slides/slide412.xml"/><Relationship Id="rId418" Type="http://schemas.openxmlformats.org/officeDocument/2006/relationships/slide" Target="slides/slide411.xml"/><Relationship Id="rId417" Type="http://schemas.openxmlformats.org/officeDocument/2006/relationships/slide" Target="slides/slide410.xml"/><Relationship Id="rId416" Type="http://schemas.openxmlformats.org/officeDocument/2006/relationships/slide" Target="slides/slide409.xml"/><Relationship Id="rId415" Type="http://schemas.openxmlformats.org/officeDocument/2006/relationships/slide" Target="slides/slide408.xml"/><Relationship Id="rId414" Type="http://schemas.openxmlformats.org/officeDocument/2006/relationships/slide" Target="slides/slide407.xml"/><Relationship Id="rId413" Type="http://schemas.openxmlformats.org/officeDocument/2006/relationships/slide" Target="slides/slide406.xml"/><Relationship Id="rId412" Type="http://schemas.openxmlformats.org/officeDocument/2006/relationships/slide" Target="slides/slide405.xml"/><Relationship Id="rId411" Type="http://schemas.openxmlformats.org/officeDocument/2006/relationships/slide" Target="slides/slide404.xml"/><Relationship Id="rId410" Type="http://schemas.openxmlformats.org/officeDocument/2006/relationships/slide" Target="slides/slide403.xml"/><Relationship Id="rId41" Type="http://schemas.openxmlformats.org/officeDocument/2006/relationships/slide" Target="slides/slide35.xml"/><Relationship Id="rId409" Type="http://schemas.openxmlformats.org/officeDocument/2006/relationships/slide" Target="slides/slide402.xml"/><Relationship Id="rId408" Type="http://schemas.openxmlformats.org/officeDocument/2006/relationships/slide" Target="slides/slide401.xml"/><Relationship Id="rId407" Type="http://schemas.openxmlformats.org/officeDocument/2006/relationships/slide" Target="slides/slide400.xml"/><Relationship Id="rId406" Type="http://schemas.openxmlformats.org/officeDocument/2006/relationships/slide" Target="slides/slide399.xml"/><Relationship Id="rId405" Type="http://schemas.openxmlformats.org/officeDocument/2006/relationships/slide" Target="slides/slide398.xml"/><Relationship Id="rId404" Type="http://schemas.openxmlformats.org/officeDocument/2006/relationships/slide" Target="slides/slide397.xml"/><Relationship Id="rId403" Type="http://schemas.openxmlformats.org/officeDocument/2006/relationships/slide" Target="slides/slide396.xml"/><Relationship Id="rId402" Type="http://schemas.openxmlformats.org/officeDocument/2006/relationships/slide" Target="slides/slide395.xml"/><Relationship Id="rId401" Type="http://schemas.openxmlformats.org/officeDocument/2006/relationships/slide" Target="slides/slide394.xml"/><Relationship Id="rId400" Type="http://schemas.openxmlformats.org/officeDocument/2006/relationships/slide" Target="slides/slide393.xml"/><Relationship Id="rId40" Type="http://schemas.openxmlformats.org/officeDocument/2006/relationships/slide" Target="slides/slide34.xml"/><Relationship Id="rId4" Type="http://schemas.openxmlformats.org/officeDocument/2006/relationships/slideMaster" Target="slideMasters/slideMaster3.xml"/><Relationship Id="rId399" Type="http://schemas.openxmlformats.org/officeDocument/2006/relationships/slide" Target="slides/slide392.xml"/><Relationship Id="rId398" Type="http://schemas.openxmlformats.org/officeDocument/2006/relationships/slide" Target="slides/slide391.xml"/><Relationship Id="rId397" Type="http://schemas.openxmlformats.org/officeDocument/2006/relationships/slide" Target="slides/slide390.xml"/><Relationship Id="rId396" Type="http://schemas.openxmlformats.org/officeDocument/2006/relationships/slide" Target="slides/slide389.xml"/><Relationship Id="rId395" Type="http://schemas.openxmlformats.org/officeDocument/2006/relationships/slide" Target="slides/slide388.xml"/><Relationship Id="rId394" Type="http://schemas.openxmlformats.org/officeDocument/2006/relationships/slide" Target="slides/slide387.xml"/><Relationship Id="rId393" Type="http://schemas.openxmlformats.org/officeDocument/2006/relationships/slide" Target="slides/slide386.xml"/><Relationship Id="rId392" Type="http://schemas.openxmlformats.org/officeDocument/2006/relationships/slide" Target="slides/slide385.xml"/><Relationship Id="rId391" Type="http://schemas.openxmlformats.org/officeDocument/2006/relationships/slide" Target="slides/slide384.xml"/><Relationship Id="rId390" Type="http://schemas.openxmlformats.org/officeDocument/2006/relationships/slide" Target="slides/slide383.xml"/><Relationship Id="rId39" Type="http://schemas.openxmlformats.org/officeDocument/2006/relationships/slide" Target="slides/slide33.xml"/><Relationship Id="rId389" Type="http://schemas.openxmlformats.org/officeDocument/2006/relationships/slide" Target="slides/slide382.xml"/><Relationship Id="rId388" Type="http://schemas.openxmlformats.org/officeDocument/2006/relationships/slide" Target="slides/slide381.xml"/><Relationship Id="rId387" Type="http://schemas.openxmlformats.org/officeDocument/2006/relationships/slide" Target="slides/slide380.xml"/><Relationship Id="rId386" Type="http://schemas.openxmlformats.org/officeDocument/2006/relationships/slide" Target="slides/slide379.xml"/><Relationship Id="rId385" Type="http://schemas.openxmlformats.org/officeDocument/2006/relationships/slide" Target="slides/slide378.xml"/><Relationship Id="rId384" Type="http://schemas.openxmlformats.org/officeDocument/2006/relationships/slide" Target="slides/slide377.xml"/><Relationship Id="rId383" Type="http://schemas.openxmlformats.org/officeDocument/2006/relationships/slide" Target="slides/slide376.xml"/><Relationship Id="rId382" Type="http://schemas.openxmlformats.org/officeDocument/2006/relationships/slide" Target="slides/slide375.xml"/><Relationship Id="rId381" Type="http://schemas.openxmlformats.org/officeDocument/2006/relationships/slide" Target="slides/slide374.xml"/><Relationship Id="rId380" Type="http://schemas.openxmlformats.org/officeDocument/2006/relationships/slide" Target="slides/slide373.xml"/><Relationship Id="rId38" Type="http://schemas.openxmlformats.org/officeDocument/2006/relationships/slide" Target="slides/slide32.xml"/><Relationship Id="rId379" Type="http://schemas.openxmlformats.org/officeDocument/2006/relationships/slide" Target="slides/slide372.xml"/><Relationship Id="rId378" Type="http://schemas.openxmlformats.org/officeDocument/2006/relationships/slide" Target="slides/slide371.xml"/><Relationship Id="rId377" Type="http://schemas.openxmlformats.org/officeDocument/2006/relationships/slide" Target="slides/slide370.xml"/><Relationship Id="rId376" Type="http://schemas.openxmlformats.org/officeDocument/2006/relationships/slide" Target="slides/slide369.xml"/><Relationship Id="rId375" Type="http://schemas.openxmlformats.org/officeDocument/2006/relationships/slide" Target="slides/slide368.xml"/><Relationship Id="rId374" Type="http://schemas.openxmlformats.org/officeDocument/2006/relationships/slide" Target="slides/slide367.xml"/><Relationship Id="rId373" Type="http://schemas.openxmlformats.org/officeDocument/2006/relationships/slide" Target="slides/slide366.xml"/><Relationship Id="rId372" Type="http://schemas.openxmlformats.org/officeDocument/2006/relationships/slide" Target="slides/slide365.xml"/><Relationship Id="rId371" Type="http://schemas.openxmlformats.org/officeDocument/2006/relationships/slide" Target="slides/slide364.xml"/><Relationship Id="rId370" Type="http://schemas.openxmlformats.org/officeDocument/2006/relationships/slide" Target="slides/slide363.xml"/><Relationship Id="rId37" Type="http://schemas.openxmlformats.org/officeDocument/2006/relationships/slide" Target="slides/slide31.xml"/><Relationship Id="rId369" Type="http://schemas.openxmlformats.org/officeDocument/2006/relationships/slide" Target="slides/slide362.xml"/><Relationship Id="rId368" Type="http://schemas.openxmlformats.org/officeDocument/2006/relationships/slide" Target="slides/slide361.xml"/><Relationship Id="rId367" Type="http://schemas.openxmlformats.org/officeDocument/2006/relationships/slide" Target="slides/slide360.xml"/><Relationship Id="rId366" Type="http://schemas.openxmlformats.org/officeDocument/2006/relationships/slide" Target="slides/slide359.xml"/><Relationship Id="rId365" Type="http://schemas.openxmlformats.org/officeDocument/2006/relationships/slide" Target="slides/slide358.xml"/><Relationship Id="rId364" Type="http://schemas.openxmlformats.org/officeDocument/2006/relationships/slide" Target="slides/slide357.xml"/><Relationship Id="rId363" Type="http://schemas.openxmlformats.org/officeDocument/2006/relationships/slide" Target="slides/slide356.xml"/><Relationship Id="rId362" Type="http://schemas.openxmlformats.org/officeDocument/2006/relationships/slide" Target="slides/slide355.xml"/><Relationship Id="rId361" Type="http://schemas.openxmlformats.org/officeDocument/2006/relationships/slide" Target="slides/slide354.xml"/><Relationship Id="rId360" Type="http://schemas.openxmlformats.org/officeDocument/2006/relationships/slide" Target="slides/slide353.xml"/><Relationship Id="rId36" Type="http://schemas.openxmlformats.org/officeDocument/2006/relationships/slide" Target="slides/slide30.xml"/><Relationship Id="rId359" Type="http://schemas.openxmlformats.org/officeDocument/2006/relationships/slide" Target="slides/slide352.xml"/><Relationship Id="rId358" Type="http://schemas.openxmlformats.org/officeDocument/2006/relationships/slide" Target="slides/slide351.xml"/><Relationship Id="rId357" Type="http://schemas.openxmlformats.org/officeDocument/2006/relationships/slide" Target="slides/slide350.xml"/><Relationship Id="rId356" Type="http://schemas.openxmlformats.org/officeDocument/2006/relationships/slide" Target="slides/slide349.xml"/><Relationship Id="rId355" Type="http://schemas.openxmlformats.org/officeDocument/2006/relationships/slide" Target="slides/slide348.xml"/><Relationship Id="rId354" Type="http://schemas.openxmlformats.org/officeDocument/2006/relationships/slide" Target="slides/slide347.xml"/><Relationship Id="rId353" Type="http://schemas.openxmlformats.org/officeDocument/2006/relationships/slide" Target="slides/slide346.xml"/><Relationship Id="rId352" Type="http://schemas.openxmlformats.org/officeDocument/2006/relationships/slide" Target="slides/slide345.xml"/><Relationship Id="rId351" Type="http://schemas.openxmlformats.org/officeDocument/2006/relationships/slide" Target="slides/slide344.xml"/><Relationship Id="rId350" Type="http://schemas.openxmlformats.org/officeDocument/2006/relationships/slide" Target="slides/slide343.xml"/><Relationship Id="rId35" Type="http://schemas.openxmlformats.org/officeDocument/2006/relationships/slide" Target="slides/slide29.xml"/><Relationship Id="rId349" Type="http://schemas.openxmlformats.org/officeDocument/2006/relationships/slide" Target="slides/slide342.xml"/><Relationship Id="rId348" Type="http://schemas.openxmlformats.org/officeDocument/2006/relationships/slide" Target="slides/slide341.xml"/><Relationship Id="rId347" Type="http://schemas.openxmlformats.org/officeDocument/2006/relationships/slide" Target="slides/slide340.xml"/><Relationship Id="rId346" Type="http://schemas.openxmlformats.org/officeDocument/2006/relationships/slide" Target="slides/slide339.xml"/><Relationship Id="rId345" Type="http://schemas.openxmlformats.org/officeDocument/2006/relationships/slide" Target="slides/slide338.xml"/><Relationship Id="rId344" Type="http://schemas.openxmlformats.org/officeDocument/2006/relationships/slide" Target="slides/slide337.xml"/><Relationship Id="rId343" Type="http://schemas.openxmlformats.org/officeDocument/2006/relationships/slide" Target="slides/slide336.xml"/><Relationship Id="rId342" Type="http://schemas.openxmlformats.org/officeDocument/2006/relationships/slide" Target="slides/slide335.xml"/><Relationship Id="rId341" Type="http://schemas.openxmlformats.org/officeDocument/2006/relationships/slide" Target="slides/slide334.xml"/><Relationship Id="rId340" Type="http://schemas.openxmlformats.org/officeDocument/2006/relationships/slide" Target="slides/slide333.xml"/><Relationship Id="rId34" Type="http://schemas.openxmlformats.org/officeDocument/2006/relationships/slide" Target="slides/slide28.xml"/><Relationship Id="rId339" Type="http://schemas.openxmlformats.org/officeDocument/2006/relationships/slide" Target="slides/slide332.xml"/><Relationship Id="rId338" Type="http://schemas.openxmlformats.org/officeDocument/2006/relationships/slide" Target="slides/slide331.xml"/><Relationship Id="rId337" Type="http://schemas.openxmlformats.org/officeDocument/2006/relationships/slide" Target="slides/slide330.xml"/><Relationship Id="rId336" Type="http://schemas.openxmlformats.org/officeDocument/2006/relationships/slide" Target="slides/slide329.xml"/><Relationship Id="rId335" Type="http://schemas.openxmlformats.org/officeDocument/2006/relationships/slide" Target="slides/slide328.xml"/><Relationship Id="rId334" Type="http://schemas.openxmlformats.org/officeDocument/2006/relationships/slide" Target="slides/slide327.xml"/><Relationship Id="rId333" Type="http://schemas.openxmlformats.org/officeDocument/2006/relationships/slide" Target="slides/slide326.xml"/><Relationship Id="rId332" Type="http://schemas.openxmlformats.org/officeDocument/2006/relationships/slide" Target="slides/slide325.xml"/><Relationship Id="rId331" Type="http://schemas.openxmlformats.org/officeDocument/2006/relationships/slide" Target="slides/slide324.xml"/><Relationship Id="rId330" Type="http://schemas.openxmlformats.org/officeDocument/2006/relationships/slide" Target="slides/slide323.xml"/><Relationship Id="rId33" Type="http://schemas.openxmlformats.org/officeDocument/2006/relationships/slide" Target="slides/slide27.xml"/><Relationship Id="rId329" Type="http://schemas.openxmlformats.org/officeDocument/2006/relationships/slide" Target="slides/slide322.xml"/><Relationship Id="rId328" Type="http://schemas.openxmlformats.org/officeDocument/2006/relationships/slide" Target="slides/slide321.xml"/><Relationship Id="rId327" Type="http://schemas.openxmlformats.org/officeDocument/2006/relationships/slide" Target="slides/slide320.xml"/><Relationship Id="rId326" Type="http://schemas.openxmlformats.org/officeDocument/2006/relationships/slide" Target="slides/slide319.xml"/><Relationship Id="rId325" Type="http://schemas.openxmlformats.org/officeDocument/2006/relationships/slide" Target="slides/slide318.xml"/><Relationship Id="rId324" Type="http://schemas.openxmlformats.org/officeDocument/2006/relationships/slide" Target="slides/slide317.xml"/><Relationship Id="rId323" Type="http://schemas.openxmlformats.org/officeDocument/2006/relationships/slide" Target="slides/slide316.xml"/><Relationship Id="rId322" Type="http://schemas.openxmlformats.org/officeDocument/2006/relationships/slide" Target="slides/slide315.xml"/><Relationship Id="rId321" Type="http://schemas.openxmlformats.org/officeDocument/2006/relationships/slide" Target="slides/slide314.xml"/><Relationship Id="rId320" Type="http://schemas.openxmlformats.org/officeDocument/2006/relationships/slide" Target="slides/slide313.xml"/><Relationship Id="rId32" Type="http://schemas.openxmlformats.org/officeDocument/2006/relationships/slide" Target="slides/slide26.xml"/><Relationship Id="rId319" Type="http://schemas.openxmlformats.org/officeDocument/2006/relationships/slide" Target="slides/slide312.xml"/><Relationship Id="rId318" Type="http://schemas.openxmlformats.org/officeDocument/2006/relationships/slide" Target="slides/slide311.xml"/><Relationship Id="rId317" Type="http://schemas.openxmlformats.org/officeDocument/2006/relationships/slide" Target="slides/slide310.xml"/><Relationship Id="rId316" Type="http://schemas.openxmlformats.org/officeDocument/2006/relationships/slide" Target="slides/slide309.xml"/><Relationship Id="rId315" Type="http://schemas.openxmlformats.org/officeDocument/2006/relationships/slide" Target="slides/slide308.xml"/><Relationship Id="rId314" Type="http://schemas.openxmlformats.org/officeDocument/2006/relationships/slide" Target="slides/slide307.xml"/><Relationship Id="rId313" Type="http://schemas.openxmlformats.org/officeDocument/2006/relationships/slide" Target="slides/slide306.xml"/><Relationship Id="rId312" Type="http://schemas.openxmlformats.org/officeDocument/2006/relationships/slide" Target="slides/slide305.xml"/><Relationship Id="rId311" Type="http://schemas.openxmlformats.org/officeDocument/2006/relationships/slide" Target="slides/slide304.xml"/><Relationship Id="rId310" Type="http://schemas.openxmlformats.org/officeDocument/2006/relationships/slide" Target="slides/slide303.xml"/><Relationship Id="rId31" Type="http://schemas.openxmlformats.org/officeDocument/2006/relationships/slide" Target="slides/slide25.xml"/><Relationship Id="rId309" Type="http://schemas.openxmlformats.org/officeDocument/2006/relationships/slide" Target="slides/slide302.xml"/><Relationship Id="rId308" Type="http://schemas.openxmlformats.org/officeDocument/2006/relationships/slide" Target="slides/slide301.xml"/><Relationship Id="rId307" Type="http://schemas.openxmlformats.org/officeDocument/2006/relationships/slide" Target="slides/slide300.xml"/><Relationship Id="rId306" Type="http://schemas.openxmlformats.org/officeDocument/2006/relationships/slide" Target="slides/slide299.xml"/><Relationship Id="rId305" Type="http://schemas.openxmlformats.org/officeDocument/2006/relationships/slide" Target="slides/slide298.xml"/><Relationship Id="rId304" Type="http://schemas.openxmlformats.org/officeDocument/2006/relationships/slide" Target="slides/slide297.xml"/><Relationship Id="rId303" Type="http://schemas.openxmlformats.org/officeDocument/2006/relationships/slide" Target="slides/slide296.xml"/><Relationship Id="rId302" Type="http://schemas.openxmlformats.org/officeDocument/2006/relationships/slide" Target="slides/slide295.xml"/><Relationship Id="rId301" Type="http://schemas.openxmlformats.org/officeDocument/2006/relationships/slide" Target="slides/slide294.xml"/><Relationship Id="rId300" Type="http://schemas.openxmlformats.org/officeDocument/2006/relationships/slide" Target="slides/slide293.xml"/><Relationship Id="rId30" Type="http://schemas.openxmlformats.org/officeDocument/2006/relationships/slide" Target="slides/slide24.xml"/><Relationship Id="rId3" Type="http://schemas.openxmlformats.org/officeDocument/2006/relationships/slideMaster" Target="slideMasters/slideMaster2.xml"/><Relationship Id="rId299" Type="http://schemas.openxmlformats.org/officeDocument/2006/relationships/slide" Target="slides/slide292.xml"/><Relationship Id="rId298" Type="http://schemas.openxmlformats.org/officeDocument/2006/relationships/slide" Target="slides/slide291.xml"/><Relationship Id="rId297" Type="http://schemas.openxmlformats.org/officeDocument/2006/relationships/slide" Target="slides/slide290.xml"/><Relationship Id="rId296" Type="http://schemas.openxmlformats.org/officeDocument/2006/relationships/slide" Target="slides/slide289.xml"/><Relationship Id="rId295" Type="http://schemas.openxmlformats.org/officeDocument/2006/relationships/slide" Target="slides/slide288.xml"/><Relationship Id="rId294" Type="http://schemas.openxmlformats.org/officeDocument/2006/relationships/slide" Target="slides/slide287.xml"/><Relationship Id="rId293" Type="http://schemas.openxmlformats.org/officeDocument/2006/relationships/slide" Target="slides/slide286.xml"/><Relationship Id="rId292" Type="http://schemas.openxmlformats.org/officeDocument/2006/relationships/slide" Target="slides/slide285.xml"/><Relationship Id="rId291" Type="http://schemas.openxmlformats.org/officeDocument/2006/relationships/slide" Target="slides/slide284.xml"/><Relationship Id="rId290" Type="http://schemas.openxmlformats.org/officeDocument/2006/relationships/slide" Target="slides/slide283.xml"/><Relationship Id="rId29" Type="http://schemas.openxmlformats.org/officeDocument/2006/relationships/slide" Target="slides/slide23.xml"/><Relationship Id="rId289" Type="http://schemas.openxmlformats.org/officeDocument/2006/relationships/slide" Target="slides/slide282.xml"/><Relationship Id="rId288" Type="http://schemas.openxmlformats.org/officeDocument/2006/relationships/slide" Target="slides/slide281.xml"/><Relationship Id="rId287" Type="http://schemas.openxmlformats.org/officeDocument/2006/relationships/slide" Target="slides/slide280.xml"/><Relationship Id="rId286" Type="http://schemas.openxmlformats.org/officeDocument/2006/relationships/slide" Target="slides/slide279.xml"/><Relationship Id="rId285" Type="http://schemas.openxmlformats.org/officeDocument/2006/relationships/slide" Target="slides/slide278.xml"/><Relationship Id="rId284" Type="http://schemas.openxmlformats.org/officeDocument/2006/relationships/slide" Target="slides/slide277.xml"/><Relationship Id="rId283" Type="http://schemas.openxmlformats.org/officeDocument/2006/relationships/slide" Target="slides/slide276.xml"/><Relationship Id="rId282" Type="http://schemas.openxmlformats.org/officeDocument/2006/relationships/slide" Target="slides/slide275.xml"/><Relationship Id="rId281" Type="http://schemas.openxmlformats.org/officeDocument/2006/relationships/slide" Target="slides/slide274.xml"/><Relationship Id="rId280" Type="http://schemas.openxmlformats.org/officeDocument/2006/relationships/slide" Target="slides/slide273.xml"/><Relationship Id="rId28" Type="http://schemas.openxmlformats.org/officeDocument/2006/relationships/slide" Target="slides/slide22.xml"/><Relationship Id="rId279" Type="http://schemas.openxmlformats.org/officeDocument/2006/relationships/slide" Target="slides/slide272.xml"/><Relationship Id="rId278" Type="http://schemas.openxmlformats.org/officeDocument/2006/relationships/slide" Target="slides/slide271.xml"/><Relationship Id="rId277" Type="http://schemas.openxmlformats.org/officeDocument/2006/relationships/slide" Target="slides/slide270.xml"/><Relationship Id="rId276" Type="http://schemas.openxmlformats.org/officeDocument/2006/relationships/slide" Target="slides/slide269.xml"/><Relationship Id="rId275" Type="http://schemas.openxmlformats.org/officeDocument/2006/relationships/slide" Target="slides/slide268.xml"/><Relationship Id="rId274" Type="http://schemas.openxmlformats.org/officeDocument/2006/relationships/slide" Target="slides/slide267.xml"/><Relationship Id="rId273" Type="http://schemas.openxmlformats.org/officeDocument/2006/relationships/slide" Target="slides/slide266.xml"/><Relationship Id="rId272" Type="http://schemas.openxmlformats.org/officeDocument/2006/relationships/slide" Target="slides/slide265.xml"/><Relationship Id="rId271" Type="http://schemas.openxmlformats.org/officeDocument/2006/relationships/slide" Target="slides/slide264.xml"/><Relationship Id="rId270" Type="http://schemas.openxmlformats.org/officeDocument/2006/relationships/slide" Target="slides/slide263.xml"/><Relationship Id="rId27" Type="http://schemas.openxmlformats.org/officeDocument/2006/relationships/slide" Target="slides/slide21.xml"/><Relationship Id="rId269" Type="http://schemas.openxmlformats.org/officeDocument/2006/relationships/slide" Target="slides/slide262.xml"/><Relationship Id="rId268" Type="http://schemas.openxmlformats.org/officeDocument/2006/relationships/slide" Target="slides/slide261.xml"/><Relationship Id="rId267" Type="http://schemas.openxmlformats.org/officeDocument/2006/relationships/slide" Target="slides/slide260.xml"/><Relationship Id="rId266" Type="http://schemas.openxmlformats.org/officeDocument/2006/relationships/slide" Target="slides/slide259.xml"/><Relationship Id="rId265" Type="http://schemas.openxmlformats.org/officeDocument/2006/relationships/slide" Target="slides/slide258.xml"/><Relationship Id="rId264" Type="http://schemas.openxmlformats.org/officeDocument/2006/relationships/slide" Target="slides/slide257.xml"/><Relationship Id="rId263" Type="http://schemas.openxmlformats.org/officeDocument/2006/relationships/slide" Target="slides/slide256.xml"/><Relationship Id="rId262" Type="http://schemas.openxmlformats.org/officeDocument/2006/relationships/slide" Target="slides/slide255.xml"/><Relationship Id="rId261" Type="http://schemas.openxmlformats.org/officeDocument/2006/relationships/slide" Target="slides/slide254.xml"/><Relationship Id="rId260" Type="http://schemas.openxmlformats.org/officeDocument/2006/relationships/slide" Target="slides/slide253.xml"/><Relationship Id="rId26" Type="http://schemas.openxmlformats.org/officeDocument/2006/relationships/slide" Target="slides/slide20.xml"/><Relationship Id="rId259" Type="http://schemas.openxmlformats.org/officeDocument/2006/relationships/slide" Target="slides/slide252.xml"/><Relationship Id="rId258" Type="http://schemas.openxmlformats.org/officeDocument/2006/relationships/slide" Target="slides/slide251.xml"/><Relationship Id="rId257" Type="http://schemas.openxmlformats.org/officeDocument/2006/relationships/slide" Target="slides/slide250.xml"/><Relationship Id="rId256" Type="http://schemas.openxmlformats.org/officeDocument/2006/relationships/slide" Target="slides/slide249.xml"/><Relationship Id="rId255" Type="http://schemas.openxmlformats.org/officeDocument/2006/relationships/slide" Target="slides/slide248.xml"/><Relationship Id="rId254" Type="http://schemas.openxmlformats.org/officeDocument/2006/relationships/slide" Target="slides/slide247.xml"/><Relationship Id="rId253" Type="http://schemas.openxmlformats.org/officeDocument/2006/relationships/slide" Target="slides/slide246.xml"/><Relationship Id="rId252" Type="http://schemas.openxmlformats.org/officeDocument/2006/relationships/slide" Target="slides/slide245.xml"/><Relationship Id="rId251" Type="http://schemas.openxmlformats.org/officeDocument/2006/relationships/slide" Target="slides/slide244.xml"/><Relationship Id="rId250" Type="http://schemas.openxmlformats.org/officeDocument/2006/relationships/slide" Target="slides/slide243.xml"/><Relationship Id="rId25" Type="http://schemas.openxmlformats.org/officeDocument/2006/relationships/slide" Target="slides/slide19.xml"/><Relationship Id="rId249" Type="http://schemas.openxmlformats.org/officeDocument/2006/relationships/slide" Target="slides/slide242.xml"/><Relationship Id="rId248" Type="http://schemas.openxmlformats.org/officeDocument/2006/relationships/slide" Target="slides/slide241.xml"/><Relationship Id="rId247" Type="http://schemas.openxmlformats.org/officeDocument/2006/relationships/slide" Target="slides/slide240.xml"/><Relationship Id="rId246" Type="http://schemas.openxmlformats.org/officeDocument/2006/relationships/slide" Target="slides/slide239.xml"/><Relationship Id="rId245" Type="http://schemas.openxmlformats.org/officeDocument/2006/relationships/slide" Target="slides/slide238.xml"/><Relationship Id="rId244" Type="http://schemas.openxmlformats.org/officeDocument/2006/relationships/slide" Target="slides/slide237.xml"/><Relationship Id="rId243" Type="http://schemas.openxmlformats.org/officeDocument/2006/relationships/slide" Target="slides/slide236.xml"/><Relationship Id="rId242" Type="http://schemas.openxmlformats.org/officeDocument/2006/relationships/slide" Target="slides/slide235.xml"/><Relationship Id="rId241" Type="http://schemas.openxmlformats.org/officeDocument/2006/relationships/slide" Target="slides/slide234.xml"/><Relationship Id="rId240" Type="http://schemas.openxmlformats.org/officeDocument/2006/relationships/slide" Target="slides/slide233.xml"/><Relationship Id="rId24" Type="http://schemas.openxmlformats.org/officeDocument/2006/relationships/slide" Target="slides/slide18.xml"/><Relationship Id="rId239" Type="http://schemas.openxmlformats.org/officeDocument/2006/relationships/slide" Target="slides/slide232.xml"/><Relationship Id="rId238" Type="http://schemas.openxmlformats.org/officeDocument/2006/relationships/slide" Target="slides/slide231.xml"/><Relationship Id="rId237" Type="http://schemas.openxmlformats.org/officeDocument/2006/relationships/slide" Target="slides/slide230.xml"/><Relationship Id="rId236" Type="http://schemas.openxmlformats.org/officeDocument/2006/relationships/slide" Target="slides/slide229.xml"/><Relationship Id="rId235" Type="http://schemas.openxmlformats.org/officeDocument/2006/relationships/slide" Target="slides/slide228.xml"/><Relationship Id="rId234" Type="http://schemas.openxmlformats.org/officeDocument/2006/relationships/slide" Target="slides/slide227.xml"/><Relationship Id="rId233" Type="http://schemas.openxmlformats.org/officeDocument/2006/relationships/slide" Target="slides/slide226.xml"/><Relationship Id="rId232" Type="http://schemas.openxmlformats.org/officeDocument/2006/relationships/slide" Target="slides/slide225.xml"/><Relationship Id="rId231" Type="http://schemas.openxmlformats.org/officeDocument/2006/relationships/slide" Target="slides/slide224.xml"/><Relationship Id="rId230" Type="http://schemas.openxmlformats.org/officeDocument/2006/relationships/slide" Target="slides/slide223.xml"/><Relationship Id="rId23" Type="http://schemas.openxmlformats.org/officeDocument/2006/relationships/slide" Target="slides/slide17.xml"/><Relationship Id="rId229" Type="http://schemas.openxmlformats.org/officeDocument/2006/relationships/slide" Target="slides/slide222.xml"/><Relationship Id="rId228" Type="http://schemas.openxmlformats.org/officeDocument/2006/relationships/slide" Target="slides/slide221.xml"/><Relationship Id="rId227" Type="http://schemas.openxmlformats.org/officeDocument/2006/relationships/slide" Target="slides/slide220.xml"/><Relationship Id="rId226" Type="http://schemas.openxmlformats.org/officeDocument/2006/relationships/slide" Target="slides/slide219.xml"/><Relationship Id="rId225" Type="http://schemas.openxmlformats.org/officeDocument/2006/relationships/slide" Target="slides/slide218.xml"/><Relationship Id="rId224" Type="http://schemas.openxmlformats.org/officeDocument/2006/relationships/slide" Target="slides/slide217.xml"/><Relationship Id="rId223" Type="http://schemas.openxmlformats.org/officeDocument/2006/relationships/slide" Target="slides/slide216.xml"/><Relationship Id="rId222" Type="http://schemas.openxmlformats.org/officeDocument/2006/relationships/slide" Target="slides/slide215.xml"/><Relationship Id="rId221" Type="http://schemas.openxmlformats.org/officeDocument/2006/relationships/slide" Target="slides/slide214.xml"/><Relationship Id="rId220" Type="http://schemas.openxmlformats.org/officeDocument/2006/relationships/slide" Target="slides/slide213.xml"/><Relationship Id="rId22" Type="http://schemas.openxmlformats.org/officeDocument/2006/relationships/slide" Target="slides/slide16.xml"/><Relationship Id="rId219" Type="http://schemas.openxmlformats.org/officeDocument/2006/relationships/slide" Target="slides/slide212.xml"/><Relationship Id="rId218" Type="http://schemas.openxmlformats.org/officeDocument/2006/relationships/slide" Target="slides/slide211.xml"/><Relationship Id="rId217" Type="http://schemas.openxmlformats.org/officeDocument/2006/relationships/slide" Target="slides/slide210.xml"/><Relationship Id="rId216" Type="http://schemas.openxmlformats.org/officeDocument/2006/relationships/slide" Target="slides/slide209.xml"/><Relationship Id="rId215" Type="http://schemas.openxmlformats.org/officeDocument/2006/relationships/slide" Target="slides/slide208.xml"/><Relationship Id="rId214" Type="http://schemas.openxmlformats.org/officeDocument/2006/relationships/slide" Target="slides/slide207.xml"/><Relationship Id="rId213" Type="http://schemas.openxmlformats.org/officeDocument/2006/relationships/slide" Target="slides/slide206.xml"/><Relationship Id="rId212" Type="http://schemas.openxmlformats.org/officeDocument/2006/relationships/slide" Target="slides/slide205.xml"/><Relationship Id="rId211" Type="http://schemas.openxmlformats.org/officeDocument/2006/relationships/slide" Target="slides/slide204.xml"/><Relationship Id="rId210" Type="http://schemas.openxmlformats.org/officeDocument/2006/relationships/slide" Target="slides/slide203.xml"/><Relationship Id="rId21" Type="http://schemas.openxmlformats.org/officeDocument/2006/relationships/slide" Target="slides/slide15.xml"/><Relationship Id="rId209" Type="http://schemas.openxmlformats.org/officeDocument/2006/relationships/slide" Target="slides/slide202.xml"/><Relationship Id="rId208" Type="http://schemas.openxmlformats.org/officeDocument/2006/relationships/slide" Target="slides/slide201.xml"/><Relationship Id="rId207" Type="http://schemas.openxmlformats.org/officeDocument/2006/relationships/slide" Target="slides/slide200.xml"/><Relationship Id="rId206" Type="http://schemas.openxmlformats.org/officeDocument/2006/relationships/slide" Target="slides/slide199.xml"/><Relationship Id="rId205" Type="http://schemas.openxmlformats.org/officeDocument/2006/relationships/slide" Target="slides/slide198.xml"/><Relationship Id="rId204" Type="http://schemas.openxmlformats.org/officeDocument/2006/relationships/slide" Target="slides/slide197.xml"/><Relationship Id="rId203" Type="http://schemas.openxmlformats.org/officeDocument/2006/relationships/slide" Target="slides/slide196.xml"/><Relationship Id="rId202" Type="http://schemas.openxmlformats.org/officeDocument/2006/relationships/slide" Target="slides/slide195.xml"/><Relationship Id="rId201" Type="http://schemas.openxmlformats.org/officeDocument/2006/relationships/slide" Target="slides/slide194.xml"/><Relationship Id="rId200" Type="http://schemas.openxmlformats.org/officeDocument/2006/relationships/slide" Target="slides/slide193.xml"/><Relationship Id="rId20" Type="http://schemas.openxmlformats.org/officeDocument/2006/relationships/slide" Target="slides/slide14.xml"/><Relationship Id="rId2" Type="http://schemas.openxmlformats.org/officeDocument/2006/relationships/theme" Target="theme/theme1.xml"/><Relationship Id="rId199" Type="http://schemas.openxmlformats.org/officeDocument/2006/relationships/slide" Target="slides/slide192.xml"/><Relationship Id="rId198" Type="http://schemas.openxmlformats.org/officeDocument/2006/relationships/slide" Target="slides/slide191.xml"/><Relationship Id="rId197" Type="http://schemas.openxmlformats.org/officeDocument/2006/relationships/slide" Target="slides/slide190.xml"/><Relationship Id="rId196" Type="http://schemas.openxmlformats.org/officeDocument/2006/relationships/slide" Target="slides/slide189.xml"/><Relationship Id="rId195" Type="http://schemas.openxmlformats.org/officeDocument/2006/relationships/slide" Target="slides/slide188.xml"/><Relationship Id="rId194" Type="http://schemas.openxmlformats.org/officeDocument/2006/relationships/slide" Target="slides/slide187.xml"/><Relationship Id="rId193" Type="http://schemas.openxmlformats.org/officeDocument/2006/relationships/slide" Target="slides/slide186.xml"/><Relationship Id="rId192" Type="http://schemas.openxmlformats.org/officeDocument/2006/relationships/slide" Target="slides/slide185.xml"/><Relationship Id="rId191" Type="http://schemas.openxmlformats.org/officeDocument/2006/relationships/slide" Target="slides/slide184.xml"/><Relationship Id="rId190" Type="http://schemas.openxmlformats.org/officeDocument/2006/relationships/slide" Target="slides/slide183.xml"/><Relationship Id="rId19" Type="http://schemas.openxmlformats.org/officeDocument/2006/relationships/slide" Target="slides/slide13.xml"/><Relationship Id="rId189" Type="http://schemas.openxmlformats.org/officeDocument/2006/relationships/slide" Target="slides/slide182.xml"/><Relationship Id="rId188" Type="http://schemas.openxmlformats.org/officeDocument/2006/relationships/slide" Target="slides/slide181.xml"/><Relationship Id="rId187" Type="http://schemas.openxmlformats.org/officeDocument/2006/relationships/slide" Target="slides/slide180.xml"/><Relationship Id="rId186" Type="http://schemas.openxmlformats.org/officeDocument/2006/relationships/slide" Target="slides/slide179.xml"/><Relationship Id="rId185" Type="http://schemas.openxmlformats.org/officeDocument/2006/relationships/slide" Target="slides/slide178.xml"/><Relationship Id="rId184" Type="http://schemas.openxmlformats.org/officeDocument/2006/relationships/slide" Target="slides/slide177.xml"/><Relationship Id="rId183" Type="http://schemas.openxmlformats.org/officeDocument/2006/relationships/slide" Target="slides/slide176.xml"/><Relationship Id="rId182" Type="http://schemas.openxmlformats.org/officeDocument/2006/relationships/slide" Target="slides/slide175.xml"/><Relationship Id="rId181" Type="http://schemas.openxmlformats.org/officeDocument/2006/relationships/slide" Target="slides/slide174.xml"/><Relationship Id="rId180" Type="http://schemas.openxmlformats.org/officeDocument/2006/relationships/slide" Target="slides/slide173.xml"/><Relationship Id="rId18" Type="http://schemas.openxmlformats.org/officeDocument/2006/relationships/slide" Target="slides/slide12.xml"/><Relationship Id="rId179" Type="http://schemas.openxmlformats.org/officeDocument/2006/relationships/slide" Target="slides/slide172.xml"/><Relationship Id="rId178" Type="http://schemas.openxmlformats.org/officeDocument/2006/relationships/slide" Target="slides/slide171.xml"/><Relationship Id="rId177" Type="http://schemas.openxmlformats.org/officeDocument/2006/relationships/slide" Target="slides/slide170.xml"/><Relationship Id="rId176" Type="http://schemas.openxmlformats.org/officeDocument/2006/relationships/slide" Target="slides/slide169.xml"/><Relationship Id="rId175" Type="http://schemas.openxmlformats.org/officeDocument/2006/relationships/slide" Target="slides/slide168.xml"/><Relationship Id="rId174" Type="http://schemas.openxmlformats.org/officeDocument/2006/relationships/slide" Target="slides/slide167.xml"/><Relationship Id="rId173" Type="http://schemas.openxmlformats.org/officeDocument/2006/relationships/slide" Target="slides/slide166.xml"/><Relationship Id="rId172" Type="http://schemas.openxmlformats.org/officeDocument/2006/relationships/slide" Target="slides/slide165.xml"/><Relationship Id="rId171" Type="http://schemas.openxmlformats.org/officeDocument/2006/relationships/slide" Target="slides/slide164.xml"/><Relationship Id="rId170" Type="http://schemas.openxmlformats.org/officeDocument/2006/relationships/slide" Target="slides/slide163.xml"/><Relationship Id="rId17" Type="http://schemas.openxmlformats.org/officeDocument/2006/relationships/slide" Target="slides/slide11.xml"/><Relationship Id="rId169" Type="http://schemas.openxmlformats.org/officeDocument/2006/relationships/slide" Target="slides/slide162.xml"/><Relationship Id="rId168" Type="http://schemas.openxmlformats.org/officeDocument/2006/relationships/slide" Target="slides/slide161.xml"/><Relationship Id="rId167" Type="http://schemas.openxmlformats.org/officeDocument/2006/relationships/slide" Target="slides/slide160.xml"/><Relationship Id="rId166" Type="http://schemas.openxmlformats.org/officeDocument/2006/relationships/slide" Target="slides/slide159.xml"/><Relationship Id="rId165" Type="http://schemas.openxmlformats.org/officeDocument/2006/relationships/slide" Target="slides/slide158.xml"/><Relationship Id="rId164" Type="http://schemas.openxmlformats.org/officeDocument/2006/relationships/slide" Target="slides/slide157.xml"/><Relationship Id="rId163" Type="http://schemas.openxmlformats.org/officeDocument/2006/relationships/slide" Target="slides/slide156.xml"/><Relationship Id="rId162" Type="http://schemas.openxmlformats.org/officeDocument/2006/relationships/slide" Target="slides/slide155.xml"/><Relationship Id="rId161" Type="http://schemas.openxmlformats.org/officeDocument/2006/relationships/slide" Target="slides/slide154.xml"/><Relationship Id="rId160" Type="http://schemas.openxmlformats.org/officeDocument/2006/relationships/slide" Target="slides/slide153.xml"/><Relationship Id="rId16" Type="http://schemas.openxmlformats.org/officeDocument/2006/relationships/slide" Target="slides/slide10.xml"/><Relationship Id="rId159" Type="http://schemas.openxmlformats.org/officeDocument/2006/relationships/slide" Target="slides/slide152.xml"/><Relationship Id="rId158" Type="http://schemas.openxmlformats.org/officeDocument/2006/relationships/slide" Target="slides/slide151.xml"/><Relationship Id="rId157" Type="http://schemas.openxmlformats.org/officeDocument/2006/relationships/slide" Target="slides/slide150.xml"/><Relationship Id="rId156" Type="http://schemas.openxmlformats.org/officeDocument/2006/relationships/slide" Target="slides/slide149.xml"/><Relationship Id="rId155" Type="http://schemas.openxmlformats.org/officeDocument/2006/relationships/slide" Target="slides/slide148.xml"/><Relationship Id="rId154" Type="http://schemas.openxmlformats.org/officeDocument/2006/relationships/slide" Target="slides/slide147.xml"/><Relationship Id="rId153" Type="http://schemas.openxmlformats.org/officeDocument/2006/relationships/slide" Target="slides/slide146.xml"/><Relationship Id="rId152" Type="http://schemas.openxmlformats.org/officeDocument/2006/relationships/slide" Target="slides/slide145.xml"/><Relationship Id="rId151" Type="http://schemas.openxmlformats.org/officeDocument/2006/relationships/slide" Target="slides/slide144.xml"/><Relationship Id="rId150" Type="http://schemas.openxmlformats.org/officeDocument/2006/relationships/slide" Target="slides/slide143.xml"/><Relationship Id="rId15" Type="http://schemas.openxmlformats.org/officeDocument/2006/relationships/slide" Target="slides/slide9.xml"/><Relationship Id="rId149" Type="http://schemas.openxmlformats.org/officeDocument/2006/relationships/slide" Target="slides/slide142.xml"/><Relationship Id="rId148" Type="http://schemas.openxmlformats.org/officeDocument/2006/relationships/slide" Target="slides/slide141.xml"/><Relationship Id="rId147" Type="http://schemas.openxmlformats.org/officeDocument/2006/relationships/slide" Target="slides/slide140.xml"/><Relationship Id="rId146" Type="http://schemas.openxmlformats.org/officeDocument/2006/relationships/slide" Target="slides/slide139.xml"/><Relationship Id="rId145" Type="http://schemas.openxmlformats.org/officeDocument/2006/relationships/slide" Target="slides/slide138.xml"/><Relationship Id="rId144" Type="http://schemas.openxmlformats.org/officeDocument/2006/relationships/slide" Target="slides/slide137.xml"/><Relationship Id="rId143" Type="http://schemas.openxmlformats.org/officeDocument/2006/relationships/slide" Target="slides/slide136.xml"/><Relationship Id="rId142" Type="http://schemas.openxmlformats.org/officeDocument/2006/relationships/slide" Target="slides/slide135.xml"/><Relationship Id="rId141" Type="http://schemas.openxmlformats.org/officeDocument/2006/relationships/slide" Target="slides/slide134.xml"/><Relationship Id="rId140" Type="http://schemas.openxmlformats.org/officeDocument/2006/relationships/slide" Target="slides/slide133.xml"/><Relationship Id="rId14" Type="http://schemas.openxmlformats.org/officeDocument/2006/relationships/slide" Target="slides/slide8.xml"/><Relationship Id="rId139" Type="http://schemas.openxmlformats.org/officeDocument/2006/relationships/slide" Target="slides/slide132.xml"/><Relationship Id="rId138" Type="http://schemas.openxmlformats.org/officeDocument/2006/relationships/slide" Target="slides/slide131.xml"/><Relationship Id="rId137" Type="http://schemas.openxmlformats.org/officeDocument/2006/relationships/slide" Target="slides/slide130.xml"/><Relationship Id="rId136" Type="http://schemas.openxmlformats.org/officeDocument/2006/relationships/slide" Target="slides/slide129.xml"/><Relationship Id="rId135" Type="http://schemas.openxmlformats.org/officeDocument/2006/relationships/slide" Target="slides/slide128.xml"/><Relationship Id="rId134" Type="http://schemas.openxmlformats.org/officeDocument/2006/relationships/slide" Target="slides/slide127.xml"/><Relationship Id="rId133" Type="http://schemas.openxmlformats.org/officeDocument/2006/relationships/slide" Target="slides/slide126.xml"/><Relationship Id="rId132" Type="http://schemas.openxmlformats.org/officeDocument/2006/relationships/slide" Target="slides/slide125.xml"/><Relationship Id="rId131" Type="http://schemas.openxmlformats.org/officeDocument/2006/relationships/slide" Target="slides/slide124.xml"/><Relationship Id="rId130" Type="http://schemas.openxmlformats.org/officeDocument/2006/relationships/slide" Target="slides/slide123.xml"/><Relationship Id="rId13" Type="http://schemas.openxmlformats.org/officeDocument/2006/relationships/slide" Target="slides/slide7.xml"/><Relationship Id="rId129" Type="http://schemas.openxmlformats.org/officeDocument/2006/relationships/slide" Target="slides/slide122.xml"/><Relationship Id="rId128" Type="http://schemas.openxmlformats.org/officeDocument/2006/relationships/slide" Target="slides/slide121.xml"/><Relationship Id="rId127" Type="http://schemas.openxmlformats.org/officeDocument/2006/relationships/slide" Target="slides/slide120.xml"/><Relationship Id="rId126" Type="http://schemas.openxmlformats.org/officeDocument/2006/relationships/slide" Target="slides/slide119.xml"/><Relationship Id="rId125" Type="http://schemas.openxmlformats.org/officeDocument/2006/relationships/slide" Target="slides/slide118.xml"/><Relationship Id="rId124" Type="http://schemas.openxmlformats.org/officeDocument/2006/relationships/slide" Target="slides/slide117.xml"/><Relationship Id="rId123" Type="http://schemas.openxmlformats.org/officeDocument/2006/relationships/slide" Target="slides/slide116.xml"/><Relationship Id="rId122" Type="http://schemas.openxmlformats.org/officeDocument/2006/relationships/slide" Target="slides/slide115.xml"/><Relationship Id="rId121" Type="http://schemas.openxmlformats.org/officeDocument/2006/relationships/slide" Target="slides/slide114.xml"/><Relationship Id="rId120" Type="http://schemas.openxmlformats.org/officeDocument/2006/relationships/slide" Target="slides/slide113.xml"/><Relationship Id="rId12" Type="http://schemas.openxmlformats.org/officeDocument/2006/relationships/slide" Target="slides/slide6.xml"/><Relationship Id="rId119" Type="http://schemas.openxmlformats.org/officeDocument/2006/relationships/slide" Target="slides/slide112.xml"/><Relationship Id="rId118" Type="http://schemas.openxmlformats.org/officeDocument/2006/relationships/slide" Target="slides/slide111.xml"/><Relationship Id="rId117" Type="http://schemas.openxmlformats.org/officeDocument/2006/relationships/slide" Target="slides/slide110.xml"/><Relationship Id="rId116" Type="http://schemas.openxmlformats.org/officeDocument/2006/relationships/slide" Target="slides/slide109.xml"/><Relationship Id="rId115" Type="http://schemas.openxmlformats.org/officeDocument/2006/relationships/slide" Target="slides/slide108.xml"/><Relationship Id="rId114" Type="http://schemas.openxmlformats.org/officeDocument/2006/relationships/slide" Target="slides/slide107.xml"/><Relationship Id="rId113" Type="http://schemas.openxmlformats.org/officeDocument/2006/relationships/slide" Target="slides/slide106.xml"/><Relationship Id="rId112" Type="http://schemas.openxmlformats.org/officeDocument/2006/relationships/slide" Target="slides/slide105.xml"/><Relationship Id="rId111" Type="http://schemas.openxmlformats.org/officeDocument/2006/relationships/slide" Target="slides/slide104.xml"/><Relationship Id="rId110" Type="http://schemas.openxmlformats.org/officeDocument/2006/relationships/slide" Target="slides/slide103.xml"/><Relationship Id="rId11" Type="http://schemas.openxmlformats.org/officeDocument/2006/relationships/slide" Target="slides/slide5.xml"/><Relationship Id="rId109" Type="http://schemas.openxmlformats.org/officeDocument/2006/relationships/slide" Target="slides/slide102.xml"/><Relationship Id="rId108" Type="http://schemas.openxmlformats.org/officeDocument/2006/relationships/slide" Target="slides/slide101.xml"/><Relationship Id="rId107" Type="http://schemas.openxmlformats.org/officeDocument/2006/relationships/slide" Target="slides/slide100.xml"/><Relationship Id="rId106" Type="http://schemas.openxmlformats.org/officeDocument/2006/relationships/slide" Target="slides/slide99.xml"/><Relationship Id="rId105" Type="http://schemas.openxmlformats.org/officeDocument/2006/relationships/slide" Target="slides/slide98.xml"/><Relationship Id="rId104" Type="http://schemas.openxmlformats.org/officeDocument/2006/relationships/slide" Target="slides/slide97.xml"/><Relationship Id="rId103" Type="http://schemas.openxmlformats.org/officeDocument/2006/relationships/slide" Target="slides/slide96.xml"/><Relationship Id="rId102" Type="http://schemas.openxmlformats.org/officeDocument/2006/relationships/slide" Target="slides/slide95.xml"/><Relationship Id="rId101" Type="http://schemas.openxmlformats.org/officeDocument/2006/relationships/slide" Target="slides/slide94.xml"/><Relationship Id="rId100" Type="http://schemas.openxmlformats.org/officeDocument/2006/relationships/slide" Target="slides/slide93.xml"/><Relationship Id="rId10" Type="http://schemas.openxmlformats.org/officeDocument/2006/relationships/slide" Target="slides/slide4.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6.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9.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0.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image" Target="../media/image22.wmf"/><Relationship Id="rId1" Type="http://schemas.openxmlformats.org/officeDocument/2006/relationships/image" Target="../media/image21.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25.wmf"/><Relationship Id="rId1" Type="http://schemas.openxmlformats.org/officeDocument/2006/relationships/image" Target="../media/image24.wmf"/></Relationships>
</file>

<file path=ppt/drawings/_rels/vmlDrawing8.vml.rels><?xml version="1.0" encoding="UTF-8" standalone="yes"?>
<Relationships xmlns="http://schemas.openxmlformats.org/package/2006/relationships"><Relationship Id="rId6" Type="http://schemas.openxmlformats.org/officeDocument/2006/relationships/image" Target="../media/image31.wmf"/><Relationship Id="rId5" Type="http://schemas.openxmlformats.org/officeDocument/2006/relationships/image" Target="../media/image30.wmf"/><Relationship Id="rId4" Type="http://schemas.openxmlformats.org/officeDocument/2006/relationships/image" Target="../media/image29.wmf"/><Relationship Id="rId3" Type="http://schemas.openxmlformats.org/officeDocument/2006/relationships/image" Target="../media/image28.wmf"/><Relationship Id="rId2" Type="http://schemas.openxmlformats.org/officeDocument/2006/relationships/image" Target="../media/image27.wmf"/><Relationship Id="rId1" Type="http://schemas.openxmlformats.org/officeDocument/2006/relationships/image" Target="../media/image26.wmf"/></Relationships>
</file>

<file path=ppt/drawings/_rels/vmlDrawing9.vml.rels><?xml version="1.0" encoding="UTF-8" standalone="yes"?>
<Relationships xmlns="http://schemas.openxmlformats.org/package/2006/relationships"><Relationship Id="rId7" Type="http://schemas.openxmlformats.org/officeDocument/2006/relationships/image" Target="../media/image38.wmf"/><Relationship Id="rId6" Type="http://schemas.openxmlformats.org/officeDocument/2006/relationships/image" Target="../media/image37.wmf"/><Relationship Id="rId5" Type="http://schemas.openxmlformats.org/officeDocument/2006/relationships/image" Target="../media/image36.wmf"/><Relationship Id="rId4" Type="http://schemas.openxmlformats.org/officeDocument/2006/relationships/image" Target="../media/image35.wmf"/><Relationship Id="rId3" Type="http://schemas.openxmlformats.org/officeDocument/2006/relationships/image" Target="../media/image34.wmf"/><Relationship Id="rId2" Type="http://schemas.openxmlformats.org/officeDocument/2006/relationships/image" Target="../media/image33.wmf"/><Relationship Id="rId1" Type="http://schemas.openxmlformats.org/officeDocument/2006/relationships/image" Target="../media/image32.wmf"/></Relationships>
</file>

<file path=ppt/drawings/_rels/vmlDrawing10.vml.rels><?xml version="1.0" encoding="UTF-8" standalone="yes"?>
<Relationships xmlns="http://schemas.openxmlformats.org/package/2006/relationships"><Relationship Id="rId4" Type="http://schemas.openxmlformats.org/officeDocument/2006/relationships/image" Target="../media/image42.wmf"/><Relationship Id="rId3" Type="http://schemas.openxmlformats.org/officeDocument/2006/relationships/image" Target="../media/image41.wmf"/><Relationship Id="rId2" Type="http://schemas.openxmlformats.org/officeDocument/2006/relationships/image" Target="../media/image40.wmf"/><Relationship Id="rId1" Type="http://schemas.openxmlformats.org/officeDocument/2006/relationships/image" Target="../media/image39.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45.wmf"/><Relationship Id="rId1" Type="http://schemas.openxmlformats.org/officeDocument/2006/relationships/image" Target="../media/image44.w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47.wmf"/><Relationship Id="rId1" Type="http://schemas.openxmlformats.org/officeDocument/2006/relationships/image" Target="../media/image46.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49.wmf"/><Relationship Id="rId1" Type="http://schemas.openxmlformats.org/officeDocument/2006/relationships/image" Target="../media/image48.wmf"/></Relationships>
</file>

<file path=ppt/drawings/_rels/vmlDrawing15.vml.rels><?xml version="1.0" encoding="UTF-8" standalone="yes"?>
<Relationships xmlns="http://schemas.openxmlformats.org/package/2006/relationships"><Relationship Id="rId5" Type="http://schemas.openxmlformats.org/officeDocument/2006/relationships/image" Target="../media/image54.wmf"/><Relationship Id="rId4" Type="http://schemas.openxmlformats.org/officeDocument/2006/relationships/image" Target="../media/image53.wmf"/><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image" Target="../media/image50.e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57.wmf"/><Relationship Id="rId2" Type="http://schemas.openxmlformats.org/officeDocument/2006/relationships/image" Target="../media/image56.wmf"/><Relationship Id="rId1" Type="http://schemas.openxmlformats.org/officeDocument/2006/relationships/image" Target="../media/image55.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59.wmf"/><Relationship Id="rId1" Type="http://schemas.openxmlformats.org/officeDocument/2006/relationships/image" Target="../media/image58.wmf"/></Relationships>
</file>

<file path=ppt/drawings/_rels/vmlDrawing18.vml.rels><?xml version="1.0" encoding="UTF-8" standalone="yes"?>
<Relationships xmlns="http://schemas.openxmlformats.org/package/2006/relationships"><Relationship Id="rId9" Type="http://schemas.openxmlformats.org/officeDocument/2006/relationships/image" Target="../media/image68.wmf"/><Relationship Id="rId8" Type="http://schemas.openxmlformats.org/officeDocument/2006/relationships/image" Target="../media/image67.wmf"/><Relationship Id="rId7" Type="http://schemas.openxmlformats.org/officeDocument/2006/relationships/image" Target="../media/image66.wmf"/><Relationship Id="rId6" Type="http://schemas.openxmlformats.org/officeDocument/2006/relationships/image" Target="../media/image65.wmf"/><Relationship Id="rId5" Type="http://schemas.openxmlformats.org/officeDocument/2006/relationships/image" Target="../media/image64.wmf"/><Relationship Id="rId4" Type="http://schemas.openxmlformats.org/officeDocument/2006/relationships/image" Target="../media/image63.wmf"/><Relationship Id="rId3" Type="http://schemas.openxmlformats.org/officeDocument/2006/relationships/image" Target="../media/image62.wmf"/><Relationship Id="rId2" Type="http://schemas.openxmlformats.org/officeDocument/2006/relationships/image" Target="../media/image61.wmf"/><Relationship Id="rId12" Type="http://schemas.openxmlformats.org/officeDocument/2006/relationships/image" Target="../media/image71.wmf"/><Relationship Id="rId11" Type="http://schemas.openxmlformats.org/officeDocument/2006/relationships/image" Target="../media/image70.wmf"/><Relationship Id="rId10" Type="http://schemas.openxmlformats.org/officeDocument/2006/relationships/image" Target="../media/image69.wmf"/><Relationship Id="rId1" Type="http://schemas.openxmlformats.org/officeDocument/2006/relationships/image" Target="../media/image60.wmf"/></Relationships>
</file>

<file path=ppt/drawings/_rels/vmlDrawing19.vml.rels><?xml version="1.0" encoding="UTF-8" standalone="yes"?>
<Relationships xmlns="http://schemas.openxmlformats.org/package/2006/relationships"><Relationship Id="rId6" Type="http://schemas.openxmlformats.org/officeDocument/2006/relationships/image" Target="../media/image77.wmf"/><Relationship Id="rId5" Type="http://schemas.openxmlformats.org/officeDocument/2006/relationships/image" Target="../media/image76.wmf"/><Relationship Id="rId4" Type="http://schemas.openxmlformats.org/officeDocument/2006/relationships/image" Target="../media/image75.emf"/><Relationship Id="rId3" Type="http://schemas.openxmlformats.org/officeDocument/2006/relationships/image" Target="../media/image74.wmf"/><Relationship Id="rId2" Type="http://schemas.openxmlformats.org/officeDocument/2006/relationships/image" Target="../media/image73.wmf"/><Relationship Id="rId1" Type="http://schemas.openxmlformats.org/officeDocument/2006/relationships/image" Target="../media/image72.e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80.wmf"/><Relationship Id="rId2" Type="http://schemas.openxmlformats.org/officeDocument/2006/relationships/image" Target="../media/image79.wmf"/><Relationship Id="rId1" Type="http://schemas.openxmlformats.org/officeDocument/2006/relationships/image" Target="../media/image78.wmf"/></Relationships>
</file>

<file path=ppt/drawings/_rels/vmlDrawing21.vml.rels><?xml version="1.0" encoding="UTF-8" standalone="yes"?>
<Relationships xmlns="http://schemas.openxmlformats.org/package/2006/relationships"><Relationship Id="rId7" Type="http://schemas.openxmlformats.org/officeDocument/2006/relationships/image" Target="../media/image87.wmf"/><Relationship Id="rId6" Type="http://schemas.openxmlformats.org/officeDocument/2006/relationships/image" Target="../media/image86.wmf"/><Relationship Id="rId5" Type="http://schemas.openxmlformats.org/officeDocument/2006/relationships/image" Target="../media/image85.wmf"/><Relationship Id="rId4" Type="http://schemas.openxmlformats.org/officeDocument/2006/relationships/image" Target="../media/image84.wmf"/><Relationship Id="rId3" Type="http://schemas.openxmlformats.org/officeDocument/2006/relationships/image" Target="../media/image83.wmf"/><Relationship Id="rId2" Type="http://schemas.openxmlformats.org/officeDocument/2006/relationships/image" Target="../media/image82.wmf"/><Relationship Id="rId1" Type="http://schemas.openxmlformats.org/officeDocument/2006/relationships/image" Target="../media/image81.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88.wmf"/></Relationships>
</file>

<file path=ppt/drawings/_rels/vmlDrawing23.vml.rels><?xml version="1.0" encoding="UTF-8" standalone="yes"?>
<Relationships xmlns="http://schemas.openxmlformats.org/package/2006/relationships"><Relationship Id="rId6" Type="http://schemas.openxmlformats.org/officeDocument/2006/relationships/image" Target="../media/image94.wmf"/><Relationship Id="rId5" Type="http://schemas.openxmlformats.org/officeDocument/2006/relationships/image" Target="../media/image93.wmf"/><Relationship Id="rId4" Type="http://schemas.openxmlformats.org/officeDocument/2006/relationships/image" Target="../media/image92.wmf"/><Relationship Id="rId3" Type="http://schemas.openxmlformats.org/officeDocument/2006/relationships/image" Target="../media/image91.wmf"/><Relationship Id="rId2" Type="http://schemas.openxmlformats.org/officeDocument/2006/relationships/image" Target="../media/image90.wmf"/><Relationship Id="rId1" Type="http://schemas.openxmlformats.org/officeDocument/2006/relationships/image" Target="../media/image89.wmf"/></Relationships>
</file>

<file path=ppt/drawings/_rels/vmlDrawing24.vml.rels><?xml version="1.0" encoding="UTF-8" standalone="yes"?>
<Relationships xmlns="http://schemas.openxmlformats.org/package/2006/relationships"><Relationship Id="rId6" Type="http://schemas.openxmlformats.org/officeDocument/2006/relationships/image" Target="../media/image100.wmf"/><Relationship Id="rId5" Type="http://schemas.openxmlformats.org/officeDocument/2006/relationships/image" Target="../media/image99.wmf"/><Relationship Id="rId4" Type="http://schemas.openxmlformats.org/officeDocument/2006/relationships/image" Target="../media/image98.wmf"/><Relationship Id="rId3" Type="http://schemas.openxmlformats.org/officeDocument/2006/relationships/image" Target="../media/image97.wmf"/><Relationship Id="rId2" Type="http://schemas.openxmlformats.org/officeDocument/2006/relationships/image" Target="../media/image96.wmf"/><Relationship Id="rId1" Type="http://schemas.openxmlformats.org/officeDocument/2006/relationships/image" Target="../media/image95.w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01.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103.wmf"/><Relationship Id="rId1" Type="http://schemas.openxmlformats.org/officeDocument/2006/relationships/image" Target="../media/image102.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105.wmf"/><Relationship Id="rId1" Type="http://schemas.openxmlformats.org/officeDocument/2006/relationships/image" Target="../media/image104.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107.wmf"/><Relationship Id="rId1" Type="http://schemas.openxmlformats.org/officeDocument/2006/relationships/image" Target="../media/image106.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109.wmf"/><Relationship Id="rId1" Type="http://schemas.openxmlformats.org/officeDocument/2006/relationships/image" Target="../media/image108.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11.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12.wmf"/></Relationships>
</file>

<file path=ppt/drawings/_rels/vmlDrawing32.vml.rels><?xml version="1.0" encoding="UTF-8" standalone="yes"?>
<Relationships xmlns="http://schemas.openxmlformats.org/package/2006/relationships"><Relationship Id="rId3" Type="http://schemas.openxmlformats.org/officeDocument/2006/relationships/image" Target="../media/image115.wmf"/><Relationship Id="rId2" Type="http://schemas.openxmlformats.org/officeDocument/2006/relationships/image" Target="../media/image114.wmf"/><Relationship Id="rId1" Type="http://schemas.openxmlformats.org/officeDocument/2006/relationships/image" Target="../media/image113.wmf"/></Relationships>
</file>

<file path=ppt/drawings/_rels/vmlDrawing33.vml.rels><?xml version="1.0" encoding="UTF-8" standalone="yes"?>
<Relationships xmlns="http://schemas.openxmlformats.org/package/2006/relationships"><Relationship Id="rId2" Type="http://schemas.openxmlformats.org/officeDocument/2006/relationships/image" Target="../media/image117.wmf"/><Relationship Id="rId1" Type="http://schemas.openxmlformats.org/officeDocument/2006/relationships/image" Target="../media/image116.wmf"/></Relationships>
</file>

<file path=ppt/drawings/_rels/vmlDrawing34.vml.rels><?xml version="1.0" encoding="UTF-8" standalone="yes"?>
<Relationships xmlns="http://schemas.openxmlformats.org/package/2006/relationships"><Relationship Id="rId3" Type="http://schemas.openxmlformats.org/officeDocument/2006/relationships/image" Target="../media/image120.wmf"/><Relationship Id="rId2" Type="http://schemas.openxmlformats.org/officeDocument/2006/relationships/image" Target="../media/image119.wmf"/><Relationship Id="rId1" Type="http://schemas.openxmlformats.org/officeDocument/2006/relationships/image" Target="../media/image118.wmf"/></Relationships>
</file>

<file path=ppt/drawings/_rels/vmlDrawing35.vml.rels><?xml version="1.0" encoding="UTF-8" standalone="yes"?>
<Relationships xmlns="http://schemas.openxmlformats.org/package/2006/relationships"><Relationship Id="rId2" Type="http://schemas.openxmlformats.org/officeDocument/2006/relationships/image" Target="../media/image122.wmf"/><Relationship Id="rId1" Type="http://schemas.openxmlformats.org/officeDocument/2006/relationships/image" Target="../media/image121.w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23.w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124.wmf"/></Relationships>
</file>

<file path=ppt/drawings/_rels/vmlDrawing38.vml.rels><?xml version="1.0" encoding="UTF-8" standalone="yes"?>
<Relationships xmlns="http://schemas.openxmlformats.org/package/2006/relationships"><Relationship Id="rId2" Type="http://schemas.openxmlformats.org/officeDocument/2006/relationships/image" Target="../media/image126.wmf"/><Relationship Id="rId1" Type="http://schemas.openxmlformats.org/officeDocument/2006/relationships/image" Target="../media/image125.w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27.wmf"/></Relationships>
</file>

<file path=ppt/drawings/_rels/vmlDrawing40.vml.rels><?xml version="1.0" encoding="UTF-8" standalone="yes"?>
<Relationships xmlns="http://schemas.openxmlformats.org/package/2006/relationships"><Relationship Id="rId2" Type="http://schemas.openxmlformats.org/officeDocument/2006/relationships/image" Target="../media/image129.wmf"/><Relationship Id="rId1" Type="http://schemas.openxmlformats.org/officeDocument/2006/relationships/image" Target="../media/image128.wmf"/></Relationships>
</file>

<file path=ppt/drawings/_rels/vmlDrawing41.vml.rels><?xml version="1.0" encoding="UTF-8" standalone="yes"?>
<Relationships xmlns="http://schemas.openxmlformats.org/package/2006/relationships"><Relationship Id="rId4" Type="http://schemas.openxmlformats.org/officeDocument/2006/relationships/image" Target="../media/image134.wmf"/><Relationship Id="rId3" Type="http://schemas.openxmlformats.org/officeDocument/2006/relationships/image" Target="../media/image133.wmf"/><Relationship Id="rId2" Type="http://schemas.openxmlformats.org/officeDocument/2006/relationships/image" Target="../media/image132.wmf"/><Relationship Id="rId1" Type="http://schemas.openxmlformats.org/officeDocument/2006/relationships/image" Target="../media/image131.wmf"/></Relationships>
</file>

<file path=ppt/drawings/_rels/vmlDrawing42.vml.rels><?xml version="1.0" encoding="UTF-8" standalone="yes"?>
<Relationships xmlns="http://schemas.openxmlformats.org/package/2006/relationships"><Relationship Id="rId2" Type="http://schemas.openxmlformats.org/officeDocument/2006/relationships/image" Target="../media/image138.wmf"/><Relationship Id="rId1" Type="http://schemas.openxmlformats.org/officeDocument/2006/relationships/image" Target="../media/image137.wmf"/></Relationships>
</file>

<file path=ppt/drawings/_rels/vmlDrawing43.vml.rels><?xml version="1.0" encoding="UTF-8" standalone="yes"?>
<Relationships xmlns="http://schemas.openxmlformats.org/package/2006/relationships"><Relationship Id="rId2" Type="http://schemas.openxmlformats.org/officeDocument/2006/relationships/image" Target="../media/image140.wmf"/><Relationship Id="rId1" Type="http://schemas.openxmlformats.org/officeDocument/2006/relationships/image" Target="../media/image139.wmf"/></Relationships>
</file>

<file path=ppt/drawings/_rels/vmlDrawing44.vml.rels><?xml version="1.0" encoding="UTF-8" standalone="yes"?>
<Relationships xmlns="http://schemas.openxmlformats.org/package/2006/relationships"><Relationship Id="rId4" Type="http://schemas.openxmlformats.org/officeDocument/2006/relationships/image" Target="../media/image144.wmf"/><Relationship Id="rId3" Type="http://schemas.openxmlformats.org/officeDocument/2006/relationships/image" Target="../media/image143.wmf"/><Relationship Id="rId2" Type="http://schemas.openxmlformats.org/officeDocument/2006/relationships/image" Target="../media/image142.wmf"/><Relationship Id="rId1" Type="http://schemas.openxmlformats.org/officeDocument/2006/relationships/image" Target="../media/image141.wmf"/></Relationships>
</file>

<file path=ppt/drawings/_rels/vmlDrawing45.vml.rels><?xml version="1.0" encoding="UTF-8" standalone="yes"?>
<Relationships xmlns="http://schemas.openxmlformats.org/package/2006/relationships"><Relationship Id="rId5" Type="http://schemas.openxmlformats.org/officeDocument/2006/relationships/image" Target="../media/image149.wmf"/><Relationship Id="rId4" Type="http://schemas.openxmlformats.org/officeDocument/2006/relationships/image" Target="../media/image148.wmf"/><Relationship Id="rId3" Type="http://schemas.openxmlformats.org/officeDocument/2006/relationships/image" Target="../media/image147.wmf"/><Relationship Id="rId2" Type="http://schemas.openxmlformats.org/officeDocument/2006/relationships/image" Target="../media/image146.wmf"/><Relationship Id="rId1" Type="http://schemas.openxmlformats.org/officeDocument/2006/relationships/image" Target="../media/image145.w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150.w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151.w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88.wmf"/></Relationships>
</file>

<file path=ppt/drawings/_rels/vmlDrawing49.vml.rels><?xml version="1.0" encoding="UTF-8" standalone="yes"?>
<Relationships xmlns="http://schemas.openxmlformats.org/package/2006/relationships"><Relationship Id="rId2" Type="http://schemas.openxmlformats.org/officeDocument/2006/relationships/image" Target="../media/image167.wmf"/><Relationship Id="rId1" Type="http://schemas.openxmlformats.org/officeDocument/2006/relationships/image" Target="../media/image166.w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168.wmf"/></Relationships>
</file>

<file path=ppt/drawings/_rels/vmlDrawing51.vml.rels><?xml version="1.0" encoding="UTF-8" standalone="yes"?>
<Relationships xmlns="http://schemas.openxmlformats.org/package/2006/relationships"><Relationship Id="rId2" Type="http://schemas.openxmlformats.org/officeDocument/2006/relationships/image" Target="../media/image170.wmf"/><Relationship Id="rId1" Type="http://schemas.openxmlformats.org/officeDocument/2006/relationships/image" Target="../media/image169.wmf"/></Relationships>
</file>

<file path=ppt/drawings/_rels/vmlDrawing52.vml.rels><?xml version="1.0" encoding="UTF-8" standalone="yes"?>
<Relationships xmlns="http://schemas.openxmlformats.org/package/2006/relationships"><Relationship Id="rId2" Type="http://schemas.openxmlformats.org/officeDocument/2006/relationships/image" Target="../media/image172.wmf"/><Relationship Id="rId1" Type="http://schemas.openxmlformats.org/officeDocument/2006/relationships/image" Target="../media/image171.w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173.w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174.w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175.wmf"/></Relationships>
</file>

<file path=ppt/drawings/_rels/vmlDrawing56.vml.rels><?xml version="1.0" encoding="UTF-8" standalone="yes"?>
<Relationships xmlns="http://schemas.openxmlformats.org/package/2006/relationships"><Relationship Id="rId4" Type="http://schemas.openxmlformats.org/officeDocument/2006/relationships/image" Target="../media/image179.wmf"/><Relationship Id="rId3" Type="http://schemas.openxmlformats.org/officeDocument/2006/relationships/image" Target="../media/image178.wmf"/><Relationship Id="rId2" Type="http://schemas.openxmlformats.org/officeDocument/2006/relationships/image" Target="../media/image177.wmf"/><Relationship Id="rId1" Type="http://schemas.openxmlformats.org/officeDocument/2006/relationships/image" Target="../media/image176.wmf"/></Relationships>
</file>

<file path=ppt/drawings/_rels/vmlDrawing57.vml.rels><?xml version="1.0" encoding="UTF-8" standalone="yes"?>
<Relationships xmlns="http://schemas.openxmlformats.org/package/2006/relationships"><Relationship Id="rId2" Type="http://schemas.openxmlformats.org/officeDocument/2006/relationships/image" Target="../media/image181.wmf"/><Relationship Id="rId1" Type="http://schemas.openxmlformats.org/officeDocument/2006/relationships/image" Target="../media/image180.w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182.emf"/></Relationships>
</file>

<file path=ppt/drawings/_rels/vmlDrawing59.vml.rels><?xml version="1.0" encoding="UTF-8" standalone="yes"?>
<Relationships xmlns="http://schemas.openxmlformats.org/package/2006/relationships"><Relationship Id="rId4" Type="http://schemas.openxmlformats.org/officeDocument/2006/relationships/image" Target="../media/image186.wmf"/><Relationship Id="rId3" Type="http://schemas.openxmlformats.org/officeDocument/2006/relationships/image" Target="../media/image185.wmf"/><Relationship Id="rId2" Type="http://schemas.openxmlformats.org/officeDocument/2006/relationships/image" Target="../media/image184.wmf"/><Relationship Id="rId1" Type="http://schemas.openxmlformats.org/officeDocument/2006/relationships/image" Target="../media/image183.wmf"/></Relationships>
</file>

<file path=ppt/drawings/_rels/vmlDrawing60.vml.rels><?xml version="1.0" encoding="UTF-8" standalone="yes"?>
<Relationships xmlns="http://schemas.openxmlformats.org/package/2006/relationships"><Relationship Id="rId5" Type="http://schemas.openxmlformats.org/officeDocument/2006/relationships/image" Target="../media/image191.wmf"/><Relationship Id="rId4" Type="http://schemas.openxmlformats.org/officeDocument/2006/relationships/image" Target="../media/image190.wmf"/><Relationship Id="rId3" Type="http://schemas.openxmlformats.org/officeDocument/2006/relationships/image" Target="../media/image189.wmf"/><Relationship Id="rId2" Type="http://schemas.openxmlformats.org/officeDocument/2006/relationships/image" Target="../media/image188.wmf"/><Relationship Id="rId1" Type="http://schemas.openxmlformats.org/officeDocument/2006/relationships/image" Target="../media/image187.wmf"/></Relationships>
</file>

<file path=ppt/drawings/_rels/vmlDrawing61.vml.rels><?xml version="1.0" encoding="UTF-8" standalone="yes"?>
<Relationships xmlns="http://schemas.openxmlformats.org/package/2006/relationships"><Relationship Id="rId2" Type="http://schemas.openxmlformats.org/officeDocument/2006/relationships/image" Target="../media/image192.wmf"/><Relationship Id="rId1" Type="http://schemas.openxmlformats.org/officeDocument/2006/relationships/image" Target="../media/image187.wmf"/></Relationships>
</file>

<file path=ppt/drawings/_rels/vmlDrawing62.vml.rels><?xml version="1.0" encoding="UTF-8" standalone="yes"?>
<Relationships xmlns="http://schemas.openxmlformats.org/package/2006/relationships"><Relationship Id="rId2" Type="http://schemas.openxmlformats.org/officeDocument/2006/relationships/image" Target="../media/image194.wmf"/><Relationship Id="rId1" Type="http://schemas.openxmlformats.org/officeDocument/2006/relationships/image" Target="../media/image193.wmf"/></Relationships>
</file>

<file path=ppt/drawings/_rels/vmlDrawing63.vml.rels><?xml version="1.0" encoding="UTF-8" standalone="yes"?>
<Relationships xmlns="http://schemas.openxmlformats.org/package/2006/relationships"><Relationship Id="rId1" Type="http://schemas.openxmlformats.org/officeDocument/2006/relationships/image" Target="../media/image196.w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198.wmf"/></Relationships>
</file>

<file path=ppt/drawings/_rels/vmlDrawing65.vml.rels><?xml version="1.0" encoding="UTF-8" standalone="yes"?>
<Relationships xmlns="http://schemas.openxmlformats.org/package/2006/relationships"><Relationship Id="rId1" Type="http://schemas.openxmlformats.org/officeDocument/2006/relationships/image" Target="../media/image199.wmf"/></Relationships>
</file>

<file path=ppt/drawings/_rels/vmlDrawing66.vml.rels><?xml version="1.0" encoding="UTF-8" standalone="yes"?>
<Relationships xmlns="http://schemas.openxmlformats.org/package/2006/relationships"><Relationship Id="rId2" Type="http://schemas.openxmlformats.org/officeDocument/2006/relationships/image" Target="../media/image201.emf"/><Relationship Id="rId1" Type="http://schemas.openxmlformats.org/officeDocument/2006/relationships/image" Target="../media/image200.emf"/></Relationships>
</file>

<file path=ppt/drawings/_rels/vmlDrawing67.vml.rels><?xml version="1.0" encoding="UTF-8" standalone="yes"?>
<Relationships xmlns="http://schemas.openxmlformats.org/package/2006/relationships"><Relationship Id="rId3" Type="http://schemas.openxmlformats.org/officeDocument/2006/relationships/image" Target="../media/image204.emf"/><Relationship Id="rId2" Type="http://schemas.openxmlformats.org/officeDocument/2006/relationships/image" Target="../media/image203.emf"/><Relationship Id="rId1" Type="http://schemas.openxmlformats.org/officeDocument/2006/relationships/image" Target="../media/image202.emf"/></Relationships>
</file>

<file path=ppt/drawings/_rels/vmlDrawing68.vml.rels><?xml version="1.0" encoding="UTF-8" standalone="yes"?>
<Relationships xmlns="http://schemas.openxmlformats.org/package/2006/relationships"><Relationship Id="rId2" Type="http://schemas.openxmlformats.org/officeDocument/2006/relationships/image" Target="../media/image206.wmf"/><Relationship Id="rId1" Type="http://schemas.openxmlformats.org/officeDocument/2006/relationships/image" Target="../media/image205.emf"/></Relationships>
</file>

<file path=ppt/drawings/_rels/vmlDrawing69.vml.rels><?xml version="1.0" encoding="UTF-8" standalone="yes"?>
<Relationships xmlns="http://schemas.openxmlformats.org/package/2006/relationships"><Relationship Id="rId1" Type="http://schemas.openxmlformats.org/officeDocument/2006/relationships/image" Target="../media/image207.wmf"/></Relationships>
</file>

<file path=ppt/drawings/_rels/vmlDrawing70.vml.rels><?xml version="1.0" encoding="UTF-8" standalone="yes"?>
<Relationships xmlns="http://schemas.openxmlformats.org/package/2006/relationships"><Relationship Id="rId4" Type="http://schemas.openxmlformats.org/officeDocument/2006/relationships/image" Target="../media/image210.wmf"/><Relationship Id="rId3" Type="http://schemas.openxmlformats.org/officeDocument/2006/relationships/image" Target="../media/image209.wmf"/><Relationship Id="rId2" Type="http://schemas.openxmlformats.org/officeDocument/2006/relationships/image" Target="../media/image208.wmf"/><Relationship Id="rId1" Type="http://schemas.openxmlformats.org/officeDocument/2006/relationships/image" Target="../media/image205.emf"/></Relationships>
</file>

<file path=ppt/drawings/_rels/vmlDrawing71.vml.rels><?xml version="1.0" encoding="UTF-8" standalone="yes"?>
<Relationships xmlns="http://schemas.openxmlformats.org/package/2006/relationships"><Relationship Id="rId4" Type="http://schemas.openxmlformats.org/officeDocument/2006/relationships/image" Target="../media/image213.wmf"/><Relationship Id="rId3" Type="http://schemas.openxmlformats.org/officeDocument/2006/relationships/image" Target="../media/image212.wmf"/><Relationship Id="rId2" Type="http://schemas.openxmlformats.org/officeDocument/2006/relationships/image" Target="../media/image211.wmf"/><Relationship Id="rId1" Type="http://schemas.openxmlformats.org/officeDocument/2006/relationships/image" Target="../media/image205.emf"/></Relationships>
</file>

<file path=ppt/drawings/_rels/vmlDrawing72.vml.rels><?xml version="1.0" encoding="UTF-8" standalone="yes"?>
<Relationships xmlns="http://schemas.openxmlformats.org/package/2006/relationships"><Relationship Id="rId2" Type="http://schemas.openxmlformats.org/officeDocument/2006/relationships/image" Target="../media/image214.wmf"/><Relationship Id="rId1" Type="http://schemas.openxmlformats.org/officeDocument/2006/relationships/image" Target="../media/image205.emf"/></Relationships>
</file>

<file path=ppt/drawings/_rels/vmlDrawing73.vml.rels><?xml version="1.0" encoding="UTF-8" standalone="yes"?>
<Relationships xmlns="http://schemas.openxmlformats.org/package/2006/relationships"><Relationship Id="rId2" Type="http://schemas.openxmlformats.org/officeDocument/2006/relationships/image" Target="../media/image215.wmf"/><Relationship Id="rId1" Type="http://schemas.openxmlformats.org/officeDocument/2006/relationships/image" Target="../media/image205.emf"/></Relationships>
</file>

<file path=ppt/drawings/_rels/vmlDrawing74.vml.rels><?xml version="1.0" encoding="UTF-8" standalone="yes"?>
<Relationships xmlns="http://schemas.openxmlformats.org/package/2006/relationships"><Relationship Id="rId2" Type="http://schemas.openxmlformats.org/officeDocument/2006/relationships/image" Target="../media/image216.wmf"/><Relationship Id="rId1" Type="http://schemas.openxmlformats.org/officeDocument/2006/relationships/image" Target="../media/image205.emf"/></Relationships>
</file>

<file path=ppt/drawings/_rels/vmlDrawing75.vml.rels><?xml version="1.0" encoding="UTF-8" standalone="yes"?>
<Relationships xmlns="http://schemas.openxmlformats.org/package/2006/relationships"><Relationship Id="rId1" Type="http://schemas.openxmlformats.org/officeDocument/2006/relationships/image" Target="../media/image218.wmf"/></Relationships>
</file>

<file path=ppt/drawings/_rels/vmlDrawing76.vml.rels><?xml version="1.0" encoding="UTF-8" standalone="yes"?>
<Relationships xmlns="http://schemas.openxmlformats.org/package/2006/relationships"><Relationship Id="rId1" Type="http://schemas.openxmlformats.org/officeDocument/2006/relationships/image" Target="../media/image219.w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220.wmf"/></Relationships>
</file>

<file path=ppt/drawings/_rels/vmlDrawing78.vml.rels><?xml version="1.0" encoding="UTF-8" standalone="yes"?>
<Relationships xmlns="http://schemas.openxmlformats.org/package/2006/relationships"><Relationship Id="rId2" Type="http://schemas.openxmlformats.org/officeDocument/2006/relationships/image" Target="../media/image222.wmf"/><Relationship Id="rId1" Type="http://schemas.openxmlformats.org/officeDocument/2006/relationships/image" Target="../media/image221.wmf"/></Relationships>
</file>

<file path=ppt/drawings/_rels/vmlDrawing79.vml.rels><?xml version="1.0" encoding="UTF-8" standalone="yes"?>
<Relationships xmlns="http://schemas.openxmlformats.org/package/2006/relationships"><Relationship Id="rId2" Type="http://schemas.openxmlformats.org/officeDocument/2006/relationships/image" Target="../media/image224.wmf"/><Relationship Id="rId1" Type="http://schemas.openxmlformats.org/officeDocument/2006/relationships/image" Target="../media/image223.wmf"/></Relationships>
</file>

<file path=ppt/drawings/_rels/vmlDrawing80.vml.rels><?xml version="1.0" encoding="UTF-8" standalone="yes"?>
<Relationships xmlns="http://schemas.openxmlformats.org/package/2006/relationships"><Relationship Id="rId2" Type="http://schemas.openxmlformats.org/officeDocument/2006/relationships/image" Target="../media/image226.wmf"/><Relationship Id="rId1" Type="http://schemas.openxmlformats.org/officeDocument/2006/relationships/image" Target="../media/image225.wmf"/></Relationships>
</file>

<file path=ppt/drawings/_rels/vmlDrawing81.vml.rels><?xml version="1.0" encoding="UTF-8" standalone="yes"?>
<Relationships xmlns="http://schemas.openxmlformats.org/package/2006/relationships"><Relationship Id="rId1" Type="http://schemas.openxmlformats.org/officeDocument/2006/relationships/image" Target="../media/image227.wmf"/></Relationships>
</file>

<file path=ppt/drawings/_rels/vmlDrawing82.vml.rels><?xml version="1.0" encoding="UTF-8" standalone="yes"?>
<Relationships xmlns="http://schemas.openxmlformats.org/package/2006/relationships"><Relationship Id="rId1" Type="http://schemas.openxmlformats.org/officeDocument/2006/relationships/image" Target="../media/image228.wmf"/></Relationships>
</file>

<file path=ppt/drawings/_rels/vmlDrawing83.vml.rels><?xml version="1.0" encoding="UTF-8" standalone="yes"?>
<Relationships xmlns="http://schemas.openxmlformats.org/package/2006/relationships"><Relationship Id="rId1" Type="http://schemas.openxmlformats.org/officeDocument/2006/relationships/image" Target="../media/image229.wmf"/></Relationships>
</file>

<file path=ppt/drawings/_rels/vmlDrawing84.vml.rels><?xml version="1.0" encoding="UTF-8" standalone="yes"?>
<Relationships xmlns="http://schemas.openxmlformats.org/package/2006/relationships"><Relationship Id="rId4" Type="http://schemas.openxmlformats.org/officeDocument/2006/relationships/image" Target="../media/image233.wmf"/><Relationship Id="rId3" Type="http://schemas.openxmlformats.org/officeDocument/2006/relationships/image" Target="../media/image232.wmf"/><Relationship Id="rId2" Type="http://schemas.openxmlformats.org/officeDocument/2006/relationships/image" Target="../media/image231.wmf"/><Relationship Id="rId1" Type="http://schemas.openxmlformats.org/officeDocument/2006/relationships/image" Target="../media/image230.wmf"/></Relationships>
</file>

<file path=ppt/drawings/_rels/vmlDrawing85.vml.rels><?xml version="1.0" encoding="UTF-8" standalone="yes"?>
<Relationships xmlns="http://schemas.openxmlformats.org/package/2006/relationships"><Relationship Id="rId1" Type="http://schemas.openxmlformats.org/officeDocument/2006/relationships/image" Target="../media/image234.wmf"/></Relationships>
</file>

<file path=ppt/drawings/_rels/vmlDrawing86.vml.rels><?xml version="1.0" encoding="UTF-8" standalone="yes"?>
<Relationships xmlns="http://schemas.openxmlformats.org/package/2006/relationships"><Relationship Id="rId1" Type="http://schemas.openxmlformats.org/officeDocument/2006/relationships/image" Target="../media/image235.wmf"/></Relationships>
</file>

<file path=ppt/drawings/_rels/vmlDrawing87.vml.rels><?xml version="1.0" encoding="UTF-8" standalone="yes"?>
<Relationships xmlns="http://schemas.openxmlformats.org/package/2006/relationships"><Relationship Id="rId1" Type="http://schemas.openxmlformats.org/officeDocument/2006/relationships/image" Target="../media/image236.wmf"/></Relationships>
</file>

<file path=ppt/drawings/_rels/vmlDrawing88.vml.rels><?xml version="1.0" encoding="UTF-8" standalone="yes"?>
<Relationships xmlns="http://schemas.openxmlformats.org/package/2006/relationships"><Relationship Id="rId1" Type="http://schemas.openxmlformats.org/officeDocument/2006/relationships/image" Target="../media/image237.wmf"/></Relationships>
</file>

<file path=ppt/drawings/_rels/vmlDrawing89.vml.rels><?xml version="1.0" encoding="UTF-8" standalone="yes"?>
<Relationships xmlns="http://schemas.openxmlformats.org/package/2006/relationships"><Relationship Id="rId1" Type="http://schemas.openxmlformats.org/officeDocument/2006/relationships/image" Target="../media/image239.wmf"/></Relationships>
</file>

<file path=ppt/drawings/_rels/vmlDrawing90.vml.rels><?xml version="1.0" encoding="UTF-8" standalone="yes"?>
<Relationships xmlns="http://schemas.openxmlformats.org/package/2006/relationships"><Relationship Id="rId2" Type="http://schemas.openxmlformats.org/officeDocument/2006/relationships/image" Target="../media/image241.wmf"/><Relationship Id="rId1" Type="http://schemas.openxmlformats.org/officeDocument/2006/relationships/image" Target="../media/image240.wmf"/></Relationships>
</file>

<file path=ppt/drawings/_rels/vmlDrawing91.vml.rels><?xml version="1.0" encoding="UTF-8" standalone="yes"?>
<Relationships xmlns="http://schemas.openxmlformats.org/package/2006/relationships"><Relationship Id="rId2" Type="http://schemas.openxmlformats.org/officeDocument/2006/relationships/image" Target="../media/image243.wmf"/><Relationship Id="rId1" Type="http://schemas.openxmlformats.org/officeDocument/2006/relationships/image" Target="../media/image242.wmf"/></Relationships>
</file>

<file path=ppt/drawings/_rels/vmlDrawing92.vml.rels><?xml version="1.0" encoding="UTF-8" standalone="yes"?>
<Relationships xmlns="http://schemas.openxmlformats.org/package/2006/relationships"><Relationship Id="rId2" Type="http://schemas.openxmlformats.org/officeDocument/2006/relationships/image" Target="../media/image248.wmf"/><Relationship Id="rId1" Type="http://schemas.openxmlformats.org/officeDocument/2006/relationships/image" Target="../media/image247.wmf"/></Relationships>
</file>

<file path=ppt/drawings/_rels/vmlDrawing93.vml.rels><?xml version="1.0" encoding="UTF-8" standalone="yes"?>
<Relationships xmlns="http://schemas.openxmlformats.org/package/2006/relationships"><Relationship Id="rId2" Type="http://schemas.openxmlformats.org/officeDocument/2006/relationships/image" Target="../media/image250.wmf"/><Relationship Id="rId1" Type="http://schemas.openxmlformats.org/officeDocument/2006/relationships/image" Target="../media/image249.wmf"/></Relationships>
</file>

<file path=ppt/drawings/_rels/vmlDrawing94.vml.rels><?xml version="1.0" encoding="UTF-8" standalone="yes"?>
<Relationships xmlns="http://schemas.openxmlformats.org/package/2006/relationships"><Relationship Id="rId1" Type="http://schemas.openxmlformats.org/officeDocument/2006/relationships/image" Target="../media/image251.wmf"/></Relationships>
</file>

<file path=ppt/drawings/_rels/vmlDrawing95.vml.rels><?xml version="1.0" encoding="UTF-8" standalone="yes"?>
<Relationships xmlns="http://schemas.openxmlformats.org/package/2006/relationships"><Relationship Id="rId1" Type="http://schemas.openxmlformats.org/officeDocument/2006/relationships/image" Target="../media/image252.wmf"/></Relationships>
</file>

<file path=ppt/drawings/_rels/vmlDrawing96.vml.rels><?xml version="1.0" encoding="UTF-8" standalone="yes"?>
<Relationships xmlns="http://schemas.openxmlformats.org/package/2006/relationships"><Relationship Id="rId1" Type="http://schemas.openxmlformats.org/officeDocument/2006/relationships/image" Target="../media/image253.wmf"/></Relationships>
</file>

<file path=ppt/drawings/_rels/vmlDrawing97.vml.rels><?xml version="1.0" encoding="UTF-8" standalone="yes"?>
<Relationships xmlns="http://schemas.openxmlformats.org/package/2006/relationships"><Relationship Id="rId3" Type="http://schemas.openxmlformats.org/officeDocument/2006/relationships/image" Target="../media/image256.wmf"/><Relationship Id="rId2" Type="http://schemas.openxmlformats.org/officeDocument/2006/relationships/image" Target="../media/image255.wmf"/><Relationship Id="rId1" Type="http://schemas.openxmlformats.org/officeDocument/2006/relationships/image" Target="../media/image254.wmf"/></Relationships>
</file>

<file path=ppt/drawings/_rels/vmlDrawing98.vml.rels><?xml version="1.0" encoding="UTF-8" standalone="yes"?>
<Relationships xmlns="http://schemas.openxmlformats.org/package/2006/relationships"><Relationship Id="rId1" Type="http://schemas.openxmlformats.org/officeDocument/2006/relationships/image" Target="../media/image257.emf"/></Relationships>
</file>

<file path=ppt/drawings/_rels/vmlDrawing99.vml.rels><?xml version="1.0" encoding="UTF-8" standalone="yes"?>
<Relationships xmlns="http://schemas.openxmlformats.org/package/2006/relationships"><Relationship Id="rId4" Type="http://schemas.openxmlformats.org/officeDocument/2006/relationships/image" Target="../media/image264.wmf"/><Relationship Id="rId3" Type="http://schemas.openxmlformats.org/officeDocument/2006/relationships/image" Target="../media/image263.wmf"/><Relationship Id="rId2" Type="http://schemas.openxmlformats.org/officeDocument/2006/relationships/image" Target="../media/image262.wmf"/><Relationship Id="rId1" Type="http://schemas.openxmlformats.org/officeDocument/2006/relationships/image" Target="../media/image261.wmf"/></Relationships>
</file>

<file path=ppt/drawings/_rels/vmlDrawing100.vml.rels><?xml version="1.0" encoding="UTF-8" standalone="yes"?>
<Relationships xmlns="http://schemas.openxmlformats.org/package/2006/relationships"><Relationship Id="rId2" Type="http://schemas.openxmlformats.org/officeDocument/2006/relationships/image" Target="../media/image266.wmf"/><Relationship Id="rId1" Type="http://schemas.openxmlformats.org/officeDocument/2006/relationships/image" Target="../media/image265.wmf"/></Relationships>
</file>

<file path=ppt/drawings/_rels/vmlDrawing101.vml.rels><?xml version="1.0" encoding="UTF-8" standalone="yes"?>
<Relationships xmlns="http://schemas.openxmlformats.org/package/2006/relationships"><Relationship Id="rId2" Type="http://schemas.openxmlformats.org/officeDocument/2006/relationships/image" Target="../media/image268.wmf"/><Relationship Id="rId1" Type="http://schemas.openxmlformats.org/officeDocument/2006/relationships/image" Target="../media/image267.wmf"/></Relationships>
</file>

<file path=ppt/drawings/_rels/vmlDrawing102.vml.rels><?xml version="1.0" encoding="UTF-8" standalone="yes"?>
<Relationships xmlns="http://schemas.openxmlformats.org/package/2006/relationships"><Relationship Id="rId5" Type="http://schemas.openxmlformats.org/officeDocument/2006/relationships/image" Target="../media/image273.wmf"/><Relationship Id="rId4" Type="http://schemas.openxmlformats.org/officeDocument/2006/relationships/image" Target="../media/image272.wmf"/><Relationship Id="rId3" Type="http://schemas.openxmlformats.org/officeDocument/2006/relationships/image" Target="../media/image271.wmf"/><Relationship Id="rId2" Type="http://schemas.openxmlformats.org/officeDocument/2006/relationships/image" Target="../media/image270.wmf"/><Relationship Id="rId1" Type="http://schemas.openxmlformats.org/officeDocument/2006/relationships/image" Target="../media/image269.wmf"/></Relationships>
</file>

<file path=ppt/drawings/_rels/vmlDrawing103.vml.rels><?xml version="1.0" encoding="UTF-8" standalone="yes"?>
<Relationships xmlns="http://schemas.openxmlformats.org/package/2006/relationships"><Relationship Id="rId1" Type="http://schemas.openxmlformats.org/officeDocument/2006/relationships/image" Target="../media/image274.wmf"/></Relationships>
</file>

<file path=ppt/drawings/_rels/vmlDrawing104.vml.rels><?xml version="1.0" encoding="UTF-8" standalone="yes"?>
<Relationships xmlns="http://schemas.openxmlformats.org/package/2006/relationships"><Relationship Id="rId1" Type="http://schemas.openxmlformats.org/officeDocument/2006/relationships/image" Target="../media/image277.wmf"/></Relationships>
</file>

<file path=ppt/drawings/_rels/vmlDrawing105.vml.rels><?xml version="1.0" encoding="UTF-8" standalone="yes"?>
<Relationships xmlns="http://schemas.openxmlformats.org/package/2006/relationships"><Relationship Id="rId1" Type="http://schemas.openxmlformats.org/officeDocument/2006/relationships/image" Target="../media/image277.wmf"/></Relationships>
</file>

<file path=ppt/drawings/_rels/vmlDrawing106.vml.rels><?xml version="1.0" encoding="UTF-8" standalone="yes"?>
<Relationships xmlns="http://schemas.openxmlformats.org/package/2006/relationships"><Relationship Id="rId2" Type="http://schemas.openxmlformats.org/officeDocument/2006/relationships/image" Target="../media/image280.wmf"/><Relationship Id="rId1" Type="http://schemas.openxmlformats.org/officeDocument/2006/relationships/image" Target="../media/image277.wmf"/></Relationships>
</file>

<file path=ppt/drawings/_rels/vmlDrawing107.vml.rels><?xml version="1.0" encoding="UTF-8" standalone="yes"?>
<Relationships xmlns="http://schemas.openxmlformats.org/package/2006/relationships"><Relationship Id="rId3" Type="http://schemas.openxmlformats.org/officeDocument/2006/relationships/image" Target="../media/image295.wmf"/><Relationship Id="rId2" Type="http://schemas.openxmlformats.org/officeDocument/2006/relationships/image" Target="../media/image294.wmf"/><Relationship Id="rId1" Type="http://schemas.openxmlformats.org/officeDocument/2006/relationships/image" Target="../media/image293.wmf"/></Relationships>
</file>

<file path=ppt/drawings/_rels/vmlDrawing108.vml.rels><?xml version="1.0" encoding="UTF-8" standalone="yes"?>
<Relationships xmlns="http://schemas.openxmlformats.org/package/2006/relationships"><Relationship Id="rId1" Type="http://schemas.openxmlformats.org/officeDocument/2006/relationships/image" Target="../media/image298.wmf"/></Relationships>
</file>

<file path=ppt/drawings/_rels/vmlDrawing109.vml.rels><?xml version="1.0" encoding="UTF-8" standalone="yes"?>
<Relationships xmlns="http://schemas.openxmlformats.org/package/2006/relationships"><Relationship Id="rId2" Type="http://schemas.openxmlformats.org/officeDocument/2006/relationships/image" Target="../media/image300.wmf"/><Relationship Id="rId1" Type="http://schemas.openxmlformats.org/officeDocument/2006/relationships/image" Target="../media/image299.wmf"/></Relationships>
</file>

<file path=ppt/drawings/_rels/vmlDrawing110.vml.rels><?xml version="1.0" encoding="UTF-8" standalone="yes"?>
<Relationships xmlns="http://schemas.openxmlformats.org/package/2006/relationships"><Relationship Id="rId2" Type="http://schemas.openxmlformats.org/officeDocument/2006/relationships/image" Target="../media/image302.wmf"/><Relationship Id="rId1" Type="http://schemas.openxmlformats.org/officeDocument/2006/relationships/image" Target="../media/image301.wmf"/></Relationships>
</file>

<file path=ppt/drawings/_rels/vmlDrawing111.vml.rels><?xml version="1.0" encoding="UTF-8" standalone="yes"?>
<Relationships xmlns="http://schemas.openxmlformats.org/package/2006/relationships"><Relationship Id="rId1" Type="http://schemas.openxmlformats.org/officeDocument/2006/relationships/image" Target="../media/image303.wmf"/></Relationships>
</file>

<file path=ppt/drawings/_rels/vmlDrawing112.vml.rels><?xml version="1.0" encoding="UTF-8" standalone="yes"?>
<Relationships xmlns="http://schemas.openxmlformats.org/package/2006/relationships"><Relationship Id="rId1" Type="http://schemas.openxmlformats.org/officeDocument/2006/relationships/image" Target="../media/image306.wmf"/></Relationships>
</file>

<file path=ppt/drawings/_rels/vmlDrawing113.vml.rels><?xml version="1.0" encoding="UTF-8" standalone="yes"?>
<Relationships xmlns="http://schemas.openxmlformats.org/package/2006/relationships"><Relationship Id="rId1" Type="http://schemas.openxmlformats.org/officeDocument/2006/relationships/image" Target="../media/image336.wmf"/></Relationships>
</file>

<file path=ppt/drawings/_rels/vmlDrawing114.vml.rels><?xml version="1.0" encoding="UTF-8" standalone="yes"?>
<Relationships xmlns="http://schemas.openxmlformats.org/package/2006/relationships"><Relationship Id="rId1" Type="http://schemas.openxmlformats.org/officeDocument/2006/relationships/image" Target="../media/image337.wmf"/></Relationships>
</file>

<file path=ppt/drawings/_rels/vmlDrawing115.vml.rels><?xml version="1.0" encoding="UTF-8" standalone="yes"?>
<Relationships xmlns="http://schemas.openxmlformats.org/package/2006/relationships"><Relationship Id="rId4" Type="http://schemas.openxmlformats.org/officeDocument/2006/relationships/image" Target="../media/image341.wmf"/><Relationship Id="rId3" Type="http://schemas.openxmlformats.org/officeDocument/2006/relationships/image" Target="../media/image340.wmf"/><Relationship Id="rId2" Type="http://schemas.openxmlformats.org/officeDocument/2006/relationships/image" Target="../media/image339.wmf"/><Relationship Id="rId1" Type="http://schemas.openxmlformats.org/officeDocument/2006/relationships/image" Target="../media/image338.emf"/></Relationships>
</file>

<file path=ppt/drawings/_rels/vmlDrawing116.vml.rels><?xml version="1.0" encoding="UTF-8" standalone="yes"?>
<Relationships xmlns="http://schemas.openxmlformats.org/package/2006/relationships"><Relationship Id="rId1" Type="http://schemas.openxmlformats.org/officeDocument/2006/relationships/image" Target="../media/image342.wmf"/></Relationships>
</file>

<file path=ppt/drawings/_rels/vmlDrawing117.vml.rels><?xml version="1.0" encoding="UTF-8" standalone="yes"?>
<Relationships xmlns="http://schemas.openxmlformats.org/package/2006/relationships"><Relationship Id="rId3" Type="http://schemas.openxmlformats.org/officeDocument/2006/relationships/image" Target="../media/image346.wmf"/><Relationship Id="rId2" Type="http://schemas.openxmlformats.org/officeDocument/2006/relationships/image" Target="../media/image345.wmf"/><Relationship Id="rId1" Type="http://schemas.openxmlformats.org/officeDocument/2006/relationships/image" Target="../media/image344.wmf"/></Relationships>
</file>

<file path=ppt/drawings/_rels/vmlDrawing118.vml.rels><?xml version="1.0" encoding="UTF-8" standalone="yes"?>
<Relationships xmlns="http://schemas.openxmlformats.org/package/2006/relationships"><Relationship Id="rId8" Type="http://schemas.openxmlformats.org/officeDocument/2006/relationships/image" Target="../media/image354.wmf"/><Relationship Id="rId7" Type="http://schemas.openxmlformats.org/officeDocument/2006/relationships/image" Target="../media/image353.wmf"/><Relationship Id="rId6" Type="http://schemas.openxmlformats.org/officeDocument/2006/relationships/image" Target="../media/image352.wmf"/><Relationship Id="rId5" Type="http://schemas.openxmlformats.org/officeDocument/2006/relationships/image" Target="../media/image351.wmf"/><Relationship Id="rId4" Type="http://schemas.openxmlformats.org/officeDocument/2006/relationships/image" Target="../media/image350.wmf"/><Relationship Id="rId3" Type="http://schemas.openxmlformats.org/officeDocument/2006/relationships/image" Target="../media/image349.wmf"/><Relationship Id="rId2" Type="http://schemas.openxmlformats.org/officeDocument/2006/relationships/image" Target="../media/image348.wmf"/><Relationship Id="rId1" Type="http://schemas.openxmlformats.org/officeDocument/2006/relationships/image" Target="../media/image347.wmf"/></Relationships>
</file>

<file path=ppt/drawings/_rels/vmlDrawing119.vml.rels><?xml version="1.0" encoding="UTF-8" standalone="yes"?>
<Relationships xmlns="http://schemas.openxmlformats.org/package/2006/relationships"><Relationship Id="rId3" Type="http://schemas.openxmlformats.org/officeDocument/2006/relationships/image" Target="../media/image357.wmf"/><Relationship Id="rId2" Type="http://schemas.openxmlformats.org/officeDocument/2006/relationships/image" Target="../media/image356.wmf"/><Relationship Id="rId1" Type="http://schemas.openxmlformats.org/officeDocument/2006/relationships/image" Target="../media/image355.wmf"/></Relationships>
</file>

<file path=ppt/drawings/_rels/vmlDrawing120.vml.rels><?xml version="1.0" encoding="UTF-8" standalone="yes"?>
<Relationships xmlns="http://schemas.openxmlformats.org/package/2006/relationships"><Relationship Id="rId1" Type="http://schemas.openxmlformats.org/officeDocument/2006/relationships/image" Target="../media/image358.wmf"/></Relationships>
</file>

<file path=ppt/drawings/_rels/vmlDrawing121.vml.rels><?xml version="1.0" encoding="UTF-8" standalone="yes"?>
<Relationships xmlns="http://schemas.openxmlformats.org/package/2006/relationships"><Relationship Id="rId1" Type="http://schemas.openxmlformats.org/officeDocument/2006/relationships/image" Target="../media/image359.wmf"/></Relationships>
</file>

<file path=ppt/drawings/_rels/vmlDrawing122.vml.rels><?xml version="1.0" encoding="UTF-8" standalone="yes"?>
<Relationships xmlns="http://schemas.openxmlformats.org/package/2006/relationships"><Relationship Id="rId1" Type="http://schemas.openxmlformats.org/officeDocument/2006/relationships/image" Target="../media/image363.wmf"/></Relationships>
</file>

<file path=ppt/drawings/_rels/vmlDrawing123.vml.rels><?xml version="1.0" encoding="UTF-8" standalone="yes"?>
<Relationships xmlns="http://schemas.openxmlformats.org/package/2006/relationships"><Relationship Id="rId2" Type="http://schemas.openxmlformats.org/officeDocument/2006/relationships/image" Target="../media/image365.wmf"/><Relationship Id="rId1" Type="http://schemas.openxmlformats.org/officeDocument/2006/relationships/image" Target="../media/image364.wmf"/></Relationships>
</file>

<file path=ppt/drawings/_rels/vmlDrawing124.vml.rels><?xml version="1.0" encoding="UTF-8" standalone="yes"?>
<Relationships xmlns="http://schemas.openxmlformats.org/package/2006/relationships"><Relationship Id="rId1" Type="http://schemas.openxmlformats.org/officeDocument/2006/relationships/image" Target="../media/image370.wmf"/></Relationships>
</file>

<file path=ppt/drawings/_rels/vmlDrawing125.vml.rels><?xml version="1.0" encoding="UTF-8" standalone="yes"?>
<Relationships xmlns="http://schemas.openxmlformats.org/package/2006/relationships"><Relationship Id="rId1" Type="http://schemas.openxmlformats.org/officeDocument/2006/relationships/image" Target="../media/image380.wmf"/></Relationships>
</file>

<file path=ppt/drawings/_rels/vmlDrawing126.vml.rels><?xml version="1.0" encoding="UTF-8" standalone="yes"?>
<Relationships xmlns="http://schemas.openxmlformats.org/package/2006/relationships"><Relationship Id="rId1" Type="http://schemas.openxmlformats.org/officeDocument/2006/relationships/image" Target="../media/image381.wmf"/></Relationships>
</file>

<file path=ppt/drawings/_rels/vmlDrawing127.vml.rels><?xml version="1.0" encoding="UTF-8" standalone="yes"?>
<Relationships xmlns="http://schemas.openxmlformats.org/package/2006/relationships"><Relationship Id="rId2" Type="http://schemas.openxmlformats.org/officeDocument/2006/relationships/image" Target="../media/image383.wmf"/><Relationship Id="rId1" Type="http://schemas.openxmlformats.org/officeDocument/2006/relationships/image" Target="../media/image382.wmf"/></Relationships>
</file>

<file path=ppt/drawings/_rels/vmlDrawing128.vml.rels><?xml version="1.0" encoding="UTF-8" standalone="yes"?>
<Relationships xmlns="http://schemas.openxmlformats.org/package/2006/relationships"><Relationship Id="rId1" Type="http://schemas.openxmlformats.org/officeDocument/2006/relationships/image" Target="../media/image384.wmf"/></Relationships>
</file>

<file path=ppt/drawings/_rels/vmlDrawing129.vml.rels><?xml version="1.0" encoding="UTF-8" standalone="yes"?>
<Relationships xmlns="http://schemas.openxmlformats.org/package/2006/relationships"><Relationship Id="rId1" Type="http://schemas.openxmlformats.org/officeDocument/2006/relationships/image" Target="../media/image385.wmf"/></Relationships>
</file>

<file path=ppt/drawings/_rels/vmlDrawing130.vml.rels><?xml version="1.0" encoding="UTF-8" standalone="yes"?>
<Relationships xmlns="http://schemas.openxmlformats.org/package/2006/relationships"><Relationship Id="rId2" Type="http://schemas.openxmlformats.org/officeDocument/2006/relationships/image" Target="../media/image387.wmf"/><Relationship Id="rId1" Type="http://schemas.openxmlformats.org/officeDocument/2006/relationships/image" Target="../media/image386.wmf"/></Relationships>
</file>

<file path=ppt/drawings/_rels/vmlDrawing131.vml.rels><?xml version="1.0" encoding="UTF-8" standalone="yes"?>
<Relationships xmlns="http://schemas.openxmlformats.org/package/2006/relationships"><Relationship Id="rId1" Type="http://schemas.openxmlformats.org/officeDocument/2006/relationships/image" Target="../media/image388.wmf"/></Relationships>
</file>

<file path=ppt/drawings/_rels/vmlDrawing132.vml.rels><?xml version="1.0" encoding="UTF-8" standalone="yes"?>
<Relationships xmlns="http://schemas.openxmlformats.org/package/2006/relationships"><Relationship Id="rId1" Type="http://schemas.openxmlformats.org/officeDocument/2006/relationships/image" Target="../media/image389.wmf"/></Relationships>
</file>

<file path=ppt/drawings/_rels/vmlDrawing133.vml.rels><?xml version="1.0" encoding="UTF-8" standalone="yes"?>
<Relationships xmlns="http://schemas.openxmlformats.org/package/2006/relationships"><Relationship Id="rId4" Type="http://schemas.openxmlformats.org/officeDocument/2006/relationships/image" Target="../media/image393.wmf"/><Relationship Id="rId3" Type="http://schemas.openxmlformats.org/officeDocument/2006/relationships/image" Target="../media/image392.wmf"/><Relationship Id="rId2" Type="http://schemas.openxmlformats.org/officeDocument/2006/relationships/image" Target="../media/image391.wmf"/><Relationship Id="rId1" Type="http://schemas.openxmlformats.org/officeDocument/2006/relationships/image" Target="../media/image390.wmf"/></Relationships>
</file>

<file path=ppt/drawings/_rels/vmlDrawing134.vml.rels><?xml version="1.0" encoding="UTF-8" standalone="yes"?>
<Relationships xmlns="http://schemas.openxmlformats.org/package/2006/relationships"><Relationship Id="rId1" Type="http://schemas.openxmlformats.org/officeDocument/2006/relationships/image" Target="../media/image394.wmf"/></Relationships>
</file>

<file path=ppt/drawings/_rels/vmlDrawing135.vml.rels><?xml version="1.0" encoding="UTF-8" standalone="yes"?>
<Relationships xmlns="http://schemas.openxmlformats.org/package/2006/relationships"><Relationship Id="rId1" Type="http://schemas.openxmlformats.org/officeDocument/2006/relationships/image" Target="../media/image395.wmf"/></Relationships>
</file>

<file path=ppt/drawings/_rels/vmlDrawing136.vml.rels><?xml version="1.0" encoding="UTF-8" standalone="yes"?>
<Relationships xmlns="http://schemas.openxmlformats.org/package/2006/relationships"><Relationship Id="rId1" Type="http://schemas.openxmlformats.org/officeDocument/2006/relationships/image" Target="../media/image397.wmf"/></Relationships>
</file>

<file path=ppt/drawings/_rels/vmlDrawing137.vml.rels><?xml version="1.0" encoding="UTF-8" standalone="yes"?>
<Relationships xmlns="http://schemas.openxmlformats.org/package/2006/relationships"><Relationship Id="rId2" Type="http://schemas.openxmlformats.org/officeDocument/2006/relationships/image" Target="../media/image401.wmf"/><Relationship Id="rId1" Type="http://schemas.openxmlformats.org/officeDocument/2006/relationships/image" Target="../media/image400.wmf"/></Relationships>
</file>

<file path=ppt/drawings/_rels/vmlDrawing138.vml.rels><?xml version="1.0" encoding="UTF-8" standalone="yes"?>
<Relationships xmlns="http://schemas.openxmlformats.org/package/2006/relationships"><Relationship Id="rId2" Type="http://schemas.openxmlformats.org/officeDocument/2006/relationships/image" Target="../media/image403.wmf"/><Relationship Id="rId1" Type="http://schemas.openxmlformats.org/officeDocument/2006/relationships/image" Target="../media/image402.wmf"/></Relationships>
</file>

<file path=ppt/drawings/_rels/vmlDrawing139.vml.rels><?xml version="1.0" encoding="UTF-8" standalone="yes"?>
<Relationships xmlns="http://schemas.openxmlformats.org/package/2006/relationships"><Relationship Id="rId3" Type="http://schemas.openxmlformats.org/officeDocument/2006/relationships/image" Target="../media/image406.wmf"/><Relationship Id="rId2" Type="http://schemas.openxmlformats.org/officeDocument/2006/relationships/image" Target="../media/image405.wmf"/><Relationship Id="rId1" Type="http://schemas.openxmlformats.org/officeDocument/2006/relationships/image" Target="../media/image404.wmf"/></Relationships>
</file>

<file path=ppt/drawings/_rels/vmlDrawing140.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8.wmf"/></Relationships>
</file>

<file path=ppt/drawings/_rels/vmlDrawing141.vml.rels><?xml version="1.0" encoding="UTF-8" standalone="yes"?>
<Relationships xmlns="http://schemas.openxmlformats.org/package/2006/relationships"><Relationship Id="rId2" Type="http://schemas.openxmlformats.org/officeDocument/2006/relationships/image" Target="../media/image411.wmf"/><Relationship Id="rId1" Type="http://schemas.openxmlformats.org/officeDocument/2006/relationships/image" Target="../media/image410.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33794" name="Rectangle 2"/>
          <p:cNvSpPr>
            <a:spLocks noGrp="1" noChangeArrowheads="1"/>
          </p:cNvSpPr>
          <p:nvPr>
            <p:ph type="hdr" sz="quarter"/>
          </p:nvPr>
        </p:nvSpPr>
        <p:spPr bwMode="auto">
          <a:xfrm>
            <a:off x="0" y="0"/>
            <a:ext cx="2971800" cy="457200"/>
          </a:xfrm>
          <a:prstGeom prst="rect">
            <a:avLst/>
          </a:prstGeom>
          <a:noFill/>
          <a:ln>
            <a:noFill/>
          </a:ln>
          <a:effectLst/>
        </p:spPr>
        <p:txBody>
          <a:bodyPr vert="horz" wrap="square" lIns="91440" tIns="45720" rIns="91440" bIns="45720" numCol="1" anchor="t" anchorCtr="0" compatLnSpc="1"/>
          <a:lstStyle>
            <a:lvl1pPr algn="l" eaLnBrk="1" hangingPunct="1">
              <a:lnSpc>
                <a:spcPct val="100000"/>
              </a:lnSpc>
              <a:defRPr sz="1200">
                <a:solidFill>
                  <a:schemeClr val="tx1"/>
                </a:solidFill>
                <a:ea typeface="宋体" panose="02010600030101010101" pitchFamily="2" charset="-122"/>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p:txBody>
      </p:sp>
      <p:sp>
        <p:nvSpPr>
          <p:cNvPr id="33795" name="Rectangle 3"/>
          <p:cNvSpPr>
            <a:spLocks noGrp="1" noChangeArrowheads="1"/>
          </p:cNvSpPr>
          <p:nvPr>
            <p:ph type="dt" idx="1"/>
          </p:nvPr>
        </p:nvSpPr>
        <p:spPr bwMode="auto">
          <a:xfrm>
            <a:off x="3886200" y="0"/>
            <a:ext cx="2971800" cy="457200"/>
          </a:xfrm>
          <a:prstGeom prst="rect">
            <a:avLst/>
          </a:prstGeom>
          <a:noFill/>
          <a:ln>
            <a:noFill/>
          </a:ln>
          <a:effectLst/>
        </p:spPr>
        <p:txBody>
          <a:bodyPr vert="horz" wrap="square" lIns="91440" tIns="45720" rIns="91440" bIns="45720" numCol="1" anchor="t" anchorCtr="0" compatLnSpc="1"/>
          <a:lstStyle>
            <a:lvl1pPr algn="r" eaLnBrk="1" hangingPunct="1">
              <a:lnSpc>
                <a:spcPct val="100000"/>
              </a:lnSpc>
              <a:defRPr sz="1200">
                <a:solidFill>
                  <a:schemeClr val="tx1"/>
                </a:solidFill>
                <a:ea typeface="宋体" panose="02010600030101010101" pitchFamily="2" charset="-122"/>
              </a:defRPr>
            </a:lvl1p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p:txBody>
      </p:sp>
      <p:sp>
        <p:nvSpPr>
          <p:cNvPr id="2052" name="Rectangle 4"/>
          <p:cNvSpPr>
            <a:spLocks noTextEdit="1"/>
          </p:cNvSpPr>
          <p:nvPr>
            <p:ph type="sldImg" idx="2"/>
          </p:nvPr>
        </p:nvSpPr>
        <p:spPr>
          <a:xfrm>
            <a:off x="1143000" y="685800"/>
            <a:ext cx="4572000" cy="3429000"/>
          </a:xfrm>
          <a:prstGeom prst="rect">
            <a:avLst/>
          </a:prstGeom>
          <a:noFill/>
          <a:ln w="9525" cap="flat" cmpd="sng">
            <a:solidFill>
              <a:srgbClr val="000000"/>
            </a:solidFill>
            <a:prstDash val="solid"/>
            <a:miter/>
            <a:headEnd type="none" w="med" len="med"/>
            <a:tailEnd type="none" w="med" len="med"/>
          </a:ln>
        </p:spPr>
      </p:sp>
      <p:sp>
        <p:nvSpPr>
          <p:cNvPr id="33797" name="Rectangle 5"/>
          <p:cNvSpPr>
            <a:spLocks noGrp="1" noChangeArrowheads="1"/>
          </p:cNvSpPr>
          <p:nvPr>
            <p:ph type="body" sz="quarter" idx="3"/>
          </p:nvPr>
        </p:nvSpPr>
        <p:spPr bwMode="auto">
          <a:xfrm>
            <a:off x="914400" y="4343400"/>
            <a:ext cx="5029200" cy="4114800"/>
          </a:xfrm>
          <a:prstGeom prst="rect">
            <a:avLst/>
          </a:prstGeom>
          <a:noFill/>
          <a:ln>
            <a:noFill/>
          </a:ln>
          <a:effectLst/>
        </p:spPr>
        <p:txBody>
          <a:bodyPr vert="horz" wrap="square" lIns="91440" tIns="45720" rIns="91440" bIns="45720" numCol="1" anchor="t" anchorCtr="0" compatLnSpc="1"/>
          <a:lstStyle/>
          <a:p>
            <a:pPr marL="0" marR="0" lvl="0" indent="0" algn="l" defTabSz="914400" rtl="0" eaLnBrk="0" fontAlgn="base" latinLnBrk="0" hangingPunct="0">
              <a:lnSpc>
                <a:spcPct val="100000"/>
              </a:lnSpc>
              <a:spcBef>
                <a:spcPct val="30000"/>
              </a:spcBef>
              <a:spcAft>
                <a:spcPct val="0"/>
              </a:spcAft>
              <a:buClrTx/>
              <a:buSzTx/>
              <a:buFontTx/>
              <a:buNone/>
              <a:defRPr/>
            </a:pPr>
            <a:r>
              <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rPr>
              <a:t>单击此处编辑母版文本样式</a:t>
            </a:r>
            <a:endPar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a:p>
            <a:pPr marL="457200" marR="0" lvl="1" indent="0" algn="l" defTabSz="914400" rtl="0" eaLnBrk="0" fontAlgn="base" latinLnBrk="0" hangingPunct="0">
              <a:lnSpc>
                <a:spcPct val="100000"/>
              </a:lnSpc>
              <a:spcBef>
                <a:spcPct val="30000"/>
              </a:spcBef>
              <a:spcAft>
                <a:spcPct val="0"/>
              </a:spcAft>
              <a:buClrTx/>
              <a:buSzTx/>
              <a:buFontTx/>
              <a:buNone/>
              <a:defRPr/>
            </a:pPr>
            <a:r>
              <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rPr>
              <a:t>第二级</a:t>
            </a:r>
            <a:endPar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a:p>
            <a:pPr marL="914400" marR="0" lvl="2" indent="0" algn="l" defTabSz="914400" rtl="0" eaLnBrk="0" fontAlgn="base" latinLnBrk="0" hangingPunct="0">
              <a:lnSpc>
                <a:spcPct val="100000"/>
              </a:lnSpc>
              <a:spcBef>
                <a:spcPct val="30000"/>
              </a:spcBef>
              <a:spcAft>
                <a:spcPct val="0"/>
              </a:spcAft>
              <a:buClrTx/>
              <a:buSzTx/>
              <a:buFontTx/>
              <a:buNone/>
              <a:defRPr/>
            </a:pPr>
            <a:r>
              <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rPr>
              <a:t>第三级</a:t>
            </a:r>
            <a:endPar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a:p>
            <a:pPr marL="1371600" marR="0" lvl="3" indent="0" algn="l" defTabSz="914400" rtl="0" eaLnBrk="0" fontAlgn="base" latinLnBrk="0" hangingPunct="0">
              <a:lnSpc>
                <a:spcPct val="100000"/>
              </a:lnSpc>
              <a:spcBef>
                <a:spcPct val="30000"/>
              </a:spcBef>
              <a:spcAft>
                <a:spcPct val="0"/>
              </a:spcAft>
              <a:buClrTx/>
              <a:buSzTx/>
              <a:buFontTx/>
              <a:buNone/>
              <a:defRPr/>
            </a:pPr>
            <a:r>
              <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rPr>
              <a:t>第四级</a:t>
            </a:r>
            <a:endPar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a:p>
            <a:pPr marL="1828800" marR="0" lvl="4" indent="0" algn="l" defTabSz="914400" rtl="0" eaLnBrk="0" fontAlgn="base" latinLnBrk="0" hangingPunct="0">
              <a:lnSpc>
                <a:spcPct val="100000"/>
              </a:lnSpc>
              <a:spcBef>
                <a:spcPct val="30000"/>
              </a:spcBef>
              <a:spcAft>
                <a:spcPct val="0"/>
              </a:spcAft>
              <a:buClrTx/>
              <a:buSzTx/>
              <a:buFontTx/>
              <a:buNone/>
              <a:defRPr/>
            </a:pPr>
            <a:r>
              <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rPr>
              <a:t>第五级</a:t>
            </a:r>
            <a:endParaRPr kumimoji="1"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p:txBody>
      </p:sp>
      <p:sp>
        <p:nvSpPr>
          <p:cNvPr id="33798" name="Rectangle 6"/>
          <p:cNvSpPr>
            <a:spLocks noGrp="1" noChangeArrowheads="1"/>
          </p:cNvSpPr>
          <p:nvPr>
            <p:ph type="ftr" sz="quarter" idx="4"/>
          </p:nvPr>
        </p:nvSpPr>
        <p:spPr bwMode="auto">
          <a:xfrm>
            <a:off x="0" y="8686800"/>
            <a:ext cx="2971800" cy="457200"/>
          </a:xfrm>
          <a:prstGeom prst="rect">
            <a:avLst/>
          </a:prstGeom>
          <a:noFill/>
          <a:ln>
            <a:noFill/>
          </a:ln>
          <a:effectLst/>
        </p:spPr>
        <p:txBody>
          <a:bodyPr vert="horz" wrap="square" lIns="91440" tIns="45720" rIns="91440" bIns="45720" numCol="1" anchor="b" anchorCtr="0" compatLnSpc="1"/>
          <a:lstStyle>
            <a:lvl1pPr algn="l" eaLnBrk="1" hangingPunct="1">
              <a:lnSpc>
                <a:spcPct val="100000"/>
              </a:lnSpc>
              <a:defRPr sz="1200">
                <a:solidFill>
                  <a:schemeClr val="tx1"/>
                </a:solidFill>
                <a:ea typeface="宋体" panose="02010600030101010101" pitchFamily="2" charset="-122"/>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宋体" panose="02010600030101010101" pitchFamily="2" charset="-122"/>
              <a:cs typeface="+mn-cs"/>
            </a:endParaRPr>
          </a:p>
        </p:txBody>
      </p:sp>
      <p:sp>
        <p:nvSpPr>
          <p:cNvPr id="33799" name="Rectangle 7"/>
          <p:cNvSpPr>
            <a:spLocks noGrp="1" noChangeArrowheads="1"/>
          </p:cNvSpPr>
          <p:nvPr>
            <p:ph type="sldNum" sz="quarter" idx="5"/>
          </p:nvPr>
        </p:nvSpPr>
        <p:spPr bwMode="auto">
          <a:xfrm>
            <a:off x="3886200" y="8686800"/>
            <a:ext cx="2971800" cy="457200"/>
          </a:xfrm>
          <a:prstGeom prst="rect">
            <a:avLst/>
          </a:prstGeom>
          <a:noFill/>
          <a:ln>
            <a:noFill/>
          </a:ln>
          <a:effectLst/>
        </p:spPr>
        <p:txBody>
          <a:bodyPr vert="horz" wrap="square" lIns="91440" tIns="45720" rIns="91440" bIns="45720" numCol="1" anchor="b" anchorCtr="0" compatLnSpc="1"/>
          <a:p>
            <a:pPr lvl="0" algn="r" eaLnBrk="1" hangingPunct="1"/>
            <a:fld id="{9A0DB2DC-4C9A-4742-B13C-FB6460FD3503}" type="slidenum">
              <a:rPr lang="en-US" altLang="zh-CN" sz="1200" dirty="0">
                <a:solidFill>
                  <a:schemeClr val="tx1"/>
                </a:solidFill>
                <a:ea typeface="宋体" panose="02010600030101010101" pitchFamily="2" charset="-122"/>
              </a:rPr>
            </a:fld>
            <a:endParaRPr lang="en-US" altLang="zh-CN" sz="1200" dirty="0">
              <a:solidFill>
                <a:schemeClr val="tx1"/>
              </a:solidFill>
              <a:ea typeface="宋体" panose="02010600030101010101" pitchFamily="2" charset="-122"/>
            </a:endParaRPr>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1pPr>
    <a:lvl2pPr marL="4572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2pPr>
    <a:lvl3pPr marL="9144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3pPr>
    <a:lvl4pPr marL="13716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4pPr>
    <a:lvl5pPr marL="1828800" algn="l" rtl="0" eaLnBrk="0" fontAlgn="base" hangingPunct="0">
      <a:spcBef>
        <a:spcPct val="30000"/>
      </a:spcBef>
      <a:spcAft>
        <a:spcPct val="0"/>
      </a:spcAft>
      <a:defRPr kumimoji="1" sz="1200" kern="1200">
        <a:solidFill>
          <a:schemeClr val="tx1"/>
        </a:solidFill>
        <a:latin typeface="Times New Roman" panose="02020603050405020304" pitchFamily="18" charset="0"/>
        <a:ea typeface="宋体"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1.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2.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3.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4.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2.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3.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4.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5.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6.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7.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8.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9.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2.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5.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0.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1.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2.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3.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4.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5.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6.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7.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8.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9.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0.xml"/></Relationships>
</file>

<file path=ppt/notesSlides/_rels/notesSlide30.xml.rels><?xml version="1.0" encoding="UTF-8" standalone="yes"?>
<Relationships xmlns="http://schemas.openxmlformats.org/package/2006/relationships"><Relationship Id="rId4" Type="http://schemas.openxmlformats.org/officeDocument/2006/relationships/hyperlink" Target="http://baike.baidu.com/view/192874.htm" TargetMode="External"/><Relationship Id="rId3" Type="http://schemas.openxmlformats.org/officeDocument/2006/relationships/hyperlink" Target="http://baike.baidu.com/view/68529.htm" TargetMode="External"/><Relationship Id="rId2" Type="http://schemas.openxmlformats.org/officeDocument/2006/relationships/notesMaster" Target="../notesMasters/notesMaster1.xml"/><Relationship Id="rId1" Type="http://schemas.openxmlformats.org/officeDocument/2006/relationships/slide" Target="../slides/slide383.xml"/></Relationships>
</file>

<file path=ppt/notesSlides/_rels/notesSlide31.xml.rels><?xml version="1.0" encoding="UTF-8" standalone="yes"?>
<Relationships xmlns="http://schemas.openxmlformats.org/package/2006/relationships"><Relationship Id="rId5" Type="http://schemas.openxmlformats.org/officeDocument/2006/relationships/hyperlink" Target="http://baike.baidu.com/view/54338.htm" TargetMode="External"/><Relationship Id="rId4" Type="http://schemas.openxmlformats.org/officeDocument/2006/relationships/hyperlink" Target="http://baike.baidu.com/view/628441.htm" TargetMode="External"/><Relationship Id="rId3" Type="http://schemas.openxmlformats.org/officeDocument/2006/relationships/hyperlink" Target="http://baike.baidu.com/view/1230146.htm" TargetMode="External"/><Relationship Id="rId2" Type="http://schemas.openxmlformats.org/officeDocument/2006/relationships/notesMaster" Target="../notesMasters/notesMaster1.xml"/><Relationship Id="rId1" Type="http://schemas.openxmlformats.org/officeDocument/2006/relationships/slide" Target="../slides/slide387.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6.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7.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8.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9.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0.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1.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2.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0.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1.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2.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3.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5.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6.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7.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8.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9.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0.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1.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2.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3.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4.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5.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6.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7.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8.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9.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0.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1.xml"/></Relationships>
</file>

<file path=ppt/notesSlides/_rels/notesSlide6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2.xml"/></Relationships>
</file>

<file path=ppt/notesSlides/_rels/notesSlide6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3.xml"/></Relationships>
</file>

<file path=ppt/notesSlides/_rels/notesSlide6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4.xml"/></Relationships>
</file>

<file path=ppt/notesSlides/_rels/notesSlide6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5.xml"/></Relationships>
</file>

<file path=ppt/notesSlides/_rels/notesSlide6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6.xml"/></Relationships>
</file>

<file path=ppt/notesSlides/_rels/notesSlide6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7.xml"/></Relationships>
</file>

<file path=ppt/notesSlides/_rels/notesSlide6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8.xml"/></Relationships>
</file>

<file path=ppt/notesSlides/_rels/notesSlide6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9.xml"/></Relationships>
</file>

<file path=ppt/notesSlides/_rels/notesSlide6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0.xml"/></Relationships>
</file>

<file path=ppt/notesSlides/_rels/notesSlide6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1.xml"/></Relationships>
</file>

<file path=ppt/notesSlides/_rels/notesSlide7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2.xml"/></Relationships>
</file>

<file path=ppt/notesSlides/_rels/notesSlide7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3.xml"/></Relationships>
</file>

<file path=ppt/notesSlides/_rels/notesSlide7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4.xml"/></Relationships>
</file>

<file path=ppt/notesSlides/_rels/notesSlide7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5.xml"/></Relationships>
</file>

<file path=ppt/notesSlides/_rels/notesSlide7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6.xml"/></Relationships>
</file>

<file path=ppt/notesSlides/_rels/notesSlide7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7.xml"/></Relationships>
</file>

<file path=ppt/notesSlides/_rels/notesSlide7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8.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577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latin typeface="Times New Roman" panose="02020603050405020304" pitchFamily="18" charset="0"/>
                <a:ea typeface="宋体" panose="02010600030101010101" pitchFamily="2" charset="-122"/>
              </a:rPr>
            </a:fld>
            <a:endParaRPr lang="en-US" altLang="zh-CN" sz="1200" b="0" dirty="0">
              <a:solidFill>
                <a:schemeClr val="tx1"/>
              </a:solidFill>
              <a:latin typeface="Times New Roman" panose="02020603050405020304" pitchFamily="18" charset="0"/>
              <a:ea typeface="宋体" panose="02010600030101010101" pitchFamily="2" charset="-122"/>
            </a:endParaRPr>
          </a:p>
        </p:txBody>
      </p:sp>
      <p:sp>
        <p:nvSpPr>
          <p:cNvPr id="75779"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7578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819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819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819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2"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024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024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12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512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512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17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sz="2000" b="1" dirty="0">
                <a:solidFill>
                  <a:srgbClr val="333399"/>
                </a:solidFill>
              </a:rPr>
            </a:fld>
            <a:endParaRPr lang="en-US" altLang="zh-CN" sz="2000" b="1" dirty="0">
              <a:solidFill>
                <a:srgbClr val="333399"/>
              </a:solidFill>
            </a:endParaRPr>
          </a:p>
        </p:txBody>
      </p:sp>
      <p:sp>
        <p:nvSpPr>
          <p:cNvPr id="717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717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921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921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922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126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126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126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12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512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512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12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512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512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17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7171"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717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9218"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9219"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922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1266"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1267"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126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3314"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331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331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362"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536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536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741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7411"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741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458"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19459"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1946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3554"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2355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2355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765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27651"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2765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3794"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3379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3379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5842"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3584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3584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789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37891"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3789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9938"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39939"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3994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1986"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41987"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4198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4034"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4403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4403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6082"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46083"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4608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8130"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48131"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4813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0178"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50179"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5018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2466"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62467"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6246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4514" name="Rectangle 7"/>
          <p:cNvSpPr txBox="1">
            <a:spLocks noGrp="1"/>
          </p:cNvSpPr>
          <p:nvPr/>
        </p:nvSpPr>
        <p:spPr>
          <a:xfrm>
            <a:off x="3886200" y="8686800"/>
            <a:ext cx="2971800" cy="457200"/>
          </a:xfrm>
          <a:prstGeom prst="rect">
            <a:avLst/>
          </a:prstGeom>
          <a:noFill/>
          <a:ln w="9525">
            <a:noFill/>
          </a:ln>
        </p:spPr>
        <p:txBody>
          <a:bodyPr anchor="b" anchorCtr="0"/>
          <a:p>
            <a:pPr lvl="0" algn="r" eaLnBrk="1" hangingPunct="1">
              <a:spcBef>
                <a:spcPct val="0"/>
              </a:spcBef>
            </a:pPr>
            <a:fld id="{9A0DB2DC-4C9A-4742-B13C-FB6460FD3503}" type="slidenum">
              <a:rPr lang="en-US" altLang="zh-CN" dirty="0"/>
            </a:fld>
            <a:endParaRPr lang="en-US" altLang="zh-CN" dirty="0"/>
          </a:p>
        </p:txBody>
      </p:sp>
      <p:sp>
        <p:nvSpPr>
          <p:cNvPr id="64515" name="Rectangle 2"/>
          <p:cNvSpPr/>
          <p:nvPr>
            <p:ph type="body" idx="1"/>
          </p:nvPr>
        </p:nvSpPr>
        <p:spPr>
          <a:xfrm>
            <a:off x="914400" y="4346575"/>
            <a:ext cx="5029200" cy="3602038"/>
          </a:xfrm>
        </p:spPr>
        <p:txBody>
          <a:bodyPr wrap="square" lIns="90427" tIns="45214" rIns="90427" bIns="45214" anchor="t" anchorCtr="0"/>
          <a:p>
            <a:pPr lvl="0" eaLnBrk="1" hangingPunct="1"/>
            <a:endParaRPr lang="zh-CN" altLang="en-US" dirty="0"/>
          </a:p>
        </p:txBody>
      </p:sp>
      <p:sp>
        <p:nvSpPr>
          <p:cNvPr id="6451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19810" name="Rectangle 2"/>
          <p:cNvSpPr>
            <a:spLocks noTextEdit="1"/>
          </p:cNvSpPr>
          <p:nvPr>
            <p:ph type="sldImg"/>
          </p:nvPr>
        </p:nvSpPr>
        <p:spPr/>
      </p:sp>
      <p:sp>
        <p:nvSpPr>
          <p:cNvPr id="119811" name="Rectangle 3"/>
          <p:cNvSpPr>
            <a:spLocks noGrp="1"/>
          </p:cNvSpPr>
          <p:nvPr>
            <p:ph type="body" idx="1"/>
          </p:nvPr>
        </p:nvSpPr>
        <p:spPr/>
        <p:txBody>
          <a:bodyPr wrap="square" lIns="91440" tIns="45720" rIns="91440" bIns="45720" anchor="t" anchorCtr="0"/>
          <a:p>
            <a:pPr lvl="0"/>
            <a:r>
              <a:rPr lang="zh-CN" altLang="en-US" dirty="0"/>
              <a:t>动态范围是指</a:t>
            </a:r>
            <a:r>
              <a:rPr lang="zh-CN" altLang="en-US" dirty="0">
                <a:hlinkClick r:id="rId3"/>
              </a:rPr>
              <a:t>音响</a:t>
            </a:r>
            <a:r>
              <a:rPr lang="zh-CN" altLang="en-US" dirty="0"/>
              <a:t>系统重放时最大不失真</a:t>
            </a:r>
            <a:r>
              <a:rPr lang="zh-CN" altLang="en-US" dirty="0">
                <a:hlinkClick r:id="rId4"/>
              </a:rPr>
              <a:t>输出功率</a:t>
            </a:r>
            <a:r>
              <a:rPr lang="zh-CN" altLang="en-US" dirty="0"/>
              <a:t>与静态时系统噪声输出功率之比的对数值 。</a:t>
            </a:r>
            <a:endParaRPr lang="zh-CN" altLang="en-US"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24930" name="Rectangle 2"/>
          <p:cNvSpPr>
            <a:spLocks noTextEdit="1"/>
          </p:cNvSpPr>
          <p:nvPr>
            <p:ph type="sldImg"/>
          </p:nvPr>
        </p:nvSpPr>
        <p:spPr/>
      </p:sp>
      <p:sp>
        <p:nvSpPr>
          <p:cNvPr id="124931" name="Rectangle 3"/>
          <p:cNvSpPr>
            <a:spLocks noGrp="1"/>
          </p:cNvSpPr>
          <p:nvPr>
            <p:ph type="body" idx="1"/>
          </p:nvPr>
        </p:nvSpPr>
        <p:spPr/>
        <p:txBody>
          <a:bodyPr wrap="square" lIns="91440" tIns="45720" rIns="91440" bIns="45720" anchor="t" anchorCtr="0"/>
          <a:p>
            <a:pPr lvl="0"/>
            <a:r>
              <a:rPr lang="zh-CN" altLang="en-US" dirty="0"/>
              <a:t>白噪声是指</a:t>
            </a:r>
            <a:r>
              <a:rPr lang="zh-CN" altLang="en-US" dirty="0">
                <a:hlinkClick r:id="rId3"/>
              </a:rPr>
              <a:t>功率谱密度</a:t>
            </a:r>
            <a:r>
              <a:rPr lang="zh-CN" altLang="en-US" dirty="0"/>
              <a:t>在整个</a:t>
            </a:r>
            <a:r>
              <a:rPr lang="zh-CN" altLang="en-US" dirty="0">
                <a:hlinkClick r:id="rId4"/>
              </a:rPr>
              <a:t>频域</a:t>
            </a:r>
            <a:r>
              <a:rPr lang="zh-CN" altLang="en-US" dirty="0"/>
              <a:t>内均匀分布的噪声。换句话说，此</a:t>
            </a:r>
            <a:r>
              <a:rPr lang="zh-CN" altLang="en-US" dirty="0">
                <a:hlinkClick r:id="rId5"/>
              </a:rPr>
              <a:t>信号</a:t>
            </a:r>
            <a:r>
              <a:rPr lang="zh-CN" altLang="en-US" dirty="0"/>
              <a:t>在各个频段上的功率是一样的。理想的白噪声具有无限带宽，因而其能量是无限大，这在现实世界是不可能存在的。 </a:t>
            </a:r>
            <a:endParaRPr lang="en-US" altLang="zh-CN"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45410" name="Rectangle 2"/>
          <p:cNvSpPr>
            <a:spLocks noTextEdit="1"/>
          </p:cNvSpPr>
          <p:nvPr>
            <p:ph type="sldImg"/>
          </p:nvPr>
        </p:nvSpPr>
        <p:spPr/>
      </p:sp>
      <p:sp>
        <p:nvSpPr>
          <p:cNvPr id="145411"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47458" name="Rectangle 2"/>
          <p:cNvSpPr>
            <a:spLocks noTextEdit="1"/>
          </p:cNvSpPr>
          <p:nvPr>
            <p:ph type="sldImg"/>
          </p:nvPr>
        </p:nvSpPr>
        <p:spPr/>
      </p:sp>
      <p:sp>
        <p:nvSpPr>
          <p:cNvPr id="147459"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49506" name="Rectangle 2"/>
          <p:cNvSpPr>
            <a:spLocks noTextEdit="1"/>
          </p:cNvSpPr>
          <p:nvPr>
            <p:ph type="sldImg"/>
          </p:nvPr>
        </p:nvSpPr>
        <p:spPr/>
      </p:sp>
      <p:sp>
        <p:nvSpPr>
          <p:cNvPr id="149507"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1554" name="Rectangle 2"/>
          <p:cNvSpPr>
            <a:spLocks noTextEdit="1"/>
          </p:cNvSpPr>
          <p:nvPr>
            <p:ph type="sldImg"/>
          </p:nvPr>
        </p:nvSpPr>
        <p:spPr/>
      </p:sp>
      <p:sp>
        <p:nvSpPr>
          <p:cNvPr id="151555"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3602" name="Rectangle 2"/>
          <p:cNvSpPr>
            <a:spLocks noTextEdit="1"/>
          </p:cNvSpPr>
          <p:nvPr>
            <p:ph type="sldImg"/>
          </p:nvPr>
        </p:nvSpPr>
        <p:spPr/>
      </p:sp>
      <p:sp>
        <p:nvSpPr>
          <p:cNvPr id="153603"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5650" name="Rectangle 2"/>
          <p:cNvSpPr>
            <a:spLocks noTextEdit="1"/>
          </p:cNvSpPr>
          <p:nvPr>
            <p:ph type="sldImg"/>
          </p:nvPr>
        </p:nvSpPr>
        <p:spPr/>
      </p:sp>
      <p:sp>
        <p:nvSpPr>
          <p:cNvPr id="155651"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7698" name="Rectangle 2"/>
          <p:cNvSpPr>
            <a:spLocks noTextEdit="1"/>
          </p:cNvSpPr>
          <p:nvPr>
            <p:ph type="sldImg"/>
          </p:nvPr>
        </p:nvSpPr>
        <p:spPr/>
      </p:sp>
      <p:sp>
        <p:nvSpPr>
          <p:cNvPr id="157699" name="Rectangle 3"/>
          <p:cNvSpPr>
            <a:spLocks noGrp="1"/>
          </p:cNvSpPr>
          <p:nvPr>
            <p:ph type="body" idx="1"/>
          </p:nvPr>
        </p:nvSpPr>
        <p:spPr/>
        <p:txBody>
          <a:bodyPr wrap="square" lIns="91440" tIns="45720" rIns="91440" bIns="45720" anchor="t" anchorCtr="0"/>
          <a:p>
            <a:pPr lvl="0"/>
            <a:r>
              <a:rPr lang="zh-CN" altLang="en-US" dirty="0"/>
              <a:t>≥</a:t>
            </a:r>
            <a:endParaRPr lang="zh-CN" altLang="en-US"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14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147" name="Rectangle 2"/>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14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819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819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819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1024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1024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229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1229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1229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36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1536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1536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741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1741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1741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45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1945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1946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150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2150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2150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355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2355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2355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560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2560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2560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765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2765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2765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969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2969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2970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174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3174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3174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379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3379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3379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584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3584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3584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789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3789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3789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3993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3993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3994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198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4198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4198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403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4403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4403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608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4608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4608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4813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4813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4813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017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5017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5018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222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5222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5222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427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5427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5427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632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5632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5632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837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5837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5837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041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041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042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246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246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246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451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451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451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656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656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656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6861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6861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6861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065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7065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7066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270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7270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7270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4754"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74755"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74756"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6802"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76803"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76804"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78850"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78851"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78852"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80898"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80899"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80900"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82946" name="Rectangle 7"/>
          <p:cNvSpPr txBox="1">
            <a:spLocks noGrp="1"/>
          </p:cNvSpPr>
          <p:nvPr>
            <p:ph type="sldNum" sz="quarter"/>
          </p:nvPr>
        </p:nvSpPr>
        <p:spPr>
          <a:xfrm>
            <a:off x="3886200" y="8686800"/>
            <a:ext cx="2971800" cy="457200"/>
          </a:xfrm>
          <a:prstGeom prst="rect">
            <a:avLst/>
          </a:prstGeom>
          <a:noFill/>
          <a:ln w="9525">
            <a:noFill/>
          </a:ln>
        </p:spPr>
        <p:txBody>
          <a:bodyPr anchor="b" anchorCtr="0"/>
          <a:p>
            <a:pPr lvl="0" algn="r" eaLnBrk="1" hangingPunct="1"/>
            <a:fld id="{9A0DB2DC-4C9A-4742-B13C-FB6460FD3503}" type="slidenum">
              <a:rPr lang="en-US" altLang="zh-CN" sz="1200" b="0" dirty="0">
                <a:solidFill>
                  <a:schemeClr val="tx1"/>
                </a:solidFill>
                <a:ea typeface="宋体" panose="02010600030101010101" pitchFamily="2" charset="-122"/>
              </a:rPr>
            </a:fld>
            <a:endParaRPr lang="en-US" altLang="zh-CN" sz="1200" b="0" dirty="0">
              <a:solidFill>
                <a:schemeClr val="tx1"/>
              </a:solidFill>
              <a:ea typeface="宋体" panose="02010600030101010101" pitchFamily="2" charset="-122"/>
            </a:endParaRPr>
          </a:p>
        </p:txBody>
      </p:sp>
      <p:sp>
        <p:nvSpPr>
          <p:cNvPr id="82947" name="Rectangle 2"/>
          <p:cNvSpPr>
            <a:spLocks noGrp="1"/>
          </p:cNvSpPr>
          <p:nvPr>
            <p:ph type="body" idx="1"/>
          </p:nvPr>
        </p:nvSpPr>
        <p:spPr>
          <a:xfrm>
            <a:off x="914400" y="4346575"/>
            <a:ext cx="5029200" cy="3602038"/>
          </a:xfrm>
        </p:spPr>
        <p:txBody>
          <a:bodyPr wrap="square" lIns="90427" tIns="45214" rIns="90427" bIns="45214" anchor="t" anchorCtr="0"/>
          <a:p>
            <a:pPr lvl="0" eaLnBrk="1" hangingPunct="1"/>
            <a:r>
              <a:rPr lang="en-US" altLang="zh-CN" dirty="0"/>
              <a:t>              </a:t>
            </a:r>
            <a:r>
              <a:rPr lang="zh-CN" altLang="en-US" dirty="0"/>
              <a:t>产品平均市场寿命从七十年代末的近十年缩短到九十年代中</a:t>
            </a:r>
            <a:endParaRPr lang="zh-CN" altLang="en-US" dirty="0"/>
          </a:p>
          <a:p>
            <a:pPr lvl="0" eaLnBrk="1" hangingPunct="1"/>
            <a:r>
              <a:rPr lang="zh-CN" altLang="en-US" dirty="0"/>
              <a:t>      期的</a:t>
            </a:r>
            <a:r>
              <a:rPr lang="en-US" altLang="zh-CN" dirty="0"/>
              <a:t>2.4</a:t>
            </a:r>
            <a:r>
              <a:rPr lang="zh-CN" altLang="en-US" dirty="0"/>
              <a:t>年；与此相反，产品的平均开发时间从七十年代末的一年</a:t>
            </a:r>
            <a:endParaRPr lang="zh-CN" altLang="en-US" dirty="0"/>
          </a:p>
          <a:p>
            <a:pPr lvl="0" eaLnBrk="1" hangingPunct="1"/>
            <a:r>
              <a:rPr lang="zh-CN" altLang="en-US" dirty="0"/>
              <a:t>      增加到九十年代中期的五年多。这对矛盾是对企业新产品开发能</a:t>
            </a:r>
            <a:endParaRPr lang="zh-CN" altLang="en-US" dirty="0"/>
          </a:p>
          <a:p>
            <a:pPr lvl="0" eaLnBrk="1" hangingPunct="1"/>
            <a:r>
              <a:rPr lang="zh-CN" altLang="en-US" dirty="0"/>
              <a:t>      力的极大的压力。</a:t>
            </a:r>
            <a:endParaRPr lang="zh-CN" altLang="en-US" dirty="0"/>
          </a:p>
        </p:txBody>
      </p:sp>
      <p:sp>
        <p:nvSpPr>
          <p:cNvPr id="82948" name="Rectangle 3"/>
          <p:cNvSpPr>
            <a:spLocks noTextEdit="1"/>
          </p:cNvSpPr>
          <p:nvPr>
            <p:ph type="sldImg"/>
          </p:nvPr>
        </p:nvSpPr>
        <p:spPr>
          <a:xfrm>
            <a:off x="1298575" y="800100"/>
            <a:ext cx="4260850" cy="3195638"/>
          </a:xfrm>
          <a:ln w="12700">
            <a:solidFill>
              <a:schemeClr val="tx1">
                <a:alpha val="100000"/>
              </a:schemeClr>
            </a:solidFill>
          </a:ln>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endParaRPr lang="zh-CN" altLang="en-US"/>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endParaRPr lang="zh-CN" altLang="en-US"/>
          </a:p>
        </p:txBody>
      </p:sp>
    </p:spTree>
  </p:cSld>
  <p:clrMapOvr>
    <a:masterClrMapping/>
  </p:clrMapOvr>
  <p:transition spd="med">
    <p:strips/>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endParaRPr lang="zh-CN" altLang="en-US"/>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endParaRPr lang="zh-CN" altLang="en-US"/>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Tree>
  </p:cSld>
  <p:clrMapOvr>
    <a:masterClrMapping/>
  </p:clrMapOvr>
  <p:transition spd="med">
    <p:strips/>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med">
    <p:strips/>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endParaRPr kumimoji="1" lang="zh-CN" altLang="en-US" sz="3200" b="1" i="0" u="none" strike="noStrike" kern="0" cap="none" spc="0" normalizeH="0" baseline="0" noProof="0">
              <a:ln>
                <a:noFill/>
              </a:ln>
              <a:solidFill>
                <a:srgbClr val="000066"/>
              </a:solidFill>
              <a:effectLst/>
              <a:uLnTx/>
              <a:uFillTx/>
              <a:latin typeface="+mn-lt"/>
              <a:ea typeface="+mn-ea"/>
              <a:cs typeface="+mn-cs"/>
            </a:endParaRPr>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endParaRPr lang="zh-CN" altLang="en-US"/>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endParaRPr lang="zh-CN" altLang="en-US"/>
          </a:p>
        </p:txBody>
      </p:sp>
    </p:spTree>
  </p:cSld>
  <p:clrMapOvr>
    <a:masterClrMapping/>
  </p:clrMapOvr>
  <p:transition spd="med">
    <p:strips/>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endParaRPr lang="zh-CN" altLang="en-US"/>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endParaRPr lang="zh-CN" altLang="en-US"/>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Tree>
  </p:cSld>
  <p:clrMapOvr>
    <a:masterClrMapping/>
  </p:clrMapOvr>
  <p:transition spd="med">
    <p:strips/>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med">
    <p:strips/>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endParaRPr kumimoji="0" lang="zh-CN" altLang="en-US" sz="3200" b="1" i="0" u="none" strike="noStrike" kern="0" cap="none" spc="0" normalizeH="0" baseline="0" noProof="0">
              <a:ln>
                <a:noFill/>
              </a:ln>
              <a:solidFill>
                <a:srgbClr val="000066"/>
              </a:solidFill>
              <a:effectLst/>
              <a:uLnTx/>
              <a:uFillTx/>
              <a:latin typeface="+mn-lt"/>
              <a:ea typeface="+mn-ea"/>
              <a:cs typeface="+mn-cs"/>
            </a:endParaRPr>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Tree>
  </p:cSld>
  <p:clrMapOvr>
    <a:masterClrMapping/>
  </p:clrMapOvr>
  <p:transition spd="med">
    <p:strips/>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smtClean="0"/>
              <a:t>单击此处编辑母版标题样式</a:t>
            </a:r>
            <a:endParaRPr lang="zh-CN" altLang="en-US"/>
          </a:p>
        </p:txBody>
      </p:sp>
    </p:spTree>
  </p:cSld>
  <p:clrMapOvr>
    <a:masterClrMapping/>
  </p:clrMapOvr>
  <p:transition spd="med">
    <p:strips/>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med">
    <p:strips/>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endParaRPr kumimoji="0" lang="zh-CN" altLang="en-US" sz="3200" b="1" i="0" u="none" strike="noStrike" kern="0" cap="none" spc="0" normalizeH="0" baseline="0" noProof="0" smtClean="0">
              <a:ln>
                <a:noFill/>
              </a:ln>
              <a:solidFill>
                <a:srgbClr val="000066"/>
              </a:solidFill>
              <a:effectLst/>
              <a:uLnTx/>
              <a:uFillTx/>
              <a:latin typeface="+mn-lt"/>
              <a:ea typeface="+mn-ea"/>
              <a:cs typeface="+mn-cs"/>
            </a:endParaRPr>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fourObj" preserve="1">
  <p:cSld name="标题和四项内容">
    <p:spTree>
      <p:nvGrpSpPr>
        <p:cNvPr id="1" name=""/>
        <p:cNvGrpSpPr/>
        <p:nvPr/>
      </p:nvGrpSpPr>
      <p:grpSpPr>
        <a:xfrm>
          <a:off x="0" y="0"/>
          <a:ext cx="0" cy="0"/>
          <a:chOff x="0" y="0"/>
          <a:chExt cx="0" cy="0"/>
        </a:xfrm>
      </p:grpSpPr>
      <p:sp>
        <p:nvSpPr>
          <p:cNvPr id="2" name="标题 1"/>
          <p:cNvSpPr>
            <a:spLocks noGrp="1"/>
          </p:cNvSpPr>
          <p:nvPr>
            <p:ph type="title" sz="quarter"/>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quarter" idx="1"/>
          </p:nvPr>
        </p:nvSpPr>
        <p:spPr>
          <a:xfrm>
            <a:off x="457200" y="1600200"/>
            <a:ext cx="4038600" cy="21859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quarter" idx="2"/>
          </p:nvPr>
        </p:nvSpPr>
        <p:spPr>
          <a:xfrm>
            <a:off x="4648200" y="1600200"/>
            <a:ext cx="4038600" cy="21859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内容占位符 4"/>
          <p:cNvSpPr>
            <a:spLocks noGrp="1"/>
          </p:cNvSpPr>
          <p:nvPr>
            <p:ph sz="quarter" idx="3"/>
          </p:nvPr>
        </p:nvSpPr>
        <p:spPr>
          <a:xfrm>
            <a:off x="457200" y="3938588"/>
            <a:ext cx="4038600" cy="2187575"/>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内容占位符 5"/>
          <p:cNvSpPr>
            <a:spLocks noGrp="1"/>
          </p:cNvSpPr>
          <p:nvPr>
            <p:ph sz="quarter" idx="4"/>
          </p:nvPr>
        </p:nvSpPr>
        <p:spPr>
          <a:xfrm>
            <a:off x="4648200" y="3938588"/>
            <a:ext cx="4038600" cy="2187575"/>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a:prstGeom prst="rect">
            <a:avLst/>
          </a:prstGeom>
        </p:spPr>
        <p:txBody>
          <a:bodyPr/>
          <a:lstStyle/>
          <a:p>
            <a:r>
              <a:rPr lang="zh-CN" altLang="en-US"/>
              <a:t>单击此处编辑母版标题样式</a:t>
            </a:r>
            <a:endParaRPr lang="zh-CN" altLang="en-US"/>
          </a:p>
        </p:txBody>
      </p:sp>
      <p:sp>
        <p:nvSpPr>
          <p:cNvPr id="3" name="副标题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endParaRPr lang="zh-CN" altLang="en-US"/>
          </a:p>
        </p:txBody>
      </p:sp>
    </p:spTree>
  </p:cSld>
  <p:clrMapOvr>
    <a:masterClrMapping/>
  </p:clrMapOvr>
  <p:transition spd="med">
    <p:strips/>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457200" y="1600200"/>
            <a:ext cx="82296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zh-CN" altLang="en-US"/>
              <a:t>单击此处编辑母版标题样式</a:t>
            </a:r>
            <a:endParaRPr lang="zh-CN" altLang="en-US"/>
          </a:p>
        </p:txBody>
      </p:sp>
      <p:sp>
        <p:nvSpPr>
          <p:cNvPr id="3" name="文本占位符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lvl1pPr>
              <a:defRPr/>
            </a:lvl1pPr>
          </a:lstStyle>
          <a:p>
            <a:r>
              <a:rPr lang="zh-CN" altLang="en-US"/>
              <a:t>单击此处编辑母版标题样式</a:t>
            </a:r>
            <a:endParaRPr lang="zh-CN" altLang="en-US"/>
          </a:p>
        </p:txBody>
      </p:sp>
      <p:sp>
        <p:nvSpPr>
          <p:cNvPr id="3" name="文本占位符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Tree>
  </p:cSld>
  <p:clrMapOvr>
    <a:masterClrMapping/>
  </p:clrMapOvr>
  <p:transition spd="med">
    <p:strips/>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med">
    <p:strips/>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内容占位符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a:prstGeom prst="rect">
            <a:avLst/>
          </a:prstGeom>
        </p:spPr>
        <p:txBody>
          <a:bodyPr anchor="b"/>
          <a:lstStyle>
            <a:lvl1pPr algn="l">
              <a:defRPr sz="2000" b="1"/>
            </a:lvl1pPr>
          </a:lstStyle>
          <a:p>
            <a:r>
              <a:rPr lang="zh-CN" altLang="en-US"/>
              <a:t>单击此处编辑母版标题样式</a:t>
            </a:r>
            <a:endParaRPr lang="zh-CN" altLang="en-US"/>
          </a:p>
        </p:txBody>
      </p:sp>
      <p:sp>
        <p:nvSpPr>
          <p:cNvPr id="3" name="图片占位符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endParaRPr kumimoji="0" lang="zh-CN" altLang="en-US" sz="3200" b="1" i="0" u="none" strike="noStrike" kern="0" cap="none" spc="0" normalizeH="0" baseline="0" noProof="0">
              <a:ln>
                <a:noFill/>
              </a:ln>
              <a:solidFill>
                <a:srgbClr val="000066"/>
              </a:solidFill>
              <a:effectLst/>
              <a:uLnTx/>
              <a:uFillTx/>
              <a:latin typeface="+mn-lt"/>
              <a:ea typeface="+mn-ea"/>
              <a:cs typeface="+mn-cs"/>
            </a:endParaRPr>
          </a:p>
        </p:txBody>
      </p:sp>
      <p:sp>
        <p:nvSpPr>
          <p:cNvPr id="4" name="文本占位符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endParaRPr lang="zh-CN" altLang="en-US"/>
          </a:p>
        </p:txBody>
      </p:sp>
    </p:spTree>
  </p:cSld>
  <p:clrMapOvr>
    <a:masterClrMapping/>
  </p:clrMapOvr>
  <p:transition spd="med">
    <p:strips/>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1600200"/>
            <a:ext cx="8229600" cy="4525963"/>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457200" y="274638"/>
            <a:ext cx="8229600" cy="5851525"/>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fourObj" preserve="1">
  <p:cSld name="标题和四项内容">
    <p:spTree>
      <p:nvGrpSpPr>
        <p:cNvPr id="1" name=""/>
        <p:cNvGrpSpPr/>
        <p:nvPr/>
      </p:nvGrpSpPr>
      <p:grpSpPr>
        <a:xfrm>
          <a:off x="0" y="0"/>
          <a:ext cx="0" cy="0"/>
          <a:chOff x="0" y="0"/>
          <a:chExt cx="0" cy="0"/>
        </a:xfrm>
      </p:grpSpPr>
      <p:sp>
        <p:nvSpPr>
          <p:cNvPr id="2" name="标题 1"/>
          <p:cNvSpPr>
            <a:spLocks noGrp="1"/>
          </p:cNvSpPr>
          <p:nvPr>
            <p:ph type="title" sz="quarter"/>
          </p:nvPr>
        </p:nvSpPr>
        <p:spPr>
          <a:xfrm>
            <a:off x="628650" y="365125"/>
            <a:ext cx="78867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quarter" idx="1" hasCustomPrompt="1"/>
          </p:nvPr>
        </p:nvSpPr>
        <p:spPr>
          <a:xfrm>
            <a:off x="628650" y="1825625"/>
            <a:ext cx="3867150" cy="2098675"/>
          </a:xfrm>
          <a:prstGeom prst="rect">
            <a:avLst/>
          </a:prstGeom>
        </p:spPr>
        <p:txBody>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quarter" idx="2" hasCustomPrompt="1"/>
          </p:nvPr>
        </p:nvSpPr>
        <p:spPr>
          <a:xfrm>
            <a:off x="4648200" y="1825625"/>
            <a:ext cx="3867150" cy="2098675"/>
          </a:xfrm>
          <a:prstGeom prst="rect">
            <a:avLst/>
          </a:prstGeom>
        </p:spPr>
        <p:txBody>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内容占位符 4"/>
          <p:cNvSpPr>
            <a:spLocks noGrp="1"/>
          </p:cNvSpPr>
          <p:nvPr>
            <p:ph sz="quarter" idx="3" hasCustomPrompt="1"/>
          </p:nvPr>
        </p:nvSpPr>
        <p:spPr>
          <a:xfrm>
            <a:off x="628650" y="4076700"/>
            <a:ext cx="3867150" cy="2100263"/>
          </a:xfrm>
          <a:prstGeom prst="rect">
            <a:avLst/>
          </a:prstGeom>
        </p:spPr>
        <p:txBody>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内容占位符 5"/>
          <p:cNvSpPr>
            <a:spLocks noGrp="1"/>
          </p:cNvSpPr>
          <p:nvPr>
            <p:ph sz="quarter" idx="4" hasCustomPrompt="1"/>
          </p:nvPr>
        </p:nvSpPr>
        <p:spPr>
          <a:xfrm>
            <a:off x="4648200" y="4076700"/>
            <a:ext cx="3867150" cy="2100263"/>
          </a:xfrm>
          <a:prstGeom prst="rect">
            <a:avLst/>
          </a:prstGeom>
        </p:spPr>
        <p:txBody>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spd="med">
    <p:strips/>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a:prstGeom prst="rect">
            <a:avLst/>
          </a:prstGeom>
        </p:spPr>
        <p:txBody>
          <a:bodyPr anchor="b"/>
          <a:lstStyle>
            <a:lvl1pPr algn="ctr">
              <a:defRPr sz="45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143000" y="3602038"/>
            <a:ext cx="6858000" cy="1655762"/>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zh-CN" altLang="en-US"/>
          </a:p>
        </p:txBody>
      </p:sp>
    </p:spTree>
  </p:cSld>
  <p:clrMapOvr>
    <a:masterClrMapping/>
  </p:clrMapOvr>
  <p:transition spd="med">
    <p:strips/>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955"/>
            <a:ext cx="8229600" cy="114300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a:xfrm>
            <a:off x="457200" y="1600200"/>
            <a:ext cx="8229600" cy="4526280"/>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a:prstGeom prst="rect">
            <a:avLst/>
          </a:prstGeom>
        </p:spPr>
        <p:txBody>
          <a:bodyPr anchor="b"/>
          <a:lstStyle>
            <a:lvl1pPr>
              <a:defRPr sz="45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23888" y="4589463"/>
            <a:ext cx="7886700" cy="1500187"/>
          </a:xfrm>
          <a:prstGeom prst="rect">
            <a:avLst/>
          </a:prstGeo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955"/>
            <a:ext cx="8229600" cy="114300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628650" y="1825625"/>
            <a:ext cx="3886200" cy="435133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629150" y="1825625"/>
            <a:ext cx="3886200" cy="435133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29841" y="365125"/>
            <a:ext cx="7886700" cy="1325563"/>
          </a:xfrm>
          <a:prstGeom prst="rect">
            <a:avLst/>
          </a:prstGeo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90081" y="1778438"/>
            <a:ext cx="3655181" cy="823912"/>
          </a:xfrm>
          <a:prstGeom prst="rect">
            <a:avLst/>
          </a:prstGeom>
        </p:spPr>
        <p:txBody>
          <a:bodyPr anchor="ctr" anchorCtr="0"/>
          <a:lstStyle>
            <a:lvl1pPr marL="0" indent="0">
              <a:buNone/>
              <a:defRPr sz="2100"/>
            </a:lvl1pPr>
            <a:lvl2pPr marL="342900" indent="0">
              <a:buNone/>
              <a:defRPr sz="1800"/>
            </a:lvl2pPr>
            <a:lvl3pPr marL="685800" indent="0">
              <a:buNone/>
              <a:defRPr sz="1500"/>
            </a:lvl3pPr>
            <a:lvl4pPr marL="1028700" indent="0">
              <a:buNone/>
              <a:defRPr sz="1350"/>
            </a:lvl4pPr>
            <a:lvl5pPr marL="1371600" indent="0">
              <a:buNone/>
              <a:defRPr sz="1350"/>
            </a:lvl5pPr>
            <a:lvl6pPr marL="1714500" indent="0">
              <a:buNone/>
              <a:defRPr sz="1350"/>
            </a:lvl6pPr>
            <a:lvl7pPr marL="2057400" indent="0">
              <a:buNone/>
              <a:defRPr sz="1350"/>
            </a:lvl7pPr>
            <a:lvl8pPr marL="2400300" indent="0">
              <a:buNone/>
              <a:defRPr sz="1350"/>
            </a:lvl8pPr>
            <a:lvl9pPr marL="2743200" indent="0">
              <a:buNone/>
              <a:defRPr sz="1350"/>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890081" y="2665379"/>
            <a:ext cx="3655181" cy="3524284"/>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92704" y="1778438"/>
            <a:ext cx="3673182" cy="823912"/>
          </a:xfrm>
          <a:prstGeom prst="rect">
            <a:avLst/>
          </a:prstGeom>
        </p:spPr>
        <p:txBody>
          <a:bodyPr anchor="ctr" anchorCtr="0"/>
          <a:lstStyle>
            <a:lvl1pPr marL="0" indent="0">
              <a:buNone/>
              <a:defRPr sz="2100"/>
            </a:lvl1pPr>
            <a:lvl2pPr marL="342900" indent="0">
              <a:buNone/>
              <a:defRPr sz="1800"/>
            </a:lvl2pPr>
            <a:lvl3pPr marL="685800" indent="0">
              <a:buNone/>
              <a:defRPr sz="1500"/>
            </a:lvl3pPr>
            <a:lvl4pPr marL="1028700" indent="0">
              <a:buNone/>
              <a:defRPr sz="1350"/>
            </a:lvl4pPr>
            <a:lvl5pPr marL="1371600" indent="0">
              <a:buNone/>
              <a:defRPr sz="1350"/>
            </a:lvl5pPr>
            <a:lvl6pPr marL="1714500" indent="0">
              <a:buNone/>
              <a:defRPr sz="1350"/>
            </a:lvl6pPr>
            <a:lvl7pPr marL="2057400" indent="0">
              <a:buNone/>
              <a:defRPr sz="1350"/>
            </a:lvl7pPr>
            <a:lvl8pPr marL="2400300" indent="0">
              <a:buNone/>
              <a:defRPr sz="1350"/>
            </a:lvl8pPr>
            <a:lvl9pPr marL="2743200" indent="0">
              <a:buNone/>
              <a:defRPr sz="1350"/>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92704" y="2665379"/>
            <a:ext cx="3673182" cy="3524284"/>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955"/>
            <a:ext cx="8229600" cy="1143000"/>
          </a:xfrm>
          <a:prstGeom prst="rect">
            <a:avLst/>
          </a:prstGeom>
        </p:spPr>
        <p:txBody>
          <a:bodyPr/>
          <a:lstStyle/>
          <a:p>
            <a:r>
              <a:rPr lang="zh-CN" altLang="en-US" smtClean="0"/>
              <a:t>单击此处编辑母版标题样式</a:t>
            </a:r>
            <a:endParaRPr lang="zh-CN" altLang="en-US"/>
          </a:p>
        </p:txBody>
      </p:sp>
    </p:spTree>
  </p:cSld>
  <p:clrMapOvr>
    <a:masterClrMapping/>
  </p:clrMapOvr>
  <p:transition spd="med">
    <p:strips/>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spd="med">
    <p:strips/>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29841" y="457200"/>
            <a:ext cx="2949178" cy="1600200"/>
          </a:xfrm>
          <a:prstGeom prst="rect">
            <a:avLst/>
          </a:prstGeom>
        </p:spPr>
        <p:txBody>
          <a:bodyPr anchor="b"/>
          <a:lstStyle>
            <a:lvl1pPr>
              <a:defRPr sz="24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887391" y="987425"/>
            <a:ext cx="4629150" cy="4873625"/>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629841" y="2057400"/>
            <a:ext cx="2949178" cy="3811588"/>
          </a:xfrm>
          <a:prstGeom prst="rect">
            <a:avLst/>
          </a:prstGeo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29841" y="457200"/>
            <a:ext cx="3124012" cy="1600200"/>
          </a:xfrm>
          <a:prstGeom prst="rect">
            <a:avLst/>
          </a:prstGeom>
        </p:spPr>
        <p:txBody>
          <a:bodyPr anchor="b"/>
          <a:lstStyle>
            <a:lvl1pPr>
              <a:defRPr sz="24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3887391" y="457201"/>
            <a:ext cx="4629150" cy="540385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zh-CN" altLang="en-US"/>
          </a:p>
        </p:txBody>
      </p:sp>
      <p:sp>
        <p:nvSpPr>
          <p:cNvPr id="4" name="文本占位符 3"/>
          <p:cNvSpPr>
            <a:spLocks noGrp="1"/>
          </p:cNvSpPr>
          <p:nvPr>
            <p:ph type="body" sz="half" idx="2"/>
          </p:nvPr>
        </p:nvSpPr>
        <p:spPr>
          <a:xfrm>
            <a:off x="629841" y="2057400"/>
            <a:ext cx="3124012" cy="3811588"/>
          </a:xfrm>
          <a:prstGeom prst="rect">
            <a:avLst/>
          </a:prstGeom>
        </p:spPr>
        <p:txBody>
          <a:bodyPr/>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zh-CN" altLang="en-US" smtClean="0"/>
              <a:t>单击此处编辑母版文本样式</a:t>
            </a:r>
            <a:endParaRPr lang="zh-CN" altLang="en-US" smtClean="0"/>
          </a:p>
        </p:txBody>
      </p:sp>
    </p:spTree>
  </p:cSld>
  <p:clrMapOvr>
    <a:masterClrMapping/>
  </p:clrMapOvr>
  <p:transition spd="med">
    <p:strips/>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955"/>
            <a:ext cx="8229600" cy="114300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600200"/>
            <a:ext cx="8229600" cy="4526280"/>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vertTitleAndTx" preserve="1">
  <p:cSld name="竖版">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43675" y="365125"/>
            <a:ext cx="1971675" cy="581183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628650" y="365125"/>
            <a:ext cx="5800725" cy="581183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spd="med">
    <p:strips/>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image" Target="../media/image1.png"/><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0.xml"/><Relationship Id="rId8" Type="http://schemas.openxmlformats.org/officeDocument/2006/relationships/slideLayout" Target="../slideLayouts/slideLayout19.xml"/><Relationship Id="rId7" Type="http://schemas.openxmlformats.org/officeDocument/2006/relationships/slideLayout" Target="../slideLayouts/slideLayout18.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3" Type="http://schemas.openxmlformats.org/officeDocument/2006/relationships/slideLayout" Target="../slideLayouts/slideLayout14.xml"/><Relationship Id="rId2" Type="http://schemas.openxmlformats.org/officeDocument/2006/relationships/slideLayout" Target="../slideLayouts/slideLayout13.xml"/><Relationship Id="rId12" Type="http://schemas.openxmlformats.org/officeDocument/2006/relationships/theme" Target="../theme/theme2.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31.xml"/><Relationship Id="rId8" Type="http://schemas.openxmlformats.org/officeDocument/2006/relationships/slideLayout" Target="../slideLayouts/slideLayout30.xml"/><Relationship Id="rId7" Type="http://schemas.openxmlformats.org/officeDocument/2006/relationships/slideLayout" Target="../slideLayouts/slideLayout29.xml"/><Relationship Id="rId6" Type="http://schemas.openxmlformats.org/officeDocument/2006/relationships/slideLayout" Target="../slideLayouts/slideLayout28.xml"/><Relationship Id="rId5" Type="http://schemas.openxmlformats.org/officeDocument/2006/relationships/slideLayout" Target="../slideLayouts/slideLayout27.xml"/><Relationship Id="rId4" Type="http://schemas.openxmlformats.org/officeDocument/2006/relationships/slideLayout" Target="../slideLayouts/slideLayout26.xml"/><Relationship Id="rId3" Type="http://schemas.openxmlformats.org/officeDocument/2006/relationships/slideLayout" Target="../slideLayouts/slideLayout25.xml"/><Relationship Id="rId2" Type="http://schemas.openxmlformats.org/officeDocument/2006/relationships/slideLayout" Target="../slideLayouts/slideLayout24.xml"/><Relationship Id="rId15" Type="http://schemas.openxmlformats.org/officeDocument/2006/relationships/theme" Target="../theme/theme3.xml"/><Relationship Id="rId14" Type="http://schemas.openxmlformats.org/officeDocument/2006/relationships/image" Target="../media/image1.png"/><Relationship Id="rId13" Type="http://schemas.openxmlformats.org/officeDocument/2006/relationships/slideLayout" Target="../slideLayouts/slideLayout35.xml"/><Relationship Id="rId12" Type="http://schemas.openxmlformats.org/officeDocument/2006/relationships/slideLayout" Target="../slideLayouts/slideLayout34.xml"/><Relationship Id="rId11" Type="http://schemas.openxmlformats.org/officeDocument/2006/relationships/slideLayout" Target="../slideLayouts/slideLayout33.xml"/><Relationship Id="rId10" Type="http://schemas.openxmlformats.org/officeDocument/2006/relationships/slideLayout" Target="../slideLayouts/slideLayout32.xml"/><Relationship Id="rId1" Type="http://schemas.openxmlformats.org/officeDocument/2006/relationships/slideLayout" Target="../slideLayouts/slideLayout2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44.xml"/><Relationship Id="rId8" Type="http://schemas.openxmlformats.org/officeDocument/2006/relationships/slideLayout" Target="../slideLayouts/slideLayout43.xml"/><Relationship Id="rId7" Type="http://schemas.openxmlformats.org/officeDocument/2006/relationships/slideLayout" Target="../slideLayouts/slideLayout42.xml"/><Relationship Id="rId6" Type="http://schemas.openxmlformats.org/officeDocument/2006/relationships/slideLayout" Target="../slideLayouts/slideLayout41.xml"/><Relationship Id="rId5" Type="http://schemas.openxmlformats.org/officeDocument/2006/relationships/slideLayout" Target="../slideLayouts/slideLayout40.xml"/><Relationship Id="rId4" Type="http://schemas.openxmlformats.org/officeDocument/2006/relationships/slideLayout" Target="../slideLayouts/slideLayout39.xml"/><Relationship Id="rId3" Type="http://schemas.openxmlformats.org/officeDocument/2006/relationships/slideLayout" Target="../slideLayouts/slideLayout38.xml"/><Relationship Id="rId2" Type="http://schemas.openxmlformats.org/officeDocument/2006/relationships/slideLayout" Target="../slideLayouts/slideLayout37.xml"/><Relationship Id="rId15" Type="http://schemas.openxmlformats.org/officeDocument/2006/relationships/theme" Target="../theme/theme4.xml"/><Relationship Id="rId14" Type="http://schemas.openxmlformats.org/officeDocument/2006/relationships/image" Target="../media/image1.png"/><Relationship Id="rId13" Type="http://schemas.openxmlformats.org/officeDocument/2006/relationships/slideLayout" Target="../slideLayouts/slideLayout48.xml"/><Relationship Id="rId12" Type="http://schemas.openxmlformats.org/officeDocument/2006/relationships/slideLayout" Target="../slideLayouts/slideLayout47.xml"/><Relationship Id="rId11" Type="http://schemas.openxmlformats.org/officeDocument/2006/relationships/slideLayout" Target="../slideLayouts/slideLayout46.xml"/><Relationship Id="rId10" Type="http://schemas.openxmlformats.org/officeDocument/2006/relationships/slideLayout" Target="../slideLayouts/slideLayout45.xml"/><Relationship Id="rId1" Type="http://schemas.openxmlformats.org/officeDocument/2006/relationships/slideLayout" Target="../slideLayouts/slideLayout36.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57.xml"/><Relationship Id="rId8" Type="http://schemas.openxmlformats.org/officeDocument/2006/relationships/slideLayout" Target="../slideLayouts/slideLayout56.xml"/><Relationship Id="rId7" Type="http://schemas.openxmlformats.org/officeDocument/2006/relationships/slideLayout" Target="../slideLayouts/slideLayout55.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 Id="rId3" Type="http://schemas.openxmlformats.org/officeDocument/2006/relationships/slideLayout" Target="../slideLayouts/slideLayout51.xml"/><Relationship Id="rId2" Type="http://schemas.openxmlformats.org/officeDocument/2006/relationships/slideLayout" Target="../slideLayouts/slideLayout50.xml"/><Relationship Id="rId13" Type="http://schemas.openxmlformats.org/officeDocument/2006/relationships/theme" Target="../theme/theme5.xml"/><Relationship Id="rId12" Type="http://schemas.openxmlformats.org/officeDocument/2006/relationships/image" Target="../media/image2.png"/><Relationship Id="rId11" Type="http://schemas.openxmlformats.org/officeDocument/2006/relationships/slideLayout" Target="../slideLayouts/slideLayout59.xml"/><Relationship Id="rId10" Type="http://schemas.openxmlformats.org/officeDocument/2006/relationships/slideLayout" Target="../slideLayouts/slideLayout58.xml"/><Relationship Id="rId1" Type="http://schemas.openxmlformats.org/officeDocument/2006/relationships/slideLayout" Target="../slideLayouts/slideLayout4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1026" name="Rectangle 26"/>
          <p:cNvSpPr>
            <a:spLocks noChangeArrowheads="1"/>
          </p:cNvSpPr>
          <p:nvPr/>
        </p:nvSpPr>
        <p:spPr bwMode="auto">
          <a:xfrm>
            <a:off x="0" y="6269038"/>
            <a:ext cx="9144000" cy="585788"/>
          </a:xfrm>
          <a:prstGeom prst="rect">
            <a:avLst/>
          </a:prstGeom>
          <a:solidFill>
            <a:srgbClr val="3366CC"/>
          </a:solidFill>
          <a:ln>
            <a:noFill/>
          </a:ln>
        </p:spPr>
        <p:txBody>
          <a:bodyPr anchor="ctr">
            <a:spAutoFit/>
          </a:bodyPr>
          <a:lstStyle>
            <a:lvl1pPr eaLnBrk="0" hangingPunct="0">
              <a:defRPr kumimoji="1" sz="3600">
                <a:solidFill>
                  <a:srgbClr val="333399"/>
                </a:solidFill>
                <a:latin typeface="Times New Roman" panose="02020603050405020304" pitchFamily="18" charset="0"/>
                <a:ea typeface="楷体_GB2312" pitchFamily="49" charset="-122"/>
              </a:defRPr>
            </a:lvl1pPr>
            <a:lvl2pPr marL="742950" indent="-285750" eaLnBrk="0" hangingPunct="0">
              <a:defRPr kumimoji="1" sz="3600">
                <a:solidFill>
                  <a:srgbClr val="333399"/>
                </a:solidFill>
                <a:latin typeface="Times New Roman" panose="02020603050405020304" pitchFamily="18" charset="0"/>
                <a:ea typeface="楷体_GB2312" pitchFamily="49" charset="-122"/>
              </a:defRPr>
            </a:lvl2pPr>
            <a:lvl3pPr marL="1143000" indent="-228600" eaLnBrk="0" hangingPunct="0">
              <a:defRPr kumimoji="1" sz="3600">
                <a:solidFill>
                  <a:srgbClr val="333399"/>
                </a:solidFill>
                <a:latin typeface="Times New Roman" panose="02020603050405020304" pitchFamily="18" charset="0"/>
                <a:ea typeface="楷体_GB2312" pitchFamily="49" charset="-122"/>
              </a:defRPr>
            </a:lvl3pPr>
            <a:lvl4pPr marL="1600200" indent="-228600" eaLnBrk="0" hangingPunct="0">
              <a:defRPr kumimoji="1" sz="3600">
                <a:solidFill>
                  <a:srgbClr val="333399"/>
                </a:solidFill>
                <a:latin typeface="Times New Roman" panose="02020603050405020304" pitchFamily="18" charset="0"/>
                <a:ea typeface="楷体_GB2312" pitchFamily="49" charset="-122"/>
              </a:defRPr>
            </a:lvl4pPr>
            <a:lvl5pPr marL="2057400" indent="-228600" eaLnBrk="0" hangingPunct="0">
              <a:defRPr kumimoji="1" sz="3600">
                <a:solidFill>
                  <a:srgbClr val="333399"/>
                </a:solidFill>
                <a:latin typeface="Times New Roman" panose="02020603050405020304" pitchFamily="18" charset="0"/>
                <a:ea typeface="楷体_GB2312" pitchFamily="49" charset="-122"/>
              </a:defRPr>
            </a:lvl5pPr>
            <a:lvl6pPr marL="2514600" indent="-228600" algn="ctr" eaLnBrk="0" fontAlgn="base" hangingPunct="0">
              <a:lnSpc>
                <a:spcPct val="90000"/>
              </a:lnSpc>
              <a:spcBef>
                <a:spcPct val="0"/>
              </a:spcBef>
              <a:spcAft>
                <a:spcPct val="0"/>
              </a:spcAft>
              <a:defRPr kumimoji="1" sz="3600">
                <a:solidFill>
                  <a:srgbClr val="333399"/>
                </a:solidFill>
                <a:latin typeface="Times New Roman" panose="02020603050405020304" pitchFamily="18" charset="0"/>
                <a:ea typeface="楷体_GB2312" pitchFamily="49" charset="-122"/>
              </a:defRPr>
            </a:lvl6pPr>
            <a:lvl7pPr marL="2971800" indent="-228600" algn="ctr" eaLnBrk="0" fontAlgn="base" hangingPunct="0">
              <a:lnSpc>
                <a:spcPct val="90000"/>
              </a:lnSpc>
              <a:spcBef>
                <a:spcPct val="0"/>
              </a:spcBef>
              <a:spcAft>
                <a:spcPct val="0"/>
              </a:spcAft>
              <a:defRPr kumimoji="1" sz="3600">
                <a:solidFill>
                  <a:srgbClr val="333399"/>
                </a:solidFill>
                <a:latin typeface="Times New Roman" panose="02020603050405020304" pitchFamily="18" charset="0"/>
                <a:ea typeface="楷体_GB2312" pitchFamily="49" charset="-122"/>
              </a:defRPr>
            </a:lvl7pPr>
            <a:lvl8pPr marL="3429000" indent="-228600" algn="ctr" eaLnBrk="0" fontAlgn="base" hangingPunct="0">
              <a:lnSpc>
                <a:spcPct val="90000"/>
              </a:lnSpc>
              <a:spcBef>
                <a:spcPct val="0"/>
              </a:spcBef>
              <a:spcAft>
                <a:spcPct val="0"/>
              </a:spcAft>
              <a:defRPr kumimoji="1" sz="3600">
                <a:solidFill>
                  <a:srgbClr val="333399"/>
                </a:solidFill>
                <a:latin typeface="Times New Roman" panose="02020603050405020304" pitchFamily="18" charset="0"/>
                <a:ea typeface="楷体_GB2312" pitchFamily="49" charset="-122"/>
              </a:defRPr>
            </a:lvl8pPr>
            <a:lvl9pPr marL="3886200" indent="-228600" algn="ctr" eaLnBrk="0" fontAlgn="base" hangingPunct="0">
              <a:lnSpc>
                <a:spcPct val="90000"/>
              </a:lnSpc>
              <a:spcBef>
                <a:spcPct val="0"/>
              </a:spcBef>
              <a:spcAft>
                <a:spcPct val="0"/>
              </a:spcAft>
              <a:defRPr kumimoji="1" sz="3600">
                <a:solidFill>
                  <a:srgbClr val="333399"/>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90000"/>
              </a:lnSpc>
              <a:spcBef>
                <a:spcPct val="0"/>
              </a:spcBef>
              <a:spcAft>
                <a:spcPct val="0"/>
              </a:spcAft>
              <a:buClrTx/>
              <a:buSzTx/>
              <a:buFontTx/>
              <a:buNone/>
              <a:defRPr/>
            </a:pPr>
            <a:endParaRPr kumimoji="1" lang="zh-CN" altLang="en-US" sz="3600" b="0" i="0" u="none" strike="noStrike" kern="1200" cap="none" spc="0" normalizeH="0" baseline="0" noProof="0">
              <a:ln>
                <a:noFill/>
              </a:ln>
              <a:solidFill>
                <a:srgbClr val="333399"/>
              </a:solidFill>
              <a:effectLst/>
              <a:uLnTx/>
              <a:uFillTx/>
              <a:latin typeface="Times New Roman" panose="02020603050405020304" pitchFamily="18" charset="0"/>
              <a:ea typeface="楷体_GB2312" pitchFamily="49" charset="-122"/>
              <a:cs typeface="+mn-cs"/>
            </a:endParaRPr>
          </a:p>
        </p:txBody>
      </p:sp>
      <p:sp>
        <p:nvSpPr>
          <p:cNvPr id="1048" name="Rectangle 24"/>
          <p:cNvSpPr>
            <a:spLocks noChangeArrowheads="1"/>
          </p:cNvSpPr>
          <p:nvPr/>
        </p:nvSpPr>
        <p:spPr bwMode="auto">
          <a:xfrm>
            <a:off x="0" y="6278563"/>
            <a:ext cx="4117975" cy="579438"/>
          </a:xfrm>
          <a:prstGeom prst="rect">
            <a:avLst/>
          </a:prstGeom>
          <a:noFill/>
          <a:ln>
            <a:noFill/>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rPr>
              <a:t>数据采集与处理技术</a:t>
            </a:r>
            <a:endPar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1051" name="Rectangle 27"/>
          <p:cNvSpPr>
            <a:spLocks noChangeArrowheads="1"/>
          </p:cNvSpPr>
          <p:nvPr/>
        </p:nvSpPr>
        <p:spPr bwMode="auto">
          <a:xfrm>
            <a:off x="4883150" y="6278563"/>
            <a:ext cx="4260850" cy="579438"/>
          </a:xfrm>
          <a:prstGeom prst="rect">
            <a:avLst/>
          </a:prstGeom>
          <a:noFill/>
          <a:ln>
            <a:noFill/>
          </a:ln>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zh-CN" altLang="zh-CN"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pic>
        <p:nvPicPr>
          <p:cNvPr id="1029" name="Picture 5"/>
          <p:cNvPicPr>
            <a:picLocks noChangeAspect="1"/>
          </p:cNvPicPr>
          <p:nvPr userDrawn="1"/>
        </p:nvPicPr>
        <p:blipFill>
          <a:blip r:embed="rId12"/>
          <a:stretch>
            <a:fillRect/>
          </a:stretch>
        </p:blipFill>
        <p:spPr>
          <a:xfrm>
            <a:off x="8243888" y="0"/>
            <a:ext cx="900112" cy="874713"/>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med">
    <p:strips/>
  </p:transition>
  <p:timing>
    <p:tnLst>
      <p:par>
        <p:cTn id="1" dur="indefinite" restart="never" nodeType="tmRoot"/>
      </p:par>
    </p:tnLst>
  </p:timing>
  <p:hf sldNum="0" hdr="0" ftr="0" dt="0"/>
  <p:txStyles>
    <p:titleStyle>
      <a:lvl1pPr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mj-lt"/>
          <a:ea typeface="+mj-ea"/>
          <a:cs typeface="+mj-cs"/>
        </a:defRPr>
      </a:lvl1pPr>
      <a:lvl2pPr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2pPr>
      <a:lvl3pPr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3pPr>
      <a:lvl4pPr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4pPr>
      <a:lvl5pPr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5pPr>
      <a:lvl6pPr marL="457200"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6pPr>
      <a:lvl7pPr marL="914400"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7pPr>
      <a:lvl8pPr marL="1371600"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8pPr>
      <a:lvl9pPr marL="1828800" algn="ctr" defTabSz="678180" rtl="0" eaLnBrk="0" fontAlgn="base" hangingPunct="0">
        <a:lnSpc>
          <a:spcPct val="90000"/>
        </a:lnSpc>
        <a:spcBef>
          <a:spcPct val="0"/>
        </a:spcBef>
        <a:spcAft>
          <a:spcPct val="0"/>
        </a:spcAft>
        <a:defRPr kumimoji="1"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9pPr>
    </p:titleStyle>
    <p:bodyStyle>
      <a:lvl1pPr marL="254000" indent="-2540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cs typeface="+mn-cs"/>
        </a:defRPr>
      </a:lvl1pPr>
      <a:lvl2pPr marL="609600" indent="-2032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2pPr>
      <a:lvl3pPr marL="1017905" indent="-2032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3pPr>
      <a:lvl4pPr marL="16002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4pPr>
      <a:lvl5pPr marL="20574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5pPr>
      <a:lvl6pPr marL="25146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6pPr>
      <a:lvl7pPr marL="29718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7pPr>
      <a:lvl8pPr marL="34290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8pPr>
      <a:lvl9pPr marL="3886200" indent="-228600" algn="l" defTabSz="678180" rtl="0" eaLnBrk="0" fontAlgn="base" hangingPunct="0">
        <a:spcBef>
          <a:spcPct val="50000"/>
        </a:spcBef>
        <a:spcAft>
          <a:spcPct val="0"/>
        </a:spcAft>
        <a:buSzPct val="75000"/>
        <a:buFont typeface="Wingdings" panose="05000000000000000000" pitchFamily="2" charset="2"/>
        <a:buChar char="l"/>
        <a:defRPr kumimoji="1" sz="2000" b="1">
          <a:solidFill>
            <a:srgbClr val="000066"/>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spd="med">
    <p:strips/>
  </p:transition>
  <p:hf sldNum="0" hdr="0" ftr="0" dt="0"/>
  <p:txStyles>
    <p:titleStyle>
      <a:lvl1pPr algn="ctr" defTabSz="678180" rtl="0" eaLnBrk="0" fontAlgn="base" hangingPunct="0">
        <a:lnSpc>
          <a:spcPct val="90000"/>
        </a:lnSpc>
        <a:spcBef>
          <a:spcPct val="0"/>
        </a:spcBef>
        <a:spcAft>
          <a:spcPct val="0"/>
        </a:spcAft>
        <a:defRPr sz="3200" b="1">
          <a:solidFill>
            <a:schemeClr val="bg1"/>
          </a:solidFill>
          <a:latin typeface="+mj-lt"/>
          <a:ea typeface="+mj-ea"/>
          <a:cs typeface="+mj-cs"/>
        </a:defRPr>
      </a:lvl1pPr>
      <a:lvl2pPr algn="ctr" defTabSz="678180" rtl="0" eaLnBrk="0" fontAlgn="base" hangingPunct="0">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2pPr>
      <a:lvl3pPr algn="ctr" defTabSz="678180" rtl="0" eaLnBrk="0" fontAlgn="base" hangingPunct="0">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3pPr>
      <a:lvl4pPr algn="ctr" defTabSz="678180" rtl="0" eaLnBrk="0" fontAlgn="base" hangingPunct="0">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4pPr>
      <a:lvl5pPr algn="ctr" defTabSz="678180" rtl="0" eaLnBrk="0" fontAlgn="base" hangingPunct="0">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5pPr>
      <a:lvl6pPr marL="457200" algn="ctr" defTabSz="678180" rtl="0" fontAlgn="base">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6pPr>
      <a:lvl7pPr marL="914400" algn="ctr" defTabSz="678180" rtl="0" fontAlgn="base">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7pPr>
      <a:lvl8pPr marL="1371600" algn="ctr" defTabSz="678180" rtl="0" fontAlgn="base">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8pPr>
      <a:lvl9pPr marL="1828800" algn="ctr" defTabSz="678180" rtl="0" fontAlgn="base">
        <a:lnSpc>
          <a:spcPct val="90000"/>
        </a:lnSpc>
        <a:spcBef>
          <a:spcPct val="0"/>
        </a:spcBef>
        <a:spcAft>
          <a:spcPct val="0"/>
        </a:spcAft>
        <a:defRPr sz="3200" b="1">
          <a:solidFill>
            <a:schemeClr val="bg1"/>
          </a:solidFill>
          <a:latin typeface="Arial" panose="020B0604020202020204" pitchFamily="34" charset="0"/>
          <a:ea typeface="宋体" panose="02010600030101010101" pitchFamily="2" charset="-122"/>
        </a:defRPr>
      </a:lvl9pPr>
    </p:titleStyle>
    <p:bodyStyle>
      <a:lvl1pPr marL="254000" indent="-2540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cs typeface="+mn-cs"/>
        </a:defRPr>
      </a:lvl1pPr>
      <a:lvl2pPr marL="609600"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2pPr>
      <a:lvl3pPr marL="1017905"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3pPr>
      <a:lvl4pPr marL="16002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4pPr>
      <a:lvl5pPr marL="20574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5pPr>
      <a:lvl6pPr marL="25146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6pPr>
      <a:lvl7pPr marL="29718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7pPr>
      <a:lvl8pPr marL="34290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8pPr>
      <a:lvl9pPr marL="38862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p:pic>
        <p:nvPicPr>
          <p:cNvPr id="1033" name="图片 1032"/>
          <p:cNvPicPr>
            <a:picLocks noChangeAspect="1"/>
          </p:cNvPicPr>
          <p:nvPr userDrawn="1"/>
        </p:nvPicPr>
        <p:blipFill>
          <a:blip r:embed="rId14"/>
          <a:stretch>
            <a:fillRect/>
          </a:stretch>
        </p:blipFill>
        <p:spPr>
          <a:xfrm>
            <a:off x="8243888" y="0"/>
            <a:ext cx="900112" cy="874713"/>
          </a:xfrm>
          <a:prstGeom prst="rect">
            <a:avLst/>
          </a:prstGeom>
          <a:noFill/>
          <a:ln w="9525">
            <a:noFill/>
          </a:ln>
        </p:spPr>
      </p:pic>
      <p:sp>
        <p:nvSpPr>
          <p:cNvPr id="1034" name="Rectangle 26"/>
          <p:cNvSpPr/>
          <p:nvPr userDrawn="1"/>
        </p:nvSpPr>
        <p:spPr>
          <a:xfrm>
            <a:off x="0" y="6269038"/>
            <a:ext cx="9144000" cy="585787"/>
          </a:xfrm>
          <a:prstGeom prst="rect">
            <a:avLst/>
          </a:prstGeom>
          <a:solidFill>
            <a:srgbClr val="3366CC"/>
          </a:solidFill>
          <a:ln w="9525">
            <a:noFill/>
          </a:ln>
        </p:spPr>
        <p:txBody>
          <a:bodyPr anchor="ctr" anchorCtr="0">
            <a:spAutoFit/>
          </a:bodyPr>
          <a:p>
            <a:pPr lvl="0" algn="ctr" eaLnBrk="1" hangingPunct="1">
              <a:lnSpc>
                <a:spcPct val="90000"/>
              </a:lnSpc>
            </a:pPr>
            <a:endParaRPr lang="zh-CN" altLang="en-US" b="0" dirty="0">
              <a:solidFill>
                <a:srgbClr val="333399"/>
              </a:solidFill>
              <a:latin typeface="Times New Roman" panose="02020603050405020304" pitchFamily="18" charset="0"/>
            </a:endParaRPr>
          </a:p>
        </p:txBody>
      </p:sp>
      <p:sp>
        <p:nvSpPr>
          <p:cNvPr id="1048" name="Rectangle 24"/>
          <p:cNvSpPr>
            <a:spLocks noChangeArrowheads="1"/>
          </p:cNvSpPr>
          <p:nvPr/>
        </p:nvSpPr>
        <p:spPr bwMode="auto">
          <a:xfrm>
            <a:off x="0" y="6278563"/>
            <a:ext cx="41179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rPr>
              <a:t>数据采集与处理技术</a:t>
            </a:r>
            <a:endParaRPr kumimoji="1" lang="zh-CN" altLang="en-US"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1051" name="Rectangle 27"/>
          <p:cNvSpPr>
            <a:spLocks noChangeArrowheads="1"/>
          </p:cNvSpPr>
          <p:nvPr/>
        </p:nvSpPr>
        <p:spPr bwMode="auto">
          <a:xfrm>
            <a:off x="4883150" y="6278563"/>
            <a:ext cx="42608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zh-CN" altLang="zh-CN"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Lst>
  <p:transition spd="med">
    <p:strips/>
  </p:transition>
  <p:hf sldNum="0" hdr="0" ftr="0" dt="0"/>
  <p:txStyles>
    <p:titleStyle>
      <a:lvl1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mj-lt"/>
          <a:ea typeface="+mj-ea"/>
          <a:cs typeface="+mj-cs"/>
        </a:defRPr>
      </a:lvl1pPr>
      <a:lvl2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2pPr>
      <a:lvl3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3pPr>
      <a:lvl4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4pPr>
      <a:lvl5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5pPr>
      <a:lvl6pPr marL="4572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6pPr>
      <a:lvl7pPr marL="9144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7pPr>
      <a:lvl8pPr marL="13716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8pPr>
      <a:lvl9pPr marL="18288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9pPr>
    </p:titleStyle>
    <p:bodyStyle>
      <a:lvl1pPr marL="254000" indent="-2540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cs typeface="+mn-cs"/>
        </a:defRPr>
      </a:lvl1pPr>
      <a:lvl2pPr marL="609600"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2pPr>
      <a:lvl3pPr marL="1017905"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3pPr>
      <a:lvl4pPr marL="16002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4pPr>
      <a:lvl5pPr marL="20574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5pPr>
      <a:lvl6pPr marL="25146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6pPr>
      <a:lvl7pPr marL="29718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7pPr>
      <a:lvl8pPr marL="34290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8pPr>
      <a:lvl9pPr marL="38862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p:sp>
        <p:nvSpPr>
          <p:cNvPr id="2382852" name="Rectangle 4"/>
          <p:cNvSpPr>
            <a:spLocks noChangeArrowheads="1"/>
          </p:cNvSpPr>
          <p:nvPr/>
        </p:nvSpPr>
        <p:spPr bwMode="auto">
          <a:xfrm>
            <a:off x="4883150" y="6278563"/>
            <a:ext cx="4260850" cy="579438"/>
          </a:xfrm>
          <a:prstGeom prst="rect">
            <a:avLst/>
          </a:prstGeom>
          <a:noFill/>
          <a:ln>
            <a:noFill/>
          </a:ln>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zh-CN" altLang="zh-CN"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1027" name="Rectangle 26"/>
          <p:cNvSpPr/>
          <p:nvPr userDrawn="1"/>
        </p:nvSpPr>
        <p:spPr>
          <a:xfrm>
            <a:off x="0" y="6269038"/>
            <a:ext cx="9144000" cy="585787"/>
          </a:xfrm>
          <a:prstGeom prst="rect">
            <a:avLst/>
          </a:prstGeom>
          <a:solidFill>
            <a:srgbClr val="3366CC"/>
          </a:solidFill>
          <a:ln w="9525">
            <a:noFill/>
          </a:ln>
        </p:spPr>
        <p:txBody>
          <a:bodyPr anchor="ctr" anchorCtr="0">
            <a:spAutoFit/>
          </a:bodyPr>
          <a:p>
            <a:pPr lvl="0" algn="ctr" eaLnBrk="1" hangingPunct="1">
              <a:lnSpc>
                <a:spcPct val="90000"/>
              </a:lnSpc>
              <a:buNone/>
            </a:pPr>
            <a:endParaRPr lang="zh-CN" altLang="en-US" sz="3600" b="0" dirty="0">
              <a:solidFill>
                <a:srgbClr val="333399"/>
              </a:solidFill>
              <a:latin typeface="Times New Roman" panose="02020603050405020304" pitchFamily="18" charset="0"/>
            </a:endParaRPr>
          </a:p>
        </p:txBody>
      </p:sp>
      <p:sp>
        <p:nvSpPr>
          <p:cNvPr id="1048" name="Rectangle 24"/>
          <p:cNvSpPr>
            <a:spLocks noChangeArrowheads="1"/>
          </p:cNvSpPr>
          <p:nvPr/>
        </p:nvSpPr>
        <p:spPr bwMode="auto">
          <a:xfrm>
            <a:off x="0" y="6278563"/>
            <a:ext cx="4117975" cy="579438"/>
          </a:xfrm>
          <a:prstGeom prst="rect">
            <a:avLst/>
          </a:prstGeom>
          <a:noFill/>
          <a:ln>
            <a:noFill/>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rPr>
              <a:t>数据采集与处理技术</a:t>
            </a:r>
            <a:endPar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1051" name="Rectangle 27"/>
          <p:cNvSpPr>
            <a:spLocks noChangeArrowheads="1"/>
          </p:cNvSpPr>
          <p:nvPr/>
        </p:nvSpPr>
        <p:spPr bwMode="auto">
          <a:xfrm>
            <a:off x="4883150" y="6278563"/>
            <a:ext cx="4260850" cy="579438"/>
          </a:xfrm>
          <a:prstGeom prst="rect">
            <a:avLst/>
          </a:prstGeom>
          <a:noFill/>
          <a:ln>
            <a:noFill/>
          </a:ln>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zh-CN" altLang="zh-CN" sz="3200" b="0" i="0" u="none" strike="noStrike" kern="1200" cap="none" spc="0" normalizeH="0" baseline="0" noProof="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2382853" name="Text Box 5"/>
          <p:cNvSpPr txBox="1">
            <a:spLocks noChangeArrowheads="1"/>
          </p:cNvSpPr>
          <p:nvPr/>
        </p:nvSpPr>
        <p:spPr bwMode="auto">
          <a:xfrm>
            <a:off x="5838825" y="6327775"/>
            <a:ext cx="3305175" cy="530225"/>
          </a:xfrm>
          <a:prstGeom prst="rect">
            <a:avLst/>
          </a:prstGeom>
          <a:noFill/>
          <a:ln>
            <a:noFill/>
          </a:ln>
          <a:effectLst/>
        </p:spPr>
        <p:txBody>
          <a:bodyPr>
            <a:spAutoFit/>
          </a:bodyPr>
          <a:lstStyle/>
          <a:p>
            <a:pPr marL="0" marR="0" lvl="0" indent="0" algn="ctr" defTabSz="914400" rtl="0" eaLnBrk="1" fontAlgn="base" latinLnBrk="0" hangingPunct="1">
              <a:lnSpc>
                <a:spcPct val="90000"/>
              </a:lnSpc>
              <a:spcBef>
                <a:spcPct val="50000"/>
              </a:spcBef>
              <a:spcAft>
                <a:spcPct val="0"/>
              </a:spcAft>
              <a:buClrTx/>
              <a:buSzTx/>
              <a:buFontTx/>
              <a:buNone/>
              <a:defRPr/>
            </a:pPr>
            <a:r>
              <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Times New Roman" panose="02020603050405020304" pitchFamily="18" charset="0"/>
                <a:ea typeface="华文新魏" panose="02010800040101010101" pitchFamily="2" charset="-122"/>
                <a:cs typeface="+mn-cs"/>
              </a:rPr>
              <a:t>测量放大器</a:t>
            </a:r>
            <a:endParaRPr kumimoji="1" lang="zh-CN" altLang="en-US" sz="3200" b="0" i="0" u="none" strike="noStrike" kern="1200" cap="none" spc="0" normalizeH="0" baseline="0" noProof="0">
              <a:ln>
                <a:noFill/>
              </a:ln>
              <a:solidFill>
                <a:schemeClr val="bg1"/>
              </a:solidFill>
              <a:effectLst>
                <a:outerShdw blurRad="38100" dist="38100" dir="2700000" algn="tl">
                  <a:srgbClr val="C0C0C0"/>
                </a:outerShdw>
              </a:effectLst>
              <a:uLnTx/>
              <a:uFillTx/>
              <a:latin typeface="Times New Roman" panose="02020603050405020304" pitchFamily="18" charset="0"/>
              <a:ea typeface="华文新魏" panose="02010800040101010101" pitchFamily="2" charset="-122"/>
              <a:cs typeface="+mn-cs"/>
            </a:endParaRPr>
          </a:p>
        </p:txBody>
      </p:sp>
      <p:pic>
        <p:nvPicPr>
          <p:cNvPr id="1031" name="Picture 10"/>
          <p:cNvPicPr>
            <a:picLocks noChangeAspect="1"/>
          </p:cNvPicPr>
          <p:nvPr userDrawn="1"/>
        </p:nvPicPr>
        <p:blipFill>
          <a:blip r:embed="rId14"/>
          <a:stretch>
            <a:fillRect/>
          </a:stretch>
        </p:blipFill>
        <p:spPr>
          <a:xfrm>
            <a:off x="8243888" y="0"/>
            <a:ext cx="900112" cy="874713"/>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Lst>
  <p:transition spd="med">
    <p:strips/>
  </p:transition>
  <p:timing>
    <p:tnLst>
      <p:par>
        <p:cTn id="1" dur="indefinite" restart="never" nodeType="tmRoot"/>
      </p:par>
    </p:tnLst>
  </p:timing>
  <p:hf sldNum="0" hdr="0" ftr="0" dt="0"/>
  <p:txStyles>
    <p:titleStyle>
      <a:lvl1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mj-lt"/>
          <a:ea typeface="+mj-ea"/>
          <a:cs typeface="+mj-cs"/>
        </a:defRPr>
      </a:lvl1pPr>
      <a:lvl2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2pPr>
      <a:lvl3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3pPr>
      <a:lvl4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4pPr>
      <a:lvl5pPr algn="ctr" defTabSz="678180" rtl="0" eaLnBrk="0" fontAlgn="base" hangingPunct="0">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5pPr>
      <a:lvl6pPr marL="4572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6pPr>
      <a:lvl7pPr marL="9144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7pPr>
      <a:lvl8pPr marL="13716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8pPr>
      <a:lvl9pPr marL="1828800" algn="ctr" defTabSz="678180" rtl="0" fontAlgn="base">
        <a:lnSpc>
          <a:spcPct val="90000"/>
        </a:lnSpc>
        <a:spcBef>
          <a:spcPct val="0"/>
        </a:spcBef>
        <a:spcAft>
          <a:spcPct val="0"/>
        </a:spcAft>
        <a:defRPr sz="3200" b="1">
          <a:solidFill>
            <a:schemeClr val="bg1"/>
          </a:solidFill>
          <a:effectLst>
            <a:outerShdw blurRad="38100" dist="38100" dir="2700000" algn="tl">
              <a:srgbClr val="C0C0C0"/>
            </a:outerShdw>
          </a:effectLst>
          <a:latin typeface="Arial" panose="020B0604020202020204" pitchFamily="34" charset="0"/>
          <a:ea typeface="宋体" panose="02010600030101010101" pitchFamily="2" charset="-122"/>
        </a:defRPr>
      </a:lvl9pPr>
    </p:titleStyle>
    <p:bodyStyle>
      <a:lvl1pPr marL="254000" indent="-2540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cs typeface="+mn-cs"/>
        </a:defRPr>
      </a:lvl1pPr>
      <a:lvl2pPr marL="609600"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2pPr>
      <a:lvl3pPr marL="1017905" indent="-2032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3pPr>
      <a:lvl4pPr marL="16002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4pPr>
      <a:lvl5pPr marL="2057400" indent="-228600" algn="l" defTabSz="678180" rtl="0" eaLnBrk="0" fontAlgn="base" hangingPunct="0">
        <a:spcBef>
          <a:spcPct val="50000"/>
        </a:spcBef>
        <a:spcAft>
          <a:spcPct val="0"/>
        </a:spcAft>
        <a:buSzPct val="75000"/>
        <a:buFont typeface="Wingdings" panose="05000000000000000000" pitchFamily="2" charset="2"/>
        <a:buChar char="l"/>
        <a:defRPr sz="2000" b="1">
          <a:solidFill>
            <a:srgbClr val="000066"/>
          </a:solidFill>
          <a:latin typeface="+mn-lt"/>
          <a:ea typeface="+mn-ea"/>
        </a:defRPr>
      </a:lvl5pPr>
      <a:lvl6pPr marL="25146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6pPr>
      <a:lvl7pPr marL="29718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7pPr>
      <a:lvl8pPr marL="34290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8pPr>
      <a:lvl9pPr marL="3886200" indent="-228600" algn="l" defTabSz="678180" rtl="0" fontAlgn="base">
        <a:spcBef>
          <a:spcPct val="50000"/>
        </a:spcBef>
        <a:spcAft>
          <a:spcPct val="0"/>
        </a:spcAft>
        <a:buSzPct val="75000"/>
        <a:buFont typeface="Wingdings" panose="05000000000000000000" pitchFamily="2" charset="2"/>
        <a:buChar char="l"/>
        <a:defRPr sz="2000" b="1">
          <a:solidFill>
            <a:srgbClr val="000066"/>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p:pic>
        <p:nvPicPr>
          <p:cNvPr id="2414600" name="图片 2414599"/>
          <p:cNvPicPr>
            <a:picLocks noChangeAspect="1"/>
          </p:cNvPicPr>
          <p:nvPr userDrawn="1"/>
        </p:nvPicPr>
        <p:blipFill>
          <a:blip r:embed="rId12"/>
          <a:stretch>
            <a:fillRect/>
          </a:stretch>
        </p:blipFill>
        <p:spPr>
          <a:xfrm>
            <a:off x="8208963" y="0"/>
            <a:ext cx="935037" cy="904875"/>
          </a:xfrm>
          <a:prstGeom prst="rect">
            <a:avLst/>
          </a:prstGeom>
          <a:noFill/>
          <a:ln w="9525">
            <a:noFill/>
          </a:ln>
        </p:spPr>
      </p:pic>
      <p:sp>
        <p:nvSpPr>
          <p:cNvPr id="2414601" name="Rectangle 26"/>
          <p:cNvSpPr/>
          <p:nvPr userDrawn="1"/>
        </p:nvSpPr>
        <p:spPr>
          <a:xfrm>
            <a:off x="0" y="6269038"/>
            <a:ext cx="9144000" cy="585787"/>
          </a:xfrm>
          <a:prstGeom prst="rect">
            <a:avLst/>
          </a:prstGeom>
          <a:solidFill>
            <a:srgbClr val="3366CC"/>
          </a:solidFill>
          <a:ln w="9525">
            <a:noFill/>
          </a:ln>
        </p:spPr>
        <p:txBody>
          <a:bodyPr anchor="ctr" anchorCtr="0">
            <a:spAutoFit/>
          </a:bodyPr>
          <a:p>
            <a:pPr lvl="0" algn="ctr" eaLnBrk="1" hangingPunct="1">
              <a:lnSpc>
                <a:spcPct val="90000"/>
              </a:lnSpc>
            </a:pPr>
            <a:endParaRPr sz="3600" b="0" dirty="0">
              <a:solidFill>
                <a:srgbClr val="333399"/>
              </a:solidFill>
              <a:latin typeface="Times New Roman" panose="02020603050405020304" pitchFamily="18" charset="0"/>
              <a:ea typeface="楷体_GB2312" pitchFamily="49" charset="-122"/>
            </a:endParaRPr>
          </a:p>
        </p:txBody>
      </p:sp>
      <p:sp>
        <p:nvSpPr>
          <p:cNvPr id="1048" name="Rectangle 24"/>
          <p:cNvSpPr>
            <a:spLocks noChangeArrowheads="1"/>
          </p:cNvSpPr>
          <p:nvPr/>
        </p:nvSpPr>
        <p:spPr bwMode="auto">
          <a:xfrm>
            <a:off x="0" y="6278563"/>
            <a:ext cx="41179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rPr>
              <a:t>数据采集与处理技术</a:t>
            </a:r>
            <a:endParaRPr kumimoji="1" lang="zh-CN" altLang="en-US"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1051" name="Rectangle 27"/>
          <p:cNvSpPr>
            <a:spLocks noChangeArrowheads="1"/>
          </p:cNvSpPr>
          <p:nvPr/>
        </p:nvSpPr>
        <p:spPr bwMode="auto">
          <a:xfrm>
            <a:off x="4883150" y="6278563"/>
            <a:ext cx="42608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zh-CN" altLang="zh-CN" sz="3200" b="0" i="0" u="none" strike="noStrike" kern="1200" cap="none" spc="0" normalizeH="0" baseline="0" noProof="0" smtClean="0">
              <a:ln>
                <a:noFill/>
              </a:ln>
              <a:solidFill>
                <a:schemeClr val="bg1"/>
              </a:solidFill>
              <a:effectLst>
                <a:outerShdw blurRad="38100" dist="38100" dir="2700000" algn="tl">
                  <a:srgbClr val="C0C0C0"/>
                </a:outerShdw>
              </a:effectLst>
              <a:uLnTx/>
              <a:uFillTx/>
              <a:latin typeface="华文新魏" panose="02010800040101010101" pitchFamily="2" charset="-122"/>
              <a:ea typeface="华文新魏" panose="02010800040101010101" pitchFamily="2" charset="-122"/>
              <a:cs typeface="+mn-cs"/>
            </a:endParaRPr>
          </a:p>
        </p:txBody>
      </p:sp>
      <p:sp>
        <p:nvSpPr>
          <p:cNvPr id="2382853" name="Text Box 5"/>
          <p:cNvSpPr txBox="1">
            <a:spLocks noChangeArrowheads="1"/>
          </p:cNvSpPr>
          <p:nvPr/>
        </p:nvSpPr>
        <p:spPr bwMode="auto">
          <a:xfrm>
            <a:off x="5651500" y="6327775"/>
            <a:ext cx="34925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lvl="0" algn="ctr" eaLnBrk="1" hangingPunct="1">
              <a:lnSpc>
                <a:spcPct val="90000"/>
              </a:lnSpc>
              <a:spcBef>
                <a:spcPct val="50000"/>
              </a:spcBef>
            </a:pPr>
            <a:r>
              <a:rPr lang="zh-CN" altLang="en-US" sz="3200" b="0" dirty="0">
                <a:solidFill>
                  <a:schemeClr val="bg1"/>
                </a:solidFill>
                <a:effectLst>
                  <a:outerShdw blurRad="38100" dist="38100" dir="2700000">
                    <a:srgbClr val="C0C0C0"/>
                  </a:outerShdw>
                </a:effectLst>
                <a:latin typeface="Times New Roman" panose="02020603050405020304" pitchFamily="18" charset="0"/>
                <a:ea typeface="华文新魏" panose="02010800040101010101" pitchFamily="2" charset="-122"/>
              </a:rPr>
              <a:t>采样数据的预处理</a:t>
            </a:r>
            <a:endParaRPr lang="zh-CN" altLang="en-US" sz="3200" b="0" dirty="0">
              <a:solidFill>
                <a:schemeClr val="bg1"/>
              </a:solidFill>
              <a:effectLst>
                <a:outerShdw blurRad="38100" dist="38100" dir="2700000">
                  <a:srgbClr val="C0C0C0"/>
                </a:outerShdw>
              </a:effectLst>
              <a:latin typeface="Times New Roman" panose="02020603050405020304" pitchFamily="18" charset="0"/>
              <a:ea typeface="华文新魏" panose="02010800040101010101" pitchFamily="2" charset="-122"/>
            </a:endParaRPr>
          </a:p>
        </p:txBody>
      </p:sp>
    </p:spTree>
  </p:cSld>
  <p:clrMap bg1="lt1" tx1="dk1" bg2="lt2" tx2="dk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Lst>
  <p:transition spd="med">
    <p:strips/>
  </p:transition>
  <p:hf sldNum="0" hdr="0"/>
  <p:txStyles>
    <p:titleStyle>
      <a:lvl1pPr marL="0" lvl="0" indent="0" algn="ctr" defTabSz="678180" rtl="0" eaLnBrk="1" fontAlgn="base" latinLnBrk="0" hangingPunct="1">
        <a:lnSpc>
          <a:spcPct val="90000"/>
        </a:lnSpc>
        <a:spcBef>
          <a:spcPct val="0"/>
        </a:spcBef>
        <a:spcAft>
          <a:spcPct val="0"/>
        </a:spcAft>
        <a:buNone/>
        <a:defRPr sz="3200" b="1" i="0" u="none" kern="1200" baseline="0">
          <a:solidFill>
            <a:schemeClr val="bg1"/>
          </a:solidFill>
          <a:latin typeface="+mj-lt"/>
          <a:ea typeface="+mj-ea"/>
          <a:cs typeface="+mj-cs"/>
        </a:defRPr>
      </a:lvl1pPr>
    </p:titleStyle>
    <p:bodyStyle>
      <a:lvl1pPr marL="254000" lvl="0" indent="-2540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1pPr>
      <a:lvl2pPr marL="609600" lvl="1" indent="-2032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2pPr>
      <a:lvl3pPr marL="1017905" lvl="2" indent="-2032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3pPr>
      <a:lvl4pPr marL="1600200" lvl="3"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4pPr>
      <a:lvl5pPr marL="2057400" lvl="4"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5pPr>
      <a:lvl6pPr marL="2514600" lvl="5"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6pPr>
      <a:lvl7pPr marL="2971800" lvl="6"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7pPr>
      <a:lvl8pPr marL="3429000" lvl="7"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8pPr>
      <a:lvl9pPr marL="3886200" lvl="8" indent="-228600" algn="l" defTabSz="678180" rtl="0" eaLnBrk="1" fontAlgn="base" latinLnBrk="0" hangingPunct="1">
        <a:lnSpc>
          <a:spcPct val="100000"/>
        </a:lnSpc>
        <a:spcBef>
          <a:spcPct val="50000"/>
        </a:spcBef>
        <a:spcAft>
          <a:spcPct val="0"/>
        </a:spcAft>
        <a:buSzPct val="75000"/>
        <a:buFont typeface="Wingdings" panose="05000000000000000000" pitchFamily="2" charset="2"/>
        <a:buChar char="l"/>
        <a:defRPr sz="2000" b="1" i="0" u="none" kern="1200" baseline="0">
          <a:solidFill>
            <a:srgbClr val="000066"/>
          </a:solidFill>
          <a:latin typeface="+mn-lt"/>
          <a:ea typeface="+mn-ea"/>
          <a:cs typeface="+mn-cs"/>
        </a:defRPr>
      </a:lvl9pPr>
    </p:bodyStyle>
    <p:otherStyle>
      <a:lvl1pPr marL="0" lvl="0" indent="0" algn="l" defTabSz="914400" rtl="0" eaLnBrk="1" fontAlgn="base" latinLnBrk="0" hangingPunct="1">
        <a:lnSpc>
          <a:spcPct val="100000"/>
        </a:lnSpc>
        <a:spcBef>
          <a:spcPct val="0"/>
        </a:spcBef>
        <a:spcAft>
          <a:spcPct val="0"/>
        </a:spcAft>
        <a:buNone/>
        <a:defRPr sz="2400" b="0" i="0" u="none" kern="1200" baseline="0">
          <a:solidFill>
            <a:schemeClr val="tx1"/>
          </a:solidFill>
          <a:latin typeface="+mn-lt"/>
          <a:ea typeface="+mn-ea"/>
          <a:cs typeface="+mn-cs"/>
        </a:defRPr>
      </a:lvl1pPr>
      <a:lvl2pPr marL="457200" lvl="1"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2pPr>
      <a:lvl3pPr marL="914400" lvl="2"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3pPr>
      <a:lvl4pPr marL="1371600" lvl="3"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4pPr>
      <a:lvl5pPr marL="1828800" lvl="4"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5pPr>
      <a:lvl6pPr marL="2286000" lvl="5"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6pPr>
      <a:lvl7pPr marL="2743200" lvl="6"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7pPr>
      <a:lvl8pPr marL="3200400" lvl="7"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8pPr>
      <a:lvl9pPr marL="3657600" lvl="8" indent="0" algn="l" defTabSz="914400" rtl="0" eaLnBrk="1" fontAlgn="base" latinLnBrk="0" hangingPunct="1">
        <a:lnSpc>
          <a:spcPct val="90000"/>
        </a:lnSpc>
        <a:spcBef>
          <a:spcPct val="0"/>
        </a:spcBef>
        <a:spcAft>
          <a:spcPct val="0"/>
        </a:spcAft>
        <a:buNone/>
        <a:defRPr sz="3600" b="1" i="0" u="none" kern="1200" baseline="0">
          <a:solidFill>
            <a:srgbClr val="333399"/>
          </a:solidFill>
          <a:latin typeface="Times New Roman" panose="02020603050405020304" pitchFamily="18" charset="0"/>
          <a:ea typeface="楷体_GB2312" pitchFamily="49" charset="-122"/>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4.png"/><Relationship Id="rId1" Type="http://schemas.openxmlformats.org/officeDocument/2006/relationships/image" Target="../media/image3.jpeg"/></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wmf"/></Relationships>
</file>

<file path=ppt/slides/_rels/slide3.xml.rels><?xml version="1.0" encoding="UTF-8" standalone="yes"?>
<Relationships xmlns="http://schemas.openxmlformats.org/package/2006/relationships"><Relationship Id="rId6" Type="http://schemas.openxmlformats.org/officeDocument/2006/relationships/vmlDrawing" Target="../drawings/vmlDrawing1.vml"/><Relationship Id="rId5" Type="http://schemas.openxmlformats.org/officeDocument/2006/relationships/slideLayout" Target="../slideLayouts/slideLayout7.xml"/><Relationship Id="rId4" Type="http://schemas.openxmlformats.org/officeDocument/2006/relationships/image" Target="../media/image7.jpeg"/><Relationship Id="rId3" Type="http://schemas.openxmlformats.org/officeDocument/2006/relationships/image" Target="../media/image6.emf"/><Relationship Id="rId2" Type="http://schemas.openxmlformats.org/officeDocument/2006/relationships/oleObject" Target="../embeddings/oleObject1.bin"/><Relationship Id="rId1" Type="http://schemas.openxmlformats.org/officeDocument/2006/relationships/image" Target="../media/image4.png"/></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png"/></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jpeg"/><Relationship Id="rId1" Type="http://schemas.openxmlformats.org/officeDocument/2006/relationships/image" Target="../media/image4.png"/></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7.xml"/><Relationship Id="rId2" Type="http://schemas.openxmlformats.org/officeDocument/2006/relationships/image" Target="../media/image10.wmf"/><Relationship Id="rId1" Type="http://schemas.openxmlformats.org/officeDocument/2006/relationships/oleObject" Target="../embeddings/oleObject2.bin"/></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jpeg"/><Relationship Id="rId1" Type="http://schemas.openxmlformats.org/officeDocument/2006/relationships/image" Target="../media/image11.jpe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jpe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4" Type="http://schemas.openxmlformats.org/officeDocument/2006/relationships/vmlDrawing" Target="../drawings/vmlDrawing3.vml"/><Relationship Id="rId3" Type="http://schemas.openxmlformats.org/officeDocument/2006/relationships/slideLayout" Target="../slideLayouts/slideLayout7.xml"/><Relationship Id="rId2" Type="http://schemas.openxmlformats.org/officeDocument/2006/relationships/image" Target="../media/image15.wmf"/><Relationship Id="rId1" Type="http://schemas.openxmlformats.org/officeDocument/2006/relationships/oleObject" Target="../embeddings/oleObject3.bin"/></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8" Type="http://schemas.openxmlformats.org/officeDocument/2006/relationships/vmlDrawing" Target="../drawings/vmlDrawing4.vml"/><Relationship Id="rId7" Type="http://schemas.openxmlformats.org/officeDocument/2006/relationships/slideLayout" Target="../slideLayouts/slideLayout7.xml"/><Relationship Id="rId6" Type="http://schemas.openxmlformats.org/officeDocument/2006/relationships/image" Target="../media/image19.wmf"/><Relationship Id="rId5" Type="http://schemas.openxmlformats.org/officeDocument/2006/relationships/oleObject" Target="../embeddings/oleObject4.bin"/><Relationship Id="rId4" Type="http://schemas.openxmlformats.org/officeDocument/2006/relationships/hyperlink" Target="prod05261.htm" TargetMode="External"/><Relationship Id="rId3" Type="http://schemas.openxmlformats.org/officeDocument/2006/relationships/image" Target="../media/image18.wmf"/><Relationship Id="rId2" Type="http://schemas.openxmlformats.org/officeDocument/2006/relationships/image" Target="../media/image17.png"/><Relationship Id="rId1" Type="http://schemas.openxmlformats.org/officeDocument/2006/relationships/image" Target="../media/image1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5" Type="http://schemas.openxmlformats.org/officeDocument/2006/relationships/vmlDrawing" Target="../drawings/vmlDrawing5.vml"/><Relationship Id="rId4" Type="http://schemas.openxmlformats.org/officeDocument/2006/relationships/slideLayout" Target="../slideLayouts/slideLayout7.xml"/><Relationship Id="rId3" Type="http://schemas.openxmlformats.org/officeDocument/2006/relationships/oleObject" Target="../embeddings/oleObject6.bin"/><Relationship Id="rId2" Type="http://schemas.openxmlformats.org/officeDocument/2006/relationships/image" Target="../media/image20.wmf"/><Relationship Id="rId1" Type="http://schemas.openxmlformats.org/officeDocument/2006/relationships/oleObject" Target="../embeddings/oleObject5.bin"/></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23.xml"/><Relationship Id="rId2" Type="http://schemas.openxmlformats.org/officeDocument/2006/relationships/image" Target="../media/image4.png"/><Relationship Id="rId1" Type="http://schemas.openxmlformats.org/officeDocument/2006/relationships/image" Target="../media/image3.jpe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8" Type="http://schemas.openxmlformats.org/officeDocument/2006/relationships/vmlDrawing" Target="../drawings/vmlDrawing6.vml"/><Relationship Id="rId7" Type="http://schemas.openxmlformats.org/officeDocument/2006/relationships/slideLayout" Target="../slideLayouts/slideLayout29.xml"/><Relationship Id="rId6" Type="http://schemas.openxmlformats.org/officeDocument/2006/relationships/image" Target="../media/image23.wmf"/><Relationship Id="rId5" Type="http://schemas.openxmlformats.org/officeDocument/2006/relationships/oleObject" Target="../embeddings/oleObject9.bin"/><Relationship Id="rId4" Type="http://schemas.openxmlformats.org/officeDocument/2006/relationships/image" Target="../media/image22.wmf"/><Relationship Id="rId3" Type="http://schemas.openxmlformats.org/officeDocument/2006/relationships/oleObject" Target="../embeddings/oleObject8.bin"/><Relationship Id="rId2" Type="http://schemas.openxmlformats.org/officeDocument/2006/relationships/image" Target="../media/image21.wmf"/><Relationship Id="rId1" Type="http://schemas.openxmlformats.org/officeDocument/2006/relationships/oleObject" Target="../embeddings/oleObject7.bin"/></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44.xml.rels><?xml version="1.0" encoding="UTF-8" standalone="yes"?>
<Relationships xmlns="http://schemas.openxmlformats.org/package/2006/relationships"><Relationship Id="rId6" Type="http://schemas.openxmlformats.org/officeDocument/2006/relationships/vmlDrawing" Target="../drawings/vmlDrawing7.vml"/><Relationship Id="rId5" Type="http://schemas.openxmlformats.org/officeDocument/2006/relationships/slideLayout" Target="../slideLayouts/slideLayout29.xml"/><Relationship Id="rId4" Type="http://schemas.openxmlformats.org/officeDocument/2006/relationships/image" Target="../media/image25.wmf"/><Relationship Id="rId3" Type="http://schemas.openxmlformats.org/officeDocument/2006/relationships/oleObject" Target="../embeddings/oleObject11.bin"/><Relationship Id="rId2" Type="http://schemas.openxmlformats.org/officeDocument/2006/relationships/image" Target="../media/image24.wmf"/><Relationship Id="rId1" Type="http://schemas.openxmlformats.org/officeDocument/2006/relationships/oleObject" Target="../embeddings/oleObject10.bin"/></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6.xml.rels><?xml version="1.0" encoding="UTF-8" standalone="yes"?>
<Relationships xmlns="http://schemas.openxmlformats.org/package/2006/relationships"><Relationship Id="rId9" Type="http://schemas.openxmlformats.org/officeDocument/2006/relationships/oleObject" Target="../embeddings/oleObject16.bin"/><Relationship Id="rId8" Type="http://schemas.openxmlformats.org/officeDocument/2006/relationships/image" Target="../media/image29.wmf"/><Relationship Id="rId7" Type="http://schemas.openxmlformats.org/officeDocument/2006/relationships/oleObject" Target="../embeddings/oleObject15.bin"/><Relationship Id="rId6" Type="http://schemas.openxmlformats.org/officeDocument/2006/relationships/image" Target="../media/image28.wmf"/><Relationship Id="rId5" Type="http://schemas.openxmlformats.org/officeDocument/2006/relationships/oleObject" Target="../embeddings/oleObject14.bin"/><Relationship Id="rId4" Type="http://schemas.openxmlformats.org/officeDocument/2006/relationships/image" Target="../media/image27.wmf"/><Relationship Id="rId3" Type="http://schemas.openxmlformats.org/officeDocument/2006/relationships/oleObject" Target="../embeddings/oleObject13.bin"/><Relationship Id="rId2" Type="http://schemas.openxmlformats.org/officeDocument/2006/relationships/image" Target="../media/image26.wmf"/><Relationship Id="rId14" Type="http://schemas.openxmlformats.org/officeDocument/2006/relationships/vmlDrawing" Target="../drawings/vmlDrawing8.vml"/><Relationship Id="rId13" Type="http://schemas.openxmlformats.org/officeDocument/2006/relationships/slideLayout" Target="../slideLayouts/slideLayout29.xml"/><Relationship Id="rId12" Type="http://schemas.openxmlformats.org/officeDocument/2006/relationships/image" Target="../media/image31.wmf"/><Relationship Id="rId11" Type="http://schemas.openxmlformats.org/officeDocument/2006/relationships/oleObject" Target="../embeddings/oleObject17.bin"/><Relationship Id="rId10" Type="http://schemas.openxmlformats.org/officeDocument/2006/relationships/image" Target="../media/image30.wmf"/><Relationship Id="rId1" Type="http://schemas.openxmlformats.org/officeDocument/2006/relationships/oleObject" Target="../embeddings/oleObject12.bin"/></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8.xml.rels><?xml version="1.0" encoding="UTF-8" standalone="yes"?>
<Relationships xmlns="http://schemas.openxmlformats.org/package/2006/relationships"><Relationship Id="rId9" Type="http://schemas.openxmlformats.org/officeDocument/2006/relationships/oleObject" Target="../embeddings/oleObject22.bin"/><Relationship Id="rId8" Type="http://schemas.openxmlformats.org/officeDocument/2006/relationships/image" Target="../media/image35.wmf"/><Relationship Id="rId7" Type="http://schemas.openxmlformats.org/officeDocument/2006/relationships/oleObject" Target="../embeddings/oleObject21.bin"/><Relationship Id="rId6" Type="http://schemas.openxmlformats.org/officeDocument/2006/relationships/image" Target="../media/image34.wmf"/><Relationship Id="rId5" Type="http://schemas.openxmlformats.org/officeDocument/2006/relationships/oleObject" Target="../embeddings/oleObject20.bin"/><Relationship Id="rId4" Type="http://schemas.openxmlformats.org/officeDocument/2006/relationships/image" Target="../media/image33.wmf"/><Relationship Id="rId3" Type="http://schemas.openxmlformats.org/officeDocument/2006/relationships/oleObject" Target="../embeddings/oleObject19.bin"/><Relationship Id="rId2" Type="http://schemas.openxmlformats.org/officeDocument/2006/relationships/image" Target="../media/image32.wmf"/><Relationship Id="rId16" Type="http://schemas.openxmlformats.org/officeDocument/2006/relationships/vmlDrawing" Target="../drawings/vmlDrawing9.vml"/><Relationship Id="rId15" Type="http://schemas.openxmlformats.org/officeDocument/2006/relationships/slideLayout" Target="../slideLayouts/slideLayout29.xml"/><Relationship Id="rId14" Type="http://schemas.openxmlformats.org/officeDocument/2006/relationships/image" Target="../media/image38.wmf"/><Relationship Id="rId13" Type="http://schemas.openxmlformats.org/officeDocument/2006/relationships/oleObject" Target="../embeddings/oleObject24.bin"/><Relationship Id="rId12" Type="http://schemas.openxmlformats.org/officeDocument/2006/relationships/image" Target="../media/image37.wmf"/><Relationship Id="rId11" Type="http://schemas.openxmlformats.org/officeDocument/2006/relationships/oleObject" Target="../embeddings/oleObject23.bin"/><Relationship Id="rId10" Type="http://schemas.openxmlformats.org/officeDocument/2006/relationships/image" Target="../media/image36.wmf"/><Relationship Id="rId1" Type="http://schemas.openxmlformats.org/officeDocument/2006/relationships/oleObject" Target="../embeddings/oleObject18.bin"/></Relationships>
</file>

<file path=ppt/slides/_rels/slide49.xml.rels><?xml version="1.0" encoding="UTF-8" standalone="yes"?>
<Relationships xmlns="http://schemas.openxmlformats.org/package/2006/relationships"><Relationship Id="rId9" Type="http://schemas.openxmlformats.org/officeDocument/2006/relationships/slideLayout" Target="../slideLayouts/slideLayout29.xml"/><Relationship Id="rId8" Type="http://schemas.openxmlformats.org/officeDocument/2006/relationships/image" Target="../media/image42.wmf"/><Relationship Id="rId7" Type="http://schemas.openxmlformats.org/officeDocument/2006/relationships/oleObject" Target="../embeddings/oleObject28.bin"/><Relationship Id="rId6" Type="http://schemas.openxmlformats.org/officeDocument/2006/relationships/image" Target="../media/image41.wmf"/><Relationship Id="rId5" Type="http://schemas.openxmlformats.org/officeDocument/2006/relationships/oleObject" Target="../embeddings/oleObject27.bin"/><Relationship Id="rId4" Type="http://schemas.openxmlformats.org/officeDocument/2006/relationships/image" Target="../media/image40.wmf"/><Relationship Id="rId3" Type="http://schemas.openxmlformats.org/officeDocument/2006/relationships/oleObject" Target="../embeddings/oleObject26.bin"/><Relationship Id="rId2" Type="http://schemas.openxmlformats.org/officeDocument/2006/relationships/image" Target="../media/image39.wmf"/><Relationship Id="rId10" Type="http://schemas.openxmlformats.org/officeDocument/2006/relationships/vmlDrawing" Target="../drawings/vmlDrawing10.vml"/><Relationship Id="rId1" Type="http://schemas.openxmlformats.org/officeDocument/2006/relationships/oleObject" Target="../embeddings/oleObject25.bin"/></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51.xml.rels><?xml version="1.0" encoding="UTF-8" standalone="yes"?>
<Relationships xmlns="http://schemas.openxmlformats.org/package/2006/relationships"><Relationship Id="rId5" Type="http://schemas.openxmlformats.org/officeDocument/2006/relationships/vmlDrawing" Target="../drawings/vmlDrawing11.vml"/><Relationship Id="rId4" Type="http://schemas.openxmlformats.org/officeDocument/2006/relationships/slideLayout" Target="../slideLayouts/slideLayout29.xml"/><Relationship Id="rId3" Type="http://schemas.openxmlformats.org/officeDocument/2006/relationships/image" Target="../media/image4.png"/><Relationship Id="rId2" Type="http://schemas.openxmlformats.org/officeDocument/2006/relationships/image" Target="../media/image43.wmf"/><Relationship Id="rId1" Type="http://schemas.openxmlformats.org/officeDocument/2006/relationships/oleObject" Target="../embeddings/oleObject29.bin"/></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54.xml.rels><?xml version="1.0" encoding="UTF-8" standalone="yes"?>
<Relationships xmlns="http://schemas.openxmlformats.org/package/2006/relationships"><Relationship Id="rId6" Type="http://schemas.openxmlformats.org/officeDocument/2006/relationships/vmlDrawing" Target="../drawings/vmlDrawing12.vml"/><Relationship Id="rId5" Type="http://schemas.openxmlformats.org/officeDocument/2006/relationships/slideLayout" Target="../slideLayouts/slideLayout29.xml"/><Relationship Id="rId4" Type="http://schemas.openxmlformats.org/officeDocument/2006/relationships/image" Target="../media/image45.wmf"/><Relationship Id="rId3" Type="http://schemas.openxmlformats.org/officeDocument/2006/relationships/oleObject" Target="../embeddings/oleObject31.bin"/><Relationship Id="rId2" Type="http://schemas.openxmlformats.org/officeDocument/2006/relationships/image" Target="../media/image44.wmf"/><Relationship Id="rId1" Type="http://schemas.openxmlformats.org/officeDocument/2006/relationships/oleObject" Target="../embeddings/oleObject30.bin"/></Relationships>
</file>

<file path=ppt/slides/_rels/slide55.xml.rels><?xml version="1.0" encoding="UTF-8" standalone="yes"?>
<Relationships xmlns="http://schemas.openxmlformats.org/package/2006/relationships"><Relationship Id="rId6" Type="http://schemas.openxmlformats.org/officeDocument/2006/relationships/vmlDrawing" Target="../drawings/vmlDrawing13.vml"/><Relationship Id="rId5" Type="http://schemas.openxmlformats.org/officeDocument/2006/relationships/slideLayout" Target="../slideLayouts/slideLayout29.xml"/><Relationship Id="rId4" Type="http://schemas.openxmlformats.org/officeDocument/2006/relationships/image" Target="../media/image47.wmf"/><Relationship Id="rId3" Type="http://schemas.openxmlformats.org/officeDocument/2006/relationships/oleObject" Target="../embeddings/oleObject33.bin"/><Relationship Id="rId2" Type="http://schemas.openxmlformats.org/officeDocument/2006/relationships/image" Target="../media/image46.wmf"/><Relationship Id="rId1" Type="http://schemas.openxmlformats.org/officeDocument/2006/relationships/oleObject" Target="../embeddings/oleObject32.bin"/></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61.xml.rels><?xml version="1.0" encoding="UTF-8" standalone="yes"?>
<Relationships xmlns="http://schemas.openxmlformats.org/package/2006/relationships"><Relationship Id="rId6" Type="http://schemas.openxmlformats.org/officeDocument/2006/relationships/vmlDrawing" Target="../drawings/vmlDrawing14.vml"/><Relationship Id="rId5" Type="http://schemas.openxmlformats.org/officeDocument/2006/relationships/slideLayout" Target="../slideLayouts/slideLayout29.xml"/><Relationship Id="rId4" Type="http://schemas.openxmlformats.org/officeDocument/2006/relationships/image" Target="../media/image49.wmf"/><Relationship Id="rId3" Type="http://schemas.openxmlformats.org/officeDocument/2006/relationships/oleObject" Target="../embeddings/oleObject35.bin"/><Relationship Id="rId2" Type="http://schemas.openxmlformats.org/officeDocument/2006/relationships/image" Target="../media/image48.wmf"/><Relationship Id="rId1" Type="http://schemas.openxmlformats.org/officeDocument/2006/relationships/oleObject" Target="../embeddings/oleObject34.bin"/></Relationships>
</file>

<file path=ppt/slides/_rels/slide62.xml.rels><?xml version="1.0" encoding="UTF-8" standalone="yes"?>
<Relationships xmlns="http://schemas.openxmlformats.org/package/2006/relationships"><Relationship Id="rId9" Type="http://schemas.openxmlformats.org/officeDocument/2006/relationships/oleObject" Target="../embeddings/oleObject40.bin"/><Relationship Id="rId8" Type="http://schemas.openxmlformats.org/officeDocument/2006/relationships/image" Target="../media/image53.wmf"/><Relationship Id="rId7" Type="http://schemas.openxmlformats.org/officeDocument/2006/relationships/oleObject" Target="../embeddings/oleObject39.bin"/><Relationship Id="rId6" Type="http://schemas.openxmlformats.org/officeDocument/2006/relationships/image" Target="../media/image52.wmf"/><Relationship Id="rId5" Type="http://schemas.openxmlformats.org/officeDocument/2006/relationships/oleObject" Target="../embeddings/oleObject38.bin"/><Relationship Id="rId4" Type="http://schemas.openxmlformats.org/officeDocument/2006/relationships/image" Target="../media/image51.wmf"/><Relationship Id="rId3" Type="http://schemas.openxmlformats.org/officeDocument/2006/relationships/oleObject" Target="../embeddings/oleObject37.bin"/><Relationship Id="rId2" Type="http://schemas.openxmlformats.org/officeDocument/2006/relationships/image" Target="../media/image50.emf"/><Relationship Id="rId12" Type="http://schemas.openxmlformats.org/officeDocument/2006/relationships/vmlDrawing" Target="../drawings/vmlDrawing15.vml"/><Relationship Id="rId11" Type="http://schemas.openxmlformats.org/officeDocument/2006/relationships/slideLayout" Target="../slideLayouts/slideLayout29.xml"/><Relationship Id="rId10" Type="http://schemas.openxmlformats.org/officeDocument/2006/relationships/image" Target="../media/image54.wmf"/><Relationship Id="rId1" Type="http://schemas.openxmlformats.org/officeDocument/2006/relationships/oleObject" Target="../embeddings/oleObject36.bin"/></Relationships>
</file>

<file path=ppt/slides/_rels/slide63.xml.rels><?xml version="1.0" encoding="UTF-8" standalone="yes"?>
<Relationships xmlns="http://schemas.openxmlformats.org/package/2006/relationships"><Relationship Id="rId8" Type="http://schemas.openxmlformats.org/officeDocument/2006/relationships/vmlDrawing" Target="../drawings/vmlDrawing16.vml"/><Relationship Id="rId7" Type="http://schemas.openxmlformats.org/officeDocument/2006/relationships/slideLayout" Target="../slideLayouts/slideLayout29.xml"/><Relationship Id="rId6" Type="http://schemas.openxmlformats.org/officeDocument/2006/relationships/image" Target="../media/image57.wmf"/><Relationship Id="rId5" Type="http://schemas.openxmlformats.org/officeDocument/2006/relationships/oleObject" Target="../embeddings/oleObject43.bin"/><Relationship Id="rId4" Type="http://schemas.openxmlformats.org/officeDocument/2006/relationships/image" Target="../media/image56.wmf"/><Relationship Id="rId3" Type="http://schemas.openxmlformats.org/officeDocument/2006/relationships/oleObject" Target="../embeddings/oleObject42.bin"/><Relationship Id="rId2" Type="http://schemas.openxmlformats.org/officeDocument/2006/relationships/image" Target="../media/image55.wmf"/><Relationship Id="rId1" Type="http://schemas.openxmlformats.org/officeDocument/2006/relationships/oleObject" Target="../embeddings/oleObject41.bin"/></Relationships>
</file>

<file path=ppt/slides/_rels/slide64.xml.rels><?xml version="1.0" encoding="UTF-8" standalone="yes"?>
<Relationships xmlns="http://schemas.openxmlformats.org/package/2006/relationships"><Relationship Id="rId6" Type="http://schemas.openxmlformats.org/officeDocument/2006/relationships/vmlDrawing" Target="../drawings/vmlDrawing17.vml"/><Relationship Id="rId5" Type="http://schemas.openxmlformats.org/officeDocument/2006/relationships/slideLayout" Target="../slideLayouts/slideLayout29.xml"/><Relationship Id="rId4" Type="http://schemas.openxmlformats.org/officeDocument/2006/relationships/image" Target="../media/image59.wmf"/><Relationship Id="rId3" Type="http://schemas.openxmlformats.org/officeDocument/2006/relationships/oleObject" Target="../embeddings/oleObject45.bin"/><Relationship Id="rId2" Type="http://schemas.openxmlformats.org/officeDocument/2006/relationships/image" Target="../media/image58.wmf"/><Relationship Id="rId1" Type="http://schemas.openxmlformats.org/officeDocument/2006/relationships/oleObject" Target="../embeddings/oleObject44.bin"/></Relationships>
</file>

<file path=ppt/slides/_rels/slide65.xml.rels><?xml version="1.0" encoding="UTF-8" standalone="yes"?>
<Relationships xmlns="http://schemas.openxmlformats.org/package/2006/relationships"><Relationship Id="rId9" Type="http://schemas.openxmlformats.org/officeDocument/2006/relationships/oleObject" Target="../embeddings/oleObject50.bin"/><Relationship Id="rId8" Type="http://schemas.openxmlformats.org/officeDocument/2006/relationships/image" Target="../media/image63.wmf"/><Relationship Id="rId7" Type="http://schemas.openxmlformats.org/officeDocument/2006/relationships/oleObject" Target="../embeddings/oleObject49.bin"/><Relationship Id="rId6" Type="http://schemas.openxmlformats.org/officeDocument/2006/relationships/image" Target="../media/image62.wmf"/><Relationship Id="rId5" Type="http://schemas.openxmlformats.org/officeDocument/2006/relationships/oleObject" Target="../embeddings/oleObject48.bin"/><Relationship Id="rId4" Type="http://schemas.openxmlformats.org/officeDocument/2006/relationships/image" Target="../media/image61.wmf"/><Relationship Id="rId3" Type="http://schemas.openxmlformats.org/officeDocument/2006/relationships/oleObject" Target="../embeddings/oleObject47.bin"/><Relationship Id="rId26" Type="http://schemas.openxmlformats.org/officeDocument/2006/relationships/vmlDrawing" Target="../drawings/vmlDrawing18.vml"/><Relationship Id="rId25" Type="http://schemas.openxmlformats.org/officeDocument/2006/relationships/slideLayout" Target="../slideLayouts/slideLayout29.xml"/><Relationship Id="rId24" Type="http://schemas.openxmlformats.org/officeDocument/2006/relationships/image" Target="../media/image71.wmf"/><Relationship Id="rId23" Type="http://schemas.openxmlformats.org/officeDocument/2006/relationships/oleObject" Target="../embeddings/oleObject57.bin"/><Relationship Id="rId22" Type="http://schemas.openxmlformats.org/officeDocument/2006/relationships/image" Target="../media/image70.wmf"/><Relationship Id="rId21" Type="http://schemas.openxmlformats.org/officeDocument/2006/relationships/oleObject" Target="../embeddings/oleObject56.bin"/><Relationship Id="rId20" Type="http://schemas.openxmlformats.org/officeDocument/2006/relationships/image" Target="../media/image69.wmf"/><Relationship Id="rId2" Type="http://schemas.openxmlformats.org/officeDocument/2006/relationships/image" Target="../media/image60.wmf"/><Relationship Id="rId19" Type="http://schemas.openxmlformats.org/officeDocument/2006/relationships/oleObject" Target="../embeddings/oleObject55.bin"/><Relationship Id="rId18" Type="http://schemas.openxmlformats.org/officeDocument/2006/relationships/image" Target="../media/image68.wmf"/><Relationship Id="rId17" Type="http://schemas.openxmlformats.org/officeDocument/2006/relationships/oleObject" Target="../embeddings/oleObject54.bin"/><Relationship Id="rId16" Type="http://schemas.openxmlformats.org/officeDocument/2006/relationships/image" Target="../media/image67.wmf"/><Relationship Id="rId15" Type="http://schemas.openxmlformats.org/officeDocument/2006/relationships/oleObject" Target="../embeddings/oleObject53.bin"/><Relationship Id="rId14" Type="http://schemas.openxmlformats.org/officeDocument/2006/relationships/image" Target="../media/image66.wmf"/><Relationship Id="rId13" Type="http://schemas.openxmlformats.org/officeDocument/2006/relationships/oleObject" Target="../embeddings/oleObject52.bin"/><Relationship Id="rId12" Type="http://schemas.openxmlformats.org/officeDocument/2006/relationships/image" Target="../media/image65.wmf"/><Relationship Id="rId11" Type="http://schemas.openxmlformats.org/officeDocument/2006/relationships/oleObject" Target="../embeddings/oleObject51.bin"/><Relationship Id="rId10" Type="http://schemas.openxmlformats.org/officeDocument/2006/relationships/image" Target="../media/image64.wmf"/><Relationship Id="rId1" Type="http://schemas.openxmlformats.org/officeDocument/2006/relationships/oleObject" Target="../embeddings/oleObject46.bin"/></Relationships>
</file>

<file path=ppt/slides/_rels/slide66.xml.rels><?xml version="1.0" encoding="UTF-8" standalone="yes"?>
<Relationships xmlns="http://schemas.openxmlformats.org/package/2006/relationships"><Relationship Id="rId9" Type="http://schemas.openxmlformats.org/officeDocument/2006/relationships/oleObject" Target="../embeddings/oleObject62.bin"/><Relationship Id="rId8" Type="http://schemas.openxmlformats.org/officeDocument/2006/relationships/image" Target="../media/image75.emf"/><Relationship Id="rId7" Type="http://schemas.openxmlformats.org/officeDocument/2006/relationships/oleObject" Target="../embeddings/oleObject61.bin"/><Relationship Id="rId6" Type="http://schemas.openxmlformats.org/officeDocument/2006/relationships/image" Target="../media/image74.wmf"/><Relationship Id="rId5" Type="http://schemas.openxmlformats.org/officeDocument/2006/relationships/oleObject" Target="../embeddings/oleObject60.bin"/><Relationship Id="rId4" Type="http://schemas.openxmlformats.org/officeDocument/2006/relationships/image" Target="../media/image73.wmf"/><Relationship Id="rId3" Type="http://schemas.openxmlformats.org/officeDocument/2006/relationships/oleObject" Target="../embeddings/oleObject59.bin"/><Relationship Id="rId2" Type="http://schemas.openxmlformats.org/officeDocument/2006/relationships/image" Target="../media/image72.emf"/><Relationship Id="rId16" Type="http://schemas.openxmlformats.org/officeDocument/2006/relationships/vmlDrawing" Target="../drawings/vmlDrawing19.vml"/><Relationship Id="rId15" Type="http://schemas.openxmlformats.org/officeDocument/2006/relationships/slideLayout" Target="../slideLayouts/slideLayout29.xml"/><Relationship Id="rId14" Type="http://schemas.openxmlformats.org/officeDocument/2006/relationships/image" Target="../media/image77.wmf"/><Relationship Id="rId13" Type="http://schemas.openxmlformats.org/officeDocument/2006/relationships/oleObject" Target="../embeddings/oleObject65.bin"/><Relationship Id="rId12" Type="http://schemas.openxmlformats.org/officeDocument/2006/relationships/image" Target="../media/image76.wmf"/><Relationship Id="rId11" Type="http://schemas.openxmlformats.org/officeDocument/2006/relationships/oleObject" Target="../embeddings/oleObject64.bin"/><Relationship Id="rId10" Type="http://schemas.openxmlformats.org/officeDocument/2006/relationships/oleObject" Target="../embeddings/oleObject63.bin"/><Relationship Id="rId1" Type="http://schemas.openxmlformats.org/officeDocument/2006/relationships/oleObject" Target="../embeddings/oleObject58.bin"/></Relationships>
</file>

<file path=ppt/slides/_rels/slide67.xml.rels><?xml version="1.0" encoding="UTF-8" standalone="yes"?>
<Relationships xmlns="http://schemas.openxmlformats.org/package/2006/relationships"><Relationship Id="rId8" Type="http://schemas.openxmlformats.org/officeDocument/2006/relationships/vmlDrawing" Target="../drawings/vmlDrawing20.vml"/><Relationship Id="rId7" Type="http://schemas.openxmlformats.org/officeDocument/2006/relationships/slideLayout" Target="../slideLayouts/slideLayout29.xml"/><Relationship Id="rId6" Type="http://schemas.openxmlformats.org/officeDocument/2006/relationships/image" Target="../media/image80.wmf"/><Relationship Id="rId5" Type="http://schemas.openxmlformats.org/officeDocument/2006/relationships/oleObject" Target="../embeddings/oleObject68.bin"/><Relationship Id="rId4" Type="http://schemas.openxmlformats.org/officeDocument/2006/relationships/image" Target="../media/image79.wmf"/><Relationship Id="rId3" Type="http://schemas.openxmlformats.org/officeDocument/2006/relationships/oleObject" Target="../embeddings/oleObject67.bin"/><Relationship Id="rId2" Type="http://schemas.openxmlformats.org/officeDocument/2006/relationships/image" Target="../media/image78.wmf"/><Relationship Id="rId1" Type="http://schemas.openxmlformats.org/officeDocument/2006/relationships/oleObject" Target="../embeddings/oleObject66.bin"/></Relationships>
</file>

<file path=ppt/slides/_rels/slide68.xml.rels><?xml version="1.0" encoding="UTF-8" standalone="yes"?>
<Relationships xmlns="http://schemas.openxmlformats.org/package/2006/relationships"><Relationship Id="rId9" Type="http://schemas.openxmlformats.org/officeDocument/2006/relationships/oleObject" Target="../embeddings/oleObject73.bin"/><Relationship Id="rId8" Type="http://schemas.openxmlformats.org/officeDocument/2006/relationships/image" Target="../media/image84.wmf"/><Relationship Id="rId7" Type="http://schemas.openxmlformats.org/officeDocument/2006/relationships/oleObject" Target="../embeddings/oleObject72.bin"/><Relationship Id="rId6" Type="http://schemas.openxmlformats.org/officeDocument/2006/relationships/image" Target="../media/image83.wmf"/><Relationship Id="rId5" Type="http://schemas.openxmlformats.org/officeDocument/2006/relationships/oleObject" Target="../embeddings/oleObject71.bin"/><Relationship Id="rId4" Type="http://schemas.openxmlformats.org/officeDocument/2006/relationships/image" Target="../media/image82.wmf"/><Relationship Id="rId3" Type="http://schemas.openxmlformats.org/officeDocument/2006/relationships/oleObject" Target="../embeddings/oleObject70.bin"/><Relationship Id="rId2" Type="http://schemas.openxmlformats.org/officeDocument/2006/relationships/image" Target="../media/image81.wmf"/><Relationship Id="rId16" Type="http://schemas.openxmlformats.org/officeDocument/2006/relationships/vmlDrawing" Target="../drawings/vmlDrawing21.vml"/><Relationship Id="rId15" Type="http://schemas.openxmlformats.org/officeDocument/2006/relationships/slideLayout" Target="../slideLayouts/slideLayout29.xml"/><Relationship Id="rId14" Type="http://schemas.openxmlformats.org/officeDocument/2006/relationships/image" Target="../media/image87.wmf"/><Relationship Id="rId13" Type="http://schemas.openxmlformats.org/officeDocument/2006/relationships/oleObject" Target="../embeddings/oleObject75.bin"/><Relationship Id="rId12" Type="http://schemas.openxmlformats.org/officeDocument/2006/relationships/image" Target="../media/image86.wmf"/><Relationship Id="rId11" Type="http://schemas.openxmlformats.org/officeDocument/2006/relationships/oleObject" Target="../embeddings/oleObject74.bin"/><Relationship Id="rId10" Type="http://schemas.openxmlformats.org/officeDocument/2006/relationships/image" Target="../media/image85.wmf"/><Relationship Id="rId1" Type="http://schemas.openxmlformats.org/officeDocument/2006/relationships/oleObject" Target="../embeddings/oleObject69.bin"/></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9.xml.rels><?xml version="1.0" encoding="UTF-8" standalone="yes"?>
<Relationships xmlns="http://schemas.openxmlformats.org/package/2006/relationships"><Relationship Id="rId4" Type="http://schemas.openxmlformats.org/officeDocument/2006/relationships/vmlDrawing" Target="../drawings/vmlDrawing22.vml"/><Relationship Id="rId3" Type="http://schemas.openxmlformats.org/officeDocument/2006/relationships/slideLayout" Target="../slideLayouts/slideLayout29.xml"/><Relationship Id="rId2" Type="http://schemas.openxmlformats.org/officeDocument/2006/relationships/image" Target="../media/image88.wmf"/><Relationship Id="rId1" Type="http://schemas.openxmlformats.org/officeDocument/2006/relationships/oleObject" Target="../embeddings/oleObject76.bin"/></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4.xml.rels><?xml version="1.0" encoding="UTF-8" standalone="yes"?>
<Relationships xmlns="http://schemas.openxmlformats.org/package/2006/relationships"><Relationship Id="rId9" Type="http://schemas.openxmlformats.org/officeDocument/2006/relationships/oleObject" Target="../embeddings/oleObject81.bin"/><Relationship Id="rId8" Type="http://schemas.openxmlformats.org/officeDocument/2006/relationships/image" Target="../media/image92.wmf"/><Relationship Id="rId7" Type="http://schemas.openxmlformats.org/officeDocument/2006/relationships/oleObject" Target="../embeddings/oleObject80.bin"/><Relationship Id="rId6" Type="http://schemas.openxmlformats.org/officeDocument/2006/relationships/image" Target="../media/image91.wmf"/><Relationship Id="rId5" Type="http://schemas.openxmlformats.org/officeDocument/2006/relationships/oleObject" Target="../embeddings/oleObject79.bin"/><Relationship Id="rId4" Type="http://schemas.openxmlformats.org/officeDocument/2006/relationships/image" Target="../media/image90.wmf"/><Relationship Id="rId3" Type="http://schemas.openxmlformats.org/officeDocument/2006/relationships/oleObject" Target="../embeddings/oleObject78.bin"/><Relationship Id="rId2" Type="http://schemas.openxmlformats.org/officeDocument/2006/relationships/image" Target="../media/image89.wmf"/><Relationship Id="rId14" Type="http://schemas.openxmlformats.org/officeDocument/2006/relationships/vmlDrawing" Target="../drawings/vmlDrawing23.vml"/><Relationship Id="rId13" Type="http://schemas.openxmlformats.org/officeDocument/2006/relationships/slideLayout" Target="../slideLayouts/slideLayout29.xml"/><Relationship Id="rId12" Type="http://schemas.openxmlformats.org/officeDocument/2006/relationships/image" Target="../media/image94.wmf"/><Relationship Id="rId11" Type="http://schemas.openxmlformats.org/officeDocument/2006/relationships/oleObject" Target="../embeddings/oleObject82.bin"/><Relationship Id="rId10" Type="http://schemas.openxmlformats.org/officeDocument/2006/relationships/image" Target="../media/image93.wmf"/><Relationship Id="rId1" Type="http://schemas.openxmlformats.org/officeDocument/2006/relationships/oleObject" Target="../embeddings/oleObject77.bin"/></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6.xml.rels><?xml version="1.0" encoding="UTF-8" standalone="yes"?>
<Relationships xmlns="http://schemas.openxmlformats.org/package/2006/relationships"><Relationship Id="rId9" Type="http://schemas.openxmlformats.org/officeDocument/2006/relationships/oleObject" Target="../embeddings/oleObject87.bin"/><Relationship Id="rId8" Type="http://schemas.openxmlformats.org/officeDocument/2006/relationships/image" Target="../media/image98.wmf"/><Relationship Id="rId7" Type="http://schemas.openxmlformats.org/officeDocument/2006/relationships/oleObject" Target="../embeddings/oleObject86.bin"/><Relationship Id="rId6" Type="http://schemas.openxmlformats.org/officeDocument/2006/relationships/image" Target="../media/image97.wmf"/><Relationship Id="rId5" Type="http://schemas.openxmlformats.org/officeDocument/2006/relationships/oleObject" Target="../embeddings/oleObject85.bin"/><Relationship Id="rId4" Type="http://schemas.openxmlformats.org/officeDocument/2006/relationships/image" Target="../media/image96.wmf"/><Relationship Id="rId3" Type="http://schemas.openxmlformats.org/officeDocument/2006/relationships/oleObject" Target="../embeddings/oleObject84.bin"/><Relationship Id="rId2" Type="http://schemas.openxmlformats.org/officeDocument/2006/relationships/image" Target="../media/image95.wmf"/><Relationship Id="rId14" Type="http://schemas.openxmlformats.org/officeDocument/2006/relationships/vmlDrawing" Target="../drawings/vmlDrawing24.vml"/><Relationship Id="rId13" Type="http://schemas.openxmlformats.org/officeDocument/2006/relationships/slideLayout" Target="../slideLayouts/slideLayout29.xml"/><Relationship Id="rId12" Type="http://schemas.openxmlformats.org/officeDocument/2006/relationships/image" Target="../media/image100.wmf"/><Relationship Id="rId11" Type="http://schemas.openxmlformats.org/officeDocument/2006/relationships/oleObject" Target="../embeddings/oleObject88.bin"/><Relationship Id="rId10" Type="http://schemas.openxmlformats.org/officeDocument/2006/relationships/image" Target="../media/image99.wmf"/><Relationship Id="rId1" Type="http://schemas.openxmlformats.org/officeDocument/2006/relationships/oleObject" Target="../embeddings/oleObject83.bin"/></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9.xml.rels><?xml version="1.0" encoding="UTF-8" standalone="yes"?>
<Relationships xmlns="http://schemas.openxmlformats.org/package/2006/relationships"><Relationship Id="rId4" Type="http://schemas.openxmlformats.org/officeDocument/2006/relationships/vmlDrawing" Target="../drawings/vmlDrawing25.vml"/><Relationship Id="rId3" Type="http://schemas.openxmlformats.org/officeDocument/2006/relationships/slideLayout" Target="../slideLayouts/slideLayout29.xml"/><Relationship Id="rId2" Type="http://schemas.openxmlformats.org/officeDocument/2006/relationships/image" Target="../media/image101.wmf"/><Relationship Id="rId1" Type="http://schemas.openxmlformats.org/officeDocument/2006/relationships/oleObject" Target="../embeddings/oleObject89.bin"/></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1.xml.rels><?xml version="1.0" encoding="UTF-8" standalone="yes"?>
<Relationships xmlns="http://schemas.openxmlformats.org/package/2006/relationships"><Relationship Id="rId6" Type="http://schemas.openxmlformats.org/officeDocument/2006/relationships/vmlDrawing" Target="../drawings/vmlDrawing26.vml"/><Relationship Id="rId5" Type="http://schemas.openxmlformats.org/officeDocument/2006/relationships/slideLayout" Target="../slideLayouts/slideLayout29.xml"/><Relationship Id="rId4" Type="http://schemas.openxmlformats.org/officeDocument/2006/relationships/image" Target="../media/image103.wmf"/><Relationship Id="rId3" Type="http://schemas.openxmlformats.org/officeDocument/2006/relationships/oleObject" Target="../embeddings/oleObject91.bin"/><Relationship Id="rId2" Type="http://schemas.openxmlformats.org/officeDocument/2006/relationships/image" Target="../media/image102.wmf"/><Relationship Id="rId1" Type="http://schemas.openxmlformats.org/officeDocument/2006/relationships/oleObject" Target="../embeddings/oleObject90.bin"/></Relationships>
</file>

<file path=ppt/slides/_rels/slide92.xml.rels><?xml version="1.0" encoding="UTF-8" standalone="yes"?>
<Relationships xmlns="http://schemas.openxmlformats.org/package/2006/relationships"><Relationship Id="rId6" Type="http://schemas.openxmlformats.org/officeDocument/2006/relationships/vmlDrawing" Target="../drawings/vmlDrawing27.vml"/><Relationship Id="rId5" Type="http://schemas.openxmlformats.org/officeDocument/2006/relationships/slideLayout" Target="../slideLayouts/slideLayout29.xml"/><Relationship Id="rId4" Type="http://schemas.openxmlformats.org/officeDocument/2006/relationships/image" Target="../media/image105.wmf"/><Relationship Id="rId3" Type="http://schemas.openxmlformats.org/officeDocument/2006/relationships/oleObject" Target="../embeddings/oleObject93.bin"/><Relationship Id="rId2" Type="http://schemas.openxmlformats.org/officeDocument/2006/relationships/image" Target="../media/image104.wmf"/><Relationship Id="rId1" Type="http://schemas.openxmlformats.org/officeDocument/2006/relationships/oleObject" Target="../embeddings/oleObject92.bin"/></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4.xml.rels><?xml version="1.0" encoding="UTF-8" standalone="yes"?>
<Relationships xmlns="http://schemas.openxmlformats.org/package/2006/relationships"><Relationship Id="rId6" Type="http://schemas.openxmlformats.org/officeDocument/2006/relationships/vmlDrawing" Target="../drawings/vmlDrawing28.vml"/><Relationship Id="rId5" Type="http://schemas.openxmlformats.org/officeDocument/2006/relationships/slideLayout" Target="../slideLayouts/slideLayout29.xml"/><Relationship Id="rId4" Type="http://schemas.openxmlformats.org/officeDocument/2006/relationships/image" Target="../media/image107.wmf"/><Relationship Id="rId3" Type="http://schemas.openxmlformats.org/officeDocument/2006/relationships/oleObject" Target="../embeddings/oleObject95.bin"/><Relationship Id="rId2" Type="http://schemas.openxmlformats.org/officeDocument/2006/relationships/image" Target="../media/image106.wmf"/><Relationship Id="rId1" Type="http://schemas.openxmlformats.org/officeDocument/2006/relationships/oleObject" Target="../embeddings/oleObject94.bin"/></Relationships>
</file>

<file path=ppt/slides/_rels/slide95.xml.rels><?xml version="1.0" encoding="UTF-8" standalone="yes"?>
<Relationships xmlns="http://schemas.openxmlformats.org/package/2006/relationships"><Relationship Id="rId6" Type="http://schemas.openxmlformats.org/officeDocument/2006/relationships/vmlDrawing" Target="../drawings/vmlDrawing29.vml"/><Relationship Id="rId5" Type="http://schemas.openxmlformats.org/officeDocument/2006/relationships/slideLayout" Target="../slideLayouts/slideLayout29.xml"/><Relationship Id="rId4" Type="http://schemas.openxmlformats.org/officeDocument/2006/relationships/image" Target="../media/image109.wmf"/><Relationship Id="rId3" Type="http://schemas.openxmlformats.org/officeDocument/2006/relationships/oleObject" Target="../embeddings/oleObject97.bin"/><Relationship Id="rId2" Type="http://schemas.openxmlformats.org/officeDocument/2006/relationships/image" Target="../media/image108.wmf"/><Relationship Id="rId1" Type="http://schemas.openxmlformats.org/officeDocument/2006/relationships/oleObject" Target="../embeddings/oleObject96.bin"/></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8.xml.rels><?xml version="1.0" encoding="UTF-8" standalone="yes"?>
<Relationships xmlns="http://schemas.openxmlformats.org/package/2006/relationships"><Relationship Id="rId5" Type="http://schemas.openxmlformats.org/officeDocument/2006/relationships/vmlDrawing" Target="../drawings/vmlDrawing30.vml"/><Relationship Id="rId4" Type="http://schemas.openxmlformats.org/officeDocument/2006/relationships/slideLayout" Target="../slideLayouts/slideLayout29.xml"/><Relationship Id="rId3" Type="http://schemas.openxmlformats.org/officeDocument/2006/relationships/image" Target="../media/image111.wmf"/><Relationship Id="rId2" Type="http://schemas.openxmlformats.org/officeDocument/2006/relationships/oleObject" Target="../embeddings/oleObject98.bin"/><Relationship Id="rId1" Type="http://schemas.openxmlformats.org/officeDocument/2006/relationships/image" Target="../media/image110.png"/></Relationships>
</file>

<file path=ppt/slides/_rels/slide99.xml.rels><?xml version="1.0" encoding="UTF-8" standalone="yes"?>
<Relationships xmlns="http://schemas.openxmlformats.org/package/2006/relationships"><Relationship Id="rId5" Type="http://schemas.openxmlformats.org/officeDocument/2006/relationships/vmlDrawing" Target="../drawings/vmlDrawing31.vml"/><Relationship Id="rId4" Type="http://schemas.openxmlformats.org/officeDocument/2006/relationships/slideLayout" Target="../slideLayouts/slideLayout29.xml"/><Relationship Id="rId3" Type="http://schemas.openxmlformats.org/officeDocument/2006/relationships/image" Target="../media/image112.wmf"/><Relationship Id="rId2" Type="http://schemas.openxmlformats.org/officeDocument/2006/relationships/oleObject" Target="../embeddings/oleObject99.bin"/><Relationship Id="rId1" Type="http://schemas.openxmlformats.org/officeDocument/2006/relationships/image" Target="../media/image110.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2.xml.rels><?xml version="1.0" encoding="UTF-8" standalone="yes"?>
<Relationships xmlns="http://schemas.openxmlformats.org/package/2006/relationships"><Relationship Id="rId8" Type="http://schemas.openxmlformats.org/officeDocument/2006/relationships/vmlDrawing" Target="../drawings/vmlDrawing32.vml"/><Relationship Id="rId7" Type="http://schemas.openxmlformats.org/officeDocument/2006/relationships/slideLayout" Target="../slideLayouts/slideLayout29.xml"/><Relationship Id="rId6" Type="http://schemas.openxmlformats.org/officeDocument/2006/relationships/image" Target="../media/image115.wmf"/><Relationship Id="rId5" Type="http://schemas.openxmlformats.org/officeDocument/2006/relationships/oleObject" Target="../embeddings/oleObject102.bin"/><Relationship Id="rId4" Type="http://schemas.openxmlformats.org/officeDocument/2006/relationships/image" Target="../media/image114.wmf"/><Relationship Id="rId3" Type="http://schemas.openxmlformats.org/officeDocument/2006/relationships/oleObject" Target="../embeddings/oleObject101.bin"/><Relationship Id="rId2" Type="http://schemas.openxmlformats.org/officeDocument/2006/relationships/image" Target="../media/image113.wmf"/><Relationship Id="rId1" Type="http://schemas.openxmlformats.org/officeDocument/2006/relationships/oleObject" Target="../embeddings/oleObject100.bin"/></Relationships>
</file>

<file path=ppt/slides/_rels/slide103.xml.rels><?xml version="1.0" encoding="UTF-8" standalone="yes"?>
<Relationships xmlns="http://schemas.openxmlformats.org/package/2006/relationships"><Relationship Id="rId6" Type="http://schemas.openxmlformats.org/officeDocument/2006/relationships/vmlDrawing" Target="../drawings/vmlDrawing33.vml"/><Relationship Id="rId5" Type="http://schemas.openxmlformats.org/officeDocument/2006/relationships/slideLayout" Target="../slideLayouts/slideLayout29.xml"/><Relationship Id="rId4" Type="http://schemas.openxmlformats.org/officeDocument/2006/relationships/image" Target="../media/image117.wmf"/><Relationship Id="rId3" Type="http://schemas.openxmlformats.org/officeDocument/2006/relationships/oleObject" Target="../embeddings/oleObject104.bin"/><Relationship Id="rId2" Type="http://schemas.openxmlformats.org/officeDocument/2006/relationships/image" Target="../media/image116.wmf"/><Relationship Id="rId1" Type="http://schemas.openxmlformats.org/officeDocument/2006/relationships/oleObject" Target="../embeddings/oleObject103.bin"/></Relationships>
</file>

<file path=ppt/slides/_rels/slide104.xml.rels><?xml version="1.0" encoding="UTF-8" standalone="yes"?>
<Relationships xmlns="http://schemas.openxmlformats.org/package/2006/relationships"><Relationship Id="rId8" Type="http://schemas.openxmlformats.org/officeDocument/2006/relationships/vmlDrawing" Target="../drawings/vmlDrawing34.vml"/><Relationship Id="rId7" Type="http://schemas.openxmlformats.org/officeDocument/2006/relationships/slideLayout" Target="../slideLayouts/slideLayout29.xml"/><Relationship Id="rId6" Type="http://schemas.openxmlformats.org/officeDocument/2006/relationships/image" Target="../media/image120.wmf"/><Relationship Id="rId5" Type="http://schemas.openxmlformats.org/officeDocument/2006/relationships/oleObject" Target="../embeddings/oleObject107.bin"/><Relationship Id="rId4" Type="http://schemas.openxmlformats.org/officeDocument/2006/relationships/image" Target="../media/image119.wmf"/><Relationship Id="rId3" Type="http://schemas.openxmlformats.org/officeDocument/2006/relationships/oleObject" Target="../embeddings/oleObject106.bin"/><Relationship Id="rId2" Type="http://schemas.openxmlformats.org/officeDocument/2006/relationships/image" Target="../media/image118.wmf"/><Relationship Id="rId1" Type="http://schemas.openxmlformats.org/officeDocument/2006/relationships/oleObject" Target="../embeddings/oleObject105.bin"/></Relationships>
</file>

<file path=ppt/slides/_rels/slide105.xml.rels><?xml version="1.0" encoding="UTF-8" standalone="yes"?>
<Relationships xmlns="http://schemas.openxmlformats.org/package/2006/relationships"><Relationship Id="rId6" Type="http://schemas.openxmlformats.org/officeDocument/2006/relationships/vmlDrawing" Target="../drawings/vmlDrawing35.vml"/><Relationship Id="rId5" Type="http://schemas.openxmlformats.org/officeDocument/2006/relationships/slideLayout" Target="../slideLayouts/slideLayout29.xml"/><Relationship Id="rId4" Type="http://schemas.openxmlformats.org/officeDocument/2006/relationships/image" Target="../media/image122.wmf"/><Relationship Id="rId3" Type="http://schemas.openxmlformats.org/officeDocument/2006/relationships/oleObject" Target="../embeddings/oleObject109.bin"/><Relationship Id="rId2" Type="http://schemas.openxmlformats.org/officeDocument/2006/relationships/image" Target="../media/image121.wmf"/><Relationship Id="rId1" Type="http://schemas.openxmlformats.org/officeDocument/2006/relationships/oleObject" Target="../embeddings/oleObject108.bin"/></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4.png"/></Relationships>
</file>

<file path=ppt/slides/_rels/slide108.xml.rels><?xml version="1.0" encoding="UTF-8" standalone="yes"?>
<Relationships xmlns="http://schemas.openxmlformats.org/package/2006/relationships"><Relationship Id="rId4" Type="http://schemas.openxmlformats.org/officeDocument/2006/relationships/vmlDrawing" Target="../drawings/vmlDrawing36.vml"/><Relationship Id="rId3" Type="http://schemas.openxmlformats.org/officeDocument/2006/relationships/slideLayout" Target="../slideLayouts/slideLayout29.xml"/><Relationship Id="rId2" Type="http://schemas.openxmlformats.org/officeDocument/2006/relationships/image" Target="../media/image123.wmf"/><Relationship Id="rId1" Type="http://schemas.openxmlformats.org/officeDocument/2006/relationships/oleObject" Target="../embeddings/oleObject110.bin"/></Relationships>
</file>

<file path=ppt/slides/_rels/slide109.xml.rels><?xml version="1.0" encoding="UTF-8" standalone="yes"?>
<Relationships xmlns="http://schemas.openxmlformats.org/package/2006/relationships"><Relationship Id="rId4" Type="http://schemas.openxmlformats.org/officeDocument/2006/relationships/vmlDrawing" Target="../drawings/vmlDrawing37.vml"/><Relationship Id="rId3" Type="http://schemas.openxmlformats.org/officeDocument/2006/relationships/slideLayout" Target="../slideLayouts/slideLayout29.xml"/><Relationship Id="rId2" Type="http://schemas.openxmlformats.org/officeDocument/2006/relationships/image" Target="../media/image124.wmf"/><Relationship Id="rId1" Type="http://schemas.openxmlformats.org/officeDocument/2006/relationships/oleObject" Target="../embeddings/oleObject111.bin"/></Relationships>
</file>

<file path=ppt/slides/_rels/slide110.xml.rels><?xml version="1.0" encoding="UTF-8" standalone="yes"?>
<Relationships xmlns="http://schemas.openxmlformats.org/package/2006/relationships"><Relationship Id="rId6" Type="http://schemas.openxmlformats.org/officeDocument/2006/relationships/vmlDrawing" Target="../drawings/vmlDrawing38.vml"/><Relationship Id="rId5" Type="http://schemas.openxmlformats.org/officeDocument/2006/relationships/slideLayout" Target="../slideLayouts/slideLayout29.xml"/><Relationship Id="rId4" Type="http://schemas.openxmlformats.org/officeDocument/2006/relationships/image" Target="../media/image126.wmf"/><Relationship Id="rId3" Type="http://schemas.openxmlformats.org/officeDocument/2006/relationships/oleObject" Target="../embeddings/oleObject113.bin"/><Relationship Id="rId2" Type="http://schemas.openxmlformats.org/officeDocument/2006/relationships/image" Target="../media/image125.wmf"/><Relationship Id="rId1" Type="http://schemas.openxmlformats.org/officeDocument/2006/relationships/oleObject" Target="../embeddings/oleObject112.bin"/></Relationships>
</file>

<file path=ppt/slides/_rels/slide111.xml.rels><?xml version="1.0" encoding="UTF-8" standalone="yes"?>
<Relationships xmlns="http://schemas.openxmlformats.org/package/2006/relationships"><Relationship Id="rId4" Type="http://schemas.openxmlformats.org/officeDocument/2006/relationships/vmlDrawing" Target="../drawings/vmlDrawing39.vml"/><Relationship Id="rId3" Type="http://schemas.openxmlformats.org/officeDocument/2006/relationships/slideLayout" Target="../slideLayouts/slideLayout29.xml"/><Relationship Id="rId2" Type="http://schemas.openxmlformats.org/officeDocument/2006/relationships/image" Target="../media/image127.wmf"/><Relationship Id="rId1" Type="http://schemas.openxmlformats.org/officeDocument/2006/relationships/oleObject" Target="../embeddings/oleObject114.bin"/></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3.xml.rels><?xml version="1.0" encoding="UTF-8" standalone="yes"?>
<Relationships xmlns="http://schemas.openxmlformats.org/package/2006/relationships"><Relationship Id="rId6" Type="http://schemas.openxmlformats.org/officeDocument/2006/relationships/vmlDrawing" Target="../drawings/vmlDrawing40.vml"/><Relationship Id="rId5" Type="http://schemas.openxmlformats.org/officeDocument/2006/relationships/slideLayout" Target="../slideLayouts/slideLayout29.xml"/><Relationship Id="rId4" Type="http://schemas.openxmlformats.org/officeDocument/2006/relationships/image" Target="../media/image129.wmf"/><Relationship Id="rId3" Type="http://schemas.openxmlformats.org/officeDocument/2006/relationships/oleObject" Target="../embeddings/oleObject116.bin"/><Relationship Id="rId2" Type="http://schemas.openxmlformats.org/officeDocument/2006/relationships/image" Target="../media/image128.wmf"/><Relationship Id="rId1" Type="http://schemas.openxmlformats.org/officeDocument/2006/relationships/oleObject" Target="../embeddings/oleObject115.bin"/></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30.png"/></Relationships>
</file>

<file path=ppt/slides/_rels/slide119.xml.rels><?xml version="1.0" encoding="UTF-8" standalone="yes"?>
<Relationships xmlns="http://schemas.openxmlformats.org/package/2006/relationships"><Relationship Id="rId9" Type="http://schemas.openxmlformats.org/officeDocument/2006/relationships/slideLayout" Target="../slideLayouts/slideLayout29.xml"/><Relationship Id="rId8" Type="http://schemas.openxmlformats.org/officeDocument/2006/relationships/image" Target="../media/image134.wmf"/><Relationship Id="rId7" Type="http://schemas.openxmlformats.org/officeDocument/2006/relationships/oleObject" Target="../embeddings/oleObject120.bin"/><Relationship Id="rId6" Type="http://schemas.openxmlformats.org/officeDocument/2006/relationships/image" Target="../media/image133.wmf"/><Relationship Id="rId5" Type="http://schemas.openxmlformats.org/officeDocument/2006/relationships/oleObject" Target="../embeddings/oleObject119.bin"/><Relationship Id="rId4" Type="http://schemas.openxmlformats.org/officeDocument/2006/relationships/image" Target="../media/image132.wmf"/><Relationship Id="rId3" Type="http://schemas.openxmlformats.org/officeDocument/2006/relationships/oleObject" Target="../embeddings/oleObject118.bin"/><Relationship Id="rId2" Type="http://schemas.openxmlformats.org/officeDocument/2006/relationships/image" Target="../media/image131.wmf"/><Relationship Id="rId10" Type="http://schemas.openxmlformats.org/officeDocument/2006/relationships/vmlDrawing" Target="../drawings/vmlDrawing41.vml"/><Relationship Id="rId1" Type="http://schemas.openxmlformats.org/officeDocument/2006/relationships/oleObject" Target="../embeddings/oleObject117.bin"/></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1.xml.rels><?xml version="1.0" encoding="UTF-8" standalone="yes"?>
<Relationships xmlns="http://schemas.openxmlformats.org/package/2006/relationships"><Relationship Id="rId8" Type="http://schemas.openxmlformats.org/officeDocument/2006/relationships/vmlDrawing" Target="../drawings/vmlDrawing42.vml"/><Relationship Id="rId7" Type="http://schemas.openxmlformats.org/officeDocument/2006/relationships/slideLayout" Target="../slideLayouts/slideLayout29.xml"/><Relationship Id="rId6" Type="http://schemas.openxmlformats.org/officeDocument/2006/relationships/image" Target="../media/image138.wmf"/><Relationship Id="rId5" Type="http://schemas.openxmlformats.org/officeDocument/2006/relationships/oleObject" Target="../embeddings/oleObject122.bin"/><Relationship Id="rId4" Type="http://schemas.openxmlformats.org/officeDocument/2006/relationships/image" Target="../media/image137.wmf"/><Relationship Id="rId3" Type="http://schemas.openxmlformats.org/officeDocument/2006/relationships/oleObject" Target="../embeddings/oleObject121.bin"/><Relationship Id="rId2" Type="http://schemas.openxmlformats.org/officeDocument/2006/relationships/image" Target="../media/image136.png"/><Relationship Id="rId1" Type="http://schemas.openxmlformats.org/officeDocument/2006/relationships/image" Target="../media/image135.png"/></Relationships>
</file>

<file path=ppt/slides/_rels/slide122.xml.rels><?xml version="1.0" encoding="UTF-8" standalone="yes"?>
<Relationships xmlns="http://schemas.openxmlformats.org/package/2006/relationships"><Relationship Id="rId6" Type="http://schemas.openxmlformats.org/officeDocument/2006/relationships/vmlDrawing" Target="../drawings/vmlDrawing43.vml"/><Relationship Id="rId5" Type="http://schemas.openxmlformats.org/officeDocument/2006/relationships/slideLayout" Target="../slideLayouts/slideLayout29.xml"/><Relationship Id="rId4" Type="http://schemas.openxmlformats.org/officeDocument/2006/relationships/image" Target="../media/image140.wmf"/><Relationship Id="rId3" Type="http://schemas.openxmlformats.org/officeDocument/2006/relationships/oleObject" Target="../embeddings/oleObject124.bin"/><Relationship Id="rId2" Type="http://schemas.openxmlformats.org/officeDocument/2006/relationships/image" Target="../media/image139.wmf"/><Relationship Id="rId1" Type="http://schemas.openxmlformats.org/officeDocument/2006/relationships/oleObject" Target="../embeddings/oleObject123.bin"/></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4.xml.rels><?xml version="1.0" encoding="UTF-8" standalone="yes"?>
<Relationships xmlns="http://schemas.openxmlformats.org/package/2006/relationships"><Relationship Id="rId9" Type="http://schemas.openxmlformats.org/officeDocument/2006/relationships/slideLayout" Target="../slideLayouts/slideLayout29.xml"/><Relationship Id="rId8" Type="http://schemas.openxmlformats.org/officeDocument/2006/relationships/image" Target="../media/image144.wmf"/><Relationship Id="rId7" Type="http://schemas.openxmlformats.org/officeDocument/2006/relationships/oleObject" Target="../embeddings/oleObject128.bin"/><Relationship Id="rId6" Type="http://schemas.openxmlformats.org/officeDocument/2006/relationships/image" Target="../media/image143.wmf"/><Relationship Id="rId5" Type="http://schemas.openxmlformats.org/officeDocument/2006/relationships/oleObject" Target="../embeddings/oleObject127.bin"/><Relationship Id="rId4" Type="http://schemas.openxmlformats.org/officeDocument/2006/relationships/image" Target="../media/image142.wmf"/><Relationship Id="rId3" Type="http://schemas.openxmlformats.org/officeDocument/2006/relationships/oleObject" Target="../embeddings/oleObject126.bin"/><Relationship Id="rId2" Type="http://schemas.openxmlformats.org/officeDocument/2006/relationships/image" Target="../media/image141.wmf"/><Relationship Id="rId10" Type="http://schemas.openxmlformats.org/officeDocument/2006/relationships/vmlDrawing" Target="../drawings/vmlDrawing44.vml"/><Relationship Id="rId1" Type="http://schemas.openxmlformats.org/officeDocument/2006/relationships/oleObject" Target="../embeddings/oleObject125.bin"/></Relationships>
</file>

<file path=ppt/slides/_rels/slide125.xml.rels><?xml version="1.0" encoding="UTF-8" standalone="yes"?>
<Relationships xmlns="http://schemas.openxmlformats.org/package/2006/relationships"><Relationship Id="rId9" Type="http://schemas.openxmlformats.org/officeDocument/2006/relationships/oleObject" Target="../embeddings/oleObject133.bin"/><Relationship Id="rId8" Type="http://schemas.openxmlformats.org/officeDocument/2006/relationships/image" Target="../media/image148.wmf"/><Relationship Id="rId7" Type="http://schemas.openxmlformats.org/officeDocument/2006/relationships/oleObject" Target="../embeddings/oleObject132.bin"/><Relationship Id="rId6" Type="http://schemas.openxmlformats.org/officeDocument/2006/relationships/image" Target="../media/image147.wmf"/><Relationship Id="rId5" Type="http://schemas.openxmlformats.org/officeDocument/2006/relationships/oleObject" Target="../embeddings/oleObject131.bin"/><Relationship Id="rId4" Type="http://schemas.openxmlformats.org/officeDocument/2006/relationships/image" Target="../media/image146.wmf"/><Relationship Id="rId3" Type="http://schemas.openxmlformats.org/officeDocument/2006/relationships/oleObject" Target="../embeddings/oleObject130.bin"/><Relationship Id="rId2" Type="http://schemas.openxmlformats.org/officeDocument/2006/relationships/image" Target="../media/image145.wmf"/><Relationship Id="rId12" Type="http://schemas.openxmlformats.org/officeDocument/2006/relationships/vmlDrawing" Target="../drawings/vmlDrawing45.vml"/><Relationship Id="rId11" Type="http://schemas.openxmlformats.org/officeDocument/2006/relationships/slideLayout" Target="../slideLayouts/slideLayout29.xml"/><Relationship Id="rId10" Type="http://schemas.openxmlformats.org/officeDocument/2006/relationships/image" Target="../media/image149.wmf"/><Relationship Id="rId1" Type="http://schemas.openxmlformats.org/officeDocument/2006/relationships/oleObject" Target="../embeddings/oleObject129.bin"/></Relationships>
</file>

<file path=ppt/slides/_rels/slide126.xml.rels><?xml version="1.0" encoding="UTF-8" standalone="yes"?>
<Relationships xmlns="http://schemas.openxmlformats.org/package/2006/relationships"><Relationship Id="rId4" Type="http://schemas.openxmlformats.org/officeDocument/2006/relationships/vmlDrawing" Target="../drawings/vmlDrawing46.vml"/><Relationship Id="rId3" Type="http://schemas.openxmlformats.org/officeDocument/2006/relationships/slideLayout" Target="../slideLayouts/slideLayout29.xml"/><Relationship Id="rId2" Type="http://schemas.openxmlformats.org/officeDocument/2006/relationships/image" Target="../media/image150.wmf"/><Relationship Id="rId1" Type="http://schemas.openxmlformats.org/officeDocument/2006/relationships/oleObject" Target="../embeddings/oleObject134.bin"/></Relationships>
</file>

<file path=ppt/slides/_rels/slide127.xml.rels><?xml version="1.0" encoding="UTF-8" standalone="yes"?>
<Relationships xmlns="http://schemas.openxmlformats.org/package/2006/relationships"><Relationship Id="rId4" Type="http://schemas.openxmlformats.org/officeDocument/2006/relationships/vmlDrawing" Target="../drawings/vmlDrawing47.vml"/><Relationship Id="rId3" Type="http://schemas.openxmlformats.org/officeDocument/2006/relationships/slideLayout" Target="../slideLayouts/slideLayout29.xml"/><Relationship Id="rId2" Type="http://schemas.openxmlformats.org/officeDocument/2006/relationships/image" Target="../media/image151.wmf"/><Relationship Id="rId1" Type="http://schemas.openxmlformats.org/officeDocument/2006/relationships/oleObject" Target="../embeddings/oleObject135.bin"/></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9.xml.rels><?xml version="1.0" encoding="UTF-8" standalone="yes"?>
<Relationships xmlns="http://schemas.openxmlformats.org/package/2006/relationships"><Relationship Id="rId5" Type="http://schemas.openxmlformats.org/officeDocument/2006/relationships/vmlDrawing" Target="../drawings/vmlDrawing48.vml"/><Relationship Id="rId4" Type="http://schemas.openxmlformats.org/officeDocument/2006/relationships/slideLayout" Target="../slideLayouts/slideLayout29.xml"/><Relationship Id="rId3" Type="http://schemas.openxmlformats.org/officeDocument/2006/relationships/image" Target="../media/image88.wmf"/><Relationship Id="rId2" Type="http://schemas.openxmlformats.org/officeDocument/2006/relationships/oleObject" Target="../embeddings/oleObject136.bin"/><Relationship Id="rId1" Type="http://schemas.openxmlformats.org/officeDocument/2006/relationships/image" Target="../media/image152.jpe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2.xml.rels><?xml version="1.0" encoding="UTF-8" standalone="yes"?>
<Relationships xmlns="http://schemas.openxmlformats.org/package/2006/relationships"><Relationship Id="rId3" Type="http://schemas.openxmlformats.org/officeDocument/2006/relationships/slideLayout" Target="../slideLayouts/slideLayout23.xml"/><Relationship Id="rId2" Type="http://schemas.openxmlformats.org/officeDocument/2006/relationships/image" Target="../media/image4.png"/><Relationship Id="rId1" Type="http://schemas.openxmlformats.org/officeDocument/2006/relationships/image" Target="../media/image3.jpeg"/></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4.xml"/></Relationships>
</file>

<file path=ppt/slides/_rels/slide134.xml.rels><?xml version="1.0" encoding="UTF-8" standalone="yes"?>
<Relationships xmlns="http://schemas.openxmlformats.org/package/2006/relationships"><Relationship Id="rId7" Type="http://schemas.openxmlformats.org/officeDocument/2006/relationships/notesSlide" Target="../notesSlides/notesSlide3.xml"/><Relationship Id="rId6" Type="http://schemas.openxmlformats.org/officeDocument/2006/relationships/slideLayout" Target="../slideLayouts/slideLayout29.xml"/><Relationship Id="rId5" Type="http://schemas.openxmlformats.org/officeDocument/2006/relationships/image" Target="../media/image157.png"/><Relationship Id="rId4" Type="http://schemas.openxmlformats.org/officeDocument/2006/relationships/image" Target="../media/image156.png"/><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image" Target="../media/image153.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8.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58.GIF"/></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1.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59.png"/></Relationships>
</file>

<file path=ppt/slides/_rels/slide152.xml.rels><?xml version="1.0" encoding="UTF-8" standalone="yes"?>
<Relationships xmlns="http://schemas.openxmlformats.org/package/2006/relationships"><Relationship Id="rId3" Type="http://schemas.openxmlformats.org/officeDocument/2006/relationships/slideLayout" Target="../slideLayouts/slideLayout29.xml"/><Relationship Id="rId2" Type="http://schemas.openxmlformats.org/officeDocument/2006/relationships/image" Target="../media/image161.png"/><Relationship Id="rId1" Type="http://schemas.openxmlformats.org/officeDocument/2006/relationships/image" Target="../media/image160.png"/></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6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5.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63.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7.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64.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9.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65.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4.xml.rels><?xml version="1.0" encoding="UTF-8" standalone="yes"?>
<Relationships xmlns="http://schemas.openxmlformats.org/package/2006/relationships"><Relationship Id="rId6" Type="http://schemas.openxmlformats.org/officeDocument/2006/relationships/vmlDrawing" Target="../drawings/vmlDrawing49.vml"/><Relationship Id="rId5" Type="http://schemas.openxmlformats.org/officeDocument/2006/relationships/slideLayout" Target="../slideLayouts/slideLayout29.xml"/><Relationship Id="rId4" Type="http://schemas.openxmlformats.org/officeDocument/2006/relationships/image" Target="../media/image167.wmf"/><Relationship Id="rId3" Type="http://schemas.openxmlformats.org/officeDocument/2006/relationships/oleObject" Target="../embeddings/oleObject138.bin"/><Relationship Id="rId2" Type="http://schemas.openxmlformats.org/officeDocument/2006/relationships/image" Target="../media/image166.wmf"/><Relationship Id="rId1" Type="http://schemas.openxmlformats.org/officeDocument/2006/relationships/oleObject" Target="../embeddings/oleObject137.bin"/></Relationships>
</file>

<file path=ppt/slides/_rels/slide165.xml.rels><?xml version="1.0" encoding="UTF-8" standalone="yes"?>
<Relationships xmlns="http://schemas.openxmlformats.org/package/2006/relationships"><Relationship Id="rId4" Type="http://schemas.openxmlformats.org/officeDocument/2006/relationships/vmlDrawing" Target="../drawings/vmlDrawing50.vml"/><Relationship Id="rId3" Type="http://schemas.openxmlformats.org/officeDocument/2006/relationships/slideLayout" Target="../slideLayouts/slideLayout29.xml"/><Relationship Id="rId2" Type="http://schemas.openxmlformats.org/officeDocument/2006/relationships/image" Target="../media/image168.wmf"/><Relationship Id="rId1" Type="http://schemas.openxmlformats.org/officeDocument/2006/relationships/oleObject" Target="../embeddings/oleObject139.bin"/></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68.xml.rels><?xml version="1.0" encoding="UTF-8" standalone="yes"?>
<Relationships xmlns="http://schemas.openxmlformats.org/package/2006/relationships"><Relationship Id="rId6" Type="http://schemas.openxmlformats.org/officeDocument/2006/relationships/vmlDrawing" Target="../drawings/vmlDrawing51.vml"/><Relationship Id="rId5" Type="http://schemas.openxmlformats.org/officeDocument/2006/relationships/slideLayout" Target="../slideLayouts/slideLayout29.xml"/><Relationship Id="rId4" Type="http://schemas.openxmlformats.org/officeDocument/2006/relationships/image" Target="../media/image170.wmf"/><Relationship Id="rId3" Type="http://schemas.openxmlformats.org/officeDocument/2006/relationships/oleObject" Target="../embeddings/oleObject141.bin"/><Relationship Id="rId2" Type="http://schemas.openxmlformats.org/officeDocument/2006/relationships/image" Target="../media/image169.wmf"/><Relationship Id="rId1" Type="http://schemas.openxmlformats.org/officeDocument/2006/relationships/oleObject" Target="../embeddings/oleObject140.bin"/></Relationships>
</file>

<file path=ppt/slides/_rels/slide169.xml.rels><?xml version="1.0" encoding="UTF-8" standalone="yes"?>
<Relationships xmlns="http://schemas.openxmlformats.org/package/2006/relationships"><Relationship Id="rId6" Type="http://schemas.openxmlformats.org/officeDocument/2006/relationships/vmlDrawing" Target="../drawings/vmlDrawing52.vml"/><Relationship Id="rId5" Type="http://schemas.openxmlformats.org/officeDocument/2006/relationships/slideLayout" Target="../slideLayouts/slideLayout29.xml"/><Relationship Id="rId4" Type="http://schemas.openxmlformats.org/officeDocument/2006/relationships/image" Target="../media/image172.wmf"/><Relationship Id="rId3" Type="http://schemas.openxmlformats.org/officeDocument/2006/relationships/oleObject" Target="../embeddings/oleObject143.bin"/><Relationship Id="rId2" Type="http://schemas.openxmlformats.org/officeDocument/2006/relationships/image" Target="../media/image171.wmf"/><Relationship Id="rId1" Type="http://schemas.openxmlformats.org/officeDocument/2006/relationships/oleObject" Target="../embeddings/oleObject142.bin"/></Relationships>
</file>

<file path=ppt/slides/_rels/slide170.xml.rels><?xml version="1.0" encoding="UTF-8" standalone="yes"?>
<Relationships xmlns="http://schemas.openxmlformats.org/package/2006/relationships"><Relationship Id="rId4" Type="http://schemas.openxmlformats.org/officeDocument/2006/relationships/vmlDrawing" Target="../drawings/vmlDrawing53.vml"/><Relationship Id="rId3" Type="http://schemas.openxmlformats.org/officeDocument/2006/relationships/slideLayout" Target="../slideLayouts/slideLayout29.xml"/><Relationship Id="rId2" Type="http://schemas.openxmlformats.org/officeDocument/2006/relationships/image" Target="../media/image173.wmf"/><Relationship Id="rId1" Type="http://schemas.openxmlformats.org/officeDocument/2006/relationships/oleObject" Target="../embeddings/oleObject144.bin"/></Relationships>
</file>

<file path=ppt/slides/_rels/slide171.xml.rels><?xml version="1.0" encoding="UTF-8" standalone="yes"?>
<Relationships xmlns="http://schemas.openxmlformats.org/package/2006/relationships"><Relationship Id="rId4" Type="http://schemas.openxmlformats.org/officeDocument/2006/relationships/vmlDrawing" Target="../drawings/vmlDrawing54.vml"/><Relationship Id="rId3" Type="http://schemas.openxmlformats.org/officeDocument/2006/relationships/slideLayout" Target="../slideLayouts/slideLayout29.xml"/><Relationship Id="rId2" Type="http://schemas.openxmlformats.org/officeDocument/2006/relationships/image" Target="../media/image174.wmf"/><Relationship Id="rId1" Type="http://schemas.openxmlformats.org/officeDocument/2006/relationships/oleObject" Target="../embeddings/oleObject145.bin"/></Relationships>
</file>

<file path=ppt/slides/_rels/slide172.xml.rels><?xml version="1.0" encoding="UTF-8" standalone="yes"?>
<Relationships xmlns="http://schemas.openxmlformats.org/package/2006/relationships"><Relationship Id="rId4" Type="http://schemas.openxmlformats.org/officeDocument/2006/relationships/vmlDrawing" Target="../drawings/vmlDrawing55.vml"/><Relationship Id="rId3" Type="http://schemas.openxmlformats.org/officeDocument/2006/relationships/slideLayout" Target="../slideLayouts/slideLayout29.xml"/><Relationship Id="rId2" Type="http://schemas.openxmlformats.org/officeDocument/2006/relationships/image" Target="../media/image175.wmf"/><Relationship Id="rId1" Type="http://schemas.openxmlformats.org/officeDocument/2006/relationships/oleObject" Target="../embeddings/oleObject146.bin"/></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4.xml.rels><?xml version="1.0" encoding="UTF-8" standalone="yes"?>
<Relationships xmlns="http://schemas.openxmlformats.org/package/2006/relationships"><Relationship Id="rId9" Type="http://schemas.openxmlformats.org/officeDocument/2006/relationships/slideLayout" Target="../slideLayouts/slideLayout34.xml"/><Relationship Id="rId8" Type="http://schemas.openxmlformats.org/officeDocument/2006/relationships/image" Target="../media/image179.wmf"/><Relationship Id="rId7" Type="http://schemas.openxmlformats.org/officeDocument/2006/relationships/oleObject" Target="../embeddings/oleObject150.bin"/><Relationship Id="rId6" Type="http://schemas.openxmlformats.org/officeDocument/2006/relationships/image" Target="../media/image178.wmf"/><Relationship Id="rId5" Type="http://schemas.openxmlformats.org/officeDocument/2006/relationships/oleObject" Target="../embeddings/oleObject149.bin"/><Relationship Id="rId4" Type="http://schemas.openxmlformats.org/officeDocument/2006/relationships/image" Target="../media/image177.wmf"/><Relationship Id="rId3" Type="http://schemas.openxmlformats.org/officeDocument/2006/relationships/oleObject" Target="../embeddings/oleObject148.bin"/><Relationship Id="rId2" Type="http://schemas.openxmlformats.org/officeDocument/2006/relationships/image" Target="../media/image176.wmf"/><Relationship Id="rId10" Type="http://schemas.openxmlformats.org/officeDocument/2006/relationships/vmlDrawing" Target="../drawings/vmlDrawing56.vml"/><Relationship Id="rId1" Type="http://schemas.openxmlformats.org/officeDocument/2006/relationships/oleObject" Target="../embeddings/oleObject147.bin"/></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86.xml.rels><?xml version="1.0" encoding="UTF-8" standalone="yes"?>
<Relationships xmlns="http://schemas.openxmlformats.org/package/2006/relationships"><Relationship Id="rId6" Type="http://schemas.openxmlformats.org/officeDocument/2006/relationships/vmlDrawing" Target="../drawings/vmlDrawing57.vml"/><Relationship Id="rId5" Type="http://schemas.openxmlformats.org/officeDocument/2006/relationships/slideLayout" Target="../slideLayouts/slideLayout26.xml"/><Relationship Id="rId4" Type="http://schemas.openxmlformats.org/officeDocument/2006/relationships/image" Target="../media/image181.wmf"/><Relationship Id="rId3" Type="http://schemas.openxmlformats.org/officeDocument/2006/relationships/oleObject" Target="../embeddings/oleObject152.bin"/><Relationship Id="rId2" Type="http://schemas.openxmlformats.org/officeDocument/2006/relationships/image" Target="../media/image180.wmf"/><Relationship Id="rId1" Type="http://schemas.openxmlformats.org/officeDocument/2006/relationships/oleObject" Target="../embeddings/oleObject151.bin"/></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89.xml.rels><?xml version="1.0" encoding="UTF-8" standalone="yes"?>
<Relationships xmlns="http://schemas.openxmlformats.org/package/2006/relationships"><Relationship Id="rId4" Type="http://schemas.openxmlformats.org/officeDocument/2006/relationships/vmlDrawing" Target="../drawings/vmlDrawing58.vml"/><Relationship Id="rId3" Type="http://schemas.openxmlformats.org/officeDocument/2006/relationships/slideLayout" Target="../slideLayouts/slideLayout26.xml"/><Relationship Id="rId2" Type="http://schemas.openxmlformats.org/officeDocument/2006/relationships/image" Target="../media/image182.emf"/><Relationship Id="rId1" Type="http://schemas.openxmlformats.org/officeDocument/2006/relationships/oleObject" Target="../embeddings/oleObject153.bin"/></Relationships>
</file>

<file path=ppt/slides/_rels/slide190.xml.rels><?xml version="1.0" encoding="UTF-8" standalone="yes"?>
<Relationships xmlns="http://schemas.openxmlformats.org/package/2006/relationships"><Relationship Id="rId3" Type="http://schemas.openxmlformats.org/officeDocument/2006/relationships/slideLayout" Target="../slideLayouts/slideLayout36.xml"/><Relationship Id="rId2" Type="http://schemas.openxmlformats.org/officeDocument/2006/relationships/image" Target="../media/image4.png"/><Relationship Id="rId1" Type="http://schemas.openxmlformats.org/officeDocument/2006/relationships/image" Target="../media/image3.jpeg"/></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7.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7.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96.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186.wmf"/><Relationship Id="rId7" Type="http://schemas.openxmlformats.org/officeDocument/2006/relationships/oleObject" Target="../embeddings/oleObject157.bin"/><Relationship Id="rId6" Type="http://schemas.openxmlformats.org/officeDocument/2006/relationships/image" Target="../media/image185.wmf"/><Relationship Id="rId5" Type="http://schemas.openxmlformats.org/officeDocument/2006/relationships/oleObject" Target="../embeddings/oleObject156.bin"/><Relationship Id="rId4" Type="http://schemas.openxmlformats.org/officeDocument/2006/relationships/image" Target="../media/image184.wmf"/><Relationship Id="rId3" Type="http://schemas.openxmlformats.org/officeDocument/2006/relationships/oleObject" Target="../embeddings/oleObject155.bin"/><Relationship Id="rId2" Type="http://schemas.openxmlformats.org/officeDocument/2006/relationships/image" Target="../media/image183.wmf"/><Relationship Id="rId10" Type="http://schemas.openxmlformats.org/officeDocument/2006/relationships/vmlDrawing" Target="../drawings/vmlDrawing59.vml"/><Relationship Id="rId1" Type="http://schemas.openxmlformats.org/officeDocument/2006/relationships/oleObject" Target="../embeddings/oleObject154.bin"/></Relationships>
</file>

<file path=ppt/slides/_rels/slide197.xml.rels><?xml version="1.0" encoding="UTF-8" standalone="yes"?>
<Relationships xmlns="http://schemas.openxmlformats.org/package/2006/relationships"><Relationship Id="rId9" Type="http://schemas.openxmlformats.org/officeDocument/2006/relationships/oleObject" Target="../embeddings/oleObject162.bin"/><Relationship Id="rId8" Type="http://schemas.openxmlformats.org/officeDocument/2006/relationships/image" Target="../media/image190.wmf"/><Relationship Id="rId7" Type="http://schemas.openxmlformats.org/officeDocument/2006/relationships/oleObject" Target="../embeddings/oleObject161.bin"/><Relationship Id="rId6" Type="http://schemas.openxmlformats.org/officeDocument/2006/relationships/image" Target="../media/image189.wmf"/><Relationship Id="rId5" Type="http://schemas.openxmlformats.org/officeDocument/2006/relationships/oleObject" Target="../embeddings/oleObject160.bin"/><Relationship Id="rId4" Type="http://schemas.openxmlformats.org/officeDocument/2006/relationships/image" Target="../media/image188.wmf"/><Relationship Id="rId3" Type="http://schemas.openxmlformats.org/officeDocument/2006/relationships/oleObject" Target="../embeddings/oleObject159.bin"/><Relationship Id="rId2" Type="http://schemas.openxmlformats.org/officeDocument/2006/relationships/image" Target="../media/image187.wmf"/><Relationship Id="rId12" Type="http://schemas.openxmlformats.org/officeDocument/2006/relationships/vmlDrawing" Target="../drawings/vmlDrawing60.vml"/><Relationship Id="rId11" Type="http://schemas.openxmlformats.org/officeDocument/2006/relationships/slideLayout" Target="../slideLayouts/slideLayout42.xml"/><Relationship Id="rId10" Type="http://schemas.openxmlformats.org/officeDocument/2006/relationships/image" Target="../media/image191.wmf"/><Relationship Id="rId1" Type="http://schemas.openxmlformats.org/officeDocument/2006/relationships/oleObject" Target="../embeddings/oleObject158.bin"/></Relationships>
</file>

<file path=ppt/slides/_rels/slide198.xml.rels><?xml version="1.0" encoding="UTF-8" standalone="yes"?>
<Relationships xmlns="http://schemas.openxmlformats.org/package/2006/relationships"><Relationship Id="rId6" Type="http://schemas.openxmlformats.org/officeDocument/2006/relationships/vmlDrawing" Target="../drawings/vmlDrawing61.vml"/><Relationship Id="rId5" Type="http://schemas.openxmlformats.org/officeDocument/2006/relationships/slideLayout" Target="../slideLayouts/slideLayout42.xml"/><Relationship Id="rId4" Type="http://schemas.openxmlformats.org/officeDocument/2006/relationships/image" Target="../media/image192.wmf"/><Relationship Id="rId3" Type="http://schemas.openxmlformats.org/officeDocument/2006/relationships/oleObject" Target="../embeddings/oleObject164.bin"/><Relationship Id="rId2" Type="http://schemas.openxmlformats.org/officeDocument/2006/relationships/image" Target="../media/image187.wmf"/><Relationship Id="rId1" Type="http://schemas.openxmlformats.org/officeDocument/2006/relationships/oleObject" Target="../embeddings/oleObject163.bin"/></Relationships>
</file>

<file path=ppt/slides/_rels/slide199.xml.rels><?xml version="1.0" encoding="UTF-8" standalone="yes"?>
<Relationships xmlns="http://schemas.openxmlformats.org/package/2006/relationships"><Relationship Id="rId6" Type="http://schemas.openxmlformats.org/officeDocument/2006/relationships/vmlDrawing" Target="../drawings/vmlDrawing62.vml"/><Relationship Id="rId5" Type="http://schemas.openxmlformats.org/officeDocument/2006/relationships/slideLayout" Target="../slideLayouts/slideLayout42.xml"/><Relationship Id="rId4" Type="http://schemas.openxmlformats.org/officeDocument/2006/relationships/image" Target="../media/image194.wmf"/><Relationship Id="rId3" Type="http://schemas.openxmlformats.org/officeDocument/2006/relationships/oleObject" Target="../embeddings/oleObject166.bin"/><Relationship Id="rId2" Type="http://schemas.openxmlformats.org/officeDocument/2006/relationships/image" Target="../media/image193.wmf"/><Relationship Id="rId1" Type="http://schemas.openxmlformats.org/officeDocument/2006/relationships/oleObject" Target="../embeddings/oleObject165.bin"/></Relationships>
</file>

<file path=ppt/slides/_rels/slide200.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195.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2.xml.rels><?xml version="1.0" encoding="UTF-8" standalone="yes"?>
<Relationships xmlns="http://schemas.openxmlformats.org/package/2006/relationships"><Relationship Id="rId4" Type="http://schemas.openxmlformats.org/officeDocument/2006/relationships/vmlDrawing" Target="../drawings/vmlDrawing63.vml"/><Relationship Id="rId3" Type="http://schemas.openxmlformats.org/officeDocument/2006/relationships/slideLayout" Target="../slideLayouts/slideLayout42.xml"/><Relationship Id="rId2" Type="http://schemas.openxmlformats.org/officeDocument/2006/relationships/image" Target="../media/image196.wmf"/><Relationship Id="rId1" Type="http://schemas.openxmlformats.org/officeDocument/2006/relationships/oleObject" Target="../embeddings/oleObject167.bin"/></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4.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197.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6.xml.rels><?xml version="1.0" encoding="UTF-8" standalone="yes"?>
<Relationships xmlns="http://schemas.openxmlformats.org/package/2006/relationships"><Relationship Id="rId4" Type="http://schemas.openxmlformats.org/officeDocument/2006/relationships/vmlDrawing" Target="../drawings/vmlDrawing64.vml"/><Relationship Id="rId3" Type="http://schemas.openxmlformats.org/officeDocument/2006/relationships/slideLayout" Target="../slideLayouts/slideLayout42.xml"/><Relationship Id="rId2" Type="http://schemas.openxmlformats.org/officeDocument/2006/relationships/image" Target="../media/image198.wmf"/><Relationship Id="rId1" Type="http://schemas.openxmlformats.org/officeDocument/2006/relationships/oleObject" Target="../embeddings/oleObject168.bin"/></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0.xml.rels><?xml version="1.0" encoding="UTF-8" standalone="yes"?>
<Relationships xmlns="http://schemas.openxmlformats.org/package/2006/relationships"><Relationship Id="rId4" Type="http://schemas.openxmlformats.org/officeDocument/2006/relationships/vmlDrawing" Target="../drawings/vmlDrawing65.vml"/><Relationship Id="rId3" Type="http://schemas.openxmlformats.org/officeDocument/2006/relationships/slideLayout" Target="../slideLayouts/slideLayout42.xml"/><Relationship Id="rId2" Type="http://schemas.openxmlformats.org/officeDocument/2006/relationships/image" Target="../media/image199.wmf"/><Relationship Id="rId1" Type="http://schemas.openxmlformats.org/officeDocument/2006/relationships/oleObject" Target="../embeddings/oleObject169.bin"/></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27.xml.rels><?xml version="1.0" encoding="UTF-8" standalone="yes"?>
<Relationships xmlns="http://schemas.openxmlformats.org/package/2006/relationships"><Relationship Id="rId6" Type="http://schemas.openxmlformats.org/officeDocument/2006/relationships/vmlDrawing" Target="../drawings/vmlDrawing66.vml"/><Relationship Id="rId5" Type="http://schemas.openxmlformats.org/officeDocument/2006/relationships/slideLayout" Target="../slideLayouts/slideLayout42.xml"/><Relationship Id="rId4" Type="http://schemas.openxmlformats.org/officeDocument/2006/relationships/image" Target="../media/image201.emf"/><Relationship Id="rId3" Type="http://schemas.openxmlformats.org/officeDocument/2006/relationships/oleObject" Target="../embeddings/oleObject171.bin"/><Relationship Id="rId2" Type="http://schemas.openxmlformats.org/officeDocument/2006/relationships/image" Target="../media/image200.emf"/><Relationship Id="rId1" Type="http://schemas.openxmlformats.org/officeDocument/2006/relationships/oleObject" Target="../embeddings/oleObject170.bin"/></Relationships>
</file>

<file path=ppt/slides/_rels/slide228.xml.rels><?xml version="1.0" encoding="UTF-8" standalone="yes"?>
<Relationships xmlns="http://schemas.openxmlformats.org/package/2006/relationships"><Relationship Id="rId8" Type="http://schemas.openxmlformats.org/officeDocument/2006/relationships/vmlDrawing" Target="../drawings/vmlDrawing67.vml"/><Relationship Id="rId7" Type="http://schemas.openxmlformats.org/officeDocument/2006/relationships/slideLayout" Target="../slideLayouts/slideLayout42.xml"/><Relationship Id="rId6" Type="http://schemas.openxmlformats.org/officeDocument/2006/relationships/image" Target="../media/image204.emf"/><Relationship Id="rId5" Type="http://schemas.openxmlformats.org/officeDocument/2006/relationships/oleObject" Target="../embeddings/oleObject174.bin"/><Relationship Id="rId4" Type="http://schemas.openxmlformats.org/officeDocument/2006/relationships/image" Target="../media/image203.emf"/><Relationship Id="rId3" Type="http://schemas.openxmlformats.org/officeDocument/2006/relationships/oleObject" Target="../embeddings/oleObject173.bin"/><Relationship Id="rId2" Type="http://schemas.openxmlformats.org/officeDocument/2006/relationships/image" Target="../media/image202.emf"/><Relationship Id="rId1" Type="http://schemas.openxmlformats.org/officeDocument/2006/relationships/oleObject" Target="../embeddings/oleObject172.bin"/></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30.xml.rels><?xml version="1.0" encoding="UTF-8" standalone="yes"?>
<Relationships xmlns="http://schemas.openxmlformats.org/package/2006/relationships"><Relationship Id="rId6" Type="http://schemas.openxmlformats.org/officeDocument/2006/relationships/vmlDrawing" Target="../drawings/vmlDrawing68.vml"/><Relationship Id="rId5" Type="http://schemas.openxmlformats.org/officeDocument/2006/relationships/slideLayout" Target="../slideLayouts/slideLayout42.xml"/><Relationship Id="rId4" Type="http://schemas.openxmlformats.org/officeDocument/2006/relationships/image" Target="../media/image206.wmf"/><Relationship Id="rId3" Type="http://schemas.openxmlformats.org/officeDocument/2006/relationships/oleObject" Target="../embeddings/oleObject176.bin"/><Relationship Id="rId2" Type="http://schemas.openxmlformats.org/officeDocument/2006/relationships/image" Target="../media/image205.emf"/><Relationship Id="rId1" Type="http://schemas.openxmlformats.org/officeDocument/2006/relationships/oleObject" Target="../embeddings/oleObject175.bin"/></Relationships>
</file>

<file path=ppt/slides/_rels/slide231.xml.rels><?xml version="1.0" encoding="UTF-8" standalone="yes"?>
<Relationships xmlns="http://schemas.openxmlformats.org/package/2006/relationships"><Relationship Id="rId4" Type="http://schemas.openxmlformats.org/officeDocument/2006/relationships/vmlDrawing" Target="../drawings/vmlDrawing69.vml"/><Relationship Id="rId3" Type="http://schemas.openxmlformats.org/officeDocument/2006/relationships/slideLayout" Target="../slideLayouts/slideLayout42.xml"/><Relationship Id="rId2" Type="http://schemas.openxmlformats.org/officeDocument/2006/relationships/image" Target="../media/image207.wmf"/><Relationship Id="rId1" Type="http://schemas.openxmlformats.org/officeDocument/2006/relationships/oleObject" Target="../embeddings/oleObject177.bin"/></Relationships>
</file>

<file path=ppt/slides/_rels/slide232.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210.wmf"/><Relationship Id="rId7" Type="http://schemas.openxmlformats.org/officeDocument/2006/relationships/oleObject" Target="../embeddings/oleObject181.bin"/><Relationship Id="rId6" Type="http://schemas.openxmlformats.org/officeDocument/2006/relationships/image" Target="../media/image209.wmf"/><Relationship Id="rId5" Type="http://schemas.openxmlformats.org/officeDocument/2006/relationships/oleObject" Target="../embeddings/oleObject180.bin"/><Relationship Id="rId4" Type="http://schemas.openxmlformats.org/officeDocument/2006/relationships/image" Target="../media/image208.wmf"/><Relationship Id="rId3" Type="http://schemas.openxmlformats.org/officeDocument/2006/relationships/oleObject" Target="../embeddings/oleObject179.bin"/><Relationship Id="rId2" Type="http://schemas.openxmlformats.org/officeDocument/2006/relationships/image" Target="../media/image205.emf"/><Relationship Id="rId10" Type="http://schemas.openxmlformats.org/officeDocument/2006/relationships/vmlDrawing" Target="../drawings/vmlDrawing70.vml"/><Relationship Id="rId1" Type="http://schemas.openxmlformats.org/officeDocument/2006/relationships/oleObject" Target="../embeddings/oleObject178.bin"/></Relationships>
</file>

<file path=ppt/slides/_rels/slide233.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213.wmf"/><Relationship Id="rId7" Type="http://schemas.openxmlformats.org/officeDocument/2006/relationships/oleObject" Target="../embeddings/oleObject185.bin"/><Relationship Id="rId6" Type="http://schemas.openxmlformats.org/officeDocument/2006/relationships/image" Target="../media/image212.wmf"/><Relationship Id="rId5" Type="http://schemas.openxmlformats.org/officeDocument/2006/relationships/oleObject" Target="../embeddings/oleObject184.bin"/><Relationship Id="rId4" Type="http://schemas.openxmlformats.org/officeDocument/2006/relationships/image" Target="../media/image211.wmf"/><Relationship Id="rId3" Type="http://schemas.openxmlformats.org/officeDocument/2006/relationships/oleObject" Target="../embeddings/oleObject183.bin"/><Relationship Id="rId2" Type="http://schemas.openxmlformats.org/officeDocument/2006/relationships/image" Target="../media/image205.emf"/><Relationship Id="rId10" Type="http://schemas.openxmlformats.org/officeDocument/2006/relationships/vmlDrawing" Target="../drawings/vmlDrawing71.vml"/><Relationship Id="rId1" Type="http://schemas.openxmlformats.org/officeDocument/2006/relationships/oleObject" Target="../embeddings/oleObject182.bin"/></Relationships>
</file>

<file path=ppt/slides/_rels/slide234.xml.rels><?xml version="1.0" encoding="UTF-8" standalone="yes"?>
<Relationships xmlns="http://schemas.openxmlformats.org/package/2006/relationships"><Relationship Id="rId6" Type="http://schemas.openxmlformats.org/officeDocument/2006/relationships/vmlDrawing" Target="../drawings/vmlDrawing72.vml"/><Relationship Id="rId5" Type="http://schemas.openxmlformats.org/officeDocument/2006/relationships/slideLayout" Target="../slideLayouts/slideLayout42.xml"/><Relationship Id="rId4" Type="http://schemas.openxmlformats.org/officeDocument/2006/relationships/image" Target="../media/image214.wmf"/><Relationship Id="rId3" Type="http://schemas.openxmlformats.org/officeDocument/2006/relationships/oleObject" Target="../embeddings/oleObject187.bin"/><Relationship Id="rId2" Type="http://schemas.openxmlformats.org/officeDocument/2006/relationships/image" Target="../media/image205.emf"/><Relationship Id="rId1" Type="http://schemas.openxmlformats.org/officeDocument/2006/relationships/oleObject" Target="../embeddings/oleObject186.bin"/></Relationships>
</file>

<file path=ppt/slides/_rels/slide235.xml.rels><?xml version="1.0" encoding="UTF-8" standalone="yes"?>
<Relationships xmlns="http://schemas.openxmlformats.org/package/2006/relationships"><Relationship Id="rId6" Type="http://schemas.openxmlformats.org/officeDocument/2006/relationships/vmlDrawing" Target="../drawings/vmlDrawing73.vml"/><Relationship Id="rId5" Type="http://schemas.openxmlformats.org/officeDocument/2006/relationships/slideLayout" Target="../slideLayouts/slideLayout42.xml"/><Relationship Id="rId4" Type="http://schemas.openxmlformats.org/officeDocument/2006/relationships/image" Target="../media/image215.wmf"/><Relationship Id="rId3" Type="http://schemas.openxmlformats.org/officeDocument/2006/relationships/oleObject" Target="../embeddings/oleObject189.bin"/><Relationship Id="rId2" Type="http://schemas.openxmlformats.org/officeDocument/2006/relationships/image" Target="../media/image205.emf"/><Relationship Id="rId1" Type="http://schemas.openxmlformats.org/officeDocument/2006/relationships/oleObject" Target="../embeddings/oleObject188.bin"/></Relationships>
</file>

<file path=ppt/slides/_rels/slide236.xml.rels><?xml version="1.0" encoding="UTF-8" standalone="yes"?>
<Relationships xmlns="http://schemas.openxmlformats.org/package/2006/relationships"><Relationship Id="rId6" Type="http://schemas.openxmlformats.org/officeDocument/2006/relationships/vmlDrawing" Target="../drawings/vmlDrawing74.vml"/><Relationship Id="rId5" Type="http://schemas.openxmlformats.org/officeDocument/2006/relationships/slideLayout" Target="../slideLayouts/slideLayout42.xml"/><Relationship Id="rId4" Type="http://schemas.openxmlformats.org/officeDocument/2006/relationships/image" Target="../media/image216.wmf"/><Relationship Id="rId3" Type="http://schemas.openxmlformats.org/officeDocument/2006/relationships/oleObject" Target="../embeddings/oleObject191.bin"/><Relationship Id="rId2" Type="http://schemas.openxmlformats.org/officeDocument/2006/relationships/image" Target="../media/image205.emf"/><Relationship Id="rId1" Type="http://schemas.openxmlformats.org/officeDocument/2006/relationships/oleObject" Target="../embeddings/oleObject190.bin"/></Relationships>
</file>

<file path=ppt/slides/_rels/slide237.xml.rels><?xml version="1.0" encoding="UTF-8" standalone="yes"?>
<Relationships xmlns="http://schemas.openxmlformats.org/package/2006/relationships"><Relationship Id="rId3" Type="http://schemas.openxmlformats.org/officeDocument/2006/relationships/slideLayout" Target="../slideLayouts/slideLayout36.xml"/><Relationship Id="rId2" Type="http://schemas.openxmlformats.org/officeDocument/2006/relationships/image" Target="../media/image4.png"/><Relationship Id="rId1" Type="http://schemas.openxmlformats.org/officeDocument/2006/relationships/image" Target="../media/image3.jpeg"/></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1.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17.png"/></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17.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49.xml.rels><?xml version="1.0" encoding="UTF-8" standalone="yes"?>
<Relationships xmlns="http://schemas.openxmlformats.org/package/2006/relationships"><Relationship Id="rId4" Type="http://schemas.openxmlformats.org/officeDocument/2006/relationships/vmlDrawing" Target="../drawings/vmlDrawing75.vml"/><Relationship Id="rId3" Type="http://schemas.openxmlformats.org/officeDocument/2006/relationships/slideLayout" Target="../slideLayouts/slideLayout42.xml"/><Relationship Id="rId2" Type="http://schemas.openxmlformats.org/officeDocument/2006/relationships/image" Target="../media/image218.wmf"/><Relationship Id="rId1" Type="http://schemas.openxmlformats.org/officeDocument/2006/relationships/oleObject" Target="../embeddings/oleObject192.bin"/></Relationships>
</file>

<file path=ppt/slides/_rels/slide250.xml.rels><?xml version="1.0" encoding="UTF-8" standalone="yes"?>
<Relationships xmlns="http://schemas.openxmlformats.org/package/2006/relationships"><Relationship Id="rId4" Type="http://schemas.openxmlformats.org/officeDocument/2006/relationships/vmlDrawing" Target="../drawings/vmlDrawing76.vml"/><Relationship Id="rId3" Type="http://schemas.openxmlformats.org/officeDocument/2006/relationships/slideLayout" Target="../slideLayouts/slideLayout42.xml"/><Relationship Id="rId2" Type="http://schemas.openxmlformats.org/officeDocument/2006/relationships/image" Target="../media/image219.wmf"/><Relationship Id="rId1" Type="http://schemas.openxmlformats.org/officeDocument/2006/relationships/oleObject" Target="../embeddings/oleObject193.bin"/></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6.xml.rels><?xml version="1.0" encoding="UTF-8" standalone="yes"?>
<Relationships xmlns="http://schemas.openxmlformats.org/package/2006/relationships"><Relationship Id="rId4" Type="http://schemas.openxmlformats.org/officeDocument/2006/relationships/vmlDrawing" Target="../drawings/vmlDrawing77.vml"/><Relationship Id="rId3" Type="http://schemas.openxmlformats.org/officeDocument/2006/relationships/slideLayout" Target="../slideLayouts/slideLayout42.xml"/><Relationship Id="rId2" Type="http://schemas.openxmlformats.org/officeDocument/2006/relationships/image" Target="../media/image220.wmf"/><Relationship Id="rId1" Type="http://schemas.openxmlformats.org/officeDocument/2006/relationships/oleObject" Target="../embeddings/oleObject194.bin"/></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62.xml.rels><?xml version="1.0" encoding="UTF-8" standalone="yes"?>
<Relationships xmlns="http://schemas.openxmlformats.org/package/2006/relationships"><Relationship Id="rId6" Type="http://schemas.openxmlformats.org/officeDocument/2006/relationships/vmlDrawing" Target="../drawings/vmlDrawing78.vml"/><Relationship Id="rId5" Type="http://schemas.openxmlformats.org/officeDocument/2006/relationships/slideLayout" Target="../slideLayouts/slideLayout42.xml"/><Relationship Id="rId4" Type="http://schemas.openxmlformats.org/officeDocument/2006/relationships/image" Target="../media/image222.wmf"/><Relationship Id="rId3" Type="http://schemas.openxmlformats.org/officeDocument/2006/relationships/oleObject" Target="../embeddings/oleObject196.bin"/><Relationship Id="rId2" Type="http://schemas.openxmlformats.org/officeDocument/2006/relationships/image" Target="../media/image221.wmf"/><Relationship Id="rId1" Type="http://schemas.openxmlformats.org/officeDocument/2006/relationships/oleObject" Target="../embeddings/oleObject195.bin"/></Relationships>
</file>

<file path=ppt/slides/_rels/slide263.xml.rels><?xml version="1.0" encoding="UTF-8" standalone="yes"?>
<Relationships xmlns="http://schemas.openxmlformats.org/package/2006/relationships"><Relationship Id="rId6" Type="http://schemas.openxmlformats.org/officeDocument/2006/relationships/vmlDrawing" Target="../drawings/vmlDrawing79.vml"/><Relationship Id="rId5" Type="http://schemas.openxmlformats.org/officeDocument/2006/relationships/slideLayout" Target="../slideLayouts/slideLayout42.xml"/><Relationship Id="rId4" Type="http://schemas.openxmlformats.org/officeDocument/2006/relationships/image" Target="../media/image224.wmf"/><Relationship Id="rId3" Type="http://schemas.openxmlformats.org/officeDocument/2006/relationships/oleObject" Target="../embeddings/oleObject198.bin"/><Relationship Id="rId2" Type="http://schemas.openxmlformats.org/officeDocument/2006/relationships/image" Target="../media/image223.wmf"/><Relationship Id="rId1" Type="http://schemas.openxmlformats.org/officeDocument/2006/relationships/oleObject" Target="../embeddings/oleObject197.bin"/></Relationships>
</file>

<file path=ppt/slides/_rels/slide264.xml.rels><?xml version="1.0" encoding="UTF-8" standalone="yes"?>
<Relationships xmlns="http://schemas.openxmlformats.org/package/2006/relationships"><Relationship Id="rId6" Type="http://schemas.openxmlformats.org/officeDocument/2006/relationships/vmlDrawing" Target="../drawings/vmlDrawing80.vml"/><Relationship Id="rId5" Type="http://schemas.openxmlformats.org/officeDocument/2006/relationships/slideLayout" Target="../slideLayouts/slideLayout42.xml"/><Relationship Id="rId4" Type="http://schemas.openxmlformats.org/officeDocument/2006/relationships/image" Target="../media/image226.wmf"/><Relationship Id="rId3" Type="http://schemas.openxmlformats.org/officeDocument/2006/relationships/oleObject" Target="../embeddings/oleObject200.bin"/><Relationship Id="rId2" Type="http://schemas.openxmlformats.org/officeDocument/2006/relationships/image" Target="../media/image225.wmf"/><Relationship Id="rId1" Type="http://schemas.openxmlformats.org/officeDocument/2006/relationships/oleObject" Target="../embeddings/oleObject199.bin"/></Relationships>
</file>

<file path=ppt/slides/_rels/slide265.xml.rels><?xml version="1.0" encoding="UTF-8" standalone="yes"?>
<Relationships xmlns="http://schemas.openxmlformats.org/package/2006/relationships"><Relationship Id="rId4" Type="http://schemas.openxmlformats.org/officeDocument/2006/relationships/vmlDrawing" Target="../drawings/vmlDrawing81.vml"/><Relationship Id="rId3" Type="http://schemas.openxmlformats.org/officeDocument/2006/relationships/slideLayout" Target="../slideLayouts/slideLayout42.xml"/><Relationship Id="rId2" Type="http://schemas.openxmlformats.org/officeDocument/2006/relationships/image" Target="../media/image227.wmf"/><Relationship Id="rId1" Type="http://schemas.openxmlformats.org/officeDocument/2006/relationships/oleObject" Target="../embeddings/oleObject201.bin"/></Relationships>
</file>

<file path=ppt/slides/_rels/slide266.xml.rels><?xml version="1.0" encoding="UTF-8" standalone="yes"?>
<Relationships xmlns="http://schemas.openxmlformats.org/package/2006/relationships"><Relationship Id="rId4" Type="http://schemas.openxmlformats.org/officeDocument/2006/relationships/vmlDrawing" Target="../drawings/vmlDrawing82.vml"/><Relationship Id="rId3" Type="http://schemas.openxmlformats.org/officeDocument/2006/relationships/slideLayout" Target="../slideLayouts/slideLayout42.xml"/><Relationship Id="rId2" Type="http://schemas.openxmlformats.org/officeDocument/2006/relationships/image" Target="../media/image228.wmf"/><Relationship Id="rId1" Type="http://schemas.openxmlformats.org/officeDocument/2006/relationships/oleObject" Target="../embeddings/oleObject202.bin"/></Relationships>
</file>

<file path=ppt/slides/_rels/slide267.xml.rels><?xml version="1.0" encoding="UTF-8" standalone="yes"?>
<Relationships xmlns="http://schemas.openxmlformats.org/package/2006/relationships"><Relationship Id="rId4" Type="http://schemas.openxmlformats.org/officeDocument/2006/relationships/vmlDrawing" Target="../drawings/vmlDrawing83.vml"/><Relationship Id="rId3" Type="http://schemas.openxmlformats.org/officeDocument/2006/relationships/slideLayout" Target="../slideLayouts/slideLayout42.xml"/><Relationship Id="rId2" Type="http://schemas.openxmlformats.org/officeDocument/2006/relationships/image" Target="../media/image229.wmf"/><Relationship Id="rId1" Type="http://schemas.openxmlformats.org/officeDocument/2006/relationships/oleObject" Target="../embeddings/oleObject203.bin"/></Relationships>
</file>

<file path=ppt/slides/_rels/slide268.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233.wmf"/><Relationship Id="rId7" Type="http://schemas.openxmlformats.org/officeDocument/2006/relationships/oleObject" Target="../embeddings/oleObject207.bin"/><Relationship Id="rId6" Type="http://schemas.openxmlformats.org/officeDocument/2006/relationships/image" Target="../media/image232.wmf"/><Relationship Id="rId5" Type="http://schemas.openxmlformats.org/officeDocument/2006/relationships/oleObject" Target="../embeddings/oleObject206.bin"/><Relationship Id="rId4" Type="http://schemas.openxmlformats.org/officeDocument/2006/relationships/image" Target="../media/image231.wmf"/><Relationship Id="rId3" Type="http://schemas.openxmlformats.org/officeDocument/2006/relationships/oleObject" Target="../embeddings/oleObject205.bin"/><Relationship Id="rId2" Type="http://schemas.openxmlformats.org/officeDocument/2006/relationships/image" Target="../media/image230.wmf"/><Relationship Id="rId10" Type="http://schemas.openxmlformats.org/officeDocument/2006/relationships/vmlDrawing" Target="../drawings/vmlDrawing84.vml"/><Relationship Id="rId1" Type="http://schemas.openxmlformats.org/officeDocument/2006/relationships/oleObject" Target="../embeddings/oleObject204.bin"/></Relationships>
</file>

<file path=ppt/slides/_rels/slide269.xml.rels><?xml version="1.0" encoding="UTF-8" standalone="yes"?>
<Relationships xmlns="http://schemas.openxmlformats.org/package/2006/relationships"><Relationship Id="rId4" Type="http://schemas.openxmlformats.org/officeDocument/2006/relationships/vmlDrawing" Target="../drawings/vmlDrawing85.vml"/><Relationship Id="rId3" Type="http://schemas.openxmlformats.org/officeDocument/2006/relationships/slideLayout" Target="../slideLayouts/slideLayout42.xml"/><Relationship Id="rId2" Type="http://schemas.openxmlformats.org/officeDocument/2006/relationships/image" Target="../media/image234.wmf"/><Relationship Id="rId1" Type="http://schemas.openxmlformats.org/officeDocument/2006/relationships/oleObject" Target="../embeddings/oleObject208.bin"/></Relationships>
</file>

<file path=ppt/slides/_rels/slide270.xml.rels><?xml version="1.0" encoding="UTF-8" standalone="yes"?>
<Relationships xmlns="http://schemas.openxmlformats.org/package/2006/relationships"><Relationship Id="rId4" Type="http://schemas.openxmlformats.org/officeDocument/2006/relationships/vmlDrawing" Target="../drawings/vmlDrawing86.vml"/><Relationship Id="rId3" Type="http://schemas.openxmlformats.org/officeDocument/2006/relationships/slideLayout" Target="../slideLayouts/slideLayout42.xml"/><Relationship Id="rId2" Type="http://schemas.openxmlformats.org/officeDocument/2006/relationships/image" Target="../media/image235.wmf"/><Relationship Id="rId1" Type="http://schemas.openxmlformats.org/officeDocument/2006/relationships/oleObject" Target="../embeddings/oleObject209.bin"/></Relationships>
</file>

<file path=ppt/slides/_rels/slide271.xml.rels><?xml version="1.0" encoding="UTF-8" standalone="yes"?>
<Relationships xmlns="http://schemas.openxmlformats.org/package/2006/relationships"><Relationship Id="rId4" Type="http://schemas.openxmlformats.org/officeDocument/2006/relationships/vmlDrawing" Target="../drawings/vmlDrawing87.vml"/><Relationship Id="rId3" Type="http://schemas.openxmlformats.org/officeDocument/2006/relationships/slideLayout" Target="../slideLayouts/slideLayout42.xml"/><Relationship Id="rId2" Type="http://schemas.openxmlformats.org/officeDocument/2006/relationships/image" Target="../media/image236.wmf"/><Relationship Id="rId1" Type="http://schemas.openxmlformats.org/officeDocument/2006/relationships/oleObject" Target="../embeddings/oleObject210.bin"/></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77.xml.rels><?xml version="1.0" encoding="UTF-8" standalone="yes"?>
<Relationships xmlns="http://schemas.openxmlformats.org/package/2006/relationships"><Relationship Id="rId4" Type="http://schemas.openxmlformats.org/officeDocument/2006/relationships/vmlDrawing" Target="../drawings/vmlDrawing88.vml"/><Relationship Id="rId3" Type="http://schemas.openxmlformats.org/officeDocument/2006/relationships/slideLayout" Target="../slideLayouts/slideLayout42.xml"/><Relationship Id="rId2" Type="http://schemas.openxmlformats.org/officeDocument/2006/relationships/image" Target="../media/image237.wmf"/><Relationship Id="rId1" Type="http://schemas.openxmlformats.org/officeDocument/2006/relationships/oleObject" Target="../embeddings/oleObject211.bin"/></Relationships>
</file>

<file path=ppt/slides/_rels/slide278.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38.png"/></Relationships>
</file>

<file path=ppt/slides/_rels/slide279.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38.png"/></Relationships>
</file>

<file path=ppt/slides/_rels/slide280.xml.rels><?xml version="1.0" encoding="UTF-8" standalone="yes"?>
<Relationships xmlns="http://schemas.openxmlformats.org/package/2006/relationships"><Relationship Id="rId4" Type="http://schemas.openxmlformats.org/officeDocument/2006/relationships/vmlDrawing" Target="../drawings/vmlDrawing89.vml"/><Relationship Id="rId3" Type="http://schemas.openxmlformats.org/officeDocument/2006/relationships/slideLayout" Target="../slideLayouts/slideLayout42.xml"/><Relationship Id="rId2" Type="http://schemas.openxmlformats.org/officeDocument/2006/relationships/image" Target="../media/image239.wmf"/><Relationship Id="rId1" Type="http://schemas.openxmlformats.org/officeDocument/2006/relationships/oleObject" Target="../embeddings/oleObject212.bin"/></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82.xml.rels><?xml version="1.0" encoding="UTF-8" standalone="yes"?>
<Relationships xmlns="http://schemas.openxmlformats.org/package/2006/relationships"><Relationship Id="rId6" Type="http://schemas.openxmlformats.org/officeDocument/2006/relationships/vmlDrawing" Target="../drawings/vmlDrawing90.vml"/><Relationship Id="rId5" Type="http://schemas.openxmlformats.org/officeDocument/2006/relationships/slideLayout" Target="../slideLayouts/slideLayout42.xml"/><Relationship Id="rId4" Type="http://schemas.openxmlformats.org/officeDocument/2006/relationships/image" Target="../media/image241.wmf"/><Relationship Id="rId3" Type="http://schemas.openxmlformats.org/officeDocument/2006/relationships/oleObject" Target="../embeddings/oleObject214.bin"/><Relationship Id="rId2" Type="http://schemas.openxmlformats.org/officeDocument/2006/relationships/image" Target="../media/image240.wmf"/><Relationship Id="rId1" Type="http://schemas.openxmlformats.org/officeDocument/2006/relationships/oleObject" Target="../embeddings/oleObject213.bin"/></Relationships>
</file>

<file path=ppt/slides/_rels/slide283.xml.rels><?xml version="1.0" encoding="UTF-8" standalone="yes"?>
<Relationships xmlns="http://schemas.openxmlformats.org/package/2006/relationships"><Relationship Id="rId6" Type="http://schemas.openxmlformats.org/officeDocument/2006/relationships/vmlDrawing" Target="../drawings/vmlDrawing91.vml"/><Relationship Id="rId5" Type="http://schemas.openxmlformats.org/officeDocument/2006/relationships/slideLayout" Target="../slideLayouts/slideLayout42.xml"/><Relationship Id="rId4" Type="http://schemas.openxmlformats.org/officeDocument/2006/relationships/image" Target="../media/image243.wmf"/><Relationship Id="rId3" Type="http://schemas.openxmlformats.org/officeDocument/2006/relationships/oleObject" Target="../embeddings/oleObject216.bin"/><Relationship Id="rId2" Type="http://schemas.openxmlformats.org/officeDocument/2006/relationships/image" Target="../media/image242.wmf"/><Relationship Id="rId1" Type="http://schemas.openxmlformats.org/officeDocument/2006/relationships/oleObject" Target="../embeddings/oleObject215.bin"/></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85.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44.png"/></Relationships>
</file>

<file path=ppt/slides/_rels/slide286.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44.png"/></Relationships>
</file>

<file path=ppt/slides/_rels/slide287.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45.png"/></Relationships>
</file>

<file path=ppt/slides/_rels/slide288.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46.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90.xml.rels><?xml version="1.0" encoding="UTF-8" standalone="yes"?>
<Relationships xmlns="http://schemas.openxmlformats.org/package/2006/relationships"><Relationship Id="rId6" Type="http://schemas.openxmlformats.org/officeDocument/2006/relationships/vmlDrawing" Target="../drawings/vmlDrawing92.vml"/><Relationship Id="rId5" Type="http://schemas.openxmlformats.org/officeDocument/2006/relationships/slideLayout" Target="../slideLayouts/slideLayout42.xml"/><Relationship Id="rId4" Type="http://schemas.openxmlformats.org/officeDocument/2006/relationships/image" Target="../media/image248.wmf"/><Relationship Id="rId3" Type="http://schemas.openxmlformats.org/officeDocument/2006/relationships/oleObject" Target="../embeddings/oleObject218.bin"/><Relationship Id="rId2" Type="http://schemas.openxmlformats.org/officeDocument/2006/relationships/image" Target="../media/image247.wmf"/><Relationship Id="rId1" Type="http://schemas.openxmlformats.org/officeDocument/2006/relationships/oleObject" Target="../embeddings/oleObject217.bin"/></Relationships>
</file>

<file path=ppt/slides/_rels/slide291.xml.rels><?xml version="1.0" encoding="UTF-8" standalone="yes"?>
<Relationships xmlns="http://schemas.openxmlformats.org/package/2006/relationships"><Relationship Id="rId3" Type="http://schemas.openxmlformats.org/officeDocument/2006/relationships/slideLayout" Target="../slideLayouts/slideLayout36.xml"/><Relationship Id="rId2" Type="http://schemas.openxmlformats.org/officeDocument/2006/relationships/image" Target="../media/image4.png"/><Relationship Id="rId1" Type="http://schemas.openxmlformats.org/officeDocument/2006/relationships/image" Target="../media/image3.jpeg"/></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7.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2.xml"/></Relationships>
</file>

<file path=ppt/slides/_rels/slide294.xml.rels><?xml version="1.0" encoding="UTF-8" standalone="yes"?>
<Relationships xmlns="http://schemas.openxmlformats.org/package/2006/relationships"><Relationship Id="rId7" Type="http://schemas.openxmlformats.org/officeDocument/2006/relationships/notesSlide" Target="../notesSlides/notesSlide11.xml"/><Relationship Id="rId6" Type="http://schemas.openxmlformats.org/officeDocument/2006/relationships/vmlDrawing" Target="../drawings/vmlDrawing93.vml"/><Relationship Id="rId5" Type="http://schemas.openxmlformats.org/officeDocument/2006/relationships/slideLayout" Target="../slideLayouts/slideLayout42.xml"/><Relationship Id="rId4" Type="http://schemas.openxmlformats.org/officeDocument/2006/relationships/image" Target="../media/image250.wmf"/><Relationship Id="rId3" Type="http://schemas.openxmlformats.org/officeDocument/2006/relationships/oleObject" Target="../embeddings/oleObject220.bin"/><Relationship Id="rId2" Type="http://schemas.openxmlformats.org/officeDocument/2006/relationships/image" Target="../media/image249.wmf"/><Relationship Id="rId1" Type="http://schemas.openxmlformats.org/officeDocument/2006/relationships/oleObject" Target="../embeddings/oleObject219.bin"/></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2.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2.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2.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2.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2.xml"/></Relationships>
</file>

<file path=ppt/slides/_rels/slide303.xml.rels><?xml version="1.0" encoding="UTF-8" standalone="yes"?>
<Relationships xmlns="http://schemas.openxmlformats.org/package/2006/relationships"><Relationship Id="rId4" Type="http://schemas.openxmlformats.org/officeDocument/2006/relationships/vmlDrawing" Target="../drawings/vmlDrawing94.vml"/><Relationship Id="rId3" Type="http://schemas.openxmlformats.org/officeDocument/2006/relationships/slideLayout" Target="../slideLayouts/slideLayout42.xml"/><Relationship Id="rId2" Type="http://schemas.openxmlformats.org/officeDocument/2006/relationships/image" Target="../media/image251.wmf"/><Relationship Id="rId1" Type="http://schemas.openxmlformats.org/officeDocument/2006/relationships/oleObject" Target="../embeddings/oleObject221.bin"/></Relationships>
</file>

<file path=ppt/slides/_rels/slide304.xml.rels><?xml version="1.0" encoding="UTF-8" standalone="yes"?>
<Relationships xmlns="http://schemas.openxmlformats.org/package/2006/relationships"><Relationship Id="rId4" Type="http://schemas.openxmlformats.org/officeDocument/2006/relationships/vmlDrawing" Target="../drawings/vmlDrawing95.vml"/><Relationship Id="rId3" Type="http://schemas.openxmlformats.org/officeDocument/2006/relationships/slideLayout" Target="../slideLayouts/slideLayout42.xml"/><Relationship Id="rId2" Type="http://schemas.openxmlformats.org/officeDocument/2006/relationships/image" Target="../media/image252.wmf"/><Relationship Id="rId1" Type="http://schemas.openxmlformats.org/officeDocument/2006/relationships/oleObject" Target="../embeddings/oleObject222.bin"/></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07.xml.rels><?xml version="1.0" encoding="UTF-8" standalone="yes"?>
<Relationships xmlns="http://schemas.openxmlformats.org/package/2006/relationships"><Relationship Id="rId4" Type="http://schemas.openxmlformats.org/officeDocument/2006/relationships/vmlDrawing" Target="../drawings/vmlDrawing96.vml"/><Relationship Id="rId3" Type="http://schemas.openxmlformats.org/officeDocument/2006/relationships/slideLayout" Target="../slideLayouts/slideLayout42.xml"/><Relationship Id="rId2" Type="http://schemas.openxmlformats.org/officeDocument/2006/relationships/image" Target="../media/image253.wmf"/><Relationship Id="rId1" Type="http://schemas.openxmlformats.org/officeDocument/2006/relationships/oleObject" Target="../embeddings/oleObject223.bin"/></Relationships>
</file>

<file path=ppt/slides/_rels/slide308.xml.rels><?xml version="1.0" encoding="UTF-8" standalone="yes"?>
<Relationships xmlns="http://schemas.openxmlformats.org/package/2006/relationships"><Relationship Id="rId8" Type="http://schemas.openxmlformats.org/officeDocument/2006/relationships/vmlDrawing" Target="../drawings/vmlDrawing97.vml"/><Relationship Id="rId7" Type="http://schemas.openxmlformats.org/officeDocument/2006/relationships/slideLayout" Target="../slideLayouts/slideLayout42.xml"/><Relationship Id="rId6" Type="http://schemas.openxmlformats.org/officeDocument/2006/relationships/image" Target="../media/image256.wmf"/><Relationship Id="rId5" Type="http://schemas.openxmlformats.org/officeDocument/2006/relationships/oleObject" Target="../embeddings/oleObject226.bin"/><Relationship Id="rId4" Type="http://schemas.openxmlformats.org/officeDocument/2006/relationships/image" Target="../media/image255.wmf"/><Relationship Id="rId3" Type="http://schemas.openxmlformats.org/officeDocument/2006/relationships/oleObject" Target="../embeddings/oleObject225.bin"/><Relationship Id="rId2" Type="http://schemas.openxmlformats.org/officeDocument/2006/relationships/image" Target="../media/image254.wmf"/><Relationship Id="rId1" Type="http://schemas.openxmlformats.org/officeDocument/2006/relationships/oleObject" Target="../embeddings/oleObject224.bin"/></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2.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2.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2.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2.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2.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2.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2.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2.xml"/></Relationships>
</file>

<file path=ppt/slides/_rels/slide331.xml.rels><?xml version="1.0" encoding="UTF-8" standalone="yes"?>
<Relationships xmlns="http://schemas.openxmlformats.org/package/2006/relationships"><Relationship Id="rId4" Type="http://schemas.openxmlformats.org/officeDocument/2006/relationships/vmlDrawing" Target="../drawings/vmlDrawing98.vml"/><Relationship Id="rId3" Type="http://schemas.openxmlformats.org/officeDocument/2006/relationships/slideLayout" Target="../slideLayouts/slideLayout42.xml"/><Relationship Id="rId2" Type="http://schemas.openxmlformats.org/officeDocument/2006/relationships/image" Target="../media/image257.emf"/><Relationship Id="rId1" Type="http://schemas.openxmlformats.org/officeDocument/2006/relationships/oleObject" Target="../embeddings/oleObject227.bin"/></Relationships>
</file>

<file path=ppt/slides/_rels/slide332.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58.png"/></Relationships>
</file>

<file path=ppt/slides/_rels/slide333.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58.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37.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59.jpeg"/></Relationships>
</file>

<file path=ppt/slides/_rels/slide338.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59.jpeg"/></Relationships>
</file>

<file path=ppt/slides/_rels/slide339.xml.rels><?xml version="1.0" encoding="UTF-8" standalone="yes"?>
<Relationships xmlns="http://schemas.openxmlformats.org/package/2006/relationships"><Relationship Id="rId9" Type="http://schemas.openxmlformats.org/officeDocument/2006/relationships/image" Target="../media/image264.wmf"/><Relationship Id="rId8" Type="http://schemas.openxmlformats.org/officeDocument/2006/relationships/oleObject" Target="../embeddings/oleObject231.bin"/><Relationship Id="rId7" Type="http://schemas.openxmlformats.org/officeDocument/2006/relationships/image" Target="../media/image263.wmf"/><Relationship Id="rId6" Type="http://schemas.openxmlformats.org/officeDocument/2006/relationships/oleObject" Target="../embeddings/oleObject230.bin"/><Relationship Id="rId5" Type="http://schemas.openxmlformats.org/officeDocument/2006/relationships/image" Target="../media/image262.wmf"/><Relationship Id="rId4" Type="http://schemas.openxmlformats.org/officeDocument/2006/relationships/oleObject" Target="../embeddings/oleObject229.bin"/><Relationship Id="rId3" Type="http://schemas.openxmlformats.org/officeDocument/2006/relationships/image" Target="../media/image261.wmf"/><Relationship Id="rId2" Type="http://schemas.openxmlformats.org/officeDocument/2006/relationships/oleObject" Target="../embeddings/oleObject228.bin"/><Relationship Id="rId11" Type="http://schemas.openxmlformats.org/officeDocument/2006/relationships/vmlDrawing" Target="../drawings/vmlDrawing99.vml"/><Relationship Id="rId10" Type="http://schemas.openxmlformats.org/officeDocument/2006/relationships/slideLayout" Target="../slideLayouts/slideLayout42.xml"/><Relationship Id="rId1" Type="http://schemas.openxmlformats.org/officeDocument/2006/relationships/image" Target="../media/image260.jpeg"/></Relationships>
</file>

<file path=ppt/slides/_rels/slide340.xml.rels><?xml version="1.0" encoding="UTF-8" standalone="yes"?>
<Relationships xmlns="http://schemas.openxmlformats.org/package/2006/relationships"><Relationship Id="rId6" Type="http://schemas.openxmlformats.org/officeDocument/2006/relationships/vmlDrawing" Target="../drawings/vmlDrawing100.vml"/><Relationship Id="rId5" Type="http://schemas.openxmlformats.org/officeDocument/2006/relationships/slideLayout" Target="../slideLayouts/slideLayout42.xml"/><Relationship Id="rId4" Type="http://schemas.openxmlformats.org/officeDocument/2006/relationships/image" Target="../media/image266.wmf"/><Relationship Id="rId3" Type="http://schemas.openxmlformats.org/officeDocument/2006/relationships/oleObject" Target="../embeddings/oleObject233.bin"/><Relationship Id="rId2" Type="http://schemas.openxmlformats.org/officeDocument/2006/relationships/image" Target="../media/image265.wmf"/><Relationship Id="rId1" Type="http://schemas.openxmlformats.org/officeDocument/2006/relationships/oleObject" Target="../embeddings/oleObject232.bin"/></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6.xml.rels><?xml version="1.0" encoding="UTF-8" standalone="yes"?>
<Relationships xmlns="http://schemas.openxmlformats.org/package/2006/relationships"><Relationship Id="rId6" Type="http://schemas.openxmlformats.org/officeDocument/2006/relationships/vmlDrawing" Target="../drawings/vmlDrawing101.vml"/><Relationship Id="rId5" Type="http://schemas.openxmlformats.org/officeDocument/2006/relationships/slideLayout" Target="../slideLayouts/slideLayout42.xml"/><Relationship Id="rId4" Type="http://schemas.openxmlformats.org/officeDocument/2006/relationships/image" Target="../media/image268.wmf"/><Relationship Id="rId3" Type="http://schemas.openxmlformats.org/officeDocument/2006/relationships/oleObject" Target="../embeddings/oleObject235.bin"/><Relationship Id="rId2" Type="http://schemas.openxmlformats.org/officeDocument/2006/relationships/image" Target="../media/image267.wmf"/><Relationship Id="rId1" Type="http://schemas.openxmlformats.org/officeDocument/2006/relationships/oleObject" Target="../embeddings/oleObject234.bin"/></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50.xml.rels><?xml version="1.0" encoding="UTF-8" standalone="yes"?>
<Relationships xmlns="http://schemas.openxmlformats.org/package/2006/relationships"><Relationship Id="rId9" Type="http://schemas.openxmlformats.org/officeDocument/2006/relationships/oleObject" Target="../embeddings/oleObject240.bin"/><Relationship Id="rId8" Type="http://schemas.openxmlformats.org/officeDocument/2006/relationships/image" Target="../media/image272.wmf"/><Relationship Id="rId7" Type="http://schemas.openxmlformats.org/officeDocument/2006/relationships/oleObject" Target="../embeddings/oleObject239.bin"/><Relationship Id="rId6" Type="http://schemas.openxmlformats.org/officeDocument/2006/relationships/image" Target="../media/image271.wmf"/><Relationship Id="rId5" Type="http://schemas.openxmlformats.org/officeDocument/2006/relationships/oleObject" Target="../embeddings/oleObject238.bin"/><Relationship Id="rId4" Type="http://schemas.openxmlformats.org/officeDocument/2006/relationships/image" Target="../media/image270.wmf"/><Relationship Id="rId3" Type="http://schemas.openxmlformats.org/officeDocument/2006/relationships/oleObject" Target="../embeddings/oleObject237.bin"/><Relationship Id="rId2" Type="http://schemas.openxmlformats.org/officeDocument/2006/relationships/image" Target="../media/image269.wmf"/><Relationship Id="rId12" Type="http://schemas.openxmlformats.org/officeDocument/2006/relationships/vmlDrawing" Target="../drawings/vmlDrawing102.vml"/><Relationship Id="rId11" Type="http://schemas.openxmlformats.org/officeDocument/2006/relationships/slideLayout" Target="../slideLayouts/slideLayout42.xml"/><Relationship Id="rId10" Type="http://schemas.openxmlformats.org/officeDocument/2006/relationships/image" Target="../media/image273.wmf"/><Relationship Id="rId1" Type="http://schemas.openxmlformats.org/officeDocument/2006/relationships/oleObject" Target="../embeddings/oleObject236.bin"/></Relationships>
</file>

<file path=ppt/slides/_rels/slide351.xml.rels><?xml version="1.0" encoding="UTF-8" standalone="yes"?>
<Relationships xmlns="http://schemas.openxmlformats.org/package/2006/relationships"><Relationship Id="rId4" Type="http://schemas.openxmlformats.org/officeDocument/2006/relationships/vmlDrawing" Target="../drawings/vmlDrawing103.vml"/><Relationship Id="rId3" Type="http://schemas.openxmlformats.org/officeDocument/2006/relationships/slideLayout" Target="../slideLayouts/slideLayout42.xml"/><Relationship Id="rId2" Type="http://schemas.openxmlformats.org/officeDocument/2006/relationships/image" Target="../media/image274.wmf"/><Relationship Id="rId1" Type="http://schemas.openxmlformats.org/officeDocument/2006/relationships/oleObject" Target="../embeddings/oleObject241.bin"/></Relationships>
</file>

<file path=ppt/slides/_rels/slide352.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75.jpeg"/></Relationships>
</file>

<file path=ppt/slides/_rels/slide353.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76.jpe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58.xml.rels><?xml version="1.0" encoding="UTF-8" standalone="yes"?>
<Relationships xmlns="http://schemas.openxmlformats.org/package/2006/relationships"><Relationship Id="rId4" Type="http://schemas.openxmlformats.org/officeDocument/2006/relationships/vmlDrawing" Target="../drawings/vmlDrawing104.vml"/><Relationship Id="rId3" Type="http://schemas.openxmlformats.org/officeDocument/2006/relationships/slideLayout" Target="../slideLayouts/slideLayout47.xml"/><Relationship Id="rId2" Type="http://schemas.openxmlformats.org/officeDocument/2006/relationships/image" Target="../media/image277.wmf"/><Relationship Id="rId1" Type="http://schemas.openxmlformats.org/officeDocument/2006/relationships/oleObject" Target="../embeddings/oleObject242.bin"/></Relationships>
</file>

<file path=ppt/slides/_rels/slide359.xml.rels><?xml version="1.0" encoding="UTF-8" standalone="yes"?>
<Relationships xmlns="http://schemas.openxmlformats.org/package/2006/relationships"><Relationship Id="rId5" Type="http://schemas.openxmlformats.org/officeDocument/2006/relationships/vmlDrawing" Target="../drawings/vmlDrawing105.vml"/><Relationship Id="rId4" Type="http://schemas.openxmlformats.org/officeDocument/2006/relationships/slideLayout" Target="../slideLayouts/slideLayout47.xml"/><Relationship Id="rId3" Type="http://schemas.openxmlformats.org/officeDocument/2006/relationships/image" Target="../media/image277.wmf"/><Relationship Id="rId2" Type="http://schemas.openxmlformats.org/officeDocument/2006/relationships/oleObject" Target="../embeddings/oleObject243.bin"/><Relationship Id="rId1" Type="http://schemas.openxmlformats.org/officeDocument/2006/relationships/image" Target="../media/image278.jpeg"/></Relationships>
</file>

<file path=ppt/slides/_rels/slide360.xml.rels><?xml version="1.0" encoding="UTF-8" standalone="yes"?>
<Relationships xmlns="http://schemas.openxmlformats.org/package/2006/relationships"><Relationship Id="rId7" Type="http://schemas.openxmlformats.org/officeDocument/2006/relationships/vmlDrawing" Target="../drawings/vmlDrawing106.vml"/><Relationship Id="rId6" Type="http://schemas.openxmlformats.org/officeDocument/2006/relationships/slideLayout" Target="../slideLayouts/slideLayout47.xml"/><Relationship Id="rId5" Type="http://schemas.openxmlformats.org/officeDocument/2006/relationships/image" Target="../media/image280.wmf"/><Relationship Id="rId4" Type="http://schemas.openxmlformats.org/officeDocument/2006/relationships/oleObject" Target="../embeddings/oleObject245.bin"/><Relationship Id="rId3" Type="http://schemas.openxmlformats.org/officeDocument/2006/relationships/image" Target="../media/image277.wmf"/><Relationship Id="rId2" Type="http://schemas.openxmlformats.org/officeDocument/2006/relationships/oleObject" Target="../embeddings/oleObject244.bin"/><Relationship Id="rId1" Type="http://schemas.openxmlformats.org/officeDocument/2006/relationships/image" Target="../media/image279.jpe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63.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1.jpe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65.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2.jpeg"/></Relationships>
</file>

<file path=ppt/slides/_rels/slide366.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3.png"/></Relationships>
</file>

<file path=ppt/slides/_rels/slide367.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4.png"/></Relationships>
</file>

<file path=ppt/slides/_rels/slide368.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5.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73.xml.rels><?xml version="1.0" encoding="UTF-8" standalone="yes"?>
<Relationships xmlns="http://schemas.openxmlformats.org/package/2006/relationships"><Relationship Id="rId3" Type="http://schemas.openxmlformats.org/officeDocument/2006/relationships/slideLayout" Target="../slideLayouts/slideLayout37.xml"/><Relationship Id="rId2" Type="http://schemas.openxmlformats.org/officeDocument/2006/relationships/image" Target="../media/image287.png"/><Relationship Id="rId1" Type="http://schemas.openxmlformats.org/officeDocument/2006/relationships/image" Target="../media/image286.jpeg"/></Relationships>
</file>

<file path=ppt/slides/_rels/slide374.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88.jpeg"/></Relationships>
</file>

<file path=ppt/slides/_rels/slide375.xml.rels><?xml version="1.0" encoding="UTF-8" standalone="yes"?>
<Relationships xmlns="http://schemas.openxmlformats.org/package/2006/relationships"><Relationship Id="rId3" Type="http://schemas.openxmlformats.org/officeDocument/2006/relationships/slideLayout" Target="../slideLayouts/slideLayout37.xml"/><Relationship Id="rId2" Type="http://schemas.openxmlformats.org/officeDocument/2006/relationships/image" Target="../media/image290.png"/><Relationship Id="rId1" Type="http://schemas.openxmlformats.org/officeDocument/2006/relationships/image" Target="../media/image289.png"/></Relationships>
</file>

<file path=ppt/slides/_rels/slide376.xml.rels><?xml version="1.0" encoding="UTF-8" standalone="yes"?>
<Relationships xmlns="http://schemas.openxmlformats.org/package/2006/relationships"><Relationship Id="rId2" Type="http://schemas.openxmlformats.org/officeDocument/2006/relationships/slideLayout" Target="../slideLayouts/slideLayout37.xml"/><Relationship Id="rId1" Type="http://schemas.openxmlformats.org/officeDocument/2006/relationships/image" Target="../media/image291.png"/></Relationships>
</file>

<file path=ppt/slides/_rels/slide377.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292.jpe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79.xml.rels><?xml version="1.0" encoding="UTF-8" standalone="yes"?>
<Relationships xmlns="http://schemas.openxmlformats.org/package/2006/relationships"><Relationship Id="rId9" Type="http://schemas.openxmlformats.org/officeDocument/2006/relationships/vmlDrawing" Target="../drawings/vmlDrawing107.vml"/><Relationship Id="rId8" Type="http://schemas.openxmlformats.org/officeDocument/2006/relationships/slideLayout" Target="../slideLayouts/slideLayout42.xml"/><Relationship Id="rId7" Type="http://schemas.openxmlformats.org/officeDocument/2006/relationships/image" Target="../media/image295.wmf"/><Relationship Id="rId6" Type="http://schemas.openxmlformats.org/officeDocument/2006/relationships/oleObject" Target="../embeddings/oleObject248.bin"/><Relationship Id="rId5" Type="http://schemas.openxmlformats.org/officeDocument/2006/relationships/image" Target="../media/image294.wmf"/><Relationship Id="rId4" Type="http://schemas.openxmlformats.org/officeDocument/2006/relationships/oleObject" Target="../embeddings/oleObject247.bin"/><Relationship Id="rId3" Type="http://schemas.openxmlformats.org/officeDocument/2006/relationships/image" Target="../media/image293.wmf"/><Relationship Id="rId2" Type="http://schemas.openxmlformats.org/officeDocument/2006/relationships/oleObject" Target="../embeddings/oleObject246.bin"/><Relationship Id="rId1" Type="http://schemas.openxmlformats.org/officeDocument/2006/relationships/image" Target="../media/image292.jpe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81.xml.rels><?xml version="1.0" encoding="UTF-8" standalone="yes"?>
<Relationships xmlns="http://schemas.openxmlformats.org/package/2006/relationships"><Relationship Id="rId3" Type="http://schemas.openxmlformats.org/officeDocument/2006/relationships/slideLayout" Target="../slideLayouts/slideLayout47.xml"/><Relationship Id="rId2" Type="http://schemas.openxmlformats.org/officeDocument/2006/relationships/image" Target="../media/image297.png"/><Relationship Id="rId1" Type="http://schemas.openxmlformats.org/officeDocument/2006/relationships/image" Target="../media/image296.png"/></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385.xml.rels><?xml version="1.0" encoding="UTF-8" standalone="yes"?>
<Relationships xmlns="http://schemas.openxmlformats.org/package/2006/relationships"><Relationship Id="rId4" Type="http://schemas.openxmlformats.org/officeDocument/2006/relationships/vmlDrawing" Target="../drawings/vmlDrawing108.vml"/><Relationship Id="rId3" Type="http://schemas.openxmlformats.org/officeDocument/2006/relationships/slideLayout" Target="../slideLayouts/slideLayout47.xml"/><Relationship Id="rId2" Type="http://schemas.openxmlformats.org/officeDocument/2006/relationships/image" Target="../media/image298.wmf"/><Relationship Id="rId1" Type="http://schemas.openxmlformats.org/officeDocument/2006/relationships/oleObject" Target="../embeddings/oleObject249.bin"/></Relationships>
</file>

<file path=ppt/slides/_rels/slide386.xml.rels><?xml version="1.0" encoding="UTF-8" standalone="yes"?>
<Relationships xmlns="http://schemas.openxmlformats.org/package/2006/relationships"><Relationship Id="rId6" Type="http://schemas.openxmlformats.org/officeDocument/2006/relationships/vmlDrawing" Target="../drawings/vmlDrawing109.vml"/><Relationship Id="rId5" Type="http://schemas.openxmlformats.org/officeDocument/2006/relationships/slideLayout" Target="../slideLayouts/slideLayout47.xml"/><Relationship Id="rId4" Type="http://schemas.openxmlformats.org/officeDocument/2006/relationships/image" Target="../media/image300.wmf"/><Relationship Id="rId3" Type="http://schemas.openxmlformats.org/officeDocument/2006/relationships/oleObject" Target="../embeddings/oleObject251.bin"/><Relationship Id="rId2" Type="http://schemas.openxmlformats.org/officeDocument/2006/relationships/image" Target="../media/image299.wmf"/><Relationship Id="rId1" Type="http://schemas.openxmlformats.org/officeDocument/2006/relationships/oleObject" Target="../embeddings/oleObject250.bin"/></Relationships>
</file>

<file path=ppt/slides/_rels/slide387.xml.rels><?xml version="1.0" encoding="UTF-8" standalone="yes"?>
<Relationships xmlns="http://schemas.openxmlformats.org/package/2006/relationships"><Relationship Id="rId7" Type="http://schemas.openxmlformats.org/officeDocument/2006/relationships/notesSlide" Target="../notesSlides/notesSlide31.xml"/><Relationship Id="rId6" Type="http://schemas.openxmlformats.org/officeDocument/2006/relationships/vmlDrawing" Target="../drawings/vmlDrawing110.vml"/><Relationship Id="rId5" Type="http://schemas.openxmlformats.org/officeDocument/2006/relationships/slideLayout" Target="../slideLayouts/slideLayout47.xml"/><Relationship Id="rId4" Type="http://schemas.openxmlformats.org/officeDocument/2006/relationships/image" Target="../media/image302.wmf"/><Relationship Id="rId3" Type="http://schemas.openxmlformats.org/officeDocument/2006/relationships/oleObject" Target="../embeddings/oleObject253.bin"/><Relationship Id="rId2" Type="http://schemas.openxmlformats.org/officeDocument/2006/relationships/image" Target="../media/image301.wmf"/><Relationship Id="rId1" Type="http://schemas.openxmlformats.org/officeDocument/2006/relationships/oleObject" Target="../embeddings/oleObject252.bin"/></Relationships>
</file>

<file path=ppt/slides/_rels/slide388.xml.rels><?xml version="1.0" encoding="UTF-8" standalone="yes"?>
<Relationships xmlns="http://schemas.openxmlformats.org/package/2006/relationships"><Relationship Id="rId4" Type="http://schemas.openxmlformats.org/officeDocument/2006/relationships/vmlDrawing" Target="../drawings/vmlDrawing111.vml"/><Relationship Id="rId3" Type="http://schemas.openxmlformats.org/officeDocument/2006/relationships/slideLayout" Target="../slideLayouts/slideLayout47.xml"/><Relationship Id="rId2" Type="http://schemas.openxmlformats.org/officeDocument/2006/relationships/image" Target="../media/image303.wmf"/><Relationship Id="rId1" Type="http://schemas.openxmlformats.org/officeDocument/2006/relationships/oleObject" Target="../embeddings/oleObject254.bin"/></Relationships>
</file>

<file path=ppt/slides/_rels/slide389.xml.rels><?xml version="1.0" encoding="UTF-8" standalone="yes"?>
<Relationships xmlns="http://schemas.openxmlformats.org/package/2006/relationships"><Relationship Id="rId2" Type="http://schemas.openxmlformats.org/officeDocument/2006/relationships/slideLayout" Target="../slideLayouts/slideLayout47.xml"/><Relationship Id="rId1" Type="http://schemas.openxmlformats.org/officeDocument/2006/relationships/image" Target="../media/image304.png"/></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391.xml.rels><?xml version="1.0" encoding="UTF-8" standalone="yes"?>
<Relationships xmlns="http://schemas.openxmlformats.org/package/2006/relationships"><Relationship Id="rId2" Type="http://schemas.openxmlformats.org/officeDocument/2006/relationships/slideLayout" Target="../slideLayouts/slideLayout47.xml"/><Relationship Id="rId1" Type="http://schemas.openxmlformats.org/officeDocument/2006/relationships/image" Target="../media/image305.png"/></Relationships>
</file>

<file path=ppt/slides/_rels/slide392.xml.rels><?xml version="1.0" encoding="UTF-8" standalone="yes"?>
<Relationships xmlns="http://schemas.openxmlformats.org/package/2006/relationships"><Relationship Id="rId4" Type="http://schemas.openxmlformats.org/officeDocument/2006/relationships/vmlDrawing" Target="../drawings/vmlDrawing112.vml"/><Relationship Id="rId3" Type="http://schemas.openxmlformats.org/officeDocument/2006/relationships/slideLayout" Target="../slideLayouts/slideLayout47.xml"/><Relationship Id="rId2" Type="http://schemas.openxmlformats.org/officeDocument/2006/relationships/image" Target="../media/image306.wmf"/><Relationship Id="rId1" Type="http://schemas.openxmlformats.org/officeDocument/2006/relationships/oleObject" Target="../embeddings/oleObject255.bin"/></Relationships>
</file>

<file path=ppt/slides/_rels/slide393.xml.rels><?xml version="1.0" encoding="UTF-8" standalone="yes"?>
<Relationships xmlns="http://schemas.openxmlformats.org/package/2006/relationships"><Relationship Id="rId2" Type="http://schemas.openxmlformats.org/officeDocument/2006/relationships/slideLayout" Target="../slideLayouts/slideLayout47.xml"/><Relationship Id="rId1" Type="http://schemas.openxmlformats.org/officeDocument/2006/relationships/image" Target="../media/image307.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396.xml.rels><?xml version="1.0" encoding="UTF-8" standalone="yes"?>
<Relationships xmlns="http://schemas.openxmlformats.org/package/2006/relationships"><Relationship Id="rId2" Type="http://schemas.openxmlformats.org/officeDocument/2006/relationships/slideLayout" Target="../slideLayouts/slideLayout47.xml"/><Relationship Id="rId1" Type="http://schemas.openxmlformats.org/officeDocument/2006/relationships/image" Target="../media/image308.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399.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09.png"/></Relationships>
</file>

<file path=ppt/slides/_rels/slide400.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10.png"/></Relationships>
</file>

<file path=ppt/slides/_rels/slide401.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11.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03.xml.rels><?xml version="1.0" encoding="UTF-8" standalone="yes"?>
<Relationships xmlns="http://schemas.openxmlformats.org/package/2006/relationships"><Relationship Id="rId3" Type="http://schemas.openxmlformats.org/officeDocument/2006/relationships/slideLayout" Target="../slideLayouts/slideLayout42.xml"/><Relationship Id="rId2" Type="http://schemas.openxmlformats.org/officeDocument/2006/relationships/image" Target="../media/image313.png"/><Relationship Id="rId1" Type="http://schemas.openxmlformats.org/officeDocument/2006/relationships/image" Target="../media/image312.png"/></Relationships>
</file>

<file path=ppt/slides/_rels/slide404.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14.png"/></Relationships>
</file>

<file path=ppt/slides/_rels/slide405.xml.rels><?xml version="1.0" encoding="UTF-8" standalone="yes"?>
<Relationships xmlns="http://schemas.openxmlformats.org/package/2006/relationships"><Relationship Id="rId3" Type="http://schemas.openxmlformats.org/officeDocument/2006/relationships/slideLayout" Target="../slideLayouts/slideLayout42.xml"/><Relationship Id="rId2" Type="http://schemas.openxmlformats.org/officeDocument/2006/relationships/image" Target="../media/image316.png"/><Relationship Id="rId1" Type="http://schemas.openxmlformats.org/officeDocument/2006/relationships/image" Target="../media/image315.png"/></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2.xml"/></Relationships>
</file>

<file path=ppt/slides/_rels/slide407.xml.rels><?xml version="1.0" encoding="UTF-8" standalone="yes"?>
<Relationships xmlns="http://schemas.openxmlformats.org/package/2006/relationships"><Relationship Id="rId4" Type="http://schemas.openxmlformats.org/officeDocument/2006/relationships/notesSlide" Target="../notesSlides/notesSlide33.xml"/><Relationship Id="rId3" Type="http://schemas.openxmlformats.org/officeDocument/2006/relationships/slideLayout" Target="../slideLayouts/slideLayout42.xml"/><Relationship Id="rId2" Type="http://schemas.openxmlformats.org/officeDocument/2006/relationships/image" Target="../media/image318.png"/><Relationship Id="rId1" Type="http://schemas.openxmlformats.org/officeDocument/2006/relationships/image" Target="../media/image317.png"/></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2.xml"/></Relationships>
</file>

<file path=ppt/slides/_rels/slide409.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42.xml"/><Relationship Id="rId1" Type="http://schemas.openxmlformats.org/officeDocument/2006/relationships/image" Target="../media/image319.png"/></Relationships>
</file>

<file path=ppt/slides/_rels/slide410.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42.xml"/><Relationship Id="rId1" Type="http://schemas.openxmlformats.org/officeDocument/2006/relationships/image" Target="../media/image320.png"/></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2.xml"/></Relationships>
</file>

<file path=ppt/slides/_rels/slide412.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42.xml"/><Relationship Id="rId1" Type="http://schemas.openxmlformats.org/officeDocument/2006/relationships/image" Target="../media/image321.png"/></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14.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2.png"/></Relationships>
</file>

<file path=ppt/slides/_rels/slide415.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3.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17.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4.png"/></Relationships>
</file>

<file path=ppt/slides/_rels/slide418.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5.png"/></Relationships>
</file>

<file path=ppt/slides/_rels/slide419.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6.png"/></Relationships>
</file>

<file path=ppt/slides/_rels/slide420.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7.png"/></Relationships>
</file>

<file path=ppt/slides/_rels/slide421.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8.png"/></Relationships>
</file>

<file path=ppt/slides/_rels/slide422.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29.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24.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30.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26.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31.png"/></Relationships>
</file>

<file path=ppt/slides/_rels/slide427.xml.rels><?xml version="1.0" encoding="UTF-8" standalone="yes"?>
<Relationships xmlns="http://schemas.openxmlformats.org/package/2006/relationships"><Relationship Id="rId3" Type="http://schemas.openxmlformats.org/officeDocument/2006/relationships/slideLayout" Target="../slideLayouts/slideLayout42.xml"/><Relationship Id="rId2" Type="http://schemas.openxmlformats.org/officeDocument/2006/relationships/image" Target="../media/image333.png"/><Relationship Id="rId1" Type="http://schemas.openxmlformats.org/officeDocument/2006/relationships/image" Target="../media/image332.png"/></Relationships>
</file>

<file path=ppt/slides/_rels/slide428.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34.png"/></Relationships>
</file>

<file path=ppt/slides/_rels/slide429.xml.rels><?xml version="1.0" encoding="UTF-8" standalone="yes"?>
<Relationships xmlns="http://schemas.openxmlformats.org/package/2006/relationships"><Relationship Id="rId3" Type="http://schemas.openxmlformats.org/officeDocument/2006/relationships/slideLayout" Target="../slideLayouts/slideLayout36.xml"/><Relationship Id="rId2" Type="http://schemas.openxmlformats.org/officeDocument/2006/relationships/image" Target="../media/image335.png"/><Relationship Id="rId1" Type="http://schemas.openxmlformats.org/officeDocument/2006/relationships/image" Target="../media/image3.jpeg"/></Relationships>
</file>

<file path=ppt/slides/_rels/slide43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7.xml"/></Relationships>
</file>

<file path=ppt/slides/_rels/slide431.xml.rels><?xml version="1.0" encoding="UTF-8" standalone="yes"?>
<Relationships xmlns="http://schemas.openxmlformats.org/package/2006/relationships"><Relationship Id="rId5" Type="http://schemas.openxmlformats.org/officeDocument/2006/relationships/notesSlide" Target="../notesSlides/notesSlide40.xml"/><Relationship Id="rId4" Type="http://schemas.openxmlformats.org/officeDocument/2006/relationships/vmlDrawing" Target="../drawings/vmlDrawing113.vml"/><Relationship Id="rId3" Type="http://schemas.openxmlformats.org/officeDocument/2006/relationships/slideLayout" Target="../slideLayouts/slideLayout47.xml"/><Relationship Id="rId2" Type="http://schemas.openxmlformats.org/officeDocument/2006/relationships/image" Target="../media/image336.wmf"/><Relationship Id="rId1" Type="http://schemas.openxmlformats.org/officeDocument/2006/relationships/oleObject" Target="../embeddings/oleObject256.bin"/></Relationships>
</file>

<file path=ppt/slides/_rels/slide43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7.xml"/></Relationships>
</file>

<file path=ppt/slides/_rels/slide433.xml.rels><?xml version="1.0" encoding="UTF-8" standalone="yes"?>
<Relationships xmlns="http://schemas.openxmlformats.org/package/2006/relationships"><Relationship Id="rId5" Type="http://schemas.openxmlformats.org/officeDocument/2006/relationships/notesSlide" Target="../notesSlides/notesSlide42.xml"/><Relationship Id="rId4" Type="http://schemas.openxmlformats.org/officeDocument/2006/relationships/vmlDrawing" Target="../drawings/vmlDrawing114.vml"/><Relationship Id="rId3" Type="http://schemas.openxmlformats.org/officeDocument/2006/relationships/slideLayout" Target="../slideLayouts/slideLayout37.xml"/><Relationship Id="rId2" Type="http://schemas.openxmlformats.org/officeDocument/2006/relationships/image" Target="../media/image337.wmf"/><Relationship Id="rId1" Type="http://schemas.openxmlformats.org/officeDocument/2006/relationships/oleObject" Target="../embeddings/oleObject257.bin"/></Relationships>
</file>

<file path=ppt/slides/_rels/slide434.xml.rels><?xml version="1.0" encoding="UTF-8" standalone="yes"?>
<Relationships xmlns="http://schemas.openxmlformats.org/package/2006/relationships"><Relationship Id="rId9" Type="http://schemas.openxmlformats.org/officeDocument/2006/relationships/slideLayout" Target="../slideLayouts/slideLayout47.xml"/><Relationship Id="rId8" Type="http://schemas.openxmlformats.org/officeDocument/2006/relationships/image" Target="../media/image341.wmf"/><Relationship Id="rId7" Type="http://schemas.openxmlformats.org/officeDocument/2006/relationships/oleObject" Target="../embeddings/oleObject261.bin"/><Relationship Id="rId6" Type="http://schemas.openxmlformats.org/officeDocument/2006/relationships/image" Target="../media/image340.wmf"/><Relationship Id="rId5" Type="http://schemas.openxmlformats.org/officeDocument/2006/relationships/oleObject" Target="../embeddings/oleObject260.bin"/><Relationship Id="rId4" Type="http://schemas.openxmlformats.org/officeDocument/2006/relationships/image" Target="../media/image339.wmf"/><Relationship Id="rId3" Type="http://schemas.openxmlformats.org/officeDocument/2006/relationships/oleObject" Target="../embeddings/oleObject259.bin"/><Relationship Id="rId2" Type="http://schemas.openxmlformats.org/officeDocument/2006/relationships/image" Target="../media/image338.emf"/><Relationship Id="rId10" Type="http://schemas.openxmlformats.org/officeDocument/2006/relationships/vmlDrawing" Target="../drawings/vmlDrawing115.vml"/><Relationship Id="rId1" Type="http://schemas.openxmlformats.org/officeDocument/2006/relationships/oleObject" Target="../embeddings/oleObject258.bin"/></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7.xml"/></Relationships>
</file>

<file path=ppt/slides/_rels/slide43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7.xml"/></Relationships>
</file>

<file path=ppt/slides/_rels/slide437.xml.rels><?xml version="1.0" encoding="UTF-8" standalone="yes"?>
<Relationships xmlns="http://schemas.openxmlformats.org/package/2006/relationships"><Relationship Id="rId5" Type="http://schemas.openxmlformats.org/officeDocument/2006/relationships/notesSlide" Target="../notesSlides/notesSlide45.xml"/><Relationship Id="rId4" Type="http://schemas.openxmlformats.org/officeDocument/2006/relationships/vmlDrawing" Target="../drawings/vmlDrawing116.vml"/><Relationship Id="rId3" Type="http://schemas.openxmlformats.org/officeDocument/2006/relationships/slideLayout" Target="../slideLayouts/slideLayout47.xml"/><Relationship Id="rId2" Type="http://schemas.openxmlformats.org/officeDocument/2006/relationships/image" Target="../media/image342.wmf"/><Relationship Id="rId1" Type="http://schemas.openxmlformats.org/officeDocument/2006/relationships/oleObject" Target="../embeddings/oleObject262.bin"/></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7.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7.xml"/></Relationships>
</file>

<file path=ppt/slides/_rels/slide440.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47.xml"/><Relationship Id="rId1" Type="http://schemas.openxmlformats.org/officeDocument/2006/relationships/image" Target="../media/image343.jpeg"/></Relationships>
</file>

<file path=ppt/slides/_rels/slide441.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47.xml"/><Relationship Id="rId1" Type="http://schemas.openxmlformats.org/officeDocument/2006/relationships/image" Target="../media/image343.jpeg"/></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7.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7.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7.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7.xml"/></Relationships>
</file>

<file path=ppt/slides/_rels/slide446.xml.rels><?xml version="1.0" encoding="UTF-8" standalone="yes"?>
<Relationships xmlns="http://schemas.openxmlformats.org/package/2006/relationships"><Relationship Id="rId9" Type="http://schemas.openxmlformats.org/officeDocument/2006/relationships/notesSlide" Target="../notesSlides/notesSlide54.xml"/><Relationship Id="rId8" Type="http://schemas.openxmlformats.org/officeDocument/2006/relationships/vmlDrawing" Target="../drawings/vmlDrawing117.vml"/><Relationship Id="rId7" Type="http://schemas.openxmlformats.org/officeDocument/2006/relationships/slideLayout" Target="../slideLayouts/slideLayout47.xml"/><Relationship Id="rId6" Type="http://schemas.openxmlformats.org/officeDocument/2006/relationships/image" Target="../media/image346.wmf"/><Relationship Id="rId5" Type="http://schemas.openxmlformats.org/officeDocument/2006/relationships/oleObject" Target="../embeddings/oleObject265.bin"/><Relationship Id="rId4" Type="http://schemas.openxmlformats.org/officeDocument/2006/relationships/image" Target="../media/image345.wmf"/><Relationship Id="rId3" Type="http://schemas.openxmlformats.org/officeDocument/2006/relationships/oleObject" Target="../embeddings/oleObject264.bin"/><Relationship Id="rId2" Type="http://schemas.openxmlformats.org/officeDocument/2006/relationships/image" Target="../media/image344.wmf"/><Relationship Id="rId1" Type="http://schemas.openxmlformats.org/officeDocument/2006/relationships/oleObject" Target="../embeddings/oleObject263.bin"/></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7.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7.xml"/></Relationships>
</file>

<file path=ppt/slides/_rels/slide449.xml.rels><?xml version="1.0" encoding="UTF-8" standalone="yes"?>
<Relationships xmlns="http://schemas.openxmlformats.org/package/2006/relationships"><Relationship Id="rId9" Type="http://schemas.openxmlformats.org/officeDocument/2006/relationships/oleObject" Target="../embeddings/oleObject270.bin"/><Relationship Id="rId8" Type="http://schemas.openxmlformats.org/officeDocument/2006/relationships/image" Target="../media/image350.wmf"/><Relationship Id="rId7" Type="http://schemas.openxmlformats.org/officeDocument/2006/relationships/oleObject" Target="../embeddings/oleObject269.bin"/><Relationship Id="rId6" Type="http://schemas.openxmlformats.org/officeDocument/2006/relationships/image" Target="../media/image349.wmf"/><Relationship Id="rId5" Type="http://schemas.openxmlformats.org/officeDocument/2006/relationships/oleObject" Target="../embeddings/oleObject268.bin"/><Relationship Id="rId4" Type="http://schemas.openxmlformats.org/officeDocument/2006/relationships/image" Target="../media/image348.wmf"/><Relationship Id="rId3" Type="http://schemas.openxmlformats.org/officeDocument/2006/relationships/oleObject" Target="../embeddings/oleObject267.bin"/><Relationship Id="rId2" Type="http://schemas.openxmlformats.org/officeDocument/2006/relationships/image" Target="../media/image347.wmf"/><Relationship Id="rId19" Type="http://schemas.openxmlformats.org/officeDocument/2006/relationships/notesSlide" Target="../notesSlides/notesSlide57.xml"/><Relationship Id="rId18" Type="http://schemas.openxmlformats.org/officeDocument/2006/relationships/vmlDrawing" Target="../drawings/vmlDrawing118.vml"/><Relationship Id="rId17" Type="http://schemas.openxmlformats.org/officeDocument/2006/relationships/slideLayout" Target="../slideLayouts/slideLayout48.xml"/><Relationship Id="rId16" Type="http://schemas.openxmlformats.org/officeDocument/2006/relationships/image" Target="../media/image354.wmf"/><Relationship Id="rId15" Type="http://schemas.openxmlformats.org/officeDocument/2006/relationships/oleObject" Target="../embeddings/oleObject273.bin"/><Relationship Id="rId14" Type="http://schemas.openxmlformats.org/officeDocument/2006/relationships/image" Target="../media/image353.wmf"/><Relationship Id="rId13" Type="http://schemas.openxmlformats.org/officeDocument/2006/relationships/oleObject" Target="../embeddings/oleObject272.bin"/><Relationship Id="rId12" Type="http://schemas.openxmlformats.org/officeDocument/2006/relationships/image" Target="../media/image352.wmf"/><Relationship Id="rId11" Type="http://schemas.openxmlformats.org/officeDocument/2006/relationships/oleObject" Target="../embeddings/oleObject271.bin"/><Relationship Id="rId10" Type="http://schemas.openxmlformats.org/officeDocument/2006/relationships/image" Target="../media/image351.wmf"/><Relationship Id="rId1" Type="http://schemas.openxmlformats.org/officeDocument/2006/relationships/oleObject" Target="../embeddings/oleObject266.bin"/></Relationships>
</file>

<file path=ppt/slides/_rels/slide450.xml.rels><?xml version="1.0" encoding="UTF-8" standalone="yes"?>
<Relationships xmlns="http://schemas.openxmlformats.org/package/2006/relationships"><Relationship Id="rId9" Type="http://schemas.openxmlformats.org/officeDocument/2006/relationships/notesSlide" Target="../notesSlides/notesSlide58.xml"/><Relationship Id="rId8" Type="http://schemas.openxmlformats.org/officeDocument/2006/relationships/vmlDrawing" Target="../drawings/vmlDrawing119.vml"/><Relationship Id="rId7" Type="http://schemas.openxmlformats.org/officeDocument/2006/relationships/slideLayout" Target="../slideLayouts/slideLayout39.xml"/><Relationship Id="rId6" Type="http://schemas.openxmlformats.org/officeDocument/2006/relationships/image" Target="../media/image357.wmf"/><Relationship Id="rId5" Type="http://schemas.openxmlformats.org/officeDocument/2006/relationships/oleObject" Target="../embeddings/oleObject276.bin"/><Relationship Id="rId4" Type="http://schemas.openxmlformats.org/officeDocument/2006/relationships/image" Target="../media/image356.wmf"/><Relationship Id="rId3" Type="http://schemas.openxmlformats.org/officeDocument/2006/relationships/oleObject" Target="../embeddings/oleObject275.bin"/><Relationship Id="rId2" Type="http://schemas.openxmlformats.org/officeDocument/2006/relationships/image" Target="../media/image355.wmf"/><Relationship Id="rId1" Type="http://schemas.openxmlformats.org/officeDocument/2006/relationships/oleObject" Target="../embeddings/oleObject274.bin"/></Relationships>
</file>

<file path=ppt/slides/_rels/slide451.xml.rels><?xml version="1.0" encoding="UTF-8" standalone="yes"?>
<Relationships xmlns="http://schemas.openxmlformats.org/package/2006/relationships"><Relationship Id="rId5" Type="http://schemas.openxmlformats.org/officeDocument/2006/relationships/notesSlide" Target="../notesSlides/notesSlide59.xml"/><Relationship Id="rId4" Type="http://schemas.openxmlformats.org/officeDocument/2006/relationships/vmlDrawing" Target="../drawings/vmlDrawing120.vml"/><Relationship Id="rId3" Type="http://schemas.openxmlformats.org/officeDocument/2006/relationships/slideLayout" Target="../slideLayouts/slideLayout47.xml"/><Relationship Id="rId2" Type="http://schemas.openxmlformats.org/officeDocument/2006/relationships/image" Target="../media/image358.wmf"/><Relationship Id="rId1" Type="http://schemas.openxmlformats.org/officeDocument/2006/relationships/oleObject" Target="../embeddings/oleObject277.bin"/></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7.xml"/></Relationships>
</file>

<file path=ppt/slides/_rels/slide453.xml.rels><?xml version="1.0" encoding="UTF-8" standalone="yes"?>
<Relationships xmlns="http://schemas.openxmlformats.org/package/2006/relationships"><Relationship Id="rId5" Type="http://schemas.openxmlformats.org/officeDocument/2006/relationships/notesSlide" Target="../notesSlides/notesSlide61.xml"/><Relationship Id="rId4" Type="http://schemas.openxmlformats.org/officeDocument/2006/relationships/vmlDrawing" Target="../drawings/vmlDrawing121.vml"/><Relationship Id="rId3" Type="http://schemas.openxmlformats.org/officeDocument/2006/relationships/slideLayout" Target="../slideLayouts/slideLayout47.xml"/><Relationship Id="rId2" Type="http://schemas.openxmlformats.org/officeDocument/2006/relationships/image" Target="../media/image359.wmf"/><Relationship Id="rId1" Type="http://schemas.openxmlformats.org/officeDocument/2006/relationships/oleObject" Target="../embeddings/oleObject278.bin"/></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7.xml"/></Relationships>
</file>

<file path=ppt/slides/_rels/slide455.xml.rels><?xml version="1.0" encoding="UTF-8" standalone="yes"?>
<Relationships xmlns="http://schemas.openxmlformats.org/package/2006/relationships"><Relationship Id="rId4" Type="http://schemas.openxmlformats.org/officeDocument/2006/relationships/notesSlide" Target="../notesSlides/notesSlide63.xml"/><Relationship Id="rId3" Type="http://schemas.openxmlformats.org/officeDocument/2006/relationships/slideLayout" Target="../slideLayouts/slideLayout47.xml"/><Relationship Id="rId2" Type="http://schemas.openxmlformats.org/officeDocument/2006/relationships/image" Target="../media/image361.png"/><Relationship Id="rId1" Type="http://schemas.openxmlformats.org/officeDocument/2006/relationships/image" Target="../media/image360.png"/></Relationships>
</file>

<file path=ppt/slides/_rels/slide456.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47.xml"/><Relationship Id="rId1" Type="http://schemas.openxmlformats.org/officeDocument/2006/relationships/image" Target="../media/image362.png"/></Relationships>
</file>

<file path=ppt/slides/_rels/slide457.xml.rels><?xml version="1.0" encoding="UTF-8" standalone="yes"?>
<Relationships xmlns="http://schemas.openxmlformats.org/package/2006/relationships"><Relationship Id="rId6" Type="http://schemas.openxmlformats.org/officeDocument/2006/relationships/notesSlide" Target="../notesSlides/notesSlide65.xml"/><Relationship Id="rId5" Type="http://schemas.openxmlformats.org/officeDocument/2006/relationships/vmlDrawing" Target="../drawings/vmlDrawing122.vml"/><Relationship Id="rId4" Type="http://schemas.openxmlformats.org/officeDocument/2006/relationships/slideLayout" Target="../slideLayouts/slideLayout47.xml"/><Relationship Id="rId3" Type="http://schemas.openxmlformats.org/officeDocument/2006/relationships/image" Target="../media/image363.wmf"/><Relationship Id="rId2" Type="http://schemas.openxmlformats.org/officeDocument/2006/relationships/oleObject" Target="../embeddings/oleObject279.bin"/><Relationship Id="rId1" Type="http://schemas.openxmlformats.org/officeDocument/2006/relationships/image" Target="../media/image362.png"/></Relationships>
</file>

<file path=ppt/slides/_rels/slide458.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47.xml"/><Relationship Id="rId1" Type="http://schemas.openxmlformats.org/officeDocument/2006/relationships/image" Target="../media/image362.png"/></Relationships>
</file>

<file path=ppt/slides/_rels/slide459.xml.rels><?xml version="1.0" encoding="UTF-8" standalone="yes"?>
<Relationships xmlns="http://schemas.openxmlformats.org/package/2006/relationships"><Relationship Id="rId8" Type="http://schemas.openxmlformats.org/officeDocument/2006/relationships/notesSlide" Target="../notesSlides/notesSlide67.xml"/><Relationship Id="rId7" Type="http://schemas.openxmlformats.org/officeDocument/2006/relationships/vmlDrawing" Target="../drawings/vmlDrawing123.vml"/><Relationship Id="rId6" Type="http://schemas.openxmlformats.org/officeDocument/2006/relationships/slideLayout" Target="../slideLayouts/slideLayout39.xml"/><Relationship Id="rId5" Type="http://schemas.openxmlformats.org/officeDocument/2006/relationships/image" Target="../media/image365.wmf"/><Relationship Id="rId4" Type="http://schemas.openxmlformats.org/officeDocument/2006/relationships/oleObject" Target="../embeddings/oleObject281.bin"/><Relationship Id="rId3" Type="http://schemas.openxmlformats.org/officeDocument/2006/relationships/image" Target="../media/image364.wmf"/><Relationship Id="rId2" Type="http://schemas.openxmlformats.org/officeDocument/2006/relationships/oleObject" Target="../embeddings/oleObject280.bin"/><Relationship Id="rId1" Type="http://schemas.openxmlformats.org/officeDocument/2006/relationships/image" Target="../media/image362.png"/></Relationships>
</file>

<file path=ppt/slides/_rels/slide460.xml.rels><?xml version="1.0" encoding="UTF-8" standalone="yes"?>
<Relationships xmlns="http://schemas.openxmlformats.org/package/2006/relationships"><Relationship Id="rId4" Type="http://schemas.openxmlformats.org/officeDocument/2006/relationships/notesSlide" Target="../notesSlides/notesSlide68.xml"/><Relationship Id="rId3" Type="http://schemas.openxmlformats.org/officeDocument/2006/relationships/slideLayout" Target="../slideLayouts/slideLayout47.xml"/><Relationship Id="rId2" Type="http://schemas.openxmlformats.org/officeDocument/2006/relationships/image" Target="../media/image367.png"/><Relationship Id="rId1" Type="http://schemas.openxmlformats.org/officeDocument/2006/relationships/image" Target="../media/image366.png"/></Relationships>
</file>

<file path=ppt/slides/_rels/slide461.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47.xml"/><Relationship Id="rId1" Type="http://schemas.openxmlformats.org/officeDocument/2006/relationships/image" Target="../media/image368.png"/></Relationships>
</file>

<file path=ppt/slides/_rels/slide462.xml.rels><?xml version="1.0" encoding="UTF-8" standalone="yes"?>
<Relationships xmlns="http://schemas.openxmlformats.org/package/2006/relationships"><Relationship Id="rId6" Type="http://schemas.openxmlformats.org/officeDocument/2006/relationships/notesSlide" Target="../notesSlides/notesSlide70.xml"/><Relationship Id="rId5" Type="http://schemas.openxmlformats.org/officeDocument/2006/relationships/vmlDrawing" Target="../drawings/vmlDrawing124.vml"/><Relationship Id="rId4" Type="http://schemas.openxmlformats.org/officeDocument/2006/relationships/slideLayout" Target="../slideLayouts/slideLayout47.xml"/><Relationship Id="rId3" Type="http://schemas.openxmlformats.org/officeDocument/2006/relationships/image" Target="../media/image370.wmf"/><Relationship Id="rId2" Type="http://schemas.openxmlformats.org/officeDocument/2006/relationships/oleObject" Target="../embeddings/oleObject282.bin"/><Relationship Id="rId1" Type="http://schemas.openxmlformats.org/officeDocument/2006/relationships/image" Target="../media/image369.png"/></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7.xml"/></Relationships>
</file>

<file path=ppt/slides/_rels/slide464.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47.xml"/><Relationship Id="rId1" Type="http://schemas.openxmlformats.org/officeDocument/2006/relationships/image" Target="../media/image371.png"/></Relationships>
</file>

<file path=ppt/slides/_rels/slide465.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47.xml"/><Relationship Id="rId1" Type="http://schemas.openxmlformats.org/officeDocument/2006/relationships/image" Target="../media/image372.png"/></Relationships>
</file>

<file path=ppt/slides/_rels/slide466.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47.xml"/><Relationship Id="rId1" Type="http://schemas.openxmlformats.org/officeDocument/2006/relationships/image" Target="../media/image373.png"/></Relationships>
</file>

<file path=ppt/slides/_rels/slide467.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47.xml"/><Relationship Id="rId1" Type="http://schemas.openxmlformats.org/officeDocument/2006/relationships/image" Target="../media/image374.png"/></Relationships>
</file>

<file path=ppt/slides/_rels/slide468.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7.xml"/></Relationships>
</file>

<file path=ppt/slides/_rels/slide469.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75.png"/></Relationships>
</file>

<file path=ppt/slides/_rels/slide470.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75.png"/></Relationships>
</file>

<file path=ppt/slides/_rels/slide471.xml.rels><?xml version="1.0" encoding="UTF-8" standalone="yes"?>
<Relationships xmlns="http://schemas.openxmlformats.org/package/2006/relationships"><Relationship Id="rId3" Type="http://schemas.openxmlformats.org/officeDocument/2006/relationships/slideLayout" Target="../slideLayouts/slideLayout42.xml"/><Relationship Id="rId2" Type="http://schemas.openxmlformats.org/officeDocument/2006/relationships/image" Target="../media/image377.png"/><Relationship Id="rId1" Type="http://schemas.openxmlformats.org/officeDocument/2006/relationships/image" Target="../media/image376.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74.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image" Target="../media/image378.png"/></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76.xml.rels><?xml version="1.0" encoding="UTF-8" standalone="yes"?>
<Relationships xmlns="http://schemas.openxmlformats.org/package/2006/relationships"><Relationship Id="rId3" Type="http://schemas.openxmlformats.org/officeDocument/2006/relationships/slideLayout" Target="../slideLayouts/slideLayout49.xml"/><Relationship Id="rId2" Type="http://schemas.openxmlformats.org/officeDocument/2006/relationships/image" Target="../media/image335.png"/><Relationship Id="rId1" Type="http://schemas.openxmlformats.org/officeDocument/2006/relationships/image" Target="../media/image3.jpe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78.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79.wmf"/></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80.xml.rels><?xml version="1.0" encoding="UTF-8" standalone="yes"?>
<Relationships xmlns="http://schemas.openxmlformats.org/package/2006/relationships"><Relationship Id="rId4" Type="http://schemas.openxmlformats.org/officeDocument/2006/relationships/vmlDrawing" Target="../drawings/vmlDrawing125.vml"/><Relationship Id="rId3" Type="http://schemas.openxmlformats.org/officeDocument/2006/relationships/slideLayout" Target="../slideLayouts/slideLayout55.xml"/><Relationship Id="rId2" Type="http://schemas.openxmlformats.org/officeDocument/2006/relationships/image" Target="../media/image380.wmf"/><Relationship Id="rId1" Type="http://schemas.openxmlformats.org/officeDocument/2006/relationships/oleObject" Target="../embeddings/oleObject283.bin"/></Relationships>
</file>

<file path=ppt/slides/_rels/slide481.xml.rels><?xml version="1.0" encoding="UTF-8" standalone="yes"?>
<Relationships xmlns="http://schemas.openxmlformats.org/package/2006/relationships"><Relationship Id="rId4" Type="http://schemas.openxmlformats.org/officeDocument/2006/relationships/vmlDrawing" Target="../drawings/vmlDrawing126.vml"/><Relationship Id="rId3" Type="http://schemas.openxmlformats.org/officeDocument/2006/relationships/slideLayout" Target="../slideLayouts/slideLayout55.xml"/><Relationship Id="rId2" Type="http://schemas.openxmlformats.org/officeDocument/2006/relationships/image" Target="../media/image381.wmf"/><Relationship Id="rId1" Type="http://schemas.openxmlformats.org/officeDocument/2006/relationships/oleObject" Target="../embeddings/oleObject284.bin"/></Relationships>
</file>

<file path=ppt/slides/_rels/slide482.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35.png"/></Relationships>
</file>

<file path=ppt/slides/_rels/slide483.xml.rels><?xml version="1.0" encoding="UTF-8" standalone="yes"?>
<Relationships xmlns="http://schemas.openxmlformats.org/package/2006/relationships"><Relationship Id="rId6" Type="http://schemas.openxmlformats.org/officeDocument/2006/relationships/vmlDrawing" Target="../drawings/vmlDrawing127.vml"/><Relationship Id="rId5" Type="http://schemas.openxmlformats.org/officeDocument/2006/relationships/slideLayout" Target="../slideLayouts/slideLayout55.xml"/><Relationship Id="rId4" Type="http://schemas.openxmlformats.org/officeDocument/2006/relationships/image" Target="../media/image383.wmf"/><Relationship Id="rId3" Type="http://schemas.openxmlformats.org/officeDocument/2006/relationships/oleObject" Target="../embeddings/oleObject286.bin"/><Relationship Id="rId2" Type="http://schemas.openxmlformats.org/officeDocument/2006/relationships/image" Target="../media/image382.wmf"/><Relationship Id="rId1" Type="http://schemas.openxmlformats.org/officeDocument/2006/relationships/oleObject" Target="../embeddings/oleObject285.bin"/></Relationships>
</file>

<file path=ppt/slides/_rels/slide484.xml.rels><?xml version="1.0" encoding="UTF-8" standalone="yes"?>
<Relationships xmlns="http://schemas.openxmlformats.org/package/2006/relationships"><Relationship Id="rId5" Type="http://schemas.openxmlformats.org/officeDocument/2006/relationships/vmlDrawing" Target="../drawings/vmlDrawing128.vml"/><Relationship Id="rId4" Type="http://schemas.openxmlformats.org/officeDocument/2006/relationships/slideLayout" Target="../slideLayouts/slideLayout55.xml"/><Relationship Id="rId3" Type="http://schemas.openxmlformats.org/officeDocument/2006/relationships/image" Target="../media/image335.png"/><Relationship Id="rId2" Type="http://schemas.openxmlformats.org/officeDocument/2006/relationships/image" Target="../media/image384.wmf"/><Relationship Id="rId1" Type="http://schemas.openxmlformats.org/officeDocument/2006/relationships/oleObject" Target="../embeddings/oleObject287.bin"/></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87.xml.rels><?xml version="1.0" encoding="UTF-8" standalone="yes"?>
<Relationships xmlns="http://schemas.openxmlformats.org/package/2006/relationships"><Relationship Id="rId4" Type="http://schemas.openxmlformats.org/officeDocument/2006/relationships/vmlDrawing" Target="../drawings/vmlDrawing129.vml"/><Relationship Id="rId3" Type="http://schemas.openxmlformats.org/officeDocument/2006/relationships/slideLayout" Target="../slideLayouts/slideLayout55.xml"/><Relationship Id="rId2" Type="http://schemas.openxmlformats.org/officeDocument/2006/relationships/image" Target="../media/image385.wmf"/><Relationship Id="rId1" Type="http://schemas.openxmlformats.org/officeDocument/2006/relationships/oleObject" Target="../embeddings/oleObject288.bin"/></Relationships>
</file>

<file path=ppt/slides/_rels/slide488.xml.rels><?xml version="1.0" encoding="UTF-8" standalone="yes"?>
<Relationships xmlns="http://schemas.openxmlformats.org/package/2006/relationships"><Relationship Id="rId6" Type="http://schemas.openxmlformats.org/officeDocument/2006/relationships/vmlDrawing" Target="../drawings/vmlDrawing130.vml"/><Relationship Id="rId5" Type="http://schemas.openxmlformats.org/officeDocument/2006/relationships/slideLayout" Target="../slideLayouts/slideLayout55.xml"/><Relationship Id="rId4" Type="http://schemas.openxmlformats.org/officeDocument/2006/relationships/image" Target="../media/image387.wmf"/><Relationship Id="rId3" Type="http://schemas.openxmlformats.org/officeDocument/2006/relationships/oleObject" Target="../embeddings/oleObject290.bin"/><Relationship Id="rId2" Type="http://schemas.openxmlformats.org/officeDocument/2006/relationships/image" Target="../media/image386.wmf"/><Relationship Id="rId1" Type="http://schemas.openxmlformats.org/officeDocument/2006/relationships/oleObject" Target="../embeddings/oleObject289.bin"/></Relationships>
</file>

<file path=ppt/slides/_rels/slide489.xml.rels><?xml version="1.0" encoding="UTF-8" standalone="yes"?>
<Relationships xmlns="http://schemas.openxmlformats.org/package/2006/relationships"><Relationship Id="rId4" Type="http://schemas.openxmlformats.org/officeDocument/2006/relationships/vmlDrawing" Target="../drawings/vmlDrawing131.vml"/><Relationship Id="rId3" Type="http://schemas.openxmlformats.org/officeDocument/2006/relationships/slideLayout" Target="../slideLayouts/slideLayout55.xml"/><Relationship Id="rId2" Type="http://schemas.openxmlformats.org/officeDocument/2006/relationships/image" Target="../media/image388.wmf"/><Relationship Id="rId1" Type="http://schemas.openxmlformats.org/officeDocument/2006/relationships/oleObject" Target="../embeddings/oleObject291.bin"/></Relationships>
</file>

<file path=ppt/slides/_rels/slide490.xml.rels><?xml version="1.0" encoding="UTF-8" standalone="yes"?>
<Relationships xmlns="http://schemas.openxmlformats.org/package/2006/relationships"><Relationship Id="rId4" Type="http://schemas.openxmlformats.org/officeDocument/2006/relationships/vmlDrawing" Target="../drawings/vmlDrawing132.vml"/><Relationship Id="rId3" Type="http://schemas.openxmlformats.org/officeDocument/2006/relationships/slideLayout" Target="../slideLayouts/slideLayout55.xml"/><Relationship Id="rId2" Type="http://schemas.openxmlformats.org/officeDocument/2006/relationships/image" Target="../media/image389.wmf"/><Relationship Id="rId1" Type="http://schemas.openxmlformats.org/officeDocument/2006/relationships/oleObject" Target="../embeddings/oleObject292.bin"/></Relationships>
</file>

<file path=ppt/slides/_rels/slide491.xml.rels><?xml version="1.0" encoding="UTF-8" standalone="yes"?>
<Relationships xmlns="http://schemas.openxmlformats.org/package/2006/relationships"><Relationship Id="rId9" Type="http://schemas.openxmlformats.org/officeDocument/2006/relationships/slideLayout" Target="../slideLayouts/slideLayout55.xml"/><Relationship Id="rId8" Type="http://schemas.openxmlformats.org/officeDocument/2006/relationships/image" Target="../media/image393.wmf"/><Relationship Id="rId7" Type="http://schemas.openxmlformats.org/officeDocument/2006/relationships/oleObject" Target="../embeddings/oleObject296.bin"/><Relationship Id="rId6" Type="http://schemas.openxmlformats.org/officeDocument/2006/relationships/image" Target="../media/image392.wmf"/><Relationship Id="rId5" Type="http://schemas.openxmlformats.org/officeDocument/2006/relationships/oleObject" Target="../embeddings/oleObject295.bin"/><Relationship Id="rId4" Type="http://schemas.openxmlformats.org/officeDocument/2006/relationships/image" Target="../media/image391.wmf"/><Relationship Id="rId3" Type="http://schemas.openxmlformats.org/officeDocument/2006/relationships/oleObject" Target="../embeddings/oleObject294.bin"/><Relationship Id="rId2" Type="http://schemas.openxmlformats.org/officeDocument/2006/relationships/image" Target="../media/image390.wmf"/><Relationship Id="rId10" Type="http://schemas.openxmlformats.org/officeDocument/2006/relationships/vmlDrawing" Target="../drawings/vmlDrawing133.vml"/><Relationship Id="rId1" Type="http://schemas.openxmlformats.org/officeDocument/2006/relationships/oleObject" Target="../embeddings/oleObject293.bin"/></Relationships>
</file>

<file path=ppt/slides/_rels/slide492.xml.rels><?xml version="1.0" encoding="UTF-8" standalone="yes"?>
<Relationships xmlns="http://schemas.openxmlformats.org/package/2006/relationships"><Relationship Id="rId4" Type="http://schemas.openxmlformats.org/officeDocument/2006/relationships/vmlDrawing" Target="../drawings/vmlDrawing134.vml"/><Relationship Id="rId3" Type="http://schemas.openxmlformats.org/officeDocument/2006/relationships/slideLayout" Target="../slideLayouts/slideLayout55.xml"/><Relationship Id="rId2" Type="http://schemas.openxmlformats.org/officeDocument/2006/relationships/image" Target="../media/image394.wmf"/><Relationship Id="rId1" Type="http://schemas.openxmlformats.org/officeDocument/2006/relationships/oleObject" Target="../embeddings/oleObject297.bin"/></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94.xml.rels><?xml version="1.0" encoding="UTF-8" standalone="yes"?>
<Relationships xmlns="http://schemas.openxmlformats.org/package/2006/relationships"><Relationship Id="rId5" Type="http://schemas.openxmlformats.org/officeDocument/2006/relationships/vmlDrawing" Target="../drawings/vmlDrawing135.vml"/><Relationship Id="rId4" Type="http://schemas.openxmlformats.org/officeDocument/2006/relationships/slideLayout" Target="../slideLayouts/slideLayout55.xml"/><Relationship Id="rId3" Type="http://schemas.openxmlformats.org/officeDocument/2006/relationships/image" Target="../media/image395.wmf"/><Relationship Id="rId2" Type="http://schemas.openxmlformats.org/officeDocument/2006/relationships/oleObject" Target="../embeddings/oleObject298.bin"/><Relationship Id="rId1" Type="http://schemas.openxmlformats.org/officeDocument/2006/relationships/image" Target="../media/image335.png"/></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496.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96.wmf"/></Relationships>
</file>

<file path=ppt/slides/_rels/slide497.xml.rels><?xml version="1.0" encoding="UTF-8" standalone="yes"?>
<Relationships xmlns="http://schemas.openxmlformats.org/package/2006/relationships"><Relationship Id="rId5" Type="http://schemas.openxmlformats.org/officeDocument/2006/relationships/vmlDrawing" Target="../drawings/vmlDrawing136.vml"/><Relationship Id="rId4" Type="http://schemas.openxmlformats.org/officeDocument/2006/relationships/slideLayout" Target="../slideLayouts/slideLayout55.xml"/><Relationship Id="rId3" Type="http://schemas.openxmlformats.org/officeDocument/2006/relationships/image" Target="../media/image397.wmf"/><Relationship Id="rId2" Type="http://schemas.openxmlformats.org/officeDocument/2006/relationships/oleObject" Target="../embeddings/oleObject299.bin"/><Relationship Id="rId1" Type="http://schemas.openxmlformats.org/officeDocument/2006/relationships/image" Target="../media/image335.png"/></Relationships>
</file>

<file path=ppt/slides/_rels/slide498.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35.png"/></Relationships>
</file>

<file path=ppt/slides/_rels/slide499.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98.wmf"/></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3.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35.png"/></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5.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audio" Target="../media/audio1.wav"/></Relationships>
</file>

<file path=ppt/slides/_rels/slide506.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399.wmf"/></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09.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audio" Target="../media/audio1.wav"/></Relationships>
</file>

<file path=ppt/slides/_rels/slide510.xml.rels><?xml version="1.0" encoding="UTF-8" standalone="yes"?>
<Relationships xmlns="http://schemas.openxmlformats.org/package/2006/relationships"><Relationship Id="rId6" Type="http://schemas.openxmlformats.org/officeDocument/2006/relationships/vmlDrawing" Target="../drawings/vmlDrawing137.vml"/><Relationship Id="rId5" Type="http://schemas.openxmlformats.org/officeDocument/2006/relationships/slideLayout" Target="../slideLayouts/slideLayout55.xml"/><Relationship Id="rId4" Type="http://schemas.openxmlformats.org/officeDocument/2006/relationships/image" Target="../media/image401.wmf"/><Relationship Id="rId3" Type="http://schemas.openxmlformats.org/officeDocument/2006/relationships/oleObject" Target="../embeddings/oleObject301.bin"/><Relationship Id="rId2" Type="http://schemas.openxmlformats.org/officeDocument/2006/relationships/image" Target="../media/image400.wmf"/><Relationship Id="rId1" Type="http://schemas.openxmlformats.org/officeDocument/2006/relationships/oleObject" Target="../embeddings/oleObject300.bin"/></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13.xml.rels><?xml version="1.0" encoding="UTF-8" standalone="yes"?>
<Relationships xmlns="http://schemas.openxmlformats.org/package/2006/relationships"><Relationship Id="rId6" Type="http://schemas.openxmlformats.org/officeDocument/2006/relationships/vmlDrawing" Target="../drawings/vmlDrawing138.vml"/><Relationship Id="rId5" Type="http://schemas.openxmlformats.org/officeDocument/2006/relationships/slideLayout" Target="../slideLayouts/slideLayout55.xml"/><Relationship Id="rId4" Type="http://schemas.openxmlformats.org/officeDocument/2006/relationships/image" Target="../media/image403.wmf"/><Relationship Id="rId3" Type="http://schemas.openxmlformats.org/officeDocument/2006/relationships/oleObject" Target="../embeddings/oleObject303.bin"/><Relationship Id="rId2" Type="http://schemas.openxmlformats.org/officeDocument/2006/relationships/image" Target="../media/image402.wmf"/><Relationship Id="rId1" Type="http://schemas.openxmlformats.org/officeDocument/2006/relationships/oleObject" Target="../embeddings/oleObject302.bin"/></Relationships>
</file>

<file path=ppt/slides/_rels/slide514.xml.rels><?xml version="1.0" encoding="UTF-8" standalone="yes"?>
<Relationships xmlns="http://schemas.openxmlformats.org/package/2006/relationships"><Relationship Id="rId8" Type="http://schemas.openxmlformats.org/officeDocument/2006/relationships/vmlDrawing" Target="../drawings/vmlDrawing139.vml"/><Relationship Id="rId7" Type="http://schemas.openxmlformats.org/officeDocument/2006/relationships/slideLayout" Target="../slideLayouts/slideLayout55.xml"/><Relationship Id="rId6" Type="http://schemas.openxmlformats.org/officeDocument/2006/relationships/image" Target="../media/image406.wmf"/><Relationship Id="rId5" Type="http://schemas.openxmlformats.org/officeDocument/2006/relationships/oleObject" Target="../embeddings/oleObject306.bin"/><Relationship Id="rId4" Type="http://schemas.openxmlformats.org/officeDocument/2006/relationships/image" Target="../media/image405.wmf"/><Relationship Id="rId3" Type="http://schemas.openxmlformats.org/officeDocument/2006/relationships/oleObject" Target="../embeddings/oleObject305.bin"/><Relationship Id="rId2" Type="http://schemas.openxmlformats.org/officeDocument/2006/relationships/image" Target="../media/image404.wmf"/><Relationship Id="rId1" Type="http://schemas.openxmlformats.org/officeDocument/2006/relationships/oleObject" Target="../embeddings/oleObject304.bin"/></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16.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407.wmf"/></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18.xml.rels><?xml version="1.0" encoding="UTF-8" standalone="yes"?>
<Relationships xmlns="http://schemas.openxmlformats.org/package/2006/relationships"><Relationship Id="rId6" Type="http://schemas.openxmlformats.org/officeDocument/2006/relationships/vmlDrawing" Target="../drawings/vmlDrawing140.vml"/><Relationship Id="rId5" Type="http://schemas.openxmlformats.org/officeDocument/2006/relationships/slideLayout" Target="../slideLayouts/slideLayout55.xml"/><Relationship Id="rId4" Type="http://schemas.openxmlformats.org/officeDocument/2006/relationships/image" Target="../media/image409.wmf"/><Relationship Id="rId3" Type="http://schemas.openxmlformats.org/officeDocument/2006/relationships/oleObject" Target="../embeddings/oleObject308.bin"/><Relationship Id="rId2" Type="http://schemas.openxmlformats.org/officeDocument/2006/relationships/image" Target="../media/image408.wmf"/><Relationship Id="rId1" Type="http://schemas.openxmlformats.org/officeDocument/2006/relationships/oleObject" Target="../embeddings/oleObject307.bin"/></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22.xml.rels><?xml version="1.0" encoding="UTF-8" standalone="yes"?>
<Relationships xmlns="http://schemas.openxmlformats.org/package/2006/relationships"><Relationship Id="rId6" Type="http://schemas.openxmlformats.org/officeDocument/2006/relationships/vmlDrawing" Target="../drawings/vmlDrawing141.vml"/><Relationship Id="rId5" Type="http://schemas.openxmlformats.org/officeDocument/2006/relationships/slideLayout" Target="../slideLayouts/slideLayout55.xml"/><Relationship Id="rId4" Type="http://schemas.openxmlformats.org/officeDocument/2006/relationships/image" Target="../media/image411.wmf"/><Relationship Id="rId3" Type="http://schemas.openxmlformats.org/officeDocument/2006/relationships/oleObject" Target="../embeddings/oleObject310.bin"/><Relationship Id="rId2" Type="http://schemas.openxmlformats.org/officeDocument/2006/relationships/image" Target="../media/image410.wmf"/><Relationship Id="rId1" Type="http://schemas.openxmlformats.org/officeDocument/2006/relationships/oleObject" Target="../embeddings/oleObject309.bin"/></Relationships>
</file>

<file path=ppt/slides/_rels/slide523.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image" Target="../media/image412.wmf"/></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4338" name="Picture 2" descr="Turm_blau_hell"/>
          <p:cNvPicPr>
            <a:picLocks noChangeAspect="1"/>
          </p:cNvPicPr>
          <p:nvPr/>
        </p:nvPicPr>
        <p:blipFill>
          <a:blip r:embed="rId1"/>
          <a:stretch>
            <a:fillRect/>
          </a:stretch>
        </p:blipFill>
        <p:spPr>
          <a:xfrm>
            <a:off x="3016250" y="966788"/>
            <a:ext cx="5537200" cy="5043487"/>
          </a:xfrm>
          <a:prstGeom prst="rect">
            <a:avLst/>
          </a:prstGeom>
          <a:noFill/>
          <a:ln w="9525">
            <a:noFill/>
          </a:ln>
        </p:spPr>
      </p:pic>
      <p:sp>
        <p:nvSpPr>
          <p:cNvPr id="14339" name="Rectangle 3"/>
          <p:cNvSpPr/>
          <p:nvPr/>
        </p:nvSpPr>
        <p:spPr>
          <a:xfrm>
            <a:off x="0" y="512763"/>
            <a:ext cx="609600" cy="5605462"/>
          </a:xfrm>
          <a:prstGeom prst="rect">
            <a:avLst/>
          </a:prstGeom>
          <a:solidFill>
            <a:srgbClr val="808080"/>
          </a:solidFill>
          <a:ln w="12700">
            <a:noFill/>
          </a:ln>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2279428" name="Rectangle 4"/>
          <p:cNvSpPr>
            <a:spLocks noGrp="1" noChangeArrowheads="1"/>
          </p:cNvSpPr>
          <p:nvPr>
            <p:ph type="subTitle" idx="1"/>
          </p:nvPr>
        </p:nvSpPr>
        <p:spPr bwMode="auto">
          <a:xfrm>
            <a:off x="1927225" y="2141538"/>
            <a:ext cx="5695950" cy="677863"/>
          </a:xfrm>
        </p:spPr>
        <p:txBody>
          <a:bodyPr vert="horz" wrap="square" lIns="82550" tIns="41275" rIns="82550" bIns="41275" numCol="1" anchor="t" anchorCtr="0" compatLnSpc="1"/>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mn-ea"/>
                <a:cs typeface="+mn-cs"/>
              </a:rPr>
              <a:t>1.2 </a:t>
            </a:r>
            <a:r>
              <a:rPr kumimoji="1" lang="zh-CN" altLang="en-US" sz="3600" b="1" i="0" u="none" strike="noStrike" kern="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数据采集的意义与任务</a:t>
            </a:r>
            <a:r>
              <a:rPr kumimoji="1" lang="zh-CN" altLang="en-US" sz="3600" b="1" i="0" u="none" strike="noStrike" kern="0" cap="none" spc="0" normalizeH="0" baseline="0" noProof="0">
                <a:ln>
                  <a:noFill/>
                </a:ln>
                <a:solidFill>
                  <a:srgbClr val="000066"/>
                </a:solidFill>
                <a:effectLst/>
                <a:uLnTx/>
                <a:uFillTx/>
                <a:latin typeface="Arial Black" panose="020B0A04020102020204" pitchFamily="34" charset="0"/>
                <a:ea typeface="+mn-ea"/>
                <a:cs typeface="+mn-cs"/>
              </a:rPr>
              <a:t> </a:t>
            </a:r>
            <a:endParaRPr kumimoji="1" lang="zh-CN" altLang="en-US" sz="3600" b="1" i="0" u="none" strike="noStrike" kern="0" cap="none" spc="0" normalizeH="0" baseline="0" noProof="0">
              <a:ln>
                <a:noFill/>
              </a:ln>
              <a:solidFill>
                <a:srgbClr val="000066"/>
              </a:solidFill>
              <a:effectLst/>
              <a:uLnTx/>
              <a:uFillTx/>
              <a:latin typeface="Arial Black" panose="020B0A04020102020204" pitchFamily="34" charset="0"/>
              <a:ea typeface="楷体_GB2312" pitchFamily="49" charset="-122"/>
              <a:cs typeface="+mn-cs"/>
            </a:endParaRPr>
          </a:p>
        </p:txBody>
      </p:sp>
      <p:pic>
        <p:nvPicPr>
          <p:cNvPr id="14341" name="Picture 5" descr="kugel_blau"/>
          <p:cNvPicPr>
            <a:picLocks noChangeAspect="1"/>
          </p:cNvPicPr>
          <p:nvPr/>
        </p:nvPicPr>
        <p:blipFill>
          <a:blip r:embed="rId2"/>
          <a:stretch>
            <a:fillRect/>
          </a:stretch>
        </p:blipFill>
        <p:spPr>
          <a:xfrm>
            <a:off x="1592263" y="2433638"/>
            <a:ext cx="457200" cy="315912"/>
          </a:xfrm>
          <a:prstGeom prst="rect">
            <a:avLst/>
          </a:prstGeom>
          <a:noFill/>
          <a:ln w="9525">
            <a:noFill/>
          </a:ln>
        </p:spPr>
      </p:pic>
      <p:pic>
        <p:nvPicPr>
          <p:cNvPr id="14342" name="Picture 6" descr="kugel_blau"/>
          <p:cNvPicPr>
            <a:picLocks noChangeAspect="1"/>
          </p:cNvPicPr>
          <p:nvPr/>
        </p:nvPicPr>
        <p:blipFill>
          <a:blip r:embed="rId2"/>
          <a:stretch>
            <a:fillRect/>
          </a:stretch>
        </p:blipFill>
        <p:spPr>
          <a:xfrm>
            <a:off x="1587500" y="3219450"/>
            <a:ext cx="457200" cy="315913"/>
          </a:xfrm>
          <a:prstGeom prst="rect">
            <a:avLst/>
          </a:prstGeom>
          <a:noFill/>
          <a:ln w="9525">
            <a:noFill/>
          </a:ln>
        </p:spPr>
      </p:pic>
      <p:sp>
        <p:nvSpPr>
          <p:cNvPr id="2279431" name="Rectangle 7"/>
          <p:cNvSpPr>
            <a:spLocks noChangeArrowheads="1"/>
          </p:cNvSpPr>
          <p:nvPr/>
        </p:nvSpPr>
        <p:spPr bwMode="auto">
          <a:xfrm>
            <a:off x="1919288" y="2943225"/>
            <a:ext cx="6296025" cy="665163"/>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1.3 </a:t>
            </a:r>
            <a:r>
              <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数据采集系统的基本功能</a:t>
            </a:r>
            <a:endPar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14344" name="Picture 8" descr="kugel_blau"/>
          <p:cNvPicPr>
            <a:picLocks noChangeAspect="1"/>
          </p:cNvPicPr>
          <p:nvPr/>
        </p:nvPicPr>
        <p:blipFill>
          <a:blip r:embed="rId2"/>
          <a:stretch>
            <a:fillRect/>
          </a:stretch>
        </p:blipFill>
        <p:spPr>
          <a:xfrm>
            <a:off x="1566863" y="4014788"/>
            <a:ext cx="457200" cy="315912"/>
          </a:xfrm>
          <a:prstGeom prst="rect">
            <a:avLst/>
          </a:prstGeom>
          <a:noFill/>
          <a:ln w="9525">
            <a:noFill/>
          </a:ln>
        </p:spPr>
      </p:pic>
      <p:sp>
        <p:nvSpPr>
          <p:cNvPr id="2279433" name="Rectangle 9"/>
          <p:cNvSpPr>
            <a:spLocks noChangeArrowheads="1"/>
          </p:cNvSpPr>
          <p:nvPr/>
        </p:nvSpPr>
        <p:spPr bwMode="auto">
          <a:xfrm>
            <a:off x="1916113" y="3735388"/>
            <a:ext cx="6364288" cy="665163"/>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1.4</a:t>
            </a:r>
            <a:r>
              <a:rPr kumimoji="1" lang="en-US" altLang="zh-CN"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数据采集系统的结构形式</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14346" name="Picture 10" descr="kugel_blau"/>
          <p:cNvPicPr>
            <a:picLocks noChangeAspect="1"/>
          </p:cNvPicPr>
          <p:nvPr/>
        </p:nvPicPr>
        <p:blipFill>
          <a:blip r:embed="rId2"/>
          <a:stretch>
            <a:fillRect/>
          </a:stretch>
        </p:blipFill>
        <p:spPr>
          <a:xfrm>
            <a:off x="1574800" y="4784725"/>
            <a:ext cx="457200" cy="315913"/>
          </a:xfrm>
          <a:prstGeom prst="rect">
            <a:avLst/>
          </a:prstGeom>
          <a:noFill/>
          <a:ln w="9525">
            <a:noFill/>
          </a:ln>
        </p:spPr>
      </p:pic>
      <p:sp>
        <p:nvSpPr>
          <p:cNvPr id="2279435" name="Rectangle 11"/>
          <p:cNvSpPr>
            <a:spLocks noChangeArrowheads="1"/>
          </p:cNvSpPr>
          <p:nvPr/>
        </p:nvSpPr>
        <p:spPr bwMode="auto">
          <a:xfrm>
            <a:off x="1905000" y="4491038"/>
            <a:ext cx="6013450" cy="665163"/>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1.5</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 </a:t>
            </a:r>
            <a:r>
              <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数据采集系统的软件</a:t>
            </a:r>
            <a:endPar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79436" name="Rectangle 12"/>
          <p:cNvSpPr>
            <a:spLocks noChangeArrowheads="1"/>
          </p:cNvSpPr>
          <p:nvPr/>
        </p:nvSpPr>
        <p:spPr bwMode="auto">
          <a:xfrm>
            <a:off x="2351088" y="338138"/>
            <a:ext cx="4659313" cy="628650"/>
          </a:xfrm>
          <a:prstGeom prst="rect">
            <a:avLst/>
          </a:prstGeom>
          <a:noFill/>
          <a:ln>
            <a:noFill/>
          </a:ln>
          <a:effec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绪 论  </a:t>
            </a:r>
            <a:endParaRPr kumimoji="1" lang="zh-CN" altLang="en-US" sz="4400" b="1" i="0" u="none" strike="noStrike" kern="1200" cap="none" spc="0" normalizeH="0" baseline="0" noProof="0">
              <a:ln>
                <a:noFill/>
              </a:ln>
              <a:solidFill>
                <a:srgbClr val="FF0000"/>
              </a:solidFill>
              <a:effectLst/>
              <a:uLnTx/>
              <a:uFillTx/>
              <a:latin typeface="楷体_GB2312" pitchFamily="49" charset="-122"/>
              <a:ea typeface="楷体_GB2312" pitchFamily="49" charset="-122"/>
              <a:cs typeface="+mn-cs"/>
            </a:endParaRPr>
          </a:p>
        </p:txBody>
      </p:sp>
      <p:sp>
        <p:nvSpPr>
          <p:cNvPr id="2279437" name="Text Box 13"/>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14350" name="Line 14"/>
          <p:cNvSpPr/>
          <p:nvPr/>
        </p:nvSpPr>
        <p:spPr>
          <a:xfrm>
            <a:off x="609600" y="673100"/>
            <a:ext cx="257175" cy="0"/>
          </a:xfrm>
          <a:prstGeom prst="line">
            <a:avLst/>
          </a:prstGeom>
          <a:ln w="19050" cap="flat" cmpd="sng">
            <a:solidFill>
              <a:srgbClr val="808080"/>
            </a:solidFill>
            <a:prstDash val="solid"/>
            <a:headEnd type="none" w="med" len="med"/>
            <a:tailEnd type="none" w="med" len="med"/>
          </a:ln>
        </p:spPr>
      </p:sp>
      <p:sp>
        <p:nvSpPr>
          <p:cNvPr id="14351" name="Line 15"/>
          <p:cNvSpPr/>
          <p:nvPr/>
        </p:nvSpPr>
        <p:spPr>
          <a:xfrm>
            <a:off x="863600" y="673100"/>
            <a:ext cx="0" cy="484188"/>
          </a:xfrm>
          <a:prstGeom prst="line">
            <a:avLst/>
          </a:prstGeom>
          <a:ln w="19050" cap="flat" cmpd="sng">
            <a:solidFill>
              <a:srgbClr val="808080"/>
            </a:solidFill>
            <a:prstDash val="solid"/>
            <a:headEnd type="none" w="med" len="med"/>
            <a:tailEnd type="none" w="med" len="med"/>
          </a:ln>
        </p:spPr>
      </p:sp>
      <p:sp>
        <p:nvSpPr>
          <p:cNvPr id="14352" name="Line 16"/>
          <p:cNvSpPr/>
          <p:nvPr/>
        </p:nvSpPr>
        <p:spPr>
          <a:xfrm flipV="1">
            <a:off x="862013" y="1160463"/>
            <a:ext cx="6626225" cy="0"/>
          </a:xfrm>
          <a:prstGeom prst="line">
            <a:avLst/>
          </a:prstGeom>
          <a:ln w="19050" cap="flat" cmpd="sng">
            <a:solidFill>
              <a:srgbClr val="808080"/>
            </a:solidFill>
            <a:prstDash val="solid"/>
            <a:headEnd type="none" w="med" len="med"/>
            <a:tailEnd type="none" w="med" len="med"/>
          </a:ln>
        </p:spPr>
      </p:sp>
      <p:sp>
        <p:nvSpPr>
          <p:cNvPr id="14353" name="Line 17"/>
          <p:cNvSpPr/>
          <p:nvPr/>
        </p:nvSpPr>
        <p:spPr>
          <a:xfrm>
            <a:off x="1150938" y="1160463"/>
            <a:ext cx="0" cy="863600"/>
          </a:xfrm>
          <a:prstGeom prst="line">
            <a:avLst/>
          </a:prstGeom>
          <a:ln w="19050" cap="flat" cmpd="sng">
            <a:solidFill>
              <a:srgbClr val="808080"/>
            </a:solidFill>
            <a:prstDash val="solid"/>
            <a:headEnd type="none" w="med" len="med"/>
            <a:tailEnd type="none" w="med" len="med"/>
          </a:ln>
        </p:spPr>
      </p:sp>
      <p:sp>
        <p:nvSpPr>
          <p:cNvPr id="14354" name="Line 18"/>
          <p:cNvSpPr/>
          <p:nvPr/>
        </p:nvSpPr>
        <p:spPr>
          <a:xfrm>
            <a:off x="1150938" y="2601913"/>
            <a:ext cx="257175" cy="0"/>
          </a:xfrm>
          <a:prstGeom prst="line">
            <a:avLst/>
          </a:prstGeom>
          <a:ln w="19050" cap="flat" cmpd="sng">
            <a:solidFill>
              <a:srgbClr val="808080"/>
            </a:solidFill>
            <a:prstDash val="solid"/>
            <a:headEnd type="none" w="med" len="med"/>
            <a:tailEnd type="none" w="med" len="med"/>
          </a:ln>
        </p:spPr>
      </p:sp>
      <p:sp>
        <p:nvSpPr>
          <p:cNvPr id="14355" name="Line 19"/>
          <p:cNvSpPr/>
          <p:nvPr/>
        </p:nvSpPr>
        <p:spPr>
          <a:xfrm>
            <a:off x="1150938" y="2601913"/>
            <a:ext cx="0" cy="863600"/>
          </a:xfrm>
          <a:prstGeom prst="line">
            <a:avLst/>
          </a:prstGeom>
          <a:ln w="19050" cap="flat" cmpd="sng">
            <a:solidFill>
              <a:srgbClr val="808080"/>
            </a:solidFill>
            <a:prstDash val="solid"/>
            <a:headEnd type="none" w="med" len="med"/>
            <a:tailEnd type="none" w="med" len="med"/>
          </a:ln>
        </p:spPr>
      </p:sp>
      <p:sp>
        <p:nvSpPr>
          <p:cNvPr id="14356" name="Line 20"/>
          <p:cNvSpPr/>
          <p:nvPr/>
        </p:nvSpPr>
        <p:spPr>
          <a:xfrm>
            <a:off x="1150938" y="3390900"/>
            <a:ext cx="257175" cy="0"/>
          </a:xfrm>
          <a:prstGeom prst="line">
            <a:avLst/>
          </a:prstGeom>
          <a:ln w="19050" cap="flat" cmpd="sng">
            <a:solidFill>
              <a:srgbClr val="808080"/>
            </a:solidFill>
            <a:prstDash val="solid"/>
            <a:headEnd type="none" w="med" len="med"/>
            <a:tailEnd type="none" w="med" len="med"/>
          </a:ln>
        </p:spPr>
      </p:sp>
      <p:sp>
        <p:nvSpPr>
          <p:cNvPr id="14357" name="Line 21"/>
          <p:cNvSpPr/>
          <p:nvPr/>
        </p:nvSpPr>
        <p:spPr>
          <a:xfrm>
            <a:off x="1150938" y="3390900"/>
            <a:ext cx="0" cy="863600"/>
          </a:xfrm>
          <a:prstGeom prst="line">
            <a:avLst/>
          </a:prstGeom>
          <a:ln w="19050" cap="flat" cmpd="sng">
            <a:solidFill>
              <a:srgbClr val="808080"/>
            </a:solidFill>
            <a:prstDash val="solid"/>
            <a:headEnd type="none" w="med" len="med"/>
            <a:tailEnd type="none" w="med" len="med"/>
          </a:ln>
        </p:spPr>
      </p:sp>
      <p:sp>
        <p:nvSpPr>
          <p:cNvPr id="14358" name="Line 22"/>
          <p:cNvSpPr/>
          <p:nvPr/>
        </p:nvSpPr>
        <p:spPr>
          <a:xfrm>
            <a:off x="1150938" y="4165600"/>
            <a:ext cx="257175" cy="0"/>
          </a:xfrm>
          <a:prstGeom prst="line">
            <a:avLst/>
          </a:prstGeom>
          <a:ln w="19050" cap="flat" cmpd="sng">
            <a:solidFill>
              <a:srgbClr val="808080"/>
            </a:solidFill>
            <a:prstDash val="solid"/>
            <a:headEnd type="none" w="med" len="med"/>
            <a:tailEnd type="none" w="med" len="med"/>
          </a:ln>
        </p:spPr>
      </p:sp>
      <p:sp>
        <p:nvSpPr>
          <p:cNvPr id="14359" name="Line 23"/>
          <p:cNvSpPr/>
          <p:nvPr/>
        </p:nvSpPr>
        <p:spPr>
          <a:xfrm>
            <a:off x="1150938" y="4167188"/>
            <a:ext cx="0" cy="863600"/>
          </a:xfrm>
          <a:prstGeom prst="line">
            <a:avLst/>
          </a:prstGeom>
          <a:ln w="19050" cap="flat" cmpd="sng">
            <a:solidFill>
              <a:srgbClr val="808080"/>
            </a:solidFill>
            <a:prstDash val="solid"/>
            <a:headEnd type="none" w="med" len="med"/>
            <a:tailEnd type="none" w="med" len="med"/>
          </a:ln>
        </p:spPr>
      </p:sp>
      <p:sp>
        <p:nvSpPr>
          <p:cNvPr id="14360" name="Line 24"/>
          <p:cNvSpPr/>
          <p:nvPr/>
        </p:nvSpPr>
        <p:spPr>
          <a:xfrm>
            <a:off x="1150938" y="4938713"/>
            <a:ext cx="257175" cy="0"/>
          </a:xfrm>
          <a:prstGeom prst="line">
            <a:avLst/>
          </a:prstGeom>
          <a:ln w="19050" cap="flat" cmpd="sng">
            <a:solidFill>
              <a:srgbClr val="808080"/>
            </a:solidFill>
            <a:prstDash val="solid"/>
            <a:headEnd type="none" w="med" len="med"/>
            <a:tailEnd type="none" w="med" len="med"/>
          </a:ln>
        </p:spPr>
      </p:sp>
      <p:sp>
        <p:nvSpPr>
          <p:cNvPr id="14361" name="Line 25"/>
          <p:cNvSpPr/>
          <p:nvPr/>
        </p:nvSpPr>
        <p:spPr>
          <a:xfrm>
            <a:off x="1150938" y="4870450"/>
            <a:ext cx="0" cy="863600"/>
          </a:xfrm>
          <a:prstGeom prst="line">
            <a:avLst/>
          </a:prstGeom>
          <a:ln w="19050" cap="flat" cmpd="sng">
            <a:solidFill>
              <a:srgbClr val="808080"/>
            </a:solidFill>
            <a:prstDash val="solid"/>
            <a:headEnd type="none" w="med" len="med"/>
            <a:tailEnd type="none" w="med" len="med"/>
          </a:ln>
        </p:spPr>
      </p:sp>
      <p:sp>
        <p:nvSpPr>
          <p:cNvPr id="14362" name="Line 26"/>
          <p:cNvSpPr/>
          <p:nvPr/>
        </p:nvSpPr>
        <p:spPr>
          <a:xfrm>
            <a:off x="1150938" y="5716588"/>
            <a:ext cx="257175" cy="0"/>
          </a:xfrm>
          <a:prstGeom prst="line">
            <a:avLst/>
          </a:prstGeom>
          <a:ln w="19050" cap="flat" cmpd="sng">
            <a:solidFill>
              <a:srgbClr val="808080"/>
            </a:solidFill>
            <a:prstDash val="solid"/>
            <a:headEnd type="none" w="med" len="med"/>
            <a:tailEnd type="none" w="med" len="med"/>
          </a:ln>
        </p:spPr>
      </p:sp>
      <p:pic>
        <p:nvPicPr>
          <p:cNvPr id="14363" name="Picture 27" descr="kugel_blau"/>
          <p:cNvPicPr>
            <a:picLocks noChangeAspect="1"/>
          </p:cNvPicPr>
          <p:nvPr/>
        </p:nvPicPr>
        <p:blipFill>
          <a:blip r:embed="rId2"/>
          <a:stretch>
            <a:fillRect/>
          </a:stretch>
        </p:blipFill>
        <p:spPr>
          <a:xfrm>
            <a:off x="1547813" y="5541963"/>
            <a:ext cx="457200" cy="315912"/>
          </a:xfrm>
          <a:prstGeom prst="rect">
            <a:avLst/>
          </a:prstGeom>
          <a:noFill/>
          <a:ln w="9525">
            <a:noFill/>
          </a:ln>
        </p:spPr>
      </p:pic>
      <p:sp>
        <p:nvSpPr>
          <p:cNvPr id="2279452" name="Rectangle 28"/>
          <p:cNvSpPr>
            <a:spLocks noChangeArrowheads="1"/>
          </p:cNvSpPr>
          <p:nvPr/>
        </p:nvSpPr>
        <p:spPr bwMode="auto">
          <a:xfrm>
            <a:off x="1906588" y="5248275"/>
            <a:ext cx="6013450" cy="665163"/>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黑体" panose="02010609060101010101" pitchFamily="49" charset="-122"/>
                <a:cs typeface="+mn-cs"/>
              </a:rPr>
              <a:t>1.6</a:t>
            </a:r>
            <a:r>
              <a:rPr kumimoji="1" lang="en-US" altLang="zh-CN"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数据处理的类型和任务</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 name="Rectangle 4"/>
          <p:cNvSpPr>
            <a:spLocks noGrp="1" noChangeArrowheads="1"/>
          </p:cNvSpPr>
          <p:nvPr>
            <p:ph type="subTitle" idx="4294967295"/>
          </p:nvPr>
        </p:nvSpPr>
        <p:spPr bwMode="auto">
          <a:xfrm>
            <a:off x="1927225" y="1328738"/>
            <a:ext cx="6626225" cy="677863"/>
          </a:xfrm>
          <a:prstGeom prst="rect">
            <a:avLst/>
          </a:prstGeom>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mn-ea"/>
                <a:cs typeface="+mn-cs"/>
              </a:rPr>
              <a:t>1.1 </a:t>
            </a:r>
            <a:r>
              <a:rPr kumimoji="1" lang="zh-CN" altLang="en-US" sz="3600" b="1" i="0" u="none" strike="noStrike" kern="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数据采集的发展历史和应用</a:t>
            </a:r>
            <a:r>
              <a:rPr kumimoji="1" lang="zh-CN" altLang="en-US" sz="3600" b="1" i="0" u="none" strike="noStrike" kern="0" cap="none" spc="0" normalizeH="0" baseline="0" noProof="0">
                <a:ln>
                  <a:noFill/>
                </a:ln>
                <a:solidFill>
                  <a:srgbClr val="000066"/>
                </a:solidFill>
                <a:effectLst/>
                <a:uLnTx/>
                <a:uFillTx/>
                <a:latin typeface="Arial Black" panose="020B0A04020102020204" pitchFamily="34" charset="0"/>
                <a:ea typeface="+mn-ea"/>
                <a:cs typeface="+mn-cs"/>
              </a:rPr>
              <a:t> </a:t>
            </a:r>
            <a:endParaRPr kumimoji="1" lang="zh-CN" altLang="en-US" sz="3600" b="1" i="0" u="none" strike="noStrike" kern="0" cap="none" spc="0" normalizeH="0" baseline="0" noProof="0">
              <a:ln>
                <a:noFill/>
              </a:ln>
              <a:solidFill>
                <a:srgbClr val="000066"/>
              </a:solidFill>
              <a:effectLst/>
              <a:uLnTx/>
              <a:uFillTx/>
              <a:latin typeface="Arial Black" panose="020B0A04020102020204" pitchFamily="34" charset="0"/>
              <a:ea typeface="楷体_GB2312" pitchFamily="49" charset="-122"/>
              <a:cs typeface="+mn-cs"/>
            </a:endParaRPr>
          </a:p>
        </p:txBody>
      </p:sp>
      <p:pic>
        <p:nvPicPr>
          <p:cNvPr id="14366" name="Picture 5" descr="kugel_blau"/>
          <p:cNvPicPr>
            <a:picLocks noChangeAspect="1"/>
          </p:cNvPicPr>
          <p:nvPr/>
        </p:nvPicPr>
        <p:blipFill>
          <a:blip r:embed="rId2"/>
          <a:stretch>
            <a:fillRect/>
          </a:stretch>
        </p:blipFill>
        <p:spPr>
          <a:xfrm>
            <a:off x="1592263" y="1616075"/>
            <a:ext cx="457200" cy="315913"/>
          </a:xfrm>
          <a:prstGeom prst="rect">
            <a:avLst/>
          </a:prstGeom>
          <a:noFill/>
          <a:ln w="9525">
            <a:noFill/>
          </a:ln>
        </p:spPr>
      </p:pic>
      <p:sp>
        <p:nvSpPr>
          <p:cNvPr id="14367" name="Line 18"/>
          <p:cNvSpPr/>
          <p:nvPr/>
        </p:nvSpPr>
        <p:spPr>
          <a:xfrm>
            <a:off x="1150938" y="1784350"/>
            <a:ext cx="257175" cy="0"/>
          </a:xfrm>
          <a:prstGeom prst="line">
            <a:avLst/>
          </a:prstGeom>
          <a:ln w="19050" cap="flat" cmpd="sng">
            <a:solidFill>
              <a:srgbClr val="808080"/>
            </a:solidFill>
            <a:prstDash val="solid"/>
            <a:headEnd type="none" w="med" len="med"/>
            <a:tailEnd type="none" w="med" len="med"/>
          </a:ln>
        </p:spPr>
      </p:sp>
      <p:sp>
        <p:nvSpPr>
          <p:cNvPr id="14368" name="Line 19"/>
          <p:cNvSpPr/>
          <p:nvPr/>
        </p:nvSpPr>
        <p:spPr>
          <a:xfrm>
            <a:off x="1150938" y="1784350"/>
            <a:ext cx="0" cy="863600"/>
          </a:xfrm>
          <a:prstGeom prst="line">
            <a:avLst/>
          </a:prstGeom>
          <a:ln w="19050" cap="flat" cmpd="sng">
            <a:solidFill>
              <a:srgbClr val="808080"/>
            </a:solidFill>
            <a:prstDash val="solid"/>
            <a:headEnd type="none" w="med" len="med"/>
            <a:tailEnd type="none" w="med" len="med"/>
          </a:ln>
        </p:spPr>
      </p:sp>
    </p:spTree>
  </p:cSld>
  <p:clrMapOvr>
    <a:masterClrMapping/>
  </p:clrMapOvr>
  <p:transition spd="med">
    <p:cove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4682" name="Text Box 10"/>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sp>
        <p:nvSpPr>
          <p:cNvPr id="2204683" name="Text Box 11"/>
          <p:cNvSpPr txBox="1"/>
          <p:nvPr/>
        </p:nvSpPr>
        <p:spPr>
          <a:xfrm>
            <a:off x="384175" y="1016000"/>
            <a:ext cx="3929063"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1. </a:t>
            </a:r>
            <a:r>
              <a:rPr lang="zh-CN" altLang="en-US" b="1" dirty="0">
                <a:latin typeface="Times New Roman" panose="02020603050405020304" pitchFamily="18" charset="0"/>
              </a:rPr>
              <a:t>数据采集的定义</a:t>
            </a:r>
            <a:r>
              <a:rPr lang="zh-CN" altLang="en-US" sz="2400" dirty="0">
                <a:latin typeface="Times New Roman" panose="02020603050405020304" pitchFamily="18" charset="0"/>
                <a:ea typeface="宋体" panose="02010600030101010101" pitchFamily="2" charset="-122"/>
              </a:rPr>
              <a:t> </a:t>
            </a:r>
            <a:endParaRPr lang="zh-CN" altLang="en-US" sz="2400" dirty="0">
              <a:latin typeface="Times New Roman" panose="02020603050405020304" pitchFamily="18" charset="0"/>
              <a:ea typeface="宋体" panose="02010600030101010101" pitchFamily="2" charset="-122"/>
            </a:endParaRPr>
          </a:p>
        </p:txBody>
      </p:sp>
      <p:sp>
        <p:nvSpPr>
          <p:cNvPr id="2204684" name="Text Box 12"/>
          <p:cNvSpPr txBox="1"/>
          <p:nvPr/>
        </p:nvSpPr>
        <p:spPr>
          <a:xfrm>
            <a:off x="3708400" y="2097088"/>
            <a:ext cx="4967288" cy="2838450"/>
          </a:xfrm>
          <a:prstGeom prst="rect">
            <a:avLst/>
          </a:prstGeom>
          <a:noFill/>
          <a:ln w="9525">
            <a:noFill/>
          </a:ln>
        </p:spPr>
        <p:txBody>
          <a:bodyPr>
            <a:spAutoFit/>
          </a:bodyPr>
          <a:p>
            <a:pPr eaLnBrk="1" hangingPunct="1"/>
            <a:r>
              <a:rPr lang="zh-CN" altLang="en-US" b="1" dirty="0">
                <a:solidFill>
                  <a:schemeClr val="tx1"/>
                </a:solidFill>
                <a:latin typeface="楷体_GB2312" pitchFamily="49" charset="-122"/>
              </a:rPr>
              <a:t>将温度、压力、流量、位移等模拟量采集、转换成数字量后，再由计算机进行存储、处理、显示或打印的过程。</a:t>
            </a:r>
            <a:r>
              <a:rPr lang="zh-CN" altLang="en-US" b="1" dirty="0">
                <a:solidFill>
                  <a:srgbClr val="FF0000"/>
                </a:solidFill>
                <a:latin typeface="楷体_GB2312" pitchFamily="49" charset="-122"/>
              </a:rPr>
              <a:t> </a:t>
            </a:r>
            <a:endParaRPr lang="zh-CN" altLang="en-US" b="1" dirty="0">
              <a:solidFill>
                <a:srgbClr val="FF0000"/>
              </a:solidFill>
              <a:latin typeface="楷体_GB2312" pitchFamily="49" charset="-122"/>
            </a:endParaRPr>
          </a:p>
        </p:txBody>
      </p:sp>
      <p:sp>
        <p:nvSpPr>
          <p:cNvPr id="2204685" name="Text Box 13"/>
          <p:cNvSpPr txBox="1"/>
          <p:nvPr/>
        </p:nvSpPr>
        <p:spPr>
          <a:xfrm>
            <a:off x="1589088" y="5265738"/>
            <a:ext cx="6148387" cy="641350"/>
          </a:xfrm>
          <a:prstGeom prst="rect">
            <a:avLst/>
          </a:prstGeom>
          <a:solidFill>
            <a:srgbClr val="CCFFFF"/>
          </a:solidFill>
          <a:ln w="9525">
            <a:noFill/>
          </a:ln>
        </p:spPr>
        <p:txBody>
          <a:bodyPr wrap="none">
            <a:spAutoFit/>
          </a:bodyPr>
          <a:p>
            <a:pPr algn="ctr" eaLnBrk="1" hangingPunct="1"/>
            <a:r>
              <a:rPr lang="zh-CN" altLang="en-US" b="1" dirty="0">
                <a:solidFill>
                  <a:srgbClr val="3333FF"/>
                </a:solidFill>
                <a:latin typeface="黑体" panose="02010609060101010101" pitchFamily="49" charset="-122"/>
                <a:ea typeface="黑体" panose="02010609060101010101" pitchFamily="49" charset="-122"/>
              </a:rPr>
              <a:t>相应系统称为数据采集系统。</a:t>
            </a:r>
            <a:endParaRPr lang="zh-CN" altLang="en-US" b="1" dirty="0">
              <a:solidFill>
                <a:srgbClr val="3333FF"/>
              </a:solidFill>
              <a:latin typeface="黑体" panose="02010609060101010101" pitchFamily="49" charset="-122"/>
              <a:ea typeface="黑体" panose="02010609060101010101" pitchFamily="49" charset="-122"/>
            </a:endParaRPr>
          </a:p>
        </p:txBody>
      </p:sp>
      <p:sp>
        <p:nvSpPr>
          <p:cNvPr id="2204687" name="Text Box 15"/>
          <p:cNvSpPr txBox="1"/>
          <p:nvPr/>
        </p:nvSpPr>
        <p:spPr>
          <a:xfrm>
            <a:off x="582613" y="2089150"/>
            <a:ext cx="3394075" cy="641350"/>
          </a:xfrm>
          <a:prstGeom prst="rect">
            <a:avLst/>
          </a:prstGeom>
          <a:noFill/>
          <a:ln w="9525">
            <a:noFill/>
          </a:ln>
        </p:spPr>
        <p:txBody>
          <a:bodyPr wrap="none">
            <a:spAutoFit/>
          </a:bodyPr>
          <a:p>
            <a:pPr eaLnBrk="1" hangingPunct="1"/>
            <a:r>
              <a:rPr lang="zh-CN" altLang="en-US" b="1" dirty="0">
                <a:solidFill>
                  <a:srgbClr val="FF0000"/>
                </a:solidFill>
                <a:latin typeface="楷体_GB2312" pitchFamily="49" charset="-122"/>
              </a:rPr>
              <a:t>数据采集</a:t>
            </a:r>
            <a:r>
              <a:rPr lang="zh-CN" altLang="en-US" b="1" dirty="0">
                <a:solidFill>
                  <a:srgbClr val="3333FF"/>
                </a:solidFill>
                <a:latin typeface="楷体_GB2312" pitchFamily="49" charset="-122"/>
              </a:rPr>
              <a:t> </a:t>
            </a:r>
            <a:r>
              <a:rPr lang="en-US" altLang="zh-CN" b="1" dirty="0">
                <a:solidFill>
                  <a:srgbClr val="FF0000"/>
                </a:solidFill>
                <a:latin typeface="Times New Roman" panose="02020603050405020304" pitchFamily="18" charset="0"/>
              </a:rPr>
              <a:t>——</a:t>
            </a:r>
            <a:r>
              <a:rPr lang="en-US" altLang="zh-CN" b="1" dirty="0">
                <a:solidFill>
                  <a:srgbClr val="FF0000"/>
                </a:solidFill>
                <a:latin typeface="楷体_GB2312" pitchFamily="49" charset="-122"/>
              </a:rPr>
              <a:t> </a:t>
            </a:r>
            <a:endParaRPr lang="en-US" altLang="zh-CN" b="1" dirty="0">
              <a:solidFill>
                <a:srgbClr val="FF0000"/>
              </a:solidFill>
              <a:latin typeface="楷体_GB2312" pitchFamily="49" charset="-122"/>
            </a:endParaRPr>
          </a:p>
        </p:txBody>
      </p:sp>
      <p:sp>
        <p:nvSpPr>
          <p:cNvPr id="2204688" name="Text Box 16"/>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04690" name="Rectangle 18"/>
          <p:cNvSpPr/>
          <p:nvPr/>
        </p:nvSpPr>
        <p:spPr>
          <a:xfrm>
            <a:off x="582613" y="1847850"/>
            <a:ext cx="8093075" cy="3236913"/>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pic>
        <p:nvPicPr>
          <p:cNvPr id="10253" name="Picture 32"/>
          <p:cNvPicPr>
            <a:picLocks noChangeAspect="1"/>
          </p:cNvPicPr>
          <p:nvPr/>
        </p:nvPicPr>
        <p:blipFill>
          <a:blip r:embed="rId1"/>
          <a:stretch>
            <a:fillRect/>
          </a:stretch>
        </p:blipFill>
        <p:spPr>
          <a:xfrm>
            <a:off x="719138" y="2889250"/>
            <a:ext cx="2711450" cy="20510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04683"/>
                                        </p:tgtEl>
                                        <p:attrNameLst>
                                          <p:attrName>style.visibility</p:attrName>
                                        </p:attrNameLst>
                                      </p:cBhvr>
                                      <p:to>
                                        <p:strVal val="visible"/>
                                      </p:to>
                                    </p:set>
                                    <p:animEffect transition="in" filter="dissolve">
                                      <p:cBhvr>
                                        <p:cTn id="7" dur="500"/>
                                        <p:tgtEl>
                                          <p:spTgt spid="220468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04684"/>
                                        </p:tgtEl>
                                        <p:attrNameLst>
                                          <p:attrName>style.visibility</p:attrName>
                                        </p:attrNameLst>
                                      </p:cBhvr>
                                      <p:to>
                                        <p:strVal val="visible"/>
                                      </p:to>
                                    </p:set>
                                    <p:animEffect transition="in" filter="dissolve">
                                      <p:cBhvr>
                                        <p:cTn id="12" dur="500"/>
                                        <p:tgtEl>
                                          <p:spTgt spid="220468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04687"/>
                                        </p:tgtEl>
                                        <p:attrNameLst>
                                          <p:attrName>style.visibility</p:attrName>
                                        </p:attrNameLst>
                                      </p:cBhvr>
                                      <p:to>
                                        <p:strVal val="visible"/>
                                      </p:to>
                                    </p:set>
                                    <p:animEffect transition="in" filter="dissolve">
                                      <p:cBhvr>
                                        <p:cTn id="15" dur="500"/>
                                        <p:tgtEl>
                                          <p:spTgt spid="220468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04690"/>
                                        </p:tgtEl>
                                        <p:attrNameLst>
                                          <p:attrName>style.visibility</p:attrName>
                                        </p:attrNameLst>
                                      </p:cBhvr>
                                      <p:to>
                                        <p:strVal val="visible"/>
                                      </p:to>
                                    </p:set>
                                    <p:animEffect transition="in" filter="dissolve">
                                      <p:cBhvr>
                                        <p:cTn id="18" dur="500"/>
                                        <p:tgtEl>
                                          <p:spTgt spid="2204690"/>
                                        </p:tgtEl>
                                      </p:cBhvr>
                                    </p:animEffect>
                                  </p:childTnLst>
                                </p:cTn>
                              </p:par>
                            </p:childTnLst>
                          </p:cTn>
                        </p:par>
                        <p:par>
                          <p:cTn id="19" fill="hold">
                            <p:stCondLst>
                              <p:cond delay="500"/>
                            </p:stCondLst>
                            <p:childTnLst>
                              <p:par>
                                <p:cTn id="20" presetID="23" presetClass="entr" presetSubtype="16" fill="hold" nodeType="afterEffect">
                                  <p:stCondLst>
                                    <p:cond delay="0"/>
                                  </p:stCondLst>
                                  <p:childTnLst>
                                    <p:set>
                                      <p:cBhvr>
                                        <p:cTn id="21" dur="1" fill="hold">
                                          <p:stCondLst>
                                            <p:cond delay="0"/>
                                          </p:stCondLst>
                                        </p:cTn>
                                        <p:tgtEl>
                                          <p:spTgt spid="10253"/>
                                        </p:tgtEl>
                                        <p:attrNameLst>
                                          <p:attrName>style.visibility</p:attrName>
                                        </p:attrNameLst>
                                      </p:cBhvr>
                                      <p:to>
                                        <p:strVal val="visible"/>
                                      </p:to>
                                    </p:set>
                                    <p:anim calcmode="lin" valueType="num">
                                      <p:cBhvr>
                                        <p:cTn id="22" dur="500" fill="hold"/>
                                        <p:tgtEl>
                                          <p:spTgt spid="10253"/>
                                        </p:tgtEl>
                                        <p:attrNameLst>
                                          <p:attrName>ppt_w</p:attrName>
                                        </p:attrNameLst>
                                      </p:cBhvr>
                                      <p:tavLst>
                                        <p:tav tm="0">
                                          <p:val>
                                            <p:fltVal val="0.000000"/>
                                          </p:val>
                                        </p:tav>
                                        <p:tav tm="100000">
                                          <p:val>
                                            <p:strVal val="#ppt_w"/>
                                          </p:val>
                                        </p:tav>
                                      </p:tavLst>
                                    </p:anim>
                                    <p:anim calcmode="lin" valueType="num">
                                      <p:cBhvr>
                                        <p:cTn id="23" dur="500" fill="hold"/>
                                        <p:tgtEl>
                                          <p:spTgt spid="10253"/>
                                        </p:tgtEl>
                                        <p:attrNameLst>
                                          <p:attrName>ppt_h</p:attrName>
                                        </p:attrNameLst>
                                      </p:cBhvr>
                                      <p:tavLst>
                                        <p:tav tm="0">
                                          <p:val>
                                            <p:fltVal val="0.000000"/>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204685"/>
                                        </p:tgtEl>
                                        <p:attrNameLst>
                                          <p:attrName>style.visibility</p:attrName>
                                        </p:attrNameLst>
                                      </p:cBhvr>
                                      <p:to>
                                        <p:strVal val="visible"/>
                                      </p:to>
                                    </p:set>
                                    <p:animEffect transition="in" filter="dissolve">
                                      <p:cBhvr>
                                        <p:cTn id="28" dur="500"/>
                                        <p:tgtEl>
                                          <p:spTgt spid="22046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4683" grpId="0" animBg="1"/>
      <p:bldP spid="2204684" grpId="0"/>
      <p:bldP spid="2204685" grpId="0" animBg="1"/>
      <p:bldP spid="2204687" grpId="0"/>
      <p:bldP spid="2204690"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5702" name="Text Box 3078"/>
          <p:cNvSpPr txBox="1"/>
          <p:nvPr/>
        </p:nvSpPr>
        <p:spPr>
          <a:xfrm>
            <a:off x="474663" y="915988"/>
            <a:ext cx="4060825" cy="641350"/>
          </a:xfrm>
          <a:prstGeom prst="rect">
            <a:avLst/>
          </a:prstGeom>
          <a:solidFill>
            <a:srgbClr val="99CCFF"/>
          </a:solidFill>
          <a:ln w="9525">
            <a:noFill/>
          </a:ln>
        </p:spPr>
        <p:txBody>
          <a:bodyPr>
            <a:spAutoFit/>
          </a:bodyPr>
          <a:p>
            <a:pPr eaLnBrk="1" hangingPunct="1"/>
            <a:r>
              <a:rPr lang="zh-CN" altLang="en-US" b="1" dirty="0">
                <a:latin typeface="Times New Roman" panose="02020603050405020304" pitchFamily="18" charset="0"/>
              </a:rPr>
              <a:t>典型数据采集系统</a:t>
            </a:r>
            <a:endParaRPr lang="en-US" altLang="zh-CN" b="1" dirty="0">
              <a:latin typeface="Times New Roman" panose="02020603050405020304" pitchFamily="18" charset="0"/>
            </a:endParaRPr>
          </a:p>
        </p:txBody>
      </p:sp>
      <p:pic>
        <p:nvPicPr>
          <p:cNvPr id="2205712" name="Picture 3088" descr="kugel_blau"/>
          <p:cNvPicPr>
            <a:picLocks noChangeAspect="1"/>
          </p:cNvPicPr>
          <p:nvPr/>
        </p:nvPicPr>
        <p:blipFill>
          <a:blip r:embed="rId1"/>
          <a:stretch>
            <a:fillRect/>
          </a:stretch>
        </p:blipFill>
        <p:spPr>
          <a:xfrm>
            <a:off x="730250" y="3041650"/>
            <a:ext cx="457200" cy="315913"/>
          </a:xfrm>
          <a:prstGeom prst="rect">
            <a:avLst/>
          </a:prstGeom>
          <a:noFill/>
          <a:ln w="9525">
            <a:noFill/>
          </a:ln>
        </p:spPr>
      </p:pic>
      <p:sp>
        <p:nvSpPr>
          <p:cNvPr id="2205715" name="Text Box 3091"/>
          <p:cNvSpPr txBox="1"/>
          <p:nvPr/>
        </p:nvSpPr>
        <p:spPr>
          <a:xfrm>
            <a:off x="1192213" y="2924175"/>
            <a:ext cx="2695575" cy="519113"/>
          </a:xfrm>
          <a:prstGeom prst="rect">
            <a:avLst/>
          </a:prstGeom>
          <a:noFill/>
          <a:ln w="9525">
            <a:noFill/>
          </a:ln>
        </p:spPr>
        <p:txBody>
          <a:bodyPr>
            <a:spAutoFit/>
          </a:bodyPr>
          <a:p>
            <a:pPr eaLnBrk="1" hangingPunct="1"/>
            <a:r>
              <a:rPr lang="zh-CN" altLang="en-US" sz="2800" b="1" dirty="0">
                <a:latin typeface="黑体" panose="02010609060101010101" pitchFamily="49" charset="-122"/>
                <a:ea typeface="黑体" panose="02010609060101010101" pitchFamily="49" charset="-122"/>
              </a:rPr>
              <a:t>数字存储示波器</a:t>
            </a:r>
            <a:endParaRPr lang="zh-CN" altLang="en-US" sz="2800" b="1" dirty="0">
              <a:latin typeface="Times New Roman" panose="02020603050405020304" pitchFamily="18" charset="0"/>
            </a:endParaRPr>
          </a:p>
        </p:txBody>
      </p:sp>
      <p:sp>
        <p:nvSpPr>
          <p:cNvPr id="2205721" name="Text Box 3097"/>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05722" name="Text Box 3098"/>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graphicFrame>
        <p:nvGraphicFramePr>
          <p:cNvPr id="57363" name="Object 19"/>
          <p:cNvGraphicFramePr>
            <a:graphicFrameLocks noChangeAspect="1"/>
          </p:cNvGraphicFramePr>
          <p:nvPr/>
        </p:nvGraphicFramePr>
        <p:xfrm>
          <a:off x="719138" y="5200650"/>
          <a:ext cx="7524750" cy="604838"/>
        </p:xfrm>
        <a:graphic>
          <a:graphicData uri="http://schemas.openxmlformats.org/presentationml/2006/ole">
            <mc:AlternateContent xmlns:mc="http://schemas.openxmlformats.org/markup-compatibility/2006">
              <mc:Choice xmlns:v="urn:schemas-microsoft-com:vml" Requires="v">
                <p:oleObj spid="_x0000_s3077" name="" r:id="rId2" imgW="3707765" imgH="309880" progId="Visio.Drawing.11">
                  <p:embed/>
                </p:oleObj>
              </mc:Choice>
              <mc:Fallback>
                <p:oleObj name="" r:id="rId2" imgW="3707765" imgH="309880" progId="Visio.Drawing.11">
                  <p:embed/>
                  <p:pic>
                    <p:nvPicPr>
                      <p:cNvPr id="0" name="图片 3076"/>
                      <p:cNvPicPr/>
                      <p:nvPr/>
                    </p:nvPicPr>
                    <p:blipFill>
                      <a:blip r:embed="rId3"/>
                      <a:stretch>
                        <a:fillRect/>
                      </a:stretch>
                    </p:blipFill>
                    <p:spPr>
                      <a:xfrm>
                        <a:off x="719138" y="5200650"/>
                        <a:ext cx="7524750" cy="604838"/>
                      </a:xfrm>
                      <a:prstGeom prst="rect">
                        <a:avLst/>
                      </a:prstGeom>
                      <a:noFill/>
                      <a:ln w="38100">
                        <a:noFill/>
                        <a:miter/>
                      </a:ln>
                    </p:spPr>
                  </p:pic>
                </p:oleObj>
              </mc:Fallback>
            </mc:AlternateContent>
          </a:graphicData>
        </a:graphic>
      </p:graphicFrame>
      <p:pic>
        <p:nvPicPr>
          <p:cNvPr id="57364" name="Picture 20" descr="1"/>
          <p:cNvPicPr>
            <a:picLocks noChangeAspect="1"/>
          </p:cNvPicPr>
          <p:nvPr/>
        </p:nvPicPr>
        <p:blipFill>
          <a:blip r:embed="rId4"/>
          <a:stretch>
            <a:fillRect/>
          </a:stretch>
        </p:blipFill>
        <p:spPr>
          <a:xfrm>
            <a:off x="4211638" y="1881188"/>
            <a:ext cx="4067175" cy="2992437"/>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05702"/>
                                        </p:tgtEl>
                                        <p:attrNameLst>
                                          <p:attrName>style.visibility</p:attrName>
                                        </p:attrNameLst>
                                      </p:cBhvr>
                                      <p:to>
                                        <p:strVal val="visible"/>
                                      </p:to>
                                    </p:set>
                                    <p:animEffect transition="in" filter="dissolve">
                                      <p:cBhvr>
                                        <p:cTn id="7" dur="500"/>
                                        <p:tgtEl>
                                          <p:spTgt spid="220570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205712"/>
                                        </p:tgtEl>
                                        <p:attrNameLst>
                                          <p:attrName>style.visibility</p:attrName>
                                        </p:attrNameLst>
                                      </p:cBhvr>
                                      <p:to>
                                        <p:strVal val="visible"/>
                                      </p:to>
                                    </p:set>
                                    <p:anim calcmode="lin" valueType="num">
                                      <p:cBhvr additive="base">
                                        <p:cTn id="12" dur="500" fill="hold"/>
                                        <p:tgtEl>
                                          <p:spTgt spid="2205712"/>
                                        </p:tgtEl>
                                        <p:attrNameLst>
                                          <p:attrName>ppt_x</p:attrName>
                                        </p:attrNameLst>
                                      </p:cBhvr>
                                      <p:tavLst>
                                        <p:tav tm="0">
                                          <p:val>
                                            <p:strVal val="0-#ppt_w/2"/>
                                          </p:val>
                                        </p:tav>
                                        <p:tav tm="100000">
                                          <p:val>
                                            <p:strVal val="#ppt_x"/>
                                          </p:val>
                                        </p:tav>
                                      </p:tavLst>
                                    </p:anim>
                                    <p:anim calcmode="lin" valueType="num">
                                      <p:cBhvr additive="base">
                                        <p:cTn id="13" dur="500" fill="hold"/>
                                        <p:tgtEl>
                                          <p:spTgt spid="2205712"/>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stCondLst>
                                    <p:cond delay="0"/>
                                  </p:stCondLst>
                                  <p:childTnLst>
                                    <p:set>
                                      <p:cBhvr>
                                        <p:cTn id="15" dur="1" fill="hold">
                                          <p:stCondLst>
                                            <p:cond delay="0"/>
                                          </p:stCondLst>
                                        </p:cTn>
                                        <p:tgtEl>
                                          <p:spTgt spid="2205715"/>
                                        </p:tgtEl>
                                        <p:attrNameLst>
                                          <p:attrName>style.visibility</p:attrName>
                                        </p:attrNameLst>
                                      </p:cBhvr>
                                      <p:to>
                                        <p:strVal val="visible"/>
                                      </p:to>
                                    </p:set>
                                    <p:anim calcmode="lin" valueType="num">
                                      <p:cBhvr additive="base">
                                        <p:cTn id="16" dur="500" fill="hold"/>
                                        <p:tgtEl>
                                          <p:spTgt spid="2205715"/>
                                        </p:tgtEl>
                                        <p:attrNameLst>
                                          <p:attrName>ppt_x</p:attrName>
                                        </p:attrNameLst>
                                      </p:cBhvr>
                                      <p:tavLst>
                                        <p:tav tm="0">
                                          <p:val>
                                            <p:strVal val="0-#ppt_w/2"/>
                                          </p:val>
                                        </p:tav>
                                        <p:tav tm="100000">
                                          <p:val>
                                            <p:strVal val="#ppt_x"/>
                                          </p:val>
                                        </p:tav>
                                      </p:tavLst>
                                    </p:anim>
                                    <p:anim calcmode="lin" valueType="num">
                                      <p:cBhvr additive="base">
                                        <p:cTn id="17" dur="500" fill="hold"/>
                                        <p:tgtEl>
                                          <p:spTgt spid="2205715"/>
                                        </p:tgtEl>
                                        <p:attrNameLst>
                                          <p:attrName>ppt_y</p:attrName>
                                        </p:attrNameLst>
                                      </p:cBhvr>
                                      <p:tavLst>
                                        <p:tav tm="0">
                                          <p:val>
                                            <p:strVal val="#ppt_y"/>
                                          </p:val>
                                        </p:tav>
                                        <p:tav tm="100000">
                                          <p:val>
                                            <p:strVal val="#ppt_y"/>
                                          </p:val>
                                        </p:tav>
                                      </p:tavLst>
                                    </p:anim>
                                  </p:childTnLst>
                                </p:cTn>
                              </p:par>
                              <p:par>
                                <p:cTn id="18" presetID="2" presetClass="entr" presetSubtype="2" fill="hold" nodeType="withEffect">
                                  <p:stCondLst>
                                    <p:cond delay="0"/>
                                  </p:stCondLst>
                                  <p:childTnLst>
                                    <p:set>
                                      <p:cBhvr>
                                        <p:cTn id="19" dur="1" fill="hold">
                                          <p:stCondLst>
                                            <p:cond delay="0"/>
                                          </p:stCondLst>
                                        </p:cTn>
                                        <p:tgtEl>
                                          <p:spTgt spid="57364"/>
                                        </p:tgtEl>
                                        <p:attrNameLst>
                                          <p:attrName>style.visibility</p:attrName>
                                        </p:attrNameLst>
                                      </p:cBhvr>
                                      <p:to>
                                        <p:strVal val="visible"/>
                                      </p:to>
                                    </p:set>
                                    <p:anim calcmode="lin" valueType="num">
                                      <p:cBhvr additive="base">
                                        <p:cTn id="20" dur="500" fill="hold"/>
                                        <p:tgtEl>
                                          <p:spTgt spid="57364"/>
                                        </p:tgtEl>
                                        <p:attrNameLst>
                                          <p:attrName>ppt_x</p:attrName>
                                        </p:attrNameLst>
                                      </p:cBhvr>
                                      <p:tavLst>
                                        <p:tav tm="0">
                                          <p:val>
                                            <p:strVal val="1+#ppt_w/2"/>
                                          </p:val>
                                        </p:tav>
                                        <p:tav tm="100000">
                                          <p:val>
                                            <p:strVal val="#ppt_x"/>
                                          </p:val>
                                        </p:tav>
                                      </p:tavLst>
                                    </p:anim>
                                    <p:anim calcmode="lin" valueType="num">
                                      <p:cBhvr additive="base">
                                        <p:cTn id="21" dur="500" fill="hold"/>
                                        <p:tgtEl>
                                          <p:spTgt spid="57364"/>
                                        </p:tgtEl>
                                        <p:attrNameLst>
                                          <p:attrName>ppt_y</p:attrName>
                                        </p:attrNameLst>
                                      </p:cBhvr>
                                      <p:tavLst>
                                        <p:tav tm="0">
                                          <p:val>
                                            <p:strVal val="#ppt_y"/>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57363"/>
                                        </p:tgtEl>
                                        <p:attrNameLst>
                                          <p:attrName>style.visibility</p:attrName>
                                        </p:attrNameLst>
                                      </p:cBhvr>
                                      <p:to>
                                        <p:strVal val="visible"/>
                                      </p:to>
                                    </p:set>
                                    <p:anim calcmode="lin" valueType="num">
                                      <p:cBhvr additive="base">
                                        <p:cTn id="26" dur="500" fill="hold"/>
                                        <p:tgtEl>
                                          <p:spTgt spid="57363"/>
                                        </p:tgtEl>
                                        <p:attrNameLst>
                                          <p:attrName>ppt_x</p:attrName>
                                        </p:attrNameLst>
                                      </p:cBhvr>
                                      <p:tavLst>
                                        <p:tav tm="0">
                                          <p:val>
                                            <p:strVal val="#ppt_x"/>
                                          </p:val>
                                        </p:tav>
                                        <p:tav tm="100000">
                                          <p:val>
                                            <p:strVal val="#ppt_x"/>
                                          </p:val>
                                        </p:tav>
                                      </p:tavLst>
                                    </p:anim>
                                    <p:anim calcmode="lin" valueType="num">
                                      <p:cBhvr additive="base">
                                        <p:cTn id="27" dur="500" fill="hold"/>
                                        <p:tgtEl>
                                          <p:spTgt spid="573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5702" grpId="0" animBg="1"/>
      <p:bldP spid="220571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5702" name="Text Box 3078"/>
          <p:cNvSpPr txBox="1"/>
          <p:nvPr/>
        </p:nvSpPr>
        <p:spPr>
          <a:xfrm>
            <a:off x="474663" y="915988"/>
            <a:ext cx="3967162"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2. </a:t>
            </a:r>
            <a:r>
              <a:rPr lang="zh-CN" altLang="en-US" b="1" dirty="0">
                <a:latin typeface="Times New Roman" panose="02020603050405020304" pitchFamily="18" charset="0"/>
              </a:rPr>
              <a:t>数据采集的意义 </a:t>
            </a:r>
            <a:endParaRPr lang="zh-CN" altLang="en-US" b="1" dirty="0">
              <a:latin typeface="Times New Roman" panose="02020603050405020304" pitchFamily="18" charset="0"/>
            </a:endParaRPr>
          </a:p>
        </p:txBody>
      </p:sp>
      <p:sp>
        <p:nvSpPr>
          <p:cNvPr id="2205707" name="Text Box 3083"/>
          <p:cNvSpPr txBox="1"/>
          <p:nvPr/>
        </p:nvSpPr>
        <p:spPr>
          <a:xfrm>
            <a:off x="2555875" y="1773238"/>
            <a:ext cx="6013450" cy="2227262"/>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在生产过程中，对工艺参数进行采集、监测，为提高质量，降低成本，提供信息和手段。</a:t>
            </a:r>
            <a:endParaRPr lang="zh-CN" altLang="en-US" sz="2800" b="1" dirty="0">
              <a:solidFill>
                <a:schemeClr val="tx1"/>
              </a:solidFill>
              <a:latin typeface="楷体_GB2312" pitchFamily="49" charset="-122"/>
            </a:endParaRPr>
          </a:p>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rPr>
              <a:t>在科学研究中，用来获取动态信息，研究瞬态物理过程。</a:t>
            </a:r>
            <a:endParaRPr lang="zh-CN" altLang="en-US" sz="2800" b="1" dirty="0">
              <a:solidFill>
                <a:schemeClr val="tx1"/>
              </a:solidFill>
              <a:latin typeface="Times New Roman" panose="02020603050405020304" pitchFamily="18" charset="0"/>
            </a:endParaRPr>
          </a:p>
        </p:txBody>
      </p:sp>
      <p:sp>
        <p:nvSpPr>
          <p:cNvPr id="2205711" name="Text Box 3087"/>
          <p:cNvSpPr txBox="1"/>
          <p:nvPr/>
        </p:nvSpPr>
        <p:spPr>
          <a:xfrm>
            <a:off x="1187450" y="5408613"/>
            <a:ext cx="7216775" cy="579437"/>
          </a:xfrm>
          <a:prstGeom prst="rect">
            <a:avLst/>
          </a:prstGeom>
          <a:solidFill>
            <a:srgbClr val="CCFFFF"/>
          </a:solidFill>
          <a:ln w="9525">
            <a:noFill/>
          </a:ln>
        </p:spPr>
        <p:txBody>
          <a:bodyPr>
            <a:spAutoFit/>
          </a:bodyPr>
          <a:p>
            <a:pPr algn="ctr" eaLnBrk="1" hangingPunct="1"/>
            <a:r>
              <a:rPr lang="zh-CN" altLang="en-US" sz="3200" b="1" dirty="0">
                <a:solidFill>
                  <a:srgbClr val="FF0000"/>
                </a:solidFill>
                <a:latin typeface="楷体_GB2312" pitchFamily="49" charset="-122"/>
              </a:rPr>
              <a:t>解决靠人不能解决或不好解决的问题。</a:t>
            </a:r>
            <a:endParaRPr lang="zh-CN" altLang="en-US" sz="3200" b="1" dirty="0">
              <a:solidFill>
                <a:srgbClr val="FF0000"/>
              </a:solidFill>
              <a:latin typeface="楷体_GB2312" pitchFamily="49" charset="-122"/>
            </a:endParaRPr>
          </a:p>
        </p:txBody>
      </p:sp>
      <p:pic>
        <p:nvPicPr>
          <p:cNvPr id="2205712" name="Picture 3088" descr="kugel_blau"/>
          <p:cNvPicPr>
            <a:picLocks noChangeAspect="1"/>
          </p:cNvPicPr>
          <p:nvPr/>
        </p:nvPicPr>
        <p:blipFill>
          <a:blip r:embed="rId1"/>
          <a:stretch>
            <a:fillRect/>
          </a:stretch>
        </p:blipFill>
        <p:spPr>
          <a:xfrm>
            <a:off x="465138" y="1890713"/>
            <a:ext cx="457200" cy="315912"/>
          </a:xfrm>
          <a:prstGeom prst="rect">
            <a:avLst/>
          </a:prstGeom>
          <a:noFill/>
          <a:ln w="9525">
            <a:noFill/>
          </a:ln>
        </p:spPr>
      </p:pic>
      <p:sp>
        <p:nvSpPr>
          <p:cNvPr id="2205715" name="Text Box 3091"/>
          <p:cNvSpPr txBox="1"/>
          <p:nvPr/>
        </p:nvSpPr>
        <p:spPr>
          <a:xfrm>
            <a:off x="868363" y="1676400"/>
            <a:ext cx="1949450" cy="641350"/>
          </a:xfrm>
          <a:prstGeom prst="rect">
            <a:avLst/>
          </a:prstGeom>
          <a:noFill/>
          <a:ln w="9525">
            <a:noFill/>
          </a:ln>
        </p:spPr>
        <p:txBody>
          <a:bodyPr>
            <a:spAutoFit/>
          </a:bodyPr>
          <a:p>
            <a:pPr eaLnBrk="1" hangingPunct="1"/>
            <a:r>
              <a:rPr lang="zh-CN" altLang="en-US" b="1" dirty="0">
                <a:latin typeface="黑体" panose="02010609060101010101" pitchFamily="49" charset="-122"/>
                <a:ea typeface="黑体" panose="02010609060101010101" pitchFamily="49" charset="-122"/>
              </a:rPr>
              <a:t>作用</a:t>
            </a:r>
            <a:r>
              <a:rPr lang="zh-CN" altLang="en-US" b="1" dirty="0">
                <a:latin typeface="Times New Roman" panose="02020603050405020304" pitchFamily="18" charset="0"/>
              </a:rPr>
              <a:t>：</a:t>
            </a:r>
            <a:endParaRPr lang="zh-CN" altLang="en-US" b="1" dirty="0">
              <a:latin typeface="Times New Roman" panose="02020603050405020304" pitchFamily="18" charset="0"/>
            </a:endParaRPr>
          </a:p>
        </p:txBody>
      </p:sp>
      <p:pic>
        <p:nvPicPr>
          <p:cNvPr id="2205717" name="Picture 3093" descr="kugel_blau"/>
          <p:cNvPicPr>
            <a:picLocks noChangeAspect="1"/>
          </p:cNvPicPr>
          <p:nvPr/>
        </p:nvPicPr>
        <p:blipFill>
          <a:blip r:embed="rId1"/>
          <a:stretch>
            <a:fillRect/>
          </a:stretch>
        </p:blipFill>
        <p:spPr>
          <a:xfrm>
            <a:off x="485775" y="4506913"/>
            <a:ext cx="457200" cy="315912"/>
          </a:xfrm>
          <a:prstGeom prst="rect">
            <a:avLst/>
          </a:prstGeom>
          <a:noFill/>
          <a:ln w="9525">
            <a:noFill/>
          </a:ln>
        </p:spPr>
      </p:pic>
      <p:sp>
        <p:nvSpPr>
          <p:cNvPr id="2205710" name="Text Box 3086"/>
          <p:cNvSpPr txBox="1"/>
          <p:nvPr/>
        </p:nvSpPr>
        <p:spPr>
          <a:xfrm>
            <a:off x="842963" y="4294188"/>
            <a:ext cx="1974850" cy="641350"/>
          </a:xfrm>
          <a:prstGeom prst="rect">
            <a:avLst/>
          </a:prstGeom>
          <a:noFill/>
          <a:ln w="9525">
            <a:noFill/>
          </a:ln>
        </p:spPr>
        <p:txBody>
          <a:bodyPr>
            <a:spAutoFit/>
          </a:bodyPr>
          <a:p>
            <a:pPr eaLnBrk="1" hangingPunct="1"/>
            <a:r>
              <a:rPr lang="zh-CN" altLang="en-US" b="1" dirty="0">
                <a:latin typeface="黑体" panose="02010609060101010101" pitchFamily="49" charset="-122"/>
                <a:ea typeface="黑体" panose="02010609060101010101" pitchFamily="49" charset="-122"/>
              </a:rPr>
              <a:t>意义：</a:t>
            </a:r>
            <a:endParaRPr lang="zh-CN" altLang="en-US" b="1" dirty="0">
              <a:latin typeface="黑体" panose="02010609060101010101" pitchFamily="49" charset="-122"/>
              <a:ea typeface="黑体" panose="02010609060101010101" pitchFamily="49" charset="-122"/>
            </a:endParaRPr>
          </a:p>
        </p:txBody>
      </p:sp>
      <p:sp>
        <p:nvSpPr>
          <p:cNvPr id="2205721" name="Text Box 3097"/>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05722" name="Text Box 3098"/>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sp>
        <p:nvSpPr>
          <p:cNvPr id="2205723" name="Text Box 3099"/>
          <p:cNvSpPr txBox="1"/>
          <p:nvPr/>
        </p:nvSpPr>
        <p:spPr>
          <a:xfrm>
            <a:off x="2159000" y="4222750"/>
            <a:ext cx="6697663" cy="822325"/>
          </a:xfrm>
          <a:prstGeom prst="rect">
            <a:avLst/>
          </a:prstGeom>
          <a:noFill/>
          <a:ln w="9525">
            <a:noFill/>
          </a:ln>
        </p:spPr>
        <p:txBody>
          <a:bodyPr>
            <a:spAutoFit/>
          </a:bodyPr>
          <a:p>
            <a:pPr eaLnBrk="1" hangingPunct="1">
              <a:buClr>
                <a:srgbClr val="FF0000"/>
              </a:buClr>
              <a:buFont typeface="Wingdings" panose="05000000000000000000" pitchFamily="2" charset="2"/>
            </a:pPr>
            <a:r>
              <a:rPr lang="zh-CN" altLang="en-US" sz="2400" b="1" dirty="0">
                <a:solidFill>
                  <a:schemeClr val="tx1"/>
                </a:solidFill>
                <a:latin typeface="楷体_GB2312" pitchFamily="49" charset="-122"/>
              </a:rPr>
              <a:t>无论在哪个应用领域，数据采集与处理越及时，工作效率就越高，取得的经济效益就越大。</a:t>
            </a:r>
            <a:endParaRPr lang="zh-CN" altLang="en-US" sz="2400" b="1" dirty="0">
              <a:solidFill>
                <a:schemeClr val="tx1"/>
              </a:solidFill>
              <a:latin typeface="楷体_GB2312" pitchFamily="49" charset="-122"/>
            </a:endParaRPr>
          </a:p>
        </p:txBody>
      </p:sp>
      <p:sp>
        <p:nvSpPr>
          <p:cNvPr id="2205724" name="Rectangle 3100"/>
          <p:cNvSpPr/>
          <p:nvPr/>
        </p:nvSpPr>
        <p:spPr>
          <a:xfrm>
            <a:off x="287338" y="4186238"/>
            <a:ext cx="8569325" cy="97155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05702"/>
                                        </p:tgtEl>
                                        <p:attrNameLst>
                                          <p:attrName>style.visibility</p:attrName>
                                        </p:attrNameLst>
                                      </p:cBhvr>
                                      <p:to>
                                        <p:strVal val="visible"/>
                                      </p:to>
                                    </p:set>
                                    <p:animEffect transition="in" filter="dissolve">
                                      <p:cBhvr>
                                        <p:cTn id="7" dur="500"/>
                                        <p:tgtEl>
                                          <p:spTgt spid="22057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05707"/>
                                        </p:tgtEl>
                                        <p:attrNameLst>
                                          <p:attrName>style.visibility</p:attrName>
                                        </p:attrNameLst>
                                      </p:cBhvr>
                                      <p:to>
                                        <p:strVal val="visible"/>
                                      </p:to>
                                    </p:set>
                                    <p:animEffect transition="in" filter="dissolve">
                                      <p:cBhvr>
                                        <p:cTn id="12" dur="500"/>
                                        <p:tgtEl>
                                          <p:spTgt spid="2205707"/>
                                        </p:tgtEl>
                                      </p:cBhvr>
                                    </p:animEffect>
                                  </p:childTnLst>
                                </p:cTn>
                              </p:par>
                              <p:par>
                                <p:cTn id="13" presetID="9" presetClass="entr" presetSubtype="0" fill="hold" nodeType="withEffect">
                                  <p:stCondLst>
                                    <p:cond delay="0"/>
                                  </p:stCondLst>
                                  <p:childTnLst>
                                    <p:set>
                                      <p:cBhvr>
                                        <p:cTn id="14" dur="1" fill="hold">
                                          <p:stCondLst>
                                            <p:cond delay="0"/>
                                          </p:stCondLst>
                                        </p:cTn>
                                        <p:tgtEl>
                                          <p:spTgt spid="2205712"/>
                                        </p:tgtEl>
                                        <p:attrNameLst>
                                          <p:attrName>style.visibility</p:attrName>
                                        </p:attrNameLst>
                                      </p:cBhvr>
                                      <p:to>
                                        <p:strVal val="visible"/>
                                      </p:to>
                                    </p:set>
                                    <p:animEffect transition="in" filter="dissolve">
                                      <p:cBhvr>
                                        <p:cTn id="15" dur="500"/>
                                        <p:tgtEl>
                                          <p:spTgt spid="220571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05715"/>
                                        </p:tgtEl>
                                        <p:attrNameLst>
                                          <p:attrName>style.visibility</p:attrName>
                                        </p:attrNameLst>
                                      </p:cBhvr>
                                      <p:to>
                                        <p:strVal val="visible"/>
                                      </p:to>
                                    </p:set>
                                    <p:animEffect transition="in" filter="dissolve">
                                      <p:cBhvr>
                                        <p:cTn id="18" dur="500"/>
                                        <p:tgtEl>
                                          <p:spTgt spid="2205715"/>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205717"/>
                                        </p:tgtEl>
                                        <p:attrNameLst>
                                          <p:attrName>style.visibility</p:attrName>
                                        </p:attrNameLst>
                                      </p:cBhvr>
                                      <p:to>
                                        <p:strVal val="visible"/>
                                      </p:to>
                                    </p:set>
                                    <p:animEffect transition="in" filter="dissolve">
                                      <p:cBhvr>
                                        <p:cTn id="23" dur="500"/>
                                        <p:tgtEl>
                                          <p:spTgt spid="2205717"/>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205710"/>
                                        </p:tgtEl>
                                        <p:attrNameLst>
                                          <p:attrName>style.visibility</p:attrName>
                                        </p:attrNameLst>
                                      </p:cBhvr>
                                      <p:to>
                                        <p:strVal val="visible"/>
                                      </p:to>
                                    </p:set>
                                    <p:animEffect transition="in" filter="dissolve">
                                      <p:cBhvr>
                                        <p:cTn id="26" dur="500"/>
                                        <p:tgtEl>
                                          <p:spTgt spid="2205710"/>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2205723"/>
                                        </p:tgtEl>
                                        <p:attrNameLst>
                                          <p:attrName>style.visibility</p:attrName>
                                        </p:attrNameLst>
                                      </p:cBhvr>
                                      <p:to>
                                        <p:strVal val="visible"/>
                                      </p:to>
                                    </p:set>
                                    <p:animEffect transition="in" filter="dissolve">
                                      <p:cBhvr>
                                        <p:cTn id="29" dur="500"/>
                                        <p:tgtEl>
                                          <p:spTgt spid="2205723"/>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205724"/>
                                        </p:tgtEl>
                                        <p:attrNameLst>
                                          <p:attrName>style.visibility</p:attrName>
                                        </p:attrNameLst>
                                      </p:cBhvr>
                                      <p:to>
                                        <p:strVal val="visible"/>
                                      </p:to>
                                    </p:set>
                                    <p:animEffect transition="in" filter="dissolve">
                                      <p:cBhvr>
                                        <p:cTn id="32" dur="500"/>
                                        <p:tgtEl>
                                          <p:spTgt spid="220572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205711"/>
                                        </p:tgtEl>
                                        <p:attrNameLst>
                                          <p:attrName>style.visibility</p:attrName>
                                        </p:attrNameLst>
                                      </p:cBhvr>
                                      <p:to>
                                        <p:strVal val="visible"/>
                                      </p:to>
                                    </p:set>
                                    <p:animEffect transition="in" filter="dissolve">
                                      <p:cBhvr>
                                        <p:cTn id="37" dur="500"/>
                                        <p:tgtEl>
                                          <p:spTgt spid="22057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5702" grpId="0" animBg="1"/>
      <p:bldP spid="2205707" grpId="0"/>
      <p:bldP spid="2205711" grpId="0" animBg="1"/>
      <p:bldP spid="2205715" grpId="0"/>
      <p:bldP spid="2205710" grpId="0"/>
      <p:bldP spid="2205723" grpId="0"/>
      <p:bldP spid="220572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6742" name="Text Box 22"/>
          <p:cNvSpPr txBox="1"/>
          <p:nvPr/>
        </p:nvSpPr>
        <p:spPr>
          <a:xfrm>
            <a:off x="474663" y="1770063"/>
            <a:ext cx="4424362" cy="1190625"/>
          </a:xfrm>
          <a:prstGeom prst="rect">
            <a:avLst/>
          </a:prstGeom>
          <a:noFill/>
          <a:ln w="9525">
            <a:noFill/>
          </a:ln>
        </p:spPr>
        <p:txBody>
          <a:bodyPr>
            <a:spAutoFit/>
          </a:bodyPr>
          <a:p>
            <a:pPr marL="1343025" indent="-1343025" eaLnBrk="1" hangingPunct="1"/>
            <a:r>
              <a:rPr lang="zh-CN" altLang="en-US" b="1" dirty="0">
                <a:solidFill>
                  <a:srgbClr val="FF0000"/>
                </a:solidFill>
                <a:latin typeface="楷体_GB2312" pitchFamily="49" charset="-122"/>
              </a:rPr>
              <a:t>例如：</a:t>
            </a:r>
            <a:r>
              <a:rPr lang="zh-CN" altLang="en-US" b="1" dirty="0">
                <a:solidFill>
                  <a:schemeClr val="tx1"/>
                </a:solidFill>
                <a:latin typeface="楷体_GB2312" pitchFamily="49" charset="-122"/>
              </a:rPr>
              <a:t>运动数据记录、处理（鹰眼）。</a:t>
            </a:r>
            <a:endParaRPr lang="zh-CN" altLang="en-US" b="1" dirty="0">
              <a:solidFill>
                <a:schemeClr val="tx1"/>
              </a:solidFill>
              <a:latin typeface="楷体_GB2312" pitchFamily="49" charset="-122"/>
            </a:endParaRPr>
          </a:p>
        </p:txBody>
      </p:sp>
      <p:sp>
        <p:nvSpPr>
          <p:cNvPr id="2206743" name="Text Box 23"/>
          <p:cNvSpPr txBox="1"/>
          <p:nvPr/>
        </p:nvSpPr>
        <p:spPr>
          <a:xfrm>
            <a:off x="1079500" y="4005263"/>
            <a:ext cx="3527425" cy="1554162"/>
          </a:xfrm>
          <a:prstGeom prst="rect">
            <a:avLst/>
          </a:prstGeom>
          <a:solidFill>
            <a:srgbClr val="CCFFFF"/>
          </a:solidFill>
          <a:ln w="9525">
            <a:noFill/>
          </a:ln>
        </p:spPr>
        <p:txBody>
          <a:bodyPr>
            <a:spAutoFit/>
          </a:bodyPr>
          <a:p>
            <a:pPr eaLnBrk="1" hangingPunct="1"/>
            <a:r>
              <a:rPr lang="zh-CN" altLang="en-US" sz="3200" b="1" dirty="0">
                <a:solidFill>
                  <a:schemeClr val="tx1"/>
                </a:solidFill>
                <a:latin typeface="楷体_GB2312" pitchFamily="49" charset="-122"/>
              </a:rPr>
              <a:t>提高工作精确性、效率，完成了靠人很难完成的工作。</a:t>
            </a:r>
            <a:endParaRPr lang="zh-CN" altLang="en-US" sz="3200" b="1" dirty="0">
              <a:solidFill>
                <a:schemeClr val="tx1"/>
              </a:solidFill>
              <a:latin typeface="楷体_GB2312" pitchFamily="49" charset="-122"/>
            </a:endParaRPr>
          </a:p>
        </p:txBody>
      </p:sp>
      <p:pic>
        <p:nvPicPr>
          <p:cNvPr id="2206744" name="Picture 24" descr="kugel_blau"/>
          <p:cNvPicPr>
            <a:picLocks noChangeAspect="1"/>
          </p:cNvPicPr>
          <p:nvPr/>
        </p:nvPicPr>
        <p:blipFill>
          <a:blip r:embed="rId1"/>
          <a:stretch>
            <a:fillRect/>
          </a:stretch>
        </p:blipFill>
        <p:spPr>
          <a:xfrm>
            <a:off x="498475" y="3321050"/>
            <a:ext cx="457200" cy="315913"/>
          </a:xfrm>
          <a:prstGeom prst="rect">
            <a:avLst/>
          </a:prstGeom>
          <a:noFill/>
          <a:ln w="9525">
            <a:noFill/>
          </a:ln>
        </p:spPr>
      </p:pic>
      <p:sp>
        <p:nvSpPr>
          <p:cNvPr id="2206745" name="Text Box 25"/>
          <p:cNvSpPr txBox="1"/>
          <p:nvPr/>
        </p:nvSpPr>
        <p:spPr>
          <a:xfrm>
            <a:off x="901700" y="3136900"/>
            <a:ext cx="1725613" cy="641350"/>
          </a:xfrm>
          <a:prstGeom prst="rect">
            <a:avLst/>
          </a:prstGeom>
          <a:noFill/>
          <a:ln w="9525">
            <a:noFill/>
          </a:ln>
        </p:spPr>
        <p:txBody>
          <a:bodyPr>
            <a:spAutoFit/>
          </a:bodyPr>
          <a:p>
            <a:pPr eaLnBrk="1" hangingPunct="1"/>
            <a:r>
              <a:rPr lang="zh-CN" altLang="en-US" b="1" dirty="0">
                <a:latin typeface="楷体_GB2312" pitchFamily="49" charset="-122"/>
              </a:rPr>
              <a:t>结果：</a:t>
            </a:r>
            <a:endParaRPr lang="zh-CN" altLang="en-US" b="1" dirty="0">
              <a:latin typeface="楷体_GB2312" pitchFamily="49" charset="-122"/>
            </a:endParaRPr>
          </a:p>
        </p:txBody>
      </p:sp>
      <p:sp>
        <p:nvSpPr>
          <p:cNvPr id="2206746" name="Text Box 26"/>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35847" name="Text Box 27"/>
          <p:cNvSpPr txBox="1"/>
          <p:nvPr/>
        </p:nvSpPr>
        <p:spPr>
          <a:xfrm>
            <a:off x="474663" y="915988"/>
            <a:ext cx="3967162"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2. </a:t>
            </a:r>
            <a:r>
              <a:rPr lang="zh-CN" altLang="en-US" b="1" dirty="0">
                <a:latin typeface="Times New Roman" panose="02020603050405020304" pitchFamily="18" charset="0"/>
              </a:rPr>
              <a:t>数据采集的意义 </a:t>
            </a:r>
            <a:endParaRPr lang="zh-CN" altLang="en-US" b="1" dirty="0">
              <a:latin typeface="Times New Roman" panose="02020603050405020304" pitchFamily="18" charset="0"/>
            </a:endParaRPr>
          </a:p>
        </p:txBody>
      </p:sp>
      <p:sp>
        <p:nvSpPr>
          <p:cNvPr id="2206748" name="Text Box 28"/>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pic>
        <p:nvPicPr>
          <p:cNvPr id="2272257" name="Picture 1" descr="0011432109b6083db84115"/>
          <p:cNvPicPr>
            <a:picLocks noChangeAspect="1"/>
          </p:cNvPicPr>
          <p:nvPr/>
        </p:nvPicPr>
        <p:blipFill>
          <a:blip r:embed="rId2"/>
          <a:stretch>
            <a:fillRect/>
          </a:stretch>
        </p:blipFill>
        <p:spPr>
          <a:xfrm>
            <a:off x="5256213" y="1338263"/>
            <a:ext cx="3390900" cy="4286250"/>
          </a:xfrm>
          <a:prstGeom prst="rect">
            <a:avLst/>
          </a:prstGeom>
          <a:noFill/>
          <a:ln w="9525">
            <a:noFill/>
          </a:ln>
        </p:spPr>
      </p:pic>
    </p:spTree>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06742"/>
                                        </p:tgtEl>
                                        <p:attrNameLst>
                                          <p:attrName>style.visibility</p:attrName>
                                        </p:attrNameLst>
                                      </p:cBhvr>
                                      <p:to>
                                        <p:strVal val="visible"/>
                                      </p:to>
                                    </p:set>
                                    <p:animEffect transition="in" filter="dissolve">
                                      <p:cBhvr>
                                        <p:cTn id="7" dur="500"/>
                                        <p:tgtEl>
                                          <p:spTgt spid="22067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72257"/>
                                        </p:tgtEl>
                                        <p:attrNameLst>
                                          <p:attrName>style.visibility</p:attrName>
                                        </p:attrNameLst>
                                      </p:cBhvr>
                                      <p:to>
                                        <p:strVal val="visible"/>
                                      </p:to>
                                    </p:set>
                                    <p:animEffect transition="in" filter="dissolve">
                                      <p:cBhvr>
                                        <p:cTn id="12" dur="500"/>
                                        <p:tgtEl>
                                          <p:spTgt spid="22722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06743"/>
                                        </p:tgtEl>
                                        <p:attrNameLst>
                                          <p:attrName>style.visibility</p:attrName>
                                        </p:attrNameLst>
                                      </p:cBhvr>
                                      <p:to>
                                        <p:strVal val="visible"/>
                                      </p:to>
                                    </p:set>
                                    <p:animEffect transition="in" filter="dissolve">
                                      <p:cBhvr>
                                        <p:cTn id="17" dur="500"/>
                                        <p:tgtEl>
                                          <p:spTgt spid="2206743"/>
                                        </p:tgtEl>
                                      </p:cBhvr>
                                    </p:animEffect>
                                  </p:childTnLst>
                                </p:cTn>
                              </p:par>
                              <p:par>
                                <p:cTn id="18" presetID="9" presetClass="entr" presetSubtype="0" fill="hold" nodeType="withEffect">
                                  <p:stCondLst>
                                    <p:cond delay="0"/>
                                  </p:stCondLst>
                                  <p:childTnLst>
                                    <p:set>
                                      <p:cBhvr>
                                        <p:cTn id="19" dur="1" fill="hold">
                                          <p:stCondLst>
                                            <p:cond delay="0"/>
                                          </p:stCondLst>
                                        </p:cTn>
                                        <p:tgtEl>
                                          <p:spTgt spid="2206744"/>
                                        </p:tgtEl>
                                        <p:attrNameLst>
                                          <p:attrName>style.visibility</p:attrName>
                                        </p:attrNameLst>
                                      </p:cBhvr>
                                      <p:to>
                                        <p:strVal val="visible"/>
                                      </p:to>
                                    </p:set>
                                    <p:animEffect transition="in" filter="dissolve">
                                      <p:cBhvr>
                                        <p:cTn id="20" dur="500"/>
                                        <p:tgtEl>
                                          <p:spTgt spid="220674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206745"/>
                                        </p:tgtEl>
                                        <p:attrNameLst>
                                          <p:attrName>style.visibility</p:attrName>
                                        </p:attrNameLst>
                                      </p:cBhvr>
                                      <p:to>
                                        <p:strVal val="visible"/>
                                      </p:to>
                                    </p:set>
                                    <p:animEffect transition="in" filter="dissolve">
                                      <p:cBhvr>
                                        <p:cTn id="23" dur="500"/>
                                        <p:tgtEl>
                                          <p:spTgt spid="22067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6742" grpId="0"/>
      <p:bldP spid="2206743" grpId="0" animBg="1"/>
      <p:bldP spid="220674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6746" name="Text Box 26"/>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36867" name="Text Box 27"/>
          <p:cNvSpPr txBox="1"/>
          <p:nvPr/>
        </p:nvSpPr>
        <p:spPr>
          <a:xfrm>
            <a:off x="474663" y="915988"/>
            <a:ext cx="3967162"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2. </a:t>
            </a:r>
            <a:r>
              <a:rPr lang="zh-CN" altLang="en-US" b="1" dirty="0">
                <a:latin typeface="Times New Roman" panose="02020603050405020304" pitchFamily="18" charset="0"/>
              </a:rPr>
              <a:t>数据采集的意义 </a:t>
            </a:r>
            <a:endParaRPr lang="zh-CN" altLang="en-US" b="1" dirty="0">
              <a:latin typeface="Times New Roman" panose="02020603050405020304" pitchFamily="18" charset="0"/>
            </a:endParaRPr>
          </a:p>
        </p:txBody>
      </p:sp>
      <p:sp>
        <p:nvSpPr>
          <p:cNvPr id="2206748" name="Text Box 28"/>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pic>
        <p:nvPicPr>
          <p:cNvPr id="36869" name="Picture 10" descr="汽车碰撞2"/>
          <p:cNvPicPr>
            <a:picLocks noChangeAspect="1"/>
          </p:cNvPicPr>
          <p:nvPr/>
        </p:nvPicPr>
        <p:blipFill>
          <a:blip r:embed="rId1"/>
          <a:stretch>
            <a:fillRect/>
          </a:stretch>
        </p:blipFill>
        <p:spPr>
          <a:xfrm>
            <a:off x="757238" y="1654175"/>
            <a:ext cx="7667625" cy="4546600"/>
          </a:xfrm>
          <a:prstGeom prst="rect">
            <a:avLst/>
          </a:prstGeom>
          <a:noFill/>
          <a:ln w="9525">
            <a:noFill/>
          </a:ln>
        </p:spPr>
      </p:pic>
      <p:sp>
        <p:nvSpPr>
          <p:cNvPr id="85003" name="Rectangle 11"/>
          <p:cNvSpPr>
            <a:spLocks noChangeArrowheads="1"/>
          </p:cNvSpPr>
          <p:nvPr/>
        </p:nvSpPr>
        <p:spPr bwMode="auto">
          <a:xfrm>
            <a:off x="5148263" y="915988"/>
            <a:ext cx="3600450" cy="457200"/>
          </a:xfrm>
          <a:prstGeom prst="rect">
            <a:avLst/>
          </a:prstGeom>
          <a:noFill/>
          <a:ln w="19050" cap="rnd" algn="ctr">
            <a:noFill/>
            <a:miter lim="800000"/>
          </a:ln>
          <a:effectLst/>
        </p:spPr>
        <p:txBody>
          <a:bodyPr>
            <a:spAutoFit/>
          </a:bodyPr>
          <a:lstStyle/>
          <a:p>
            <a:pPr marL="0" marR="0" lvl="0" indent="0" algn="l" defTabSz="914400" rtl="0" eaLnBrk="1" fontAlgn="base" latinLnBrk="1" hangingPunct="1">
              <a:lnSpc>
                <a:spcPct val="100000"/>
              </a:lnSpc>
              <a:spcBef>
                <a:spcPct val="0"/>
              </a:spcBef>
              <a:spcAft>
                <a:spcPct val="0"/>
              </a:spcAft>
              <a:buClrTx/>
              <a:buSzTx/>
              <a:buFontTx/>
              <a:buNone/>
              <a:defRPr/>
            </a:pPr>
            <a:r>
              <a:rPr kumimoji="1" lang="zh-CN" altLang="en-US" sz="2400" b="1" i="0" u="none" strike="noStrike" kern="1200" cap="none" spc="0" normalizeH="0" baseline="0" noProof="0">
                <a:ln>
                  <a:noFill/>
                </a:ln>
                <a:solidFill>
                  <a:srgbClr val="333399"/>
                </a:solidFill>
                <a:effectLst>
                  <a:outerShdw blurRad="38100" dist="38100" dir="2700000" algn="tl">
                    <a:srgbClr val="C0C0C0"/>
                  </a:outerShdw>
                </a:effectLst>
                <a:uLnTx/>
                <a:uFillTx/>
                <a:latin typeface="굴림" pitchFamily="34" charset="-127"/>
                <a:ea typeface="楷体_GB2312" pitchFamily="49" charset="-122"/>
                <a:cs typeface="+mn-cs"/>
              </a:rPr>
              <a:t>汽车碰撞数据采集</a:t>
            </a:r>
            <a:endParaRPr kumimoji="1" lang="zh-CN" altLang="en-US" sz="2400" b="1" i="0" u="none" strike="noStrike" kern="1200" cap="none" spc="0" normalizeH="0" baseline="0" noProof="0">
              <a:ln>
                <a:noFill/>
              </a:ln>
              <a:solidFill>
                <a:srgbClr val="333399"/>
              </a:solidFill>
              <a:effectLst>
                <a:outerShdw blurRad="38100" dist="38100" dir="2700000" algn="tl">
                  <a:srgbClr val="C0C0C0"/>
                </a:outerShdw>
              </a:effectLst>
              <a:uLnTx/>
              <a:uFillTx/>
              <a:latin typeface="굴림" pitchFamily="34" charset="-127"/>
              <a:ea typeface="楷体_GB2312" pitchFamily="49" charset="-122"/>
              <a:cs typeface="+mn-cs"/>
            </a:endParaRPr>
          </a:p>
        </p:txBody>
      </p:sp>
    </p:spTree>
  </p:cSld>
  <p:clrMapOvr>
    <a:masterClrMapping/>
  </p:clrMapOvr>
  <p:transition spd="slow">
    <p:cove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7138" name="Text Box 2"/>
          <p:cNvSpPr txBox="1"/>
          <p:nvPr/>
        </p:nvSpPr>
        <p:spPr>
          <a:xfrm>
            <a:off x="542925" y="1077913"/>
            <a:ext cx="4929188"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3. </a:t>
            </a:r>
            <a:r>
              <a:rPr lang="zh-CN" altLang="en-US" b="1" dirty="0">
                <a:latin typeface="Times New Roman" panose="02020603050405020304" pitchFamily="18" charset="0"/>
              </a:rPr>
              <a:t>数据采集系统的任务</a:t>
            </a:r>
            <a:endParaRPr lang="zh-CN" altLang="en-US" b="1" dirty="0">
              <a:latin typeface="Times New Roman" panose="02020603050405020304" pitchFamily="18" charset="0"/>
            </a:endParaRPr>
          </a:p>
        </p:txBody>
      </p:sp>
      <p:sp>
        <p:nvSpPr>
          <p:cNvPr id="2267141" name="Text Box 5"/>
          <p:cNvSpPr txBox="1"/>
          <p:nvPr/>
        </p:nvSpPr>
        <p:spPr>
          <a:xfrm>
            <a:off x="1071563" y="2159000"/>
            <a:ext cx="7553325"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采集传感器输出模拟信号，并转换成数字信号，然后送入计算机。</a:t>
            </a:r>
            <a:endParaRPr lang="zh-CN" altLang="en-US" sz="2800" b="1" dirty="0">
              <a:solidFill>
                <a:schemeClr val="tx1"/>
              </a:solidFill>
              <a:latin typeface="楷体_GB2312" pitchFamily="49" charset="-122"/>
            </a:endParaRPr>
          </a:p>
        </p:txBody>
      </p:sp>
      <p:sp>
        <p:nvSpPr>
          <p:cNvPr id="2267142" name="Text Box 6"/>
          <p:cNvSpPr txBox="1"/>
          <p:nvPr/>
        </p:nvSpPr>
        <p:spPr>
          <a:xfrm>
            <a:off x="1071563" y="3346450"/>
            <a:ext cx="7550150"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系统计算机对数字信号进行处理，得到所需的数据。</a:t>
            </a:r>
            <a:endParaRPr lang="zh-CN" altLang="en-US" sz="2800" b="1" dirty="0">
              <a:solidFill>
                <a:schemeClr val="tx1"/>
              </a:solidFill>
              <a:latin typeface="楷体_GB2312" pitchFamily="49" charset="-122"/>
            </a:endParaRPr>
          </a:p>
        </p:txBody>
      </p:sp>
      <p:sp>
        <p:nvSpPr>
          <p:cNvPr id="2267147" name="Text Box 11"/>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7149" name="Text Box 13"/>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sp>
        <p:nvSpPr>
          <p:cNvPr id="2" name="Text Box 6"/>
          <p:cNvSpPr txBox="1"/>
          <p:nvPr/>
        </p:nvSpPr>
        <p:spPr>
          <a:xfrm>
            <a:off x="1071563" y="4652963"/>
            <a:ext cx="7550150" cy="519112"/>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将计算得到的数据进行显示或打印。</a:t>
            </a:r>
            <a:endParaRPr lang="zh-CN" altLang="en-US" sz="2800" b="1" dirty="0">
              <a:solidFill>
                <a:schemeClr val="tx1"/>
              </a:solidFill>
              <a:latin typeface="楷体_GB2312" pitchFamily="49" charset="-122"/>
            </a:endParaRPr>
          </a:p>
        </p:txBody>
      </p:sp>
    </p:spTree>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7138"/>
                                        </p:tgtEl>
                                        <p:attrNameLst>
                                          <p:attrName>style.visibility</p:attrName>
                                        </p:attrNameLst>
                                      </p:cBhvr>
                                      <p:to>
                                        <p:strVal val="visible"/>
                                      </p:to>
                                    </p:set>
                                    <p:animEffect transition="in" filter="dissolve">
                                      <p:cBhvr>
                                        <p:cTn id="7" dur="500"/>
                                        <p:tgtEl>
                                          <p:spTgt spid="226713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7141">
                                            <p:txEl>
                                              <p:charRg st="0" end="30"/>
                                            </p:txEl>
                                          </p:spTgt>
                                        </p:tgtEl>
                                        <p:attrNameLst>
                                          <p:attrName>style.visibility</p:attrName>
                                        </p:attrNameLst>
                                      </p:cBhvr>
                                      <p:to>
                                        <p:strVal val="visible"/>
                                      </p:to>
                                    </p:set>
                                    <p:animEffect transition="in" filter="dissolve">
                                      <p:cBhvr>
                                        <p:cTn id="12" dur="500"/>
                                        <p:tgtEl>
                                          <p:spTgt spid="2267141">
                                            <p:txEl>
                                              <p:charRg st="0" end="3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67142">
                                            <p:txEl>
                                              <p:charRg st="0" end="24"/>
                                            </p:txEl>
                                          </p:spTgt>
                                        </p:tgtEl>
                                        <p:attrNameLst>
                                          <p:attrName>style.visibility</p:attrName>
                                        </p:attrNameLst>
                                      </p:cBhvr>
                                      <p:to>
                                        <p:strVal val="visible"/>
                                      </p:to>
                                    </p:set>
                                    <p:animEffect transition="in" filter="dissolve">
                                      <p:cBhvr>
                                        <p:cTn id="17" dur="500"/>
                                        <p:tgtEl>
                                          <p:spTgt spid="2267142">
                                            <p:txEl>
                                              <p:charRg st="0" end="2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charRg st="0" end="17"/>
                                            </p:txEl>
                                          </p:spTgt>
                                        </p:tgtEl>
                                        <p:attrNameLst>
                                          <p:attrName>style.visibility</p:attrName>
                                        </p:attrNameLst>
                                      </p:cBhvr>
                                      <p:to>
                                        <p:strVal val="visible"/>
                                      </p:to>
                                    </p:set>
                                    <p:animEffect transition="in" filter="dissolve">
                                      <p:cBhvr>
                                        <p:cTn id="22" dur="500"/>
                                        <p:tgtEl>
                                          <p:spTgt spid="2">
                                            <p:txEl>
                                              <p:charRg st="0" end="1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7138" grpId="0" animBg="1"/>
      <p:bldP spid="2267141" grpId="0" build="p"/>
      <p:bldP spid="2267142" grpId="0" build="p"/>
      <p:bldP spid="2"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13899" name="Text Box 11"/>
          <p:cNvSpPr txBox="1"/>
          <p:nvPr/>
        </p:nvSpPr>
        <p:spPr>
          <a:xfrm>
            <a:off x="425450" y="3249613"/>
            <a:ext cx="5802313"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5. </a:t>
            </a:r>
            <a:r>
              <a:rPr lang="zh-CN" altLang="en-US" b="1" dirty="0">
                <a:latin typeface="Times New Roman" panose="02020603050405020304" pitchFamily="18" charset="0"/>
              </a:rPr>
              <a:t>构成数据采集系统的依据 </a:t>
            </a:r>
            <a:endParaRPr lang="zh-CN" altLang="en-US" b="1" dirty="0">
              <a:latin typeface="Times New Roman" panose="02020603050405020304" pitchFamily="18" charset="0"/>
            </a:endParaRPr>
          </a:p>
        </p:txBody>
      </p:sp>
      <p:sp>
        <p:nvSpPr>
          <p:cNvPr id="2213900" name="Text Box 12"/>
          <p:cNvSpPr txBox="1"/>
          <p:nvPr/>
        </p:nvSpPr>
        <p:spPr>
          <a:xfrm>
            <a:off x="792163" y="4165600"/>
            <a:ext cx="7812087" cy="955675"/>
          </a:xfrm>
          <a:prstGeom prst="rect">
            <a:avLst/>
          </a:prstGeom>
          <a:noFill/>
          <a:ln w="9525" cap="flat" cmpd="sng">
            <a:solidFill>
              <a:srgbClr val="FF6600"/>
            </a:solidFill>
            <a:prstDash val="solid"/>
            <a:miter/>
            <a:headEnd type="none" w="med" len="med"/>
            <a:tailEnd type="none" w="med" len="med"/>
          </a:ln>
        </p:spPr>
        <p:txBody>
          <a:bodyPr>
            <a:spAutoFit/>
          </a:bodyPr>
          <a:p>
            <a:pPr eaLnBrk="1" hangingPunct="1"/>
            <a:r>
              <a:rPr lang="en-US" altLang="zh-CN" sz="2800" b="1" dirty="0">
                <a:solidFill>
                  <a:schemeClr val="tx1"/>
                </a:solidFill>
                <a:latin typeface="楷体_GB2312" pitchFamily="49" charset="-122"/>
              </a:rPr>
              <a:t>    </a:t>
            </a:r>
            <a:r>
              <a:rPr lang="zh-CN" altLang="en-US" sz="2800" b="1" dirty="0">
                <a:solidFill>
                  <a:schemeClr val="tx1"/>
                </a:solidFill>
                <a:latin typeface="楷体_GB2312" pitchFamily="49" charset="-122"/>
              </a:rPr>
              <a:t>保证系统具备</a:t>
            </a:r>
            <a:r>
              <a:rPr lang="zh-CN" altLang="en-US" sz="2800" b="1" dirty="0">
                <a:solidFill>
                  <a:srgbClr val="FF0000"/>
                </a:solidFill>
                <a:latin typeface="楷体_GB2312" pitchFamily="49" charset="-122"/>
              </a:rPr>
              <a:t>采样精度</a:t>
            </a:r>
            <a:r>
              <a:rPr lang="zh-CN" altLang="en-US" sz="2800" b="1" dirty="0">
                <a:solidFill>
                  <a:schemeClr val="tx1"/>
                </a:solidFill>
                <a:latin typeface="楷体_GB2312" pitchFamily="49" charset="-122"/>
              </a:rPr>
              <a:t>的条件下，有尽可能高的</a:t>
            </a:r>
            <a:r>
              <a:rPr lang="zh-CN" altLang="en-US" sz="2800" b="1" dirty="0">
                <a:solidFill>
                  <a:srgbClr val="FF0000"/>
                </a:solidFill>
                <a:latin typeface="楷体_GB2312" pitchFamily="49" charset="-122"/>
              </a:rPr>
              <a:t>采样速度</a:t>
            </a:r>
            <a:r>
              <a:rPr lang="zh-CN" altLang="en-US" sz="2800" b="1" dirty="0">
                <a:solidFill>
                  <a:schemeClr val="tx1"/>
                </a:solidFill>
                <a:latin typeface="楷体_GB2312" pitchFamily="49" charset="-122"/>
              </a:rPr>
              <a:t>，以满足实时处理、控制的要求。</a:t>
            </a:r>
            <a:endParaRPr lang="zh-CN" altLang="en-US" sz="2800" b="1" dirty="0">
              <a:solidFill>
                <a:schemeClr val="tx1"/>
              </a:solidFill>
              <a:latin typeface="楷体_GB2312" pitchFamily="49" charset="-122"/>
            </a:endParaRPr>
          </a:p>
        </p:txBody>
      </p:sp>
      <p:sp>
        <p:nvSpPr>
          <p:cNvPr id="2213901" name="Text Box 13"/>
          <p:cNvSpPr txBox="1"/>
          <p:nvPr/>
        </p:nvSpPr>
        <p:spPr>
          <a:xfrm>
            <a:off x="384175" y="1058863"/>
            <a:ext cx="7637463" cy="641350"/>
          </a:xfrm>
          <a:prstGeom prst="rect">
            <a:avLst/>
          </a:prstGeom>
          <a:solidFill>
            <a:srgbClr val="99CCFF"/>
          </a:solidFill>
          <a:ln w="9525">
            <a:noFill/>
          </a:ln>
        </p:spPr>
        <p:txBody>
          <a:bodyPr wrap="none">
            <a:spAutoFit/>
          </a:bodyPr>
          <a:p>
            <a:pPr eaLnBrk="1" hangingPunct="1"/>
            <a:r>
              <a:rPr lang="en-US" altLang="zh-CN" b="1" dirty="0">
                <a:latin typeface="Times New Roman" panose="02020603050405020304" pitchFamily="18" charset="0"/>
              </a:rPr>
              <a:t>4. </a:t>
            </a:r>
            <a:r>
              <a:rPr lang="zh-CN" altLang="en-US" b="1" dirty="0">
                <a:latin typeface="Times New Roman" panose="02020603050405020304" pitchFamily="18" charset="0"/>
              </a:rPr>
              <a:t>评价数据采集系统性能优劣的标准 </a:t>
            </a:r>
            <a:endParaRPr lang="zh-CN" altLang="en-US" b="1" dirty="0">
              <a:latin typeface="Times New Roman" panose="02020603050405020304" pitchFamily="18" charset="0"/>
            </a:endParaRPr>
          </a:p>
        </p:txBody>
      </p:sp>
      <p:sp>
        <p:nvSpPr>
          <p:cNvPr id="2213904" name="Text Box 16"/>
          <p:cNvSpPr txBox="1"/>
          <p:nvPr/>
        </p:nvSpPr>
        <p:spPr>
          <a:xfrm>
            <a:off x="1187450" y="1906588"/>
            <a:ext cx="6834188"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rgbClr val="FF0000"/>
                </a:solidFill>
                <a:latin typeface="楷体_GB2312" pitchFamily="49" charset="-122"/>
              </a:rPr>
              <a:t>采样精度</a:t>
            </a:r>
            <a:r>
              <a:rPr lang="en-US" altLang="zh-CN" sz="2800" b="1" dirty="0">
                <a:solidFill>
                  <a:schemeClr val="tx1"/>
                </a:solidFill>
                <a:latin typeface="楷体_GB2312" pitchFamily="49" charset="-122"/>
              </a:rPr>
              <a:t>: </a:t>
            </a:r>
            <a:r>
              <a:rPr lang="zh-CN" altLang="en-US" sz="2800" b="1" dirty="0">
                <a:solidFill>
                  <a:schemeClr val="tx1"/>
                </a:solidFill>
                <a:latin typeface="楷体_GB2312" pitchFamily="49" charset="-122"/>
              </a:rPr>
              <a:t>精度越高，系统性能越好</a:t>
            </a:r>
            <a:endParaRPr lang="zh-CN" altLang="en-US" sz="2800" b="1" dirty="0">
              <a:solidFill>
                <a:schemeClr val="tx1"/>
              </a:solidFill>
              <a:latin typeface="楷体_GB2312" pitchFamily="49" charset="-122"/>
            </a:endParaRPr>
          </a:p>
          <a:p>
            <a:pPr marL="542925" indent="-542925" eaLnBrk="1" hangingPunct="1">
              <a:buClr>
                <a:srgbClr val="FF0000"/>
              </a:buClr>
              <a:buFont typeface="Wingdings" panose="05000000000000000000" pitchFamily="2" charset="2"/>
              <a:buChar char="u"/>
            </a:pPr>
            <a:r>
              <a:rPr lang="zh-CN" altLang="en-US" sz="2800" b="1" dirty="0">
                <a:solidFill>
                  <a:srgbClr val="FF0000"/>
                </a:solidFill>
                <a:latin typeface="楷体_GB2312" pitchFamily="49" charset="-122"/>
              </a:rPr>
              <a:t>采样速度</a:t>
            </a:r>
            <a:r>
              <a:rPr lang="en-US" altLang="zh-CN" sz="2800" b="1" dirty="0">
                <a:solidFill>
                  <a:schemeClr val="tx1"/>
                </a:solidFill>
                <a:latin typeface="楷体_GB2312" pitchFamily="49" charset="-122"/>
              </a:rPr>
              <a:t>: </a:t>
            </a:r>
            <a:r>
              <a:rPr lang="zh-CN" altLang="en-US" sz="2800" b="1" dirty="0">
                <a:solidFill>
                  <a:schemeClr val="tx1"/>
                </a:solidFill>
                <a:latin typeface="楷体_GB2312" pitchFamily="49" charset="-122"/>
              </a:rPr>
              <a:t>速度越快，系统性能越好</a:t>
            </a:r>
            <a:endParaRPr lang="zh-CN" altLang="en-US" sz="2800" b="1" dirty="0">
              <a:solidFill>
                <a:schemeClr val="tx1"/>
              </a:solidFill>
              <a:latin typeface="楷体_GB2312" pitchFamily="49" charset="-122"/>
            </a:endParaRPr>
          </a:p>
        </p:txBody>
      </p:sp>
      <p:sp>
        <p:nvSpPr>
          <p:cNvPr id="2213906" name="Text Box 1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4863" name="Text Box 15"/>
          <p:cNvSpPr txBox="1">
            <a:spLocks noChangeArrowheads="1"/>
          </p:cNvSpPr>
          <p:nvPr/>
        </p:nvSpPr>
        <p:spPr bwMode="auto">
          <a:xfrm>
            <a:off x="1649413" y="152400"/>
            <a:ext cx="6196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数据采集的意义与任务</a:t>
            </a:r>
            <a:r>
              <a:rPr kumimoji="1" lang="zh-CN" altLang="en-US" sz="4000" b="1" kern="1200" cap="none" spc="0" normalizeH="0" baseline="0" noProof="0">
                <a:solidFill>
                  <a:schemeClr val="tx1"/>
                </a:solidFill>
                <a:latin typeface="Arial Black" panose="020B0A04020102020204" pitchFamily="34" charset="0"/>
                <a:ea typeface="宋体" panose="02010600030101010101" pitchFamily="2" charset="-122"/>
                <a:cs typeface="+mn-cs"/>
              </a:rPr>
              <a:t> </a:t>
            </a:r>
            <a:endParaRPr kumimoji="1" lang="zh-CN" altLang="en-US" sz="4000" b="1" kern="1200" cap="none" spc="0" normalizeH="0" baseline="0" noProof="0">
              <a:solidFill>
                <a:schemeClr val="tx1"/>
              </a:solidFill>
              <a:latin typeface="楷体_GB2312" pitchFamily="49" charset="-122"/>
              <a:ea typeface="楷体_GB2312" pitchFamily="49" charset="-122"/>
              <a:cs typeface="+mn-cs"/>
            </a:endParaRPr>
          </a:p>
        </p:txBody>
      </p:sp>
      <p:sp>
        <p:nvSpPr>
          <p:cNvPr id="2254864" name="Text Box 16"/>
          <p:cNvSpPr txBox="1"/>
          <p:nvPr/>
        </p:nvSpPr>
        <p:spPr>
          <a:xfrm>
            <a:off x="1835150" y="5383213"/>
            <a:ext cx="5765800" cy="530225"/>
          </a:xfrm>
          <a:prstGeom prst="rect">
            <a:avLst/>
          </a:prstGeom>
          <a:solidFill>
            <a:srgbClr val="CCFFFF"/>
          </a:solidFill>
          <a:ln w="9525">
            <a:noFill/>
          </a:ln>
        </p:spPr>
        <p:txBody>
          <a:bodyPr>
            <a:spAutoFit/>
          </a:bodyPr>
          <a:p>
            <a:pPr algn="ctr" eaLnBrk="1" hangingPunct="1">
              <a:lnSpc>
                <a:spcPct val="90000"/>
              </a:lnSpc>
              <a:spcBef>
                <a:spcPct val="50000"/>
              </a:spcBef>
            </a:pPr>
            <a:r>
              <a:rPr lang="zh-CN" altLang="en-US" sz="3200" b="1" dirty="0">
                <a:latin typeface="Times New Roman" panose="02020603050405020304" pitchFamily="18" charset="0"/>
                <a:ea typeface="黑体" panose="02010609060101010101" pitchFamily="49" charset="-122"/>
              </a:rPr>
              <a:t>成本也是一个必须考虑的因素</a:t>
            </a:r>
            <a:endParaRPr lang="zh-CN" altLang="en-US" sz="3200" b="1" dirty="0">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13901"/>
                                        </p:tgtEl>
                                        <p:attrNameLst>
                                          <p:attrName>style.visibility</p:attrName>
                                        </p:attrNameLst>
                                      </p:cBhvr>
                                      <p:to>
                                        <p:strVal val="visible"/>
                                      </p:to>
                                    </p:set>
                                    <p:animEffect transition="in" filter="dissolve">
                                      <p:cBhvr>
                                        <p:cTn id="7" dur="500"/>
                                        <p:tgtEl>
                                          <p:spTgt spid="22139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13904"/>
                                        </p:tgtEl>
                                        <p:attrNameLst>
                                          <p:attrName>style.visibility</p:attrName>
                                        </p:attrNameLst>
                                      </p:cBhvr>
                                      <p:to>
                                        <p:strVal val="visible"/>
                                      </p:to>
                                    </p:set>
                                    <p:animEffect transition="in" filter="dissolve">
                                      <p:cBhvr>
                                        <p:cTn id="12" dur="500"/>
                                        <p:tgtEl>
                                          <p:spTgt spid="221390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13899"/>
                                        </p:tgtEl>
                                        <p:attrNameLst>
                                          <p:attrName>style.visibility</p:attrName>
                                        </p:attrNameLst>
                                      </p:cBhvr>
                                      <p:to>
                                        <p:strVal val="visible"/>
                                      </p:to>
                                    </p:set>
                                    <p:animEffect transition="in" filter="dissolve">
                                      <p:cBhvr>
                                        <p:cTn id="17" dur="500"/>
                                        <p:tgtEl>
                                          <p:spTgt spid="221389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13900"/>
                                        </p:tgtEl>
                                        <p:attrNameLst>
                                          <p:attrName>style.visibility</p:attrName>
                                        </p:attrNameLst>
                                      </p:cBhvr>
                                      <p:to>
                                        <p:strVal val="visible"/>
                                      </p:to>
                                    </p:set>
                                    <p:animEffect transition="in" filter="dissolve">
                                      <p:cBhvr>
                                        <p:cTn id="22" dur="500"/>
                                        <p:tgtEl>
                                          <p:spTgt spid="221390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54864"/>
                                        </p:tgtEl>
                                        <p:attrNameLst>
                                          <p:attrName>style.visibility</p:attrName>
                                        </p:attrNameLst>
                                      </p:cBhvr>
                                      <p:to>
                                        <p:strVal val="visible"/>
                                      </p:to>
                                    </p:set>
                                    <p:animEffect transition="in" filter="dissolve">
                                      <p:cBhvr>
                                        <p:cTn id="27" dur="500"/>
                                        <p:tgtEl>
                                          <p:spTgt spid="22548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3899" grpId="0" animBg="1"/>
      <p:bldP spid="2213900" grpId="0" animBg="1"/>
      <p:bldP spid="2213901" grpId="0" animBg="1"/>
      <p:bldP spid="2213904" grpId="0"/>
      <p:bldP spid="225486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2226" name="Rectangle 2"/>
          <p:cNvSpPr/>
          <p:nvPr/>
        </p:nvSpPr>
        <p:spPr>
          <a:xfrm>
            <a:off x="488950" y="3176588"/>
            <a:ext cx="8115300" cy="1068387"/>
          </a:xfrm>
          <a:prstGeom prst="rect">
            <a:avLst/>
          </a:prstGeom>
          <a:noFill/>
          <a:ln w="9525">
            <a:noFill/>
          </a:ln>
        </p:spPr>
        <p:txBody>
          <a:bodyPr anchor="ctr" anchorCtr="0">
            <a:spAutoFit/>
          </a:bodyPr>
          <a:p>
            <a:pPr eaLnBrk="1" hangingPunct="1"/>
            <a:r>
              <a:rPr lang="zh-CN" altLang="en-US" sz="2800" b="1" dirty="0">
                <a:solidFill>
                  <a:schemeClr val="tx1"/>
                </a:solidFill>
                <a:latin typeface="楷体_GB2312" pitchFamily="49" charset="-122"/>
              </a:rPr>
              <a:t>   传感器是将物理现象转变成可测量之电子信号（例如电压或电流）的设备。</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
        <p:nvSpPr>
          <p:cNvPr id="52227" name="Text Box 3"/>
          <p:cNvSpPr txBox="1">
            <a:spLocks noChangeArrowheads="1"/>
          </p:cNvSpPr>
          <p:nvPr/>
        </p:nvSpPr>
        <p:spPr bwMode="auto">
          <a:xfrm>
            <a:off x="1258888" y="225425"/>
            <a:ext cx="6916738" cy="701675"/>
          </a:xfrm>
          <a:prstGeom prst="rect">
            <a:avLst/>
          </a:prstGeom>
          <a:noFill/>
          <a:ln w="9525" algn="ctr">
            <a:noFill/>
            <a:miter lim="800000"/>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52228" name="Text Box 4"/>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52229" name="Text Box 5"/>
          <p:cNvSpPr txBox="1"/>
          <p:nvPr/>
        </p:nvSpPr>
        <p:spPr>
          <a:xfrm>
            <a:off x="420688" y="1984375"/>
            <a:ext cx="7421562"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ea typeface="宋体" panose="02010600030101010101" pitchFamily="2" charset="-122"/>
              </a:rPr>
              <a:t>1. </a:t>
            </a:r>
            <a:r>
              <a:rPr lang="zh-CN" altLang="en-US" b="1" dirty="0">
                <a:solidFill>
                  <a:srgbClr val="FF0000"/>
                </a:solidFill>
                <a:latin typeface="Times New Roman" panose="02020603050405020304" pitchFamily="18" charset="0"/>
              </a:rPr>
              <a:t>非电量转换（传感器）</a:t>
            </a:r>
            <a:endParaRPr lang="zh-CN" altLang="en-US" b="1" dirty="0">
              <a:solidFill>
                <a:srgbClr val="FF0000"/>
              </a:solidFill>
              <a:latin typeface="Times New Roman" panose="02020603050405020304" pitchFamily="18" charset="0"/>
            </a:endParaRPr>
          </a:p>
        </p:txBody>
      </p:sp>
      <p:sp>
        <p:nvSpPr>
          <p:cNvPr id="52230" name="Text Box 6"/>
          <p:cNvSpPr txBox="1">
            <a:spLocks noChangeArrowheads="1"/>
          </p:cNvSpPr>
          <p:nvPr/>
        </p:nvSpPr>
        <p:spPr bwMode="auto">
          <a:xfrm>
            <a:off x="6762750" y="6327775"/>
            <a:ext cx="2381250" cy="530225"/>
          </a:xfrm>
          <a:prstGeom prst="rect">
            <a:avLst/>
          </a:prstGeom>
          <a:noFill/>
          <a:ln w="9525">
            <a:noFill/>
            <a:miter lim="800000"/>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graphicFrame>
        <p:nvGraphicFramePr>
          <p:cNvPr id="52266" name="Group 42"/>
          <p:cNvGraphicFramePr>
            <a:graphicFrameLocks noGrp="1"/>
          </p:cNvGraphicFramePr>
          <p:nvPr/>
        </p:nvGraphicFramePr>
        <p:xfrm>
          <a:off x="1073150" y="2600325"/>
          <a:ext cx="6769100" cy="3017838"/>
        </p:xfrm>
        <a:graphic>
          <a:graphicData uri="http://schemas.openxmlformats.org/drawingml/2006/table">
            <a:tbl>
              <a:tblPr/>
              <a:tblGrid>
                <a:gridCol w="2093913"/>
                <a:gridCol w="4675187"/>
              </a:tblGrid>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3333CC"/>
                          </a:solidFill>
                          <a:effectLst/>
                          <a:latin typeface="Arial" panose="020B0604020202020204" pitchFamily="34" charset="0"/>
                          <a:ea typeface="宋体" panose="02010600030101010101" pitchFamily="2" charset="-122"/>
                          <a:cs typeface="Arial" panose="020B0604020202020204" pitchFamily="34" charset="0"/>
                        </a:rPr>
                        <a:t>现象</a:t>
                      </a:r>
                      <a:endParaRPr kumimoji="1" lang="zh-CN" altLang="en-US" sz="1800" b="1" i="0" u="none" strike="noStrike" cap="none" normalizeH="0" baseline="0">
                        <a:ln>
                          <a:noFill/>
                        </a:ln>
                        <a:solidFill>
                          <a:srgbClr val="3333CC"/>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3333CC"/>
                          </a:solidFill>
                          <a:effectLst/>
                          <a:latin typeface="Arial" panose="020B0604020202020204" pitchFamily="34" charset="0"/>
                          <a:ea typeface="宋体" panose="02010600030101010101" pitchFamily="2" charset="-122"/>
                          <a:cs typeface="Arial" panose="020B0604020202020204" pitchFamily="34" charset="0"/>
                        </a:rPr>
                        <a:t>传感器</a:t>
                      </a:r>
                      <a:endParaRPr kumimoji="1" lang="zh-CN" altLang="en-US" sz="1800" b="1" i="0" u="none" strike="noStrike" cap="none" normalizeH="0" baseline="0">
                        <a:ln>
                          <a:noFill/>
                        </a:ln>
                        <a:solidFill>
                          <a:srgbClr val="3333CC"/>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温度</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热电偶</a:t>
                      </a:r>
                      <a:r>
                        <a:rPr kumimoji="1" lang="en-US" altLang="zh-CN"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 </a:t>
                      </a: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热敏电阻</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光线</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图像传感器（</a:t>
                      </a:r>
                      <a:r>
                        <a:rPr kumimoji="1" lang="en-US" altLang="zh-CN"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CCD</a:t>
                      </a: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a:t>
                      </a:r>
                      <a:r>
                        <a:rPr kumimoji="1" lang="en-US" altLang="zh-CN"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CMOS</a:t>
                      </a: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a:t>
                      </a:r>
                      <a:endPar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声音</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麦克风</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45724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力</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压力传感器、应变片</a:t>
                      </a:r>
                      <a:endPar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位移</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电位计、电感位移传感器、光栅位移传感器</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加速</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加速计</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r h="36579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en-US" altLang="zh-CN"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pH</a:t>
                      </a:r>
                      <a:endParaRPr kumimoji="1" lang="en-US" altLang="zh-CN"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1" lang="en-US" altLang="zh-CN"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pH</a:t>
                      </a:r>
                      <a:r>
                        <a:rPr kumimoji="1" lang="zh-CN" altLang="en-US" sz="1800" b="1" i="0" u="none" strike="noStrike" cap="none" normalizeH="0" baseline="0">
                          <a:ln>
                            <a:noFill/>
                          </a:ln>
                          <a:solidFill>
                            <a:srgbClr val="990000"/>
                          </a:solidFill>
                          <a:effectLst/>
                          <a:latin typeface="Arial" panose="020B0604020202020204" pitchFamily="34" charset="0"/>
                          <a:ea typeface="宋体" panose="02010600030101010101" pitchFamily="2" charset="-122"/>
                          <a:cs typeface="Arial" panose="020B0604020202020204" pitchFamily="34" charset="0"/>
                        </a:rPr>
                        <a:t>电极</a:t>
                      </a:r>
                      <a:endParaRPr kumimoji="1" lang="zh-CN" altLang="en-US" sz="1800" b="1" i="0" u="none" strike="noStrike" cap="none" normalizeH="0" baseline="0">
                        <a:ln>
                          <a:noFill/>
                        </a:ln>
                        <a:solidFill>
                          <a:srgbClr val="990000"/>
                        </a:solidFill>
                        <a:effectLst/>
                        <a:latin typeface="Times New Roman" panose="02020603050405020304" pitchFamily="18" charset="0"/>
                        <a:ea typeface="宋体" panose="02010600030101010101" pitchFamily="2" charset="-122"/>
                      </a:endParaRPr>
                    </a:p>
                  </a:txBody>
                  <a:tcPr marT="45725" marB="45725"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CCFFFF"/>
                    </a:solid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2228"/>
                                        </p:tgtEl>
                                        <p:attrNameLst>
                                          <p:attrName>style.visibility</p:attrName>
                                        </p:attrNameLst>
                                      </p:cBhvr>
                                      <p:to>
                                        <p:strVal val="visible"/>
                                      </p:to>
                                    </p:set>
                                    <p:animEffect transition="in" filter="dissolve">
                                      <p:cBhvr>
                                        <p:cTn id="7" dur="500"/>
                                        <p:tgtEl>
                                          <p:spTgt spid="5222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2229"/>
                                        </p:tgtEl>
                                        <p:attrNameLst>
                                          <p:attrName>style.visibility</p:attrName>
                                        </p:attrNameLst>
                                      </p:cBhvr>
                                      <p:to>
                                        <p:strVal val="visible"/>
                                      </p:to>
                                    </p:set>
                                    <p:animEffect transition="in" filter="dissolve">
                                      <p:cBhvr>
                                        <p:cTn id="12" dur="500"/>
                                        <p:tgtEl>
                                          <p:spTgt spid="5222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2226"/>
                                        </p:tgtEl>
                                        <p:attrNameLst>
                                          <p:attrName>style.visibility</p:attrName>
                                        </p:attrNameLst>
                                      </p:cBhvr>
                                      <p:to>
                                        <p:strVal val="visible"/>
                                      </p:to>
                                    </p:set>
                                    <p:animEffect transition="in" filter="dissolve">
                                      <p:cBhvr>
                                        <p:cTn id="17" dur="500"/>
                                        <p:tgtEl>
                                          <p:spTgt spid="52226"/>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52266"/>
                                        </p:tgtEl>
                                        <p:attrNameLst>
                                          <p:attrName>style.visibility</p:attrName>
                                        </p:attrNameLst>
                                      </p:cBhvr>
                                      <p:to>
                                        <p:strVal val="visible"/>
                                      </p:to>
                                    </p:set>
                                    <p:anim calcmode="lin" valueType="num">
                                      <p:cBhvr additive="base">
                                        <p:cTn id="22" dur="500" fill="hold"/>
                                        <p:tgtEl>
                                          <p:spTgt spid="52266"/>
                                        </p:tgtEl>
                                        <p:attrNameLst>
                                          <p:attrName>ppt_x</p:attrName>
                                        </p:attrNameLst>
                                      </p:cBhvr>
                                      <p:tavLst>
                                        <p:tav tm="0">
                                          <p:val>
                                            <p:strVal val="#ppt_x"/>
                                          </p:val>
                                        </p:tav>
                                        <p:tav tm="100000">
                                          <p:val>
                                            <p:strVal val="#ppt_x"/>
                                          </p:val>
                                        </p:tav>
                                      </p:tavLst>
                                    </p:anim>
                                    <p:anim calcmode="lin" valueType="num">
                                      <p:cBhvr additive="base">
                                        <p:cTn id="23" dur="500" fill="hold"/>
                                        <p:tgtEl>
                                          <p:spTgt spid="522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6" grpId="0"/>
      <p:bldP spid="52228" grpId="0" animBg="1"/>
      <p:bldP spid="5222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4855" name="Text Box 7"/>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0963" name="Text Box 8"/>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54857" name="Text Box 9"/>
          <p:cNvSpPr txBox="1"/>
          <p:nvPr/>
        </p:nvSpPr>
        <p:spPr>
          <a:xfrm>
            <a:off x="420688" y="1984375"/>
            <a:ext cx="27559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ea typeface="宋体" panose="02010600030101010101" pitchFamily="2" charset="-122"/>
              </a:rPr>
              <a:t>2. </a:t>
            </a:r>
            <a:r>
              <a:rPr lang="zh-CN" altLang="en-US" b="1" dirty="0">
                <a:solidFill>
                  <a:srgbClr val="FF0000"/>
                </a:solidFill>
                <a:latin typeface="Times New Roman" panose="02020603050405020304" pitchFamily="18" charset="0"/>
              </a:rPr>
              <a:t>数据采集</a:t>
            </a:r>
            <a:endParaRPr lang="zh-CN" altLang="en-US" b="1" dirty="0">
              <a:solidFill>
                <a:srgbClr val="FF0000"/>
              </a:solidFill>
              <a:latin typeface="Times New Roman" panose="02020603050405020304" pitchFamily="18" charset="0"/>
            </a:endParaRPr>
          </a:p>
        </p:txBody>
      </p:sp>
      <p:sp>
        <p:nvSpPr>
          <p:cNvPr id="2254858" name="Text Box 10"/>
          <p:cNvSpPr txBox="1"/>
          <p:nvPr/>
        </p:nvSpPr>
        <p:spPr>
          <a:xfrm>
            <a:off x="1017588" y="2816225"/>
            <a:ext cx="7767637" cy="519113"/>
          </a:xfrm>
          <a:prstGeom prst="rect">
            <a:avLst/>
          </a:prstGeom>
          <a:noFill/>
          <a:ln w="9525">
            <a:noFill/>
          </a:ln>
        </p:spPr>
        <p:txBody>
          <a:bodyPr>
            <a:spAutoFit/>
          </a:bodyPr>
          <a:p>
            <a:pPr eaLnBrk="1" hangingPunct="1"/>
            <a:r>
              <a:rPr lang="zh-CN" altLang="en-US" sz="2800" b="1" dirty="0">
                <a:solidFill>
                  <a:schemeClr val="tx1"/>
                </a:solidFill>
                <a:latin typeface="楷体_GB2312" pitchFamily="49" charset="-122"/>
              </a:rPr>
              <a:t>按照采样周期，对模拟、数字、开关信号采样。 </a:t>
            </a:r>
            <a:endParaRPr lang="zh-CN" altLang="en-US" sz="2800" b="1" dirty="0">
              <a:solidFill>
                <a:schemeClr val="tx1"/>
              </a:solidFill>
              <a:latin typeface="楷体_GB2312" pitchFamily="49" charset="-122"/>
            </a:endParaRPr>
          </a:p>
        </p:txBody>
      </p:sp>
      <p:sp>
        <p:nvSpPr>
          <p:cNvPr id="2254859" name="Text Box 11"/>
          <p:cNvSpPr txBox="1"/>
          <p:nvPr/>
        </p:nvSpPr>
        <p:spPr>
          <a:xfrm>
            <a:off x="420688" y="3536950"/>
            <a:ext cx="6130925"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3. </a:t>
            </a:r>
            <a:r>
              <a:rPr lang="zh-CN" altLang="en-US" b="1" dirty="0">
                <a:solidFill>
                  <a:srgbClr val="FF0000"/>
                </a:solidFill>
                <a:latin typeface="Times New Roman" panose="02020603050405020304" pitchFamily="18" charset="0"/>
              </a:rPr>
              <a:t>模拟信号处理（信号调理）</a:t>
            </a:r>
            <a:endParaRPr lang="zh-CN" altLang="en-US" b="1" dirty="0">
              <a:solidFill>
                <a:srgbClr val="FF0000"/>
              </a:solidFill>
              <a:latin typeface="Times New Roman" panose="02020603050405020304" pitchFamily="18" charset="0"/>
            </a:endParaRPr>
          </a:p>
        </p:txBody>
      </p:sp>
      <p:sp>
        <p:nvSpPr>
          <p:cNvPr id="2254861" name="Text Box 13"/>
          <p:cNvSpPr txBox="1"/>
          <p:nvPr/>
        </p:nvSpPr>
        <p:spPr>
          <a:xfrm>
            <a:off x="836613" y="4329113"/>
            <a:ext cx="7767637" cy="519112"/>
          </a:xfrm>
          <a:prstGeom prst="rect">
            <a:avLst/>
          </a:prstGeom>
          <a:noFill/>
          <a:ln w="9525">
            <a:noFill/>
          </a:ln>
        </p:spPr>
        <p:txBody>
          <a:bodyPr>
            <a:spAutoFit/>
          </a:bodyPr>
          <a:p>
            <a:pPr eaLnBrk="1" hangingPunct="1"/>
            <a:r>
              <a:rPr lang="zh-CN" altLang="en-US" sz="2800" b="1" dirty="0">
                <a:solidFill>
                  <a:srgbClr val="3366CC"/>
                </a:solidFill>
                <a:latin typeface="楷体_GB2312" pitchFamily="49" charset="-122"/>
              </a:rPr>
              <a:t>模拟信号</a:t>
            </a:r>
            <a:r>
              <a:rPr lang="zh-CN" altLang="en-US" sz="2800" b="1" dirty="0">
                <a:solidFill>
                  <a:schemeClr val="tx1"/>
                </a:solidFill>
                <a:latin typeface="楷体_GB2312" pitchFamily="49" charset="-122"/>
              </a:rPr>
              <a:t>：指信号幅值随时间连续变化的信号。</a:t>
            </a:r>
            <a:r>
              <a:rPr lang="zh-CN" altLang="en-US" sz="2800" b="1" dirty="0">
                <a:solidFill>
                  <a:srgbClr val="FF0000"/>
                </a:solidFill>
                <a:latin typeface="楷体_GB2312" pitchFamily="49" charset="-122"/>
              </a:rPr>
              <a:t> </a:t>
            </a:r>
            <a:endParaRPr lang="zh-CN" altLang="en-US" sz="2800" b="1" dirty="0">
              <a:solidFill>
                <a:srgbClr val="FF0000"/>
              </a:solidFill>
              <a:latin typeface="楷体_GB2312" pitchFamily="49" charset="-122"/>
            </a:endParaRPr>
          </a:p>
        </p:txBody>
      </p:sp>
      <p:sp>
        <p:nvSpPr>
          <p:cNvPr id="2254862" name="Text Box 1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1236" name="Text Box 4"/>
          <p:cNvSpPr txBox="1"/>
          <p:nvPr/>
        </p:nvSpPr>
        <p:spPr>
          <a:xfrm>
            <a:off x="1439863" y="5157788"/>
            <a:ext cx="3924300" cy="530225"/>
          </a:xfrm>
          <a:prstGeom prst="rect">
            <a:avLst/>
          </a:prstGeom>
          <a:noFill/>
          <a:ln w="9525">
            <a:noFill/>
          </a:ln>
        </p:spPr>
        <p:txBody>
          <a:bodyPr>
            <a:spAutoFit/>
          </a:bodyPr>
          <a:p>
            <a:pPr algn="ctr" eaLnBrk="1" hangingPunct="1">
              <a:lnSpc>
                <a:spcPct val="90000"/>
              </a:lnSpc>
              <a:spcBef>
                <a:spcPct val="50000"/>
              </a:spcBef>
            </a:pPr>
            <a:r>
              <a:rPr lang="zh-CN" altLang="en-US" sz="3200" b="1" dirty="0">
                <a:solidFill>
                  <a:srgbClr val="FF0000"/>
                </a:solidFill>
                <a:latin typeface="Times New Roman" panose="02020603050405020304" pitchFamily="18" charset="0"/>
                <a:ea typeface="黑体" panose="02010609060101010101" pitchFamily="49" charset="-122"/>
              </a:rPr>
              <a:t>例子</a:t>
            </a:r>
            <a:r>
              <a:rPr lang="zh-CN" altLang="en-US" sz="3200" b="1" dirty="0">
                <a:latin typeface="Times New Roman" panose="02020603050405020304" pitchFamily="18" charset="0"/>
                <a:ea typeface="黑体" panose="02010609060101010101" pitchFamily="49" charset="-122"/>
              </a:rPr>
              <a:t>：正弦信号</a:t>
            </a:r>
            <a:endParaRPr lang="zh-CN" altLang="en-US" sz="3200" b="1" dirty="0">
              <a:latin typeface="Times New Roman" panose="02020603050405020304" pitchFamily="18" charset="0"/>
              <a:ea typeface="黑体" panose="02010609060101010101" pitchFamily="49" charset="-122"/>
            </a:endParaRPr>
          </a:p>
        </p:txBody>
      </p:sp>
      <p:graphicFrame>
        <p:nvGraphicFramePr>
          <p:cNvPr id="2271237" name="Object 5"/>
          <p:cNvGraphicFramePr>
            <a:graphicFrameLocks noChangeAspect="1"/>
          </p:cNvGraphicFramePr>
          <p:nvPr/>
        </p:nvGraphicFramePr>
        <p:xfrm>
          <a:off x="4859338" y="5157788"/>
          <a:ext cx="2982912" cy="544512"/>
        </p:xfrm>
        <a:graphic>
          <a:graphicData uri="http://schemas.openxmlformats.org/presentationml/2006/ole">
            <mc:AlternateContent xmlns:mc="http://schemas.openxmlformats.org/markup-compatibility/2006">
              <mc:Choice xmlns:v="urn:schemas-microsoft-com:vml" Requires="v">
                <p:oleObj spid="_x0000_s3076" name="" r:id="rId1" imgW="1218565" imgH="203200" progId="Equation.3">
                  <p:embed/>
                </p:oleObj>
              </mc:Choice>
              <mc:Fallback>
                <p:oleObj name="" r:id="rId1" imgW="1218565" imgH="203200" progId="Equation.3">
                  <p:embed/>
                  <p:pic>
                    <p:nvPicPr>
                      <p:cNvPr id="0" name="图片 3075"/>
                      <p:cNvPicPr/>
                      <p:nvPr/>
                    </p:nvPicPr>
                    <p:blipFill>
                      <a:blip r:embed="rId2"/>
                      <a:stretch>
                        <a:fillRect/>
                      </a:stretch>
                    </p:blipFill>
                    <p:spPr>
                      <a:xfrm>
                        <a:off x="4859338" y="5157788"/>
                        <a:ext cx="2982912" cy="544512"/>
                      </a:xfrm>
                      <a:prstGeom prst="rect">
                        <a:avLst/>
                      </a:prstGeom>
                      <a:solidFill>
                        <a:srgbClr val="FFCC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4857"/>
                                        </p:tgtEl>
                                        <p:attrNameLst>
                                          <p:attrName>style.visibility</p:attrName>
                                        </p:attrNameLst>
                                      </p:cBhvr>
                                      <p:to>
                                        <p:strVal val="visible"/>
                                      </p:to>
                                    </p:set>
                                    <p:animEffect transition="in" filter="dissolve">
                                      <p:cBhvr>
                                        <p:cTn id="7" dur="500"/>
                                        <p:tgtEl>
                                          <p:spTgt spid="225485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4858"/>
                                        </p:tgtEl>
                                        <p:attrNameLst>
                                          <p:attrName>style.visibility</p:attrName>
                                        </p:attrNameLst>
                                      </p:cBhvr>
                                      <p:to>
                                        <p:strVal val="visible"/>
                                      </p:to>
                                    </p:set>
                                    <p:animEffect transition="in" filter="dissolve">
                                      <p:cBhvr>
                                        <p:cTn id="12" dur="500"/>
                                        <p:tgtEl>
                                          <p:spTgt spid="225485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4859">
                                            <p:txEl>
                                              <p:charRg st="0" end="16"/>
                                            </p:txEl>
                                          </p:spTgt>
                                        </p:tgtEl>
                                        <p:attrNameLst>
                                          <p:attrName>style.visibility</p:attrName>
                                        </p:attrNameLst>
                                      </p:cBhvr>
                                      <p:to>
                                        <p:strVal val="visible"/>
                                      </p:to>
                                    </p:set>
                                    <p:animEffect transition="in" filter="dissolve">
                                      <p:cBhvr>
                                        <p:cTn id="17" dur="500"/>
                                        <p:tgtEl>
                                          <p:spTgt spid="2254859">
                                            <p:txEl>
                                              <p:charRg st="0" end="1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4861">
                                            <p:txEl>
                                              <p:charRg st="0" end="23"/>
                                            </p:txEl>
                                          </p:spTgt>
                                        </p:tgtEl>
                                        <p:attrNameLst>
                                          <p:attrName>style.visibility</p:attrName>
                                        </p:attrNameLst>
                                      </p:cBhvr>
                                      <p:to>
                                        <p:strVal val="visible"/>
                                      </p:to>
                                    </p:set>
                                    <p:animEffect transition="in" filter="dissolve">
                                      <p:cBhvr>
                                        <p:cTn id="22" dur="500"/>
                                        <p:tgtEl>
                                          <p:spTgt spid="2254861">
                                            <p:txEl>
                                              <p:charRg st="0" end="2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71236"/>
                                        </p:tgtEl>
                                        <p:attrNameLst>
                                          <p:attrName>style.visibility</p:attrName>
                                        </p:attrNameLst>
                                      </p:cBhvr>
                                      <p:to>
                                        <p:strVal val="visible"/>
                                      </p:to>
                                    </p:set>
                                    <p:animEffect transition="in" filter="dissolve">
                                      <p:cBhvr>
                                        <p:cTn id="27" dur="500"/>
                                        <p:tgtEl>
                                          <p:spTgt spid="2271236"/>
                                        </p:tgtEl>
                                      </p:cBhvr>
                                    </p:animEffect>
                                  </p:childTnLst>
                                </p:cTn>
                              </p:par>
                              <p:par>
                                <p:cTn id="28" presetID="9" presetClass="entr" presetSubtype="0" fill="hold" nodeType="withEffect">
                                  <p:stCondLst>
                                    <p:cond delay="0"/>
                                  </p:stCondLst>
                                  <p:childTnLst>
                                    <p:set>
                                      <p:cBhvr>
                                        <p:cTn id="29" dur="1" fill="hold">
                                          <p:stCondLst>
                                            <p:cond delay="0"/>
                                          </p:stCondLst>
                                        </p:cTn>
                                        <p:tgtEl>
                                          <p:spTgt spid="2271237"/>
                                        </p:tgtEl>
                                        <p:attrNameLst>
                                          <p:attrName>style.visibility</p:attrName>
                                        </p:attrNameLst>
                                      </p:cBhvr>
                                      <p:to>
                                        <p:strVal val="visible"/>
                                      </p:to>
                                    </p:set>
                                    <p:animEffect transition="in" filter="dissolve">
                                      <p:cBhvr>
                                        <p:cTn id="30" dur="500"/>
                                        <p:tgtEl>
                                          <p:spTgt spid="2271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4857" grpId="0"/>
      <p:bldP spid="2254858" grpId="0"/>
      <p:bldP spid="2254859" grpId="0" build="p"/>
      <p:bldP spid="2254861" grpId="0" build="p"/>
      <p:bldP spid="227123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3282" name="Text Box 2"/>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1987" name="Text Box 3"/>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41988" name="Text Box 6"/>
          <p:cNvSpPr txBox="1"/>
          <p:nvPr/>
        </p:nvSpPr>
        <p:spPr>
          <a:xfrm>
            <a:off x="420688" y="1881188"/>
            <a:ext cx="60960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3. </a:t>
            </a:r>
            <a:r>
              <a:rPr lang="zh-CN" altLang="en-US" b="1" dirty="0">
                <a:solidFill>
                  <a:srgbClr val="FF0000"/>
                </a:solidFill>
                <a:latin typeface="Times New Roman" panose="02020603050405020304" pitchFamily="18" charset="0"/>
              </a:rPr>
              <a:t>模拟信号处理（信号调理）</a:t>
            </a:r>
            <a:endParaRPr lang="zh-CN" altLang="en-US" b="1" dirty="0">
              <a:solidFill>
                <a:srgbClr val="FF0000"/>
              </a:solidFill>
              <a:latin typeface="Times New Roman" panose="02020603050405020304" pitchFamily="18" charset="0"/>
            </a:endParaRPr>
          </a:p>
        </p:txBody>
      </p:sp>
      <p:sp>
        <p:nvSpPr>
          <p:cNvPr id="2273288" name="Text Box 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3290" name="Text Box 10"/>
          <p:cNvSpPr txBox="1"/>
          <p:nvPr/>
        </p:nvSpPr>
        <p:spPr>
          <a:xfrm>
            <a:off x="863600" y="4149725"/>
            <a:ext cx="7561263" cy="476250"/>
          </a:xfrm>
          <a:prstGeom prst="rect">
            <a:avLst/>
          </a:prstGeom>
          <a:noFill/>
          <a:ln w="9525">
            <a:noFill/>
          </a:ln>
        </p:spPr>
        <p:txBody>
          <a:bodyPr>
            <a:spAutoFit/>
          </a:bodyPr>
          <a:p>
            <a:pPr eaLnBrk="1" hangingPunct="1">
              <a:lnSpc>
                <a:spcPct val="90000"/>
              </a:lnSpc>
            </a:pPr>
            <a:r>
              <a:rPr lang="zh-CN" altLang="en-US" sz="2800" b="1" dirty="0">
                <a:solidFill>
                  <a:srgbClr val="3333FF"/>
                </a:solidFill>
                <a:latin typeface="Times New Roman" panose="02020603050405020304" pitchFamily="18" charset="0"/>
              </a:rPr>
              <a:t>优点：</a:t>
            </a:r>
            <a:r>
              <a:rPr lang="zh-CN" altLang="en-US" sz="2800" b="1" dirty="0">
                <a:solidFill>
                  <a:schemeClr val="tx1"/>
                </a:solidFill>
                <a:latin typeface="Times New Roman" panose="02020603050405020304" pitchFamily="18" charset="0"/>
              </a:rPr>
              <a:t>低电平、小电流，便于传送。</a:t>
            </a:r>
            <a:endParaRPr lang="zh-CN" altLang="en-US" sz="2800" b="1" dirty="0">
              <a:solidFill>
                <a:schemeClr val="tx1"/>
              </a:solidFill>
              <a:latin typeface="Times New Roman" panose="02020603050405020304" pitchFamily="18" charset="0"/>
            </a:endParaRPr>
          </a:p>
        </p:txBody>
      </p:sp>
      <p:sp>
        <p:nvSpPr>
          <p:cNvPr id="2273291" name="Text Box 11"/>
          <p:cNvSpPr txBox="1"/>
          <p:nvPr/>
        </p:nvSpPr>
        <p:spPr>
          <a:xfrm>
            <a:off x="863600" y="4760913"/>
            <a:ext cx="7740650" cy="476250"/>
          </a:xfrm>
          <a:prstGeom prst="rect">
            <a:avLst/>
          </a:prstGeom>
          <a:noFill/>
          <a:ln w="9525">
            <a:noFill/>
          </a:ln>
        </p:spPr>
        <p:txBody>
          <a:bodyPr>
            <a:spAutoFit/>
          </a:bodyPr>
          <a:p>
            <a:pPr eaLnBrk="1" hangingPunct="1">
              <a:lnSpc>
                <a:spcPct val="90000"/>
              </a:lnSpc>
            </a:pPr>
            <a:r>
              <a:rPr lang="zh-CN" altLang="en-US" sz="2800" b="1" dirty="0">
                <a:solidFill>
                  <a:srgbClr val="3333FF"/>
                </a:solidFill>
                <a:latin typeface="Times New Roman" panose="02020603050405020304" pitchFamily="18" charset="0"/>
              </a:rPr>
              <a:t>缺点：</a:t>
            </a:r>
            <a:r>
              <a:rPr lang="zh-CN" altLang="en-US" sz="2800" b="1" dirty="0">
                <a:solidFill>
                  <a:schemeClr val="tx1"/>
                </a:solidFill>
                <a:latin typeface="Times New Roman" panose="02020603050405020304" pitchFamily="18" charset="0"/>
              </a:rPr>
              <a:t>对干扰信号敏感，幅值或相位易发生畸变。</a:t>
            </a:r>
            <a:endParaRPr lang="zh-CN" altLang="en-US" sz="2800" b="1" dirty="0">
              <a:solidFill>
                <a:schemeClr val="tx1"/>
              </a:solidFill>
              <a:latin typeface="Times New Roman" panose="02020603050405020304" pitchFamily="18" charset="0"/>
            </a:endParaRPr>
          </a:p>
        </p:txBody>
      </p:sp>
      <p:sp>
        <p:nvSpPr>
          <p:cNvPr id="2273292" name="Text Box 12"/>
          <p:cNvSpPr txBox="1"/>
          <p:nvPr/>
        </p:nvSpPr>
        <p:spPr>
          <a:xfrm>
            <a:off x="863600" y="2636838"/>
            <a:ext cx="7740650" cy="1373187"/>
          </a:xfrm>
          <a:prstGeom prst="rect">
            <a:avLst/>
          </a:prstGeom>
          <a:noFill/>
          <a:ln w="9525">
            <a:noFill/>
          </a:ln>
        </p:spPr>
        <p:txBody>
          <a:bodyPr>
            <a:spAutoFit/>
          </a:bodyPr>
          <a:p>
            <a:pPr marL="1076325" indent="-1076325" eaLnBrk="1" hangingPunct="1"/>
            <a:r>
              <a:rPr lang="zh-CN" altLang="en-US" sz="2800" b="1" dirty="0">
                <a:solidFill>
                  <a:srgbClr val="3366CC"/>
                </a:solidFill>
                <a:latin typeface="楷体_GB2312" pitchFamily="49" charset="-122"/>
              </a:rPr>
              <a:t>特点：</a:t>
            </a:r>
            <a:r>
              <a:rPr lang="zh-CN" altLang="en-US" sz="2800" b="1" dirty="0">
                <a:solidFill>
                  <a:schemeClr val="tx1"/>
                </a:solidFill>
                <a:latin typeface="楷体_GB2312" pitchFamily="49" charset="-122"/>
              </a:rPr>
              <a:t>在规定的一段连续时间内，其幅值为连续值，即从一个量变到下一个量时中间没有间断。</a:t>
            </a:r>
            <a:endParaRPr lang="zh-CN" altLang="en-US" sz="2800" b="1" dirty="0">
              <a:solidFill>
                <a:schemeClr val="tx1"/>
              </a:solidFill>
              <a:latin typeface="楷体_GB2312" pitchFamily="49" charset="-122"/>
            </a:endParaRPr>
          </a:p>
        </p:txBody>
      </p:sp>
      <p:sp>
        <p:nvSpPr>
          <p:cNvPr id="2" name="Text Box 11"/>
          <p:cNvSpPr txBox="1"/>
          <p:nvPr/>
        </p:nvSpPr>
        <p:spPr>
          <a:xfrm>
            <a:off x="863600" y="5445125"/>
            <a:ext cx="7740650" cy="476250"/>
          </a:xfrm>
          <a:prstGeom prst="rect">
            <a:avLst/>
          </a:prstGeom>
          <a:noFill/>
          <a:ln w="9525">
            <a:noFill/>
          </a:ln>
        </p:spPr>
        <p:txBody>
          <a:bodyPr>
            <a:spAutoFit/>
          </a:bodyPr>
          <a:p>
            <a:pPr eaLnBrk="1" hangingPunct="1">
              <a:lnSpc>
                <a:spcPct val="90000"/>
              </a:lnSpc>
            </a:pPr>
            <a:r>
              <a:rPr lang="zh-CN" altLang="en-US" sz="2800" b="1" dirty="0">
                <a:solidFill>
                  <a:srgbClr val="3333FF"/>
                </a:solidFill>
                <a:latin typeface="Times New Roman" panose="02020603050405020304" pitchFamily="18" charset="0"/>
              </a:rPr>
              <a:t>措施：</a:t>
            </a:r>
            <a:r>
              <a:rPr lang="zh-CN" altLang="en-US" sz="2800" b="1" dirty="0">
                <a:solidFill>
                  <a:schemeClr val="tx1"/>
                </a:solidFill>
                <a:latin typeface="Times New Roman" panose="02020603050405020304" pitchFamily="18" charset="0"/>
              </a:rPr>
              <a:t>零漂修正、数字滤波等。</a:t>
            </a:r>
            <a:endParaRPr lang="zh-CN" altLang="en-US" sz="28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3292"/>
                                        </p:tgtEl>
                                        <p:attrNameLst>
                                          <p:attrName>style.visibility</p:attrName>
                                        </p:attrNameLst>
                                      </p:cBhvr>
                                      <p:to>
                                        <p:strVal val="visible"/>
                                      </p:to>
                                    </p:set>
                                    <p:animEffect transition="in" filter="dissolve">
                                      <p:cBhvr>
                                        <p:cTn id="7" dur="500"/>
                                        <p:tgtEl>
                                          <p:spTgt spid="227329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3290"/>
                                        </p:tgtEl>
                                        <p:attrNameLst>
                                          <p:attrName>style.visibility</p:attrName>
                                        </p:attrNameLst>
                                      </p:cBhvr>
                                      <p:to>
                                        <p:strVal val="visible"/>
                                      </p:to>
                                    </p:set>
                                    <p:animEffect transition="in" filter="dissolve">
                                      <p:cBhvr>
                                        <p:cTn id="12" dur="500"/>
                                        <p:tgtEl>
                                          <p:spTgt spid="227329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3291"/>
                                        </p:tgtEl>
                                        <p:attrNameLst>
                                          <p:attrName>style.visibility</p:attrName>
                                        </p:attrNameLst>
                                      </p:cBhvr>
                                      <p:to>
                                        <p:strVal val="visible"/>
                                      </p:to>
                                    </p:set>
                                    <p:animEffect transition="in" filter="dissolve">
                                      <p:cBhvr>
                                        <p:cTn id="17" dur="500"/>
                                        <p:tgtEl>
                                          <p:spTgt spid="22732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290" grpId="0"/>
      <p:bldP spid="2273291" grpId="0"/>
      <p:bldP spid="2273292" grpId="0"/>
      <p:bldP spid="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4306" name="Text Box 2"/>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3011" name="Text Box 3"/>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43012" name="Text Box 4"/>
          <p:cNvSpPr txBox="1"/>
          <p:nvPr/>
        </p:nvSpPr>
        <p:spPr>
          <a:xfrm>
            <a:off x="420688" y="1881188"/>
            <a:ext cx="6167437"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3. </a:t>
            </a:r>
            <a:r>
              <a:rPr lang="zh-CN" altLang="en-US" b="1" dirty="0">
                <a:solidFill>
                  <a:srgbClr val="FF0000"/>
                </a:solidFill>
                <a:latin typeface="Times New Roman" panose="02020603050405020304" pitchFamily="18" charset="0"/>
              </a:rPr>
              <a:t>模拟信号处理（信号调理）</a:t>
            </a:r>
            <a:endParaRPr lang="zh-CN" altLang="en-US" b="1" dirty="0">
              <a:solidFill>
                <a:srgbClr val="FF0000"/>
              </a:solidFill>
              <a:latin typeface="Times New Roman" panose="02020603050405020304" pitchFamily="18" charset="0"/>
            </a:endParaRPr>
          </a:p>
        </p:txBody>
      </p:sp>
      <p:sp>
        <p:nvSpPr>
          <p:cNvPr id="2274309" name="Text Box 5"/>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4310" name="Text Box 6"/>
          <p:cNvSpPr txBox="1"/>
          <p:nvPr/>
        </p:nvSpPr>
        <p:spPr>
          <a:xfrm>
            <a:off x="863600" y="3860800"/>
            <a:ext cx="3132138" cy="476250"/>
          </a:xfrm>
          <a:prstGeom prst="rect">
            <a:avLst/>
          </a:prstGeom>
          <a:noFill/>
          <a:ln w="9525">
            <a:noFill/>
          </a:ln>
        </p:spPr>
        <p:txBody>
          <a:bodyPr>
            <a:spAutoFit/>
          </a:bodyPr>
          <a:p>
            <a:pPr eaLnBrk="1" hangingPunct="1">
              <a:lnSpc>
                <a:spcPct val="90000"/>
              </a:lnSpc>
            </a:pPr>
            <a:r>
              <a:rPr lang="zh-CN" altLang="en-US" sz="2800" b="1" dirty="0">
                <a:solidFill>
                  <a:srgbClr val="3366CC"/>
                </a:solidFill>
                <a:latin typeface="楷体_GB2312" pitchFamily="49" charset="-122"/>
              </a:rPr>
              <a:t>信号处理：</a:t>
            </a:r>
            <a:endParaRPr lang="zh-CN" altLang="en-US" sz="2800" b="1" dirty="0">
              <a:solidFill>
                <a:srgbClr val="3366CC"/>
              </a:solidFill>
              <a:latin typeface="楷体_GB2312" pitchFamily="49" charset="-122"/>
            </a:endParaRPr>
          </a:p>
        </p:txBody>
      </p:sp>
      <p:sp>
        <p:nvSpPr>
          <p:cNvPr id="2274312" name="Text Box 8"/>
          <p:cNvSpPr txBox="1"/>
          <p:nvPr/>
        </p:nvSpPr>
        <p:spPr>
          <a:xfrm>
            <a:off x="863600" y="2636838"/>
            <a:ext cx="7740650" cy="519112"/>
          </a:xfrm>
          <a:prstGeom prst="rect">
            <a:avLst/>
          </a:prstGeom>
          <a:noFill/>
          <a:ln w="9525">
            <a:noFill/>
          </a:ln>
        </p:spPr>
        <p:txBody>
          <a:bodyPr>
            <a:spAutoFit/>
          </a:bodyPr>
          <a:p>
            <a:pPr marL="1076325" indent="-1076325" eaLnBrk="1" hangingPunct="1"/>
            <a:r>
              <a:rPr lang="zh-CN" altLang="en-US" sz="2800" b="1" dirty="0">
                <a:solidFill>
                  <a:srgbClr val="3366CC"/>
                </a:solidFill>
                <a:latin typeface="楷体_GB2312" pitchFamily="49" charset="-122"/>
              </a:rPr>
              <a:t>信号类型：</a:t>
            </a:r>
            <a:endParaRPr lang="zh-CN" altLang="en-US" sz="2800" b="1" dirty="0">
              <a:solidFill>
                <a:schemeClr val="tx1"/>
              </a:solidFill>
              <a:latin typeface="楷体_GB2312" pitchFamily="49" charset="-122"/>
            </a:endParaRPr>
          </a:p>
        </p:txBody>
      </p:sp>
      <p:sp>
        <p:nvSpPr>
          <p:cNvPr id="2274313" name="Rectangle 9"/>
          <p:cNvSpPr/>
          <p:nvPr/>
        </p:nvSpPr>
        <p:spPr>
          <a:xfrm>
            <a:off x="2700338" y="2662238"/>
            <a:ext cx="5761037"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由传感器输出的电压信号</a:t>
            </a:r>
            <a:endParaRPr lang="zh-CN" altLang="en-US" sz="2800" b="1" dirty="0">
              <a:solidFill>
                <a:schemeClr val="tx1"/>
              </a:solidFill>
              <a:latin typeface="楷体_GB2312" pitchFamily="49" charset="-122"/>
            </a:endParaRPr>
          </a:p>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由仪表、变送器输出的电流信号</a:t>
            </a:r>
            <a:endParaRPr lang="zh-CN" altLang="en-US" sz="2800" b="1" dirty="0">
              <a:solidFill>
                <a:schemeClr val="tx1"/>
              </a:solidFill>
              <a:latin typeface="楷体_GB2312" pitchFamily="49" charset="-122"/>
            </a:endParaRPr>
          </a:p>
        </p:txBody>
      </p:sp>
      <p:sp>
        <p:nvSpPr>
          <p:cNvPr id="2274314" name="Rectangle 10"/>
          <p:cNvSpPr/>
          <p:nvPr/>
        </p:nvSpPr>
        <p:spPr>
          <a:xfrm>
            <a:off x="2698750" y="3860800"/>
            <a:ext cx="5762625" cy="1800225"/>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经由采样（</a:t>
            </a:r>
            <a:r>
              <a:rPr lang="en-US" altLang="zh-CN" sz="2800" b="1" dirty="0">
                <a:solidFill>
                  <a:schemeClr val="tx1"/>
                </a:solidFill>
                <a:latin typeface="楷体_GB2312" pitchFamily="49" charset="-122"/>
              </a:rPr>
              <a:t>A/D</a:t>
            </a:r>
            <a:r>
              <a:rPr lang="zh-CN" altLang="en-US" sz="2800" b="1" dirty="0">
                <a:solidFill>
                  <a:schemeClr val="tx1"/>
                </a:solidFill>
                <a:latin typeface="楷体_GB2312" pitchFamily="49" charset="-122"/>
              </a:rPr>
              <a:t>转换），变成数字信号输入计算机；</a:t>
            </a:r>
            <a:endParaRPr lang="zh-CN" altLang="en-US" sz="2800" b="1" dirty="0">
              <a:solidFill>
                <a:schemeClr val="tx1"/>
              </a:solidFill>
              <a:latin typeface="楷体_GB2312" pitchFamily="49" charset="-122"/>
            </a:endParaRPr>
          </a:p>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将转换的数字信号作正确性判断、标度变换、线性化处理</a:t>
            </a:r>
            <a:endParaRPr lang="zh-CN" altLang="en-US" sz="2800" b="1" dirty="0">
              <a:solidFill>
                <a:schemeClr val="tx1"/>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4313"/>
                                        </p:tgtEl>
                                        <p:attrNameLst>
                                          <p:attrName>style.visibility</p:attrName>
                                        </p:attrNameLst>
                                      </p:cBhvr>
                                      <p:to>
                                        <p:strVal val="visible"/>
                                      </p:to>
                                    </p:set>
                                    <p:animEffect transition="in" filter="dissolve">
                                      <p:cBhvr>
                                        <p:cTn id="7" dur="500"/>
                                        <p:tgtEl>
                                          <p:spTgt spid="22743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74312"/>
                                        </p:tgtEl>
                                        <p:attrNameLst>
                                          <p:attrName>style.visibility</p:attrName>
                                        </p:attrNameLst>
                                      </p:cBhvr>
                                      <p:to>
                                        <p:strVal val="visible"/>
                                      </p:to>
                                    </p:set>
                                    <p:animEffect transition="in" filter="dissolve">
                                      <p:cBhvr>
                                        <p:cTn id="10" dur="500"/>
                                        <p:tgtEl>
                                          <p:spTgt spid="227431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274310"/>
                                        </p:tgtEl>
                                        <p:attrNameLst>
                                          <p:attrName>style.visibility</p:attrName>
                                        </p:attrNameLst>
                                      </p:cBhvr>
                                      <p:to>
                                        <p:strVal val="visible"/>
                                      </p:to>
                                    </p:set>
                                    <p:animEffect transition="in" filter="dissolve">
                                      <p:cBhvr>
                                        <p:cTn id="15" dur="500"/>
                                        <p:tgtEl>
                                          <p:spTgt spid="227431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74314"/>
                                        </p:tgtEl>
                                        <p:attrNameLst>
                                          <p:attrName>style.visibility</p:attrName>
                                        </p:attrNameLst>
                                      </p:cBhvr>
                                      <p:to>
                                        <p:strVal val="visible"/>
                                      </p:to>
                                    </p:set>
                                    <p:animEffect transition="in" filter="dissolve">
                                      <p:cBhvr>
                                        <p:cTn id="18" dur="500"/>
                                        <p:tgtEl>
                                          <p:spTgt spid="22743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4310" grpId="0"/>
      <p:bldP spid="2274312" grpId="0"/>
      <p:bldP spid="2274313" grpId="0"/>
      <p:bldP spid="227431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16971" name="Text Box 11"/>
          <p:cNvSpPr txBox="1"/>
          <p:nvPr/>
        </p:nvSpPr>
        <p:spPr>
          <a:xfrm>
            <a:off x="481013" y="1952625"/>
            <a:ext cx="35179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4. </a:t>
            </a:r>
            <a:r>
              <a:rPr lang="zh-CN" altLang="en-US" b="1" dirty="0">
                <a:solidFill>
                  <a:srgbClr val="FF0000"/>
                </a:solidFill>
                <a:latin typeface="Times New Roman" panose="02020603050405020304" pitchFamily="18" charset="0"/>
              </a:rPr>
              <a:t>数字信号处理 </a:t>
            </a:r>
            <a:endParaRPr lang="zh-CN" altLang="en-US" b="1" dirty="0">
              <a:solidFill>
                <a:srgbClr val="FF0000"/>
              </a:solidFill>
              <a:latin typeface="Times New Roman" panose="02020603050405020304" pitchFamily="18" charset="0"/>
            </a:endParaRPr>
          </a:p>
        </p:txBody>
      </p:sp>
      <p:sp>
        <p:nvSpPr>
          <p:cNvPr id="2216972" name="Text Box 12"/>
          <p:cNvSpPr txBox="1"/>
          <p:nvPr/>
        </p:nvSpPr>
        <p:spPr>
          <a:xfrm>
            <a:off x="773113" y="2816225"/>
            <a:ext cx="8083550" cy="476250"/>
          </a:xfrm>
          <a:prstGeom prst="rect">
            <a:avLst/>
          </a:prstGeom>
          <a:noFill/>
          <a:ln w="9525">
            <a:noFill/>
          </a:ln>
        </p:spPr>
        <p:txBody>
          <a:bodyPr>
            <a:spAutoFit/>
          </a:bodyPr>
          <a:p>
            <a:pPr algn="ctr" eaLnBrk="1" hangingPunct="1">
              <a:lnSpc>
                <a:spcPct val="90000"/>
              </a:lnSpc>
            </a:pPr>
            <a:r>
              <a:rPr lang="zh-CN" altLang="en-US" sz="2800" b="1" dirty="0">
                <a:solidFill>
                  <a:srgbClr val="3366CC"/>
                </a:solidFill>
                <a:latin typeface="楷体_GB2312" pitchFamily="49" charset="-122"/>
              </a:rPr>
              <a:t>数字信号：</a:t>
            </a:r>
            <a:r>
              <a:rPr lang="zh-CN" altLang="en-US" sz="2800" b="1" dirty="0">
                <a:solidFill>
                  <a:schemeClr val="tx1"/>
                </a:solidFill>
                <a:latin typeface="Times New Roman" panose="02020603050405020304" pitchFamily="18" charset="0"/>
              </a:rPr>
              <a:t>在有限的离散瞬时上取值间断的信号。</a:t>
            </a:r>
            <a:endParaRPr lang="zh-CN" altLang="en-US" sz="2800" b="1" dirty="0">
              <a:solidFill>
                <a:schemeClr val="tx1"/>
              </a:solidFill>
              <a:latin typeface="Times New Roman" panose="02020603050405020304" pitchFamily="18" charset="0"/>
            </a:endParaRPr>
          </a:p>
        </p:txBody>
      </p:sp>
      <p:sp>
        <p:nvSpPr>
          <p:cNvPr id="2216975" name="Text Box 15"/>
          <p:cNvSpPr txBox="1"/>
          <p:nvPr/>
        </p:nvSpPr>
        <p:spPr>
          <a:xfrm>
            <a:off x="1511300" y="3429000"/>
            <a:ext cx="4895850" cy="476250"/>
          </a:xfrm>
          <a:prstGeom prst="rect">
            <a:avLst/>
          </a:prstGeom>
          <a:noFill/>
          <a:ln w="9525">
            <a:noFill/>
          </a:ln>
        </p:spPr>
        <p:txBody>
          <a:bodyPr wrap="none">
            <a:spAutoFit/>
          </a:bodyPr>
          <a:p>
            <a:pPr algn="ctr" eaLnBrk="1" hangingPunct="1">
              <a:lnSpc>
                <a:spcPct val="90000"/>
              </a:lnSpc>
            </a:pPr>
            <a:r>
              <a:rPr lang="zh-CN" altLang="en-US" sz="2800" b="1" dirty="0">
                <a:solidFill>
                  <a:srgbClr val="3366CC"/>
                </a:solidFill>
                <a:latin typeface="Times New Roman" panose="02020603050405020304" pitchFamily="18" charset="0"/>
              </a:rPr>
              <a:t>特点：</a:t>
            </a:r>
            <a:r>
              <a:rPr lang="zh-CN" altLang="en-US" sz="2800" b="1" dirty="0">
                <a:solidFill>
                  <a:schemeClr val="tx1"/>
                </a:solidFill>
                <a:latin typeface="Times New Roman" panose="02020603050405020304" pitchFamily="18" charset="0"/>
              </a:rPr>
              <a:t>时间和幅值都不连续。 </a:t>
            </a:r>
            <a:endParaRPr lang="zh-CN" altLang="en-US" sz="2800" b="1" dirty="0">
              <a:solidFill>
                <a:schemeClr val="tx1"/>
              </a:solidFill>
              <a:latin typeface="Times New Roman" panose="02020603050405020304" pitchFamily="18" charset="0"/>
            </a:endParaRPr>
          </a:p>
        </p:txBody>
      </p:sp>
      <p:sp>
        <p:nvSpPr>
          <p:cNvPr id="2216979" name="Text Box 1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18004" name="Text Box 1044"/>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4039" name="Text Box 1045"/>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18006" name="Text Box 1046"/>
          <p:cNvSpPr txBox="1"/>
          <p:nvPr/>
        </p:nvSpPr>
        <p:spPr>
          <a:xfrm>
            <a:off x="1476375" y="3995738"/>
            <a:ext cx="3829050" cy="476250"/>
          </a:xfrm>
          <a:prstGeom prst="rect">
            <a:avLst/>
          </a:prstGeom>
          <a:noFill/>
          <a:ln w="9525">
            <a:noFill/>
          </a:ln>
        </p:spPr>
        <p:txBody>
          <a:bodyPr wrap="none">
            <a:spAutoFit/>
          </a:bodyPr>
          <a:p>
            <a:pPr algn="ctr" eaLnBrk="1" hangingPunct="1">
              <a:lnSpc>
                <a:spcPct val="90000"/>
              </a:lnSpc>
            </a:pPr>
            <a:r>
              <a:rPr lang="zh-CN" altLang="en-US" sz="2800" b="1" dirty="0">
                <a:solidFill>
                  <a:srgbClr val="3366CC"/>
                </a:solidFill>
                <a:latin typeface="Times New Roman" panose="02020603050405020304" pitchFamily="18" charset="0"/>
              </a:rPr>
              <a:t>优点：</a:t>
            </a:r>
            <a:r>
              <a:rPr lang="zh-CN" altLang="en-US" sz="2800" b="1" dirty="0">
                <a:solidFill>
                  <a:schemeClr val="tx1"/>
                </a:solidFill>
                <a:latin typeface="Times New Roman" panose="02020603050405020304" pitchFamily="18" charset="0"/>
              </a:rPr>
              <a:t>抗干扰能力强。 </a:t>
            </a:r>
            <a:endParaRPr lang="zh-CN" altLang="en-US" sz="2800" b="1" dirty="0">
              <a:solidFill>
                <a:schemeClr val="tx1"/>
              </a:solidFill>
              <a:latin typeface="Times New Roman" panose="02020603050405020304" pitchFamily="18" charset="0"/>
            </a:endParaRPr>
          </a:p>
        </p:txBody>
      </p:sp>
      <p:sp>
        <p:nvSpPr>
          <p:cNvPr id="2218007" name="Text Box 1047"/>
          <p:cNvSpPr txBox="1"/>
          <p:nvPr/>
        </p:nvSpPr>
        <p:spPr>
          <a:xfrm>
            <a:off x="1079500" y="4581525"/>
            <a:ext cx="7112000" cy="74930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b="1" dirty="0">
                <a:latin typeface="Times New Roman" panose="02020603050405020304" pitchFamily="18" charset="0"/>
                <a:ea typeface="黑体" panose="02010609060101010101" pitchFamily="49" charset="-122"/>
              </a:rPr>
              <a:t>数字信号对传送线路上的不完善性（畸变、噪声）不敏感，只需检测脉冲的有无来获取信息。</a:t>
            </a:r>
            <a:endParaRPr lang="zh-CN" altLang="en-US" sz="2400" b="1" dirty="0">
              <a:latin typeface="Times New Roman" panose="02020603050405020304" pitchFamily="18" charset="0"/>
              <a:ea typeface="黑体" panose="02010609060101010101" pitchFamily="49" charset="-122"/>
            </a:endParaRPr>
          </a:p>
        </p:txBody>
      </p:sp>
      <p:sp>
        <p:nvSpPr>
          <p:cNvPr id="2218008" name="Text Box 1048"/>
          <p:cNvSpPr txBox="1"/>
          <p:nvPr/>
        </p:nvSpPr>
        <p:spPr>
          <a:xfrm>
            <a:off x="1447800" y="5495925"/>
            <a:ext cx="6256338" cy="476250"/>
          </a:xfrm>
          <a:prstGeom prst="rect">
            <a:avLst/>
          </a:prstGeom>
          <a:noFill/>
          <a:ln w="9525">
            <a:noFill/>
          </a:ln>
        </p:spPr>
        <p:txBody>
          <a:bodyPr wrap="none">
            <a:spAutoFit/>
          </a:bodyPr>
          <a:p>
            <a:pPr eaLnBrk="1" hangingPunct="1">
              <a:lnSpc>
                <a:spcPct val="90000"/>
              </a:lnSpc>
            </a:pPr>
            <a:r>
              <a:rPr lang="zh-CN" altLang="en-US" sz="2800" b="1" dirty="0">
                <a:solidFill>
                  <a:srgbClr val="3366CC"/>
                </a:solidFill>
                <a:latin typeface="Times New Roman" panose="02020603050405020304" pitchFamily="18" charset="0"/>
              </a:rPr>
              <a:t>缺点：</a:t>
            </a:r>
            <a:r>
              <a:rPr lang="zh-CN" altLang="en-US" sz="2800" b="1" dirty="0">
                <a:solidFill>
                  <a:schemeClr val="tx1"/>
                </a:solidFill>
                <a:latin typeface="Times New Roman" panose="02020603050405020304" pitchFamily="18" charset="0"/>
              </a:rPr>
              <a:t>需要一套转换电路，增加成本。</a:t>
            </a:r>
            <a:endParaRPr lang="zh-CN" altLang="en-US" sz="28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16971"/>
                                        </p:tgtEl>
                                        <p:attrNameLst>
                                          <p:attrName>style.visibility</p:attrName>
                                        </p:attrNameLst>
                                      </p:cBhvr>
                                      <p:to>
                                        <p:strVal val="visible"/>
                                      </p:to>
                                    </p:set>
                                    <p:animEffect transition="in" filter="dissolve">
                                      <p:cBhvr>
                                        <p:cTn id="7" dur="500"/>
                                        <p:tgtEl>
                                          <p:spTgt spid="221697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16972"/>
                                        </p:tgtEl>
                                        <p:attrNameLst>
                                          <p:attrName>style.visibility</p:attrName>
                                        </p:attrNameLst>
                                      </p:cBhvr>
                                      <p:to>
                                        <p:strVal val="visible"/>
                                      </p:to>
                                    </p:set>
                                    <p:animEffect transition="in" filter="dissolve">
                                      <p:cBhvr>
                                        <p:cTn id="12" dur="500"/>
                                        <p:tgtEl>
                                          <p:spTgt spid="221697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16975"/>
                                        </p:tgtEl>
                                        <p:attrNameLst>
                                          <p:attrName>style.visibility</p:attrName>
                                        </p:attrNameLst>
                                      </p:cBhvr>
                                      <p:to>
                                        <p:strVal val="visible"/>
                                      </p:to>
                                    </p:set>
                                    <p:animEffect transition="in" filter="dissolve">
                                      <p:cBhvr>
                                        <p:cTn id="17" dur="500"/>
                                        <p:tgtEl>
                                          <p:spTgt spid="221697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18006"/>
                                        </p:tgtEl>
                                        <p:attrNameLst>
                                          <p:attrName>style.visibility</p:attrName>
                                        </p:attrNameLst>
                                      </p:cBhvr>
                                      <p:to>
                                        <p:strVal val="visible"/>
                                      </p:to>
                                    </p:set>
                                    <p:animEffect transition="in" filter="dissolve">
                                      <p:cBhvr>
                                        <p:cTn id="22" dur="500"/>
                                        <p:tgtEl>
                                          <p:spTgt spid="221800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18007"/>
                                        </p:tgtEl>
                                        <p:attrNameLst>
                                          <p:attrName>style.visibility</p:attrName>
                                        </p:attrNameLst>
                                      </p:cBhvr>
                                      <p:to>
                                        <p:strVal val="visible"/>
                                      </p:to>
                                    </p:set>
                                    <p:animEffect transition="in" filter="dissolve">
                                      <p:cBhvr>
                                        <p:cTn id="27" dur="500"/>
                                        <p:tgtEl>
                                          <p:spTgt spid="221800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18008"/>
                                        </p:tgtEl>
                                        <p:attrNameLst>
                                          <p:attrName>style.visibility</p:attrName>
                                        </p:attrNameLst>
                                      </p:cBhvr>
                                      <p:to>
                                        <p:strVal val="visible"/>
                                      </p:to>
                                    </p:set>
                                    <p:animEffect transition="in" filter="dissolve">
                                      <p:cBhvr>
                                        <p:cTn id="32" dur="500"/>
                                        <p:tgtEl>
                                          <p:spTgt spid="22180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6971" grpId="0"/>
      <p:bldP spid="2216972" grpId="0"/>
      <p:bldP spid="2216975" grpId="0"/>
      <p:bldP spid="2218006" grpId="0"/>
      <p:bldP spid="2218007" grpId="0" animBg="1"/>
      <p:bldP spid="221800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17996" name="Text Box 12"/>
          <p:cNvSpPr txBox="1"/>
          <p:nvPr/>
        </p:nvSpPr>
        <p:spPr>
          <a:xfrm>
            <a:off x="755650" y="2682875"/>
            <a:ext cx="2082800" cy="519113"/>
          </a:xfrm>
          <a:prstGeom prst="rect">
            <a:avLst/>
          </a:prstGeom>
          <a:noFill/>
          <a:ln w="9525">
            <a:noFill/>
          </a:ln>
        </p:spPr>
        <p:txBody>
          <a:bodyPr>
            <a:spAutoFit/>
          </a:bodyPr>
          <a:p>
            <a:pPr marL="1076325" indent="-1076325" eaLnBrk="1" hangingPunct="1"/>
            <a:r>
              <a:rPr lang="zh-CN" altLang="en-US" sz="2800" b="1" dirty="0">
                <a:solidFill>
                  <a:srgbClr val="3366CC"/>
                </a:solidFill>
                <a:latin typeface="楷体_GB2312" pitchFamily="49" charset="-122"/>
              </a:rPr>
              <a:t>传送方式：</a:t>
            </a:r>
            <a:endParaRPr lang="zh-CN" altLang="en-US" sz="2800" b="1" dirty="0">
              <a:solidFill>
                <a:srgbClr val="3366CC"/>
              </a:solidFill>
              <a:latin typeface="楷体_GB2312" pitchFamily="49" charset="-122"/>
            </a:endParaRPr>
          </a:p>
        </p:txBody>
      </p:sp>
      <p:sp>
        <p:nvSpPr>
          <p:cNvPr id="2217998" name="Text Box 14"/>
          <p:cNvSpPr txBox="1"/>
          <p:nvPr/>
        </p:nvSpPr>
        <p:spPr>
          <a:xfrm>
            <a:off x="2973388" y="2698750"/>
            <a:ext cx="3362325"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并行方式传送</a:t>
            </a:r>
            <a:endParaRPr lang="zh-CN" altLang="en-US" sz="2800" b="1" dirty="0">
              <a:solidFill>
                <a:schemeClr val="tx1"/>
              </a:solidFill>
              <a:latin typeface="楷体_GB2312" pitchFamily="49" charset="-122"/>
            </a:endParaRPr>
          </a:p>
          <a:p>
            <a:pPr marL="542925" indent="-542925" eaLnBrk="1" hangingPunct="1">
              <a:buClr>
                <a:srgbClr val="FF0000"/>
              </a:buClr>
              <a:buFont typeface="Wingdings" panose="05000000000000000000" pitchFamily="2" charset="2"/>
              <a:buChar char="u"/>
            </a:pPr>
            <a:r>
              <a:rPr lang="zh-CN" altLang="en-US" sz="2800" b="1" dirty="0">
                <a:solidFill>
                  <a:schemeClr val="tx1"/>
                </a:solidFill>
                <a:latin typeface="楷体_GB2312" pitchFamily="49" charset="-122"/>
              </a:rPr>
              <a:t>串行方式传送</a:t>
            </a:r>
            <a:endParaRPr lang="zh-CN" altLang="en-US" sz="2800" b="1" dirty="0">
              <a:solidFill>
                <a:schemeClr val="tx1"/>
              </a:solidFill>
              <a:latin typeface="楷体_GB2312" pitchFamily="49" charset="-122"/>
            </a:endParaRPr>
          </a:p>
        </p:txBody>
      </p:sp>
      <p:sp>
        <p:nvSpPr>
          <p:cNvPr id="2218003" name="Text Box 1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5061" name="Text Box 26"/>
          <p:cNvSpPr txBox="1"/>
          <p:nvPr/>
        </p:nvSpPr>
        <p:spPr>
          <a:xfrm>
            <a:off x="481013" y="1952625"/>
            <a:ext cx="35179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4. </a:t>
            </a:r>
            <a:r>
              <a:rPr lang="zh-CN" altLang="en-US" b="1" dirty="0">
                <a:solidFill>
                  <a:srgbClr val="FF0000"/>
                </a:solidFill>
                <a:latin typeface="Times New Roman" panose="02020603050405020304" pitchFamily="18" charset="0"/>
              </a:rPr>
              <a:t>数字信号处理 </a:t>
            </a:r>
            <a:endParaRPr lang="zh-CN" altLang="en-US" b="1" dirty="0">
              <a:solidFill>
                <a:srgbClr val="FF0000"/>
              </a:solidFill>
              <a:latin typeface="Times New Roman" panose="02020603050405020304" pitchFamily="18" charset="0"/>
            </a:endParaRPr>
          </a:p>
        </p:txBody>
      </p:sp>
      <p:sp>
        <p:nvSpPr>
          <p:cNvPr id="2219035" name="Text Box 27"/>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5063" name="Text Box 28"/>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19039" name="Text Box 31"/>
          <p:cNvSpPr txBox="1"/>
          <p:nvPr/>
        </p:nvSpPr>
        <p:spPr>
          <a:xfrm>
            <a:off x="742950" y="3948113"/>
            <a:ext cx="7442200" cy="1244600"/>
          </a:xfrm>
          <a:prstGeom prst="rect">
            <a:avLst/>
          </a:prstGeom>
          <a:noFill/>
          <a:ln w="9525">
            <a:noFill/>
          </a:ln>
        </p:spPr>
        <p:txBody>
          <a:bodyPr>
            <a:spAutoFit/>
          </a:bodyPr>
          <a:p>
            <a:pPr marL="1790700" indent="-1790700" eaLnBrk="1" hangingPunct="1">
              <a:lnSpc>
                <a:spcPct val="90000"/>
              </a:lnSpc>
              <a:spcBef>
                <a:spcPct val="50000"/>
              </a:spcBef>
            </a:pPr>
            <a:r>
              <a:rPr lang="zh-CN" altLang="en-US" sz="2800" b="1" dirty="0">
                <a:solidFill>
                  <a:srgbClr val="3366CC"/>
                </a:solidFill>
                <a:latin typeface="Times New Roman" panose="02020603050405020304" pitchFamily="18" charset="0"/>
              </a:rPr>
              <a:t>信号处理：</a:t>
            </a:r>
            <a:r>
              <a:rPr lang="zh-CN" altLang="en-US" sz="2800" b="1" dirty="0">
                <a:solidFill>
                  <a:schemeClr val="tx1"/>
                </a:solidFill>
                <a:latin typeface="Times New Roman" panose="02020603050405020304" pitchFamily="18" charset="0"/>
              </a:rPr>
              <a:t>将数字信号采入计算机后，进行码制转换。如</a:t>
            </a:r>
            <a:r>
              <a:rPr lang="en-US" altLang="zh-CN" sz="2800" b="1" dirty="0">
                <a:solidFill>
                  <a:schemeClr val="tx1"/>
                </a:solidFill>
                <a:latin typeface="Times New Roman" panose="02020603050405020304" pitchFamily="18" charset="0"/>
              </a:rPr>
              <a:t>BCD</a:t>
            </a:r>
            <a:r>
              <a:rPr lang="zh-CN" altLang="en-US" sz="2800" b="1" dirty="0">
                <a:solidFill>
                  <a:schemeClr val="tx1"/>
                </a:solidFill>
                <a:latin typeface="Times New Roman" panose="02020603050405020304" pitchFamily="18" charset="0"/>
              </a:rPr>
              <a:t>转换为</a:t>
            </a:r>
            <a:r>
              <a:rPr lang="en-US" altLang="zh-CN" sz="2800" b="1" dirty="0">
                <a:solidFill>
                  <a:schemeClr val="tx1"/>
                </a:solidFill>
                <a:latin typeface="Times New Roman" panose="02020603050405020304" pitchFamily="18" charset="0"/>
              </a:rPr>
              <a:t>ASCII</a:t>
            </a:r>
            <a:r>
              <a:rPr lang="zh-CN" altLang="en-US" sz="2800" b="1" dirty="0">
                <a:solidFill>
                  <a:schemeClr val="tx1"/>
                </a:solidFill>
                <a:latin typeface="Times New Roman" panose="02020603050405020304" pitchFamily="18" charset="0"/>
              </a:rPr>
              <a:t>，便于在屏幕上显示。</a:t>
            </a:r>
            <a:endParaRPr lang="zh-CN" altLang="en-US" sz="28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17996"/>
                                        </p:tgtEl>
                                        <p:attrNameLst>
                                          <p:attrName>style.visibility</p:attrName>
                                        </p:attrNameLst>
                                      </p:cBhvr>
                                      <p:to>
                                        <p:strVal val="visible"/>
                                      </p:to>
                                    </p:set>
                                    <p:animEffect transition="in" filter="dissolve">
                                      <p:cBhvr>
                                        <p:cTn id="7" dur="500"/>
                                        <p:tgtEl>
                                          <p:spTgt spid="221799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17998"/>
                                        </p:tgtEl>
                                        <p:attrNameLst>
                                          <p:attrName>style.visibility</p:attrName>
                                        </p:attrNameLst>
                                      </p:cBhvr>
                                      <p:to>
                                        <p:strVal val="visible"/>
                                      </p:to>
                                    </p:set>
                                    <p:animEffect transition="in" filter="dissolve">
                                      <p:cBhvr>
                                        <p:cTn id="10" dur="500"/>
                                        <p:tgtEl>
                                          <p:spTgt spid="221799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219039"/>
                                        </p:tgtEl>
                                        <p:attrNameLst>
                                          <p:attrName>style.visibility</p:attrName>
                                        </p:attrNameLst>
                                      </p:cBhvr>
                                      <p:to>
                                        <p:strVal val="visible"/>
                                      </p:to>
                                    </p:set>
                                    <p:animEffect transition="in" filter="dissolve">
                                      <p:cBhvr>
                                        <p:cTn id="15" dur="500"/>
                                        <p:tgtEl>
                                          <p:spTgt spid="22190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7996" grpId="0"/>
      <p:bldP spid="2217998" grpId="0"/>
      <p:bldP spid="221903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220055" name="Picture 1047" descr="_m_gw_yqnvZxsIrrq9KAC-7TKGEIS7_MaTupjTZJhppOOi9CR-F8Vm0hbfU5M3e9zfAXJGypBn5cR-Zmg="/>
          <p:cNvPicPr>
            <a:picLocks noChangeAspect="1"/>
          </p:cNvPicPr>
          <p:nvPr/>
        </p:nvPicPr>
        <p:blipFill>
          <a:blip r:embed="rId1"/>
          <a:stretch>
            <a:fillRect/>
          </a:stretch>
        </p:blipFill>
        <p:spPr>
          <a:xfrm>
            <a:off x="4464050" y="3213100"/>
            <a:ext cx="3800475" cy="2038350"/>
          </a:xfrm>
          <a:prstGeom prst="rect">
            <a:avLst/>
          </a:prstGeom>
          <a:noFill/>
          <a:ln w="9525">
            <a:noFill/>
          </a:ln>
        </p:spPr>
      </p:pic>
      <p:sp>
        <p:nvSpPr>
          <p:cNvPr id="2219020" name="Text Box 1036"/>
          <p:cNvSpPr txBox="1"/>
          <p:nvPr/>
        </p:nvSpPr>
        <p:spPr>
          <a:xfrm>
            <a:off x="620713" y="1881188"/>
            <a:ext cx="3967162"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5. </a:t>
            </a:r>
            <a:r>
              <a:rPr lang="zh-CN" altLang="en-US" b="1" dirty="0">
                <a:solidFill>
                  <a:srgbClr val="FF0000"/>
                </a:solidFill>
                <a:latin typeface="Times New Roman" panose="02020603050405020304" pitchFamily="18" charset="0"/>
              </a:rPr>
              <a:t>开关信号处理 </a:t>
            </a:r>
            <a:endParaRPr lang="zh-CN" altLang="en-US" b="1" dirty="0">
              <a:solidFill>
                <a:srgbClr val="FF0000"/>
              </a:solidFill>
              <a:latin typeface="Times New Roman" panose="02020603050405020304" pitchFamily="18" charset="0"/>
            </a:endParaRPr>
          </a:p>
        </p:txBody>
      </p:sp>
      <p:sp>
        <p:nvSpPr>
          <p:cNvPr id="2219023" name="Text Box 1039"/>
          <p:cNvSpPr txBox="1"/>
          <p:nvPr/>
        </p:nvSpPr>
        <p:spPr>
          <a:xfrm>
            <a:off x="1116013" y="5322888"/>
            <a:ext cx="7343775" cy="519112"/>
          </a:xfrm>
          <a:prstGeom prst="rect">
            <a:avLst/>
          </a:prstGeom>
          <a:noFill/>
          <a:ln w="9525">
            <a:noFill/>
          </a:ln>
        </p:spPr>
        <p:txBody>
          <a:bodyPr>
            <a:spAutoFit/>
          </a:bodyPr>
          <a:p>
            <a:pPr marL="1790700" indent="-1790700" eaLnBrk="1" hangingPunct="1"/>
            <a:r>
              <a:rPr lang="zh-CN" altLang="en-US" sz="2800" b="1" dirty="0">
                <a:solidFill>
                  <a:srgbClr val="3366CC"/>
                </a:solidFill>
                <a:latin typeface="楷体_GB2312" pitchFamily="49" charset="-122"/>
              </a:rPr>
              <a:t>信号处理：</a:t>
            </a:r>
            <a:r>
              <a:rPr lang="zh-CN" altLang="en-US" sz="2800" b="1" dirty="0">
                <a:solidFill>
                  <a:schemeClr val="tx1"/>
                </a:solidFill>
                <a:latin typeface="Times New Roman" panose="02020603050405020304" pitchFamily="18" charset="0"/>
              </a:rPr>
              <a:t>根据开关的状态执行相应的操作。</a:t>
            </a:r>
            <a:r>
              <a:rPr lang="zh-CN" altLang="en-US" sz="2800" b="1" dirty="0">
                <a:solidFill>
                  <a:schemeClr val="tx1"/>
                </a:solidFill>
                <a:latin typeface="楷体_GB2312" pitchFamily="49" charset="-122"/>
              </a:rPr>
              <a:t> </a:t>
            </a:r>
            <a:endParaRPr lang="zh-CN" altLang="en-US" sz="2800" b="1" dirty="0">
              <a:solidFill>
                <a:schemeClr val="tx1"/>
              </a:solidFill>
              <a:latin typeface="楷体_GB2312" pitchFamily="49" charset="-122"/>
            </a:endParaRPr>
          </a:p>
        </p:txBody>
      </p:sp>
      <p:sp>
        <p:nvSpPr>
          <p:cNvPr id="2219033" name="Text Box 104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20051" name="Text Box 1043"/>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6087" name="Text Box 1044"/>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20053" name="Text Box 1045"/>
          <p:cNvSpPr txBox="1"/>
          <p:nvPr/>
        </p:nvSpPr>
        <p:spPr>
          <a:xfrm>
            <a:off x="1116013" y="2493963"/>
            <a:ext cx="7343775" cy="860425"/>
          </a:xfrm>
          <a:prstGeom prst="rect">
            <a:avLst/>
          </a:prstGeom>
          <a:noFill/>
          <a:ln w="9525">
            <a:noFill/>
          </a:ln>
        </p:spPr>
        <p:txBody>
          <a:bodyPr>
            <a:spAutoFit/>
          </a:bodyPr>
          <a:p>
            <a:pPr marL="1790700" indent="-1790700" eaLnBrk="1" hangingPunct="1">
              <a:lnSpc>
                <a:spcPct val="90000"/>
              </a:lnSpc>
              <a:spcBef>
                <a:spcPct val="50000"/>
              </a:spcBef>
            </a:pPr>
            <a:r>
              <a:rPr lang="zh-CN" altLang="en-US" sz="2800" b="1" dirty="0">
                <a:solidFill>
                  <a:srgbClr val="3366CC"/>
                </a:solidFill>
                <a:latin typeface="Times New Roman" panose="02020603050405020304" pitchFamily="18" charset="0"/>
              </a:rPr>
              <a:t>开关信号：</a:t>
            </a:r>
            <a:r>
              <a:rPr lang="zh-CN" altLang="en-US" sz="2800" b="1" dirty="0">
                <a:solidFill>
                  <a:schemeClr val="tx1"/>
                </a:solidFill>
                <a:latin typeface="Times New Roman" panose="02020603050405020304" pitchFamily="18" charset="0"/>
              </a:rPr>
              <a:t>由按钮、行程开关、继电器等器件触点产生的信号。</a:t>
            </a:r>
            <a:endParaRPr lang="zh-CN" altLang="en-US" sz="2800" b="1" dirty="0">
              <a:solidFill>
                <a:schemeClr val="tx1"/>
              </a:solidFill>
              <a:latin typeface="Times New Roman" panose="02020603050405020304" pitchFamily="18" charset="0"/>
            </a:endParaRPr>
          </a:p>
        </p:txBody>
      </p:sp>
      <p:pic>
        <p:nvPicPr>
          <p:cNvPr id="2220057" name="Picture 1049" descr="200909041552448451"/>
          <p:cNvPicPr>
            <a:picLocks noChangeAspect="1"/>
          </p:cNvPicPr>
          <p:nvPr/>
        </p:nvPicPr>
        <p:blipFill>
          <a:blip r:embed="rId2"/>
          <a:stretch>
            <a:fillRect/>
          </a:stretch>
        </p:blipFill>
        <p:spPr>
          <a:xfrm>
            <a:off x="1287463" y="3524250"/>
            <a:ext cx="1952625" cy="1592263"/>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19020"/>
                                        </p:tgtEl>
                                        <p:attrNameLst>
                                          <p:attrName>style.visibility</p:attrName>
                                        </p:attrNameLst>
                                      </p:cBhvr>
                                      <p:to>
                                        <p:strVal val="visible"/>
                                      </p:to>
                                    </p:set>
                                    <p:animEffect transition="in" filter="dissolve">
                                      <p:cBhvr>
                                        <p:cTn id="7" dur="500"/>
                                        <p:tgtEl>
                                          <p:spTgt spid="22190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0053"/>
                                        </p:tgtEl>
                                        <p:attrNameLst>
                                          <p:attrName>style.visibility</p:attrName>
                                        </p:attrNameLst>
                                      </p:cBhvr>
                                      <p:to>
                                        <p:strVal val="visible"/>
                                      </p:to>
                                    </p:set>
                                    <p:animEffect transition="in" filter="dissolve">
                                      <p:cBhvr>
                                        <p:cTn id="12" dur="500"/>
                                        <p:tgtEl>
                                          <p:spTgt spid="22200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20057"/>
                                        </p:tgtEl>
                                        <p:attrNameLst>
                                          <p:attrName>style.visibility</p:attrName>
                                        </p:attrNameLst>
                                      </p:cBhvr>
                                      <p:to>
                                        <p:strVal val="visible"/>
                                      </p:to>
                                    </p:set>
                                    <p:animEffect transition="in" filter="dissolve">
                                      <p:cBhvr>
                                        <p:cTn id="17" dur="500"/>
                                        <p:tgtEl>
                                          <p:spTgt spid="2220057"/>
                                        </p:tgtEl>
                                      </p:cBhvr>
                                    </p:animEffect>
                                  </p:childTnLst>
                                </p:cTn>
                              </p:par>
                              <p:par>
                                <p:cTn id="18" presetID="9" presetClass="entr" presetSubtype="0" fill="hold" nodeType="withEffect">
                                  <p:stCondLst>
                                    <p:cond delay="0"/>
                                  </p:stCondLst>
                                  <p:childTnLst>
                                    <p:set>
                                      <p:cBhvr>
                                        <p:cTn id="19" dur="1" fill="hold">
                                          <p:stCondLst>
                                            <p:cond delay="0"/>
                                          </p:stCondLst>
                                        </p:cTn>
                                        <p:tgtEl>
                                          <p:spTgt spid="2220055"/>
                                        </p:tgtEl>
                                        <p:attrNameLst>
                                          <p:attrName>style.visibility</p:attrName>
                                        </p:attrNameLst>
                                      </p:cBhvr>
                                      <p:to>
                                        <p:strVal val="visible"/>
                                      </p:to>
                                    </p:set>
                                    <p:animEffect transition="in" filter="dissolve">
                                      <p:cBhvr>
                                        <p:cTn id="20" dur="500"/>
                                        <p:tgtEl>
                                          <p:spTgt spid="222005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19023"/>
                                        </p:tgtEl>
                                        <p:attrNameLst>
                                          <p:attrName>style.visibility</p:attrName>
                                        </p:attrNameLst>
                                      </p:cBhvr>
                                      <p:to>
                                        <p:strVal val="visible"/>
                                      </p:to>
                                    </p:set>
                                    <p:animEffect transition="in" filter="dissolve">
                                      <p:cBhvr>
                                        <p:cTn id="25" dur="500"/>
                                        <p:tgtEl>
                                          <p:spTgt spid="22190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9020" grpId="0"/>
      <p:bldP spid="2219023" grpId="0"/>
      <p:bldP spid="222005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5332" name="Text Box 4"/>
          <p:cNvSpPr txBox="1"/>
          <p:nvPr/>
        </p:nvSpPr>
        <p:spPr>
          <a:xfrm>
            <a:off x="631825" y="1881188"/>
            <a:ext cx="44450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6. </a:t>
            </a:r>
            <a:r>
              <a:rPr lang="zh-CN" altLang="en-US" b="1" dirty="0">
                <a:solidFill>
                  <a:srgbClr val="FF0000"/>
                </a:solidFill>
                <a:latin typeface="Times New Roman" panose="02020603050405020304" pitchFamily="18" charset="0"/>
              </a:rPr>
              <a:t>二次数据计算 </a:t>
            </a:r>
            <a:endParaRPr lang="zh-CN" altLang="en-US" b="1" dirty="0">
              <a:solidFill>
                <a:srgbClr val="FF0000"/>
              </a:solidFill>
              <a:latin typeface="Times New Roman" panose="02020603050405020304" pitchFamily="18" charset="0"/>
            </a:endParaRPr>
          </a:p>
        </p:txBody>
      </p:sp>
      <p:sp>
        <p:nvSpPr>
          <p:cNvPr id="2275339" name="Text Box 11"/>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5340" name="Text Box 12"/>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7109" name="Text Box 13"/>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75343" name="Text Box 15"/>
          <p:cNvSpPr txBox="1"/>
          <p:nvPr/>
        </p:nvSpPr>
        <p:spPr>
          <a:xfrm>
            <a:off x="1116013" y="2493963"/>
            <a:ext cx="7343775" cy="476250"/>
          </a:xfrm>
          <a:prstGeom prst="rect">
            <a:avLst/>
          </a:prstGeom>
          <a:noFill/>
          <a:ln w="9525">
            <a:noFill/>
          </a:ln>
        </p:spPr>
        <p:txBody>
          <a:bodyPr>
            <a:spAutoFit/>
          </a:bodyPr>
          <a:p>
            <a:pPr marL="1790700" indent="-1790700" eaLnBrk="1" hangingPunct="1">
              <a:lnSpc>
                <a:spcPct val="90000"/>
              </a:lnSpc>
              <a:spcBef>
                <a:spcPct val="50000"/>
              </a:spcBef>
            </a:pPr>
            <a:r>
              <a:rPr lang="zh-CN" altLang="en-US" sz="2800" b="1" dirty="0">
                <a:solidFill>
                  <a:srgbClr val="3366CC"/>
                </a:solidFill>
                <a:latin typeface="Times New Roman" panose="02020603050405020304" pitchFamily="18" charset="0"/>
              </a:rPr>
              <a:t>一次数据：</a:t>
            </a:r>
            <a:r>
              <a:rPr lang="zh-CN" altLang="en-US" sz="2800" b="1" dirty="0">
                <a:solidFill>
                  <a:schemeClr val="tx1"/>
                </a:solidFill>
                <a:latin typeface="Times New Roman" panose="02020603050405020304" pitchFamily="18" charset="0"/>
              </a:rPr>
              <a:t>从传感器采集的数据。</a:t>
            </a:r>
            <a:endParaRPr lang="zh-CN" altLang="en-US" sz="2800" b="1" dirty="0">
              <a:solidFill>
                <a:schemeClr val="tx1"/>
              </a:solidFill>
              <a:latin typeface="Times New Roman" panose="02020603050405020304" pitchFamily="18" charset="0"/>
            </a:endParaRPr>
          </a:p>
        </p:txBody>
      </p:sp>
      <p:sp>
        <p:nvSpPr>
          <p:cNvPr id="2275344" name="Text Box 16"/>
          <p:cNvSpPr txBox="1"/>
          <p:nvPr/>
        </p:nvSpPr>
        <p:spPr>
          <a:xfrm>
            <a:off x="1116013" y="3060700"/>
            <a:ext cx="7343775" cy="476250"/>
          </a:xfrm>
          <a:prstGeom prst="rect">
            <a:avLst/>
          </a:prstGeom>
          <a:noFill/>
          <a:ln w="9525">
            <a:noFill/>
          </a:ln>
        </p:spPr>
        <p:txBody>
          <a:bodyPr>
            <a:spAutoFit/>
          </a:bodyPr>
          <a:p>
            <a:pPr marL="1790700" indent="-1790700" eaLnBrk="1" hangingPunct="1">
              <a:lnSpc>
                <a:spcPct val="90000"/>
              </a:lnSpc>
              <a:spcBef>
                <a:spcPct val="50000"/>
              </a:spcBef>
            </a:pPr>
            <a:r>
              <a:rPr lang="zh-CN" altLang="en-US" sz="2800" b="1" dirty="0">
                <a:solidFill>
                  <a:srgbClr val="3366CC"/>
                </a:solidFill>
                <a:latin typeface="Times New Roman" panose="02020603050405020304" pitchFamily="18" charset="0"/>
              </a:rPr>
              <a:t>二次数据：</a:t>
            </a:r>
            <a:r>
              <a:rPr lang="zh-CN" altLang="en-US" sz="2800" b="1" dirty="0">
                <a:solidFill>
                  <a:schemeClr val="tx1"/>
                </a:solidFill>
                <a:latin typeface="Times New Roman" panose="02020603050405020304" pitchFamily="18" charset="0"/>
              </a:rPr>
              <a:t>对一次数据作计算得到的数据。</a:t>
            </a:r>
            <a:endParaRPr lang="zh-CN" altLang="en-US" sz="2800" b="1" dirty="0">
              <a:solidFill>
                <a:schemeClr val="tx1"/>
              </a:solidFill>
              <a:latin typeface="Times New Roman" panose="02020603050405020304" pitchFamily="18" charset="0"/>
            </a:endParaRPr>
          </a:p>
        </p:txBody>
      </p:sp>
      <p:sp>
        <p:nvSpPr>
          <p:cNvPr id="2275345" name="Text Box 17"/>
          <p:cNvSpPr txBox="1"/>
          <p:nvPr/>
        </p:nvSpPr>
        <p:spPr>
          <a:xfrm>
            <a:off x="1620838" y="3752850"/>
            <a:ext cx="1835150" cy="860425"/>
          </a:xfrm>
          <a:prstGeom prst="rect">
            <a:avLst/>
          </a:prstGeom>
          <a:noFill/>
          <a:ln w="9525">
            <a:noFill/>
          </a:ln>
        </p:spPr>
        <p:txBody>
          <a:bodyPr>
            <a:spAutoFit/>
          </a:bodyPr>
          <a:p>
            <a:pPr eaLnBrk="1" hangingPunct="1">
              <a:lnSpc>
                <a:spcPct val="90000"/>
              </a:lnSpc>
              <a:spcBef>
                <a:spcPct val="50000"/>
              </a:spcBef>
            </a:pPr>
            <a:r>
              <a:rPr lang="zh-CN" altLang="en-US" sz="2800" b="1" dirty="0">
                <a:solidFill>
                  <a:srgbClr val="3366CC"/>
                </a:solidFill>
                <a:latin typeface="Times New Roman" panose="02020603050405020304" pitchFamily="18" charset="0"/>
              </a:rPr>
              <a:t>二次数据计算包括</a:t>
            </a:r>
            <a:r>
              <a:rPr lang="en-US" altLang="zh-CN" sz="2800" b="1" dirty="0">
                <a:solidFill>
                  <a:srgbClr val="3366CC"/>
                </a:solidFill>
                <a:latin typeface="Times New Roman" panose="02020603050405020304" pitchFamily="18" charset="0"/>
              </a:rPr>
              <a:t>:</a:t>
            </a:r>
            <a:endParaRPr lang="en-US" altLang="zh-CN" sz="2800" b="1" dirty="0">
              <a:solidFill>
                <a:schemeClr val="tx1"/>
              </a:solidFill>
              <a:latin typeface="Times New Roman" panose="02020603050405020304" pitchFamily="18" charset="0"/>
            </a:endParaRPr>
          </a:p>
        </p:txBody>
      </p:sp>
      <p:sp>
        <p:nvSpPr>
          <p:cNvPr id="2275346" name="Text Box 18"/>
          <p:cNvSpPr txBox="1"/>
          <p:nvPr/>
        </p:nvSpPr>
        <p:spPr>
          <a:xfrm>
            <a:off x="3348038" y="3789363"/>
            <a:ext cx="4392612" cy="22717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平均值、累计值</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傅里叶变换、积分变换</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变化率、差值</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最大值、最小值</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75347" name="Rectangle 19"/>
          <p:cNvSpPr/>
          <p:nvPr/>
        </p:nvSpPr>
        <p:spPr>
          <a:xfrm>
            <a:off x="1295400" y="3716338"/>
            <a:ext cx="6489700" cy="2339975"/>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5332"/>
                                        </p:tgtEl>
                                        <p:attrNameLst>
                                          <p:attrName>style.visibility</p:attrName>
                                        </p:attrNameLst>
                                      </p:cBhvr>
                                      <p:to>
                                        <p:strVal val="visible"/>
                                      </p:to>
                                    </p:set>
                                    <p:animEffect transition="in" filter="dissolve">
                                      <p:cBhvr>
                                        <p:cTn id="7" dur="500"/>
                                        <p:tgtEl>
                                          <p:spTgt spid="22753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5343"/>
                                        </p:tgtEl>
                                        <p:attrNameLst>
                                          <p:attrName>style.visibility</p:attrName>
                                        </p:attrNameLst>
                                      </p:cBhvr>
                                      <p:to>
                                        <p:strVal val="visible"/>
                                      </p:to>
                                    </p:set>
                                    <p:animEffect transition="in" filter="dissolve">
                                      <p:cBhvr>
                                        <p:cTn id="12" dur="500"/>
                                        <p:tgtEl>
                                          <p:spTgt spid="227534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5344"/>
                                        </p:tgtEl>
                                        <p:attrNameLst>
                                          <p:attrName>style.visibility</p:attrName>
                                        </p:attrNameLst>
                                      </p:cBhvr>
                                      <p:to>
                                        <p:strVal val="visible"/>
                                      </p:to>
                                    </p:set>
                                    <p:animEffect transition="in" filter="dissolve">
                                      <p:cBhvr>
                                        <p:cTn id="17" dur="500"/>
                                        <p:tgtEl>
                                          <p:spTgt spid="227534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75345"/>
                                        </p:tgtEl>
                                        <p:attrNameLst>
                                          <p:attrName>style.visibility</p:attrName>
                                        </p:attrNameLst>
                                      </p:cBhvr>
                                      <p:to>
                                        <p:strVal val="visible"/>
                                      </p:to>
                                    </p:set>
                                    <p:animEffect transition="in" filter="dissolve">
                                      <p:cBhvr>
                                        <p:cTn id="22" dur="500"/>
                                        <p:tgtEl>
                                          <p:spTgt spid="2275345"/>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275346"/>
                                        </p:tgtEl>
                                        <p:attrNameLst>
                                          <p:attrName>style.visibility</p:attrName>
                                        </p:attrNameLst>
                                      </p:cBhvr>
                                      <p:to>
                                        <p:strVal val="visible"/>
                                      </p:to>
                                    </p:set>
                                    <p:animEffect transition="in" filter="dissolve">
                                      <p:cBhvr>
                                        <p:cTn id="25" dur="500"/>
                                        <p:tgtEl>
                                          <p:spTgt spid="227534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275347"/>
                                        </p:tgtEl>
                                        <p:attrNameLst>
                                          <p:attrName>style.visibility</p:attrName>
                                        </p:attrNameLst>
                                      </p:cBhvr>
                                      <p:to>
                                        <p:strVal val="visible"/>
                                      </p:to>
                                    </p:set>
                                    <p:animEffect transition="in" filter="dissolve">
                                      <p:cBhvr>
                                        <p:cTn id="28" dur="500"/>
                                        <p:tgtEl>
                                          <p:spTgt spid="2275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5332" grpId="0"/>
      <p:bldP spid="2275343" grpId="0"/>
      <p:bldP spid="2275344" grpId="0"/>
      <p:bldP spid="2275345" grpId="0"/>
      <p:bldP spid="2275346" grpId="0"/>
      <p:bldP spid="227534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0046" name="Text Box 14"/>
          <p:cNvSpPr txBox="1"/>
          <p:nvPr/>
        </p:nvSpPr>
        <p:spPr>
          <a:xfrm>
            <a:off x="796925" y="1916113"/>
            <a:ext cx="259715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7. </a:t>
            </a:r>
            <a:r>
              <a:rPr lang="zh-CN" altLang="en-US" b="1" dirty="0">
                <a:solidFill>
                  <a:srgbClr val="FF0000"/>
                </a:solidFill>
                <a:latin typeface="Times New Roman" panose="02020603050405020304" pitchFamily="18" charset="0"/>
              </a:rPr>
              <a:t>屏幕显示 </a:t>
            </a:r>
            <a:endParaRPr lang="zh-CN" altLang="en-US" b="1" dirty="0">
              <a:solidFill>
                <a:srgbClr val="FF0000"/>
              </a:solidFill>
              <a:latin typeface="Times New Roman" panose="02020603050405020304" pitchFamily="18" charset="0"/>
            </a:endParaRPr>
          </a:p>
        </p:txBody>
      </p:sp>
      <p:sp>
        <p:nvSpPr>
          <p:cNvPr id="2220047" name="Text Box 15"/>
          <p:cNvSpPr txBox="1"/>
          <p:nvPr/>
        </p:nvSpPr>
        <p:spPr>
          <a:xfrm>
            <a:off x="1763713" y="2528888"/>
            <a:ext cx="6577012" cy="519112"/>
          </a:xfrm>
          <a:prstGeom prst="rect">
            <a:avLst/>
          </a:prstGeom>
          <a:noFill/>
          <a:ln w="9525">
            <a:noFill/>
          </a:ln>
        </p:spPr>
        <p:txBody>
          <a:bodyPr>
            <a:spAutoFit/>
          </a:bodyPr>
          <a:p>
            <a:pPr eaLnBrk="1" hangingPunct="1"/>
            <a:r>
              <a:rPr lang="zh-CN" altLang="en-US" sz="2800" b="1" dirty="0">
                <a:solidFill>
                  <a:schemeClr val="tx1"/>
                </a:solidFill>
                <a:latin typeface="楷体_GB2312" pitchFamily="49" charset="-122"/>
              </a:rPr>
              <a:t>将数字、图形、图表等显示在屏幕上。 </a:t>
            </a:r>
            <a:endParaRPr lang="zh-CN" altLang="en-US" sz="2800" b="1" dirty="0">
              <a:solidFill>
                <a:schemeClr val="tx1"/>
              </a:solidFill>
              <a:latin typeface="楷体_GB2312" pitchFamily="49" charset="-122"/>
            </a:endParaRPr>
          </a:p>
        </p:txBody>
      </p:sp>
      <p:sp>
        <p:nvSpPr>
          <p:cNvPr id="2220050" name="Text Box 1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7378" name="Text Box 2"/>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8134" name="Text Box 3"/>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pic>
        <p:nvPicPr>
          <p:cNvPr id="2277382" name="Picture 6"/>
          <p:cNvPicPr>
            <a:picLocks noChangeAspect="1"/>
          </p:cNvPicPr>
          <p:nvPr/>
        </p:nvPicPr>
        <p:blipFill>
          <a:blip r:embed="rId1"/>
          <a:stretch>
            <a:fillRect/>
          </a:stretch>
        </p:blipFill>
        <p:spPr>
          <a:xfrm>
            <a:off x="1031875" y="3105150"/>
            <a:ext cx="7177088" cy="3043238"/>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0046"/>
                                        </p:tgtEl>
                                        <p:attrNameLst>
                                          <p:attrName>style.visibility</p:attrName>
                                        </p:attrNameLst>
                                      </p:cBhvr>
                                      <p:to>
                                        <p:strVal val="visible"/>
                                      </p:to>
                                    </p:set>
                                    <p:animEffect transition="in" filter="dissolve">
                                      <p:cBhvr>
                                        <p:cTn id="7" dur="500"/>
                                        <p:tgtEl>
                                          <p:spTgt spid="222004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0047"/>
                                        </p:tgtEl>
                                        <p:attrNameLst>
                                          <p:attrName>style.visibility</p:attrName>
                                        </p:attrNameLst>
                                      </p:cBhvr>
                                      <p:to>
                                        <p:strVal val="visible"/>
                                      </p:to>
                                    </p:set>
                                    <p:animEffect transition="in" filter="dissolve">
                                      <p:cBhvr>
                                        <p:cTn id="12" dur="500"/>
                                        <p:tgtEl>
                                          <p:spTgt spid="222004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77382"/>
                                        </p:tgtEl>
                                        <p:attrNameLst>
                                          <p:attrName>style.visibility</p:attrName>
                                        </p:attrNameLst>
                                      </p:cBhvr>
                                      <p:to>
                                        <p:strVal val="visible"/>
                                      </p:to>
                                    </p:set>
                                    <p:animEffect transition="in" filter="dissolve">
                                      <p:cBhvr>
                                        <p:cTn id="17" dur="500"/>
                                        <p:tgtEl>
                                          <p:spTgt spid="22773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0046" grpId="0"/>
      <p:bldP spid="222004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8404" name="Text Box 4"/>
          <p:cNvSpPr txBox="1"/>
          <p:nvPr/>
        </p:nvSpPr>
        <p:spPr>
          <a:xfrm>
            <a:off x="490538" y="1952625"/>
            <a:ext cx="25908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8. </a:t>
            </a:r>
            <a:r>
              <a:rPr lang="zh-CN" altLang="en-US" b="1" dirty="0">
                <a:solidFill>
                  <a:srgbClr val="FF0000"/>
                </a:solidFill>
                <a:latin typeface="Times New Roman" panose="02020603050405020304" pitchFamily="18" charset="0"/>
              </a:rPr>
              <a:t>数据存储 </a:t>
            </a:r>
            <a:endParaRPr lang="zh-CN" altLang="en-US" b="1" dirty="0">
              <a:solidFill>
                <a:srgbClr val="FF0000"/>
              </a:solidFill>
              <a:latin typeface="Times New Roman" panose="02020603050405020304" pitchFamily="18" charset="0"/>
            </a:endParaRPr>
          </a:p>
        </p:txBody>
      </p:sp>
      <p:sp>
        <p:nvSpPr>
          <p:cNvPr id="2278405" name="Text Box 5"/>
          <p:cNvSpPr txBox="1"/>
          <p:nvPr/>
        </p:nvSpPr>
        <p:spPr>
          <a:xfrm>
            <a:off x="1416050" y="2544763"/>
            <a:ext cx="7116763" cy="519112"/>
          </a:xfrm>
          <a:prstGeom prst="rect">
            <a:avLst/>
          </a:prstGeom>
          <a:noFill/>
          <a:ln w="9525">
            <a:noFill/>
          </a:ln>
        </p:spPr>
        <p:txBody>
          <a:bodyPr>
            <a:spAutoFit/>
          </a:bodyPr>
          <a:p>
            <a:pPr eaLnBrk="1" hangingPunct="1"/>
            <a:r>
              <a:rPr lang="zh-CN" altLang="en-US" sz="2800" b="1" dirty="0">
                <a:solidFill>
                  <a:schemeClr val="tx1"/>
                </a:solidFill>
                <a:latin typeface="楷体_GB2312" pitchFamily="49" charset="-122"/>
              </a:rPr>
              <a:t>按时间间隔，将数据存储在外部存储器。</a:t>
            </a:r>
            <a:endParaRPr lang="zh-CN" altLang="en-US" sz="2800" b="1" dirty="0">
              <a:solidFill>
                <a:schemeClr val="tx1"/>
              </a:solidFill>
              <a:latin typeface="楷体_GB2312" pitchFamily="49" charset="-122"/>
            </a:endParaRPr>
          </a:p>
        </p:txBody>
      </p:sp>
      <p:sp>
        <p:nvSpPr>
          <p:cNvPr id="2278406" name="Text Box 6"/>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8407" name="Text Box 7"/>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9158" name="Text Box 8"/>
          <p:cNvSpPr txBox="1"/>
          <p:nvPr/>
        </p:nvSpPr>
        <p:spPr>
          <a:xfrm>
            <a:off x="488950" y="1125538"/>
            <a:ext cx="5803900" cy="641350"/>
          </a:xfrm>
          <a:prstGeom prst="rect">
            <a:avLst/>
          </a:prstGeom>
          <a:solidFill>
            <a:srgbClr val="99CCFF"/>
          </a:solidFill>
          <a:ln w="9525">
            <a:noFill/>
          </a:ln>
        </p:spPr>
        <p:txBody>
          <a:bodyPr wrap="none">
            <a:spAutoFit/>
          </a:bodyPr>
          <a:p>
            <a:pPr eaLnBrk="1" hangingPunct="1"/>
            <a:r>
              <a:rPr lang="zh-CN" altLang="en-US" b="1" dirty="0">
                <a:latin typeface="Times New Roman" panose="02020603050405020304" pitchFamily="18" charset="0"/>
              </a:rPr>
              <a:t>数据采集系统具有的功能： </a:t>
            </a:r>
            <a:endParaRPr lang="zh-CN" altLang="en-US" b="1" dirty="0">
              <a:latin typeface="Times New Roman" panose="02020603050405020304" pitchFamily="18" charset="0"/>
            </a:endParaRPr>
          </a:p>
        </p:txBody>
      </p:sp>
      <p:sp>
        <p:nvSpPr>
          <p:cNvPr id="2278410" name="Text Box 10"/>
          <p:cNvSpPr txBox="1"/>
          <p:nvPr/>
        </p:nvSpPr>
        <p:spPr>
          <a:xfrm>
            <a:off x="493713" y="3141663"/>
            <a:ext cx="2476500"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9. </a:t>
            </a:r>
            <a:r>
              <a:rPr lang="zh-CN" altLang="en-US" b="1" dirty="0">
                <a:solidFill>
                  <a:srgbClr val="FF0000"/>
                </a:solidFill>
                <a:latin typeface="Times New Roman" panose="02020603050405020304" pitchFamily="18" charset="0"/>
              </a:rPr>
              <a:t>打印输出</a:t>
            </a:r>
            <a:endParaRPr lang="zh-CN" altLang="en-US" b="1" dirty="0">
              <a:solidFill>
                <a:srgbClr val="FF0000"/>
              </a:solidFill>
              <a:latin typeface="Times New Roman" panose="02020603050405020304" pitchFamily="18" charset="0"/>
            </a:endParaRPr>
          </a:p>
        </p:txBody>
      </p:sp>
      <p:sp>
        <p:nvSpPr>
          <p:cNvPr id="2278411" name="Text Box 11"/>
          <p:cNvSpPr txBox="1"/>
          <p:nvPr/>
        </p:nvSpPr>
        <p:spPr>
          <a:xfrm>
            <a:off x="1403350" y="3790950"/>
            <a:ext cx="6359525" cy="519113"/>
          </a:xfrm>
          <a:prstGeom prst="rect">
            <a:avLst/>
          </a:prstGeom>
          <a:noFill/>
          <a:ln w="9525">
            <a:noFill/>
          </a:ln>
        </p:spPr>
        <p:txBody>
          <a:bodyPr>
            <a:spAutoFit/>
          </a:bodyPr>
          <a:p>
            <a:pPr eaLnBrk="1" hangingPunct="1"/>
            <a:r>
              <a:rPr lang="zh-CN" altLang="en-US" sz="2800" b="1" dirty="0">
                <a:solidFill>
                  <a:schemeClr val="tx1"/>
                </a:solidFill>
                <a:latin typeface="楷体_GB2312" pitchFamily="49" charset="-122"/>
              </a:rPr>
              <a:t>按时间间隔，打印输出数字、图形。 </a:t>
            </a:r>
            <a:endParaRPr lang="zh-CN" altLang="en-US" sz="2800" b="1" dirty="0">
              <a:solidFill>
                <a:schemeClr val="tx1"/>
              </a:solidFill>
              <a:latin typeface="楷体_GB2312" pitchFamily="49" charset="-122"/>
            </a:endParaRPr>
          </a:p>
        </p:txBody>
      </p:sp>
      <p:sp>
        <p:nvSpPr>
          <p:cNvPr id="2278412" name="Text Box 12"/>
          <p:cNvSpPr txBox="1"/>
          <p:nvPr/>
        </p:nvSpPr>
        <p:spPr>
          <a:xfrm>
            <a:off x="493713" y="4408488"/>
            <a:ext cx="3709987" cy="641350"/>
          </a:xfrm>
          <a:prstGeom prst="rect">
            <a:avLst/>
          </a:prstGeom>
          <a:noFill/>
          <a:ln w="9525">
            <a:noFill/>
          </a:ln>
        </p:spPr>
        <p:txBody>
          <a:bodyPr>
            <a:spAutoFit/>
          </a:bodyPr>
          <a:p>
            <a:pPr eaLnBrk="1" hangingPunct="1"/>
            <a:r>
              <a:rPr lang="en-US" altLang="zh-CN" b="1" dirty="0">
                <a:solidFill>
                  <a:srgbClr val="FF0000"/>
                </a:solidFill>
                <a:latin typeface="Times New Roman" panose="02020603050405020304" pitchFamily="18" charset="0"/>
              </a:rPr>
              <a:t>10. </a:t>
            </a:r>
            <a:r>
              <a:rPr lang="zh-CN" altLang="en-US" b="1" dirty="0">
                <a:solidFill>
                  <a:srgbClr val="FF0000"/>
                </a:solidFill>
                <a:latin typeface="Times New Roman" panose="02020603050405020304" pitchFamily="18" charset="0"/>
              </a:rPr>
              <a:t>人机联系</a:t>
            </a:r>
            <a:endParaRPr lang="zh-CN" altLang="en-US" b="1" dirty="0">
              <a:solidFill>
                <a:srgbClr val="FF0000"/>
              </a:solidFill>
              <a:latin typeface="Times New Roman" panose="02020603050405020304" pitchFamily="18" charset="0"/>
            </a:endParaRPr>
          </a:p>
        </p:txBody>
      </p:sp>
      <p:sp>
        <p:nvSpPr>
          <p:cNvPr id="2278413" name="Text Box 13"/>
          <p:cNvSpPr txBox="1"/>
          <p:nvPr/>
        </p:nvSpPr>
        <p:spPr>
          <a:xfrm>
            <a:off x="1416050" y="5038725"/>
            <a:ext cx="6769100" cy="946150"/>
          </a:xfrm>
          <a:prstGeom prst="rect">
            <a:avLst/>
          </a:prstGeom>
          <a:noFill/>
          <a:ln w="9525">
            <a:noFill/>
          </a:ln>
        </p:spPr>
        <p:txBody>
          <a:bodyPr>
            <a:spAutoFit/>
          </a:bodyPr>
          <a:p>
            <a:pPr eaLnBrk="1" hangingPunct="1"/>
            <a:r>
              <a:rPr lang="zh-CN" altLang="en-US" sz="2800" b="1" dirty="0">
                <a:solidFill>
                  <a:schemeClr val="tx1"/>
                </a:solidFill>
                <a:latin typeface="楷体_GB2312" pitchFamily="49" charset="-122"/>
              </a:rPr>
              <a:t>操作人员用键盘或鼠标与系统对话，完成运行方式、采样周期等参数的设置。 </a:t>
            </a:r>
            <a:endParaRPr lang="zh-CN" altLang="en-US" sz="2800" b="1" dirty="0">
              <a:solidFill>
                <a:schemeClr val="tx1"/>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8404"/>
                                        </p:tgtEl>
                                        <p:attrNameLst>
                                          <p:attrName>style.visibility</p:attrName>
                                        </p:attrNameLst>
                                      </p:cBhvr>
                                      <p:to>
                                        <p:strVal val="visible"/>
                                      </p:to>
                                    </p:set>
                                    <p:animEffect transition="in" filter="dissolve">
                                      <p:cBhvr>
                                        <p:cTn id="7" dur="500"/>
                                        <p:tgtEl>
                                          <p:spTgt spid="227840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8405"/>
                                        </p:tgtEl>
                                        <p:attrNameLst>
                                          <p:attrName>style.visibility</p:attrName>
                                        </p:attrNameLst>
                                      </p:cBhvr>
                                      <p:to>
                                        <p:strVal val="visible"/>
                                      </p:to>
                                    </p:set>
                                    <p:animEffect transition="in" filter="dissolve">
                                      <p:cBhvr>
                                        <p:cTn id="12" dur="500"/>
                                        <p:tgtEl>
                                          <p:spTgt spid="227840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8410"/>
                                        </p:tgtEl>
                                        <p:attrNameLst>
                                          <p:attrName>style.visibility</p:attrName>
                                        </p:attrNameLst>
                                      </p:cBhvr>
                                      <p:to>
                                        <p:strVal val="visible"/>
                                      </p:to>
                                    </p:set>
                                    <p:animEffect transition="in" filter="dissolve">
                                      <p:cBhvr>
                                        <p:cTn id="17" dur="500"/>
                                        <p:tgtEl>
                                          <p:spTgt spid="227841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78411"/>
                                        </p:tgtEl>
                                        <p:attrNameLst>
                                          <p:attrName>style.visibility</p:attrName>
                                        </p:attrNameLst>
                                      </p:cBhvr>
                                      <p:to>
                                        <p:strVal val="visible"/>
                                      </p:to>
                                    </p:set>
                                    <p:animEffect transition="in" filter="dissolve">
                                      <p:cBhvr>
                                        <p:cTn id="22" dur="500"/>
                                        <p:tgtEl>
                                          <p:spTgt spid="22784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78412"/>
                                        </p:tgtEl>
                                        <p:attrNameLst>
                                          <p:attrName>style.visibility</p:attrName>
                                        </p:attrNameLst>
                                      </p:cBhvr>
                                      <p:to>
                                        <p:strVal val="visible"/>
                                      </p:to>
                                    </p:set>
                                    <p:animEffect transition="in" filter="dissolve">
                                      <p:cBhvr>
                                        <p:cTn id="27" dur="500"/>
                                        <p:tgtEl>
                                          <p:spTgt spid="227841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78413"/>
                                        </p:tgtEl>
                                        <p:attrNameLst>
                                          <p:attrName>style.visibility</p:attrName>
                                        </p:attrNameLst>
                                      </p:cBhvr>
                                      <p:to>
                                        <p:strVal val="visible"/>
                                      </p:to>
                                    </p:set>
                                    <p:animEffect transition="in" filter="dissolve">
                                      <p:cBhvr>
                                        <p:cTn id="32" dur="500"/>
                                        <p:tgtEl>
                                          <p:spTgt spid="22784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8404" grpId="0"/>
      <p:bldP spid="2278405" grpId="0"/>
      <p:bldP spid="2278410" grpId="0"/>
      <p:bldP spid="2278411" grpId="0"/>
      <p:bldP spid="2278412" grpId="0"/>
      <p:bldP spid="227841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0050" name="Text Box 1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7378" name="Text Box 2"/>
          <p:cNvSpPr txBox="1">
            <a:spLocks noChangeArrowheads="1"/>
          </p:cNvSpPr>
          <p:nvPr/>
        </p:nvSpPr>
        <p:spPr bwMode="auto">
          <a:xfrm>
            <a:off x="1258888" y="225425"/>
            <a:ext cx="6916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1.3</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数据采集系统的基本功能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59397" name="Text Box 3"/>
          <p:cNvSpPr txBox="1"/>
          <p:nvPr/>
        </p:nvSpPr>
        <p:spPr>
          <a:xfrm>
            <a:off x="488950" y="1125538"/>
            <a:ext cx="5883275" cy="641350"/>
          </a:xfrm>
          <a:prstGeom prst="rect">
            <a:avLst/>
          </a:prstGeom>
          <a:solidFill>
            <a:srgbClr val="99CCFF"/>
          </a:solidFill>
          <a:ln w="9525">
            <a:noFill/>
          </a:ln>
        </p:spPr>
        <p:txBody>
          <a:bodyPr>
            <a:spAutoFit/>
          </a:bodyPr>
          <a:p>
            <a:pPr eaLnBrk="1" hangingPunct="1"/>
            <a:r>
              <a:rPr lang="zh-CN" altLang="en-US" b="1" dirty="0">
                <a:latin typeface="Times New Roman" panose="02020603050405020304" pitchFamily="18" charset="0"/>
              </a:rPr>
              <a:t>典型数据采集系统：示波器</a:t>
            </a:r>
            <a:endParaRPr lang="zh-CN" altLang="en-US" b="1" dirty="0">
              <a:latin typeface="Times New Roman" panose="02020603050405020304" pitchFamily="18" charset="0"/>
            </a:endParaRPr>
          </a:p>
        </p:txBody>
      </p:sp>
      <p:sp>
        <p:nvSpPr>
          <p:cNvPr id="2254859" name="Text Box 11"/>
          <p:cNvSpPr txBox="1"/>
          <p:nvPr/>
        </p:nvSpPr>
        <p:spPr>
          <a:xfrm>
            <a:off x="431800" y="2241550"/>
            <a:ext cx="4860925" cy="3341688"/>
          </a:xfrm>
          <a:prstGeom prst="rect">
            <a:avLst/>
          </a:prstGeom>
          <a:noFill/>
          <a:ln w="9525">
            <a:noFill/>
          </a:ln>
        </p:spPr>
        <p:txBody>
          <a:bodyPr>
            <a:spAutoFit/>
          </a:bodyPr>
          <a:p>
            <a:pPr marL="685800" indent="-685800" eaLnBrk="1" hangingPunct="1">
              <a:lnSpc>
                <a:spcPct val="110000"/>
              </a:lnSpc>
            </a:pPr>
            <a:r>
              <a:rPr lang="en-US" altLang="zh-CN" sz="2400" b="1" dirty="0">
                <a:solidFill>
                  <a:srgbClr val="FF0000"/>
                </a:solidFill>
                <a:latin typeface="Times New Roman" panose="02020603050405020304" pitchFamily="18" charset="0"/>
              </a:rPr>
              <a:t>1. </a:t>
            </a:r>
            <a:r>
              <a:rPr lang="zh-CN" altLang="en-US" sz="2400" b="1" dirty="0">
                <a:solidFill>
                  <a:srgbClr val="FF0000"/>
                </a:solidFill>
                <a:latin typeface="Times New Roman" panose="02020603050405020304" pitchFamily="18" charset="0"/>
              </a:rPr>
              <a:t>模拟信号处理：信号调理通道</a:t>
            </a:r>
            <a:endParaRPr lang="zh-CN" altLang="en-US"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2. </a:t>
            </a:r>
            <a:r>
              <a:rPr lang="zh-CN" altLang="en-US" sz="2400" b="1" dirty="0">
                <a:solidFill>
                  <a:srgbClr val="FF0000"/>
                </a:solidFill>
                <a:latin typeface="Times New Roman" panose="02020603050405020304" pitchFamily="18" charset="0"/>
              </a:rPr>
              <a:t>采集数据：</a:t>
            </a:r>
            <a:r>
              <a:rPr lang="en-US" altLang="zh-CN" sz="2400" b="1" dirty="0">
                <a:solidFill>
                  <a:srgbClr val="FF0000"/>
                </a:solidFill>
                <a:latin typeface="Times New Roman" panose="02020603050405020304" pitchFamily="18" charset="0"/>
              </a:rPr>
              <a:t>ADC</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FPGA</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3.</a:t>
            </a:r>
            <a:r>
              <a:rPr lang="zh-CN" altLang="en-US" sz="2400" b="1" dirty="0">
                <a:solidFill>
                  <a:srgbClr val="FF0000"/>
                </a:solidFill>
                <a:latin typeface="Times New Roman" panose="02020603050405020304" pitchFamily="18" charset="0"/>
              </a:rPr>
              <a:t>数字信号处理：</a:t>
            </a:r>
            <a:r>
              <a:rPr lang="en-US" altLang="zh-CN" sz="2400" b="1" dirty="0">
                <a:solidFill>
                  <a:srgbClr val="FF0000"/>
                </a:solidFill>
                <a:latin typeface="Times New Roman" panose="02020603050405020304" pitchFamily="18" charset="0"/>
              </a:rPr>
              <a:t>FPGA</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DSP</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4.</a:t>
            </a:r>
            <a:r>
              <a:rPr lang="zh-CN" altLang="en-US" sz="2400" b="1" dirty="0">
                <a:solidFill>
                  <a:srgbClr val="FF0000"/>
                </a:solidFill>
                <a:latin typeface="Times New Roman" panose="02020603050405020304" pitchFamily="18" charset="0"/>
              </a:rPr>
              <a:t>二次数据计算：</a:t>
            </a:r>
            <a:r>
              <a:rPr lang="en-US" altLang="zh-CN" sz="2400" b="1" dirty="0">
                <a:solidFill>
                  <a:srgbClr val="FF0000"/>
                </a:solidFill>
                <a:latin typeface="Times New Roman" panose="02020603050405020304" pitchFamily="18" charset="0"/>
              </a:rPr>
              <a:t>DSP</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PC</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5. </a:t>
            </a:r>
            <a:r>
              <a:rPr lang="zh-CN" altLang="en-US" sz="2400" b="1" dirty="0">
                <a:solidFill>
                  <a:srgbClr val="FF0000"/>
                </a:solidFill>
                <a:latin typeface="Times New Roman" panose="02020603050405020304" pitchFamily="18" charset="0"/>
              </a:rPr>
              <a:t>数据存储：</a:t>
            </a:r>
            <a:r>
              <a:rPr lang="en-US" altLang="zh-CN" sz="2400" b="1" dirty="0">
                <a:solidFill>
                  <a:srgbClr val="FF0000"/>
                </a:solidFill>
                <a:latin typeface="Times New Roman" panose="02020603050405020304" pitchFamily="18" charset="0"/>
              </a:rPr>
              <a:t>SDRAM</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DDR </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6. </a:t>
            </a:r>
            <a:r>
              <a:rPr lang="zh-CN" altLang="en-US" sz="2400" b="1" dirty="0">
                <a:solidFill>
                  <a:srgbClr val="FF0000"/>
                </a:solidFill>
                <a:latin typeface="Times New Roman" panose="02020603050405020304" pitchFamily="18" charset="0"/>
              </a:rPr>
              <a:t>屏幕显示：</a:t>
            </a:r>
            <a:r>
              <a:rPr lang="en-US" altLang="zh-CN" sz="2400" b="1" dirty="0">
                <a:solidFill>
                  <a:srgbClr val="FF0000"/>
                </a:solidFill>
                <a:latin typeface="Times New Roman" panose="02020603050405020304" pitchFamily="18" charset="0"/>
              </a:rPr>
              <a:t>LCD</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PC</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7. </a:t>
            </a:r>
            <a:r>
              <a:rPr lang="zh-CN" altLang="en-US" sz="2400" b="1" dirty="0">
                <a:solidFill>
                  <a:srgbClr val="FF0000"/>
                </a:solidFill>
                <a:latin typeface="Times New Roman" panose="02020603050405020304" pitchFamily="18" charset="0"/>
              </a:rPr>
              <a:t>打印输出：</a:t>
            </a:r>
            <a:r>
              <a:rPr lang="en-US" altLang="zh-CN" sz="2400" b="1" dirty="0">
                <a:solidFill>
                  <a:srgbClr val="FF0000"/>
                </a:solidFill>
                <a:latin typeface="Times New Roman" panose="02020603050405020304" pitchFamily="18" charset="0"/>
              </a:rPr>
              <a:t>USB</a:t>
            </a:r>
            <a:r>
              <a:rPr lang="zh-CN" altLang="en-US"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rPr>
              <a:t>SD CARD</a:t>
            </a:r>
            <a:endParaRPr lang="en-US" altLang="zh-CN" sz="2400" b="1" dirty="0">
              <a:solidFill>
                <a:srgbClr val="FF0000"/>
              </a:solidFill>
              <a:latin typeface="Times New Roman" panose="02020603050405020304" pitchFamily="18" charset="0"/>
            </a:endParaRPr>
          </a:p>
          <a:p>
            <a:pPr marL="685800" indent="-685800" eaLnBrk="1" hangingPunct="1">
              <a:lnSpc>
                <a:spcPct val="110000"/>
              </a:lnSpc>
            </a:pPr>
            <a:r>
              <a:rPr lang="en-US" altLang="zh-CN" sz="2400" b="1" dirty="0">
                <a:solidFill>
                  <a:srgbClr val="FF0000"/>
                </a:solidFill>
                <a:latin typeface="Times New Roman" panose="02020603050405020304" pitchFamily="18" charset="0"/>
              </a:rPr>
              <a:t>8. </a:t>
            </a:r>
            <a:r>
              <a:rPr lang="zh-CN" altLang="en-US" sz="2400" b="1" dirty="0">
                <a:solidFill>
                  <a:srgbClr val="FF0000"/>
                </a:solidFill>
                <a:latin typeface="Times New Roman" panose="02020603050405020304" pitchFamily="18" charset="0"/>
              </a:rPr>
              <a:t>人机联系：键盘、鼠标、触摸屏</a:t>
            </a:r>
            <a:endParaRPr lang="zh-CN" altLang="en-US" sz="2400" b="1" dirty="0">
              <a:solidFill>
                <a:srgbClr val="FF0000"/>
              </a:solidFill>
              <a:latin typeface="Times New Roman" panose="02020603050405020304" pitchFamily="18" charset="0"/>
            </a:endParaRPr>
          </a:p>
        </p:txBody>
      </p:sp>
      <p:pic>
        <p:nvPicPr>
          <p:cNvPr id="59399" name="Picture 7" descr="UTD8202C"/>
          <p:cNvPicPr>
            <a:picLocks noChangeAspect="1"/>
          </p:cNvPicPr>
          <p:nvPr/>
        </p:nvPicPr>
        <p:blipFill>
          <a:blip r:embed="rId1"/>
          <a:stretch>
            <a:fillRect/>
          </a:stretch>
        </p:blipFill>
        <p:spPr>
          <a:xfrm>
            <a:off x="5083175" y="2492375"/>
            <a:ext cx="3773488" cy="2944813"/>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397"/>
                                        </p:tgtEl>
                                        <p:attrNameLst>
                                          <p:attrName>style.visibility</p:attrName>
                                        </p:attrNameLst>
                                      </p:cBhvr>
                                      <p:to>
                                        <p:strVal val="visible"/>
                                      </p:to>
                                    </p:set>
                                    <p:animEffect transition="in" filter="dissolve">
                                      <p:cBhvr>
                                        <p:cTn id="7" dur="500"/>
                                        <p:tgtEl>
                                          <p:spTgt spid="5939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59399"/>
                                        </p:tgtEl>
                                        <p:attrNameLst>
                                          <p:attrName>style.visibility</p:attrName>
                                        </p:attrNameLst>
                                      </p:cBhvr>
                                      <p:to>
                                        <p:strVal val="visible"/>
                                      </p:to>
                                    </p:set>
                                    <p:animEffect transition="in" filter="dissolve">
                                      <p:cBhvr>
                                        <p:cTn id="11" dur="500"/>
                                        <p:tgtEl>
                                          <p:spTgt spid="5939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254859">
                                            <p:txEl>
                                              <p:charRg st="0" end="17"/>
                                            </p:txEl>
                                          </p:spTgt>
                                        </p:tgtEl>
                                        <p:attrNameLst>
                                          <p:attrName>style.visibility</p:attrName>
                                        </p:attrNameLst>
                                      </p:cBhvr>
                                      <p:to>
                                        <p:strVal val="visible"/>
                                      </p:to>
                                    </p:set>
                                    <p:animEffect transition="in" filter="dissolve">
                                      <p:cBhvr>
                                        <p:cTn id="16" dur="500"/>
                                        <p:tgtEl>
                                          <p:spTgt spid="2254859">
                                            <p:txEl>
                                              <p:charRg st="0" end="17"/>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254859">
                                            <p:txEl>
                                              <p:charRg st="17" end="34"/>
                                            </p:txEl>
                                          </p:spTgt>
                                        </p:tgtEl>
                                        <p:attrNameLst>
                                          <p:attrName>style.visibility</p:attrName>
                                        </p:attrNameLst>
                                      </p:cBhvr>
                                      <p:to>
                                        <p:strVal val="visible"/>
                                      </p:to>
                                    </p:set>
                                    <p:animEffect transition="in" filter="dissolve">
                                      <p:cBhvr>
                                        <p:cTn id="21" dur="500"/>
                                        <p:tgtEl>
                                          <p:spTgt spid="2254859">
                                            <p:txEl>
                                              <p:charRg st="17" end="3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54859">
                                            <p:txEl>
                                              <p:charRg st="34" end="52"/>
                                            </p:txEl>
                                          </p:spTgt>
                                        </p:tgtEl>
                                        <p:attrNameLst>
                                          <p:attrName>style.visibility</p:attrName>
                                        </p:attrNameLst>
                                      </p:cBhvr>
                                      <p:to>
                                        <p:strVal val="visible"/>
                                      </p:to>
                                    </p:set>
                                    <p:animEffect transition="in" filter="dissolve">
                                      <p:cBhvr>
                                        <p:cTn id="26" dur="500"/>
                                        <p:tgtEl>
                                          <p:spTgt spid="2254859">
                                            <p:txEl>
                                              <p:charRg st="34" end="5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254859">
                                            <p:txEl>
                                              <p:charRg st="52" end="68"/>
                                            </p:txEl>
                                          </p:spTgt>
                                        </p:tgtEl>
                                        <p:attrNameLst>
                                          <p:attrName>style.visibility</p:attrName>
                                        </p:attrNameLst>
                                      </p:cBhvr>
                                      <p:to>
                                        <p:strVal val="visible"/>
                                      </p:to>
                                    </p:set>
                                    <p:animEffect transition="in" filter="dissolve">
                                      <p:cBhvr>
                                        <p:cTn id="31" dur="500"/>
                                        <p:tgtEl>
                                          <p:spTgt spid="2254859">
                                            <p:txEl>
                                              <p:charRg st="52" end="68"/>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4859">
                                            <p:txEl>
                                              <p:charRg st="68" end="87"/>
                                            </p:txEl>
                                          </p:spTgt>
                                        </p:tgtEl>
                                        <p:attrNameLst>
                                          <p:attrName>style.visibility</p:attrName>
                                        </p:attrNameLst>
                                      </p:cBhvr>
                                      <p:to>
                                        <p:strVal val="visible"/>
                                      </p:to>
                                    </p:set>
                                    <p:animEffect transition="in" filter="dissolve">
                                      <p:cBhvr>
                                        <p:cTn id="36" dur="500"/>
                                        <p:tgtEl>
                                          <p:spTgt spid="2254859">
                                            <p:txEl>
                                              <p:charRg st="68" end="87"/>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254859">
                                            <p:txEl>
                                              <p:charRg st="87" end="102"/>
                                            </p:txEl>
                                          </p:spTgt>
                                        </p:tgtEl>
                                        <p:attrNameLst>
                                          <p:attrName>style.visibility</p:attrName>
                                        </p:attrNameLst>
                                      </p:cBhvr>
                                      <p:to>
                                        <p:strVal val="visible"/>
                                      </p:to>
                                    </p:set>
                                    <p:animEffect transition="in" filter="dissolve">
                                      <p:cBhvr>
                                        <p:cTn id="41" dur="500"/>
                                        <p:tgtEl>
                                          <p:spTgt spid="2254859">
                                            <p:txEl>
                                              <p:charRg st="87" end="102"/>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2254859">
                                            <p:txEl>
                                              <p:charRg st="102" end="122"/>
                                            </p:txEl>
                                          </p:spTgt>
                                        </p:tgtEl>
                                        <p:attrNameLst>
                                          <p:attrName>style.visibility</p:attrName>
                                        </p:attrNameLst>
                                      </p:cBhvr>
                                      <p:to>
                                        <p:strVal val="visible"/>
                                      </p:to>
                                    </p:set>
                                    <p:animEffect transition="in" filter="dissolve">
                                      <p:cBhvr>
                                        <p:cTn id="46" dur="500"/>
                                        <p:tgtEl>
                                          <p:spTgt spid="2254859">
                                            <p:txEl>
                                              <p:charRg st="102" end="122"/>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2254859">
                                            <p:txEl>
                                              <p:charRg st="122" end="140"/>
                                            </p:txEl>
                                          </p:spTgt>
                                        </p:tgtEl>
                                        <p:attrNameLst>
                                          <p:attrName>style.visibility</p:attrName>
                                        </p:attrNameLst>
                                      </p:cBhvr>
                                      <p:to>
                                        <p:strVal val="visible"/>
                                      </p:to>
                                    </p:set>
                                    <p:animEffect transition="in" filter="dissolve">
                                      <p:cBhvr>
                                        <p:cTn id="51" dur="500"/>
                                        <p:tgtEl>
                                          <p:spTgt spid="2254859">
                                            <p:txEl>
                                              <p:charRg st="122" end="14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7" grpId="0" animBg="1"/>
      <p:bldP spid="2254859"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2086" name="Text Box 6"/>
          <p:cNvSpPr txBox="1">
            <a:spLocks noChangeArrowheads="1"/>
          </p:cNvSpPr>
          <p:nvPr/>
        </p:nvSpPr>
        <p:spPr bwMode="auto">
          <a:xfrm>
            <a:off x="1327150" y="115888"/>
            <a:ext cx="6831013"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22087" name="Text Box 7"/>
          <p:cNvSpPr txBox="1"/>
          <p:nvPr/>
        </p:nvSpPr>
        <p:spPr>
          <a:xfrm>
            <a:off x="900113" y="1125538"/>
            <a:ext cx="2484437" cy="641350"/>
          </a:xfrm>
          <a:prstGeom prst="rect">
            <a:avLst/>
          </a:prstGeom>
          <a:solidFill>
            <a:srgbClr val="99CCFF"/>
          </a:solidFill>
          <a:ln w="9525">
            <a:noFill/>
          </a:ln>
        </p:spPr>
        <p:txBody>
          <a:bodyPr>
            <a:spAutoFit/>
          </a:bodyPr>
          <a:p>
            <a:pPr eaLnBrk="1" hangingPunct="1"/>
            <a:r>
              <a:rPr lang="zh-CN" altLang="en-US" b="1" dirty="0">
                <a:solidFill>
                  <a:srgbClr val="3366CC"/>
                </a:solidFill>
                <a:latin typeface="楷体_GB2312" pitchFamily="49" charset="-122"/>
              </a:rPr>
              <a:t>系统组成：</a:t>
            </a:r>
            <a:endParaRPr lang="zh-CN" altLang="en-US" b="1" dirty="0">
              <a:solidFill>
                <a:srgbClr val="3366CC"/>
              </a:solidFill>
              <a:latin typeface="楷体_GB2312" pitchFamily="49" charset="-122"/>
            </a:endParaRPr>
          </a:p>
        </p:txBody>
      </p:sp>
      <p:sp>
        <p:nvSpPr>
          <p:cNvPr id="2222090" name="Text Box 10"/>
          <p:cNvSpPr txBox="1"/>
          <p:nvPr/>
        </p:nvSpPr>
        <p:spPr>
          <a:xfrm>
            <a:off x="900113" y="3581400"/>
            <a:ext cx="2484437" cy="641350"/>
          </a:xfrm>
          <a:prstGeom prst="rect">
            <a:avLst/>
          </a:prstGeom>
          <a:solidFill>
            <a:srgbClr val="99CCFF"/>
          </a:solidFill>
          <a:ln w="9525">
            <a:noFill/>
          </a:ln>
        </p:spPr>
        <p:txBody>
          <a:bodyPr>
            <a:spAutoFit/>
          </a:bodyPr>
          <a:p>
            <a:pPr eaLnBrk="1" hangingPunct="1"/>
            <a:r>
              <a:rPr lang="zh-CN" altLang="en-US" b="1" dirty="0">
                <a:solidFill>
                  <a:srgbClr val="3366CC"/>
                </a:solidFill>
                <a:latin typeface="楷体_GB2312" pitchFamily="49" charset="-122"/>
              </a:rPr>
              <a:t>结构形式：</a:t>
            </a:r>
            <a:endParaRPr lang="zh-CN" altLang="en-US" b="1" dirty="0">
              <a:solidFill>
                <a:srgbClr val="3366CC"/>
              </a:solidFill>
              <a:latin typeface="楷体_GB2312" pitchFamily="49" charset="-122"/>
            </a:endParaRPr>
          </a:p>
        </p:txBody>
      </p:sp>
      <p:sp>
        <p:nvSpPr>
          <p:cNvPr id="2222092" name="Text Box 12"/>
          <p:cNvSpPr txBox="1"/>
          <p:nvPr/>
        </p:nvSpPr>
        <p:spPr>
          <a:xfrm>
            <a:off x="2716213" y="4473575"/>
            <a:ext cx="5708650" cy="1074738"/>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微型计算机数据采集系统</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集散型数据采集系统</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22094" name="Text Box 1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23116" name="Text Box 12"/>
          <p:cNvSpPr txBox="1"/>
          <p:nvPr/>
        </p:nvSpPr>
        <p:spPr>
          <a:xfrm>
            <a:off x="2744788" y="1985963"/>
            <a:ext cx="3060700" cy="107473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硬件</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软件</a:t>
            </a:r>
            <a:endParaRPr lang="zh-CN" altLang="en-US" sz="2800" b="1"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2087"/>
                                        </p:tgtEl>
                                        <p:attrNameLst>
                                          <p:attrName>style.visibility</p:attrName>
                                        </p:attrNameLst>
                                      </p:cBhvr>
                                      <p:to>
                                        <p:strVal val="visible"/>
                                      </p:to>
                                    </p:set>
                                    <p:animEffect transition="in" filter="dissolve">
                                      <p:cBhvr>
                                        <p:cTn id="7" dur="500"/>
                                        <p:tgtEl>
                                          <p:spTgt spid="22220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3116"/>
                                        </p:tgtEl>
                                        <p:attrNameLst>
                                          <p:attrName>style.visibility</p:attrName>
                                        </p:attrNameLst>
                                      </p:cBhvr>
                                      <p:to>
                                        <p:strVal val="visible"/>
                                      </p:to>
                                    </p:set>
                                    <p:animEffect transition="in" filter="dissolve">
                                      <p:cBhvr>
                                        <p:cTn id="12" dur="500"/>
                                        <p:tgtEl>
                                          <p:spTgt spid="22231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22090"/>
                                        </p:tgtEl>
                                        <p:attrNameLst>
                                          <p:attrName>style.visibility</p:attrName>
                                        </p:attrNameLst>
                                      </p:cBhvr>
                                      <p:to>
                                        <p:strVal val="visible"/>
                                      </p:to>
                                    </p:set>
                                    <p:animEffect transition="in" filter="dissolve">
                                      <p:cBhvr>
                                        <p:cTn id="17" dur="500"/>
                                        <p:tgtEl>
                                          <p:spTgt spid="222209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22092"/>
                                        </p:tgtEl>
                                        <p:attrNameLst>
                                          <p:attrName>style.visibility</p:attrName>
                                        </p:attrNameLst>
                                      </p:cBhvr>
                                      <p:to>
                                        <p:strVal val="visible"/>
                                      </p:to>
                                    </p:set>
                                    <p:animEffect transition="in" filter="dissolve">
                                      <p:cBhvr>
                                        <p:cTn id="22" dur="500"/>
                                        <p:tgtEl>
                                          <p:spTgt spid="22220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087" grpId="0" animBg="1"/>
      <p:bldP spid="2222090" grpId="0" animBg="1"/>
      <p:bldP spid="2222092" grpId="0"/>
      <p:bldP spid="222311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6110" name="Rectangle 238"/>
          <p:cNvSpPr/>
          <p:nvPr/>
        </p:nvSpPr>
        <p:spPr>
          <a:xfrm>
            <a:off x="0" y="1600200"/>
            <a:ext cx="9144000" cy="4565650"/>
          </a:xfrm>
          <a:prstGeom prst="rect">
            <a:avLst/>
          </a:prstGeom>
          <a:solidFill>
            <a:srgbClr val="FFCC99"/>
          </a:solidFill>
          <a:ln w="9525">
            <a:noFill/>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2223110" name="Text Box 6"/>
          <p:cNvSpPr txBox="1"/>
          <p:nvPr/>
        </p:nvSpPr>
        <p:spPr>
          <a:xfrm>
            <a:off x="358775" y="908050"/>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23115" name="Text Box 11"/>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6007" name="Text Box 135"/>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 name="Group 136"/>
          <p:cNvGrpSpPr/>
          <p:nvPr/>
        </p:nvGrpSpPr>
        <p:grpSpPr>
          <a:xfrm>
            <a:off x="871538" y="1947863"/>
            <a:ext cx="925512" cy="371475"/>
            <a:chOff x="560" y="684"/>
            <a:chExt cx="551" cy="234"/>
          </a:xfrm>
        </p:grpSpPr>
        <p:sp>
          <p:nvSpPr>
            <p:cNvPr id="52330" name="Rectangle 137"/>
            <p:cNvSpPr/>
            <p:nvPr/>
          </p:nvSpPr>
          <p:spPr>
            <a:xfrm>
              <a:off x="584" y="684"/>
              <a:ext cx="493"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31" name="Text Box 138"/>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sp>
        <p:nvSpPr>
          <p:cNvPr id="2256011" name="Text Box 139"/>
          <p:cNvSpPr txBox="1"/>
          <p:nvPr/>
        </p:nvSpPr>
        <p:spPr>
          <a:xfrm>
            <a:off x="6762750" y="915988"/>
            <a:ext cx="2076450" cy="641350"/>
          </a:xfrm>
          <a:prstGeom prst="rect">
            <a:avLst/>
          </a:prstGeom>
          <a:solidFill>
            <a:srgbClr val="CCFFFF"/>
          </a:solidFill>
          <a:ln w="9525">
            <a:noFill/>
          </a:ln>
        </p:spPr>
        <p:txBody>
          <a:bodyPr>
            <a:spAutoFit/>
          </a:bodyPr>
          <a:p>
            <a:pPr eaLnBrk="1" hangingPunct="1">
              <a:lnSpc>
                <a:spcPct val="90000"/>
              </a:lnSpc>
            </a:pPr>
            <a:r>
              <a:rPr lang="zh-CN" altLang="en-US" sz="2000" b="1" dirty="0">
                <a:solidFill>
                  <a:srgbClr val="FF0000"/>
                </a:solidFill>
                <a:latin typeface="Times New Roman" panose="02020603050405020304" pitchFamily="18" charset="0"/>
                <a:ea typeface="黑体" panose="02010609060101010101" pitchFamily="49" charset="-122"/>
              </a:rPr>
              <a:t>微型计算机数据采集系统框图</a:t>
            </a:r>
            <a:endParaRPr lang="zh-CN" altLang="en-US" sz="2000" b="1" dirty="0">
              <a:solidFill>
                <a:srgbClr val="FF0000"/>
              </a:solidFill>
              <a:latin typeface="Times New Roman" panose="02020603050405020304" pitchFamily="18" charset="0"/>
              <a:ea typeface="黑体" panose="02010609060101010101" pitchFamily="49" charset="-122"/>
            </a:endParaRPr>
          </a:p>
        </p:txBody>
      </p:sp>
      <p:sp>
        <p:nvSpPr>
          <p:cNvPr id="2256012" name="Line 140"/>
          <p:cNvSpPr/>
          <p:nvPr/>
        </p:nvSpPr>
        <p:spPr>
          <a:xfrm>
            <a:off x="1744663" y="2173288"/>
            <a:ext cx="436562" cy="0"/>
          </a:xfrm>
          <a:prstGeom prst="line">
            <a:avLst/>
          </a:prstGeom>
          <a:ln w="19050" cap="flat" cmpd="sng">
            <a:solidFill>
              <a:srgbClr val="008080"/>
            </a:solidFill>
            <a:prstDash val="solid"/>
            <a:headEnd type="none" w="med" len="med"/>
            <a:tailEnd type="stealth" w="med" len="med"/>
          </a:ln>
        </p:spPr>
      </p:sp>
      <p:sp>
        <p:nvSpPr>
          <p:cNvPr id="2256013" name="Line 141"/>
          <p:cNvSpPr/>
          <p:nvPr/>
        </p:nvSpPr>
        <p:spPr>
          <a:xfrm>
            <a:off x="1738313" y="2670175"/>
            <a:ext cx="434975" cy="0"/>
          </a:xfrm>
          <a:prstGeom prst="line">
            <a:avLst/>
          </a:prstGeom>
          <a:ln w="19050" cap="flat" cmpd="sng">
            <a:solidFill>
              <a:srgbClr val="008080"/>
            </a:solidFill>
            <a:prstDash val="solid"/>
            <a:headEnd type="none" w="med" len="med"/>
            <a:tailEnd type="stealth" w="med" len="med"/>
          </a:ln>
        </p:spPr>
      </p:sp>
      <p:sp>
        <p:nvSpPr>
          <p:cNvPr id="2256014" name="Line 142"/>
          <p:cNvSpPr/>
          <p:nvPr/>
        </p:nvSpPr>
        <p:spPr>
          <a:xfrm>
            <a:off x="1746250" y="3221038"/>
            <a:ext cx="422275" cy="0"/>
          </a:xfrm>
          <a:prstGeom prst="line">
            <a:avLst/>
          </a:prstGeom>
          <a:ln w="19050" cap="flat" cmpd="sng">
            <a:solidFill>
              <a:srgbClr val="008080"/>
            </a:solidFill>
            <a:prstDash val="solid"/>
            <a:headEnd type="none" w="med" len="med"/>
            <a:tailEnd type="stealth" w="med" len="med"/>
          </a:ln>
        </p:spPr>
      </p:sp>
      <p:sp>
        <p:nvSpPr>
          <p:cNvPr id="2256015" name="Line 143"/>
          <p:cNvSpPr/>
          <p:nvPr/>
        </p:nvSpPr>
        <p:spPr>
          <a:xfrm>
            <a:off x="1733550" y="4014788"/>
            <a:ext cx="422275" cy="0"/>
          </a:xfrm>
          <a:prstGeom prst="line">
            <a:avLst/>
          </a:prstGeom>
          <a:ln w="19050" cap="flat" cmpd="sng">
            <a:solidFill>
              <a:srgbClr val="008080"/>
            </a:solidFill>
            <a:prstDash val="solid"/>
            <a:headEnd type="none" w="med" len="med"/>
            <a:tailEnd type="stealth" w="med" len="med"/>
          </a:ln>
        </p:spPr>
      </p:sp>
      <p:grpSp>
        <p:nvGrpSpPr>
          <p:cNvPr id="3" name="Group 144"/>
          <p:cNvGrpSpPr/>
          <p:nvPr/>
        </p:nvGrpSpPr>
        <p:grpSpPr>
          <a:xfrm>
            <a:off x="3449638" y="2609850"/>
            <a:ext cx="955675" cy="820738"/>
            <a:chOff x="2151" y="1101"/>
            <a:chExt cx="602" cy="517"/>
          </a:xfrm>
        </p:grpSpPr>
        <p:sp>
          <p:nvSpPr>
            <p:cNvPr id="52328" name="AutoShape 145"/>
            <p:cNvSpPr/>
            <p:nvPr/>
          </p:nvSpPr>
          <p:spPr>
            <a:xfrm rot="5400000">
              <a:off x="2216" y="1079"/>
              <a:ext cx="517" cy="558"/>
            </a:xfrm>
            <a:prstGeom prst="triangle">
              <a:avLst>
                <a:gd name="adj" fmla="val 48111"/>
              </a:avLst>
            </a:prstGeom>
            <a:solidFill>
              <a:schemeClr val="bg1"/>
            </a:solidFill>
            <a:ln w="9525" cap="flat" cmpd="sng">
              <a:solidFill>
                <a:srgbClr val="0000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29" name="Text Box 146"/>
            <p:cNvSpPr txBox="1"/>
            <p:nvPr/>
          </p:nvSpPr>
          <p:spPr>
            <a:xfrm>
              <a:off x="2151" y="1181"/>
              <a:ext cx="406" cy="353"/>
            </a:xfrm>
            <a:prstGeom prst="rect">
              <a:avLst/>
            </a:prstGeom>
            <a:noFill/>
            <a:ln w="9525">
              <a:noFill/>
            </a:ln>
          </p:spPr>
          <p:txBody>
            <a:bodyPr>
              <a:spAutoFit/>
            </a:bodyPr>
            <a:p>
              <a:pPr algn="ctr" eaLnBrk="1" hangingPunct="1">
                <a:lnSpc>
                  <a:spcPct val="90000"/>
                </a:lnSpc>
              </a:pPr>
              <a:r>
                <a:rPr lang="zh-CN" altLang="en-US" sz="1800" b="1" dirty="0">
                  <a:latin typeface="Times New Roman" panose="02020603050405020304" pitchFamily="18" charset="0"/>
                </a:rPr>
                <a:t>放大</a:t>
              </a:r>
              <a:endParaRPr lang="zh-CN" altLang="en-US" sz="1800" b="1" dirty="0">
                <a:latin typeface="Times New Roman" panose="02020603050405020304" pitchFamily="18" charset="0"/>
              </a:endParaRPr>
            </a:p>
            <a:p>
              <a:pPr algn="ctr" eaLnBrk="1" hangingPunct="1">
                <a:lnSpc>
                  <a:spcPct val="90000"/>
                </a:lnSpc>
              </a:pPr>
              <a:r>
                <a:rPr lang="zh-CN" altLang="en-US" sz="1600" b="1" dirty="0">
                  <a:latin typeface="Times New Roman" panose="02020603050405020304" pitchFamily="18" charset="0"/>
                </a:rPr>
                <a:t>器</a:t>
              </a:r>
              <a:endParaRPr lang="zh-CN" altLang="en-US" sz="1600" b="1" dirty="0">
                <a:latin typeface="Times New Roman" panose="02020603050405020304" pitchFamily="18" charset="0"/>
              </a:endParaRPr>
            </a:p>
          </p:txBody>
        </p:sp>
      </p:grpSp>
      <p:sp>
        <p:nvSpPr>
          <p:cNvPr id="2256019" name="Line 147"/>
          <p:cNvSpPr/>
          <p:nvPr/>
        </p:nvSpPr>
        <p:spPr>
          <a:xfrm>
            <a:off x="4394200" y="3008313"/>
            <a:ext cx="411163" cy="0"/>
          </a:xfrm>
          <a:prstGeom prst="line">
            <a:avLst/>
          </a:prstGeom>
          <a:ln w="19050" cap="flat" cmpd="sng">
            <a:solidFill>
              <a:srgbClr val="008080"/>
            </a:solidFill>
            <a:prstDash val="solid"/>
            <a:headEnd type="none" w="med" len="med"/>
            <a:tailEnd type="stealth" w="med" len="med"/>
          </a:ln>
        </p:spPr>
      </p:sp>
      <p:grpSp>
        <p:nvGrpSpPr>
          <p:cNvPr id="4" name="Group 148"/>
          <p:cNvGrpSpPr/>
          <p:nvPr/>
        </p:nvGrpSpPr>
        <p:grpSpPr>
          <a:xfrm>
            <a:off x="4872038" y="2187575"/>
            <a:ext cx="595312" cy="1670050"/>
            <a:chOff x="3047" y="835"/>
            <a:chExt cx="375" cy="1052"/>
          </a:xfrm>
        </p:grpSpPr>
        <p:sp>
          <p:nvSpPr>
            <p:cNvPr id="52326" name="Rectangle 149"/>
            <p:cNvSpPr/>
            <p:nvPr/>
          </p:nvSpPr>
          <p:spPr>
            <a:xfrm>
              <a:off x="3047" y="835"/>
              <a:ext cx="375" cy="1052"/>
            </a:xfrm>
            <a:prstGeom prst="rect">
              <a:avLst/>
            </a:prstGeom>
            <a:solidFill>
              <a:schemeClr val="bg1"/>
            </a:solidFill>
            <a:ln w="9525" cap="flat" cmpd="sng">
              <a:solidFill>
                <a:srgbClr val="0000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27" name="Text Box 150"/>
            <p:cNvSpPr txBox="1"/>
            <p:nvPr/>
          </p:nvSpPr>
          <p:spPr>
            <a:xfrm>
              <a:off x="3099" y="864"/>
              <a:ext cx="229" cy="99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采</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样</a:t>
              </a:r>
              <a:endParaRPr lang="zh-CN" altLang="en-US" sz="1800" b="1" dirty="0">
                <a:latin typeface="Times New Roman" panose="02020603050405020304" pitchFamily="18" charset="0"/>
              </a:endParaRPr>
            </a:p>
            <a:p>
              <a:pPr algn="ctr" eaLnBrk="1" hangingPunct="1">
                <a:lnSpc>
                  <a:spcPct val="90000"/>
                </a:lnSpc>
              </a:pPr>
              <a:r>
                <a:rPr lang="en-US" altLang="zh-CN" sz="1800" b="1" dirty="0">
                  <a:latin typeface="Times New Roman" panose="02020603050405020304" pitchFamily="18" charset="0"/>
                </a:rPr>
                <a:t>/</a:t>
              </a:r>
              <a:endParaRPr lang="en-US" altLang="zh-CN"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保</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持</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器</a:t>
              </a:r>
              <a:endParaRPr lang="zh-CN" altLang="en-US" sz="1800" b="1" dirty="0">
                <a:latin typeface="Times New Roman" panose="02020603050405020304" pitchFamily="18" charset="0"/>
              </a:endParaRPr>
            </a:p>
          </p:txBody>
        </p:sp>
      </p:grpSp>
      <p:grpSp>
        <p:nvGrpSpPr>
          <p:cNvPr id="5" name="Group 151"/>
          <p:cNvGrpSpPr/>
          <p:nvPr/>
        </p:nvGrpSpPr>
        <p:grpSpPr>
          <a:xfrm>
            <a:off x="871538" y="2473325"/>
            <a:ext cx="925512" cy="371475"/>
            <a:chOff x="560" y="684"/>
            <a:chExt cx="551" cy="234"/>
          </a:xfrm>
        </p:grpSpPr>
        <p:sp>
          <p:nvSpPr>
            <p:cNvPr id="52324" name="Rectangle 152"/>
            <p:cNvSpPr/>
            <p:nvPr/>
          </p:nvSpPr>
          <p:spPr>
            <a:xfrm>
              <a:off x="584" y="684"/>
              <a:ext cx="493"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25" name="Text Box 153"/>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grpSp>
        <p:nvGrpSpPr>
          <p:cNvPr id="6" name="Group 154"/>
          <p:cNvGrpSpPr/>
          <p:nvPr/>
        </p:nvGrpSpPr>
        <p:grpSpPr>
          <a:xfrm>
            <a:off x="871538" y="3014663"/>
            <a:ext cx="925512" cy="371475"/>
            <a:chOff x="560" y="684"/>
            <a:chExt cx="551" cy="234"/>
          </a:xfrm>
        </p:grpSpPr>
        <p:sp>
          <p:nvSpPr>
            <p:cNvPr id="52322" name="Rectangle 155"/>
            <p:cNvSpPr/>
            <p:nvPr/>
          </p:nvSpPr>
          <p:spPr>
            <a:xfrm>
              <a:off x="584" y="684"/>
              <a:ext cx="493"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23" name="Text Box 156"/>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grpSp>
        <p:nvGrpSpPr>
          <p:cNvPr id="7" name="Group 157"/>
          <p:cNvGrpSpPr/>
          <p:nvPr/>
        </p:nvGrpSpPr>
        <p:grpSpPr>
          <a:xfrm>
            <a:off x="868363" y="3810000"/>
            <a:ext cx="928687" cy="371475"/>
            <a:chOff x="560" y="684"/>
            <a:chExt cx="551" cy="234"/>
          </a:xfrm>
        </p:grpSpPr>
        <p:sp>
          <p:nvSpPr>
            <p:cNvPr id="52320" name="Rectangle 158"/>
            <p:cNvSpPr/>
            <p:nvPr/>
          </p:nvSpPr>
          <p:spPr>
            <a:xfrm>
              <a:off x="584" y="684"/>
              <a:ext cx="494"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21" name="Text Box 159"/>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sp>
        <p:nvSpPr>
          <p:cNvPr id="2256032" name="Text Box 160"/>
          <p:cNvSpPr txBox="1"/>
          <p:nvPr/>
        </p:nvSpPr>
        <p:spPr>
          <a:xfrm>
            <a:off x="1169988" y="3408363"/>
            <a:ext cx="431800" cy="279400"/>
          </a:xfrm>
          <a:prstGeom prst="rect">
            <a:avLst/>
          </a:prstGeom>
          <a:noFill/>
          <a:ln w="9525">
            <a:noFill/>
          </a:ln>
        </p:spPr>
        <p:txBody>
          <a:bodyPr vert="eaVert">
            <a:spAutoFit/>
          </a:bodyPr>
          <a:p>
            <a:pPr eaLnBrk="1" hangingPunct="1">
              <a:lnSpc>
                <a:spcPct val="90000"/>
              </a:lnSpc>
              <a:spcBef>
                <a:spcPct val="50000"/>
              </a:spcBef>
            </a:pPr>
            <a:r>
              <a:rPr lang="en-US" altLang="zh-CN" sz="1800" b="1" dirty="0">
                <a:latin typeface="Times New Roman" panose="02020603050405020304" pitchFamily="18" charset="0"/>
              </a:rPr>
              <a:t>…</a:t>
            </a:r>
            <a:endParaRPr lang="en-US" altLang="zh-CN" sz="1800" b="1" dirty="0">
              <a:latin typeface="Times New Roman" panose="02020603050405020304" pitchFamily="18" charset="0"/>
            </a:endParaRPr>
          </a:p>
        </p:txBody>
      </p:sp>
      <p:sp>
        <p:nvSpPr>
          <p:cNvPr id="2256033" name="Line 161"/>
          <p:cNvSpPr/>
          <p:nvPr/>
        </p:nvSpPr>
        <p:spPr>
          <a:xfrm>
            <a:off x="5468938" y="3022600"/>
            <a:ext cx="384175" cy="0"/>
          </a:xfrm>
          <a:prstGeom prst="line">
            <a:avLst/>
          </a:prstGeom>
          <a:ln w="19050" cap="flat" cmpd="sng">
            <a:solidFill>
              <a:srgbClr val="008080"/>
            </a:solidFill>
            <a:prstDash val="solid"/>
            <a:headEnd type="none" w="med" len="med"/>
            <a:tailEnd type="stealth" w="med" len="med"/>
          </a:ln>
        </p:spPr>
      </p:sp>
      <p:grpSp>
        <p:nvGrpSpPr>
          <p:cNvPr id="8" name="Group 162"/>
          <p:cNvGrpSpPr/>
          <p:nvPr/>
        </p:nvGrpSpPr>
        <p:grpSpPr>
          <a:xfrm>
            <a:off x="5926138" y="2181225"/>
            <a:ext cx="595312" cy="1670050"/>
            <a:chOff x="3711" y="831"/>
            <a:chExt cx="375" cy="1052"/>
          </a:xfrm>
        </p:grpSpPr>
        <p:sp>
          <p:nvSpPr>
            <p:cNvPr id="52318" name="Rectangle 163"/>
            <p:cNvSpPr/>
            <p:nvPr/>
          </p:nvSpPr>
          <p:spPr>
            <a:xfrm>
              <a:off x="3711" y="831"/>
              <a:ext cx="375" cy="1052"/>
            </a:xfrm>
            <a:prstGeom prst="rect">
              <a:avLst/>
            </a:prstGeom>
            <a:solidFill>
              <a:schemeClr val="bg1"/>
            </a:solidFill>
            <a:ln w="9525" cap="flat" cmpd="sng">
              <a:solidFill>
                <a:srgbClr val="0000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19" name="Text Box 164"/>
            <p:cNvSpPr txBox="1"/>
            <p:nvPr/>
          </p:nvSpPr>
          <p:spPr>
            <a:xfrm>
              <a:off x="3770" y="868"/>
              <a:ext cx="246" cy="994"/>
            </a:xfrm>
            <a:prstGeom prst="rect">
              <a:avLst/>
            </a:prstGeom>
            <a:noFill/>
            <a:ln w="9525">
              <a:noFill/>
            </a:ln>
          </p:spPr>
          <p:txBody>
            <a:bodyPr>
              <a:spAutoFit/>
            </a:bodyPr>
            <a:p>
              <a:pPr algn="ctr" eaLnBrk="1" hangingPunct="1">
                <a:lnSpc>
                  <a:spcPct val="90000"/>
                </a:lnSpc>
              </a:pPr>
              <a:r>
                <a:rPr lang="en-US" altLang="zh-CN" sz="1800" b="1" dirty="0">
                  <a:latin typeface="Times New Roman" panose="02020603050405020304" pitchFamily="18" charset="0"/>
                </a:rPr>
                <a:t>A</a:t>
              </a:r>
              <a:endParaRPr lang="en-US" altLang="zh-CN" sz="1800" b="1" dirty="0">
                <a:latin typeface="Times New Roman" panose="02020603050405020304" pitchFamily="18" charset="0"/>
              </a:endParaRPr>
            </a:p>
            <a:p>
              <a:pPr algn="ctr" eaLnBrk="1" hangingPunct="1">
                <a:lnSpc>
                  <a:spcPct val="90000"/>
                </a:lnSpc>
              </a:pPr>
              <a:r>
                <a:rPr lang="en-US" altLang="zh-CN" sz="1800" b="1" dirty="0">
                  <a:latin typeface="Times New Roman" panose="02020603050405020304" pitchFamily="18" charset="0"/>
                </a:rPr>
                <a:t>/</a:t>
              </a:r>
              <a:endParaRPr lang="en-US" altLang="zh-CN" sz="1800" b="1" dirty="0">
                <a:latin typeface="Times New Roman" panose="02020603050405020304" pitchFamily="18" charset="0"/>
              </a:endParaRPr>
            </a:p>
            <a:p>
              <a:pPr algn="ctr" eaLnBrk="1" hangingPunct="1">
                <a:lnSpc>
                  <a:spcPct val="90000"/>
                </a:lnSpc>
              </a:pPr>
              <a:r>
                <a:rPr lang="en-US" altLang="zh-CN" sz="1800" b="1" dirty="0">
                  <a:latin typeface="Times New Roman" panose="02020603050405020304" pitchFamily="18" charset="0"/>
                </a:rPr>
                <a:t>D</a:t>
              </a:r>
              <a:endParaRPr lang="en-US" altLang="zh-CN" sz="1800" b="1" dirty="0">
                <a:latin typeface="Times New Roman" panose="02020603050405020304" pitchFamily="18" charset="0"/>
              </a:endParaRPr>
            </a:p>
            <a:p>
              <a:pPr algn="ctr" eaLnBrk="1" hangingPunct="1">
                <a:lnSpc>
                  <a:spcPct val="90000"/>
                </a:lnSpc>
              </a:pPr>
              <a:r>
                <a:rPr lang="zh-CN" altLang="en-US" sz="1800" b="1" dirty="0">
                  <a:latin typeface="Times New Roman" panose="02020603050405020304" pitchFamily="18" charset="0"/>
                </a:rPr>
                <a:t>转</a:t>
              </a:r>
              <a:endParaRPr lang="zh-CN" altLang="en-US" sz="1800" b="1" dirty="0">
                <a:latin typeface="Times New Roman" panose="02020603050405020304" pitchFamily="18" charset="0"/>
              </a:endParaRPr>
            </a:p>
            <a:p>
              <a:pPr algn="ctr" eaLnBrk="1" hangingPunct="1">
                <a:lnSpc>
                  <a:spcPct val="90000"/>
                </a:lnSpc>
              </a:pPr>
              <a:r>
                <a:rPr lang="zh-CN" altLang="en-US" sz="1800" b="1" dirty="0">
                  <a:latin typeface="Times New Roman" panose="02020603050405020304" pitchFamily="18" charset="0"/>
                </a:rPr>
                <a:t>换</a:t>
              </a:r>
              <a:endParaRPr lang="zh-CN" altLang="en-US" sz="1800" b="1" dirty="0">
                <a:latin typeface="Times New Roman" panose="02020603050405020304" pitchFamily="18" charset="0"/>
              </a:endParaRPr>
            </a:p>
            <a:p>
              <a:pPr algn="ctr" eaLnBrk="1" hangingPunct="1">
                <a:lnSpc>
                  <a:spcPct val="90000"/>
                </a:lnSpc>
              </a:pPr>
              <a:r>
                <a:rPr lang="zh-CN" altLang="en-US" sz="1800" b="1" dirty="0">
                  <a:latin typeface="Times New Roman" panose="02020603050405020304" pitchFamily="18" charset="0"/>
                </a:rPr>
                <a:t>器</a:t>
              </a:r>
              <a:endParaRPr lang="zh-CN" altLang="en-US" sz="1800" b="1" dirty="0">
                <a:latin typeface="Times New Roman" panose="02020603050405020304" pitchFamily="18" charset="0"/>
              </a:endParaRPr>
            </a:p>
          </p:txBody>
        </p:sp>
      </p:grpSp>
      <p:sp>
        <p:nvSpPr>
          <p:cNvPr id="2256037" name="AutoShape 165"/>
          <p:cNvSpPr/>
          <p:nvPr/>
        </p:nvSpPr>
        <p:spPr>
          <a:xfrm>
            <a:off x="6526213" y="2914650"/>
            <a:ext cx="412750" cy="276225"/>
          </a:xfrm>
          <a:prstGeom prst="rightArrow">
            <a:avLst>
              <a:gd name="adj1" fmla="val 50000"/>
              <a:gd name="adj2" fmla="val 37356"/>
            </a:avLst>
          </a:prstGeom>
          <a:noFill/>
          <a:ln w="19050" cap="flat" cmpd="sng">
            <a:solidFill>
              <a:srgbClr val="00808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grpSp>
        <p:nvGrpSpPr>
          <p:cNvPr id="9" name="Group 166"/>
          <p:cNvGrpSpPr/>
          <p:nvPr/>
        </p:nvGrpSpPr>
        <p:grpSpPr>
          <a:xfrm>
            <a:off x="7032625" y="2187575"/>
            <a:ext cx="595313" cy="3935413"/>
            <a:chOff x="4408" y="835"/>
            <a:chExt cx="375" cy="2479"/>
          </a:xfrm>
        </p:grpSpPr>
        <p:sp>
          <p:nvSpPr>
            <p:cNvPr id="52316" name="Rectangle 167"/>
            <p:cNvSpPr/>
            <p:nvPr/>
          </p:nvSpPr>
          <p:spPr>
            <a:xfrm>
              <a:off x="4408" y="835"/>
              <a:ext cx="375" cy="2479"/>
            </a:xfrm>
            <a:prstGeom prst="rect">
              <a:avLst/>
            </a:prstGeom>
            <a:solidFill>
              <a:schemeClr val="bg1"/>
            </a:solidFill>
            <a:ln w="9525" cap="flat" cmpd="sng">
              <a:solidFill>
                <a:srgbClr val="0000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17" name="Text Box 168"/>
            <p:cNvSpPr txBox="1"/>
            <p:nvPr/>
          </p:nvSpPr>
          <p:spPr>
            <a:xfrm>
              <a:off x="4477" y="1590"/>
              <a:ext cx="246" cy="838"/>
            </a:xfrm>
            <a:prstGeom prst="rect">
              <a:avLst/>
            </a:prstGeom>
            <a:noFill/>
            <a:ln w="9525">
              <a:noFill/>
            </a:ln>
          </p:spPr>
          <p:txBody>
            <a:bodyPr>
              <a:spAutoFit/>
            </a:bodyPr>
            <a:p>
              <a:pPr algn="ctr" eaLnBrk="1" hangingPunct="1">
                <a:lnSpc>
                  <a:spcPct val="90000"/>
                </a:lnSpc>
              </a:pPr>
              <a:r>
                <a:rPr lang="zh-CN" altLang="en-US" sz="1800" b="1" dirty="0">
                  <a:latin typeface="Times New Roman" panose="02020603050405020304" pitchFamily="18" charset="0"/>
                </a:rPr>
                <a:t>计</a:t>
              </a:r>
              <a:endParaRPr lang="zh-CN" altLang="en-US" sz="1800" b="1" dirty="0">
                <a:latin typeface="Times New Roman" panose="02020603050405020304" pitchFamily="18" charset="0"/>
              </a:endParaRPr>
            </a:p>
            <a:p>
              <a:pPr algn="ctr" eaLnBrk="1" hangingPunct="1">
                <a:lnSpc>
                  <a:spcPct val="90000"/>
                </a:lnSpc>
              </a:pPr>
              <a:endParaRPr lang="zh-CN" altLang="en-US" sz="1800" b="1" dirty="0">
                <a:latin typeface="Times New Roman" panose="02020603050405020304" pitchFamily="18" charset="0"/>
              </a:endParaRPr>
            </a:p>
            <a:p>
              <a:pPr algn="ctr" eaLnBrk="1" hangingPunct="1">
                <a:lnSpc>
                  <a:spcPct val="90000"/>
                </a:lnSpc>
              </a:pPr>
              <a:r>
                <a:rPr lang="zh-CN" altLang="en-US" sz="1800" b="1" dirty="0">
                  <a:latin typeface="Times New Roman" panose="02020603050405020304" pitchFamily="18" charset="0"/>
                </a:rPr>
                <a:t>算</a:t>
              </a:r>
              <a:endParaRPr lang="zh-CN" altLang="en-US" sz="1800" b="1" dirty="0">
                <a:latin typeface="Times New Roman" panose="02020603050405020304" pitchFamily="18" charset="0"/>
              </a:endParaRPr>
            </a:p>
            <a:p>
              <a:pPr algn="ctr" eaLnBrk="1" hangingPunct="1">
                <a:lnSpc>
                  <a:spcPct val="90000"/>
                </a:lnSpc>
              </a:pPr>
              <a:endParaRPr lang="zh-CN" altLang="en-US" sz="1800" b="1" dirty="0">
                <a:latin typeface="Times New Roman" panose="02020603050405020304" pitchFamily="18" charset="0"/>
              </a:endParaRPr>
            </a:p>
            <a:p>
              <a:pPr algn="ctr" eaLnBrk="1" hangingPunct="1">
                <a:lnSpc>
                  <a:spcPct val="90000"/>
                </a:lnSpc>
              </a:pPr>
              <a:r>
                <a:rPr lang="zh-CN" altLang="en-US" sz="1800" b="1" dirty="0">
                  <a:latin typeface="Times New Roman" panose="02020603050405020304" pitchFamily="18" charset="0"/>
                </a:rPr>
                <a:t>机</a:t>
              </a:r>
              <a:endParaRPr lang="zh-CN" altLang="en-US" sz="1800" b="1" dirty="0">
                <a:latin typeface="Times New Roman" panose="02020603050405020304" pitchFamily="18" charset="0"/>
              </a:endParaRPr>
            </a:p>
          </p:txBody>
        </p:sp>
      </p:grpSp>
      <p:sp>
        <p:nvSpPr>
          <p:cNvPr id="2256041" name="Line 169"/>
          <p:cNvSpPr/>
          <p:nvPr/>
        </p:nvSpPr>
        <p:spPr>
          <a:xfrm>
            <a:off x="7627938" y="2849563"/>
            <a:ext cx="398462" cy="0"/>
          </a:xfrm>
          <a:prstGeom prst="line">
            <a:avLst/>
          </a:prstGeom>
          <a:ln w="19050" cap="flat" cmpd="sng">
            <a:solidFill>
              <a:srgbClr val="008080"/>
            </a:solidFill>
            <a:prstDash val="solid"/>
            <a:headEnd type="none" w="med" len="med"/>
            <a:tailEnd type="stealth" w="med" len="med"/>
          </a:ln>
        </p:spPr>
      </p:sp>
      <p:grpSp>
        <p:nvGrpSpPr>
          <p:cNvPr id="10" name="Group 170"/>
          <p:cNvGrpSpPr/>
          <p:nvPr/>
        </p:nvGrpSpPr>
        <p:grpSpPr>
          <a:xfrm>
            <a:off x="8113713" y="2682875"/>
            <a:ext cx="933450" cy="371475"/>
            <a:chOff x="2133" y="2750"/>
            <a:chExt cx="576" cy="234"/>
          </a:xfrm>
        </p:grpSpPr>
        <p:sp>
          <p:nvSpPr>
            <p:cNvPr id="52314" name="Rectangle 171"/>
            <p:cNvSpPr/>
            <p:nvPr/>
          </p:nvSpPr>
          <p:spPr>
            <a:xfrm>
              <a:off x="2133" y="2750"/>
              <a:ext cx="576"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15" name="Text Box 172"/>
            <p:cNvSpPr txBox="1"/>
            <p:nvPr/>
          </p:nvSpPr>
          <p:spPr>
            <a:xfrm>
              <a:off x="2166" y="2762"/>
              <a:ext cx="540" cy="214"/>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显示器</a:t>
              </a:r>
              <a:endParaRPr lang="zh-CN" altLang="en-US" sz="1800" b="1" dirty="0">
                <a:latin typeface="Times New Roman" panose="02020603050405020304" pitchFamily="18" charset="0"/>
              </a:endParaRPr>
            </a:p>
          </p:txBody>
        </p:sp>
      </p:grpSp>
      <p:grpSp>
        <p:nvGrpSpPr>
          <p:cNvPr id="11" name="Group 173"/>
          <p:cNvGrpSpPr/>
          <p:nvPr/>
        </p:nvGrpSpPr>
        <p:grpSpPr>
          <a:xfrm>
            <a:off x="8110538" y="3552825"/>
            <a:ext cx="930275" cy="371475"/>
            <a:chOff x="1035" y="3022"/>
            <a:chExt cx="576" cy="234"/>
          </a:xfrm>
        </p:grpSpPr>
        <p:sp>
          <p:nvSpPr>
            <p:cNvPr id="52312" name="Rectangle 174"/>
            <p:cNvSpPr/>
            <p:nvPr/>
          </p:nvSpPr>
          <p:spPr>
            <a:xfrm>
              <a:off x="1035" y="3022"/>
              <a:ext cx="576"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13" name="Text Box 175"/>
            <p:cNvSpPr txBox="1"/>
            <p:nvPr/>
          </p:nvSpPr>
          <p:spPr>
            <a:xfrm>
              <a:off x="1051" y="3041"/>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打印机</a:t>
              </a:r>
              <a:endParaRPr lang="zh-CN" altLang="en-US" sz="1800" b="1" dirty="0">
                <a:latin typeface="Times New Roman" panose="02020603050405020304" pitchFamily="18" charset="0"/>
              </a:endParaRPr>
            </a:p>
          </p:txBody>
        </p:sp>
      </p:grpSp>
      <p:grpSp>
        <p:nvGrpSpPr>
          <p:cNvPr id="12" name="Group 176"/>
          <p:cNvGrpSpPr/>
          <p:nvPr/>
        </p:nvGrpSpPr>
        <p:grpSpPr>
          <a:xfrm>
            <a:off x="8110538" y="4329113"/>
            <a:ext cx="930275" cy="371475"/>
            <a:chOff x="2241" y="3185"/>
            <a:chExt cx="576" cy="234"/>
          </a:xfrm>
        </p:grpSpPr>
        <p:sp>
          <p:nvSpPr>
            <p:cNvPr id="52310" name="Rectangle 177"/>
            <p:cNvSpPr/>
            <p:nvPr/>
          </p:nvSpPr>
          <p:spPr>
            <a:xfrm>
              <a:off x="2241" y="3185"/>
              <a:ext cx="576"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11" name="Text Box 178"/>
            <p:cNvSpPr txBox="1"/>
            <p:nvPr/>
          </p:nvSpPr>
          <p:spPr>
            <a:xfrm>
              <a:off x="2265" y="32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绘图机</a:t>
              </a:r>
              <a:endParaRPr lang="zh-CN" altLang="en-US" sz="1800" b="1" dirty="0">
                <a:latin typeface="Times New Roman" panose="02020603050405020304" pitchFamily="18" charset="0"/>
              </a:endParaRPr>
            </a:p>
          </p:txBody>
        </p:sp>
      </p:grpSp>
      <p:sp>
        <p:nvSpPr>
          <p:cNvPr id="2256051" name="Line 179"/>
          <p:cNvSpPr/>
          <p:nvPr/>
        </p:nvSpPr>
        <p:spPr>
          <a:xfrm>
            <a:off x="7634288" y="3730625"/>
            <a:ext cx="398462" cy="0"/>
          </a:xfrm>
          <a:prstGeom prst="line">
            <a:avLst/>
          </a:prstGeom>
          <a:ln w="19050" cap="flat" cmpd="sng">
            <a:solidFill>
              <a:srgbClr val="008080"/>
            </a:solidFill>
            <a:prstDash val="solid"/>
            <a:headEnd type="none" w="med" len="med"/>
            <a:tailEnd type="stealth" w="med" len="med"/>
          </a:ln>
        </p:spPr>
      </p:sp>
      <p:sp>
        <p:nvSpPr>
          <p:cNvPr id="2256052" name="Line 180"/>
          <p:cNvSpPr/>
          <p:nvPr/>
        </p:nvSpPr>
        <p:spPr>
          <a:xfrm>
            <a:off x="7634288" y="4525963"/>
            <a:ext cx="398462" cy="0"/>
          </a:xfrm>
          <a:prstGeom prst="line">
            <a:avLst/>
          </a:prstGeom>
          <a:ln w="19050" cap="flat" cmpd="sng">
            <a:solidFill>
              <a:srgbClr val="008080"/>
            </a:solidFill>
            <a:prstDash val="solid"/>
            <a:headEnd type="none" w="med" len="med"/>
            <a:tailEnd type="stealth" w="med" len="med"/>
          </a:ln>
        </p:spPr>
      </p:sp>
      <p:sp>
        <p:nvSpPr>
          <p:cNvPr id="2256053" name="AutoShape 181"/>
          <p:cNvSpPr/>
          <p:nvPr/>
        </p:nvSpPr>
        <p:spPr>
          <a:xfrm>
            <a:off x="6527800" y="4598988"/>
            <a:ext cx="425450" cy="285750"/>
          </a:xfrm>
          <a:prstGeom prst="leftArrow">
            <a:avLst>
              <a:gd name="adj1" fmla="val 50000"/>
              <a:gd name="adj2" fmla="val 37222"/>
            </a:avLst>
          </a:prstGeom>
          <a:noFill/>
          <a:ln w="19050" cap="flat" cmpd="sng">
            <a:solidFill>
              <a:srgbClr val="00808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grpSp>
        <p:nvGrpSpPr>
          <p:cNvPr id="13" name="Group 182"/>
          <p:cNvGrpSpPr/>
          <p:nvPr/>
        </p:nvGrpSpPr>
        <p:grpSpPr>
          <a:xfrm>
            <a:off x="4657725" y="4508500"/>
            <a:ext cx="1870075" cy="490538"/>
            <a:chOff x="2912" y="2297"/>
            <a:chExt cx="1168" cy="309"/>
          </a:xfrm>
        </p:grpSpPr>
        <p:sp>
          <p:nvSpPr>
            <p:cNvPr id="52308" name="Rectangle 183"/>
            <p:cNvSpPr/>
            <p:nvPr/>
          </p:nvSpPr>
          <p:spPr>
            <a:xfrm>
              <a:off x="2912" y="2297"/>
              <a:ext cx="1168" cy="309"/>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9" name="Text Box 184"/>
            <p:cNvSpPr txBox="1"/>
            <p:nvPr/>
          </p:nvSpPr>
          <p:spPr>
            <a:xfrm>
              <a:off x="2927" y="2348"/>
              <a:ext cx="113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定时与逻辑控制</a:t>
              </a:r>
              <a:endParaRPr lang="zh-CN" altLang="en-US" sz="1800" b="1" dirty="0">
                <a:latin typeface="Times New Roman" panose="02020603050405020304" pitchFamily="18" charset="0"/>
              </a:endParaRPr>
            </a:p>
          </p:txBody>
        </p:sp>
      </p:grpSp>
      <p:sp>
        <p:nvSpPr>
          <p:cNvPr id="2256057" name="Line 185"/>
          <p:cNvSpPr/>
          <p:nvPr/>
        </p:nvSpPr>
        <p:spPr>
          <a:xfrm flipV="1">
            <a:off x="6223000" y="3844925"/>
            <a:ext cx="0" cy="582613"/>
          </a:xfrm>
          <a:prstGeom prst="line">
            <a:avLst/>
          </a:prstGeom>
          <a:ln w="19050" cap="flat" cmpd="sng">
            <a:solidFill>
              <a:srgbClr val="008080"/>
            </a:solidFill>
            <a:prstDash val="solid"/>
            <a:headEnd type="none" w="med" len="med"/>
            <a:tailEnd type="stealth" w="med" len="med"/>
          </a:ln>
        </p:spPr>
      </p:sp>
      <p:sp>
        <p:nvSpPr>
          <p:cNvPr id="2256058" name="Line 186"/>
          <p:cNvSpPr/>
          <p:nvPr/>
        </p:nvSpPr>
        <p:spPr>
          <a:xfrm flipV="1">
            <a:off x="5170488" y="3840163"/>
            <a:ext cx="0" cy="582612"/>
          </a:xfrm>
          <a:prstGeom prst="line">
            <a:avLst/>
          </a:prstGeom>
          <a:ln w="19050" cap="flat" cmpd="sng">
            <a:solidFill>
              <a:srgbClr val="008080"/>
            </a:solidFill>
            <a:prstDash val="solid"/>
            <a:headEnd type="none" w="med" len="med"/>
            <a:tailEnd type="stealth" w="med" len="med"/>
          </a:ln>
        </p:spPr>
      </p:sp>
      <p:sp>
        <p:nvSpPr>
          <p:cNvPr id="2256059" name="Line 187"/>
          <p:cNvSpPr/>
          <p:nvPr/>
        </p:nvSpPr>
        <p:spPr>
          <a:xfrm flipH="1">
            <a:off x="3997325" y="4572000"/>
            <a:ext cx="582613" cy="0"/>
          </a:xfrm>
          <a:prstGeom prst="line">
            <a:avLst/>
          </a:prstGeom>
          <a:ln w="19050" cap="flat" cmpd="sng">
            <a:solidFill>
              <a:srgbClr val="008080"/>
            </a:solidFill>
            <a:prstDash val="solid"/>
            <a:headEnd type="none" w="med" len="med"/>
            <a:tailEnd type="none" w="med" len="med"/>
          </a:ln>
        </p:spPr>
      </p:sp>
      <p:sp>
        <p:nvSpPr>
          <p:cNvPr id="2256060" name="Line 188"/>
          <p:cNvSpPr/>
          <p:nvPr/>
        </p:nvSpPr>
        <p:spPr>
          <a:xfrm flipV="1">
            <a:off x="4010025" y="3181350"/>
            <a:ext cx="0" cy="1390650"/>
          </a:xfrm>
          <a:prstGeom prst="line">
            <a:avLst/>
          </a:prstGeom>
          <a:ln w="19050" cap="flat" cmpd="sng">
            <a:solidFill>
              <a:srgbClr val="008080"/>
            </a:solidFill>
            <a:prstDash val="solid"/>
            <a:headEnd type="none" w="med" len="med"/>
            <a:tailEnd type="stealth" w="med" len="med"/>
          </a:ln>
        </p:spPr>
      </p:sp>
      <p:sp>
        <p:nvSpPr>
          <p:cNvPr id="2256061" name="Line 189"/>
          <p:cNvSpPr/>
          <p:nvPr/>
        </p:nvSpPr>
        <p:spPr>
          <a:xfrm flipH="1">
            <a:off x="2790825" y="4811713"/>
            <a:ext cx="1789113" cy="0"/>
          </a:xfrm>
          <a:prstGeom prst="line">
            <a:avLst/>
          </a:prstGeom>
          <a:ln w="19050" cap="flat" cmpd="sng">
            <a:solidFill>
              <a:srgbClr val="008080"/>
            </a:solidFill>
            <a:prstDash val="solid"/>
            <a:headEnd type="none" w="med" len="med"/>
            <a:tailEnd type="none" w="med" len="med"/>
          </a:ln>
        </p:spPr>
      </p:sp>
      <p:sp>
        <p:nvSpPr>
          <p:cNvPr id="2256062" name="Line 190"/>
          <p:cNvSpPr/>
          <p:nvPr/>
        </p:nvSpPr>
        <p:spPr>
          <a:xfrm flipV="1">
            <a:off x="2805113" y="4175125"/>
            <a:ext cx="0" cy="636588"/>
          </a:xfrm>
          <a:prstGeom prst="line">
            <a:avLst/>
          </a:prstGeom>
          <a:ln w="19050" cap="flat" cmpd="sng">
            <a:solidFill>
              <a:srgbClr val="008080"/>
            </a:solidFill>
            <a:prstDash val="solid"/>
            <a:headEnd type="none" w="med" len="med"/>
            <a:tailEnd type="stealth" w="med" len="med"/>
          </a:ln>
        </p:spPr>
      </p:sp>
      <p:grpSp>
        <p:nvGrpSpPr>
          <p:cNvPr id="14" name="Group 191"/>
          <p:cNvGrpSpPr/>
          <p:nvPr/>
        </p:nvGrpSpPr>
        <p:grpSpPr>
          <a:xfrm>
            <a:off x="847725" y="5167313"/>
            <a:ext cx="898525" cy="371475"/>
            <a:chOff x="560" y="684"/>
            <a:chExt cx="551" cy="234"/>
          </a:xfrm>
        </p:grpSpPr>
        <p:sp>
          <p:nvSpPr>
            <p:cNvPr id="52306" name="Rectangle 192"/>
            <p:cNvSpPr/>
            <p:nvPr/>
          </p:nvSpPr>
          <p:spPr>
            <a:xfrm>
              <a:off x="584" y="684"/>
              <a:ext cx="493"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7" name="Text Box 193"/>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grpSp>
        <p:nvGrpSpPr>
          <p:cNvPr id="15" name="Group 194"/>
          <p:cNvGrpSpPr/>
          <p:nvPr/>
        </p:nvGrpSpPr>
        <p:grpSpPr>
          <a:xfrm>
            <a:off x="847725" y="5718175"/>
            <a:ext cx="895350" cy="371475"/>
            <a:chOff x="560" y="684"/>
            <a:chExt cx="551" cy="234"/>
          </a:xfrm>
        </p:grpSpPr>
        <p:sp>
          <p:nvSpPr>
            <p:cNvPr id="52304" name="Rectangle 195"/>
            <p:cNvSpPr/>
            <p:nvPr/>
          </p:nvSpPr>
          <p:spPr>
            <a:xfrm>
              <a:off x="584" y="684"/>
              <a:ext cx="491" cy="234"/>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5" name="Text Box 196"/>
            <p:cNvSpPr txBox="1"/>
            <p:nvPr/>
          </p:nvSpPr>
          <p:spPr>
            <a:xfrm>
              <a:off x="560" y="704"/>
              <a:ext cx="551" cy="214"/>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传感器</a:t>
              </a:r>
              <a:endParaRPr lang="zh-CN" altLang="en-US" sz="1800" b="1" dirty="0">
                <a:latin typeface="Times New Roman" panose="02020603050405020304" pitchFamily="18" charset="0"/>
              </a:endParaRPr>
            </a:p>
          </p:txBody>
        </p:sp>
      </p:grpSp>
      <p:sp>
        <p:nvSpPr>
          <p:cNvPr id="2256069" name="Line 197"/>
          <p:cNvSpPr/>
          <p:nvPr/>
        </p:nvSpPr>
        <p:spPr>
          <a:xfrm>
            <a:off x="1693863" y="5367338"/>
            <a:ext cx="2398712" cy="0"/>
          </a:xfrm>
          <a:prstGeom prst="line">
            <a:avLst/>
          </a:prstGeom>
          <a:ln w="19050" cap="flat" cmpd="sng">
            <a:solidFill>
              <a:srgbClr val="008080"/>
            </a:solidFill>
            <a:prstDash val="solid"/>
            <a:headEnd type="none" w="med" len="med"/>
            <a:tailEnd type="stealth" w="med" len="med"/>
          </a:ln>
        </p:spPr>
      </p:sp>
      <p:sp>
        <p:nvSpPr>
          <p:cNvPr id="2256070" name="Line 198"/>
          <p:cNvSpPr/>
          <p:nvPr/>
        </p:nvSpPr>
        <p:spPr>
          <a:xfrm>
            <a:off x="1693863" y="5903913"/>
            <a:ext cx="2398712" cy="0"/>
          </a:xfrm>
          <a:prstGeom prst="line">
            <a:avLst/>
          </a:prstGeom>
          <a:ln w="19050" cap="flat" cmpd="sng">
            <a:solidFill>
              <a:srgbClr val="008080"/>
            </a:solidFill>
            <a:prstDash val="solid"/>
            <a:headEnd type="none" w="med" len="med"/>
            <a:tailEnd type="stealth" w="med" len="med"/>
          </a:ln>
        </p:spPr>
      </p:sp>
      <p:grpSp>
        <p:nvGrpSpPr>
          <p:cNvPr id="16" name="Group 199"/>
          <p:cNvGrpSpPr/>
          <p:nvPr/>
        </p:nvGrpSpPr>
        <p:grpSpPr>
          <a:xfrm>
            <a:off x="4164013" y="5281613"/>
            <a:ext cx="595312" cy="808037"/>
            <a:chOff x="2601" y="2784"/>
            <a:chExt cx="375" cy="509"/>
          </a:xfrm>
        </p:grpSpPr>
        <p:sp>
          <p:nvSpPr>
            <p:cNvPr id="52302" name="Rectangle 200"/>
            <p:cNvSpPr/>
            <p:nvPr/>
          </p:nvSpPr>
          <p:spPr>
            <a:xfrm>
              <a:off x="2601" y="2784"/>
              <a:ext cx="375" cy="509"/>
            </a:xfrm>
            <a:prstGeom prst="rect">
              <a:avLst/>
            </a:prstGeom>
            <a:solidFill>
              <a:schemeClr val="bg1"/>
            </a:solidFill>
            <a:ln w="9525" cap="flat" cmpd="sng">
              <a:solidFill>
                <a:srgbClr val="0000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3" name="Text Box 201"/>
            <p:cNvSpPr txBox="1"/>
            <p:nvPr/>
          </p:nvSpPr>
          <p:spPr>
            <a:xfrm>
              <a:off x="2660" y="2863"/>
              <a:ext cx="263" cy="370"/>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接口</a:t>
              </a:r>
              <a:endParaRPr lang="zh-CN" altLang="en-US" sz="1800" b="1" dirty="0">
                <a:latin typeface="Times New Roman" panose="02020603050405020304" pitchFamily="18" charset="0"/>
              </a:endParaRPr>
            </a:p>
          </p:txBody>
        </p:sp>
      </p:grpSp>
      <p:sp>
        <p:nvSpPr>
          <p:cNvPr id="2256074" name="AutoShape 202"/>
          <p:cNvSpPr/>
          <p:nvPr/>
        </p:nvSpPr>
        <p:spPr>
          <a:xfrm>
            <a:off x="4765675" y="5514975"/>
            <a:ext cx="2187575" cy="314325"/>
          </a:xfrm>
          <a:prstGeom prst="rightArrow">
            <a:avLst>
              <a:gd name="adj1" fmla="val 50000"/>
              <a:gd name="adj2" fmla="val 173989"/>
            </a:avLst>
          </a:prstGeom>
          <a:noFill/>
          <a:ln w="19050" cap="flat" cmpd="sng">
            <a:solidFill>
              <a:srgbClr val="008080"/>
            </a:solidFill>
            <a:prstDash val="solid"/>
            <a:miter/>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graphicFrame>
        <p:nvGraphicFramePr>
          <p:cNvPr id="2256075" name="Object 203"/>
          <p:cNvGraphicFramePr>
            <a:graphicFrameLocks noChangeAspect="1"/>
          </p:cNvGraphicFramePr>
          <p:nvPr/>
        </p:nvGraphicFramePr>
        <p:xfrm>
          <a:off x="536575" y="2087563"/>
          <a:ext cx="269875" cy="3779837"/>
        </p:xfrm>
        <a:graphic>
          <a:graphicData uri="http://schemas.openxmlformats.org/presentationml/2006/ole">
            <mc:AlternateContent xmlns:mc="http://schemas.openxmlformats.org/markup-compatibility/2006">
              <mc:Choice xmlns:v="urn:schemas-microsoft-com:vml" Requires="v">
                <p:oleObj spid="_x0000_s3078" name="" r:id="rId1" imgW="177800" imgH="892175" progId="MSDraw">
                  <p:embed/>
                </p:oleObj>
              </mc:Choice>
              <mc:Fallback>
                <p:oleObj name="" r:id="rId1" imgW="177800" imgH="892175" progId="MSDraw">
                  <p:embed/>
                  <p:pic>
                    <p:nvPicPr>
                      <p:cNvPr id="0" name="图片 3077"/>
                      <p:cNvPicPr/>
                      <p:nvPr/>
                    </p:nvPicPr>
                    <p:blipFill>
                      <a:blip r:embed="rId2"/>
                      <a:stretch>
                        <a:fillRect/>
                      </a:stretch>
                    </p:blipFill>
                    <p:spPr>
                      <a:xfrm>
                        <a:off x="536575" y="2087563"/>
                        <a:ext cx="269875" cy="3779837"/>
                      </a:xfrm>
                      <a:prstGeom prst="rect">
                        <a:avLst/>
                      </a:prstGeom>
                      <a:noFill/>
                      <a:ln w="38100">
                        <a:noFill/>
                        <a:miter/>
                      </a:ln>
                    </p:spPr>
                  </p:pic>
                </p:oleObj>
              </mc:Fallback>
            </mc:AlternateContent>
          </a:graphicData>
        </a:graphic>
      </p:graphicFrame>
      <p:sp>
        <p:nvSpPr>
          <p:cNvPr id="2256076" name="Text Box 204"/>
          <p:cNvSpPr txBox="1"/>
          <p:nvPr/>
        </p:nvSpPr>
        <p:spPr>
          <a:xfrm>
            <a:off x="142875" y="3352800"/>
            <a:ext cx="428625" cy="1330325"/>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被</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测</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物理量</a:t>
            </a:r>
            <a:endParaRPr lang="zh-CN" altLang="en-US" sz="1800" b="1" dirty="0">
              <a:latin typeface="Times New Roman" panose="02020603050405020304" pitchFamily="18" charset="0"/>
            </a:endParaRPr>
          </a:p>
        </p:txBody>
      </p:sp>
      <p:sp>
        <p:nvSpPr>
          <p:cNvPr id="2256077" name="Text Box 205"/>
          <p:cNvSpPr txBox="1"/>
          <p:nvPr/>
        </p:nvSpPr>
        <p:spPr>
          <a:xfrm>
            <a:off x="2251075" y="5056188"/>
            <a:ext cx="1241425" cy="339725"/>
          </a:xfrm>
          <a:prstGeom prst="rect">
            <a:avLst/>
          </a:prstGeom>
          <a:noFill/>
          <a:ln w="9525">
            <a:noFill/>
          </a:ln>
        </p:spPr>
        <p:txBody>
          <a:bodyPr>
            <a:spAutoFit/>
          </a:bodyPr>
          <a:p>
            <a:pPr algn="ctr" eaLnBrk="1" hangingPunct="1">
              <a:lnSpc>
                <a:spcPct val="90000"/>
              </a:lnSpc>
            </a:pPr>
            <a:r>
              <a:rPr lang="zh-CN" altLang="en-US" sz="1800" b="1" dirty="0">
                <a:latin typeface="Times New Roman" panose="02020603050405020304" pitchFamily="18" charset="0"/>
              </a:rPr>
              <a:t>数字信号</a:t>
            </a:r>
            <a:endParaRPr lang="zh-CN" altLang="en-US" sz="1800" b="1" dirty="0">
              <a:latin typeface="Times New Roman" panose="02020603050405020304" pitchFamily="18" charset="0"/>
            </a:endParaRPr>
          </a:p>
        </p:txBody>
      </p:sp>
      <p:sp>
        <p:nvSpPr>
          <p:cNvPr id="2256078" name="Text Box 206"/>
          <p:cNvSpPr txBox="1"/>
          <p:nvPr/>
        </p:nvSpPr>
        <p:spPr>
          <a:xfrm>
            <a:off x="2255838" y="5592763"/>
            <a:ext cx="1193800" cy="339725"/>
          </a:xfrm>
          <a:prstGeom prst="rect">
            <a:avLst/>
          </a:prstGeom>
          <a:noFill/>
          <a:ln w="9525">
            <a:noFill/>
          </a:ln>
        </p:spPr>
        <p:txBody>
          <a:bodyPr>
            <a:spAutoFit/>
          </a:bodyPr>
          <a:p>
            <a:pPr algn="ctr" eaLnBrk="1" hangingPunct="1">
              <a:lnSpc>
                <a:spcPct val="90000"/>
              </a:lnSpc>
            </a:pPr>
            <a:r>
              <a:rPr lang="zh-CN" altLang="en-US" sz="1800" b="1" dirty="0">
                <a:latin typeface="Times New Roman" panose="02020603050405020304" pitchFamily="18" charset="0"/>
              </a:rPr>
              <a:t>开关信号</a:t>
            </a:r>
            <a:endParaRPr lang="zh-CN" altLang="en-US" sz="1800" b="1" dirty="0">
              <a:latin typeface="Times New Roman" panose="02020603050405020304" pitchFamily="18" charset="0"/>
            </a:endParaRPr>
          </a:p>
        </p:txBody>
      </p:sp>
      <p:grpSp>
        <p:nvGrpSpPr>
          <p:cNvPr id="17" name="Group 207"/>
          <p:cNvGrpSpPr/>
          <p:nvPr/>
        </p:nvGrpSpPr>
        <p:grpSpPr>
          <a:xfrm>
            <a:off x="2152650" y="1557338"/>
            <a:ext cx="1338263" cy="2617787"/>
            <a:chOff x="1334" y="438"/>
            <a:chExt cx="843" cy="1649"/>
          </a:xfrm>
        </p:grpSpPr>
        <p:grpSp>
          <p:nvGrpSpPr>
            <p:cNvPr id="52273" name="Group 208"/>
            <p:cNvGrpSpPr/>
            <p:nvPr/>
          </p:nvGrpSpPr>
          <p:grpSpPr>
            <a:xfrm>
              <a:off x="1334" y="693"/>
              <a:ext cx="636" cy="1394"/>
              <a:chOff x="1334" y="693"/>
              <a:chExt cx="636" cy="1394"/>
            </a:xfrm>
          </p:grpSpPr>
          <p:sp>
            <p:nvSpPr>
              <p:cNvPr id="52275" name="Rectangle 209"/>
              <p:cNvSpPr/>
              <p:nvPr/>
            </p:nvSpPr>
            <p:spPr>
              <a:xfrm>
                <a:off x="1503" y="693"/>
                <a:ext cx="467" cy="1394"/>
              </a:xfrm>
              <a:prstGeom prst="rect">
                <a:avLst/>
              </a:prstGeom>
              <a:solidFill>
                <a:schemeClr val="bg1"/>
              </a:solidFill>
              <a:ln w="12700"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76" name="Line 210"/>
              <p:cNvSpPr/>
              <p:nvPr/>
            </p:nvSpPr>
            <p:spPr>
              <a:xfrm>
                <a:off x="1894" y="826"/>
                <a:ext cx="0" cy="1161"/>
              </a:xfrm>
              <a:prstGeom prst="line">
                <a:avLst/>
              </a:prstGeom>
              <a:ln w="19050" cap="flat" cmpd="sng">
                <a:solidFill>
                  <a:srgbClr val="008080"/>
                </a:solidFill>
                <a:prstDash val="solid"/>
                <a:headEnd type="none" w="med" len="med"/>
                <a:tailEnd type="none" w="med" len="med"/>
              </a:ln>
            </p:spPr>
          </p:sp>
          <p:sp>
            <p:nvSpPr>
              <p:cNvPr id="52277" name="Line 211"/>
              <p:cNvSpPr/>
              <p:nvPr/>
            </p:nvSpPr>
            <p:spPr>
              <a:xfrm>
                <a:off x="1824" y="1123"/>
                <a:ext cx="75" cy="0"/>
              </a:xfrm>
              <a:prstGeom prst="line">
                <a:avLst/>
              </a:prstGeom>
              <a:ln w="19050" cap="flat" cmpd="sng">
                <a:solidFill>
                  <a:srgbClr val="008080"/>
                </a:solidFill>
                <a:prstDash val="solid"/>
                <a:headEnd type="none" w="med" len="med"/>
                <a:tailEnd type="none" w="med" len="med"/>
              </a:ln>
            </p:spPr>
          </p:sp>
          <p:sp>
            <p:nvSpPr>
              <p:cNvPr id="52278" name="Text Box 212"/>
              <p:cNvSpPr txBox="1"/>
              <p:nvPr/>
            </p:nvSpPr>
            <p:spPr>
              <a:xfrm>
                <a:off x="1613" y="1633"/>
                <a:ext cx="272" cy="176"/>
              </a:xfrm>
              <a:prstGeom prst="rect">
                <a:avLst/>
              </a:prstGeom>
              <a:noFill/>
              <a:ln w="9525">
                <a:noFill/>
              </a:ln>
            </p:spPr>
            <p:txBody>
              <a:bodyPr vert="eaVert">
                <a:spAutoFit/>
              </a:bodyPr>
              <a:p>
                <a:pPr eaLnBrk="1" hangingPunct="1">
                  <a:lnSpc>
                    <a:spcPct val="90000"/>
                  </a:lnSpc>
                  <a:spcBef>
                    <a:spcPct val="50000"/>
                  </a:spcBef>
                </a:pPr>
                <a:r>
                  <a:rPr lang="en-US" altLang="zh-CN" sz="1800" b="1" dirty="0">
                    <a:latin typeface="Times New Roman" panose="02020603050405020304" pitchFamily="18" charset="0"/>
                  </a:rPr>
                  <a:t>…</a:t>
                </a:r>
                <a:endParaRPr lang="en-US" altLang="zh-CN" sz="1800" b="1" dirty="0">
                  <a:latin typeface="Times New Roman" panose="02020603050405020304" pitchFamily="18" charset="0"/>
                </a:endParaRPr>
              </a:p>
            </p:txBody>
          </p:sp>
          <p:sp>
            <p:nvSpPr>
              <p:cNvPr id="52279" name="Oval 213"/>
              <p:cNvSpPr/>
              <p:nvPr/>
            </p:nvSpPr>
            <p:spPr>
              <a:xfrm>
                <a:off x="1761" y="801"/>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0" name="Oval 214"/>
              <p:cNvSpPr/>
              <p:nvPr/>
            </p:nvSpPr>
            <p:spPr>
              <a:xfrm>
                <a:off x="1765" y="1097"/>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1" name="Oval 215"/>
              <p:cNvSpPr/>
              <p:nvPr/>
            </p:nvSpPr>
            <p:spPr>
              <a:xfrm>
                <a:off x="1770" y="1435"/>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2" name="Oval 216"/>
              <p:cNvSpPr/>
              <p:nvPr/>
            </p:nvSpPr>
            <p:spPr>
              <a:xfrm>
                <a:off x="1773" y="1957"/>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3" name="Line 217"/>
              <p:cNvSpPr/>
              <p:nvPr/>
            </p:nvSpPr>
            <p:spPr>
              <a:xfrm>
                <a:off x="1811" y="1469"/>
                <a:ext cx="84" cy="0"/>
              </a:xfrm>
              <a:prstGeom prst="line">
                <a:avLst/>
              </a:prstGeom>
              <a:ln w="19050" cap="flat" cmpd="sng">
                <a:solidFill>
                  <a:srgbClr val="008080"/>
                </a:solidFill>
                <a:prstDash val="solid"/>
                <a:headEnd type="none" w="med" len="med"/>
                <a:tailEnd type="none" w="med" len="med"/>
              </a:ln>
            </p:spPr>
          </p:sp>
          <p:sp>
            <p:nvSpPr>
              <p:cNvPr id="52284" name="Line 218"/>
              <p:cNvSpPr/>
              <p:nvPr/>
            </p:nvSpPr>
            <p:spPr>
              <a:xfrm>
                <a:off x="1795" y="826"/>
                <a:ext cx="100" cy="0"/>
              </a:xfrm>
              <a:prstGeom prst="line">
                <a:avLst/>
              </a:prstGeom>
              <a:ln w="19050" cap="flat" cmpd="sng">
                <a:solidFill>
                  <a:srgbClr val="008080"/>
                </a:solidFill>
                <a:prstDash val="solid"/>
                <a:headEnd type="none" w="med" len="med"/>
                <a:tailEnd type="none" w="med" len="med"/>
              </a:ln>
            </p:spPr>
          </p:sp>
          <p:sp>
            <p:nvSpPr>
              <p:cNvPr id="52285" name="Line 219"/>
              <p:cNvSpPr/>
              <p:nvPr/>
            </p:nvSpPr>
            <p:spPr>
              <a:xfrm flipH="1">
                <a:off x="1811" y="1987"/>
                <a:ext cx="84" cy="0"/>
              </a:xfrm>
              <a:prstGeom prst="line">
                <a:avLst/>
              </a:prstGeom>
              <a:ln w="19050" cap="flat" cmpd="sng">
                <a:solidFill>
                  <a:srgbClr val="008080"/>
                </a:solidFill>
                <a:prstDash val="solid"/>
                <a:headEnd type="none" w="med" len="med"/>
                <a:tailEnd type="none" w="med" len="med"/>
              </a:ln>
            </p:spPr>
          </p:sp>
          <p:sp>
            <p:nvSpPr>
              <p:cNvPr id="52286" name="Oval 220"/>
              <p:cNvSpPr/>
              <p:nvPr/>
            </p:nvSpPr>
            <p:spPr>
              <a:xfrm>
                <a:off x="1590" y="805"/>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7" name="Oval 221"/>
              <p:cNvSpPr/>
              <p:nvPr/>
            </p:nvSpPr>
            <p:spPr>
              <a:xfrm>
                <a:off x="1590" y="1097"/>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8" name="Oval 222"/>
              <p:cNvSpPr/>
              <p:nvPr/>
            </p:nvSpPr>
            <p:spPr>
              <a:xfrm>
                <a:off x="1589" y="1448"/>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89" name="Oval 223"/>
              <p:cNvSpPr/>
              <p:nvPr/>
            </p:nvSpPr>
            <p:spPr>
              <a:xfrm>
                <a:off x="1598" y="1957"/>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90" name="Line 224"/>
              <p:cNvSpPr/>
              <p:nvPr/>
            </p:nvSpPr>
            <p:spPr>
              <a:xfrm flipV="1">
                <a:off x="1619" y="785"/>
                <a:ext cx="234" cy="41"/>
              </a:xfrm>
              <a:prstGeom prst="line">
                <a:avLst/>
              </a:prstGeom>
              <a:ln w="19050" cap="flat" cmpd="sng">
                <a:solidFill>
                  <a:srgbClr val="008080"/>
                </a:solidFill>
                <a:prstDash val="solid"/>
                <a:headEnd type="none" w="med" len="med"/>
                <a:tailEnd type="none" w="med" len="med"/>
              </a:ln>
            </p:spPr>
          </p:sp>
          <p:sp>
            <p:nvSpPr>
              <p:cNvPr id="52291" name="Line 225"/>
              <p:cNvSpPr/>
              <p:nvPr/>
            </p:nvSpPr>
            <p:spPr>
              <a:xfrm flipV="1">
                <a:off x="1611" y="1018"/>
                <a:ext cx="192" cy="109"/>
              </a:xfrm>
              <a:prstGeom prst="line">
                <a:avLst/>
              </a:prstGeom>
              <a:ln w="19050" cap="flat" cmpd="sng">
                <a:solidFill>
                  <a:srgbClr val="008080"/>
                </a:solidFill>
                <a:prstDash val="solid"/>
                <a:headEnd type="none" w="med" len="med"/>
                <a:tailEnd type="none" w="med" len="med"/>
              </a:ln>
            </p:spPr>
          </p:sp>
          <p:sp>
            <p:nvSpPr>
              <p:cNvPr id="52292" name="Line 226"/>
              <p:cNvSpPr/>
              <p:nvPr/>
            </p:nvSpPr>
            <p:spPr>
              <a:xfrm flipV="1">
                <a:off x="1614" y="1365"/>
                <a:ext cx="192" cy="109"/>
              </a:xfrm>
              <a:prstGeom prst="line">
                <a:avLst/>
              </a:prstGeom>
              <a:ln w="19050" cap="flat" cmpd="sng">
                <a:solidFill>
                  <a:srgbClr val="008080"/>
                </a:solidFill>
                <a:prstDash val="solid"/>
                <a:headEnd type="none" w="med" len="med"/>
                <a:tailEnd type="none" w="med" len="med"/>
              </a:ln>
            </p:spPr>
          </p:sp>
          <p:sp>
            <p:nvSpPr>
              <p:cNvPr id="52293" name="Line 227"/>
              <p:cNvSpPr/>
              <p:nvPr/>
            </p:nvSpPr>
            <p:spPr>
              <a:xfrm flipV="1">
                <a:off x="1624" y="1874"/>
                <a:ext cx="192" cy="109"/>
              </a:xfrm>
              <a:prstGeom prst="line">
                <a:avLst/>
              </a:prstGeom>
              <a:ln w="19050" cap="flat" cmpd="sng">
                <a:solidFill>
                  <a:srgbClr val="008080"/>
                </a:solidFill>
                <a:prstDash val="solid"/>
                <a:headEnd type="none" w="med" len="med"/>
                <a:tailEnd type="none" w="med" len="med"/>
              </a:ln>
            </p:spPr>
          </p:sp>
          <p:sp>
            <p:nvSpPr>
              <p:cNvPr id="52294" name="Line 228"/>
              <p:cNvSpPr/>
              <p:nvPr/>
            </p:nvSpPr>
            <p:spPr>
              <a:xfrm flipH="1">
                <a:off x="1369" y="1987"/>
                <a:ext cx="250" cy="0"/>
              </a:xfrm>
              <a:prstGeom prst="line">
                <a:avLst/>
              </a:prstGeom>
              <a:ln w="19050" cap="flat" cmpd="sng">
                <a:solidFill>
                  <a:srgbClr val="008080"/>
                </a:solidFill>
                <a:prstDash val="solid"/>
                <a:headEnd type="none" w="med" len="med"/>
                <a:tailEnd type="none" w="med" len="med"/>
              </a:ln>
            </p:spPr>
          </p:sp>
          <p:sp>
            <p:nvSpPr>
              <p:cNvPr id="52295" name="Line 229"/>
              <p:cNvSpPr/>
              <p:nvPr/>
            </p:nvSpPr>
            <p:spPr>
              <a:xfrm flipH="1">
                <a:off x="1365" y="1474"/>
                <a:ext cx="250" cy="0"/>
              </a:xfrm>
              <a:prstGeom prst="line">
                <a:avLst/>
              </a:prstGeom>
              <a:ln w="19050" cap="flat" cmpd="sng">
                <a:solidFill>
                  <a:srgbClr val="008080"/>
                </a:solidFill>
                <a:prstDash val="solid"/>
                <a:headEnd type="none" w="med" len="med"/>
                <a:tailEnd type="none" w="med" len="med"/>
              </a:ln>
            </p:spPr>
          </p:sp>
          <p:sp>
            <p:nvSpPr>
              <p:cNvPr id="52296" name="Line 230"/>
              <p:cNvSpPr/>
              <p:nvPr/>
            </p:nvSpPr>
            <p:spPr>
              <a:xfrm flipH="1">
                <a:off x="1356" y="1131"/>
                <a:ext cx="250" cy="0"/>
              </a:xfrm>
              <a:prstGeom prst="line">
                <a:avLst/>
              </a:prstGeom>
              <a:ln w="19050" cap="flat" cmpd="sng">
                <a:solidFill>
                  <a:srgbClr val="008080"/>
                </a:solidFill>
                <a:prstDash val="solid"/>
                <a:headEnd type="none" w="med" len="med"/>
                <a:tailEnd type="none" w="med" len="med"/>
              </a:ln>
            </p:spPr>
          </p:sp>
          <p:sp>
            <p:nvSpPr>
              <p:cNvPr id="52297" name="Line 231"/>
              <p:cNvSpPr/>
              <p:nvPr/>
            </p:nvSpPr>
            <p:spPr>
              <a:xfrm flipH="1">
                <a:off x="1356" y="830"/>
                <a:ext cx="250" cy="0"/>
              </a:xfrm>
              <a:prstGeom prst="line">
                <a:avLst/>
              </a:prstGeom>
              <a:ln w="19050" cap="flat" cmpd="sng">
                <a:solidFill>
                  <a:srgbClr val="008080"/>
                </a:solidFill>
                <a:prstDash val="solid"/>
                <a:headEnd type="none" w="med" len="med"/>
                <a:tailEnd type="none" w="med" len="med"/>
              </a:ln>
            </p:spPr>
          </p:sp>
          <p:sp>
            <p:nvSpPr>
              <p:cNvPr id="52298" name="Oval 232"/>
              <p:cNvSpPr/>
              <p:nvPr/>
            </p:nvSpPr>
            <p:spPr>
              <a:xfrm>
                <a:off x="1334" y="1952"/>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299" name="Oval 233"/>
              <p:cNvSpPr/>
              <p:nvPr/>
            </p:nvSpPr>
            <p:spPr>
              <a:xfrm>
                <a:off x="1351" y="1452"/>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0" name="Oval 234"/>
              <p:cNvSpPr/>
              <p:nvPr/>
            </p:nvSpPr>
            <p:spPr>
              <a:xfrm>
                <a:off x="1351" y="1101"/>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sp>
            <p:nvSpPr>
              <p:cNvPr id="52301" name="Oval 235"/>
              <p:cNvSpPr/>
              <p:nvPr/>
            </p:nvSpPr>
            <p:spPr>
              <a:xfrm>
                <a:off x="1350" y="800"/>
                <a:ext cx="58" cy="58"/>
              </a:xfrm>
              <a:prstGeom prst="ellipse">
                <a:avLst/>
              </a:prstGeom>
              <a:solidFill>
                <a:srgbClr val="008080"/>
              </a:solidFill>
              <a:ln w="12700" cap="flat" cmpd="sng">
                <a:solidFill>
                  <a:srgbClr val="008080"/>
                </a:solidFill>
                <a:prstDash val="solid"/>
                <a:headEnd type="none" w="med" len="med"/>
                <a:tailEnd type="none" w="med" len="med"/>
              </a:ln>
            </p:spPr>
            <p:txBody>
              <a:bodyPr anchor="ctr" anchorCtr="0">
                <a:spAutoFit/>
              </a:bodyPr>
              <a:p>
                <a:pPr algn="ctr" eaLnBrk="1" hangingPunct="1">
                  <a:lnSpc>
                    <a:spcPct val="90000"/>
                  </a:lnSpc>
                </a:pPr>
                <a:endParaRPr lang="zh-CN" altLang="en-US" dirty="0">
                  <a:latin typeface="Times New Roman" panose="02020603050405020304" pitchFamily="18" charset="0"/>
                </a:endParaRPr>
              </a:p>
            </p:txBody>
          </p:sp>
        </p:grpSp>
        <p:sp>
          <p:nvSpPr>
            <p:cNvPr id="52274" name="Text Box 236"/>
            <p:cNvSpPr txBox="1"/>
            <p:nvPr/>
          </p:nvSpPr>
          <p:spPr>
            <a:xfrm>
              <a:off x="1372" y="438"/>
              <a:ext cx="805" cy="214"/>
            </a:xfrm>
            <a:prstGeom prst="rect">
              <a:avLst/>
            </a:prstGeom>
            <a:noFill/>
            <a:ln w="9525">
              <a:noFill/>
            </a:ln>
          </p:spPr>
          <p:txBody>
            <a:bodyPr>
              <a:spAutoFit/>
            </a:bodyPr>
            <a:p>
              <a:pPr algn="ctr" eaLnBrk="1" hangingPunct="1">
                <a:lnSpc>
                  <a:spcPct val="90000"/>
                </a:lnSpc>
              </a:pPr>
              <a:r>
                <a:rPr lang="zh-CN" altLang="en-US" sz="1800" b="1" dirty="0">
                  <a:latin typeface="Times New Roman" panose="02020603050405020304" pitchFamily="18" charset="0"/>
                </a:rPr>
                <a:t>多路开关</a:t>
              </a:r>
              <a:endParaRPr lang="zh-CN" altLang="en-US" sz="1800" b="1" dirty="0">
                <a:latin typeface="Times New Roman" panose="02020603050405020304" pitchFamily="18" charset="0"/>
              </a:endParaRPr>
            </a:p>
          </p:txBody>
        </p:sp>
      </p:grpSp>
      <p:sp>
        <p:nvSpPr>
          <p:cNvPr id="2256109" name="Line 237"/>
          <p:cNvSpPr/>
          <p:nvPr/>
        </p:nvSpPr>
        <p:spPr>
          <a:xfrm>
            <a:off x="3044825" y="2995613"/>
            <a:ext cx="396875" cy="0"/>
          </a:xfrm>
          <a:prstGeom prst="line">
            <a:avLst/>
          </a:prstGeom>
          <a:ln w="19050" cap="flat" cmpd="sng">
            <a:solidFill>
              <a:srgbClr val="008080"/>
            </a:solidFill>
            <a:prstDash val="solid"/>
            <a:headEnd type="none" w="med" len="med"/>
            <a:tailEnd type="stealth" w="med" len="med"/>
          </a:ln>
        </p:spPr>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3110"/>
                                        </p:tgtEl>
                                        <p:attrNameLst>
                                          <p:attrName>style.visibility</p:attrName>
                                        </p:attrNameLst>
                                      </p:cBhvr>
                                      <p:to>
                                        <p:strVal val="visible"/>
                                      </p:to>
                                    </p:set>
                                    <p:animEffect transition="in" filter="dissolve">
                                      <p:cBhvr>
                                        <p:cTn id="7" dur="500"/>
                                        <p:tgtEl>
                                          <p:spTgt spid="22231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6011"/>
                                        </p:tgtEl>
                                        <p:attrNameLst>
                                          <p:attrName>style.visibility</p:attrName>
                                        </p:attrNameLst>
                                      </p:cBhvr>
                                      <p:to>
                                        <p:strVal val="visible"/>
                                      </p:to>
                                    </p:set>
                                    <p:animEffect transition="in" filter="dissolve">
                                      <p:cBhvr>
                                        <p:cTn id="12" dur="500"/>
                                        <p:tgtEl>
                                          <p:spTgt spid="2256011"/>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25611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256076"/>
                                        </p:tgtEl>
                                        <p:attrNameLst>
                                          <p:attrName>style.visibility</p:attrName>
                                        </p:attrNameLst>
                                      </p:cBhvr>
                                      <p:to>
                                        <p:strVal val="visible"/>
                                      </p:to>
                                    </p:set>
                                    <p:animEffect transition="in" filter="dissolve">
                                      <p:cBhvr>
                                        <p:cTn id="21" dur="500"/>
                                        <p:tgtEl>
                                          <p:spTgt spid="2256076"/>
                                        </p:tgtEl>
                                      </p:cBhvr>
                                    </p:animEffect>
                                  </p:childTnLst>
                                </p:cTn>
                              </p:par>
                            </p:childTnLst>
                          </p:cTn>
                        </p:par>
                        <p:par>
                          <p:cTn id="22" fill="hold">
                            <p:stCondLst>
                              <p:cond delay="500"/>
                            </p:stCondLst>
                            <p:childTnLst>
                              <p:par>
                                <p:cTn id="23" presetID="22" presetClass="entr" presetSubtype="1" fill="hold" nodeType="afterEffect">
                                  <p:stCondLst>
                                    <p:cond delay="0"/>
                                  </p:stCondLst>
                                  <p:childTnLst>
                                    <p:set>
                                      <p:cBhvr>
                                        <p:cTn id="24" dur="1" fill="hold">
                                          <p:stCondLst>
                                            <p:cond delay="0"/>
                                          </p:stCondLst>
                                        </p:cTn>
                                        <p:tgtEl>
                                          <p:spTgt spid="2256075"/>
                                        </p:tgtEl>
                                        <p:attrNameLst>
                                          <p:attrName>style.visibility</p:attrName>
                                        </p:attrNameLst>
                                      </p:cBhvr>
                                      <p:to>
                                        <p:strVal val="visible"/>
                                      </p:to>
                                    </p:set>
                                    <p:animEffect transition="in" filter="wipe(up)">
                                      <p:cBhvr>
                                        <p:cTn id="25" dur="500"/>
                                        <p:tgtEl>
                                          <p:spTgt spid="225607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wipe(left)">
                                      <p:cBhvr>
                                        <p:cTn id="30" dur="500"/>
                                        <p:tgtEl>
                                          <p:spTgt spid="2"/>
                                        </p:tgtEl>
                                      </p:cBhvr>
                                    </p:animEffect>
                                  </p:childTnLst>
                                </p:cTn>
                              </p:par>
                            </p:childTnLst>
                          </p:cTn>
                        </p:par>
                        <p:par>
                          <p:cTn id="31" fill="hold">
                            <p:stCondLst>
                              <p:cond delay="500"/>
                            </p:stCondLst>
                            <p:childTnLst>
                              <p:par>
                                <p:cTn id="32" presetID="22" presetClass="entr" presetSubtype="8" fill="hold" nodeType="afterEffect">
                                  <p:stCondLst>
                                    <p:cond delay="1000"/>
                                  </p:stCondLst>
                                  <p:childTnLst>
                                    <p:set>
                                      <p:cBhvr>
                                        <p:cTn id="33" dur="1" fill="hold">
                                          <p:stCondLst>
                                            <p:cond delay="0"/>
                                          </p:stCondLst>
                                        </p:cTn>
                                        <p:tgtEl>
                                          <p:spTgt spid="5"/>
                                        </p:tgtEl>
                                        <p:attrNameLst>
                                          <p:attrName>style.visibility</p:attrName>
                                        </p:attrNameLst>
                                      </p:cBhvr>
                                      <p:to>
                                        <p:strVal val="visible"/>
                                      </p:to>
                                    </p:set>
                                    <p:animEffect transition="in" filter="wipe(left)">
                                      <p:cBhvr>
                                        <p:cTn id="34" dur="500"/>
                                        <p:tgtEl>
                                          <p:spTgt spid="5"/>
                                        </p:tgtEl>
                                      </p:cBhvr>
                                    </p:animEffect>
                                  </p:childTnLst>
                                </p:cTn>
                              </p:par>
                            </p:childTnLst>
                          </p:cTn>
                        </p:par>
                        <p:par>
                          <p:cTn id="35" fill="hold">
                            <p:stCondLst>
                              <p:cond delay="2000"/>
                            </p:stCondLst>
                            <p:childTnLst>
                              <p:par>
                                <p:cTn id="36" presetID="22" presetClass="entr" presetSubtype="8" fill="hold" nodeType="afterEffect">
                                  <p:stCondLst>
                                    <p:cond delay="100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par>
                          <p:cTn id="39" fill="hold">
                            <p:stCondLst>
                              <p:cond delay="3500"/>
                            </p:stCondLst>
                            <p:childTnLst>
                              <p:par>
                                <p:cTn id="40" presetID="22" presetClass="entr" presetSubtype="1" fill="hold" grpId="0" nodeType="afterEffect">
                                  <p:stCondLst>
                                    <p:cond delay="1000"/>
                                  </p:stCondLst>
                                  <p:childTnLst>
                                    <p:set>
                                      <p:cBhvr>
                                        <p:cTn id="41" dur="1" fill="hold">
                                          <p:stCondLst>
                                            <p:cond delay="0"/>
                                          </p:stCondLst>
                                        </p:cTn>
                                        <p:tgtEl>
                                          <p:spTgt spid="2256032"/>
                                        </p:tgtEl>
                                        <p:attrNameLst>
                                          <p:attrName>style.visibility</p:attrName>
                                        </p:attrNameLst>
                                      </p:cBhvr>
                                      <p:to>
                                        <p:strVal val="visible"/>
                                      </p:to>
                                    </p:set>
                                    <p:animEffect transition="in" filter="wipe(up)">
                                      <p:cBhvr>
                                        <p:cTn id="42" dur="500"/>
                                        <p:tgtEl>
                                          <p:spTgt spid="2256032"/>
                                        </p:tgtEl>
                                      </p:cBhvr>
                                    </p:animEffect>
                                  </p:childTnLst>
                                </p:cTn>
                              </p:par>
                            </p:childTnLst>
                          </p:cTn>
                        </p:par>
                        <p:par>
                          <p:cTn id="43" fill="hold">
                            <p:stCondLst>
                              <p:cond delay="5000"/>
                            </p:stCondLst>
                            <p:childTnLst>
                              <p:par>
                                <p:cTn id="44" presetID="22" presetClass="entr" presetSubtype="8" fill="hold" nodeType="afterEffect">
                                  <p:stCondLst>
                                    <p:cond delay="1000"/>
                                  </p:stCondLst>
                                  <p:childTnLst>
                                    <p:set>
                                      <p:cBhvr>
                                        <p:cTn id="45" dur="1" fill="hold">
                                          <p:stCondLst>
                                            <p:cond delay="0"/>
                                          </p:stCondLst>
                                        </p:cTn>
                                        <p:tgtEl>
                                          <p:spTgt spid="7"/>
                                        </p:tgtEl>
                                        <p:attrNameLst>
                                          <p:attrName>style.visibility</p:attrName>
                                        </p:attrNameLst>
                                      </p:cBhvr>
                                      <p:to>
                                        <p:strVal val="visible"/>
                                      </p:to>
                                    </p:set>
                                    <p:animEffect transition="in" filter="wipe(left)">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7" presetClass="entr" presetSubtype="8" fill="hold" nodeType="clickEffect">
                                  <p:stCondLst>
                                    <p:cond delay="0"/>
                                  </p:stCondLst>
                                  <p:childTnLst>
                                    <p:set>
                                      <p:cBhvr>
                                        <p:cTn id="50" dur="1" fill="hold">
                                          <p:stCondLst>
                                            <p:cond delay="0"/>
                                          </p:stCondLst>
                                        </p:cTn>
                                        <p:tgtEl>
                                          <p:spTgt spid="2256012"/>
                                        </p:tgtEl>
                                        <p:attrNameLst>
                                          <p:attrName>style.visibility</p:attrName>
                                        </p:attrNameLst>
                                      </p:cBhvr>
                                      <p:to>
                                        <p:strVal val="visible"/>
                                      </p:to>
                                    </p:set>
                                    <p:anim calcmode="lin" valueType="num">
                                      <p:cBhvr>
                                        <p:cTn id="51" dur="500" fill="hold"/>
                                        <p:tgtEl>
                                          <p:spTgt spid="2256012"/>
                                        </p:tgtEl>
                                        <p:attrNameLst>
                                          <p:attrName>ppt_x</p:attrName>
                                        </p:attrNameLst>
                                      </p:cBhvr>
                                      <p:tavLst>
                                        <p:tav tm="0">
                                          <p:val>
                                            <p:strVal val="#ppt_x-#ppt_w/2"/>
                                          </p:val>
                                        </p:tav>
                                        <p:tav tm="100000">
                                          <p:val>
                                            <p:strVal val="#ppt_x"/>
                                          </p:val>
                                        </p:tav>
                                      </p:tavLst>
                                    </p:anim>
                                    <p:anim calcmode="lin" valueType="num">
                                      <p:cBhvr>
                                        <p:cTn id="52" dur="500" fill="hold"/>
                                        <p:tgtEl>
                                          <p:spTgt spid="2256012"/>
                                        </p:tgtEl>
                                        <p:attrNameLst>
                                          <p:attrName>ppt_y</p:attrName>
                                        </p:attrNameLst>
                                      </p:cBhvr>
                                      <p:tavLst>
                                        <p:tav tm="0">
                                          <p:val>
                                            <p:strVal val="#ppt_y"/>
                                          </p:val>
                                        </p:tav>
                                        <p:tav tm="100000">
                                          <p:val>
                                            <p:strVal val="#ppt_y"/>
                                          </p:val>
                                        </p:tav>
                                      </p:tavLst>
                                    </p:anim>
                                    <p:anim calcmode="lin" valueType="num">
                                      <p:cBhvr>
                                        <p:cTn id="53" dur="500" fill="hold"/>
                                        <p:tgtEl>
                                          <p:spTgt spid="2256012"/>
                                        </p:tgtEl>
                                        <p:attrNameLst>
                                          <p:attrName>ppt_w</p:attrName>
                                        </p:attrNameLst>
                                      </p:cBhvr>
                                      <p:tavLst>
                                        <p:tav tm="0">
                                          <p:val>
                                            <p:fltVal val="0.000000"/>
                                          </p:val>
                                        </p:tav>
                                        <p:tav tm="100000">
                                          <p:val>
                                            <p:strVal val="#ppt_w"/>
                                          </p:val>
                                        </p:tav>
                                      </p:tavLst>
                                    </p:anim>
                                    <p:anim calcmode="lin" valueType="num">
                                      <p:cBhvr>
                                        <p:cTn id="54" dur="500" fill="hold"/>
                                        <p:tgtEl>
                                          <p:spTgt spid="2256012"/>
                                        </p:tgtEl>
                                        <p:attrNameLst>
                                          <p:attrName>ppt_h</p:attrName>
                                        </p:attrNameLst>
                                      </p:cBhvr>
                                      <p:tavLst>
                                        <p:tav tm="0">
                                          <p:val>
                                            <p:strVal val="#ppt_h"/>
                                          </p:val>
                                        </p:tav>
                                        <p:tav tm="100000">
                                          <p:val>
                                            <p:strVal val="#ppt_h"/>
                                          </p:val>
                                        </p:tav>
                                      </p:tavLst>
                                    </p:anim>
                                  </p:childTnLst>
                                </p:cTn>
                              </p:par>
                            </p:childTnLst>
                          </p:cTn>
                        </p:par>
                        <p:par>
                          <p:cTn id="55" fill="hold">
                            <p:stCondLst>
                              <p:cond delay="500"/>
                            </p:stCondLst>
                            <p:childTnLst>
                              <p:par>
                                <p:cTn id="56" presetID="17" presetClass="entr" presetSubtype="8" fill="hold" nodeType="afterEffect">
                                  <p:stCondLst>
                                    <p:cond delay="1000"/>
                                  </p:stCondLst>
                                  <p:childTnLst>
                                    <p:set>
                                      <p:cBhvr>
                                        <p:cTn id="57" dur="1" fill="hold">
                                          <p:stCondLst>
                                            <p:cond delay="0"/>
                                          </p:stCondLst>
                                        </p:cTn>
                                        <p:tgtEl>
                                          <p:spTgt spid="2256013"/>
                                        </p:tgtEl>
                                        <p:attrNameLst>
                                          <p:attrName>style.visibility</p:attrName>
                                        </p:attrNameLst>
                                      </p:cBhvr>
                                      <p:to>
                                        <p:strVal val="visible"/>
                                      </p:to>
                                    </p:set>
                                    <p:anim calcmode="lin" valueType="num">
                                      <p:cBhvr>
                                        <p:cTn id="58" dur="500" fill="hold"/>
                                        <p:tgtEl>
                                          <p:spTgt spid="2256013"/>
                                        </p:tgtEl>
                                        <p:attrNameLst>
                                          <p:attrName>ppt_x</p:attrName>
                                        </p:attrNameLst>
                                      </p:cBhvr>
                                      <p:tavLst>
                                        <p:tav tm="0">
                                          <p:val>
                                            <p:strVal val="#ppt_x-#ppt_w/2"/>
                                          </p:val>
                                        </p:tav>
                                        <p:tav tm="100000">
                                          <p:val>
                                            <p:strVal val="#ppt_x"/>
                                          </p:val>
                                        </p:tav>
                                      </p:tavLst>
                                    </p:anim>
                                    <p:anim calcmode="lin" valueType="num">
                                      <p:cBhvr>
                                        <p:cTn id="59" dur="500" fill="hold"/>
                                        <p:tgtEl>
                                          <p:spTgt spid="2256013"/>
                                        </p:tgtEl>
                                        <p:attrNameLst>
                                          <p:attrName>ppt_y</p:attrName>
                                        </p:attrNameLst>
                                      </p:cBhvr>
                                      <p:tavLst>
                                        <p:tav tm="0">
                                          <p:val>
                                            <p:strVal val="#ppt_y"/>
                                          </p:val>
                                        </p:tav>
                                        <p:tav tm="100000">
                                          <p:val>
                                            <p:strVal val="#ppt_y"/>
                                          </p:val>
                                        </p:tav>
                                      </p:tavLst>
                                    </p:anim>
                                    <p:anim calcmode="lin" valueType="num">
                                      <p:cBhvr>
                                        <p:cTn id="60" dur="500" fill="hold"/>
                                        <p:tgtEl>
                                          <p:spTgt spid="2256013"/>
                                        </p:tgtEl>
                                        <p:attrNameLst>
                                          <p:attrName>ppt_w</p:attrName>
                                        </p:attrNameLst>
                                      </p:cBhvr>
                                      <p:tavLst>
                                        <p:tav tm="0">
                                          <p:val>
                                            <p:fltVal val="0.000000"/>
                                          </p:val>
                                        </p:tav>
                                        <p:tav tm="100000">
                                          <p:val>
                                            <p:strVal val="#ppt_w"/>
                                          </p:val>
                                        </p:tav>
                                      </p:tavLst>
                                    </p:anim>
                                    <p:anim calcmode="lin" valueType="num">
                                      <p:cBhvr>
                                        <p:cTn id="61" dur="500" fill="hold"/>
                                        <p:tgtEl>
                                          <p:spTgt spid="2256013"/>
                                        </p:tgtEl>
                                        <p:attrNameLst>
                                          <p:attrName>ppt_h</p:attrName>
                                        </p:attrNameLst>
                                      </p:cBhvr>
                                      <p:tavLst>
                                        <p:tav tm="0">
                                          <p:val>
                                            <p:strVal val="#ppt_h"/>
                                          </p:val>
                                        </p:tav>
                                        <p:tav tm="100000">
                                          <p:val>
                                            <p:strVal val="#ppt_h"/>
                                          </p:val>
                                        </p:tav>
                                      </p:tavLst>
                                    </p:anim>
                                  </p:childTnLst>
                                </p:cTn>
                              </p:par>
                            </p:childTnLst>
                          </p:cTn>
                        </p:par>
                        <p:par>
                          <p:cTn id="62" fill="hold">
                            <p:stCondLst>
                              <p:cond delay="2000"/>
                            </p:stCondLst>
                            <p:childTnLst>
                              <p:par>
                                <p:cTn id="63" presetID="17" presetClass="entr" presetSubtype="8" fill="hold" nodeType="afterEffect">
                                  <p:stCondLst>
                                    <p:cond delay="1000"/>
                                  </p:stCondLst>
                                  <p:childTnLst>
                                    <p:set>
                                      <p:cBhvr>
                                        <p:cTn id="64" dur="1" fill="hold">
                                          <p:stCondLst>
                                            <p:cond delay="0"/>
                                          </p:stCondLst>
                                        </p:cTn>
                                        <p:tgtEl>
                                          <p:spTgt spid="2256014"/>
                                        </p:tgtEl>
                                        <p:attrNameLst>
                                          <p:attrName>style.visibility</p:attrName>
                                        </p:attrNameLst>
                                      </p:cBhvr>
                                      <p:to>
                                        <p:strVal val="visible"/>
                                      </p:to>
                                    </p:set>
                                    <p:anim calcmode="lin" valueType="num">
                                      <p:cBhvr>
                                        <p:cTn id="65" dur="500" fill="hold"/>
                                        <p:tgtEl>
                                          <p:spTgt spid="2256014"/>
                                        </p:tgtEl>
                                        <p:attrNameLst>
                                          <p:attrName>ppt_x</p:attrName>
                                        </p:attrNameLst>
                                      </p:cBhvr>
                                      <p:tavLst>
                                        <p:tav tm="0">
                                          <p:val>
                                            <p:strVal val="#ppt_x-#ppt_w/2"/>
                                          </p:val>
                                        </p:tav>
                                        <p:tav tm="100000">
                                          <p:val>
                                            <p:strVal val="#ppt_x"/>
                                          </p:val>
                                        </p:tav>
                                      </p:tavLst>
                                    </p:anim>
                                    <p:anim calcmode="lin" valueType="num">
                                      <p:cBhvr>
                                        <p:cTn id="66" dur="500" fill="hold"/>
                                        <p:tgtEl>
                                          <p:spTgt spid="2256014"/>
                                        </p:tgtEl>
                                        <p:attrNameLst>
                                          <p:attrName>ppt_y</p:attrName>
                                        </p:attrNameLst>
                                      </p:cBhvr>
                                      <p:tavLst>
                                        <p:tav tm="0">
                                          <p:val>
                                            <p:strVal val="#ppt_y"/>
                                          </p:val>
                                        </p:tav>
                                        <p:tav tm="100000">
                                          <p:val>
                                            <p:strVal val="#ppt_y"/>
                                          </p:val>
                                        </p:tav>
                                      </p:tavLst>
                                    </p:anim>
                                    <p:anim calcmode="lin" valueType="num">
                                      <p:cBhvr>
                                        <p:cTn id="67" dur="500" fill="hold"/>
                                        <p:tgtEl>
                                          <p:spTgt spid="2256014"/>
                                        </p:tgtEl>
                                        <p:attrNameLst>
                                          <p:attrName>ppt_w</p:attrName>
                                        </p:attrNameLst>
                                      </p:cBhvr>
                                      <p:tavLst>
                                        <p:tav tm="0">
                                          <p:val>
                                            <p:fltVal val="0.000000"/>
                                          </p:val>
                                        </p:tav>
                                        <p:tav tm="100000">
                                          <p:val>
                                            <p:strVal val="#ppt_w"/>
                                          </p:val>
                                        </p:tav>
                                      </p:tavLst>
                                    </p:anim>
                                    <p:anim calcmode="lin" valueType="num">
                                      <p:cBhvr>
                                        <p:cTn id="68" dur="500" fill="hold"/>
                                        <p:tgtEl>
                                          <p:spTgt spid="2256014"/>
                                        </p:tgtEl>
                                        <p:attrNameLst>
                                          <p:attrName>ppt_h</p:attrName>
                                        </p:attrNameLst>
                                      </p:cBhvr>
                                      <p:tavLst>
                                        <p:tav tm="0">
                                          <p:val>
                                            <p:strVal val="#ppt_h"/>
                                          </p:val>
                                        </p:tav>
                                        <p:tav tm="100000">
                                          <p:val>
                                            <p:strVal val="#ppt_h"/>
                                          </p:val>
                                        </p:tav>
                                      </p:tavLst>
                                    </p:anim>
                                  </p:childTnLst>
                                </p:cTn>
                              </p:par>
                            </p:childTnLst>
                          </p:cTn>
                        </p:par>
                        <p:par>
                          <p:cTn id="69" fill="hold">
                            <p:stCondLst>
                              <p:cond delay="3500"/>
                            </p:stCondLst>
                            <p:childTnLst>
                              <p:par>
                                <p:cTn id="70" presetID="17" presetClass="entr" presetSubtype="8" fill="hold" nodeType="afterEffect">
                                  <p:stCondLst>
                                    <p:cond delay="1000"/>
                                  </p:stCondLst>
                                  <p:childTnLst>
                                    <p:set>
                                      <p:cBhvr>
                                        <p:cTn id="71" dur="1" fill="hold">
                                          <p:stCondLst>
                                            <p:cond delay="0"/>
                                          </p:stCondLst>
                                        </p:cTn>
                                        <p:tgtEl>
                                          <p:spTgt spid="2256015"/>
                                        </p:tgtEl>
                                        <p:attrNameLst>
                                          <p:attrName>style.visibility</p:attrName>
                                        </p:attrNameLst>
                                      </p:cBhvr>
                                      <p:to>
                                        <p:strVal val="visible"/>
                                      </p:to>
                                    </p:set>
                                    <p:anim calcmode="lin" valueType="num">
                                      <p:cBhvr>
                                        <p:cTn id="72" dur="500" fill="hold"/>
                                        <p:tgtEl>
                                          <p:spTgt spid="2256015"/>
                                        </p:tgtEl>
                                        <p:attrNameLst>
                                          <p:attrName>ppt_x</p:attrName>
                                        </p:attrNameLst>
                                      </p:cBhvr>
                                      <p:tavLst>
                                        <p:tav tm="0">
                                          <p:val>
                                            <p:strVal val="#ppt_x-#ppt_w/2"/>
                                          </p:val>
                                        </p:tav>
                                        <p:tav tm="100000">
                                          <p:val>
                                            <p:strVal val="#ppt_x"/>
                                          </p:val>
                                        </p:tav>
                                      </p:tavLst>
                                    </p:anim>
                                    <p:anim calcmode="lin" valueType="num">
                                      <p:cBhvr>
                                        <p:cTn id="73" dur="500" fill="hold"/>
                                        <p:tgtEl>
                                          <p:spTgt spid="2256015"/>
                                        </p:tgtEl>
                                        <p:attrNameLst>
                                          <p:attrName>ppt_y</p:attrName>
                                        </p:attrNameLst>
                                      </p:cBhvr>
                                      <p:tavLst>
                                        <p:tav tm="0">
                                          <p:val>
                                            <p:strVal val="#ppt_y"/>
                                          </p:val>
                                        </p:tav>
                                        <p:tav tm="100000">
                                          <p:val>
                                            <p:strVal val="#ppt_y"/>
                                          </p:val>
                                        </p:tav>
                                      </p:tavLst>
                                    </p:anim>
                                    <p:anim calcmode="lin" valueType="num">
                                      <p:cBhvr>
                                        <p:cTn id="74" dur="500" fill="hold"/>
                                        <p:tgtEl>
                                          <p:spTgt spid="2256015"/>
                                        </p:tgtEl>
                                        <p:attrNameLst>
                                          <p:attrName>ppt_w</p:attrName>
                                        </p:attrNameLst>
                                      </p:cBhvr>
                                      <p:tavLst>
                                        <p:tav tm="0">
                                          <p:val>
                                            <p:fltVal val="0.000000"/>
                                          </p:val>
                                        </p:tav>
                                        <p:tav tm="100000">
                                          <p:val>
                                            <p:strVal val="#ppt_w"/>
                                          </p:val>
                                        </p:tav>
                                      </p:tavLst>
                                    </p:anim>
                                    <p:anim calcmode="lin" valueType="num">
                                      <p:cBhvr>
                                        <p:cTn id="75" dur="500" fill="hold"/>
                                        <p:tgtEl>
                                          <p:spTgt spid="2256015"/>
                                        </p:tgtEl>
                                        <p:attrNameLst>
                                          <p:attrName>ppt_h</p:attrName>
                                        </p:attrNameLst>
                                      </p:cBhvr>
                                      <p:tavLst>
                                        <p:tav tm="0">
                                          <p:val>
                                            <p:strVal val="#ppt_h"/>
                                          </p:val>
                                        </p:tav>
                                        <p:tav tm="100000">
                                          <p:val>
                                            <p:strVal val="#ppt_h"/>
                                          </p:val>
                                        </p:tav>
                                      </p:tavLst>
                                    </p:anim>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17"/>
                                        </p:tgtEl>
                                        <p:attrNameLst>
                                          <p:attrName>style.visibility</p:attrName>
                                        </p:attrNameLst>
                                      </p:cBhvr>
                                      <p:to>
                                        <p:strVal val="visible"/>
                                      </p:to>
                                    </p:set>
                                    <p:animEffect transition="in" filter="wipe(left)">
                                      <p:cBhvr>
                                        <p:cTn id="80" dur="500"/>
                                        <p:tgtEl>
                                          <p:spTgt spid="17"/>
                                        </p:tgtEl>
                                      </p:cBhvr>
                                    </p:animEffect>
                                  </p:childTnLst>
                                </p:cTn>
                              </p:par>
                            </p:childTnLst>
                          </p:cTn>
                        </p:par>
                      </p:childTnLst>
                    </p:cTn>
                  </p:par>
                  <p:par>
                    <p:cTn id="81" fill="hold">
                      <p:stCondLst>
                        <p:cond delay="indefinite"/>
                      </p:stCondLst>
                      <p:childTnLst>
                        <p:par>
                          <p:cTn id="82" fill="hold">
                            <p:stCondLst>
                              <p:cond delay="0"/>
                            </p:stCondLst>
                            <p:childTnLst>
                              <p:par>
                                <p:cTn id="83" presetID="17" presetClass="entr" presetSubtype="8" fill="hold" nodeType="clickEffect">
                                  <p:stCondLst>
                                    <p:cond delay="0"/>
                                  </p:stCondLst>
                                  <p:childTnLst>
                                    <p:set>
                                      <p:cBhvr>
                                        <p:cTn id="84" dur="1" fill="hold">
                                          <p:stCondLst>
                                            <p:cond delay="0"/>
                                          </p:stCondLst>
                                        </p:cTn>
                                        <p:tgtEl>
                                          <p:spTgt spid="2256109"/>
                                        </p:tgtEl>
                                        <p:attrNameLst>
                                          <p:attrName>style.visibility</p:attrName>
                                        </p:attrNameLst>
                                      </p:cBhvr>
                                      <p:to>
                                        <p:strVal val="visible"/>
                                      </p:to>
                                    </p:set>
                                    <p:anim calcmode="lin" valueType="num">
                                      <p:cBhvr>
                                        <p:cTn id="85" dur="500" fill="hold"/>
                                        <p:tgtEl>
                                          <p:spTgt spid="2256109"/>
                                        </p:tgtEl>
                                        <p:attrNameLst>
                                          <p:attrName>ppt_x</p:attrName>
                                        </p:attrNameLst>
                                      </p:cBhvr>
                                      <p:tavLst>
                                        <p:tav tm="0">
                                          <p:val>
                                            <p:strVal val="#ppt_x-#ppt_w/2"/>
                                          </p:val>
                                        </p:tav>
                                        <p:tav tm="100000">
                                          <p:val>
                                            <p:strVal val="#ppt_x"/>
                                          </p:val>
                                        </p:tav>
                                      </p:tavLst>
                                    </p:anim>
                                    <p:anim calcmode="lin" valueType="num">
                                      <p:cBhvr>
                                        <p:cTn id="86" dur="500" fill="hold"/>
                                        <p:tgtEl>
                                          <p:spTgt spid="2256109"/>
                                        </p:tgtEl>
                                        <p:attrNameLst>
                                          <p:attrName>ppt_y</p:attrName>
                                        </p:attrNameLst>
                                      </p:cBhvr>
                                      <p:tavLst>
                                        <p:tav tm="0">
                                          <p:val>
                                            <p:strVal val="#ppt_y"/>
                                          </p:val>
                                        </p:tav>
                                        <p:tav tm="100000">
                                          <p:val>
                                            <p:strVal val="#ppt_y"/>
                                          </p:val>
                                        </p:tav>
                                      </p:tavLst>
                                    </p:anim>
                                    <p:anim calcmode="lin" valueType="num">
                                      <p:cBhvr>
                                        <p:cTn id="87" dur="500" fill="hold"/>
                                        <p:tgtEl>
                                          <p:spTgt spid="2256109"/>
                                        </p:tgtEl>
                                        <p:attrNameLst>
                                          <p:attrName>ppt_w</p:attrName>
                                        </p:attrNameLst>
                                      </p:cBhvr>
                                      <p:tavLst>
                                        <p:tav tm="0">
                                          <p:val>
                                            <p:fltVal val="0.000000"/>
                                          </p:val>
                                        </p:tav>
                                        <p:tav tm="100000">
                                          <p:val>
                                            <p:strVal val="#ppt_w"/>
                                          </p:val>
                                        </p:tav>
                                      </p:tavLst>
                                    </p:anim>
                                    <p:anim calcmode="lin" valueType="num">
                                      <p:cBhvr>
                                        <p:cTn id="88" dur="500" fill="hold"/>
                                        <p:tgtEl>
                                          <p:spTgt spid="2256109"/>
                                        </p:tgtEl>
                                        <p:attrNameLst>
                                          <p:attrName>ppt_h</p:attrName>
                                        </p:attrNameLst>
                                      </p:cBhvr>
                                      <p:tavLst>
                                        <p:tav tm="0">
                                          <p:val>
                                            <p:strVal val="#ppt_h"/>
                                          </p:val>
                                        </p:tav>
                                        <p:tav tm="100000">
                                          <p:val>
                                            <p:strVal val="#ppt_h"/>
                                          </p:val>
                                        </p:tav>
                                      </p:tavLst>
                                    </p:anim>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3"/>
                                        </p:tgtEl>
                                        <p:attrNameLst>
                                          <p:attrName>style.visibility</p:attrName>
                                        </p:attrNameLst>
                                      </p:cBhvr>
                                      <p:to>
                                        <p:strVal val="visible"/>
                                      </p:to>
                                    </p:set>
                                    <p:animEffect transition="in" filter="wipe(left)">
                                      <p:cBhvr>
                                        <p:cTn id="93" dur="500"/>
                                        <p:tgtEl>
                                          <p:spTgt spid="3"/>
                                        </p:tgtEl>
                                      </p:cBhvr>
                                    </p:animEffect>
                                  </p:childTnLst>
                                </p:cTn>
                              </p:par>
                            </p:childTnLst>
                          </p:cTn>
                        </p:par>
                      </p:childTnLst>
                    </p:cTn>
                  </p:par>
                  <p:par>
                    <p:cTn id="94" fill="hold">
                      <p:stCondLst>
                        <p:cond delay="indefinite"/>
                      </p:stCondLst>
                      <p:childTnLst>
                        <p:par>
                          <p:cTn id="95" fill="hold">
                            <p:stCondLst>
                              <p:cond delay="0"/>
                            </p:stCondLst>
                            <p:childTnLst>
                              <p:par>
                                <p:cTn id="96" presetID="17" presetClass="entr" presetSubtype="8" fill="hold" nodeType="clickEffect">
                                  <p:stCondLst>
                                    <p:cond delay="0"/>
                                  </p:stCondLst>
                                  <p:childTnLst>
                                    <p:set>
                                      <p:cBhvr>
                                        <p:cTn id="97" dur="1" fill="hold">
                                          <p:stCondLst>
                                            <p:cond delay="0"/>
                                          </p:stCondLst>
                                        </p:cTn>
                                        <p:tgtEl>
                                          <p:spTgt spid="2256019"/>
                                        </p:tgtEl>
                                        <p:attrNameLst>
                                          <p:attrName>style.visibility</p:attrName>
                                        </p:attrNameLst>
                                      </p:cBhvr>
                                      <p:to>
                                        <p:strVal val="visible"/>
                                      </p:to>
                                    </p:set>
                                    <p:anim calcmode="lin" valueType="num">
                                      <p:cBhvr>
                                        <p:cTn id="98" dur="500" fill="hold"/>
                                        <p:tgtEl>
                                          <p:spTgt spid="2256019"/>
                                        </p:tgtEl>
                                        <p:attrNameLst>
                                          <p:attrName>ppt_x</p:attrName>
                                        </p:attrNameLst>
                                      </p:cBhvr>
                                      <p:tavLst>
                                        <p:tav tm="0">
                                          <p:val>
                                            <p:strVal val="#ppt_x-#ppt_w/2"/>
                                          </p:val>
                                        </p:tav>
                                        <p:tav tm="100000">
                                          <p:val>
                                            <p:strVal val="#ppt_x"/>
                                          </p:val>
                                        </p:tav>
                                      </p:tavLst>
                                    </p:anim>
                                    <p:anim calcmode="lin" valueType="num">
                                      <p:cBhvr>
                                        <p:cTn id="99" dur="500" fill="hold"/>
                                        <p:tgtEl>
                                          <p:spTgt spid="2256019"/>
                                        </p:tgtEl>
                                        <p:attrNameLst>
                                          <p:attrName>ppt_y</p:attrName>
                                        </p:attrNameLst>
                                      </p:cBhvr>
                                      <p:tavLst>
                                        <p:tav tm="0">
                                          <p:val>
                                            <p:strVal val="#ppt_y"/>
                                          </p:val>
                                        </p:tav>
                                        <p:tav tm="100000">
                                          <p:val>
                                            <p:strVal val="#ppt_y"/>
                                          </p:val>
                                        </p:tav>
                                      </p:tavLst>
                                    </p:anim>
                                    <p:anim calcmode="lin" valueType="num">
                                      <p:cBhvr>
                                        <p:cTn id="100" dur="500" fill="hold"/>
                                        <p:tgtEl>
                                          <p:spTgt spid="2256019"/>
                                        </p:tgtEl>
                                        <p:attrNameLst>
                                          <p:attrName>ppt_w</p:attrName>
                                        </p:attrNameLst>
                                      </p:cBhvr>
                                      <p:tavLst>
                                        <p:tav tm="0">
                                          <p:val>
                                            <p:fltVal val="0.000000"/>
                                          </p:val>
                                        </p:tav>
                                        <p:tav tm="100000">
                                          <p:val>
                                            <p:strVal val="#ppt_w"/>
                                          </p:val>
                                        </p:tav>
                                      </p:tavLst>
                                    </p:anim>
                                    <p:anim calcmode="lin" valueType="num">
                                      <p:cBhvr>
                                        <p:cTn id="101" dur="500" fill="hold"/>
                                        <p:tgtEl>
                                          <p:spTgt spid="2256019"/>
                                        </p:tgtEl>
                                        <p:attrNameLst>
                                          <p:attrName>ppt_h</p:attrName>
                                        </p:attrNameLst>
                                      </p:cBhvr>
                                      <p:tavLst>
                                        <p:tav tm="0">
                                          <p:val>
                                            <p:strVal val="#ppt_h"/>
                                          </p:val>
                                        </p:tav>
                                        <p:tav tm="100000">
                                          <p:val>
                                            <p:strVal val="#ppt_h"/>
                                          </p:val>
                                        </p:tav>
                                      </p:tavLst>
                                    </p:anim>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wipe(left)">
                                      <p:cBhvr>
                                        <p:cTn id="106" dur="500"/>
                                        <p:tgtEl>
                                          <p:spTgt spid="4"/>
                                        </p:tgtEl>
                                      </p:cBhvr>
                                    </p:animEffect>
                                  </p:childTnLst>
                                </p:cTn>
                              </p:par>
                            </p:childTnLst>
                          </p:cTn>
                        </p:par>
                      </p:childTnLst>
                    </p:cTn>
                  </p:par>
                  <p:par>
                    <p:cTn id="107" fill="hold">
                      <p:stCondLst>
                        <p:cond delay="indefinite"/>
                      </p:stCondLst>
                      <p:childTnLst>
                        <p:par>
                          <p:cTn id="108" fill="hold">
                            <p:stCondLst>
                              <p:cond delay="0"/>
                            </p:stCondLst>
                            <p:childTnLst>
                              <p:par>
                                <p:cTn id="109" presetID="17" presetClass="entr" presetSubtype="8" fill="hold" nodeType="clickEffect">
                                  <p:stCondLst>
                                    <p:cond delay="0"/>
                                  </p:stCondLst>
                                  <p:childTnLst>
                                    <p:set>
                                      <p:cBhvr>
                                        <p:cTn id="110" dur="1" fill="hold">
                                          <p:stCondLst>
                                            <p:cond delay="0"/>
                                          </p:stCondLst>
                                        </p:cTn>
                                        <p:tgtEl>
                                          <p:spTgt spid="2256033"/>
                                        </p:tgtEl>
                                        <p:attrNameLst>
                                          <p:attrName>style.visibility</p:attrName>
                                        </p:attrNameLst>
                                      </p:cBhvr>
                                      <p:to>
                                        <p:strVal val="visible"/>
                                      </p:to>
                                    </p:set>
                                    <p:anim calcmode="lin" valueType="num">
                                      <p:cBhvr>
                                        <p:cTn id="111" dur="500" fill="hold"/>
                                        <p:tgtEl>
                                          <p:spTgt spid="2256033"/>
                                        </p:tgtEl>
                                        <p:attrNameLst>
                                          <p:attrName>ppt_x</p:attrName>
                                        </p:attrNameLst>
                                      </p:cBhvr>
                                      <p:tavLst>
                                        <p:tav tm="0">
                                          <p:val>
                                            <p:strVal val="#ppt_x-#ppt_w/2"/>
                                          </p:val>
                                        </p:tav>
                                        <p:tav tm="100000">
                                          <p:val>
                                            <p:strVal val="#ppt_x"/>
                                          </p:val>
                                        </p:tav>
                                      </p:tavLst>
                                    </p:anim>
                                    <p:anim calcmode="lin" valueType="num">
                                      <p:cBhvr>
                                        <p:cTn id="112" dur="500" fill="hold"/>
                                        <p:tgtEl>
                                          <p:spTgt spid="2256033"/>
                                        </p:tgtEl>
                                        <p:attrNameLst>
                                          <p:attrName>ppt_y</p:attrName>
                                        </p:attrNameLst>
                                      </p:cBhvr>
                                      <p:tavLst>
                                        <p:tav tm="0">
                                          <p:val>
                                            <p:strVal val="#ppt_y"/>
                                          </p:val>
                                        </p:tav>
                                        <p:tav tm="100000">
                                          <p:val>
                                            <p:strVal val="#ppt_y"/>
                                          </p:val>
                                        </p:tav>
                                      </p:tavLst>
                                    </p:anim>
                                    <p:anim calcmode="lin" valueType="num">
                                      <p:cBhvr>
                                        <p:cTn id="113" dur="500" fill="hold"/>
                                        <p:tgtEl>
                                          <p:spTgt spid="2256033"/>
                                        </p:tgtEl>
                                        <p:attrNameLst>
                                          <p:attrName>ppt_w</p:attrName>
                                        </p:attrNameLst>
                                      </p:cBhvr>
                                      <p:tavLst>
                                        <p:tav tm="0">
                                          <p:val>
                                            <p:fltVal val="0.000000"/>
                                          </p:val>
                                        </p:tav>
                                        <p:tav tm="100000">
                                          <p:val>
                                            <p:strVal val="#ppt_w"/>
                                          </p:val>
                                        </p:tav>
                                      </p:tavLst>
                                    </p:anim>
                                    <p:anim calcmode="lin" valueType="num">
                                      <p:cBhvr>
                                        <p:cTn id="114" dur="500" fill="hold"/>
                                        <p:tgtEl>
                                          <p:spTgt spid="2256033"/>
                                        </p:tgtEl>
                                        <p:attrNameLst>
                                          <p:attrName>ppt_h</p:attrName>
                                        </p:attrNameLst>
                                      </p:cBhvr>
                                      <p:tavLst>
                                        <p:tav tm="0">
                                          <p:val>
                                            <p:strVal val="#ppt_h"/>
                                          </p:val>
                                        </p:tav>
                                        <p:tav tm="100000">
                                          <p:val>
                                            <p:strVal val="#ppt_h"/>
                                          </p:val>
                                        </p:tav>
                                      </p:tavLst>
                                    </p:anim>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nodeType="clickEffect">
                                  <p:stCondLst>
                                    <p:cond delay="0"/>
                                  </p:stCondLst>
                                  <p:childTnLst>
                                    <p:set>
                                      <p:cBhvr>
                                        <p:cTn id="118" dur="1" fill="hold">
                                          <p:stCondLst>
                                            <p:cond delay="0"/>
                                          </p:stCondLst>
                                        </p:cTn>
                                        <p:tgtEl>
                                          <p:spTgt spid="8"/>
                                        </p:tgtEl>
                                        <p:attrNameLst>
                                          <p:attrName>style.visibility</p:attrName>
                                        </p:attrNameLst>
                                      </p:cBhvr>
                                      <p:to>
                                        <p:strVal val="visible"/>
                                      </p:to>
                                    </p:set>
                                    <p:animEffect transition="in" filter="wipe(left)">
                                      <p:cBhvr>
                                        <p:cTn id="119" dur="500"/>
                                        <p:tgtEl>
                                          <p:spTgt spid="8"/>
                                        </p:tgtEl>
                                      </p:cBhvr>
                                    </p:animEffect>
                                  </p:childTnLst>
                                </p:cTn>
                              </p:par>
                            </p:childTnLst>
                          </p:cTn>
                        </p:par>
                      </p:childTnLst>
                    </p:cTn>
                  </p:par>
                  <p:par>
                    <p:cTn id="120" fill="hold">
                      <p:stCondLst>
                        <p:cond delay="indefinite"/>
                      </p:stCondLst>
                      <p:childTnLst>
                        <p:par>
                          <p:cTn id="121" fill="hold">
                            <p:stCondLst>
                              <p:cond delay="0"/>
                            </p:stCondLst>
                            <p:childTnLst>
                              <p:par>
                                <p:cTn id="122" presetID="17" presetClass="entr" presetSubtype="8" fill="hold" grpId="0" nodeType="clickEffect">
                                  <p:stCondLst>
                                    <p:cond delay="0"/>
                                  </p:stCondLst>
                                  <p:childTnLst>
                                    <p:set>
                                      <p:cBhvr>
                                        <p:cTn id="123" dur="1" fill="hold">
                                          <p:stCondLst>
                                            <p:cond delay="0"/>
                                          </p:stCondLst>
                                        </p:cTn>
                                        <p:tgtEl>
                                          <p:spTgt spid="2256037"/>
                                        </p:tgtEl>
                                        <p:attrNameLst>
                                          <p:attrName>style.visibility</p:attrName>
                                        </p:attrNameLst>
                                      </p:cBhvr>
                                      <p:to>
                                        <p:strVal val="visible"/>
                                      </p:to>
                                    </p:set>
                                    <p:anim calcmode="lin" valueType="num">
                                      <p:cBhvr>
                                        <p:cTn id="124" dur="500" fill="hold"/>
                                        <p:tgtEl>
                                          <p:spTgt spid="2256037"/>
                                        </p:tgtEl>
                                        <p:attrNameLst>
                                          <p:attrName>ppt_x</p:attrName>
                                        </p:attrNameLst>
                                      </p:cBhvr>
                                      <p:tavLst>
                                        <p:tav tm="0">
                                          <p:val>
                                            <p:strVal val="#ppt_x-#ppt_w/2"/>
                                          </p:val>
                                        </p:tav>
                                        <p:tav tm="100000">
                                          <p:val>
                                            <p:strVal val="#ppt_x"/>
                                          </p:val>
                                        </p:tav>
                                      </p:tavLst>
                                    </p:anim>
                                    <p:anim calcmode="lin" valueType="num">
                                      <p:cBhvr>
                                        <p:cTn id="125" dur="500" fill="hold"/>
                                        <p:tgtEl>
                                          <p:spTgt spid="2256037"/>
                                        </p:tgtEl>
                                        <p:attrNameLst>
                                          <p:attrName>ppt_y</p:attrName>
                                        </p:attrNameLst>
                                      </p:cBhvr>
                                      <p:tavLst>
                                        <p:tav tm="0">
                                          <p:val>
                                            <p:strVal val="#ppt_y"/>
                                          </p:val>
                                        </p:tav>
                                        <p:tav tm="100000">
                                          <p:val>
                                            <p:strVal val="#ppt_y"/>
                                          </p:val>
                                        </p:tav>
                                      </p:tavLst>
                                    </p:anim>
                                    <p:anim calcmode="lin" valueType="num">
                                      <p:cBhvr>
                                        <p:cTn id="126" dur="500" fill="hold"/>
                                        <p:tgtEl>
                                          <p:spTgt spid="2256037"/>
                                        </p:tgtEl>
                                        <p:attrNameLst>
                                          <p:attrName>ppt_w</p:attrName>
                                        </p:attrNameLst>
                                      </p:cBhvr>
                                      <p:tavLst>
                                        <p:tav tm="0">
                                          <p:val>
                                            <p:fltVal val="0.000000"/>
                                          </p:val>
                                        </p:tav>
                                        <p:tav tm="100000">
                                          <p:val>
                                            <p:strVal val="#ppt_w"/>
                                          </p:val>
                                        </p:tav>
                                      </p:tavLst>
                                    </p:anim>
                                    <p:anim calcmode="lin" valueType="num">
                                      <p:cBhvr>
                                        <p:cTn id="127" dur="500" fill="hold"/>
                                        <p:tgtEl>
                                          <p:spTgt spid="2256037"/>
                                        </p:tgtEl>
                                        <p:attrNameLst>
                                          <p:attrName>ppt_h</p:attrName>
                                        </p:attrNameLst>
                                      </p:cBhvr>
                                      <p:tavLst>
                                        <p:tav tm="0">
                                          <p:val>
                                            <p:strVal val="#ppt_h"/>
                                          </p:val>
                                        </p:tav>
                                        <p:tav tm="100000">
                                          <p:val>
                                            <p:strVal val="#ppt_h"/>
                                          </p:val>
                                        </p:tav>
                                      </p:tavLst>
                                    </p:anim>
                                  </p:childTnLst>
                                </p:cTn>
                              </p:par>
                            </p:childTnLst>
                          </p:cTn>
                        </p:par>
                      </p:childTnLst>
                    </p:cTn>
                  </p:par>
                  <p:par>
                    <p:cTn id="128" fill="hold">
                      <p:stCondLst>
                        <p:cond delay="indefinite"/>
                      </p:stCondLst>
                      <p:childTnLst>
                        <p:par>
                          <p:cTn id="129" fill="hold">
                            <p:stCondLst>
                              <p:cond delay="0"/>
                            </p:stCondLst>
                            <p:childTnLst>
                              <p:par>
                                <p:cTn id="130" presetID="22" presetClass="entr" presetSubtype="8" fill="hold" nodeType="clickEffect">
                                  <p:stCondLst>
                                    <p:cond delay="0"/>
                                  </p:stCondLst>
                                  <p:childTnLst>
                                    <p:set>
                                      <p:cBhvr>
                                        <p:cTn id="131" dur="1" fill="hold">
                                          <p:stCondLst>
                                            <p:cond delay="0"/>
                                          </p:stCondLst>
                                        </p:cTn>
                                        <p:tgtEl>
                                          <p:spTgt spid="9"/>
                                        </p:tgtEl>
                                        <p:attrNameLst>
                                          <p:attrName>style.visibility</p:attrName>
                                        </p:attrNameLst>
                                      </p:cBhvr>
                                      <p:to>
                                        <p:strVal val="visible"/>
                                      </p:to>
                                    </p:set>
                                    <p:animEffect transition="in" filter="wipe(left)">
                                      <p:cBhvr>
                                        <p:cTn id="132" dur="500"/>
                                        <p:tgtEl>
                                          <p:spTgt spid="9"/>
                                        </p:tgtEl>
                                      </p:cBhvr>
                                    </p:animEffect>
                                  </p:childTnLst>
                                </p:cTn>
                              </p:par>
                            </p:childTnLst>
                          </p:cTn>
                        </p:par>
                      </p:childTnLst>
                    </p:cTn>
                  </p:par>
                  <p:par>
                    <p:cTn id="133" fill="hold">
                      <p:stCondLst>
                        <p:cond delay="indefinite"/>
                      </p:stCondLst>
                      <p:childTnLst>
                        <p:par>
                          <p:cTn id="134" fill="hold">
                            <p:stCondLst>
                              <p:cond delay="0"/>
                            </p:stCondLst>
                            <p:childTnLst>
                              <p:par>
                                <p:cTn id="135" presetID="17" presetClass="entr" presetSubtype="8" fill="hold" nodeType="clickEffect">
                                  <p:stCondLst>
                                    <p:cond delay="0"/>
                                  </p:stCondLst>
                                  <p:childTnLst>
                                    <p:set>
                                      <p:cBhvr>
                                        <p:cTn id="136" dur="1" fill="hold">
                                          <p:stCondLst>
                                            <p:cond delay="0"/>
                                          </p:stCondLst>
                                        </p:cTn>
                                        <p:tgtEl>
                                          <p:spTgt spid="2256041"/>
                                        </p:tgtEl>
                                        <p:attrNameLst>
                                          <p:attrName>style.visibility</p:attrName>
                                        </p:attrNameLst>
                                      </p:cBhvr>
                                      <p:to>
                                        <p:strVal val="visible"/>
                                      </p:to>
                                    </p:set>
                                    <p:anim calcmode="lin" valueType="num">
                                      <p:cBhvr>
                                        <p:cTn id="137" dur="500" fill="hold"/>
                                        <p:tgtEl>
                                          <p:spTgt spid="2256041"/>
                                        </p:tgtEl>
                                        <p:attrNameLst>
                                          <p:attrName>ppt_x</p:attrName>
                                        </p:attrNameLst>
                                      </p:cBhvr>
                                      <p:tavLst>
                                        <p:tav tm="0">
                                          <p:val>
                                            <p:strVal val="#ppt_x-#ppt_w/2"/>
                                          </p:val>
                                        </p:tav>
                                        <p:tav tm="100000">
                                          <p:val>
                                            <p:strVal val="#ppt_x"/>
                                          </p:val>
                                        </p:tav>
                                      </p:tavLst>
                                    </p:anim>
                                    <p:anim calcmode="lin" valueType="num">
                                      <p:cBhvr>
                                        <p:cTn id="138" dur="500" fill="hold"/>
                                        <p:tgtEl>
                                          <p:spTgt spid="2256041"/>
                                        </p:tgtEl>
                                        <p:attrNameLst>
                                          <p:attrName>ppt_y</p:attrName>
                                        </p:attrNameLst>
                                      </p:cBhvr>
                                      <p:tavLst>
                                        <p:tav tm="0">
                                          <p:val>
                                            <p:strVal val="#ppt_y"/>
                                          </p:val>
                                        </p:tav>
                                        <p:tav tm="100000">
                                          <p:val>
                                            <p:strVal val="#ppt_y"/>
                                          </p:val>
                                        </p:tav>
                                      </p:tavLst>
                                    </p:anim>
                                    <p:anim calcmode="lin" valueType="num">
                                      <p:cBhvr>
                                        <p:cTn id="139" dur="500" fill="hold"/>
                                        <p:tgtEl>
                                          <p:spTgt spid="2256041"/>
                                        </p:tgtEl>
                                        <p:attrNameLst>
                                          <p:attrName>ppt_w</p:attrName>
                                        </p:attrNameLst>
                                      </p:cBhvr>
                                      <p:tavLst>
                                        <p:tav tm="0">
                                          <p:val>
                                            <p:fltVal val="0.000000"/>
                                          </p:val>
                                        </p:tav>
                                        <p:tav tm="100000">
                                          <p:val>
                                            <p:strVal val="#ppt_w"/>
                                          </p:val>
                                        </p:tav>
                                      </p:tavLst>
                                    </p:anim>
                                    <p:anim calcmode="lin" valueType="num">
                                      <p:cBhvr>
                                        <p:cTn id="140" dur="500" fill="hold"/>
                                        <p:tgtEl>
                                          <p:spTgt spid="2256041"/>
                                        </p:tgtEl>
                                        <p:attrNameLst>
                                          <p:attrName>ppt_h</p:attrName>
                                        </p:attrNameLst>
                                      </p:cBhvr>
                                      <p:tavLst>
                                        <p:tav tm="0">
                                          <p:val>
                                            <p:strVal val="#ppt_h"/>
                                          </p:val>
                                        </p:tav>
                                        <p:tav tm="100000">
                                          <p:val>
                                            <p:strVal val="#ppt_h"/>
                                          </p:val>
                                        </p:tav>
                                      </p:tavLst>
                                    </p:anim>
                                  </p:childTnLst>
                                </p:cTn>
                              </p:par>
                            </p:childTnLst>
                          </p:cTn>
                        </p:par>
                      </p:childTnLst>
                    </p:cTn>
                  </p:par>
                  <p:par>
                    <p:cTn id="141" fill="hold">
                      <p:stCondLst>
                        <p:cond delay="indefinite"/>
                      </p:stCondLst>
                      <p:childTnLst>
                        <p:par>
                          <p:cTn id="142" fill="hold">
                            <p:stCondLst>
                              <p:cond delay="0"/>
                            </p:stCondLst>
                            <p:childTnLst>
                              <p:par>
                                <p:cTn id="143" presetID="22" presetClass="entr" presetSubtype="8" fill="hold" nodeType="clickEffect">
                                  <p:stCondLst>
                                    <p:cond delay="0"/>
                                  </p:stCondLst>
                                  <p:childTnLst>
                                    <p:set>
                                      <p:cBhvr>
                                        <p:cTn id="144" dur="1" fill="hold">
                                          <p:stCondLst>
                                            <p:cond delay="0"/>
                                          </p:stCondLst>
                                        </p:cTn>
                                        <p:tgtEl>
                                          <p:spTgt spid="10"/>
                                        </p:tgtEl>
                                        <p:attrNameLst>
                                          <p:attrName>style.visibility</p:attrName>
                                        </p:attrNameLst>
                                      </p:cBhvr>
                                      <p:to>
                                        <p:strVal val="visible"/>
                                      </p:to>
                                    </p:set>
                                    <p:animEffect transition="in" filter="wipe(left)">
                                      <p:cBhvr>
                                        <p:cTn id="145" dur="500"/>
                                        <p:tgtEl>
                                          <p:spTgt spid="10"/>
                                        </p:tgtEl>
                                      </p:cBhvr>
                                    </p:animEffect>
                                  </p:childTnLst>
                                </p:cTn>
                              </p:par>
                            </p:childTnLst>
                          </p:cTn>
                        </p:par>
                      </p:childTnLst>
                    </p:cTn>
                  </p:par>
                  <p:par>
                    <p:cTn id="146" fill="hold">
                      <p:stCondLst>
                        <p:cond delay="indefinite"/>
                      </p:stCondLst>
                      <p:childTnLst>
                        <p:par>
                          <p:cTn id="147" fill="hold">
                            <p:stCondLst>
                              <p:cond delay="0"/>
                            </p:stCondLst>
                            <p:childTnLst>
                              <p:par>
                                <p:cTn id="148" presetID="17" presetClass="entr" presetSubtype="8" fill="hold" nodeType="clickEffect">
                                  <p:stCondLst>
                                    <p:cond delay="0"/>
                                  </p:stCondLst>
                                  <p:childTnLst>
                                    <p:set>
                                      <p:cBhvr>
                                        <p:cTn id="149" dur="1" fill="hold">
                                          <p:stCondLst>
                                            <p:cond delay="0"/>
                                          </p:stCondLst>
                                        </p:cTn>
                                        <p:tgtEl>
                                          <p:spTgt spid="2256051"/>
                                        </p:tgtEl>
                                        <p:attrNameLst>
                                          <p:attrName>style.visibility</p:attrName>
                                        </p:attrNameLst>
                                      </p:cBhvr>
                                      <p:to>
                                        <p:strVal val="visible"/>
                                      </p:to>
                                    </p:set>
                                    <p:anim calcmode="lin" valueType="num">
                                      <p:cBhvr>
                                        <p:cTn id="150" dur="500" fill="hold"/>
                                        <p:tgtEl>
                                          <p:spTgt spid="2256051"/>
                                        </p:tgtEl>
                                        <p:attrNameLst>
                                          <p:attrName>ppt_x</p:attrName>
                                        </p:attrNameLst>
                                      </p:cBhvr>
                                      <p:tavLst>
                                        <p:tav tm="0">
                                          <p:val>
                                            <p:strVal val="#ppt_x-#ppt_w/2"/>
                                          </p:val>
                                        </p:tav>
                                        <p:tav tm="100000">
                                          <p:val>
                                            <p:strVal val="#ppt_x"/>
                                          </p:val>
                                        </p:tav>
                                      </p:tavLst>
                                    </p:anim>
                                    <p:anim calcmode="lin" valueType="num">
                                      <p:cBhvr>
                                        <p:cTn id="151" dur="500" fill="hold"/>
                                        <p:tgtEl>
                                          <p:spTgt spid="2256051"/>
                                        </p:tgtEl>
                                        <p:attrNameLst>
                                          <p:attrName>ppt_y</p:attrName>
                                        </p:attrNameLst>
                                      </p:cBhvr>
                                      <p:tavLst>
                                        <p:tav tm="0">
                                          <p:val>
                                            <p:strVal val="#ppt_y"/>
                                          </p:val>
                                        </p:tav>
                                        <p:tav tm="100000">
                                          <p:val>
                                            <p:strVal val="#ppt_y"/>
                                          </p:val>
                                        </p:tav>
                                      </p:tavLst>
                                    </p:anim>
                                    <p:anim calcmode="lin" valueType="num">
                                      <p:cBhvr>
                                        <p:cTn id="152" dur="500" fill="hold"/>
                                        <p:tgtEl>
                                          <p:spTgt spid="2256051"/>
                                        </p:tgtEl>
                                        <p:attrNameLst>
                                          <p:attrName>ppt_w</p:attrName>
                                        </p:attrNameLst>
                                      </p:cBhvr>
                                      <p:tavLst>
                                        <p:tav tm="0">
                                          <p:val>
                                            <p:fltVal val="0.000000"/>
                                          </p:val>
                                        </p:tav>
                                        <p:tav tm="100000">
                                          <p:val>
                                            <p:strVal val="#ppt_w"/>
                                          </p:val>
                                        </p:tav>
                                      </p:tavLst>
                                    </p:anim>
                                    <p:anim calcmode="lin" valueType="num">
                                      <p:cBhvr>
                                        <p:cTn id="153" dur="500" fill="hold"/>
                                        <p:tgtEl>
                                          <p:spTgt spid="2256051"/>
                                        </p:tgtEl>
                                        <p:attrNameLst>
                                          <p:attrName>ppt_h</p:attrName>
                                        </p:attrNameLst>
                                      </p:cBhvr>
                                      <p:tavLst>
                                        <p:tav tm="0">
                                          <p:val>
                                            <p:strVal val="#ppt_h"/>
                                          </p:val>
                                        </p:tav>
                                        <p:tav tm="100000">
                                          <p:val>
                                            <p:strVal val="#ppt_h"/>
                                          </p:val>
                                        </p:tav>
                                      </p:tavLst>
                                    </p:anim>
                                  </p:childTnLst>
                                </p:cTn>
                              </p:par>
                            </p:childTnLst>
                          </p:cTn>
                        </p:par>
                      </p:childTnLst>
                    </p:cTn>
                  </p:par>
                  <p:par>
                    <p:cTn id="154" fill="hold">
                      <p:stCondLst>
                        <p:cond delay="indefinite"/>
                      </p:stCondLst>
                      <p:childTnLst>
                        <p:par>
                          <p:cTn id="155" fill="hold">
                            <p:stCondLst>
                              <p:cond delay="0"/>
                            </p:stCondLst>
                            <p:childTnLst>
                              <p:par>
                                <p:cTn id="156" presetID="22" presetClass="entr" presetSubtype="8" fill="hold" nodeType="clickEffect">
                                  <p:stCondLst>
                                    <p:cond delay="0"/>
                                  </p:stCondLst>
                                  <p:childTnLst>
                                    <p:set>
                                      <p:cBhvr>
                                        <p:cTn id="157" dur="1" fill="hold">
                                          <p:stCondLst>
                                            <p:cond delay="0"/>
                                          </p:stCondLst>
                                        </p:cTn>
                                        <p:tgtEl>
                                          <p:spTgt spid="11"/>
                                        </p:tgtEl>
                                        <p:attrNameLst>
                                          <p:attrName>style.visibility</p:attrName>
                                        </p:attrNameLst>
                                      </p:cBhvr>
                                      <p:to>
                                        <p:strVal val="visible"/>
                                      </p:to>
                                    </p:set>
                                    <p:animEffect transition="in" filter="wipe(left)">
                                      <p:cBhvr>
                                        <p:cTn id="158" dur="500"/>
                                        <p:tgtEl>
                                          <p:spTgt spid="11"/>
                                        </p:tgtEl>
                                      </p:cBhvr>
                                    </p:animEffect>
                                  </p:childTnLst>
                                </p:cTn>
                              </p:par>
                            </p:childTnLst>
                          </p:cTn>
                        </p:par>
                      </p:childTnLst>
                    </p:cTn>
                  </p:par>
                  <p:par>
                    <p:cTn id="159" fill="hold">
                      <p:stCondLst>
                        <p:cond delay="indefinite"/>
                      </p:stCondLst>
                      <p:childTnLst>
                        <p:par>
                          <p:cTn id="160" fill="hold">
                            <p:stCondLst>
                              <p:cond delay="0"/>
                            </p:stCondLst>
                            <p:childTnLst>
                              <p:par>
                                <p:cTn id="161" presetID="17" presetClass="entr" presetSubtype="8" fill="hold" nodeType="clickEffect">
                                  <p:stCondLst>
                                    <p:cond delay="0"/>
                                  </p:stCondLst>
                                  <p:childTnLst>
                                    <p:set>
                                      <p:cBhvr>
                                        <p:cTn id="162" dur="1" fill="hold">
                                          <p:stCondLst>
                                            <p:cond delay="0"/>
                                          </p:stCondLst>
                                        </p:cTn>
                                        <p:tgtEl>
                                          <p:spTgt spid="2256052"/>
                                        </p:tgtEl>
                                        <p:attrNameLst>
                                          <p:attrName>style.visibility</p:attrName>
                                        </p:attrNameLst>
                                      </p:cBhvr>
                                      <p:to>
                                        <p:strVal val="visible"/>
                                      </p:to>
                                    </p:set>
                                    <p:anim calcmode="lin" valueType="num">
                                      <p:cBhvr>
                                        <p:cTn id="163" dur="500" fill="hold"/>
                                        <p:tgtEl>
                                          <p:spTgt spid="2256052"/>
                                        </p:tgtEl>
                                        <p:attrNameLst>
                                          <p:attrName>ppt_x</p:attrName>
                                        </p:attrNameLst>
                                      </p:cBhvr>
                                      <p:tavLst>
                                        <p:tav tm="0">
                                          <p:val>
                                            <p:strVal val="#ppt_x-#ppt_w/2"/>
                                          </p:val>
                                        </p:tav>
                                        <p:tav tm="100000">
                                          <p:val>
                                            <p:strVal val="#ppt_x"/>
                                          </p:val>
                                        </p:tav>
                                      </p:tavLst>
                                    </p:anim>
                                    <p:anim calcmode="lin" valueType="num">
                                      <p:cBhvr>
                                        <p:cTn id="164" dur="500" fill="hold"/>
                                        <p:tgtEl>
                                          <p:spTgt spid="2256052"/>
                                        </p:tgtEl>
                                        <p:attrNameLst>
                                          <p:attrName>ppt_y</p:attrName>
                                        </p:attrNameLst>
                                      </p:cBhvr>
                                      <p:tavLst>
                                        <p:tav tm="0">
                                          <p:val>
                                            <p:strVal val="#ppt_y"/>
                                          </p:val>
                                        </p:tav>
                                        <p:tav tm="100000">
                                          <p:val>
                                            <p:strVal val="#ppt_y"/>
                                          </p:val>
                                        </p:tav>
                                      </p:tavLst>
                                    </p:anim>
                                    <p:anim calcmode="lin" valueType="num">
                                      <p:cBhvr>
                                        <p:cTn id="165" dur="500" fill="hold"/>
                                        <p:tgtEl>
                                          <p:spTgt spid="2256052"/>
                                        </p:tgtEl>
                                        <p:attrNameLst>
                                          <p:attrName>ppt_w</p:attrName>
                                        </p:attrNameLst>
                                      </p:cBhvr>
                                      <p:tavLst>
                                        <p:tav tm="0">
                                          <p:val>
                                            <p:fltVal val="0.000000"/>
                                          </p:val>
                                        </p:tav>
                                        <p:tav tm="100000">
                                          <p:val>
                                            <p:strVal val="#ppt_w"/>
                                          </p:val>
                                        </p:tav>
                                      </p:tavLst>
                                    </p:anim>
                                    <p:anim calcmode="lin" valueType="num">
                                      <p:cBhvr>
                                        <p:cTn id="166" dur="500" fill="hold"/>
                                        <p:tgtEl>
                                          <p:spTgt spid="2256052"/>
                                        </p:tgtEl>
                                        <p:attrNameLst>
                                          <p:attrName>ppt_h</p:attrName>
                                        </p:attrNameLst>
                                      </p:cBhvr>
                                      <p:tavLst>
                                        <p:tav tm="0">
                                          <p:val>
                                            <p:strVal val="#ppt_h"/>
                                          </p:val>
                                        </p:tav>
                                        <p:tav tm="100000">
                                          <p:val>
                                            <p:strVal val="#ppt_h"/>
                                          </p:val>
                                        </p:tav>
                                      </p:tavLst>
                                    </p:anim>
                                  </p:childTnLst>
                                </p:cTn>
                              </p:par>
                            </p:childTnLst>
                          </p:cTn>
                        </p:par>
                      </p:childTnLst>
                    </p:cTn>
                  </p:par>
                  <p:par>
                    <p:cTn id="167" fill="hold">
                      <p:stCondLst>
                        <p:cond delay="indefinite"/>
                      </p:stCondLst>
                      <p:childTnLst>
                        <p:par>
                          <p:cTn id="168" fill="hold">
                            <p:stCondLst>
                              <p:cond delay="0"/>
                            </p:stCondLst>
                            <p:childTnLst>
                              <p:par>
                                <p:cTn id="169" presetID="22" presetClass="entr" presetSubtype="8" fill="hold" nodeType="clickEffect">
                                  <p:stCondLst>
                                    <p:cond delay="0"/>
                                  </p:stCondLst>
                                  <p:childTnLst>
                                    <p:set>
                                      <p:cBhvr>
                                        <p:cTn id="170" dur="1" fill="hold">
                                          <p:stCondLst>
                                            <p:cond delay="0"/>
                                          </p:stCondLst>
                                        </p:cTn>
                                        <p:tgtEl>
                                          <p:spTgt spid="12"/>
                                        </p:tgtEl>
                                        <p:attrNameLst>
                                          <p:attrName>style.visibility</p:attrName>
                                        </p:attrNameLst>
                                      </p:cBhvr>
                                      <p:to>
                                        <p:strVal val="visible"/>
                                      </p:to>
                                    </p:set>
                                    <p:animEffect transition="in" filter="wipe(left)">
                                      <p:cBhvr>
                                        <p:cTn id="171" dur="500"/>
                                        <p:tgtEl>
                                          <p:spTgt spid="12"/>
                                        </p:tgtEl>
                                      </p:cBhvr>
                                    </p:animEffect>
                                  </p:childTnLst>
                                </p:cTn>
                              </p:par>
                            </p:childTnLst>
                          </p:cTn>
                        </p:par>
                      </p:childTnLst>
                    </p:cTn>
                  </p:par>
                  <p:par>
                    <p:cTn id="172" fill="hold">
                      <p:stCondLst>
                        <p:cond delay="indefinite"/>
                      </p:stCondLst>
                      <p:childTnLst>
                        <p:par>
                          <p:cTn id="173" fill="hold">
                            <p:stCondLst>
                              <p:cond delay="0"/>
                            </p:stCondLst>
                            <p:childTnLst>
                              <p:par>
                                <p:cTn id="174" presetID="17" presetClass="entr" presetSubtype="2" fill="hold" grpId="0" nodeType="clickEffect">
                                  <p:stCondLst>
                                    <p:cond delay="0"/>
                                  </p:stCondLst>
                                  <p:childTnLst>
                                    <p:set>
                                      <p:cBhvr>
                                        <p:cTn id="175" dur="1" fill="hold">
                                          <p:stCondLst>
                                            <p:cond delay="0"/>
                                          </p:stCondLst>
                                        </p:cTn>
                                        <p:tgtEl>
                                          <p:spTgt spid="2256053"/>
                                        </p:tgtEl>
                                        <p:attrNameLst>
                                          <p:attrName>style.visibility</p:attrName>
                                        </p:attrNameLst>
                                      </p:cBhvr>
                                      <p:to>
                                        <p:strVal val="visible"/>
                                      </p:to>
                                    </p:set>
                                    <p:anim calcmode="lin" valueType="num">
                                      <p:cBhvr>
                                        <p:cTn id="176" dur="500" fill="hold"/>
                                        <p:tgtEl>
                                          <p:spTgt spid="2256053"/>
                                        </p:tgtEl>
                                        <p:attrNameLst>
                                          <p:attrName>ppt_x</p:attrName>
                                        </p:attrNameLst>
                                      </p:cBhvr>
                                      <p:tavLst>
                                        <p:tav tm="0">
                                          <p:val>
                                            <p:strVal val="#ppt_x+#ppt_w/2"/>
                                          </p:val>
                                        </p:tav>
                                        <p:tav tm="100000">
                                          <p:val>
                                            <p:strVal val="#ppt_x"/>
                                          </p:val>
                                        </p:tav>
                                      </p:tavLst>
                                    </p:anim>
                                    <p:anim calcmode="lin" valueType="num">
                                      <p:cBhvr>
                                        <p:cTn id="177" dur="500" fill="hold"/>
                                        <p:tgtEl>
                                          <p:spTgt spid="2256053"/>
                                        </p:tgtEl>
                                        <p:attrNameLst>
                                          <p:attrName>ppt_y</p:attrName>
                                        </p:attrNameLst>
                                      </p:cBhvr>
                                      <p:tavLst>
                                        <p:tav tm="0">
                                          <p:val>
                                            <p:strVal val="#ppt_y"/>
                                          </p:val>
                                        </p:tav>
                                        <p:tav tm="100000">
                                          <p:val>
                                            <p:strVal val="#ppt_y"/>
                                          </p:val>
                                        </p:tav>
                                      </p:tavLst>
                                    </p:anim>
                                    <p:anim calcmode="lin" valueType="num">
                                      <p:cBhvr>
                                        <p:cTn id="178" dur="500" fill="hold"/>
                                        <p:tgtEl>
                                          <p:spTgt spid="2256053"/>
                                        </p:tgtEl>
                                        <p:attrNameLst>
                                          <p:attrName>ppt_w</p:attrName>
                                        </p:attrNameLst>
                                      </p:cBhvr>
                                      <p:tavLst>
                                        <p:tav tm="0">
                                          <p:val>
                                            <p:fltVal val="0.000000"/>
                                          </p:val>
                                        </p:tav>
                                        <p:tav tm="100000">
                                          <p:val>
                                            <p:strVal val="#ppt_w"/>
                                          </p:val>
                                        </p:tav>
                                      </p:tavLst>
                                    </p:anim>
                                    <p:anim calcmode="lin" valueType="num">
                                      <p:cBhvr>
                                        <p:cTn id="179" dur="500" fill="hold"/>
                                        <p:tgtEl>
                                          <p:spTgt spid="2256053"/>
                                        </p:tgtEl>
                                        <p:attrNameLst>
                                          <p:attrName>ppt_h</p:attrName>
                                        </p:attrNameLst>
                                      </p:cBhvr>
                                      <p:tavLst>
                                        <p:tav tm="0">
                                          <p:val>
                                            <p:strVal val="#ppt_h"/>
                                          </p:val>
                                        </p:tav>
                                        <p:tav tm="100000">
                                          <p:val>
                                            <p:strVal val="#ppt_h"/>
                                          </p:val>
                                        </p:tav>
                                      </p:tavLst>
                                    </p:anim>
                                  </p:childTnLst>
                                </p:cTn>
                              </p:par>
                            </p:childTnLst>
                          </p:cTn>
                        </p:par>
                      </p:childTnLst>
                    </p:cTn>
                  </p:par>
                  <p:par>
                    <p:cTn id="180" fill="hold">
                      <p:stCondLst>
                        <p:cond delay="indefinite"/>
                      </p:stCondLst>
                      <p:childTnLst>
                        <p:par>
                          <p:cTn id="181" fill="hold">
                            <p:stCondLst>
                              <p:cond delay="0"/>
                            </p:stCondLst>
                            <p:childTnLst>
                              <p:par>
                                <p:cTn id="182" presetID="22" presetClass="entr" presetSubtype="8" fill="hold" nodeType="clickEffect">
                                  <p:stCondLst>
                                    <p:cond delay="0"/>
                                  </p:stCondLst>
                                  <p:childTnLst>
                                    <p:set>
                                      <p:cBhvr>
                                        <p:cTn id="183" dur="1" fill="hold">
                                          <p:stCondLst>
                                            <p:cond delay="0"/>
                                          </p:stCondLst>
                                        </p:cTn>
                                        <p:tgtEl>
                                          <p:spTgt spid="13"/>
                                        </p:tgtEl>
                                        <p:attrNameLst>
                                          <p:attrName>style.visibility</p:attrName>
                                        </p:attrNameLst>
                                      </p:cBhvr>
                                      <p:to>
                                        <p:strVal val="visible"/>
                                      </p:to>
                                    </p:set>
                                    <p:animEffect transition="in" filter="wipe(left)">
                                      <p:cBhvr>
                                        <p:cTn id="184" dur="500"/>
                                        <p:tgtEl>
                                          <p:spTgt spid="13"/>
                                        </p:tgtEl>
                                      </p:cBhvr>
                                    </p:animEffect>
                                  </p:childTnLst>
                                </p:cTn>
                              </p:par>
                            </p:childTnLst>
                          </p:cTn>
                        </p:par>
                      </p:childTnLst>
                    </p:cTn>
                  </p:par>
                  <p:par>
                    <p:cTn id="185" fill="hold">
                      <p:stCondLst>
                        <p:cond delay="indefinite"/>
                      </p:stCondLst>
                      <p:childTnLst>
                        <p:par>
                          <p:cTn id="186" fill="hold">
                            <p:stCondLst>
                              <p:cond delay="0"/>
                            </p:stCondLst>
                            <p:childTnLst>
                              <p:par>
                                <p:cTn id="187" presetID="17" presetClass="entr" presetSubtype="2" fill="hold" nodeType="clickEffect">
                                  <p:stCondLst>
                                    <p:cond delay="0"/>
                                  </p:stCondLst>
                                  <p:childTnLst>
                                    <p:set>
                                      <p:cBhvr>
                                        <p:cTn id="188" dur="1" fill="hold">
                                          <p:stCondLst>
                                            <p:cond delay="0"/>
                                          </p:stCondLst>
                                        </p:cTn>
                                        <p:tgtEl>
                                          <p:spTgt spid="2256061"/>
                                        </p:tgtEl>
                                        <p:attrNameLst>
                                          <p:attrName>style.visibility</p:attrName>
                                        </p:attrNameLst>
                                      </p:cBhvr>
                                      <p:to>
                                        <p:strVal val="visible"/>
                                      </p:to>
                                    </p:set>
                                    <p:anim calcmode="lin" valueType="num">
                                      <p:cBhvr>
                                        <p:cTn id="189" dur="500" fill="hold"/>
                                        <p:tgtEl>
                                          <p:spTgt spid="2256061"/>
                                        </p:tgtEl>
                                        <p:attrNameLst>
                                          <p:attrName>ppt_x</p:attrName>
                                        </p:attrNameLst>
                                      </p:cBhvr>
                                      <p:tavLst>
                                        <p:tav tm="0">
                                          <p:val>
                                            <p:strVal val="#ppt_x+#ppt_w/2"/>
                                          </p:val>
                                        </p:tav>
                                        <p:tav tm="100000">
                                          <p:val>
                                            <p:strVal val="#ppt_x"/>
                                          </p:val>
                                        </p:tav>
                                      </p:tavLst>
                                    </p:anim>
                                    <p:anim calcmode="lin" valueType="num">
                                      <p:cBhvr>
                                        <p:cTn id="190" dur="500" fill="hold"/>
                                        <p:tgtEl>
                                          <p:spTgt spid="2256061"/>
                                        </p:tgtEl>
                                        <p:attrNameLst>
                                          <p:attrName>ppt_y</p:attrName>
                                        </p:attrNameLst>
                                      </p:cBhvr>
                                      <p:tavLst>
                                        <p:tav tm="0">
                                          <p:val>
                                            <p:strVal val="#ppt_y"/>
                                          </p:val>
                                        </p:tav>
                                        <p:tav tm="100000">
                                          <p:val>
                                            <p:strVal val="#ppt_y"/>
                                          </p:val>
                                        </p:tav>
                                      </p:tavLst>
                                    </p:anim>
                                    <p:anim calcmode="lin" valueType="num">
                                      <p:cBhvr>
                                        <p:cTn id="191" dur="500" fill="hold"/>
                                        <p:tgtEl>
                                          <p:spTgt spid="2256061"/>
                                        </p:tgtEl>
                                        <p:attrNameLst>
                                          <p:attrName>ppt_w</p:attrName>
                                        </p:attrNameLst>
                                      </p:cBhvr>
                                      <p:tavLst>
                                        <p:tav tm="0">
                                          <p:val>
                                            <p:fltVal val="0.000000"/>
                                          </p:val>
                                        </p:tav>
                                        <p:tav tm="100000">
                                          <p:val>
                                            <p:strVal val="#ppt_w"/>
                                          </p:val>
                                        </p:tav>
                                      </p:tavLst>
                                    </p:anim>
                                    <p:anim calcmode="lin" valueType="num">
                                      <p:cBhvr>
                                        <p:cTn id="192" dur="500" fill="hold"/>
                                        <p:tgtEl>
                                          <p:spTgt spid="2256061"/>
                                        </p:tgtEl>
                                        <p:attrNameLst>
                                          <p:attrName>ppt_h</p:attrName>
                                        </p:attrNameLst>
                                      </p:cBhvr>
                                      <p:tavLst>
                                        <p:tav tm="0">
                                          <p:val>
                                            <p:strVal val="#ppt_h"/>
                                          </p:val>
                                        </p:tav>
                                        <p:tav tm="100000">
                                          <p:val>
                                            <p:strVal val="#ppt_h"/>
                                          </p:val>
                                        </p:tav>
                                      </p:tavLst>
                                    </p:anim>
                                  </p:childTnLst>
                                </p:cTn>
                              </p:par>
                            </p:childTnLst>
                          </p:cTn>
                        </p:par>
                        <p:par>
                          <p:cTn id="193" fill="hold">
                            <p:stCondLst>
                              <p:cond delay="500"/>
                            </p:stCondLst>
                            <p:childTnLst>
                              <p:par>
                                <p:cTn id="194" presetID="17" presetClass="entr" presetSubtype="4" fill="hold" nodeType="afterEffect">
                                  <p:stCondLst>
                                    <p:cond delay="0"/>
                                  </p:stCondLst>
                                  <p:childTnLst>
                                    <p:set>
                                      <p:cBhvr>
                                        <p:cTn id="195" dur="1" fill="hold">
                                          <p:stCondLst>
                                            <p:cond delay="0"/>
                                          </p:stCondLst>
                                        </p:cTn>
                                        <p:tgtEl>
                                          <p:spTgt spid="2256062"/>
                                        </p:tgtEl>
                                        <p:attrNameLst>
                                          <p:attrName>style.visibility</p:attrName>
                                        </p:attrNameLst>
                                      </p:cBhvr>
                                      <p:to>
                                        <p:strVal val="visible"/>
                                      </p:to>
                                    </p:set>
                                    <p:anim calcmode="lin" valueType="num">
                                      <p:cBhvr>
                                        <p:cTn id="196" dur="500" fill="hold"/>
                                        <p:tgtEl>
                                          <p:spTgt spid="2256062"/>
                                        </p:tgtEl>
                                        <p:attrNameLst>
                                          <p:attrName>ppt_x</p:attrName>
                                        </p:attrNameLst>
                                      </p:cBhvr>
                                      <p:tavLst>
                                        <p:tav tm="0">
                                          <p:val>
                                            <p:strVal val="#ppt_x"/>
                                          </p:val>
                                        </p:tav>
                                        <p:tav tm="100000">
                                          <p:val>
                                            <p:strVal val="#ppt_x"/>
                                          </p:val>
                                        </p:tav>
                                      </p:tavLst>
                                    </p:anim>
                                    <p:anim calcmode="lin" valueType="num">
                                      <p:cBhvr>
                                        <p:cTn id="197" dur="500" fill="hold"/>
                                        <p:tgtEl>
                                          <p:spTgt spid="2256062"/>
                                        </p:tgtEl>
                                        <p:attrNameLst>
                                          <p:attrName>ppt_y</p:attrName>
                                        </p:attrNameLst>
                                      </p:cBhvr>
                                      <p:tavLst>
                                        <p:tav tm="0">
                                          <p:val>
                                            <p:strVal val="#ppt_y+#ppt_h/2"/>
                                          </p:val>
                                        </p:tav>
                                        <p:tav tm="100000">
                                          <p:val>
                                            <p:strVal val="#ppt_y"/>
                                          </p:val>
                                        </p:tav>
                                      </p:tavLst>
                                    </p:anim>
                                    <p:anim calcmode="lin" valueType="num">
                                      <p:cBhvr>
                                        <p:cTn id="198" dur="500" fill="hold"/>
                                        <p:tgtEl>
                                          <p:spTgt spid="2256062"/>
                                        </p:tgtEl>
                                        <p:attrNameLst>
                                          <p:attrName>ppt_w</p:attrName>
                                        </p:attrNameLst>
                                      </p:cBhvr>
                                      <p:tavLst>
                                        <p:tav tm="0">
                                          <p:val>
                                            <p:strVal val="#ppt_w"/>
                                          </p:val>
                                        </p:tav>
                                        <p:tav tm="100000">
                                          <p:val>
                                            <p:strVal val="#ppt_w"/>
                                          </p:val>
                                        </p:tav>
                                      </p:tavLst>
                                    </p:anim>
                                    <p:anim calcmode="lin" valueType="num">
                                      <p:cBhvr>
                                        <p:cTn id="199" dur="500" fill="hold"/>
                                        <p:tgtEl>
                                          <p:spTgt spid="2256062"/>
                                        </p:tgtEl>
                                        <p:attrNameLst>
                                          <p:attrName>ppt_h</p:attrName>
                                        </p:attrNameLst>
                                      </p:cBhvr>
                                      <p:tavLst>
                                        <p:tav tm="0">
                                          <p:val>
                                            <p:fltVal val="0.000000"/>
                                          </p:val>
                                        </p:tav>
                                        <p:tav tm="100000">
                                          <p:val>
                                            <p:strVal val="#ppt_h"/>
                                          </p:val>
                                        </p:tav>
                                      </p:tavLst>
                                    </p:anim>
                                  </p:childTnLst>
                                </p:cTn>
                              </p:par>
                            </p:childTnLst>
                          </p:cTn>
                        </p:par>
                      </p:childTnLst>
                    </p:cTn>
                  </p:par>
                  <p:par>
                    <p:cTn id="200" fill="hold">
                      <p:stCondLst>
                        <p:cond delay="indefinite"/>
                      </p:stCondLst>
                      <p:childTnLst>
                        <p:par>
                          <p:cTn id="201" fill="hold">
                            <p:stCondLst>
                              <p:cond delay="0"/>
                            </p:stCondLst>
                            <p:childTnLst>
                              <p:par>
                                <p:cTn id="202" presetID="17" presetClass="entr" presetSubtype="2" fill="hold" nodeType="clickEffect">
                                  <p:stCondLst>
                                    <p:cond delay="0"/>
                                  </p:stCondLst>
                                  <p:childTnLst>
                                    <p:set>
                                      <p:cBhvr>
                                        <p:cTn id="203" dur="1" fill="hold">
                                          <p:stCondLst>
                                            <p:cond delay="0"/>
                                          </p:stCondLst>
                                        </p:cTn>
                                        <p:tgtEl>
                                          <p:spTgt spid="2256059"/>
                                        </p:tgtEl>
                                        <p:attrNameLst>
                                          <p:attrName>style.visibility</p:attrName>
                                        </p:attrNameLst>
                                      </p:cBhvr>
                                      <p:to>
                                        <p:strVal val="visible"/>
                                      </p:to>
                                    </p:set>
                                    <p:anim calcmode="lin" valueType="num">
                                      <p:cBhvr>
                                        <p:cTn id="204" dur="500" fill="hold"/>
                                        <p:tgtEl>
                                          <p:spTgt spid="2256059"/>
                                        </p:tgtEl>
                                        <p:attrNameLst>
                                          <p:attrName>ppt_x</p:attrName>
                                        </p:attrNameLst>
                                      </p:cBhvr>
                                      <p:tavLst>
                                        <p:tav tm="0">
                                          <p:val>
                                            <p:strVal val="#ppt_x+#ppt_w/2"/>
                                          </p:val>
                                        </p:tav>
                                        <p:tav tm="100000">
                                          <p:val>
                                            <p:strVal val="#ppt_x"/>
                                          </p:val>
                                        </p:tav>
                                      </p:tavLst>
                                    </p:anim>
                                    <p:anim calcmode="lin" valueType="num">
                                      <p:cBhvr>
                                        <p:cTn id="205" dur="500" fill="hold"/>
                                        <p:tgtEl>
                                          <p:spTgt spid="2256059"/>
                                        </p:tgtEl>
                                        <p:attrNameLst>
                                          <p:attrName>ppt_y</p:attrName>
                                        </p:attrNameLst>
                                      </p:cBhvr>
                                      <p:tavLst>
                                        <p:tav tm="0">
                                          <p:val>
                                            <p:strVal val="#ppt_y"/>
                                          </p:val>
                                        </p:tav>
                                        <p:tav tm="100000">
                                          <p:val>
                                            <p:strVal val="#ppt_y"/>
                                          </p:val>
                                        </p:tav>
                                      </p:tavLst>
                                    </p:anim>
                                    <p:anim calcmode="lin" valueType="num">
                                      <p:cBhvr>
                                        <p:cTn id="206" dur="500" fill="hold"/>
                                        <p:tgtEl>
                                          <p:spTgt spid="2256059"/>
                                        </p:tgtEl>
                                        <p:attrNameLst>
                                          <p:attrName>ppt_w</p:attrName>
                                        </p:attrNameLst>
                                      </p:cBhvr>
                                      <p:tavLst>
                                        <p:tav tm="0">
                                          <p:val>
                                            <p:fltVal val="0.000000"/>
                                          </p:val>
                                        </p:tav>
                                        <p:tav tm="100000">
                                          <p:val>
                                            <p:strVal val="#ppt_w"/>
                                          </p:val>
                                        </p:tav>
                                      </p:tavLst>
                                    </p:anim>
                                    <p:anim calcmode="lin" valueType="num">
                                      <p:cBhvr>
                                        <p:cTn id="207" dur="500" fill="hold"/>
                                        <p:tgtEl>
                                          <p:spTgt spid="2256059"/>
                                        </p:tgtEl>
                                        <p:attrNameLst>
                                          <p:attrName>ppt_h</p:attrName>
                                        </p:attrNameLst>
                                      </p:cBhvr>
                                      <p:tavLst>
                                        <p:tav tm="0">
                                          <p:val>
                                            <p:strVal val="#ppt_h"/>
                                          </p:val>
                                        </p:tav>
                                        <p:tav tm="100000">
                                          <p:val>
                                            <p:strVal val="#ppt_h"/>
                                          </p:val>
                                        </p:tav>
                                      </p:tavLst>
                                    </p:anim>
                                  </p:childTnLst>
                                </p:cTn>
                              </p:par>
                            </p:childTnLst>
                          </p:cTn>
                        </p:par>
                        <p:par>
                          <p:cTn id="208" fill="hold">
                            <p:stCondLst>
                              <p:cond delay="500"/>
                            </p:stCondLst>
                            <p:childTnLst>
                              <p:par>
                                <p:cTn id="209" presetID="17" presetClass="entr" presetSubtype="4" fill="hold" nodeType="afterEffect">
                                  <p:stCondLst>
                                    <p:cond delay="0"/>
                                  </p:stCondLst>
                                  <p:childTnLst>
                                    <p:set>
                                      <p:cBhvr>
                                        <p:cTn id="210" dur="1" fill="hold">
                                          <p:stCondLst>
                                            <p:cond delay="0"/>
                                          </p:stCondLst>
                                        </p:cTn>
                                        <p:tgtEl>
                                          <p:spTgt spid="2256060"/>
                                        </p:tgtEl>
                                        <p:attrNameLst>
                                          <p:attrName>style.visibility</p:attrName>
                                        </p:attrNameLst>
                                      </p:cBhvr>
                                      <p:to>
                                        <p:strVal val="visible"/>
                                      </p:to>
                                    </p:set>
                                    <p:anim calcmode="lin" valueType="num">
                                      <p:cBhvr>
                                        <p:cTn id="211" dur="500" fill="hold"/>
                                        <p:tgtEl>
                                          <p:spTgt spid="2256060"/>
                                        </p:tgtEl>
                                        <p:attrNameLst>
                                          <p:attrName>ppt_x</p:attrName>
                                        </p:attrNameLst>
                                      </p:cBhvr>
                                      <p:tavLst>
                                        <p:tav tm="0">
                                          <p:val>
                                            <p:strVal val="#ppt_x"/>
                                          </p:val>
                                        </p:tav>
                                        <p:tav tm="100000">
                                          <p:val>
                                            <p:strVal val="#ppt_x"/>
                                          </p:val>
                                        </p:tav>
                                      </p:tavLst>
                                    </p:anim>
                                    <p:anim calcmode="lin" valueType="num">
                                      <p:cBhvr>
                                        <p:cTn id="212" dur="500" fill="hold"/>
                                        <p:tgtEl>
                                          <p:spTgt spid="2256060"/>
                                        </p:tgtEl>
                                        <p:attrNameLst>
                                          <p:attrName>ppt_y</p:attrName>
                                        </p:attrNameLst>
                                      </p:cBhvr>
                                      <p:tavLst>
                                        <p:tav tm="0">
                                          <p:val>
                                            <p:strVal val="#ppt_y+#ppt_h/2"/>
                                          </p:val>
                                        </p:tav>
                                        <p:tav tm="100000">
                                          <p:val>
                                            <p:strVal val="#ppt_y"/>
                                          </p:val>
                                        </p:tav>
                                      </p:tavLst>
                                    </p:anim>
                                    <p:anim calcmode="lin" valueType="num">
                                      <p:cBhvr>
                                        <p:cTn id="213" dur="500" fill="hold"/>
                                        <p:tgtEl>
                                          <p:spTgt spid="2256060"/>
                                        </p:tgtEl>
                                        <p:attrNameLst>
                                          <p:attrName>ppt_w</p:attrName>
                                        </p:attrNameLst>
                                      </p:cBhvr>
                                      <p:tavLst>
                                        <p:tav tm="0">
                                          <p:val>
                                            <p:strVal val="#ppt_w"/>
                                          </p:val>
                                        </p:tav>
                                        <p:tav tm="100000">
                                          <p:val>
                                            <p:strVal val="#ppt_w"/>
                                          </p:val>
                                        </p:tav>
                                      </p:tavLst>
                                    </p:anim>
                                    <p:anim calcmode="lin" valueType="num">
                                      <p:cBhvr>
                                        <p:cTn id="214" dur="500" fill="hold"/>
                                        <p:tgtEl>
                                          <p:spTgt spid="2256060"/>
                                        </p:tgtEl>
                                        <p:attrNameLst>
                                          <p:attrName>ppt_h</p:attrName>
                                        </p:attrNameLst>
                                      </p:cBhvr>
                                      <p:tavLst>
                                        <p:tav tm="0">
                                          <p:val>
                                            <p:fltVal val="0.000000"/>
                                          </p:val>
                                        </p:tav>
                                        <p:tav tm="100000">
                                          <p:val>
                                            <p:strVal val="#ppt_h"/>
                                          </p:val>
                                        </p:tav>
                                      </p:tavLst>
                                    </p:anim>
                                  </p:childTnLst>
                                </p:cTn>
                              </p:par>
                            </p:childTnLst>
                          </p:cTn>
                        </p:par>
                      </p:childTnLst>
                    </p:cTn>
                  </p:par>
                  <p:par>
                    <p:cTn id="215" fill="hold">
                      <p:stCondLst>
                        <p:cond delay="indefinite"/>
                      </p:stCondLst>
                      <p:childTnLst>
                        <p:par>
                          <p:cTn id="216" fill="hold">
                            <p:stCondLst>
                              <p:cond delay="0"/>
                            </p:stCondLst>
                            <p:childTnLst>
                              <p:par>
                                <p:cTn id="217" presetID="17" presetClass="entr" presetSubtype="4" fill="hold" nodeType="clickEffect">
                                  <p:stCondLst>
                                    <p:cond delay="0"/>
                                  </p:stCondLst>
                                  <p:childTnLst>
                                    <p:set>
                                      <p:cBhvr>
                                        <p:cTn id="218" dur="1" fill="hold">
                                          <p:stCondLst>
                                            <p:cond delay="0"/>
                                          </p:stCondLst>
                                        </p:cTn>
                                        <p:tgtEl>
                                          <p:spTgt spid="2256058"/>
                                        </p:tgtEl>
                                        <p:attrNameLst>
                                          <p:attrName>style.visibility</p:attrName>
                                        </p:attrNameLst>
                                      </p:cBhvr>
                                      <p:to>
                                        <p:strVal val="visible"/>
                                      </p:to>
                                    </p:set>
                                    <p:anim calcmode="lin" valueType="num">
                                      <p:cBhvr>
                                        <p:cTn id="219" dur="500" fill="hold"/>
                                        <p:tgtEl>
                                          <p:spTgt spid="2256058"/>
                                        </p:tgtEl>
                                        <p:attrNameLst>
                                          <p:attrName>ppt_x</p:attrName>
                                        </p:attrNameLst>
                                      </p:cBhvr>
                                      <p:tavLst>
                                        <p:tav tm="0">
                                          <p:val>
                                            <p:strVal val="#ppt_x"/>
                                          </p:val>
                                        </p:tav>
                                        <p:tav tm="100000">
                                          <p:val>
                                            <p:strVal val="#ppt_x"/>
                                          </p:val>
                                        </p:tav>
                                      </p:tavLst>
                                    </p:anim>
                                    <p:anim calcmode="lin" valueType="num">
                                      <p:cBhvr>
                                        <p:cTn id="220" dur="500" fill="hold"/>
                                        <p:tgtEl>
                                          <p:spTgt spid="2256058"/>
                                        </p:tgtEl>
                                        <p:attrNameLst>
                                          <p:attrName>ppt_y</p:attrName>
                                        </p:attrNameLst>
                                      </p:cBhvr>
                                      <p:tavLst>
                                        <p:tav tm="0">
                                          <p:val>
                                            <p:strVal val="#ppt_y+#ppt_h/2"/>
                                          </p:val>
                                        </p:tav>
                                        <p:tav tm="100000">
                                          <p:val>
                                            <p:strVal val="#ppt_y"/>
                                          </p:val>
                                        </p:tav>
                                      </p:tavLst>
                                    </p:anim>
                                    <p:anim calcmode="lin" valueType="num">
                                      <p:cBhvr>
                                        <p:cTn id="221" dur="500" fill="hold"/>
                                        <p:tgtEl>
                                          <p:spTgt spid="2256058"/>
                                        </p:tgtEl>
                                        <p:attrNameLst>
                                          <p:attrName>ppt_w</p:attrName>
                                        </p:attrNameLst>
                                      </p:cBhvr>
                                      <p:tavLst>
                                        <p:tav tm="0">
                                          <p:val>
                                            <p:strVal val="#ppt_w"/>
                                          </p:val>
                                        </p:tav>
                                        <p:tav tm="100000">
                                          <p:val>
                                            <p:strVal val="#ppt_w"/>
                                          </p:val>
                                        </p:tav>
                                      </p:tavLst>
                                    </p:anim>
                                    <p:anim calcmode="lin" valueType="num">
                                      <p:cBhvr>
                                        <p:cTn id="222" dur="500" fill="hold"/>
                                        <p:tgtEl>
                                          <p:spTgt spid="2256058"/>
                                        </p:tgtEl>
                                        <p:attrNameLst>
                                          <p:attrName>ppt_h</p:attrName>
                                        </p:attrNameLst>
                                      </p:cBhvr>
                                      <p:tavLst>
                                        <p:tav tm="0">
                                          <p:val>
                                            <p:fltVal val="0.000000"/>
                                          </p:val>
                                        </p:tav>
                                        <p:tav tm="100000">
                                          <p:val>
                                            <p:strVal val="#ppt_h"/>
                                          </p:val>
                                        </p:tav>
                                      </p:tavLst>
                                    </p:anim>
                                  </p:childTnLst>
                                </p:cTn>
                              </p:par>
                            </p:childTnLst>
                          </p:cTn>
                        </p:par>
                      </p:childTnLst>
                    </p:cTn>
                  </p:par>
                  <p:par>
                    <p:cTn id="223" fill="hold">
                      <p:stCondLst>
                        <p:cond delay="indefinite"/>
                      </p:stCondLst>
                      <p:childTnLst>
                        <p:par>
                          <p:cTn id="224" fill="hold">
                            <p:stCondLst>
                              <p:cond delay="0"/>
                            </p:stCondLst>
                            <p:childTnLst>
                              <p:par>
                                <p:cTn id="225" presetID="17" presetClass="entr" presetSubtype="4" fill="hold" nodeType="clickEffect">
                                  <p:stCondLst>
                                    <p:cond delay="0"/>
                                  </p:stCondLst>
                                  <p:childTnLst>
                                    <p:set>
                                      <p:cBhvr>
                                        <p:cTn id="226" dur="1" fill="hold">
                                          <p:stCondLst>
                                            <p:cond delay="0"/>
                                          </p:stCondLst>
                                        </p:cTn>
                                        <p:tgtEl>
                                          <p:spTgt spid="2256057"/>
                                        </p:tgtEl>
                                        <p:attrNameLst>
                                          <p:attrName>style.visibility</p:attrName>
                                        </p:attrNameLst>
                                      </p:cBhvr>
                                      <p:to>
                                        <p:strVal val="visible"/>
                                      </p:to>
                                    </p:set>
                                    <p:anim calcmode="lin" valueType="num">
                                      <p:cBhvr>
                                        <p:cTn id="227" dur="500" fill="hold"/>
                                        <p:tgtEl>
                                          <p:spTgt spid="2256057"/>
                                        </p:tgtEl>
                                        <p:attrNameLst>
                                          <p:attrName>ppt_x</p:attrName>
                                        </p:attrNameLst>
                                      </p:cBhvr>
                                      <p:tavLst>
                                        <p:tav tm="0">
                                          <p:val>
                                            <p:strVal val="#ppt_x"/>
                                          </p:val>
                                        </p:tav>
                                        <p:tav tm="100000">
                                          <p:val>
                                            <p:strVal val="#ppt_x"/>
                                          </p:val>
                                        </p:tav>
                                      </p:tavLst>
                                    </p:anim>
                                    <p:anim calcmode="lin" valueType="num">
                                      <p:cBhvr>
                                        <p:cTn id="228" dur="500" fill="hold"/>
                                        <p:tgtEl>
                                          <p:spTgt spid="2256057"/>
                                        </p:tgtEl>
                                        <p:attrNameLst>
                                          <p:attrName>ppt_y</p:attrName>
                                        </p:attrNameLst>
                                      </p:cBhvr>
                                      <p:tavLst>
                                        <p:tav tm="0">
                                          <p:val>
                                            <p:strVal val="#ppt_y+#ppt_h/2"/>
                                          </p:val>
                                        </p:tav>
                                        <p:tav tm="100000">
                                          <p:val>
                                            <p:strVal val="#ppt_y"/>
                                          </p:val>
                                        </p:tav>
                                      </p:tavLst>
                                    </p:anim>
                                    <p:anim calcmode="lin" valueType="num">
                                      <p:cBhvr>
                                        <p:cTn id="229" dur="500" fill="hold"/>
                                        <p:tgtEl>
                                          <p:spTgt spid="2256057"/>
                                        </p:tgtEl>
                                        <p:attrNameLst>
                                          <p:attrName>ppt_w</p:attrName>
                                        </p:attrNameLst>
                                      </p:cBhvr>
                                      <p:tavLst>
                                        <p:tav tm="0">
                                          <p:val>
                                            <p:strVal val="#ppt_w"/>
                                          </p:val>
                                        </p:tav>
                                        <p:tav tm="100000">
                                          <p:val>
                                            <p:strVal val="#ppt_w"/>
                                          </p:val>
                                        </p:tav>
                                      </p:tavLst>
                                    </p:anim>
                                    <p:anim calcmode="lin" valueType="num">
                                      <p:cBhvr>
                                        <p:cTn id="230" dur="500" fill="hold"/>
                                        <p:tgtEl>
                                          <p:spTgt spid="2256057"/>
                                        </p:tgtEl>
                                        <p:attrNameLst>
                                          <p:attrName>ppt_h</p:attrName>
                                        </p:attrNameLst>
                                      </p:cBhvr>
                                      <p:tavLst>
                                        <p:tav tm="0">
                                          <p:val>
                                            <p:fltVal val="0.000000"/>
                                          </p:val>
                                        </p:tav>
                                        <p:tav tm="100000">
                                          <p:val>
                                            <p:strVal val="#ppt_h"/>
                                          </p:val>
                                        </p:tav>
                                      </p:tavLst>
                                    </p:anim>
                                  </p:childTnLst>
                                </p:cTn>
                              </p:par>
                            </p:childTnLst>
                          </p:cTn>
                        </p:par>
                      </p:childTnLst>
                    </p:cTn>
                  </p:par>
                  <p:par>
                    <p:cTn id="231" fill="hold">
                      <p:stCondLst>
                        <p:cond delay="indefinite"/>
                      </p:stCondLst>
                      <p:childTnLst>
                        <p:par>
                          <p:cTn id="232" fill="hold">
                            <p:stCondLst>
                              <p:cond delay="0"/>
                            </p:stCondLst>
                            <p:childTnLst>
                              <p:par>
                                <p:cTn id="233" presetID="22" presetClass="entr" presetSubtype="8" fill="hold" nodeType="clickEffect">
                                  <p:stCondLst>
                                    <p:cond delay="0"/>
                                  </p:stCondLst>
                                  <p:childTnLst>
                                    <p:set>
                                      <p:cBhvr>
                                        <p:cTn id="234" dur="1" fill="hold">
                                          <p:stCondLst>
                                            <p:cond delay="0"/>
                                          </p:stCondLst>
                                        </p:cTn>
                                        <p:tgtEl>
                                          <p:spTgt spid="14"/>
                                        </p:tgtEl>
                                        <p:attrNameLst>
                                          <p:attrName>style.visibility</p:attrName>
                                        </p:attrNameLst>
                                      </p:cBhvr>
                                      <p:to>
                                        <p:strVal val="visible"/>
                                      </p:to>
                                    </p:set>
                                    <p:animEffect transition="in" filter="wipe(left)">
                                      <p:cBhvr>
                                        <p:cTn id="235" dur="500"/>
                                        <p:tgtEl>
                                          <p:spTgt spid="14"/>
                                        </p:tgtEl>
                                      </p:cBhvr>
                                    </p:animEffect>
                                  </p:childTnLst>
                                </p:cTn>
                              </p:par>
                            </p:childTnLst>
                          </p:cTn>
                        </p:par>
                      </p:childTnLst>
                    </p:cTn>
                  </p:par>
                  <p:par>
                    <p:cTn id="236" fill="hold">
                      <p:stCondLst>
                        <p:cond delay="indefinite"/>
                      </p:stCondLst>
                      <p:childTnLst>
                        <p:par>
                          <p:cTn id="237" fill="hold">
                            <p:stCondLst>
                              <p:cond delay="0"/>
                            </p:stCondLst>
                            <p:childTnLst>
                              <p:par>
                                <p:cTn id="238" presetID="9" presetClass="entr" presetSubtype="0" fill="hold" grpId="0" nodeType="clickEffect">
                                  <p:stCondLst>
                                    <p:cond delay="0"/>
                                  </p:stCondLst>
                                  <p:childTnLst>
                                    <p:set>
                                      <p:cBhvr>
                                        <p:cTn id="239" dur="1" fill="hold">
                                          <p:stCondLst>
                                            <p:cond delay="0"/>
                                          </p:stCondLst>
                                        </p:cTn>
                                        <p:tgtEl>
                                          <p:spTgt spid="2256077"/>
                                        </p:tgtEl>
                                        <p:attrNameLst>
                                          <p:attrName>style.visibility</p:attrName>
                                        </p:attrNameLst>
                                      </p:cBhvr>
                                      <p:to>
                                        <p:strVal val="visible"/>
                                      </p:to>
                                    </p:set>
                                    <p:animEffect transition="in" filter="dissolve">
                                      <p:cBhvr>
                                        <p:cTn id="240" dur="500"/>
                                        <p:tgtEl>
                                          <p:spTgt spid="2256077"/>
                                        </p:tgtEl>
                                      </p:cBhvr>
                                    </p:animEffect>
                                  </p:childTnLst>
                                </p:cTn>
                              </p:par>
                            </p:childTnLst>
                          </p:cTn>
                        </p:par>
                        <p:par>
                          <p:cTn id="241" fill="hold">
                            <p:stCondLst>
                              <p:cond delay="500"/>
                            </p:stCondLst>
                            <p:childTnLst>
                              <p:par>
                                <p:cTn id="242" presetID="17" presetClass="entr" presetSubtype="8" fill="hold" nodeType="afterEffect">
                                  <p:stCondLst>
                                    <p:cond delay="0"/>
                                  </p:stCondLst>
                                  <p:childTnLst>
                                    <p:set>
                                      <p:cBhvr>
                                        <p:cTn id="243" dur="1" fill="hold">
                                          <p:stCondLst>
                                            <p:cond delay="0"/>
                                          </p:stCondLst>
                                        </p:cTn>
                                        <p:tgtEl>
                                          <p:spTgt spid="2256069"/>
                                        </p:tgtEl>
                                        <p:attrNameLst>
                                          <p:attrName>style.visibility</p:attrName>
                                        </p:attrNameLst>
                                      </p:cBhvr>
                                      <p:to>
                                        <p:strVal val="visible"/>
                                      </p:to>
                                    </p:set>
                                    <p:anim calcmode="lin" valueType="num">
                                      <p:cBhvr>
                                        <p:cTn id="244" dur="500" fill="hold"/>
                                        <p:tgtEl>
                                          <p:spTgt spid="2256069"/>
                                        </p:tgtEl>
                                        <p:attrNameLst>
                                          <p:attrName>ppt_x</p:attrName>
                                        </p:attrNameLst>
                                      </p:cBhvr>
                                      <p:tavLst>
                                        <p:tav tm="0">
                                          <p:val>
                                            <p:strVal val="#ppt_x-#ppt_w/2"/>
                                          </p:val>
                                        </p:tav>
                                        <p:tav tm="100000">
                                          <p:val>
                                            <p:strVal val="#ppt_x"/>
                                          </p:val>
                                        </p:tav>
                                      </p:tavLst>
                                    </p:anim>
                                    <p:anim calcmode="lin" valueType="num">
                                      <p:cBhvr>
                                        <p:cTn id="245" dur="500" fill="hold"/>
                                        <p:tgtEl>
                                          <p:spTgt spid="2256069"/>
                                        </p:tgtEl>
                                        <p:attrNameLst>
                                          <p:attrName>ppt_y</p:attrName>
                                        </p:attrNameLst>
                                      </p:cBhvr>
                                      <p:tavLst>
                                        <p:tav tm="0">
                                          <p:val>
                                            <p:strVal val="#ppt_y"/>
                                          </p:val>
                                        </p:tav>
                                        <p:tav tm="100000">
                                          <p:val>
                                            <p:strVal val="#ppt_y"/>
                                          </p:val>
                                        </p:tav>
                                      </p:tavLst>
                                    </p:anim>
                                    <p:anim calcmode="lin" valueType="num">
                                      <p:cBhvr>
                                        <p:cTn id="246" dur="500" fill="hold"/>
                                        <p:tgtEl>
                                          <p:spTgt spid="2256069"/>
                                        </p:tgtEl>
                                        <p:attrNameLst>
                                          <p:attrName>ppt_w</p:attrName>
                                        </p:attrNameLst>
                                      </p:cBhvr>
                                      <p:tavLst>
                                        <p:tav tm="0">
                                          <p:val>
                                            <p:fltVal val="0.000000"/>
                                          </p:val>
                                        </p:tav>
                                        <p:tav tm="100000">
                                          <p:val>
                                            <p:strVal val="#ppt_w"/>
                                          </p:val>
                                        </p:tav>
                                      </p:tavLst>
                                    </p:anim>
                                    <p:anim calcmode="lin" valueType="num">
                                      <p:cBhvr>
                                        <p:cTn id="247" dur="500" fill="hold"/>
                                        <p:tgtEl>
                                          <p:spTgt spid="2256069"/>
                                        </p:tgtEl>
                                        <p:attrNameLst>
                                          <p:attrName>ppt_h</p:attrName>
                                        </p:attrNameLst>
                                      </p:cBhvr>
                                      <p:tavLst>
                                        <p:tav tm="0">
                                          <p:val>
                                            <p:strVal val="#ppt_h"/>
                                          </p:val>
                                        </p:tav>
                                        <p:tav tm="100000">
                                          <p:val>
                                            <p:strVal val="#ppt_h"/>
                                          </p:val>
                                        </p:tav>
                                      </p:tavLst>
                                    </p:anim>
                                  </p:childTnLst>
                                </p:cTn>
                              </p:par>
                            </p:childTnLst>
                          </p:cTn>
                        </p:par>
                      </p:childTnLst>
                    </p:cTn>
                  </p:par>
                  <p:par>
                    <p:cTn id="248" fill="hold">
                      <p:stCondLst>
                        <p:cond delay="indefinite"/>
                      </p:stCondLst>
                      <p:childTnLst>
                        <p:par>
                          <p:cTn id="249" fill="hold">
                            <p:stCondLst>
                              <p:cond delay="0"/>
                            </p:stCondLst>
                            <p:childTnLst>
                              <p:par>
                                <p:cTn id="250" presetID="22" presetClass="entr" presetSubtype="8" fill="hold" nodeType="clickEffect">
                                  <p:stCondLst>
                                    <p:cond delay="0"/>
                                  </p:stCondLst>
                                  <p:childTnLst>
                                    <p:set>
                                      <p:cBhvr>
                                        <p:cTn id="251" dur="1" fill="hold">
                                          <p:stCondLst>
                                            <p:cond delay="0"/>
                                          </p:stCondLst>
                                        </p:cTn>
                                        <p:tgtEl>
                                          <p:spTgt spid="15"/>
                                        </p:tgtEl>
                                        <p:attrNameLst>
                                          <p:attrName>style.visibility</p:attrName>
                                        </p:attrNameLst>
                                      </p:cBhvr>
                                      <p:to>
                                        <p:strVal val="visible"/>
                                      </p:to>
                                    </p:set>
                                    <p:animEffect transition="in" filter="wipe(left)">
                                      <p:cBhvr>
                                        <p:cTn id="252" dur="500"/>
                                        <p:tgtEl>
                                          <p:spTgt spid="15"/>
                                        </p:tgtEl>
                                      </p:cBhvr>
                                    </p:animEffect>
                                  </p:childTnLst>
                                </p:cTn>
                              </p:par>
                            </p:childTnLst>
                          </p:cTn>
                        </p:par>
                      </p:childTnLst>
                    </p:cTn>
                  </p:par>
                  <p:par>
                    <p:cTn id="253" fill="hold">
                      <p:stCondLst>
                        <p:cond delay="indefinite"/>
                      </p:stCondLst>
                      <p:childTnLst>
                        <p:par>
                          <p:cTn id="254" fill="hold">
                            <p:stCondLst>
                              <p:cond delay="0"/>
                            </p:stCondLst>
                            <p:childTnLst>
                              <p:par>
                                <p:cTn id="255" presetID="9" presetClass="entr" presetSubtype="0" fill="hold" grpId="0" nodeType="clickEffect">
                                  <p:stCondLst>
                                    <p:cond delay="0"/>
                                  </p:stCondLst>
                                  <p:childTnLst>
                                    <p:set>
                                      <p:cBhvr>
                                        <p:cTn id="256" dur="1" fill="hold">
                                          <p:stCondLst>
                                            <p:cond delay="0"/>
                                          </p:stCondLst>
                                        </p:cTn>
                                        <p:tgtEl>
                                          <p:spTgt spid="2256078"/>
                                        </p:tgtEl>
                                        <p:attrNameLst>
                                          <p:attrName>style.visibility</p:attrName>
                                        </p:attrNameLst>
                                      </p:cBhvr>
                                      <p:to>
                                        <p:strVal val="visible"/>
                                      </p:to>
                                    </p:set>
                                    <p:animEffect transition="in" filter="dissolve">
                                      <p:cBhvr>
                                        <p:cTn id="257" dur="500"/>
                                        <p:tgtEl>
                                          <p:spTgt spid="2256078"/>
                                        </p:tgtEl>
                                      </p:cBhvr>
                                    </p:animEffect>
                                  </p:childTnLst>
                                </p:cTn>
                              </p:par>
                            </p:childTnLst>
                          </p:cTn>
                        </p:par>
                        <p:par>
                          <p:cTn id="258" fill="hold">
                            <p:stCondLst>
                              <p:cond delay="500"/>
                            </p:stCondLst>
                            <p:childTnLst>
                              <p:par>
                                <p:cTn id="259" presetID="17" presetClass="entr" presetSubtype="8" fill="hold" nodeType="afterEffect">
                                  <p:stCondLst>
                                    <p:cond delay="0"/>
                                  </p:stCondLst>
                                  <p:childTnLst>
                                    <p:set>
                                      <p:cBhvr>
                                        <p:cTn id="260" dur="1" fill="hold">
                                          <p:stCondLst>
                                            <p:cond delay="0"/>
                                          </p:stCondLst>
                                        </p:cTn>
                                        <p:tgtEl>
                                          <p:spTgt spid="2256070"/>
                                        </p:tgtEl>
                                        <p:attrNameLst>
                                          <p:attrName>style.visibility</p:attrName>
                                        </p:attrNameLst>
                                      </p:cBhvr>
                                      <p:to>
                                        <p:strVal val="visible"/>
                                      </p:to>
                                    </p:set>
                                    <p:anim calcmode="lin" valueType="num">
                                      <p:cBhvr>
                                        <p:cTn id="261" dur="500" fill="hold"/>
                                        <p:tgtEl>
                                          <p:spTgt spid="2256070"/>
                                        </p:tgtEl>
                                        <p:attrNameLst>
                                          <p:attrName>ppt_x</p:attrName>
                                        </p:attrNameLst>
                                      </p:cBhvr>
                                      <p:tavLst>
                                        <p:tav tm="0">
                                          <p:val>
                                            <p:strVal val="#ppt_x-#ppt_w/2"/>
                                          </p:val>
                                        </p:tav>
                                        <p:tav tm="100000">
                                          <p:val>
                                            <p:strVal val="#ppt_x"/>
                                          </p:val>
                                        </p:tav>
                                      </p:tavLst>
                                    </p:anim>
                                    <p:anim calcmode="lin" valueType="num">
                                      <p:cBhvr>
                                        <p:cTn id="262" dur="500" fill="hold"/>
                                        <p:tgtEl>
                                          <p:spTgt spid="2256070"/>
                                        </p:tgtEl>
                                        <p:attrNameLst>
                                          <p:attrName>ppt_y</p:attrName>
                                        </p:attrNameLst>
                                      </p:cBhvr>
                                      <p:tavLst>
                                        <p:tav tm="0">
                                          <p:val>
                                            <p:strVal val="#ppt_y"/>
                                          </p:val>
                                        </p:tav>
                                        <p:tav tm="100000">
                                          <p:val>
                                            <p:strVal val="#ppt_y"/>
                                          </p:val>
                                        </p:tav>
                                      </p:tavLst>
                                    </p:anim>
                                    <p:anim calcmode="lin" valueType="num">
                                      <p:cBhvr>
                                        <p:cTn id="263" dur="500" fill="hold"/>
                                        <p:tgtEl>
                                          <p:spTgt spid="2256070"/>
                                        </p:tgtEl>
                                        <p:attrNameLst>
                                          <p:attrName>ppt_w</p:attrName>
                                        </p:attrNameLst>
                                      </p:cBhvr>
                                      <p:tavLst>
                                        <p:tav tm="0">
                                          <p:val>
                                            <p:fltVal val="0.000000"/>
                                          </p:val>
                                        </p:tav>
                                        <p:tav tm="100000">
                                          <p:val>
                                            <p:strVal val="#ppt_w"/>
                                          </p:val>
                                        </p:tav>
                                      </p:tavLst>
                                    </p:anim>
                                    <p:anim calcmode="lin" valueType="num">
                                      <p:cBhvr>
                                        <p:cTn id="264" dur="500" fill="hold"/>
                                        <p:tgtEl>
                                          <p:spTgt spid="2256070"/>
                                        </p:tgtEl>
                                        <p:attrNameLst>
                                          <p:attrName>ppt_h</p:attrName>
                                        </p:attrNameLst>
                                      </p:cBhvr>
                                      <p:tavLst>
                                        <p:tav tm="0">
                                          <p:val>
                                            <p:strVal val="#ppt_h"/>
                                          </p:val>
                                        </p:tav>
                                        <p:tav tm="100000">
                                          <p:val>
                                            <p:strVal val="#ppt_h"/>
                                          </p:val>
                                        </p:tav>
                                      </p:tavLst>
                                    </p:anim>
                                  </p:childTnLst>
                                </p:cTn>
                              </p:par>
                            </p:childTnLst>
                          </p:cTn>
                        </p:par>
                      </p:childTnLst>
                    </p:cTn>
                  </p:par>
                  <p:par>
                    <p:cTn id="265" fill="hold">
                      <p:stCondLst>
                        <p:cond delay="indefinite"/>
                      </p:stCondLst>
                      <p:childTnLst>
                        <p:par>
                          <p:cTn id="266" fill="hold">
                            <p:stCondLst>
                              <p:cond delay="0"/>
                            </p:stCondLst>
                            <p:childTnLst>
                              <p:par>
                                <p:cTn id="267" presetID="22" presetClass="entr" presetSubtype="8" fill="hold" nodeType="clickEffect">
                                  <p:stCondLst>
                                    <p:cond delay="0"/>
                                  </p:stCondLst>
                                  <p:childTnLst>
                                    <p:set>
                                      <p:cBhvr>
                                        <p:cTn id="268" dur="1" fill="hold">
                                          <p:stCondLst>
                                            <p:cond delay="0"/>
                                          </p:stCondLst>
                                        </p:cTn>
                                        <p:tgtEl>
                                          <p:spTgt spid="16"/>
                                        </p:tgtEl>
                                        <p:attrNameLst>
                                          <p:attrName>style.visibility</p:attrName>
                                        </p:attrNameLst>
                                      </p:cBhvr>
                                      <p:to>
                                        <p:strVal val="visible"/>
                                      </p:to>
                                    </p:set>
                                    <p:animEffect transition="in" filter="wipe(left)">
                                      <p:cBhvr>
                                        <p:cTn id="269" dur="500"/>
                                        <p:tgtEl>
                                          <p:spTgt spid="16"/>
                                        </p:tgtEl>
                                      </p:cBhvr>
                                    </p:animEffect>
                                  </p:childTnLst>
                                </p:cTn>
                              </p:par>
                            </p:childTnLst>
                          </p:cTn>
                        </p:par>
                      </p:childTnLst>
                    </p:cTn>
                  </p:par>
                  <p:par>
                    <p:cTn id="270" fill="hold">
                      <p:stCondLst>
                        <p:cond delay="indefinite"/>
                      </p:stCondLst>
                      <p:childTnLst>
                        <p:par>
                          <p:cTn id="271" fill="hold">
                            <p:stCondLst>
                              <p:cond delay="0"/>
                            </p:stCondLst>
                            <p:childTnLst>
                              <p:par>
                                <p:cTn id="272" presetID="17" presetClass="entr" presetSubtype="8" fill="hold" grpId="0" nodeType="clickEffect">
                                  <p:stCondLst>
                                    <p:cond delay="0"/>
                                  </p:stCondLst>
                                  <p:childTnLst>
                                    <p:set>
                                      <p:cBhvr>
                                        <p:cTn id="273" dur="1" fill="hold">
                                          <p:stCondLst>
                                            <p:cond delay="0"/>
                                          </p:stCondLst>
                                        </p:cTn>
                                        <p:tgtEl>
                                          <p:spTgt spid="2256074"/>
                                        </p:tgtEl>
                                        <p:attrNameLst>
                                          <p:attrName>style.visibility</p:attrName>
                                        </p:attrNameLst>
                                      </p:cBhvr>
                                      <p:to>
                                        <p:strVal val="visible"/>
                                      </p:to>
                                    </p:set>
                                    <p:anim calcmode="lin" valueType="num">
                                      <p:cBhvr>
                                        <p:cTn id="274" dur="500" fill="hold"/>
                                        <p:tgtEl>
                                          <p:spTgt spid="2256074"/>
                                        </p:tgtEl>
                                        <p:attrNameLst>
                                          <p:attrName>ppt_x</p:attrName>
                                        </p:attrNameLst>
                                      </p:cBhvr>
                                      <p:tavLst>
                                        <p:tav tm="0">
                                          <p:val>
                                            <p:strVal val="#ppt_x-#ppt_w/2"/>
                                          </p:val>
                                        </p:tav>
                                        <p:tav tm="100000">
                                          <p:val>
                                            <p:strVal val="#ppt_x"/>
                                          </p:val>
                                        </p:tav>
                                      </p:tavLst>
                                    </p:anim>
                                    <p:anim calcmode="lin" valueType="num">
                                      <p:cBhvr>
                                        <p:cTn id="275" dur="500" fill="hold"/>
                                        <p:tgtEl>
                                          <p:spTgt spid="2256074"/>
                                        </p:tgtEl>
                                        <p:attrNameLst>
                                          <p:attrName>ppt_y</p:attrName>
                                        </p:attrNameLst>
                                      </p:cBhvr>
                                      <p:tavLst>
                                        <p:tav tm="0">
                                          <p:val>
                                            <p:strVal val="#ppt_y"/>
                                          </p:val>
                                        </p:tav>
                                        <p:tav tm="100000">
                                          <p:val>
                                            <p:strVal val="#ppt_y"/>
                                          </p:val>
                                        </p:tav>
                                      </p:tavLst>
                                    </p:anim>
                                    <p:anim calcmode="lin" valueType="num">
                                      <p:cBhvr>
                                        <p:cTn id="276" dur="500" fill="hold"/>
                                        <p:tgtEl>
                                          <p:spTgt spid="2256074"/>
                                        </p:tgtEl>
                                        <p:attrNameLst>
                                          <p:attrName>ppt_w</p:attrName>
                                        </p:attrNameLst>
                                      </p:cBhvr>
                                      <p:tavLst>
                                        <p:tav tm="0">
                                          <p:val>
                                            <p:fltVal val="0.000000"/>
                                          </p:val>
                                        </p:tav>
                                        <p:tav tm="100000">
                                          <p:val>
                                            <p:strVal val="#ppt_w"/>
                                          </p:val>
                                        </p:tav>
                                      </p:tavLst>
                                    </p:anim>
                                    <p:anim calcmode="lin" valueType="num">
                                      <p:cBhvr>
                                        <p:cTn id="277" dur="500" fill="hold"/>
                                        <p:tgtEl>
                                          <p:spTgt spid="225607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6110" grpId="0" animBg="1"/>
      <p:bldP spid="2223110" grpId="0" animBg="1"/>
      <p:bldP spid="2256011" grpId="0" animBg="1"/>
      <p:bldP spid="2256032" grpId="0"/>
      <p:bldP spid="2256037" grpId="0" animBg="1"/>
      <p:bldP spid="2256053" grpId="0" animBg="1"/>
      <p:bldP spid="2256074" grpId="0" animBg="1"/>
      <p:bldP spid="2256076" grpId="0"/>
      <p:bldP spid="2256077" grpId="0"/>
      <p:bldP spid="225607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0450" name="Text Box 2"/>
          <p:cNvSpPr txBox="1"/>
          <p:nvPr/>
        </p:nvSpPr>
        <p:spPr>
          <a:xfrm>
            <a:off x="358775" y="1700213"/>
            <a:ext cx="2808288" cy="585787"/>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系统组成</a:t>
            </a:r>
            <a:r>
              <a:rPr lang="en-US" altLang="zh-CN" b="1" dirty="0">
                <a:solidFill>
                  <a:srgbClr val="3366CC"/>
                </a:solidFill>
                <a:latin typeface="Times New Roman" panose="02020603050405020304" pitchFamily="18" charset="0"/>
              </a:rPr>
              <a:t>:</a:t>
            </a:r>
            <a:endParaRPr lang="en-US" altLang="zh-CN" b="1" dirty="0">
              <a:solidFill>
                <a:srgbClr val="3366CC"/>
              </a:solidFill>
              <a:latin typeface="Times New Roman" panose="02020603050405020304" pitchFamily="18" charset="0"/>
            </a:endParaRPr>
          </a:p>
        </p:txBody>
      </p:sp>
      <p:sp>
        <p:nvSpPr>
          <p:cNvPr id="2280451" name="Text Box 3"/>
          <p:cNvSpPr txBox="1"/>
          <p:nvPr/>
        </p:nvSpPr>
        <p:spPr>
          <a:xfrm>
            <a:off x="468313" y="2687638"/>
            <a:ext cx="7146925" cy="44926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传感器</a:t>
            </a:r>
            <a:r>
              <a:rPr lang="zh-CN" altLang="en-US" sz="2600" b="1" dirty="0">
                <a:solidFill>
                  <a:schemeClr val="tx1"/>
                </a:solidFill>
                <a:latin typeface="Times New Roman" panose="02020603050405020304" pitchFamily="18" charset="0"/>
                <a:ea typeface="黑体" panose="02010609060101010101" pitchFamily="49" charset="-122"/>
              </a:rPr>
              <a:t>：将非电量转换为电信号。 </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52" name="Text Box 4"/>
          <p:cNvSpPr txBox="1"/>
          <p:nvPr/>
        </p:nvSpPr>
        <p:spPr>
          <a:xfrm>
            <a:off x="473075" y="3365500"/>
            <a:ext cx="8167688" cy="965200"/>
          </a:xfrm>
          <a:prstGeom prst="rect">
            <a:avLst/>
          </a:prstGeom>
          <a:noFill/>
          <a:ln w="9525">
            <a:noFill/>
          </a:ln>
        </p:spPr>
        <p:txBody>
          <a:bodyPr>
            <a:spAutoFit/>
          </a:bodyPr>
          <a:p>
            <a:pPr eaLnBrk="1" hangingPunct="1">
              <a:lnSpc>
                <a:spcPct val="11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模拟多路开关</a:t>
            </a:r>
            <a:r>
              <a:rPr lang="zh-CN" altLang="en-US" sz="2600" b="1" dirty="0">
                <a:solidFill>
                  <a:schemeClr val="tx1"/>
                </a:solidFill>
                <a:latin typeface="Times New Roman" panose="02020603050405020304" pitchFamily="18" charset="0"/>
                <a:ea typeface="黑体" panose="02010609060101010101" pitchFamily="49" charset="-122"/>
              </a:rPr>
              <a:t>：在采用公共</a:t>
            </a:r>
            <a:r>
              <a:rPr lang="en-US" altLang="zh-CN" sz="2600" b="1" dirty="0">
                <a:solidFill>
                  <a:schemeClr val="tx1"/>
                </a:solidFill>
                <a:latin typeface="Times New Roman" panose="02020603050405020304" pitchFamily="18" charset="0"/>
                <a:ea typeface="黑体" panose="02010609060101010101" pitchFamily="49" charset="-122"/>
              </a:rPr>
              <a:t>A/D</a:t>
            </a:r>
            <a:r>
              <a:rPr lang="zh-CN" altLang="en-US" sz="2600" b="1" dirty="0">
                <a:solidFill>
                  <a:schemeClr val="tx1"/>
                </a:solidFill>
                <a:latin typeface="Times New Roman" panose="02020603050405020304" pitchFamily="18" charset="0"/>
                <a:ea typeface="黑体" panose="02010609060101010101" pitchFamily="49" charset="-122"/>
              </a:rPr>
              <a:t>转换器时，分时切换各路模拟量与</a:t>
            </a:r>
            <a:r>
              <a:rPr lang="en-US" altLang="zh-CN" sz="2600" b="1" dirty="0">
                <a:solidFill>
                  <a:schemeClr val="tx1"/>
                </a:solidFill>
                <a:latin typeface="Times New Roman" panose="02020603050405020304" pitchFamily="18" charset="0"/>
                <a:ea typeface="黑体" panose="02010609060101010101" pitchFamily="49" charset="-122"/>
              </a:rPr>
              <a:t>A/D</a:t>
            </a:r>
            <a:r>
              <a:rPr lang="zh-CN" altLang="en-US" sz="2600" b="1" dirty="0">
                <a:solidFill>
                  <a:schemeClr val="tx1"/>
                </a:solidFill>
                <a:latin typeface="Times New Roman" panose="02020603050405020304" pitchFamily="18" charset="0"/>
                <a:ea typeface="黑体" panose="02010609060101010101" pitchFamily="49" charset="-122"/>
              </a:rPr>
              <a:t>转换器间的通道。 </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53" name="Text Box 5"/>
          <p:cNvSpPr txBox="1"/>
          <p:nvPr/>
        </p:nvSpPr>
        <p:spPr>
          <a:xfrm>
            <a:off x="473075" y="4511675"/>
            <a:ext cx="8167688" cy="1401763"/>
          </a:xfrm>
          <a:prstGeom prst="rect">
            <a:avLst/>
          </a:prstGeom>
          <a:noFill/>
          <a:ln w="9525">
            <a:noFill/>
          </a:ln>
        </p:spPr>
        <p:txBody>
          <a:bodyPr>
            <a:spAutoFit/>
          </a:bodyPr>
          <a:p>
            <a:pPr eaLnBrk="1" hangingPunct="1">
              <a:lnSpc>
                <a:spcPct val="11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程控放大器</a:t>
            </a:r>
            <a:r>
              <a:rPr lang="zh-CN" altLang="en-US" sz="2600" b="1" dirty="0">
                <a:solidFill>
                  <a:schemeClr val="tx1"/>
                </a:solidFill>
                <a:latin typeface="Times New Roman" panose="02020603050405020304" pitchFamily="18" charset="0"/>
                <a:ea typeface="黑体" panose="02010609060101010101" pitchFamily="49" charset="-122"/>
              </a:rPr>
              <a:t>：将来自传感器的毫伏级的低电平模拟信号放大到几伏级，以充分利用</a:t>
            </a:r>
            <a:r>
              <a:rPr lang="en-US" altLang="zh-CN" sz="2600" b="1" dirty="0">
                <a:solidFill>
                  <a:schemeClr val="tx1"/>
                </a:solidFill>
                <a:latin typeface="Times New Roman" panose="02020603050405020304" pitchFamily="18" charset="0"/>
                <a:ea typeface="黑体" panose="02010609060101010101" pitchFamily="49" charset="-122"/>
              </a:rPr>
              <a:t>ADC</a:t>
            </a:r>
            <a:r>
              <a:rPr lang="zh-CN" altLang="en-US" sz="2600" b="1" dirty="0">
                <a:solidFill>
                  <a:schemeClr val="tx1"/>
                </a:solidFill>
                <a:latin typeface="Times New Roman" panose="02020603050405020304" pitchFamily="18" charset="0"/>
                <a:ea typeface="黑体" panose="02010609060101010101" pitchFamily="49" charset="-122"/>
              </a:rPr>
              <a:t>的满量程分辨率；为每个模拟通道提供最合适的放大倍数。</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57" name="Text Box 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3255" name="Text Box 10"/>
          <p:cNvSpPr txBox="1"/>
          <p:nvPr/>
        </p:nvSpPr>
        <p:spPr>
          <a:xfrm>
            <a:off x="358775" y="908050"/>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80459" name="Text Box 11"/>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0450"/>
                                        </p:tgtEl>
                                        <p:attrNameLst>
                                          <p:attrName>style.visibility</p:attrName>
                                        </p:attrNameLst>
                                      </p:cBhvr>
                                      <p:to>
                                        <p:strVal val="visible"/>
                                      </p:to>
                                    </p:set>
                                    <p:animEffect transition="in" filter="dissolve">
                                      <p:cBhvr>
                                        <p:cTn id="7" dur="500"/>
                                        <p:tgtEl>
                                          <p:spTgt spid="228045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0451"/>
                                        </p:tgtEl>
                                        <p:attrNameLst>
                                          <p:attrName>style.visibility</p:attrName>
                                        </p:attrNameLst>
                                      </p:cBhvr>
                                      <p:to>
                                        <p:strVal val="visible"/>
                                      </p:to>
                                    </p:set>
                                    <p:animEffect transition="in" filter="dissolve">
                                      <p:cBhvr>
                                        <p:cTn id="12" dur="500"/>
                                        <p:tgtEl>
                                          <p:spTgt spid="228045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80452"/>
                                        </p:tgtEl>
                                        <p:attrNameLst>
                                          <p:attrName>style.visibility</p:attrName>
                                        </p:attrNameLst>
                                      </p:cBhvr>
                                      <p:to>
                                        <p:strVal val="visible"/>
                                      </p:to>
                                    </p:set>
                                    <p:animEffect transition="in" filter="dissolve">
                                      <p:cBhvr>
                                        <p:cTn id="17" dur="500"/>
                                        <p:tgtEl>
                                          <p:spTgt spid="228045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80453"/>
                                        </p:tgtEl>
                                        <p:attrNameLst>
                                          <p:attrName>style.visibility</p:attrName>
                                        </p:attrNameLst>
                                      </p:cBhvr>
                                      <p:to>
                                        <p:strVal val="visible"/>
                                      </p:to>
                                    </p:set>
                                    <p:animEffect transition="in" filter="dissolve">
                                      <p:cBhvr>
                                        <p:cTn id="22" dur="500"/>
                                        <p:tgtEl>
                                          <p:spTgt spid="22804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0450" grpId="0" animBg="1"/>
      <p:bldP spid="2280451" grpId="0"/>
      <p:bldP spid="2280452" grpId="0"/>
      <p:bldP spid="228045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0450" name="Text Box 2"/>
          <p:cNvSpPr txBox="1"/>
          <p:nvPr/>
        </p:nvSpPr>
        <p:spPr>
          <a:xfrm>
            <a:off x="358775" y="1700213"/>
            <a:ext cx="2808288" cy="585787"/>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系统组成</a:t>
            </a:r>
            <a:r>
              <a:rPr lang="en-US" altLang="zh-CN" b="1" dirty="0">
                <a:solidFill>
                  <a:srgbClr val="3366CC"/>
                </a:solidFill>
                <a:latin typeface="Times New Roman" panose="02020603050405020304" pitchFamily="18" charset="0"/>
              </a:rPr>
              <a:t>:</a:t>
            </a:r>
            <a:endParaRPr lang="en-US" altLang="zh-CN" b="1" dirty="0">
              <a:solidFill>
                <a:srgbClr val="3366CC"/>
              </a:solidFill>
              <a:latin typeface="Times New Roman" panose="02020603050405020304" pitchFamily="18" charset="0"/>
            </a:endParaRPr>
          </a:p>
        </p:txBody>
      </p:sp>
      <p:sp>
        <p:nvSpPr>
          <p:cNvPr id="2280455" name="Text Box 7"/>
          <p:cNvSpPr txBox="1"/>
          <p:nvPr/>
        </p:nvSpPr>
        <p:spPr>
          <a:xfrm>
            <a:off x="473075" y="3357563"/>
            <a:ext cx="7840663" cy="44926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600" b="1" dirty="0">
                <a:solidFill>
                  <a:srgbClr val="FF0000"/>
                </a:solidFill>
                <a:latin typeface="Times New Roman" panose="02020603050405020304" pitchFamily="18" charset="0"/>
                <a:ea typeface="黑体" panose="02010609060101010101" pitchFamily="49" charset="-122"/>
              </a:rPr>
              <a:t>A/D</a:t>
            </a:r>
            <a:r>
              <a:rPr lang="zh-CN" altLang="en-US" sz="2600" b="1" dirty="0">
                <a:solidFill>
                  <a:srgbClr val="FF0000"/>
                </a:solidFill>
                <a:latin typeface="Times New Roman" panose="02020603050405020304" pitchFamily="18" charset="0"/>
                <a:ea typeface="黑体" panose="02010609060101010101" pitchFamily="49" charset="-122"/>
              </a:rPr>
              <a:t>转换器</a:t>
            </a:r>
            <a:r>
              <a:rPr lang="zh-CN" altLang="en-US" sz="2600" b="1" dirty="0">
                <a:solidFill>
                  <a:schemeClr val="tx1"/>
                </a:solidFill>
                <a:latin typeface="Times New Roman" panose="02020603050405020304" pitchFamily="18" charset="0"/>
                <a:ea typeface="黑体" panose="02010609060101010101" pitchFamily="49" charset="-122"/>
              </a:rPr>
              <a:t>：将模拟信号转换为数字信号。</a:t>
            </a:r>
            <a:r>
              <a:rPr lang="zh-CN" altLang="en-US" sz="2400" b="1" dirty="0">
                <a:solidFill>
                  <a:schemeClr val="tx1"/>
                </a:solidFill>
                <a:latin typeface="Times New Roman" panose="02020603050405020304" pitchFamily="18" charset="0"/>
                <a:ea typeface="黑体" panose="02010609060101010101" pitchFamily="49" charset="-122"/>
              </a:rPr>
              <a:t> </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80456" name="Text Box 8"/>
          <p:cNvSpPr txBox="1"/>
          <p:nvPr/>
        </p:nvSpPr>
        <p:spPr>
          <a:xfrm>
            <a:off x="473075" y="4052888"/>
            <a:ext cx="7840663" cy="44926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接口电路</a:t>
            </a:r>
            <a:r>
              <a:rPr lang="zh-CN" altLang="en-US" sz="2600" b="1" dirty="0">
                <a:solidFill>
                  <a:schemeClr val="tx1"/>
                </a:solidFill>
                <a:latin typeface="Times New Roman" panose="02020603050405020304" pitchFamily="18" charset="0"/>
                <a:ea typeface="黑体" panose="02010609060101010101" pitchFamily="49" charset="-122"/>
              </a:rPr>
              <a:t>：将数字信号进行整形或电平调整。</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57" name="Text Box 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4278" name="Text Box 10"/>
          <p:cNvSpPr txBox="1"/>
          <p:nvPr/>
        </p:nvSpPr>
        <p:spPr>
          <a:xfrm>
            <a:off x="358775" y="908050"/>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80459" name="Text Box 11"/>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0460" name="Text Box 12"/>
          <p:cNvSpPr txBox="1"/>
          <p:nvPr/>
        </p:nvSpPr>
        <p:spPr>
          <a:xfrm>
            <a:off x="476250" y="4808538"/>
            <a:ext cx="7840663" cy="44926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微机及外部设备</a:t>
            </a:r>
            <a:r>
              <a:rPr lang="zh-CN" altLang="en-US" sz="2600" b="1" dirty="0">
                <a:solidFill>
                  <a:schemeClr val="tx1"/>
                </a:solidFill>
                <a:latin typeface="Times New Roman" panose="02020603050405020304" pitchFamily="18" charset="0"/>
                <a:ea typeface="黑体" panose="02010609060101010101" pitchFamily="49" charset="-122"/>
              </a:rPr>
              <a:t>：管理和控制数据采集系统。</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61" name="Text Box 13"/>
          <p:cNvSpPr txBox="1"/>
          <p:nvPr/>
        </p:nvSpPr>
        <p:spPr>
          <a:xfrm>
            <a:off x="468313" y="5518150"/>
            <a:ext cx="8424862" cy="449263"/>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定时与逻辑控制电路</a:t>
            </a:r>
            <a:r>
              <a:rPr lang="zh-CN" altLang="en-US" sz="2600" b="1" dirty="0">
                <a:solidFill>
                  <a:schemeClr val="tx1"/>
                </a:solidFill>
                <a:latin typeface="Times New Roman" panose="02020603050405020304" pitchFamily="18" charset="0"/>
                <a:ea typeface="黑体" panose="02010609060101010101" pitchFamily="49" charset="-122"/>
              </a:rPr>
              <a:t>：产生逻辑控制信号，控制时序。</a:t>
            </a:r>
            <a:endParaRPr lang="zh-CN" altLang="en-US" sz="2600" b="1" dirty="0">
              <a:solidFill>
                <a:schemeClr val="tx1"/>
              </a:solidFill>
              <a:latin typeface="Times New Roman" panose="02020603050405020304" pitchFamily="18" charset="0"/>
              <a:ea typeface="黑体" panose="02010609060101010101" pitchFamily="49" charset="-122"/>
            </a:endParaRPr>
          </a:p>
        </p:txBody>
      </p:sp>
      <p:sp>
        <p:nvSpPr>
          <p:cNvPr id="2280454" name="Text Box 6"/>
          <p:cNvSpPr txBox="1"/>
          <p:nvPr/>
        </p:nvSpPr>
        <p:spPr>
          <a:xfrm>
            <a:off x="476250" y="2673350"/>
            <a:ext cx="7840663" cy="449263"/>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zh-CN" altLang="en-US" sz="2600" b="1" dirty="0">
                <a:solidFill>
                  <a:srgbClr val="FF0000"/>
                </a:solidFill>
                <a:latin typeface="Times New Roman" panose="02020603050405020304" pitchFamily="18" charset="0"/>
                <a:ea typeface="黑体" panose="02010609060101010101" pitchFamily="49" charset="-122"/>
              </a:rPr>
              <a:t>采样</a:t>
            </a:r>
            <a:r>
              <a:rPr lang="en-US" altLang="zh-CN" sz="2600" b="1" dirty="0">
                <a:solidFill>
                  <a:srgbClr val="FF0000"/>
                </a:solidFill>
                <a:latin typeface="Times New Roman" panose="02020603050405020304" pitchFamily="18" charset="0"/>
                <a:ea typeface="黑体" panose="02010609060101010101" pitchFamily="49" charset="-122"/>
              </a:rPr>
              <a:t>/</a:t>
            </a:r>
            <a:r>
              <a:rPr lang="zh-CN" altLang="en-US" sz="2600" b="1" dirty="0">
                <a:solidFill>
                  <a:srgbClr val="FF0000"/>
                </a:solidFill>
                <a:latin typeface="Times New Roman" panose="02020603050405020304" pitchFamily="18" charset="0"/>
                <a:ea typeface="黑体" panose="02010609060101010101" pitchFamily="49" charset="-122"/>
              </a:rPr>
              <a:t>保持器</a:t>
            </a:r>
            <a:r>
              <a:rPr lang="zh-CN" altLang="en-US" sz="2600" b="1" dirty="0">
                <a:solidFill>
                  <a:schemeClr val="tx1"/>
                </a:solidFill>
                <a:latin typeface="Times New Roman" panose="02020603050405020304" pitchFamily="18" charset="0"/>
                <a:ea typeface="黑体" panose="02010609060101010101" pitchFamily="49" charset="-122"/>
              </a:rPr>
              <a:t>：在</a:t>
            </a:r>
            <a:r>
              <a:rPr lang="en-US" altLang="zh-CN" sz="2600" b="1" dirty="0">
                <a:solidFill>
                  <a:schemeClr val="tx1"/>
                </a:solidFill>
                <a:latin typeface="Times New Roman" panose="02020603050405020304" pitchFamily="18" charset="0"/>
                <a:ea typeface="黑体" panose="02010609060101010101" pitchFamily="49" charset="-122"/>
              </a:rPr>
              <a:t>A/D</a:t>
            </a:r>
            <a:r>
              <a:rPr lang="zh-CN" altLang="en-US" sz="2600" b="1" dirty="0">
                <a:solidFill>
                  <a:schemeClr val="tx1"/>
                </a:solidFill>
                <a:latin typeface="Times New Roman" panose="02020603050405020304" pitchFamily="18" charset="0"/>
                <a:ea typeface="黑体" panose="02010609060101010101" pitchFamily="49" charset="-122"/>
              </a:rPr>
              <a:t>转换期间，保持模拟信号电压。</a:t>
            </a:r>
            <a:endParaRPr lang="zh-CN" altLang="en-US" sz="2600" b="1"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0450"/>
                                        </p:tgtEl>
                                        <p:attrNameLst>
                                          <p:attrName>style.visibility</p:attrName>
                                        </p:attrNameLst>
                                      </p:cBhvr>
                                      <p:to>
                                        <p:strVal val="visible"/>
                                      </p:to>
                                    </p:set>
                                    <p:animEffect transition="in" filter="dissolve">
                                      <p:cBhvr>
                                        <p:cTn id="7" dur="500"/>
                                        <p:tgtEl>
                                          <p:spTgt spid="228045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0454"/>
                                        </p:tgtEl>
                                        <p:attrNameLst>
                                          <p:attrName>style.visibility</p:attrName>
                                        </p:attrNameLst>
                                      </p:cBhvr>
                                      <p:to>
                                        <p:strVal val="visible"/>
                                      </p:to>
                                    </p:set>
                                    <p:animEffect transition="in" filter="dissolve">
                                      <p:cBhvr>
                                        <p:cTn id="12" dur="500"/>
                                        <p:tgtEl>
                                          <p:spTgt spid="228045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80455"/>
                                        </p:tgtEl>
                                        <p:attrNameLst>
                                          <p:attrName>style.visibility</p:attrName>
                                        </p:attrNameLst>
                                      </p:cBhvr>
                                      <p:to>
                                        <p:strVal val="visible"/>
                                      </p:to>
                                    </p:set>
                                    <p:animEffect transition="in" filter="dissolve">
                                      <p:cBhvr>
                                        <p:cTn id="17" dur="500"/>
                                        <p:tgtEl>
                                          <p:spTgt spid="228045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80456"/>
                                        </p:tgtEl>
                                        <p:attrNameLst>
                                          <p:attrName>style.visibility</p:attrName>
                                        </p:attrNameLst>
                                      </p:cBhvr>
                                      <p:to>
                                        <p:strVal val="visible"/>
                                      </p:to>
                                    </p:set>
                                    <p:animEffect transition="in" filter="dissolve">
                                      <p:cBhvr>
                                        <p:cTn id="22" dur="500"/>
                                        <p:tgtEl>
                                          <p:spTgt spid="228045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80460"/>
                                        </p:tgtEl>
                                        <p:attrNameLst>
                                          <p:attrName>style.visibility</p:attrName>
                                        </p:attrNameLst>
                                      </p:cBhvr>
                                      <p:to>
                                        <p:strVal val="visible"/>
                                      </p:to>
                                    </p:set>
                                    <p:animEffect transition="in" filter="dissolve">
                                      <p:cBhvr>
                                        <p:cTn id="27" dur="500"/>
                                        <p:tgtEl>
                                          <p:spTgt spid="228046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80461"/>
                                        </p:tgtEl>
                                        <p:attrNameLst>
                                          <p:attrName>style.visibility</p:attrName>
                                        </p:attrNameLst>
                                      </p:cBhvr>
                                      <p:to>
                                        <p:strVal val="visible"/>
                                      </p:to>
                                    </p:set>
                                    <p:animEffect transition="in" filter="dissolve">
                                      <p:cBhvr>
                                        <p:cTn id="32" dur="500"/>
                                        <p:tgtEl>
                                          <p:spTgt spid="22804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0450" grpId="0" animBg="1"/>
      <p:bldP spid="2280455" grpId="0"/>
      <p:bldP spid="2280456" grpId="0"/>
      <p:bldP spid="2280460" grpId="0"/>
      <p:bldP spid="2280461" grpId="0"/>
      <p:bldP spid="228045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4147" name="Text Box 19"/>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5299" name="Text Box 24"/>
          <p:cNvSpPr txBox="1"/>
          <p:nvPr/>
        </p:nvSpPr>
        <p:spPr>
          <a:xfrm>
            <a:off x="358775" y="908050"/>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26201" name="Text Box 25"/>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26204" name="Text Box 28"/>
          <p:cNvSpPr txBox="1"/>
          <p:nvPr/>
        </p:nvSpPr>
        <p:spPr>
          <a:xfrm>
            <a:off x="898525" y="1916113"/>
            <a:ext cx="3997325" cy="585787"/>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器件的执行顺序：</a:t>
            </a:r>
            <a:endParaRPr lang="zh-CN" altLang="en-US" b="1" dirty="0">
              <a:solidFill>
                <a:srgbClr val="3366CC"/>
              </a:solidFill>
              <a:latin typeface="Times New Roman" panose="02020603050405020304" pitchFamily="18" charset="0"/>
            </a:endParaRPr>
          </a:p>
        </p:txBody>
      </p:sp>
      <p:sp>
        <p:nvSpPr>
          <p:cNvPr id="2226205" name="Text Box 29"/>
          <p:cNvSpPr txBox="1"/>
          <p:nvPr/>
        </p:nvSpPr>
        <p:spPr>
          <a:xfrm>
            <a:off x="1873250" y="2719388"/>
            <a:ext cx="6083300" cy="2870200"/>
          </a:xfrm>
          <a:prstGeom prst="rect">
            <a:avLst/>
          </a:prstGeom>
          <a:noFill/>
          <a:ln w="9525">
            <a:noFill/>
          </a:ln>
        </p:spPr>
        <p:txBody>
          <a:bodyPr>
            <a:spAutoFit/>
          </a:bodyPr>
          <a:p>
            <a:pPr marL="457200" indent="-457200" eaLnBrk="1" hangingPunct="1">
              <a:lnSpc>
                <a:spcPct val="90000"/>
              </a:lnSpc>
              <a:spcBef>
                <a:spcPct val="50000"/>
              </a:spcBef>
              <a:buClr>
                <a:srgbClr val="FF0000"/>
              </a:buClr>
              <a:buAutoNum type="arabicPeriod"/>
            </a:pPr>
            <a:r>
              <a:rPr lang="zh-CN" altLang="en-US" sz="2800" b="1" dirty="0">
                <a:solidFill>
                  <a:schemeClr val="tx1"/>
                </a:solidFill>
                <a:latin typeface="黑体" panose="02010609060101010101" pitchFamily="49" charset="-122"/>
                <a:ea typeface="黑体" panose="02010609060101010101" pitchFamily="49" charset="-122"/>
              </a:rPr>
              <a:t>模拟多路开关开始切换；</a:t>
            </a:r>
            <a:endParaRPr lang="zh-CN" altLang="en-US" sz="2800" b="1"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Clr>
                <a:srgbClr val="FF0000"/>
              </a:buClr>
              <a:buAutoNum type="arabicPeriod"/>
            </a:pPr>
            <a:r>
              <a:rPr lang="zh-CN" altLang="en-US" sz="2800" b="1" dirty="0">
                <a:solidFill>
                  <a:schemeClr val="tx1"/>
                </a:solidFill>
                <a:latin typeface="黑体" panose="02010609060101010101" pitchFamily="49" charset="-122"/>
                <a:ea typeface="黑体" panose="02010609060101010101" pitchFamily="49" charset="-122"/>
              </a:rPr>
              <a:t>程控放大器放大倍数开始切换；</a:t>
            </a:r>
            <a:endParaRPr lang="zh-CN" altLang="en-US" sz="2800" b="1"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Clr>
                <a:srgbClr val="FF0000"/>
              </a:buClr>
              <a:buAutoNum type="arabicPeriod"/>
            </a:pPr>
            <a:r>
              <a:rPr lang="zh-CN" altLang="en-US" sz="2800" b="1" dirty="0">
                <a:solidFill>
                  <a:schemeClr val="tx1"/>
                </a:solidFill>
                <a:latin typeface="黑体" panose="02010609060101010101" pitchFamily="49" charset="-122"/>
                <a:ea typeface="黑体" panose="02010609060101010101" pitchFamily="49" charset="-122"/>
              </a:rPr>
              <a:t>采样</a:t>
            </a:r>
            <a:r>
              <a:rPr lang="en-US" altLang="zh-CN" sz="2800" b="1" dirty="0">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保持器开始保持；</a:t>
            </a:r>
            <a:endParaRPr lang="zh-CN" altLang="en-US" sz="2800" b="1"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Clr>
                <a:srgbClr val="FF0000"/>
              </a:buClr>
              <a:buAutoNum type="arabicPeriod"/>
            </a:pPr>
            <a:r>
              <a:rPr lang="en-US" altLang="zh-CN" sz="2800" b="1" dirty="0">
                <a:solidFill>
                  <a:schemeClr val="tx1"/>
                </a:solidFill>
                <a:latin typeface="黑体" panose="02010609060101010101" pitchFamily="49" charset="-122"/>
                <a:ea typeface="黑体" panose="02010609060101010101" pitchFamily="49" charset="-122"/>
              </a:rPr>
              <a:t>A/D</a:t>
            </a:r>
            <a:r>
              <a:rPr lang="zh-CN" altLang="en-US" sz="2800" b="1" dirty="0">
                <a:solidFill>
                  <a:schemeClr val="tx1"/>
                </a:solidFill>
                <a:latin typeface="黑体" panose="02010609060101010101" pitchFamily="49" charset="-122"/>
                <a:ea typeface="黑体" panose="02010609060101010101" pitchFamily="49" charset="-122"/>
              </a:rPr>
              <a:t>转换器开始转换；</a:t>
            </a:r>
            <a:endParaRPr lang="zh-CN" altLang="en-US" sz="2800" b="1"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Clr>
                <a:srgbClr val="FF0000"/>
              </a:buClr>
              <a:buAutoNum type="arabicPeriod"/>
            </a:pPr>
            <a:r>
              <a:rPr lang="en-US" altLang="zh-CN" sz="2800" b="1" dirty="0">
                <a:solidFill>
                  <a:schemeClr val="tx1"/>
                </a:solidFill>
                <a:latin typeface="黑体" panose="02010609060101010101" pitchFamily="49" charset="-122"/>
                <a:ea typeface="黑体" panose="02010609060101010101" pitchFamily="49" charset="-122"/>
              </a:rPr>
              <a:t>A/D</a:t>
            </a:r>
            <a:r>
              <a:rPr lang="zh-CN" altLang="en-US" sz="2800" b="1" dirty="0">
                <a:solidFill>
                  <a:schemeClr val="tx1"/>
                </a:solidFill>
                <a:latin typeface="黑体" panose="02010609060101010101" pitchFamily="49" charset="-122"/>
                <a:ea typeface="黑体" panose="02010609060101010101" pitchFamily="49" charset="-122"/>
              </a:rPr>
              <a:t>转换完成。</a:t>
            </a:r>
            <a:endParaRPr lang="zh-CN" altLang="en-US" sz="2800" b="1"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6204"/>
                                        </p:tgtEl>
                                        <p:attrNameLst>
                                          <p:attrName>style.visibility</p:attrName>
                                        </p:attrNameLst>
                                      </p:cBhvr>
                                      <p:to>
                                        <p:strVal val="visible"/>
                                      </p:to>
                                    </p:set>
                                    <p:animEffect transition="in" filter="dissolve">
                                      <p:cBhvr>
                                        <p:cTn id="7" dur="500"/>
                                        <p:tgtEl>
                                          <p:spTgt spid="222620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6205">
                                            <p:txEl>
                                              <p:charRg st="0" end="12"/>
                                            </p:txEl>
                                          </p:spTgt>
                                        </p:tgtEl>
                                        <p:attrNameLst>
                                          <p:attrName>style.visibility</p:attrName>
                                        </p:attrNameLst>
                                      </p:cBhvr>
                                      <p:to>
                                        <p:strVal val="visible"/>
                                      </p:to>
                                    </p:set>
                                    <p:animEffect transition="in" filter="dissolve">
                                      <p:cBhvr>
                                        <p:cTn id="12" dur="500"/>
                                        <p:tgtEl>
                                          <p:spTgt spid="2226205">
                                            <p:txEl>
                                              <p:charRg st="0" end="1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26205">
                                            <p:txEl>
                                              <p:charRg st="12" end="27"/>
                                            </p:txEl>
                                          </p:spTgt>
                                        </p:tgtEl>
                                        <p:attrNameLst>
                                          <p:attrName>style.visibility</p:attrName>
                                        </p:attrNameLst>
                                      </p:cBhvr>
                                      <p:to>
                                        <p:strVal val="visible"/>
                                      </p:to>
                                    </p:set>
                                    <p:animEffect transition="in" filter="dissolve">
                                      <p:cBhvr>
                                        <p:cTn id="17" dur="500"/>
                                        <p:tgtEl>
                                          <p:spTgt spid="2226205">
                                            <p:txEl>
                                              <p:charRg st="12" end="2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26205">
                                            <p:txEl>
                                              <p:charRg st="27" end="39"/>
                                            </p:txEl>
                                          </p:spTgt>
                                        </p:tgtEl>
                                        <p:attrNameLst>
                                          <p:attrName>style.visibility</p:attrName>
                                        </p:attrNameLst>
                                      </p:cBhvr>
                                      <p:to>
                                        <p:strVal val="visible"/>
                                      </p:to>
                                    </p:set>
                                    <p:animEffect transition="in" filter="dissolve">
                                      <p:cBhvr>
                                        <p:cTn id="22" dur="500"/>
                                        <p:tgtEl>
                                          <p:spTgt spid="2226205">
                                            <p:txEl>
                                              <p:charRg st="27" end="39"/>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26205">
                                            <p:txEl>
                                              <p:charRg st="39" end="51"/>
                                            </p:txEl>
                                          </p:spTgt>
                                        </p:tgtEl>
                                        <p:attrNameLst>
                                          <p:attrName>style.visibility</p:attrName>
                                        </p:attrNameLst>
                                      </p:cBhvr>
                                      <p:to>
                                        <p:strVal val="visible"/>
                                      </p:to>
                                    </p:set>
                                    <p:animEffect transition="in" filter="dissolve">
                                      <p:cBhvr>
                                        <p:cTn id="27" dur="500"/>
                                        <p:tgtEl>
                                          <p:spTgt spid="2226205">
                                            <p:txEl>
                                              <p:charRg st="39" end="51"/>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226205">
                                            <p:txEl>
                                              <p:charRg st="51" end="60"/>
                                            </p:txEl>
                                          </p:spTgt>
                                        </p:tgtEl>
                                        <p:attrNameLst>
                                          <p:attrName>style.visibility</p:attrName>
                                        </p:attrNameLst>
                                      </p:cBhvr>
                                      <p:to>
                                        <p:strVal val="visible"/>
                                      </p:to>
                                    </p:set>
                                    <p:animEffect transition="in" filter="dissolve">
                                      <p:cBhvr>
                                        <p:cTn id="32" dur="500"/>
                                        <p:tgtEl>
                                          <p:spTgt spid="2226205">
                                            <p:txEl>
                                              <p:charRg st="51" end="6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620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5159" name="Text Box 7"/>
          <p:cNvSpPr txBox="1"/>
          <p:nvPr/>
        </p:nvSpPr>
        <p:spPr>
          <a:xfrm>
            <a:off x="547688" y="1557338"/>
            <a:ext cx="6256337" cy="519112"/>
          </a:xfrm>
          <a:prstGeom prst="rect">
            <a:avLst/>
          </a:prstGeom>
          <a:solidFill>
            <a:srgbClr val="FFCC99"/>
          </a:solidFill>
          <a:ln w="9525">
            <a:noFill/>
          </a:ln>
        </p:spPr>
        <p:txBody>
          <a:bodyPr wrap="none">
            <a:spAutoFit/>
          </a:bodyPr>
          <a:p>
            <a:pPr eaLnBrk="1" hangingPunct="1"/>
            <a:r>
              <a:rPr lang="zh-CN" altLang="en-US" sz="2800" b="1" dirty="0">
                <a:solidFill>
                  <a:srgbClr val="3366CC"/>
                </a:solidFill>
                <a:latin typeface="楷体_GB2312" pitchFamily="49" charset="-122"/>
              </a:rPr>
              <a:t>一个具体的数据采集系统的工作时序图</a:t>
            </a:r>
            <a:endParaRPr lang="zh-CN" altLang="en-US" sz="2800" b="1" dirty="0">
              <a:solidFill>
                <a:srgbClr val="3366CC"/>
              </a:solidFill>
              <a:latin typeface="楷体_GB2312" pitchFamily="49" charset="-122"/>
            </a:endParaRPr>
          </a:p>
        </p:txBody>
      </p:sp>
      <p:sp>
        <p:nvSpPr>
          <p:cNvPr id="2225163" name="Line 11"/>
          <p:cNvSpPr/>
          <p:nvPr/>
        </p:nvSpPr>
        <p:spPr>
          <a:xfrm>
            <a:off x="2055813" y="2998788"/>
            <a:ext cx="504825" cy="0"/>
          </a:xfrm>
          <a:prstGeom prst="line">
            <a:avLst/>
          </a:prstGeom>
          <a:ln w="9525" cap="flat" cmpd="sng">
            <a:solidFill>
              <a:srgbClr val="0000FF"/>
            </a:solidFill>
            <a:prstDash val="solid"/>
            <a:headEnd type="none" w="med" len="med"/>
            <a:tailEnd type="none" w="med" len="med"/>
          </a:ln>
        </p:spPr>
      </p:sp>
      <p:sp>
        <p:nvSpPr>
          <p:cNvPr id="2225165" name="Line 13"/>
          <p:cNvSpPr/>
          <p:nvPr/>
        </p:nvSpPr>
        <p:spPr>
          <a:xfrm flipV="1">
            <a:off x="2560638" y="2693988"/>
            <a:ext cx="198437" cy="304800"/>
          </a:xfrm>
          <a:prstGeom prst="line">
            <a:avLst/>
          </a:prstGeom>
          <a:ln w="9525" cap="flat" cmpd="sng">
            <a:solidFill>
              <a:srgbClr val="0000FF"/>
            </a:solidFill>
            <a:prstDash val="solid"/>
            <a:headEnd type="none" w="med" len="med"/>
            <a:tailEnd type="none" w="med" len="med"/>
          </a:ln>
        </p:spPr>
      </p:sp>
      <p:sp>
        <p:nvSpPr>
          <p:cNvPr id="2225166" name="Line 14"/>
          <p:cNvSpPr/>
          <p:nvPr/>
        </p:nvSpPr>
        <p:spPr>
          <a:xfrm>
            <a:off x="2759075" y="2693988"/>
            <a:ext cx="503238" cy="0"/>
          </a:xfrm>
          <a:prstGeom prst="line">
            <a:avLst/>
          </a:prstGeom>
          <a:ln w="9525" cap="flat" cmpd="sng">
            <a:solidFill>
              <a:srgbClr val="0000FF"/>
            </a:solidFill>
            <a:prstDash val="solid"/>
            <a:headEnd type="none" w="med" len="med"/>
            <a:tailEnd type="none" w="med" len="med"/>
          </a:ln>
        </p:spPr>
      </p:sp>
      <p:sp>
        <p:nvSpPr>
          <p:cNvPr id="2225168" name="Line 16"/>
          <p:cNvSpPr/>
          <p:nvPr/>
        </p:nvSpPr>
        <p:spPr>
          <a:xfrm>
            <a:off x="3262313" y="2693988"/>
            <a:ext cx="185737" cy="301625"/>
          </a:xfrm>
          <a:prstGeom prst="line">
            <a:avLst/>
          </a:prstGeom>
          <a:ln w="9525" cap="flat" cmpd="sng">
            <a:solidFill>
              <a:srgbClr val="0000FF"/>
            </a:solidFill>
            <a:prstDash val="solid"/>
            <a:headEnd type="none" w="med" len="med"/>
            <a:tailEnd type="none" w="med" len="med"/>
          </a:ln>
        </p:spPr>
      </p:sp>
      <p:sp>
        <p:nvSpPr>
          <p:cNvPr id="2225170" name="Line 18"/>
          <p:cNvSpPr/>
          <p:nvPr/>
        </p:nvSpPr>
        <p:spPr>
          <a:xfrm>
            <a:off x="3448050" y="2998788"/>
            <a:ext cx="4094163" cy="0"/>
          </a:xfrm>
          <a:prstGeom prst="line">
            <a:avLst/>
          </a:prstGeom>
          <a:ln w="9525" cap="flat" cmpd="sng">
            <a:solidFill>
              <a:schemeClr val="accent2"/>
            </a:solidFill>
            <a:prstDash val="solid"/>
            <a:headEnd type="none" w="med" len="med"/>
            <a:tailEnd type="none" w="med" len="med"/>
          </a:ln>
        </p:spPr>
      </p:sp>
      <p:sp>
        <p:nvSpPr>
          <p:cNvPr id="2225171" name="Line 19"/>
          <p:cNvSpPr/>
          <p:nvPr/>
        </p:nvSpPr>
        <p:spPr>
          <a:xfrm>
            <a:off x="2043113" y="3595688"/>
            <a:ext cx="530225" cy="0"/>
          </a:xfrm>
          <a:prstGeom prst="line">
            <a:avLst/>
          </a:prstGeom>
          <a:ln w="9525" cap="flat" cmpd="sng">
            <a:solidFill>
              <a:schemeClr val="accent2"/>
            </a:solidFill>
            <a:prstDash val="solid"/>
            <a:headEnd type="none" w="med" len="med"/>
            <a:tailEnd type="none" w="med" len="med"/>
          </a:ln>
        </p:spPr>
      </p:sp>
      <p:sp>
        <p:nvSpPr>
          <p:cNvPr id="2225172" name="Line 20"/>
          <p:cNvSpPr/>
          <p:nvPr/>
        </p:nvSpPr>
        <p:spPr>
          <a:xfrm flipV="1">
            <a:off x="2573338" y="3290888"/>
            <a:ext cx="173037" cy="304800"/>
          </a:xfrm>
          <a:prstGeom prst="line">
            <a:avLst/>
          </a:prstGeom>
          <a:ln w="9525" cap="flat" cmpd="sng">
            <a:solidFill>
              <a:schemeClr val="accent2"/>
            </a:solidFill>
            <a:prstDash val="solid"/>
            <a:headEnd type="none" w="med" len="med"/>
            <a:tailEnd type="none" w="med" len="med"/>
          </a:ln>
        </p:spPr>
      </p:sp>
      <p:sp>
        <p:nvSpPr>
          <p:cNvPr id="2225173" name="Line 21"/>
          <p:cNvSpPr/>
          <p:nvPr/>
        </p:nvSpPr>
        <p:spPr>
          <a:xfrm>
            <a:off x="2746375" y="3290888"/>
            <a:ext cx="344488" cy="0"/>
          </a:xfrm>
          <a:prstGeom prst="line">
            <a:avLst/>
          </a:prstGeom>
          <a:ln w="9525" cap="flat" cmpd="sng">
            <a:solidFill>
              <a:schemeClr val="accent2"/>
            </a:solidFill>
            <a:prstDash val="solid"/>
            <a:headEnd type="none" w="med" len="med"/>
            <a:tailEnd type="none" w="med" len="med"/>
          </a:ln>
        </p:spPr>
      </p:sp>
      <p:sp>
        <p:nvSpPr>
          <p:cNvPr id="2225174" name="Line 22"/>
          <p:cNvSpPr/>
          <p:nvPr/>
        </p:nvSpPr>
        <p:spPr>
          <a:xfrm>
            <a:off x="3090863" y="3290888"/>
            <a:ext cx="158750" cy="304800"/>
          </a:xfrm>
          <a:prstGeom prst="line">
            <a:avLst/>
          </a:prstGeom>
          <a:ln w="9525" cap="flat" cmpd="sng">
            <a:solidFill>
              <a:schemeClr val="accent2"/>
            </a:solidFill>
            <a:prstDash val="solid"/>
            <a:headEnd type="none" w="med" len="med"/>
            <a:tailEnd type="none" w="med" len="med"/>
          </a:ln>
        </p:spPr>
      </p:sp>
      <p:sp>
        <p:nvSpPr>
          <p:cNvPr id="2225175" name="Line 23"/>
          <p:cNvSpPr/>
          <p:nvPr/>
        </p:nvSpPr>
        <p:spPr>
          <a:xfrm>
            <a:off x="3249613" y="3595688"/>
            <a:ext cx="4292600" cy="0"/>
          </a:xfrm>
          <a:prstGeom prst="line">
            <a:avLst/>
          </a:prstGeom>
          <a:ln w="9525" cap="flat" cmpd="sng">
            <a:solidFill>
              <a:schemeClr val="accent2"/>
            </a:solidFill>
            <a:prstDash val="solid"/>
            <a:headEnd type="none" w="med" len="med"/>
            <a:tailEnd type="none" w="med" len="med"/>
          </a:ln>
        </p:spPr>
      </p:sp>
      <p:sp>
        <p:nvSpPr>
          <p:cNvPr id="2225176" name="Line 24"/>
          <p:cNvSpPr/>
          <p:nvPr/>
        </p:nvSpPr>
        <p:spPr>
          <a:xfrm>
            <a:off x="2055813" y="4191000"/>
            <a:ext cx="517525" cy="0"/>
          </a:xfrm>
          <a:prstGeom prst="line">
            <a:avLst/>
          </a:prstGeom>
          <a:ln w="9525" cap="flat" cmpd="sng">
            <a:solidFill>
              <a:schemeClr val="accent2"/>
            </a:solidFill>
            <a:prstDash val="solid"/>
            <a:headEnd type="none" w="med" len="med"/>
            <a:tailEnd type="none" w="med" len="med"/>
          </a:ln>
        </p:spPr>
      </p:sp>
      <p:sp>
        <p:nvSpPr>
          <p:cNvPr id="2225177" name="Line 25"/>
          <p:cNvSpPr/>
          <p:nvPr/>
        </p:nvSpPr>
        <p:spPr>
          <a:xfrm flipV="1">
            <a:off x="2573338" y="3886200"/>
            <a:ext cx="158750" cy="304800"/>
          </a:xfrm>
          <a:prstGeom prst="line">
            <a:avLst/>
          </a:prstGeom>
          <a:ln w="9525" cap="flat" cmpd="sng">
            <a:solidFill>
              <a:schemeClr val="accent2"/>
            </a:solidFill>
            <a:prstDash val="solid"/>
            <a:headEnd type="none" w="med" len="med"/>
            <a:tailEnd type="none" w="med" len="med"/>
          </a:ln>
        </p:spPr>
      </p:sp>
      <p:sp>
        <p:nvSpPr>
          <p:cNvPr id="2225179" name="Line 27"/>
          <p:cNvSpPr/>
          <p:nvPr/>
        </p:nvSpPr>
        <p:spPr>
          <a:xfrm>
            <a:off x="3090863" y="3886200"/>
            <a:ext cx="158750" cy="304800"/>
          </a:xfrm>
          <a:prstGeom prst="line">
            <a:avLst/>
          </a:prstGeom>
          <a:ln w="9525" cap="flat" cmpd="sng">
            <a:solidFill>
              <a:schemeClr val="accent2"/>
            </a:solidFill>
            <a:prstDash val="solid"/>
            <a:headEnd type="none" w="med" len="med"/>
            <a:tailEnd type="none" w="med" len="med"/>
          </a:ln>
        </p:spPr>
      </p:sp>
      <p:sp>
        <p:nvSpPr>
          <p:cNvPr id="2225180" name="Line 28"/>
          <p:cNvSpPr/>
          <p:nvPr/>
        </p:nvSpPr>
        <p:spPr>
          <a:xfrm>
            <a:off x="3249613" y="4191000"/>
            <a:ext cx="4292600" cy="0"/>
          </a:xfrm>
          <a:prstGeom prst="line">
            <a:avLst/>
          </a:prstGeom>
          <a:ln w="9525" cap="flat" cmpd="sng">
            <a:solidFill>
              <a:schemeClr val="accent2"/>
            </a:solidFill>
            <a:prstDash val="solid"/>
            <a:headEnd type="none" w="med" len="med"/>
            <a:tailEnd type="none" w="med" len="med"/>
          </a:ln>
        </p:spPr>
      </p:sp>
      <p:sp>
        <p:nvSpPr>
          <p:cNvPr id="2225181" name="Line 29"/>
          <p:cNvSpPr/>
          <p:nvPr/>
        </p:nvSpPr>
        <p:spPr>
          <a:xfrm>
            <a:off x="2055813" y="4787900"/>
            <a:ext cx="1895475" cy="0"/>
          </a:xfrm>
          <a:prstGeom prst="line">
            <a:avLst/>
          </a:prstGeom>
          <a:ln w="9525" cap="flat" cmpd="sng">
            <a:solidFill>
              <a:schemeClr val="accent2"/>
            </a:solidFill>
            <a:prstDash val="solid"/>
            <a:headEnd type="none" w="med" len="med"/>
            <a:tailEnd type="none" w="med" len="med"/>
          </a:ln>
        </p:spPr>
      </p:sp>
      <p:sp>
        <p:nvSpPr>
          <p:cNvPr id="2225182" name="Line 30"/>
          <p:cNvSpPr/>
          <p:nvPr/>
        </p:nvSpPr>
        <p:spPr>
          <a:xfrm flipV="1">
            <a:off x="3951288" y="4483100"/>
            <a:ext cx="173037" cy="304800"/>
          </a:xfrm>
          <a:prstGeom prst="line">
            <a:avLst/>
          </a:prstGeom>
          <a:ln w="9525" cap="flat" cmpd="sng">
            <a:solidFill>
              <a:schemeClr val="accent2"/>
            </a:solidFill>
            <a:prstDash val="solid"/>
            <a:headEnd type="none" w="med" len="med"/>
            <a:tailEnd type="none" w="med" len="med"/>
          </a:ln>
        </p:spPr>
      </p:sp>
      <p:sp>
        <p:nvSpPr>
          <p:cNvPr id="2225183" name="Line 31"/>
          <p:cNvSpPr/>
          <p:nvPr/>
        </p:nvSpPr>
        <p:spPr>
          <a:xfrm>
            <a:off x="4124325" y="4483100"/>
            <a:ext cx="503238" cy="0"/>
          </a:xfrm>
          <a:prstGeom prst="line">
            <a:avLst/>
          </a:prstGeom>
          <a:ln w="9525" cap="flat" cmpd="sng">
            <a:solidFill>
              <a:schemeClr val="accent2"/>
            </a:solidFill>
            <a:prstDash val="solid"/>
            <a:headEnd type="none" w="med" len="med"/>
            <a:tailEnd type="none" w="med" len="med"/>
          </a:ln>
        </p:spPr>
      </p:sp>
      <p:sp>
        <p:nvSpPr>
          <p:cNvPr id="2225185" name="Line 33"/>
          <p:cNvSpPr/>
          <p:nvPr/>
        </p:nvSpPr>
        <p:spPr>
          <a:xfrm>
            <a:off x="4627563" y="4483100"/>
            <a:ext cx="171450" cy="304800"/>
          </a:xfrm>
          <a:prstGeom prst="line">
            <a:avLst/>
          </a:prstGeom>
          <a:ln w="9525" cap="flat" cmpd="sng">
            <a:solidFill>
              <a:schemeClr val="accent2"/>
            </a:solidFill>
            <a:prstDash val="solid"/>
            <a:headEnd type="none" w="med" len="med"/>
            <a:tailEnd type="none" w="med" len="med"/>
          </a:ln>
        </p:spPr>
      </p:sp>
      <p:sp>
        <p:nvSpPr>
          <p:cNvPr id="2225186" name="Line 34"/>
          <p:cNvSpPr/>
          <p:nvPr/>
        </p:nvSpPr>
        <p:spPr>
          <a:xfrm>
            <a:off x="4799013" y="4787900"/>
            <a:ext cx="2743200" cy="0"/>
          </a:xfrm>
          <a:prstGeom prst="line">
            <a:avLst/>
          </a:prstGeom>
          <a:ln w="9525" cap="flat" cmpd="sng">
            <a:solidFill>
              <a:schemeClr val="accent2"/>
            </a:solidFill>
            <a:prstDash val="solid"/>
            <a:headEnd type="none" w="med" len="med"/>
            <a:tailEnd type="none" w="med" len="med"/>
          </a:ln>
        </p:spPr>
      </p:sp>
      <p:sp>
        <p:nvSpPr>
          <p:cNvPr id="2225187" name="Line 35"/>
          <p:cNvSpPr/>
          <p:nvPr/>
        </p:nvSpPr>
        <p:spPr>
          <a:xfrm>
            <a:off x="2043113" y="5384800"/>
            <a:ext cx="3446462" cy="0"/>
          </a:xfrm>
          <a:prstGeom prst="line">
            <a:avLst/>
          </a:prstGeom>
          <a:ln w="9525" cap="flat" cmpd="sng">
            <a:solidFill>
              <a:schemeClr val="accent2"/>
            </a:solidFill>
            <a:prstDash val="solid"/>
            <a:headEnd type="none" w="med" len="med"/>
            <a:tailEnd type="none" w="med" len="med"/>
          </a:ln>
        </p:spPr>
      </p:sp>
      <p:sp>
        <p:nvSpPr>
          <p:cNvPr id="2225188" name="Line 36"/>
          <p:cNvSpPr/>
          <p:nvPr/>
        </p:nvSpPr>
        <p:spPr>
          <a:xfrm flipV="1">
            <a:off x="5489575" y="5080000"/>
            <a:ext cx="171450" cy="304800"/>
          </a:xfrm>
          <a:prstGeom prst="line">
            <a:avLst/>
          </a:prstGeom>
          <a:ln w="9525" cap="flat" cmpd="sng">
            <a:solidFill>
              <a:schemeClr val="accent2"/>
            </a:solidFill>
            <a:prstDash val="solid"/>
            <a:headEnd type="none" w="med" len="med"/>
            <a:tailEnd type="none" w="med" len="med"/>
          </a:ln>
        </p:spPr>
      </p:sp>
      <p:sp>
        <p:nvSpPr>
          <p:cNvPr id="2225189" name="Line 37"/>
          <p:cNvSpPr/>
          <p:nvPr/>
        </p:nvSpPr>
        <p:spPr>
          <a:xfrm>
            <a:off x="5661025" y="5080000"/>
            <a:ext cx="357188" cy="0"/>
          </a:xfrm>
          <a:prstGeom prst="line">
            <a:avLst/>
          </a:prstGeom>
          <a:ln w="9525" cap="flat" cmpd="sng">
            <a:solidFill>
              <a:schemeClr val="accent2"/>
            </a:solidFill>
            <a:prstDash val="solid"/>
            <a:headEnd type="none" w="med" len="med"/>
            <a:tailEnd type="none" w="med" len="med"/>
          </a:ln>
        </p:spPr>
      </p:sp>
      <p:sp>
        <p:nvSpPr>
          <p:cNvPr id="2225190" name="Line 38"/>
          <p:cNvSpPr/>
          <p:nvPr/>
        </p:nvSpPr>
        <p:spPr>
          <a:xfrm>
            <a:off x="6005513" y="5080000"/>
            <a:ext cx="173037" cy="304800"/>
          </a:xfrm>
          <a:prstGeom prst="line">
            <a:avLst/>
          </a:prstGeom>
          <a:ln w="9525" cap="flat" cmpd="sng">
            <a:solidFill>
              <a:schemeClr val="accent2"/>
            </a:solidFill>
            <a:prstDash val="solid"/>
            <a:headEnd type="none" w="med" len="med"/>
            <a:tailEnd type="none" w="med" len="med"/>
          </a:ln>
        </p:spPr>
      </p:sp>
      <p:sp>
        <p:nvSpPr>
          <p:cNvPr id="2225192" name="Line 40"/>
          <p:cNvSpPr/>
          <p:nvPr/>
        </p:nvSpPr>
        <p:spPr>
          <a:xfrm>
            <a:off x="6178550" y="5384800"/>
            <a:ext cx="1363663" cy="0"/>
          </a:xfrm>
          <a:prstGeom prst="line">
            <a:avLst/>
          </a:prstGeom>
          <a:ln w="9525" cap="flat" cmpd="sng">
            <a:solidFill>
              <a:schemeClr val="accent2"/>
            </a:solidFill>
            <a:prstDash val="solid"/>
            <a:headEnd type="none" w="med" len="med"/>
            <a:tailEnd type="none" w="med" len="med"/>
          </a:ln>
        </p:spPr>
      </p:sp>
      <p:sp>
        <p:nvSpPr>
          <p:cNvPr id="2225193" name="Line 41"/>
          <p:cNvSpPr/>
          <p:nvPr/>
        </p:nvSpPr>
        <p:spPr>
          <a:xfrm>
            <a:off x="2055813" y="5980113"/>
            <a:ext cx="5486400" cy="0"/>
          </a:xfrm>
          <a:prstGeom prst="line">
            <a:avLst/>
          </a:prstGeom>
          <a:ln w="9525" cap="flat" cmpd="sng">
            <a:solidFill>
              <a:schemeClr val="accent2"/>
            </a:solidFill>
            <a:prstDash val="solid"/>
            <a:headEnd type="none" w="med" len="med"/>
            <a:tailEnd type="none" w="med" len="med"/>
          </a:ln>
        </p:spPr>
      </p:sp>
      <p:sp>
        <p:nvSpPr>
          <p:cNvPr id="2225194" name="Line 42"/>
          <p:cNvSpPr/>
          <p:nvPr/>
        </p:nvSpPr>
        <p:spPr>
          <a:xfrm flipV="1">
            <a:off x="7542213" y="5822950"/>
            <a:ext cx="173037" cy="157163"/>
          </a:xfrm>
          <a:prstGeom prst="line">
            <a:avLst/>
          </a:prstGeom>
          <a:ln w="9525" cap="flat" cmpd="sng">
            <a:solidFill>
              <a:schemeClr val="accent2"/>
            </a:solidFill>
            <a:prstDash val="solid"/>
            <a:headEnd type="none" w="med" len="med"/>
            <a:tailEnd type="none" w="med" len="med"/>
          </a:ln>
        </p:spPr>
      </p:sp>
      <p:sp>
        <p:nvSpPr>
          <p:cNvPr id="2225195" name="Line 43"/>
          <p:cNvSpPr/>
          <p:nvPr/>
        </p:nvSpPr>
        <p:spPr>
          <a:xfrm>
            <a:off x="7715250" y="5822950"/>
            <a:ext cx="1033463" cy="0"/>
          </a:xfrm>
          <a:prstGeom prst="line">
            <a:avLst/>
          </a:prstGeom>
          <a:ln w="9525" cap="flat" cmpd="sng">
            <a:solidFill>
              <a:schemeClr val="accent2"/>
            </a:solidFill>
            <a:prstDash val="solid"/>
            <a:headEnd type="none" w="med" len="med"/>
            <a:tailEnd type="none" w="med" len="med"/>
          </a:ln>
        </p:spPr>
      </p:sp>
      <p:sp>
        <p:nvSpPr>
          <p:cNvPr id="2225196" name="Line 44"/>
          <p:cNvSpPr/>
          <p:nvPr/>
        </p:nvSpPr>
        <p:spPr>
          <a:xfrm>
            <a:off x="7542213" y="5980113"/>
            <a:ext cx="174625" cy="146050"/>
          </a:xfrm>
          <a:prstGeom prst="line">
            <a:avLst/>
          </a:prstGeom>
          <a:ln w="9525" cap="flat" cmpd="sng">
            <a:solidFill>
              <a:schemeClr val="accent2"/>
            </a:solidFill>
            <a:prstDash val="solid"/>
            <a:headEnd type="none" w="med" len="med"/>
            <a:tailEnd type="none" w="med" len="med"/>
          </a:ln>
        </p:spPr>
      </p:sp>
      <p:sp>
        <p:nvSpPr>
          <p:cNvPr id="2225197" name="Line 45"/>
          <p:cNvSpPr/>
          <p:nvPr/>
        </p:nvSpPr>
        <p:spPr>
          <a:xfrm>
            <a:off x="7715250" y="6126163"/>
            <a:ext cx="1033463" cy="0"/>
          </a:xfrm>
          <a:prstGeom prst="line">
            <a:avLst/>
          </a:prstGeom>
          <a:ln w="9525" cap="flat" cmpd="sng">
            <a:solidFill>
              <a:schemeClr val="accent2"/>
            </a:solidFill>
            <a:prstDash val="solid"/>
            <a:headEnd type="none" w="med" len="med"/>
            <a:tailEnd type="none" w="med" len="med"/>
          </a:ln>
        </p:spPr>
      </p:sp>
      <p:sp>
        <p:nvSpPr>
          <p:cNvPr id="2225198" name="Line 46"/>
          <p:cNvSpPr/>
          <p:nvPr/>
        </p:nvSpPr>
        <p:spPr>
          <a:xfrm>
            <a:off x="2652713" y="2389188"/>
            <a:ext cx="0" cy="2292350"/>
          </a:xfrm>
          <a:prstGeom prst="line">
            <a:avLst/>
          </a:prstGeom>
          <a:ln w="9525" cap="flat" cmpd="sng">
            <a:solidFill>
              <a:schemeClr val="accent2"/>
            </a:solidFill>
            <a:prstDash val="sysDot"/>
            <a:headEnd type="none" w="med" len="med"/>
            <a:tailEnd type="none" w="med" len="med"/>
          </a:ln>
        </p:spPr>
      </p:sp>
      <p:sp>
        <p:nvSpPr>
          <p:cNvPr id="2225199" name="Line 47"/>
          <p:cNvSpPr/>
          <p:nvPr/>
        </p:nvSpPr>
        <p:spPr>
          <a:xfrm>
            <a:off x="2652713" y="4602163"/>
            <a:ext cx="1377950" cy="0"/>
          </a:xfrm>
          <a:prstGeom prst="line">
            <a:avLst/>
          </a:prstGeom>
          <a:ln w="9525" cap="flat" cmpd="sng">
            <a:solidFill>
              <a:srgbClr val="FF0000"/>
            </a:solidFill>
            <a:prstDash val="solid"/>
            <a:headEnd type="stealth" w="sm" len="lg"/>
            <a:tailEnd type="stealth" w="sm" len="lg"/>
          </a:ln>
        </p:spPr>
      </p:sp>
      <p:sp>
        <p:nvSpPr>
          <p:cNvPr id="2225200" name="Line 48"/>
          <p:cNvSpPr/>
          <p:nvPr/>
        </p:nvSpPr>
        <p:spPr>
          <a:xfrm>
            <a:off x="4030663" y="4351338"/>
            <a:ext cx="3175" cy="954087"/>
          </a:xfrm>
          <a:prstGeom prst="line">
            <a:avLst/>
          </a:prstGeom>
          <a:ln w="9525" cap="flat" cmpd="sng">
            <a:solidFill>
              <a:schemeClr val="accent2"/>
            </a:solidFill>
            <a:prstDash val="sysDot"/>
            <a:headEnd type="none" w="med" len="med"/>
            <a:tailEnd type="none" w="med" len="med"/>
          </a:ln>
        </p:spPr>
      </p:sp>
      <p:sp>
        <p:nvSpPr>
          <p:cNvPr id="2225201" name="Line 49"/>
          <p:cNvSpPr/>
          <p:nvPr/>
        </p:nvSpPr>
        <p:spPr>
          <a:xfrm>
            <a:off x="5581650" y="4946650"/>
            <a:ext cx="0" cy="981075"/>
          </a:xfrm>
          <a:prstGeom prst="line">
            <a:avLst/>
          </a:prstGeom>
          <a:ln w="9525" cap="flat" cmpd="sng">
            <a:solidFill>
              <a:schemeClr val="accent2"/>
            </a:solidFill>
            <a:prstDash val="sysDot"/>
            <a:headEnd type="none" w="med" len="med"/>
            <a:tailEnd type="none" w="med" len="med"/>
          </a:ln>
        </p:spPr>
      </p:sp>
      <p:sp>
        <p:nvSpPr>
          <p:cNvPr id="2225202" name="Line 50"/>
          <p:cNvSpPr/>
          <p:nvPr/>
        </p:nvSpPr>
        <p:spPr>
          <a:xfrm>
            <a:off x="7542213" y="2309813"/>
            <a:ext cx="0" cy="3670300"/>
          </a:xfrm>
          <a:prstGeom prst="line">
            <a:avLst/>
          </a:prstGeom>
          <a:ln w="9525" cap="flat" cmpd="sng">
            <a:solidFill>
              <a:schemeClr val="accent2"/>
            </a:solidFill>
            <a:prstDash val="sysDot"/>
            <a:headEnd type="none" w="med" len="med"/>
            <a:tailEnd type="none" w="med" len="med"/>
          </a:ln>
        </p:spPr>
      </p:sp>
      <p:sp>
        <p:nvSpPr>
          <p:cNvPr id="2225203" name="Line 51"/>
          <p:cNvSpPr/>
          <p:nvPr/>
        </p:nvSpPr>
        <p:spPr>
          <a:xfrm>
            <a:off x="4032250" y="5224463"/>
            <a:ext cx="1549400" cy="0"/>
          </a:xfrm>
          <a:prstGeom prst="line">
            <a:avLst/>
          </a:prstGeom>
          <a:ln w="9525" cap="flat" cmpd="sng">
            <a:solidFill>
              <a:srgbClr val="FF0000"/>
            </a:solidFill>
            <a:prstDash val="solid"/>
            <a:headEnd type="stealth" w="sm" len="lg"/>
            <a:tailEnd type="stealth" w="sm" len="lg"/>
          </a:ln>
        </p:spPr>
      </p:sp>
      <p:sp>
        <p:nvSpPr>
          <p:cNvPr id="2225204" name="Line 52"/>
          <p:cNvSpPr/>
          <p:nvPr/>
        </p:nvSpPr>
        <p:spPr>
          <a:xfrm>
            <a:off x="5581650" y="5808663"/>
            <a:ext cx="1960563" cy="0"/>
          </a:xfrm>
          <a:prstGeom prst="line">
            <a:avLst/>
          </a:prstGeom>
          <a:ln w="9525" cap="flat" cmpd="sng">
            <a:solidFill>
              <a:srgbClr val="FF0000"/>
            </a:solidFill>
            <a:prstDash val="solid"/>
            <a:headEnd type="stealth" w="sm" len="lg"/>
            <a:tailEnd type="stealth" w="sm" len="lg"/>
          </a:ln>
        </p:spPr>
      </p:sp>
      <p:sp>
        <p:nvSpPr>
          <p:cNvPr id="2225205" name="Text Box 53"/>
          <p:cNvSpPr txBox="1"/>
          <p:nvPr/>
        </p:nvSpPr>
        <p:spPr>
          <a:xfrm>
            <a:off x="2679700" y="2974975"/>
            <a:ext cx="422275" cy="312738"/>
          </a:xfrm>
          <a:prstGeom prst="rect">
            <a:avLst/>
          </a:prstGeom>
          <a:noFill/>
          <a:ln w="9525">
            <a:noFill/>
          </a:ln>
        </p:spPr>
        <p:txBody>
          <a:bodyPr wrap="none">
            <a:spAutoFit/>
          </a:bodyPr>
          <a:p>
            <a:pPr algn="ctr" eaLnBrk="1" hangingPunct="1">
              <a:lnSpc>
                <a:spcPct val="90000"/>
              </a:lnSpc>
            </a:pPr>
            <a:r>
              <a:rPr lang="en-US" altLang="zh-CN" sz="1600" b="1" dirty="0">
                <a:solidFill>
                  <a:srgbClr val="3333FF"/>
                </a:solidFill>
                <a:latin typeface="Times New Roman" panose="02020603050405020304" pitchFamily="18" charset="0"/>
              </a:rPr>
              <a:t>(1)</a:t>
            </a:r>
            <a:endParaRPr lang="en-US" altLang="zh-CN" sz="1600" b="1" dirty="0">
              <a:solidFill>
                <a:srgbClr val="3333FF"/>
              </a:solidFill>
              <a:latin typeface="Times New Roman" panose="02020603050405020304" pitchFamily="18" charset="0"/>
            </a:endParaRPr>
          </a:p>
        </p:txBody>
      </p:sp>
      <p:sp>
        <p:nvSpPr>
          <p:cNvPr id="2225206" name="Text Box 54"/>
          <p:cNvSpPr txBox="1"/>
          <p:nvPr/>
        </p:nvSpPr>
        <p:spPr>
          <a:xfrm>
            <a:off x="2674938" y="3578225"/>
            <a:ext cx="422275" cy="312738"/>
          </a:xfrm>
          <a:prstGeom prst="rect">
            <a:avLst/>
          </a:prstGeom>
          <a:noFill/>
          <a:ln w="9525">
            <a:noFill/>
          </a:ln>
        </p:spPr>
        <p:txBody>
          <a:bodyPr wrap="none">
            <a:spAutoFit/>
          </a:bodyPr>
          <a:p>
            <a:pPr eaLnBrk="1" hangingPunct="1">
              <a:lnSpc>
                <a:spcPct val="90000"/>
              </a:lnSpc>
            </a:pPr>
            <a:r>
              <a:rPr lang="en-US" altLang="zh-CN" sz="1600" b="1" dirty="0">
                <a:solidFill>
                  <a:srgbClr val="3333FF"/>
                </a:solidFill>
                <a:latin typeface="Times New Roman" panose="02020603050405020304" pitchFamily="18" charset="0"/>
              </a:rPr>
              <a:t>(2)</a:t>
            </a:r>
            <a:endParaRPr lang="en-US" altLang="zh-CN" sz="1600" b="1" dirty="0">
              <a:solidFill>
                <a:srgbClr val="3333FF"/>
              </a:solidFill>
              <a:latin typeface="Times New Roman" panose="02020603050405020304" pitchFamily="18" charset="0"/>
            </a:endParaRPr>
          </a:p>
        </p:txBody>
      </p:sp>
      <p:sp>
        <p:nvSpPr>
          <p:cNvPr id="2225207" name="Text Box 55"/>
          <p:cNvSpPr txBox="1"/>
          <p:nvPr/>
        </p:nvSpPr>
        <p:spPr>
          <a:xfrm>
            <a:off x="4143375" y="4198938"/>
            <a:ext cx="422275" cy="312737"/>
          </a:xfrm>
          <a:prstGeom prst="rect">
            <a:avLst/>
          </a:prstGeom>
          <a:noFill/>
          <a:ln w="9525">
            <a:noFill/>
          </a:ln>
        </p:spPr>
        <p:txBody>
          <a:bodyPr wrap="none">
            <a:spAutoFit/>
          </a:bodyPr>
          <a:p>
            <a:pPr eaLnBrk="1" hangingPunct="1">
              <a:lnSpc>
                <a:spcPct val="90000"/>
              </a:lnSpc>
            </a:pPr>
            <a:r>
              <a:rPr lang="en-US" altLang="zh-CN" sz="1600" b="1" dirty="0">
                <a:solidFill>
                  <a:srgbClr val="3333FF"/>
                </a:solidFill>
                <a:latin typeface="Times New Roman" panose="02020603050405020304" pitchFamily="18" charset="0"/>
              </a:rPr>
              <a:t>(3)</a:t>
            </a:r>
            <a:endParaRPr lang="en-US" altLang="zh-CN" sz="1600" b="1" dirty="0">
              <a:solidFill>
                <a:srgbClr val="3333FF"/>
              </a:solidFill>
              <a:latin typeface="Times New Roman" panose="02020603050405020304" pitchFamily="18" charset="0"/>
            </a:endParaRPr>
          </a:p>
        </p:txBody>
      </p:sp>
      <p:sp>
        <p:nvSpPr>
          <p:cNvPr id="2225208" name="Text Box 56"/>
          <p:cNvSpPr txBox="1"/>
          <p:nvPr/>
        </p:nvSpPr>
        <p:spPr>
          <a:xfrm>
            <a:off x="5589588" y="4797425"/>
            <a:ext cx="422275" cy="312738"/>
          </a:xfrm>
          <a:prstGeom prst="rect">
            <a:avLst/>
          </a:prstGeom>
          <a:noFill/>
          <a:ln w="9525">
            <a:noFill/>
          </a:ln>
        </p:spPr>
        <p:txBody>
          <a:bodyPr wrap="none">
            <a:spAutoFit/>
          </a:bodyPr>
          <a:p>
            <a:pPr algn="ctr" eaLnBrk="1" hangingPunct="1">
              <a:lnSpc>
                <a:spcPct val="90000"/>
              </a:lnSpc>
            </a:pPr>
            <a:r>
              <a:rPr lang="en-US" altLang="zh-CN" sz="1600" b="1" dirty="0">
                <a:solidFill>
                  <a:srgbClr val="3333FF"/>
                </a:solidFill>
                <a:latin typeface="Times New Roman" panose="02020603050405020304" pitchFamily="18" charset="0"/>
              </a:rPr>
              <a:t>(4)</a:t>
            </a:r>
            <a:endParaRPr lang="en-US" altLang="zh-CN" sz="1600" b="1" dirty="0">
              <a:solidFill>
                <a:srgbClr val="3333FF"/>
              </a:solidFill>
              <a:latin typeface="Times New Roman" panose="02020603050405020304" pitchFamily="18" charset="0"/>
            </a:endParaRPr>
          </a:p>
        </p:txBody>
      </p:sp>
      <p:sp>
        <p:nvSpPr>
          <p:cNvPr id="2225209" name="Text Box 57"/>
          <p:cNvSpPr txBox="1"/>
          <p:nvPr/>
        </p:nvSpPr>
        <p:spPr>
          <a:xfrm>
            <a:off x="7591425" y="5538788"/>
            <a:ext cx="422275" cy="312737"/>
          </a:xfrm>
          <a:prstGeom prst="rect">
            <a:avLst/>
          </a:prstGeom>
          <a:noFill/>
          <a:ln w="9525">
            <a:noFill/>
          </a:ln>
        </p:spPr>
        <p:txBody>
          <a:bodyPr wrap="none">
            <a:spAutoFit/>
          </a:bodyPr>
          <a:p>
            <a:pPr algn="ctr" eaLnBrk="1" hangingPunct="1">
              <a:lnSpc>
                <a:spcPct val="90000"/>
              </a:lnSpc>
            </a:pPr>
            <a:r>
              <a:rPr lang="en-US" altLang="zh-CN" sz="1600" b="1" dirty="0">
                <a:solidFill>
                  <a:srgbClr val="3333FF"/>
                </a:solidFill>
                <a:latin typeface="Times New Roman" panose="02020603050405020304" pitchFamily="18" charset="0"/>
              </a:rPr>
              <a:t>(5)</a:t>
            </a:r>
            <a:endParaRPr lang="en-US" altLang="zh-CN" sz="1600" b="1" dirty="0">
              <a:solidFill>
                <a:srgbClr val="3333FF"/>
              </a:solidFill>
              <a:latin typeface="Times New Roman" panose="02020603050405020304" pitchFamily="18" charset="0"/>
            </a:endParaRPr>
          </a:p>
        </p:txBody>
      </p:sp>
      <p:sp>
        <p:nvSpPr>
          <p:cNvPr id="2225210" name="Line 58"/>
          <p:cNvSpPr/>
          <p:nvPr/>
        </p:nvSpPr>
        <p:spPr>
          <a:xfrm>
            <a:off x="2652713" y="2455863"/>
            <a:ext cx="4889500" cy="0"/>
          </a:xfrm>
          <a:prstGeom prst="line">
            <a:avLst/>
          </a:prstGeom>
          <a:ln w="9525" cap="flat" cmpd="sng">
            <a:solidFill>
              <a:schemeClr val="accent2"/>
            </a:solidFill>
            <a:prstDash val="solid"/>
            <a:headEnd type="stealth" w="sm" len="lg"/>
            <a:tailEnd type="stealth" w="sm" len="lg"/>
          </a:ln>
        </p:spPr>
      </p:sp>
      <p:sp>
        <p:nvSpPr>
          <p:cNvPr id="2225211" name="Text Box 59"/>
          <p:cNvSpPr txBox="1"/>
          <p:nvPr/>
        </p:nvSpPr>
        <p:spPr>
          <a:xfrm>
            <a:off x="4402138" y="2117725"/>
            <a:ext cx="1565275" cy="339725"/>
          </a:xfrm>
          <a:prstGeom prst="rect">
            <a:avLst/>
          </a:prstGeom>
          <a:noFill/>
          <a:ln w="9525">
            <a:noFill/>
          </a:ln>
        </p:spPr>
        <p:txBody>
          <a:bodyPr wrap="none">
            <a:spAutoFit/>
          </a:bodyPr>
          <a:p>
            <a:pPr algn="ctr" eaLnBrk="1" hangingPunct="1">
              <a:lnSpc>
                <a:spcPct val="90000"/>
              </a:lnSpc>
            </a:pPr>
            <a:r>
              <a:rPr lang="zh-CN" altLang="en-US" sz="1800" b="1" dirty="0">
                <a:latin typeface="Times New Roman" panose="02020603050405020304" pitchFamily="18" charset="0"/>
              </a:rPr>
              <a:t>一个工作周期</a:t>
            </a:r>
            <a:endParaRPr lang="zh-CN" altLang="en-US" sz="1800" b="1" dirty="0">
              <a:latin typeface="Times New Roman" panose="02020603050405020304" pitchFamily="18" charset="0"/>
            </a:endParaRPr>
          </a:p>
        </p:txBody>
      </p:sp>
      <p:sp>
        <p:nvSpPr>
          <p:cNvPr id="2225212" name="Text Box 60"/>
          <p:cNvSpPr txBox="1"/>
          <p:nvPr/>
        </p:nvSpPr>
        <p:spPr>
          <a:xfrm>
            <a:off x="503238" y="3352800"/>
            <a:ext cx="1416050" cy="366713"/>
          </a:xfrm>
          <a:prstGeom prst="rect">
            <a:avLst/>
          </a:prstGeom>
          <a:noFill/>
          <a:ln w="9525">
            <a:noFill/>
          </a:ln>
        </p:spPr>
        <p:txBody>
          <a:bodyPr>
            <a:spAutoFit/>
          </a:bodyPr>
          <a:p>
            <a:pPr algn="ctr" eaLnBrk="1" hangingPunct="1">
              <a:lnSpc>
                <a:spcPct val="90000"/>
              </a:lnSpc>
            </a:pPr>
            <a:r>
              <a:rPr lang="zh-CN" altLang="en-US" sz="2000" b="1" dirty="0">
                <a:solidFill>
                  <a:srgbClr val="FF0000"/>
                </a:solidFill>
                <a:latin typeface="Times New Roman" panose="02020603050405020304" pitchFamily="18" charset="0"/>
              </a:rPr>
              <a:t>多路开关</a:t>
            </a:r>
            <a:endParaRPr lang="zh-CN" altLang="en-US" sz="2000" b="1" dirty="0">
              <a:solidFill>
                <a:srgbClr val="FF0000"/>
              </a:solidFill>
              <a:latin typeface="Times New Roman" panose="02020603050405020304" pitchFamily="18" charset="0"/>
            </a:endParaRPr>
          </a:p>
        </p:txBody>
      </p:sp>
      <p:sp>
        <p:nvSpPr>
          <p:cNvPr id="2225213" name="Text Box 61"/>
          <p:cNvSpPr txBox="1"/>
          <p:nvPr/>
        </p:nvSpPr>
        <p:spPr>
          <a:xfrm>
            <a:off x="800100" y="4002088"/>
            <a:ext cx="950913" cy="366712"/>
          </a:xfrm>
          <a:prstGeom prst="rect">
            <a:avLst/>
          </a:prstGeom>
          <a:noFill/>
          <a:ln w="9525">
            <a:noFill/>
          </a:ln>
        </p:spPr>
        <p:txBody>
          <a:bodyPr wrap="none">
            <a:spAutoFit/>
          </a:bodyPr>
          <a:p>
            <a:pPr algn="ctr" eaLnBrk="1" hangingPunct="1">
              <a:lnSpc>
                <a:spcPct val="90000"/>
              </a:lnSpc>
            </a:pPr>
            <a:r>
              <a:rPr lang="zh-CN" altLang="en-US" sz="2000" b="1" dirty="0">
                <a:solidFill>
                  <a:srgbClr val="FF0000"/>
                </a:solidFill>
                <a:latin typeface="Times New Roman" panose="02020603050405020304" pitchFamily="18" charset="0"/>
              </a:rPr>
              <a:t>放大器</a:t>
            </a:r>
            <a:endParaRPr lang="zh-CN" altLang="en-US" sz="2000" b="1" dirty="0">
              <a:solidFill>
                <a:srgbClr val="FF0000"/>
              </a:solidFill>
              <a:latin typeface="Times New Roman" panose="02020603050405020304" pitchFamily="18" charset="0"/>
            </a:endParaRPr>
          </a:p>
        </p:txBody>
      </p:sp>
      <p:sp>
        <p:nvSpPr>
          <p:cNvPr id="2225214" name="Text Box 62"/>
          <p:cNvSpPr txBox="1"/>
          <p:nvPr/>
        </p:nvSpPr>
        <p:spPr>
          <a:xfrm>
            <a:off x="539750" y="4597400"/>
            <a:ext cx="1377950" cy="366713"/>
          </a:xfrm>
          <a:prstGeom prst="rect">
            <a:avLst/>
          </a:prstGeom>
          <a:noFill/>
          <a:ln w="9525">
            <a:noFill/>
          </a:ln>
        </p:spPr>
        <p:txBody>
          <a:bodyPr>
            <a:spAutoFit/>
          </a:bodyPr>
          <a:p>
            <a:pPr algn="ctr" eaLnBrk="1" hangingPunct="1">
              <a:lnSpc>
                <a:spcPct val="90000"/>
              </a:lnSpc>
            </a:pPr>
            <a:r>
              <a:rPr lang="zh-CN" altLang="en-US" sz="2000" b="1" dirty="0">
                <a:solidFill>
                  <a:srgbClr val="FF0000"/>
                </a:solidFill>
                <a:latin typeface="Times New Roman" panose="02020603050405020304" pitchFamily="18" charset="0"/>
              </a:rPr>
              <a:t>采样</a:t>
            </a:r>
            <a:r>
              <a:rPr lang="en-US" altLang="zh-CN" sz="2000" b="1" dirty="0">
                <a:solidFill>
                  <a:srgbClr val="FF0000"/>
                </a:solidFill>
                <a:latin typeface="Times New Roman" panose="02020603050405020304" pitchFamily="18" charset="0"/>
              </a:rPr>
              <a:t>/</a:t>
            </a:r>
            <a:r>
              <a:rPr lang="zh-CN" altLang="en-US" sz="2000" b="1" dirty="0">
                <a:solidFill>
                  <a:srgbClr val="FF0000"/>
                </a:solidFill>
                <a:latin typeface="Times New Roman" panose="02020603050405020304" pitchFamily="18" charset="0"/>
              </a:rPr>
              <a:t>保持</a:t>
            </a:r>
            <a:endParaRPr lang="zh-CN" altLang="en-US" sz="2000" b="1" dirty="0">
              <a:solidFill>
                <a:srgbClr val="FF0000"/>
              </a:solidFill>
              <a:latin typeface="Times New Roman" panose="02020603050405020304" pitchFamily="18" charset="0"/>
            </a:endParaRPr>
          </a:p>
        </p:txBody>
      </p:sp>
      <p:sp>
        <p:nvSpPr>
          <p:cNvPr id="2225215" name="Text Box 63"/>
          <p:cNvSpPr txBox="1"/>
          <p:nvPr/>
        </p:nvSpPr>
        <p:spPr>
          <a:xfrm>
            <a:off x="611188" y="5184775"/>
            <a:ext cx="1206500" cy="366713"/>
          </a:xfrm>
          <a:prstGeom prst="rect">
            <a:avLst/>
          </a:prstGeom>
          <a:noFill/>
          <a:ln w="9525">
            <a:noFill/>
          </a:ln>
        </p:spPr>
        <p:txBody>
          <a:bodyPr>
            <a:spAutoFit/>
          </a:bodyPr>
          <a:p>
            <a:pPr algn="ctr" eaLnBrk="1" hangingPunct="1">
              <a:lnSpc>
                <a:spcPct val="90000"/>
              </a:lnSpc>
            </a:pPr>
            <a:r>
              <a:rPr lang="en-US" altLang="zh-CN" sz="2000" b="1" dirty="0">
                <a:solidFill>
                  <a:srgbClr val="FF0000"/>
                </a:solidFill>
                <a:latin typeface="Times New Roman" panose="02020603050405020304" pitchFamily="18" charset="0"/>
              </a:rPr>
              <a:t>A/D</a:t>
            </a:r>
            <a:r>
              <a:rPr lang="zh-CN" altLang="en-US" sz="2000" b="1" dirty="0">
                <a:solidFill>
                  <a:srgbClr val="FF0000"/>
                </a:solidFill>
                <a:latin typeface="Times New Roman" panose="02020603050405020304" pitchFamily="18" charset="0"/>
              </a:rPr>
              <a:t>转换</a:t>
            </a:r>
            <a:endParaRPr lang="zh-CN" altLang="en-US" sz="2000" b="1" dirty="0">
              <a:solidFill>
                <a:srgbClr val="FF0000"/>
              </a:solidFill>
              <a:latin typeface="Times New Roman" panose="02020603050405020304" pitchFamily="18" charset="0"/>
            </a:endParaRPr>
          </a:p>
        </p:txBody>
      </p:sp>
      <p:sp>
        <p:nvSpPr>
          <p:cNvPr id="2225216" name="Text Box 64"/>
          <p:cNvSpPr txBox="1"/>
          <p:nvPr/>
        </p:nvSpPr>
        <p:spPr>
          <a:xfrm>
            <a:off x="539750" y="5791200"/>
            <a:ext cx="1296988" cy="366713"/>
          </a:xfrm>
          <a:prstGeom prst="rect">
            <a:avLst/>
          </a:prstGeom>
          <a:noFill/>
          <a:ln w="9525">
            <a:noFill/>
          </a:ln>
        </p:spPr>
        <p:txBody>
          <a:bodyPr>
            <a:spAutoFit/>
          </a:bodyPr>
          <a:p>
            <a:pPr algn="ctr" eaLnBrk="1" hangingPunct="1">
              <a:lnSpc>
                <a:spcPct val="90000"/>
              </a:lnSpc>
            </a:pPr>
            <a:r>
              <a:rPr lang="zh-CN" altLang="en-US" sz="2000" b="1" dirty="0">
                <a:solidFill>
                  <a:srgbClr val="FF0000"/>
                </a:solidFill>
                <a:latin typeface="Times New Roman" panose="02020603050405020304" pitchFamily="18" charset="0"/>
              </a:rPr>
              <a:t>数据总线</a:t>
            </a:r>
            <a:endParaRPr lang="zh-CN" altLang="en-US" sz="2000" b="1" dirty="0">
              <a:solidFill>
                <a:srgbClr val="FF0000"/>
              </a:solidFill>
              <a:latin typeface="Times New Roman" panose="02020603050405020304" pitchFamily="18" charset="0"/>
            </a:endParaRPr>
          </a:p>
        </p:txBody>
      </p:sp>
      <p:sp>
        <p:nvSpPr>
          <p:cNvPr id="2225219" name="Text Box 67"/>
          <p:cNvSpPr txBox="1"/>
          <p:nvPr/>
        </p:nvSpPr>
        <p:spPr>
          <a:xfrm>
            <a:off x="2992438" y="4275138"/>
            <a:ext cx="690562" cy="339725"/>
          </a:xfrm>
          <a:prstGeom prst="rect">
            <a:avLst/>
          </a:prstGeom>
          <a:noFill/>
          <a:ln w="9525">
            <a:noFill/>
          </a:ln>
        </p:spPr>
        <p:txBody>
          <a:bodyPr>
            <a:spAutoFit/>
          </a:bodyPr>
          <a:p>
            <a:pPr algn="ctr" eaLnBrk="1" hangingPunct="1">
              <a:lnSpc>
                <a:spcPct val="90000"/>
              </a:lnSpc>
            </a:pPr>
            <a:r>
              <a:rPr lang="en-US" altLang="zh-CN" sz="1800" b="1" dirty="0">
                <a:solidFill>
                  <a:srgbClr val="CC00CC"/>
                </a:solidFill>
                <a:latin typeface="Times New Roman" panose="02020603050405020304" pitchFamily="18" charset="0"/>
                <a:ea typeface="宋体" panose="02010600030101010101" pitchFamily="2" charset="-122"/>
              </a:rPr>
              <a:t>1.2</a:t>
            </a:r>
            <a:r>
              <a:rPr lang="en-US" altLang="zh-CN" sz="1800" b="1"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1800" b="1" dirty="0">
                <a:solidFill>
                  <a:srgbClr val="CC00CC"/>
                </a:solidFill>
                <a:latin typeface="Times New Roman" panose="02020603050405020304" pitchFamily="18" charset="0"/>
                <a:ea typeface="宋体" panose="02010600030101010101" pitchFamily="2" charset="-122"/>
              </a:rPr>
              <a:t>s</a:t>
            </a:r>
            <a:endParaRPr lang="en-US" altLang="zh-CN" sz="1800" b="1" dirty="0">
              <a:solidFill>
                <a:srgbClr val="CC00CC"/>
              </a:solidFill>
              <a:latin typeface="Times New Roman" panose="02020603050405020304" pitchFamily="18" charset="0"/>
              <a:ea typeface="宋体" panose="02010600030101010101" pitchFamily="2" charset="-122"/>
            </a:endParaRPr>
          </a:p>
        </p:txBody>
      </p:sp>
      <p:sp>
        <p:nvSpPr>
          <p:cNvPr id="2225220" name="Text Box 68"/>
          <p:cNvSpPr txBox="1"/>
          <p:nvPr/>
        </p:nvSpPr>
        <p:spPr>
          <a:xfrm>
            <a:off x="4556125" y="4903788"/>
            <a:ext cx="519113" cy="339725"/>
          </a:xfrm>
          <a:prstGeom prst="rect">
            <a:avLst/>
          </a:prstGeom>
          <a:noFill/>
          <a:ln w="9525">
            <a:noFill/>
          </a:ln>
        </p:spPr>
        <p:txBody>
          <a:bodyPr wrap="none">
            <a:spAutoFit/>
          </a:bodyPr>
          <a:p>
            <a:pPr algn="ctr" eaLnBrk="1" hangingPunct="1">
              <a:lnSpc>
                <a:spcPct val="90000"/>
              </a:lnSpc>
            </a:pPr>
            <a:r>
              <a:rPr lang="en-US" altLang="zh-CN" sz="1800" b="1" dirty="0">
                <a:solidFill>
                  <a:srgbClr val="CC00CC"/>
                </a:solidFill>
                <a:latin typeface="Times New Roman" panose="02020603050405020304" pitchFamily="18" charset="0"/>
                <a:ea typeface="宋体" panose="02010600030101010101" pitchFamily="2" charset="-122"/>
              </a:rPr>
              <a:t>6</a:t>
            </a:r>
            <a:r>
              <a:rPr lang="en-US" altLang="zh-CN" sz="1800" b="1"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1800" b="1" dirty="0">
                <a:solidFill>
                  <a:srgbClr val="CC00CC"/>
                </a:solidFill>
                <a:latin typeface="Times New Roman" panose="02020603050405020304" pitchFamily="18" charset="0"/>
                <a:ea typeface="宋体" panose="02010600030101010101" pitchFamily="2" charset="-122"/>
              </a:rPr>
              <a:t>s</a:t>
            </a:r>
            <a:endParaRPr lang="en-US" altLang="zh-CN" sz="1800" b="1" dirty="0">
              <a:solidFill>
                <a:srgbClr val="CC00CC"/>
              </a:solidFill>
              <a:latin typeface="Times New Roman" panose="02020603050405020304" pitchFamily="18" charset="0"/>
              <a:ea typeface="宋体" panose="02010600030101010101" pitchFamily="2" charset="-122"/>
            </a:endParaRPr>
          </a:p>
        </p:txBody>
      </p:sp>
      <p:sp>
        <p:nvSpPr>
          <p:cNvPr id="2225221" name="Text Box 69"/>
          <p:cNvSpPr txBox="1"/>
          <p:nvPr/>
        </p:nvSpPr>
        <p:spPr>
          <a:xfrm>
            <a:off x="6297613" y="5472113"/>
            <a:ext cx="466725" cy="339725"/>
          </a:xfrm>
          <a:prstGeom prst="rect">
            <a:avLst/>
          </a:prstGeom>
          <a:noFill/>
          <a:ln w="9525">
            <a:noFill/>
          </a:ln>
        </p:spPr>
        <p:txBody>
          <a:bodyPr wrap="none">
            <a:spAutoFit/>
          </a:bodyPr>
          <a:p>
            <a:pPr algn="ctr" eaLnBrk="1" hangingPunct="1">
              <a:lnSpc>
                <a:spcPct val="90000"/>
              </a:lnSpc>
            </a:pPr>
            <a:r>
              <a:rPr lang="en-US" altLang="zh-CN" sz="1800" b="1" i="1" dirty="0">
                <a:solidFill>
                  <a:srgbClr val="CC00CC"/>
                </a:solidFill>
                <a:latin typeface="Times New Roman" panose="02020603050405020304" pitchFamily="18" charset="0"/>
                <a:ea typeface="宋体" panose="02010600030101010101" pitchFamily="2" charset="-122"/>
              </a:rPr>
              <a:t>t</a:t>
            </a:r>
            <a:r>
              <a:rPr lang="en-US" altLang="zh-CN" sz="1800" b="1" baseline="-25000" dirty="0">
                <a:solidFill>
                  <a:srgbClr val="CC00CC"/>
                </a:solidFill>
                <a:latin typeface="Times New Roman" panose="02020603050405020304" pitchFamily="18" charset="0"/>
                <a:ea typeface="宋体" panose="02010600030101010101" pitchFamily="2" charset="-122"/>
              </a:rPr>
              <a:t>AD</a:t>
            </a:r>
            <a:endParaRPr lang="en-US" altLang="zh-CN" sz="1800" b="1" baseline="-25000" dirty="0">
              <a:solidFill>
                <a:srgbClr val="CC00CC"/>
              </a:solidFill>
              <a:latin typeface="Times New Roman" panose="02020603050405020304" pitchFamily="18" charset="0"/>
              <a:ea typeface="宋体" panose="02010600030101010101" pitchFamily="2" charset="-122"/>
            </a:endParaRPr>
          </a:p>
        </p:txBody>
      </p:sp>
      <p:sp>
        <p:nvSpPr>
          <p:cNvPr id="2225222" name="Text Box 70"/>
          <p:cNvSpPr txBox="1"/>
          <p:nvPr/>
        </p:nvSpPr>
        <p:spPr>
          <a:xfrm>
            <a:off x="657225" y="2797175"/>
            <a:ext cx="1206500" cy="366713"/>
          </a:xfrm>
          <a:prstGeom prst="rect">
            <a:avLst/>
          </a:prstGeom>
          <a:noFill/>
          <a:ln w="9525">
            <a:noFill/>
          </a:ln>
        </p:spPr>
        <p:txBody>
          <a:bodyPr wrap="none">
            <a:spAutoFit/>
          </a:bodyPr>
          <a:p>
            <a:pPr algn="ctr" eaLnBrk="1" hangingPunct="1">
              <a:lnSpc>
                <a:spcPct val="90000"/>
              </a:lnSpc>
            </a:pPr>
            <a:r>
              <a:rPr lang="zh-CN" altLang="en-US" sz="2000" b="1" dirty="0">
                <a:solidFill>
                  <a:srgbClr val="FF0000"/>
                </a:solidFill>
                <a:latin typeface="Times New Roman" panose="02020603050405020304" pitchFamily="18" charset="0"/>
              </a:rPr>
              <a:t>启动脉冲</a:t>
            </a:r>
            <a:endParaRPr lang="zh-CN" altLang="en-US" sz="2000" b="1" dirty="0">
              <a:solidFill>
                <a:srgbClr val="FF0000"/>
              </a:solidFill>
              <a:latin typeface="Times New Roman" panose="02020603050405020304" pitchFamily="18" charset="0"/>
            </a:endParaRPr>
          </a:p>
        </p:txBody>
      </p:sp>
      <p:sp>
        <p:nvSpPr>
          <p:cNvPr id="2225226" name="Line 74"/>
          <p:cNvSpPr/>
          <p:nvPr/>
        </p:nvSpPr>
        <p:spPr>
          <a:xfrm>
            <a:off x="2732088" y="3886200"/>
            <a:ext cx="358775" cy="0"/>
          </a:xfrm>
          <a:prstGeom prst="line">
            <a:avLst/>
          </a:prstGeom>
          <a:ln w="9525" cap="flat" cmpd="sng">
            <a:solidFill>
              <a:schemeClr val="accent2"/>
            </a:solidFill>
            <a:prstDash val="solid"/>
            <a:headEnd type="none" w="med" len="med"/>
            <a:tailEnd type="none" w="med" len="med"/>
          </a:ln>
        </p:spPr>
      </p:sp>
      <p:sp>
        <p:nvSpPr>
          <p:cNvPr id="2225227" name="Text Box 75"/>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6377" name="Text Box 135"/>
          <p:cNvSpPr txBox="1"/>
          <p:nvPr/>
        </p:nvSpPr>
        <p:spPr>
          <a:xfrm>
            <a:off x="358775" y="800100"/>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27336" name="Text Box 136"/>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5159"/>
                                        </p:tgtEl>
                                        <p:attrNameLst>
                                          <p:attrName>style.visibility</p:attrName>
                                        </p:attrNameLst>
                                      </p:cBhvr>
                                      <p:to>
                                        <p:strVal val="visible"/>
                                      </p:to>
                                    </p:set>
                                    <p:animEffect transition="in" filter="dissolve">
                                      <p:cBhvr>
                                        <p:cTn id="7" dur="500"/>
                                        <p:tgtEl>
                                          <p:spTgt spid="2225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5222"/>
                                        </p:tgtEl>
                                        <p:attrNameLst>
                                          <p:attrName>style.visibility</p:attrName>
                                        </p:attrNameLst>
                                      </p:cBhvr>
                                      <p:to>
                                        <p:strVal val="visible"/>
                                      </p:to>
                                    </p:set>
                                    <p:animEffect transition="in" filter="dissolve">
                                      <p:cBhvr>
                                        <p:cTn id="12" dur="500"/>
                                        <p:tgtEl>
                                          <p:spTgt spid="2225222"/>
                                        </p:tgtEl>
                                      </p:cBhvr>
                                    </p:animEffect>
                                  </p:childTnLst>
                                </p:cTn>
                              </p:par>
                            </p:childTnLst>
                          </p:cTn>
                        </p:par>
                      </p:childTnLst>
                    </p:cTn>
                  </p:par>
                  <p:par>
                    <p:cTn id="13" fill="hold">
                      <p:stCondLst>
                        <p:cond delay="indefinite"/>
                      </p:stCondLst>
                      <p:childTnLst>
                        <p:par>
                          <p:cTn id="14" fill="hold">
                            <p:stCondLst>
                              <p:cond delay="0"/>
                            </p:stCondLst>
                            <p:childTnLst>
                              <p:par>
                                <p:cTn id="15" presetID="17" presetClass="entr" presetSubtype="8" fill="hold" nodeType="clickEffect">
                                  <p:stCondLst>
                                    <p:cond delay="0"/>
                                  </p:stCondLst>
                                  <p:childTnLst>
                                    <p:set>
                                      <p:cBhvr>
                                        <p:cTn id="16" dur="1" fill="hold">
                                          <p:stCondLst>
                                            <p:cond delay="0"/>
                                          </p:stCondLst>
                                        </p:cTn>
                                        <p:tgtEl>
                                          <p:spTgt spid="2225163"/>
                                        </p:tgtEl>
                                        <p:attrNameLst>
                                          <p:attrName>style.visibility</p:attrName>
                                        </p:attrNameLst>
                                      </p:cBhvr>
                                      <p:to>
                                        <p:strVal val="visible"/>
                                      </p:to>
                                    </p:set>
                                    <p:anim calcmode="lin" valueType="num">
                                      <p:cBhvr>
                                        <p:cTn id="17" dur="500" fill="hold"/>
                                        <p:tgtEl>
                                          <p:spTgt spid="2225163"/>
                                        </p:tgtEl>
                                        <p:attrNameLst>
                                          <p:attrName>ppt_x</p:attrName>
                                        </p:attrNameLst>
                                      </p:cBhvr>
                                      <p:tavLst>
                                        <p:tav tm="0">
                                          <p:val>
                                            <p:strVal val="#ppt_x-#ppt_w/2"/>
                                          </p:val>
                                        </p:tav>
                                        <p:tav tm="100000">
                                          <p:val>
                                            <p:strVal val="#ppt_x"/>
                                          </p:val>
                                        </p:tav>
                                      </p:tavLst>
                                    </p:anim>
                                    <p:anim calcmode="lin" valueType="num">
                                      <p:cBhvr>
                                        <p:cTn id="18" dur="500" fill="hold"/>
                                        <p:tgtEl>
                                          <p:spTgt spid="2225163"/>
                                        </p:tgtEl>
                                        <p:attrNameLst>
                                          <p:attrName>ppt_y</p:attrName>
                                        </p:attrNameLst>
                                      </p:cBhvr>
                                      <p:tavLst>
                                        <p:tav tm="0">
                                          <p:val>
                                            <p:strVal val="#ppt_y"/>
                                          </p:val>
                                        </p:tav>
                                        <p:tav tm="100000">
                                          <p:val>
                                            <p:strVal val="#ppt_y"/>
                                          </p:val>
                                        </p:tav>
                                      </p:tavLst>
                                    </p:anim>
                                    <p:anim calcmode="lin" valueType="num">
                                      <p:cBhvr>
                                        <p:cTn id="19" dur="500" fill="hold"/>
                                        <p:tgtEl>
                                          <p:spTgt spid="2225163"/>
                                        </p:tgtEl>
                                        <p:attrNameLst>
                                          <p:attrName>ppt_w</p:attrName>
                                        </p:attrNameLst>
                                      </p:cBhvr>
                                      <p:tavLst>
                                        <p:tav tm="0">
                                          <p:val>
                                            <p:fltVal val="0.000000"/>
                                          </p:val>
                                        </p:tav>
                                        <p:tav tm="100000">
                                          <p:val>
                                            <p:strVal val="#ppt_w"/>
                                          </p:val>
                                        </p:tav>
                                      </p:tavLst>
                                    </p:anim>
                                    <p:anim calcmode="lin" valueType="num">
                                      <p:cBhvr>
                                        <p:cTn id="20" dur="500" fill="hold"/>
                                        <p:tgtEl>
                                          <p:spTgt spid="2225163"/>
                                        </p:tgtEl>
                                        <p:attrNameLst>
                                          <p:attrName>ppt_h</p:attrName>
                                        </p:attrNameLst>
                                      </p:cBhvr>
                                      <p:tavLst>
                                        <p:tav tm="0">
                                          <p:val>
                                            <p:strVal val="#ppt_h"/>
                                          </p:val>
                                        </p:tav>
                                        <p:tav tm="100000">
                                          <p:val>
                                            <p:strVal val="#ppt_h"/>
                                          </p:val>
                                        </p:tav>
                                      </p:tavLst>
                                    </p:anim>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225165"/>
                                        </p:tgtEl>
                                        <p:attrNameLst>
                                          <p:attrName>style.visibility</p:attrName>
                                        </p:attrNameLst>
                                      </p:cBhvr>
                                      <p:to>
                                        <p:strVal val="visible"/>
                                      </p:to>
                                    </p:set>
                                    <p:animEffect transition="in" filter="wipe(left)">
                                      <p:cBhvr>
                                        <p:cTn id="24" dur="500"/>
                                        <p:tgtEl>
                                          <p:spTgt spid="2225165"/>
                                        </p:tgtEl>
                                      </p:cBhvr>
                                    </p:animEffect>
                                  </p:childTnLst>
                                </p:cTn>
                              </p:par>
                            </p:childTnLst>
                          </p:cTn>
                        </p:par>
                        <p:par>
                          <p:cTn id="25" fill="hold">
                            <p:stCondLst>
                              <p:cond delay="1000"/>
                            </p:stCondLst>
                            <p:childTnLst>
                              <p:par>
                                <p:cTn id="26" presetID="17" presetClass="entr" presetSubtype="8" fill="hold" nodeType="afterEffect">
                                  <p:stCondLst>
                                    <p:cond delay="0"/>
                                  </p:stCondLst>
                                  <p:childTnLst>
                                    <p:set>
                                      <p:cBhvr>
                                        <p:cTn id="27" dur="1" fill="hold">
                                          <p:stCondLst>
                                            <p:cond delay="0"/>
                                          </p:stCondLst>
                                        </p:cTn>
                                        <p:tgtEl>
                                          <p:spTgt spid="2225166"/>
                                        </p:tgtEl>
                                        <p:attrNameLst>
                                          <p:attrName>style.visibility</p:attrName>
                                        </p:attrNameLst>
                                      </p:cBhvr>
                                      <p:to>
                                        <p:strVal val="visible"/>
                                      </p:to>
                                    </p:set>
                                    <p:anim calcmode="lin" valueType="num">
                                      <p:cBhvr>
                                        <p:cTn id="28" dur="500" fill="hold"/>
                                        <p:tgtEl>
                                          <p:spTgt spid="2225166"/>
                                        </p:tgtEl>
                                        <p:attrNameLst>
                                          <p:attrName>ppt_x</p:attrName>
                                        </p:attrNameLst>
                                      </p:cBhvr>
                                      <p:tavLst>
                                        <p:tav tm="0">
                                          <p:val>
                                            <p:strVal val="#ppt_x-#ppt_w/2"/>
                                          </p:val>
                                        </p:tav>
                                        <p:tav tm="100000">
                                          <p:val>
                                            <p:strVal val="#ppt_x"/>
                                          </p:val>
                                        </p:tav>
                                      </p:tavLst>
                                    </p:anim>
                                    <p:anim calcmode="lin" valueType="num">
                                      <p:cBhvr>
                                        <p:cTn id="29" dur="500" fill="hold"/>
                                        <p:tgtEl>
                                          <p:spTgt spid="2225166"/>
                                        </p:tgtEl>
                                        <p:attrNameLst>
                                          <p:attrName>ppt_y</p:attrName>
                                        </p:attrNameLst>
                                      </p:cBhvr>
                                      <p:tavLst>
                                        <p:tav tm="0">
                                          <p:val>
                                            <p:strVal val="#ppt_y"/>
                                          </p:val>
                                        </p:tav>
                                        <p:tav tm="100000">
                                          <p:val>
                                            <p:strVal val="#ppt_y"/>
                                          </p:val>
                                        </p:tav>
                                      </p:tavLst>
                                    </p:anim>
                                    <p:anim calcmode="lin" valueType="num">
                                      <p:cBhvr>
                                        <p:cTn id="30" dur="500" fill="hold"/>
                                        <p:tgtEl>
                                          <p:spTgt spid="2225166"/>
                                        </p:tgtEl>
                                        <p:attrNameLst>
                                          <p:attrName>ppt_w</p:attrName>
                                        </p:attrNameLst>
                                      </p:cBhvr>
                                      <p:tavLst>
                                        <p:tav tm="0">
                                          <p:val>
                                            <p:fltVal val="0.000000"/>
                                          </p:val>
                                        </p:tav>
                                        <p:tav tm="100000">
                                          <p:val>
                                            <p:strVal val="#ppt_w"/>
                                          </p:val>
                                        </p:tav>
                                      </p:tavLst>
                                    </p:anim>
                                    <p:anim calcmode="lin" valueType="num">
                                      <p:cBhvr>
                                        <p:cTn id="31" dur="500" fill="hold"/>
                                        <p:tgtEl>
                                          <p:spTgt spid="2225166"/>
                                        </p:tgtEl>
                                        <p:attrNameLst>
                                          <p:attrName>ppt_h</p:attrName>
                                        </p:attrNameLst>
                                      </p:cBhvr>
                                      <p:tavLst>
                                        <p:tav tm="0">
                                          <p:val>
                                            <p:strVal val="#ppt_h"/>
                                          </p:val>
                                        </p:tav>
                                        <p:tav tm="100000">
                                          <p:val>
                                            <p:strVal val="#ppt_h"/>
                                          </p:val>
                                        </p:tav>
                                      </p:tavLst>
                                    </p:anim>
                                  </p:childTnLst>
                                </p:cTn>
                              </p:par>
                            </p:childTnLst>
                          </p:cTn>
                        </p:par>
                        <p:par>
                          <p:cTn id="32" fill="hold">
                            <p:stCondLst>
                              <p:cond delay="1500"/>
                            </p:stCondLst>
                            <p:childTnLst>
                              <p:par>
                                <p:cTn id="33" presetID="22" presetClass="entr" presetSubtype="8" fill="hold" nodeType="afterEffect">
                                  <p:stCondLst>
                                    <p:cond delay="0"/>
                                  </p:stCondLst>
                                  <p:childTnLst>
                                    <p:set>
                                      <p:cBhvr>
                                        <p:cTn id="34" dur="1" fill="hold">
                                          <p:stCondLst>
                                            <p:cond delay="0"/>
                                          </p:stCondLst>
                                        </p:cTn>
                                        <p:tgtEl>
                                          <p:spTgt spid="2225168"/>
                                        </p:tgtEl>
                                        <p:attrNameLst>
                                          <p:attrName>style.visibility</p:attrName>
                                        </p:attrNameLst>
                                      </p:cBhvr>
                                      <p:to>
                                        <p:strVal val="visible"/>
                                      </p:to>
                                    </p:set>
                                    <p:animEffect transition="in" filter="wipe(left)">
                                      <p:cBhvr>
                                        <p:cTn id="35" dur="500"/>
                                        <p:tgtEl>
                                          <p:spTgt spid="2225168"/>
                                        </p:tgtEl>
                                      </p:cBhvr>
                                    </p:animEffect>
                                  </p:childTnLst>
                                </p:cTn>
                              </p:par>
                            </p:childTnLst>
                          </p:cTn>
                        </p:par>
                        <p:par>
                          <p:cTn id="36" fill="hold">
                            <p:stCondLst>
                              <p:cond delay="2000"/>
                            </p:stCondLst>
                            <p:childTnLst>
                              <p:par>
                                <p:cTn id="37" presetID="17" presetClass="entr" presetSubtype="8" fill="hold" nodeType="afterEffect">
                                  <p:stCondLst>
                                    <p:cond delay="0"/>
                                  </p:stCondLst>
                                  <p:childTnLst>
                                    <p:set>
                                      <p:cBhvr>
                                        <p:cTn id="38" dur="1" fill="hold">
                                          <p:stCondLst>
                                            <p:cond delay="0"/>
                                          </p:stCondLst>
                                        </p:cTn>
                                        <p:tgtEl>
                                          <p:spTgt spid="2225170"/>
                                        </p:tgtEl>
                                        <p:attrNameLst>
                                          <p:attrName>style.visibility</p:attrName>
                                        </p:attrNameLst>
                                      </p:cBhvr>
                                      <p:to>
                                        <p:strVal val="visible"/>
                                      </p:to>
                                    </p:set>
                                    <p:anim calcmode="lin" valueType="num">
                                      <p:cBhvr>
                                        <p:cTn id="39" dur="500" fill="hold"/>
                                        <p:tgtEl>
                                          <p:spTgt spid="2225170"/>
                                        </p:tgtEl>
                                        <p:attrNameLst>
                                          <p:attrName>ppt_x</p:attrName>
                                        </p:attrNameLst>
                                      </p:cBhvr>
                                      <p:tavLst>
                                        <p:tav tm="0">
                                          <p:val>
                                            <p:strVal val="#ppt_x-#ppt_w/2"/>
                                          </p:val>
                                        </p:tav>
                                        <p:tav tm="100000">
                                          <p:val>
                                            <p:strVal val="#ppt_x"/>
                                          </p:val>
                                        </p:tav>
                                      </p:tavLst>
                                    </p:anim>
                                    <p:anim calcmode="lin" valueType="num">
                                      <p:cBhvr>
                                        <p:cTn id="40" dur="500" fill="hold"/>
                                        <p:tgtEl>
                                          <p:spTgt spid="2225170"/>
                                        </p:tgtEl>
                                        <p:attrNameLst>
                                          <p:attrName>ppt_y</p:attrName>
                                        </p:attrNameLst>
                                      </p:cBhvr>
                                      <p:tavLst>
                                        <p:tav tm="0">
                                          <p:val>
                                            <p:strVal val="#ppt_y"/>
                                          </p:val>
                                        </p:tav>
                                        <p:tav tm="100000">
                                          <p:val>
                                            <p:strVal val="#ppt_y"/>
                                          </p:val>
                                        </p:tav>
                                      </p:tavLst>
                                    </p:anim>
                                    <p:anim calcmode="lin" valueType="num">
                                      <p:cBhvr>
                                        <p:cTn id="41" dur="500" fill="hold"/>
                                        <p:tgtEl>
                                          <p:spTgt spid="2225170"/>
                                        </p:tgtEl>
                                        <p:attrNameLst>
                                          <p:attrName>ppt_w</p:attrName>
                                        </p:attrNameLst>
                                      </p:cBhvr>
                                      <p:tavLst>
                                        <p:tav tm="0">
                                          <p:val>
                                            <p:fltVal val="0.000000"/>
                                          </p:val>
                                        </p:tav>
                                        <p:tav tm="100000">
                                          <p:val>
                                            <p:strVal val="#ppt_w"/>
                                          </p:val>
                                        </p:tav>
                                      </p:tavLst>
                                    </p:anim>
                                    <p:anim calcmode="lin" valueType="num">
                                      <p:cBhvr>
                                        <p:cTn id="42" dur="500" fill="hold"/>
                                        <p:tgtEl>
                                          <p:spTgt spid="2225170"/>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225212"/>
                                        </p:tgtEl>
                                        <p:attrNameLst>
                                          <p:attrName>style.visibility</p:attrName>
                                        </p:attrNameLst>
                                      </p:cBhvr>
                                      <p:to>
                                        <p:strVal val="visible"/>
                                      </p:to>
                                    </p:set>
                                    <p:animEffect transition="in" filter="dissolve">
                                      <p:cBhvr>
                                        <p:cTn id="47" dur="500"/>
                                        <p:tgtEl>
                                          <p:spTgt spid="2225212"/>
                                        </p:tgtEl>
                                      </p:cBhvr>
                                    </p:animEffect>
                                  </p:childTnLst>
                                </p:cTn>
                              </p:par>
                            </p:childTnLst>
                          </p:cTn>
                        </p:par>
                      </p:childTnLst>
                    </p:cTn>
                  </p:par>
                  <p:par>
                    <p:cTn id="48" fill="hold">
                      <p:stCondLst>
                        <p:cond delay="indefinite"/>
                      </p:stCondLst>
                      <p:childTnLst>
                        <p:par>
                          <p:cTn id="49" fill="hold">
                            <p:stCondLst>
                              <p:cond delay="0"/>
                            </p:stCondLst>
                            <p:childTnLst>
                              <p:par>
                                <p:cTn id="50" presetID="17" presetClass="entr" presetSubtype="8" fill="hold" nodeType="clickEffect">
                                  <p:stCondLst>
                                    <p:cond delay="0"/>
                                  </p:stCondLst>
                                  <p:childTnLst>
                                    <p:set>
                                      <p:cBhvr>
                                        <p:cTn id="51" dur="1" fill="hold">
                                          <p:stCondLst>
                                            <p:cond delay="0"/>
                                          </p:stCondLst>
                                        </p:cTn>
                                        <p:tgtEl>
                                          <p:spTgt spid="2225171"/>
                                        </p:tgtEl>
                                        <p:attrNameLst>
                                          <p:attrName>style.visibility</p:attrName>
                                        </p:attrNameLst>
                                      </p:cBhvr>
                                      <p:to>
                                        <p:strVal val="visible"/>
                                      </p:to>
                                    </p:set>
                                    <p:anim calcmode="lin" valueType="num">
                                      <p:cBhvr>
                                        <p:cTn id="52" dur="500" fill="hold"/>
                                        <p:tgtEl>
                                          <p:spTgt spid="2225171"/>
                                        </p:tgtEl>
                                        <p:attrNameLst>
                                          <p:attrName>ppt_x</p:attrName>
                                        </p:attrNameLst>
                                      </p:cBhvr>
                                      <p:tavLst>
                                        <p:tav tm="0">
                                          <p:val>
                                            <p:strVal val="#ppt_x-#ppt_w/2"/>
                                          </p:val>
                                        </p:tav>
                                        <p:tav tm="100000">
                                          <p:val>
                                            <p:strVal val="#ppt_x"/>
                                          </p:val>
                                        </p:tav>
                                      </p:tavLst>
                                    </p:anim>
                                    <p:anim calcmode="lin" valueType="num">
                                      <p:cBhvr>
                                        <p:cTn id="53" dur="500" fill="hold"/>
                                        <p:tgtEl>
                                          <p:spTgt spid="2225171"/>
                                        </p:tgtEl>
                                        <p:attrNameLst>
                                          <p:attrName>ppt_y</p:attrName>
                                        </p:attrNameLst>
                                      </p:cBhvr>
                                      <p:tavLst>
                                        <p:tav tm="0">
                                          <p:val>
                                            <p:strVal val="#ppt_y"/>
                                          </p:val>
                                        </p:tav>
                                        <p:tav tm="100000">
                                          <p:val>
                                            <p:strVal val="#ppt_y"/>
                                          </p:val>
                                        </p:tav>
                                      </p:tavLst>
                                    </p:anim>
                                    <p:anim calcmode="lin" valueType="num">
                                      <p:cBhvr>
                                        <p:cTn id="54" dur="500" fill="hold"/>
                                        <p:tgtEl>
                                          <p:spTgt spid="2225171"/>
                                        </p:tgtEl>
                                        <p:attrNameLst>
                                          <p:attrName>ppt_w</p:attrName>
                                        </p:attrNameLst>
                                      </p:cBhvr>
                                      <p:tavLst>
                                        <p:tav tm="0">
                                          <p:val>
                                            <p:fltVal val="0.000000"/>
                                          </p:val>
                                        </p:tav>
                                        <p:tav tm="100000">
                                          <p:val>
                                            <p:strVal val="#ppt_w"/>
                                          </p:val>
                                        </p:tav>
                                      </p:tavLst>
                                    </p:anim>
                                    <p:anim calcmode="lin" valueType="num">
                                      <p:cBhvr>
                                        <p:cTn id="55" dur="500" fill="hold"/>
                                        <p:tgtEl>
                                          <p:spTgt spid="2225171"/>
                                        </p:tgtEl>
                                        <p:attrNameLst>
                                          <p:attrName>ppt_h</p:attrName>
                                        </p:attrNameLst>
                                      </p:cBhvr>
                                      <p:tavLst>
                                        <p:tav tm="0">
                                          <p:val>
                                            <p:strVal val="#ppt_h"/>
                                          </p:val>
                                        </p:tav>
                                        <p:tav tm="100000">
                                          <p:val>
                                            <p:strVal val="#ppt_h"/>
                                          </p:val>
                                        </p:tav>
                                      </p:tavLst>
                                    </p:anim>
                                  </p:childTnLst>
                                </p:cTn>
                              </p:par>
                            </p:childTnLst>
                          </p:cTn>
                        </p:par>
                        <p:par>
                          <p:cTn id="56" fill="hold">
                            <p:stCondLst>
                              <p:cond delay="500"/>
                            </p:stCondLst>
                            <p:childTnLst>
                              <p:par>
                                <p:cTn id="57" presetID="22" presetClass="entr" presetSubtype="8" fill="hold" nodeType="afterEffect">
                                  <p:stCondLst>
                                    <p:cond delay="0"/>
                                  </p:stCondLst>
                                  <p:childTnLst>
                                    <p:set>
                                      <p:cBhvr>
                                        <p:cTn id="58" dur="1" fill="hold">
                                          <p:stCondLst>
                                            <p:cond delay="0"/>
                                          </p:stCondLst>
                                        </p:cTn>
                                        <p:tgtEl>
                                          <p:spTgt spid="2225172"/>
                                        </p:tgtEl>
                                        <p:attrNameLst>
                                          <p:attrName>style.visibility</p:attrName>
                                        </p:attrNameLst>
                                      </p:cBhvr>
                                      <p:to>
                                        <p:strVal val="visible"/>
                                      </p:to>
                                    </p:set>
                                    <p:animEffect transition="in" filter="wipe(left)">
                                      <p:cBhvr>
                                        <p:cTn id="59" dur="500"/>
                                        <p:tgtEl>
                                          <p:spTgt spid="2225172"/>
                                        </p:tgtEl>
                                      </p:cBhvr>
                                    </p:animEffect>
                                  </p:childTnLst>
                                </p:cTn>
                              </p:par>
                            </p:childTnLst>
                          </p:cTn>
                        </p:par>
                        <p:par>
                          <p:cTn id="60" fill="hold">
                            <p:stCondLst>
                              <p:cond delay="1000"/>
                            </p:stCondLst>
                            <p:childTnLst>
                              <p:par>
                                <p:cTn id="61" presetID="17" presetClass="entr" presetSubtype="8" fill="hold" nodeType="afterEffect">
                                  <p:stCondLst>
                                    <p:cond delay="0"/>
                                  </p:stCondLst>
                                  <p:childTnLst>
                                    <p:set>
                                      <p:cBhvr>
                                        <p:cTn id="62" dur="1" fill="hold">
                                          <p:stCondLst>
                                            <p:cond delay="0"/>
                                          </p:stCondLst>
                                        </p:cTn>
                                        <p:tgtEl>
                                          <p:spTgt spid="2225173"/>
                                        </p:tgtEl>
                                        <p:attrNameLst>
                                          <p:attrName>style.visibility</p:attrName>
                                        </p:attrNameLst>
                                      </p:cBhvr>
                                      <p:to>
                                        <p:strVal val="visible"/>
                                      </p:to>
                                    </p:set>
                                    <p:anim calcmode="lin" valueType="num">
                                      <p:cBhvr>
                                        <p:cTn id="63" dur="500" fill="hold"/>
                                        <p:tgtEl>
                                          <p:spTgt spid="2225173"/>
                                        </p:tgtEl>
                                        <p:attrNameLst>
                                          <p:attrName>ppt_x</p:attrName>
                                        </p:attrNameLst>
                                      </p:cBhvr>
                                      <p:tavLst>
                                        <p:tav tm="0">
                                          <p:val>
                                            <p:strVal val="#ppt_x-#ppt_w/2"/>
                                          </p:val>
                                        </p:tav>
                                        <p:tav tm="100000">
                                          <p:val>
                                            <p:strVal val="#ppt_x"/>
                                          </p:val>
                                        </p:tav>
                                      </p:tavLst>
                                    </p:anim>
                                    <p:anim calcmode="lin" valueType="num">
                                      <p:cBhvr>
                                        <p:cTn id="64" dur="500" fill="hold"/>
                                        <p:tgtEl>
                                          <p:spTgt spid="2225173"/>
                                        </p:tgtEl>
                                        <p:attrNameLst>
                                          <p:attrName>ppt_y</p:attrName>
                                        </p:attrNameLst>
                                      </p:cBhvr>
                                      <p:tavLst>
                                        <p:tav tm="0">
                                          <p:val>
                                            <p:strVal val="#ppt_y"/>
                                          </p:val>
                                        </p:tav>
                                        <p:tav tm="100000">
                                          <p:val>
                                            <p:strVal val="#ppt_y"/>
                                          </p:val>
                                        </p:tav>
                                      </p:tavLst>
                                    </p:anim>
                                    <p:anim calcmode="lin" valueType="num">
                                      <p:cBhvr>
                                        <p:cTn id="65" dur="500" fill="hold"/>
                                        <p:tgtEl>
                                          <p:spTgt spid="2225173"/>
                                        </p:tgtEl>
                                        <p:attrNameLst>
                                          <p:attrName>ppt_w</p:attrName>
                                        </p:attrNameLst>
                                      </p:cBhvr>
                                      <p:tavLst>
                                        <p:tav tm="0">
                                          <p:val>
                                            <p:fltVal val="0.000000"/>
                                          </p:val>
                                        </p:tav>
                                        <p:tav tm="100000">
                                          <p:val>
                                            <p:strVal val="#ppt_w"/>
                                          </p:val>
                                        </p:tav>
                                      </p:tavLst>
                                    </p:anim>
                                    <p:anim calcmode="lin" valueType="num">
                                      <p:cBhvr>
                                        <p:cTn id="66" dur="500" fill="hold"/>
                                        <p:tgtEl>
                                          <p:spTgt spid="2225173"/>
                                        </p:tgtEl>
                                        <p:attrNameLst>
                                          <p:attrName>ppt_h</p:attrName>
                                        </p:attrNameLst>
                                      </p:cBhvr>
                                      <p:tavLst>
                                        <p:tav tm="0">
                                          <p:val>
                                            <p:strVal val="#ppt_h"/>
                                          </p:val>
                                        </p:tav>
                                        <p:tav tm="100000">
                                          <p:val>
                                            <p:strVal val="#ppt_h"/>
                                          </p:val>
                                        </p:tav>
                                      </p:tavLst>
                                    </p:anim>
                                  </p:childTnLst>
                                </p:cTn>
                              </p:par>
                            </p:childTnLst>
                          </p:cTn>
                        </p:par>
                        <p:par>
                          <p:cTn id="67" fill="hold">
                            <p:stCondLst>
                              <p:cond delay="1500"/>
                            </p:stCondLst>
                            <p:childTnLst>
                              <p:par>
                                <p:cTn id="68" presetID="22" presetClass="entr" presetSubtype="8" fill="hold" nodeType="afterEffect">
                                  <p:stCondLst>
                                    <p:cond delay="0"/>
                                  </p:stCondLst>
                                  <p:childTnLst>
                                    <p:set>
                                      <p:cBhvr>
                                        <p:cTn id="69" dur="1" fill="hold">
                                          <p:stCondLst>
                                            <p:cond delay="0"/>
                                          </p:stCondLst>
                                        </p:cTn>
                                        <p:tgtEl>
                                          <p:spTgt spid="2225174"/>
                                        </p:tgtEl>
                                        <p:attrNameLst>
                                          <p:attrName>style.visibility</p:attrName>
                                        </p:attrNameLst>
                                      </p:cBhvr>
                                      <p:to>
                                        <p:strVal val="visible"/>
                                      </p:to>
                                    </p:set>
                                    <p:animEffect transition="in" filter="wipe(left)">
                                      <p:cBhvr>
                                        <p:cTn id="70" dur="500"/>
                                        <p:tgtEl>
                                          <p:spTgt spid="2225174"/>
                                        </p:tgtEl>
                                      </p:cBhvr>
                                    </p:animEffect>
                                  </p:childTnLst>
                                </p:cTn>
                              </p:par>
                            </p:childTnLst>
                          </p:cTn>
                        </p:par>
                        <p:par>
                          <p:cTn id="71" fill="hold">
                            <p:stCondLst>
                              <p:cond delay="2000"/>
                            </p:stCondLst>
                            <p:childTnLst>
                              <p:par>
                                <p:cTn id="72" presetID="17" presetClass="entr" presetSubtype="8" fill="hold" nodeType="afterEffect">
                                  <p:stCondLst>
                                    <p:cond delay="0"/>
                                  </p:stCondLst>
                                  <p:childTnLst>
                                    <p:set>
                                      <p:cBhvr>
                                        <p:cTn id="73" dur="1" fill="hold">
                                          <p:stCondLst>
                                            <p:cond delay="0"/>
                                          </p:stCondLst>
                                        </p:cTn>
                                        <p:tgtEl>
                                          <p:spTgt spid="2225175"/>
                                        </p:tgtEl>
                                        <p:attrNameLst>
                                          <p:attrName>style.visibility</p:attrName>
                                        </p:attrNameLst>
                                      </p:cBhvr>
                                      <p:to>
                                        <p:strVal val="visible"/>
                                      </p:to>
                                    </p:set>
                                    <p:anim calcmode="lin" valueType="num">
                                      <p:cBhvr>
                                        <p:cTn id="74" dur="500" fill="hold"/>
                                        <p:tgtEl>
                                          <p:spTgt spid="2225175"/>
                                        </p:tgtEl>
                                        <p:attrNameLst>
                                          <p:attrName>ppt_x</p:attrName>
                                        </p:attrNameLst>
                                      </p:cBhvr>
                                      <p:tavLst>
                                        <p:tav tm="0">
                                          <p:val>
                                            <p:strVal val="#ppt_x-#ppt_w/2"/>
                                          </p:val>
                                        </p:tav>
                                        <p:tav tm="100000">
                                          <p:val>
                                            <p:strVal val="#ppt_x"/>
                                          </p:val>
                                        </p:tav>
                                      </p:tavLst>
                                    </p:anim>
                                    <p:anim calcmode="lin" valueType="num">
                                      <p:cBhvr>
                                        <p:cTn id="75" dur="500" fill="hold"/>
                                        <p:tgtEl>
                                          <p:spTgt spid="2225175"/>
                                        </p:tgtEl>
                                        <p:attrNameLst>
                                          <p:attrName>ppt_y</p:attrName>
                                        </p:attrNameLst>
                                      </p:cBhvr>
                                      <p:tavLst>
                                        <p:tav tm="0">
                                          <p:val>
                                            <p:strVal val="#ppt_y"/>
                                          </p:val>
                                        </p:tav>
                                        <p:tav tm="100000">
                                          <p:val>
                                            <p:strVal val="#ppt_y"/>
                                          </p:val>
                                        </p:tav>
                                      </p:tavLst>
                                    </p:anim>
                                    <p:anim calcmode="lin" valueType="num">
                                      <p:cBhvr>
                                        <p:cTn id="76" dur="500" fill="hold"/>
                                        <p:tgtEl>
                                          <p:spTgt spid="2225175"/>
                                        </p:tgtEl>
                                        <p:attrNameLst>
                                          <p:attrName>ppt_w</p:attrName>
                                        </p:attrNameLst>
                                      </p:cBhvr>
                                      <p:tavLst>
                                        <p:tav tm="0">
                                          <p:val>
                                            <p:fltVal val="0.000000"/>
                                          </p:val>
                                        </p:tav>
                                        <p:tav tm="100000">
                                          <p:val>
                                            <p:strVal val="#ppt_w"/>
                                          </p:val>
                                        </p:tav>
                                      </p:tavLst>
                                    </p:anim>
                                    <p:anim calcmode="lin" valueType="num">
                                      <p:cBhvr>
                                        <p:cTn id="77" dur="500" fill="hold"/>
                                        <p:tgtEl>
                                          <p:spTgt spid="2225175"/>
                                        </p:tgtEl>
                                        <p:attrNameLst>
                                          <p:attrName>ppt_h</p:attrName>
                                        </p:attrNameLst>
                                      </p:cBhvr>
                                      <p:tavLst>
                                        <p:tav tm="0">
                                          <p:val>
                                            <p:strVal val="#ppt_h"/>
                                          </p:val>
                                        </p:tav>
                                        <p:tav tm="100000">
                                          <p:val>
                                            <p:strVal val="#ppt_h"/>
                                          </p:val>
                                        </p:tav>
                                      </p:tavLst>
                                    </p:anim>
                                  </p:childTnLst>
                                </p:cTn>
                              </p:par>
                            </p:childTnLst>
                          </p:cTn>
                        </p:par>
                        <p:par>
                          <p:cTn id="78" fill="hold">
                            <p:stCondLst>
                              <p:cond delay="2500"/>
                            </p:stCondLst>
                            <p:childTnLst>
                              <p:par>
                                <p:cTn id="79" presetID="9" presetClass="entr" presetSubtype="0" fill="hold" grpId="0" nodeType="afterEffect">
                                  <p:stCondLst>
                                    <p:cond delay="0"/>
                                  </p:stCondLst>
                                  <p:childTnLst>
                                    <p:set>
                                      <p:cBhvr>
                                        <p:cTn id="80" dur="1" fill="hold">
                                          <p:stCondLst>
                                            <p:cond delay="0"/>
                                          </p:stCondLst>
                                        </p:cTn>
                                        <p:tgtEl>
                                          <p:spTgt spid="2225205"/>
                                        </p:tgtEl>
                                        <p:attrNameLst>
                                          <p:attrName>style.visibility</p:attrName>
                                        </p:attrNameLst>
                                      </p:cBhvr>
                                      <p:to>
                                        <p:strVal val="visible"/>
                                      </p:to>
                                    </p:set>
                                    <p:animEffect transition="in" filter="dissolve">
                                      <p:cBhvr>
                                        <p:cTn id="81" dur="500"/>
                                        <p:tgtEl>
                                          <p:spTgt spid="2225205"/>
                                        </p:tgtEl>
                                      </p:cBhvr>
                                    </p:animEffect>
                                  </p:childTnLst>
                                </p:cTn>
                              </p:par>
                            </p:childTnLst>
                          </p:cTn>
                        </p:par>
                      </p:childTnLst>
                    </p:cTn>
                  </p:par>
                  <p:par>
                    <p:cTn id="82" fill="hold">
                      <p:stCondLst>
                        <p:cond delay="indefinite"/>
                      </p:stCondLst>
                      <p:childTnLst>
                        <p:par>
                          <p:cTn id="83" fill="hold">
                            <p:stCondLst>
                              <p:cond delay="0"/>
                            </p:stCondLst>
                            <p:childTnLst>
                              <p:par>
                                <p:cTn id="84" presetID="9" presetClass="entr" presetSubtype="0" fill="hold" grpId="0" nodeType="clickEffect">
                                  <p:stCondLst>
                                    <p:cond delay="0"/>
                                  </p:stCondLst>
                                  <p:childTnLst>
                                    <p:set>
                                      <p:cBhvr>
                                        <p:cTn id="85" dur="1" fill="hold">
                                          <p:stCondLst>
                                            <p:cond delay="0"/>
                                          </p:stCondLst>
                                        </p:cTn>
                                        <p:tgtEl>
                                          <p:spTgt spid="2225213"/>
                                        </p:tgtEl>
                                        <p:attrNameLst>
                                          <p:attrName>style.visibility</p:attrName>
                                        </p:attrNameLst>
                                      </p:cBhvr>
                                      <p:to>
                                        <p:strVal val="visible"/>
                                      </p:to>
                                    </p:set>
                                    <p:animEffect transition="in" filter="dissolve">
                                      <p:cBhvr>
                                        <p:cTn id="86" dur="500"/>
                                        <p:tgtEl>
                                          <p:spTgt spid="2225213"/>
                                        </p:tgtEl>
                                      </p:cBhvr>
                                    </p:animEffect>
                                  </p:childTnLst>
                                </p:cTn>
                              </p:par>
                            </p:childTnLst>
                          </p:cTn>
                        </p:par>
                      </p:childTnLst>
                    </p:cTn>
                  </p:par>
                  <p:par>
                    <p:cTn id="87" fill="hold">
                      <p:stCondLst>
                        <p:cond delay="indefinite"/>
                      </p:stCondLst>
                      <p:childTnLst>
                        <p:par>
                          <p:cTn id="88" fill="hold">
                            <p:stCondLst>
                              <p:cond delay="0"/>
                            </p:stCondLst>
                            <p:childTnLst>
                              <p:par>
                                <p:cTn id="89" presetID="17" presetClass="entr" presetSubtype="8" fill="hold" nodeType="clickEffect">
                                  <p:stCondLst>
                                    <p:cond delay="0"/>
                                  </p:stCondLst>
                                  <p:childTnLst>
                                    <p:set>
                                      <p:cBhvr>
                                        <p:cTn id="90" dur="1" fill="hold">
                                          <p:stCondLst>
                                            <p:cond delay="0"/>
                                          </p:stCondLst>
                                        </p:cTn>
                                        <p:tgtEl>
                                          <p:spTgt spid="2225176"/>
                                        </p:tgtEl>
                                        <p:attrNameLst>
                                          <p:attrName>style.visibility</p:attrName>
                                        </p:attrNameLst>
                                      </p:cBhvr>
                                      <p:to>
                                        <p:strVal val="visible"/>
                                      </p:to>
                                    </p:set>
                                    <p:anim calcmode="lin" valueType="num">
                                      <p:cBhvr>
                                        <p:cTn id="91" dur="500" fill="hold"/>
                                        <p:tgtEl>
                                          <p:spTgt spid="2225176"/>
                                        </p:tgtEl>
                                        <p:attrNameLst>
                                          <p:attrName>ppt_x</p:attrName>
                                        </p:attrNameLst>
                                      </p:cBhvr>
                                      <p:tavLst>
                                        <p:tav tm="0">
                                          <p:val>
                                            <p:strVal val="#ppt_x-#ppt_w/2"/>
                                          </p:val>
                                        </p:tav>
                                        <p:tav tm="100000">
                                          <p:val>
                                            <p:strVal val="#ppt_x"/>
                                          </p:val>
                                        </p:tav>
                                      </p:tavLst>
                                    </p:anim>
                                    <p:anim calcmode="lin" valueType="num">
                                      <p:cBhvr>
                                        <p:cTn id="92" dur="500" fill="hold"/>
                                        <p:tgtEl>
                                          <p:spTgt spid="2225176"/>
                                        </p:tgtEl>
                                        <p:attrNameLst>
                                          <p:attrName>ppt_y</p:attrName>
                                        </p:attrNameLst>
                                      </p:cBhvr>
                                      <p:tavLst>
                                        <p:tav tm="0">
                                          <p:val>
                                            <p:strVal val="#ppt_y"/>
                                          </p:val>
                                        </p:tav>
                                        <p:tav tm="100000">
                                          <p:val>
                                            <p:strVal val="#ppt_y"/>
                                          </p:val>
                                        </p:tav>
                                      </p:tavLst>
                                    </p:anim>
                                    <p:anim calcmode="lin" valueType="num">
                                      <p:cBhvr>
                                        <p:cTn id="93" dur="500" fill="hold"/>
                                        <p:tgtEl>
                                          <p:spTgt spid="2225176"/>
                                        </p:tgtEl>
                                        <p:attrNameLst>
                                          <p:attrName>ppt_w</p:attrName>
                                        </p:attrNameLst>
                                      </p:cBhvr>
                                      <p:tavLst>
                                        <p:tav tm="0">
                                          <p:val>
                                            <p:fltVal val="0.000000"/>
                                          </p:val>
                                        </p:tav>
                                        <p:tav tm="100000">
                                          <p:val>
                                            <p:strVal val="#ppt_w"/>
                                          </p:val>
                                        </p:tav>
                                      </p:tavLst>
                                    </p:anim>
                                    <p:anim calcmode="lin" valueType="num">
                                      <p:cBhvr>
                                        <p:cTn id="94" dur="500" fill="hold"/>
                                        <p:tgtEl>
                                          <p:spTgt spid="2225176"/>
                                        </p:tgtEl>
                                        <p:attrNameLst>
                                          <p:attrName>ppt_h</p:attrName>
                                        </p:attrNameLst>
                                      </p:cBhvr>
                                      <p:tavLst>
                                        <p:tav tm="0">
                                          <p:val>
                                            <p:strVal val="#ppt_h"/>
                                          </p:val>
                                        </p:tav>
                                        <p:tav tm="100000">
                                          <p:val>
                                            <p:strVal val="#ppt_h"/>
                                          </p:val>
                                        </p:tav>
                                      </p:tavLst>
                                    </p:anim>
                                  </p:childTnLst>
                                </p:cTn>
                              </p:par>
                            </p:childTnLst>
                          </p:cTn>
                        </p:par>
                        <p:par>
                          <p:cTn id="95" fill="hold">
                            <p:stCondLst>
                              <p:cond delay="500"/>
                            </p:stCondLst>
                            <p:childTnLst>
                              <p:par>
                                <p:cTn id="96" presetID="22" presetClass="entr" presetSubtype="8" fill="hold" nodeType="afterEffect">
                                  <p:stCondLst>
                                    <p:cond delay="0"/>
                                  </p:stCondLst>
                                  <p:childTnLst>
                                    <p:set>
                                      <p:cBhvr>
                                        <p:cTn id="97" dur="1" fill="hold">
                                          <p:stCondLst>
                                            <p:cond delay="0"/>
                                          </p:stCondLst>
                                        </p:cTn>
                                        <p:tgtEl>
                                          <p:spTgt spid="2225177"/>
                                        </p:tgtEl>
                                        <p:attrNameLst>
                                          <p:attrName>style.visibility</p:attrName>
                                        </p:attrNameLst>
                                      </p:cBhvr>
                                      <p:to>
                                        <p:strVal val="visible"/>
                                      </p:to>
                                    </p:set>
                                    <p:animEffect transition="in" filter="wipe(left)">
                                      <p:cBhvr>
                                        <p:cTn id="98" dur="500"/>
                                        <p:tgtEl>
                                          <p:spTgt spid="2225177"/>
                                        </p:tgtEl>
                                      </p:cBhvr>
                                    </p:animEffect>
                                  </p:childTnLst>
                                </p:cTn>
                              </p:par>
                            </p:childTnLst>
                          </p:cTn>
                        </p:par>
                        <p:par>
                          <p:cTn id="99" fill="hold">
                            <p:stCondLst>
                              <p:cond delay="1000"/>
                            </p:stCondLst>
                            <p:childTnLst>
                              <p:par>
                                <p:cTn id="100" presetID="17" presetClass="entr" presetSubtype="8" fill="hold" nodeType="afterEffect">
                                  <p:stCondLst>
                                    <p:cond delay="0"/>
                                  </p:stCondLst>
                                  <p:childTnLst>
                                    <p:set>
                                      <p:cBhvr>
                                        <p:cTn id="101" dur="1" fill="hold">
                                          <p:stCondLst>
                                            <p:cond delay="0"/>
                                          </p:stCondLst>
                                        </p:cTn>
                                        <p:tgtEl>
                                          <p:spTgt spid="2225226"/>
                                        </p:tgtEl>
                                        <p:attrNameLst>
                                          <p:attrName>style.visibility</p:attrName>
                                        </p:attrNameLst>
                                      </p:cBhvr>
                                      <p:to>
                                        <p:strVal val="visible"/>
                                      </p:to>
                                    </p:set>
                                    <p:anim calcmode="lin" valueType="num">
                                      <p:cBhvr>
                                        <p:cTn id="102" dur="500" fill="hold"/>
                                        <p:tgtEl>
                                          <p:spTgt spid="2225226"/>
                                        </p:tgtEl>
                                        <p:attrNameLst>
                                          <p:attrName>ppt_x</p:attrName>
                                        </p:attrNameLst>
                                      </p:cBhvr>
                                      <p:tavLst>
                                        <p:tav tm="0">
                                          <p:val>
                                            <p:strVal val="#ppt_x-#ppt_w/2"/>
                                          </p:val>
                                        </p:tav>
                                        <p:tav tm="100000">
                                          <p:val>
                                            <p:strVal val="#ppt_x"/>
                                          </p:val>
                                        </p:tav>
                                      </p:tavLst>
                                    </p:anim>
                                    <p:anim calcmode="lin" valueType="num">
                                      <p:cBhvr>
                                        <p:cTn id="103" dur="500" fill="hold"/>
                                        <p:tgtEl>
                                          <p:spTgt spid="2225226"/>
                                        </p:tgtEl>
                                        <p:attrNameLst>
                                          <p:attrName>ppt_y</p:attrName>
                                        </p:attrNameLst>
                                      </p:cBhvr>
                                      <p:tavLst>
                                        <p:tav tm="0">
                                          <p:val>
                                            <p:strVal val="#ppt_y"/>
                                          </p:val>
                                        </p:tav>
                                        <p:tav tm="100000">
                                          <p:val>
                                            <p:strVal val="#ppt_y"/>
                                          </p:val>
                                        </p:tav>
                                      </p:tavLst>
                                    </p:anim>
                                    <p:anim calcmode="lin" valueType="num">
                                      <p:cBhvr>
                                        <p:cTn id="104" dur="500" fill="hold"/>
                                        <p:tgtEl>
                                          <p:spTgt spid="2225226"/>
                                        </p:tgtEl>
                                        <p:attrNameLst>
                                          <p:attrName>ppt_w</p:attrName>
                                        </p:attrNameLst>
                                      </p:cBhvr>
                                      <p:tavLst>
                                        <p:tav tm="0">
                                          <p:val>
                                            <p:fltVal val="0.000000"/>
                                          </p:val>
                                        </p:tav>
                                        <p:tav tm="100000">
                                          <p:val>
                                            <p:strVal val="#ppt_w"/>
                                          </p:val>
                                        </p:tav>
                                      </p:tavLst>
                                    </p:anim>
                                    <p:anim calcmode="lin" valueType="num">
                                      <p:cBhvr>
                                        <p:cTn id="105" dur="500" fill="hold"/>
                                        <p:tgtEl>
                                          <p:spTgt spid="2225226"/>
                                        </p:tgtEl>
                                        <p:attrNameLst>
                                          <p:attrName>ppt_h</p:attrName>
                                        </p:attrNameLst>
                                      </p:cBhvr>
                                      <p:tavLst>
                                        <p:tav tm="0">
                                          <p:val>
                                            <p:strVal val="#ppt_h"/>
                                          </p:val>
                                        </p:tav>
                                        <p:tav tm="100000">
                                          <p:val>
                                            <p:strVal val="#ppt_h"/>
                                          </p:val>
                                        </p:tav>
                                      </p:tavLst>
                                    </p:anim>
                                  </p:childTnLst>
                                </p:cTn>
                              </p:par>
                            </p:childTnLst>
                          </p:cTn>
                        </p:par>
                        <p:par>
                          <p:cTn id="106" fill="hold">
                            <p:stCondLst>
                              <p:cond delay="1500"/>
                            </p:stCondLst>
                            <p:childTnLst>
                              <p:par>
                                <p:cTn id="107" presetID="22" presetClass="entr" presetSubtype="8" fill="hold" nodeType="afterEffect">
                                  <p:stCondLst>
                                    <p:cond delay="0"/>
                                  </p:stCondLst>
                                  <p:childTnLst>
                                    <p:set>
                                      <p:cBhvr>
                                        <p:cTn id="108" dur="1" fill="hold">
                                          <p:stCondLst>
                                            <p:cond delay="0"/>
                                          </p:stCondLst>
                                        </p:cTn>
                                        <p:tgtEl>
                                          <p:spTgt spid="2225179"/>
                                        </p:tgtEl>
                                        <p:attrNameLst>
                                          <p:attrName>style.visibility</p:attrName>
                                        </p:attrNameLst>
                                      </p:cBhvr>
                                      <p:to>
                                        <p:strVal val="visible"/>
                                      </p:to>
                                    </p:set>
                                    <p:animEffect transition="in" filter="wipe(left)">
                                      <p:cBhvr>
                                        <p:cTn id="109" dur="500"/>
                                        <p:tgtEl>
                                          <p:spTgt spid="2225179"/>
                                        </p:tgtEl>
                                      </p:cBhvr>
                                    </p:animEffect>
                                  </p:childTnLst>
                                </p:cTn>
                              </p:par>
                            </p:childTnLst>
                          </p:cTn>
                        </p:par>
                        <p:par>
                          <p:cTn id="110" fill="hold">
                            <p:stCondLst>
                              <p:cond delay="2000"/>
                            </p:stCondLst>
                            <p:childTnLst>
                              <p:par>
                                <p:cTn id="111" presetID="17" presetClass="entr" presetSubtype="8" fill="hold" nodeType="afterEffect">
                                  <p:stCondLst>
                                    <p:cond delay="0"/>
                                  </p:stCondLst>
                                  <p:childTnLst>
                                    <p:set>
                                      <p:cBhvr>
                                        <p:cTn id="112" dur="1" fill="hold">
                                          <p:stCondLst>
                                            <p:cond delay="0"/>
                                          </p:stCondLst>
                                        </p:cTn>
                                        <p:tgtEl>
                                          <p:spTgt spid="2225180"/>
                                        </p:tgtEl>
                                        <p:attrNameLst>
                                          <p:attrName>style.visibility</p:attrName>
                                        </p:attrNameLst>
                                      </p:cBhvr>
                                      <p:to>
                                        <p:strVal val="visible"/>
                                      </p:to>
                                    </p:set>
                                    <p:anim calcmode="lin" valueType="num">
                                      <p:cBhvr>
                                        <p:cTn id="113" dur="500" fill="hold"/>
                                        <p:tgtEl>
                                          <p:spTgt spid="2225180"/>
                                        </p:tgtEl>
                                        <p:attrNameLst>
                                          <p:attrName>ppt_x</p:attrName>
                                        </p:attrNameLst>
                                      </p:cBhvr>
                                      <p:tavLst>
                                        <p:tav tm="0">
                                          <p:val>
                                            <p:strVal val="#ppt_x-#ppt_w/2"/>
                                          </p:val>
                                        </p:tav>
                                        <p:tav tm="100000">
                                          <p:val>
                                            <p:strVal val="#ppt_x"/>
                                          </p:val>
                                        </p:tav>
                                      </p:tavLst>
                                    </p:anim>
                                    <p:anim calcmode="lin" valueType="num">
                                      <p:cBhvr>
                                        <p:cTn id="114" dur="500" fill="hold"/>
                                        <p:tgtEl>
                                          <p:spTgt spid="2225180"/>
                                        </p:tgtEl>
                                        <p:attrNameLst>
                                          <p:attrName>ppt_y</p:attrName>
                                        </p:attrNameLst>
                                      </p:cBhvr>
                                      <p:tavLst>
                                        <p:tav tm="0">
                                          <p:val>
                                            <p:strVal val="#ppt_y"/>
                                          </p:val>
                                        </p:tav>
                                        <p:tav tm="100000">
                                          <p:val>
                                            <p:strVal val="#ppt_y"/>
                                          </p:val>
                                        </p:tav>
                                      </p:tavLst>
                                    </p:anim>
                                    <p:anim calcmode="lin" valueType="num">
                                      <p:cBhvr>
                                        <p:cTn id="115" dur="500" fill="hold"/>
                                        <p:tgtEl>
                                          <p:spTgt spid="2225180"/>
                                        </p:tgtEl>
                                        <p:attrNameLst>
                                          <p:attrName>ppt_w</p:attrName>
                                        </p:attrNameLst>
                                      </p:cBhvr>
                                      <p:tavLst>
                                        <p:tav tm="0">
                                          <p:val>
                                            <p:fltVal val="0.000000"/>
                                          </p:val>
                                        </p:tav>
                                        <p:tav tm="100000">
                                          <p:val>
                                            <p:strVal val="#ppt_w"/>
                                          </p:val>
                                        </p:tav>
                                      </p:tavLst>
                                    </p:anim>
                                    <p:anim calcmode="lin" valueType="num">
                                      <p:cBhvr>
                                        <p:cTn id="116" dur="500" fill="hold"/>
                                        <p:tgtEl>
                                          <p:spTgt spid="2225180"/>
                                        </p:tgtEl>
                                        <p:attrNameLst>
                                          <p:attrName>ppt_h</p:attrName>
                                        </p:attrNameLst>
                                      </p:cBhvr>
                                      <p:tavLst>
                                        <p:tav tm="0">
                                          <p:val>
                                            <p:strVal val="#ppt_h"/>
                                          </p:val>
                                        </p:tav>
                                        <p:tav tm="100000">
                                          <p:val>
                                            <p:strVal val="#ppt_h"/>
                                          </p:val>
                                        </p:tav>
                                      </p:tavLst>
                                    </p:anim>
                                  </p:childTnLst>
                                </p:cTn>
                              </p:par>
                            </p:childTnLst>
                          </p:cTn>
                        </p:par>
                        <p:par>
                          <p:cTn id="117" fill="hold">
                            <p:stCondLst>
                              <p:cond delay="2500"/>
                            </p:stCondLst>
                            <p:childTnLst>
                              <p:par>
                                <p:cTn id="118" presetID="9" presetClass="entr" presetSubtype="0" fill="hold" grpId="0" nodeType="afterEffect">
                                  <p:stCondLst>
                                    <p:cond delay="0"/>
                                  </p:stCondLst>
                                  <p:childTnLst>
                                    <p:set>
                                      <p:cBhvr>
                                        <p:cTn id="119" dur="1" fill="hold">
                                          <p:stCondLst>
                                            <p:cond delay="0"/>
                                          </p:stCondLst>
                                        </p:cTn>
                                        <p:tgtEl>
                                          <p:spTgt spid="2225206"/>
                                        </p:tgtEl>
                                        <p:attrNameLst>
                                          <p:attrName>style.visibility</p:attrName>
                                        </p:attrNameLst>
                                      </p:cBhvr>
                                      <p:to>
                                        <p:strVal val="visible"/>
                                      </p:to>
                                    </p:set>
                                    <p:animEffect transition="in" filter="dissolve">
                                      <p:cBhvr>
                                        <p:cTn id="120" dur="500"/>
                                        <p:tgtEl>
                                          <p:spTgt spid="2225206"/>
                                        </p:tgtEl>
                                      </p:cBhvr>
                                    </p:animEffect>
                                  </p:childTnLst>
                                </p:cTn>
                              </p:par>
                            </p:childTnLst>
                          </p:cTn>
                        </p:par>
                      </p:childTnLst>
                    </p:cTn>
                  </p:par>
                  <p:par>
                    <p:cTn id="121" fill="hold">
                      <p:stCondLst>
                        <p:cond delay="indefinite"/>
                      </p:stCondLst>
                      <p:childTnLst>
                        <p:par>
                          <p:cTn id="122" fill="hold">
                            <p:stCondLst>
                              <p:cond delay="0"/>
                            </p:stCondLst>
                            <p:childTnLst>
                              <p:par>
                                <p:cTn id="123" presetID="9" presetClass="entr" presetSubtype="0" fill="hold" grpId="0" nodeType="clickEffect">
                                  <p:stCondLst>
                                    <p:cond delay="0"/>
                                  </p:stCondLst>
                                  <p:childTnLst>
                                    <p:set>
                                      <p:cBhvr>
                                        <p:cTn id="124" dur="1" fill="hold">
                                          <p:stCondLst>
                                            <p:cond delay="0"/>
                                          </p:stCondLst>
                                        </p:cTn>
                                        <p:tgtEl>
                                          <p:spTgt spid="2225214"/>
                                        </p:tgtEl>
                                        <p:attrNameLst>
                                          <p:attrName>style.visibility</p:attrName>
                                        </p:attrNameLst>
                                      </p:cBhvr>
                                      <p:to>
                                        <p:strVal val="visible"/>
                                      </p:to>
                                    </p:set>
                                    <p:animEffect transition="in" filter="dissolve">
                                      <p:cBhvr>
                                        <p:cTn id="125" dur="500"/>
                                        <p:tgtEl>
                                          <p:spTgt spid="2225214"/>
                                        </p:tgtEl>
                                      </p:cBhvr>
                                    </p:animEffect>
                                  </p:childTnLst>
                                </p:cTn>
                              </p:par>
                            </p:childTnLst>
                          </p:cTn>
                        </p:par>
                      </p:childTnLst>
                    </p:cTn>
                  </p:par>
                  <p:par>
                    <p:cTn id="126" fill="hold">
                      <p:stCondLst>
                        <p:cond delay="indefinite"/>
                      </p:stCondLst>
                      <p:childTnLst>
                        <p:par>
                          <p:cTn id="127" fill="hold">
                            <p:stCondLst>
                              <p:cond delay="0"/>
                            </p:stCondLst>
                            <p:childTnLst>
                              <p:par>
                                <p:cTn id="128" presetID="17" presetClass="entr" presetSubtype="1" fill="hold" nodeType="clickEffect">
                                  <p:stCondLst>
                                    <p:cond delay="0"/>
                                  </p:stCondLst>
                                  <p:childTnLst>
                                    <p:set>
                                      <p:cBhvr>
                                        <p:cTn id="129" dur="1" fill="hold">
                                          <p:stCondLst>
                                            <p:cond delay="0"/>
                                          </p:stCondLst>
                                        </p:cTn>
                                        <p:tgtEl>
                                          <p:spTgt spid="2225198"/>
                                        </p:tgtEl>
                                        <p:attrNameLst>
                                          <p:attrName>style.visibility</p:attrName>
                                        </p:attrNameLst>
                                      </p:cBhvr>
                                      <p:to>
                                        <p:strVal val="visible"/>
                                      </p:to>
                                    </p:set>
                                    <p:anim calcmode="lin" valueType="num">
                                      <p:cBhvr>
                                        <p:cTn id="130" dur="500" fill="hold"/>
                                        <p:tgtEl>
                                          <p:spTgt spid="2225198"/>
                                        </p:tgtEl>
                                        <p:attrNameLst>
                                          <p:attrName>ppt_x</p:attrName>
                                        </p:attrNameLst>
                                      </p:cBhvr>
                                      <p:tavLst>
                                        <p:tav tm="0">
                                          <p:val>
                                            <p:strVal val="#ppt_x"/>
                                          </p:val>
                                        </p:tav>
                                        <p:tav tm="100000">
                                          <p:val>
                                            <p:strVal val="#ppt_x"/>
                                          </p:val>
                                        </p:tav>
                                      </p:tavLst>
                                    </p:anim>
                                    <p:anim calcmode="lin" valueType="num">
                                      <p:cBhvr>
                                        <p:cTn id="131" dur="500" fill="hold"/>
                                        <p:tgtEl>
                                          <p:spTgt spid="2225198"/>
                                        </p:tgtEl>
                                        <p:attrNameLst>
                                          <p:attrName>ppt_y</p:attrName>
                                        </p:attrNameLst>
                                      </p:cBhvr>
                                      <p:tavLst>
                                        <p:tav tm="0">
                                          <p:val>
                                            <p:strVal val="#ppt_y-#ppt_h/2"/>
                                          </p:val>
                                        </p:tav>
                                        <p:tav tm="100000">
                                          <p:val>
                                            <p:strVal val="#ppt_y"/>
                                          </p:val>
                                        </p:tav>
                                      </p:tavLst>
                                    </p:anim>
                                    <p:anim calcmode="lin" valueType="num">
                                      <p:cBhvr>
                                        <p:cTn id="132" dur="500" fill="hold"/>
                                        <p:tgtEl>
                                          <p:spTgt spid="2225198"/>
                                        </p:tgtEl>
                                        <p:attrNameLst>
                                          <p:attrName>ppt_w</p:attrName>
                                        </p:attrNameLst>
                                      </p:cBhvr>
                                      <p:tavLst>
                                        <p:tav tm="0">
                                          <p:val>
                                            <p:strVal val="#ppt_w"/>
                                          </p:val>
                                        </p:tav>
                                        <p:tav tm="100000">
                                          <p:val>
                                            <p:strVal val="#ppt_w"/>
                                          </p:val>
                                        </p:tav>
                                      </p:tavLst>
                                    </p:anim>
                                    <p:anim calcmode="lin" valueType="num">
                                      <p:cBhvr>
                                        <p:cTn id="133" dur="500" fill="hold"/>
                                        <p:tgtEl>
                                          <p:spTgt spid="2225198"/>
                                        </p:tgtEl>
                                        <p:attrNameLst>
                                          <p:attrName>ppt_h</p:attrName>
                                        </p:attrNameLst>
                                      </p:cBhvr>
                                      <p:tavLst>
                                        <p:tav tm="0">
                                          <p:val>
                                            <p:fltVal val="0.000000"/>
                                          </p:val>
                                        </p:tav>
                                        <p:tav tm="100000">
                                          <p:val>
                                            <p:strVal val="#ppt_h"/>
                                          </p:val>
                                        </p:tav>
                                      </p:tavLst>
                                    </p:anim>
                                  </p:childTnLst>
                                </p:cTn>
                              </p:par>
                            </p:childTnLst>
                          </p:cTn>
                        </p:par>
                      </p:childTnLst>
                    </p:cTn>
                  </p:par>
                  <p:par>
                    <p:cTn id="134" fill="hold">
                      <p:stCondLst>
                        <p:cond delay="indefinite"/>
                      </p:stCondLst>
                      <p:childTnLst>
                        <p:par>
                          <p:cTn id="135" fill="hold">
                            <p:stCondLst>
                              <p:cond delay="0"/>
                            </p:stCondLst>
                            <p:childTnLst>
                              <p:par>
                                <p:cTn id="136" presetID="17" presetClass="entr" presetSubtype="10" fill="hold" nodeType="clickEffect">
                                  <p:stCondLst>
                                    <p:cond delay="0"/>
                                  </p:stCondLst>
                                  <p:childTnLst>
                                    <p:set>
                                      <p:cBhvr>
                                        <p:cTn id="137" dur="1" fill="hold">
                                          <p:stCondLst>
                                            <p:cond delay="0"/>
                                          </p:stCondLst>
                                        </p:cTn>
                                        <p:tgtEl>
                                          <p:spTgt spid="2225199"/>
                                        </p:tgtEl>
                                        <p:attrNameLst>
                                          <p:attrName>style.visibility</p:attrName>
                                        </p:attrNameLst>
                                      </p:cBhvr>
                                      <p:to>
                                        <p:strVal val="visible"/>
                                      </p:to>
                                    </p:set>
                                    <p:anim calcmode="lin" valueType="num">
                                      <p:cBhvr>
                                        <p:cTn id="138" dur="500" fill="hold"/>
                                        <p:tgtEl>
                                          <p:spTgt spid="2225199"/>
                                        </p:tgtEl>
                                        <p:attrNameLst>
                                          <p:attrName>ppt_w</p:attrName>
                                        </p:attrNameLst>
                                      </p:cBhvr>
                                      <p:tavLst>
                                        <p:tav tm="0">
                                          <p:val>
                                            <p:fltVal val="0.000000"/>
                                          </p:val>
                                        </p:tav>
                                        <p:tav tm="100000">
                                          <p:val>
                                            <p:strVal val="#ppt_w"/>
                                          </p:val>
                                        </p:tav>
                                      </p:tavLst>
                                    </p:anim>
                                    <p:anim calcmode="lin" valueType="num">
                                      <p:cBhvr>
                                        <p:cTn id="139" dur="500" fill="hold"/>
                                        <p:tgtEl>
                                          <p:spTgt spid="2225199"/>
                                        </p:tgtEl>
                                        <p:attrNameLst>
                                          <p:attrName>ppt_h</p:attrName>
                                        </p:attrNameLst>
                                      </p:cBhvr>
                                      <p:tavLst>
                                        <p:tav tm="0">
                                          <p:val>
                                            <p:strVal val="#ppt_h"/>
                                          </p:val>
                                        </p:tav>
                                        <p:tav tm="100000">
                                          <p:val>
                                            <p:strVal val="#ppt_h"/>
                                          </p:val>
                                        </p:tav>
                                      </p:tavLst>
                                    </p:anim>
                                  </p:childTnLst>
                                </p:cTn>
                              </p:par>
                            </p:childTnLst>
                          </p:cTn>
                        </p:par>
                        <p:par>
                          <p:cTn id="140" fill="hold">
                            <p:stCondLst>
                              <p:cond delay="500"/>
                            </p:stCondLst>
                            <p:childTnLst>
                              <p:par>
                                <p:cTn id="141" presetID="9" presetClass="entr" presetSubtype="0" fill="hold" grpId="0" nodeType="afterEffect">
                                  <p:stCondLst>
                                    <p:cond delay="0"/>
                                  </p:stCondLst>
                                  <p:childTnLst>
                                    <p:set>
                                      <p:cBhvr>
                                        <p:cTn id="142" dur="1" fill="hold">
                                          <p:stCondLst>
                                            <p:cond delay="0"/>
                                          </p:stCondLst>
                                        </p:cTn>
                                        <p:tgtEl>
                                          <p:spTgt spid="2225219"/>
                                        </p:tgtEl>
                                        <p:attrNameLst>
                                          <p:attrName>style.visibility</p:attrName>
                                        </p:attrNameLst>
                                      </p:cBhvr>
                                      <p:to>
                                        <p:strVal val="visible"/>
                                      </p:to>
                                    </p:set>
                                    <p:animEffect transition="in" filter="dissolve">
                                      <p:cBhvr>
                                        <p:cTn id="143" dur="500"/>
                                        <p:tgtEl>
                                          <p:spTgt spid="2225219"/>
                                        </p:tgtEl>
                                      </p:cBhvr>
                                    </p:animEffect>
                                  </p:childTnLst>
                                </p:cTn>
                              </p:par>
                            </p:childTnLst>
                          </p:cTn>
                        </p:par>
                      </p:childTnLst>
                    </p:cTn>
                  </p:par>
                  <p:par>
                    <p:cTn id="144" fill="hold">
                      <p:stCondLst>
                        <p:cond delay="indefinite"/>
                      </p:stCondLst>
                      <p:childTnLst>
                        <p:par>
                          <p:cTn id="145" fill="hold">
                            <p:stCondLst>
                              <p:cond delay="0"/>
                            </p:stCondLst>
                            <p:childTnLst>
                              <p:par>
                                <p:cTn id="146" presetID="17" presetClass="entr" presetSubtype="8" fill="hold" nodeType="clickEffect">
                                  <p:stCondLst>
                                    <p:cond delay="0"/>
                                  </p:stCondLst>
                                  <p:childTnLst>
                                    <p:set>
                                      <p:cBhvr>
                                        <p:cTn id="147" dur="1" fill="hold">
                                          <p:stCondLst>
                                            <p:cond delay="0"/>
                                          </p:stCondLst>
                                        </p:cTn>
                                        <p:tgtEl>
                                          <p:spTgt spid="2225181"/>
                                        </p:tgtEl>
                                        <p:attrNameLst>
                                          <p:attrName>style.visibility</p:attrName>
                                        </p:attrNameLst>
                                      </p:cBhvr>
                                      <p:to>
                                        <p:strVal val="visible"/>
                                      </p:to>
                                    </p:set>
                                    <p:anim calcmode="lin" valueType="num">
                                      <p:cBhvr>
                                        <p:cTn id="148" dur="500" fill="hold"/>
                                        <p:tgtEl>
                                          <p:spTgt spid="2225181"/>
                                        </p:tgtEl>
                                        <p:attrNameLst>
                                          <p:attrName>ppt_x</p:attrName>
                                        </p:attrNameLst>
                                      </p:cBhvr>
                                      <p:tavLst>
                                        <p:tav tm="0">
                                          <p:val>
                                            <p:strVal val="#ppt_x-#ppt_w/2"/>
                                          </p:val>
                                        </p:tav>
                                        <p:tav tm="100000">
                                          <p:val>
                                            <p:strVal val="#ppt_x"/>
                                          </p:val>
                                        </p:tav>
                                      </p:tavLst>
                                    </p:anim>
                                    <p:anim calcmode="lin" valueType="num">
                                      <p:cBhvr>
                                        <p:cTn id="149" dur="500" fill="hold"/>
                                        <p:tgtEl>
                                          <p:spTgt spid="2225181"/>
                                        </p:tgtEl>
                                        <p:attrNameLst>
                                          <p:attrName>ppt_y</p:attrName>
                                        </p:attrNameLst>
                                      </p:cBhvr>
                                      <p:tavLst>
                                        <p:tav tm="0">
                                          <p:val>
                                            <p:strVal val="#ppt_y"/>
                                          </p:val>
                                        </p:tav>
                                        <p:tav tm="100000">
                                          <p:val>
                                            <p:strVal val="#ppt_y"/>
                                          </p:val>
                                        </p:tav>
                                      </p:tavLst>
                                    </p:anim>
                                    <p:anim calcmode="lin" valueType="num">
                                      <p:cBhvr>
                                        <p:cTn id="150" dur="500" fill="hold"/>
                                        <p:tgtEl>
                                          <p:spTgt spid="2225181"/>
                                        </p:tgtEl>
                                        <p:attrNameLst>
                                          <p:attrName>ppt_w</p:attrName>
                                        </p:attrNameLst>
                                      </p:cBhvr>
                                      <p:tavLst>
                                        <p:tav tm="0">
                                          <p:val>
                                            <p:fltVal val="0.000000"/>
                                          </p:val>
                                        </p:tav>
                                        <p:tav tm="100000">
                                          <p:val>
                                            <p:strVal val="#ppt_w"/>
                                          </p:val>
                                        </p:tav>
                                      </p:tavLst>
                                    </p:anim>
                                    <p:anim calcmode="lin" valueType="num">
                                      <p:cBhvr>
                                        <p:cTn id="151" dur="500" fill="hold"/>
                                        <p:tgtEl>
                                          <p:spTgt spid="2225181"/>
                                        </p:tgtEl>
                                        <p:attrNameLst>
                                          <p:attrName>ppt_h</p:attrName>
                                        </p:attrNameLst>
                                      </p:cBhvr>
                                      <p:tavLst>
                                        <p:tav tm="0">
                                          <p:val>
                                            <p:strVal val="#ppt_h"/>
                                          </p:val>
                                        </p:tav>
                                        <p:tav tm="100000">
                                          <p:val>
                                            <p:strVal val="#ppt_h"/>
                                          </p:val>
                                        </p:tav>
                                      </p:tavLst>
                                    </p:anim>
                                  </p:childTnLst>
                                </p:cTn>
                              </p:par>
                            </p:childTnLst>
                          </p:cTn>
                        </p:par>
                      </p:childTnLst>
                    </p:cTn>
                  </p:par>
                  <p:par>
                    <p:cTn id="152" fill="hold">
                      <p:stCondLst>
                        <p:cond delay="indefinite"/>
                      </p:stCondLst>
                      <p:childTnLst>
                        <p:par>
                          <p:cTn id="153" fill="hold">
                            <p:stCondLst>
                              <p:cond delay="0"/>
                            </p:stCondLst>
                            <p:childTnLst>
                              <p:par>
                                <p:cTn id="154" presetID="22" presetClass="entr" presetSubtype="8" fill="hold" nodeType="clickEffect">
                                  <p:stCondLst>
                                    <p:cond delay="0"/>
                                  </p:stCondLst>
                                  <p:childTnLst>
                                    <p:set>
                                      <p:cBhvr>
                                        <p:cTn id="155" dur="1" fill="hold">
                                          <p:stCondLst>
                                            <p:cond delay="0"/>
                                          </p:stCondLst>
                                        </p:cTn>
                                        <p:tgtEl>
                                          <p:spTgt spid="2225182"/>
                                        </p:tgtEl>
                                        <p:attrNameLst>
                                          <p:attrName>style.visibility</p:attrName>
                                        </p:attrNameLst>
                                      </p:cBhvr>
                                      <p:to>
                                        <p:strVal val="visible"/>
                                      </p:to>
                                    </p:set>
                                    <p:animEffect transition="in" filter="wipe(left)">
                                      <p:cBhvr>
                                        <p:cTn id="156" dur="500"/>
                                        <p:tgtEl>
                                          <p:spTgt spid="2225182"/>
                                        </p:tgtEl>
                                      </p:cBhvr>
                                    </p:animEffect>
                                  </p:childTnLst>
                                </p:cTn>
                              </p:par>
                            </p:childTnLst>
                          </p:cTn>
                        </p:par>
                        <p:par>
                          <p:cTn id="157" fill="hold">
                            <p:stCondLst>
                              <p:cond delay="500"/>
                            </p:stCondLst>
                            <p:childTnLst>
                              <p:par>
                                <p:cTn id="158" presetID="17" presetClass="entr" presetSubtype="8" fill="hold" nodeType="afterEffect">
                                  <p:stCondLst>
                                    <p:cond delay="0"/>
                                  </p:stCondLst>
                                  <p:childTnLst>
                                    <p:set>
                                      <p:cBhvr>
                                        <p:cTn id="159" dur="1" fill="hold">
                                          <p:stCondLst>
                                            <p:cond delay="0"/>
                                          </p:stCondLst>
                                        </p:cTn>
                                        <p:tgtEl>
                                          <p:spTgt spid="2225183"/>
                                        </p:tgtEl>
                                        <p:attrNameLst>
                                          <p:attrName>style.visibility</p:attrName>
                                        </p:attrNameLst>
                                      </p:cBhvr>
                                      <p:to>
                                        <p:strVal val="visible"/>
                                      </p:to>
                                    </p:set>
                                    <p:anim calcmode="lin" valueType="num">
                                      <p:cBhvr>
                                        <p:cTn id="160" dur="500" fill="hold"/>
                                        <p:tgtEl>
                                          <p:spTgt spid="2225183"/>
                                        </p:tgtEl>
                                        <p:attrNameLst>
                                          <p:attrName>ppt_x</p:attrName>
                                        </p:attrNameLst>
                                      </p:cBhvr>
                                      <p:tavLst>
                                        <p:tav tm="0">
                                          <p:val>
                                            <p:strVal val="#ppt_x-#ppt_w/2"/>
                                          </p:val>
                                        </p:tav>
                                        <p:tav tm="100000">
                                          <p:val>
                                            <p:strVal val="#ppt_x"/>
                                          </p:val>
                                        </p:tav>
                                      </p:tavLst>
                                    </p:anim>
                                    <p:anim calcmode="lin" valueType="num">
                                      <p:cBhvr>
                                        <p:cTn id="161" dur="500" fill="hold"/>
                                        <p:tgtEl>
                                          <p:spTgt spid="2225183"/>
                                        </p:tgtEl>
                                        <p:attrNameLst>
                                          <p:attrName>ppt_y</p:attrName>
                                        </p:attrNameLst>
                                      </p:cBhvr>
                                      <p:tavLst>
                                        <p:tav tm="0">
                                          <p:val>
                                            <p:strVal val="#ppt_y"/>
                                          </p:val>
                                        </p:tav>
                                        <p:tav tm="100000">
                                          <p:val>
                                            <p:strVal val="#ppt_y"/>
                                          </p:val>
                                        </p:tav>
                                      </p:tavLst>
                                    </p:anim>
                                    <p:anim calcmode="lin" valueType="num">
                                      <p:cBhvr>
                                        <p:cTn id="162" dur="500" fill="hold"/>
                                        <p:tgtEl>
                                          <p:spTgt spid="2225183"/>
                                        </p:tgtEl>
                                        <p:attrNameLst>
                                          <p:attrName>ppt_w</p:attrName>
                                        </p:attrNameLst>
                                      </p:cBhvr>
                                      <p:tavLst>
                                        <p:tav tm="0">
                                          <p:val>
                                            <p:fltVal val="0.000000"/>
                                          </p:val>
                                        </p:tav>
                                        <p:tav tm="100000">
                                          <p:val>
                                            <p:strVal val="#ppt_w"/>
                                          </p:val>
                                        </p:tav>
                                      </p:tavLst>
                                    </p:anim>
                                    <p:anim calcmode="lin" valueType="num">
                                      <p:cBhvr>
                                        <p:cTn id="163" dur="500" fill="hold"/>
                                        <p:tgtEl>
                                          <p:spTgt spid="2225183"/>
                                        </p:tgtEl>
                                        <p:attrNameLst>
                                          <p:attrName>ppt_h</p:attrName>
                                        </p:attrNameLst>
                                      </p:cBhvr>
                                      <p:tavLst>
                                        <p:tav tm="0">
                                          <p:val>
                                            <p:strVal val="#ppt_h"/>
                                          </p:val>
                                        </p:tav>
                                        <p:tav tm="100000">
                                          <p:val>
                                            <p:strVal val="#ppt_h"/>
                                          </p:val>
                                        </p:tav>
                                      </p:tavLst>
                                    </p:anim>
                                  </p:childTnLst>
                                </p:cTn>
                              </p:par>
                            </p:childTnLst>
                          </p:cTn>
                        </p:par>
                        <p:par>
                          <p:cTn id="164" fill="hold">
                            <p:stCondLst>
                              <p:cond delay="1000"/>
                            </p:stCondLst>
                            <p:childTnLst>
                              <p:par>
                                <p:cTn id="165" presetID="22" presetClass="entr" presetSubtype="8" fill="hold" nodeType="afterEffect">
                                  <p:stCondLst>
                                    <p:cond delay="0"/>
                                  </p:stCondLst>
                                  <p:childTnLst>
                                    <p:set>
                                      <p:cBhvr>
                                        <p:cTn id="166" dur="1" fill="hold">
                                          <p:stCondLst>
                                            <p:cond delay="0"/>
                                          </p:stCondLst>
                                        </p:cTn>
                                        <p:tgtEl>
                                          <p:spTgt spid="2225185"/>
                                        </p:tgtEl>
                                        <p:attrNameLst>
                                          <p:attrName>style.visibility</p:attrName>
                                        </p:attrNameLst>
                                      </p:cBhvr>
                                      <p:to>
                                        <p:strVal val="visible"/>
                                      </p:to>
                                    </p:set>
                                    <p:animEffect transition="in" filter="wipe(left)">
                                      <p:cBhvr>
                                        <p:cTn id="167" dur="500"/>
                                        <p:tgtEl>
                                          <p:spTgt spid="2225185"/>
                                        </p:tgtEl>
                                      </p:cBhvr>
                                    </p:animEffect>
                                  </p:childTnLst>
                                </p:cTn>
                              </p:par>
                            </p:childTnLst>
                          </p:cTn>
                        </p:par>
                        <p:par>
                          <p:cTn id="168" fill="hold">
                            <p:stCondLst>
                              <p:cond delay="1500"/>
                            </p:stCondLst>
                            <p:childTnLst>
                              <p:par>
                                <p:cTn id="169" presetID="17" presetClass="entr" presetSubtype="8" fill="hold" nodeType="afterEffect">
                                  <p:stCondLst>
                                    <p:cond delay="0"/>
                                  </p:stCondLst>
                                  <p:childTnLst>
                                    <p:set>
                                      <p:cBhvr>
                                        <p:cTn id="170" dur="1" fill="hold">
                                          <p:stCondLst>
                                            <p:cond delay="0"/>
                                          </p:stCondLst>
                                        </p:cTn>
                                        <p:tgtEl>
                                          <p:spTgt spid="2225186"/>
                                        </p:tgtEl>
                                        <p:attrNameLst>
                                          <p:attrName>style.visibility</p:attrName>
                                        </p:attrNameLst>
                                      </p:cBhvr>
                                      <p:to>
                                        <p:strVal val="visible"/>
                                      </p:to>
                                    </p:set>
                                    <p:anim calcmode="lin" valueType="num">
                                      <p:cBhvr>
                                        <p:cTn id="171" dur="500" fill="hold"/>
                                        <p:tgtEl>
                                          <p:spTgt spid="2225186"/>
                                        </p:tgtEl>
                                        <p:attrNameLst>
                                          <p:attrName>ppt_x</p:attrName>
                                        </p:attrNameLst>
                                      </p:cBhvr>
                                      <p:tavLst>
                                        <p:tav tm="0">
                                          <p:val>
                                            <p:strVal val="#ppt_x-#ppt_w/2"/>
                                          </p:val>
                                        </p:tav>
                                        <p:tav tm="100000">
                                          <p:val>
                                            <p:strVal val="#ppt_x"/>
                                          </p:val>
                                        </p:tav>
                                      </p:tavLst>
                                    </p:anim>
                                    <p:anim calcmode="lin" valueType="num">
                                      <p:cBhvr>
                                        <p:cTn id="172" dur="500" fill="hold"/>
                                        <p:tgtEl>
                                          <p:spTgt spid="2225186"/>
                                        </p:tgtEl>
                                        <p:attrNameLst>
                                          <p:attrName>ppt_y</p:attrName>
                                        </p:attrNameLst>
                                      </p:cBhvr>
                                      <p:tavLst>
                                        <p:tav tm="0">
                                          <p:val>
                                            <p:strVal val="#ppt_y"/>
                                          </p:val>
                                        </p:tav>
                                        <p:tav tm="100000">
                                          <p:val>
                                            <p:strVal val="#ppt_y"/>
                                          </p:val>
                                        </p:tav>
                                      </p:tavLst>
                                    </p:anim>
                                    <p:anim calcmode="lin" valueType="num">
                                      <p:cBhvr>
                                        <p:cTn id="173" dur="500" fill="hold"/>
                                        <p:tgtEl>
                                          <p:spTgt spid="2225186"/>
                                        </p:tgtEl>
                                        <p:attrNameLst>
                                          <p:attrName>ppt_w</p:attrName>
                                        </p:attrNameLst>
                                      </p:cBhvr>
                                      <p:tavLst>
                                        <p:tav tm="0">
                                          <p:val>
                                            <p:fltVal val="0.000000"/>
                                          </p:val>
                                        </p:tav>
                                        <p:tav tm="100000">
                                          <p:val>
                                            <p:strVal val="#ppt_w"/>
                                          </p:val>
                                        </p:tav>
                                      </p:tavLst>
                                    </p:anim>
                                    <p:anim calcmode="lin" valueType="num">
                                      <p:cBhvr>
                                        <p:cTn id="174" dur="500" fill="hold"/>
                                        <p:tgtEl>
                                          <p:spTgt spid="2225186"/>
                                        </p:tgtEl>
                                        <p:attrNameLst>
                                          <p:attrName>ppt_h</p:attrName>
                                        </p:attrNameLst>
                                      </p:cBhvr>
                                      <p:tavLst>
                                        <p:tav tm="0">
                                          <p:val>
                                            <p:strVal val="#ppt_h"/>
                                          </p:val>
                                        </p:tav>
                                        <p:tav tm="100000">
                                          <p:val>
                                            <p:strVal val="#ppt_h"/>
                                          </p:val>
                                        </p:tav>
                                      </p:tavLst>
                                    </p:anim>
                                  </p:childTnLst>
                                </p:cTn>
                              </p:par>
                            </p:childTnLst>
                          </p:cTn>
                        </p:par>
                        <p:par>
                          <p:cTn id="175" fill="hold">
                            <p:stCondLst>
                              <p:cond delay="2000"/>
                            </p:stCondLst>
                            <p:childTnLst>
                              <p:par>
                                <p:cTn id="176" presetID="9" presetClass="entr" presetSubtype="0" fill="hold" grpId="0" nodeType="afterEffect">
                                  <p:stCondLst>
                                    <p:cond delay="0"/>
                                  </p:stCondLst>
                                  <p:childTnLst>
                                    <p:set>
                                      <p:cBhvr>
                                        <p:cTn id="177" dur="1" fill="hold">
                                          <p:stCondLst>
                                            <p:cond delay="0"/>
                                          </p:stCondLst>
                                        </p:cTn>
                                        <p:tgtEl>
                                          <p:spTgt spid="2225207"/>
                                        </p:tgtEl>
                                        <p:attrNameLst>
                                          <p:attrName>style.visibility</p:attrName>
                                        </p:attrNameLst>
                                      </p:cBhvr>
                                      <p:to>
                                        <p:strVal val="visible"/>
                                      </p:to>
                                    </p:set>
                                    <p:animEffect transition="in" filter="dissolve">
                                      <p:cBhvr>
                                        <p:cTn id="178" dur="500"/>
                                        <p:tgtEl>
                                          <p:spTgt spid="2225207"/>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grpId="0" nodeType="clickEffect">
                                  <p:stCondLst>
                                    <p:cond delay="0"/>
                                  </p:stCondLst>
                                  <p:childTnLst>
                                    <p:set>
                                      <p:cBhvr>
                                        <p:cTn id="182" dur="1" fill="hold">
                                          <p:stCondLst>
                                            <p:cond delay="0"/>
                                          </p:stCondLst>
                                        </p:cTn>
                                        <p:tgtEl>
                                          <p:spTgt spid="2225215"/>
                                        </p:tgtEl>
                                        <p:attrNameLst>
                                          <p:attrName>style.visibility</p:attrName>
                                        </p:attrNameLst>
                                      </p:cBhvr>
                                      <p:to>
                                        <p:strVal val="visible"/>
                                      </p:to>
                                    </p:set>
                                    <p:animEffect transition="in" filter="dissolve">
                                      <p:cBhvr>
                                        <p:cTn id="183" dur="500"/>
                                        <p:tgtEl>
                                          <p:spTgt spid="2225215"/>
                                        </p:tgtEl>
                                      </p:cBhvr>
                                    </p:animEffect>
                                  </p:childTnLst>
                                </p:cTn>
                              </p:par>
                            </p:childTnLst>
                          </p:cTn>
                        </p:par>
                      </p:childTnLst>
                    </p:cTn>
                  </p:par>
                  <p:par>
                    <p:cTn id="184" fill="hold">
                      <p:stCondLst>
                        <p:cond delay="indefinite"/>
                      </p:stCondLst>
                      <p:childTnLst>
                        <p:par>
                          <p:cTn id="185" fill="hold">
                            <p:stCondLst>
                              <p:cond delay="0"/>
                            </p:stCondLst>
                            <p:childTnLst>
                              <p:par>
                                <p:cTn id="186" presetID="17" presetClass="entr" presetSubtype="1" fill="hold" nodeType="clickEffect">
                                  <p:stCondLst>
                                    <p:cond delay="0"/>
                                  </p:stCondLst>
                                  <p:childTnLst>
                                    <p:set>
                                      <p:cBhvr>
                                        <p:cTn id="187" dur="1" fill="hold">
                                          <p:stCondLst>
                                            <p:cond delay="0"/>
                                          </p:stCondLst>
                                        </p:cTn>
                                        <p:tgtEl>
                                          <p:spTgt spid="2225200"/>
                                        </p:tgtEl>
                                        <p:attrNameLst>
                                          <p:attrName>style.visibility</p:attrName>
                                        </p:attrNameLst>
                                      </p:cBhvr>
                                      <p:to>
                                        <p:strVal val="visible"/>
                                      </p:to>
                                    </p:set>
                                    <p:anim calcmode="lin" valueType="num">
                                      <p:cBhvr>
                                        <p:cTn id="188" dur="500" fill="hold"/>
                                        <p:tgtEl>
                                          <p:spTgt spid="2225200"/>
                                        </p:tgtEl>
                                        <p:attrNameLst>
                                          <p:attrName>ppt_x</p:attrName>
                                        </p:attrNameLst>
                                      </p:cBhvr>
                                      <p:tavLst>
                                        <p:tav tm="0">
                                          <p:val>
                                            <p:strVal val="#ppt_x"/>
                                          </p:val>
                                        </p:tav>
                                        <p:tav tm="100000">
                                          <p:val>
                                            <p:strVal val="#ppt_x"/>
                                          </p:val>
                                        </p:tav>
                                      </p:tavLst>
                                    </p:anim>
                                    <p:anim calcmode="lin" valueType="num">
                                      <p:cBhvr>
                                        <p:cTn id="189" dur="500" fill="hold"/>
                                        <p:tgtEl>
                                          <p:spTgt spid="2225200"/>
                                        </p:tgtEl>
                                        <p:attrNameLst>
                                          <p:attrName>ppt_y</p:attrName>
                                        </p:attrNameLst>
                                      </p:cBhvr>
                                      <p:tavLst>
                                        <p:tav tm="0">
                                          <p:val>
                                            <p:strVal val="#ppt_y-#ppt_h/2"/>
                                          </p:val>
                                        </p:tav>
                                        <p:tav tm="100000">
                                          <p:val>
                                            <p:strVal val="#ppt_y"/>
                                          </p:val>
                                        </p:tav>
                                      </p:tavLst>
                                    </p:anim>
                                    <p:anim calcmode="lin" valueType="num">
                                      <p:cBhvr>
                                        <p:cTn id="190" dur="500" fill="hold"/>
                                        <p:tgtEl>
                                          <p:spTgt spid="2225200"/>
                                        </p:tgtEl>
                                        <p:attrNameLst>
                                          <p:attrName>ppt_w</p:attrName>
                                        </p:attrNameLst>
                                      </p:cBhvr>
                                      <p:tavLst>
                                        <p:tav tm="0">
                                          <p:val>
                                            <p:strVal val="#ppt_w"/>
                                          </p:val>
                                        </p:tav>
                                        <p:tav tm="100000">
                                          <p:val>
                                            <p:strVal val="#ppt_w"/>
                                          </p:val>
                                        </p:tav>
                                      </p:tavLst>
                                    </p:anim>
                                    <p:anim calcmode="lin" valueType="num">
                                      <p:cBhvr>
                                        <p:cTn id="191" dur="500" fill="hold"/>
                                        <p:tgtEl>
                                          <p:spTgt spid="2225200"/>
                                        </p:tgtEl>
                                        <p:attrNameLst>
                                          <p:attrName>ppt_h</p:attrName>
                                        </p:attrNameLst>
                                      </p:cBhvr>
                                      <p:tavLst>
                                        <p:tav tm="0">
                                          <p:val>
                                            <p:fltVal val="0.000000"/>
                                          </p:val>
                                        </p:tav>
                                        <p:tav tm="100000">
                                          <p:val>
                                            <p:strVal val="#ppt_h"/>
                                          </p:val>
                                        </p:tav>
                                      </p:tavLst>
                                    </p:anim>
                                  </p:childTnLst>
                                </p:cTn>
                              </p:par>
                            </p:childTnLst>
                          </p:cTn>
                        </p:par>
                      </p:childTnLst>
                    </p:cTn>
                  </p:par>
                  <p:par>
                    <p:cTn id="192" fill="hold">
                      <p:stCondLst>
                        <p:cond delay="indefinite"/>
                      </p:stCondLst>
                      <p:childTnLst>
                        <p:par>
                          <p:cTn id="193" fill="hold">
                            <p:stCondLst>
                              <p:cond delay="0"/>
                            </p:stCondLst>
                            <p:childTnLst>
                              <p:par>
                                <p:cTn id="194" presetID="17" presetClass="entr" presetSubtype="10" fill="hold" nodeType="clickEffect">
                                  <p:stCondLst>
                                    <p:cond delay="0"/>
                                  </p:stCondLst>
                                  <p:childTnLst>
                                    <p:set>
                                      <p:cBhvr>
                                        <p:cTn id="195" dur="1" fill="hold">
                                          <p:stCondLst>
                                            <p:cond delay="0"/>
                                          </p:stCondLst>
                                        </p:cTn>
                                        <p:tgtEl>
                                          <p:spTgt spid="2225203"/>
                                        </p:tgtEl>
                                        <p:attrNameLst>
                                          <p:attrName>style.visibility</p:attrName>
                                        </p:attrNameLst>
                                      </p:cBhvr>
                                      <p:to>
                                        <p:strVal val="visible"/>
                                      </p:to>
                                    </p:set>
                                    <p:anim calcmode="lin" valueType="num">
                                      <p:cBhvr>
                                        <p:cTn id="196" dur="500" fill="hold"/>
                                        <p:tgtEl>
                                          <p:spTgt spid="2225203"/>
                                        </p:tgtEl>
                                        <p:attrNameLst>
                                          <p:attrName>ppt_w</p:attrName>
                                        </p:attrNameLst>
                                      </p:cBhvr>
                                      <p:tavLst>
                                        <p:tav tm="0">
                                          <p:val>
                                            <p:fltVal val="0.000000"/>
                                          </p:val>
                                        </p:tav>
                                        <p:tav tm="100000">
                                          <p:val>
                                            <p:strVal val="#ppt_w"/>
                                          </p:val>
                                        </p:tav>
                                      </p:tavLst>
                                    </p:anim>
                                    <p:anim calcmode="lin" valueType="num">
                                      <p:cBhvr>
                                        <p:cTn id="197" dur="500" fill="hold"/>
                                        <p:tgtEl>
                                          <p:spTgt spid="2225203"/>
                                        </p:tgtEl>
                                        <p:attrNameLst>
                                          <p:attrName>ppt_h</p:attrName>
                                        </p:attrNameLst>
                                      </p:cBhvr>
                                      <p:tavLst>
                                        <p:tav tm="0">
                                          <p:val>
                                            <p:strVal val="#ppt_h"/>
                                          </p:val>
                                        </p:tav>
                                        <p:tav tm="100000">
                                          <p:val>
                                            <p:strVal val="#ppt_h"/>
                                          </p:val>
                                        </p:tav>
                                      </p:tavLst>
                                    </p:anim>
                                  </p:childTnLst>
                                </p:cTn>
                              </p:par>
                            </p:childTnLst>
                          </p:cTn>
                        </p:par>
                        <p:par>
                          <p:cTn id="198" fill="hold">
                            <p:stCondLst>
                              <p:cond delay="500"/>
                            </p:stCondLst>
                            <p:childTnLst>
                              <p:par>
                                <p:cTn id="199" presetID="9" presetClass="entr" presetSubtype="0" fill="hold" grpId="0" nodeType="afterEffect">
                                  <p:stCondLst>
                                    <p:cond delay="0"/>
                                  </p:stCondLst>
                                  <p:childTnLst>
                                    <p:set>
                                      <p:cBhvr>
                                        <p:cTn id="200" dur="1" fill="hold">
                                          <p:stCondLst>
                                            <p:cond delay="0"/>
                                          </p:stCondLst>
                                        </p:cTn>
                                        <p:tgtEl>
                                          <p:spTgt spid="2225220"/>
                                        </p:tgtEl>
                                        <p:attrNameLst>
                                          <p:attrName>style.visibility</p:attrName>
                                        </p:attrNameLst>
                                      </p:cBhvr>
                                      <p:to>
                                        <p:strVal val="visible"/>
                                      </p:to>
                                    </p:set>
                                    <p:animEffect transition="in" filter="dissolve">
                                      <p:cBhvr>
                                        <p:cTn id="201" dur="500"/>
                                        <p:tgtEl>
                                          <p:spTgt spid="2225220"/>
                                        </p:tgtEl>
                                      </p:cBhvr>
                                    </p:animEffect>
                                  </p:childTnLst>
                                </p:cTn>
                              </p:par>
                            </p:childTnLst>
                          </p:cTn>
                        </p:par>
                      </p:childTnLst>
                    </p:cTn>
                  </p:par>
                  <p:par>
                    <p:cTn id="202" fill="hold">
                      <p:stCondLst>
                        <p:cond delay="indefinite"/>
                      </p:stCondLst>
                      <p:childTnLst>
                        <p:par>
                          <p:cTn id="203" fill="hold">
                            <p:stCondLst>
                              <p:cond delay="0"/>
                            </p:stCondLst>
                            <p:childTnLst>
                              <p:par>
                                <p:cTn id="204" presetID="17" presetClass="entr" presetSubtype="8" fill="hold" nodeType="clickEffect">
                                  <p:stCondLst>
                                    <p:cond delay="0"/>
                                  </p:stCondLst>
                                  <p:childTnLst>
                                    <p:set>
                                      <p:cBhvr>
                                        <p:cTn id="205" dur="1" fill="hold">
                                          <p:stCondLst>
                                            <p:cond delay="0"/>
                                          </p:stCondLst>
                                        </p:cTn>
                                        <p:tgtEl>
                                          <p:spTgt spid="2225187"/>
                                        </p:tgtEl>
                                        <p:attrNameLst>
                                          <p:attrName>style.visibility</p:attrName>
                                        </p:attrNameLst>
                                      </p:cBhvr>
                                      <p:to>
                                        <p:strVal val="visible"/>
                                      </p:to>
                                    </p:set>
                                    <p:anim calcmode="lin" valueType="num">
                                      <p:cBhvr>
                                        <p:cTn id="206" dur="500" fill="hold"/>
                                        <p:tgtEl>
                                          <p:spTgt spid="2225187"/>
                                        </p:tgtEl>
                                        <p:attrNameLst>
                                          <p:attrName>ppt_x</p:attrName>
                                        </p:attrNameLst>
                                      </p:cBhvr>
                                      <p:tavLst>
                                        <p:tav tm="0">
                                          <p:val>
                                            <p:strVal val="#ppt_x-#ppt_w/2"/>
                                          </p:val>
                                        </p:tav>
                                        <p:tav tm="100000">
                                          <p:val>
                                            <p:strVal val="#ppt_x"/>
                                          </p:val>
                                        </p:tav>
                                      </p:tavLst>
                                    </p:anim>
                                    <p:anim calcmode="lin" valueType="num">
                                      <p:cBhvr>
                                        <p:cTn id="207" dur="500" fill="hold"/>
                                        <p:tgtEl>
                                          <p:spTgt spid="2225187"/>
                                        </p:tgtEl>
                                        <p:attrNameLst>
                                          <p:attrName>ppt_y</p:attrName>
                                        </p:attrNameLst>
                                      </p:cBhvr>
                                      <p:tavLst>
                                        <p:tav tm="0">
                                          <p:val>
                                            <p:strVal val="#ppt_y"/>
                                          </p:val>
                                        </p:tav>
                                        <p:tav tm="100000">
                                          <p:val>
                                            <p:strVal val="#ppt_y"/>
                                          </p:val>
                                        </p:tav>
                                      </p:tavLst>
                                    </p:anim>
                                    <p:anim calcmode="lin" valueType="num">
                                      <p:cBhvr>
                                        <p:cTn id="208" dur="500" fill="hold"/>
                                        <p:tgtEl>
                                          <p:spTgt spid="2225187"/>
                                        </p:tgtEl>
                                        <p:attrNameLst>
                                          <p:attrName>ppt_w</p:attrName>
                                        </p:attrNameLst>
                                      </p:cBhvr>
                                      <p:tavLst>
                                        <p:tav tm="0">
                                          <p:val>
                                            <p:fltVal val="0.000000"/>
                                          </p:val>
                                        </p:tav>
                                        <p:tav tm="100000">
                                          <p:val>
                                            <p:strVal val="#ppt_w"/>
                                          </p:val>
                                        </p:tav>
                                      </p:tavLst>
                                    </p:anim>
                                    <p:anim calcmode="lin" valueType="num">
                                      <p:cBhvr>
                                        <p:cTn id="209" dur="500" fill="hold"/>
                                        <p:tgtEl>
                                          <p:spTgt spid="2225187"/>
                                        </p:tgtEl>
                                        <p:attrNameLst>
                                          <p:attrName>ppt_h</p:attrName>
                                        </p:attrNameLst>
                                      </p:cBhvr>
                                      <p:tavLst>
                                        <p:tav tm="0">
                                          <p:val>
                                            <p:strVal val="#ppt_h"/>
                                          </p:val>
                                        </p:tav>
                                        <p:tav tm="100000">
                                          <p:val>
                                            <p:strVal val="#ppt_h"/>
                                          </p:val>
                                        </p:tav>
                                      </p:tavLst>
                                    </p:anim>
                                  </p:childTnLst>
                                </p:cTn>
                              </p:par>
                            </p:childTnLst>
                          </p:cTn>
                        </p:par>
                      </p:childTnLst>
                    </p:cTn>
                  </p:par>
                  <p:par>
                    <p:cTn id="210" fill="hold">
                      <p:stCondLst>
                        <p:cond delay="indefinite"/>
                      </p:stCondLst>
                      <p:childTnLst>
                        <p:par>
                          <p:cTn id="211" fill="hold">
                            <p:stCondLst>
                              <p:cond delay="0"/>
                            </p:stCondLst>
                            <p:childTnLst>
                              <p:par>
                                <p:cTn id="212" presetID="22" presetClass="entr" presetSubtype="8" fill="hold" nodeType="clickEffect">
                                  <p:stCondLst>
                                    <p:cond delay="0"/>
                                  </p:stCondLst>
                                  <p:childTnLst>
                                    <p:set>
                                      <p:cBhvr>
                                        <p:cTn id="213" dur="1" fill="hold">
                                          <p:stCondLst>
                                            <p:cond delay="0"/>
                                          </p:stCondLst>
                                        </p:cTn>
                                        <p:tgtEl>
                                          <p:spTgt spid="2225188"/>
                                        </p:tgtEl>
                                        <p:attrNameLst>
                                          <p:attrName>style.visibility</p:attrName>
                                        </p:attrNameLst>
                                      </p:cBhvr>
                                      <p:to>
                                        <p:strVal val="visible"/>
                                      </p:to>
                                    </p:set>
                                    <p:animEffect transition="in" filter="wipe(left)">
                                      <p:cBhvr>
                                        <p:cTn id="214" dur="500"/>
                                        <p:tgtEl>
                                          <p:spTgt spid="2225188"/>
                                        </p:tgtEl>
                                      </p:cBhvr>
                                    </p:animEffect>
                                  </p:childTnLst>
                                </p:cTn>
                              </p:par>
                            </p:childTnLst>
                          </p:cTn>
                        </p:par>
                        <p:par>
                          <p:cTn id="215" fill="hold">
                            <p:stCondLst>
                              <p:cond delay="500"/>
                            </p:stCondLst>
                            <p:childTnLst>
                              <p:par>
                                <p:cTn id="216" presetID="17" presetClass="entr" presetSubtype="8" fill="hold" nodeType="afterEffect">
                                  <p:stCondLst>
                                    <p:cond delay="0"/>
                                  </p:stCondLst>
                                  <p:childTnLst>
                                    <p:set>
                                      <p:cBhvr>
                                        <p:cTn id="217" dur="1" fill="hold">
                                          <p:stCondLst>
                                            <p:cond delay="0"/>
                                          </p:stCondLst>
                                        </p:cTn>
                                        <p:tgtEl>
                                          <p:spTgt spid="2225189"/>
                                        </p:tgtEl>
                                        <p:attrNameLst>
                                          <p:attrName>style.visibility</p:attrName>
                                        </p:attrNameLst>
                                      </p:cBhvr>
                                      <p:to>
                                        <p:strVal val="visible"/>
                                      </p:to>
                                    </p:set>
                                    <p:anim calcmode="lin" valueType="num">
                                      <p:cBhvr>
                                        <p:cTn id="218" dur="500" fill="hold"/>
                                        <p:tgtEl>
                                          <p:spTgt spid="2225189"/>
                                        </p:tgtEl>
                                        <p:attrNameLst>
                                          <p:attrName>ppt_x</p:attrName>
                                        </p:attrNameLst>
                                      </p:cBhvr>
                                      <p:tavLst>
                                        <p:tav tm="0">
                                          <p:val>
                                            <p:strVal val="#ppt_x-#ppt_w/2"/>
                                          </p:val>
                                        </p:tav>
                                        <p:tav tm="100000">
                                          <p:val>
                                            <p:strVal val="#ppt_x"/>
                                          </p:val>
                                        </p:tav>
                                      </p:tavLst>
                                    </p:anim>
                                    <p:anim calcmode="lin" valueType="num">
                                      <p:cBhvr>
                                        <p:cTn id="219" dur="500" fill="hold"/>
                                        <p:tgtEl>
                                          <p:spTgt spid="2225189"/>
                                        </p:tgtEl>
                                        <p:attrNameLst>
                                          <p:attrName>ppt_y</p:attrName>
                                        </p:attrNameLst>
                                      </p:cBhvr>
                                      <p:tavLst>
                                        <p:tav tm="0">
                                          <p:val>
                                            <p:strVal val="#ppt_y"/>
                                          </p:val>
                                        </p:tav>
                                        <p:tav tm="100000">
                                          <p:val>
                                            <p:strVal val="#ppt_y"/>
                                          </p:val>
                                        </p:tav>
                                      </p:tavLst>
                                    </p:anim>
                                    <p:anim calcmode="lin" valueType="num">
                                      <p:cBhvr>
                                        <p:cTn id="220" dur="500" fill="hold"/>
                                        <p:tgtEl>
                                          <p:spTgt spid="2225189"/>
                                        </p:tgtEl>
                                        <p:attrNameLst>
                                          <p:attrName>ppt_w</p:attrName>
                                        </p:attrNameLst>
                                      </p:cBhvr>
                                      <p:tavLst>
                                        <p:tav tm="0">
                                          <p:val>
                                            <p:fltVal val="0.000000"/>
                                          </p:val>
                                        </p:tav>
                                        <p:tav tm="100000">
                                          <p:val>
                                            <p:strVal val="#ppt_w"/>
                                          </p:val>
                                        </p:tav>
                                      </p:tavLst>
                                    </p:anim>
                                    <p:anim calcmode="lin" valueType="num">
                                      <p:cBhvr>
                                        <p:cTn id="221" dur="500" fill="hold"/>
                                        <p:tgtEl>
                                          <p:spTgt spid="2225189"/>
                                        </p:tgtEl>
                                        <p:attrNameLst>
                                          <p:attrName>ppt_h</p:attrName>
                                        </p:attrNameLst>
                                      </p:cBhvr>
                                      <p:tavLst>
                                        <p:tav tm="0">
                                          <p:val>
                                            <p:strVal val="#ppt_h"/>
                                          </p:val>
                                        </p:tav>
                                        <p:tav tm="100000">
                                          <p:val>
                                            <p:strVal val="#ppt_h"/>
                                          </p:val>
                                        </p:tav>
                                      </p:tavLst>
                                    </p:anim>
                                  </p:childTnLst>
                                </p:cTn>
                              </p:par>
                            </p:childTnLst>
                          </p:cTn>
                        </p:par>
                        <p:par>
                          <p:cTn id="222" fill="hold">
                            <p:stCondLst>
                              <p:cond delay="1000"/>
                            </p:stCondLst>
                            <p:childTnLst>
                              <p:par>
                                <p:cTn id="223" presetID="22" presetClass="entr" presetSubtype="8" fill="hold" nodeType="afterEffect">
                                  <p:stCondLst>
                                    <p:cond delay="0"/>
                                  </p:stCondLst>
                                  <p:childTnLst>
                                    <p:set>
                                      <p:cBhvr>
                                        <p:cTn id="224" dur="1" fill="hold">
                                          <p:stCondLst>
                                            <p:cond delay="0"/>
                                          </p:stCondLst>
                                        </p:cTn>
                                        <p:tgtEl>
                                          <p:spTgt spid="2225190"/>
                                        </p:tgtEl>
                                        <p:attrNameLst>
                                          <p:attrName>style.visibility</p:attrName>
                                        </p:attrNameLst>
                                      </p:cBhvr>
                                      <p:to>
                                        <p:strVal val="visible"/>
                                      </p:to>
                                    </p:set>
                                    <p:animEffect transition="in" filter="wipe(left)">
                                      <p:cBhvr>
                                        <p:cTn id="225" dur="500"/>
                                        <p:tgtEl>
                                          <p:spTgt spid="2225190"/>
                                        </p:tgtEl>
                                      </p:cBhvr>
                                    </p:animEffect>
                                  </p:childTnLst>
                                </p:cTn>
                              </p:par>
                            </p:childTnLst>
                          </p:cTn>
                        </p:par>
                        <p:par>
                          <p:cTn id="226" fill="hold">
                            <p:stCondLst>
                              <p:cond delay="1500"/>
                            </p:stCondLst>
                            <p:childTnLst>
                              <p:par>
                                <p:cTn id="227" presetID="17" presetClass="entr" presetSubtype="8" fill="hold" nodeType="afterEffect">
                                  <p:stCondLst>
                                    <p:cond delay="0"/>
                                  </p:stCondLst>
                                  <p:childTnLst>
                                    <p:set>
                                      <p:cBhvr>
                                        <p:cTn id="228" dur="1" fill="hold">
                                          <p:stCondLst>
                                            <p:cond delay="0"/>
                                          </p:stCondLst>
                                        </p:cTn>
                                        <p:tgtEl>
                                          <p:spTgt spid="2225192"/>
                                        </p:tgtEl>
                                        <p:attrNameLst>
                                          <p:attrName>style.visibility</p:attrName>
                                        </p:attrNameLst>
                                      </p:cBhvr>
                                      <p:to>
                                        <p:strVal val="visible"/>
                                      </p:to>
                                    </p:set>
                                    <p:anim calcmode="lin" valueType="num">
                                      <p:cBhvr>
                                        <p:cTn id="229" dur="500" fill="hold"/>
                                        <p:tgtEl>
                                          <p:spTgt spid="2225192"/>
                                        </p:tgtEl>
                                        <p:attrNameLst>
                                          <p:attrName>ppt_x</p:attrName>
                                        </p:attrNameLst>
                                      </p:cBhvr>
                                      <p:tavLst>
                                        <p:tav tm="0">
                                          <p:val>
                                            <p:strVal val="#ppt_x-#ppt_w/2"/>
                                          </p:val>
                                        </p:tav>
                                        <p:tav tm="100000">
                                          <p:val>
                                            <p:strVal val="#ppt_x"/>
                                          </p:val>
                                        </p:tav>
                                      </p:tavLst>
                                    </p:anim>
                                    <p:anim calcmode="lin" valueType="num">
                                      <p:cBhvr>
                                        <p:cTn id="230" dur="500" fill="hold"/>
                                        <p:tgtEl>
                                          <p:spTgt spid="2225192"/>
                                        </p:tgtEl>
                                        <p:attrNameLst>
                                          <p:attrName>ppt_y</p:attrName>
                                        </p:attrNameLst>
                                      </p:cBhvr>
                                      <p:tavLst>
                                        <p:tav tm="0">
                                          <p:val>
                                            <p:strVal val="#ppt_y"/>
                                          </p:val>
                                        </p:tav>
                                        <p:tav tm="100000">
                                          <p:val>
                                            <p:strVal val="#ppt_y"/>
                                          </p:val>
                                        </p:tav>
                                      </p:tavLst>
                                    </p:anim>
                                    <p:anim calcmode="lin" valueType="num">
                                      <p:cBhvr>
                                        <p:cTn id="231" dur="500" fill="hold"/>
                                        <p:tgtEl>
                                          <p:spTgt spid="2225192"/>
                                        </p:tgtEl>
                                        <p:attrNameLst>
                                          <p:attrName>ppt_w</p:attrName>
                                        </p:attrNameLst>
                                      </p:cBhvr>
                                      <p:tavLst>
                                        <p:tav tm="0">
                                          <p:val>
                                            <p:fltVal val="0.000000"/>
                                          </p:val>
                                        </p:tav>
                                        <p:tav tm="100000">
                                          <p:val>
                                            <p:strVal val="#ppt_w"/>
                                          </p:val>
                                        </p:tav>
                                      </p:tavLst>
                                    </p:anim>
                                    <p:anim calcmode="lin" valueType="num">
                                      <p:cBhvr>
                                        <p:cTn id="232" dur="500" fill="hold"/>
                                        <p:tgtEl>
                                          <p:spTgt spid="2225192"/>
                                        </p:tgtEl>
                                        <p:attrNameLst>
                                          <p:attrName>ppt_h</p:attrName>
                                        </p:attrNameLst>
                                      </p:cBhvr>
                                      <p:tavLst>
                                        <p:tav tm="0">
                                          <p:val>
                                            <p:strVal val="#ppt_h"/>
                                          </p:val>
                                        </p:tav>
                                        <p:tav tm="100000">
                                          <p:val>
                                            <p:strVal val="#ppt_h"/>
                                          </p:val>
                                        </p:tav>
                                      </p:tavLst>
                                    </p:anim>
                                  </p:childTnLst>
                                </p:cTn>
                              </p:par>
                            </p:childTnLst>
                          </p:cTn>
                        </p:par>
                        <p:par>
                          <p:cTn id="233" fill="hold">
                            <p:stCondLst>
                              <p:cond delay="2000"/>
                            </p:stCondLst>
                            <p:childTnLst>
                              <p:par>
                                <p:cTn id="234" presetID="9" presetClass="entr" presetSubtype="0" fill="hold" grpId="0" nodeType="afterEffect">
                                  <p:stCondLst>
                                    <p:cond delay="0"/>
                                  </p:stCondLst>
                                  <p:childTnLst>
                                    <p:set>
                                      <p:cBhvr>
                                        <p:cTn id="235" dur="1" fill="hold">
                                          <p:stCondLst>
                                            <p:cond delay="0"/>
                                          </p:stCondLst>
                                        </p:cTn>
                                        <p:tgtEl>
                                          <p:spTgt spid="2225208"/>
                                        </p:tgtEl>
                                        <p:attrNameLst>
                                          <p:attrName>style.visibility</p:attrName>
                                        </p:attrNameLst>
                                      </p:cBhvr>
                                      <p:to>
                                        <p:strVal val="visible"/>
                                      </p:to>
                                    </p:set>
                                    <p:animEffect transition="in" filter="dissolve">
                                      <p:cBhvr>
                                        <p:cTn id="236" dur="500"/>
                                        <p:tgtEl>
                                          <p:spTgt spid="2225208"/>
                                        </p:tgtEl>
                                      </p:cBhvr>
                                    </p:animEffect>
                                  </p:childTnLst>
                                </p:cTn>
                              </p:par>
                            </p:childTnLst>
                          </p:cTn>
                        </p:par>
                      </p:childTnLst>
                    </p:cTn>
                  </p:par>
                  <p:par>
                    <p:cTn id="237" fill="hold">
                      <p:stCondLst>
                        <p:cond delay="indefinite"/>
                      </p:stCondLst>
                      <p:childTnLst>
                        <p:par>
                          <p:cTn id="238" fill="hold">
                            <p:stCondLst>
                              <p:cond delay="0"/>
                            </p:stCondLst>
                            <p:childTnLst>
                              <p:par>
                                <p:cTn id="239" presetID="9" presetClass="entr" presetSubtype="0" fill="hold" grpId="0" nodeType="clickEffect">
                                  <p:stCondLst>
                                    <p:cond delay="0"/>
                                  </p:stCondLst>
                                  <p:childTnLst>
                                    <p:set>
                                      <p:cBhvr>
                                        <p:cTn id="240" dur="1" fill="hold">
                                          <p:stCondLst>
                                            <p:cond delay="0"/>
                                          </p:stCondLst>
                                        </p:cTn>
                                        <p:tgtEl>
                                          <p:spTgt spid="2225216"/>
                                        </p:tgtEl>
                                        <p:attrNameLst>
                                          <p:attrName>style.visibility</p:attrName>
                                        </p:attrNameLst>
                                      </p:cBhvr>
                                      <p:to>
                                        <p:strVal val="visible"/>
                                      </p:to>
                                    </p:set>
                                    <p:animEffect transition="in" filter="dissolve">
                                      <p:cBhvr>
                                        <p:cTn id="241" dur="500"/>
                                        <p:tgtEl>
                                          <p:spTgt spid="2225216"/>
                                        </p:tgtEl>
                                      </p:cBhvr>
                                    </p:animEffect>
                                  </p:childTnLst>
                                </p:cTn>
                              </p:par>
                            </p:childTnLst>
                          </p:cTn>
                        </p:par>
                      </p:childTnLst>
                    </p:cTn>
                  </p:par>
                  <p:par>
                    <p:cTn id="242" fill="hold">
                      <p:stCondLst>
                        <p:cond delay="indefinite"/>
                      </p:stCondLst>
                      <p:childTnLst>
                        <p:par>
                          <p:cTn id="243" fill="hold">
                            <p:stCondLst>
                              <p:cond delay="0"/>
                            </p:stCondLst>
                            <p:childTnLst>
                              <p:par>
                                <p:cTn id="244" presetID="17" presetClass="entr" presetSubtype="1" fill="hold" nodeType="clickEffect">
                                  <p:stCondLst>
                                    <p:cond delay="0"/>
                                  </p:stCondLst>
                                  <p:childTnLst>
                                    <p:set>
                                      <p:cBhvr>
                                        <p:cTn id="245" dur="1" fill="hold">
                                          <p:stCondLst>
                                            <p:cond delay="0"/>
                                          </p:stCondLst>
                                        </p:cTn>
                                        <p:tgtEl>
                                          <p:spTgt spid="2225201"/>
                                        </p:tgtEl>
                                        <p:attrNameLst>
                                          <p:attrName>style.visibility</p:attrName>
                                        </p:attrNameLst>
                                      </p:cBhvr>
                                      <p:to>
                                        <p:strVal val="visible"/>
                                      </p:to>
                                    </p:set>
                                    <p:anim calcmode="lin" valueType="num">
                                      <p:cBhvr>
                                        <p:cTn id="246" dur="500" fill="hold"/>
                                        <p:tgtEl>
                                          <p:spTgt spid="2225201"/>
                                        </p:tgtEl>
                                        <p:attrNameLst>
                                          <p:attrName>ppt_x</p:attrName>
                                        </p:attrNameLst>
                                      </p:cBhvr>
                                      <p:tavLst>
                                        <p:tav tm="0">
                                          <p:val>
                                            <p:strVal val="#ppt_x"/>
                                          </p:val>
                                        </p:tav>
                                        <p:tav tm="100000">
                                          <p:val>
                                            <p:strVal val="#ppt_x"/>
                                          </p:val>
                                        </p:tav>
                                      </p:tavLst>
                                    </p:anim>
                                    <p:anim calcmode="lin" valueType="num">
                                      <p:cBhvr>
                                        <p:cTn id="247" dur="500" fill="hold"/>
                                        <p:tgtEl>
                                          <p:spTgt spid="2225201"/>
                                        </p:tgtEl>
                                        <p:attrNameLst>
                                          <p:attrName>ppt_y</p:attrName>
                                        </p:attrNameLst>
                                      </p:cBhvr>
                                      <p:tavLst>
                                        <p:tav tm="0">
                                          <p:val>
                                            <p:strVal val="#ppt_y-#ppt_h/2"/>
                                          </p:val>
                                        </p:tav>
                                        <p:tav tm="100000">
                                          <p:val>
                                            <p:strVal val="#ppt_y"/>
                                          </p:val>
                                        </p:tav>
                                      </p:tavLst>
                                    </p:anim>
                                    <p:anim calcmode="lin" valueType="num">
                                      <p:cBhvr>
                                        <p:cTn id="248" dur="500" fill="hold"/>
                                        <p:tgtEl>
                                          <p:spTgt spid="2225201"/>
                                        </p:tgtEl>
                                        <p:attrNameLst>
                                          <p:attrName>ppt_w</p:attrName>
                                        </p:attrNameLst>
                                      </p:cBhvr>
                                      <p:tavLst>
                                        <p:tav tm="0">
                                          <p:val>
                                            <p:strVal val="#ppt_w"/>
                                          </p:val>
                                        </p:tav>
                                        <p:tav tm="100000">
                                          <p:val>
                                            <p:strVal val="#ppt_w"/>
                                          </p:val>
                                        </p:tav>
                                      </p:tavLst>
                                    </p:anim>
                                    <p:anim calcmode="lin" valueType="num">
                                      <p:cBhvr>
                                        <p:cTn id="249" dur="500" fill="hold"/>
                                        <p:tgtEl>
                                          <p:spTgt spid="2225201"/>
                                        </p:tgtEl>
                                        <p:attrNameLst>
                                          <p:attrName>ppt_h</p:attrName>
                                        </p:attrNameLst>
                                      </p:cBhvr>
                                      <p:tavLst>
                                        <p:tav tm="0">
                                          <p:val>
                                            <p:fltVal val="0.000000"/>
                                          </p:val>
                                        </p:tav>
                                        <p:tav tm="100000">
                                          <p:val>
                                            <p:strVal val="#ppt_h"/>
                                          </p:val>
                                        </p:tav>
                                      </p:tavLst>
                                    </p:anim>
                                  </p:childTnLst>
                                </p:cTn>
                              </p:par>
                            </p:childTnLst>
                          </p:cTn>
                        </p:par>
                      </p:childTnLst>
                    </p:cTn>
                  </p:par>
                  <p:par>
                    <p:cTn id="250" fill="hold">
                      <p:stCondLst>
                        <p:cond delay="indefinite"/>
                      </p:stCondLst>
                      <p:childTnLst>
                        <p:par>
                          <p:cTn id="251" fill="hold">
                            <p:stCondLst>
                              <p:cond delay="0"/>
                            </p:stCondLst>
                            <p:childTnLst>
                              <p:par>
                                <p:cTn id="252" presetID="17" presetClass="entr" presetSubtype="10" fill="hold" nodeType="clickEffect">
                                  <p:stCondLst>
                                    <p:cond delay="0"/>
                                  </p:stCondLst>
                                  <p:childTnLst>
                                    <p:set>
                                      <p:cBhvr>
                                        <p:cTn id="253" dur="1" fill="hold">
                                          <p:stCondLst>
                                            <p:cond delay="0"/>
                                          </p:stCondLst>
                                        </p:cTn>
                                        <p:tgtEl>
                                          <p:spTgt spid="2225204"/>
                                        </p:tgtEl>
                                        <p:attrNameLst>
                                          <p:attrName>style.visibility</p:attrName>
                                        </p:attrNameLst>
                                      </p:cBhvr>
                                      <p:to>
                                        <p:strVal val="visible"/>
                                      </p:to>
                                    </p:set>
                                    <p:anim calcmode="lin" valueType="num">
                                      <p:cBhvr>
                                        <p:cTn id="254" dur="500" fill="hold"/>
                                        <p:tgtEl>
                                          <p:spTgt spid="2225204"/>
                                        </p:tgtEl>
                                        <p:attrNameLst>
                                          <p:attrName>ppt_w</p:attrName>
                                        </p:attrNameLst>
                                      </p:cBhvr>
                                      <p:tavLst>
                                        <p:tav tm="0">
                                          <p:val>
                                            <p:fltVal val="0.000000"/>
                                          </p:val>
                                        </p:tav>
                                        <p:tav tm="100000">
                                          <p:val>
                                            <p:strVal val="#ppt_w"/>
                                          </p:val>
                                        </p:tav>
                                      </p:tavLst>
                                    </p:anim>
                                    <p:anim calcmode="lin" valueType="num">
                                      <p:cBhvr>
                                        <p:cTn id="255" dur="500" fill="hold"/>
                                        <p:tgtEl>
                                          <p:spTgt spid="2225204"/>
                                        </p:tgtEl>
                                        <p:attrNameLst>
                                          <p:attrName>ppt_h</p:attrName>
                                        </p:attrNameLst>
                                      </p:cBhvr>
                                      <p:tavLst>
                                        <p:tav tm="0">
                                          <p:val>
                                            <p:strVal val="#ppt_h"/>
                                          </p:val>
                                        </p:tav>
                                        <p:tav tm="100000">
                                          <p:val>
                                            <p:strVal val="#ppt_h"/>
                                          </p:val>
                                        </p:tav>
                                      </p:tavLst>
                                    </p:anim>
                                  </p:childTnLst>
                                </p:cTn>
                              </p:par>
                            </p:childTnLst>
                          </p:cTn>
                        </p:par>
                        <p:par>
                          <p:cTn id="256" fill="hold">
                            <p:stCondLst>
                              <p:cond delay="500"/>
                            </p:stCondLst>
                            <p:childTnLst>
                              <p:par>
                                <p:cTn id="257" presetID="17" presetClass="entr" presetSubtype="1" fill="hold" nodeType="afterEffect">
                                  <p:stCondLst>
                                    <p:cond delay="0"/>
                                  </p:stCondLst>
                                  <p:childTnLst>
                                    <p:set>
                                      <p:cBhvr>
                                        <p:cTn id="258" dur="1" fill="hold">
                                          <p:stCondLst>
                                            <p:cond delay="0"/>
                                          </p:stCondLst>
                                        </p:cTn>
                                        <p:tgtEl>
                                          <p:spTgt spid="2225202"/>
                                        </p:tgtEl>
                                        <p:attrNameLst>
                                          <p:attrName>style.visibility</p:attrName>
                                        </p:attrNameLst>
                                      </p:cBhvr>
                                      <p:to>
                                        <p:strVal val="visible"/>
                                      </p:to>
                                    </p:set>
                                    <p:anim calcmode="lin" valueType="num">
                                      <p:cBhvr>
                                        <p:cTn id="259" dur="500" fill="hold"/>
                                        <p:tgtEl>
                                          <p:spTgt spid="2225202"/>
                                        </p:tgtEl>
                                        <p:attrNameLst>
                                          <p:attrName>ppt_x</p:attrName>
                                        </p:attrNameLst>
                                      </p:cBhvr>
                                      <p:tavLst>
                                        <p:tav tm="0">
                                          <p:val>
                                            <p:strVal val="#ppt_x"/>
                                          </p:val>
                                        </p:tav>
                                        <p:tav tm="100000">
                                          <p:val>
                                            <p:strVal val="#ppt_x"/>
                                          </p:val>
                                        </p:tav>
                                      </p:tavLst>
                                    </p:anim>
                                    <p:anim calcmode="lin" valueType="num">
                                      <p:cBhvr>
                                        <p:cTn id="260" dur="500" fill="hold"/>
                                        <p:tgtEl>
                                          <p:spTgt spid="2225202"/>
                                        </p:tgtEl>
                                        <p:attrNameLst>
                                          <p:attrName>ppt_y</p:attrName>
                                        </p:attrNameLst>
                                      </p:cBhvr>
                                      <p:tavLst>
                                        <p:tav tm="0">
                                          <p:val>
                                            <p:strVal val="#ppt_y-#ppt_h/2"/>
                                          </p:val>
                                        </p:tav>
                                        <p:tav tm="100000">
                                          <p:val>
                                            <p:strVal val="#ppt_y"/>
                                          </p:val>
                                        </p:tav>
                                      </p:tavLst>
                                    </p:anim>
                                    <p:anim calcmode="lin" valueType="num">
                                      <p:cBhvr>
                                        <p:cTn id="261" dur="500" fill="hold"/>
                                        <p:tgtEl>
                                          <p:spTgt spid="2225202"/>
                                        </p:tgtEl>
                                        <p:attrNameLst>
                                          <p:attrName>ppt_w</p:attrName>
                                        </p:attrNameLst>
                                      </p:cBhvr>
                                      <p:tavLst>
                                        <p:tav tm="0">
                                          <p:val>
                                            <p:strVal val="#ppt_w"/>
                                          </p:val>
                                        </p:tav>
                                        <p:tav tm="100000">
                                          <p:val>
                                            <p:strVal val="#ppt_w"/>
                                          </p:val>
                                        </p:tav>
                                      </p:tavLst>
                                    </p:anim>
                                    <p:anim calcmode="lin" valueType="num">
                                      <p:cBhvr>
                                        <p:cTn id="262" dur="500" fill="hold"/>
                                        <p:tgtEl>
                                          <p:spTgt spid="2225202"/>
                                        </p:tgtEl>
                                        <p:attrNameLst>
                                          <p:attrName>ppt_h</p:attrName>
                                        </p:attrNameLst>
                                      </p:cBhvr>
                                      <p:tavLst>
                                        <p:tav tm="0">
                                          <p:val>
                                            <p:fltVal val="0.000000"/>
                                          </p:val>
                                        </p:tav>
                                        <p:tav tm="100000">
                                          <p:val>
                                            <p:strVal val="#ppt_h"/>
                                          </p:val>
                                        </p:tav>
                                      </p:tavLst>
                                    </p:anim>
                                  </p:childTnLst>
                                </p:cTn>
                              </p:par>
                            </p:childTnLst>
                          </p:cTn>
                        </p:par>
                        <p:par>
                          <p:cTn id="263" fill="hold">
                            <p:stCondLst>
                              <p:cond delay="1000"/>
                            </p:stCondLst>
                            <p:childTnLst>
                              <p:par>
                                <p:cTn id="264" presetID="9" presetClass="entr" presetSubtype="0" fill="hold" grpId="0" nodeType="afterEffect">
                                  <p:stCondLst>
                                    <p:cond delay="0"/>
                                  </p:stCondLst>
                                  <p:childTnLst>
                                    <p:set>
                                      <p:cBhvr>
                                        <p:cTn id="265" dur="1" fill="hold">
                                          <p:stCondLst>
                                            <p:cond delay="0"/>
                                          </p:stCondLst>
                                        </p:cTn>
                                        <p:tgtEl>
                                          <p:spTgt spid="2225221"/>
                                        </p:tgtEl>
                                        <p:attrNameLst>
                                          <p:attrName>style.visibility</p:attrName>
                                        </p:attrNameLst>
                                      </p:cBhvr>
                                      <p:to>
                                        <p:strVal val="visible"/>
                                      </p:to>
                                    </p:set>
                                    <p:animEffect transition="in" filter="dissolve">
                                      <p:cBhvr>
                                        <p:cTn id="266" dur="500"/>
                                        <p:tgtEl>
                                          <p:spTgt spid="2225221"/>
                                        </p:tgtEl>
                                      </p:cBhvr>
                                    </p:animEffect>
                                  </p:childTnLst>
                                </p:cTn>
                              </p:par>
                            </p:childTnLst>
                          </p:cTn>
                        </p:par>
                      </p:childTnLst>
                    </p:cTn>
                  </p:par>
                  <p:par>
                    <p:cTn id="267" fill="hold">
                      <p:stCondLst>
                        <p:cond delay="indefinite"/>
                      </p:stCondLst>
                      <p:childTnLst>
                        <p:par>
                          <p:cTn id="268" fill="hold">
                            <p:stCondLst>
                              <p:cond delay="0"/>
                            </p:stCondLst>
                            <p:childTnLst>
                              <p:par>
                                <p:cTn id="269" presetID="17" presetClass="entr" presetSubtype="8" fill="hold" nodeType="clickEffect">
                                  <p:stCondLst>
                                    <p:cond delay="0"/>
                                  </p:stCondLst>
                                  <p:childTnLst>
                                    <p:set>
                                      <p:cBhvr>
                                        <p:cTn id="270" dur="1" fill="hold">
                                          <p:stCondLst>
                                            <p:cond delay="0"/>
                                          </p:stCondLst>
                                        </p:cTn>
                                        <p:tgtEl>
                                          <p:spTgt spid="2225193"/>
                                        </p:tgtEl>
                                        <p:attrNameLst>
                                          <p:attrName>style.visibility</p:attrName>
                                        </p:attrNameLst>
                                      </p:cBhvr>
                                      <p:to>
                                        <p:strVal val="visible"/>
                                      </p:to>
                                    </p:set>
                                    <p:anim calcmode="lin" valueType="num">
                                      <p:cBhvr>
                                        <p:cTn id="271" dur="500" fill="hold"/>
                                        <p:tgtEl>
                                          <p:spTgt spid="2225193"/>
                                        </p:tgtEl>
                                        <p:attrNameLst>
                                          <p:attrName>ppt_x</p:attrName>
                                        </p:attrNameLst>
                                      </p:cBhvr>
                                      <p:tavLst>
                                        <p:tav tm="0">
                                          <p:val>
                                            <p:strVal val="#ppt_x-#ppt_w/2"/>
                                          </p:val>
                                        </p:tav>
                                        <p:tav tm="100000">
                                          <p:val>
                                            <p:strVal val="#ppt_x"/>
                                          </p:val>
                                        </p:tav>
                                      </p:tavLst>
                                    </p:anim>
                                    <p:anim calcmode="lin" valueType="num">
                                      <p:cBhvr>
                                        <p:cTn id="272" dur="500" fill="hold"/>
                                        <p:tgtEl>
                                          <p:spTgt spid="2225193"/>
                                        </p:tgtEl>
                                        <p:attrNameLst>
                                          <p:attrName>ppt_y</p:attrName>
                                        </p:attrNameLst>
                                      </p:cBhvr>
                                      <p:tavLst>
                                        <p:tav tm="0">
                                          <p:val>
                                            <p:strVal val="#ppt_y"/>
                                          </p:val>
                                        </p:tav>
                                        <p:tav tm="100000">
                                          <p:val>
                                            <p:strVal val="#ppt_y"/>
                                          </p:val>
                                        </p:tav>
                                      </p:tavLst>
                                    </p:anim>
                                    <p:anim calcmode="lin" valueType="num">
                                      <p:cBhvr>
                                        <p:cTn id="273" dur="500" fill="hold"/>
                                        <p:tgtEl>
                                          <p:spTgt spid="2225193"/>
                                        </p:tgtEl>
                                        <p:attrNameLst>
                                          <p:attrName>ppt_w</p:attrName>
                                        </p:attrNameLst>
                                      </p:cBhvr>
                                      <p:tavLst>
                                        <p:tav tm="0">
                                          <p:val>
                                            <p:fltVal val="0.000000"/>
                                          </p:val>
                                        </p:tav>
                                        <p:tav tm="100000">
                                          <p:val>
                                            <p:strVal val="#ppt_w"/>
                                          </p:val>
                                        </p:tav>
                                      </p:tavLst>
                                    </p:anim>
                                    <p:anim calcmode="lin" valueType="num">
                                      <p:cBhvr>
                                        <p:cTn id="274" dur="500" fill="hold"/>
                                        <p:tgtEl>
                                          <p:spTgt spid="2225193"/>
                                        </p:tgtEl>
                                        <p:attrNameLst>
                                          <p:attrName>ppt_h</p:attrName>
                                        </p:attrNameLst>
                                      </p:cBhvr>
                                      <p:tavLst>
                                        <p:tav tm="0">
                                          <p:val>
                                            <p:strVal val="#ppt_h"/>
                                          </p:val>
                                        </p:tav>
                                        <p:tav tm="100000">
                                          <p:val>
                                            <p:strVal val="#ppt_h"/>
                                          </p:val>
                                        </p:tav>
                                      </p:tavLst>
                                    </p:anim>
                                  </p:childTnLst>
                                </p:cTn>
                              </p:par>
                            </p:childTnLst>
                          </p:cTn>
                        </p:par>
                      </p:childTnLst>
                    </p:cTn>
                  </p:par>
                  <p:par>
                    <p:cTn id="275" fill="hold">
                      <p:stCondLst>
                        <p:cond delay="indefinite"/>
                      </p:stCondLst>
                      <p:childTnLst>
                        <p:par>
                          <p:cTn id="276" fill="hold">
                            <p:stCondLst>
                              <p:cond delay="0"/>
                            </p:stCondLst>
                            <p:childTnLst>
                              <p:par>
                                <p:cTn id="277" presetID="22" presetClass="entr" presetSubtype="8" fill="hold" nodeType="clickEffect">
                                  <p:stCondLst>
                                    <p:cond delay="0"/>
                                  </p:stCondLst>
                                  <p:childTnLst>
                                    <p:set>
                                      <p:cBhvr>
                                        <p:cTn id="278" dur="1" fill="hold">
                                          <p:stCondLst>
                                            <p:cond delay="0"/>
                                          </p:stCondLst>
                                        </p:cTn>
                                        <p:tgtEl>
                                          <p:spTgt spid="2225194"/>
                                        </p:tgtEl>
                                        <p:attrNameLst>
                                          <p:attrName>style.visibility</p:attrName>
                                        </p:attrNameLst>
                                      </p:cBhvr>
                                      <p:to>
                                        <p:strVal val="visible"/>
                                      </p:to>
                                    </p:set>
                                    <p:animEffect transition="in" filter="wipe(left)">
                                      <p:cBhvr>
                                        <p:cTn id="279" dur="500"/>
                                        <p:tgtEl>
                                          <p:spTgt spid="2225194"/>
                                        </p:tgtEl>
                                      </p:cBhvr>
                                    </p:animEffect>
                                  </p:childTnLst>
                                </p:cTn>
                              </p:par>
                            </p:childTnLst>
                          </p:cTn>
                        </p:par>
                        <p:par>
                          <p:cTn id="280" fill="hold">
                            <p:stCondLst>
                              <p:cond delay="500"/>
                            </p:stCondLst>
                            <p:childTnLst>
                              <p:par>
                                <p:cTn id="281" presetID="17" presetClass="entr" presetSubtype="8" fill="hold" nodeType="afterEffect">
                                  <p:stCondLst>
                                    <p:cond delay="0"/>
                                  </p:stCondLst>
                                  <p:childTnLst>
                                    <p:set>
                                      <p:cBhvr>
                                        <p:cTn id="282" dur="1" fill="hold">
                                          <p:stCondLst>
                                            <p:cond delay="0"/>
                                          </p:stCondLst>
                                        </p:cTn>
                                        <p:tgtEl>
                                          <p:spTgt spid="2225195"/>
                                        </p:tgtEl>
                                        <p:attrNameLst>
                                          <p:attrName>style.visibility</p:attrName>
                                        </p:attrNameLst>
                                      </p:cBhvr>
                                      <p:to>
                                        <p:strVal val="visible"/>
                                      </p:to>
                                    </p:set>
                                    <p:anim calcmode="lin" valueType="num">
                                      <p:cBhvr>
                                        <p:cTn id="283" dur="500" fill="hold"/>
                                        <p:tgtEl>
                                          <p:spTgt spid="2225195"/>
                                        </p:tgtEl>
                                        <p:attrNameLst>
                                          <p:attrName>ppt_x</p:attrName>
                                        </p:attrNameLst>
                                      </p:cBhvr>
                                      <p:tavLst>
                                        <p:tav tm="0">
                                          <p:val>
                                            <p:strVal val="#ppt_x-#ppt_w/2"/>
                                          </p:val>
                                        </p:tav>
                                        <p:tav tm="100000">
                                          <p:val>
                                            <p:strVal val="#ppt_x"/>
                                          </p:val>
                                        </p:tav>
                                      </p:tavLst>
                                    </p:anim>
                                    <p:anim calcmode="lin" valueType="num">
                                      <p:cBhvr>
                                        <p:cTn id="284" dur="500" fill="hold"/>
                                        <p:tgtEl>
                                          <p:spTgt spid="2225195"/>
                                        </p:tgtEl>
                                        <p:attrNameLst>
                                          <p:attrName>ppt_y</p:attrName>
                                        </p:attrNameLst>
                                      </p:cBhvr>
                                      <p:tavLst>
                                        <p:tav tm="0">
                                          <p:val>
                                            <p:strVal val="#ppt_y"/>
                                          </p:val>
                                        </p:tav>
                                        <p:tav tm="100000">
                                          <p:val>
                                            <p:strVal val="#ppt_y"/>
                                          </p:val>
                                        </p:tav>
                                      </p:tavLst>
                                    </p:anim>
                                    <p:anim calcmode="lin" valueType="num">
                                      <p:cBhvr>
                                        <p:cTn id="285" dur="500" fill="hold"/>
                                        <p:tgtEl>
                                          <p:spTgt spid="2225195"/>
                                        </p:tgtEl>
                                        <p:attrNameLst>
                                          <p:attrName>ppt_w</p:attrName>
                                        </p:attrNameLst>
                                      </p:cBhvr>
                                      <p:tavLst>
                                        <p:tav tm="0">
                                          <p:val>
                                            <p:fltVal val="0.000000"/>
                                          </p:val>
                                        </p:tav>
                                        <p:tav tm="100000">
                                          <p:val>
                                            <p:strVal val="#ppt_w"/>
                                          </p:val>
                                        </p:tav>
                                      </p:tavLst>
                                    </p:anim>
                                    <p:anim calcmode="lin" valueType="num">
                                      <p:cBhvr>
                                        <p:cTn id="286" dur="500" fill="hold"/>
                                        <p:tgtEl>
                                          <p:spTgt spid="2225195"/>
                                        </p:tgtEl>
                                        <p:attrNameLst>
                                          <p:attrName>ppt_h</p:attrName>
                                        </p:attrNameLst>
                                      </p:cBhvr>
                                      <p:tavLst>
                                        <p:tav tm="0">
                                          <p:val>
                                            <p:strVal val="#ppt_h"/>
                                          </p:val>
                                        </p:tav>
                                        <p:tav tm="100000">
                                          <p:val>
                                            <p:strVal val="#ppt_h"/>
                                          </p:val>
                                        </p:tav>
                                      </p:tavLst>
                                    </p:anim>
                                  </p:childTnLst>
                                </p:cTn>
                              </p:par>
                            </p:childTnLst>
                          </p:cTn>
                        </p:par>
                        <p:par>
                          <p:cTn id="287" fill="hold">
                            <p:stCondLst>
                              <p:cond delay="1000"/>
                            </p:stCondLst>
                            <p:childTnLst>
                              <p:par>
                                <p:cTn id="288" presetID="22" presetClass="entr" presetSubtype="8" fill="hold" nodeType="afterEffect">
                                  <p:stCondLst>
                                    <p:cond delay="0"/>
                                  </p:stCondLst>
                                  <p:childTnLst>
                                    <p:set>
                                      <p:cBhvr>
                                        <p:cTn id="289" dur="1" fill="hold">
                                          <p:stCondLst>
                                            <p:cond delay="0"/>
                                          </p:stCondLst>
                                        </p:cTn>
                                        <p:tgtEl>
                                          <p:spTgt spid="2225196"/>
                                        </p:tgtEl>
                                        <p:attrNameLst>
                                          <p:attrName>style.visibility</p:attrName>
                                        </p:attrNameLst>
                                      </p:cBhvr>
                                      <p:to>
                                        <p:strVal val="visible"/>
                                      </p:to>
                                    </p:set>
                                    <p:animEffect transition="in" filter="wipe(left)">
                                      <p:cBhvr>
                                        <p:cTn id="290" dur="500"/>
                                        <p:tgtEl>
                                          <p:spTgt spid="2225196"/>
                                        </p:tgtEl>
                                      </p:cBhvr>
                                    </p:animEffect>
                                  </p:childTnLst>
                                </p:cTn>
                              </p:par>
                            </p:childTnLst>
                          </p:cTn>
                        </p:par>
                        <p:par>
                          <p:cTn id="291" fill="hold">
                            <p:stCondLst>
                              <p:cond delay="1500"/>
                            </p:stCondLst>
                            <p:childTnLst>
                              <p:par>
                                <p:cTn id="292" presetID="17" presetClass="entr" presetSubtype="8" fill="hold" nodeType="afterEffect">
                                  <p:stCondLst>
                                    <p:cond delay="0"/>
                                  </p:stCondLst>
                                  <p:childTnLst>
                                    <p:set>
                                      <p:cBhvr>
                                        <p:cTn id="293" dur="1" fill="hold">
                                          <p:stCondLst>
                                            <p:cond delay="0"/>
                                          </p:stCondLst>
                                        </p:cTn>
                                        <p:tgtEl>
                                          <p:spTgt spid="2225197"/>
                                        </p:tgtEl>
                                        <p:attrNameLst>
                                          <p:attrName>style.visibility</p:attrName>
                                        </p:attrNameLst>
                                      </p:cBhvr>
                                      <p:to>
                                        <p:strVal val="visible"/>
                                      </p:to>
                                    </p:set>
                                    <p:anim calcmode="lin" valueType="num">
                                      <p:cBhvr>
                                        <p:cTn id="294" dur="500" fill="hold"/>
                                        <p:tgtEl>
                                          <p:spTgt spid="2225197"/>
                                        </p:tgtEl>
                                        <p:attrNameLst>
                                          <p:attrName>ppt_x</p:attrName>
                                        </p:attrNameLst>
                                      </p:cBhvr>
                                      <p:tavLst>
                                        <p:tav tm="0">
                                          <p:val>
                                            <p:strVal val="#ppt_x-#ppt_w/2"/>
                                          </p:val>
                                        </p:tav>
                                        <p:tav tm="100000">
                                          <p:val>
                                            <p:strVal val="#ppt_x"/>
                                          </p:val>
                                        </p:tav>
                                      </p:tavLst>
                                    </p:anim>
                                    <p:anim calcmode="lin" valueType="num">
                                      <p:cBhvr>
                                        <p:cTn id="295" dur="500" fill="hold"/>
                                        <p:tgtEl>
                                          <p:spTgt spid="2225197"/>
                                        </p:tgtEl>
                                        <p:attrNameLst>
                                          <p:attrName>ppt_y</p:attrName>
                                        </p:attrNameLst>
                                      </p:cBhvr>
                                      <p:tavLst>
                                        <p:tav tm="0">
                                          <p:val>
                                            <p:strVal val="#ppt_y"/>
                                          </p:val>
                                        </p:tav>
                                        <p:tav tm="100000">
                                          <p:val>
                                            <p:strVal val="#ppt_y"/>
                                          </p:val>
                                        </p:tav>
                                      </p:tavLst>
                                    </p:anim>
                                    <p:anim calcmode="lin" valueType="num">
                                      <p:cBhvr>
                                        <p:cTn id="296" dur="500" fill="hold"/>
                                        <p:tgtEl>
                                          <p:spTgt spid="2225197"/>
                                        </p:tgtEl>
                                        <p:attrNameLst>
                                          <p:attrName>ppt_w</p:attrName>
                                        </p:attrNameLst>
                                      </p:cBhvr>
                                      <p:tavLst>
                                        <p:tav tm="0">
                                          <p:val>
                                            <p:fltVal val="0.000000"/>
                                          </p:val>
                                        </p:tav>
                                        <p:tav tm="100000">
                                          <p:val>
                                            <p:strVal val="#ppt_w"/>
                                          </p:val>
                                        </p:tav>
                                      </p:tavLst>
                                    </p:anim>
                                    <p:anim calcmode="lin" valueType="num">
                                      <p:cBhvr>
                                        <p:cTn id="297" dur="500" fill="hold"/>
                                        <p:tgtEl>
                                          <p:spTgt spid="2225197"/>
                                        </p:tgtEl>
                                        <p:attrNameLst>
                                          <p:attrName>ppt_h</p:attrName>
                                        </p:attrNameLst>
                                      </p:cBhvr>
                                      <p:tavLst>
                                        <p:tav tm="0">
                                          <p:val>
                                            <p:strVal val="#ppt_h"/>
                                          </p:val>
                                        </p:tav>
                                        <p:tav tm="100000">
                                          <p:val>
                                            <p:strVal val="#ppt_h"/>
                                          </p:val>
                                        </p:tav>
                                      </p:tavLst>
                                    </p:anim>
                                  </p:childTnLst>
                                </p:cTn>
                              </p:par>
                            </p:childTnLst>
                          </p:cTn>
                        </p:par>
                        <p:par>
                          <p:cTn id="298" fill="hold">
                            <p:stCondLst>
                              <p:cond delay="2000"/>
                            </p:stCondLst>
                            <p:childTnLst>
                              <p:par>
                                <p:cTn id="299" presetID="9" presetClass="entr" presetSubtype="0" fill="hold" grpId="0" nodeType="afterEffect">
                                  <p:stCondLst>
                                    <p:cond delay="0"/>
                                  </p:stCondLst>
                                  <p:childTnLst>
                                    <p:set>
                                      <p:cBhvr>
                                        <p:cTn id="300" dur="1" fill="hold">
                                          <p:stCondLst>
                                            <p:cond delay="0"/>
                                          </p:stCondLst>
                                        </p:cTn>
                                        <p:tgtEl>
                                          <p:spTgt spid="2225209"/>
                                        </p:tgtEl>
                                        <p:attrNameLst>
                                          <p:attrName>style.visibility</p:attrName>
                                        </p:attrNameLst>
                                      </p:cBhvr>
                                      <p:to>
                                        <p:strVal val="visible"/>
                                      </p:to>
                                    </p:set>
                                    <p:animEffect transition="in" filter="dissolve">
                                      <p:cBhvr>
                                        <p:cTn id="301" dur="500"/>
                                        <p:tgtEl>
                                          <p:spTgt spid="2225209"/>
                                        </p:tgtEl>
                                      </p:cBhvr>
                                    </p:animEffect>
                                  </p:childTnLst>
                                </p:cTn>
                              </p:par>
                            </p:childTnLst>
                          </p:cTn>
                        </p:par>
                      </p:childTnLst>
                    </p:cTn>
                  </p:par>
                  <p:par>
                    <p:cTn id="302" fill="hold">
                      <p:stCondLst>
                        <p:cond delay="indefinite"/>
                      </p:stCondLst>
                      <p:childTnLst>
                        <p:par>
                          <p:cTn id="303" fill="hold">
                            <p:stCondLst>
                              <p:cond delay="0"/>
                            </p:stCondLst>
                            <p:childTnLst>
                              <p:par>
                                <p:cTn id="304" presetID="17" presetClass="entr" presetSubtype="10" fill="hold" nodeType="clickEffect">
                                  <p:stCondLst>
                                    <p:cond delay="0"/>
                                  </p:stCondLst>
                                  <p:childTnLst>
                                    <p:set>
                                      <p:cBhvr>
                                        <p:cTn id="305" dur="1" fill="hold">
                                          <p:stCondLst>
                                            <p:cond delay="0"/>
                                          </p:stCondLst>
                                        </p:cTn>
                                        <p:tgtEl>
                                          <p:spTgt spid="2225210"/>
                                        </p:tgtEl>
                                        <p:attrNameLst>
                                          <p:attrName>style.visibility</p:attrName>
                                        </p:attrNameLst>
                                      </p:cBhvr>
                                      <p:to>
                                        <p:strVal val="visible"/>
                                      </p:to>
                                    </p:set>
                                    <p:anim calcmode="lin" valueType="num">
                                      <p:cBhvr>
                                        <p:cTn id="306" dur="500" fill="hold"/>
                                        <p:tgtEl>
                                          <p:spTgt spid="2225210"/>
                                        </p:tgtEl>
                                        <p:attrNameLst>
                                          <p:attrName>ppt_w</p:attrName>
                                        </p:attrNameLst>
                                      </p:cBhvr>
                                      <p:tavLst>
                                        <p:tav tm="0">
                                          <p:val>
                                            <p:fltVal val="0.000000"/>
                                          </p:val>
                                        </p:tav>
                                        <p:tav tm="100000">
                                          <p:val>
                                            <p:strVal val="#ppt_w"/>
                                          </p:val>
                                        </p:tav>
                                      </p:tavLst>
                                    </p:anim>
                                    <p:anim calcmode="lin" valueType="num">
                                      <p:cBhvr>
                                        <p:cTn id="307" dur="500" fill="hold"/>
                                        <p:tgtEl>
                                          <p:spTgt spid="2225210"/>
                                        </p:tgtEl>
                                        <p:attrNameLst>
                                          <p:attrName>ppt_h</p:attrName>
                                        </p:attrNameLst>
                                      </p:cBhvr>
                                      <p:tavLst>
                                        <p:tav tm="0">
                                          <p:val>
                                            <p:strVal val="#ppt_h"/>
                                          </p:val>
                                        </p:tav>
                                        <p:tav tm="100000">
                                          <p:val>
                                            <p:strVal val="#ppt_h"/>
                                          </p:val>
                                        </p:tav>
                                      </p:tavLst>
                                    </p:anim>
                                  </p:childTnLst>
                                </p:cTn>
                              </p:par>
                            </p:childTnLst>
                          </p:cTn>
                        </p:par>
                      </p:childTnLst>
                    </p:cTn>
                  </p:par>
                  <p:par>
                    <p:cTn id="308" fill="hold">
                      <p:stCondLst>
                        <p:cond delay="indefinite"/>
                      </p:stCondLst>
                      <p:childTnLst>
                        <p:par>
                          <p:cTn id="309" fill="hold">
                            <p:stCondLst>
                              <p:cond delay="0"/>
                            </p:stCondLst>
                            <p:childTnLst>
                              <p:par>
                                <p:cTn id="310" presetID="9" presetClass="entr" presetSubtype="0" fill="hold" grpId="0" nodeType="clickEffect">
                                  <p:stCondLst>
                                    <p:cond delay="0"/>
                                  </p:stCondLst>
                                  <p:childTnLst>
                                    <p:set>
                                      <p:cBhvr>
                                        <p:cTn id="311" dur="1" fill="hold">
                                          <p:stCondLst>
                                            <p:cond delay="0"/>
                                          </p:stCondLst>
                                        </p:cTn>
                                        <p:tgtEl>
                                          <p:spTgt spid="2225211"/>
                                        </p:tgtEl>
                                        <p:attrNameLst>
                                          <p:attrName>style.visibility</p:attrName>
                                        </p:attrNameLst>
                                      </p:cBhvr>
                                      <p:to>
                                        <p:strVal val="visible"/>
                                      </p:to>
                                    </p:set>
                                    <p:animEffect transition="in" filter="dissolve">
                                      <p:cBhvr>
                                        <p:cTn id="312" dur="500"/>
                                        <p:tgtEl>
                                          <p:spTgt spid="2225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5159" grpId="0" animBg="1"/>
      <p:bldP spid="2225205" grpId="0"/>
      <p:bldP spid="2225206" grpId="0"/>
      <p:bldP spid="2225207" grpId="0"/>
      <p:bldP spid="2225208" grpId="0"/>
      <p:bldP spid="2225209" grpId="0"/>
      <p:bldP spid="2225211" grpId="0"/>
      <p:bldP spid="2225212" grpId="0"/>
      <p:bldP spid="2225213" grpId="0"/>
      <p:bldP spid="2225214" grpId="0"/>
      <p:bldP spid="2225215" grpId="0"/>
      <p:bldP spid="2225216" grpId="0"/>
      <p:bldP spid="2225219" grpId="0"/>
      <p:bldP spid="2225220" grpId="0"/>
      <p:bldP spid="2225221" grpId="0"/>
      <p:bldP spid="222522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6188" name="Text Box 12"/>
          <p:cNvSpPr txBox="1"/>
          <p:nvPr/>
        </p:nvSpPr>
        <p:spPr>
          <a:xfrm>
            <a:off x="1008063" y="1773238"/>
            <a:ext cx="2125662" cy="585787"/>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系统特点</a:t>
            </a:r>
            <a:endParaRPr lang="zh-CN" altLang="en-US" b="1" dirty="0">
              <a:solidFill>
                <a:srgbClr val="3366CC"/>
              </a:solidFill>
              <a:latin typeface="Times New Roman" panose="02020603050405020304" pitchFamily="18" charset="0"/>
            </a:endParaRPr>
          </a:p>
        </p:txBody>
      </p:sp>
      <p:sp>
        <p:nvSpPr>
          <p:cNvPr id="2226190" name="Text Box 14"/>
          <p:cNvSpPr txBox="1"/>
          <p:nvPr/>
        </p:nvSpPr>
        <p:spPr>
          <a:xfrm>
            <a:off x="1008063" y="2636838"/>
            <a:ext cx="7667625" cy="28702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结构简单，易实现，满足中小规模数据采集</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微机对环境要求不高</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微机价格低，采集系统成本低</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可作为集散型的基本单元</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   微机</a:t>
            </a:r>
            <a:r>
              <a:rPr lang="en-US" altLang="zh-CN" sz="2800" b="1" dirty="0">
                <a:solidFill>
                  <a:schemeClr val="tx1"/>
                </a:solidFill>
                <a:latin typeface="Times New Roman" panose="02020603050405020304" pitchFamily="18" charset="0"/>
                <a:ea typeface="黑体" panose="02010609060101010101" pitchFamily="49" charset="-122"/>
              </a:rPr>
              <a:t>IO</a:t>
            </a:r>
            <a:r>
              <a:rPr lang="zh-CN" altLang="en-US" sz="2800" b="1" dirty="0">
                <a:solidFill>
                  <a:schemeClr val="tx1"/>
                </a:solidFill>
                <a:latin typeface="Times New Roman" panose="02020603050405020304" pitchFamily="18" charset="0"/>
                <a:ea typeface="黑体" panose="02010609060101010101" pitchFamily="49" charset="-122"/>
              </a:rPr>
              <a:t>模板和软件齐全，易组成系统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26199" name="Text Box 23"/>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7349" name="Text Box 2"/>
          <p:cNvSpPr txBox="1"/>
          <p:nvPr/>
        </p:nvSpPr>
        <p:spPr>
          <a:xfrm>
            <a:off x="358775" y="879475"/>
            <a:ext cx="64039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1.4.1 </a:t>
            </a:r>
            <a:r>
              <a:rPr lang="zh-CN" altLang="en-US" b="1" dirty="0">
                <a:latin typeface="Times New Roman" panose="02020603050405020304" pitchFamily="18" charset="0"/>
              </a:rPr>
              <a:t>微型计算机数据采集系统</a:t>
            </a:r>
            <a:endParaRPr lang="zh-CN" altLang="en-US" b="1" dirty="0">
              <a:latin typeface="Times New Roman" panose="02020603050405020304" pitchFamily="18" charset="0"/>
            </a:endParaRPr>
          </a:p>
        </p:txBody>
      </p:sp>
      <p:sp>
        <p:nvSpPr>
          <p:cNvPr id="2270211" name="Text Box 3"/>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6188"/>
                                        </p:tgtEl>
                                        <p:attrNameLst>
                                          <p:attrName>style.visibility</p:attrName>
                                        </p:attrNameLst>
                                      </p:cBhvr>
                                      <p:to>
                                        <p:strVal val="visible"/>
                                      </p:to>
                                    </p:set>
                                    <p:animEffect transition="in" filter="dissolve">
                                      <p:cBhvr>
                                        <p:cTn id="7" dur="500"/>
                                        <p:tgtEl>
                                          <p:spTgt spid="22261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6190">
                                            <p:txEl>
                                              <p:charRg st="0" end="23"/>
                                            </p:txEl>
                                          </p:spTgt>
                                        </p:tgtEl>
                                        <p:attrNameLst>
                                          <p:attrName>style.visibility</p:attrName>
                                        </p:attrNameLst>
                                      </p:cBhvr>
                                      <p:to>
                                        <p:strVal val="visible"/>
                                      </p:to>
                                    </p:set>
                                    <p:animEffect transition="in" filter="dissolve">
                                      <p:cBhvr>
                                        <p:cTn id="12" dur="500"/>
                                        <p:tgtEl>
                                          <p:spTgt spid="2226190">
                                            <p:txEl>
                                              <p:charRg st="0" end="2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26190">
                                            <p:txEl>
                                              <p:charRg st="23" end="36"/>
                                            </p:txEl>
                                          </p:spTgt>
                                        </p:tgtEl>
                                        <p:attrNameLst>
                                          <p:attrName>style.visibility</p:attrName>
                                        </p:attrNameLst>
                                      </p:cBhvr>
                                      <p:to>
                                        <p:strVal val="visible"/>
                                      </p:to>
                                    </p:set>
                                    <p:animEffect transition="in" filter="dissolve">
                                      <p:cBhvr>
                                        <p:cTn id="17" dur="500"/>
                                        <p:tgtEl>
                                          <p:spTgt spid="2226190">
                                            <p:txEl>
                                              <p:charRg st="23" end="3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26190">
                                            <p:txEl>
                                              <p:charRg st="36" end="53"/>
                                            </p:txEl>
                                          </p:spTgt>
                                        </p:tgtEl>
                                        <p:attrNameLst>
                                          <p:attrName>style.visibility</p:attrName>
                                        </p:attrNameLst>
                                      </p:cBhvr>
                                      <p:to>
                                        <p:strVal val="visible"/>
                                      </p:to>
                                    </p:set>
                                    <p:animEffect transition="in" filter="dissolve">
                                      <p:cBhvr>
                                        <p:cTn id="22" dur="500"/>
                                        <p:tgtEl>
                                          <p:spTgt spid="2226190">
                                            <p:txEl>
                                              <p:charRg st="36" end="5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26190">
                                            <p:txEl>
                                              <p:charRg st="53" end="68"/>
                                            </p:txEl>
                                          </p:spTgt>
                                        </p:tgtEl>
                                        <p:attrNameLst>
                                          <p:attrName>style.visibility</p:attrName>
                                        </p:attrNameLst>
                                      </p:cBhvr>
                                      <p:to>
                                        <p:strVal val="visible"/>
                                      </p:to>
                                    </p:set>
                                    <p:animEffect transition="in" filter="dissolve">
                                      <p:cBhvr>
                                        <p:cTn id="27" dur="500"/>
                                        <p:tgtEl>
                                          <p:spTgt spid="2226190">
                                            <p:txEl>
                                              <p:charRg st="53" end="68"/>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26190">
                                            <p:txEl>
                                              <p:charRg st="68" end="90"/>
                                            </p:txEl>
                                          </p:spTgt>
                                        </p:tgtEl>
                                        <p:attrNameLst>
                                          <p:attrName>style.visibility</p:attrName>
                                        </p:attrNameLst>
                                      </p:cBhvr>
                                      <p:to>
                                        <p:strVal val="visible"/>
                                      </p:to>
                                    </p:set>
                                    <p:animEffect transition="in" filter="dissolve">
                                      <p:cBhvr>
                                        <p:cTn id="32" dur="500"/>
                                        <p:tgtEl>
                                          <p:spTgt spid="2226190">
                                            <p:txEl>
                                              <p:charRg st="68" end="9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6188" grpId="0" animBg="1"/>
      <p:bldP spid="2226190" grpId="0"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227216" name="Picture 5136"/>
          <p:cNvPicPr>
            <a:picLocks noChangeAspect="1"/>
          </p:cNvPicPr>
          <p:nvPr/>
        </p:nvPicPr>
        <p:blipFill>
          <a:blip r:embed="rId1"/>
          <a:stretch>
            <a:fillRect/>
          </a:stretch>
        </p:blipFill>
        <p:spPr>
          <a:xfrm>
            <a:off x="5476875" y="1016000"/>
            <a:ext cx="1093788" cy="1023938"/>
          </a:xfrm>
          <a:prstGeom prst="rect">
            <a:avLst/>
          </a:prstGeom>
          <a:noFill/>
          <a:ln w="9525">
            <a:noFill/>
          </a:ln>
        </p:spPr>
      </p:pic>
      <p:sp>
        <p:nvSpPr>
          <p:cNvPr id="2227293" name="Line 5213"/>
          <p:cNvSpPr/>
          <p:nvPr/>
        </p:nvSpPr>
        <p:spPr>
          <a:xfrm>
            <a:off x="4929188" y="2971800"/>
            <a:ext cx="0" cy="292100"/>
          </a:xfrm>
          <a:prstGeom prst="line">
            <a:avLst/>
          </a:prstGeom>
          <a:ln w="28575" cap="flat" cmpd="sng">
            <a:solidFill>
              <a:schemeClr val="accent2"/>
            </a:solidFill>
            <a:prstDash val="solid"/>
            <a:headEnd type="none" w="med" len="med"/>
            <a:tailEnd type="none" w="med" len="med"/>
          </a:ln>
        </p:spPr>
      </p:sp>
      <p:sp>
        <p:nvSpPr>
          <p:cNvPr id="2227294" name="Line 5214"/>
          <p:cNvSpPr/>
          <p:nvPr/>
        </p:nvSpPr>
        <p:spPr>
          <a:xfrm>
            <a:off x="2265363" y="3263900"/>
            <a:ext cx="5791200" cy="1588"/>
          </a:xfrm>
          <a:prstGeom prst="line">
            <a:avLst/>
          </a:prstGeom>
          <a:ln w="28575" cap="flat" cmpd="sng">
            <a:solidFill>
              <a:schemeClr val="accent2"/>
            </a:solidFill>
            <a:prstDash val="solid"/>
            <a:headEnd type="none" w="med" len="med"/>
            <a:tailEnd type="none" w="med" len="med"/>
          </a:ln>
        </p:spPr>
      </p:sp>
      <p:sp>
        <p:nvSpPr>
          <p:cNvPr id="2227307" name="Text Box 5227"/>
          <p:cNvSpPr txBox="1"/>
          <p:nvPr/>
        </p:nvSpPr>
        <p:spPr>
          <a:xfrm>
            <a:off x="3336925" y="4591050"/>
            <a:ext cx="719138" cy="560388"/>
          </a:xfrm>
          <a:prstGeom prst="rect">
            <a:avLst/>
          </a:prstGeom>
          <a:noFill/>
          <a:ln w="50800">
            <a:noFill/>
          </a:ln>
        </p:spPr>
        <p:txBody>
          <a:bodyPr lIns="0" tIns="0" rIns="0" bIns="0"/>
          <a:p>
            <a:pPr algn="ctr"/>
            <a:r>
              <a:rPr lang="zh-CN" altLang="en-US" sz="1800" b="1" dirty="0">
                <a:latin typeface="Times New Roman" panose="02020603050405020304" pitchFamily="18" charset="0"/>
              </a:rPr>
              <a:t>模拟量输入</a:t>
            </a:r>
            <a:endParaRPr lang="zh-CN" altLang="en-US" sz="1800" b="1" dirty="0">
              <a:latin typeface="Times New Roman" panose="02020603050405020304" pitchFamily="18" charset="0"/>
            </a:endParaRPr>
          </a:p>
        </p:txBody>
      </p:sp>
      <p:sp>
        <p:nvSpPr>
          <p:cNvPr id="2227308" name="Text Box 5228"/>
          <p:cNvSpPr txBox="1"/>
          <p:nvPr/>
        </p:nvSpPr>
        <p:spPr>
          <a:xfrm>
            <a:off x="830263" y="4556125"/>
            <a:ext cx="706437" cy="547688"/>
          </a:xfrm>
          <a:prstGeom prst="rect">
            <a:avLst/>
          </a:prstGeom>
          <a:noFill/>
          <a:ln w="50800">
            <a:noFill/>
          </a:ln>
        </p:spPr>
        <p:txBody>
          <a:bodyPr lIns="0" tIns="0" rIns="0" bIns="0"/>
          <a:p>
            <a:pPr algn="ctr"/>
            <a:r>
              <a:rPr lang="zh-CN" altLang="en-US" sz="1800" b="1" dirty="0">
                <a:latin typeface="Times New Roman" panose="02020603050405020304" pitchFamily="18" charset="0"/>
              </a:rPr>
              <a:t>模拟量输入</a:t>
            </a:r>
            <a:endParaRPr lang="zh-CN" altLang="en-US" sz="1800" b="1" dirty="0">
              <a:latin typeface="Times New Roman" panose="02020603050405020304" pitchFamily="18" charset="0"/>
            </a:endParaRPr>
          </a:p>
        </p:txBody>
      </p:sp>
      <p:sp>
        <p:nvSpPr>
          <p:cNvPr id="2227309" name="Text Box 5229"/>
          <p:cNvSpPr txBox="1"/>
          <p:nvPr/>
        </p:nvSpPr>
        <p:spPr>
          <a:xfrm>
            <a:off x="6581775" y="4583113"/>
            <a:ext cx="693738" cy="561975"/>
          </a:xfrm>
          <a:prstGeom prst="rect">
            <a:avLst/>
          </a:prstGeom>
          <a:noFill/>
          <a:ln w="50800">
            <a:noFill/>
          </a:ln>
        </p:spPr>
        <p:txBody>
          <a:bodyPr lIns="0" tIns="0" rIns="0" bIns="0"/>
          <a:p>
            <a:pPr algn="ctr"/>
            <a:r>
              <a:rPr lang="zh-CN" altLang="en-US" sz="1800" b="1" dirty="0">
                <a:latin typeface="Times New Roman" panose="02020603050405020304" pitchFamily="18" charset="0"/>
              </a:rPr>
              <a:t>模拟量输入</a:t>
            </a:r>
            <a:endParaRPr lang="zh-CN" altLang="en-US" sz="1800" b="1" dirty="0">
              <a:latin typeface="Times New Roman" panose="02020603050405020304" pitchFamily="18" charset="0"/>
            </a:endParaRPr>
          </a:p>
        </p:txBody>
      </p:sp>
      <p:sp>
        <p:nvSpPr>
          <p:cNvPr id="2227311" name="Text Box 5231"/>
          <p:cNvSpPr txBox="1"/>
          <p:nvPr/>
        </p:nvSpPr>
        <p:spPr>
          <a:xfrm>
            <a:off x="7853363" y="4557713"/>
            <a:ext cx="731837" cy="561975"/>
          </a:xfrm>
          <a:prstGeom prst="rect">
            <a:avLst/>
          </a:prstGeom>
          <a:noFill/>
          <a:ln w="50800">
            <a:noFill/>
          </a:ln>
        </p:spPr>
        <p:txBody>
          <a:bodyPr lIns="0" tIns="0" rIns="0" bIns="0"/>
          <a:p>
            <a:pPr algn="ctr"/>
            <a:r>
              <a:rPr lang="zh-CN" altLang="en-US" sz="1800" b="1" dirty="0">
                <a:latin typeface="Times New Roman" panose="02020603050405020304" pitchFamily="18" charset="0"/>
              </a:rPr>
              <a:t>数字量输入</a:t>
            </a:r>
            <a:endParaRPr lang="zh-CN" altLang="en-US" sz="1800" b="1" dirty="0">
              <a:latin typeface="Times New Roman" panose="02020603050405020304" pitchFamily="18" charset="0"/>
            </a:endParaRPr>
          </a:p>
        </p:txBody>
      </p:sp>
      <p:sp>
        <p:nvSpPr>
          <p:cNvPr id="2227312" name="Text Box 5232"/>
          <p:cNvSpPr txBox="1"/>
          <p:nvPr/>
        </p:nvSpPr>
        <p:spPr>
          <a:xfrm>
            <a:off x="4568825" y="4576763"/>
            <a:ext cx="758825" cy="573087"/>
          </a:xfrm>
          <a:prstGeom prst="rect">
            <a:avLst/>
          </a:prstGeom>
          <a:noFill/>
          <a:ln w="50800">
            <a:noFill/>
          </a:ln>
        </p:spPr>
        <p:txBody>
          <a:bodyPr lIns="0" tIns="0" rIns="0" bIns="0"/>
          <a:p>
            <a:pPr algn="ctr"/>
            <a:r>
              <a:rPr lang="zh-CN" altLang="en-US" sz="1800" b="1" dirty="0">
                <a:latin typeface="Times New Roman" panose="02020603050405020304" pitchFamily="18" charset="0"/>
              </a:rPr>
              <a:t>数字量</a:t>
            </a:r>
            <a:endParaRPr lang="zh-CN" altLang="en-US" sz="1800" b="1" dirty="0">
              <a:latin typeface="Times New Roman" panose="02020603050405020304" pitchFamily="18" charset="0"/>
            </a:endParaRPr>
          </a:p>
          <a:p>
            <a:pPr algn="ctr"/>
            <a:r>
              <a:rPr lang="zh-CN" altLang="en-US" sz="1800" b="1" dirty="0">
                <a:latin typeface="Times New Roman" panose="02020603050405020304" pitchFamily="18" charset="0"/>
              </a:rPr>
              <a:t>输入</a:t>
            </a:r>
            <a:endParaRPr lang="zh-CN" altLang="en-US" sz="1800" b="1" dirty="0">
              <a:latin typeface="Times New Roman" panose="02020603050405020304" pitchFamily="18" charset="0"/>
            </a:endParaRPr>
          </a:p>
        </p:txBody>
      </p:sp>
      <p:sp>
        <p:nvSpPr>
          <p:cNvPr id="2227313" name="Text Box 5233"/>
          <p:cNvSpPr txBox="1"/>
          <p:nvPr/>
        </p:nvSpPr>
        <p:spPr>
          <a:xfrm>
            <a:off x="2081213" y="4551363"/>
            <a:ext cx="758825" cy="560387"/>
          </a:xfrm>
          <a:prstGeom prst="rect">
            <a:avLst/>
          </a:prstGeom>
          <a:noFill/>
          <a:ln w="50800">
            <a:noFill/>
          </a:ln>
        </p:spPr>
        <p:txBody>
          <a:bodyPr lIns="0" tIns="0" rIns="0" bIns="0"/>
          <a:p>
            <a:pPr algn="ctr"/>
            <a:r>
              <a:rPr lang="zh-CN" altLang="en-US" sz="1800" b="1" dirty="0">
                <a:latin typeface="Times New Roman" panose="02020603050405020304" pitchFamily="18" charset="0"/>
              </a:rPr>
              <a:t>数字量输入</a:t>
            </a:r>
            <a:endParaRPr lang="zh-CN" altLang="en-US" sz="1800" b="1" dirty="0">
              <a:latin typeface="Times New Roman" panose="02020603050405020304" pitchFamily="18" charset="0"/>
            </a:endParaRPr>
          </a:p>
        </p:txBody>
      </p:sp>
      <p:sp>
        <p:nvSpPr>
          <p:cNvPr id="2227314" name="Text Box 5234"/>
          <p:cNvSpPr txBox="1"/>
          <p:nvPr/>
        </p:nvSpPr>
        <p:spPr>
          <a:xfrm>
            <a:off x="2676525" y="2954338"/>
            <a:ext cx="895350" cy="339725"/>
          </a:xfrm>
          <a:prstGeom prst="rect">
            <a:avLst/>
          </a:prstGeom>
          <a:noFill/>
          <a:ln w="9525">
            <a:noFill/>
          </a:ln>
        </p:spPr>
        <p:txBody>
          <a:bodyPr wrap="none">
            <a:spAutoFit/>
          </a:bodyPr>
          <a:p>
            <a:pPr eaLnBrk="1" hangingPunct="1">
              <a:lnSpc>
                <a:spcPct val="90000"/>
              </a:lnSpc>
            </a:pPr>
            <a:r>
              <a:rPr lang="en-US" altLang="zh-CN" sz="1800" b="1" dirty="0">
                <a:latin typeface="Times New Roman" panose="02020603050405020304" pitchFamily="18" charset="0"/>
              </a:rPr>
              <a:t>RS-485</a:t>
            </a:r>
            <a:endParaRPr lang="en-US" altLang="zh-CN" sz="1800" b="1" dirty="0">
              <a:latin typeface="Times New Roman" panose="02020603050405020304" pitchFamily="18" charset="0"/>
            </a:endParaRPr>
          </a:p>
        </p:txBody>
      </p:sp>
      <p:sp>
        <p:nvSpPr>
          <p:cNvPr id="2227315" name="Text Box 5235"/>
          <p:cNvSpPr txBox="1"/>
          <p:nvPr/>
        </p:nvSpPr>
        <p:spPr>
          <a:xfrm>
            <a:off x="6605588" y="2974975"/>
            <a:ext cx="895350" cy="339725"/>
          </a:xfrm>
          <a:prstGeom prst="rect">
            <a:avLst/>
          </a:prstGeom>
          <a:noFill/>
          <a:ln w="9525">
            <a:noFill/>
          </a:ln>
        </p:spPr>
        <p:txBody>
          <a:bodyPr wrap="none">
            <a:spAutoFit/>
          </a:bodyPr>
          <a:p>
            <a:pPr eaLnBrk="1" hangingPunct="1">
              <a:lnSpc>
                <a:spcPct val="90000"/>
              </a:lnSpc>
            </a:pPr>
            <a:r>
              <a:rPr lang="en-US" altLang="zh-CN" sz="1800" b="1" dirty="0">
                <a:latin typeface="Times New Roman" panose="02020603050405020304" pitchFamily="18" charset="0"/>
              </a:rPr>
              <a:t>RS-485</a:t>
            </a:r>
            <a:endParaRPr lang="en-US" altLang="zh-CN" sz="1800" b="1" dirty="0">
              <a:latin typeface="Times New Roman" panose="02020603050405020304" pitchFamily="18" charset="0"/>
            </a:endParaRPr>
          </a:p>
        </p:txBody>
      </p:sp>
      <p:grpSp>
        <p:nvGrpSpPr>
          <p:cNvPr id="2" name="Group 5241"/>
          <p:cNvGrpSpPr/>
          <p:nvPr/>
        </p:nvGrpSpPr>
        <p:grpSpPr>
          <a:xfrm>
            <a:off x="900113" y="5189538"/>
            <a:ext cx="1658937" cy="1082675"/>
            <a:chOff x="1043" y="3057"/>
            <a:chExt cx="1045" cy="682"/>
          </a:xfrm>
        </p:grpSpPr>
        <p:grpSp>
          <p:nvGrpSpPr>
            <p:cNvPr id="58462" name="Group 5140"/>
            <p:cNvGrpSpPr>
              <a:grpSpLocks noChangeAspect="1"/>
            </p:cNvGrpSpPr>
            <p:nvPr/>
          </p:nvGrpSpPr>
          <p:grpSpPr>
            <a:xfrm>
              <a:off x="1268" y="3108"/>
              <a:ext cx="820" cy="499"/>
              <a:chOff x="3716" y="1155"/>
              <a:chExt cx="1385" cy="843"/>
            </a:xfrm>
          </p:grpSpPr>
          <p:sp>
            <p:nvSpPr>
              <p:cNvPr id="58464" name="Rectangle 5141"/>
              <p:cNvSpPr>
                <a:spLocks noChangeAspect="1"/>
              </p:cNvSpPr>
              <p:nvPr/>
            </p:nvSpPr>
            <p:spPr>
              <a:xfrm>
                <a:off x="3716" y="1155"/>
                <a:ext cx="1385" cy="843"/>
              </a:xfrm>
              <a:prstGeom prst="rect">
                <a:avLst/>
              </a:prstGeom>
              <a:noFill/>
              <a:ln w="12700" cap="flat" cmpd="sng">
                <a:solidFill>
                  <a:srgbClr val="CCDDFF"/>
                </a:solidFill>
                <a:prstDash val="solid"/>
                <a:miter/>
                <a:headEnd type="none" w="med" len="med"/>
                <a:tailEnd type="none" w="med" len="med"/>
              </a:ln>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65" name="Line 5142"/>
              <p:cNvSpPr>
                <a:spLocks noChangeAspect="1"/>
              </p:cNvSpPr>
              <p:nvPr/>
            </p:nvSpPr>
            <p:spPr>
              <a:xfrm flipV="1">
                <a:off x="4181" y="1359"/>
                <a:ext cx="0" cy="133"/>
              </a:xfrm>
              <a:prstGeom prst="line">
                <a:avLst/>
              </a:prstGeom>
              <a:ln w="12700" cap="flat" cmpd="sng">
                <a:solidFill>
                  <a:srgbClr val="000000"/>
                </a:solidFill>
                <a:prstDash val="solid"/>
                <a:headEnd type="none" w="sm" len="sm"/>
                <a:tailEnd type="none" w="sm" len="sm"/>
              </a:ln>
            </p:spPr>
          </p:sp>
          <p:sp>
            <p:nvSpPr>
              <p:cNvPr id="58466" name="Line 5143"/>
              <p:cNvSpPr>
                <a:spLocks noChangeAspect="1"/>
              </p:cNvSpPr>
              <p:nvPr/>
            </p:nvSpPr>
            <p:spPr>
              <a:xfrm>
                <a:off x="4181" y="1359"/>
                <a:ext cx="53" cy="0"/>
              </a:xfrm>
              <a:prstGeom prst="line">
                <a:avLst/>
              </a:prstGeom>
              <a:ln w="12700" cap="flat" cmpd="sng">
                <a:solidFill>
                  <a:srgbClr val="000000"/>
                </a:solidFill>
                <a:prstDash val="solid"/>
                <a:headEnd type="none" w="sm" len="sm"/>
                <a:tailEnd type="none" w="sm" len="sm"/>
              </a:ln>
            </p:spPr>
          </p:sp>
          <p:sp>
            <p:nvSpPr>
              <p:cNvPr id="58467" name="Line 5144"/>
              <p:cNvSpPr>
                <a:spLocks noChangeAspect="1"/>
              </p:cNvSpPr>
              <p:nvPr/>
            </p:nvSpPr>
            <p:spPr>
              <a:xfrm>
                <a:off x="4181" y="1492"/>
                <a:ext cx="0" cy="128"/>
              </a:xfrm>
              <a:prstGeom prst="line">
                <a:avLst/>
              </a:prstGeom>
              <a:ln w="12700" cap="flat" cmpd="sng">
                <a:solidFill>
                  <a:srgbClr val="000000"/>
                </a:solidFill>
                <a:prstDash val="solid"/>
                <a:headEnd type="none" w="sm" len="sm"/>
                <a:tailEnd type="none" w="sm" len="sm"/>
              </a:ln>
            </p:spPr>
          </p:sp>
          <p:sp>
            <p:nvSpPr>
              <p:cNvPr id="58468" name="Line 5145"/>
              <p:cNvSpPr>
                <a:spLocks noChangeAspect="1"/>
              </p:cNvSpPr>
              <p:nvPr/>
            </p:nvSpPr>
            <p:spPr>
              <a:xfrm>
                <a:off x="4181" y="1620"/>
                <a:ext cx="53" cy="0"/>
              </a:xfrm>
              <a:prstGeom prst="line">
                <a:avLst/>
              </a:prstGeom>
              <a:ln w="12700" cap="flat" cmpd="sng">
                <a:solidFill>
                  <a:srgbClr val="000000"/>
                </a:solidFill>
                <a:prstDash val="solid"/>
                <a:headEnd type="none" w="sm" len="sm"/>
                <a:tailEnd type="none" w="sm" len="sm"/>
              </a:ln>
            </p:spPr>
          </p:sp>
          <p:sp>
            <p:nvSpPr>
              <p:cNvPr id="58469" name="Line 5146"/>
              <p:cNvSpPr>
                <a:spLocks noChangeAspect="1"/>
              </p:cNvSpPr>
              <p:nvPr/>
            </p:nvSpPr>
            <p:spPr>
              <a:xfrm>
                <a:off x="4444" y="1807"/>
                <a:ext cx="57" cy="0"/>
              </a:xfrm>
              <a:prstGeom prst="line">
                <a:avLst/>
              </a:prstGeom>
              <a:ln w="12700" cap="flat" cmpd="sng">
                <a:solidFill>
                  <a:srgbClr val="000000"/>
                </a:solidFill>
                <a:prstDash val="solid"/>
                <a:headEnd type="none" w="sm" len="sm"/>
                <a:tailEnd type="none" w="sm" len="sm"/>
              </a:ln>
            </p:spPr>
          </p:sp>
          <p:sp>
            <p:nvSpPr>
              <p:cNvPr id="58470" name="Line 5147"/>
              <p:cNvSpPr>
                <a:spLocks noChangeAspect="1"/>
              </p:cNvSpPr>
              <p:nvPr/>
            </p:nvSpPr>
            <p:spPr>
              <a:xfrm flipV="1">
                <a:off x="4501" y="1620"/>
                <a:ext cx="0" cy="187"/>
              </a:xfrm>
              <a:prstGeom prst="line">
                <a:avLst/>
              </a:prstGeom>
              <a:ln w="12700" cap="flat" cmpd="sng">
                <a:solidFill>
                  <a:srgbClr val="000000"/>
                </a:solidFill>
                <a:prstDash val="solid"/>
                <a:headEnd type="none" w="sm" len="sm"/>
                <a:tailEnd type="none" w="sm" len="sm"/>
              </a:ln>
            </p:spPr>
          </p:sp>
          <p:sp>
            <p:nvSpPr>
              <p:cNvPr id="58471" name="Line 5148"/>
              <p:cNvSpPr>
                <a:spLocks noChangeAspect="1"/>
              </p:cNvSpPr>
              <p:nvPr/>
            </p:nvSpPr>
            <p:spPr>
              <a:xfrm>
                <a:off x="4764" y="1618"/>
                <a:ext cx="55" cy="2"/>
              </a:xfrm>
              <a:prstGeom prst="line">
                <a:avLst/>
              </a:prstGeom>
              <a:ln w="12700" cap="flat" cmpd="sng">
                <a:solidFill>
                  <a:srgbClr val="000000"/>
                </a:solidFill>
                <a:prstDash val="solid"/>
                <a:headEnd type="none" w="sm" len="sm"/>
                <a:tailEnd type="none" w="sm" len="sm"/>
              </a:ln>
            </p:spPr>
          </p:sp>
          <p:sp>
            <p:nvSpPr>
              <p:cNvPr id="58472" name="Line 5149"/>
              <p:cNvSpPr>
                <a:spLocks noChangeAspect="1"/>
              </p:cNvSpPr>
              <p:nvPr/>
            </p:nvSpPr>
            <p:spPr>
              <a:xfrm flipV="1">
                <a:off x="4819" y="1492"/>
                <a:ext cx="0" cy="128"/>
              </a:xfrm>
              <a:prstGeom prst="line">
                <a:avLst/>
              </a:prstGeom>
              <a:ln w="12700" cap="flat" cmpd="sng">
                <a:solidFill>
                  <a:srgbClr val="000000"/>
                </a:solidFill>
                <a:prstDash val="solid"/>
                <a:headEnd type="none" w="sm" len="sm"/>
                <a:tailEnd type="none" w="sm" len="sm"/>
              </a:ln>
            </p:spPr>
          </p:sp>
          <p:sp>
            <p:nvSpPr>
              <p:cNvPr id="58473" name="Line 5150"/>
              <p:cNvSpPr>
                <a:spLocks noChangeAspect="1"/>
              </p:cNvSpPr>
              <p:nvPr/>
            </p:nvSpPr>
            <p:spPr>
              <a:xfrm>
                <a:off x="4819" y="1492"/>
                <a:ext cx="56" cy="0"/>
              </a:xfrm>
              <a:prstGeom prst="line">
                <a:avLst/>
              </a:prstGeom>
              <a:ln w="12700" cap="flat" cmpd="sng">
                <a:solidFill>
                  <a:srgbClr val="000000"/>
                </a:solidFill>
                <a:prstDash val="solid"/>
                <a:headEnd type="none" w="sm" len="sm"/>
                <a:tailEnd type="none" w="sm" len="sm"/>
              </a:ln>
            </p:spPr>
          </p:sp>
          <p:sp>
            <p:nvSpPr>
              <p:cNvPr id="58474" name="Line 5151"/>
              <p:cNvSpPr>
                <a:spLocks noChangeAspect="1"/>
              </p:cNvSpPr>
              <p:nvPr/>
            </p:nvSpPr>
            <p:spPr>
              <a:xfrm>
                <a:off x="4444" y="1359"/>
                <a:ext cx="375" cy="0"/>
              </a:xfrm>
              <a:prstGeom prst="line">
                <a:avLst/>
              </a:prstGeom>
              <a:ln w="12700" cap="flat" cmpd="sng">
                <a:solidFill>
                  <a:srgbClr val="000000"/>
                </a:solidFill>
                <a:prstDash val="solid"/>
                <a:headEnd type="none" w="sm" len="sm"/>
                <a:tailEnd type="none" w="sm" len="sm"/>
              </a:ln>
            </p:spPr>
          </p:sp>
          <p:sp>
            <p:nvSpPr>
              <p:cNvPr id="58475" name="Line 5152"/>
              <p:cNvSpPr>
                <a:spLocks noChangeAspect="1"/>
              </p:cNvSpPr>
              <p:nvPr/>
            </p:nvSpPr>
            <p:spPr>
              <a:xfrm>
                <a:off x="4819" y="1359"/>
                <a:ext cx="0" cy="133"/>
              </a:xfrm>
              <a:prstGeom prst="line">
                <a:avLst/>
              </a:prstGeom>
              <a:ln w="12700" cap="flat" cmpd="sng">
                <a:solidFill>
                  <a:srgbClr val="000000"/>
                </a:solidFill>
                <a:prstDash val="solid"/>
                <a:headEnd type="none" w="sm" len="sm"/>
                <a:tailEnd type="none" w="sm" len="sm"/>
              </a:ln>
            </p:spPr>
          </p:sp>
          <p:sp>
            <p:nvSpPr>
              <p:cNvPr id="58476" name="Line 5153"/>
              <p:cNvSpPr>
                <a:spLocks noChangeAspect="1"/>
              </p:cNvSpPr>
              <p:nvPr/>
            </p:nvSpPr>
            <p:spPr>
              <a:xfrm>
                <a:off x="4120" y="1488"/>
                <a:ext cx="61" cy="0"/>
              </a:xfrm>
              <a:prstGeom prst="line">
                <a:avLst/>
              </a:prstGeom>
              <a:ln w="12700" cap="flat" cmpd="sng">
                <a:solidFill>
                  <a:srgbClr val="000000"/>
                </a:solidFill>
                <a:prstDash val="solid"/>
                <a:headEnd type="none" w="sm" len="sm"/>
                <a:tailEnd type="none" w="sm" len="sm"/>
              </a:ln>
            </p:spPr>
          </p:sp>
          <p:sp>
            <p:nvSpPr>
              <p:cNvPr id="58477" name="Line 5154"/>
              <p:cNvSpPr>
                <a:spLocks noChangeAspect="1"/>
              </p:cNvSpPr>
              <p:nvPr/>
            </p:nvSpPr>
            <p:spPr>
              <a:xfrm>
                <a:off x="4120" y="1800"/>
                <a:ext cx="108" cy="0"/>
              </a:xfrm>
              <a:prstGeom prst="line">
                <a:avLst/>
              </a:prstGeom>
              <a:ln w="12700" cap="flat" cmpd="sng">
                <a:solidFill>
                  <a:srgbClr val="000000"/>
                </a:solidFill>
                <a:prstDash val="solid"/>
                <a:headEnd type="none" w="sm" len="sm"/>
                <a:tailEnd type="none" w="sm" len="sm"/>
              </a:ln>
            </p:spPr>
          </p:sp>
          <p:sp>
            <p:nvSpPr>
              <p:cNvPr id="58478" name="Line 5155"/>
              <p:cNvSpPr>
                <a:spLocks noChangeAspect="1"/>
              </p:cNvSpPr>
              <p:nvPr/>
            </p:nvSpPr>
            <p:spPr>
              <a:xfrm>
                <a:off x="4440" y="1618"/>
                <a:ext cx="111" cy="0"/>
              </a:xfrm>
              <a:prstGeom prst="line">
                <a:avLst/>
              </a:prstGeom>
              <a:ln w="12700" cap="flat" cmpd="sng">
                <a:solidFill>
                  <a:srgbClr val="000000"/>
                </a:solidFill>
                <a:prstDash val="solid"/>
                <a:headEnd type="none" w="sm" len="sm"/>
                <a:tailEnd type="none" w="sm" len="sm"/>
              </a:ln>
            </p:spPr>
          </p:sp>
          <p:sp>
            <p:nvSpPr>
              <p:cNvPr id="58479" name="Rectangle 5156"/>
              <p:cNvSpPr>
                <a:spLocks noChangeAspect="1"/>
              </p:cNvSpPr>
              <p:nvPr/>
            </p:nvSpPr>
            <p:spPr>
              <a:xfrm>
                <a:off x="3915" y="1441"/>
                <a:ext cx="196" cy="86"/>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0" name="Rectangle 5157"/>
              <p:cNvSpPr>
                <a:spLocks noChangeAspect="1"/>
              </p:cNvSpPr>
              <p:nvPr/>
            </p:nvSpPr>
            <p:spPr>
              <a:xfrm>
                <a:off x="4238" y="1310"/>
                <a:ext cx="196" cy="81"/>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1" name="Rectangle 5158"/>
              <p:cNvSpPr>
                <a:spLocks noChangeAspect="1"/>
              </p:cNvSpPr>
              <p:nvPr/>
            </p:nvSpPr>
            <p:spPr>
              <a:xfrm>
                <a:off x="4238" y="1572"/>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2" name="Rectangle 5159"/>
              <p:cNvSpPr>
                <a:spLocks noChangeAspect="1"/>
              </p:cNvSpPr>
              <p:nvPr/>
            </p:nvSpPr>
            <p:spPr>
              <a:xfrm>
                <a:off x="4555" y="1572"/>
                <a:ext cx="198" cy="83"/>
              </a:xfrm>
              <a:prstGeom prst="rect">
                <a:avLst/>
              </a:prstGeom>
              <a:noFill/>
              <a:ln w="12700" cap="flat" cmpd="sng">
                <a:solidFill>
                  <a:srgbClr val="3333CC"/>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3" name="Rectangle 5160"/>
              <p:cNvSpPr>
                <a:spLocks noChangeAspect="1"/>
              </p:cNvSpPr>
              <p:nvPr/>
            </p:nvSpPr>
            <p:spPr>
              <a:xfrm>
                <a:off x="4880" y="1441"/>
                <a:ext cx="193"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4" name="Rectangle 5161"/>
              <p:cNvSpPr>
                <a:spLocks noChangeAspect="1"/>
              </p:cNvSpPr>
              <p:nvPr/>
            </p:nvSpPr>
            <p:spPr>
              <a:xfrm>
                <a:off x="4238"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85" name="Rectangle 5162"/>
              <p:cNvSpPr>
                <a:spLocks noChangeAspect="1"/>
              </p:cNvSpPr>
              <p:nvPr/>
            </p:nvSpPr>
            <p:spPr>
              <a:xfrm>
                <a:off x="3915"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grpSp>
        <p:sp>
          <p:nvSpPr>
            <p:cNvPr id="58463" name="Text Box 5236"/>
            <p:cNvSpPr txBox="1"/>
            <p:nvPr/>
          </p:nvSpPr>
          <p:spPr>
            <a:xfrm>
              <a:off x="1043" y="3057"/>
              <a:ext cx="316" cy="682"/>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生产</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现场</a:t>
              </a:r>
              <a:endParaRPr lang="zh-CN" altLang="en-US" sz="1800" b="1" dirty="0">
                <a:latin typeface="Times New Roman" panose="02020603050405020304" pitchFamily="18" charset="0"/>
              </a:endParaRPr>
            </a:p>
          </p:txBody>
        </p:sp>
      </p:grpSp>
      <p:grpSp>
        <p:nvGrpSpPr>
          <p:cNvPr id="4" name="Group 5240"/>
          <p:cNvGrpSpPr/>
          <p:nvPr/>
        </p:nvGrpSpPr>
        <p:grpSpPr>
          <a:xfrm>
            <a:off x="3327400" y="5184775"/>
            <a:ext cx="1654175" cy="1082675"/>
            <a:chOff x="2324" y="3054"/>
            <a:chExt cx="1042" cy="682"/>
          </a:xfrm>
        </p:grpSpPr>
        <p:grpSp>
          <p:nvGrpSpPr>
            <p:cNvPr id="58438" name="Group 5187"/>
            <p:cNvGrpSpPr>
              <a:grpSpLocks noChangeAspect="1"/>
            </p:cNvGrpSpPr>
            <p:nvPr/>
          </p:nvGrpSpPr>
          <p:grpSpPr>
            <a:xfrm>
              <a:off x="2546" y="3108"/>
              <a:ext cx="820" cy="499"/>
              <a:chOff x="3716" y="1155"/>
              <a:chExt cx="1385" cy="843"/>
            </a:xfrm>
          </p:grpSpPr>
          <p:sp>
            <p:nvSpPr>
              <p:cNvPr id="58440" name="Rectangle 5188"/>
              <p:cNvSpPr>
                <a:spLocks noChangeAspect="1"/>
              </p:cNvSpPr>
              <p:nvPr/>
            </p:nvSpPr>
            <p:spPr>
              <a:xfrm>
                <a:off x="3716" y="1155"/>
                <a:ext cx="1385" cy="843"/>
              </a:xfrm>
              <a:prstGeom prst="rect">
                <a:avLst/>
              </a:prstGeom>
              <a:noFill/>
              <a:ln w="12700" cap="flat" cmpd="sng">
                <a:solidFill>
                  <a:srgbClr val="CCDDFF"/>
                </a:solidFill>
                <a:prstDash val="solid"/>
                <a:miter/>
                <a:headEnd type="none" w="med" len="med"/>
                <a:tailEnd type="none" w="med" len="med"/>
              </a:ln>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41" name="Line 5189"/>
              <p:cNvSpPr>
                <a:spLocks noChangeAspect="1"/>
              </p:cNvSpPr>
              <p:nvPr/>
            </p:nvSpPr>
            <p:spPr>
              <a:xfrm flipV="1">
                <a:off x="4181" y="1359"/>
                <a:ext cx="0" cy="133"/>
              </a:xfrm>
              <a:prstGeom prst="line">
                <a:avLst/>
              </a:prstGeom>
              <a:ln w="12700" cap="flat" cmpd="sng">
                <a:solidFill>
                  <a:srgbClr val="000000"/>
                </a:solidFill>
                <a:prstDash val="solid"/>
                <a:headEnd type="none" w="sm" len="sm"/>
                <a:tailEnd type="none" w="sm" len="sm"/>
              </a:ln>
            </p:spPr>
          </p:sp>
          <p:sp>
            <p:nvSpPr>
              <p:cNvPr id="58442" name="Line 5190"/>
              <p:cNvSpPr>
                <a:spLocks noChangeAspect="1"/>
              </p:cNvSpPr>
              <p:nvPr/>
            </p:nvSpPr>
            <p:spPr>
              <a:xfrm>
                <a:off x="4181" y="1359"/>
                <a:ext cx="53" cy="0"/>
              </a:xfrm>
              <a:prstGeom prst="line">
                <a:avLst/>
              </a:prstGeom>
              <a:ln w="12700" cap="flat" cmpd="sng">
                <a:solidFill>
                  <a:srgbClr val="000000"/>
                </a:solidFill>
                <a:prstDash val="solid"/>
                <a:headEnd type="none" w="sm" len="sm"/>
                <a:tailEnd type="none" w="sm" len="sm"/>
              </a:ln>
            </p:spPr>
          </p:sp>
          <p:sp>
            <p:nvSpPr>
              <p:cNvPr id="58443" name="Line 5191"/>
              <p:cNvSpPr>
                <a:spLocks noChangeAspect="1"/>
              </p:cNvSpPr>
              <p:nvPr/>
            </p:nvSpPr>
            <p:spPr>
              <a:xfrm>
                <a:off x="4181" y="1492"/>
                <a:ext cx="0" cy="128"/>
              </a:xfrm>
              <a:prstGeom prst="line">
                <a:avLst/>
              </a:prstGeom>
              <a:ln w="12700" cap="flat" cmpd="sng">
                <a:solidFill>
                  <a:srgbClr val="000000"/>
                </a:solidFill>
                <a:prstDash val="solid"/>
                <a:headEnd type="none" w="sm" len="sm"/>
                <a:tailEnd type="none" w="sm" len="sm"/>
              </a:ln>
            </p:spPr>
          </p:sp>
          <p:sp>
            <p:nvSpPr>
              <p:cNvPr id="58444" name="Line 5192"/>
              <p:cNvSpPr>
                <a:spLocks noChangeAspect="1"/>
              </p:cNvSpPr>
              <p:nvPr/>
            </p:nvSpPr>
            <p:spPr>
              <a:xfrm>
                <a:off x="4181" y="1620"/>
                <a:ext cx="53" cy="0"/>
              </a:xfrm>
              <a:prstGeom prst="line">
                <a:avLst/>
              </a:prstGeom>
              <a:ln w="12700" cap="flat" cmpd="sng">
                <a:solidFill>
                  <a:srgbClr val="000000"/>
                </a:solidFill>
                <a:prstDash val="solid"/>
                <a:headEnd type="none" w="sm" len="sm"/>
                <a:tailEnd type="none" w="sm" len="sm"/>
              </a:ln>
            </p:spPr>
          </p:sp>
          <p:sp>
            <p:nvSpPr>
              <p:cNvPr id="58445" name="Line 5193"/>
              <p:cNvSpPr>
                <a:spLocks noChangeAspect="1"/>
              </p:cNvSpPr>
              <p:nvPr/>
            </p:nvSpPr>
            <p:spPr>
              <a:xfrm>
                <a:off x="4444" y="1807"/>
                <a:ext cx="57" cy="0"/>
              </a:xfrm>
              <a:prstGeom prst="line">
                <a:avLst/>
              </a:prstGeom>
              <a:ln w="12700" cap="flat" cmpd="sng">
                <a:solidFill>
                  <a:srgbClr val="000000"/>
                </a:solidFill>
                <a:prstDash val="solid"/>
                <a:headEnd type="none" w="sm" len="sm"/>
                <a:tailEnd type="none" w="sm" len="sm"/>
              </a:ln>
            </p:spPr>
          </p:sp>
          <p:sp>
            <p:nvSpPr>
              <p:cNvPr id="58446" name="Line 5194"/>
              <p:cNvSpPr>
                <a:spLocks noChangeAspect="1"/>
              </p:cNvSpPr>
              <p:nvPr/>
            </p:nvSpPr>
            <p:spPr>
              <a:xfrm flipV="1">
                <a:off x="4501" y="1620"/>
                <a:ext cx="0" cy="187"/>
              </a:xfrm>
              <a:prstGeom prst="line">
                <a:avLst/>
              </a:prstGeom>
              <a:ln w="12700" cap="flat" cmpd="sng">
                <a:solidFill>
                  <a:srgbClr val="000000"/>
                </a:solidFill>
                <a:prstDash val="solid"/>
                <a:headEnd type="none" w="sm" len="sm"/>
                <a:tailEnd type="none" w="sm" len="sm"/>
              </a:ln>
            </p:spPr>
          </p:sp>
          <p:sp>
            <p:nvSpPr>
              <p:cNvPr id="58447" name="Line 5195"/>
              <p:cNvSpPr>
                <a:spLocks noChangeAspect="1"/>
              </p:cNvSpPr>
              <p:nvPr/>
            </p:nvSpPr>
            <p:spPr>
              <a:xfrm>
                <a:off x="4764" y="1618"/>
                <a:ext cx="55" cy="2"/>
              </a:xfrm>
              <a:prstGeom prst="line">
                <a:avLst/>
              </a:prstGeom>
              <a:ln w="12700" cap="flat" cmpd="sng">
                <a:solidFill>
                  <a:srgbClr val="000000"/>
                </a:solidFill>
                <a:prstDash val="solid"/>
                <a:headEnd type="none" w="sm" len="sm"/>
                <a:tailEnd type="none" w="sm" len="sm"/>
              </a:ln>
            </p:spPr>
          </p:sp>
          <p:sp>
            <p:nvSpPr>
              <p:cNvPr id="58448" name="Line 5196"/>
              <p:cNvSpPr>
                <a:spLocks noChangeAspect="1"/>
              </p:cNvSpPr>
              <p:nvPr/>
            </p:nvSpPr>
            <p:spPr>
              <a:xfrm flipV="1">
                <a:off x="4819" y="1492"/>
                <a:ext cx="0" cy="128"/>
              </a:xfrm>
              <a:prstGeom prst="line">
                <a:avLst/>
              </a:prstGeom>
              <a:ln w="12700" cap="flat" cmpd="sng">
                <a:solidFill>
                  <a:srgbClr val="000000"/>
                </a:solidFill>
                <a:prstDash val="solid"/>
                <a:headEnd type="none" w="sm" len="sm"/>
                <a:tailEnd type="none" w="sm" len="sm"/>
              </a:ln>
            </p:spPr>
          </p:sp>
          <p:sp>
            <p:nvSpPr>
              <p:cNvPr id="58449" name="Line 5197"/>
              <p:cNvSpPr>
                <a:spLocks noChangeAspect="1"/>
              </p:cNvSpPr>
              <p:nvPr/>
            </p:nvSpPr>
            <p:spPr>
              <a:xfrm>
                <a:off x="4819" y="1492"/>
                <a:ext cx="56" cy="0"/>
              </a:xfrm>
              <a:prstGeom prst="line">
                <a:avLst/>
              </a:prstGeom>
              <a:ln w="12700" cap="flat" cmpd="sng">
                <a:solidFill>
                  <a:srgbClr val="000000"/>
                </a:solidFill>
                <a:prstDash val="solid"/>
                <a:headEnd type="none" w="sm" len="sm"/>
                <a:tailEnd type="none" w="sm" len="sm"/>
              </a:ln>
            </p:spPr>
          </p:sp>
          <p:sp>
            <p:nvSpPr>
              <p:cNvPr id="58450" name="Line 5198"/>
              <p:cNvSpPr>
                <a:spLocks noChangeAspect="1"/>
              </p:cNvSpPr>
              <p:nvPr/>
            </p:nvSpPr>
            <p:spPr>
              <a:xfrm>
                <a:off x="4444" y="1359"/>
                <a:ext cx="375" cy="0"/>
              </a:xfrm>
              <a:prstGeom prst="line">
                <a:avLst/>
              </a:prstGeom>
              <a:ln w="12700" cap="flat" cmpd="sng">
                <a:solidFill>
                  <a:srgbClr val="000000"/>
                </a:solidFill>
                <a:prstDash val="solid"/>
                <a:headEnd type="none" w="sm" len="sm"/>
                <a:tailEnd type="none" w="sm" len="sm"/>
              </a:ln>
            </p:spPr>
          </p:sp>
          <p:sp>
            <p:nvSpPr>
              <p:cNvPr id="58451" name="Line 5199"/>
              <p:cNvSpPr>
                <a:spLocks noChangeAspect="1"/>
              </p:cNvSpPr>
              <p:nvPr/>
            </p:nvSpPr>
            <p:spPr>
              <a:xfrm>
                <a:off x="4819" y="1359"/>
                <a:ext cx="0" cy="133"/>
              </a:xfrm>
              <a:prstGeom prst="line">
                <a:avLst/>
              </a:prstGeom>
              <a:ln w="12700" cap="flat" cmpd="sng">
                <a:solidFill>
                  <a:srgbClr val="000000"/>
                </a:solidFill>
                <a:prstDash val="solid"/>
                <a:headEnd type="none" w="sm" len="sm"/>
                <a:tailEnd type="none" w="sm" len="sm"/>
              </a:ln>
            </p:spPr>
          </p:sp>
          <p:sp>
            <p:nvSpPr>
              <p:cNvPr id="58452" name="Line 5200"/>
              <p:cNvSpPr>
                <a:spLocks noChangeAspect="1"/>
              </p:cNvSpPr>
              <p:nvPr/>
            </p:nvSpPr>
            <p:spPr>
              <a:xfrm>
                <a:off x="4120" y="1488"/>
                <a:ext cx="61" cy="0"/>
              </a:xfrm>
              <a:prstGeom prst="line">
                <a:avLst/>
              </a:prstGeom>
              <a:ln w="12700" cap="flat" cmpd="sng">
                <a:solidFill>
                  <a:srgbClr val="000000"/>
                </a:solidFill>
                <a:prstDash val="solid"/>
                <a:headEnd type="none" w="sm" len="sm"/>
                <a:tailEnd type="none" w="sm" len="sm"/>
              </a:ln>
            </p:spPr>
          </p:sp>
          <p:sp>
            <p:nvSpPr>
              <p:cNvPr id="58453" name="Line 5201"/>
              <p:cNvSpPr>
                <a:spLocks noChangeAspect="1"/>
              </p:cNvSpPr>
              <p:nvPr/>
            </p:nvSpPr>
            <p:spPr>
              <a:xfrm>
                <a:off x="4120" y="1800"/>
                <a:ext cx="108" cy="0"/>
              </a:xfrm>
              <a:prstGeom prst="line">
                <a:avLst/>
              </a:prstGeom>
              <a:ln w="12700" cap="flat" cmpd="sng">
                <a:solidFill>
                  <a:srgbClr val="000000"/>
                </a:solidFill>
                <a:prstDash val="solid"/>
                <a:headEnd type="none" w="sm" len="sm"/>
                <a:tailEnd type="none" w="sm" len="sm"/>
              </a:ln>
            </p:spPr>
          </p:sp>
          <p:sp>
            <p:nvSpPr>
              <p:cNvPr id="58454" name="Line 5202"/>
              <p:cNvSpPr>
                <a:spLocks noChangeAspect="1"/>
              </p:cNvSpPr>
              <p:nvPr/>
            </p:nvSpPr>
            <p:spPr>
              <a:xfrm>
                <a:off x="4440" y="1618"/>
                <a:ext cx="111" cy="0"/>
              </a:xfrm>
              <a:prstGeom prst="line">
                <a:avLst/>
              </a:prstGeom>
              <a:ln w="12700" cap="flat" cmpd="sng">
                <a:solidFill>
                  <a:srgbClr val="000000"/>
                </a:solidFill>
                <a:prstDash val="solid"/>
                <a:headEnd type="none" w="sm" len="sm"/>
                <a:tailEnd type="none" w="sm" len="sm"/>
              </a:ln>
            </p:spPr>
          </p:sp>
          <p:sp>
            <p:nvSpPr>
              <p:cNvPr id="58455" name="Rectangle 5203"/>
              <p:cNvSpPr>
                <a:spLocks noChangeAspect="1"/>
              </p:cNvSpPr>
              <p:nvPr/>
            </p:nvSpPr>
            <p:spPr>
              <a:xfrm>
                <a:off x="3915" y="1441"/>
                <a:ext cx="196" cy="86"/>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56" name="Rectangle 5204"/>
              <p:cNvSpPr>
                <a:spLocks noChangeAspect="1"/>
              </p:cNvSpPr>
              <p:nvPr/>
            </p:nvSpPr>
            <p:spPr>
              <a:xfrm>
                <a:off x="4238" y="1310"/>
                <a:ext cx="196" cy="81"/>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57" name="Rectangle 5205"/>
              <p:cNvSpPr>
                <a:spLocks noChangeAspect="1"/>
              </p:cNvSpPr>
              <p:nvPr/>
            </p:nvSpPr>
            <p:spPr>
              <a:xfrm>
                <a:off x="4238" y="1572"/>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58" name="Rectangle 5206"/>
              <p:cNvSpPr>
                <a:spLocks noChangeAspect="1"/>
              </p:cNvSpPr>
              <p:nvPr/>
            </p:nvSpPr>
            <p:spPr>
              <a:xfrm>
                <a:off x="4555" y="1572"/>
                <a:ext cx="198" cy="83"/>
              </a:xfrm>
              <a:prstGeom prst="rect">
                <a:avLst/>
              </a:prstGeom>
              <a:noFill/>
              <a:ln w="12700" cap="flat" cmpd="sng">
                <a:solidFill>
                  <a:srgbClr val="3333CC"/>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59" name="Rectangle 5207"/>
              <p:cNvSpPr>
                <a:spLocks noChangeAspect="1"/>
              </p:cNvSpPr>
              <p:nvPr/>
            </p:nvSpPr>
            <p:spPr>
              <a:xfrm>
                <a:off x="4880" y="1441"/>
                <a:ext cx="193"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60" name="Rectangle 5208"/>
              <p:cNvSpPr>
                <a:spLocks noChangeAspect="1"/>
              </p:cNvSpPr>
              <p:nvPr/>
            </p:nvSpPr>
            <p:spPr>
              <a:xfrm>
                <a:off x="4238"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61" name="Rectangle 5209"/>
              <p:cNvSpPr>
                <a:spLocks noChangeAspect="1"/>
              </p:cNvSpPr>
              <p:nvPr/>
            </p:nvSpPr>
            <p:spPr>
              <a:xfrm>
                <a:off x="3915"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grpSp>
        <p:sp>
          <p:nvSpPr>
            <p:cNvPr id="58439" name="Text Box 5237"/>
            <p:cNvSpPr txBox="1"/>
            <p:nvPr/>
          </p:nvSpPr>
          <p:spPr>
            <a:xfrm>
              <a:off x="2324" y="3054"/>
              <a:ext cx="316" cy="682"/>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生产</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现场</a:t>
              </a:r>
              <a:endParaRPr lang="zh-CN" altLang="en-US" sz="1800" b="1" dirty="0">
                <a:latin typeface="Times New Roman" panose="02020603050405020304" pitchFamily="18" charset="0"/>
              </a:endParaRPr>
            </a:p>
          </p:txBody>
        </p:sp>
      </p:grpSp>
      <p:grpSp>
        <p:nvGrpSpPr>
          <p:cNvPr id="6" name="Group 5239"/>
          <p:cNvGrpSpPr/>
          <p:nvPr/>
        </p:nvGrpSpPr>
        <p:grpSpPr>
          <a:xfrm>
            <a:off x="6580188" y="5195888"/>
            <a:ext cx="1646237" cy="1082675"/>
            <a:chOff x="3585" y="3061"/>
            <a:chExt cx="1037" cy="682"/>
          </a:xfrm>
        </p:grpSpPr>
        <p:grpSp>
          <p:nvGrpSpPr>
            <p:cNvPr id="58414" name="Group 5164"/>
            <p:cNvGrpSpPr>
              <a:grpSpLocks noChangeAspect="1"/>
            </p:cNvGrpSpPr>
            <p:nvPr/>
          </p:nvGrpSpPr>
          <p:grpSpPr>
            <a:xfrm>
              <a:off x="3802" y="3113"/>
              <a:ext cx="820" cy="499"/>
              <a:chOff x="3716" y="1155"/>
              <a:chExt cx="1385" cy="843"/>
            </a:xfrm>
          </p:grpSpPr>
          <p:sp>
            <p:nvSpPr>
              <p:cNvPr id="58416" name="Rectangle 5165"/>
              <p:cNvSpPr>
                <a:spLocks noChangeAspect="1"/>
              </p:cNvSpPr>
              <p:nvPr/>
            </p:nvSpPr>
            <p:spPr>
              <a:xfrm>
                <a:off x="3716" y="1155"/>
                <a:ext cx="1385" cy="843"/>
              </a:xfrm>
              <a:prstGeom prst="rect">
                <a:avLst/>
              </a:prstGeom>
              <a:noFill/>
              <a:ln w="12700" cap="flat" cmpd="sng">
                <a:solidFill>
                  <a:srgbClr val="CCDDFF"/>
                </a:solidFill>
                <a:prstDash val="solid"/>
                <a:miter/>
                <a:headEnd type="none" w="med" len="med"/>
                <a:tailEnd type="none" w="med" len="med"/>
              </a:ln>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17" name="Line 5166"/>
              <p:cNvSpPr>
                <a:spLocks noChangeAspect="1"/>
              </p:cNvSpPr>
              <p:nvPr/>
            </p:nvSpPr>
            <p:spPr>
              <a:xfrm flipV="1">
                <a:off x="4181" y="1359"/>
                <a:ext cx="0" cy="133"/>
              </a:xfrm>
              <a:prstGeom prst="line">
                <a:avLst/>
              </a:prstGeom>
              <a:ln w="12700" cap="flat" cmpd="sng">
                <a:solidFill>
                  <a:srgbClr val="000000"/>
                </a:solidFill>
                <a:prstDash val="solid"/>
                <a:headEnd type="none" w="sm" len="sm"/>
                <a:tailEnd type="none" w="sm" len="sm"/>
              </a:ln>
            </p:spPr>
          </p:sp>
          <p:sp>
            <p:nvSpPr>
              <p:cNvPr id="58418" name="Line 5167"/>
              <p:cNvSpPr>
                <a:spLocks noChangeAspect="1"/>
              </p:cNvSpPr>
              <p:nvPr/>
            </p:nvSpPr>
            <p:spPr>
              <a:xfrm>
                <a:off x="4181" y="1359"/>
                <a:ext cx="53" cy="0"/>
              </a:xfrm>
              <a:prstGeom prst="line">
                <a:avLst/>
              </a:prstGeom>
              <a:ln w="12700" cap="flat" cmpd="sng">
                <a:solidFill>
                  <a:srgbClr val="000000"/>
                </a:solidFill>
                <a:prstDash val="solid"/>
                <a:headEnd type="none" w="sm" len="sm"/>
                <a:tailEnd type="none" w="sm" len="sm"/>
              </a:ln>
            </p:spPr>
          </p:sp>
          <p:sp>
            <p:nvSpPr>
              <p:cNvPr id="58419" name="Line 5168"/>
              <p:cNvSpPr>
                <a:spLocks noChangeAspect="1"/>
              </p:cNvSpPr>
              <p:nvPr/>
            </p:nvSpPr>
            <p:spPr>
              <a:xfrm>
                <a:off x="4181" y="1492"/>
                <a:ext cx="0" cy="128"/>
              </a:xfrm>
              <a:prstGeom prst="line">
                <a:avLst/>
              </a:prstGeom>
              <a:ln w="12700" cap="flat" cmpd="sng">
                <a:solidFill>
                  <a:srgbClr val="000000"/>
                </a:solidFill>
                <a:prstDash val="solid"/>
                <a:headEnd type="none" w="sm" len="sm"/>
                <a:tailEnd type="none" w="sm" len="sm"/>
              </a:ln>
            </p:spPr>
          </p:sp>
          <p:sp>
            <p:nvSpPr>
              <p:cNvPr id="58420" name="Line 5169"/>
              <p:cNvSpPr>
                <a:spLocks noChangeAspect="1"/>
              </p:cNvSpPr>
              <p:nvPr/>
            </p:nvSpPr>
            <p:spPr>
              <a:xfrm>
                <a:off x="4181" y="1620"/>
                <a:ext cx="53" cy="0"/>
              </a:xfrm>
              <a:prstGeom prst="line">
                <a:avLst/>
              </a:prstGeom>
              <a:ln w="12700" cap="flat" cmpd="sng">
                <a:solidFill>
                  <a:srgbClr val="000000"/>
                </a:solidFill>
                <a:prstDash val="solid"/>
                <a:headEnd type="none" w="sm" len="sm"/>
                <a:tailEnd type="none" w="sm" len="sm"/>
              </a:ln>
            </p:spPr>
          </p:sp>
          <p:sp>
            <p:nvSpPr>
              <p:cNvPr id="58421" name="Line 5170"/>
              <p:cNvSpPr>
                <a:spLocks noChangeAspect="1"/>
              </p:cNvSpPr>
              <p:nvPr/>
            </p:nvSpPr>
            <p:spPr>
              <a:xfrm>
                <a:off x="4444" y="1807"/>
                <a:ext cx="57" cy="0"/>
              </a:xfrm>
              <a:prstGeom prst="line">
                <a:avLst/>
              </a:prstGeom>
              <a:ln w="12700" cap="flat" cmpd="sng">
                <a:solidFill>
                  <a:srgbClr val="000000"/>
                </a:solidFill>
                <a:prstDash val="solid"/>
                <a:headEnd type="none" w="sm" len="sm"/>
                <a:tailEnd type="none" w="sm" len="sm"/>
              </a:ln>
            </p:spPr>
          </p:sp>
          <p:sp>
            <p:nvSpPr>
              <p:cNvPr id="58422" name="Line 5171"/>
              <p:cNvSpPr>
                <a:spLocks noChangeAspect="1"/>
              </p:cNvSpPr>
              <p:nvPr/>
            </p:nvSpPr>
            <p:spPr>
              <a:xfrm flipV="1">
                <a:off x="4501" y="1620"/>
                <a:ext cx="0" cy="187"/>
              </a:xfrm>
              <a:prstGeom prst="line">
                <a:avLst/>
              </a:prstGeom>
              <a:ln w="12700" cap="flat" cmpd="sng">
                <a:solidFill>
                  <a:srgbClr val="000000"/>
                </a:solidFill>
                <a:prstDash val="solid"/>
                <a:headEnd type="none" w="sm" len="sm"/>
                <a:tailEnd type="none" w="sm" len="sm"/>
              </a:ln>
            </p:spPr>
          </p:sp>
          <p:sp>
            <p:nvSpPr>
              <p:cNvPr id="58423" name="Line 5172"/>
              <p:cNvSpPr>
                <a:spLocks noChangeAspect="1"/>
              </p:cNvSpPr>
              <p:nvPr/>
            </p:nvSpPr>
            <p:spPr>
              <a:xfrm>
                <a:off x="4764" y="1618"/>
                <a:ext cx="55" cy="2"/>
              </a:xfrm>
              <a:prstGeom prst="line">
                <a:avLst/>
              </a:prstGeom>
              <a:ln w="12700" cap="flat" cmpd="sng">
                <a:solidFill>
                  <a:srgbClr val="000000"/>
                </a:solidFill>
                <a:prstDash val="solid"/>
                <a:headEnd type="none" w="sm" len="sm"/>
                <a:tailEnd type="none" w="sm" len="sm"/>
              </a:ln>
            </p:spPr>
          </p:sp>
          <p:sp>
            <p:nvSpPr>
              <p:cNvPr id="58424" name="Line 5173"/>
              <p:cNvSpPr>
                <a:spLocks noChangeAspect="1"/>
              </p:cNvSpPr>
              <p:nvPr/>
            </p:nvSpPr>
            <p:spPr>
              <a:xfrm flipV="1">
                <a:off x="4819" y="1492"/>
                <a:ext cx="0" cy="128"/>
              </a:xfrm>
              <a:prstGeom prst="line">
                <a:avLst/>
              </a:prstGeom>
              <a:ln w="12700" cap="flat" cmpd="sng">
                <a:solidFill>
                  <a:srgbClr val="000000"/>
                </a:solidFill>
                <a:prstDash val="solid"/>
                <a:headEnd type="none" w="sm" len="sm"/>
                <a:tailEnd type="none" w="sm" len="sm"/>
              </a:ln>
            </p:spPr>
          </p:sp>
          <p:sp>
            <p:nvSpPr>
              <p:cNvPr id="58425" name="Line 5174"/>
              <p:cNvSpPr>
                <a:spLocks noChangeAspect="1"/>
              </p:cNvSpPr>
              <p:nvPr/>
            </p:nvSpPr>
            <p:spPr>
              <a:xfrm>
                <a:off x="4819" y="1492"/>
                <a:ext cx="56" cy="0"/>
              </a:xfrm>
              <a:prstGeom prst="line">
                <a:avLst/>
              </a:prstGeom>
              <a:ln w="12700" cap="flat" cmpd="sng">
                <a:solidFill>
                  <a:srgbClr val="000000"/>
                </a:solidFill>
                <a:prstDash val="solid"/>
                <a:headEnd type="none" w="sm" len="sm"/>
                <a:tailEnd type="none" w="sm" len="sm"/>
              </a:ln>
            </p:spPr>
          </p:sp>
          <p:sp>
            <p:nvSpPr>
              <p:cNvPr id="58426" name="Line 5175"/>
              <p:cNvSpPr>
                <a:spLocks noChangeAspect="1"/>
              </p:cNvSpPr>
              <p:nvPr/>
            </p:nvSpPr>
            <p:spPr>
              <a:xfrm>
                <a:off x="4444" y="1359"/>
                <a:ext cx="375" cy="0"/>
              </a:xfrm>
              <a:prstGeom prst="line">
                <a:avLst/>
              </a:prstGeom>
              <a:ln w="12700" cap="flat" cmpd="sng">
                <a:solidFill>
                  <a:srgbClr val="000000"/>
                </a:solidFill>
                <a:prstDash val="solid"/>
                <a:headEnd type="none" w="sm" len="sm"/>
                <a:tailEnd type="none" w="sm" len="sm"/>
              </a:ln>
            </p:spPr>
          </p:sp>
          <p:sp>
            <p:nvSpPr>
              <p:cNvPr id="58427" name="Line 5176"/>
              <p:cNvSpPr>
                <a:spLocks noChangeAspect="1"/>
              </p:cNvSpPr>
              <p:nvPr/>
            </p:nvSpPr>
            <p:spPr>
              <a:xfrm>
                <a:off x="4819" y="1359"/>
                <a:ext cx="0" cy="133"/>
              </a:xfrm>
              <a:prstGeom prst="line">
                <a:avLst/>
              </a:prstGeom>
              <a:ln w="12700" cap="flat" cmpd="sng">
                <a:solidFill>
                  <a:srgbClr val="000000"/>
                </a:solidFill>
                <a:prstDash val="solid"/>
                <a:headEnd type="none" w="sm" len="sm"/>
                <a:tailEnd type="none" w="sm" len="sm"/>
              </a:ln>
            </p:spPr>
          </p:sp>
          <p:sp>
            <p:nvSpPr>
              <p:cNvPr id="58428" name="Line 5177"/>
              <p:cNvSpPr>
                <a:spLocks noChangeAspect="1"/>
              </p:cNvSpPr>
              <p:nvPr/>
            </p:nvSpPr>
            <p:spPr>
              <a:xfrm>
                <a:off x="4120" y="1488"/>
                <a:ext cx="61" cy="0"/>
              </a:xfrm>
              <a:prstGeom prst="line">
                <a:avLst/>
              </a:prstGeom>
              <a:ln w="12700" cap="flat" cmpd="sng">
                <a:solidFill>
                  <a:srgbClr val="000000"/>
                </a:solidFill>
                <a:prstDash val="solid"/>
                <a:headEnd type="none" w="sm" len="sm"/>
                <a:tailEnd type="none" w="sm" len="sm"/>
              </a:ln>
            </p:spPr>
          </p:sp>
          <p:sp>
            <p:nvSpPr>
              <p:cNvPr id="58429" name="Line 5178"/>
              <p:cNvSpPr>
                <a:spLocks noChangeAspect="1"/>
              </p:cNvSpPr>
              <p:nvPr/>
            </p:nvSpPr>
            <p:spPr>
              <a:xfrm>
                <a:off x="4120" y="1800"/>
                <a:ext cx="108" cy="0"/>
              </a:xfrm>
              <a:prstGeom prst="line">
                <a:avLst/>
              </a:prstGeom>
              <a:ln w="12700" cap="flat" cmpd="sng">
                <a:solidFill>
                  <a:srgbClr val="000000"/>
                </a:solidFill>
                <a:prstDash val="solid"/>
                <a:headEnd type="none" w="sm" len="sm"/>
                <a:tailEnd type="none" w="sm" len="sm"/>
              </a:ln>
            </p:spPr>
          </p:sp>
          <p:sp>
            <p:nvSpPr>
              <p:cNvPr id="58430" name="Line 5179"/>
              <p:cNvSpPr>
                <a:spLocks noChangeAspect="1"/>
              </p:cNvSpPr>
              <p:nvPr/>
            </p:nvSpPr>
            <p:spPr>
              <a:xfrm>
                <a:off x="4440" y="1618"/>
                <a:ext cx="111" cy="0"/>
              </a:xfrm>
              <a:prstGeom prst="line">
                <a:avLst/>
              </a:prstGeom>
              <a:ln w="12700" cap="flat" cmpd="sng">
                <a:solidFill>
                  <a:srgbClr val="000000"/>
                </a:solidFill>
                <a:prstDash val="solid"/>
                <a:headEnd type="none" w="sm" len="sm"/>
                <a:tailEnd type="none" w="sm" len="sm"/>
              </a:ln>
            </p:spPr>
          </p:sp>
          <p:sp>
            <p:nvSpPr>
              <p:cNvPr id="58431" name="Rectangle 5180"/>
              <p:cNvSpPr>
                <a:spLocks noChangeAspect="1"/>
              </p:cNvSpPr>
              <p:nvPr/>
            </p:nvSpPr>
            <p:spPr>
              <a:xfrm>
                <a:off x="3915" y="1441"/>
                <a:ext cx="196" cy="86"/>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2" name="Rectangle 5181"/>
              <p:cNvSpPr>
                <a:spLocks noChangeAspect="1"/>
              </p:cNvSpPr>
              <p:nvPr/>
            </p:nvSpPr>
            <p:spPr>
              <a:xfrm>
                <a:off x="4238" y="1310"/>
                <a:ext cx="196" cy="81"/>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3" name="Rectangle 5182"/>
              <p:cNvSpPr>
                <a:spLocks noChangeAspect="1"/>
              </p:cNvSpPr>
              <p:nvPr/>
            </p:nvSpPr>
            <p:spPr>
              <a:xfrm>
                <a:off x="4238" y="1572"/>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4" name="Rectangle 5183"/>
              <p:cNvSpPr>
                <a:spLocks noChangeAspect="1"/>
              </p:cNvSpPr>
              <p:nvPr/>
            </p:nvSpPr>
            <p:spPr>
              <a:xfrm>
                <a:off x="4555" y="1572"/>
                <a:ext cx="198" cy="83"/>
              </a:xfrm>
              <a:prstGeom prst="rect">
                <a:avLst/>
              </a:prstGeom>
              <a:noFill/>
              <a:ln w="12700" cap="flat" cmpd="sng">
                <a:solidFill>
                  <a:srgbClr val="3333CC"/>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5" name="Rectangle 5184"/>
              <p:cNvSpPr>
                <a:spLocks noChangeAspect="1"/>
              </p:cNvSpPr>
              <p:nvPr/>
            </p:nvSpPr>
            <p:spPr>
              <a:xfrm>
                <a:off x="4880" y="1441"/>
                <a:ext cx="193"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6" name="Rectangle 5185"/>
              <p:cNvSpPr>
                <a:spLocks noChangeAspect="1"/>
              </p:cNvSpPr>
              <p:nvPr/>
            </p:nvSpPr>
            <p:spPr>
              <a:xfrm>
                <a:off x="4238"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sp>
            <p:nvSpPr>
              <p:cNvPr id="58437" name="Rectangle 5186"/>
              <p:cNvSpPr>
                <a:spLocks noChangeAspect="1"/>
              </p:cNvSpPr>
              <p:nvPr/>
            </p:nvSpPr>
            <p:spPr>
              <a:xfrm>
                <a:off x="3915" y="1756"/>
                <a:ext cx="196" cy="83"/>
              </a:xfrm>
              <a:prstGeom prst="rect">
                <a:avLst/>
              </a:prstGeom>
              <a:noFill/>
              <a:ln w="12700" cap="flat" cmpd="sng">
                <a:solidFill>
                  <a:srgbClr val="FAFD00"/>
                </a:solidFill>
                <a:prstDash val="solid"/>
                <a:miter/>
                <a:headEnd type="none" w="med" len="med"/>
                <a:tailEnd type="none" w="med" len="med"/>
              </a:ln>
              <a:effectLst>
                <a:outerShdw dist="17961" dir="2699999" algn="ctr" rotWithShape="0">
                  <a:srgbClr val="000000"/>
                </a:outerShdw>
              </a:effectLst>
            </p:spPr>
            <p:txBody>
              <a:bodyPr wrap="none" anchor="ctr" anchorCtr="0"/>
              <a:p>
                <a:pPr algn="ctr" eaLnBrk="1" hangingPunct="1">
                  <a:lnSpc>
                    <a:spcPct val="90000"/>
                  </a:lnSpc>
                </a:pPr>
                <a:endParaRPr lang="zh-CN" altLang="en-US" dirty="0">
                  <a:latin typeface="Times New Roman" panose="02020603050405020304" pitchFamily="18" charset="0"/>
                </a:endParaRPr>
              </a:p>
            </p:txBody>
          </p:sp>
        </p:grpSp>
        <p:sp>
          <p:nvSpPr>
            <p:cNvPr id="58415" name="Text Box 5238"/>
            <p:cNvSpPr txBox="1"/>
            <p:nvPr/>
          </p:nvSpPr>
          <p:spPr>
            <a:xfrm>
              <a:off x="3585" y="3061"/>
              <a:ext cx="316" cy="682"/>
            </a:xfrm>
            <a:prstGeom prst="rect">
              <a:avLst/>
            </a:prstGeom>
            <a:noFill/>
            <a:ln w="9525">
              <a:noFill/>
            </a:ln>
          </p:spPr>
          <p:txBody>
            <a:bodyPr>
              <a:spAutoFit/>
            </a:bodyPr>
            <a:p>
              <a:pPr eaLnBrk="1" hangingPunct="1">
                <a:lnSpc>
                  <a:spcPct val="90000"/>
                </a:lnSpc>
              </a:pPr>
              <a:r>
                <a:rPr lang="zh-CN" altLang="en-US" sz="1800" b="1" dirty="0">
                  <a:latin typeface="Times New Roman" panose="02020603050405020304" pitchFamily="18" charset="0"/>
                </a:rPr>
                <a:t>生产</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现场</a:t>
              </a:r>
              <a:endParaRPr lang="zh-CN" altLang="en-US" sz="1800" b="1" dirty="0">
                <a:latin typeface="Times New Roman" panose="02020603050405020304" pitchFamily="18" charset="0"/>
              </a:endParaRPr>
            </a:p>
          </p:txBody>
        </p:sp>
      </p:grpSp>
      <p:grpSp>
        <p:nvGrpSpPr>
          <p:cNvPr id="8" name="Group 5251"/>
          <p:cNvGrpSpPr/>
          <p:nvPr/>
        </p:nvGrpSpPr>
        <p:grpSpPr>
          <a:xfrm>
            <a:off x="1098550" y="3457575"/>
            <a:ext cx="1441450" cy="1004888"/>
            <a:chOff x="1177" y="1974"/>
            <a:chExt cx="908" cy="633"/>
          </a:xfrm>
        </p:grpSpPr>
        <p:pic>
          <p:nvPicPr>
            <p:cNvPr id="58412" name="Picture 5139" descr="ADMAa"/>
            <p:cNvPicPr>
              <a:picLocks noChangeAspect="1"/>
            </p:cNvPicPr>
            <p:nvPr/>
          </p:nvPicPr>
          <p:blipFill>
            <a:blip r:embed="rId2"/>
            <a:stretch>
              <a:fillRect/>
            </a:stretch>
          </p:blipFill>
          <p:spPr>
            <a:xfrm>
              <a:off x="1473" y="1984"/>
              <a:ext cx="612" cy="623"/>
            </a:xfrm>
            <a:prstGeom prst="rect">
              <a:avLst/>
            </a:prstGeom>
            <a:noFill/>
            <a:ln w="9525">
              <a:noFill/>
            </a:ln>
          </p:spPr>
        </p:pic>
        <p:sp>
          <p:nvSpPr>
            <p:cNvPr id="58413" name="Text Box 5242"/>
            <p:cNvSpPr txBox="1"/>
            <p:nvPr/>
          </p:nvSpPr>
          <p:spPr>
            <a:xfrm>
              <a:off x="1177" y="1974"/>
              <a:ext cx="406" cy="526"/>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数据</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采集</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  站</a:t>
              </a:r>
              <a:endParaRPr lang="zh-CN" altLang="en-US" sz="1800" b="1" dirty="0">
                <a:latin typeface="Times New Roman" panose="02020603050405020304" pitchFamily="18" charset="0"/>
              </a:endParaRPr>
            </a:p>
          </p:txBody>
        </p:sp>
      </p:grpSp>
      <p:grpSp>
        <p:nvGrpSpPr>
          <p:cNvPr id="9" name="Group 5252"/>
          <p:cNvGrpSpPr/>
          <p:nvPr/>
        </p:nvGrpSpPr>
        <p:grpSpPr>
          <a:xfrm>
            <a:off x="3633788" y="3463925"/>
            <a:ext cx="1416050" cy="992188"/>
            <a:chOff x="2517" y="1970"/>
            <a:chExt cx="892" cy="625"/>
          </a:xfrm>
        </p:grpSpPr>
        <p:pic>
          <p:nvPicPr>
            <p:cNvPr id="58410" name="Picture 5210" descr="ADMAa"/>
            <p:cNvPicPr>
              <a:picLocks noChangeAspect="1"/>
            </p:cNvPicPr>
            <p:nvPr/>
          </p:nvPicPr>
          <p:blipFill>
            <a:blip r:embed="rId2"/>
            <a:stretch>
              <a:fillRect/>
            </a:stretch>
          </p:blipFill>
          <p:spPr>
            <a:xfrm>
              <a:off x="2797" y="1972"/>
              <a:ext cx="612" cy="623"/>
            </a:xfrm>
            <a:prstGeom prst="rect">
              <a:avLst/>
            </a:prstGeom>
            <a:noFill/>
            <a:ln w="9525">
              <a:noFill/>
            </a:ln>
          </p:spPr>
        </p:pic>
        <p:sp>
          <p:nvSpPr>
            <p:cNvPr id="58411" name="Text Box 5243"/>
            <p:cNvSpPr txBox="1"/>
            <p:nvPr/>
          </p:nvSpPr>
          <p:spPr>
            <a:xfrm>
              <a:off x="2517" y="1970"/>
              <a:ext cx="406" cy="526"/>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数据</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采集</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  站</a:t>
              </a:r>
              <a:endParaRPr lang="zh-CN" altLang="en-US" sz="1800" b="1" dirty="0">
                <a:latin typeface="Times New Roman" panose="02020603050405020304" pitchFamily="18" charset="0"/>
              </a:endParaRPr>
            </a:p>
          </p:txBody>
        </p:sp>
      </p:grpSp>
      <p:grpSp>
        <p:nvGrpSpPr>
          <p:cNvPr id="10" name="Group 5253"/>
          <p:cNvGrpSpPr/>
          <p:nvPr/>
        </p:nvGrpSpPr>
        <p:grpSpPr>
          <a:xfrm>
            <a:off x="6910388" y="3476625"/>
            <a:ext cx="1395412" cy="1001713"/>
            <a:chOff x="3777" y="1978"/>
            <a:chExt cx="879" cy="631"/>
          </a:xfrm>
        </p:grpSpPr>
        <p:pic>
          <p:nvPicPr>
            <p:cNvPr id="58408" name="Picture 5211" descr="ADMAa"/>
            <p:cNvPicPr>
              <a:picLocks noChangeAspect="1"/>
            </p:cNvPicPr>
            <p:nvPr/>
          </p:nvPicPr>
          <p:blipFill>
            <a:blip r:embed="rId2"/>
            <a:stretch>
              <a:fillRect/>
            </a:stretch>
          </p:blipFill>
          <p:spPr>
            <a:xfrm>
              <a:off x="4044" y="1986"/>
              <a:ext cx="612" cy="623"/>
            </a:xfrm>
            <a:prstGeom prst="rect">
              <a:avLst/>
            </a:prstGeom>
            <a:noFill/>
            <a:ln w="9525">
              <a:noFill/>
            </a:ln>
          </p:spPr>
        </p:pic>
        <p:sp>
          <p:nvSpPr>
            <p:cNvPr id="58409" name="Text Box 5244"/>
            <p:cNvSpPr txBox="1"/>
            <p:nvPr/>
          </p:nvSpPr>
          <p:spPr>
            <a:xfrm>
              <a:off x="3777" y="1978"/>
              <a:ext cx="406" cy="526"/>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数据</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采集</a:t>
              </a:r>
              <a:endParaRPr lang="zh-CN" altLang="en-US" sz="1800" b="1" dirty="0">
                <a:latin typeface="Times New Roman" panose="02020603050405020304" pitchFamily="18" charset="0"/>
              </a:endParaRPr>
            </a:p>
            <a:p>
              <a:pPr eaLnBrk="1" hangingPunct="1">
                <a:lnSpc>
                  <a:spcPct val="90000"/>
                </a:lnSpc>
              </a:pPr>
              <a:r>
                <a:rPr lang="zh-CN" altLang="en-US" sz="1800" b="1" dirty="0">
                  <a:latin typeface="Times New Roman" panose="02020603050405020304" pitchFamily="18" charset="0"/>
                </a:rPr>
                <a:t>  站</a:t>
              </a:r>
              <a:endParaRPr lang="zh-CN" altLang="en-US" sz="1800" b="1" dirty="0">
                <a:latin typeface="Times New Roman" panose="02020603050405020304" pitchFamily="18" charset="0"/>
              </a:endParaRPr>
            </a:p>
          </p:txBody>
        </p:sp>
      </p:grpSp>
      <p:grpSp>
        <p:nvGrpSpPr>
          <p:cNvPr id="11" name="Group 5250"/>
          <p:cNvGrpSpPr/>
          <p:nvPr/>
        </p:nvGrpSpPr>
        <p:grpSpPr>
          <a:xfrm>
            <a:off x="4248150" y="2417763"/>
            <a:ext cx="2506663" cy="588962"/>
            <a:chOff x="2657" y="1300"/>
            <a:chExt cx="1579" cy="371"/>
          </a:xfrm>
        </p:grpSpPr>
        <p:pic>
          <p:nvPicPr>
            <p:cNvPr id="58406" name="Picture 5137"/>
            <p:cNvPicPr/>
            <p:nvPr/>
          </p:nvPicPr>
          <p:blipFill>
            <a:blip r:embed="rId3"/>
            <a:stretch>
              <a:fillRect/>
            </a:stretch>
          </p:blipFill>
          <p:spPr>
            <a:xfrm>
              <a:off x="2657" y="1300"/>
              <a:ext cx="860" cy="371"/>
            </a:xfrm>
            <a:prstGeom prst="rect">
              <a:avLst/>
            </a:prstGeom>
            <a:noFill/>
            <a:ln w="12700">
              <a:noFill/>
            </a:ln>
          </p:spPr>
        </p:pic>
        <p:sp>
          <p:nvSpPr>
            <p:cNvPr id="58407" name="Text Box 5245"/>
            <p:cNvSpPr txBox="1"/>
            <p:nvPr/>
          </p:nvSpPr>
          <p:spPr>
            <a:xfrm>
              <a:off x="3540" y="1381"/>
              <a:ext cx="696" cy="214"/>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通信接口</a:t>
              </a:r>
              <a:endParaRPr lang="zh-CN" altLang="en-US" sz="1800" b="1" dirty="0">
                <a:latin typeface="Times New Roman" panose="02020603050405020304" pitchFamily="18" charset="0"/>
              </a:endParaRPr>
            </a:p>
          </p:txBody>
        </p:sp>
      </p:grpSp>
      <p:grpSp>
        <p:nvGrpSpPr>
          <p:cNvPr id="12" name="Group 5247"/>
          <p:cNvGrpSpPr/>
          <p:nvPr/>
        </p:nvGrpSpPr>
        <p:grpSpPr>
          <a:xfrm>
            <a:off x="3354388" y="1060450"/>
            <a:ext cx="2143125" cy="788988"/>
            <a:chOff x="2113" y="456"/>
            <a:chExt cx="1350" cy="497"/>
          </a:xfrm>
        </p:grpSpPr>
        <p:graphicFrame>
          <p:nvGraphicFramePr>
            <p:cNvPr id="58404" name="Object 5138">
              <a:hlinkClick r:id="rId4"/>
            </p:cNvPr>
            <p:cNvGraphicFramePr>
              <a:graphicFrameLocks noChangeAspect="1"/>
            </p:cNvGraphicFramePr>
            <p:nvPr/>
          </p:nvGraphicFramePr>
          <p:xfrm>
            <a:off x="2581" y="456"/>
            <a:ext cx="882" cy="497"/>
          </p:xfrm>
          <a:graphic>
            <a:graphicData uri="http://schemas.openxmlformats.org/presentationml/2006/ole">
              <mc:AlternateContent xmlns:mc="http://schemas.openxmlformats.org/markup-compatibility/2006">
                <mc:Choice xmlns:v="urn:schemas-microsoft-com:vml" Requires="v">
                  <p:oleObj spid="_x0000_s3079" name="" r:id="rId5" imgW="751840" imgH="422910" progId="Word.Picture.8">
                    <p:embed/>
                  </p:oleObj>
                </mc:Choice>
                <mc:Fallback>
                  <p:oleObj name="" r:id="rId5" imgW="751840" imgH="422910" progId="Word.Picture.8">
                    <p:embed/>
                    <p:pic>
                      <p:nvPicPr>
                        <p:cNvPr id="0" name="图片 3078"/>
                        <p:cNvPicPr/>
                        <p:nvPr/>
                      </p:nvPicPr>
                      <p:blipFill>
                        <a:blip r:embed="rId6"/>
                        <a:stretch>
                          <a:fillRect/>
                        </a:stretch>
                      </p:blipFill>
                      <p:spPr>
                        <a:xfrm>
                          <a:off x="2581" y="456"/>
                          <a:ext cx="882" cy="497"/>
                        </a:xfrm>
                        <a:prstGeom prst="rect">
                          <a:avLst/>
                        </a:prstGeom>
                        <a:noFill/>
                        <a:ln w="38100">
                          <a:noFill/>
                          <a:miter/>
                        </a:ln>
                      </p:spPr>
                    </p:pic>
                  </p:oleObj>
                </mc:Fallback>
              </mc:AlternateContent>
            </a:graphicData>
          </a:graphic>
        </p:graphicFrame>
        <p:sp>
          <p:nvSpPr>
            <p:cNvPr id="58405" name="Text Box 5246"/>
            <p:cNvSpPr txBox="1"/>
            <p:nvPr/>
          </p:nvSpPr>
          <p:spPr>
            <a:xfrm>
              <a:off x="2113" y="580"/>
              <a:ext cx="551" cy="214"/>
            </a:xfrm>
            <a:prstGeom prst="rect">
              <a:avLst/>
            </a:prstGeom>
            <a:noFill/>
            <a:ln w="9525">
              <a:noFill/>
            </a:ln>
          </p:spPr>
          <p:txBody>
            <a:bodyPr wrap="none">
              <a:spAutoFit/>
            </a:bodyPr>
            <a:p>
              <a:pPr eaLnBrk="1" hangingPunct="1">
                <a:lnSpc>
                  <a:spcPct val="90000"/>
                </a:lnSpc>
              </a:pPr>
              <a:r>
                <a:rPr lang="zh-CN" altLang="en-US" sz="1800" b="1" dirty="0">
                  <a:latin typeface="Times New Roman" panose="02020603050405020304" pitchFamily="18" charset="0"/>
                </a:rPr>
                <a:t>上位机</a:t>
              </a:r>
              <a:endParaRPr lang="zh-CN" altLang="en-US" sz="1800" b="1" dirty="0">
                <a:latin typeface="Times New Roman" panose="02020603050405020304" pitchFamily="18" charset="0"/>
              </a:endParaRPr>
            </a:p>
          </p:txBody>
        </p:sp>
      </p:grpSp>
      <p:sp>
        <p:nvSpPr>
          <p:cNvPr id="2227303" name="Line 5223"/>
          <p:cNvSpPr/>
          <p:nvPr/>
        </p:nvSpPr>
        <p:spPr>
          <a:xfrm flipV="1">
            <a:off x="4124325" y="4264025"/>
            <a:ext cx="0" cy="1006475"/>
          </a:xfrm>
          <a:prstGeom prst="line">
            <a:avLst/>
          </a:prstGeom>
          <a:ln w="28575" cap="flat" cmpd="sng">
            <a:solidFill>
              <a:schemeClr val="accent2"/>
            </a:solidFill>
            <a:prstDash val="solid"/>
            <a:headEnd type="none" w="med" len="med"/>
            <a:tailEnd type="triangle" w="sm" len="med"/>
          </a:ln>
        </p:spPr>
      </p:sp>
      <p:sp>
        <p:nvSpPr>
          <p:cNvPr id="2227304" name="Line 5224"/>
          <p:cNvSpPr/>
          <p:nvPr/>
        </p:nvSpPr>
        <p:spPr>
          <a:xfrm flipV="1">
            <a:off x="7350125" y="4265613"/>
            <a:ext cx="0" cy="1006475"/>
          </a:xfrm>
          <a:prstGeom prst="line">
            <a:avLst/>
          </a:prstGeom>
          <a:ln w="28575" cap="flat" cmpd="sng">
            <a:solidFill>
              <a:schemeClr val="accent2"/>
            </a:solidFill>
            <a:prstDash val="solid"/>
            <a:headEnd type="none" w="med" len="med"/>
            <a:tailEnd type="triangle" w="sm" len="med"/>
          </a:ln>
        </p:spPr>
      </p:sp>
      <p:sp>
        <p:nvSpPr>
          <p:cNvPr id="2227300" name="Line 5220"/>
          <p:cNvSpPr/>
          <p:nvPr/>
        </p:nvSpPr>
        <p:spPr>
          <a:xfrm flipV="1">
            <a:off x="1617663" y="4259263"/>
            <a:ext cx="0" cy="1006475"/>
          </a:xfrm>
          <a:prstGeom prst="line">
            <a:avLst/>
          </a:prstGeom>
          <a:ln w="28575" cap="flat" cmpd="sng">
            <a:solidFill>
              <a:schemeClr val="accent2"/>
            </a:solidFill>
            <a:prstDash val="solid"/>
            <a:headEnd type="none" w="med" len="med"/>
            <a:tailEnd type="triangle" w="sm" len="med"/>
          </a:ln>
        </p:spPr>
      </p:sp>
      <p:sp>
        <p:nvSpPr>
          <p:cNvPr id="2227301" name="Line 5221"/>
          <p:cNvSpPr/>
          <p:nvPr/>
        </p:nvSpPr>
        <p:spPr>
          <a:xfrm flipV="1">
            <a:off x="2000250" y="4392613"/>
            <a:ext cx="0" cy="873125"/>
          </a:xfrm>
          <a:prstGeom prst="line">
            <a:avLst/>
          </a:prstGeom>
          <a:ln w="28575" cap="flat" cmpd="sng">
            <a:solidFill>
              <a:schemeClr val="accent2"/>
            </a:solidFill>
            <a:prstDash val="solid"/>
            <a:headEnd type="none" w="med" len="med"/>
            <a:tailEnd type="triangle" w="sm" len="med"/>
          </a:ln>
        </p:spPr>
      </p:sp>
      <p:sp>
        <p:nvSpPr>
          <p:cNvPr id="2227305" name="Line 5225"/>
          <p:cNvSpPr/>
          <p:nvPr/>
        </p:nvSpPr>
        <p:spPr>
          <a:xfrm flipV="1">
            <a:off x="7759700" y="4398963"/>
            <a:ext cx="0" cy="873125"/>
          </a:xfrm>
          <a:prstGeom prst="line">
            <a:avLst/>
          </a:prstGeom>
          <a:ln w="28575" cap="flat" cmpd="sng">
            <a:solidFill>
              <a:schemeClr val="accent2"/>
            </a:solidFill>
            <a:prstDash val="solid"/>
            <a:headEnd type="none" w="med" len="med"/>
            <a:tailEnd type="triangle" w="sm" len="med"/>
          </a:ln>
        </p:spPr>
      </p:sp>
      <p:sp>
        <p:nvSpPr>
          <p:cNvPr id="2227296" name="Line 5216"/>
          <p:cNvSpPr/>
          <p:nvPr/>
        </p:nvSpPr>
        <p:spPr>
          <a:xfrm>
            <a:off x="2281238" y="3263900"/>
            <a:ext cx="0" cy="265113"/>
          </a:xfrm>
          <a:prstGeom prst="line">
            <a:avLst/>
          </a:prstGeom>
          <a:ln w="28575" cap="flat" cmpd="sng">
            <a:solidFill>
              <a:schemeClr val="accent2"/>
            </a:solidFill>
            <a:prstDash val="solid"/>
            <a:headEnd type="none" w="med" len="med"/>
            <a:tailEnd type="none" w="med" len="med"/>
          </a:ln>
        </p:spPr>
      </p:sp>
      <p:sp>
        <p:nvSpPr>
          <p:cNvPr id="2227292" name="Line 5212"/>
          <p:cNvSpPr/>
          <p:nvPr/>
        </p:nvSpPr>
        <p:spPr>
          <a:xfrm>
            <a:off x="4930775" y="1755775"/>
            <a:ext cx="0" cy="636588"/>
          </a:xfrm>
          <a:prstGeom prst="line">
            <a:avLst/>
          </a:prstGeom>
          <a:ln w="28575" cap="flat" cmpd="sng">
            <a:solidFill>
              <a:schemeClr val="accent2"/>
            </a:solidFill>
            <a:prstDash val="solid"/>
            <a:headEnd type="none" w="med" len="med"/>
            <a:tailEnd type="none" w="med" len="med"/>
          </a:ln>
        </p:spPr>
      </p:sp>
      <p:sp>
        <p:nvSpPr>
          <p:cNvPr id="2227295" name="Line 5215"/>
          <p:cNvSpPr/>
          <p:nvPr/>
        </p:nvSpPr>
        <p:spPr>
          <a:xfrm>
            <a:off x="4792663" y="3265488"/>
            <a:ext cx="0" cy="252412"/>
          </a:xfrm>
          <a:prstGeom prst="line">
            <a:avLst/>
          </a:prstGeom>
          <a:ln w="28575" cap="flat" cmpd="sng">
            <a:solidFill>
              <a:schemeClr val="accent2"/>
            </a:solidFill>
            <a:prstDash val="solid"/>
            <a:headEnd type="none" w="med" len="med"/>
            <a:tailEnd type="none" w="med" len="med"/>
          </a:ln>
        </p:spPr>
      </p:sp>
      <p:sp>
        <p:nvSpPr>
          <p:cNvPr id="2227306" name="Line 5226"/>
          <p:cNvSpPr/>
          <p:nvPr/>
        </p:nvSpPr>
        <p:spPr>
          <a:xfrm>
            <a:off x="8050213" y="3265488"/>
            <a:ext cx="0" cy="250825"/>
          </a:xfrm>
          <a:prstGeom prst="line">
            <a:avLst/>
          </a:prstGeom>
          <a:ln w="28575" cap="flat" cmpd="sng">
            <a:solidFill>
              <a:schemeClr val="accent2"/>
            </a:solidFill>
            <a:prstDash val="solid"/>
            <a:headEnd type="none" w="med" len="med"/>
            <a:tailEnd type="none" w="med" len="med"/>
          </a:ln>
        </p:spPr>
      </p:sp>
      <p:sp>
        <p:nvSpPr>
          <p:cNvPr id="2227302" name="Line 5222"/>
          <p:cNvSpPr/>
          <p:nvPr/>
        </p:nvSpPr>
        <p:spPr>
          <a:xfrm flipV="1">
            <a:off x="4519613" y="4387850"/>
            <a:ext cx="0" cy="885825"/>
          </a:xfrm>
          <a:prstGeom prst="line">
            <a:avLst/>
          </a:prstGeom>
          <a:ln w="28575" cap="flat" cmpd="sng">
            <a:solidFill>
              <a:schemeClr val="accent2"/>
            </a:solidFill>
            <a:prstDash val="solid"/>
            <a:headEnd type="none" w="med" len="med"/>
            <a:tailEnd type="triangle" w="sm" len="med"/>
          </a:ln>
        </p:spPr>
      </p:sp>
      <p:sp>
        <p:nvSpPr>
          <p:cNvPr id="2227334" name="Text Box 525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28241" name="Text Box 5137"/>
          <p:cNvSpPr txBox="1"/>
          <p:nvPr/>
        </p:nvSpPr>
        <p:spPr>
          <a:xfrm>
            <a:off x="269875" y="869950"/>
            <a:ext cx="3084513" cy="1190625"/>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1.4.2 </a:t>
            </a:r>
            <a:r>
              <a:rPr lang="zh-CN" altLang="en-US" b="1" dirty="0">
                <a:latin typeface="Times New Roman" panose="02020603050405020304" pitchFamily="18" charset="0"/>
              </a:rPr>
              <a:t>集散型</a:t>
            </a:r>
            <a:endParaRPr lang="zh-CN" altLang="en-US" b="1" dirty="0">
              <a:latin typeface="Times New Roman" panose="02020603050405020304" pitchFamily="18" charset="0"/>
            </a:endParaRPr>
          </a:p>
          <a:p>
            <a:pPr eaLnBrk="1" hangingPunct="1"/>
            <a:r>
              <a:rPr lang="zh-CN" altLang="en-US" b="1" dirty="0">
                <a:latin typeface="Times New Roman" panose="02020603050405020304" pitchFamily="18" charset="0"/>
              </a:rPr>
              <a:t>数据采集系统 </a:t>
            </a:r>
            <a:endParaRPr lang="zh-CN" altLang="en-US" b="1" dirty="0">
              <a:latin typeface="Times New Roman" panose="02020603050405020304" pitchFamily="18" charset="0"/>
            </a:endParaRPr>
          </a:p>
        </p:txBody>
      </p:sp>
      <p:sp>
        <p:nvSpPr>
          <p:cNvPr id="2228242" name="Text Box 5138"/>
          <p:cNvSpPr txBox="1"/>
          <p:nvPr/>
        </p:nvSpPr>
        <p:spPr>
          <a:xfrm>
            <a:off x="334963" y="2133600"/>
            <a:ext cx="2428875" cy="579438"/>
          </a:xfrm>
          <a:prstGeom prst="rect">
            <a:avLst/>
          </a:prstGeom>
          <a:noFill/>
          <a:ln w="9525">
            <a:noFill/>
          </a:ln>
        </p:spPr>
        <p:txBody>
          <a:bodyPr wrap="none">
            <a:spAutoFit/>
          </a:bodyPr>
          <a:p>
            <a:pPr eaLnBrk="1" hangingPunct="1"/>
            <a:r>
              <a:rPr lang="zh-CN" altLang="en-US" sz="3200" b="1" dirty="0">
                <a:solidFill>
                  <a:srgbClr val="FF0000"/>
                </a:solidFill>
                <a:latin typeface="黑体" panose="02010609060101010101" pitchFamily="49" charset="-122"/>
                <a:ea typeface="黑体" panose="02010609060101010101" pitchFamily="49" charset="-122"/>
              </a:rPr>
              <a:t>系统结构图</a:t>
            </a:r>
            <a:r>
              <a:rPr lang="en-US" altLang="zh-CN" sz="3200" b="1" dirty="0">
                <a:solidFill>
                  <a:srgbClr val="FF0000"/>
                </a:solidFill>
                <a:latin typeface="黑体" panose="02010609060101010101" pitchFamily="49" charset="-122"/>
                <a:ea typeface="黑体" panose="02010609060101010101" pitchFamily="49" charset="-122"/>
              </a:rPr>
              <a:t>:</a:t>
            </a:r>
            <a:endParaRPr lang="en-US" altLang="zh-CN" sz="3200" b="1" dirty="0">
              <a:solidFill>
                <a:srgbClr val="FF0000"/>
              </a:solidFill>
              <a:latin typeface="黑体" panose="02010609060101010101" pitchFamily="49" charset="-122"/>
              <a:ea typeface="黑体" panose="02010609060101010101" pitchFamily="49" charset="-122"/>
            </a:endParaRPr>
          </a:p>
        </p:txBody>
      </p:sp>
      <p:sp>
        <p:nvSpPr>
          <p:cNvPr id="2228243" name="Text Box 5139"/>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28244" name="Text Box 5140"/>
          <p:cNvSpPr txBox="1"/>
          <p:nvPr/>
        </p:nvSpPr>
        <p:spPr>
          <a:xfrm>
            <a:off x="5616575" y="3465513"/>
            <a:ext cx="715963" cy="585787"/>
          </a:xfrm>
          <a:prstGeom prst="rect">
            <a:avLst/>
          </a:prstGeom>
          <a:noFill/>
          <a:ln w="9525">
            <a:noFill/>
          </a:ln>
        </p:spPr>
        <p:txBody>
          <a:bodyPr>
            <a:spAutoFit/>
          </a:bodyPr>
          <a:p>
            <a:pPr algn="ctr" eaLnBrk="1" hangingPunct="1">
              <a:lnSpc>
                <a:spcPct val="90000"/>
              </a:lnSpc>
              <a:spcBef>
                <a:spcPct val="50000"/>
              </a:spcBef>
            </a:pPr>
            <a:r>
              <a:rPr lang="en-US" altLang="zh-CN" dirty="0">
                <a:latin typeface="Times New Roman" panose="02020603050405020304" pitchFamily="18" charset="0"/>
              </a:rPr>
              <a:t>…</a:t>
            </a:r>
            <a:endParaRPr lang="en-US" altLang="zh-CN"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8241"/>
                                        </p:tgtEl>
                                        <p:attrNameLst>
                                          <p:attrName>style.visibility</p:attrName>
                                        </p:attrNameLst>
                                      </p:cBhvr>
                                      <p:to>
                                        <p:strVal val="visible"/>
                                      </p:to>
                                    </p:set>
                                    <p:animEffect transition="in" filter="dissolve">
                                      <p:cBhvr>
                                        <p:cTn id="7" dur="500"/>
                                        <p:tgtEl>
                                          <p:spTgt spid="22282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8242"/>
                                        </p:tgtEl>
                                        <p:attrNameLst>
                                          <p:attrName>style.visibility</p:attrName>
                                        </p:attrNameLst>
                                      </p:cBhvr>
                                      <p:to>
                                        <p:strVal val="visible"/>
                                      </p:to>
                                    </p:set>
                                    <p:animEffect transition="in" filter="dissolve">
                                      <p:cBhvr>
                                        <p:cTn id="12" dur="500"/>
                                        <p:tgtEl>
                                          <p:spTgt spid="222824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2227216"/>
                                        </p:tgtEl>
                                        <p:attrNameLst>
                                          <p:attrName>style.visibility</p:attrName>
                                        </p:attrNameLst>
                                      </p:cBhvr>
                                      <p:to>
                                        <p:strVal val="visible"/>
                                      </p:to>
                                    </p:set>
                                    <p:animEffect transition="in" filter="wipe(left)">
                                      <p:cBhvr>
                                        <p:cTn id="21" dur="500"/>
                                        <p:tgtEl>
                                          <p:spTgt spid="222721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wipe(left)">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left)">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228244"/>
                                        </p:tgtEl>
                                        <p:attrNameLst>
                                          <p:attrName>style.visibility</p:attrName>
                                        </p:attrNameLst>
                                      </p:cBhvr>
                                      <p:to>
                                        <p:strVal val="visible"/>
                                      </p:to>
                                    </p:set>
                                    <p:animEffect transition="in" filter="wipe(left)">
                                      <p:cBhvr>
                                        <p:cTn id="36" dur="500"/>
                                        <p:tgtEl>
                                          <p:spTgt spid="2228244"/>
                                        </p:tgtEl>
                                      </p:cBhvr>
                                    </p:animEffect>
                                  </p:childTnLst>
                                </p:cTn>
                              </p:par>
                            </p:childTnLst>
                          </p:cTn>
                        </p:par>
                        <p:par>
                          <p:cTn id="37" fill="hold">
                            <p:stCondLst>
                              <p:cond delay="500"/>
                            </p:stCondLst>
                            <p:childTnLst>
                              <p:par>
                                <p:cTn id="38" presetID="22" presetClass="entr" presetSubtype="8"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wipe(left)">
                                      <p:cBhvr>
                                        <p:cTn id="40" dur="500"/>
                                        <p:tgtEl>
                                          <p:spTgt spid="1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2"/>
                                        </p:tgtEl>
                                        <p:attrNameLst>
                                          <p:attrName>style.visibility</p:attrName>
                                        </p:attrNameLst>
                                      </p:cBhvr>
                                      <p:to>
                                        <p:strVal val="visible"/>
                                      </p:to>
                                    </p:set>
                                    <p:animEffect transition="in" filter="wipe(left)">
                                      <p:cBhvr>
                                        <p:cTn id="45" dur="500"/>
                                        <p:tgtEl>
                                          <p:spTgt spid="2"/>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wipe(left)">
                                      <p:cBhvr>
                                        <p:cTn id="50" dur="500"/>
                                        <p:tgtEl>
                                          <p:spTgt spid="4"/>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wipe(left)">
                                      <p:cBhvr>
                                        <p:cTn id="55" dur="500"/>
                                        <p:tgtEl>
                                          <p:spTgt spid="6"/>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grpId="0" nodeType="clickEffect">
                                  <p:stCondLst>
                                    <p:cond delay="0"/>
                                  </p:stCondLst>
                                  <p:childTnLst>
                                    <p:set>
                                      <p:cBhvr>
                                        <p:cTn id="59" dur="1" fill="hold">
                                          <p:stCondLst>
                                            <p:cond delay="0"/>
                                          </p:stCondLst>
                                        </p:cTn>
                                        <p:tgtEl>
                                          <p:spTgt spid="2227308"/>
                                        </p:tgtEl>
                                        <p:attrNameLst>
                                          <p:attrName>style.visibility</p:attrName>
                                        </p:attrNameLst>
                                      </p:cBhvr>
                                      <p:to>
                                        <p:strVal val="visible"/>
                                      </p:to>
                                    </p:set>
                                    <p:animEffect transition="in" filter="dissolve">
                                      <p:cBhvr>
                                        <p:cTn id="60" dur="500"/>
                                        <p:tgtEl>
                                          <p:spTgt spid="2227308"/>
                                        </p:tgtEl>
                                      </p:cBhvr>
                                    </p:animEffect>
                                  </p:childTnLst>
                                </p:cTn>
                              </p:par>
                            </p:childTnLst>
                          </p:cTn>
                        </p:par>
                      </p:childTnLst>
                    </p:cTn>
                  </p:par>
                  <p:par>
                    <p:cTn id="61" fill="hold">
                      <p:stCondLst>
                        <p:cond delay="indefinite"/>
                      </p:stCondLst>
                      <p:childTnLst>
                        <p:par>
                          <p:cTn id="62" fill="hold">
                            <p:stCondLst>
                              <p:cond delay="0"/>
                            </p:stCondLst>
                            <p:childTnLst>
                              <p:par>
                                <p:cTn id="63" presetID="17" presetClass="entr" presetSubtype="4" fill="hold" nodeType="clickEffect">
                                  <p:stCondLst>
                                    <p:cond delay="0"/>
                                  </p:stCondLst>
                                  <p:childTnLst>
                                    <p:set>
                                      <p:cBhvr>
                                        <p:cTn id="64" dur="1" fill="hold">
                                          <p:stCondLst>
                                            <p:cond delay="0"/>
                                          </p:stCondLst>
                                        </p:cTn>
                                        <p:tgtEl>
                                          <p:spTgt spid="2227300"/>
                                        </p:tgtEl>
                                        <p:attrNameLst>
                                          <p:attrName>style.visibility</p:attrName>
                                        </p:attrNameLst>
                                      </p:cBhvr>
                                      <p:to>
                                        <p:strVal val="visible"/>
                                      </p:to>
                                    </p:set>
                                    <p:anim calcmode="lin" valueType="num">
                                      <p:cBhvr>
                                        <p:cTn id="65" dur="500" fill="hold"/>
                                        <p:tgtEl>
                                          <p:spTgt spid="2227300"/>
                                        </p:tgtEl>
                                        <p:attrNameLst>
                                          <p:attrName>ppt_x</p:attrName>
                                        </p:attrNameLst>
                                      </p:cBhvr>
                                      <p:tavLst>
                                        <p:tav tm="0">
                                          <p:val>
                                            <p:strVal val="#ppt_x"/>
                                          </p:val>
                                        </p:tav>
                                        <p:tav tm="100000">
                                          <p:val>
                                            <p:strVal val="#ppt_x"/>
                                          </p:val>
                                        </p:tav>
                                      </p:tavLst>
                                    </p:anim>
                                    <p:anim calcmode="lin" valueType="num">
                                      <p:cBhvr>
                                        <p:cTn id="66" dur="500" fill="hold"/>
                                        <p:tgtEl>
                                          <p:spTgt spid="2227300"/>
                                        </p:tgtEl>
                                        <p:attrNameLst>
                                          <p:attrName>ppt_y</p:attrName>
                                        </p:attrNameLst>
                                      </p:cBhvr>
                                      <p:tavLst>
                                        <p:tav tm="0">
                                          <p:val>
                                            <p:strVal val="#ppt_y+#ppt_h/2"/>
                                          </p:val>
                                        </p:tav>
                                        <p:tav tm="100000">
                                          <p:val>
                                            <p:strVal val="#ppt_y"/>
                                          </p:val>
                                        </p:tav>
                                      </p:tavLst>
                                    </p:anim>
                                    <p:anim calcmode="lin" valueType="num">
                                      <p:cBhvr>
                                        <p:cTn id="67" dur="500" fill="hold"/>
                                        <p:tgtEl>
                                          <p:spTgt spid="2227300"/>
                                        </p:tgtEl>
                                        <p:attrNameLst>
                                          <p:attrName>ppt_w</p:attrName>
                                        </p:attrNameLst>
                                      </p:cBhvr>
                                      <p:tavLst>
                                        <p:tav tm="0">
                                          <p:val>
                                            <p:strVal val="#ppt_w"/>
                                          </p:val>
                                        </p:tav>
                                        <p:tav tm="100000">
                                          <p:val>
                                            <p:strVal val="#ppt_w"/>
                                          </p:val>
                                        </p:tav>
                                      </p:tavLst>
                                    </p:anim>
                                    <p:anim calcmode="lin" valueType="num">
                                      <p:cBhvr>
                                        <p:cTn id="68" dur="500" fill="hold"/>
                                        <p:tgtEl>
                                          <p:spTgt spid="2227300"/>
                                        </p:tgtEl>
                                        <p:attrNameLst>
                                          <p:attrName>ppt_h</p:attrName>
                                        </p:attrNameLst>
                                      </p:cBhvr>
                                      <p:tavLst>
                                        <p:tav tm="0">
                                          <p:val>
                                            <p:fltVal val="0.000000"/>
                                          </p:val>
                                        </p:tav>
                                        <p:tav tm="100000">
                                          <p:val>
                                            <p:strVal val="#ppt_h"/>
                                          </p:val>
                                        </p:tav>
                                      </p:tavLst>
                                    </p:anim>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2227313"/>
                                        </p:tgtEl>
                                        <p:attrNameLst>
                                          <p:attrName>style.visibility</p:attrName>
                                        </p:attrNameLst>
                                      </p:cBhvr>
                                      <p:to>
                                        <p:strVal val="visible"/>
                                      </p:to>
                                    </p:set>
                                    <p:animEffect transition="in" filter="dissolve">
                                      <p:cBhvr>
                                        <p:cTn id="73" dur="500"/>
                                        <p:tgtEl>
                                          <p:spTgt spid="2227313"/>
                                        </p:tgtEl>
                                      </p:cBhvr>
                                    </p:animEffect>
                                  </p:childTnLst>
                                </p:cTn>
                              </p:par>
                            </p:childTnLst>
                          </p:cTn>
                        </p:par>
                      </p:childTnLst>
                    </p:cTn>
                  </p:par>
                  <p:par>
                    <p:cTn id="74" fill="hold">
                      <p:stCondLst>
                        <p:cond delay="indefinite"/>
                      </p:stCondLst>
                      <p:childTnLst>
                        <p:par>
                          <p:cTn id="75" fill="hold">
                            <p:stCondLst>
                              <p:cond delay="0"/>
                            </p:stCondLst>
                            <p:childTnLst>
                              <p:par>
                                <p:cTn id="76" presetID="17" presetClass="entr" presetSubtype="4" fill="hold" nodeType="clickEffect">
                                  <p:stCondLst>
                                    <p:cond delay="0"/>
                                  </p:stCondLst>
                                  <p:childTnLst>
                                    <p:set>
                                      <p:cBhvr>
                                        <p:cTn id="77" dur="1" fill="hold">
                                          <p:stCondLst>
                                            <p:cond delay="0"/>
                                          </p:stCondLst>
                                        </p:cTn>
                                        <p:tgtEl>
                                          <p:spTgt spid="2227301"/>
                                        </p:tgtEl>
                                        <p:attrNameLst>
                                          <p:attrName>style.visibility</p:attrName>
                                        </p:attrNameLst>
                                      </p:cBhvr>
                                      <p:to>
                                        <p:strVal val="visible"/>
                                      </p:to>
                                    </p:set>
                                    <p:anim calcmode="lin" valueType="num">
                                      <p:cBhvr>
                                        <p:cTn id="78" dur="500" fill="hold"/>
                                        <p:tgtEl>
                                          <p:spTgt spid="2227301"/>
                                        </p:tgtEl>
                                        <p:attrNameLst>
                                          <p:attrName>ppt_x</p:attrName>
                                        </p:attrNameLst>
                                      </p:cBhvr>
                                      <p:tavLst>
                                        <p:tav tm="0">
                                          <p:val>
                                            <p:strVal val="#ppt_x"/>
                                          </p:val>
                                        </p:tav>
                                        <p:tav tm="100000">
                                          <p:val>
                                            <p:strVal val="#ppt_x"/>
                                          </p:val>
                                        </p:tav>
                                      </p:tavLst>
                                    </p:anim>
                                    <p:anim calcmode="lin" valueType="num">
                                      <p:cBhvr>
                                        <p:cTn id="79" dur="500" fill="hold"/>
                                        <p:tgtEl>
                                          <p:spTgt spid="2227301"/>
                                        </p:tgtEl>
                                        <p:attrNameLst>
                                          <p:attrName>ppt_y</p:attrName>
                                        </p:attrNameLst>
                                      </p:cBhvr>
                                      <p:tavLst>
                                        <p:tav tm="0">
                                          <p:val>
                                            <p:strVal val="#ppt_y+#ppt_h/2"/>
                                          </p:val>
                                        </p:tav>
                                        <p:tav tm="100000">
                                          <p:val>
                                            <p:strVal val="#ppt_y"/>
                                          </p:val>
                                        </p:tav>
                                      </p:tavLst>
                                    </p:anim>
                                    <p:anim calcmode="lin" valueType="num">
                                      <p:cBhvr>
                                        <p:cTn id="80" dur="500" fill="hold"/>
                                        <p:tgtEl>
                                          <p:spTgt spid="2227301"/>
                                        </p:tgtEl>
                                        <p:attrNameLst>
                                          <p:attrName>ppt_w</p:attrName>
                                        </p:attrNameLst>
                                      </p:cBhvr>
                                      <p:tavLst>
                                        <p:tav tm="0">
                                          <p:val>
                                            <p:strVal val="#ppt_w"/>
                                          </p:val>
                                        </p:tav>
                                        <p:tav tm="100000">
                                          <p:val>
                                            <p:strVal val="#ppt_w"/>
                                          </p:val>
                                        </p:tav>
                                      </p:tavLst>
                                    </p:anim>
                                    <p:anim calcmode="lin" valueType="num">
                                      <p:cBhvr>
                                        <p:cTn id="81" dur="500" fill="hold"/>
                                        <p:tgtEl>
                                          <p:spTgt spid="2227301"/>
                                        </p:tgtEl>
                                        <p:attrNameLst>
                                          <p:attrName>ppt_h</p:attrName>
                                        </p:attrNameLst>
                                      </p:cBhvr>
                                      <p:tavLst>
                                        <p:tav tm="0">
                                          <p:val>
                                            <p:fltVal val="0.000000"/>
                                          </p:val>
                                        </p:tav>
                                        <p:tav tm="100000">
                                          <p:val>
                                            <p:strVal val="#ppt_h"/>
                                          </p:val>
                                        </p:tav>
                                      </p:tavLst>
                                    </p:anim>
                                  </p:childTnLst>
                                </p:cTn>
                              </p:par>
                            </p:childTnLst>
                          </p:cTn>
                        </p:par>
                      </p:childTnLst>
                    </p:cTn>
                  </p:par>
                  <p:par>
                    <p:cTn id="82" fill="hold">
                      <p:stCondLst>
                        <p:cond delay="indefinite"/>
                      </p:stCondLst>
                      <p:childTnLst>
                        <p:par>
                          <p:cTn id="83" fill="hold">
                            <p:stCondLst>
                              <p:cond delay="0"/>
                            </p:stCondLst>
                            <p:childTnLst>
                              <p:par>
                                <p:cTn id="84" presetID="9" presetClass="entr" presetSubtype="0" fill="hold" grpId="0" nodeType="clickEffect">
                                  <p:stCondLst>
                                    <p:cond delay="0"/>
                                  </p:stCondLst>
                                  <p:childTnLst>
                                    <p:set>
                                      <p:cBhvr>
                                        <p:cTn id="85" dur="1" fill="hold">
                                          <p:stCondLst>
                                            <p:cond delay="0"/>
                                          </p:stCondLst>
                                        </p:cTn>
                                        <p:tgtEl>
                                          <p:spTgt spid="2227307"/>
                                        </p:tgtEl>
                                        <p:attrNameLst>
                                          <p:attrName>style.visibility</p:attrName>
                                        </p:attrNameLst>
                                      </p:cBhvr>
                                      <p:to>
                                        <p:strVal val="visible"/>
                                      </p:to>
                                    </p:set>
                                    <p:animEffect transition="in" filter="dissolve">
                                      <p:cBhvr>
                                        <p:cTn id="86" dur="500"/>
                                        <p:tgtEl>
                                          <p:spTgt spid="2227307"/>
                                        </p:tgtEl>
                                      </p:cBhvr>
                                    </p:animEffect>
                                  </p:childTnLst>
                                </p:cTn>
                              </p:par>
                            </p:childTnLst>
                          </p:cTn>
                        </p:par>
                      </p:childTnLst>
                    </p:cTn>
                  </p:par>
                  <p:par>
                    <p:cTn id="87" fill="hold">
                      <p:stCondLst>
                        <p:cond delay="indefinite"/>
                      </p:stCondLst>
                      <p:childTnLst>
                        <p:par>
                          <p:cTn id="88" fill="hold">
                            <p:stCondLst>
                              <p:cond delay="0"/>
                            </p:stCondLst>
                            <p:childTnLst>
                              <p:par>
                                <p:cTn id="89" presetID="17" presetClass="entr" presetSubtype="4" fill="hold" nodeType="clickEffect">
                                  <p:stCondLst>
                                    <p:cond delay="0"/>
                                  </p:stCondLst>
                                  <p:childTnLst>
                                    <p:set>
                                      <p:cBhvr>
                                        <p:cTn id="90" dur="1" fill="hold">
                                          <p:stCondLst>
                                            <p:cond delay="0"/>
                                          </p:stCondLst>
                                        </p:cTn>
                                        <p:tgtEl>
                                          <p:spTgt spid="2227303"/>
                                        </p:tgtEl>
                                        <p:attrNameLst>
                                          <p:attrName>style.visibility</p:attrName>
                                        </p:attrNameLst>
                                      </p:cBhvr>
                                      <p:to>
                                        <p:strVal val="visible"/>
                                      </p:to>
                                    </p:set>
                                    <p:anim calcmode="lin" valueType="num">
                                      <p:cBhvr>
                                        <p:cTn id="91" dur="500" fill="hold"/>
                                        <p:tgtEl>
                                          <p:spTgt spid="2227303"/>
                                        </p:tgtEl>
                                        <p:attrNameLst>
                                          <p:attrName>ppt_x</p:attrName>
                                        </p:attrNameLst>
                                      </p:cBhvr>
                                      <p:tavLst>
                                        <p:tav tm="0">
                                          <p:val>
                                            <p:strVal val="#ppt_x"/>
                                          </p:val>
                                        </p:tav>
                                        <p:tav tm="100000">
                                          <p:val>
                                            <p:strVal val="#ppt_x"/>
                                          </p:val>
                                        </p:tav>
                                      </p:tavLst>
                                    </p:anim>
                                    <p:anim calcmode="lin" valueType="num">
                                      <p:cBhvr>
                                        <p:cTn id="92" dur="500" fill="hold"/>
                                        <p:tgtEl>
                                          <p:spTgt spid="2227303"/>
                                        </p:tgtEl>
                                        <p:attrNameLst>
                                          <p:attrName>ppt_y</p:attrName>
                                        </p:attrNameLst>
                                      </p:cBhvr>
                                      <p:tavLst>
                                        <p:tav tm="0">
                                          <p:val>
                                            <p:strVal val="#ppt_y+#ppt_h/2"/>
                                          </p:val>
                                        </p:tav>
                                        <p:tav tm="100000">
                                          <p:val>
                                            <p:strVal val="#ppt_y"/>
                                          </p:val>
                                        </p:tav>
                                      </p:tavLst>
                                    </p:anim>
                                    <p:anim calcmode="lin" valueType="num">
                                      <p:cBhvr>
                                        <p:cTn id="93" dur="500" fill="hold"/>
                                        <p:tgtEl>
                                          <p:spTgt spid="2227303"/>
                                        </p:tgtEl>
                                        <p:attrNameLst>
                                          <p:attrName>ppt_w</p:attrName>
                                        </p:attrNameLst>
                                      </p:cBhvr>
                                      <p:tavLst>
                                        <p:tav tm="0">
                                          <p:val>
                                            <p:strVal val="#ppt_w"/>
                                          </p:val>
                                        </p:tav>
                                        <p:tav tm="100000">
                                          <p:val>
                                            <p:strVal val="#ppt_w"/>
                                          </p:val>
                                        </p:tav>
                                      </p:tavLst>
                                    </p:anim>
                                    <p:anim calcmode="lin" valueType="num">
                                      <p:cBhvr>
                                        <p:cTn id="94" dur="500" fill="hold"/>
                                        <p:tgtEl>
                                          <p:spTgt spid="2227303"/>
                                        </p:tgtEl>
                                        <p:attrNameLst>
                                          <p:attrName>ppt_h</p:attrName>
                                        </p:attrNameLst>
                                      </p:cBhvr>
                                      <p:tavLst>
                                        <p:tav tm="0">
                                          <p:val>
                                            <p:fltVal val="0.000000"/>
                                          </p:val>
                                        </p:tav>
                                        <p:tav tm="100000">
                                          <p:val>
                                            <p:strVal val="#ppt_h"/>
                                          </p:val>
                                        </p:tav>
                                      </p:tavLst>
                                    </p:anim>
                                  </p:childTnLst>
                                </p:cTn>
                              </p:par>
                            </p:childTnLst>
                          </p:cTn>
                        </p:par>
                      </p:childTnLst>
                    </p:cTn>
                  </p:par>
                  <p:par>
                    <p:cTn id="95" fill="hold">
                      <p:stCondLst>
                        <p:cond delay="indefinite"/>
                      </p:stCondLst>
                      <p:childTnLst>
                        <p:par>
                          <p:cTn id="96" fill="hold">
                            <p:stCondLst>
                              <p:cond delay="0"/>
                            </p:stCondLst>
                            <p:childTnLst>
                              <p:par>
                                <p:cTn id="97" presetID="9" presetClass="entr" presetSubtype="0" fill="hold" grpId="0" nodeType="clickEffect">
                                  <p:stCondLst>
                                    <p:cond delay="0"/>
                                  </p:stCondLst>
                                  <p:childTnLst>
                                    <p:set>
                                      <p:cBhvr>
                                        <p:cTn id="98" dur="1" fill="hold">
                                          <p:stCondLst>
                                            <p:cond delay="0"/>
                                          </p:stCondLst>
                                        </p:cTn>
                                        <p:tgtEl>
                                          <p:spTgt spid="2227312"/>
                                        </p:tgtEl>
                                        <p:attrNameLst>
                                          <p:attrName>style.visibility</p:attrName>
                                        </p:attrNameLst>
                                      </p:cBhvr>
                                      <p:to>
                                        <p:strVal val="visible"/>
                                      </p:to>
                                    </p:set>
                                    <p:animEffect transition="in" filter="dissolve">
                                      <p:cBhvr>
                                        <p:cTn id="99" dur="500"/>
                                        <p:tgtEl>
                                          <p:spTgt spid="2227312"/>
                                        </p:tgtEl>
                                      </p:cBhvr>
                                    </p:animEffect>
                                  </p:childTnLst>
                                </p:cTn>
                              </p:par>
                            </p:childTnLst>
                          </p:cTn>
                        </p:par>
                      </p:childTnLst>
                    </p:cTn>
                  </p:par>
                  <p:par>
                    <p:cTn id="100" fill="hold">
                      <p:stCondLst>
                        <p:cond delay="indefinite"/>
                      </p:stCondLst>
                      <p:childTnLst>
                        <p:par>
                          <p:cTn id="101" fill="hold">
                            <p:stCondLst>
                              <p:cond delay="0"/>
                            </p:stCondLst>
                            <p:childTnLst>
                              <p:par>
                                <p:cTn id="102" presetID="17" presetClass="entr" presetSubtype="4" fill="hold" nodeType="clickEffect">
                                  <p:stCondLst>
                                    <p:cond delay="0"/>
                                  </p:stCondLst>
                                  <p:childTnLst>
                                    <p:set>
                                      <p:cBhvr>
                                        <p:cTn id="103" dur="1" fill="hold">
                                          <p:stCondLst>
                                            <p:cond delay="0"/>
                                          </p:stCondLst>
                                        </p:cTn>
                                        <p:tgtEl>
                                          <p:spTgt spid="2227302"/>
                                        </p:tgtEl>
                                        <p:attrNameLst>
                                          <p:attrName>style.visibility</p:attrName>
                                        </p:attrNameLst>
                                      </p:cBhvr>
                                      <p:to>
                                        <p:strVal val="visible"/>
                                      </p:to>
                                    </p:set>
                                    <p:anim calcmode="lin" valueType="num">
                                      <p:cBhvr>
                                        <p:cTn id="104" dur="500" fill="hold"/>
                                        <p:tgtEl>
                                          <p:spTgt spid="2227302"/>
                                        </p:tgtEl>
                                        <p:attrNameLst>
                                          <p:attrName>ppt_x</p:attrName>
                                        </p:attrNameLst>
                                      </p:cBhvr>
                                      <p:tavLst>
                                        <p:tav tm="0">
                                          <p:val>
                                            <p:strVal val="#ppt_x"/>
                                          </p:val>
                                        </p:tav>
                                        <p:tav tm="100000">
                                          <p:val>
                                            <p:strVal val="#ppt_x"/>
                                          </p:val>
                                        </p:tav>
                                      </p:tavLst>
                                    </p:anim>
                                    <p:anim calcmode="lin" valueType="num">
                                      <p:cBhvr>
                                        <p:cTn id="105" dur="500" fill="hold"/>
                                        <p:tgtEl>
                                          <p:spTgt spid="2227302"/>
                                        </p:tgtEl>
                                        <p:attrNameLst>
                                          <p:attrName>ppt_y</p:attrName>
                                        </p:attrNameLst>
                                      </p:cBhvr>
                                      <p:tavLst>
                                        <p:tav tm="0">
                                          <p:val>
                                            <p:strVal val="#ppt_y+#ppt_h/2"/>
                                          </p:val>
                                        </p:tav>
                                        <p:tav tm="100000">
                                          <p:val>
                                            <p:strVal val="#ppt_y"/>
                                          </p:val>
                                        </p:tav>
                                      </p:tavLst>
                                    </p:anim>
                                    <p:anim calcmode="lin" valueType="num">
                                      <p:cBhvr>
                                        <p:cTn id="106" dur="500" fill="hold"/>
                                        <p:tgtEl>
                                          <p:spTgt spid="2227302"/>
                                        </p:tgtEl>
                                        <p:attrNameLst>
                                          <p:attrName>ppt_w</p:attrName>
                                        </p:attrNameLst>
                                      </p:cBhvr>
                                      <p:tavLst>
                                        <p:tav tm="0">
                                          <p:val>
                                            <p:strVal val="#ppt_w"/>
                                          </p:val>
                                        </p:tav>
                                        <p:tav tm="100000">
                                          <p:val>
                                            <p:strVal val="#ppt_w"/>
                                          </p:val>
                                        </p:tav>
                                      </p:tavLst>
                                    </p:anim>
                                    <p:anim calcmode="lin" valueType="num">
                                      <p:cBhvr>
                                        <p:cTn id="107" dur="500" fill="hold"/>
                                        <p:tgtEl>
                                          <p:spTgt spid="2227302"/>
                                        </p:tgtEl>
                                        <p:attrNameLst>
                                          <p:attrName>ppt_h</p:attrName>
                                        </p:attrNameLst>
                                      </p:cBhvr>
                                      <p:tavLst>
                                        <p:tav tm="0">
                                          <p:val>
                                            <p:fltVal val="0.000000"/>
                                          </p:val>
                                        </p:tav>
                                        <p:tav tm="100000">
                                          <p:val>
                                            <p:strVal val="#ppt_h"/>
                                          </p:val>
                                        </p:tav>
                                      </p:tavLst>
                                    </p:anim>
                                  </p:childTnLst>
                                </p:cTn>
                              </p:par>
                            </p:childTnLst>
                          </p:cTn>
                        </p:par>
                      </p:childTnLst>
                    </p:cTn>
                  </p:par>
                  <p:par>
                    <p:cTn id="108" fill="hold">
                      <p:stCondLst>
                        <p:cond delay="indefinite"/>
                      </p:stCondLst>
                      <p:childTnLst>
                        <p:par>
                          <p:cTn id="109" fill="hold">
                            <p:stCondLst>
                              <p:cond delay="0"/>
                            </p:stCondLst>
                            <p:childTnLst>
                              <p:par>
                                <p:cTn id="110" presetID="9" presetClass="entr" presetSubtype="0" fill="hold" grpId="0" nodeType="clickEffect">
                                  <p:stCondLst>
                                    <p:cond delay="0"/>
                                  </p:stCondLst>
                                  <p:childTnLst>
                                    <p:set>
                                      <p:cBhvr>
                                        <p:cTn id="111" dur="1" fill="hold">
                                          <p:stCondLst>
                                            <p:cond delay="0"/>
                                          </p:stCondLst>
                                        </p:cTn>
                                        <p:tgtEl>
                                          <p:spTgt spid="2227309"/>
                                        </p:tgtEl>
                                        <p:attrNameLst>
                                          <p:attrName>style.visibility</p:attrName>
                                        </p:attrNameLst>
                                      </p:cBhvr>
                                      <p:to>
                                        <p:strVal val="visible"/>
                                      </p:to>
                                    </p:set>
                                    <p:animEffect transition="in" filter="dissolve">
                                      <p:cBhvr>
                                        <p:cTn id="112" dur="500"/>
                                        <p:tgtEl>
                                          <p:spTgt spid="2227309"/>
                                        </p:tgtEl>
                                      </p:cBhvr>
                                    </p:animEffect>
                                  </p:childTnLst>
                                </p:cTn>
                              </p:par>
                            </p:childTnLst>
                          </p:cTn>
                        </p:par>
                      </p:childTnLst>
                    </p:cTn>
                  </p:par>
                  <p:par>
                    <p:cTn id="113" fill="hold">
                      <p:stCondLst>
                        <p:cond delay="indefinite"/>
                      </p:stCondLst>
                      <p:childTnLst>
                        <p:par>
                          <p:cTn id="114" fill="hold">
                            <p:stCondLst>
                              <p:cond delay="0"/>
                            </p:stCondLst>
                            <p:childTnLst>
                              <p:par>
                                <p:cTn id="115" presetID="17" presetClass="entr" presetSubtype="4" fill="hold" nodeType="clickEffect">
                                  <p:stCondLst>
                                    <p:cond delay="0"/>
                                  </p:stCondLst>
                                  <p:childTnLst>
                                    <p:set>
                                      <p:cBhvr>
                                        <p:cTn id="116" dur="1" fill="hold">
                                          <p:stCondLst>
                                            <p:cond delay="0"/>
                                          </p:stCondLst>
                                        </p:cTn>
                                        <p:tgtEl>
                                          <p:spTgt spid="2227304"/>
                                        </p:tgtEl>
                                        <p:attrNameLst>
                                          <p:attrName>style.visibility</p:attrName>
                                        </p:attrNameLst>
                                      </p:cBhvr>
                                      <p:to>
                                        <p:strVal val="visible"/>
                                      </p:to>
                                    </p:set>
                                    <p:anim calcmode="lin" valueType="num">
                                      <p:cBhvr>
                                        <p:cTn id="117" dur="500" fill="hold"/>
                                        <p:tgtEl>
                                          <p:spTgt spid="2227304"/>
                                        </p:tgtEl>
                                        <p:attrNameLst>
                                          <p:attrName>ppt_x</p:attrName>
                                        </p:attrNameLst>
                                      </p:cBhvr>
                                      <p:tavLst>
                                        <p:tav tm="0">
                                          <p:val>
                                            <p:strVal val="#ppt_x"/>
                                          </p:val>
                                        </p:tav>
                                        <p:tav tm="100000">
                                          <p:val>
                                            <p:strVal val="#ppt_x"/>
                                          </p:val>
                                        </p:tav>
                                      </p:tavLst>
                                    </p:anim>
                                    <p:anim calcmode="lin" valueType="num">
                                      <p:cBhvr>
                                        <p:cTn id="118" dur="500" fill="hold"/>
                                        <p:tgtEl>
                                          <p:spTgt spid="2227304"/>
                                        </p:tgtEl>
                                        <p:attrNameLst>
                                          <p:attrName>ppt_y</p:attrName>
                                        </p:attrNameLst>
                                      </p:cBhvr>
                                      <p:tavLst>
                                        <p:tav tm="0">
                                          <p:val>
                                            <p:strVal val="#ppt_y+#ppt_h/2"/>
                                          </p:val>
                                        </p:tav>
                                        <p:tav tm="100000">
                                          <p:val>
                                            <p:strVal val="#ppt_y"/>
                                          </p:val>
                                        </p:tav>
                                      </p:tavLst>
                                    </p:anim>
                                    <p:anim calcmode="lin" valueType="num">
                                      <p:cBhvr>
                                        <p:cTn id="119" dur="500" fill="hold"/>
                                        <p:tgtEl>
                                          <p:spTgt spid="2227304"/>
                                        </p:tgtEl>
                                        <p:attrNameLst>
                                          <p:attrName>ppt_w</p:attrName>
                                        </p:attrNameLst>
                                      </p:cBhvr>
                                      <p:tavLst>
                                        <p:tav tm="0">
                                          <p:val>
                                            <p:strVal val="#ppt_w"/>
                                          </p:val>
                                        </p:tav>
                                        <p:tav tm="100000">
                                          <p:val>
                                            <p:strVal val="#ppt_w"/>
                                          </p:val>
                                        </p:tav>
                                      </p:tavLst>
                                    </p:anim>
                                    <p:anim calcmode="lin" valueType="num">
                                      <p:cBhvr>
                                        <p:cTn id="120" dur="500" fill="hold"/>
                                        <p:tgtEl>
                                          <p:spTgt spid="2227304"/>
                                        </p:tgtEl>
                                        <p:attrNameLst>
                                          <p:attrName>ppt_h</p:attrName>
                                        </p:attrNameLst>
                                      </p:cBhvr>
                                      <p:tavLst>
                                        <p:tav tm="0">
                                          <p:val>
                                            <p:fltVal val="0.000000"/>
                                          </p:val>
                                        </p:tav>
                                        <p:tav tm="100000">
                                          <p:val>
                                            <p:strVal val="#ppt_h"/>
                                          </p:val>
                                        </p:tav>
                                      </p:tavLst>
                                    </p:anim>
                                  </p:childTnLst>
                                </p:cTn>
                              </p:par>
                            </p:childTnLst>
                          </p:cTn>
                        </p:par>
                      </p:childTnLst>
                    </p:cTn>
                  </p:par>
                  <p:par>
                    <p:cTn id="121" fill="hold">
                      <p:stCondLst>
                        <p:cond delay="indefinite"/>
                      </p:stCondLst>
                      <p:childTnLst>
                        <p:par>
                          <p:cTn id="122" fill="hold">
                            <p:stCondLst>
                              <p:cond delay="0"/>
                            </p:stCondLst>
                            <p:childTnLst>
                              <p:par>
                                <p:cTn id="123" presetID="9" presetClass="entr" presetSubtype="0" fill="hold" grpId="0" nodeType="clickEffect">
                                  <p:stCondLst>
                                    <p:cond delay="0"/>
                                  </p:stCondLst>
                                  <p:childTnLst>
                                    <p:set>
                                      <p:cBhvr>
                                        <p:cTn id="124" dur="1" fill="hold">
                                          <p:stCondLst>
                                            <p:cond delay="0"/>
                                          </p:stCondLst>
                                        </p:cTn>
                                        <p:tgtEl>
                                          <p:spTgt spid="2227311"/>
                                        </p:tgtEl>
                                        <p:attrNameLst>
                                          <p:attrName>style.visibility</p:attrName>
                                        </p:attrNameLst>
                                      </p:cBhvr>
                                      <p:to>
                                        <p:strVal val="visible"/>
                                      </p:to>
                                    </p:set>
                                    <p:animEffect transition="in" filter="dissolve">
                                      <p:cBhvr>
                                        <p:cTn id="125" dur="500"/>
                                        <p:tgtEl>
                                          <p:spTgt spid="2227311"/>
                                        </p:tgtEl>
                                      </p:cBhvr>
                                    </p:animEffect>
                                  </p:childTnLst>
                                </p:cTn>
                              </p:par>
                            </p:childTnLst>
                          </p:cTn>
                        </p:par>
                      </p:childTnLst>
                    </p:cTn>
                  </p:par>
                  <p:par>
                    <p:cTn id="126" fill="hold">
                      <p:stCondLst>
                        <p:cond delay="indefinite"/>
                      </p:stCondLst>
                      <p:childTnLst>
                        <p:par>
                          <p:cTn id="127" fill="hold">
                            <p:stCondLst>
                              <p:cond delay="0"/>
                            </p:stCondLst>
                            <p:childTnLst>
                              <p:par>
                                <p:cTn id="128" presetID="17" presetClass="entr" presetSubtype="4" fill="hold" nodeType="clickEffect">
                                  <p:stCondLst>
                                    <p:cond delay="0"/>
                                  </p:stCondLst>
                                  <p:childTnLst>
                                    <p:set>
                                      <p:cBhvr>
                                        <p:cTn id="129" dur="1" fill="hold">
                                          <p:stCondLst>
                                            <p:cond delay="0"/>
                                          </p:stCondLst>
                                        </p:cTn>
                                        <p:tgtEl>
                                          <p:spTgt spid="2227305"/>
                                        </p:tgtEl>
                                        <p:attrNameLst>
                                          <p:attrName>style.visibility</p:attrName>
                                        </p:attrNameLst>
                                      </p:cBhvr>
                                      <p:to>
                                        <p:strVal val="visible"/>
                                      </p:to>
                                    </p:set>
                                    <p:anim calcmode="lin" valueType="num">
                                      <p:cBhvr>
                                        <p:cTn id="130" dur="500" fill="hold"/>
                                        <p:tgtEl>
                                          <p:spTgt spid="2227305"/>
                                        </p:tgtEl>
                                        <p:attrNameLst>
                                          <p:attrName>ppt_x</p:attrName>
                                        </p:attrNameLst>
                                      </p:cBhvr>
                                      <p:tavLst>
                                        <p:tav tm="0">
                                          <p:val>
                                            <p:strVal val="#ppt_x"/>
                                          </p:val>
                                        </p:tav>
                                        <p:tav tm="100000">
                                          <p:val>
                                            <p:strVal val="#ppt_x"/>
                                          </p:val>
                                        </p:tav>
                                      </p:tavLst>
                                    </p:anim>
                                    <p:anim calcmode="lin" valueType="num">
                                      <p:cBhvr>
                                        <p:cTn id="131" dur="500" fill="hold"/>
                                        <p:tgtEl>
                                          <p:spTgt spid="2227305"/>
                                        </p:tgtEl>
                                        <p:attrNameLst>
                                          <p:attrName>ppt_y</p:attrName>
                                        </p:attrNameLst>
                                      </p:cBhvr>
                                      <p:tavLst>
                                        <p:tav tm="0">
                                          <p:val>
                                            <p:strVal val="#ppt_y+#ppt_h/2"/>
                                          </p:val>
                                        </p:tav>
                                        <p:tav tm="100000">
                                          <p:val>
                                            <p:strVal val="#ppt_y"/>
                                          </p:val>
                                        </p:tav>
                                      </p:tavLst>
                                    </p:anim>
                                    <p:anim calcmode="lin" valueType="num">
                                      <p:cBhvr>
                                        <p:cTn id="132" dur="500" fill="hold"/>
                                        <p:tgtEl>
                                          <p:spTgt spid="2227305"/>
                                        </p:tgtEl>
                                        <p:attrNameLst>
                                          <p:attrName>ppt_w</p:attrName>
                                        </p:attrNameLst>
                                      </p:cBhvr>
                                      <p:tavLst>
                                        <p:tav tm="0">
                                          <p:val>
                                            <p:strVal val="#ppt_w"/>
                                          </p:val>
                                        </p:tav>
                                        <p:tav tm="100000">
                                          <p:val>
                                            <p:strVal val="#ppt_w"/>
                                          </p:val>
                                        </p:tav>
                                      </p:tavLst>
                                    </p:anim>
                                    <p:anim calcmode="lin" valueType="num">
                                      <p:cBhvr>
                                        <p:cTn id="133" dur="500" fill="hold"/>
                                        <p:tgtEl>
                                          <p:spTgt spid="2227305"/>
                                        </p:tgtEl>
                                        <p:attrNameLst>
                                          <p:attrName>ppt_h</p:attrName>
                                        </p:attrNameLst>
                                      </p:cBhvr>
                                      <p:tavLst>
                                        <p:tav tm="0">
                                          <p:val>
                                            <p:fltVal val="0.000000"/>
                                          </p:val>
                                        </p:tav>
                                        <p:tav tm="100000">
                                          <p:val>
                                            <p:strVal val="#ppt_h"/>
                                          </p:val>
                                        </p:tav>
                                      </p:tavLst>
                                    </p:anim>
                                  </p:childTnLst>
                                </p:cTn>
                              </p:par>
                            </p:childTnLst>
                          </p:cTn>
                        </p:par>
                      </p:childTnLst>
                    </p:cTn>
                  </p:par>
                  <p:par>
                    <p:cTn id="134" fill="hold">
                      <p:stCondLst>
                        <p:cond delay="indefinite"/>
                      </p:stCondLst>
                      <p:childTnLst>
                        <p:par>
                          <p:cTn id="135" fill="hold">
                            <p:stCondLst>
                              <p:cond delay="0"/>
                            </p:stCondLst>
                            <p:childTnLst>
                              <p:par>
                                <p:cTn id="136" presetID="17" presetClass="entr" presetSubtype="4" fill="hold" nodeType="clickEffect">
                                  <p:stCondLst>
                                    <p:cond delay="0"/>
                                  </p:stCondLst>
                                  <p:childTnLst>
                                    <p:set>
                                      <p:cBhvr>
                                        <p:cTn id="137" dur="1" fill="hold">
                                          <p:stCondLst>
                                            <p:cond delay="0"/>
                                          </p:stCondLst>
                                        </p:cTn>
                                        <p:tgtEl>
                                          <p:spTgt spid="2227296"/>
                                        </p:tgtEl>
                                        <p:attrNameLst>
                                          <p:attrName>style.visibility</p:attrName>
                                        </p:attrNameLst>
                                      </p:cBhvr>
                                      <p:to>
                                        <p:strVal val="visible"/>
                                      </p:to>
                                    </p:set>
                                    <p:anim calcmode="lin" valueType="num">
                                      <p:cBhvr>
                                        <p:cTn id="138" dur="500" fill="hold"/>
                                        <p:tgtEl>
                                          <p:spTgt spid="2227296"/>
                                        </p:tgtEl>
                                        <p:attrNameLst>
                                          <p:attrName>ppt_x</p:attrName>
                                        </p:attrNameLst>
                                      </p:cBhvr>
                                      <p:tavLst>
                                        <p:tav tm="0">
                                          <p:val>
                                            <p:strVal val="#ppt_x"/>
                                          </p:val>
                                        </p:tav>
                                        <p:tav tm="100000">
                                          <p:val>
                                            <p:strVal val="#ppt_x"/>
                                          </p:val>
                                        </p:tav>
                                      </p:tavLst>
                                    </p:anim>
                                    <p:anim calcmode="lin" valueType="num">
                                      <p:cBhvr>
                                        <p:cTn id="139" dur="500" fill="hold"/>
                                        <p:tgtEl>
                                          <p:spTgt spid="2227296"/>
                                        </p:tgtEl>
                                        <p:attrNameLst>
                                          <p:attrName>ppt_y</p:attrName>
                                        </p:attrNameLst>
                                      </p:cBhvr>
                                      <p:tavLst>
                                        <p:tav tm="0">
                                          <p:val>
                                            <p:strVal val="#ppt_y+#ppt_h/2"/>
                                          </p:val>
                                        </p:tav>
                                        <p:tav tm="100000">
                                          <p:val>
                                            <p:strVal val="#ppt_y"/>
                                          </p:val>
                                        </p:tav>
                                      </p:tavLst>
                                    </p:anim>
                                    <p:anim calcmode="lin" valueType="num">
                                      <p:cBhvr>
                                        <p:cTn id="140" dur="500" fill="hold"/>
                                        <p:tgtEl>
                                          <p:spTgt spid="2227296"/>
                                        </p:tgtEl>
                                        <p:attrNameLst>
                                          <p:attrName>ppt_w</p:attrName>
                                        </p:attrNameLst>
                                      </p:cBhvr>
                                      <p:tavLst>
                                        <p:tav tm="0">
                                          <p:val>
                                            <p:strVal val="#ppt_w"/>
                                          </p:val>
                                        </p:tav>
                                        <p:tav tm="100000">
                                          <p:val>
                                            <p:strVal val="#ppt_w"/>
                                          </p:val>
                                        </p:tav>
                                      </p:tavLst>
                                    </p:anim>
                                    <p:anim calcmode="lin" valueType="num">
                                      <p:cBhvr>
                                        <p:cTn id="141" dur="500" fill="hold"/>
                                        <p:tgtEl>
                                          <p:spTgt spid="2227296"/>
                                        </p:tgtEl>
                                        <p:attrNameLst>
                                          <p:attrName>ppt_h</p:attrName>
                                        </p:attrNameLst>
                                      </p:cBhvr>
                                      <p:tavLst>
                                        <p:tav tm="0">
                                          <p:val>
                                            <p:fltVal val="0.000000"/>
                                          </p:val>
                                        </p:tav>
                                        <p:tav tm="100000">
                                          <p:val>
                                            <p:strVal val="#ppt_h"/>
                                          </p:val>
                                        </p:tav>
                                      </p:tavLst>
                                    </p:anim>
                                  </p:childTnLst>
                                </p:cTn>
                              </p:par>
                            </p:childTnLst>
                          </p:cTn>
                        </p:par>
                      </p:childTnLst>
                    </p:cTn>
                  </p:par>
                  <p:par>
                    <p:cTn id="142" fill="hold">
                      <p:stCondLst>
                        <p:cond delay="indefinite"/>
                      </p:stCondLst>
                      <p:childTnLst>
                        <p:par>
                          <p:cTn id="143" fill="hold">
                            <p:stCondLst>
                              <p:cond delay="0"/>
                            </p:stCondLst>
                            <p:childTnLst>
                              <p:par>
                                <p:cTn id="144" presetID="17" presetClass="entr" presetSubtype="4" fill="hold" nodeType="clickEffect">
                                  <p:stCondLst>
                                    <p:cond delay="0"/>
                                  </p:stCondLst>
                                  <p:childTnLst>
                                    <p:set>
                                      <p:cBhvr>
                                        <p:cTn id="145" dur="1" fill="hold">
                                          <p:stCondLst>
                                            <p:cond delay="0"/>
                                          </p:stCondLst>
                                        </p:cTn>
                                        <p:tgtEl>
                                          <p:spTgt spid="2227295"/>
                                        </p:tgtEl>
                                        <p:attrNameLst>
                                          <p:attrName>style.visibility</p:attrName>
                                        </p:attrNameLst>
                                      </p:cBhvr>
                                      <p:to>
                                        <p:strVal val="visible"/>
                                      </p:to>
                                    </p:set>
                                    <p:anim calcmode="lin" valueType="num">
                                      <p:cBhvr>
                                        <p:cTn id="146" dur="500" fill="hold"/>
                                        <p:tgtEl>
                                          <p:spTgt spid="2227295"/>
                                        </p:tgtEl>
                                        <p:attrNameLst>
                                          <p:attrName>ppt_x</p:attrName>
                                        </p:attrNameLst>
                                      </p:cBhvr>
                                      <p:tavLst>
                                        <p:tav tm="0">
                                          <p:val>
                                            <p:strVal val="#ppt_x"/>
                                          </p:val>
                                        </p:tav>
                                        <p:tav tm="100000">
                                          <p:val>
                                            <p:strVal val="#ppt_x"/>
                                          </p:val>
                                        </p:tav>
                                      </p:tavLst>
                                    </p:anim>
                                    <p:anim calcmode="lin" valueType="num">
                                      <p:cBhvr>
                                        <p:cTn id="147" dur="500" fill="hold"/>
                                        <p:tgtEl>
                                          <p:spTgt spid="2227295"/>
                                        </p:tgtEl>
                                        <p:attrNameLst>
                                          <p:attrName>ppt_y</p:attrName>
                                        </p:attrNameLst>
                                      </p:cBhvr>
                                      <p:tavLst>
                                        <p:tav tm="0">
                                          <p:val>
                                            <p:strVal val="#ppt_y+#ppt_h/2"/>
                                          </p:val>
                                        </p:tav>
                                        <p:tav tm="100000">
                                          <p:val>
                                            <p:strVal val="#ppt_y"/>
                                          </p:val>
                                        </p:tav>
                                      </p:tavLst>
                                    </p:anim>
                                    <p:anim calcmode="lin" valueType="num">
                                      <p:cBhvr>
                                        <p:cTn id="148" dur="500" fill="hold"/>
                                        <p:tgtEl>
                                          <p:spTgt spid="2227295"/>
                                        </p:tgtEl>
                                        <p:attrNameLst>
                                          <p:attrName>ppt_w</p:attrName>
                                        </p:attrNameLst>
                                      </p:cBhvr>
                                      <p:tavLst>
                                        <p:tav tm="0">
                                          <p:val>
                                            <p:strVal val="#ppt_w"/>
                                          </p:val>
                                        </p:tav>
                                        <p:tav tm="100000">
                                          <p:val>
                                            <p:strVal val="#ppt_w"/>
                                          </p:val>
                                        </p:tav>
                                      </p:tavLst>
                                    </p:anim>
                                    <p:anim calcmode="lin" valueType="num">
                                      <p:cBhvr>
                                        <p:cTn id="149" dur="500" fill="hold"/>
                                        <p:tgtEl>
                                          <p:spTgt spid="2227295"/>
                                        </p:tgtEl>
                                        <p:attrNameLst>
                                          <p:attrName>ppt_h</p:attrName>
                                        </p:attrNameLst>
                                      </p:cBhvr>
                                      <p:tavLst>
                                        <p:tav tm="0">
                                          <p:val>
                                            <p:fltVal val="0.000000"/>
                                          </p:val>
                                        </p:tav>
                                        <p:tav tm="100000">
                                          <p:val>
                                            <p:strVal val="#ppt_h"/>
                                          </p:val>
                                        </p:tav>
                                      </p:tavLst>
                                    </p:anim>
                                  </p:childTnLst>
                                </p:cTn>
                              </p:par>
                            </p:childTnLst>
                          </p:cTn>
                        </p:par>
                      </p:childTnLst>
                    </p:cTn>
                  </p:par>
                  <p:par>
                    <p:cTn id="150" fill="hold">
                      <p:stCondLst>
                        <p:cond delay="indefinite"/>
                      </p:stCondLst>
                      <p:childTnLst>
                        <p:par>
                          <p:cTn id="151" fill="hold">
                            <p:stCondLst>
                              <p:cond delay="0"/>
                            </p:stCondLst>
                            <p:childTnLst>
                              <p:par>
                                <p:cTn id="152" presetID="17" presetClass="entr" presetSubtype="4" fill="hold" nodeType="clickEffect">
                                  <p:stCondLst>
                                    <p:cond delay="0"/>
                                  </p:stCondLst>
                                  <p:childTnLst>
                                    <p:set>
                                      <p:cBhvr>
                                        <p:cTn id="153" dur="1" fill="hold">
                                          <p:stCondLst>
                                            <p:cond delay="0"/>
                                          </p:stCondLst>
                                        </p:cTn>
                                        <p:tgtEl>
                                          <p:spTgt spid="2227306"/>
                                        </p:tgtEl>
                                        <p:attrNameLst>
                                          <p:attrName>style.visibility</p:attrName>
                                        </p:attrNameLst>
                                      </p:cBhvr>
                                      <p:to>
                                        <p:strVal val="visible"/>
                                      </p:to>
                                    </p:set>
                                    <p:anim calcmode="lin" valueType="num">
                                      <p:cBhvr>
                                        <p:cTn id="154" dur="500" fill="hold"/>
                                        <p:tgtEl>
                                          <p:spTgt spid="2227306"/>
                                        </p:tgtEl>
                                        <p:attrNameLst>
                                          <p:attrName>ppt_x</p:attrName>
                                        </p:attrNameLst>
                                      </p:cBhvr>
                                      <p:tavLst>
                                        <p:tav tm="0">
                                          <p:val>
                                            <p:strVal val="#ppt_x"/>
                                          </p:val>
                                        </p:tav>
                                        <p:tav tm="100000">
                                          <p:val>
                                            <p:strVal val="#ppt_x"/>
                                          </p:val>
                                        </p:tav>
                                      </p:tavLst>
                                    </p:anim>
                                    <p:anim calcmode="lin" valueType="num">
                                      <p:cBhvr>
                                        <p:cTn id="155" dur="500" fill="hold"/>
                                        <p:tgtEl>
                                          <p:spTgt spid="2227306"/>
                                        </p:tgtEl>
                                        <p:attrNameLst>
                                          <p:attrName>ppt_y</p:attrName>
                                        </p:attrNameLst>
                                      </p:cBhvr>
                                      <p:tavLst>
                                        <p:tav tm="0">
                                          <p:val>
                                            <p:strVal val="#ppt_y+#ppt_h/2"/>
                                          </p:val>
                                        </p:tav>
                                        <p:tav tm="100000">
                                          <p:val>
                                            <p:strVal val="#ppt_y"/>
                                          </p:val>
                                        </p:tav>
                                      </p:tavLst>
                                    </p:anim>
                                    <p:anim calcmode="lin" valueType="num">
                                      <p:cBhvr>
                                        <p:cTn id="156" dur="500" fill="hold"/>
                                        <p:tgtEl>
                                          <p:spTgt spid="2227306"/>
                                        </p:tgtEl>
                                        <p:attrNameLst>
                                          <p:attrName>ppt_w</p:attrName>
                                        </p:attrNameLst>
                                      </p:cBhvr>
                                      <p:tavLst>
                                        <p:tav tm="0">
                                          <p:val>
                                            <p:strVal val="#ppt_w"/>
                                          </p:val>
                                        </p:tav>
                                        <p:tav tm="100000">
                                          <p:val>
                                            <p:strVal val="#ppt_w"/>
                                          </p:val>
                                        </p:tav>
                                      </p:tavLst>
                                    </p:anim>
                                    <p:anim calcmode="lin" valueType="num">
                                      <p:cBhvr>
                                        <p:cTn id="157" dur="500" fill="hold"/>
                                        <p:tgtEl>
                                          <p:spTgt spid="2227306"/>
                                        </p:tgtEl>
                                        <p:attrNameLst>
                                          <p:attrName>ppt_h</p:attrName>
                                        </p:attrNameLst>
                                      </p:cBhvr>
                                      <p:tavLst>
                                        <p:tav tm="0">
                                          <p:val>
                                            <p:fltVal val="0.000000"/>
                                          </p:val>
                                        </p:tav>
                                        <p:tav tm="100000">
                                          <p:val>
                                            <p:strVal val="#ppt_h"/>
                                          </p:val>
                                        </p:tav>
                                      </p:tavLst>
                                    </p:anim>
                                  </p:childTnLst>
                                </p:cTn>
                              </p:par>
                            </p:childTnLst>
                          </p:cTn>
                        </p:par>
                      </p:childTnLst>
                    </p:cTn>
                  </p:par>
                  <p:par>
                    <p:cTn id="158" fill="hold">
                      <p:stCondLst>
                        <p:cond delay="indefinite"/>
                      </p:stCondLst>
                      <p:childTnLst>
                        <p:par>
                          <p:cTn id="159" fill="hold">
                            <p:stCondLst>
                              <p:cond delay="0"/>
                            </p:stCondLst>
                            <p:childTnLst>
                              <p:par>
                                <p:cTn id="160" presetID="22" presetClass="entr" presetSubtype="8" fill="hold" nodeType="clickEffect">
                                  <p:stCondLst>
                                    <p:cond delay="0"/>
                                  </p:stCondLst>
                                  <p:childTnLst>
                                    <p:set>
                                      <p:cBhvr>
                                        <p:cTn id="161" dur="1" fill="hold">
                                          <p:stCondLst>
                                            <p:cond delay="0"/>
                                          </p:stCondLst>
                                        </p:cTn>
                                        <p:tgtEl>
                                          <p:spTgt spid="2227294"/>
                                        </p:tgtEl>
                                        <p:attrNameLst>
                                          <p:attrName>style.visibility</p:attrName>
                                        </p:attrNameLst>
                                      </p:cBhvr>
                                      <p:to>
                                        <p:strVal val="visible"/>
                                      </p:to>
                                    </p:set>
                                    <p:animEffect transition="in" filter="wipe(left)">
                                      <p:cBhvr>
                                        <p:cTn id="162" dur="500"/>
                                        <p:tgtEl>
                                          <p:spTgt spid="2227294"/>
                                        </p:tgtEl>
                                      </p:cBhvr>
                                    </p:animEffect>
                                  </p:childTnLst>
                                </p:cTn>
                              </p:par>
                            </p:childTnLst>
                          </p:cTn>
                        </p:par>
                      </p:childTnLst>
                    </p:cTn>
                  </p:par>
                  <p:par>
                    <p:cTn id="163" fill="hold">
                      <p:stCondLst>
                        <p:cond delay="indefinite"/>
                      </p:stCondLst>
                      <p:childTnLst>
                        <p:par>
                          <p:cTn id="164" fill="hold">
                            <p:stCondLst>
                              <p:cond delay="0"/>
                            </p:stCondLst>
                            <p:childTnLst>
                              <p:par>
                                <p:cTn id="165" presetID="9" presetClass="entr" presetSubtype="0" fill="hold" grpId="0" nodeType="clickEffect">
                                  <p:stCondLst>
                                    <p:cond delay="0"/>
                                  </p:stCondLst>
                                  <p:childTnLst>
                                    <p:set>
                                      <p:cBhvr>
                                        <p:cTn id="166" dur="1" fill="hold">
                                          <p:stCondLst>
                                            <p:cond delay="0"/>
                                          </p:stCondLst>
                                        </p:cTn>
                                        <p:tgtEl>
                                          <p:spTgt spid="2227314"/>
                                        </p:tgtEl>
                                        <p:attrNameLst>
                                          <p:attrName>style.visibility</p:attrName>
                                        </p:attrNameLst>
                                      </p:cBhvr>
                                      <p:to>
                                        <p:strVal val="visible"/>
                                      </p:to>
                                    </p:set>
                                    <p:animEffect transition="in" filter="dissolve">
                                      <p:cBhvr>
                                        <p:cTn id="167" dur="500"/>
                                        <p:tgtEl>
                                          <p:spTgt spid="2227314"/>
                                        </p:tgtEl>
                                      </p:cBhvr>
                                    </p:animEffect>
                                  </p:childTnLst>
                                </p:cTn>
                              </p:par>
                            </p:childTnLst>
                          </p:cTn>
                        </p:par>
                      </p:childTnLst>
                    </p:cTn>
                  </p:par>
                  <p:par>
                    <p:cTn id="168" fill="hold">
                      <p:stCondLst>
                        <p:cond delay="indefinite"/>
                      </p:stCondLst>
                      <p:childTnLst>
                        <p:par>
                          <p:cTn id="169" fill="hold">
                            <p:stCondLst>
                              <p:cond delay="0"/>
                            </p:stCondLst>
                            <p:childTnLst>
                              <p:par>
                                <p:cTn id="170" presetID="9" presetClass="entr" presetSubtype="0" fill="hold" grpId="0" nodeType="clickEffect">
                                  <p:stCondLst>
                                    <p:cond delay="0"/>
                                  </p:stCondLst>
                                  <p:childTnLst>
                                    <p:set>
                                      <p:cBhvr>
                                        <p:cTn id="171" dur="1" fill="hold">
                                          <p:stCondLst>
                                            <p:cond delay="0"/>
                                          </p:stCondLst>
                                        </p:cTn>
                                        <p:tgtEl>
                                          <p:spTgt spid="2227315"/>
                                        </p:tgtEl>
                                        <p:attrNameLst>
                                          <p:attrName>style.visibility</p:attrName>
                                        </p:attrNameLst>
                                      </p:cBhvr>
                                      <p:to>
                                        <p:strVal val="visible"/>
                                      </p:to>
                                    </p:set>
                                    <p:animEffect transition="in" filter="dissolve">
                                      <p:cBhvr>
                                        <p:cTn id="172" dur="500"/>
                                        <p:tgtEl>
                                          <p:spTgt spid="2227315"/>
                                        </p:tgtEl>
                                      </p:cBhvr>
                                    </p:animEffect>
                                  </p:childTnLst>
                                </p:cTn>
                              </p:par>
                            </p:childTnLst>
                          </p:cTn>
                        </p:par>
                      </p:childTnLst>
                    </p:cTn>
                  </p:par>
                  <p:par>
                    <p:cTn id="173" fill="hold">
                      <p:stCondLst>
                        <p:cond delay="indefinite"/>
                      </p:stCondLst>
                      <p:childTnLst>
                        <p:par>
                          <p:cTn id="174" fill="hold">
                            <p:stCondLst>
                              <p:cond delay="0"/>
                            </p:stCondLst>
                            <p:childTnLst>
                              <p:par>
                                <p:cTn id="175" presetID="17" presetClass="entr" presetSubtype="4" fill="hold" nodeType="clickEffect">
                                  <p:stCondLst>
                                    <p:cond delay="0"/>
                                  </p:stCondLst>
                                  <p:childTnLst>
                                    <p:set>
                                      <p:cBhvr>
                                        <p:cTn id="176" dur="1" fill="hold">
                                          <p:stCondLst>
                                            <p:cond delay="0"/>
                                          </p:stCondLst>
                                        </p:cTn>
                                        <p:tgtEl>
                                          <p:spTgt spid="2227293"/>
                                        </p:tgtEl>
                                        <p:attrNameLst>
                                          <p:attrName>style.visibility</p:attrName>
                                        </p:attrNameLst>
                                      </p:cBhvr>
                                      <p:to>
                                        <p:strVal val="visible"/>
                                      </p:to>
                                    </p:set>
                                    <p:anim calcmode="lin" valueType="num">
                                      <p:cBhvr>
                                        <p:cTn id="177" dur="500" fill="hold"/>
                                        <p:tgtEl>
                                          <p:spTgt spid="2227293"/>
                                        </p:tgtEl>
                                        <p:attrNameLst>
                                          <p:attrName>ppt_x</p:attrName>
                                        </p:attrNameLst>
                                      </p:cBhvr>
                                      <p:tavLst>
                                        <p:tav tm="0">
                                          <p:val>
                                            <p:strVal val="#ppt_x"/>
                                          </p:val>
                                        </p:tav>
                                        <p:tav tm="100000">
                                          <p:val>
                                            <p:strVal val="#ppt_x"/>
                                          </p:val>
                                        </p:tav>
                                      </p:tavLst>
                                    </p:anim>
                                    <p:anim calcmode="lin" valueType="num">
                                      <p:cBhvr>
                                        <p:cTn id="178" dur="500" fill="hold"/>
                                        <p:tgtEl>
                                          <p:spTgt spid="2227293"/>
                                        </p:tgtEl>
                                        <p:attrNameLst>
                                          <p:attrName>ppt_y</p:attrName>
                                        </p:attrNameLst>
                                      </p:cBhvr>
                                      <p:tavLst>
                                        <p:tav tm="0">
                                          <p:val>
                                            <p:strVal val="#ppt_y+#ppt_h/2"/>
                                          </p:val>
                                        </p:tav>
                                        <p:tav tm="100000">
                                          <p:val>
                                            <p:strVal val="#ppt_y"/>
                                          </p:val>
                                        </p:tav>
                                      </p:tavLst>
                                    </p:anim>
                                    <p:anim calcmode="lin" valueType="num">
                                      <p:cBhvr>
                                        <p:cTn id="179" dur="500" fill="hold"/>
                                        <p:tgtEl>
                                          <p:spTgt spid="2227293"/>
                                        </p:tgtEl>
                                        <p:attrNameLst>
                                          <p:attrName>ppt_w</p:attrName>
                                        </p:attrNameLst>
                                      </p:cBhvr>
                                      <p:tavLst>
                                        <p:tav tm="0">
                                          <p:val>
                                            <p:strVal val="#ppt_w"/>
                                          </p:val>
                                        </p:tav>
                                        <p:tav tm="100000">
                                          <p:val>
                                            <p:strVal val="#ppt_w"/>
                                          </p:val>
                                        </p:tav>
                                      </p:tavLst>
                                    </p:anim>
                                    <p:anim calcmode="lin" valueType="num">
                                      <p:cBhvr>
                                        <p:cTn id="180" dur="500" fill="hold"/>
                                        <p:tgtEl>
                                          <p:spTgt spid="2227293"/>
                                        </p:tgtEl>
                                        <p:attrNameLst>
                                          <p:attrName>ppt_h</p:attrName>
                                        </p:attrNameLst>
                                      </p:cBhvr>
                                      <p:tavLst>
                                        <p:tav tm="0">
                                          <p:val>
                                            <p:fltVal val="0.000000"/>
                                          </p:val>
                                        </p:tav>
                                        <p:tav tm="100000">
                                          <p:val>
                                            <p:strVal val="#ppt_h"/>
                                          </p:val>
                                        </p:tav>
                                      </p:tavLst>
                                    </p:anim>
                                  </p:childTnLst>
                                </p:cTn>
                              </p:par>
                            </p:childTnLst>
                          </p:cTn>
                        </p:par>
                      </p:childTnLst>
                    </p:cTn>
                  </p:par>
                  <p:par>
                    <p:cTn id="181" fill="hold">
                      <p:stCondLst>
                        <p:cond delay="indefinite"/>
                      </p:stCondLst>
                      <p:childTnLst>
                        <p:par>
                          <p:cTn id="182" fill="hold">
                            <p:stCondLst>
                              <p:cond delay="0"/>
                            </p:stCondLst>
                            <p:childTnLst>
                              <p:par>
                                <p:cTn id="183" presetID="22" presetClass="entr" presetSubtype="8" fill="hold" nodeType="clickEffect">
                                  <p:stCondLst>
                                    <p:cond delay="0"/>
                                  </p:stCondLst>
                                  <p:childTnLst>
                                    <p:set>
                                      <p:cBhvr>
                                        <p:cTn id="184" dur="1" fill="hold">
                                          <p:stCondLst>
                                            <p:cond delay="0"/>
                                          </p:stCondLst>
                                        </p:cTn>
                                        <p:tgtEl>
                                          <p:spTgt spid="11"/>
                                        </p:tgtEl>
                                        <p:attrNameLst>
                                          <p:attrName>style.visibility</p:attrName>
                                        </p:attrNameLst>
                                      </p:cBhvr>
                                      <p:to>
                                        <p:strVal val="visible"/>
                                      </p:to>
                                    </p:set>
                                    <p:animEffect transition="in" filter="wipe(left)">
                                      <p:cBhvr>
                                        <p:cTn id="185" dur="500"/>
                                        <p:tgtEl>
                                          <p:spTgt spid="11"/>
                                        </p:tgtEl>
                                      </p:cBhvr>
                                    </p:animEffect>
                                  </p:childTnLst>
                                </p:cTn>
                              </p:par>
                            </p:childTnLst>
                          </p:cTn>
                        </p:par>
                      </p:childTnLst>
                    </p:cTn>
                  </p:par>
                  <p:par>
                    <p:cTn id="186" fill="hold">
                      <p:stCondLst>
                        <p:cond delay="indefinite"/>
                      </p:stCondLst>
                      <p:childTnLst>
                        <p:par>
                          <p:cTn id="187" fill="hold">
                            <p:stCondLst>
                              <p:cond delay="0"/>
                            </p:stCondLst>
                            <p:childTnLst>
                              <p:par>
                                <p:cTn id="188" presetID="17" presetClass="entr" presetSubtype="4" fill="hold" nodeType="clickEffect">
                                  <p:stCondLst>
                                    <p:cond delay="0"/>
                                  </p:stCondLst>
                                  <p:childTnLst>
                                    <p:set>
                                      <p:cBhvr>
                                        <p:cTn id="189" dur="1" fill="hold">
                                          <p:stCondLst>
                                            <p:cond delay="0"/>
                                          </p:stCondLst>
                                        </p:cTn>
                                        <p:tgtEl>
                                          <p:spTgt spid="2227292"/>
                                        </p:tgtEl>
                                        <p:attrNameLst>
                                          <p:attrName>style.visibility</p:attrName>
                                        </p:attrNameLst>
                                      </p:cBhvr>
                                      <p:to>
                                        <p:strVal val="visible"/>
                                      </p:to>
                                    </p:set>
                                    <p:anim calcmode="lin" valueType="num">
                                      <p:cBhvr>
                                        <p:cTn id="190" dur="500" fill="hold"/>
                                        <p:tgtEl>
                                          <p:spTgt spid="2227292"/>
                                        </p:tgtEl>
                                        <p:attrNameLst>
                                          <p:attrName>ppt_x</p:attrName>
                                        </p:attrNameLst>
                                      </p:cBhvr>
                                      <p:tavLst>
                                        <p:tav tm="0">
                                          <p:val>
                                            <p:strVal val="#ppt_x"/>
                                          </p:val>
                                        </p:tav>
                                        <p:tav tm="100000">
                                          <p:val>
                                            <p:strVal val="#ppt_x"/>
                                          </p:val>
                                        </p:tav>
                                      </p:tavLst>
                                    </p:anim>
                                    <p:anim calcmode="lin" valueType="num">
                                      <p:cBhvr>
                                        <p:cTn id="191" dur="500" fill="hold"/>
                                        <p:tgtEl>
                                          <p:spTgt spid="2227292"/>
                                        </p:tgtEl>
                                        <p:attrNameLst>
                                          <p:attrName>ppt_y</p:attrName>
                                        </p:attrNameLst>
                                      </p:cBhvr>
                                      <p:tavLst>
                                        <p:tav tm="0">
                                          <p:val>
                                            <p:strVal val="#ppt_y+#ppt_h/2"/>
                                          </p:val>
                                        </p:tav>
                                        <p:tav tm="100000">
                                          <p:val>
                                            <p:strVal val="#ppt_y"/>
                                          </p:val>
                                        </p:tav>
                                      </p:tavLst>
                                    </p:anim>
                                    <p:anim calcmode="lin" valueType="num">
                                      <p:cBhvr>
                                        <p:cTn id="192" dur="500" fill="hold"/>
                                        <p:tgtEl>
                                          <p:spTgt spid="2227292"/>
                                        </p:tgtEl>
                                        <p:attrNameLst>
                                          <p:attrName>ppt_w</p:attrName>
                                        </p:attrNameLst>
                                      </p:cBhvr>
                                      <p:tavLst>
                                        <p:tav tm="0">
                                          <p:val>
                                            <p:strVal val="#ppt_w"/>
                                          </p:val>
                                        </p:tav>
                                        <p:tav tm="100000">
                                          <p:val>
                                            <p:strVal val="#ppt_w"/>
                                          </p:val>
                                        </p:tav>
                                      </p:tavLst>
                                    </p:anim>
                                    <p:anim calcmode="lin" valueType="num">
                                      <p:cBhvr>
                                        <p:cTn id="193" dur="500" fill="hold"/>
                                        <p:tgtEl>
                                          <p:spTgt spid="2227292"/>
                                        </p:tgtEl>
                                        <p:attrNameLst>
                                          <p:attrName>ppt_h</p:attrName>
                                        </p:attrNameLst>
                                      </p:cBhvr>
                                      <p:tavLst>
                                        <p:tav tm="0">
                                          <p:val>
                                            <p:fltVal val="0.00000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7307" grpId="0"/>
      <p:bldP spid="2227308" grpId="0"/>
      <p:bldP spid="2227309" grpId="0"/>
      <p:bldP spid="2227311" grpId="0"/>
      <p:bldP spid="2227312" grpId="0"/>
      <p:bldP spid="2227313" grpId="0"/>
      <p:bldP spid="2227314" grpId="0"/>
      <p:bldP spid="2227315" grpId="0"/>
      <p:bldP spid="2228241" grpId="0" animBg="1"/>
      <p:bldP spid="2228242" grpId="0"/>
      <p:bldP spid="222824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8233" name="Text Box 9"/>
          <p:cNvSpPr txBox="1"/>
          <p:nvPr/>
        </p:nvSpPr>
        <p:spPr>
          <a:xfrm>
            <a:off x="1223963" y="3357563"/>
            <a:ext cx="6734175" cy="1406525"/>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b="1" dirty="0">
                <a:solidFill>
                  <a:schemeClr val="tx1"/>
                </a:solidFill>
                <a:latin typeface="Times New Roman" panose="02020603050405020304" pitchFamily="18" charset="0"/>
                <a:ea typeface="黑体" panose="02010609060101010101" pitchFamily="49" charset="-122"/>
              </a:rPr>
              <a:t>数据采集站一般是由单片机数据采集装置组成，位于生产设备附近，可独立完成数据采集和预处理任务，还可将数据以数字信号的形式传送给上位机。 </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28234" name="Text Box 10"/>
          <p:cNvSpPr txBox="1"/>
          <p:nvPr/>
        </p:nvSpPr>
        <p:spPr>
          <a:xfrm>
            <a:off x="1223963" y="4833938"/>
            <a:ext cx="6734175" cy="1077912"/>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b="1" dirty="0">
                <a:solidFill>
                  <a:schemeClr val="tx1"/>
                </a:solidFill>
                <a:latin typeface="Times New Roman" panose="02020603050405020304" pitchFamily="18" charset="0"/>
                <a:ea typeface="黑体" panose="02010609060101010101" pitchFamily="49" charset="-122"/>
              </a:rPr>
              <a:t>数据采集站与上位机之间通常采用异步串行传送数据。数据通信通常采用主从方式，由上位机确定与哪一个数据采集站进行数据传送。 </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28239" name="Text Box 15"/>
          <p:cNvSpPr txBox="1"/>
          <p:nvPr/>
        </p:nvSpPr>
        <p:spPr>
          <a:xfrm>
            <a:off x="1235075" y="2528888"/>
            <a:ext cx="6734175" cy="749300"/>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b="1" dirty="0">
                <a:solidFill>
                  <a:schemeClr val="tx1"/>
                </a:solidFill>
                <a:latin typeface="Times New Roman" panose="02020603050405020304" pitchFamily="18" charset="0"/>
                <a:ea typeface="黑体" panose="02010609060101010101" pitchFamily="49" charset="-122"/>
              </a:rPr>
              <a:t>它由若干个“数据采集站”和一台上位机及通信线路组成。 </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28240" name="Text Box 16"/>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9398" name="Text Box 1049"/>
          <p:cNvSpPr txBox="1"/>
          <p:nvPr/>
        </p:nvSpPr>
        <p:spPr>
          <a:xfrm>
            <a:off x="269875" y="869950"/>
            <a:ext cx="5418138"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1.4.2 </a:t>
            </a:r>
            <a:r>
              <a:rPr lang="zh-CN" altLang="en-US" b="1" dirty="0">
                <a:latin typeface="Times New Roman" panose="02020603050405020304" pitchFamily="18" charset="0"/>
              </a:rPr>
              <a:t>集散型数据采集系统 </a:t>
            </a:r>
            <a:endParaRPr lang="zh-CN" altLang="en-US" b="1" dirty="0">
              <a:latin typeface="Times New Roman" panose="02020603050405020304" pitchFamily="18" charset="0"/>
            </a:endParaRPr>
          </a:p>
        </p:txBody>
      </p:sp>
      <p:sp>
        <p:nvSpPr>
          <p:cNvPr id="2230298" name="Text Box 1050"/>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30299" name="Text Box 1051"/>
          <p:cNvSpPr txBox="1"/>
          <p:nvPr/>
        </p:nvSpPr>
        <p:spPr>
          <a:xfrm>
            <a:off x="647700" y="1736725"/>
            <a:ext cx="2808288" cy="585788"/>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系统组成</a:t>
            </a:r>
            <a:r>
              <a:rPr lang="en-US" altLang="zh-CN" b="1" dirty="0">
                <a:solidFill>
                  <a:srgbClr val="3366CC"/>
                </a:solidFill>
                <a:latin typeface="Times New Roman" panose="02020603050405020304" pitchFamily="18" charset="0"/>
              </a:rPr>
              <a:t>:</a:t>
            </a:r>
            <a:endParaRPr lang="en-US" altLang="zh-CN" b="1" dirty="0">
              <a:solidFill>
                <a:srgbClr val="3366CC"/>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0299"/>
                                        </p:tgtEl>
                                        <p:attrNameLst>
                                          <p:attrName>style.visibility</p:attrName>
                                        </p:attrNameLst>
                                      </p:cBhvr>
                                      <p:to>
                                        <p:strVal val="visible"/>
                                      </p:to>
                                    </p:set>
                                    <p:animEffect transition="in" filter="dissolve">
                                      <p:cBhvr>
                                        <p:cTn id="7" dur="500"/>
                                        <p:tgtEl>
                                          <p:spTgt spid="22302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8239"/>
                                        </p:tgtEl>
                                        <p:attrNameLst>
                                          <p:attrName>style.visibility</p:attrName>
                                        </p:attrNameLst>
                                      </p:cBhvr>
                                      <p:to>
                                        <p:strVal val="visible"/>
                                      </p:to>
                                    </p:set>
                                    <p:animEffect transition="in" filter="dissolve">
                                      <p:cBhvr>
                                        <p:cTn id="12" dur="500"/>
                                        <p:tgtEl>
                                          <p:spTgt spid="222823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28233"/>
                                        </p:tgtEl>
                                        <p:attrNameLst>
                                          <p:attrName>style.visibility</p:attrName>
                                        </p:attrNameLst>
                                      </p:cBhvr>
                                      <p:to>
                                        <p:strVal val="visible"/>
                                      </p:to>
                                    </p:set>
                                    <p:animEffect transition="in" filter="dissolve">
                                      <p:cBhvr>
                                        <p:cTn id="17" dur="500"/>
                                        <p:tgtEl>
                                          <p:spTgt spid="222823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28234"/>
                                        </p:tgtEl>
                                        <p:attrNameLst>
                                          <p:attrName>style.visibility</p:attrName>
                                        </p:attrNameLst>
                                      </p:cBhvr>
                                      <p:to>
                                        <p:strVal val="visible"/>
                                      </p:to>
                                    </p:set>
                                    <p:animEffect transition="in" filter="dissolve">
                                      <p:cBhvr>
                                        <p:cTn id="22" dur="500"/>
                                        <p:tgtEl>
                                          <p:spTgt spid="2228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8233" grpId="0"/>
      <p:bldP spid="2228234" grpId="0"/>
      <p:bldP spid="2228239" grpId="0"/>
      <p:bldP spid="2230299"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1585" name="Text Box 113"/>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0419" name="Text Box 114"/>
          <p:cNvSpPr txBox="1"/>
          <p:nvPr/>
        </p:nvSpPr>
        <p:spPr>
          <a:xfrm>
            <a:off x="269875" y="869950"/>
            <a:ext cx="5454650"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1.4.2 </a:t>
            </a:r>
            <a:r>
              <a:rPr lang="zh-CN" altLang="en-US" b="1" dirty="0">
                <a:latin typeface="Times New Roman" panose="02020603050405020304" pitchFamily="18" charset="0"/>
              </a:rPr>
              <a:t>集散型数据采集系统 </a:t>
            </a:r>
            <a:endParaRPr lang="zh-CN" altLang="en-US" b="1" dirty="0">
              <a:latin typeface="Times New Roman" panose="02020603050405020304" pitchFamily="18" charset="0"/>
            </a:endParaRPr>
          </a:p>
        </p:txBody>
      </p:sp>
      <p:sp>
        <p:nvSpPr>
          <p:cNvPr id="2281588" name="Text Box 116"/>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1590" name="Text Box 118"/>
          <p:cNvSpPr txBox="1"/>
          <p:nvPr/>
        </p:nvSpPr>
        <p:spPr>
          <a:xfrm>
            <a:off x="1042988" y="1665288"/>
            <a:ext cx="7416800" cy="2282825"/>
          </a:xfrm>
          <a:prstGeom prst="rect">
            <a:avLst/>
          </a:prstGeom>
          <a:noFill/>
          <a:ln w="9525">
            <a:noFill/>
          </a:ln>
        </p:spPr>
        <p:txBody>
          <a:bodyPr>
            <a:spAutoFit/>
          </a:bodyPr>
          <a:p>
            <a:pPr marL="1162050" indent="-1162050" eaLnBrk="1" hangingPunct="1"/>
            <a:r>
              <a:rPr lang="en-US" altLang="zh-CN" sz="2400" b="1" dirty="0">
                <a:solidFill>
                  <a:srgbClr val="FF0000"/>
                </a:solidFill>
                <a:latin typeface="黑体" panose="02010609060101010101" pitchFamily="49" charset="-122"/>
                <a:ea typeface="黑体" panose="02010609060101010101" pitchFamily="49" charset="-122"/>
              </a:rPr>
              <a:t>RS-232</a:t>
            </a:r>
            <a:r>
              <a:rPr lang="zh-CN" altLang="en-US" sz="2400" b="1" dirty="0">
                <a:solidFill>
                  <a:schemeClr val="tx1"/>
                </a:solidFill>
                <a:latin typeface="黑体" panose="02010609060101010101" pitchFamily="49" charset="-122"/>
                <a:ea typeface="黑体" panose="02010609060101010101" pitchFamily="49" charset="-122"/>
              </a:rPr>
              <a:t>：属于单端信号传输，存在共地噪声和不能抑制共模干扰等问题，因此一般用于</a:t>
            </a:r>
            <a:r>
              <a:rPr lang="en-US" altLang="zh-CN" sz="2400" b="1" dirty="0">
                <a:solidFill>
                  <a:schemeClr val="tx1"/>
                </a:solidFill>
                <a:latin typeface="黑体" panose="02010609060101010101" pitchFamily="49" charset="-122"/>
                <a:ea typeface="黑体" panose="02010609060101010101" pitchFamily="49" charset="-122"/>
              </a:rPr>
              <a:t>20m</a:t>
            </a:r>
            <a:r>
              <a:rPr lang="zh-CN" altLang="en-US" sz="2400" b="1" dirty="0">
                <a:solidFill>
                  <a:schemeClr val="tx1"/>
                </a:solidFill>
                <a:latin typeface="黑体" panose="02010609060101010101" pitchFamily="49" charset="-122"/>
                <a:ea typeface="黑体" panose="02010609060101010101" pitchFamily="49" charset="-122"/>
              </a:rPr>
              <a:t>以内的通信，传输速率一般也小于</a:t>
            </a:r>
            <a:r>
              <a:rPr lang="en-US" altLang="zh-CN" sz="2400" b="1" dirty="0">
                <a:solidFill>
                  <a:schemeClr val="tx1"/>
                </a:solidFill>
                <a:latin typeface="黑体" panose="02010609060101010101" pitchFamily="49" charset="-122"/>
                <a:ea typeface="黑体" panose="02010609060101010101" pitchFamily="49" charset="-122"/>
              </a:rPr>
              <a:t>20k</a:t>
            </a:r>
            <a:r>
              <a:rPr lang="zh-CN" altLang="en-US" sz="2400" b="1" dirty="0">
                <a:solidFill>
                  <a:schemeClr val="tx1"/>
                </a:solidFill>
                <a:latin typeface="黑体" panose="02010609060101010101" pitchFamily="49" charset="-122"/>
                <a:ea typeface="黑体" panose="02010609060101010101" pitchFamily="49" charset="-122"/>
              </a:rPr>
              <a:t>。</a:t>
            </a:r>
            <a:endParaRPr lang="zh-CN" altLang="en-US" sz="2400" b="1" dirty="0">
              <a:solidFill>
                <a:schemeClr val="tx1"/>
              </a:solidFill>
              <a:latin typeface="黑体" panose="02010609060101010101" pitchFamily="49" charset="-122"/>
              <a:ea typeface="黑体" panose="02010609060101010101" pitchFamily="49" charset="-122"/>
            </a:endParaRPr>
          </a:p>
          <a:p>
            <a:pPr marL="1162050" indent="-1162050" eaLnBrk="1" hangingPunct="1"/>
            <a:r>
              <a:rPr lang="en-US" altLang="zh-CN" sz="2400" b="1" dirty="0">
                <a:solidFill>
                  <a:srgbClr val="FF0000"/>
                </a:solidFill>
                <a:latin typeface="黑体" panose="02010609060101010101" pitchFamily="49" charset="-122"/>
                <a:ea typeface="黑体" panose="02010609060101010101" pitchFamily="49" charset="-122"/>
              </a:rPr>
              <a:t>RS-485</a:t>
            </a:r>
            <a:r>
              <a:rPr lang="zh-CN" altLang="en-US" sz="2400" b="1" dirty="0">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采用差分方式接受，对共模干扰抑制能力强，传输距离可以达到千米以上，传输速度可以达到几百</a:t>
            </a:r>
            <a:r>
              <a:rPr lang="en-US" altLang="zh-CN" sz="2400" b="1" dirty="0">
                <a:solidFill>
                  <a:schemeClr val="tx1"/>
                </a:solidFill>
                <a:latin typeface="黑体" panose="02010609060101010101" pitchFamily="49" charset="-122"/>
                <a:ea typeface="黑体" panose="02010609060101010101" pitchFamily="49" charset="-122"/>
              </a:rPr>
              <a:t>k</a:t>
            </a:r>
            <a:r>
              <a:rPr lang="zh-CN" altLang="en-US" sz="2400" b="1" dirty="0">
                <a:solidFill>
                  <a:schemeClr val="tx1"/>
                </a:solidFill>
                <a:latin typeface="黑体" panose="02010609060101010101" pitchFamily="49" charset="-122"/>
                <a:ea typeface="黑体" panose="02010609060101010101" pitchFamily="49" charset="-122"/>
              </a:rPr>
              <a:t>。 </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81591" name="Text Box 119"/>
          <p:cNvSpPr txBox="1"/>
          <p:nvPr/>
        </p:nvSpPr>
        <p:spPr>
          <a:xfrm>
            <a:off x="468313" y="4149725"/>
            <a:ext cx="6804025" cy="476250"/>
          </a:xfrm>
          <a:prstGeom prst="rect">
            <a:avLst/>
          </a:prstGeom>
          <a:solidFill>
            <a:srgbClr val="FFCC99"/>
          </a:solidFill>
          <a:ln w="9525">
            <a:noFill/>
          </a:ln>
        </p:spPr>
        <p:txBody>
          <a:bodyPr>
            <a:spAutoFit/>
          </a:bodyPr>
          <a:p>
            <a:pPr algn="ctr" eaLnBrk="1" hangingPunct="1">
              <a:lnSpc>
                <a:spcPct val="90000"/>
              </a:lnSpc>
              <a:spcBef>
                <a:spcPct val="50000"/>
              </a:spcBef>
            </a:pPr>
            <a:r>
              <a:rPr lang="zh-CN" altLang="en-US" sz="2800" b="1" dirty="0">
                <a:latin typeface="Times New Roman" panose="02020603050405020304" pitchFamily="18" charset="0"/>
              </a:rPr>
              <a:t>微机要实现</a:t>
            </a:r>
            <a:r>
              <a:rPr lang="en-US" altLang="zh-CN" sz="2800" b="1" dirty="0">
                <a:latin typeface="Times New Roman" panose="02020603050405020304" pitchFamily="18" charset="0"/>
              </a:rPr>
              <a:t>RS-485</a:t>
            </a:r>
            <a:r>
              <a:rPr lang="zh-CN" altLang="en-US" sz="2800" b="1" dirty="0">
                <a:latin typeface="Times New Roman" panose="02020603050405020304" pitchFamily="18" charset="0"/>
              </a:rPr>
              <a:t>协议通讯，可采用：</a:t>
            </a:r>
            <a:endParaRPr lang="zh-CN" altLang="en-US" sz="2800" b="1" dirty="0">
              <a:latin typeface="Times New Roman" panose="02020603050405020304" pitchFamily="18" charset="0"/>
            </a:endParaRPr>
          </a:p>
        </p:txBody>
      </p:sp>
      <p:sp>
        <p:nvSpPr>
          <p:cNvPr id="2281592" name="Text Box 120"/>
          <p:cNvSpPr txBox="1"/>
          <p:nvPr/>
        </p:nvSpPr>
        <p:spPr>
          <a:xfrm>
            <a:off x="1233488" y="4838700"/>
            <a:ext cx="7299325" cy="1074738"/>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800" b="1" dirty="0">
                <a:solidFill>
                  <a:schemeClr val="tx1"/>
                </a:solidFill>
                <a:latin typeface="Times New Roman" panose="02020603050405020304" pitchFamily="18" charset="0"/>
                <a:ea typeface="黑体" panose="02010609060101010101" pitchFamily="49" charset="-122"/>
              </a:rPr>
              <a:t>采用</a:t>
            </a:r>
            <a:r>
              <a:rPr lang="en-US" altLang="zh-CN" sz="2800" b="1" dirty="0">
                <a:solidFill>
                  <a:schemeClr val="tx1"/>
                </a:solidFill>
                <a:latin typeface="Times New Roman" panose="02020603050405020304" pitchFamily="18" charset="0"/>
                <a:ea typeface="黑体" panose="02010609060101010101" pitchFamily="49" charset="-122"/>
              </a:rPr>
              <a:t>RS-232</a:t>
            </a:r>
            <a:r>
              <a:rPr lang="zh-CN" altLang="en-US" sz="2800" b="1" dirty="0">
                <a:solidFill>
                  <a:schemeClr val="tx1"/>
                </a:solidFill>
                <a:latin typeface="Times New Roman" panose="02020603050405020304" pitchFamily="18" charset="0"/>
                <a:ea typeface="黑体" panose="02010609060101010101" pitchFamily="49" charset="-122"/>
              </a:rPr>
              <a:t>与</a:t>
            </a:r>
            <a:r>
              <a:rPr lang="en-US" altLang="zh-CN" sz="2800" b="1" dirty="0">
                <a:solidFill>
                  <a:schemeClr val="tx1"/>
                </a:solidFill>
                <a:latin typeface="Times New Roman" panose="02020603050405020304" pitchFamily="18" charset="0"/>
                <a:ea typeface="黑体" panose="02010609060101010101" pitchFamily="49" charset="-122"/>
              </a:rPr>
              <a:t>RS-485</a:t>
            </a:r>
            <a:r>
              <a:rPr lang="zh-CN" altLang="en-US" sz="2800" b="1" dirty="0">
                <a:solidFill>
                  <a:schemeClr val="tx1"/>
                </a:solidFill>
                <a:latin typeface="Times New Roman" panose="02020603050405020304" pitchFamily="18" charset="0"/>
                <a:ea typeface="黑体" panose="02010609060101010101" pitchFamily="49" charset="-122"/>
              </a:rPr>
              <a:t>转接口；</a:t>
            </a:r>
            <a:endParaRPr lang="zh-CN" altLang="en-US" sz="2800" b="1" dirty="0">
              <a:solidFill>
                <a:schemeClr val="tx1"/>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800" b="1" dirty="0">
                <a:solidFill>
                  <a:schemeClr val="tx1"/>
                </a:solidFill>
                <a:latin typeface="Times New Roman" panose="02020603050405020304" pitchFamily="18" charset="0"/>
                <a:ea typeface="黑体" panose="02010609060101010101" pitchFamily="49" charset="-122"/>
              </a:rPr>
              <a:t>采用</a:t>
            </a:r>
            <a:r>
              <a:rPr lang="en-US" altLang="zh-CN" sz="2800" b="1" dirty="0">
                <a:solidFill>
                  <a:schemeClr val="tx1"/>
                </a:solidFill>
                <a:latin typeface="Times New Roman" panose="02020603050405020304" pitchFamily="18" charset="0"/>
                <a:ea typeface="黑体" panose="02010609060101010101" pitchFamily="49" charset="-122"/>
              </a:rPr>
              <a:t>RS-485</a:t>
            </a:r>
            <a:r>
              <a:rPr lang="zh-CN" altLang="en-US" sz="2800" b="1" dirty="0">
                <a:solidFill>
                  <a:schemeClr val="tx1"/>
                </a:solidFill>
                <a:latin typeface="Times New Roman" panose="02020603050405020304" pitchFamily="18" charset="0"/>
                <a:ea typeface="黑体" panose="02010609060101010101" pitchFamily="49" charset="-122"/>
              </a:rPr>
              <a:t>通讯卡，接在微机扩展槽上。</a:t>
            </a:r>
            <a:endParaRPr lang="zh-CN" altLang="en-US" sz="2800" b="1"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1590"/>
                                        </p:tgtEl>
                                        <p:attrNameLst>
                                          <p:attrName>style.visibility</p:attrName>
                                        </p:attrNameLst>
                                      </p:cBhvr>
                                      <p:to>
                                        <p:strVal val="visible"/>
                                      </p:to>
                                    </p:set>
                                    <p:animEffect transition="in" filter="dissolve">
                                      <p:cBhvr>
                                        <p:cTn id="7" dur="500"/>
                                        <p:tgtEl>
                                          <p:spTgt spid="228159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1591"/>
                                        </p:tgtEl>
                                        <p:attrNameLst>
                                          <p:attrName>style.visibility</p:attrName>
                                        </p:attrNameLst>
                                      </p:cBhvr>
                                      <p:to>
                                        <p:strVal val="visible"/>
                                      </p:to>
                                    </p:set>
                                    <p:animEffect transition="in" filter="dissolve">
                                      <p:cBhvr>
                                        <p:cTn id="12" dur="500"/>
                                        <p:tgtEl>
                                          <p:spTgt spid="22815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81592">
                                            <p:txEl>
                                              <p:charRg st="0" end="20"/>
                                            </p:txEl>
                                          </p:spTgt>
                                        </p:tgtEl>
                                        <p:attrNameLst>
                                          <p:attrName>style.visibility</p:attrName>
                                        </p:attrNameLst>
                                      </p:cBhvr>
                                      <p:to>
                                        <p:strVal val="visible"/>
                                      </p:to>
                                    </p:set>
                                    <p:animEffect transition="in" filter="dissolve">
                                      <p:cBhvr>
                                        <p:cTn id="17" dur="500"/>
                                        <p:tgtEl>
                                          <p:spTgt spid="2281592">
                                            <p:txEl>
                                              <p:charRg st="0" end="2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81592">
                                            <p:txEl>
                                              <p:charRg st="20" end="42"/>
                                            </p:txEl>
                                          </p:spTgt>
                                        </p:tgtEl>
                                        <p:attrNameLst>
                                          <p:attrName>style.visibility</p:attrName>
                                        </p:attrNameLst>
                                      </p:cBhvr>
                                      <p:to>
                                        <p:strVal val="visible"/>
                                      </p:to>
                                    </p:set>
                                    <p:animEffect transition="in" filter="dissolve">
                                      <p:cBhvr>
                                        <p:cTn id="22" dur="500"/>
                                        <p:tgtEl>
                                          <p:spTgt spid="2281592">
                                            <p:txEl>
                                              <p:charRg st="20" end="4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1590" grpId="0"/>
      <p:bldP spid="228159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29257" name="Text Box 9"/>
          <p:cNvSpPr txBox="1"/>
          <p:nvPr/>
        </p:nvSpPr>
        <p:spPr>
          <a:xfrm>
            <a:off x="935038" y="1881188"/>
            <a:ext cx="2270125" cy="585787"/>
          </a:xfrm>
          <a:prstGeom prst="rect">
            <a:avLst/>
          </a:prstGeom>
          <a:solidFill>
            <a:srgbClr val="FFCC99"/>
          </a:solidFill>
          <a:ln w="9525">
            <a:noFill/>
          </a:ln>
        </p:spPr>
        <p:txBody>
          <a:bodyPr>
            <a:spAutoFit/>
          </a:bodyPr>
          <a:p>
            <a:pPr eaLnBrk="1" hangingPunct="1">
              <a:lnSpc>
                <a:spcPct val="90000"/>
              </a:lnSpc>
            </a:pPr>
            <a:r>
              <a:rPr lang="zh-CN" altLang="en-US" b="1" dirty="0">
                <a:solidFill>
                  <a:srgbClr val="3366CC"/>
                </a:solidFill>
                <a:latin typeface="Times New Roman" panose="02020603050405020304" pitchFamily="18" charset="0"/>
              </a:rPr>
              <a:t>系统特点</a:t>
            </a:r>
            <a:endParaRPr lang="zh-CN" altLang="en-US" b="1" dirty="0">
              <a:solidFill>
                <a:srgbClr val="3366CC"/>
              </a:solidFill>
              <a:latin typeface="Times New Roman" panose="02020603050405020304" pitchFamily="18" charset="0"/>
            </a:endParaRPr>
          </a:p>
        </p:txBody>
      </p:sp>
      <p:sp>
        <p:nvSpPr>
          <p:cNvPr id="2229259" name="Text Box 11"/>
          <p:cNvSpPr txBox="1"/>
          <p:nvPr/>
        </p:nvSpPr>
        <p:spPr>
          <a:xfrm>
            <a:off x="792163" y="2781300"/>
            <a:ext cx="8027987" cy="2870200"/>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适应能力强：数据采集站数量灵活；</a:t>
            </a:r>
            <a:endParaRPr lang="en-US" altLang="zh-CN" sz="2800" b="1" dirty="0">
              <a:solidFill>
                <a:schemeClr val="tx1"/>
              </a:solidFill>
              <a:latin typeface="Times New Roman" panose="02020603050405020304" pitchFamily="18" charset="0"/>
              <a:ea typeface="黑体" panose="02010609060101010101" pitchFamily="49" charset="-122"/>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可靠性高：单个采集站故障不影响其它；</a:t>
            </a:r>
            <a:endParaRPr lang="zh-CN" altLang="en-US" sz="2800" b="1" dirty="0">
              <a:solidFill>
                <a:schemeClr val="tx1"/>
              </a:solidFill>
              <a:latin typeface="Times New Roman" panose="02020603050405020304" pitchFamily="18" charset="0"/>
              <a:ea typeface="黑体" panose="02010609060101010101" pitchFamily="49" charset="-122"/>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实时性好：各个采集站并行工作；</a:t>
            </a:r>
            <a:endParaRPr lang="zh-CN" altLang="en-US" sz="2800" b="1" dirty="0">
              <a:solidFill>
                <a:schemeClr val="tx1"/>
              </a:solidFill>
              <a:latin typeface="Times New Roman" panose="02020603050405020304" pitchFamily="18" charset="0"/>
              <a:ea typeface="黑体" panose="02010609060101010101" pitchFamily="49" charset="-122"/>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硬件要求不高：每个单片机完成任务数量有限。</a:t>
            </a:r>
            <a:endParaRPr lang="zh-CN" altLang="en-US" sz="2800" b="1" dirty="0">
              <a:solidFill>
                <a:schemeClr val="tx1"/>
              </a:solidFill>
              <a:latin typeface="Times New Roman" panose="02020603050405020304" pitchFamily="18" charset="0"/>
              <a:ea typeface="黑体" panose="02010609060101010101" pitchFamily="49" charset="-122"/>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800" b="1" dirty="0">
                <a:solidFill>
                  <a:schemeClr val="tx1"/>
                </a:solidFill>
                <a:latin typeface="Times New Roman" panose="02020603050405020304" pitchFamily="18" charset="0"/>
                <a:ea typeface="黑体" panose="02010609060101010101" pitchFamily="49" charset="-122"/>
              </a:rPr>
              <a:t>数字信号传输：有利于克服常模和共模干扰。</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29261" name="Text Box 13"/>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1445" name="Text Box 15"/>
          <p:cNvSpPr txBox="1"/>
          <p:nvPr/>
        </p:nvSpPr>
        <p:spPr>
          <a:xfrm>
            <a:off x="269875" y="869950"/>
            <a:ext cx="5526088"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1.4.2 </a:t>
            </a:r>
            <a:r>
              <a:rPr lang="zh-CN" altLang="en-US" b="1" dirty="0">
                <a:latin typeface="Times New Roman" panose="02020603050405020304" pitchFamily="18" charset="0"/>
              </a:rPr>
              <a:t>集散型数据采集系统 </a:t>
            </a:r>
            <a:endParaRPr lang="zh-CN" altLang="en-US" b="1" dirty="0">
              <a:latin typeface="Times New Roman" panose="02020603050405020304" pitchFamily="18" charset="0"/>
            </a:endParaRPr>
          </a:p>
        </p:txBody>
      </p:sp>
      <p:sp>
        <p:nvSpPr>
          <p:cNvPr id="2231312" name="Text Box 16"/>
          <p:cNvSpPr txBox="1">
            <a:spLocks noChangeArrowheads="1"/>
          </p:cNvSpPr>
          <p:nvPr/>
        </p:nvSpPr>
        <p:spPr bwMode="auto">
          <a:xfrm>
            <a:off x="1243013" y="115888"/>
            <a:ext cx="7000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1.4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数据采集系统的结构形式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29257"/>
                                        </p:tgtEl>
                                        <p:attrNameLst>
                                          <p:attrName>style.visibility</p:attrName>
                                        </p:attrNameLst>
                                      </p:cBhvr>
                                      <p:to>
                                        <p:strVal val="visible"/>
                                      </p:to>
                                    </p:set>
                                    <p:animEffect transition="in" filter="dissolve">
                                      <p:cBhvr>
                                        <p:cTn id="7" dur="500"/>
                                        <p:tgtEl>
                                          <p:spTgt spid="222925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29259">
                                            <p:txEl>
                                              <p:charRg st="0" end="17"/>
                                            </p:txEl>
                                          </p:spTgt>
                                        </p:tgtEl>
                                        <p:attrNameLst>
                                          <p:attrName>style.visibility</p:attrName>
                                        </p:attrNameLst>
                                      </p:cBhvr>
                                      <p:to>
                                        <p:strVal val="visible"/>
                                      </p:to>
                                    </p:set>
                                    <p:animEffect transition="in" filter="dissolve">
                                      <p:cBhvr>
                                        <p:cTn id="12" dur="500"/>
                                        <p:tgtEl>
                                          <p:spTgt spid="2229259">
                                            <p:txEl>
                                              <p:charRg st="0" end="1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29259">
                                            <p:txEl>
                                              <p:charRg st="17" end="36"/>
                                            </p:txEl>
                                          </p:spTgt>
                                        </p:tgtEl>
                                        <p:attrNameLst>
                                          <p:attrName>style.visibility</p:attrName>
                                        </p:attrNameLst>
                                      </p:cBhvr>
                                      <p:to>
                                        <p:strVal val="visible"/>
                                      </p:to>
                                    </p:set>
                                    <p:animEffect transition="in" filter="dissolve">
                                      <p:cBhvr>
                                        <p:cTn id="17" dur="500"/>
                                        <p:tgtEl>
                                          <p:spTgt spid="2229259">
                                            <p:txEl>
                                              <p:charRg st="17" end="3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29259">
                                            <p:txEl>
                                              <p:charRg st="36" end="52"/>
                                            </p:txEl>
                                          </p:spTgt>
                                        </p:tgtEl>
                                        <p:attrNameLst>
                                          <p:attrName>style.visibility</p:attrName>
                                        </p:attrNameLst>
                                      </p:cBhvr>
                                      <p:to>
                                        <p:strVal val="visible"/>
                                      </p:to>
                                    </p:set>
                                    <p:animEffect transition="in" filter="dissolve">
                                      <p:cBhvr>
                                        <p:cTn id="22" dur="500"/>
                                        <p:tgtEl>
                                          <p:spTgt spid="2229259">
                                            <p:txEl>
                                              <p:charRg st="36" end="5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29259">
                                            <p:txEl>
                                              <p:charRg st="52" end="74"/>
                                            </p:txEl>
                                          </p:spTgt>
                                        </p:tgtEl>
                                        <p:attrNameLst>
                                          <p:attrName>style.visibility</p:attrName>
                                        </p:attrNameLst>
                                      </p:cBhvr>
                                      <p:to>
                                        <p:strVal val="visible"/>
                                      </p:to>
                                    </p:set>
                                    <p:animEffect transition="in" filter="dissolve">
                                      <p:cBhvr>
                                        <p:cTn id="27" dur="500"/>
                                        <p:tgtEl>
                                          <p:spTgt spid="2229259">
                                            <p:txEl>
                                              <p:charRg st="52" end="7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29259">
                                            <p:txEl>
                                              <p:charRg st="74" end="95"/>
                                            </p:txEl>
                                          </p:spTgt>
                                        </p:tgtEl>
                                        <p:attrNameLst>
                                          <p:attrName>style.visibility</p:attrName>
                                        </p:attrNameLst>
                                      </p:cBhvr>
                                      <p:to>
                                        <p:strVal val="visible"/>
                                      </p:to>
                                    </p:set>
                                    <p:animEffect transition="in" filter="dissolve">
                                      <p:cBhvr>
                                        <p:cTn id="32" dur="500"/>
                                        <p:tgtEl>
                                          <p:spTgt spid="2229259">
                                            <p:txEl>
                                              <p:charRg st="74" end="9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9257" grpId="0" animBg="1"/>
      <p:bldP spid="2229259"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2499" name="Text Box 3"/>
          <p:cNvSpPr txBox="1"/>
          <p:nvPr/>
        </p:nvSpPr>
        <p:spPr>
          <a:xfrm>
            <a:off x="269875" y="1808163"/>
            <a:ext cx="8694738" cy="3743325"/>
          </a:xfrm>
          <a:prstGeom prst="rect">
            <a:avLst/>
          </a:prstGeom>
          <a:noFill/>
          <a:ln w="9525">
            <a:noFill/>
          </a:ln>
        </p:spPr>
        <p:txBody>
          <a:bodyPr>
            <a:spAutoFit/>
          </a:bodyPr>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模拟信号采集与处理</a:t>
            </a:r>
            <a:r>
              <a:rPr lang="zh-CN" altLang="en-US" sz="2400" b="1" dirty="0">
                <a:solidFill>
                  <a:schemeClr val="tx1"/>
                </a:solidFill>
                <a:latin typeface="Times New Roman" panose="02020603050405020304" pitchFamily="18" charset="0"/>
                <a:ea typeface="黑体" panose="02010609060101010101" pitchFamily="49" charset="-122"/>
              </a:rPr>
              <a:t>：采集、标度变化、滤波、二次计算</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数字信号采集与处理</a:t>
            </a:r>
            <a:r>
              <a:rPr lang="zh-CN" altLang="en-US" sz="2400" b="1" dirty="0">
                <a:solidFill>
                  <a:schemeClr val="tx1"/>
                </a:solidFill>
                <a:latin typeface="Times New Roman" panose="02020603050405020304" pitchFamily="18" charset="0"/>
                <a:ea typeface="黑体" panose="02010609060101010101" pitchFamily="49" charset="-122"/>
              </a:rPr>
              <a:t>：采集、码制转换</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脉冲信号处理程序</a:t>
            </a:r>
            <a:r>
              <a:rPr lang="zh-CN" altLang="en-US" sz="2400" b="1" dirty="0">
                <a:solidFill>
                  <a:schemeClr val="tx1"/>
                </a:solidFill>
                <a:latin typeface="Times New Roman" panose="02020603050405020304" pitchFamily="18" charset="0"/>
                <a:ea typeface="黑体" panose="02010609060101010101" pitchFamily="49" charset="-122"/>
              </a:rPr>
              <a:t>：电平高低判断和计数</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开关信号处理程序</a:t>
            </a:r>
            <a:r>
              <a:rPr lang="zh-CN" altLang="en-US" sz="2400" b="1" dirty="0">
                <a:solidFill>
                  <a:schemeClr val="tx1"/>
                </a:solidFill>
                <a:latin typeface="Times New Roman" panose="02020603050405020304" pitchFamily="18" charset="0"/>
                <a:ea typeface="黑体" panose="02010609060101010101" pitchFamily="49" charset="-122"/>
              </a:rPr>
              <a:t>：判断开关信号输入状态变化情况</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运行参数设置程序</a:t>
            </a:r>
            <a:r>
              <a:rPr lang="zh-CN" altLang="en-US" sz="2400" b="1" dirty="0">
                <a:solidFill>
                  <a:schemeClr val="tx1"/>
                </a:solidFill>
                <a:latin typeface="Times New Roman" panose="02020603050405020304" pitchFamily="18" charset="0"/>
                <a:ea typeface="黑体" panose="02010609060101010101" pitchFamily="49" charset="-122"/>
              </a:rPr>
              <a:t>：设置采样通道号、点数、周期、增益等</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主控程序</a:t>
            </a:r>
            <a:r>
              <a:rPr lang="zh-CN" altLang="en-US" sz="2400" b="1" dirty="0">
                <a:solidFill>
                  <a:schemeClr val="tx1"/>
                </a:solidFill>
                <a:latin typeface="Times New Roman" panose="02020603050405020304" pitchFamily="18" charset="0"/>
                <a:ea typeface="黑体" panose="02010609060101010101" pitchFamily="49" charset="-122"/>
              </a:rPr>
              <a:t>：组织程序系统，管理和调用各功能模块程序</a:t>
            </a:r>
            <a:endParaRPr lang="zh-CN" altLang="en-US" sz="2400" b="1" dirty="0">
              <a:solidFill>
                <a:schemeClr val="tx1"/>
              </a:solidFill>
              <a:latin typeface="Times New Roman" panose="02020603050405020304" pitchFamily="18" charset="0"/>
              <a:ea typeface="黑体" panose="02010609060101010101" pitchFamily="49" charset="-122"/>
            </a:endParaRPr>
          </a:p>
          <a:p>
            <a:pPr marL="361950" indent="-361950" eaLnBrk="1" hangingPunct="1">
              <a:spcBef>
                <a:spcPct val="50000"/>
              </a:spcBef>
              <a:buClr>
                <a:srgbClr val="FF0000"/>
              </a:buClr>
              <a:buFont typeface="Wingdings" panose="05000000000000000000" pitchFamily="2" charset="2"/>
              <a:buChar char="u"/>
            </a:pPr>
            <a:r>
              <a:rPr lang="zh-CN" altLang="en-US" sz="2400" b="1" dirty="0">
                <a:solidFill>
                  <a:schemeClr val="accent2"/>
                </a:solidFill>
                <a:latin typeface="Times New Roman" panose="02020603050405020304" pitchFamily="18" charset="0"/>
                <a:ea typeface="黑体" panose="02010609060101010101" pitchFamily="49" charset="-122"/>
              </a:rPr>
              <a:t>通讯程序</a:t>
            </a:r>
            <a:r>
              <a:rPr lang="zh-CN" altLang="en-US" sz="2400" b="1" dirty="0">
                <a:solidFill>
                  <a:schemeClr val="tx1"/>
                </a:solidFill>
                <a:latin typeface="Times New Roman" panose="02020603050405020304" pitchFamily="18" charset="0"/>
                <a:ea typeface="黑体" panose="02010609060101010101" pitchFamily="49" charset="-122"/>
              </a:rPr>
              <a:t>：完成上位机和各数据采集站的数据传送</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82500" name="Text Box 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2468" name="Text Box 5"/>
          <p:cNvSpPr txBox="1"/>
          <p:nvPr/>
        </p:nvSpPr>
        <p:spPr>
          <a:xfrm>
            <a:off x="269875" y="869950"/>
            <a:ext cx="5994400" cy="641350"/>
          </a:xfrm>
          <a:prstGeom prst="rect">
            <a:avLst/>
          </a:prstGeom>
          <a:solidFill>
            <a:srgbClr val="99CCFF"/>
          </a:solidFill>
          <a:ln w="9525">
            <a:noFill/>
          </a:ln>
        </p:spPr>
        <p:txBody>
          <a:bodyPr>
            <a:spAutoFit/>
          </a:bodyPr>
          <a:p>
            <a:pPr eaLnBrk="1" hangingPunct="1"/>
            <a:r>
              <a:rPr lang="zh-CN" altLang="en-US" b="1" dirty="0">
                <a:latin typeface="Times New Roman" panose="02020603050405020304" pitchFamily="18" charset="0"/>
              </a:rPr>
              <a:t>数据采集系统软件的组成 </a:t>
            </a:r>
            <a:endParaRPr lang="zh-CN" altLang="en-US" b="1" dirty="0">
              <a:latin typeface="Times New Roman" panose="02020603050405020304" pitchFamily="18" charset="0"/>
            </a:endParaRPr>
          </a:p>
        </p:txBody>
      </p:sp>
      <p:sp>
        <p:nvSpPr>
          <p:cNvPr id="2282502" name="Text Box 6"/>
          <p:cNvSpPr txBox="1">
            <a:spLocks noChangeArrowheads="1"/>
          </p:cNvSpPr>
          <p:nvPr/>
        </p:nvSpPr>
        <p:spPr bwMode="auto">
          <a:xfrm>
            <a:off x="1811338" y="115888"/>
            <a:ext cx="5857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1.5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数据采集系统的软件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2499">
                                            <p:txEl>
                                              <p:charRg st="0" end="26"/>
                                            </p:txEl>
                                          </p:spTgt>
                                        </p:tgtEl>
                                        <p:attrNameLst>
                                          <p:attrName>style.visibility</p:attrName>
                                        </p:attrNameLst>
                                      </p:cBhvr>
                                      <p:to>
                                        <p:strVal val="visible"/>
                                      </p:to>
                                    </p:set>
                                    <p:animEffect transition="in" filter="dissolve">
                                      <p:cBhvr>
                                        <p:cTn id="7" dur="500"/>
                                        <p:tgtEl>
                                          <p:spTgt spid="2282499">
                                            <p:txEl>
                                              <p:charRg st="0" end="26"/>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2499">
                                            <p:txEl>
                                              <p:charRg st="26" end="44"/>
                                            </p:txEl>
                                          </p:spTgt>
                                        </p:tgtEl>
                                        <p:attrNameLst>
                                          <p:attrName>style.visibility</p:attrName>
                                        </p:attrNameLst>
                                      </p:cBhvr>
                                      <p:to>
                                        <p:strVal val="visible"/>
                                      </p:to>
                                    </p:set>
                                    <p:animEffect transition="in" filter="dissolve">
                                      <p:cBhvr>
                                        <p:cTn id="12" dur="500"/>
                                        <p:tgtEl>
                                          <p:spTgt spid="2282499">
                                            <p:txEl>
                                              <p:charRg st="26" end="4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82499">
                                            <p:txEl>
                                              <p:charRg st="44" end="63"/>
                                            </p:txEl>
                                          </p:spTgt>
                                        </p:tgtEl>
                                        <p:attrNameLst>
                                          <p:attrName>style.visibility</p:attrName>
                                        </p:attrNameLst>
                                      </p:cBhvr>
                                      <p:to>
                                        <p:strVal val="visible"/>
                                      </p:to>
                                    </p:set>
                                    <p:animEffect transition="in" filter="dissolve">
                                      <p:cBhvr>
                                        <p:cTn id="17" dur="500"/>
                                        <p:tgtEl>
                                          <p:spTgt spid="2282499">
                                            <p:txEl>
                                              <p:charRg st="44" end="6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82499">
                                            <p:txEl>
                                              <p:charRg st="63" end="87"/>
                                            </p:txEl>
                                          </p:spTgt>
                                        </p:tgtEl>
                                        <p:attrNameLst>
                                          <p:attrName>style.visibility</p:attrName>
                                        </p:attrNameLst>
                                      </p:cBhvr>
                                      <p:to>
                                        <p:strVal val="visible"/>
                                      </p:to>
                                    </p:set>
                                    <p:animEffect transition="in" filter="dissolve">
                                      <p:cBhvr>
                                        <p:cTn id="22" dur="500"/>
                                        <p:tgtEl>
                                          <p:spTgt spid="2282499">
                                            <p:txEl>
                                              <p:charRg st="63" end="87"/>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82499">
                                            <p:txEl>
                                              <p:charRg st="87" end="114"/>
                                            </p:txEl>
                                          </p:spTgt>
                                        </p:tgtEl>
                                        <p:attrNameLst>
                                          <p:attrName>style.visibility</p:attrName>
                                        </p:attrNameLst>
                                      </p:cBhvr>
                                      <p:to>
                                        <p:strVal val="visible"/>
                                      </p:to>
                                    </p:set>
                                    <p:animEffect transition="in" filter="dissolve">
                                      <p:cBhvr>
                                        <p:cTn id="27" dur="500"/>
                                        <p:tgtEl>
                                          <p:spTgt spid="2282499">
                                            <p:txEl>
                                              <p:charRg st="87" end="11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82499">
                                            <p:txEl>
                                              <p:charRg st="114" end="139"/>
                                            </p:txEl>
                                          </p:spTgt>
                                        </p:tgtEl>
                                        <p:attrNameLst>
                                          <p:attrName>style.visibility</p:attrName>
                                        </p:attrNameLst>
                                      </p:cBhvr>
                                      <p:to>
                                        <p:strVal val="visible"/>
                                      </p:to>
                                    </p:set>
                                    <p:animEffect transition="in" filter="dissolve">
                                      <p:cBhvr>
                                        <p:cTn id="32" dur="500"/>
                                        <p:tgtEl>
                                          <p:spTgt spid="2282499">
                                            <p:txEl>
                                              <p:charRg st="114" end="139"/>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282499">
                                            <p:txEl>
                                              <p:charRg st="139" end="162"/>
                                            </p:txEl>
                                          </p:spTgt>
                                        </p:tgtEl>
                                        <p:attrNameLst>
                                          <p:attrName>style.visibility</p:attrName>
                                        </p:attrNameLst>
                                      </p:cBhvr>
                                      <p:to>
                                        <p:strVal val="visible"/>
                                      </p:to>
                                    </p:set>
                                    <p:animEffect transition="in" filter="dissolve">
                                      <p:cBhvr>
                                        <p:cTn id="37" dur="500"/>
                                        <p:tgtEl>
                                          <p:spTgt spid="2282499">
                                            <p:txEl>
                                              <p:charRg st="139" end="16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2499" grpId="0" build="p"/>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30278" name="Text Box 6"/>
          <p:cNvSpPr txBox="1">
            <a:spLocks noChangeArrowheads="1"/>
          </p:cNvSpPr>
          <p:nvPr/>
        </p:nvSpPr>
        <p:spPr bwMode="auto">
          <a:xfrm>
            <a:off x="1527175" y="115888"/>
            <a:ext cx="6365875"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数据处理的类型和任务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30279" name="Text Box 7"/>
          <p:cNvSpPr txBox="1"/>
          <p:nvPr/>
        </p:nvSpPr>
        <p:spPr>
          <a:xfrm>
            <a:off x="396875" y="817563"/>
            <a:ext cx="460692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1.6.1 </a:t>
            </a:r>
            <a:r>
              <a:rPr lang="zh-CN" altLang="en-US" b="1" dirty="0">
                <a:latin typeface="Times New Roman" panose="02020603050405020304" pitchFamily="18" charset="0"/>
              </a:rPr>
              <a:t>数据处理的类型</a:t>
            </a:r>
            <a:endParaRPr lang="zh-CN" altLang="en-US" b="1" dirty="0">
              <a:latin typeface="Times New Roman" panose="02020603050405020304" pitchFamily="18" charset="0"/>
            </a:endParaRPr>
          </a:p>
        </p:txBody>
      </p:sp>
      <p:sp>
        <p:nvSpPr>
          <p:cNvPr id="2230281" name="Text Box 9"/>
          <p:cNvSpPr txBox="1"/>
          <p:nvPr/>
        </p:nvSpPr>
        <p:spPr>
          <a:xfrm>
            <a:off x="1008063" y="1668463"/>
            <a:ext cx="3673475" cy="530225"/>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pPr>
            <a:r>
              <a:rPr lang="en-US" altLang="zh-CN" sz="3200" b="1" dirty="0">
                <a:solidFill>
                  <a:srgbClr val="FF0000"/>
                </a:solidFill>
                <a:latin typeface="黑体" panose="02010609060101010101" pitchFamily="49" charset="-122"/>
                <a:ea typeface="黑体" panose="02010609060101010101" pitchFamily="49" charset="-122"/>
              </a:rPr>
              <a:t>1.</a:t>
            </a:r>
            <a:r>
              <a:rPr lang="zh-CN" altLang="en-US" sz="3200" b="1" dirty="0">
                <a:solidFill>
                  <a:srgbClr val="FF0000"/>
                </a:solidFill>
                <a:latin typeface="Times New Roman" panose="02020603050405020304" pitchFamily="18" charset="0"/>
                <a:ea typeface="黑体" panose="02010609060101010101" pitchFamily="49" charset="-122"/>
              </a:rPr>
              <a:t>按处理方式划分</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2230283" name="Text Box 11"/>
          <p:cNvSpPr txBox="1"/>
          <p:nvPr/>
        </p:nvSpPr>
        <p:spPr>
          <a:xfrm>
            <a:off x="2232025" y="2276475"/>
            <a:ext cx="3460750" cy="1074738"/>
          </a:xfrm>
          <a:prstGeom prst="rect">
            <a:avLst/>
          </a:prstGeom>
          <a:noFill/>
          <a:ln w="9525">
            <a:noFill/>
          </a:ln>
        </p:spPr>
        <p:txBody>
          <a:bodyPr>
            <a:spAutoFit/>
          </a:bodyPr>
          <a:p>
            <a:pPr marL="361950" indent="-361950" eaLnBrk="1" hangingPunct="1">
              <a:lnSpc>
                <a:spcPct val="90000"/>
              </a:lnSpc>
              <a:spcBef>
                <a:spcPct val="50000"/>
              </a:spcBef>
              <a:buClr>
                <a:schemeClr val="accent2"/>
              </a:buClr>
              <a:buFont typeface="Wingdings" panose="05000000000000000000" pitchFamily="2" charset="2"/>
              <a:buChar char="Ø"/>
            </a:pPr>
            <a:r>
              <a:rPr lang="zh-CN" altLang="en-US" sz="2800" b="1" dirty="0">
                <a:solidFill>
                  <a:schemeClr val="tx1"/>
                </a:solidFill>
                <a:latin typeface="Times New Roman" panose="02020603050405020304" pitchFamily="18" charset="0"/>
                <a:ea typeface="黑体" panose="02010609060101010101" pitchFamily="49" charset="-122"/>
              </a:rPr>
              <a:t>实时（在线）处理</a:t>
            </a:r>
            <a:endParaRPr lang="zh-CN" altLang="en-US" sz="2800" b="1" dirty="0">
              <a:solidFill>
                <a:schemeClr val="tx1"/>
              </a:solidFill>
              <a:latin typeface="Times New Roman" panose="02020603050405020304" pitchFamily="18" charset="0"/>
              <a:ea typeface="黑体" panose="02010609060101010101" pitchFamily="49" charset="-122"/>
            </a:endParaRPr>
          </a:p>
          <a:p>
            <a:pPr marL="361950" indent="-361950" eaLnBrk="1" hangingPunct="1">
              <a:lnSpc>
                <a:spcPct val="90000"/>
              </a:lnSpc>
              <a:spcBef>
                <a:spcPct val="50000"/>
              </a:spcBef>
              <a:buClr>
                <a:schemeClr val="accent2"/>
              </a:buClr>
              <a:buFont typeface="Wingdings" panose="05000000000000000000" pitchFamily="2" charset="2"/>
              <a:buChar char="Ø"/>
            </a:pPr>
            <a:r>
              <a:rPr lang="zh-CN" altLang="en-US" sz="2800" b="1" dirty="0">
                <a:solidFill>
                  <a:schemeClr val="tx1"/>
                </a:solidFill>
                <a:latin typeface="Times New Roman" panose="02020603050405020304" pitchFamily="18" charset="0"/>
                <a:ea typeface="黑体" panose="02010609060101010101" pitchFamily="49" charset="-122"/>
              </a:rPr>
              <a:t>事后（脱机）处理</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30285" name="Text Box 13"/>
          <p:cNvSpPr txBox="1"/>
          <p:nvPr/>
        </p:nvSpPr>
        <p:spPr>
          <a:xfrm>
            <a:off x="1008063" y="3500438"/>
            <a:ext cx="3673475" cy="530225"/>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pPr>
            <a:r>
              <a:rPr lang="en-US" altLang="zh-CN" sz="3200" b="1" dirty="0">
                <a:solidFill>
                  <a:srgbClr val="FF0000"/>
                </a:solidFill>
                <a:latin typeface="黑体" panose="02010609060101010101" pitchFamily="49" charset="-122"/>
                <a:ea typeface="黑体" panose="02010609060101010101" pitchFamily="49" charset="-122"/>
              </a:rPr>
              <a:t>2.</a:t>
            </a:r>
            <a:r>
              <a:rPr lang="zh-CN" altLang="en-US" sz="3200" b="1" dirty="0">
                <a:solidFill>
                  <a:srgbClr val="FF0000"/>
                </a:solidFill>
                <a:latin typeface="Times New Roman" panose="02020603050405020304" pitchFamily="18" charset="0"/>
                <a:ea typeface="黑体" panose="02010609060101010101" pitchFamily="49" charset="-122"/>
              </a:rPr>
              <a:t>按处理性质划分</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2230287" name="Text Box 15"/>
          <p:cNvSpPr txBox="1"/>
          <p:nvPr/>
        </p:nvSpPr>
        <p:spPr>
          <a:xfrm>
            <a:off x="2232025" y="4152900"/>
            <a:ext cx="2232025" cy="476250"/>
          </a:xfrm>
          <a:prstGeom prst="rect">
            <a:avLst/>
          </a:prstGeom>
          <a:noFill/>
          <a:ln w="9525">
            <a:noFill/>
          </a:ln>
        </p:spPr>
        <p:txBody>
          <a:bodyPr>
            <a:spAutoFit/>
          </a:bodyPr>
          <a:p>
            <a:pPr marL="361950" indent="-361950" eaLnBrk="1" hangingPunct="1">
              <a:lnSpc>
                <a:spcPct val="90000"/>
              </a:lnSpc>
              <a:spcBef>
                <a:spcPct val="50000"/>
              </a:spcBef>
              <a:buClr>
                <a:schemeClr val="accent2"/>
              </a:buClr>
              <a:buFont typeface="Wingdings" panose="05000000000000000000" pitchFamily="2" charset="2"/>
              <a:buChar char="Ø"/>
            </a:pPr>
            <a:r>
              <a:rPr lang="zh-CN" altLang="en-US" sz="2800" b="1" dirty="0">
                <a:solidFill>
                  <a:schemeClr val="tx1"/>
                </a:solidFill>
                <a:latin typeface="Times New Roman" panose="02020603050405020304" pitchFamily="18" charset="0"/>
                <a:ea typeface="黑体" panose="02010609060101010101" pitchFamily="49" charset="-122"/>
              </a:rPr>
              <a:t>预处理</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30289" name="Text Box 17"/>
          <p:cNvSpPr txBox="1"/>
          <p:nvPr/>
        </p:nvSpPr>
        <p:spPr>
          <a:xfrm>
            <a:off x="4678363" y="3824288"/>
            <a:ext cx="3638550" cy="604837"/>
          </a:xfrm>
          <a:prstGeom prst="rect">
            <a:avLst/>
          </a:prstGeom>
          <a:noFill/>
          <a:ln w="9525">
            <a:noFill/>
          </a:ln>
        </p:spPr>
        <p:txBody>
          <a:bodyPr>
            <a:spAutoFit/>
          </a:bodyPr>
          <a:p>
            <a:pPr eaLnBrk="1" hangingPunct="1">
              <a:lnSpc>
                <a:spcPct val="120000"/>
              </a:lnSpc>
            </a:pPr>
            <a:r>
              <a:rPr lang="zh-CN" altLang="en-US" sz="2800" b="1" dirty="0">
                <a:solidFill>
                  <a:srgbClr val="3333FF"/>
                </a:solidFill>
                <a:latin typeface="楷体_GB2312" pitchFamily="49" charset="-122"/>
              </a:rPr>
              <a:t>剔除奇异项、滤波</a:t>
            </a:r>
            <a:endParaRPr lang="zh-CN" altLang="en-US" sz="2800" b="1" dirty="0">
              <a:solidFill>
                <a:srgbClr val="3333FF"/>
              </a:solidFill>
              <a:latin typeface="楷体_GB2312" pitchFamily="49" charset="-122"/>
            </a:endParaRPr>
          </a:p>
        </p:txBody>
      </p:sp>
      <p:sp>
        <p:nvSpPr>
          <p:cNvPr id="2230290" name="Text Box 18"/>
          <p:cNvSpPr txBox="1"/>
          <p:nvPr/>
        </p:nvSpPr>
        <p:spPr>
          <a:xfrm>
            <a:off x="4678363" y="4265613"/>
            <a:ext cx="2054225" cy="604837"/>
          </a:xfrm>
          <a:prstGeom prst="rect">
            <a:avLst/>
          </a:prstGeom>
          <a:noFill/>
          <a:ln w="9525">
            <a:noFill/>
          </a:ln>
        </p:spPr>
        <p:txBody>
          <a:bodyPr>
            <a:spAutoFit/>
          </a:bodyPr>
          <a:p>
            <a:pPr eaLnBrk="1" hangingPunct="1">
              <a:lnSpc>
                <a:spcPct val="120000"/>
              </a:lnSpc>
            </a:pPr>
            <a:r>
              <a:rPr lang="zh-CN" altLang="en-US" sz="2800" b="1" dirty="0">
                <a:solidFill>
                  <a:srgbClr val="3333FF"/>
                </a:solidFill>
                <a:latin typeface="楷体_GB2312" pitchFamily="49" charset="-122"/>
              </a:rPr>
              <a:t>标度变换</a:t>
            </a:r>
            <a:endParaRPr lang="zh-CN" altLang="en-US" sz="2800" b="1" dirty="0">
              <a:solidFill>
                <a:srgbClr val="3333FF"/>
              </a:solidFill>
              <a:latin typeface="楷体_GB2312" pitchFamily="49" charset="-122"/>
            </a:endParaRPr>
          </a:p>
        </p:txBody>
      </p:sp>
      <p:sp>
        <p:nvSpPr>
          <p:cNvPr id="2230291" name="Text Box 19"/>
          <p:cNvSpPr txBox="1"/>
          <p:nvPr/>
        </p:nvSpPr>
        <p:spPr>
          <a:xfrm>
            <a:off x="2232025" y="5121275"/>
            <a:ext cx="2087563" cy="476250"/>
          </a:xfrm>
          <a:prstGeom prst="rect">
            <a:avLst/>
          </a:prstGeom>
          <a:noFill/>
          <a:ln w="9525">
            <a:noFill/>
          </a:ln>
        </p:spPr>
        <p:txBody>
          <a:bodyPr>
            <a:spAutoFit/>
          </a:bodyPr>
          <a:p>
            <a:pPr marL="361950" indent="-361950" eaLnBrk="1" hangingPunct="1">
              <a:lnSpc>
                <a:spcPct val="90000"/>
              </a:lnSpc>
              <a:spcBef>
                <a:spcPct val="50000"/>
              </a:spcBef>
              <a:buClr>
                <a:schemeClr val="accent2"/>
              </a:buClr>
              <a:buFont typeface="Wingdings" panose="05000000000000000000" pitchFamily="2" charset="2"/>
              <a:buChar char="Ø"/>
            </a:pPr>
            <a:r>
              <a:rPr lang="zh-CN" altLang="en-US" sz="2800" b="1" dirty="0">
                <a:solidFill>
                  <a:schemeClr val="tx1"/>
                </a:solidFill>
                <a:latin typeface="Times New Roman" panose="02020603050405020304" pitchFamily="18" charset="0"/>
                <a:ea typeface="黑体" panose="02010609060101010101" pitchFamily="49" charset="-122"/>
              </a:rPr>
              <a:t>二次处理</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30293" name="Text Box 21"/>
          <p:cNvSpPr txBox="1"/>
          <p:nvPr/>
        </p:nvSpPr>
        <p:spPr>
          <a:xfrm>
            <a:off x="4676775" y="4760913"/>
            <a:ext cx="2451100" cy="604837"/>
          </a:xfrm>
          <a:prstGeom prst="rect">
            <a:avLst/>
          </a:prstGeom>
          <a:noFill/>
          <a:ln w="9525">
            <a:noFill/>
          </a:ln>
        </p:spPr>
        <p:txBody>
          <a:bodyPr>
            <a:spAutoFit/>
          </a:bodyPr>
          <a:p>
            <a:pPr eaLnBrk="1" hangingPunct="1">
              <a:lnSpc>
                <a:spcPct val="120000"/>
              </a:lnSpc>
            </a:pPr>
            <a:r>
              <a:rPr lang="zh-CN" altLang="en-US" sz="2800" b="1" dirty="0">
                <a:solidFill>
                  <a:srgbClr val="3333FF"/>
                </a:solidFill>
                <a:latin typeface="楷体_GB2312" pitchFamily="49" charset="-122"/>
              </a:rPr>
              <a:t>微分、积分</a:t>
            </a:r>
            <a:endParaRPr lang="zh-CN" altLang="en-US" sz="2800" b="1" dirty="0">
              <a:solidFill>
                <a:srgbClr val="3333FF"/>
              </a:solidFill>
              <a:latin typeface="楷体_GB2312" pitchFamily="49" charset="-122"/>
            </a:endParaRPr>
          </a:p>
        </p:txBody>
      </p:sp>
      <p:sp>
        <p:nvSpPr>
          <p:cNvPr id="2230294" name="Text Box 22"/>
          <p:cNvSpPr txBox="1"/>
          <p:nvPr/>
        </p:nvSpPr>
        <p:spPr>
          <a:xfrm>
            <a:off x="4681538" y="5237163"/>
            <a:ext cx="2384425" cy="604837"/>
          </a:xfrm>
          <a:prstGeom prst="rect">
            <a:avLst/>
          </a:prstGeom>
          <a:noFill/>
          <a:ln w="9525">
            <a:noFill/>
          </a:ln>
        </p:spPr>
        <p:txBody>
          <a:bodyPr>
            <a:spAutoFit/>
          </a:bodyPr>
          <a:p>
            <a:pPr eaLnBrk="1" hangingPunct="1">
              <a:lnSpc>
                <a:spcPct val="120000"/>
              </a:lnSpc>
            </a:pPr>
            <a:r>
              <a:rPr lang="zh-CN" altLang="en-US" sz="2800" b="1" dirty="0">
                <a:solidFill>
                  <a:srgbClr val="3333FF"/>
                </a:solidFill>
                <a:latin typeface="楷体_GB2312" pitchFamily="49" charset="-122"/>
              </a:rPr>
              <a:t>傅里叶变换</a:t>
            </a:r>
            <a:endParaRPr lang="zh-CN" altLang="en-US" sz="2800" b="1" dirty="0">
              <a:solidFill>
                <a:srgbClr val="3333FF"/>
              </a:solidFill>
              <a:latin typeface="楷体_GB2312" pitchFamily="49" charset="-122"/>
            </a:endParaRPr>
          </a:p>
        </p:txBody>
      </p:sp>
      <p:sp>
        <p:nvSpPr>
          <p:cNvPr id="2230296" name="Text Box 2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graphicFrame>
        <p:nvGraphicFramePr>
          <p:cNvPr id="2232339" name="Object 19"/>
          <p:cNvGraphicFramePr>
            <a:graphicFrameLocks noChangeAspect="1"/>
          </p:cNvGraphicFramePr>
          <p:nvPr/>
        </p:nvGraphicFramePr>
        <p:xfrm>
          <a:off x="4344988" y="4017963"/>
          <a:ext cx="258762" cy="754062"/>
        </p:xfrm>
        <a:graphic>
          <a:graphicData uri="http://schemas.openxmlformats.org/presentationml/2006/ole">
            <mc:AlternateContent xmlns:mc="http://schemas.openxmlformats.org/markup-compatibility/2006">
              <mc:Choice xmlns:v="urn:schemas-microsoft-com:vml" Requires="v">
                <p:oleObj spid="_x0000_s3080" name="" r:id="rId1" imgW="177800" imgH="892175" progId="MSDraw">
                  <p:embed/>
                </p:oleObj>
              </mc:Choice>
              <mc:Fallback>
                <p:oleObj name="" r:id="rId1" imgW="177800" imgH="892175" progId="MSDraw">
                  <p:embed/>
                  <p:pic>
                    <p:nvPicPr>
                      <p:cNvPr id="0" name="图片 3079"/>
                      <p:cNvPicPr/>
                      <p:nvPr/>
                    </p:nvPicPr>
                    <p:blipFill>
                      <a:blip r:embed="rId2"/>
                      <a:stretch>
                        <a:fillRect/>
                      </a:stretch>
                    </p:blipFill>
                    <p:spPr>
                      <a:xfrm>
                        <a:off x="4344988" y="4017963"/>
                        <a:ext cx="258762" cy="754062"/>
                      </a:xfrm>
                      <a:prstGeom prst="rect">
                        <a:avLst/>
                      </a:prstGeom>
                      <a:noFill/>
                      <a:ln w="38100">
                        <a:noFill/>
                        <a:miter/>
                      </a:ln>
                    </p:spPr>
                  </p:pic>
                </p:oleObj>
              </mc:Fallback>
            </mc:AlternateContent>
          </a:graphicData>
        </a:graphic>
      </p:graphicFrame>
      <p:graphicFrame>
        <p:nvGraphicFramePr>
          <p:cNvPr id="2232340" name="Object 20"/>
          <p:cNvGraphicFramePr>
            <a:graphicFrameLocks noChangeAspect="1"/>
          </p:cNvGraphicFramePr>
          <p:nvPr/>
        </p:nvGraphicFramePr>
        <p:xfrm>
          <a:off x="4349750" y="4976813"/>
          <a:ext cx="258763" cy="754062"/>
        </p:xfrm>
        <a:graphic>
          <a:graphicData uri="http://schemas.openxmlformats.org/presentationml/2006/ole">
            <mc:AlternateContent xmlns:mc="http://schemas.openxmlformats.org/markup-compatibility/2006">
              <mc:Choice xmlns:v="urn:schemas-microsoft-com:vml" Requires="v">
                <p:oleObj spid="_x0000_s3081" name="" r:id="rId3" imgW="177800" imgH="892175" progId="MSDraw">
                  <p:embed/>
                </p:oleObj>
              </mc:Choice>
              <mc:Fallback>
                <p:oleObj name="" r:id="rId3" imgW="177800" imgH="892175" progId="MSDraw">
                  <p:embed/>
                  <p:pic>
                    <p:nvPicPr>
                      <p:cNvPr id="0" name="图片 3080"/>
                      <p:cNvPicPr/>
                      <p:nvPr/>
                    </p:nvPicPr>
                    <p:blipFill>
                      <a:blip r:embed="rId2"/>
                      <a:stretch>
                        <a:fillRect/>
                      </a:stretch>
                    </p:blipFill>
                    <p:spPr>
                      <a:xfrm>
                        <a:off x="4349750" y="4976813"/>
                        <a:ext cx="258763" cy="754062"/>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0279"/>
                                        </p:tgtEl>
                                        <p:attrNameLst>
                                          <p:attrName>style.visibility</p:attrName>
                                        </p:attrNameLst>
                                      </p:cBhvr>
                                      <p:to>
                                        <p:strVal val="visible"/>
                                      </p:to>
                                    </p:set>
                                    <p:animEffect transition="in" filter="dissolve">
                                      <p:cBhvr>
                                        <p:cTn id="7" dur="500"/>
                                        <p:tgtEl>
                                          <p:spTgt spid="223027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30281"/>
                                        </p:tgtEl>
                                        <p:attrNameLst>
                                          <p:attrName>style.visibility</p:attrName>
                                        </p:attrNameLst>
                                      </p:cBhvr>
                                      <p:to>
                                        <p:strVal val="visible"/>
                                      </p:to>
                                    </p:set>
                                    <p:animEffect transition="in" filter="dissolve">
                                      <p:cBhvr>
                                        <p:cTn id="12" dur="500"/>
                                        <p:tgtEl>
                                          <p:spTgt spid="223028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30283">
                                            <p:txEl>
                                              <p:charRg st="0" end="9"/>
                                            </p:txEl>
                                          </p:spTgt>
                                        </p:tgtEl>
                                        <p:attrNameLst>
                                          <p:attrName>style.visibility</p:attrName>
                                        </p:attrNameLst>
                                      </p:cBhvr>
                                      <p:to>
                                        <p:strVal val="visible"/>
                                      </p:to>
                                    </p:set>
                                    <p:animEffect transition="in" filter="dissolve">
                                      <p:cBhvr>
                                        <p:cTn id="17" dur="500"/>
                                        <p:tgtEl>
                                          <p:spTgt spid="2230283">
                                            <p:txEl>
                                              <p:charRg st="0" end="9"/>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30283">
                                            <p:txEl>
                                              <p:charRg st="9" end="18"/>
                                            </p:txEl>
                                          </p:spTgt>
                                        </p:tgtEl>
                                        <p:attrNameLst>
                                          <p:attrName>style.visibility</p:attrName>
                                        </p:attrNameLst>
                                      </p:cBhvr>
                                      <p:to>
                                        <p:strVal val="visible"/>
                                      </p:to>
                                    </p:set>
                                    <p:animEffect transition="in" filter="dissolve">
                                      <p:cBhvr>
                                        <p:cTn id="22" dur="500"/>
                                        <p:tgtEl>
                                          <p:spTgt spid="2230283">
                                            <p:txEl>
                                              <p:charRg st="9" end="18"/>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30285"/>
                                        </p:tgtEl>
                                        <p:attrNameLst>
                                          <p:attrName>style.visibility</p:attrName>
                                        </p:attrNameLst>
                                      </p:cBhvr>
                                      <p:to>
                                        <p:strVal val="visible"/>
                                      </p:to>
                                    </p:set>
                                    <p:animEffect transition="in" filter="dissolve">
                                      <p:cBhvr>
                                        <p:cTn id="27" dur="500"/>
                                        <p:tgtEl>
                                          <p:spTgt spid="223028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30287"/>
                                        </p:tgtEl>
                                        <p:attrNameLst>
                                          <p:attrName>style.visibility</p:attrName>
                                        </p:attrNameLst>
                                      </p:cBhvr>
                                      <p:to>
                                        <p:strVal val="visible"/>
                                      </p:to>
                                    </p:set>
                                    <p:animEffect transition="in" filter="dissolve">
                                      <p:cBhvr>
                                        <p:cTn id="32" dur="500"/>
                                        <p:tgtEl>
                                          <p:spTgt spid="223028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230291"/>
                                        </p:tgtEl>
                                        <p:attrNameLst>
                                          <p:attrName>style.visibility</p:attrName>
                                        </p:attrNameLst>
                                      </p:cBhvr>
                                      <p:to>
                                        <p:strVal val="visible"/>
                                      </p:to>
                                    </p:set>
                                    <p:animEffect transition="in" filter="dissolve">
                                      <p:cBhvr>
                                        <p:cTn id="37" dur="500"/>
                                        <p:tgtEl>
                                          <p:spTgt spid="223029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232339"/>
                                        </p:tgtEl>
                                        <p:attrNameLst>
                                          <p:attrName>style.visibility</p:attrName>
                                        </p:attrNameLst>
                                      </p:cBhvr>
                                      <p:to>
                                        <p:strVal val="visible"/>
                                      </p:to>
                                    </p:set>
                                    <p:animEffect transition="in" filter="dissolve">
                                      <p:cBhvr>
                                        <p:cTn id="42" dur="500"/>
                                        <p:tgtEl>
                                          <p:spTgt spid="2232339"/>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230289"/>
                                        </p:tgtEl>
                                        <p:attrNameLst>
                                          <p:attrName>style.visibility</p:attrName>
                                        </p:attrNameLst>
                                      </p:cBhvr>
                                      <p:to>
                                        <p:strVal val="visible"/>
                                      </p:to>
                                    </p:set>
                                    <p:animEffect transition="in" filter="dissolve">
                                      <p:cBhvr>
                                        <p:cTn id="47" dur="500"/>
                                        <p:tgtEl>
                                          <p:spTgt spid="2230289"/>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230290"/>
                                        </p:tgtEl>
                                        <p:attrNameLst>
                                          <p:attrName>style.visibility</p:attrName>
                                        </p:attrNameLst>
                                      </p:cBhvr>
                                      <p:to>
                                        <p:strVal val="visible"/>
                                      </p:to>
                                    </p:set>
                                    <p:animEffect transition="in" filter="dissolve">
                                      <p:cBhvr>
                                        <p:cTn id="52" dur="500"/>
                                        <p:tgtEl>
                                          <p:spTgt spid="2230290"/>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232340"/>
                                        </p:tgtEl>
                                        <p:attrNameLst>
                                          <p:attrName>style.visibility</p:attrName>
                                        </p:attrNameLst>
                                      </p:cBhvr>
                                      <p:to>
                                        <p:strVal val="visible"/>
                                      </p:to>
                                    </p:set>
                                    <p:animEffect transition="in" filter="dissolve">
                                      <p:cBhvr>
                                        <p:cTn id="57" dur="500"/>
                                        <p:tgtEl>
                                          <p:spTgt spid="2232340"/>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2230293"/>
                                        </p:tgtEl>
                                        <p:attrNameLst>
                                          <p:attrName>style.visibility</p:attrName>
                                        </p:attrNameLst>
                                      </p:cBhvr>
                                      <p:to>
                                        <p:strVal val="visible"/>
                                      </p:to>
                                    </p:set>
                                    <p:animEffect transition="in" filter="dissolve">
                                      <p:cBhvr>
                                        <p:cTn id="62" dur="500"/>
                                        <p:tgtEl>
                                          <p:spTgt spid="2230293"/>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2230294"/>
                                        </p:tgtEl>
                                        <p:attrNameLst>
                                          <p:attrName>style.visibility</p:attrName>
                                        </p:attrNameLst>
                                      </p:cBhvr>
                                      <p:to>
                                        <p:strVal val="visible"/>
                                      </p:to>
                                    </p:set>
                                    <p:animEffect transition="in" filter="dissolve">
                                      <p:cBhvr>
                                        <p:cTn id="67" dur="500"/>
                                        <p:tgtEl>
                                          <p:spTgt spid="2230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0279" grpId="0" animBg="1"/>
      <p:bldP spid="2230281" grpId="0"/>
      <p:bldP spid="2230285" grpId="0"/>
      <p:bldP spid="2230287" grpId="0"/>
      <p:bldP spid="2230289" grpId="0"/>
      <p:bldP spid="2230290" grpId="0"/>
      <p:bldP spid="2230291" grpId="0"/>
      <p:bldP spid="2230293" grpId="0"/>
      <p:bldP spid="2230294"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31304" name="Text Box 8"/>
          <p:cNvSpPr txBox="1"/>
          <p:nvPr/>
        </p:nvSpPr>
        <p:spPr>
          <a:xfrm>
            <a:off x="422275" y="817563"/>
            <a:ext cx="4689475"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1.6.2 </a:t>
            </a:r>
            <a:r>
              <a:rPr lang="zh-CN" altLang="en-US" b="1" dirty="0">
                <a:latin typeface="Times New Roman" panose="02020603050405020304" pitchFamily="18" charset="0"/>
              </a:rPr>
              <a:t>数据处理的任务</a:t>
            </a:r>
            <a:endParaRPr lang="zh-CN" altLang="en-US" b="1" dirty="0">
              <a:latin typeface="Times New Roman" panose="02020603050405020304" pitchFamily="18" charset="0"/>
            </a:endParaRPr>
          </a:p>
        </p:txBody>
      </p:sp>
      <p:sp>
        <p:nvSpPr>
          <p:cNvPr id="2231306" name="Text Box 10"/>
          <p:cNvSpPr txBox="1"/>
          <p:nvPr/>
        </p:nvSpPr>
        <p:spPr>
          <a:xfrm>
            <a:off x="1009650" y="1600200"/>
            <a:ext cx="6345238" cy="3260725"/>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pPr>
            <a:r>
              <a:rPr lang="en-US" altLang="zh-CN" sz="3200" b="1" dirty="0">
                <a:solidFill>
                  <a:srgbClr val="FF0000"/>
                </a:solidFill>
                <a:latin typeface="Times New Roman" panose="02020603050405020304" pitchFamily="18" charset="0"/>
                <a:ea typeface="黑体" panose="02010609060101010101" pitchFamily="49" charset="-122"/>
              </a:rPr>
              <a:t>1. </a:t>
            </a:r>
            <a:r>
              <a:rPr lang="zh-CN" altLang="en-US" sz="3200" b="1" dirty="0">
                <a:solidFill>
                  <a:srgbClr val="FF0000"/>
                </a:solidFill>
                <a:latin typeface="Times New Roman" panose="02020603050405020304" pitchFamily="18" charset="0"/>
                <a:ea typeface="黑体" panose="02010609060101010101" pitchFamily="49" charset="-122"/>
              </a:rPr>
              <a:t>对采集信号作标度变换</a:t>
            </a:r>
            <a:endParaRPr lang="zh-CN" altLang="en-US" sz="3200" b="1" dirty="0">
              <a:solidFill>
                <a:srgbClr val="FF0000"/>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50000"/>
              </a:spcBef>
              <a:buClr>
                <a:srgbClr val="FF0000"/>
              </a:buClr>
              <a:buFont typeface="Wingdings" panose="05000000000000000000" pitchFamily="2" charset="2"/>
            </a:pPr>
            <a:endParaRPr lang="zh-CN" altLang="en-US" sz="3200" b="1" dirty="0">
              <a:solidFill>
                <a:srgbClr val="FF0000"/>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50000"/>
              </a:spcBef>
              <a:buClr>
                <a:srgbClr val="FF0000"/>
              </a:buClr>
              <a:buFont typeface="Wingdings" panose="05000000000000000000" pitchFamily="2" charset="2"/>
            </a:pPr>
            <a:endParaRPr lang="zh-CN" altLang="en-US" sz="3200" b="1" dirty="0">
              <a:solidFill>
                <a:srgbClr val="FF0000"/>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50000"/>
              </a:spcBef>
              <a:buClr>
                <a:srgbClr val="FF0000"/>
              </a:buClr>
              <a:buFont typeface="Wingdings" panose="05000000000000000000" pitchFamily="2" charset="2"/>
            </a:pPr>
            <a:r>
              <a:rPr lang="en-US" altLang="zh-CN" sz="3200" b="1" dirty="0">
                <a:solidFill>
                  <a:srgbClr val="FF0000"/>
                </a:solidFill>
                <a:latin typeface="Times New Roman" panose="02020603050405020304" pitchFamily="18" charset="0"/>
                <a:ea typeface="黑体" panose="02010609060101010101" pitchFamily="49" charset="-122"/>
              </a:rPr>
              <a:t>2. </a:t>
            </a:r>
            <a:r>
              <a:rPr lang="zh-CN" altLang="en-US" sz="3200" b="1" dirty="0">
                <a:solidFill>
                  <a:srgbClr val="FF0000"/>
                </a:solidFill>
                <a:latin typeface="Times New Roman" panose="02020603050405020304" pitchFamily="18" charset="0"/>
                <a:ea typeface="黑体" panose="02010609060101010101" pitchFamily="49" charset="-122"/>
              </a:rPr>
              <a:t>消除数据中的干扰</a:t>
            </a:r>
            <a:endParaRPr lang="zh-CN" altLang="en-US" sz="3200" b="1" dirty="0">
              <a:solidFill>
                <a:srgbClr val="FF0000"/>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50000"/>
              </a:spcBef>
              <a:buClr>
                <a:srgbClr val="FF0000"/>
              </a:buClr>
              <a:buFont typeface="Wingdings" panose="05000000000000000000" pitchFamily="2" charset="2"/>
            </a:pPr>
            <a:endParaRPr lang="en-US" altLang="zh-CN" sz="3200" b="1" dirty="0">
              <a:solidFill>
                <a:srgbClr val="FF0000"/>
              </a:solidFill>
              <a:latin typeface="Times New Roman" panose="02020603050405020304" pitchFamily="18" charset="0"/>
              <a:ea typeface="黑体" panose="02010609060101010101" pitchFamily="49" charset="-122"/>
            </a:endParaRPr>
          </a:p>
        </p:txBody>
      </p:sp>
      <p:sp>
        <p:nvSpPr>
          <p:cNvPr id="2231309" name="Text Box 13"/>
          <p:cNvSpPr txBox="1"/>
          <p:nvPr/>
        </p:nvSpPr>
        <p:spPr>
          <a:xfrm>
            <a:off x="1435100" y="2276475"/>
            <a:ext cx="6989763" cy="946150"/>
          </a:xfrm>
          <a:prstGeom prst="rect">
            <a:avLst/>
          </a:prstGeom>
          <a:noFill/>
          <a:ln w="9525">
            <a:noFill/>
          </a:ln>
        </p:spPr>
        <p:txBody>
          <a:bodyPr>
            <a:spAutoFit/>
          </a:bodyPr>
          <a:p>
            <a:pPr eaLnBrk="1" hangingPunct="1"/>
            <a:r>
              <a:rPr lang="zh-CN" altLang="en-US" sz="2800" b="1" dirty="0">
                <a:solidFill>
                  <a:srgbClr val="3333FF"/>
                </a:solidFill>
                <a:latin typeface="楷体_GB2312" pitchFamily="49" charset="-122"/>
              </a:rPr>
              <a:t>将计算机采集到的没有明确物理意义的电压信号，转换为原来对应的物理量。</a:t>
            </a:r>
            <a:endParaRPr lang="zh-CN" altLang="en-US" sz="2800" b="1" dirty="0">
              <a:solidFill>
                <a:srgbClr val="3333FF"/>
              </a:solidFill>
              <a:latin typeface="楷体_GB2312" pitchFamily="49" charset="-122"/>
            </a:endParaRPr>
          </a:p>
        </p:txBody>
      </p:sp>
      <p:sp>
        <p:nvSpPr>
          <p:cNvPr id="2231310" name="Text Box 14"/>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9186" name="Text Box 2"/>
          <p:cNvSpPr txBox="1">
            <a:spLocks noChangeArrowheads="1"/>
          </p:cNvSpPr>
          <p:nvPr/>
        </p:nvSpPr>
        <p:spPr bwMode="auto">
          <a:xfrm>
            <a:off x="1443038" y="115888"/>
            <a:ext cx="6535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数据处理的类型和任务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9187" name="Text Box 3"/>
          <p:cNvSpPr txBox="1"/>
          <p:nvPr/>
        </p:nvSpPr>
        <p:spPr>
          <a:xfrm>
            <a:off x="1403350" y="4324350"/>
            <a:ext cx="7092950" cy="1373188"/>
          </a:xfrm>
          <a:prstGeom prst="rect">
            <a:avLst/>
          </a:prstGeom>
          <a:noFill/>
          <a:ln w="9525">
            <a:noFill/>
          </a:ln>
        </p:spPr>
        <p:txBody>
          <a:bodyPr>
            <a:spAutoFit/>
          </a:bodyPr>
          <a:p>
            <a:pPr eaLnBrk="1" hangingPunct="1"/>
            <a:r>
              <a:rPr lang="zh-CN" altLang="en-US" sz="2800" b="1" dirty="0">
                <a:solidFill>
                  <a:srgbClr val="3333FF"/>
                </a:solidFill>
                <a:latin typeface="楷体_GB2312" pitchFamily="49" charset="-122"/>
              </a:rPr>
              <a:t>消除在数据的采集、传送和转换过程中，由于系统内部和外部干扰而在数据中混入干扰信号，以保证采样精度。 </a:t>
            </a:r>
            <a:endParaRPr lang="zh-CN" altLang="en-US" sz="2800" b="1" dirty="0">
              <a:solidFill>
                <a:srgbClr val="3333FF"/>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1304"/>
                                        </p:tgtEl>
                                        <p:attrNameLst>
                                          <p:attrName>style.visibility</p:attrName>
                                        </p:attrNameLst>
                                      </p:cBhvr>
                                      <p:to>
                                        <p:strVal val="visible"/>
                                      </p:to>
                                    </p:set>
                                    <p:animEffect transition="in" filter="dissolve">
                                      <p:cBhvr>
                                        <p:cTn id="7" dur="500"/>
                                        <p:tgtEl>
                                          <p:spTgt spid="223130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31306">
                                            <p:txEl>
                                              <p:charRg st="0" end="14"/>
                                            </p:txEl>
                                          </p:spTgt>
                                        </p:tgtEl>
                                        <p:attrNameLst>
                                          <p:attrName>style.visibility</p:attrName>
                                        </p:attrNameLst>
                                      </p:cBhvr>
                                      <p:to>
                                        <p:strVal val="visible"/>
                                      </p:to>
                                    </p:set>
                                    <p:animEffect transition="in" filter="dissolve">
                                      <p:cBhvr>
                                        <p:cTn id="12" dur="500"/>
                                        <p:tgtEl>
                                          <p:spTgt spid="2231306">
                                            <p:txEl>
                                              <p:charRg st="0" end="1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31309"/>
                                        </p:tgtEl>
                                        <p:attrNameLst>
                                          <p:attrName>style.visibility</p:attrName>
                                        </p:attrNameLst>
                                      </p:cBhvr>
                                      <p:to>
                                        <p:strVal val="visible"/>
                                      </p:to>
                                    </p:set>
                                    <p:animEffect transition="in" filter="dissolve">
                                      <p:cBhvr>
                                        <p:cTn id="17" dur="500"/>
                                        <p:tgtEl>
                                          <p:spTgt spid="223130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31306">
                                            <p:txEl>
                                              <p:charRg st="16" end="28"/>
                                            </p:txEl>
                                          </p:spTgt>
                                        </p:tgtEl>
                                        <p:attrNameLst>
                                          <p:attrName>style.visibility</p:attrName>
                                        </p:attrNameLst>
                                      </p:cBhvr>
                                      <p:to>
                                        <p:strVal val="visible"/>
                                      </p:to>
                                    </p:set>
                                    <p:animEffect transition="in" filter="dissolve">
                                      <p:cBhvr>
                                        <p:cTn id="22" dur="500"/>
                                        <p:tgtEl>
                                          <p:spTgt spid="2231306">
                                            <p:txEl>
                                              <p:charRg st="16" end="28"/>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69187"/>
                                        </p:tgtEl>
                                        <p:attrNameLst>
                                          <p:attrName>style.visibility</p:attrName>
                                        </p:attrNameLst>
                                      </p:cBhvr>
                                      <p:to>
                                        <p:strVal val="visible"/>
                                      </p:to>
                                    </p:set>
                                    <p:animEffect transition="in" filter="dissolve">
                                      <p:cBhvr>
                                        <p:cTn id="27" dur="500"/>
                                        <p:tgtEl>
                                          <p:spTgt spid="2269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1304" grpId="0" animBg="1"/>
      <p:bldP spid="2231309" grpId="0"/>
      <p:bldP spid="226918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32334" name="Text Box 14"/>
          <p:cNvSpPr txBox="1"/>
          <p:nvPr/>
        </p:nvSpPr>
        <p:spPr>
          <a:xfrm>
            <a:off x="1150938" y="1700213"/>
            <a:ext cx="5476875" cy="530225"/>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pPr>
            <a:r>
              <a:rPr lang="en-US" altLang="zh-CN" sz="3200" b="1" dirty="0">
                <a:solidFill>
                  <a:srgbClr val="FF0000"/>
                </a:solidFill>
                <a:latin typeface="Times New Roman" panose="02020603050405020304" pitchFamily="18" charset="0"/>
                <a:ea typeface="黑体" panose="02010609060101010101" pitchFamily="49" charset="-122"/>
              </a:rPr>
              <a:t>3. </a:t>
            </a:r>
            <a:r>
              <a:rPr lang="zh-CN" altLang="en-US" sz="3200" b="1" dirty="0">
                <a:solidFill>
                  <a:srgbClr val="FF0000"/>
                </a:solidFill>
                <a:latin typeface="Times New Roman" panose="02020603050405020304" pitchFamily="18" charset="0"/>
                <a:ea typeface="黑体" panose="02010609060101010101" pitchFamily="49" charset="-122"/>
              </a:rPr>
              <a:t>分析计算数据的内在特征 </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2232336" name="Text Box 16"/>
          <p:cNvSpPr txBox="1"/>
          <p:nvPr/>
        </p:nvSpPr>
        <p:spPr>
          <a:xfrm>
            <a:off x="1585913" y="2349500"/>
            <a:ext cx="6838950" cy="946150"/>
          </a:xfrm>
          <a:prstGeom prst="rect">
            <a:avLst/>
          </a:prstGeom>
          <a:noFill/>
          <a:ln w="9525">
            <a:noFill/>
          </a:ln>
        </p:spPr>
        <p:txBody>
          <a:bodyPr>
            <a:spAutoFit/>
          </a:bodyPr>
          <a:p>
            <a:pPr eaLnBrk="1" hangingPunct="1"/>
            <a:r>
              <a:rPr lang="zh-CN" altLang="en-US" sz="2800" b="1" dirty="0">
                <a:solidFill>
                  <a:srgbClr val="3333FF"/>
                </a:solidFill>
                <a:latin typeface="楷体_GB2312" pitchFamily="49" charset="-122"/>
              </a:rPr>
              <a:t>对采集到的数据进行变换加工，以得到能表达采样数据内在特征的二次数据。 </a:t>
            </a:r>
            <a:endParaRPr lang="zh-CN" altLang="en-US" sz="2800" b="1" dirty="0">
              <a:solidFill>
                <a:srgbClr val="3333FF"/>
              </a:solidFill>
              <a:latin typeface="楷体_GB2312" pitchFamily="49" charset="-122"/>
            </a:endParaRPr>
          </a:p>
        </p:txBody>
      </p:sp>
      <p:sp>
        <p:nvSpPr>
          <p:cNvPr id="2232338" name="Text Box 1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r>
              <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绪论</a:t>
            </a:r>
            <a:endParaRPr kumimoji="1" lang="zh-CN" altLang="en-US" sz="320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5541" name="Text Box 15"/>
          <p:cNvSpPr txBox="1"/>
          <p:nvPr/>
        </p:nvSpPr>
        <p:spPr>
          <a:xfrm>
            <a:off x="422275" y="817563"/>
            <a:ext cx="4725988" cy="641350"/>
          </a:xfrm>
          <a:prstGeom prst="rect">
            <a:avLst/>
          </a:prstGeom>
          <a:solidFill>
            <a:srgbClr val="99CCFF"/>
          </a:solidFill>
          <a:ln w="9525">
            <a:noFill/>
          </a:ln>
        </p:spPr>
        <p:txBody>
          <a:bodyPr>
            <a:spAutoFit/>
          </a:bodyPr>
          <a:p>
            <a:pPr eaLnBrk="1" hangingPunct="1"/>
            <a:r>
              <a:rPr lang="en-US" altLang="zh-CN" b="1" dirty="0">
                <a:latin typeface="Times New Roman" panose="02020603050405020304" pitchFamily="18" charset="0"/>
              </a:rPr>
              <a:t>1.6.2 </a:t>
            </a:r>
            <a:r>
              <a:rPr lang="zh-CN" altLang="en-US" b="1" dirty="0">
                <a:latin typeface="Times New Roman" panose="02020603050405020304" pitchFamily="18" charset="0"/>
              </a:rPr>
              <a:t>数据处理的任务</a:t>
            </a:r>
            <a:endParaRPr lang="zh-CN" altLang="en-US" b="1" dirty="0">
              <a:latin typeface="Times New Roman" panose="02020603050405020304" pitchFamily="18" charset="0"/>
            </a:endParaRPr>
          </a:p>
        </p:txBody>
      </p:sp>
      <p:sp>
        <p:nvSpPr>
          <p:cNvPr id="2233360" name="Text Box 16"/>
          <p:cNvSpPr txBox="1">
            <a:spLocks noChangeArrowheads="1"/>
          </p:cNvSpPr>
          <p:nvPr/>
        </p:nvSpPr>
        <p:spPr bwMode="auto">
          <a:xfrm>
            <a:off x="1443038" y="115888"/>
            <a:ext cx="6535738" cy="701675"/>
          </a:xfrm>
          <a:prstGeom prst="rect">
            <a:avLst/>
          </a:prstGeom>
          <a:noFill/>
          <a:ln>
            <a:noFill/>
          </a:ln>
          <a:effec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数据处理的类型和任务 </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33361" name="Text Box 17"/>
          <p:cNvSpPr txBox="1"/>
          <p:nvPr/>
        </p:nvSpPr>
        <p:spPr>
          <a:xfrm>
            <a:off x="1331913" y="3933825"/>
            <a:ext cx="6838950" cy="1562100"/>
          </a:xfrm>
          <a:prstGeom prst="rect">
            <a:avLst/>
          </a:prstGeom>
          <a:noFill/>
          <a:ln w="9525" cap="flat" cmpd="sng">
            <a:solidFill>
              <a:srgbClr val="FF6600"/>
            </a:solidFill>
            <a:prstDash val="solid"/>
            <a:miter/>
            <a:headEnd type="none" w="med" len="med"/>
            <a:tailEnd type="none" w="med" len="med"/>
          </a:ln>
        </p:spPr>
        <p:txBody>
          <a:bodyPr>
            <a:spAutoFit/>
          </a:bodyPr>
          <a:p>
            <a:pPr eaLnBrk="1" hangingPunct="1"/>
            <a:r>
              <a:rPr lang="en-US" altLang="zh-CN" sz="2400" b="1" dirty="0">
                <a:solidFill>
                  <a:schemeClr val="tx1"/>
                </a:solidFill>
                <a:latin typeface="黑体" panose="02010609060101010101" pitchFamily="49" charset="-122"/>
                <a:ea typeface="黑体" panose="02010609060101010101" pitchFamily="49" charset="-122"/>
              </a:rPr>
              <a:t>    </a:t>
            </a:r>
            <a:r>
              <a:rPr lang="zh-CN" altLang="en-US" sz="2400" b="1" dirty="0">
                <a:solidFill>
                  <a:schemeClr val="tx1"/>
                </a:solidFill>
                <a:latin typeface="黑体" panose="02010609060101010101" pitchFamily="49" charset="-122"/>
                <a:ea typeface="黑体" panose="02010609060101010101" pitchFamily="49" charset="-122"/>
              </a:rPr>
              <a:t>例如，在研究振动时，由于频谱更能说明振动波形对机械结构所产生的影响，因此，常对采集到的振动信号作傅里叶（</a:t>
            </a:r>
            <a:r>
              <a:rPr lang="en-US" altLang="zh-CN" sz="2400" b="1" dirty="0">
                <a:solidFill>
                  <a:schemeClr val="tx1"/>
                </a:solidFill>
                <a:latin typeface="黑体" panose="02010609060101010101" pitchFamily="49" charset="-122"/>
                <a:ea typeface="黑体" panose="02010609060101010101" pitchFamily="49" charset="-122"/>
              </a:rPr>
              <a:t>FFT</a:t>
            </a:r>
            <a:r>
              <a:rPr lang="zh-CN" altLang="en-US" sz="2400" b="1" dirty="0">
                <a:solidFill>
                  <a:schemeClr val="tx1"/>
                </a:solidFill>
                <a:latin typeface="黑体" panose="02010609060101010101" pitchFamily="49" charset="-122"/>
                <a:ea typeface="黑体" panose="02010609060101010101" pitchFamily="49" charset="-122"/>
              </a:rPr>
              <a:t>）变换，得出振动波形的频谱。 </a:t>
            </a:r>
            <a:endParaRPr lang="zh-CN" altLang="en-US" sz="2400" b="1"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2334"/>
                                        </p:tgtEl>
                                        <p:attrNameLst>
                                          <p:attrName>style.visibility</p:attrName>
                                        </p:attrNameLst>
                                      </p:cBhvr>
                                      <p:to>
                                        <p:strVal val="visible"/>
                                      </p:to>
                                    </p:set>
                                    <p:animEffect transition="in" filter="dissolve">
                                      <p:cBhvr>
                                        <p:cTn id="7" dur="500"/>
                                        <p:tgtEl>
                                          <p:spTgt spid="22323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32336"/>
                                        </p:tgtEl>
                                        <p:attrNameLst>
                                          <p:attrName>style.visibility</p:attrName>
                                        </p:attrNameLst>
                                      </p:cBhvr>
                                      <p:to>
                                        <p:strVal val="visible"/>
                                      </p:to>
                                    </p:set>
                                    <p:animEffect transition="in" filter="dissolve">
                                      <p:cBhvr>
                                        <p:cTn id="12" dur="500"/>
                                        <p:tgtEl>
                                          <p:spTgt spid="223233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33361"/>
                                        </p:tgtEl>
                                        <p:attrNameLst>
                                          <p:attrName>style.visibility</p:attrName>
                                        </p:attrNameLst>
                                      </p:cBhvr>
                                      <p:to>
                                        <p:strVal val="visible"/>
                                      </p:to>
                                    </p:set>
                                    <p:animEffect transition="in" filter="dissolve">
                                      <p:cBhvr>
                                        <p:cTn id="17" dur="500"/>
                                        <p:tgtEl>
                                          <p:spTgt spid="22333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2334" grpId="0"/>
      <p:bldP spid="2232336" grpId="0"/>
      <p:bldP spid="2233361"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050" name="Picture 2" descr="Turm_blau_hell"/>
          <p:cNvPicPr>
            <a:picLocks noChangeAspect="1"/>
          </p:cNvPicPr>
          <p:nvPr/>
        </p:nvPicPr>
        <p:blipFill>
          <a:blip r:embed="rId1"/>
          <a:stretch>
            <a:fillRect/>
          </a:stretch>
        </p:blipFill>
        <p:spPr>
          <a:xfrm>
            <a:off x="3606800" y="1042988"/>
            <a:ext cx="5537200" cy="5181600"/>
          </a:xfrm>
          <a:prstGeom prst="rect">
            <a:avLst/>
          </a:prstGeom>
          <a:noFill/>
          <a:ln w="9525">
            <a:noFill/>
          </a:ln>
        </p:spPr>
      </p:pic>
      <p:sp>
        <p:nvSpPr>
          <p:cNvPr id="1483785" name="Rectangle 9"/>
          <p:cNvSpPr>
            <a:spLocks noGrp="1" noChangeArrowheads="1"/>
          </p:cNvSpPr>
          <p:nvPr>
            <p:ph type="subTitle" idx="1"/>
          </p:nvPr>
        </p:nvSpPr>
        <p:spPr bwMode="auto">
          <a:xfrm>
            <a:off x="1906588" y="1016000"/>
            <a:ext cx="5695950" cy="784225"/>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82550" tIns="41275" rIns="82550" bIns="41275" numCol="1" anchor="t" anchorCtr="0" compatLnSpc="1"/>
          <a:lstStyle/>
          <a:p>
            <a:pPr marL="476250" marR="0" lvl="0" indent="-476250" algn="l" defTabSz="678180" rtl="0" eaLnBrk="1" fontAlgn="base" latinLnBrk="0" hangingPunct="1">
              <a:lnSpc>
                <a:spcPct val="130000"/>
              </a:lnSpc>
              <a:spcBef>
                <a:spcPct val="50000"/>
              </a:spcBef>
              <a:spcAft>
                <a:spcPct val="0"/>
              </a:spcAft>
              <a:buClr>
                <a:srgbClr val="000066"/>
              </a:buClr>
              <a:buSzPct val="75000"/>
              <a:buFont typeface="Wingdings" panose="05000000000000000000" pitchFamily="2" charset="2"/>
              <a:buNone/>
              <a:defRPr/>
            </a:pPr>
            <a:r>
              <a:rPr kumimoji="0" lang="en-US" altLang="zh-CN" sz="3600" b="1" i="0" u="none" strike="noStrike" kern="0" cap="none" spc="0" normalizeH="0" baseline="0" noProof="0" smtClean="0">
                <a:ln>
                  <a:noFill/>
                </a:ln>
                <a:solidFill>
                  <a:srgbClr val="000066"/>
                </a:solidFill>
                <a:effectLst>
                  <a:outerShdw blurRad="38100" dist="38100" dir="2700000" algn="tl">
                    <a:srgbClr val="C0C0C0"/>
                  </a:outerShdw>
                </a:effectLst>
                <a:uLnTx/>
                <a:uFillTx/>
                <a:latin typeface="Arial Black" panose="020B0A04020102020204" pitchFamily="34" charset="0"/>
                <a:ea typeface="+mn-ea"/>
                <a:cs typeface="+mn-cs"/>
              </a:rPr>
              <a:t>2.1  </a:t>
            </a:r>
            <a:r>
              <a:rPr kumimoji="0" lang="zh-CN" altLang="en-US" sz="3600" b="1" i="0" u="none" strike="noStrike" kern="0" cap="none" spc="0" normalizeH="0" baseline="0" noProof="0" smtClean="0">
                <a:ln>
                  <a:noFill/>
                </a:ln>
                <a:solidFill>
                  <a:srgbClr val="000066"/>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概述</a:t>
            </a:r>
            <a:endParaRPr kumimoji="0" lang="zh-CN" altLang="en-US" sz="3600" b="1" i="0" u="none" strike="noStrike" kern="0" cap="none" spc="0" normalizeH="0" baseline="0" noProof="0" smtClean="0">
              <a:ln>
                <a:noFill/>
              </a:ln>
              <a:solidFill>
                <a:srgbClr val="000066"/>
              </a:solidFill>
              <a:effectLst/>
              <a:uLnTx/>
              <a:uFillTx/>
              <a:latin typeface="Arial Black" panose="020B0A04020102020204" pitchFamily="34" charset="0"/>
              <a:ea typeface="楷体_GB2312" pitchFamily="49" charset="-122"/>
              <a:cs typeface="+mn-cs"/>
            </a:endParaRPr>
          </a:p>
        </p:txBody>
      </p:sp>
      <p:pic>
        <p:nvPicPr>
          <p:cNvPr id="1483793" name="Picture 17" descr="kugel_blau"/>
          <p:cNvPicPr>
            <a:picLocks noChangeAspect="1"/>
          </p:cNvPicPr>
          <p:nvPr/>
        </p:nvPicPr>
        <p:blipFill>
          <a:blip r:embed="rId2"/>
          <a:stretch>
            <a:fillRect/>
          </a:stretch>
        </p:blipFill>
        <p:spPr>
          <a:xfrm>
            <a:off x="1539875" y="1300163"/>
            <a:ext cx="457200" cy="315912"/>
          </a:xfrm>
          <a:prstGeom prst="rect">
            <a:avLst/>
          </a:prstGeom>
          <a:noFill/>
          <a:ln w="9525">
            <a:noFill/>
          </a:ln>
        </p:spPr>
      </p:pic>
      <p:pic>
        <p:nvPicPr>
          <p:cNvPr id="1483794" name="Picture 18" descr="kugel_blau"/>
          <p:cNvPicPr>
            <a:picLocks noChangeAspect="1"/>
          </p:cNvPicPr>
          <p:nvPr/>
        </p:nvPicPr>
        <p:blipFill>
          <a:blip r:embed="rId2"/>
          <a:stretch>
            <a:fillRect/>
          </a:stretch>
        </p:blipFill>
        <p:spPr>
          <a:xfrm>
            <a:off x="1536700" y="1954213"/>
            <a:ext cx="457200" cy="315912"/>
          </a:xfrm>
          <a:prstGeom prst="rect">
            <a:avLst/>
          </a:prstGeom>
          <a:noFill/>
          <a:ln w="9525">
            <a:noFill/>
          </a:ln>
        </p:spPr>
      </p:pic>
      <p:sp>
        <p:nvSpPr>
          <p:cNvPr id="1483798" name="Rectangle 22"/>
          <p:cNvSpPr>
            <a:spLocks noChangeArrowheads="1"/>
          </p:cNvSpPr>
          <p:nvPr/>
        </p:nvSpPr>
        <p:spPr bwMode="auto">
          <a:xfrm>
            <a:off x="1912938" y="1660525"/>
            <a:ext cx="5695950" cy="744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2.2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采样过程</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pic>
        <p:nvPicPr>
          <p:cNvPr id="1483803" name="Picture 27" descr="kugel_blau"/>
          <p:cNvPicPr>
            <a:picLocks noChangeAspect="1"/>
          </p:cNvPicPr>
          <p:nvPr/>
        </p:nvPicPr>
        <p:blipFill>
          <a:blip r:embed="rId2"/>
          <a:stretch>
            <a:fillRect/>
          </a:stretch>
        </p:blipFill>
        <p:spPr>
          <a:xfrm>
            <a:off x="1541463" y="2611438"/>
            <a:ext cx="457200" cy="315912"/>
          </a:xfrm>
          <a:prstGeom prst="rect">
            <a:avLst/>
          </a:prstGeom>
          <a:noFill/>
          <a:ln w="9525">
            <a:noFill/>
          </a:ln>
        </p:spPr>
      </p:pic>
      <p:sp>
        <p:nvSpPr>
          <p:cNvPr id="1483804" name="Rectangle 28"/>
          <p:cNvSpPr>
            <a:spLocks noChangeArrowheads="1"/>
          </p:cNvSpPr>
          <p:nvPr/>
        </p:nvSpPr>
        <p:spPr bwMode="auto">
          <a:xfrm>
            <a:off x="1933575" y="2341563"/>
            <a:ext cx="5695950" cy="744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2.3  </a:t>
            </a:r>
            <a:r>
              <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采样定理</a:t>
            </a:r>
            <a:endParaRPr kumimoji="1" lang="zh-CN" altLang="en-US" sz="3600" b="1" i="0" u="none" strike="noStrike" kern="1200" cap="none" spc="0" normalizeH="0" baseline="0" noProof="0">
              <a:ln>
                <a:noFill/>
              </a:ln>
              <a:solidFill>
                <a:srgbClr val="000066"/>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pic>
        <p:nvPicPr>
          <p:cNvPr id="1483805" name="Picture 29" descr="kugel_blau"/>
          <p:cNvPicPr>
            <a:picLocks noChangeAspect="1"/>
          </p:cNvPicPr>
          <p:nvPr/>
        </p:nvPicPr>
        <p:blipFill>
          <a:blip r:embed="rId2"/>
          <a:stretch>
            <a:fillRect/>
          </a:stretch>
        </p:blipFill>
        <p:spPr>
          <a:xfrm>
            <a:off x="1547813" y="3281363"/>
            <a:ext cx="457200" cy="315912"/>
          </a:xfrm>
          <a:prstGeom prst="rect">
            <a:avLst/>
          </a:prstGeom>
          <a:noFill/>
          <a:ln w="9525">
            <a:noFill/>
          </a:ln>
        </p:spPr>
      </p:pic>
      <p:sp>
        <p:nvSpPr>
          <p:cNvPr id="1483806" name="Rectangle 30"/>
          <p:cNvSpPr>
            <a:spLocks noChangeArrowheads="1"/>
          </p:cNvSpPr>
          <p:nvPr/>
        </p:nvSpPr>
        <p:spPr bwMode="auto">
          <a:xfrm>
            <a:off x="1952625" y="3013075"/>
            <a:ext cx="6584950" cy="744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2.4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频率混淆及其消除的措施</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483809" name="Rectangle 33"/>
          <p:cNvSpPr>
            <a:spLocks noChangeArrowheads="1"/>
          </p:cNvSpPr>
          <p:nvPr/>
        </p:nvSpPr>
        <p:spPr bwMode="auto">
          <a:xfrm>
            <a:off x="1073150" y="306388"/>
            <a:ext cx="7600950" cy="62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2</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模拟信号的数字化处理</a:t>
            </a:r>
            <a:endParaRPr kumimoji="1" lang="zh-CN" altLang="en-US" sz="4400" b="1" i="0" u="none" strike="noStrike" kern="1200" cap="none" spc="0" normalizeH="0" baseline="0" noProof="0">
              <a:ln>
                <a:noFill/>
              </a:ln>
              <a:solidFill>
                <a:srgbClr val="FF0000"/>
              </a:solidFill>
              <a:effectLst/>
              <a:uLnTx/>
              <a:uFillTx/>
              <a:latin typeface="楷体_GB2312" pitchFamily="49" charset="-122"/>
              <a:ea typeface="楷体_GB2312" pitchFamily="49" charset="-122"/>
              <a:cs typeface="+mn-cs"/>
            </a:endParaRPr>
          </a:p>
        </p:txBody>
      </p:sp>
      <p:pic>
        <p:nvPicPr>
          <p:cNvPr id="1483810" name="Picture 34" descr="kugel_blau"/>
          <p:cNvPicPr>
            <a:picLocks noChangeAspect="1"/>
          </p:cNvPicPr>
          <p:nvPr/>
        </p:nvPicPr>
        <p:blipFill>
          <a:blip r:embed="rId2"/>
          <a:stretch>
            <a:fillRect/>
          </a:stretch>
        </p:blipFill>
        <p:spPr>
          <a:xfrm>
            <a:off x="1541463" y="4562475"/>
            <a:ext cx="457200" cy="315913"/>
          </a:xfrm>
          <a:prstGeom prst="rect">
            <a:avLst/>
          </a:prstGeom>
          <a:noFill/>
          <a:ln w="9525">
            <a:noFill/>
          </a:ln>
        </p:spPr>
      </p:pic>
      <p:pic>
        <p:nvPicPr>
          <p:cNvPr id="1483812" name="Picture 36" descr="kugel_blau"/>
          <p:cNvPicPr>
            <a:picLocks noChangeAspect="1"/>
          </p:cNvPicPr>
          <p:nvPr/>
        </p:nvPicPr>
        <p:blipFill>
          <a:blip r:embed="rId2"/>
          <a:stretch>
            <a:fillRect/>
          </a:stretch>
        </p:blipFill>
        <p:spPr>
          <a:xfrm>
            <a:off x="1533525" y="5240338"/>
            <a:ext cx="457200" cy="315912"/>
          </a:xfrm>
          <a:prstGeom prst="rect">
            <a:avLst/>
          </a:prstGeom>
          <a:noFill/>
          <a:ln w="9525">
            <a:noFill/>
          </a:ln>
        </p:spPr>
      </p:pic>
      <p:pic>
        <p:nvPicPr>
          <p:cNvPr id="1483814" name="Picture 38" descr="kugel_blau"/>
          <p:cNvPicPr>
            <a:picLocks noChangeAspect="1"/>
          </p:cNvPicPr>
          <p:nvPr/>
        </p:nvPicPr>
        <p:blipFill>
          <a:blip r:embed="rId2"/>
          <a:stretch>
            <a:fillRect/>
          </a:stretch>
        </p:blipFill>
        <p:spPr>
          <a:xfrm>
            <a:off x="1541463" y="5880100"/>
            <a:ext cx="457200" cy="315913"/>
          </a:xfrm>
          <a:prstGeom prst="rect">
            <a:avLst/>
          </a:prstGeom>
          <a:noFill/>
          <a:ln w="9525">
            <a:noFill/>
          </a:ln>
        </p:spPr>
      </p:pic>
      <p:sp>
        <p:nvSpPr>
          <p:cNvPr id="1483815" name="Rectangle 39"/>
          <p:cNvSpPr>
            <a:spLocks noChangeArrowheads="1"/>
          </p:cNvSpPr>
          <p:nvPr/>
        </p:nvSpPr>
        <p:spPr bwMode="auto">
          <a:xfrm>
            <a:off x="1943100" y="4953000"/>
            <a:ext cx="6783388" cy="744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p>
            <a:pPr marL="476250" indent="-476250" algn="l"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000066"/>
                </a:solidFill>
                <a:effectLst>
                  <a:outerShdw blurRad="38100" dist="38100" dir="2700000">
                    <a:srgbClr val="C0C0C0"/>
                  </a:outerShdw>
                </a:effectLst>
                <a:latin typeface="Arial Black" panose="020B0A04020102020204" pitchFamily="34" charset="0"/>
                <a:ea typeface="宋体" panose="02010600030101010101" pitchFamily="2" charset="-122"/>
              </a:rPr>
              <a:t>2.7</a:t>
            </a:r>
            <a:r>
              <a:rPr lang="en-US" altLang="zh-CN" b="1">
                <a:solidFill>
                  <a:srgbClr val="3366CC"/>
                </a:solidFill>
                <a:effectLst>
                  <a:outerShdw blurRad="38100" dist="38100" dir="2700000">
                    <a:srgbClr val="C0C0C0"/>
                  </a:outerShdw>
                </a:effectLst>
                <a:latin typeface="Arial Black" panose="020B0A04020102020204" pitchFamily="34" charset="0"/>
                <a:ea typeface="宋体" panose="02010600030101010101" pitchFamily="2" charset="-122"/>
              </a:rPr>
              <a:t>  </a:t>
            </a:r>
            <a:r>
              <a:rPr lang="zh-CN" altLang="en-US" b="1" dirty="0">
                <a:solidFill>
                  <a:srgbClr val="000066"/>
                </a:solidFill>
                <a:effectLst>
                  <a:outerShdw blurRad="38100" dist="38100" dir="2700000">
                    <a:srgbClr val="C0C0C0"/>
                  </a:outerShdw>
                </a:effectLst>
                <a:latin typeface="Arial Black" panose="020B0A04020102020204" pitchFamily="34" charset="0"/>
              </a:rPr>
              <a:t>量化与量化误差</a:t>
            </a:r>
            <a:endParaRPr lang="zh-CN" altLang="en-US" b="1" dirty="0">
              <a:solidFill>
                <a:srgbClr val="000066"/>
              </a:solidFill>
              <a:effectLst>
                <a:outerShdw blurRad="38100" dist="38100" dir="2700000">
                  <a:srgbClr val="C0C0C0"/>
                </a:outerShdw>
              </a:effectLst>
              <a:latin typeface="Arial Black" panose="020B0A04020102020204" pitchFamily="34" charset="0"/>
            </a:endParaRPr>
          </a:p>
        </p:txBody>
      </p:sp>
      <p:sp>
        <p:nvSpPr>
          <p:cNvPr id="1483818" name="Rectangle 42"/>
          <p:cNvSpPr>
            <a:spLocks noChangeArrowheads="1"/>
          </p:cNvSpPr>
          <p:nvPr/>
        </p:nvSpPr>
        <p:spPr bwMode="auto">
          <a:xfrm>
            <a:off x="1939925" y="4256088"/>
            <a:ext cx="6662738"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p>
            <a:pPr marL="476250" indent="-476250" algn="l"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3366CC"/>
                </a:solidFill>
                <a:effectLst>
                  <a:outerShdw blurRad="38100" dist="38100" dir="2700000">
                    <a:srgbClr val="C0C0C0"/>
                  </a:outerShdw>
                </a:effectLst>
                <a:latin typeface="Arial Black" panose="020B0A04020102020204" pitchFamily="34" charset="0"/>
                <a:ea typeface="宋体" panose="02010600030101010101" pitchFamily="2" charset="-122"/>
              </a:rPr>
              <a:t>2.6</a:t>
            </a:r>
            <a:r>
              <a:rPr lang="en-US" altLang="zh-CN" b="1">
                <a:solidFill>
                  <a:srgbClr val="000066"/>
                </a:solidFill>
                <a:effectLst>
                  <a:outerShdw blurRad="38100" dist="38100" dir="2700000">
                    <a:srgbClr val="C0C0C0"/>
                  </a:outerShdw>
                </a:effectLst>
                <a:latin typeface="Arial Black" panose="020B0A04020102020204" pitchFamily="34" charset="0"/>
                <a:ea typeface="宋体" panose="02010600030101010101" pitchFamily="2" charset="-122"/>
              </a:rPr>
              <a:t>  </a:t>
            </a:r>
            <a:r>
              <a:rPr lang="zh-CN" altLang="en-US" b="1" dirty="0">
                <a:solidFill>
                  <a:srgbClr val="3366CC"/>
                </a:solidFill>
                <a:effectLst>
                  <a:outerShdw blurRad="38100" dist="38100" dir="2700000">
                    <a:srgbClr val="C0C0C0"/>
                  </a:outerShdw>
                </a:effectLst>
                <a:latin typeface="Times New Roman" panose="02020603050405020304" pitchFamily="18" charset="0"/>
              </a:rPr>
              <a:t>模拟信号的采样控制方式</a:t>
            </a:r>
            <a:r>
              <a:rPr lang="zh-CN" altLang="en-US" sz="3200" b="0" dirty="0">
                <a:solidFill>
                  <a:schemeClr val="tx1"/>
                </a:solidFill>
                <a:latin typeface="Times New Roman" panose="02020603050405020304" pitchFamily="18" charset="0"/>
                <a:ea typeface="宋体" panose="02010600030101010101" pitchFamily="2" charset="-122"/>
              </a:rPr>
              <a:t> </a:t>
            </a:r>
            <a:endParaRPr lang="zh-CN" altLang="en-US" sz="3200" b="0" dirty="0">
              <a:solidFill>
                <a:schemeClr val="tx1"/>
              </a:solidFill>
              <a:latin typeface="Times New Roman" panose="02020603050405020304" pitchFamily="18" charset="0"/>
              <a:ea typeface="宋体" panose="02010600030101010101" pitchFamily="2" charset="-122"/>
            </a:endParaRPr>
          </a:p>
        </p:txBody>
      </p:sp>
      <p:sp>
        <p:nvSpPr>
          <p:cNvPr id="1483820" name="Rectangle 44"/>
          <p:cNvSpPr>
            <a:spLocks noChangeArrowheads="1"/>
          </p:cNvSpPr>
          <p:nvPr/>
        </p:nvSpPr>
        <p:spPr bwMode="auto">
          <a:xfrm>
            <a:off x="1931988" y="5597525"/>
            <a:ext cx="5695950"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p>
            <a:pPr marL="476250" indent="-476250" algn="l"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3366CC"/>
                </a:solidFill>
                <a:effectLst>
                  <a:outerShdw blurRad="38100" dist="38100" dir="2700000">
                    <a:srgbClr val="C0C0C0"/>
                  </a:outerShdw>
                </a:effectLst>
                <a:latin typeface="Arial Black" panose="020B0A04020102020204" pitchFamily="34" charset="0"/>
                <a:ea typeface="宋体" panose="02010600030101010101" pitchFamily="2" charset="-122"/>
              </a:rPr>
              <a:t>2.8</a:t>
            </a:r>
            <a:r>
              <a:rPr lang="en-US" altLang="zh-CN" b="1">
                <a:solidFill>
                  <a:srgbClr val="000066"/>
                </a:solidFill>
                <a:effectLst>
                  <a:outerShdw blurRad="38100" dist="38100" dir="2700000">
                    <a:srgbClr val="C0C0C0"/>
                  </a:outerShdw>
                </a:effectLst>
                <a:latin typeface="Arial Black" panose="020B0A04020102020204" pitchFamily="34" charset="0"/>
                <a:ea typeface="宋体" panose="02010600030101010101" pitchFamily="2" charset="-122"/>
              </a:rPr>
              <a:t>  </a:t>
            </a:r>
            <a:r>
              <a:rPr lang="zh-CN" altLang="en-US" b="1" dirty="0">
                <a:solidFill>
                  <a:srgbClr val="3366CC"/>
                </a:solidFill>
                <a:effectLst>
                  <a:outerShdw blurRad="38100" dist="38100" dir="2700000">
                    <a:srgbClr val="C0C0C0"/>
                  </a:outerShdw>
                </a:effectLst>
                <a:latin typeface="Times New Roman" panose="02020603050405020304" pitchFamily="18" charset="0"/>
              </a:rPr>
              <a:t>编码</a:t>
            </a:r>
            <a:endParaRPr lang="zh-CN" altLang="en-US" b="1" dirty="0">
              <a:solidFill>
                <a:srgbClr val="3366CC"/>
              </a:solidFill>
              <a:effectLst>
                <a:outerShdw blurRad="38100" dist="38100" dir="2700000">
                  <a:srgbClr val="C0C0C0"/>
                </a:outerShdw>
              </a:effectLst>
              <a:latin typeface="Times New Roman" panose="02020603050405020304" pitchFamily="18" charset="0"/>
            </a:endParaRPr>
          </a:p>
        </p:txBody>
      </p:sp>
      <p:sp>
        <p:nvSpPr>
          <p:cNvPr id="2066" name="Rectangle 45"/>
          <p:cNvSpPr/>
          <p:nvPr/>
        </p:nvSpPr>
        <p:spPr>
          <a:xfrm>
            <a:off x="0" y="512763"/>
            <a:ext cx="609600" cy="5605462"/>
          </a:xfrm>
          <a:prstGeom prst="rect">
            <a:avLst/>
          </a:prstGeom>
          <a:solidFill>
            <a:srgbClr val="808080"/>
          </a:solidFill>
          <a:ln w="12700">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067" name="Line 46"/>
          <p:cNvSpPr/>
          <p:nvPr/>
        </p:nvSpPr>
        <p:spPr>
          <a:xfrm>
            <a:off x="609600" y="673100"/>
            <a:ext cx="257175" cy="0"/>
          </a:xfrm>
          <a:prstGeom prst="line">
            <a:avLst/>
          </a:prstGeom>
          <a:ln w="19050" cap="flat" cmpd="sng">
            <a:solidFill>
              <a:srgbClr val="808080"/>
            </a:solidFill>
            <a:prstDash val="solid"/>
            <a:headEnd type="none" w="med" len="med"/>
            <a:tailEnd type="none" w="med" len="med"/>
          </a:ln>
        </p:spPr>
      </p:sp>
      <p:sp>
        <p:nvSpPr>
          <p:cNvPr id="2068" name="Line 47"/>
          <p:cNvSpPr/>
          <p:nvPr/>
        </p:nvSpPr>
        <p:spPr>
          <a:xfrm>
            <a:off x="863600" y="673100"/>
            <a:ext cx="0" cy="484188"/>
          </a:xfrm>
          <a:prstGeom prst="line">
            <a:avLst/>
          </a:prstGeom>
          <a:ln w="19050" cap="flat" cmpd="sng">
            <a:solidFill>
              <a:srgbClr val="808080"/>
            </a:solidFill>
            <a:prstDash val="solid"/>
            <a:headEnd type="none" w="med" len="med"/>
            <a:tailEnd type="none" w="med" len="med"/>
          </a:ln>
        </p:spPr>
      </p:sp>
      <p:sp>
        <p:nvSpPr>
          <p:cNvPr id="2069" name="Line 48"/>
          <p:cNvSpPr/>
          <p:nvPr/>
        </p:nvSpPr>
        <p:spPr>
          <a:xfrm flipV="1">
            <a:off x="862013" y="1160463"/>
            <a:ext cx="6626225" cy="0"/>
          </a:xfrm>
          <a:prstGeom prst="line">
            <a:avLst/>
          </a:prstGeom>
          <a:ln w="19050" cap="flat" cmpd="sng">
            <a:solidFill>
              <a:srgbClr val="808080"/>
            </a:solidFill>
            <a:prstDash val="solid"/>
            <a:headEnd type="none" w="med" len="med"/>
            <a:tailEnd type="none" w="med" len="med"/>
          </a:ln>
        </p:spPr>
      </p:sp>
      <p:sp>
        <p:nvSpPr>
          <p:cNvPr id="1483835" name="Line 59"/>
          <p:cNvSpPr/>
          <p:nvPr/>
        </p:nvSpPr>
        <p:spPr>
          <a:xfrm flipH="1">
            <a:off x="1150938" y="1465263"/>
            <a:ext cx="0" cy="660400"/>
          </a:xfrm>
          <a:prstGeom prst="line">
            <a:avLst/>
          </a:prstGeom>
          <a:ln w="19050" cap="flat" cmpd="sng">
            <a:solidFill>
              <a:srgbClr val="808080"/>
            </a:solidFill>
            <a:prstDash val="solid"/>
            <a:headEnd type="none" w="med" len="med"/>
            <a:tailEnd type="none" w="med" len="med"/>
          </a:ln>
        </p:spPr>
      </p:sp>
      <p:sp>
        <p:nvSpPr>
          <p:cNvPr id="1483836" name="Line 60"/>
          <p:cNvSpPr/>
          <p:nvPr/>
        </p:nvSpPr>
        <p:spPr>
          <a:xfrm>
            <a:off x="1150938" y="2125663"/>
            <a:ext cx="257175" cy="0"/>
          </a:xfrm>
          <a:prstGeom prst="line">
            <a:avLst/>
          </a:prstGeom>
          <a:ln w="19050" cap="flat" cmpd="sng">
            <a:solidFill>
              <a:srgbClr val="808080"/>
            </a:solidFill>
            <a:prstDash val="solid"/>
            <a:headEnd type="none" w="med" len="med"/>
            <a:tailEnd type="none" w="med" len="med"/>
          </a:ln>
        </p:spPr>
      </p:sp>
      <p:sp>
        <p:nvSpPr>
          <p:cNvPr id="1483837" name="Line 61"/>
          <p:cNvSpPr/>
          <p:nvPr/>
        </p:nvSpPr>
        <p:spPr>
          <a:xfrm flipH="1">
            <a:off x="1150938" y="1160463"/>
            <a:ext cx="0" cy="684212"/>
          </a:xfrm>
          <a:prstGeom prst="line">
            <a:avLst/>
          </a:prstGeom>
          <a:ln w="19050" cap="flat" cmpd="sng">
            <a:solidFill>
              <a:srgbClr val="808080"/>
            </a:solidFill>
            <a:prstDash val="solid"/>
            <a:headEnd type="none" w="med" len="med"/>
            <a:tailEnd type="none" w="med" len="med"/>
          </a:ln>
        </p:spPr>
      </p:sp>
      <p:sp>
        <p:nvSpPr>
          <p:cNvPr id="1483838" name="Line 62"/>
          <p:cNvSpPr/>
          <p:nvPr/>
        </p:nvSpPr>
        <p:spPr>
          <a:xfrm>
            <a:off x="1150938" y="1465263"/>
            <a:ext cx="257175" cy="0"/>
          </a:xfrm>
          <a:prstGeom prst="line">
            <a:avLst/>
          </a:prstGeom>
          <a:ln w="19050" cap="flat" cmpd="sng">
            <a:solidFill>
              <a:srgbClr val="808080"/>
            </a:solidFill>
            <a:prstDash val="solid"/>
            <a:headEnd type="none" w="med" len="med"/>
            <a:tailEnd type="none" w="med" len="med"/>
          </a:ln>
        </p:spPr>
      </p:sp>
      <p:sp>
        <p:nvSpPr>
          <p:cNvPr id="1483839" name="Line 63"/>
          <p:cNvSpPr/>
          <p:nvPr/>
        </p:nvSpPr>
        <p:spPr>
          <a:xfrm flipH="1">
            <a:off x="1152525" y="2125663"/>
            <a:ext cx="0" cy="660400"/>
          </a:xfrm>
          <a:prstGeom prst="line">
            <a:avLst/>
          </a:prstGeom>
          <a:ln w="19050" cap="flat" cmpd="sng">
            <a:solidFill>
              <a:srgbClr val="808080"/>
            </a:solidFill>
            <a:prstDash val="solid"/>
            <a:headEnd type="none" w="med" len="med"/>
            <a:tailEnd type="none" w="med" len="med"/>
          </a:ln>
        </p:spPr>
      </p:sp>
      <p:sp>
        <p:nvSpPr>
          <p:cNvPr id="1483840" name="Line 64"/>
          <p:cNvSpPr/>
          <p:nvPr/>
        </p:nvSpPr>
        <p:spPr>
          <a:xfrm>
            <a:off x="1152525" y="2786063"/>
            <a:ext cx="257175" cy="0"/>
          </a:xfrm>
          <a:prstGeom prst="line">
            <a:avLst/>
          </a:prstGeom>
          <a:ln w="19050" cap="flat" cmpd="sng">
            <a:solidFill>
              <a:srgbClr val="808080"/>
            </a:solidFill>
            <a:prstDash val="solid"/>
            <a:headEnd type="none" w="med" len="med"/>
            <a:tailEnd type="none" w="med" len="med"/>
          </a:ln>
        </p:spPr>
      </p:sp>
      <p:sp>
        <p:nvSpPr>
          <p:cNvPr id="1483841" name="Line 65"/>
          <p:cNvSpPr/>
          <p:nvPr/>
        </p:nvSpPr>
        <p:spPr>
          <a:xfrm flipH="1">
            <a:off x="1152525" y="2786063"/>
            <a:ext cx="0" cy="660400"/>
          </a:xfrm>
          <a:prstGeom prst="line">
            <a:avLst/>
          </a:prstGeom>
          <a:ln w="19050" cap="flat" cmpd="sng">
            <a:solidFill>
              <a:srgbClr val="808080"/>
            </a:solidFill>
            <a:prstDash val="solid"/>
            <a:headEnd type="none" w="med" len="med"/>
            <a:tailEnd type="none" w="med" len="med"/>
          </a:ln>
        </p:spPr>
      </p:sp>
      <p:sp>
        <p:nvSpPr>
          <p:cNvPr id="1483842" name="Line 66"/>
          <p:cNvSpPr/>
          <p:nvPr/>
        </p:nvSpPr>
        <p:spPr>
          <a:xfrm>
            <a:off x="1152525" y="3446463"/>
            <a:ext cx="257175" cy="0"/>
          </a:xfrm>
          <a:prstGeom prst="line">
            <a:avLst/>
          </a:prstGeom>
          <a:ln w="19050" cap="flat" cmpd="sng">
            <a:solidFill>
              <a:srgbClr val="808080"/>
            </a:solidFill>
            <a:prstDash val="solid"/>
            <a:headEnd type="none" w="med" len="med"/>
            <a:tailEnd type="none" w="med" len="med"/>
          </a:ln>
        </p:spPr>
      </p:sp>
      <p:sp>
        <p:nvSpPr>
          <p:cNvPr id="1483843" name="Line 67"/>
          <p:cNvSpPr/>
          <p:nvPr/>
        </p:nvSpPr>
        <p:spPr>
          <a:xfrm flipH="1">
            <a:off x="1150938" y="3446463"/>
            <a:ext cx="0" cy="660400"/>
          </a:xfrm>
          <a:prstGeom prst="line">
            <a:avLst/>
          </a:prstGeom>
          <a:ln w="19050" cap="flat" cmpd="sng">
            <a:solidFill>
              <a:srgbClr val="808080"/>
            </a:solidFill>
            <a:prstDash val="solid"/>
            <a:headEnd type="none" w="med" len="med"/>
            <a:tailEnd type="none" w="med" len="med"/>
          </a:ln>
        </p:spPr>
      </p:sp>
      <p:sp>
        <p:nvSpPr>
          <p:cNvPr id="1483844" name="Line 68"/>
          <p:cNvSpPr/>
          <p:nvPr/>
        </p:nvSpPr>
        <p:spPr>
          <a:xfrm>
            <a:off x="1150938" y="4729163"/>
            <a:ext cx="257175" cy="0"/>
          </a:xfrm>
          <a:prstGeom prst="line">
            <a:avLst/>
          </a:prstGeom>
          <a:ln w="19050" cap="flat" cmpd="sng">
            <a:solidFill>
              <a:srgbClr val="808080"/>
            </a:solidFill>
            <a:prstDash val="solid"/>
            <a:headEnd type="none" w="med" len="med"/>
            <a:tailEnd type="none" w="med" len="med"/>
          </a:ln>
        </p:spPr>
      </p:sp>
      <p:sp>
        <p:nvSpPr>
          <p:cNvPr id="1483845" name="Line 69"/>
          <p:cNvSpPr/>
          <p:nvPr/>
        </p:nvSpPr>
        <p:spPr>
          <a:xfrm flipH="1">
            <a:off x="1150938" y="4729163"/>
            <a:ext cx="0" cy="660400"/>
          </a:xfrm>
          <a:prstGeom prst="line">
            <a:avLst/>
          </a:prstGeom>
          <a:ln w="19050" cap="flat" cmpd="sng">
            <a:solidFill>
              <a:srgbClr val="808080"/>
            </a:solidFill>
            <a:prstDash val="solid"/>
            <a:headEnd type="none" w="med" len="med"/>
            <a:tailEnd type="none" w="med" len="med"/>
          </a:ln>
        </p:spPr>
      </p:sp>
      <p:sp>
        <p:nvSpPr>
          <p:cNvPr id="1483846" name="Line 70"/>
          <p:cNvSpPr/>
          <p:nvPr/>
        </p:nvSpPr>
        <p:spPr>
          <a:xfrm>
            <a:off x="1150938" y="5399088"/>
            <a:ext cx="257175" cy="0"/>
          </a:xfrm>
          <a:prstGeom prst="line">
            <a:avLst/>
          </a:prstGeom>
          <a:ln w="19050" cap="flat" cmpd="sng">
            <a:solidFill>
              <a:srgbClr val="808080"/>
            </a:solidFill>
            <a:prstDash val="solid"/>
            <a:headEnd type="none" w="med" len="med"/>
            <a:tailEnd type="none" w="med" len="med"/>
          </a:ln>
        </p:spPr>
      </p:sp>
      <p:sp>
        <p:nvSpPr>
          <p:cNvPr id="1483847" name="Line 71"/>
          <p:cNvSpPr/>
          <p:nvPr/>
        </p:nvSpPr>
        <p:spPr>
          <a:xfrm flipH="1">
            <a:off x="1152525" y="5399088"/>
            <a:ext cx="0" cy="660400"/>
          </a:xfrm>
          <a:prstGeom prst="line">
            <a:avLst/>
          </a:prstGeom>
          <a:ln w="19050" cap="flat" cmpd="sng">
            <a:solidFill>
              <a:srgbClr val="808080"/>
            </a:solidFill>
            <a:prstDash val="solid"/>
            <a:headEnd type="none" w="med" len="med"/>
            <a:tailEnd type="none" w="med" len="med"/>
          </a:ln>
        </p:spPr>
      </p:sp>
      <p:sp>
        <p:nvSpPr>
          <p:cNvPr id="1483848" name="Line 72"/>
          <p:cNvSpPr/>
          <p:nvPr/>
        </p:nvSpPr>
        <p:spPr>
          <a:xfrm>
            <a:off x="1152525" y="6059488"/>
            <a:ext cx="257175" cy="0"/>
          </a:xfrm>
          <a:prstGeom prst="line">
            <a:avLst/>
          </a:prstGeom>
          <a:ln w="19050" cap="flat" cmpd="sng">
            <a:solidFill>
              <a:srgbClr val="808080"/>
            </a:solidFill>
            <a:prstDash val="solid"/>
            <a:headEnd type="none" w="med" len="med"/>
            <a:tailEnd type="none" w="med" len="med"/>
          </a:ln>
        </p:spPr>
      </p:sp>
      <p:sp>
        <p:nvSpPr>
          <p:cNvPr id="1483849" name="Text Box 7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 name="Rectangle 42"/>
          <p:cNvSpPr>
            <a:spLocks noChangeArrowheads="1"/>
          </p:cNvSpPr>
          <p:nvPr/>
        </p:nvSpPr>
        <p:spPr bwMode="auto">
          <a:xfrm>
            <a:off x="1941513" y="3616325"/>
            <a:ext cx="6662738"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p>
            <a:pPr marL="476250" indent="-476250" algn="l"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000066"/>
                </a:solidFill>
                <a:effectLst>
                  <a:outerShdw blurRad="38100" dist="38100" dir="2700000">
                    <a:srgbClr val="C0C0C0"/>
                  </a:outerShdw>
                </a:effectLst>
                <a:latin typeface="Arial Black" panose="020B0A04020102020204" pitchFamily="34" charset="0"/>
                <a:ea typeface="宋体" panose="02010600030101010101" pitchFamily="2" charset="-122"/>
              </a:rPr>
              <a:t>2.5  </a:t>
            </a:r>
            <a:r>
              <a:rPr lang="zh-CN" altLang="en-US" b="1" dirty="0">
                <a:solidFill>
                  <a:srgbClr val="000066"/>
                </a:solidFill>
                <a:effectLst>
                  <a:outerShdw blurRad="38100" dist="38100" dir="2700000">
                    <a:srgbClr val="C0C0C0"/>
                  </a:outerShdw>
                </a:effectLst>
                <a:latin typeface="Times New Roman" panose="02020603050405020304" pitchFamily="18" charset="0"/>
              </a:rPr>
              <a:t>采样技术的讨论</a:t>
            </a:r>
            <a:r>
              <a:rPr lang="zh-CN" altLang="en-US" sz="3200" b="0" dirty="0">
                <a:solidFill>
                  <a:schemeClr val="tx1"/>
                </a:solidFill>
                <a:latin typeface="Times New Roman" panose="02020603050405020304" pitchFamily="18" charset="0"/>
                <a:ea typeface="宋体" panose="02010600030101010101" pitchFamily="2" charset="-122"/>
              </a:rPr>
              <a:t> </a:t>
            </a:r>
            <a:endParaRPr lang="zh-CN" altLang="en-US" sz="3200" b="0" dirty="0">
              <a:solidFill>
                <a:schemeClr val="tx1"/>
              </a:solidFill>
              <a:latin typeface="Times New Roman" panose="02020603050405020304" pitchFamily="18" charset="0"/>
              <a:ea typeface="宋体" panose="02010600030101010101" pitchFamily="2" charset="-122"/>
            </a:endParaRPr>
          </a:p>
        </p:txBody>
      </p:sp>
      <p:pic>
        <p:nvPicPr>
          <p:cNvPr id="3" name="Picture 34" descr="kugel_blau"/>
          <p:cNvPicPr>
            <a:picLocks noChangeAspect="1"/>
          </p:cNvPicPr>
          <p:nvPr/>
        </p:nvPicPr>
        <p:blipFill>
          <a:blip r:embed="rId2"/>
          <a:stretch>
            <a:fillRect/>
          </a:stretch>
        </p:blipFill>
        <p:spPr>
          <a:xfrm>
            <a:off x="1547813" y="3940175"/>
            <a:ext cx="457200" cy="315913"/>
          </a:xfrm>
          <a:prstGeom prst="rect">
            <a:avLst/>
          </a:prstGeom>
          <a:noFill/>
          <a:ln w="9525">
            <a:noFill/>
          </a:ln>
        </p:spPr>
      </p:pic>
      <p:sp>
        <p:nvSpPr>
          <p:cNvPr id="4" name="Line 68"/>
          <p:cNvSpPr/>
          <p:nvPr/>
        </p:nvSpPr>
        <p:spPr>
          <a:xfrm>
            <a:off x="1152525" y="4079875"/>
            <a:ext cx="257175" cy="0"/>
          </a:xfrm>
          <a:prstGeom prst="line">
            <a:avLst/>
          </a:prstGeom>
          <a:ln w="19050" cap="flat" cmpd="sng">
            <a:solidFill>
              <a:srgbClr val="808080"/>
            </a:solidFill>
            <a:prstDash val="solid"/>
            <a:headEnd type="none" w="med" len="med"/>
            <a:tailEnd type="none" w="med" len="med"/>
          </a:ln>
        </p:spPr>
      </p:sp>
      <p:sp>
        <p:nvSpPr>
          <p:cNvPr id="5" name="Line 69"/>
          <p:cNvSpPr/>
          <p:nvPr/>
        </p:nvSpPr>
        <p:spPr>
          <a:xfrm flipH="1">
            <a:off x="1152525" y="4079875"/>
            <a:ext cx="0" cy="660400"/>
          </a:xfrm>
          <a:prstGeom prst="line">
            <a:avLst/>
          </a:prstGeom>
          <a:ln w="19050" cap="flat" cmpd="sng">
            <a:solidFill>
              <a:srgbClr val="808080"/>
            </a:solidFill>
            <a:prstDash val="solid"/>
            <a:headEnd type="none" w="med" len="med"/>
            <a:tailEnd type="none" w="med" len="med"/>
          </a:ln>
        </p:spPr>
      </p:sp>
    </p:spTree>
  </p:cSld>
  <p:clrMapOvr>
    <a:masterClrMapping/>
  </p:clrMapOvr>
  <p:transition spd="med">
    <p:cove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2" name="Text Box 70"/>
          <p:cNvSpPr txBox="1">
            <a:spLocks noChangeArrowheads="1"/>
          </p:cNvSpPr>
          <p:nvPr/>
        </p:nvSpPr>
        <p:spPr bwMode="auto">
          <a:xfrm>
            <a:off x="3387725" y="155575"/>
            <a:ext cx="21780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2.1</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概述</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1554504" name="Text Box 72"/>
          <p:cNvSpPr txBox="1"/>
          <p:nvPr/>
        </p:nvSpPr>
        <p:spPr>
          <a:xfrm>
            <a:off x="328613" y="1141413"/>
            <a:ext cx="6508750" cy="579437"/>
          </a:xfrm>
          <a:prstGeom prst="rect">
            <a:avLst/>
          </a:prstGeom>
          <a:solidFill>
            <a:srgbClr val="99CCFF"/>
          </a:solidFill>
          <a:ln w="9525">
            <a:noFill/>
          </a:ln>
        </p:spPr>
        <p:txBody>
          <a:bodyPr wrap="none">
            <a:spAutoFit/>
          </a:bodyPr>
          <a:p>
            <a:pPr algn="l" eaLnBrk="1" hangingPunct="1"/>
            <a:r>
              <a:rPr lang="zh-CN" altLang="en-US" sz="3200" b="1" dirty="0">
                <a:solidFill>
                  <a:srgbClr val="333399"/>
                </a:solidFill>
                <a:latin typeface="楷体_GB2312" pitchFamily="49" charset="-122"/>
              </a:rPr>
              <a:t>在</a:t>
            </a:r>
            <a:r>
              <a:rPr lang="zh-CN" altLang="en-US" sz="3200" b="1" dirty="0">
                <a:solidFill>
                  <a:srgbClr val="333399"/>
                </a:solidFill>
                <a:latin typeface="Times New Roman" panose="02020603050405020304" pitchFamily="18" charset="0"/>
              </a:rPr>
              <a:t>数据采集系统</a:t>
            </a:r>
            <a:r>
              <a:rPr lang="zh-CN" altLang="en-US" sz="3200" b="1" dirty="0">
                <a:solidFill>
                  <a:srgbClr val="333399"/>
                </a:solidFill>
                <a:latin typeface="楷体_GB2312" pitchFamily="49" charset="-122"/>
              </a:rPr>
              <a:t>中存在两种信号： </a:t>
            </a:r>
            <a:endParaRPr lang="zh-CN" altLang="en-US" sz="3200" b="1" dirty="0">
              <a:solidFill>
                <a:srgbClr val="333399"/>
              </a:solidFill>
              <a:latin typeface="楷体_GB2312" pitchFamily="49" charset="-122"/>
            </a:endParaRPr>
          </a:p>
        </p:txBody>
      </p:sp>
      <p:sp>
        <p:nvSpPr>
          <p:cNvPr id="1554506" name="Text Box 74"/>
          <p:cNvSpPr txBox="1"/>
          <p:nvPr/>
        </p:nvSpPr>
        <p:spPr>
          <a:xfrm>
            <a:off x="1150938" y="2097088"/>
            <a:ext cx="6915150" cy="519112"/>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2800" b="1">
                <a:solidFill>
                  <a:srgbClr val="FF0000"/>
                </a:solidFill>
                <a:latin typeface="黑体" panose="02010609060101010101" pitchFamily="49" charset="-122"/>
                <a:ea typeface="黑体" panose="02010609060101010101" pitchFamily="49" charset="-122"/>
              </a:rPr>
              <a:t> </a:t>
            </a:r>
            <a:r>
              <a:rPr lang="zh-CN" altLang="en-US" sz="2800" b="1" dirty="0">
                <a:solidFill>
                  <a:srgbClr val="FF0000"/>
                </a:solidFill>
                <a:latin typeface="黑体" panose="02010609060101010101" pitchFamily="49" charset="-122"/>
                <a:ea typeface="黑体" panose="02010609060101010101" pitchFamily="49" charset="-122"/>
              </a:rPr>
              <a:t>连续模拟信号</a:t>
            </a:r>
            <a:r>
              <a:rPr lang="zh-CN" altLang="en-US" sz="2800" b="1" dirty="0">
                <a:solidFill>
                  <a:srgbClr val="3333FF"/>
                </a:solidFill>
                <a:latin typeface="黑体" panose="02010609060101010101" pitchFamily="49" charset="-122"/>
                <a:ea typeface="黑体" panose="02010609060101010101" pitchFamily="49" charset="-122"/>
              </a:rPr>
              <a:t>：被采集物理量的电信号</a:t>
            </a:r>
            <a:endParaRPr lang="zh-CN" altLang="en-US" sz="2800" b="1" dirty="0">
              <a:solidFill>
                <a:srgbClr val="3333FF"/>
              </a:solidFill>
              <a:latin typeface="黑体" panose="02010609060101010101" pitchFamily="49" charset="-122"/>
              <a:ea typeface="黑体" panose="02010609060101010101" pitchFamily="49" charset="-122"/>
            </a:endParaRPr>
          </a:p>
        </p:txBody>
      </p:sp>
      <p:sp>
        <p:nvSpPr>
          <p:cNvPr id="1554507" name="Text Box 75"/>
          <p:cNvSpPr txBox="1"/>
          <p:nvPr/>
        </p:nvSpPr>
        <p:spPr>
          <a:xfrm>
            <a:off x="1150938" y="2814638"/>
            <a:ext cx="7273925" cy="519112"/>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2800" b="1">
                <a:solidFill>
                  <a:srgbClr val="FF0000"/>
                </a:solidFill>
                <a:latin typeface="黑体" panose="02010609060101010101" pitchFamily="49" charset="-122"/>
                <a:ea typeface="黑体" panose="02010609060101010101" pitchFamily="49" charset="-122"/>
              </a:rPr>
              <a:t> </a:t>
            </a:r>
            <a:r>
              <a:rPr lang="zh-CN" altLang="en-US" sz="2800" b="1" dirty="0">
                <a:solidFill>
                  <a:srgbClr val="FF0000"/>
                </a:solidFill>
                <a:latin typeface="黑体" panose="02010609060101010101" pitchFamily="49" charset="-122"/>
                <a:ea typeface="黑体" panose="02010609060101010101" pitchFamily="49" charset="-122"/>
              </a:rPr>
              <a:t>离散数字信号</a:t>
            </a:r>
            <a:r>
              <a:rPr lang="zh-CN" altLang="en-US" sz="2800" b="1" dirty="0">
                <a:solidFill>
                  <a:srgbClr val="3333FF"/>
                </a:solidFill>
                <a:latin typeface="黑体" panose="02010609060101010101" pitchFamily="49" charset="-122"/>
                <a:ea typeface="黑体" panose="02010609060101010101" pitchFamily="49" charset="-122"/>
              </a:rPr>
              <a:t>：计算机运算、处理的信息</a:t>
            </a:r>
            <a:endParaRPr lang="zh-CN" altLang="en-US" sz="2800" b="1" dirty="0">
              <a:solidFill>
                <a:srgbClr val="3333FF"/>
              </a:solidFill>
              <a:latin typeface="黑体" panose="02010609060101010101" pitchFamily="49" charset="-122"/>
              <a:ea typeface="黑体" panose="02010609060101010101" pitchFamily="49" charset="-122"/>
            </a:endParaRPr>
          </a:p>
        </p:txBody>
      </p:sp>
      <p:sp>
        <p:nvSpPr>
          <p:cNvPr id="1554511" name="Text Box 79"/>
          <p:cNvSpPr txBox="1"/>
          <p:nvPr/>
        </p:nvSpPr>
        <p:spPr>
          <a:xfrm>
            <a:off x="328613" y="3749675"/>
            <a:ext cx="8096250" cy="579438"/>
          </a:xfrm>
          <a:prstGeom prst="rect">
            <a:avLst/>
          </a:prstGeom>
          <a:solidFill>
            <a:srgbClr val="99CCFF"/>
          </a:solidFill>
          <a:ln w="9525">
            <a:noFill/>
          </a:ln>
        </p:spPr>
        <p:txBody>
          <a:bodyPr>
            <a:spAutoFit/>
          </a:bodyPr>
          <a:p>
            <a:pPr algn="l" eaLnBrk="1" hangingPunct="1"/>
            <a:r>
              <a:rPr lang="zh-CN" altLang="en-US" sz="3200" b="1" dirty="0">
                <a:solidFill>
                  <a:srgbClr val="333399"/>
                </a:solidFill>
                <a:latin typeface="楷体_GB2312" pitchFamily="49" charset="-122"/>
              </a:rPr>
              <a:t>在开发数据采集系统时，首先遇到的问题： </a:t>
            </a:r>
            <a:endParaRPr lang="zh-CN" altLang="en-US" sz="3200" b="1" dirty="0">
              <a:solidFill>
                <a:srgbClr val="333399"/>
              </a:solidFill>
              <a:latin typeface="楷体_GB2312" pitchFamily="49" charset="-122"/>
            </a:endParaRPr>
          </a:p>
        </p:txBody>
      </p:sp>
      <p:sp>
        <p:nvSpPr>
          <p:cNvPr id="1554512" name="Text Box 80"/>
          <p:cNvSpPr txBox="1"/>
          <p:nvPr/>
        </p:nvSpPr>
        <p:spPr>
          <a:xfrm>
            <a:off x="863600" y="4652963"/>
            <a:ext cx="7331075" cy="946150"/>
          </a:xfrm>
          <a:prstGeom prst="rect">
            <a:avLst/>
          </a:prstGeom>
          <a:noFill/>
          <a:ln w="9525">
            <a:noFill/>
          </a:ln>
        </p:spPr>
        <p:txBody>
          <a:bodyPr wrap="none">
            <a:spAutoFit/>
          </a:bodyPr>
          <a:p>
            <a:pPr algn="l" eaLnBrk="1" hangingPunct="1"/>
            <a:r>
              <a:rPr lang="en-US" altLang="zh-CN" sz="2800" b="1">
                <a:solidFill>
                  <a:schemeClr val="tx1"/>
                </a:solidFill>
                <a:latin typeface="黑体" panose="02010609060101010101" pitchFamily="49" charset="-122"/>
                <a:ea typeface="黑体" panose="02010609060101010101" pitchFamily="49" charset="-122"/>
              </a:rPr>
              <a:t>    </a:t>
            </a:r>
            <a:r>
              <a:rPr lang="zh-CN" altLang="en-US" sz="2800" b="1" dirty="0">
                <a:solidFill>
                  <a:schemeClr val="tx1"/>
                </a:solidFill>
                <a:latin typeface="黑体" panose="02010609060101010101" pitchFamily="49" charset="-122"/>
                <a:ea typeface="黑体" panose="02010609060101010101" pitchFamily="49" charset="-122"/>
              </a:rPr>
              <a:t>如何把传感器测量到的连续模拟信号转换</a:t>
            </a:r>
            <a:endParaRPr lang="zh-CN" altLang="en-US" sz="2800" b="1" dirty="0">
              <a:solidFill>
                <a:schemeClr val="tx1"/>
              </a:solidFill>
              <a:latin typeface="黑体" panose="02010609060101010101" pitchFamily="49" charset="-122"/>
              <a:ea typeface="黑体" panose="02010609060101010101" pitchFamily="49" charset="-122"/>
            </a:endParaRPr>
          </a:p>
          <a:p>
            <a:pPr algn="l" eaLnBrk="1" hangingPunct="1"/>
            <a:r>
              <a:rPr lang="zh-CN" altLang="en-US" sz="2800" b="1" dirty="0">
                <a:solidFill>
                  <a:schemeClr val="tx1"/>
                </a:solidFill>
                <a:latin typeface="黑体" panose="02010609060101010101" pitchFamily="49" charset="-122"/>
                <a:ea typeface="黑体" panose="02010609060101010101" pitchFamily="49" charset="-122"/>
              </a:rPr>
              <a:t>成离散数字信号？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1554515" name="Text Box 8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54504"/>
                                        </p:tgtEl>
                                        <p:attrNameLst>
                                          <p:attrName>style.visibility</p:attrName>
                                        </p:attrNameLst>
                                      </p:cBhvr>
                                      <p:to>
                                        <p:strVal val="visible"/>
                                      </p:to>
                                    </p:set>
                                    <p:animEffect transition="in" filter="dissolve">
                                      <p:cBhvr>
                                        <p:cTn id="7" dur="500"/>
                                        <p:tgtEl>
                                          <p:spTgt spid="155450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54506"/>
                                        </p:tgtEl>
                                        <p:attrNameLst>
                                          <p:attrName>style.visibility</p:attrName>
                                        </p:attrNameLst>
                                      </p:cBhvr>
                                      <p:to>
                                        <p:strVal val="visible"/>
                                      </p:to>
                                    </p:set>
                                    <p:animEffect transition="in" filter="dissolve">
                                      <p:cBhvr>
                                        <p:cTn id="12" dur="500"/>
                                        <p:tgtEl>
                                          <p:spTgt spid="155450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554507"/>
                                        </p:tgtEl>
                                        <p:attrNameLst>
                                          <p:attrName>style.visibility</p:attrName>
                                        </p:attrNameLst>
                                      </p:cBhvr>
                                      <p:to>
                                        <p:strVal val="visible"/>
                                      </p:to>
                                    </p:set>
                                    <p:animEffect transition="in" filter="dissolve">
                                      <p:cBhvr>
                                        <p:cTn id="17" dur="500"/>
                                        <p:tgtEl>
                                          <p:spTgt spid="155450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54511"/>
                                        </p:tgtEl>
                                        <p:attrNameLst>
                                          <p:attrName>style.visibility</p:attrName>
                                        </p:attrNameLst>
                                      </p:cBhvr>
                                      <p:to>
                                        <p:strVal val="visible"/>
                                      </p:to>
                                    </p:set>
                                    <p:animEffect transition="in" filter="dissolve">
                                      <p:cBhvr>
                                        <p:cTn id="22" dur="500"/>
                                        <p:tgtEl>
                                          <p:spTgt spid="15545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554512"/>
                                        </p:tgtEl>
                                        <p:attrNameLst>
                                          <p:attrName>style.visibility</p:attrName>
                                        </p:attrNameLst>
                                      </p:cBhvr>
                                      <p:to>
                                        <p:strVal val="visible"/>
                                      </p:to>
                                    </p:set>
                                    <p:animEffect transition="in" filter="dissolve">
                                      <p:cBhvr>
                                        <p:cTn id="27" dur="500"/>
                                        <p:tgtEl>
                                          <p:spTgt spid="1554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04" grpId="0" bldLvl="0" animBg="1"/>
      <p:bldP spid="1554506" grpId="0"/>
      <p:bldP spid="1554507" grpId="0"/>
      <p:bldP spid="1554511" grpId="0" bldLvl="0" animBg="1"/>
      <p:bldP spid="155451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1" name="AutoShape 13335"/>
          <p:cNvSpPr/>
          <p:nvPr/>
        </p:nvSpPr>
        <p:spPr>
          <a:xfrm>
            <a:off x="2882900" y="4044950"/>
            <a:ext cx="3597275" cy="854075"/>
          </a:xfrm>
          <a:prstGeom prst="wedgeRoundRectCallout">
            <a:avLst>
              <a:gd name="adj1" fmla="val -78157"/>
              <a:gd name="adj2" fmla="val -76023"/>
              <a:gd name="adj3" fmla="val 16667"/>
            </a:avLst>
          </a:prstGeom>
          <a:solidFill>
            <a:schemeClr val="accent1"/>
          </a:solidFill>
          <a:ln w="9525" cap="flat" cmpd="sng">
            <a:solidFill>
              <a:schemeClr val="tx1"/>
            </a:solidFill>
            <a:prstDash val="solid"/>
            <a:miter/>
            <a:headEnd type="none" w="med" len="med"/>
            <a:tailEnd type="none" w="sm" len="lg"/>
          </a:ln>
          <a:effectLst>
            <a:outerShdw dist="107763" dir="13499999" algn="ctr" rotWithShape="0">
              <a:schemeClr val="bg2"/>
            </a:outerShdw>
          </a:effectLst>
        </p:spPr>
        <p:txBody>
          <a:bodyPr anchor="ctr" anchorCtr="0"/>
          <a:p>
            <a:pPr algn="ctr" eaLnBrk="1" hangingPunct="1"/>
            <a:r>
              <a:rPr lang="zh-CN" altLang="en-US" sz="2800" b="1" dirty="0">
                <a:solidFill>
                  <a:srgbClr val="FF0000"/>
                </a:solidFill>
                <a:latin typeface="楷体_GB2312" pitchFamily="49" charset="-122"/>
              </a:rPr>
              <a:t>幅值仍然是连续的模拟信号</a:t>
            </a:r>
            <a:endParaRPr lang="zh-CN" altLang="en-US" sz="2800" b="1" dirty="0">
              <a:solidFill>
                <a:srgbClr val="FF0000"/>
              </a:solidFill>
              <a:latin typeface="楷体_GB2312" pitchFamily="49" charset="-122"/>
            </a:endParaRPr>
          </a:p>
        </p:txBody>
      </p:sp>
      <p:sp>
        <p:nvSpPr>
          <p:cNvPr id="2244618" name="Text Box 13322"/>
          <p:cNvSpPr txBox="1"/>
          <p:nvPr/>
        </p:nvSpPr>
        <p:spPr>
          <a:xfrm>
            <a:off x="179388" y="857250"/>
            <a:ext cx="8821737" cy="579438"/>
          </a:xfrm>
          <a:prstGeom prst="rect">
            <a:avLst/>
          </a:prstGeom>
          <a:solidFill>
            <a:srgbClr val="99CCFF"/>
          </a:solidFill>
          <a:ln w="9525">
            <a:noFill/>
          </a:ln>
        </p:spPr>
        <p:txBody>
          <a:bodyPr>
            <a:spAutoFit/>
          </a:bodyPr>
          <a:p>
            <a:pPr algn="l" eaLnBrk="1" hangingPunct="1"/>
            <a:r>
              <a:rPr lang="zh-CN" altLang="en-US" sz="3200" b="1" dirty="0">
                <a:solidFill>
                  <a:srgbClr val="333399"/>
                </a:solidFill>
                <a:latin typeface="楷体_GB2312" pitchFamily="49" charset="-122"/>
              </a:rPr>
              <a:t>模拟信号转换成数字信号，经历两个断续过程： </a:t>
            </a:r>
            <a:endParaRPr lang="zh-CN" altLang="en-US" sz="3200" b="1" dirty="0">
              <a:solidFill>
                <a:srgbClr val="333399"/>
              </a:solidFill>
              <a:latin typeface="楷体_GB2312" pitchFamily="49" charset="-122"/>
            </a:endParaRPr>
          </a:p>
        </p:txBody>
      </p:sp>
      <p:sp>
        <p:nvSpPr>
          <p:cNvPr id="2244620" name="Text Box 13324"/>
          <p:cNvSpPr txBox="1"/>
          <p:nvPr/>
        </p:nvSpPr>
        <p:spPr>
          <a:xfrm>
            <a:off x="1042988" y="1520825"/>
            <a:ext cx="4129087" cy="579438"/>
          </a:xfrm>
          <a:prstGeom prst="rect">
            <a:avLst/>
          </a:prstGeom>
          <a:noFill/>
          <a:ln w="9525">
            <a:noFill/>
          </a:ln>
        </p:spPr>
        <p:txBody>
          <a:bodyPr>
            <a:spAutoFit/>
          </a:bodyPr>
          <a:p>
            <a:pPr algn="l" eaLnBrk="1" hangingPunct="1">
              <a:buClr>
                <a:srgbClr val="FF0000"/>
              </a:buClr>
              <a:buFont typeface="Wingdings" panose="05000000000000000000" pitchFamily="2" charset="2"/>
            </a:pPr>
            <a:r>
              <a:rPr lang="en-US" altLang="zh-CN" sz="3200" b="1">
                <a:solidFill>
                  <a:srgbClr val="3333FF"/>
                </a:solidFill>
                <a:latin typeface="黑体" panose="02010609060101010101" pitchFamily="49" charset="-122"/>
                <a:ea typeface="黑体" panose="02010609060101010101" pitchFamily="49" charset="-122"/>
              </a:rPr>
              <a:t>1.</a:t>
            </a:r>
            <a:r>
              <a:rPr lang="zh-CN" altLang="en-US" sz="3200" b="1" dirty="0">
                <a:solidFill>
                  <a:srgbClr val="3333FF"/>
                </a:solidFill>
                <a:latin typeface="黑体" panose="02010609060101010101" pitchFamily="49" charset="-122"/>
                <a:ea typeface="黑体" panose="02010609060101010101" pitchFamily="49" charset="-122"/>
              </a:rPr>
              <a:t>时间断续：</a:t>
            </a:r>
            <a:r>
              <a:rPr lang="zh-CN" altLang="en-US" sz="3200" b="1" dirty="0">
                <a:solidFill>
                  <a:srgbClr val="FF0000"/>
                </a:solidFill>
                <a:latin typeface="黑体" panose="02010609060101010101" pitchFamily="49" charset="-122"/>
                <a:ea typeface="黑体" panose="02010609060101010101" pitchFamily="49" charset="-122"/>
              </a:rPr>
              <a:t>采样</a:t>
            </a:r>
            <a:endParaRPr lang="zh-CN" altLang="en-US" sz="3200" b="1" dirty="0">
              <a:solidFill>
                <a:srgbClr val="FF0000"/>
              </a:solidFill>
              <a:latin typeface="黑体" panose="02010609060101010101" pitchFamily="49" charset="-122"/>
              <a:ea typeface="黑体" panose="02010609060101010101" pitchFamily="49" charset="-122"/>
            </a:endParaRPr>
          </a:p>
        </p:txBody>
      </p:sp>
      <p:sp>
        <p:nvSpPr>
          <p:cNvPr id="2244621" name="Text Box 13325"/>
          <p:cNvSpPr txBox="1"/>
          <p:nvPr/>
        </p:nvSpPr>
        <p:spPr>
          <a:xfrm>
            <a:off x="1042988" y="3962400"/>
            <a:ext cx="5761037" cy="579438"/>
          </a:xfrm>
          <a:prstGeom prst="rect">
            <a:avLst/>
          </a:prstGeom>
          <a:noFill/>
          <a:ln w="9525">
            <a:noFill/>
          </a:ln>
        </p:spPr>
        <p:txBody>
          <a:bodyPr>
            <a:spAutoFit/>
          </a:bodyPr>
          <a:p>
            <a:pPr algn="l" eaLnBrk="1" hangingPunct="1">
              <a:buClr>
                <a:srgbClr val="FF0000"/>
              </a:buClr>
              <a:buFont typeface="Wingdings" panose="05000000000000000000" pitchFamily="2" charset="2"/>
            </a:pPr>
            <a:r>
              <a:rPr lang="en-US" altLang="zh-CN" sz="3200" b="1">
                <a:solidFill>
                  <a:srgbClr val="3333FF"/>
                </a:solidFill>
                <a:latin typeface="黑体" panose="02010609060101010101" pitchFamily="49" charset="-122"/>
                <a:ea typeface="黑体" panose="02010609060101010101" pitchFamily="49" charset="-122"/>
              </a:rPr>
              <a:t>2.</a:t>
            </a:r>
            <a:r>
              <a:rPr lang="zh-CN" altLang="en-US" sz="3200" b="1" dirty="0">
                <a:solidFill>
                  <a:srgbClr val="3333FF"/>
                </a:solidFill>
                <a:latin typeface="黑体" panose="02010609060101010101" pitchFamily="49" charset="-122"/>
                <a:ea typeface="黑体" panose="02010609060101010101" pitchFamily="49" charset="-122"/>
              </a:rPr>
              <a:t>数值断续：</a:t>
            </a:r>
            <a:r>
              <a:rPr lang="zh-CN" altLang="en-US" sz="3200" b="1" dirty="0">
                <a:solidFill>
                  <a:srgbClr val="FF0000"/>
                </a:solidFill>
                <a:latin typeface="黑体" panose="02010609060101010101" pitchFamily="49" charset="-122"/>
                <a:ea typeface="黑体" panose="02010609060101010101" pitchFamily="49" charset="-122"/>
              </a:rPr>
              <a:t>量化、编码</a:t>
            </a:r>
            <a:endParaRPr lang="zh-CN" altLang="en-US" sz="3200" b="1" dirty="0">
              <a:solidFill>
                <a:srgbClr val="FF0000"/>
              </a:solidFill>
              <a:latin typeface="黑体" panose="02010609060101010101" pitchFamily="49" charset="-122"/>
              <a:ea typeface="黑体" panose="02010609060101010101" pitchFamily="49" charset="-122"/>
            </a:endParaRPr>
          </a:p>
        </p:txBody>
      </p:sp>
      <p:sp>
        <p:nvSpPr>
          <p:cNvPr id="2244628" name="Text Box 13332"/>
          <p:cNvSpPr txBox="1">
            <a:spLocks noChangeArrowheads="1"/>
          </p:cNvSpPr>
          <p:nvPr/>
        </p:nvSpPr>
        <p:spPr bwMode="auto">
          <a:xfrm>
            <a:off x="3387725" y="155575"/>
            <a:ext cx="21780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2.1</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概述</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44629" name="Text Box 1333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4630" name="Text Box 13334"/>
          <p:cNvSpPr txBox="1"/>
          <p:nvPr/>
        </p:nvSpPr>
        <p:spPr>
          <a:xfrm>
            <a:off x="611188" y="2125663"/>
            <a:ext cx="8280400" cy="822325"/>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黑体" panose="02010609060101010101" pitchFamily="49" charset="-122"/>
                <a:ea typeface="黑体" panose="02010609060101010101" pitchFamily="49" charset="-122"/>
              </a:rPr>
              <a:t>对连续的模拟信号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Arial Unicode MS" panose="020B0604020202020204" pitchFamily="34" charset="-122"/>
              </a:rPr>
              <a:t>)</a:t>
            </a:r>
            <a:r>
              <a:rPr lang="zh-CN" altLang="en-US" sz="2400" b="1" dirty="0">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按照一定的时间间隔</a:t>
            </a:r>
            <a:r>
              <a:rPr lang="en-US" altLang="zh-CN" sz="2400" b="1" i="1">
                <a:solidFill>
                  <a:srgbClr val="FF0000"/>
                </a:solidFill>
                <a:latin typeface="Times New Roman" panose="02020603050405020304" pitchFamily="18" charset="0"/>
                <a:ea typeface="黑体" panose="02010609060101010101" pitchFamily="49" charset="-122"/>
              </a:rPr>
              <a:t>T</a:t>
            </a:r>
            <a:r>
              <a:rPr lang="en-US" altLang="zh-CN" sz="2400" b="1" baseline="-25000">
                <a:solidFill>
                  <a:srgbClr val="FF0000"/>
                </a:solidFill>
                <a:latin typeface="Times New Roman" panose="02020603050405020304" pitchFamily="18" charset="0"/>
                <a:ea typeface="黑体" panose="02010609060101010101" pitchFamily="49" charset="-122"/>
              </a:rPr>
              <a:t>S</a:t>
            </a:r>
            <a:r>
              <a:rPr lang="zh-CN" altLang="en-US" sz="2400" b="1" dirty="0">
                <a:solidFill>
                  <a:schemeClr val="tx1"/>
                </a:solidFill>
                <a:latin typeface="黑体" panose="02010609060101010101" pitchFamily="49" charset="-122"/>
                <a:ea typeface="黑体" panose="02010609060101010101" pitchFamily="49" charset="-122"/>
              </a:rPr>
              <a:t>，抽取相应的瞬时值（也就是通常所说的离散化），这个过程称为采样。</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44632" name="Text Box 13336"/>
          <p:cNvSpPr txBox="1"/>
          <p:nvPr/>
        </p:nvSpPr>
        <p:spPr>
          <a:xfrm>
            <a:off x="611188" y="4683125"/>
            <a:ext cx="8280400" cy="822325"/>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黑体" panose="02010609060101010101" pitchFamily="49" charset="-122"/>
                <a:ea typeface="黑体" panose="02010609060101010101" pitchFamily="49" charset="-122"/>
              </a:rPr>
              <a:t>把采样信号</a:t>
            </a:r>
            <a:r>
              <a:rPr lang="en-US" altLang="zh-CN" sz="2400" b="1" i="1" err="1">
                <a:solidFill>
                  <a:srgbClr val="FF0000"/>
                </a:solidFill>
                <a:latin typeface="Times New Roman" panose="02020603050405020304" pitchFamily="18" charset="0"/>
              </a:rPr>
              <a:t>x</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err="1">
                <a:solidFill>
                  <a:srgbClr val="FF0000"/>
                </a:solidFill>
                <a:latin typeface="Times New Roman" panose="02020603050405020304" pitchFamily="18" charset="0"/>
              </a:rPr>
              <a:t>(</a:t>
            </a:r>
            <a:r>
              <a:rPr lang="en-US" altLang="zh-CN" sz="2400" b="1" i="1" err="1">
                <a:solidFill>
                  <a:srgbClr val="FF0000"/>
                </a:solidFill>
                <a:latin typeface="Times New Roman" panose="02020603050405020304" pitchFamily="18" charset="0"/>
              </a:rPr>
              <a:t>nT</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a:solidFill>
                  <a:srgbClr val="FF0000"/>
                </a:solidFill>
                <a:latin typeface="Times New Roman" panose="02020603050405020304" pitchFamily="18" charset="0"/>
              </a:rPr>
              <a:t>)</a:t>
            </a:r>
            <a:r>
              <a:rPr lang="zh-CN" altLang="en-US" sz="2400" b="1" dirty="0">
                <a:solidFill>
                  <a:schemeClr val="tx1"/>
                </a:solidFill>
                <a:latin typeface="Times New Roman" panose="02020603050405020304" pitchFamily="18" charset="0"/>
                <a:ea typeface="黑体" panose="02010609060101010101" pitchFamily="49" charset="-122"/>
              </a:rPr>
              <a:t>以某个最小数量单位的整数倍来度量，这个过程称为量化。量化后，变为量化信号</a:t>
            </a:r>
            <a:r>
              <a:rPr lang="en-US" altLang="zh-CN" sz="2400" b="1" i="1" err="1">
                <a:solidFill>
                  <a:srgbClr val="FF0000"/>
                </a:solidFill>
                <a:latin typeface="Times New Roman" panose="02020603050405020304" pitchFamily="18" charset="0"/>
              </a:rPr>
              <a:t>x</a:t>
            </a:r>
            <a:r>
              <a:rPr lang="en-US" altLang="zh-CN" sz="2400" b="1" baseline="-25000" err="1">
                <a:solidFill>
                  <a:srgbClr val="FF0000"/>
                </a:solidFill>
                <a:latin typeface="Times New Roman" panose="02020603050405020304" pitchFamily="18" charset="0"/>
                <a:ea typeface="黑体" panose="02010609060101010101" pitchFamily="49" charset="-122"/>
              </a:rPr>
              <a:t>q</a:t>
            </a:r>
            <a:r>
              <a:rPr lang="en-US" altLang="zh-CN" sz="2400" b="1" err="1">
                <a:solidFill>
                  <a:srgbClr val="FF0000"/>
                </a:solidFill>
                <a:latin typeface="Times New Roman" panose="02020603050405020304" pitchFamily="18" charset="0"/>
              </a:rPr>
              <a:t>(</a:t>
            </a:r>
            <a:r>
              <a:rPr lang="en-US" altLang="zh-CN" sz="2400" b="1" i="1" err="1">
                <a:solidFill>
                  <a:srgbClr val="FF0000"/>
                </a:solidFill>
                <a:latin typeface="Times New Roman" panose="02020603050405020304" pitchFamily="18" charset="0"/>
              </a:rPr>
              <a:t>nT</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a:solidFill>
                  <a:srgbClr val="FF0000"/>
                </a:solidFill>
                <a:latin typeface="Times New Roman" panose="02020603050405020304" pitchFamily="18" charset="0"/>
              </a:rPr>
              <a:t>)</a:t>
            </a:r>
            <a:r>
              <a:rPr lang="zh-CN" altLang="en-US" sz="2400" b="1" dirty="0">
                <a:solidFill>
                  <a:schemeClr val="tx1"/>
                </a:solidFill>
                <a:latin typeface="Times New Roman" panose="02020603050405020304" pitchFamily="18" charset="0"/>
                <a:ea typeface="黑体" panose="02010609060101010101" pitchFamily="49" charset="-122"/>
              </a:rPr>
              <a:t>。</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44633" name="Rectangle 13337"/>
          <p:cNvSpPr/>
          <p:nvPr/>
        </p:nvSpPr>
        <p:spPr>
          <a:xfrm>
            <a:off x="611188" y="3068638"/>
            <a:ext cx="8280400" cy="822325"/>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黑体" panose="02010609060101010101" pitchFamily="49" charset="-122"/>
                <a:ea typeface="黑体" panose="02010609060101010101" pitchFamily="49" charset="-122"/>
              </a:rPr>
              <a:t>连续的模拟信号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经采样过程后转换为时间上离散的模拟信号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nT</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，简称为采样信号。</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44634" name="Text Box 13338"/>
          <p:cNvSpPr txBox="1"/>
          <p:nvPr/>
        </p:nvSpPr>
        <p:spPr>
          <a:xfrm>
            <a:off x="611188" y="5624513"/>
            <a:ext cx="7740650" cy="45720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量化信号经过编码，转换为离散的数字信号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n</a:t>
            </a:r>
            <a:r>
              <a:rPr lang="en-US" altLang="zh-CN" sz="2400" b="1">
                <a:solidFill>
                  <a:srgbClr val="FF0000"/>
                </a:solidFill>
                <a:latin typeface="Times New Roman" panose="02020603050405020304" pitchFamily="18" charset="0"/>
                <a:ea typeface="黑体" panose="02010609060101010101" pitchFamily="49" charset="-122"/>
              </a:rPr>
              <a:t>) </a:t>
            </a:r>
            <a:r>
              <a:rPr lang="zh-CN" altLang="en-US" sz="2400" b="1" dirty="0">
                <a:solidFill>
                  <a:schemeClr val="tx1"/>
                </a:solidFill>
                <a:latin typeface="黑体" panose="02010609060101010101" pitchFamily="49" charset="-122"/>
                <a:ea typeface="黑体" panose="02010609060101010101" pitchFamily="49" charset="-122"/>
              </a:rPr>
              <a:t>。</a:t>
            </a:r>
            <a:endParaRPr lang="zh-CN" altLang="en-US" sz="2400" b="1"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18"/>
                                        </p:tgtEl>
                                        <p:attrNameLst>
                                          <p:attrName>style.visibility</p:attrName>
                                        </p:attrNameLst>
                                      </p:cBhvr>
                                      <p:to>
                                        <p:strVal val="visible"/>
                                      </p:to>
                                    </p:set>
                                    <p:animEffect transition="in" filter="dissolve">
                                      <p:cBhvr>
                                        <p:cTn id="7" dur="500"/>
                                        <p:tgtEl>
                                          <p:spTgt spid="22446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4620"/>
                                        </p:tgtEl>
                                        <p:attrNameLst>
                                          <p:attrName>style.visibility</p:attrName>
                                        </p:attrNameLst>
                                      </p:cBhvr>
                                      <p:to>
                                        <p:strVal val="visible"/>
                                      </p:to>
                                    </p:set>
                                    <p:animEffect transition="in" filter="dissolve">
                                      <p:cBhvr>
                                        <p:cTn id="12" dur="500"/>
                                        <p:tgtEl>
                                          <p:spTgt spid="22446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44630"/>
                                        </p:tgtEl>
                                        <p:attrNameLst>
                                          <p:attrName>style.visibility</p:attrName>
                                        </p:attrNameLst>
                                      </p:cBhvr>
                                      <p:to>
                                        <p:strVal val="visible"/>
                                      </p:to>
                                    </p:set>
                                    <p:animEffect transition="in" filter="dissolve">
                                      <p:cBhvr>
                                        <p:cTn id="17" dur="500"/>
                                        <p:tgtEl>
                                          <p:spTgt spid="224463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44633"/>
                                        </p:tgtEl>
                                        <p:attrNameLst>
                                          <p:attrName>style.visibility</p:attrName>
                                        </p:attrNameLst>
                                      </p:cBhvr>
                                      <p:to>
                                        <p:strVal val="visible"/>
                                      </p:to>
                                    </p:set>
                                    <p:animEffect transition="in" filter="dissolve">
                                      <p:cBhvr>
                                        <p:cTn id="22" dur="500"/>
                                        <p:tgtEl>
                                          <p:spTgt spid="224463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44631"/>
                                        </p:tgtEl>
                                        <p:attrNameLst>
                                          <p:attrName>style.visibility</p:attrName>
                                        </p:attrNameLst>
                                      </p:cBhvr>
                                      <p:to>
                                        <p:strVal val="visible"/>
                                      </p:to>
                                    </p:set>
                                    <p:animEffect transition="in" filter="dissolve">
                                      <p:cBhvr>
                                        <p:cTn id="27" dur="500"/>
                                        <p:tgtEl>
                                          <p:spTgt spid="224463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1" nodeType="clickEffect">
                                  <p:stCondLst>
                                    <p:cond delay="0"/>
                                  </p:stCondLst>
                                  <p:childTnLst>
                                    <p:animEffect transition="out" filter="dissolve">
                                      <p:cBhvr>
                                        <p:cTn id="31" dur="500"/>
                                        <p:tgtEl>
                                          <p:spTgt spid="2244631"/>
                                        </p:tgtEl>
                                      </p:cBhvr>
                                    </p:animEffect>
                                    <p:set>
                                      <p:cBhvr>
                                        <p:cTn id="32" dur="1" fill="hold">
                                          <p:stCondLst>
                                            <p:cond delay="499"/>
                                          </p:stCondLst>
                                        </p:cTn>
                                        <p:tgtEl>
                                          <p:spTgt spid="2244631"/>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244621"/>
                                        </p:tgtEl>
                                        <p:attrNameLst>
                                          <p:attrName>style.visibility</p:attrName>
                                        </p:attrNameLst>
                                      </p:cBhvr>
                                      <p:to>
                                        <p:strVal val="visible"/>
                                      </p:to>
                                    </p:set>
                                    <p:animEffect transition="in" filter="dissolve">
                                      <p:cBhvr>
                                        <p:cTn id="37" dur="500"/>
                                        <p:tgtEl>
                                          <p:spTgt spid="224462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2244632"/>
                                        </p:tgtEl>
                                        <p:attrNameLst>
                                          <p:attrName>style.visibility</p:attrName>
                                        </p:attrNameLst>
                                      </p:cBhvr>
                                      <p:to>
                                        <p:strVal val="visible"/>
                                      </p:to>
                                    </p:set>
                                    <p:animEffect transition="in" filter="dissolve">
                                      <p:cBhvr>
                                        <p:cTn id="42" dur="500"/>
                                        <p:tgtEl>
                                          <p:spTgt spid="2244632"/>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244634"/>
                                        </p:tgtEl>
                                        <p:attrNameLst>
                                          <p:attrName>style.visibility</p:attrName>
                                        </p:attrNameLst>
                                      </p:cBhvr>
                                      <p:to>
                                        <p:strVal val="visible"/>
                                      </p:to>
                                    </p:set>
                                    <p:animEffect transition="in" filter="dissolve">
                                      <p:cBhvr>
                                        <p:cTn id="47" dur="500"/>
                                        <p:tgtEl>
                                          <p:spTgt spid="22446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1" grpId="0" bldLvl="0" animBg="1"/>
      <p:bldP spid="2244631" grpId="1" bldLvl="0" animBg="1"/>
      <p:bldP spid="2244618" grpId="0" bldLvl="0" animBg="1"/>
      <p:bldP spid="2244620" grpId="0"/>
      <p:bldP spid="2244621" grpId="0"/>
      <p:bldP spid="2244630" grpId="0"/>
      <p:bldP spid="2244632" grpId="0"/>
      <p:bldP spid="2244633" grpId="0"/>
      <p:bldP spid="224463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5679" name="Text Box 1071"/>
          <p:cNvSpPr txBox="1"/>
          <p:nvPr/>
        </p:nvSpPr>
        <p:spPr>
          <a:xfrm>
            <a:off x="1827213" y="1912938"/>
            <a:ext cx="623887" cy="420687"/>
          </a:xfrm>
          <a:prstGeom prst="rect">
            <a:avLst/>
          </a:prstGeom>
          <a:noFill/>
          <a:ln w="9525">
            <a:noFill/>
          </a:ln>
        </p:spPr>
        <p:txBody>
          <a:bodyPr wrap="none">
            <a:spAutoFit/>
          </a:bodyPr>
          <a:p>
            <a:pPr algn="l" eaLnBrk="1" hangingPunct="1">
              <a:lnSpc>
                <a:spcPct val="90000"/>
              </a:lnSpc>
            </a:pPr>
            <a:r>
              <a:rPr lang="en-US" altLang="zh-CN" sz="2400" b="1" i="1" err="1">
                <a:solidFill>
                  <a:srgbClr val="333399"/>
                </a:solidFill>
                <a:latin typeface="Times New Roman" panose="02020603050405020304" pitchFamily="18" charset="0"/>
              </a:rPr>
              <a:t>x</a:t>
            </a:r>
            <a:r>
              <a:rPr lang="en-US" altLang="zh-CN" sz="2400" b="1" err="1">
                <a:solidFill>
                  <a:srgbClr val="333399"/>
                </a:solidFill>
                <a:latin typeface="Times New Roman" panose="02020603050405020304" pitchFamily="18" charset="0"/>
              </a:rPr>
              <a:t>(</a:t>
            </a:r>
            <a:r>
              <a:rPr lang="en-US" altLang="zh-CN" sz="2400" b="1" i="1" err="1">
                <a:solidFill>
                  <a:srgbClr val="333399"/>
                </a:solidFill>
                <a:latin typeface="Times New Roman" panose="02020603050405020304" pitchFamily="18" charset="0"/>
              </a:rPr>
              <a:t>t</a:t>
            </a:r>
            <a:r>
              <a:rPr lang="en-US" altLang="zh-CN" sz="2400" b="1">
                <a:solidFill>
                  <a:srgbClr val="333399"/>
                </a:solidFill>
                <a:latin typeface="Times New Roman" panose="02020603050405020304" pitchFamily="18" charset="0"/>
              </a:rPr>
              <a:t>)</a:t>
            </a:r>
            <a:endParaRPr lang="en-US" altLang="zh-CN" sz="2400" b="1">
              <a:solidFill>
                <a:srgbClr val="333399"/>
              </a:solidFill>
              <a:latin typeface="Times New Roman" panose="02020603050405020304" pitchFamily="18" charset="0"/>
            </a:endParaRPr>
          </a:p>
        </p:txBody>
      </p:sp>
      <p:sp>
        <p:nvSpPr>
          <p:cNvPr id="2245680" name="Text Box 1072"/>
          <p:cNvSpPr txBox="1"/>
          <p:nvPr/>
        </p:nvSpPr>
        <p:spPr>
          <a:xfrm>
            <a:off x="1395413" y="2940050"/>
            <a:ext cx="1120775" cy="420688"/>
          </a:xfrm>
          <a:prstGeom prst="rect">
            <a:avLst/>
          </a:prstGeom>
          <a:noFill/>
          <a:ln w="9525">
            <a:noFill/>
          </a:ln>
        </p:spPr>
        <p:txBody>
          <a:bodyPr wrap="none">
            <a:spAutoFit/>
          </a:bodyPr>
          <a:p>
            <a:pPr algn="l" eaLnBrk="1" hangingPunct="1">
              <a:lnSpc>
                <a:spcPct val="90000"/>
              </a:lnSpc>
            </a:pPr>
            <a:r>
              <a:rPr lang="en-US" altLang="zh-CN" sz="2400" b="1" i="1" err="1">
                <a:solidFill>
                  <a:srgbClr val="333399"/>
                </a:solidFill>
                <a:latin typeface="Times New Roman" panose="02020603050405020304" pitchFamily="18" charset="0"/>
              </a:rPr>
              <a:t>x</a:t>
            </a:r>
            <a:r>
              <a:rPr lang="en-US" altLang="zh-CN" sz="2400" b="1" i="1" baseline="-25000" err="1">
                <a:solidFill>
                  <a:srgbClr val="333399"/>
                </a:solidFill>
                <a:latin typeface="Times New Roman" panose="02020603050405020304" pitchFamily="18" charset="0"/>
              </a:rPr>
              <a:t>S</a:t>
            </a:r>
            <a:r>
              <a:rPr lang="en-US" altLang="zh-CN" sz="2400" b="1" err="1">
                <a:solidFill>
                  <a:srgbClr val="333399"/>
                </a:solidFill>
                <a:latin typeface="Times New Roman" panose="02020603050405020304" pitchFamily="18" charset="0"/>
              </a:rPr>
              <a:t>(</a:t>
            </a:r>
            <a:r>
              <a:rPr lang="en-US" altLang="zh-CN" sz="2400" b="1" i="1" err="1">
                <a:solidFill>
                  <a:srgbClr val="333399"/>
                </a:solidFill>
                <a:latin typeface="Times New Roman" panose="02020603050405020304" pitchFamily="18" charset="0"/>
              </a:rPr>
              <a:t>nT</a:t>
            </a:r>
            <a:r>
              <a:rPr lang="en-US" altLang="zh-CN" sz="2400" b="1" i="1" baseline="-25000" err="1">
                <a:solidFill>
                  <a:srgbClr val="333399"/>
                </a:solidFill>
                <a:latin typeface="Times New Roman" panose="02020603050405020304" pitchFamily="18" charset="0"/>
              </a:rPr>
              <a:t>S</a:t>
            </a:r>
            <a:r>
              <a:rPr lang="en-US" altLang="zh-CN" sz="2400" b="1">
                <a:solidFill>
                  <a:srgbClr val="333399"/>
                </a:solidFill>
                <a:latin typeface="Times New Roman" panose="02020603050405020304" pitchFamily="18" charset="0"/>
              </a:rPr>
              <a:t>)</a:t>
            </a:r>
            <a:endParaRPr lang="en-US" altLang="zh-CN" sz="2400" b="1">
              <a:solidFill>
                <a:srgbClr val="333399"/>
              </a:solidFill>
              <a:latin typeface="Times New Roman" panose="02020603050405020304" pitchFamily="18" charset="0"/>
            </a:endParaRPr>
          </a:p>
        </p:txBody>
      </p:sp>
      <p:sp>
        <p:nvSpPr>
          <p:cNvPr id="2245681" name="Text Box 1073"/>
          <p:cNvSpPr txBox="1"/>
          <p:nvPr/>
        </p:nvSpPr>
        <p:spPr>
          <a:xfrm>
            <a:off x="1301750" y="3946525"/>
            <a:ext cx="1109663" cy="420688"/>
          </a:xfrm>
          <a:prstGeom prst="rect">
            <a:avLst/>
          </a:prstGeom>
          <a:noFill/>
          <a:ln w="9525">
            <a:noFill/>
          </a:ln>
        </p:spPr>
        <p:txBody>
          <a:bodyPr wrap="none">
            <a:spAutoFit/>
          </a:bodyPr>
          <a:p>
            <a:pPr algn="l" eaLnBrk="1" hangingPunct="1">
              <a:lnSpc>
                <a:spcPct val="90000"/>
              </a:lnSpc>
            </a:pPr>
            <a:r>
              <a:rPr lang="en-US" altLang="zh-CN" sz="2400" b="1" i="1" err="1">
                <a:solidFill>
                  <a:srgbClr val="333399"/>
                </a:solidFill>
                <a:latin typeface="Times New Roman" panose="02020603050405020304" pitchFamily="18" charset="0"/>
              </a:rPr>
              <a:t>x</a:t>
            </a:r>
            <a:r>
              <a:rPr lang="en-US" altLang="zh-CN" sz="2400" b="1" i="1" baseline="-25000" err="1">
                <a:solidFill>
                  <a:srgbClr val="333399"/>
                </a:solidFill>
                <a:latin typeface="Times New Roman" panose="02020603050405020304" pitchFamily="18" charset="0"/>
              </a:rPr>
              <a:t>q</a:t>
            </a:r>
            <a:r>
              <a:rPr lang="en-US" altLang="zh-CN" sz="2400" b="1" err="1">
                <a:solidFill>
                  <a:srgbClr val="333399"/>
                </a:solidFill>
                <a:latin typeface="Times New Roman" panose="02020603050405020304" pitchFamily="18" charset="0"/>
              </a:rPr>
              <a:t>(</a:t>
            </a:r>
            <a:r>
              <a:rPr lang="en-US" altLang="zh-CN" sz="2400" b="1" i="1" err="1">
                <a:solidFill>
                  <a:srgbClr val="333399"/>
                </a:solidFill>
                <a:latin typeface="Times New Roman" panose="02020603050405020304" pitchFamily="18" charset="0"/>
              </a:rPr>
              <a:t>nT</a:t>
            </a:r>
            <a:r>
              <a:rPr lang="en-US" altLang="zh-CN" sz="2400" b="1" i="1" baseline="-25000" err="1">
                <a:solidFill>
                  <a:srgbClr val="333399"/>
                </a:solidFill>
                <a:latin typeface="Times New Roman" panose="02020603050405020304" pitchFamily="18" charset="0"/>
              </a:rPr>
              <a:t>S</a:t>
            </a:r>
            <a:r>
              <a:rPr lang="en-US" altLang="zh-CN" sz="2400" b="1">
                <a:solidFill>
                  <a:srgbClr val="333399"/>
                </a:solidFill>
                <a:latin typeface="Times New Roman" panose="02020603050405020304" pitchFamily="18" charset="0"/>
              </a:rPr>
              <a:t>)</a:t>
            </a:r>
            <a:endParaRPr lang="en-US" altLang="zh-CN" sz="2400" b="1">
              <a:solidFill>
                <a:srgbClr val="333399"/>
              </a:solidFill>
              <a:latin typeface="Times New Roman" panose="02020603050405020304" pitchFamily="18" charset="0"/>
            </a:endParaRPr>
          </a:p>
        </p:txBody>
      </p:sp>
      <p:sp>
        <p:nvSpPr>
          <p:cNvPr id="2245682" name="Text Box 1074"/>
          <p:cNvSpPr txBox="1"/>
          <p:nvPr/>
        </p:nvSpPr>
        <p:spPr>
          <a:xfrm>
            <a:off x="1644650" y="4978400"/>
            <a:ext cx="798513" cy="420688"/>
          </a:xfrm>
          <a:prstGeom prst="rect">
            <a:avLst/>
          </a:prstGeom>
          <a:noFill/>
          <a:ln w="9525">
            <a:noFill/>
          </a:ln>
        </p:spPr>
        <p:txBody>
          <a:bodyPr>
            <a:spAutoFit/>
          </a:bodyPr>
          <a:p>
            <a:pPr algn="l" eaLnBrk="1" hangingPunct="1">
              <a:lnSpc>
                <a:spcPct val="90000"/>
              </a:lnSpc>
            </a:pPr>
            <a:r>
              <a:rPr lang="en-US" altLang="zh-CN" sz="2400" b="1" i="1" err="1">
                <a:solidFill>
                  <a:srgbClr val="333399"/>
                </a:solidFill>
                <a:latin typeface="Times New Roman" panose="02020603050405020304" pitchFamily="18" charset="0"/>
              </a:rPr>
              <a:t>x</a:t>
            </a:r>
            <a:r>
              <a:rPr lang="en-US" altLang="zh-CN" sz="2400" b="1" err="1">
                <a:solidFill>
                  <a:srgbClr val="333399"/>
                </a:solidFill>
                <a:latin typeface="Times New Roman" panose="02020603050405020304" pitchFamily="18" charset="0"/>
              </a:rPr>
              <a:t>(</a:t>
            </a:r>
            <a:r>
              <a:rPr lang="en-US" altLang="zh-CN" sz="2400" b="1" i="1" err="1">
                <a:solidFill>
                  <a:srgbClr val="333399"/>
                </a:solidFill>
                <a:latin typeface="Times New Roman" panose="02020603050405020304" pitchFamily="18" charset="0"/>
              </a:rPr>
              <a:t>n</a:t>
            </a:r>
            <a:r>
              <a:rPr lang="en-US" altLang="zh-CN" sz="2400" b="1">
                <a:solidFill>
                  <a:srgbClr val="333399"/>
                </a:solidFill>
                <a:latin typeface="Times New Roman" panose="02020603050405020304" pitchFamily="18" charset="0"/>
              </a:rPr>
              <a:t>)</a:t>
            </a:r>
            <a:endParaRPr lang="en-US" altLang="zh-CN" sz="2400" b="1">
              <a:solidFill>
                <a:srgbClr val="333399"/>
              </a:solidFill>
              <a:latin typeface="Times New Roman" panose="02020603050405020304" pitchFamily="18" charset="0"/>
            </a:endParaRPr>
          </a:p>
        </p:txBody>
      </p:sp>
      <p:sp>
        <p:nvSpPr>
          <p:cNvPr id="2245686" name="AutoShape 1078"/>
          <p:cNvSpPr/>
          <p:nvPr/>
        </p:nvSpPr>
        <p:spPr>
          <a:xfrm flipH="1">
            <a:off x="2992438" y="1905000"/>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5687" name="AutoShape 1079"/>
          <p:cNvSpPr/>
          <p:nvPr/>
        </p:nvSpPr>
        <p:spPr>
          <a:xfrm flipH="1">
            <a:off x="2998788" y="2905125"/>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05" name="Group 1097"/>
          <p:cNvGrpSpPr/>
          <p:nvPr/>
        </p:nvGrpSpPr>
        <p:grpSpPr>
          <a:xfrm>
            <a:off x="2439988" y="2500313"/>
            <a:ext cx="1271587" cy="396875"/>
            <a:chOff x="1537" y="1319"/>
            <a:chExt cx="801" cy="250"/>
          </a:xfrm>
        </p:grpSpPr>
        <p:sp>
          <p:nvSpPr>
            <p:cNvPr id="5212" name="Rectangle 1076"/>
            <p:cNvSpPr/>
            <p:nvPr/>
          </p:nvSpPr>
          <p:spPr>
            <a:xfrm>
              <a:off x="1537" y="1319"/>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5213" name="Text Box 1080"/>
            <p:cNvSpPr txBox="1"/>
            <p:nvPr/>
          </p:nvSpPr>
          <p:spPr>
            <a:xfrm>
              <a:off x="1590" y="1342"/>
              <a:ext cx="696" cy="212"/>
            </a:xfrm>
            <a:prstGeom prst="rect">
              <a:avLst/>
            </a:prstGeom>
            <a:noFill/>
            <a:ln w="9525">
              <a:noFill/>
            </a:ln>
          </p:spPr>
          <p:txBody>
            <a:bodyPr wrap="none">
              <a:spAutoFit/>
            </a:bodyPr>
            <a:p>
              <a:pPr algn="ctr" eaLnBrk="1" hangingPunct="1"/>
              <a:r>
                <a:rPr lang="zh-CN" altLang="en-US" sz="1600" b="1" dirty="0">
                  <a:solidFill>
                    <a:srgbClr val="333399"/>
                  </a:solidFill>
                  <a:latin typeface="楷体_GB2312" pitchFamily="49" charset="-122"/>
                </a:rPr>
                <a:t>采样</a:t>
              </a:r>
              <a:r>
                <a:rPr lang="en-US" altLang="zh-CN" sz="1600" b="1">
                  <a:solidFill>
                    <a:srgbClr val="333399"/>
                  </a:solidFill>
                  <a:latin typeface="楷体_GB2312" pitchFamily="49" charset="-122"/>
                </a:rPr>
                <a:t>/</a:t>
              </a:r>
              <a:r>
                <a:rPr lang="zh-CN" altLang="en-US" sz="1600" b="1" dirty="0">
                  <a:solidFill>
                    <a:srgbClr val="333399"/>
                  </a:solidFill>
                  <a:latin typeface="楷体_GB2312" pitchFamily="49" charset="-122"/>
                </a:rPr>
                <a:t>保持</a:t>
              </a:r>
              <a:endParaRPr lang="zh-CN" altLang="en-US" sz="1600" b="1" dirty="0">
                <a:solidFill>
                  <a:srgbClr val="333399"/>
                </a:solidFill>
                <a:latin typeface="楷体_GB2312" pitchFamily="49" charset="-122"/>
              </a:endParaRPr>
            </a:p>
          </p:txBody>
        </p:sp>
      </p:grpSp>
      <p:grpSp>
        <p:nvGrpSpPr>
          <p:cNvPr id="2245755" name="Group 1147"/>
          <p:cNvGrpSpPr/>
          <p:nvPr/>
        </p:nvGrpSpPr>
        <p:grpSpPr>
          <a:xfrm>
            <a:off x="2420938" y="3513138"/>
            <a:ext cx="1271587" cy="396875"/>
            <a:chOff x="1525" y="1957"/>
            <a:chExt cx="801" cy="250"/>
          </a:xfrm>
        </p:grpSpPr>
        <p:sp>
          <p:nvSpPr>
            <p:cNvPr id="5210" name="Rectangle 1081"/>
            <p:cNvSpPr/>
            <p:nvPr/>
          </p:nvSpPr>
          <p:spPr>
            <a:xfrm>
              <a:off x="1525" y="1957"/>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5211" name="Text Box 1082"/>
            <p:cNvSpPr txBox="1"/>
            <p:nvPr/>
          </p:nvSpPr>
          <p:spPr>
            <a:xfrm>
              <a:off x="1738" y="1980"/>
              <a:ext cx="415"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量化</a:t>
              </a:r>
              <a:endParaRPr lang="zh-CN" altLang="en-US" sz="1600" b="1" dirty="0">
                <a:solidFill>
                  <a:srgbClr val="333399"/>
                </a:solidFill>
                <a:latin typeface="楷体_GB2312" pitchFamily="49" charset="-122"/>
              </a:endParaRPr>
            </a:p>
          </p:txBody>
        </p:sp>
      </p:grpSp>
      <p:sp>
        <p:nvSpPr>
          <p:cNvPr id="2245693" name="AutoShape 1085"/>
          <p:cNvSpPr/>
          <p:nvPr/>
        </p:nvSpPr>
        <p:spPr>
          <a:xfrm flipH="1">
            <a:off x="2978150" y="3917950"/>
            <a:ext cx="55563" cy="517525"/>
          </a:xfrm>
          <a:prstGeom prst="downArrow">
            <a:avLst>
              <a:gd name="adj1" fmla="val 50000"/>
              <a:gd name="adj2" fmla="val 232855"/>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56" name="Group 1148"/>
          <p:cNvGrpSpPr/>
          <p:nvPr/>
        </p:nvGrpSpPr>
        <p:grpSpPr>
          <a:xfrm>
            <a:off x="2400300" y="4513263"/>
            <a:ext cx="1271588" cy="396875"/>
            <a:chOff x="1512" y="2587"/>
            <a:chExt cx="801" cy="250"/>
          </a:xfrm>
        </p:grpSpPr>
        <p:sp>
          <p:nvSpPr>
            <p:cNvPr id="5208" name="Rectangle 1086"/>
            <p:cNvSpPr/>
            <p:nvPr/>
          </p:nvSpPr>
          <p:spPr>
            <a:xfrm>
              <a:off x="1512" y="2587"/>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5209" name="Text Box 1087"/>
            <p:cNvSpPr txBox="1"/>
            <p:nvPr/>
          </p:nvSpPr>
          <p:spPr>
            <a:xfrm>
              <a:off x="1724" y="2610"/>
              <a:ext cx="407"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编码</a:t>
              </a:r>
              <a:endParaRPr lang="zh-CN" altLang="en-US" sz="1600" b="1" dirty="0">
                <a:solidFill>
                  <a:srgbClr val="333399"/>
                </a:solidFill>
                <a:latin typeface="楷体_GB2312" pitchFamily="49" charset="-122"/>
              </a:endParaRPr>
            </a:p>
          </p:txBody>
        </p:sp>
      </p:grpSp>
      <p:sp>
        <p:nvSpPr>
          <p:cNvPr id="2245696" name="AutoShape 1088"/>
          <p:cNvSpPr/>
          <p:nvPr/>
        </p:nvSpPr>
        <p:spPr>
          <a:xfrm flipH="1">
            <a:off x="2970213" y="4918075"/>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57" name="Group 1149"/>
          <p:cNvGrpSpPr/>
          <p:nvPr/>
        </p:nvGrpSpPr>
        <p:grpSpPr>
          <a:xfrm>
            <a:off x="2366963" y="5516563"/>
            <a:ext cx="1271587" cy="396875"/>
            <a:chOff x="1491" y="3219"/>
            <a:chExt cx="801" cy="250"/>
          </a:xfrm>
        </p:grpSpPr>
        <p:sp>
          <p:nvSpPr>
            <p:cNvPr id="5206" name="Rectangle 1089"/>
            <p:cNvSpPr/>
            <p:nvPr/>
          </p:nvSpPr>
          <p:spPr>
            <a:xfrm>
              <a:off x="1491" y="3219"/>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5207" name="Text Box 1090"/>
            <p:cNvSpPr txBox="1"/>
            <p:nvPr/>
          </p:nvSpPr>
          <p:spPr>
            <a:xfrm>
              <a:off x="1646" y="3241"/>
              <a:ext cx="537"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计算机</a:t>
              </a:r>
              <a:endParaRPr lang="zh-CN" altLang="en-US" sz="1600" b="1" dirty="0">
                <a:solidFill>
                  <a:srgbClr val="333399"/>
                </a:solidFill>
                <a:latin typeface="楷体_GB2312" pitchFamily="49" charset="-122"/>
              </a:endParaRPr>
            </a:p>
          </p:txBody>
        </p:sp>
      </p:grpSp>
      <p:sp>
        <p:nvSpPr>
          <p:cNvPr id="2245700" name="Line 1092"/>
          <p:cNvSpPr/>
          <p:nvPr/>
        </p:nvSpPr>
        <p:spPr>
          <a:xfrm>
            <a:off x="3922713" y="2817813"/>
            <a:ext cx="874712" cy="292100"/>
          </a:xfrm>
          <a:prstGeom prst="line">
            <a:avLst/>
          </a:prstGeom>
          <a:ln w="12700" cap="flat" cmpd="sng">
            <a:solidFill>
              <a:srgbClr val="3333FF"/>
            </a:solidFill>
            <a:prstDash val="solid"/>
            <a:headEnd type="none" w="med" len="med"/>
            <a:tailEnd type="arrow" w="sm" len="lg"/>
          </a:ln>
        </p:spPr>
      </p:sp>
      <p:sp>
        <p:nvSpPr>
          <p:cNvPr id="2245701" name="Line 1093"/>
          <p:cNvSpPr/>
          <p:nvPr/>
        </p:nvSpPr>
        <p:spPr>
          <a:xfrm>
            <a:off x="3836988" y="3857625"/>
            <a:ext cx="874712" cy="292100"/>
          </a:xfrm>
          <a:prstGeom prst="line">
            <a:avLst/>
          </a:prstGeom>
          <a:ln w="12700" cap="flat" cmpd="sng">
            <a:solidFill>
              <a:srgbClr val="3333FF"/>
            </a:solidFill>
            <a:prstDash val="solid"/>
            <a:headEnd type="none" w="med" len="med"/>
            <a:tailEnd type="arrow" w="sm" len="lg"/>
          </a:ln>
        </p:spPr>
      </p:sp>
      <p:sp>
        <p:nvSpPr>
          <p:cNvPr id="2245702" name="Line 1094"/>
          <p:cNvSpPr/>
          <p:nvPr/>
        </p:nvSpPr>
        <p:spPr>
          <a:xfrm>
            <a:off x="3849688" y="4878388"/>
            <a:ext cx="874712" cy="292100"/>
          </a:xfrm>
          <a:prstGeom prst="line">
            <a:avLst/>
          </a:prstGeom>
          <a:ln w="12700" cap="flat" cmpd="sng">
            <a:solidFill>
              <a:srgbClr val="3333FF"/>
            </a:solidFill>
            <a:prstDash val="solid"/>
            <a:headEnd type="none" w="med" len="med"/>
            <a:tailEnd type="arrow" w="sm" len="lg"/>
          </a:ln>
        </p:spPr>
      </p:sp>
      <p:grpSp>
        <p:nvGrpSpPr>
          <p:cNvPr id="5239" name="组合 5238"/>
          <p:cNvGrpSpPr/>
          <p:nvPr/>
        </p:nvGrpSpPr>
        <p:grpSpPr>
          <a:xfrm>
            <a:off x="5110163" y="5076825"/>
            <a:ext cx="2978150" cy="1089025"/>
            <a:chOff x="3219" y="3198"/>
            <a:chExt cx="1876" cy="686"/>
          </a:xfrm>
        </p:grpSpPr>
        <p:sp>
          <p:nvSpPr>
            <p:cNvPr id="2245747" name="Line 1139"/>
            <p:cNvSpPr/>
            <p:nvPr/>
          </p:nvSpPr>
          <p:spPr>
            <a:xfrm>
              <a:off x="3606" y="3795"/>
              <a:ext cx="1344" cy="0"/>
            </a:xfrm>
            <a:prstGeom prst="line">
              <a:avLst/>
            </a:prstGeom>
            <a:ln w="9525" cap="flat" cmpd="sng">
              <a:solidFill>
                <a:srgbClr val="3333FF"/>
              </a:solidFill>
              <a:prstDash val="solid"/>
              <a:headEnd type="none" w="med" len="med"/>
              <a:tailEnd type="stealth" w="sm" len="lg"/>
            </a:ln>
          </p:spPr>
        </p:sp>
        <p:sp>
          <p:nvSpPr>
            <p:cNvPr id="2245748" name="Line 1140"/>
            <p:cNvSpPr/>
            <p:nvPr/>
          </p:nvSpPr>
          <p:spPr>
            <a:xfrm flipV="1">
              <a:off x="3606" y="3270"/>
              <a:ext cx="0" cy="525"/>
            </a:xfrm>
            <a:prstGeom prst="line">
              <a:avLst/>
            </a:prstGeom>
            <a:ln w="9525" cap="flat" cmpd="sng">
              <a:solidFill>
                <a:srgbClr val="3333FF"/>
              </a:solidFill>
              <a:prstDash val="solid"/>
              <a:headEnd type="none" w="med" len="med"/>
              <a:tailEnd type="stealth" w="sm" len="lg"/>
            </a:ln>
          </p:spPr>
        </p:sp>
        <p:sp>
          <p:nvSpPr>
            <p:cNvPr id="2245758" name="Text Box 1150"/>
            <p:cNvSpPr txBox="1"/>
            <p:nvPr/>
          </p:nvSpPr>
          <p:spPr>
            <a:xfrm>
              <a:off x="3219" y="3198"/>
              <a:ext cx="503" cy="214"/>
            </a:xfrm>
            <a:prstGeom prst="rect">
              <a:avLst/>
            </a:prstGeom>
            <a:noFill/>
            <a:ln w="9525">
              <a:noFill/>
            </a:ln>
          </p:spPr>
          <p:txBody>
            <a:bodyPr>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59" name="Text Box 1151"/>
            <p:cNvSpPr txBox="1"/>
            <p:nvPr/>
          </p:nvSpPr>
          <p:spPr>
            <a:xfrm>
              <a:off x="4942" y="3670"/>
              <a:ext cx="153" cy="214"/>
            </a:xfrm>
            <a:prstGeom prst="rect">
              <a:avLst/>
            </a:prstGeom>
            <a:noFill/>
            <a:ln w="9525">
              <a:noFill/>
            </a:ln>
          </p:spPr>
          <p:txBody>
            <a:bodyPr>
              <a:spAutoFit/>
            </a:bodyPr>
            <a:p>
              <a:pPr algn="l" eaLnBrk="1" hangingPunct="1">
                <a:lnSpc>
                  <a:spcPct val="90000"/>
                </a:lnSpc>
              </a:pPr>
              <a:r>
                <a:rPr lang="en-US" altLang="zh-CN" sz="1800" b="1" i="1">
                  <a:solidFill>
                    <a:srgbClr val="333399"/>
                  </a:solidFill>
                  <a:latin typeface="Times New Roman" panose="02020603050405020304" pitchFamily="18" charset="0"/>
                </a:rPr>
                <a:t>n</a:t>
              </a:r>
              <a:endParaRPr lang="en-US" altLang="zh-CN" sz="1800" b="1" i="1">
                <a:solidFill>
                  <a:srgbClr val="333399"/>
                </a:solidFill>
                <a:latin typeface="Times New Roman" panose="02020603050405020304" pitchFamily="18" charset="0"/>
              </a:endParaRPr>
            </a:p>
          </p:txBody>
        </p:sp>
        <p:sp>
          <p:nvSpPr>
            <p:cNvPr id="2245760" name="Line 1152"/>
            <p:cNvSpPr/>
            <p:nvPr/>
          </p:nvSpPr>
          <p:spPr>
            <a:xfrm flipV="1">
              <a:off x="3790" y="3745"/>
              <a:ext cx="0" cy="50"/>
            </a:xfrm>
            <a:prstGeom prst="line">
              <a:avLst/>
            </a:prstGeom>
            <a:ln w="9525" cap="flat" cmpd="sng">
              <a:solidFill>
                <a:srgbClr val="3333FF"/>
              </a:solidFill>
              <a:prstDash val="solid"/>
              <a:headEnd type="none" w="med" len="med"/>
              <a:tailEnd type="none" w="med" len="med"/>
            </a:ln>
          </p:spPr>
        </p:sp>
        <p:sp>
          <p:nvSpPr>
            <p:cNvPr id="2245761" name="Line 1153"/>
            <p:cNvSpPr/>
            <p:nvPr/>
          </p:nvSpPr>
          <p:spPr>
            <a:xfrm flipV="1">
              <a:off x="3999" y="3745"/>
              <a:ext cx="0" cy="50"/>
            </a:xfrm>
            <a:prstGeom prst="line">
              <a:avLst/>
            </a:prstGeom>
            <a:ln w="9525" cap="flat" cmpd="sng">
              <a:solidFill>
                <a:srgbClr val="3333FF"/>
              </a:solidFill>
              <a:prstDash val="solid"/>
              <a:headEnd type="none" w="med" len="med"/>
              <a:tailEnd type="none" w="med" len="med"/>
            </a:ln>
          </p:spPr>
        </p:sp>
        <p:sp>
          <p:nvSpPr>
            <p:cNvPr id="2245762" name="Line 1154"/>
            <p:cNvSpPr/>
            <p:nvPr/>
          </p:nvSpPr>
          <p:spPr>
            <a:xfrm flipV="1">
              <a:off x="4182" y="3745"/>
              <a:ext cx="0" cy="50"/>
            </a:xfrm>
            <a:prstGeom prst="line">
              <a:avLst/>
            </a:prstGeom>
            <a:ln w="9525" cap="flat" cmpd="sng">
              <a:solidFill>
                <a:srgbClr val="3333FF"/>
              </a:solidFill>
              <a:prstDash val="solid"/>
              <a:headEnd type="none" w="med" len="med"/>
              <a:tailEnd type="none" w="med" len="med"/>
            </a:ln>
          </p:spPr>
        </p:sp>
        <p:sp>
          <p:nvSpPr>
            <p:cNvPr id="2245763" name="Line 1155"/>
            <p:cNvSpPr/>
            <p:nvPr/>
          </p:nvSpPr>
          <p:spPr>
            <a:xfrm flipV="1">
              <a:off x="4391" y="3745"/>
              <a:ext cx="0" cy="50"/>
            </a:xfrm>
            <a:prstGeom prst="line">
              <a:avLst/>
            </a:prstGeom>
            <a:ln w="9525" cap="flat" cmpd="sng">
              <a:solidFill>
                <a:srgbClr val="3333FF"/>
              </a:solidFill>
              <a:prstDash val="solid"/>
              <a:headEnd type="none" w="med" len="med"/>
              <a:tailEnd type="none" w="med" len="med"/>
            </a:ln>
          </p:spPr>
        </p:sp>
        <p:sp>
          <p:nvSpPr>
            <p:cNvPr id="2245764" name="Line 1156"/>
            <p:cNvSpPr/>
            <p:nvPr/>
          </p:nvSpPr>
          <p:spPr>
            <a:xfrm flipV="1">
              <a:off x="4558" y="3754"/>
              <a:ext cx="0" cy="41"/>
            </a:xfrm>
            <a:prstGeom prst="line">
              <a:avLst/>
            </a:prstGeom>
            <a:ln w="9525" cap="flat" cmpd="sng">
              <a:solidFill>
                <a:srgbClr val="3333FF"/>
              </a:solidFill>
              <a:prstDash val="solid"/>
              <a:headEnd type="none" w="med" len="med"/>
              <a:tailEnd type="none" w="med" len="med"/>
            </a:ln>
          </p:spPr>
        </p:sp>
        <p:sp>
          <p:nvSpPr>
            <p:cNvPr id="2245765" name="Line 1157"/>
            <p:cNvSpPr/>
            <p:nvPr/>
          </p:nvSpPr>
          <p:spPr>
            <a:xfrm flipV="1">
              <a:off x="4733" y="3754"/>
              <a:ext cx="0" cy="41"/>
            </a:xfrm>
            <a:prstGeom prst="line">
              <a:avLst/>
            </a:prstGeom>
            <a:ln w="9525" cap="flat" cmpd="sng">
              <a:solidFill>
                <a:srgbClr val="3333FF"/>
              </a:solidFill>
              <a:prstDash val="solid"/>
              <a:headEnd type="none" w="med" len="med"/>
              <a:tailEnd type="none" w="med" len="med"/>
            </a:ln>
          </p:spPr>
        </p:sp>
        <p:sp>
          <p:nvSpPr>
            <p:cNvPr id="2245766" name="Text Box 1158"/>
            <p:cNvSpPr txBox="1"/>
            <p:nvPr/>
          </p:nvSpPr>
          <p:spPr>
            <a:xfrm rot="-5400000">
              <a:off x="3652" y="3542"/>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001</a:t>
              </a:r>
              <a:endParaRPr lang="en-US" altLang="zh-CN" sz="1400" b="1">
                <a:solidFill>
                  <a:srgbClr val="333399"/>
                </a:solidFill>
                <a:latin typeface="Times New Roman" panose="02020603050405020304" pitchFamily="18" charset="0"/>
              </a:endParaRPr>
            </a:p>
          </p:txBody>
        </p:sp>
        <p:sp>
          <p:nvSpPr>
            <p:cNvPr id="2245767" name="Text Box 1159"/>
            <p:cNvSpPr txBox="1"/>
            <p:nvPr/>
          </p:nvSpPr>
          <p:spPr>
            <a:xfrm rot="-5400000">
              <a:off x="3858"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011</a:t>
              </a:r>
              <a:endParaRPr lang="en-US" altLang="zh-CN" sz="1400" b="1">
                <a:solidFill>
                  <a:srgbClr val="333399"/>
                </a:solidFill>
                <a:latin typeface="Times New Roman" panose="02020603050405020304" pitchFamily="18" charset="0"/>
              </a:endParaRPr>
            </a:p>
          </p:txBody>
        </p:sp>
        <p:sp>
          <p:nvSpPr>
            <p:cNvPr id="2245768" name="Text Box 1160"/>
            <p:cNvSpPr txBox="1"/>
            <p:nvPr/>
          </p:nvSpPr>
          <p:spPr>
            <a:xfrm rot="-5400000">
              <a:off x="4042"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100</a:t>
              </a:r>
              <a:endParaRPr lang="en-US" altLang="zh-CN" sz="1400" b="1">
                <a:solidFill>
                  <a:srgbClr val="333399"/>
                </a:solidFill>
                <a:latin typeface="Times New Roman" panose="02020603050405020304" pitchFamily="18" charset="0"/>
              </a:endParaRPr>
            </a:p>
          </p:txBody>
        </p:sp>
        <p:sp>
          <p:nvSpPr>
            <p:cNvPr id="2245769" name="Text Box 1161"/>
            <p:cNvSpPr txBox="1"/>
            <p:nvPr/>
          </p:nvSpPr>
          <p:spPr>
            <a:xfrm rot="-5400000">
              <a:off x="4250"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010</a:t>
              </a:r>
              <a:endParaRPr lang="en-US" altLang="zh-CN" sz="1400" b="1">
                <a:solidFill>
                  <a:srgbClr val="333399"/>
                </a:solidFill>
                <a:latin typeface="Times New Roman" panose="02020603050405020304" pitchFamily="18" charset="0"/>
              </a:endParaRPr>
            </a:p>
          </p:txBody>
        </p:sp>
        <p:sp>
          <p:nvSpPr>
            <p:cNvPr id="2245770" name="Text Box 1162"/>
            <p:cNvSpPr txBox="1"/>
            <p:nvPr/>
          </p:nvSpPr>
          <p:spPr>
            <a:xfrm rot="-5400000">
              <a:off x="4423"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010</a:t>
              </a:r>
              <a:endParaRPr lang="en-US" altLang="zh-CN" sz="1400" b="1">
                <a:solidFill>
                  <a:srgbClr val="333399"/>
                </a:solidFill>
                <a:latin typeface="Times New Roman" panose="02020603050405020304" pitchFamily="18" charset="0"/>
              </a:endParaRPr>
            </a:p>
          </p:txBody>
        </p:sp>
        <p:sp>
          <p:nvSpPr>
            <p:cNvPr id="2245771" name="Text Box 1163"/>
            <p:cNvSpPr txBox="1"/>
            <p:nvPr/>
          </p:nvSpPr>
          <p:spPr>
            <a:xfrm rot="-5400000">
              <a:off x="4599"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011</a:t>
              </a:r>
              <a:endParaRPr lang="en-US" altLang="zh-CN" sz="1400" b="1">
                <a:solidFill>
                  <a:srgbClr val="333399"/>
                </a:solidFill>
                <a:latin typeface="Times New Roman" panose="02020603050405020304" pitchFamily="18" charset="0"/>
              </a:endParaRPr>
            </a:p>
          </p:txBody>
        </p:sp>
      </p:grpSp>
      <p:grpSp>
        <p:nvGrpSpPr>
          <p:cNvPr id="5215" name="组合 5214"/>
          <p:cNvGrpSpPr/>
          <p:nvPr/>
        </p:nvGrpSpPr>
        <p:grpSpPr>
          <a:xfrm>
            <a:off x="5214938" y="1084263"/>
            <a:ext cx="2898775" cy="1370012"/>
            <a:chOff x="3285" y="683"/>
            <a:chExt cx="1826" cy="863"/>
          </a:xfrm>
        </p:grpSpPr>
        <p:sp>
          <p:nvSpPr>
            <p:cNvPr id="2245713" name="Line 1105"/>
            <p:cNvSpPr/>
            <p:nvPr/>
          </p:nvSpPr>
          <p:spPr>
            <a:xfrm>
              <a:off x="3606" y="1441"/>
              <a:ext cx="1336" cy="0"/>
            </a:xfrm>
            <a:prstGeom prst="line">
              <a:avLst/>
            </a:prstGeom>
            <a:ln w="9525" cap="flat" cmpd="sng">
              <a:solidFill>
                <a:srgbClr val="3333FF"/>
              </a:solidFill>
              <a:prstDash val="solid"/>
              <a:headEnd type="none" w="med" len="med"/>
              <a:tailEnd type="stealth" w="sm" len="lg"/>
            </a:ln>
          </p:spPr>
        </p:sp>
        <p:sp>
          <p:nvSpPr>
            <p:cNvPr id="2245714" name="Line 1106"/>
            <p:cNvSpPr/>
            <p:nvPr/>
          </p:nvSpPr>
          <p:spPr>
            <a:xfrm flipV="1">
              <a:off x="3606" y="765"/>
              <a:ext cx="0" cy="676"/>
            </a:xfrm>
            <a:prstGeom prst="line">
              <a:avLst/>
            </a:prstGeom>
            <a:ln w="9525" cap="flat" cmpd="sng">
              <a:solidFill>
                <a:srgbClr val="3333FF"/>
              </a:solidFill>
              <a:prstDash val="solid"/>
              <a:headEnd type="none" w="med" len="med"/>
              <a:tailEnd type="stealth" w="sm" len="lg"/>
            </a:ln>
          </p:spPr>
        </p:sp>
        <p:sp>
          <p:nvSpPr>
            <p:cNvPr id="2245749" name="Text Box 1141"/>
            <p:cNvSpPr txBox="1"/>
            <p:nvPr/>
          </p:nvSpPr>
          <p:spPr>
            <a:xfrm>
              <a:off x="4923" y="1315"/>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0" name="Text Box 1142"/>
            <p:cNvSpPr txBox="1"/>
            <p:nvPr/>
          </p:nvSpPr>
          <p:spPr>
            <a:xfrm>
              <a:off x="3285" y="683"/>
              <a:ext cx="324"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t</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3" name="Freeform 1165"/>
            <p:cNvSpPr/>
            <p:nvPr/>
          </p:nvSpPr>
          <p:spPr>
            <a:xfrm>
              <a:off x="3706" y="945"/>
              <a:ext cx="1110" cy="437"/>
            </a:xfrm>
            <a:custGeom>
              <a:avLst/>
              <a:gdLst/>
              <a:ahLst/>
              <a:cxnLst>
                <a:cxn ang="0">
                  <a:pos x="0" y="1191264914"/>
                </a:cxn>
                <a:cxn ang="0">
                  <a:pos x="915521288" y="182818588"/>
                </a:cxn>
                <a:cxn ang="0">
                  <a:pos x="1137707744" y="85511671"/>
                </a:cxn>
                <a:cxn ang="0">
                  <a:pos x="1317064909" y="109100446"/>
                </a:cxn>
                <a:cxn ang="0">
                  <a:pos x="1608852848" y="330251438"/>
                </a:cxn>
                <a:cxn ang="0">
                  <a:pos x="1876550231" y="527813655"/>
                </a:cxn>
                <a:cxn ang="0">
                  <a:pos x="2144245978" y="651657730"/>
                </a:cxn>
                <a:cxn ang="0">
                  <a:pos x="2147483647" y="651657730"/>
                </a:cxn>
                <a:cxn ang="0">
                  <a:pos x="2147483647" y="601530080"/>
                </a:cxn>
                <a:cxn ang="0">
                  <a:pos x="2147483647" y="527813655"/>
                </a:cxn>
                <a:cxn ang="0">
                  <a:pos x="2147483647" y="430506738"/>
                </a:cxn>
                <a:cxn ang="0">
                  <a:pos x="2147483647" y="3066626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grpSp>
      <p:grpSp>
        <p:nvGrpSpPr>
          <p:cNvPr id="5238" name="组合 5237"/>
          <p:cNvGrpSpPr/>
          <p:nvPr/>
        </p:nvGrpSpPr>
        <p:grpSpPr>
          <a:xfrm>
            <a:off x="4846638" y="3727450"/>
            <a:ext cx="3265487" cy="1457325"/>
            <a:chOff x="3053" y="2348"/>
            <a:chExt cx="2057" cy="918"/>
          </a:xfrm>
        </p:grpSpPr>
        <p:sp>
          <p:nvSpPr>
            <p:cNvPr id="2245734" name="Line 1126"/>
            <p:cNvSpPr/>
            <p:nvPr/>
          </p:nvSpPr>
          <p:spPr>
            <a:xfrm>
              <a:off x="3606" y="3094"/>
              <a:ext cx="1336" cy="0"/>
            </a:xfrm>
            <a:prstGeom prst="line">
              <a:avLst/>
            </a:prstGeom>
            <a:ln w="9525" cap="flat" cmpd="sng">
              <a:solidFill>
                <a:srgbClr val="3333FF"/>
              </a:solidFill>
              <a:prstDash val="solid"/>
              <a:headEnd type="none" w="med" len="med"/>
              <a:tailEnd type="stealth" w="sm" len="lg"/>
            </a:ln>
          </p:spPr>
        </p:sp>
        <p:sp>
          <p:nvSpPr>
            <p:cNvPr id="2245735" name="Line 1127"/>
            <p:cNvSpPr/>
            <p:nvPr/>
          </p:nvSpPr>
          <p:spPr>
            <a:xfrm flipV="1">
              <a:off x="3606" y="2410"/>
              <a:ext cx="0" cy="684"/>
            </a:xfrm>
            <a:prstGeom prst="line">
              <a:avLst/>
            </a:prstGeom>
            <a:ln w="9525" cap="flat" cmpd="sng">
              <a:solidFill>
                <a:srgbClr val="3333FF"/>
              </a:solidFill>
              <a:prstDash val="solid"/>
              <a:headEnd type="none" w="med" len="med"/>
              <a:tailEnd type="stealth" w="sm" len="lg"/>
            </a:ln>
          </p:spPr>
        </p:sp>
        <p:sp>
          <p:nvSpPr>
            <p:cNvPr id="2245736" name="Freeform 1128"/>
            <p:cNvSpPr/>
            <p:nvPr/>
          </p:nvSpPr>
          <p:spPr>
            <a:xfrm>
              <a:off x="3685" y="2652"/>
              <a:ext cx="1077" cy="404"/>
            </a:xfrm>
            <a:custGeom>
              <a:avLst/>
              <a:gdLst/>
              <a:ahLst/>
              <a:cxnLst>
                <a:cxn ang="0">
                  <a:pos x="0" y="1018143125"/>
                </a:cxn>
                <a:cxn ang="0">
                  <a:pos x="861893185" y="156249688"/>
                </a:cxn>
                <a:cxn ang="0">
                  <a:pos x="1071065299" y="73085325"/>
                </a:cxn>
                <a:cxn ang="0">
                  <a:pos x="1239916512" y="93246575"/>
                </a:cxn>
                <a:cxn ang="0">
                  <a:pos x="1514612670" y="282257500"/>
                </a:cxn>
                <a:cxn ang="0">
                  <a:pos x="1766628221" y="451108763"/>
                </a:cxn>
                <a:cxn ang="0">
                  <a:pos x="2018643772" y="556955325"/>
                </a:cxn>
                <a:cxn ang="0">
                  <a:pos x="2147483647" y="556955325"/>
                </a:cxn>
                <a:cxn ang="0">
                  <a:pos x="2147483647" y="514111875"/>
                </a:cxn>
                <a:cxn ang="0">
                  <a:pos x="2147483647" y="451108763"/>
                </a:cxn>
                <a:cxn ang="0">
                  <a:pos x="2147483647" y="367942813"/>
                </a:cxn>
                <a:cxn ang="0">
                  <a:pos x="2147483647" y="262096250"/>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5737" name="Line 1129"/>
            <p:cNvSpPr/>
            <p:nvPr/>
          </p:nvSpPr>
          <p:spPr>
            <a:xfrm>
              <a:off x="3606" y="3002"/>
              <a:ext cx="1236" cy="0"/>
            </a:xfrm>
            <a:prstGeom prst="line">
              <a:avLst/>
            </a:prstGeom>
            <a:ln w="9525" cap="flat" cmpd="sng">
              <a:solidFill>
                <a:srgbClr val="006666"/>
              </a:solidFill>
              <a:prstDash val="sysDot"/>
              <a:headEnd type="none" w="med" len="med"/>
              <a:tailEnd type="none" w="med" len="med"/>
            </a:ln>
          </p:spPr>
        </p:sp>
        <p:sp>
          <p:nvSpPr>
            <p:cNvPr id="2245738" name="Line 1130"/>
            <p:cNvSpPr/>
            <p:nvPr/>
          </p:nvSpPr>
          <p:spPr>
            <a:xfrm>
              <a:off x="3606" y="2902"/>
              <a:ext cx="1236" cy="0"/>
            </a:xfrm>
            <a:prstGeom prst="line">
              <a:avLst/>
            </a:prstGeom>
            <a:ln w="9525" cap="flat" cmpd="sng">
              <a:solidFill>
                <a:srgbClr val="006666"/>
              </a:solidFill>
              <a:prstDash val="sysDot"/>
              <a:headEnd type="none" w="med" len="med"/>
              <a:tailEnd type="none" w="med" len="med"/>
            </a:ln>
          </p:spPr>
        </p:sp>
        <p:sp>
          <p:nvSpPr>
            <p:cNvPr id="2245739" name="Line 1131"/>
            <p:cNvSpPr/>
            <p:nvPr/>
          </p:nvSpPr>
          <p:spPr>
            <a:xfrm>
              <a:off x="3606" y="2810"/>
              <a:ext cx="1236" cy="0"/>
            </a:xfrm>
            <a:prstGeom prst="line">
              <a:avLst/>
            </a:prstGeom>
            <a:ln w="9525" cap="flat" cmpd="sng">
              <a:solidFill>
                <a:srgbClr val="006666"/>
              </a:solidFill>
              <a:prstDash val="sysDot"/>
              <a:headEnd type="none" w="med" len="med"/>
              <a:tailEnd type="none" w="med" len="med"/>
            </a:ln>
          </p:spPr>
        </p:sp>
        <p:sp>
          <p:nvSpPr>
            <p:cNvPr id="2245740" name="Line 1132"/>
            <p:cNvSpPr/>
            <p:nvPr/>
          </p:nvSpPr>
          <p:spPr>
            <a:xfrm>
              <a:off x="3606" y="2719"/>
              <a:ext cx="1244" cy="0"/>
            </a:xfrm>
            <a:prstGeom prst="line">
              <a:avLst/>
            </a:prstGeom>
            <a:ln w="9525" cap="flat" cmpd="sng">
              <a:solidFill>
                <a:srgbClr val="006666"/>
              </a:solidFill>
              <a:prstDash val="sysDot"/>
              <a:headEnd type="none" w="med" len="med"/>
              <a:tailEnd type="none" w="med" len="med"/>
            </a:ln>
          </p:spPr>
        </p:sp>
        <p:sp>
          <p:nvSpPr>
            <p:cNvPr id="2245741" name="Line 1133"/>
            <p:cNvSpPr/>
            <p:nvPr/>
          </p:nvSpPr>
          <p:spPr>
            <a:xfrm flipV="1">
              <a:off x="3807" y="2927"/>
              <a:ext cx="0" cy="167"/>
            </a:xfrm>
            <a:prstGeom prst="line">
              <a:avLst/>
            </a:prstGeom>
            <a:ln w="9525" cap="flat" cmpd="sng">
              <a:solidFill>
                <a:srgbClr val="CC00CC"/>
              </a:solidFill>
              <a:prstDash val="solid"/>
              <a:headEnd type="none" w="med" len="med"/>
              <a:tailEnd type="none" w="med" len="med"/>
            </a:ln>
          </p:spPr>
        </p:sp>
        <p:sp>
          <p:nvSpPr>
            <p:cNvPr id="2245742" name="Line 1134"/>
            <p:cNvSpPr/>
            <p:nvPr/>
          </p:nvSpPr>
          <p:spPr>
            <a:xfrm flipV="1">
              <a:off x="3990" y="2752"/>
              <a:ext cx="0" cy="342"/>
            </a:xfrm>
            <a:prstGeom prst="line">
              <a:avLst/>
            </a:prstGeom>
            <a:ln w="9525" cap="flat" cmpd="sng">
              <a:solidFill>
                <a:srgbClr val="CC00CC"/>
              </a:solidFill>
              <a:prstDash val="solid"/>
              <a:headEnd type="none" w="med" len="med"/>
              <a:tailEnd type="none" w="med" len="med"/>
            </a:ln>
          </p:spPr>
        </p:sp>
        <p:sp>
          <p:nvSpPr>
            <p:cNvPr id="2245743" name="Line 1135"/>
            <p:cNvSpPr/>
            <p:nvPr/>
          </p:nvSpPr>
          <p:spPr>
            <a:xfrm flipV="1">
              <a:off x="4182" y="2694"/>
              <a:ext cx="0" cy="400"/>
            </a:xfrm>
            <a:prstGeom prst="line">
              <a:avLst/>
            </a:prstGeom>
            <a:ln w="9525" cap="flat" cmpd="sng">
              <a:solidFill>
                <a:srgbClr val="CC00CC"/>
              </a:solidFill>
              <a:prstDash val="solid"/>
              <a:headEnd type="none" w="med" len="med"/>
              <a:tailEnd type="none" w="med" len="med"/>
            </a:ln>
          </p:spPr>
        </p:sp>
        <p:sp>
          <p:nvSpPr>
            <p:cNvPr id="2245744" name="Line 1136"/>
            <p:cNvSpPr/>
            <p:nvPr/>
          </p:nvSpPr>
          <p:spPr>
            <a:xfrm flipV="1">
              <a:off x="4383" y="2826"/>
              <a:ext cx="0" cy="268"/>
            </a:xfrm>
            <a:prstGeom prst="line">
              <a:avLst/>
            </a:prstGeom>
            <a:ln w="9525" cap="flat" cmpd="sng">
              <a:solidFill>
                <a:srgbClr val="CC00CC"/>
              </a:solidFill>
              <a:prstDash val="solid"/>
              <a:headEnd type="none" w="med" len="med"/>
              <a:tailEnd type="none" w="med" len="med"/>
            </a:ln>
          </p:spPr>
        </p:sp>
        <p:sp>
          <p:nvSpPr>
            <p:cNvPr id="2245745" name="Line 1137"/>
            <p:cNvSpPr/>
            <p:nvPr/>
          </p:nvSpPr>
          <p:spPr>
            <a:xfrm flipH="1" flipV="1">
              <a:off x="4557" y="2868"/>
              <a:ext cx="1" cy="226"/>
            </a:xfrm>
            <a:prstGeom prst="line">
              <a:avLst/>
            </a:prstGeom>
            <a:ln w="9525" cap="flat" cmpd="sng">
              <a:solidFill>
                <a:srgbClr val="CC00CC"/>
              </a:solidFill>
              <a:prstDash val="solid"/>
              <a:headEnd type="none" w="med" len="med"/>
              <a:tailEnd type="none" w="med" len="med"/>
            </a:ln>
          </p:spPr>
        </p:sp>
        <p:sp>
          <p:nvSpPr>
            <p:cNvPr id="2245746" name="Line 1138"/>
            <p:cNvSpPr/>
            <p:nvPr/>
          </p:nvSpPr>
          <p:spPr>
            <a:xfrm flipV="1">
              <a:off x="4733" y="2802"/>
              <a:ext cx="0" cy="292"/>
            </a:xfrm>
            <a:prstGeom prst="line">
              <a:avLst/>
            </a:prstGeom>
            <a:ln w="9525" cap="flat" cmpd="sng">
              <a:solidFill>
                <a:srgbClr val="CC00CC"/>
              </a:solidFill>
              <a:prstDash val="solid"/>
              <a:headEnd type="none" w="med" len="med"/>
              <a:tailEnd type="none" w="med" len="med"/>
            </a:ln>
          </p:spPr>
        </p:sp>
        <p:sp>
          <p:nvSpPr>
            <p:cNvPr id="2245753" name="Text Box 1145"/>
            <p:cNvSpPr txBox="1"/>
            <p:nvPr/>
          </p:nvSpPr>
          <p:spPr>
            <a:xfrm>
              <a:off x="4922" y="2960"/>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4" name="Text Box 1146"/>
            <p:cNvSpPr txBox="1"/>
            <p:nvPr/>
          </p:nvSpPr>
          <p:spPr>
            <a:xfrm>
              <a:off x="3053" y="2348"/>
              <a:ext cx="553"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q</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6" name="Text Box 1168"/>
            <p:cNvSpPr txBox="1"/>
            <p:nvPr/>
          </p:nvSpPr>
          <p:spPr>
            <a:xfrm>
              <a:off x="3420" y="2899"/>
              <a:ext cx="172"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q</a:t>
              </a:r>
              <a:endParaRPr lang="en-US" altLang="zh-CN" sz="1400" b="1" i="1">
                <a:solidFill>
                  <a:srgbClr val="333399"/>
                </a:solidFill>
                <a:latin typeface="Times New Roman" panose="02020603050405020304" pitchFamily="18" charset="0"/>
              </a:endParaRPr>
            </a:p>
          </p:txBody>
        </p:sp>
        <p:sp>
          <p:nvSpPr>
            <p:cNvPr id="2245777" name="Text Box 1169"/>
            <p:cNvSpPr txBox="1"/>
            <p:nvPr/>
          </p:nvSpPr>
          <p:spPr>
            <a:xfrm>
              <a:off x="3362" y="2805"/>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2q</a:t>
              </a:r>
              <a:endParaRPr lang="en-US" altLang="zh-CN" sz="1400" b="1" i="1">
                <a:solidFill>
                  <a:srgbClr val="333399"/>
                </a:solidFill>
                <a:latin typeface="Times New Roman" panose="02020603050405020304" pitchFamily="18" charset="0"/>
              </a:endParaRPr>
            </a:p>
          </p:txBody>
        </p:sp>
        <p:sp>
          <p:nvSpPr>
            <p:cNvPr id="2245778" name="Text Box 1170"/>
            <p:cNvSpPr txBox="1"/>
            <p:nvPr/>
          </p:nvSpPr>
          <p:spPr>
            <a:xfrm>
              <a:off x="3357" y="2692"/>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3q</a:t>
              </a:r>
              <a:endParaRPr lang="en-US" altLang="zh-CN" sz="1400" b="1" i="1">
                <a:solidFill>
                  <a:srgbClr val="333399"/>
                </a:solidFill>
                <a:latin typeface="Times New Roman" panose="02020603050405020304" pitchFamily="18" charset="0"/>
              </a:endParaRPr>
            </a:p>
          </p:txBody>
        </p:sp>
        <p:sp>
          <p:nvSpPr>
            <p:cNvPr id="2245779" name="Text Box 1171"/>
            <p:cNvSpPr txBox="1"/>
            <p:nvPr/>
          </p:nvSpPr>
          <p:spPr>
            <a:xfrm>
              <a:off x="3366" y="2591"/>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4q</a:t>
              </a:r>
              <a:endParaRPr lang="en-US" altLang="zh-CN" sz="1400" b="1" i="1">
                <a:solidFill>
                  <a:srgbClr val="333399"/>
                </a:solidFill>
                <a:latin typeface="Times New Roman" panose="02020603050405020304" pitchFamily="18" charset="0"/>
              </a:endParaRPr>
            </a:p>
          </p:txBody>
        </p:sp>
        <p:sp>
          <p:nvSpPr>
            <p:cNvPr id="2245785" name="Text Box 1177"/>
            <p:cNvSpPr txBox="1"/>
            <p:nvPr/>
          </p:nvSpPr>
          <p:spPr>
            <a:xfrm>
              <a:off x="3669" y="3067"/>
              <a:ext cx="235" cy="192"/>
            </a:xfrm>
            <a:prstGeom prst="rect">
              <a:avLst/>
            </a:prstGeom>
            <a:noFill/>
            <a:ln w="9525">
              <a:noFill/>
            </a:ln>
          </p:spPr>
          <p:txBody>
            <a:bodyPr>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6" name="Text Box 1178"/>
            <p:cNvSpPr txBox="1"/>
            <p:nvPr/>
          </p:nvSpPr>
          <p:spPr>
            <a:xfrm>
              <a:off x="3839" y="3068"/>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7" name="Text Box 1179"/>
            <p:cNvSpPr txBox="1"/>
            <p:nvPr/>
          </p:nvSpPr>
          <p:spPr>
            <a:xfrm>
              <a:off x="4084" y="3074"/>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8" name="Text Box 1180"/>
            <p:cNvSpPr txBox="1"/>
            <p:nvPr/>
          </p:nvSpPr>
          <p:spPr>
            <a:xfrm>
              <a:off x="4348" y="3046"/>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2245789" name="Line 1181"/>
            <p:cNvSpPr/>
            <p:nvPr/>
          </p:nvSpPr>
          <p:spPr>
            <a:xfrm>
              <a:off x="3618" y="2624"/>
              <a:ext cx="1244" cy="0"/>
            </a:xfrm>
            <a:prstGeom prst="line">
              <a:avLst/>
            </a:prstGeom>
            <a:ln w="9525" cap="flat" cmpd="sng">
              <a:solidFill>
                <a:srgbClr val="006666"/>
              </a:solidFill>
              <a:prstDash val="sysDot"/>
              <a:headEnd type="none" w="med" len="med"/>
              <a:tailEnd type="none" w="med" len="med"/>
            </a:ln>
          </p:spPr>
        </p:sp>
      </p:grpSp>
      <p:sp>
        <p:nvSpPr>
          <p:cNvPr id="2245790" name="Text Box 118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5791" name="Text Box 1183"/>
          <p:cNvSpPr txBox="1"/>
          <p:nvPr/>
        </p:nvSpPr>
        <p:spPr>
          <a:xfrm>
            <a:off x="446088" y="920750"/>
            <a:ext cx="3476625" cy="641350"/>
          </a:xfrm>
          <a:prstGeom prst="rect">
            <a:avLst/>
          </a:prstGeom>
          <a:solidFill>
            <a:srgbClr val="99CCFF"/>
          </a:solidFill>
          <a:ln w="9525">
            <a:noFill/>
          </a:ln>
        </p:spPr>
        <p:txBody>
          <a:bodyPr>
            <a:spAutoFit/>
          </a:bodyPr>
          <a:p>
            <a:pPr algn="l" eaLnBrk="1" hangingPunct="1"/>
            <a:r>
              <a:rPr lang="zh-CN" altLang="en-US" b="1" dirty="0">
                <a:solidFill>
                  <a:srgbClr val="333399"/>
                </a:solidFill>
                <a:latin typeface="楷体_GB2312" pitchFamily="49" charset="-122"/>
              </a:rPr>
              <a:t>信号转换过程：</a:t>
            </a:r>
            <a:endParaRPr lang="zh-CN" altLang="en-US" b="1" dirty="0">
              <a:solidFill>
                <a:srgbClr val="333399"/>
              </a:solidFill>
              <a:latin typeface="楷体_GB2312" pitchFamily="49" charset="-122"/>
            </a:endParaRPr>
          </a:p>
        </p:txBody>
      </p:sp>
      <p:sp>
        <p:nvSpPr>
          <p:cNvPr id="2245792" name="Text Box 1184"/>
          <p:cNvSpPr txBox="1">
            <a:spLocks noChangeArrowheads="1"/>
          </p:cNvSpPr>
          <p:nvPr/>
        </p:nvSpPr>
        <p:spPr bwMode="auto">
          <a:xfrm>
            <a:off x="3387725" y="155575"/>
            <a:ext cx="21780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2.1</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概述</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5237" name="组合 5236"/>
          <p:cNvGrpSpPr/>
          <p:nvPr/>
        </p:nvGrpSpPr>
        <p:grpSpPr>
          <a:xfrm>
            <a:off x="4808538" y="2362200"/>
            <a:ext cx="3297237" cy="1470025"/>
            <a:chOff x="3029" y="1488"/>
            <a:chExt cx="2077" cy="926"/>
          </a:xfrm>
        </p:grpSpPr>
        <p:sp>
          <p:nvSpPr>
            <p:cNvPr id="2245712" name="Freeform 1104"/>
            <p:cNvSpPr/>
            <p:nvPr/>
          </p:nvSpPr>
          <p:spPr>
            <a:xfrm>
              <a:off x="3701" y="1758"/>
              <a:ext cx="1110" cy="429"/>
            </a:xfrm>
            <a:custGeom>
              <a:avLst/>
              <a:gdLst/>
              <a:ahLst/>
              <a:cxnLst>
                <a:cxn ang="0">
                  <a:pos x="0" y="1148051380"/>
                </a:cxn>
                <a:cxn ang="0">
                  <a:pos x="915521288" y="176186553"/>
                </a:cxn>
                <a:cxn ang="0">
                  <a:pos x="1137707744" y="82408969"/>
                </a:cxn>
                <a:cxn ang="0">
                  <a:pos x="1317064909" y="105142827"/>
                </a:cxn>
                <a:cxn ang="0">
                  <a:pos x="1608852848" y="318272321"/>
                </a:cxn>
                <a:cxn ang="0">
                  <a:pos x="1876550231" y="508666271"/>
                </a:cxn>
                <a:cxn ang="0">
                  <a:pos x="2144245978" y="628018180"/>
                </a:cxn>
                <a:cxn ang="0">
                  <a:pos x="2147483647" y="628018180"/>
                </a:cxn>
                <a:cxn ang="0">
                  <a:pos x="2147483647" y="579708311"/>
                </a:cxn>
                <a:cxn ang="0">
                  <a:pos x="2147483647" y="508666271"/>
                </a:cxn>
                <a:cxn ang="0">
                  <a:pos x="2147483647" y="414890372"/>
                </a:cxn>
                <a:cxn ang="0">
                  <a:pos x="2147483647" y="2955384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5715" name="Line 1107"/>
            <p:cNvSpPr/>
            <p:nvPr/>
          </p:nvSpPr>
          <p:spPr>
            <a:xfrm>
              <a:off x="3606" y="2234"/>
              <a:ext cx="1336" cy="0"/>
            </a:xfrm>
            <a:prstGeom prst="line">
              <a:avLst/>
            </a:prstGeom>
            <a:ln w="9525" cap="flat" cmpd="sng">
              <a:solidFill>
                <a:srgbClr val="3333FF"/>
              </a:solidFill>
              <a:prstDash val="solid"/>
              <a:headEnd type="none" w="med" len="med"/>
              <a:tailEnd type="stealth" w="sm" len="lg"/>
            </a:ln>
          </p:spPr>
        </p:sp>
        <p:sp>
          <p:nvSpPr>
            <p:cNvPr id="2245716" name="Line 1108"/>
            <p:cNvSpPr/>
            <p:nvPr/>
          </p:nvSpPr>
          <p:spPr>
            <a:xfrm flipV="1">
              <a:off x="3606" y="1558"/>
              <a:ext cx="0" cy="676"/>
            </a:xfrm>
            <a:prstGeom prst="line">
              <a:avLst/>
            </a:prstGeom>
            <a:ln w="9525" cap="flat" cmpd="sng">
              <a:solidFill>
                <a:srgbClr val="3333FF"/>
              </a:solidFill>
              <a:prstDash val="solid"/>
              <a:headEnd type="none" w="med" len="med"/>
              <a:tailEnd type="stealth" w="sm" len="lg"/>
            </a:ln>
          </p:spPr>
        </p:sp>
        <p:sp>
          <p:nvSpPr>
            <p:cNvPr id="2245719" name="Line 1111"/>
            <p:cNvSpPr/>
            <p:nvPr/>
          </p:nvSpPr>
          <p:spPr>
            <a:xfrm flipV="1">
              <a:off x="3798" y="2084"/>
              <a:ext cx="0" cy="150"/>
            </a:xfrm>
            <a:prstGeom prst="line">
              <a:avLst/>
            </a:prstGeom>
            <a:ln w="9525" cap="flat" cmpd="sng">
              <a:solidFill>
                <a:srgbClr val="006666"/>
              </a:solidFill>
              <a:prstDash val="solid"/>
              <a:headEnd type="none" w="med" len="med"/>
              <a:tailEnd type="none" w="med" len="med"/>
            </a:ln>
          </p:spPr>
        </p:sp>
        <p:sp>
          <p:nvSpPr>
            <p:cNvPr id="2245720" name="Line 1112"/>
            <p:cNvSpPr/>
            <p:nvPr/>
          </p:nvSpPr>
          <p:spPr>
            <a:xfrm>
              <a:off x="3798" y="2084"/>
              <a:ext cx="192" cy="0"/>
            </a:xfrm>
            <a:prstGeom prst="line">
              <a:avLst/>
            </a:prstGeom>
            <a:ln w="9525" cap="flat" cmpd="sng">
              <a:solidFill>
                <a:srgbClr val="006666"/>
              </a:solidFill>
              <a:prstDash val="solid"/>
              <a:headEnd type="none" w="med" len="med"/>
              <a:tailEnd type="none" w="med" len="med"/>
            </a:ln>
          </p:spPr>
        </p:sp>
        <p:sp>
          <p:nvSpPr>
            <p:cNvPr id="2245721" name="Line 1113"/>
            <p:cNvSpPr/>
            <p:nvPr/>
          </p:nvSpPr>
          <p:spPr>
            <a:xfrm flipV="1">
              <a:off x="3990" y="1884"/>
              <a:ext cx="0" cy="200"/>
            </a:xfrm>
            <a:prstGeom prst="line">
              <a:avLst/>
            </a:prstGeom>
            <a:ln w="9525" cap="flat" cmpd="sng">
              <a:solidFill>
                <a:srgbClr val="006666"/>
              </a:solidFill>
              <a:prstDash val="solid"/>
              <a:headEnd type="none" w="med" len="med"/>
              <a:tailEnd type="none" w="med" len="med"/>
            </a:ln>
          </p:spPr>
        </p:sp>
        <p:sp>
          <p:nvSpPr>
            <p:cNvPr id="2245725" name="Line 1117"/>
            <p:cNvSpPr/>
            <p:nvPr/>
          </p:nvSpPr>
          <p:spPr>
            <a:xfrm>
              <a:off x="4182" y="1792"/>
              <a:ext cx="209" cy="0"/>
            </a:xfrm>
            <a:prstGeom prst="line">
              <a:avLst/>
            </a:prstGeom>
            <a:ln w="9525" cap="flat" cmpd="sng">
              <a:solidFill>
                <a:srgbClr val="006666"/>
              </a:solidFill>
              <a:prstDash val="solid"/>
              <a:headEnd type="none" w="med" len="med"/>
              <a:tailEnd type="none" w="med" len="med"/>
            </a:ln>
          </p:spPr>
        </p:sp>
        <p:sp>
          <p:nvSpPr>
            <p:cNvPr id="2245726" name="Line 1118"/>
            <p:cNvSpPr/>
            <p:nvPr/>
          </p:nvSpPr>
          <p:spPr>
            <a:xfrm>
              <a:off x="4392" y="1793"/>
              <a:ext cx="0" cy="143"/>
            </a:xfrm>
            <a:prstGeom prst="line">
              <a:avLst/>
            </a:prstGeom>
            <a:ln w="9525" cap="flat" cmpd="sng">
              <a:solidFill>
                <a:srgbClr val="006666"/>
              </a:solidFill>
              <a:prstDash val="solid"/>
              <a:headEnd type="none" w="med" len="med"/>
              <a:tailEnd type="none" w="med" len="med"/>
            </a:ln>
          </p:spPr>
        </p:sp>
        <p:sp>
          <p:nvSpPr>
            <p:cNvPr id="2245727" name="Line 1119"/>
            <p:cNvSpPr/>
            <p:nvPr/>
          </p:nvSpPr>
          <p:spPr>
            <a:xfrm>
              <a:off x="4391" y="1934"/>
              <a:ext cx="167" cy="0"/>
            </a:xfrm>
            <a:prstGeom prst="line">
              <a:avLst/>
            </a:prstGeom>
            <a:ln w="9525" cap="flat" cmpd="sng">
              <a:solidFill>
                <a:srgbClr val="006666"/>
              </a:solidFill>
              <a:prstDash val="solid"/>
              <a:headEnd type="none" w="med" len="med"/>
              <a:tailEnd type="none" w="med" len="med"/>
            </a:ln>
          </p:spPr>
        </p:sp>
        <p:sp>
          <p:nvSpPr>
            <p:cNvPr id="2245730" name="Line 1122"/>
            <p:cNvSpPr/>
            <p:nvPr/>
          </p:nvSpPr>
          <p:spPr>
            <a:xfrm>
              <a:off x="4558" y="1935"/>
              <a:ext cx="0" cy="58"/>
            </a:xfrm>
            <a:prstGeom prst="line">
              <a:avLst/>
            </a:prstGeom>
            <a:ln w="9525" cap="flat" cmpd="sng">
              <a:solidFill>
                <a:srgbClr val="006666"/>
              </a:solidFill>
              <a:prstDash val="solid"/>
              <a:headEnd type="none" w="med" len="med"/>
              <a:tailEnd type="none" w="med" len="med"/>
            </a:ln>
          </p:spPr>
        </p:sp>
        <p:sp>
          <p:nvSpPr>
            <p:cNvPr id="2245731" name="Line 1123"/>
            <p:cNvSpPr/>
            <p:nvPr/>
          </p:nvSpPr>
          <p:spPr>
            <a:xfrm>
              <a:off x="4558" y="2000"/>
              <a:ext cx="175" cy="0"/>
            </a:xfrm>
            <a:prstGeom prst="line">
              <a:avLst/>
            </a:prstGeom>
            <a:ln w="9525" cap="flat" cmpd="sng">
              <a:solidFill>
                <a:srgbClr val="006666"/>
              </a:solidFill>
              <a:prstDash val="solid"/>
              <a:headEnd type="none" w="med" len="med"/>
              <a:tailEnd type="none" w="med" len="med"/>
            </a:ln>
          </p:spPr>
        </p:sp>
        <p:sp>
          <p:nvSpPr>
            <p:cNvPr id="2245732" name="Line 1124"/>
            <p:cNvSpPr/>
            <p:nvPr/>
          </p:nvSpPr>
          <p:spPr>
            <a:xfrm flipV="1">
              <a:off x="4733" y="1942"/>
              <a:ext cx="0" cy="51"/>
            </a:xfrm>
            <a:prstGeom prst="line">
              <a:avLst/>
            </a:prstGeom>
            <a:ln w="9525" cap="flat" cmpd="sng">
              <a:solidFill>
                <a:srgbClr val="006666"/>
              </a:solidFill>
              <a:prstDash val="solid"/>
              <a:headEnd type="none" w="med" len="med"/>
              <a:tailEnd type="none" w="med" len="med"/>
            </a:ln>
          </p:spPr>
        </p:sp>
        <p:sp>
          <p:nvSpPr>
            <p:cNvPr id="2245733" name="Line 1125"/>
            <p:cNvSpPr/>
            <p:nvPr/>
          </p:nvSpPr>
          <p:spPr>
            <a:xfrm>
              <a:off x="4733" y="1951"/>
              <a:ext cx="109" cy="0"/>
            </a:xfrm>
            <a:prstGeom prst="line">
              <a:avLst/>
            </a:prstGeom>
            <a:ln w="9525" cap="flat" cmpd="sng">
              <a:solidFill>
                <a:srgbClr val="006666"/>
              </a:solidFill>
              <a:prstDash val="solid"/>
              <a:headEnd type="none" w="med" len="med"/>
              <a:tailEnd type="none" w="med" len="med"/>
            </a:ln>
          </p:spPr>
        </p:sp>
        <p:sp>
          <p:nvSpPr>
            <p:cNvPr id="2245751" name="Text Box 1143"/>
            <p:cNvSpPr txBox="1"/>
            <p:nvPr/>
          </p:nvSpPr>
          <p:spPr>
            <a:xfrm>
              <a:off x="4918" y="2113"/>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2" name="Text Box 1144"/>
            <p:cNvSpPr txBox="1"/>
            <p:nvPr/>
          </p:nvSpPr>
          <p:spPr>
            <a:xfrm>
              <a:off x="3029" y="1488"/>
              <a:ext cx="558"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4" name="Line 1166"/>
            <p:cNvSpPr/>
            <p:nvPr/>
          </p:nvSpPr>
          <p:spPr>
            <a:xfrm>
              <a:off x="3990" y="1892"/>
              <a:ext cx="192" cy="0"/>
            </a:xfrm>
            <a:prstGeom prst="line">
              <a:avLst/>
            </a:prstGeom>
            <a:ln w="9525" cap="flat" cmpd="sng">
              <a:solidFill>
                <a:srgbClr val="006666"/>
              </a:solidFill>
              <a:prstDash val="solid"/>
              <a:headEnd type="none" w="med" len="med"/>
              <a:tailEnd type="none" w="med" len="med"/>
            </a:ln>
          </p:spPr>
        </p:sp>
        <p:sp>
          <p:nvSpPr>
            <p:cNvPr id="2245775" name="Line 1167"/>
            <p:cNvSpPr/>
            <p:nvPr/>
          </p:nvSpPr>
          <p:spPr>
            <a:xfrm flipH="1" flipV="1">
              <a:off x="4173" y="1784"/>
              <a:ext cx="1" cy="108"/>
            </a:xfrm>
            <a:prstGeom prst="line">
              <a:avLst/>
            </a:prstGeom>
            <a:ln w="9525" cap="flat" cmpd="sng">
              <a:solidFill>
                <a:srgbClr val="006666"/>
              </a:solidFill>
              <a:prstDash val="solid"/>
              <a:headEnd type="none" w="med" len="med"/>
              <a:tailEnd type="none" w="med" len="med"/>
            </a:ln>
          </p:spPr>
        </p:sp>
        <p:sp>
          <p:nvSpPr>
            <p:cNvPr id="2245780" name="Text Box 1172"/>
            <p:cNvSpPr txBox="1"/>
            <p:nvPr/>
          </p:nvSpPr>
          <p:spPr>
            <a:xfrm>
              <a:off x="3665" y="2211"/>
              <a:ext cx="224"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1" name="Text Box 1173"/>
            <p:cNvSpPr txBox="1"/>
            <p:nvPr/>
          </p:nvSpPr>
          <p:spPr>
            <a:xfrm>
              <a:off x="3852" y="2222"/>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2" name="Text Box 1174"/>
            <p:cNvSpPr txBox="1"/>
            <p:nvPr/>
          </p:nvSpPr>
          <p:spPr>
            <a:xfrm>
              <a:off x="4055" y="2219"/>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4" name="Text Box 1176"/>
            <p:cNvSpPr txBox="1"/>
            <p:nvPr/>
          </p:nvSpPr>
          <p:spPr>
            <a:xfrm>
              <a:off x="4328" y="2190"/>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2" name="Freeform 1104"/>
            <p:cNvSpPr/>
            <p:nvPr/>
          </p:nvSpPr>
          <p:spPr>
            <a:xfrm>
              <a:off x="3701" y="1758"/>
              <a:ext cx="1110" cy="429"/>
            </a:xfrm>
            <a:custGeom>
              <a:avLst/>
              <a:gdLst/>
              <a:ahLst/>
              <a:cxnLst>
                <a:cxn ang="0">
                  <a:pos x="0" y="1148051380"/>
                </a:cxn>
                <a:cxn ang="0">
                  <a:pos x="915521288" y="176186553"/>
                </a:cxn>
                <a:cxn ang="0">
                  <a:pos x="1137707744" y="82408969"/>
                </a:cxn>
                <a:cxn ang="0">
                  <a:pos x="1317064909" y="105142827"/>
                </a:cxn>
                <a:cxn ang="0">
                  <a:pos x="1608852848" y="318272321"/>
                </a:cxn>
                <a:cxn ang="0">
                  <a:pos x="1876550231" y="508666271"/>
                </a:cxn>
                <a:cxn ang="0">
                  <a:pos x="2144245978" y="628018180"/>
                </a:cxn>
                <a:cxn ang="0">
                  <a:pos x="2147483647" y="628018180"/>
                </a:cxn>
                <a:cxn ang="0">
                  <a:pos x="2147483647" y="579708311"/>
                </a:cxn>
                <a:cxn ang="0">
                  <a:pos x="2147483647" y="508666271"/>
                </a:cxn>
                <a:cxn ang="0">
                  <a:pos x="2147483647" y="414890372"/>
                </a:cxn>
                <a:cxn ang="0">
                  <a:pos x="2147483647" y="2955384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3" name="Line 1107"/>
            <p:cNvSpPr/>
            <p:nvPr/>
          </p:nvSpPr>
          <p:spPr>
            <a:xfrm>
              <a:off x="3606" y="2234"/>
              <a:ext cx="1336" cy="0"/>
            </a:xfrm>
            <a:prstGeom prst="line">
              <a:avLst/>
            </a:prstGeom>
            <a:ln w="9525" cap="flat" cmpd="sng">
              <a:solidFill>
                <a:srgbClr val="3333FF"/>
              </a:solidFill>
              <a:prstDash val="solid"/>
              <a:headEnd type="none" w="med" len="med"/>
              <a:tailEnd type="stealth" w="sm" len="lg"/>
            </a:ln>
          </p:spPr>
        </p:sp>
        <p:sp>
          <p:nvSpPr>
            <p:cNvPr id="4" name="Line 1108"/>
            <p:cNvSpPr/>
            <p:nvPr/>
          </p:nvSpPr>
          <p:spPr>
            <a:xfrm flipV="1">
              <a:off x="3606" y="1558"/>
              <a:ext cx="0" cy="676"/>
            </a:xfrm>
            <a:prstGeom prst="line">
              <a:avLst/>
            </a:prstGeom>
            <a:ln w="9525" cap="flat" cmpd="sng">
              <a:solidFill>
                <a:srgbClr val="3333FF"/>
              </a:solidFill>
              <a:prstDash val="solid"/>
              <a:headEnd type="none" w="med" len="med"/>
              <a:tailEnd type="stealth" w="sm" len="lg"/>
            </a:ln>
          </p:spPr>
        </p:sp>
        <p:sp>
          <p:nvSpPr>
            <p:cNvPr id="5" name="Line 1111"/>
            <p:cNvSpPr/>
            <p:nvPr/>
          </p:nvSpPr>
          <p:spPr>
            <a:xfrm flipV="1">
              <a:off x="3798" y="2084"/>
              <a:ext cx="0" cy="150"/>
            </a:xfrm>
            <a:prstGeom prst="line">
              <a:avLst/>
            </a:prstGeom>
            <a:ln w="9525" cap="flat" cmpd="sng">
              <a:solidFill>
                <a:srgbClr val="006666"/>
              </a:solidFill>
              <a:prstDash val="solid"/>
              <a:headEnd type="none" w="med" len="med"/>
              <a:tailEnd type="none" w="med" len="med"/>
            </a:ln>
          </p:spPr>
        </p:sp>
        <p:sp>
          <p:nvSpPr>
            <p:cNvPr id="6" name="Line 1112"/>
            <p:cNvSpPr/>
            <p:nvPr/>
          </p:nvSpPr>
          <p:spPr>
            <a:xfrm>
              <a:off x="3798" y="2084"/>
              <a:ext cx="192" cy="0"/>
            </a:xfrm>
            <a:prstGeom prst="line">
              <a:avLst/>
            </a:prstGeom>
            <a:ln w="9525" cap="flat" cmpd="sng">
              <a:solidFill>
                <a:srgbClr val="006666"/>
              </a:solidFill>
              <a:prstDash val="solid"/>
              <a:headEnd type="none" w="med" len="med"/>
              <a:tailEnd type="none" w="med" len="med"/>
            </a:ln>
          </p:spPr>
        </p:sp>
        <p:sp>
          <p:nvSpPr>
            <p:cNvPr id="7" name="Line 1113"/>
            <p:cNvSpPr/>
            <p:nvPr/>
          </p:nvSpPr>
          <p:spPr>
            <a:xfrm flipV="1">
              <a:off x="3990" y="1884"/>
              <a:ext cx="0" cy="200"/>
            </a:xfrm>
            <a:prstGeom prst="line">
              <a:avLst/>
            </a:prstGeom>
            <a:ln w="9525" cap="flat" cmpd="sng">
              <a:solidFill>
                <a:srgbClr val="006666"/>
              </a:solidFill>
              <a:prstDash val="solid"/>
              <a:headEnd type="none" w="med" len="med"/>
              <a:tailEnd type="none" w="med" len="med"/>
            </a:ln>
          </p:spPr>
        </p:sp>
        <p:sp>
          <p:nvSpPr>
            <p:cNvPr id="8" name="Line 1117"/>
            <p:cNvSpPr/>
            <p:nvPr/>
          </p:nvSpPr>
          <p:spPr>
            <a:xfrm>
              <a:off x="4182" y="1792"/>
              <a:ext cx="209" cy="0"/>
            </a:xfrm>
            <a:prstGeom prst="line">
              <a:avLst/>
            </a:prstGeom>
            <a:ln w="9525" cap="flat" cmpd="sng">
              <a:solidFill>
                <a:srgbClr val="006666"/>
              </a:solidFill>
              <a:prstDash val="solid"/>
              <a:headEnd type="none" w="med" len="med"/>
              <a:tailEnd type="none" w="med" len="med"/>
            </a:ln>
          </p:spPr>
        </p:sp>
        <p:sp>
          <p:nvSpPr>
            <p:cNvPr id="9" name="Line 1118"/>
            <p:cNvSpPr/>
            <p:nvPr/>
          </p:nvSpPr>
          <p:spPr>
            <a:xfrm>
              <a:off x="4392" y="1793"/>
              <a:ext cx="0" cy="143"/>
            </a:xfrm>
            <a:prstGeom prst="line">
              <a:avLst/>
            </a:prstGeom>
            <a:ln w="9525" cap="flat" cmpd="sng">
              <a:solidFill>
                <a:srgbClr val="006666"/>
              </a:solidFill>
              <a:prstDash val="solid"/>
              <a:headEnd type="none" w="med" len="med"/>
              <a:tailEnd type="none" w="med" len="med"/>
            </a:ln>
          </p:spPr>
        </p:sp>
        <p:sp>
          <p:nvSpPr>
            <p:cNvPr id="10" name="Line 1119"/>
            <p:cNvSpPr/>
            <p:nvPr/>
          </p:nvSpPr>
          <p:spPr>
            <a:xfrm>
              <a:off x="4391" y="1934"/>
              <a:ext cx="167" cy="0"/>
            </a:xfrm>
            <a:prstGeom prst="line">
              <a:avLst/>
            </a:prstGeom>
            <a:ln w="9525" cap="flat" cmpd="sng">
              <a:solidFill>
                <a:srgbClr val="006666"/>
              </a:solidFill>
              <a:prstDash val="solid"/>
              <a:headEnd type="none" w="med" len="med"/>
              <a:tailEnd type="none" w="med" len="med"/>
            </a:ln>
          </p:spPr>
        </p:sp>
        <p:sp>
          <p:nvSpPr>
            <p:cNvPr id="11" name="Line 1122"/>
            <p:cNvSpPr/>
            <p:nvPr/>
          </p:nvSpPr>
          <p:spPr>
            <a:xfrm>
              <a:off x="4558" y="1935"/>
              <a:ext cx="0" cy="58"/>
            </a:xfrm>
            <a:prstGeom prst="line">
              <a:avLst/>
            </a:prstGeom>
            <a:ln w="9525" cap="flat" cmpd="sng">
              <a:solidFill>
                <a:srgbClr val="006666"/>
              </a:solidFill>
              <a:prstDash val="solid"/>
              <a:headEnd type="none" w="med" len="med"/>
              <a:tailEnd type="none" w="med" len="med"/>
            </a:ln>
          </p:spPr>
        </p:sp>
        <p:sp>
          <p:nvSpPr>
            <p:cNvPr id="12" name="Line 1123"/>
            <p:cNvSpPr/>
            <p:nvPr/>
          </p:nvSpPr>
          <p:spPr>
            <a:xfrm>
              <a:off x="4558" y="2000"/>
              <a:ext cx="175" cy="0"/>
            </a:xfrm>
            <a:prstGeom prst="line">
              <a:avLst/>
            </a:prstGeom>
            <a:ln w="9525" cap="flat" cmpd="sng">
              <a:solidFill>
                <a:srgbClr val="006666"/>
              </a:solidFill>
              <a:prstDash val="solid"/>
              <a:headEnd type="none" w="med" len="med"/>
              <a:tailEnd type="none" w="med" len="med"/>
            </a:ln>
          </p:spPr>
        </p:sp>
        <p:sp>
          <p:nvSpPr>
            <p:cNvPr id="13" name="Line 1124"/>
            <p:cNvSpPr/>
            <p:nvPr/>
          </p:nvSpPr>
          <p:spPr>
            <a:xfrm flipV="1">
              <a:off x="4733" y="1942"/>
              <a:ext cx="0" cy="51"/>
            </a:xfrm>
            <a:prstGeom prst="line">
              <a:avLst/>
            </a:prstGeom>
            <a:ln w="9525" cap="flat" cmpd="sng">
              <a:solidFill>
                <a:srgbClr val="006666"/>
              </a:solidFill>
              <a:prstDash val="solid"/>
              <a:headEnd type="none" w="med" len="med"/>
              <a:tailEnd type="none" w="med" len="med"/>
            </a:ln>
          </p:spPr>
        </p:sp>
        <p:sp>
          <p:nvSpPr>
            <p:cNvPr id="14" name="Line 1125"/>
            <p:cNvSpPr/>
            <p:nvPr/>
          </p:nvSpPr>
          <p:spPr>
            <a:xfrm>
              <a:off x="4733" y="1951"/>
              <a:ext cx="109" cy="0"/>
            </a:xfrm>
            <a:prstGeom prst="line">
              <a:avLst/>
            </a:prstGeom>
            <a:ln w="9525" cap="flat" cmpd="sng">
              <a:solidFill>
                <a:srgbClr val="006666"/>
              </a:solidFill>
              <a:prstDash val="solid"/>
              <a:headEnd type="none" w="med" len="med"/>
              <a:tailEnd type="none" w="med" len="med"/>
            </a:ln>
          </p:spPr>
        </p:sp>
        <p:sp>
          <p:nvSpPr>
            <p:cNvPr id="15" name="Text Box 1143"/>
            <p:cNvSpPr txBox="1"/>
            <p:nvPr/>
          </p:nvSpPr>
          <p:spPr>
            <a:xfrm>
              <a:off x="4918" y="2113"/>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16" name="Text Box 1144"/>
            <p:cNvSpPr txBox="1"/>
            <p:nvPr/>
          </p:nvSpPr>
          <p:spPr>
            <a:xfrm>
              <a:off x="3029" y="1488"/>
              <a:ext cx="558"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17" name="Line 1166"/>
            <p:cNvSpPr/>
            <p:nvPr/>
          </p:nvSpPr>
          <p:spPr>
            <a:xfrm>
              <a:off x="3990" y="1892"/>
              <a:ext cx="192" cy="0"/>
            </a:xfrm>
            <a:prstGeom prst="line">
              <a:avLst/>
            </a:prstGeom>
            <a:ln w="9525" cap="flat" cmpd="sng">
              <a:solidFill>
                <a:srgbClr val="006666"/>
              </a:solidFill>
              <a:prstDash val="solid"/>
              <a:headEnd type="none" w="med" len="med"/>
              <a:tailEnd type="none" w="med" len="med"/>
            </a:ln>
          </p:spPr>
        </p:sp>
        <p:sp>
          <p:nvSpPr>
            <p:cNvPr id="18" name="Line 1167"/>
            <p:cNvSpPr/>
            <p:nvPr/>
          </p:nvSpPr>
          <p:spPr>
            <a:xfrm flipH="1" flipV="1">
              <a:off x="4173" y="1784"/>
              <a:ext cx="1" cy="108"/>
            </a:xfrm>
            <a:prstGeom prst="line">
              <a:avLst/>
            </a:prstGeom>
            <a:ln w="9525" cap="flat" cmpd="sng">
              <a:solidFill>
                <a:srgbClr val="006666"/>
              </a:solidFill>
              <a:prstDash val="solid"/>
              <a:headEnd type="none" w="med" len="med"/>
              <a:tailEnd type="none" w="med" len="med"/>
            </a:ln>
          </p:spPr>
        </p:sp>
        <p:sp>
          <p:nvSpPr>
            <p:cNvPr id="19" name="Text Box 1172"/>
            <p:cNvSpPr txBox="1"/>
            <p:nvPr/>
          </p:nvSpPr>
          <p:spPr>
            <a:xfrm>
              <a:off x="3665" y="2211"/>
              <a:ext cx="224"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0" name="Text Box 1173"/>
            <p:cNvSpPr txBox="1"/>
            <p:nvPr/>
          </p:nvSpPr>
          <p:spPr>
            <a:xfrm>
              <a:off x="3852" y="2222"/>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1" name="Text Box 1174"/>
            <p:cNvSpPr txBox="1"/>
            <p:nvPr/>
          </p:nvSpPr>
          <p:spPr>
            <a:xfrm>
              <a:off x="4055" y="2219"/>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 name="Text Box 1176"/>
            <p:cNvSpPr txBox="1"/>
            <p:nvPr/>
          </p:nvSpPr>
          <p:spPr>
            <a:xfrm>
              <a:off x="4328" y="2190"/>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5791"/>
                                        </p:tgtEl>
                                        <p:attrNameLst>
                                          <p:attrName>style.visibility</p:attrName>
                                        </p:attrNameLst>
                                      </p:cBhvr>
                                      <p:to>
                                        <p:strVal val="visible"/>
                                      </p:to>
                                    </p:set>
                                    <p:animEffect transition="in" filter="dissolve">
                                      <p:cBhvr>
                                        <p:cTn id="7" dur="500"/>
                                        <p:tgtEl>
                                          <p:spTgt spid="22457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215"/>
                                        </p:tgtEl>
                                        <p:attrNameLst>
                                          <p:attrName>style.visibility</p:attrName>
                                        </p:attrNameLst>
                                      </p:cBhvr>
                                      <p:to>
                                        <p:strVal val="visible"/>
                                      </p:to>
                                    </p:set>
                                    <p:animEffect transition="in" filter="dissolve">
                                      <p:cBhvr>
                                        <p:cTn id="12" dur="500"/>
                                        <p:tgtEl>
                                          <p:spTgt spid="521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45679"/>
                                        </p:tgtEl>
                                        <p:attrNameLst>
                                          <p:attrName>style.visibility</p:attrName>
                                        </p:attrNameLst>
                                      </p:cBhvr>
                                      <p:to>
                                        <p:strVal val="visible"/>
                                      </p:to>
                                    </p:set>
                                    <p:animEffect transition="in" filter="dissolve">
                                      <p:cBhvr>
                                        <p:cTn id="17" dur="500"/>
                                        <p:tgtEl>
                                          <p:spTgt spid="2245679"/>
                                        </p:tgtEl>
                                      </p:cBhvr>
                                    </p:animEffect>
                                  </p:childTnLst>
                                </p:cTn>
                              </p:par>
                            </p:childTnLst>
                          </p:cTn>
                        </p:par>
                        <p:par>
                          <p:cTn id="18" fill="hold">
                            <p:stCondLst>
                              <p:cond delay="500"/>
                            </p:stCondLst>
                            <p:childTnLst>
                              <p:par>
                                <p:cTn id="19" presetID="17" presetClass="entr" presetSubtype="1" fill="hold" grpId="0" nodeType="afterEffect">
                                  <p:stCondLst>
                                    <p:cond delay="0"/>
                                  </p:stCondLst>
                                  <p:childTnLst>
                                    <p:set>
                                      <p:cBhvr>
                                        <p:cTn id="20" dur="1" fill="hold">
                                          <p:stCondLst>
                                            <p:cond delay="0"/>
                                          </p:stCondLst>
                                        </p:cTn>
                                        <p:tgtEl>
                                          <p:spTgt spid="2245686"/>
                                        </p:tgtEl>
                                        <p:attrNameLst>
                                          <p:attrName>style.visibility</p:attrName>
                                        </p:attrNameLst>
                                      </p:cBhvr>
                                      <p:to>
                                        <p:strVal val="visible"/>
                                      </p:to>
                                    </p:set>
                                    <p:anim calcmode="lin" valueType="num">
                                      <p:cBhvr>
                                        <p:cTn id="21" dur="500" fill="hold"/>
                                        <p:tgtEl>
                                          <p:spTgt spid="2245686"/>
                                        </p:tgtEl>
                                        <p:attrNameLst>
                                          <p:attrName>ppt_x</p:attrName>
                                        </p:attrNameLst>
                                      </p:cBhvr>
                                      <p:tavLst>
                                        <p:tav tm="0">
                                          <p:val>
                                            <p:strVal val="#ppt_x"/>
                                          </p:val>
                                        </p:tav>
                                        <p:tav tm="100000">
                                          <p:val>
                                            <p:strVal val="#ppt_x"/>
                                          </p:val>
                                        </p:tav>
                                      </p:tavLst>
                                    </p:anim>
                                    <p:anim calcmode="lin" valueType="num">
                                      <p:cBhvr>
                                        <p:cTn id="22" dur="500" fill="hold"/>
                                        <p:tgtEl>
                                          <p:spTgt spid="2245686"/>
                                        </p:tgtEl>
                                        <p:attrNameLst>
                                          <p:attrName>ppt_y</p:attrName>
                                        </p:attrNameLst>
                                      </p:cBhvr>
                                      <p:tavLst>
                                        <p:tav tm="0">
                                          <p:val>
                                            <p:strVal val="#ppt_y-#ppt_h/2"/>
                                          </p:val>
                                        </p:tav>
                                        <p:tav tm="100000">
                                          <p:val>
                                            <p:strVal val="#ppt_y"/>
                                          </p:val>
                                        </p:tav>
                                      </p:tavLst>
                                    </p:anim>
                                    <p:anim calcmode="lin" valueType="num">
                                      <p:cBhvr>
                                        <p:cTn id="23" dur="500" fill="hold"/>
                                        <p:tgtEl>
                                          <p:spTgt spid="2245686"/>
                                        </p:tgtEl>
                                        <p:attrNameLst>
                                          <p:attrName>ppt_w</p:attrName>
                                        </p:attrNameLst>
                                      </p:cBhvr>
                                      <p:tavLst>
                                        <p:tav tm="0">
                                          <p:val>
                                            <p:strVal val="#ppt_w"/>
                                          </p:val>
                                        </p:tav>
                                        <p:tav tm="100000">
                                          <p:val>
                                            <p:strVal val="#ppt_w"/>
                                          </p:val>
                                        </p:tav>
                                      </p:tavLst>
                                    </p:anim>
                                    <p:anim calcmode="lin" valueType="num">
                                      <p:cBhvr>
                                        <p:cTn id="24" dur="500" fill="hold"/>
                                        <p:tgtEl>
                                          <p:spTgt spid="2245686"/>
                                        </p:tgtEl>
                                        <p:attrNameLst>
                                          <p:attrName>ppt_h</p:attrName>
                                        </p:attrNameLst>
                                      </p:cBhvr>
                                      <p:tavLst>
                                        <p:tav tm="0">
                                          <p:val>
                                            <p:fltVal val="0.000000"/>
                                          </p:val>
                                        </p:tav>
                                        <p:tav tm="100000">
                                          <p:val>
                                            <p:strVal val="#ppt_h"/>
                                          </p:val>
                                        </p:tav>
                                      </p:tavLst>
                                    </p:anim>
                                  </p:childTnLst>
                                </p:cTn>
                              </p:par>
                            </p:childTnLst>
                          </p:cTn>
                        </p:par>
                        <p:par>
                          <p:cTn id="25" fill="hold">
                            <p:stCondLst>
                              <p:cond delay="1000"/>
                            </p:stCondLst>
                            <p:childTnLst>
                              <p:par>
                                <p:cTn id="26" presetID="22" presetClass="entr" presetSubtype="8" fill="hold" nodeType="afterEffect">
                                  <p:stCondLst>
                                    <p:cond delay="0"/>
                                  </p:stCondLst>
                                  <p:childTnLst>
                                    <p:set>
                                      <p:cBhvr>
                                        <p:cTn id="27" dur="1" fill="hold">
                                          <p:stCondLst>
                                            <p:cond delay="0"/>
                                          </p:stCondLst>
                                        </p:cTn>
                                        <p:tgtEl>
                                          <p:spTgt spid="2245705"/>
                                        </p:tgtEl>
                                        <p:attrNameLst>
                                          <p:attrName>style.visibility</p:attrName>
                                        </p:attrNameLst>
                                      </p:cBhvr>
                                      <p:to>
                                        <p:strVal val="visible"/>
                                      </p:to>
                                    </p:set>
                                    <p:animEffect transition="in" filter="wipe(left)">
                                      <p:cBhvr>
                                        <p:cTn id="28" dur="500"/>
                                        <p:tgtEl>
                                          <p:spTgt spid="2245705"/>
                                        </p:tgtEl>
                                      </p:cBhvr>
                                    </p:animEffect>
                                  </p:childTnLst>
                                </p:cTn>
                              </p:par>
                            </p:childTnLst>
                          </p:cTn>
                        </p:par>
                        <p:par>
                          <p:cTn id="29" fill="hold">
                            <p:stCondLst>
                              <p:cond delay="1500"/>
                            </p:stCondLst>
                            <p:childTnLst>
                              <p:par>
                                <p:cTn id="30" presetID="22" presetClass="entr" presetSubtype="1" fill="hold" nodeType="afterEffect">
                                  <p:stCondLst>
                                    <p:cond delay="0"/>
                                  </p:stCondLst>
                                  <p:childTnLst>
                                    <p:set>
                                      <p:cBhvr>
                                        <p:cTn id="31" dur="1" fill="hold">
                                          <p:stCondLst>
                                            <p:cond delay="0"/>
                                          </p:stCondLst>
                                        </p:cTn>
                                        <p:tgtEl>
                                          <p:spTgt spid="2245700"/>
                                        </p:tgtEl>
                                        <p:attrNameLst>
                                          <p:attrName>style.visibility</p:attrName>
                                        </p:attrNameLst>
                                      </p:cBhvr>
                                      <p:to>
                                        <p:strVal val="visible"/>
                                      </p:to>
                                    </p:set>
                                    <p:animEffect transition="in" filter="wipe(up)">
                                      <p:cBhvr>
                                        <p:cTn id="32" dur="500"/>
                                        <p:tgtEl>
                                          <p:spTgt spid="224570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5237"/>
                                        </p:tgtEl>
                                        <p:attrNameLst>
                                          <p:attrName>style.visibility</p:attrName>
                                        </p:attrNameLst>
                                      </p:cBhvr>
                                      <p:to>
                                        <p:strVal val="visible"/>
                                      </p:to>
                                    </p:set>
                                    <p:animEffect transition="in" filter="dissolve">
                                      <p:cBhvr>
                                        <p:cTn id="37" dur="500"/>
                                        <p:tgtEl>
                                          <p:spTgt spid="5237"/>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2245680"/>
                                        </p:tgtEl>
                                        <p:attrNameLst>
                                          <p:attrName>style.visibility</p:attrName>
                                        </p:attrNameLst>
                                      </p:cBhvr>
                                      <p:to>
                                        <p:strVal val="visible"/>
                                      </p:to>
                                    </p:set>
                                    <p:animEffect transition="in" filter="dissolve">
                                      <p:cBhvr>
                                        <p:cTn id="42" dur="500"/>
                                        <p:tgtEl>
                                          <p:spTgt spid="2245680"/>
                                        </p:tgtEl>
                                      </p:cBhvr>
                                    </p:animEffect>
                                  </p:childTnLst>
                                </p:cTn>
                              </p:par>
                            </p:childTnLst>
                          </p:cTn>
                        </p:par>
                        <p:par>
                          <p:cTn id="43" fill="hold">
                            <p:stCondLst>
                              <p:cond delay="500"/>
                            </p:stCondLst>
                            <p:childTnLst>
                              <p:par>
                                <p:cTn id="44" presetID="17" presetClass="entr" presetSubtype="1" fill="hold" grpId="0" nodeType="afterEffect">
                                  <p:stCondLst>
                                    <p:cond delay="0"/>
                                  </p:stCondLst>
                                  <p:childTnLst>
                                    <p:set>
                                      <p:cBhvr>
                                        <p:cTn id="45" dur="1" fill="hold">
                                          <p:stCondLst>
                                            <p:cond delay="0"/>
                                          </p:stCondLst>
                                        </p:cTn>
                                        <p:tgtEl>
                                          <p:spTgt spid="2245687"/>
                                        </p:tgtEl>
                                        <p:attrNameLst>
                                          <p:attrName>style.visibility</p:attrName>
                                        </p:attrNameLst>
                                      </p:cBhvr>
                                      <p:to>
                                        <p:strVal val="visible"/>
                                      </p:to>
                                    </p:set>
                                    <p:anim calcmode="lin" valueType="num">
                                      <p:cBhvr>
                                        <p:cTn id="46" dur="500" fill="hold"/>
                                        <p:tgtEl>
                                          <p:spTgt spid="2245687"/>
                                        </p:tgtEl>
                                        <p:attrNameLst>
                                          <p:attrName>ppt_x</p:attrName>
                                        </p:attrNameLst>
                                      </p:cBhvr>
                                      <p:tavLst>
                                        <p:tav tm="0">
                                          <p:val>
                                            <p:strVal val="#ppt_x"/>
                                          </p:val>
                                        </p:tav>
                                        <p:tav tm="100000">
                                          <p:val>
                                            <p:strVal val="#ppt_x"/>
                                          </p:val>
                                        </p:tav>
                                      </p:tavLst>
                                    </p:anim>
                                    <p:anim calcmode="lin" valueType="num">
                                      <p:cBhvr>
                                        <p:cTn id="47" dur="500" fill="hold"/>
                                        <p:tgtEl>
                                          <p:spTgt spid="2245687"/>
                                        </p:tgtEl>
                                        <p:attrNameLst>
                                          <p:attrName>ppt_y</p:attrName>
                                        </p:attrNameLst>
                                      </p:cBhvr>
                                      <p:tavLst>
                                        <p:tav tm="0">
                                          <p:val>
                                            <p:strVal val="#ppt_y-#ppt_h/2"/>
                                          </p:val>
                                        </p:tav>
                                        <p:tav tm="100000">
                                          <p:val>
                                            <p:strVal val="#ppt_y"/>
                                          </p:val>
                                        </p:tav>
                                      </p:tavLst>
                                    </p:anim>
                                    <p:anim calcmode="lin" valueType="num">
                                      <p:cBhvr>
                                        <p:cTn id="48" dur="500" fill="hold"/>
                                        <p:tgtEl>
                                          <p:spTgt spid="2245687"/>
                                        </p:tgtEl>
                                        <p:attrNameLst>
                                          <p:attrName>ppt_w</p:attrName>
                                        </p:attrNameLst>
                                      </p:cBhvr>
                                      <p:tavLst>
                                        <p:tav tm="0">
                                          <p:val>
                                            <p:strVal val="#ppt_w"/>
                                          </p:val>
                                        </p:tav>
                                        <p:tav tm="100000">
                                          <p:val>
                                            <p:strVal val="#ppt_w"/>
                                          </p:val>
                                        </p:tav>
                                      </p:tavLst>
                                    </p:anim>
                                    <p:anim calcmode="lin" valueType="num">
                                      <p:cBhvr>
                                        <p:cTn id="49" dur="500" fill="hold"/>
                                        <p:tgtEl>
                                          <p:spTgt spid="2245687"/>
                                        </p:tgtEl>
                                        <p:attrNameLst>
                                          <p:attrName>ppt_h</p:attrName>
                                        </p:attrNameLst>
                                      </p:cBhvr>
                                      <p:tavLst>
                                        <p:tav tm="0">
                                          <p:val>
                                            <p:fltVal val="0.000000"/>
                                          </p:val>
                                        </p:tav>
                                        <p:tav tm="100000">
                                          <p:val>
                                            <p:strVal val="#ppt_h"/>
                                          </p:val>
                                        </p:tav>
                                      </p:tavLst>
                                    </p:anim>
                                  </p:childTnLst>
                                </p:cTn>
                              </p:par>
                            </p:childTnLst>
                          </p:cTn>
                        </p:par>
                        <p:par>
                          <p:cTn id="50" fill="hold">
                            <p:stCondLst>
                              <p:cond delay="1000"/>
                            </p:stCondLst>
                            <p:childTnLst>
                              <p:par>
                                <p:cTn id="51" presetID="22" presetClass="entr" presetSubtype="8" fill="hold" nodeType="afterEffect">
                                  <p:stCondLst>
                                    <p:cond delay="0"/>
                                  </p:stCondLst>
                                  <p:childTnLst>
                                    <p:set>
                                      <p:cBhvr>
                                        <p:cTn id="52" dur="1" fill="hold">
                                          <p:stCondLst>
                                            <p:cond delay="0"/>
                                          </p:stCondLst>
                                        </p:cTn>
                                        <p:tgtEl>
                                          <p:spTgt spid="2245755"/>
                                        </p:tgtEl>
                                        <p:attrNameLst>
                                          <p:attrName>style.visibility</p:attrName>
                                        </p:attrNameLst>
                                      </p:cBhvr>
                                      <p:to>
                                        <p:strVal val="visible"/>
                                      </p:to>
                                    </p:set>
                                    <p:animEffect transition="in" filter="wipe(left)">
                                      <p:cBhvr>
                                        <p:cTn id="53" dur="500"/>
                                        <p:tgtEl>
                                          <p:spTgt spid="2245755"/>
                                        </p:tgtEl>
                                      </p:cBhvr>
                                    </p:animEffect>
                                  </p:childTnLst>
                                </p:cTn>
                              </p:par>
                            </p:childTnLst>
                          </p:cTn>
                        </p:par>
                        <p:par>
                          <p:cTn id="54" fill="hold">
                            <p:stCondLst>
                              <p:cond delay="1500"/>
                            </p:stCondLst>
                            <p:childTnLst>
                              <p:par>
                                <p:cTn id="55" presetID="22" presetClass="entr" presetSubtype="1" fill="hold" nodeType="afterEffect">
                                  <p:stCondLst>
                                    <p:cond delay="0"/>
                                  </p:stCondLst>
                                  <p:childTnLst>
                                    <p:set>
                                      <p:cBhvr>
                                        <p:cTn id="56" dur="1" fill="hold">
                                          <p:stCondLst>
                                            <p:cond delay="0"/>
                                          </p:stCondLst>
                                        </p:cTn>
                                        <p:tgtEl>
                                          <p:spTgt spid="2245701"/>
                                        </p:tgtEl>
                                        <p:attrNameLst>
                                          <p:attrName>style.visibility</p:attrName>
                                        </p:attrNameLst>
                                      </p:cBhvr>
                                      <p:to>
                                        <p:strVal val="visible"/>
                                      </p:to>
                                    </p:set>
                                    <p:animEffect transition="in" filter="wipe(up)">
                                      <p:cBhvr>
                                        <p:cTn id="57" dur="500"/>
                                        <p:tgtEl>
                                          <p:spTgt spid="2245701"/>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5238"/>
                                        </p:tgtEl>
                                        <p:attrNameLst>
                                          <p:attrName>style.visibility</p:attrName>
                                        </p:attrNameLst>
                                      </p:cBhvr>
                                      <p:to>
                                        <p:strVal val="visible"/>
                                      </p:to>
                                    </p:set>
                                    <p:animEffect transition="in" filter="dissolve">
                                      <p:cBhvr>
                                        <p:cTn id="62" dur="500"/>
                                        <p:tgtEl>
                                          <p:spTgt spid="5238"/>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2245681"/>
                                        </p:tgtEl>
                                        <p:attrNameLst>
                                          <p:attrName>style.visibility</p:attrName>
                                        </p:attrNameLst>
                                      </p:cBhvr>
                                      <p:to>
                                        <p:strVal val="visible"/>
                                      </p:to>
                                    </p:set>
                                    <p:animEffect transition="in" filter="dissolve">
                                      <p:cBhvr>
                                        <p:cTn id="67" dur="500"/>
                                        <p:tgtEl>
                                          <p:spTgt spid="2245681"/>
                                        </p:tgtEl>
                                      </p:cBhvr>
                                    </p:animEffect>
                                  </p:childTnLst>
                                </p:cTn>
                              </p:par>
                            </p:childTnLst>
                          </p:cTn>
                        </p:par>
                        <p:par>
                          <p:cTn id="68" fill="hold">
                            <p:stCondLst>
                              <p:cond delay="500"/>
                            </p:stCondLst>
                            <p:childTnLst>
                              <p:par>
                                <p:cTn id="69" presetID="17" presetClass="entr" presetSubtype="1" fill="hold" grpId="0" nodeType="afterEffect">
                                  <p:stCondLst>
                                    <p:cond delay="0"/>
                                  </p:stCondLst>
                                  <p:childTnLst>
                                    <p:set>
                                      <p:cBhvr>
                                        <p:cTn id="70" dur="1" fill="hold">
                                          <p:stCondLst>
                                            <p:cond delay="0"/>
                                          </p:stCondLst>
                                        </p:cTn>
                                        <p:tgtEl>
                                          <p:spTgt spid="2245693"/>
                                        </p:tgtEl>
                                        <p:attrNameLst>
                                          <p:attrName>style.visibility</p:attrName>
                                        </p:attrNameLst>
                                      </p:cBhvr>
                                      <p:to>
                                        <p:strVal val="visible"/>
                                      </p:to>
                                    </p:set>
                                    <p:anim calcmode="lin" valueType="num">
                                      <p:cBhvr>
                                        <p:cTn id="71" dur="500" fill="hold"/>
                                        <p:tgtEl>
                                          <p:spTgt spid="2245693"/>
                                        </p:tgtEl>
                                        <p:attrNameLst>
                                          <p:attrName>ppt_x</p:attrName>
                                        </p:attrNameLst>
                                      </p:cBhvr>
                                      <p:tavLst>
                                        <p:tav tm="0">
                                          <p:val>
                                            <p:strVal val="#ppt_x"/>
                                          </p:val>
                                        </p:tav>
                                        <p:tav tm="100000">
                                          <p:val>
                                            <p:strVal val="#ppt_x"/>
                                          </p:val>
                                        </p:tav>
                                      </p:tavLst>
                                    </p:anim>
                                    <p:anim calcmode="lin" valueType="num">
                                      <p:cBhvr>
                                        <p:cTn id="72" dur="500" fill="hold"/>
                                        <p:tgtEl>
                                          <p:spTgt spid="2245693"/>
                                        </p:tgtEl>
                                        <p:attrNameLst>
                                          <p:attrName>ppt_y</p:attrName>
                                        </p:attrNameLst>
                                      </p:cBhvr>
                                      <p:tavLst>
                                        <p:tav tm="0">
                                          <p:val>
                                            <p:strVal val="#ppt_y-#ppt_h/2"/>
                                          </p:val>
                                        </p:tav>
                                        <p:tav tm="100000">
                                          <p:val>
                                            <p:strVal val="#ppt_y"/>
                                          </p:val>
                                        </p:tav>
                                      </p:tavLst>
                                    </p:anim>
                                    <p:anim calcmode="lin" valueType="num">
                                      <p:cBhvr>
                                        <p:cTn id="73" dur="500" fill="hold"/>
                                        <p:tgtEl>
                                          <p:spTgt spid="2245693"/>
                                        </p:tgtEl>
                                        <p:attrNameLst>
                                          <p:attrName>ppt_w</p:attrName>
                                        </p:attrNameLst>
                                      </p:cBhvr>
                                      <p:tavLst>
                                        <p:tav tm="0">
                                          <p:val>
                                            <p:strVal val="#ppt_w"/>
                                          </p:val>
                                        </p:tav>
                                        <p:tav tm="100000">
                                          <p:val>
                                            <p:strVal val="#ppt_w"/>
                                          </p:val>
                                        </p:tav>
                                      </p:tavLst>
                                    </p:anim>
                                    <p:anim calcmode="lin" valueType="num">
                                      <p:cBhvr>
                                        <p:cTn id="74" dur="500" fill="hold"/>
                                        <p:tgtEl>
                                          <p:spTgt spid="2245693"/>
                                        </p:tgtEl>
                                        <p:attrNameLst>
                                          <p:attrName>ppt_h</p:attrName>
                                        </p:attrNameLst>
                                      </p:cBhvr>
                                      <p:tavLst>
                                        <p:tav tm="0">
                                          <p:val>
                                            <p:fltVal val="0.000000"/>
                                          </p:val>
                                        </p:tav>
                                        <p:tav tm="100000">
                                          <p:val>
                                            <p:strVal val="#ppt_h"/>
                                          </p:val>
                                        </p:tav>
                                      </p:tavLst>
                                    </p:anim>
                                  </p:childTnLst>
                                </p:cTn>
                              </p:par>
                            </p:childTnLst>
                          </p:cTn>
                        </p:par>
                        <p:par>
                          <p:cTn id="75" fill="hold">
                            <p:stCondLst>
                              <p:cond delay="1000"/>
                            </p:stCondLst>
                            <p:childTnLst>
                              <p:par>
                                <p:cTn id="76" presetID="22" presetClass="entr" presetSubtype="8" fill="hold" nodeType="afterEffect">
                                  <p:stCondLst>
                                    <p:cond delay="0"/>
                                  </p:stCondLst>
                                  <p:childTnLst>
                                    <p:set>
                                      <p:cBhvr>
                                        <p:cTn id="77" dur="1" fill="hold">
                                          <p:stCondLst>
                                            <p:cond delay="0"/>
                                          </p:stCondLst>
                                        </p:cTn>
                                        <p:tgtEl>
                                          <p:spTgt spid="2245756"/>
                                        </p:tgtEl>
                                        <p:attrNameLst>
                                          <p:attrName>style.visibility</p:attrName>
                                        </p:attrNameLst>
                                      </p:cBhvr>
                                      <p:to>
                                        <p:strVal val="visible"/>
                                      </p:to>
                                    </p:set>
                                    <p:animEffect transition="in" filter="wipe(left)">
                                      <p:cBhvr>
                                        <p:cTn id="78" dur="500"/>
                                        <p:tgtEl>
                                          <p:spTgt spid="2245756"/>
                                        </p:tgtEl>
                                      </p:cBhvr>
                                    </p:animEffect>
                                  </p:childTnLst>
                                </p:cTn>
                              </p:par>
                            </p:childTnLst>
                          </p:cTn>
                        </p:par>
                        <p:par>
                          <p:cTn id="79" fill="hold">
                            <p:stCondLst>
                              <p:cond delay="1500"/>
                            </p:stCondLst>
                            <p:childTnLst>
                              <p:par>
                                <p:cTn id="80" presetID="22" presetClass="entr" presetSubtype="1" fill="hold" nodeType="afterEffect">
                                  <p:stCondLst>
                                    <p:cond delay="0"/>
                                  </p:stCondLst>
                                  <p:childTnLst>
                                    <p:set>
                                      <p:cBhvr>
                                        <p:cTn id="81" dur="1" fill="hold">
                                          <p:stCondLst>
                                            <p:cond delay="0"/>
                                          </p:stCondLst>
                                        </p:cTn>
                                        <p:tgtEl>
                                          <p:spTgt spid="2245702"/>
                                        </p:tgtEl>
                                        <p:attrNameLst>
                                          <p:attrName>style.visibility</p:attrName>
                                        </p:attrNameLst>
                                      </p:cBhvr>
                                      <p:to>
                                        <p:strVal val="visible"/>
                                      </p:to>
                                    </p:set>
                                    <p:animEffect transition="in" filter="wipe(up)">
                                      <p:cBhvr>
                                        <p:cTn id="82" dur="500"/>
                                        <p:tgtEl>
                                          <p:spTgt spid="2245702"/>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nodeType="clickEffect">
                                  <p:stCondLst>
                                    <p:cond delay="0"/>
                                  </p:stCondLst>
                                  <p:childTnLst>
                                    <p:set>
                                      <p:cBhvr>
                                        <p:cTn id="86" dur="1" fill="hold">
                                          <p:stCondLst>
                                            <p:cond delay="0"/>
                                          </p:stCondLst>
                                        </p:cTn>
                                        <p:tgtEl>
                                          <p:spTgt spid="5239"/>
                                        </p:tgtEl>
                                        <p:attrNameLst>
                                          <p:attrName>style.visibility</p:attrName>
                                        </p:attrNameLst>
                                      </p:cBhvr>
                                      <p:to>
                                        <p:strVal val="visible"/>
                                      </p:to>
                                    </p:set>
                                    <p:animEffect transition="in" filter="dissolve">
                                      <p:cBhvr>
                                        <p:cTn id="87" dur="500"/>
                                        <p:tgtEl>
                                          <p:spTgt spid="5239"/>
                                        </p:tgtEl>
                                      </p:cBhvr>
                                    </p:animEffect>
                                  </p:childTnLst>
                                </p:cTn>
                              </p:par>
                            </p:childTnLst>
                          </p:cTn>
                        </p:par>
                      </p:childTnLst>
                    </p:cTn>
                  </p:par>
                  <p:par>
                    <p:cTn id="88" fill="hold">
                      <p:stCondLst>
                        <p:cond delay="indefinite"/>
                      </p:stCondLst>
                      <p:childTnLst>
                        <p:par>
                          <p:cTn id="89" fill="hold">
                            <p:stCondLst>
                              <p:cond delay="0"/>
                            </p:stCondLst>
                            <p:childTnLst>
                              <p:par>
                                <p:cTn id="90" presetID="9" presetClass="entr" presetSubtype="0" fill="hold" grpId="0" nodeType="clickEffect">
                                  <p:stCondLst>
                                    <p:cond delay="0"/>
                                  </p:stCondLst>
                                  <p:childTnLst>
                                    <p:set>
                                      <p:cBhvr>
                                        <p:cTn id="91" dur="1" fill="hold">
                                          <p:stCondLst>
                                            <p:cond delay="0"/>
                                          </p:stCondLst>
                                        </p:cTn>
                                        <p:tgtEl>
                                          <p:spTgt spid="2245682"/>
                                        </p:tgtEl>
                                        <p:attrNameLst>
                                          <p:attrName>style.visibility</p:attrName>
                                        </p:attrNameLst>
                                      </p:cBhvr>
                                      <p:to>
                                        <p:strVal val="visible"/>
                                      </p:to>
                                    </p:set>
                                    <p:animEffect transition="in" filter="dissolve">
                                      <p:cBhvr>
                                        <p:cTn id="92" dur="500"/>
                                        <p:tgtEl>
                                          <p:spTgt spid="2245682"/>
                                        </p:tgtEl>
                                      </p:cBhvr>
                                    </p:animEffect>
                                  </p:childTnLst>
                                </p:cTn>
                              </p:par>
                            </p:childTnLst>
                          </p:cTn>
                        </p:par>
                        <p:par>
                          <p:cTn id="93" fill="hold">
                            <p:stCondLst>
                              <p:cond delay="500"/>
                            </p:stCondLst>
                            <p:childTnLst>
                              <p:par>
                                <p:cTn id="94" presetID="17" presetClass="entr" presetSubtype="1" fill="hold" grpId="0" nodeType="afterEffect">
                                  <p:stCondLst>
                                    <p:cond delay="0"/>
                                  </p:stCondLst>
                                  <p:childTnLst>
                                    <p:set>
                                      <p:cBhvr>
                                        <p:cTn id="95" dur="1" fill="hold">
                                          <p:stCondLst>
                                            <p:cond delay="0"/>
                                          </p:stCondLst>
                                        </p:cTn>
                                        <p:tgtEl>
                                          <p:spTgt spid="2245696"/>
                                        </p:tgtEl>
                                        <p:attrNameLst>
                                          <p:attrName>style.visibility</p:attrName>
                                        </p:attrNameLst>
                                      </p:cBhvr>
                                      <p:to>
                                        <p:strVal val="visible"/>
                                      </p:to>
                                    </p:set>
                                    <p:anim calcmode="lin" valueType="num">
                                      <p:cBhvr>
                                        <p:cTn id="96" dur="500" fill="hold"/>
                                        <p:tgtEl>
                                          <p:spTgt spid="2245696"/>
                                        </p:tgtEl>
                                        <p:attrNameLst>
                                          <p:attrName>ppt_x</p:attrName>
                                        </p:attrNameLst>
                                      </p:cBhvr>
                                      <p:tavLst>
                                        <p:tav tm="0">
                                          <p:val>
                                            <p:strVal val="#ppt_x"/>
                                          </p:val>
                                        </p:tav>
                                        <p:tav tm="100000">
                                          <p:val>
                                            <p:strVal val="#ppt_x"/>
                                          </p:val>
                                        </p:tav>
                                      </p:tavLst>
                                    </p:anim>
                                    <p:anim calcmode="lin" valueType="num">
                                      <p:cBhvr>
                                        <p:cTn id="97" dur="500" fill="hold"/>
                                        <p:tgtEl>
                                          <p:spTgt spid="2245696"/>
                                        </p:tgtEl>
                                        <p:attrNameLst>
                                          <p:attrName>ppt_y</p:attrName>
                                        </p:attrNameLst>
                                      </p:cBhvr>
                                      <p:tavLst>
                                        <p:tav tm="0">
                                          <p:val>
                                            <p:strVal val="#ppt_y-#ppt_h/2"/>
                                          </p:val>
                                        </p:tav>
                                        <p:tav tm="100000">
                                          <p:val>
                                            <p:strVal val="#ppt_y"/>
                                          </p:val>
                                        </p:tav>
                                      </p:tavLst>
                                    </p:anim>
                                    <p:anim calcmode="lin" valueType="num">
                                      <p:cBhvr>
                                        <p:cTn id="98" dur="500" fill="hold"/>
                                        <p:tgtEl>
                                          <p:spTgt spid="2245696"/>
                                        </p:tgtEl>
                                        <p:attrNameLst>
                                          <p:attrName>ppt_w</p:attrName>
                                        </p:attrNameLst>
                                      </p:cBhvr>
                                      <p:tavLst>
                                        <p:tav tm="0">
                                          <p:val>
                                            <p:strVal val="#ppt_w"/>
                                          </p:val>
                                        </p:tav>
                                        <p:tav tm="100000">
                                          <p:val>
                                            <p:strVal val="#ppt_w"/>
                                          </p:val>
                                        </p:tav>
                                      </p:tavLst>
                                    </p:anim>
                                    <p:anim calcmode="lin" valueType="num">
                                      <p:cBhvr>
                                        <p:cTn id="99" dur="500" fill="hold"/>
                                        <p:tgtEl>
                                          <p:spTgt spid="2245696"/>
                                        </p:tgtEl>
                                        <p:attrNameLst>
                                          <p:attrName>ppt_h</p:attrName>
                                        </p:attrNameLst>
                                      </p:cBhvr>
                                      <p:tavLst>
                                        <p:tav tm="0">
                                          <p:val>
                                            <p:fltVal val="0.000000"/>
                                          </p:val>
                                        </p:tav>
                                        <p:tav tm="100000">
                                          <p:val>
                                            <p:strVal val="#ppt_h"/>
                                          </p:val>
                                        </p:tav>
                                      </p:tavLst>
                                    </p:anim>
                                  </p:childTnLst>
                                </p:cTn>
                              </p:par>
                            </p:childTnLst>
                          </p:cTn>
                        </p:par>
                        <p:par>
                          <p:cTn id="100" fill="hold">
                            <p:stCondLst>
                              <p:cond delay="1000"/>
                            </p:stCondLst>
                            <p:childTnLst>
                              <p:par>
                                <p:cTn id="101" presetID="22" presetClass="entr" presetSubtype="8" fill="hold" nodeType="afterEffect">
                                  <p:stCondLst>
                                    <p:cond delay="0"/>
                                  </p:stCondLst>
                                  <p:childTnLst>
                                    <p:set>
                                      <p:cBhvr>
                                        <p:cTn id="102" dur="1" fill="hold">
                                          <p:stCondLst>
                                            <p:cond delay="0"/>
                                          </p:stCondLst>
                                        </p:cTn>
                                        <p:tgtEl>
                                          <p:spTgt spid="2245757"/>
                                        </p:tgtEl>
                                        <p:attrNameLst>
                                          <p:attrName>style.visibility</p:attrName>
                                        </p:attrNameLst>
                                      </p:cBhvr>
                                      <p:to>
                                        <p:strVal val="visible"/>
                                      </p:to>
                                    </p:set>
                                    <p:animEffect transition="in" filter="wipe(left)">
                                      <p:cBhvr>
                                        <p:cTn id="103" dur="500"/>
                                        <p:tgtEl>
                                          <p:spTgt spid="2245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5679" grpId="0"/>
      <p:bldP spid="2245680" grpId="0"/>
      <p:bldP spid="2245681" grpId="0"/>
      <p:bldP spid="2245682" grpId="0"/>
      <p:bldP spid="2245686" grpId="0" bldLvl="0" animBg="1"/>
      <p:bldP spid="2245687" grpId="0" bldLvl="0" animBg="1"/>
      <p:bldP spid="2245693" grpId="0" bldLvl="0" animBg="1"/>
      <p:bldP spid="2245696" grpId="0" bldLvl="0" animBg="1"/>
      <p:bldP spid="2245791" grpId="0" bldLvl="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6660" name="Text Box 4"/>
          <p:cNvSpPr txBox="1">
            <a:spLocks noChangeArrowheads="1"/>
          </p:cNvSpPr>
          <p:nvPr/>
        </p:nvSpPr>
        <p:spPr bwMode="auto">
          <a:xfrm>
            <a:off x="2987675" y="174625"/>
            <a:ext cx="34544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2.2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采样过程</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46671" name="Text Box 15"/>
          <p:cNvSpPr txBox="1"/>
          <p:nvPr/>
        </p:nvSpPr>
        <p:spPr>
          <a:xfrm>
            <a:off x="317500" y="847725"/>
            <a:ext cx="2241550" cy="641350"/>
          </a:xfrm>
          <a:prstGeom prst="rect">
            <a:avLst/>
          </a:prstGeom>
          <a:solidFill>
            <a:srgbClr val="99CCFF"/>
          </a:solidFill>
          <a:ln w="9525">
            <a:noFill/>
          </a:ln>
        </p:spPr>
        <p:txBody>
          <a:bodyPr>
            <a:spAutoFit/>
          </a:bodyPr>
          <a:p>
            <a:pPr algn="l" eaLnBrk="1" hangingPunct="1"/>
            <a:r>
              <a:rPr lang="zh-CN" altLang="en-US" b="1" dirty="0">
                <a:solidFill>
                  <a:srgbClr val="333399"/>
                </a:solidFill>
                <a:latin typeface="楷体_GB2312" pitchFamily="49" charset="-122"/>
              </a:rPr>
              <a:t>采样过程</a:t>
            </a:r>
            <a:r>
              <a:rPr lang="en-US" altLang="zh-CN" b="1">
                <a:solidFill>
                  <a:srgbClr val="333399"/>
                </a:solidFill>
                <a:latin typeface="楷体_GB2312" pitchFamily="49" charset="-122"/>
              </a:rPr>
              <a:t>:</a:t>
            </a:r>
            <a:endParaRPr lang="en-US" altLang="zh-CN" b="1">
              <a:solidFill>
                <a:srgbClr val="333399"/>
              </a:solidFill>
              <a:latin typeface="楷体_GB2312" pitchFamily="49" charset="-122"/>
            </a:endParaRPr>
          </a:p>
        </p:txBody>
      </p:sp>
      <p:sp>
        <p:nvSpPr>
          <p:cNvPr id="2246672" name="Text Box 16"/>
          <p:cNvSpPr txBox="1"/>
          <p:nvPr/>
        </p:nvSpPr>
        <p:spPr>
          <a:xfrm>
            <a:off x="863600" y="1628775"/>
            <a:ext cx="7993063" cy="118745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黑体" panose="02010609060101010101" pitchFamily="49" charset="-122"/>
                <a:ea typeface="黑体" panose="02010609060101010101" pitchFamily="49" charset="-122"/>
              </a:rPr>
              <a:t>一个连续的模拟信号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，通过一个周期性开闭（周期为</a:t>
            </a:r>
            <a:r>
              <a:rPr lang="en-US" altLang="zh-CN" sz="2400" b="1" i="1">
                <a:solidFill>
                  <a:srgbClr val="FF0000"/>
                </a:solidFill>
                <a:latin typeface="Times New Roman" panose="02020603050405020304" pitchFamily="18" charset="0"/>
                <a:ea typeface="黑体" panose="02010609060101010101" pitchFamily="49" charset="-122"/>
              </a:rPr>
              <a:t>T</a:t>
            </a:r>
            <a:r>
              <a:rPr lang="en-US" altLang="zh-CN" sz="2400" b="1" baseline="-25000">
                <a:solidFill>
                  <a:srgbClr val="FF0000"/>
                </a:solidFill>
                <a:latin typeface="Times New Roman" panose="02020603050405020304" pitchFamily="18" charset="0"/>
                <a:ea typeface="黑体" panose="02010609060101010101" pitchFamily="49" charset="-122"/>
              </a:rPr>
              <a:t>S</a:t>
            </a:r>
            <a:r>
              <a:rPr lang="zh-CN" altLang="en-US" sz="2400" b="1" dirty="0">
                <a:solidFill>
                  <a:schemeClr val="tx1"/>
                </a:solidFill>
                <a:latin typeface="黑体" panose="02010609060101010101" pitchFamily="49" charset="-122"/>
                <a:ea typeface="黑体" panose="02010609060101010101" pitchFamily="49" charset="-122"/>
              </a:rPr>
              <a:t>，开关闭合时间为</a:t>
            </a:r>
            <a:r>
              <a:rPr lang="en-US" altLang="zh-CN" sz="2400" b="1" i="1">
                <a:solidFill>
                  <a:srgbClr val="FF0000"/>
                </a:solidFill>
                <a:latin typeface="Times New Roman" panose="02020603050405020304" pitchFamily="18" charset="0"/>
                <a:ea typeface="黑体" panose="02010609060101010101" pitchFamily="49" charset="-122"/>
              </a:rPr>
              <a:t>τ</a:t>
            </a:r>
            <a:r>
              <a:rPr lang="zh-CN" altLang="en-US" sz="2400" b="1" dirty="0">
                <a:solidFill>
                  <a:schemeClr val="tx1"/>
                </a:solidFill>
                <a:latin typeface="黑体" panose="02010609060101010101" pitchFamily="49" charset="-122"/>
                <a:ea typeface="黑体" panose="02010609060101010101" pitchFamily="49" charset="-122"/>
              </a:rPr>
              <a:t>）的采样开关</a:t>
            </a:r>
            <a:r>
              <a:rPr lang="en-US" altLang="zh-CN" sz="2400" b="1">
                <a:solidFill>
                  <a:srgbClr val="FF0000"/>
                </a:solidFill>
                <a:latin typeface="Times New Roman" panose="02020603050405020304" pitchFamily="18" charset="0"/>
                <a:ea typeface="黑体" panose="02010609060101010101" pitchFamily="49" charset="-122"/>
              </a:rPr>
              <a:t>K</a:t>
            </a:r>
            <a:r>
              <a:rPr lang="zh-CN" altLang="en-US" sz="2400" b="1" dirty="0">
                <a:solidFill>
                  <a:schemeClr val="tx1"/>
                </a:solidFill>
                <a:latin typeface="黑体" panose="02010609060101010101" pitchFamily="49" charset="-122"/>
                <a:ea typeface="黑体" panose="02010609060101010101" pitchFamily="49" charset="-122"/>
              </a:rPr>
              <a:t>之后，在开关输出端输出一串在时间上离散的脉冲信号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nT</a:t>
            </a:r>
            <a:r>
              <a:rPr lang="en-US" altLang="zh-CN" sz="2400" b="1" baseline="-25000" err="1">
                <a:solidFill>
                  <a:srgbClr val="FF0000"/>
                </a:solidFill>
                <a:latin typeface="Times New Roman" panose="02020603050405020304" pitchFamily="18" charset="0"/>
                <a:ea typeface="黑体" panose="02010609060101010101" pitchFamily="49" charset="-122"/>
              </a:rPr>
              <a:t>S</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46674" name="Text Box 1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grpSp>
        <p:nvGrpSpPr>
          <p:cNvPr id="6233" name="组合 6232"/>
          <p:cNvGrpSpPr/>
          <p:nvPr/>
        </p:nvGrpSpPr>
        <p:grpSpPr>
          <a:xfrm>
            <a:off x="274638" y="3128963"/>
            <a:ext cx="3014662" cy="2219325"/>
            <a:chOff x="173" y="1971"/>
            <a:chExt cx="1899" cy="1398"/>
          </a:xfrm>
        </p:grpSpPr>
        <p:sp>
          <p:nvSpPr>
            <p:cNvPr id="2246757" name="Freeform 101"/>
            <p:cNvSpPr/>
            <p:nvPr/>
          </p:nvSpPr>
          <p:spPr>
            <a:xfrm>
              <a:off x="483" y="2460"/>
              <a:ext cx="1153" cy="271"/>
            </a:xfrm>
            <a:custGeom>
              <a:avLst/>
              <a:gdLst/>
              <a:ahLst/>
              <a:cxnLst>
                <a:cxn ang="0">
                  <a:pos x="0" y="199188619"/>
                </a:cxn>
                <a:cxn ang="0">
                  <a:pos x="133781824" y="136481233"/>
                </a:cxn>
                <a:cxn ang="0">
                  <a:pos x="291643298" y="73773847"/>
                </a:cxn>
                <a:cxn ang="0">
                  <a:pos x="513720439" y="11066461"/>
                </a:cxn>
                <a:cxn ang="0">
                  <a:pos x="647502264" y="11066461"/>
                </a:cxn>
                <a:cxn ang="0">
                  <a:pos x="805363737" y="11066461"/>
                </a:cxn>
                <a:cxn ang="0">
                  <a:pos x="960550784" y="11066461"/>
                </a:cxn>
                <a:cxn ang="0">
                  <a:pos x="1094330973" y="44263924"/>
                </a:cxn>
                <a:cxn ang="0">
                  <a:pos x="1228112797" y="73773847"/>
                </a:cxn>
                <a:cxn ang="0">
                  <a:pos x="1407379494" y="136481233"/>
                </a:cxn>
                <a:cxn ang="0">
                  <a:pos x="1565242603" y="258208465"/>
                </a:cxn>
                <a:cxn ang="0">
                  <a:pos x="1787319744" y="413133160"/>
                </a:cxn>
                <a:cxn ang="0">
                  <a:pos x="1899696346" y="534858471"/>
                </a:cxn>
                <a:cxn ang="0">
                  <a:pos x="2033476535" y="660273243"/>
                </a:cxn>
                <a:cxn ang="0">
                  <a:pos x="2147483647" y="752490552"/>
                </a:cxn>
                <a:cxn ang="0">
                  <a:pos x="2147483647" y="811510398"/>
                </a:cxn>
                <a:cxn ang="0">
                  <a:pos x="2147483647" y="811510398"/>
                </a:cxn>
                <a:cxn ang="0">
                  <a:pos x="2147483647" y="811510398"/>
                </a:cxn>
                <a:cxn ang="0">
                  <a:pos x="2147483647" y="719293089"/>
                </a:cxn>
                <a:cxn ang="0">
                  <a:pos x="2147483647" y="568055934"/>
                </a:cxn>
              </a:cxnLst>
              <a:pathLst>
                <a:path w="1119" h="224">
                  <a:moveTo>
                    <a:pt x="0" y="54"/>
                  </a:moveTo>
                  <a:cubicBezTo>
                    <a:pt x="16" y="48"/>
                    <a:pt x="32" y="43"/>
                    <a:pt x="50" y="37"/>
                  </a:cubicBezTo>
                  <a:cubicBezTo>
                    <a:pt x="68" y="31"/>
                    <a:pt x="85" y="26"/>
                    <a:pt x="109" y="20"/>
                  </a:cubicBezTo>
                  <a:cubicBezTo>
                    <a:pt x="133" y="14"/>
                    <a:pt x="170" y="6"/>
                    <a:pt x="192" y="3"/>
                  </a:cubicBezTo>
                  <a:cubicBezTo>
                    <a:pt x="214" y="0"/>
                    <a:pt x="224" y="3"/>
                    <a:pt x="242" y="3"/>
                  </a:cubicBezTo>
                  <a:cubicBezTo>
                    <a:pt x="260" y="3"/>
                    <a:pt x="282" y="3"/>
                    <a:pt x="301" y="3"/>
                  </a:cubicBezTo>
                  <a:cubicBezTo>
                    <a:pt x="320" y="3"/>
                    <a:pt x="341" y="1"/>
                    <a:pt x="359" y="3"/>
                  </a:cubicBezTo>
                  <a:cubicBezTo>
                    <a:pt x="377" y="5"/>
                    <a:pt x="392" y="9"/>
                    <a:pt x="409" y="12"/>
                  </a:cubicBezTo>
                  <a:cubicBezTo>
                    <a:pt x="426" y="15"/>
                    <a:pt x="440" y="16"/>
                    <a:pt x="459" y="20"/>
                  </a:cubicBezTo>
                  <a:cubicBezTo>
                    <a:pt x="478" y="24"/>
                    <a:pt x="505" y="29"/>
                    <a:pt x="526" y="37"/>
                  </a:cubicBezTo>
                  <a:cubicBezTo>
                    <a:pt x="547" y="45"/>
                    <a:pt x="561" y="58"/>
                    <a:pt x="585" y="70"/>
                  </a:cubicBezTo>
                  <a:cubicBezTo>
                    <a:pt x="609" y="82"/>
                    <a:pt x="647" y="100"/>
                    <a:pt x="668" y="112"/>
                  </a:cubicBezTo>
                  <a:cubicBezTo>
                    <a:pt x="689" y="124"/>
                    <a:pt x="695" y="134"/>
                    <a:pt x="710" y="145"/>
                  </a:cubicBezTo>
                  <a:cubicBezTo>
                    <a:pt x="725" y="156"/>
                    <a:pt x="742" y="169"/>
                    <a:pt x="760" y="179"/>
                  </a:cubicBezTo>
                  <a:cubicBezTo>
                    <a:pt x="778" y="189"/>
                    <a:pt x="800" y="197"/>
                    <a:pt x="818" y="204"/>
                  </a:cubicBezTo>
                  <a:cubicBezTo>
                    <a:pt x="836" y="211"/>
                    <a:pt x="850" y="217"/>
                    <a:pt x="868" y="220"/>
                  </a:cubicBezTo>
                  <a:cubicBezTo>
                    <a:pt x="886" y="223"/>
                    <a:pt x="906" y="220"/>
                    <a:pt x="927" y="220"/>
                  </a:cubicBezTo>
                  <a:cubicBezTo>
                    <a:pt x="948" y="220"/>
                    <a:pt x="973" y="224"/>
                    <a:pt x="994" y="220"/>
                  </a:cubicBezTo>
                  <a:cubicBezTo>
                    <a:pt x="1015" y="216"/>
                    <a:pt x="1031" y="206"/>
                    <a:pt x="1052" y="195"/>
                  </a:cubicBezTo>
                  <a:cubicBezTo>
                    <a:pt x="1073" y="184"/>
                    <a:pt x="1104" y="165"/>
                    <a:pt x="1119" y="15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6758" name="Line 102"/>
            <p:cNvSpPr/>
            <p:nvPr/>
          </p:nvSpPr>
          <p:spPr>
            <a:xfrm>
              <a:off x="484" y="3222"/>
              <a:ext cx="1420" cy="0"/>
            </a:xfrm>
            <a:prstGeom prst="line">
              <a:avLst/>
            </a:prstGeom>
            <a:ln w="9525" cap="flat" cmpd="sng">
              <a:solidFill>
                <a:srgbClr val="3333FF"/>
              </a:solidFill>
              <a:prstDash val="solid"/>
              <a:headEnd type="none" w="med" len="med"/>
              <a:tailEnd type="triangle" w="sm" len="lg"/>
            </a:ln>
          </p:spPr>
        </p:sp>
        <p:sp>
          <p:nvSpPr>
            <p:cNvPr id="2246759" name="Line 103"/>
            <p:cNvSpPr/>
            <p:nvPr/>
          </p:nvSpPr>
          <p:spPr>
            <a:xfrm flipV="1">
              <a:off x="484" y="2078"/>
              <a:ext cx="0" cy="1144"/>
            </a:xfrm>
            <a:prstGeom prst="line">
              <a:avLst/>
            </a:prstGeom>
            <a:ln w="9525" cap="flat" cmpd="sng">
              <a:solidFill>
                <a:srgbClr val="3333FF"/>
              </a:solidFill>
              <a:prstDash val="solid"/>
              <a:headEnd type="none" w="med" len="med"/>
              <a:tailEnd type="triangle" w="sm" len="lg"/>
            </a:ln>
          </p:spPr>
        </p:sp>
        <p:sp>
          <p:nvSpPr>
            <p:cNvPr id="2246778" name="Text Box 122"/>
            <p:cNvSpPr txBox="1"/>
            <p:nvPr/>
          </p:nvSpPr>
          <p:spPr>
            <a:xfrm>
              <a:off x="1903" y="3081"/>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46779" name="Text Box 123"/>
            <p:cNvSpPr txBox="1"/>
            <p:nvPr/>
          </p:nvSpPr>
          <p:spPr>
            <a:xfrm>
              <a:off x="173" y="1971"/>
              <a:ext cx="325" cy="231"/>
            </a:xfrm>
            <a:prstGeom prst="rect">
              <a:avLst/>
            </a:prstGeom>
            <a:noFill/>
            <a:ln w="9525">
              <a:noFill/>
            </a:ln>
          </p:spPr>
          <p:txBody>
            <a:bodyPr wrap="none">
              <a:spAutoFit/>
            </a:bodyPr>
            <a:p>
              <a:pPr algn="ctr" eaLnBrk="1" hangingPunct="1"/>
              <a:r>
                <a:rPr lang="en-US" altLang="zh-CN" sz="1800" b="1" i="1" err="1">
                  <a:solidFill>
                    <a:srgbClr val="333399"/>
                  </a:solidFill>
                  <a:latin typeface="Times New Roman" panose="02020603050405020304" pitchFamily="18" charset="0"/>
                </a:rPr>
                <a:t>x(t</a:t>
              </a:r>
              <a:r>
                <a:rPr lang="en-US" altLang="zh-CN" sz="1800" b="1" i="1">
                  <a:solidFill>
                    <a:srgbClr val="333399"/>
                  </a:solidFill>
                  <a:latin typeface="Times New Roman" panose="02020603050405020304" pitchFamily="18" charset="0"/>
                </a:rPr>
                <a:t>)</a:t>
              </a:r>
              <a:endParaRPr lang="en-US" altLang="zh-CN" sz="1800" b="1" i="1">
                <a:solidFill>
                  <a:srgbClr val="333399"/>
                </a:solidFill>
                <a:latin typeface="Times New Roman" panose="02020603050405020304" pitchFamily="18" charset="0"/>
              </a:endParaRPr>
            </a:p>
          </p:txBody>
        </p:sp>
      </p:grpSp>
      <p:grpSp>
        <p:nvGrpSpPr>
          <p:cNvPr id="6235" name="组合 6234"/>
          <p:cNvGrpSpPr/>
          <p:nvPr/>
        </p:nvGrpSpPr>
        <p:grpSpPr>
          <a:xfrm>
            <a:off x="5465763" y="3105150"/>
            <a:ext cx="3429000" cy="2955925"/>
            <a:chOff x="3443" y="1956"/>
            <a:chExt cx="2160" cy="1862"/>
          </a:xfrm>
        </p:grpSpPr>
        <p:sp>
          <p:nvSpPr>
            <p:cNvPr id="2246767" name="Line 111"/>
            <p:cNvSpPr/>
            <p:nvPr/>
          </p:nvSpPr>
          <p:spPr>
            <a:xfrm>
              <a:off x="4000" y="3222"/>
              <a:ext cx="1420" cy="0"/>
            </a:xfrm>
            <a:prstGeom prst="line">
              <a:avLst/>
            </a:prstGeom>
            <a:ln w="9525" cap="flat" cmpd="sng">
              <a:solidFill>
                <a:srgbClr val="3333FF"/>
              </a:solidFill>
              <a:prstDash val="solid"/>
              <a:headEnd type="none" w="med" len="med"/>
              <a:tailEnd type="triangle" w="sm" len="lg"/>
            </a:ln>
          </p:spPr>
        </p:sp>
        <p:sp>
          <p:nvSpPr>
            <p:cNvPr id="2246768" name="Line 112"/>
            <p:cNvSpPr/>
            <p:nvPr/>
          </p:nvSpPr>
          <p:spPr>
            <a:xfrm flipV="1">
              <a:off x="4000" y="2069"/>
              <a:ext cx="0" cy="1153"/>
            </a:xfrm>
            <a:prstGeom prst="line">
              <a:avLst/>
            </a:prstGeom>
            <a:ln w="9525" cap="flat" cmpd="sng">
              <a:solidFill>
                <a:srgbClr val="3333FF"/>
              </a:solidFill>
              <a:prstDash val="solid"/>
              <a:headEnd type="none" w="med" len="med"/>
              <a:tailEnd type="triangle" w="sm" len="lg"/>
            </a:ln>
          </p:spPr>
        </p:sp>
        <p:sp>
          <p:nvSpPr>
            <p:cNvPr id="2246769" name="Freeform 113"/>
            <p:cNvSpPr/>
            <p:nvPr/>
          </p:nvSpPr>
          <p:spPr>
            <a:xfrm>
              <a:off x="3998" y="2466"/>
              <a:ext cx="1153" cy="271"/>
            </a:xfrm>
            <a:custGeom>
              <a:avLst/>
              <a:gdLst/>
              <a:ahLst/>
              <a:cxnLst>
                <a:cxn ang="0">
                  <a:pos x="0" y="199188619"/>
                </a:cxn>
                <a:cxn ang="0">
                  <a:pos x="133781898" y="136481233"/>
                </a:cxn>
                <a:cxn ang="0">
                  <a:pos x="291643457" y="73773847"/>
                </a:cxn>
                <a:cxn ang="0">
                  <a:pos x="513720720" y="11066461"/>
                </a:cxn>
                <a:cxn ang="0">
                  <a:pos x="647502618" y="11066461"/>
                </a:cxn>
                <a:cxn ang="0">
                  <a:pos x="805364177" y="11066461"/>
                </a:cxn>
                <a:cxn ang="0">
                  <a:pos x="960551309" y="11066461"/>
                </a:cxn>
                <a:cxn ang="0">
                  <a:pos x="1094333207" y="44263924"/>
                </a:cxn>
                <a:cxn ang="0">
                  <a:pos x="1228115104" y="73773847"/>
                </a:cxn>
                <a:cxn ang="0">
                  <a:pos x="1407381898" y="136481233"/>
                </a:cxn>
                <a:cxn ang="0">
                  <a:pos x="1565243458" y="258208465"/>
                </a:cxn>
                <a:cxn ang="0">
                  <a:pos x="1787320721" y="413133160"/>
                </a:cxn>
                <a:cxn ang="0">
                  <a:pos x="1899697384" y="534858471"/>
                </a:cxn>
                <a:cxn ang="0">
                  <a:pos x="2033479281" y="660273243"/>
                </a:cxn>
                <a:cxn ang="0">
                  <a:pos x="2147483647" y="752490552"/>
                </a:cxn>
                <a:cxn ang="0">
                  <a:pos x="2147483647" y="811510398"/>
                </a:cxn>
                <a:cxn ang="0">
                  <a:pos x="2147483647" y="811510398"/>
                </a:cxn>
                <a:cxn ang="0">
                  <a:pos x="2147483647" y="811510398"/>
                </a:cxn>
                <a:cxn ang="0">
                  <a:pos x="2147483647" y="719293089"/>
                </a:cxn>
                <a:cxn ang="0">
                  <a:pos x="2147483647" y="568055934"/>
                </a:cxn>
              </a:cxnLst>
              <a:pathLst>
                <a:path w="1119" h="224">
                  <a:moveTo>
                    <a:pt x="0" y="54"/>
                  </a:moveTo>
                  <a:cubicBezTo>
                    <a:pt x="16" y="48"/>
                    <a:pt x="32" y="43"/>
                    <a:pt x="50" y="37"/>
                  </a:cubicBezTo>
                  <a:cubicBezTo>
                    <a:pt x="68" y="31"/>
                    <a:pt x="85" y="26"/>
                    <a:pt x="109" y="20"/>
                  </a:cubicBezTo>
                  <a:cubicBezTo>
                    <a:pt x="133" y="14"/>
                    <a:pt x="170" y="6"/>
                    <a:pt x="192" y="3"/>
                  </a:cubicBezTo>
                  <a:cubicBezTo>
                    <a:pt x="214" y="0"/>
                    <a:pt x="224" y="3"/>
                    <a:pt x="242" y="3"/>
                  </a:cubicBezTo>
                  <a:cubicBezTo>
                    <a:pt x="260" y="3"/>
                    <a:pt x="282" y="3"/>
                    <a:pt x="301" y="3"/>
                  </a:cubicBezTo>
                  <a:cubicBezTo>
                    <a:pt x="320" y="3"/>
                    <a:pt x="341" y="1"/>
                    <a:pt x="359" y="3"/>
                  </a:cubicBezTo>
                  <a:cubicBezTo>
                    <a:pt x="377" y="5"/>
                    <a:pt x="392" y="9"/>
                    <a:pt x="409" y="12"/>
                  </a:cubicBezTo>
                  <a:cubicBezTo>
                    <a:pt x="426" y="15"/>
                    <a:pt x="440" y="16"/>
                    <a:pt x="459" y="20"/>
                  </a:cubicBezTo>
                  <a:cubicBezTo>
                    <a:pt x="478" y="24"/>
                    <a:pt x="505" y="29"/>
                    <a:pt x="526" y="37"/>
                  </a:cubicBezTo>
                  <a:cubicBezTo>
                    <a:pt x="547" y="45"/>
                    <a:pt x="561" y="58"/>
                    <a:pt x="585" y="70"/>
                  </a:cubicBezTo>
                  <a:cubicBezTo>
                    <a:pt x="609" y="82"/>
                    <a:pt x="647" y="100"/>
                    <a:pt x="668" y="112"/>
                  </a:cubicBezTo>
                  <a:cubicBezTo>
                    <a:pt x="689" y="124"/>
                    <a:pt x="695" y="134"/>
                    <a:pt x="710" y="145"/>
                  </a:cubicBezTo>
                  <a:cubicBezTo>
                    <a:pt x="725" y="156"/>
                    <a:pt x="742" y="169"/>
                    <a:pt x="760" y="179"/>
                  </a:cubicBezTo>
                  <a:cubicBezTo>
                    <a:pt x="778" y="189"/>
                    <a:pt x="800" y="197"/>
                    <a:pt x="818" y="204"/>
                  </a:cubicBezTo>
                  <a:cubicBezTo>
                    <a:pt x="836" y="211"/>
                    <a:pt x="850" y="217"/>
                    <a:pt x="868" y="220"/>
                  </a:cubicBezTo>
                  <a:cubicBezTo>
                    <a:pt x="886" y="223"/>
                    <a:pt x="906" y="220"/>
                    <a:pt x="927" y="220"/>
                  </a:cubicBezTo>
                  <a:cubicBezTo>
                    <a:pt x="948" y="220"/>
                    <a:pt x="973" y="224"/>
                    <a:pt x="994" y="220"/>
                  </a:cubicBezTo>
                  <a:cubicBezTo>
                    <a:pt x="1015" y="216"/>
                    <a:pt x="1031" y="206"/>
                    <a:pt x="1052" y="195"/>
                  </a:cubicBezTo>
                  <a:cubicBezTo>
                    <a:pt x="1073" y="184"/>
                    <a:pt x="1104" y="165"/>
                    <a:pt x="1119" y="15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6770" name="Line 114"/>
            <p:cNvSpPr/>
            <p:nvPr/>
          </p:nvSpPr>
          <p:spPr>
            <a:xfrm flipV="1">
              <a:off x="4043" y="2504"/>
              <a:ext cx="0" cy="718"/>
            </a:xfrm>
            <a:prstGeom prst="line">
              <a:avLst/>
            </a:prstGeom>
            <a:ln w="9525" cap="flat" cmpd="sng">
              <a:solidFill>
                <a:srgbClr val="CC00CC"/>
              </a:solidFill>
              <a:prstDash val="solid"/>
              <a:headEnd type="none" w="med" len="med"/>
              <a:tailEnd type="none" w="med" len="med"/>
            </a:ln>
          </p:spPr>
        </p:sp>
        <p:sp>
          <p:nvSpPr>
            <p:cNvPr id="2246771" name="Line 115"/>
            <p:cNvSpPr/>
            <p:nvPr/>
          </p:nvSpPr>
          <p:spPr>
            <a:xfrm flipV="1">
              <a:off x="4267" y="2462"/>
              <a:ext cx="0" cy="760"/>
            </a:xfrm>
            <a:prstGeom prst="line">
              <a:avLst/>
            </a:prstGeom>
            <a:ln w="9525" cap="flat" cmpd="sng">
              <a:solidFill>
                <a:srgbClr val="CC00CC"/>
              </a:solidFill>
              <a:prstDash val="solid"/>
              <a:headEnd type="none" w="med" len="med"/>
              <a:tailEnd type="none" w="med" len="med"/>
            </a:ln>
          </p:spPr>
        </p:sp>
        <p:sp>
          <p:nvSpPr>
            <p:cNvPr id="2246772" name="Line 116"/>
            <p:cNvSpPr/>
            <p:nvPr/>
          </p:nvSpPr>
          <p:spPr>
            <a:xfrm flipV="1">
              <a:off x="4310" y="2462"/>
              <a:ext cx="0" cy="760"/>
            </a:xfrm>
            <a:prstGeom prst="line">
              <a:avLst/>
            </a:prstGeom>
            <a:ln w="9525" cap="flat" cmpd="sng">
              <a:solidFill>
                <a:srgbClr val="CC00CC"/>
              </a:solidFill>
              <a:prstDash val="solid"/>
              <a:headEnd type="none" w="med" len="med"/>
              <a:tailEnd type="none" w="med" len="med"/>
            </a:ln>
          </p:spPr>
        </p:sp>
        <p:sp>
          <p:nvSpPr>
            <p:cNvPr id="2246773" name="Line 117"/>
            <p:cNvSpPr/>
            <p:nvPr/>
          </p:nvSpPr>
          <p:spPr>
            <a:xfrm flipV="1">
              <a:off x="4525" y="2504"/>
              <a:ext cx="0" cy="718"/>
            </a:xfrm>
            <a:prstGeom prst="line">
              <a:avLst/>
            </a:prstGeom>
            <a:ln w="9525" cap="flat" cmpd="sng">
              <a:solidFill>
                <a:srgbClr val="CC00CC"/>
              </a:solidFill>
              <a:prstDash val="solid"/>
              <a:headEnd type="none" w="med" len="med"/>
              <a:tailEnd type="none" w="med" len="med"/>
            </a:ln>
          </p:spPr>
        </p:sp>
        <p:sp>
          <p:nvSpPr>
            <p:cNvPr id="2246774" name="Line 118"/>
            <p:cNvSpPr/>
            <p:nvPr/>
          </p:nvSpPr>
          <p:spPr>
            <a:xfrm flipV="1">
              <a:off x="4568" y="2522"/>
              <a:ext cx="0" cy="700"/>
            </a:xfrm>
            <a:prstGeom prst="line">
              <a:avLst/>
            </a:prstGeom>
            <a:ln w="9525" cap="flat" cmpd="sng">
              <a:solidFill>
                <a:srgbClr val="CC00CC"/>
              </a:solidFill>
              <a:prstDash val="solid"/>
              <a:headEnd type="none" w="med" len="med"/>
              <a:tailEnd type="none" w="med" len="med"/>
            </a:ln>
          </p:spPr>
        </p:sp>
        <p:sp>
          <p:nvSpPr>
            <p:cNvPr id="2246775" name="Line 119"/>
            <p:cNvSpPr/>
            <p:nvPr/>
          </p:nvSpPr>
          <p:spPr>
            <a:xfrm flipV="1">
              <a:off x="4783" y="2676"/>
              <a:ext cx="0" cy="546"/>
            </a:xfrm>
            <a:prstGeom prst="line">
              <a:avLst/>
            </a:prstGeom>
            <a:ln w="9525" cap="flat" cmpd="sng">
              <a:solidFill>
                <a:srgbClr val="CC00CC"/>
              </a:solidFill>
              <a:prstDash val="solid"/>
              <a:headEnd type="none" w="med" len="med"/>
              <a:tailEnd type="none" w="med" len="med"/>
            </a:ln>
          </p:spPr>
        </p:sp>
        <p:sp>
          <p:nvSpPr>
            <p:cNvPr id="2246776" name="Line 120"/>
            <p:cNvSpPr/>
            <p:nvPr/>
          </p:nvSpPr>
          <p:spPr>
            <a:xfrm flipV="1">
              <a:off x="4826" y="2706"/>
              <a:ext cx="0" cy="516"/>
            </a:xfrm>
            <a:prstGeom prst="line">
              <a:avLst/>
            </a:prstGeom>
            <a:ln w="9525" cap="flat" cmpd="sng">
              <a:solidFill>
                <a:srgbClr val="CC00CC"/>
              </a:solidFill>
              <a:prstDash val="solid"/>
              <a:headEnd type="none" w="med" len="med"/>
              <a:tailEnd type="none" w="med" len="med"/>
            </a:ln>
          </p:spPr>
        </p:sp>
        <p:sp>
          <p:nvSpPr>
            <p:cNvPr id="2246777" name="Line 121"/>
            <p:cNvSpPr/>
            <p:nvPr/>
          </p:nvSpPr>
          <p:spPr>
            <a:xfrm flipV="1">
              <a:off x="5050" y="2716"/>
              <a:ext cx="0" cy="506"/>
            </a:xfrm>
            <a:prstGeom prst="line">
              <a:avLst/>
            </a:prstGeom>
            <a:ln w="9525" cap="flat" cmpd="sng">
              <a:solidFill>
                <a:srgbClr val="CC00CC"/>
              </a:solidFill>
              <a:prstDash val="solid"/>
              <a:headEnd type="none" w="med" len="med"/>
              <a:tailEnd type="none" w="med" len="med"/>
            </a:ln>
          </p:spPr>
        </p:sp>
        <p:sp>
          <p:nvSpPr>
            <p:cNvPr id="2246784" name="Text Box 128"/>
            <p:cNvSpPr txBox="1"/>
            <p:nvPr/>
          </p:nvSpPr>
          <p:spPr>
            <a:xfrm>
              <a:off x="5434" y="3080"/>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46785" name="Text Box 129"/>
            <p:cNvSpPr txBox="1"/>
            <p:nvPr/>
          </p:nvSpPr>
          <p:spPr>
            <a:xfrm>
              <a:off x="3443" y="1956"/>
              <a:ext cx="582" cy="231"/>
            </a:xfrm>
            <a:prstGeom prst="rect">
              <a:avLst/>
            </a:prstGeom>
            <a:noFill/>
            <a:ln w="9525">
              <a:noFill/>
            </a:ln>
          </p:spPr>
          <p:txBody>
            <a:bodyPr wrap="none">
              <a:spAutoFit/>
            </a:bodyPr>
            <a:p>
              <a:pPr algn="ctr" eaLnBrk="1" hangingPunct="1"/>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i="1" baseline="-25000">
                  <a:solidFill>
                    <a:srgbClr val="333399"/>
                  </a:solidFill>
                  <a:latin typeface="Times New Roman" panose="02020603050405020304" pitchFamily="18" charset="0"/>
                </a:rPr>
                <a:t> </a:t>
              </a:r>
              <a:r>
                <a:rPr lang="en-US" altLang="zh-CN" sz="1800" b="1" i="1">
                  <a:solidFill>
                    <a:srgbClr val="333399"/>
                  </a:solidFill>
                  <a:latin typeface="Times New Roman" panose="02020603050405020304" pitchFamily="18" charset="0"/>
                </a:rPr>
                <a:t>)</a:t>
              </a:r>
              <a:endParaRPr lang="en-US" altLang="zh-CN" sz="1800" b="1" i="1">
                <a:solidFill>
                  <a:srgbClr val="333399"/>
                </a:solidFill>
                <a:latin typeface="Times New Roman" panose="02020603050405020304" pitchFamily="18" charset="0"/>
              </a:endParaRPr>
            </a:p>
          </p:txBody>
        </p:sp>
        <p:sp>
          <p:nvSpPr>
            <p:cNvPr id="2246786" name="Line 130"/>
            <p:cNvSpPr/>
            <p:nvPr/>
          </p:nvSpPr>
          <p:spPr>
            <a:xfrm>
              <a:off x="4001" y="3181"/>
              <a:ext cx="0" cy="637"/>
            </a:xfrm>
            <a:prstGeom prst="line">
              <a:avLst/>
            </a:prstGeom>
            <a:ln w="9525" cap="flat" cmpd="sng">
              <a:solidFill>
                <a:srgbClr val="3333FF"/>
              </a:solidFill>
              <a:prstDash val="solid"/>
              <a:headEnd type="none" w="med" len="med"/>
              <a:tailEnd type="none" w="med" len="med"/>
            </a:ln>
          </p:spPr>
        </p:sp>
        <p:sp>
          <p:nvSpPr>
            <p:cNvPr id="2246787" name="Line 131"/>
            <p:cNvSpPr/>
            <p:nvPr/>
          </p:nvSpPr>
          <p:spPr>
            <a:xfrm>
              <a:off x="4040" y="3222"/>
              <a:ext cx="0" cy="303"/>
            </a:xfrm>
            <a:prstGeom prst="line">
              <a:avLst/>
            </a:prstGeom>
            <a:ln w="9525" cap="flat" cmpd="sng">
              <a:solidFill>
                <a:srgbClr val="3333FF"/>
              </a:solidFill>
              <a:prstDash val="solid"/>
              <a:headEnd type="none" w="med" len="med"/>
              <a:tailEnd type="none" w="med" len="med"/>
            </a:ln>
          </p:spPr>
        </p:sp>
        <p:sp>
          <p:nvSpPr>
            <p:cNvPr id="2246788" name="Line 132"/>
            <p:cNvSpPr/>
            <p:nvPr/>
          </p:nvSpPr>
          <p:spPr>
            <a:xfrm>
              <a:off x="3786" y="3485"/>
              <a:ext cx="215" cy="0"/>
            </a:xfrm>
            <a:prstGeom prst="line">
              <a:avLst/>
            </a:prstGeom>
            <a:ln w="9525" cap="flat" cmpd="sng">
              <a:solidFill>
                <a:srgbClr val="3333FF"/>
              </a:solidFill>
              <a:prstDash val="solid"/>
              <a:headEnd type="none" w="med" len="med"/>
              <a:tailEnd type="triangle" w="sm" len="lg"/>
            </a:ln>
          </p:spPr>
        </p:sp>
        <p:sp>
          <p:nvSpPr>
            <p:cNvPr id="2246789" name="Line 133"/>
            <p:cNvSpPr/>
            <p:nvPr/>
          </p:nvSpPr>
          <p:spPr>
            <a:xfrm flipH="1">
              <a:off x="4044" y="3485"/>
              <a:ext cx="139" cy="0"/>
            </a:xfrm>
            <a:prstGeom prst="line">
              <a:avLst/>
            </a:prstGeom>
            <a:ln w="9525" cap="flat" cmpd="sng">
              <a:solidFill>
                <a:srgbClr val="3333FF"/>
              </a:solidFill>
              <a:prstDash val="solid"/>
              <a:headEnd type="none" w="med" len="med"/>
              <a:tailEnd type="triangle" w="sm" len="lg"/>
            </a:ln>
          </p:spPr>
        </p:sp>
        <p:sp>
          <p:nvSpPr>
            <p:cNvPr id="2246790" name="Text Box 134"/>
            <p:cNvSpPr txBox="1"/>
            <p:nvPr/>
          </p:nvSpPr>
          <p:spPr>
            <a:xfrm>
              <a:off x="3759" y="3239"/>
              <a:ext cx="201" cy="288"/>
            </a:xfrm>
            <a:prstGeom prst="rect">
              <a:avLst/>
            </a:prstGeom>
            <a:noFill/>
            <a:ln w="9525">
              <a:noFill/>
            </a:ln>
          </p:spPr>
          <p:txBody>
            <a:bodyPr>
              <a:spAutoFit/>
            </a:bodyPr>
            <a:p>
              <a:pPr algn="ctr" eaLnBrk="1" hangingPunct="1">
                <a:buNone/>
              </a:pPr>
              <a:r>
                <a:rPr lang="en-US" altLang="zh-CN" sz="2400" b="1" i="1">
                  <a:solidFill>
                    <a:srgbClr val="333399"/>
                  </a:solidFill>
                  <a:latin typeface="Times New Roman" panose="02020603050405020304" pitchFamily="18" charset="0"/>
                  <a:ea typeface="宋体" panose="02010600030101010101" pitchFamily="2" charset="-122"/>
                </a:rPr>
                <a:t>τ</a:t>
              </a:r>
              <a:endParaRPr lang="en-US" altLang="zh-CN" sz="2400" b="1" i="1">
                <a:solidFill>
                  <a:srgbClr val="333399"/>
                </a:solidFill>
                <a:latin typeface="Times New Roman" panose="02020603050405020304" pitchFamily="18" charset="0"/>
                <a:ea typeface="宋体" panose="02010600030101010101" pitchFamily="2" charset="-122"/>
              </a:endParaRPr>
            </a:p>
          </p:txBody>
        </p:sp>
        <p:sp>
          <p:nvSpPr>
            <p:cNvPr id="2246791" name="Line 135"/>
            <p:cNvSpPr/>
            <p:nvPr/>
          </p:nvSpPr>
          <p:spPr>
            <a:xfrm>
              <a:off x="4268" y="3222"/>
              <a:ext cx="0" cy="596"/>
            </a:xfrm>
            <a:prstGeom prst="line">
              <a:avLst/>
            </a:prstGeom>
            <a:ln w="9525" cap="flat" cmpd="sng">
              <a:solidFill>
                <a:srgbClr val="3333FF"/>
              </a:solidFill>
              <a:prstDash val="solid"/>
              <a:headEnd type="none" w="med" len="med"/>
              <a:tailEnd type="none" w="med" len="med"/>
            </a:ln>
          </p:spPr>
        </p:sp>
        <p:sp>
          <p:nvSpPr>
            <p:cNvPr id="2246792" name="Line 136"/>
            <p:cNvSpPr/>
            <p:nvPr/>
          </p:nvSpPr>
          <p:spPr>
            <a:xfrm>
              <a:off x="4001" y="3778"/>
              <a:ext cx="267" cy="0"/>
            </a:xfrm>
            <a:prstGeom prst="line">
              <a:avLst/>
            </a:prstGeom>
            <a:ln w="9525" cap="flat" cmpd="sng">
              <a:solidFill>
                <a:srgbClr val="3333FF"/>
              </a:solidFill>
              <a:prstDash val="solid"/>
              <a:headEnd type="triangle" w="sm" len="lg"/>
              <a:tailEnd type="triangle" w="sm" len="lg"/>
            </a:ln>
          </p:spPr>
        </p:sp>
        <p:sp>
          <p:nvSpPr>
            <p:cNvPr id="2246793" name="Text Box 137"/>
            <p:cNvSpPr txBox="1"/>
            <p:nvPr/>
          </p:nvSpPr>
          <p:spPr>
            <a:xfrm>
              <a:off x="4007" y="3565"/>
              <a:ext cx="264" cy="212"/>
            </a:xfrm>
            <a:prstGeom prst="rect">
              <a:avLst/>
            </a:prstGeom>
            <a:noFill/>
            <a:ln w="9525">
              <a:noFill/>
            </a:ln>
          </p:spPr>
          <p:txBody>
            <a:bodyPr>
              <a:spAutoFit/>
            </a:bodyPr>
            <a:p>
              <a:pPr algn="ctr" eaLnBrk="1" hangingPunct="1">
                <a:buNone/>
              </a:pPr>
              <a:r>
                <a:rPr lang="en-US" altLang="zh-CN" sz="1600" b="1" i="1">
                  <a:solidFill>
                    <a:srgbClr val="333399"/>
                  </a:solidFill>
                  <a:latin typeface="Times New Roman" panose="02020603050405020304" pitchFamily="18" charset="0"/>
                  <a:ea typeface="宋体" panose="02010600030101010101" pitchFamily="2" charset="-122"/>
                </a:rPr>
                <a:t>T</a:t>
              </a:r>
              <a:r>
                <a:rPr lang="en-US" altLang="zh-CN" sz="1600" b="1" i="1" baseline="-25000">
                  <a:solidFill>
                    <a:srgbClr val="333399"/>
                  </a:solidFill>
                  <a:latin typeface="Times New Roman" panose="02020603050405020304" pitchFamily="18" charset="0"/>
                  <a:ea typeface="宋体" panose="02010600030101010101" pitchFamily="2" charset="-122"/>
                </a:rPr>
                <a:t>S</a:t>
              </a:r>
              <a:endParaRPr lang="en-US" altLang="zh-CN" sz="1600" b="1" i="1" baseline="-25000">
                <a:solidFill>
                  <a:srgbClr val="333399"/>
                </a:solidFill>
                <a:latin typeface="Times New Roman" panose="02020603050405020304" pitchFamily="18" charset="0"/>
                <a:ea typeface="宋体" panose="02010600030101010101" pitchFamily="2" charset="-122"/>
              </a:endParaRPr>
            </a:p>
          </p:txBody>
        </p:sp>
        <p:sp>
          <p:nvSpPr>
            <p:cNvPr id="2246794" name="Text Box 138"/>
            <p:cNvSpPr txBox="1"/>
            <p:nvPr/>
          </p:nvSpPr>
          <p:spPr>
            <a:xfrm>
              <a:off x="4061" y="3205"/>
              <a:ext cx="265" cy="191"/>
            </a:xfrm>
            <a:prstGeom prst="rect">
              <a:avLst/>
            </a:prstGeom>
            <a:noFill/>
            <a:ln w="9525">
              <a:noFill/>
            </a:ln>
          </p:spPr>
          <p:txBody>
            <a:bodyPr>
              <a:spAutoFit/>
            </a:bodyPr>
            <a:p>
              <a:pPr algn="ctr" eaLnBrk="1" hangingPunct="1">
                <a:buNone/>
              </a:pPr>
              <a:r>
                <a:rPr lang="en-US" altLang="zh-CN" sz="1400" b="1" i="1">
                  <a:solidFill>
                    <a:srgbClr val="333399"/>
                  </a:solidFill>
                  <a:latin typeface="Times New Roman" panose="02020603050405020304" pitchFamily="18" charset="0"/>
                  <a:ea typeface="宋体" panose="02010600030101010101" pitchFamily="2" charset="-122"/>
                </a:rPr>
                <a:t>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2246795" name="Text Box 139"/>
            <p:cNvSpPr txBox="1"/>
            <p:nvPr/>
          </p:nvSpPr>
          <p:spPr>
            <a:xfrm>
              <a:off x="4392" y="3221"/>
              <a:ext cx="298" cy="192"/>
            </a:xfrm>
            <a:prstGeom prst="rect">
              <a:avLst/>
            </a:prstGeom>
            <a:noFill/>
            <a:ln w="9525">
              <a:noFill/>
            </a:ln>
          </p:spPr>
          <p:txBody>
            <a:bodyPr>
              <a:spAutoFit/>
            </a:bodyPr>
            <a:p>
              <a:pPr algn="l" eaLnBrk="1" hangingPunct="1">
                <a:buNone/>
              </a:pPr>
              <a:r>
                <a:rPr lang="en-US" altLang="zh-CN" sz="1400" b="1" i="1">
                  <a:solidFill>
                    <a:srgbClr val="333399"/>
                  </a:solidFill>
                  <a:latin typeface="Times New Roman" panose="02020603050405020304" pitchFamily="18" charset="0"/>
                  <a:ea typeface="宋体" panose="02010600030101010101" pitchFamily="2" charset="-122"/>
                </a:rPr>
                <a:t>2T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2246796" name="Text Box 140"/>
            <p:cNvSpPr txBox="1"/>
            <p:nvPr/>
          </p:nvSpPr>
          <p:spPr>
            <a:xfrm>
              <a:off x="4679" y="3235"/>
              <a:ext cx="299" cy="192"/>
            </a:xfrm>
            <a:prstGeom prst="rect">
              <a:avLst/>
            </a:prstGeom>
            <a:noFill/>
            <a:ln w="9525">
              <a:noFill/>
            </a:ln>
          </p:spPr>
          <p:txBody>
            <a:bodyPr>
              <a:spAutoFit/>
            </a:bodyPr>
            <a:p>
              <a:pPr algn="l" eaLnBrk="1" hangingPunct="1">
                <a:buNone/>
              </a:pPr>
              <a:r>
                <a:rPr lang="en-US" altLang="zh-CN" sz="1400" b="1" i="1">
                  <a:solidFill>
                    <a:srgbClr val="333399"/>
                  </a:solidFill>
                  <a:latin typeface="Times New Roman" panose="02020603050405020304" pitchFamily="18" charset="0"/>
                  <a:ea typeface="宋体" panose="02010600030101010101" pitchFamily="2" charset="-122"/>
                </a:rPr>
                <a:t>3T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2246797" name="Text Box 141"/>
            <p:cNvSpPr txBox="1"/>
            <p:nvPr/>
          </p:nvSpPr>
          <p:spPr>
            <a:xfrm>
              <a:off x="4929" y="3188"/>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2246798" name="Line 142"/>
            <p:cNvSpPr/>
            <p:nvPr/>
          </p:nvSpPr>
          <p:spPr>
            <a:xfrm flipV="1">
              <a:off x="5094" y="2680"/>
              <a:ext cx="0" cy="542"/>
            </a:xfrm>
            <a:prstGeom prst="line">
              <a:avLst/>
            </a:prstGeom>
            <a:ln w="9525" cap="flat" cmpd="sng">
              <a:solidFill>
                <a:srgbClr val="CC00CC"/>
              </a:solidFill>
              <a:prstDash val="solid"/>
              <a:headEnd type="none" w="med" len="med"/>
              <a:tailEnd type="none" w="med" len="med"/>
            </a:ln>
          </p:spPr>
        </p:sp>
      </p:grpSp>
      <p:grpSp>
        <p:nvGrpSpPr>
          <p:cNvPr id="6234" name="组合 6233"/>
          <p:cNvGrpSpPr/>
          <p:nvPr/>
        </p:nvGrpSpPr>
        <p:grpSpPr>
          <a:xfrm>
            <a:off x="3455988" y="3860800"/>
            <a:ext cx="2532062" cy="1679575"/>
            <a:chOff x="2177" y="2432"/>
            <a:chExt cx="1595" cy="1058"/>
          </a:xfrm>
        </p:grpSpPr>
        <p:sp>
          <p:nvSpPr>
            <p:cNvPr id="2246760" name="Rectangle 104"/>
            <p:cNvSpPr/>
            <p:nvPr/>
          </p:nvSpPr>
          <p:spPr>
            <a:xfrm>
              <a:off x="2549" y="2929"/>
              <a:ext cx="618" cy="314"/>
            </a:xfrm>
            <a:prstGeom prst="rect">
              <a:avLst/>
            </a:prstGeom>
            <a:noFill/>
            <a:ln w="19050"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761" name="Line 105"/>
            <p:cNvSpPr/>
            <p:nvPr/>
          </p:nvSpPr>
          <p:spPr>
            <a:xfrm>
              <a:off x="2202" y="3090"/>
              <a:ext cx="518" cy="0"/>
            </a:xfrm>
            <a:prstGeom prst="line">
              <a:avLst/>
            </a:prstGeom>
            <a:ln w="19050" cap="flat" cmpd="sng">
              <a:solidFill>
                <a:srgbClr val="3333FF"/>
              </a:solidFill>
              <a:prstDash val="solid"/>
              <a:headEnd type="none" w="med" len="med"/>
              <a:tailEnd type="none" w="med" len="med"/>
            </a:ln>
          </p:spPr>
        </p:sp>
        <p:sp>
          <p:nvSpPr>
            <p:cNvPr id="2246762" name="Oval 106"/>
            <p:cNvSpPr/>
            <p:nvPr/>
          </p:nvSpPr>
          <p:spPr>
            <a:xfrm>
              <a:off x="2711" y="3050"/>
              <a:ext cx="67" cy="68"/>
            </a:xfrm>
            <a:prstGeom prst="ellipse">
              <a:avLst/>
            </a:prstGeom>
            <a:solidFill>
              <a:srgbClr val="008080"/>
            </a:solidFill>
            <a:ln w="9525" cap="flat" cmpd="sng">
              <a:solidFill>
                <a:srgbClr val="3333FF"/>
              </a:solidFill>
              <a:prstDash val="solid"/>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763" name="Line 107"/>
            <p:cNvSpPr/>
            <p:nvPr/>
          </p:nvSpPr>
          <p:spPr>
            <a:xfrm flipV="1">
              <a:off x="2763" y="2949"/>
              <a:ext cx="197" cy="112"/>
            </a:xfrm>
            <a:prstGeom prst="line">
              <a:avLst/>
            </a:prstGeom>
            <a:ln w="19050" cap="flat" cmpd="sng">
              <a:solidFill>
                <a:srgbClr val="3333FF"/>
              </a:solidFill>
              <a:prstDash val="solid"/>
              <a:headEnd type="none" w="med" len="med"/>
              <a:tailEnd type="none" w="med" len="med"/>
            </a:ln>
          </p:spPr>
        </p:sp>
        <p:sp>
          <p:nvSpPr>
            <p:cNvPr id="2246764" name="Oval 108"/>
            <p:cNvSpPr/>
            <p:nvPr/>
          </p:nvSpPr>
          <p:spPr>
            <a:xfrm>
              <a:off x="2965" y="3055"/>
              <a:ext cx="66" cy="68"/>
            </a:xfrm>
            <a:prstGeom prst="ellipse">
              <a:avLst/>
            </a:prstGeom>
            <a:solidFill>
              <a:srgbClr val="008080"/>
            </a:solidFill>
            <a:ln w="9525" cap="flat" cmpd="sng">
              <a:solidFill>
                <a:srgbClr val="3333FF"/>
              </a:solidFill>
              <a:prstDash val="solid"/>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765" name="Line 109"/>
            <p:cNvSpPr/>
            <p:nvPr/>
          </p:nvSpPr>
          <p:spPr>
            <a:xfrm>
              <a:off x="3038" y="3090"/>
              <a:ext cx="660" cy="0"/>
            </a:xfrm>
            <a:prstGeom prst="line">
              <a:avLst/>
            </a:prstGeom>
            <a:ln w="19050" cap="flat" cmpd="sng">
              <a:solidFill>
                <a:srgbClr val="3333FF"/>
              </a:solidFill>
              <a:prstDash val="solid"/>
              <a:headEnd type="none" w="med" len="med"/>
              <a:tailEnd type="none" w="med" len="med"/>
            </a:ln>
          </p:spPr>
        </p:sp>
        <p:sp>
          <p:nvSpPr>
            <p:cNvPr id="2246766" name="Line 110"/>
            <p:cNvSpPr/>
            <p:nvPr/>
          </p:nvSpPr>
          <p:spPr>
            <a:xfrm>
              <a:off x="2875" y="2475"/>
              <a:ext cx="0" cy="313"/>
            </a:xfrm>
            <a:prstGeom prst="line">
              <a:avLst/>
            </a:prstGeom>
            <a:ln w="28575" cap="flat" cmpd="sng">
              <a:solidFill>
                <a:srgbClr val="3333FF"/>
              </a:solidFill>
              <a:prstDash val="solid"/>
              <a:headEnd type="none" w="med" len="med"/>
              <a:tailEnd type="triangle" w="sm" len="lg"/>
            </a:ln>
          </p:spPr>
        </p:sp>
        <p:sp>
          <p:nvSpPr>
            <p:cNvPr id="2246780" name="Text Box 124"/>
            <p:cNvSpPr txBox="1"/>
            <p:nvPr/>
          </p:nvSpPr>
          <p:spPr>
            <a:xfrm>
              <a:off x="2177" y="2856"/>
              <a:ext cx="346"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x(t</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2246781" name="Text Box 125"/>
            <p:cNvSpPr txBox="1"/>
            <p:nvPr/>
          </p:nvSpPr>
          <p:spPr>
            <a:xfrm>
              <a:off x="2749" y="3240"/>
              <a:ext cx="223"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K</a:t>
              </a:r>
              <a:endParaRPr lang="en-US" altLang="zh-CN" sz="2000" b="1" i="1">
                <a:solidFill>
                  <a:srgbClr val="333399"/>
                </a:solidFill>
                <a:latin typeface="Times New Roman" panose="02020603050405020304" pitchFamily="18" charset="0"/>
              </a:endParaRPr>
            </a:p>
          </p:txBody>
        </p:sp>
        <p:sp>
          <p:nvSpPr>
            <p:cNvPr id="2246782" name="Text Box 126"/>
            <p:cNvSpPr txBox="1"/>
            <p:nvPr/>
          </p:nvSpPr>
          <p:spPr>
            <a:xfrm>
              <a:off x="2876" y="2432"/>
              <a:ext cx="548" cy="250"/>
            </a:xfrm>
            <a:prstGeom prst="rect">
              <a:avLst/>
            </a:prstGeom>
            <a:noFill/>
            <a:ln w="9525">
              <a:noFill/>
            </a:ln>
          </p:spPr>
          <p:txBody>
            <a:bodyPr>
              <a:spAutoFit/>
            </a:bodyPr>
            <a:p>
              <a:pPr algn="l" eaLnBrk="1" hangingPunct="1">
                <a:buNone/>
              </a:pPr>
              <a:r>
                <a:rPr lang="en-US" altLang="zh-CN" sz="2000" b="1" i="1" err="1">
                  <a:solidFill>
                    <a:srgbClr val="333399"/>
                  </a:solidFill>
                  <a:latin typeface="Times New Roman" panose="02020603050405020304" pitchFamily="18" charset="0"/>
                  <a:ea typeface="宋体" panose="02010600030101010101" pitchFamily="2" charset="-122"/>
                </a:rPr>
                <a:t>δ</a:t>
              </a:r>
              <a:r>
                <a:rPr lang="en-US" altLang="zh-CN" sz="2000" b="1" i="1" baseline="-25000" err="1">
                  <a:solidFill>
                    <a:srgbClr val="333399"/>
                  </a:solidFill>
                  <a:latin typeface="Times New Roman" panose="02020603050405020304" pitchFamily="18" charset="0"/>
                  <a:ea typeface="宋体" panose="02010600030101010101" pitchFamily="2" charset="-122"/>
                </a:rPr>
                <a:t>Ts</a:t>
              </a:r>
              <a:r>
                <a:rPr lang="en-US" altLang="zh-CN" sz="2000" b="1" i="1" err="1">
                  <a:solidFill>
                    <a:srgbClr val="333399"/>
                  </a:solidFill>
                  <a:latin typeface="Times New Roman" panose="02020603050405020304" pitchFamily="18" charset="0"/>
                  <a:ea typeface="宋体" panose="02010600030101010101" pitchFamily="2" charset="-122"/>
                </a:rPr>
                <a:t>(t</a:t>
              </a:r>
              <a:r>
                <a:rPr lang="en-US" altLang="zh-CN" sz="2000" b="1" i="1">
                  <a:solidFill>
                    <a:srgbClr val="333399"/>
                  </a:solidFill>
                  <a:latin typeface="Times New Roman" panose="02020603050405020304" pitchFamily="18" charset="0"/>
                  <a:ea typeface="宋体" panose="02010600030101010101" pitchFamily="2" charset="-122"/>
                </a:rPr>
                <a:t>)</a:t>
              </a:r>
              <a:endParaRPr lang="en-US" altLang="zh-CN" sz="2000" b="1" i="1">
                <a:solidFill>
                  <a:srgbClr val="333399"/>
                </a:solidFill>
                <a:latin typeface="Times New Roman" panose="02020603050405020304" pitchFamily="18" charset="0"/>
                <a:ea typeface="宋体" panose="02010600030101010101" pitchFamily="2" charset="-122"/>
              </a:endParaRPr>
            </a:p>
          </p:txBody>
        </p:sp>
        <p:sp>
          <p:nvSpPr>
            <p:cNvPr id="2246783" name="Text Box 127"/>
            <p:cNvSpPr txBox="1"/>
            <p:nvPr/>
          </p:nvSpPr>
          <p:spPr>
            <a:xfrm>
              <a:off x="3141" y="2844"/>
              <a:ext cx="631"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i="1" baseline="-25000" err="1">
                  <a:solidFill>
                    <a:srgbClr val="333399"/>
                  </a:solidFill>
                  <a:latin typeface="Times New Roman" panose="02020603050405020304" pitchFamily="18" charset="0"/>
                </a:rPr>
                <a:t>S</a:t>
              </a:r>
              <a:r>
                <a:rPr lang="en-US" altLang="zh-CN" sz="2000" b="1" i="1" err="1">
                  <a:solidFill>
                    <a:srgbClr val="333399"/>
                  </a:solidFill>
                  <a:latin typeface="Times New Roman" panose="02020603050405020304" pitchFamily="18" charset="0"/>
                </a:rPr>
                <a:t>(nT</a:t>
              </a:r>
              <a:r>
                <a:rPr lang="en-US" altLang="zh-CN" sz="2000" b="1" i="1" baseline="-25000" err="1">
                  <a:solidFill>
                    <a:srgbClr val="333399"/>
                  </a:solidFill>
                  <a:latin typeface="Times New Roman" panose="02020603050405020304" pitchFamily="18" charset="0"/>
                </a:rPr>
                <a:t>S</a:t>
              </a:r>
              <a:r>
                <a:rPr lang="en-US" altLang="zh-CN" sz="2000" b="1" i="1" baseline="-25000">
                  <a:solidFill>
                    <a:srgbClr val="333399"/>
                  </a:solidFill>
                  <a:latin typeface="Times New Roman" panose="02020603050405020304" pitchFamily="18" charset="0"/>
                </a:rPr>
                <a:t> </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2246799" name="Line 143"/>
            <p:cNvSpPr/>
            <p:nvPr/>
          </p:nvSpPr>
          <p:spPr>
            <a:xfrm>
              <a:off x="2764" y="3059"/>
              <a:ext cx="233" cy="0"/>
            </a:xfrm>
            <a:prstGeom prst="line">
              <a:avLst/>
            </a:prstGeom>
            <a:ln w="19050" cap="flat" cmpd="sng">
              <a:solidFill>
                <a:srgbClr val="3333FF"/>
              </a:solidFill>
              <a:prstDash val="solid"/>
              <a:headEnd type="none" w="med" len="med"/>
              <a:tailEnd type="none" w="med" len="med"/>
            </a:ln>
          </p:spPr>
        </p:sp>
        <p:sp>
          <p:nvSpPr>
            <p:cNvPr id="2246800" name="Rectangle 144"/>
            <p:cNvSpPr/>
            <p:nvPr/>
          </p:nvSpPr>
          <p:spPr>
            <a:xfrm>
              <a:off x="2772" y="2949"/>
              <a:ext cx="217" cy="101"/>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01" name="Rectangle 145"/>
            <p:cNvSpPr/>
            <p:nvPr/>
          </p:nvSpPr>
          <p:spPr>
            <a:xfrm>
              <a:off x="2815" y="2460"/>
              <a:ext cx="125"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02" name="Line 146"/>
            <p:cNvSpPr/>
            <p:nvPr/>
          </p:nvSpPr>
          <p:spPr>
            <a:xfrm>
              <a:off x="2875" y="2623"/>
              <a:ext cx="0" cy="314"/>
            </a:xfrm>
            <a:prstGeom prst="line">
              <a:avLst/>
            </a:prstGeom>
            <a:ln w="28575" cap="flat" cmpd="sng">
              <a:solidFill>
                <a:srgbClr val="3333FF"/>
              </a:solidFill>
              <a:prstDash val="solid"/>
              <a:headEnd type="none" w="med" len="med"/>
              <a:tailEnd type="triangle" w="sm" len="lg"/>
            </a:ln>
          </p:spPr>
        </p:sp>
        <p:sp>
          <p:nvSpPr>
            <p:cNvPr id="2246803" name="Line 147"/>
            <p:cNvSpPr/>
            <p:nvPr/>
          </p:nvSpPr>
          <p:spPr>
            <a:xfrm>
              <a:off x="2789" y="3059"/>
              <a:ext cx="191" cy="0"/>
            </a:xfrm>
            <a:prstGeom prst="line">
              <a:avLst/>
            </a:prstGeom>
            <a:ln w="19050" cap="flat" cmpd="sng">
              <a:solidFill>
                <a:schemeClr val="bg1"/>
              </a:solidFill>
              <a:prstDash val="solid"/>
              <a:headEnd type="none" w="med" len="med"/>
              <a:tailEnd type="none" w="med" len="med"/>
            </a:ln>
          </p:spPr>
        </p:sp>
        <p:sp>
          <p:nvSpPr>
            <p:cNvPr id="2246804" name="Line 148"/>
            <p:cNvSpPr/>
            <p:nvPr/>
          </p:nvSpPr>
          <p:spPr>
            <a:xfrm flipV="1">
              <a:off x="2763" y="2948"/>
              <a:ext cx="197" cy="112"/>
            </a:xfrm>
            <a:prstGeom prst="line">
              <a:avLst/>
            </a:prstGeom>
            <a:ln w="19050" cap="flat" cmpd="sng">
              <a:solidFill>
                <a:srgbClr val="3333FF"/>
              </a:solidFill>
              <a:prstDash val="solid"/>
              <a:headEnd type="none" w="med" len="med"/>
              <a:tailEnd type="none" w="med" len="med"/>
            </a:ln>
          </p:spPr>
        </p:sp>
        <p:sp>
          <p:nvSpPr>
            <p:cNvPr id="2246805" name="Rectangle 149"/>
            <p:cNvSpPr/>
            <p:nvPr/>
          </p:nvSpPr>
          <p:spPr>
            <a:xfrm>
              <a:off x="2813" y="2601"/>
              <a:ext cx="125"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06" name="Line 150"/>
            <p:cNvSpPr/>
            <p:nvPr/>
          </p:nvSpPr>
          <p:spPr>
            <a:xfrm>
              <a:off x="2874" y="2474"/>
              <a:ext cx="0" cy="313"/>
            </a:xfrm>
            <a:prstGeom prst="line">
              <a:avLst/>
            </a:prstGeom>
            <a:ln w="28575" cap="flat" cmpd="sng">
              <a:solidFill>
                <a:srgbClr val="3333FF"/>
              </a:solidFill>
              <a:prstDash val="solid"/>
              <a:headEnd type="none" w="med" len="med"/>
              <a:tailEnd type="triangle" w="sm" len="lg"/>
            </a:ln>
          </p:spPr>
        </p:sp>
        <p:sp>
          <p:nvSpPr>
            <p:cNvPr id="2246807" name="Rectangle 151"/>
            <p:cNvSpPr/>
            <p:nvPr/>
          </p:nvSpPr>
          <p:spPr>
            <a:xfrm>
              <a:off x="2813" y="2458"/>
              <a:ext cx="117"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08" name="Line 152"/>
            <p:cNvSpPr/>
            <p:nvPr/>
          </p:nvSpPr>
          <p:spPr>
            <a:xfrm>
              <a:off x="2874" y="2623"/>
              <a:ext cx="0" cy="314"/>
            </a:xfrm>
            <a:prstGeom prst="line">
              <a:avLst/>
            </a:prstGeom>
            <a:ln w="28575" cap="flat" cmpd="sng">
              <a:solidFill>
                <a:srgbClr val="3333FF"/>
              </a:solidFill>
              <a:prstDash val="solid"/>
              <a:headEnd type="none" w="med" len="med"/>
              <a:tailEnd type="triangle" w="sm" len="lg"/>
            </a:ln>
          </p:spPr>
        </p:sp>
        <p:sp>
          <p:nvSpPr>
            <p:cNvPr id="2246809" name="Rectangle 153"/>
            <p:cNvSpPr/>
            <p:nvPr/>
          </p:nvSpPr>
          <p:spPr>
            <a:xfrm>
              <a:off x="2772" y="2948"/>
              <a:ext cx="217" cy="101"/>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10" name="Line 154"/>
            <p:cNvSpPr/>
            <p:nvPr/>
          </p:nvSpPr>
          <p:spPr>
            <a:xfrm>
              <a:off x="2772" y="3059"/>
              <a:ext cx="233" cy="0"/>
            </a:xfrm>
            <a:prstGeom prst="line">
              <a:avLst/>
            </a:prstGeom>
            <a:ln w="19050" cap="flat" cmpd="sng">
              <a:solidFill>
                <a:srgbClr val="3333FF"/>
              </a:solidFill>
              <a:prstDash val="solid"/>
              <a:headEnd type="none" w="med" len="med"/>
              <a:tailEnd type="none" w="med" len="med"/>
            </a:ln>
          </p:spPr>
        </p:sp>
        <p:sp>
          <p:nvSpPr>
            <p:cNvPr id="2246811" name="Rectangle 155"/>
            <p:cNvSpPr/>
            <p:nvPr/>
          </p:nvSpPr>
          <p:spPr>
            <a:xfrm>
              <a:off x="2804" y="2601"/>
              <a:ext cx="127"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12" name="Line 156"/>
            <p:cNvSpPr/>
            <p:nvPr/>
          </p:nvSpPr>
          <p:spPr>
            <a:xfrm>
              <a:off x="2874" y="2474"/>
              <a:ext cx="0" cy="313"/>
            </a:xfrm>
            <a:prstGeom prst="line">
              <a:avLst/>
            </a:prstGeom>
            <a:ln w="28575" cap="flat" cmpd="sng">
              <a:solidFill>
                <a:srgbClr val="3333FF"/>
              </a:solidFill>
              <a:prstDash val="solid"/>
              <a:headEnd type="none" w="med" len="med"/>
              <a:tailEnd type="triangle" w="sm" len="lg"/>
            </a:ln>
          </p:spPr>
        </p:sp>
        <p:sp>
          <p:nvSpPr>
            <p:cNvPr id="2246813" name="Line 157"/>
            <p:cNvSpPr/>
            <p:nvPr/>
          </p:nvSpPr>
          <p:spPr>
            <a:xfrm>
              <a:off x="2788" y="3059"/>
              <a:ext cx="191" cy="0"/>
            </a:xfrm>
            <a:prstGeom prst="line">
              <a:avLst/>
            </a:prstGeom>
            <a:ln w="19050" cap="flat" cmpd="sng">
              <a:solidFill>
                <a:schemeClr val="bg1"/>
              </a:solidFill>
              <a:prstDash val="solid"/>
              <a:headEnd type="none" w="med" len="med"/>
              <a:tailEnd type="none" w="med" len="med"/>
            </a:ln>
          </p:spPr>
        </p:sp>
        <p:sp>
          <p:nvSpPr>
            <p:cNvPr id="2246814" name="Line 158"/>
            <p:cNvSpPr/>
            <p:nvPr/>
          </p:nvSpPr>
          <p:spPr>
            <a:xfrm flipV="1">
              <a:off x="2763" y="2948"/>
              <a:ext cx="197" cy="112"/>
            </a:xfrm>
            <a:prstGeom prst="line">
              <a:avLst/>
            </a:prstGeom>
            <a:ln w="19050" cap="flat" cmpd="sng">
              <a:solidFill>
                <a:srgbClr val="3333FF"/>
              </a:solidFill>
              <a:prstDash val="solid"/>
              <a:headEnd type="none" w="med" len="med"/>
              <a:tailEnd type="none" w="med" len="med"/>
            </a:ln>
          </p:spPr>
        </p:sp>
        <p:sp>
          <p:nvSpPr>
            <p:cNvPr id="2246815" name="Rectangle 159"/>
            <p:cNvSpPr/>
            <p:nvPr/>
          </p:nvSpPr>
          <p:spPr>
            <a:xfrm>
              <a:off x="2804" y="2458"/>
              <a:ext cx="126"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16" name="Line 160"/>
            <p:cNvSpPr/>
            <p:nvPr/>
          </p:nvSpPr>
          <p:spPr>
            <a:xfrm>
              <a:off x="2874" y="2623"/>
              <a:ext cx="0" cy="314"/>
            </a:xfrm>
            <a:prstGeom prst="line">
              <a:avLst/>
            </a:prstGeom>
            <a:ln w="28575" cap="flat" cmpd="sng">
              <a:solidFill>
                <a:srgbClr val="3333FF"/>
              </a:solidFill>
              <a:prstDash val="solid"/>
              <a:headEnd type="none" w="med" len="med"/>
              <a:tailEnd type="triangle" w="sm" len="lg"/>
            </a:ln>
          </p:spPr>
        </p:sp>
        <p:sp>
          <p:nvSpPr>
            <p:cNvPr id="2246817" name="Rectangle 161"/>
            <p:cNvSpPr/>
            <p:nvPr/>
          </p:nvSpPr>
          <p:spPr>
            <a:xfrm>
              <a:off x="2772" y="2948"/>
              <a:ext cx="217" cy="101"/>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18" name="Line 162"/>
            <p:cNvSpPr/>
            <p:nvPr/>
          </p:nvSpPr>
          <p:spPr>
            <a:xfrm>
              <a:off x="2772" y="3059"/>
              <a:ext cx="233" cy="0"/>
            </a:xfrm>
            <a:prstGeom prst="line">
              <a:avLst/>
            </a:prstGeom>
            <a:ln w="19050" cap="flat" cmpd="sng">
              <a:solidFill>
                <a:srgbClr val="3333FF"/>
              </a:solidFill>
              <a:prstDash val="solid"/>
              <a:headEnd type="none" w="med" len="med"/>
              <a:tailEnd type="none" w="med" len="med"/>
            </a:ln>
          </p:spPr>
        </p:sp>
        <p:sp>
          <p:nvSpPr>
            <p:cNvPr id="2246819" name="Rectangle 163"/>
            <p:cNvSpPr/>
            <p:nvPr/>
          </p:nvSpPr>
          <p:spPr>
            <a:xfrm>
              <a:off x="2805" y="2601"/>
              <a:ext cx="134"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20" name="Line 164"/>
            <p:cNvSpPr/>
            <p:nvPr/>
          </p:nvSpPr>
          <p:spPr>
            <a:xfrm>
              <a:off x="2874" y="2474"/>
              <a:ext cx="0" cy="313"/>
            </a:xfrm>
            <a:prstGeom prst="line">
              <a:avLst/>
            </a:prstGeom>
            <a:ln w="28575" cap="flat" cmpd="sng">
              <a:solidFill>
                <a:srgbClr val="3333FF"/>
              </a:solidFill>
              <a:prstDash val="solid"/>
              <a:headEnd type="none" w="med" len="med"/>
              <a:tailEnd type="triangle" w="sm" len="lg"/>
            </a:ln>
          </p:spPr>
        </p:sp>
        <p:sp>
          <p:nvSpPr>
            <p:cNvPr id="2246821" name="Line 165"/>
            <p:cNvSpPr/>
            <p:nvPr/>
          </p:nvSpPr>
          <p:spPr>
            <a:xfrm>
              <a:off x="2788" y="3059"/>
              <a:ext cx="191" cy="0"/>
            </a:xfrm>
            <a:prstGeom prst="line">
              <a:avLst/>
            </a:prstGeom>
            <a:ln w="19050" cap="flat" cmpd="sng">
              <a:solidFill>
                <a:schemeClr val="bg1"/>
              </a:solidFill>
              <a:prstDash val="solid"/>
              <a:headEnd type="none" w="med" len="med"/>
              <a:tailEnd type="none" w="med" len="med"/>
            </a:ln>
          </p:spPr>
        </p:sp>
        <p:sp>
          <p:nvSpPr>
            <p:cNvPr id="2246822" name="Line 166"/>
            <p:cNvSpPr/>
            <p:nvPr/>
          </p:nvSpPr>
          <p:spPr>
            <a:xfrm flipV="1">
              <a:off x="2763" y="2948"/>
              <a:ext cx="197" cy="112"/>
            </a:xfrm>
            <a:prstGeom prst="line">
              <a:avLst/>
            </a:prstGeom>
            <a:ln w="19050" cap="flat" cmpd="sng">
              <a:solidFill>
                <a:srgbClr val="3333FF"/>
              </a:solidFill>
              <a:prstDash val="solid"/>
              <a:headEnd type="none" w="med" len="med"/>
              <a:tailEnd type="none" w="med" len="med"/>
            </a:ln>
          </p:spPr>
        </p:sp>
        <p:sp>
          <p:nvSpPr>
            <p:cNvPr id="2246823" name="Rectangle 167"/>
            <p:cNvSpPr/>
            <p:nvPr/>
          </p:nvSpPr>
          <p:spPr>
            <a:xfrm>
              <a:off x="2804" y="2458"/>
              <a:ext cx="127"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24" name="Line 168"/>
            <p:cNvSpPr/>
            <p:nvPr/>
          </p:nvSpPr>
          <p:spPr>
            <a:xfrm>
              <a:off x="2874" y="2623"/>
              <a:ext cx="0" cy="314"/>
            </a:xfrm>
            <a:prstGeom prst="line">
              <a:avLst/>
            </a:prstGeom>
            <a:ln w="28575" cap="flat" cmpd="sng">
              <a:solidFill>
                <a:srgbClr val="3333FF"/>
              </a:solidFill>
              <a:prstDash val="solid"/>
              <a:headEnd type="none" w="med" len="med"/>
              <a:tailEnd type="triangle" w="sm" len="lg"/>
            </a:ln>
          </p:spPr>
        </p:sp>
        <p:sp>
          <p:nvSpPr>
            <p:cNvPr id="2246825" name="Rectangle 169"/>
            <p:cNvSpPr/>
            <p:nvPr/>
          </p:nvSpPr>
          <p:spPr>
            <a:xfrm>
              <a:off x="2772" y="2948"/>
              <a:ext cx="217" cy="101"/>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26" name="Line 170"/>
            <p:cNvSpPr/>
            <p:nvPr/>
          </p:nvSpPr>
          <p:spPr>
            <a:xfrm>
              <a:off x="2772" y="3059"/>
              <a:ext cx="233" cy="0"/>
            </a:xfrm>
            <a:prstGeom prst="line">
              <a:avLst/>
            </a:prstGeom>
            <a:ln w="19050" cap="flat" cmpd="sng">
              <a:solidFill>
                <a:srgbClr val="3333FF"/>
              </a:solidFill>
              <a:prstDash val="solid"/>
              <a:headEnd type="none" w="med" len="med"/>
              <a:tailEnd type="none" w="med" len="med"/>
            </a:ln>
          </p:spPr>
        </p:sp>
        <p:sp>
          <p:nvSpPr>
            <p:cNvPr id="2246827" name="Rectangle 171"/>
            <p:cNvSpPr/>
            <p:nvPr/>
          </p:nvSpPr>
          <p:spPr>
            <a:xfrm>
              <a:off x="2805" y="2601"/>
              <a:ext cx="133"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28" name="Line 172"/>
            <p:cNvSpPr/>
            <p:nvPr/>
          </p:nvSpPr>
          <p:spPr>
            <a:xfrm>
              <a:off x="2874" y="2474"/>
              <a:ext cx="0" cy="313"/>
            </a:xfrm>
            <a:prstGeom prst="line">
              <a:avLst/>
            </a:prstGeom>
            <a:ln w="28575" cap="flat" cmpd="sng">
              <a:solidFill>
                <a:srgbClr val="3333FF"/>
              </a:solidFill>
              <a:prstDash val="solid"/>
              <a:headEnd type="none" w="med" len="med"/>
              <a:tailEnd type="triangle" w="sm" len="lg"/>
            </a:ln>
          </p:spPr>
        </p:sp>
        <p:sp>
          <p:nvSpPr>
            <p:cNvPr id="2246829" name="Line 173"/>
            <p:cNvSpPr/>
            <p:nvPr/>
          </p:nvSpPr>
          <p:spPr>
            <a:xfrm>
              <a:off x="2788" y="3059"/>
              <a:ext cx="191" cy="0"/>
            </a:xfrm>
            <a:prstGeom prst="line">
              <a:avLst/>
            </a:prstGeom>
            <a:ln w="19050" cap="flat" cmpd="sng">
              <a:solidFill>
                <a:schemeClr val="bg1"/>
              </a:solidFill>
              <a:prstDash val="solid"/>
              <a:headEnd type="none" w="med" len="med"/>
              <a:tailEnd type="none" w="med" len="med"/>
            </a:ln>
          </p:spPr>
        </p:sp>
        <p:sp>
          <p:nvSpPr>
            <p:cNvPr id="2246830" name="Line 174"/>
            <p:cNvSpPr/>
            <p:nvPr/>
          </p:nvSpPr>
          <p:spPr>
            <a:xfrm flipV="1">
              <a:off x="2763" y="2948"/>
              <a:ext cx="197" cy="112"/>
            </a:xfrm>
            <a:prstGeom prst="line">
              <a:avLst/>
            </a:prstGeom>
            <a:ln w="19050" cap="flat" cmpd="sng">
              <a:solidFill>
                <a:srgbClr val="3333FF"/>
              </a:solidFill>
              <a:prstDash val="solid"/>
              <a:headEnd type="none" w="med" len="med"/>
              <a:tailEnd type="none" w="med" len="med"/>
            </a:ln>
          </p:spPr>
        </p:sp>
        <p:sp>
          <p:nvSpPr>
            <p:cNvPr id="2246831" name="Rectangle 175"/>
            <p:cNvSpPr/>
            <p:nvPr/>
          </p:nvSpPr>
          <p:spPr>
            <a:xfrm>
              <a:off x="2805" y="2458"/>
              <a:ext cx="126"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32" name="Line 176"/>
            <p:cNvSpPr/>
            <p:nvPr/>
          </p:nvSpPr>
          <p:spPr>
            <a:xfrm>
              <a:off x="2874" y="2623"/>
              <a:ext cx="0" cy="314"/>
            </a:xfrm>
            <a:prstGeom prst="line">
              <a:avLst/>
            </a:prstGeom>
            <a:ln w="28575" cap="flat" cmpd="sng">
              <a:solidFill>
                <a:srgbClr val="3333FF"/>
              </a:solidFill>
              <a:prstDash val="solid"/>
              <a:headEnd type="none" w="med" len="med"/>
              <a:tailEnd type="triangle" w="sm" len="lg"/>
            </a:ln>
          </p:spPr>
        </p:sp>
        <p:sp>
          <p:nvSpPr>
            <p:cNvPr id="2246833" name="Rectangle 177"/>
            <p:cNvSpPr/>
            <p:nvPr/>
          </p:nvSpPr>
          <p:spPr>
            <a:xfrm>
              <a:off x="2772" y="2948"/>
              <a:ext cx="217" cy="101"/>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34" name="Line 178"/>
            <p:cNvSpPr/>
            <p:nvPr/>
          </p:nvSpPr>
          <p:spPr>
            <a:xfrm>
              <a:off x="2772" y="3059"/>
              <a:ext cx="233" cy="0"/>
            </a:xfrm>
            <a:prstGeom prst="line">
              <a:avLst/>
            </a:prstGeom>
            <a:ln w="19050" cap="flat" cmpd="sng">
              <a:solidFill>
                <a:srgbClr val="3333FF"/>
              </a:solidFill>
              <a:prstDash val="solid"/>
              <a:headEnd type="none" w="med" len="med"/>
              <a:tailEnd type="none" w="med" len="med"/>
            </a:ln>
          </p:spPr>
        </p:sp>
        <p:sp>
          <p:nvSpPr>
            <p:cNvPr id="2246835" name="Rectangle 179"/>
            <p:cNvSpPr/>
            <p:nvPr/>
          </p:nvSpPr>
          <p:spPr>
            <a:xfrm>
              <a:off x="2782" y="2601"/>
              <a:ext cx="183" cy="31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6836" name="Line 180"/>
            <p:cNvSpPr/>
            <p:nvPr/>
          </p:nvSpPr>
          <p:spPr>
            <a:xfrm>
              <a:off x="2874" y="2474"/>
              <a:ext cx="0" cy="313"/>
            </a:xfrm>
            <a:prstGeom prst="line">
              <a:avLst/>
            </a:prstGeom>
            <a:ln w="28575" cap="flat" cmpd="sng">
              <a:solidFill>
                <a:srgbClr val="3333FF"/>
              </a:solidFill>
              <a:prstDash val="solid"/>
              <a:headEnd type="none" w="med" len="med"/>
              <a:tailEnd type="triangle" w="sm" len="lg"/>
            </a:ln>
          </p:spPr>
        </p:sp>
        <p:sp>
          <p:nvSpPr>
            <p:cNvPr id="2246837" name="Line 181"/>
            <p:cNvSpPr/>
            <p:nvPr/>
          </p:nvSpPr>
          <p:spPr>
            <a:xfrm>
              <a:off x="2788" y="3059"/>
              <a:ext cx="191" cy="0"/>
            </a:xfrm>
            <a:prstGeom prst="line">
              <a:avLst/>
            </a:prstGeom>
            <a:ln w="19050" cap="flat" cmpd="sng">
              <a:solidFill>
                <a:schemeClr val="bg1"/>
              </a:solidFill>
              <a:prstDash val="solid"/>
              <a:headEnd type="none" w="med" len="med"/>
              <a:tailEnd type="none" w="med" len="med"/>
            </a:ln>
          </p:spPr>
        </p:sp>
        <p:sp>
          <p:nvSpPr>
            <p:cNvPr id="2246838" name="Line 182"/>
            <p:cNvSpPr/>
            <p:nvPr/>
          </p:nvSpPr>
          <p:spPr>
            <a:xfrm flipV="1">
              <a:off x="2763" y="2948"/>
              <a:ext cx="197" cy="112"/>
            </a:xfrm>
            <a:prstGeom prst="line">
              <a:avLst/>
            </a:prstGeom>
            <a:ln w="19050" cap="flat" cmpd="sng">
              <a:solidFill>
                <a:srgbClr val="3333FF"/>
              </a:solidFill>
              <a:prstDash val="solid"/>
              <a:headEnd type="none" w="med" len="med"/>
              <a:tailEnd type="none" w="med" len="med"/>
            </a:ln>
          </p:spPr>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6671"/>
                                        </p:tgtEl>
                                        <p:attrNameLst>
                                          <p:attrName>style.visibility</p:attrName>
                                        </p:attrNameLst>
                                      </p:cBhvr>
                                      <p:to>
                                        <p:strVal val="visible"/>
                                      </p:to>
                                    </p:set>
                                    <p:animEffect transition="in" filter="dissolve">
                                      <p:cBhvr>
                                        <p:cTn id="7" dur="500"/>
                                        <p:tgtEl>
                                          <p:spTgt spid="224667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6672">
                                            <p:txEl>
                                              <p:charRg st="0" end="78"/>
                                            </p:txEl>
                                          </p:spTgt>
                                        </p:tgtEl>
                                        <p:attrNameLst>
                                          <p:attrName>style.visibility</p:attrName>
                                        </p:attrNameLst>
                                      </p:cBhvr>
                                      <p:to>
                                        <p:strVal val="visible"/>
                                      </p:to>
                                    </p:set>
                                    <p:animEffect transition="in" filter="dissolve">
                                      <p:cBhvr>
                                        <p:cTn id="12" dur="500"/>
                                        <p:tgtEl>
                                          <p:spTgt spid="2246672">
                                            <p:txEl>
                                              <p:charRg st="0" end="7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233"/>
                                        </p:tgtEl>
                                        <p:attrNameLst>
                                          <p:attrName>style.visibility</p:attrName>
                                        </p:attrNameLst>
                                      </p:cBhvr>
                                      <p:to>
                                        <p:strVal val="visible"/>
                                      </p:to>
                                    </p:set>
                                    <p:animEffect transition="in" filter="dissolve">
                                      <p:cBhvr>
                                        <p:cTn id="17" dur="500"/>
                                        <p:tgtEl>
                                          <p:spTgt spid="623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234"/>
                                        </p:tgtEl>
                                        <p:attrNameLst>
                                          <p:attrName>style.visibility</p:attrName>
                                        </p:attrNameLst>
                                      </p:cBhvr>
                                      <p:to>
                                        <p:strVal val="visible"/>
                                      </p:to>
                                    </p:set>
                                    <p:animEffect transition="in" filter="dissolve">
                                      <p:cBhvr>
                                        <p:cTn id="22" dur="500"/>
                                        <p:tgtEl>
                                          <p:spTgt spid="623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235"/>
                                        </p:tgtEl>
                                        <p:attrNameLst>
                                          <p:attrName>style.visibility</p:attrName>
                                        </p:attrNameLst>
                                      </p:cBhvr>
                                      <p:to>
                                        <p:strVal val="visible"/>
                                      </p:to>
                                    </p:set>
                                    <p:animEffect transition="in" filter="dissolve">
                                      <p:cBhvr>
                                        <p:cTn id="27" dur="500"/>
                                        <p:tgtEl>
                                          <p:spTgt spid="6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6671" grpId="0" bldLvl="0" animBg="1"/>
      <p:bldP spid="2246672"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7700" name="Text Box 20"/>
          <p:cNvSpPr txBox="1"/>
          <p:nvPr/>
        </p:nvSpPr>
        <p:spPr>
          <a:xfrm>
            <a:off x="1255713" y="4737100"/>
            <a:ext cx="3424237" cy="519113"/>
          </a:xfrm>
          <a:prstGeom prst="rect">
            <a:avLst/>
          </a:prstGeom>
          <a:noFill/>
          <a:ln w="9525">
            <a:noFill/>
          </a:ln>
        </p:spPr>
        <p:txBody>
          <a:bodyPr>
            <a:spAutoFit/>
          </a:bodyPr>
          <a:p>
            <a:pPr algn="l" eaLnBrk="1" hangingPunct="1"/>
            <a:r>
              <a:rPr lang="en-US" altLang="zh-CN" sz="2800" b="1" i="1" err="1">
                <a:solidFill>
                  <a:srgbClr val="3333FF"/>
                </a:solidFill>
                <a:latin typeface="Times New Roman" panose="02020603050405020304" pitchFamily="18" charset="0"/>
                <a:ea typeface="宋体" panose="02010600030101010101" pitchFamily="2" charset="-122"/>
              </a:rPr>
              <a:t>x</a:t>
            </a:r>
            <a:r>
              <a:rPr lang="en-US" altLang="zh-CN" sz="2800" b="1" i="1" baseline="-25000" err="1">
                <a:solidFill>
                  <a:srgbClr val="3333FF"/>
                </a:solidFill>
                <a:latin typeface="Times New Roman" panose="02020603050405020304" pitchFamily="18" charset="0"/>
                <a:ea typeface="宋体" panose="02010600030101010101" pitchFamily="2" charset="-122"/>
              </a:rPr>
              <a:t>S</a:t>
            </a:r>
            <a:r>
              <a:rPr lang="en-US" altLang="zh-CN" sz="2800" b="1" i="1" err="1">
                <a:solidFill>
                  <a:srgbClr val="3333FF"/>
                </a:solidFill>
                <a:latin typeface="Times New Roman" panose="02020603050405020304" pitchFamily="18" charset="0"/>
                <a:ea typeface="宋体" panose="02010600030101010101" pitchFamily="2" charset="-122"/>
              </a:rPr>
              <a:t>(nT</a:t>
            </a:r>
            <a:r>
              <a:rPr lang="en-US" altLang="zh-CN" sz="2800" b="1" i="1" baseline="-25000" err="1">
                <a:solidFill>
                  <a:srgbClr val="3333FF"/>
                </a:solidFill>
                <a:latin typeface="Times New Roman" panose="02020603050405020304" pitchFamily="18" charset="0"/>
                <a:ea typeface="宋体" panose="02010600030101010101" pitchFamily="2" charset="-122"/>
              </a:rPr>
              <a:t>S</a:t>
            </a:r>
            <a:r>
              <a:rPr lang="en-US" altLang="zh-CN" sz="2800" b="1" i="1" baseline="-25000">
                <a:solidFill>
                  <a:srgbClr val="3333FF"/>
                </a:solidFill>
                <a:latin typeface="Times New Roman" panose="02020603050405020304" pitchFamily="18" charset="0"/>
                <a:ea typeface="宋体" panose="02010600030101010101" pitchFamily="2" charset="-122"/>
              </a:rPr>
              <a:t> </a:t>
            </a:r>
            <a:r>
              <a:rPr lang="en-US" altLang="zh-CN" sz="2800" b="1" i="1">
                <a:solidFill>
                  <a:srgbClr val="3333FF"/>
                </a:solidFill>
                <a:latin typeface="Times New Roman" panose="02020603050405020304" pitchFamily="18" charset="0"/>
                <a:ea typeface="宋体" panose="02010600030101010101" pitchFamily="2" charset="-122"/>
              </a:rPr>
              <a:t>) </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CC00CC"/>
                </a:solidFill>
                <a:latin typeface="楷体_GB2312" pitchFamily="49" charset="-122"/>
              </a:rPr>
              <a:t>采样信号</a:t>
            </a:r>
            <a:endParaRPr lang="zh-CN" altLang="en-US" sz="2800" b="1" dirty="0">
              <a:solidFill>
                <a:srgbClr val="CC00CC"/>
              </a:solidFill>
              <a:latin typeface="楷体_GB2312" pitchFamily="49" charset="-122"/>
            </a:endParaRPr>
          </a:p>
        </p:txBody>
      </p:sp>
      <p:sp>
        <p:nvSpPr>
          <p:cNvPr id="2247701" name="Text Box 21"/>
          <p:cNvSpPr txBox="1"/>
          <p:nvPr/>
        </p:nvSpPr>
        <p:spPr>
          <a:xfrm>
            <a:off x="4640263" y="4724400"/>
            <a:ext cx="3201987" cy="519113"/>
          </a:xfrm>
          <a:prstGeom prst="rect">
            <a:avLst/>
          </a:prstGeom>
          <a:noFill/>
          <a:ln w="9525">
            <a:noFill/>
          </a:ln>
        </p:spPr>
        <p:txBody>
          <a:bodyPr wrap="none">
            <a:spAutoFit/>
          </a:bodyPr>
          <a:p>
            <a:pPr algn="l" eaLnBrk="1" hangingPunct="1"/>
            <a:r>
              <a:rPr lang="en-US" altLang="zh-CN" sz="2800" b="1">
                <a:solidFill>
                  <a:srgbClr val="3333FF"/>
                </a:solidFill>
                <a:latin typeface="Times New Roman" panose="02020603050405020304" pitchFamily="18" charset="0"/>
                <a:ea typeface="宋体" panose="02010600030101010101" pitchFamily="2" charset="-122"/>
              </a:rPr>
              <a:t>0, </a:t>
            </a:r>
            <a:r>
              <a:rPr lang="en-US" altLang="zh-CN" sz="2800" b="1" i="1">
                <a:solidFill>
                  <a:srgbClr val="3333FF"/>
                </a:solidFill>
                <a:latin typeface="Times New Roman" panose="02020603050405020304" pitchFamily="18" charset="0"/>
                <a:ea typeface="宋体" panose="02010600030101010101" pitchFamily="2" charset="-122"/>
              </a:rPr>
              <a:t>T</a:t>
            </a:r>
            <a:r>
              <a:rPr lang="en-US" altLang="zh-CN" sz="2800" b="1" i="1" baseline="-25000">
                <a:solidFill>
                  <a:srgbClr val="3333FF"/>
                </a:solidFill>
                <a:latin typeface="Times New Roman" panose="02020603050405020304" pitchFamily="18" charset="0"/>
                <a:ea typeface="宋体" panose="02010600030101010101" pitchFamily="2" charset="-122"/>
              </a:rPr>
              <a:t>S</a:t>
            </a:r>
            <a:r>
              <a:rPr lang="en-US" altLang="zh-CN" sz="2800" b="1">
                <a:solidFill>
                  <a:srgbClr val="3333FF"/>
                </a:solidFill>
                <a:latin typeface="Times New Roman" panose="02020603050405020304" pitchFamily="18" charset="0"/>
                <a:ea typeface="宋体" panose="02010600030101010101" pitchFamily="2" charset="-122"/>
              </a:rPr>
              <a:t>, 2</a:t>
            </a:r>
            <a:r>
              <a:rPr lang="en-US" altLang="zh-CN" sz="2800" b="1" i="1">
                <a:solidFill>
                  <a:srgbClr val="3333FF"/>
                </a:solidFill>
                <a:latin typeface="Times New Roman" panose="02020603050405020304" pitchFamily="18" charset="0"/>
                <a:ea typeface="宋体" panose="02010600030101010101" pitchFamily="2" charset="-122"/>
              </a:rPr>
              <a:t>T</a:t>
            </a:r>
            <a:r>
              <a:rPr lang="en-US" altLang="zh-CN" sz="2800" b="1" i="1" baseline="-25000">
                <a:solidFill>
                  <a:srgbClr val="3333FF"/>
                </a:solidFill>
                <a:latin typeface="Times New Roman" panose="02020603050405020304" pitchFamily="18" charset="0"/>
                <a:ea typeface="宋体" panose="02010600030101010101" pitchFamily="2" charset="-122"/>
              </a:rPr>
              <a:t>S </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CC00CC"/>
                </a:solidFill>
                <a:latin typeface="楷体_GB2312" pitchFamily="49" charset="-122"/>
              </a:rPr>
              <a:t>采样时刻</a:t>
            </a:r>
            <a:endParaRPr lang="zh-CN" altLang="en-US" sz="2800" b="1" dirty="0">
              <a:solidFill>
                <a:srgbClr val="CC00CC"/>
              </a:solidFill>
              <a:latin typeface="楷体_GB2312" pitchFamily="49" charset="-122"/>
            </a:endParaRPr>
          </a:p>
        </p:txBody>
      </p:sp>
      <p:sp>
        <p:nvSpPr>
          <p:cNvPr id="2247702" name="Text Box 22"/>
          <p:cNvSpPr txBox="1"/>
          <p:nvPr/>
        </p:nvSpPr>
        <p:spPr>
          <a:xfrm>
            <a:off x="2047875" y="5370513"/>
            <a:ext cx="2089150" cy="519112"/>
          </a:xfrm>
          <a:prstGeom prst="rect">
            <a:avLst/>
          </a:prstGeom>
          <a:noFill/>
          <a:ln w="9525">
            <a:noFill/>
          </a:ln>
        </p:spPr>
        <p:txBody>
          <a:bodyPr wrap="none">
            <a:spAutoFit/>
          </a:bodyPr>
          <a:p>
            <a:pPr algn="l" eaLnBrk="1" hangingPunct="1"/>
            <a:r>
              <a:rPr lang="en-US" altLang="zh-CN" sz="2800" b="1" i="1">
                <a:solidFill>
                  <a:srgbClr val="3333FF"/>
                </a:solidFill>
                <a:latin typeface="Times New Roman" panose="02020603050405020304" pitchFamily="18" charset="0"/>
                <a:ea typeface="宋体" panose="02010600030101010101" pitchFamily="2" charset="-122"/>
              </a:rPr>
              <a:t>τ</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CC00CC"/>
                </a:solidFill>
                <a:latin typeface="楷体_GB2312" pitchFamily="49" charset="-122"/>
              </a:rPr>
              <a:t>采样时间</a:t>
            </a:r>
            <a:endParaRPr lang="zh-CN" altLang="en-US" sz="2800" b="1" dirty="0">
              <a:solidFill>
                <a:srgbClr val="CC00CC"/>
              </a:solidFill>
              <a:latin typeface="楷体_GB2312" pitchFamily="49" charset="-122"/>
            </a:endParaRPr>
          </a:p>
        </p:txBody>
      </p:sp>
      <p:sp>
        <p:nvSpPr>
          <p:cNvPr id="2247703" name="Text Box 23"/>
          <p:cNvSpPr txBox="1"/>
          <p:nvPr/>
        </p:nvSpPr>
        <p:spPr>
          <a:xfrm>
            <a:off x="5684838" y="5335588"/>
            <a:ext cx="2138362" cy="519112"/>
          </a:xfrm>
          <a:prstGeom prst="rect">
            <a:avLst/>
          </a:prstGeom>
          <a:noFill/>
          <a:ln w="9525">
            <a:noFill/>
          </a:ln>
        </p:spPr>
        <p:txBody>
          <a:bodyPr wrap="none">
            <a:spAutoFit/>
          </a:bodyPr>
          <a:p>
            <a:pPr algn="l" eaLnBrk="1" hangingPunct="1"/>
            <a:r>
              <a:rPr lang="en-US" altLang="zh-CN" sz="2800" b="1" i="1">
                <a:solidFill>
                  <a:srgbClr val="3333FF"/>
                </a:solidFill>
                <a:latin typeface="Times New Roman" panose="02020603050405020304" pitchFamily="18" charset="0"/>
                <a:ea typeface="宋体" panose="02010600030101010101" pitchFamily="2" charset="-122"/>
              </a:rPr>
              <a:t>T</a:t>
            </a:r>
            <a:r>
              <a:rPr lang="en-US" altLang="zh-CN" sz="2800" b="1" i="1" baseline="-25000">
                <a:solidFill>
                  <a:srgbClr val="3333FF"/>
                </a:solidFill>
                <a:latin typeface="Times New Roman" panose="02020603050405020304" pitchFamily="18" charset="0"/>
                <a:ea typeface="宋体" panose="02010600030101010101" pitchFamily="2" charset="-122"/>
              </a:rPr>
              <a:t>S </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CC00CC"/>
                </a:solidFill>
                <a:latin typeface="楷体_GB2312" pitchFamily="49" charset="-122"/>
              </a:rPr>
              <a:t>采样周期</a:t>
            </a:r>
            <a:endParaRPr lang="zh-CN" altLang="en-US" sz="2800" b="1" dirty="0">
              <a:solidFill>
                <a:srgbClr val="CC00CC"/>
              </a:solidFill>
              <a:latin typeface="楷体_GB2312" pitchFamily="49" charset="-122"/>
            </a:endParaRPr>
          </a:p>
        </p:txBody>
      </p:sp>
      <p:sp>
        <p:nvSpPr>
          <p:cNvPr id="7174" name="Freeform 32"/>
          <p:cNvSpPr/>
          <p:nvPr/>
        </p:nvSpPr>
        <p:spPr>
          <a:xfrm>
            <a:off x="766763" y="2320925"/>
            <a:ext cx="1830387" cy="430213"/>
          </a:xfrm>
          <a:custGeom>
            <a:avLst/>
            <a:gdLst/>
            <a:ahLst/>
            <a:cxnLst>
              <a:cxn ang="0">
                <a:pos x="0" y="199188619"/>
              </a:cxn>
              <a:cxn ang="0">
                <a:pos x="133781824" y="136481233"/>
              </a:cxn>
              <a:cxn ang="0">
                <a:pos x="291643298" y="73773847"/>
              </a:cxn>
              <a:cxn ang="0">
                <a:pos x="513720439" y="11066461"/>
              </a:cxn>
              <a:cxn ang="0">
                <a:pos x="647502264" y="11066461"/>
              </a:cxn>
              <a:cxn ang="0">
                <a:pos x="805363737" y="11066461"/>
              </a:cxn>
              <a:cxn ang="0">
                <a:pos x="960550784" y="11066461"/>
              </a:cxn>
              <a:cxn ang="0">
                <a:pos x="1094330973" y="44263924"/>
              </a:cxn>
              <a:cxn ang="0">
                <a:pos x="1228112797" y="73773847"/>
              </a:cxn>
              <a:cxn ang="0">
                <a:pos x="1407379494" y="136481233"/>
              </a:cxn>
              <a:cxn ang="0">
                <a:pos x="1565242603" y="258208465"/>
              </a:cxn>
              <a:cxn ang="0">
                <a:pos x="1787319744" y="413133160"/>
              </a:cxn>
              <a:cxn ang="0">
                <a:pos x="1899696346" y="534858471"/>
              </a:cxn>
              <a:cxn ang="0">
                <a:pos x="2033476535" y="660273243"/>
              </a:cxn>
              <a:cxn ang="0">
                <a:pos x="2147483647" y="752490552"/>
              </a:cxn>
              <a:cxn ang="0">
                <a:pos x="2147483647" y="811510398"/>
              </a:cxn>
              <a:cxn ang="0">
                <a:pos x="2147483647" y="811510398"/>
              </a:cxn>
              <a:cxn ang="0">
                <a:pos x="2147483647" y="811510398"/>
              </a:cxn>
              <a:cxn ang="0">
                <a:pos x="2147483647" y="719293089"/>
              </a:cxn>
              <a:cxn ang="0">
                <a:pos x="2147483647" y="568055934"/>
              </a:cxn>
            </a:cxnLst>
            <a:pathLst>
              <a:path w="1119" h="224">
                <a:moveTo>
                  <a:pt x="0" y="54"/>
                </a:moveTo>
                <a:cubicBezTo>
                  <a:pt x="16" y="48"/>
                  <a:pt x="32" y="43"/>
                  <a:pt x="50" y="37"/>
                </a:cubicBezTo>
                <a:cubicBezTo>
                  <a:pt x="68" y="31"/>
                  <a:pt x="85" y="26"/>
                  <a:pt x="109" y="20"/>
                </a:cubicBezTo>
                <a:cubicBezTo>
                  <a:pt x="133" y="14"/>
                  <a:pt x="170" y="6"/>
                  <a:pt x="192" y="3"/>
                </a:cubicBezTo>
                <a:cubicBezTo>
                  <a:pt x="214" y="0"/>
                  <a:pt x="224" y="3"/>
                  <a:pt x="242" y="3"/>
                </a:cubicBezTo>
                <a:cubicBezTo>
                  <a:pt x="260" y="3"/>
                  <a:pt x="282" y="3"/>
                  <a:pt x="301" y="3"/>
                </a:cubicBezTo>
                <a:cubicBezTo>
                  <a:pt x="320" y="3"/>
                  <a:pt x="341" y="1"/>
                  <a:pt x="359" y="3"/>
                </a:cubicBezTo>
                <a:cubicBezTo>
                  <a:pt x="377" y="5"/>
                  <a:pt x="392" y="9"/>
                  <a:pt x="409" y="12"/>
                </a:cubicBezTo>
                <a:cubicBezTo>
                  <a:pt x="426" y="15"/>
                  <a:pt x="440" y="16"/>
                  <a:pt x="459" y="20"/>
                </a:cubicBezTo>
                <a:cubicBezTo>
                  <a:pt x="478" y="24"/>
                  <a:pt x="505" y="29"/>
                  <a:pt x="526" y="37"/>
                </a:cubicBezTo>
                <a:cubicBezTo>
                  <a:pt x="547" y="45"/>
                  <a:pt x="561" y="58"/>
                  <a:pt x="585" y="70"/>
                </a:cubicBezTo>
                <a:cubicBezTo>
                  <a:pt x="609" y="82"/>
                  <a:pt x="647" y="100"/>
                  <a:pt x="668" y="112"/>
                </a:cubicBezTo>
                <a:cubicBezTo>
                  <a:pt x="689" y="124"/>
                  <a:pt x="695" y="134"/>
                  <a:pt x="710" y="145"/>
                </a:cubicBezTo>
                <a:cubicBezTo>
                  <a:pt x="725" y="156"/>
                  <a:pt x="742" y="169"/>
                  <a:pt x="760" y="179"/>
                </a:cubicBezTo>
                <a:cubicBezTo>
                  <a:pt x="778" y="189"/>
                  <a:pt x="800" y="197"/>
                  <a:pt x="818" y="204"/>
                </a:cubicBezTo>
                <a:cubicBezTo>
                  <a:pt x="836" y="211"/>
                  <a:pt x="850" y="217"/>
                  <a:pt x="868" y="220"/>
                </a:cubicBezTo>
                <a:cubicBezTo>
                  <a:pt x="886" y="223"/>
                  <a:pt x="906" y="220"/>
                  <a:pt x="927" y="220"/>
                </a:cubicBezTo>
                <a:cubicBezTo>
                  <a:pt x="948" y="220"/>
                  <a:pt x="973" y="224"/>
                  <a:pt x="994" y="220"/>
                </a:cubicBezTo>
                <a:cubicBezTo>
                  <a:pt x="1015" y="216"/>
                  <a:pt x="1031" y="206"/>
                  <a:pt x="1052" y="195"/>
                </a:cubicBezTo>
                <a:cubicBezTo>
                  <a:pt x="1073" y="184"/>
                  <a:pt x="1104" y="165"/>
                  <a:pt x="1119" y="15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7175" name="Line 33"/>
          <p:cNvSpPr/>
          <p:nvPr/>
        </p:nvSpPr>
        <p:spPr>
          <a:xfrm>
            <a:off x="768350" y="3530600"/>
            <a:ext cx="2254250" cy="0"/>
          </a:xfrm>
          <a:prstGeom prst="line">
            <a:avLst/>
          </a:prstGeom>
          <a:ln w="9525" cap="flat" cmpd="sng">
            <a:solidFill>
              <a:srgbClr val="3333FF"/>
            </a:solidFill>
            <a:prstDash val="solid"/>
            <a:headEnd type="none" w="med" len="med"/>
            <a:tailEnd type="triangle" w="sm" len="lg"/>
          </a:ln>
        </p:spPr>
      </p:sp>
      <p:sp>
        <p:nvSpPr>
          <p:cNvPr id="7176" name="Line 34"/>
          <p:cNvSpPr/>
          <p:nvPr/>
        </p:nvSpPr>
        <p:spPr>
          <a:xfrm flipV="1">
            <a:off x="768350" y="1714500"/>
            <a:ext cx="0" cy="1816100"/>
          </a:xfrm>
          <a:prstGeom prst="line">
            <a:avLst/>
          </a:prstGeom>
          <a:ln w="9525" cap="flat" cmpd="sng">
            <a:solidFill>
              <a:srgbClr val="3333FF"/>
            </a:solidFill>
            <a:prstDash val="solid"/>
            <a:headEnd type="none" w="med" len="med"/>
            <a:tailEnd type="triangle" w="sm" len="lg"/>
          </a:ln>
        </p:spPr>
      </p:sp>
      <p:sp>
        <p:nvSpPr>
          <p:cNvPr id="7177" name="Rectangle 35"/>
          <p:cNvSpPr/>
          <p:nvPr/>
        </p:nvSpPr>
        <p:spPr>
          <a:xfrm>
            <a:off x="4046538" y="3065463"/>
            <a:ext cx="981075" cy="498475"/>
          </a:xfrm>
          <a:prstGeom prst="rect">
            <a:avLst/>
          </a:prstGeom>
          <a:noFill/>
          <a:ln w="19050"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178" name="Line 36"/>
          <p:cNvSpPr/>
          <p:nvPr/>
        </p:nvSpPr>
        <p:spPr>
          <a:xfrm>
            <a:off x="3495675" y="3321050"/>
            <a:ext cx="822325" cy="0"/>
          </a:xfrm>
          <a:prstGeom prst="line">
            <a:avLst/>
          </a:prstGeom>
          <a:ln w="19050" cap="flat" cmpd="sng">
            <a:solidFill>
              <a:srgbClr val="3333FF"/>
            </a:solidFill>
            <a:prstDash val="solid"/>
            <a:headEnd type="none" w="med" len="med"/>
            <a:tailEnd type="none" w="med" len="med"/>
          </a:ln>
        </p:spPr>
      </p:sp>
      <p:sp>
        <p:nvSpPr>
          <p:cNvPr id="7179" name="Oval 37"/>
          <p:cNvSpPr/>
          <p:nvPr/>
        </p:nvSpPr>
        <p:spPr>
          <a:xfrm>
            <a:off x="4303713" y="3257550"/>
            <a:ext cx="106362" cy="107950"/>
          </a:xfrm>
          <a:prstGeom prst="ellipse">
            <a:avLst/>
          </a:prstGeom>
          <a:solidFill>
            <a:srgbClr val="008080"/>
          </a:solidFill>
          <a:ln w="9525" cap="flat" cmpd="sng">
            <a:solidFill>
              <a:srgbClr val="3333FF"/>
            </a:solidFill>
            <a:prstDash val="solid"/>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180" name="Line 38"/>
          <p:cNvSpPr/>
          <p:nvPr/>
        </p:nvSpPr>
        <p:spPr>
          <a:xfrm flipV="1">
            <a:off x="4386263" y="3097213"/>
            <a:ext cx="312737" cy="177800"/>
          </a:xfrm>
          <a:prstGeom prst="line">
            <a:avLst/>
          </a:prstGeom>
          <a:ln w="19050" cap="flat" cmpd="sng">
            <a:solidFill>
              <a:srgbClr val="3333FF"/>
            </a:solidFill>
            <a:prstDash val="solid"/>
            <a:headEnd type="none" w="med" len="med"/>
            <a:tailEnd type="none" w="med" len="med"/>
          </a:ln>
        </p:spPr>
      </p:sp>
      <p:sp>
        <p:nvSpPr>
          <p:cNvPr id="7181" name="Oval 39"/>
          <p:cNvSpPr/>
          <p:nvPr/>
        </p:nvSpPr>
        <p:spPr>
          <a:xfrm>
            <a:off x="4706938" y="3265488"/>
            <a:ext cx="104775" cy="107950"/>
          </a:xfrm>
          <a:prstGeom prst="ellipse">
            <a:avLst/>
          </a:prstGeom>
          <a:solidFill>
            <a:srgbClr val="008080"/>
          </a:solidFill>
          <a:ln w="9525" cap="flat" cmpd="sng">
            <a:solidFill>
              <a:srgbClr val="3333FF"/>
            </a:solidFill>
            <a:prstDash val="solid"/>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182" name="Line 40"/>
          <p:cNvSpPr/>
          <p:nvPr/>
        </p:nvSpPr>
        <p:spPr>
          <a:xfrm>
            <a:off x="4822825" y="3321050"/>
            <a:ext cx="1047750" cy="0"/>
          </a:xfrm>
          <a:prstGeom prst="line">
            <a:avLst/>
          </a:prstGeom>
          <a:ln w="19050" cap="flat" cmpd="sng">
            <a:solidFill>
              <a:srgbClr val="3333FF"/>
            </a:solidFill>
            <a:prstDash val="solid"/>
            <a:headEnd type="none" w="med" len="med"/>
            <a:tailEnd type="none" w="med" len="med"/>
          </a:ln>
        </p:spPr>
      </p:sp>
      <p:sp>
        <p:nvSpPr>
          <p:cNvPr id="7183" name="Line 41"/>
          <p:cNvSpPr/>
          <p:nvPr/>
        </p:nvSpPr>
        <p:spPr>
          <a:xfrm>
            <a:off x="4564063" y="2344738"/>
            <a:ext cx="0" cy="496887"/>
          </a:xfrm>
          <a:prstGeom prst="line">
            <a:avLst/>
          </a:prstGeom>
          <a:ln w="28575" cap="flat" cmpd="sng">
            <a:solidFill>
              <a:srgbClr val="3333FF"/>
            </a:solidFill>
            <a:prstDash val="solid"/>
            <a:headEnd type="none" w="med" len="med"/>
            <a:tailEnd type="triangle" w="sm" len="lg"/>
          </a:ln>
        </p:spPr>
      </p:sp>
      <p:sp>
        <p:nvSpPr>
          <p:cNvPr id="7184" name="Line 42"/>
          <p:cNvSpPr/>
          <p:nvPr/>
        </p:nvSpPr>
        <p:spPr>
          <a:xfrm>
            <a:off x="6350000" y="3530600"/>
            <a:ext cx="2254250" cy="0"/>
          </a:xfrm>
          <a:prstGeom prst="line">
            <a:avLst/>
          </a:prstGeom>
          <a:ln w="9525" cap="flat" cmpd="sng">
            <a:solidFill>
              <a:srgbClr val="3333FF"/>
            </a:solidFill>
            <a:prstDash val="solid"/>
            <a:headEnd type="none" w="med" len="med"/>
            <a:tailEnd type="triangle" w="sm" len="lg"/>
          </a:ln>
        </p:spPr>
      </p:sp>
      <p:sp>
        <p:nvSpPr>
          <p:cNvPr id="7185" name="Line 43"/>
          <p:cNvSpPr/>
          <p:nvPr/>
        </p:nvSpPr>
        <p:spPr>
          <a:xfrm flipV="1">
            <a:off x="6350000" y="1700213"/>
            <a:ext cx="0" cy="1830387"/>
          </a:xfrm>
          <a:prstGeom prst="line">
            <a:avLst/>
          </a:prstGeom>
          <a:ln w="9525" cap="flat" cmpd="sng">
            <a:solidFill>
              <a:srgbClr val="3333FF"/>
            </a:solidFill>
            <a:prstDash val="solid"/>
            <a:headEnd type="none" w="med" len="med"/>
            <a:tailEnd type="triangle" w="sm" len="lg"/>
          </a:ln>
        </p:spPr>
      </p:sp>
      <p:sp>
        <p:nvSpPr>
          <p:cNvPr id="7186" name="Freeform 44"/>
          <p:cNvSpPr/>
          <p:nvPr/>
        </p:nvSpPr>
        <p:spPr>
          <a:xfrm>
            <a:off x="6346825" y="2330450"/>
            <a:ext cx="1830388" cy="430213"/>
          </a:xfrm>
          <a:custGeom>
            <a:avLst/>
            <a:gdLst/>
            <a:ahLst/>
            <a:cxnLst>
              <a:cxn ang="0">
                <a:pos x="0" y="199188619"/>
              </a:cxn>
              <a:cxn ang="0">
                <a:pos x="133781898" y="136481233"/>
              </a:cxn>
              <a:cxn ang="0">
                <a:pos x="291643457" y="73773847"/>
              </a:cxn>
              <a:cxn ang="0">
                <a:pos x="513720720" y="11066461"/>
              </a:cxn>
              <a:cxn ang="0">
                <a:pos x="647502618" y="11066461"/>
              </a:cxn>
              <a:cxn ang="0">
                <a:pos x="805364177" y="11066461"/>
              </a:cxn>
              <a:cxn ang="0">
                <a:pos x="960551309" y="11066461"/>
              </a:cxn>
              <a:cxn ang="0">
                <a:pos x="1094333207" y="44263924"/>
              </a:cxn>
              <a:cxn ang="0">
                <a:pos x="1228115104" y="73773847"/>
              </a:cxn>
              <a:cxn ang="0">
                <a:pos x="1407381898" y="136481233"/>
              </a:cxn>
              <a:cxn ang="0">
                <a:pos x="1565243458" y="258208465"/>
              </a:cxn>
              <a:cxn ang="0">
                <a:pos x="1787320721" y="413133160"/>
              </a:cxn>
              <a:cxn ang="0">
                <a:pos x="1899697384" y="534858471"/>
              </a:cxn>
              <a:cxn ang="0">
                <a:pos x="2033479281" y="660273243"/>
              </a:cxn>
              <a:cxn ang="0">
                <a:pos x="2147483647" y="752490552"/>
              </a:cxn>
              <a:cxn ang="0">
                <a:pos x="2147483647" y="811510398"/>
              </a:cxn>
              <a:cxn ang="0">
                <a:pos x="2147483647" y="811510398"/>
              </a:cxn>
              <a:cxn ang="0">
                <a:pos x="2147483647" y="811510398"/>
              </a:cxn>
              <a:cxn ang="0">
                <a:pos x="2147483647" y="719293089"/>
              </a:cxn>
              <a:cxn ang="0">
                <a:pos x="2147483647" y="568055934"/>
              </a:cxn>
            </a:cxnLst>
            <a:pathLst>
              <a:path w="1119" h="224">
                <a:moveTo>
                  <a:pt x="0" y="54"/>
                </a:moveTo>
                <a:cubicBezTo>
                  <a:pt x="16" y="48"/>
                  <a:pt x="32" y="43"/>
                  <a:pt x="50" y="37"/>
                </a:cubicBezTo>
                <a:cubicBezTo>
                  <a:pt x="68" y="31"/>
                  <a:pt x="85" y="26"/>
                  <a:pt x="109" y="20"/>
                </a:cubicBezTo>
                <a:cubicBezTo>
                  <a:pt x="133" y="14"/>
                  <a:pt x="170" y="6"/>
                  <a:pt x="192" y="3"/>
                </a:cubicBezTo>
                <a:cubicBezTo>
                  <a:pt x="214" y="0"/>
                  <a:pt x="224" y="3"/>
                  <a:pt x="242" y="3"/>
                </a:cubicBezTo>
                <a:cubicBezTo>
                  <a:pt x="260" y="3"/>
                  <a:pt x="282" y="3"/>
                  <a:pt x="301" y="3"/>
                </a:cubicBezTo>
                <a:cubicBezTo>
                  <a:pt x="320" y="3"/>
                  <a:pt x="341" y="1"/>
                  <a:pt x="359" y="3"/>
                </a:cubicBezTo>
                <a:cubicBezTo>
                  <a:pt x="377" y="5"/>
                  <a:pt x="392" y="9"/>
                  <a:pt x="409" y="12"/>
                </a:cubicBezTo>
                <a:cubicBezTo>
                  <a:pt x="426" y="15"/>
                  <a:pt x="440" y="16"/>
                  <a:pt x="459" y="20"/>
                </a:cubicBezTo>
                <a:cubicBezTo>
                  <a:pt x="478" y="24"/>
                  <a:pt x="505" y="29"/>
                  <a:pt x="526" y="37"/>
                </a:cubicBezTo>
                <a:cubicBezTo>
                  <a:pt x="547" y="45"/>
                  <a:pt x="561" y="58"/>
                  <a:pt x="585" y="70"/>
                </a:cubicBezTo>
                <a:cubicBezTo>
                  <a:pt x="609" y="82"/>
                  <a:pt x="647" y="100"/>
                  <a:pt x="668" y="112"/>
                </a:cubicBezTo>
                <a:cubicBezTo>
                  <a:pt x="689" y="124"/>
                  <a:pt x="695" y="134"/>
                  <a:pt x="710" y="145"/>
                </a:cubicBezTo>
                <a:cubicBezTo>
                  <a:pt x="725" y="156"/>
                  <a:pt x="742" y="169"/>
                  <a:pt x="760" y="179"/>
                </a:cubicBezTo>
                <a:cubicBezTo>
                  <a:pt x="778" y="189"/>
                  <a:pt x="800" y="197"/>
                  <a:pt x="818" y="204"/>
                </a:cubicBezTo>
                <a:cubicBezTo>
                  <a:pt x="836" y="211"/>
                  <a:pt x="850" y="217"/>
                  <a:pt x="868" y="220"/>
                </a:cubicBezTo>
                <a:cubicBezTo>
                  <a:pt x="886" y="223"/>
                  <a:pt x="906" y="220"/>
                  <a:pt x="927" y="220"/>
                </a:cubicBezTo>
                <a:cubicBezTo>
                  <a:pt x="948" y="220"/>
                  <a:pt x="973" y="224"/>
                  <a:pt x="994" y="220"/>
                </a:cubicBezTo>
                <a:cubicBezTo>
                  <a:pt x="1015" y="216"/>
                  <a:pt x="1031" y="206"/>
                  <a:pt x="1052" y="195"/>
                </a:cubicBezTo>
                <a:cubicBezTo>
                  <a:pt x="1073" y="184"/>
                  <a:pt x="1104" y="165"/>
                  <a:pt x="1119" y="15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7187" name="Line 45"/>
          <p:cNvSpPr/>
          <p:nvPr/>
        </p:nvSpPr>
        <p:spPr>
          <a:xfrm flipV="1">
            <a:off x="6408738" y="2390775"/>
            <a:ext cx="0" cy="1139825"/>
          </a:xfrm>
          <a:prstGeom prst="line">
            <a:avLst/>
          </a:prstGeom>
          <a:ln w="9525" cap="flat" cmpd="sng">
            <a:solidFill>
              <a:srgbClr val="CC00CC"/>
            </a:solidFill>
            <a:prstDash val="solid"/>
            <a:headEnd type="none" w="med" len="med"/>
            <a:tailEnd type="none" w="med" len="med"/>
          </a:ln>
        </p:spPr>
      </p:sp>
      <p:sp>
        <p:nvSpPr>
          <p:cNvPr id="7188" name="Line 46"/>
          <p:cNvSpPr/>
          <p:nvPr/>
        </p:nvSpPr>
        <p:spPr>
          <a:xfrm flipV="1">
            <a:off x="6773863" y="2324100"/>
            <a:ext cx="0" cy="1206500"/>
          </a:xfrm>
          <a:prstGeom prst="line">
            <a:avLst/>
          </a:prstGeom>
          <a:ln w="9525" cap="flat" cmpd="sng">
            <a:solidFill>
              <a:srgbClr val="CC00CC"/>
            </a:solidFill>
            <a:prstDash val="solid"/>
            <a:headEnd type="none" w="med" len="med"/>
            <a:tailEnd type="none" w="med" len="med"/>
          </a:ln>
        </p:spPr>
      </p:sp>
      <p:sp>
        <p:nvSpPr>
          <p:cNvPr id="7189" name="Line 47"/>
          <p:cNvSpPr/>
          <p:nvPr/>
        </p:nvSpPr>
        <p:spPr>
          <a:xfrm flipV="1">
            <a:off x="6842125" y="2324100"/>
            <a:ext cx="0" cy="1206500"/>
          </a:xfrm>
          <a:prstGeom prst="line">
            <a:avLst/>
          </a:prstGeom>
          <a:ln w="9525" cap="flat" cmpd="sng">
            <a:solidFill>
              <a:srgbClr val="CC00CC"/>
            </a:solidFill>
            <a:prstDash val="solid"/>
            <a:headEnd type="none" w="med" len="med"/>
            <a:tailEnd type="none" w="med" len="med"/>
          </a:ln>
        </p:spPr>
      </p:sp>
      <p:sp>
        <p:nvSpPr>
          <p:cNvPr id="7190" name="Line 48"/>
          <p:cNvSpPr/>
          <p:nvPr/>
        </p:nvSpPr>
        <p:spPr>
          <a:xfrm flipV="1">
            <a:off x="7183438" y="2390775"/>
            <a:ext cx="0" cy="1139825"/>
          </a:xfrm>
          <a:prstGeom prst="line">
            <a:avLst/>
          </a:prstGeom>
          <a:ln w="9525" cap="flat" cmpd="sng">
            <a:solidFill>
              <a:srgbClr val="CC00CC"/>
            </a:solidFill>
            <a:prstDash val="solid"/>
            <a:headEnd type="none" w="med" len="med"/>
            <a:tailEnd type="none" w="med" len="med"/>
          </a:ln>
        </p:spPr>
      </p:sp>
      <p:sp>
        <p:nvSpPr>
          <p:cNvPr id="7191" name="Line 49"/>
          <p:cNvSpPr/>
          <p:nvPr/>
        </p:nvSpPr>
        <p:spPr>
          <a:xfrm flipV="1">
            <a:off x="7251700" y="2419350"/>
            <a:ext cx="0" cy="1111250"/>
          </a:xfrm>
          <a:prstGeom prst="line">
            <a:avLst/>
          </a:prstGeom>
          <a:ln w="9525" cap="flat" cmpd="sng">
            <a:solidFill>
              <a:srgbClr val="CC00CC"/>
            </a:solidFill>
            <a:prstDash val="solid"/>
            <a:headEnd type="none" w="med" len="med"/>
            <a:tailEnd type="none" w="med" len="med"/>
          </a:ln>
        </p:spPr>
      </p:sp>
      <p:sp>
        <p:nvSpPr>
          <p:cNvPr id="7192" name="Line 50"/>
          <p:cNvSpPr/>
          <p:nvPr/>
        </p:nvSpPr>
        <p:spPr>
          <a:xfrm flipV="1">
            <a:off x="7593013" y="2663825"/>
            <a:ext cx="0" cy="866775"/>
          </a:xfrm>
          <a:prstGeom prst="line">
            <a:avLst/>
          </a:prstGeom>
          <a:ln w="9525" cap="flat" cmpd="sng">
            <a:solidFill>
              <a:srgbClr val="CC00CC"/>
            </a:solidFill>
            <a:prstDash val="solid"/>
            <a:headEnd type="none" w="med" len="med"/>
            <a:tailEnd type="none" w="med" len="med"/>
          </a:ln>
        </p:spPr>
      </p:sp>
      <p:sp>
        <p:nvSpPr>
          <p:cNvPr id="7193" name="Line 51"/>
          <p:cNvSpPr/>
          <p:nvPr/>
        </p:nvSpPr>
        <p:spPr>
          <a:xfrm flipV="1">
            <a:off x="7661275" y="2711450"/>
            <a:ext cx="0" cy="819150"/>
          </a:xfrm>
          <a:prstGeom prst="line">
            <a:avLst/>
          </a:prstGeom>
          <a:ln w="9525" cap="flat" cmpd="sng">
            <a:solidFill>
              <a:srgbClr val="CC00CC"/>
            </a:solidFill>
            <a:prstDash val="solid"/>
            <a:headEnd type="none" w="med" len="med"/>
            <a:tailEnd type="none" w="med" len="med"/>
          </a:ln>
        </p:spPr>
      </p:sp>
      <p:sp>
        <p:nvSpPr>
          <p:cNvPr id="7194" name="Line 52"/>
          <p:cNvSpPr/>
          <p:nvPr/>
        </p:nvSpPr>
        <p:spPr>
          <a:xfrm flipV="1">
            <a:off x="8016875" y="2727325"/>
            <a:ext cx="0" cy="803275"/>
          </a:xfrm>
          <a:prstGeom prst="line">
            <a:avLst/>
          </a:prstGeom>
          <a:ln w="9525" cap="flat" cmpd="sng">
            <a:solidFill>
              <a:srgbClr val="CC00CC"/>
            </a:solidFill>
            <a:prstDash val="solid"/>
            <a:headEnd type="none" w="med" len="med"/>
            <a:tailEnd type="none" w="med" len="med"/>
          </a:ln>
        </p:spPr>
      </p:sp>
      <p:sp>
        <p:nvSpPr>
          <p:cNvPr id="7195" name="Text Box 54"/>
          <p:cNvSpPr txBox="1"/>
          <p:nvPr/>
        </p:nvSpPr>
        <p:spPr>
          <a:xfrm>
            <a:off x="3021013" y="3306763"/>
            <a:ext cx="268287" cy="457200"/>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7196" name="Text Box 55"/>
          <p:cNvSpPr txBox="1"/>
          <p:nvPr/>
        </p:nvSpPr>
        <p:spPr>
          <a:xfrm>
            <a:off x="274638" y="1544638"/>
            <a:ext cx="515937" cy="366712"/>
          </a:xfrm>
          <a:prstGeom prst="rect">
            <a:avLst/>
          </a:prstGeom>
          <a:noFill/>
          <a:ln w="9525">
            <a:noFill/>
          </a:ln>
        </p:spPr>
        <p:txBody>
          <a:bodyPr wrap="none">
            <a:spAutoFit/>
          </a:bodyPr>
          <a:p>
            <a:pPr algn="ctr" eaLnBrk="1" hangingPunct="1"/>
            <a:r>
              <a:rPr lang="en-US" altLang="zh-CN" sz="1800" b="1" i="1" err="1">
                <a:solidFill>
                  <a:srgbClr val="333399"/>
                </a:solidFill>
                <a:latin typeface="Times New Roman" panose="02020603050405020304" pitchFamily="18" charset="0"/>
              </a:rPr>
              <a:t>x(t</a:t>
            </a:r>
            <a:r>
              <a:rPr lang="en-US" altLang="zh-CN" sz="1800" b="1" i="1">
                <a:solidFill>
                  <a:srgbClr val="333399"/>
                </a:solidFill>
                <a:latin typeface="Times New Roman" panose="02020603050405020304" pitchFamily="18" charset="0"/>
              </a:rPr>
              <a:t>)</a:t>
            </a:r>
            <a:endParaRPr lang="en-US" altLang="zh-CN" sz="1800" b="1" i="1">
              <a:solidFill>
                <a:srgbClr val="333399"/>
              </a:solidFill>
              <a:latin typeface="Times New Roman" panose="02020603050405020304" pitchFamily="18" charset="0"/>
            </a:endParaRPr>
          </a:p>
        </p:txBody>
      </p:sp>
      <p:sp>
        <p:nvSpPr>
          <p:cNvPr id="7197" name="Text Box 56"/>
          <p:cNvSpPr txBox="1"/>
          <p:nvPr/>
        </p:nvSpPr>
        <p:spPr>
          <a:xfrm>
            <a:off x="3455988" y="2949575"/>
            <a:ext cx="549275" cy="396875"/>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x(t</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7198" name="Text Box 57"/>
          <p:cNvSpPr txBox="1"/>
          <p:nvPr/>
        </p:nvSpPr>
        <p:spPr>
          <a:xfrm>
            <a:off x="4364038" y="3559175"/>
            <a:ext cx="354012"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K</a:t>
            </a:r>
            <a:endParaRPr lang="en-US" altLang="zh-CN" sz="2000" b="1" i="1">
              <a:solidFill>
                <a:srgbClr val="333399"/>
              </a:solidFill>
              <a:latin typeface="Times New Roman" panose="02020603050405020304" pitchFamily="18" charset="0"/>
            </a:endParaRPr>
          </a:p>
        </p:txBody>
      </p:sp>
      <p:sp>
        <p:nvSpPr>
          <p:cNvPr id="7199" name="Text Box 58"/>
          <p:cNvSpPr txBox="1"/>
          <p:nvPr/>
        </p:nvSpPr>
        <p:spPr>
          <a:xfrm>
            <a:off x="4595813" y="2276475"/>
            <a:ext cx="869950" cy="396875"/>
          </a:xfrm>
          <a:prstGeom prst="rect">
            <a:avLst/>
          </a:prstGeom>
          <a:noFill/>
          <a:ln w="9525">
            <a:noFill/>
          </a:ln>
        </p:spPr>
        <p:txBody>
          <a:bodyPr>
            <a:spAutoFit/>
          </a:bodyPr>
          <a:p>
            <a:pPr algn="l" eaLnBrk="1" hangingPunct="1">
              <a:buNone/>
            </a:pPr>
            <a:r>
              <a:rPr lang="en-US" altLang="zh-CN" sz="2000" b="1" i="1" err="1">
                <a:solidFill>
                  <a:srgbClr val="333399"/>
                </a:solidFill>
                <a:latin typeface="Times New Roman" panose="02020603050405020304" pitchFamily="18" charset="0"/>
                <a:ea typeface="宋体" panose="02010600030101010101" pitchFamily="2" charset="-122"/>
              </a:rPr>
              <a:t>δ</a:t>
            </a:r>
            <a:r>
              <a:rPr lang="en-US" altLang="zh-CN" sz="2000" b="1" i="1" baseline="-25000" err="1">
                <a:solidFill>
                  <a:srgbClr val="333399"/>
                </a:solidFill>
                <a:latin typeface="Times New Roman" panose="02020603050405020304" pitchFamily="18" charset="0"/>
                <a:ea typeface="宋体" panose="02010600030101010101" pitchFamily="2" charset="-122"/>
              </a:rPr>
              <a:t>Ts</a:t>
            </a:r>
            <a:r>
              <a:rPr lang="en-US" altLang="zh-CN" sz="2000" b="1" i="1" err="1">
                <a:solidFill>
                  <a:srgbClr val="333399"/>
                </a:solidFill>
                <a:latin typeface="Times New Roman" panose="02020603050405020304" pitchFamily="18" charset="0"/>
                <a:ea typeface="宋体" panose="02010600030101010101" pitchFamily="2" charset="-122"/>
              </a:rPr>
              <a:t>(t</a:t>
            </a:r>
            <a:r>
              <a:rPr lang="en-US" altLang="zh-CN" sz="2000" b="1" i="1">
                <a:solidFill>
                  <a:srgbClr val="333399"/>
                </a:solidFill>
                <a:latin typeface="Times New Roman" panose="02020603050405020304" pitchFamily="18" charset="0"/>
                <a:ea typeface="宋体" panose="02010600030101010101" pitchFamily="2" charset="-122"/>
              </a:rPr>
              <a:t>)</a:t>
            </a:r>
            <a:endParaRPr lang="en-US" altLang="zh-CN" sz="2000" b="1" i="1">
              <a:solidFill>
                <a:srgbClr val="333399"/>
              </a:solidFill>
              <a:latin typeface="Times New Roman" panose="02020603050405020304" pitchFamily="18" charset="0"/>
              <a:ea typeface="宋体" panose="02010600030101010101" pitchFamily="2" charset="-122"/>
            </a:endParaRPr>
          </a:p>
        </p:txBody>
      </p:sp>
      <p:sp>
        <p:nvSpPr>
          <p:cNvPr id="7200" name="Text Box 59"/>
          <p:cNvSpPr txBox="1"/>
          <p:nvPr/>
        </p:nvSpPr>
        <p:spPr>
          <a:xfrm>
            <a:off x="4986338" y="2930525"/>
            <a:ext cx="1001712" cy="396875"/>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i="1" baseline="-25000" err="1">
                <a:solidFill>
                  <a:srgbClr val="333399"/>
                </a:solidFill>
                <a:latin typeface="Times New Roman" panose="02020603050405020304" pitchFamily="18" charset="0"/>
              </a:rPr>
              <a:t>S</a:t>
            </a:r>
            <a:r>
              <a:rPr lang="en-US" altLang="zh-CN" sz="2000" b="1" i="1" err="1">
                <a:solidFill>
                  <a:srgbClr val="333399"/>
                </a:solidFill>
                <a:latin typeface="Times New Roman" panose="02020603050405020304" pitchFamily="18" charset="0"/>
              </a:rPr>
              <a:t>(nT</a:t>
            </a:r>
            <a:r>
              <a:rPr lang="en-US" altLang="zh-CN" sz="2000" b="1" i="1" baseline="-25000" err="1">
                <a:solidFill>
                  <a:srgbClr val="333399"/>
                </a:solidFill>
                <a:latin typeface="Times New Roman" panose="02020603050405020304" pitchFamily="18" charset="0"/>
              </a:rPr>
              <a:t>S</a:t>
            </a:r>
            <a:r>
              <a:rPr lang="en-US" altLang="zh-CN" sz="2000" b="1" i="1" baseline="-25000">
                <a:solidFill>
                  <a:srgbClr val="333399"/>
                </a:solidFill>
                <a:latin typeface="Times New Roman" panose="02020603050405020304" pitchFamily="18" charset="0"/>
              </a:rPr>
              <a:t> </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7201" name="Text Box 60"/>
          <p:cNvSpPr txBox="1"/>
          <p:nvPr/>
        </p:nvSpPr>
        <p:spPr>
          <a:xfrm>
            <a:off x="8626475" y="3305175"/>
            <a:ext cx="268288" cy="457200"/>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7202" name="Text Box 61"/>
          <p:cNvSpPr txBox="1"/>
          <p:nvPr/>
        </p:nvSpPr>
        <p:spPr>
          <a:xfrm>
            <a:off x="5465763" y="1520825"/>
            <a:ext cx="923925" cy="366713"/>
          </a:xfrm>
          <a:prstGeom prst="rect">
            <a:avLst/>
          </a:prstGeom>
          <a:noFill/>
          <a:ln w="9525">
            <a:noFill/>
          </a:ln>
        </p:spPr>
        <p:txBody>
          <a:bodyPr wrap="none">
            <a:spAutoFit/>
          </a:bodyPr>
          <a:p>
            <a:pPr algn="ctr" eaLnBrk="1" hangingPunct="1"/>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i="1" baseline="-25000">
                <a:solidFill>
                  <a:srgbClr val="333399"/>
                </a:solidFill>
                <a:latin typeface="Times New Roman" panose="02020603050405020304" pitchFamily="18" charset="0"/>
              </a:rPr>
              <a:t> </a:t>
            </a:r>
            <a:r>
              <a:rPr lang="en-US" altLang="zh-CN" sz="1800" b="1" i="1">
                <a:solidFill>
                  <a:srgbClr val="333399"/>
                </a:solidFill>
                <a:latin typeface="Times New Roman" panose="02020603050405020304" pitchFamily="18" charset="0"/>
              </a:rPr>
              <a:t>)</a:t>
            </a:r>
            <a:endParaRPr lang="en-US" altLang="zh-CN" sz="1800" b="1" i="1">
              <a:solidFill>
                <a:srgbClr val="333399"/>
              </a:solidFill>
              <a:latin typeface="Times New Roman" panose="02020603050405020304" pitchFamily="18" charset="0"/>
            </a:endParaRPr>
          </a:p>
        </p:txBody>
      </p:sp>
      <p:sp>
        <p:nvSpPr>
          <p:cNvPr id="7203" name="Line 62"/>
          <p:cNvSpPr/>
          <p:nvPr/>
        </p:nvSpPr>
        <p:spPr>
          <a:xfrm>
            <a:off x="6351588" y="3465513"/>
            <a:ext cx="0" cy="1011237"/>
          </a:xfrm>
          <a:prstGeom prst="line">
            <a:avLst/>
          </a:prstGeom>
          <a:ln w="9525" cap="flat" cmpd="sng">
            <a:solidFill>
              <a:srgbClr val="3333FF"/>
            </a:solidFill>
            <a:prstDash val="solid"/>
            <a:headEnd type="none" w="med" len="med"/>
            <a:tailEnd type="none" w="med" len="med"/>
          </a:ln>
        </p:spPr>
      </p:sp>
      <p:sp>
        <p:nvSpPr>
          <p:cNvPr id="7204" name="Line 63"/>
          <p:cNvSpPr/>
          <p:nvPr/>
        </p:nvSpPr>
        <p:spPr>
          <a:xfrm>
            <a:off x="6408738" y="3530600"/>
            <a:ext cx="0" cy="481013"/>
          </a:xfrm>
          <a:prstGeom prst="line">
            <a:avLst/>
          </a:prstGeom>
          <a:ln w="9525" cap="flat" cmpd="sng">
            <a:solidFill>
              <a:srgbClr val="3333FF"/>
            </a:solidFill>
            <a:prstDash val="solid"/>
            <a:headEnd type="none" w="med" len="med"/>
            <a:tailEnd type="none" w="med" len="med"/>
          </a:ln>
        </p:spPr>
      </p:sp>
      <p:sp>
        <p:nvSpPr>
          <p:cNvPr id="7205" name="Line 64"/>
          <p:cNvSpPr/>
          <p:nvPr/>
        </p:nvSpPr>
        <p:spPr>
          <a:xfrm>
            <a:off x="6010275" y="3948113"/>
            <a:ext cx="341313" cy="0"/>
          </a:xfrm>
          <a:prstGeom prst="line">
            <a:avLst/>
          </a:prstGeom>
          <a:ln w="9525" cap="flat" cmpd="sng">
            <a:solidFill>
              <a:srgbClr val="3333FF"/>
            </a:solidFill>
            <a:prstDash val="solid"/>
            <a:headEnd type="none" w="med" len="med"/>
            <a:tailEnd type="triangle" w="sm" len="lg"/>
          </a:ln>
        </p:spPr>
      </p:sp>
      <p:sp>
        <p:nvSpPr>
          <p:cNvPr id="7206" name="Line 65"/>
          <p:cNvSpPr/>
          <p:nvPr/>
        </p:nvSpPr>
        <p:spPr>
          <a:xfrm flipH="1">
            <a:off x="6408738" y="3948113"/>
            <a:ext cx="220662" cy="0"/>
          </a:xfrm>
          <a:prstGeom prst="line">
            <a:avLst/>
          </a:prstGeom>
          <a:ln w="9525" cap="flat" cmpd="sng">
            <a:solidFill>
              <a:srgbClr val="3333FF"/>
            </a:solidFill>
            <a:prstDash val="solid"/>
            <a:headEnd type="none" w="med" len="med"/>
            <a:tailEnd type="triangle" w="sm" len="lg"/>
          </a:ln>
        </p:spPr>
      </p:sp>
      <p:sp>
        <p:nvSpPr>
          <p:cNvPr id="7207" name="Text Box 66"/>
          <p:cNvSpPr txBox="1"/>
          <p:nvPr/>
        </p:nvSpPr>
        <p:spPr>
          <a:xfrm>
            <a:off x="5967413" y="3557588"/>
            <a:ext cx="319087" cy="457200"/>
          </a:xfrm>
          <a:prstGeom prst="rect">
            <a:avLst/>
          </a:prstGeom>
          <a:noFill/>
          <a:ln w="9525">
            <a:noFill/>
          </a:ln>
        </p:spPr>
        <p:txBody>
          <a:bodyPr>
            <a:spAutoFit/>
          </a:bodyPr>
          <a:p>
            <a:pPr algn="ctr" eaLnBrk="1" hangingPunct="1">
              <a:buNone/>
            </a:pPr>
            <a:r>
              <a:rPr lang="en-US" altLang="zh-CN" sz="2400" b="1" i="1">
                <a:solidFill>
                  <a:srgbClr val="333399"/>
                </a:solidFill>
                <a:latin typeface="Times New Roman" panose="02020603050405020304" pitchFamily="18" charset="0"/>
                <a:ea typeface="宋体" panose="02010600030101010101" pitchFamily="2" charset="-122"/>
              </a:rPr>
              <a:t>τ</a:t>
            </a:r>
            <a:endParaRPr lang="en-US" altLang="zh-CN" sz="2400" b="1" i="1">
              <a:solidFill>
                <a:srgbClr val="333399"/>
              </a:solidFill>
              <a:latin typeface="Times New Roman" panose="02020603050405020304" pitchFamily="18" charset="0"/>
              <a:ea typeface="宋体" panose="02010600030101010101" pitchFamily="2" charset="-122"/>
            </a:endParaRPr>
          </a:p>
        </p:txBody>
      </p:sp>
      <p:sp>
        <p:nvSpPr>
          <p:cNvPr id="7208" name="Line 67"/>
          <p:cNvSpPr/>
          <p:nvPr/>
        </p:nvSpPr>
        <p:spPr>
          <a:xfrm>
            <a:off x="6775450" y="3530600"/>
            <a:ext cx="0" cy="946150"/>
          </a:xfrm>
          <a:prstGeom prst="line">
            <a:avLst/>
          </a:prstGeom>
          <a:ln w="9525" cap="flat" cmpd="sng">
            <a:solidFill>
              <a:srgbClr val="3333FF"/>
            </a:solidFill>
            <a:prstDash val="solid"/>
            <a:headEnd type="none" w="med" len="med"/>
            <a:tailEnd type="none" w="med" len="med"/>
          </a:ln>
        </p:spPr>
      </p:sp>
      <p:sp>
        <p:nvSpPr>
          <p:cNvPr id="7209" name="Line 68"/>
          <p:cNvSpPr/>
          <p:nvPr/>
        </p:nvSpPr>
        <p:spPr>
          <a:xfrm>
            <a:off x="6351588" y="4413250"/>
            <a:ext cx="423862" cy="0"/>
          </a:xfrm>
          <a:prstGeom prst="line">
            <a:avLst/>
          </a:prstGeom>
          <a:ln w="9525" cap="flat" cmpd="sng">
            <a:solidFill>
              <a:srgbClr val="3333FF"/>
            </a:solidFill>
            <a:prstDash val="solid"/>
            <a:headEnd type="triangle" w="sm" len="lg"/>
            <a:tailEnd type="triangle" w="sm" len="lg"/>
          </a:ln>
        </p:spPr>
      </p:sp>
      <p:sp>
        <p:nvSpPr>
          <p:cNvPr id="7210" name="Text Box 69"/>
          <p:cNvSpPr txBox="1"/>
          <p:nvPr/>
        </p:nvSpPr>
        <p:spPr>
          <a:xfrm>
            <a:off x="6361113" y="4075113"/>
            <a:ext cx="419100" cy="336550"/>
          </a:xfrm>
          <a:prstGeom prst="rect">
            <a:avLst/>
          </a:prstGeom>
          <a:noFill/>
          <a:ln w="9525">
            <a:noFill/>
          </a:ln>
        </p:spPr>
        <p:txBody>
          <a:bodyPr>
            <a:spAutoFit/>
          </a:bodyPr>
          <a:p>
            <a:pPr algn="ctr" eaLnBrk="1" hangingPunct="1">
              <a:buNone/>
            </a:pPr>
            <a:r>
              <a:rPr lang="en-US" altLang="zh-CN" sz="1600" b="1" i="1">
                <a:solidFill>
                  <a:srgbClr val="333399"/>
                </a:solidFill>
                <a:latin typeface="Times New Roman" panose="02020603050405020304" pitchFamily="18" charset="0"/>
                <a:ea typeface="宋体" panose="02010600030101010101" pitchFamily="2" charset="-122"/>
              </a:rPr>
              <a:t>T</a:t>
            </a:r>
            <a:r>
              <a:rPr lang="en-US" altLang="zh-CN" sz="1600" b="1" i="1" baseline="-25000">
                <a:solidFill>
                  <a:srgbClr val="333399"/>
                </a:solidFill>
                <a:latin typeface="Times New Roman" panose="02020603050405020304" pitchFamily="18" charset="0"/>
                <a:ea typeface="宋体" panose="02010600030101010101" pitchFamily="2" charset="-122"/>
              </a:rPr>
              <a:t>S</a:t>
            </a:r>
            <a:endParaRPr lang="en-US" altLang="zh-CN" sz="1600" b="1" i="1" baseline="-25000">
              <a:solidFill>
                <a:srgbClr val="333399"/>
              </a:solidFill>
              <a:latin typeface="Times New Roman" panose="02020603050405020304" pitchFamily="18" charset="0"/>
              <a:ea typeface="宋体" panose="02010600030101010101" pitchFamily="2" charset="-122"/>
            </a:endParaRPr>
          </a:p>
        </p:txBody>
      </p:sp>
      <p:sp>
        <p:nvSpPr>
          <p:cNvPr id="7211" name="Text Box 70"/>
          <p:cNvSpPr txBox="1"/>
          <p:nvPr/>
        </p:nvSpPr>
        <p:spPr>
          <a:xfrm>
            <a:off x="6446838" y="3536950"/>
            <a:ext cx="420687" cy="303213"/>
          </a:xfrm>
          <a:prstGeom prst="rect">
            <a:avLst/>
          </a:prstGeom>
          <a:noFill/>
          <a:ln w="9525">
            <a:noFill/>
          </a:ln>
        </p:spPr>
        <p:txBody>
          <a:bodyPr>
            <a:spAutoFit/>
          </a:bodyPr>
          <a:p>
            <a:pPr algn="ctr" eaLnBrk="1" hangingPunct="1">
              <a:buNone/>
            </a:pPr>
            <a:r>
              <a:rPr lang="en-US" altLang="zh-CN" sz="1400" b="1" i="1">
                <a:solidFill>
                  <a:srgbClr val="333399"/>
                </a:solidFill>
                <a:latin typeface="Times New Roman" panose="02020603050405020304" pitchFamily="18" charset="0"/>
                <a:ea typeface="宋体" panose="02010600030101010101" pitchFamily="2" charset="-122"/>
              </a:rPr>
              <a:t>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7212" name="Text Box 71"/>
          <p:cNvSpPr txBox="1"/>
          <p:nvPr/>
        </p:nvSpPr>
        <p:spPr>
          <a:xfrm>
            <a:off x="6972300" y="3529013"/>
            <a:ext cx="473075" cy="304800"/>
          </a:xfrm>
          <a:prstGeom prst="rect">
            <a:avLst/>
          </a:prstGeom>
          <a:noFill/>
          <a:ln w="9525">
            <a:noFill/>
          </a:ln>
        </p:spPr>
        <p:txBody>
          <a:bodyPr>
            <a:spAutoFit/>
          </a:bodyPr>
          <a:p>
            <a:pPr algn="l" eaLnBrk="1" hangingPunct="1">
              <a:buNone/>
            </a:pPr>
            <a:r>
              <a:rPr lang="en-US" altLang="zh-CN" sz="1400" b="1" i="1">
                <a:solidFill>
                  <a:srgbClr val="333399"/>
                </a:solidFill>
                <a:latin typeface="Times New Roman" panose="02020603050405020304" pitchFamily="18" charset="0"/>
                <a:ea typeface="宋体" panose="02010600030101010101" pitchFamily="2" charset="-122"/>
              </a:rPr>
              <a:t>2T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7213" name="Text Box 72"/>
          <p:cNvSpPr txBox="1"/>
          <p:nvPr/>
        </p:nvSpPr>
        <p:spPr>
          <a:xfrm>
            <a:off x="7427913" y="3551238"/>
            <a:ext cx="474662" cy="304800"/>
          </a:xfrm>
          <a:prstGeom prst="rect">
            <a:avLst/>
          </a:prstGeom>
          <a:noFill/>
          <a:ln w="9525">
            <a:noFill/>
          </a:ln>
        </p:spPr>
        <p:txBody>
          <a:bodyPr>
            <a:spAutoFit/>
          </a:bodyPr>
          <a:p>
            <a:pPr algn="l" eaLnBrk="1" hangingPunct="1">
              <a:buNone/>
            </a:pPr>
            <a:r>
              <a:rPr lang="en-US" altLang="zh-CN" sz="1400" b="1" i="1">
                <a:solidFill>
                  <a:srgbClr val="333399"/>
                </a:solidFill>
                <a:latin typeface="Times New Roman" panose="02020603050405020304" pitchFamily="18" charset="0"/>
                <a:ea typeface="宋体" panose="02010600030101010101" pitchFamily="2" charset="-122"/>
              </a:rPr>
              <a:t>3T</a:t>
            </a:r>
            <a:r>
              <a:rPr lang="en-US" altLang="zh-CN" sz="1400" b="1" i="1" baseline="-25000">
                <a:solidFill>
                  <a:srgbClr val="333399"/>
                </a:solidFill>
                <a:latin typeface="Times New Roman" panose="02020603050405020304" pitchFamily="18" charset="0"/>
                <a:ea typeface="宋体" panose="02010600030101010101" pitchFamily="2" charset="-122"/>
              </a:rPr>
              <a:t>S</a:t>
            </a:r>
            <a:endParaRPr lang="en-US" altLang="zh-CN" sz="1400" b="1" i="1" baseline="-25000">
              <a:solidFill>
                <a:srgbClr val="333399"/>
              </a:solidFill>
              <a:latin typeface="Times New Roman" panose="02020603050405020304" pitchFamily="18" charset="0"/>
              <a:ea typeface="宋体" panose="02010600030101010101" pitchFamily="2" charset="-122"/>
            </a:endParaRPr>
          </a:p>
        </p:txBody>
      </p:sp>
      <p:sp>
        <p:nvSpPr>
          <p:cNvPr id="7214" name="Text Box 73"/>
          <p:cNvSpPr txBox="1"/>
          <p:nvPr/>
        </p:nvSpPr>
        <p:spPr>
          <a:xfrm>
            <a:off x="7824788" y="3476625"/>
            <a:ext cx="3873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7215" name="Line 75"/>
          <p:cNvSpPr/>
          <p:nvPr/>
        </p:nvSpPr>
        <p:spPr>
          <a:xfrm flipV="1">
            <a:off x="8086725" y="2670175"/>
            <a:ext cx="0" cy="860425"/>
          </a:xfrm>
          <a:prstGeom prst="line">
            <a:avLst/>
          </a:prstGeom>
          <a:ln w="9525" cap="flat" cmpd="sng">
            <a:solidFill>
              <a:srgbClr val="CC00CC"/>
            </a:solidFill>
            <a:prstDash val="solid"/>
            <a:headEnd type="none" w="med" len="med"/>
            <a:tailEnd type="none" w="med" len="med"/>
          </a:ln>
        </p:spPr>
      </p:sp>
      <p:sp>
        <p:nvSpPr>
          <p:cNvPr id="7216" name="Rectangle 83"/>
          <p:cNvSpPr/>
          <p:nvPr/>
        </p:nvSpPr>
        <p:spPr>
          <a:xfrm>
            <a:off x="4468813" y="2320925"/>
            <a:ext cx="198437" cy="503238"/>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17" name="Line 76"/>
          <p:cNvSpPr/>
          <p:nvPr/>
        </p:nvSpPr>
        <p:spPr>
          <a:xfrm>
            <a:off x="4564063" y="2579688"/>
            <a:ext cx="0" cy="498475"/>
          </a:xfrm>
          <a:prstGeom prst="line">
            <a:avLst/>
          </a:prstGeom>
          <a:ln w="28575" cap="flat" cmpd="sng">
            <a:solidFill>
              <a:srgbClr val="3333FF"/>
            </a:solidFill>
            <a:prstDash val="solid"/>
            <a:headEnd type="none" w="med" len="med"/>
            <a:tailEnd type="triangle" w="sm" len="lg"/>
          </a:ln>
        </p:spPr>
      </p:sp>
      <p:sp>
        <p:nvSpPr>
          <p:cNvPr id="7218" name="Line 85"/>
          <p:cNvSpPr/>
          <p:nvPr/>
        </p:nvSpPr>
        <p:spPr>
          <a:xfrm flipV="1">
            <a:off x="4386263" y="3095625"/>
            <a:ext cx="312737" cy="177800"/>
          </a:xfrm>
          <a:prstGeom prst="line">
            <a:avLst/>
          </a:prstGeom>
          <a:ln w="19050" cap="flat" cmpd="sng">
            <a:solidFill>
              <a:srgbClr val="3333FF"/>
            </a:solidFill>
            <a:prstDash val="solid"/>
            <a:headEnd type="none" w="med" len="med"/>
            <a:tailEnd type="none" w="med" len="med"/>
          </a:ln>
        </p:spPr>
      </p:sp>
      <p:sp>
        <p:nvSpPr>
          <p:cNvPr id="7219" name="Rectangle 86"/>
          <p:cNvSpPr/>
          <p:nvPr/>
        </p:nvSpPr>
        <p:spPr>
          <a:xfrm>
            <a:off x="4465638" y="2544763"/>
            <a:ext cx="198437" cy="50323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20" name="Line 87"/>
          <p:cNvSpPr/>
          <p:nvPr/>
        </p:nvSpPr>
        <p:spPr>
          <a:xfrm>
            <a:off x="4562475" y="2343150"/>
            <a:ext cx="0" cy="496888"/>
          </a:xfrm>
          <a:prstGeom prst="line">
            <a:avLst/>
          </a:prstGeom>
          <a:ln w="28575" cap="flat" cmpd="sng">
            <a:solidFill>
              <a:srgbClr val="3333FF"/>
            </a:solidFill>
            <a:prstDash val="solid"/>
            <a:headEnd type="none" w="med" len="med"/>
            <a:tailEnd type="triangle" w="sm" len="lg"/>
          </a:ln>
        </p:spPr>
      </p:sp>
      <p:sp>
        <p:nvSpPr>
          <p:cNvPr id="7221" name="Rectangle 88"/>
          <p:cNvSpPr/>
          <p:nvPr/>
        </p:nvSpPr>
        <p:spPr>
          <a:xfrm>
            <a:off x="4465638" y="2317750"/>
            <a:ext cx="185737" cy="503238"/>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22" name="Line 89"/>
          <p:cNvSpPr/>
          <p:nvPr/>
        </p:nvSpPr>
        <p:spPr>
          <a:xfrm>
            <a:off x="4562475" y="2579688"/>
            <a:ext cx="0" cy="498475"/>
          </a:xfrm>
          <a:prstGeom prst="line">
            <a:avLst/>
          </a:prstGeom>
          <a:ln w="28575" cap="flat" cmpd="sng">
            <a:solidFill>
              <a:srgbClr val="3333FF"/>
            </a:solidFill>
            <a:prstDash val="solid"/>
            <a:headEnd type="none" w="med" len="med"/>
            <a:tailEnd type="triangle" w="sm" len="lg"/>
          </a:ln>
        </p:spPr>
      </p:sp>
      <p:sp>
        <p:nvSpPr>
          <p:cNvPr id="7223" name="Rectangle 93"/>
          <p:cNvSpPr/>
          <p:nvPr/>
        </p:nvSpPr>
        <p:spPr>
          <a:xfrm>
            <a:off x="4451350" y="2544763"/>
            <a:ext cx="201613" cy="50323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24" name="Line 94"/>
          <p:cNvSpPr/>
          <p:nvPr/>
        </p:nvSpPr>
        <p:spPr>
          <a:xfrm>
            <a:off x="4562475" y="2343150"/>
            <a:ext cx="0" cy="496888"/>
          </a:xfrm>
          <a:prstGeom prst="line">
            <a:avLst/>
          </a:prstGeom>
          <a:ln w="28575" cap="flat" cmpd="sng">
            <a:solidFill>
              <a:srgbClr val="3333FF"/>
            </a:solidFill>
            <a:prstDash val="solid"/>
            <a:headEnd type="none" w="med" len="med"/>
            <a:tailEnd type="triangle" w="sm" len="lg"/>
          </a:ln>
        </p:spPr>
      </p:sp>
      <p:sp>
        <p:nvSpPr>
          <p:cNvPr id="7225" name="Line 96"/>
          <p:cNvSpPr/>
          <p:nvPr/>
        </p:nvSpPr>
        <p:spPr>
          <a:xfrm flipV="1">
            <a:off x="4386263" y="3095625"/>
            <a:ext cx="312737" cy="177800"/>
          </a:xfrm>
          <a:prstGeom prst="line">
            <a:avLst/>
          </a:prstGeom>
          <a:ln w="19050" cap="flat" cmpd="sng">
            <a:solidFill>
              <a:srgbClr val="3333FF"/>
            </a:solidFill>
            <a:prstDash val="solid"/>
            <a:headEnd type="none" w="med" len="med"/>
            <a:tailEnd type="none" w="med" len="med"/>
          </a:ln>
        </p:spPr>
      </p:sp>
      <p:sp>
        <p:nvSpPr>
          <p:cNvPr id="7226" name="Rectangle 97"/>
          <p:cNvSpPr/>
          <p:nvPr/>
        </p:nvSpPr>
        <p:spPr>
          <a:xfrm>
            <a:off x="4451350" y="2317750"/>
            <a:ext cx="200025" cy="503238"/>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27" name="Line 98"/>
          <p:cNvSpPr/>
          <p:nvPr/>
        </p:nvSpPr>
        <p:spPr>
          <a:xfrm>
            <a:off x="4562475" y="2579688"/>
            <a:ext cx="0" cy="498475"/>
          </a:xfrm>
          <a:prstGeom prst="line">
            <a:avLst/>
          </a:prstGeom>
          <a:ln w="28575" cap="flat" cmpd="sng">
            <a:solidFill>
              <a:srgbClr val="3333FF"/>
            </a:solidFill>
            <a:prstDash val="solid"/>
            <a:headEnd type="none" w="med" len="med"/>
            <a:tailEnd type="triangle" w="sm" len="lg"/>
          </a:ln>
        </p:spPr>
      </p:sp>
      <p:sp>
        <p:nvSpPr>
          <p:cNvPr id="7228" name="Rectangle 101"/>
          <p:cNvSpPr/>
          <p:nvPr/>
        </p:nvSpPr>
        <p:spPr>
          <a:xfrm>
            <a:off x="4452938" y="2544763"/>
            <a:ext cx="212725" cy="50323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29" name="Line 102"/>
          <p:cNvSpPr/>
          <p:nvPr/>
        </p:nvSpPr>
        <p:spPr>
          <a:xfrm>
            <a:off x="4562475" y="2343150"/>
            <a:ext cx="0" cy="496888"/>
          </a:xfrm>
          <a:prstGeom prst="line">
            <a:avLst/>
          </a:prstGeom>
          <a:ln w="28575" cap="flat" cmpd="sng">
            <a:solidFill>
              <a:srgbClr val="3333FF"/>
            </a:solidFill>
            <a:prstDash val="solid"/>
            <a:headEnd type="none" w="med" len="med"/>
            <a:tailEnd type="triangle" w="sm" len="lg"/>
          </a:ln>
        </p:spPr>
      </p:sp>
      <p:sp>
        <p:nvSpPr>
          <p:cNvPr id="7230" name="Line 104"/>
          <p:cNvSpPr/>
          <p:nvPr/>
        </p:nvSpPr>
        <p:spPr>
          <a:xfrm flipV="1">
            <a:off x="4386263" y="3095625"/>
            <a:ext cx="312737" cy="177800"/>
          </a:xfrm>
          <a:prstGeom prst="line">
            <a:avLst/>
          </a:prstGeom>
          <a:ln w="19050" cap="flat" cmpd="sng">
            <a:solidFill>
              <a:srgbClr val="3333FF"/>
            </a:solidFill>
            <a:prstDash val="solid"/>
            <a:headEnd type="none" w="med" len="med"/>
            <a:tailEnd type="none" w="med" len="med"/>
          </a:ln>
        </p:spPr>
      </p:sp>
      <p:sp>
        <p:nvSpPr>
          <p:cNvPr id="7231" name="Rectangle 105"/>
          <p:cNvSpPr/>
          <p:nvPr/>
        </p:nvSpPr>
        <p:spPr>
          <a:xfrm>
            <a:off x="4451350" y="2317750"/>
            <a:ext cx="201613" cy="503238"/>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32" name="Line 106"/>
          <p:cNvSpPr/>
          <p:nvPr/>
        </p:nvSpPr>
        <p:spPr>
          <a:xfrm>
            <a:off x="4562475" y="2579688"/>
            <a:ext cx="0" cy="498475"/>
          </a:xfrm>
          <a:prstGeom prst="line">
            <a:avLst/>
          </a:prstGeom>
          <a:ln w="28575" cap="flat" cmpd="sng">
            <a:solidFill>
              <a:srgbClr val="3333FF"/>
            </a:solidFill>
            <a:prstDash val="solid"/>
            <a:headEnd type="none" w="med" len="med"/>
            <a:tailEnd type="triangle" w="sm" len="lg"/>
          </a:ln>
        </p:spPr>
      </p:sp>
      <p:sp>
        <p:nvSpPr>
          <p:cNvPr id="7233" name="Rectangle 109"/>
          <p:cNvSpPr/>
          <p:nvPr/>
        </p:nvSpPr>
        <p:spPr>
          <a:xfrm>
            <a:off x="4452938" y="2544763"/>
            <a:ext cx="211137" cy="50323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34" name="Line 110"/>
          <p:cNvSpPr/>
          <p:nvPr/>
        </p:nvSpPr>
        <p:spPr>
          <a:xfrm>
            <a:off x="4562475" y="2343150"/>
            <a:ext cx="0" cy="496888"/>
          </a:xfrm>
          <a:prstGeom prst="line">
            <a:avLst/>
          </a:prstGeom>
          <a:ln w="28575" cap="flat" cmpd="sng">
            <a:solidFill>
              <a:srgbClr val="3333FF"/>
            </a:solidFill>
            <a:prstDash val="solid"/>
            <a:headEnd type="none" w="med" len="med"/>
            <a:tailEnd type="triangle" w="sm" len="lg"/>
          </a:ln>
        </p:spPr>
      </p:sp>
      <p:sp>
        <p:nvSpPr>
          <p:cNvPr id="7235" name="Line 112"/>
          <p:cNvSpPr/>
          <p:nvPr/>
        </p:nvSpPr>
        <p:spPr>
          <a:xfrm flipV="1">
            <a:off x="4386263" y="3095625"/>
            <a:ext cx="312737" cy="177800"/>
          </a:xfrm>
          <a:prstGeom prst="line">
            <a:avLst/>
          </a:prstGeom>
          <a:ln w="19050" cap="flat" cmpd="sng">
            <a:solidFill>
              <a:srgbClr val="3333FF"/>
            </a:solidFill>
            <a:prstDash val="solid"/>
            <a:headEnd type="none" w="med" len="med"/>
            <a:tailEnd type="none" w="med" len="med"/>
          </a:ln>
        </p:spPr>
      </p:sp>
      <p:sp>
        <p:nvSpPr>
          <p:cNvPr id="7236" name="Rectangle 113"/>
          <p:cNvSpPr/>
          <p:nvPr/>
        </p:nvSpPr>
        <p:spPr>
          <a:xfrm>
            <a:off x="4452938" y="2317750"/>
            <a:ext cx="200025" cy="503238"/>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37" name="Line 114"/>
          <p:cNvSpPr/>
          <p:nvPr/>
        </p:nvSpPr>
        <p:spPr>
          <a:xfrm>
            <a:off x="4562475" y="2579688"/>
            <a:ext cx="0" cy="498475"/>
          </a:xfrm>
          <a:prstGeom prst="line">
            <a:avLst/>
          </a:prstGeom>
          <a:ln w="28575" cap="flat" cmpd="sng">
            <a:solidFill>
              <a:srgbClr val="3333FF"/>
            </a:solidFill>
            <a:prstDash val="solid"/>
            <a:headEnd type="none" w="med" len="med"/>
            <a:tailEnd type="triangle" w="sm" len="lg"/>
          </a:ln>
        </p:spPr>
      </p:sp>
      <p:sp>
        <p:nvSpPr>
          <p:cNvPr id="7238" name="Rectangle 117"/>
          <p:cNvSpPr/>
          <p:nvPr/>
        </p:nvSpPr>
        <p:spPr>
          <a:xfrm>
            <a:off x="4416425" y="2544763"/>
            <a:ext cx="290513" cy="503237"/>
          </a:xfrm>
          <a:prstGeom prst="rect">
            <a:avLst/>
          </a:prstGeom>
          <a:solidFill>
            <a:schemeClr val="bg1"/>
          </a:solidFill>
          <a:ln w="9525" cap="flat" cmpd="sng">
            <a:solidFill>
              <a:schemeClr val="bg1"/>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39" name="Line 118"/>
          <p:cNvSpPr/>
          <p:nvPr/>
        </p:nvSpPr>
        <p:spPr>
          <a:xfrm>
            <a:off x="4562475" y="2343150"/>
            <a:ext cx="0" cy="496888"/>
          </a:xfrm>
          <a:prstGeom prst="line">
            <a:avLst/>
          </a:prstGeom>
          <a:ln w="28575" cap="flat" cmpd="sng">
            <a:solidFill>
              <a:srgbClr val="3333FF"/>
            </a:solidFill>
            <a:prstDash val="solid"/>
            <a:headEnd type="none" w="med" len="med"/>
            <a:tailEnd type="triangle" w="sm" len="lg"/>
          </a:ln>
        </p:spPr>
      </p:sp>
      <p:sp>
        <p:nvSpPr>
          <p:cNvPr id="7240" name="Line 120"/>
          <p:cNvSpPr/>
          <p:nvPr/>
        </p:nvSpPr>
        <p:spPr>
          <a:xfrm flipV="1">
            <a:off x="4386263" y="3095625"/>
            <a:ext cx="312737" cy="177800"/>
          </a:xfrm>
          <a:prstGeom prst="line">
            <a:avLst/>
          </a:prstGeom>
          <a:ln w="19050" cap="flat" cmpd="sng">
            <a:solidFill>
              <a:srgbClr val="3333FF"/>
            </a:solidFill>
            <a:prstDash val="solid"/>
            <a:headEnd type="none" w="med" len="med"/>
            <a:tailEnd type="none" w="med" len="med"/>
          </a:ln>
        </p:spPr>
      </p:sp>
      <p:sp>
        <p:nvSpPr>
          <p:cNvPr id="2247806" name="Text Box 12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7808" name="Text Box 128"/>
          <p:cNvSpPr txBox="1">
            <a:spLocks noChangeArrowheads="1"/>
          </p:cNvSpPr>
          <p:nvPr/>
        </p:nvSpPr>
        <p:spPr bwMode="auto">
          <a:xfrm>
            <a:off x="2987675" y="174625"/>
            <a:ext cx="34544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2.2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采样过程</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7243" name="Text Box 129"/>
          <p:cNvSpPr txBox="1"/>
          <p:nvPr/>
        </p:nvSpPr>
        <p:spPr>
          <a:xfrm>
            <a:off x="317500" y="847725"/>
            <a:ext cx="2241550" cy="641350"/>
          </a:xfrm>
          <a:prstGeom prst="rect">
            <a:avLst/>
          </a:prstGeom>
          <a:solidFill>
            <a:srgbClr val="99CCFF"/>
          </a:solidFill>
          <a:ln w="9525">
            <a:noFill/>
          </a:ln>
        </p:spPr>
        <p:txBody>
          <a:bodyPr>
            <a:spAutoFit/>
          </a:bodyPr>
          <a:p>
            <a:pPr algn="l" eaLnBrk="1" hangingPunct="1"/>
            <a:r>
              <a:rPr lang="zh-CN" altLang="en-US" b="1" dirty="0">
                <a:solidFill>
                  <a:srgbClr val="333399"/>
                </a:solidFill>
                <a:latin typeface="楷体_GB2312" pitchFamily="49" charset="-122"/>
              </a:rPr>
              <a:t>采样过程</a:t>
            </a:r>
            <a:r>
              <a:rPr lang="en-US" altLang="zh-CN" b="1">
                <a:solidFill>
                  <a:srgbClr val="333399"/>
                </a:solidFill>
                <a:latin typeface="楷体_GB2312" pitchFamily="49" charset="-122"/>
              </a:rPr>
              <a:t>:</a:t>
            </a:r>
            <a:endParaRPr lang="en-US" altLang="zh-CN" b="1">
              <a:solidFill>
                <a:srgbClr val="333399"/>
              </a:solidFill>
              <a:latin typeface="楷体_GB2312" pitchFamily="49" charset="-122"/>
            </a:endParaRPr>
          </a:p>
        </p:txBody>
      </p:sp>
      <p:sp>
        <p:nvSpPr>
          <p:cNvPr id="2247810" name="Rectangle 130"/>
          <p:cNvSpPr/>
          <p:nvPr/>
        </p:nvSpPr>
        <p:spPr>
          <a:xfrm>
            <a:off x="858838" y="4724400"/>
            <a:ext cx="7421562" cy="1165225"/>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245" name="Text Box 131"/>
          <p:cNvSpPr txBox="1"/>
          <p:nvPr/>
        </p:nvSpPr>
        <p:spPr>
          <a:xfrm>
            <a:off x="6051550" y="3384550"/>
            <a:ext cx="234950" cy="304800"/>
          </a:xfrm>
          <a:prstGeom prst="rect">
            <a:avLst/>
          </a:prstGeom>
          <a:noFill/>
          <a:ln w="9525">
            <a:noFill/>
          </a:ln>
        </p:spPr>
        <p:txBody>
          <a:bodyPr>
            <a:spAutoFit/>
          </a:bodyPr>
          <a:p>
            <a:pPr algn="ctr" eaLnBrk="1" hangingPunct="1">
              <a:buNone/>
            </a:pPr>
            <a:r>
              <a:rPr lang="en-US" altLang="zh-CN" sz="1400" b="1" i="1">
                <a:solidFill>
                  <a:srgbClr val="333399"/>
                </a:solidFill>
                <a:latin typeface="Times New Roman" panose="02020603050405020304" pitchFamily="18" charset="0"/>
                <a:ea typeface="宋体" panose="02010600030101010101" pitchFamily="2" charset="-122"/>
              </a:rPr>
              <a:t>0</a:t>
            </a:r>
            <a:endParaRPr lang="en-US" altLang="zh-CN" sz="1400" b="1" i="1">
              <a:solidFill>
                <a:srgbClr val="333399"/>
              </a:solidFill>
              <a:latin typeface="Times New Roman" panose="02020603050405020304" pitchFamily="18" charset="0"/>
              <a:ea typeface="宋体" panose="02010600030101010101" pitchFamily="2" charset="-122"/>
            </a:endParaRPr>
          </a:p>
        </p:txBody>
      </p:sp>
    </p:spTree>
  </p:cSld>
  <p:clrMapOvr>
    <a:masterClrMapping/>
  </p:clrMapOvr>
  <p:transition spd="med">
    <p:cove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8716" name="Text Box 1036"/>
          <p:cNvSpPr txBox="1"/>
          <p:nvPr/>
        </p:nvSpPr>
        <p:spPr>
          <a:xfrm>
            <a:off x="658813" y="2565400"/>
            <a:ext cx="7945437" cy="1187450"/>
          </a:xfrm>
          <a:prstGeom prst="rect">
            <a:avLst/>
          </a:prstGeom>
          <a:solidFill>
            <a:srgbClr val="99CCFF"/>
          </a:solid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黑体" panose="02010609060101010101" pitchFamily="49" charset="-122"/>
                <a:ea typeface="黑体" panose="02010609060101010101" pitchFamily="49" charset="-122"/>
              </a:rPr>
              <a:t>实际应用中，</a:t>
            </a:r>
            <a:r>
              <a:rPr lang="en-US" altLang="zh-CN" sz="2400" b="1" i="1">
                <a:solidFill>
                  <a:schemeClr val="tx1"/>
                </a:solidFill>
                <a:latin typeface="Times New Roman" panose="02020603050405020304" pitchFamily="18" charset="0"/>
                <a:ea typeface="黑体" panose="02010609060101010101" pitchFamily="49" charset="-122"/>
              </a:rPr>
              <a:t>τ</a:t>
            </a:r>
            <a:r>
              <a:rPr lang="en-US" altLang="zh-CN" sz="2400" b="1">
                <a:solidFill>
                  <a:schemeClr val="tx1"/>
                </a:solidFill>
                <a:latin typeface="Times New Roman" panose="02020603050405020304" pitchFamily="18" charset="0"/>
                <a:ea typeface="黑体" panose="02010609060101010101" pitchFamily="49" charset="-122"/>
              </a:rPr>
              <a:t>&lt;&lt;</a:t>
            </a:r>
            <a:r>
              <a:rPr lang="en-US" altLang="zh-CN" sz="2400" b="1" i="1">
                <a:solidFill>
                  <a:schemeClr val="tx1"/>
                </a:solidFill>
                <a:latin typeface="Times New Roman" panose="02020603050405020304" pitchFamily="18" charset="0"/>
                <a:ea typeface="黑体" panose="02010609060101010101" pitchFamily="49" charset="-122"/>
              </a:rPr>
              <a:t>T</a:t>
            </a:r>
            <a:r>
              <a:rPr lang="en-US" altLang="zh-CN" sz="2400" b="1" baseline="-25000">
                <a:solidFill>
                  <a:schemeClr val="tx1"/>
                </a:solidFill>
                <a:latin typeface="Times New Roman" panose="02020603050405020304" pitchFamily="18" charset="0"/>
                <a:ea typeface="黑体" panose="02010609060101010101" pitchFamily="49" charset="-122"/>
              </a:rPr>
              <a:t>S </a:t>
            </a:r>
            <a:r>
              <a:rPr lang="zh-CN" altLang="en-US" sz="2400" b="1" dirty="0">
                <a:solidFill>
                  <a:schemeClr val="tx1"/>
                </a:solidFill>
                <a:latin typeface="Times New Roman" panose="02020603050405020304" pitchFamily="18" charset="0"/>
                <a:ea typeface="黑体" panose="02010609060101010101" pitchFamily="49" charset="-122"/>
              </a:rPr>
              <a:t>，故可以假设采样脉冲为理想脉冲。因此，采样过程也可看作用一个周期冲激串去乘待采样的连续时间信号</a:t>
            </a:r>
            <a:r>
              <a:rPr lang="en-US" altLang="zh-CN" sz="2400" b="1" err="1">
                <a:solidFill>
                  <a:schemeClr val="tx1"/>
                </a:solidFill>
                <a:latin typeface="Times New Roman" panose="02020603050405020304" pitchFamily="18" charset="0"/>
                <a:ea typeface="黑体" panose="02010609060101010101" pitchFamily="49" charset="-122"/>
              </a:rPr>
              <a:t>x(t</a:t>
            </a:r>
            <a:r>
              <a:rPr lang="en-US" altLang="zh-CN" sz="2400" b="1">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Times New Roman" panose="02020603050405020304" pitchFamily="18" charset="0"/>
                <a:ea typeface="黑体" panose="02010609060101010101" pitchFamily="49" charset="-122"/>
              </a:rPr>
              <a:t>。</a:t>
            </a:r>
            <a:endParaRPr lang="zh-CN" altLang="en-US" sz="2400" b="1" baseline="-25000" dirty="0">
              <a:solidFill>
                <a:schemeClr val="tx1"/>
              </a:solidFill>
              <a:latin typeface="Times New Roman" panose="02020603050405020304" pitchFamily="18" charset="0"/>
              <a:ea typeface="黑体" panose="02010609060101010101" pitchFamily="49" charset="-122"/>
            </a:endParaRPr>
          </a:p>
        </p:txBody>
      </p:sp>
      <p:sp>
        <p:nvSpPr>
          <p:cNvPr id="2248728" name="Text Box 104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8729" name="Text Box 1049"/>
          <p:cNvSpPr txBox="1">
            <a:spLocks noChangeArrowheads="1"/>
          </p:cNvSpPr>
          <p:nvPr/>
        </p:nvSpPr>
        <p:spPr bwMode="auto">
          <a:xfrm>
            <a:off x="2987675" y="174625"/>
            <a:ext cx="34544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2.2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采样过程</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48730" name="Text Box 1050"/>
          <p:cNvSpPr txBox="1"/>
          <p:nvPr/>
        </p:nvSpPr>
        <p:spPr>
          <a:xfrm>
            <a:off x="658813" y="1017588"/>
            <a:ext cx="7945437" cy="1187450"/>
          </a:xfrm>
          <a:prstGeom prst="rect">
            <a:avLst/>
          </a:prstGeom>
          <a:solidFill>
            <a:srgbClr val="FFCC99"/>
          </a:solidFill>
          <a:ln w="9525">
            <a:noFill/>
          </a:ln>
        </p:spPr>
        <p:txBody>
          <a:bodyPr>
            <a:spAutoFit/>
          </a:bodyPr>
          <a:p>
            <a:pPr algn="l" eaLnBrk="1" hangingPunct="1">
              <a:buClr>
                <a:srgbClr val="FF0000"/>
              </a:buClr>
              <a:buFont typeface="Wingdings" panose="05000000000000000000" pitchFamily="2" charset="2"/>
            </a:pPr>
            <a:r>
              <a:rPr lang="zh-CN" altLang="en-US" sz="2400" b="1" dirty="0">
                <a:solidFill>
                  <a:srgbClr val="3333FF"/>
                </a:solidFill>
                <a:latin typeface="黑体" panose="02010609060101010101" pitchFamily="49" charset="-122"/>
                <a:ea typeface="黑体" panose="02010609060101010101" pitchFamily="49" charset="-122"/>
              </a:rPr>
              <a:t>采样过程可以看作为脉冲调制过程。该过程将输入的连续模拟信号</a:t>
            </a:r>
            <a:r>
              <a:rPr lang="en-US" altLang="zh-CN" sz="2400" b="1" i="1" err="1">
                <a:solidFill>
                  <a:srgbClr val="3333FF"/>
                </a:solidFill>
                <a:latin typeface="Times New Roman" panose="02020603050405020304" pitchFamily="18" charset="0"/>
                <a:ea typeface="黑体" panose="02010609060101010101" pitchFamily="49" charset="-122"/>
              </a:rPr>
              <a:t>x</a:t>
            </a:r>
            <a:r>
              <a:rPr lang="en-US" altLang="zh-CN" sz="2400" b="1" err="1">
                <a:solidFill>
                  <a:srgbClr val="3333FF"/>
                </a:solidFill>
                <a:latin typeface="Times New Roman" panose="02020603050405020304" pitchFamily="18" charset="0"/>
                <a:ea typeface="黑体" panose="02010609060101010101" pitchFamily="49" charset="-122"/>
              </a:rPr>
              <a:t>(</a:t>
            </a:r>
            <a:r>
              <a:rPr lang="en-US" altLang="zh-CN" sz="2400" b="1" i="1" err="1">
                <a:solidFill>
                  <a:srgbClr val="3333FF"/>
                </a:solidFill>
                <a:latin typeface="Times New Roman" panose="02020603050405020304" pitchFamily="18" charset="0"/>
                <a:ea typeface="黑体" panose="02010609060101010101" pitchFamily="49" charset="-122"/>
              </a:rPr>
              <a:t>t</a:t>
            </a:r>
            <a:r>
              <a:rPr lang="en-US" altLang="zh-CN" sz="2400" b="1">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的波形，转换为宽度非常窄而幅度由输入信号确定的脉冲序列。</a:t>
            </a:r>
            <a:endParaRPr lang="zh-CN" altLang="en-US" sz="2400" b="1" dirty="0">
              <a:solidFill>
                <a:srgbClr val="3333FF"/>
              </a:solidFill>
              <a:latin typeface="黑体" panose="02010609060101010101" pitchFamily="49" charset="-122"/>
              <a:ea typeface="黑体" panose="02010609060101010101" pitchFamily="49" charset="-122"/>
            </a:endParaRPr>
          </a:p>
        </p:txBody>
      </p:sp>
      <p:graphicFrame>
        <p:nvGraphicFramePr>
          <p:cNvPr id="8284" name="Object 1139"/>
          <p:cNvGraphicFramePr>
            <a:graphicFrameLocks noChangeAspect="1"/>
          </p:cNvGraphicFramePr>
          <p:nvPr/>
        </p:nvGraphicFramePr>
        <p:xfrm>
          <a:off x="1368425" y="4652963"/>
          <a:ext cx="3024188" cy="519112"/>
        </p:xfrm>
        <a:graphic>
          <a:graphicData uri="http://schemas.openxmlformats.org/presentationml/2006/ole">
            <mc:AlternateContent xmlns:mc="http://schemas.openxmlformats.org/markup-compatibility/2006">
              <mc:Choice xmlns:v="urn:schemas-microsoft-com:vml" Requires="v">
                <p:oleObj spid="_x0000_s3078" name="" r:id="rId1" imgW="1256665" imgH="241300" progId="Equation.3">
                  <p:embed/>
                </p:oleObj>
              </mc:Choice>
              <mc:Fallback>
                <p:oleObj name="" r:id="rId1" imgW="1256665" imgH="241300" progId="Equation.3">
                  <p:embed/>
                  <p:pic>
                    <p:nvPicPr>
                      <p:cNvPr id="0" name="图片 3077"/>
                      <p:cNvPicPr/>
                      <p:nvPr/>
                    </p:nvPicPr>
                    <p:blipFill>
                      <a:blip r:embed="rId2"/>
                      <a:stretch>
                        <a:fillRect/>
                      </a:stretch>
                    </p:blipFill>
                    <p:spPr>
                      <a:xfrm>
                        <a:off x="1368425" y="4652963"/>
                        <a:ext cx="3024188" cy="519112"/>
                      </a:xfrm>
                      <a:prstGeom prst="rect">
                        <a:avLst/>
                      </a:prstGeom>
                      <a:solidFill>
                        <a:srgbClr val="CCFFFF"/>
                      </a:solidFill>
                      <a:ln w="38100">
                        <a:noFill/>
                        <a:miter/>
                      </a:ln>
                    </p:spPr>
                  </p:pic>
                </p:oleObj>
              </mc:Fallback>
            </mc:AlternateContent>
          </a:graphicData>
        </a:graphic>
      </p:graphicFrame>
      <p:graphicFrame>
        <p:nvGraphicFramePr>
          <p:cNvPr id="8285" name="Object 1140"/>
          <p:cNvGraphicFramePr>
            <a:graphicFrameLocks noChangeAspect="1"/>
          </p:cNvGraphicFramePr>
          <p:nvPr/>
        </p:nvGraphicFramePr>
        <p:xfrm>
          <a:off x="5003800" y="4473575"/>
          <a:ext cx="2844800" cy="809625"/>
        </p:xfrm>
        <a:graphic>
          <a:graphicData uri="http://schemas.openxmlformats.org/presentationml/2006/ole">
            <mc:AlternateContent xmlns:mc="http://schemas.openxmlformats.org/markup-compatibility/2006">
              <mc:Choice xmlns:v="urn:schemas-microsoft-com:vml" Requires="v">
                <p:oleObj spid="_x0000_s3076" name="" r:id="rId3" imgW="1358265" imgH="431800" progId="Equation.3">
                  <p:embed/>
                </p:oleObj>
              </mc:Choice>
              <mc:Fallback>
                <p:oleObj name="" r:id="rId3" imgW="1358265" imgH="431800" progId="Equation.3">
                  <p:embed/>
                  <p:pic>
                    <p:nvPicPr>
                      <p:cNvPr id="0" name="图片 3075"/>
                      <p:cNvPicPr/>
                      <p:nvPr/>
                    </p:nvPicPr>
                    <p:blipFill>
                      <a:blip r:embed="rId4"/>
                      <a:stretch>
                        <a:fillRect/>
                      </a:stretch>
                    </p:blipFill>
                    <p:spPr>
                      <a:xfrm>
                        <a:off x="5003800" y="4473575"/>
                        <a:ext cx="2844800" cy="809625"/>
                      </a:xfrm>
                      <a:prstGeom prst="rect">
                        <a:avLst/>
                      </a:prstGeom>
                      <a:solidFill>
                        <a:srgbClr val="CCFFFF"/>
                      </a:solidFill>
                      <a:ln w="38100">
                        <a:noFill/>
                        <a:miter/>
                      </a:ln>
                    </p:spPr>
                  </p:pic>
                </p:oleObj>
              </mc:Fallback>
            </mc:AlternateContent>
          </a:graphicData>
        </a:graphic>
      </p:graphicFrame>
      <p:sp>
        <p:nvSpPr>
          <p:cNvPr id="2333700" name="Text Box 4"/>
          <p:cNvSpPr txBox="1"/>
          <p:nvPr/>
        </p:nvSpPr>
        <p:spPr>
          <a:xfrm>
            <a:off x="658813" y="4005263"/>
            <a:ext cx="7945437" cy="457200"/>
          </a:xfrm>
          <a:prstGeom prst="rect">
            <a:avLst/>
          </a:prstGeom>
          <a:noFill/>
          <a:ln w="9525">
            <a:noFill/>
          </a:ln>
        </p:spPr>
        <p:txBody>
          <a:bodyPr>
            <a:spAutoFit/>
          </a:bodyPr>
          <a:p>
            <a:pPr algn="l" eaLnBrk="1" hangingPunct="1">
              <a:buNone/>
            </a:pPr>
            <a:r>
              <a:rPr lang="zh-CN" altLang="en-US" sz="2400" b="1" dirty="0">
                <a:solidFill>
                  <a:schemeClr val="tx1"/>
                </a:solidFill>
                <a:latin typeface="黑体" panose="02010609060101010101" pitchFamily="49" charset="-122"/>
                <a:ea typeface="黑体" panose="02010609060101010101" pitchFamily="49" charset="-122"/>
              </a:rPr>
              <a:t>输入信号与输出信号之间的关系可表达为：</a:t>
            </a:r>
            <a:endParaRPr lang="zh-CN" altLang="en-US" sz="2400" b="1" dirty="0">
              <a:solidFill>
                <a:schemeClr val="tx1"/>
              </a:solidFill>
              <a:latin typeface="黑体" panose="02010609060101010101" pitchFamily="49" charset="-122"/>
              <a:ea typeface="黑体" panose="02010609060101010101" pitchFamily="49" charset="-122"/>
            </a:endParaRPr>
          </a:p>
        </p:txBody>
      </p:sp>
      <p:graphicFrame>
        <p:nvGraphicFramePr>
          <p:cNvPr id="8289" name="Object 1139"/>
          <p:cNvGraphicFramePr>
            <a:graphicFrameLocks noChangeAspect="1"/>
          </p:cNvGraphicFramePr>
          <p:nvPr/>
        </p:nvGraphicFramePr>
        <p:xfrm>
          <a:off x="2339975" y="5337175"/>
          <a:ext cx="4464050" cy="906463"/>
        </p:xfrm>
        <a:graphic>
          <a:graphicData uri="http://schemas.openxmlformats.org/presentationml/2006/ole">
            <mc:AlternateContent xmlns:mc="http://schemas.openxmlformats.org/markup-compatibility/2006">
              <mc:Choice xmlns:v="urn:schemas-microsoft-com:vml" Requires="v">
                <p:oleObj spid="_x0000_s3077" name="" r:id="rId5" imgW="1904365" imgH="431800" progId="Equation.3">
                  <p:embed/>
                </p:oleObj>
              </mc:Choice>
              <mc:Fallback>
                <p:oleObj name="" r:id="rId5" imgW="1904365" imgH="431800" progId="Equation.3">
                  <p:embed/>
                  <p:pic>
                    <p:nvPicPr>
                      <p:cNvPr id="0" name="图片 3076"/>
                      <p:cNvPicPr/>
                      <p:nvPr/>
                    </p:nvPicPr>
                    <p:blipFill>
                      <a:blip r:embed="rId6"/>
                      <a:stretch>
                        <a:fillRect/>
                      </a:stretch>
                    </p:blipFill>
                    <p:spPr>
                      <a:xfrm>
                        <a:off x="2339975" y="5337175"/>
                        <a:ext cx="4464050" cy="906463"/>
                      </a:xfrm>
                      <a:prstGeom prst="rect">
                        <a:avLst/>
                      </a:prstGeom>
                      <a:solidFill>
                        <a:srgbClr val="CCFFFF"/>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8730"/>
                                        </p:tgtEl>
                                        <p:attrNameLst>
                                          <p:attrName>style.visibility</p:attrName>
                                        </p:attrNameLst>
                                      </p:cBhvr>
                                      <p:to>
                                        <p:strVal val="visible"/>
                                      </p:to>
                                    </p:set>
                                    <p:animEffect transition="in" filter="dissolve">
                                      <p:cBhvr>
                                        <p:cTn id="7" dur="500"/>
                                        <p:tgtEl>
                                          <p:spTgt spid="22487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8716"/>
                                        </p:tgtEl>
                                        <p:attrNameLst>
                                          <p:attrName>style.visibility</p:attrName>
                                        </p:attrNameLst>
                                      </p:cBhvr>
                                      <p:to>
                                        <p:strVal val="visible"/>
                                      </p:to>
                                    </p:set>
                                    <p:animEffect transition="in" filter="dissolve">
                                      <p:cBhvr>
                                        <p:cTn id="12" dur="500"/>
                                        <p:tgtEl>
                                          <p:spTgt spid="22487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33700"/>
                                        </p:tgtEl>
                                        <p:attrNameLst>
                                          <p:attrName>style.visibility</p:attrName>
                                        </p:attrNameLst>
                                      </p:cBhvr>
                                      <p:to>
                                        <p:strVal val="visible"/>
                                      </p:to>
                                    </p:set>
                                    <p:animEffect transition="in" filter="dissolve">
                                      <p:cBhvr>
                                        <p:cTn id="17" dur="500"/>
                                        <p:tgtEl>
                                          <p:spTgt spid="233370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284"/>
                                        </p:tgtEl>
                                        <p:attrNameLst>
                                          <p:attrName>style.visibility</p:attrName>
                                        </p:attrNameLst>
                                      </p:cBhvr>
                                      <p:to>
                                        <p:strVal val="visible"/>
                                      </p:to>
                                    </p:set>
                                    <p:animEffect transition="in" filter="dissolve">
                                      <p:cBhvr>
                                        <p:cTn id="22" dur="500"/>
                                        <p:tgtEl>
                                          <p:spTgt spid="828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8285"/>
                                        </p:tgtEl>
                                        <p:attrNameLst>
                                          <p:attrName>style.visibility</p:attrName>
                                        </p:attrNameLst>
                                      </p:cBhvr>
                                      <p:to>
                                        <p:strVal val="visible"/>
                                      </p:to>
                                    </p:set>
                                    <p:animEffect transition="in" filter="dissolve">
                                      <p:cBhvr>
                                        <p:cTn id="27" dur="500"/>
                                        <p:tgtEl>
                                          <p:spTgt spid="828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8289"/>
                                        </p:tgtEl>
                                        <p:attrNameLst>
                                          <p:attrName>style.visibility</p:attrName>
                                        </p:attrNameLst>
                                      </p:cBhvr>
                                      <p:to>
                                        <p:strVal val="visible"/>
                                      </p:to>
                                    </p:set>
                                    <p:animEffect transition="in" filter="dissolve">
                                      <p:cBhvr>
                                        <p:cTn id="32" dur="500"/>
                                        <p:tgtEl>
                                          <p:spTgt spid="82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8716" grpId="0" bldLvl="0" animBg="1"/>
      <p:bldP spid="2248730" grpId="0" bldLvl="0" animBg="1"/>
      <p:bldP spid="233370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3699" name="Text Box 3"/>
          <p:cNvSpPr txBox="1"/>
          <p:nvPr/>
        </p:nvSpPr>
        <p:spPr>
          <a:xfrm>
            <a:off x="468313" y="1012825"/>
            <a:ext cx="8172450" cy="579438"/>
          </a:xfrm>
          <a:prstGeom prst="rect">
            <a:avLst/>
          </a:prstGeom>
          <a:solidFill>
            <a:srgbClr val="99CCFF"/>
          </a:solidFill>
          <a:ln w="9525">
            <a:noFill/>
          </a:ln>
        </p:spPr>
        <p:txBody>
          <a:bodyPr>
            <a:spAutoFit/>
          </a:bodyPr>
          <a:p>
            <a:pPr algn="l" eaLnBrk="1" hangingPunct="1"/>
            <a:r>
              <a:rPr lang="zh-CN" altLang="en-US" sz="3200" b="1" dirty="0">
                <a:solidFill>
                  <a:srgbClr val="333399"/>
                </a:solidFill>
                <a:latin typeface="楷体_GB2312" pitchFamily="49" charset="-122"/>
              </a:rPr>
              <a:t>采样周期</a:t>
            </a:r>
            <a:r>
              <a:rPr lang="en-US" altLang="zh-CN" sz="3200" b="1" i="1">
                <a:solidFill>
                  <a:srgbClr val="FF0000"/>
                </a:solidFill>
                <a:latin typeface="Times New Roman" panose="02020603050405020304" pitchFamily="18" charset="0"/>
              </a:rPr>
              <a:t>T</a:t>
            </a:r>
            <a:r>
              <a:rPr lang="en-US" altLang="zh-CN" sz="3200" b="1" baseline="-25000">
                <a:solidFill>
                  <a:srgbClr val="FF0000"/>
                </a:solidFill>
                <a:latin typeface="Times New Roman" panose="02020603050405020304" pitchFamily="18" charset="0"/>
              </a:rPr>
              <a:t>S</a:t>
            </a:r>
            <a:r>
              <a:rPr lang="zh-CN" altLang="en-US" sz="3200" b="1" dirty="0">
                <a:solidFill>
                  <a:srgbClr val="333399"/>
                </a:solidFill>
                <a:latin typeface="楷体_GB2312" pitchFamily="49" charset="-122"/>
              </a:rPr>
              <a:t>决定了采样信号的质量和数量： </a:t>
            </a:r>
            <a:endParaRPr lang="zh-CN" altLang="en-US" sz="3200" b="1" dirty="0">
              <a:solidFill>
                <a:srgbClr val="333399"/>
              </a:solidFill>
              <a:latin typeface="楷体_GB2312" pitchFamily="49" charset="-122"/>
            </a:endParaRPr>
          </a:p>
        </p:txBody>
      </p:sp>
      <p:sp>
        <p:nvSpPr>
          <p:cNvPr id="2333700" name="Text Box 4"/>
          <p:cNvSpPr txBox="1"/>
          <p:nvPr/>
        </p:nvSpPr>
        <p:spPr>
          <a:xfrm>
            <a:off x="1504950" y="1973263"/>
            <a:ext cx="7096125" cy="519112"/>
          </a:xfrm>
          <a:prstGeom prst="rect">
            <a:avLst/>
          </a:prstGeom>
          <a:noFill/>
          <a:ln w="9525">
            <a:noFill/>
          </a:ln>
        </p:spPr>
        <p:txBody>
          <a:bodyPr>
            <a:spAutoFit/>
          </a:bodyPr>
          <a:p>
            <a:pPr algn="l" eaLnBrk="1" hangingPunct="1">
              <a:buNone/>
            </a:pPr>
            <a:r>
              <a:rPr lang="en-US" altLang="zh-CN" sz="2800" b="1" i="1">
                <a:solidFill>
                  <a:schemeClr val="tx1"/>
                </a:solidFill>
                <a:latin typeface="Times New Roman" panose="02020603050405020304" pitchFamily="18" charset="0"/>
                <a:ea typeface="黑体" panose="02010609060101010101" pitchFamily="49" charset="-122"/>
              </a:rPr>
              <a:t>T</a:t>
            </a:r>
            <a:r>
              <a:rPr lang="en-US" altLang="zh-CN" sz="2800" b="1" i="1" baseline="-25000">
                <a:solidFill>
                  <a:schemeClr val="tx1"/>
                </a:solidFill>
                <a:latin typeface="Times New Roman" panose="02020603050405020304" pitchFamily="18" charset="0"/>
                <a:ea typeface="黑体" panose="02010609060101010101" pitchFamily="49" charset="-122"/>
              </a:rPr>
              <a:t>S </a:t>
            </a:r>
            <a:r>
              <a:rPr lang="en-US" altLang="zh-CN" sz="2800" b="1">
                <a:solidFill>
                  <a:srgbClr val="FF0000"/>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a:t>
            </a:r>
            <a:r>
              <a:rPr lang="en-US" altLang="zh-CN" sz="2800" b="1" i="1" err="1">
                <a:solidFill>
                  <a:schemeClr val="tx1"/>
                </a:solidFill>
                <a:latin typeface="Times New Roman" panose="02020603050405020304" pitchFamily="18" charset="0"/>
                <a:ea typeface="黑体" panose="02010609060101010101" pitchFamily="49" charset="-122"/>
              </a:rPr>
              <a:t>x</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err="1">
                <a:solidFill>
                  <a:schemeClr val="tx1"/>
                </a:solidFill>
                <a:latin typeface="Times New Roman" panose="02020603050405020304" pitchFamily="18" charset="0"/>
                <a:ea typeface="黑体" panose="02010609060101010101" pitchFamily="49" charset="-122"/>
              </a:rPr>
              <a:t>(</a:t>
            </a:r>
            <a:r>
              <a:rPr lang="en-US" altLang="zh-CN" sz="2800" b="1" i="1" err="1">
                <a:solidFill>
                  <a:schemeClr val="tx1"/>
                </a:solidFill>
                <a:latin typeface="Times New Roman" panose="02020603050405020304" pitchFamily="18" charset="0"/>
                <a:ea typeface="黑体" panose="02010609060101010101" pitchFamily="49" charset="-122"/>
              </a:rPr>
              <a:t>nT</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a:solidFill>
                  <a:schemeClr val="tx1"/>
                </a:solidFill>
                <a:latin typeface="Times New Roman" panose="02020603050405020304" pitchFamily="18" charset="0"/>
                <a:ea typeface="黑体" panose="02010609060101010101" pitchFamily="49" charset="-122"/>
              </a:rPr>
              <a:t>)</a:t>
            </a:r>
            <a:r>
              <a:rPr lang="en-US" altLang="zh-CN" sz="2800" b="1">
                <a:solidFill>
                  <a:srgbClr val="FF0000"/>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，内存量</a:t>
            </a:r>
            <a:r>
              <a:rPr lang="zh-CN" altLang="en-US" sz="2800" b="1" dirty="0">
                <a:solidFill>
                  <a:srgbClr val="FF0000"/>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33701" name="Text Box 5"/>
          <p:cNvSpPr txBox="1"/>
          <p:nvPr/>
        </p:nvSpPr>
        <p:spPr>
          <a:xfrm>
            <a:off x="1511300" y="2801938"/>
            <a:ext cx="7632700" cy="519112"/>
          </a:xfrm>
          <a:prstGeom prst="rect">
            <a:avLst/>
          </a:prstGeom>
          <a:noFill/>
          <a:ln w="9525">
            <a:noFill/>
          </a:ln>
        </p:spPr>
        <p:txBody>
          <a:bodyPr>
            <a:spAutoFit/>
          </a:bodyPr>
          <a:p>
            <a:pPr algn="l" eaLnBrk="1" hangingPunct="1">
              <a:buNone/>
            </a:pPr>
            <a:r>
              <a:rPr lang="en-US" altLang="zh-CN" sz="2800" b="1" i="1">
                <a:solidFill>
                  <a:schemeClr val="tx1"/>
                </a:solidFill>
                <a:latin typeface="Times New Roman" panose="02020603050405020304" pitchFamily="18" charset="0"/>
                <a:ea typeface="黑体" panose="02010609060101010101" pitchFamily="49" charset="-122"/>
              </a:rPr>
              <a:t>T</a:t>
            </a:r>
            <a:r>
              <a:rPr lang="en-US" altLang="zh-CN" sz="2800" b="1" i="1" baseline="-25000">
                <a:solidFill>
                  <a:schemeClr val="tx1"/>
                </a:solidFill>
                <a:latin typeface="Times New Roman" panose="02020603050405020304" pitchFamily="18" charset="0"/>
                <a:ea typeface="黑体" panose="02010609060101010101" pitchFamily="49" charset="-122"/>
              </a:rPr>
              <a:t>S</a:t>
            </a:r>
            <a:r>
              <a:rPr lang="en-US" altLang="zh-CN" sz="2800" b="1">
                <a:solidFill>
                  <a:srgbClr val="FF0000"/>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a:t>
            </a:r>
            <a:r>
              <a:rPr lang="en-US" altLang="zh-CN" sz="2800" b="1" i="1" err="1">
                <a:solidFill>
                  <a:schemeClr val="tx1"/>
                </a:solidFill>
                <a:latin typeface="Times New Roman" panose="02020603050405020304" pitchFamily="18" charset="0"/>
                <a:ea typeface="黑体" panose="02010609060101010101" pitchFamily="49" charset="-122"/>
              </a:rPr>
              <a:t>x</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err="1">
                <a:solidFill>
                  <a:schemeClr val="tx1"/>
                </a:solidFill>
                <a:latin typeface="Times New Roman" panose="02020603050405020304" pitchFamily="18" charset="0"/>
                <a:ea typeface="黑体" panose="02010609060101010101" pitchFamily="49" charset="-122"/>
              </a:rPr>
              <a:t>(</a:t>
            </a:r>
            <a:r>
              <a:rPr lang="en-US" altLang="zh-CN" sz="2800" b="1" i="1" err="1">
                <a:solidFill>
                  <a:schemeClr val="tx1"/>
                </a:solidFill>
                <a:latin typeface="Times New Roman" panose="02020603050405020304" pitchFamily="18" charset="0"/>
                <a:ea typeface="黑体" panose="02010609060101010101" pitchFamily="49" charset="-122"/>
              </a:rPr>
              <a:t>nT</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a:solidFill>
                  <a:schemeClr val="tx1"/>
                </a:solidFill>
                <a:latin typeface="Times New Roman" panose="02020603050405020304" pitchFamily="18" charset="0"/>
                <a:ea typeface="黑体" panose="02010609060101010101" pitchFamily="49" charset="-122"/>
              </a:rPr>
              <a:t>)</a:t>
            </a:r>
            <a:r>
              <a:rPr lang="en-US" altLang="zh-CN" sz="2800" b="1">
                <a:solidFill>
                  <a:srgbClr val="FF0000"/>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，丢失原信号的某些信息。</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33702" name="Text Box 6"/>
          <p:cNvSpPr txBox="1"/>
          <p:nvPr/>
        </p:nvSpPr>
        <p:spPr>
          <a:xfrm>
            <a:off x="630238" y="4689475"/>
            <a:ext cx="8010525" cy="1066800"/>
          </a:xfrm>
          <a:prstGeom prst="rect">
            <a:avLst/>
          </a:prstGeom>
          <a:solidFill>
            <a:srgbClr val="FFCC99"/>
          </a:solidFill>
          <a:ln w="9525">
            <a:noFill/>
          </a:ln>
        </p:spPr>
        <p:txBody>
          <a:bodyPr>
            <a:spAutoFit/>
          </a:bodyPr>
          <a:p>
            <a:pPr algn="l" eaLnBrk="1" hangingPunct="1"/>
            <a:r>
              <a:rPr lang="zh-CN" altLang="en-US" sz="3200" b="1" dirty="0">
                <a:solidFill>
                  <a:srgbClr val="FF0000"/>
                </a:solidFill>
                <a:latin typeface="黑体" panose="02010609060101010101" pitchFamily="49" charset="-122"/>
                <a:ea typeface="黑体" panose="02010609060101010101" pitchFamily="49" charset="-122"/>
              </a:rPr>
              <a:t>因此，必须有一个选择采样周期的依据，以确保使</a:t>
            </a:r>
            <a:r>
              <a:rPr lang="en-US" altLang="zh-CN" sz="3200" b="1" err="1">
                <a:solidFill>
                  <a:srgbClr val="FF0000"/>
                </a:solidFill>
                <a:latin typeface="黑体" panose="02010609060101010101" pitchFamily="49" charset="-122"/>
                <a:ea typeface="黑体" panose="02010609060101010101" pitchFamily="49" charset="-122"/>
              </a:rPr>
              <a:t>x</a:t>
            </a:r>
            <a:r>
              <a:rPr lang="en-US" altLang="zh-CN" sz="3200" b="1" baseline="-25000" err="1">
                <a:solidFill>
                  <a:srgbClr val="FF0000"/>
                </a:solidFill>
                <a:latin typeface="黑体" panose="02010609060101010101" pitchFamily="49" charset="-122"/>
                <a:ea typeface="黑体" panose="02010609060101010101" pitchFamily="49" charset="-122"/>
              </a:rPr>
              <a:t>S</a:t>
            </a:r>
            <a:r>
              <a:rPr lang="en-US" altLang="zh-CN" sz="3200" b="1" err="1">
                <a:solidFill>
                  <a:srgbClr val="FF0000"/>
                </a:solidFill>
                <a:latin typeface="黑体" panose="02010609060101010101" pitchFamily="49" charset="-122"/>
                <a:ea typeface="黑体" panose="02010609060101010101" pitchFamily="49" charset="-122"/>
              </a:rPr>
              <a:t>(nT</a:t>
            </a:r>
            <a:r>
              <a:rPr lang="en-US" altLang="zh-CN" sz="3200" b="1" baseline="-25000" err="1">
                <a:solidFill>
                  <a:srgbClr val="FF0000"/>
                </a:solidFill>
                <a:latin typeface="黑体" panose="02010609060101010101" pitchFamily="49" charset="-122"/>
                <a:ea typeface="黑体" panose="02010609060101010101" pitchFamily="49" charset="-122"/>
              </a:rPr>
              <a:t>S</a:t>
            </a:r>
            <a:r>
              <a:rPr lang="en-US" altLang="zh-CN" sz="3200" b="1">
                <a:solidFill>
                  <a:srgbClr val="FF0000"/>
                </a:solidFill>
                <a:latin typeface="黑体" panose="02010609060101010101" pitchFamily="49" charset="-122"/>
                <a:ea typeface="黑体" panose="02010609060101010101" pitchFamily="49" charset="-122"/>
              </a:rPr>
              <a:t>)</a:t>
            </a:r>
            <a:r>
              <a:rPr lang="zh-CN" altLang="en-US" sz="3200" b="1" dirty="0">
                <a:solidFill>
                  <a:srgbClr val="FF0000"/>
                </a:solidFill>
                <a:latin typeface="黑体" panose="02010609060101010101" pitchFamily="49" charset="-122"/>
                <a:ea typeface="黑体" panose="02010609060101010101" pitchFamily="49" charset="-122"/>
              </a:rPr>
              <a:t>不失真地恢复原信号</a:t>
            </a:r>
            <a:r>
              <a:rPr lang="en-US" altLang="zh-CN" sz="3200" b="1" err="1">
                <a:solidFill>
                  <a:srgbClr val="FF0000"/>
                </a:solidFill>
                <a:latin typeface="黑体" panose="02010609060101010101" pitchFamily="49" charset="-122"/>
                <a:ea typeface="黑体" panose="02010609060101010101" pitchFamily="49" charset="-122"/>
              </a:rPr>
              <a:t>x(t</a:t>
            </a:r>
            <a:r>
              <a:rPr lang="en-US" altLang="zh-CN" sz="3200" b="1">
                <a:solidFill>
                  <a:srgbClr val="FF0000"/>
                </a:solidFill>
                <a:latin typeface="黑体" panose="02010609060101010101" pitchFamily="49" charset="-122"/>
                <a:ea typeface="黑体" panose="02010609060101010101" pitchFamily="49" charset="-122"/>
              </a:rPr>
              <a:t>)</a:t>
            </a:r>
            <a:r>
              <a:rPr lang="zh-CN" altLang="en-US" sz="3200" b="1" dirty="0">
                <a:solidFill>
                  <a:srgbClr val="FF0000"/>
                </a:solidFill>
                <a:latin typeface="黑体" panose="02010609060101010101" pitchFamily="49" charset="-122"/>
                <a:ea typeface="黑体" panose="02010609060101010101" pitchFamily="49" charset="-122"/>
              </a:rPr>
              <a:t>。 </a:t>
            </a:r>
            <a:endParaRPr lang="zh-CN" altLang="en-US" sz="3200" b="1" dirty="0">
              <a:solidFill>
                <a:srgbClr val="FF0000"/>
              </a:solidFill>
              <a:latin typeface="黑体" panose="02010609060101010101" pitchFamily="49" charset="-122"/>
              <a:ea typeface="黑体" panose="02010609060101010101" pitchFamily="49" charset="-122"/>
            </a:endParaRPr>
          </a:p>
        </p:txBody>
      </p:sp>
      <p:sp>
        <p:nvSpPr>
          <p:cNvPr id="2333703" name="Text Box 7"/>
          <p:cNvSpPr txBox="1"/>
          <p:nvPr/>
        </p:nvSpPr>
        <p:spPr>
          <a:xfrm>
            <a:off x="1511300" y="3584575"/>
            <a:ext cx="6121400" cy="528638"/>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800" b="1" dirty="0">
                <a:solidFill>
                  <a:srgbClr val="3333FF"/>
                </a:solidFill>
                <a:latin typeface="黑体" panose="02010609060101010101" pitchFamily="49" charset="-122"/>
                <a:ea typeface="黑体" panose="02010609060101010101" pitchFamily="49" charset="-122"/>
              </a:rPr>
              <a:t>不能无失真地恢复原信号，出现误差。</a:t>
            </a:r>
            <a:endParaRPr lang="zh-CN" altLang="en-US" sz="2800" b="1" dirty="0">
              <a:solidFill>
                <a:srgbClr val="3333FF"/>
              </a:solidFill>
              <a:latin typeface="黑体" panose="02010609060101010101" pitchFamily="49" charset="-122"/>
              <a:ea typeface="黑体" panose="02010609060101010101" pitchFamily="49" charset="-122"/>
            </a:endParaRPr>
          </a:p>
        </p:txBody>
      </p:sp>
      <p:pic>
        <p:nvPicPr>
          <p:cNvPr id="2333704" name="Picture 8" descr="kugel_blau"/>
          <p:cNvPicPr>
            <a:picLocks noChangeAspect="1"/>
          </p:cNvPicPr>
          <p:nvPr/>
        </p:nvPicPr>
        <p:blipFill>
          <a:blip r:embed="rId1"/>
          <a:stretch>
            <a:fillRect/>
          </a:stretch>
        </p:blipFill>
        <p:spPr>
          <a:xfrm>
            <a:off x="1012825" y="2009775"/>
            <a:ext cx="457200" cy="315913"/>
          </a:xfrm>
          <a:prstGeom prst="rect">
            <a:avLst/>
          </a:prstGeom>
          <a:noFill/>
          <a:ln w="9525">
            <a:noFill/>
          </a:ln>
        </p:spPr>
      </p:pic>
      <p:pic>
        <p:nvPicPr>
          <p:cNvPr id="2333705" name="Picture 9" descr="kugel_blau"/>
          <p:cNvPicPr>
            <a:picLocks noChangeAspect="1"/>
          </p:cNvPicPr>
          <p:nvPr/>
        </p:nvPicPr>
        <p:blipFill>
          <a:blip r:embed="rId1"/>
          <a:stretch>
            <a:fillRect/>
          </a:stretch>
        </p:blipFill>
        <p:spPr>
          <a:xfrm>
            <a:off x="1012825" y="2770188"/>
            <a:ext cx="457200" cy="315912"/>
          </a:xfrm>
          <a:prstGeom prst="rect">
            <a:avLst/>
          </a:prstGeom>
          <a:noFill/>
          <a:ln w="9525">
            <a:noFill/>
          </a:ln>
        </p:spPr>
      </p:pic>
      <p:sp>
        <p:nvSpPr>
          <p:cNvPr id="2333706" name="Text Box 1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33708" name="Text Box 12"/>
          <p:cNvSpPr txBox="1">
            <a:spLocks noChangeArrowheads="1"/>
          </p:cNvSpPr>
          <p:nvPr/>
        </p:nvSpPr>
        <p:spPr bwMode="auto">
          <a:xfrm>
            <a:off x="2376488" y="141288"/>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3699"/>
                                        </p:tgtEl>
                                        <p:attrNameLst>
                                          <p:attrName>style.visibility</p:attrName>
                                        </p:attrNameLst>
                                      </p:cBhvr>
                                      <p:to>
                                        <p:strVal val="visible"/>
                                      </p:to>
                                    </p:set>
                                    <p:animEffect transition="in" filter="dissolve">
                                      <p:cBhvr>
                                        <p:cTn id="7" dur="500"/>
                                        <p:tgtEl>
                                          <p:spTgt spid="2333699"/>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333704"/>
                                        </p:tgtEl>
                                        <p:attrNameLst>
                                          <p:attrName>style.visibility</p:attrName>
                                        </p:attrNameLst>
                                      </p:cBhvr>
                                      <p:to>
                                        <p:strVal val="visible"/>
                                      </p:to>
                                    </p:set>
                                    <p:anim calcmode="lin" valueType="num">
                                      <p:cBhvr additive="base">
                                        <p:cTn id="12" dur="500" fill="hold"/>
                                        <p:tgtEl>
                                          <p:spTgt spid="2333704"/>
                                        </p:tgtEl>
                                        <p:attrNameLst>
                                          <p:attrName>ppt_x</p:attrName>
                                        </p:attrNameLst>
                                      </p:cBhvr>
                                      <p:tavLst>
                                        <p:tav tm="0">
                                          <p:val>
                                            <p:strVal val="0-#ppt_w/2"/>
                                          </p:val>
                                        </p:tav>
                                        <p:tav tm="100000">
                                          <p:val>
                                            <p:strVal val="#ppt_x"/>
                                          </p:val>
                                        </p:tav>
                                      </p:tavLst>
                                    </p:anim>
                                    <p:anim calcmode="lin" valueType="num">
                                      <p:cBhvr additive="base">
                                        <p:cTn id="13" dur="500" fill="hold"/>
                                        <p:tgtEl>
                                          <p:spTgt spid="2333704"/>
                                        </p:tgtEl>
                                        <p:attrNameLst>
                                          <p:attrName>ppt_y</p:attrName>
                                        </p:attrNameLst>
                                      </p:cBhvr>
                                      <p:tavLst>
                                        <p:tav tm="0">
                                          <p:val>
                                            <p:strVal val="#ppt_y"/>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333700"/>
                                        </p:tgtEl>
                                        <p:attrNameLst>
                                          <p:attrName>style.visibility</p:attrName>
                                        </p:attrNameLst>
                                      </p:cBhvr>
                                      <p:to>
                                        <p:strVal val="visible"/>
                                      </p:to>
                                    </p:set>
                                    <p:anim calcmode="lin" valueType="num">
                                      <p:cBhvr additive="base">
                                        <p:cTn id="16" dur="500" fill="hold"/>
                                        <p:tgtEl>
                                          <p:spTgt spid="2333700"/>
                                        </p:tgtEl>
                                        <p:attrNameLst>
                                          <p:attrName>ppt_x</p:attrName>
                                        </p:attrNameLst>
                                      </p:cBhvr>
                                      <p:tavLst>
                                        <p:tav tm="0">
                                          <p:val>
                                            <p:strVal val="1+#ppt_w/2"/>
                                          </p:val>
                                        </p:tav>
                                        <p:tav tm="100000">
                                          <p:val>
                                            <p:strVal val="#ppt_x"/>
                                          </p:val>
                                        </p:tav>
                                      </p:tavLst>
                                    </p:anim>
                                    <p:anim calcmode="lin" valueType="num">
                                      <p:cBhvr additive="base">
                                        <p:cTn id="17" dur="500" fill="hold"/>
                                        <p:tgtEl>
                                          <p:spTgt spid="2333700"/>
                                        </p:tgtEl>
                                        <p:attrNameLst>
                                          <p:attrName>ppt_y</p:attrName>
                                        </p:attrNameLst>
                                      </p:cBhvr>
                                      <p:tavLst>
                                        <p:tav tm="0">
                                          <p:val>
                                            <p:strVal val="#ppt_y"/>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 presetClass="entr" presetSubtype="8" fill="hold" nodeType="clickEffect">
                                  <p:stCondLst>
                                    <p:cond delay="0"/>
                                  </p:stCondLst>
                                  <p:childTnLst>
                                    <p:set>
                                      <p:cBhvr>
                                        <p:cTn id="21" dur="1" fill="hold">
                                          <p:stCondLst>
                                            <p:cond delay="0"/>
                                          </p:stCondLst>
                                        </p:cTn>
                                        <p:tgtEl>
                                          <p:spTgt spid="2333705"/>
                                        </p:tgtEl>
                                        <p:attrNameLst>
                                          <p:attrName>style.visibility</p:attrName>
                                        </p:attrNameLst>
                                      </p:cBhvr>
                                      <p:to>
                                        <p:strVal val="visible"/>
                                      </p:to>
                                    </p:set>
                                    <p:anim calcmode="lin" valueType="num">
                                      <p:cBhvr additive="base">
                                        <p:cTn id="22" dur="500" fill="hold"/>
                                        <p:tgtEl>
                                          <p:spTgt spid="2333705"/>
                                        </p:tgtEl>
                                        <p:attrNameLst>
                                          <p:attrName>ppt_x</p:attrName>
                                        </p:attrNameLst>
                                      </p:cBhvr>
                                      <p:tavLst>
                                        <p:tav tm="0">
                                          <p:val>
                                            <p:strVal val="0-#ppt_w/2"/>
                                          </p:val>
                                        </p:tav>
                                        <p:tav tm="100000">
                                          <p:val>
                                            <p:strVal val="#ppt_x"/>
                                          </p:val>
                                        </p:tav>
                                      </p:tavLst>
                                    </p:anim>
                                    <p:anim calcmode="lin" valueType="num">
                                      <p:cBhvr additive="base">
                                        <p:cTn id="23" dur="500" fill="hold"/>
                                        <p:tgtEl>
                                          <p:spTgt spid="233370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2333701">
                                            <p:txEl>
                                              <p:charRg st="0" end="25"/>
                                            </p:txEl>
                                          </p:spTgt>
                                        </p:tgtEl>
                                        <p:attrNameLst>
                                          <p:attrName>style.visibility</p:attrName>
                                        </p:attrNameLst>
                                      </p:cBhvr>
                                      <p:to>
                                        <p:strVal val="visible"/>
                                      </p:to>
                                    </p:set>
                                    <p:anim calcmode="lin" valueType="num">
                                      <p:cBhvr additive="base">
                                        <p:cTn id="26" dur="500" fill="hold"/>
                                        <p:tgtEl>
                                          <p:spTgt spid="2333701">
                                            <p:txEl>
                                              <p:charRg st="0" end="25"/>
                                            </p:txEl>
                                          </p:spTgt>
                                        </p:tgtEl>
                                        <p:attrNameLst>
                                          <p:attrName>ppt_x</p:attrName>
                                        </p:attrNameLst>
                                      </p:cBhvr>
                                      <p:tavLst>
                                        <p:tav tm="0">
                                          <p:val>
                                            <p:strVal val="1+#ppt_w/2"/>
                                          </p:val>
                                        </p:tav>
                                        <p:tav tm="100000">
                                          <p:val>
                                            <p:strVal val="#ppt_x"/>
                                          </p:val>
                                        </p:tav>
                                      </p:tavLst>
                                    </p:anim>
                                    <p:anim calcmode="lin" valueType="num">
                                      <p:cBhvr additive="base">
                                        <p:cTn id="27" dur="500" fill="hold"/>
                                        <p:tgtEl>
                                          <p:spTgt spid="2333701">
                                            <p:txEl>
                                              <p:charRg st="0" end="25"/>
                                            </p:txEl>
                                          </p:spTgt>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33703"/>
                                        </p:tgtEl>
                                        <p:attrNameLst>
                                          <p:attrName>style.visibility</p:attrName>
                                        </p:attrNameLst>
                                      </p:cBhvr>
                                      <p:to>
                                        <p:strVal val="visible"/>
                                      </p:to>
                                    </p:set>
                                    <p:animEffect transition="in" filter="dissolve">
                                      <p:cBhvr>
                                        <p:cTn id="32" dur="500"/>
                                        <p:tgtEl>
                                          <p:spTgt spid="233370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33702"/>
                                        </p:tgtEl>
                                        <p:attrNameLst>
                                          <p:attrName>style.visibility</p:attrName>
                                        </p:attrNameLst>
                                      </p:cBhvr>
                                      <p:to>
                                        <p:strVal val="visible"/>
                                      </p:to>
                                    </p:set>
                                    <p:animEffect transition="in" filter="dissolve">
                                      <p:cBhvr>
                                        <p:cTn id="37" dur="500"/>
                                        <p:tgtEl>
                                          <p:spTgt spid="23337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699" grpId="0" bldLvl="0" animBg="1"/>
      <p:bldP spid="2333700" grpId="0"/>
      <p:bldP spid="2333701" grpId="0" build="p"/>
      <p:bldP spid="2333702" grpId="0" bldLvl="0" animBg="1"/>
      <p:bldP spid="2333703" grpId="0" bldLvl="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3699" name="Text Box 3"/>
          <p:cNvSpPr txBox="1"/>
          <p:nvPr/>
        </p:nvSpPr>
        <p:spPr>
          <a:xfrm>
            <a:off x="611188" y="1012825"/>
            <a:ext cx="8010525" cy="1433513"/>
          </a:xfrm>
          <a:prstGeom prst="rect">
            <a:avLst/>
          </a:prstGeom>
          <a:solidFill>
            <a:srgbClr val="99CCFF"/>
          </a:solidFill>
          <a:ln w="9525">
            <a:noFill/>
          </a:ln>
        </p:spPr>
        <p:txBody>
          <a:bodyPr>
            <a:spAutoFit/>
          </a:bodyPr>
          <a:p>
            <a:pPr algn="l" eaLnBrk="1" hangingPunct="1"/>
            <a:r>
              <a:rPr lang="zh-CN" altLang="en-US" sz="2800" b="1" dirty="0">
                <a:solidFill>
                  <a:srgbClr val="333399"/>
                </a:solidFill>
                <a:latin typeface="黑体" panose="02010609060101010101" pitchFamily="49" charset="-122"/>
                <a:ea typeface="黑体" panose="02010609060101010101" pitchFamily="49" charset="-122"/>
              </a:rPr>
              <a:t>在一定条件之下，一个连续时间信号完全可以用该信号在等时间间隔点上的值或样本来表示，并且可以用这些样本值把该信号全部恢复出来。</a:t>
            </a:r>
            <a:r>
              <a:rPr lang="zh-CN" altLang="en-US" sz="3200" b="1" dirty="0">
                <a:solidFill>
                  <a:srgbClr val="333399"/>
                </a:solidFill>
                <a:latin typeface="楷体_GB2312" pitchFamily="49" charset="-122"/>
              </a:rPr>
              <a:t> </a:t>
            </a:r>
            <a:endParaRPr lang="zh-CN" altLang="en-US" sz="3200" b="1" dirty="0">
              <a:solidFill>
                <a:srgbClr val="333399"/>
              </a:solidFill>
              <a:latin typeface="楷体_GB2312" pitchFamily="49" charset="-122"/>
            </a:endParaRPr>
          </a:p>
        </p:txBody>
      </p:sp>
      <p:sp>
        <p:nvSpPr>
          <p:cNvPr id="2333701" name="Text Box 5"/>
          <p:cNvSpPr txBox="1"/>
          <p:nvPr/>
        </p:nvSpPr>
        <p:spPr>
          <a:xfrm>
            <a:off x="1150938" y="2565400"/>
            <a:ext cx="7632700" cy="519113"/>
          </a:xfrm>
          <a:prstGeom prst="rect">
            <a:avLst/>
          </a:prstGeom>
          <a:noFill/>
          <a:ln w="9525">
            <a:noFill/>
          </a:ln>
        </p:spPr>
        <p:txBody>
          <a:bodyPr>
            <a:spAutoFit/>
          </a:bodyPr>
          <a:p>
            <a:pPr algn="l" eaLnBrk="1" hangingPunct="1">
              <a:buNone/>
            </a:pPr>
            <a:r>
              <a:rPr lang="zh-CN" altLang="en-US" sz="2800" b="1" dirty="0">
                <a:solidFill>
                  <a:schemeClr val="tx1"/>
                </a:solidFill>
                <a:latin typeface="Times New Roman" panose="02020603050405020304" pitchFamily="18" charset="0"/>
                <a:ea typeface="黑体" panose="02010609060101010101" pitchFamily="49" charset="-122"/>
              </a:rPr>
              <a:t>电影</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33703" name="Text Box 7"/>
          <p:cNvSpPr txBox="1"/>
          <p:nvPr/>
        </p:nvSpPr>
        <p:spPr>
          <a:xfrm>
            <a:off x="611188" y="3141663"/>
            <a:ext cx="8010525" cy="1196975"/>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400" b="1" dirty="0">
                <a:solidFill>
                  <a:srgbClr val="3333FF"/>
                </a:solidFill>
                <a:latin typeface="黑体" panose="02010609060101010101" pitchFamily="49" charset="-122"/>
                <a:ea typeface="黑体" panose="02010609060101010101" pitchFamily="49" charset="-122"/>
              </a:rPr>
              <a:t>由一组按时序的单个瞬时画面（帧）组成，每一帧代表一个样本，当以足够快的速度来看这些时序样本时，就会感觉到是原来连续活动景象的重现。</a:t>
            </a:r>
            <a:endParaRPr lang="zh-CN" altLang="en-US" sz="2400" b="1" dirty="0">
              <a:solidFill>
                <a:srgbClr val="3333FF"/>
              </a:solidFill>
              <a:latin typeface="黑体" panose="02010609060101010101" pitchFamily="49" charset="-122"/>
              <a:ea typeface="黑体" panose="02010609060101010101" pitchFamily="49" charset="-122"/>
            </a:endParaRPr>
          </a:p>
        </p:txBody>
      </p:sp>
      <p:pic>
        <p:nvPicPr>
          <p:cNvPr id="2333705" name="Picture 9" descr="kugel_blau"/>
          <p:cNvPicPr>
            <a:picLocks noChangeAspect="1"/>
          </p:cNvPicPr>
          <p:nvPr/>
        </p:nvPicPr>
        <p:blipFill>
          <a:blip r:embed="rId1"/>
          <a:stretch>
            <a:fillRect/>
          </a:stretch>
        </p:blipFill>
        <p:spPr>
          <a:xfrm>
            <a:off x="719138" y="2708275"/>
            <a:ext cx="457200" cy="315913"/>
          </a:xfrm>
          <a:prstGeom prst="rect">
            <a:avLst/>
          </a:prstGeom>
          <a:noFill/>
          <a:ln w="9525">
            <a:noFill/>
          </a:ln>
        </p:spPr>
      </p:pic>
      <p:sp>
        <p:nvSpPr>
          <p:cNvPr id="2333706" name="Text Box 1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33708" name="Text Box 12"/>
          <p:cNvSpPr txBox="1">
            <a:spLocks noChangeArrowheads="1"/>
          </p:cNvSpPr>
          <p:nvPr/>
        </p:nvSpPr>
        <p:spPr bwMode="auto">
          <a:xfrm>
            <a:off x="2376488" y="141288"/>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 name="Text Box 5"/>
          <p:cNvSpPr txBox="1"/>
          <p:nvPr/>
        </p:nvSpPr>
        <p:spPr>
          <a:xfrm>
            <a:off x="1150938" y="4473575"/>
            <a:ext cx="7632700" cy="519113"/>
          </a:xfrm>
          <a:prstGeom prst="rect">
            <a:avLst/>
          </a:prstGeom>
          <a:noFill/>
          <a:ln w="9525">
            <a:noFill/>
          </a:ln>
        </p:spPr>
        <p:txBody>
          <a:bodyPr>
            <a:spAutoFit/>
          </a:bodyPr>
          <a:p>
            <a:pPr algn="l" eaLnBrk="1" hangingPunct="1">
              <a:buNone/>
            </a:pPr>
            <a:r>
              <a:rPr lang="zh-CN" altLang="en-US" sz="2800" b="1" dirty="0">
                <a:solidFill>
                  <a:schemeClr val="tx1"/>
                </a:solidFill>
                <a:latin typeface="Times New Roman" panose="02020603050405020304" pitchFamily="18" charset="0"/>
                <a:ea typeface="黑体" panose="02010609060101010101" pitchFamily="49" charset="-122"/>
              </a:rPr>
              <a:t>数码照片</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3" name="Text Box 7"/>
          <p:cNvSpPr txBox="1"/>
          <p:nvPr/>
        </p:nvSpPr>
        <p:spPr>
          <a:xfrm>
            <a:off x="611188" y="5049838"/>
            <a:ext cx="8010525" cy="1196975"/>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400" b="1" dirty="0">
                <a:solidFill>
                  <a:srgbClr val="3333FF"/>
                </a:solidFill>
                <a:latin typeface="黑体" panose="02010609060101010101" pitchFamily="49" charset="-122"/>
                <a:ea typeface="黑体" panose="02010609060101010101" pitchFamily="49" charset="-122"/>
              </a:rPr>
              <a:t>由若干像素点组成，每一点对应于空间连续图像的一个采样点，当这些样点在空间距离上足够靠近时，这张照片看起来在空间上是连续的。</a:t>
            </a:r>
            <a:endParaRPr lang="zh-CN" altLang="en-US" sz="2400" b="1" dirty="0">
              <a:solidFill>
                <a:srgbClr val="3333FF"/>
              </a:solidFill>
              <a:latin typeface="黑体" panose="02010609060101010101" pitchFamily="49" charset="-122"/>
              <a:ea typeface="黑体" panose="02010609060101010101" pitchFamily="49" charset="-122"/>
            </a:endParaRPr>
          </a:p>
        </p:txBody>
      </p:sp>
      <p:pic>
        <p:nvPicPr>
          <p:cNvPr id="4" name="Picture 9" descr="kugel_blau"/>
          <p:cNvPicPr>
            <a:picLocks noChangeAspect="1"/>
          </p:cNvPicPr>
          <p:nvPr/>
        </p:nvPicPr>
        <p:blipFill>
          <a:blip r:embed="rId1"/>
          <a:stretch>
            <a:fillRect/>
          </a:stretch>
        </p:blipFill>
        <p:spPr>
          <a:xfrm>
            <a:off x="719138" y="4616450"/>
            <a:ext cx="457200" cy="315913"/>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3699"/>
                                        </p:tgtEl>
                                        <p:attrNameLst>
                                          <p:attrName>style.visibility</p:attrName>
                                        </p:attrNameLst>
                                      </p:cBhvr>
                                      <p:to>
                                        <p:strVal val="visible"/>
                                      </p:to>
                                    </p:set>
                                    <p:animEffect transition="in" filter="dissolve">
                                      <p:cBhvr>
                                        <p:cTn id="7" dur="500"/>
                                        <p:tgtEl>
                                          <p:spTgt spid="2333699"/>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333705"/>
                                        </p:tgtEl>
                                        <p:attrNameLst>
                                          <p:attrName>style.visibility</p:attrName>
                                        </p:attrNameLst>
                                      </p:cBhvr>
                                      <p:to>
                                        <p:strVal val="visible"/>
                                      </p:to>
                                    </p:set>
                                    <p:anim calcmode="lin" valueType="num">
                                      <p:cBhvr additive="base">
                                        <p:cTn id="12" dur="500" fill="hold"/>
                                        <p:tgtEl>
                                          <p:spTgt spid="2333705"/>
                                        </p:tgtEl>
                                        <p:attrNameLst>
                                          <p:attrName>ppt_x</p:attrName>
                                        </p:attrNameLst>
                                      </p:cBhvr>
                                      <p:tavLst>
                                        <p:tav tm="0">
                                          <p:val>
                                            <p:strVal val="0-#ppt_w/2"/>
                                          </p:val>
                                        </p:tav>
                                        <p:tav tm="100000">
                                          <p:val>
                                            <p:strVal val="#ppt_x"/>
                                          </p:val>
                                        </p:tav>
                                      </p:tavLst>
                                    </p:anim>
                                    <p:anim calcmode="lin" valueType="num">
                                      <p:cBhvr additive="base">
                                        <p:cTn id="13" dur="500" fill="hold"/>
                                        <p:tgtEl>
                                          <p:spTgt spid="2333705"/>
                                        </p:tgtEl>
                                        <p:attrNameLst>
                                          <p:attrName>ppt_y</p:attrName>
                                        </p:attrNameLst>
                                      </p:cBhvr>
                                      <p:tavLst>
                                        <p:tav tm="0">
                                          <p:val>
                                            <p:strVal val="#ppt_y"/>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333701">
                                            <p:txEl>
                                              <p:charRg st="0" end="3"/>
                                            </p:txEl>
                                          </p:spTgt>
                                        </p:tgtEl>
                                        <p:attrNameLst>
                                          <p:attrName>style.visibility</p:attrName>
                                        </p:attrNameLst>
                                      </p:cBhvr>
                                      <p:to>
                                        <p:strVal val="visible"/>
                                      </p:to>
                                    </p:set>
                                    <p:anim calcmode="lin" valueType="num">
                                      <p:cBhvr additive="base">
                                        <p:cTn id="16" dur="500" fill="hold"/>
                                        <p:tgtEl>
                                          <p:spTgt spid="2333701">
                                            <p:txEl>
                                              <p:charRg st="0" end="3"/>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2333701">
                                            <p:txEl>
                                              <p:charRg st="0" end="3"/>
                                            </p:txEl>
                                          </p:spTgt>
                                        </p:tgtEl>
                                        <p:attrNameLst>
                                          <p:attrName>ppt_y</p:attrName>
                                        </p:attrNameLst>
                                      </p:cBhvr>
                                      <p:tavLst>
                                        <p:tav tm="0">
                                          <p:val>
                                            <p:strVal val="#ppt_y"/>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33703"/>
                                        </p:tgtEl>
                                        <p:attrNameLst>
                                          <p:attrName>style.visibility</p:attrName>
                                        </p:attrNameLst>
                                      </p:cBhvr>
                                      <p:to>
                                        <p:strVal val="visible"/>
                                      </p:to>
                                    </p:set>
                                    <p:animEffect transition="in" filter="dissolve">
                                      <p:cBhvr>
                                        <p:cTn id="22" dur="500"/>
                                        <p:tgtEl>
                                          <p:spTgt spid="2333703"/>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0-#ppt_w/2"/>
                                          </p:val>
                                        </p:tav>
                                        <p:tav tm="100000">
                                          <p:val>
                                            <p:strVal val="#ppt_x"/>
                                          </p:val>
                                        </p:tav>
                                      </p:tavLst>
                                    </p:anim>
                                    <p:anim calcmode="lin" valueType="num">
                                      <p:cBhvr additive="base">
                                        <p:cTn id="28" dur="500" fill="hold"/>
                                        <p:tgtEl>
                                          <p:spTgt spid="4"/>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
                                            <p:txEl>
                                              <p:charRg st="0" end="5"/>
                                            </p:txEl>
                                          </p:spTgt>
                                        </p:tgtEl>
                                        <p:attrNameLst>
                                          <p:attrName>style.visibility</p:attrName>
                                        </p:attrNameLst>
                                      </p:cBhvr>
                                      <p:to>
                                        <p:strVal val="visible"/>
                                      </p:to>
                                    </p:set>
                                    <p:anim calcmode="lin" valueType="num">
                                      <p:cBhvr additive="base">
                                        <p:cTn id="31" dur="500" fill="hold"/>
                                        <p:tgtEl>
                                          <p:spTgt spid="2">
                                            <p:txEl>
                                              <p:charRg st="0" end="5"/>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
                                            <p:txEl>
                                              <p:charRg st="0" end="5"/>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dissolve">
                                      <p:cBhvr>
                                        <p:cTn id="3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699" grpId="0" bldLvl="0" animBg="1"/>
      <p:bldP spid="2333701" grpId="0" build="p"/>
      <p:bldP spid="2333703" grpId="0" bldLvl="0" animBg="1"/>
      <p:bldP spid="2" grpId="0" build="p"/>
      <p:bldP spid="3" grpId="0" bldLvl="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10242" name="Object 3092"/>
          <p:cNvGraphicFramePr>
            <a:graphicFrameLocks noChangeAspect="1"/>
          </p:cNvGraphicFramePr>
          <p:nvPr/>
        </p:nvGraphicFramePr>
        <p:xfrm>
          <a:off x="2735263" y="4452938"/>
          <a:ext cx="4471987" cy="1676400"/>
        </p:xfrm>
        <a:graphic>
          <a:graphicData uri="http://schemas.openxmlformats.org/presentationml/2006/ole">
            <mc:AlternateContent xmlns:mc="http://schemas.openxmlformats.org/markup-compatibility/2006">
              <mc:Choice xmlns:v="urn:schemas-microsoft-com:vml" Requires="v">
                <p:oleObj spid="_x0000_s3079" name="" r:id="rId1" imgW="2095500" imgH="838200" progId="Equation.3">
                  <p:embed/>
                </p:oleObj>
              </mc:Choice>
              <mc:Fallback>
                <p:oleObj name="" r:id="rId1" imgW="2095500" imgH="838200" progId="Equation.3">
                  <p:embed/>
                  <p:pic>
                    <p:nvPicPr>
                      <p:cNvPr id="0" name="图片 3078"/>
                      <p:cNvPicPr/>
                      <p:nvPr/>
                    </p:nvPicPr>
                    <p:blipFill>
                      <a:blip r:embed="rId2"/>
                      <a:stretch>
                        <a:fillRect/>
                      </a:stretch>
                    </p:blipFill>
                    <p:spPr>
                      <a:xfrm>
                        <a:off x="2735263" y="4452938"/>
                        <a:ext cx="4471987" cy="1676400"/>
                      </a:xfrm>
                      <a:prstGeom prst="rect">
                        <a:avLst/>
                      </a:prstGeom>
                      <a:noFill/>
                      <a:ln w="38100">
                        <a:noFill/>
                        <a:miter/>
                      </a:ln>
                    </p:spPr>
                  </p:pic>
                </p:oleObj>
              </mc:Fallback>
            </mc:AlternateContent>
          </a:graphicData>
        </a:graphic>
      </p:graphicFrame>
      <p:sp>
        <p:nvSpPr>
          <p:cNvPr id="2251785" name="Text Box 3081"/>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1787" name="Text Box 3083"/>
          <p:cNvSpPr txBox="1"/>
          <p:nvPr/>
        </p:nvSpPr>
        <p:spPr>
          <a:xfrm>
            <a:off x="358775" y="944563"/>
            <a:ext cx="63912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2.3.1 </a:t>
            </a:r>
            <a:r>
              <a:rPr lang="zh-CN" altLang="en-US" sz="3200" b="1" dirty="0">
                <a:solidFill>
                  <a:srgbClr val="333399"/>
                </a:solidFill>
                <a:latin typeface="楷体_GB2312" pitchFamily="49" charset="-122"/>
              </a:rPr>
              <a:t>采样定理一（</a:t>
            </a:r>
            <a:r>
              <a:rPr lang="en-US" altLang="zh-CN" sz="3200" b="1">
                <a:solidFill>
                  <a:srgbClr val="333399"/>
                </a:solidFill>
                <a:latin typeface="楷体_GB2312" pitchFamily="49" charset="-122"/>
              </a:rPr>
              <a:t>Shannon</a:t>
            </a:r>
            <a:r>
              <a:rPr lang="zh-CN" altLang="en-US" sz="3200" b="1" dirty="0">
                <a:solidFill>
                  <a:srgbClr val="333399"/>
                </a:solidFill>
                <a:latin typeface="楷体_GB2312" pitchFamily="49" charset="-122"/>
              </a:rPr>
              <a:t>定理）</a:t>
            </a:r>
            <a:endParaRPr lang="zh-CN" altLang="en-US" sz="3200" b="1" dirty="0">
              <a:solidFill>
                <a:srgbClr val="333399"/>
              </a:solidFill>
              <a:latin typeface="楷体_GB2312" pitchFamily="49" charset="-122"/>
            </a:endParaRPr>
          </a:p>
        </p:txBody>
      </p:sp>
      <p:sp>
        <p:nvSpPr>
          <p:cNvPr id="2251788" name="Text Box 3084"/>
          <p:cNvSpPr txBox="1"/>
          <p:nvPr/>
        </p:nvSpPr>
        <p:spPr>
          <a:xfrm>
            <a:off x="358775" y="1741488"/>
            <a:ext cx="8497888" cy="946150"/>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设有连续信号</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t</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，其频谱</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f</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，以采样周期</a:t>
            </a:r>
            <a:r>
              <a:rPr lang="en-US" altLang="zh-CN" sz="2800" b="1" i="1">
                <a:solidFill>
                  <a:srgbClr val="FF0000"/>
                </a:solidFill>
                <a:latin typeface="Times New Roman" panose="02020603050405020304" pitchFamily="18" charset="0"/>
                <a:ea typeface="宋体" panose="02010600030101010101" pitchFamily="2" charset="-122"/>
              </a:rPr>
              <a:t>T</a:t>
            </a:r>
            <a:r>
              <a:rPr lang="en-US" altLang="zh-CN" sz="2800" b="1" baseline="-25000">
                <a:solidFill>
                  <a:srgbClr val="FF0000"/>
                </a:solidFill>
                <a:latin typeface="Times New Roman" panose="02020603050405020304" pitchFamily="18" charset="0"/>
                <a:ea typeface="宋体" panose="02010600030101010101" pitchFamily="2" charset="-122"/>
              </a:rPr>
              <a:t>S</a:t>
            </a:r>
            <a:r>
              <a:rPr lang="zh-CN" altLang="en-US" sz="2800" b="1" dirty="0">
                <a:solidFill>
                  <a:schemeClr val="tx1"/>
                </a:solidFill>
                <a:latin typeface="Times New Roman" panose="02020603050405020304" pitchFamily="18" charset="0"/>
                <a:ea typeface="黑体" panose="02010609060101010101" pitchFamily="49" charset="-122"/>
              </a:rPr>
              <a:t>采得的信号为</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i="1" baseline="-25000" err="1">
                <a:solidFill>
                  <a:srgbClr val="FF0000"/>
                </a:solidFill>
                <a:latin typeface="Times New Roman" panose="02020603050405020304" pitchFamily="18" charset="0"/>
                <a:ea typeface="宋体" panose="02010600030101010101" pitchFamily="2" charset="-122"/>
              </a:rPr>
              <a:t>S</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nT</a:t>
            </a:r>
            <a:r>
              <a:rPr lang="en-US" altLang="zh-CN" sz="2800" b="1" baseline="-25000" err="1">
                <a:solidFill>
                  <a:srgbClr val="FF0000"/>
                </a:solidFill>
                <a:latin typeface="Times New Roman" panose="02020603050405020304" pitchFamily="18" charset="0"/>
                <a:ea typeface="宋体" panose="02010600030101010101" pitchFamily="2" charset="-122"/>
              </a:rPr>
              <a:t>S</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。如果频谱和采样周期满足下列条件：</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1789" name="Text Box 3085"/>
          <p:cNvSpPr txBox="1"/>
          <p:nvPr/>
        </p:nvSpPr>
        <p:spPr>
          <a:xfrm>
            <a:off x="358775" y="2767013"/>
            <a:ext cx="8208963" cy="946150"/>
          </a:xfrm>
          <a:prstGeom prst="rect">
            <a:avLst/>
          </a:prstGeom>
          <a:noFill/>
          <a:ln w="9525">
            <a:noFill/>
          </a:ln>
        </p:spPr>
        <p:txBody>
          <a:bodyPr>
            <a:spAutoFit/>
          </a:bodyPr>
          <a:p>
            <a:pPr marL="457200" indent="-457200" algn="l" eaLnBrk="1" hangingPunct="1">
              <a:buClr>
                <a:srgbClr val="FF0000"/>
              </a:buClr>
              <a:buAutoNum type="circleNumDbPlain"/>
            </a:pPr>
            <a:r>
              <a:rPr lang="zh-CN" altLang="en-US" sz="2800" b="1" dirty="0">
                <a:solidFill>
                  <a:schemeClr val="tx1"/>
                </a:solidFill>
                <a:latin typeface="Times New Roman" panose="02020603050405020304" pitchFamily="18" charset="0"/>
                <a:ea typeface="黑体" panose="02010609060101010101" pitchFamily="49" charset="-122"/>
              </a:rPr>
              <a:t>频谱</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为有限频谱，即</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t</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rgbClr val="FF0000"/>
                </a:solidFill>
                <a:latin typeface="Times New Roman" panose="02020603050405020304" pitchFamily="18" charset="0"/>
                <a:ea typeface="黑体" panose="02010609060101010101" pitchFamily="49" charset="-122"/>
              </a:rPr>
              <a:t>是一个带限信号，</a:t>
            </a:r>
            <a:r>
              <a:rPr lang="zh-CN" altLang="en-US" sz="2800" b="1" dirty="0">
                <a:solidFill>
                  <a:schemeClr val="tx1"/>
                </a:solidFill>
                <a:latin typeface="Times New Roman" panose="02020603050405020304" pitchFamily="18" charset="0"/>
                <a:ea typeface="宋体" panose="02010600030101010101" pitchFamily="2" charset="-122"/>
              </a:rPr>
              <a:t>在</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f </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i="1" baseline="-25000" err="1">
                <a:solidFill>
                  <a:schemeClr val="tx1"/>
                </a:solidFill>
                <a:latin typeface="Times New Roman" panose="02020603050405020304" pitchFamily="18" charset="0"/>
                <a:ea typeface="宋体" panose="02010600030101010101" pitchFamily="2" charset="-122"/>
              </a:rPr>
              <a:t>C</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i="1" err="1">
                <a:solidFill>
                  <a:schemeClr val="tx1"/>
                </a:solidFill>
                <a:latin typeface="Times New Roman" panose="02020603050405020304" pitchFamily="18" charset="0"/>
                <a:ea typeface="宋体" panose="02010600030101010101" pitchFamily="2" charset="-122"/>
              </a:rPr>
              <a:t>X(f</a:t>
            </a:r>
            <a:r>
              <a:rPr lang="en-US" altLang="zh-CN" sz="2800" b="1" i="1">
                <a:solidFill>
                  <a:schemeClr val="tx1"/>
                </a:solidFill>
                <a:latin typeface="Times New Roman" panose="02020603050405020304" pitchFamily="18" charset="0"/>
                <a:ea typeface="宋体" panose="02010600030101010101" pitchFamily="2" charset="-122"/>
              </a:rPr>
              <a:t>)</a:t>
            </a:r>
            <a:r>
              <a:rPr lang="en-US" altLang="zh-CN" sz="2800" b="1">
                <a:solidFill>
                  <a:schemeClr val="tx1"/>
                </a:solidFill>
                <a:latin typeface="Times New Roman" panose="02020603050405020304" pitchFamily="18" charset="0"/>
                <a:ea typeface="宋体" panose="02010600030101010101" pitchFamily="2" charset="-122"/>
              </a:rPr>
              <a:t> =0</a:t>
            </a:r>
            <a:r>
              <a:rPr lang="zh-CN" altLang="en-US" sz="2800" b="1" dirty="0">
                <a:solidFill>
                  <a:schemeClr val="tx1"/>
                </a:solidFill>
                <a:latin typeface="Times New Roman" panose="02020603050405020304" pitchFamily="18" charset="0"/>
                <a:ea typeface="宋体" panose="02010600030101010101" pitchFamily="2" charset="-122"/>
              </a:rPr>
              <a:t>；</a:t>
            </a:r>
            <a:endParaRPr lang="zh-CN" altLang="en-US" sz="2800" b="1" dirty="0">
              <a:solidFill>
                <a:schemeClr val="tx1"/>
              </a:solidFill>
              <a:latin typeface="Times New Roman" panose="02020603050405020304" pitchFamily="18" charset="0"/>
              <a:ea typeface="宋体" panose="02010600030101010101" pitchFamily="2" charset="-122"/>
            </a:endParaRPr>
          </a:p>
        </p:txBody>
      </p:sp>
      <p:sp>
        <p:nvSpPr>
          <p:cNvPr id="2251790" name="Text Box 3086"/>
          <p:cNvSpPr txBox="1"/>
          <p:nvPr/>
        </p:nvSpPr>
        <p:spPr>
          <a:xfrm>
            <a:off x="358775" y="3810000"/>
            <a:ext cx="2449513" cy="519113"/>
          </a:xfrm>
          <a:prstGeom prst="rect">
            <a:avLst/>
          </a:prstGeom>
          <a:noFill/>
          <a:ln w="9525">
            <a:noFill/>
          </a:ln>
        </p:spPr>
        <p:txBody>
          <a:bodyPr>
            <a:spAutoFit/>
          </a:bodyPr>
          <a:p>
            <a:pPr marL="457200" indent="-457200" algn="l" eaLnBrk="1" hangingPunct="1">
              <a:buClr>
                <a:srgbClr val="FF0000"/>
              </a:buClr>
            </a:pPr>
            <a:r>
              <a:rPr lang="en-US" altLang="zh-CN" sz="2800" b="1">
                <a:solidFill>
                  <a:srgbClr val="FF0000"/>
                </a:solidFill>
                <a:latin typeface="Times New Roman" panose="02020603050405020304" pitchFamily="18" charset="0"/>
                <a:ea typeface="黑体" panose="02010609060101010101" pitchFamily="49" charset="-122"/>
              </a:rPr>
              <a:t>②</a:t>
            </a:r>
            <a:r>
              <a:rPr lang="en-US" altLang="zh-CN" sz="2800" b="1">
                <a:solidFill>
                  <a:schemeClr val="tx1"/>
                </a:solidFill>
                <a:latin typeface="Times New Roman" panose="02020603050405020304" pitchFamily="18" charset="0"/>
                <a:ea typeface="黑体" panose="02010609060101010101" pitchFamily="49" charset="-122"/>
              </a:rPr>
              <a:t>  </a:t>
            </a:r>
            <a:endParaRPr lang="en-US" altLang="zh-CN" sz="2800" b="1">
              <a:solidFill>
                <a:schemeClr val="tx1"/>
              </a:solidFill>
              <a:latin typeface="Times New Roman" panose="02020603050405020304" pitchFamily="18" charset="0"/>
              <a:ea typeface="黑体" panose="02010609060101010101" pitchFamily="49" charset="-122"/>
            </a:endParaRPr>
          </a:p>
        </p:txBody>
      </p:sp>
      <p:graphicFrame>
        <p:nvGraphicFramePr>
          <p:cNvPr id="10248" name="Object 3087"/>
          <p:cNvGraphicFramePr>
            <a:graphicFrameLocks noChangeAspect="1"/>
          </p:cNvGraphicFramePr>
          <p:nvPr/>
        </p:nvGraphicFramePr>
        <p:xfrm>
          <a:off x="935038" y="3644900"/>
          <a:ext cx="1482725" cy="868363"/>
        </p:xfrm>
        <a:graphic>
          <a:graphicData uri="http://schemas.openxmlformats.org/presentationml/2006/ole">
            <mc:AlternateContent xmlns:mc="http://schemas.openxmlformats.org/markup-compatibility/2006">
              <mc:Choice xmlns:v="urn:schemas-microsoft-com:vml" Requires="v">
                <p:oleObj spid="_x0000_s3080" name="" r:id="rId3" imgW="596900" imgH="431800" progId="Equation.3">
                  <p:embed/>
                </p:oleObj>
              </mc:Choice>
              <mc:Fallback>
                <p:oleObj name="" r:id="rId3" imgW="596900" imgH="431800" progId="Equation.3">
                  <p:embed/>
                  <p:pic>
                    <p:nvPicPr>
                      <p:cNvPr id="0" name="图片 3079"/>
                      <p:cNvPicPr/>
                      <p:nvPr/>
                    </p:nvPicPr>
                    <p:blipFill>
                      <a:blip r:embed="rId4"/>
                      <a:stretch>
                        <a:fillRect/>
                      </a:stretch>
                    </p:blipFill>
                    <p:spPr>
                      <a:xfrm>
                        <a:off x="935038" y="3644900"/>
                        <a:ext cx="1482725" cy="868363"/>
                      </a:xfrm>
                      <a:prstGeom prst="rect">
                        <a:avLst/>
                      </a:prstGeom>
                      <a:noFill/>
                      <a:ln w="38100">
                        <a:noFill/>
                        <a:miter/>
                      </a:ln>
                    </p:spPr>
                  </p:pic>
                </p:oleObj>
              </mc:Fallback>
            </mc:AlternateContent>
          </a:graphicData>
        </a:graphic>
      </p:graphicFrame>
      <p:sp>
        <p:nvSpPr>
          <p:cNvPr id="2251793" name="Text Box 308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1795" name="Text Box 3091"/>
          <p:cNvSpPr txBox="1"/>
          <p:nvPr/>
        </p:nvSpPr>
        <p:spPr>
          <a:xfrm>
            <a:off x="395288" y="4602163"/>
            <a:ext cx="2203450" cy="519112"/>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则连续信号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1797" name="Text Box 3093"/>
          <p:cNvSpPr txBox="1"/>
          <p:nvPr/>
        </p:nvSpPr>
        <p:spPr>
          <a:xfrm>
            <a:off x="395288" y="5573713"/>
            <a:ext cx="2478087" cy="519112"/>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唯一确定。</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1798"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 name="Text Box 3091"/>
          <p:cNvSpPr txBox="1"/>
          <p:nvPr/>
        </p:nvSpPr>
        <p:spPr>
          <a:xfrm>
            <a:off x="2268538" y="3810000"/>
            <a:ext cx="6804025" cy="519113"/>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，即</a:t>
            </a:r>
            <a:r>
              <a:rPr lang="zh-CN" altLang="en-US" sz="2800" b="1" dirty="0">
                <a:solidFill>
                  <a:srgbClr val="FF0000"/>
                </a:solidFill>
                <a:latin typeface="Times New Roman" panose="02020603050405020304" pitchFamily="18" charset="0"/>
                <a:ea typeface="黑体" panose="02010609060101010101" pitchFamily="49" charset="-122"/>
              </a:rPr>
              <a:t>采样频率是信号最高频率的</a:t>
            </a:r>
            <a:r>
              <a:rPr lang="en-US" altLang="zh-CN" sz="2800" b="1">
                <a:solidFill>
                  <a:srgbClr val="FF0000"/>
                </a:solidFill>
                <a:latin typeface="Times New Roman" panose="02020603050405020304" pitchFamily="18" charset="0"/>
                <a:ea typeface="黑体" panose="02010609060101010101" pitchFamily="49" charset="-122"/>
              </a:rPr>
              <a:t>2</a:t>
            </a:r>
            <a:r>
              <a:rPr lang="zh-CN" altLang="en-US" sz="2800" b="1" dirty="0">
                <a:solidFill>
                  <a:srgbClr val="FF0000"/>
                </a:solidFill>
                <a:latin typeface="Times New Roman" panose="02020603050405020304" pitchFamily="18" charset="0"/>
                <a:ea typeface="黑体" panose="02010609060101010101" pitchFamily="49" charset="-122"/>
              </a:rPr>
              <a:t>倍以上，</a:t>
            </a:r>
            <a:endParaRPr lang="zh-CN" altLang="en-US" sz="2800" b="1" dirty="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1787"/>
                                        </p:tgtEl>
                                        <p:attrNameLst>
                                          <p:attrName>style.visibility</p:attrName>
                                        </p:attrNameLst>
                                      </p:cBhvr>
                                      <p:to>
                                        <p:strVal val="visible"/>
                                      </p:to>
                                    </p:set>
                                    <p:animEffect transition="in" filter="dissolve">
                                      <p:cBhvr>
                                        <p:cTn id="7" dur="500"/>
                                        <p:tgtEl>
                                          <p:spTgt spid="22517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1798"/>
                                        </p:tgtEl>
                                        <p:attrNameLst>
                                          <p:attrName>style.visibility</p:attrName>
                                        </p:attrNameLst>
                                      </p:cBhvr>
                                      <p:to>
                                        <p:strVal val="visible"/>
                                      </p:to>
                                    </p:set>
                                    <p:animEffect transition="in" filter="dissolve">
                                      <p:cBhvr>
                                        <p:cTn id="12" dur="500"/>
                                        <p:tgtEl>
                                          <p:spTgt spid="225179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51788">
                                            <p:txEl>
                                              <p:charRg st="0" end="57"/>
                                            </p:txEl>
                                          </p:spTgt>
                                        </p:tgtEl>
                                        <p:attrNameLst>
                                          <p:attrName>style.visibility</p:attrName>
                                        </p:attrNameLst>
                                      </p:cBhvr>
                                      <p:to>
                                        <p:strVal val="visible"/>
                                      </p:to>
                                    </p:set>
                                    <p:animEffect transition="in" filter="dissolve">
                                      <p:cBhvr>
                                        <p:cTn id="15" dur="500"/>
                                        <p:tgtEl>
                                          <p:spTgt spid="2251788">
                                            <p:txEl>
                                              <p:charRg st="0" end="57"/>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51789"/>
                                        </p:tgtEl>
                                        <p:attrNameLst>
                                          <p:attrName>style.visibility</p:attrName>
                                        </p:attrNameLst>
                                      </p:cBhvr>
                                      <p:to>
                                        <p:strVal val="visible"/>
                                      </p:to>
                                    </p:set>
                                    <p:animEffect transition="in" filter="dissolve">
                                      <p:cBhvr>
                                        <p:cTn id="20" dur="500"/>
                                        <p:tgtEl>
                                          <p:spTgt spid="22517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51790"/>
                                        </p:tgtEl>
                                        <p:attrNameLst>
                                          <p:attrName>style.visibility</p:attrName>
                                        </p:attrNameLst>
                                      </p:cBhvr>
                                      <p:to>
                                        <p:strVal val="visible"/>
                                      </p:to>
                                    </p:set>
                                    <p:animEffect transition="in" filter="dissolve">
                                      <p:cBhvr>
                                        <p:cTn id="25" dur="500"/>
                                        <p:tgtEl>
                                          <p:spTgt spid="2251790"/>
                                        </p:tgtEl>
                                      </p:cBhvr>
                                    </p:animEffect>
                                  </p:childTnLst>
                                </p:cTn>
                              </p:par>
                              <p:par>
                                <p:cTn id="26" presetID="9" presetClass="entr" presetSubtype="0" fill="hold" nodeType="withEffect">
                                  <p:stCondLst>
                                    <p:cond delay="0"/>
                                  </p:stCondLst>
                                  <p:childTnLst>
                                    <p:set>
                                      <p:cBhvr>
                                        <p:cTn id="27" dur="1" fill="hold">
                                          <p:stCondLst>
                                            <p:cond delay="0"/>
                                          </p:stCondLst>
                                        </p:cTn>
                                        <p:tgtEl>
                                          <p:spTgt spid="10248"/>
                                        </p:tgtEl>
                                        <p:attrNameLst>
                                          <p:attrName>style.visibility</p:attrName>
                                        </p:attrNameLst>
                                      </p:cBhvr>
                                      <p:to>
                                        <p:strVal val="visible"/>
                                      </p:to>
                                    </p:set>
                                    <p:animEffect transition="in" filter="dissolve">
                                      <p:cBhvr>
                                        <p:cTn id="28" dur="500"/>
                                        <p:tgtEl>
                                          <p:spTgt spid="10248"/>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251795"/>
                                        </p:tgtEl>
                                        <p:attrNameLst>
                                          <p:attrName>style.visibility</p:attrName>
                                        </p:attrNameLst>
                                      </p:cBhvr>
                                      <p:to>
                                        <p:strVal val="visible"/>
                                      </p:to>
                                    </p:set>
                                    <p:animEffect transition="in" filter="wipe(left)">
                                      <p:cBhvr>
                                        <p:cTn id="36" dur="500"/>
                                        <p:tgtEl>
                                          <p:spTgt spid="2251795"/>
                                        </p:tgtEl>
                                      </p:cBhvr>
                                    </p:animEffect>
                                  </p:childTnLst>
                                </p:cTn>
                              </p:par>
                            </p:childTnLst>
                          </p:cTn>
                        </p:par>
                        <p:par>
                          <p:cTn id="37" fill="hold">
                            <p:stCondLst>
                              <p:cond delay="500"/>
                            </p:stCondLst>
                            <p:childTnLst>
                              <p:par>
                                <p:cTn id="38" presetID="22" presetClass="entr" presetSubtype="8" fill="hold" nodeType="afterEffect">
                                  <p:stCondLst>
                                    <p:cond delay="0"/>
                                  </p:stCondLst>
                                  <p:childTnLst>
                                    <p:set>
                                      <p:cBhvr>
                                        <p:cTn id="39" dur="1" fill="hold">
                                          <p:stCondLst>
                                            <p:cond delay="0"/>
                                          </p:stCondLst>
                                        </p:cTn>
                                        <p:tgtEl>
                                          <p:spTgt spid="10242"/>
                                        </p:tgtEl>
                                        <p:attrNameLst>
                                          <p:attrName>style.visibility</p:attrName>
                                        </p:attrNameLst>
                                      </p:cBhvr>
                                      <p:to>
                                        <p:strVal val="visible"/>
                                      </p:to>
                                    </p:set>
                                    <p:animEffect transition="in" filter="wipe(left)">
                                      <p:cBhvr>
                                        <p:cTn id="40" dur="500"/>
                                        <p:tgtEl>
                                          <p:spTgt spid="10242"/>
                                        </p:tgtEl>
                                      </p:cBhvr>
                                    </p:animEffect>
                                  </p:childTnLst>
                                </p:cTn>
                              </p:par>
                            </p:childTnLst>
                          </p:cTn>
                        </p:par>
                        <p:par>
                          <p:cTn id="41" fill="hold">
                            <p:stCondLst>
                              <p:cond delay="1000"/>
                            </p:stCondLst>
                            <p:childTnLst>
                              <p:par>
                                <p:cTn id="42" presetID="22" presetClass="entr" presetSubtype="8" fill="hold" grpId="0" nodeType="afterEffect">
                                  <p:stCondLst>
                                    <p:cond delay="0"/>
                                  </p:stCondLst>
                                  <p:childTnLst>
                                    <p:set>
                                      <p:cBhvr>
                                        <p:cTn id="43" dur="1" fill="hold">
                                          <p:stCondLst>
                                            <p:cond delay="0"/>
                                          </p:stCondLst>
                                        </p:cTn>
                                        <p:tgtEl>
                                          <p:spTgt spid="2251797"/>
                                        </p:tgtEl>
                                        <p:attrNameLst>
                                          <p:attrName>style.visibility</p:attrName>
                                        </p:attrNameLst>
                                      </p:cBhvr>
                                      <p:to>
                                        <p:strVal val="visible"/>
                                      </p:to>
                                    </p:set>
                                    <p:animEffect transition="in" filter="wipe(left)">
                                      <p:cBhvr>
                                        <p:cTn id="44" dur="500"/>
                                        <p:tgtEl>
                                          <p:spTgt spid="22517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1787" grpId="0" bldLvl="0" animBg="1"/>
      <p:bldP spid="2251788" grpId="0" build="p"/>
      <p:bldP spid="2251789" grpId="0"/>
      <p:bldP spid="2251790" grpId="0"/>
      <p:bldP spid="2251795" grpId="0"/>
      <p:bldP spid="2251797" grpId="0"/>
      <p:bldP spid="2251798" grpId="0" bldLvl="0" animBg="1"/>
      <p:bldP spid="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835" name="Text Box 1035"/>
          <p:cNvSpPr txBox="1"/>
          <p:nvPr/>
        </p:nvSpPr>
        <p:spPr>
          <a:xfrm>
            <a:off x="487363" y="833438"/>
            <a:ext cx="3255962" cy="579437"/>
          </a:xfrm>
          <a:prstGeom prst="rect">
            <a:avLst/>
          </a:prstGeom>
          <a:solidFill>
            <a:srgbClr val="99CCFF"/>
          </a:solidFill>
          <a:ln w="9525">
            <a:noFill/>
          </a:ln>
        </p:spPr>
        <p:txBody>
          <a:bodyPr>
            <a:spAutoFit/>
          </a:bodyPr>
          <a:p>
            <a:pPr algn="l" eaLnBrk="1" hangingPunct="1"/>
            <a:r>
              <a:rPr lang="zh-CN" altLang="en-US" sz="3200" b="1" dirty="0">
                <a:solidFill>
                  <a:srgbClr val="333399"/>
                </a:solidFill>
                <a:latin typeface="楷体_GB2312" pitchFamily="49" charset="-122"/>
              </a:rPr>
              <a:t>采样定理一指出：</a:t>
            </a:r>
            <a:endParaRPr lang="zh-CN" altLang="en-US" sz="3200" b="1" dirty="0">
              <a:solidFill>
                <a:srgbClr val="333399"/>
              </a:solidFill>
              <a:latin typeface="楷体_GB2312" pitchFamily="49" charset="-122"/>
            </a:endParaRPr>
          </a:p>
        </p:txBody>
      </p:sp>
      <p:sp>
        <p:nvSpPr>
          <p:cNvPr id="2253836" name="Text Box 1036"/>
          <p:cNvSpPr txBox="1"/>
          <p:nvPr/>
        </p:nvSpPr>
        <p:spPr>
          <a:xfrm>
            <a:off x="487363" y="1592263"/>
            <a:ext cx="8045450" cy="138271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对一个具有有限频谱</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 的连续信号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 进行采样，当采样频率</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宋体" panose="02010600030101010101" pitchFamily="2" charset="-122"/>
              </a:rPr>
              <a:t>S</a:t>
            </a:r>
            <a:r>
              <a:rPr lang="en-US" altLang="zh-CN" sz="2800" b="1" baseline="-25000">
                <a:solidFill>
                  <a:srgbClr val="FF0000"/>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黑体" panose="02010609060101010101" pitchFamily="49" charset="-122"/>
              </a:rPr>
              <a:t>≥2 </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宋体" panose="02010600030101010101" pitchFamily="2" charset="-122"/>
              </a:rPr>
              <a:t>C</a:t>
            </a:r>
            <a:r>
              <a:rPr lang="zh-CN" altLang="en-US" sz="2800" b="1" dirty="0">
                <a:solidFill>
                  <a:schemeClr val="tx1"/>
                </a:solidFill>
                <a:latin typeface="Times New Roman" panose="02020603050405020304" pitchFamily="18" charset="0"/>
                <a:ea typeface="黑体" panose="02010609060101010101" pitchFamily="49" charset="-122"/>
              </a:rPr>
              <a:t>时，由采样信号 </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baseline="-25000" err="1">
                <a:solidFill>
                  <a:srgbClr val="FF0000"/>
                </a:solidFill>
                <a:latin typeface="Times New Roman" panose="02020603050405020304" pitchFamily="18" charset="0"/>
                <a:ea typeface="宋体" panose="02010600030101010101" pitchFamily="2" charset="-122"/>
              </a:rPr>
              <a:t>S</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nT</a:t>
            </a:r>
            <a:r>
              <a:rPr lang="en-US" altLang="zh-CN" sz="2800" b="1" baseline="-25000" err="1">
                <a:solidFill>
                  <a:srgbClr val="FF0000"/>
                </a:solidFill>
                <a:latin typeface="Times New Roman" panose="02020603050405020304" pitchFamily="18" charset="0"/>
                <a:ea typeface="宋体" panose="02010600030101010101" pitchFamily="2" charset="-122"/>
              </a:rPr>
              <a:t>S</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能无失真地恢复原信号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3837" name="Text Box 1037"/>
          <p:cNvSpPr txBox="1"/>
          <p:nvPr/>
        </p:nvSpPr>
        <p:spPr>
          <a:xfrm>
            <a:off x="487363" y="3209925"/>
            <a:ext cx="4805362" cy="579438"/>
          </a:xfrm>
          <a:prstGeom prst="rect">
            <a:avLst/>
          </a:prstGeom>
          <a:solidFill>
            <a:srgbClr val="99CCFF"/>
          </a:solidFill>
          <a:ln w="9525">
            <a:noFill/>
          </a:ln>
        </p:spPr>
        <p:txBody>
          <a:bodyPr>
            <a:spAutoFit/>
          </a:bodyPr>
          <a:p>
            <a:pPr algn="l" eaLnBrk="1" hangingPunct="1"/>
            <a:r>
              <a:rPr lang="zh-CN" altLang="en-US" sz="3200" b="1" dirty="0">
                <a:solidFill>
                  <a:srgbClr val="FF0000"/>
                </a:solidFill>
                <a:latin typeface="楷体_GB2312" pitchFamily="49" charset="-122"/>
              </a:rPr>
              <a:t>时域采样</a:t>
            </a:r>
            <a:r>
              <a:rPr lang="en-US" altLang="zh-CN" sz="3200" b="1">
                <a:solidFill>
                  <a:srgbClr val="FF0000"/>
                </a:solidFill>
                <a:latin typeface="楷体_GB2312" pitchFamily="49" charset="-122"/>
              </a:rPr>
              <a:t>——</a:t>
            </a:r>
            <a:r>
              <a:rPr lang="zh-CN" altLang="en-US" sz="3200" b="1" dirty="0">
                <a:solidFill>
                  <a:srgbClr val="FF0000"/>
                </a:solidFill>
                <a:latin typeface="楷体_GB2312" pitchFamily="49" charset="-122"/>
              </a:rPr>
              <a:t>频域周期化</a:t>
            </a:r>
            <a:endParaRPr lang="zh-CN" altLang="en-US" sz="3200" b="1" dirty="0">
              <a:solidFill>
                <a:srgbClr val="FF0000"/>
              </a:solidFill>
              <a:latin typeface="楷体_GB2312" pitchFamily="49" charset="-122"/>
            </a:endParaRPr>
          </a:p>
        </p:txBody>
      </p:sp>
      <p:sp>
        <p:nvSpPr>
          <p:cNvPr id="11270" name="Text Box 1039"/>
          <p:cNvSpPr txBox="1"/>
          <p:nvPr/>
        </p:nvSpPr>
        <p:spPr>
          <a:xfrm>
            <a:off x="487363" y="3933825"/>
            <a:ext cx="8045450" cy="2227263"/>
          </a:xfrm>
          <a:prstGeom prst="rect">
            <a:avLst/>
          </a:prstGeom>
          <a:noFill/>
          <a:ln w="9525">
            <a:noFill/>
          </a:ln>
        </p:spPr>
        <p:txBody>
          <a:bodyPr>
            <a:spAutoFit/>
          </a:bodyPr>
          <a:p>
            <a:pPr algn="l" eaLnBrk="1" hangingPunct="1"/>
            <a:r>
              <a:rPr lang="en-US" altLang="zh-CN" sz="2800" b="1">
                <a:solidFill>
                  <a:srgbClr val="3333CC"/>
                </a:solidFill>
                <a:latin typeface="黑体" panose="02010609060101010101" pitchFamily="49" charset="-122"/>
                <a:ea typeface="黑体" panose="02010609060101010101" pitchFamily="49" charset="-122"/>
              </a:rPr>
              <a:t>1.</a:t>
            </a:r>
            <a:r>
              <a:rPr lang="zh-CN" altLang="en-US" sz="2800" b="1" dirty="0">
                <a:solidFill>
                  <a:srgbClr val="3333CC"/>
                </a:solidFill>
                <a:latin typeface="黑体" panose="02010609060101010101" pitchFamily="49" charset="-122"/>
                <a:ea typeface="黑体" panose="02010609060101010101" pitchFamily="49" charset="-122"/>
              </a:rPr>
              <a:t>时域采样是用一个冲激串去乘模拟输入信号。</a:t>
            </a:r>
            <a:endParaRPr lang="zh-CN" altLang="en-US" sz="2800" b="1" dirty="0">
              <a:solidFill>
                <a:srgbClr val="3333CC"/>
              </a:solidFill>
              <a:latin typeface="黑体" panose="02010609060101010101" pitchFamily="49" charset="-122"/>
              <a:ea typeface="黑体" panose="02010609060101010101" pitchFamily="49" charset="-122"/>
            </a:endParaRPr>
          </a:p>
          <a:p>
            <a:pPr algn="l" eaLnBrk="1" hangingPunct="1"/>
            <a:r>
              <a:rPr lang="en-US" altLang="zh-CN" sz="2800" b="1">
                <a:solidFill>
                  <a:srgbClr val="3333CC"/>
                </a:solidFill>
                <a:latin typeface="黑体" panose="02010609060101010101" pitchFamily="49" charset="-122"/>
                <a:ea typeface="黑体" panose="02010609060101010101" pitchFamily="49" charset="-122"/>
              </a:rPr>
              <a:t>2.</a:t>
            </a:r>
            <a:r>
              <a:rPr lang="zh-CN" altLang="en-US" sz="2800" b="1" dirty="0">
                <a:solidFill>
                  <a:srgbClr val="3333CC"/>
                </a:solidFill>
                <a:latin typeface="黑体" panose="02010609060101010101" pitchFamily="49" charset="-122"/>
                <a:ea typeface="黑体" panose="02010609060101010101" pitchFamily="49" charset="-122"/>
              </a:rPr>
              <a:t>模拟信号带限，所以谱是一个有限谱；</a:t>
            </a:r>
            <a:endParaRPr lang="zh-CN" altLang="en-US" sz="2800" b="1" dirty="0">
              <a:solidFill>
                <a:srgbClr val="3333CC"/>
              </a:solidFill>
              <a:latin typeface="黑体" panose="02010609060101010101" pitchFamily="49" charset="-122"/>
              <a:ea typeface="黑体" panose="02010609060101010101" pitchFamily="49" charset="-122"/>
            </a:endParaRPr>
          </a:p>
          <a:p>
            <a:pPr algn="l" eaLnBrk="1" hangingPunct="1"/>
            <a:r>
              <a:rPr lang="en-US" altLang="zh-CN" sz="2800" b="1">
                <a:solidFill>
                  <a:srgbClr val="3333CC"/>
                </a:solidFill>
                <a:latin typeface="黑体" panose="02010609060101010101" pitchFamily="49" charset="-122"/>
                <a:ea typeface="黑体" panose="02010609060101010101" pitchFamily="49" charset="-122"/>
              </a:rPr>
              <a:t>3.</a:t>
            </a:r>
            <a:r>
              <a:rPr lang="zh-CN" altLang="en-US" sz="2800" b="1" dirty="0">
                <a:solidFill>
                  <a:srgbClr val="3333CC"/>
                </a:solidFill>
                <a:latin typeface="黑体" panose="02010609060101010101" pitchFamily="49" charset="-122"/>
                <a:ea typeface="黑体" panose="02010609060101010101" pitchFamily="49" charset="-122"/>
              </a:rPr>
              <a:t>冲激串的谱是另外一个冲激串（间隔不同：时域间隔</a:t>
            </a:r>
            <a:r>
              <a:rPr lang="en-US" altLang="zh-CN" sz="2800" b="1">
                <a:solidFill>
                  <a:srgbClr val="3333CC"/>
                </a:solidFill>
                <a:latin typeface="黑体" panose="02010609060101010101" pitchFamily="49" charset="-122"/>
                <a:ea typeface="黑体" panose="02010609060101010101" pitchFamily="49" charset="-122"/>
              </a:rPr>
              <a:t>T</a:t>
            </a:r>
            <a:r>
              <a:rPr lang="zh-CN" altLang="en-US" sz="2800" b="1" dirty="0">
                <a:solidFill>
                  <a:srgbClr val="3333CC"/>
                </a:solidFill>
                <a:latin typeface="黑体" panose="02010609060101010101" pitchFamily="49" charset="-122"/>
                <a:ea typeface="黑体" panose="02010609060101010101" pitchFamily="49" charset="-122"/>
              </a:rPr>
              <a:t>，频域间隔</a:t>
            </a:r>
            <a:r>
              <a:rPr lang="en-US" altLang="zh-CN" sz="2800" b="1">
                <a:solidFill>
                  <a:srgbClr val="3333CC"/>
                </a:solidFill>
                <a:latin typeface="黑体" panose="02010609060101010101" pitchFamily="49" charset="-122"/>
                <a:ea typeface="黑体" panose="02010609060101010101" pitchFamily="49" charset="-122"/>
              </a:rPr>
              <a:t>1/T</a:t>
            </a:r>
            <a:r>
              <a:rPr lang="zh-CN" altLang="en-US" sz="2800" b="1" dirty="0">
                <a:solidFill>
                  <a:srgbClr val="3333CC"/>
                </a:solidFill>
                <a:latin typeface="黑体" panose="02010609060101010101" pitchFamily="49" charset="-122"/>
                <a:ea typeface="黑体" panose="02010609060101010101" pitchFamily="49" charset="-122"/>
              </a:rPr>
              <a:t>）；</a:t>
            </a:r>
            <a:endParaRPr lang="zh-CN" altLang="en-US" sz="2800" b="1" dirty="0">
              <a:solidFill>
                <a:srgbClr val="3333CC"/>
              </a:solidFill>
              <a:latin typeface="黑体" panose="02010609060101010101" pitchFamily="49" charset="-122"/>
              <a:ea typeface="黑体" panose="02010609060101010101" pitchFamily="49" charset="-122"/>
            </a:endParaRPr>
          </a:p>
          <a:p>
            <a:pPr algn="l" eaLnBrk="1" hangingPunct="1"/>
            <a:r>
              <a:rPr lang="en-US" altLang="zh-CN" sz="2800" b="1">
                <a:solidFill>
                  <a:srgbClr val="3333CC"/>
                </a:solidFill>
                <a:latin typeface="黑体" panose="02010609060101010101" pitchFamily="49" charset="-122"/>
                <a:ea typeface="黑体" panose="02010609060101010101" pitchFamily="49" charset="-122"/>
              </a:rPr>
              <a:t>4.</a:t>
            </a:r>
            <a:r>
              <a:rPr lang="zh-CN" altLang="en-US" sz="2800" b="1" dirty="0">
                <a:solidFill>
                  <a:srgbClr val="FF0000"/>
                </a:solidFill>
                <a:latin typeface="黑体" panose="02010609060101010101" pitchFamily="49" charset="-122"/>
                <a:ea typeface="黑体" panose="02010609060101010101" pitchFamily="49" charset="-122"/>
              </a:rPr>
              <a:t>时域相乘，频域相卷</a:t>
            </a:r>
            <a:r>
              <a:rPr lang="zh-CN" altLang="en-US" sz="2800" b="1" dirty="0">
                <a:solidFill>
                  <a:srgbClr val="3333CC"/>
                </a:solidFill>
                <a:latin typeface="黑体" panose="02010609060101010101" pitchFamily="49" charset="-122"/>
                <a:ea typeface="黑体" panose="02010609060101010101" pitchFamily="49" charset="-122"/>
              </a:rPr>
              <a:t>，结果周期延拓、信号搬移。</a:t>
            </a:r>
            <a:endParaRPr lang="zh-CN" altLang="en-US" sz="2800" b="1" dirty="0">
              <a:solidFill>
                <a:srgbClr val="3333CC"/>
              </a:solidFill>
              <a:latin typeface="黑体" panose="02010609060101010101" pitchFamily="49" charset="-122"/>
              <a:ea typeface="黑体" panose="02010609060101010101" pitchFamily="49" charset="-122"/>
            </a:endParaRPr>
          </a:p>
        </p:txBody>
      </p:sp>
      <p:sp>
        <p:nvSpPr>
          <p:cNvPr id="2253841" name="Text Box 104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3842" name="Text Box 1042"/>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3835"/>
                                        </p:tgtEl>
                                        <p:attrNameLst>
                                          <p:attrName>style.visibility</p:attrName>
                                        </p:attrNameLst>
                                      </p:cBhvr>
                                      <p:to>
                                        <p:strVal val="visible"/>
                                      </p:to>
                                    </p:set>
                                    <p:animEffect transition="in" filter="dissolve">
                                      <p:cBhvr>
                                        <p:cTn id="7" dur="500"/>
                                        <p:tgtEl>
                                          <p:spTgt spid="225383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3836"/>
                                        </p:tgtEl>
                                        <p:attrNameLst>
                                          <p:attrName>style.visibility</p:attrName>
                                        </p:attrNameLst>
                                      </p:cBhvr>
                                      <p:to>
                                        <p:strVal val="visible"/>
                                      </p:to>
                                    </p:set>
                                    <p:animEffect transition="in" filter="dissolve">
                                      <p:cBhvr>
                                        <p:cTn id="12" dur="500"/>
                                        <p:tgtEl>
                                          <p:spTgt spid="225383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3837"/>
                                        </p:tgtEl>
                                        <p:attrNameLst>
                                          <p:attrName>style.visibility</p:attrName>
                                        </p:attrNameLst>
                                      </p:cBhvr>
                                      <p:to>
                                        <p:strVal val="visible"/>
                                      </p:to>
                                    </p:set>
                                    <p:animEffect transition="in" filter="dissolve">
                                      <p:cBhvr>
                                        <p:cTn id="17" dur="500"/>
                                        <p:tgtEl>
                                          <p:spTgt spid="225383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270">
                                            <p:txEl>
                                              <p:charRg st="0" end="23"/>
                                            </p:txEl>
                                          </p:spTgt>
                                        </p:tgtEl>
                                        <p:attrNameLst>
                                          <p:attrName>style.visibility</p:attrName>
                                        </p:attrNameLst>
                                      </p:cBhvr>
                                      <p:to>
                                        <p:strVal val="visible"/>
                                      </p:to>
                                    </p:set>
                                    <p:animEffect transition="in" filter="dissolve">
                                      <p:cBhvr>
                                        <p:cTn id="22" dur="500"/>
                                        <p:tgtEl>
                                          <p:spTgt spid="11270">
                                            <p:txEl>
                                              <p:charRg st="0" end="2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1270">
                                            <p:txEl>
                                              <p:charRg st="23" end="43"/>
                                            </p:txEl>
                                          </p:spTgt>
                                        </p:tgtEl>
                                        <p:attrNameLst>
                                          <p:attrName>style.visibility</p:attrName>
                                        </p:attrNameLst>
                                      </p:cBhvr>
                                      <p:to>
                                        <p:strVal val="visible"/>
                                      </p:to>
                                    </p:set>
                                    <p:animEffect transition="in" filter="dissolve">
                                      <p:cBhvr>
                                        <p:cTn id="27" dur="500"/>
                                        <p:tgtEl>
                                          <p:spTgt spid="11270">
                                            <p:txEl>
                                              <p:charRg st="23" end="4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1270">
                                            <p:txEl>
                                              <p:charRg st="43" end="80"/>
                                            </p:txEl>
                                          </p:spTgt>
                                        </p:tgtEl>
                                        <p:attrNameLst>
                                          <p:attrName>style.visibility</p:attrName>
                                        </p:attrNameLst>
                                      </p:cBhvr>
                                      <p:to>
                                        <p:strVal val="visible"/>
                                      </p:to>
                                    </p:set>
                                    <p:animEffect transition="in" filter="dissolve">
                                      <p:cBhvr>
                                        <p:cTn id="32" dur="500"/>
                                        <p:tgtEl>
                                          <p:spTgt spid="11270">
                                            <p:txEl>
                                              <p:charRg st="43" end="8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11270">
                                            <p:txEl>
                                              <p:charRg st="80" end="105"/>
                                            </p:txEl>
                                          </p:spTgt>
                                        </p:tgtEl>
                                        <p:attrNameLst>
                                          <p:attrName>style.visibility</p:attrName>
                                        </p:attrNameLst>
                                      </p:cBhvr>
                                      <p:to>
                                        <p:strVal val="visible"/>
                                      </p:to>
                                    </p:set>
                                    <p:animEffect transition="in" filter="dissolve">
                                      <p:cBhvr>
                                        <p:cTn id="37" dur="500"/>
                                        <p:tgtEl>
                                          <p:spTgt spid="11270">
                                            <p:txEl>
                                              <p:charRg st="80" end="10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835" grpId="0" bldLvl="0" animBg="1"/>
      <p:bldP spid="2253836" grpId="0" bldLvl="0" animBg="1"/>
      <p:bldP spid="2253837" grpId="0" bldLvl="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835" name="Text Box 1035"/>
          <p:cNvSpPr txBox="1"/>
          <p:nvPr/>
        </p:nvSpPr>
        <p:spPr>
          <a:xfrm>
            <a:off x="487363" y="728663"/>
            <a:ext cx="8188325" cy="641350"/>
          </a:xfrm>
          <a:prstGeom prst="rect">
            <a:avLst/>
          </a:prstGeom>
          <a:solidFill>
            <a:srgbClr val="99CCFF"/>
          </a:solidFill>
          <a:ln w="9525">
            <a:noFill/>
          </a:ln>
        </p:spPr>
        <p:txBody>
          <a:bodyPr>
            <a:spAutoFit/>
          </a:bodyPr>
          <a:p>
            <a:pPr algn="l" eaLnBrk="1" hangingPunct="1"/>
            <a:r>
              <a:rPr lang="zh-CN" altLang="en-US" sz="2800" b="1" dirty="0">
                <a:solidFill>
                  <a:srgbClr val="333399"/>
                </a:solidFill>
                <a:latin typeface="楷体_GB2312" pitchFamily="49" charset="-122"/>
              </a:rPr>
              <a:t>信号</a:t>
            </a:r>
            <a:r>
              <a:rPr lang="zh-CN" altLang="en-US" sz="2800" b="1" dirty="0">
                <a:solidFill>
                  <a:srgbClr val="333399"/>
                </a:solidFill>
                <a:latin typeface="Times New Roman" panose="02020603050405020304" pitchFamily="18" charset="0"/>
              </a:rPr>
              <a:t>重建：</a:t>
            </a:r>
            <a:r>
              <a:rPr lang="zh-CN" altLang="en-US" sz="2800" b="1" dirty="0">
                <a:solidFill>
                  <a:srgbClr val="FF0000"/>
                </a:solidFill>
                <a:latin typeface="Times New Roman" panose="02020603050405020304" pitchFamily="18" charset="0"/>
              </a:rPr>
              <a:t>采样信号</a:t>
            </a:r>
            <a:r>
              <a:rPr lang="en-US" altLang="zh-CN" sz="2800" b="1" i="1" err="1">
                <a:solidFill>
                  <a:srgbClr val="FF0000"/>
                </a:solidFill>
                <a:latin typeface="Times New Roman" panose="02020603050405020304" pitchFamily="18" charset="0"/>
              </a:rPr>
              <a:t>x</a:t>
            </a:r>
            <a:r>
              <a:rPr lang="en-US" altLang="zh-CN" sz="2800" b="1" i="1" baseline="-25000" err="1">
                <a:solidFill>
                  <a:srgbClr val="FF0000"/>
                </a:solidFill>
                <a:latin typeface="Times New Roman" panose="02020603050405020304" pitchFamily="18" charset="0"/>
              </a:rPr>
              <a:t>S</a:t>
            </a:r>
            <a:r>
              <a:rPr lang="en-US" altLang="zh-CN" sz="2800" b="1" i="1" err="1">
                <a:solidFill>
                  <a:srgbClr val="FF0000"/>
                </a:solidFill>
                <a:latin typeface="Times New Roman" panose="02020603050405020304" pitchFamily="18" charset="0"/>
              </a:rPr>
              <a:t>(nT</a:t>
            </a:r>
            <a:r>
              <a:rPr lang="en-US" altLang="zh-CN" sz="2800" b="1" i="1" baseline="-25000" err="1">
                <a:solidFill>
                  <a:srgbClr val="FF0000"/>
                </a:solidFill>
                <a:latin typeface="Times New Roman" panose="02020603050405020304" pitchFamily="18" charset="0"/>
              </a:rPr>
              <a:t>S</a:t>
            </a:r>
            <a:r>
              <a:rPr lang="en-US" altLang="zh-CN" sz="2800" b="1" i="1" err="1">
                <a:solidFill>
                  <a:srgbClr val="FF0000"/>
                </a:solidFill>
                <a:latin typeface="Times New Roman" panose="02020603050405020304" pitchFamily="18" charset="0"/>
              </a:rPr>
              <a:t>)</a:t>
            </a:r>
            <a:r>
              <a:rPr lang="en-US" altLang="en-US" b="1" err="1">
                <a:solidFill>
                  <a:srgbClr val="FF0000"/>
                </a:solidFill>
                <a:latin typeface="楷体_GB2312" pitchFamily="49" charset="-122"/>
              </a:rPr>
              <a:t>→</a:t>
            </a:r>
            <a:r>
              <a:rPr lang="en-US" altLang="zh-CN" sz="2800" b="1" i="1" err="1">
                <a:solidFill>
                  <a:srgbClr val="FF0000"/>
                </a:solidFill>
                <a:latin typeface="Times New Roman" panose="02020603050405020304" pitchFamily="18" charset="0"/>
              </a:rPr>
              <a:t>D</a:t>
            </a:r>
            <a:r>
              <a:rPr lang="en-US" altLang="zh-CN" sz="2800" b="1" i="1">
                <a:solidFill>
                  <a:srgbClr val="FF0000"/>
                </a:solidFill>
                <a:latin typeface="Times New Roman" panose="02020603050405020304" pitchFamily="18" charset="0"/>
              </a:rPr>
              <a:t>/A</a:t>
            </a:r>
            <a:r>
              <a:rPr lang="en-US" altLang="en-US" b="1">
                <a:solidFill>
                  <a:srgbClr val="FF0000"/>
                </a:solidFill>
                <a:latin typeface="楷体_GB2312" pitchFamily="49" charset="-122"/>
              </a:rPr>
              <a:t>→</a:t>
            </a:r>
            <a:r>
              <a:rPr lang="zh-CN" altLang="en-US" sz="2800" b="1" dirty="0">
                <a:solidFill>
                  <a:srgbClr val="FF0000"/>
                </a:solidFill>
                <a:latin typeface="Times New Roman" panose="02020603050405020304" pitchFamily="18" charset="0"/>
              </a:rPr>
              <a:t>重构滤波器</a:t>
            </a:r>
            <a:endParaRPr lang="zh-CN" altLang="en-US" sz="2800" b="1" dirty="0">
              <a:solidFill>
                <a:srgbClr val="FF0000"/>
              </a:solidFill>
              <a:latin typeface="Times New Roman" panose="02020603050405020304" pitchFamily="18" charset="0"/>
            </a:endParaRPr>
          </a:p>
        </p:txBody>
      </p:sp>
      <p:sp>
        <p:nvSpPr>
          <p:cNvPr id="2253841" name="Text Box 104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3842" name="Text Box 1042"/>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49745" name="Text Box 17"/>
          <p:cNvSpPr txBox="1"/>
          <p:nvPr/>
        </p:nvSpPr>
        <p:spPr>
          <a:xfrm>
            <a:off x="487363" y="1531938"/>
            <a:ext cx="5195887" cy="457200"/>
          </a:xfrm>
          <a:prstGeom prst="rect">
            <a:avLst/>
          </a:prstGeom>
          <a:noFill/>
          <a:ln w="9525">
            <a:noFill/>
          </a:ln>
        </p:spPr>
        <p:txBody>
          <a:bodyPr>
            <a:spAutoFit/>
          </a:bodyPr>
          <a:p>
            <a:pPr algn="l" eaLnBrk="1" hangingPunct="1">
              <a:buClr>
                <a:srgbClr val="FF0000"/>
              </a:buClr>
              <a:buFont typeface="Wingdings" panose="05000000000000000000" pitchFamily="2" charset="2"/>
              <a:buNone/>
            </a:pPr>
            <a:r>
              <a:rPr lang="zh-CN" altLang="en-US" sz="2400" b="1" dirty="0">
                <a:solidFill>
                  <a:schemeClr val="tx1"/>
                </a:solidFill>
                <a:latin typeface="Times New Roman" panose="02020603050405020304" pitchFamily="18" charset="0"/>
                <a:ea typeface="黑体" panose="02010609060101010101" pitchFamily="49" charset="-122"/>
              </a:rPr>
              <a:t>理想低通滤波器</a:t>
            </a:r>
            <a:r>
              <a:rPr lang="en-US" altLang="zh-CN" sz="2400" b="1" i="1" err="1">
                <a:solidFill>
                  <a:schemeClr val="tx1"/>
                </a:solidFill>
                <a:latin typeface="Times New Roman" panose="02020603050405020304" pitchFamily="18" charset="0"/>
                <a:ea typeface="黑体" panose="02010609060101010101" pitchFamily="49" charset="-122"/>
              </a:rPr>
              <a:t>H(j</a:t>
            </a:r>
            <a:r>
              <a:rPr lang="el-GR" altLang="zh-CN" sz="2400" b="1" i="1" dirty="0">
                <a:solidFill>
                  <a:schemeClr val="tx1"/>
                </a:solidFill>
                <a:latin typeface="黑体" panose="02010609060101010101" pitchFamily="49" charset="-122"/>
                <a:ea typeface="黑体" panose="02010609060101010101" pitchFamily="49" charset="-122"/>
              </a:rPr>
              <a:t>Ω</a:t>
            </a:r>
            <a:r>
              <a:rPr lang="en-US" altLang="zh-CN" sz="2400" b="1" i="1">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Times New Roman" panose="02020603050405020304" pitchFamily="18" charset="0"/>
                <a:ea typeface="黑体" panose="02010609060101010101" pitchFamily="49" charset="-122"/>
              </a:rPr>
              <a:t>的频率响应</a:t>
            </a:r>
            <a:endParaRPr lang="zh-CN" altLang="en-US" sz="2400" b="1" dirty="0">
              <a:solidFill>
                <a:schemeClr val="tx1"/>
              </a:solidFill>
              <a:latin typeface="Times New Roman" panose="02020603050405020304" pitchFamily="18" charset="0"/>
              <a:ea typeface="黑体" panose="02010609060101010101" pitchFamily="49" charset="-122"/>
            </a:endParaRPr>
          </a:p>
        </p:txBody>
      </p:sp>
      <p:graphicFrame>
        <p:nvGraphicFramePr>
          <p:cNvPr id="102411" name="Object 1139"/>
          <p:cNvGraphicFramePr>
            <a:graphicFrameLocks noChangeAspect="1"/>
          </p:cNvGraphicFramePr>
          <p:nvPr/>
        </p:nvGraphicFramePr>
        <p:xfrm>
          <a:off x="5191125" y="1404938"/>
          <a:ext cx="3484563" cy="800100"/>
        </p:xfrm>
        <a:graphic>
          <a:graphicData uri="http://schemas.openxmlformats.org/presentationml/2006/ole">
            <mc:AlternateContent xmlns:mc="http://schemas.openxmlformats.org/markup-compatibility/2006">
              <mc:Choice xmlns:v="urn:schemas-microsoft-com:vml" Requires="v">
                <p:oleObj spid="_x0000_s3077" name="" r:id="rId1" imgW="1586230" imgH="405765" progId="Equation.DSMT4">
                  <p:embed/>
                </p:oleObj>
              </mc:Choice>
              <mc:Fallback>
                <p:oleObj name="" r:id="rId1" imgW="1586230" imgH="405765" progId="Equation.DSMT4">
                  <p:embed/>
                  <p:pic>
                    <p:nvPicPr>
                      <p:cNvPr id="0" name="图片 3076"/>
                      <p:cNvPicPr/>
                      <p:nvPr/>
                    </p:nvPicPr>
                    <p:blipFill>
                      <a:blip r:embed="rId2"/>
                      <a:stretch>
                        <a:fillRect/>
                      </a:stretch>
                    </p:blipFill>
                    <p:spPr>
                      <a:xfrm>
                        <a:off x="5191125" y="1404938"/>
                        <a:ext cx="3484563" cy="800100"/>
                      </a:xfrm>
                      <a:prstGeom prst="rect">
                        <a:avLst/>
                      </a:prstGeom>
                      <a:solidFill>
                        <a:srgbClr val="CCFFFF"/>
                      </a:solidFill>
                      <a:ln w="38100">
                        <a:noFill/>
                        <a:miter/>
                      </a:ln>
                    </p:spPr>
                  </p:pic>
                </p:oleObj>
              </mc:Fallback>
            </mc:AlternateContent>
          </a:graphicData>
        </a:graphic>
      </p:graphicFrame>
      <p:graphicFrame>
        <p:nvGraphicFramePr>
          <p:cNvPr id="102414" name="Object 1139"/>
          <p:cNvGraphicFramePr>
            <a:graphicFrameLocks noChangeAspect="1"/>
          </p:cNvGraphicFramePr>
          <p:nvPr/>
        </p:nvGraphicFramePr>
        <p:xfrm>
          <a:off x="1655763" y="3392488"/>
          <a:ext cx="6046787" cy="865187"/>
        </p:xfrm>
        <a:graphic>
          <a:graphicData uri="http://schemas.openxmlformats.org/presentationml/2006/ole">
            <mc:AlternateContent xmlns:mc="http://schemas.openxmlformats.org/markup-compatibility/2006">
              <mc:Choice xmlns:v="urn:schemas-microsoft-com:vml" Requires="v">
                <p:oleObj spid="_x0000_s3076" name="" r:id="rId3" imgW="2703830" imgH="431800" progId="Equation.DSMT4">
                  <p:embed/>
                </p:oleObj>
              </mc:Choice>
              <mc:Fallback>
                <p:oleObj name="" r:id="rId3" imgW="2703830" imgH="431800" progId="Equation.DSMT4">
                  <p:embed/>
                  <p:pic>
                    <p:nvPicPr>
                      <p:cNvPr id="0" name="图片 3075"/>
                      <p:cNvPicPr/>
                      <p:nvPr/>
                    </p:nvPicPr>
                    <p:blipFill>
                      <a:blip r:embed="rId4"/>
                      <a:stretch>
                        <a:fillRect/>
                      </a:stretch>
                    </p:blipFill>
                    <p:spPr>
                      <a:xfrm>
                        <a:off x="1655763" y="3392488"/>
                        <a:ext cx="6046787" cy="865187"/>
                      </a:xfrm>
                      <a:prstGeom prst="rect">
                        <a:avLst/>
                      </a:prstGeom>
                      <a:solidFill>
                        <a:srgbClr val="CCFFFF"/>
                      </a:solidFill>
                      <a:ln w="38100">
                        <a:noFill/>
                        <a:miter/>
                      </a:ln>
                    </p:spPr>
                  </p:pic>
                </p:oleObj>
              </mc:Fallback>
            </mc:AlternateContent>
          </a:graphicData>
        </a:graphic>
      </p:graphicFrame>
      <p:graphicFrame>
        <p:nvGraphicFramePr>
          <p:cNvPr id="102415" name="Object 1139"/>
          <p:cNvGraphicFramePr>
            <a:graphicFrameLocks noChangeAspect="1"/>
          </p:cNvGraphicFramePr>
          <p:nvPr/>
        </p:nvGraphicFramePr>
        <p:xfrm>
          <a:off x="1290638" y="4968875"/>
          <a:ext cx="1697037" cy="439738"/>
        </p:xfrm>
        <a:graphic>
          <a:graphicData uri="http://schemas.openxmlformats.org/presentationml/2006/ole">
            <mc:AlternateContent xmlns:mc="http://schemas.openxmlformats.org/markup-compatibility/2006">
              <mc:Choice xmlns:v="urn:schemas-microsoft-com:vml" Requires="v">
                <p:oleObj spid="_x0000_s3080" name="" r:id="rId5" imgW="787400" imgH="228600" progId="Equation.DSMT4">
                  <p:embed/>
                </p:oleObj>
              </mc:Choice>
              <mc:Fallback>
                <p:oleObj name="" r:id="rId5" imgW="787400" imgH="228600" progId="Equation.DSMT4">
                  <p:embed/>
                  <p:pic>
                    <p:nvPicPr>
                      <p:cNvPr id="0" name="图片 3079"/>
                      <p:cNvPicPr/>
                      <p:nvPr/>
                    </p:nvPicPr>
                    <p:blipFill>
                      <a:blip r:embed="rId6"/>
                      <a:stretch>
                        <a:fillRect/>
                      </a:stretch>
                    </p:blipFill>
                    <p:spPr>
                      <a:xfrm>
                        <a:off x="1290638" y="4968875"/>
                        <a:ext cx="1697037" cy="439738"/>
                      </a:xfrm>
                      <a:prstGeom prst="rect">
                        <a:avLst/>
                      </a:prstGeom>
                      <a:solidFill>
                        <a:srgbClr val="CCFFFF"/>
                      </a:solidFill>
                      <a:ln w="38100">
                        <a:noFill/>
                        <a:miter/>
                      </a:ln>
                    </p:spPr>
                  </p:pic>
                </p:oleObj>
              </mc:Fallback>
            </mc:AlternateContent>
          </a:graphicData>
        </a:graphic>
      </p:graphicFrame>
      <p:graphicFrame>
        <p:nvGraphicFramePr>
          <p:cNvPr id="102418" name="Object 1139"/>
          <p:cNvGraphicFramePr>
            <a:graphicFrameLocks noChangeAspect="1"/>
          </p:cNvGraphicFramePr>
          <p:nvPr/>
        </p:nvGraphicFramePr>
        <p:xfrm>
          <a:off x="1306513" y="5397500"/>
          <a:ext cx="4921250" cy="876300"/>
        </p:xfrm>
        <a:graphic>
          <a:graphicData uri="http://schemas.openxmlformats.org/presentationml/2006/ole">
            <mc:AlternateContent xmlns:mc="http://schemas.openxmlformats.org/markup-compatibility/2006">
              <mc:Choice xmlns:v="urn:schemas-microsoft-com:vml" Requires="v">
                <p:oleObj spid="_x0000_s3079" name="" r:id="rId7" imgW="2233930" imgH="444500" progId="Equation.DSMT4">
                  <p:embed/>
                </p:oleObj>
              </mc:Choice>
              <mc:Fallback>
                <p:oleObj name="" r:id="rId7" imgW="2233930" imgH="444500" progId="Equation.DSMT4">
                  <p:embed/>
                  <p:pic>
                    <p:nvPicPr>
                      <p:cNvPr id="0" name="图片 3078"/>
                      <p:cNvPicPr/>
                      <p:nvPr/>
                    </p:nvPicPr>
                    <p:blipFill>
                      <a:blip r:embed="rId8"/>
                      <a:stretch>
                        <a:fillRect/>
                      </a:stretch>
                    </p:blipFill>
                    <p:spPr>
                      <a:xfrm>
                        <a:off x="1306513" y="5397500"/>
                        <a:ext cx="4921250" cy="876300"/>
                      </a:xfrm>
                      <a:prstGeom prst="rect">
                        <a:avLst/>
                      </a:prstGeom>
                      <a:solidFill>
                        <a:srgbClr val="CCFFFF"/>
                      </a:solidFill>
                      <a:ln w="38100">
                        <a:noFill/>
                        <a:miter/>
                      </a:ln>
                    </p:spPr>
                  </p:pic>
                </p:oleObj>
              </mc:Fallback>
            </mc:AlternateContent>
          </a:graphicData>
        </a:graphic>
      </p:graphicFrame>
      <p:graphicFrame>
        <p:nvGraphicFramePr>
          <p:cNvPr id="102419" name="Object 1139"/>
          <p:cNvGraphicFramePr>
            <a:graphicFrameLocks noChangeAspect="1"/>
          </p:cNvGraphicFramePr>
          <p:nvPr/>
        </p:nvGraphicFramePr>
        <p:xfrm>
          <a:off x="719138" y="2528888"/>
          <a:ext cx="7524750" cy="882650"/>
        </p:xfrm>
        <a:graphic>
          <a:graphicData uri="http://schemas.openxmlformats.org/presentationml/2006/ole">
            <mc:AlternateContent xmlns:mc="http://schemas.openxmlformats.org/markup-compatibility/2006">
              <mc:Choice xmlns:v="urn:schemas-microsoft-com:vml" Requires="v">
                <p:oleObj spid="_x0000_s3078" name="" r:id="rId9" imgW="3300730" imgH="431800" progId="Equation.DSMT4">
                  <p:embed/>
                </p:oleObj>
              </mc:Choice>
              <mc:Fallback>
                <p:oleObj name="" r:id="rId9" imgW="3300730" imgH="431800" progId="Equation.DSMT4">
                  <p:embed/>
                  <p:pic>
                    <p:nvPicPr>
                      <p:cNvPr id="0" name="图片 3077"/>
                      <p:cNvPicPr/>
                      <p:nvPr/>
                    </p:nvPicPr>
                    <p:blipFill>
                      <a:blip r:embed="rId10"/>
                      <a:stretch>
                        <a:fillRect/>
                      </a:stretch>
                    </p:blipFill>
                    <p:spPr>
                      <a:xfrm>
                        <a:off x="719138" y="2528888"/>
                        <a:ext cx="7524750" cy="882650"/>
                      </a:xfrm>
                      <a:prstGeom prst="rect">
                        <a:avLst/>
                      </a:prstGeom>
                      <a:solidFill>
                        <a:srgbClr val="CCFFFF"/>
                      </a:solidFill>
                      <a:ln w="38100">
                        <a:noFill/>
                        <a:miter/>
                      </a:ln>
                    </p:spPr>
                  </p:pic>
                </p:oleObj>
              </mc:Fallback>
            </mc:AlternateContent>
          </a:graphicData>
        </a:graphic>
      </p:graphicFrame>
      <p:sp>
        <p:nvSpPr>
          <p:cNvPr id="2" name="Text Box 17"/>
          <p:cNvSpPr txBox="1"/>
          <p:nvPr/>
        </p:nvSpPr>
        <p:spPr>
          <a:xfrm>
            <a:off x="487363" y="2097088"/>
            <a:ext cx="5195887" cy="457200"/>
          </a:xfrm>
          <a:prstGeom prst="rect">
            <a:avLst/>
          </a:prstGeom>
          <a:noFill/>
          <a:ln w="9525">
            <a:noFill/>
          </a:ln>
        </p:spPr>
        <p:txBody>
          <a:bodyPr>
            <a:spAutoFit/>
          </a:bodyPr>
          <a:p>
            <a:pPr algn="l" eaLnBrk="1" hangingPunct="1">
              <a:buClr>
                <a:srgbClr val="FF0000"/>
              </a:buClr>
              <a:buFont typeface="Wingdings" panose="05000000000000000000" pitchFamily="2" charset="2"/>
              <a:buNone/>
            </a:pPr>
            <a:r>
              <a:rPr lang="en-US" altLang="zh-CN" sz="2400" b="1" i="1" err="1">
                <a:solidFill>
                  <a:schemeClr val="tx1"/>
                </a:solidFill>
                <a:latin typeface="Times New Roman" panose="02020603050405020304" pitchFamily="18" charset="0"/>
                <a:ea typeface="黑体" panose="02010609060101010101" pitchFamily="49" charset="-122"/>
              </a:rPr>
              <a:t>H(j</a:t>
            </a:r>
            <a:r>
              <a:rPr lang="el-GR" altLang="zh-CN" sz="2400" b="1" i="1" dirty="0">
                <a:solidFill>
                  <a:schemeClr val="tx1"/>
                </a:solidFill>
                <a:latin typeface="黑体" panose="02010609060101010101" pitchFamily="49" charset="-122"/>
                <a:ea typeface="黑体" panose="02010609060101010101" pitchFamily="49" charset="-122"/>
              </a:rPr>
              <a:t>Ω</a:t>
            </a:r>
            <a:r>
              <a:rPr lang="en-US" altLang="zh-CN" sz="2400" b="1" i="1">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Times New Roman" panose="02020603050405020304" pitchFamily="18" charset="0"/>
                <a:ea typeface="黑体" panose="02010609060101010101" pitchFamily="49" charset="-122"/>
              </a:rPr>
              <a:t>对应的单位抽样响应</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3" name="Text Box 17"/>
          <p:cNvSpPr txBox="1"/>
          <p:nvPr/>
        </p:nvSpPr>
        <p:spPr>
          <a:xfrm>
            <a:off x="487363" y="3465513"/>
            <a:ext cx="5195887" cy="45720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因而</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4" name="Text Box 17"/>
          <p:cNvSpPr txBox="1"/>
          <p:nvPr/>
        </p:nvSpPr>
        <p:spPr>
          <a:xfrm>
            <a:off x="487363" y="4951413"/>
            <a:ext cx="5195887" cy="45720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又因</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5" name="Text Box 17"/>
          <p:cNvSpPr txBox="1"/>
          <p:nvPr/>
        </p:nvSpPr>
        <p:spPr>
          <a:xfrm>
            <a:off x="487363" y="5553075"/>
            <a:ext cx="5195887" cy="45720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所以</a:t>
            </a:r>
            <a:endParaRPr lang="zh-CN" altLang="en-US" sz="2400" b="1" dirty="0">
              <a:solidFill>
                <a:schemeClr val="tx1"/>
              </a:solidFill>
              <a:latin typeface="Times New Roman" panose="02020603050405020304" pitchFamily="18" charset="0"/>
              <a:ea typeface="黑体" panose="02010609060101010101" pitchFamily="49" charset="-122"/>
            </a:endParaRPr>
          </a:p>
        </p:txBody>
      </p:sp>
      <p:graphicFrame>
        <p:nvGraphicFramePr>
          <p:cNvPr id="102427" name="Object 1139"/>
          <p:cNvGraphicFramePr>
            <a:graphicFrameLocks noChangeAspect="1"/>
          </p:cNvGraphicFramePr>
          <p:nvPr/>
        </p:nvGraphicFramePr>
        <p:xfrm>
          <a:off x="4430713" y="4257675"/>
          <a:ext cx="4462462" cy="855663"/>
        </p:xfrm>
        <a:graphic>
          <a:graphicData uri="http://schemas.openxmlformats.org/presentationml/2006/ole">
            <mc:AlternateContent xmlns:mc="http://schemas.openxmlformats.org/markup-compatibility/2006">
              <mc:Choice xmlns:v="urn:schemas-microsoft-com:vml" Requires="v">
                <p:oleObj spid="_x0000_s3081" name="" r:id="rId11" imgW="2069465" imgH="444500" progId="Equation.DSMT4">
                  <p:embed/>
                </p:oleObj>
              </mc:Choice>
              <mc:Fallback>
                <p:oleObj name="" r:id="rId11" imgW="2069465" imgH="444500" progId="Equation.DSMT4">
                  <p:embed/>
                  <p:pic>
                    <p:nvPicPr>
                      <p:cNvPr id="0" name="图片 3080"/>
                      <p:cNvPicPr/>
                      <p:nvPr/>
                    </p:nvPicPr>
                    <p:blipFill>
                      <a:blip r:embed="rId12"/>
                      <a:stretch>
                        <a:fillRect/>
                      </a:stretch>
                    </p:blipFill>
                    <p:spPr>
                      <a:xfrm>
                        <a:off x="4430713" y="4257675"/>
                        <a:ext cx="4462462" cy="855663"/>
                      </a:xfrm>
                      <a:prstGeom prst="rect">
                        <a:avLst/>
                      </a:prstGeom>
                      <a:solidFill>
                        <a:srgbClr val="CCFFFF"/>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3835"/>
                                        </p:tgtEl>
                                        <p:attrNameLst>
                                          <p:attrName>style.visibility</p:attrName>
                                        </p:attrNameLst>
                                      </p:cBhvr>
                                      <p:to>
                                        <p:strVal val="visible"/>
                                      </p:to>
                                    </p:set>
                                    <p:animEffect transition="in" filter="dissolve">
                                      <p:cBhvr>
                                        <p:cTn id="7" dur="500"/>
                                        <p:tgtEl>
                                          <p:spTgt spid="225383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9745"/>
                                        </p:tgtEl>
                                        <p:attrNameLst>
                                          <p:attrName>style.visibility</p:attrName>
                                        </p:attrNameLst>
                                      </p:cBhvr>
                                      <p:to>
                                        <p:strVal val="visible"/>
                                      </p:to>
                                    </p:set>
                                    <p:animEffect transition="in" filter="dissolve">
                                      <p:cBhvr>
                                        <p:cTn id="12" dur="500"/>
                                        <p:tgtEl>
                                          <p:spTgt spid="224974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2411"/>
                                        </p:tgtEl>
                                        <p:attrNameLst>
                                          <p:attrName>style.visibility</p:attrName>
                                        </p:attrNameLst>
                                      </p:cBhvr>
                                      <p:to>
                                        <p:strVal val="visible"/>
                                      </p:to>
                                    </p:set>
                                    <p:animEffect transition="in" filter="dissolve">
                                      <p:cBhvr>
                                        <p:cTn id="17" dur="500"/>
                                        <p:tgtEl>
                                          <p:spTgt spid="1024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419"/>
                                        </p:tgtEl>
                                        <p:attrNameLst>
                                          <p:attrName>style.visibility</p:attrName>
                                        </p:attrNameLst>
                                      </p:cBhvr>
                                      <p:to>
                                        <p:strVal val="visible"/>
                                      </p:to>
                                    </p:set>
                                    <p:animEffect transition="in" filter="dissolve">
                                      <p:cBhvr>
                                        <p:cTn id="27" dur="500"/>
                                        <p:tgtEl>
                                          <p:spTgt spid="10241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dissolve">
                                      <p:cBhvr>
                                        <p:cTn id="32" dur="500"/>
                                        <p:tgtEl>
                                          <p:spTgt spid="3"/>
                                        </p:tgtEl>
                                      </p:cBhvr>
                                    </p:animEffect>
                                  </p:childTnLst>
                                </p:cTn>
                              </p:par>
                              <p:par>
                                <p:cTn id="33" presetID="9" presetClass="entr" presetSubtype="0" fill="hold" nodeType="withEffect">
                                  <p:stCondLst>
                                    <p:cond delay="0"/>
                                  </p:stCondLst>
                                  <p:childTnLst>
                                    <p:set>
                                      <p:cBhvr>
                                        <p:cTn id="34" dur="1" fill="hold">
                                          <p:stCondLst>
                                            <p:cond delay="0"/>
                                          </p:stCondLst>
                                        </p:cTn>
                                        <p:tgtEl>
                                          <p:spTgt spid="102414"/>
                                        </p:tgtEl>
                                        <p:attrNameLst>
                                          <p:attrName>style.visibility</p:attrName>
                                        </p:attrNameLst>
                                      </p:cBhvr>
                                      <p:to>
                                        <p:strVal val="visible"/>
                                      </p:to>
                                    </p:set>
                                    <p:animEffect transition="in" filter="dissolve">
                                      <p:cBhvr>
                                        <p:cTn id="35" dur="500"/>
                                        <p:tgtEl>
                                          <p:spTgt spid="102414"/>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02427"/>
                                        </p:tgtEl>
                                        <p:attrNameLst>
                                          <p:attrName>style.visibility</p:attrName>
                                        </p:attrNameLst>
                                      </p:cBhvr>
                                      <p:to>
                                        <p:strVal val="visible"/>
                                      </p:to>
                                    </p:set>
                                    <p:animEffect transition="in" filter="dissolve">
                                      <p:cBhvr>
                                        <p:cTn id="40" dur="500"/>
                                        <p:tgtEl>
                                          <p:spTgt spid="102427"/>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par>
                                <p:cTn id="46" presetID="9" presetClass="entr" presetSubtype="0" fill="hold" nodeType="withEffect">
                                  <p:stCondLst>
                                    <p:cond delay="0"/>
                                  </p:stCondLst>
                                  <p:childTnLst>
                                    <p:set>
                                      <p:cBhvr>
                                        <p:cTn id="47" dur="1" fill="hold">
                                          <p:stCondLst>
                                            <p:cond delay="0"/>
                                          </p:stCondLst>
                                        </p:cTn>
                                        <p:tgtEl>
                                          <p:spTgt spid="102415"/>
                                        </p:tgtEl>
                                        <p:attrNameLst>
                                          <p:attrName>style.visibility</p:attrName>
                                        </p:attrNameLst>
                                      </p:cBhvr>
                                      <p:to>
                                        <p:strVal val="visible"/>
                                      </p:to>
                                    </p:set>
                                    <p:animEffect transition="in" filter="dissolve">
                                      <p:cBhvr>
                                        <p:cTn id="48" dur="500"/>
                                        <p:tgtEl>
                                          <p:spTgt spid="102415"/>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dissolve">
                                      <p:cBhvr>
                                        <p:cTn id="53" dur="500"/>
                                        <p:tgtEl>
                                          <p:spTgt spid="5"/>
                                        </p:tgtEl>
                                      </p:cBhvr>
                                    </p:animEffect>
                                  </p:childTnLst>
                                </p:cTn>
                              </p:par>
                              <p:par>
                                <p:cTn id="54" presetID="9" presetClass="entr" presetSubtype="0" fill="hold" nodeType="withEffect">
                                  <p:stCondLst>
                                    <p:cond delay="0"/>
                                  </p:stCondLst>
                                  <p:childTnLst>
                                    <p:set>
                                      <p:cBhvr>
                                        <p:cTn id="55" dur="1" fill="hold">
                                          <p:stCondLst>
                                            <p:cond delay="0"/>
                                          </p:stCondLst>
                                        </p:cTn>
                                        <p:tgtEl>
                                          <p:spTgt spid="102418"/>
                                        </p:tgtEl>
                                        <p:attrNameLst>
                                          <p:attrName>style.visibility</p:attrName>
                                        </p:attrNameLst>
                                      </p:cBhvr>
                                      <p:to>
                                        <p:strVal val="visible"/>
                                      </p:to>
                                    </p:set>
                                    <p:animEffect transition="in" filter="dissolve">
                                      <p:cBhvr>
                                        <p:cTn id="56" dur="500"/>
                                        <p:tgtEl>
                                          <p:spTgt spid="1024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835" grpId="0" bldLvl="0" animBg="1"/>
      <p:bldP spid="2249745" grpId="0"/>
      <p:bldP spid="2" grpId="0"/>
      <p:bldP spid="3" grpId="0"/>
      <p:bldP spid="4" grpId="0"/>
      <p:bldP spid="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249801" name="Group 73"/>
          <p:cNvGrpSpPr/>
          <p:nvPr/>
        </p:nvGrpSpPr>
        <p:grpSpPr>
          <a:xfrm>
            <a:off x="3841750" y="2992438"/>
            <a:ext cx="4438650" cy="3065462"/>
            <a:chOff x="1950" y="958"/>
            <a:chExt cx="2946" cy="2112"/>
          </a:xfrm>
        </p:grpSpPr>
        <p:sp>
          <p:nvSpPr>
            <p:cNvPr id="12297" name="AutoShape 23"/>
            <p:cNvSpPr>
              <a:spLocks noChangeAspect="1" noTextEdit="1"/>
            </p:cNvSpPr>
            <p:nvPr/>
          </p:nvSpPr>
          <p:spPr>
            <a:xfrm>
              <a:off x="1950" y="958"/>
              <a:ext cx="2931" cy="2112"/>
            </a:xfrm>
            <a:prstGeom prst="rect">
              <a:avLst/>
            </a:prstGeom>
            <a:solidFill>
              <a:schemeClr val="bg1"/>
            </a:solidFill>
            <a:ln w="9525">
              <a:noFill/>
            </a:ln>
          </p:spPr>
          <p:txBody>
            <a:bodyPr/>
            <a:p>
              <a:pPr algn="ctr" eaLnBrk="1" hangingPunct="1"/>
              <a:endParaRPr lang="zh-CN" altLang="en-US" b="1">
                <a:solidFill>
                  <a:srgbClr val="333399"/>
                </a:solidFill>
                <a:latin typeface="楷体_GB2312" pitchFamily="49" charset="-122"/>
              </a:endParaRPr>
            </a:p>
          </p:txBody>
        </p:sp>
        <p:sp>
          <p:nvSpPr>
            <p:cNvPr id="12298" name="Line 25"/>
            <p:cNvSpPr/>
            <p:nvPr/>
          </p:nvSpPr>
          <p:spPr>
            <a:xfrm>
              <a:off x="3289" y="1048"/>
              <a:ext cx="1" cy="941"/>
            </a:xfrm>
            <a:prstGeom prst="line">
              <a:avLst/>
            </a:prstGeom>
            <a:ln w="0" cap="flat" cmpd="sng">
              <a:solidFill>
                <a:srgbClr val="0000FF"/>
              </a:solidFill>
              <a:prstDash val="solid"/>
              <a:headEnd type="none" w="med" len="med"/>
              <a:tailEnd type="none" w="med" len="med"/>
            </a:ln>
          </p:spPr>
        </p:sp>
        <p:sp>
          <p:nvSpPr>
            <p:cNvPr id="12299" name="Line 26"/>
            <p:cNvSpPr/>
            <p:nvPr/>
          </p:nvSpPr>
          <p:spPr>
            <a:xfrm flipH="1">
              <a:off x="3253" y="1031"/>
              <a:ext cx="36" cy="151"/>
            </a:xfrm>
            <a:prstGeom prst="line">
              <a:avLst/>
            </a:prstGeom>
            <a:ln w="0" cap="flat" cmpd="sng">
              <a:solidFill>
                <a:srgbClr val="0000FF"/>
              </a:solidFill>
              <a:prstDash val="solid"/>
              <a:headEnd type="none" w="med" len="med"/>
              <a:tailEnd type="none" w="med" len="med"/>
            </a:ln>
          </p:spPr>
        </p:sp>
        <p:sp>
          <p:nvSpPr>
            <p:cNvPr id="12300" name="Line 27"/>
            <p:cNvSpPr/>
            <p:nvPr/>
          </p:nvSpPr>
          <p:spPr>
            <a:xfrm>
              <a:off x="3289" y="1048"/>
              <a:ext cx="36" cy="134"/>
            </a:xfrm>
            <a:prstGeom prst="line">
              <a:avLst/>
            </a:prstGeom>
            <a:ln w="0" cap="flat" cmpd="sng">
              <a:solidFill>
                <a:srgbClr val="0000FF"/>
              </a:solidFill>
              <a:prstDash val="solid"/>
              <a:headEnd type="none" w="med" len="med"/>
              <a:tailEnd type="none" w="med" len="med"/>
            </a:ln>
          </p:spPr>
        </p:sp>
        <p:sp>
          <p:nvSpPr>
            <p:cNvPr id="12301" name="Oval 28"/>
            <p:cNvSpPr/>
            <p:nvPr/>
          </p:nvSpPr>
          <p:spPr>
            <a:xfrm>
              <a:off x="3266" y="1459"/>
              <a:ext cx="835" cy="1577"/>
            </a:xfrm>
            <a:prstGeom prst="ellipse">
              <a:avLst/>
            </a:prstGeom>
            <a:noFill/>
            <a:ln w="0" cap="flat" cmpd="sng">
              <a:solidFill>
                <a:srgbClr val="00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2302" name="Line 29"/>
            <p:cNvSpPr/>
            <p:nvPr/>
          </p:nvSpPr>
          <p:spPr>
            <a:xfrm>
              <a:off x="4370" y="1938"/>
              <a:ext cx="1" cy="51"/>
            </a:xfrm>
            <a:prstGeom prst="line">
              <a:avLst/>
            </a:prstGeom>
            <a:ln w="0" cap="flat" cmpd="sng">
              <a:solidFill>
                <a:srgbClr val="000080"/>
              </a:solidFill>
              <a:prstDash val="solid"/>
              <a:headEnd type="none" w="med" len="med"/>
              <a:tailEnd type="none" w="med" len="med"/>
            </a:ln>
          </p:spPr>
        </p:sp>
        <p:sp>
          <p:nvSpPr>
            <p:cNvPr id="12303" name="Line 30"/>
            <p:cNvSpPr/>
            <p:nvPr/>
          </p:nvSpPr>
          <p:spPr>
            <a:xfrm>
              <a:off x="2208" y="1938"/>
              <a:ext cx="1" cy="51"/>
            </a:xfrm>
            <a:prstGeom prst="line">
              <a:avLst/>
            </a:prstGeom>
            <a:ln w="0" cap="flat" cmpd="sng">
              <a:solidFill>
                <a:srgbClr val="0000FF"/>
              </a:solidFill>
              <a:prstDash val="solid"/>
              <a:headEnd type="none" w="med" len="med"/>
              <a:tailEnd type="none" w="med" len="med"/>
            </a:ln>
          </p:spPr>
        </p:sp>
        <p:sp>
          <p:nvSpPr>
            <p:cNvPr id="12304" name="Line 31"/>
            <p:cNvSpPr/>
            <p:nvPr/>
          </p:nvSpPr>
          <p:spPr>
            <a:xfrm flipH="1" flipV="1">
              <a:off x="4569" y="1955"/>
              <a:ext cx="126" cy="34"/>
            </a:xfrm>
            <a:prstGeom prst="line">
              <a:avLst/>
            </a:prstGeom>
            <a:ln w="0" cap="flat" cmpd="sng">
              <a:solidFill>
                <a:srgbClr val="0000FF"/>
              </a:solidFill>
              <a:prstDash val="solid"/>
              <a:headEnd type="none" w="med" len="med"/>
              <a:tailEnd type="none" w="med" len="med"/>
            </a:ln>
          </p:spPr>
        </p:sp>
        <p:sp>
          <p:nvSpPr>
            <p:cNvPr id="12305" name="Line 32"/>
            <p:cNvSpPr/>
            <p:nvPr/>
          </p:nvSpPr>
          <p:spPr>
            <a:xfrm flipH="1">
              <a:off x="4569" y="1989"/>
              <a:ext cx="144" cy="33"/>
            </a:xfrm>
            <a:prstGeom prst="line">
              <a:avLst/>
            </a:prstGeom>
            <a:ln w="0" cap="flat" cmpd="sng">
              <a:solidFill>
                <a:srgbClr val="0000FF"/>
              </a:solidFill>
              <a:prstDash val="solid"/>
              <a:headEnd type="none" w="med" len="med"/>
              <a:tailEnd type="none" w="med" len="med"/>
            </a:ln>
          </p:spPr>
        </p:sp>
        <p:sp>
          <p:nvSpPr>
            <p:cNvPr id="12306" name="Rectangle 33"/>
            <p:cNvSpPr/>
            <p:nvPr/>
          </p:nvSpPr>
          <p:spPr>
            <a:xfrm>
              <a:off x="3464" y="980"/>
              <a:ext cx="584"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           |</a:t>
              </a:r>
              <a:endParaRPr lang="en-US" altLang="zh-CN" b="1">
                <a:solidFill>
                  <a:srgbClr val="333399"/>
                </a:solidFill>
                <a:latin typeface="楷体_GB2312" pitchFamily="49" charset="-122"/>
              </a:endParaRPr>
            </a:p>
          </p:txBody>
        </p:sp>
        <p:grpSp>
          <p:nvGrpSpPr>
            <p:cNvPr id="12307" name="Group 38"/>
            <p:cNvGrpSpPr/>
            <p:nvPr/>
          </p:nvGrpSpPr>
          <p:grpSpPr>
            <a:xfrm>
              <a:off x="3511" y="989"/>
              <a:ext cx="480" cy="247"/>
              <a:chOff x="3065" y="850"/>
              <a:chExt cx="480" cy="247"/>
            </a:xfrm>
          </p:grpSpPr>
          <p:sp>
            <p:nvSpPr>
              <p:cNvPr id="12335" name="Rectangle 34"/>
              <p:cNvSpPr/>
              <p:nvPr/>
            </p:nvSpPr>
            <p:spPr>
              <a:xfrm>
                <a:off x="3235" y="850"/>
                <a:ext cx="310"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   ) </a:t>
                </a:r>
                <a:endParaRPr lang="en-US" altLang="zh-CN" b="1">
                  <a:solidFill>
                    <a:srgbClr val="333399"/>
                  </a:solidFill>
                  <a:latin typeface="楷体_GB2312" pitchFamily="49" charset="-122"/>
                </a:endParaRPr>
              </a:p>
            </p:txBody>
          </p:sp>
          <p:grpSp>
            <p:nvGrpSpPr>
              <p:cNvPr id="12336" name="Group 37"/>
              <p:cNvGrpSpPr/>
              <p:nvPr/>
            </p:nvGrpSpPr>
            <p:grpSpPr>
              <a:xfrm>
                <a:off x="3065" y="850"/>
                <a:ext cx="319" cy="247"/>
                <a:chOff x="3065" y="850"/>
                <a:chExt cx="319" cy="247"/>
              </a:xfrm>
            </p:grpSpPr>
            <p:sp>
              <p:nvSpPr>
                <p:cNvPr id="12337" name="Rectangle 35"/>
                <p:cNvSpPr/>
                <p:nvPr/>
              </p:nvSpPr>
              <p:spPr>
                <a:xfrm>
                  <a:off x="3065" y="867"/>
                  <a:ext cx="114" cy="230"/>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X</a:t>
                  </a:r>
                  <a:endParaRPr lang="en-US" altLang="zh-CN" b="1">
                    <a:solidFill>
                      <a:srgbClr val="333399"/>
                    </a:solidFill>
                    <a:latin typeface="楷体_GB2312" pitchFamily="49" charset="-122"/>
                  </a:endParaRPr>
                </a:p>
              </p:txBody>
            </p:sp>
            <p:sp>
              <p:nvSpPr>
                <p:cNvPr id="12338" name="Rectangle 36"/>
                <p:cNvSpPr/>
                <p:nvPr/>
              </p:nvSpPr>
              <p:spPr>
                <a:xfrm>
                  <a:off x="3332" y="850"/>
                  <a:ext cx="52" cy="230"/>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f</a:t>
                  </a:r>
                  <a:endParaRPr lang="en-US" altLang="zh-CN" b="1">
                    <a:solidFill>
                      <a:srgbClr val="333399"/>
                    </a:solidFill>
                    <a:latin typeface="楷体_GB2312" pitchFamily="49" charset="-122"/>
                  </a:endParaRPr>
                </a:p>
              </p:txBody>
            </p:sp>
          </p:grpSp>
        </p:grpSp>
        <p:sp>
          <p:nvSpPr>
            <p:cNvPr id="12308" name="Rectangle 39"/>
            <p:cNvSpPr/>
            <p:nvPr/>
          </p:nvSpPr>
          <p:spPr>
            <a:xfrm>
              <a:off x="4844" y="1905"/>
              <a:ext cx="52" cy="231"/>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2309" name="Rectangle 40"/>
            <p:cNvSpPr/>
            <p:nvPr/>
          </p:nvSpPr>
          <p:spPr>
            <a:xfrm>
              <a:off x="4376" y="2006"/>
              <a:ext cx="92" cy="231"/>
            </a:xfrm>
            <a:prstGeom prst="rect">
              <a:avLst/>
            </a:prstGeom>
            <a:noFill/>
            <a:ln w="9525">
              <a:noFill/>
            </a:ln>
          </p:spPr>
          <p:txBody>
            <a:bodyPr wrap="none" lIns="0" tIns="0" rIns="0" bIns="0">
              <a:spAutoFit/>
            </a:bodyPr>
            <a:p>
              <a:pPr algn="ctr" eaLnBrk="1" hangingPunct="1"/>
              <a:r>
                <a:rPr lang="en-US" altLang="zh-CN" sz="2200" b="0">
                  <a:solidFill>
                    <a:srgbClr val="000080"/>
                  </a:solidFill>
                  <a:latin typeface="Times New Roman" panose="02020603050405020304" pitchFamily="18" charset="0"/>
                </a:rPr>
                <a:t>1</a:t>
              </a:r>
              <a:endParaRPr lang="en-US" altLang="zh-CN" b="1">
                <a:solidFill>
                  <a:srgbClr val="333399"/>
                </a:solidFill>
                <a:latin typeface="楷体_GB2312" pitchFamily="49" charset="-122"/>
              </a:endParaRPr>
            </a:p>
          </p:txBody>
        </p:sp>
        <p:grpSp>
          <p:nvGrpSpPr>
            <p:cNvPr id="12310" name="Group 43"/>
            <p:cNvGrpSpPr/>
            <p:nvPr/>
          </p:nvGrpSpPr>
          <p:grpSpPr>
            <a:xfrm>
              <a:off x="4322" y="2207"/>
              <a:ext cx="196" cy="231"/>
              <a:chOff x="3876" y="2068"/>
              <a:chExt cx="196" cy="231"/>
            </a:xfrm>
          </p:grpSpPr>
          <p:sp>
            <p:nvSpPr>
              <p:cNvPr id="12333" name="Rectangle 41"/>
              <p:cNvSpPr/>
              <p:nvPr/>
            </p:nvSpPr>
            <p:spPr>
              <a:xfrm>
                <a:off x="3876" y="2068"/>
                <a:ext cx="93"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12334" name="Rectangle 42"/>
              <p:cNvSpPr/>
              <p:nvPr/>
            </p:nvSpPr>
            <p:spPr>
              <a:xfrm>
                <a:off x="3969" y="2068"/>
                <a:ext cx="103" cy="231"/>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T</a:t>
                </a:r>
                <a:endParaRPr lang="en-US" altLang="zh-CN" b="1">
                  <a:solidFill>
                    <a:srgbClr val="333399"/>
                  </a:solidFill>
                  <a:latin typeface="楷体_GB2312" pitchFamily="49" charset="-122"/>
                </a:endParaRPr>
              </a:p>
            </p:txBody>
          </p:sp>
        </p:grpSp>
        <p:sp>
          <p:nvSpPr>
            <p:cNvPr id="12311" name="Line 44"/>
            <p:cNvSpPr/>
            <p:nvPr/>
          </p:nvSpPr>
          <p:spPr>
            <a:xfrm>
              <a:off x="4262" y="2199"/>
              <a:ext cx="253" cy="1"/>
            </a:xfrm>
            <a:prstGeom prst="line">
              <a:avLst/>
            </a:prstGeom>
            <a:ln w="0" cap="flat" cmpd="sng">
              <a:solidFill>
                <a:srgbClr val="0000FF"/>
              </a:solidFill>
              <a:prstDash val="solid"/>
              <a:headEnd type="none" w="med" len="med"/>
              <a:tailEnd type="none" w="med" len="med"/>
            </a:ln>
          </p:spPr>
        </p:sp>
        <p:sp>
          <p:nvSpPr>
            <p:cNvPr id="12312" name="Rectangle 45"/>
            <p:cNvSpPr/>
            <p:nvPr/>
          </p:nvSpPr>
          <p:spPr>
            <a:xfrm>
              <a:off x="2213" y="2015"/>
              <a:ext cx="93" cy="230"/>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1</a:t>
              </a:r>
              <a:endParaRPr lang="en-US" altLang="zh-CN" b="1">
                <a:solidFill>
                  <a:srgbClr val="333399"/>
                </a:solidFill>
                <a:latin typeface="楷体_GB2312" pitchFamily="49" charset="-122"/>
              </a:endParaRPr>
            </a:p>
          </p:txBody>
        </p:sp>
        <p:grpSp>
          <p:nvGrpSpPr>
            <p:cNvPr id="12313" name="Group 48"/>
            <p:cNvGrpSpPr/>
            <p:nvPr/>
          </p:nvGrpSpPr>
          <p:grpSpPr>
            <a:xfrm>
              <a:off x="2160" y="2216"/>
              <a:ext cx="196" cy="231"/>
              <a:chOff x="1714" y="2077"/>
              <a:chExt cx="196" cy="231"/>
            </a:xfrm>
          </p:grpSpPr>
          <p:sp>
            <p:nvSpPr>
              <p:cNvPr id="12331" name="Rectangle 46"/>
              <p:cNvSpPr/>
              <p:nvPr/>
            </p:nvSpPr>
            <p:spPr>
              <a:xfrm>
                <a:off x="1714" y="2077"/>
                <a:ext cx="93"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12332" name="Rectangle 47"/>
              <p:cNvSpPr/>
              <p:nvPr/>
            </p:nvSpPr>
            <p:spPr>
              <a:xfrm>
                <a:off x="1807" y="2077"/>
                <a:ext cx="103" cy="231"/>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T</a:t>
                </a:r>
                <a:endParaRPr lang="en-US" altLang="zh-CN" b="1">
                  <a:solidFill>
                    <a:srgbClr val="333399"/>
                  </a:solidFill>
                  <a:latin typeface="楷体_GB2312" pitchFamily="49" charset="-122"/>
                </a:endParaRPr>
              </a:p>
            </p:txBody>
          </p:sp>
        </p:grpSp>
        <p:sp>
          <p:nvSpPr>
            <p:cNvPr id="12314" name="Line 49"/>
            <p:cNvSpPr/>
            <p:nvPr/>
          </p:nvSpPr>
          <p:spPr>
            <a:xfrm>
              <a:off x="2100" y="2207"/>
              <a:ext cx="252" cy="1"/>
            </a:xfrm>
            <a:prstGeom prst="line">
              <a:avLst/>
            </a:prstGeom>
            <a:ln w="0" cap="flat" cmpd="sng">
              <a:solidFill>
                <a:srgbClr val="0000FF"/>
              </a:solidFill>
              <a:prstDash val="solid"/>
              <a:headEnd type="none" w="med" len="med"/>
              <a:tailEnd type="none" w="med" len="med"/>
            </a:ln>
          </p:spPr>
        </p:sp>
        <p:sp>
          <p:nvSpPr>
            <p:cNvPr id="12315" name="Rectangle 50"/>
            <p:cNvSpPr/>
            <p:nvPr/>
          </p:nvSpPr>
          <p:spPr>
            <a:xfrm>
              <a:off x="2033" y="2031"/>
              <a:ext cx="96" cy="357"/>
            </a:xfrm>
            <a:prstGeom prst="rect">
              <a:avLst/>
            </a:prstGeom>
            <a:noFill/>
            <a:ln w="9525">
              <a:noFill/>
            </a:ln>
          </p:spPr>
          <p:txBody>
            <a:bodyPr wrap="none" lIns="0" tIns="0" rIns="0" bIns="0">
              <a:spAutoFit/>
            </a:bodyPr>
            <a:p>
              <a:pPr algn="ctr" eaLnBrk="1" hangingPunct="1"/>
              <a:r>
                <a:rPr lang="en-US" altLang="zh-CN" sz="3400" b="0">
                  <a:solidFill>
                    <a:srgbClr val="0000FF"/>
                  </a:solidFill>
                  <a:latin typeface="Times New Roman" panose="02020603050405020304" pitchFamily="18" charset="0"/>
                </a:rPr>
                <a:t>-</a:t>
              </a:r>
              <a:endParaRPr lang="en-US" altLang="zh-CN" b="1">
                <a:solidFill>
                  <a:srgbClr val="333399"/>
                </a:solidFill>
                <a:latin typeface="楷体_GB2312" pitchFamily="49" charset="-122"/>
              </a:endParaRPr>
            </a:p>
          </p:txBody>
        </p:sp>
        <p:sp>
          <p:nvSpPr>
            <p:cNvPr id="12316" name="Oval 51"/>
            <p:cNvSpPr/>
            <p:nvPr/>
          </p:nvSpPr>
          <p:spPr>
            <a:xfrm>
              <a:off x="2477" y="1459"/>
              <a:ext cx="834" cy="1577"/>
            </a:xfrm>
            <a:prstGeom prst="ellipse">
              <a:avLst/>
            </a:prstGeom>
            <a:noFill/>
            <a:ln w="0" cap="flat" cmpd="sng">
              <a:solidFill>
                <a:srgbClr val="00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2317" name="Rectangle 52"/>
            <p:cNvSpPr/>
            <p:nvPr/>
          </p:nvSpPr>
          <p:spPr>
            <a:xfrm>
              <a:off x="2461" y="2006"/>
              <a:ext cx="1672" cy="1042"/>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2318" name="Rectangle 53"/>
            <p:cNvSpPr/>
            <p:nvPr/>
          </p:nvSpPr>
          <p:spPr>
            <a:xfrm>
              <a:off x="3294" y="2031"/>
              <a:ext cx="93"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0</a:t>
              </a:r>
              <a:endParaRPr lang="en-US" altLang="zh-CN" b="1">
                <a:solidFill>
                  <a:srgbClr val="333399"/>
                </a:solidFill>
                <a:latin typeface="楷体_GB2312" pitchFamily="49" charset="-122"/>
              </a:endParaRPr>
            </a:p>
          </p:txBody>
        </p:sp>
        <p:grpSp>
          <p:nvGrpSpPr>
            <p:cNvPr id="12319" name="Group 56"/>
            <p:cNvGrpSpPr/>
            <p:nvPr/>
          </p:nvGrpSpPr>
          <p:grpSpPr>
            <a:xfrm>
              <a:off x="4052" y="2031"/>
              <a:ext cx="116" cy="263"/>
              <a:chOff x="3606" y="1892"/>
              <a:chExt cx="116" cy="263"/>
            </a:xfrm>
          </p:grpSpPr>
          <p:sp>
            <p:nvSpPr>
              <p:cNvPr id="12329" name="Rectangle 54"/>
              <p:cNvSpPr/>
              <p:nvPr/>
            </p:nvSpPr>
            <p:spPr>
              <a:xfrm>
                <a:off x="3606" y="1892"/>
                <a:ext cx="52" cy="230"/>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2330" name="Rectangle 55"/>
              <p:cNvSpPr/>
              <p:nvPr/>
            </p:nvSpPr>
            <p:spPr>
              <a:xfrm>
                <a:off x="3643" y="2009"/>
                <a:ext cx="79" cy="146"/>
              </a:xfrm>
              <a:prstGeom prst="rect">
                <a:avLst/>
              </a:prstGeom>
              <a:noFill/>
              <a:ln w="9525">
                <a:noFill/>
              </a:ln>
            </p:spPr>
            <p:txBody>
              <a:bodyPr wrap="none" lIns="0" tIns="0" rIns="0" bIns="0">
                <a:spAutoFit/>
              </a:bodyPr>
              <a:p>
                <a:pPr algn="ctr" eaLnBrk="1" hangingPunct="1"/>
                <a:r>
                  <a:rPr lang="en-US" altLang="zh-CN" sz="1400" b="0">
                    <a:solidFill>
                      <a:srgbClr val="0000FF"/>
                    </a:solidFill>
                    <a:latin typeface="Times New Roman" panose="02020603050405020304" pitchFamily="18" charset="0"/>
                  </a:rPr>
                  <a:t>C</a:t>
                </a:r>
                <a:endParaRPr lang="en-US" altLang="zh-CN" b="1">
                  <a:solidFill>
                    <a:srgbClr val="333399"/>
                  </a:solidFill>
                  <a:latin typeface="楷体_GB2312" pitchFamily="49" charset="-122"/>
                </a:endParaRPr>
              </a:p>
            </p:txBody>
          </p:sp>
        </p:grpSp>
        <p:grpSp>
          <p:nvGrpSpPr>
            <p:cNvPr id="12320" name="Group 61"/>
            <p:cNvGrpSpPr/>
            <p:nvPr/>
          </p:nvGrpSpPr>
          <p:grpSpPr>
            <a:xfrm>
              <a:off x="2428" y="2014"/>
              <a:ext cx="209" cy="281"/>
              <a:chOff x="1982" y="1875"/>
              <a:chExt cx="209" cy="281"/>
            </a:xfrm>
          </p:grpSpPr>
          <p:grpSp>
            <p:nvGrpSpPr>
              <p:cNvPr id="12325" name="Group 59"/>
              <p:cNvGrpSpPr/>
              <p:nvPr/>
            </p:nvGrpSpPr>
            <p:grpSpPr>
              <a:xfrm>
                <a:off x="2075" y="1892"/>
                <a:ext cx="116" cy="264"/>
                <a:chOff x="2075" y="1892"/>
                <a:chExt cx="116" cy="264"/>
              </a:xfrm>
            </p:grpSpPr>
            <p:sp>
              <p:nvSpPr>
                <p:cNvPr id="12327" name="Rectangle 57"/>
                <p:cNvSpPr/>
                <p:nvPr/>
              </p:nvSpPr>
              <p:spPr>
                <a:xfrm>
                  <a:off x="2075" y="1892"/>
                  <a:ext cx="52" cy="231"/>
                </a:xfrm>
                <a:prstGeom prst="rect">
                  <a:avLst/>
                </a:prstGeom>
                <a:noFill/>
                <a:ln w="9525">
                  <a:noFill/>
                </a:ln>
              </p:spPr>
              <p:txBody>
                <a:bodyPr wrap="none" lIns="0" tIns="0" rIns="0" bIns="0">
                  <a:spAutoFit/>
                </a:bodyPr>
                <a:p>
                  <a:pPr algn="ctr" eaLnBrk="1" hangingPunct="1"/>
                  <a:r>
                    <a:rPr lang="en-US" altLang="zh-CN" sz="2200" b="0" i="1">
                      <a:solidFill>
                        <a:srgbClr val="0000FF"/>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2328" name="Rectangle 58"/>
                <p:cNvSpPr/>
                <p:nvPr/>
              </p:nvSpPr>
              <p:spPr>
                <a:xfrm>
                  <a:off x="2112" y="2009"/>
                  <a:ext cx="79" cy="147"/>
                </a:xfrm>
                <a:prstGeom prst="rect">
                  <a:avLst/>
                </a:prstGeom>
                <a:noFill/>
                <a:ln w="9525">
                  <a:noFill/>
                </a:ln>
              </p:spPr>
              <p:txBody>
                <a:bodyPr wrap="none" lIns="0" tIns="0" rIns="0" bIns="0">
                  <a:spAutoFit/>
                </a:bodyPr>
                <a:p>
                  <a:pPr algn="ctr" eaLnBrk="1" hangingPunct="1"/>
                  <a:r>
                    <a:rPr lang="en-US" altLang="zh-CN" sz="1400" b="0">
                      <a:solidFill>
                        <a:srgbClr val="0000FF"/>
                      </a:solidFill>
                      <a:latin typeface="Times New Roman" panose="02020603050405020304" pitchFamily="18" charset="0"/>
                    </a:rPr>
                    <a:t>C</a:t>
                  </a:r>
                  <a:endParaRPr lang="en-US" altLang="zh-CN" b="1">
                    <a:solidFill>
                      <a:srgbClr val="333399"/>
                    </a:solidFill>
                    <a:latin typeface="楷体_GB2312" pitchFamily="49" charset="-122"/>
                  </a:endParaRPr>
                </a:p>
              </p:txBody>
            </p:sp>
          </p:grpSp>
          <p:sp>
            <p:nvSpPr>
              <p:cNvPr id="12326" name="Rectangle 60"/>
              <p:cNvSpPr/>
              <p:nvPr/>
            </p:nvSpPr>
            <p:spPr>
              <a:xfrm>
                <a:off x="1982" y="1875"/>
                <a:ext cx="62" cy="231"/>
              </a:xfrm>
              <a:prstGeom prst="rect">
                <a:avLst/>
              </a:prstGeom>
              <a:noFill/>
              <a:ln w="9525">
                <a:noFill/>
              </a:ln>
            </p:spPr>
            <p:txBody>
              <a:bodyPr wrap="none" lIns="0" tIns="0" rIns="0" bIns="0">
                <a:spAutoFit/>
              </a:bodyPr>
              <a:p>
                <a:pPr algn="ctr" eaLnBrk="1" hangingPunct="1"/>
                <a:r>
                  <a:rPr lang="en-US" altLang="zh-CN" sz="2200" b="0">
                    <a:solidFill>
                      <a:srgbClr val="0000FF"/>
                    </a:solidFill>
                    <a:latin typeface="Times New Roman" panose="02020603050405020304" pitchFamily="18" charset="0"/>
                  </a:rPr>
                  <a:t>-</a:t>
                </a:r>
                <a:endParaRPr lang="en-US" altLang="zh-CN" b="1">
                  <a:solidFill>
                    <a:srgbClr val="333399"/>
                  </a:solidFill>
                  <a:latin typeface="楷体_GB2312" pitchFamily="49" charset="-122"/>
                </a:endParaRPr>
              </a:p>
            </p:txBody>
          </p:sp>
        </p:grpSp>
        <p:sp>
          <p:nvSpPr>
            <p:cNvPr id="12321" name="Rectangle 62"/>
            <p:cNvSpPr/>
            <p:nvPr/>
          </p:nvSpPr>
          <p:spPr>
            <a:xfrm>
              <a:off x="2452" y="1994"/>
              <a:ext cx="1678" cy="2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2322" name="Line 63"/>
            <p:cNvSpPr/>
            <p:nvPr/>
          </p:nvSpPr>
          <p:spPr>
            <a:xfrm>
              <a:off x="1989" y="1989"/>
              <a:ext cx="2739" cy="1"/>
            </a:xfrm>
            <a:prstGeom prst="line">
              <a:avLst/>
            </a:prstGeom>
            <a:ln w="0" cap="flat" cmpd="sng">
              <a:solidFill>
                <a:srgbClr val="0000FF"/>
              </a:solidFill>
              <a:prstDash val="solid"/>
              <a:headEnd type="none" w="med" len="med"/>
              <a:tailEnd type="none" w="med" len="med"/>
            </a:ln>
          </p:spPr>
        </p:sp>
        <p:sp>
          <p:nvSpPr>
            <p:cNvPr id="12323" name="Rectangle 64"/>
            <p:cNvSpPr/>
            <p:nvPr/>
          </p:nvSpPr>
          <p:spPr>
            <a:xfrm>
              <a:off x="4488" y="2300"/>
              <a:ext cx="66" cy="147"/>
            </a:xfrm>
            <a:prstGeom prst="rect">
              <a:avLst/>
            </a:prstGeom>
            <a:noFill/>
            <a:ln w="9525">
              <a:noFill/>
            </a:ln>
          </p:spPr>
          <p:txBody>
            <a:bodyPr wrap="none" lIns="0" tIns="0" rIns="0" bIns="0">
              <a:spAutoFit/>
            </a:bodyPr>
            <a:p>
              <a:pPr algn="ctr" eaLnBrk="1" hangingPunct="1"/>
              <a:r>
                <a:rPr lang="en-US" altLang="zh-CN" sz="1400" b="0">
                  <a:solidFill>
                    <a:srgbClr val="0000FF"/>
                  </a:solidFill>
                  <a:latin typeface="Times New Roman" panose="02020603050405020304" pitchFamily="18" charset="0"/>
                </a:rPr>
                <a:t>S</a:t>
              </a:r>
              <a:endParaRPr lang="en-US" altLang="zh-CN" b="1">
                <a:solidFill>
                  <a:srgbClr val="333399"/>
                </a:solidFill>
                <a:latin typeface="楷体_GB2312" pitchFamily="49" charset="-122"/>
              </a:endParaRPr>
            </a:p>
          </p:txBody>
        </p:sp>
        <p:sp>
          <p:nvSpPr>
            <p:cNvPr id="12324" name="Rectangle 65"/>
            <p:cNvSpPr/>
            <p:nvPr/>
          </p:nvSpPr>
          <p:spPr>
            <a:xfrm>
              <a:off x="2320" y="2305"/>
              <a:ext cx="65" cy="147"/>
            </a:xfrm>
            <a:prstGeom prst="rect">
              <a:avLst/>
            </a:prstGeom>
            <a:noFill/>
            <a:ln w="9525">
              <a:noFill/>
            </a:ln>
          </p:spPr>
          <p:txBody>
            <a:bodyPr wrap="none" lIns="0" tIns="0" rIns="0" bIns="0">
              <a:spAutoFit/>
            </a:bodyPr>
            <a:p>
              <a:pPr algn="ctr" eaLnBrk="1" hangingPunct="1"/>
              <a:r>
                <a:rPr lang="en-US" altLang="zh-CN" sz="1400" b="0">
                  <a:solidFill>
                    <a:srgbClr val="0000FF"/>
                  </a:solidFill>
                  <a:latin typeface="Times New Roman" panose="02020603050405020304" pitchFamily="18" charset="0"/>
                </a:rPr>
                <a:t>S</a:t>
              </a:r>
              <a:endParaRPr lang="en-US" altLang="zh-CN" b="1">
                <a:solidFill>
                  <a:srgbClr val="333399"/>
                </a:solidFill>
                <a:latin typeface="楷体_GB2312" pitchFamily="49" charset="-122"/>
              </a:endParaRPr>
            </a:p>
          </p:txBody>
        </p:sp>
      </p:grpSp>
      <p:sp>
        <p:nvSpPr>
          <p:cNvPr id="2249745" name="Text Box 17"/>
          <p:cNvSpPr txBox="1"/>
          <p:nvPr/>
        </p:nvSpPr>
        <p:spPr>
          <a:xfrm>
            <a:off x="468313" y="4962525"/>
            <a:ext cx="4324350" cy="519113"/>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条件</a:t>
            </a:r>
            <a:r>
              <a:rPr lang="en-US" altLang="zh-CN" sz="2800" b="1">
                <a:solidFill>
                  <a:schemeClr val="tx1"/>
                </a:solidFill>
                <a:latin typeface="Times New Roman" panose="02020603050405020304" pitchFamily="18" charset="0"/>
                <a:ea typeface="黑体" panose="02010609060101010101" pitchFamily="49" charset="-122"/>
              </a:rPr>
              <a:t>2</a:t>
            </a:r>
            <a:r>
              <a:rPr lang="zh-CN" altLang="en-US" sz="2800" b="1" dirty="0">
                <a:solidFill>
                  <a:schemeClr val="tx1"/>
                </a:solidFill>
                <a:latin typeface="Times New Roman" panose="02020603050405020304" pitchFamily="18" charset="0"/>
                <a:ea typeface="黑体" panose="02010609060101010101" pitchFamily="49" charset="-122"/>
              </a:rPr>
              <a:t>的物理意义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49746" name="Text Box 18"/>
          <p:cNvSpPr txBox="1"/>
          <p:nvPr/>
        </p:nvSpPr>
        <p:spPr>
          <a:xfrm>
            <a:off x="611188" y="5538788"/>
            <a:ext cx="7813675" cy="519112"/>
          </a:xfrm>
          <a:prstGeom prst="rect">
            <a:avLst/>
          </a:prstGeom>
          <a:solidFill>
            <a:srgbClr val="FFFF99"/>
          </a:solidFill>
          <a:ln w="9525">
            <a:noFill/>
          </a:ln>
        </p:spPr>
        <p:txBody>
          <a:bodyPr>
            <a:spAutoFit/>
          </a:bodyPr>
          <a:p>
            <a:pPr algn="l" eaLnBrk="1" hangingPunct="1"/>
            <a:r>
              <a:rPr lang="zh-CN" altLang="en-US" sz="2800" b="1" dirty="0">
                <a:solidFill>
                  <a:srgbClr val="3333CC"/>
                </a:solidFill>
                <a:latin typeface="黑体" panose="02010609060101010101" pitchFamily="49" charset="-122"/>
                <a:ea typeface="黑体" panose="02010609060101010101" pitchFamily="49" charset="-122"/>
              </a:rPr>
              <a:t>采样周期</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宋体" panose="02010600030101010101" pitchFamily="2" charset="-122"/>
              </a:rPr>
              <a:t>S</a:t>
            </a:r>
            <a:r>
              <a:rPr lang="zh-CN" altLang="en-US" sz="2800" b="1" dirty="0">
                <a:solidFill>
                  <a:srgbClr val="3333CC"/>
                </a:solidFill>
                <a:latin typeface="黑体" panose="02010609060101010101" pitchFamily="49" charset="-122"/>
                <a:ea typeface="黑体" panose="02010609060101010101" pitchFamily="49" charset="-122"/>
              </a:rPr>
              <a:t>不能大于信号截止周期</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宋体" panose="02010600030101010101" pitchFamily="2" charset="-122"/>
              </a:rPr>
              <a:t>C</a:t>
            </a:r>
            <a:r>
              <a:rPr lang="zh-CN" altLang="en-US" sz="2800" b="1" dirty="0">
                <a:solidFill>
                  <a:srgbClr val="3333CC"/>
                </a:solidFill>
                <a:latin typeface="黑体" panose="02010609060101010101" pitchFamily="49" charset="-122"/>
                <a:ea typeface="黑体" panose="02010609060101010101" pitchFamily="49" charset="-122"/>
              </a:rPr>
              <a:t>的一半。</a:t>
            </a:r>
            <a:endParaRPr lang="zh-CN" altLang="en-US" sz="2800" b="1" dirty="0">
              <a:solidFill>
                <a:srgbClr val="3333CC"/>
              </a:solidFill>
              <a:latin typeface="黑体" panose="02010609060101010101" pitchFamily="49" charset="-122"/>
              <a:ea typeface="黑体" panose="02010609060101010101" pitchFamily="49" charset="-122"/>
            </a:endParaRPr>
          </a:p>
        </p:txBody>
      </p:sp>
      <p:sp>
        <p:nvSpPr>
          <p:cNvPr id="2249748" name="Text Box 2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9749" name="Text Box 21"/>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12295" name="Text Box 22"/>
          <p:cNvSpPr txBox="1"/>
          <p:nvPr/>
        </p:nvSpPr>
        <p:spPr>
          <a:xfrm>
            <a:off x="358775" y="796925"/>
            <a:ext cx="7740650"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2.3.2 </a:t>
            </a:r>
            <a:r>
              <a:rPr lang="zh-CN" altLang="en-US" sz="3200" b="1" dirty="0">
                <a:solidFill>
                  <a:srgbClr val="333399"/>
                </a:solidFill>
                <a:latin typeface="楷体_GB2312" pitchFamily="49" charset="-122"/>
              </a:rPr>
              <a:t>采样定理一中两个条件的物理意义</a:t>
            </a:r>
            <a:endParaRPr lang="zh-CN" altLang="en-US" sz="3200" b="1" dirty="0">
              <a:solidFill>
                <a:srgbClr val="333399"/>
              </a:solidFill>
              <a:latin typeface="楷体_GB2312" pitchFamily="49" charset="-122"/>
            </a:endParaRPr>
          </a:p>
        </p:txBody>
      </p:sp>
      <p:sp>
        <p:nvSpPr>
          <p:cNvPr id="2249794" name="Rectangle 66"/>
          <p:cNvSpPr/>
          <p:nvPr/>
        </p:nvSpPr>
        <p:spPr>
          <a:xfrm>
            <a:off x="787400" y="3573463"/>
            <a:ext cx="2254250" cy="427037"/>
          </a:xfrm>
          <a:prstGeom prst="rect">
            <a:avLst/>
          </a:prstGeom>
          <a:solidFill>
            <a:srgbClr val="CCFFFF"/>
          </a:solidFill>
          <a:ln w="9525">
            <a:noFill/>
          </a:ln>
        </p:spPr>
        <p:txBody>
          <a:bodyPr wrap="none" lIns="0" tIns="0" rIns="0" bIns="0">
            <a:spAutoFit/>
          </a:bodyPr>
          <a:p>
            <a:pPr algn="ctr" eaLnBrk="1" hangingPunct="1"/>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宋体" panose="02010600030101010101" pitchFamily="2" charset="-122"/>
              </a:rPr>
              <a:t>C</a:t>
            </a:r>
            <a:r>
              <a:rPr lang="zh-CN" altLang="en-US" sz="2800" b="1" dirty="0">
                <a:solidFill>
                  <a:schemeClr val="tx1"/>
                </a:solidFill>
                <a:latin typeface="黑体" panose="02010609060101010101" pitchFamily="49" charset="-122"/>
                <a:ea typeface="黑体" panose="02010609060101010101" pitchFamily="49" charset="-122"/>
              </a:rPr>
              <a:t>与</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宋体" panose="02010600030101010101" pitchFamily="2" charset="-122"/>
              </a:rPr>
              <a:t>S</a:t>
            </a:r>
            <a:r>
              <a:rPr lang="zh-CN" altLang="en-US" sz="2800" b="1" dirty="0">
                <a:solidFill>
                  <a:schemeClr val="tx1"/>
                </a:solidFill>
                <a:latin typeface="黑体" panose="02010609060101010101" pitchFamily="49" charset="-122"/>
                <a:ea typeface="黑体" panose="02010609060101010101" pitchFamily="49" charset="-122"/>
              </a:rPr>
              <a:t>的关系</a:t>
            </a:r>
            <a:r>
              <a:rPr lang="en-US" altLang="zh-CN" sz="2800" b="1">
                <a:solidFill>
                  <a:schemeClr val="tx1"/>
                </a:solidFill>
                <a:latin typeface="黑体" panose="02010609060101010101" pitchFamily="49" charset="-122"/>
                <a:ea typeface="黑体" panose="02010609060101010101" pitchFamily="49" charset="-122"/>
              </a:rPr>
              <a:t>:</a:t>
            </a:r>
            <a:endParaRPr lang="en-US" altLang="zh-CN" sz="2800" b="1">
              <a:solidFill>
                <a:schemeClr val="tx1"/>
              </a:solidFill>
              <a:latin typeface="黑体" panose="02010609060101010101" pitchFamily="49" charset="-122"/>
              <a:ea typeface="黑体" panose="02010609060101010101" pitchFamily="49" charset="-122"/>
            </a:endParaRPr>
          </a:p>
        </p:txBody>
      </p:sp>
      <p:sp>
        <p:nvSpPr>
          <p:cNvPr id="2253838" name="Text Box 1038"/>
          <p:cNvSpPr txBox="1"/>
          <p:nvPr/>
        </p:nvSpPr>
        <p:spPr>
          <a:xfrm>
            <a:off x="431800" y="1508125"/>
            <a:ext cx="3743325" cy="519113"/>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条件</a:t>
            </a:r>
            <a:r>
              <a:rPr lang="en-US" altLang="zh-CN" sz="2800" b="1">
                <a:solidFill>
                  <a:schemeClr val="tx1"/>
                </a:solidFill>
                <a:latin typeface="Times New Roman" panose="02020603050405020304" pitchFamily="18" charset="0"/>
                <a:ea typeface="黑体" panose="02010609060101010101" pitchFamily="49" charset="-122"/>
              </a:rPr>
              <a:t>1</a:t>
            </a:r>
            <a:r>
              <a:rPr lang="zh-CN" altLang="en-US" sz="2800" b="1" dirty="0">
                <a:solidFill>
                  <a:schemeClr val="tx1"/>
                </a:solidFill>
                <a:latin typeface="Times New Roman" panose="02020603050405020304" pitchFamily="18" charset="0"/>
                <a:ea typeface="黑体" panose="02010609060101010101" pitchFamily="49" charset="-122"/>
              </a:rPr>
              <a:t>的物理意义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3839" name="Text Box 1039"/>
          <p:cNvSpPr txBox="1"/>
          <p:nvPr/>
        </p:nvSpPr>
        <p:spPr>
          <a:xfrm>
            <a:off x="431800" y="2046288"/>
            <a:ext cx="7913688" cy="946150"/>
          </a:xfrm>
          <a:prstGeom prst="rect">
            <a:avLst/>
          </a:prstGeom>
          <a:solidFill>
            <a:srgbClr val="FFFF99"/>
          </a:solidFill>
          <a:ln w="9525">
            <a:noFill/>
          </a:ln>
        </p:spPr>
        <p:txBody>
          <a:bodyPr>
            <a:spAutoFit/>
          </a:bodyPr>
          <a:p>
            <a:pPr algn="l" eaLnBrk="1" hangingPunct="1"/>
            <a:r>
              <a:rPr lang="zh-CN" altLang="en-US" sz="2800" b="1" dirty="0">
                <a:solidFill>
                  <a:srgbClr val="3333CC"/>
                </a:solidFill>
                <a:latin typeface="黑体" panose="02010609060101010101" pitchFamily="49" charset="-122"/>
                <a:ea typeface="黑体" panose="02010609060101010101" pitchFamily="49" charset="-122"/>
              </a:rPr>
              <a:t>模拟信号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CC"/>
                </a:solidFill>
                <a:latin typeface="黑体" panose="02010609060101010101" pitchFamily="49" charset="-122"/>
                <a:ea typeface="黑体" panose="02010609060101010101" pitchFamily="49" charset="-122"/>
              </a:rPr>
              <a:t>的频率范围是有限的，只包含低于</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i="1" baseline="-25000" err="1">
                <a:solidFill>
                  <a:srgbClr val="FF0000"/>
                </a:solidFill>
                <a:latin typeface="Times New Roman" panose="02020603050405020304" pitchFamily="18" charset="0"/>
                <a:ea typeface="黑体" panose="02010609060101010101" pitchFamily="49" charset="-122"/>
              </a:rPr>
              <a:t>C</a:t>
            </a:r>
            <a:r>
              <a:rPr lang="zh-CN" altLang="en-US" sz="2800" b="1" dirty="0">
                <a:solidFill>
                  <a:srgbClr val="3333CC"/>
                </a:solidFill>
                <a:latin typeface="黑体" panose="02010609060101010101" pitchFamily="49" charset="-122"/>
                <a:ea typeface="黑体" panose="02010609060101010101" pitchFamily="49" charset="-122"/>
              </a:rPr>
              <a:t>的频率部分。</a:t>
            </a:r>
            <a:endParaRPr lang="zh-CN" altLang="en-US" sz="2800" b="1" dirty="0">
              <a:solidFill>
                <a:srgbClr val="3333CC"/>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95"/>
                                        </p:tgtEl>
                                        <p:attrNameLst>
                                          <p:attrName>style.visibility</p:attrName>
                                        </p:attrNameLst>
                                      </p:cBhvr>
                                      <p:to>
                                        <p:strVal val="visible"/>
                                      </p:to>
                                    </p:set>
                                    <p:animEffect transition="in" filter="dissolve">
                                      <p:cBhvr>
                                        <p:cTn id="7" dur="500"/>
                                        <p:tgtEl>
                                          <p:spTgt spid="122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3838"/>
                                        </p:tgtEl>
                                        <p:attrNameLst>
                                          <p:attrName>style.visibility</p:attrName>
                                        </p:attrNameLst>
                                      </p:cBhvr>
                                      <p:to>
                                        <p:strVal val="visible"/>
                                      </p:to>
                                    </p:set>
                                    <p:animEffect transition="in" filter="dissolve">
                                      <p:cBhvr>
                                        <p:cTn id="12" dur="500"/>
                                        <p:tgtEl>
                                          <p:spTgt spid="225383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53839"/>
                                        </p:tgtEl>
                                        <p:attrNameLst>
                                          <p:attrName>style.visibility</p:attrName>
                                        </p:attrNameLst>
                                      </p:cBhvr>
                                      <p:to>
                                        <p:strVal val="visible"/>
                                      </p:to>
                                    </p:set>
                                    <p:animEffect transition="in" filter="dissolve">
                                      <p:cBhvr>
                                        <p:cTn id="15" dur="500"/>
                                        <p:tgtEl>
                                          <p:spTgt spid="225383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49794"/>
                                        </p:tgtEl>
                                        <p:attrNameLst>
                                          <p:attrName>style.visibility</p:attrName>
                                        </p:attrNameLst>
                                      </p:cBhvr>
                                      <p:to>
                                        <p:strVal val="visible"/>
                                      </p:to>
                                    </p:set>
                                    <p:animEffect transition="in" filter="dissolve">
                                      <p:cBhvr>
                                        <p:cTn id="20" dur="500"/>
                                        <p:tgtEl>
                                          <p:spTgt spid="2249794"/>
                                        </p:tgtEl>
                                      </p:cBhvr>
                                    </p:animEffect>
                                  </p:childTnLst>
                                </p:cTn>
                              </p:par>
                              <p:par>
                                <p:cTn id="21" presetID="9" presetClass="entr" presetSubtype="0" fill="hold" nodeType="withEffect">
                                  <p:stCondLst>
                                    <p:cond delay="0"/>
                                  </p:stCondLst>
                                  <p:childTnLst>
                                    <p:set>
                                      <p:cBhvr>
                                        <p:cTn id="22" dur="1" fill="hold">
                                          <p:stCondLst>
                                            <p:cond delay="0"/>
                                          </p:stCondLst>
                                        </p:cTn>
                                        <p:tgtEl>
                                          <p:spTgt spid="2249801"/>
                                        </p:tgtEl>
                                        <p:attrNameLst>
                                          <p:attrName>style.visibility</p:attrName>
                                        </p:attrNameLst>
                                      </p:cBhvr>
                                      <p:to>
                                        <p:strVal val="visible"/>
                                      </p:to>
                                    </p:set>
                                    <p:animEffect transition="in" filter="dissolve">
                                      <p:cBhvr>
                                        <p:cTn id="23" dur="500"/>
                                        <p:tgtEl>
                                          <p:spTgt spid="224980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249745"/>
                                        </p:tgtEl>
                                        <p:attrNameLst>
                                          <p:attrName>style.visibility</p:attrName>
                                        </p:attrNameLst>
                                      </p:cBhvr>
                                      <p:to>
                                        <p:strVal val="visible"/>
                                      </p:to>
                                    </p:set>
                                    <p:animEffect transition="in" filter="dissolve">
                                      <p:cBhvr>
                                        <p:cTn id="28" dur="500"/>
                                        <p:tgtEl>
                                          <p:spTgt spid="22497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249746"/>
                                        </p:tgtEl>
                                        <p:attrNameLst>
                                          <p:attrName>style.visibility</p:attrName>
                                        </p:attrNameLst>
                                      </p:cBhvr>
                                      <p:to>
                                        <p:strVal val="visible"/>
                                      </p:to>
                                    </p:set>
                                    <p:animEffect transition="in" filter="dissolve">
                                      <p:cBhvr>
                                        <p:cTn id="31" dur="500"/>
                                        <p:tgtEl>
                                          <p:spTgt spid="2249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9745" grpId="0"/>
      <p:bldP spid="2249746" grpId="0" bldLvl="0" animBg="1"/>
      <p:bldP spid="12295" grpId="0" bldLvl="0" animBg="1"/>
      <p:bldP spid="2249794" grpId="0" bldLvl="0" animBg="1"/>
      <p:bldP spid="2253838" grpId="0"/>
      <p:bldP spid="2253839" grpId="0" bldLvl="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9748" name="Text Box 2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9749" name="Text Box 21"/>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103473" name="Text Box 22"/>
          <p:cNvSpPr txBox="1"/>
          <p:nvPr/>
        </p:nvSpPr>
        <p:spPr>
          <a:xfrm>
            <a:off x="358775" y="796925"/>
            <a:ext cx="7740650" cy="519113"/>
          </a:xfrm>
          <a:prstGeom prst="rect">
            <a:avLst/>
          </a:prstGeom>
          <a:solidFill>
            <a:srgbClr val="99CCFF"/>
          </a:solidFill>
          <a:ln w="9525">
            <a:noFill/>
          </a:ln>
        </p:spPr>
        <p:txBody>
          <a:bodyPr>
            <a:spAutoFit/>
          </a:bodyPr>
          <a:p>
            <a:pPr algn="l" eaLnBrk="1" hangingPunct="1"/>
            <a:r>
              <a:rPr lang="en-US" altLang="zh-CN" sz="2800" b="1">
                <a:solidFill>
                  <a:srgbClr val="333399"/>
                </a:solidFill>
                <a:latin typeface="楷体_GB2312" pitchFamily="49" charset="-122"/>
              </a:rPr>
              <a:t>2.3.3 </a:t>
            </a:r>
            <a:r>
              <a:rPr lang="zh-CN" altLang="en-US" sz="2800" b="1" dirty="0">
                <a:solidFill>
                  <a:srgbClr val="333399"/>
                </a:solidFill>
                <a:latin typeface="楷体_GB2312" pitchFamily="49" charset="-122"/>
              </a:rPr>
              <a:t>满足采样定理一两个条件的必要性讨论</a:t>
            </a:r>
            <a:endParaRPr lang="zh-CN" altLang="en-US" sz="2800" b="1" dirty="0">
              <a:solidFill>
                <a:srgbClr val="333399"/>
              </a:solidFill>
              <a:latin typeface="楷体_GB2312" pitchFamily="49" charset="-122"/>
            </a:endParaRPr>
          </a:p>
        </p:txBody>
      </p:sp>
      <p:sp>
        <p:nvSpPr>
          <p:cNvPr id="2249794" name="Rectangle 66"/>
          <p:cNvSpPr/>
          <p:nvPr/>
        </p:nvSpPr>
        <p:spPr>
          <a:xfrm>
            <a:off x="358775" y="1520825"/>
            <a:ext cx="4289425" cy="365125"/>
          </a:xfrm>
          <a:prstGeom prst="rect">
            <a:avLst/>
          </a:prstGeom>
          <a:solidFill>
            <a:srgbClr val="CCFFFF"/>
          </a:solidFill>
          <a:ln w="9525">
            <a:noFill/>
          </a:ln>
        </p:spPr>
        <p:txBody>
          <a:bodyPr wrap="none" lIns="0" tIns="0" rIns="0" bIns="0">
            <a:spAutoFit/>
          </a:bodyPr>
          <a:p>
            <a:pPr algn="ctr" eaLnBrk="1" hangingPunct="1"/>
            <a:r>
              <a:rPr lang="zh-CN" altLang="en-US" sz="2400" b="1" dirty="0">
                <a:solidFill>
                  <a:srgbClr val="FF0000"/>
                </a:solidFill>
                <a:latin typeface="Times New Roman" panose="02020603050405020304" pitchFamily="18" charset="0"/>
                <a:ea typeface="黑体" panose="02010609060101010101" pitchFamily="49" charset="-122"/>
              </a:rPr>
              <a:t>门函数（矩形脉冲信号）的频谱</a:t>
            </a:r>
            <a:endParaRPr lang="zh-CN" altLang="en-US" sz="2400" b="1" dirty="0">
              <a:solidFill>
                <a:srgbClr val="FF0000"/>
              </a:solidFill>
              <a:latin typeface="Times New Roman" panose="02020603050405020304" pitchFamily="18" charset="0"/>
              <a:ea typeface="黑体" panose="02010609060101010101" pitchFamily="49" charset="-122"/>
            </a:endParaRPr>
          </a:p>
        </p:txBody>
      </p:sp>
      <p:graphicFrame>
        <p:nvGraphicFramePr>
          <p:cNvPr id="103475" name="Object 1139"/>
          <p:cNvGraphicFramePr>
            <a:graphicFrameLocks noChangeAspect="1"/>
          </p:cNvGraphicFramePr>
          <p:nvPr/>
        </p:nvGraphicFramePr>
        <p:xfrm>
          <a:off x="358775" y="1989138"/>
          <a:ext cx="2147888" cy="750887"/>
        </p:xfrm>
        <a:graphic>
          <a:graphicData uri="http://schemas.openxmlformats.org/presentationml/2006/ole">
            <mc:AlternateContent xmlns:mc="http://schemas.openxmlformats.org/markup-compatibility/2006">
              <mc:Choice xmlns:v="urn:schemas-microsoft-com:vml" Requires="v">
                <p:oleObj spid="_x0000_s3082" name="" r:id="rId1" imgW="977265" imgH="381000" progId="Equation.DSMT4">
                  <p:embed/>
                </p:oleObj>
              </mc:Choice>
              <mc:Fallback>
                <p:oleObj name="" r:id="rId1" imgW="977265" imgH="381000" progId="Equation.DSMT4">
                  <p:embed/>
                  <p:pic>
                    <p:nvPicPr>
                      <p:cNvPr id="0" name="图片 3081"/>
                      <p:cNvPicPr/>
                      <p:nvPr/>
                    </p:nvPicPr>
                    <p:blipFill>
                      <a:blip r:embed="rId2"/>
                      <a:stretch>
                        <a:fillRect/>
                      </a:stretch>
                    </p:blipFill>
                    <p:spPr>
                      <a:xfrm>
                        <a:off x="358775" y="1989138"/>
                        <a:ext cx="2147888" cy="750887"/>
                      </a:xfrm>
                      <a:prstGeom prst="rect">
                        <a:avLst/>
                      </a:prstGeom>
                      <a:solidFill>
                        <a:srgbClr val="CCFFFF"/>
                      </a:solidFill>
                      <a:ln w="38100">
                        <a:noFill/>
                        <a:miter/>
                      </a:ln>
                    </p:spPr>
                  </p:pic>
                </p:oleObj>
              </mc:Fallback>
            </mc:AlternateContent>
          </a:graphicData>
        </a:graphic>
      </p:graphicFrame>
      <p:graphicFrame>
        <p:nvGraphicFramePr>
          <p:cNvPr id="103476" name="Object 1139"/>
          <p:cNvGraphicFramePr>
            <a:graphicFrameLocks noChangeAspect="1"/>
          </p:cNvGraphicFramePr>
          <p:nvPr/>
        </p:nvGraphicFramePr>
        <p:xfrm>
          <a:off x="3779838" y="1976438"/>
          <a:ext cx="4283075" cy="804862"/>
        </p:xfrm>
        <a:graphic>
          <a:graphicData uri="http://schemas.openxmlformats.org/presentationml/2006/ole">
            <mc:AlternateContent xmlns:mc="http://schemas.openxmlformats.org/markup-compatibility/2006">
              <mc:Choice xmlns:v="urn:schemas-microsoft-com:vml" Requires="v">
                <p:oleObj spid="_x0000_s3083" name="" r:id="rId3" imgW="1878965" imgH="393700" progId="Equation.DSMT4">
                  <p:embed/>
                </p:oleObj>
              </mc:Choice>
              <mc:Fallback>
                <p:oleObj name="" r:id="rId3" imgW="1878965" imgH="393700" progId="Equation.DSMT4">
                  <p:embed/>
                  <p:pic>
                    <p:nvPicPr>
                      <p:cNvPr id="0" name="图片 3082"/>
                      <p:cNvPicPr/>
                      <p:nvPr/>
                    </p:nvPicPr>
                    <p:blipFill>
                      <a:blip r:embed="rId4"/>
                      <a:stretch>
                        <a:fillRect/>
                      </a:stretch>
                    </p:blipFill>
                    <p:spPr>
                      <a:xfrm>
                        <a:off x="3779838" y="1976438"/>
                        <a:ext cx="4283075" cy="804862"/>
                      </a:xfrm>
                      <a:prstGeom prst="rect">
                        <a:avLst/>
                      </a:prstGeom>
                      <a:solidFill>
                        <a:srgbClr val="CCFFFF"/>
                      </a:solidFill>
                      <a:ln w="38100">
                        <a:noFill/>
                        <a:miter/>
                      </a:ln>
                    </p:spPr>
                  </p:pic>
                </p:oleObj>
              </mc:Fallback>
            </mc:AlternateContent>
          </a:graphicData>
        </a:graphic>
      </p:graphicFrame>
      <p:sp>
        <p:nvSpPr>
          <p:cNvPr id="2" name="Rectangle 66"/>
          <p:cNvSpPr/>
          <p:nvPr/>
        </p:nvSpPr>
        <p:spPr>
          <a:xfrm>
            <a:off x="358775" y="2997200"/>
            <a:ext cx="4613275" cy="365125"/>
          </a:xfrm>
          <a:prstGeom prst="rect">
            <a:avLst/>
          </a:prstGeom>
          <a:solidFill>
            <a:srgbClr val="CCFFFF"/>
          </a:solidFill>
          <a:ln w="9525">
            <a:noFill/>
          </a:ln>
        </p:spPr>
        <p:txBody>
          <a:bodyPr wrap="none" lIns="0" tIns="0" rIns="0" bIns="0">
            <a:spAutoFit/>
          </a:bodyPr>
          <a:p>
            <a:pPr algn="ctr" eaLnBrk="1" hangingPunct="1"/>
            <a:r>
              <a:rPr lang="zh-CN" altLang="en-US" sz="2400" b="1" dirty="0">
                <a:solidFill>
                  <a:srgbClr val="FF0000"/>
                </a:solidFill>
                <a:latin typeface="Times New Roman" panose="02020603050405020304" pitchFamily="18" charset="0"/>
                <a:ea typeface="黑体" panose="02010609060101010101" pitchFamily="49" charset="-122"/>
              </a:rPr>
              <a:t>理想采样的采样信号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baseline="-25000" err="1">
                <a:solidFill>
                  <a:srgbClr val="FF0000"/>
                </a:solidFill>
                <a:latin typeface="Times New Roman" panose="02020603050405020304" pitchFamily="18" charset="0"/>
                <a:ea typeface="宋体" panose="02010600030101010101" pitchFamily="2" charset="-122"/>
              </a:rPr>
              <a:t>S</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nT</a:t>
            </a:r>
            <a:r>
              <a:rPr lang="en-US" altLang="zh-CN" sz="2400" b="1" baseline="-25000" err="1">
                <a:solidFill>
                  <a:srgbClr val="FF0000"/>
                </a:solidFill>
                <a:latin typeface="Times New Roman" panose="02020603050405020304" pitchFamily="18" charset="0"/>
                <a:ea typeface="宋体" panose="02010600030101010101" pitchFamily="2" charset="-122"/>
              </a:rPr>
              <a:t>S</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rgbClr val="FF0000"/>
                </a:solidFill>
                <a:latin typeface="Times New Roman" panose="02020603050405020304" pitchFamily="18" charset="0"/>
                <a:ea typeface="黑体" panose="02010609060101010101" pitchFamily="49" charset="-122"/>
              </a:rPr>
              <a:t>的频谱</a:t>
            </a:r>
            <a:endParaRPr lang="zh-CN" altLang="en-US" sz="2400" b="1" dirty="0">
              <a:solidFill>
                <a:srgbClr val="FF0000"/>
              </a:solidFill>
              <a:latin typeface="Times New Roman" panose="02020603050405020304" pitchFamily="18" charset="0"/>
              <a:ea typeface="黑体" panose="02010609060101010101" pitchFamily="49" charset="-122"/>
            </a:endParaRPr>
          </a:p>
        </p:txBody>
      </p:sp>
      <p:graphicFrame>
        <p:nvGraphicFramePr>
          <p:cNvPr id="103478" name="Object 1139"/>
          <p:cNvGraphicFramePr>
            <a:graphicFrameLocks noChangeAspect="1"/>
          </p:cNvGraphicFramePr>
          <p:nvPr/>
        </p:nvGraphicFramePr>
        <p:xfrm>
          <a:off x="1085850" y="3522663"/>
          <a:ext cx="3017838" cy="433387"/>
        </p:xfrm>
        <a:graphic>
          <a:graphicData uri="http://schemas.openxmlformats.org/presentationml/2006/ole">
            <mc:AlternateContent xmlns:mc="http://schemas.openxmlformats.org/markup-compatibility/2006">
              <mc:Choice xmlns:v="urn:schemas-microsoft-com:vml" Requires="v">
                <p:oleObj spid="_x0000_s3084" name="" r:id="rId5" imgW="1422400" imgH="228600" progId="Equation.DSMT4">
                  <p:embed/>
                </p:oleObj>
              </mc:Choice>
              <mc:Fallback>
                <p:oleObj name="" r:id="rId5" imgW="1422400" imgH="228600" progId="Equation.DSMT4">
                  <p:embed/>
                  <p:pic>
                    <p:nvPicPr>
                      <p:cNvPr id="0" name="图片 3083"/>
                      <p:cNvPicPr/>
                      <p:nvPr/>
                    </p:nvPicPr>
                    <p:blipFill>
                      <a:blip r:embed="rId6"/>
                      <a:stretch>
                        <a:fillRect/>
                      </a:stretch>
                    </p:blipFill>
                    <p:spPr>
                      <a:xfrm>
                        <a:off x="1085850" y="3522663"/>
                        <a:ext cx="3017838" cy="433387"/>
                      </a:xfrm>
                      <a:prstGeom prst="rect">
                        <a:avLst/>
                      </a:prstGeom>
                      <a:solidFill>
                        <a:srgbClr val="CCFFFF"/>
                      </a:solidFill>
                      <a:ln w="38100">
                        <a:noFill/>
                        <a:miter/>
                      </a:ln>
                    </p:spPr>
                  </p:pic>
                </p:oleObj>
              </mc:Fallback>
            </mc:AlternateContent>
          </a:graphicData>
        </a:graphic>
      </p:graphicFrame>
      <p:graphicFrame>
        <p:nvGraphicFramePr>
          <p:cNvPr id="103479" name="Object 1139"/>
          <p:cNvGraphicFramePr>
            <a:graphicFrameLocks noChangeAspect="1"/>
          </p:cNvGraphicFramePr>
          <p:nvPr/>
        </p:nvGraphicFramePr>
        <p:xfrm>
          <a:off x="358775" y="4148138"/>
          <a:ext cx="4325938" cy="720725"/>
        </p:xfrm>
        <a:graphic>
          <a:graphicData uri="http://schemas.openxmlformats.org/presentationml/2006/ole">
            <mc:AlternateContent xmlns:mc="http://schemas.openxmlformats.org/markup-compatibility/2006">
              <mc:Choice xmlns:v="urn:schemas-microsoft-com:vml" Requires="v">
                <p:oleObj spid="_x0000_s3086" name="" r:id="rId7" imgW="2120265" imgH="393700" progId="Equation.DSMT4">
                  <p:embed/>
                </p:oleObj>
              </mc:Choice>
              <mc:Fallback>
                <p:oleObj name="" r:id="rId7" imgW="2120265" imgH="393700" progId="Equation.DSMT4">
                  <p:embed/>
                  <p:pic>
                    <p:nvPicPr>
                      <p:cNvPr id="0" name="图片 3085"/>
                      <p:cNvPicPr/>
                      <p:nvPr/>
                    </p:nvPicPr>
                    <p:blipFill>
                      <a:blip r:embed="rId8"/>
                      <a:stretch>
                        <a:fillRect/>
                      </a:stretch>
                    </p:blipFill>
                    <p:spPr>
                      <a:xfrm>
                        <a:off x="358775" y="4148138"/>
                        <a:ext cx="4325938" cy="720725"/>
                      </a:xfrm>
                      <a:prstGeom prst="rect">
                        <a:avLst/>
                      </a:prstGeom>
                      <a:solidFill>
                        <a:srgbClr val="CCFFFF"/>
                      </a:solidFill>
                      <a:ln w="38100">
                        <a:noFill/>
                        <a:miter/>
                      </a:ln>
                    </p:spPr>
                  </p:pic>
                </p:oleObj>
              </mc:Fallback>
            </mc:AlternateContent>
          </a:graphicData>
        </a:graphic>
      </p:graphicFrame>
      <p:graphicFrame>
        <p:nvGraphicFramePr>
          <p:cNvPr id="103480" name="Object 1139"/>
          <p:cNvGraphicFramePr>
            <a:graphicFrameLocks noChangeAspect="1"/>
          </p:cNvGraphicFramePr>
          <p:nvPr/>
        </p:nvGraphicFramePr>
        <p:xfrm>
          <a:off x="4967288" y="4146550"/>
          <a:ext cx="3073400" cy="758825"/>
        </p:xfrm>
        <a:graphic>
          <a:graphicData uri="http://schemas.openxmlformats.org/presentationml/2006/ole">
            <mc:AlternateContent xmlns:mc="http://schemas.openxmlformats.org/markup-compatibility/2006">
              <mc:Choice xmlns:v="urn:schemas-microsoft-com:vml" Requires="v">
                <p:oleObj spid="_x0000_s3085" name="" r:id="rId9" imgW="1612265" imgH="444500" progId="Equation.DSMT4">
                  <p:embed/>
                </p:oleObj>
              </mc:Choice>
              <mc:Fallback>
                <p:oleObj name="" r:id="rId9" imgW="1612265" imgH="444500" progId="Equation.DSMT4">
                  <p:embed/>
                  <p:pic>
                    <p:nvPicPr>
                      <p:cNvPr id="0" name="图片 3084"/>
                      <p:cNvPicPr/>
                      <p:nvPr/>
                    </p:nvPicPr>
                    <p:blipFill>
                      <a:blip r:embed="rId10"/>
                      <a:stretch>
                        <a:fillRect/>
                      </a:stretch>
                    </p:blipFill>
                    <p:spPr>
                      <a:xfrm>
                        <a:off x="4967288" y="4146550"/>
                        <a:ext cx="3073400" cy="758825"/>
                      </a:xfrm>
                      <a:prstGeom prst="rect">
                        <a:avLst/>
                      </a:prstGeom>
                      <a:solidFill>
                        <a:srgbClr val="CCFFFF"/>
                      </a:solidFill>
                      <a:ln w="38100">
                        <a:noFill/>
                        <a:miter/>
                      </a:ln>
                    </p:spPr>
                  </p:pic>
                </p:oleObj>
              </mc:Fallback>
            </mc:AlternateContent>
          </a:graphicData>
        </a:graphic>
      </p:graphicFrame>
      <p:graphicFrame>
        <p:nvGraphicFramePr>
          <p:cNvPr id="103482" name="Object 1139"/>
          <p:cNvGraphicFramePr>
            <a:graphicFrameLocks noChangeAspect="1"/>
          </p:cNvGraphicFramePr>
          <p:nvPr/>
        </p:nvGraphicFramePr>
        <p:xfrm>
          <a:off x="2519363" y="5308600"/>
          <a:ext cx="3509962" cy="820738"/>
        </p:xfrm>
        <a:graphic>
          <a:graphicData uri="http://schemas.openxmlformats.org/presentationml/2006/ole">
            <mc:AlternateContent xmlns:mc="http://schemas.openxmlformats.org/markup-compatibility/2006">
              <mc:Choice xmlns:v="urn:schemas-microsoft-com:vml" Requires="v">
                <p:oleObj spid="_x0000_s3092" name="" r:id="rId11" imgW="1701165" imgH="444500" progId="Equation.DSMT4">
                  <p:embed/>
                </p:oleObj>
              </mc:Choice>
              <mc:Fallback>
                <p:oleObj name="" r:id="rId11" imgW="1701165" imgH="444500" progId="Equation.DSMT4">
                  <p:embed/>
                  <p:pic>
                    <p:nvPicPr>
                      <p:cNvPr id="0" name="图片 3091"/>
                      <p:cNvPicPr/>
                      <p:nvPr/>
                    </p:nvPicPr>
                    <p:blipFill>
                      <a:blip r:embed="rId12"/>
                      <a:stretch>
                        <a:fillRect/>
                      </a:stretch>
                    </p:blipFill>
                    <p:spPr>
                      <a:xfrm>
                        <a:off x="2519363" y="5308600"/>
                        <a:ext cx="3509962" cy="820738"/>
                      </a:xfrm>
                      <a:prstGeom prst="rect">
                        <a:avLst/>
                      </a:prstGeom>
                      <a:solidFill>
                        <a:srgbClr val="CCFFFF"/>
                      </a:solidFill>
                      <a:ln w="38100">
                        <a:noFill/>
                        <a:miter/>
                      </a:ln>
                    </p:spPr>
                  </p:pic>
                </p:oleObj>
              </mc:Fallback>
            </mc:AlternateContent>
          </a:graphicData>
        </a:graphic>
      </p:graphicFrame>
      <p:sp>
        <p:nvSpPr>
          <p:cNvPr id="2249745" name="Text Box 17"/>
          <p:cNvSpPr txBox="1"/>
          <p:nvPr/>
        </p:nvSpPr>
        <p:spPr>
          <a:xfrm>
            <a:off x="215900" y="4843463"/>
            <a:ext cx="6391275" cy="45720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信号与单位冲激的卷积就是该信号的移位</a:t>
            </a:r>
            <a:endParaRPr lang="zh-CN" altLang="en-US" sz="2400" b="1" dirty="0">
              <a:solidFill>
                <a:schemeClr val="tx1"/>
              </a:solidFill>
              <a:latin typeface="Times New Roman" panose="02020603050405020304" pitchFamily="18" charset="0"/>
              <a:ea typeface="黑体" panose="02010609060101010101" pitchFamily="49" charset="-122"/>
            </a:endParaRPr>
          </a:p>
        </p:txBody>
      </p:sp>
      <p:graphicFrame>
        <p:nvGraphicFramePr>
          <p:cNvPr id="103486" name="Object 1140"/>
          <p:cNvGraphicFramePr>
            <a:graphicFrameLocks noChangeAspect="1"/>
          </p:cNvGraphicFramePr>
          <p:nvPr/>
        </p:nvGraphicFramePr>
        <p:xfrm>
          <a:off x="4967288" y="3321050"/>
          <a:ext cx="2576512" cy="768350"/>
        </p:xfrm>
        <a:graphic>
          <a:graphicData uri="http://schemas.openxmlformats.org/presentationml/2006/ole">
            <mc:AlternateContent xmlns:mc="http://schemas.openxmlformats.org/markup-compatibility/2006">
              <mc:Choice xmlns:v="urn:schemas-microsoft-com:vml" Requires="v">
                <p:oleObj spid="_x0000_s3087" name="" r:id="rId13" imgW="1294765" imgH="431800" progId="Equation.DSMT4">
                  <p:embed/>
                </p:oleObj>
              </mc:Choice>
              <mc:Fallback>
                <p:oleObj name="" r:id="rId13" imgW="1294765" imgH="431800" progId="Equation.DSMT4">
                  <p:embed/>
                  <p:pic>
                    <p:nvPicPr>
                      <p:cNvPr id="0" name="图片 3086"/>
                      <p:cNvPicPr/>
                      <p:nvPr/>
                    </p:nvPicPr>
                    <p:blipFill>
                      <a:blip r:embed="rId14"/>
                      <a:stretch>
                        <a:fillRect/>
                      </a:stretch>
                    </p:blipFill>
                    <p:spPr>
                      <a:xfrm>
                        <a:off x="4967288" y="3321050"/>
                        <a:ext cx="2576512" cy="768350"/>
                      </a:xfrm>
                      <a:prstGeom prst="rect">
                        <a:avLst/>
                      </a:prstGeom>
                      <a:solidFill>
                        <a:srgbClr val="CCFFFF"/>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9794"/>
                                        </p:tgtEl>
                                        <p:attrNameLst>
                                          <p:attrName>style.visibility</p:attrName>
                                        </p:attrNameLst>
                                      </p:cBhvr>
                                      <p:to>
                                        <p:strVal val="visible"/>
                                      </p:to>
                                    </p:set>
                                    <p:animEffect transition="in" filter="dissolve">
                                      <p:cBhvr>
                                        <p:cTn id="7" dur="500"/>
                                        <p:tgtEl>
                                          <p:spTgt spid="224979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3475"/>
                                        </p:tgtEl>
                                        <p:attrNameLst>
                                          <p:attrName>style.visibility</p:attrName>
                                        </p:attrNameLst>
                                      </p:cBhvr>
                                      <p:to>
                                        <p:strVal val="visible"/>
                                      </p:to>
                                    </p:set>
                                    <p:animEffect transition="in" filter="dissolve">
                                      <p:cBhvr>
                                        <p:cTn id="12" dur="500"/>
                                        <p:tgtEl>
                                          <p:spTgt spid="10347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3476"/>
                                        </p:tgtEl>
                                        <p:attrNameLst>
                                          <p:attrName>style.visibility</p:attrName>
                                        </p:attrNameLst>
                                      </p:cBhvr>
                                      <p:to>
                                        <p:strVal val="visible"/>
                                      </p:to>
                                    </p:set>
                                    <p:animEffect transition="in" filter="dissolve">
                                      <p:cBhvr>
                                        <p:cTn id="17" dur="500"/>
                                        <p:tgtEl>
                                          <p:spTgt spid="10347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3478"/>
                                        </p:tgtEl>
                                        <p:attrNameLst>
                                          <p:attrName>style.visibility</p:attrName>
                                        </p:attrNameLst>
                                      </p:cBhvr>
                                      <p:to>
                                        <p:strVal val="visible"/>
                                      </p:to>
                                    </p:set>
                                    <p:animEffect transition="in" filter="dissolve">
                                      <p:cBhvr>
                                        <p:cTn id="27" dur="500"/>
                                        <p:tgtEl>
                                          <p:spTgt spid="10347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3486"/>
                                        </p:tgtEl>
                                        <p:attrNameLst>
                                          <p:attrName>style.visibility</p:attrName>
                                        </p:attrNameLst>
                                      </p:cBhvr>
                                      <p:to>
                                        <p:strVal val="visible"/>
                                      </p:to>
                                    </p:set>
                                    <p:animEffect transition="in" filter="dissolve">
                                      <p:cBhvr>
                                        <p:cTn id="32" dur="500"/>
                                        <p:tgtEl>
                                          <p:spTgt spid="10348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103479"/>
                                        </p:tgtEl>
                                        <p:attrNameLst>
                                          <p:attrName>style.visibility</p:attrName>
                                        </p:attrNameLst>
                                      </p:cBhvr>
                                      <p:to>
                                        <p:strVal val="visible"/>
                                      </p:to>
                                    </p:set>
                                    <p:animEffect transition="in" filter="dissolve">
                                      <p:cBhvr>
                                        <p:cTn id="37" dur="500"/>
                                        <p:tgtEl>
                                          <p:spTgt spid="103479"/>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3480"/>
                                        </p:tgtEl>
                                        <p:attrNameLst>
                                          <p:attrName>style.visibility</p:attrName>
                                        </p:attrNameLst>
                                      </p:cBhvr>
                                      <p:to>
                                        <p:strVal val="visible"/>
                                      </p:to>
                                    </p:set>
                                    <p:animEffect transition="in" filter="dissolve">
                                      <p:cBhvr>
                                        <p:cTn id="42" dur="500"/>
                                        <p:tgtEl>
                                          <p:spTgt spid="103480"/>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249745"/>
                                        </p:tgtEl>
                                        <p:attrNameLst>
                                          <p:attrName>style.visibility</p:attrName>
                                        </p:attrNameLst>
                                      </p:cBhvr>
                                      <p:to>
                                        <p:strVal val="visible"/>
                                      </p:to>
                                    </p:set>
                                    <p:animEffect transition="in" filter="dissolve">
                                      <p:cBhvr>
                                        <p:cTn id="47" dur="500"/>
                                        <p:tgtEl>
                                          <p:spTgt spid="22497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103482"/>
                                        </p:tgtEl>
                                        <p:attrNameLst>
                                          <p:attrName>style.visibility</p:attrName>
                                        </p:attrNameLst>
                                      </p:cBhvr>
                                      <p:to>
                                        <p:strVal val="visible"/>
                                      </p:to>
                                    </p:set>
                                    <p:animEffect transition="in" filter="dissolve">
                                      <p:cBhvr>
                                        <p:cTn id="52" dur="500"/>
                                        <p:tgtEl>
                                          <p:spTgt spid="1034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9794" grpId="0" bldLvl="0" animBg="1"/>
      <p:bldP spid="2" grpId="0" bldLvl="0" animBg="1"/>
      <p:bldP spid="224974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0781" name="Rectangle 29"/>
          <p:cNvSpPr/>
          <p:nvPr/>
        </p:nvSpPr>
        <p:spPr>
          <a:xfrm>
            <a:off x="2195513" y="3489325"/>
            <a:ext cx="6596062" cy="641350"/>
          </a:xfrm>
          <a:prstGeom prst="rect">
            <a:avLst/>
          </a:prstGeom>
          <a:solidFill>
            <a:srgbClr val="FFCC99"/>
          </a:solidFill>
          <a:ln w="9525">
            <a:noFill/>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0766" name="Text Box 14"/>
          <p:cNvSpPr txBox="1"/>
          <p:nvPr/>
        </p:nvSpPr>
        <p:spPr>
          <a:xfrm>
            <a:off x="434975" y="773113"/>
            <a:ext cx="608171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2.3.4 </a:t>
            </a:r>
            <a:r>
              <a:rPr lang="zh-CN" altLang="en-US" sz="3200" b="1" dirty="0">
                <a:solidFill>
                  <a:srgbClr val="333399"/>
                </a:solidFill>
                <a:latin typeface="楷体_GB2312" pitchFamily="49" charset="-122"/>
              </a:rPr>
              <a:t>采样定理一不适用的情况 </a:t>
            </a:r>
            <a:endParaRPr lang="zh-CN" altLang="en-US" sz="3200" b="1" dirty="0">
              <a:solidFill>
                <a:srgbClr val="333399"/>
              </a:solidFill>
              <a:latin typeface="楷体_GB2312" pitchFamily="49" charset="-122"/>
            </a:endParaRPr>
          </a:p>
        </p:txBody>
      </p:sp>
      <p:sp>
        <p:nvSpPr>
          <p:cNvPr id="2250767" name="Text Box 15"/>
          <p:cNvSpPr txBox="1"/>
          <p:nvPr/>
        </p:nvSpPr>
        <p:spPr>
          <a:xfrm>
            <a:off x="598488" y="1625600"/>
            <a:ext cx="8193087" cy="1077913"/>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一般来说，采样定理在  </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宋体" panose="02010600030101010101" pitchFamily="2" charset="-122"/>
              </a:rPr>
              <a:t>c</a:t>
            </a:r>
            <a:r>
              <a:rPr lang="en-US" altLang="zh-CN" sz="2800" b="1">
                <a:solidFill>
                  <a:srgbClr val="FF0000"/>
                </a:solidFill>
                <a:latin typeface="Times New Roman" panose="02020603050405020304" pitchFamily="18" charset="0"/>
                <a:ea typeface="黑体" panose="02010609060101010101" pitchFamily="49" charset="-122"/>
              </a:rPr>
              <a:t>=1/(2</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宋体" panose="02010600030101010101" pitchFamily="2" charset="-122"/>
              </a:rPr>
              <a:t>s</a:t>
            </a:r>
            <a:r>
              <a:rPr lang="en-US" altLang="zh-CN" sz="2800" b="1">
                <a:solidFill>
                  <a:srgbClr val="FF0000"/>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（临界采样）时是不适用的。</a:t>
            </a:r>
            <a:r>
              <a:rPr lang="zh-CN" altLang="en-US" b="1" dirty="0">
                <a:solidFill>
                  <a:srgbClr val="333399"/>
                </a:solidFill>
                <a:latin typeface="楷体_GB2312" pitchFamily="49" charset="-122"/>
              </a:rPr>
              <a:t> </a:t>
            </a:r>
            <a:endParaRPr lang="zh-CN" altLang="en-US" b="1" dirty="0">
              <a:solidFill>
                <a:srgbClr val="333399"/>
              </a:solidFill>
              <a:latin typeface="楷体_GB2312" pitchFamily="49" charset="-122"/>
            </a:endParaRPr>
          </a:p>
        </p:txBody>
      </p:sp>
      <p:sp>
        <p:nvSpPr>
          <p:cNvPr id="2250770" name="Text Box 18"/>
          <p:cNvSpPr txBox="1"/>
          <p:nvPr/>
        </p:nvSpPr>
        <p:spPr>
          <a:xfrm>
            <a:off x="434975" y="3494088"/>
            <a:ext cx="2012950" cy="579437"/>
          </a:xfrm>
          <a:prstGeom prst="rect">
            <a:avLst/>
          </a:prstGeom>
          <a:noFill/>
          <a:ln w="9525">
            <a:noFill/>
          </a:ln>
        </p:spPr>
        <p:txBody>
          <a:bodyPr wrap="none">
            <a:spAutoFit/>
          </a:bodyPr>
          <a:p>
            <a:pPr algn="l" eaLnBrk="1" hangingPunct="1"/>
            <a:r>
              <a:rPr lang="zh-CN" altLang="en-US" sz="3200" b="1" dirty="0">
                <a:solidFill>
                  <a:srgbClr val="3333FF"/>
                </a:solidFill>
                <a:latin typeface="楷体_GB2312" pitchFamily="49" charset="-122"/>
              </a:rPr>
              <a:t>设信号为 </a:t>
            </a:r>
            <a:endParaRPr lang="zh-CN" altLang="en-US" sz="3200" b="1" dirty="0">
              <a:solidFill>
                <a:srgbClr val="3333FF"/>
              </a:solidFill>
              <a:latin typeface="楷体_GB2312" pitchFamily="49" charset="-122"/>
            </a:endParaRPr>
          </a:p>
        </p:txBody>
      </p:sp>
      <p:graphicFrame>
        <p:nvGraphicFramePr>
          <p:cNvPr id="13318" name="Object 19"/>
          <p:cNvGraphicFramePr>
            <a:graphicFrameLocks noChangeAspect="1"/>
          </p:cNvGraphicFramePr>
          <p:nvPr/>
        </p:nvGraphicFramePr>
        <p:xfrm>
          <a:off x="2195513" y="3563938"/>
          <a:ext cx="4321175" cy="509587"/>
        </p:xfrm>
        <a:graphic>
          <a:graphicData uri="http://schemas.openxmlformats.org/presentationml/2006/ole">
            <mc:AlternateContent xmlns:mc="http://schemas.openxmlformats.org/markup-compatibility/2006">
              <mc:Choice xmlns:v="urn:schemas-microsoft-com:vml" Requires="v">
                <p:oleObj spid="_x0000_s3088" name="" r:id="rId1" imgW="1384300" imgH="228600" progId="Equation.3">
                  <p:embed/>
                </p:oleObj>
              </mc:Choice>
              <mc:Fallback>
                <p:oleObj name="" r:id="rId1" imgW="1384300" imgH="228600" progId="Equation.3">
                  <p:embed/>
                  <p:pic>
                    <p:nvPicPr>
                      <p:cNvPr id="0" name="图片 3087"/>
                      <p:cNvPicPr/>
                      <p:nvPr/>
                    </p:nvPicPr>
                    <p:blipFill>
                      <a:blip r:embed="rId2"/>
                      <a:stretch>
                        <a:fillRect/>
                      </a:stretch>
                    </p:blipFill>
                    <p:spPr>
                      <a:xfrm>
                        <a:off x="2195513" y="3563938"/>
                        <a:ext cx="4321175" cy="509587"/>
                      </a:xfrm>
                      <a:prstGeom prst="rect">
                        <a:avLst/>
                      </a:prstGeom>
                      <a:solidFill>
                        <a:srgbClr val="FFCC99"/>
                      </a:solidFill>
                      <a:ln w="38100">
                        <a:noFill/>
                        <a:miter/>
                      </a:ln>
                    </p:spPr>
                  </p:pic>
                </p:oleObj>
              </mc:Fallback>
            </mc:AlternateContent>
          </a:graphicData>
        </a:graphic>
      </p:graphicFrame>
      <p:graphicFrame>
        <p:nvGraphicFramePr>
          <p:cNvPr id="13319" name="Object 20"/>
          <p:cNvGraphicFramePr>
            <a:graphicFrameLocks noChangeAspect="1"/>
          </p:cNvGraphicFramePr>
          <p:nvPr/>
        </p:nvGraphicFramePr>
        <p:xfrm>
          <a:off x="6905625" y="3594100"/>
          <a:ext cx="1585913" cy="468313"/>
        </p:xfrm>
        <a:graphic>
          <a:graphicData uri="http://schemas.openxmlformats.org/presentationml/2006/ole">
            <mc:AlternateContent xmlns:mc="http://schemas.openxmlformats.org/markup-compatibility/2006">
              <mc:Choice xmlns:v="urn:schemas-microsoft-com:vml" Requires="v">
                <p:oleObj spid="_x0000_s3089" name="" r:id="rId3" imgW="685165" imgH="203200" progId="Equation.3">
                  <p:embed/>
                </p:oleObj>
              </mc:Choice>
              <mc:Fallback>
                <p:oleObj name="" r:id="rId3" imgW="685165" imgH="203200" progId="Equation.3">
                  <p:embed/>
                  <p:pic>
                    <p:nvPicPr>
                      <p:cNvPr id="0" name="图片 3088"/>
                      <p:cNvPicPr/>
                      <p:nvPr/>
                    </p:nvPicPr>
                    <p:blipFill>
                      <a:blip r:embed="rId4"/>
                      <a:stretch>
                        <a:fillRect/>
                      </a:stretch>
                    </p:blipFill>
                    <p:spPr>
                      <a:xfrm>
                        <a:off x="6905625" y="3594100"/>
                        <a:ext cx="1585913" cy="468313"/>
                      </a:xfrm>
                      <a:prstGeom prst="rect">
                        <a:avLst/>
                      </a:prstGeom>
                      <a:solidFill>
                        <a:srgbClr val="FFCC99"/>
                      </a:solidFill>
                      <a:ln w="38100">
                        <a:noFill/>
                        <a:miter/>
                      </a:ln>
                    </p:spPr>
                  </p:pic>
                </p:oleObj>
              </mc:Fallback>
            </mc:AlternateContent>
          </a:graphicData>
        </a:graphic>
      </p:graphicFrame>
      <p:sp>
        <p:nvSpPr>
          <p:cNvPr id="2250773" name="Text Box 21"/>
          <p:cNvSpPr txBox="1"/>
          <p:nvPr/>
        </p:nvSpPr>
        <p:spPr>
          <a:xfrm>
            <a:off x="395288" y="4367213"/>
            <a:ext cx="615950" cy="579437"/>
          </a:xfrm>
          <a:prstGeom prst="rect">
            <a:avLst/>
          </a:prstGeom>
          <a:noFill/>
          <a:ln w="9525">
            <a:noFill/>
          </a:ln>
        </p:spPr>
        <p:txBody>
          <a:bodyPr>
            <a:spAutoFit/>
          </a:bodyPr>
          <a:p>
            <a:pPr algn="l" eaLnBrk="1" hangingPunct="1"/>
            <a:r>
              <a:rPr lang="zh-CN" altLang="en-US" sz="3200" b="1" dirty="0">
                <a:solidFill>
                  <a:srgbClr val="3333FF"/>
                </a:solidFill>
                <a:latin typeface="楷体_GB2312" pitchFamily="49" charset="-122"/>
              </a:rPr>
              <a:t>当 </a:t>
            </a:r>
            <a:endParaRPr lang="zh-CN" altLang="en-US" sz="3200" b="1" dirty="0">
              <a:solidFill>
                <a:srgbClr val="3333FF"/>
              </a:solidFill>
              <a:latin typeface="楷体_GB2312" pitchFamily="49" charset="-122"/>
            </a:endParaRPr>
          </a:p>
        </p:txBody>
      </p:sp>
      <p:graphicFrame>
        <p:nvGraphicFramePr>
          <p:cNvPr id="13321" name="Object 22"/>
          <p:cNvGraphicFramePr>
            <a:graphicFrameLocks noChangeAspect="1"/>
          </p:cNvGraphicFramePr>
          <p:nvPr/>
        </p:nvGraphicFramePr>
        <p:xfrm>
          <a:off x="931863" y="4206875"/>
          <a:ext cx="1511300" cy="985838"/>
        </p:xfrm>
        <a:graphic>
          <a:graphicData uri="http://schemas.openxmlformats.org/presentationml/2006/ole">
            <mc:AlternateContent xmlns:mc="http://schemas.openxmlformats.org/markup-compatibility/2006">
              <mc:Choice xmlns:v="urn:schemas-microsoft-com:vml" Requires="v">
                <p:oleObj spid="_x0000_s3090" name="" r:id="rId5" imgW="609600" imgH="431800" progId="Equation.3">
                  <p:embed/>
                </p:oleObj>
              </mc:Choice>
              <mc:Fallback>
                <p:oleObj name="" r:id="rId5" imgW="609600" imgH="431800" progId="Equation.3">
                  <p:embed/>
                  <p:pic>
                    <p:nvPicPr>
                      <p:cNvPr id="0" name="图片 3089"/>
                      <p:cNvPicPr/>
                      <p:nvPr/>
                    </p:nvPicPr>
                    <p:blipFill>
                      <a:blip r:embed="rId6"/>
                      <a:stretch>
                        <a:fillRect/>
                      </a:stretch>
                    </p:blipFill>
                    <p:spPr>
                      <a:xfrm>
                        <a:off x="931863" y="4206875"/>
                        <a:ext cx="1511300" cy="985838"/>
                      </a:xfrm>
                      <a:prstGeom prst="rect">
                        <a:avLst/>
                      </a:prstGeom>
                      <a:solidFill>
                        <a:schemeClr val="bg1"/>
                      </a:solidFill>
                      <a:ln w="38100">
                        <a:noFill/>
                        <a:miter/>
                      </a:ln>
                    </p:spPr>
                  </p:pic>
                </p:oleObj>
              </mc:Fallback>
            </mc:AlternateContent>
          </a:graphicData>
        </a:graphic>
      </p:graphicFrame>
      <p:sp>
        <p:nvSpPr>
          <p:cNvPr id="2250775" name="Text Box 23"/>
          <p:cNvSpPr txBox="1"/>
          <p:nvPr/>
        </p:nvSpPr>
        <p:spPr>
          <a:xfrm>
            <a:off x="2474913" y="4394200"/>
            <a:ext cx="3232150" cy="579438"/>
          </a:xfrm>
          <a:prstGeom prst="rect">
            <a:avLst/>
          </a:prstGeom>
          <a:noFill/>
          <a:ln w="9525">
            <a:noFill/>
          </a:ln>
        </p:spPr>
        <p:txBody>
          <a:bodyPr wrap="none">
            <a:spAutoFit/>
          </a:bodyPr>
          <a:p>
            <a:pPr algn="l" eaLnBrk="1" hangingPunct="1"/>
            <a:r>
              <a:rPr lang="zh-CN" altLang="en-US" sz="3200" b="1" dirty="0">
                <a:solidFill>
                  <a:srgbClr val="3333FF"/>
                </a:solidFill>
                <a:latin typeface="楷体_GB2312" pitchFamily="49" charset="-122"/>
              </a:rPr>
              <a:t>时，其采样值为 </a:t>
            </a:r>
            <a:endParaRPr lang="zh-CN" altLang="en-US" sz="3200" b="1" dirty="0">
              <a:solidFill>
                <a:srgbClr val="3333FF"/>
              </a:solidFill>
              <a:latin typeface="楷体_GB2312" pitchFamily="49" charset="-122"/>
            </a:endParaRPr>
          </a:p>
        </p:txBody>
      </p:sp>
      <p:graphicFrame>
        <p:nvGraphicFramePr>
          <p:cNvPr id="13323" name="Object 24"/>
          <p:cNvGraphicFramePr>
            <a:graphicFrameLocks noChangeAspect="1"/>
          </p:cNvGraphicFramePr>
          <p:nvPr/>
        </p:nvGraphicFramePr>
        <p:xfrm>
          <a:off x="2090738" y="5203825"/>
          <a:ext cx="4878387" cy="1033463"/>
        </p:xfrm>
        <a:graphic>
          <a:graphicData uri="http://schemas.openxmlformats.org/presentationml/2006/ole">
            <mc:AlternateContent xmlns:mc="http://schemas.openxmlformats.org/markup-compatibility/2006">
              <mc:Choice xmlns:v="urn:schemas-microsoft-com:vml" Requires="v">
                <p:oleObj spid="_x0000_s3091" name="" r:id="rId7" imgW="1637665" imgH="431800" progId="Equation.3">
                  <p:embed/>
                </p:oleObj>
              </mc:Choice>
              <mc:Fallback>
                <p:oleObj name="" r:id="rId7" imgW="1637665" imgH="431800" progId="Equation.3">
                  <p:embed/>
                  <p:pic>
                    <p:nvPicPr>
                      <p:cNvPr id="0" name="图片 3090"/>
                      <p:cNvPicPr/>
                      <p:nvPr/>
                    </p:nvPicPr>
                    <p:blipFill>
                      <a:blip r:embed="rId8"/>
                      <a:stretch>
                        <a:fillRect/>
                      </a:stretch>
                    </p:blipFill>
                    <p:spPr>
                      <a:xfrm>
                        <a:off x="2090738" y="5203825"/>
                        <a:ext cx="4878387" cy="1033463"/>
                      </a:xfrm>
                      <a:prstGeom prst="rect">
                        <a:avLst/>
                      </a:prstGeom>
                      <a:solidFill>
                        <a:srgbClr val="FFCC99"/>
                      </a:solidFill>
                      <a:ln w="38100">
                        <a:noFill/>
                        <a:miter/>
                      </a:ln>
                    </p:spPr>
                  </p:pic>
                </p:oleObj>
              </mc:Fallback>
            </mc:AlternateContent>
          </a:graphicData>
        </a:graphic>
      </p:graphicFrame>
      <p:sp>
        <p:nvSpPr>
          <p:cNvPr id="2250778" name="Text Box 2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0779" name="Text Box 27"/>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0780" name="Rectangle 28"/>
          <p:cNvSpPr/>
          <p:nvPr/>
        </p:nvSpPr>
        <p:spPr>
          <a:xfrm>
            <a:off x="374650" y="2803525"/>
            <a:ext cx="1101725" cy="588963"/>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例子</a:t>
            </a:r>
            <a:endParaRPr lang="zh-CN" altLang="en-US" sz="3200" b="1" dirty="0">
              <a:solidFill>
                <a:srgbClr val="333399"/>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0766"/>
                                        </p:tgtEl>
                                        <p:attrNameLst>
                                          <p:attrName>style.visibility</p:attrName>
                                        </p:attrNameLst>
                                      </p:cBhvr>
                                      <p:to>
                                        <p:strVal val="visible"/>
                                      </p:to>
                                    </p:set>
                                    <p:animEffect transition="in" filter="dissolve">
                                      <p:cBhvr>
                                        <p:cTn id="7" dur="500"/>
                                        <p:tgtEl>
                                          <p:spTgt spid="22507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0767"/>
                                        </p:tgtEl>
                                        <p:attrNameLst>
                                          <p:attrName>style.visibility</p:attrName>
                                        </p:attrNameLst>
                                      </p:cBhvr>
                                      <p:to>
                                        <p:strVal val="visible"/>
                                      </p:to>
                                    </p:set>
                                    <p:animEffect transition="in" filter="dissolve">
                                      <p:cBhvr>
                                        <p:cTn id="12" dur="500"/>
                                        <p:tgtEl>
                                          <p:spTgt spid="225076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0780"/>
                                        </p:tgtEl>
                                        <p:attrNameLst>
                                          <p:attrName>style.visibility</p:attrName>
                                        </p:attrNameLst>
                                      </p:cBhvr>
                                      <p:to>
                                        <p:strVal val="visible"/>
                                      </p:to>
                                    </p:set>
                                    <p:animEffect transition="in" filter="dissolve">
                                      <p:cBhvr>
                                        <p:cTn id="17" dur="500"/>
                                        <p:tgtEl>
                                          <p:spTgt spid="225078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0770"/>
                                        </p:tgtEl>
                                        <p:attrNameLst>
                                          <p:attrName>style.visibility</p:attrName>
                                        </p:attrNameLst>
                                      </p:cBhvr>
                                      <p:to>
                                        <p:strVal val="visible"/>
                                      </p:to>
                                    </p:set>
                                    <p:animEffect transition="in" filter="dissolve">
                                      <p:cBhvr>
                                        <p:cTn id="22" dur="500"/>
                                        <p:tgtEl>
                                          <p:spTgt spid="2250770"/>
                                        </p:tgtEl>
                                      </p:cBhvr>
                                    </p:animEffect>
                                  </p:childTnLst>
                                </p:cTn>
                              </p:par>
                              <p:par>
                                <p:cTn id="23" presetID="9" presetClass="entr" presetSubtype="0" fill="hold" nodeType="withEffect">
                                  <p:stCondLst>
                                    <p:cond delay="0"/>
                                  </p:stCondLst>
                                  <p:childTnLst>
                                    <p:set>
                                      <p:cBhvr>
                                        <p:cTn id="24" dur="1" fill="hold">
                                          <p:stCondLst>
                                            <p:cond delay="0"/>
                                          </p:stCondLst>
                                        </p:cTn>
                                        <p:tgtEl>
                                          <p:spTgt spid="13318"/>
                                        </p:tgtEl>
                                        <p:attrNameLst>
                                          <p:attrName>style.visibility</p:attrName>
                                        </p:attrNameLst>
                                      </p:cBhvr>
                                      <p:to>
                                        <p:strVal val="visible"/>
                                      </p:to>
                                    </p:set>
                                    <p:animEffect transition="in" filter="dissolve">
                                      <p:cBhvr>
                                        <p:cTn id="25" dur="500"/>
                                        <p:tgtEl>
                                          <p:spTgt spid="13318"/>
                                        </p:tgtEl>
                                      </p:cBhvr>
                                    </p:animEffect>
                                  </p:childTnLst>
                                </p:cTn>
                              </p:par>
                              <p:par>
                                <p:cTn id="26" presetID="9" presetClass="entr" presetSubtype="0" fill="hold" nodeType="withEffect">
                                  <p:stCondLst>
                                    <p:cond delay="0"/>
                                  </p:stCondLst>
                                  <p:childTnLst>
                                    <p:set>
                                      <p:cBhvr>
                                        <p:cTn id="27" dur="1" fill="hold">
                                          <p:stCondLst>
                                            <p:cond delay="0"/>
                                          </p:stCondLst>
                                        </p:cTn>
                                        <p:tgtEl>
                                          <p:spTgt spid="13319"/>
                                        </p:tgtEl>
                                        <p:attrNameLst>
                                          <p:attrName>style.visibility</p:attrName>
                                        </p:attrNameLst>
                                      </p:cBhvr>
                                      <p:to>
                                        <p:strVal val="visible"/>
                                      </p:to>
                                    </p:set>
                                    <p:animEffect transition="in" filter="dissolve">
                                      <p:cBhvr>
                                        <p:cTn id="28" dur="500"/>
                                        <p:tgtEl>
                                          <p:spTgt spid="13319"/>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250781"/>
                                        </p:tgtEl>
                                        <p:attrNameLst>
                                          <p:attrName>style.visibility</p:attrName>
                                        </p:attrNameLst>
                                      </p:cBhvr>
                                      <p:to>
                                        <p:strVal val="visible"/>
                                      </p:to>
                                    </p:set>
                                    <p:animEffect transition="in" filter="dissolve">
                                      <p:cBhvr>
                                        <p:cTn id="31" dur="500"/>
                                        <p:tgtEl>
                                          <p:spTgt spid="225078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0773"/>
                                        </p:tgtEl>
                                        <p:attrNameLst>
                                          <p:attrName>style.visibility</p:attrName>
                                        </p:attrNameLst>
                                      </p:cBhvr>
                                      <p:to>
                                        <p:strVal val="visible"/>
                                      </p:to>
                                    </p:set>
                                    <p:animEffect transition="in" filter="dissolve">
                                      <p:cBhvr>
                                        <p:cTn id="36" dur="500"/>
                                        <p:tgtEl>
                                          <p:spTgt spid="2250773"/>
                                        </p:tgtEl>
                                      </p:cBhvr>
                                    </p:animEffect>
                                  </p:childTnLst>
                                </p:cTn>
                              </p:par>
                              <p:par>
                                <p:cTn id="37" presetID="9" presetClass="entr" presetSubtype="0" fill="hold" nodeType="withEffect">
                                  <p:stCondLst>
                                    <p:cond delay="0"/>
                                  </p:stCondLst>
                                  <p:childTnLst>
                                    <p:set>
                                      <p:cBhvr>
                                        <p:cTn id="38" dur="1" fill="hold">
                                          <p:stCondLst>
                                            <p:cond delay="0"/>
                                          </p:stCondLst>
                                        </p:cTn>
                                        <p:tgtEl>
                                          <p:spTgt spid="13321"/>
                                        </p:tgtEl>
                                        <p:attrNameLst>
                                          <p:attrName>style.visibility</p:attrName>
                                        </p:attrNameLst>
                                      </p:cBhvr>
                                      <p:to>
                                        <p:strVal val="visible"/>
                                      </p:to>
                                    </p:set>
                                    <p:animEffect transition="in" filter="dissolve">
                                      <p:cBhvr>
                                        <p:cTn id="39" dur="500"/>
                                        <p:tgtEl>
                                          <p:spTgt spid="13321"/>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2250775"/>
                                        </p:tgtEl>
                                        <p:attrNameLst>
                                          <p:attrName>style.visibility</p:attrName>
                                        </p:attrNameLst>
                                      </p:cBhvr>
                                      <p:to>
                                        <p:strVal val="visible"/>
                                      </p:to>
                                    </p:set>
                                    <p:animEffect transition="in" filter="dissolve">
                                      <p:cBhvr>
                                        <p:cTn id="42" dur="500"/>
                                        <p:tgtEl>
                                          <p:spTgt spid="2250775"/>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3323"/>
                                        </p:tgtEl>
                                        <p:attrNameLst>
                                          <p:attrName>style.visibility</p:attrName>
                                        </p:attrNameLst>
                                      </p:cBhvr>
                                      <p:to>
                                        <p:strVal val="visible"/>
                                      </p:to>
                                    </p:set>
                                    <p:animEffect transition="in" filter="dissolve">
                                      <p:cBhvr>
                                        <p:cTn id="47" dur="500"/>
                                        <p:tgtEl>
                                          <p:spTgt spid="133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0781" grpId="0" bldLvl="0" animBg="1"/>
      <p:bldP spid="2250766" grpId="0" bldLvl="0" animBg="1"/>
      <p:bldP spid="2250767" grpId="0" bldLvl="0" animBg="1"/>
      <p:bldP spid="2250770" grpId="0"/>
      <p:bldP spid="2250773" grpId="0"/>
      <p:bldP spid="2250775" grpId="0"/>
      <p:bldP spid="2250780" grpId="0" bldLvl="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4875" name="Rectangle 1051"/>
          <p:cNvSpPr/>
          <p:nvPr/>
        </p:nvSpPr>
        <p:spPr>
          <a:xfrm>
            <a:off x="1655763" y="1736725"/>
            <a:ext cx="6769100" cy="1990725"/>
          </a:xfrm>
          <a:prstGeom prst="rect">
            <a:avLst/>
          </a:prstGeom>
          <a:solidFill>
            <a:srgbClr val="FFCC99"/>
          </a:solidFill>
          <a:ln w="9525">
            <a:noFill/>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4860" name="Text Box 1036"/>
          <p:cNvSpPr txBox="1"/>
          <p:nvPr/>
        </p:nvSpPr>
        <p:spPr>
          <a:xfrm>
            <a:off x="384175" y="1589088"/>
            <a:ext cx="1408113" cy="579437"/>
          </a:xfrm>
          <a:prstGeom prst="rect">
            <a:avLst/>
          </a:prstGeom>
          <a:noFill/>
          <a:ln w="9525">
            <a:noFill/>
          </a:ln>
        </p:spPr>
        <p:txBody>
          <a:bodyPr wrap="none">
            <a:spAutoFit/>
          </a:bodyPr>
          <a:p>
            <a:pPr algn="l" eaLnBrk="1" hangingPunct="1"/>
            <a:r>
              <a:rPr lang="zh-CN" altLang="en-US" sz="3200" b="1" dirty="0">
                <a:solidFill>
                  <a:srgbClr val="3333FF"/>
                </a:solidFill>
                <a:latin typeface="楷体_GB2312" pitchFamily="49" charset="-122"/>
              </a:rPr>
              <a:t>则有：</a:t>
            </a:r>
            <a:endParaRPr lang="zh-CN" altLang="en-US" sz="3200" b="1" dirty="0">
              <a:solidFill>
                <a:srgbClr val="3333FF"/>
              </a:solidFill>
              <a:latin typeface="楷体_GB2312" pitchFamily="49" charset="-122"/>
            </a:endParaRPr>
          </a:p>
        </p:txBody>
      </p:sp>
      <p:sp>
        <p:nvSpPr>
          <p:cNvPr id="2254865" name="Text Box 1041"/>
          <p:cNvSpPr txBox="1"/>
          <p:nvPr/>
        </p:nvSpPr>
        <p:spPr>
          <a:xfrm>
            <a:off x="384175" y="3933825"/>
            <a:ext cx="1593850" cy="641350"/>
          </a:xfrm>
          <a:prstGeom prst="rect">
            <a:avLst/>
          </a:prstGeom>
          <a:solidFill>
            <a:srgbClr val="CCFFFF"/>
          </a:solidFill>
          <a:ln w="9525">
            <a:noFill/>
          </a:ln>
        </p:spPr>
        <p:txBody>
          <a:bodyPr>
            <a:spAutoFit/>
          </a:bodyPr>
          <a:p>
            <a:pPr algn="l" eaLnBrk="1" hangingPunct="1"/>
            <a:r>
              <a:rPr lang="zh-CN" altLang="en-US" b="1" dirty="0">
                <a:solidFill>
                  <a:srgbClr val="333399"/>
                </a:solidFill>
                <a:latin typeface="Times New Roman" panose="02020603050405020304" pitchFamily="18" charset="0"/>
              </a:rPr>
              <a:t>讨论：</a:t>
            </a:r>
            <a:endParaRPr lang="zh-CN" altLang="en-US" b="1" dirty="0">
              <a:solidFill>
                <a:srgbClr val="333399"/>
              </a:solidFill>
              <a:latin typeface="Times New Roman" panose="02020603050405020304" pitchFamily="18" charset="0"/>
            </a:endParaRPr>
          </a:p>
        </p:txBody>
      </p:sp>
      <p:sp>
        <p:nvSpPr>
          <p:cNvPr id="2254866" name="Text Box 1042"/>
          <p:cNvSpPr txBox="1"/>
          <p:nvPr/>
        </p:nvSpPr>
        <p:spPr>
          <a:xfrm>
            <a:off x="1344613" y="4833938"/>
            <a:ext cx="7440612" cy="946150"/>
          </a:xfrm>
          <a:prstGeom prst="rect">
            <a:avLst/>
          </a:prstGeom>
          <a:noFill/>
          <a:ln w="9525">
            <a:noFill/>
          </a:ln>
        </p:spPr>
        <p:txBody>
          <a:bodyPr>
            <a:spAutoFit/>
          </a:bodyPr>
          <a:p>
            <a:pPr algn="l" defTabSz="914400" eaLnBrk="1" hangingPunct="1">
              <a:buClr>
                <a:srgbClr val="FF0000"/>
              </a:buClr>
              <a:buFont typeface="Wingdings" panose="05000000000000000000" pitchFamily="2" charset="2"/>
              <a:buNone/>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当</a:t>
            </a:r>
            <a:r>
              <a:rPr lang="en-US" altLang="zh-CN" sz="2800" b="1" i="1">
                <a:solidFill>
                  <a:srgbClr val="FF0000"/>
                </a:solidFill>
                <a:latin typeface="Times New Roman" panose="02020603050405020304" pitchFamily="18" charset="0"/>
                <a:ea typeface="黑体" panose="02010609060101010101" pitchFamily="49" charset="-122"/>
              </a:rPr>
              <a:t>φ</a:t>
            </a:r>
            <a:r>
              <a:rPr lang="en-US" altLang="zh-CN" sz="2800" b="1">
                <a:solidFill>
                  <a:srgbClr val="FF0000"/>
                </a:solidFill>
                <a:latin typeface="Times New Roman" panose="02020603050405020304" pitchFamily="18" charset="0"/>
                <a:ea typeface="黑体" panose="02010609060101010101" pitchFamily="49" charset="-122"/>
              </a:rPr>
              <a:t>= 0</a:t>
            </a:r>
            <a:r>
              <a:rPr lang="zh-CN" altLang="en-US" sz="2800" b="1" dirty="0">
                <a:solidFill>
                  <a:schemeClr val="tx1"/>
                </a:solidFill>
                <a:latin typeface="Times New Roman" panose="02020603050405020304" pitchFamily="18" charset="0"/>
                <a:ea typeface="黑体" panose="02010609060101010101" pitchFamily="49" charset="-122"/>
              </a:rPr>
              <a:t>时，</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nT</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 = 0</a:t>
            </a:r>
            <a:r>
              <a:rPr lang="zh-CN" altLang="en-US" sz="2800" b="1" dirty="0">
                <a:solidFill>
                  <a:schemeClr val="tx1"/>
                </a:solidFill>
                <a:latin typeface="Times New Roman" panose="02020603050405020304" pitchFamily="18" charset="0"/>
                <a:ea typeface="黑体" panose="02010609060101010101" pitchFamily="49" charset="-122"/>
              </a:rPr>
              <a:t>，即采样值为零，无法恢复原来的模拟信号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 </a:t>
            </a:r>
            <a:endParaRPr lang="zh-CN" altLang="en-US" sz="2800" b="1" dirty="0">
              <a:solidFill>
                <a:schemeClr val="tx1"/>
              </a:solidFill>
              <a:latin typeface="Times New Roman" panose="02020603050405020304" pitchFamily="18" charset="0"/>
              <a:ea typeface="黑体" panose="02010609060101010101" pitchFamily="49" charset="-122"/>
            </a:endParaRPr>
          </a:p>
        </p:txBody>
      </p:sp>
      <p:pic>
        <p:nvPicPr>
          <p:cNvPr id="2254869" name="Picture 1045" descr="kugel_blau"/>
          <p:cNvPicPr>
            <a:picLocks noChangeAspect="1"/>
          </p:cNvPicPr>
          <p:nvPr/>
        </p:nvPicPr>
        <p:blipFill>
          <a:blip r:embed="rId1"/>
          <a:stretch>
            <a:fillRect/>
          </a:stretch>
        </p:blipFill>
        <p:spPr>
          <a:xfrm>
            <a:off x="827088" y="4941888"/>
            <a:ext cx="457200" cy="315912"/>
          </a:xfrm>
          <a:prstGeom prst="rect">
            <a:avLst/>
          </a:prstGeom>
          <a:noFill/>
          <a:ln w="9525">
            <a:noFill/>
          </a:ln>
        </p:spPr>
      </p:pic>
      <p:sp>
        <p:nvSpPr>
          <p:cNvPr id="2254870" name="Text Box 1046"/>
          <p:cNvSpPr txBox="1"/>
          <p:nvPr/>
        </p:nvSpPr>
        <p:spPr>
          <a:xfrm>
            <a:off x="1792288" y="1736725"/>
            <a:ext cx="6386512" cy="1990725"/>
          </a:xfrm>
          <a:prstGeom prst="rect">
            <a:avLst/>
          </a:prstGeom>
          <a:noFill/>
          <a:ln w="9525">
            <a:noFill/>
          </a:ln>
        </p:spPr>
        <p:txBody>
          <a:bodyPr wrap="none">
            <a:spAutoFit/>
          </a:bodyPr>
          <a:p>
            <a:pPr algn="l" eaLnBrk="1" hangingPunct="1">
              <a:buNone/>
            </a:pPr>
            <a:r>
              <a:rPr lang="en-US" altLang="zh-CN" sz="2800" b="1" i="1" err="1">
                <a:solidFill>
                  <a:schemeClr val="tx1"/>
                </a:solidFill>
                <a:latin typeface="Times New Roman" panose="02020603050405020304" pitchFamily="18" charset="0"/>
              </a:rPr>
              <a:t>x</a:t>
            </a:r>
            <a:r>
              <a:rPr lang="en-US" altLang="zh-CN" sz="2800" b="1" i="1" baseline="-25000" err="1">
                <a:solidFill>
                  <a:schemeClr val="tx1"/>
                </a:solidFill>
                <a:latin typeface="Times New Roman" panose="02020603050405020304" pitchFamily="18" charset="0"/>
              </a:rPr>
              <a:t>S</a:t>
            </a:r>
            <a:r>
              <a:rPr lang="en-US" altLang="zh-CN" sz="2800" b="1" err="1">
                <a:solidFill>
                  <a:schemeClr val="tx1"/>
                </a:solidFill>
                <a:latin typeface="楷体_GB2312" pitchFamily="49" charset="-122"/>
              </a:rPr>
              <a:t>(</a:t>
            </a:r>
            <a:r>
              <a:rPr lang="en-US" altLang="zh-CN" sz="2800" b="1" i="1" err="1">
                <a:solidFill>
                  <a:schemeClr val="tx1"/>
                </a:solidFill>
                <a:latin typeface="Times New Roman" panose="02020603050405020304" pitchFamily="18" charset="0"/>
              </a:rPr>
              <a:t>nT</a:t>
            </a:r>
            <a:r>
              <a:rPr lang="en-US" altLang="zh-CN" sz="2800" b="1" i="1" baseline="-25000" err="1">
                <a:solidFill>
                  <a:schemeClr val="tx1"/>
                </a:solidFill>
                <a:latin typeface="Times New Roman" panose="02020603050405020304" pitchFamily="18" charset="0"/>
              </a:rPr>
              <a:t>S</a:t>
            </a:r>
            <a:r>
              <a:rPr lang="en-US" altLang="zh-CN" sz="2800" b="1">
                <a:solidFill>
                  <a:schemeClr val="tx1"/>
                </a:solidFill>
                <a:latin typeface="楷体_GB2312" pitchFamily="49" charset="-122"/>
              </a:rPr>
              <a:t>)</a:t>
            </a:r>
            <a:r>
              <a:rPr lang="en-US" altLang="zh-CN" sz="2800" b="1">
                <a:solidFill>
                  <a:schemeClr val="tx1"/>
                </a:solidFill>
                <a:latin typeface="Times New Roman" panose="02020603050405020304" pitchFamily="18" charset="0"/>
              </a:rPr>
              <a:t>= </a:t>
            </a:r>
            <a:r>
              <a:rPr lang="en-US" altLang="zh-CN" sz="2800" b="1" i="1">
                <a:solidFill>
                  <a:schemeClr val="tx1"/>
                </a:solidFill>
                <a:latin typeface="Times New Roman" panose="02020603050405020304" pitchFamily="18" charset="0"/>
              </a:rPr>
              <a:t>A </a:t>
            </a:r>
            <a:r>
              <a:rPr lang="en-US" altLang="zh-CN" sz="2800" b="1" err="1">
                <a:solidFill>
                  <a:schemeClr val="tx1"/>
                </a:solidFill>
                <a:latin typeface="Times New Roman" panose="02020603050405020304" pitchFamily="18" charset="0"/>
              </a:rPr>
              <a:t>sin(</a:t>
            </a:r>
            <a:r>
              <a:rPr lang="en-US" altLang="zh-CN" sz="2800" b="1" i="1" err="1">
                <a:solidFill>
                  <a:schemeClr val="tx1"/>
                </a:solidFill>
                <a:latin typeface="Times New Roman" panose="02020603050405020304" pitchFamily="18" charset="0"/>
                <a:ea typeface="宋体" panose="02010600030101010101" pitchFamily="2" charset="-122"/>
              </a:rPr>
              <a:t>πn</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φ</a:t>
            </a:r>
            <a:r>
              <a:rPr lang="en-US" altLang="zh-CN" sz="2800" b="1">
                <a:solidFill>
                  <a:schemeClr val="tx1"/>
                </a:solidFill>
                <a:latin typeface="Times New Roman" panose="02020603050405020304" pitchFamily="18" charset="0"/>
                <a:ea typeface="宋体" panose="02010600030101010101" pitchFamily="2" charset="-122"/>
              </a:rPr>
              <a:t>)</a:t>
            </a:r>
            <a:endParaRPr lang="en-US" altLang="zh-CN" sz="2800" b="1">
              <a:solidFill>
                <a:schemeClr val="tx1"/>
              </a:solidFill>
              <a:latin typeface="Times New Roman" panose="02020603050405020304" pitchFamily="18" charset="0"/>
              <a:ea typeface="宋体" panose="02010600030101010101" pitchFamily="2" charset="-122"/>
            </a:endParaRPr>
          </a:p>
          <a:p>
            <a:pPr algn="l" eaLnBrk="1" hangingPunct="1">
              <a:lnSpc>
                <a:spcPct val="115000"/>
              </a:lnSpc>
              <a:buNone/>
            </a:pPr>
            <a:r>
              <a:rPr lang="en-US" altLang="zh-CN" sz="2800" b="1">
                <a:solidFill>
                  <a:schemeClr val="tx1"/>
                </a:solidFill>
                <a:latin typeface="Times New Roman" panose="02020603050405020304" pitchFamily="18" charset="0"/>
              </a:rPr>
              <a:t>             </a:t>
            </a:r>
            <a:r>
              <a:rPr lang="en-US" altLang="zh-CN" sz="600" b="1">
                <a:solidFill>
                  <a:schemeClr val="tx1"/>
                </a:solidFill>
                <a:latin typeface="Times New Roman" panose="02020603050405020304" pitchFamily="18" charset="0"/>
              </a:rPr>
              <a:t>  </a:t>
            </a:r>
            <a:r>
              <a:rPr lang="en-US" altLang="zh-CN" sz="700" b="1">
                <a:solidFill>
                  <a:schemeClr val="tx1"/>
                </a:solidFill>
                <a:latin typeface="Times New Roman" panose="02020603050405020304" pitchFamily="18" charset="0"/>
              </a:rPr>
              <a:t> </a:t>
            </a:r>
            <a:r>
              <a:rPr lang="en-US" altLang="zh-CN" sz="2800" b="1">
                <a:solidFill>
                  <a:schemeClr val="tx1"/>
                </a:solidFill>
                <a:latin typeface="Times New Roman" panose="02020603050405020304" pitchFamily="18" charset="0"/>
              </a:rPr>
              <a:t>= </a:t>
            </a:r>
            <a:r>
              <a:rPr lang="en-US" altLang="zh-CN" sz="2800" b="1" i="1">
                <a:solidFill>
                  <a:schemeClr val="tx1"/>
                </a:solidFill>
                <a:latin typeface="Times New Roman" panose="02020603050405020304" pitchFamily="18" charset="0"/>
              </a:rPr>
              <a:t>A</a:t>
            </a:r>
            <a:r>
              <a:rPr lang="en-US" altLang="zh-CN" sz="600" b="1" i="1">
                <a:solidFill>
                  <a:schemeClr val="tx1"/>
                </a:solidFill>
                <a:latin typeface="Times New Roman" panose="02020603050405020304" pitchFamily="18" charset="0"/>
              </a:rPr>
              <a:t> </a:t>
            </a:r>
            <a:r>
              <a:rPr lang="en-US" altLang="zh-CN" sz="2800" b="1">
                <a:solidFill>
                  <a:schemeClr val="tx1"/>
                </a:solidFill>
                <a:latin typeface="Times New Roman" panose="02020603050405020304" pitchFamily="18" charset="0"/>
              </a:rPr>
              <a:t>(</a:t>
            </a:r>
            <a:r>
              <a:rPr lang="en-US" altLang="zh-CN" sz="2800" b="1" err="1">
                <a:solidFill>
                  <a:schemeClr val="tx1"/>
                </a:solidFill>
                <a:latin typeface="Times New Roman" panose="02020603050405020304" pitchFamily="18" charset="0"/>
              </a:rPr>
              <a:t>sin</a:t>
            </a:r>
            <a:r>
              <a:rPr lang="en-US" altLang="zh-CN" sz="2800" b="1" i="1" err="1">
                <a:solidFill>
                  <a:schemeClr val="tx1"/>
                </a:solidFill>
                <a:latin typeface="Times New Roman" panose="02020603050405020304" pitchFamily="18" charset="0"/>
                <a:ea typeface="宋体" panose="02010600030101010101" pitchFamily="2" charset="-122"/>
              </a:rPr>
              <a:t>πn</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cos</a:t>
            </a:r>
            <a:r>
              <a:rPr lang="en-US" altLang="zh-CN" sz="2800" b="1" i="1" err="1">
                <a:solidFill>
                  <a:schemeClr val="tx1"/>
                </a:solidFill>
                <a:latin typeface="Times New Roman" panose="02020603050405020304" pitchFamily="18" charset="0"/>
                <a:ea typeface="宋体" panose="02010600030101010101" pitchFamily="2" charset="-122"/>
              </a:rPr>
              <a:t>φ</a:t>
            </a:r>
            <a:r>
              <a:rPr lang="en-US" altLang="zh-CN" sz="2800" b="1" i="1">
                <a:solidFill>
                  <a:schemeClr val="tx1"/>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a:t>
            </a:r>
            <a:r>
              <a:rPr lang="en-US" altLang="zh-CN" sz="2800" b="1" i="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cos</a:t>
            </a:r>
            <a:r>
              <a:rPr lang="en-US" altLang="zh-CN" sz="2800" b="1" i="1" err="1">
                <a:solidFill>
                  <a:schemeClr val="tx1"/>
                </a:solidFill>
                <a:latin typeface="Times New Roman" panose="02020603050405020304" pitchFamily="18" charset="0"/>
                <a:ea typeface="宋体" panose="02010600030101010101" pitchFamily="2" charset="-122"/>
              </a:rPr>
              <a:t>πn</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sin</a:t>
            </a:r>
            <a:r>
              <a:rPr lang="en-US" altLang="zh-CN" sz="2800" b="1" i="1" err="1">
                <a:solidFill>
                  <a:schemeClr val="tx1"/>
                </a:solidFill>
                <a:latin typeface="Times New Roman" panose="02020603050405020304" pitchFamily="18" charset="0"/>
                <a:ea typeface="宋体" panose="02010600030101010101" pitchFamily="2" charset="-122"/>
              </a:rPr>
              <a:t>φ</a:t>
            </a:r>
            <a:r>
              <a:rPr lang="en-US" altLang="zh-CN" sz="2800" b="1">
                <a:solidFill>
                  <a:schemeClr val="tx1"/>
                </a:solidFill>
                <a:latin typeface="Times New Roman" panose="02020603050405020304" pitchFamily="18" charset="0"/>
                <a:ea typeface="宋体" panose="02010600030101010101" pitchFamily="2" charset="-122"/>
              </a:rPr>
              <a:t>)</a:t>
            </a:r>
            <a:endParaRPr lang="en-US" altLang="zh-CN" sz="2800" b="1">
              <a:solidFill>
                <a:schemeClr val="tx1"/>
              </a:solidFill>
              <a:latin typeface="Times New Roman" panose="02020603050405020304" pitchFamily="18" charset="0"/>
              <a:ea typeface="宋体" panose="02010600030101010101" pitchFamily="2" charset="-122"/>
            </a:endParaRPr>
          </a:p>
          <a:p>
            <a:pPr algn="l" eaLnBrk="1" hangingPunct="1">
              <a:lnSpc>
                <a:spcPct val="115000"/>
              </a:lnSpc>
              <a:buNone/>
            </a:pPr>
            <a:r>
              <a:rPr lang="en-US" altLang="zh-CN" sz="2800" b="1">
                <a:solidFill>
                  <a:schemeClr val="tx1"/>
                </a:solidFill>
                <a:latin typeface="Times New Roman" panose="02020603050405020304" pitchFamily="18" charset="0"/>
                <a:ea typeface="宋体" panose="02010600030101010101" pitchFamily="2" charset="-122"/>
              </a:rPr>
              <a:t>             </a:t>
            </a:r>
            <a:r>
              <a:rPr lang="en-US" altLang="zh-CN" sz="900" b="1">
                <a:solidFill>
                  <a:schemeClr val="tx1"/>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A </a:t>
            </a:r>
            <a:r>
              <a:rPr lang="en-US" altLang="zh-CN" sz="2800" b="1" err="1">
                <a:solidFill>
                  <a:schemeClr val="tx1"/>
                </a:solidFill>
                <a:latin typeface="Times New Roman" panose="02020603050405020304" pitchFamily="18" charset="0"/>
                <a:ea typeface="宋体" panose="02010600030101010101" pitchFamily="2" charset="-122"/>
              </a:rPr>
              <a:t>cos</a:t>
            </a:r>
            <a:r>
              <a:rPr lang="en-US" altLang="zh-CN" sz="2800" b="1" i="1" err="1">
                <a:solidFill>
                  <a:schemeClr val="tx1"/>
                </a:solidFill>
                <a:latin typeface="Times New Roman" panose="02020603050405020304" pitchFamily="18" charset="0"/>
                <a:ea typeface="宋体" panose="02010600030101010101" pitchFamily="2" charset="-122"/>
              </a:rPr>
              <a:t>πn</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sin</a:t>
            </a:r>
            <a:r>
              <a:rPr lang="en-US" altLang="zh-CN" sz="2800" b="1" i="1" err="1">
                <a:solidFill>
                  <a:schemeClr val="tx1"/>
                </a:solidFill>
                <a:latin typeface="Times New Roman" panose="02020603050405020304" pitchFamily="18" charset="0"/>
                <a:ea typeface="宋体" panose="02010600030101010101" pitchFamily="2" charset="-122"/>
              </a:rPr>
              <a:t>φ</a:t>
            </a:r>
            <a:endParaRPr lang="en-US" altLang="zh-CN" sz="2800" b="1" i="1">
              <a:solidFill>
                <a:schemeClr val="tx1"/>
              </a:solidFill>
              <a:latin typeface="Times New Roman" panose="02020603050405020304" pitchFamily="18" charset="0"/>
              <a:ea typeface="宋体" panose="02010600030101010101" pitchFamily="2" charset="-122"/>
            </a:endParaRPr>
          </a:p>
          <a:p>
            <a:pPr algn="l" eaLnBrk="1" hangingPunct="1">
              <a:lnSpc>
                <a:spcPct val="115000"/>
              </a:lnSpc>
              <a:buNone/>
            </a:pPr>
            <a:r>
              <a:rPr lang="en-US" altLang="zh-CN" sz="2800" b="1" i="1">
                <a:solidFill>
                  <a:schemeClr val="tx1"/>
                </a:solidFill>
                <a:latin typeface="Times New Roman" panose="02020603050405020304" pitchFamily="18" charset="0"/>
                <a:ea typeface="宋体" panose="02010600030101010101" pitchFamily="2" charset="-122"/>
              </a:rPr>
              <a:t>             </a:t>
            </a:r>
            <a:r>
              <a:rPr lang="en-US" altLang="zh-CN" sz="900" b="1" i="1">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 A</a:t>
            </a:r>
            <a:r>
              <a:rPr lang="en-US" altLang="zh-CN" sz="2800" b="1">
                <a:solidFill>
                  <a:schemeClr val="tx1"/>
                </a:solidFill>
                <a:latin typeface="Times New Roman" panose="02020603050405020304" pitchFamily="18" charset="0"/>
                <a:ea typeface="宋体" panose="02010600030101010101" pitchFamily="2" charset="-122"/>
              </a:rPr>
              <a:t>(-1)</a:t>
            </a:r>
            <a:r>
              <a:rPr lang="en-US" altLang="zh-CN" sz="2800" b="1" i="1" baseline="30000">
                <a:solidFill>
                  <a:schemeClr val="tx1"/>
                </a:solidFill>
                <a:latin typeface="Times New Roman" panose="02020603050405020304" pitchFamily="18" charset="0"/>
                <a:ea typeface="宋体" panose="02010600030101010101" pitchFamily="2" charset="-122"/>
              </a:rPr>
              <a:t>n</a:t>
            </a:r>
            <a:r>
              <a:rPr lang="en-US" altLang="zh-CN" sz="2800" b="1" i="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sin</a:t>
            </a:r>
            <a:r>
              <a:rPr lang="en-US" altLang="zh-CN" sz="2800" b="1" i="1" err="1">
                <a:solidFill>
                  <a:schemeClr val="tx1"/>
                </a:solidFill>
                <a:latin typeface="Times New Roman" panose="02020603050405020304" pitchFamily="18" charset="0"/>
                <a:ea typeface="宋体" panose="02010600030101010101" pitchFamily="2" charset="-122"/>
              </a:rPr>
              <a:t>φ</a:t>
            </a:r>
            <a:endParaRPr lang="en-US" altLang="zh-CN" sz="2800" b="1" i="1" err="1">
              <a:solidFill>
                <a:schemeClr val="tx1"/>
              </a:solidFill>
              <a:latin typeface="Times New Roman" panose="02020603050405020304" pitchFamily="18" charset="0"/>
              <a:ea typeface="宋体" panose="02010600030101010101" pitchFamily="2" charset="-122"/>
            </a:endParaRPr>
          </a:p>
        </p:txBody>
      </p:sp>
      <p:sp>
        <p:nvSpPr>
          <p:cNvPr id="2254871" name="Text Box 104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4873" name="Text Box 1049"/>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0766" name="Text Box 14"/>
          <p:cNvSpPr txBox="1"/>
          <p:nvPr/>
        </p:nvSpPr>
        <p:spPr>
          <a:xfrm>
            <a:off x="434975" y="773113"/>
            <a:ext cx="608171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2.3.4 </a:t>
            </a:r>
            <a:r>
              <a:rPr lang="zh-CN" altLang="en-US" sz="3200" b="1" dirty="0">
                <a:solidFill>
                  <a:srgbClr val="333399"/>
                </a:solidFill>
                <a:latin typeface="楷体_GB2312" pitchFamily="49" charset="-122"/>
              </a:rPr>
              <a:t>采样定理一不适用的情况 </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4860"/>
                                        </p:tgtEl>
                                        <p:attrNameLst>
                                          <p:attrName>style.visibility</p:attrName>
                                        </p:attrNameLst>
                                      </p:cBhvr>
                                      <p:to>
                                        <p:strVal val="visible"/>
                                      </p:to>
                                    </p:set>
                                    <p:animEffect transition="in" filter="dissolve">
                                      <p:cBhvr>
                                        <p:cTn id="7" dur="500"/>
                                        <p:tgtEl>
                                          <p:spTgt spid="2254860"/>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54875"/>
                                        </p:tgtEl>
                                        <p:attrNameLst>
                                          <p:attrName>style.visibility</p:attrName>
                                        </p:attrNameLst>
                                      </p:cBhvr>
                                      <p:to>
                                        <p:strVal val="visible"/>
                                      </p:to>
                                    </p:set>
                                    <p:animEffect transition="in" filter="dissolve">
                                      <p:cBhvr>
                                        <p:cTn id="10" dur="500"/>
                                        <p:tgtEl>
                                          <p:spTgt spid="2254875"/>
                                        </p:tgtEl>
                                      </p:cBhvr>
                                    </p:animEffect>
                                  </p:childTnLst>
                                </p:cTn>
                              </p:par>
                              <p:par>
                                <p:cTn id="11" presetID="9" presetClass="entr" presetSubtype="0" fill="hold" nodeType="withEffect">
                                  <p:stCondLst>
                                    <p:cond delay="0"/>
                                  </p:stCondLst>
                                  <p:childTnLst>
                                    <p:set>
                                      <p:cBhvr>
                                        <p:cTn id="12" dur="1" fill="hold">
                                          <p:stCondLst>
                                            <p:cond delay="0"/>
                                          </p:stCondLst>
                                        </p:cTn>
                                        <p:tgtEl>
                                          <p:spTgt spid="2254870">
                                            <p:txEl>
                                              <p:charRg st="0" end="22"/>
                                            </p:txEl>
                                          </p:spTgt>
                                        </p:tgtEl>
                                        <p:attrNameLst>
                                          <p:attrName>style.visibility</p:attrName>
                                        </p:attrNameLst>
                                      </p:cBhvr>
                                      <p:to>
                                        <p:strVal val="visible"/>
                                      </p:to>
                                    </p:set>
                                    <p:animEffect transition="in" filter="dissolve">
                                      <p:cBhvr>
                                        <p:cTn id="13" dur="500"/>
                                        <p:tgtEl>
                                          <p:spTgt spid="2254870">
                                            <p:txEl>
                                              <p:charRg st="0" end="22"/>
                                            </p:txEl>
                                          </p:spTgt>
                                        </p:tgtEl>
                                      </p:cBhvr>
                                    </p:animEffect>
                                  </p:childTnLst>
                                </p:cTn>
                              </p:par>
                            </p:childTnLst>
                          </p:cTn>
                        </p:par>
                        <p:par>
                          <p:cTn id="14" fill="hold">
                            <p:stCondLst>
                              <p:cond delay="500"/>
                            </p:stCondLst>
                            <p:childTnLst>
                              <p:par>
                                <p:cTn id="15" presetID="9" presetClass="entr" presetSubtype="0" fill="hold" nodeType="afterEffect">
                                  <p:stCondLst>
                                    <p:cond delay="0"/>
                                  </p:stCondLst>
                                  <p:childTnLst>
                                    <p:set>
                                      <p:cBhvr>
                                        <p:cTn id="16" dur="1" fill="hold">
                                          <p:stCondLst>
                                            <p:cond delay="0"/>
                                          </p:stCondLst>
                                        </p:cTn>
                                        <p:tgtEl>
                                          <p:spTgt spid="2254870">
                                            <p:txEl>
                                              <p:charRg st="22" end="68"/>
                                            </p:txEl>
                                          </p:spTgt>
                                        </p:tgtEl>
                                        <p:attrNameLst>
                                          <p:attrName>style.visibility</p:attrName>
                                        </p:attrNameLst>
                                      </p:cBhvr>
                                      <p:to>
                                        <p:strVal val="visible"/>
                                      </p:to>
                                    </p:set>
                                    <p:animEffect transition="in" filter="dissolve">
                                      <p:cBhvr>
                                        <p:cTn id="17" dur="500"/>
                                        <p:tgtEl>
                                          <p:spTgt spid="2254870">
                                            <p:txEl>
                                              <p:charRg st="22" end="68"/>
                                            </p:txEl>
                                          </p:spTgt>
                                        </p:tgtEl>
                                      </p:cBhvr>
                                    </p:animEffect>
                                  </p:childTnLst>
                                </p:cTn>
                              </p:par>
                            </p:childTnLst>
                          </p:cTn>
                        </p:par>
                        <p:par>
                          <p:cTn id="18" fill="hold">
                            <p:stCondLst>
                              <p:cond delay="1000"/>
                            </p:stCondLst>
                            <p:childTnLst>
                              <p:par>
                                <p:cTn id="19" presetID="9" presetClass="entr" presetSubtype="0" fill="hold" nodeType="afterEffect">
                                  <p:stCondLst>
                                    <p:cond delay="0"/>
                                  </p:stCondLst>
                                  <p:childTnLst>
                                    <p:set>
                                      <p:cBhvr>
                                        <p:cTn id="20" dur="1" fill="hold">
                                          <p:stCondLst>
                                            <p:cond delay="0"/>
                                          </p:stCondLst>
                                        </p:cTn>
                                        <p:tgtEl>
                                          <p:spTgt spid="2254870">
                                            <p:txEl>
                                              <p:charRg st="68" end="98"/>
                                            </p:txEl>
                                          </p:spTgt>
                                        </p:tgtEl>
                                        <p:attrNameLst>
                                          <p:attrName>style.visibility</p:attrName>
                                        </p:attrNameLst>
                                      </p:cBhvr>
                                      <p:to>
                                        <p:strVal val="visible"/>
                                      </p:to>
                                    </p:set>
                                    <p:animEffect transition="in" filter="dissolve">
                                      <p:cBhvr>
                                        <p:cTn id="21" dur="500"/>
                                        <p:tgtEl>
                                          <p:spTgt spid="2254870">
                                            <p:txEl>
                                              <p:charRg st="68" end="98"/>
                                            </p:txEl>
                                          </p:spTgt>
                                        </p:tgtEl>
                                      </p:cBhvr>
                                    </p:animEffect>
                                  </p:childTnLst>
                                </p:cTn>
                              </p:par>
                            </p:childTnLst>
                          </p:cTn>
                        </p:par>
                        <p:par>
                          <p:cTn id="22" fill="hold">
                            <p:stCondLst>
                              <p:cond delay="1500"/>
                            </p:stCondLst>
                            <p:childTnLst>
                              <p:par>
                                <p:cTn id="23" presetID="9" presetClass="entr" presetSubtype="0" fill="hold" nodeType="afterEffect">
                                  <p:stCondLst>
                                    <p:cond delay="0"/>
                                  </p:stCondLst>
                                  <p:childTnLst>
                                    <p:set>
                                      <p:cBhvr>
                                        <p:cTn id="24" dur="1" fill="hold">
                                          <p:stCondLst>
                                            <p:cond delay="0"/>
                                          </p:stCondLst>
                                        </p:cTn>
                                        <p:tgtEl>
                                          <p:spTgt spid="2254870">
                                            <p:txEl>
                                              <p:charRg st="98" end="127"/>
                                            </p:txEl>
                                          </p:spTgt>
                                        </p:tgtEl>
                                        <p:attrNameLst>
                                          <p:attrName>style.visibility</p:attrName>
                                        </p:attrNameLst>
                                      </p:cBhvr>
                                      <p:to>
                                        <p:strVal val="visible"/>
                                      </p:to>
                                    </p:set>
                                    <p:animEffect transition="in" filter="dissolve">
                                      <p:cBhvr>
                                        <p:cTn id="25" dur="500"/>
                                        <p:tgtEl>
                                          <p:spTgt spid="2254870">
                                            <p:txEl>
                                              <p:charRg st="98" end="127"/>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254865"/>
                                        </p:tgtEl>
                                        <p:attrNameLst>
                                          <p:attrName>style.visibility</p:attrName>
                                        </p:attrNameLst>
                                      </p:cBhvr>
                                      <p:to>
                                        <p:strVal val="visible"/>
                                      </p:to>
                                    </p:set>
                                    <p:animEffect transition="in" filter="dissolve">
                                      <p:cBhvr>
                                        <p:cTn id="30" dur="500"/>
                                        <p:tgtEl>
                                          <p:spTgt spid="22548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254866"/>
                                        </p:tgtEl>
                                        <p:attrNameLst>
                                          <p:attrName>style.visibility</p:attrName>
                                        </p:attrNameLst>
                                      </p:cBhvr>
                                      <p:to>
                                        <p:strVal val="visible"/>
                                      </p:to>
                                    </p:set>
                                    <p:animEffect transition="in" filter="dissolve">
                                      <p:cBhvr>
                                        <p:cTn id="35" dur="500"/>
                                        <p:tgtEl>
                                          <p:spTgt spid="2254866"/>
                                        </p:tgtEl>
                                      </p:cBhvr>
                                    </p:animEffect>
                                  </p:childTnLst>
                                </p:cTn>
                              </p:par>
                              <p:par>
                                <p:cTn id="36" presetID="9" presetClass="entr" presetSubtype="0" fill="hold" nodeType="withEffect">
                                  <p:stCondLst>
                                    <p:cond delay="0"/>
                                  </p:stCondLst>
                                  <p:childTnLst>
                                    <p:set>
                                      <p:cBhvr>
                                        <p:cTn id="37" dur="1" fill="hold">
                                          <p:stCondLst>
                                            <p:cond delay="0"/>
                                          </p:stCondLst>
                                        </p:cTn>
                                        <p:tgtEl>
                                          <p:spTgt spid="2254869"/>
                                        </p:tgtEl>
                                        <p:attrNameLst>
                                          <p:attrName>style.visibility</p:attrName>
                                        </p:attrNameLst>
                                      </p:cBhvr>
                                      <p:to>
                                        <p:strVal val="visible"/>
                                      </p:to>
                                    </p:set>
                                    <p:animEffect transition="in" filter="dissolve">
                                      <p:cBhvr>
                                        <p:cTn id="38" dur="500"/>
                                        <p:tgtEl>
                                          <p:spTgt spid="2254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4875" grpId="0" bldLvl="0" animBg="1"/>
      <p:bldP spid="2254860" grpId="0"/>
      <p:bldP spid="2254865" grpId="0" bldLvl="0" animBg="1"/>
      <p:bldP spid="225486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882" name="Text Box 1034"/>
          <p:cNvSpPr txBox="1"/>
          <p:nvPr/>
        </p:nvSpPr>
        <p:spPr>
          <a:xfrm>
            <a:off x="1306513" y="1484313"/>
            <a:ext cx="7583487" cy="946150"/>
          </a:xfrm>
          <a:prstGeom prst="rect">
            <a:avLst/>
          </a:prstGeom>
          <a:noFill/>
          <a:ln w="9525">
            <a:noFill/>
          </a:ln>
        </p:spPr>
        <p:txBody>
          <a:bodyPr>
            <a:spAutoFit/>
          </a:bodyPr>
          <a:p>
            <a:pPr algn="l" defTabSz="914400" eaLnBrk="1" hangingPunct="1">
              <a:buClr>
                <a:srgbClr val="FF0000"/>
              </a:buClr>
              <a:buFont typeface="Wingdings" panose="05000000000000000000" pitchFamily="2" charset="2"/>
              <a:buNone/>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当</a:t>
            </a:r>
            <a:r>
              <a:rPr lang="en-US" altLang="zh-CN" sz="2800" b="1">
                <a:solidFill>
                  <a:srgbClr val="FF0000"/>
                </a:solidFill>
                <a:latin typeface="Times New Roman" panose="02020603050405020304" pitchFamily="18" charset="0"/>
                <a:ea typeface="黑体" panose="02010609060101010101" pitchFamily="49" charset="-122"/>
              </a:rPr>
              <a:t>0&lt;|</a:t>
            </a:r>
            <a:r>
              <a:rPr lang="en-US" altLang="zh-CN" sz="2800" b="1" err="1">
                <a:solidFill>
                  <a:srgbClr val="FF0000"/>
                </a:solidFill>
                <a:latin typeface="Times New Roman" panose="02020603050405020304" pitchFamily="18" charset="0"/>
                <a:ea typeface="黑体" panose="02010609060101010101" pitchFamily="49" charset="-122"/>
              </a:rPr>
              <a:t>sin</a:t>
            </a:r>
            <a:r>
              <a:rPr lang="en-US" altLang="zh-CN" sz="2800" b="1" i="1" err="1">
                <a:solidFill>
                  <a:srgbClr val="FF0000"/>
                </a:solidFill>
                <a:latin typeface="Times New Roman" panose="02020603050405020304" pitchFamily="18" charset="0"/>
                <a:ea typeface="黑体" panose="02010609060101010101" pitchFamily="49" charset="-122"/>
              </a:rPr>
              <a:t>φ</a:t>
            </a:r>
            <a:r>
              <a:rPr lang="en-US" altLang="zh-CN" sz="2800" b="1">
                <a:solidFill>
                  <a:srgbClr val="FF0000"/>
                </a:solidFill>
                <a:latin typeface="Times New Roman" panose="02020603050405020304" pitchFamily="18" charset="0"/>
                <a:ea typeface="黑体" panose="02010609060101010101" pitchFamily="49" charset="-122"/>
              </a:rPr>
              <a:t>|&lt;1</a:t>
            </a:r>
            <a:r>
              <a:rPr lang="zh-CN" altLang="en-US" sz="2800" b="1" dirty="0">
                <a:solidFill>
                  <a:schemeClr val="tx1"/>
                </a:solidFill>
                <a:latin typeface="Times New Roman" panose="02020603050405020304" pitchFamily="18" charset="0"/>
                <a:ea typeface="黑体" panose="02010609060101010101" pitchFamily="49" charset="-122"/>
              </a:rPr>
              <a:t>时，</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nT</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的幅值均小于原模拟信号，出现失真。</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5883" name="Text Box 1035"/>
          <p:cNvSpPr txBox="1"/>
          <p:nvPr/>
        </p:nvSpPr>
        <p:spPr>
          <a:xfrm>
            <a:off x="1258888" y="2582863"/>
            <a:ext cx="7473950" cy="946150"/>
          </a:xfrm>
          <a:prstGeom prst="rect">
            <a:avLst/>
          </a:prstGeom>
          <a:noFill/>
          <a:ln w="9525">
            <a:noFill/>
          </a:ln>
        </p:spPr>
        <p:txBody>
          <a:bodyPr>
            <a:spAutoFit/>
          </a:bodyPr>
          <a:p>
            <a:pPr algn="l" defTabSz="914400" eaLnBrk="1" hangingPunct="1">
              <a:buClr>
                <a:srgbClr val="FF0000"/>
              </a:buClr>
              <a:buFont typeface="Wingdings" panose="05000000000000000000" pitchFamily="2" charset="2"/>
              <a:buNone/>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当</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err="1">
                <a:solidFill>
                  <a:srgbClr val="FF0000"/>
                </a:solidFill>
                <a:latin typeface="Times New Roman" panose="02020603050405020304" pitchFamily="18" charset="0"/>
                <a:ea typeface="黑体" panose="02010609060101010101" pitchFamily="49" charset="-122"/>
              </a:rPr>
              <a:t>sin</a:t>
            </a:r>
            <a:r>
              <a:rPr lang="en-US" altLang="zh-CN" sz="2800" b="1" i="1" err="1">
                <a:solidFill>
                  <a:srgbClr val="FF0000"/>
                </a:solidFill>
                <a:latin typeface="Times New Roman" panose="02020603050405020304" pitchFamily="18" charset="0"/>
                <a:ea typeface="黑体" panose="02010609060101010101" pitchFamily="49" charset="-122"/>
              </a:rPr>
              <a:t>φ</a:t>
            </a:r>
            <a:r>
              <a:rPr lang="en-US" altLang="zh-CN" sz="2800" b="1">
                <a:solidFill>
                  <a:srgbClr val="FF0000"/>
                </a:solidFill>
                <a:latin typeface="Times New Roman" panose="02020603050405020304" pitchFamily="18" charset="0"/>
                <a:ea typeface="黑体" panose="02010609060101010101" pitchFamily="49" charset="-122"/>
              </a:rPr>
              <a:t>|=1</a:t>
            </a:r>
            <a:r>
              <a:rPr lang="zh-CN" altLang="en-US" sz="2800" b="1" dirty="0">
                <a:solidFill>
                  <a:schemeClr val="tx1"/>
                </a:solidFill>
                <a:latin typeface="Times New Roman" panose="02020603050405020304" pitchFamily="18" charset="0"/>
                <a:ea typeface="黑体" panose="02010609060101010101" pitchFamily="49" charset="-122"/>
              </a:rPr>
              <a:t>时，</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nT</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)=(-1)</a:t>
            </a:r>
            <a:r>
              <a:rPr lang="en-US" altLang="zh-CN" sz="2800" b="1" baseline="30000">
                <a:solidFill>
                  <a:srgbClr val="FF0000"/>
                </a:solidFill>
                <a:latin typeface="Times New Roman" panose="02020603050405020304" pitchFamily="18" charset="0"/>
                <a:ea typeface="黑体" panose="02010609060101010101" pitchFamily="49" charset="-122"/>
              </a:rPr>
              <a:t>n</a:t>
            </a:r>
            <a:r>
              <a:rPr lang="en-US" altLang="zh-CN" sz="2800" b="1" i="1">
                <a:solidFill>
                  <a:srgbClr val="FF0000"/>
                </a:solidFill>
                <a:latin typeface="Times New Roman" panose="02020603050405020304" pitchFamily="18" charset="0"/>
                <a:ea typeface="黑体" panose="02010609060101010101" pitchFamily="49" charset="-122"/>
              </a:rPr>
              <a:t>A</a:t>
            </a:r>
            <a:r>
              <a:rPr lang="zh-CN" altLang="en-US" sz="2800" b="1" dirty="0">
                <a:solidFill>
                  <a:schemeClr val="tx1"/>
                </a:solidFill>
                <a:latin typeface="Times New Roman" panose="02020603050405020304" pitchFamily="18" charset="0"/>
                <a:ea typeface="黑体" panose="02010609060101010101" pitchFamily="49" charset="-122"/>
              </a:rPr>
              <a:t>，它与原信号</a:t>
            </a:r>
            <a:r>
              <a:rPr lang="en-US" altLang="zh-CN" sz="2800" b="1" err="1">
                <a:solidFill>
                  <a:schemeClr val="tx1"/>
                </a:solidFill>
                <a:latin typeface="Times New Roman" panose="02020603050405020304" pitchFamily="18" charset="0"/>
                <a:ea typeface="黑体" panose="02010609060101010101" pitchFamily="49" charset="-122"/>
              </a:rPr>
              <a:t>x(t</a:t>
            </a:r>
            <a:r>
              <a:rPr lang="en-US" altLang="zh-CN" sz="2800" b="1">
                <a:solidFill>
                  <a:schemeClr val="tx1"/>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的幅值相同，但必须保证</a:t>
            </a:r>
            <a:r>
              <a:rPr lang="en-US" altLang="zh-CN" sz="2800" b="1" i="1">
                <a:solidFill>
                  <a:srgbClr val="FF0000"/>
                </a:solidFill>
                <a:latin typeface="Times New Roman" panose="02020603050405020304" pitchFamily="18" charset="0"/>
                <a:ea typeface="黑体" panose="02010609060101010101" pitchFamily="49" charset="-122"/>
              </a:rPr>
              <a:t>φ</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i="1">
                <a:solidFill>
                  <a:srgbClr val="FF0000"/>
                </a:solidFill>
                <a:latin typeface="Times New Roman" panose="02020603050405020304" pitchFamily="18" charset="0"/>
                <a:ea typeface="黑体" panose="02010609060101010101" pitchFamily="49" charset="-122"/>
              </a:rPr>
              <a:t>π</a:t>
            </a:r>
            <a:r>
              <a:rPr lang="en-US" altLang="zh-CN" sz="2800" b="1">
                <a:solidFill>
                  <a:srgbClr val="FF0000"/>
                </a:solidFill>
                <a:latin typeface="Times New Roman" panose="02020603050405020304" pitchFamily="18" charset="0"/>
                <a:ea typeface="黑体" panose="02010609060101010101" pitchFamily="49" charset="-122"/>
              </a:rPr>
              <a:t>/2</a:t>
            </a:r>
            <a:r>
              <a:rPr lang="zh-CN" altLang="en-US" sz="2800" b="1" dirty="0">
                <a:solidFill>
                  <a:schemeClr val="tx1"/>
                </a:solidFill>
                <a:latin typeface="Times New Roman" panose="02020603050405020304" pitchFamily="18" charset="0"/>
                <a:ea typeface="黑体" panose="02010609060101010101" pitchFamily="49" charset="-122"/>
              </a:rPr>
              <a:t>。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5884" name="Text Box 1036"/>
          <p:cNvSpPr txBox="1"/>
          <p:nvPr/>
        </p:nvSpPr>
        <p:spPr>
          <a:xfrm>
            <a:off x="684213" y="3752850"/>
            <a:ext cx="8101012" cy="1187450"/>
          </a:xfrm>
          <a:prstGeom prst="rect">
            <a:avLst/>
          </a:prstGeom>
          <a:solidFill>
            <a:srgbClr val="CCFFFF"/>
          </a:solidFill>
          <a:ln w="9525">
            <a:noFill/>
          </a:ln>
        </p:spPr>
        <p:txBody>
          <a:bodyPr>
            <a:spAutoFit/>
          </a:bodyPr>
          <a:p>
            <a:pPr algn="l" eaLnBrk="1" hangingPunct="1">
              <a:buNone/>
            </a:pPr>
            <a:r>
              <a:rPr lang="zh-CN" altLang="en-US" sz="2400" b="1" dirty="0">
                <a:solidFill>
                  <a:srgbClr val="333399"/>
                </a:solidFill>
                <a:latin typeface="Times New Roman" panose="02020603050405020304" pitchFamily="18" charset="0"/>
                <a:ea typeface="黑体" panose="02010609060101010101" pitchFamily="49" charset="-122"/>
              </a:rPr>
              <a:t>综上所述，只有在采样起始点严格地控制在</a:t>
            </a:r>
            <a:r>
              <a:rPr lang="en-US" altLang="zh-CN" sz="2400" b="1" i="1">
                <a:solidFill>
                  <a:srgbClr val="CC00CC"/>
                </a:solidFill>
                <a:latin typeface="Times New Roman" panose="02020603050405020304" pitchFamily="18" charset="0"/>
                <a:ea typeface="宋体" panose="02010600030101010101" pitchFamily="2" charset="-122"/>
              </a:rPr>
              <a:t>φ</a:t>
            </a:r>
            <a:r>
              <a:rPr lang="en-US" altLang="zh-CN" sz="2400" b="1">
                <a:solidFill>
                  <a:srgbClr val="CC00CC"/>
                </a:solidFill>
                <a:latin typeface="Times New Roman" panose="02020603050405020304" pitchFamily="18" charset="0"/>
                <a:ea typeface="宋体" panose="02010600030101010101" pitchFamily="2" charset="-122"/>
              </a:rPr>
              <a:t>=</a:t>
            </a:r>
            <a:r>
              <a:rPr lang="en-US" altLang="zh-CN" sz="2400" b="1" i="1">
                <a:solidFill>
                  <a:srgbClr val="CC00CC"/>
                </a:solidFill>
                <a:latin typeface="Times New Roman" panose="02020603050405020304" pitchFamily="18" charset="0"/>
                <a:ea typeface="宋体" panose="02010600030101010101" pitchFamily="2" charset="-122"/>
              </a:rPr>
              <a:t>π</a:t>
            </a:r>
            <a:r>
              <a:rPr lang="en-US" altLang="zh-CN" sz="2400" b="1">
                <a:solidFill>
                  <a:srgbClr val="CC00CC"/>
                </a:solidFill>
                <a:latin typeface="Times New Roman" panose="02020603050405020304" pitchFamily="18" charset="0"/>
                <a:ea typeface="宋体" panose="02010600030101010101" pitchFamily="2" charset="-122"/>
              </a:rPr>
              <a:t>/2</a:t>
            </a:r>
            <a:r>
              <a:rPr lang="zh-CN" altLang="en-US" sz="2400" b="1" dirty="0">
                <a:solidFill>
                  <a:srgbClr val="333399"/>
                </a:solidFill>
                <a:latin typeface="Times New Roman" panose="02020603050405020304" pitchFamily="18" charset="0"/>
                <a:ea typeface="黑体" panose="02010609060101010101" pitchFamily="49" charset="-122"/>
              </a:rPr>
              <a:t>时，才能由采样信号</a:t>
            </a:r>
            <a:r>
              <a:rPr lang="en-US" altLang="zh-CN" sz="2400" b="1" i="1" err="1">
                <a:solidFill>
                  <a:srgbClr val="CC00CC"/>
                </a:solidFill>
                <a:latin typeface="Times New Roman" panose="02020603050405020304" pitchFamily="18" charset="0"/>
                <a:ea typeface="宋体" panose="02010600030101010101" pitchFamily="2" charset="-122"/>
              </a:rPr>
              <a:t>x</a:t>
            </a:r>
            <a:r>
              <a:rPr lang="en-US" altLang="zh-CN" sz="2400" b="1" i="1" baseline="-25000" err="1">
                <a:solidFill>
                  <a:srgbClr val="CC00CC"/>
                </a:solidFill>
                <a:latin typeface="Times New Roman" panose="02020603050405020304" pitchFamily="18" charset="0"/>
                <a:ea typeface="宋体" panose="02010600030101010101" pitchFamily="2" charset="-122"/>
              </a:rPr>
              <a:t>S</a:t>
            </a:r>
            <a:r>
              <a:rPr lang="en-US" altLang="zh-CN" sz="2400" b="1" err="1">
                <a:solidFill>
                  <a:srgbClr val="CC00CC"/>
                </a:solidFill>
                <a:latin typeface="Times New Roman" panose="02020603050405020304" pitchFamily="18" charset="0"/>
                <a:ea typeface="宋体" panose="02010600030101010101" pitchFamily="2" charset="-122"/>
              </a:rPr>
              <a:t>(</a:t>
            </a:r>
            <a:r>
              <a:rPr lang="en-US" altLang="zh-CN" sz="2400" b="1" i="1" err="1">
                <a:solidFill>
                  <a:srgbClr val="CC00CC"/>
                </a:solidFill>
                <a:latin typeface="Times New Roman" panose="02020603050405020304" pitchFamily="18" charset="0"/>
                <a:ea typeface="宋体" panose="02010600030101010101" pitchFamily="2" charset="-122"/>
              </a:rPr>
              <a:t>nT</a:t>
            </a:r>
            <a:r>
              <a:rPr lang="en-US" altLang="zh-CN" sz="2400" b="1" i="1" baseline="-25000" err="1">
                <a:solidFill>
                  <a:srgbClr val="CC00CC"/>
                </a:solidFill>
                <a:latin typeface="Times New Roman" panose="02020603050405020304" pitchFamily="18" charset="0"/>
                <a:ea typeface="宋体" panose="02010600030101010101" pitchFamily="2" charset="-122"/>
              </a:rPr>
              <a:t>S</a:t>
            </a:r>
            <a:r>
              <a:rPr lang="en-US" altLang="zh-CN" sz="2400" b="1">
                <a:solidFill>
                  <a:srgbClr val="CC00CC"/>
                </a:solidFill>
                <a:latin typeface="Times New Roman" panose="02020603050405020304" pitchFamily="18" charset="0"/>
                <a:ea typeface="宋体" panose="02010600030101010101" pitchFamily="2" charset="-122"/>
              </a:rPr>
              <a:t>)</a:t>
            </a:r>
            <a:r>
              <a:rPr lang="zh-CN" altLang="en-US" sz="2400" b="1" dirty="0">
                <a:solidFill>
                  <a:srgbClr val="333399"/>
                </a:solidFill>
                <a:latin typeface="Times New Roman" panose="02020603050405020304" pitchFamily="18" charset="0"/>
                <a:ea typeface="黑体" panose="02010609060101010101" pitchFamily="49" charset="-122"/>
              </a:rPr>
              <a:t>不失真地恢复出原模拟信号</a:t>
            </a:r>
            <a:r>
              <a:rPr lang="en-US" altLang="zh-CN" sz="2400" b="1" i="1" err="1">
                <a:solidFill>
                  <a:srgbClr val="CC00CC"/>
                </a:solidFill>
                <a:latin typeface="Times New Roman" panose="02020603050405020304" pitchFamily="18" charset="0"/>
                <a:ea typeface="宋体" panose="02010600030101010101" pitchFamily="2" charset="-122"/>
              </a:rPr>
              <a:t>x</a:t>
            </a:r>
            <a:r>
              <a:rPr lang="en-US" altLang="zh-CN" sz="2400" b="1" err="1">
                <a:solidFill>
                  <a:srgbClr val="CC00CC"/>
                </a:solidFill>
                <a:latin typeface="Times New Roman" panose="02020603050405020304" pitchFamily="18" charset="0"/>
                <a:ea typeface="宋体" panose="02010600030101010101" pitchFamily="2" charset="-122"/>
              </a:rPr>
              <a:t>(</a:t>
            </a:r>
            <a:r>
              <a:rPr lang="en-US" altLang="zh-CN" sz="2400" b="1" i="1" err="1">
                <a:solidFill>
                  <a:srgbClr val="CC00CC"/>
                </a:solidFill>
                <a:latin typeface="Times New Roman" panose="02020603050405020304" pitchFamily="18" charset="0"/>
                <a:ea typeface="宋体" panose="02010600030101010101" pitchFamily="2" charset="-122"/>
              </a:rPr>
              <a:t>t</a:t>
            </a:r>
            <a:r>
              <a:rPr lang="en-US" altLang="zh-CN" sz="2400" b="1">
                <a:solidFill>
                  <a:srgbClr val="CC00CC"/>
                </a:solidFill>
                <a:latin typeface="Times New Roman" panose="02020603050405020304" pitchFamily="18" charset="0"/>
                <a:ea typeface="宋体" panose="02010600030101010101" pitchFamily="2" charset="-122"/>
              </a:rPr>
              <a:t>)</a:t>
            </a:r>
            <a:r>
              <a:rPr lang="zh-CN" altLang="en-US" sz="2400" b="1" dirty="0">
                <a:solidFill>
                  <a:srgbClr val="333399"/>
                </a:solidFill>
                <a:latin typeface="Times New Roman" panose="02020603050405020304" pitchFamily="18" charset="0"/>
                <a:ea typeface="黑体" panose="02010609060101010101" pitchFamily="49" charset="-122"/>
              </a:rPr>
              <a:t>，然而这是难以做到的。</a:t>
            </a:r>
            <a:endParaRPr lang="zh-CN" altLang="en-US" sz="2400" b="1" dirty="0">
              <a:solidFill>
                <a:srgbClr val="333399"/>
              </a:solidFill>
              <a:latin typeface="Times New Roman" panose="02020603050405020304" pitchFamily="18" charset="0"/>
              <a:ea typeface="黑体" panose="02010609060101010101" pitchFamily="49" charset="-122"/>
            </a:endParaRPr>
          </a:p>
        </p:txBody>
      </p:sp>
      <p:grpSp>
        <p:nvGrpSpPr>
          <p:cNvPr id="2255897" name="Group 1049"/>
          <p:cNvGrpSpPr/>
          <p:nvPr/>
        </p:nvGrpSpPr>
        <p:grpSpPr>
          <a:xfrm>
            <a:off x="1111250" y="5157788"/>
            <a:ext cx="7708900" cy="792162"/>
            <a:chOff x="505" y="3317"/>
            <a:chExt cx="4856" cy="499"/>
          </a:xfrm>
        </p:grpSpPr>
        <p:sp>
          <p:nvSpPr>
            <p:cNvPr id="15372" name="Text Box 1038"/>
            <p:cNvSpPr txBox="1"/>
            <p:nvPr/>
          </p:nvSpPr>
          <p:spPr>
            <a:xfrm>
              <a:off x="505" y="3369"/>
              <a:ext cx="2141" cy="327"/>
            </a:xfrm>
            <a:prstGeom prst="rect">
              <a:avLst/>
            </a:prstGeom>
            <a:noFill/>
            <a:ln w="9525">
              <a:noFill/>
            </a:ln>
          </p:spPr>
          <p:txBody>
            <a:bodyPr wrap="none">
              <a:spAutoFit/>
            </a:bodyPr>
            <a:p>
              <a:pPr algn="l" eaLnBrk="1" hangingPunct="1"/>
              <a:r>
                <a:rPr lang="zh-CN" altLang="en-US" sz="2800" b="1" dirty="0">
                  <a:solidFill>
                    <a:srgbClr val="FF0000"/>
                  </a:solidFill>
                  <a:latin typeface="楷体_GB2312" pitchFamily="49" charset="-122"/>
                  <a:ea typeface="黑体" panose="02010609060101010101" pitchFamily="49" charset="-122"/>
                </a:rPr>
                <a:t>结论：</a:t>
              </a:r>
              <a:r>
                <a:rPr lang="zh-CN" altLang="en-US" sz="2800" b="1" dirty="0">
                  <a:solidFill>
                    <a:srgbClr val="3333FF"/>
                  </a:solidFill>
                  <a:latin typeface="Times New Roman" panose="02020603050405020304" pitchFamily="18" charset="0"/>
                  <a:ea typeface="黑体" panose="02010609060101010101" pitchFamily="49" charset="-122"/>
                </a:rPr>
                <a:t>采样定理对于</a:t>
              </a:r>
              <a:endParaRPr lang="zh-CN" altLang="en-US" sz="2800" b="1" dirty="0">
                <a:solidFill>
                  <a:srgbClr val="3333FF"/>
                </a:solidFill>
                <a:latin typeface="Times New Roman" panose="02020603050405020304" pitchFamily="18" charset="0"/>
                <a:ea typeface="黑体" panose="02010609060101010101" pitchFamily="49" charset="-122"/>
              </a:endParaRPr>
            </a:p>
          </p:txBody>
        </p:sp>
        <p:graphicFrame>
          <p:nvGraphicFramePr>
            <p:cNvPr id="15373" name="Object 1039"/>
            <p:cNvGraphicFramePr>
              <a:graphicFrameLocks noChangeAspect="1"/>
            </p:cNvGraphicFramePr>
            <p:nvPr/>
          </p:nvGraphicFramePr>
          <p:xfrm>
            <a:off x="2674" y="3317"/>
            <a:ext cx="979" cy="499"/>
          </p:xfrm>
          <a:graphic>
            <a:graphicData uri="http://schemas.openxmlformats.org/presentationml/2006/ole">
              <mc:AlternateContent xmlns:mc="http://schemas.openxmlformats.org/markup-compatibility/2006">
                <mc:Choice xmlns:v="urn:schemas-microsoft-com:vml" Requires="v">
                  <p:oleObj spid="_x0000_s3093" name="" r:id="rId1" imgW="584200" imgH="431800" progId="Equation.3">
                    <p:embed/>
                  </p:oleObj>
                </mc:Choice>
                <mc:Fallback>
                  <p:oleObj name="" r:id="rId1" imgW="584200" imgH="431800" progId="Equation.3">
                    <p:embed/>
                    <p:pic>
                      <p:nvPicPr>
                        <p:cNvPr id="0" name="图片 3092"/>
                        <p:cNvPicPr/>
                        <p:nvPr/>
                      </p:nvPicPr>
                      <p:blipFill>
                        <a:blip r:embed="rId2"/>
                        <a:stretch>
                          <a:fillRect/>
                        </a:stretch>
                      </p:blipFill>
                      <p:spPr>
                        <a:xfrm>
                          <a:off x="2674" y="3317"/>
                          <a:ext cx="979" cy="499"/>
                        </a:xfrm>
                        <a:prstGeom prst="rect">
                          <a:avLst/>
                        </a:prstGeom>
                        <a:solidFill>
                          <a:schemeClr val="bg1"/>
                        </a:solidFill>
                        <a:ln w="38100">
                          <a:noFill/>
                          <a:miter/>
                        </a:ln>
                      </p:spPr>
                    </p:pic>
                  </p:oleObj>
                </mc:Fallback>
              </mc:AlternateContent>
            </a:graphicData>
          </a:graphic>
        </p:graphicFrame>
        <p:sp>
          <p:nvSpPr>
            <p:cNvPr id="15374" name="Text Box 1040"/>
            <p:cNvSpPr txBox="1"/>
            <p:nvPr/>
          </p:nvSpPr>
          <p:spPr>
            <a:xfrm>
              <a:off x="3696" y="3375"/>
              <a:ext cx="1665" cy="327"/>
            </a:xfrm>
            <a:prstGeom prst="rect">
              <a:avLst/>
            </a:prstGeom>
            <a:noFill/>
            <a:ln w="9525">
              <a:noFill/>
            </a:ln>
          </p:spPr>
          <p:txBody>
            <a:bodyPr>
              <a:spAutoFit/>
            </a:bodyPr>
            <a:p>
              <a:pPr algn="l" eaLnBrk="1" hangingPunct="1"/>
              <a:r>
                <a:rPr lang="zh-CN" altLang="en-US" sz="2800" b="1" dirty="0">
                  <a:solidFill>
                    <a:srgbClr val="3333FF"/>
                  </a:solidFill>
                  <a:latin typeface="黑体" panose="02010609060101010101" pitchFamily="49" charset="-122"/>
                  <a:ea typeface="黑体" panose="02010609060101010101" pitchFamily="49" charset="-122"/>
                </a:rPr>
                <a:t>时不适用。 </a:t>
              </a:r>
              <a:endParaRPr lang="zh-CN" altLang="en-US" sz="2800" b="1" dirty="0">
                <a:solidFill>
                  <a:srgbClr val="3333FF"/>
                </a:solidFill>
                <a:latin typeface="黑体" panose="02010609060101010101" pitchFamily="49" charset="-122"/>
                <a:ea typeface="黑体" panose="02010609060101010101" pitchFamily="49" charset="-122"/>
              </a:endParaRPr>
            </a:p>
          </p:txBody>
        </p:sp>
      </p:grpSp>
      <p:pic>
        <p:nvPicPr>
          <p:cNvPr id="2255892" name="Picture 1044" descr="kugel_blau"/>
          <p:cNvPicPr>
            <a:picLocks noChangeAspect="1"/>
          </p:cNvPicPr>
          <p:nvPr/>
        </p:nvPicPr>
        <p:blipFill>
          <a:blip r:embed="rId3"/>
          <a:stretch>
            <a:fillRect/>
          </a:stretch>
        </p:blipFill>
        <p:spPr>
          <a:xfrm>
            <a:off x="792163" y="1557338"/>
            <a:ext cx="457200" cy="315912"/>
          </a:xfrm>
          <a:prstGeom prst="rect">
            <a:avLst/>
          </a:prstGeom>
          <a:noFill/>
          <a:ln w="9525">
            <a:noFill/>
          </a:ln>
        </p:spPr>
      </p:pic>
      <p:pic>
        <p:nvPicPr>
          <p:cNvPr id="2255893" name="Picture 1045" descr="kugel_blau"/>
          <p:cNvPicPr>
            <a:picLocks noChangeAspect="1"/>
          </p:cNvPicPr>
          <p:nvPr/>
        </p:nvPicPr>
        <p:blipFill>
          <a:blip r:embed="rId3"/>
          <a:stretch>
            <a:fillRect/>
          </a:stretch>
        </p:blipFill>
        <p:spPr>
          <a:xfrm>
            <a:off x="801688" y="2681288"/>
            <a:ext cx="457200" cy="315912"/>
          </a:xfrm>
          <a:prstGeom prst="rect">
            <a:avLst/>
          </a:prstGeom>
          <a:noFill/>
          <a:ln w="9525">
            <a:noFill/>
          </a:ln>
        </p:spPr>
      </p:pic>
      <p:sp>
        <p:nvSpPr>
          <p:cNvPr id="2255894" name="Text Box 104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5896" name="Text Box 1048"/>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5898" name="Rectangle 1050"/>
          <p:cNvSpPr/>
          <p:nvPr/>
        </p:nvSpPr>
        <p:spPr>
          <a:xfrm>
            <a:off x="838200" y="5157788"/>
            <a:ext cx="7478713" cy="792162"/>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0766" name="Text Box 14"/>
          <p:cNvSpPr txBox="1"/>
          <p:nvPr/>
        </p:nvSpPr>
        <p:spPr>
          <a:xfrm>
            <a:off x="434975" y="773113"/>
            <a:ext cx="608171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2.3.4 </a:t>
            </a:r>
            <a:r>
              <a:rPr lang="zh-CN" altLang="en-US" sz="3200" b="1" dirty="0">
                <a:solidFill>
                  <a:srgbClr val="333399"/>
                </a:solidFill>
                <a:latin typeface="楷体_GB2312" pitchFamily="49" charset="-122"/>
              </a:rPr>
              <a:t>采样定理一不适用的情况 </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5892"/>
                                        </p:tgtEl>
                                        <p:attrNameLst>
                                          <p:attrName>style.visibility</p:attrName>
                                        </p:attrNameLst>
                                      </p:cBhvr>
                                      <p:to>
                                        <p:strVal val="visible"/>
                                      </p:to>
                                    </p:set>
                                    <p:animEffect transition="in" filter="dissolve">
                                      <p:cBhvr>
                                        <p:cTn id="7" dur="500"/>
                                        <p:tgtEl>
                                          <p:spTgt spid="22558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55882"/>
                                        </p:tgtEl>
                                        <p:attrNameLst>
                                          <p:attrName>style.visibility</p:attrName>
                                        </p:attrNameLst>
                                      </p:cBhvr>
                                      <p:to>
                                        <p:strVal val="visible"/>
                                      </p:to>
                                    </p:set>
                                    <p:animEffect transition="in" filter="dissolve">
                                      <p:cBhvr>
                                        <p:cTn id="10" dur="500"/>
                                        <p:tgtEl>
                                          <p:spTgt spid="225588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55893"/>
                                        </p:tgtEl>
                                        <p:attrNameLst>
                                          <p:attrName>style.visibility</p:attrName>
                                        </p:attrNameLst>
                                      </p:cBhvr>
                                      <p:to>
                                        <p:strVal val="visible"/>
                                      </p:to>
                                    </p:set>
                                    <p:animEffect transition="in" filter="dissolve">
                                      <p:cBhvr>
                                        <p:cTn id="15" dur="500"/>
                                        <p:tgtEl>
                                          <p:spTgt spid="2255893"/>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55883"/>
                                        </p:tgtEl>
                                        <p:attrNameLst>
                                          <p:attrName>style.visibility</p:attrName>
                                        </p:attrNameLst>
                                      </p:cBhvr>
                                      <p:to>
                                        <p:strVal val="visible"/>
                                      </p:to>
                                    </p:set>
                                    <p:animEffect transition="in" filter="dissolve">
                                      <p:cBhvr>
                                        <p:cTn id="18" dur="500"/>
                                        <p:tgtEl>
                                          <p:spTgt spid="225588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255884"/>
                                        </p:tgtEl>
                                        <p:attrNameLst>
                                          <p:attrName>style.visibility</p:attrName>
                                        </p:attrNameLst>
                                      </p:cBhvr>
                                      <p:to>
                                        <p:strVal val="visible"/>
                                      </p:to>
                                    </p:set>
                                    <p:animEffect transition="in" filter="dissolve">
                                      <p:cBhvr>
                                        <p:cTn id="23" dur="500"/>
                                        <p:tgtEl>
                                          <p:spTgt spid="2255884"/>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255898"/>
                                        </p:tgtEl>
                                        <p:attrNameLst>
                                          <p:attrName>style.visibility</p:attrName>
                                        </p:attrNameLst>
                                      </p:cBhvr>
                                      <p:to>
                                        <p:strVal val="visible"/>
                                      </p:to>
                                    </p:set>
                                    <p:animEffect transition="in" filter="dissolve">
                                      <p:cBhvr>
                                        <p:cTn id="28" dur="500"/>
                                        <p:tgtEl>
                                          <p:spTgt spid="2255898"/>
                                        </p:tgtEl>
                                      </p:cBhvr>
                                    </p:animEffect>
                                  </p:childTnLst>
                                </p:cTn>
                              </p:par>
                              <p:par>
                                <p:cTn id="29" presetID="9" presetClass="entr" presetSubtype="0" fill="hold" nodeType="withEffect">
                                  <p:stCondLst>
                                    <p:cond delay="0"/>
                                  </p:stCondLst>
                                  <p:childTnLst>
                                    <p:set>
                                      <p:cBhvr>
                                        <p:cTn id="30" dur="1" fill="hold">
                                          <p:stCondLst>
                                            <p:cond delay="0"/>
                                          </p:stCondLst>
                                        </p:cTn>
                                        <p:tgtEl>
                                          <p:spTgt spid="2255897"/>
                                        </p:tgtEl>
                                        <p:attrNameLst>
                                          <p:attrName>style.visibility</p:attrName>
                                        </p:attrNameLst>
                                      </p:cBhvr>
                                      <p:to>
                                        <p:strVal val="visible"/>
                                      </p:to>
                                    </p:set>
                                    <p:animEffect transition="in" filter="dissolve">
                                      <p:cBhvr>
                                        <p:cTn id="31" dur="500"/>
                                        <p:tgtEl>
                                          <p:spTgt spid="22558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882" grpId="0"/>
      <p:bldP spid="2255883" grpId="0"/>
      <p:bldP spid="2255884" grpId="0" bldLvl="0" animBg="1"/>
      <p:bldP spid="2255898" grpId="0" bldLvl="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894" name="Text Box 104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5896" name="Text Box 1048"/>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5898" name="Rectangle 1050"/>
          <p:cNvSpPr/>
          <p:nvPr/>
        </p:nvSpPr>
        <p:spPr>
          <a:xfrm>
            <a:off x="769938" y="1628775"/>
            <a:ext cx="7478712" cy="650875"/>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0766" name="Text Box 14"/>
          <p:cNvSpPr txBox="1"/>
          <p:nvPr/>
        </p:nvSpPr>
        <p:spPr>
          <a:xfrm>
            <a:off x="434975" y="773113"/>
            <a:ext cx="608171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2.3.4 </a:t>
            </a:r>
            <a:r>
              <a:rPr lang="zh-CN" altLang="en-US" sz="3200" b="1" dirty="0">
                <a:solidFill>
                  <a:srgbClr val="333399"/>
                </a:solidFill>
                <a:latin typeface="楷体_GB2312" pitchFamily="49" charset="-122"/>
              </a:rPr>
              <a:t>采样定理一不适用的情况 </a:t>
            </a:r>
            <a:endParaRPr lang="zh-CN" altLang="en-US" sz="3200" b="1" dirty="0">
              <a:solidFill>
                <a:srgbClr val="333399"/>
              </a:solidFill>
              <a:latin typeface="楷体_GB2312" pitchFamily="49" charset="-122"/>
            </a:endParaRPr>
          </a:p>
        </p:txBody>
      </p:sp>
      <p:sp>
        <p:nvSpPr>
          <p:cNvPr id="2255883" name="Text Box 1035"/>
          <p:cNvSpPr txBox="1"/>
          <p:nvPr/>
        </p:nvSpPr>
        <p:spPr>
          <a:xfrm>
            <a:off x="801688" y="1685925"/>
            <a:ext cx="7473950" cy="519113"/>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rgbClr val="FF0000"/>
                </a:solidFill>
                <a:latin typeface="Times New Roman" panose="02020603050405020304" pitchFamily="18" charset="0"/>
                <a:ea typeface="黑体" panose="02010609060101010101" pitchFamily="49" charset="-122"/>
              </a:rPr>
              <a:t>工程上，一般采用</a:t>
            </a:r>
            <a:r>
              <a:rPr lang="en-US" altLang="zh-CN" sz="2800" b="1">
                <a:solidFill>
                  <a:srgbClr val="FF0000"/>
                </a:solidFill>
                <a:latin typeface="Times New Roman" panose="02020603050405020304" pitchFamily="18" charset="0"/>
                <a:ea typeface="黑体" panose="02010609060101010101" pitchFamily="49" charset="-122"/>
              </a:rPr>
              <a:t>3-4</a:t>
            </a:r>
            <a:r>
              <a:rPr lang="zh-CN" altLang="en-US" sz="2800" b="1" dirty="0">
                <a:solidFill>
                  <a:srgbClr val="FF0000"/>
                </a:solidFill>
                <a:latin typeface="Times New Roman" panose="02020603050405020304" pitchFamily="18" charset="0"/>
                <a:ea typeface="黑体" panose="02010609060101010101" pitchFamily="49" charset="-122"/>
              </a:rPr>
              <a:t>倍</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i="1" baseline="-25000" err="1">
                <a:solidFill>
                  <a:srgbClr val="FF0000"/>
                </a:solidFill>
                <a:latin typeface="Times New Roman" panose="02020603050405020304" pitchFamily="18" charset="0"/>
                <a:ea typeface="黑体" panose="02010609060101010101" pitchFamily="49" charset="-122"/>
              </a:rPr>
              <a:t>c</a:t>
            </a:r>
            <a:r>
              <a:rPr lang="zh-CN" altLang="en-US" sz="2800" b="1" dirty="0">
                <a:solidFill>
                  <a:srgbClr val="FF0000"/>
                </a:solidFill>
                <a:latin typeface="Times New Roman" panose="02020603050405020304" pitchFamily="18" charset="0"/>
                <a:ea typeface="黑体" panose="02010609060101010101" pitchFamily="49" charset="-122"/>
              </a:rPr>
              <a:t>频率采样。 </a:t>
            </a:r>
            <a:endParaRPr lang="zh-CN" altLang="en-US" sz="2800" b="1" dirty="0">
              <a:solidFill>
                <a:srgbClr val="FF0000"/>
              </a:solidFill>
              <a:latin typeface="Times New Roman" panose="02020603050405020304" pitchFamily="18" charset="0"/>
              <a:ea typeface="黑体" panose="02010609060101010101" pitchFamily="49" charset="-122"/>
            </a:endParaRPr>
          </a:p>
        </p:txBody>
      </p:sp>
      <p:sp>
        <p:nvSpPr>
          <p:cNvPr id="2333701" name="Text Box 5"/>
          <p:cNvSpPr txBox="1"/>
          <p:nvPr/>
        </p:nvSpPr>
        <p:spPr>
          <a:xfrm>
            <a:off x="1150938" y="2420938"/>
            <a:ext cx="7632700" cy="519112"/>
          </a:xfrm>
          <a:prstGeom prst="rect">
            <a:avLst/>
          </a:prstGeom>
          <a:noFill/>
          <a:ln w="9525">
            <a:noFill/>
          </a:ln>
        </p:spPr>
        <p:txBody>
          <a:bodyPr>
            <a:spAutoFit/>
          </a:bodyPr>
          <a:p>
            <a:pPr algn="l" eaLnBrk="1" hangingPunct="1">
              <a:buNone/>
            </a:pPr>
            <a:r>
              <a:rPr lang="zh-CN" altLang="en-US" sz="2800" b="1" dirty="0">
                <a:solidFill>
                  <a:schemeClr val="tx1"/>
                </a:solidFill>
                <a:latin typeface="Times New Roman" panose="02020603050405020304" pitchFamily="18" charset="0"/>
                <a:ea typeface="黑体" panose="02010609060101010101" pitchFamily="49" charset="-122"/>
              </a:rPr>
              <a:t>数字电话： </a:t>
            </a:r>
            <a:r>
              <a:rPr lang="en-US" altLang="zh-CN" sz="2800" b="1" i="1" err="1">
                <a:solidFill>
                  <a:schemeClr val="tx1"/>
                </a:solidFill>
                <a:latin typeface="Times New Roman" panose="02020603050405020304" pitchFamily="18" charset="0"/>
                <a:ea typeface="黑体" panose="02010609060101010101" pitchFamily="49" charset="-122"/>
              </a:rPr>
              <a:t>f</a:t>
            </a:r>
            <a:r>
              <a:rPr lang="en-US" altLang="zh-CN" sz="2800" b="1" i="1" baseline="-25000" err="1">
                <a:solidFill>
                  <a:schemeClr val="tx1"/>
                </a:solidFill>
                <a:latin typeface="Times New Roman" panose="02020603050405020304" pitchFamily="18" charset="0"/>
                <a:ea typeface="黑体" panose="02010609060101010101" pitchFamily="49" charset="-122"/>
              </a:rPr>
              <a:t>c</a:t>
            </a:r>
            <a:r>
              <a:rPr lang="en-US" altLang="zh-CN" sz="2800" b="1" i="1">
                <a:solidFill>
                  <a:schemeClr val="tx1"/>
                </a:solidFill>
                <a:latin typeface="Times New Roman" panose="02020603050405020304" pitchFamily="18" charset="0"/>
                <a:ea typeface="黑体" panose="02010609060101010101" pitchFamily="49" charset="-122"/>
              </a:rPr>
              <a:t>=3.4kHz</a:t>
            </a:r>
            <a:r>
              <a:rPr lang="zh-CN" altLang="en-US" sz="2800" b="1" i="1" dirty="0">
                <a:solidFill>
                  <a:schemeClr val="tx1"/>
                </a:solidFill>
                <a:latin typeface="Times New Roman" panose="02020603050405020304" pitchFamily="18" charset="0"/>
                <a:ea typeface="黑体" panose="02010609060101010101" pitchFamily="49" charset="-122"/>
              </a:rPr>
              <a:t>， </a:t>
            </a:r>
            <a:r>
              <a:rPr lang="en-US" altLang="zh-CN" sz="2800" b="1" i="1" err="1">
                <a:solidFill>
                  <a:schemeClr val="tx1"/>
                </a:solidFill>
                <a:latin typeface="Times New Roman" panose="02020603050405020304" pitchFamily="18" charset="0"/>
                <a:ea typeface="黑体" panose="02010609060101010101" pitchFamily="49" charset="-122"/>
              </a:rPr>
              <a:t>f</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i="1">
                <a:solidFill>
                  <a:schemeClr val="tx1"/>
                </a:solidFill>
                <a:latin typeface="Times New Roman" panose="02020603050405020304" pitchFamily="18" charset="0"/>
                <a:ea typeface="黑体" panose="02010609060101010101" pitchFamily="49" charset="-122"/>
              </a:rPr>
              <a:t>=8kHz</a:t>
            </a:r>
            <a:endParaRPr lang="en-US" altLang="zh-CN" sz="2800" b="1" i="1" dirty="0">
              <a:solidFill>
                <a:schemeClr val="tx1"/>
              </a:solidFill>
              <a:latin typeface="Times New Roman" panose="02020603050405020304" pitchFamily="18" charset="0"/>
              <a:ea typeface="黑体" panose="02010609060101010101" pitchFamily="49" charset="-122"/>
            </a:endParaRPr>
          </a:p>
        </p:txBody>
      </p:sp>
      <p:sp>
        <p:nvSpPr>
          <p:cNvPr id="2333703" name="Text Box 7"/>
          <p:cNvSpPr txBox="1"/>
          <p:nvPr/>
        </p:nvSpPr>
        <p:spPr>
          <a:xfrm>
            <a:off x="611188" y="3068638"/>
            <a:ext cx="8010525" cy="1562100"/>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400" b="1" dirty="0">
                <a:solidFill>
                  <a:srgbClr val="3333FF"/>
                </a:solidFill>
                <a:latin typeface="黑体" panose="02010609060101010101" pitchFamily="49" charset="-122"/>
                <a:ea typeface="黑体" panose="02010609060101010101" pitchFamily="49" charset="-122"/>
              </a:rPr>
              <a:t>模拟频带压缩：声音的带宽为</a:t>
            </a:r>
            <a:r>
              <a:rPr lang="en-US" altLang="zh-CN" sz="2400" b="1">
                <a:solidFill>
                  <a:srgbClr val="3333FF"/>
                </a:solidFill>
                <a:latin typeface="黑体" panose="02010609060101010101" pitchFamily="49" charset="-122"/>
                <a:ea typeface="黑体" panose="02010609060101010101" pitchFamily="49" charset="-122"/>
              </a:rPr>
              <a:t>20Hz—20kHz</a:t>
            </a:r>
            <a:r>
              <a:rPr lang="zh-CN" altLang="en-US" sz="2400" b="1" dirty="0">
                <a:solidFill>
                  <a:srgbClr val="3333FF"/>
                </a:solidFill>
                <a:latin typeface="黑体" panose="02010609060101010101" pitchFamily="49" charset="-122"/>
                <a:ea typeface="黑体" panose="02010609060101010101" pitchFamily="49" charset="-122"/>
              </a:rPr>
              <a:t>，</a:t>
            </a:r>
            <a:r>
              <a:rPr lang="en-US" altLang="zh-CN" sz="2400" b="1">
                <a:solidFill>
                  <a:srgbClr val="3333FF"/>
                </a:solidFill>
                <a:latin typeface="黑体" panose="02010609060101010101" pitchFamily="49" charset="-122"/>
                <a:ea typeface="黑体" panose="02010609060101010101" pitchFamily="49" charset="-122"/>
              </a:rPr>
              <a:t>80%</a:t>
            </a:r>
            <a:r>
              <a:rPr lang="zh-CN" altLang="en-US" sz="2400" b="1" dirty="0">
                <a:solidFill>
                  <a:srgbClr val="3333FF"/>
                </a:solidFill>
                <a:latin typeface="黑体" panose="02010609060101010101" pitchFamily="49" charset="-122"/>
                <a:ea typeface="黑体" panose="02010609060101010101" pitchFamily="49" charset="-122"/>
              </a:rPr>
              <a:t>的声音能量集中在</a:t>
            </a:r>
            <a:r>
              <a:rPr lang="en-US" altLang="zh-CN" sz="2400" b="1">
                <a:solidFill>
                  <a:srgbClr val="3333FF"/>
                </a:solidFill>
                <a:latin typeface="黑体" panose="02010609060101010101" pitchFamily="49" charset="-122"/>
                <a:ea typeface="黑体" panose="02010609060101010101" pitchFamily="49" charset="-122"/>
              </a:rPr>
              <a:t>1kHz</a:t>
            </a:r>
            <a:r>
              <a:rPr lang="zh-CN" altLang="en-US" sz="2400" b="1" dirty="0">
                <a:solidFill>
                  <a:srgbClr val="3333FF"/>
                </a:solidFill>
                <a:latin typeface="黑体" panose="02010609060101010101" pitchFamily="49" charset="-122"/>
                <a:ea typeface="黑体" panose="02010609060101010101" pitchFamily="49" charset="-122"/>
              </a:rPr>
              <a:t>左右，</a:t>
            </a:r>
            <a:r>
              <a:rPr lang="en-US" altLang="zh-CN" sz="2400" b="1">
                <a:solidFill>
                  <a:srgbClr val="3333FF"/>
                </a:solidFill>
                <a:latin typeface="黑体" panose="02010609060101010101" pitchFamily="49" charset="-122"/>
                <a:ea typeface="黑体" panose="02010609060101010101" pitchFamily="49" charset="-122"/>
              </a:rPr>
              <a:t>3.4kHz</a:t>
            </a:r>
            <a:r>
              <a:rPr lang="zh-CN" altLang="en-US" sz="2400" b="1" dirty="0">
                <a:solidFill>
                  <a:srgbClr val="3333FF"/>
                </a:solidFill>
                <a:latin typeface="黑体" panose="02010609060101010101" pitchFamily="49" charset="-122"/>
                <a:ea typeface="黑体" panose="02010609060101010101" pitchFamily="49" charset="-122"/>
              </a:rPr>
              <a:t>以内包含了绝大部分声音。因此，在电话上加一个低通滤波器，带宽为</a:t>
            </a:r>
            <a:r>
              <a:rPr lang="en-US" altLang="zh-CN" sz="2400" b="1">
                <a:solidFill>
                  <a:srgbClr val="3333FF"/>
                </a:solidFill>
                <a:latin typeface="黑体" panose="02010609060101010101" pitchFamily="49" charset="-122"/>
                <a:ea typeface="黑体" panose="02010609060101010101" pitchFamily="49" charset="-122"/>
              </a:rPr>
              <a:t>3.4kHz</a:t>
            </a:r>
            <a:r>
              <a:rPr lang="zh-CN" altLang="en-US" sz="2400" b="1" dirty="0">
                <a:solidFill>
                  <a:srgbClr val="3333FF"/>
                </a:solidFill>
                <a:latin typeface="黑体" panose="02010609060101010101" pitchFamily="49" charset="-122"/>
                <a:ea typeface="黑体" panose="02010609060101010101" pitchFamily="49" charset="-122"/>
              </a:rPr>
              <a:t>，然后用</a:t>
            </a:r>
            <a:r>
              <a:rPr lang="en-US" altLang="zh-CN" sz="2400" b="1">
                <a:solidFill>
                  <a:srgbClr val="3333FF"/>
                </a:solidFill>
                <a:latin typeface="黑体" panose="02010609060101010101" pitchFamily="49" charset="-122"/>
                <a:ea typeface="黑体" panose="02010609060101010101" pitchFamily="49" charset="-122"/>
              </a:rPr>
              <a:t>8kHz</a:t>
            </a:r>
            <a:r>
              <a:rPr lang="zh-CN" altLang="en-US" sz="2400" b="1" dirty="0">
                <a:solidFill>
                  <a:srgbClr val="3333FF"/>
                </a:solidFill>
                <a:latin typeface="黑体" panose="02010609060101010101" pitchFamily="49" charset="-122"/>
                <a:ea typeface="黑体" panose="02010609060101010101" pitchFamily="49" charset="-122"/>
              </a:rPr>
              <a:t>去采；</a:t>
            </a:r>
            <a:endParaRPr lang="zh-CN" altLang="en-US" sz="2400" b="1" dirty="0">
              <a:solidFill>
                <a:srgbClr val="3333FF"/>
              </a:solidFill>
              <a:latin typeface="黑体" panose="02010609060101010101" pitchFamily="49" charset="-122"/>
              <a:ea typeface="黑体" panose="02010609060101010101" pitchFamily="49" charset="-122"/>
            </a:endParaRPr>
          </a:p>
        </p:txBody>
      </p:sp>
      <p:pic>
        <p:nvPicPr>
          <p:cNvPr id="2333705" name="Picture 9" descr="kugel_blau"/>
          <p:cNvPicPr>
            <a:picLocks noChangeAspect="1"/>
          </p:cNvPicPr>
          <p:nvPr/>
        </p:nvPicPr>
        <p:blipFill>
          <a:blip r:embed="rId1"/>
          <a:stretch>
            <a:fillRect/>
          </a:stretch>
        </p:blipFill>
        <p:spPr>
          <a:xfrm>
            <a:off x="719138" y="2528888"/>
            <a:ext cx="457200" cy="315912"/>
          </a:xfrm>
          <a:prstGeom prst="rect">
            <a:avLst/>
          </a:prstGeom>
          <a:noFill/>
          <a:ln w="9525">
            <a:noFill/>
          </a:ln>
        </p:spPr>
      </p:pic>
      <p:sp>
        <p:nvSpPr>
          <p:cNvPr id="2" name="Text Box 7"/>
          <p:cNvSpPr txBox="1"/>
          <p:nvPr/>
        </p:nvSpPr>
        <p:spPr>
          <a:xfrm>
            <a:off x="611188" y="4895850"/>
            <a:ext cx="8010525" cy="1196975"/>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buNone/>
            </a:pPr>
            <a:r>
              <a:rPr lang="zh-CN" altLang="en-US" sz="2400" b="1" dirty="0">
                <a:solidFill>
                  <a:schemeClr val="tx1"/>
                </a:solidFill>
                <a:latin typeface="Times New Roman" panose="02020603050405020304" pitchFamily="18" charset="0"/>
                <a:ea typeface="黑体" panose="02010609060101010101" pitchFamily="49" charset="-122"/>
              </a:rPr>
              <a:t>被采样模拟信号带限，</a:t>
            </a:r>
            <a:r>
              <a:rPr lang="en-US" altLang="zh-CN" sz="2400" b="1" i="1" err="1">
                <a:solidFill>
                  <a:schemeClr val="tx1"/>
                </a:solidFill>
                <a:latin typeface="Times New Roman" panose="02020603050405020304" pitchFamily="18" charset="0"/>
                <a:ea typeface="黑体" panose="02010609060101010101" pitchFamily="49" charset="-122"/>
              </a:rPr>
              <a:t>f</a:t>
            </a:r>
            <a:r>
              <a:rPr lang="en-US" altLang="zh-CN" sz="2400" b="1" i="1" baseline="-25000" err="1">
                <a:solidFill>
                  <a:schemeClr val="tx1"/>
                </a:solidFill>
                <a:latin typeface="Times New Roman" panose="02020603050405020304" pitchFamily="18" charset="0"/>
                <a:ea typeface="黑体" panose="02010609060101010101" pitchFamily="49" charset="-122"/>
              </a:rPr>
              <a:t>s</a:t>
            </a:r>
            <a:r>
              <a:rPr lang="en-US" altLang="zh-CN" sz="2400" b="1" i="1">
                <a:solidFill>
                  <a:schemeClr val="tx1"/>
                </a:solidFill>
                <a:latin typeface="Times New Roman" panose="02020603050405020304" pitchFamily="18" charset="0"/>
                <a:ea typeface="黑体" panose="02010609060101010101" pitchFamily="49" charset="-122"/>
              </a:rPr>
              <a:t>&gt;2</a:t>
            </a:r>
            <a:r>
              <a:rPr lang="zh-CN" altLang="en-US" sz="2400" b="1" i="1" dirty="0">
                <a:solidFill>
                  <a:schemeClr val="tx1"/>
                </a:solidFill>
                <a:latin typeface="Times New Roman" panose="02020603050405020304" pitchFamily="18" charset="0"/>
                <a:ea typeface="黑体" panose="02010609060101010101" pitchFamily="49" charset="-122"/>
              </a:rPr>
              <a:t> </a:t>
            </a:r>
            <a:r>
              <a:rPr lang="en-US" altLang="zh-CN" sz="2400" b="1" i="1" err="1">
                <a:solidFill>
                  <a:schemeClr val="tx1"/>
                </a:solidFill>
                <a:latin typeface="Times New Roman" panose="02020603050405020304" pitchFamily="18" charset="0"/>
                <a:ea typeface="黑体" panose="02010609060101010101" pitchFamily="49" charset="-122"/>
              </a:rPr>
              <a:t>f</a:t>
            </a:r>
            <a:r>
              <a:rPr lang="en-US" altLang="zh-CN" sz="2400" b="1" i="1" baseline="-25000" err="1">
                <a:solidFill>
                  <a:schemeClr val="tx1"/>
                </a:solidFill>
                <a:latin typeface="Times New Roman" panose="02020603050405020304" pitchFamily="18" charset="0"/>
                <a:ea typeface="黑体" panose="02010609060101010101" pitchFamily="49" charset="-122"/>
              </a:rPr>
              <a:t>c</a:t>
            </a:r>
            <a:r>
              <a:rPr lang="zh-CN" altLang="en-US" sz="2400" b="1" dirty="0">
                <a:solidFill>
                  <a:schemeClr val="tx1"/>
                </a:solidFill>
                <a:latin typeface="Times New Roman" panose="02020603050405020304" pitchFamily="18" charset="0"/>
                <a:ea typeface="黑体" panose="02010609060101010101" pitchFamily="49" charset="-122"/>
              </a:rPr>
              <a:t>，满足采样定理两个条件，故接电话时从数字信号变回模拟信号，可恢复原来的声音，且声音压缩质量好（可懂、自然）。</a:t>
            </a:r>
            <a:endParaRPr lang="zh-CN" altLang="en-US" sz="2400" b="1"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5898"/>
                                        </p:tgtEl>
                                        <p:attrNameLst>
                                          <p:attrName>style.visibility</p:attrName>
                                        </p:attrNameLst>
                                      </p:cBhvr>
                                      <p:to>
                                        <p:strVal val="visible"/>
                                      </p:to>
                                    </p:set>
                                    <p:animEffect transition="in" filter="dissolve">
                                      <p:cBhvr>
                                        <p:cTn id="7" dur="500"/>
                                        <p:tgtEl>
                                          <p:spTgt spid="225589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55883"/>
                                        </p:tgtEl>
                                        <p:attrNameLst>
                                          <p:attrName>style.visibility</p:attrName>
                                        </p:attrNameLst>
                                      </p:cBhvr>
                                      <p:to>
                                        <p:strVal val="visible"/>
                                      </p:to>
                                    </p:set>
                                    <p:animEffect transition="in" filter="dissolve">
                                      <p:cBhvr>
                                        <p:cTn id="10" dur="500"/>
                                        <p:tgtEl>
                                          <p:spTgt spid="225588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2333705"/>
                                        </p:tgtEl>
                                        <p:attrNameLst>
                                          <p:attrName>style.visibility</p:attrName>
                                        </p:attrNameLst>
                                      </p:cBhvr>
                                      <p:to>
                                        <p:strVal val="visible"/>
                                      </p:to>
                                    </p:set>
                                    <p:anim calcmode="lin" valueType="num">
                                      <p:cBhvr additive="base">
                                        <p:cTn id="15" dur="500" fill="hold"/>
                                        <p:tgtEl>
                                          <p:spTgt spid="2333705"/>
                                        </p:tgtEl>
                                        <p:attrNameLst>
                                          <p:attrName>ppt_x</p:attrName>
                                        </p:attrNameLst>
                                      </p:cBhvr>
                                      <p:tavLst>
                                        <p:tav tm="0">
                                          <p:val>
                                            <p:strVal val="0-#ppt_w/2"/>
                                          </p:val>
                                        </p:tav>
                                        <p:tav tm="100000">
                                          <p:val>
                                            <p:strVal val="#ppt_x"/>
                                          </p:val>
                                        </p:tav>
                                      </p:tavLst>
                                    </p:anim>
                                    <p:anim calcmode="lin" valueType="num">
                                      <p:cBhvr additive="base">
                                        <p:cTn id="16" dur="500" fill="hold"/>
                                        <p:tgtEl>
                                          <p:spTgt spid="2333705"/>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2333701">
                                            <p:txEl>
                                              <p:charRg st="0" end="25"/>
                                            </p:txEl>
                                          </p:spTgt>
                                        </p:tgtEl>
                                        <p:attrNameLst>
                                          <p:attrName>style.visibility</p:attrName>
                                        </p:attrNameLst>
                                      </p:cBhvr>
                                      <p:to>
                                        <p:strVal val="visible"/>
                                      </p:to>
                                    </p:set>
                                    <p:anim calcmode="lin" valueType="num">
                                      <p:cBhvr additive="base">
                                        <p:cTn id="19" dur="500" fill="hold"/>
                                        <p:tgtEl>
                                          <p:spTgt spid="2333701">
                                            <p:txEl>
                                              <p:charRg st="0" end="25"/>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333701">
                                            <p:txEl>
                                              <p:charRg st="0" end="25"/>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33703"/>
                                        </p:tgtEl>
                                        <p:attrNameLst>
                                          <p:attrName>style.visibility</p:attrName>
                                        </p:attrNameLst>
                                      </p:cBhvr>
                                      <p:to>
                                        <p:strVal val="visible"/>
                                      </p:to>
                                    </p:set>
                                    <p:animEffect transition="in" filter="dissolve">
                                      <p:cBhvr>
                                        <p:cTn id="25" dur="500"/>
                                        <p:tgtEl>
                                          <p:spTgt spid="233370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dissolve">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898" grpId="0" bldLvl="0" animBg="1"/>
      <p:bldP spid="2255883" grpId="0"/>
      <p:bldP spid="2333701" grpId="0" build="p"/>
      <p:bldP spid="2333703" grpId="0" bldLvl="0" animBg="1"/>
      <p:bldP spid="2" grpId="0" bldLvl="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894" name="Text Box 104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5896" name="Text Box 1048"/>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5898" name="Rectangle 1050"/>
          <p:cNvSpPr/>
          <p:nvPr/>
        </p:nvSpPr>
        <p:spPr>
          <a:xfrm>
            <a:off x="769938" y="1628775"/>
            <a:ext cx="7478712" cy="650875"/>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0766" name="Text Box 14"/>
          <p:cNvSpPr txBox="1"/>
          <p:nvPr/>
        </p:nvSpPr>
        <p:spPr>
          <a:xfrm>
            <a:off x="434975" y="773113"/>
            <a:ext cx="608171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2.3.4 </a:t>
            </a:r>
            <a:r>
              <a:rPr lang="zh-CN" altLang="en-US" sz="3200" b="1" dirty="0">
                <a:solidFill>
                  <a:srgbClr val="333399"/>
                </a:solidFill>
                <a:latin typeface="楷体_GB2312" pitchFamily="49" charset="-122"/>
              </a:rPr>
              <a:t>采样定理一不适用的情况 </a:t>
            </a:r>
            <a:endParaRPr lang="zh-CN" altLang="en-US" sz="3200" b="1" dirty="0">
              <a:solidFill>
                <a:srgbClr val="333399"/>
              </a:solidFill>
              <a:latin typeface="楷体_GB2312" pitchFamily="49" charset="-122"/>
            </a:endParaRPr>
          </a:p>
        </p:txBody>
      </p:sp>
      <p:sp>
        <p:nvSpPr>
          <p:cNvPr id="2255883" name="Text Box 1035"/>
          <p:cNvSpPr txBox="1"/>
          <p:nvPr/>
        </p:nvSpPr>
        <p:spPr>
          <a:xfrm>
            <a:off x="801688" y="1685925"/>
            <a:ext cx="7473950" cy="519113"/>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rgbClr val="FF0000"/>
                </a:solidFill>
                <a:latin typeface="Times New Roman" panose="02020603050405020304" pitchFamily="18" charset="0"/>
                <a:ea typeface="黑体" panose="02010609060101010101" pitchFamily="49" charset="-122"/>
              </a:rPr>
              <a:t>工程上，一般采用</a:t>
            </a:r>
            <a:r>
              <a:rPr lang="en-US" altLang="zh-CN" sz="2800" b="1">
                <a:solidFill>
                  <a:srgbClr val="FF0000"/>
                </a:solidFill>
                <a:latin typeface="Times New Roman" panose="02020603050405020304" pitchFamily="18" charset="0"/>
                <a:ea typeface="黑体" panose="02010609060101010101" pitchFamily="49" charset="-122"/>
              </a:rPr>
              <a:t>3-4</a:t>
            </a:r>
            <a:r>
              <a:rPr lang="zh-CN" altLang="en-US" sz="2800" b="1" dirty="0">
                <a:solidFill>
                  <a:srgbClr val="FF0000"/>
                </a:solidFill>
                <a:latin typeface="Times New Roman" panose="02020603050405020304" pitchFamily="18" charset="0"/>
                <a:ea typeface="黑体" panose="02010609060101010101" pitchFamily="49" charset="-122"/>
              </a:rPr>
              <a:t>倍</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i="1" baseline="-25000" err="1">
                <a:solidFill>
                  <a:srgbClr val="FF0000"/>
                </a:solidFill>
                <a:latin typeface="Times New Roman" panose="02020603050405020304" pitchFamily="18" charset="0"/>
                <a:ea typeface="黑体" panose="02010609060101010101" pitchFamily="49" charset="-122"/>
              </a:rPr>
              <a:t>c</a:t>
            </a:r>
            <a:r>
              <a:rPr lang="zh-CN" altLang="en-US" sz="2800" b="1" dirty="0">
                <a:solidFill>
                  <a:srgbClr val="FF0000"/>
                </a:solidFill>
                <a:latin typeface="Times New Roman" panose="02020603050405020304" pitchFamily="18" charset="0"/>
                <a:ea typeface="黑体" panose="02010609060101010101" pitchFamily="49" charset="-122"/>
              </a:rPr>
              <a:t>频率采样。 </a:t>
            </a:r>
            <a:endParaRPr lang="zh-CN" altLang="en-US" sz="2800" b="1" dirty="0">
              <a:solidFill>
                <a:srgbClr val="FF0000"/>
              </a:solidFill>
              <a:latin typeface="Times New Roman" panose="02020603050405020304" pitchFamily="18" charset="0"/>
              <a:ea typeface="黑体" panose="02010609060101010101" pitchFamily="49" charset="-122"/>
            </a:endParaRPr>
          </a:p>
        </p:txBody>
      </p:sp>
      <p:sp>
        <p:nvSpPr>
          <p:cNvPr id="2333701" name="Text Box 5"/>
          <p:cNvSpPr txBox="1"/>
          <p:nvPr/>
        </p:nvSpPr>
        <p:spPr>
          <a:xfrm>
            <a:off x="1150938" y="2420938"/>
            <a:ext cx="7632700" cy="519112"/>
          </a:xfrm>
          <a:prstGeom prst="rect">
            <a:avLst/>
          </a:prstGeom>
          <a:noFill/>
          <a:ln w="9525">
            <a:noFill/>
          </a:ln>
        </p:spPr>
        <p:txBody>
          <a:bodyPr>
            <a:spAutoFit/>
          </a:bodyPr>
          <a:p>
            <a:pPr algn="l" eaLnBrk="1" hangingPunct="1">
              <a:buNone/>
            </a:pPr>
            <a:r>
              <a:rPr lang="en-US" altLang="zh-CN" sz="2800" b="1">
                <a:solidFill>
                  <a:schemeClr val="tx1"/>
                </a:solidFill>
                <a:latin typeface="Times New Roman" panose="02020603050405020304" pitchFamily="18" charset="0"/>
                <a:ea typeface="黑体" panose="02010609060101010101" pitchFamily="49" charset="-122"/>
              </a:rPr>
              <a:t>CD</a:t>
            </a:r>
            <a:r>
              <a:rPr lang="zh-CN" altLang="en-US" sz="2800" b="1" dirty="0">
                <a:solidFill>
                  <a:schemeClr val="tx1"/>
                </a:solidFill>
                <a:latin typeface="Times New Roman" panose="02020603050405020304" pitchFamily="18" charset="0"/>
                <a:ea typeface="黑体" panose="02010609060101010101" pitchFamily="49" charset="-122"/>
              </a:rPr>
              <a:t>音乐光盘： </a:t>
            </a:r>
            <a:r>
              <a:rPr lang="en-US" altLang="zh-CN" sz="2800" b="1" i="1" err="1">
                <a:solidFill>
                  <a:schemeClr val="tx1"/>
                </a:solidFill>
                <a:latin typeface="Times New Roman" panose="02020603050405020304" pitchFamily="18" charset="0"/>
                <a:ea typeface="黑体" panose="02010609060101010101" pitchFamily="49" charset="-122"/>
              </a:rPr>
              <a:t>f</a:t>
            </a:r>
            <a:r>
              <a:rPr lang="en-US" altLang="zh-CN" sz="2800" b="1" i="1" baseline="-25000" err="1">
                <a:solidFill>
                  <a:schemeClr val="tx1"/>
                </a:solidFill>
                <a:latin typeface="Times New Roman" panose="02020603050405020304" pitchFamily="18" charset="0"/>
                <a:ea typeface="黑体" panose="02010609060101010101" pitchFamily="49" charset="-122"/>
              </a:rPr>
              <a:t>c</a:t>
            </a:r>
            <a:r>
              <a:rPr lang="en-US" altLang="zh-CN" sz="2800" b="1" i="1">
                <a:solidFill>
                  <a:schemeClr val="tx1"/>
                </a:solidFill>
                <a:latin typeface="Times New Roman" panose="02020603050405020304" pitchFamily="18" charset="0"/>
                <a:ea typeface="黑体" panose="02010609060101010101" pitchFamily="49" charset="-122"/>
              </a:rPr>
              <a:t>=20kHz</a:t>
            </a:r>
            <a:r>
              <a:rPr lang="zh-CN" altLang="en-US" sz="2800" b="1" i="1" dirty="0">
                <a:solidFill>
                  <a:schemeClr val="tx1"/>
                </a:solidFill>
                <a:latin typeface="Times New Roman" panose="02020603050405020304" pitchFamily="18" charset="0"/>
                <a:ea typeface="黑体" panose="02010609060101010101" pitchFamily="49" charset="-122"/>
              </a:rPr>
              <a:t>， </a:t>
            </a:r>
            <a:r>
              <a:rPr lang="en-US" altLang="zh-CN" sz="2800" b="1" i="1" err="1">
                <a:solidFill>
                  <a:schemeClr val="tx1"/>
                </a:solidFill>
                <a:latin typeface="Times New Roman" panose="02020603050405020304" pitchFamily="18" charset="0"/>
                <a:ea typeface="黑体" panose="02010609060101010101" pitchFamily="49" charset="-122"/>
              </a:rPr>
              <a:t>f</a:t>
            </a:r>
            <a:r>
              <a:rPr lang="en-US" altLang="zh-CN" sz="2800" b="1" i="1" baseline="-25000" err="1">
                <a:solidFill>
                  <a:schemeClr val="tx1"/>
                </a:solidFill>
                <a:latin typeface="Times New Roman" panose="02020603050405020304" pitchFamily="18" charset="0"/>
                <a:ea typeface="黑体" panose="02010609060101010101" pitchFamily="49" charset="-122"/>
              </a:rPr>
              <a:t>s</a:t>
            </a:r>
            <a:r>
              <a:rPr lang="en-US" altLang="zh-CN" sz="2800" b="1" i="1">
                <a:solidFill>
                  <a:schemeClr val="tx1"/>
                </a:solidFill>
                <a:latin typeface="Times New Roman" panose="02020603050405020304" pitchFamily="18" charset="0"/>
                <a:ea typeface="黑体" panose="02010609060101010101" pitchFamily="49" charset="-122"/>
              </a:rPr>
              <a:t>=44.1kHz</a:t>
            </a:r>
            <a:endParaRPr lang="en-US" altLang="zh-CN" sz="2800" b="1" i="1" dirty="0">
              <a:solidFill>
                <a:schemeClr val="tx1"/>
              </a:solidFill>
              <a:latin typeface="Times New Roman" panose="02020603050405020304" pitchFamily="18" charset="0"/>
              <a:ea typeface="黑体" panose="02010609060101010101" pitchFamily="49" charset="-122"/>
            </a:endParaRPr>
          </a:p>
        </p:txBody>
      </p:sp>
      <p:sp>
        <p:nvSpPr>
          <p:cNvPr id="2333703" name="Text Box 7"/>
          <p:cNvSpPr txBox="1"/>
          <p:nvPr/>
        </p:nvSpPr>
        <p:spPr>
          <a:xfrm>
            <a:off x="611188" y="3068638"/>
            <a:ext cx="8010525" cy="1196975"/>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400" b="1" dirty="0">
                <a:solidFill>
                  <a:srgbClr val="3333FF"/>
                </a:solidFill>
                <a:latin typeface="黑体" panose="02010609060101010101" pitchFamily="49" charset="-122"/>
                <a:ea typeface="黑体" panose="02010609060101010101" pitchFamily="49" charset="-122"/>
              </a:rPr>
              <a:t>保真度：声音的带宽为</a:t>
            </a:r>
            <a:r>
              <a:rPr lang="en-US" altLang="zh-CN" sz="2400" b="1">
                <a:solidFill>
                  <a:srgbClr val="3333FF"/>
                </a:solidFill>
                <a:latin typeface="黑体" panose="02010609060101010101" pitchFamily="49" charset="-122"/>
                <a:ea typeface="黑体" panose="02010609060101010101" pitchFamily="49" charset="-122"/>
              </a:rPr>
              <a:t>20Hz—20kHz</a:t>
            </a:r>
            <a:r>
              <a:rPr lang="zh-CN" altLang="en-US" sz="2400" b="1" dirty="0">
                <a:solidFill>
                  <a:srgbClr val="3333FF"/>
                </a:solidFill>
                <a:latin typeface="黑体" panose="02010609060101010101" pitchFamily="49" charset="-122"/>
                <a:ea typeface="黑体" panose="02010609060101010101" pitchFamily="49" charset="-122"/>
              </a:rPr>
              <a:t>，为了音乐的高保真度，尤其是高音不失真，不能用电话上的</a:t>
            </a:r>
            <a:r>
              <a:rPr lang="en-US" altLang="zh-CN" sz="2400" b="1">
                <a:solidFill>
                  <a:srgbClr val="3333FF"/>
                </a:solidFill>
                <a:latin typeface="黑体" panose="02010609060101010101" pitchFamily="49" charset="-122"/>
                <a:ea typeface="黑体" panose="02010609060101010101" pitchFamily="49" charset="-122"/>
              </a:rPr>
              <a:t>3.4kHz</a:t>
            </a:r>
            <a:r>
              <a:rPr lang="zh-CN" altLang="en-US" sz="2400" b="1" dirty="0">
                <a:solidFill>
                  <a:srgbClr val="3333FF"/>
                </a:solidFill>
                <a:latin typeface="黑体" panose="02010609060101010101" pitchFamily="49" charset="-122"/>
                <a:ea typeface="黑体" panose="02010609060101010101" pitchFamily="49" charset="-122"/>
              </a:rPr>
              <a:t>的低通滤波器；</a:t>
            </a:r>
            <a:endParaRPr lang="zh-CN" altLang="en-US" sz="2400" b="1" dirty="0">
              <a:solidFill>
                <a:srgbClr val="3333FF"/>
              </a:solidFill>
              <a:latin typeface="黑体" panose="02010609060101010101" pitchFamily="49" charset="-122"/>
              <a:ea typeface="黑体" panose="02010609060101010101" pitchFamily="49" charset="-122"/>
            </a:endParaRPr>
          </a:p>
        </p:txBody>
      </p:sp>
      <p:pic>
        <p:nvPicPr>
          <p:cNvPr id="2333705" name="Picture 9" descr="kugel_blau"/>
          <p:cNvPicPr>
            <a:picLocks noChangeAspect="1"/>
          </p:cNvPicPr>
          <p:nvPr/>
        </p:nvPicPr>
        <p:blipFill>
          <a:blip r:embed="rId1"/>
          <a:stretch>
            <a:fillRect/>
          </a:stretch>
        </p:blipFill>
        <p:spPr>
          <a:xfrm>
            <a:off x="719138" y="2528888"/>
            <a:ext cx="457200" cy="315912"/>
          </a:xfrm>
          <a:prstGeom prst="rect">
            <a:avLst/>
          </a:prstGeom>
          <a:noFill/>
          <a:ln w="9525">
            <a:noFill/>
          </a:ln>
        </p:spPr>
      </p:pic>
      <p:sp>
        <p:nvSpPr>
          <p:cNvPr id="2" name="Text Box 7"/>
          <p:cNvSpPr txBox="1"/>
          <p:nvPr/>
        </p:nvSpPr>
        <p:spPr>
          <a:xfrm>
            <a:off x="611188" y="4895850"/>
            <a:ext cx="8010525" cy="831850"/>
          </a:xfrm>
          <a:prstGeom prst="rect">
            <a:avLst/>
          </a:prstGeom>
          <a:solidFill>
            <a:srgbClr val="CCFFFF"/>
          </a:solidFill>
          <a:ln w="9525" cap="flat" cmpd="sng">
            <a:solidFill>
              <a:srgbClr val="CCFFFF"/>
            </a:solidFill>
            <a:prstDash val="solid"/>
            <a:miter/>
            <a:headEnd type="none" w="med" len="med"/>
            <a:tailEnd type="none" w="med" len="med"/>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但如果电话也用</a:t>
            </a:r>
            <a:r>
              <a:rPr lang="en-US" altLang="zh-CN" sz="2400" b="1">
                <a:solidFill>
                  <a:schemeClr val="tx1"/>
                </a:solidFill>
                <a:latin typeface="Times New Roman" panose="02020603050405020304" pitchFamily="18" charset="0"/>
                <a:ea typeface="黑体" panose="02010609060101010101" pitchFamily="49" charset="-122"/>
              </a:rPr>
              <a:t>44.1kHz</a:t>
            </a:r>
            <a:r>
              <a:rPr lang="zh-CN" altLang="en-US" sz="2400" b="1" dirty="0">
                <a:solidFill>
                  <a:schemeClr val="tx1"/>
                </a:solidFill>
                <a:latin typeface="Times New Roman" panose="02020603050405020304" pitchFamily="18" charset="0"/>
                <a:ea typeface="黑体" panose="02010609060101010101" pitchFamily="49" charset="-122"/>
              </a:rPr>
              <a:t>去采，同一个信道容纳的电话量就要少很多，因为单个电话信号的码率上升太多。</a:t>
            </a:r>
            <a:endParaRPr lang="zh-CN" altLang="en-US" sz="2400" b="1"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5898"/>
                                        </p:tgtEl>
                                        <p:attrNameLst>
                                          <p:attrName>style.visibility</p:attrName>
                                        </p:attrNameLst>
                                      </p:cBhvr>
                                      <p:to>
                                        <p:strVal val="visible"/>
                                      </p:to>
                                    </p:set>
                                    <p:animEffect transition="in" filter="dissolve">
                                      <p:cBhvr>
                                        <p:cTn id="7" dur="500"/>
                                        <p:tgtEl>
                                          <p:spTgt spid="225589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55883"/>
                                        </p:tgtEl>
                                        <p:attrNameLst>
                                          <p:attrName>style.visibility</p:attrName>
                                        </p:attrNameLst>
                                      </p:cBhvr>
                                      <p:to>
                                        <p:strVal val="visible"/>
                                      </p:to>
                                    </p:set>
                                    <p:animEffect transition="in" filter="dissolve">
                                      <p:cBhvr>
                                        <p:cTn id="10" dur="500"/>
                                        <p:tgtEl>
                                          <p:spTgt spid="225588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2333705"/>
                                        </p:tgtEl>
                                        <p:attrNameLst>
                                          <p:attrName>style.visibility</p:attrName>
                                        </p:attrNameLst>
                                      </p:cBhvr>
                                      <p:to>
                                        <p:strVal val="visible"/>
                                      </p:to>
                                    </p:set>
                                    <p:anim calcmode="lin" valueType="num">
                                      <p:cBhvr additive="base">
                                        <p:cTn id="15" dur="500" fill="hold"/>
                                        <p:tgtEl>
                                          <p:spTgt spid="2333705"/>
                                        </p:tgtEl>
                                        <p:attrNameLst>
                                          <p:attrName>ppt_x</p:attrName>
                                        </p:attrNameLst>
                                      </p:cBhvr>
                                      <p:tavLst>
                                        <p:tav tm="0">
                                          <p:val>
                                            <p:strVal val="0-#ppt_w/2"/>
                                          </p:val>
                                        </p:tav>
                                        <p:tav tm="100000">
                                          <p:val>
                                            <p:strVal val="#ppt_x"/>
                                          </p:val>
                                        </p:tav>
                                      </p:tavLst>
                                    </p:anim>
                                    <p:anim calcmode="lin" valueType="num">
                                      <p:cBhvr additive="base">
                                        <p:cTn id="16" dur="500" fill="hold"/>
                                        <p:tgtEl>
                                          <p:spTgt spid="2333705"/>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2333701">
                                            <p:txEl>
                                              <p:charRg st="0" end="29"/>
                                            </p:txEl>
                                          </p:spTgt>
                                        </p:tgtEl>
                                        <p:attrNameLst>
                                          <p:attrName>style.visibility</p:attrName>
                                        </p:attrNameLst>
                                      </p:cBhvr>
                                      <p:to>
                                        <p:strVal val="visible"/>
                                      </p:to>
                                    </p:set>
                                    <p:anim calcmode="lin" valueType="num">
                                      <p:cBhvr additive="base">
                                        <p:cTn id="19" dur="500" fill="hold"/>
                                        <p:tgtEl>
                                          <p:spTgt spid="2333701">
                                            <p:txEl>
                                              <p:charRg st="0" end="29"/>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333701">
                                            <p:txEl>
                                              <p:charRg st="0" end="29"/>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33703"/>
                                        </p:tgtEl>
                                        <p:attrNameLst>
                                          <p:attrName>style.visibility</p:attrName>
                                        </p:attrNameLst>
                                      </p:cBhvr>
                                      <p:to>
                                        <p:strVal val="visible"/>
                                      </p:to>
                                    </p:set>
                                    <p:animEffect transition="in" filter="dissolve">
                                      <p:cBhvr>
                                        <p:cTn id="25" dur="500"/>
                                        <p:tgtEl>
                                          <p:spTgt spid="233370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dissolve">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898" grpId="0" bldLvl="0" animBg="1"/>
      <p:bldP spid="2255883" grpId="0"/>
      <p:bldP spid="2333701" grpId="0" build="p"/>
      <p:bldP spid="2333703" grpId="0" bldLvl="0" animBg="1"/>
      <p:bldP spid="2" grpId="0" bldLvl="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89090" name="Object 3092"/>
          <p:cNvGraphicFramePr>
            <a:graphicFrameLocks noChangeAspect="1"/>
          </p:cNvGraphicFramePr>
          <p:nvPr/>
        </p:nvGraphicFramePr>
        <p:xfrm>
          <a:off x="2779713" y="3054350"/>
          <a:ext cx="3760787" cy="1054100"/>
        </p:xfrm>
        <a:graphic>
          <a:graphicData uri="http://schemas.openxmlformats.org/presentationml/2006/ole">
            <mc:AlternateContent xmlns:mc="http://schemas.openxmlformats.org/markup-compatibility/2006">
              <mc:Choice xmlns:v="urn:schemas-microsoft-com:vml" Requires="v">
                <p:oleObj spid="_x0000_s3096" name="" r:id="rId1" imgW="1485265" imgH="444500" progId="Equation.3">
                  <p:embed/>
                </p:oleObj>
              </mc:Choice>
              <mc:Fallback>
                <p:oleObj name="" r:id="rId1" imgW="1485265" imgH="444500" progId="Equation.3">
                  <p:embed/>
                  <p:pic>
                    <p:nvPicPr>
                      <p:cNvPr id="0" name="图片 3095"/>
                      <p:cNvPicPr/>
                      <p:nvPr/>
                    </p:nvPicPr>
                    <p:blipFill>
                      <a:blip r:embed="rId2"/>
                      <a:stretch>
                        <a:fillRect/>
                      </a:stretch>
                    </p:blipFill>
                    <p:spPr>
                      <a:xfrm>
                        <a:off x="2779713" y="3054350"/>
                        <a:ext cx="3760787" cy="1054100"/>
                      </a:xfrm>
                      <a:prstGeom prst="rect">
                        <a:avLst/>
                      </a:prstGeom>
                      <a:noFill/>
                      <a:ln w="38100">
                        <a:noFill/>
                        <a:miter/>
                      </a:ln>
                    </p:spPr>
                  </p:pic>
                </p:oleObj>
              </mc:Fallback>
            </mc:AlternateContent>
          </a:graphicData>
        </a:graphic>
      </p:graphicFrame>
      <p:sp>
        <p:nvSpPr>
          <p:cNvPr id="2251785" name="Text Box 3081"/>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1787" name="Text Box 3083"/>
          <p:cNvSpPr txBox="1"/>
          <p:nvPr/>
        </p:nvSpPr>
        <p:spPr>
          <a:xfrm>
            <a:off x="358775" y="944563"/>
            <a:ext cx="7561263"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2.3.5 </a:t>
            </a:r>
            <a:r>
              <a:rPr lang="zh-CN" altLang="en-US" sz="3200" b="1" dirty="0">
                <a:solidFill>
                  <a:srgbClr val="333399"/>
                </a:solidFill>
                <a:latin typeface="楷体_GB2312" pitchFamily="49" charset="-122"/>
              </a:rPr>
              <a:t>采样定理二（带通信号采样定理）</a:t>
            </a:r>
            <a:endParaRPr lang="zh-CN" altLang="en-US" sz="3200" b="1" dirty="0">
              <a:solidFill>
                <a:srgbClr val="333399"/>
              </a:solidFill>
              <a:latin typeface="楷体_GB2312" pitchFamily="49" charset="-122"/>
            </a:endParaRPr>
          </a:p>
        </p:txBody>
      </p:sp>
      <p:sp>
        <p:nvSpPr>
          <p:cNvPr id="2251788" name="Text Box 3084"/>
          <p:cNvSpPr txBox="1"/>
          <p:nvPr/>
        </p:nvSpPr>
        <p:spPr>
          <a:xfrm>
            <a:off x="358775" y="1741488"/>
            <a:ext cx="8497888" cy="1373187"/>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设连续信号</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t</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的频谱</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不存在截止频率</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i="1" baseline="-25000" err="1">
                <a:solidFill>
                  <a:schemeClr val="tx1"/>
                </a:solidFill>
                <a:latin typeface="Times New Roman" panose="02020603050405020304" pitchFamily="18" charset="0"/>
                <a:ea typeface="宋体" panose="02010600030101010101" pitchFamily="2" charset="-122"/>
              </a:rPr>
              <a:t>C</a:t>
            </a:r>
            <a:r>
              <a:rPr lang="zh-CN" altLang="en-US" sz="2800" b="1" dirty="0">
                <a:solidFill>
                  <a:schemeClr val="tx1"/>
                </a:solidFill>
                <a:latin typeface="Times New Roman" panose="02020603050405020304" pitchFamily="18" charset="0"/>
                <a:ea typeface="宋体" panose="02010600030101010101" pitchFamily="2" charset="-122"/>
              </a:rPr>
              <a:t> </a:t>
            </a:r>
            <a:r>
              <a:rPr lang="zh-CN" altLang="en-US" sz="2800" b="1" dirty="0">
                <a:solidFill>
                  <a:schemeClr val="tx1"/>
                </a:solidFill>
                <a:latin typeface="Times New Roman" panose="02020603050405020304" pitchFamily="18" charset="0"/>
                <a:ea typeface="黑体" panose="02010609060101010101" pitchFamily="49" charset="-122"/>
              </a:rPr>
              <a:t>，或</a:t>
            </a:r>
            <a:endParaRPr lang="zh-CN" altLang="en-US" sz="2800" b="1" dirty="0">
              <a:solidFill>
                <a:schemeClr val="tx1"/>
              </a:solidFill>
              <a:latin typeface="Times New Roman" panose="02020603050405020304" pitchFamily="18" charset="0"/>
              <a:ea typeface="黑体" panose="02010609060101010101" pitchFamily="49" charset="-122"/>
            </a:endParaRPr>
          </a:p>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                     不满足时，则采样信号</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nT</a:t>
            </a:r>
            <a:r>
              <a:rPr lang="en-US" altLang="zh-CN" sz="2800" b="1" baseline="-25000" err="1">
                <a:solidFill>
                  <a:schemeClr val="tx1"/>
                </a:solidFill>
                <a:latin typeface="Times New Roman" panose="02020603050405020304" pitchFamily="18" charset="0"/>
                <a:ea typeface="宋体" panose="02010600030101010101" pitchFamily="2" charset="-122"/>
              </a:rPr>
              <a:t>S</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的频谱</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与连续信号</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t</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的频谱</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之间的关系可表达为：</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1793" name="Text Box 308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1798"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aphicFrame>
        <p:nvGraphicFramePr>
          <p:cNvPr id="89103" name="Object 3087"/>
          <p:cNvGraphicFramePr>
            <a:graphicFrameLocks noChangeAspect="1"/>
          </p:cNvGraphicFramePr>
          <p:nvPr/>
        </p:nvGraphicFramePr>
        <p:xfrm>
          <a:off x="422275" y="2168525"/>
          <a:ext cx="1917700" cy="508000"/>
        </p:xfrm>
        <a:graphic>
          <a:graphicData uri="http://schemas.openxmlformats.org/presentationml/2006/ole">
            <mc:AlternateContent xmlns:mc="http://schemas.openxmlformats.org/markup-compatibility/2006">
              <mc:Choice xmlns:v="urn:schemas-microsoft-com:vml" Requires="v">
                <p:oleObj spid="_x0000_s3095" name="" r:id="rId3" imgW="698500" imgH="228600" progId="Equation.3">
                  <p:embed/>
                </p:oleObj>
              </mc:Choice>
              <mc:Fallback>
                <p:oleObj name="" r:id="rId3" imgW="698500" imgH="228600" progId="Equation.3">
                  <p:embed/>
                  <p:pic>
                    <p:nvPicPr>
                      <p:cNvPr id="0" name="图片 3094"/>
                      <p:cNvPicPr/>
                      <p:nvPr/>
                    </p:nvPicPr>
                    <p:blipFill>
                      <a:blip r:embed="rId4"/>
                      <a:stretch>
                        <a:fillRect/>
                      </a:stretch>
                    </p:blipFill>
                    <p:spPr>
                      <a:xfrm>
                        <a:off x="422275" y="2168525"/>
                        <a:ext cx="1917700" cy="508000"/>
                      </a:xfrm>
                      <a:prstGeom prst="rect">
                        <a:avLst/>
                      </a:prstGeom>
                      <a:noFill/>
                      <a:ln w="38100">
                        <a:noFill/>
                        <a:miter/>
                      </a:ln>
                    </p:spPr>
                  </p:pic>
                </p:oleObj>
              </mc:Fallback>
            </mc:AlternateContent>
          </a:graphicData>
        </a:graphic>
      </p:graphicFrame>
      <p:sp>
        <p:nvSpPr>
          <p:cNvPr id="2253835" name="Text Box 1035"/>
          <p:cNvSpPr txBox="1"/>
          <p:nvPr/>
        </p:nvSpPr>
        <p:spPr>
          <a:xfrm>
            <a:off x="323850" y="4113213"/>
            <a:ext cx="3255963" cy="579437"/>
          </a:xfrm>
          <a:prstGeom prst="rect">
            <a:avLst/>
          </a:prstGeom>
          <a:solidFill>
            <a:srgbClr val="99CCFF"/>
          </a:solidFill>
          <a:ln w="9525">
            <a:noFill/>
          </a:ln>
        </p:spPr>
        <p:txBody>
          <a:bodyPr>
            <a:spAutoFit/>
          </a:bodyPr>
          <a:p>
            <a:pPr algn="l" eaLnBrk="1" hangingPunct="1"/>
            <a:r>
              <a:rPr lang="zh-CN" altLang="en-US" sz="3200" b="1" dirty="0">
                <a:solidFill>
                  <a:srgbClr val="333399"/>
                </a:solidFill>
                <a:latin typeface="楷体_GB2312" pitchFamily="49" charset="-122"/>
              </a:rPr>
              <a:t>采样定理二说明：</a:t>
            </a:r>
            <a:endParaRPr lang="zh-CN" altLang="en-US" sz="3200" b="1" dirty="0">
              <a:solidFill>
                <a:srgbClr val="333399"/>
              </a:solidFill>
              <a:latin typeface="楷体_GB2312" pitchFamily="49" charset="-122"/>
            </a:endParaRPr>
          </a:p>
        </p:txBody>
      </p:sp>
      <p:sp>
        <p:nvSpPr>
          <p:cNvPr id="2253836" name="Text Box 1036"/>
          <p:cNvSpPr txBox="1"/>
          <p:nvPr/>
        </p:nvSpPr>
        <p:spPr>
          <a:xfrm>
            <a:off x="322263" y="4860925"/>
            <a:ext cx="8497887" cy="11969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zh-CN" altLang="en-US" sz="2400" b="1" dirty="0">
                <a:solidFill>
                  <a:schemeClr val="accent2"/>
                </a:solidFill>
                <a:latin typeface="Times New Roman" panose="02020603050405020304" pitchFamily="18" charset="0"/>
                <a:ea typeface="黑体" panose="02010609060101010101" pitchFamily="49" charset="-122"/>
              </a:rPr>
              <a:t>当采样定理一的两个条件不能满足时：</a:t>
            </a:r>
            <a:endParaRPr lang="zh-CN" altLang="en-US" sz="2400" b="1" dirty="0">
              <a:solidFill>
                <a:schemeClr val="accent2"/>
              </a:solidFill>
              <a:latin typeface="Times New Roman" panose="02020603050405020304" pitchFamily="18" charset="0"/>
              <a:ea typeface="黑体" panose="02010609060101010101" pitchFamily="49" charset="-122"/>
            </a:endParaRPr>
          </a:p>
          <a:p>
            <a:pPr algn="l" eaLnBrk="1" hangingPunct="1"/>
            <a:r>
              <a:rPr lang="zh-CN" altLang="en-US" sz="2400" b="1" dirty="0">
                <a:solidFill>
                  <a:schemeClr val="accent2"/>
                </a:solidFill>
                <a:latin typeface="Times New Roman" panose="02020603050405020304" pitchFamily="18" charset="0"/>
                <a:ea typeface="黑体" panose="02010609060101010101" pitchFamily="49" charset="-122"/>
              </a:rPr>
              <a:t>采样信号的频谱</a:t>
            </a:r>
            <a:r>
              <a:rPr lang="en-US" altLang="zh-CN" sz="2400" b="1" i="1" err="1">
                <a:solidFill>
                  <a:schemeClr val="accent2"/>
                </a:solidFill>
                <a:latin typeface="Times New Roman" panose="02020603050405020304" pitchFamily="18" charset="0"/>
                <a:ea typeface="宋体" panose="02010600030101010101" pitchFamily="2" charset="-122"/>
              </a:rPr>
              <a:t>X</a:t>
            </a:r>
            <a:r>
              <a:rPr lang="en-US" altLang="zh-CN" sz="2400" b="1" i="1" baseline="-25000" err="1">
                <a:solidFill>
                  <a:schemeClr val="accent2"/>
                </a:solidFill>
                <a:latin typeface="Times New Roman" panose="02020603050405020304" pitchFamily="18" charset="0"/>
                <a:ea typeface="宋体" panose="02010600030101010101" pitchFamily="2" charset="-122"/>
              </a:rPr>
              <a:t>S</a:t>
            </a:r>
            <a:r>
              <a:rPr lang="en-US" altLang="zh-CN" sz="2400" b="1" err="1">
                <a:solidFill>
                  <a:schemeClr val="accent2"/>
                </a:solidFill>
                <a:latin typeface="Times New Roman" panose="02020603050405020304" pitchFamily="18" charset="0"/>
                <a:ea typeface="宋体" panose="02010600030101010101" pitchFamily="2" charset="-122"/>
              </a:rPr>
              <a:t>(</a:t>
            </a:r>
            <a:r>
              <a:rPr lang="en-US" altLang="zh-CN" sz="2400" b="1" i="1" err="1">
                <a:solidFill>
                  <a:schemeClr val="accent2"/>
                </a:solidFill>
                <a:latin typeface="Times New Roman" panose="02020603050405020304" pitchFamily="18" charset="0"/>
                <a:ea typeface="宋体" panose="02010600030101010101" pitchFamily="2" charset="-122"/>
              </a:rPr>
              <a:t>f</a:t>
            </a:r>
            <a:r>
              <a:rPr lang="en-US" altLang="zh-CN" sz="2400" b="1">
                <a:solidFill>
                  <a:schemeClr val="accent2"/>
                </a:solidFill>
                <a:latin typeface="Times New Roman" panose="02020603050405020304" pitchFamily="18" charset="0"/>
                <a:ea typeface="宋体" panose="02010600030101010101" pitchFamily="2" charset="-122"/>
              </a:rPr>
              <a:t>)</a:t>
            </a:r>
            <a:r>
              <a:rPr lang="zh-CN" altLang="en-US" sz="2400" b="1" dirty="0">
                <a:solidFill>
                  <a:schemeClr val="accent2"/>
                </a:solidFill>
                <a:latin typeface="Times New Roman" panose="02020603050405020304" pitchFamily="18" charset="0"/>
                <a:ea typeface="黑体" panose="02010609060101010101" pitchFamily="49" charset="-122"/>
              </a:rPr>
              <a:t> 由连续信号的频谱</a:t>
            </a:r>
            <a:r>
              <a:rPr lang="en-US" altLang="zh-CN" sz="2400" b="1" i="1" err="1">
                <a:solidFill>
                  <a:schemeClr val="accent2"/>
                </a:solidFill>
                <a:latin typeface="Times New Roman" panose="02020603050405020304" pitchFamily="18" charset="0"/>
                <a:ea typeface="宋体" panose="02010600030101010101" pitchFamily="2" charset="-122"/>
              </a:rPr>
              <a:t>X</a:t>
            </a:r>
            <a:r>
              <a:rPr lang="en-US" altLang="zh-CN" sz="2400" b="1" err="1">
                <a:solidFill>
                  <a:schemeClr val="accent2"/>
                </a:solidFill>
                <a:latin typeface="Times New Roman" panose="02020603050405020304" pitchFamily="18" charset="0"/>
                <a:ea typeface="宋体" panose="02010600030101010101" pitchFamily="2" charset="-122"/>
              </a:rPr>
              <a:t>(</a:t>
            </a:r>
            <a:r>
              <a:rPr lang="en-US" altLang="zh-CN" sz="2400" b="1" i="1" err="1">
                <a:solidFill>
                  <a:schemeClr val="accent2"/>
                </a:solidFill>
                <a:latin typeface="Times New Roman" panose="02020603050405020304" pitchFamily="18" charset="0"/>
                <a:ea typeface="宋体" panose="02010600030101010101" pitchFamily="2" charset="-122"/>
              </a:rPr>
              <a:t>f</a:t>
            </a:r>
            <a:r>
              <a:rPr lang="en-US" altLang="zh-CN" sz="2400" b="1">
                <a:solidFill>
                  <a:schemeClr val="accent2"/>
                </a:solidFill>
                <a:latin typeface="Times New Roman" panose="02020603050405020304" pitchFamily="18" charset="0"/>
                <a:ea typeface="宋体" panose="02010600030101010101" pitchFamily="2" charset="-122"/>
              </a:rPr>
              <a:t>)</a:t>
            </a:r>
            <a:r>
              <a:rPr lang="zh-CN" altLang="en-US" sz="2400" b="1" dirty="0">
                <a:solidFill>
                  <a:schemeClr val="accent2"/>
                </a:solidFill>
                <a:latin typeface="Times New Roman" panose="02020603050405020304" pitchFamily="18" charset="0"/>
                <a:ea typeface="宋体" panose="02010600030101010101" pitchFamily="2" charset="-122"/>
              </a:rPr>
              <a:t> </a:t>
            </a:r>
            <a:r>
              <a:rPr lang="zh-CN" altLang="en-US" sz="2400" b="1" dirty="0">
                <a:solidFill>
                  <a:schemeClr val="accent2"/>
                </a:solidFill>
                <a:latin typeface="Times New Roman" panose="02020603050405020304" pitchFamily="18" charset="0"/>
                <a:ea typeface="黑体" panose="02010609060101010101" pitchFamily="49" charset="-122"/>
              </a:rPr>
              <a:t>周期延拓后累加确定。</a:t>
            </a:r>
            <a:endParaRPr lang="zh-CN" altLang="en-US" sz="2400" b="1"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1787"/>
                                        </p:tgtEl>
                                        <p:attrNameLst>
                                          <p:attrName>style.visibility</p:attrName>
                                        </p:attrNameLst>
                                      </p:cBhvr>
                                      <p:to>
                                        <p:strVal val="visible"/>
                                      </p:to>
                                    </p:set>
                                    <p:animEffect transition="in" filter="dissolve">
                                      <p:cBhvr>
                                        <p:cTn id="7" dur="500"/>
                                        <p:tgtEl>
                                          <p:spTgt spid="22517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1798"/>
                                        </p:tgtEl>
                                        <p:attrNameLst>
                                          <p:attrName>style.visibility</p:attrName>
                                        </p:attrNameLst>
                                      </p:cBhvr>
                                      <p:to>
                                        <p:strVal val="visible"/>
                                      </p:to>
                                    </p:set>
                                    <p:animEffect transition="in" filter="dissolve">
                                      <p:cBhvr>
                                        <p:cTn id="12" dur="500"/>
                                        <p:tgtEl>
                                          <p:spTgt spid="225179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51788">
                                            <p:txEl>
                                              <p:charRg st="0" end="29"/>
                                            </p:txEl>
                                          </p:spTgt>
                                        </p:tgtEl>
                                        <p:attrNameLst>
                                          <p:attrName>style.visibility</p:attrName>
                                        </p:attrNameLst>
                                      </p:cBhvr>
                                      <p:to>
                                        <p:strVal val="visible"/>
                                      </p:to>
                                    </p:set>
                                    <p:animEffect transition="in" filter="dissolve">
                                      <p:cBhvr>
                                        <p:cTn id="15" dur="500"/>
                                        <p:tgtEl>
                                          <p:spTgt spid="2251788">
                                            <p:txEl>
                                              <p:charRg st="0" end="29"/>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51788">
                                            <p:txEl>
                                              <p:charRg st="29" end="102"/>
                                            </p:txEl>
                                          </p:spTgt>
                                        </p:tgtEl>
                                        <p:attrNameLst>
                                          <p:attrName>style.visibility</p:attrName>
                                        </p:attrNameLst>
                                      </p:cBhvr>
                                      <p:to>
                                        <p:strVal val="visible"/>
                                      </p:to>
                                    </p:set>
                                    <p:animEffect transition="in" filter="dissolve">
                                      <p:cBhvr>
                                        <p:cTn id="18" dur="500"/>
                                        <p:tgtEl>
                                          <p:spTgt spid="2251788">
                                            <p:txEl>
                                              <p:charRg st="29" end="102"/>
                                            </p:txEl>
                                          </p:spTgt>
                                        </p:tgtEl>
                                      </p:cBhvr>
                                    </p:animEffect>
                                  </p:childTnLst>
                                </p:cTn>
                              </p:par>
                            </p:childTnLst>
                          </p:cTn>
                        </p:par>
                        <p:par>
                          <p:cTn id="19" fill="hold">
                            <p:stCondLst>
                              <p:cond delay="500"/>
                            </p:stCondLst>
                            <p:childTnLst>
                              <p:par>
                                <p:cTn id="20" presetID="22" presetClass="entr" presetSubtype="8" fill="hold" nodeType="afterEffect">
                                  <p:stCondLst>
                                    <p:cond delay="0"/>
                                  </p:stCondLst>
                                  <p:childTnLst>
                                    <p:set>
                                      <p:cBhvr>
                                        <p:cTn id="21" dur="1" fill="hold">
                                          <p:stCondLst>
                                            <p:cond delay="0"/>
                                          </p:stCondLst>
                                        </p:cTn>
                                        <p:tgtEl>
                                          <p:spTgt spid="89090"/>
                                        </p:tgtEl>
                                        <p:attrNameLst>
                                          <p:attrName>style.visibility</p:attrName>
                                        </p:attrNameLst>
                                      </p:cBhvr>
                                      <p:to>
                                        <p:strVal val="visible"/>
                                      </p:to>
                                    </p:set>
                                    <p:animEffect transition="in" filter="wipe(left)">
                                      <p:cBhvr>
                                        <p:cTn id="22" dur="500"/>
                                        <p:tgtEl>
                                          <p:spTgt spid="89090"/>
                                        </p:tgtEl>
                                      </p:cBhvr>
                                    </p:animEffect>
                                  </p:childTnLst>
                                </p:cTn>
                              </p:par>
                              <p:par>
                                <p:cTn id="23" presetID="9" presetClass="entr" presetSubtype="0" fill="hold" nodeType="withEffect">
                                  <p:stCondLst>
                                    <p:cond delay="0"/>
                                  </p:stCondLst>
                                  <p:childTnLst>
                                    <p:set>
                                      <p:cBhvr>
                                        <p:cTn id="24" dur="1" fill="hold">
                                          <p:stCondLst>
                                            <p:cond delay="0"/>
                                          </p:stCondLst>
                                        </p:cTn>
                                        <p:tgtEl>
                                          <p:spTgt spid="89103"/>
                                        </p:tgtEl>
                                        <p:attrNameLst>
                                          <p:attrName>style.visibility</p:attrName>
                                        </p:attrNameLst>
                                      </p:cBhvr>
                                      <p:to>
                                        <p:strVal val="visible"/>
                                      </p:to>
                                    </p:set>
                                    <p:animEffect transition="in" filter="dissolve">
                                      <p:cBhvr>
                                        <p:cTn id="25" dur="500"/>
                                        <p:tgtEl>
                                          <p:spTgt spid="8910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253835"/>
                                        </p:tgtEl>
                                        <p:attrNameLst>
                                          <p:attrName>style.visibility</p:attrName>
                                        </p:attrNameLst>
                                      </p:cBhvr>
                                      <p:to>
                                        <p:strVal val="visible"/>
                                      </p:to>
                                    </p:set>
                                    <p:animEffect transition="in" filter="dissolve">
                                      <p:cBhvr>
                                        <p:cTn id="30" dur="500"/>
                                        <p:tgtEl>
                                          <p:spTgt spid="225383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253836"/>
                                        </p:tgtEl>
                                        <p:attrNameLst>
                                          <p:attrName>style.visibility</p:attrName>
                                        </p:attrNameLst>
                                      </p:cBhvr>
                                      <p:to>
                                        <p:strVal val="visible"/>
                                      </p:to>
                                    </p:set>
                                    <p:animEffect transition="in" filter="dissolve">
                                      <p:cBhvr>
                                        <p:cTn id="35" dur="500"/>
                                        <p:tgtEl>
                                          <p:spTgt spid="22538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1787" grpId="0" bldLvl="0" animBg="1"/>
      <p:bldP spid="2251788" grpId="0" build="p"/>
      <p:bldP spid="2251798" grpId="0" bldLvl="0" animBg="1"/>
      <p:bldP spid="2253835" grpId="0" bldLvl="0" animBg="1"/>
      <p:bldP spid="2253836" grpId="0" bldLvl="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1785" name="Text Box 3081"/>
          <p:cNvSpPr txBox="1">
            <a:spLocks noChangeArrowheads="1"/>
          </p:cNvSpPr>
          <p:nvPr/>
        </p:nvSpPr>
        <p:spPr bwMode="auto">
          <a:xfrm>
            <a:off x="2339975" y="80963"/>
            <a:ext cx="4410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2.3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采样定理</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51787" name="Text Box 3083"/>
          <p:cNvSpPr txBox="1"/>
          <p:nvPr/>
        </p:nvSpPr>
        <p:spPr>
          <a:xfrm>
            <a:off x="358775" y="944563"/>
            <a:ext cx="635952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2.3.6 </a:t>
            </a:r>
            <a:r>
              <a:rPr lang="zh-CN" altLang="en-US" sz="3200" b="1" dirty="0">
                <a:solidFill>
                  <a:srgbClr val="333399"/>
                </a:solidFill>
                <a:latin typeface="楷体_GB2312" pitchFamily="49" charset="-122"/>
              </a:rPr>
              <a:t>采样定理三（重采样定理）</a:t>
            </a:r>
            <a:endParaRPr lang="zh-CN" altLang="en-US" sz="3200" b="1" dirty="0">
              <a:solidFill>
                <a:srgbClr val="333399"/>
              </a:solidFill>
              <a:latin typeface="楷体_GB2312" pitchFamily="49" charset="-122"/>
            </a:endParaRPr>
          </a:p>
        </p:txBody>
      </p:sp>
      <p:sp>
        <p:nvSpPr>
          <p:cNvPr id="2251788" name="Text Box 3084"/>
          <p:cNvSpPr txBox="1"/>
          <p:nvPr/>
        </p:nvSpPr>
        <p:spPr>
          <a:xfrm>
            <a:off x="358775" y="1741488"/>
            <a:ext cx="8497888" cy="1373187"/>
          </a:xfrm>
          <a:prstGeom prst="rect">
            <a:avLst/>
          </a:prstGeom>
          <a:noFill/>
          <a:ln w="9525">
            <a:noFill/>
          </a:ln>
        </p:spPr>
        <p:txBody>
          <a:bodyPr>
            <a:spAutoFit/>
          </a:bodyPr>
          <a:p>
            <a:pPr algn="l" eaLnBrk="1" hangingPunct="1">
              <a:buNone/>
            </a:pPr>
            <a:r>
              <a:rPr lang="zh-CN" altLang="en-US" sz="2800" b="1" dirty="0">
                <a:solidFill>
                  <a:schemeClr val="tx1"/>
                </a:solidFill>
                <a:latin typeface="Times New Roman" panose="02020603050405020304" pitchFamily="18" charset="0"/>
                <a:ea typeface="黑体" panose="02010609060101010101" pitchFamily="49" charset="-122"/>
              </a:rPr>
              <a:t>设原始采样信号</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nT</a:t>
            </a:r>
            <a:r>
              <a:rPr lang="en-US" altLang="zh-CN" sz="2800" b="1" baseline="-25000" err="1">
                <a:solidFill>
                  <a:schemeClr val="tx1"/>
                </a:solidFill>
                <a:latin typeface="Times New Roman" panose="02020603050405020304" pitchFamily="18" charset="0"/>
                <a:ea typeface="宋体" panose="02010600030101010101" pitchFamily="2" charset="-122"/>
              </a:rPr>
              <a:t>S</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的频谱</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err="1">
                <a:solidFill>
                  <a:schemeClr val="tx1"/>
                </a:solidFill>
                <a:latin typeface="Times New Roman" panose="02020603050405020304" pitchFamily="18" charset="0"/>
                <a:ea typeface="宋体" panose="02010600030101010101" pitchFamily="2" charset="-122"/>
              </a:rPr>
              <a:t>(</a:t>
            </a:r>
            <a:r>
              <a:rPr lang="en-US" altLang="zh-CN" sz="2800" b="1" i="1" err="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，重采样后的采样信号</a:t>
            </a:r>
            <a:r>
              <a:rPr lang="en-US" altLang="zh-CN" sz="2800" b="1" i="1">
                <a:solidFill>
                  <a:schemeClr val="tx1"/>
                </a:solidFill>
                <a:latin typeface="Times New Roman" panose="02020603050405020304" pitchFamily="18" charset="0"/>
                <a:ea typeface="宋体" panose="02010600030101010101" pitchFamily="2" charset="-122"/>
              </a:rPr>
              <a:t>x</a:t>
            </a:r>
            <a:r>
              <a:rPr lang="en-US" altLang="zh-CN" sz="2800" b="1" i="1" baseline="-25000">
                <a:solidFill>
                  <a:schemeClr val="tx1"/>
                </a:solidFill>
                <a:latin typeface="Times New Roman" panose="02020603050405020304" pitchFamily="18" charset="0"/>
                <a:ea typeface="宋体" panose="02010600030101010101" pitchFamily="2" charset="-122"/>
              </a:rPr>
              <a:t>S</a:t>
            </a:r>
            <a:r>
              <a:rPr lang="en-US" altLang="zh-CN" sz="2800" b="1">
                <a:solidFill>
                  <a:schemeClr val="tx1"/>
                </a:solidFill>
                <a:latin typeface="Times New Roman" panose="02020603050405020304" pitchFamily="18" charset="0"/>
                <a:ea typeface="宋体" panose="02010600030101010101" pitchFamily="2" charset="-122"/>
              </a:rPr>
              <a:t>(</a:t>
            </a:r>
            <a:r>
              <a:rPr lang="en-US" altLang="zh-CN" sz="2800" b="1" i="1">
                <a:solidFill>
                  <a:schemeClr val="tx1"/>
                </a:solidFill>
                <a:latin typeface="Times New Roman" panose="02020603050405020304" pitchFamily="18" charset="0"/>
                <a:ea typeface="宋体" panose="02010600030101010101" pitchFamily="2" charset="-122"/>
              </a:rPr>
              <a:t>mT</a:t>
            </a:r>
            <a:r>
              <a:rPr lang="en-US" altLang="zh-CN" sz="2800" b="1" baseline="-25000">
                <a:solidFill>
                  <a:schemeClr val="tx1"/>
                </a:solidFill>
                <a:latin typeface="Times New Roman" panose="02020603050405020304" pitchFamily="18" charset="0"/>
                <a:ea typeface="宋体" panose="02010600030101010101" pitchFamily="2" charset="-122"/>
              </a:rPr>
              <a:t>S1</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宋体" panose="02010600030101010101" pitchFamily="2" charset="-122"/>
              </a:rPr>
              <a:t>（</a:t>
            </a:r>
            <a:r>
              <a:rPr lang="en-US" altLang="zh-CN" sz="2800" b="1" i="1">
                <a:solidFill>
                  <a:schemeClr val="tx1"/>
                </a:solidFill>
                <a:latin typeface="Times New Roman" panose="02020603050405020304" pitchFamily="18" charset="0"/>
                <a:ea typeface="宋体" panose="02010600030101010101" pitchFamily="2" charset="-122"/>
              </a:rPr>
              <a:t>T</a:t>
            </a:r>
            <a:r>
              <a:rPr lang="en-US" altLang="zh-CN" sz="2800" b="1" i="1" baseline="-25000">
                <a:solidFill>
                  <a:schemeClr val="tx1"/>
                </a:solidFill>
                <a:latin typeface="Times New Roman" panose="02020603050405020304" pitchFamily="18" charset="0"/>
                <a:ea typeface="宋体" panose="02010600030101010101" pitchFamily="2" charset="-122"/>
              </a:rPr>
              <a:t>S1</a:t>
            </a:r>
            <a:r>
              <a:rPr lang="en-US" altLang="zh-CN" sz="2800" b="1" i="1">
                <a:solidFill>
                  <a:schemeClr val="tx1"/>
                </a:solidFill>
                <a:latin typeface="Times New Roman" panose="02020603050405020304" pitchFamily="18" charset="0"/>
                <a:ea typeface="宋体" panose="02010600030101010101" pitchFamily="2" charset="-122"/>
              </a:rPr>
              <a:t>=</a:t>
            </a:r>
            <a:r>
              <a:rPr lang="el-GR" altLang="zh-CN" sz="2800" b="1" i="1" dirty="0">
                <a:solidFill>
                  <a:schemeClr val="tx1"/>
                </a:solidFill>
                <a:latin typeface="Times New Roman" panose="02020603050405020304" pitchFamily="18" charset="0"/>
                <a:ea typeface="宋体" panose="02010600030101010101" pitchFamily="2" charset="-122"/>
              </a:rPr>
              <a:t>μ</a:t>
            </a:r>
            <a:r>
              <a:rPr lang="en-US" altLang="zh-CN" sz="2800" b="1" i="1">
                <a:solidFill>
                  <a:schemeClr val="tx1"/>
                </a:solidFill>
                <a:latin typeface="Times New Roman" panose="02020603050405020304" pitchFamily="18" charset="0"/>
                <a:ea typeface="宋体" panose="02010600030101010101" pitchFamily="2" charset="-122"/>
              </a:rPr>
              <a:t>T</a:t>
            </a:r>
            <a:r>
              <a:rPr lang="en-US" altLang="zh-CN" sz="2800" b="1" baseline="-25000">
                <a:solidFill>
                  <a:schemeClr val="tx1"/>
                </a:solidFill>
                <a:latin typeface="Times New Roman" panose="02020603050405020304" pitchFamily="18" charset="0"/>
                <a:ea typeface="宋体" panose="02010600030101010101" pitchFamily="2" charset="-122"/>
              </a:rPr>
              <a:t>S</a:t>
            </a:r>
            <a:r>
              <a:rPr lang="zh-CN" altLang="en-US" sz="2800" b="1" dirty="0">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的频谱</a:t>
            </a:r>
            <a:r>
              <a:rPr lang="en-US" altLang="zh-CN" sz="2800" b="1" i="1">
                <a:solidFill>
                  <a:schemeClr val="tx1"/>
                </a:solidFill>
                <a:latin typeface="Times New Roman" panose="02020603050405020304" pitchFamily="18" charset="0"/>
                <a:ea typeface="宋体" panose="02010600030101010101" pitchFamily="2" charset="-122"/>
              </a:rPr>
              <a:t>X</a:t>
            </a:r>
            <a:r>
              <a:rPr lang="en-US" altLang="zh-CN" sz="2800" b="1" i="1" baseline="-25000">
                <a:solidFill>
                  <a:schemeClr val="tx1"/>
                </a:solidFill>
                <a:latin typeface="Times New Roman" panose="02020603050405020304" pitchFamily="18" charset="0"/>
                <a:ea typeface="宋体" panose="02010600030101010101" pitchFamily="2" charset="-122"/>
              </a:rPr>
              <a:t>S1</a:t>
            </a:r>
            <a:r>
              <a:rPr lang="en-US" altLang="zh-CN" sz="2800" b="1" i="1">
                <a:solidFill>
                  <a:schemeClr val="tx1"/>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a:t>
            </a:r>
            <a:r>
              <a:rPr lang="en-US" altLang="zh-CN" sz="2800" b="1" i="1">
                <a:solidFill>
                  <a:schemeClr val="tx1"/>
                </a:solidFill>
                <a:latin typeface="Times New Roman" panose="02020603050405020304" pitchFamily="18" charset="0"/>
                <a:ea typeface="宋体" panose="02010600030101010101" pitchFamily="2" charset="-122"/>
              </a:rPr>
              <a:t>f</a:t>
            </a:r>
            <a:r>
              <a:rPr lang="en-US" altLang="zh-CN" sz="2800" b="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ea typeface="黑体" panose="02010609060101010101" pitchFamily="49" charset="-122"/>
              </a:rPr>
              <a:t>，则两个频谱</a:t>
            </a:r>
            <a:r>
              <a:rPr lang="zh-CN" altLang="en-US" sz="2800" b="1" dirty="0">
                <a:solidFill>
                  <a:schemeClr val="tx1"/>
                </a:solidFill>
                <a:latin typeface="Times New Roman" panose="02020603050405020304" pitchFamily="18" charset="0"/>
                <a:ea typeface="黑体" panose="02010609060101010101" pitchFamily="49" charset="-122"/>
              </a:rPr>
              <a:t>之间的关系为：</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1793" name="Text Box 308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1798"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3836" name="Text Box 1036"/>
          <p:cNvSpPr txBox="1"/>
          <p:nvPr/>
        </p:nvSpPr>
        <p:spPr>
          <a:xfrm>
            <a:off x="287338" y="4168775"/>
            <a:ext cx="8497887" cy="8318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zh-CN" altLang="en-US" sz="2400" b="1" dirty="0">
                <a:solidFill>
                  <a:schemeClr val="accent2"/>
                </a:solidFill>
                <a:latin typeface="Times New Roman" panose="02020603050405020304" pitchFamily="18" charset="0"/>
                <a:ea typeface="黑体" panose="02010609060101010101" pitchFamily="49" charset="-122"/>
              </a:rPr>
              <a:t>此处的重采样可看作是抽取或减采样，即在对连续时间信号采样时将采样率减小</a:t>
            </a:r>
            <a:r>
              <a:rPr lang="en-US" altLang="zh-CN" sz="2400" b="1" i="1">
                <a:solidFill>
                  <a:schemeClr val="accent2"/>
                </a:solidFill>
                <a:latin typeface="Times New Roman" panose="02020603050405020304" pitchFamily="18" charset="0"/>
                <a:ea typeface="黑体" panose="02010609060101010101" pitchFamily="49" charset="-122"/>
              </a:rPr>
              <a:t>μ</a:t>
            </a:r>
            <a:r>
              <a:rPr lang="zh-CN" altLang="en-US" sz="2400" b="1" dirty="0">
                <a:solidFill>
                  <a:schemeClr val="accent2"/>
                </a:solidFill>
                <a:latin typeface="Times New Roman" panose="02020603050405020304" pitchFamily="18" charset="0"/>
                <a:ea typeface="黑体" panose="02010609060101010101" pitchFamily="49" charset="-122"/>
              </a:rPr>
              <a:t>倍。频域则相当于做频率尺度压缩。</a:t>
            </a:r>
            <a:endParaRPr lang="zh-CN" altLang="en-US" sz="2400" b="1" dirty="0">
              <a:solidFill>
                <a:schemeClr val="accent2"/>
              </a:solidFill>
              <a:latin typeface="Times New Roman" panose="02020603050405020304" pitchFamily="18" charset="0"/>
              <a:ea typeface="黑体" panose="02010609060101010101" pitchFamily="49" charset="-122"/>
            </a:endParaRPr>
          </a:p>
        </p:txBody>
      </p:sp>
      <p:sp>
        <p:nvSpPr>
          <p:cNvPr id="96264" name="矩形 96263"/>
          <p:cNvSpPr/>
          <p:nvPr/>
        </p:nvSpPr>
        <p:spPr>
          <a:xfrm>
            <a:off x="0" y="3214688"/>
            <a:ext cx="9144000" cy="0"/>
          </a:xfrm>
          <a:prstGeom prst="rect">
            <a:avLst/>
          </a:prstGeom>
          <a:noFill/>
          <a:ln w="9525">
            <a:noFill/>
          </a:ln>
          <a:effectLst>
            <a:outerShdw dist="107763" dir="13499999" algn="ctr" rotWithShape="0">
              <a:schemeClr val="bg2"/>
            </a:outerShdw>
          </a:effectLst>
        </p:spPr>
        <p:txBody>
          <a:bodyPr/>
          <a:p>
            <a:pPr algn="ctr" eaLnBrk="1" hangingPunct="1"/>
            <a:endParaRPr lang="zh-CN" altLang="en-US" b="1">
              <a:solidFill>
                <a:srgbClr val="333399"/>
              </a:solidFill>
              <a:latin typeface="楷体_GB2312" pitchFamily="49" charset="-122"/>
            </a:endParaRPr>
          </a:p>
        </p:txBody>
      </p:sp>
      <p:graphicFrame>
        <p:nvGraphicFramePr>
          <p:cNvPr id="96265" name="对象 96264"/>
          <p:cNvGraphicFramePr/>
          <p:nvPr/>
        </p:nvGraphicFramePr>
        <p:xfrm>
          <a:off x="755650" y="3114675"/>
          <a:ext cx="3352800" cy="957263"/>
        </p:xfrm>
        <a:graphic>
          <a:graphicData uri="http://schemas.openxmlformats.org/presentationml/2006/ole">
            <mc:AlternateContent xmlns:mc="http://schemas.openxmlformats.org/markup-compatibility/2006">
              <mc:Choice xmlns:v="urn:schemas-microsoft-com:vml" Requires="v">
                <p:oleObj spid="_x0000_s3094" name="" r:id="rId1" imgW="1548765" imgH="444500" progId="Equation.3">
                  <p:embed/>
                </p:oleObj>
              </mc:Choice>
              <mc:Fallback>
                <p:oleObj name="" r:id="rId1" imgW="1548765" imgH="444500" progId="Equation.3">
                  <p:embed/>
                  <p:pic>
                    <p:nvPicPr>
                      <p:cNvPr id="0" name="图片 3093"/>
                      <p:cNvPicPr/>
                      <p:nvPr/>
                    </p:nvPicPr>
                    <p:blipFill>
                      <a:blip r:embed="rId2"/>
                      <a:stretch>
                        <a:fillRect/>
                      </a:stretch>
                    </p:blipFill>
                    <p:spPr>
                      <a:xfrm>
                        <a:off x="755650" y="3114675"/>
                        <a:ext cx="3352800" cy="957263"/>
                      </a:xfrm>
                      <a:prstGeom prst="rect">
                        <a:avLst/>
                      </a:prstGeom>
                      <a:noFill/>
                      <a:ln w="38100">
                        <a:noFill/>
                        <a:miter/>
                      </a:ln>
                    </p:spPr>
                  </p:pic>
                </p:oleObj>
              </mc:Fallback>
            </mc:AlternateContent>
          </a:graphicData>
        </a:graphic>
      </p:graphicFrame>
      <p:sp>
        <p:nvSpPr>
          <p:cNvPr id="2" name="Text Box 3084"/>
          <p:cNvSpPr txBox="1"/>
          <p:nvPr/>
        </p:nvSpPr>
        <p:spPr>
          <a:xfrm>
            <a:off x="287338" y="5229225"/>
            <a:ext cx="8569325" cy="822325"/>
          </a:xfrm>
          <a:prstGeom prst="rect">
            <a:avLst/>
          </a:prstGeom>
          <a:noFill/>
          <a:ln w="9525">
            <a:noFill/>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重采样问题的重要性在于实际工程应用中，重新采样以减少要处理的数据量，提高数据处理速度。</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96267" name="矩形 96266"/>
          <p:cNvSpPr/>
          <p:nvPr/>
        </p:nvSpPr>
        <p:spPr>
          <a:xfrm>
            <a:off x="0" y="0"/>
            <a:ext cx="9144000" cy="0"/>
          </a:xfrm>
          <a:prstGeom prst="rect">
            <a:avLst/>
          </a:prstGeom>
          <a:noFill/>
          <a:ln w="9525">
            <a:noFill/>
          </a:ln>
          <a:effectLst>
            <a:outerShdw dist="107763" dir="13499999" algn="ctr" rotWithShape="0">
              <a:schemeClr val="bg2"/>
            </a:outerShdw>
          </a:effectLst>
        </p:spPr>
        <p:txBody>
          <a:bodyPr/>
          <a:p>
            <a:pPr algn="ctr" eaLnBrk="1" hangingPunct="1"/>
            <a:endParaRPr lang="zh-CN" altLang="en-US" b="1">
              <a:solidFill>
                <a:srgbClr val="333399"/>
              </a:solidFill>
              <a:latin typeface="楷体_GB2312" pitchFamily="49" charset="-122"/>
            </a:endParaRPr>
          </a:p>
        </p:txBody>
      </p:sp>
      <p:graphicFrame>
        <p:nvGraphicFramePr>
          <p:cNvPr id="96268" name="对象 96267"/>
          <p:cNvGraphicFramePr/>
          <p:nvPr/>
        </p:nvGraphicFramePr>
        <p:xfrm>
          <a:off x="4716463" y="2970213"/>
          <a:ext cx="4032250" cy="1182687"/>
        </p:xfrm>
        <a:graphic>
          <a:graphicData uri="http://schemas.openxmlformats.org/presentationml/2006/ole">
            <mc:AlternateContent xmlns:mc="http://schemas.openxmlformats.org/markup-compatibility/2006">
              <mc:Choice xmlns:v="urn:schemas-microsoft-com:vml" Requires="v">
                <p:oleObj spid="_x0000_s3097" name="" r:id="rId3" imgW="2095500" imgH="609600" progId="Equation.DSMT4">
                  <p:embed/>
                </p:oleObj>
              </mc:Choice>
              <mc:Fallback>
                <p:oleObj name="" r:id="rId3" imgW="2095500" imgH="609600" progId="Equation.DSMT4">
                  <p:embed/>
                  <p:pic>
                    <p:nvPicPr>
                      <p:cNvPr id="0" name="图片 3096"/>
                      <p:cNvPicPr/>
                      <p:nvPr/>
                    </p:nvPicPr>
                    <p:blipFill>
                      <a:blip r:embed="rId4"/>
                      <a:stretch>
                        <a:fillRect/>
                      </a:stretch>
                    </p:blipFill>
                    <p:spPr>
                      <a:xfrm>
                        <a:off x="4716463" y="2970213"/>
                        <a:ext cx="4032250" cy="1182687"/>
                      </a:xfrm>
                      <a:prstGeom prst="rect">
                        <a:avLst/>
                      </a:prstGeom>
                      <a:noFill/>
                      <a:ln w="38100">
                        <a:noFill/>
                        <a:miter/>
                      </a:ln>
                    </p:spPr>
                  </p:pic>
                </p:oleObj>
              </mc:Fallback>
            </mc:AlternateContent>
          </a:graphicData>
        </a:graphic>
      </p:graphicFrame>
      <p:sp>
        <p:nvSpPr>
          <p:cNvPr id="96269" name="矩形 96268"/>
          <p:cNvSpPr/>
          <p:nvPr/>
        </p:nvSpPr>
        <p:spPr>
          <a:xfrm>
            <a:off x="0" y="3214688"/>
            <a:ext cx="9144000" cy="0"/>
          </a:xfrm>
          <a:prstGeom prst="rect">
            <a:avLst/>
          </a:prstGeom>
          <a:noFill/>
          <a:ln w="9525">
            <a:noFill/>
          </a:ln>
          <a:effectLst>
            <a:outerShdw dist="107763" dir="13499999" algn="ctr" rotWithShape="0">
              <a:schemeClr val="bg2"/>
            </a:outerShdw>
          </a:effectLst>
        </p:spPr>
        <p:txBody>
          <a:bodyPr/>
          <a:p>
            <a:pPr algn="ctr" eaLnBrk="1" hangingPunct="1"/>
            <a:endParaRPr lang="zh-CN" altLang="en-US" b="1">
              <a:solidFill>
                <a:srgbClr val="333399"/>
              </a:solidFill>
              <a:latin typeface="楷体_GB2312" pitchFamily="49" charset="-122"/>
            </a:endParaRPr>
          </a:p>
        </p:txBody>
      </p:sp>
      <p:sp>
        <p:nvSpPr>
          <p:cNvPr id="96271" name="矩形 96270"/>
          <p:cNvSpPr/>
          <p:nvPr/>
        </p:nvSpPr>
        <p:spPr>
          <a:xfrm>
            <a:off x="0" y="3309938"/>
            <a:ext cx="9144000" cy="0"/>
          </a:xfrm>
          <a:prstGeom prst="rect">
            <a:avLst/>
          </a:prstGeom>
          <a:noFill/>
          <a:ln w="9525">
            <a:noFill/>
          </a:ln>
          <a:effectLst>
            <a:outerShdw dist="107763" dir="13499999" algn="ctr" rotWithShape="0">
              <a:schemeClr val="bg2"/>
            </a:outerShdw>
          </a:effectLst>
        </p:spPr>
        <p:txBody>
          <a:bodyPr/>
          <a:p>
            <a:pPr algn="ctr" eaLnBrk="1" hangingPunct="1"/>
            <a:endParaRPr lang="zh-CN" altLang="en-US" b="1">
              <a:solidFill>
                <a:srgbClr val="333399"/>
              </a:solidFill>
              <a:latin typeface="楷体_GB2312" pitchFamily="49" charset="-122"/>
            </a:endParaRPr>
          </a:p>
        </p:txBody>
      </p:sp>
      <p:sp>
        <p:nvSpPr>
          <p:cNvPr id="3"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4"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5"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6"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7"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8" name="Rectangle 3094"/>
          <p:cNvSpPr/>
          <p:nvPr/>
        </p:nvSpPr>
        <p:spPr>
          <a:xfrm>
            <a:off x="215900" y="1631950"/>
            <a:ext cx="8677275" cy="45339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1787"/>
                                        </p:tgtEl>
                                        <p:attrNameLst>
                                          <p:attrName>style.visibility</p:attrName>
                                        </p:attrNameLst>
                                      </p:cBhvr>
                                      <p:to>
                                        <p:strVal val="visible"/>
                                      </p:to>
                                    </p:set>
                                    <p:animEffect transition="in" filter="dissolve">
                                      <p:cBhvr>
                                        <p:cTn id="7" dur="500"/>
                                        <p:tgtEl>
                                          <p:spTgt spid="225178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251788"/>
                                        </p:tgtEl>
                                        <p:attrNameLst>
                                          <p:attrName>style.visibility</p:attrName>
                                        </p:attrNameLst>
                                      </p:cBhvr>
                                      <p:to>
                                        <p:strVal val="visible"/>
                                      </p:to>
                                    </p:set>
                                    <p:anim calcmode="lin" valueType="num">
                                      <p:cBhvr additive="base">
                                        <p:cTn id="12" dur="500" fill="hold"/>
                                        <p:tgtEl>
                                          <p:spTgt spid="2251788"/>
                                        </p:tgtEl>
                                        <p:attrNameLst>
                                          <p:attrName>ppt_x</p:attrName>
                                        </p:attrNameLst>
                                      </p:cBhvr>
                                      <p:tavLst>
                                        <p:tav tm="0">
                                          <p:val>
                                            <p:strVal val="#ppt_x"/>
                                          </p:val>
                                        </p:tav>
                                        <p:tav tm="100000">
                                          <p:val>
                                            <p:strVal val="#ppt_x"/>
                                          </p:val>
                                        </p:tav>
                                      </p:tavLst>
                                    </p:anim>
                                    <p:anim calcmode="lin" valueType="num">
                                      <p:cBhvr additive="base">
                                        <p:cTn id="13" dur="500" fill="hold"/>
                                        <p:tgtEl>
                                          <p:spTgt spid="2251788"/>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96265"/>
                                        </p:tgtEl>
                                        <p:attrNameLst>
                                          <p:attrName>style.visibility</p:attrName>
                                        </p:attrNameLst>
                                      </p:cBhvr>
                                      <p:to>
                                        <p:strVal val="visible"/>
                                      </p:to>
                                    </p:set>
                                    <p:anim calcmode="lin" valueType="num">
                                      <p:cBhvr additive="base">
                                        <p:cTn id="18" dur="500" fill="hold"/>
                                        <p:tgtEl>
                                          <p:spTgt spid="96265"/>
                                        </p:tgtEl>
                                        <p:attrNameLst>
                                          <p:attrName>ppt_x</p:attrName>
                                        </p:attrNameLst>
                                      </p:cBhvr>
                                      <p:tavLst>
                                        <p:tav tm="0">
                                          <p:val>
                                            <p:strVal val="#ppt_x"/>
                                          </p:val>
                                        </p:tav>
                                        <p:tav tm="100000">
                                          <p:val>
                                            <p:strVal val="#ppt_x"/>
                                          </p:val>
                                        </p:tav>
                                      </p:tavLst>
                                    </p:anim>
                                    <p:anim calcmode="lin" valueType="num">
                                      <p:cBhvr additive="base">
                                        <p:cTn id="19" dur="500" fill="hold"/>
                                        <p:tgtEl>
                                          <p:spTgt spid="96265"/>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96268"/>
                                        </p:tgtEl>
                                        <p:attrNameLst>
                                          <p:attrName>style.visibility</p:attrName>
                                        </p:attrNameLst>
                                      </p:cBhvr>
                                      <p:to>
                                        <p:strVal val="visible"/>
                                      </p:to>
                                    </p:set>
                                    <p:anim calcmode="lin" valueType="num">
                                      <p:cBhvr additive="base">
                                        <p:cTn id="24" dur="500" fill="hold"/>
                                        <p:tgtEl>
                                          <p:spTgt spid="96268"/>
                                        </p:tgtEl>
                                        <p:attrNameLst>
                                          <p:attrName>ppt_x</p:attrName>
                                        </p:attrNameLst>
                                      </p:cBhvr>
                                      <p:tavLst>
                                        <p:tav tm="0">
                                          <p:val>
                                            <p:strVal val="#ppt_x"/>
                                          </p:val>
                                        </p:tav>
                                        <p:tav tm="100000">
                                          <p:val>
                                            <p:strVal val="#ppt_x"/>
                                          </p:val>
                                        </p:tav>
                                      </p:tavLst>
                                    </p:anim>
                                    <p:anim calcmode="lin" valueType="num">
                                      <p:cBhvr additive="base">
                                        <p:cTn id="25" dur="500" fill="hold"/>
                                        <p:tgtEl>
                                          <p:spTgt spid="96268"/>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2253836"/>
                                        </p:tgtEl>
                                        <p:attrNameLst>
                                          <p:attrName>style.visibility</p:attrName>
                                        </p:attrNameLst>
                                      </p:cBhvr>
                                      <p:to>
                                        <p:strVal val="visible"/>
                                      </p:to>
                                    </p:set>
                                    <p:anim calcmode="lin" valueType="num">
                                      <p:cBhvr additive="base">
                                        <p:cTn id="30" dur="500" fill="hold"/>
                                        <p:tgtEl>
                                          <p:spTgt spid="2253836"/>
                                        </p:tgtEl>
                                        <p:attrNameLst>
                                          <p:attrName>ppt_x</p:attrName>
                                        </p:attrNameLst>
                                      </p:cBhvr>
                                      <p:tavLst>
                                        <p:tav tm="0">
                                          <p:val>
                                            <p:strVal val="#ppt_x"/>
                                          </p:val>
                                        </p:tav>
                                        <p:tav tm="100000">
                                          <p:val>
                                            <p:strVal val="#ppt_x"/>
                                          </p:val>
                                        </p:tav>
                                      </p:tavLst>
                                    </p:anim>
                                    <p:anim calcmode="lin" valueType="num">
                                      <p:cBhvr additive="base">
                                        <p:cTn id="31" dur="500" fill="hold"/>
                                        <p:tgtEl>
                                          <p:spTgt spid="2253836"/>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ppt_x"/>
                                          </p:val>
                                        </p:tav>
                                        <p:tav tm="100000">
                                          <p:val>
                                            <p:strVal val="#ppt_x"/>
                                          </p:val>
                                        </p:tav>
                                      </p:tavLst>
                                    </p:anim>
                                    <p:anim calcmode="lin" valueType="num">
                                      <p:cBhvr additive="base">
                                        <p:cTn id="3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1787" grpId="0" bldLvl="0" animBg="1"/>
      <p:bldP spid="2251788" grpId="0"/>
      <p:bldP spid="2253836" grpId="0" bldLvl="0" animBg="1"/>
      <p:bldP spid="2"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6909" name="Text Box 1037"/>
          <p:cNvSpPr txBox="1">
            <a:spLocks noChangeArrowheads="1"/>
          </p:cNvSpPr>
          <p:nvPr/>
        </p:nvSpPr>
        <p:spPr bwMode="auto">
          <a:xfrm>
            <a:off x="1228725" y="112713"/>
            <a:ext cx="70993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频率混淆与消除频混的措施</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56912" name="Text Box 1040"/>
          <p:cNvSpPr txBox="1"/>
          <p:nvPr/>
        </p:nvSpPr>
        <p:spPr>
          <a:xfrm>
            <a:off x="576263" y="1700213"/>
            <a:ext cx="7956550" cy="138271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zh-CN" altLang="en-US" sz="2800" b="1" dirty="0">
                <a:solidFill>
                  <a:srgbClr val="FF0000"/>
                </a:solidFill>
                <a:latin typeface="Times New Roman" panose="02020603050405020304" pitchFamily="18" charset="0"/>
                <a:ea typeface="黑体" panose="02010609060101010101" pitchFamily="49" charset="-122"/>
              </a:rPr>
              <a:t>频率混淆</a:t>
            </a:r>
            <a:r>
              <a:rPr lang="zh-CN" altLang="en-US" sz="2800" b="1" dirty="0">
                <a:solidFill>
                  <a:schemeClr val="tx1"/>
                </a:solidFill>
                <a:latin typeface="Times New Roman" panose="02020603050405020304" pitchFamily="18" charset="0"/>
                <a:ea typeface="黑体" panose="02010609060101010101" pitchFamily="49" charset="-122"/>
              </a:rPr>
              <a:t>：如果采样周期</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黑体" panose="02010609060101010101" pitchFamily="49" charset="-122"/>
              </a:rPr>
              <a:t>S</a:t>
            </a:r>
            <a:r>
              <a:rPr lang="zh-CN" altLang="en-US" sz="2800" b="1" dirty="0">
                <a:solidFill>
                  <a:schemeClr val="tx1"/>
                </a:solidFill>
                <a:latin typeface="Times New Roman" panose="02020603050405020304" pitchFamily="18" charset="0"/>
                <a:ea typeface="黑体" panose="02010609060101010101" pitchFamily="49" charset="-122"/>
              </a:rPr>
              <a:t>过大，使</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&gt;1/(2</a:t>
            </a:r>
            <a:r>
              <a:rPr lang="en-US" altLang="zh-CN" sz="2800" b="1" i="1">
                <a:solidFill>
                  <a:srgbClr val="FF0000"/>
                </a:solidFill>
                <a:latin typeface="Times New Roman" panose="02020603050405020304" pitchFamily="18" charset="0"/>
                <a:ea typeface="黑体" panose="02010609060101010101" pitchFamily="49" charset="-122"/>
              </a:rPr>
              <a:t>f</a:t>
            </a:r>
            <a:r>
              <a:rPr lang="en-US" altLang="zh-CN" sz="2800" b="1" baseline="-25000">
                <a:solidFill>
                  <a:srgbClr val="FF0000"/>
                </a:solidFill>
                <a:latin typeface="Times New Roman" panose="02020603050405020304" pitchFamily="18" charset="0"/>
                <a:ea typeface="黑体" panose="02010609060101010101" pitchFamily="49" charset="-122"/>
              </a:rPr>
              <a:t>C</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，将会发生模拟信号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中的高频成分（</a:t>
            </a:r>
            <a:r>
              <a:rPr lang="en-US" altLang="zh-CN" sz="2800" b="1">
                <a:solidFill>
                  <a:srgbClr val="FF0000"/>
                </a:solidFill>
                <a:latin typeface="Times New Roman" panose="02020603050405020304" pitchFamily="18" charset="0"/>
                <a:ea typeface="黑体" panose="02010609060101010101" pitchFamily="49" charset="-122"/>
              </a:rPr>
              <a:t>| </a:t>
            </a:r>
            <a:r>
              <a:rPr lang="en-US" altLang="zh-CN" sz="2800" b="1" i="1">
                <a:solidFill>
                  <a:srgbClr val="FF0000"/>
                </a:solidFill>
                <a:latin typeface="Times New Roman" panose="02020603050405020304" pitchFamily="18" charset="0"/>
                <a:ea typeface="黑体" panose="02010609060101010101" pitchFamily="49" charset="-122"/>
              </a:rPr>
              <a:t>f </a:t>
            </a:r>
            <a:r>
              <a:rPr lang="en-US" altLang="zh-CN" sz="2800" b="1">
                <a:solidFill>
                  <a:srgbClr val="FF0000"/>
                </a:solidFill>
                <a:latin typeface="Times New Roman" panose="02020603050405020304" pitchFamily="18" charset="0"/>
                <a:ea typeface="黑体" panose="02010609060101010101" pitchFamily="49" charset="-122"/>
              </a:rPr>
              <a:t>|&gt;1/(2</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）被叠加到低频成分（</a:t>
            </a:r>
            <a:r>
              <a:rPr lang="en-US" altLang="zh-CN" sz="2800" b="1">
                <a:solidFill>
                  <a:srgbClr val="FF0000"/>
                </a:solidFill>
                <a:latin typeface="Times New Roman" panose="02020603050405020304" pitchFamily="18" charset="0"/>
                <a:ea typeface="黑体" panose="02010609060101010101" pitchFamily="49" charset="-122"/>
              </a:rPr>
              <a:t>| </a:t>
            </a:r>
            <a:r>
              <a:rPr lang="en-US" altLang="zh-CN" sz="2800" b="1" i="1">
                <a:solidFill>
                  <a:srgbClr val="FF0000"/>
                </a:solidFill>
                <a:latin typeface="Times New Roman" panose="02020603050405020304" pitchFamily="18" charset="0"/>
                <a:ea typeface="黑体" panose="02010609060101010101" pitchFamily="49" charset="-122"/>
              </a:rPr>
              <a:t>f</a:t>
            </a:r>
            <a:r>
              <a:rPr lang="en-US" altLang="zh-CN" sz="2800" b="1">
                <a:solidFill>
                  <a:srgbClr val="FF0000"/>
                </a:solidFill>
                <a:latin typeface="Times New Roman" panose="02020603050405020304" pitchFamily="18" charset="0"/>
                <a:ea typeface="黑体" panose="02010609060101010101" pitchFamily="49" charset="-122"/>
              </a:rPr>
              <a:t> |&lt;1/(2</a:t>
            </a:r>
            <a:r>
              <a:rPr lang="en-US" altLang="zh-CN" sz="2800" b="1" i="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Times New Roman" panose="02020603050405020304" pitchFamily="18" charset="0"/>
                <a:ea typeface="黑体" panose="02010609060101010101" pitchFamily="49" charset="-122"/>
              </a:rPr>
              <a:t>）上去的现象。</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6921" name="Text Box 104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6922" name="Text Box 1050"/>
          <p:cNvSpPr txBox="1"/>
          <p:nvPr/>
        </p:nvSpPr>
        <p:spPr>
          <a:xfrm>
            <a:off x="752475" y="4508500"/>
            <a:ext cx="6303963" cy="579438"/>
          </a:xfrm>
          <a:prstGeom prst="rect">
            <a:avLst/>
          </a:prstGeom>
          <a:noFill/>
          <a:ln w="9525">
            <a:noFill/>
          </a:ln>
        </p:spPr>
        <p:txBody>
          <a:bodyPr wrap="none">
            <a:spAutoFit/>
          </a:bodyPr>
          <a:p>
            <a:pPr algn="l" eaLnBrk="1" hangingPunct="1"/>
            <a:r>
              <a:rPr lang="zh-CN" altLang="en-US" sz="3200" b="1" dirty="0">
                <a:solidFill>
                  <a:srgbClr val="3333FF"/>
                </a:solidFill>
                <a:latin typeface="楷体_GB2312" pitchFamily="49" charset="-122"/>
              </a:rPr>
              <a:t>不产生频率混淆现象的临界条件：</a:t>
            </a:r>
            <a:endParaRPr lang="zh-CN" altLang="en-US" sz="3200" b="1" dirty="0">
              <a:solidFill>
                <a:srgbClr val="3333FF"/>
              </a:solidFill>
              <a:latin typeface="楷体_GB2312" pitchFamily="49" charset="-122"/>
            </a:endParaRPr>
          </a:p>
        </p:txBody>
      </p:sp>
      <p:sp>
        <p:nvSpPr>
          <p:cNvPr id="2256923" name="Rectangle 1051"/>
          <p:cNvSpPr/>
          <p:nvPr/>
        </p:nvSpPr>
        <p:spPr>
          <a:xfrm>
            <a:off x="2879725" y="5343525"/>
            <a:ext cx="3384550" cy="641350"/>
          </a:xfrm>
          <a:prstGeom prst="rect">
            <a:avLst/>
          </a:prstGeom>
          <a:solidFill>
            <a:srgbClr val="FFCC99"/>
          </a:solidFill>
          <a:ln w="9525">
            <a:noFill/>
          </a:ln>
        </p:spPr>
        <p:txBody>
          <a:bodyPr>
            <a:spAutoFit/>
          </a:bodyPr>
          <a:p>
            <a:pPr algn="ctr" eaLnBrk="1" hangingPunct="1"/>
            <a:r>
              <a:rPr lang="en-US" altLang="zh-CN" b="1" i="1" err="1">
                <a:solidFill>
                  <a:srgbClr val="FF0000"/>
                </a:solidFill>
                <a:latin typeface="Times New Roman" panose="02020603050405020304" pitchFamily="18" charset="0"/>
                <a:ea typeface="黑体" panose="02010609060101010101" pitchFamily="49" charset="-122"/>
              </a:rPr>
              <a:t>f</a:t>
            </a:r>
            <a:r>
              <a:rPr lang="en-US" altLang="zh-CN" b="1" baseline="-25000" err="1">
                <a:solidFill>
                  <a:srgbClr val="FF0000"/>
                </a:solidFill>
                <a:latin typeface="Times New Roman" panose="02020603050405020304" pitchFamily="18" charset="0"/>
                <a:ea typeface="黑体" panose="02010609060101010101" pitchFamily="49" charset="-122"/>
              </a:rPr>
              <a:t>S</a:t>
            </a:r>
            <a:r>
              <a:rPr lang="en-US" altLang="zh-CN" b="1">
                <a:solidFill>
                  <a:srgbClr val="FF0000"/>
                </a:solidFill>
                <a:latin typeface="Times New Roman" panose="02020603050405020304" pitchFamily="18" charset="0"/>
                <a:ea typeface="黑体" panose="02010609060101010101" pitchFamily="49" charset="-122"/>
              </a:rPr>
              <a:t>=1/</a:t>
            </a:r>
            <a:r>
              <a:rPr lang="en-US" altLang="zh-CN" b="1" i="1">
                <a:solidFill>
                  <a:srgbClr val="FF0000"/>
                </a:solidFill>
                <a:latin typeface="Times New Roman" panose="02020603050405020304" pitchFamily="18" charset="0"/>
                <a:ea typeface="黑体" panose="02010609060101010101" pitchFamily="49" charset="-122"/>
              </a:rPr>
              <a:t>T</a:t>
            </a:r>
            <a:r>
              <a:rPr lang="en-US" altLang="zh-CN" b="1" baseline="-25000">
                <a:solidFill>
                  <a:srgbClr val="FF0000"/>
                </a:solidFill>
                <a:latin typeface="Times New Roman" panose="02020603050405020304" pitchFamily="18" charset="0"/>
                <a:ea typeface="黑体" panose="02010609060101010101" pitchFamily="49" charset="-122"/>
              </a:rPr>
              <a:t>S</a:t>
            </a:r>
            <a:r>
              <a:rPr lang="en-US" altLang="zh-CN" b="1">
                <a:solidFill>
                  <a:srgbClr val="FF0000"/>
                </a:solidFill>
                <a:latin typeface="Times New Roman" panose="02020603050405020304" pitchFamily="18" charset="0"/>
                <a:ea typeface="黑体" panose="02010609060101010101" pitchFamily="49" charset="-122"/>
              </a:rPr>
              <a:t>=2</a:t>
            </a:r>
            <a:r>
              <a:rPr lang="en-US" altLang="zh-CN" b="1" i="1">
                <a:solidFill>
                  <a:srgbClr val="FF0000"/>
                </a:solidFill>
                <a:latin typeface="Times New Roman" panose="02020603050405020304" pitchFamily="18" charset="0"/>
                <a:ea typeface="黑体" panose="02010609060101010101" pitchFamily="49" charset="-122"/>
              </a:rPr>
              <a:t>f</a:t>
            </a:r>
            <a:r>
              <a:rPr lang="en-US" altLang="zh-CN" b="1" baseline="-25000">
                <a:solidFill>
                  <a:srgbClr val="FF0000"/>
                </a:solidFill>
                <a:latin typeface="Times New Roman" panose="02020603050405020304" pitchFamily="18" charset="0"/>
                <a:ea typeface="黑体" panose="02010609060101010101" pitchFamily="49" charset="-122"/>
              </a:rPr>
              <a:t>C</a:t>
            </a:r>
            <a:endParaRPr lang="en-US" altLang="zh-CN" b="1" baseline="-25000">
              <a:solidFill>
                <a:srgbClr val="FF0000"/>
              </a:solidFill>
              <a:latin typeface="Times New Roman" panose="02020603050405020304" pitchFamily="18" charset="0"/>
              <a:ea typeface="黑体" panose="02010609060101010101" pitchFamily="49" charset="-122"/>
            </a:endParaRPr>
          </a:p>
        </p:txBody>
      </p:sp>
      <p:sp>
        <p:nvSpPr>
          <p:cNvPr id="16393" name="Text Box 24"/>
          <p:cNvSpPr txBox="1"/>
          <p:nvPr/>
        </p:nvSpPr>
        <p:spPr>
          <a:xfrm>
            <a:off x="358775" y="908050"/>
            <a:ext cx="38179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2.4.1 </a:t>
            </a:r>
            <a:r>
              <a:rPr lang="zh-CN" altLang="en-US" sz="3200" b="1" dirty="0">
                <a:solidFill>
                  <a:srgbClr val="333399"/>
                </a:solidFill>
                <a:latin typeface="楷体_GB2312" pitchFamily="49" charset="-122"/>
              </a:rPr>
              <a:t>频混的产生</a:t>
            </a:r>
            <a:endParaRPr lang="zh-CN" altLang="en-US" sz="3200" b="1" dirty="0">
              <a:solidFill>
                <a:srgbClr val="333399"/>
              </a:solidFill>
              <a:latin typeface="楷体_GB2312" pitchFamily="49" charset="-122"/>
            </a:endParaRPr>
          </a:p>
        </p:txBody>
      </p:sp>
      <p:sp>
        <p:nvSpPr>
          <p:cNvPr id="16394" name="Text Box 1050"/>
          <p:cNvSpPr txBox="1"/>
          <p:nvPr/>
        </p:nvSpPr>
        <p:spPr>
          <a:xfrm>
            <a:off x="576263" y="3357563"/>
            <a:ext cx="7956550" cy="946150"/>
          </a:xfrm>
          <a:prstGeom prst="rect">
            <a:avLst/>
          </a:prstGeom>
          <a:noFill/>
          <a:ln w="9525">
            <a:noFill/>
          </a:ln>
        </p:spPr>
        <p:txBody>
          <a:bodyPr>
            <a:spAutoFit/>
          </a:bodyPr>
          <a:p>
            <a:pPr algn="l" eaLnBrk="1" hangingPunct="1"/>
            <a:r>
              <a:rPr lang="zh-CN" altLang="en-US" sz="2800" b="1" dirty="0">
                <a:solidFill>
                  <a:srgbClr val="FF0000"/>
                </a:solidFill>
                <a:latin typeface="黑体" panose="02010609060101010101" pitchFamily="49" charset="-122"/>
                <a:ea typeface="黑体" panose="02010609060101010101" pitchFamily="49" charset="-122"/>
              </a:rPr>
              <a:t>混叠</a:t>
            </a:r>
            <a:r>
              <a:rPr lang="zh-CN" altLang="en-US" sz="2800" b="1" dirty="0">
                <a:solidFill>
                  <a:schemeClr val="tx1"/>
                </a:solidFill>
                <a:latin typeface="黑体" panose="02010609060101010101" pitchFamily="49" charset="-122"/>
                <a:ea typeface="黑体" panose="02010609060101010101" pitchFamily="49" charset="-122"/>
              </a:rPr>
              <a:t>：时域采样，频域周期化。如果不满足采样定理，两个周期之间就会有交叠。</a:t>
            </a:r>
            <a:endParaRPr lang="zh-CN" altLang="en-US" sz="2800" b="1"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393"/>
                                        </p:tgtEl>
                                        <p:attrNameLst>
                                          <p:attrName>style.visibility</p:attrName>
                                        </p:attrNameLst>
                                      </p:cBhvr>
                                      <p:to>
                                        <p:strVal val="visible"/>
                                      </p:to>
                                    </p:set>
                                    <p:animEffect transition="in" filter="dissolve">
                                      <p:cBhvr>
                                        <p:cTn id="7" dur="500"/>
                                        <p:tgtEl>
                                          <p:spTgt spid="163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6912"/>
                                        </p:tgtEl>
                                        <p:attrNameLst>
                                          <p:attrName>style.visibility</p:attrName>
                                        </p:attrNameLst>
                                      </p:cBhvr>
                                      <p:to>
                                        <p:strVal val="visible"/>
                                      </p:to>
                                    </p:set>
                                    <p:animEffect transition="in" filter="dissolve">
                                      <p:cBhvr>
                                        <p:cTn id="12" dur="500"/>
                                        <p:tgtEl>
                                          <p:spTgt spid="225691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6394"/>
                                        </p:tgtEl>
                                        <p:attrNameLst>
                                          <p:attrName>style.visibility</p:attrName>
                                        </p:attrNameLst>
                                      </p:cBhvr>
                                      <p:to>
                                        <p:strVal val="visible"/>
                                      </p:to>
                                    </p:set>
                                    <p:animEffect transition="in" filter="dissolve">
                                      <p:cBhvr>
                                        <p:cTn id="17" dur="500"/>
                                        <p:tgtEl>
                                          <p:spTgt spid="163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6922"/>
                                        </p:tgtEl>
                                        <p:attrNameLst>
                                          <p:attrName>style.visibility</p:attrName>
                                        </p:attrNameLst>
                                      </p:cBhvr>
                                      <p:to>
                                        <p:strVal val="visible"/>
                                      </p:to>
                                    </p:set>
                                    <p:animEffect transition="in" filter="dissolve">
                                      <p:cBhvr>
                                        <p:cTn id="22" dur="500"/>
                                        <p:tgtEl>
                                          <p:spTgt spid="2256922"/>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256923"/>
                                        </p:tgtEl>
                                        <p:attrNameLst>
                                          <p:attrName>style.visibility</p:attrName>
                                        </p:attrNameLst>
                                      </p:cBhvr>
                                      <p:to>
                                        <p:strVal val="visible"/>
                                      </p:to>
                                    </p:set>
                                    <p:animEffect transition="in" filter="dissolve">
                                      <p:cBhvr>
                                        <p:cTn id="25" dur="500"/>
                                        <p:tgtEl>
                                          <p:spTgt spid="22569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6912" grpId="0" bldLvl="0" animBg="1"/>
      <p:bldP spid="2256922" grpId="0"/>
      <p:bldP spid="2256923" grpId="0" bldLvl="0" animBg="1"/>
      <p:bldP spid="16393" grpId="0" bldLvl="0" animBg="1"/>
      <p:bldP spid="1639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258180" name="Group 260"/>
          <p:cNvGrpSpPr/>
          <p:nvPr/>
        </p:nvGrpSpPr>
        <p:grpSpPr>
          <a:xfrm>
            <a:off x="8086725" y="1671638"/>
            <a:ext cx="98425" cy="454025"/>
            <a:chOff x="5094" y="1053"/>
            <a:chExt cx="62" cy="286"/>
          </a:xfrm>
        </p:grpSpPr>
        <p:sp>
          <p:nvSpPr>
            <p:cNvPr id="17718" name="Oval 253"/>
            <p:cNvSpPr/>
            <p:nvPr/>
          </p:nvSpPr>
          <p:spPr>
            <a:xfrm>
              <a:off x="5107" y="1220"/>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19" name="Line 254"/>
            <p:cNvSpPr/>
            <p:nvPr/>
          </p:nvSpPr>
          <p:spPr>
            <a:xfrm flipH="1" flipV="1">
              <a:off x="5094" y="1053"/>
              <a:ext cx="15" cy="259"/>
            </a:xfrm>
            <a:prstGeom prst="line">
              <a:avLst/>
            </a:prstGeom>
            <a:ln w="0" cap="flat" cmpd="sng">
              <a:solidFill>
                <a:srgbClr val="000000"/>
              </a:solidFill>
              <a:prstDash val="solid"/>
              <a:headEnd type="none" w="med" len="med"/>
              <a:tailEnd type="none" w="med" len="med"/>
            </a:ln>
          </p:spPr>
        </p:sp>
        <p:sp>
          <p:nvSpPr>
            <p:cNvPr id="17720" name="Line 255"/>
            <p:cNvSpPr/>
            <p:nvPr/>
          </p:nvSpPr>
          <p:spPr>
            <a:xfrm flipV="1">
              <a:off x="5142" y="1054"/>
              <a:ext cx="14" cy="255"/>
            </a:xfrm>
            <a:prstGeom prst="line">
              <a:avLst/>
            </a:prstGeom>
            <a:ln w="0" cap="flat" cmpd="sng">
              <a:solidFill>
                <a:srgbClr val="000000"/>
              </a:solidFill>
              <a:prstDash val="solid"/>
              <a:headEnd type="none" w="med" len="med"/>
              <a:tailEnd type="none" w="med" len="med"/>
            </a:ln>
          </p:spPr>
        </p:sp>
        <p:sp>
          <p:nvSpPr>
            <p:cNvPr id="17721" name="Rectangle 256"/>
            <p:cNvSpPr/>
            <p:nvPr/>
          </p:nvSpPr>
          <p:spPr>
            <a:xfrm>
              <a:off x="5109"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22" name="Rectangle 257"/>
            <p:cNvSpPr/>
            <p:nvPr/>
          </p:nvSpPr>
          <p:spPr>
            <a:xfrm>
              <a:off x="5109" y="1254"/>
              <a:ext cx="8"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23" name="Rectangle 258"/>
            <p:cNvSpPr/>
            <p:nvPr/>
          </p:nvSpPr>
          <p:spPr>
            <a:xfrm>
              <a:off x="5136"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24" name="Rectangle 259"/>
            <p:cNvSpPr/>
            <p:nvPr/>
          </p:nvSpPr>
          <p:spPr>
            <a:xfrm>
              <a:off x="5113" y="1187"/>
              <a:ext cx="25"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35" name="Group 215"/>
          <p:cNvGrpSpPr/>
          <p:nvPr/>
        </p:nvGrpSpPr>
        <p:grpSpPr>
          <a:xfrm>
            <a:off x="7202488" y="1231900"/>
            <a:ext cx="98425" cy="442913"/>
            <a:chOff x="4537" y="776"/>
            <a:chExt cx="62" cy="279"/>
          </a:xfrm>
        </p:grpSpPr>
        <p:sp>
          <p:nvSpPr>
            <p:cNvPr id="17714" name="Oval 211"/>
            <p:cNvSpPr/>
            <p:nvPr/>
          </p:nvSpPr>
          <p:spPr>
            <a:xfrm>
              <a:off x="4549" y="776"/>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15" name="Line 212"/>
            <p:cNvSpPr/>
            <p:nvPr/>
          </p:nvSpPr>
          <p:spPr>
            <a:xfrm flipH="1">
              <a:off x="4537" y="806"/>
              <a:ext cx="15" cy="249"/>
            </a:xfrm>
            <a:prstGeom prst="line">
              <a:avLst/>
            </a:prstGeom>
            <a:ln w="0" cap="flat" cmpd="sng">
              <a:solidFill>
                <a:srgbClr val="000000"/>
              </a:solidFill>
              <a:prstDash val="solid"/>
              <a:headEnd type="none" w="med" len="med"/>
              <a:tailEnd type="none" w="med" len="med"/>
            </a:ln>
          </p:spPr>
        </p:sp>
        <p:sp>
          <p:nvSpPr>
            <p:cNvPr id="17716" name="Line 213"/>
            <p:cNvSpPr/>
            <p:nvPr/>
          </p:nvSpPr>
          <p:spPr>
            <a:xfrm>
              <a:off x="4584" y="806"/>
              <a:ext cx="15" cy="249"/>
            </a:xfrm>
            <a:prstGeom prst="line">
              <a:avLst/>
            </a:prstGeom>
            <a:ln w="0" cap="flat" cmpd="sng">
              <a:solidFill>
                <a:srgbClr val="000000"/>
              </a:solidFill>
              <a:prstDash val="solid"/>
              <a:headEnd type="none" w="med" len="med"/>
              <a:tailEnd type="none" w="med" len="med"/>
            </a:ln>
          </p:spPr>
        </p:sp>
        <p:sp>
          <p:nvSpPr>
            <p:cNvPr id="17717" name="Rectangle 214"/>
            <p:cNvSpPr/>
            <p:nvPr/>
          </p:nvSpPr>
          <p:spPr>
            <a:xfrm>
              <a:off x="4552" y="855"/>
              <a:ext cx="34" cy="4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97" name="Group 277"/>
          <p:cNvGrpSpPr/>
          <p:nvPr/>
        </p:nvGrpSpPr>
        <p:grpSpPr>
          <a:xfrm>
            <a:off x="6613525" y="1231900"/>
            <a:ext cx="98425" cy="442913"/>
            <a:chOff x="4166" y="776"/>
            <a:chExt cx="62" cy="279"/>
          </a:xfrm>
        </p:grpSpPr>
        <p:sp>
          <p:nvSpPr>
            <p:cNvPr id="17710" name="Oval 273"/>
            <p:cNvSpPr/>
            <p:nvPr/>
          </p:nvSpPr>
          <p:spPr>
            <a:xfrm>
              <a:off x="4178" y="776"/>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11" name="Line 274"/>
            <p:cNvSpPr/>
            <p:nvPr/>
          </p:nvSpPr>
          <p:spPr>
            <a:xfrm flipH="1">
              <a:off x="4166" y="806"/>
              <a:ext cx="14" cy="249"/>
            </a:xfrm>
            <a:prstGeom prst="line">
              <a:avLst/>
            </a:prstGeom>
            <a:ln w="0" cap="flat" cmpd="sng">
              <a:solidFill>
                <a:srgbClr val="000000"/>
              </a:solidFill>
              <a:prstDash val="solid"/>
              <a:headEnd type="none" w="med" len="med"/>
              <a:tailEnd type="none" w="med" len="med"/>
            </a:ln>
          </p:spPr>
        </p:sp>
        <p:sp>
          <p:nvSpPr>
            <p:cNvPr id="17712" name="Line 275"/>
            <p:cNvSpPr/>
            <p:nvPr/>
          </p:nvSpPr>
          <p:spPr>
            <a:xfrm>
              <a:off x="4213" y="806"/>
              <a:ext cx="15" cy="249"/>
            </a:xfrm>
            <a:prstGeom prst="line">
              <a:avLst/>
            </a:prstGeom>
            <a:ln w="0" cap="flat" cmpd="sng">
              <a:solidFill>
                <a:srgbClr val="000000"/>
              </a:solidFill>
              <a:prstDash val="solid"/>
              <a:headEnd type="none" w="med" len="med"/>
              <a:tailEnd type="none" w="med" len="med"/>
            </a:ln>
          </p:spPr>
        </p:sp>
        <p:sp>
          <p:nvSpPr>
            <p:cNvPr id="17713" name="Rectangle 276"/>
            <p:cNvSpPr/>
            <p:nvPr/>
          </p:nvSpPr>
          <p:spPr>
            <a:xfrm>
              <a:off x="4180" y="855"/>
              <a:ext cx="34" cy="4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2258359" name="Oval 439"/>
          <p:cNvSpPr/>
          <p:nvPr/>
        </p:nvSpPr>
        <p:spPr>
          <a:xfrm>
            <a:off x="7377113" y="622300"/>
            <a:ext cx="969962" cy="1506538"/>
          </a:xfrm>
          <a:prstGeom prst="ellipse">
            <a:avLst/>
          </a:prstGeom>
          <a:noFill/>
          <a:ln w="0" cap="flat" cmpd="sng">
            <a:solidFill>
              <a:srgbClr val="FF6600"/>
            </a:solidFill>
            <a:prstDash val="dash"/>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60" name="AutoShape 440"/>
          <p:cNvSpPr/>
          <p:nvPr/>
        </p:nvSpPr>
        <p:spPr>
          <a:xfrm>
            <a:off x="7370763" y="601663"/>
            <a:ext cx="995362" cy="1055687"/>
          </a:xfrm>
          <a:prstGeom prst="roundRect">
            <a:avLst>
              <a:gd name="adj" fmla="val 13898"/>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61" name="Oval 441"/>
          <p:cNvSpPr/>
          <p:nvPr/>
        </p:nvSpPr>
        <p:spPr>
          <a:xfrm>
            <a:off x="6489700" y="1209675"/>
            <a:ext cx="969963" cy="1506538"/>
          </a:xfrm>
          <a:prstGeom prst="ellipse">
            <a:avLst/>
          </a:prstGeom>
          <a:noFill/>
          <a:ln w="0" cap="flat" cmpd="sng">
            <a:solidFill>
              <a:srgbClr val="FF6600"/>
            </a:solidFill>
            <a:prstDash val="dash"/>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62" name="AutoShape 442"/>
          <p:cNvSpPr/>
          <p:nvPr/>
        </p:nvSpPr>
        <p:spPr>
          <a:xfrm>
            <a:off x="6443663" y="1671638"/>
            <a:ext cx="1081087" cy="1058862"/>
          </a:xfrm>
          <a:prstGeom prst="roundRect">
            <a:avLst>
              <a:gd name="adj" fmla="val 13819"/>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53" name="Oval 433"/>
          <p:cNvSpPr/>
          <p:nvPr/>
        </p:nvSpPr>
        <p:spPr>
          <a:xfrm>
            <a:off x="7377113" y="2144713"/>
            <a:ext cx="969962" cy="1506537"/>
          </a:xfrm>
          <a:prstGeom prst="ellipse">
            <a:avLst/>
          </a:prstGeom>
          <a:noFill/>
          <a:ln w="0" cap="flat" cmpd="sng">
            <a:solidFill>
              <a:srgbClr val="FF6600"/>
            </a:solidFill>
            <a:prstDash val="dash"/>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54" name="AutoShape 434"/>
          <p:cNvSpPr/>
          <p:nvPr/>
        </p:nvSpPr>
        <p:spPr>
          <a:xfrm>
            <a:off x="7370763" y="2133600"/>
            <a:ext cx="995362" cy="1046163"/>
          </a:xfrm>
          <a:prstGeom prst="roundRect">
            <a:avLst>
              <a:gd name="adj" fmla="val 13898"/>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2258048" name="Group 128"/>
          <p:cNvGrpSpPr/>
          <p:nvPr/>
        </p:nvGrpSpPr>
        <p:grpSpPr>
          <a:xfrm>
            <a:off x="7177088" y="2757488"/>
            <a:ext cx="223837" cy="434975"/>
            <a:chOff x="4521" y="1737"/>
            <a:chExt cx="141" cy="274"/>
          </a:xfrm>
        </p:grpSpPr>
        <p:sp>
          <p:nvSpPr>
            <p:cNvPr id="17704" name="Oval 122"/>
            <p:cNvSpPr/>
            <p:nvPr/>
          </p:nvSpPr>
          <p:spPr>
            <a:xfrm>
              <a:off x="4549" y="1737"/>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5" name="Line 123"/>
            <p:cNvSpPr/>
            <p:nvPr/>
          </p:nvSpPr>
          <p:spPr>
            <a:xfrm flipH="1">
              <a:off x="4521" y="1776"/>
              <a:ext cx="32" cy="235"/>
            </a:xfrm>
            <a:prstGeom prst="line">
              <a:avLst/>
            </a:prstGeom>
            <a:ln w="0" cap="flat" cmpd="sng">
              <a:solidFill>
                <a:srgbClr val="000000"/>
              </a:solidFill>
              <a:prstDash val="solid"/>
              <a:headEnd type="none" w="med" len="med"/>
              <a:tailEnd type="none" w="med" len="med"/>
            </a:ln>
          </p:spPr>
        </p:sp>
        <p:sp>
          <p:nvSpPr>
            <p:cNvPr id="17706" name="Line 124"/>
            <p:cNvSpPr/>
            <p:nvPr/>
          </p:nvSpPr>
          <p:spPr>
            <a:xfrm>
              <a:off x="4629" y="1773"/>
              <a:ext cx="33" cy="238"/>
            </a:xfrm>
            <a:prstGeom prst="line">
              <a:avLst/>
            </a:prstGeom>
            <a:ln w="0" cap="flat" cmpd="sng">
              <a:solidFill>
                <a:srgbClr val="000000"/>
              </a:solidFill>
              <a:prstDash val="solid"/>
              <a:headEnd type="none" w="med" len="med"/>
              <a:tailEnd type="none" w="med" len="med"/>
            </a:ln>
          </p:spPr>
        </p:sp>
        <p:sp>
          <p:nvSpPr>
            <p:cNvPr id="17707" name="Oval 125"/>
            <p:cNvSpPr/>
            <p:nvPr/>
          </p:nvSpPr>
          <p:spPr>
            <a:xfrm>
              <a:off x="4551" y="1757"/>
              <a:ext cx="83" cy="178"/>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8" name="Oval 126"/>
            <p:cNvSpPr/>
            <p:nvPr/>
          </p:nvSpPr>
          <p:spPr>
            <a:xfrm>
              <a:off x="4553" y="1792"/>
              <a:ext cx="73" cy="79"/>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9" name="Oval 127"/>
            <p:cNvSpPr/>
            <p:nvPr/>
          </p:nvSpPr>
          <p:spPr>
            <a:xfrm>
              <a:off x="4587" y="1801"/>
              <a:ext cx="47" cy="42"/>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2258355" name="Oval 435"/>
          <p:cNvSpPr/>
          <p:nvPr/>
        </p:nvSpPr>
        <p:spPr>
          <a:xfrm>
            <a:off x="6489700" y="2732088"/>
            <a:ext cx="969963" cy="1506537"/>
          </a:xfrm>
          <a:prstGeom prst="ellipse">
            <a:avLst/>
          </a:prstGeom>
          <a:noFill/>
          <a:ln w="0" cap="flat" cmpd="sng">
            <a:solidFill>
              <a:srgbClr val="FF6600"/>
            </a:solidFill>
            <a:prstDash val="dash"/>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356" name="AutoShape 436"/>
          <p:cNvSpPr/>
          <p:nvPr/>
        </p:nvSpPr>
        <p:spPr>
          <a:xfrm>
            <a:off x="6443663" y="3194050"/>
            <a:ext cx="1044575" cy="1058863"/>
          </a:xfrm>
          <a:prstGeom prst="roundRect">
            <a:avLst>
              <a:gd name="adj" fmla="val 13819"/>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7932" name="Text Box 12"/>
          <p:cNvSpPr txBox="1"/>
          <p:nvPr/>
        </p:nvSpPr>
        <p:spPr>
          <a:xfrm>
            <a:off x="503238" y="1665288"/>
            <a:ext cx="1512887" cy="588962"/>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例子：</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57933" name="Text Box 13"/>
          <p:cNvSpPr txBox="1"/>
          <p:nvPr/>
        </p:nvSpPr>
        <p:spPr>
          <a:xfrm>
            <a:off x="863600" y="3932238"/>
            <a:ext cx="4716463" cy="519112"/>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若以 </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 = 500Hz</a:t>
            </a:r>
            <a:r>
              <a:rPr lang="zh-CN" altLang="en-US" sz="2800" b="1" dirty="0">
                <a:solidFill>
                  <a:schemeClr val="tx1"/>
                </a:solidFill>
                <a:latin typeface="Times New Roman" panose="02020603050405020304" pitchFamily="18" charset="0"/>
                <a:ea typeface="黑体" panose="02010609060101010101" pitchFamily="49" charset="-122"/>
              </a:rPr>
              <a:t>进行采样，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7934" name="Text Box 14"/>
          <p:cNvSpPr txBox="1"/>
          <p:nvPr/>
        </p:nvSpPr>
        <p:spPr>
          <a:xfrm>
            <a:off x="863600" y="4575175"/>
            <a:ext cx="4410075" cy="1373188"/>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此时    </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ea typeface="黑体" panose="02010609060101010101" pitchFamily="49" charset="-122"/>
              </a:rPr>
              <a:t> &gt; 2×100Hz</a:t>
            </a:r>
            <a:endParaRPr lang="en-US" altLang="zh-CN" sz="2800" b="1">
              <a:solidFill>
                <a:schemeClr val="tx1"/>
              </a:solidFill>
              <a:latin typeface="Times New Roman" panose="02020603050405020304" pitchFamily="18" charset="0"/>
              <a:ea typeface="黑体" panose="02010609060101010101" pitchFamily="49" charset="-122"/>
            </a:endParaRPr>
          </a:p>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但        </a:t>
            </a:r>
            <a:r>
              <a:rPr lang="en-US" altLang="zh-CN" sz="2800" b="1" i="1" err="1">
                <a:solidFill>
                  <a:srgbClr val="FF0000"/>
                </a:solidFill>
                <a:latin typeface="Times New Roman" panose="02020603050405020304" pitchFamily="18" charset="0"/>
              </a:rPr>
              <a:t>f</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rPr>
              <a:t> &lt; 2×900Hz</a:t>
            </a:r>
            <a:endParaRPr lang="en-US" altLang="zh-CN" sz="2800" b="1">
              <a:solidFill>
                <a:srgbClr val="FF0000"/>
              </a:solidFill>
              <a:latin typeface="Times New Roman" panose="02020603050405020304" pitchFamily="18" charset="0"/>
            </a:endParaRPr>
          </a:p>
          <a:p>
            <a:pPr algn="l" eaLnBrk="1" hangingPunct="1"/>
            <a:r>
              <a:rPr lang="en-US" altLang="zh-CN" sz="2800" b="1" i="1">
                <a:solidFill>
                  <a:srgbClr val="FF0000"/>
                </a:solidFill>
                <a:latin typeface="Times New Roman" panose="02020603050405020304" pitchFamily="18" charset="0"/>
              </a:rPr>
              <a:t>            </a:t>
            </a:r>
            <a:r>
              <a:rPr lang="en-US" altLang="zh-CN" sz="2800" b="1" i="1" err="1">
                <a:solidFill>
                  <a:srgbClr val="FF0000"/>
                </a:solidFill>
                <a:latin typeface="Times New Roman" panose="02020603050405020304" pitchFamily="18" charset="0"/>
              </a:rPr>
              <a:t>f</a:t>
            </a:r>
            <a:r>
              <a:rPr lang="en-US" altLang="zh-CN" sz="2800" b="1" baseline="-25000" err="1">
                <a:solidFill>
                  <a:srgbClr val="FF0000"/>
                </a:solidFill>
                <a:latin typeface="Times New Roman" panose="02020603050405020304" pitchFamily="18" charset="0"/>
                <a:ea typeface="黑体" panose="02010609060101010101" pitchFamily="49" charset="-122"/>
              </a:rPr>
              <a:t>S</a:t>
            </a:r>
            <a:r>
              <a:rPr lang="en-US" altLang="zh-CN" sz="2800" b="1">
                <a:solidFill>
                  <a:srgbClr val="FF0000"/>
                </a:solidFill>
                <a:latin typeface="Times New Roman" panose="02020603050405020304" pitchFamily="18" charset="0"/>
              </a:rPr>
              <a:t> &lt; 2×400Hz</a:t>
            </a:r>
            <a:endParaRPr lang="en-US" altLang="zh-CN" sz="2800" b="1">
              <a:solidFill>
                <a:srgbClr val="FF0000"/>
              </a:solidFill>
              <a:latin typeface="Times New Roman" panose="02020603050405020304" pitchFamily="18" charset="0"/>
            </a:endParaRPr>
          </a:p>
        </p:txBody>
      </p:sp>
      <p:sp>
        <p:nvSpPr>
          <p:cNvPr id="2257942" name="Text Box 2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7943" name="Text Box 23"/>
          <p:cNvSpPr txBox="1">
            <a:spLocks noChangeArrowheads="1"/>
          </p:cNvSpPr>
          <p:nvPr/>
        </p:nvSpPr>
        <p:spPr bwMode="auto">
          <a:xfrm>
            <a:off x="1258888" y="115888"/>
            <a:ext cx="70993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频率混淆与消除频混的措施</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17427" name="Text Box 24"/>
          <p:cNvSpPr txBox="1"/>
          <p:nvPr/>
        </p:nvSpPr>
        <p:spPr>
          <a:xfrm>
            <a:off x="358775" y="908050"/>
            <a:ext cx="38179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2.4.1 </a:t>
            </a:r>
            <a:r>
              <a:rPr lang="zh-CN" altLang="en-US" sz="3200" b="1" dirty="0">
                <a:solidFill>
                  <a:srgbClr val="333399"/>
                </a:solidFill>
                <a:latin typeface="楷体_GB2312" pitchFamily="49" charset="-122"/>
              </a:rPr>
              <a:t>频混的产生</a:t>
            </a:r>
            <a:endParaRPr lang="zh-CN" altLang="en-US" sz="3200" b="1" dirty="0">
              <a:solidFill>
                <a:srgbClr val="333399"/>
              </a:solidFill>
              <a:latin typeface="楷体_GB2312" pitchFamily="49" charset="-122"/>
            </a:endParaRPr>
          </a:p>
        </p:txBody>
      </p:sp>
      <p:grpSp>
        <p:nvGrpSpPr>
          <p:cNvPr id="2258369" name="Group 449"/>
          <p:cNvGrpSpPr/>
          <p:nvPr/>
        </p:nvGrpSpPr>
        <p:grpSpPr>
          <a:xfrm>
            <a:off x="6432550" y="3709988"/>
            <a:ext cx="1922463" cy="2128837"/>
            <a:chOff x="4052" y="2337"/>
            <a:chExt cx="1211" cy="1341"/>
          </a:xfrm>
        </p:grpSpPr>
        <p:sp>
          <p:nvSpPr>
            <p:cNvPr id="17700" name="Oval 28"/>
            <p:cNvSpPr/>
            <p:nvPr/>
          </p:nvSpPr>
          <p:spPr>
            <a:xfrm>
              <a:off x="4640" y="2350"/>
              <a:ext cx="611" cy="94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1" name="AutoShape 29"/>
            <p:cNvSpPr/>
            <p:nvPr/>
          </p:nvSpPr>
          <p:spPr>
            <a:xfrm>
              <a:off x="4636" y="2337"/>
              <a:ext cx="627" cy="665"/>
            </a:xfrm>
            <a:prstGeom prst="roundRect">
              <a:avLst>
                <a:gd name="adj" fmla="val 13898"/>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2" name="Oval 32"/>
            <p:cNvSpPr/>
            <p:nvPr/>
          </p:nvSpPr>
          <p:spPr>
            <a:xfrm>
              <a:off x="4081" y="2720"/>
              <a:ext cx="611" cy="94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703" name="AutoShape 33"/>
            <p:cNvSpPr/>
            <p:nvPr/>
          </p:nvSpPr>
          <p:spPr>
            <a:xfrm>
              <a:off x="4052" y="3011"/>
              <a:ext cx="630" cy="667"/>
            </a:xfrm>
            <a:prstGeom prst="roundRect">
              <a:avLst>
                <a:gd name="adj" fmla="val 13819"/>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429" name="Rectangle 34"/>
          <p:cNvSpPr/>
          <p:nvPr/>
        </p:nvSpPr>
        <p:spPr>
          <a:xfrm>
            <a:off x="7412038" y="4926013"/>
            <a:ext cx="44450" cy="2857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0" name="Rectangle 35"/>
          <p:cNvSpPr/>
          <p:nvPr/>
        </p:nvSpPr>
        <p:spPr>
          <a:xfrm>
            <a:off x="7354888" y="4344988"/>
            <a:ext cx="44450" cy="2857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1" name="Oval 36"/>
          <p:cNvSpPr/>
          <p:nvPr/>
        </p:nvSpPr>
        <p:spPr>
          <a:xfrm>
            <a:off x="7204075" y="4768850"/>
            <a:ext cx="228600" cy="258763"/>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2" name="Rectangle 45"/>
          <p:cNvSpPr/>
          <p:nvPr/>
        </p:nvSpPr>
        <p:spPr>
          <a:xfrm>
            <a:off x="8196263" y="1695450"/>
            <a:ext cx="61912" cy="2857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3" name="Rectangle 59"/>
          <p:cNvSpPr/>
          <p:nvPr/>
        </p:nvSpPr>
        <p:spPr>
          <a:xfrm>
            <a:off x="7974013" y="2767013"/>
            <a:ext cx="214312" cy="373062"/>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4" name="Rectangle 60"/>
          <p:cNvSpPr/>
          <p:nvPr/>
        </p:nvSpPr>
        <p:spPr>
          <a:xfrm>
            <a:off x="6686550" y="2906713"/>
            <a:ext cx="57150" cy="21113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7983" name="Line 63"/>
          <p:cNvSpPr/>
          <p:nvPr/>
        </p:nvSpPr>
        <p:spPr>
          <a:xfrm>
            <a:off x="7585075" y="974725"/>
            <a:ext cx="1588" cy="4340225"/>
          </a:xfrm>
          <a:prstGeom prst="line">
            <a:avLst/>
          </a:prstGeom>
          <a:ln w="0" cap="flat" cmpd="sng">
            <a:solidFill>
              <a:srgbClr val="3366FF"/>
            </a:solidFill>
            <a:prstDash val="solid"/>
            <a:headEnd type="none" w="med" len="med"/>
            <a:tailEnd type="none" w="med" len="med"/>
          </a:ln>
        </p:spPr>
      </p:sp>
      <p:sp>
        <p:nvSpPr>
          <p:cNvPr id="17436" name="Rectangle 93"/>
          <p:cNvSpPr/>
          <p:nvPr/>
        </p:nvSpPr>
        <p:spPr>
          <a:xfrm>
            <a:off x="8037513" y="3036888"/>
            <a:ext cx="25400" cy="11430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7" name="Rectangle 94"/>
          <p:cNvSpPr/>
          <p:nvPr/>
        </p:nvSpPr>
        <p:spPr>
          <a:xfrm>
            <a:off x="7591425" y="3063875"/>
            <a:ext cx="22225" cy="825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8" name="Rectangle 95"/>
          <p:cNvSpPr/>
          <p:nvPr/>
        </p:nvSpPr>
        <p:spPr>
          <a:xfrm>
            <a:off x="7185025" y="3224213"/>
            <a:ext cx="14288" cy="7620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39" name="Rectangle 97"/>
          <p:cNvSpPr/>
          <p:nvPr/>
        </p:nvSpPr>
        <p:spPr>
          <a:xfrm>
            <a:off x="6748463" y="3219450"/>
            <a:ext cx="19050" cy="8572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40" name="Rectangle 98"/>
          <p:cNvSpPr/>
          <p:nvPr/>
        </p:nvSpPr>
        <p:spPr>
          <a:xfrm>
            <a:off x="6718300" y="3108325"/>
            <a:ext cx="25400" cy="4762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41" name="Rectangle 99"/>
          <p:cNvSpPr/>
          <p:nvPr/>
        </p:nvSpPr>
        <p:spPr>
          <a:xfrm>
            <a:off x="6516688" y="3046413"/>
            <a:ext cx="12700" cy="106362"/>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42" name="Oval 101"/>
          <p:cNvSpPr/>
          <p:nvPr/>
        </p:nvSpPr>
        <p:spPr>
          <a:xfrm>
            <a:off x="7408863" y="5175250"/>
            <a:ext cx="60325" cy="114300"/>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43" name="Oval 102"/>
          <p:cNvSpPr/>
          <p:nvPr/>
        </p:nvSpPr>
        <p:spPr>
          <a:xfrm>
            <a:off x="7366000" y="4833938"/>
            <a:ext cx="76200" cy="239712"/>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2258055" name="Group 135"/>
          <p:cNvGrpSpPr/>
          <p:nvPr/>
        </p:nvGrpSpPr>
        <p:grpSpPr>
          <a:xfrm>
            <a:off x="7399338" y="3187700"/>
            <a:ext cx="225425" cy="446088"/>
            <a:chOff x="4662" y="2008"/>
            <a:chExt cx="141" cy="281"/>
          </a:xfrm>
        </p:grpSpPr>
        <p:sp>
          <p:nvSpPr>
            <p:cNvPr id="17694" name="Oval 129"/>
            <p:cNvSpPr/>
            <p:nvPr/>
          </p:nvSpPr>
          <p:spPr>
            <a:xfrm>
              <a:off x="4692" y="2152"/>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95" name="Line 130"/>
            <p:cNvSpPr/>
            <p:nvPr/>
          </p:nvSpPr>
          <p:spPr>
            <a:xfrm flipV="1">
              <a:off x="4771" y="2008"/>
              <a:ext cx="32" cy="244"/>
            </a:xfrm>
            <a:prstGeom prst="line">
              <a:avLst/>
            </a:prstGeom>
            <a:ln w="0" cap="flat" cmpd="sng">
              <a:solidFill>
                <a:srgbClr val="000000"/>
              </a:solidFill>
              <a:prstDash val="solid"/>
              <a:headEnd type="none" w="med" len="med"/>
              <a:tailEnd type="none" w="med" len="med"/>
            </a:ln>
          </p:spPr>
        </p:sp>
        <p:sp>
          <p:nvSpPr>
            <p:cNvPr id="17696" name="Line 131"/>
            <p:cNvSpPr/>
            <p:nvPr/>
          </p:nvSpPr>
          <p:spPr>
            <a:xfrm flipH="1" flipV="1">
              <a:off x="4662" y="2008"/>
              <a:ext cx="32" cy="244"/>
            </a:xfrm>
            <a:prstGeom prst="line">
              <a:avLst/>
            </a:prstGeom>
            <a:ln w="0" cap="flat" cmpd="sng">
              <a:solidFill>
                <a:srgbClr val="000000"/>
              </a:solidFill>
              <a:prstDash val="solid"/>
              <a:headEnd type="none" w="med" len="med"/>
              <a:tailEnd type="none" w="med" len="med"/>
            </a:ln>
          </p:spPr>
        </p:sp>
        <p:sp>
          <p:nvSpPr>
            <p:cNvPr id="17697" name="Oval 132"/>
            <p:cNvSpPr/>
            <p:nvPr/>
          </p:nvSpPr>
          <p:spPr>
            <a:xfrm>
              <a:off x="4694" y="2088"/>
              <a:ext cx="81" cy="186"/>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98" name="Oval 133"/>
            <p:cNvSpPr/>
            <p:nvPr/>
          </p:nvSpPr>
          <p:spPr>
            <a:xfrm>
              <a:off x="4691" y="2179"/>
              <a:ext cx="51" cy="51"/>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99" name="Oval 134"/>
            <p:cNvSpPr/>
            <p:nvPr/>
          </p:nvSpPr>
          <p:spPr>
            <a:xfrm>
              <a:off x="4731" y="2173"/>
              <a:ext cx="47" cy="45"/>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34" name="Group 114"/>
          <p:cNvGrpSpPr/>
          <p:nvPr/>
        </p:nvGrpSpPr>
        <p:grpSpPr>
          <a:xfrm>
            <a:off x="6951663" y="3187700"/>
            <a:ext cx="223837" cy="446088"/>
            <a:chOff x="4379" y="2008"/>
            <a:chExt cx="141" cy="281"/>
          </a:xfrm>
        </p:grpSpPr>
        <p:sp>
          <p:nvSpPr>
            <p:cNvPr id="17688" name="Oval 108"/>
            <p:cNvSpPr/>
            <p:nvPr/>
          </p:nvSpPr>
          <p:spPr>
            <a:xfrm>
              <a:off x="4409" y="2152"/>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9" name="Line 109"/>
            <p:cNvSpPr/>
            <p:nvPr/>
          </p:nvSpPr>
          <p:spPr>
            <a:xfrm flipV="1">
              <a:off x="4488" y="2008"/>
              <a:ext cx="32" cy="244"/>
            </a:xfrm>
            <a:prstGeom prst="line">
              <a:avLst/>
            </a:prstGeom>
            <a:ln w="0" cap="flat" cmpd="sng">
              <a:solidFill>
                <a:srgbClr val="000000"/>
              </a:solidFill>
              <a:prstDash val="solid"/>
              <a:headEnd type="none" w="med" len="med"/>
              <a:tailEnd type="none" w="med" len="med"/>
            </a:ln>
          </p:spPr>
        </p:sp>
        <p:sp>
          <p:nvSpPr>
            <p:cNvPr id="17690" name="Line 110"/>
            <p:cNvSpPr/>
            <p:nvPr/>
          </p:nvSpPr>
          <p:spPr>
            <a:xfrm flipH="1" flipV="1">
              <a:off x="4379" y="2008"/>
              <a:ext cx="32" cy="244"/>
            </a:xfrm>
            <a:prstGeom prst="line">
              <a:avLst/>
            </a:prstGeom>
            <a:ln w="0" cap="flat" cmpd="sng">
              <a:solidFill>
                <a:srgbClr val="000000"/>
              </a:solidFill>
              <a:prstDash val="solid"/>
              <a:headEnd type="none" w="med" len="med"/>
              <a:tailEnd type="none" w="med" len="med"/>
            </a:ln>
          </p:spPr>
        </p:sp>
        <p:sp>
          <p:nvSpPr>
            <p:cNvPr id="17691" name="Oval 111"/>
            <p:cNvSpPr/>
            <p:nvPr/>
          </p:nvSpPr>
          <p:spPr>
            <a:xfrm>
              <a:off x="4411" y="2088"/>
              <a:ext cx="81" cy="186"/>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92" name="Oval 112"/>
            <p:cNvSpPr/>
            <p:nvPr/>
          </p:nvSpPr>
          <p:spPr>
            <a:xfrm>
              <a:off x="4408" y="2179"/>
              <a:ext cx="51" cy="51"/>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93" name="Oval 113"/>
            <p:cNvSpPr/>
            <p:nvPr/>
          </p:nvSpPr>
          <p:spPr>
            <a:xfrm>
              <a:off x="4448" y="2173"/>
              <a:ext cx="47" cy="45"/>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41" name="Group 121"/>
          <p:cNvGrpSpPr/>
          <p:nvPr/>
        </p:nvGrpSpPr>
        <p:grpSpPr>
          <a:xfrm>
            <a:off x="6726238" y="2757488"/>
            <a:ext cx="223837" cy="434975"/>
            <a:chOff x="4237" y="1737"/>
            <a:chExt cx="141" cy="274"/>
          </a:xfrm>
        </p:grpSpPr>
        <p:sp>
          <p:nvSpPr>
            <p:cNvPr id="17682" name="Oval 115"/>
            <p:cNvSpPr/>
            <p:nvPr/>
          </p:nvSpPr>
          <p:spPr>
            <a:xfrm>
              <a:off x="4265" y="1737"/>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3" name="Line 116"/>
            <p:cNvSpPr/>
            <p:nvPr/>
          </p:nvSpPr>
          <p:spPr>
            <a:xfrm flipH="1">
              <a:off x="4237" y="1776"/>
              <a:ext cx="32" cy="235"/>
            </a:xfrm>
            <a:prstGeom prst="line">
              <a:avLst/>
            </a:prstGeom>
            <a:ln w="0" cap="flat" cmpd="sng">
              <a:solidFill>
                <a:srgbClr val="000000"/>
              </a:solidFill>
              <a:prstDash val="solid"/>
              <a:headEnd type="none" w="med" len="med"/>
              <a:tailEnd type="none" w="med" len="med"/>
            </a:ln>
          </p:spPr>
        </p:sp>
        <p:sp>
          <p:nvSpPr>
            <p:cNvPr id="17684" name="Line 117"/>
            <p:cNvSpPr/>
            <p:nvPr/>
          </p:nvSpPr>
          <p:spPr>
            <a:xfrm>
              <a:off x="4345" y="1773"/>
              <a:ext cx="33" cy="238"/>
            </a:xfrm>
            <a:prstGeom prst="line">
              <a:avLst/>
            </a:prstGeom>
            <a:ln w="0" cap="flat" cmpd="sng">
              <a:solidFill>
                <a:srgbClr val="000000"/>
              </a:solidFill>
              <a:prstDash val="solid"/>
              <a:headEnd type="none" w="med" len="med"/>
              <a:tailEnd type="none" w="med" len="med"/>
            </a:ln>
          </p:spPr>
        </p:sp>
        <p:sp>
          <p:nvSpPr>
            <p:cNvPr id="17685" name="Oval 118"/>
            <p:cNvSpPr/>
            <p:nvPr/>
          </p:nvSpPr>
          <p:spPr>
            <a:xfrm>
              <a:off x="4266" y="1757"/>
              <a:ext cx="84" cy="178"/>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6" name="Oval 119"/>
            <p:cNvSpPr/>
            <p:nvPr/>
          </p:nvSpPr>
          <p:spPr>
            <a:xfrm>
              <a:off x="4269" y="1792"/>
              <a:ext cx="72" cy="79"/>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7" name="Oval 120"/>
            <p:cNvSpPr/>
            <p:nvPr/>
          </p:nvSpPr>
          <p:spPr>
            <a:xfrm>
              <a:off x="4303" y="1801"/>
              <a:ext cx="47" cy="42"/>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62" name="Group 142"/>
          <p:cNvGrpSpPr/>
          <p:nvPr/>
        </p:nvGrpSpPr>
        <p:grpSpPr>
          <a:xfrm>
            <a:off x="7627938" y="2752725"/>
            <a:ext cx="222250" cy="434975"/>
            <a:chOff x="4805" y="1734"/>
            <a:chExt cx="140" cy="274"/>
          </a:xfrm>
        </p:grpSpPr>
        <p:sp>
          <p:nvSpPr>
            <p:cNvPr id="17676" name="Oval 136"/>
            <p:cNvSpPr/>
            <p:nvPr/>
          </p:nvSpPr>
          <p:spPr>
            <a:xfrm>
              <a:off x="4832" y="1734"/>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77" name="Line 137"/>
            <p:cNvSpPr/>
            <p:nvPr/>
          </p:nvSpPr>
          <p:spPr>
            <a:xfrm flipH="1">
              <a:off x="4805" y="1772"/>
              <a:ext cx="31" cy="236"/>
            </a:xfrm>
            <a:prstGeom prst="line">
              <a:avLst/>
            </a:prstGeom>
            <a:ln w="0" cap="flat" cmpd="sng">
              <a:solidFill>
                <a:srgbClr val="000000"/>
              </a:solidFill>
              <a:prstDash val="solid"/>
              <a:headEnd type="none" w="med" len="med"/>
              <a:tailEnd type="none" w="med" len="med"/>
            </a:ln>
          </p:spPr>
        </p:sp>
        <p:sp>
          <p:nvSpPr>
            <p:cNvPr id="17678" name="Line 138"/>
            <p:cNvSpPr/>
            <p:nvPr/>
          </p:nvSpPr>
          <p:spPr>
            <a:xfrm>
              <a:off x="4912" y="1770"/>
              <a:ext cx="33" cy="238"/>
            </a:xfrm>
            <a:prstGeom prst="line">
              <a:avLst/>
            </a:prstGeom>
            <a:ln w="0" cap="flat" cmpd="sng">
              <a:solidFill>
                <a:srgbClr val="000000"/>
              </a:solidFill>
              <a:prstDash val="solid"/>
              <a:headEnd type="none" w="med" len="med"/>
              <a:tailEnd type="none" w="med" len="med"/>
            </a:ln>
          </p:spPr>
        </p:sp>
        <p:sp>
          <p:nvSpPr>
            <p:cNvPr id="17679" name="Oval 139"/>
            <p:cNvSpPr/>
            <p:nvPr/>
          </p:nvSpPr>
          <p:spPr>
            <a:xfrm>
              <a:off x="4834" y="1753"/>
              <a:ext cx="83" cy="178"/>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0" name="Oval 140"/>
            <p:cNvSpPr/>
            <p:nvPr/>
          </p:nvSpPr>
          <p:spPr>
            <a:xfrm>
              <a:off x="4836" y="1788"/>
              <a:ext cx="73" cy="79"/>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81" name="Oval 141"/>
            <p:cNvSpPr/>
            <p:nvPr/>
          </p:nvSpPr>
          <p:spPr>
            <a:xfrm>
              <a:off x="4870" y="1798"/>
              <a:ext cx="47" cy="41"/>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69" name="Group 149"/>
          <p:cNvGrpSpPr/>
          <p:nvPr/>
        </p:nvGrpSpPr>
        <p:grpSpPr>
          <a:xfrm>
            <a:off x="7851775" y="3189288"/>
            <a:ext cx="225425" cy="446087"/>
            <a:chOff x="4946" y="2009"/>
            <a:chExt cx="142" cy="281"/>
          </a:xfrm>
        </p:grpSpPr>
        <p:sp>
          <p:nvSpPr>
            <p:cNvPr id="17670" name="Oval 143"/>
            <p:cNvSpPr/>
            <p:nvPr/>
          </p:nvSpPr>
          <p:spPr>
            <a:xfrm>
              <a:off x="4976" y="2153"/>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71" name="Line 144"/>
            <p:cNvSpPr/>
            <p:nvPr/>
          </p:nvSpPr>
          <p:spPr>
            <a:xfrm flipV="1">
              <a:off x="5055" y="2009"/>
              <a:ext cx="33" cy="244"/>
            </a:xfrm>
            <a:prstGeom prst="line">
              <a:avLst/>
            </a:prstGeom>
            <a:ln w="0" cap="flat" cmpd="sng">
              <a:solidFill>
                <a:srgbClr val="000000"/>
              </a:solidFill>
              <a:prstDash val="solid"/>
              <a:headEnd type="none" w="med" len="med"/>
              <a:tailEnd type="none" w="med" len="med"/>
            </a:ln>
          </p:spPr>
        </p:sp>
        <p:sp>
          <p:nvSpPr>
            <p:cNvPr id="17672" name="Line 145"/>
            <p:cNvSpPr/>
            <p:nvPr/>
          </p:nvSpPr>
          <p:spPr>
            <a:xfrm flipH="1" flipV="1">
              <a:off x="4946" y="2009"/>
              <a:ext cx="33" cy="244"/>
            </a:xfrm>
            <a:prstGeom prst="line">
              <a:avLst/>
            </a:prstGeom>
            <a:ln w="0" cap="flat" cmpd="sng">
              <a:solidFill>
                <a:srgbClr val="000000"/>
              </a:solidFill>
              <a:prstDash val="solid"/>
              <a:headEnd type="none" w="med" len="med"/>
              <a:tailEnd type="none" w="med" len="med"/>
            </a:ln>
          </p:spPr>
        </p:sp>
        <p:sp>
          <p:nvSpPr>
            <p:cNvPr id="17673" name="Oval 146"/>
            <p:cNvSpPr/>
            <p:nvPr/>
          </p:nvSpPr>
          <p:spPr>
            <a:xfrm>
              <a:off x="4979" y="2089"/>
              <a:ext cx="81" cy="186"/>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74" name="Oval 147"/>
            <p:cNvSpPr/>
            <p:nvPr/>
          </p:nvSpPr>
          <p:spPr>
            <a:xfrm>
              <a:off x="4975" y="2180"/>
              <a:ext cx="51" cy="51"/>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75" name="Oval 148"/>
            <p:cNvSpPr/>
            <p:nvPr/>
          </p:nvSpPr>
          <p:spPr>
            <a:xfrm>
              <a:off x="5015" y="2174"/>
              <a:ext cx="47" cy="46"/>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76" name="Group 156"/>
          <p:cNvGrpSpPr/>
          <p:nvPr/>
        </p:nvGrpSpPr>
        <p:grpSpPr>
          <a:xfrm>
            <a:off x="8077200" y="2754313"/>
            <a:ext cx="222250" cy="434975"/>
            <a:chOff x="5088" y="1735"/>
            <a:chExt cx="140" cy="274"/>
          </a:xfrm>
        </p:grpSpPr>
        <p:sp>
          <p:nvSpPr>
            <p:cNvPr id="17664" name="Oval 150"/>
            <p:cNvSpPr/>
            <p:nvPr/>
          </p:nvSpPr>
          <p:spPr>
            <a:xfrm>
              <a:off x="5115" y="1735"/>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65" name="Line 151"/>
            <p:cNvSpPr/>
            <p:nvPr/>
          </p:nvSpPr>
          <p:spPr>
            <a:xfrm flipH="1">
              <a:off x="5088" y="1773"/>
              <a:ext cx="31" cy="236"/>
            </a:xfrm>
            <a:prstGeom prst="line">
              <a:avLst/>
            </a:prstGeom>
            <a:ln w="0" cap="flat" cmpd="sng">
              <a:solidFill>
                <a:srgbClr val="000000"/>
              </a:solidFill>
              <a:prstDash val="solid"/>
              <a:headEnd type="none" w="med" len="med"/>
              <a:tailEnd type="none" w="med" len="med"/>
            </a:ln>
          </p:spPr>
        </p:sp>
        <p:sp>
          <p:nvSpPr>
            <p:cNvPr id="17666" name="Line 152"/>
            <p:cNvSpPr/>
            <p:nvPr/>
          </p:nvSpPr>
          <p:spPr>
            <a:xfrm>
              <a:off x="5195" y="1771"/>
              <a:ext cx="33" cy="238"/>
            </a:xfrm>
            <a:prstGeom prst="line">
              <a:avLst/>
            </a:prstGeom>
            <a:ln w="0" cap="flat" cmpd="sng">
              <a:solidFill>
                <a:srgbClr val="000000"/>
              </a:solidFill>
              <a:prstDash val="solid"/>
              <a:headEnd type="none" w="med" len="med"/>
              <a:tailEnd type="none" w="med" len="med"/>
            </a:ln>
          </p:spPr>
        </p:sp>
        <p:sp>
          <p:nvSpPr>
            <p:cNvPr id="17667" name="Oval 153"/>
            <p:cNvSpPr/>
            <p:nvPr/>
          </p:nvSpPr>
          <p:spPr>
            <a:xfrm>
              <a:off x="5117" y="1755"/>
              <a:ext cx="83" cy="177"/>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68" name="Oval 154"/>
            <p:cNvSpPr/>
            <p:nvPr/>
          </p:nvSpPr>
          <p:spPr>
            <a:xfrm>
              <a:off x="5119" y="1789"/>
              <a:ext cx="73" cy="80"/>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69" name="Oval 155"/>
            <p:cNvSpPr/>
            <p:nvPr/>
          </p:nvSpPr>
          <p:spPr>
            <a:xfrm>
              <a:off x="5153" y="1799"/>
              <a:ext cx="47" cy="42"/>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083" name="Group 163"/>
          <p:cNvGrpSpPr/>
          <p:nvPr/>
        </p:nvGrpSpPr>
        <p:grpSpPr>
          <a:xfrm>
            <a:off x="6508750" y="3184525"/>
            <a:ext cx="219075" cy="449263"/>
            <a:chOff x="4103" y="2006"/>
            <a:chExt cx="138" cy="283"/>
          </a:xfrm>
        </p:grpSpPr>
        <p:sp>
          <p:nvSpPr>
            <p:cNvPr id="17658" name="Oval 157"/>
            <p:cNvSpPr/>
            <p:nvPr/>
          </p:nvSpPr>
          <p:spPr>
            <a:xfrm>
              <a:off x="4133" y="2152"/>
              <a:ext cx="86" cy="137"/>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59" name="Line 158"/>
            <p:cNvSpPr/>
            <p:nvPr/>
          </p:nvSpPr>
          <p:spPr>
            <a:xfrm flipV="1">
              <a:off x="4212" y="2006"/>
              <a:ext cx="29" cy="246"/>
            </a:xfrm>
            <a:prstGeom prst="line">
              <a:avLst/>
            </a:prstGeom>
            <a:ln w="0" cap="flat" cmpd="sng">
              <a:solidFill>
                <a:srgbClr val="000000"/>
              </a:solidFill>
              <a:prstDash val="solid"/>
              <a:headEnd type="none" w="med" len="med"/>
              <a:tailEnd type="none" w="med" len="med"/>
            </a:ln>
          </p:spPr>
        </p:sp>
        <p:sp>
          <p:nvSpPr>
            <p:cNvPr id="17660" name="Line 159"/>
            <p:cNvSpPr/>
            <p:nvPr/>
          </p:nvSpPr>
          <p:spPr>
            <a:xfrm flipH="1" flipV="1">
              <a:off x="4103" y="2008"/>
              <a:ext cx="33" cy="244"/>
            </a:xfrm>
            <a:prstGeom prst="line">
              <a:avLst/>
            </a:prstGeom>
            <a:ln w="0" cap="flat" cmpd="sng">
              <a:solidFill>
                <a:srgbClr val="000000"/>
              </a:solidFill>
              <a:prstDash val="solid"/>
              <a:headEnd type="none" w="med" len="med"/>
              <a:tailEnd type="none" w="med" len="med"/>
            </a:ln>
          </p:spPr>
        </p:sp>
        <p:sp>
          <p:nvSpPr>
            <p:cNvPr id="17661" name="Oval 160"/>
            <p:cNvSpPr/>
            <p:nvPr/>
          </p:nvSpPr>
          <p:spPr>
            <a:xfrm>
              <a:off x="4136" y="2088"/>
              <a:ext cx="81" cy="186"/>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62" name="Oval 161"/>
            <p:cNvSpPr/>
            <p:nvPr/>
          </p:nvSpPr>
          <p:spPr>
            <a:xfrm>
              <a:off x="4132" y="2179"/>
              <a:ext cx="51" cy="51"/>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63" name="Oval 162"/>
            <p:cNvSpPr/>
            <p:nvPr/>
          </p:nvSpPr>
          <p:spPr>
            <a:xfrm>
              <a:off x="4172" y="2173"/>
              <a:ext cx="47" cy="45"/>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451" name="Rectangle 313"/>
          <p:cNvSpPr/>
          <p:nvPr/>
        </p:nvSpPr>
        <p:spPr>
          <a:xfrm>
            <a:off x="7423150" y="3254375"/>
            <a:ext cx="41275" cy="55563"/>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52" name="Rectangle 315"/>
          <p:cNvSpPr/>
          <p:nvPr/>
        </p:nvSpPr>
        <p:spPr>
          <a:xfrm>
            <a:off x="7343775" y="3082925"/>
            <a:ext cx="39688" cy="55563"/>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248" name="Rectangle 328"/>
          <p:cNvSpPr/>
          <p:nvPr/>
        </p:nvSpPr>
        <p:spPr>
          <a:xfrm>
            <a:off x="7910513" y="3516313"/>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49" name="Rectangle 329"/>
          <p:cNvSpPr/>
          <p:nvPr/>
        </p:nvSpPr>
        <p:spPr>
          <a:xfrm>
            <a:off x="7540625" y="3403600"/>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0" name="Rectangle 330"/>
          <p:cNvSpPr/>
          <p:nvPr/>
        </p:nvSpPr>
        <p:spPr>
          <a:xfrm>
            <a:off x="6804025" y="2641600"/>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1" name="Rectangle 331"/>
          <p:cNvSpPr/>
          <p:nvPr/>
        </p:nvSpPr>
        <p:spPr>
          <a:xfrm>
            <a:off x="7177088" y="2728913"/>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2" name="Rectangle 332"/>
          <p:cNvSpPr/>
          <p:nvPr/>
        </p:nvSpPr>
        <p:spPr>
          <a:xfrm>
            <a:off x="8250238" y="1557338"/>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3" name="Rectangle 333"/>
          <p:cNvSpPr/>
          <p:nvPr/>
        </p:nvSpPr>
        <p:spPr>
          <a:xfrm>
            <a:off x="7910513" y="2000250"/>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5" name="Rectangle 335"/>
          <p:cNvSpPr/>
          <p:nvPr/>
        </p:nvSpPr>
        <p:spPr>
          <a:xfrm>
            <a:off x="7173913" y="1203325"/>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6" name="Rectangle 336"/>
          <p:cNvSpPr/>
          <p:nvPr/>
        </p:nvSpPr>
        <p:spPr>
          <a:xfrm>
            <a:off x="6804025" y="1119188"/>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b="1">
              <a:solidFill>
                <a:srgbClr val="CC00CC"/>
              </a:solidFill>
              <a:latin typeface="楷体_GB2312" pitchFamily="49" charset="-122"/>
            </a:endParaRPr>
          </a:p>
        </p:txBody>
      </p:sp>
      <p:sp>
        <p:nvSpPr>
          <p:cNvPr id="2258258" name="Rectangle 338"/>
          <p:cNvSpPr/>
          <p:nvPr/>
        </p:nvSpPr>
        <p:spPr>
          <a:xfrm>
            <a:off x="7913688" y="5103813"/>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9" name="Rectangle 339"/>
          <p:cNvSpPr/>
          <p:nvPr/>
        </p:nvSpPr>
        <p:spPr>
          <a:xfrm>
            <a:off x="7543800" y="4999038"/>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60" name="Rectangle 340"/>
          <p:cNvSpPr/>
          <p:nvPr/>
        </p:nvSpPr>
        <p:spPr>
          <a:xfrm>
            <a:off x="7177088" y="4316413"/>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61" name="Rectangle 341"/>
          <p:cNvSpPr/>
          <p:nvPr/>
        </p:nvSpPr>
        <p:spPr>
          <a:xfrm>
            <a:off x="6804025" y="4224338"/>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62" name="Rectangle 342"/>
          <p:cNvSpPr/>
          <p:nvPr/>
        </p:nvSpPr>
        <p:spPr>
          <a:xfrm>
            <a:off x="8775700" y="1573213"/>
            <a:ext cx="49213"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263" name="Rectangle 343"/>
          <p:cNvSpPr/>
          <p:nvPr/>
        </p:nvSpPr>
        <p:spPr>
          <a:xfrm>
            <a:off x="8786813" y="3089275"/>
            <a:ext cx="49212"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264" name="Rectangle 344"/>
          <p:cNvSpPr/>
          <p:nvPr/>
        </p:nvSpPr>
        <p:spPr>
          <a:xfrm>
            <a:off x="8769350" y="4673600"/>
            <a:ext cx="49213"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265" name="Rectangle 345"/>
          <p:cNvSpPr/>
          <p:nvPr/>
        </p:nvSpPr>
        <p:spPr>
          <a:xfrm>
            <a:off x="6175375" y="3935413"/>
            <a:ext cx="79375"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x</a:t>
            </a:r>
            <a:endParaRPr lang="en-US" altLang="zh-CN" b="1">
              <a:solidFill>
                <a:srgbClr val="333399"/>
              </a:solidFill>
              <a:latin typeface="楷体_GB2312" pitchFamily="49" charset="-122"/>
            </a:endParaRPr>
          </a:p>
        </p:txBody>
      </p:sp>
      <p:sp>
        <p:nvSpPr>
          <p:cNvPr id="2258266" name="Rectangle 346"/>
          <p:cNvSpPr/>
          <p:nvPr/>
        </p:nvSpPr>
        <p:spPr>
          <a:xfrm>
            <a:off x="6270625" y="3975100"/>
            <a:ext cx="161925" cy="136525"/>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   )</a:t>
            </a:r>
            <a:endParaRPr lang="en-US" altLang="zh-CN" b="1">
              <a:solidFill>
                <a:srgbClr val="333399"/>
              </a:solidFill>
              <a:latin typeface="楷体_GB2312" pitchFamily="49" charset="-122"/>
            </a:endParaRPr>
          </a:p>
        </p:txBody>
      </p:sp>
      <p:sp>
        <p:nvSpPr>
          <p:cNvPr id="2258267" name="Rectangle 347"/>
          <p:cNvSpPr/>
          <p:nvPr/>
        </p:nvSpPr>
        <p:spPr>
          <a:xfrm>
            <a:off x="6329363" y="3946525"/>
            <a:ext cx="49212"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268" name="Rectangle 348"/>
          <p:cNvSpPr/>
          <p:nvPr/>
        </p:nvSpPr>
        <p:spPr>
          <a:xfrm>
            <a:off x="6149975" y="2276475"/>
            <a:ext cx="79375"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x</a:t>
            </a:r>
            <a:endParaRPr lang="en-US" altLang="zh-CN" b="1">
              <a:solidFill>
                <a:srgbClr val="333399"/>
              </a:solidFill>
              <a:latin typeface="楷体_GB2312" pitchFamily="49" charset="-122"/>
            </a:endParaRPr>
          </a:p>
        </p:txBody>
      </p:sp>
      <p:sp>
        <p:nvSpPr>
          <p:cNvPr id="2258269" name="Rectangle 349"/>
          <p:cNvSpPr/>
          <p:nvPr/>
        </p:nvSpPr>
        <p:spPr>
          <a:xfrm>
            <a:off x="6256338" y="2314575"/>
            <a:ext cx="161925" cy="136525"/>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   )</a:t>
            </a:r>
            <a:endParaRPr lang="en-US" altLang="zh-CN" b="1">
              <a:solidFill>
                <a:srgbClr val="333399"/>
              </a:solidFill>
              <a:latin typeface="楷体_GB2312" pitchFamily="49" charset="-122"/>
            </a:endParaRPr>
          </a:p>
        </p:txBody>
      </p:sp>
      <p:sp>
        <p:nvSpPr>
          <p:cNvPr id="2258270" name="Rectangle 350"/>
          <p:cNvSpPr/>
          <p:nvPr/>
        </p:nvSpPr>
        <p:spPr>
          <a:xfrm>
            <a:off x="6313488" y="2281238"/>
            <a:ext cx="49212"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271" name="Rectangle 351"/>
          <p:cNvSpPr/>
          <p:nvPr/>
        </p:nvSpPr>
        <p:spPr>
          <a:xfrm>
            <a:off x="6192838" y="792163"/>
            <a:ext cx="79375"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x</a:t>
            </a:r>
            <a:endParaRPr lang="en-US" altLang="zh-CN" b="1">
              <a:solidFill>
                <a:srgbClr val="333399"/>
              </a:solidFill>
              <a:latin typeface="楷体_GB2312" pitchFamily="49" charset="-122"/>
            </a:endParaRPr>
          </a:p>
        </p:txBody>
      </p:sp>
      <p:sp>
        <p:nvSpPr>
          <p:cNvPr id="2258272" name="Rectangle 352"/>
          <p:cNvSpPr/>
          <p:nvPr/>
        </p:nvSpPr>
        <p:spPr>
          <a:xfrm>
            <a:off x="6291263" y="831850"/>
            <a:ext cx="161925" cy="136525"/>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   )</a:t>
            </a:r>
            <a:endParaRPr lang="en-US" altLang="zh-CN" b="1">
              <a:solidFill>
                <a:srgbClr val="333399"/>
              </a:solidFill>
              <a:latin typeface="楷体_GB2312" pitchFamily="49" charset="-122"/>
            </a:endParaRPr>
          </a:p>
        </p:txBody>
      </p:sp>
      <p:sp>
        <p:nvSpPr>
          <p:cNvPr id="2258273" name="Rectangle 353"/>
          <p:cNvSpPr/>
          <p:nvPr/>
        </p:nvSpPr>
        <p:spPr>
          <a:xfrm>
            <a:off x="6348413" y="798513"/>
            <a:ext cx="49212"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grpSp>
        <p:nvGrpSpPr>
          <p:cNvPr id="2258279" name="Group 359"/>
          <p:cNvGrpSpPr/>
          <p:nvPr/>
        </p:nvGrpSpPr>
        <p:grpSpPr>
          <a:xfrm>
            <a:off x="5797550" y="1370013"/>
            <a:ext cx="663575" cy="246062"/>
            <a:chOff x="3652" y="863"/>
            <a:chExt cx="418" cy="155"/>
          </a:xfrm>
        </p:grpSpPr>
        <p:grpSp>
          <p:nvGrpSpPr>
            <p:cNvPr id="17653" name="Group 356"/>
            <p:cNvGrpSpPr/>
            <p:nvPr/>
          </p:nvGrpSpPr>
          <p:grpSpPr>
            <a:xfrm>
              <a:off x="3652" y="863"/>
              <a:ext cx="72" cy="149"/>
              <a:chOff x="3652" y="863"/>
              <a:chExt cx="72" cy="149"/>
            </a:xfrm>
          </p:grpSpPr>
          <p:sp>
            <p:nvSpPr>
              <p:cNvPr id="17656" name="Rectangle 354"/>
              <p:cNvSpPr/>
              <p:nvPr/>
            </p:nvSpPr>
            <p:spPr>
              <a:xfrm>
                <a:off x="3652" y="863"/>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657" name="Rectangle 355"/>
              <p:cNvSpPr/>
              <p:nvPr/>
            </p:nvSpPr>
            <p:spPr>
              <a:xfrm>
                <a:off x="3688" y="926"/>
                <a:ext cx="36" cy="86"/>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3</a:t>
                </a:r>
                <a:endParaRPr lang="en-US" altLang="zh-CN" b="1">
                  <a:solidFill>
                    <a:srgbClr val="333399"/>
                  </a:solidFill>
                  <a:latin typeface="楷体_GB2312" pitchFamily="49" charset="-122"/>
                </a:endParaRPr>
              </a:p>
            </p:txBody>
          </p:sp>
        </p:grpSp>
        <p:sp>
          <p:nvSpPr>
            <p:cNvPr id="17654" name="Rectangle 357"/>
            <p:cNvSpPr/>
            <p:nvPr/>
          </p:nvSpPr>
          <p:spPr>
            <a:xfrm>
              <a:off x="3814" y="891"/>
              <a:ext cx="256" cy="115"/>
            </a:xfrm>
            <a:prstGeom prst="rect">
              <a:avLst/>
            </a:prstGeom>
            <a:noFill/>
            <a:ln w="9525">
              <a:noFill/>
            </a:ln>
          </p:spPr>
          <p:txBody>
            <a:bodyPr wrap="none" lIns="0" tIns="0" rIns="0" bIns="0">
              <a:spAutoFit/>
            </a:bodyPr>
            <a:p>
              <a:pPr algn="ctr" eaLnBrk="1" hangingPunct="1"/>
              <a:r>
                <a:rPr lang="en-US" altLang="zh-CN" sz="1200" b="0">
                  <a:solidFill>
                    <a:srgbClr val="FF0000"/>
                  </a:solidFill>
                  <a:latin typeface="Times New Roman" panose="02020603050405020304" pitchFamily="18" charset="0"/>
                </a:rPr>
                <a:t>900</a:t>
              </a:r>
              <a:r>
                <a:rPr lang="en-US" altLang="zh-CN" sz="1200" b="0">
                  <a:solidFill>
                    <a:srgbClr val="000000"/>
                  </a:solidFill>
                  <a:latin typeface="Times New Roman" panose="02020603050405020304" pitchFamily="18" charset="0"/>
                </a:rPr>
                <a:t>Hz</a:t>
              </a:r>
              <a:endParaRPr lang="en-US" altLang="zh-CN" b="1">
                <a:solidFill>
                  <a:srgbClr val="333399"/>
                </a:solidFill>
                <a:latin typeface="楷体_GB2312" pitchFamily="49" charset="-122"/>
              </a:endParaRPr>
            </a:p>
          </p:txBody>
        </p:sp>
        <p:sp>
          <p:nvSpPr>
            <p:cNvPr id="17655" name="Rectangle 358"/>
            <p:cNvSpPr/>
            <p:nvPr/>
          </p:nvSpPr>
          <p:spPr>
            <a:xfrm>
              <a:off x="3739" y="884"/>
              <a:ext cx="63" cy="134"/>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grpSp>
      <p:grpSp>
        <p:nvGrpSpPr>
          <p:cNvPr id="2258284" name="Group 364"/>
          <p:cNvGrpSpPr/>
          <p:nvPr/>
        </p:nvGrpSpPr>
        <p:grpSpPr>
          <a:xfrm>
            <a:off x="5816600" y="4468813"/>
            <a:ext cx="647700" cy="246062"/>
            <a:chOff x="3664" y="2815"/>
            <a:chExt cx="408" cy="155"/>
          </a:xfrm>
        </p:grpSpPr>
        <p:sp>
          <p:nvSpPr>
            <p:cNvPr id="17649" name="Rectangle 360"/>
            <p:cNvSpPr/>
            <p:nvPr/>
          </p:nvSpPr>
          <p:spPr>
            <a:xfrm>
              <a:off x="3692" y="2874"/>
              <a:ext cx="36" cy="86"/>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1</a:t>
              </a:r>
              <a:endParaRPr lang="en-US" altLang="zh-CN" b="1">
                <a:solidFill>
                  <a:srgbClr val="333399"/>
                </a:solidFill>
                <a:latin typeface="楷体_GB2312" pitchFamily="49" charset="-122"/>
              </a:endParaRPr>
            </a:p>
          </p:txBody>
        </p:sp>
        <p:sp>
          <p:nvSpPr>
            <p:cNvPr id="17650" name="Rectangle 361"/>
            <p:cNvSpPr/>
            <p:nvPr/>
          </p:nvSpPr>
          <p:spPr>
            <a:xfrm>
              <a:off x="3816" y="2842"/>
              <a:ext cx="256" cy="115"/>
            </a:xfrm>
            <a:prstGeom prst="rect">
              <a:avLst/>
            </a:prstGeom>
            <a:noFill/>
            <a:ln w="9525">
              <a:noFill/>
            </a:ln>
          </p:spPr>
          <p:txBody>
            <a:bodyPr wrap="none" lIns="0" tIns="0" rIns="0" bIns="0">
              <a:spAutoFit/>
            </a:bodyPr>
            <a:p>
              <a:pPr algn="ctr" eaLnBrk="1" hangingPunct="1"/>
              <a:r>
                <a:rPr lang="en-US" altLang="zh-CN" sz="1200" b="0">
                  <a:solidFill>
                    <a:srgbClr val="FF0000"/>
                  </a:solidFill>
                  <a:latin typeface="Times New Roman" panose="02020603050405020304" pitchFamily="18" charset="0"/>
                </a:rPr>
                <a:t>100</a:t>
              </a:r>
              <a:r>
                <a:rPr lang="en-US" altLang="zh-CN" sz="1200" b="0">
                  <a:solidFill>
                    <a:srgbClr val="000000"/>
                  </a:solidFill>
                  <a:latin typeface="Times New Roman" panose="02020603050405020304" pitchFamily="18" charset="0"/>
                </a:rPr>
                <a:t>Hz</a:t>
              </a:r>
              <a:endParaRPr lang="en-US" altLang="zh-CN" b="1">
                <a:solidFill>
                  <a:srgbClr val="333399"/>
                </a:solidFill>
                <a:latin typeface="楷体_GB2312" pitchFamily="49" charset="-122"/>
              </a:endParaRPr>
            </a:p>
          </p:txBody>
        </p:sp>
        <p:sp>
          <p:nvSpPr>
            <p:cNvPr id="17651" name="Rectangle 362"/>
            <p:cNvSpPr/>
            <p:nvPr/>
          </p:nvSpPr>
          <p:spPr>
            <a:xfrm>
              <a:off x="3664" y="2815"/>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652" name="Rectangle 363"/>
            <p:cNvSpPr/>
            <p:nvPr/>
          </p:nvSpPr>
          <p:spPr>
            <a:xfrm>
              <a:off x="3740" y="2836"/>
              <a:ext cx="63" cy="134"/>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grpSp>
      <p:grpSp>
        <p:nvGrpSpPr>
          <p:cNvPr id="2258289" name="Group 369"/>
          <p:cNvGrpSpPr/>
          <p:nvPr/>
        </p:nvGrpSpPr>
        <p:grpSpPr>
          <a:xfrm>
            <a:off x="5818188" y="2913063"/>
            <a:ext cx="647700" cy="246062"/>
            <a:chOff x="3665" y="1835"/>
            <a:chExt cx="408" cy="155"/>
          </a:xfrm>
        </p:grpSpPr>
        <p:sp>
          <p:nvSpPr>
            <p:cNvPr id="17645" name="Rectangle 365"/>
            <p:cNvSpPr/>
            <p:nvPr/>
          </p:nvSpPr>
          <p:spPr>
            <a:xfrm>
              <a:off x="3690" y="1894"/>
              <a:ext cx="36" cy="86"/>
            </a:xfrm>
            <a:prstGeom prst="rect">
              <a:avLst/>
            </a:prstGeom>
            <a:noFill/>
            <a:ln w="9525">
              <a:noFill/>
            </a:ln>
          </p:spPr>
          <p:txBody>
            <a:bodyPr wrap="none" lIns="0" tIns="0" rIns="0" bIns="0">
              <a:spAutoFit/>
            </a:bodyPr>
            <a:p>
              <a:pPr algn="ctr" eaLnBrk="1" hangingPunct="1"/>
              <a:r>
                <a:rPr lang="en-US" altLang="zh-CN" sz="900" b="0">
                  <a:solidFill>
                    <a:srgbClr val="000000"/>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17646" name="Rectangle 366"/>
            <p:cNvSpPr/>
            <p:nvPr/>
          </p:nvSpPr>
          <p:spPr>
            <a:xfrm>
              <a:off x="3817" y="1863"/>
              <a:ext cx="256" cy="115"/>
            </a:xfrm>
            <a:prstGeom prst="rect">
              <a:avLst/>
            </a:prstGeom>
            <a:noFill/>
            <a:ln w="9525">
              <a:noFill/>
            </a:ln>
          </p:spPr>
          <p:txBody>
            <a:bodyPr wrap="none" lIns="0" tIns="0" rIns="0" bIns="0">
              <a:spAutoFit/>
            </a:bodyPr>
            <a:p>
              <a:pPr algn="ctr" eaLnBrk="1" hangingPunct="1"/>
              <a:r>
                <a:rPr lang="en-US" altLang="zh-CN" sz="1200" b="0">
                  <a:solidFill>
                    <a:srgbClr val="FF0000"/>
                  </a:solidFill>
                  <a:latin typeface="Times New Roman" panose="02020603050405020304" pitchFamily="18" charset="0"/>
                </a:rPr>
                <a:t>400</a:t>
              </a:r>
              <a:r>
                <a:rPr lang="en-US" altLang="zh-CN" sz="1200" b="0">
                  <a:solidFill>
                    <a:srgbClr val="000000"/>
                  </a:solidFill>
                  <a:latin typeface="Times New Roman" panose="02020603050405020304" pitchFamily="18" charset="0"/>
                </a:rPr>
                <a:t>Hz</a:t>
              </a:r>
              <a:endParaRPr lang="en-US" altLang="zh-CN" b="1">
                <a:solidFill>
                  <a:srgbClr val="333399"/>
                </a:solidFill>
                <a:latin typeface="楷体_GB2312" pitchFamily="49" charset="-122"/>
              </a:endParaRPr>
            </a:p>
          </p:txBody>
        </p:sp>
        <p:sp>
          <p:nvSpPr>
            <p:cNvPr id="17647" name="Rectangle 367"/>
            <p:cNvSpPr/>
            <p:nvPr/>
          </p:nvSpPr>
          <p:spPr>
            <a:xfrm>
              <a:off x="3665" y="1835"/>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648" name="Rectangle 368"/>
            <p:cNvSpPr/>
            <p:nvPr/>
          </p:nvSpPr>
          <p:spPr>
            <a:xfrm>
              <a:off x="3741" y="1856"/>
              <a:ext cx="63" cy="134"/>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grpSp>
      <p:sp>
        <p:nvSpPr>
          <p:cNvPr id="2258290" name="Rectangle 370"/>
          <p:cNvSpPr/>
          <p:nvPr/>
        </p:nvSpPr>
        <p:spPr>
          <a:xfrm>
            <a:off x="5970588" y="1684338"/>
            <a:ext cx="100012" cy="212725"/>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grpSp>
        <p:nvGrpSpPr>
          <p:cNvPr id="2258116" name="Group 196"/>
          <p:cNvGrpSpPr/>
          <p:nvPr/>
        </p:nvGrpSpPr>
        <p:grpSpPr>
          <a:xfrm>
            <a:off x="6808788" y="1227138"/>
            <a:ext cx="98425" cy="441325"/>
            <a:chOff x="4289" y="773"/>
            <a:chExt cx="62" cy="278"/>
          </a:xfrm>
        </p:grpSpPr>
        <p:sp>
          <p:nvSpPr>
            <p:cNvPr id="17641" name="Oval 192"/>
            <p:cNvSpPr/>
            <p:nvPr/>
          </p:nvSpPr>
          <p:spPr>
            <a:xfrm>
              <a:off x="4301" y="773"/>
              <a:ext cx="39" cy="118"/>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42" name="Line 193"/>
            <p:cNvSpPr/>
            <p:nvPr/>
          </p:nvSpPr>
          <p:spPr>
            <a:xfrm flipH="1">
              <a:off x="4289" y="803"/>
              <a:ext cx="15" cy="248"/>
            </a:xfrm>
            <a:prstGeom prst="line">
              <a:avLst/>
            </a:prstGeom>
            <a:ln w="0" cap="flat" cmpd="sng">
              <a:solidFill>
                <a:srgbClr val="000000"/>
              </a:solidFill>
              <a:prstDash val="solid"/>
              <a:headEnd type="none" w="med" len="med"/>
              <a:tailEnd type="none" w="med" len="med"/>
            </a:ln>
          </p:spPr>
        </p:sp>
        <p:sp>
          <p:nvSpPr>
            <p:cNvPr id="17643" name="Line 194"/>
            <p:cNvSpPr/>
            <p:nvPr/>
          </p:nvSpPr>
          <p:spPr>
            <a:xfrm>
              <a:off x="4336" y="803"/>
              <a:ext cx="15" cy="248"/>
            </a:xfrm>
            <a:prstGeom prst="line">
              <a:avLst/>
            </a:prstGeom>
            <a:ln w="0" cap="flat" cmpd="sng">
              <a:solidFill>
                <a:srgbClr val="000000"/>
              </a:solidFill>
              <a:prstDash val="solid"/>
              <a:headEnd type="none" w="med" len="med"/>
              <a:tailEnd type="none" w="med" len="med"/>
            </a:ln>
          </p:spPr>
        </p:sp>
        <p:sp>
          <p:nvSpPr>
            <p:cNvPr id="17644" name="Rectangle 195"/>
            <p:cNvSpPr/>
            <p:nvPr/>
          </p:nvSpPr>
          <p:spPr>
            <a:xfrm>
              <a:off x="4304" y="852"/>
              <a:ext cx="34" cy="4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482" name="Oval 44"/>
          <p:cNvSpPr/>
          <p:nvPr/>
        </p:nvSpPr>
        <p:spPr>
          <a:xfrm>
            <a:off x="7204075" y="1668463"/>
            <a:ext cx="228600" cy="258762"/>
          </a:xfrm>
          <a:prstGeom prst="ellipse">
            <a:avLst/>
          </a:prstGeom>
          <a:solidFill>
            <a:srgbClr val="FFFFFF"/>
          </a:solidFill>
          <a:ln w="0" cap="flat" cmpd="sng">
            <a:solidFill>
              <a:srgbClr val="FFFF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83" name="Rectangle 88"/>
          <p:cNvSpPr/>
          <p:nvPr/>
        </p:nvSpPr>
        <p:spPr>
          <a:xfrm>
            <a:off x="7896225" y="1276350"/>
            <a:ext cx="93663" cy="33972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484" name="Rectangle 92"/>
          <p:cNvSpPr/>
          <p:nvPr/>
        </p:nvSpPr>
        <p:spPr>
          <a:xfrm>
            <a:off x="6675438" y="1751013"/>
            <a:ext cx="15875" cy="952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2258091" name="Group 171"/>
          <p:cNvGrpSpPr/>
          <p:nvPr/>
        </p:nvGrpSpPr>
        <p:grpSpPr>
          <a:xfrm>
            <a:off x="6905625" y="1671638"/>
            <a:ext cx="100013" cy="454025"/>
            <a:chOff x="4350" y="1053"/>
            <a:chExt cx="63" cy="286"/>
          </a:xfrm>
        </p:grpSpPr>
        <p:sp>
          <p:nvSpPr>
            <p:cNvPr id="17634" name="Oval 164"/>
            <p:cNvSpPr/>
            <p:nvPr/>
          </p:nvSpPr>
          <p:spPr>
            <a:xfrm>
              <a:off x="4363" y="1220"/>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35" name="Line 165"/>
            <p:cNvSpPr/>
            <p:nvPr/>
          </p:nvSpPr>
          <p:spPr>
            <a:xfrm flipH="1" flipV="1">
              <a:off x="4350" y="1053"/>
              <a:ext cx="15" cy="259"/>
            </a:xfrm>
            <a:prstGeom prst="line">
              <a:avLst/>
            </a:prstGeom>
            <a:ln w="0" cap="flat" cmpd="sng">
              <a:solidFill>
                <a:srgbClr val="000000"/>
              </a:solidFill>
              <a:prstDash val="solid"/>
              <a:headEnd type="none" w="med" len="med"/>
              <a:tailEnd type="none" w="med" len="med"/>
            </a:ln>
          </p:spPr>
        </p:sp>
        <p:sp>
          <p:nvSpPr>
            <p:cNvPr id="17636" name="Line 166"/>
            <p:cNvSpPr/>
            <p:nvPr/>
          </p:nvSpPr>
          <p:spPr>
            <a:xfrm flipV="1">
              <a:off x="4398" y="1054"/>
              <a:ext cx="15" cy="255"/>
            </a:xfrm>
            <a:prstGeom prst="line">
              <a:avLst/>
            </a:prstGeom>
            <a:ln w="0" cap="flat" cmpd="sng">
              <a:solidFill>
                <a:srgbClr val="000000"/>
              </a:solidFill>
              <a:prstDash val="solid"/>
              <a:headEnd type="none" w="med" len="med"/>
              <a:tailEnd type="none" w="med" len="med"/>
            </a:ln>
          </p:spPr>
        </p:sp>
        <p:sp>
          <p:nvSpPr>
            <p:cNvPr id="17637" name="Rectangle 167"/>
            <p:cNvSpPr/>
            <p:nvPr/>
          </p:nvSpPr>
          <p:spPr>
            <a:xfrm>
              <a:off x="4365"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38" name="Rectangle 168"/>
            <p:cNvSpPr/>
            <p:nvPr/>
          </p:nvSpPr>
          <p:spPr>
            <a:xfrm>
              <a:off x="4365" y="1254"/>
              <a:ext cx="8"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39" name="Rectangle 169"/>
            <p:cNvSpPr/>
            <p:nvPr/>
          </p:nvSpPr>
          <p:spPr>
            <a:xfrm>
              <a:off x="4392"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40" name="Rectangle 170"/>
            <p:cNvSpPr/>
            <p:nvPr/>
          </p:nvSpPr>
          <p:spPr>
            <a:xfrm>
              <a:off x="4365" y="1180"/>
              <a:ext cx="22"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00" name="Group 180"/>
          <p:cNvGrpSpPr/>
          <p:nvPr/>
        </p:nvGrpSpPr>
        <p:grpSpPr>
          <a:xfrm>
            <a:off x="7102475" y="1673225"/>
            <a:ext cx="98425" cy="452438"/>
            <a:chOff x="4474" y="1054"/>
            <a:chExt cx="62" cy="285"/>
          </a:xfrm>
        </p:grpSpPr>
        <p:grpSp>
          <p:nvGrpSpPr>
            <p:cNvPr id="17626" name="Group 178"/>
            <p:cNvGrpSpPr/>
            <p:nvPr/>
          </p:nvGrpSpPr>
          <p:grpSpPr>
            <a:xfrm>
              <a:off x="4474" y="1054"/>
              <a:ext cx="62" cy="285"/>
              <a:chOff x="4474" y="1054"/>
              <a:chExt cx="62" cy="285"/>
            </a:xfrm>
          </p:grpSpPr>
          <p:sp>
            <p:nvSpPr>
              <p:cNvPr id="17628" name="Oval 172"/>
              <p:cNvSpPr/>
              <p:nvPr/>
            </p:nvSpPr>
            <p:spPr>
              <a:xfrm>
                <a:off x="4486" y="1220"/>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29" name="Line 173"/>
              <p:cNvSpPr/>
              <p:nvPr/>
            </p:nvSpPr>
            <p:spPr>
              <a:xfrm flipH="1" flipV="1">
                <a:off x="4474" y="1055"/>
                <a:ext cx="15" cy="257"/>
              </a:xfrm>
              <a:prstGeom prst="line">
                <a:avLst/>
              </a:prstGeom>
              <a:ln w="0" cap="flat" cmpd="sng">
                <a:solidFill>
                  <a:srgbClr val="000000"/>
                </a:solidFill>
                <a:prstDash val="solid"/>
                <a:headEnd type="none" w="med" len="med"/>
                <a:tailEnd type="none" w="med" len="med"/>
              </a:ln>
            </p:spPr>
          </p:sp>
          <p:sp>
            <p:nvSpPr>
              <p:cNvPr id="17630" name="Line 174"/>
              <p:cNvSpPr/>
              <p:nvPr/>
            </p:nvSpPr>
            <p:spPr>
              <a:xfrm flipV="1">
                <a:off x="4521" y="1054"/>
                <a:ext cx="15" cy="255"/>
              </a:xfrm>
              <a:prstGeom prst="line">
                <a:avLst/>
              </a:prstGeom>
              <a:ln w="0" cap="flat" cmpd="sng">
                <a:solidFill>
                  <a:srgbClr val="000000"/>
                </a:solidFill>
                <a:prstDash val="solid"/>
                <a:headEnd type="none" w="med" len="med"/>
                <a:tailEnd type="none" w="med" len="med"/>
              </a:ln>
            </p:spPr>
          </p:sp>
          <p:sp>
            <p:nvSpPr>
              <p:cNvPr id="17631" name="Rectangle 175"/>
              <p:cNvSpPr/>
              <p:nvPr/>
            </p:nvSpPr>
            <p:spPr>
              <a:xfrm>
                <a:off x="4489"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32" name="Rectangle 176"/>
              <p:cNvSpPr/>
              <p:nvPr/>
            </p:nvSpPr>
            <p:spPr>
              <a:xfrm>
                <a:off x="4489"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33" name="Rectangle 177"/>
              <p:cNvSpPr/>
              <p:nvPr/>
            </p:nvSpPr>
            <p:spPr>
              <a:xfrm>
                <a:off x="4515" y="1254"/>
                <a:ext cx="8"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627" name="Rectangle 179"/>
            <p:cNvSpPr/>
            <p:nvPr/>
          </p:nvSpPr>
          <p:spPr>
            <a:xfrm>
              <a:off x="4492" y="1187"/>
              <a:ext cx="26"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11" name="Group 191"/>
          <p:cNvGrpSpPr/>
          <p:nvPr/>
        </p:nvGrpSpPr>
        <p:grpSpPr>
          <a:xfrm>
            <a:off x="7304088" y="1673225"/>
            <a:ext cx="98425" cy="452438"/>
            <a:chOff x="4601" y="1054"/>
            <a:chExt cx="62" cy="285"/>
          </a:xfrm>
        </p:grpSpPr>
        <p:grpSp>
          <p:nvGrpSpPr>
            <p:cNvPr id="17618" name="Group 189"/>
            <p:cNvGrpSpPr/>
            <p:nvPr/>
          </p:nvGrpSpPr>
          <p:grpSpPr>
            <a:xfrm>
              <a:off x="4601" y="1054"/>
              <a:ext cx="62" cy="285"/>
              <a:chOff x="4601" y="1054"/>
              <a:chExt cx="62" cy="285"/>
            </a:xfrm>
          </p:grpSpPr>
          <p:sp>
            <p:nvSpPr>
              <p:cNvPr id="17620" name="Oval 183"/>
              <p:cNvSpPr/>
              <p:nvPr/>
            </p:nvSpPr>
            <p:spPr>
              <a:xfrm>
                <a:off x="4613" y="1220"/>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21" name="Line 184"/>
              <p:cNvSpPr/>
              <p:nvPr/>
            </p:nvSpPr>
            <p:spPr>
              <a:xfrm flipH="1" flipV="1">
                <a:off x="4601" y="1055"/>
                <a:ext cx="15" cy="257"/>
              </a:xfrm>
              <a:prstGeom prst="line">
                <a:avLst/>
              </a:prstGeom>
              <a:ln w="0" cap="flat" cmpd="sng">
                <a:solidFill>
                  <a:srgbClr val="000000"/>
                </a:solidFill>
                <a:prstDash val="solid"/>
                <a:headEnd type="none" w="med" len="med"/>
                <a:tailEnd type="none" w="med" len="med"/>
              </a:ln>
            </p:spPr>
          </p:sp>
          <p:sp>
            <p:nvSpPr>
              <p:cNvPr id="17622" name="Line 185"/>
              <p:cNvSpPr/>
              <p:nvPr/>
            </p:nvSpPr>
            <p:spPr>
              <a:xfrm flipV="1">
                <a:off x="4648" y="1054"/>
                <a:ext cx="15" cy="255"/>
              </a:xfrm>
              <a:prstGeom prst="line">
                <a:avLst/>
              </a:prstGeom>
              <a:ln w="0" cap="flat" cmpd="sng">
                <a:solidFill>
                  <a:srgbClr val="000000"/>
                </a:solidFill>
                <a:prstDash val="solid"/>
                <a:headEnd type="none" w="med" len="med"/>
                <a:tailEnd type="none" w="med" len="med"/>
              </a:ln>
            </p:spPr>
          </p:sp>
          <p:sp>
            <p:nvSpPr>
              <p:cNvPr id="17623" name="Rectangle 186"/>
              <p:cNvSpPr/>
              <p:nvPr/>
            </p:nvSpPr>
            <p:spPr>
              <a:xfrm>
                <a:off x="4616"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24" name="Rectangle 187"/>
              <p:cNvSpPr/>
              <p:nvPr/>
            </p:nvSpPr>
            <p:spPr>
              <a:xfrm>
                <a:off x="4616"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25" name="Rectangle 188"/>
              <p:cNvSpPr/>
              <p:nvPr/>
            </p:nvSpPr>
            <p:spPr>
              <a:xfrm>
                <a:off x="4642" y="1254"/>
                <a:ext cx="8"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619" name="Rectangle 190"/>
            <p:cNvSpPr/>
            <p:nvPr/>
          </p:nvSpPr>
          <p:spPr>
            <a:xfrm>
              <a:off x="4619" y="1187"/>
              <a:ext cx="26"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25" name="Group 205"/>
          <p:cNvGrpSpPr/>
          <p:nvPr/>
        </p:nvGrpSpPr>
        <p:grpSpPr>
          <a:xfrm>
            <a:off x="7500938" y="1673225"/>
            <a:ext cx="96837" cy="452438"/>
            <a:chOff x="4725" y="1054"/>
            <a:chExt cx="61" cy="285"/>
          </a:xfrm>
        </p:grpSpPr>
        <p:grpSp>
          <p:nvGrpSpPr>
            <p:cNvPr id="17610" name="Group 203"/>
            <p:cNvGrpSpPr/>
            <p:nvPr/>
          </p:nvGrpSpPr>
          <p:grpSpPr>
            <a:xfrm>
              <a:off x="4725" y="1054"/>
              <a:ext cx="61" cy="285"/>
              <a:chOff x="4725" y="1054"/>
              <a:chExt cx="61" cy="285"/>
            </a:xfrm>
          </p:grpSpPr>
          <p:sp>
            <p:nvSpPr>
              <p:cNvPr id="17612" name="Oval 197"/>
              <p:cNvSpPr/>
              <p:nvPr/>
            </p:nvSpPr>
            <p:spPr>
              <a:xfrm>
                <a:off x="4737" y="1220"/>
                <a:ext cx="38"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13" name="Line 198"/>
              <p:cNvSpPr/>
              <p:nvPr/>
            </p:nvSpPr>
            <p:spPr>
              <a:xfrm flipH="1" flipV="1">
                <a:off x="4725" y="1055"/>
                <a:ext cx="14" cy="257"/>
              </a:xfrm>
              <a:prstGeom prst="line">
                <a:avLst/>
              </a:prstGeom>
              <a:ln w="0" cap="flat" cmpd="sng">
                <a:solidFill>
                  <a:srgbClr val="000000"/>
                </a:solidFill>
                <a:prstDash val="solid"/>
                <a:headEnd type="none" w="med" len="med"/>
                <a:tailEnd type="none" w="med" len="med"/>
              </a:ln>
            </p:spPr>
          </p:sp>
          <p:sp>
            <p:nvSpPr>
              <p:cNvPr id="17614" name="Line 199"/>
              <p:cNvSpPr/>
              <p:nvPr/>
            </p:nvSpPr>
            <p:spPr>
              <a:xfrm flipV="1">
                <a:off x="4772" y="1054"/>
                <a:ext cx="14" cy="255"/>
              </a:xfrm>
              <a:prstGeom prst="line">
                <a:avLst/>
              </a:prstGeom>
              <a:ln w="0" cap="flat" cmpd="sng">
                <a:solidFill>
                  <a:srgbClr val="000000"/>
                </a:solidFill>
                <a:prstDash val="solid"/>
                <a:headEnd type="none" w="med" len="med"/>
                <a:tailEnd type="none" w="med" len="med"/>
              </a:ln>
            </p:spPr>
          </p:sp>
          <p:sp>
            <p:nvSpPr>
              <p:cNvPr id="17615" name="Rectangle 200"/>
              <p:cNvSpPr/>
              <p:nvPr/>
            </p:nvSpPr>
            <p:spPr>
              <a:xfrm>
                <a:off x="4739"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16" name="Rectangle 201"/>
              <p:cNvSpPr/>
              <p:nvPr/>
            </p:nvSpPr>
            <p:spPr>
              <a:xfrm>
                <a:off x="4739"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17" name="Rectangle 202"/>
              <p:cNvSpPr/>
              <p:nvPr/>
            </p:nvSpPr>
            <p:spPr>
              <a:xfrm>
                <a:off x="4766"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611" name="Rectangle 204"/>
            <p:cNvSpPr/>
            <p:nvPr/>
          </p:nvSpPr>
          <p:spPr>
            <a:xfrm>
              <a:off x="4743" y="1187"/>
              <a:ext cx="25"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30" name="Group 210"/>
          <p:cNvGrpSpPr/>
          <p:nvPr/>
        </p:nvGrpSpPr>
        <p:grpSpPr>
          <a:xfrm>
            <a:off x="7005638" y="1236663"/>
            <a:ext cx="96837" cy="442912"/>
            <a:chOff x="4413" y="779"/>
            <a:chExt cx="61" cy="279"/>
          </a:xfrm>
        </p:grpSpPr>
        <p:sp>
          <p:nvSpPr>
            <p:cNvPr id="17606" name="Oval 206"/>
            <p:cNvSpPr/>
            <p:nvPr/>
          </p:nvSpPr>
          <p:spPr>
            <a:xfrm>
              <a:off x="4425" y="779"/>
              <a:ext cx="38"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07" name="Line 207"/>
            <p:cNvSpPr/>
            <p:nvPr/>
          </p:nvSpPr>
          <p:spPr>
            <a:xfrm flipH="1">
              <a:off x="4413" y="810"/>
              <a:ext cx="14" cy="248"/>
            </a:xfrm>
            <a:prstGeom prst="line">
              <a:avLst/>
            </a:prstGeom>
            <a:ln w="0" cap="flat" cmpd="sng">
              <a:solidFill>
                <a:srgbClr val="000000"/>
              </a:solidFill>
              <a:prstDash val="solid"/>
              <a:headEnd type="none" w="med" len="med"/>
              <a:tailEnd type="none" w="med" len="med"/>
            </a:ln>
          </p:spPr>
        </p:sp>
        <p:sp>
          <p:nvSpPr>
            <p:cNvPr id="17608" name="Line 208"/>
            <p:cNvSpPr/>
            <p:nvPr/>
          </p:nvSpPr>
          <p:spPr>
            <a:xfrm>
              <a:off x="4460" y="810"/>
              <a:ext cx="14" cy="248"/>
            </a:xfrm>
            <a:prstGeom prst="line">
              <a:avLst/>
            </a:prstGeom>
            <a:ln w="0" cap="flat" cmpd="sng">
              <a:solidFill>
                <a:srgbClr val="000000"/>
              </a:solidFill>
              <a:prstDash val="solid"/>
              <a:headEnd type="none" w="med" len="med"/>
              <a:tailEnd type="none" w="med" len="med"/>
            </a:ln>
          </p:spPr>
        </p:sp>
        <p:sp>
          <p:nvSpPr>
            <p:cNvPr id="17609" name="Rectangle 209"/>
            <p:cNvSpPr/>
            <p:nvPr/>
          </p:nvSpPr>
          <p:spPr>
            <a:xfrm>
              <a:off x="4427" y="859"/>
              <a:ext cx="34" cy="4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40" name="Group 220"/>
          <p:cNvGrpSpPr/>
          <p:nvPr/>
        </p:nvGrpSpPr>
        <p:grpSpPr>
          <a:xfrm>
            <a:off x="7402513" y="1236663"/>
            <a:ext cx="98425" cy="442912"/>
            <a:chOff x="4663" y="779"/>
            <a:chExt cx="62" cy="279"/>
          </a:xfrm>
        </p:grpSpPr>
        <p:sp>
          <p:nvSpPr>
            <p:cNvPr id="17602" name="Oval 216"/>
            <p:cNvSpPr/>
            <p:nvPr/>
          </p:nvSpPr>
          <p:spPr>
            <a:xfrm>
              <a:off x="4675" y="779"/>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03" name="Line 217"/>
            <p:cNvSpPr/>
            <p:nvPr/>
          </p:nvSpPr>
          <p:spPr>
            <a:xfrm flipH="1">
              <a:off x="4663" y="810"/>
              <a:ext cx="15" cy="248"/>
            </a:xfrm>
            <a:prstGeom prst="line">
              <a:avLst/>
            </a:prstGeom>
            <a:ln w="0" cap="flat" cmpd="sng">
              <a:solidFill>
                <a:srgbClr val="000000"/>
              </a:solidFill>
              <a:prstDash val="solid"/>
              <a:headEnd type="none" w="med" len="med"/>
              <a:tailEnd type="none" w="med" len="med"/>
            </a:ln>
          </p:spPr>
        </p:sp>
        <p:sp>
          <p:nvSpPr>
            <p:cNvPr id="17604" name="Line 218"/>
            <p:cNvSpPr/>
            <p:nvPr/>
          </p:nvSpPr>
          <p:spPr>
            <a:xfrm>
              <a:off x="4710" y="810"/>
              <a:ext cx="15" cy="248"/>
            </a:xfrm>
            <a:prstGeom prst="line">
              <a:avLst/>
            </a:prstGeom>
            <a:ln w="0" cap="flat" cmpd="sng">
              <a:solidFill>
                <a:srgbClr val="000000"/>
              </a:solidFill>
              <a:prstDash val="solid"/>
              <a:headEnd type="none" w="med" len="med"/>
              <a:tailEnd type="none" w="med" len="med"/>
            </a:ln>
          </p:spPr>
        </p:sp>
        <p:sp>
          <p:nvSpPr>
            <p:cNvPr id="17605" name="Rectangle 219"/>
            <p:cNvSpPr/>
            <p:nvPr/>
          </p:nvSpPr>
          <p:spPr>
            <a:xfrm>
              <a:off x="4678" y="859"/>
              <a:ext cx="33" cy="4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49" name="Group 229"/>
          <p:cNvGrpSpPr/>
          <p:nvPr/>
        </p:nvGrpSpPr>
        <p:grpSpPr>
          <a:xfrm>
            <a:off x="7696200" y="1666875"/>
            <a:ext cx="98425" cy="452438"/>
            <a:chOff x="4848" y="1050"/>
            <a:chExt cx="62" cy="285"/>
          </a:xfrm>
        </p:grpSpPr>
        <p:grpSp>
          <p:nvGrpSpPr>
            <p:cNvPr id="17594" name="Group 227"/>
            <p:cNvGrpSpPr/>
            <p:nvPr/>
          </p:nvGrpSpPr>
          <p:grpSpPr>
            <a:xfrm>
              <a:off x="4848" y="1050"/>
              <a:ext cx="62" cy="285"/>
              <a:chOff x="4848" y="1050"/>
              <a:chExt cx="62" cy="285"/>
            </a:xfrm>
          </p:grpSpPr>
          <p:sp>
            <p:nvSpPr>
              <p:cNvPr id="17596" name="Oval 221"/>
              <p:cNvSpPr/>
              <p:nvPr/>
            </p:nvSpPr>
            <p:spPr>
              <a:xfrm>
                <a:off x="4860" y="1217"/>
                <a:ext cx="39" cy="118"/>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97" name="Line 222"/>
              <p:cNvSpPr/>
              <p:nvPr/>
            </p:nvSpPr>
            <p:spPr>
              <a:xfrm flipH="1" flipV="1">
                <a:off x="4848" y="1051"/>
                <a:ext cx="15" cy="257"/>
              </a:xfrm>
              <a:prstGeom prst="line">
                <a:avLst/>
              </a:prstGeom>
              <a:ln w="0" cap="flat" cmpd="sng">
                <a:solidFill>
                  <a:srgbClr val="000000"/>
                </a:solidFill>
                <a:prstDash val="solid"/>
                <a:headEnd type="none" w="med" len="med"/>
                <a:tailEnd type="none" w="med" len="med"/>
              </a:ln>
            </p:spPr>
          </p:sp>
          <p:sp>
            <p:nvSpPr>
              <p:cNvPr id="17598" name="Line 223"/>
              <p:cNvSpPr/>
              <p:nvPr/>
            </p:nvSpPr>
            <p:spPr>
              <a:xfrm flipV="1">
                <a:off x="4895" y="1050"/>
                <a:ext cx="15" cy="256"/>
              </a:xfrm>
              <a:prstGeom prst="line">
                <a:avLst/>
              </a:prstGeom>
              <a:ln w="0" cap="flat" cmpd="sng">
                <a:solidFill>
                  <a:srgbClr val="000000"/>
                </a:solidFill>
                <a:prstDash val="solid"/>
                <a:headEnd type="none" w="med" len="med"/>
                <a:tailEnd type="none" w="med" len="med"/>
              </a:ln>
            </p:spPr>
          </p:sp>
          <p:sp>
            <p:nvSpPr>
              <p:cNvPr id="17599" name="Rectangle 224"/>
              <p:cNvSpPr/>
              <p:nvPr/>
            </p:nvSpPr>
            <p:spPr>
              <a:xfrm>
                <a:off x="4863" y="1218"/>
                <a:ext cx="33" cy="38"/>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00" name="Rectangle 225"/>
              <p:cNvSpPr/>
              <p:nvPr/>
            </p:nvSpPr>
            <p:spPr>
              <a:xfrm>
                <a:off x="4863" y="1250"/>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601" name="Rectangle 226"/>
              <p:cNvSpPr/>
              <p:nvPr/>
            </p:nvSpPr>
            <p:spPr>
              <a:xfrm>
                <a:off x="4889" y="1250"/>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17595" name="Rectangle 228"/>
            <p:cNvSpPr/>
            <p:nvPr/>
          </p:nvSpPr>
          <p:spPr>
            <a:xfrm>
              <a:off x="4866" y="1184"/>
              <a:ext cx="26" cy="5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54" name="Group 234"/>
          <p:cNvGrpSpPr/>
          <p:nvPr/>
        </p:nvGrpSpPr>
        <p:grpSpPr>
          <a:xfrm>
            <a:off x="7597775" y="1231900"/>
            <a:ext cx="98425" cy="442913"/>
            <a:chOff x="4786" y="776"/>
            <a:chExt cx="62" cy="279"/>
          </a:xfrm>
        </p:grpSpPr>
        <p:sp>
          <p:nvSpPr>
            <p:cNvPr id="17590" name="Oval 230"/>
            <p:cNvSpPr/>
            <p:nvPr/>
          </p:nvSpPr>
          <p:spPr>
            <a:xfrm>
              <a:off x="4798" y="776"/>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91" name="Line 231"/>
            <p:cNvSpPr/>
            <p:nvPr/>
          </p:nvSpPr>
          <p:spPr>
            <a:xfrm flipH="1">
              <a:off x="4786" y="806"/>
              <a:ext cx="15" cy="249"/>
            </a:xfrm>
            <a:prstGeom prst="line">
              <a:avLst/>
            </a:prstGeom>
            <a:ln w="0" cap="flat" cmpd="sng">
              <a:solidFill>
                <a:srgbClr val="000000"/>
              </a:solidFill>
              <a:prstDash val="solid"/>
              <a:headEnd type="none" w="med" len="med"/>
              <a:tailEnd type="none" w="med" len="med"/>
            </a:ln>
          </p:spPr>
        </p:sp>
        <p:sp>
          <p:nvSpPr>
            <p:cNvPr id="17592" name="Line 232"/>
            <p:cNvSpPr/>
            <p:nvPr/>
          </p:nvSpPr>
          <p:spPr>
            <a:xfrm>
              <a:off x="4834" y="806"/>
              <a:ext cx="14" cy="249"/>
            </a:xfrm>
            <a:prstGeom prst="line">
              <a:avLst/>
            </a:prstGeom>
            <a:ln w="0" cap="flat" cmpd="sng">
              <a:solidFill>
                <a:srgbClr val="000000"/>
              </a:solidFill>
              <a:prstDash val="solid"/>
              <a:headEnd type="none" w="med" len="med"/>
              <a:tailEnd type="none" w="med" len="med"/>
            </a:ln>
          </p:spPr>
        </p:sp>
        <p:sp>
          <p:nvSpPr>
            <p:cNvPr id="17593" name="Rectangle 233"/>
            <p:cNvSpPr/>
            <p:nvPr/>
          </p:nvSpPr>
          <p:spPr>
            <a:xfrm>
              <a:off x="4801" y="855"/>
              <a:ext cx="34" cy="4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59" name="Group 239"/>
          <p:cNvGrpSpPr/>
          <p:nvPr/>
        </p:nvGrpSpPr>
        <p:grpSpPr>
          <a:xfrm>
            <a:off x="7794625" y="1231900"/>
            <a:ext cx="96838" cy="442913"/>
            <a:chOff x="4910" y="776"/>
            <a:chExt cx="61" cy="279"/>
          </a:xfrm>
        </p:grpSpPr>
        <p:sp>
          <p:nvSpPr>
            <p:cNvPr id="17586" name="Oval 235"/>
            <p:cNvSpPr/>
            <p:nvPr/>
          </p:nvSpPr>
          <p:spPr>
            <a:xfrm>
              <a:off x="4922" y="776"/>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87" name="Line 236"/>
            <p:cNvSpPr/>
            <p:nvPr/>
          </p:nvSpPr>
          <p:spPr>
            <a:xfrm flipH="1">
              <a:off x="4910" y="806"/>
              <a:ext cx="14" cy="249"/>
            </a:xfrm>
            <a:prstGeom prst="line">
              <a:avLst/>
            </a:prstGeom>
            <a:ln w="0" cap="flat" cmpd="sng">
              <a:solidFill>
                <a:srgbClr val="000000"/>
              </a:solidFill>
              <a:prstDash val="solid"/>
              <a:headEnd type="none" w="med" len="med"/>
              <a:tailEnd type="none" w="med" len="med"/>
            </a:ln>
          </p:spPr>
        </p:sp>
        <p:sp>
          <p:nvSpPr>
            <p:cNvPr id="17588" name="Line 237"/>
            <p:cNvSpPr/>
            <p:nvPr/>
          </p:nvSpPr>
          <p:spPr>
            <a:xfrm>
              <a:off x="4957" y="806"/>
              <a:ext cx="14" cy="249"/>
            </a:xfrm>
            <a:prstGeom prst="line">
              <a:avLst/>
            </a:prstGeom>
            <a:ln w="0" cap="flat" cmpd="sng">
              <a:solidFill>
                <a:srgbClr val="000000"/>
              </a:solidFill>
              <a:prstDash val="solid"/>
              <a:headEnd type="none" w="med" len="med"/>
              <a:tailEnd type="none" w="med" len="med"/>
            </a:ln>
          </p:spPr>
        </p:sp>
        <p:sp>
          <p:nvSpPr>
            <p:cNvPr id="17589" name="Rectangle 238"/>
            <p:cNvSpPr/>
            <p:nvPr/>
          </p:nvSpPr>
          <p:spPr>
            <a:xfrm>
              <a:off x="4924" y="855"/>
              <a:ext cx="34" cy="4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67" name="Group 247"/>
          <p:cNvGrpSpPr/>
          <p:nvPr/>
        </p:nvGrpSpPr>
        <p:grpSpPr>
          <a:xfrm>
            <a:off x="7889875" y="1671638"/>
            <a:ext cx="100013" cy="454025"/>
            <a:chOff x="4970" y="1053"/>
            <a:chExt cx="63" cy="286"/>
          </a:xfrm>
        </p:grpSpPr>
        <p:sp>
          <p:nvSpPr>
            <p:cNvPr id="17579" name="Oval 240"/>
            <p:cNvSpPr/>
            <p:nvPr/>
          </p:nvSpPr>
          <p:spPr>
            <a:xfrm>
              <a:off x="4984" y="1220"/>
              <a:ext cx="38"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80" name="Line 241"/>
            <p:cNvSpPr/>
            <p:nvPr/>
          </p:nvSpPr>
          <p:spPr>
            <a:xfrm flipH="1" flipV="1">
              <a:off x="4970" y="1053"/>
              <a:ext cx="16" cy="259"/>
            </a:xfrm>
            <a:prstGeom prst="line">
              <a:avLst/>
            </a:prstGeom>
            <a:ln w="0" cap="flat" cmpd="sng">
              <a:solidFill>
                <a:srgbClr val="000000"/>
              </a:solidFill>
              <a:prstDash val="solid"/>
              <a:headEnd type="none" w="med" len="med"/>
              <a:tailEnd type="none" w="med" len="med"/>
            </a:ln>
          </p:spPr>
        </p:sp>
        <p:sp>
          <p:nvSpPr>
            <p:cNvPr id="17581" name="Line 242"/>
            <p:cNvSpPr/>
            <p:nvPr/>
          </p:nvSpPr>
          <p:spPr>
            <a:xfrm flipV="1">
              <a:off x="5019" y="1054"/>
              <a:ext cx="14" cy="255"/>
            </a:xfrm>
            <a:prstGeom prst="line">
              <a:avLst/>
            </a:prstGeom>
            <a:ln w="0" cap="flat" cmpd="sng">
              <a:solidFill>
                <a:srgbClr val="000000"/>
              </a:solidFill>
              <a:prstDash val="solid"/>
              <a:headEnd type="none" w="med" len="med"/>
              <a:tailEnd type="none" w="med" len="med"/>
            </a:ln>
          </p:spPr>
        </p:sp>
        <p:sp>
          <p:nvSpPr>
            <p:cNvPr id="17582" name="Rectangle 243"/>
            <p:cNvSpPr/>
            <p:nvPr/>
          </p:nvSpPr>
          <p:spPr>
            <a:xfrm>
              <a:off x="4986"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83" name="Rectangle 244"/>
            <p:cNvSpPr/>
            <p:nvPr/>
          </p:nvSpPr>
          <p:spPr>
            <a:xfrm>
              <a:off x="4986"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84" name="Rectangle 245"/>
            <p:cNvSpPr/>
            <p:nvPr/>
          </p:nvSpPr>
          <p:spPr>
            <a:xfrm>
              <a:off x="5013"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85" name="Rectangle 246"/>
            <p:cNvSpPr/>
            <p:nvPr/>
          </p:nvSpPr>
          <p:spPr>
            <a:xfrm>
              <a:off x="4990" y="1187"/>
              <a:ext cx="25"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58172" name="Group 252"/>
          <p:cNvGrpSpPr/>
          <p:nvPr/>
        </p:nvGrpSpPr>
        <p:grpSpPr>
          <a:xfrm>
            <a:off x="7989888" y="1231900"/>
            <a:ext cx="98425" cy="442913"/>
            <a:chOff x="5033" y="776"/>
            <a:chExt cx="62" cy="279"/>
          </a:xfrm>
        </p:grpSpPr>
        <p:sp>
          <p:nvSpPr>
            <p:cNvPr id="17575" name="Oval 248"/>
            <p:cNvSpPr/>
            <p:nvPr/>
          </p:nvSpPr>
          <p:spPr>
            <a:xfrm>
              <a:off x="5045" y="776"/>
              <a:ext cx="39"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76" name="Line 249"/>
            <p:cNvSpPr/>
            <p:nvPr/>
          </p:nvSpPr>
          <p:spPr>
            <a:xfrm flipH="1">
              <a:off x="5033" y="806"/>
              <a:ext cx="15" cy="249"/>
            </a:xfrm>
            <a:prstGeom prst="line">
              <a:avLst/>
            </a:prstGeom>
            <a:ln w="0" cap="flat" cmpd="sng">
              <a:solidFill>
                <a:srgbClr val="000000"/>
              </a:solidFill>
              <a:prstDash val="solid"/>
              <a:headEnd type="none" w="med" len="med"/>
              <a:tailEnd type="none" w="med" len="med"/>
            </a:ln>
          </p:spPr>
        </p:sp>
        <p:sp>
          <p:nvSpPr>
            <p:cNvPr id="17577" name="Line 250"/>
            <p:cNvSpPr/>
            <p:nvPr/>
          </p:nvSpPr>
          <p:spPr>
            <a:xfrm>
              <a:off x="5080" y="806"/>
              <a:ext cx="15" cy="249"/>
            </a:xfrm>
            <a:prstGeom prst="line">
              <a:avLst/>
            </a:prstGeom>
            <a:ln w="0" cap="flat" cmpd="sng">
              <a:solidFill>
                <a:srgbClr val="000000"/>
              </a:solidFill>
              <a:prstDash val="solid"/>
              <a:headEnd type="none" w="med" len="med"/>
              <a:tailEnd type="none" w="med" len="med"/>
            </a:ln>
          </p:spPr>
        </p:sp>
        <p:sp>
          <p:nvSpPr>
            <p:cNvPr id="17578" name="Rectangle 251"/>
            <p:cNvSpPr/>
            <p:nvPr/>
          </p:nvSpPr>
          <p:spPr>
            <a:xfrm>
              <a:off x="5048" y="855"/>
              <a:ext cx="33" cy="4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2258181" name="Oval 261"/>
          <p:cNvSpPr/>
          <p:nvPr/>
        </p:nvSpPr>
        <p:spPr>
          <a:xfrm>
            <a:off x="8205788" y="1227138"/>
            <a:ext cx="60325" cy="187325"/>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182" name="Line 262"/>
          <p:cNvSpPr/>
          <p:nvPr/>
        </p:nvSpPr>
        <p:spPr>
          <a:xfrm flipH="1">
            <a:off x="8185150" y="1274763"/>
            <a:ext cx="23813" cy="393700"/>
          </a:xfrm>
          <a:prstGeom prst="line">
            <a:avLst/>
          </a:prstGeom>
          <a:ln w="0" cap="flat" cmpd="sng">
            <a:solidFill>
              <a:srgbClr val="000000"/>
            </a:solidFill>
            <a:prstDash val="solid"/>
            <a:headEnd type="none" w="med" len="med"/>
            <a:tailEnd type="none" w="med" len="med"/>
          </a:ln>
        </p:spPr>
      </p:sp>
      <p:sp>
        <p:nvSpPr>
          <p:cNvPr id="2258183" name="Line 263"/>
          <p:cNvSpPr/>
          <p:nvPr/>
        </p:nvSpPr>
        <p:spPr>
          <a:xfrm>
            <a:off x="8261350" y="1274763"/>
            <a:ext cx="26988" cy="396875"/>
          </a:xfrm>
          <a:prstGeom prst="line">
            <a:avLst/>
          </a:prstGeom>
          <a:ln w="0" cap="flat" cmpd="sng">
            <a:solidFill>
              <a:srgbClr val="000000"/>
            </a:solidFill>
            <a:prstDash val="solid"/>
            <a:headEnd type="none" w="med" len="med"/>
            <a:tailEnd type="none" w="med" len="med"/>
          </a:ln>
        </p:spPr>
      </p:sp>
      <p:sp>
        <p:nvSpPr>
          <p:cNvPr id="17499" name="Rectangle 264"/>
          <p:cNvSpPr/>
          <p:nvPr/>
        </p:nvSpPr>
        <p:spPr>
          <a:xfrm>
            <a:off x="8208963" y="1352550"/>
            <a:ext cx="53975" cy="7302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2258192" name="Group 272"/>
          <p:cNvGrpSpPr/>
          <p:nvPr/>
        </p:nvGrpSpPr>
        <p:grpSpPr>
          <a:xfrm>
            <a:off x="6708775" y="1671638"/>
            <a:ext cx="100013" cy="454025"/>
            <a:chOff x="4226" y="1053"/>
            <a:chExt cx="63" cy="286"/>
          </a:xfrm>
        </p:grpSpPr>
        <p:sp>
          <p:nvSpPr>
            <p:cNvPr id="17568" name="Oval 265"/>
            <p:cNvSpPr/>
            <p:nvPr/>
          </p:nvSpPr>
          <p:spPr>
            <a:xfrm>
              <a:off x="4240" y="1220"/>
              <a:ext cx="38" cy="119"/>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69" name="Line 266"/>
            <p:cNvSpPr/>
            <p:nvPr/>
          </p:nvSpPr>
          <p:spPr>
            <a:xfrm flipH="1" flipV="1">
              <a:off x="4226" y="1053"/>
              <a:ext cx="16" cy="259"/>
            </a:xfrm>
            <a:prstGeom prst="line">
              <a:avLst/>
            </a:prstGeom>
            <a:ln w="0" cap="flat" cmpd="sng">
              <a:solidFill>
                <a:srgbClr val="000000"/>
              </a:solidFill>
              <a:prstDash val="solid"/>
              <a:headEnd type="none" w="med" len="med"/>
              <a:tailEnd type="none" w="med" len="med"/>
            </a:ln>
          </p:spPr>
        </p:sp>
        <p:sp>
          <p:nvSpPr>
            <p:cNvPr id="17570" name="Line 267"/>
            <p:cNvSpPr/>
            <p:nvPr/>
          </p:nvSpPr>
          <p:spPr>
            <a:xfrm flipV="1">
              <a:off x="4275" y="1054"/>
              <a:ext cx="14" cy="255"/>
            </a:xfrm>
            <a:prstGeom prst="line">
              <a:avLst/>
            </a:prstGeom>
            <a:ln w="0" cap="flat" cmpd="sng">
              <a:solidFill>
                <a:srgbClr val="000000"/>
              </a:solidFill>
              <a:prstDash val="solid"/>
              <a:headEnd type="none" w="med" len="med"/>
              <a:tailEnd type="none" w="med" len="med"/>
            </a:ln>
          </p:spPr>
        </p:sp>
        <p:sp>
          <p:nvSpPr>
            <p:cNvPr id="17571" name="Rectangle 268"/>
            <p:cNvSpPr/>
            <p:nvPr/>
          </p:nvSpPr>
          <p:spPr>
            <a:xfrm>
              <a:off x="4242" y="1221"/>
              <a:ext cx="34" cy="3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72" name="Rectangle 269"/>
            <p:cNvSpPr/>
            <p:nvPr/>
          </p:nvSpPr>
          <p:spPr>
            <a:xfrm>
              <a:off x="4242"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73" name="Rectangle 270"/>
            <p:cNvSpPr/>
            <p:nvPr/>
          </p:nvSpPr>
          <p:spPr>
            <a:xfrm>
              <a:off x="4269" y="1254"/>
              <a:ext cx="7" cy="16"/>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74" name="Rectangle 271"/>
            <p:cNvSpPr/>
            <p:nvPr/>
          </p:nvSpPr>
          <p:spPr>
            <a:xfrm>
              <a:off x="4242" y="1180"/>
              <a:ext cx="22" cy="6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2258198" name="Oval 278"/>
          <p:cNvSpPr/>
          <p:nvPr/>
        </p:nvSpPr>
        <p:spPr>
          <a:xfrm>
            <a:off x="6534150" y="1936750"/>
            <a:ext cx="61913" cy="188913"/>
          </a:xfrm>
          <a:prstGeom prst="ellipse">
            <a:avLst/>
          </a:prstGeom>
          <a:noFill/>
          <a:ln w="0" cap="flat" cmpd="sng">
            <a:solidFill>
              <a:srgbClr val="000000"/>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199" name="Line 279"/>
          <p:cNvSpPr/>
          <p:nvPr/>
        </p:nvSpPr>
        <p:spPr>
          <a:xfrm flipH="1" flipV="1">
            <a:off x="6519863" y="1671638"/>
            <a:ext cx="19050" cy="411162"/>
          </a:xfrm>
          <a:prstGeom prst="line">
            <a:avLst/>
          </a:prstGeom>
          <a:ln w="0" cap="flat" cmpd="sng">
            <a:solidFill>
              <a:srgbClr val="000000"/>
            </a:solidFill>
            <a:prstDash val="solid"/>
            <a:headEnd type="none" w="med" len="med"/>
            <a:tailEnd type="none" w="med" len="med"/>
          </a:ln>
        </p:spPr>
      </p:sp>
      <p:sp>
        <p:nvSpPr>
          <p:cNvPr id="2258200" name="Line 280"/>
          <p:cNvSpPr/>
          <p:nvPr/>
        </p:nvSpPr>
        <p:spPr>
          <a:xfrm flipV="1">
            <a:off x="6589713" y="1673225"/>
            <a:ext cx="23812" cy="404813"/>
          </a:xfrm>
          <a:prstGeom prst="line">
            <a:avLst/>
          </a:prstGeom>
          <a:ln w="0" cap="flat" cmpd="sng">
            <a:solidFill>
              <a:srgbClr val="000000"/>
            </a:solidFill>
            <a:prstDash val="solid"/>
            <a:headEnd type="none" w="med" len="med"/>
            <a:tailEnd type="none" w="med" len="med"/>
          </a:ln>
        </p:spPr>
      </p:sp>
      <p:sp>
        <p:nvSpPr>
          <p:cNvPr id="17504" name="Rectangle 281"/>
          <p:cNvSpPr/>
          <p:nvPr/>
        </p:nvSpPr>
        <p:spPr>
          <a:xfrm>
            <a:off x="6538913" y="1938338"/>
            <a:ext cx="53975" cy="61912"/>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05" name="Rectangle 282"/>
          <p:cNvSpPr/>
          <p:nvPr/>
        </p:nvSpPr>
        <p:spPr>
          <a:xfrm>
            <a:off x="6538913" y="1990725"/>
            <a:ext cx="11112" cy="2540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06" name="Rectangle 283"/>
          <p:cNvSpPr/>
          <p:nvPr/>
        </p:nvSpPr>
        <p:spPr>
          <a:xfrm>
            <a:off x="6580188" y="1990725"/>
            <a:ext cx="12700" cy="2540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07" name="Rectangle 284"/>
          <p:cNvSpPr/>
          <p:nvPr/>
        </p:nvSpPr>
        <p:spPr>
          <a:xfrm>
            <a:off x="6538913" y="1873250"/>
            <a:ext cx="33337" cy="952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08" name="Rectangle 300"/>
          <p:cNvSpPr/>
          <p:nvPr/>
        </p:nvSpPr>
        <p:spPr>
          <a:xfrm>
            <a:off x="7670800" y="2063750"/>
            <a:ext cx="34925" cy="5397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09" name="Rectangle 301"/>
          <p:cNvSpPr/>
          <p:nvPr/>
        </p:nvSpPr>
        <p:spPr>
          <a:xfrm>
            <a:off x="7607300" y="2014538"/>
            <a:ext cx="34925" cy="5397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10" name="Rectangle 371"/>
          <p:cNvSpPr/>
          <p:nvPr/>
        </p:nvSpPr>
        <p:spPr>
          <a:xfrm>
            <a:off x="6410325" y="1562100"/>
            <a:ext cx="103188" cy="196850"/>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58292" name="Line 372"/>
          <p:cNvSpPr/>
          <p:nvPr/>
        </p:nvSpPr>
        <p:spPr>
          <a:xfrm>
            <a:off x="6513513" y="5192713"/>
            <a:ext cx="1587" cy="542925"/>
          </a:xfrm>
          <a:prstGeom prst="line">
            <a:avLst/>
          </a:prstGeom>
          <a:ln w="0" cap="flat" cmpd="sng">
            <a:solidFill>
              <a:srgbClr val="000000"/>
            </a:solidFill>
            <a:prstDash val="solid"/>
            <a:headEnd type="none" w="med" len="med"/>
            <a:tailEnd type="none" w="med" len="med"/>
          </a:ln>
        </p:spPr>
      </p:sp>
      <p:grpSp>
        <p:nvGrpSpPr>
          <p:cNvPr id="2258299" name="Group 379"/>
          <p:cNvGrpSpPr/>
          <p:nvPr/>
        </p:nvGrpSpPr>
        <p:grpSpPr>
          <a:xfrm>
            <a:off x="6513513" y="5635625"/>
            <a:ext cx="1785937" cy="44450"/>
            <a:chOff x="4103" y="3550"/>
            <a:chExt cx="1125" cy="28"/>
          </a:xfrm>
        </p:grpSpPr>
        <p:sp>
          <p:nvSpPr>
            <p:cNvPr id="17563" name="Line 374"/>
            <p:cNvSpPr/>
            <p:nvPr/>
          </p:nvSpPr>
          <p:spPr>
            <a:xfrm>
              <a:off x="4103" y="3564"/>
              <a:ext cx="1125" cy="1"/>
            </a:xfrm>
            <a:prstGeom prst="line">
              <a:avLst/>
            </a:prstGeom>
            <a:ln w="0" cap="flat" cmpd="sng">
              <a:solidFill>
                <a:srgbClr val="000000"/>
              </a:solidFill>
              <a:prstDash val="solid"/>
              <a:headEnd type="none" w="med" len="med"/>
              <a:tailEnd type="none" w="med" len="med"/>
            </a:ln>
          </p:spPr>
        </p:sp>
        <p:sp>
          <p:nvSpPr>
            <p:cNvPr id="17564" name="Line 375"/>
            <p:cNvSpPr/>
            <p:nvPr/>
          </p:nvSpPr>
          <p:spPr>
            <a:xfrm flipH="1" flipV="1">
              <a:off x="5184" y="3550"/>
              <a:ext cx="44" cy="14"/>
            </a:xfrm>
            <a:prstGeom prst="line">
              <a:avLst/>
            </a:prstGeom>
            <a:ln w="0" cap="flat" cmpd="sng">
              <a:solidFill>
                <a:srgbClr val="000000"/>
              </a:solidFill>
              <a:prstDash val="solid"/>
              <a:headEnd type="none" w="med" len="med"/>
              <a:tailEnd type="none" w="med" len="med"/>
            </a:ln>
          </p:spPr>
        </p:sp>
        <p:sp>
          <p:nvSpPr>
            <p:cNvPr id="17565" name="Line 376"/>
            <p:cNvSpPr/>
            <p:nvPr/>
          </p:nvSpPr>
          <p:spPr>
            <a:xfrm flipH="1">
              <a:off x="5184" y="3564"/>
              <a:ext cx="44" cy="14"/>
            </a:xfrm>
            <a:prstGeom prst="line">
              <a:avLst/>
            </a:prstGeom>
            <a:ln w="0" cap="flat" cmpd="sng">
              <a:solidFill>
                <a:srgbClr val="000000"/>
              </a:solidFill>
              <a:prstDash val="solid"/>
              <a:headEnd type="none" w="med" len="med"/>
              <a:tailEnd type="none" w="med" len="med"/>
            </a:ln>
          </p:spPr>
        </p:sp>
        <p:sp>
          <p:nvSpPr>
            <p:cNvPr id="17566" name="Line 377"/>
            <p:cNvSpPr/>
            <p:nvPr/>
          </p:nvSpPr>
          <p:spPr>
            <a:xfrm flipV="1">
              <a:off x="4110" y="3550"/>
              <a:ext cx="44" cy="14"/>
            </a:xfrm>
            <a:prstGeom prst="line">
              <a:avLst/>
            </a:prstGeom>
            <a:ln w="0" cap="flat" cmpd="sng">
              <a:solidFill>
                <a:srgbClr val="000000"/>
              </a:solidFill>
              <a:prstDash val="solid"/>
              <a:headEnd type="none" w="med" len="med"/>
              <a:tailEnd type="none" w="med" len="med"/>
            </a:ln>
          </p:spPr>
        </p:sp>
        <p:sp>
          <p:nvSpPr>
            <p:cNvPr id="17567" name="Line 378"/>
            <p:cNvSpPr/>
            <p:nvPr/>
          </p:nvSpPr>
          <p:spPr>
            <a:xfrm>
              <a:off x="4103" y="3564"/>
              <a:ext cx="51" cy="14"/>
            </a:xfrm>
            <a:prstGeom prst="line">
              <a:avLst/>
            </a:prstGeom>
            <a:ln w="0" cap="flat" cmpd="sng">
              <a:solidFill>
                <a:srgbClr val="000000"/>
              </a:solidFill>
              <a:prstDash val="solid"/>
              <a:headEnd type="none" w="med" len="med"/>
              <a:tailEnd type="none" w="med" len="med"/>
            </a:ln>
          </p:spPr>
        </p:sp>
      </p:grpSp>
      <p:sp>
        <p:nvSpPr>
          <p:cNvPr id="2258300" name="Rectangle 380"/>
          <p:cNvSpPr/>
          <p:nvPr/>
        </p:nvSpPr>
        <p:spPr>
          <a:xfrm>
            <a:off x="7270750" y="5492750"/>
            <a:ext cx="325438" cy="182563"/>
          </a:xfrm>
          <a:prstGeom prst="rect">
            <a:avLst/>
          </a:prstGeom>
          <a:noFill/>
          <a:ln w="9525">
            <a:noFill/>
          </a:ln>
        </p:spPr>
        <p:txBody>
          <a:bodyPr wrap="none" lIns="0" tIns="0" rIns="0" bIns="0">
            <a:spAutoFit/>
          </a:bodyPr>
          <a:p>
            <a:pPr algn="ctr" eaLnBrk="1" hangingPunct="1"/>
            <a:r>
              <a:rPr lang="en-US" altLang="zh-CN" sz="1200" b="0">
                <a:solidFill>
                  <a:srgbClr val="000000"/>
                </a:solidFill>
                <a:latin typeface="Times New Roman" panose="02020603050405020304" pitchFamily="18" charset="0"/>
              </a:rPr>
              <a:t>0.01s</a:t>
            </a:r>
            <a:endParaRPr lang="en-US" altLang="zh-CN" b="1">
              <a:solidFill>
                <a:srgbClr val="333399"/>
              </a:solidFill>
              <a:latin typeface="楷体_GB2312" pitchFamily="49" charset="-122"/>
            </a:endParaRPr>
          </a:p>
        </p:txBody>
      </p:sp>
      <p:grpSp>
        <p:nvGrpSpPr>
          <p:cNvPr id="2258306" name="Group 386"/>
          <p:cNvGrpSpPr/>
          <p:nvPr/>
        </p:nvGrpSpPr>
        <p:grpSpPr>
          <a:xfrm>
            <a:off x="5810250" y="4787900"/>
            <a:ext cx="654050" cy="246063"/>
            <a:chOff x="3660" y="3016"/>
            <a:chExt cx="412" cy="155"/>
          </a:xfrm>
        </p:grpSpPr>
        <p:sp>
          <p:nvSpPr>
            <p:cNvPr id="17559" name="Rectangle 382"/>
            <p:cNvSpPr/>
            <p:nvPr/>
          </p:nvSpPr>
          <p:spPr>
            <a:xfrm>
              <a:off x="3660" y="3016"/>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560" name="Rectangle 383"/>
            <p:cNvSpPr/>
            <p:nvPr/>
          </p:nvSpPr>
          <p:spPr>
            <a:xfrm>
              <a:off x="3747" y="3037"/>
              <a:ext cx="63" cy="134"/>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sp>
          <p:nvSpPr>
            <p:cNvPr id="17561" name="Rectangle 384"/>
            <p:cNvSpPr/>
            <p:nvPr/>
          </p:nvSpPr>
          <p:spPr>
            <a:xfrm>
              <a:off x="3816" y="3047"/>
              <a:ext cx="256" cy="115"/>
            </a:xfrm>
            <a:prstGeom prst="rect">
              <a:avLst/>
            </a:prstGeom>
            <a:noFill/>
            <a:ln w="9525">
              <a:noFill/>
            </a:ln>
          </p:spPr>
          <p:txBody>
            <a:bodyPr wrap="none" lIns="0" tIns="0" rIns="0" bIns="0">
              <a:spAutoFit/>
            </a:bodyPr>
            <a:p>
              <a:pPr algn="ctr" eaLnBrk="1" hangingPunct="1"/>
              <a:r>
                <a:rPr lang="en-US" altLang="zh-CN" sz="1200" b="0">
                  <a:solidFill>
                    <a:srgbClr val="000000"/>
                  </a:solidFill>
                  <a:latin typeface="Times New Roman" panose="02020603050405020304" pitchFamily="18" charset="0"/>
                </a:rPr>
                <a:t>500Hz</a:t>
              </a:r>
              <a:endParaRPr lang="en-US" altLang="zh-CN" b="1">
                <a:solidFill>
                  <a:srgbClr val="333399"/>
                </a:solidFill>
                <a:latin typeface="楷体_GB2312" pitchFamily="49" charset="-122"/>
              </a:endParaRPr>
            </a:p>
          </p:txBody>
        </p:sp>
        <p:sp>
          <p:nvSpPr>
            <p:cNvPr id="17562" name="Rectangle 385"/>
            <p:cNvSpPr/>
            <p:nvPr/>
          </p:nvSpPr>
          <p:spPr>
            <a:xfrm>
              <a:off x="3686" y="3095"/>
              <a:ext cx="24" cy="58"/>
            </a:xfrm>
            <a:prstGeom prst="rect">
              <a:avLst/>
            </a:prstGeom>
            <a:noFill/>
            <a:ln w="9525">
              <a:noFill/>
            </a:ln>
          </p:spPr>
          <p:txBody>
            <a:bodyPr wrap="none" lIns="0" tIns="0" rIns="0" bIns="0">
              <a:spAutoFit/>
            </a:bodyPr>
            <a:p>
              <a:pPr algn="ctr" eaLnBrk="1" hangingPunct="1"/>
              <a:r>
                <a:rPr lang="en-US" altLang="zh-CN" sz="600" b="0" i="1">
                  <a:solidFill>
                    <a:srgbClr val="000000"/>
                  </a:solidFill>
                  <a:latin typeface="Times New Roman" panose="02020603050405020304" pitchFamily="18" charset="0"/>
                </a:rPr>
                <a:t>S</a:t>
              </a:r>
              <a:endParaRPr lang="en-US" altLang="zh-CN" b="1">
                <a:solidFill>
                  <a:srgbClr val="333399"/>
                </a:solidFill>
                <a:latin typeface="楷体_GB2312" pitchFamily="49" charset="-122"/>
              </a:endParaRPr>
            </a:p>
          </p:txBody>
        </p:sp>
      </p:grpSp>
      <p:grpSp>
        <p:nvGrpSpPr>
          <p:cNvPr id="2258311" name="Group 391"/>
          <p:cNvGrpSpPr/>
          <p:nvPr/>
        </p:nvGrpSpPr>
        <p:grpSpPr>
          <a:xfrm>
            <a:off x="5826125" y="3167063"/>
            <a:ext cx="635000" cy="246062"/>
            <a:chOff x="3670" y="1995"/>
            <a:chExt cx="400" cy="155"/>
          </a:xfrm>
        </p:grpSpPr>
        <p:sp>
          <p:nvSpPr>
            <p:cNvPr id="17555" name="Rectangle 387"/>
            <p:cNvSpPr/>
            <p:nvPr/>
          </p:nvSpPr>
          <p:spPr>
            <a:xfrm>
              <a:off x="3814" y="2027"/>
              <a:ext cx="256" cy="115"/>
            </a:xfrm>
            <a:prstGeom prst="rect">
              <a:avLst/>
            </a:prstGeom>
            <a:noFill/>
            <a:ln w="9525">
              <a:noFill/>
            </a:ln>
          </p:spPr>
          <p:txBody>
            <a:bodyPr wrap="none" lIns="0" tIns="0" rIns="0" bIns="0">
              <a:spAutoFit/>
            </a:bodyPr>
            <a:p>
              <a:pPr algn="ctr" eaLnBrk="1" hangingPunct="1"/>
              <a:r>
                <a:rPr lang="en-US" altLang="zh-CN" sz="1200" b="0">
                  <a:solidFill>
                    <a:srgbClr val="000000"/>
                  </a:solidFill>
                  <a:latin typeface="Times New Roman" panose="02020603050405020304" pitchFamily="18" charset="0"/>
                </a:rPr>
                <a:t>500Hz</a:t>
              </a:r>
              <a:endParaRPr lang="en-US" altLang="zh-CN" b="1">
                <a:solidFill>
                  <a:srgbClr val="333399"/>
                </a:solidFill>
                <a:latin typeface="楷体_GB2312" pitchFamily="49" charset="-122"/>
              </a:endParaRPr>
            </a:p>
          </p:txBody>
        </p:sp>
        <p:sp>
          <p:nvSpPr>
            <p:cNvPr id="17556" name="Rectangle 388"/>
            <p:cNvSpPr/>
            <p:nvPr/>
          </p:nvSpPr>
          <p:spPr>
            <a:xfrm>
              <a:off x="3670" y="1995"/>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557" name="Rectangle 389"/>
            <p:cNvSpPr/>
            <p:nvPr/>
          </p:nvSpPr>
          <p:spPr>
            <a:xfrm>
              <a:off x="3742" y="2016"/>
              <a:ext cx="63" cy="134"/>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a:t>
              </a:r>
              <a:endParaRPr lang="en-US" altLang="zh-CN" b="1">
                <a:solidFill>
                  <a:srgbClr val="333399"/>
                </a:solidFill>
                <a:latin typeface="楷体_GB2312" pitchFamily="49" charset="-122"/>
              </a:endParaRPr>
            </a:p>
          </p:txBody>
        </p:sp>
        <p:sp>
          <p:nvSpPr>
            <p:cNvPr id="17558" name="Rectangle 390"/>
            <p:cNvSpPr/>
            <p:nvPr/>
          </p:nvSpPr>
          <p:spPr>
            <a:xfrm>
              <a:off x="3692" y="2077"/>
              <a:ext cx="24" cy="58"/>
            </a:xfrm>
            <a:prstGeom prst="rect">
              <a:avLst/>
            </a:prstGeom>
            <a:noFill/>
            <a:ln w="9525">
              <a:noFill/>
            </a:ln>
          </p:spPr>
          <p:txBody>
            <a:bodyPr wrap="none" lIns="0" tIns="0" rIns="0" bIns="0">
              <a:spAutoFit/>
            </a:bodyPr>
            <a:p>
              <a:pPr algn="ctr" eaLnBrk="1" hangingPunct="1"/>
              <a:r>
                <a:rPr lang="en-US" altLang="zh-CN" sz="600" b="0" i="1">
                  <a:solidFill>
                    <a:srgbClr val="000000"/>
                  </a:solidFill>
                  <a:latin typeface="Times New Roman" panose="02020603050405020304" pitchFamily="18" charset="0"/>
                </a:rPr>
                <a:t>S</a:t>
              </a:r>
              <a:endParaRPr lang="en-US" altLang="zh-CN" b="1">
                <a:solidFill>
                  <a:srgbClr val="333399"/>
                </a:solidFill>
                <a:latin typeface="楷体_GB2312" pitchFamily="49" charset="-122"/>
              </a:endParaRPr>
            </a:p>
          </p:txBody>
        </p:sp>
      </p:grpSp>
      <p:grpSp>
        <p:nvGrpSpPr>
          <p:cNvPr id="2258315" name="Group 395"/>
          <p:cNvGrpSpPr/>
          <p:nvPr/>
        </p:nvGrpSpPr>
        <p:grpSpPr>
          <a:xfrm>
            <a:off x="5819775" y="1647825"/>
            <a:ext cx="641350" cy="231775"/>
            <a:chOff x="3666" y="1038"/>
            <a:chExt cx="404" cy="146"/>
          </a:xfrm>
        </p:grpSpPr>
        <p:sp>
          <p:nvSpPr>
            <p:cNvPr id="17552" name="Rectangle 392"/>
            <p:cNvSpPr/>
            <p:nvPr/>
          </p:nvSpPr>
          <p:spPr>
            <a:xfrm>
              <a:off x="3814" y="1069"/>
              <a:ext cx="256" cy="115"/>
            </a:xfrm>
            <a:prstGeom prst="rect">
              <a:avLst/>
            </a:prstGeom>
            <a:noFill/>
            <a:ln w="9525">
              <a:noFill/>
            </a:ln>
          </p:spPr>
          <p:txBody>
            <a:bodyPr wrap="none" lIns="0" tIns="0" rIns="0" bIns="0">
              <a:spAutoFit/>
            </a:bodyPr>
            <a:p>
              <a:pPr algn="ctr" eaLnBrk="1" hangingPunct="1"/>
              <a:r>
                <a:rPr lang="en-US" altLang="zh-CN" sz="1200" b="0">
                  <a:solidFill>
                    <a:srgbClr val="000000"/>
                  </a:solidFill>
                  <a:latin typeface="Times New Roman" panose="02020603050405020304" pitchFamily="18" charset="0"/>
                </a:rPr>
                <a:t>500Hz</a:t>
              </a:r>
              <a:endParaRPr lang="en-US" altLang="zh-CN" b="1">
                <a:solidFill>
                  <a:srgbClr val="333399"/>
                </a:solidFill>
                <a:latin typeface="楷体_GB2312" pitchFamily="49" charset="-122"/>
              </a:endParaRPr>
            </a:p>
          </p:txBody>
        </p:sp>
        <p:sp>
          <p:nvSpPr>
            <p:cNvPr id="17553" name="Rectangle 393"/>
            <p:cNvSpPr/>
            <p:nvPr/>
          </p:nvSpPr>
          <p:spPr>
            <a:xfrm>
              <a:off x="3666" y="1038"/>
              <a:ext cx="31" cy="134"/>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f</a:t>
              </a:r>
              <a:endParaRPr lang="en-US" altLang="zh-CN" b="1">
                <a:solidFill>
                  <a:srgbClr val="333399"/>
                </a:solidFill>
                <a:latin typeface="楷体_GB2312" pitchFamily="49" charset="-122"/>
              </a:endParaRPr>
            </a:p>
          </p:txBody>
        </p:sp>
        <p:sp>
          <p:nvSpPr>
            <p:cNvPr id="17554" name="Rectangle 394"/>
            <p:cNvSpPr/>
            <p:nvPr/>
          </p:nvSpPr>
          <p:spPr>
            <a:xfrm>
              <a:off x="3692" y="1111"/>
              <a:ext cx="24" cy="58"/>
            </a:xfrm>
            <a:prstGeom prst="rect">
              <a:avLst/>
            </a:prstGeom>
            <a:noFill/>
            <a:ln w="9525">
              <a:noFill/>
            </a:ln>
          </p:spPr>
          <p:txBody>
            <a:bodyPr wrap="none" lIns="0" tIns="0" rIns="0" bIns="0">
              <a:spAutoFit/>
            </a:bodyPr>
            <a:p>
              <a:pPr algn="ctr" eaLnBrk="1" hangingPunct="1"/>
              <a:r>
                <a:rPr lang="en-US" altLang="zh-CN" sz="600" b="0" i="1">
                  <a:solidFill>
                    <a:srgbClr val="000000"/>
                  </a:solidFill>
                  <a:latin typeface="Times New Roman" panose="02020603050405020304" pitchFamily="18" charset="0"/>
                </a:rPr>
                <a:t>S</a:t>
              </a:r>
              <a:endParaRPr lang="en-US" altLang="zh-CN" b="1">
                <a:solidFill>
                  <a:srgbClr val="333399"/>
                </a:solidFill>
                <a:latin typeface="楷体_GB2312" pitchFamily="49" charset="-122"/>
              </a:endParaRPr>
            </a:p>
          </p:txBody>
        </p:sp>
      </p:grpSp>
      <p:sp>
        <p:nvSpPr>
          <p:cNvPr id="17517" name="Rectangle 397"/>
          <p:cNvSpPr/>
          <p:nvPr/>
        </p:nvSpPr>
        <p:spPr>
          <a:xfrm>
            <a:off x="7426325" y="3303588"/>
            <a:ext cx="19050" cy="3333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17518" name="Rectangle 398"/>
          <p:cNvSpPr/>
          <p:nvPr/>
        </p:nvSpPr>
        <p:spPr>
          <a:xfrm>
            <a:off x="6770688" y="2876550"/>
            <a:ext cx="17462" cy="3492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2258325" name="Group 405"/>
          <p:cNvGrpSpPr/>
          <p:nvPr/>
        </p:nvGrpSpPr>
        <p:grpSpPr>
          <a:xfrm>
            <a:off x="6513513" y="5129213"/>
            <a:ext cx="333375" cy="44450"/>
            <a:chOff x="4103" y="3231"/>
            <a:chExt cx="210" cy="28"/>
          </a:xfrm>
        </p:grpSpPr>
        <p:sp>
          <p:nvSpPr>
            <p:cNvPr id="17547" name="Line 400"/>
            <p:cNvSpPr/>
            <p:nvPr/>
          </p:nvSpPr>
          <p:spPr>
            <a:xfrm>
              <a:off x="4103" y="3245"/>
              <a:ext cx="210" cy="1"/>
            </a:xfrm>
            <a:prstGeom prst="line">
              <a:avLst/>
            </a:prstGeom>
            <a:ln w="0" cap="flat" cmpd="sng">
              <a:solidFill>
                <a:srgbClr val="000000"/>
              </a:solidFill>
              <a:prstDash val="solid"/>
              <a:headEnd type="none" w="med" len="med"/>
              <a:tailEnd type="none" w="med" len="med"/>
            </a:ln>
          </p:spPr>
        </p:sp>
        <p:sp>
          <p:nvSpPr>
            <p:cNvPr id="17548" name="Line 401"/>
            <p:cNvSpPr/>
            <p:nvPr/>
          </p:nvSpPr>
          <p:spPr>
            <a:xfrm flipH="1" flipV="1">
              <a:off x="4263" y="3231"/>
              <a:ext cx="50" cy="14"/>
            </a:xfrm>
            <a:prstGeom prst="line">
              <a:avLst/>
            </a:prstGeom>
            <a:ln w="0" cap="flat" cmpd="sng">
              <a:solidFill>
                <a:srgbClr val="000000"/>
              </a:solidFill>
              <a:prstDash val="solid"/>
              <a:headEnd type="none" w="med" len="med"/>
              <a:tailEnd type="none" w="med" len="med"/>
            </a:ln>
          </p:spPr>
        </p:sp>
        <p:sp>
          <p:nvSpPr>
            <p:cNvPr id="17549" name="Line 402"/>
            <p:cNvSpPr/>
            <p:nvPr/>
          </p:nvSpPr>
          <p:spPr>
            <a:xfrm>
              <a:off x="4103" y="3245"/>
              <a:ext cx="58" cy="14"/>
            </a:xfrm>
            <a:prstGeom prst="line">
              <a:avLst/>
            </a:prstGeom>
            <a:ln w="0" cap="flat" cmpd="sng">
              <a:solidFill>
                <a:srgbClr val="000000"/>
              </a:solidFill>
              <a:prstDash val="solid"/>
              <a:headEnd type="none" w="med" len="med"/>
              <a:tailEnd type="none" w="med" len="med"/>
            </a:ln>
          </p:spPr>
        </p:sp>
        <p:sp>
          <p:nvSpPr>
            <p:cNvPr id="17550" name="Line 403"/>
            <p:cNvSpPr/>
            <p:nvPr/>
          </p:nvSpPr>
          <p:spPr>
            <a:xfrm flipH="1">
              <a:off x="4263" y="3245"/>
              <a:ext cx="50" cy="14"/>
            </a:xfrm>
            <a:prstGeom prst="line">
              <a:avLst/>
            </a:prstGeom>
            <a:ln w="0" cap="flat" cmpd="sng">
              <a:solidFill>
                <a:srgbClr val="000000"/>
              </a:solidFill>
              <a:prstDash val="solid"/>
              <a:headEnd type="none" w="med" len="med"/>
              <a:tailEnd type="none" w="med" len="med"/>
            </a:ln>
          </p:spPr>
        </p:sp>
        <p:sp>
          <p:nvSpPr>
            <p:cNvPr id="17551" name="Line 404"/>
            <p:cNvSpPr/>
            <p:nvPr/>
          </p:nvSpPr>
          <p:spPr>
            <a:xfrm flipV="1">
              <a:off x="4103" y="3231"/>
              <a:ext cx="51" cy="14"/>
            </a:xfrm>
            <a:prstGeom prst="line">
              <a:avLst/>
            </a:prstGeom>
            <a:ln w="0" cap="flat" cmpd="sng">
              <a:solidFill>
                <a:srgbClr val="000000"/>
              </a:solidFill>
              <a:prstDash val="solid"/>
              <a:headEnd type="none" w="med" len="med"/>
              <a:tailEnd type="none" w="med" len="med"/>
            </a:ln>
          </p:spPr>
        </p:sp>
      </p:grpSp>
      <p:sp>
        <p:nvSpPr>
          <p:cNvPr id="2258326" name="Rectangle 406"/>
          <p:cNvSpPr/>
          <p:nvPr/>
        </p:nvSpPr>
        <p:spPr>
          <a:xfrm>
            <a:off x="6643688" y="4940300"/>
            <a:ext cx="98425" cy="212725"/>
          </a:xfrm>
          <a:prstGeom prst="rect">
            <a:avLst/>
          </a:prstGeom>
          <a:noFill/>
          <a:ln w="9525">
            <a:noFill/>
          </a:ln>
        </p:spPr>
        <p:txBody>
          <a:bodyPr wrap="none" lIns="0" tIns="0" rIns="0" bIns="0">
            <a:spAutoFit/>
          </a:bodyPr>
          <a:p>
            <a:pPr algn="ctr" eaLnBrk="1" hangingPunct="1"/>
            <a:r>
              <a:rPr lang="en-US" altLang="zh-CN" sz="1400" b="0" i="1">
                <a:solidFill>
                  <a:srgbClr val="000000"/>
                </a:solidFill>
                <a:latin typeface="Times New Roman" panose="02020603050405020304" pitchFamily="18" charset="0"/>
              </a:rPr>
              <a:t>T</a:t>
            </a:r>
            <a:endParaRPr lang="en-US" altLang="zh-CN" b="1">
              <a:solidFill>
                <a:srgbClr val="333399"/>
              </a:solidFill>
              <a:latin typeface="楷体_GB2312" pitchFamily="49" charset="-122"/>
            </a:endParaRPr>
          </a:p>
        </p:txBody>
      </p:sp>
      <p:sp>
        <p:nvSpPr>
          <p:cNvPr id="2258327" name="Rectangle 407"/>
          <p:cNvSpPr/>
          <p:nvPr/>
        </p:nvSpPr>
        <p:spPr>
          <a:xfrm>
            <a:off x="6745288" y="4973638"/>
            <a:ext cx="69850" cy="212725"/>
          </a:xfrm>
          <a:prstGeom prst="rect">
            <a:avLst/>
          </a:prstGeom>
          <a:noFill/>
          <a:ln w="9525">
            <a:noFill/>
          </a:ln>
        </p:spPr>
        <p:txBody>
          <a:bodyPr wrap="none" lIns="0" tIns="0" rIns="0" bIns="0">
            <a:spAutoFit/>
          </a:bodyPr>
          <a:p>
            <a:pPr algn="ctr" eaLnBrk="1" hangingPunct="1"/>
            <a:r>
              <a:rPr lang="en-US" altLang="zh-CN" sz="1400" b="0">
                <a:solidFill>
                  <a:srgbClr val="000000"/>
                </a:solidFill>
                <a:latin typeface="Times New Roman" panose="02020603050405020304" pitchFamily="18" charset="0"/>
              </a:rPr>
              <a:t>s</a:t>
            </a:r>
            <a:endParaRPr lang="en-US" altLang="zh-CN" b="1">
              <a:solidFill>
                <a:srgbClr val="333399"/>
              </a:solidFill>
              <a:latin typeface="楷体_GB2312" pitchFamily="49" charset="-122"/>
            </a:endParaRPr>
          </a:p>
        </p:txBody>
      </p:sp>
      <p:grpSp>
        <p:nvGrpSpPr>
          <p:cNvPr id="2258333" name="Group 413"/>
          <p:cNvGrpSpPr/>
          <p:nvPr/>
        </p:nvGrpSpPr>
        <p:grpSpPr>
          <a:xfrm>
            <a:off x="6513513" y="5360988"/>
            <a:ext cx="333375" cy="44450"/>
            <a:chOff x="4103" y="3377"/>
            <a:chExt cx="210" cy="28"/>
          </a:xfrm>
        </p:grpSpPr>
        <p:sp>
          <p:nvSpPr>
            <p:cNvPr id="17542" name="Line 408"/>
            <p:cNvSpPr/>
            <p:nvPr/>
          </p:nvSpPr>
          <p:spPr>
            <a:xfrm>
              <a:off x="4103" y="3391"/>
              <a:ext cx="210" cy="1"/>
            </a:xfrm>
            <a:prstGeom prst="line">
              <a:avLst/>
            </a:prstGeom>
            <a:ln w="0" cap="flat" cmpd="sng">
              <a:solidFill>
                <a:srgbClr val="000000"/>
              </a:solidFill>
              <a:prstDash val="solid"/>
              <a:headEnd type="none" w="med" len="med"/>
              <a:tailEnd type="none" w="med" len="med"/>
            </a:ln>
          </p:spPr>
        </p:sp>
        <p:sp>
          <p:nvSpPr>
            <p:cNvPr id="17543" name="Line 409"/>
            <p:cNvSpPr/>
            <p:nvPr/>
          </p:nvSpPr>
          <p:spPr>
            <a:xfrm flipH="1" flipV="1">
              <a:off x="4263" y="3377"/>
              <a:ext cx="50" cy="14"/>
            </a:xfrm>
            <a:prstGeom prst="line">
              <a:avLst/>
            </a:prstGeom>
            <a:ln w="0" cap="flat" cmpd="sng">
              <a:solidFill>
                <a:srgbClr val="000000"/>
              </a:solidFill>
              <a:prstDash val="solid"/>
              <a:headEnd type="none" w="med" len="med"/>
              <a:tailEnd type="none" w="med" len="med"/>
            </a:ln>
          </p:spPr>
        </p:sp>
        <p:sp>
          <p:nvSpPr>
            <p:cNvPr id="17544" name="Line 410"/>
            <p:cNvSpPr/>
            <p:nvPr/>
          </p:nvSpPr>
          <p:spPr>
            <a:xfrm>
              <a:off x="4103" y="3391"/>
              <a:ext cx="58" cy="14"/>
            </a:xfrm>
            <a:prstGeom prst="line">
              <a:avLst/>
            </a:prstGeom>
            <a:ln w="0" cap="flat" cmpd="sng">
              <a:solidFill>
                <a:srgbClr val="000000"/>
              </a:solidFill>
              <a:prstDash val="solid"/>
              <a:headEnd type="none" w="med" len="med"/>
              <a:tailEnd type="none" w="med" len="med"/>
            </a:ln>
          </p:spPr>
        </p:sp>
        <p:sp>
          <p:nvSpPr>
            <p:cNvPr id="17545" name="Line 411"/>
            <p:cNvSpPr/>
            <p:nvPr/>
          </p:nvSpPr>
          <p:spPr>
            <a:xfrm flipH="1">
              <a:off x="4263" y="3391"/>
              <a:ext cx="50" cy="14"/>
            </a:xfrm>
            <a:prstGeom prst="line">
              <a:avLst/>
            </a:prstGeom>
            <a:ln w="0" cap="flat" cmpd="sng">
              <a:solidFill>
                <a:srgbClr val="000000"/>
              </a:solidFill>
              <a:prstDash val="solid"/>
              <a:headEnd type="none" w="med" len="med"/>
              <a:tailEnd type="none" w="med" len="med"/>
            </a:ln>
          </p:spPr>
        </p:sp>
        <p:sp>
          <p:nvSpPr>
            <p:cNvPr id="17546" name="Line 412"/>
            <p:cNvSpPr/>
            <p:nvPr/>
          </p:nvSpPr>
          <p:spPr>
            <a:xfrm flipV="1">
              <a:off x="4103" y="3377"/>
              <a:ext cx="51" cy="14"/>
            </a:xfrm>
            <a:prstGeom prst="line">
              <a:avLst/>
            </a:prstGeom>
            <a:ln w="0" cap="flat" cmpd="sng">
              <a:solidFill>
                <a:srgbClr val="000000"/>
              </a:solidFill>
              <a:prstDash val="solid"/>
              <a:headEnd type="none" w="med" len="med"/>
              <a:tailEnd type="none" w="med" len="med"/>
            </a:ln>
          </p:spPr>
        </p:sp>
      </p:grpSp>
      <p:sp>
        <p:nvSpPr>
          <p:cNvPr id="2258334" name="Rectangle 414"/>
          <p:cNvSpPr/>
          <p:nvPr/>
        </p:nvSpPr>
        <p:spPr>
          <a:xfrm>
            <a:off x="6584950" y="5230813"/>
            <a:ext cx="268288" cy="122237"/>
          </a:xfrm>
          <a:prstGeom prst="rect">
            <a:avLst/>
          </a:prstGeom>
          <a:noFill/>
          <a:ln w="9525">
            <a:noFill/>
          </a:ln>
        </p:spPr>
        <p:txBody>
          <a:bodyPr wrap="none" lIns="0" tIns="0" rIns="0" bIns="0">
            <a:spAutoFit/>
          </a:bodyPr>
          <a:p>
            <a:pPr algn="ctr" eaLnBrk="1" hangingPunct="1"/>
            <a:r>
              <a:rPr lang="en-US" altLang="zh-CN" sz="800" b="0">
                <a:solidFill>
                  <a:srgbClr val="000000"/>
                </a:solidFill>
                <a:latin typeface="Times New Roman" panose="02020603050405020304" pitchFamily="18" charset="0"/>
              </a:rPr>
              <a:t>0.002s</a:t>
            </a:r>
            <a:endParaRPr lang="en-US" altLang="zh-CN" b="1">
              <a:solidFill>
                <a:srgbClr val="333399"/>
              </a:solidFill>
              <a:latin typeface="楷体_GB2312" pitchFamily="49" charset="-122"/>
            </a:endParaRPr>
          </a:p>
        </p:txBody>
      </p:sp>
      <p:sp>
        <p:nvSpPr>
          <p:cNvPr id="2258335" name="Line 415"/>
          <p:cNvSpPr/>
          <p:nvPr/>
        </p:nvSpPr>
        <p:spPr>
          <a:xfrm flipV="1">
            <a:off x="6515100" y="873125"/>
            <a:ext cx="0" cy="1338263"/>
          </a:xfrm>
          <a:prstGeom prst="line">
            <a:avLst/>
          </a:prstGeom>
          <a:ln w="9525" cap="flat" cmpd="sng">
            <a:solidFill>
              <a:srgbClr val="FF0000"/>
            </a:solidFill>
            <a:prstDash val="solid"/>
            <a:headEnd type="none" w="med" len="med"/>
            <a:tailEnd type="arrow" w="sm" len="med"/>
          </a:ln>
        </p:spPr>
      </p:sp>
      <p:sp>
        <p:nvSpPr>
          <p:cNvPr id="2258336" name="Line 416"/>
          <p:cNvSpPr/>
          <p:nvPr/>
        </p:nvSpPr>
        <p:spPr>
          <a:xfrm flipV="1">
            <a:off x="6516688" y="1671638"/>
            <a:ext cx="2168525" cy="0"/>
          </a:xfrm>
          <a:prstGeom prst="line">
            <a:avLst/>
          </a:prstGeom>
          <a:ln w="9525" cap="flat" cmpd="sng">
            <a:solidFill>
              <a:srgbClr val="FF0000"/>
            </a:solidFill>
            <a:prstDash val="solid"/>
            <a:headEnd type="none" w="med" len="med"/>
            <a:tailEnd type="arrow" w="sm" len="med"/>
          </a:ln>
        </p:spPr>
      </p:sp>
      <p:sp>
        <p:nvSpPr>
          <p:cNvPr id="2258337" name="Line 417"/>
          <p:cNvSpPr/>
          <p:nvPr/>
        </p:nvSpPr>
        <p:spPr>
          <a:xfrm flipV="1">
            <a:off x="6516688" y="2378075"/>
            <a:ext cx="0" cy="1338263"/>
          </a:xfrm>
          <a:prstGeom prst="line">
            <a:avLst/>
          </a:prstGeom>
          <a:ln w="9525" cap="flat" cmpd="sng">
            <a:solidFill>
              <a:srgbClr val="FF0000"/>
            </a:solidFill>
            <a:prstDash val="solid"/>
            <a:headEnd type="none" w="med" len="med"/>
            <a:tailEnd type="arrow" w="sm" len="med"/>
          </a:ln>
        </p:spPr>
      </p:sp>
      <p:sp>
        <p:nvSpPr>
          <p:cNvPr id="2258338" name="Line 418"/>
          <p:cNvSpPr/>
          <p:nvPr/>
        </p:nvSpPr>
        <p:spPr>
          <a:xfrm flipV="1">
            <a:off x="6524625" y="3192463"/>
            <a:ext cx="2168525" cy="0"/>
          </a:xfrm>
          <a:prstGeom prst="line">
            <a:avLst/>
          </a:prstGeom>
          <a:ln w="9525" cap="flat" cmpd="sng">
            <a:solidFill>
              <a:srgbClr val="FF0000"/>
            </a:solidFill>
            <a:prstDash val="solid"/>
            <a:headEnd type="none" w="med" len="med"/>
            <a:tailEnd type="arrow" w="sm" len="med"/>
          </a:ln>
        </p:spPr>
      </p:sp>
      <p:sp>
        <p:nvSpPr>
          <p:cNvPr id="2258339" name="Line 419"/>
          <p:cNvSpPr/>
          <p:nvPr/>
        </p:nvSpPr>
        <p:spPr>
          <a:xfrm flipV="1">
            <a:off x="6516688" y="3983038"/>
            <a:ext cx="0" cy="1338262"/>
          </a:xfrm>
          <a:prstGeom prst="line">
            <a:avLst/>
          </a:prstGeom>
          <a:ln w="9525" cap="flat" cmpd="sng">
            <a:solidFill>
              <a:srgbClr val="FF0000"/>
            </a:solidFill>
            <a:prstDash val="solid"/>
            <a:headEnd type="none" w="med" len="med"/>
            <a:tailEnd type="arrow" w="sm" len="med"/>
          </a:ln>
        </p:spPr>
      </p:sp>
      <p:sp>
        <p:nvSpPr>
          <p:cNvPr id="2258340" name="Line 420"/>
          <p:cNvSpPr/>
          <p:nvPr/>
        </p:nvSpPr>
        <p:spPr>
          <a:xfrm flipV="1">
            <a:off x="6524625" y="4772025"/>
            <a:ext cx="2168525" cy="0"/>
          </a:xfrm>
          <a:prstGeom prst="line">
            <a:avLst/>
          </a:prstGeom>
          <a:ln w="9525" cap="flat" cmpd="sng">
            <a:solidFill>
              <a:srgbClr val="FF0000"/>
            </a:solidFill>
            <a:prstDash val="solid"/>
            <a:headEnd type="none" w="med" len="med"/>
            <a:tailEnd type="arrow" w="sm" len="med"/>
          </a:ln>
        </p:spPr>
      </p:sp>
      <p:sp>
        <p:nvSpPr>
          <p:cNvPr id="2258358" name="Freeform 438"/>
          <p:cNvSpPr/>
          <p:nvPr/>
        </p:nvSpPr>
        <p:spPr>
          <a:xfrm>
            <a:off x="7419975" y="3176588"/>
            <a:ext cx="377825" cy="468312"/>
          </a:xfrm>
          <a:custGeom>
            <a:avLst/>
            <a:gdLst/>
            <a:ahLst/>
            <a:cxnLst>
              <a:cxn ang="0">
                <a:pos x="0" y="0"/>
              </a:cxn>
              <a:cxn ang="0">
                <a:pos x="260172723" y="604731974"/>
              </a:cxn>
              <a:cxn ang="0">
                <a:pos x="573300123" y="806309299"/>
              </a:cxn>
            </a:cxnLst>
            <a:pathLst>
              <a:path w="249" h="272">
                <a:moveTo>
                  <a:pt x="0" y="0"/>
                </a:moveTo>
                <a:cubicBezTo>
                  <a:pt x="35" y="79"/>
                  <a:pt x="71" y="159"/>
                  <a:pt x="113" y="204"/>
                </a:cubicBezTo>
                <a:cubicBezTo>
                  <a:pt x="155" y="249"/>
                  <a:pt x="226" y="261"/>
                  <a:pt x="249" y="272"/>
                </a:cubicBezTo>
              </a:path>
            </a:pathLst>
          </a:custGeom>
          <a:noFill/>
          <a:ln w="0" cap="flat" cmpd="sng">
            <a:solidFill>
              <a:srgbClr val="FF6600">
                <a:alpha val="100000"/>
              </a:srgbClr>
            </a:solidFill>
            <a:prstDash val="dash"/>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58363" name="Freeform 443"/>
          <p:cNvSpPr/>
          <p:nvPr/>
        </p:nvSpPr>
        <p:spPr>
          <a:xfrm>
            <a:off x="7419975" y="1654175"/>
            <a:ext cx="377825" cy="468313"/>
          </a:xfrm>
          <a:custGeom>
            <a:avLst/>
            <a:gdLst/>
            <a:ahLst/>
            <a:cxnLst>
              <a:cxn ang="0">
                <a:pos x="0" y="0"/>
              </a:cxn>
              <a:cxn ang="0">
                <a:pos x="260172723" y="604734987"/>
              </a:cxn>
              <a:cxn ang="0">
                <a:pos x="573300123" y="806312743"/>
              </a:cxn>
            </a:cxnLst>
            <a:pathLst>
              <a:path w="249" h="272">
                <a:moveTo>
                  <a:pt x="0" y="0"/>
                </a:moveTo>
                <a:cubicBezTo>
                  <a:pt x="35" y="79"/>
                  <a:pt x="71" y="159"/>
                  <a:pt x="113" y="204"/>
                </a:cubicBezTo>
                <a:cubicBezTo>
                  <a:pt x="155" y="249"/>
                  <a:pt x="226" y="261"/>
                  <a:pt x="249" y="272"/>
                </a:cubicBezTo>
              </a:path>
            </a:pathLst>
          </a:custGeom>
          <a:noFill/>
          <a:ln w="0" cap="flat" cmpd="sng">
            <a:solidFill>
              <a:srgbClr val="FF6600">
                <a:alpha val="100000"/>
              </a:srgbClr>
            </a:solidFill>
            <a:prstDash val="dash"/>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57984" name="Line 64"/>
          <p:cNvSpPr/>
          <p:nvPr/>
        </p:nvSpPr>
        <p:spPr>
          <a:xfrm>
            <a:off x="7956550" y="996950"/>
            <a:ext cx="1588" cy="4329113"/>
          </a:xfrm>
          <a:prstGeom prst="line">
            <a:avLst/>
          </a:prstGeom>
          <a:ln w="0" cap="flat" cmpd="sng">
            <a:solidFill>
              <a:srgbClr val="3366FF"/>
            </a:solidFill>
            <a:prstDash val="solid"/>
            <a:headEnd type="none" w="med" len="med"/>
            <a:tailEnd type="none" w="med" len="med"/>
          </a:ln>
        </p:spPr>
      </p:sp>
      <p:sp>
        <p:nvSpPr>
          <p:cNvPr id="2257981" name="Line 61"/>
          <p:cNvSpPr/>
          <p:nvPr/>
        </p:nvSpPr>
        <p:spPr>
          <a:xfrm>
            <a:off x="6846888" y="963613"/>
            <a:ext cx="1587" cy="4475162"/>
          </a:xfrm>
          <a:prstGeom prst="line">
            <a:avLst/>
          </a:prstGeom>
          <a:ln w="0" cap="flat" cmpd="sng">
            <a:solidFill>
              <a:srgbClr val="3366FF"/>
            </a:solidFill>
            <a:prstDash val="solid"/>
            <a:headEnd type="none" w="med" len="med"/>
            <a:tailEnd type="none" w="med" len="med"/>
          </a:ln>
        </p:spPr>
      </p:sp>
      <p:sp>
        <p:nvSpPr>
          <p:cNvPr id="2258247" name="Rectangle 327"/>
          <p:cNvSpPr/>
          <p:nvPr/>
        </p:nvSpPr>
        <p:spPr>
          <a:xfrm>
            <a:off x="8253413" y="3076575"/>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57" name="Rectangle 337"/>
          <p:cNvSpPr/>
          <p:nvPr/>
        </p:nvSpPr>
        <p:spPr>
          <a:xfrm>
            <a:off x="8251825" y="4654550"/>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364" name="Rectangle 444"/>
          <p:cNvSpPr/>
          <p:nvPr/>
        </p:nvSpPr>
        <p:spPr>
          <a:xfrm>
            <a:off x="863600" y="2492375"/>
            <a:ext cx="4284663" cy="1373188"/>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某模拟信号中含有频率为</a:t>
            </a:r>
            <a:r>
              <a:rPr lang="en-US" altLang="zh-CN" sz="2800" b="1">
                <a:solidFill>
                  <a:srgbClr val="FF0000"/>
                </a:solidFill>
                <a:latin typeface="Times New Roman" panose="02020603050405020304" pitchFamily="18" charset="0"/>
                <a:ea typeface="黑体" panose="02010609060101010101" pitchFamily="49" charset="-122"/>
              </a:rPr>
              <a:t>900Hz</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a:solidFill>
                  <a:srgbClr val="FF0000"/>
                </a:solidFill>
                <a:latin typeface="Times New Roman" panose="02020603050405020304" pitchFamily="18" charset="0"/>
                <a:ea typeface="黑体" panose="02010609060101010101" pitchFamily="49" charset="-122"/>
              </a:rPr>
              <a:t>400Hz</a:t>
            </a:r>
            <a:r>
              <a:rPr lang="zh-CN" altLang="en-US" sz="2800" b="1" dirty="0">
                <a:solidFill>
                  <a:schemeClr val="tx1"/>
                </a:solidFill>
                <a:latin typeface="Times New Roman" panose="02020603050405020304" pitchFamily="18" charset="0"/>
                <a:ea typeface="黑体" panose="02010609060101010101" pitchFamily="49" charset="-122"/>
              </a:rPr>
              <a:t>及</a:t>
            </a:r>
            <a:r>
              <a:rPr lang="en-US" altLang="zh-CN" sz="2800" b="1">
                <a:solidFill>
                  <a:srgbClr val="FF0000"/>
                </a:solidFill>
                <a:latin typeface="Times New Roman" panose="02020603050405020304" pitchFamily="18" charset="0"/>
                <a:ea typeface="黑体" panose="02010609060101010101" pitchFamily="49" charset="-122"/>
              </a:rPr>
              <a:t>100Hz</a:t>
            </a:r>
            <a:r>
              <a:rPr lang="zh-CN" altLang="en-US" sz="2800" b="1" dirty="0">
                <a:solidFill>
                  <a:schemeClr val="tx1"/>
                </a:solidFill>
                <a:latin typeface="Times New Roman" panose="02020603050405020304" pitchFamily="18" charset="0"/>
                <a:ea typeface="黑体" panose="02010609060101010101" pitchFamily="49" charset="-122"/>
              </a:rPr>
              <a:t>的成分。</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8365" name="Rectangle 445"/>
          <p:cNvSpPr/>
          <p:nvPr/>
        </p:nvSpPr>
        <p:spPr>
          <a:xfrm>
            <a:off x="719138" y="2384425"/>
            <a:ext cx="4429125" cy="3708400"/>
          </a:xfrm>
          <a:prstGeom prst="rect">
            <a:avLst/>
          </a:prstGeom>
          <a:no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57982" name="Line 62"/>
          <p:cNvSpPr/>
          <p:nvPr/>
        </p:nvSpPr>
        <p:spPr>
          <a:xfrm>
            <a:off x="7216775" y="985838"/>
            <a:ext cx="1588" cy="4318000"/>
          </a:xfrm>
          <a:prstGeom prst="line">
            <a:avLst/>
          </a:prstGeom>
          <a:ln w="0" cap="flat" cmpd="sng">
            <a:solidFill>
              <a:srgbClr val="3366FF"/>
            </a:solidFill>
            <a:prstDash val="solid"/>
            <a:headEnd type="none" w="med" len="med"/>
            <a:tailEnd type="none" w="med" len="med"/>
          </a:ln>
        </p:spPr>
      </p:sp>
      <p:sp>
        <p:nvSpPr>
          <p:cNvPr id="2258254" name="Rectangle 334"/>
          <p:cNvSpPr/>
          <p:nvPr/>
        </p:nvSpPr>
        <p:spPr>
          <a:xfrm>
            <a:off x="7540625" y="1871663"/>
            <a:ext cx="88900" cy="212725"/>
          </a:xfrm>
          <a:prstGeom prst="rect">
            <a:avLst/>
          </a:prstGeom>
          <a:noFill/>
          <a:ln w="9525">
            <a:noFill/>
          </a:ln>
        </p:spPr>
        <p:txBody>
          <a:bodyPr wrap="none" lIns="0" tIns="0" rIns="0" bIns="0">
            <a:spAutoFit/>
          </a:bodyPr>
          <a:p>
            <a:pPr algn="ctr" eaLnBrk="1" hangingPunct="1"/>
            <a:r>
              <a:rPr lang="en-US" altLang="zh-CN" sz="1400" b="0">
                <a:solidFill>
                  <a:srgbClr val="CC00CC"/>
                </a:solidFill>
                <a:latin typeface="Fixedsys" charset="-122"/>
                <a:ea typeface="Fixedsys" charset="-122"/>
              </a:rPr>
              <a:t>*</a:t>
            </a:r>
            <a:endParaRPr lang="en-US" altLang="zh-CN" sz="1400" b="0">
              <a:solidFill>
                <a:srgbClr val="CC00CC"/>
              </a:solidFill>
              <a:latin typeface="Fixedsys" charset="-122"/>
              <a:ea typeface="Fixedsys" charset="-122"/>
            </a:endParaRPr>
          </a:p>
        </p:txBody>
      </p:sp>
      <p:sp>
        <p:nvSpPr>
          <p:cNvPr id="2258293" name="Line 373"/>
          <p:cNvSpPr/>
          <p:nvPr/>
        </p:nvSpPr>
        <p:spPr>
          <a:xfrm>
            <a:off x="8288338" y="981075"/>
            <a:ext cx="7937" cy="4749800"/>
          </a:xfrm>
          <a:prstGeom prst="line">
            <a:avLst/>
          </a:prstGeom>
          <a:ln w="0" cap="flat" cmpd="sng">
            <a:solidFill>
              <a:srgbClr val="000000"/>
            </a:solidFill>
            <a:prstDash val="solid"/>
            <a:headEnd type="none" w="med" len="med"/>
            <a:tailEnd type="none" w="med" len="med"/>
          </a:ln>
        </p:spPr>
      </p:sp>
      <p:sp>
        <p:nvSpPr>
          <p:cNvPr id="2257985" name="Line 65"/>
          <p:cNvSpPr/>
          <p:nvPr/>
        </p:nvSpPr>
        <p:spPr>
          <a:xfrm>
            <a:off x="8293100" y="985838"/>
            <a:ext cx="1588" cy="4329112"/>
          </a:xfrm>
          <a:prstGeom prst="line">
            <a:avLst/>
          </a:prstGeom>
          <a:ln w="0" cap="flat" cmpd="sng">
            <a:solidFill>
              <a:srgbClr val="3366FF"/>
            </a:solidFill>
            <a:prstDash val="solid"/>
            <a:headEnd type="none" w="med" len="med"/>
            <a:tailEnd type="none" w="med" len="med"/>
          </a:ln>
        </p:spPr>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7932"/>
                                        </p:tgtEl>
                                        <p:attrNameLst>
                                          <p:attrName>style.visibility</p:attrName>
                                        </p:attrNameLst>
                                      </p:cBhvr>
                                      <p:to>
                                        <p:strVal val="visible"/>
                                      </p:to>
                                    </p:set>
                                    <p:animEffect transition="in" filter="dissolve">
                                      <p:cBhvr>
                                        <p:cTn id="7" dur="500"/>
                                        <p:tgtEl>
                                          <p:spTgt spid="225793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58365"/>
                                        </p:tgtEl>
                                        <p:attrNameLst>
                                          <p:attrName>style.visibility</p:attrName>
                                        </p:attrNameLst>
                                      </p:cBhvr>
                                      <p:to>
                                        <p:strVal val="visible"/>
                                      </p:to>
                                    </p:set>
                                    <p:animEffect transition="in" filter="dissolve">
                                      <p:cBhvr>
                                        <p:cTn id="10" dur="500"/>
                                        <p:tgtEl>
                                          <p:spTgt spid="225836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258364"/>
                                        </p:tgtEl>
                                        <p:attrNameLst>
                                          <p:attrName>style.visibility</p:attrName>
                                        </p:attrNameLst>
                                      </p:cBhvr>
                                      <p:to>
                                        <p:strVal val="visible"/>
                                      </p:to>
                                    </p:set>
                                    <p:animEffect transition="in" filter="dissolve">
                                      <p:cBhvr>
                                        <p:cTn id="13" dur="500"/>
                                        <p:tgtEl>
                                          <p:spTgt spid="2258364"/>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258271"/>
                                        </p:tgtEl>
                                        <p:attrNameLst>
                                          <p:attrName>style.visibility</p:attrName>
                                        </p:attrNameLst>
                                      </p:cBhvr>
                                      <p:to>
                                        <p:strVal val="visible"/>
                                      </p:to>
                                    </p:set>
                                    <p:animEffect transition="in" filter="dissolve">
                                      <p:cBhvr>
                                        <p:cTn id="18" dur="500"/>
                                        <p:tgtEl>
                                          <p:spTgt spid="2258271"/>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58272"/>
                                        </p:tgtEl>
                                        <p:attrNameLst>
                                          <p:attrName>style.visibility</p:attrName>
                                        </p:attrNameLst>
                                      </p:cBhvr>
                                      <p:to>
                                        <p:strVal val="visible"/>
                                      </p:to>
                                    </p:set>
                                    <p:animEffect transition="in" filter="dissolve">
                                      <p:cBhvr>
                                        <p:cTn id="21" dur="500"/>
                                        <p:tgtEl>
                                          <p:spTgt spid="2258272"/>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258273"/>
                                        </p:tgtEl>
                                        <p:attrNameLst>
                                          <p:attrName>style.visibility</p:attrName>
                                        </p:attrNameLst>
                                      </p:cBhvr>
                                      <p:to>
                                        <p:strVal val="visible"/>
                                      </p:to>
                                    </p:set>
                                    <p:animEffect transition="in" filter="dissolve">
                                      <p:cBhvr>
                                        <p:cTn id="24" dur="500"/>
                                        <p:tgtEl>
                                          <p:spTgt spid="2258273"/>
                                        </p:tgtEl>
                                      </p:cBhvr>
                                    </p:animEffect>
                                  </p:childTnLst>
                                </p:cTn>
                              </p:par>
                              <p:par>
                                <p:cTn id="25" presetID="9" presetClass="entr" presetSubtype="0" fill="hold" nodeType="withEffect">
                                  <p:stCondLst>
                                    <p:cond delay="0"/>
                                  </p:stCondLst>
                                  <p:childTnLst>
                                    <p:set>
                                      <p:cBhvr>
                                        <p:cTn id="26" dur="1" fill="hold">
                                          <p:stCondLst>
                                            <p:cond delay="0"/>
                                          </p:stCondLst>
                                        </p:cTn>
                                        <p:tgtEl>
                                          <p:spTgt spid="2258335"/>
                                        </p:tgtEl>
                                        <p:attrNameLst>
                                          <p:attrName>style.visibility</p:attrName>
                                        </p:attrNameLst>
                                      </p:cBhvr>
                                      <p:to>
                                        <p:strVal val="visible"/>
                                      </p:to>
                                    </p:set>
                                    <p:animEffect transition="in" filter="dissolve">
                                      <p:cBhvr>
                                        <p:cTn id="27" dur="500"/>
                                        <p:tgtEl>
                                          <p:spTgt spid="2258335"/>
                                        </p:tgtEl>
                                      </p:cBhvr>
                                    </p:animEffect>
                                  </p:childTnLst>
                                </p:cTn>
                              </p:par>
                              <p:par>
                                <p:cTn id="28" presetID="9" presetClass="entr" presetSubtype="0" fill="hold" nodeType="withEffect">
                                  <p:stCondLst>
                                    <p:cond delay="0"/>
                                  </p:stCondLst>
                                  <p:childTnLst>
                                    <p:set>
                                      <p:cBhvr>
                                        <p:cTn id="29" dur="1" fill="hold">
                                          <p:stCondLst>
                                            <p:cond delay="0"/>
                                          </p:stCondLst>
                                        </p:cTn>
                                        <p:tgtEl>
                                          <p:spTgt spid="2258336"/>
                                        </p:tgtEl>
                                        <p:attrNameLst>
                                          <p:attrName>style.visibility</p:attrName>
                                        </p:attrNameLst>
                                      </p:cBhvr>
                                      <p:to>
                                        <p:strVal val="visible"/>
                                      </p:to>
                                    </p:set>
                                    <p:animEffect transition="in" filter="dissolve">
                                      <p:cBhvr>
                                        <p:cTn id="30" dur="500"/>
                                        <p:tgtEl>
                                          <p:spTgt spid="2258336"/>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2258262"/>
                                        </p:tgtEl>
                                        <p:attrNameLst>
                                          <p:attrName>style.visibility</p:attrName>
                                        </p:attrNameLst>
                                      </p:cBhvr>
                                      <p:to>
                                        <p:strVal val="visible"/>
                                      </p:to>
                                    </p:set>
                                    <p:animEffect transition="in" filter="dissolve">
                                      <p:cBhvr>
                                        <p:cTn id="33" dur="500"/>
                                        <p:tgtEl>
                                          <p:spTgt spid="2258262"/>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258268"/>
                                        </p:tgtEl>
                                        <p:attrNameLst>
                                          <p:attrName>style.visibility</p:attrName>
                                        </p:attrNameLst>
                                      </p:cBhvr>
                                      <p:to>
                                        <p:strVal val="visible"/>
                                      </p:to>
                                    </p:set>
                                    <p:animEffect transition="in" filter="dissolve">
                                      <p:cBhvr>
                                        <p:cTn id="36" dur="500"/>
                                        <p:tgtEl>
                                          <p:spTgt spid="2258268"/>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2258269"/>
                                        </p:tgtEl>
                                        <p:attrNameLst>
                                          <p:attrName>style.visibility</p:attrName>
                                        </p:attrNameLst>
                                      </p:cBhvr>
                                      <p:to>
                                        <p:strVal val="visible"/>
                                      </p:to>
                                    </p:set>
                                    <p:animEffect transition="in" filter="dissolve">
                                      <p:cBhvr>
                                        <p:cTn id="39" dur="500"/>
                                        <p:tgtEl>
                                          <p:spTgt spid="2258269"/>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2258270"/>
                                        </p:tgtEl>
                                        <p:attrNameLst>
                                          <p:attrName>style.visibility</p:attrName>
                                        </p:attrNameLst>
                                      </p:cBhvr>
                                      <p:to>
                                        <p:strVal val="visible"/>
                                      </p:to>
                                    </p:set>
                                    <p:animEffect transition="in" filter="dissolve">
                                      <p:cBhvr>
                                        <p:cTn id="42" dur="500"/>
                                        <p:tgtEl>
                                          <p:spTgt spid="2258270"/>
                                        </p:tgtEl>
                                      </p:cBhvr>
                                    </p:animEffect>
                                  </p:childTnLst>
                                </p:cTn>
                              </p:par>
                              <p:par>
                                <p:cTn id="43" presetID="9" presetClass="entr" presetSubtype="0" fill="hold" nodeType="withEffect">
                                  <p:stCondLst>
                                    <p:cond delay="0"/>
                                  </p:stCondLst>
                                  <p:childTnLst>
                                    <p:set>
                                      <p:cBhvr>
                                        <p:cTn id="44" dur="1" fill="hold">
                                          <p:stCondLst>
                                            <p:cond delay="0"/>
                                          </p:stCondLst>
                                        </p:cTn>
                                        <p:tgtEl>
                                          <p:spTgt spid="2258337"/>
                                        </p:tgtEl>
                                        <p:attrNameLst>
                                          <p:attrName>style.visibility</p:attrName>
                                        </p:attrNameLst>
                                      </p:cBhvr>
                                      <p:to>
                                        <p:strVal val="visible"/>
                                      </p:to>
                                    </p:set>
                                    <p:animEffect transition="in" filter="dissolve">
                                      <p:cBhvr>
                                        <p:cTn id="45" dur="500"/>
                                        <p:tgtEl>
                                          <p:spTgt spid="2258337"/>
                                        </p:tgtEl>
                                      </p:cBhvr>
                                    </p:animEffect>
                                  </p:childTnLst>
                                </p:cTn>
                              </p:par>
                              <p:par>
                                <p:cTn id="46" presetID="9" presetClass="entr" presetSubtype="0" fill="hold" nodeType="withEffect">
                                  <p:stCondLst>
                                    <p:cond delay="0"/>
                                  </p:stCondLst>
                                  <p:childTnLst>
                                    <p:set>
                                      <p:cBhvr>
                                        <p:cTn id="47" dur="1" fill="hold">
                                          <p:stCondLst>
                                            <p:cond delay="0"/>
                                          </p:stCondLst>
                                        </p:cTn>
                                        <p:tgtEl>
                                          <p:spTgt spid="2258338"/>
                                        </p:tgtEl>
                                        <p:attrNameLst>
                                          <p:attrName>style.visibility</p:attrName>
                                        </p:attrNameLst>
                                      </p:cBhvr>
                                      <p:to>
                                        <p:strVal val="visible"/>
                                      </p:to>
                                    </p:set>
                                    <p:animEffect transition="in" filter="dissolve">
                                      <p:cBhvr>
                                        <p:cTn id="48" dur="500"/>
                                        <p:tgtEl>
                                          <p:spTgt spid="2258338"/>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2258263"/>
                                        </p:tgtEl>
                                        <p:attrNameLst>
                                          <p:attrName>style.visibility</p:attrName>
                                        </p:attrNameLst>
                                      </p:cBhvr>
                                      <p:to>
                                        <p:strVal val="visible"/>
                                      </p:to>
                                    </p:set>
                                    <p:animEffect transition="in" filter="dissolve">
                                      <p:cBhvr>
                                        <p:cTn id="51" dur="500"/>
                                        <p:tgtEl>
                                          <p:spTgt spid="2258263"/>
                                        </p:tgtEl>
                                      </p:cBhvr>
                                    </p:animEffect>
                                  </p:childTnLst>
                                </p:cTn>
                              </p:par>
                              <p:par>
                                <p:cTn id="52" presetID="9" presetClass="entr" presetSubtype="0" fill="hold" grpId="0" nodeType="withEffect">
                                  <p:stCondLst>
                                    <p:cond delay="0"/>
                                  </p:stCondLst>
                                  <p:childTnLst>
                                    <p:set>
                                      <p:cBhvr>
                                        <p:cTn id="53" dur="1" fill="hold">
                                          <p:stCondLst>
                                            <p:cond delay="0"/>
                                          </p:stCondLst>
                                        </p:cTn>
                                        <p:tgtEl>
                                          <p:spTgt spid="2258265"/>
                                        </p:tgtEl>
                                        <p:attrNameLst>
                                          <p:attrName>style.visibility</p:attrName>
                                        </p:attrNameLst>
                                      </p:cBhvr>
                                      <p:to>
                                        <p:strVal val="visible"/>
                                      </p:to>
                                    </p:set>
                                    <p:animEffect transition="in" filter="dissolve">
                                      <p:cBhvr>
                                        <p:cTn id="54" dur="500"/>
                                        <p:tgtEl>
                                          <p:spTgt spid="2258265"/>
                                        </p:tgtEl>
                                      </p:cBhvr>
                                    </p:animEffect>
                                  </p:childTnLst>
                                </p:cTn>
                              </p:par>
                              <p:par>
                                <p:cTn id="55" presetID="9" presetClass="entr" presetSubtype="0" fill="hold" grpId="0" nodeType="withEffect">
                                  <p:stCondLst>
                                    <p:cond delay="0"/>
                                  </p:stCondLst>
                                  <p:childTnLst>
                                    <p:set>
                                      <p:cBhvr>
                                        <p:cTn id="56" dur="1" fill="hold">
                                          <p:stCondLst>
                                            <p:cond delay="0"/>
                                          </p:stCondLst>
                                        </p:cTn>
                                        <p:tgtEl>
                                          <p:spTgt spid="2258266"/>
                                        </p:tgtEl>
                                        <p:attrNameLst>
                                          <p:attrName>style.visibility</p:attrName>
                                        </p:attrNameLst>
                                      </p:cBhvr>
                                      <p:to>
                                        <p:strVal val="visible"/>
                                      </p:to>
                                    </p:set>
                                    <p:animEffect transition="in" filter="dissolve">
                                      <p:cBhvr>
                                        <p:cTn id="57" dur="500"/>
                                        <p:tgtEl>
                                          <p:spTgt spid="2258266"/>
                                        </p:tgtEl>
                                      </p:cBhvr>
                                    </p:animEffect>
                                  </p:childTnLst>
                                </p:cTn>
                              </p:par>
                              <p:par>
                                <p:cTn id="58" presetID="9" presetClass="entr" presetSubtype="0" fill="hold" grpId="0" nodeType="withEffect">
                                  <p:stCondLst>
                                    <p:cond delay="0"/>
                                  </p:stCondLst>
                                  <p:childTnLst>
                                    <p:set>
                                      <p:cBhvr>
                                        <p:cTn id="59" dur="1" fill="hold">
                                          <p:stCondLst>
                                            <p:cond delay="0"/>
                                          </p:stCondLst>
                                        </p:cTn>
                                        <p:tgtEl>
                                          <p:spTgt spid="2258267"/>
                                        </p:tgtEl>
                                        <p:attrNameLst>
                                          <p:attrName>style.visibility</p:attrName>
                                        </p:attrNameLst>
                                      </p:cBhvr>
                                      <p:to>
                                        <p:strVal val="visible"/>
                                      </p:to>
                                    </p:set>
                                    <p:animEffect transition="in" filter="dissolve">
                                      <p:cBhvr>
                                        <p:cTn id="60" dur="500"/>
                                        <p:tgtEl>
                                          <p:spTgt spid="2258267"/>
                                        </p:tgtEl>
                                      </p:cBhvr>
                                    </p:animEffect>
                                  </p:childTnLst>
                                </p:cTn>
                              </p:par>
                              <p:par>
                                <p:cTn id="61" presetID="9" presetClass="entr" presetSubtype="0" fill="hold" nodeType="withEffect">
                                  <p:stCondLst>
                                    <p:cond delay="0"/>
                                  </p:stCondLst>
                                  <p:childTnLst>
                                    <p:set>
                                      <p:cBhvr>
                                        <p:cTn id="62" dur="1" fill="hold">
                                          <p:stCondLst>
                                            <p:cond delay="0"/>
                                          </p:stCondLst>
                                        </p:cTn>
                                        <p:tgtEl>
                                          <p:spTgt spid="2258339"/>
                                        </p:tgtEl>
                                        <p:attrNameLst>
                                          <p:attrName>style.visibility</p:attrName>
                                        </p:attrNameLst>
                                      </p:cBhvr>
                                      <p:to>
                                        <p:strVal val="visible"/>
                                      </p:to>
                                    </p:set>
                                    <p:animEffect transition="in" filter="dissolve">
                                      <p:cBhvr>
                                        <p:cTn id="63" dur="500"/>
                                        <p:tgtEl>
                                          <p:spTgt spid="2258339"/>
                                        </p:tgtEl>
                                      </p:cBhvr>
                                    </p:animEffect>
                                  </p:childTnLst>
                                </p:cTn>
                              </p:par>
                              <p:par>
                                <p:cTn id="64" presetID="9" presetClass="entr" presetSubtype="0" fill="hold" nodeType="withEffect">
                                  <p:stCondLst>
                                    <p:cond delay="0"/>
                                  </p:stCondLst>
                                  <p:childTnLst>
                                    <p:set>
                                      <p:cBhvr>
                                        <p:cTn id="65" dur="1" fill="hold">
                                          <p:stCondLst>
                                            <p:cond delay="0"/>
                                          </p:stCondLst>
                                        </p:cTn>
                                        <p:tgtEl>
                                          <p:spTgt spid="2258340"/>
                                        </p:tgtEl>
                                        <p:attrNameLst>
                                          <p:attrName>style.visibility</p:attrName>
                                        </p:attrNameLst>
                                      </p:cBhvr>
                                      <p:to>
                                        <p:strVal val="visible"/>
                                      </p:to>
                                    </p:set>
                                    <p:animEffect transition="in" filter="dissolve">
                                      <p:cBhvr>
                                        <p:cTn id="66" dur="500"/>
                                        <p:tgtEl>
                                          <p:spTgt spid="2258340"/>
                                        </p:tgtEl>
                                      </p:cBhvr>
                                    </p:animEffect>
                                  </p:childTnLst>
                                </p:cTn>
                              </p:par>
                              <p:par>
                                <p:cTn id="67" presetID="9" presetClass="entr" presetSubtype="0" fill="hold" grpId="0" nodeType="withEffect">
                                  <p:stCondLst>
                                    <p:cond delay="0"/>
                                  </p:stCondLst>
                                  <p:childTnLst>
                                    <p:set>
                                      <p:cBhvr>
                                        <p:cTn id="68" dur="1" fill="hold">
                                          <p:stCondLst>
                                            <p:cond delay="0"/>
                                          </p:stCondLst>
                                        </p:cTn>
                                        <p:tgtEl>
                                          <p:spTgt spid="2258264"/>
                                        </p:tgtEl>
                                        <p:attrNameLst>
                                          <p:attrName>style.visibility</p:attrName>
                                        </p:attrNameLst>
                                      </p:cBhvr>
                                      <p:to>
                                        <p:strVal val="visible"/>
                                      </p:to>
                                    </p:set>
                                    <p:animEffect transition="in" filter="dissolve">
                                      <p:cBhvr>
                                        <p:cTn id="69" dur="500"/>
                                        <p:tgtEl>
                                          <p:spTgt spid="2258264"/>
                                        </p:tgtEl>
                                      </p:cBhvr>
                                    </p:animEffec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2258300"/>
                                        </p:tgtEl>
                                        <p:attrNameLst>
                                          <p:attrName>style.visibility</p:attrName>
                                        </p:attrNameLst>
                                      </p:cBhvr>
                                      <p:to>
                                        <p:strVal val="visible"/>
                                      </p:to>
                                    </p:set>
                                    <p:animEffect transition="in" filter="dissolve">
                                      <p:cBhvr>
                                        <p:cTn id="74" dur="500"/>
                                        <p:tgtEl>
                                          <p:spTgt spid="2258300"/>
                                        </p:tgtEl>
                                      </p:cBhvr>
                                    </p:animEffect>
                                  </p:childTnLst>
                                </p:cTn>
                              </p:par>
                              <p:par>
                                <p:cTn id="75" presetID="9" presetClass="entr" presetSubtype="0" fill="hold" nodeType="withEffect">
                                  <p:stCondLst>
                                    <p:cond delay="0"/>
                                  </p:stCondLst>
                                  <p:childTnLst>
                                    <p:set>
                                      <p:cBhvr>
                                        <p:cTn id="76" dur="1" fill="hold">
                                          <p:stCondLst>
                                            <p:cond delay="0"/>
                                          </p:stCondLst>
                                        </p:cTn>
                                        <p:tgtEl>
                                          <p:spTgt spid="2258299"/>
                                        </p:tgtEl>
                                        <p:attrNameLst>
                                          <p:attrName>style.visibility</p:attrName>
                                        </p:attrNameLst>
                                      </p:cBhvr>
                                      <p:to>
                                        <p:strVal val="visible"/>
                                      </p:to>
                                    </p:set>
                                    <p:animEffect transition="in" filter="dissolve">
                                      <p:cBhvr>
                                        <p:cTn id="77" dur="500"/>
                                        <p:tgtEl>
                                          <p:spTgt spid="2258299"/>
                                        </p:tgtEl>
                                      </p:cBhvr>
                                    </p:animEffect>
                                  </p:childTnLst>
                                </p:cTn>
                              </p:par>
                              <p:par>
                                <p:cTn id="78" presetID="9" presetClass="entr" presetSubtype="0" fill="hold" nodeType="withEffect">
                                  <p:stCondLst>
                                    <p:cond delay="0"/>
                                  </p:stCondLst>
                                  <p:childTnLst>
                                    <p:set>
                                      <p:cBhvr>
                                        <p:cTn id="79" dur="1" fill="hold">
                                          <p:stCondLst>
                                            <p:cond delay="0"/>
                                          </p:stCondLst>
                                        </p:cTn>
                                        <p:tgtEl>
                                          <p:spTgt spid="2258293"/>
                                        </p:tgtEl>
                                        <p:attrNameLst>
                                          <p:attrName>style.visibility</p:attrName>
                                        </p:attrNameLst>
                                      </p:cBhvr>
                                      <p:to>
                                        <p:strVal val="visible"/>
                                      </p:to>
                                    </p:set>
                                    <p:animEffect transition="in" filter="dissolve">
                                      <p:cBhvr>
                                        <p:cTn id="80" dur="500"/>
                                        <p:tgtEl>
                                          <p:spTgt spid="2258293"/>
                                        </p:tgtEl>
                                      </p:cBhvr>
                                    </p:animEffect>
                                  </p:childTnLst>
                                </p:cTn>
                              </p:par>
                              <p:par>
                                <p:cTn id="81" presetID="9" presetClass="entr" presetSubtype="0" fill="hold" nodeType="withEffect">
                                  <p:stCondLst>
                                    <p:cond delay="0"/>
                                  </p:stCondLst>
                                  <p:childTnLst>
                                    <p:set>
                                      <p:cBhvr>
                                        <p:cTn id="82" dur="1" fill="hold">
                                          <p:stCondLst>
                                            <p:cond delay="0"/>
                                          </p:stCondLst>
                                        </p:cTn>
                                        <p:tgtEl>
                                          <p:spTgt spid="2258292"/>
                                        </p:tgtEl>
                                        <p:attrNameLst>
                                          <p:attrName>style.visibility</p:attrName>
                                        </p:attrNameLst>
                                      </p:cBhvr>
                                      <p:to>
                                        <p:strVal val="visible"/>
                                      </p:to>
                                    </p:set>
                                    <p:animEffect transition="in" filter="dissolve">
                                      <p:cBhvr>
                                        <p:cTn id="83" dur="500"/>
                                        <p:tgtEl>
                                          <p:spTgt spid="2258292"/>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2258279"/>
                                        </p:tgtEl>
                                        <p:attrNameLst>
                                          <p:attrName>style.visibility</p:attrName>
                                        </p:attrNameLst>
                                      </p:cBhvr>
                                      <p:to>
                                        <p:strVal val="visible"/>
                                      </p:to>
                                    </p:set>
                                    <p:animEffect transition="in" filter="wipe(left)">
                                      <p:cBhvr>
                                        <p:cTn id="88" dur="500"/>
                                        <p:tgtEl>
                                          <p:spTgt spid="2258279"/>
                                        </p:tgtEl>
                                      </p:cBhvr>
                                    </p:animEffect>
                                  </p:childTnLst>
                                </p:cTn>
                              </p:par>
                              <p:par>
                                <p:cTn id="89" presetID="22" presetClass="entr" presetSubtype="8" fill="hold" nodeType="withEffect">
                                  <p:stCondLst>
                                    <p:cond delay="0"/>
                                  </p:stCondLst>
                                  <p:childTnLst>
                                    <p:set>
                                      <p:cBhvr>
                                        <p:cTn id="90" dur="1" fill="hold">
                                          <p:stCondLst>
                                            <p:cond delay="0"/>
                                          </p:stCondLst>
                                        </p:cTn>
                                        <p:tgtEl>
                                          <p:spTgt spid="2258199"/>
                                        </p:tgtEl>
                                        <p:attrNameLst>
                                          <p:attrName>style.visibility</p:attrName>
                                        </p:attrNameLst>
                                      </p:cBhvr>
                                      <p:to>
                                        <p:strVal val="visible"/>
                                      </p:to>
                                    </p:set>
                                    <p:animEffect transition="in" filter="wipe(left)">
                                      <p:cBhvr>
                                        <p:cTn id="91" dur="500"/>
                                        <p:tgtEl>
                                          <p:spTgt spid="2258199"/>
                                        </p:tgtEl>
                                      </p:cBhvr>
                                    </p:animEffect>
                                  </p:childTnLst>
                                </p:cTn>
                              </p:par>
                            </p:childTnLst>
                          </p:cTn>
                        </p:par>
                        <p:par>
                          <p:cTn id="92" fill="hold">
                            <p:stCondLst>
                              <p:cond delay="500"/>
                            </p:stCondLst>
                            <p:childTnLst>
                              <p:par>
                                <p:cTn id="93" presetID="22" presetClass="entr" presetSubtype="8" fill="hold" grpId="0" nodeType="afterEffect">
                                  <p:stCondLst>
                                    <p:cond delay="0"/>
                                  </p:stCondLst>
                                  <p:childTnLst>
                                    <p:set>
                                      <p:cBhvr>
                                        <p:cTn id="94" dur="1" fill="hold">
                                          <p:stCondLst>
                                            <p:cond delay="0"/>
                                          </p:stCondLst>
                                        </p:cTn>
                                        <p:tgtEl>
                                          <p:spTgt spid="2258198"/>
                                        </p:tgtEl>
                                        <p:attrNameLst>
                                          <p:attrName>style.visibility</p:attrName>
                                        </p:attrNameLst>
                                      </p:cBhvr>
                                      <p:to>
                                        <p:strVal val="visible"/>
                                      </p:to>
                                    </p:set>
                                    <p:animEffect transition="in" filter="wipe(left)">
                                      <p:cBhvr>
                                        <p:cTn id="95" dur="500"/>
                                        <p:tgtEl>
                                          <p:spTgt spid="2258198"/>
                                        </p:tgtEl>
                                      </p:cBhvr>
                                    </p:animEffect>
                                  </p:childTnLst>
                                </p:cTn>
                              </p:par>
                            </p:childTnLst>
                          </p:cTn>
                        </p:par>
                        <p:par>
                          <p:cTn id="96" fill="hold">
                            <p:stCondLst>
                              <p:cond delay="1000"/>
                            </p:stCondLst>
                            <p:childTnLst>
                              <p:par>
                                <p:cTn id="97" presetID="22" presetClass="entr" presetSubtype="8" fill="hold" nodeType="afterEffect">
                                  <p:stCondLst>
                                    <p:cond delay="0"/>
                                  </p:stCondLst>
                                  <p:childTnLst>
                                    <p:set>
                                      <p:cBhvr>
                                        <p:cTn id="98" dur="1" fill="hold">
                                          <p:stCondLst>
                                            <p:cond delay="0"/>
                                          </p:stCondLst>
                                        </p:cTn>
                                        <p:tgtEl>
                                          <p:spTgt spid="2258200"/>
                                        </p:tgtEl>
                                        <p:attrNameLst>
                                          <p:attrName>style.visibility</p:attrName>
                                        </p:attrNameLst>
                                      </p:cBhvr>
                                      <p:to>
                                        <p:strVal val="visible"/>
                                      </p:to>
                                    </p:set>
                                    <p:animEffect transition="in" filter="wipe(left)">
                                      <p:cBhvr>
                                        <p:cTn id="99" dur="500"/>
                                        <p:tgtEl>
                                          <p:spTgt spid="2258200"/>
                                        </p:tgtEl>
                                      </p:cBhvr>
                                    </p:animEffect>
                                  </p:childTnLst>
                                </p:cTn>
                              </p:par>
                            </p:childTnLst>
                          </p:cTn>
                        </p:par>
                        <p:par>
                          <p:cTn id="100" fill="hold">
                            <p:stCondLst>
                              <p:cond delay="1500"/>
                            </p:stCondLst>
                            <p:childTnLst>
                              <p:par>
                                <p:cTn id="101" presetID="22" presetClass="entr" presetSubtype="8" fill="hold" nodeType="afterEffect">
                                  <p:stCondLst>
                                    <p:cond delay="0"/>
                                  </p:stCondLst>
                                  <p:childTnLst>
                                    <p:set>
                                      <p:cBhvr>
                                        <p:cTn id="102" dur="1" fill="hold">
                                          <p:stCondLst>
                                            <p:cond delay="0"/>
                                          </p:stCondLst>
                                        </p:cTn>
                                        <p:tgtEl>
                                          <p:spTgt spid="2258197"/>
                                        </p:tgtEl>
                                        <p:attrNameLst>
                                          <p:attrName>style.visibility</p:attrName>
                                        </p:attrNameLst>
                                      </p:cBhvr>
                                      <p:to>
                                        <p:strVal val="visible"/>
                                      </p:to>
                                    </p:set>
                                    <p:animEffect transition="in" filter="wipe(left)">
                                      <p:cBhvr>
                                        <p:cTn id="103" dur="500"/>
                                        <p:tgtEl>
                                          <p:spTgt spid="2258197"/>
                                        </p:tgtEl>
                                      </p:cBhvr>
                                    </p:animEffect>
                                  </p:childTnLst>
                                </p:cTn>
                              </p:par>
                            </p:childTnLst>
                          </p:cTn>
                        </p:par>
                        <p:par>
                          <p:cTn id="104" fill="hold">
                            <p:stCondLst>
                              <p:cond delay="2000"/>
                            </p:stCondLst>
                            <p:childTnLst>
                              <p:par>
                                <p:cTn id="105" presetID="22" presetClass="entr" presetSubtype="8" fill="hold" nodeType="afterEffect">
                                  <p:stCondLst>
                                    <p:cond delay="0"/>
                                  </p:stCondLst>
                                  <p:childTnLst>
                                    <p:set>
                                      <p:cBhvr>
                                        <p:cTn id="106" dur="1" fill="hold">
                                          <p:stCondLst>
                                            <p:cond delay="0"/>
                                          </p:stCondLst>
                                        </p:cTn>
                                        <p:tgtEl>
                                          <p:spTgt spid="2258192"/>
                                        </p:tgtEl>
                                        <p:attrNameLst>
                                          <p:attrName>style.visibility</p:attrName>
                                        </p:attrNameLst>
                                      </p:cBhvr>
                                      <p:to>
                                        <p:strVal val="visible"/>
                                      </p:to>
                                    </p:set>
                                    <p:animEffect transition="in" filter="wipe(left)">
                                      <p:cBhvr>
                                        <p:cTn id="107" dur="500"/>
                                        <p:tgtEl>
                                          <p:spTgt spid="2258192"/>
                                        </p:tgtEl>
                                      </p:cBhvr>
                                    </p:animEffect>
                                  </p:childTnLst>
                                </p:cTn>
                              </p:par>
                            </p:childTnLst>
                          </p:cTn>
                        </p:par>
                        <p:par>
                          <p:cTn id="108" fill="hold">
                            <p:stCondLst>
                              <p:cond delay="2500"/>
                            </p:stCondLst>
                            <p:childTnLst>
                              <p:par>
                                <p:cTn id="109" presetID="22" presetClass="entr" presetSubtype="8" fill="hold" nodeType="afterEffect">
                                  <p:stCondLst>
                                    <p:cond delay="0"/>
                                  </p:stCondLst>
                                  <p:childTnLst>
                                    <p:set>
                                      <p:cBhvr>
                                        <p:cTn id="110" dur="1" fill="hold">
                                          <p:stCondLst>
                                            <p:cond delay="0"/>
                                          </p:stCondLst>
                                        </p:cTn>
                                        <p:tgtEl>
                                          <p:spTgt spid="2258116"/>
                                        </p:tgtEl>
                                        <p:attrNameLst>
                                          <p:attrName>style.visibility</p:attrName>
                                        </p:attrNameLst>
                                      </p:cBhvr>
                                      <p:to>
                                        <p:strVal val="visible"/>
                                      </p:to>
                                    </p:set>
                                    <p:animEffect transition="in" filter="wipe(left)">
                                      <p:cBhvr>
                                        <p:cTn id="111" dur="500"/>
                                        <p:tgtEl>
                                          <p:spTgt spid="2258116"/>
                                        </p:tgtEl>
                                      </p:cBhvr>
                                    </p:animEffect>
                                  </p:childTnLst>
                                </p:cTn>
                              </p:par>
                            </p:childTnLst>
                          </p:cTn>
                        </p:par>
                        <p:par>
                          <p:cTn id="112" fill="hold">
                            <p:stCondLst>
                              <p:cond delay="3000"/>
                            </p:stCondLst>
                            <p:childTnLst>
                              <p:par>
                                <p:cTn id="113" presetID="22" presetClass="entr" presetSubtype="8" fill="hold" nodeType="afterEffect">
                                  <p:stCondLst>
                                    <p:cond delay="0"/>
                                  </p:stCondLst>
                                  <p:childTnLst>
                                    <p:set>
                                      <p:cBhvr>
                                        <p:cTn id="114" dur="1" fill="hold">
                                          <p:stCondLst>
                                            <p:cond delay="0"/>
                                          </p:stCondLst>
                                        </p:cTn>
                                        <p:tgtEl>
                                          <p:spTgt spid="2258091"/>
                                        </p:tgtEl>
                                        <p:attrNameLst>
                                          <p:attrName>style.visibility</p:attrName>
                                        </p:attrNameLst>
                                      </p:cBhvr>
                                      <p:to>
                                        <p:strVal val="visible"/>
                                      </p:to>
                                    </p:set>
                                    <p:animEffect transition="in" filter="wipe(left)">
                                      <p:cBhvr>
                                        <p:cTn id="115" dur="500"/>
                                        <p:tgtEl>
                                          <p:spTgt spid="2258091"/>
                                        </p:tgtEl>
                                      </p:cBhvr>
                                    </p:animEffect>
                                  </p:childTnLst>
                                </p:cTn>
                              </p:par>
                            </p:childTnLst>
                          </p:cTn>
                        </p:par>
                        <p:par>
                          <p:cTn id="116" fill="hold">
                            <p:stCondLst>
                              <p:cond delay="3500"/>
                            </p:stCondLst>
                            <p:childTnLst>
                              <p:par>
                                <p:cTn id="117" presetID="22" presetClass="entr" presetSubtype="8" fill="hold" nodeType="afterEffect">
                                  <p:stCondLst>
                                    <p:cond delay="0"/>
                                  </p:stCondLst>
                                  <p:childTnLst>
                                    <p:set>
                                      <p:cBhvr>
                                        <p:cTn id="118" dur="1" fill="hold">
                                          <p:stCondLst>
                                            <p:cond delay="0"/>
                                          </p:stCondLst>
                                        </p:cTn>
                                        <p:tgtEl>
                                          <p:spTgt spid="2258130"/>
                                        </p:tgtEl>
                                        <p:attrNameLst>
                                          <p:attrName>style.visibility</p:attrName>
                                        </p:attrNameLst>
                                      </p:cBhvr>
                                      <p:to>
                                        <p:strVal val="visible"/>
                                      </p:to>
                                    </p:set>
                                    <p:animEffect transition="in" filter="wipe(left)">
                                      <p:cBhvr>
                                        <p:cTn id="119" dur="500"/>
                                        <p:tgtEl>
                                          <p:spTgt spid="2258130"/>
                                        </p:tgtEl>
                                      </p:cBhvr>
                                    </p:animEffect>
                                  </p:childTnLst>
                                </p:cTn>
                              </p:par>
                            </p:childTnLst>
                          </p:cTn>
                        </p:par>
                        <p:par>
                          <p:cTn id="120" fill="hold">
                            <p:stCondLst>
                              <p:cond delay="4000"/>
                            </p:stCondLst>
                            <p:childTnLst>
                              <p:par>
                                <p:cTn id="121" presetID="22" presetClass="entr" presetSubtype="8" fill="hold" nodeType="afterEffect">
                                  <p:stCondLst>
                                    <p:cond delay="0"/>
                                  </p:stCondLst>
                                  <p:childTnLst>
                                    <p:set>
                                      <p:cBhvr>
                                        <p:cTn id="122" dur="1" fill="hold">
                                          <p:stCondLst>
                                            <p:cond delay="0"/>
                                          </p:stCondLst>
                                        </p:cTn>
                                        <p:tgtEl>
                                          <p:spTgt spid="2258100"/>
                                        </p:tgtEl>
                                        <p:attrNameLst>
                                          <p:attrName>style.visibility</p:attrName>
                                        </p:attrNameLst>
                                      </p:cBhvr>
                                      <p:to>
                                        <p:strVal val="visible"/>
                                      </p:to>
                                    </p:set>
                                    <p:animEffect transition="in" filter="wipe(left)">
                                      <p:cBhvr>
                                        <p:cTn id="123" dur="500"/>
                                        <p:tgtEl>
                                          <p:spTgt spid="2258100"/>
                                        </p:tgtEl>
                                      </p:cBhvr>
                                    </p:animEffect>
                                  </p:childTnLst>
                                </p:cTn>
                              </p:par>
                            </p:childTnLst>
                          </p:cTn>
                        </p:par>
                        <p:par>
                          <p:cTn id="124" fill="hold">
                            <p:stCondLst>
                              <p:cond delay="4500"/>
                            </p:stCondLst>
                            <p:childTnLst>
                              <p:par>
                                <p:cTn id="125" presetID="22" presetClass="entr" presetSubtype="8" fill="hold" nodeType="afterEffect">
                                  <p:stCondLst>
                                    <p:cond delay="0"/>
                                  </p:stCondLst>
                                  <p:childTnLst>
                                    <p:set>
                                      <p:cBhvr>
                                        <p:cTn id="126" dur="1" fill="hold">
                                          <p:stCondLst>
                                            <p:cond delay="0"/>
                                          </p:stCondLst>
                                        </p:cTn>
                                        <p:tgtEl>
                                          <p:spTgt spid="2258135"/>
                                        </p:tgtEl>
                                        <p:attrNameLst>
                                          <p:attrName>style.visibility</p:attrName>
                                        </p:attrNameLst>
                                      </p:cBhvr>
                                      <p:to>
                                        <p:strVal val="visible"/>
                                      </p:to>
                                    </p:set>
                                    <p:animEffect transition="in" filter="wipe(left)">
                                      <p:cBhvr>
                                        <p:cTn id="127" dur="500"/>
                                        <p:tgtEl>
                                          <p:spTgt spid="2258135"/>
                                        </p:tgtEl>
                                      </p:cBhvr>
                                    </p:animEffect>
                                  </p:childTnLst>
                                </p:cTn>
                              </p:par>
                            </p:childTnLst>
                          </p:cTn>
                        </p:par>
                        <p:par>
                          <p:cTn id="128" fill="hold">
                            <p:stCondLst>
                              <p:cond delay="5000"/>
                            </p:stCondLst>
                            <p:childTnLst>
                              <p:par>
                                <p:cTn id="129" presetID="22" presetClass="entr" presetSubtype="8" fill="hold" nodeType="afterEffect">
                                  <p:stCondLst>
                                    <p:cond delay="0"/>
                                  </p:stCondLst>
                                  <p:childTnLst>
                                    <p:set>
                                      <p:cBhvr>
                                        <p:cTn id="130" dur="1" fill="hold">
                                          <p:stCondLst>
                                            <p:cond delay="0"/>
                                          </p:stCondLst>
                                        </p:cTn>
                                        <p:tgtEl>
                                          <p:spTgt spid="2258111"/>
                                        </p:tgtEl>
                                        <p:attrNameLst>
                                          <p:attrName>style.visibility</p:attrName>
                                        </p:attrNameLst>
                                      </p:cBhvr>
                                      <p:to>
                                        <p:strVal val="visible"/>
                                      </p:to>
                                    </p:set>
                                    <p:animEffect transition="in" filter="wipe(left)">
                                      <p:cBhvr>
                                        <p:cTn id="131" dur="500"/>
                                        <p:tgtEl>
                                          <p:spTgt spid="2258111"/>
                                        </p:tgtEl>
                                      </p:cBhvr>
                                    </p:animEffect>
                                  </p:childTnLst>
                                </p:cTn>
                              </p:par>
                            </p:childTnLst>
                          </p:cTn>
                        </p:par>
                        <p:par>
                          <p:cTn id="132" fill="hold">
                            <p:stCondLst>
                              <p:cond delay="5500"/>
                            </p:stCondLst>
                            <p:childTnLst>
                              <p:par>
                                <p:cTn id="133" presetID="22" presetClass="entr" presetSubtype="8" fill="hold" nodeType="afterEffect">
                                  <p:stCondLst>
                                    <p:cond delay="0"/>
                                  </p:stCondLst>
                                  <p:childTnLst>
                                    <p:set>
                                      <p:cBhvr>
                                        <p:cTn id="134" dur="1" fill="hold">
                                          <p:stCondLst>
                                            <p:cond delay="0"/>
                                          </p:stCondLst>
                                        </p:cTn>
                                        <p:tgtEl>
                                          <p:spTgt spid="2258140"/>
                                        </p:tgtEl>
                                        <p:attrNameLst>
                                          <p:attrName>style.visibility</p:attrName>
                                        </p:attrNameLst>
                                      </p:cBhvr>
                                      <p:to>
                                        <p:strVal val="visible"/>
                                      </p:to>
                                    </p:set>
                                    <p:animEffect transition="in" filter="wipe(left)">
                                      <p:cBhvr>
                                        <p:cTn id="135" dur="500"/>
                                        <p:tgtEl>
                                          <p:spTgt spid="2258140"/>
                                        </p:tgtEl>
                                      </p:cBhvr>
                                    </p:animEffect>
                                  </p:childTnLst>
                                </p:cTn>
                              </p:par>
                            </p:childTnLst>
                          </p:cTn>
                        </p:par>
                        <p:par>
                          <p:cTn id="136" fill="hold">
                            <p:stCondLst>
                              <p:cond delay="6000"/>
                            </p:stCondLst>
                            <p:childTnLst>
                              <p:par>
                                <p:cTn id="137" presetID="22" presetClass="entr" presetSubtype="8" fill="hold" nodeType="afterEffect">
                                  <p:stCondLst>
                                    <p:cond delay="0"/>
                                  </p:stCondLst>
                                  <p:childTnLst>
                                    <p:set>
                                      <p:cBhvr>
                                        <p:cTn id="138" dur="1" fill="hold">
                                          <p:stCondLst>
                                            <p:cond delay="0"/>
                                          </p:stCondLst>
                                        </p:cTn>
                                        <p:tgtEl>
                                          <p:spTgt spid="2258125"/>
                                        </p:tgtEl>
                                        <p:attrNameLst>
                                          <p:attrName>style.visibility</p:attrName>
                                        </p:attrNameLst>
                                      </p:cBhvr>
                                      <p:to>
                                        <p:strVal val="visible"/>
                                      </p:to>
                                    </p:set>
                                    <p:animEffect transition="in" filter="wipe(left)">
                                      <p:cBhvr>
                                        <p:cTn id="139" dur="500"/>
                                        <p:tgtEl>
                                          <p:spTgt spid="2258125"/>
                                        </p:tgtEl>
                                      </p:cBhvr>
                                    </p:animEffect>
                                  </p:childTnLst>
                                </p:cTn>
                              </p:par>
                            </p:childTnLst>
                          </p:cTn>
                        </p:par>
                        <p:par>
                          <p:cTn id="140" fill="hold">
                            <p:stCondLst>
                              <p:cond delay="6500"/>
                            </p:stCondLst>
                            <p:childTnLst>
                              <p:par>
                                <p:cTn id="141" presetID="22" presetClass="entr" presetSubtype="8" fill="hold" nodeType="afterEffect">
                                  <p:stCondLst>
                                    <p:cond delay="0"/>
                                  </p:stCondLst>
                                  <p:childTnLst>
                                    <p:set>
                                      <p:cBhvr>
                                        <p:cTn id="142" dur="1" fill="hold">
                                          <p:stCondLst>
                                            <p:cond delay="0"/>
                                          </p:stCondLst>
                                        </p:cTn>
                                        <p:tgtEl>
                                          <p:spTgt spid="2258154"/>
                                        </p:tgtEl>
                                        <p:attrNameLst>
                                          <p:attrName>style.visibility</p:attrName>
                                        </p:attrNameLst>
                                      </p:cBhvr>
                                      <p:to>
                                        <p:strVal val="visible"/>
                                      </p:to>
                                    </p:set>
                                    <p:animEffect transition="in" filter="wipe(left)">
                                      <p:cBhvr>
                                        <p:cTn id="143" dur="500"/>
                                        <p:tgtEl>
                                          <p:spTgt spid="2258154"/>
                                        </p:tgtEl>
                                      </p:cBhvr>
                                    </p:animEffect>
                                  </p:childTnLst>
                                </p:cTn>
                              </p:par>
                            </p:childTnLst>
                          </p:cTn>
                        </p:par>
                        <p:par>
                          <p:cTn id="144" fill="hold">
                            <p:stCondLst>
                              <p:cond delay="7000"/>
                            </p:stCondLst>
                            <p:childTnLst>
                              <p:par>
                                <p:cTn id="145" presetID="22" presetClass="entr" presetSubtype="8" fill="hold" nodeType="afterEffect">
                                  <p:stCondLst>
                                    <p:cond delay="0"/>
                                  </p:stCondLst>
                                  <p:childTnLst>
                                    <p:set>
                                      <p:cBhvr>
                                        <p:cTn id="146" dur="1" fill="hold">
                                          <p:stCondLst>
                                            <p:cond delay="0"/>
                                          </p:stCondLst>
                                        </p:cTn>
                                        <p:tgtEl>
                                          <p:spTgt spid="2258149"/>
                                        </p:tgtEl>
                                        <p:attrNameLst>
                                          <p:attrName>style.visibility</p:attrName>
                                        </p:attrNameLst>
                                      </p:cBhvr>
                                      <p:to>
                                        <p:strVal val="visible"/>
                                      </p:to>
                                    </p:set>
                                    <p:animEffect transition="in" filter="wipe(left)">
                                      <p:cBhvr>
                                        <p:cTn id="147" dur="500"/>
                                        <p:tgtEl>
                                          <p:spTgt spid="2258149"/>
                                        </p:tgtEl>
                                      </p:cBhvr>
                                    </p:animEffect>
                                  </p:childTnLst>
                                </p:cTn>
                              </p:par>
                            </p:childTnLst>
                          </p:cTn>
                        </p:par>
                        <p:par>
                          <p:cTn id="148" fill="hold">
                            <p:stCondLst>
                              <p:cond delay="7500"/>
                            </p:stCondLst>
                            <p:childTnLst>
                              <p:par>
                                <p:cTn id="149" presetID="22" presetClass="entr" presetSubtype="8" fill="hold" nodeType="afterEffect">
                                  <p:stCondLst>
                                    <p:cond delay="0"/>
                                  </p:stCondLst>
                                  <p:childTnLst>
                                    <p:set>
                                      <p:cBhvr>
                                        <p:cTn id="150" dur="1" fill="hold">
                                          <p:stCondLst>
                                            <p:cond delay="0"/>
                                          </p:stCondLst>
                                        </p:cTn>
                                        <p:tgtEl>
                                          <p:spTgt spid="2258159"/>
                                        </p:tgtEl>
                                        <p:attrNameLst>
                                          <p:attrName>style.visibility</p:attrName>
                                        </p:attrNameLst>
                                      </p:cBhvr>
                                      <p:to>
                                        <p:strVal val="visible"/>
                                      </p:to>
                                    </p:set>
                                    <p:animEffect transition="in" filter="wipe(left)">
                                      <p:cBhvr>
                                        <p:cTn id="151" dur="500"/>
                                        <p:tgtEl>
                                          <p:spTgt spid="2258159"/>
                                        </p:tgtEl>
                                      </p:cBhvr>
                                    </p:animEffect>
                                  </p:childTnLst>
                                </p:cTn>
                              </p:par>
                            </p:childTnLst>
                          </p:cTn>
                        </p:par>
                        <p:par>
                          <p:cTn id="152" fill="hold">
                            <p:stCondLst>
                              <p:cond delay="8000"/>
                            </p:stCondLst>
                            <p:childTnLst>
                              <p:par>
                                <p:cTn id="153" presetID="22" presetClass="entr" presetSubtype="8" fill="hold" nodeType="afterEffect">
                                  <p:stCondLst>
                                    <p:cond delay="0"/>
                                  </p:stCondLst>
                                  <p:childTnLst>
                                    <p:set>
                                      <p:cBhvr>
                                        <p:cTn id="154" dur="1" fill="hold">
                                          <p:stCondLst>
                                            <p:cond delay="0"/>
                                          </p:stCondLst>
                                        </p:cTn>
                                        <p:tgtEl>
                                          <p:spTgt spid="2258167"/>
                                        </p:tgtEl>
                                        <p:attrNameLst>
                                          <p:attrName>style.visibility</p:attrName>
                                        </p:attrNameLst>
                                      </p:cBhvr>
                                      <p:to>
                                        <p:strVal val="visible"/>
                                      </p:to>
                                    </p:set>
                                    <p:animEffect transition="in" filter="wipe(left)">
                                      <p:cBhvr>
                                        <p:cTn id="155" dur="500"/>
                                        <p:tgtEl>
                                          <p:spTgt spid="2258167"/>
                                        </p:tgtEl>
                                      </p:cBhvr>
                                    </p:animEffect>
                                  </p:childTnLst>
                                </p:cTn>
                              </p:par>
                            </p:childTnLst>
                          </p:cTn>
                        </p:par>
                        <p:par>
                          <p:cTn id="156" fill="hold">
                            <p:stCondLst>
                              <p:cond delay="8500"/>
                            </p:stCondLst>
                            <p:childTnLst>
                              <p:par>
                                <p:cTn id="157" presetID="22" presetClass="entr" presetSubtype="8" fill="hold" nodeType="afterEffect">
                                  <p:stCondLst>
                                    <p:cond delay="0"/>
                                  </p:stCondLst>
                                  <p:childTnLst>
                                    <p:set>
                                      <p:cBhvr>
                                        <p:cTn id="158" dur="1" fill="hold">
                                          <p:stCondLst>
                                            <p:cond delay="0"/>
                                          </p:stCondLst>
                                        </p:cTn>
                                        <p:tgtEl>
                                          <p:spTgt spid="2258172"/>
                                        </p:tgtEl>
                                        <p:attrNameLst>
                                          <p:attrName>style.visibility</p:attrName>
                                        </p:attrNameLst>
                                      </p:cBhvr>
                                      <p:to>
                                        <p:strVal val="visible"/>
                                      </p:to>
                                    </p:set>
                                    <p:animEffect transition="in" filter="wipe(left)">
                                      <p:cBhvr>
                                        <p:cTn id="159" dur="500"/>
                                        <p:tgtEl>
                                          <p:spTgt spid="2258172"/>
                                        </p:tgtEl>
                                      </p:cBhvr>
                                    </p:animEffect>
                                  </p:childTnLst>
                                </p:cTn>
                              </p:par>
                            </p:childTnLst>
                          </p:cTn>
                        </p:par>
                        <p:par>
                          <p:cTn id="160" fill="hold">
                            <p:stCondLst>
                              <p:cond delay="9000"/>
                            </p:stCondLst>
                            <p:childTnLst>
                              <p:par>
                                <p:cTn id="161" presetID="22" presetClass="entr" presetSubtype="8" fill="hold" nodeType="afterEffect">
                                  <p:stCondLst>
                                    <p:cond delay="0"/>
                                  </p:stCondLst>
                                  <p:childTnLst>
                                    <p:set>
                                      <p:cBhvr>
                                        <p:cTn id="162" dur="1" fill="hold">
                                          <p:stCondLst>
                                            <p:cond delay="0"/>
                                          </p:stCondLst>
                                        </p:cTn>
                                        <p:tgtEl>
                                          <p:spTgt spid="2258180"/>
                                        </p:tgtEl>
                                        <p:attrNameLst>
                                          <p:attrName>style.visibility</p:attrName>
                                        </p:attrNameLst>
                                      </p:cBhvr>
                                      <p:to>
                                        <p:strVal val="visible"/>
                                      </p:to>
                                    </p:set>
                                    <p:animEffect transition="in" filter="wipe(left)">
                                      <p:cBhvr>
                                        <p:cTn id="163" dur="500"/>
                                        <p:tgtEl>
                                          <p:spTgt spid="2258180"/>
                                        </p:tgtEl>
                                      </p:cBhvr>
                                    </p:animEffect>
                                  </p:childTnLst>
                                </p:cTn>
                              </p:par>
                            </p:childTnLst>
                          </p:cTn>
                        </p:par>
                        <p:par>
                          <p:cTn id="164" fill="hold">
                            <p:stCondLst>
                              <p:cond delay="9500"/>
                            </p:stCondLst>
                            <p:childTnLst>
                              <p:par>
                                <p:cTn id="165" presetID="22" presetClass="entr" presetSubtype="8" fill="hold" nodeType="afterEffect">
                                  <p:stCondLst>
                                    <p:cond delay="0"/>
                                  </p:stCondLst>
                                  <p:childTnLst>
                                    <p:set>
                                      <p:cBhvr>
                                        <p:cTn id="166" dur="1" fill="hold">
                                          <p:stCondLst>
                                            <p:cond delay="0"/>
                                          </p:stCondLst>
                                        </p:cTn>
                                        <p:tgtEl>
                                          <p:spTgt spid="2258182"/>
                                        </p:tgtEl>
                                        <p:attrNameLst>
                                          <p:attrName>style.visibility</p:attrName>
                                        </p:attrNameLst>
                                      </p:cBhvr>
                                      <p:to>
                                        <p:strVal val="visible"/>
                                      </p:to>
                                    </p:set>
                                    <p:animEffect transition="in" filter="wipe(left)">
                                      <p:cBhvr>
                                        <p:cTn id="167" dur="500"/>
                                        <p:tgtEl>
                                          <p:spTgt spid="2258182"/>
                                        </p:tgtEl>
                                      </p:cBhvr>
                                    </p:animEffect>
                                  </p:childTnLst>
                                </p:cTn>
                              </p:par>
                            </p:childTnLst>
                          </p:cTn>
                        </p:par>
                        <p:par>
                          <p:cTn id="168" fill="hold">
                            <p:stCondLst>
                              <p:cond delay="10000"/>
                            </p:stCondLst>
                            <p:childTnLst>
                              <p:par>
                                <p:cTn id="169" presetID="22" presetClass="entr" presetSubtype="8" fill="hold" grpId="0" nodeType="afterEffect">
                                  <p:stCondLst>
                                    <p:cond delay="0"/>
                                  </p:stCondLst>
                                  <p:childTnLst>
                                    <p:set>
                                      <p:cBhvr>
                                        <p:cTn id="170" dur="1" fill="hold">
                                          <p:stCondLst>
                                            <p:cond delay="0"/>
                                          </p:stCondLst>
                                        </p:cTn>
                                        <p:tgtEl>
                                          <p:spTgt spid="2258181"/>
                                        </p:tgtEl>
                                        <p:attrNameLst>
                                          <p:attrName>style.visibility</p:attrName>
                                        </p:attrNameLst>
                                      </p:cBhvr>
                                      <p:to>
                                        <p:strVal val="visible"/>
                                      </p:to>
                                    </p:set>
                                    <p:animEffect transition="in" filter="wipe(left)">
                                      <p:cBhvr>
                                        <p:cTn id="171" dur="500"/>
                                        <p:tgtEl>
                                          <p:spTgt spid="2258181"/>
                                        </p:tgtEl>
                                      </p:cBhvr>
                                    </p:animEffect>
                                  </p:childTnLst>
                                </p:cTn>
                              </p:par>
                            </p:childTnLst>
                          </p:cTn>
                        </p:par>
                        <p:par>
                          <p:cTn id="172" fill="hold">
                            <p:stCondLst>
                              <p:cond delay="10500"/>
                            </p:stCondLst>
                            <p:childTnLst>
                              <p:par>
                                <p:cTn id="173" presetID="22" presetClass="entr" presetSubtype="8" fill="hold" nodeType="afterEffect">
                                  <p:stCondLst>
                                    <p:cond delay="0"/>
                                  </p:stCondLst>
                                  <p:childTnLst>
                                    <p:set>
                                      <p:cBhvr>
                                        <p:cTn id="174" dur="1" fill="hold">
                                          <p:stCondLst>
                                            <p:cond delay="0"/>
                                          </p:stCondLst>
                                        </p:cTn>
                                        <p:tgtEl>
                                          <p:spTgt spid="2258183"/>
                                        </p:tgtEl>
                                        <p:attrNameLst>
                                          <p:attrName>style.visibility</p:attrName>
                                        </p:attrNameLst>
                                      </p:cBhvr>
                                      <p:to>
                                        <p:strVal val="visible"/>
                                      </p:to>
                                    </p:set>
                                    <p:animEffect transition="in" filter="wipe(left)">
                                      <p:cBhvr>
                                        <p:cTn id="175" dur="500"/>
                                        <p:tgtEl>
                                          <p:spTgt spid="2258183"/>
                                        </p:tgtEl>
                                      </p:cBhvr>
                                    </p:animEffect>
                                  </p:childTnLst>
                                </p:cTn>
                              </p:par>
                            </p:childTnLst>
                          </p:cTn>
                        </p:par>
                      </p:childTnLst>
                    </p:cTn>
                  </p:par>
                  <p:par>
                    <p:cTn id="176" fill="hold">
                      <p:stCondLst>
                        <p:cond delay="indefinite"/>
                      </p:stCondLst>
                      <p:childTnLst>
                        <p:par>
                          <p:cTn id="177" fill="hold">
                            <p:stCondLst>
                              <p:cond delay="0"/>
                            </p:stCondLst>
                            <p:childTnLst>
                              <p:par>
                                <p:cTn id="178" presetID="22" presetClass="entr" presetSubtype="8" fill="hold" nodeType="clickEffect">
                                  <p:stCondLst>
                                    <p:cond delay="0"/>
                                  </p:stCondLst>
                                  <p:childTnLst>
                                    <p:set>
                                      <p:cBhvr>
                                        <p:cTn id="179" dur="1" fill="hold">
                                          <p:stCondLst>
                                            <p:cond delay="0"/>
                                          </p:stCondLst>
                                        </p:cTn>
                                        <p:tgtEl>
                                          <p:spTgt spid="2258289"/>
                                        </p:tgtEl>
                                        <p:attrNameLst>
                                          <p:attrName>style.visibility</p:attrName>
                                        </p:attrNameLst>
                                      </p:cBhvr>
                                      <p:to>
                                        <p:strVal val="visible"/>
                                      </p:to>
                                    </p:set>
                                    <p:animEffect transition="in" filter="wipe(left)">
                                      <p:cBhvr>
                                        <p:cTn id="180" dur="500"/>
                                        <p:tgtEl>
                                          <p:spTgt spid="2258289"/>
                                        </p:tgtEl>
                                      </p:cBhvr>
                                    </p:animEffect>
                                  </p:childTnLst>
                                </p:cTn>
                              </p:par>
                            </p:childTnLst>
                          </p:cTn>
                        </p:par>
                        <p:par>
                          <p:cTn id="181" fill="hold">
                            <p:stCondLst>
                              <p:cond delay="500"/>
                            </p:stCondLst>
                            <p:childTnLst>
                              <p:par>
                                <p:cTn id="182" presetID="22" presetClass="entr" presetSubtype="8" fill="hold" nodeType="afterEffect">
                                  <p:stCondLst>
                                    <p:cond delay="0"/>
                                  </p:stCondLst>
                                  <p:childTnLst>
                                    <p:set>
                                      <p:cBhvr>
                                        <p:cTn id="183" dur="1" fill="hold">
                                          <p:stCondLst>
                                            <p:cond delay="0"/>
                                          </p:stCondLst>
                                        </p:cTn>
                                        <p:tgtEl>
                                          <p:spTgt spid="2258083"/>
                                        </p:tgtEl>
                                        <p:attrNameLst>
                                          <p:attrName>style.visibility</p:attrName>
                                        </p:attrNameLst>
                                      </p:cBhvr>
                                      <p:to>
                                        <p:strVal val="visible"/>
                                      </p:to>
                                    </p:set>
                                    <p:animEffect transition="in" filter="wipe(left)">
                                      <p:cBhvr>
                                        <p:cTn id="184" dur="500"/>
                                        <p:tgtEl>
                                          <p:spTgt spid="2258083"/>
                                        </p:tgtEl>
                                      </p:cBhvr>
                                    </p:animEffect>
                                  </p:childTnLst>
                                </p:cTn>
                              </p:par>
                            </p:childTnLst>
                          </p:cTn>
                        </p:par>
                        <p:par>
                          <p:cTn id="185" fill="hold">
                            <p:stCondLst>
                              <p:cond delay="1000"/>
                            </p:stCondLst>
                            <p:childTnLst>
                              <p:par>
                                <p:cTn id="186" presetID="22" presetClass="entr" presetSubtype="8" fill="hold" nodeType="afterEffect">
                                  <p:stCondLst>
                                    <p:cond delay="0"/>
                                  </p:stCondLst>
                                  <p:childTnLst>
                                    <p:set>
                                      <p:cBhvr>
                                        <p:cTn id="187" dur="1" fill="hold">
                                          <p:stCondLst>
                                            <p:cond delay="0"/>
                                          </p:stCondLst>
                                        </p:cTn>
                                        <p:tgtEl>
                                          <p:spTgt spid="2258041"/>
                                        </p:tgtEl>
                                        <p:attrNameLst>
                                          <p:attrName>style.visibility</p:attrName>
                                        </p:attrNameLst>
                                      </p:cBhvr>
                                      <p:to>
                                        <p:strVal val="visible"/>
                                      </p:to>
                                    </p:set>
                                    <p:animEffect transition="in" filter="wipe(left)">
                                      <p:cBhvr>
                                        <p:cTn id="188" dur="500"/>
                                        <p:tgtEl>
                                          <p:spTgt spid="2258041"/>
                                        </p:tgtEl>
                                      </p:cBhvr>
                                    </p:animEffect>
                                  </p:childTnLst>
                                </p:cTn>
                              </p:par>
                            </p:childTnLst>
                          </p:cTn>
                        </p:par>
                        <p:par>
                          <p:cTn id="189" fill="hold">
                            <p:stCondLst>
                              <p:cond delay="1500"/>
                            </p:stCondLst>
                            <p:childTnLst>
                              <p:par>
                                <p:cTn id="190" presetID="22" presetClass="entr" presetSubtype="8" fill="hold" nodeType="afterEffect">
                                  <p:stCondLst>
                                    <p:cond delay="0"/>
                                  </p:stCondLst>
                                  <p:childTnLst>
                                    <p:set>
                                      <p:cBhvr>
                                        <p:cTn id="191" dur="1" fill="hold">
                                          <p:stCondLst>
                                            <p:cond delay="0"/>
                                          </p:stCondLst>
                                        </p:cTn>
                                        <p:tgtEl>
                                          <p:spTgt spid="2258034"/>
                                        </p:tgtEl>
                                        <p:attrNameLst>
                                          <p:attrName>style.visibility</p:attrName>
                                        </p:attrNameLst>
                                      </p:cBhvr>
                                      <p:to>
                                        <p:strVal val="visible"/>
                                      </p:to>
                                    </p:set>
                                    <p:animEffect transition="in" filter="wipe(left)">
                                      <p:cBhvr>
                                        <p:cTn id="192" dur="500"/>
                                        <p:tgtEl>
                                          <p:spTgt spid="2258034"/>
                                        </p:tgtEl>
                                      </p:cBhvr>
                                    </p:animEffect>
                                  </p:childTnLst>
                                </p:cTn>
                              </p:par>
                            </p:childTnLst>
                          </p:cTn>
                        </p:par>
                        <p:par>
                          <p:cTn id="193" fill="hold">
                            <p:stCondLst>
                              <p:cond delay="2000"/>
                            </p:stCondLst>
                            <p:childTnLst>
                              <p:par>
                                <p:cTn id="194" presetID="22" presetClass="entr" presetSubtype="8" fill="hold" nodeType="afterEffect">
                                  <p:stCondLst>
                                    <p:cond delay="0"/>
                                  </p:stCondLst>
                                  <p:childTnLst>
                                    <p:set>
                                      <p:cBhvr>
                                        <p:cTn id="195" dur="1" fill="hold">
                                          <p:stCondLst>
                                            <p:cond delay="0"/>
                                          </p:stCondLst>
                                        </p:cTn>
                                        <p:tgtEl>
                                          <p:spTgt spid="2258048"/>
                                        </p:tgtEl>
                                        <p:attrNameLst>
                                          <p:attrName>style.visibility</p:attrName>
                                        </p:attrNameLst>
                                      </p:cBhvr>
                                      <p:to>
                                        <p:strVal val="visible"/>
                                      </p:to>
                                    </p:set>
                                    <p:animEffect transition="in" filter="wipe(left)">
                                      <p:cBhvr>
                                        <p:cTn id="196" dur="500"/>
                                        <p:tgtEl>
                                          <p:spTgt spid="2258048"/>
                                        </p:tgtEl>
                                      </p:cBhvr>
                                    </p:animEffect>
                                  </p:childTnLst>
                                </p:cTn>
                              </p:par>
                            </p:childTnLst>
                          </p:cTn>
                        </p:par>
                        <p:par>
                          <p:cTn id="197" fill="hold">
                            <p:stCondLst>
                              <p:cond delay="2500"/>
                            </p:stCondLst>
                            <p:childTnLst>
                              <p:par>
                                <p:cTn id="198" presetID="22" presetClass="entr" presetSubtype="8" fill="hold" nodeType="afterEffect">
                                  <p:stCondLst>
                                    <p:cond delay="0"/>
                                  </p:stCondLst>
                                  <p:childTnLst>
                                    <p:set>
                                      <p:cBhvr>
                                        <p:cTn id="199" dur="1" fill="hold">
                                          <p:stCondLst>
                                            <p:cond delay="0"/>
                                          </p:stCondLst>
                                        </p:cTn>
                                        <p:tgtEl>
                                          <p:spTgt spid="2258055"/>
                                        </p:tgtEl>
                                        <p:attrNameLst>
                                          <p:attrName>style.visibility</p:attrName>
                                        </p:attrNameLst>
                                      </p:cBhvr>
                                      <p:to>
                                        <p:strVal val="visible"/>
                                      </p:to>
                                    </p:set>
                                    <p:animEffect transition="in" filter="wipe(left)">
                                      <p:cBhvr>
                                        <p:cTn id="200" dur="500"/>
                                        <p:tgtEl>
                                          <p:spTgt spid="2258055"/>
                                        </p:tgtEl>
                                      </p:cBhvr>
                                    </p:animEffect>
                                  </p:childTnLst>
                                </p:cTn>
                              </p:par>
                            </p:childTnLst>
                          </p:cTn>
                        </p:par>
                        <p:par>
                          <p:cTn id="201" fill="hold">
                            <p:stCondLst>
                              <p:cond delay="3000"/>
                            </p:stCondLst>
                            <p:childTnLst>
                              <p:par>
                                <p:cTn id="202" presetID="22" presetClass="entr" presetSubtype="8" fill="hold" nodeType="afterEffect">
                                  <p:stCondLst>
                                    <p:cond delay="0"/>
                                  </p:stCondLst>
                                  <p:childTnLst>
                                    <p:set>
                                      <p:cBhvr>
                                        <p:cTn id="203" dur="1" fill="hold">
                                          <p:stCondLst>
                                            <p:cond delay="0"/>
                                          </p:stCondLst>
                                        </p:cTn>
                                        <p:tgtEl>
                                          <p:spTgt spid="2258062"/>
                                        </p:tgtEl>
                                        <p:attrNameLst>
                                          <p:attrName>style.visibility</p:attrName>
                                        </p:attrNameLst>
                                      </p:cBhvr>
                                      <p:to>
                                        <p:strVal val="visible"/>
                                      </p:to>
                                    </p:set>
                                    <p:animEffect transition="in" filter="wipe(left)">
                                      <p:cBhvr>
                                        <p:cTn id="204" dur="500"/>
                                        <p:tgtEl>
                                          <p:spTgt spid="2258062"/>
                                        </p:tgtEl>
                                      </p:cBhvr>
                                    </p:animEffect>
                                  </p:childTnLst>
                                </p:cTn>
                              </p:par>
                            </p:childTnLst>
                          </p:cTn>
                        </p:par>
                        <p:par>
                          <p:cTn id="205" fill="hold">
                            <p:stCondLst>
                              <p:cond delay="3500"/>
                            </p:stCondLst>
                            <p:childTnLst>
                              <p:par>
                                <p:cTn id="206" presetID="22" presetClass="entr" presetSubtype="8" fill="hold" nodeType="afterEffect">
                                  <p:stCondLst>
                                    <p:cond delay="0"/>
                                  </p:stCondLst>
                                  <p:childTnLst>
                                    <p:set>
                                      <p:cBhvr>
                                        <p:cTn id="207" dur="1" fill="hold">
                                          <p:stCondLst>
                                            <p:cond delay="0"/>
                                          </p:stCondLst>
                                        </p:cTn>
                                        <p:tgtEl>
                                          <p:spTgt spid="2258069"/>
                                        </p:tgtEl>
                                        <p:attrNameLst>
                                          <p:attrName>style.visibility</p:attrName>
                                        </p:attrNameLst>
                                      </p:cBhvr>
                                      <p:to>
                                        <p:strVal val="visible"/>
                                      </p:to>
                                    </p:set>
                                    <p:animEffect transition="in" filter="wipe(left)">
                                      <p:cBhvr>
                                        <p:cTn id="208" dur="500"/>
                                        <p:tgtEl>
                                          <p:spTgt spid="2258069"/>
                                        </p:tgtEl>
                                      </p:cBhvr>
                                    </p:animEffect>
                                  </p:childTnLst>
                                </p:cTn>
                              </p:par>
                            </p:childTnLst>
                          </p:cTn>
                        </p:par>
                        <p:par>
                          <p:cTn id="209" fill="hold">
                            <p:stCondLst>
                              <p:cond delay="4000"/>
                            </p:stCondLst>
                            <p:childTnLst>
                              <p:par>
                                <p:cTn id="210" presetID="22" presetClass="entr" presetSubtype="8" fill="hold" nodeType="afterEffect">
                                  <p:stCondLst>
                                    <p:cond delay="0"/>
                                  </p:stCondLst>
                                  <p:childTnLst>
                                    <p:set>
                                      <p:cBhvr>
                                        <p:cTn id="211" dur="1" fill="hold">
                                          <p:stCondLst>
                                            <p:cond delay="0"/>
                                          </p:stCondLst>
                                        </p:cTn>
                                        <p:tgtEl>
                                          <p:spTgt spid="2258076"/>
                                        </p:tgtEl>
                                        <p:attrNameLst>
                                          <p:attrName>style.visibility</p:attrName>
                                        </p:attrNameLst>
                                      </p:cBhvr>
                                      <p:to>
                                        <p:strVal val="visible"/>
                                      </p:to>
                                    </p:set>
                                    <p:animEffect transition="in" filter="wipe(left)">
                                      <p:cBhvr>
                                        <p:cTn id="212" dur="500"/>
                                        <p:tgtEl>
                                          <p:spTgt spid="2258076"/>
                                        </p:tgtEl>
                                      </p:cBhvr>
                                    </p:animEffect>
                                  </p:childTnLst>
                                </p:cTn>
                              </p:par>
                            </p:childTnLst>
                          </p:cTn>
                        </p:par>
                      </p:childTnLst>
                    </p:cTn>
                  </p:par>
                  <p:par>
                    <p:cTn id="213" fill="hold">
                      <p:stCondLst>
                        <p:cond delay="indefinite"/>
                      </p:stCondLst>
                      <p:childTnLst>
                        <p:par>
                          <p:cTn id="214" fill="hold">
                            <p:stCondLst>
                              <p:cond delay="0"/>
                            </p:stCondLst>
                            <p:childTnLst>
                              <p:par>
                                <p:cTn id="215" presetID="22" presetClass="entr" presetSubtype="8" fill="hold" nodeType="clickEffect">
                                  <p:stCondLst>
                                    <p:cond delay="0"/>
                                  </p:stCondLst>
                                  <p:childTnLst>
                                    <p:set>
                                      <p:cBhvr>
                                        <p:cTn id="216" dur="1" fill="hold">
                                          <p:stCondLst>
                                            <p:cond delay="0"/>
                                          </p:stCondLst>
                                        </p:cTn>
                                        <p:tgtEl>
                                          <p:spTgt spid="2258284"/>
                                        </p:tgtEl>
                                        <p:attrNameLst>
                                          <p:attrName>style.visibility</p:attrName>
                                        </p:attrNameLst>
                                      </p:cBhvr>
                                      <p:to>
                                        <p:strVal val="visible"/>
                                      </p:to>
                                    </p:set>
                                    <p:animEffect transition="in" filter="wipe(left)">
                                      <p:cBhvr>
                                        <p:cTn id="217" dur="500"/>
                                        <p:tgtEl>
                                          <p:spTgt spid="2258284"/>
                                        </p:tgtEl>
                                      </p:cBhvr>
                                    </p:animEffect>
                                  </p:childTnLst>
                                </p:cTn>
                              </p:par>
                            </p:childTnLst>
                          </p:cTn>
                        </p:par>
                        <p:par>
                          <p:cTn id="218" fill="hold">
                            <p:stCondLst>
                              <p:cond delay="500"/>
                            </p:stCondLst>
                            <p:childTnLst>
                              <p:par>
                                <p:cTn id="219" presetID="22" presetClass="entr" presetSubtype="8" fill="hold" nodeType="afterEffect">
                                  <p:stCondLst>
                                    <p:cond delay="0"/>
                                  </p:stCondLst>
                                  <p:childTnLst>
                                    <p:set>
                                      <p:cBhvr>
                                        <p:cTn id="220" dur="1" fill="hold">
                                          <p:stCondLst>
                                            <p:cond delay="0"/>
                                          </p:stCondLst>
                                        </p:cTn>
                                        <p:tgtEl>
                                          <p:spTgt spid="2258369"/>
                                        </p:tgtEl>
                                        <p:attrNameLst>
                                          <p:attrName>style.visibility</p:attrName>
                                        </p:attrNameLst>
                                      </p:cBhvr>
                                      <p:to>
                                        <p:strVal val="visible"/>
                                      </p:to>
                                    </p:set>
                                    <p:animEffect transition="in" filter="wipe(left)">
                                      <p:cBhvr>
                                        <p:cTn id="221" dur="500"/>
                                        <p:tgtEl>
                                          <p:spTgt spid="2258369"/>
                                        </p:tgtEl>
                                      </p:cBhvr>
                                    </p:animEffect>
                                  </p:childTnLst>
                                </p:cTn>
                              </p:par>
                            </p:childTnLst>
                          </p:cTn>
                        </p:par>
                      </p:childTnLst>
                    </p:cTn>
                  </p:par>
                  <p:par>
                    <p:cTn id="222" fill="hold">
                      <p:stCondLst>
                        <p:cond delay="indefinite"/>
                      </p:stCondLst>
                      <p:childTnLst>
                        <p:par>
                          <p:cTn id="223" fill="hold">
                            <p:stCondLst>
                              <p:cond delay="0"/>
                            </p:stCondLst>
                            <p:childTnLst>
                              <p:par>
                                <p:cTn id="224" presetID="9" presetClass="entr" presetSubtype="0" fill="hold" grpId="0" nodeType="clickEffect">
                                  <p:stCondLst>
                                    <p:cond delay="0"/>
                                  </p:stCondLst>
                                  <p:childTnLst>
                                    <p:set>
                                      <p:cBhvr>
                                        <p:cTn id="225" dur="1" fill="hold">
                                          <p:stCondLst>
                                            <p:cond delay="0"/>
                                          </p:stCondLst>
                                        </p:cTn>
                                        <p:tgtEl>
                                          <p:spTgt spid="2257933"/>
                                        </p:tgtEl>
                                        <p:attrNameLst>
                                          <p:attrName>style.visibility</p:attrName>
                                        </p:attrNameLst>
                                      </p:cBhvr>
                                      <p:to>
                                        <p:strVal val="visible"/>
                                      </p:to>
                                    </p:set>
                                    <p:animEffect transition="in" filter="dissolve">
                                      <p:cBhvr>
                                        <p:cTn id="226" dur="500"/>
                                        <p:tgtEl>
                                          <p:spTgt spid="2257933"/>
                                        </p:tgtEl>
                                      </p:cBhvr>
                                    </p:animEffect>
                                  </p:childTnLst>
                                </p:cTn>
                              </p:par>
                            </p:childTnLst>
                          </p:cTn>
                        </p:par>
                      </p:childTnLst>
                    </p:cTn>
                  </p:par>
                  <p:par>
                    <p:cTn id="227" fill="hold">
                      <p:stCondLst>
                        <p:cond delay="indefinite"/>
                      </p:stCondLst>
                      <p:childTnLst>
                        <p:par>
                          <p:cTn id="228" fill="hold">
                            <p:stCondLst>
                              <p:cond delay="0"/>
                            </p:stCondLst>
                            <p:childTnLst>
                              <p:par>
                                <p:cTn id="229" presetID="9" presetClass="entr" presetSubtype="0" fill="hold" nodeType="clickEffect">
                                  <p:stCondLst>
                                    <p:cond delay="0"/>
                                  </p:stCondLst>
                                  <p:childTnLst>
                                    <p:set>
                                      <p:cBhvr>
                                        <p:cTn id="230" dur="1" fill="hold">
                                          <p:stCondLst>
                                            <p:cond delay="0"/>
                                          </p:stCondLst>
                                        </p:cTn>
                                        <p:tgtEl>
                                          <p:spTgt spid="2258315"/>
                                        </p:tgtEl>
                                        <p:attrNameLst>
                                          <p:attrName>style.visibility</p:attrName>
                                        </p:attrNameLst>
                                      </p:cBhvr>
                                      <p:to>
                                        <p:strVal val="visible"/>
                                      </p:to>
                                    </p:set>
                                    <p:animEffect transition="in" filter="dissolve">
                                      <p:cBhvr>
                                        <p:cTn id="231" dur="500"/>
                                        <p:tgtEl>
                                          <p:spTgt spid="2258315"/>
                                        </p:tgtEl>
                                      </p:cBhvr>
                                    </p:animEffect>
                                  </p:childTnLst>
                                </p:cTn>
                              </p:par>
                              <p:par>
                                <p:cTn id="232" presetID="9" presetClass="entr" presetSubtype="0" fill="hold" nodeType="withEffect">
                                  <p:stCondLst>
                                    <p:cond delay="0"/>
                                  </p:stCondLst>
                                  <p:childTnLst>
                                    <p:set>
                                      <p:cBhvr>
                                        <p:cTn id="233" dur="1" fill="hold">
                                          <p:stCondLst>
                                            <p:cond delay="0"/>
                                          </p:stCondLst>
                                        </p:cTn>
                                        <p:tgtEl>
                                          <p:spTgt spid="2258311"/>
                                        </p:tgtEl>
                                        <p:attrNameLst>
                                          <p:attrName>style.visibility</p:attrName>
                                        </p:attrNameLst>
                                      </p:cBhvr>
                                      <p:to>
                                        <p:strVal val="visible"/>
                                      </p:to>
                                    </p:set>
                                    <p:animEffect transition="in" filter="dissolve">
                                      <p:cBhvr>
                                        <p:cTn id="234" dur="500"/>
                                        <p:tgtEl>
                                          <p:spTgt spid="2258311"/>
                                        </p:tgtEl>
                                      </p:cBhvr>
                                    </p:animEffect>
                                  </p:childTnLst>
                                </p:cTn>
                              </p:par>
                              <p:par>
                                <p:cTn id="235" presetID="9" presetClass="entr" presetSubtype="0" fill="hold" nodeType="withEffect">
                                  <p:stCondLst>
                                    <p:cond delay="0"/>
                                  </p:stCondLst>
                                  <p:childTnLst>
                                    <p:set>
                                      <p:cBhvr>
                                        <p:cTn id="236" dur="1" fill="hold">
                                          <p:stCondLst>
                                            <p:cond delay="0"/>
                                          </p:stCondLst>
                                        </p:cTn>
                                        <p:tgtEl>
                                          <p:spTgt spid="2258306"/>
                                        </p:tgtEl>
                                        <p:attrNameLst>
                                          <p:attrName>style.visibility</p:attrName>
                                        </p:attrNameLst>
                                      </p:cBhvr>
                                      <p:to>
                                        <p:strVal val="visible"/>
                                      </p:to>
                                    </p:set>
                                    <p:animEffect transition="in" filter="dissolve">
                                      <p:cBhvr>
                                        <p:cTn id="237" dur="500"/>
                                        <p:tgtEl>
                                          <p:spTgt spid="2258306"/>
                                        </p:tgtEl>
                                      </p:cBhvr>
                                    </p:animEffect>
                                  </p:childTnLst>
                                </p:cTn>
                              </p:par>
                              <p:par>
                                <p:cTn id="238" presetID="9" presetClass="entr" presetSubtype="0" fill="hold" nodeType="withEffect">
                                  <p:stCondLst>
                                    <p:cond delay="0"/>
                                  </p:stCondLst>
                                  <p:childTnLst>
                                    <p:set>
                                      <p:cBhvr>
                                        <p:cTn id="239" dur="1" fill="hold">
                                          <p:stCondLst>
                                            <p:cond delay="0"/>
                                          </p:stCondLst>
                                        </p:cTn>
                                        <p:tgtEl>
                                          <p:spTgt spid="2257981"/>
                                        </p:tgtEl>
                                        <p:attrNameLst>
                                          <p:attrName>style.visibility</p:attrName>
                                        </p:attrNameLst>
                                      </p:cBhvr>
                                      <p:to>
                                        <p:strVal val="visible"/>
                                      </p:to>
                                    </p:set>
                                    <p:animEffect transition="in" filter="dissolve">
                                      <p:cBhvr>
                                        <p:cTn id="240" dur="500"/>
                                        <p:tgtEl>
                                          <p:spTgt spid="2257981"/>
                                        </p:tgtEl>
                                      </p:cBhvr>
                                    </p:animEffect>
                                  </p:childTnLst>
                                </p:cTn>
                              </p:par>
                              <p:par>
                                <p:cTn id="241" presetID="9" presetClass="entr" presetSubtype="0" fill="hold" nodeType="withEffect">
                                  <p:stCondLst>
                                    <p:cond delay="0"/>
                                  </p:stCondLst>
                                  <p:childTnLst>
                                    <p:set>
                                      <p:cBhvr>
                                        <p:cTn id="242" dur="1" fill="hold">
                                          <p:stCondLst>
                                            <p:cond delay="0"/>
                                          </p:stCondLst>
                                        </p:cTn>
                                        <p:tgtEl>
                                          <p:spTgt spid="2257982"/>
                                        </p:tgtEl>
                                        <p:attrNameLst>
                                          <p:attrName>style.visibility</p:attrName>
                                        </p:attrNameLst>
                                      </p:cBhvr>
                                      <p:to>
                                        <p:strVal val="visible"/>
                                      </p:to>
                                    </p:set>
                                    <p:animEffect transition="in" filter="dissolve">
                                      <p:cBhvr>
                                        <p:cTn id="243" dur="500"/>
                                        <p:tgtEl>
                                          <p:spTgt spid="2257982"/>
                                        </p:tgtEl>
                                      </p:cBhvr>
                                    </p:animEffect>
                                  </p:childTnLst>
                                </p:cTn>
                              </p:par>
                              <p:par>
                                <p:cTn id="244" presetID="9" presetClass="entr" presetSubtype="0" fill="hold" grpId="0" nodeType="withEffect">
                                  <p:stCondLst>
                                    <p:cond delay="0"/>
                                  </p:stCondLst>
                                  <p:childTnLst>
                                    <p:set>
                                      <p:cBhvr>
                                        <p:cTn id="245" dur="1" fill="hold">
                                          <p:stCondLst>
                                            <p:cond delay="0"/>
                                          </p:stCondLst>
                                        </p:cTn>
                                        <p:tgtEl>
                                          <p:spTgt spid="2258290"/>
                                        </p:tgtEl>
                                        <p:attrNameLst>
                                          <p:attrName>style.visibility</p:attrName>
                                        </p:attrNameLst>
                                      </p:cBhvr>
                                      <p:to>
                                        <p:strVal val="visible"/>
                                      </p:to>
                                    </p:set>
                                    <p:animEffect transition="in" filter="dissolve">
                                      <p:cBhvr>
                                        <p:cTn id="246" dur="500"/>
                                        <p:tgtEl>
                                          <p:spTgt spid="2258290"/>
                                        </p:tgtEl>
                                      </p:cBhvr>
                                    </p:animEffect>
                                  </p:childTnLst>
                                </p:cTn>
                              </p:par>
                              <p:par>
                                <p:cTn id="247" presetID="9" presetClass="entr" presetSubtype="0" fill="hold" nodeType="withEffect">
                                  <p:stCondLst>
                                    <p:cond delay="0"/>
                                  </p:stCondLst>
                                  <p:childTnLst>
                                    <p:set>
                                      <p:cBhvr>
                                        <p:cTn id="248" dur="1" fill="hold">
                                          <p:stCondLst>
                                            <p:cond delay="0"/>
                                          </p:stCondLst>
                                        </p:cTn>
                                        <p:tgtEl>
                                          <p:spTgt spid="2257983"/>
                                        </p:tgtEl>
                                        <p:attrNameLst>
                                          <p:attrName>style.visibility</p:attrName>
                                        </p:attrNameLst>
                                      </p:cBhvr>
                                      <p:to>
                                        <p:strVal val="visible"/>
                                      </p:to>
                                    </p:set>
                                    <p:animEffect transition="in" filter="dissolve">
                                      <p:cBhvr>
                                        <p:cTn id="249" dur="500"/>
                                        <p:tgtEl>
                                          <p:spTgt spid="2257983"/>
                                        </p:tgtEl>
                                      </p:cBhvr>
                                    </p:animEffect>
                                  </p:childTnLst>
                                </p:cTn>
                              </p:par>
                              <p:par>
                                <p:cTn id="250" presetID="9" presetClass="entr" presetSubtype="0" fill="hold" nodeType="withEffect">
                                  <p:stCondLst>
                                    <p:cond delay="0"/>
                                  </p:stCondLst>
                                  <p:childTnLst>
                                    <p:set>
                                      <p:cBhvr>
                                        <p:cTn id="251" dur="1" fill="hold">
                                          <p:stCondLst>
                                            <p:cond delay="0"/>
                                          </p:stCondLst>
                                        </p:cTn>
                                        <p:tgtEl>
                                          <p:spTgt spid="2257984"/>
                                        </p:tgtEl>
                                        <p:attrNameLst>
                                          <p:attrName>style.visibility</p:attrName>
                                        </p:attrNameLst>
                                      </p:cBhvr>
                                      <p:to>
                                        <p:strVal val="visible"/>
                                      </p:to>
                                    </p:set>
                                    <p:animEffect transition="in" filter="dissolve">
                                      <p:cBhvr>
                                        <p:cTn id="252" dur="500"/>
                                        <p:tgtEl>
                                          <p:spTgt spid="2257984"/>
                                        </p:tgtEl>
                                      </p:cBhvr>
                                    </p:animEffect>
                                  </p:childTnLst>
                                </p:cTn>
                              </p:par>
                              <p:par>
                                <p:cTn id="253" presetID="9" presetClass="entr" presetSubtype="0" fill="hold" nodeType="withEffect">
                                  <p:stCondLst>
                                    <p:cond delay="0"/>
                                  </p:stCondLst>
                                  <p:childTnLst>
                                    <p:set>
                                      <p:cBhvr>
                                        <p:cTn id="254" dur="1" fill="hold">
                                          <p:stCondLst>
                                            <p:cond delay="0"/>
                                          </p:stCondLst>
                                        </p:cTn>
                                        <p:tgtEl>
                                          <p:spTgt spid="2257985"/>
                                        </p:tgtEl>
                                        <p:attrNameLst>
                                          <p:attrName>style.visibility</p:attrName>
                                        </p:attrNameLst>
                                      </p:cBhvr>
                                      <p:to>
                                        <p:strVal val="visible"/>
                                      </p:to>
                                    </p:set>
                                    <p:animEffect transition="in" filter="dissolve">
                                      <p:cBhvr>
                                        <p:cTn id="255" dur="500"/>
                                        <p:tgtEl>
                                          <p:spTgt spid="2257985"/>
                                        </p:tgtEl>
                                      </p:cBhvr>
                                    </p:animEffect>
                                  </p:childTnLst>
                                </p:cTn>
                              </p:par>
                            </p:childTnLst>
                          </p:cTn>
                        </p:par>
                      </p:childTnLst>
                    </p:cTn>
                  </p:par>
                  <p:par>
                    <p:cTn id="256" fill="hold">
                      <p:stCondLst>
                        <p:cond delay="indefinite"/>
                      </p:stCondLst>
                      <p:childTnLst>
                        <p:par>
                          <p:cTn id="257" fill="hold">
                            <p:stCondLst>
                              <p:cond delay="0"/>
                            </p:stCondLst>
                            <p:childTnLst>
                              <p:par>
                                <p:cTn id="258" presetID="9" presetClass="entr" presetSubtype="0" fill="hold" grpId="0" nodeType="clickEffect">
                                  <p:stCondLst>
                                    <p:cond delay="0"/>
                                  </p:stCondLst>
                                  <p:childTnLst>
                                    <p:set>
                                      <p:cBhvr>
                                        <p:cTn id="259" dur="1" fill="hold">
                                          <p:stCondLst>
                                            <p:cond delay="0"/>
                                          </p:stCondLst>
                                        </p:cTn>
                                        <p:tgtEl>
                                          <p:spTgt spid="2258326"/>
                                        </p:tgtEl>
                                        <p:attrNameLst>
                                          <p:attrName>style.visibility</p:attrName>
                                        </p:attrNameLst>
                                      </p:cBhvr>
                                      <p:to>
                                        <p:strVal val="visible"/>
                                      </p:to>
                                    </p:set>
                                    <p:animEffect transition="in" filter="dissolve">
                                      <p:cBhvr>
                                        <p:cTn id="260" dur="500"/>
                                        <p:tgtEl>
                                          <p:spTgt spid="2258326"/>
                                        </p:tgtEl>
                                      </p:cBhvr>
                                    </p:animEffect>
                                  </p:childTnLst>
                                </p:cTn>
                              </p:par>
                              <p:par>
                                <p:cTn id="261" presetID="9" presetClass="entr" presetSubtype="0" fill="hold" nodeType="withEffect">
                                  <p:stCondLst>
                                    <p:cond delay="0"/>
                                  </p:stCondLst>
                                  <p:childTnLst>
                                    <p:set>
                                      <p:cBhvr>
                                        <p:cTn id="262" dur="1" fill="hold">
                                          <p:stCondLst>
                                            <p:cond delay="0"/>
                                          </p:stCondLst>
                                        </p:cTn>
                                        <p:tgtEl>
                                          <p:spTgt spid="2258325"/>
                                        </p:tgtEl>
                                        <p:attrNameLst>
                                          <p:attrName>style.visibility</p:attrName>
                                        </p:attrNameLst>
                                      </p:cBhvr>
                                      <p:to>
                                        <p:strVal val="visible"/>
                                      </p:to>
                                    </p:set>
                                    <p:animEffect transition="in" filter="dissolve">
                                      <p:cBhvr>
                                        <p:cTn id="263" dur="500"/>
                                        <p:tgtEl>
                                          <p:spTgt spid="2258325"/>
                                        </p:tgtEl>
                                      </p:cBhvr>
                                    </p:animEffect>
                                  </p:childTnLst>
                                </p:cTn>
                              </p:par>
                              <p:par>
                                <p:cTn id="264" presetID="9" presetClass="entr" presetSubtype="0" fill="hold" grpId="0" nodeType="withEffect">
                                  <p:stCondLst>
                                    <p:cond delay="0"/>
                                  </p:stCondLst>
                                  <p:childTnLst>
                                    <p:set>
                                      <p:cBhvr>
                                        <p:cTn id="265" dur="1" fill="hold">
                                          <p:stCondLst>
                                            <p:cond delay="0"/>
                                          </p:stCondLst>
                                        </p:cTn>
                                        <p:tgtEl>
                                          <p:spTgt spid="2258327"/>
                                        </p:tgtEl>
                                        <p:attrNameLst>
                                          <p:attrName>style.visibility</p:attrName>
                                        </p:attrNameLst>
                                      </p:cBhvr>
                                      <p:to>
                                        <p:strVal val="visible"/>
                                      </p:to>
                                    </p:set>
                                    <p:animEffect transition="in" filter="dissolve">
                                      <p:cBhvr>
                                        <p:cTn id="266" dur="500"/>
                                        <p:tgtEl>
                                          <p:spTgt spid="2258327"/>
                                        </p:tgtEl>
                                      </p:cBhvr>
                                    </p:animEffect>
                                  </p:childTnLst>
                                </p:cTn>
                              </p:par>
                              <p:par>
                                <p:cTn id="267" presetID="9" presetClass="entr" presetSubtype="0" fill="hold" grpId="0" nodeType="withEffect">
                                  <p:stCondLst>
                                    <p:cond delay="0"/>
                                  </p:stCondLst>
                                  <p:childTnLst>
                                    <p:set>
                                      <p:cBhvr>
                                        <p:cTn id="268" dur="1" fill="hold">
                                          <p:stCondLst>
                                            <p:cond delay="0"/>
                                          </p:stCondLst>
                                        </p:cTn>
                                        <p:tgtEl>
                                          <p:spTgt spid="2258334"/>
                                        </p:tgtEl>
                                        <p:attrNameLst>
                                          <p:attrName>style.visibility</p:attrName>
                                        </p:attrNameLst>
                                      </p:cBhvr>
                                      <p:to>
                                        <p:strVal val="visible"/>
                                      </p:to>
                                    </p:set>
                                    <p:animEffect transition="in" filter="dissolve">
                                      <p:cBhvr>
                                        <p:cTn id="269" dur="500"/>
                                        <p:tgtEl>
                                          <p:spTgt spid="2258334"/>
                                        </p:tgtEl>
                                      </p:cBhvr>
                                    </p:animEffect>
                                  </p:childTnLst>
                                </p:cTn>
                              </p:par>
                              <p:par>
                                <p:cTn id="270" presetID="9" presetClass="entr" presetSubtype="0" fill="hold" nodeType="withEffect">
                                  <p:stCondLst>
                                    <p:cond delay="0"/>
                                  </p:stCondLst>
                                  <p:childTnLst>
                                    <p:set>
                                      <p:cBhvr>
                                        <p:cTn id="271" dur="1" fill="hold">
                                          <p:stCondLst>
                                            <p:cond delay="0"/>
                                          </p:stCondLst>
                                        </p:cTn>
                                        <p:tgtEl>
                                          <p:spTgt spid="2258333"/>
                                        </p:tgtEl>
                                        <p:attrNameLst>
                                          <p:attrName>style.visibility</p:attrName>
                                        </p:attrNameLst>
                                      </p:cBhvr>
                                      <p:to>
                                        <p:strVal val="visible"/>
                                      </p:to>
                                    </p:set>
                                    <p:animEffect transition="in" filter="dissolve">
                                      <p:cBhvr>
                                        <p:cTn id="272" dur="500"/>
                                        <p:tgtEl>
                                          <p:spTgt spid="2258333"/>
                                        </p:tgtEl>
                                      </p:cBhvr>
                                    </p:animEffect>
                                  </p:childTnLst>
                                </p:cTn>
                              </p:par>
                            </p:childTnLst>
                          </p:cTn>
                        </p:par>
                      </p:childTnLst>
                    </p:cTn>
                  </p:par>
                  <p:par>
                    <p:cTn id="273" fill="hold">
                      <p:stCondLst>
                        <p:cond delay="indefinite"/>
                      </p:stCondLst>
                      <p:childTnLst>
                        <p:par>
                          <p:cTn id="274" fill="hold">
                            <p:stCondLst>
                              <p:cond delay="0"/>
                            </p:stCondLst>
                            <p:childTnLst>
                              <p:par>
                                <p:cTn id="275" presetID="9" presetClass="entr" presetSubtype="0" fill="hold" nodeType="clickEffect">
                                  <p:stCondLst>
                                    <p:cond delay="0"/>
                                  </p:stCondLst>
                                  <p:childTnLst>
                                    <p:set>
                                      <p:cBhvr>
                                        <p:cTn id="276" dur="1" fill="hold">
                                          <p:stCondLst>
                                            <p:cond delay="0"/>
                                          </p:stCondLst>
                                        </p:cTn>
                                        <p:tgtEl>
                                          <p:spTgt spid="2257934">
                                            <p:txEl>
                                              <p:charRg st="0" end="19"/>
                                            </p:txEl>
                                          </p:spTgt>
                                        </p:tgtEl>
                                        <p:attrNameLst>
                                          <p:attrName>style.visibility</p:attrName>
                                        </p:attrNameLst>
                                      </p:cBhvr>
                                      <p:to>
                                        <p:strVal val="visible"/>
                                      </p:to>
                                    </p:set>
                                    <p:animEffect transition="in" filter="dissolve">
                                      <p:cBhvr>
                                        <p:cTn id="277" dur="500"/>
                                        <p:tgtEl>
                                          <p:spTgt spid="2257934">
                                            <p:txEl>
                                              <p:charRg st="0" end="19"/>
                                            </p:txEl>
                                          </p:spTgt>
                                        </p:tgtEl>
                                      </p:cBhvr>
                                    </p:animEffect>
                                  </p:childTnLst>
                                </p:cTn>
                              </p:par>
                              <p:par>
                                <p:cTn id="278" presetID="9" presetClass="entr" presetSubtype="0" fill="hold" nodeType="withEffect">
                                  <p:stCondLst>
                                    <p:cond delay="0"/>
                                  </p:stCondLst>
                                  <p:childTnLst>
                                    <p:set>
                                      <p:cBhvr>
                                        <p:cTn id="279" dur="1" fill="hold">
                                          <p:stCondLst>
                                            <p:cond delay="0"/>
                                          </p:stCondLst>
                                        </p:cTn>
                                        <p:tgtEl>
                                          <p:spTgt spid="2257934">
                                            <p:txEl>
                                              <p:charRg st="19" end="41"/>
                                            </p:txEl>
                                          </p:spTgt>
                                        </p:tgtEl>
                                        <p:attrNameLst>
                                          <p:attrName>style.visibility</p:attrName>
                                        </p:attrNameLst>
                                      </p:cBhvr>
                                      <p:to>
                                        <p:strVal val="visible"/>
                                      </p:to>
                                    </p:set>
                                    <p:animEffect transition="in" filter="dissolve">
                                      <p:cBhvr>
                                        <p:cTn id="280" dur="500"/>
                                        <p:tgtEl>
                                          <p:spTgt spid="2257934">
                                            <p:txEl>
                                              <p:charRg st="19" end="41"/>
                                            </p:txEl>
                                          </p:spTgt>
                                        </p:tgtEl>
                                      </p:cBhvr>
                                    </p:animEffect>
                                  </p:childTnLst>
                                </p:cTn>
                              </p:par>
                              <p:par>
                                <p:cTn id="281" presetID="9" presetClass="entr" presetSubtype="0" fill="hold" nodeType="withEffect">
                                  <p:stCondLst>
                                    <p:cond delay="0"/>
                                  </p:stCondLst>
                                  <p:childTnLst>
                                    <p:set>
                                      <p:cBhvr>
                                        <p:cTn id="282" dur="1" fill="hold">
                                          <p:stCondLst>
                                            <p:cond delay="0"/>
                                          </p:stCondLst>
                                        </p:cTn>
                                        <p:tgtEl>
                                          <p:spTgt spid="2257934">
                                            <p:txEl>
                                              <p:charRg st="41" end="66"/>
                                            </p:txEl>
                                          </p:spTgt>
                                        </p:tgtEl>
                                        <p:attrNameLst>
                                          <p:attrName>style.visibility</p:attrName>
                                        </p:attrNameLst>
                                      </p:cBhvr>
                                      <p:to>
                                        <p:strVal val="visible"/>
                                      </p:to>
                                    </p:set>
                                    <p:animEffect transition="in" filter="dissolve">
                                      <p:cBhvr>
                                        <p:cTn id="283" dur="500"/>
                                        <p:tgtEl>
                                          <p:spTgt spid="2257934">
                                            <p:txEl>
                                              <p:charRg st="41" end="66"/>
                                            </p:txEl>
                                          </p:spTgt>
                                        </p:tgtEl>
                                      </p:cBhvr>
                                    </p:animEffect>
                                  </p:childTnLst>
                                </p:cTn>
                              </p:par>
                            </p:childTnLst>
                          </p:cTn>
                        </p:par>
                      </p:childTnLst>
                    </p:cTn>
                  </p:par>
                  <p:par>
                    <p:cTn id="284" fill="hold">
                      <p:stCondLst>
                        <p:cond delay="indefinite"/>
                      </p:stCondLst>
                      <p:childTnLst>
                        <p:par>
                          <p:cTn id="285" fill="hold">
                            <p:stCondLst>
                              <p:cond delay="0"/>
                            </p:stCondLst>
                            <p:childTnLst>
                              <p:par>
                                <p:cTn id="286" presetID="22" presetClass="entr" presetSubtype="8" fill="hold" grpId="0" nodeType="clickEffect">
                                  <p:stCondLst>
                                    <p:cond delay="0"/>
                                  </p:stCondLst>
                                  <p:childTnLst>
                                    <p:set>
                                      <p:cBhvr>
                                        <p:cTn id="287" dur="1" fill="hold">
                                          <p:stCondLst>
                                            <p:cond delay="0"/>
                                          </p:stCondLst>
                                        </p:cTn>
                                        <p:tgtEl>
                                          <p:spTgt spid="2258256"/>
                                        </p:tgtEl>
                                        <p:attrNameLst>
                                          <p:attrName>style.visibility</p:attrName>
                                        </p:attrNameLst>
                                      </p:cBhvr>
                                      <p:to>
                                        <p:strVal val="visible"/>
                                      </p:to>
                                    </p:set>
                                    <p:animEffect transition="in" filter="wipe(left)">
                                      <p:cBhvr>
                                        <p:cTn id="288" dur="500"/>
                                        <p:tgtEl>
                                          <p:spTgt spid="2258256"/>
                                        </p:tgtEl>
                                      </p:cBhvr>
                                    </p:animEffect>
                                  </p:childTnLst>
                                </p:cTn>
                              </p:par>
                              <p:par>
                                <p:cTn id="289" presetID="22" presetClass="entr" presetSubtype="8" fill="hold" grpId="0" nodeType="withEffect">
                                  <p:stCondLst>
                                    <p:cond delay="0"/>
                                  </p:stCondLst>
                                  <p:childTnLst>
                                    <p:set>
                                      <p:cBhvr>
                                        <p:cTn id="290" dur="1" fill="hold">
                                          <p:stCondLst>
                                            <p:cond delay="0"/>
                                          </p:stCondLst>
                                        </p:cTn>
                                        <p:tgtEl>
                                          <p:spTgt spid="2258255"/>
                                        </p:tgtEl>
                                        <p:attrNameLst>
                                          <p:attrName>style.visibility</p:attrName>
                                        </p:attrNameLst>
                                      </p:cBhvr>
                                      <p:to>
                                        <p:strVal val="visible"/>
                                      </p:to>
                                    </p:set>
                                    <p:animEffect transition="in" filter="wipe(left)">
                                      <p:cBhvr>
                                        <p:cTn id="291" dur="500"/>
                                        <p:tgtEl>
                                          <p:spTgt spid="2258255"/>
                                        </p:tgtEl>
                                      </p:cBhvr>
                                    </p:animEffect>
                                  </p:childTnLst>
                                </p:cTn>
                              </p:par>
                              <p:par>
                                <p:cTn id="292" presetID="22" presetClass="entr" presetSubtype="8" fill="hold" grpId="0" nodeType="withEffect">
                                  <p:stCondLst>
                                    <p:cond delay="0"/>
                                  </p:stCondLst>
                                  <p:childTnLst>
                                    <p:set>
                                      <p:cBhvr>
                                        <p:cTn id="293" dur="1" fill="hold">
                                          <p:stCondLst>
                                            <p:cond delay="0"/>
                                          </p:stCondLst>
                                        </p:cTn>
                                        <p:tgtEl>
                                          <p:spTgt spid="2258254"/>
                                        </p:tgtEl>
                                        <p:attrNameLst>
                                          <p:attrName>style.visibility</p:attrName>
                                        </p:attrNameLst>
                                      </p:cBhvr>
                                      <p:to>
                                        <p:strVal val="visible"/>
                                      </p:to>
                                    </p:set>
                                    <p:animEffect transition="in" filter="wipe(left)">
                                      <p:cBhvr>
                                        <p:cTn id="294" dur="500"/>
                                        <p:tgtEl>
                                          <p:spTgt spid="2258254"/>
                                        </p:tgtEl>
                                      </p:cBhvr>
                                    </p:animEffect>
                                  </p:childTnLst>
                                </p:cTn>
                              </p:par>
                              <p:par>
                                <p:cTn id="295" presetID="22" presetClass="entr" presetSubtype="8" fill="hold" grpId="0" nodeType="withEffect">
                                  <p:stCondLst>
                                    <p:cond delay="0"/>
                                  </p:stCondLst>
                                  <p:childTnLst>
                                    <p:set>
                                      <p:cBhvr>
                                        <p:cTn id="296" dur="1" fill="hold">
                                          <p:stCondLst>
                                            <p:cond delay="0"/>
                                          </p:stCondLst>
                                        </p:cTn>
                                        <p:tgtEl>
                                          <p:spTgt spid="2258253"/>
                                        </p:tgtEl>
                                        <p:attrNameLst>
                                          <p:attrName>style.visibility</p:attrName>
                                        </p:attrNameLst>
                                      </p:cBhvr>
                                      <p:to>
                                        <p:strVal val="visible"/>
                                      </p:to>
                                    </p:set>
                                    <p:animEffect transition="in" filter="wipe(left)">
                                      <p:cBhvr>
                                        <p:cTn id="297" dur="500"/>
                                        <p:tgtEl>
                                          <p:spTgt spid="2258253"/>
                                        </p:tgtEl>
                                      </p:cBhvr>
                                    </p:animEffect>
                                  </p:childTnLst>
                                </p:cTn>
                              </p:par>
                              <p:par>
                                <p:cTn id="298" presetID="22" presetClass="entr" presetSubtype="8" fill="hold" grpId="0" nodeType="withEffect">
                                  <p:stCondLst>
                                    <p:cond delay="0"/>
                                  </p:stCondLst>
                                  <p:childTnLst>
                                    <p:set>
                                      <p:cBhvr>
                                        <p:cTn id="299" dur="1" fill="hold">
                                          <p:stCondLst>
                                            <p:cond delay="0"/>
                                          </p:stCondLst>
                                        </p:cTn>
                                        <p:tgtEl>
                                          <p:spTgt spid="2258252"/>
                                        </p:tgtEl>
                                        <p:attrNameLst>
                                          <p:attrName>style.visibility</p:attrName>
                                        </p:attrNameLst>
                                      </p:cBhvr>
                                      <p:to>
                                        <p:strVal val="visible"/>
                                      </p:to>
                                    </p:set>
                                    <p:animEffect transition="in" filter="wipe(left)">
                                      <p:cBhvr>
                                        <p:cTn id="300" dur="500"/>
                                        <p:tgtEl>
                                          <p:spTgt spid="2258252"/>
                                        </p:tgtEl>
                                      </p:cBhvr>
                                    </p:animEffect>
                                  </p:childTnLst>
                                </p:cTn>
                              </p:par>
                              <p:par>
                                <p:cTn id="301" presetID="22" presetClass="entr" presetSubtype="8" fill="hold" grpId="0" nodeType="withEffect">
                                  <p:stCondLst>
                                    <p:cond delay="0"/>
                                  </p:stCondLst>
                                  <p:childTnLst>
                                    <p:set>
                                      <p:cBhvr>
                                        <p:cTn id="302" dur="1" fill="hold">
                                          <p:stCondLst>
                                            <p:cond delay="0"/>
                                          </p:stCondLst>
                                        </p:cTn>
                                        <p:tgtEl>
                                          <p:spTgt spid="2258250"/>
                                        </p:tgtEl>
                                        <p:attrNameLst>
                                          <p:attrName>style.visibility</p:attrName>
                                        </p:attrNameLst>
                                      </p:cBhvr>
                                      <p:to>
                                        <p:strVal val="visible"/>
                                      </p:to>
                                    </p:set>
                                    <p:animEffect transition="in" filter="wipe(left)">
                                      <p:cBhvr>
                                        <p:cTn id="303" dur="500"/>
                                        <p:tgtEl>
                                          <p:spTgt spid="2258250"/>
                                        </p:tgtEl>
                                      </p:cBhvr>
                                    </p:animEffect>
                                  </p:childTnLst>
                                </p:cTn>
                              </p:par>
                              <p:par>
                                <p:cTn id="304" presetID="22" presetClass="entr" presetSubtype="8" fill="hold" grpId="0" nodeType="withEffect">
                                  <p:stCondLst>
                                    <p:cond delay="0"/>
                                  </p:stCondLst>
                                  <p:childTnLst>
                                    <p:set>
                                      <p:cBhvr>
                                        <p:cTn id="305" dur="1" fill="hold">
                                          <p:stCondLst>
                                            <p:cond delay="0"/>
                                          </p:stCondLst>
                                        </p:cTn>
                                        <p:tgtEl>
                                          <p:spTgt spid="2258251"/>
                                        </p:tgtEl>
                                        <p:attrNameLst>
                                          <p:attrName>style.visibility</p:attrName>
                                        </p:attrNameLst>
                                      </p:cBhvr>
                                      <p:to>
                                        <p:strVal val="visible"/>
                                      </p:to>
                                    </p:set>
                                    <p:animEffect transition="in" filter="wipe(left)">
                                      <p:cBhvr>
                                        <p:cTn id="306" dur="500"/>
                                        <p:tgtEl>
                                          <p:spTgt spid="2258251"/>
                                        </p:tgtEl>
                                      </p:cBhvr>
                                    </p:animEffect>
                                  </p:childTnLst>
                                </p:cTn>
                              </p:par>
                              <p:par>
                                <p:cTn id="307" presetID="22" presetClass="entr" presetSubtype="8" fill="hold" grpId="0" nodeType="withEffect">
                                  <p:stCondLst>
                                    <p:cond delay="0"/>
                                  </p:stCondLst>
                                  <p:childTnLst>
                                    <p:set>
                                      <p:cBhvr>
                                        <p:cTn id="308" dur="1" fill="hold">
                                          <p:stCondLst>
                                            <p:cond delay="0"/>
                                          </p:stCondLst>
                                        </p:cTn>
                                        <p:tgtEl>
                                          <p:spTgt spid="2258249"/>
                                        </p:tgtEl>
                                        <p:attrNameLst>
                                          <p:attrName>style.visibility</p:attrName>
                                        </p:attrNameLst>
                                      </p:cBhvr>
                                      <p:to>
                                        <p:strVal val="visible"/>
                                      </p:to>
                                    </p:set>
                                    <p:animEffect transition="in" filter="wipe(left)">
                                      <p:cBhvr>
                                        <p:cTn id="309" dur="500"/>
                                        <p:tgtEl>
                                          <p:spTgt spid="2258249"/>
                                        </p:tgtEl>
                                      </p:cBhvr>
                                    </p:animEffect>
                                  </p:childTnLst>
                                </p:cTn>
                              </p:par>
                              <p:par>
                                <p:cTn id="310" presetID="22" presetClass="entr" presetSubtype="8" fill="hold" grpId="0" nodeType="withEffect">
                                  <p:stCondLst>
                                    <p:cond delay="0"/>
                                  </p:stCondLst>
                                  <p:childTnLst>
                                    <p:set>
                                      <p:cBhvr>
                                        <p:cTn id="311" dur="1" fill="hold">
                                          <p:stCondLst>
                                            <p:cond delay="0"/>
                                          </p:stCondLst>
                                        </p:cTn>
                                        <p:tgtEl>
                                          <p:spTgt spid="2258248"/>
                                        </p:tgtEl>
                                        <p:attrNameLst>
                                          <p:attrName>style.visibility</p:attrName>
                                        </p:attrNameLst>
                                      </p:cBhvr>
                                      <p:to>
                                        <p:strVal val="visible"/>
                                      </p:to>
                                    </p:set>
                                    <p:animEffect transition="in" filter="wipe(left)">
                                      <p:cBhvr>
                                        <p:cTn id="312" dur="500"/>
                                        <p:tgtEl>
                                          <p:spTgt spid="2258248"/>
                                        </p:tgtEl>
                                      </p:cBhvr>
                                    </p:animEffect>
                                  </p:childTnLst>
                                </p:cTn>
                              </p:par>
                              <p:par>
                                <p:cTn id="313" presetID="22" presetClass="entr" presetSubtype="8" fill="hold" grpId="0" nodeType="withEffect">
                                  <p:stCondLst>
                                    <p:cond delay="0"/>
                                  </p:stCondLst>
                                  <p:childTnLst>
                                    <p:set>
                                      <p:cBhvr>
                                        <p:cTn id="314" dur="1" fill="hold">
                                          <p:stCondLst>
                                            <p:cond delay="0"/>
                                          </p:stCondLst>
                                        </p:cTn>
                                        <p:tgtEl>
                                          <p:spTgt spid="2258247"/>
                                        </p:tgtEl>
                                        <p:attrNameLst>
                                          <p:attrName>style.visibility</p:attrName>
                                        </p:attrNameLst>
                                      </p:cBhvr>
                                      <p:to>
                                        <p:strVal val="visible"/>
                                      </p:to>
                                    </p:set>
                                    <p:animEffect transition="in" filter="wipe(left)">
                                      <p:cBhvr>
                                        <p:cTn id="315" dur="500"/>
                                        <p:tgtEl>
                                          <p:spTgt spid="2258247"/>
                                        </p:tgtEl>
                                      </p:cBhvr>
                                    </p:animEffect>
                                  </p:childTnLst>
                                </p:cTn>
                              </p:par>
                              <p:par>
                                <p:cTn id="316" presetID="22" presetClass="entr" presetSubtype="8" fill="hold" grpId="0" nodeType="withEffect">
                                  <p:stCondLst>
                                    <p:cond delay="0"/>
                                  </p:stCondLst>
                                  <p:childTnLst>
                                    <p:set>
                                      <p:cBhvr>
                                        <p:cTn id="317" dur="1" fill="hold">
                                          <p:stCondLst>
                                            <p:cond delay="0"/>
                                          </p:stCondLst>
                                        </p:cTn>
                                        <p:tgtEl>
                                          <p:spTgt spid="2258261"/>
                                        </p:tgtEl>
                                        <p:attrNameLst>
                                          <p:attrName>style.visibility</p:attrName>
                                        </p:attrNameLst>
                                      </p:cBhvr>
                                      <p:to>
                                        <p:strVal val="visible"/>
                                      </p:to>
                                    </p:set>
                                    <p:animEffect transition="in" filter="wipe(left)">
                                      <p:cBhvr>
                                        <p:cTn id="318" dur="500"/>
                                        <p:tgtEl>
                                          <p:spTgt spid="2258261"/>
                                        </p:tgtEl>
                                      </p:cBhvr>
                                    </p:animEffect>
                                  </p:childTnLst>
                                </p:cTn>
                              </p:par>
                              <p:par>
                                <p:cTn id="319" presetID="22" presetClass="entr" presetSubtype="8" fill="hold" grpId="0" nodeType="withEffect">
                                  <p:stCondLst>
                                    <p:cond delay="0"/>
                                  </p:stCondLst>
                                  <p:childTnLst>
                                    <p:set>
                                      <p:cBhvr>
                                        <p:cTn id="320" dur="1" fill="hold">
                                          <p:stCondLst>
                                            <p:cond delay="0"/>
                                          </p:stCondLst>
                                        </p:cTn>
                                        <p:tgtEl>
                                          <p:spTgt spid="2258260"/>
                                        </p:tgtEl>
                                        <p:attrNameLst>
                                          <p:attrName>style.visibility</p:attrName>
                                        </p:attrNameLst>
                                      </p:cBhvr>
                                      <p:to>
                                        <p:strVal val="visible"/>
                                      </p:to>
                                    </p:set>
                                    <p:animEffect transition="in" filter="wipe(left)">
                                      <p:cBhvr>
                                        <p:cTn id="321" dur="500"/>
                                        <p:tgtEl>
                                          <p:spTgt spid="2258260"/>
                                        </p:tgtEl>
                                      </p:cBhvr>
                                    </p:animEffect>
                                  </p:childTnLst>
                                </p:cTn>
                              </p:par>
                              <p:par>
                                <p:cTn id="322" presetID="22" presetClass="entr" presetSubtype="8" fill="hold" grpId="0" nodeType="withEffect">
                                  <p:stCondLst>
                                    <p:cond delay="0"/>
                                  </p:stCondLst>
                                  <p:childTnLst>
                                    <p:set>
                                      <p:cBhvr>
                                        <p:cTn id="323" dur="1" fill="hold">
                                          <p:stCondLst>
                                            <p:cond delay="0"/>
                                          </p:stCondLst>
                                        </p:cTn>
                                        <p:tgtEl>
                                          <p:spTgt spid="2258259"/>
                                        </p:tgtEl>
                                        <p:attrNameLst>
                                          <p:attrName>style.visibility</p:attrName>
                                        </p:attrNameLst>
                                      </p:cBhvr>
                                      <p:to>
                                        <p:strVal val="visible"/>
                                      </p:to>
                                    </p:set>
                                    <p:animEffect transition="in" filter="wipe(left)">
                                      <p:cBhvr>
                                        <p:cTn id="324" dur="500"/>
                                        <p:tgtEl>
                                          <p:spTgt spid="2258259"/>
                                        </p:tgtEl>
                                      </p:cBhvr>
                                    </p:animEffect>
                                  </p:childTnLst>
                                </p:cTn>
                              </p:par>
                              <p:par>
                                <p:cTn id="325" presetID="22" presetClass="entr" presetSubtype="8" fill="hold" grpId="0" nodeType="withEffect">
                                  <p:stCondLst>
                                    <p:cond delay="0"/>
                                  </p:stCondLst>
                                  <p:childTnLst>
                                    <p:set>
                                      <p:cBhvr>
                                        <p:cTn id="326" dur="1" fill="hold">
                                          <p:stCondLst>
                                            <p:cond delay="0"/>
                                          </p:stCondLst>
                                        </p:cTn>
                                        <p:tgtEl>
                                          <p:spTgt spid="2258258"/>
                                        </p:tgtEl>
                                        <p:attrNameLst>
                                          <p:attrName>style.visibility</p:attrName>
                                        </p:attrNameLst>
                                      </p:cBhvr>
                                      <p:to>
                                        <p:strVal val="visible"/>
                                      </p:to>
                                    </p:set>
                                    <p:animEffect transition="in" filter="wipe(left)">
                                      <p:cBhvr>
                                        <p:cTn id="327" dur="500"/>
                                        <p:tgtEl>
                                          <p:spTgt spid="2258258"/>
                                        </p:tgtEl>
                                      </p:cBhvr>
                                    </p:animEffect>
                                  </p:childTnLst>
                                </p:cTn>
                              </p:par>
                              <p:par>
                                <p:cTn id="328" presetID="22" presetClass="entr" presetSubtype="8" fill="hold" grpId="0" nodeType="withEffect">
                                  <p:stCondLst>
                                    <p:cond delay="0"/>
                                  </p:stCondLst>
                                  <p:childTnLst>
                                    <p:set>
                                      <p:cBhvr>
                                        <p:cTn id="329" dur="1" fill="hold">
                                          <p:stCondLst>
                                            <p:cond delay="0"/>
                                          </p:stCondLst>
                                        </p:cTn>
                                        <p:tgtEl>
                                          <p:spTgt spid="2258257"/>
                                        </p:tgtEl>
                                        <p:attrNameLst>
                                          <p:attrName>style.visibility</p:attrName>
                                        </p:attrNameLst>
                                      </p:cBhvr>
                                      <p:to>
                                        <p:strVal val="visible"/>
                                      </p:to>
                                    </p:set>
                                    <p:animEffect transition="in" filter="wipe(left)">
                                      <p:cBhvr>
                                        <p:cTn id="330" dur="500"/>
                                        <p:tgtEl>
                                          <p:spTgt spid="2258257"/>
                                        </p:tgtEl>
                                      </p:cBhvr>
                                    </p:animEffect>
                                  </p:childTnLst>
                                </p:cTn>
                              </p:par>
                            </p:childTnLst>
                          </p:cTn>
                        </p:par>
                      </p:childTnLst>
                    </p:cTn>
                  </p:par>
                  <p:par>
                    <p:cTn id="331" fill="hold">
                      <p:stCondLst>
                        <p:cond delay="indefinite"/>
                      </p:stCondLst>
                      <p:childTnLst>
                        <p:par>
                          <p:cTn id="332" fill="hold">
                            <p:stCondLst>
                              <p:cond delay="0"/>
                            </p:stCondLst>
                            <p:childTnLst>
                              <p:par>
                                <p:cTn id="333" presetID="22" presetClass="entr" presetSubtype="8" fill="hold" grpId="0" nodeType="clickEffect">
                                  <p:stCondLst>
                                    <p:cond delay="0"/>
                                  </p:stCondLst>
                                  <p:childTnLst>
                                    <p:set>
                                      <p:cBhvr>
                                        <p:cTn id="334" dur="1" fill="hold">
                                          <p:stCondLst>
                                            <p:cond delay="0"/>
                                          </p:stCondLst>
                                        </p:cTn>
                                        <p:tgtEl>
                                          <p:spTgt spid="2258361"/>
                                        </p:tgtEl>
                                        <p:attrNameLst>
                                          <p:attrName>style.visibility</p:attrName>
                                        </p:attrNameLst>
                                      </p:cBhvr>
                                      <p:to>
                                        <p:strVal val="visible"/>
                                      </p:to>
                                    </p:set>
                                    <p:animEffect transition="in" filter="wipe(left)">
                                      <p:cBhvr>
                                        <p:cTn id="335" dur="500"/>
                                        <p:tgtEl>
                                          <p:spTgt spid="2258361"/>
                                        </p:tgtEl>
                                      </p:cBhvr>
                                    </p:animEffect>
                                  </p:childTnLst>
                                </p:cTn>
                              </p:par>
                              <p:par>
                                <p:cTn id="336" presetID="22" presetClass="entr" presetSubtype="8" fill="hold" grpId="0" nodeType="withEffect">
                                  <p:stCondLst>
                                    <p:cond delay="0"/>
                                  </p:stCondLst>
                                  <p:childTnLst>
                                    <p:set>
                                      <p:cBhvr>
                                        <p:cTn id="337" dur="1" fill="hold">
                                          <p:stCondLst>
                                            <p:cond delay="0"/>
                                          </p:stCondLst>
                                        </p:cTn>
                                        <p:tgtEl>
                                          <p:spTgt spid="2258362"/>
                                        </p:tgtEl>
                                        <p:attrNameLst>
                                          <p:attrName>style.visibility</p:attrName>
                                        </p:attrNameLst>
                                      </p:cBhvr>
                                      <p:to>
                                        <p:strVal val="visible"/>
                                      </p:to>
                                    </p:set>
                                    <p:animEffect transition="in" filter="wipe(left)">
                                      <p:cBhvr>
                                        <p:cTn id="338" dur="500"/>
                                        <p:tgtEl>
                                          <p:spTgt spid="2258362"/>
                                        </p:tgtEl>
                                      </p:cBhvr>
                                    </p:animEffect>
                                  </p:childTnLst>
                                </p:cTn>
                              </p:par>
                              <p:par>
                                <p:cTn id="339" presetID="22" presetClass="entr" presetSubtype="8" fill="hold" nodeType="withEffect">
                                  <p:stCondLst>
                                    <p:cond delay="0"/>
                                  </p:stCondLst>
                                  <p:childTnLst>
                                    <p:set>
                                      <p:cBhvr>
                                        <p:cTn id="340" dur="1" fill="hold">
                                          <p:stCondLst>
                                            <p:cond delay="0"/>
                                          </p:stCondLst>
                                        </p:cTn>
                                        <p:tgtEl>
                                          <p:spTgt spid="2258363"/>
                                        </p:tgtEl>
                                        <p:attrNameLst>
                                          <p:attrName>style.visibility</p:attrName>
                                        </p:attrNameLst>
                                      </p:cBhvr>
                                      <p:to>
                                        <p:strVal val="visible"/>
                                      </p:to>
                                    </p:set>
                                    <p:animEffect transition="in" filter="wipe(left)">
                                      <p:cBhvr>
                                        <p:cTn id="341" dur="500"/>
                                        <p:tgtEl>
                                          <p:spTgt spid="2258363"/>
                                        </p:tgtEl>
                                      </p:cBhvr>
                                    </p:animEffect>
                                  </p:childTnLst>
                                </p:cTn>
                              </p:par>
                              <p:par>
                                <p:cTn id="342" presetID="22" presetClass="entr" presetSubtype="8" fill="hold" grpId="0" nodeType="withEffect">
                                  <p:stCondLst>
                                    <p:cond delay="0"/>
                                  </p:stCondLst>
                                  <p:childTnLst>
                                    <p:set>
                                      <p:cBhvr>
                                        <p:cTn id="343" dur="1" fill="hold">
                                          <p:stCondLst>
                                            <p:cond delay="0"/>
                                          </p:stCondLst>
                                        </p:cTn>
                                        <p:tgtEl>
                                          <p:spTgt spid="2258359"/>
                                        </p:tgtEl>
                                        <p:attrNameLst>
                                          <p:attrName>style.visibility</p:attrName>
                                        </p:attrNameLst>
                                      </p:cBhvr>
                                      <p:to>
                                        <p:strVal val="visible"/>
                                      </p:to>
                                    </p:set>
                                    <p:animEffect transition="in" filter="wipe(left)">
                                      <p:cBhvr>
                                        <p:cTn id="344" dur="500"/>
                                        <p:tgtEl>
                                          <p:spTgt spid="2258359"/>
                                        </p:tgtEl>
                                      </p:cBhvr>
                                    </p:animEffect>
                                  </p:childTnLst>
                                </p:cTn>
                              </p:par>
                              <p:par>
                                <p:cTn id="345" presetID="22" presetClass="entr" presetSubtype="8" fill="hold" grpId="0" nodeType="withEffect">
                                  <p:stCondLst>
                                    <p:cond delay="0"/>
                                  </p:stCondLst>
                                  <p:childTnLst>
                                    <p:set>
                                      <p:cBhvr>
                                        <p:cTn id="346" dur="1" fill="hold">
                                          <p:stCondLst>
                                            <p:cond delay="0"/>
                                          </p:stCondLst>
                                        </p:cTn>
                                        <p:tgtEl>
                                          <p:spTgt spid="2258360"/>
                                        </p:tgtEl>
                                        <p:attrNameLst>
                                          <p:attrName>style.visibility</p:attrName>
                                        </p:attrNameLst>
                                      </p:cBhvr>
                                      <p:to>
                                        <p:strVal val="visible"/>
                                      </p:to>
                                    </p:set>
                                    <p:animEffect transition="in" filter="wipe(left)">
                                      <p:cBhvr>
                                        <p:cTn id="347" dur="500"/>
                                        <p:tgtEl>
                                          <p:spTgt spid="2258360"/>
                                        </p:tgtEl>
                                      </p:cBhvr>
                                    </p:animEffect>
                                  </p:childTnLst>
                                </p:cTn>
                              </p:par>
                              <p:par>
                                <p:cTn id="348" presetID="22" presetClass="entr" presetSubtype="8" fill="hold" grpId="0" nodeType="withEffect">
                                  <p:stCondLst>
                                    <p:cond delay="0"/>
                                  </p:stCondLst>
                                  <p:childTnLst>
                                    <p:set>
                                      <p:cBhvr>
                                        <p:cTn id="349" dur="1" fill="hold">
                                          <p:stCondLst>
                                            <p:cond delay="0"/>
                                          </p:stCondLst>
                                        </p:cTn>
                                        <p:tgtEl>
                                          <p:spTgt spid="2258355"/>
                                        </p:tgtEl>
                                        <p:attrNameLst>
                                          <p:attrName>style.visibility</p:attrName>
                                        </p:attrNameLst>
                                      </p:cBhvr>
                                      <p:to>
                                        <p:strVal val="visible"/>
                                      </p:to>
                                    </p:set>
                                    <p:animEffect transition="in" filter="wipe(left)">
                                      <p:cBhvr>
                                        <p:cTn id="350" dur="500"/>
                                        <p:tgtEl>
                                          <p:spTgt spid="2258355"/>
                                        </p:tgtEl>
                                      </p:cBhvr>
                                    </p:animEffect>
                                  </p:childTnLst>
                                </p:cTn>
                              </p:par>
                              <p:par>
                                <p:cTn id="351" presetID="22" presetClass="entr" presetSubtype="8" fill="hold" grpId="0" nodeType="withEffect">
                                  <p:stCondLst>
                                    <p:cond delay="0"/>
                                  </p:stCondLst>
                                  <p:childTnLst>
                                    <p:set>
                                      <p:cBhvr>
                                        <p:cTn id="352" dur="1" fill="hold">
                                          <p:stCondLst>
                                            <p:cond delay="0"/>
                                          </p:stCondLst>
                                        </p:cTn>
                                        <p:tgtEl>
                                          <p:spTgt spid="2258356"/>
                                        </p:tgtEl>
                                        <p:attrNameLst>
                                          <p:attrName>style.visibility</p:attrName>
                                        </p:attrNameLst>
                                      </p:cBhvr>
                                      <p:to>
                                        <p:strVal val="visible"/>
                                      </p:to>
                                    </p:set>
                                    <p:animEffect transition="in" filter="wipe(left)">
                                      <p:cBhvr>
                                        <p:cTn id="353" dur="500"/>
                                        <p:tgtEl>
                                          <p:spTgt spid="2258356"/>
                                        </p:tgtEl>
                                      </p:cBhvr>
                                    </p:animEffect>
                                  </p:childTnLst>
                                </p:cTn>
                              </p:par>
                              <p:par>
                                <p:cTn id="354" presetID="22" presetClass="entr" presetSubtype="8" fill="hold" nodeType="withEffect">
                                  <p:stCondLst>
                                    <p:cond delay="0"/>
                                  </p:stCondLst>
                                  <p:childTnLst>
                                    <p:set>
                                      <p:cBhvr>
                                        <p:cTn id="355" dur="1" fill="hold">
                                          <p:stCondLst>
                                            <p:cond delay="0"/>
                                          </p:stCondLst>
                                        </p:cTn>
                                        <p:tgtEl>
                                          <p:spTgt spid="2258358"/>
                                        </p:tgtEl>
                                        <p:attrNameLst>
                                          <p:attrName>style.visibility</p:attrName>
                                        </p:attrNameLst>
                                      </p:cBhvr>
                                      <p:to>
                                        <p:strVal val="visible"/>
                                      </p:to>
                                    </p:set>
                                    <p:animEffect transition="in" filter="wipe(left)">
                                      <p:cBhvr>
                                        <p:cTn id="356" dur="500"/>
                                        <p:tgtEl>
                                          <p:spTgt spid="2258358"/>
                                        </p:tgtEl>
                                      </p:cBhvr>
                                    </p:animEffect>
                                  </p:childTnLst>
                                </p:cTn>
                              </p:par>
                              <p:par>
                                <p:cTn id="357" presetID="22" presetClass="entr" presetSubtype="8" fill="hold" grpId="0" nodeType="withEffect">
                                  <p:stCondLst>
                                    <p:cond delay="0"/>
                                  </p:stCondLst>
                                  <p:childTnLst>
                                    <p:set>
                                      <p:cBhvr>
                                        <p:cTn id="358" dur="1" fill="hold">
                                          <p:stCondLst>
                                            <p:cond delay="0"/>
                                          </p:stCondLst>
                                        </p:cTn>
                                        <p:tgtEl>
                                          <p:spTgt spid="2258353"/>
                                        </p:tgtEl>
                                        <p:attrNameLst>
                                          <p:attrName>style.visibility</p:attrName>
                                        </p:attrNameLst>
                                      </p:cBhvr>
                                      <p:to>
                                        <p:strVal val="visible"/>
                                      </p:to>
                                    </p:set>
                                    <p:animEffect transition="in" filter="wipe(left)">
                                      <p:cBhvr>
                                        <p:cTn id="359" dur="500"/>
                                        <p:tgtEl>
                                          <p:spTgt spid="2258353"/>
                                        </p:tgtEl>
                                      </p:cBhvr>
                                    </p:animEffect>
                                  </p:childTnLst>
                                </p:cTn>
                              </p:par>
                              <p:par>
                                <p:cTn id="360" presetID="22" presetClass="entr" presetSubtype="8" fill="hold" grpId="0" nodeType="withEffect">
                                  <p:stCondLst>
                                    <p:cond delay="0"/>
                                  </p:stCondLst>
                                  <p:childTnLst>
                                    <p:set>
                                      <p:cBhvr>
                                        <p:cTn id="361" dur="1" fill="hold">
                                          <p:stCondLst>
                                            <p:cond delay="0"/>
                                          </p:stCondLst>
                                        </p:cTn>
                                        <p:tgtEl>
                                          <p:spTgt spid="2258354"/>
                                        </p:tgtEl>
                                        <p:attrNameLst>
                                          <p:attrName>style.visibility</p:attrName>
                                        </p:attrNameLst>
                                      </p:cBhvr>
                                      <p:to>
                                        <p:strVal val="visible"/>
                                      </p:to>
                                    </p:set>
                                    <p:animEffect transition="in" filter="wipe(left)">
                                      <p:cBhvr>
                                        <p:cTn id="362" dur="500"/>
                                        <p:tgtEl>
                                          <p:spTgt spid="2258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8359" grpId="0" bldLvl="0" animBg="1"/>
      <p:bldP spid="2258360" grpId="0" bldLvl="0" animBg="1"/>
      <p:bldP spid="2258361" grpId="0" bldLvl="0" animBg="1"/>
      <p:bldP spid="2258362" grpId="0" bldLvl="0" animBg="1"/>
      <p:bldP spid="2258353" grpId="0" bldLvl="0" animBg="1"/>
      <p:bldP spid="2258354" grpId="0" bldLvl="0" animBg="1"/>
      <p:bldP spid="2258355" grpId="0" bldLvl="0" animBg="1"/>
      <p:bldP spid="2258356" grpId="0" bldLvl="0" animBg="1"/>
      <p:bldP spid="2257932" grpId="0" bldLvl="0" animBg="1"/>
      <p:bldP spid="2257933" grpId="0"/>
      <p:bldP spid="2258248" grpId="0"/>
      <p:bldP spid="2258249" grpId="0"/>
      <p:bldP spid="2258250" grpId="0"/>
      <p:bldP spid="2258251" grpId="0"/>
      <p:bldP spid="2258252" grpId="0"/>
      <p:bldP spid="2258253" grpId="0"/>
      <p:bldP spid="2258255" grpId="0"/>
      <p:bldP spid="2258256" grpId="0"/>
      <p:bldP spid="2258258" grpId="0"/>
      <p:bldP spid="2258259" grpId="0"/>
      <p:bldP spid="2258260" grpId="0"/>
      <p:bldP spid="2258261" grpId="0"/>
      <p:bldP spid="2258262" grpId="0"/>
      <p:bldP spid="2258263" grpId="0"/>
      <p:bldP spid="2258264" grpId="0"/>
      <p:bldP spid="2258265" grpId="0"/>
      <p:bldP spid="2258266" grpId="0"/>
      <p:bldP spid="2258267" grpId="0"/>
      <p:bldP spid="2258268" grpId="0"/>
      <p:bldP spid="2258269" grpId="0"/>
      <p:bldP spid="2258270" grpId="0"/>
      <p:bldP spid="2258271" grpId="0"/>
      <p:bldP spid="2258272" grpId="0"/>
      <p:bldP spid="2258273" grpId="0"/>
      <p:bldP spid="2258290" grpId="0"/>
      <p:bldP spid="2258181" grpId="0" bldLvl="0" animBg="1"/>
      <p:bldP spid="2258198" grpId="0" bldLvl="0" animBg="1"/>
      <p:bldP spid="2258300" grpId="0"/>
      <p:bldP spid="2258326" grpId="0"/>
      <p:bldP spid="2258327" grpId="0"/>
      <p:bldP spid="2258334" grpId="0"/>
      <p:bldP spid="2258247" grpId="0"/>
      <p:bldP spid="2258257" grpId="0"/>
      <p:bldP spid="2258364" grpId="0"/>
      <p:bldP spid="2258365" grpId="0" bldLvl="0" animBg="1"/>
      <p:bldP spid="225825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0630" name="Text Box 1030"/>
          <p:cNvSpPr txBox="1"/>
          <p:nvPr/>
        </p:nvSpPr>
        <p:spPr>
          <a:xfrm>
            <a:off x="863600" y="1592263"/>
            <a:ext cx="6929438" cy="519112"/>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由上图可见，三种频率的曲线没有区别：</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30631" name="Text Box 1031"/>
          <p:cNvSpPr txBox="1"/>
          <p:nvPr/>
        </p:nvSpPr>
        <p:spPr>
          <a:xfrm>
            <a:off x="1403350" y="2205038"/>
            <a:ext cx="6624638" cy="822325"/>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400" b="1" dirty="0">
                <a:solidFill>
                  <a:srgbClr val="3333FF"/>
                </a:solidFill>
                <a:latin typeface="Times New Roman" panose="02020603050405020304" pitchFamily="18" charset="0"/>
                <a:ea typeface="黑体" panose="02010609060101010101" pitchFamily="49" charset="-122"/>
              </a:rPr>
              <a:t>对于</a:t>
            </a:r>
            <a:r>
              <a:rPr lang="en-US" altLang="zh-CN" sz="2400" b="1">
                <a:solidFill>
                  <a:srgbClr val="FF0000"/>
                </a:solidFill>
                <a:latin typeface="Times New Roman" panose="02020603050405020304" pitchFamily="18" charset="0"/>
                <a:ea typeface="黑体" panose="02010609060101010101" pitchFamily="49" charset="-122"/>
              </a:rPr>
              <a:t>100Hz</a:t>
            </a:r>
            <a:r>
              <a:rPr lang="zh-CN" altLang="en-US" sz="2400" b="1" dirty="0">
                <a:solidFill>
                  <a:srgbClr val="3333FF"/>
                </a:solidFill>
                <a:latin typeface="Times New Roman" panose="02020603050405020304" pitchFamily="18" charset="0"/>
                <a:ea typeface="黑体" panose="02010609060101010101" pitchFamily="49" charset="-122"/>
              </a:rPr>
              <a:t>的信号，采样后的信号波形能真实反映原信号。</a:t>
            </a:r>
            <a:endParaRPr lang="zh-CN" altLang="en-US" sz="2400" b="1" dirty="0">
              <a:solidFill>
                <a:srgbClr val="3333FF"/>
              </a:solidFill>
              <a:latin typeface="Times New Roman" panose="02020603050405020304" pitchFamily="18" charset="0"/>
              <a:ea typeface="黑体" panose="02010609060101010101" pitchFamily="49" charset="-122"/>
            </a:endParaRPr>
          </a:p>
        </p:txBody>
      </p:sp>
      <p:sp>
        <p:nvSpPr>
          <p:cNvPr id="2330633" name="Text Box 1033"/>
          <p:cNvSpPr txBox="1"/>
          <p:nvPr/>
        </p:nvSpPr>
        <p:spPr>
          <a:xfrm>
            <a:off x="1404938" y="3105150"/>
            <a:ext cx="6623050" cy="822325"/>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400" b="1" dirty="0">
                <a:solidFill>
                  <a:srgbClr val="3333FF"/>
                </a:solidFill>
                <a:latin typeface="Times New Roman" panose="02020603050405020304" pitchFamily="18" charset="0"/>
                <a:ea typeface="黑体" panose="02010609060101010101" pitchFamily="49" charset="-122"/>
              </a:rPr>
              <a:t>对于</a:t>
            </a:r>
            <a:r>
              <a:rPr lang="en-US" altLang="zh-CN" sz="2400" b="1">
                <a:solidFill>
                  <a:srgbClr val="FF0000"/>
                </a:solidFill>
                <a:latin typeface="Times New Roman" panose="02020603050405020304" pitchFamily="18" charset="0"/>
                <a:ea typeface="黑体" panose="02010609060101010101" pitchFamily="49" charset="-122"/>
              </a:rPr>
              <a:t>400Hz</a:t>
            </a:r>
            <a:r>
              <a:rPr lang="zh-CN" altLang="en-US" sz="2400" b="1" dirty="0">
                <a:solidFill>
                  <a:srgbClr val="3333FF"/>
                </a:solidFill>
                <a:latin typeface="Times New Roman" panose="02020603050405020304" pitchFamily="18" charset="0"/>
                <a:ea typeface="黑体" panose="02010609060101010101" pitchFamily="49" charset="-122"/>
              </a:rPr>
              <a:t>和</a:t>
            </a:r>
            <a:r>
              <a:rPr lang="en-US" altLang="zh-CN" sz="2400" b="1">
                <a:solidFill>
                  <a:srgbClr val="FF0000"/>
                </a:solidFill>
                <a:latin typeface="Times New Roman" panose="02020603050405020304" pitchFamily="18" charset="0"/>
                <a:ea typeface="黑体" panose="02010609060101010101" pitchFamily="49" charset="-122"/>
              </a:rPr>
              <a:t>900Hz</a:t>
            </a:r>
            <a:r>
              <a:rPr lang="zh-CN" altLang="en-US" sz="2400" b="1" dirty="0">
                <a:solidFill>
                  <a:srgbClr val="3333FF"/>
                </a:solidFill>
                <a:latin typeface="Times New Roman" panose="02020603050405020304" pitchFamily="18" charset="0"/>
                <a:ea typeface="黑体" panose="02010609060101010101" pitchFamily="49" charset="-122"/>
              </a:rPr>
              <a:t>的信号，则采样后完全失真了，也变成了</a:t>
            </a:r>
            <a:r>
              <a:rPr lang="en-US" altLang="zh-CN" sz="2400" b="1">
                <a:solidFill>
                  <a:srgbClr val="FF0000"/>
                </a:solidFill>
                <a:latin typeface="Times New Roman" panose="02020603050405020304" pitchFamily="18" charset="0"/>
                <a:ea typeface="黑体" panose="02010609060101010101" pitchFamily="49" charset="-122"/>
              </a:rPr>
              <a:t>100Hz</a:t>
            </a:r>
            <a:r>
              <a:rPr lang="zh-CN" altLang="en-US" sz="2400" b="1" dirty="0">
                <a:solidFill>
                  <a:srgbClr val="3333FF"/>
                </a:solidFill>
                <a:latin typeface="Times New Roman" panose="02020603050405020304" pitchFamily="18" charset="0"/>
                <a:ea typeface="黑体" panose="02010609060101010101" pitchFamily="49" charset="-122"/>
              </a:rPr>
              <a:t>的信号。</a:t>
            </a:r>
            <a:endParaRPr lang="zh-CN" altLang="en-US" sz="2400" b="1" dirty="0">
              <a:solidFill>
                <a:srgbClr val="3333FF"/>
              </a:solidFill>
              <a:latin typeface="Times New Roman" panose="02020603050405020304" pitchFamily="18" charset="0"/>
              <a:ea typeface="黑体" panose="02010609060101010101" pitchFamily="49" charset="-122"/>
            </a:endParaRPr>
          </a:p>
        </p:txBody>
      </p:sp>
      <p:sp>
        <p:nvSpPr>
          <p:cNvPr id="2330634" name="Text Box 1034"/>
          <p:cNvSpPr txBox="1"/>
          <p:nvPr/>
        </p:nvSpPr>
        <p:spPr>
          <a:xfrm>
            <a:off x="576263" y="3962400"/>
            <a:ext cx="8164512" cy="519113"/>
          </a:xfrm>
          <a:prstGeom prst="rect">
            <a:avLst/>
          </a:prstGeom>
          <a:solidFill>
            <a:srgbClr val="CCFFFF"/>
          </a:solid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于是原来三种不同频率信号的采样值相互混淆了。</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30639" name="Text Box 103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30640" name="Text Box 1040"/>
          <p:cNvSpPr txBox="1">
            <a:spLocks noChangeArrowheads="1"/>
          </p:cNvSpPr>
          <p:nvPr/>
        </p:nvSpPr>
        <p:spPr bwMode="auto">
          <a:xfrm>
            <a:off x="1258888" y="115888"/>
            <a:ext cx="70993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频率混淆与消除频混的措施</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330642" name="Text Box 1042"/>
          <p:cNvSpPr txBox="1"/>
          <p:nvPr/>
        </p:nvSpPr>
        <p:spPr>
          <a:xfrm>
            <a:off x="720725" y="4673600"/>
            <a:ext cx="4967288" cy="519113"/>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rgbClr val="3333CC"/>
                </a:solidFill>
                <a:latin typeface="Times New Roman" panose="02020603050405020304" pitchFamily="18" charset="0"/>
                <a:ea typeface="黑体" panose="02010609060101010101" pitchFamily="49" charset="-122"/>
              </a:rPr>
              <a:t>信号中能相互混淆的频率为：</a:t>
            </a:r>
            <a:endParaRPr lang="zh-CN" altLang="en-US" sz="2800" b="1" dirty="0">
              <a:solidFill>
                <a:srgbClr val="3333CC"/>
              </a:solidFill>
              <a:latin typeface="Times New Roman" panose="02020603050405020304" pitchFamily="18" charset="0"/>
              <a:ea typeface="黑体" panose="02010609060101010101" pitchFamily="49" charset="-122"/>
            </a:endParaRPr>
          </a:p>
        </p:txBody>
      </p:sp>
      <p:sp>
        <p:nvSpPr>
          <p:cNvPr id="2330643" name="Rectangle 1043"/>
          <p:cNvSpPr/>
          <p:nvPr/>
        </p:nvSpPr>
        <p:spPr>
          <a:xfrm>
            <a:off x="1547813" y="5265738"/>
            <a:ext cx="6486525" cy="641350"/>
          </a:xfrm>
          <a:prstGeom prst="rect">
            <a:avLst/>
          </a:prstGeom>
          <a:solidFill>
            <a:srgbClr val="FFCC99"/>
          </a:solidFill>
          <a:ln w="9525">
            <a:noFill/>
          </a:ln>
        </p:spPr>
        <p:txBody>
          <a:bodyPr>
            <a:spAutoFit/>
          </a:bodyPr>
          <a:p>
            <a:pPr algn="ctr" eaLnBrk="1" hangingPunct="1"/>
            <a:r>
              <a:rPr lang="en-US" altLang="zh-CN" b="1" i="1">
                <a:solidFill>
                  <a:srgbClr val="FF0000"/>
                </a:solidFill>
                <a:latin typeface="Times New Roman" panose="02020603050405020304" pitchFamily="18" charset="0"/>
                <a:ea typeface="黑体" panose="02010609060101010101" pitchFamily="49" charset="-122"/>
              </a:rPr>
              <a:t>f</a:t>
            </a:r>
            <a:r>
              <a:rPr lang="en-US" altLang="zh-CN" b="1" baseline="-25000">
                <a:solidFill>
                  <a:srgbClr val="FF0000"/>
                </a:solidFill>
                <a:latin typeface="Times New Roman" panose="02020603050405020304" pitchFamily="18" charset="0"/>
                <a:ea typeface="黑体" panose="02010609060101010101" pitchFamily="49" charset="-122"/>
              </a:rPr>
              <a:t>1 </a:t>
            </a:r>
            <a:r>
              <a:rPr lang="en-US" altLang="zh-CN" b="1">
                <a:solidFill>
                  <a:srgbClr val="FF0000"/>
                </a:solidFill>
                <a:latin typeface="Times New Roman" panose="02020603050405020304" pitchFamily="18" charset="0"/>
                <a:ea typeface="黑体" panose="02010609060101010101" pitchFamily="49" charset="-122"/>
              </a:rPr>
              <a:t>= </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b="1" i="1">
                <a:solidFill>
                  <a:srgbClr val="FF0000"/>
                </a:solidFill>
                <a:latin typeface="Times New Roman" panose="02020603050405020304" pitchFamily="18" charset="0"/>
              </a:rPr>
              <a:t>f</a:t>
            </a:r>
            <a:r>
              <a:rPr lang="en-US" altLang="zh-CN" b="1" baseline="-25000">
                <a:solidFill>
                  <a:srgbClr val="FF0000"/>
                </a:solidFill>
                <a:latin typeface="Times New Roman" panose="02020603050405020304" pitchFamily="18" charset="0"/>
                <a:ea typeface="黑体" panose="02010609060101010101" pitchFamily="49" charset="-122"/>
              </a:rPr>
              <a:t>2 </a:t>
            </a:r>
            <a:r>
              <a:rPr lang="en-US" altLang="zh-CN" b="1">
                <a:solidFill>
                  <a:srgbClr val="FF0000"/>
                </a:solidFill>
                <a:latin typeface="Times New Roman" panose="02020603050405020304" pitchFamily="18" charset="0"/>
              </a:rPr>
              <a:t>+ </a:t>
            </a:r>
            <a:r>
              <a:rPr lang="en-US" altLang="zh-CN" b="1" i="1" err="1">
                <a:solidFill>
                  <a:srgbClr val="FF0000"/>
                </a:solidFill>
                <a:latin typeface="Times New Roman" panose="02020603050405020304" pitchFamily="18" charset="0"/>
              </a:rPr>
              <a:t>k</a:t>
            </a:r>
            <a:r>
              <a:rPr lang="en-US" altLang="zh-CN" b="1" i="1" err="1">
                <a:solidFill>
                  <a:srgbClr val="FF0000"/>
                </a:solidFill>
                <a:latin typeface="Times New Roman" panose="02020603050405020304" pitchFamily="18" charset="0"/>
                <a:ea typeface="黑体" panose="02010609060101010101" pitchFamily="49" charset="-122"/>
              </a:rPr>
              <a:t>f</a:t>
            </a:r>
            <a:r>
              <a:rPr lang="en-US" altLang="zh-CN" b="1" baseline="-25000" err="1">
                <a:solidFill>
                  <a:srgbClr val="FF0000"/>
                </a:solidFill>
                <a:latin typeface="Times New Roman" panose="02020603050405020304" pitchFamily="18" charset="0"/>
                <a:ea typeface="黑体" panose="02010609060101010101" pitchFamily="49" charset="-122"/>
              </a:rPr>
              <a:t>S</a:t>
            </a:r>
            <a:r>
              <a:rPr lang="en-US" altLang="zh-CN" b="1" baseline="-25000">
                <a:solidFill>
                  <a:srgbClr val="FF0000"/>
                </a:solidFill>
                <a:latin typeface="Times New Roman" panose="02020603050405020304" pitchFamily="18" charset="0"/>
                <a:ea typeface="黑体" panose="02010609060101010101" pitchFamily="49" charset="-122"/>
              </a:rPr>
              <a:t>   </a:t>
            </a:r>
            <a:r>
              <a:rPr lang="en-US" altLang="zh-CN" b="1">
                <a:solidFill>
                  <a:srgbClr val="FF0000"/>
                </a:solidFill>
                <a:latin typeface="Times New Roman" panose="02020603050405020304" pitchFamily="18" charset="0"/>
                <a:ea typeface="黑体" panose="02010609060101010101" pitchFamily="49" charset="-122"/>
              </a:rPr>
              <a:t>(</a:t>
            </a:r>
            <a:r>
              <a:rPr lang="en-US" altLang="zh-CN" b="1" i="1">
                <a:solidFill>
                  <a:srgbClr val="FF0000"/>
                </a:solidFill>
                <a:latin typeface="Times New Roman" panose="02020603050405020304" pitchFamily="18" charset="0"/>
                <a:ea typeface="黑体" panose="02010609060101010101" pitchFamily="49" charset="-122"/>
              </a:rPr>
              <a:t>k</a:t>
            </a:r>
            <a:r>
              <a:rPr lang="en-US" altLang="zh-CN" b="1">
                <a:solidFill>
                  <a:srgbClr val="FF0000"/>
                </a:solidFill>
                <a:latin typeface="Times New Roman" panose="02020603050405020304" pitchFamily="18" charset="0"/>
                <a:ea typeface="黑体" panose="02010609060101010101" pitchFamily="49" charset="-122"/>
              </a:rPr>
              <a:t>=1,2,3, …)</a:t>
            </a:r>
            <a:endParaRPr lang="en-US" altLang="zh-CN" b="1">
              <a:solidFill>
                <a:srgbClr val="FF0000"/>
              </a:solidFill>
              <a:latin typeface="Times New Roman" panose="02020603050405020304" pitchFamily="18" charset="0"/>
              <a:ea typeface="黑体" panose="02010609060101010101" pitchFamily="49" charset="-122"/>
            </a:endParaRPr>
          </a:p>
        </p:txBody>
      </p:sp>
      <p:sp>
        <p:nvSpPr>
          <p:cNvPr id="18444" name="Text Box 24"/>
          <p:cNvSpPr txBox="1"/>
          <p:nvPr/>
        </p:nvSpPr>
        <p:spPr>
          <a:xfrm>
            <a:off x="358775" y="908050"/>
            <a:ext cx="38179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2.4.1 </a:t>
            </a:r>
            <a:r>
              <a:rPr lang="zh-CN" altLang="en-US" sz="3200" b="1" dirty="0">
                <a:solidFill>
                  <a:srgbClr val="333399"/>
                </a:solidFill>
                <a:latin typeface="楷体_GB2312" pitchFamily="49" charset="-122"/>
              </a:rPr>
              <a:t>频混的产生</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0630">
                                            <p:txEl>
                                              <p:charRg st="0" end="19"/>
                                            </p:txEl>
                                          </p:spTgt>
                                        </p:tgtEl>
                                        <p:attrNameLst>
                                          <p:attrName>style.visibility</p:attrName>
                                        </p:attrNameLst>
                                      </p:cBhvr>
                                      <p:to>
                                        <p:strVal val="visible"/>
                                      </p:to>
                                    </p:set>
                                    <p:animEffect transition="in" filter="dissolve">
                                      <p:cBhvr>
                                        <p:cTn id="7" dur="500"/>
                                        <p:tgtEl>
                                          <p:spTgt spid="2330630">
                                            <p:txEl>
                                              <p:charRg st="0" end="19"/>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30631">
                                            <p:txEl>
                                              <p:charRg st="0" end="29"/>
                                            </p:txEl>
                                          </p:spTgt>
                                        </p:tgtEl>
                                        <p:attrNameLst>
                                          <p:attrName>style.visibility</p:attrName>
                                        </p:attrNameLst>
                                      </p:cBhvr>
                                      <p:to>
                                        <p:strVal val="visible"/>
                                      </p:to>
                                    </p:set>
                                    <p:animEffect transition="in" filter="dissolve">
                                      <p:cBhvr>
                                        <p:cTn id="12" dur="500"/>
                                        <p:tgtEl>
                                          <p:spTgt spid="2330631">
                                            <p:txEl>
                                              <p:charRg st="0" end="29"/>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30633">
                                            <p:txEl>
                                              <p:charRg st="0" end="41"/>
                                            </p:txEl>
                                          </p:spTgt>
                                        </p:tgtEl>
                                        <p:attrNameLst>
                                          <p:attrName>style.visibility</p:attrName>
                                        </p:attrNameLst>
                                      </p:cBhvr>
                                      <p:to>
                                        <p:strVal val="visible"/>
                                      </p:to>
                                    </p:set>
                                    <p:animEffect transition="in" filter="dissolve">
                                      <p:cBhvr>
                                        <p:cTn id="17" dur="500"/>
                                        <p:tgtEl>
                                          <p:spTgt spid="2330633">
                                            <p:txEl>
                                              <p:charRg st="0" end="4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30634">
                                            <p:txEl>
                                              <p:charRg st="4294967295" end="4294967295"/>
                                            </p:txEl>
                                          </p:spTgt>
                                        </p:tgtEl>
                                        <p:attrNameLst>
                                          <p:attrName>style.visibility</p:attrName>
                                        </p:attrNameLst>
                                      </p:cBhvr>
                                      <p:to>
                                        <p:strVal val="visible"/>
                                      </p:to>
                                    </p:set>
                                    <p:animEffect transition="in" filter="dissolve">
                                      <p:cBhvr>
                                        <p:cTn id="22" dur="500"/>
                                        <p:tgtEl>
                                          <p:spTgt spid="2330634">
                                            <p:txEl>
                                              <p:charRg st="4294967295" end="429496729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30634">
                                            <p:txEl>
                                              <p:charRg st="0" end="23"/>
                                            </p:txEl>
                                          </p:spTgt>
                                        </p:tgtEl>
                                        <p:attrNameLst>
                                          <p:attrName>style.visibility</p:attrName>
                                        </p:attrNameLst>
                                      </p:cBhvr>
                                      <p:to>
                                        <p:strVal val="visible"/>
                                      </p:to>
                                    </p:set>
                                    <p:animEffect transition="in" filter="dissolve">
                                      <p:cBhvr>
                                        <p:cTn id="27" dur="500"/>
                                        <p:tgtEl>
                                          <p:spTgt spid="2330634">
                                            <p:txEl>
                                              <p:charRg st="0" end="2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30642"/>
                                        </p:tgtEl>
                                        <p:attrNameLst>
                                          <p:attrName>style.visibility</p:attrName>
                                        </p:attrNameLst>
                                      </p:cBhvr>
                                      <p:to>
                                        <p:strVal val="visible"/>
                                      </p:to>
                                    </p:set>
                                    <p:animEffect transition="in" filter="dissolve">
                                      <p:cBhvr>
                                        <p:cTn id="32" dur="500"/>
                                        <p:tgtEl>
                                          <p:spTgt spid="2330642"/>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330643"/>
                                        </p:tgtEl>
                                        <p:attrNameLst>
                                          <p:attrName>style.visibility</p:attrName>
                                        </p:attrNameLst>
                                      </p:cBhvr>
                                      <p:to>
                                        <p:strVal val="visible"/>
                                      </p:to>
                                    </p:set>
                                    <p:animEffect transition="in" filter="dissolve">
                                      <p:cBhvr>
                                        <p:cTn id="35" dur="500"/>
                                        <p:tgtEl>
                                          <p:spTgt spid="2330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0630" grpId="0" build="p"/>
      <p:bldP spid="2330631" grpId="0" build="p"/>
      <p:bldP spid="2330633" grpId="0" build="p"/>
      <p:bldP spid="2330634" grpId="0" build="p"/>
      <p:bldP spid="2330642" grpId="0"/>
      <p:bldP spid="2330643" grpId="0" bldLvl="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8955" name="Text Box 11"/>
          <p:cNvSpPr txBox="1"/>
          <p:nvPr/>
        </p:nvSpPr>
        <p:spPr>
          <a:xfrm>
            <a:off x="461963" y="817563"/>
            <a:ext cx="454183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2.4.2 </a:t>
            </a:r>
            <a:r>
              <a:rPr lang="zh-CN" altLang="en-US" sz="3200" b="1" dirty="0">
                <a:solidFill>
                  <a:srgbClr val="333399"/>
                </a:solidFill>
                <a:latin typeface="楷体_GB2312" pitchFamily="49" charset="-122"/>
              </a:rPr>
              <a:t>消除频混的措施</a:t>
            </a:r>
            <a:endParaRPr lang="zh-CN" altLang="en-US" sz="3200" b="1" dirty="0">
              <a:solidFill>
                <a:srgbClr val="333399"/>
              </a:solidFill>
              <a:latin typeface="楷体_GB2312" pitchFamily="49" charset="-122"/>
            </a:endParaRPr>
          </a:p>
        </p:txBody>
      </p:sp>
      <p:sp>
        <p:nvSpPr>
          <p:cNvPr id="2258956" name="Text Box 12"/>
          <p:cNvSpPr txBox="1"/>
          <p:nvPr/>
        </p:nvSpPr>
        <p:spPr>
          <a:xfrm>
            <a:off x="576263" y="1484313"/>
            <a:ext cx="7602537" cy="519112"/>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为了减小频率混淆，通常可以采用两种方法：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58957" name="Text Box 13"/>
          <p:cNvSpPr txBox="1"/>
          <p:nvPr/>
        </p:nvSpPr>
        <p:spPr>
          <a:xfrm>
            <a:off x="919163" y="2033588"/>
            <a:ext cx="6965950" cy="519112"/>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800" b="1" dirty="0">
                <a:solidFill>
                  <a:srgbClr val="3333FF"/>
                </a:solidFill>
                <a:latin typeface="Times New Roman" panose="02020603050405020304" pitchFamily="18" charset="0"/>
                <a:ea typeface="黑体" panose="02010609060101010101" pitchFamily="49" charset="-122"/>
              </a:rPr>
              <a:t>对于频域衰减较快的信号，减小</a:t>
            </a:r>
            <a:r>
              <a:rPr lang="en-US" altLang="zh-CN" sz="2800" b="1">
                <a:solidFill>
                  <a:srgbClr val="FF0000"/>
                </a:solidFill>
                <a:latin typeface="Times New Roman" panose="02020603050405020304" pitchFamily="18" charset="0"/>
                <a:ea typeface="黑体" panose="02010609060101010101" pitchFamily="49" charset="-122"/>
              </a:rPr>
              <a:t>T</a:t>
            </a:r>
            <a:r>
              <a:rPr lang="en-US" altLang="zh-CN" sz="2800" b="1" baseline="-25000">
                <a:solidFill>
                  <a:srgbClr val="FF0000"/>
                </a:solidFill>
                <a:latin typeface="Times New Roman" panose="02020603050405020304" pitchFamily="18" charset="0"/>
                <a:ea typeface="黑体" panose="02010609060101010101" pitchFamily="49" charset="-122"/>
              </a:rPr>
              <a:t>S</a:t>
            </a:r>
            <a:r>
              <a:rPr lang="zh-CN" altLang="en-US" sz="2800" b="1" dirty="0">
                <a:solidFill>
                  <a:srgbClr val="3333FF"/>
                </a:solidFill>
                <a:latin typeface="Times New Roman" panose="02020603050405020304" pitchFamily="18" charset="0"/>
                <a:ea typeface="黑体" panose="02010609060101010101" pitchFamily="49" charset="-122"/>
              </a:rPr>
              <a:t>。 </a:t>
            </a:r>
            <a:endParaRPr lang="zh-CN" altLang="en-US" sz="2800" b="1" dirty="0">
              <a:solidFill>
                <a:srgbClr val="3333FF"/>
              </a:solidFill>
              <a:latin typeface="Times New Roman" panose="02020603050405020304" pitchFamily="18" charset="0"/>
              <a:ea typeface="黑体" panose="02010609060101010101" pitchFamily="49" charset="-122"/>
            </a:endParaRPr>
          </a:p>
        </p:txBody>
      </p:sp>
      <p:sp>
        <p:nvSpPr>
          <p:cNvPr id="2258958" name="Text Box 14"/>
          <p:cNvSpPr txBox="1"/>
          <p:nvPr/>
        </p:nvSpPr>
        <p:spPr>
          <a:xfrm>
            <a:off x="1619250" y="2598738"/>
            <a:ext cx="6635750" cy="701675"/>
          </a:xfrm>
          <a:prstGeom prst="rect">
            <a:avLst/>
          </a:prstGeom>
          <a:solidFill>
            <a:srgbClr val="CCFFFF"/>
          </a:solidFill>
          <a:ln w="9525">
            <a:noFill/>
          </a:ln>
        </p:spPr>
        <p:txBody>
          <a:bodyPr>
            <a:spAutoFit/>
          </a:bodyPr>
          <a:p>
            <a:pPr algn="l" eaLnBrk="1" hangingPunct="1"/>
            <a:r>
              <a:rPr lang="zh-CN" altLang="en-US" sz="2000" b="1" dirty="0">
                <a:solidFill>
                  <a:schemeClr val="tx1"/>
                </a:solidFill>
                <a:latin typeface="黑体" panose="02010609060101010101" pitchFamily="49" charset="-122"/>
                <a:ea typeface="黑体" panose="02010609060101010101" pitchFamily="49" charset="-122"/>
              </a:rPr>
              <a:t>但是，</a:t>
            </a:r>
            <a:r>
              <a:rPr lang="en-US" altLang="zh-CN" sz="2000" b="1" i="1">
                <a:solidFill>
                  <a:srgbClr val="FF0000"/>
                </a:solidFill>
                <a:latin typeface="Times New Roman" panose="02020603050405020304" pitchFamily="18" charset="0"/>
                <a:ea typeface="黑体" panose="02010609060101010101" pitchFamily="49" charset="-122"/>
              </a:rPr>
              <a:t>T</a:t>
            </a:r>
            <a:r>
              <a:rPr lang="en-US" altLang="zh-CN" sz="2000" b="1" baseline="-25000">
                <a:solidFill>
                  <a:srgbClr val="FF0000"/>
                </a:solidFill>
                <a:latin typeface="Times New Roman" panose="02020603050405020304" pitchFamily="18" charset="0"/>
                <a:ea typeface="黑体" panose="02010609060101010101" pitchFamily="49" charset="-122"/>
              </a:rPr>
              <a:t>S</a:t>
            </a:r>
            <a:r>
              <a:rPr lang="zh-CN" altLang="en-US" sz="2000" b="1" dirty="0">
                <a:solidFill>
                  <a:schemeClr val="tx1"/>
                </a:solidFill>
                <a:latin typeface="黑体" panose="02010609060101010101" pitchFamily="49" charset="-122"/>
                <a:ea typeface="黑体" panose="02010609060101010101" pitchFamily="49" charset="-122"/>
              </a:rPr>
              <a:t>过小，不仅增加内存占用量和计算量，还会使频域的频率分辨率下降过多。</a:t>
            </a:r>
            <a:endParaRPr lang="zh-CN" altLang="en-US" sz="2000" b="1" dirty="0">
              <a:solidFill>
                <a:schemeClr val="tx1"/>
              </a:solidFill>
              <a:latin typeface="黑体" panose="02010609060101010101" pitchFamily="49" charset="-122"/>
              <a:ea typeface="黑体" panose="02010609060101010101" pitchFamily="49" charset="-122"/>
            </a:endParaRPr>
          </a:p>
        </p:txBody>
      </p:sp>
      <p:sp>
        <p:nvSpPr>
          <p:cNvPr id="2258962" name="Text Box 1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58963" name="Text Box 19"/>
          <p:cNvSpPr txBox="1">
            <a:spLocks noChangeArrowheads="1"/>
          </p:cNvSpPr>
          <p:nvPr/>
        </p:nvSpPr>
        <p:spPr bwMode="auto">
          <a:xfrm>
            <a:off x="1258888" y="115888"/>
            <a:ext cx="70993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频率混淆与消除频混的措施</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58964" name="Text Box 20"/>
          <p:cNvSpPr txBox="1"/>
          <p:nvPr/>
        </p:nvSpPr>
        <p:spPr>
          <a:xfrm>
            <a:off x="909638" y="3473450"/>
            <a:ext cx="7686675" cy="1373188"/>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800" b="1" dirty="0">
                <a:solidFill>
                  <a:srgbClr val="3333FF"/>
                </a:solidFill>
                <a:latin typeface="Times New Roman" panose="02020603050405020304" pitchFamily="18" charset="0"/>
                <a:ea typeface="黑体" panose="02010609060101010101" pitchFamily="49" charset="-122"/>
              </a:rPr>
              <a:t>对频域衰减较慢的信号，可在采样前，先用一截止频率为</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baseline="-25000" err="1">
                <a:solidFill>
                  <a:srgbClr val="FF0000"/>
                </a:solidFill>
                <a:latin typeface="Times New Roman" panose="02020603050405020304" pitchFamily="18" charset="0"/>
                <a:ea typeface="黑体" panose="02010609060101010101" pitchFamily="49" charset="-122"/>
              </a:rPr>
              <a:t>C</a:t>
            </a:r>
            <a:r>
              <a:rPr lang="zh-CN" altLang="en-US" sz="2800" b="1" dirty="0">
                <a:solidFill>
                  <a:srgbClr val="3333FF"/>
                </a:solidFill>
                <a:latin typeface="Times New Roman" panose="02020603050405020304" pitchFamily="18" charset="0"/>
                <a:ea typeface="黑体" panose="02010609060101010101" pitchFamily="49" charset="-122"/>
              </a:rPr>
              <a:t>的滤波器对信号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低通滤波，滤除高频成分，然后再进行采样。</a:t>
            </a:r>
            <a:endParaRPr lang="zh-CN" altLang="en-US" sz="2800" b="1" dirty="0">
              <a:solidFill>
                <a:srgbClr val="3333FF"/>
              </a:solidFill>
              <a:latin typeface="Times New Roman" panose="02020603050405020304" pitchFamily="18" charset="0"/>
              <a:ea typeface="黑体" panose="02010609060101010101" pitchFamily="49" charset="-122"/>
            </a:endParaRPr>
          </a:p>
        </p:txBody>
      </p:sp>
      <p:sp>
        <p:nvSpPr>
          <p:cNvPr id="2258965" name="Text Box 21"/>
          <p:cNvSpPr txBox="1"/>
          <p:nvPr/>
        </p:nvSpPr>
        <p:spPr>
          <a:xfrm>
            <a:off x="1619250" y="4941888"/>
            <a:ext cx="6635750" cy="701675"/>
          </a:xfrm>
          <a:prstGeom prst="rect">
            <a:avLst/>
          </a:prstGeom>
          <a:solidFill>
            <a:srgbClr val="CCFFFF"/>
          </a:solidFill>
          <a:ln w="9525">
            <a:noFill/>
          </a:ln>
        </p:spPr>
        <p:txBody>
          <a:bodyPr>
            <a:spAutoFit/>
          </a:bodyPr>
          <a:p>
            <a:pPr algn="l" eaLnBrk="1" hangingPunct="1"/>
            <a:r>
              <a:rPr lang="zh-CN" altLang="en-US" sz="2000" b="1" dirty="0">
                <a:solidFill>
                  <a:schemeClr val="tx1"/>
                </a:solidFill>
                <a:latin typeface="黑体" panose="02010609060101010101" pitchFamily="49" charset="-122"/>
                <a:ea typeface="黑体" panose="02010609060101010101" pitchFamily="49" charset="-122"/>
              </a:rPr>
              <a:t>实际上，信号频率并非严格有限，滤波器非理想滤波器，常需将两种方法联合使用。 </a:t>
            </a:r>
            <a:endParaRPr lang="zh-CN" altLang="en-US" sz="2000" b="1" dirty="0">
              <a:solidFill>
                <a:schemeClr val="tx1"/>
              </a:solidFill>
              <a:latin typeface="黑体" panose="02010609060101010101" pitchFamily="49" charset="-122"/>
              <a:ea typeface="黑体" panose="02010609060101010101" pitchFamily="49" charset="-122"/>
            </a:endParaRPr>
          </a:p>
        </p:txBody>
      </p:sp>
      <p:sp>
        <p:nvSpPr>
          <p:cNvPr id="11" name="AutoShape 3090"/>
          <p:cNvSpPr/>
          <p:nvPr/>
        </p:nvSpPr>
        <p:spPr>
          <a:xfrm>
            <a:off x="3492500" y="1016000"/>
            <a:ext cx="4865688" cy="2089150"/>
          </a:xfrm>
          <a:prstGeom prst="wedgeRoundRectCallout">
            <a:avLst>
              <a:gd name="adj1" fmla="val -26292"/>
              <a:gd name="adj2" fmla="val 89282"/>
              <a:gd name="adj3" fmla="val 16667"/>
            </a:avLst>
          </a:prstGeom>
          <a:solidFill>
            <a:schemeClr val="accent1"/>
          </a:solidFill>
          <a:ln w="9525" cap="flat" cmpd="sng">
            <a:solidFill>
              <a:schemeClr val="tx1"/>
            </a:solidFill>
            <a:prstDash val="solid"/>
            <a:miter/>
            <a:headEnd type="none" w="med" len="med"/>
            <a:tailEnd type="none" w="sm" len="lg"/>
          </a:ln>
          <a:effectLst>
            <a:outerShdw dist="107763" dir="13499999" algn="ctr" rotWithShape="0">
              <a:schemeClr val="bg2"/>
            </a:outerShdw>
          </a:effectLst>
        </p:spPr>
        <p:txBody>
          <a:bodyPr anchor="ctr" anchorCtr="0"/>
          <a:p>
            <a:pPr algn="ctr" eaLnBrk="1" hangingPunct="1"/>
            <a:r>
              <a:rPr lang="zh-CN" altLang="en-US" sz="2400" b="1" dirty="0">
                <a:solidFill>
                  <a:srgbClr val="FF0000"/>
                </a:solidFill>
                <a:latin typeface="黑体" panose="02010609060101010101" pitchFamily="49" charset="-122"/>
                <a:ea typeface="黑体" panose="02010609060101010101" pitchFamily="49" charset="-122"/>
              </a:rPr>
              <a:t>多阶有源</a:t>
            </a:r>
            <a:r>
              <a:rPr lang="en-US" altLang="zh-CN" sz="2400" b="1">
                <a:solidFill>
                  <a:srgbClr val="FF0000"/>
                </a:solidFill>
                <a:latin typeface="黑体" panose="02010609060101010101" pitchFamily="49" charset="-122"/>
                <a:ea typeface="黑体" panose="02010609060101010101" pitchFamily="49" charset="-122"/>
              </a:rPr>
              <a:t>RC</a:t>
            </a:r>
            <a:r>
              <a:rPr lang="zh-CN" altLang="en-US" sz="2400" b="1" dirty="0">
                <a:solidFill>
                  <a:srgbClr val="FF0000"/>
                </a:solidFill>
                <a:latin typeface="黑体" panose="02010609060101010101" pitchFamily="49" charset="-122"/>
                <a:ea typeface="黑体" panose="02010609060101010101" pitchFamily="49" charset="-122"/>
              </a:rPr>
              <a:t>巴特沃斯滤波器：</a:t>
            </a:r>
            <a:endParaRPr lang="zh-CN" altLang="en-US" sz="2400" b="1" dirty="0">
              <a:solidFill>
                <a:srgbClr val="FF0000"/>
              </a:solidFill>
              <a:latin typeface="黑体" panose="02010609060101010101" pitchFamily="49" charset="-122"/>
              <a:ea typeface="黑体" panose="02010609060101010101" pitchFamily="49" charset="-122"/>
            </a:endParaRPr>
          </a:p>
          <a:p>
            <a:pPr algn="ctr" eaLnBrk="1" hangingPunct="1"/>
            <a:r>
              <a:rPr lang="zh-CN" altLang="en-US" sz="2400" b="1" dirty="0">
                <a:solidFill>
                  <a:schemeClr val="tx1"/>
                </a:solidFill>
                <a:latin typeface="黑体" panose="02010609060101010101" pitchFamily="49" charset="-122"/>
                <a:ea typeface="黑体" panose="02010609060101010101" pitchFamily="49" charset="-122"/>
              </a:rPr>
              <a:t>具有最大平坦幅频响应的特性，且具有良好的线性相位特性，其数学分析和网络结构简单等优点，故目前广泛采用。</a:t>
            </a:r>
            <a:endParaRPr lang="zh-CN" altLang="en-US" sz="2400" b="1"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8955"/>
                                        </p:tgtEl>
                                        <p:attrNameLst>
                                          <p:attrName>style.visibility</p:attrName>
                                        </p:attrNameLst>
                                      </p:cBhvr>
                                      <p:to>
                                        <p:strVal val="visible"/>
                                      </p:to>
                                    </p:set>
                                    <p:animEffect transition="in" filter="dissolve">
                                      <p:cBhvr>
                                        <p:cTn id="7" dur="500"/>
                                        <p:tgtEl>
                                          <p:spTgt spid="225895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8956"/>
                                        </p:tgtEl>
                                        <p:attrNameLst>
                                          <p:attrName>style.visibility</p:attrName>
                                        </p:attrNameLst>
                                      </p:cBhvr>
                                      <p:to>
                                        <p:strVal val="visible"/>
                                      </p:to>
                                    </p:set>
                                    <p:animEffect transition="in" filter="dissolve">
                                      <p:cBhvr>
                                        <p:cTn id="12" dur="500"/>
                                        <p:tgtEl>
                                          <p:spTgt spid="22589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8957"/>
                                        </p:tgtEl>
                                        <p:attrNameLst>
                                          <p:attrName>style.visibility</p:attrName>
                                        </p:attrNameLst>
                                      </p:cBhvr>
                                      <p:to>
                                        <p:strVal val="visible"/>
                                      </p:to>
                                    </p:set>
                                    <p:animEffect transition="in" filter="dissolve">
                                      <p:cBhvr>
                                        <p:cTn id="17" dur="500"/>
                                        <p:tgtEl>
                                          <p:spTgt spid="225895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8958"/>
                                        </p:tgtEl>
                                        <p:attrNameLst>
                                          <p:attrName>style.visibility</p:attrName>
                                        </p:attrNameLst>
                                      </p:cBhvr>
                                      <p:to>
                                        <p:strVal val="visible"/>
                                      </p:to>
                                    </p:set>
                                    <p:animEffect transition="in" filter="dissolve">
                                      <p:cBhvr>
                                        <p:cTn id="22" dur="500"/>
                                        <p:tgtEl>
                                          <p:spTgt spid="225895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58964">
                                            <p:txEl>
                                              <p:charRg st="0" end="59"/>
                                            </p:txEl>
                                          </p:spTgt>
                                        </p:tgtEl>
                                        <p:attrNameLst>
                                          <p:attrName>style.visibility</p:attrName>
                                        </p:attrNameLst>
                                      </p:cBhvr>
                                      <p:to>
                                        <p:strVal val="visible"/>
                                      </p:to>
                                    </p:set>
                                    <p:animEffect transition="in" filter="dissolve">
                                      <p:cBhvr>
                                        <p:cTn id="27" dur="500"/>
                                        <p:tgtEl>
                                          <p:spTgt spid="2258964">
                                            <p:txEl>
                                              <p:charRg st="0" end="59"/>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258965"/>
                                        </p:tgtEl>
                                        <p:attrNameLst>
                                          <p:attrName>style.visibility</p:attrName>
                                        </p:attrNameLst>
                                      </p:cBhvr>
                                      <p:to>
                                        <p:strVal val="visible"/>
                                      </p:to>
                                    </p:set>
                                    <p:animEffect transition="in" filter="dissolve">
                                      <p:cBhvr>
                                        <p:cTn id="37" dur="500"/>
                                        <p:tgtEl>
                                          <p:spTgt spid="22589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8955" grpId="0" bldLvl="0" animBg="1"/>
      <p:bldP spid="2258956" grpId="0"/>
      <p:bldP spid="2258957" grpId="0"/>
      <p:bldP spid="2258958" grpId="0" bldLvl="0" animBg="1"/>
      <p:bldP spid="2258964" grpId="0" build="p"/>
      <p:bldP spid="2258965" grpId="0" bldLvl="0" animBg="1"/>
      <p:bldP spid="11" grpId="0" bldLvl="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1008" name="Text Box 1040"/>
          <p:cNvSpPr txBox="1"/>
          <p:nvPr/>
        </p:nvSpPr>
        <p:spPr>
          <a:xfrm>
            <a:off x="461963" y="1506538"/>
            <a:ext cx="8124825" cy="1562100"/>
          </a:xfrm>
          <a:prstGeom prst="rect">
            <a:avLst/>
          </a:prstGeom>
          <a:noFill/>
          <a:ln w="9525" cap="flat" cmpd="sng">
            <a:solidFill>
              <a:srgbClr val="FF6600"/>
            </a:solidFill>
            <a:prstDash val="solid"/>
            <a:miter/>
            <a:headEnd type="none" w="med" len="med"/>
            <a:tailEnd type="none" w="med" len="med"/>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400" b="1" dirty="0">
                <a:solidFill>
                  <a:schemeClr val="tx1"/>
                </a:solidFill>
                <a:latin typeface="Times New Roman" panose="02020603050405020304" pitchFamily="18" charset="0"/>
                <a:ea typeface="黑体" panose="02010609060101010101" pitchFamily="49" charset="-122"/>
              </a:rPr>
              <a:t>工程应用中，为了防止混叠，不管原来信号是不是带限，都先做一次带限，然后根据抗混叠滤波器的带宽，将采样频率提高到它的</a:t>
            </a:r>
            <a:r>
              <a:rPr lang="en-US" altLang="zh-CN" sz="2400" b="1">
                <a:solidFill>
                  <a:schemeClr val="tx1"/>
                </a:solidFill>
                <a:latin typeface="Times New Roman" panose="02020603050405020304" pitchFamily="18" charset="0"/>
                <a:ea typeface="黑体" panose="02010609060101010101" pitchFamily="49" charset="-122"/>
              </a:rPr>
              <a:t>2</a:t>
            </a:r>
            <a:r>
              <a:rPr lang="zh-CN" altLang="en-US" sz="2400" b="1" dirty="0">
                <a:solidFill>
                  <a:schemeClr val="tx1"/>
                </a:solidFill>
                <a:latin typeface="Times New Roman" panose="02020603050405020304" pitchFamily="18" charset="0"/>
                <a:ea typeface="黑体" panose="02010609060101010101" pitchFamily="49" charset="-122"/>
              </a:rPr>
              <a:t>倍以上（大多数时候</a:t>
            </a:r>
            <a:r>
              <a:rPr lang="en-US" altLang="zh-CN" sz="2400" b="1">
                <a:solidFill>
                  <a:schemeClr val="tx1"/>
                </a:solidFill>
                <a:latin typeface="Times New Roman" panose="02020603050405020304" pitchFamily="18" charset="0"/>
                <a:ea typeface="黑体" panose="02010609060101010101" pitchFamily="49" charset="-122"/>
              </a:rPr>
              <a:t>3~5</a:t>
            </a:r>
            <a:r>
              <a:rPr lang="zh-CN" altLang="en-US" sz="2400" b="1" dirty="0">
                <a:solidFill>
                  <a:schemeClr val="tx1"/>
                </a:solidFill>
                <a:latin typeface="Times New Roman" panose="02020603050405020304" pitchFamily="18" charset="0"/>
                <a:ea typeface="黑体" panose="02010609060101010101" pitchFamily="49" charset="-122"/>
              </a:rPr>
              <a:t>倍），即可保证采样结果频谱不交叠。</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61009" name="Text Box 1041"/>
          <p:cNvSpPr txBox="1"/>
          <p:nvPr/>
        </p:nvSpPr>
        <p:spPr>
          <a:xfrm>
            <a:off x="431800" y="3332163"/>
            <a:ext cx="1979613" cy="1373187"/>
          </a:xfrm>
          <a:prstGeom prst="rect">
            <a:avLst/>
          </a:prstGeom>
          <a:solidFill>
            <a:srgbClr val="CCFFFF"/>
          </a:solidFill>
          <a:ln w="9525">
            <a:noFill/>
          </a:ln>
        </p:spPr>
        <p:txBody>
          <a:bodyPr>
            <a:spAutoFit/>
          </a:bodyPr>
          <a:p>
            <a:pPr algn="l" eaLnBrk="1" hangingPunct="1"/>
            <a:r>
              <a:rPr lang="zh-CN" altLang="en-US" sz="2800" b="1" dirty="0">
                <a:solidFill>
                  <a:srgbClr val="333399"/>
                </a:solidFill>
                <a:latin typeface="Times New Roman" panose="02020603050405020304" pitchFamily="18" charset="0"/>
                <a:ea typeface="黑体" panose="02010609060101010101" pitchFamily="49" charset="-122"/>
              </a:rPr>
              <a:t>典型物理量的经验采样周期值</a:t>
            </a:r>
            <a:endParaRPr lang="zh-CN" altLang="en-US" sz="2800" b="1" dirty="0">
              <a:solidFill>
                <a:srgbClr val="333399"/>
              </a:solidFill>
              <a:latin typeface="Times New Roman" panose="02020603050405020304" pitchFamily="18" charset="0"/>
              <a:ea typeface="黑体" panose="02010609060101010101" pitchFamily="49" charset="-122"/>
            </a:endParaRPr>
          </a:p>
        </p:txBody>
      </p:sp>
      <p:sp>
        <p:nvSpPr>
          <p:cNvPr id="2261013" name="Rectangle 1045"/>
          <p:cNvSpPr/>
          <p:nvPr/>
        </p:nvSpPr>
        <p:spPr>
          <a:xfrm>
            <a:off x="2892425" y="3113088"/>
            <a:ext cx="2147888" cy="508000"/>
          </a:xfrm>
          <a:prstGeom prst="rect">
            <a:avLst/>
          </a:prstGeom>
          <a:noFill/>
          <a:ln w="9525" cap="flat" cmpd="sng">
            <a:solidFill>
              <a:schemeClr val="bg1"/>
            </a:solidFill>
            <a:prstDash val="solid"/>
            <a:miter/>
            <a:headEnd type="none" w="med" len="med"/>
            <a:tailEnd type="none" w="med" len="med"/>
          </a:ln>
        </p:spPr>
        <p:txBody>
          <a:bodyPr/>
          <a:p>
            <a:pPr algn="just" eaLnBrk="1" fontAlgn="b" hangingPunct="1"/>
            <a:r>
              <a:rPr lang="en-US" altLang="zh-CN" sz="2800" b="1">
                <a:solidFill>
                  <a:srgbClr val="FF0000"/>
                </a:solidFill>
                <a:latin typeface="Times New Roman" panose="02020603050405020304" pitchFamily="18" charset="0"/>
                <a:ea typeface="宋体" panose="02010600030101010101" pitchFamily="2" charset="-122"/>
              </a:rPr>
              <a:t> </a:t>
            </a:r>
            <a:r>
              <a:rPr lang="zh-CN" altLang="en-US" sz="2800" b="1" dirty="0">
                <a:solidFill>
                  <a:srgbClr val="FF0000"/>
                </a:solidFill>
                <a:latin typeface="Times New Roman" panose="02020603050405020304" pitchFamily="18" charset="0"/>
              </a:rPr>
              <a:t>被测物理量</a:t>
            </a:r>
            <a:endParaRPr lang="zh-CN" altLang="en-US" sz="2800" b="1" dirty="0">
              <a:solidFill>
                <a:srgbClr val="FF0000"/>
              </a:solidFill>
              <a:latin typeface="Times New Roman" panose="02020603050405020304" pitchFamily="18" charset="0"/>
            </a:endParaRPr>
          </a:p>
          <a:p>
            <a:pPr algn="just" eaLnBrk="1" fontAlgn="b" hangingPunct="1"/>
            <a:endParaRPr lang="zh-CN" altLang="en-US" sz="2800" b="1" dirty="0">
              <a:solidFill>
                <a:srgbClr val="FF0000"/>
              </a:solidFill>
              <a:latin typeface="Times New Roman" panose="02020603050405020304" pitchFamily="18" charset="0"/>
            </a:endParaRPr>
          </a:p>
        </p:txBody>
      </p:sp>
      <p:sp>
        <p:nvSpPr>
          <p:cNvPr id="2261016" name="Rectangle 1048"/>
          <p:cNvSpPr/>
          <p:nvPr/>
        </p:nvSpPr>
        <p:spPr>
          <a:xfrm>
            <a:off x="5881688" y="3151188"/>
            <a:ext cx="2109787" cy="468312"/>
          </a:xfrm>
          <a:prstGeom prst="rect">
            <a:avLst/>
          </a:prstGeom>
          <a:noFill/>
          <a:ln w="9525" cap="flat" cmpd="sng">
            <a:solidFill>
              <a:schemeClr val="bg1"/>
            </a:solidFill>
            <a:prstDash val="solid"/>
            <a:miter/>
            <a:headEnd type="none" w="med" len="med"/>
            <a:tailEnd type="none" w="med" len="med"/>
          </a:ln>
        </p:spPr>
        <p:txBody>
          <a:bodyPr/>
          <a:p>
            <a:pPr algn="just" eaLnBrk="1" hangingPunct="1"/>
            <a:r>
              <a:rPr lang="en-US" altLang="zh-CN" sz="2800" b="1">
                <a:solidFill>
                  <a:srgbClr val="FF0000"/>
                </a:solidFill>
                <a:latin typeface="Times New Roman" panose="02020603050405020304" pitchFamily="18" charset="0"/>
                <a:ea typeface="宋体" panose="02010600030101010101" pitchFamily="2" charset="-122"/>
              </a:rPr>
              <a:t> </a:t>
            </a:r>
            <a:r>
              <a:rPr lang="zh-CN" altLang="en-US" sz="2800" b="1" dirty="0">
                <a:solidFill>
                  <a:srgbClr val="FF0000"/>
                </a:solidFill>
                <a:latin typeface="Times New Roman" panose="02020603050405020304" pitchFamily="18" charset="0"/>
              </a:rPr>
              <a:t>采样周期 </a:t>
            </a:r>
            <a:r>
              <a:rPr lang="en-US" altLang="zh-CN" sz="2800" b="1">
                <a:solidFill>
                  <a:srgbClr val="FF0000"/>
                </a:solidFill>
                <a:latin typeface="Times New Roman" panose="02020603050405020304" pitchFamily="18" charset="0"/>
              </a:rPr>
              <a:t>(s)</a:t>
            </a:r>
            <a:endParaRPr lang="en-US" altLang="zh-CN" sz="2800" b="1">
              <a:solidFill>
                <a:srgbClr val="FF0000"/>
              </a:solidFill>
              <a:latin typeface="Times New Roman" panose="02020603050405020304" pitchFamily="18" charset="0"/>
              <a:ea typeface="宋体" panose="02010600030101010101" pitchFamily="2" charset="-122"/>
            </a:endParaRPr>
          </a:p>
        </p:txBody>
      </p:sp>
      <p:sp>
        <p:nvSpPr>
          <p:cNvPr id="2261019" name="Rectangle 1051"/>
          <p:cNvSpPr/>
          <p:nvPr/>
        </p:nvSpPr>
        <p:spPr>
          <a:xfrm>
            <a:off x="3421063" y="3727450"/>
            <a:ext cx="998537" cy="482600"/>
          </a:xfrm>
          <a:prstGeom prst="rect">
            <a:avLst/>
          </a:prstGeom>
          <a:noFill/>
          <a:ln w="9525" cap="flat" cmpd="sng">
            <a:solidFill>
              <a:schemeClr val="bg1"/>
            </a:solidFill>
            <a:prstDash val="solid"/>
            <a:miter/>
            <a:headEnd type="none" w="med" len="med"/>
            <a:tailEnd type="none" w="med" len="med"/>
          </a:ln>
        </p:spPr>
        <p:txBody>
          <a:bodyPr/>
          <a:p>
            <a:pPr algn="just" eaLnBrk="1" hangingPunct="1"/>
            <a:r>
              <a:rPr lang="zh-CN" altLang="en-US" sz="2800" b="1" dirty="0">
                <a:solidFill>
                  <a:srgbClr val="333399"/>
                </a:solidFill>
                <a:latin typeface="楷体_GB2312" pitchFamily="49" charset="-122"/>
              </a:rPr>
              <a:t>流量</a:t>
            </a:r>
            <a:endParaRPr lang="zh-CN" altLang="en-US" sz="2800" b="1" dirty="0">
              <a:solidFill>
                <a:srgbClr val="333399"/>
              </a:solidFill>
              <a:latin typeface="楷体_GB2312" pitchFamily="49" charset="-122"/>
            </a:endParaRPr>
          </a:p>
        </p:txBody>
      </p:sp>
      <p:sp>
        <p:nvSpPr>
          <p:cNvPr id="2261022" name="Rectangle 1054"/>
          <p:cNvSpPr/>
          <p:nvPr/>
        </p:nvSpPr>
        <p:spPr>
          <a:xfrm>
            <a:off x="6289675" y="3703638"/>
            <a:ext cx="1512888" cy="457200"/>
          </a:xfrm>
          <a:prstGeom prst="rect">
            <a:avLst/>
          </a:prstGeom>
          <a:noFill/>
          <a:ln w="9525" cap="flat" cmpd="sng">
            <a:solidFill>
              <a:schemeClr val="bg1"/>
            </a:solidFill>
            <a:prstDash val="solid"/>
            <a:miter/>
            <a:headEnd type="none" w="med" len="med"/>
            <a:tailEnd type="none" w="med" len="med"/>
          </a:ln>
        </p:spPr>
        <p:txBody>
          <a:bodyPr/>
          <a:p>
            <a:pPr algn="just" eaLnBrk="1" hangingPunct="1"/>
            <a:r>
              <a:rPr lang="en-US" altLang="zh-CN" sz="2800" b="1">
                <a:solidFill>
                  <a:srgbClr val="333399"/>
                </a:solidFill>
                <a:latin typeface="Times New Roman" panose="02020603050405020304" pitchFamily="18" charset="0"/>
                <a:ea typeface="宋体" panose="02010600030101010101" pitchFamily="2" charset="-122"/>
              </a:rPr>
              <a:t>  1</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2</a:t>
            </a:r>
            <a:endParaRPr lang="en-US" altLang="zh-CN" sz="2800" b="1">
              <a:solidFill>
                <a:srgbClr val="333399"/>
              </a:solidFill>
              <a:latin typeface="Times New Roman" panose="02020603050405020304" pitchFamily="18" charset="0"/>
              <a:ea typeface="宋体" panose="02010600030101010101" pitchFamily="2" charset="-122"/>
            </a:endParaRPr>
          </a:p>
        </p:txBody>
      </p:sp>
      <p:sp>
        <p:nvSpPr>
          <p:cNvPr id="2261024" name="Rectangle 1056"/>
          <p:cNvSpPr/>
          <p:nvPr/>
        </p:nvSpPr>
        <p:spPr>
          <a:xfrm>
            <a:off x="2679700" y="3116263"/>
            <a:ext cx="5924550" cy="3121025"/>
          </a:xfrm>
          <a:prstGeom prst="rect">
            <a:avLst/>
          </a:prstGeom>
          <a:noFill/>
          <a:ln w="19050" cap="flat" cmpd="sng">
            <a:solidFill>
              <a:srgbClr val="3333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61028" name="Line 1060"/>
          <p:cNvSpPr/>
          <p:nvPr/>
        </p:nvSpPr>
        <p:spPr>
          <a:xfrm>
            <a:off x="2679700" y="3670300"/>
            <a:ext cx="5924550" cy="0"/>
          </a:xfrm>
          <a:prstGeom prst="line">
            <a:avLst/>
          </a:prstGeom>
          <a:ln w="19050" cap="flat" cmpd="sng">
            <a:solidFill>
              <a:srgbClr val="3333FF"/>
            </a:solidFill>
            <a:prstDash val="solid"/>
            <a:headEnd type="none" w="med" len="med"/>
            <a:tailEnd type="none" w="med" len="med"/>
          </a:ln>
        </p:spPr>
      </p:sp>
      <p:sp>
        <p:nvSpPr>
          <p:cNvPr id="2261029" name="Line 1061"/>
          <p:cNvSpPr/>
          <p:nvPr/>
        </p:nvSpPr>
        <p:spPr>
          <a:xfrm>
            <a:off x="5364163" y="3116263"/>
            <a:ext cx="0" cy="3121025"/>
          </a:xfrm>
          <a:prstGeom prst="line">
            <a:avLst/>
          </a:prstGeom>
          <a:ln w="19050" cap="flat" cmpd="sng">
            <a:solidFill>
              <a:srgbClr val="3333FF"/>
            </a:solidFill>
            <a:prstDash val="solid"/>
            <a:headEnd type="none" w="med" len="med"/>
            <a:tailEnd type="none" w="med" len="med"/>
          </a:ln>
        </p:spPr>
      </p:sp>
      <p:sp>
        <p:nvSpPr>
          <p:cNvPr id="2261030" name="Text Box 1062"/>
          <p:cNvSpPr txBox="1"/>
          <p:nvPr/>
        </p:nvSpPr>
        <p:spPr>
          <a:xfrm>
            <a:off x="3411538" y="4194175"/>
            <a:ext cx="901700" cy="519113"/>
          </a:xfrm>
          <a:prstGeom prst="rect">
            <a:avLst/>
          </a:prstGeom>
          <a:noFill/>
          <a:ln w="9525">
            <a:noFill/>
          </a:ln>
        </p:spPr>
        <p:txBody>
          <a:bodyPr wrap="none">
            <a:spAutoFit/>
          </a:bodyPr>
          <a:p>
            <a:pPr algn="ctr" eaLnBrk="0" hangingPunct="0"/>
            <a:r>
              <a:rPr lang="zh-CN" altLang="en-US" sz="2800" b="1" dirty="0">
                <a:solidFill>
                  <a:srgbClr val="333399"/>
                </a:solidFill>
                <a:latin typeface="楷体_GB2312" pitchFamily="49" charset="-122"/>
              </a:rPr>
              <a:t>压力</a:t>
            </a:r>
            <a:endParaRPr lang="zh-CN" altLang="en-US" sz="2800" b="1" dirty="0">
              <a:solidFill>
                <a:srgbClr val="333399"/>
              </a:solidFill>
              <a:latin typeface="楷体_GB2312" pitchFamily="49" charset="-122"/>
            </a:endParaRPr>
          </a:p>
        </p:txBody>
      </p:sp>
      <p:sp>
        <p:nvSpPr>
          <p:cNvPr id="2261031" name="Text Box 1063"/>
          <p:cNvSpPr txBox="1"/>
          <p:nvPr/>
        </p:nvSpPr>
        <p:spPr>
          <a:xfrm>
            <a:off x="3400425" y="4678363"/>
            <a:ext cx="901700" cy="519112"/>
          </a:xfrm>
          <a:prstGeom prst="rect">
            <a:avLst/>
          </a:prstGeom>
          <a:noFill/>
          <a:ln w="9525">
            <a:noFill/>
          </a:ln>
        </p:spPr>
        <p:txBody>
          <a:bodyPr wrap="none">
            <a:spAutoFit/>
          </a:bodyPr>
          <a:p>
            <a:pPr algn="ctr" eaLnBrk="0" hangingPunct="0"/>
            <a:r>
              <a:rPr lang="zh-CN" altLang="en-US" sz="2800" b="1" dirty="0">
                <a:solidFill>
                  <a:srgbClr val="333399"/>
                </a:solidFill>
                <a:latin typeface="楷体_GB2312" pitchFamily="49" charset="-122"/>
              </a:rPr>
              <a:t>液位</a:t>
            </a:r>
            <a:endParaRPr lang="zh-CN" altLang="en-US" sz="2800" b="1" dirty="0">
              <a:solidFill>
                <a:srgbClr val="333399"/>
              </a:solidFill>
              <a:latin typeface="楷体_GB2312" pitchFamily="49" charset="-122"/>
            </a:endParaRPr>
          </a:p>
        </p:txBody>
      </p:sp>
      <p:sp>
        <p:nvSpPr>
          <p:cNvPr id="2261032" name="Text Box 1064"/>
          <p:cNvSpPr txBox="1"/>
          <p:nvPr/>
        </p:nvSpPr>
        <p:spPr>
          <a:xfrm>
            <a:off x="3398838" y="5146675"/>
            <a:ext cx="901700" cy="519113"/>
          </a:xfrm>
          <a:prstGeom prst="rect">
            <a:avLst/>
          </a:prstGeom>
          <a:noFill/>
          <a:ln w="9525">
            <a:noFill/>
          </a:ln>
        </p:spPr>
        <p:txBody>
          <a:bodyPr wrap="none">
            <a:spAutoFit/>
          </a:bodyPr>
          <a:p>
            <a:pPr algn="ctr" eaLnBrk="0" hangingPunct="0"/>
            <a:r>
              <a:rPr lang="zh-CN" altLang="en-US" sz="2800" b="1" dirty="0">
                <a:solidFill>
                  <a:srgbClr val="333399"/>
                </a:solidFill>
                <a:latin typeface="楷体_GB2312" pitchFamily="49" charset="-122"/>
              </a:rPr>
              <a:t>温度</a:t>
            </a:r>
            <a:endParaRPr lang="zh-CN" altLang="en-US" sz="2800" b="1" dirty="0">
              <a:solidFill>
                <a:srgbClr val="333399"/>
              </a:solidFill>
              <a:latin typeface="楷体_GB2312" pitchFamily="49" charset="-122"/>
            </a:endParaRPr>
          </a:p>
        </p:txBody>
      </p:sp>
      <p:sp>
        <p:nvSpPr>
          <p:cNvPr id="2261033" name="Text Box 1065"/>
          <p:cNvSpPr txBox="1"/>
          <p:nvPr/>
        </p:nvSpPr>
        <p:spPr>
          <a:xfrm>
            <a:off x="3384550" y="5614988"/>
            <a:ext cx="901700" cy="519112"/>
          </a:xfrm>
          <a:prstGeom prst="rect">
            <a:avLst/>
          </a:prstGeom>
          <a:noFill/>
          <a:ln w="9525">
            <a:noFill/>
          </a:ln>
        </p:spPr>
        <p:txBody>
          <a:bodyPr wrap="none">
            <a:spAutoFit/>
          </a:bodyPr>
          <a:p>
            <a:pPr algn="ctr" eaLnBrk="1" hangingPunct="1"/>
            <a:r>
              <a:rPr lang="zh-CN" altLang="en-US" sz="2800" b="1" dirty="0">
                <a:solidFill>
                  <a:srgbClr val="333399"/>
                </a:solidFill>
                <a:latin typeface="楷体_GB2312" pitchFamily="49" charset="-122"/>
              </a:rPr>
              <a:t>成分</a:t>
            </a:r>
            <a:endParaRPr lang="zh-CN" altLang="en-US" sz="2800" b="1" dirty="0">
              <a:solidFill>
                <a:srgbClr val="333399"/>
              </a:solidFill>
              <a:latin typeface="楷体_GB2312" pitchFamily="49" charset="-122"/>
            </a:endParaRPr>
          </a:p>
        </p:txBody>
      </p:sp>
      <p:sp>
        <p:nvSpPr>
          <p:cNvPr id="2261034" name="Text Box 1066"/>
          <p:cNvSpPr txBox="1"/>
          <p:nvPr/>
        </p:nvSpPr>
        <p:spPr>
          <a:xfrm>
            <a:off x="6491288" y="4175125"/>
            <a:ext cx="898525" cy="523875"/>
          </a:xfrm>
          <a:prstGeom prst="rect">
            <a:avLst/>
          </a:prstGeom>
          <a:noFill/>
          <a:ln w="9525">
            <a:noFill/>
          </a:ln>
        </p:spPr>
        <p:txBody>
          <a:bodyPr>
            <a:spAutoFit/>
          </a:bodyPr>
          <a:p>
            <a:pPr algn="ctr" eaLnBrk="0" hangingPunct="0">
              <a:lnSpc>
                <a:spcPct val="101000"/>
              </a:lnSpc>
            </a:pPr>
            <a:r>
              <a:rPr lang="en-US" altLang="zh-CN" sz="2800" b="1">
                <a:solidFill>
                  <a:srgbClr val="333399"/>
                </a:solidFill>
                <a:latin typeface="Times New Roman" panose="02020603050405020304" pitchFamily="18" charset="0"/>
                <a:ea typeface="宋体" panose="02010600030101010101" pitchFamily="2" charset="-122"/>
              </a:rPr>
              <a:t>3</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5</a:t>
            </a:r>
            <a:endParaRPr lang="en-US" altLang="zh-CN" sz="2800" b="1">
              <a:solidFill>
                <a:srgbClr val="333399"/>
              </a:solidFill>
              <a:latin typeface="Times New Roman" panose="02020603050405020304" pitchFamily="18" charset="0"/>
              <a:ea typeface="宋体" panose="02010600030101010101" pitchFamily="2" charset="-122"/>
            </a:endParaRPr>
          </a:p>
        </p:txBody>
      </p:sp>
      <p:sp>
        <p:nvSpPr>
          <p:cNvPr id="2261035" name="Text Box 1067"/>
          <p:cNvSpPr txBox="1"/>
          <p:nvPr/>
        </p:nvSpPr>
        <p:spPr>
          <a:xfrm>
            <a:off x="6465888" y="4645025"/>
            <a:ext cx="898525" cy="523875"/>
          </a:xfrm>
          <a:prstGeom prst="rect">
            <a:avLst/>
          </a:prstGeom>
          <a:noFill/>
          <a:ln w="9525">
            <a:noFill/>
          </a:ln>
        </p:spPr>
        <p:txBody>
          <a:bodyPr wrap="none">
            <a:spAutoFit/>
          </a:bodyPr>
          <a:p>
            <a:pPr algn="ctr" eaLnBrk="0" hangingPunct="0">
              <a:lnSpc>
                <a:spcPct val="101000"/>
              </a:lnSpc>
            </a:pPr>
            <a:r>
              <a:rPr lang="en-US" altLang="zh-CN" sz="2800" b="1">
                <a:solidFill>
                  <a:srgbClr val="333399"/>
                </a:solidFill>
                <a:latin typeface="Times New Roman" panose="02020603050405020304" pitchFamily="18" charset="0"/>
                <a:ea typeface="宋体" panose="02010600030101010101" pitchFamily="2" charset="-122"/>
              </a:rPr>
              <a:t>6</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8</a:t>
            </a:r>
            <a:endParaRPr lang="en-US" altLang="zh-CN" sz="2800" b="1">
              <a:solidFill>
                <a:srgbClr val="333399"/>
              </a:solidFill>
              <a:latin typeface="Times New Roman" panose="02020603050405020304" pitchFamily="18" charset="0"/>
              <a:ea typeface="宋体" panose="02010600030101010101" pitchFamily="2" charset="-122"/>
            </a:endParaRPr>
          </a:p>
        </p:txBody>
      </p:sp>
      <p:sp>
        <p:nvSpPr>
          <p:cNvPr id="2261036" name="Text Box 1068"/>
          <p:cNvSpPr txBox="1"/>
          <p:nvPr/>
        </p:nvSpPr>
        <p:spPr>
          <a:xfrm>
            <a:off x="6261100" y="5132388"/>
            <a:ext cx="1254125" cy="523875"/>
          </a:xfrm>
          <a:prstGeom prst="rect">
            <a:avLst/>
          </a:prstGeom>
          <a:noFill/>
          <a:ln w="9525">
            <a:noFill/>
          </a:ln>
        </p:spPr>
        <p:txBody>
          <a:bodyPr wrap="none">
            <a:spAutoFit/>
          </a:bodyPr>
          <a:p>
            <a:pPr algn="ctr" eaLnBrk="0" hangingPunct="0">
              <a:lnSpc>
                <a:spcPct val="101000"/>
              </a:lnSpc>
            </a:pPr>
            <a:r>
              <a:rPr lang="en-US" altLang="zh-CN" sz="2800" b="1">
                <a:solidFill>
                  <a:srgbClr val="333399"/>
                </a:solidFill>
                <a:latin typeface="Times New Roman" panose="02020603050405020304" pitchFamily="18" charset="0"/>
                <a:ea typeface="宋体" panose="02010600030101010101" pitchFamily="2" charset="-122"/>
              </a:rPr>
              <a:t>10</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15</a:t>
            </a:r>
            <a:endParaRPr lang="en-US" altLang="zh-CN" sz="2800" b="1">
              <a:solidFill>
                <a:srgbClr val="333399"/>
              </a:solidFill>
              <a:latin typeface="Times New Roman" panose="02020603050405020304" pitchFamily="18" charset="0"/>
              <a:ea typeface="宋体" panose="02010600030101010101" pitchFamily="2" charset="-122"/>
            </a:endParaRPr>
          </a:p>
        </p:txBody>
      </p:sp>
      <p:sp>
        <p:nvSpPr>
          <p:cNvPr id="2261037" name="Text Box 1069"/>
          <p:cNvSpPr txBox="1"/>
          <p:nvPr/>
        </p:nvSpPr>
        <p:spPr>
          <a:xfrm>
            <a:off x="6273800" y="5600700"/>
            <a:ext cx="1254125" cy="519113"/>
          </a:xfrm>
          <a:prstGeom prst="rect">
            <a:avLst/>
          </a:prstGeom>
          <a:noFill/>
          <a:ln w="9525">
            <a:noFill/>
          </a:ln>
        </p:spPr>
        <p:txBody>
          <a:bodyPr wrap="none">
            <a:spAutoFit/>
          </a:bodyPr>
          <a:p>
            <a:pPr algn="ctr" eaLnBrk="1" hangingPunct="1"/>
            <a:r>
              <a:rPr lang="en-US" altLang="zh-CN" sz="2800" b="1">
                <a:solidFill>
                  <a:srgbClr val="333399"/>
                </a:solidFill>
                <a:latin typeface="Times New Roman" panose="02020603050405020304" pitchFamily="18" charset="0"/>
                <a:ea typeface="宋体" panose="02010600030101010101" pitchFamily="2" charset="-122"/>
              </a:rPr>
              <a:t>15</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20</a:t>
            </a:r>
            <a:endParaRPr lang="en-US" altLang="zh-CN" sz="2800" b="1">
              <a:solidFill>
                <a:srgbClr val="333399"/>
              </a:solidFill>
              <a:latin typeface="Times New Roman" panose="02020603050405020304" pitchFamily="18" charset="0"/>
              <a:ea typeface="宋体" panose="02010600030101010101" pitchFamily="2" charset="-122"/>
            </a:endParaRPr>
          </a:p>
        </p:txBody>
      </p:sp>
      <p:sp>
        <p:nvSpPr>
          <p:cNvPr id="2261038" name="Text Box 107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1040" name="Text Box 1072"/>
          <p:cNvSpPr txBox="1">
            <a:spLocks noChangeArrowheads="1"/>
          </p:cNvSpPr>
          <p:nvPr/>
        </p:nvSpPr>
        <p:spPr bwMode="auto">
          <a:xfrm>
            <a:off x="1258888" y="115888"/>
            <a:ext cx="70993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2.4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频率混淆与消除频混的措施</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58955" name="Text Box 11"/>
          <p:cNvSpPr txBox="1"/>
          <p:nvPr/>
        </p:nvSpPr>
        <p:spPr>
          <a:xfrm>
            <a:off x="461963" y="817563"/>
            <a:ext cx="454183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2.4.2 </a:t>
            </a:r>
            <a:r>
              <a:rPr lang="zh-CN" altLang="en-US" sz="3200" b="1" dirty="0">
                <a:solidFill>
                  <a:srgbClr val="333399"/>
                </a:solidFill>
                <a:latin typeface="楷体_GB2312" pitchFamily="49" charset="-122"/>
              </a:rPr>
              <a:t>消除频混的措施</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1008"/>
                                        </p:tgtEl>
                                        <p:attrNameLst>
                                          <p:attrName>style.visibility</p:attrName>
                                        </p:attrNameLst>
                                      </p:cBhvr>
                                      <p:to>
                                        <p:strVal val="visible"/>
                                      </p:to>
                                    </p:set>
                                    <p:animEffect transition="in" filter="dissolve">
                                      <p:cBhvr>
                                        <p:cTn id="7" dur="500"/>
                                        <p:tgtEl>
                                          <p:spTgt spid="22610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1009"/>
                                        </p:tgtEl>
                                        <p:attrNameLst>
                                          <p:attrName>style.visibility</p:attrName>
                                        </p:attrNameLst>
                                      </p:cBhvr>
                                      <p:to>
                                        <p:strVal val="visible"/>
                                      </p:to>
                                    </p:set>
                                    <p:animEffect transition="in" filter="dissolve">
                                      <p:cBhvr>
                                        <p:cTn id="12" dur="500"/>
                                        <p:tgtEl>
                                          <p:spTgt spid="226100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261024"/>
                                        </p:tgtEl>
                                        <p:attrNameLst>
                                          <p:attrName>style.visibility</p:attrName>
                                        </p:attrNameLst>
                                      </p:cBhvr>
                                      <p:to>
                                        <p:strVal val="visible"/>
                                      </p:to>
                                    </p:set>
                                    <p:animEffect transition="in" filter="wipe(left)">
                                      <p:cBhvr>
                                        <p:cTn id="17" dur="500"/>
                                        <p:tgtEl>
                                          <p:spTgt spid="2261024"/>
                                        </p:tgtEl>
                                      </p:cBhvr>
                                    </p:animEffect>
                                  </p:childTnLst>
                                </p:cTn>
                              </p:par>
                              <p:par>
                                <p:cTn id="18" presetID="17" presetClass="entr" presetSubtype="8" fill="hold" nodeType="withEffect">
                                  <p:stCondLst>
                                    <p:cond delay="0"/>
                                  </p:stCondLst>
                                  <p:childTnLst>
                                    <p:set>
                                      <p:cBhvr>
                                        <p:cTn id="19" dur="1" fill="hold">
                                          <p:stCondLst>
                                            <p:cond delay="0"/>
                                          </p:stCondLst>
                                        </p:cTn>
                                        <p:tgtEl>
                                          <p:spTgt spid="2261028"/>
                                        </p:tgtEl>
                                        <p:attrNameLst>
                                          <p:attrName>style.visibility</p:attrName>
                                        </p:attrNameLst>
                                      </p:cBhvr>
                                      <p:to>
                                        <p:strVal val="visible"/>
                                      </p:to>
                                    </p:set>
                                    <p:anim calcmode="lin" valueType="num">
                                      <p:cBhvr>
                                        <p:cTn id="20" dur="500" fill="hold"/>
                                        <p:tgtEl>
                                          <p:spTgt spid="2261028"/>
                                        </p:tgtEl>
                                        <p:attrNameLst>
                                          <p:attrName>ppt_x</p:attrName>
                                        </p:attrNameLst>
                                      </p:cBhvr>
                                      <p:tavLst>
                                        <p:tav tm="0">
                                          <p:val>
                                            <p:strVal val="#ppt_x-#ppt_w/2"/>
                                          </p:val>
                                        </p:tav>
                                        <p:tav tm="100000">
                                          <p:val>
                                            <p:strVal val="#ppt_x"/>
                                          </p:val>
                                        </p:tav>
                                      </p:tavLst>
                                    </p:anim>
                                    <p:anim calcmode="lin" valueType="num">
                                      <p:cBhvr>
                                        <p:cTn id="21" dur="500" fill="hold"/>
                                        <p:tgtEl>
                                          <p:spTgt spid="2261028"/>
                                        </p:tgtEl>
                                        <p:attrNameLst>
                                          <p:attrName>ppt_y</p:attrName>
                                        </p:attrNameLst>
                                      </p:cBhvr>
                                      <p:tavLst>
                                        <p:tav tm="0">
                                          <p:val>
                                            <p:strVal val="#ppt_y"/>
                                          </p:val>
                                        </p:tav>
                                        <p:tav tm="100000">
                                          <p:val>
                                            <p:strVal val="#ppt_y"/>
                                          </p:val>
                                        </p:tav>
                                      </p:tavLst>
                                    </p:anim>
                                    <p:anim calcmode="lin" valueType="num">
                                      <p:cBhvr>
                                        <p:cTn id="22" dur="500" fill="hold"/>
                                        <p:tgtEl>
                                          <p:spTgt spid="2261028"/>
                                        </p:tgtEl>
                                        <p:attrNameLst>
                                          <p:attrName>ppt_w</p:attrName>
                                        </p:attrNameLst>
                                      </p:cBhvr>
                                      <p:tavLst>
                                        <p:tav tm="0">
                                          <p:val>
                                            <p:fltVal val="0.000000"/>
                                          </p:val>
                                        </p:tav>
                                        <p:tav tm="100000">
                                          <p:val>
                                            <p:strVal val="#ppt_w"/>
                                          </p:val>
                                        </p:tav>
                                      </p:tavLst>
                                    </p:anim>
                                    <p:anim calcmode="lin" valueType="num">
                                      <p:cBhvr>
                                        <p:cTn id="23" dur="500" fill="hold"/>
                                        <p:tgtEl>
                                          <p:spTgt spid="2261028"/>
                                        </p:tgtEl>
                                        <p:attrNameLst>
                                          <p:attrName>ppt_h</p:attrName>
                                        </p:attrNameLst>
                                      </p:cBhvr>
                                      <p:tavLst>
                                        <p:tav tm="0">
                                          <p:val>
                                            <p:strVal val="#ppt_h"/>
                                          </p:val>
                                        </p:tav>
                                        <p:tav tm="100000">
                                          <p:val>
                                            <p:strVal val="#ppt_h"/>
                                          </p:val>
                                        </p:tav>
                                      </p:tavLst>
                                    </p:anim>
                                  </p:childTnLst>
                                </p:cTn>
                              </p:par>
                              <p:par>
                                <p:cTn id="24" presetID="17" presetClass="entr" presetSubtype="1" fill="hold" nodeType="withEffect">
                                  <p:stCondLst>
                                    <p:cond delay="0"/>
                                  </p:stCondLst>
                                  <p:childTnLst>
                                    <p:set>
                                      <p:cBhvr>
                                        <p:cTn id="25" dur="1" fill="hold">
                                          <p:stCondLst>
                                            <p:cond delay="0"/>
                                          </p:stCondLst>
                                        </p:cTn>
                                        <p:tgtEl>
                                          <p:spTgt spid="2261029"/>
                                        </p:tgtEl>
                                        <p:attrNameLst>
                                          <p:attrName>style.visibility</p:attrName>
                                        </p:attrNameLst>
                                      </p:cBhvr>
                                      <p:to>
                                        <p:strVal val="visible"/>
                                      </p:to>
                                    </p:set>
                                    <p:anim calcmode="lin" valueType="num">
                                      <p:cBhvr>
                                        <p:cTn id="26" dur="500" fill="hold"/>
                                        <p:tgtEl>
                                          <p:spTgt spid="2261029"/>
                                        </p:tgtEl>
                                        <p:attrNameLst>
                                          <p:attrName>ppt_x</p:attrName>
                                        </p:attrNameLst>
                                      </p:cBhvr>
                                      <p:tavLst>
                                        <p:tav tm="0">
                                          <p:val>
                                            <p:strVal val="#ppt_x"/>
                                          </p:val>
                                        </p:tav>
                                        <p:tav tm="100000">
                                          <p:val>
                                            <p:strVal val="#ppt_x"/>
                                          </p:val>
                                        </p:tav>
                                      </p:tavLst>
                                    </p:anim>
                                    <p:anim calcmode="lin" valueType="num">
                                      <p:cBhvr>
                                        <p:cTn id="27" dur="500" fill="hold"/>
                                        <p:tgtEl>
                                          <p:spTgt spid="2261029"/>
                                        </p:tgtEl>
                                        <p:attrNameLst>
                                          <p:attrName>ppt_y</p:attrName>
                                        </p:attrNameLst>
                                      </p:cBhvr>
                                      <p:tavLst>
                                        <p:tav tm="0">
                                          <p:val>
                                            <p:strVal val="#ppt_y-#ppt_h/2"/>
                                          </p:val>
                                        </p:tav>
                                        <p:tav tm="100000">
                                          <p:val>
                                            <p:strVal val="#ppt_y"/>
                                          </p:val>
                                        </p:tav>
                                      </p:tavLst>
                                    </p:anim>
                                    <p:anim calcmode="lin" valueType="num">
                                      <p:cBhvr>
                                        <p:cTn id="28" dur="500" fill="hold"/>
                                        <p:tgtEl>
                                          <p:spTgt spid="2261029"/>
                                        </p:tgtEl>
                                        <p:attrNameLst>
                                          <p:attrName>ppt_w</p:attrName>
                                        </p:attrNameLst>
                                      </p:cBhvr>
                                      <p:tavLst>
                                        <p:tav tm="0">
                                          <p:val>
                                            <p:strVal val="#ppt_w"/>
                                          </p:val>
                                        </p:tav>
                                        <p:tav tm="100000">
                                          <p:val>
                                            <p:strVal val="#ppt_w"/>
                                          </p:val>
                                        </p:tav>
                                      </p:tavLst>
                                    </p:anim>
                                    <p:anim calcmode="lin" valueType="num">
                                      <p:cBhvr>
                                        <p:cTn id="29" dur="500" fill="hold"/>
                                        <p:tgtEl>
                                          <p:spTgt spid="2261029"/>
                                        </p:tgtEl>
                                        <p:attrNameLst>
                                          <p:attrName>ppt_h</p:attrName>
                                        </p:attrNameLst>
                                      </p:cBhvr>
                                      <p:tavLst>
                                        <p:tav tm="0">
                                          <p:val>
                                            <p:fltVal val="0.000000"/>
                                          </p:val>
                                        </p:tav>
                                        <p:tav tm="100000">
                                          <p:val>
                                            <p:strVal val="#ppt_h"/>
                                          </p:val>
                                        </p:tav>
                                      </p:tavLst>
                                    </p:anim>
                                  </p:childTnLst>
                                </p:cTn>
                              </p:par>
                              <p:par>
                                <p:cTn id="30" presetID="9" presetClass="entr" presetSubtype="0" fill="hold" grpId="0" nodeType="withEffect">
                                  <p:stCondLst>
                                    <p:cond delay="0"/>
                                  </p:stCondLst>
                                  <p:childTnLst>
                                    <p:set>
                                      <p:cBhvr>
                                        <p:cTn id="31" dur="1" fill="hold">
                                          <p:stCondLst>
                                            <p:cond delay="0"/>
                                          </p:stCondLst>
                                        </p:cTn>
                                        <p:tgtEl>
                                          <p:spTgt spid="2261013"/>
                                        </p:tgtEl>
                                        <p:attrNameLst>
                                          <p:attrName>style.visibility</p:attrName>
                                        </p:attrNameLst>
                                      </p:cBhvr>
                                      <p:to>
                                        <p:strVal val="visible"/>
                                      </p:to>
                                    </p:set>
                                    <p:animEffect transition="in" filter="dissolve">
                                      <p:cBhvr>
                                        <p:cTn id="32" dur="500"/>
                                        <p:tgtEl>
                                          <p:spTgt spid="226101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261016"/>
                                        </p:tgtEl>
                                        <p:attrNameLst>
                                          <p:attrName>style.visibility</p:attrName>
                                        </p:attrNameLst>
                                      </p:cBhvr>
                                      <p:to>
                                        <p:strVal val="visible"/>
                                      </p:to>
                                    </p:set>
                                    <p:animEffect transition="in" filter="dissolve">
                                      <p:cBhvr>
                                        <p:cTn id="35" dur="500"/>
                                        <p:tgtEl>
                                          <p:spTgt spid="2261016"/>
                                        </p:tgtEl>
                                      </p:cBhvr>
                                    </p:animEffect>
                                  </p:childTnLst>
                                </p:cTn>
                              </p:par>
                              <p:par>
                                <p:cTn id="36" presetID="9" presetClass="entr" presetSubtype="0" fill="hold" grpId="0" nodeType="withEffect">
                                  <p:stCondLst>
                                    <p:cond delay="0"/>
                                  </p:stCondLst>
                                  <p:iterate type="wd">
                                    <p:tmPct val="100000"/>
                                  </p:iterate>
                                  <p:childTnLst>
                                    <p:set>
                                      <p:cBhvr>
                                        <p:cTn id="37" dur="1" fill="hold">
                                          <p:stCondLst>
                                            <p:cond delay="0"/>
                                          </p:stCondLst>
                                        </p:cTn>
                                        <p:tgtEl>
                                          <p:spTgt spid="2261019"/>
                                        </p:tgtEl>
                                        <p:attrNameLst>
                                          <p:attrName>style.visibility</p:attrName>
                                        </p:attrNameLst>
                                      </p:cBhvr>
                                      <p:to>
                                        <p:strVal val="visible"/>
                                      </p:to>
                                    </p:set>
                                    <p:animEffect transition="in" filter="dissolve">
                                      <p:cBhvr>
                                        <p:cTn id="38" dur="300"/>
                                        <p:tgtEl>
                                          <p:spTgt spid="2261019"/>
                                        </p:tgtEl>
                                      </p:cBhvr>
                                    </p:animEffect>
                                  </p:childTnLst>
                                </p:cTn>
                              </p:par>
                              <p:par>
                                <p:cTn id="39" presetID="9" presetClass="entr" presetSubtype="0" fill="hold" grpId="0" nodeType="withEffect">
                                  <p:stCondLst>
                                    <p:cond delay="0"/>
                                  </p:stCondLst>
                                  <p:iterate type="wd">
                                    <p:tmPct val="100000"/>
                                  </p:iterate>
                                  <p:childTnLst>
                                    <p:set>
                                      <p:cBhvr>
                                        <p:cTn id="40" dur="1" fill="hold">
                                          <p:stCondLst>
                                            <p:cond delay="0"/>
                                          </p:stCondLst>
                                        </p:cTn>
                                        <p:tgtEl>
                                          <p:spTgt spid="2261022"/>
                                        </p:tgtEl>
                                        <p:attrNameLst>
                                          <p:attrName>style.visibility</p:attrName>
                                        </p:attrNameLst>
                                      </p:cBhvr>
                                      <p:to>
                                        <p:strVal val="visible"/>
                                      </p:to>
                                    </p:set>
                                    <p:animEffect transition="in" filter="dissolve">
                                      <p:cBhvr>
                                        <p:cTn id="41" dur="300"/>
                                        <p:tgtEl>
                                          <p:spTgt spid="2261022"/>
                                        </p:tgtEl>
                                      </p:cBhvr>
                                    </p:animEffect>
                                  </p:childTnLst>
                                </p:cTn>
                              </p:par>
                              <p:par>
                                <p:cTn id="42" presetID="9" presetClass="entr" presetSubtype="0" fill="hold" grpId="0" nodeType="withEffect">
                                  <p:stCondLst>
                                    <p:cond delay="0"/>
                                  </p:stCondLst>
                                  <p:iterate type="wd">
                                    <p:tmPct val="100000"/>
                                  </p:iterate>
                                  <p:childTnLst>
                                    <p:set>
                                      <p:cBhvr>
                                        <p:cTn id="43" dur="1" fill="hold">
                                          <p:stCondLst>
                                            <p:cond delay="0"/>
                                          </p:stCondLst>
                                        </p:cTn>
                                        <p:tgtEl>
                                          <p:spTgt spid="2261030"/>
                                        </p:tgtEl>
                                        <p:attrNameLst>
                                          <p:attrName>style.visibility</p:attrName>
                                        </p:attrNameLst>
                                      </p:cBhvr>
                                      <p:to>
                                        <p:strVal val="visible"/>
                                      </p:to>
                                    </p:set>
                                    <p:animEffect transition="in" filter="dissolve">
                                      <p:cBhvr>
                                        <p:cTn id="44" dur="300"/>
                                        <p:tgtEl>
                                          <p:spTgt spid="2261030"/>
                                        </p:tgtEl>
                                      </p:cBhvr>
                                    </p:animEffect>
                                  </p:childTnLst>
                                </p:cTn>
                              </p:par>
                              <p:par>
                                <p:cTn id="45" presetID="9" presetClass="entr" presetSubtype="0" fill="hold" grpId="0" nodeType="withEffect">
                                  <p:stCondLst>
                                    <p:cond delay="0"/>
                                  </p:stCondLst>
                                  <p:iterate type="wd">
                                    <p:tmPct val="100000"/>
                                  </p:iterate>
                                  <p:childTnLst>
                                    <p:set>
                                      <p:cBhvr>
                                        <p:cTn id="46" dur="1" fill="hold">
                                          <p:stCondLst>
                                            <p:cond delay="0"/>
                                          </p:stCondLst>
                                        </p:cTn>
                                        <p:tgtEl>
                                          <p:spTgt spid="2261034"/>
                                        </p:tgtEl>
                                        <p:attrNameLst>
                                          <p:attrName>style.visibility</p:attrName>
                                        </p:attrNameLst>
                                      </p:cBhvr>
                                      <p:to>
                                        <p:strVal val="visible"/>
                                      </p:to>
                                    </p:set>
                                    <p:animEffect transition="in" filter="dissolve">
                                      <p:cBhvr>
                                        <p:cTn id="47" dur="300"/>
                                        <p:tgtEl>
                                          <p:spTgt spid="2261034"/>
                                        </p:tgtEl>
                                      </p:cBhvr>
                                    </p:animEffect>
                                  </p:childTnLst>
                                </p:cTn>
                              </p:par>
                              <p:par>
                                <p:cTn id="48" presetID="9" presetClass="entr" presetSubtype="0" fill="hold" grpId="0" nodeType="withEffect">
                                  <p:stCondLst>
                                    <p:cond delay="0"/>
                                  </p:stCondLst>
                                  <p:iterate type="wd">
                                    <p:tmPct val="100000"/>
                                  </p:iterate>
                                  <p:childTnLst>
                                    <p:set>
                                      <p:cBhvr>
                                        <p:cTn id="49" dur="1" fill="hold">
                                          <p:stCondLst>
                                            <p:cond delay="0"/>
                                          </p:stCondLst>
                                        </p:cTn>
                                        <p:tgtEl>
                                          <p:spTgt spid="2261031"/>
                                        </p:tgtEl>
                                        <p:attrNameLst>
                                          <p:attrName>style.visibility</p:attrName>
                                        </p:attrNameLst>
                                      </p:cBhvr>
                                      <p:to>
                                        <p:strVal val="visible"/>
                                      </p:to>
                                    </p:set>
                                    <p:animEffect transition="in" filter="dissolve">
                                      <p:cBhvr>
                                        <p:cTn id="50" dur="300"/>
                                        <p:tgtEl>
                                          <p:spTgt spid="2261031"/>
                                        </p:tgtEl>
                                      </p:cBhvr>
                                    </p:animEffect>
                                  </p:childTnLst>
                                </p:cTn>
                              </p:par>
                              <p:par>
                                <p:cTn id="51" presetID="9" presetClass="entr" presetSubtype="0" fill="hold" grpId="0" nodeType="withEffect">
                                  <p:stCondLst>
                                    <p:cond delay="0"/>
                                  </p:stCondLst>
                                  <p:iterate type="wd">
                                    <p:tmPct val="100000"/>
                                  </p:iterate>
                                  <p:childTnLst>
                                    <p:set>
                                      <p:cBhvr>
                                        <p:cTn id="52" dur="1" fill="hold">
                                          <p:stCondLst>
                                            <p:cond delay="0"/>
                                          </p:stCondLst>
                                        </p:cTn>
                                        <p:tgtEl>
                                          <p:spTgt spid="2261035"/>
                                        </p:tgtEl>
                                        <p:attrNameLst>
                                          <p:attrName>style.visibility</p:attrName>
                                        </p:attrNameLst>
                                      </p:cBhvr>
                                      <p:to>
                                        <p:strVal val="visible"/>
                                      </p:to>
                                    </p:set>
                                    <p:animEffect transition="in" filter="dissolve">
                                      <p:cBhvr>
                                        <p:cTn id="53" dur="300"/>
                                        <p:tgtEl>
                                          <p:spTgt spid="2261035"/>
                                        </p:tgtEl>
                                      </p:cBhvr>
                                    </p:animEffect>
                                  </p:childTnLst>
                                </p:cTn>
                              </p:par>
                              <p:par>
                                <p:cTn id="54" presetID="9" presetClass="entr" presetSubtype="0" fill="hold" grpId="0" nodeType="withEffect">
                                  <p:stCondLst>
                                    <p:cond delay="0"/>
                                  </p:stCondLst>
                                  <p:iterate type="wd">
                                    <p:tmPct val="100000"/>
                                  </p:iterate>
                                  <p:childTnLst>
                                    <p:set>
                                      <p:cBhvr>
                                        <p:cTn id="55" dur="1" fill="hold">
                                          <p:stCondLst>
                                            <p:cond delay="0"/>
                                          </p:stCondLst>
                                        </p:cTn>
                                        <p:tgtEl>
                                          <p:spTgt spid="2261032"/>
                                        </p:tgtEl>
                                        <p:attrNameLst>
                                          <p:attrName>style.visibility</p:attrName>
                                        </p:attrNameLst>
                                      </p:cBhvr>
                                      <p:to>
                                        <p:strVal val="visible"/>
                                      </p:to>
                                    </p:set>
                                    <p:animEffect transition="in" filter="dissolve">
                                      <p:cBhvr>
                                        <p:cTn id="56" dur="300"/>
                                        <p:tgtEl>
                                          <p:spTgt spid="2261032"/>
                                        </p:tgtEl>
                                      </p:cBhvr>
                                    </p:animEffect>
                                  </p:childTnLst>
                                </p:cTn>
                              </p:par>
                              <p:par>
                                <p:cTn id="57" presetID="9" presetClass="entr" presetSubtype="0" fill="hold" grpId="0" nodeType="withEffect">
                                  <p:stCondLst>
                                    <p:cond delay="0"/>
                                  </p:stCondLst>
                                  <p:iterate type="wd">
                                    <p:tmPct val="100000"/>
                                  </p:iterate>
                                  <p:childTnLst>
                                    <p:set>
                                      <p:cBhvr>
                                        <p:cTn id="58" dur="1" fill="hold">
                                          <p:stCondLst>
                                            <p:cond delay="0"/>
                                          </p:stCondLst>
                                        </p:cTn>
                                        <p:tgtEl>
                                          <p:spTgt spid="2261036"/>
                                        </p:tgtEl>
                                        <p:attrNameLst>
                                          <p:attrName>style.visibility</p:attrName>
                                        </p:attrNameLst>
                                      </p:cBhvr>
                                      <p:to>
                                        <p:strVal val="visible"/>
                                      </p:to>
                                    </p:set>
                                    <p:animEffect transition="in" filter="dissolve">
                                      <p:cBhvr>
                                        <p:cTn id="59" dur="300"/>
                                        <p:tgtEl>
                                          <p:spTgt spid="2261036"/>
                                        </p:tgtEl>
                                      </p:cBhvr>
                                    </p:animEffect>
                                  </p:childTnLst>
                                </p:cTn>
                              </p:par>
                              <p:par>
                                <p:cTn id="60" presetID="9" presetClass="entr" presetSubtype="0" fill="hold" grpId="0" nodeType="withEffect">
                                  <p:stCondLst>
                                    <p:cond delay="0"/>
                                  </p:stCondLst>
                                  <p:iterate type="wd">
                                    <p:tmPct val="100000"/>
                                  </p:iterate>
                                  <p:childTnLst>
                                    <p:set>
                                      <p:cBhvr>
                                        <p:cTn id="61" dur="1" fill="hold">
                                          <p:stCondLst>
                                            <p:cond delay="0"/>
                                          </p:stCondLst>
                                        </p:cTn>
                                        <p:tgtEl>
                                          <p:spTgt spid="2261033"/>
                                        </p:tgtEl>
                                        <p:attrNameLst>
                                          <p:attrName>style.visibility</p:attrName>
                                        </p:attrNameLst>
                                      </p:cBhvr>
                                      <p:to>
                                        <p:strVal val="visible"/>
                                      </p:to>
                                    </p:set>
                                    <p:animEffect transition="in" filter="dissolve">
                                      <p:cBhvr>
                                        <p:cTn id="62" dur="300"/>
                                        <p:tgtEl>
                                          <p:spTgt spid="2261033"/>
                                        </p:tgtEl>
                                      </p:cBhvr>
                                    </p:animEffect>
                                  </p:childTnLst>
                                </p:cTn>
                              </p:par>
                              <p:par>
                                <p:cTn id="63" presetID="9" presetClass="entr" presetSubtype="0" fill="hold" grpId="0" nodeType="withEffect">
                                  <p:stCondLst>
                                    <p:cond delay="0"/>
                                  </p:stCondLst>
                                  <p:iterate type="wd">
                                    <p:tmPct val="100000"/>
                                  </p:iterate>
                                  <p:childTnLst>
                                    <p:set>
                                      <p:cBhvr>
                                        <p:cTn id="64" dur="1" fill="hold">
                                          <p:stCondLst>
                                            <p:cond delay="0"/>
                                          </p:stCondLst>
                                        </p:cTn>
                                        <p:tgtEl>
                                          <p:spTgt spid="2261037"/>
                                        </p:tgtEl>
                                        <p:attrNameLst>
                                          <p:attrName>style.visibility</p:attrName>
                                        </p:attrNameLst>
                                      </p:cBhvr>
                                      <p:to>
                                        <p:strVal val="visible"/>
                                      </p:to>
                                    </p:set>
                                    <p:animEffect transition="in" filter="dissolve">
                                      <p:cBhvr>
                                        <p:cTn id="65" dur="300"/>
                                        <p:tgtEl>
                                          <p:spTgt spid="22610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1008" grpId="0" bldLvl="0" animBg="1"/>
      <p:bldP spid="2261009" grpId="0" bldLvl="0" animBg="1"/>
      <p:bldP spid="2261013" grpId="0" bldLvl="0" animBg="1"/>
      <p:bldP spid="2261016" grpId="0" bldLvl="0" animBg="1"/>
      <p:bldP spid="2261019" grpId="0" bldLvl="0" animBg="1"/>
      <p:bldP spid="2261022" grpId="0" bldLvl="0" animBg="1"/>
      <p:bldP spid="2261024" grpId="0" bldLvl="0" animBg="1"/>
      <p:bldP spid="2261030" grpId="0"/>
      <p:bldP spid="2261031" grpId="0"/>
      <p:bldP spid="2261032" grpId="0"/>
      <p:bldP spid="2261033" grpId="0"/>
      <p:bldP spid="2261034" grpId="0"/>
      <p:bldP spid="2261035" grpId="0"/>
      <p:bldP spid="2261036" grpId="0"/>
      <p:bldP spid="2261037"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517775"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1. </a:t>
            </a:r>
            <a:r>
              <a:rPr lang="zh-CN" altLang="en-US" sz="3200" b="1" dirty="0">
                <a:solidFill>
                  <a:srgbClr val="333399"/>
                </a:solidFill>
                <a:latin typeface="楷体_GB2312" pitchFamily="49" charset="-122"/>
              </a:rPr>
              <a:t>常规采样</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76814" name="矩形 76813"/>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spcBef>
                <a:spcPct val="40000"/>
              </a:spcBef>
              <a:buNone/>
            </a:pPr>
            <a:r>
              <a:rPr lang="zh-CN" altLang="en-US" sz="2800" b="1" dirty="0"/>
              <a:t>采样连续进行，采样频率由采样定理一决定。</a:t>
            </a:r>
            <a:endParaRPr lang="zh-CN" altLang="en-US" sz="2800" b="1" dirty="0"/>
          </a:p>
          <a:p>
            <a:pPr marL="0" lvl="0" indent="357505" defTabSz="914400">
              <a:spcBef>
                <a:spcPct val="40000"/>
              </a:spcBef>
              <a:buNone/>
            </a:pPr>
            <a:r>
              <a:rPr lang="zh-CN" altLang="en-US" sz="2800" b="1" dirty="0"/>
              <a:t>优点：不丢失任何信息。</a:t>
            </a:r>
            <a:r>
              <a:rPr lang="en-US" altLang="zh-CN" sz="2800" b="1"/>
              <a:t>——“</a:t>
            </a:r>
            <a:r>
              <a:rPr lang="zh-CN" altLang="en-US" sz="2800" b="1" dirty="0">
                <a:solidFill>
                  <a:srgbClr val="FF0000"/>
                </a:solidFill>
              </a:rPr>
              <a:t>无缝采集的基础</a:t>
            </a:r>
            <a:r>
              <a:rPr lang="zh-CN" altLang="en-US" sz="2800" b="1" dirty="0"/>
              <a:t>”</a:t>
            </a:r>
            <a:endParaRPr lang="zh-CN" altLang="en-US" sz="2800" b="1" dirty="0"/>
          </a:p>
          <a:p>
            <a:pPr marL="0" lvl="0" indent="357505" defTabSz="914400">
              <a:spcBef>
                <a:spcPct val="40000"/>
              </a:spcBef>
              <a:buNone/>
            </a:pPr>
            <a:r>
              <a:rPr lang="zh-CN" altLang="en-US" sz="2800" b="1" dirty="0"/>
              <a:t>缺点：内存消耗大，数据处理效率低。</a:t>
            </a:r>
            <a:endParaRPr lang="zh-CN" altLang="en-US" sz="2800" b="1" dirty="0"/>
          </a:p>
          <a:p>
            <a:pPr marL="0" lvl="0" indent="357505" defTabSz="914400">
              <a:spcBef>
                <a:spcPct val="40000"/>
              </a:spcBef>
              <a:buNone/>
            </a:pPr>
            <a:endParaRPr lang="zh-CN" altLang="en-US" sz="2800" b="1" dirty="0"/>
          </a:p>
          <a:p>
            <a:pPr marL="0" lvl="0" indent="357505" defTabSz="914400">
              <a:spcBef>
                <a:spcPct val="40000"/>
              </a:spcBef>
              <a:buNone/>
            </a:pPr>
            <a:endParaRPr lang="zh-CN" altLang="en-US" sz="2800" b="1" dirty="0"/>
          </a:p>
          <a:p>
            <a:pPr marL="0" lvl="0" indent="357505" defTabSz="914400">
              <a:spcBef>
                <a:spcPct val="40000"/>
              </a:spcBef>
              <a:buNone/>
            </a:pPr>
            <a:endParaRPr lang="zh-CN" altLang="en-US" sz="2800" b="1" dirty="0"/>
          </a:p>
          <a:p>
            <a:pPr marL="0" lvl="0" indent="357505" defTabSz="914400">
              <a:spcBef>
                <a:spcPct val="40000"/>
              </a:spcBef>
              <a:buNone/>
            </a:pPr>
            <a:r>
              <a:rPr lang="zh-CN" altLang="en-US" sz="2800" b="1" dirty="0"/>
              <a:t>模拟信号的频率越高，测量时间越长，所需要的数据存储空间就越大。</a:t>
            </a:r>
            <a:endParaRPr lang="zh-CN" altLang="en-US" sz="2800" b="1" dirty="0"/>
          </a:p>
        </p:txBody>
      </p:sp>
      <p:graphicFrame>
        <p:nvGraphicFramePr>
          <p:cNvPr id="76815" name="对象 76814"/>
          <p:cNvGraphicFramePr/>
          <p:nvPr/>
        </p:nvGraphicFramePr>
        <p:xfrm>
          <a:off x="2552700" y="3644900"/>
          <a:ext cx="3278188" cy="425450"/>
        </p:xfrm>
        <a:graphic>
          <a:graphicData uri="http://schemas.openxmlformats.org/presentationml/2006/ole">
            <mc:AlternateContent xmlns:mc="http://schemas.openxmlformats.org/markup-compatibility/2006">
              <mc:Choice xmlns:v="urn:schemas-microsoft-com:vml" Requires="v">
                <p:oleObj spid="_x0000_s3107" name="" r:id="rId1" imgW="1942465" imgH="292100" progId="Equation.DSMT4">
                  <p:embed/>
                </p:oleObj>
              </mc:Choice>
              <mc:Fallback>
                <p:oleObj name="" r:id="rId1" imgW="1942465" imgH="292100" progId="Equation.DSMT4">
                  <p:embed/>
                  <p:pic>
                    <p:nvPicPr>
                      <p:cNvPr id="0" name="图片 3106"/>
                      <p:cNvPicPr/>
                      <p:nvPr/>
                    </p:nvPicPr>
                    <p:blipFill>
                      <a:blip r:embed="rId2"/>
                      <a:stretch>
                        <a:fillRect/>
                      </a:stretch>
                    </p:blipFill>
                    <p:spPr>
                      <a:xfrm>
                        <a:off x="2552700" y="3644900"/>
                        <a:ext cx="3278188" cy="425450"/>
                      </a:xfrm>
                      <a:prstGeom prst="rect">
                        <a:avLst/>
                      </a:prstGeom>
                      <a:noFill/>
                      <a:ln w="38100">
                        <a:noFill/>
                        <a:miter/>
                      </a:ln>
                    </p:spPr>
                  </p:pic>
                </p:oleObj>
              </mc:Fallback>
            </mc:AlternateContent>
          </a:graphicData>
        </a:graphic>
      </p:graphicFrame>
      <p:graphicFrame>
        <p:nvGraphicFramePr>
          <p:cNvPr id="76816" name="对象 76815"/>
          <p:cNvGraphicFramePr/>
          <p:nvPr/>
        </p:nvGraphicFramePr>
        <p:xfrm>
          <a:off x="2552700" y="4292600"/>
          <a:ext cx="3095625" cy="838200"/>
        </p:xfrm>
        <a:graphic>
          <a:graphicData uri="http://schemas.openxmlformats.org/presentationml/2006/ole">
            <mc:AlternateContent xmlns:mc="http://schemas.openxmlformats.org/markup-compatibility/2006">
              <mc:Choice xmlns:v="urn:schemas-microsoft-com:vml" Requires="v">
                <p:oleObj spid="_x0000_s3106" name="" r:id="rId3" imgW="1548765" imgH="546100" progId="Equation.DSMT4">
                  <p:embed/>
                </p:oleObj>
              </mc:Choice>
              <mc:Fallback>
                <p:oleObj name="" r:id="rId3" imgW="1548765" imgH="546100" progId="Equation.DSMT4">
                  <p:embed/>
                  <p:pic>
                    <p:nvPicPr>
                      <p:cNvPr id="0" name="图片 3105"/>
                      <p:cNvPicPr/>
                      <p:nvPr/>
                    </p:nvPicPr>
                    <p:blipFill>
                      <a:blip r:embed="rId4"/>
                      <a:stretch>
                        <a:fillRect/>
                      </a:stretch>
                    </p:blipFill>
                    <p:spPr>
                      <a:xfrm>
                        <a:off x="2552700" y="4292600"/>
                        <a:ext cx="3095625" cy="838200"/>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6814">
                                            <p:txEl>
                                              <p:charRg st="0" end="21"/>
                                            </p:txEl>
                                          </p:spTgt>
                                        </p:tgtEl>
                                        <p:attrNameLst>
                                          <p:attrName>style.visibility</p:attrName>
                                        </p:attrNameLst>
                                      </p:cBhvr>
                                      <p:to>
                                        <p:strVal val="visible"/>
                                      </p:to>
                                    </p:set>
                                    <p:animEffect transition="in" filter="blinds(horizontal)">
                                      <p:cBhvr>
                                        <p:cTn id="12" dur="500"/>
                                        <p:tgtEl>
                                          <p:spTgt spid="76814">
                                            <p:txEl>
                                              <p:charRg st="0" end="2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6814">
                                            <p:txEl>
                                              <p:charRg st="21" end="44"/>
                                            </p:txEl>
                                          </p:spTgt>
                                        </p:tgtEl>
                                        <p:attrNameLst>
                                          <p:attrName>style.visibility</p:attrName>
                                        </p:attrNameLst>
                                      </p:cBhvr>
                                      <p:to>
                                        <p:strVal val="visible"/>
                                      </p:to>
                                    </p:set>
                                    <p:animEffect transition="in" filter="blinds(horizontal)">
                                      <p:cBhvr>
                                        <p:cTn id="17" dur="500"/>
                                        <p:tgtEl>
                                          <p:spTgt spid="76814">
                                            <p:txEl>
                                              <p:charRg st="21" end="44"/>
                                            </p:txEl>
                                          </p:spTgt>
                                        </p:tgtEl>
                                      </p:cBhvr>
                                    </p:animEffect>
                                  </p:childTnLst>
                                </p:cTn>
                              </p:par>
                            </p:childTnLst>
                          </p:cTn>
                        </p:par>
                        <p:par>
                          <p:cTn id="18" fill="hold">
                            <p:stCondLst>
                              <p:cond delay="500"/>
                            </p:stCondLst>
                            <p:childTnLst>
                              <p:par>
                                <p:cTn id="19" presetID="3" presetClass="entr" presetSubtype="10" fill="hold" grpId="0" nodeType="afterEffect">
                                  <p:stCondLst>
                                    <p:cond delay="0"/>
                                  </p:stCondLst>
                                  <p:childTnLst>
                                    <p:set>
                                      <p:cBhvr>
                                        <p:cTn id="20" dur="1" fill="hold">
                                          <p:stCondLst>
                                            <p:cond delay="0"/>
                                          </p:stCondLst>
                                        </p:cTn>
                                        <p:tgtEl>
                                          <p:spTgt spid="76814">
                                            <p:txEl>
                                              <p:charRg st="44" end="62"/>
                                            </p:txEl>
                                          </p:spTgt>
                                        </p:tgtEl>
                                        <p:attrNameLst>
                                          <p:attrName>style.visibility</p:attrName>
                                        </p:attrNameLst>
                                      </p:cBhvr>
                                      <p:to>
                                        <p:strVal val="visible"/>
                                      </p:to>
                                    </p:set>
                                    <p:animEffect transition="in" filter="blinds(horizontal)">
                                      <p:cBhvr>
                                        <p:cTn id="21" dur="500"/>
                                        <p:tgtEl>
                                          <p:spTgt spid="76814">
                                            <p:txEl>
                                              <p:charRg st="44" end="6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76815"/>
                                        </p:tgtEl>
                                        <p:attrNameLst>
                                          <p:attrName>style.visibility</p:attrName>
                                        </p:attrNameLst>
                                      </p:cBhvr>
                                      <p:to>
                                        <p:strVal val="visible"/>
                                      </p:to>
                                    </p:set>
                                    <p:animEffect transition="in" filter="blinds(horizontal)">
                                      <p:cBhvr>
                                        <p:cTn id="26" dur="500"/>
                                        <p:tgtEl>
                                          <p:spTgt spid="76815"/>
                                        </p:tgtEl>
                                      </p:cBhvr>
                                    </p:animEffect>
                                  </p:childTnLst>
                                </p:cTn>
                              </p:par>
                              <p:par>
                                <p:cTn id="27" presetID="3" presetClass="entr" presetSubtype="10" fill="hold" nodeType="withEffect">
                                  <p:stCondLst>
                                    <p:cond delay="0"/>
                                  </p:stCondLst>
                                  <p:childTnLst>
                                    <p:set>
                                      <p:cBhvr>
                                        <p:cTn id="28" dur="1" fill="hold">
                                          <p:stCondLst>
                                            <p:cond delay="0"/>
                                          </p:stCondLst>
                                        </p:cTn>
                                        <p:tgtEl>
                                          <p:spTgt spid="76816"/>
                                        </p:tgtEl>
                                        <p:attrNameLst>
                                          <p:attrName>style.visibility</p:attrName>
                                        </p:attrNameLst>
                                      </p:cBhvr>
                                      <p:to>
                                        <p:strVal val="visible"/>
                                      </p:to>
                                    </p:set>
                                    <p:animEffect transition="in" filter="blinds(horizontal)">
                                      <p:cBhvr>
                                        <p:cTn id="29" dur="500"/>
                                        <p:tgtEl>
                                          <p:spTgt spid="76816"/>
                                        </p:tgtEl>
                                      </p:cBhvr>
                                    </p:animEffect>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76814">
                                            <p:txEl>
                                              <p:charRg st="65" end="97"/>
                                            </p:txEl>
                                          </p:spTgt>
                                        </p:tgtEl>
                                        <p:attrNameLst>
                                          <p:attrName>style.visibility</p:attrName>
                                        </p:attrNameLst>
                                      </p:cBhvr>
                                      <p:to>
                                        <p:strVal val="visible"/>
                                      </p:to>
                                    </p:set>
                                    <p:animEffect transition="in" filter="blinds(horizontal)">
                                      <p:cBhvr>
                                        <p:cTn id="34" dur="500"/>
                                        <p:tgtEl>
                                          <p:spTgt spid="76814">
                                            <p:txEl>
                                              <p:charRg st="65" end="9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76814" grpId="0" uiExpand="1"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517775"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 </a:t>
            </a:r>
            <a:r>
              <a:rPr lang="zh-CN" altLang="en-US" sz="3200" b="1" dirty="0">
                <a:solidFill>
                  <a:srgbClr val="333399"/>
                </a:solidFill>
                <a:latin typeface="楷体_GB2312" pitchFamily="49" charset="-122"/>
              </a:rPr>
              <a:t>间歇采样</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77829" name="矩形 77828"/>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buNone/>
            </a:pPr>
            <a:r>
              <a:rPr lang="zh-CN" altLang="en-US" sz="2400" b="1" dirty="0"/>
              <a:t>采样间歇进行。</a:t>
            </a:r>
            <a:endParaRPr lang="zh-CN" altLang="en-US" sz="2400" b="1" dirty="0"/>
          </a:p>
          <a:p>
            <a:pPr marL="0" lvl="0" indent="357505" defTabSz="914400">
              <a:buNone/>
            </a:pPr>
            <a:endParaRPr lang="zh-CN" altLang="en-US" sz="2400" b="1" dirty="0"/>
          </a:p>
          <a:p>
            <a:pPr marL="0" lvl="0" indent="357505" defTabSz="914400">
              <a:buNone/>
            </a:pPr>
            <a:endParaRPr lang="zh-CN" altLang="en-US" sz="2400" b="1" dirty="0"/>
          </a:p>
          <a:p>
            <a:pPr marL="0" lvl="0" indent="357505" defTabSz="914400">
              <a:buNone/>
            </a:pPr>
            <a:r>
              <a:rPr lang="zh-CN" altLang="en-US" sz="2400" b="1" dirty="0"/>
              <a:t>优点：存储空间占用小。        缺点：以丢失信息为代价。</a:t>
            </a:r>
            <a:endParaRPr lang="zh-CN" altLang="en-US" sz="2400" b="1" dirty="0"/>
          </a:p>
          <a:p>
            <a:pPr marL="0" lvl="0" indent="357505" defTabSz="914400">
              <a:spcBef>
                <a:spcPct val="35000"/>
              </a:spcBef>
              <a:buNone/>
            </a:pPr>
            <a:endParaRPr lang="zh-CN" altLang="en-US" sz="2400" b="1" dirty="0"/>
          </a:p>
          <a:p>
            <a:pPr marL="0" lvl="0" indent="357505" defTabSz="914400">
              <a:spcBef>
                <a:spcPct val="35000"/>
              </a:spcBef>
              <a:buNone/>
            </a:pPr>
            <a:endParaRPr lang="zh-CN" altLang="en-US" sz="2400" b="1" dirty="0"/>
          </a:p>
          <a:p>
            <a:pPr marL="0" lvl="0" indent="357505" defTabSz="914400">
              <a:spcBef>
                <a:spcPct val="35000"/>
              </a:spcBef>
              <a:buNone/>
            </a:pPr>
            <a:endParaRPr lang="zh-CN" altLang="en-US" sz="2400" b="1" dirty="0"/>
          </a:p>
          <a:p>
            <a:pPr marL="0" lvl="0" indent="357505" defTabSz="914400">
              <a:spcBef>
                <a:spcPct val="35000"/>
              </a:spcBef>
              <a:buNone/>
            </a:pPr>
            <a:endParaRPr lang="zh-CN" altLang="en-US" sz="2400" b="1" dirty="0"/>
          </a:p>
          <a:p>
            <a:pPr marL="0" lvl="0" indent="357505" defTabSz="914400">
              <a:buNone/>
            </a:pPr>
            <a:r>
              <a:rPr lang="zh-CN" altLang="en-US" sz="2400" b="1" dirty="0"/>
              <a:t>合理调整间歇时间与采样时间比，可记录下所有</a:t>
            </a:r>
            <a:r>
              <a:rPr lang="zh-CN" altLang="en-US" sz="2400" b="1" dirty="0">
                <a:solidFill>
                  <a:srgbClr val="FF0000"/>
                </a:solidFill>
              </a:rPr>
              <a:t>必要</a:t>
            </a:r>
            <a:r>
              <a:rPr lang="zh-CN" altLang="en-US" sz="2400" b="1" dirty="0"/>
              <a:t>数据</a:t>
            </a:r>
            <a:endParaRPr lang="zh-CN" altLang="en-US" sz="2400" b="1" dirty="0"/>
          </a:p>
        </p:txBody>
      </p:sp>
      <p:graphicFrame>
        <p:nvGraphicFramePr>
          <p:cNvPr id="77833" name="对象 77832"/>
          <p:cNvGraphicFramePr/>
          <p:nvPr/>
        </p:nvGraphicFramePr>
        <p:xfrm>
          <a:off x="2159000" y="2195513"/>
          <a:ext cx="4968875" cy="1017587"/>
        </p:xfrm>
        <a:graphic>
          <a:graphicData uri="http://schemas.openxmlformats.org/presentationml/2006/ole">
            <mc:AlternateContent xmlns:mc="http://schemas.openxmlformats.org/markup-compatibility/2006">
              <mc:Choice xmlns:v="urn:schemas-microsoft-com:vml" Requires="v">
                <p:oleObj spid="_x0000_s3108" name="" r:id="rId1" imgW="4276090" imgH="878840" progId="Visio.Drawing.11">
                  <p:embed/>
                </p:oleObj>
              </mc:Choice>
              <mc:Fallback>
                <p:oleObj name="" r:id="rId1" imgW="4276090" imgH="878840" progId="Visio.Drawing.11">
                  <p:embed/>
                  <p:pic>
                    <p:nvPicPr>
                      <p:cNvPr id="0" name="图片 3107"/>
                      <p:cNvPicPr/>
                      <p:nvPr/>
                    </p:nvPicPr>
                    <p:blipFill>
                      <a:blip r:embed="rId2"/>
                      <a:stretch>
                        <a:fillRect/>
                      </a:stretch>
                    </p:blipFill>
                    <p:spPr>
                      <a:xfrm>
                        <a:off x="2159000" y="2195513"/>
                        <a:ext cx="4968875" cy="1017587"/>
                      </a:xfrm>
                      <a:prstGeom prst="rect">
                        <a:avLst/>
                      </a:prstGeom>
                      <a:noFill/>
                      <a:ln w="38100">
                        <a:noFill/>
                        <a:miter/>
                      </a:ln>
                    </p:spPr>
                  </p:pic>
                </p:oleObj>
              </mc:Fallback>
            </mc:AlternateContent>
          </a:graphicData>
        </a:graphic>
      </p:graphicFrame>
      <p:graphicFrame>
        <p:nvGraphicFramePr>
          <p:cNvPr id="77834" name="对象 77833"/>
          <p:cNvGraphicFramePr/>
          <p:nvPr/>
        </p:nvGraphicFramePr>
        <p:xfrm>
          <a:off x="1017588" y="4941888"/>
          <a:ext cx="3914775" cy="765175"/>
        </p:xfrm>
        <a:graphic>
          <a:graphicData uri="http://schemas.openxmlformats.org/presentationml/2006/ole">
            <mc:AlternateContent xmlns:mc="http://schemas.openxmlformats.org/markup-compatibility/2006">
              <mc:Choice xmlns:v="urn:schemas-microsoft-com:vml" Requires="v">
                <p:oleObj spid="_x0000_s3103" name="" r:id="rId3" imgW="2983230" imgH="584200" progId="Equation.DSMT4">
                  <p:embed/>
                </p:oleObj>
              </mc:Choice>
              <mc:Fallback>
                <p:oleObj name="" r:id="rId3" imgW="2983230" imgH="584200" progId="Equation.DSMT4">
                  <p:embed/>
                  <p:pic>
                    <p:nvPicPr>
                      <p:cNvPr id="0" name="图片 3102"/>
                      <p:cNvPicPr/>
                      <p:nvPr/>
                    </p:nvPicPr>
                    <p:blipFill>
                      <a:blip r:embed="rId4"/>
                      <a:stretch>
                        <a:fillRect/>
                      </a:stretch>
                    </p:blipFill>
                    <p:spPr>
                      <a:xfrm>
                        <a:off x="1017588" y="4941888"/>
                        <a:ext cx="3914775" cy="765175"/>
                      </a:xfrm>
                      <a:prstGeom prst="rect">
                        <a:avLst/>
                      </a:prstGeom>
                      <a:noFill/>
                      <a:ln w="38100">
                        <a:noFill/>
                        <a:miter/>
                      </a:ln>
                    </p:spPr>
                  </p:pic>
                </p:oleObj>
              </mc:Fallback>
            </mc:AlternateContent>
          </a:graphicData>
        </a:graphic>
      </p:graphicFrame>
      <p:graphicFrame>
        <p:nvGraphicFramePr>
          <p:cNvPr id="77835" name="对象 77834"/>
          <p:cNvGraphicFramePr/>
          <p:nvPr/>
        </p:nvGraphicFramePr>
        <p:xfrm>
          <a:off x="5903913" y="4905375"/>
          <a:ext cx="865187" cy="800100"/>
        </p:xfrm>
        <a:graphic>
          <a:graphicData uri="http://schemas.openxmlformats.org/presentationml/2006/ole">
            <mc:AlternateContent xmlns:mc="http://schemas.openxmlformats.org/markup-compatibility/2006">
              <mc:Choice xmlns:v="urn:schemas-microsoft-com:vml" Requires="v">
                <p:oleObj spid="_x0000_s3104" name="" r:id="rId5" imgW="673100" imgH="622300" progId="Equation.DSMT4">
                  <p:embed/>
                </p:oleObj>
              </mc:Choice>
              <mc:Fallback>
                <p:oleObj name="" r:id="rId5" imgW="673100" imgH="622300" progId="Equation.DSMT4">
                  <p:embed/>
                  <p:pic>
                    <p:nvPicPr>
                      <p:cNvPr id="0" name="图片 3103"/>
                      <p:cNvPicPr/>
                      <p:nvPr/>
                    </p:nvPicPr>
                    <p:blipFill>
                      <a:blip r:embed="rId6"/>
                      <a:stretch>
                        <a:fillRect/>
                      </a:stretch>
                    </p:blipFill>
                    <p:spPr>
                      <a:xfrm>
                        <a:off x="5903913" y="4905375"/>
                        <a:ext cx="865187" cy="800100"/>
                      </a:xfrm>
                      <a:prstGeom prst="rect">
                        <a:avLst/>
                      </a:prstGeom>
                      <a:noFill/>
                      <a:ln w="38100">
                        <a:noFill/>
                        <a:miter/>
                      </a:ln>
                    </p:spPr>
                  </p:pic>
                </p:oleObj>
              </mc:Fallback>
            </mc:AlternateContent>
          </a:graphicData>
        </a:graphic>
      </p:graphicFrame>
      <p:sp>
        <p:nvSpPr>
          <p:cNvPr id="2262031" name="Text Box 15"/>
          <p:cNvSpPr txBox="1"/>
          <p:nvPr/>
        </p:nvSpPr>
        <p:spPr>
          <a:xfrm>
            <a:off x="4068763" y="1600200"/>
            <a:ext cx="4824412" cy="457200"/>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zh-CN" altLang="en-US" sz="2400" b="1" dirty="0">
                <a:solidFill>
                  <a:schemeClr val="tx1"/>
                </a:solidFill>
                <a:latin typeface="Times New Roman" panose="02020603050405020304" pitchFamily="18" charset="0"/>
                <a:ea typeface="黑体" panose="02010609060101010101" pitchFamily="49" charset="-122"/>
              </a:rPr>
              <a:t>示波器：</a:t>
            </a:r>
            <a:r>
              <a:rPr lang="zh-CN" altLang="en-US" sz="2400" b="1" dirty="0">
                <a:solidFill>
                  <a:srgbClr val="FF0000"/>
                </a:solidFill>
                <a:latin typeface="楷体_GB2312" pitchFamily="49" charset="-122"/>
              </a:rPr>
              <a:t>采集</a:t>
            </a:r>
            <a:r>
              <a:rPr lang="zh-CN" altLang="en-US" sz="2400" b="1" dirty="0">
                <a:solidFill>
                  <a:srgbClr val="FF0000"/>
                </a:solidFill>
                <a:latin typeface="楷体_GB2312" pitchFamily="49" charset="-122"/>
                <a:sym typeface="Wingdings" panose="05000000000000000000" pitchFamily="2" charset="2"/>
              </a:rPr>
              <a:t></a:t>
            </a:r>
            <a:r>
              <a:rPr lang="zh-CN" altLang="en-US" sz="2400" b="1" dirty="0">
                <a:solidFill>
                  <a:srgbClr val="FF0000"/>
                </a:solidFill>
                <a:latin typeface="楷体_GB2312" pitchFamily="49" charset="-122"/>
              </a:rPr>
              <a:t>存储</a:t>
            </a:r>
            <a:r>
              <a:rPr lang="zh-CN" altLang="en-US" sz="2400" b="1" dirty="0">
                <a:solidFill>
                  <a:srgbClr val="FF0000"/>
                </a:solidFill>
                <a:latin typeface="楷体_GB2312" pitchFamily="49" charset="-122"/>
                <a:sym typeface="Wingdings" panose="05000000000000000000" pitchFamily="2" charset="2"/>
              </a:rPr>
              <a:t></a:t>
            </a:r>
            <a:r>
              <a:rPr lang="zh-CN" altLang="en-US" sz="2400" b="1" dirty="0">
                <a:solidFill>
                  <a:srgbClr val="FF0000"/>
                </a:solidFill>
                <a:latin typeface="楷体_GB2312" pitchFamily="49" charset="-122"/>
              </a:rPr>
              <a:t>处理</a:t>
            </a:r>
            <a:r>
              <a:rPr lang="zh-CN" altLang="en-US" sz="2400" b="1" dirty="0">
                <a:solidFill>
                  <a:srgbClr val="FF0000"/>
                </a:solidFill>
                <a:latin typeface="楷体_GB2312" pitchFamily="49" charset="-122"/>
                <a:sym typeface="Wingdings" panose="05000000000000000000" pitchFamily="2" charset="2"/>
              </a:rPr>
              <a:t></a:t>
            </a:r>
            <a:r>
              <a:rPr lang="zh-CN" altLang="en-US" sz="2400" b="1" dirty="0">
                <a:solidFill>
                  <a:srgbClr val="FF0000"/>
                </a:solidFill>
                <a:latin typeface="楷体_GB2312" pitchFamily="49" charset="-122"/>
              </a:rPr>
              <a:t>显示</a:t>
            </a:r>
            <a:endParaRPr lang="zh-CN" altLang="en-US" sz="2400" b="1" dirty="0">
              <a:solidFill>
                <a:srgbClr val="FF0000"/>
              </a:solidFill>
              <a:latin typeface="楷体_GB2312" pitchFamily="49" charset="-122"/>
            </a:endParaRPr>
          </a:p>
        </p:txBody>
      </p:sp>
      <p:graphicFrame>
        <p:nvGraphicFramePr>
          <p:cNvPr id="77847" name="对象 77846"/>
          <p:cNvGraphicFramePr/>
          <p:nvPr/>
        </p:nvGraphicFramePr>
        <p:xfrm>
          <a:off x="1042988" y="3897313"/>
          <a:ext cx="3638550" cy="882650"/>
        </p:xfrm>
        <a:graphic>
          <a:graphicData uri="http://schemas.openxmlformats.org/presentationml/2006/ole">
            <mc:AlternateContent xmlns:mc="http://schemas.openxmlformats.org/markup-compatibility/2006">
              <mc:Choice xmlns:v="urn:schemas-microsoft-com:vml" Requires="v">
                <p:oleObj spid="_x0000_s3102" name="" r:id="rId7" imgW="2780030" imgH="673100" progId="Equation.DSMT4">
                  <p:embed/>
                </p:oleObj>
              </mc:Choice>
              <mc:Fallback>
                <p:oleObj name="" r:id="rId7" imgW="2780030" imgH="673100" progId="Equation.DSMT4">
                  <p:embed/>
                  <p:pic>
                    <p:nvPicPr>
                      <p:cNvPr id="0" name="图片 3101"/>
                      <p:cNvPicPr/>
                      <p:nvPr/>
                    </p:nvPicPr>
                    <p:blipFill>
                      <a:blip r:embed="rId8"/>
                      <a:stretch>
                        <a:fillRect/>
                      </a:stretch>
                    </p:blipFill>
                    <p:spPr>
                      <a:xfrm>
                        <a:off x="1042988" y="3897313"/>
                        <a:ext cx="3638550" cy="882650"/>
                      </a:xfrm>
                      <a:prstGeom prst="rect">
                        <a:avLst/>
                      </a:prstGeom>
                      <a:noFill/>
                      <a:ln w="38100">
                        <a:noFill/>
                        <a:miter/>
                      </a:ln>
                    </p:spPr>
                  </p:pic>
                </p:oleObj>
              </mc:Fallback>
            </mc:AlternateContent>
          </a:graphicData>
        </a:graphic>
      </p:graphicFrame>
      <p:sp>
        <p:nvSpPr>
          <p:cNvPr id="77850" name="文本框 77849"/>
          <p:cNvSpPr txBox="1"/>
          <p:nvPr/>
        </p:nvSpPr>
        <p:spPr>
          <a:xfrm>
            <a:off x="5761038" y="4040188"/>
            <a:ext cx="2806700" cy="457200"/>
          </a:xfrm>
          <a:prstGeom prst="rect">
            <a:avLst/>
          </a:prstGeom>
          <a:noFill/>
          <a:ln w="9525">
            <a:noFill/>
          </a:ln>
        </p:spPr>
        <p:txBody>
          <a:bodyPr>
            <a:spAutoFit/>
          </a:bodyPr>
          <a:p>
            <a:pPr algn="l" eaLnBrk="1" hangingPunct="1">
              <a:spcBef>
                <a:spcPct val="50000"/>
              </a:spcBef>
            </a:pPr>
            <a:r>
              <a:rPr lang="zh-CN" altLang="en-US" sz="2400" b="0" dirty="0">
                <a:solidFill>
                  <a:schemeClr val="tx1"/>
                </a:solidFill>
                <a:latin typeface="Verdana" panose="020B0604030504040204" pitchFamily="34" charset="0"/>
                <a:ea typeface="宋体" panose="02010600030101010101" pitchFamily="2" charset="-122"/>
              </a:rPr>
              <a:t>等效采样周期</a:t>
            </a:r>
            <a:endParaRPr lang="zh-CN" altLang="en-US" sz="2400" b="0" dirty="0">
              <a:solidFill>
                <a:schemeClr val="tx1"/>
              </a:solidFill>
              <a:latin typeface="Verdana" panose="020B0604030504040204" pitchFamily="34" charset="0"/>
              <a:ea typeface="宋体" panose="02010600030101010101" pitchFamily="2" charset="-122"/>
            </a:endParaRPr>
          </a:p>
        </p:txBody>
      </p:sp>
      <p:graphicFrame>
        <p:nvGraphicFramePr>
          <p:cNvPr id="77851" name="对象 77850"/>
          <p:cNvGraphicFramePr/>
          <p:nvPr/>
        </p:nvGraphicFramePr>
        <p:xfrm>
          <a:off x="7781925" y="4008438"/>
          <a:ext cx="365125" cy="500062"/>
        </p:xfrm>
        <a:graphic>
          <a:graphicData uri="http://schemas.openxmlformats.org/presentationml/2006/ole">
            <mc:AlternateContent xmlns:mc="http://schemas.openxmlformats.org/markup-compatibility/2006">
              <mc:Choice xmlns:v="urn:schemas-microsoft-com:vml" Requires="v">
                <p:oleObj spid="_x0000_s3105" name="" r:id="rId9" imgW="279400" imgH="381000" progId="Equation.DSMT4">
                  <p:embed/>
                </p:oleObj>
              </mc:Choice>
              <mc:Fallback>
                <p:oleObj name="" r:id="rId9" imgW="279400" imgH="381000" progId="Equation.DSMT4">
                  <p:embed/>
                  <p:pic>
                    <p:nvPicPr>
                      <p:cNvPr id="0" name="图片 3104"/>
                      <p:cNvPicPr/>
                      <p:nvPr/>
                    </p:nvPicPr>
                    <p:blipFill>
                      <a:blip r:embed="rId10"/>
                      <a:stretch>
                        <a:fillRect/>
                      </a:stretch>
                    </p:blipFill>
                    <p:spPr>
                      <a:xfrm>
                        <a:off x="7781925" y="4008438"/>
                        <a:ext cx="365125" cy="500062"/>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7829">
                                            <p:txEl>
                                              <p:charRg st="0" end="8"/>
                                            </p:txEl>
                                          </p:spTgt>
                                        </p:tgtEl>
                                        <p:attrNameLst>
                                          <p:attrName>style.visibility</p:attrName>
                                        </p:attrNameLst>
                                      </p:cBhvr>
                                      <p:to>
                                        <p:strVal val="visible"/>
                                      </p:to>
                                    </p:set>
                                    <p:animEffect transition="in" filter="dissolve">
                                      <p:cBhvr>
                                        <p:cTn id="12" dur="500"/>
                                        <p:tgtEl>
                                          <p:spTgt spid="77829">
                                            <p:txEl>
                                              <p:charRg st="0" end="8"/>
                                            </p:txEl>
                                          </p:spTgt>
                                        </p:tgtEl>
                                      </p:cBhvr>
                                    </p:animEffect>
                                  </p:childTnLst>
                                </p:cTn>
                              </p:par>
                            </p:childTnLst>
                          </p:cTn>
                        </p:par>
                        <p:par>
                          <p:cTn id="13" fill="hold">
                            <p:stCondLst>
                              <p:cond delay="500"/>
                            </p:stCondLst>
                            <p:childTnLst>
                              <p:par>
                                <p:cTn id="14" presetID="3" presetClass="entr" presetSubtype="10" fill="hold" nodeType="afterEffect">
                                  <p:stCondLst>
                                    <p:cond delay="0"/>
                                  </p:stCondLst>
                                  <p:childTnLst>
                                    <p:set>
                                      <p:cBhvr>
                                        <p:cTn id="15" dur="1" fill="hold">
                                          <p:stCondLst>
                                            <p:cond delay="0"/>
                                          </p:stCondLst>
                                        </p:cTn>
                                        <p:tgtEl>
                                          <p:spTgt spid="77833"/>
                                        </p:tgtEl>
                                        <p:attrNameLst>
                                          <p:attrName>style.visibility</p:attrName>
                                        </p:attrNameLst>
                                      </p:cBhvr>
                                      <p:to>
                                        <p:strVal val="visible"/>
                                      </p:to>
                                    </p:set>
                                    <p:animEffect transition="in" filter="blinds(horizontal)">
                                      <p:cBhvr>
                                        <p:cTn id="16" dur="500"/>
                                        <p:tgtEl>
                                          <p:spTgt spid="7783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262031"/>
                                        </p:tgtEl>
                                        <p:attrNameLst>
                                          <p:attrName>style.visibility</p:attrName>
                                        </p:attrNameLst>
                                      </p:cBhvr>
                                      <p:to>
                                        <p:strVal val="visible"/>
                                      </p:to>
                                    </p:set>
                                    <p:animEffect transition="in" filter="dissolve">
                                      <p:cBhvr>
                                        <p:cTn id="21" dur="500"/>
                                        <p:tgtEl>
                                          <p:spTgt spid="226203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7829">
                                            <p:txEl>
                                              <p:charRg st="10" end="42"/>
                                            </p:txEl>
                                          </p:spTgt>
                                        </p:tgtEl>
                                        <p:attrNameLst>
                                          <p:attrName>style.visibility</p:attrName>
                                        </p:attrNameLst>
                                      </p:cBhvr>
                                      <p:to>
                                        <p:strVal val="visible"/>
                                      </p:to>
                                    </p:set>
                                    <p:animEffect transition="in" filter="dissolve">
                                      <p:cBhvr>
                                        <p:cTn id="26" dur="500"/>
                                        <p:tgtEl>
                                          <p:spTgt spid="77829">
                                            <p:txEl>
                                              <p:charRg st="10" end="4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nodeType="clickEffect">
                                  <p:stCondLst>
                                    <p:cond delay="0"/>
                                  </p:stCondLst>
                                  <p:childTnLst>
                                    <p:set>
                                      <p:cBhvr>
                                        <p:cTn id="30" dur="1" fill="hold">
                                          <p:stCondLst>
                                            <p:cond delay="0"/>
                                          </p:stCondLst>
                                        </p:cTn>
                                        <p:tgtEl>
                                          <p:spTgt spid="77847"/>
                                        </p:tgtEl>
                                        <p:attrNameLst>
                                          <p:attrName>style.visibility</p:attrName>
                                        </p:attrNameLst>
                                      </p:cBhvr>
                                      <p:to>
                                        <p:strVal val="visible"/>
                                      </p:to>
                                    </p:set>
                                    <p:animEffect transition="in" filter="blinds(horizontal)">
                                      <p:cBhvr>
                                        <p:cTn id="31" dur="500"/>
                                        <p:tgtEl>
                                          <p:spTgt spid="77847"/>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77850"/>
                                        </p:tgtEl>
                                        <p:attrNameLst>
                                          <p:attrName>style.visibility</p:attrName>
                                        </p:attrNameLst>
                                      </p:cBhvr>
                                      <p:to>
                                        <p:strVal val="visible"/>
                                      </p:to>
                                    </p:set>
                                    <p:animEffect transition="in" filter="dissolve">
                                      <p:cBhvr>
                                        <p:cTn id="34" dur="500"/>
                                        <p:tgtEl>
                                          <p:spTgt spid="77850"/>
                                        </p:tgtEl>
                                      </p:cBhvr>
                                    </p:animEffect>
                                  </p:childTnLst>
                                </p:cTn>
                              </p:par>
                              <p:par>
                                <p:cTn id="35" presetID="3" presetClass="entr" presetSubtype="10" fill="hold" nodeType="withEffect">
                                  <p:stCondLst>
                                    <p:cond delay="0"/>
                                  </p:stCondLst>
                                  <p:childTnLst>
                                    <p:set>
                                      <p:cBhvr>
                                        <p:cTn id="36" dur="1" fill="hold">
                                          <p:stCondLst>
                                            <p:cond delay="0"/>
                                          </p:stCondLst>
                                        </p:cTn>
                                        <p:tgtEl>
                                          <p:spTgt spid="77851"/>
                                        </p:tgtEl>
                                        <p:attrNameLst>
                                          <p:attrName>style.visibility</p:attrName>
                                        </p:attrNameLst>
                                      </p:cBhvr>
                                      <p:to>
                                        <p:strVal val="visible"/>
                                      </p:to>
                                    </p:set>
                                    <p:animEffect transition="in" filter="blinds(horizontal)">
                                      <p:cBhvr>
                                        <p:cTn id="37" dur="500"/>
                                        <p:tgtEl>
                                          <p:spTgt spid="77851"/>
                                        </p:tgtEl>
                                      </p:cBhvr>
                                    </p:animEffect>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nodeType="clickEffect">
                                  <p:stCondLst>
                                    <p:cond delay="0"/>
                                  </p:stCondLst>
                                  <p:childTnLst>
                                    <p:set>
                                      <p:cBhvr>
                                        <p:cTn id="41" dur="1" fill="hold">
                                          <p:stCondLst>
                                            <p:cond delay="0"/>
                                          </p:stCondLst>
                                        </p:cTn>
                                        <p:tgtEl>
                                          <p:spTgt spid="77834"/>
                                        </p:tgtEl>
                                        <p:attrNameLst>
                                          <p:attrName>style.visibility</p:attrName>
                                        </p:attrNameLst>
                                      </p:cBhvr>
                                      <p:to>
                                        <p:strVal val="visible"/>
                                      </p:to>
                                    </p:set>
                                    <p:animEffect transition="in" filter="blinds(horizontal)">
                                      <p:cBhvr>
                                        <p:cTn id="42" dur="500"/>
                                        <p:tgtEl>
                                          <p:spTgt spid="77834"/>
                                        </p:tgtEl>
                                      </p:cBhvr>
                                    </p:animEffect>
                                  </p:childTnLst>
                                </p:cTn>
                              </p:par>
                              <p:par>
                                <p:cTn id="43" presetID="3" presetClass="entr" presetSubtype="10" fill="hold" nodeType="withEffect">
                                  <p:stCondLst>
                                    <p:cond delay="0"/>
                                  </p:stCondLst>
                                  <p:childTnLst>
                                    <p:set>
                                      <p:cBhvr>
                                        <p:cTn id="44" dur="1" fill="hold">
                                          <p:stCondLst>
                                            <p:cond delay="0"/>
                                          </p:stCondLst>
                                        </p:cTn>
                                        <p:tgtEl>
                                          <p:spTgt spid="77835"/>
                                        </p:tgtEl>
                                        <p:attrNameLst>
                                          <p:attrName>style.visibility</p:attrName>
                                        </p:attrNameLst>
                                      </p:cBhvr>
                                      <p:to>
                                        <p:strVal val="visible"/>
                                      </p:to>
                                    </p:set>
                                    <p:animEffect transition="in" filter="blinds(horizontal)">
                                      <p:cBhvr>
                                        <p:cTn id="45" dur="500"/>
                                        <p:tgtEl>
                                          <p:spTgt spid="77835"/>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7829">
                                            <p:txEl>
                                              <p:charRg st="46" end="72"/>
                                            </p:txEl>
                                          </p:spTgt>
                                        </p:tgtEl>
                                        <p:attrNameLst>
                                          <p:attrName>style.visibility</p:attrName>
                                        </p:attrNameLst>
                                      </p:cBhvr>
                                      <p:to>
                                        <p:strVal val="visible"/>
                                      </p:to>
                                    </p:set>
                                    <p:animEffect transition="in" filter="dissolve">
                                      <p:cBhvr>
                                        <p:cTn id="50" dur="500"/>
                                        <p:tgtEl>
                                          <p:spTgt spid="77829">
                                            <p:txEl>
                                              <p:charRg st="46" end="7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2262031" grpId="0"/>
      <p:bldP spid="7785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517775"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3. </a:t>
            </a:r>
            <a:r>
              <a:rPr lang="zh-CN" altLang="en-US" sz="3200" b="1" dirty="0">
                <a:solidFill>
                  <a:srgbClr val="333399"/>
                </a:solidFill>
                <a:latin typeface="楷体_GB2312" pitchFamily="49" charset="-122"/>
              </a:rPr>
              <a:t>变频采样</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78853" name="矩形 78852"/>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buNone/>
            </a:pPr>
            <a:r>
              <a:rPr lang="zh-CN" altLang="en-US" sz="2800" b="1" dirty="0"/>
              <a:t>采样频率随时间或被测信号特征变化。</a:t>
            </a:r>
            <a:endParaRPr lang="zh-CN" altLang="en-US" sz="2800" b="1" dirty="0"/>
          </a:p>
          <a:p>
            <a:pPr marL="0" lvl="0" indent="357505" defTabSz="914400">
              <a:buNone/>
            </a:pPr>
            <a:r>
              <a:rPr lang="zh-CN" altLang="en-US" sz="2800" b="1" dirty="0"/>
              <a:t>优点：采样精度保持不变。</a:t>
            </a:r>
            <a:endParaRPr lang="zh-CN" altLang="en-US" sz="2800" b="1" dirty="0"/>
          </a:p>
          <a:p>
            <a:pPr marL="0" lvl="0" indent="357505" defTabSz="914400">
              <a:buNone/>
            </a:pPr>
            <a:r>
              <a:rPr lang="zh-CN" altLang="en-US" sz="2800" b="1" dirty="0"/>
              <a:t>缺点：需清楚被测信号特征的变化信息（比如信号频率随时间的变化关系）。</a:t>
            </a:r>
            <a:endParaRPr lang="zh-CN" altLang="en-US" sz="2800" b="1" dirty="0"/>
          </a:p>
        </p:txBody>
      </p:sp>
      <p:graphicFrame>
        <p:nvGraphicFramePr>
          <p:cNvPr id="78862" name="对象 78861"/>
          <p:cNvGraphicFramePr/>
          <p:nvPr/>
        </p:nvGraphicFramePr>
        <p:xfrm>
          <a:off x="2524125" y="4365625"/>
          <a:ext cx="3951288" cy="452438"/>
        </p:xfrm>
        <a:graphic>
          <a:graphicData uri="http://schemas.openxmlformats.org/presentationml/2006/ole">
            <mc:AlternateContent xmlns:mc="http://schemas.openxmlformats.org/markup-compatibility/2006">
              <mc:Choice xmlns:v="urn:schemas-microsoft-com:vml" Requires="v">
                <p:oleObj spid="_x0000_s3120" name="" r:id="rId1" imgW="1687195" imgH="266065" progId="Equation.DSMT4">
                  <p:embed/>
                </p:oleObj>
              </mc:Choice>
              <mc:Fallback>
                <p:oleObj name="" r:id="rId1" imgW="1687195" imgH="266065" progId="Equation.DSMT4">
                  <p:embed/>
                  <p:pic>
                    <p:nvPicPr>
                      <p:cNvPr id="0" name="图片 3119"/>
                      <p:cNvPicPr/>
                      <p:nvPr/>
                    </p:nvPicPr>
                    <p:blipFill>
                      <a:blip r:embed="rId2"/>
                      <a:stretch>
                        <a:fillRect/>
                      </a:stretch>
                    </p:blipFill>
                    <p:spPr>
                      <a:xfrm>
                        <a:off x="2524125" y="4365625"/>
                        <a:ext cx="3951288" cy="452438"/>
                      </a:xfrm>
                      <a:prstGeom prst="rect">
                        <a:avLst/>
                      </a:prstGeom>
                      <a:noFill/>
                      <a:ln w="38100">
                        <a:noFill/>
                        <a:miter/>
                      </a:ln>
                    </p:spPr>
                  </p:pic>
                </p:oleObj>
              </mc:Fallback>
            </mc:AlternateContent>
          </a:graphicData>
        </a:graphic>
      </p:graphicFrame>
      <p:sp>
        <p:nvSpPr>
          <p:cNvPr id="78870" name="文本框 78869"/>
          <p:cNvSpPr txBox="1"/>
          <p:nvPr/>
        </p:nvSpPr>
        <p:spPr>
          <a:xfrm>
            <a:off x="1044575" y="5192713"/>
            <a:ext cx="2935288" cy="457200"/>
          </a:xfrm>
          <a:prstGeom prst="rect">
            <a:avLst/>
          </a:prstGeom>
          <a:noFill/>
          <a:ln w="9525">
            <a:noFill/>
          </a:ln>
        </p:spPr>
        <p:txBody>
          <a:bodyPr>
            <a:spAutoFit/>
          </a:bodyPr>
          <a:p>
            <a:pPr algn="l" eaLnBrk="1" hangingPunct="1">
              <a:spcBef>
                <a:spcPct val="50000"/>
              </a:spcBef>
            </a:pPr>
            <a:r>
              <a:rPr lang="zh-CN" altLang="en-US" sz="2400" b="0" dirty="0">
                <a:solidFill>
                  <a:schemeClr val="tx1"/>
                </a:solidFill>
                <a:latin typeface="Verdana" panose="020B0604030504040204" pitchFamily="34" charset="0"/>
                <a:ea typeface="宋体" panose="02010600030101010101" pitchFamily="2" charset="-122"/>
              </a:rPr>
              <a:t>：变频采样序列</a:t>
            </a:r>
            <a:endParaRPr lang="zh-CN" altLang="en-US" sz="2400" b="0" dirty="0">
              <a:solidFill>
                <a:schemeClr val="tx1"/>
              </a:solidFill>
              <a:latin typeface="Verdana" panose="020B0604030504040204" pitchFamily="34" charset="0"/>
              <a:ea typeface="宋体" panose="02010600030101010101" pitchFamily="2" charset="-122"/>
            </a:endParaRPr>
          </a:p>
        </p:txBody>
      </p:sp>
      <p:graphicFrame>
        <p:nvGraphicFramePr>
          <p:cNvPr id="78871" name="对象 78870"/>
          <p:cNvGraphicFramePr/>
          <p:nvPr/>
        </p:nvGraphicFramePr>
        <p:xfrm>
          <a:off x="576263" y="5192713"/>
          <a:ext cx="593725" cy="452437"/>
        </p:xfrm>
        <a:graphic>
          <a:graphicData uri="http://schemas.openxmlformats.org/presentationml/2006/ole">
            <mc:AlternateContent xmlns:mc="http://schemas.openxmlformats.org/markup-compatibility/2006">
              <mc:Choice xmlns:v="urn:schemas-microsoft-com:vml" Requires="v">
                <p:oleObj spid="_x0000_s3119" name="" r:id="rId3" imgW="253365" imgH="266065" progId="Equation.DSMT4">
                  <p:embed/>
                </p:oleObj>
              </mc:Choice>
              <mc:Fallback>
                <p:oleObj name="" r:id="rId3" imgW="253365" imgH="266065" progId="Equation.DSMT4">
                  <p:embed/>
                  <p:pic>
                    <p:nvPicPr>
                      <p:cNvPr id="0" name="图片 3118"/>
                      <p:cNvPicPr/>
                      <p:nvPr/>
                    </p:nvPicPr>
                    <p:blipFill>
                      <a:blip r:embed="rId4"/>
                      <a:stretch>
                        <a:fillRect/>
                      </a:stretch>
                    </p:blipFill>
                    <p:spPr>
                      <a:xfrm>
                        <a:off x="576263" y="5192713"/>
                        <a:ext cx="593725" cy="452437"/>
                      </a:xfrm>
                      <a:prstGeom prst="rect">
                        <a:avLst/>
                      </a:prstGeom>
                      <a:noFill/>
                      <a:ln w="38100">
                        <a:noFill/>
                        <a:miter/>
                      </a:ln>
                    </p:spPr>
                  </p:pic>
                </p:oleObj>
              </mc:Fallback>
            </mc:AlternateContent>
          </a:graphicData>
        </a:graphic>
      </p:graphicFrame>
      <p:graphicFrame>
        <p:nvGraphicFramePr>
          <p:cNvPr id="78872" name="对象 78871"/>
          <p:cNvGraphicFramePr/>
          <p:nvPr/>
        </p:nvGraphicFramePr>
        <p:xfrm>
          <a:off x="3779838" y="5208588"/>
          <a:ext cx="1158875" cy="452437"/>
        </p:xfrm>
        <a:graphic>
          <a:graphicData uri="http://schemas.openxmlformats.org/presentationml/2006/ole">
            <mc:AlternateContent xmlns:mc="http://schemas.openxmlformats.org/markup-compatibility/2006">
              <mc:Choice xmlns:v="urn:schemas-microsoft-com:vml" Requires="v">
                <p:oleObj spid="_x0000_s3109" name="" r:id="rId5" imgW="494665" imgH="266065" progId="Equation.DSMT4">
                  <p:embed/>
                </p:oleObj>
              </mc:Choice>
              <mc:Fallback>
                <p:oleObj name="" r:id="rId5" imgW="494665" imgH="266065" progId="Equation.DSMT4">
                  <p:embed/>
                  <p:pic>
                    <p:nvPicPr>
                      <p:cNvPr id="0" name="图片 3108"/>
                      <p:cNvPicPr/>
                      <p:nvPr/>
                    </p:nvPicPr>
                    <p:blipFill>
                      <a:blip r:embed="rId6"/>
                      <a:stretch>
                        <a:fillRect/>
                      </a:stretch>
                    </p:blipFill>
                    <p:spPr>
                      <a:xfrm>
                        <a:off x="3779838" y="5208588"/>
                        <a:ext cx="1158875" cy="452437"/>
                      </a:xfrm>
                      <a:prstGeom prst="rect">
                        <a:avLst/>
                      </a:prstGeom>
                      <a:noFill/>
                      <a:ln w="38100">
                        <a:noFill/>
                        <a:miter/>
                      </a:ln>
                    </p:spPr>
                  </p:pic>
                </p:oleObj>
              </mc:Fallback>
            </mc:AlternateContent>
          </a:graphicData>
        </a:graphic>
      </p:graphicFrame>
      <p:sp>
        <p:nvSpPr>
          <p:cNvPr id="78873" name="文本框 78872"/>
          <p:cNvSpPr txBox="1"/>
          <p:nvPr/>
        </p:nvSpPr>
        <p:spPr>
          <a:xfrm>
            <a:off x="4787900" y="5192713"/>
            <a:ext cx="4105275" cy="457200"/>
          </a:xfrm>
          <a:prstGeom prst="rect">
            <a:avLst/>
          </a:prstGeom>
          <a:noFill/>
          <a:ln w="9525">
            <a:noFill/>
          </a:ln>
        </p:spPr>
        <p:txBody>
          <a:bodyPr>
            <a:spAutoFit/>
          </a:bodyPr>
          <a:p>
            <a:pPr algn="l" eaLnBrk="1" hangingPunct="1">
              <a:spcBef>
                <a:spcPct val="50000"/>
              </a:spcBef>
            </a:pPr>
            <a:r>
              <a:rPr lang="zh-CN" altLang="en-US" sz="2400" b="0" dirty="0">
                <a:solidFill>
                  <a:schemeClr val="tx1"/>
                </a:solidFill>
                <a:latin typeface="Verdana" panose="020B0604030504040204" pitchFamily="34" charset="0"/>
                <a:ea typeface="宋体" panose="02010600030101010101" pitchFamily="2" charset="-122"/>
              </a:rPr>
              <a:t>：信号频率随时间变化关系</a:t>
            </a:r>
            <a:endParaRPr lang="zh-CN" altLang="en-US" sz="2400" b="0" dirty="0">
              <a:solidFill>
                <a:schemeClr val="tx1"/>
              </a:solidFill>
              <a:latin typeface="Verdana" panose="020B0604030504040204" pitchFamily="34"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8853">
                                            <p:txEl>
                                              <p:charRg st="0" end="18"/>
                                            </p:txEl>
                                          </p:spTgt>
                                        </p:tgtEl>
                                        <p:attrNameLst>
                                          <p:attrName>style.visibility</p:attrName>
                                        </p:attrNameLst>
                                      </p:cBhvr>
                                      <p:to>
                                        <p:strVal val="visible"/>
                                      </p:to>
                                    </p:set>
                                    <p:animEffect transition="in" filter="blinds(horizontal)">
                                      <p:cBhvr>
                                        <p:cTn id="12" dur="500"/>
                                        <p:tgtEl>
                                          <p:spTgt spid="78853">
                                            <p:txEl>
                                              <p:charRg st="0" end="1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8853">
                                            <p:txEl>
                                              <p:charRg st="18" end="31"/>
                                            </p:txEl>
                                          </p:spTgt>
                                        </p:tgtEl>
                                        <p:attrNameLst>
                                          <p:attrName>style.visibility</p:attrName>
                                        </p:attrNameLst>
                                      </p:cBhvr>
                                      <p:to>
                                        <p:strVal val="visible"/>
                                      </p:to>
                                    </p:set>
                                    <p:animEffect transition="in" filter="blinds(horizontal)">
                                      <p:cBhvr>
                                        <p:cTn id="17" dur="500"/>
                                        <p:tgtEl>
                                          <p:spTgt spid="78853">
                                            <p:txEl>
                                              <p:charRg st="18" end="31"/>
                                            </p:txEl>
                                          </p:spTgt>
                                        </p:tgtEl>
                                      </p:cBhvr>
                                    </p:animEffect>
                                  </p:childTnLst>
                                </p:cTn>
                              </p:par>
                            </p:childTnLst>
                          </p:cTn>
                        </p:par>
                        <p:par>
                          <p:cTn id="18" fill="hold">
                            <p:stCondLst>
                              <p:cond delay="500"/>
                            </p:stCondLst>
                            <p:childTnLst>
                              <p:par>
                                <p:cTn id="19" presetID="3" presetClass="entr" presetSubtype="10" fill="hold" grpId="0" nodeType="afterEffect">
                                  <p:stCondLst>
                                    <p:cond delay="0"/>
                                  </p:stCondLst>
                                  <p:childTnLst>
                                    <p:set>
                                      <p:cBhvr>
                                        <p:cTn id="20" dur="1" fill="hold">
                                          <p:stCondLst>
                                            <p:cond delay="0"/>
                                          </p:stCondLst>
                                        </p:cTn>
                                        <p:tgtEl>
                                          <p:spTgt spid="78853">
                                            <p:txEl>
                                              <p:charRg st="31" end="66"/>
                                            </p:txEl>
                                          </p:spTgt>
                                        </p:tgtEl>
                                        <p:attrNameLst>
                                          <p:attrName>style.visibility</p:attrName>
                                        </p:attrNameLst>
                                      </p:cBhvr>
                                      <p:to>
                                        <p:strVal val="visible"/>
                                      </p:to>
                                    </p:set>
                                    <p:animEffect transition="in" filter="blinds(horizontal)">
                                      <p:cBhvr>
                                        <p:cTn id="21" dur="500"/>
                                        <p:tgtEl>
                                          <p:spTgt spid="78853">
                                            <p:txEl>
                                              <p:charRg st="31" end="6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78862"/>
                                        </p:tgtEl>
                                        <p:attrNameLst>
                                          <p:attrName>style.visibility</p:attrName>
                                        </p:attrNameLst>
                                      </p:cBhvr>
                                      <p:to>
                                        <p:strVal val="visible"/>
                                      </p:to>
                                    </p:set>
                                    <p:animEffect transition="in" filter="blinds(horizontal)">
                                      <p:cBhvr>
                                        <p:cTn id="26" dur="500"/>
                                        <p:tgtEl>
                                          <p:spTgt spid="78862"/>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nodeType="clickEffect">
                                  <p:stCondLst>
                                    <p:cond delay="0"/>
                                  </p:stCondLst>
                                  <p:childTnLst>
                                    <p:set>
                                      <p:cBhvr>
                                        <p:cTn id="30" dur="1" fill="hold">
                                          <p:stCondLst>
                                            <p:cond delay="0"/>
                                          </p:stCondLst>
                                        </p:cTn>
                                        <p:tgtEl>
                                          <p:spTgt spid="78871"/>
                                        </p:tgtEl>
                                        <p:attrNameLst>
                                          <p:attrName>style.visibility</p:attrName>
                                        </p:attrNameLst>
                                      </p:cBhvr>
                                      <p:to>
                                        <p:strVal val="visible"/>
                                      </p:to>
                                    </p:set>
                                    <p:animEffect transition="in" filter="blinds(horizontal)">
                                      <p:cBhvr>
                                        <p:cTn id="31" dur="500"/>
                                        <p:tgtEl>
                                          <p:spTgt spid="7887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78870"/>
                                        </p:tgtEl>
                                        <p:attrNameLst>
                                          <p:attrName>style.visibility</p:attrName>
                                        </p:attrNameLst>
                                      </p:cBhvr>
                                      <p:to>
                                        <p:strVal val="visible"/>
                                      </p:to>
                                    </p:set>
                                    <p:animEffect transition="in" filter="dissolve">
                                      <p:cBhvr>
                                        <p:cTn id="34" dur="500"/>
                                        <p:tgtEl>
                                          <p:spTgt spid="78870"/>
                                        </p:tgtEl>
                                      </p:cBhvr>
                                    </p:animEffect>
                                  </p:childTnLst>
                                </p:cTn>
                              </p:par>
                              <p:par>
                                <p:cTn id="35" presetID="3" presetClass="entr" presetSubtype="10" fill="hold" nodeType="withEffect">
                                  <p:stCondLst>
                                    <p:cond delay="0"/>
                                  </p:stCondLst>
                                  <p:childTnLst>
                                    <p:set>
                                      <p:cBhvr>
                                        <p:cTn id="36" dur="1" fill="hold">
                                          <p:stCondLst>
                                            <p:cond delay="0"/>
                                          </p:stCondLst>
                                        </p:cTn>
                                        <p:tgtEl>
                                          <p:spTgt spid="78872"/>
                                        </p:tgtEl>
                                        <p:attrNameLst>
                                          <p:attrName>style.visibility</p:attrName>
                                        </p:attrNameLst>
                                      </p:cBhvr>
                                      <p:to>
                                        <p:strVal val="visible"/>
                                      </p:to>
                                    </p:set>
                                    <p:animEffect transition="in" filter="blinds(horizontal)">
                                      <p:cBhvr>
                                        <p:cTn id="37" dur="500"/>
                                        <p:tgtEl>
                                          <p:spTgt spid="78872"/>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78873"/>
                                        </p:tgtEl>
                                        <p:attrNameLst>
                                          <p:attrName>style.visibility</p:attrName>
                                        </p:attrNameLst>
                                      </p:cBhvr>
                                      <p:to>
                                        <p:strVal val="visible"/>
                                      </p:to>
                                    </p:set>
                                    <p:animEffect transition="in" filter="dissolve">
                                      <p:cBhvr>
                                        <p:cTn id="40" dur="500"/>
                                        <p:tgtEl>
                                          <p:spTgt spid="788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78853" grpId="0" uiExpand="1" build="p"/>
      <p:bldP spid="78870" grpId="0"/>
      <p:bldP spid="78873"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2304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4. </a:t>
            </a:r>
            <a:r>
              <a:rPr lang="zh-CN" altLang="en-US" sz="3200" b="1" dirty="0">
                <a:solidFill>
                  <a:srgbClr val="333399"/>
                </a:solidFill>
                <a:latin typeface="楷体_GB2312" pitchFamily="49" charset="-122"/>
              </a:rPr>
              <a:t>下采样</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110597" name="矩形 110596"/>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lnSpc>
                <a:spcPct val="140000"/>
              </a:lnSpc>
              <a:spcBef>
                <a:spcPct val="0"/>
              </a:spcBef>
              <a:buNone/>
            </a:pPr>
            <a:r>
              <a:rPr lang="zh-CN" altLang="en-US" sz="2400" b="1" dirty="0"/>
              <a:t>适用于频率变化慢的</a:t>
            </a:r>
            <a:r>
              <a:rPr lang="zh-CN" altLang="en-US" sz="2400" b="1" dirty="0">
                <a:solidFill>
                  <a:srgbClr val="FF0000"/>
                </a:solidFill>
              </a:rPr>
              <a:t>带通信号采样</a:t>
            </a:r>
            <a:r>
              <a:rPr lang="zh-CN" altLang="en-US" sz="2400" b="1" dirty="0"/>
              <a:t>。</a:t>
            </a:r>
            <a:endParaRPr lang="zh-CN" altLang="en-US" sz="2400" b="1" dirty="0"/>
          </a:p>
          <a:p>
            <a:pPr marL="0" lvl="0" indent="357505" defTabSz="914400">
              <a:lnSpc>
                <a:spcPct val="140000"/>
              </a:lnSpc>
              <a:spcBef>
                <a:spcPct val="0"/>
              </a:spcBef>
              <a:buNone/>
            </a:pPr>
            <a:r>
              <a:rPr lang="zh-CN" altLang="en-US" sz="2400" b="1" dirty="0"/>
              <a:t>优点：测量精度高，存储容量要求小。</a:t>
            </a:r>
            <a:endParaRPr lang="zh-CN" altLang="en-US" sz="2400" b="1" dirty="0"/>
          </a:p>
          <a:p>
            <a:pPr marL="0" lvl="0" indent="357505" defTabSz="914400">
              <a:lnSpc>
                <a:spcPct val="140000"/>
              </a:lnSpc>
              <a:spcBef>
                <a:spcPct val="0"/>
              </a:spcBef>
              <a:buNone/>
            </a:pPr>
            <a:r>
              <a:rPr lang="zh-CN" altLang="en-US" sz="2400" b="1" dirty="0"/>
              <a:t>缺点：适用范围有限，仅对带通信号有效。</a:t>
            </a:r>
            <a:endParaRPr lang="zh-CN" altLang="en-US" sz="2400" b="1" dirty="0"/>
          </a:p>
          <a:p>
            <a:pPr marL="0" lvl="0" indent="357505" defTabSz="914400">
              <a:lnSpc>
                <a:spcPct val="140000"/>
              </a:lnSpc>
              <a:spcBef>
                <a:spcPct val="0"/>
              </a:spcBef>
              <a:buNone/>
            </a:pPr>
            <a:endParaRPr lang="zh-CN" altLang="en-US" sz="2400" b="1" dirty="0"/>
          </a:p>
          <a:p>
            <a:pPr marL="0" lvl="0" indent="357505" defTabSz="914400">
              <a:lnSpc>
                <a:spcPct val="140000"/>
              </a:lnSpc>
              <a:spcBef>
                <a:spcPct val="0"/>
              </a:spcBef>
              <a:buNone/>
            </a:pPr>
            <a:r>
              <a:rPr lang="zh-CN" altLang="en-US" sz="2400" b="1" dirty="0"/>
              <a:t>采样定理一：连续时间信号的频谱是带限的，频率范围：</a:t>
            </a:r>
            <a:endParaRPr lang="zh-CN" altLang="en-US" sz="2400" b="1" dirty="0"/>
          </a:p>
          <a:p>
            <a:pPr marL="0" lvl="0" indent="357505" defTabSz="914400">
              <a:lnSpc>
                <a:spcPct val="140000"/>
              </a:lnSpc>
              <a:spcBef>
                <a:spcPct val="0"/>
              </a:spcBef>
              <a:buNone/>
            </a:pPr>
            <a:r>
              <a:rPr lang="zh-CN" altLang="en-US" sz="2400" b="1" dirty="0"/>
              <a:t>                    </a:t>
            </a:r>
            <a:r>
              <a:rPr lang="zh-CN" altLang="en-US" sz="2400" b="1" dirty="0">
                <a:latin typeface="Times New Roman" panose="02020603050405020304" pitchFamily="18" charset="0"/>
              </a:rPr>
              <a:t>，因此称为低通信号采样定理。</a:t>
            </a:r>
            <a:endParaRPr lang="zh-CN" altLang="en-US" sz="2400" b="1" dirty="0">
              <a:latin typeface="Times New Roman" panose="02020603050405020304" pitchFamily="18" charset="0"/>
            </a:endParaRPr>
          </a:p>
          <a:p>
            <a:pPr marL="0" lvl="0" indent="357505" defTabSz="914400">
              <a:lnSpc>
                <a:spcPct val="140000"/>
              </a:lnSpc>
              <a:spcBef>
                <a:spcPct val="0"/>
              </a:spcBef>
              <a:buNone/>
            </a:pPr>
            <a:r>
              <a:rPr lang="zh-CN" altLang="en-US" sz="2400" b="1" dirty="0">
                <a:latin typeface="Times New Roman" panose="02020603050405020304" pitchFamily="18" charset="0"/>
              </a:rPr>
              <a:t>采样定理二：带限的连续时间信号处于更高的频率范围：</a:t>
            </a:r>
            <a:endParaRPr lang="zh-CN" altLang="en-US" sz="2400" b="1" dirty="0">
              <a:latin typeface="Times New Roman" panose="02020603050405020304" pitchFamily="18" charset="0"/>
            </a:endParaRPr>
          </a:p>
          <a:p>
            <a:pPr marL="0" lvl="0" indent="357505" defTabSz="914400">
              <a:lnSpc>
                <a:spcPct val="140000"/>
              </a:lnSpc>
              <a:spcBef>
                <a:spcPct val="0"/>
              </a:spcBef>
              <a:buNone/>
            </a:pPr>
            <a:r>
              <a:rPr lang="zh-CN" altLang="en-US" sz="2400" b="1" dirty="0">
                <a:latin typeface="Times New Roman" panose="02020603050405020304" pitchFamily="18" charset="0"/>
              </a:rPr>
              <a:t>                                        ，因此称为带通信号采样定理。</a:t>
            </a:r>
            <a:endParaRPr lang="zh-CN" altLang="en-US" sz="2400" b="1" dirty="0">
              <a:latin typeface="Times New Roman" panose="02020603050405020304" pitchFamily="18" charset="0"/>
            </a:endParaRPr>
          </a:p>
        </p:txBody>
      </p:sp>
      <p:graphicFrame>
        <p:nvGraphicFramePr>
          <p:cNvPr id="110604" name="对象 110603"/>
          <p:cNvGraphicFramePr/>
          <p:nvPr/>
        </p:nvGraphicFramePr>
        <p:xfrm>
          <a:off x="925513" y="4292600"/>
          <a:ext cx="1666875" cy="401638"/>
        </p:xfrm>
        <a:graphic>
          <a:graphicData uri="http://schemas.openxmlformats.org/presentationml/2006/ole">
            <mc:AlternateContent xmlns:mc="http://schemas.openxmlformats.org/markup-compatibility/2006">
              <mc:Choice xmlns:v="urn:schemas-microsoft-com:vml" Requires="v">
                <p:oleObj spid="_x0000_s3110" name="" r:id="rId1" imgW="875030" imgH="266065" progId="Equation.DSMT4">
                  <p:embed/>
                </p:oleObj>
              </mc:Choice>
              <mc:Fallback>
                <p:oleObj name="" r:id="rId1" imgW="875030" imgH="266065" progId="Equation.DSMT4">
                  <p:embed/>
                  <p:pic>
                    <p:nvPicPr>
                      <p:cNvPr id="0" name="图片 3109"/>
                      <p:cNvPicPr/>
                      <p:nvPr/>
                    </p:nvPicPr>
                    <p:blipFill>
                      <a:blip r:embed="rId2"/>
                      <a:stretch>
                        <a:fillRect/>
                      </a:stretch>
                    </p:blipFill>
                    <p:spPr>
                      <a:xfrm>
                        <a:off x="925513" y="4292600"/>
                        <a:ext cx="1666875" cy="401638"/>
                      </a:xfrm>
                      <a:prstGeom prst="rect">
                        <a:avLst/>
                      </a:prstGeom>
                      <a:noFill/>
                      <a:ln w="38100">
                        <a:noFill/>
                        <a:miter/>
                      </a:ln>
                    </p:spPr>
                  </p:pic>
                </p:oleObj>
              </mc:Fallback>
            </mc:AlternateContent>
          </a:graphicData>
        </a:graphic>
      </p:graphicFrame>
      <p:graphicFrame>
        <p:nvGraphicFramePr>
          <p:cNvPr id="110605" name="对象 110604"/>
          <p:cNvGraphicFramePr/>
          <p:nvPr/>
        </p:nvGraphicFramePr>
        <p:xfrm>
          <a:off x="879475" y="5300663"/>
          <a:ext cx="3116263" cy="401637"/>
        </p:xfrm>
        <a:graphic>
          <a:graphicData uri="http://schemas.openxmlformats.org/presentationml/2006/ole">
            <mc:AlternateContent xmlns:mc="http://schemas.openxmlformats.org/markup-compatibility/2006">
              <mc:Choice xmlns:v="urn:schemas-microsoft-com:vml" Requires="v">
                <p:oleObj spid="_x0000_s3113" name="" r:id="rId3" imgW="1636395" imgH="266065" progId="Equation.DSMT4">
                  <p:embed/>
                </p:oleObj>
              </mc:Choice>
              <mc:Fallback>
                <p:oleObj name="" r:id="rId3" imgW="1636395" imgH="266065" progId="Equation.DSMT4">
                  <p:embed/>
                  <p:pic>
                    <p:nvPicPr>
                      <p:cNvPr id="0" name="图片 3112"/>
                      <p:cNvPicPr/>
                      <p:nvPr/>
                    </p:nvPicPr>
                    <p:blipFill>
                      <a:blip r:embed="rId4"/>
                      <a:stretch>
                        <a:fillRect/>
                      </a:stretch>
                    </p:blipFill>
                    <p:spPr>
                      <a:xfrm>
                        <a:off x="879475" y="5300663"/>
                        <a:ext cx="3116263" cy="401637"/>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10597">
                                            <p:txEl>
                                              <p:charRg st="0" end="17"/>
                                            </p:txEl>
                                          </p:spTgt>
                                        </p:tgtEl>
                                        <p:attrNameLst>
                                          <p:attrName>style.visibility</p:attrName>
                                        </p:attrNameLst>
                                      </p:cBhvr>
                                      <p:to>
                                        <p:strVal val="visible"/>
                                      </p:to>
                                    </p:set>
                                    <p:animEffect transition="in" filter="blinds(horizontal)">
                                      <p:cBhvr>
                                        <p:cTn id="12" dur="500"/>
                                        <p:tgtEl>
                                          <p:spTgt spid="110597">
                                            <p:txEl>
                                              <p:charRg st="0" end="1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10597">
                                            <p:txEl>
                                              <p:charRg st="17" end="35"/>
                                            </p:txEl>
                                          </p:spTgt>
                                        </p:tgtEl>
                                        <p:attrNameLst>
                                          <p:attrName>style.visibility</p:attrName>
                                        </p:attrNameLst>
                                      </p:cBhvr>
                                      <p:to>
                                        <p:strVal val="visible"/>
                                      </p:to>
                                    </p:set>
                                    <p:animEffect transition="in" filter="blinds(horizontal)">
                                      <p:cBhvr>
                                        <p:cTn id="17" dur="500"/>
                                        <p:tgtEl>
                                          <p:spTgt spid="110597">
                                            <p:txEl>
                                              <p:charRg st="17" end="35"/>
                                            </p:txEl>
                                          </p:spTgt>
                                        </p:tgtEl>
                                      </p:cBhvr>
                                    </p:animEffect>
                                  </p:childTnLst>
                                </p:cTn>
                              </p:par>
                            </p:childTnLst>
                          </p:cTn>
                        </p:par>
                        <p:par>
                          <p:cTn id="18" fill="hold">
                            <p:stCondLst>
                              <p:cond delay="500"/>
                            </p:stCondLst>
                            <p:childTnLst>
                              <p:par>
                                <p:cTn id="19" presetID="3" presetClass="entr" presetSubtype="10" fill="hold" grpId="0" nodeType="afterEffect">
                                  <p:stCondLst>
                                    <p:cond delay="0"/>
                                  </p:stCondLst>
                                  <p:childTnLst>
                                    <p:set>
                                      <p:cBhvr>
                                        <p:cTn id="20" dur="1" fill="hold">
                                          <p:stCondLst>
                                            <p:cond delay="0"/>
                                          </p:stCondLst>
                                        </p:cTn>
                                        <p:tgtEl>
                                          <p:spTgt spid="110597">
                                            <p:txEl>
                                              <p:charRg st="35" end="55"/>
                                            </p:txEl>
                                          </p:spTgt>
                                        </p:tgtEl>
                                        <p:attrNameLst>
                                          <p:attrName>style.visibility</p:attrName>
                                        </p:attrNameLst>
                                      </p:cBhvr>
                                      <p:to>
                                        <p:strVal val="visible"/>
                                      </p:to>
                                    </p:set>
                                    <p:animEffect transition="in" filter="blinds(horizontal)">
                                      <p:cBhvr>
                                        <p:cTn id="21" dur="500"/>
                                        <p:tgtEl>
                                          <p:spTgt spid="110597">
                                            <p:txEl>
                                              <p:charRg st="35" end="55"/>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110597">
                                            <p:txEl>
                                              <p:charRg st="56" end="82"/>
                                            </p:txEl>
                                          </p:spTgt>
                                        </p:tgtEl>
                                        <p:attrNameLst>
                                          <p:attrName>style.visibility</p:attrName>
                                        </p:attrNameLst>
                                      </p:cBhvr>
                                      <p:to>
                                        <p:strVal val="visible"/>
                                      </p:to>
                                    </p:set>
                                    <p:animEffect transition="in" filter="blinds(horizontal)">
                                      <p:cBhvr>
                                        <p:cTn id="26" dur="500"/>
                                        <p:tgtEl>
                                          <p:spTgt spid="110597">
                                            <p:txEl>
                                              <p:charRg st="56" end="82"/>
                                            </p:txEl>
                                          </p:spTgt>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110597">
                                            <p:txEl>
                                              <p:charRg st="82" end="117"/>
                                            </p:txEl>
                                          </p:spTgt>
                                        </p:tgtEl>
                                        <p:attrNameLst>
                                          <p:attrName>style.visibility</p:attrName>
                                        </p:attrNameLst>
                                      </p:cBhvr>
                                      <p:to>
                                        <p:strVal val="visible"/>
                                      </p:to>
                                    </p:set>
                                    <p:animEffect transition="in" filter="blinds(horizontal)">
                                      <p:cBhvr>
                                        <p:cTn id="29" dur="500"/>
                                        <p:tgtEl>
                                          <p:spTgt spid="110597">
                                            <p:txEl>
                                              <p:charRg st="82" end="117"/>
                                            </p:txEl>
                                          </p:spTgt>
                                        </p:tgtEl>
                                      </p:cBhvr>
                                    </p:animEffect>
                                  </p:childTnLst>
                                </p:cTn>
                              </p:par>
                              <p:par>
                                <p:cTn id="30" presetID="3" presetClass="entr" presetSubtype="10" fill="hold" nodeType="withEffect">
                                  <p:stCondLst>
                                    <p:cond delay="0"/>
                                  </p:stCondLst>
                                  <p:childTnLst>
                                    <p:set>
                                      <p:cBhvr>
                                        <p:cTn id="31" dur="1" fill="hold">
                                          <p:stCondLst>
                                            <p:cond delay="0"/>
                                          </p:stCondLst>
                                        </p:cTn>
                                        <p:tgtEl>
                                          <p:spTgt spid="110604"/>
                                        </p:tgtEl>
                                        <p:attrNameLst>
                                          <p:attrName>style.visibility</p:attrName>
                                        </p:attrNameLst>
                                      </p:cBhvr>
                                      <p:to>
                                        <p:strVal val="visible"/>
                                      </p:to>
                                    </p:set>
                                    <p:animEffect transition="in" filter="blinds(horizontal)">
                                      <p:cBhvr>
                                        <p:cTn id="32" dur="500"/>
                                        <p:tgtEl>
                                          <p:spTgt spid="110604"/>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10597">
                                            <p:txEl>
                                              <p:charRg st="117" end="143"/>
                                            </p:txEl>
                                          </p:spTgt>
                                        </p:tgtEl>
                                        <p:attrNameLst>
                                          <p:attrName>style.visibility</p:attrName>
                                        </p:attrNameLst>
                                      </p:cBhvr>
                                      <p:to>
                                        <p:strVal val="visible"/>
                                      </p:to>
                                    </p:set>
                                    <p:animEffect transition="in" filter="blinds(horizontal)">
                                      <p:cBhvr>
                                        <p:cTn id="37" dur="500"/>
                                        <p:tgtEl>
                                          <p:spTgt spid="110597">
                                            <p:txEl>
                                              <p:charRg st="117" end="143"/>
                                            </p:txEl>
                                          </p:spTgt>
                                        </p:tgtEl>
                                      </p:cBhvr>
                                    </p:animEffect>
                                  </p:childTnLst>
                                </p:cTn>
                              </p:par>
                              <p:par>
                                <p:cTn id="38" presetID="3" presetClass="entr" presetSubtype="10" fill="hold" grpId="0" nodeType="withEffect">
                                  <p:stCondLst>
                                    <p:cond delay="0"/>
                                  </p:stCondLst>
                                  <p:childTnLst>
                                    <p:set>
                                      <p:cBhvr>
                                        <p:cTn id="39" dur="1" fill="hold">
                                          <p:stCondLst>
                                            <p:cond delay="0"/>
                                          </p:stCondLst>
                                        </p:cTn>
                                        <p:tgtEl>
                                          <p:spTgt spid="110597">
                                            <p:txEl>
                                              <p:charRg st="143" end="198"/>
                                            </p:txEl>
                                          </p:spTgt>
                                        </p:tgtEl>
                                        <p:attrNameLst>
                                          <p:attrName>style.visibility</p:attrName>
                                        </p:attrNameLst>
                                      </p:cBhvr>
                                      <p:to>
                                        <p:strVal val="visible"/>
                                      </p:to>
                                    </p:set>
                                    <p:animEffect transition="in" filter="blinds(horizontal)">
                                      <p:cBhvr>
                                        <p:cTn id="40" dur="500"/>
                                        <p:tgtEl>
                                          <p:spTgt spid="110597">
                                            <p:txEl>
                                              <p:charRg st="143" end="198"/>
                                            </p:txEl>
                                          </p:spTgt>
                                        </p:tgtEl>
                                      </p:cBhvr>
                                    </p:animEffect>
                                  </p:childTnLst>
                                </p:cTn>
                              </p:par>
                              <p:par>
                                <p:cTn id="41" presetID="3" presetClass="entr" presetSubtype="10" fill="hold" nodeType="withEffect">
                                  <p:stCondLst>
                                    <p:cond delay="0"/>
                                  </p:stCondLst>
                                  <p:childTnLst>
                                    <p:set>
                                      <p:cBhvr>
                                        <p:cTn id="42" dur="1" fill="hold">
                                          <p:stCondLst>
                                            <p:cond delay="0"/>
                                          </p:stCondLst>
                                        </p:cTn>
                                        <p:tgtEl>
                                          <p:spTgt spid="110605"/>
                                        </p:tgtEl>
                                        <p:attrNameLst>
                                          <p:attrName>style.visibility</p:attrName>
                                        </p:attrNameLst>
                                      </p:cBhvr>
                                      <p:to>
                                        <p:strVal val="visible"/>
                                      </p:to>
                                    </p:set>
                                    <p:animEffect transition="in" filter="blinds(horizontal)">
                                      <p:cBhvr>
                                        <p:cTn id="43" dur="500"/>
                                        <p:tgtEl>
                                          <p:spTgt spid="1106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110597" grpId="0" uiExpand="1" build="p"/>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2304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4. </a:t>
            </a:r>
            <a:r>
              <a:rPr lang="zh-CN" altLang="en-US" sz="3200" b="1" dirty="0">
                <a:solidFill>
                  <a:srgbClr val="333399"/>
                </a:solidFill>
                <a:latin typeface="楷体_GB2312" pitchFamily="49" charset="-122"/>
              </a:rPr>
              <a:t>下采样</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112645" name="矩形 112644"/>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lnSpc>
                <a:spcPct val="140000"/>
              </a:lnSpc>
              <a:spcBef>
                <a:spcPct val="0"/>
              </a:spcBef>
              <a:buNone/>
            </a:pPr>
            <a:r>
              <a:rPr lang="zh-CN" altLang="en-US" sz="2400" b="1" dirty="0"/>
              <a:t>按照采样定理一，满足                ，可防止混叠，但频谱存在不含任何信号分量的间隔，且采样频率</a:t>
            </a:r>
            <a:r>
              <a:rPr lang="zh-CN" altLang="en-US" sz="2400" b="0" i="1" dirty="0">
                <a:latin typeface="Times New Roman" panose="02020603050405020304" pitchFamily="18" charset="0"/>
              </a:rPr>
              <a:t>     </a:t>
            </a:r>
            <a:r>
              <a:rPr lang="zh-CN" altLang="en-US" sz="2400" b="1" dirty="0"/>
              <a:t>可能很高。</a:t>
            </a:r>
            <a:endParaRPr lang="zh-CN" altLang="en-US" sz="2400" b="1" dirty="0"/>
          </a:p>
          <a:p>
            <a:pPr marL="0" lvl="0" indent="357505" defTabSz="914400">
              <a:lnSpc>
                <a:spcPct val="140000"/>
              </a:lnSpc>
              <a:spcBef>
                <a:spcPct val="0"/>
              </a:spcBef>
              <a:buNone/>
            </a:pPr>
            <a:r>
              <a:rPr lang="zh-CN" altLang="en-US" sz="2400" b="1" dirty="0"/>
              <a:t>定义                   为带通信号的带宽：</a:t>
            </a:r>
            <a:endParaRPr lang="zh-CN" altLang="en-US" sz="2400" b="1" dirty="0"/>
          </a:p>
          <a:p>
            <a:pPr marL="0" lvl="0" indent="357505" defTabSz="914400">
              <a:lnSpc>
                <a:spcPct val="140000"/>
              </a:lnSpc>
              <a:spcBef>
                <a:spcPct val="0"/>
              </a:spcBef>
              <a:buNone/>
            </a:pPr>
            <a:r>
              <a:rPr lang="en-US" altLang="zh-CN" sz="2400" b="1"/>
              <a:t>1. </a:t>
            </a:r>
            <a:r>
              <a:rPr lang="zh-CN" altLang="en-US" sz="2400" b="1" dirty="0"/>
              <a:t>假设     是    的整数倍，即              ，则只需满足：</a:t>
            </a:r>
            <a:endParaRPr lang="zh-CN" altLang="en-US" sz="2400" b="1" dirty="0"/>
          </a:p>
          <a:p>
            <a:pPr marL="0" lvl="0" indent="357505" defTabSz="914400">
              <a:lnSpc>
                <a:spcPct val="140000"/>
              </a:lnSpc>
              <a:spcBef>
                <a:spcPct val="0"/>
              </a:spcBef>
              <a:buNone/>
            </a:pPr>
            <a:endParaRPr lang="zh-CN" altLang="en-US" sz="2400" b="1" dirty="0"/>
          </a:p>
          <a:p>
            <a:pPr marL="0" lvl="0" indent="357505" defTabSz="914400">
              <a:lnSpc>
                <a:spcPct val="140000"/>
              </a:lnSpc>
              <a:spcBef>
                <a:spcPct val="0"/>
              </a:spcBef>
              <a:buNone/>
            </a:pPr>
            <a:endParaRPr lang="zh-CN" altLang="en-US" sz="2400" b="1" dirty="0"/>
          </a:p>
          <a:p>
            <a:pPr marL="0" lvl="0" indent="357505" defTabSz="914400">
              <a:lnSpc>
                <a:spcPct val="140000"/>
              </a:lnSpc>
              <a:spcBef>
                <a:spcPct val="0"/>
              </a:spcBef>
              <a:buNone/>
            </a:pPr>
            <a:r>
              <a:rPr lang="en-US" altLang="zh-CN" sz="2400" b="1"/>
              <a:t>2. </a:t>
            </a:r>
            <a:r>
              <a:rPr lang="zh-CN" altLang="en-US" sz="2400" b="1" dirty="0"/>
              <a:t>如果     不是    的整数倍，则向左或向右人为地将带宽扩展为    ，使得                ，则只需满足：</a:t>
            </a:r>
            <a:endParaRPr lang="zh-CN" altLang="en-US" sz="2400" b="1" dirty="0"/>
          </a:p>
        </p:txBody>
      </p:sp>
      <p:graphicFrame>
        <p:nvGraphicFramePr>
          <p:cNvPr id="112648" name="对象 112647"/>
          <p:cNvGraphicFramePr/>
          <p:nvPr/>
        </p:nvGraphicFramePr>
        <p:xfrm>
          <a:off x="3924300" y="1736725"/>
          <a:ext cx="1449388" cy="401638"/>
        </p:xfrm>
        <a:graphic>
          <a:graphicData uri="http://schemas.openxmlformats.org/presentationml/2006/ole">
            <mc:AlternateContent xmlns:mc="http://schemas.openxmlformats.org/markup-compatibility/2006">
              <mc:Choice xmlns:v="urn:schemas-microsoft-com:vml" Requires="v">
                <p:oleObj spid="_x0000_s3111" name="" r:id="rId1" imgW="760730" imgH="266065" progId="Equation.DSMT4">
                  <p:embed/>
                </p:oleObj>
              </mc:Choice>
              <mc:Fallback>
                <p:oleObj name="" r:id="rId1" imgW="760730" imgH="266065" progId="Equation.DSMT4">
                  <p:embed/>
                  <p:pic>
                    <p:nvPicPr>
                      <p:cNvPr id="0" name="图片 3110"/>
                      <p:cNvPicPr/>
                      <p:nvPr/>
                    </p:nvPicPr>
                    <p:blipFill>
                      <a:blip r:embed="rId2"/>
                      <a:stretch>
                        <a:fillRect/>
                      </a:stretch>
                    </p:blipFill>
                    <p:spPr>
                      <a:xfrm>
                        <a:off x="3924300" y="1736725"/>
                        <a:ext cx="1449388" cy="401638"/>
                      </a:xfrm>
                      <a:prstGeom prst="rect">
                        <a:avLst/>
                      </a:prstGeom>
                      <a:noFill/>
                      <a:ln w="38100">
                        <a:noFill/>
                        <a:miter/>
                      </a:ln>
                    </p:spPr>
                  </p:pic>
                </p:oleObj>
              </mc:Fallback>
            </mc:AlternateContent>
          </a:graphicData>
        </a:graphic>
      </p:graphicFrame>
      <p:graphicFrame>
        <p:nvGraphicFramePr>
          <p:cNvPr id="112649" name="对象 112648"/>
          <p:cNvGraphicFramePr/>
          <p:nvPr/>
        </p:nvGraphicFramePr>
        <p:xfrm>
          <a:off x="6048375" y="2235200"/>
          <a:ext cx="434975" cy="401638"/>
        </p:xfrm>
        <a:graphic>
          <a:graphicData uri="http://schemas.openxmlformats.org/presentationml/2006/ole">
            <mc:AlternateContent xmlns:mc="http://schemas.openxmlformats.org/markup-compatibility/2006">
              <mc:Choice xmlns:v="urn:schemas-microsoft-com:vml" Requires="v">
                <p:oleObj spid="_x0000_s3116" name="" r:id="rId3" imgW="228600" imgH="266065" progId="Equation.DSMT4">
                  <p:embed/>
                </p:oleObj>
              </mc:Choice>
              <mc:Fallback>
                <p:oleObj name="" r:id="rId3" imgW="228600" imgH="266065" progId="Equation.DSMT4">
                  <p:embed/>
                  <p:pic>
                    <p:nvPicPr>
                      <p:cNvPr id="0" name="图片 3115"/>
                      <p:cNvPicPr/>
                      <p:nvPr/>
                    </p:nvPicPr>
                    <p:blipFill>
                      <a:blip r:embed="rId4"/>
                      <a:stretch>
                        <a:fillRect/>
                      </a:stretch>
                    </p:blipFill>
                    <p:spPr>
                      <a:xfrm>
                        <a:off x="6048375" y="2235200"/>
                        <a:ext cx="434975" cy="401638"/>
                      </a:xfrm>
                      <a:prstGeom prst="rect">
                        <a:avLst/>
                      </a:prstGeom>
                      <a:noFill/>
                      <a:ln w="38100">
                        <a:noFill/>
                        <a:miter/>
                      </a:ln>
                    </p:spPr>
                  </p:pic>
                </p:oleObj>
              </mc:Fallback>
            </mc:AlternateContent>
          </a:graphicData>
        </a:graphic>
      </p:graphicFrame>
      <p:graphicFrame>
        <p:nvGraphicFramePr>
          <p:cNvPr id="112650" name="对象 112649"/>
          <p:cNvGraphicFramePr/>
          <p:nvPr/>
        </p:nvGraphicFramePr>
        <p:xfrm>
          <a:off x="1538288" y="2744788"/>
          <a:ext cx="1577975" cy="428625"/>
        </p:xfrm>
        <a:graphic>
          <a:graphicData uri="http://schemas.openxmlformats.org/presentationml/2006/ole">
            <mc:AlternateContent xmlns:mc="http://schemas.openxmlformats.org/markup-compatibility/2006">
              <mc:Choice xmlns:v="urn:schemas-microsoft-com:vml" Requires="v">
                <p:oleObj spid="_x0000_s3112" name="" r:id="rId5" imgW="976630" imgH="266065" progId="Equation.DSMT4">
                  <p:embed/>
                </p:oleObj>
              </mc:Choice>
              <mc:Fallback>
                <p:oleObj name="" r:id="rId5" imgW="976630" imgH="266065" progId="Equation.DSMT4">
                  <p:embed/>
                  <p:pic>
                    <p:nvPicPr>
                      <p:cNvPr id="0" name="图片 3111"/>
                      <p:cNvPicPr/>
                      <p:nvPr/>
                    </p:nvPicPr>
                    <p:blipFill>
                      <a:blip r:embed="rId6"/>
                      <a:stretch>
                        <a:fillRect/>
                      </a:stretch>
                    </p:blipFill>
                    <p:spPr>
                      <a:xfrm>
                        <a:off x="1538288" y="2744788"/>
                        <a:ext cx="1577975" cy="428625"/>
                      </a:xfrm>
                      <a:prstGeom prst="rect">
                        <a:avLst/>
                      </a:prstGeom>
                      <a:noFill/>
                      <a:ln w="38100">
                        <a:noFill/>
                        <a:miter/>
                      </a:ln>
                    </p:spPr>
                  </p:pic>
                </p:oleObj>
              </mc:Fallback>
            </mc:AlternateContent>
          </a:graphicData>
        </a:graphic>
      </p:graphicFrame>
      <p:graphicFrame>
        <p:nvGraphicFramePr>
          <p:cNvPr id="112651" name="对象 112650"/>
          <p:cNvGraphicFramePr/>
          <p:nvPr/>
        </p:nvGraphicFramePr>
        <p:xfrm>
          <a:off x="1847850" y="3279775"/>
          <a:ext cx="482600" cy="401638"/>
        </p:xfrm>
        <a:graphic>
          <a:graphicData uri="http://schemas.openxmlformats.org/presentationml/2006/ole">
            <mc:AlternateContent xmlns:mc="http://schemas.openxmlformats.org/markup-compatibility/2006">
              <mc:Choice xmlns:v="urn:schemas-microsoft-com:vml" Requires="v">
                <p:oleObj spid="_x0000_s3114" name="" r:id="rId7" imgW="253365" imgH="266065" progId="Equation.DSMT4">
                  <p:embed/>
                </p:oleObj>
              </mc:Choice>
              <mc:Fallback>
                <p:oleObj name="" r:id="rId7" imgW="253365" imgH="266065" progId="Equation.DSMT4">
                  <p:embed/>
                  <p:pic>
                    <p:nvPicPr>
                      <p:cNvPr id="0" name="图片 3113"/>
                      <p:cNvPicPr/>
                      <p:nvPr/>
                    </p:nvPicPr>
                    <p:blipFill>
                      <a:blip r:embed="rId8"/>
                      <a:stretch>
                        <a:fillRect/>
                      </a:stretch>
                    </p:blipFill>
                    <p:spPr>
                      <a:xfrm>
                        <a:off x="1847850" y="3279775"/>
                        <a:ext cx="482600" cy="401638"/>
                      </a:xfrm>
                      <a:prstGeom prst="rect">
                        <a:avLst/>
                      </a:prstGeom>
                      <a:noFill/>
                      <a:ln w="38100">
                        <a:noFill/>
                        <a:miter/>
                      </a:ln>
                    </p:spPr>
                  </p:pic>
                </p:oleObj>
              </mc:Fallback>
            </mc:AlternateContent>
          </a:graphicData>
        </a:graphic>
      </p:graphicFrame>
      <p:graphicFrame>
        <p:nvGraphicFramePr>
          <p:cNvPr id="112652" name="对象 112651"/>
          <p:cNvGraphicFramePr/>
          <p:nvPr/>
        </p:nvGraphicFramePr>
        <p:xfrm>
          <a:off x="2617788" y="3330575"/>
          <a:ext cx="285750" cy="306388"/>
        </p:xfrm>
        <a:graphic>
          <a:graphicData uri="http://schemas.openxmlformats.org/presentationml/2006/ole">
            <mc:AlternateContent xmlns:mc="http://schemas.openxmlformats.org/markup-compatibility/2006">
              <mc:Choice xmlns:v="urn:schemas-microsoft-com:vml" Requires="v">
                <p:oleObj spid="_x0000_s3117" name="" r:id="rId9" imgW="177800" imgH="189865" progId="Equation.DSMT4">
                  <p:embed/>
                </p:oleObj>
              </mc:Choice>
              <mc:Fallback>
                <p:oleObj name="" r:id="rId9" imgW="177800" imgH="189865" progId="Equation.DSMT4">
                  <p:embed/>
                  <p:pic>
                    <p:nvPicPr>
                      <p:cNvPr id="0" name="图片 3116"/>
                      <p:cNvPicPr/>
                      <p:nvPr/>
                    </p:nvPicPr>
                    <p:blipFill>
                      <a:blip r:embed="rId10"/>
                      <a:stretch>
                        <a:fillRect/>
                      </a:stretch>
                    </p:blipFill>
                    <p:spPr>
                      <a:xfrm>
                        <a:off x="2617788" y="3330575"/>
                        <a:ext cx="285750" cy="306388"/>
                      </a:xfrm>
                      <a:prstGeom prst="rect">
                        <a:avLst/>
                      </a:prstGeom>
                      <a:noFill/>
                      <a:ln w="38100">
                        <a:noFill/>
                        <a:miter/>
                      </a:ln>
                    </p:spPr>
                  </p:pic>
                </p:oleObj>
              </mc:Fallback>
            </mc:AlternateContent>
          </a:graphicData>
        </a:graphic>
      </p:graphicFrame>
      <p:graphicFrame>
        <p:nvGraphicFramePr>
          <p:cNvPr id="112653" name="对象 112652"/>
          <p:cNvGraphicFramePr/>
          <p:nvPr/>
        </p:nvGraphicFramePr>
        <p:xfrm>
          <a:off x="4741863" y="3249613"/>
          <a:ext cx="1270000" cy="428625"/>
        </p:xfrm>
        <a:graphic>
          <a:graphicData uri="http://schemas.openxmlformats.org/presentationml/2006/ole">
            <mc:AlternateContent xmlns:mc="http://schemas.openxmlformats.org/markup-compatibility/2006">
              <mc:Choice xmlns:v="urn:schemas-microsoft-com:vml" Requires="v">
                <p:oleObj spid="_x0000_s3115" name="" r:id="rId11" imgW="786130" imgH="266065" progId="Equation.DSMT4">
                  <p:embed/>
                </p:oleObj>
              </mc:Choice>
              <mc:Fallback>
                <p:oleObj name="" r:id="rId11" imgW="786130" imgH="266065" progId="Equation.DSMT4">
                  <p:embed/>
                  <p:pic>
                    <p:nvPicPr>
                      <p:cNvPr id="0" name="图片 3114"/>
                      <p:cNvPicPr/>
                      <p:nvPr/>
                    </p:nvPicPr>
                    <p:blipFill>
                      <a:blip r:embed="rId12"/>
                      <a:stretch>
                        <a:fillRect/>
                      </a:stretch>
                    </p:blipFill>
                    <p:spPr>
                      <a:xfrm>
                        <a:off x="4741863" y="3249613"/>
                        <a:ext cx="1270000" cy="428625"/>
                      </a:xfrm>
                      <a:prstGeom prst="rect">
                        <a:avLst/>
                      </a:prstGeom>
                      <a:noFill/>
                      <a:ln w="38100">
                        <a:noFill/>
                        <a:miter/>
                      </a:ln>
                    </p:spPr>
                  </p:pic>
                </p:oleObj>
              </mc:Fallback>
            </mc:AlternateContent>
          </a:graphicData>
        </a:graphic>
      </p:graphicFrame>
      <p:graphicFrame>
        <p:nvGraphicFramePr>
          <p:cNvPr id="112654" name="对象 112653"/>
          <p:cNvGraphicFramePr/>
          <p:nvPr/>
        </p:nvGraphicFramePr>
        <p:xfrm>
          <a:off x="3228975" y="3743325"/>
          <a:ext cx="2390775" cy="765175"/>
        </p:xfrm>
        <a:graphic>
          <a:graphicData uri="http://schemas.openxmlformats.org/presentationml/2006/ole">
            <mc:AlternateContent xmlns:mc="http://schemas.openxmlformats.org/markup-compatibility/2006">
              <mc:Choice xmlns:v="urn:schemas-microsoft-com:vml" Requires="v">
                <p:oleObj spid="_x0000_s3118" name="" r:id="rId13" imgW="1257300" imgH="508000" progId="Equation.DSMT4">
                  <p:embed/>
                </p:oleObj>
              </mc:Choice>
              <mc:Fallback>
                <p:oleObj name="" r:id="rId13" imgW="1257300" imgH="508000" progId="Equation.DSMT4">
                  <p:embed/>
                  <p:pic>
                    <p:nvPicPr>
                      <p:cNvPr id="0" name="图片 3117"/>
                      <p:cNvPicPr/>
                      <p:nvPr/>
                    </p:nvPicPr>
                    <p:blipFill>
                      <a:blip r:embed="rId14"/>
                      <a:stretch>
                        <a:fillRect/>
                      </a:stretch>
                    </p:blipFill>
                    <p:spPr>
                      <a:xfrm>
                        <a:off x="3228975" y="3743325"/>
                        <a:ext cx="2390775" cy="765175"/>
                      </a:xfrm>
                      <a:prstGeom prst="rect">
                        <a:avLst/>
                      </a:prstGeom>
                      <a:noFill/>
                      <a:ln w="38100">
                        <a:noFill/>
                        <a:miter/>
                      </a:ln>
                    </p:spPr>
                  </p:pic>
                </p:oleObj>
              </mc:Fallback>
            </mc:AlternateContent>
          </a:graphicData>
        </a:graphic>
      </p:graphicFrame>
      <p:graphicFrame>
        <p:nvGraphicFramePr>
          <p:cNvPr id="112655" name="对象 112654"/>
          <p:cNvGraphicFramePr/>
          <p:nvPr/>
        </p:nvGraphicFramePr>
        <p:xfrm>
          <a:off x="1820863" y="4797425"/>
          <a:ext cx="482600" cy="401638"/>
        </p:xfrm>
        <a:graphic>
          <a:graphicData uri="http://schemas.openxmlformats.org/presentationml/2006/ole">
            <mc:AlternateContent xmlns:mc="http://schemas.openxmlformats.org/markup-compatibility/2006">
              <mc:Choice xmlns:v="urn:schemas-microsoft-com:vml" Requires="v">
                <p:oleObj spid="_x0000_s3130" name="" r:id="rId15" imgW="253365" imgH="266065" progId="Equation.DSMT4">
                  <p:embed/>
                </p:oleObj>
              </mc:Choice>
              <mc:Fallback>
                <p:oleObj name="" r:id="rId15" imgW="253365" imgH="266065" progId="Equation.DSMT4">
                  <p:embed/>
                  <p:pic>
                    <p:nvPicPr>
                      <p:cNvPr id="0" name="图片 3129"/>
                      <p:cNvPicPr/>
                      <p:nvPr/>
                    </p:nvPicPr>
                    <p:blipFill>
                      <a:blip r:embed="rId16"/>
                      <a:stretch>
                        <a:fillRect/>
                      </a:stretch>
                    </p:blipFill>
                    <p:spPr>
                      <a:xfrm>
                        <a:off x="1820863" y="4797425"/>
                        <a:ext cx="482600" cy="401638"/>
                      </a:xfrm>
                      <a:prstGeom prst="rect">
                        <a:avLst/>
                      </a:prstGeom>
                      <a:noFill/>
                      <a:ln w="38100">
                        <a:noFill/>
                        <a:miter/>
                      </a:ln>
                    </p:spPr>
                  </p:pic>
                </p:oleObj>
              </mc:Fallback>
            </mc:AlternateContent>
          </a:graphicData>
        </a:graphic>
      </p:graphicFrame>
      <p:graphicFrame>
        <p:nvGraphicFramePr>
          <p:cNvPr id="112656" name="对象 112655"/>
          <p:cNvGraphicFramePr/>
          <p:nvPr/>
        </p:nvGraphicFramePr>
        <p:xfrm>
          <a:off x="2928938" y="4875213"/>
          <a:ext cx="285750" cy="307975"/>
        </p:xfrm>
        <a:graphic>
          <a:graphicData uri="http://schemas.openxmlformats.org/presentationml/2006/ole">
            <mc:AlternateContent xmlns:mc="http://schemas.openxmlformats.org/markup-compatibility/2006">
              <mc:Choice xmlns:v="urn:schemas-microsoft-com:vml" Requires="v">
                <p:oleObj spid="_x0000_s3133" name="" r:id="rId17" imgW="177800" imgH="189865" progId="Equation.DSMT4">
                  <p:embed/>
                </p:oleObj>
              </mc:Choice>
              <mc:Fallback>
                <p:oleObj name="" r:id="rId17" imgW="177800" imgH="189865" progId="Equation.DSMT4">
                  <p:embed/>
                  <p:pic>
                    <p:nvPicPr>
                      <p:cNvPr id="0" name="图片 3132"/>
                      <p:cNvPicPr/>
                      <p:nvPr/>
                    </p:nvPicPr>
                    <p:blipFill>
                      <a:blip r:embed="rId18"/>
                      <a:stretch>
                        <a:fillRect/>
                      </a:stretch>
                    </p:blipFill>
                    <p:spPr>
                      <a:xfrm>
                        <a:off x="2928938" y="4875213"/>
                        <a:ext cx="285750" cy="307975"/>
                      </a:xfrm>
                      <a:prstGeom prst="rect">
                        <a:avLst/>
                      </a:prstGeom>
                      <a:noFill/>
                      <a:ln w="38100">
                        <a:noFill/>
                        <a:miter/>
                      </a:ln>
                    </p:spPr>
                  </p:pic>
                </p:oleObj>
              </mc:Fallback>
            </mc:AlternateContent>
          </a:graphicData>
        </a:graphic>
      </p:graphicFrame>
      <p:graphicFrame>
        <p:nvGraphicFramePr>
          <p:cNvPr id="112657" name="对象 112656"/>
          <p:cNvGraphicFramePr/>
          <p:nvPr/>
        </p:nvGraphicFramePr>
        <p:xfrm>
          <a:off x="1154113" y="5383213"/>
          <a:ext cx="368300" cy="307975"/>
        </p:xfrm>
        <a:graphic>
          <a:graphicData uri="http://schemas.openxmlformats.org/presentationml/2006/ole">
            <mc:AlternateContent xmlns:mc="http://schemas.openxmlformats.org/markup-compatibility/2006">
              <mc:Choice xmlns:v="urn:schemas-microsoft-com:vml" Requires="v">
                <p:oleObj spid="_x0000_s3134" name="" r:id="rId19" imgW="228600" imgH="190500" progId="Equation.DSMT4">
                  <p:embed/>
                </p:oleObj>
              </mc:Choice>
              <mc:Fallback>
                <p:oleObj name="" r:id="rId19" imgW="228600" imgH="190500" progId="Equation.DSMT4">
                  <p:embed/>
                  <p:pic>
                    <p:nvPicPr>
                      <p:cNvPr id="0" name="图片 3133"/>
                      <p:cNvPicPr/>
                      <p:nvPr/>
                    </p:nvPicPr>
                    <p:blipFill>
                      <a:blip r:embed="rId20"/>
                      <a:stretch>
                        <a:fillRect/>
                      </a:stretch>
                    </p:blipFill>
                    <p:spPr>
                      <a:xfrm>
                        <a:off x="1154113" y="5383213"/>
                        <a:ext cx="368300" cy="307975"/>
                      </a:xfrm>
                      <a:prstGeom prst="rect">
                        <a:avLst/>
                      </a:prstGeom>
                      <a:noFill/>
                      <a:ln w="38100">
                        <a:noFill/>
                        <a:miter/>
                      </a:ln>
                    </p:spPr>
                  </p:pic>
                </p:oleObj>
              </mc:Fallback>
            </mc:AlternateContent>
          </a:graphicData>
        </a:graphic>
      </p:graphicFrame>
      <p:graphicFrame>
        <p:nvGraphicFramePr>
          <p:cNvPr id="112658" name="对象 112657"/>
          <p:cNvGraphicFramePr/>
          <p:nvPr/>
        </p:nvGraphicFramePr>
        <p:xfrm>
          <a:off x="2401888" y="5300663"/>
          <a:ext cx="1352550" cy="428625"/>
        </p:xfrm>
        <a:graphic>
          <a:graphicData uri="http://schemas.openxmlformats.org/presentationml/2006/ole">
            <mc:AlternateContent xmlns:mc="http://schemas.openxmlformats.org/markup-compatibility/2006">
              <mc:Choice xmlns:v="urn:schemas-microsoft-com:vml" Requires="v">
                <p:oleObj spid="_x0000_s3124" name="" r:id="rId21" imgW="836930" imgH="266065" progId="Equation.DSMT4">
                  <p:embed/>
                </p:oleObj>
              </mc:Choice>
              <mc:Fallback>
                <p:oleObj name="" r:id="rId21" imgW="836930" imgH="266065" progId="Equation.DSMT4">
                  <p:embed/>
                  <p:pic>
                    <p:nvPicPr>
                      <p:cNvPr id="0" name="图片 3123"/>
                      <p:cNvPicPr/>
                      <p:nvPr/>
                    </p:nvPicPr>
                    <p:blipFill>
                      <a:blip r:embed="rId22"/>
                      <a:stretch>
                        <a:fillRect/>
                      </a:stretch>
                    </p:blipFill>
                    <p:spPr>
                      <a:xfrm>
                        <a:off x="2401888" y="5300663"/>
                        <a:ext cx="1352550" cy="428625"/>
                      </a:xfrm>
                      <a:prstGeom prst="rect">
                        <a:avLst/>
                      </a:prstGeom>
                      <a:noFill/>
                      <a:ln w="38100">
                        <a:noFill/>
                        <a:miter/>
                      </a:ln>
                    </p:spPr>
                  </p:pic>
                </p:oleObj>
              </mc:Fallback>
            </mc:AlternateContent>
          </a:graphicData>
        </a:graphic>
      </p:graphicFrame>
      <p:graphicFrame>
        <p:nvGraphicFramePr>
          <p:cNvPr id="112659" name="对象 112658"/>
          <p:cNvGraphicFramePr/>
          <p:nvPr/>
        </p:nvGraphicFramePr>
        <p:xfrm>
          <a:off x="5783263" y="5337175"/>
          <a:ext cx="1400175" cy="401638"/>
        </p:xfrm>
        <a:graphic>
          <a:graphicData uri="http://schemas.openxmlformats.org/presentationml/2006/ole">
            <mc:AlternateContent xmlns:mc="http://schemas.openxmlformats.org/markup-compatibility/2006">
              <mc:Choice xmlns:v="urn:schemas-microsoft-com:vml" Requires="v">
                <p:oleObj spid="_x0000_s3125" name="" r:id="rId23" imgW="735330" imgH="266065" progId="Equation.DSMT4">
                  <p:embed/>
                </p:oleObj>
              </mc:Choice>
              <mc:Fallback>
                <p:oleObj name="" r:id="rId23" imgW="735330" imgH="266065" progId="Equation.DSMT4">
                  <p:embed/>
                  <p:pic>
                    <p:nvPicPr>
                      <p:cNvPr id="0" name="图片 3124"/>
                      <p:cNvPicPr/>
                      <p:nvPr/>
                    </p:nvPicPr>
                    <p:blipFill>
                      <a:blip r:embed="rId24"/>
                      <a:stretch>
                        <a:fillRect/>
                      </a:stretch>
                    </p:blipFill>
                    <p:spPr>
                      <a:xfrm>
                        <a:off x="5783263" y="5337175"/>
                        <a:ext cx="1400175" cy="401638"/>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2645">
                                            <p:txEl>
                                              <p:charRg st="0" end="66"/>
                                            </p:txEl>
                                          </p:spTgt>
                                        </p:tgtEl>
                                        <p:attrNameLst>
                                          <p:attrName>style.visibility</p:attrName>
                                        </p:attrNameLst>
                                      </p:cBhvr>
                                      <p:to>
                                        <p:strVal val="visible"/>
                                      </p:to>
                                    </p:set>
                                    <p:animEffect transition="in" filter="blinds(horizontal)">
                                      <p:cBhvr>
                                        <p:cTn id="7" dur="500"/>
                                        <p:tgtEl>
                                          <p:spTgt spid="112645">
                                            <p:txEl>
                                              <p:charRg st="0" end="66"/>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12648"/>
                                        </p:tgtEl>
                                        <p:attrNameLst>
                                          <p:attrName>style.visibility</p:attrName>
                                        </p:attrNameLst>
                                      </p:cBhvr>
                                      <p:to>
                                        <p:strVal val="visible"/>
                                      </p:to>
                                    </p:set>
                                    <p:animEffect transition="in" filter="blinds(horizontal)">
                                      <p:cBhvr>
                                        <p:cTn id="10" dur="500"/>
                                        <p:tgtEl>
                                          <p:spTgt spid="112648"/>
                                        </p:tgtEl>
                                      </p:cBhvr>
                                    </p:animEffect>
                                  </p:childTnLst>
                                </p:cTn>
                              </p:par>
                              <p:par>
                                <p:cTn id="11" presetID="3" presetClass="entr" presetSubtype="10" fill="hold" nodeType="withEffect">
                                  <p:stCondLst>
                                    <p:cond delay="0"/>
                                  </p:stCondLst>
                                  <p:childTnLst>
                                    <p:set>
                                      <p:cBhvr>
                                        <p:cTn id="12" dur="1" fill="hold">
                                          <p:stCondLst>
                                            <p:cond delay="0"/>
                                          </p:stCondLst>
                                        </p:cTn>
                                        <p:tgtEl>
                                          <p:spTgt spid="112649"/>
                                        </p:tgtEl>
                                        <p:attrNameLst>
                                          <p:attrName>style.visibility</p:attrName>
                                        </p:attrNameLst>
                                      </p:cBhvr>
                                      <p:to>
                                        <p:strVal val="visible"/>
                                      </p:to>
                                    </p:set>
                                    <p:animEffect transition="in" filter="blinds(horizontal)">
                                      <p:cBhvr>
                                        <p:cTn id="13" dur="500"/>
                                        <p:tgtEl>
                                          <p:spTgt spid="112649"/>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112645">
                                            <p:txEl>
                                              <p:charRg st="66" end="97"/>
                                            </p:txEl>
                                          </p:spTgt>
                                        </p:tgtEl>
                                        <p:attrNameLst>
                                          <p:attrName>style.visibility</p:attrName>
                                        </p:attrNameLst>
                                      </p:cBhvr>
                                      <p:to>
                                        <p:strVal val="visible"/>
                                      </p:to>
                                    </p:set>
                                    <p:animEffect transition="in" filter="blinds(horizontal)">
                                      <p:cBhvr>
                                        <p:cTn id="18" dur="500"/>
                                        <p:tgtEl>
                                          <p:spTgt spid="112645">
                                            <p:txEl>
                                              <p:charRg st="66" end="97"/>
                                            </p:txEl>
                                          </p:spTgt>
                                        </p:tgtEl>
                                      </p:cBhvr>
                                    </p:animEffect>
                                  </p:childTnLst>
                                </p:cTn>
                              </p:par>
                              <p:par>
                                <p:cTn id="19" presetID="3" presetClass="entr" presetSubtype="10" fill="hold" nodeType="withEffect">
                                  <p:stCondLst>
                                    <p:cond delay="0"/>
                                  </p:stCondLst>
                                  <p:childTnLst>
                                    <p:set>
                                      <p:cBhvr>
                                        <p:cTn id="20" dur="1" fill="hold">
                                          <p:stCondLst>
                                            <p:cond delay="0"/>
                                          </p:stCondLst>
                                        </p:cTn>
                                        <p:tgtEl>
                                          <p:spTgt spid="112650"/>
                                        </p:tgtEl>
                                        <p:attrNameLst>
                                          <p:attrName>style.visibility</p:attrName>
                                        </p:attrNameLst>
                                      </p:cBhvr>
                                      <p:to>
                                        <p:strVal val="visible"/>
                                      </p:to>
                                    </p:set>
                                    <p:animEffect transition="in" filter="blinds(horizontal)">
                                      <p:cBhvr>
                                        <p:cTn id="21" dur="500"/>
                                        <p:tgtEl>
                                          <p:spTgt spid="112650"/>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112645">
                                            <p:txEl>
                                              <p:charRg st="97" end="140"/>
                                            </p:txEl>
                                          </p:spTgt>
                                        </p:tgtEl>
                                        <p:attrNameLst>
                                          <p:attrName>style.visibility</p:attrName>
                                        </p:attrNameLst>
                                      </p:cBhvr>
                                      <p:to>
                                        <p:strVal val="visible"/>
                                      </p:to>
                                    </p:set>
                                    <p:animEffect transition="in" filter="blinds(horizontal)">
                                      <p:cBhvr>
                                        <p:cTn id="26" dur="500"/>
                                        <p:tgtEl>
                                          <p:spTgt spid="112645">
                                            <p:txEl>
                                              <p:charRg st="97" end="140"/>
                                            </p:txEl>
                                          </p:spTgt>
                                        </p:tgtEl>
                                      </p:cBhvr>
                                    </p:animEffect>
                                  </p:childTnLst>
                                </p:cTn>
                              </p:par>
                              <p:par>
                                <p:cTn id="27" presetID="3" presetClass="entr" presetSubtype="10" fill="hold" nodeType="withEffect">
                                  <p:stCondLst>
                                    <p:cond delay="0"/>
                                  </p:stCondLst>
                                  <p:childTnLst>
                                    <p:set>
                                      <p:cBhvr>
                                        <p:cTn id="28" dur="1" fill="hold">
                                          <p:stCondLst>
                                            <p:cond delay="0"/>
                                          </p:stCondLst>
                                        </p:cTn>
                                        <p:tgtEl>
                                          <p:spTgt spid="112651"/>
                                        </p:tgtEl>
                                        <p:attrNameLst>
                                          <p:attrName>style.visibility</p:attrName>
                                        </p:attrNameLst>
                                      </p:cBhvr>
                                      <p:to>
                                        <p:strVal val="visible"/>
                                      </p:to>
                                    </p:set>
                                    <p:animEffect transition="in" filter="blinds(horizontal)">
                                      <p:cBhvr>
                                        <p:cTn id="29" dur="500"/>
                                        <p:tgtEl>
                                          <p:spTgt spid="112651"/>
                                        </p:tgtEl>
                                      </p:cBhvr>
                                    </p:animEffect>
                                  </p:childTnLst>
                                </p:cTn>
                              </p:par>
                              <p:par>
                                <p:cTn id="30" presetID="3" presetClass="entr" presetSubtype="10" fill="hold" nodeType="withEffect">
                                  <p:stCondLst>
                                    <p:cond delay="0"/>
                                  </p:stCondLst>
                                  <p:childTnLst>
                                    <p:set>
                                      <p:cBhvr>
                                        <p:cTn id="31" dur="1" fill="hold">
                                          <p:stCondLst>
                                            <p:cond delay="0"/>
                                          </p:stCondLst>
                                        </p:cTn>
                                        <p:tgtEl>
                                          <p:spTgt spid="112652"/>
                                        </p:tgtEl>
                                        <p:attrNameLst>
                                          <p:attrName>style.visibility</p:attrName>
                                        </p:attrNameLst>
                                      </p:cBhvr>
                                      <p:to>
                                        <p:strVal val="visible"/>
                                      </p:to>
                                    </p:set>
                                    <p:animEffect transition="in" filter="blinds(horizontal)">
                                      <p:cBhvr>
                                        <p:cTn id="32" dur="500"/>
                                        <p:tgtEl>
                                          <p:spTgt spid="112652"/>
                                        </p:tgtEl>
                                      </p:cBhvr>
                                    </p:animEffect>
                                  </p:childTnLst>
                                </p:cTn>
                              </p:par>
                              <p:par>
                                <p:cTn id="33" presetID="3" presetClass="entr" presetSubtype="10" fill="hold" nodeType="withEffect">
                                  <p:stCondLst>
                                    <p:cond delay="0"/>
                                  </p:stCondLst>
                                  <p:childTnLst>
                                    <p:set>
                                      <p:cBhvr>
                                        <p:cTn id="34" dur="1" fill="hold">
                                          <p:stCondLst>
                                            <p:cond delay="0"/>
                                          </p:stCondLst>
                                        </p:cTn>
                                        <p:tgtEl>
                                          <p:spTgt spid="112653"/>
                                        </p:tgtEl>
                                        <p:attrNameLst>
                                          <p:attrName>style.visibility</p:attrName>
                                        </p:attrNameLst>
                                      </p:cBhvr>
                                      <p:to>
                                        <p:strVal val="visible"/>
                                      </p:to>
                                    </p:set>
                                    <p:animEffect transition="in" filter="blinds(horizontal)">
                                      <p:cBhvr>
                                        <p:cTn id="35" dur="500"/>
                                        <p:tgtEl>
                                          <p:spTgt spid="112653"/>
                                        </p:tgtEl>
                                      </p:cBhvr>
                                    </p:animEffect>
                                  </p:childTnLst>
                                </p:cTn>
                              </p:par>
                              <p:par>
                                <p:cTn id="36" presetID="3" presetClass="entr" presetSubtype="10" fill="hold" nodeType="withEffect">
                                  <p:stCondLst>
                                    <p:cond delay="0"/>
                                  </p:stCondLst>
                                  <p:childTnLst>
                                    <p:set>
                                      <p:cBhvr>
                                        <p:cTn id="37" dur="1" fill="hold">
                                          <p:stCondLst>
                                            <p:cond delay="0"/>
                                          </p:stCondLst>
                                        </p:cTn>
                                        <p:tgtEl>
                                          <p:spTgt spid="112654"/>
                                        </p:tgtEl>
                                        <p:attrNameLst>
                                          <p:attrName>style.visibility</p:attrName>
                                        </p:attrNameLst>
                                      </p:cBhvr>
                                      <p:to>
                                        <p:strVal val="visible"/>
                                      </p:to>
                                    </p:set>
                                    <p:animEffect transition="in" filter="blinds(horizontal)">
                                      <p:cBhvr>
                                        <p:cTn id="38" dur="500"/>
                                        <p:tgtEl>
                                          <p:spTgt spid="112654"/>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12645">
                                            <p:txEl>
                                              <p:charRg st="142" end="209"/>
                                            </p:txEl>
                                          </p:spTgt>
                                        </p:tgtEl>
                                        <p:attrNameLst>
                                          <p:attrName>style.visibility</p:attrName>
                                        </p:attrNameLst>
                                      </p:cBhvr>
                                      <p:to>
                                        <p:strVal val="visible"/>
                                      </p:to>
                                    </p:set>
                                    <p:animEffect transition="in" filter="blinds(horizontal)">
                                      <p:cBhvr>
                                        <p:cTn id="43" dur="500"/>
                                        <p:tgtEl>
                                          <p:spTgt spid="112645">
                                            <p:txEl>
                                              <p:charRg st="142" end="209"/>
                                            </p:txEl>
                                          </p:spTgt>
                                        </p:tgtEl>
                                      </p:cBhvr>
                                    </p:animEffect>
                                  </p:childTnLst>
                                </p:cTn>
                              </p:par>
                              <p:par>
                                <p:cTn id="44" presetID="3" presetClass="entr" presetSubtype="10" fill="hold" nodeType="withEffect">
                                  <p:stCondLst>
                                    <p:cond delay="0"/>
                                  </p:stCondLst>
                                  <p:childTnLst>
                                    <p:set>
                                      <p:cBhvr>
                                        <p:cTn id="45" dur="1" fill="hold">
                                          <p:stCondLst>
                                            <p:cond delay="0"/>
                                          </p:stCondLst>
                                        </p:cTn>
                                        <p:tgtEl>
                                          <p:spTgt spid="112655"/>
                                        </p:tgtEl>
                                        <p:attrNameLst>
                                          <p:attrName>style.visibility</p:attrName>
                                        </p:attrNameLst>
                                      </p:cBhvr>
                                      <p:to>
                                        <p:strVal val="visible"/>
                                      </p:to>
                                    </p:set>
                                    <p:animEffect transition="in" filter="blinds(horizontal)">
                                      <p:cBhvr>
                                        <p:cTn id="46" dur="500"/>
                                        <p:tgtEl>
                                          <p:spTgt spid="112655"/>
                                        </p:tgtEl>
                                      </p:cBhvr>
                                    </p:animEffect>
                                  </p:childTnLst>
                                </p:cTn>
                              </p:par>
                              <p:par>
                                <p:cTn id="47" presetID="3" presetClass="entr" presetSubtype="10" fill="hold" nodeType="withEffect">
                                  <p:stCondLst>
                                    <p:cond delay="0"/>
                                  </p:stCondLst>
                                  <p:childTnLst>
                                    <p:set>
                                      <p:cBhvr>
                                        <p:cTn id="48" dur="1" fill="hold">
                                          <p:stCondLst>
                                            <p:cond delay="0"/>
                                          </p:stCondLst>
                                        </p:cTn>
                                        <p:tgtEl>
                                          <p:spTgt spid="112656"/>
                                        </p:tgtEl>
                                        <p:attrNameLst>
                                          <p:attrName>style.visibility</p:attrName>
                                        </p:attrNameLst>
                                      </p:cBhvr>
                                      <p:to>
                                        <p:strVal val="visible"/>
                                      </p:to>
                                    </p:set>
                                    <p:animEffect transition="in" filter="blinds(horizontal)">
                                      <p:cBhvr>
                                        <p:cTn id="49" dur="500"/>
                                        <p:tgtEl>
                                          <p:spTgt spid="112656"/>
                                        </p:tgtEl>
                                      </p:cBhvr>
                                    </p:animEffect>
                                  </p:childTnLst>
                                </p:cTn>
                              </p:par>
                              <p:par>
                                <p:cTn id="50" presetID="3" presetClass="entr" presetSubtype="10" fill="hold" nodeType="withEffect">
                                  <p:stCondLst>
                                    <p:cond delay="0"/>
                                  </p:stCondLst>
                                  <p:childTnLst>
                                    <p:set>
                                      <p:cBhvr>
                                        <p:cTn id="51" dur="1" fill="hold">
                                          <p:stCondLst>
                                            <p:cond delay="0"/>
                                          </p:stCondLst>
                                        </p:cTn>
                                        <p:tgtEl>
                                          <p:spTgt spid="112657"/>
                                        </p:tgtEl>
                                        <p:attrNameLst>
                                          <p:attrName>style.visibility</p:attrName>
                                        </p:attrNameLst>
                                      </p:cBhvr>
                                      <p:to>
                                        <p:strVal val="visible"/>
                                      </p:to>
                                    </p:set>
                                    <p:animEffect transition="in" filter="blinds(horizontal)">
                                      <p:cBhvr>
                                        <p:cTn id="52" dur="500"/>
                                        <p:tgtEl>
                                          <p:spTgt spid="112657"/>
                                        </p:tgtEl>
                                      </p:cBhvr>
                                    </p:animEffect>
                                  </p:childTnLst>
                                </p:cTn>
                              </p:par>
                              <p:par>
                                <p:cTn id="53" presetID="3" presetClass="entr" presetSubtype="10" fill="hold" nodeType="withEffect">
                                  <p:stCondLst>
                                    <p:cond delay="0"/>
                                  </p:stCondLst>
                                  <p:childTnLst>
                                    <p:set>
                                      <p:cBhvr>
                                        <p:cTn id="54" dur="1" fill="hold">
                                          <p:stCondLst>
                                            <p:cond delay="0"/>
                                          </p:stCondLst>
                                        </p:cTn>
                                        <p:tgtEl>
                                          <p:spTgt spid="112658"/>
                                        </p:tgtEl>
                                        <p:attrNameLst>
                                          <p:attrName>style.visibility</p:attrName>
                                        </p:attrNameLst>
                                      </p:cBhvr>
                                      <p:to>
                                        <p:strVal val="visible"/>
                                      </p:to>
                                    </p:set>
                                    <p:animEffect transition="in" filter="blinds(horizontal)">
                                      <p:cBhvr>
                                        <p:cTn id="55" dur="500"/>
                                        <p:tgtEl>
                                          <p:spTgt spid="112658"/>
                                        </p:tgtEl>
                                      </p:cBhvr>
                                    </p:animEffect>
                                  </p:childTnLst>
                                </p:cTn>
                              </p:par>
                              <p:par>
                                <p:cTn id="56" presetID="3" presetClass="entr" presetSubtype="10" fill="hold" nodeType="withEffect">
                                  <p:stCondLst>
                                    <p:cond delay="0"/>
                                  </p:stCondLst>
                                  <p:childTnLst>
                                    <p:set>
                                      <p:cBhvr>
                                        <p:cTn id="57" dur="1" fill="hold">
                                          <p:stCondLst>
                                            <p:cond delay="0"/>
                                          </p:stCondLst>
                                        </p:cTn>
                                        <p:tgtEl>
                                          <p:spTgt spid="112659"/>
                                        </p:tgtEl>
                                        <p:attrNameLst>
                                          <p:attrName>style.visibility</p:attrName>
                                        </p:attrNameLst>
                                      </p:cBhvr>
                                      <p:to>
                                        <p:strVal val="visible"/>
                                      </p:to>
                                    </p:set>
                                    <p:animEffect transition="in" filter="blinds(horizontal)">
                                      <p:cBhvr>
                                        <p:cTn id="58" dur="500"/>
                                        <p:tgtEl>
                                          <p:spTgt spid="1126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5" grpId="0" uiExpand="1"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grpSp>
        <p:nvGrpSpPr>
          <p:cNvPr id="82956" name="组合 82955"/>
          <p:cNvGrpSpPr/>
          <p:nvPr/>
        </p:nvGrpSpPr>
        <p:grpSpPr>
          <a:xfrm>
            <a:off x="539750" y="1666875"/>
            <a:ext cx="3671888" cy="3738563"/>
            <a:chOff x="340" y="1661"/>
            <a:chExt cx="2313" cy="2355"/>
          </a:xfrm>
        </p:grpSpPr>
        <p:grpSp>
          <p:nvGrpSpPr>
            <p:cNvPr id="82957" name="组合 82956"/>
            <p:cNvGrpSpPr/>
            <p:nvPr/>
          </p:nvGrpSpPr>
          <p:grpSpPr>
            <a:xfrm>
              <a:off x="340" y="1661"/>
              <a:ext cx="2313" cy="2355"/>
              <a:chOff x="340" y="1661"/>
              <a:chExt cx="2313" cy="2355"/>
            </a:xfrm>
          </p:grpSpPr>
          <p:graphicFrame>
            <p:nvGraphicFramePr>
              <p:cNvPr id="82958" name="内容占位符 82957"/>
              <p:cNvGraphicFramePr/>
              <p:nvPr>
                <p:ph sz="quarter" idx="1"/>
              </p:nvPr>
            </p:nvGraphicFramePr>
            <p:xfrm>
              <a:off x="340" y="1661"/>
              <a:ext cx="2313" cy="2355"/>
            </p:xfrm>
            <a:graphic>
              <a:graphicData uri="http://schemas.openxmlformats.org/presentationml/2006/ole">
                <mc:AlternateContent xmlns:mc="http://schemas.openxmlformats.org/markup-compatibility/2006">
                  <mc:Choice xmlns:v="urn:schemas-microsoft-com:vml" Requires="v">
                    <p:oleObj spid="_x0000_s3122" name="" r:id="rId1" imgW="3622040" imgH="3980180" progId="Visio.Drawing.11">
                      <p:embed/>
                    </p:oleObj>
                  </mc:Choice>
                  <mc:Fallback>
                    <p:oleObj name="" r:id="rId1" imgW="3622040" imgH="3980180" progId="Visio.Drawing.11">
                      <p:embed/>
                      <p:pic>
                        <p:nvPicPr>
                          <p:cNvPr id="0" name="图片 3121"/>
                          <p:cNvPicPr/>
                          <p:nvPr/>
                        </p:nvPicPr>
                        <p:blipFill>
                          <a:blip r:embed="rId2"/>
                          <a:stretch>
                            <a:fillRect/>
                          </a:stretch>
                        </p:blipFill>
                        <p:spPr>
                          <a:xfrm>
                            <a:off x="340" y="1661"/>
                            <a:ext cx="2313" cy="2355"/>
                          </a:xfrm>
                          <a:prstGeom prst="rect">
                            <a:avLst/>
                          </a:prstGeom>
                          <a:noFill/>
                          <a:ln w="38100">
                            <a:noFill/>
                            <a:miter/>
                          </a:ln>
                        </p:spPr>
                      </p:pic>
                    </p:oleObj>
                  </mc:Fallback>
                </mc:AlternateContent>
              </a:graphicData>
            </a:graphic>
          </p:graphicFrame>
          <p:graphicFrame>
            <p:nvGraphicFramePr>
              <p:cNvPr id="82959" name="内容占位符 82958"/>
              <p:cNvGraphicFramePr/>
              <p:nvPr>
                <p:ph sz="quarter" idx="4"/>
              </p:nvPr>
            </p:nvGraphicFramePr>
            <p:xfrm>
              <a:off x="884" y="2557"/>
              <a:ext cx="131" cy="175"/>
            </p:xfrm>
            <a:graphic>
              <a:graphicData uri="http://schemas.openxmlformats.org/presentationml/2006/ole">
                <mc:AlternateContent xmlns:mc="http://schemas.openxmlformats.org/markup-compatibility/2006">
                  <mc:Choice xmlns:v="urn:schemas-microsoft-com:vml" Requires="v">
                    <p:oleObj spid="_x0000_s3129" name="" r:id="rId3" imgW="190500" imgH="254000" progId="Equation.DSMT4">
                      <p:embed/>
                    </p:oleObj>
                  </mc:Choice>
                  <mc:Fallback>
                    <p:oleObj name="" r:id="rId3" imgW="190500" imgH="254000" progId="Equation.DSMT4">
                      <p:embed/>
                      <p:pic>
                        <p:nvPicPr>
                          <p:cNvPr id="0" name="图片 3128"/>
                          <p:cNvPicPr/>
                          <p:nvPr/>
                        </p:nvPicPr>
                        <p:blipFill>
                          <a:blip r:embed="rId4"/>
                          <a:stretch>
                            <a:fillRect/>
                          </a:stretch>
                        </p:blipFill>
                        <p:spPr>
                          <a:xfrm>
                            <a:off x="884" y="2557"/>
                            <a:ext cx="131" cy="175"/>
                          </a:xfrm>
                          <a:prstGeom prst="rect">
                            <a:avLst/>
                          </a:prstGeom>
                          <a:noFill/>
                          <a:ln w="38100">
                            <a:noFill/>
                            <a:miter/>
                          </a:ln>
                        </p:spPr>
                      </p:pic>
                    </p:oleObj>
                  </mc:Fallback>
                </mc:AlternateContent>
              </a:graphicData>
            </a:graphic>
          </p:graphicFrame>
        </p:grpSp>
        <p:graphicFrame>
          <p:nvGraphicFramePr>
            <p:cNvPr id="82960" name="内容占位符 82959"/>
            <p:cNvGraphicFramePr/>
            <p:nvPr>
              <p:ph sz="quarter" idx="3"/>
            </p:nvPr>
          </p:nvGraphicFramePr>
          <p:xfrm>
            <a:off x="2018" y="2568"/>
            <a:ext cx="103" cy="159"/>
          </p:xfrm>
          <a:graphic>
            <a:graphicData uri="http://schemas.openxmlformats.org/presentationml/2006/ole">
              <mc:AlternateContent xmlns:mc="http://schemas.openxmlformats.org/markup-compatibility/2006">
                <mc:Choice xmlns:v="urn:schemas-microsoft-com:vml" Requires="v">
                  <p:oleObj spid="_x0000_s3128" name="" r:id="rId5" imgW="165100" imgH="253365" progId="Equation.DSMT4">
                    <p:embed/>
                  </p:oleObj>
                </mc:Choice>
                <mc:Fallback>
                  <p:oleObj name="" r:id="rId5" imgW="165100" imgH="253365" progId="Equation.DSMT4">
                    <p:embed/>
                    <p:pic>
                      <p:nvPicPr>
                        <p:cNvPr id="0" name="图片 3127"/>
                        <p:cNvPicPr/>
                        <p:nvPr/>
                      </p:nvPicPr>
                      <p:blipFill>
                        <a:blip r:embed="rId6"/>
                        <a:stretch>
                          <a:fillRect/>
                        </a:stretch>
                      </p:blipFill>
                      <p:spPr>
                        <a:xfrm>
                          <a:off x="2018" y="2568"/>
                          <a:ext cx="103" cy="159"/>
                        </a:xfrm>
                        <a:prstGeom prst="rect">
                          <a:avLst/>
                        </a:prstGeom>
                        <a:noFill/>
                        <a:ln w="38100">
                          <a:noFill/>
                          <a:miter/>
                        </a:ln>
                      </p:spPr>
                    </p:pic>
                  </p:oleObj>
                </mc:Fallback>
              </mc:AlternateContent>
            </a:graphicData>
          </a:graphic>
        </p:graphicFrame>
      </p:grpSp>
      <p:grpSp>
        <p:nvGrpSpPr>
          <p:cNvPr id="82961" name="组合 82960"/>
          <p:cNvGrpSpPr/>
          <p:nvPr/>
        </p:nvGrpSpPr>
        <p:grpSpPr>
          <a:xfrm>
            <a:off x="5076825" y="1517650"/>
            <a:ext cx="3463925" cy="3887788"/>
            <a:chOff x="3198" y="1570"/>
            <a:chExt cx="2182" cy="2449"/>
          </a:xfrm>
        </p:grpSpPr>
        <p:grpSp>
          <p:nvGrpSpPr>
            <p:cNvPr id="82962" name="组合 82961"/>
            <p:cNvGrpSpPr/>
            <p:nvPr/>
          </p:nvGrpSpPr>
          <p:grpSpPr>
            <a:xfrm>
              <a:off x="3198" y="1570"/>
              <a:ext cx="2182" cy="2449"/>
              <a:chOff x="3198" y="1570"/>
              <a:chExt cx="2182" cy="2449"/>
            </a:xfrm>
          </p:grpSpPr>
          <p:graphicFrame>
            <p:nvGraphicFramePr>
              <p:cNvPr id="82963" name="内容占位符 82962"/>
              <p:cNvGraphicFramePr/>
              <p:nvPr>
                <p:ph sz="quarter" idx="2"/>
              </p:nvPr>
            </p:nvGraphicFramePr>
            <p:xfrm>
              <a:off x="3198" y="1570"/>
              <a:ext cx="2182" cy="2449"/>
            </p:xfrm>
            <a:graphic>
              <a:graphicData uri="http://schemas.openxmlformats.org/presentationml/2006/ole">
                <mc:AlternateContent xmlns:mc="http://schemas.openxmlformats.org/markup-compatibility/2006">
                  <mc:Choice xmlns:v="urn:schemas-microsoft-com:vml" Requires="v">
                    <p:oleObj spid="_x0000_s3126" name="" r:id="rId7" imgW="3639820" imgH="4007485" progId="Visio.Drawing.11">
                      <p:embed/>
                    </p:oleObj>
                  </mc:Choice>
                  <mc:Fallback>
                    <p:oleObj name="" r:id="rId7" imgW="3639820" imgH="4007485" progId="Visio.Drawing.11">
                      <p:embed/>
                      <p:pic>
                        <p:nvPicPr>
                          <p:cNvPr id="0" name="图片 3125"/>
                          <p:cNvPicPr/>
                          <p:nvPr/>
                        </p:nvPicPr>
                        <p:blipFill>
                          <a:blip r:embed="rId8"/>
                          <a:stretch>
                            <a:fillRect/>
                          </a:stretch>
                        </p:blipFill>
                        <p:spPr>
                          <a:xfrm>
                            <a:off x="3198" y="1570"/>
                            <a:ext cx="2182" cy="2449"/>
                          </a:xfrm>
                          <a:prstGeom prst="rect">
                            <a:avLst/>
                          </a:prstGeom>
                          <a:noFill/>
                          <a:ln w="38100">
                            <a:noFill/>
                            <a:miter/>
                          </a:ln>
                        </p:spPr>
                      </p:pic>
                    </p:oleObj>
                  </mc:Fallback>
                </mc:AlternateContent>
              </a:graphicData>
            </a:graphic>
          </p:graphicFrame>
          <p:graphicFrame>
            <p:nvGraphicFramePr>
              <p:cNvPr id="82964" name="对象 82963"/>
              <p:cNvGraphicFramePr/>
              <p:nvPr/>
            </p:nvGraphicFramePr>
            <p:xfrm>
              <a:off x="3651" y="2523"/>
              <a:ext cx="132" cy="176"/>
            </p:xfrm>
            <a:graphic>
              <a:graphicData uri="http://schemas.openxmlformats.org/presentationml/2006/ole">
                <mc:AlternateContent xmlns:mc="http://schemas.openxmlformats.org/markup-compatibility/2006">
                  <mc:Choice xmlns:v="urn:schemas-microsoft-com:vml" Requires="v">
                    <p:oleObj spid="_x0000_s3136" name="" r:id="rId9" imgW="190500" imgH="254000" progId="Equation.DSMT4">
                      <p:embed/>
                    </p:oleObj>
                  </mc:Choice>
                  <mc:Fallback>
                    <p:oleObj name="" r:id="rId9" imgW="190500" imgH="254000" progId="Equation.DSMT4">
                      <p:embed/>
                      <p:pic>
                        <p:nvPicPr>
                          <p:cNvPr id="0" name="图片 3135"/>
                          <p:cNvPicPr/>
                          <p:nvPr/>
                        </p:nvPicPr>
                        <p:blipFill>
                          <a:blip r:embed="rId4"/>
                          <a:stretch>
                            <a:fillRect/>
                          </a:stretch>
                        </p:blipFill>
                        <p:spPr>
                          <a:xfrm>
                            <a:off x="3651" y="2523"/>
                            <a:ext cx="132" cy="176"/>
                          </a:xfrm>
                          <a:prstGeom prst="rect">
                            <a:avLst/>
                          </a:prstGeom>
                          <a:noFill/>
                          <a:ln w="38100">
                            <a:noFill/>
                            <a:miter/>
                          </a:ln>
                        </p:spPr>
                      </p:pic>
                    </p:oleObj>
                  </mc:Fallback>
                </mc:AlternateContent>
              </a:graphicData>
            </a:graphic>
          </p:graphicFrame>
        </p:grpSp>
        <p:graphicFrame>
          <p:nvGraphicFramePr>
            <p:cNvPr id="82965" name="对象 82964"/>
            <p:cNvGraphicFramePr/>
            <p:nvPr/>
          </p:nvGraphicFramePr>
          <p:xfrm>
            <a:off x="4694" y="2523"/>
            <a:ext cx="104" cy="160"/>
          </p:xfrm>
          <a:graphic>
            <a:graphicData uri="http://schemas.openxmlformats.org/presentationml/2006/ole">
              <mc:AlternateContent xmlns:mc="http://schemas.openxmlformats.org/markup-compatibility/2006">
                <mc:Choice xmlns:v="urn:schemas-microsoft-com:vml" Requires="v">
                  <p:oleObj spid="_x0000_s3123" name="" r:id="rId10" imgW="165100" imgH="253365" progId="Equation.DSMT4">
                    <p:embed/>
                  </p:oleObj>
                </mc:Choice>
                <mc:Fallback>
                  <p:oleObj name="" r:id="rId10" imgW="165100" imgH="253365" progId="Equation.DSMT4">
                    <p:embed/>
                    <p:pic>
                      <p:nvPicPr>
                        <p:cNvPr id="0" name="图片 3122"/>
                        <p:cNvPicPr/>
                        <p:nvPr/>
                      </p:nvPicPr>
                      <p:blipFill>
                        <a:blip r:embed="rId6"/>
                        <a:stretch>
                          <a:fillRect/>
                        </a:stretch>
                      </p:blipFill>
                      <p:spPr>
                        <a:xfrm>
                          <a:off x="4694" y="2523"/>
                          <a:ext cx="104" cy="160"/>
                        </a:xfrm>
                        <a:prstGeom prst="rect">
                          <a:avLst/>
                        </a:prstGeom>
                        <a:noFill/>
                        <a:ln w="38100">
                          <a:noFill/>
                          <a:miter/>
                        </a:ln>
                      </p:spPr>
                    </p:pic>
                  </p:oleObj>
                </mc:Fallback>
              </mc:AlternateContent>
            </a:graphicData>
          </a:graphic>
        </p:graphicFrame>
      </p:grpSp>
      <p:sp>
        <p:nvSpPr>
          <p:cNvPr id="2262030" name="Text Box 14"/>
          <p:cNvSpPr txBox="1"/>
          <p:nvPr/>
        </p:nvSpPr>
        <p:spPr>
          <a:xfrm>
            <a:off x="254000" y="796925"/>
            <a:ext cx="22304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4. </a:t>
            </a:r>
            <a:r>
              <a:rPr lang="zh-CN" altLang="en-US" sz="3200" b="1" dirty="0">
                <a:solidFill>
                  <a:srgbClr val="333399"/>
                </a:solidFill>
                <a:latin typeface="楷体_GB2312" pitchFamily="49" charset="-122"/>
              </a:rPr>
              <a:t>下采样</a:t>
            </a:r>
            <a:endParaRPr lang="zh-CN" altLang="en-US" sz="3200" b="1" dirty="0">
              <a:solidFill>
                <a:srgbClr val="333399"/>
              </a:solidFill>
              <a:latin typeface="楷体_GB2312" pitchFamily="49" charset="-122"/>
            </a:endParaRPr>
          </a:p>
        </p:txBody>
      </p:sp>
      <p:graphicFrame>
        <p:nvGraphicFramePr>
          <p:cNvPr id="82967" name="对象 82966"/>
          <p:cNvGraphicFramePr/>
          <p:nvPr/>
        </p:nvGraphicFramePr>
        <p:xfrm>
          <a:off x="1019175" y="5634038"/>
          <a:ext cx="2511425" cy="401637"/>
        </p:xfrm>
        <a:graphic>
          <a:graphicData uri="http://schemas.openxmlformats.org/presentationml/2006/ole">
            <mc:AlternateContent xmlns:mc="http://schemas.openxmlformats.org/markup-compatibility/2006">
              <mc:Choice xmlns:v="urn:schemas-microsoft-com:vml" Requires="v">
                <p:oleObj spid="_x0000_s3131" name="" r:id="rId11" imgW="1318895" imgH="266065" progId="Equation.DSMT4">
                  <p:embed/>
                </p:oleObj>
              </mc:Choice>
              <mc:Fallback>
                <p:oleObj name="" r:id="rId11" imgW="1318895" imgH="266065" progId="Equation.DSMT4">
                  <p:embed/>
                  <p:pic>
                    <p:nvPicPr>
                      <p:cNvPr id="0" name="图片 3130"/>
                      <p:cNvPicPr/>
                      <p:nvPr/>
                    </p:nvPicPr>
                    <p:blipFill>
                      <a:blip r:embed="rId12"/>
                      <a:stretch>
                        <a:fillRect/>
                      </a:stretch>
                    </p:blipFill>
                    <p:spPr>
                      <a:xfrm>
                        <a:off x="1019175" y="5634038"/>
                        <a:ext cx="2511425" cy="401637"/>
                      </a:xfrm>
                      <a:prstGeom prst="rect">
                        <a:avLst/>
                      </a:prstGeom>
                      <a:noFill/>
                      <a:ln w="38100">
                        <a:noFill/>
                        <a:miter/>
                      </a:ln>
                    </p:spPr>
                  </p:pic>
                </p:oleObj>
              </mc:Fallback>
            </mc:AlternateContent>
          </a:graphicData>
        </a:graphic>
      </p:graphicFrame>
      <p:graphicFrame>
        <p:nvGraphicFramePr>
          <p:cNvPr id="82968" name="对象 82967"/>
          <p:cNvGraphicFramePr/>
          <p:nvPr/>
        </p:nvGraphicFramePr>
        <p:xfrm>
          <a:off x="5470525" y="5634038"/>
          <a:ext cx="2535238" cy="401637"/>
        </p:xfrm>
        <a:graphic>
          <a:graphicData uri="http://schemas.openxmlformats.org/presentationml/2006/ole">
            <mc:AlternateContent xmlns:mc="http://schemas.openxmlformats.org/markup-compatibility/2006">
              <mc:Choice xmlns:v="urn:schemas-microsoft-com:vml" Requires="v">
                <p:oleObj spid="_x0000_s3132" name="" r:id="rId13" imgW="1331595" imgH="266065" progId="Equation.DSMT4">
                  <p:embed/>
                </p:oleObj>
              </mc:Choice>
              <mc:Fallback>
                <p:oleObj name="" r:id="rId13" imgW="1331595" imgH="266065" progId="Equation.DSMT4">
                  <p:embed/>
                  <p:pic>
                    <p:nvPicPr>
                      <p:cNvPr id="0" name="图片 3131"/>
                      <p:cNvPicPr/>
                      <p:nvPr/>
                    </p:nvPicPr>
                    <p:blipFill>
                      <a:blip r:embed="rId14"/>
                      <a:stretch>
                        <a:fillRect/>
                      </a:stretch>
                    </p:blipFill>
                    <p:spPr>
                      <a:xfrm>
                        <a:off x="5470525" y="5634038"/>
                        <a:ext cx="2535238" cy="401637"/>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956"/>
                                        </p:tgtEl>
                                        <p:attrNameLst>
                                          <p:attrName>style.visibility</p:attrName>
                                        </p:attrNameLst>
                                      </p:cBhvr>
                                      <p:to>
                                        <p:strVal val="visible"/>
                                      </p:to>
                                    </p:set>
                                    <p:anim calcmode="lin" valueType="num">
                                      <p:cBhvr additive="base">
                                        <p:cTn id="7" dur="500" fill="hold"/>
                                        <p:tgtEl>
                                          <p:spTgt spid="82956"/>
                                        </p:tgtEl>
                                        <p:attrNameLst>
                                          <p:attrName>ppt_x</p:attrName>
                                        </p:attrNameLst>
                                      </p:cBhvr>
                                      <p:tavLst>
                                        <p:tav tm="0">
                                          <p:val>
                                            <p:strVal val="0-#ppt_w/2"/>
                                          </p:val>
                                        </p:tav>
                                        <p:tav tm="100000">
                                          <p:val>
                                            <p:strVal val="#ppt_x"/>
                                          </p:val>
                                        </p:tav>
                                      </p:tavLst>
                                    </p:anim>
                                    <p:anim calcmode="lin" valueType="num">
                                      <p:cBhvr additive="base">
                                        <p:cTn id="8" dur="500" fill="hold"/>
                                        <p:tgtEl>
                                          <p:spTgt spid="82956"/>
                                        </p:tgtEl>
                                        <p:attrNameLst>
                                          <p:attrName>ppt_y</p:attrName>
                                        </p:attrNameLst>
                                      </p:cBhvr>
                                      <p:tavLst>
                                        <p:tav tm="0">
                                          <p:val>
                                            <p:strVal val="#ppt_y"/>
                                          </p:val>
                                        </p:tav>
                                        <p:tav tm="100000">
                                          <p:val>
                                            <p:strVal val="#ppt_y"/>
                                          </p:val>
                                        </p:tav>
                                      </p:tavLst>
                                    </p:anim>
                                  </p:childTnLst>
                                </p:cTn>
                              </p:par>
                              <p:par>
                                <p:cTn id="9" presetID="3" presetClass="entr" presetSubtype="10" fill="hold" nodeType="withEffect">
                                  <p:stCondLst>
                                    <p:cond delay="0"/>
                                  </p:stCondLst>
                                  <p:childTnLst>
                                    <p:set>
                                      <p:cBhvr>
                                        <p:cTn id="10" dur="1" fill="hold">
                                          <p:stCondLst>
                                            <p:cond delay="0"/>
                                          </p:stCondLst>
                                        </p:cTn>
                                        <p:tgtEl>
                                          <p:spTgt spid="82967"/>
                                        </p:tgtEl>
                                        <p:attrNameLst>
                                          <p:attrName>style.visibility</p:attrName>
                                        </p:attrNameLst>
                                      </p:cBhvr>
                                      <p:to>
                                        <p:strVal val="visible"/>
                                      </p:to>
                                    </p:set>
                                    <p:animEffect transition="in" filter="blinds(horizontal)">
                                      <p:cBhvr>
                                        <p:cTn id="11" dur="500"/>
                                        <p:tgtEl>
                                          <p:spTgt spid="82967"/>
                                        </p:tgtEl>
                                      </p:cBhvr>
                                    </p:animEffect>
                                  </p:childTnLst>
                                </p:cTn>
                              </p:par>
                            </p:childTnLst>
                          </p:cTn>
                        </p:par>
                      </p:childTnLst>
                    </p:cTn>
                  </p:par>
                  <p:par>
                    <p:cTn id="12" fill="hold">
                      <p:stCondLst>
                        <p:cond delay="indefinite"/>
                      </p:stCondLst>
                      <p:childTnLst>
                        <p:par>
                          <p:cTn id="13" fill="hold">
                            <p:stCondLst>
                              <p:cond delay="0"/>
                            </p:stCondLst>
                            <p:childTnLst>
                              <p:par>
                                <p:cTn id="14" presetID="2" presetClass="entr" presetSubtype="8" fill="hold" nodeType="clickEffect">
                                  <p:stCondLst>
                                    <p:cond delay="0"/>
                                  </p:stCondLst>
                                  <p:childTnLst>
                                    <p:set>
                                      <p:cBhvr>
                                        <p:cTn id="15" dur="1" fill="hold">
                                          <p:stCondLst>
                                            <p:cond delay="0"/>
                                          </p:stCondLst>
                                        </p:cTn>
                                        <p:tgtEl>
                                          <p:spTgt spid="82961"/>
                                        </p:tgtEl>
                                        <p:attrNameLst>
                                          <p:attrName>style.visibility</p:attrName>
                                        </p:attrNameLst>
                                      </p:cBhvr>
                                      <p:to>
                                        <p:strVal val="visible"/>
                                      </p:to>
                                    </p:set>
                                    <p:anim calcmode="lin" valueType="num">
                                      <p:cBhvr additive="base">
                                        <p:cTn id="16" dur="500" fill="hold"/>
                                        <p:tgtEl>
                                          <p:spTgt spid="82961"/>
                                        </p:tgtEl>
                                        <p:attrNameLst>
                                          <p:attrName>ppt_x</p:attrName>
                                        </p:attrNameLst>
                                      </p:cBhvr>
                                      <p:tavLst>
                                        <p:tav tm="0">
                                          <p:val>
                                            <p:strVal val="0-#ppt_w/2"/>
                                          </p:val>
                                        </p:tav>
                                        <p:tav tm="100000">
                                          <p:val>
                                            <p:strVal val="#ppt_x"/>
                                          </p:val>
                                        </p:tav>
                                      </p:tavLst>
                                    </p:anim>
                                    <p:anim calcmode="lin" valueType="num">
                                      <p:cBhvr additive="base">
                                        <p:cTn id="17" dur="500" fill="hold"/>
                                        <p:tgtEl>
                                          <p:spTgt spid="82961"/>
                                        </p:tgtEl>
                                        <p:attrNameLst>
                                          <p:attrName>ppt_y</p:attrName>
                                        </p:attrNameLst>
                                      </p:cBhvr>
                                      <p:tavLst>
                                        <p:tav tm="0">
                                          <p:val>
                                            <p:strVal val="#ppt_y"/>
                                          </p:val>
                                        </p:tav>
                                        <p:tav tm="100000">
                                          <p:val>
                                            <p:strVal val="#ppt_y"/>
                                          </p:val>
                                        </p:tav>
                                      </p:tavLst>
                                    </p:anim>
                                  </p:childTnLst>
                                </p:cTn>
                              </p:par>
                              <p:par>
                                <p:cTn id="18" presetID="3" presetClass="entr" presetSubtype="10" fill="hold" nodeType="withEffect">
                                  <p:stCondLst>
                                    <p:cond delay="0"/>
                                  </p:stCondLst>
                                  <p:childTnLst>
                                    <p:set>
                                      <p:cBhvr>
                                        <p:cTn id="19" dur="1" fill="hold">
                                          <p:stCondLst>
                                            <p:cond delay="0"/>
                                          </p:stCondLst>
                                        </p:cTn>
                                        <p:tgtEl>
                                          <p:spTgt spid="82968"/>
                                        </p:tgtEl>
                                        <p:attrNameLst>
                                          <p:attrName>style.visibility</p:attrName>
                                        </p:attrNameLst>
                                      </p:cBhvr>
                                      <p:to>
                                        <p:strVal val="visible"/>
                                      </p:to>
                                    </p:set>
                                    <p:animEffect transition="in" filter="blinds(horizontal)">
                                      <p:cBhvr>
                                        <p:cTn id="20" dur="500"/>
                                        <p:tgtEl>
                                          <p:spTgt spid="82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83983" name="矩形 83982"/>
          <p:cNvSpPr>
            <a:spLocks noRot="1"/>
          </p:cNvSpPr>
          <p:nvPr/>
        </p:nvSpPr>
        <p:spPr>
          <a:xfrm>
            <a:off x="590550" y="1600200"/>
            <a:ext cx="8139113" cy="449897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lvl="0">
              <a:lnSpc>
                <a:spcPct val="120000"/>
              </a:lnSpc>
              <a:buNone/>
            </a:pPr>
            <a:r>
              <a:rPr lang="zh-CN" altLang="en-US" sz="2600" b="1" dirty="0"/>
              <a:t>带通信号采样定理：</a:t>
            </a:r>
            <a:endParaRPr lang="zh-CN" altLang="en-US" sz="2600" b="1" dirty="0"/>
          </a:p>
          <a:p>
            <a:pPr lvl="0">
              <a:lnSpc>
                <a:spcPct val="120000"/>
              </a:lnSpc>
              <a:buNone/>
            </a:pPr>
            <a:r>
              <a:rPr lang="zh-CN" altLang="en-US" sz="2600" b="1" dirty="0"/>
              <a:t>    一个频率带限信号</a:t>
            </a:r>
            <a:r>
              <a:rPr lang="en-US" altLang="zh-CN" sz="2600" b="1" i="1" err="1">
                <a:latin typeface="Times New Roman" panose="02020603050405020304" pitchFamily="18" charset="0"/>
              </a:rPr>
              <a:t>x(t</a:t>
            </a:r>
            <a:r>
              <a:rPr lang="en-US" altLang="zh-CN" sz="2600" b="1" i="1">
                <a:latin typeface="Times New Roman" panose="02020603050405020304" pitchFamily="18" charset="0"/>
              </a:rPr>
              <a:t>)</a:t>
            </a:r>
            <a:r>
              <a:rPr lang="zh-CN" altLang="en-US" sz="2600" b="1" dirty="0"/>
              <a:t>，其频带限制在（</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L</a:t>
            </a:r>
            <a:r>
              <a:rPr lang="en-US" altLang="zh-CN" sz="2600" b="1"/>
              <a:t>, </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H</a:t>
            </a:r>
            <a:r>
              <a:rPr lang="zh-CN" altLang="en-US" sz="2600" b="1" dirty="0"/>
              <a:t>）内，如果采样频率满足：</a:t>
            </a:r>
            <a:endParaRPr lang="zh-CN" altLang="en-US" sz="2600" b="1" dirty="0"/>
          </a:p>
          <a:p>
            <a:pPr lvl="0">
              <a:lnSpc>
                <a:spcPct val="120000"/>
              </a:lnSpc>
              <a:buNone/>
            </a:pPr>
            <a:endParaRPr lang="zh-CN" altLang="en-US" sz="2600" b="1" dirty="0"/>
          </a:p>
          <a:p>
            <a:pPr lvl="0">
              <a:lnSpc>
                <a:spcPct val="120000"/>
              </a:lnSpc>
              <a:buNone/>
            </a:pPr>
            <a:r>
              <a:rPr lang="zh-CN" altLang="en-US" sz="2600" b="1" dirty="0"/>
              <a:t>    其中，</a:t>
            </a:r>
            <a:r>
              <a:rPr lang="en-US" altLang="zh-CN" sz="2600" b="1" i="1">
                <a:latin typeface="Times New Roman" panose="02020603050405020304" pitchFamily="18" charset="0"/>
              </a:rPr>
              <a:t>n</a:t>
            </a:r>
            <a:r>
              <a:rPr lang="zh-CN" altLang="en-US" sz="2600" b="1" dirty="0"/>
              <a:t>是满足              的最大整数（                   ），则采样信号</a:t>
            </a:r>
            <a:r>
              <a:rPr lang="en-US" altLang="zh-CN" sz="2600" b="1" i="1" err="1">
                <a:latin typeface="Times New Roman" panose="02020603050405020304" pitchFamily="18" charset="0"/>
              </a:rPr>
              <a:t>x(n</a:t>
            </a:r>
            <a:r>
              <a:rPr lang="en-US" altLang="zh-CN" sz="2600" b="1" i="1">
                <a:latin typeface="Times New Roman" panose="02020603050405020304" pitchFamily="18" charset="0"/>
              </a:rPr>
              <a:t>)</a:t>
            </a:r>
            <a:r>
              <a:rPr lang="zh-CN" altLang="en-US" sz="2600" b="1" dirty="0">
                <a:latin typeface="Times New Roman" panose="02020603050405020304" pitchFamily="18" charset="0"/>
              </a:rPr>
              <a:t>能准确恢复原始信号</a:t>
            </a:r>
            <a:r>
              <a:rPr lang="en-US" altLang="zh-CN" sz="2600" b="1" i="1" err="1">
                <a:latin typeface="Times New Roman" panose="02020603050405020304" pitchFamily="18" charset="0"/>
              </a:rPr>
              <a:t>x(t</a:t>
            </a:r>
            <a:r>
              <a:rPr lang="en-US" altLang="zh-CN" sz="2600" b="1" i="1">
                <a:latin typeface="Times New Roman" panose="02020603050405020304" pitchFamily="18" charset="0"/>
              </a:rPr>
              <a:t>)</a:t>
            </a:r>
            <a:r>
              <a:rPr lang="zh-CN" altLang="en-US" sz="2600" b="1" dirty="0">
                <a:latin typeface="Times New Roman" panose="02020603050405020304" pitchFamily="18" charset="0"/>
              </a:rPr>
              <a:t>。</a:t>
            </a:r>
            <a:endParaRPr lang="zh-CN" altLang="en-US" sz="2600" b="1" dirty="0">
              <a:latin typeface="Times New Roman" panose="02020603050405020304" pitchFamily="18" charset="0"/>
            </a:endParaRPr>
          </a:p>
        </p:txBody>
      </p:sp>
      <p:sp>
        <p:nvSpPr>
          <p:cNvPr id="2262030" name="Text Box 14"/>
          <p:cNvSpPr txBox="1"/>
          <p:nvPr/>
        </p:nvSpPr>
        <p:spPr>
          <a:xfrm>
            <a:off x="254000" y="796925"/>
            <a:ext cx="22304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4. </a:t>
            </a:r>
            <a:r>
              <a:rPr lang="zh-CN" altLang="en-US" sz="3200" b="1" dirty="0">
                <a:solidFill>
                  <a:srgbClr val="333399"/>
                </a:solidFill>
                <a:latin typeface="楷体_GB2312" pitchFamily="49" charset="-122"/>
              </a:rPr>
              <a:t>下采样</a:t>
            </a:r>
            <a:endParaRPr lang="zh-CN" altLang="en-US" sz="3200" b="1" dirty="0">
              <a:solidFill>
                <a:srgbClr val="333399"/>
              </a:solidFill>
              <a:latin typeface="楷体_GB2312" pitchFamily="49" charset="-122"/>
            </a:endParaRPr>
          </a:p>
        </p:txBody>
      </p:sp>
      <p:graphicFrame>
        <p:nvGraphicFramePr>
          <p:cNvPr id="83990" name="对象 83989"/>
          <p:cNvGraphicFramePr/>
          <p:nvPr/>
        </p:nvGraphicFramePr>
        <p:xfrm>
          <a:off x="3155950" y="3311525"/>
          <a:ext cx="2535238" cy="765175"/>
        </p:xfrm>
        <a:graphic>
          <a:graphicData uri="http://schemas.openxmlformats.org/presentationml/2006/ole">
            <mc:AlternateContent xmlns:mc="http://schemas.openxmlformats.org/markup-compatibility/2006">
              <mc:Choice xmlns:v="urn:schemas-microsoft-com:vml" Requires="v">
                <p:oleObj spid="_x0000_s3135" name="" r:id="rId1" imgW="1333500" imgH="508000" progId="Equation.DSMT4">
                  <p:embed/>
                </p:oleObj>
              </mc:Choice>
              <mc:Fallback>
                <p:oleObj name="" r:id="rId1" imgW="1333500" imgH="508000" progId="Equation.DSMT4">
                  <p:embed/>
                  <p:pic>
                    <p:nvPicPr>
                      <p:cNvPr id="0" name="图片 3134"/>
                      <p:cNvPicPr/>
                      <p:nvPr/>
                    </p:nvPicPr>
                    <p:blipFill>
                      <a:blip r:embed="rId2"/>
                      <a:stretch>
                        <a:fillRect/>
                      </a:stretch>
                    </p:blipFill>
                    <p:spPr>
                      <a:xfrm>
                        <a:off x="3155950" y="3311525"/>
                        <a:ext cx="2535238" cy="765175"/>
                      </a:xfrm>
                      <a:prstGeom prst="rect">
                        <a:avLst/>
                      </a:prstGeom>
                      <a:noFill/>
                      <a:ln w="38100">
                        <a:noFill/>
                        <a:miter/>
                      </a:ln>
                    </p:spPr>
                  </p:pic>
                </p:oleObj>
              </mc:Fallback>
            </mc:AlternateContent>
          </a:graphicData>
        </a:graphic>
      </p:graphicFrame>
      <p:graphicFrame>
        <p:nvGraphicFramePr>
          <p:cNvPr id="83991" name="对象 83990"/>
          <p:cNvGraphicFramePr/>
          <p:nvPr/>
        </p:nvGraphicFramePr>
        <p:xfrm>
          <a:off x="3240088" y="4251325"/>
          <a:ext cx="1303337" cy="401638"/>
        </p:xfrm>
        <a:graphic>
          <a:graphicData uri="http://schemas.openxmlformats.org/presentationml/2006/ole">
            <mc:AlternateContent xmlns:mc="http://schemas.openxmlformats.org/markup-compatibility/2006">
              <mc:Choice xmlns:v="urn:schemas-microsoft-com:vml" Requires="v">
                <p:oleObj spid="_x0000_s3121" name="" r:id="rId3" imgW="685165" imgH="266065" progId="Equation.DSMT4">
                  <p:embed/>
                </p:oleObj>
              </mc:Choice>
              <mc:Fallback>
                <p:oleObj name="" r:id="rId3" imgW="685165" imgH="266065" progId="Equation.DSMT4">
                  <p:embed/>
                  <p:pic>
                    <p:nvPicPr>
                      <p:cNvPr id="0" name="图片 3120"/>
                      <p:cNvPicPr/>
                      <p:nvPr/>
                    </p:nvPicPr>
                    <p:blipFill>
                      <a:blip r:embed="rId4"/>
                      <a:stretch>
                        <a:fillRect/>
                      </a:stretch>
                    </p:blipFill>
                    <p:spPr>
                      <a:xfrm>
                        <a:off x="3240088" y="4251325"/>
                        <a:ext cx="1303337" cy="401638"/>
                      </a:xfrm>
                      <a:prstGeom prst="rect">
                        <a:avLst/>
                      </a:prstGeom>
                      <a:noFill/>
                      <a:ln w="38100">
                        <a:noFill/>
                        <a:miter/>
                      </a:ln>
                    </p:spPr>
                  </p:pic>
                </p:oleObj>
              </mc:Fallback>
            </mc:AlternateContent>
          </a:graphicData>
        </a:graphic>
      </p:graphicFrame>
      <p:graphicFrame>
        <p:nvGraphicFramePr>
          <p:cNvPr id="83992" name="对象 83991"/>
          <p:cNvGraphicFramePr/>
          <p:nvPr/>
        </p:nvGraphicFramePr>
        <p:xfrm>
          <a:off x="6457950" y="4221163"/>
          <a:ext cx="1858963" cy="401637"/>
        </p:xfrm>
        <a:graphic>
          <a:graphicData uri="http://schemas.openxmlformats.org/presentationml/2006/ole">
            <mc:AlternateContent xmlns:mc="http://schemas.openxmlformats.org/markup-compatibility/2006">
              <mc:Choice xmlns:v="urn:schemas-microsoft-com:vml" Requires="v">
                <p:oleObj spid="_x0000_s3127" name="" r:id="rId5" imgW="976630" imgH="266065" progId="Equation.DSMT4">
                  <p:embed/>
                </p:oleObj>
              </mc:Choice>
              <mc:Fallback>
                <p:oleObj name="" r:id="rId5" imgW="976630" imgH="266065" progId="Equation.DSMT4">
                  <p:embed/>
                  <p:pic>
                    <p:nvPicPr>
                      <p:cNvPr id="0" name="图片 3126"/>
                      <p:cNvPicPr/>
                      <p:nvPr/>
                    </p:nvPicPr>
                    <p:blipFill>
                      <a:blip r:embed="rId6"/>
                      <a:stretch>
                        <a:fillRect/>
                      </a:stretch>
                    </p:blipFill>
                    <p:spPr>
                      <a:xfrm>
                        <a:off x="6457950" y="4221163"/>
                        <a:ext cx="1858963" cy="401637"/>
                      </a:xfrm>
                      <a:prstGeom prst="rect">
                        <a:avLst/>
                      </a:prstGeom>
                      <a:noFill/>
                      <a:ln w="38100">
                        <a:noFill/>
                        <a:miter/>
                      </a:ln>
                    </p:spPr>
                  </p:pic>
                </p:oleObj>
              </mc:Fallback>
            </mc:AlternateContent>
          </a:graphicData>
        </a:graphic>
      </p:graphicFrame>
      <p:sp>
        <p:nvSpPr>
          <p:cNvPr id="2330643" name="Rectangle 1043"/>
          <p:cNvSpPr/>
          <p:nvPr/>
        </p:nvSpPr>
        <p:spPr>
          <a:xfrm>
            <a:off x="935038" y="5394325"/>
            <a:ext cx="7212012" cy="519113"/>
          </a:xfrm>
          <a:prstGeom prst="rect">
            <a:avLst/>
          </a:prstGeom>
          <a:solidFill>
            <a:srgbClr val="FFCC99"/>
          </a:solidFill>
          <a:ln w="9525">
            <a:noFill/>
          </a:ln>
        </p:spPr>
        <p:txBody>
          <a:bodyPr>
            <a:spAutoFit/>
          </a:bodyPr>
          <a:p>
            <a:pPr algn="ctr" eaLnBrk="1" hangingPunct="1"/>
            <a:r>
              <a:rPr lang="en-US" altLang="zh-CN" sz="2800" b="1" i="1">
                <a:solidFill>
                  <a:srgbClr val="FF0000"/>
                </a:solidFill>
                <a:latin typeface="Times New Roman" panose="02020603050405020304" pitchFamily="18" charset="0"/>
                <a:ea typeface="黑体" panose="02010609060101010101" pitchFamily="49" charset="-122"/>
              </a:rPr>
              <a:t>n=0, </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i="1" baseline="-25000" err="1">
                <a:solidFill>
                  <a:srgbClr val="FF0000"/>
                </a:solidFill>
                <a:latin typeface="Times New Roman" panose="02020603050405020304" pitchFamily="18" charset="0"/>
                <a:ea typeface="黑体" panose="02010609060101010101" pitchFamily="49" charset="-122"/>
              </a:rPr>
              <a:t>L</a:t>
            </a:r>
            <a:r>
              <a:rPr lang="en-US" altLang="zh-CN" sz="2800" b="1" i="1">
                <a:solidFill>
                  <a:srgbClr val="FF0000"/>
                </a:solidFill>
                <a:latin typeface="Times New Roman" panose="02020603050405020304" pitchFamily="18" charset="0"/>
                <a:ea typeface="黑体" panose="02010609060101010101" pitchFamily="49" charset="-122"/>
              </a:rPr>
              <a:t>=0</a:t>
            </a:r>
            <a:r>
              <a:rPr lang="zh-CN" altLang="en-US" sz="2800" b="1" dirty="0">
                <a:solidFill>
                  <a:srgbClr val="FF0000"/>
                </a:solidFill>
                <a:latin typeface="Times New Roman" panose="02020603050405020304" pitchFamily="18" charset="0"/>
                <a:ea typeface="黑体" panose="02010609060101010101" pitchFamily="49" charset="-122"/>
              </a:rPr>
              <a:t>时，则变为采样定理一：</a:t>
            </a:r>
            <a:r>
              <a:rPr lang="en-US" altLang="zh-CN" sz="2800" b="1" i="1" err="1">
                <a:solidFill>
                  <a:srgbClr val="FF0000"/>
                </a:solidFill>
                <a:latin typeface="Times New Roman" panose="02020603050405020304" pitchFamily="18" charset="0"/>
                <a:ea typeface="黑体" panose="02010609060101010101" pitchFamily="49" charset="-122"/>
              </a:rPr>
              <a:t>f</a:t>
            </a:r>
            <a:r>
              <a:rPr lang="en-US" altLang="zh-CN" sz="2800" b="1" i="1" baseline="-25000" err="1">
                <a:solidFill>
                  <a:srgbClr val="FF0000"/>
                </a:solidFill>
                <a:latin typeface="Times New Roman" panose="02020603050405020304" pitchFamily="18" charset="0"/>
                <a:ea typeface="黑体" panose="02010609060101010101" pitchFamily="49" charset="-122"/>
              </a:rPr>
              <a:t>S</a:t>
            </a:r>
            <a:r>
              <a:rPr lang="en-US" altLang="zh-CN" sz="2800" b="1" i="1">
                <a:solidFill>
                  <a:srgbClr val="FF0000"/>
                </a:solidFill>
                <a:latin typeface="Times New Roman" panose="02020603050405020304" pitchFamily="18" charset="0"/>
                <a:ea typeface="黑体" panose="02010609060101010101" pitchFamily="49" charset="-122"/>
              </a:rPr>
              <a:t>=2f</a:t>
            </a:r>
            <a:r>
              <a:rPr lang="en-US" altLang="zh-CN" sz="2800" b="1" i="1" baseline="-25000">
                <a:solidFill>
                  <a:srgbClr val="FF0000"/>
                </a:solidFill>
                <a:latin typeface="Times New Roman" panose="02020603050405020304" pitchFamily="18" charset="0"/>
                <a:ea typeface="黑体" panose="02010609060101010101" pitchFamily="49" charset="-122"/>
              </a:rPr>
              <a:t>H</a:t>
            </a:r>
            <a:endParaRPr lang="en-US" altLang="zh-CN" sz="2800" b="1" i="1" baseline="-2500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3983">
                                            <p:txEl>
                                              <p:charRg st="0" end="10"/>
                                            </p:txEl>
                                          </p:spTgt>
                                        </p:tgtEl>
                                        <p:attrNameLst>
                                          <p:attrName>style.visibility</p:attrName>
                                        </p:attrNameLst>
                                      </p:cBhvr>
                                      <p:to>
                                        <p:strVal val="visible"/>
                                      </p:to>
                                    </p:set>
                                    <p:animEffect transition="in" filter="blinds(horizontal)">
                                      <p:cBhvr>
                                        <p:cTn id="7" dur="500"/>
                                        <p:tgtEl>
                                          <p:spTgt spid="83983">
                                            <p:txEl>
                                              <p:charRg st="0" end="1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83983">
                                            <p:txEl>
                                              <p:charRg st="10" end="53"/>
                                            </p:txEl>
                                          </p:spTgt>
                                        </p:tgtEl>
                                        <p:attrNameLst>
                                          <p:attrName>style.visibility</p:attrName>
                                        </p:attrNameLst>
                                      </p:cBhvr>
                                      <p:to>
                                        <p:strVal val="visible"/>
                                      </p:to>
                                    </p:set>
                                    <p:animEffect transition="in" filter="blinds(horizontal)">
                                      <p:cBhvr>
                                        <p:cTn id="12" dur="500"/>
                                        <p:tgtEl>
                                          <p:spTgt spid="83983">
                                            <p:txEl>
                                              <p:charRg st="10" end="53"/>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83990"/>
                                        </p:tgtEl>
                                        <p:attrNameLst>
                                          <p:attrName>style.visibility</p:attrName>
                                        </p:attrNameLst>
                                      </p:cBhvr>
                                      <p:to>
                                        <p:strVal val="visible"/>
                                      </p:to>
                                    </p:set>
                                    <p:animEffect transition="in" filter="blinds(horizontal)">
                                      <p:cBhvr>
                                        <p:cTn id="15" dur="500"/>
                                        <p:tgtEl>
                                          <p:spTgt spid="83990"/>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83983">
                                            <p:txEl>
                                              <p:charRg st="54" end="130"/>
                                            </p:txEl>
                                          </p:spTgt>
                                        </p:tgtEl>
                                        <p:attrNameLst>
                                          <p:attrName>style.visibility</p:attrName>
                                        </p:attrNameLst>
                                      </p:cBhvr>
                                      <p:to>
                                        <p:strVal val="visible"/>
                                      </p:to>
                                    </p:set>
                                    <p:animEffect transition="in" filter="blinds(horizontal)">
                                      <p:cBhvr>
                                        <p:cTn id="20" dur="500"/>
                                        <p:tgtEl>
                                          <p:spTgt spid="83983">
                                            <p:txEl>
                                              <p:charRg st="54" end="130"/>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83991"/>
                                        </p:tgtEl>
                                        <p:attrNameLst>
                                          <p:attrName>style.visibility</p:attrName>
                                        </p:attrNameLst>
                                      </p:cBhvr>
                                      <p:to>
                                        <p:strVal val="visible"/>
                                      </p:to>
                                    </p:set>
                                    <p:animEffect transition="in" filter="blinds(horizontal)">
                                      <p:cBhvr>
                                        <p:cTn id="23" dur="500"/>
                                        <p:tgtEl>
                                          <p:spTgt spid="83991"/>
                                        </p:tgtEl>
                                      </p:cBhvr>
                                    </p:animEffect>
                                  </p:childTnLst>
                                </p:cTn>
                              </p:par>
                              <p:par>
                                <p:cTn id="24" presetID="3" presetClass="entr" presetSubtype="10" fill="hold" nodeType="withEffect">
                                  <p:stCondLst>
                                    <p:cond delay="0"/>
                                  </p:stCondLst>
                                  <p:childTnLst>
                                    <p:set>
                                      <p:cBhvr>
                                        <p:cTn id="25" dur="1" fill="hold">
                                          <p:stCondLst>
                                            <p:cond delay="0"/>
                                          </p:stCondLst>
                                        </p:cTn>
                                        <p:tgtEl>
                                          <p:spTgt spid="83992"/>
                                        </p:tgtEl>
                                        <p:attrNameLst>
                                          <p:attrName>style.visibility</p:attrName>
                                        </p:attrNameLst>
                                      </p:cBhvr>
                                      <p:to>
                                        <p:strVal val="visible"/>
                                      </p:to>
                                    </p:set>
                                    <p:animEffect transition="in" filter="blinds(horizontal)">
                                      <p:cBhvr>
                                        <p:cTn id="26" dur="500"/>
                                        <p:tgtEl>
                                          <p:spTgt spid="83992"/>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330643"/>
                                        </p:tgtEl>
                                        <p:attrNameLst>
                                          <p:attrName>style.visibility</p:attrName>
                                        </p:attrNameLst>
                                      </p:cBhvr>
                                      <p:to>
                                        <p:strVal val="visible"/>
                                      </p:to>
                                    </p:set>
                                    <p:animEffect transition="in" filter="dissolve">
                                      <p:cBhvr>
                                        <p:cTn id="31" dur="500"/>
                                        <p:tgtEl>
                                          <p:spTgt spid="2330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83" grpId="0" uiExpand="1" build="p"/>
      <p:bldP spid="2330643" grpId="0" bldLvl="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113668" name="矩形 113667"/>
          <p:cNvSpPr>
            <a:spLocks noRot="1"/>
          </p:cNvSpPr>
          <p:nvPr/>
        </p:nvSpPr>
        <p:spPr>
          <a:xfrm>
            <a:off x="590550" y="1600200"/>
            <a:ext cx="8139113" cy="2017713"/>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lvl="0">
              <a:lnSpc>
                <a:spcPct val="120000"/>
              </a:lnSpc>
              <a:buNone/>
            </a:pPr>
            <a:r>
              <a:rPr lang="zh-CN" altLang="en-US" sz="2600" b="1" dirty="0"/>
              <a:t>例</a:t>
            </a:r>
            <a:r>
              <a:rPr lang="en-US" altLang="zh-CN" sz="2600" b="1"/>
              <a:t>1</a:t>
            </a:r>
            <a:r>
              <a:rPr lang="zh-CN" altLang="en-US" sz="2600" b="1" dirty="0"/>
              <a:t>：</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L</a:t>
            </a:r>
            <a:r>
              <a:rPr lang="en-US" altLang="zh-CN" sz="2600" b="1" i="1">
                <a:latin typeface="Times New Roman" panose="02020603050405020304" pitchFamily="18" charset="0"/>
              </a:rPr>
              <a:t>=60kHz</a:t>
            </a:r>
            <a:r>
              <a:rPr lang="zh-CN" altLang="en-US" sz="2600" b="1" dirty="0"/>
              <a:t>，</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H</a:t>
            </a:r>
            <a:r>
              <a:rPr lang="en-US" altLang="zh-CN" sz="2600" b="1" i="1">
                <a:latin typeface="Times New Roman" panose="02020603050405020304" pitchFamily="18" charset="0"/>
              </a:rPr>
              <a:t>=90kHz</a:t>
            </a:r>
            <a:r>
              <a:rPr lang="zh-CN" altLang="en-US" sz="2600" b="1" dirty="0"/>
              <a:t>，若采用下采样，有：</a:t>
            </a:r>
            <a:endParaRPr lang="zh-CN" altLang="en-US" sz="2600" b="1" dirty="0"/>
          </a:p>
          <a:p>
            <a:pPr lvl="0">
              <a:lnSpc>
                <a:spcPct val="120000"/>
              </a:lnSpc>
              <a:buNone/>
            </a:pPr>
            <a:r>
              <a:rPr lang="zh-CN" altLang="en-US" sz="2600" b="1" dirty="0"/>
              <a:t>    </a:t>
            </a:r>
            <a:endParaRPr lang="zh-CN" altLang="en-US" sz="2600" b="1" dirty="0"/>
          </a:p>
          <a:p>
            <a:pPr lvl="0">
              <a:lnSpc>
                <a:spcPct val="120000"/>
              </a:lnSpc>
              <a:buNone/>
            </a:pPr>
            <a:r>
              <a:rPr lang="zh-CN" altLang="en-US" sz="2600" b="1" dirty="0">
                <a:latin typeface="Times New Roman" panose="02020603050405020304" pitchFamily="18" charset="0"/>
              </a:rPr>
              <a:t>    则：</a:t>
            </a:r>
            <a:endParaRPr lang="zh-CN" altLang="en-US" sz="2600" b="1" dirty="0">
              <a:latin typeface="Times New Roman" panose="02020603050405020304" pitchFamily="18" charset="0"/>
            </a:endParaRPr>
          </a:p>
        </p:txBody>
      </p:sp>
      <p:sp>
        <p:nvSpPr>
          <p:cNvPr id="2262030" name="Text Box 14"/>
          <p:cNvSpPr txBox="1"/>
          <p:nvPr/>
        </p:nvSpPr>
        <p:spPr>
          <a:xfrm>
            <a:off x="254000" y="796925"/>
            <a:ext cx="2230438"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4. </a:t>
            </a:r>
            <a:r>
              <a:rPr lang="zh-CN" altLang="en-US" sz="3200" b="1" dirty="0">
                <a:solidFill>
                  <a:srgbClr val="333399"/>
                </a:solidFill>
                <a:latin typeface="楷体_GB2312" pitchFamily="49" charset="-122"/>
              </a:rPr>
              <a:t>下采样</a:t>
            </a:r>
            <a:endParaRPr lang="zh-CN" altLang="en-US" sz="3200" b="1" dirty="0">
              <a:solidFill>
                <a:srgbClr val="333399"/>
              </a:solidFill>
              <a:latin typeface="楷体_GB2312" pitchFamily="49" charset="-122"/>
            </a:endParaRPr>
          </a:p>
        </p:txBody>
      </p:sp>
      <p:graphicFrame>
        <p:nvGraphicFramePr>
          <p:cNvPr id="113672" name="对象 113671"/>
          <p:cNvGraphicFramePr/>
          <p:nvPr/>
        </p:nvGraphicFramePr>
        <p:xfrm>
          <a:off x="1325563" y="2420938"/>
          <a:ext cx="3282950" cy="401637"/>
        </p:xfrm>
        <a:graphic>
          <a:graphicData uri="http://schemas.openxmlformats.org/presentationml/2006/ole">
            <mc:AlternateContent xmlns:mc="http://schemas.openxmlformats.org/markup-compatibility/2006">
              <mc:Choice xmlns:v="urn:schemas-microsoft-com:vml" Requires="v">
                <p:oleObj spid="_x0000_s3138" name="" r:id="rId1" imgW="1724660" imgH="266065" progId="Equation.DSMT4">
                  <p:embed/>
                </p:oleObj>
              </mc:Choice>
              <mc:Fallback>
                <p:oleObj name="" r:id="rId1" imgW="1724660" imgH="266065" progId="Equation.DSMT4">
                  <p:embed/>
                  <p:pic>
                    <p:nvPicPr>
                      <p:cNvPr id="0" name="图片 3137"/>
                      <p:cNvPicPr/>
                      <p:nvPr/>
                    </p:nvPicPr>
                    <p:blipFill>
                      <a:blip r:embed="rId2"/>
                      <a:stretch>
                        <a:fillRect/>
                      </a:stretch>
                    </p:blipFill>
                    <p:spPr>
                      <a:xfrm>
                        <a:off x="1325563" y="2420938"/>
                        <a:ext cx="3282950" cy="401637"/>
                      </a:xfrm>
                      <a:prstGeom prst="rect">
                        <a:avLst/>
                      </a:prstGeom>
                      <a:noFill/>
                      <a:ln w="38100">
                        <a:noFill/>
                        <a:miter/>
                      </a:ln>
                    </p:spPr>
                  </p:pic>
                </p:oleObj>
              </mc:Fallback>
            </mc:AlternateContent>
          </a:graphicData>
        </a:graphic>
      </p:graphicFrame>
      <p:graphicFrame>
        <p:nvGraphicFramePr>
          <p:cNvPr id="113674" name="对象 113673"/>
          <p:cNvGraphicFramePr/>
          <p:nvPr/>
        </p:nvGraphicFramePr>
        <p:xfrm>
          <a:off x="2560638" y="2852738"/>
          <a:ext cx="3792537" cy="765175"/>
        </p:xfrm>
        <a:graphic>
          <a:graphicData uri="http://schemas.openxmlformats.org/presentationml/2006/ole">
            <mc:AlternateContent xmlns:mc="http://schemas.openxmlformats.org/markup-compatibility/2006">
              <mc:Choice xmlns:v="urn:schemas-microsoft-com:vml" Requires="v">
                <p:oleObj spid="_x0000_s3139" name="" r:id="rId3" imgW="1993900" imgH="508000" progId="Equation.DSMT4">
                  <p:embed/>
                </p:oleObj>
              </mc:Choice>
              <mc:Fallback>
                <p:oleObj name="" r:id="rId3" imgW="1993900" imgH="508000" progId="Equation.DSMT4">
                  <p:embed/>
                  <p:pic>
                    <p:nvPicPr>
                      <p:cNvPr id="0" name="图片 3138"/>
                      <p:cNvPicPr/>
                      <p:nvPr/>
                    </p:nvPicPr>
                    <p:blipFill>
                      <a:blip r:embed="rId4"/>
                      <a:stretch>
                        <a:fillRect/>
                      </a:stretch>
                    </p:blipFill>
                    <p:spPr>
                      <a:xfrm>
                        <a:off x="2560638" y="2852738"/>
                        <a:ext cx="3792537" cy="765175"/>
                      </a:xfrm>
                      <a:prstGeom prst="rect">
                        <a:avLst/>
                      </a:prstGeom>
                      <a:noFill/>
                      <a:ln w="38100">
                        <a:noFill/>
                        <a:miter/>
                      </a:ln>
                    </p:spPr>
                  </p:pic>
                </p:oleObj>
              </mc:Fallback>
            </mc:AlternateContent>
          </a:graphicData>
        </a:graphic>
      </p:graphicFrame>
      <p:graphicFrame>
        <p:nvGraphicFramePr>
          <p:cNvPr id="113675" name="对象 113674"/>
          <p:cNvGraphicFramePr/>
          <p:nvPr/>
        </p:nvGraphicFramePr>
        <p:xfrm>
          <a:off x="5651500" y="2384425"/>
          <a:ext cx="1352550" cy="401638"/>
        </p:xfrm>
        <a:graphic>
          <a:graphicData uri="http://schemas.openxmlformats.org/presentationml/2006/ole">
            <mc:AlternateContent xmlns:mc="http://schemas.openxmlformats.org/markup-compatibility/2006">
              <mc:Choice xmlns:v="urn:schemas-microsoft-com:vml" Requires="v">
                <p:oleObj spid="_x0000_s3137" name="" r:id="rId5" imgW="710565" imgH="266065" progId="Equation.DSMT4">
                  <p:embed/>
                </p:oleObj>
              </mc:Choice>
              <mc:Fallback>
                <p:oleObj name="" r:id="rId5" imgW="710565" imgH="266065" progId="Equation.DSMT4">
                  <p:embed/>
                  <p:pic>
                    <p:nvPicPr>
                      <p:cNvPr id="0" name="图片 3136"/>
                      <p:cNvPicPr/>
                      <p:nvPr/>
                    </p:nvPicPr>
                    <p:blipFill>
                      <a:blip r:embed="rId6"/>
                      <a:stretch>
                        <a:fillRect/>
                      </a:stretch>
                    </p:blipFill>
                    <p:spPr>
                      <a:xfrm>
                        <a:off x="5651500" y="2384425"/>
                        <a:ext cx="1352550" cy="401638"/>
                      </a:xfrm>
                      <a:prstGeom prst="rect">
                        <a:avLst/>
                      </a:prstGeom>
                      <a:noFill/>
                      <a:ln w="38100">
                        <a:noFill/>
                        <a:miter/>
                      </a:ln>
                    </p:spPr>
                  </p:pic>
                </p:oleObj>
              </mc:Fallback>
            </mc:AlternateContent>
          </a:graphicData>
        </a:graphic>
      </p:graphicFrame>
      <p:sp>
        <p:nvSpPr>
          <p:cNvPr id="113676" name="矩形 113675"/>
          <p:cNvSpPr>
            <a:spLocks noRot="1"/>
          </p:cNvSpPr>
          <p:nvPr/>
        </p:nvSpPr>
        <p:spPr>
          <a:xfrm>
            <a:off x="573088" y="3897313"/>
            <a:ext cx="8139112" cy="2017712"/>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lvl="0">
              <a:lnSpc>
                <a:spcPct val="120000"/>
              </a:lnSpc>
              <a:buNone/>
            </a:pPr>
            <a:r>
              <a:rPr lang="zh-CN" altLang="en-US" sz="2600" b="1" dirty="0"/>
              <a:t>例</a:t>
            </a:r>
            <a:r>
              <a:rPr lang="en-US" altLang="zh-CN" sz="2600" b="1"/>
              <a:t>2</a:t>
            </a:r>
            <a:r>
              <a:rPr lang="zh-CN" altLang="en-US" sz="2600" b="1" dirty="0"/>
              <a:t>：</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L</a:t>
            </a:r>
            <a:r>
              <a:rPr lang="en-US" altLang="zh-CN" sz="2600" b="1" i="1">
                <a:latin typeface="Times New Roman" panose="02020603050405020304" pitchFamily="18" charset="0"/>
              </a:rPr>
              <a:t>=60kHz</a:t>
            </a:r>
            <a:r>
              <a:rPr lang="zh-CN" altLang="en-US" sz="2600" b="1" dirty="0"/>
              <a:t>，</a:t>
            </a:r>
            <a:r>
              <a:rPr lang="en-US" altLang="zh-CN" sz="2600" b="1" i="1" err="1">
                <a:latin typeface="Times New Roman" panose="02020603050405020304" pitchFamily="18" charset="0"/>
              </a:rPr>
              <a:t>f</a:t>
            </a:r>
            <a:r>
              <a:rPr lang="en-US" altLang="zh-CN" sz="2600" b="1" i="1" baseline="-25000" err="1">
                <a:latin typeface="Times New Roman" panose="02020603050405020304" pitchFamily="18" charset="0"/>
              </a:rPr>
              <a:t>H</a:t>
            </a:r>
            <a:r>
              <a:rPr lang="en-US" altLang="zh-CN" sz="2600" b="1" i="1">
                <a:latin typeface="Times New Roman" panose="02020603050405020304" pitchFamily="18" charset="0"/>
              </a:rPr>
              <a:t>=100kHz</a:t>
            </a:r>
            <a:r>
              <a:rPr lang="zh-CN" altLang="en-US" sz="2600" b="1" dirty="0"/>
              <a:t>，若采用下采样，有：</a:t>
            </a:r>
            <a:endParaRPr lang="zh-CN" altLang="en-US" sz="2600" b="1" dirty="0"/>
          </a:p>
          <a:p>
            <a:pPr lvl="0">
              <a:lnSpc>
                <a:spcPct val="120000"/>
              </a:lnSpc>
              <a:buNone/>
            </a:pPr>
            <a:r>
              <a:rPr lang="zh-CN" altLang="en-US" sz="2600" b="1" dirty="0"/>
              <a:t>    </a:t>
            </a:r>
            <a:endParaRPr lang="zh-CN" altLang="en-US" sz="2600" b="1" dirty="0"/>
          </a:p>
          <a:p>
            <a:pPr lvl="0">
              <a:lnSpc>
                <a:spcPct val="120000"/>
              </a:lnSpc>
              <a:buNone/>
            </a:pPr>
            <a:r>
              <a:rPr lang="zh-CN" altLang="en-US" sz="2600" b="1" dirty="0">
                <a:latin typeface="Times New Roman" panose="02020603050405020304" pitchFamily="18" charset="0"/>
              </a:rPr>
              <a:t>    则：</a:t>
            </a:r>
            <a:endParaRPr lang="zh-CN" altLang="en-US" sz="2600" b="1" dirty="0">
              <a:latin typeface="Times New Roman" panose="02020603050405020304" pitchFamily="18" charset="0"/>
            </a:endParaRPr>
          </a:p>
        </p:txBody>
      </p:sp>
      <p:graphicFrame>
        <p:nvGraphicFramePr>
          <p:cNvPr id="113677" name="对象 113676"/>
          <p:cNvGraphicFramePr/>
          <p:nvPr/>
        </p:nvGraphicFramePr>
        <p:xfrm>
          <a:off x="684213" y="4648200"/>
          <a:ext cx="1931987" cy="401638"/>
        </p:xfrm>
        <a:graphic>
          <a:graphicData uri="http://schemas.openxmlformats.org/presentationml/2006/ole">
            <mc:AlternateContent xmlns:mc="http://schemas.openxmlformats.org/markup-compatibility/2006">
              <mc:Choice xmlns:v="urn:schemas-microsoft-com:vml" Requires="v">
                <p:oleObj spid="_x0000_s3098" name="" r:id="rId7" imgW="1014730" imgH="266065" progId="Equation.DSMT4">
                  <p:embed/>
                </p:oleObj>
              </mc:Choice>
              <mc:Fallback>
                <p:oleObj name="" r:id="rId7" imgW="1014730" imgH="266065" progId="Equation.DSMT4">
                  <p:embed/>
                  <p:pic>
                    <p:nvPicPr>
                      <p:cNvPr id="0" name="图片 3097"/>
                      <p:cNvPicPr/>
                      <p:nvPr/>
                    </p:nvPicPr>
                    <p:blipFill>
                      <a:blip r:embed="rId8"/>
                      <a:stretch>
                        <a:fillRect/>
                      </a:stretch>
                    </p:blipFill>
                    <p:spPr>
                      <a:xfrm>
                        <a:off x="684213" y="4648200"/>
                        <a:ext cx="1931987" cy="401638"/>
                      </a:xfrm>
                      <a:prstGeom prst="rect">
                        <a:avLst/>
                      </a:prstGeom>
                      <a:noFill/>
                      <a:ln w="38100">
                        <a:noFill/>
                        <a:miter/>
                      </a:ln>
                    </p:spPr>
                  </p:pic>
                </p:oleObj>
              </mc:Fallback>
            </mc:AlternateContent>
          </a:graphicData>
        </a:graphic>
      </p:graphicFrame>
      <p:graphicFrame>
        <p:nvGraphicFramePr>
          <p:cNvPr id="113678" name="对象 113677"/>
          <p:cNvGraphicFramePr/>
          <p:nvPr/>
        </p:nvGraphicFramePr>
        <p:xfrm>
          <a:off x="3095625" y="4648200"/>
          <a:ext cx="3476625" cy="401638"/>
        </p:xfrm>
        <a:graphic>
          <a:graphicData uri="http://schemas.openxmlformats.org/presentationml/2006/ole">
            <mc:AlternateContent xmlns:mc="http://schemas.openxmlformats.org/markup-compatibility/2006">
              <mc:Choice xmlns:v="urn:schemas-microsoft-com:vml" Requires="v">
                <p:oleObj spid="_x0000_s3101" name="" r:id="rId9" imgW="1826260" imgH="266065" progId="Equation.DSMT4">
                  <p:embed/>
                </p:oleObj>
              </mc:Choice>
              <mc:Fallback>
                <p:oleObj name="" r:id="rId9" imgW="1826260" imgH="266065" progId="Equation.DSMT4">
                  <p:embed/>
                  <p:pic>
                    <p:nvPicPr>
                      <p:cNvPr id="0" name="图片 3100"/>
                      <p:cNvPicPr/>
                      <p:nvPr/>
                    </p:nvPicPr>
                    <p:blipFill>
                      <a:blip r:embed="rId10"/>
                      <a:stretch>
                        <a:fillRect/>
                      </a:stretch>
                    </p:blipFill>
                    <p:spPr>
                      <a:xfrm>
                        <a:off x="3095625" y="4648200"/>
                        <a:ext cx="3476625" cy="401638"/>
                      </a:xfrm>
                      <a:prstGeom prst="rect">
                        <a:avLst/>
                      </a:prstGeom>
                      <a:noFill/>
                      <a:ln w="38100">
                        <a:noFill/>
                        <a:miter/>
                      </a:ln>
                    </p:spPr>
                  </p:pic>
                </p:oleObj>
              </mc:Fallback>
            </mc:AlternateContent>
          </a:graphicData>
        </a:graphic>
      </p:graphicFrame>
      <p:graphicFrame>
        <p:nvGraphicFramePr>
          <p:cNvPr id="113679" name="对象 113678"/>
          <p:cNvGraphicFramePr/>
          <p:nvPr/>
        </p:nvGraphicFramePr>
        <p:xfrm>
          <a:off x="2439988" y="5149850"/>
          <a:ext cx="4033837" cy="765175"/>
        </p:xfrm>
        <a:graphic>
          <a:graphicData uri="http://schemas.openxmlformats.org/presentationml/2006/ole">
            <mc:AlternateContent xmlns:mc="http://schemas.openxmlformats.org/markup-compatibility/2006">
              <mc:Choice xmlns:v="urn:schemas-microsoft-com:vml" Requires="v">
                <p:oleObj spid="_x0000_s3099" name="" r:id="rId11" imgW="2120900" imgH="508000" progId="Equation.DSMT4">
                  <p:embed/>
                </p:oleObj>
              </mc:Choice>
              <mc:Fallback>
                <p:oleObj name="" r:id="rId11" imgW="2120900" imgH="508000" progId="Equation.DSMT4">
                  <p:embed/>
                  <p:pic>
                    <p:nvPicPr>
                      <p:cNvPr id="0" name="图片 3098"/>
                      <p:cNvPicPr/>
                      <p:nvPr/>
                    </p:nvPicPr>
                    <p:blipFill>
                      <a:blip r:embed="rId12"/>
                      <a:stretch>
                        <a:fillRect/>
                      </a:stretch>
                    </p:blipFill>
                    <p:spPr>
                      <a:xfrm>
                        <a:off x="2439988" y="5149850"/>
                        <a:ext cx="4033837" cy="765175"/>
                      </a:xfrm>
                      <a:prstGeom prst="rect">
                        <a:avLst/>
                      </a:prstGeom>
                      <a:noFill/>
                      <a:ln w="38100">
                        <a:noFill/>
                        <a:miter/>
                      </a:ln>
                    </p:spPr>
                  </p:pic>
                </p:oleObj>
              </mc:Fallback>
            </mc:AlternateContent>
          </a:graphicData>
        </a:graphic>
      </p:graphicFrame>
      <p:graphicFrame>
        <p:nvGraphicFramePr>
          <p:cNvPr id="113680" name="对象 113679"/>
          <p:cNvGraphicFramePr/>
          <p:nvPr/>
        </p:nvGraphicFramePr>
        <p:xfrm>
          <a:off x="7140575" y="4648200"/>
          <a:ext cx="1473200" cy="401638"/>
        </p:xfrm>
        <a:graphic>
          <a:graphicData uri="http://schemas.openxmlformats.org/presentationml/2006/ole">
            <mc:AlternateContent xmlns:mc="http://schemas.openxmlformats.org/markup-compatibility/2006">
              <mc:Choice xmlns:v="urn:schemas-microsoft-com:vml" Requires="v">
                <p:oleObj spid="_x0000_s3100" name="" r:id="rId13" imgW="773430" imgH="266065" progId="Equation.DSMT4">
                  <p:embed/>
                </p:oleObj>
              </mc:Choice>
              <mc:Fallback>
                <p:oleObj name="" r:id="rId13" imgW="773430" imgH="266065" progId="Equation.DSMT4">
                  <p:embed/>
                  <p:pic>
                    <p:nvPicPr>
                      <p:cNvPr id="0" name="图片 3099"/>
                      <p:cNvPicPr/>
                      <p:nvPr/>
                    </p:nvPicPr>
                    <p:blipFill>
                      <a:blip r:embed="rId14"/>
                      <a:stretch>
                        <a:fillRect/>
                      </a:stretch>
                    </p:blipFill>
                    <p:spPr>
                      <a:xfrm>
                        <a:off x="7140575" y="4648200"/>
                        <a:ext cx="1473200" cy="401638"/>
                      </a:xfrm>
                      <a:prstGeom prst="rect">
                        <a:avLst/>
                      </a:prstGeom>
                      <a:no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3668">
                                            <p:txEl>
                                              <p:charRg st="0" end="31"/>
                                            </p:txEl>
                                          </p:spTgt>
                                        </p:tgtEl>
                                        <p:attrNameLst>
                                          <p:attrName>style.visibility</p:attrName>
                                        </p:attrNameLst>
                                      </p:cBhvr>
                                      <p:to>
                                        <p:strVal val="visible"/>
                                      </p:to>
                                    </p:set>
                                    <p:animEffect transition="in" filter="blinds(horizontal)">
                                      <p:cBhvr>
                                        <p:cTn id="7" dur="500"/>
                                        <p:tgtEl>
                                          <p:spTgt spid="113668">
                                            <p:txEl>
                                              <p:charRg st="0" end="3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13668">
                                            <p:txEl>
                                              <p:charRg st="36" end="43"/>
                                            </p:txEl>
                                          </p:spTgt>
                                        </p:tgtEl>
                                        <p:attrNameLst>
                                          <p:attrName>style.visibility</p:attrName>
                                        </p:attrNameLst>
                                      </p:cBhvr>
                                      <p:to>
                                        <p:strVal val="visible"/>
                                      </p:to>
                                    </p:set>
                                    <p:animEffect transition="in" filter="blinds(horizontal)">
                                      <p:cBhvr>
                                        <p:cTn id="12" dur="500"/>
                                        <p:tgtEl>
                                          <p:spTgt spid="113668">
                                            <p:txEl>
                                              <p:charRg st="36" end="43"/>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13672"/>
                                        </p:tgtEl>
                                        <p:attrNameLst>
                                          <p:attrName>style.visibility</p:attrName>
                                        </p:attrNameLst>
                                      </p:cBhvr>
                                      <p:to>
                                        <p:strVal val="visible"/>
                                      </p:to>
                                    </p:set>
                                    <p:animEffect transition="in" filter="blinds(horizontal)">
                                      <p:cBhvr>
                                        <p:cTn id="15" dur="500"/>
                                        <p:tgtEl>
                                          <p:spTgt spid="113672"/>
                                        </p:tgtEl>
                                      </p:cBhvr>
                                    </p:animEffect>
                                  </p:childTnLst>
                                </p:cTn>
                              </p:par>
                              <p:par>
                                <p:cTn id="16" presetID="3" presetClass="entr" presetSubtype="10" fill="hold" nodeType="withEffect">
                                  <p:stCondLst>
                                    <p:cond delay="0"/>
                                  </p:stCondLst>
                                  <p:childTnLst>
                                    <p:set>
                                      <p:cBhvr>
                                        <p:cTn id="17" dur="1" fill="hold">
                                          <p:stCondLst>
                                            <p:cond delay="0"/>
                                          </p:stCondLst>
                                        </p:cTn>
                                        <p:tgtEl>
                                          <p:spTgt spid="113674"/>
                                        </p:tgtEl>
                                        <p:attrNameLst>
                                          <p:attrName>style.visibility</p:attrName>
                                        </p:attrNameLst>
                                      </p:cBhvr>
                                      <p:to>
                                        <p:strVal val="visible"/>
                                      </p:to>
                                    </p:set>
                                    <p:animEffect transition="in" filter="blinds(horizontal)">
                                      <p:cBhvr>
                                        <p:cTn id="18" dur="500"/>
                                        <p:tgtEl>
                                          <p:spTgt spid="113674"/>
                                        </p:tgtEl>
                                      </p:cBhvr>
                                    </p:animEffect>
                                  </p:childTnLst>
                                </p:cTn>
                              </p:par>
                              <p:par>
                                <p:cTn id="19" presetID="3" presetClass="entr" presetSubtype="10" fill="hold" nodeType="withEffect">
                                  <p:stCondLst>
                                    <p:cond delay="0"/>
                                  </p:stCondLst>
                                  <p:childTnLst>
                                    <p:set>
                                      <p:cBhvr>
                                        <p:cTn id="20" dur="1" fill="hold">
                                          <p:stCondLst>
                                            <p:cond delay="0"/>
                                          </p:stCondLst>
                                        </p:cTn>
                                        <p:tgtEl>
                                          <p:spTgt spid="113675"/>
                                        </p:tgtEl>
                                        <p:attrNameLst>
                                          <p:attrName>style.visibility</p:attrName>
                                        </p:attrNameLst>
                                      </p:cBhvr>
                                      <p:to>
                                        <p:strVal val="visible"/>
                                      </p:to>
                                    </p:set>
                                    <p:animEffect transition="in" filter="blinds(horizontal)">
                                      <p:cBhvr>
                                        <p:cTn id="21" dur="500"/>
                                        <p:tgtEl>
                                          <p:spTgt spid="113675"/>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113676">
                                            <p:txEl>
                                              <p:charRg st="0" end="32"/>
                                            </p:txEl>
                                          </p:spTgt>
                                        </p:tgtEl>
                                        <p:attrNameLst>
                                          <p:attrName>style.visibility</p:attrName>
                                        </p:attrNameLst>
                                      </p:cBhvr>
                                      <p:to>
                                        <p:strVal val="visible"/>
                                      </p:to>
                                    </p:set>
                                    <p:animEffect transition="in" filter="blinds(horizontal)">
                                      <p:cBhvr>
                                        <p:cTn id="26" dur="500"/>
                                        <p:tgtEl>
                                          <p:spTgt spid="113676">
                                            <p:txEl>
                                              <p:charRg st="0" end="3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grpId="0" nodeType="clickEffect">
                                  <p:stCondLst>
                                    <p:cond delay="0"/>
                                  </p:stCondLst>
                                  <p:childTnLst>
                                    <p:set>
                                      <p:cBhvr>
                                        <p:cTn id="30" dur="1" fill="hold">
                                          <p:stCondLst>
                                            <p:cond delay="0"/>
                                          </p:stCondLst>
                                        </p:cTn>
                                        <p:tgtEl>
                                          <p:spTgt spid="113676">
                                            <p:txEl>
                                              <p:charRg st="37" end="44"/>
                                            </p:txEl>
                                          </p:spTgt>
                                        </p:tgtEl>
                                        <p:attrNameLst>
                                          <p:attrName>style.visibility</p:attrName>
                                        </p:attrNameLst>
                                      </p:cBhvr>
                                      <p:to>
                                        <p:strVal val="visible"/>
                                      </p:to>
                                    </p:set>
                                    <p:animEffect transition="in" filter="blinds(horizontal)">
                                      <p:cBhvr>
                                        <p:cTn id="31" dur="500"/>
                                        <p:tgtEl>
                                          <p:spTgt spid="113676">
                                            <p:txEl>
                                              <p:charRg st="37" end="44"/>
                                            </p:txEl>
                                          </p:spTgt>
                                        </p:tgtEl>
                                      </p:cBhvr>
                                    </p:animEffect>
                                  </p:childTnLst>
                                </p:cTn>
                              </p:par>
                              <p:par>
                                <p:cTn id="32" presetID="3" presetClass="entr" presetSubtype="10" fill="hold" nodeType="withEffect">
                                  <p:stCondLst>
                                    <p:cond delay="0"/>
                                  </p:stCondLst>
                                  <p:childTnLst>
                                    <p:set>
                                      <p:cBhvr>
                                        <p:cTn id="33" dur="1" fill="hold">
                                          <p:stCondLst>
                                            <p:cond delay="0"/>
                                          </p:stCondLst>
                                        </p:cTn>
                                        <p:tgtEl>
                                          <p:spTgt spid="113677"/>
                                        </p:tgtEl>
                                        <p:attrNameLst>
                                          <p:attrName>style.visibility</p:attrName>
                                        </p:attrNameLst>
                                      </p:cBhvr>
                                      <p:to>
                                        <p:strVal val="visible"/>
                                      </p:to>
                                    </p:set>
                                    <p:animEffect transition="in" filter="blinds(horizontal)">
                                      <p:cBhvr>
                                        <p:cTn id="34" dur="500"/>
                                        <p:tgtEl>
                                          <p:spTgt spid="113677"/>
                                        </p:tgtEl>
                                      </p:cBhvr>
                                    </p:animEffect>
                                  </p:childTnLst>
                                </p:cTn>
                              </p:par>
                              <p:par>
                                <p:cTn id="35" presetID="3" presetClass="entr" presetSubtype="10" fill="hold" nodeType="withEffect">
                                  <p:stCondLst>
                                    <p:cond delay="0"/>
                                  </p:stCondLst>
                                  <p:childTnLst>
                                    <p:set>
                                      <p:cBhvr>
                                        <p:cTn id="36" dur="1" fill="hold">
                                          <p:stCondLst>
                                            <p:cond delay="0"/>
                                          </p:stCondLst>
                                        </p:cTn>
                                        <p:tgtEl>
                                          <p:spTgt spid="113678"/>
                                        </p:tgtEl>
                                        <p:attrNameLst>
                                          <p:attrName>style.visibility</p:attrName>
                                        </p:attrNameLst>
                                      </p:cBhvr>
                                      <p:to>
                                        <p:strVal val="visible"/>
                                      </p:to>
                                    </p:set>
                                    <p:animEffect transition="in" filter="blinds(horizontal)">
                                      <p:cBhvr>
                                        <p:cTn id="37" dur="500"/>
                                        <p:tgtEl>
                                          <p:spTgt spid="113678"/>
                                        </p:tgtEl>
                                      </p:cBhvr>
                                    </p:animEffect>
                                  </p:childTnLst>
                                </p:cTn>
                              </p:par>
                              <p:par>
                                <p:cTn id="38" presetID="3" presetClass="entr" presetSubtype="10" fill="hold" nodeType="withEffect">
                                  <p:stCondLst>
                                    <p:cond delay="0"/>
                                  </p:stCondLst>
                                  <p:childTnLst>
                                    <p:set>
                                      <p:cBhvr>
                                        <p:cTn id="39" dur="1" fill="hold">
                                          <p:stCondLst>
                                            <p:cond delay="0"/>
                                          </p:stCondLst>
                                        </p:cTn>
                                        <p:tgtEl>
                                          <p:spTgt spid="113679"/>
                                        </p:tgtEl>
                                        <p:attrNameLst>
                                          <p:attrName>style.visibility</p:attrName>
                                        </p:attrNameLst>
                                      </p:cBhvr>
                                      <p:to>
                                        <p:strVal val="visible"/>
                                      </p:to>
                                    </p:set>
                                    <p:animEffect transition="in" filter="blinds(horizontal)">
                                      <p:cBhvr>
                                        <p:cTn id="40" dur="500"/>
                                        <p:tgtEl>
                                          <p:spTgt spid="113679"/>
                                        </p:tgtEl>
                                      </p:cBhvr>
                                    </p:animEffect>
                                  </p:childTnLst>
                                </p:cTn>
                              </p:par>
                              <p:par>
                                <p:cTn id="41" presetID="3" presetClass="entr" presetSubtype="10" fill="hold" nodeType="withEffect">
                                  <p:stCondLst>
                                    <p:cond delay="0"/>
                                  </p:stCondLst>
                                  <p:childTnLst>
                                    <p:set>
                                      <p:cBhvr>
                                        <p:cTn id="42" dur="1" fill="hold">
                                          <p:stCondLst>
                                            <p:cond delay="0"/>
                                          </p:stCondLst>
                                        </p:cTn>
                                        <p:tgtEl>
                                          <p:spTgt spid="113680"/>
                                        </p:tgtEl>
                                        <p:attrNameLst>
                                          <p:attrName>style.visibility</p:attrName>
                                        </p:attrNameLst>
                                      </p:cBhvr>
                                      <p:to>
                                        <p:strVal val="visible"/>
                                      </p:to>
                                    </p:set>
                                    <p:animEffect transition="in" filter="blinds(horizontal)">
                                      <p:cBhvr>
                                        <p:cTn id="43" dur="500"/>
                                        <p:tgtEl>
                                          <p:spTgt spid="1136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8" grpId="0" uiExpand="1" build="p"/>
      <p:bldP spid="113676"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en-US" altLang="zh-CN" sz="4000" b="1">
                <a:solidFill>
                  <a:schemeClr val="tx1"/>
                </a:solidFill>
                <a:effectLst>
                  <a:outerShdw blurRad="38100" dist="38100" dir="2700000">
                    <a:srgbClr val="C0C0C0"/>
                  </a:outerShdw>
                </a:effectLst>
                <a:latin typeface="Times New Roman" panose="02020603050405020304" pitchFamily="18" charset="0"/>
              </a:rPr>
              <a:t>2.5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采样技术的讨论</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262030" name="Text Box 14"/>
          <p:cNvSpPr txBox="1"/>
          <p:nvPr/>
        </p:nvSpPr>
        <p:spPr>
          <a:xfrm>
            <a:off x="254000" y="796925"/>
            <a:ext cx="2517775"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5. </a:t>
            </a:r>
            <a:r>
              <a:rPr lang="zh-CN" altLang="en-US" sz="3200" b="1" dirty="0">
                <a:solidFill>
                  <a:srgbClr val="333399"/>
                </a:solidFill>
                <a:latin typeface="楷体_GB2312" pitchFamily="49" charset="-122"/>
              </a:rPr>
              <a:t>性能比较</a:t>
            </a:r>
            <a:endParaRPr lang="zh-CN" altLang="en-US" sz="3200" b="1" dirty="0">
              <a:solidFill>
                <a:srgbClr val="333399"/>
              </a:solidFill>
              <a:latin typeface="楷体_GB2312" pitchFamily="49" charset="-122"/>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84997" name="矩形 84996"/>
          <p:cNvSpPr>
            <a:spLocks noRot="1"/>
          </p:cNvSpPr>
          <p:nvPr/>
        </p:nvSpPr>
        <p:spPr>
          <a:xfrm>
            <a:off x="457200" y="1600200"/>
            <a:ext cx="8435975" cy="4530725"/>
          </a:xfrm>
          <a:prstGeom prst="rect">
            <a:avLst/>
          </a:prstGeom>
          <a:noFill/>
          <a:ln w="9525">
            <a:noFill/>
          </a:ln>
        </p:spPr>
        <p: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357505" defTabSz="914400">
              <a:buFont typeface="Wingdings" panose="05000000000000000000" pitchFamily="2" charset="2"/>
              <a:buChar char="u"/>
            </a:pPr>
            <a:r>
              <a:rPr lang="zh-CN" altLang="en-US" sz="2800" b="1" dirty="0"/>
              <a:t>常规采样所需存储容量最大；</a:t>
            </a:r>
            <a:endParaRPr lang="zh-CN" altLang="en-US" sz="2800" b="1" dirty="0"/>
          </a:p>
          <a:p>
            <a:pPr marL="0" lvl="0" indent="357505" defTabSz="914400">
              <a:buFont typeface="Wingdings" panose="05000000000000000000" pitchFamily="2" charset="2"/>
              <a:buChar char="u"/>
            </a:pPr>
            <a:r>
              <a:rPr lang="zh-CN" altLang="en-US" sz="2800" b="1" dirty="0"/>
              <a:t>间歇采样所需存储容量与间歇时间相关，间歇时间越大，所需存储量越小；</a:t>
            </a:r>
            <a:endParaRPr lang="zh-CN" altLang="en-US" sz="2800" b="1" dirty="0"/>
          </a:p>
          <a:p>
            <a:pPr marL="0" lvl="0" indent="357505" defTabSz="914400">
              <a:buFont typeface="Wingdings" panose="05000000000000000000" pitchFamily="2" charset="2"/>
              <a:buChar char="u"/>
            </a:pPr>
            <a:r>
              <a:rPr lang="zh-CN" altLang="en-US" sz="2800" b="1" dirty="0"/>
              <a:t>变频采样所需存储量略少于常规采样；</a:t>
            </a:r>
            <a:endParaRPr lang="zh-CN" altLang="en-US" sz="2800" b="1" dirty="0"/>
          </a:p>
          <a:p>
            <a:pPr marL="0" lvl="0" indent="357505" defTabSz="914400">
              <a:buFont typeface="Wingdings" panose="05000000000000000000" pitchFamily="2" charset="2"/>
              <a:buChar char="u"/>
            </a:pPr>
            <a:r>
              <a:rPr lang="zh-CN" altLang="en-US" sz="2800" b="1" dirty="0"/>
              <a:t>下采样所需存储容量与采样深度有关，采样深度越大，所需存储量越小。</a:t>
            </a:r>
            <a:endParaRPr lang="zh-CN" altLang="en-US" sz="2800" b="1" dirty="0"/>
          </a:p>
          <a:p>
            <a:pPr marL="0" lvl="0" indent="357505" defTabSz="914400">
              <a:buFont typeface="Wingdings" panose="05000000000000000000" pitchFamily="2" charset="2"/>
              <a:buChar char="u"/>
            </a:pPr>
            <a:r>
              <a:rPr lang="zh-CN" altLang="en-US" sz="2800" b="1" dirty="0"/>
              <a:t>变频采样精度保持不变，其它三种采样精度随采样时间增加而变差。</a:t>
            </a:r>
            <a:endParaRPr lang="zh-CN" altLang="en-US" sz="2800" b="1" dirty="0"/>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84997">
                                            <p:txEl>
                                              <p:charRg st="0" end="14"/>
                                            </p:txEl>
                                          </p:spTgt>
                                        </p:tgtEl>
                                        <p:attrNameLst>
                                          <p:attrName>style.visibility</p:attrName>
                                        </p:attrNameLst>
                                      </p:cBhvr>
                                      <p:to>
                                        <p:strVal val="visible"/>
                                      </p:to>
                                    </p:set>
                                    <p:animEffect transition="in" filter="blinds(horizontal)">
                                      <p:cBhvr>
                                        <p:cTn id="12" dur="500"/>
                                        <p:tgtEl>
                                          <p:spTgt spid="84997">
                                            <p:txEl>
                                              <p:charRg st="0" end="1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84997">
                                            <p:txEl>
                                              <p:charRg st="14" end="48"/>
                                            </p:txEl>
                                          </p:spTgt>
                                        </p:tgtEl>
                                        <p:attrNameLst>
                                          <p:attrName>style.visibility</p:attrName>
                                        </p:attrNameLst>
                                      </p:cBhvr>
                                      <p:to>
                                        <p:strVal val="visible"/>
                                      </p:to>
                                    </p:set>
                                    <p:animEffect transition="in" filter="blinds(horizontal)">
                                      <p:cBhvr>
                                        <p:cTn id="17" dur="500"/>
                                        <p:tgtEl>
                                          <p:spTgt spid="84997">
                                            <p:txEl>
                                              <p:charRg st="14" end="48"/>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4997">
                                            <p:txEl>
                                              <p:charRg st="48" end="66"/>
                                            </p:txEl>
                                          </p:spTgt>
                                        </p:tgtEl>
                                        <p:attrNameLst>
                                          <p:attrName>style.visibility</p:attrName>
                                        </p:attrNameLst>
                                      </p:cBhvr>
                                      <p:to>
                                        <p:strVal val="visible"/>
                                      </p:to>
                                    </p:set>
                                    <p:animEffect transition="in" filter="blinds(horizontal)">
                                      <p:cBhvr>
                                        <p:cTn id="22" dur="500"/>
                                        <p:tgtEl>
                                          <p:spTgt spid="84997">
                                            <p:txEl>
                                              <p:charRg st="48" end="6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84997">
                                            <p:txEl>
                                              <p:charRg st="66" end="99"/>
                                            </p:txEl>
                                          </p:spTgt>
                                        </p:tgtEl>
                                        <p:attrNameLst>
                                          <p:attrName>style.visibility</p:attrName>
                                        </p:attrNameLst>
                                      </p:cBhvr>
                                      <p:to>
                                        <p:strVal val="visible"/>
                                      </p:to>
                                    </p:set>
                                    <p:animEffect transition="in" filter="blinds(horizontal)">
                                      <p:cBhvr>
                                        <p:cTn id="27" dur="500"/>
                                        <p:tgtEl>
                                          <p:spTgt spid="84997">
                                            <p:txEl>
                                              <p:charRg st="66" end="99"/>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84997">
                                            <p:txEl>
                                              <p:charRg st="99" end="130"/>
                                            </p:txEl>
                                          </p:spTgt>
                                        </p:tgtEl>
                                        <p:attrNameLst>
                                          <p:attrName>style.visibility</p:attrName>
                                        </p:attrNameLst>
                                      </p:cBhvr>
                                      <p:to>
                                        <p:strVal val="visible"/>
                                      </p:to>
                                    </p:set>
                                    <p:animEffect transition="in" filter="blinds(horizontal)">
                                      <p:cBhvr>
                                        <p:cTn id="32" dur="500"/>
                                        <p:tgtEl>
                                          <p:spTgt spid="84997">
                                            <p:txEl>
                                              <p:charRg st="99" end="13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84997"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2029" name="Text Box 13"/>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2030" name="Text Box 14"/>
          <p:cNvSpPr txBox="1"/>
          <p:nvPr/>
        </p:nvSpPr>
        <p:spPr>
          <a:xfrm>
            <a:off x="254000" y="796925"/>
            <a:ext cx="6081713"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2.6.1 </a:t>
            </a:r>
            <a:r>
              <a:rPr lang="zh-CN" altLang="en-US" sz="3200" b="1" dirty="0">
                <a:solidFill>
                  <a:srgbClr val="333399"/>
                </a:solidFill>
                <a:latin typeface="楷体_GB2312" pitchFamily="49" charset="-122"/>
              </a:rPr>
              <a:t>模拟信号的采样控制方式</a:t>
            </a:r>
            <a:endParaRPr lang="zh-CN" altLang="en-US" sz="3200" b="1" dirty="0">
              <a:solidFill>
                <a:srgbClr val="333399"/>
              </a:solidFill>
              <a:latin typeface="楷体_GB2312" pitchFamily="49" charset="-122"/>
            </a:endParaRPr>
          </a:p>
        </p:txBody>
      </p:sp>
      <p:sp>
        <p:nvSpPr>
          <p:cNvPr id="2262031" name="Text Box 15"/>
          <p:cNvSpPr txBox="1"/>
          <p:nvPr/>
        </p:nvSpPr>
        <p:spPr>
          <a:xfrm>
            <a:off x="935038" y="1520825"/>
            <a:ext cx="3167062" cy="579438"/>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3200" b="1">
                <a:solidFill>
                  <a:schemeClr val="tx1"/>
                </a:solidFill>
                <a:latin typeface="黑体" panose="02010609060101010101" pitchFamily="49" charset="-122"/>
                <a:ea typeface="黑体" panose="02010609060101010101" pitchFamily="49" charset="-122"/>
              </a:rPr>
              <a:t>1.</a:t>
            </a:r>
            <a:r>
              <a:rPr lang="zh-CN" altLang="en-US" sz="3200" b="1" dirty="0">
                <a:solidFill>
                  <a:schemeClr val="tx1"/>
                </a:solidFill>
                <a:latin typeface="Times New Roman" panose="02020603050405020304" pitchFamily="18" charset="0"/>
                <a:ea typeface="黑体" panose="02010609060101010101" pitchFamily="49" charset="-122"/>
              </a:rPr>
              <a:t>无条件采样 </a:t>
            </a:r>
            <a:endParaRPr lang="zh-CN" altLang="en-US" sz="3200" b="1" dirty="0">
              <a:solidFill>
                <a:schemeClr val="tx1"/>
              </a:solidFill>
              <a:latin typeface="Times New Roman" panose="02020603050405020304" pitchFamily="18" charset="0"/>
              <a:ea typeface="黑体" panose="02010609060101010101" pitchFamily="49" charset="-122"/>
            </a:endParaRPr>
          </a:p>
        </p:txBody>
      </p:sp>
      <p:sp>
        <p:nvSpPr>
          <p:cNvPr id="2262032" name="Text Box 16"/>
          <p:cNvSpPr txBox="1"/>
          <p:nvPr/>
        </p:nvSpPr>
        <p:spPr>
          <a:xfrm>
            <a:off x="431800" y="2205038"/>
            <a:ext cx="1435100" cy="519112"/>
          </a:xfrm>
          <a:prstGeom prst="rect">
            <a:avLst/>
          </a:prstGeom>
          <a:noFill/>
          <a:ln w="9525">
            <a:noFill/>
          </a:ln>
        </p:spPr>
        <p:txBody>
          <a:bodyPr wrap="none">
            <a:spAutoFit/>
          </a:bodyPr>
          <a:p>
            <a:pPr algn="l" eaLnBrk="1" hangingPunct="1"/>
            <a:r>
              <a:rPr lang="zh-CN" altLang="en-US" sz="2800" b="1" dirty="0">
                <a:solidFill>
                  <a:srgbClr val="FF0000"/>
                </a:solidFill>
                <a:latin typeface="楷体_GB2312" pitchFamily="49" charset="-122"/>
              </a:rPr>
              <a:t>特点： </a:t>
            </a:r>
            <a:endParaRPr lang="zh-CN" altLang="en-US" sz="2800" b="1" dirty="0">
              <a:solidFill>
                <a:srgbClr val="FF0000"/>
              </a:solidFill>
              <a:latin typeface="楷体_GB2312" pitchFamily="49" charset="-122"/>
            </a:endParaRPr>
          </a:p>
        </p:txBody>
      </p:sp>
      <p:sp>
        <p:nvSpPr>
          <p:cNvPr id="2262033" name="Text Box 17"/>
          <p:cNvSpPr txBox="1"/>
          <p:nvPr/>
        </p:nvSpPr>
        <p:spPr>
          <a:xfrm>
            <a:off x="1584325" y="2205038"/>
            <a:ext cx="6762750" cy="1373187"/>
          </a:xfrm>
          <a:prstGeom prst="rect">
            <a:avLst/>
          </a:prstGeom>
          <a:no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运行采样程序，立即采集数据，直到将一段时间内的模拟信号的采样点数据全部采完为止。</a:t>
            </a:r>
            <a:endParaRPr lang="zh-CN" altLang="en-US" sz="2800" b="1" dirty="0">
              <a:solidFill>
                <a:srgbClr val="3333FF"/>
              </a:solidFill>
              <a:latin typeface="Times New Roman" panose="02020603050405020304" pitchFamily="18" charset="0"/>
            </a:endParaRPr>
          </a:p>
        </p:txBody>
      </p:sp>
      <p:sp>
        <p:nvSpPr>
          <p:cNvPr id="2262034" name="Text Box 18"/>
          <p:cNvSpPr txBox="1"/>
          <p:nvPr/>
        </p:nvSpPr>
        <p:spPr>
          <a:xfrm>
            <a:off x="250825" y="3536950"/>
            <a:ext cx="1435100" cy="519113"/>
          </a:xfrm>
          <a:prstGeom prst="rect">
            <a:avLst/>
          </a:prstGeom>
          <a:noFill/>
          <a:ln w="9525">
            <a:noFill/>
          </a:ln>
        </p:spPr>
        <p:txBody>
          <a:bodyPr wrap="none">
            <a:spAutoFit/>
          </a:bodyPr>
          <a:p>
            <a:pPr algn="l" eaLnBrk="1" hangingPunct="1"/>
            <a:r>
              <a:rPr lang="en-US" altLang="zh-CN" sz="2800" b="1">
                <a:solidFill>
                  <a:srgbClr val="FF0000"/>
                </a:solidFill>
                <a:latin typeface="楷体_GB2312" pitchFamily="49" charset="-122"/>
              </a:rPr>
              <a:t> </a:t>
            </a:r>
            <a:r>
              <a:rPr lang="zh-CN" altLang="en-US" sz="2800" b="1" dirty="0">
                <a:solidFill>
                  <a:srgbClr val="FF0000"/>
                </a:solidFill>
                <a:latin typeface="楷体_GB2312" pitchFamily="49" charset="-122"/>
              </a:rPr>
              <a:t>优点：</a:t>
            </a:r>
            <a:endParaRPr lang="zh-CN" altLang="en-US" sz="2800" b="1" dirty="0">
              <a:solidFill>
                <a:srgbClr val="FF0000"/>
              </a:solidFill>
              <a:latin typeface="楷体_GB2312" pitchFamily="49" charset="-122"/>
            </a:endParaRPr>
          </a:p>
        </p:txBody>
      </p:sp>
      <p:sp>
        <p:nvSpPr>
          <p:cNvPr id="2262035" name="Text Box 19"/>
          <p:cNvSpPr txBox="1"/>
          <p:nvPr/>
        </p:nvSpPr>
        <p:spPr>
          <a:xfrm>
            <a:off x="1536700" y="3536950"/>
            <a:ext cx="3395663" cy="519113"/>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rPr>
              <a:t>为无约束采样。</a:t>
            </a:r>
            <a:endParaRPr lang="zh-CN" altLang="en-US" sz="2800" b="1" dirty="0">
              <a:solidFill>
                <a:schemeClr val="tx1"/>
              </a:solidFill>
              <a:latin typeface="Times New Roman" panose="02020603050405020304" pitchFamily="18" charset="0"/>
            </a:endParaRPr>
          </a:p>
        </p:txBody>
      </p:sp>
      <p:sp>
        <p:nvSpPr>
          <p:cNvPr id="2262037" name="Text Box 2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2038" name="Text Box 22"/>
          <p:cNvSpPr txBox="1"/>
          <p:nvPr/>
        </p:nvSpPr>
        <p:spPr>
          <a:xfrm>
            <a:off x="431800" y="4041775"/>
            <a:ext cx="1255713" cy="519113"/>
          </a:xfrm>
          <a:prstGeom prst="rect">
            <a:avLst/>
          </a:prstGeom>
          <a:noFill/>
          <a:ln w="9525">
            <a:noFill/>
          </a:ln>
        </p:spPr>
        <p:txBody>
          <a:bodyPr wrap="none">
            <a:spAutoFit/>
          </a:bodyPr>
          <a:p>
            <a:pPr algn="l" eaLnBrk="1" hangingPunct="1"/>
            <a:r>
              <a:rPr lang="zh-CN" altLang="en-US" sz="2800" b="1" dirty="0">
                <a:solidFill>
                  <a:srgbClr val="FF0000"/>
                </a:solidFill>
                <a:latin typeface="楷体_GB2312" pitchFamily="49" charset="-122"/>
              </a:rPr>
              <a:t>缺点：</a:t>
            </a:r>
            <a:endParaRPr lang="zh-CN" altLang="en-US" sz="2800" b="1" dirty="0">
              <a:solidFill>
                <a:srgbClr val="FF0000"/>
              </a:solidFill>
              <a:latin typeface="楷体_GB2312" pitchFamily="49" charset="-122"/>
            </a:endParaRPr>
          </a:p>
        </p:txBody>
      </p:sp>
      <p:sp>
        <p:nvSpPr>
          <p:cNvPr id="2262039" name="Text Box 23"/>
          <p:cNvSpPr txBox="1"/>
          <p:nvPr/>
        </p:nvSpPr>
        <p:spPr>
          <a:xfrm>
            <a:off x="1544638" y="4062413"/>
            <a:ext cx="7419975" cy="519112"/>
          </a:xfrm>
          <a:prstGeom prst="rect">
            <a:avLst/>
          </a:prstGeom>
          <a:no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不管信号是否准备好都采样，可能容易出错。 </a:t>
            </a:r>
            <a:endParaRPr lang="zh-CN" altLang="en-US" sz="2800" b="1" dirty="0">
              <a:solidFill>
                <a:srgbClr val="3333FF"/>
              </a:solidFill>
              <a:latin typeface="Times New Roman" panose="02020603050405020304" pitchFamily="18" charset="0"/>
            </a:endParaRPr>
          </a:p>
        </p:txBody>
      </p:sp>
      <p:sp>
        <p:nvSpPr>
          <p:cNvPr id="2262040" name="Text Box 24"/>
          <p:cNvSpPr txBox="1"/>
          <p:nvPr/>
        </p:nvSpPr>
        <p:spPr>
          <a:xfrm>
            <a:off x="433388" y="4689475"/>
            <a:ext cx="1103312" cy="519113"/>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方法</a:t>
            </a:r>
            <a:r>
              <a:rPr lang="en-US" altLang="zh-CN" sz="2800" b="1">
                <a:solidFill>
                  <a:srgbClr val="FF0000"/>
                </a:solidFill>
                <a:latin typeface="楷体_GB2312" pitchFamily="49" charset="-122"/>
              </a:rPr>
              <a:t>:</a:t>
            </a:r>
            <a:endParaRPr lang="en-US" altLang="zh-CN" sz="2800" b="1">
              <a:solidFill>
                <a:srgbClr val="FF0000"/>
              </a:solidFill>
              <a:latin typeface="楷体_GB2312" pitchFamily="49" charset="-122"/>
            </a:endParaRPr>
          </a:p>
        </p:txBody>
      </p:sp>
      <p:sp>
        <p:nvSpPr>
          <p:cNvPr id="2262041" name="Text Box 25"/>
          <p:cNvSpPr txBox="1"/>
          <p:nvPr/>
        </p:nvSpPr>
        <p:spPr>
          <a:xfrm>
            <a:off x="1616075" y="4751388"/>
            <a:ext cx="7024688" cy="946150"/>
          </a:xfrm>
          <a:prstGeom prst="rect">
            <a:avLst/>
          </a:prstGeom>
          <a:noFill/>
          <a:ln w="9525">
            <a:noFill/>
          </a:ln>
        </p:spPr>
        <p:txBody>
          <a:bodyPr>
            <a:spAutoFit/>
          </a:bodyPr>
          <a:p>
            <a:pPr algn="l" eaLnBrk="1" hangingPunct="1">
              <a:buFont typeface="Wingdings" panose="05000000000000000000" pitchFamily="2" charset="2"/>
              <a:buChar char="Ø"/>
            </a:pPr>
            <a:r>
              <a:rPr lang="en-US" altLang="zh-CN" sz="2800" b="1">
                <a:solidFill>
                  <a:schemeClr val="tx1"/>
                </a:solidFill>
                <a:latin typeface="Times New Roman" panose="02020603050405020304" pitchFamily="18" charset="0"/>
              </a:rPr>
              <a:t>  </a:t>
            </a:r>
            <a:r>
              <a:rPr lang="zh-CN" altLang="en-US" sz="2800" b="1" dirty="0">
                <a:solidFill>
                  <a:schemeClr val="tx1"/>
                </a:solidFill>
                <a:latin typeface="Times New Roman" panose="02020603050405020304" pitchFamily="18" charset="0"/>
              </a:rPr>
              <a:t>定时采样</a:t>
            </a:r>
            <a:r>
              <a:rPr lang="en-US" altLang="zh-CN" sz="2800" b="1">
                <a:solidFill>
                  <a:schemeClr val="tx1"/>
                </a:solidFill>
                <a:latin typeface="Times New Roman" panose="02020603050405020304" pitchFamily="18" charset="0"/>
              </a:rPr>
              <a:t>(</a:t>
            </a:r>
            <a:r>
              <a:rPr lang="zh-CN" altLang="en-US" sz="2800" b="1" dirty="0">
                <a:solidFill>
                  <a:schemeClr val="tx1"/>
                </a:solidFill>
                <a:latin typeface="Times New Roman" panose="02020603050405020304" pitchFamily="18" charset="0"/>
              </a:rPr>
              <a:t>等间隔采样</a:t>
            </a:r>
            <a:r>
              <a:rPr lang="en-US" altLang="zh-CN" sz="2800" b="1">
                <a:solidFill>
                  <a:schemeClr val="tx1"/>
                </a:solidFill>
                <a:latin typeface="Times New Roman" panose="02020603050405020304" pitchFamily="18" charset="0"/>
              </a:rPr>
              <a:t>)</a:t>
            </a:r>
            <a:r>
              <a:rPr lang="zh-CN" altLang="en-US" sz="2800" b="1" dirty="0">
                <a:solidFill>
                  <a:schemeClr val="tx1"/>
                </a:solidFill>
                <a:latin typeface="Times New Roman" panose="02020603050405020304" pitchFamily="18" charset="0"/>
              </a:rPr>
              <a:t>：采样周期不变</a:t>
            </a:r>
            <a:endParaRPr lang="zh-CN" altLang="en-US" sz="2800" b="1" dirty="0">
              <a:solidFill>
                <a:schemeClr val="tx1"/>
              </a:solidFill>
              <a:latin typeface="Times New Roman" panose="02020603050405020304" pitchFamily="18" charset="0"/>
            </a:endParaRPr>
          </a:p>
          <a:p>
            <a:pPr algn="l" eaLnBrk="1" hangingPunct="1">
              <a:buFont typeface="Wingdings" panose="05000000000000000000" pitchFamily="2" charset="2"/>
              <a:buChar char="Ø"/>
            </a:pPr>
            <a:r>
              <a:rPr lang="zh-CN" altLang="en-US" sz="2800" b="1" dirty="0">
                <a:solidFill>
                  <a:schemeClr val="tx1"/>
                </a:solidFill>
                <a:latin typeface="Times New Roman" panose="02020603050405020304" pitchFamily="18" charset="0"/>
              </a:rPr>
              <a:t>  变步长采样</a:t>
            </a:r>
            <a:r>
              <a:rPr lang="en-US" altLang="zh-CN" sz="2800" b="1">
                <a:solidFill>
                  <a:schemeClr val="tx1"/>
                </a:solidFill>
                <a:latin typeface="Times New Roman" panose="02020603050405020304" pitchFamily="18" charset="0"/>
              </a:rPr>
              <a:t>(</a:t>
            </a:r>
            <a:r>
              <a:rPr lang="zh-CN" altLang="en-US" sz="2800" b="1" dirty="0">
                <a:solidFill>
                  <a:schemeClr val="tx1"/>
                </a:solidFill>
                <a:latin typeface="Times New Roman" panose="02020603050405020304" pitchFamily="18" charset="0"/>
              </a:rPr>
              <a:t>等点采样</a:t>
            </a:r>
            <a:r>
              <a:rPr lang="en-US" altLang="zh-CN" sz="2800" b="1">
                <a:solidFill>
                  <a:schemeClr val="tx1"/>
                </a:solidFill>
                <a:latin typeface="Times New Roman" panose="02020603050405020304" pitchFamily="18" charset="0"/>
              </a:rPr>
              <a:t>)</a:t>
            </a:r>
            <a:r>
              <a:rPr lang="zh-CN" altLang="en-US" sz="2800" b="1" dirty="0">
                <a:solidFill>
                  <a:schemeClr val="tx1"/>
                </a:solidFill>
                <a:latin typeface="Times New Roman" panose="02020603050405020304" pitchFamily="18" charset="0"/>
              </a:rPr>
              <a:t>：采样周期变化</a:t>
            </a:r>
            <a:endParaRPr lang="zh-CN" altLang="en-US" sz="28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2030"/>
                                        </p:tgtEl>
                                        <p:attrNameLst>
                                          <p:attrName>style.visibility</p:attrName>
                                        </p:attrNameLst>
                                      </p:cBhvr>
                                      <p:to>
                                        <p:strVal val="visible"/>
                                      </p:to>
                                    </p:set>
                                    <p:animEffect transition="in" filter="dissolve">
                                      <p:cBhvr>
                                        <p:cTn id="7" dur="500"/>
                                        <p:tgtEl>
                                          <p:spTgt spid="22620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2031"/>
                                        </p:tgtEl>
                                        <p:attrNameLst>
                                          <p:attrName>style.visibility</p:attrName>
                                        </p:attrNameLst>
                                      </p:cBhvr>
                                      <p:to>
                                        <p:strVal val="visible"/>
                                      </p:to>
                                    </p:set>
                                    <p:animEffect transition="in" filter="dissolve">
                                      <p:cBhvr>
                                        <p:cTn id="12" dur="500"/>
                                        <p:tgtEl>
                                          <p:spTgt spid="226203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62032"/>
                                        </p:tgtEl>
                                        <p:attrNameLst>
                                          <p:attrName>style.visibility</p:attrName>
                                        </p:attrNameLst>
                                      </p:cBhvr>
                                      <p:to>
                                        <p:strVal val="visible"/>
                                      </p:to>
                                    </p:set>
                                    <p:animEffect transition="in" filter="dissolve">
                                      <p:cBhvr>
                                        <p:cTn id="17" dur="500"/>
                                        <p:tgtEl>
                                          <p:spTgt spid="2262032"/>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262033">
                                            <p:txEl>
                                              <p:charRg st="0" end="41"/>
                                            </p:txEl>
                                          </p:spTgt>
                                        </p:tgtEl>
                                        <p:attrNameLst>
                                          <p:attrName>style.visibility</p:attrName>
                                        </p:attrNameLst>
                                      </p:cBhvr>
                                      <p:to>
                                        <p:strVal val="visible"/>
                                      </p:to>
                                    </p:set>
                                    <p:animEffect transition="in" filter="dissolve">
                                      <p:cBhvr>
                                        <p:cTn id="20" dur="500"/>
                                        <p:tgtEl>
                                          <p:spTgt spid="2262033">
                                            <p:txEl>
                                              <p:charRg st="0" end="4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62034"/>
                                        </p:tgtEl>
                                        <p:attrNameLst>
                                          <p:attrName>style.visibility</p:attrName>
                                        </p:attrNameLst>
                                      </p:cBhvr>
                                      <p:to>
                                        <p:strVal val="visible"/>
                                      </p:to>
                                    </p:set>
                                    <p:animEffect transition="in" filter="dissolve">
                                      <p:cBhvr>
                                        <p:cTn id="25" dur="500"/>
                                        <p:tgtEl>
                                          <p:spTgt spid="2262034"/>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262035"/>
                                        </p:tgtEl>
                                        <p:attrNameLst>
                                          <p:attrName>style.visibility</p:attrName>
                                        </p:attrNameLst>
                                      </p:cBhvr>
                                      <p:to>
                                        <p:strVal val="visible"/>
                                      </p:to>
                                    </p:set>
                                    <p:animEffect transition="in" filter="dissolve">
                                      <p:cBhvr>
                                        <p:cTn id="28" dur="500"/>
                                        <p:tgtEl>
                                          <p:spTgt spid="2262035"/>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262038"/>
                                        </p:tgtEl>
                                        <p:attrNameLst>
                                          <p:attrName>style.visibility</p:attrName>
                                        </p:attrNameLst>
                                      </p:cBhvr>
                                      <p:to>
                                        <p:strVal val="visible"/>
                                      </p:to>
                                    </p:set>
                                    <p:animEffect transition="in" filter="dissolve">
                                      <p:cBhvr>
                                        <p:cTn id="33" dur="500"/>
                                        <p:tgtEl>
                                          <p:spTgt spid="226203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262039">
                                            <p:txEl>
                                              <p:charRg st="0" end="22"/>
                                            </p:txEl>
                                          </p:spTgt>
                                        </p:tgtEl>
                                        <p:attrNameLst>
                                          <p:attrName>style.visibility</p:attrName>
                                        </p:attrNameLst>
                                      </p:cBhvr>
                                      <p:to>
                                        <p:strVal val="visible"/>
                                      </p:to>
                                    </p:set>
                                    <p:animEffect transition="in" filter="dissolve">
                                      <p:cBhvr>
                                        <p:cTn id="36" dur="500"/>
                                        <p:tgtEl>
                                          <p:spTgt spid="2262039">
                                            <p:txEl>
                                              <p:charRg st="0" end="2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262040"/>
                                        </p:tgtEl>
                                        <p:attrNameLst>
                                          <p:attrName>style.visibility</p:attrName>
                                        </p:attrNameLst>
                                      </p:cBhvr>
                                      <p:to>
                                        <p:strVal val="visible"/>
                                      </p:to>
                                    </p:set>
                                    <p:animEffect transition="in" filter="dissolve">
                                      <p:cBhvr>
                                        <p:cTn id="41" dur="500"/>
                                        <p:tgtEl>
                                          <p:spTgt spid="2262040"/>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2262041"/>
                                        </p:tgtEl>
                                        <p:attrNameLst>
                                          <p:attrName>style.visibility</p:attrName>
                                        </p:attrNameLst>
                                      </p:cBhvr>
                                      <p:to>
                                        <p:strVal val="visible"/>
                                      </p:to>
                                    </p:set>
                                    <p:animEffect transition="in" filter="dissolve">
                                      <p:cBhvr>
                                        <p:cTn id="44" dur="500"/>
                                        <p:tgtEl>
                                          <p:spTgt spid="22620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2030" grpId="0" bldLvl="0" animBg="1"/>
      <p:bldP spid="2262031" grpId="0"/>
      <p:bldP spid="2262032" grpId="0"/>
      <p:bldP spid="2262033" grpId="0" build="p"/>
      <p:bldP spid="2262034" grpId="0"/>
      <p:bldP spid="2262035" grpId="0"/>
      <p:bldP spid="2262038" grpId="0"/>
      <p:bldP spid="2262039" grpId="0" build="p"/>
      <p:bldP spid="2262040" grpId="0"/>
      <p:bldP spid="2262041"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3073" name="Rectangle 33"/>
          <p:cNvSpPr/>
          <p:nvPr/>
        </p:nvSpPr>
        <p:spPr>
          <a:xfrm>
            <a:off x="1368425" y="2152650"/>
            <a:ext cx="6083300" cy="663575"/>
          </a:xfrm>
          <a:prstGeom prst="rect">
            <a:avLst/>
          </a:prstGeom>
          <a:solidFill>
            <a:srgbClr val="CCFFFF"/>
          </a:solid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63063" name="Text Box 23"/>
          <p:cNvSpPr txBox="1"/>
          <p:nvPr/>
        </p:nvSpPr>
        <p:spPr>
          <a:xfrm>
            <a:off x="1042988" y="1520825"/>
            <a:ext cx="3600450" cy="579438"/>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3200" b="1">
                <a:solidFill>
                  <a:schemeClr val="tx1"/>
                </a:solidFill>
                <a:latin typeface="黑体" panose="02010609060101010101" pitchFamily="49" charset="-122"/>
                <a:ea typeface="黑体" panose="02010609060101010101" pitchFamily="49" charset="-122"/>
              </a:rPr>
              <a:t>2.</a:t>
            </a:r>
            <a:r>
              <a:rPr lang="zh-CN" altLang="en-US" sz="3200" b="1" dirty="0">
                <a:solidFill>
                  <a:schemeClr val="tx1"/>
                </a:solidFill>
                <a:latin typeface="Times New Roman" panose="02020603050405020304" pitchFamily="18" charset="0"/>
                <a:ea typeface="黑体" panose="02010609060101010101" pitchFamily="49" charset="-122"/>
              </a:rPr>
              <a:t>条件采样 </a:t>
            </a:r>
            <a:endParaRPr lang="zh-CN" altLang="en-US" sz="3200" b="1" dirty="0">
              <a:solidFill>
                <a:schemeClr val="tx1"/>
              </a:solidFill>
              <a:latin typeface="Times New Roman" panose="02020603050405020304" pitchFamily="18" charset="0"/>
              <a:ea typeface="黑体" panose="02010609060101010101" pitchFamily="49" charset="-122"/>
            </a:endParaRPr>
          </a:p>
        </p:txBody>
      </p:sp>
      <p:sp>
        <p:nvSpPr>
          <p:cNvPr id="2263064" name="Text Box 24"/>
          <p:cNvSpPr txBox="1"/>
          <p:nvPr/>
        </p:nvSpPr>
        <p:spPr>
          <a:xfrm>
            <a:off x="1439863" y="2168525"/>
            <a:ext cx="1181100" cy="579438"/>
          </a:xfrm>
          <a:prstGeom prst="rect">
            <a:avLst/>
          </a:prstGeom>
          <a:noFill/>
          <a:ln w="9525">
            <a:noFill/>
          </a:ln>
        </p:spPr>
        <p:txBody>
          <a:bodyPr>
            <a:spAutoFit/>
          </a:bodyPr>
          <a:p>
            <a:pPr algn="l" eaLnBrk="1" hangingPunct="1"/>
            <a:r>
              <a:rPr lang="zh-CN" altLang="en-US" sz="3200" b="1" dirty="0">
                <a:solidFill>
                  <a:srgbClr val="FF0000"/>
                </a:solidFill>
                <a:latin typeface="楷体_GB2312" pitchFamily="49" charset="-122"/>
              </a:rPr>
              <a:t>方法</a:t>
            </a:r>
            <a:r>
              <a:rPr lang="en-US" altLang="zh-CN" sz="3200" b="1">
                <a:solidFill>
                  <a:srgbClr val="FF0000"/>
                </a:solidFill>
                <a:latin typeface="楷体_GB2312" pitchFamily="49" charset="-122"/>
              </a:rPr>
              <a:t>:</a:t>
            </a:r>
            <a:endParaRPr lang="en-US" altLang="zh-CN" sz="3200" b="1">
              <a:solidFill>
                <a:srgbClr val="FF0000"/>
              </a:solidFill>
              <a:latin typeface="楷体_GB2312" pitchFamily="49" charset="-122"/>
            </a:endParaRPr>
          </a:p>
        </p:txBody>
      </p:sp>
      <p:sp>
        <p:nvSpPr>
          <p:cNvPr id="2263066" name="Text Box 26"/>
          <p:cNvSpPr txBox="1"/>
          <p:nvPr/>
        </p:nvSpPr>
        <p:spPr>
          <a:xfrm>
            <a:off x="2627313" y="2168525"/>
            <a:ext cx="2730500" cy="579438"/>
          </a:xfrm>
          <a:prstGeom prst="rect">
            <a:avLst/>
          </a:prstGeom>
          <a:noFill/>
          <a:ln w="9525">
            <a:noFill/>
          </a:ln>
        </p:spPr>
        <p:txBody>
          <a:bodyPr>
            <a:spAutoFit/>
          </a:bodyPr>
          <a:p>
            <a:pPr algn="l" eaLnBrk="1" hangingPunct="1">
              <a:buFont typeface="Wingdings" panose="05000000000000000000" pitchFamily="2" charset="2"/>
              <a:buChar char="Ø"/>
            </a:pPr>
            <a:r>
              <a:rPr lang="zh-CN" altLang="en-US" sz="3200" b="1" dirty="0">
                <a:solidFill>
                  <a:srgbClr val="3333FF"/>
                </a:solidFill>
                <a:latin typeface="Times New Roman" panose="02020603050405020304" pitchFamily="18" charset="0"/>
              </a:rPr>
              <a:t>查询方式</a:t>
            </a:r>
            <a:endParaRPr lang="zh-CN" altLang="en-US" sz="3200" b="1" dirty="0">
              <a:solidFill>
                <a:srgbClr val="3333FF"/>
              </a:solidFill>
              <a:latin typeface="Times New Roman" panose="02020603050405020304" pitchFamily="18" charset="0"/>
            </a:endParaRPr>
          </a:p>
        </p:txBody>
      </p:sp>
      <p:sp>
        <p:nvSpPr>
          <p:cNvPr id="2263068" name="Text Box 28"/>
          <p:cNvSpPr txBox="1"/>
          <p:nvPr/>
        </p:nvSpPr>
        <p:spPr>
          <a:xfrm>
            <a:off x="5141913" y="2168525"/>
            <a:ext cx="2730500" cy="579438"/>
          </a:xfrm>
          <a:prstGeom prst="rect">
            <a:avLst/>
          </a:prstGeom>
          <a:noFill/>
          <a:ln w="9525">
            <a:noFill/>
          </a:ln>
        </p:spPr>
        <p:txBody>
          <a:bodyPr>
            <a:spAutoFit/>
          </a:bodyPr>
          <a:p>
            <a:pPr algn="l" eaLnBrk="1" hangingPunct="1">
              <a:buFont typeface="Wingdings" panose="05000000000000000000" pitchFamily="2" charset="2"/>
              <a:buChar char="Ø"/>
            </a:pPr>
            <a:r>
              <a:rPr lang="zh-CN" altLang="en-US" sz="3200" b="1" dirty="0">
                <a:solidFill>
                  <a:srgbClr val="3333FF"/>
                </a:solidFill>
                <a:latin typeface="Times New Roman" panose="02020603050405020304" pitchFamily="18" charset="0"/>
              </a:rPr>
              <a:t>中断方式</a:t>
            </a:r>
            <a:endParaRPr lang="zh-CN" altLang="en-US" sz="3200" b="1" dirty="0">
              <a:solidFill>
                <a:srgbClr val="3333FF"/>
              </a:solidFill>
              <a:latin typeface="Times New Roman" panose="02020603050405020304" pitchFamily="18" charset="0"/>
            </a:endParaRPr>
          </a:p>
        </p:txBody>
      </p:sp>
      <p:sp>
        <p:nvSpPr>
          <p:cNvPr id="2263070" name="Text Box 3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3071" name="Text Box 31"/>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3074" name="Text Box 34"/>
          <p:cNvSpPr txBox="1"/>
          <p:nvPr/>
        </p:nvSpPr>
        <p:spPr>
          <a:xfrm>
            <a:off x="254000" y="2922588"/>
            <a:ext cx="8350250" cy="1066800"/>
          </a:xfrm>
          <a:prstGeom prst="rect">
            <a:avLst/>
          </a:prstGeom>
          <a:noFill/>
          <a:ln w="9525">
            <a:noFill/>
          </a:ln>
        </p:spPr>
        <p:txBody>
          <a:bodyPr>
            <a:spAutoFit/>
          </a:bodyPr>
          <a:p>
            <a:pPr algn="ctr" eaLnBrk="1" hangingPunct="1">
              <a:buFont typeface="Wingdings" panose="05000000000000000000" pitchFamily="2" charset="2"/>
              <a:buChar char="Ø"/>
            </a:pPr>
            <a:r>
              <a:rPr lang="zh-CN" altLang="en-US" sz="3200" b="1" dirty="0">
                <a:solidFill>
                  <a:srgbClr val="FF0000"/>
                </a:solidFill>
                <a:latin typeface="黑体" panose="02010609060101010101" pitchFamily="49" charset="-122"/>
                <a:ea typeface="黑体" panose="02010609060101010101" pitchFamily="49" charset="-122"/>
              </a:rPr>
              <a:t>查询方式：</a:t>
            </a:r>
            <a:r>
              <a:rPr lang="en-US" altLang="zh-CN" sz="3200" b="1">
                <a:solidFill>
                  <a:schemeClr val="tx1"/>
                </a:solidFill>
                <a:latin typeface="黑体" panose="02010609060101010101" pitchFamily="49" charset="-122"/>
                <a:ea typeface="黑体" panose="02010609060101010101" pitchFamily="49" charset="-122"/>
              </a:rPr>
              <a:t>CPU</a:t>
            </a:r>
            <a:r>
              <a:rPr lang="zh-CN" altLang="en-US" sz="3200" b="1" dirty="0">
                <a:solidFill>
                  <a:schemeClr val="tx1"/>
                </a:solidFill>
                <a:latin typeface="黑体" panose="02010609060101010101" pitchFamily="49" charset="-122"/>
                <a:ea typeface="黑体" panose="02010609060101010101" pitchFamily="49" charset="-122"/>
              </a:rPr>
              <a:t>不断检查</a:t>
            </a:r>
            <a:r>
              <a:rPr lang="en-US" altLang="zh-CN" sz="3200" b="1">
                <a:solidFill>
                  <a:schemeClr val="tx1"/>
                </a:solidFill>
                <a:latin typeface="黑体" panose="02010609060101010101" pitchFamily="49" charset="-122"/>
                <a:ea typeface="黑体" panose="02010609060101010101" pitchFamily="49" charset="-122"/>
              </a:rPr>
              <a:t>A/D</a:t>
            </a:r>
            <a:r>
              <a:rPr lang="zh-CN" altLang="en-US" sz="3200" b="1" dirty="0">
                <a:solidFill>
                  <a:schemeClr val="tx1"/>
                </a:solidFill>
                <a:latin typeface="黑体" panose="02010609060101010101" pitchFamily="49" charset="-122"/>
                <a:ea typeface="黑体" panose="02010609060101010101" pitchFamily="49" charset="-122"/>
              </a:rPr>
              <a:t>转换状态，以确定程序执行流程。</a:t>
            </a:r>
            <a:endParaRPr lang="zh-CN" altLang="en-US" sz="3200" b="1" dirty="0">
              <a:solidFill>
                <a:schemeClr val="tx1"/>
              </a:solidFill>
              <a:latin typeface="黑体" panose="02010609060101010101" pitchFamily="49" charset="-122"/>
              <a:ea typeface="黑体" panose="02010609060101010101" pitchFamily="49" charset="-122"/>
            </a:endParaRPr>
          </a:p>
        </p:txBody>
      </p:sp>
      <p:sp>
        <p:nvSpPr>
          <p:cNvPr id="2263075" name="Text Box 35"/>
          <p:cNvSpPr txBox="1"/>
          <p:nvPr/>
        </p:nvSpPr>
        <p:spPr>
          <a:xfrm>
            <a:off x="647700" y="4149725"/>
            <a:ext cx="8245475" cy="946150"/>
          </a:xfrm>
          <a:prstGeom prst="rect">
            <a:avLst/>
          </a:prstGeom>
          <a:noFill/>
          <a:ln w="9525">
            <a:noFill/>
          </a:ln>
        </p:spPr>
        <p:txBody>
          <a:bodyPr>
            <a:spAutoFit/>
          </a:bodyPr>
          <a:p>
            <a:pPr marL="1076325" indent="-1076325" algn="l" eaLnBrk="1" hangingPunct="1"/>
            <a:r>
              <a:rPr lang="zh-CN" altLang="en-US" sz="2800" b="1" dirty="0">
                <a:solidFill>
                  <a:srgbClr val="FF0000"/>
                </a:solidFill>
                <a:latin typeface="楷体_GB2312" pitchFamily="49" charset="-122"/>
              </a:rPr>
              <a:t>优点：</a:t>
            </a:r>
            <a:r>
              <a:rPr lang="zh-CN" altLang="en-US" sz="2800" b="1" dirty="0">
                <a:solidFill>
                  <a:srgbClr val="3333FF"/>
                </a:solidFill>
                <a:latin typeface="楷体_GB2312" pitchFamily="49" charset="-122"/>
              </a:rPr>
              <a:t>要求的硬件少，编程简单。特别是询问与执行程序同步，能确知</a:t>
            </a:r>
            <a:r>
              <a:rPr lang="en-US" altLang="zh-CN" sz="2800" b="1">
                <a:solidFill>
                  <a:srgbClr val="3333FF"/>
                </a:solidFill>
                <a:latin typeface="楷体_GB2312" pitchFamily="49" charset="-122"/>
              </a:rPr>
              <a:t>A/D</a:t>
            </a:r>
            <a:r>
              <a:rPr lang="zh-CN" altLang="en-US" sz="2800" b="1" dirty="0">
                <a:solidFill>
                  <a:srgbClr val="3333FF"/>
                </a:solidFill>
                <a:latin typeface="楷体_GB2312" pitchFamily="49" charset="-122"/>
              </a:rPr>
              <a:t>转换所需的时间。</a:t>
            </a:r>
            <a:endParaRPr lang="zh-CN" altLang="en-US" sz="2800" b="1" dirty="0">
              <a:solidFill>
                <a:srgbClr val="3333FF"/>
              </a:solidFill>
              <a:latin typeface="楷体_GB2312" pitchFamily="49" charset="-122"/>
            </a:endParaRPr>
          </a:p>
        </p:txBody>
      </p:sp>
      <p:sp>
        <p:nvSpPr>
          <p:cNvPr id="2263076" name="Text Box 36"/>
          <p:cNvSpPr txBox="1"/>
          <p:nvPr/>
        </p:nvSpPr>
        <p:spPr>
          <a:xfrm>
            <a:off x="647700" y="5111750"/>
            <a:ext cx="7956550" cy="946150"/>
          </a:xfrm>
          <a:prstGeom prst="rect">
            <a:avLst/>
          </a:prstGeom>
          <a:noFill/>
          <a:ln w="9525">
            <a:noFill/>
          </a:ln>
        </p:spPr>
        <p:txBody>
          <a:bodyPr>
            <a:spAutoFit/>
          </a:bodyPr>
          <a:p>
            <a:pPr marL="1076325" indent="-1076325" algn="l" eaLnBrk="1" hangingPunct="1"/>
            <a:r>
              <a:rPr lang="zh-CN" altLang="en-US" sz="2800" b="1" dirty="0">
                <a:solidFill>
                  <a:srgbClr val="FF0000"/>
                </a:solidFill>
                <a:latin typeface="楷体_GB2312" pitchFamily="49" charset="-122"/>
              </a:rPr>
              <a:t>缺点：</a:t>
            </a:r>
            <a:r>
              <a:rPr lang="zh-CN" altLang="en-US" sz="2800" b="1" dirty="0">
                <a:solidFill>
                  <a:schemeClr val="tx1"/>
                </a:solidFill>
                <a:latin typeface="楷体_GB2312" pitchFamily="49" charset="-122"/>
              </a:rPr>
              <a:t>程序查询常常浪费</a:t>
            </a:r>
            <a:r>
              <a:rPr lang="en-US" altLang="zh-CN" sz="2800" b="1">
                <a:solidFill>
                  <a:schemeClr val="tx1"/>
                </a:solidFill>
                <a:latin typeface="楷体_GB2312" pitchFamily="49" charset="-122"/>
              </a:rPr>
              <a:t>CPU</a:t>
            </a:r>
            <a:r>
              <a:rPr lang="zh-CN" altLang="en-US" sz="2800" b="1" dirty="0">
                <a:solidFill>
                  <a:schemeClr val="tx1"/>
                </a:solidFill>
                <a:latin typeface="楷体_GB2312" pitchFamily="49" charset="-122"/>
              </a:rPr>
              <a:t>的时间，使其利用率不高。</a:t>
            </a:r>
            <a:endParaRPr lang="zh-CN" altLang="en-US" sz="2800" b="1" dirty="0">
              <a:solidFill>
                <a:schemeClr val="tx1"/>
              </a:solidFill>
              <a:latin typeface="楷体_GB2312" pitchFamily="49" charset="-122"/>
            </a:endParaRPr>
          </a:p>
        </p:txBody>
      </p:sp>
      <p:sp>
        <p:nvSpPr>
          <p:cNvPr id="2262030" name="Text Box 14"/>
          <p:cNvSpPr txBox="1"/>
          <p:nvPr/>
        </p:nvSpPr>
        <p:spPr>
          <a:xfrm>
            <a:off x="254000" y="796925"/>
            <a:ext cx="6081713"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2.6.1 </a:t>
            </a:r>
            <a:r>
              <a:rPr lang="zh-CN" altLang="en-US" sz="3200" b="1" dirty="0">
                <a:solidFill>
                  <a:srgbClr val="333399"/>
                </a:solidFill>
                <a:latin typeface="楷体_GB2312" pitchFamily="49" charset="-122"/>
              </a:rPr>
              <a:t>模拟信号的采样控制方式</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3063"/>
                                        </p:tgtEl>
                                        <p:attrNameLst>
                                          <p:attrName>style.visibility</p:attrName>
                                        </p:attrNameLst>
                                      </p:cBhvr>
                                      <p:to>
                                        <p:strVal val="visible"/>
                                      </p:to>
                                    </p:set>
                                    <p:animEffect transition="in" filter="dissolve">
                                      <p:cBhvr>
                                        <p:cTn id="7" dur="500"/>
                                        <p:tgtEl>
                                          <p:spTgt spid="22630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3073"/>
                                        </p:tgtEl>
                                        <p:attrNameLst>
                                          <p:attrName>style.visibility</p:attrName>
                                        </p:attrNameLst>
                                      </p:cBhvr>
                                      <p:to>
                                        <p:strVal val="visible"/>
                                      </p:to>
                                    </p:set>
                                    <p:animEffect transition="in" filter="dissolve">
                                      <p:cBhvr>
                                        <p:cTn id="12" dur="500"/>
                                        <p:tgtEl>
                                          <p:spTgt spid="2263073"/>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63064"/>
                                        </p:tgtEl>
                                        <p:attrNameLst>
                                          <p:attrName>style.visibility</p:attrName>
                                        </p:attrNameLst>
                                      </p:cBhvr>
                                      <p:to>
                                        <p:strVal val="visible"/>
                                      </p:to>
                                    </p:set>
                                    <p:animEffect transition="in" filter="dissolve">
                                      <p:cBhvr>
                                        <p:cTn id="15" dur="500"/>
                                        <p:tgtEl>
                                          <p:spTgt spid="226306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63066"/>
                                        </p:tgtEl>
                                        <p:attrNameLst>
                                          <p:attrName>style.visibility</p:attrName>
                                        </p:attrNameLst>
                                      </p:cBhvr>
                                      <p:to>
                                        <p:strVal val="visible"/>
                                      </p:to>
                                    </p:set>
                                    <p:animEffect transition="in" filter="dissolve">
                                      <p:cBhvr>
                                        <p:cTn id="18" dur="500"/>
                                        <p:tgtEl>
                                          <p:spTgt spid="22630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63068"/>
                                        </p:tgtEl>
                                        <p:attrNameLst>
                                          <p:attrName>style.visibility</p:attrName>
                                        </p:attrNameLst>
                                      </p:cBhvr>
                                      <p:to>
                                        <p:strVal val="visible"/>
                                      </p:to>
                                    </p:set>
                                    <p:animEffect transition="in" filter="dissolve">
                                      <p:cBhvr>
                                        <p:cTn id="21" dur="500"/>
                                        <p:tgtEl>
                                          <p:spTgt spid="2263068"/>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63074"/>
                                        </p:tgtEl>
                                        <p:attrNameLst>
                                          <p:attrName>style.visibility</p:attrName>
                                        </p:attrNameLst>
                                      </p:cBhvr>
                                      <p:to>
                                        <p:strVal val="visible"/>
                                      </p:to>
                                    </p:set>
                                    <p:animEffect transition="in" filter="dissolve">
                                      <p:cBhvr>
                                        <p:cTn id="26" dur="500"/>
                                        <p:tgtEl>
                                          <p:spTgt spid="226307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263075"/>
                                        </p:tgtEl>
                                        <p:attrNameLst>
                                          <p:attrName>style.visibility</p:attrName>
                                        </p:attrNameLst>
                                      </p:cBhvr>
                                      <p:to>
                                        <p:strVal val="visible"/>
                                      </p:to>
                                    </p:set>
                                    <p:animEffect transition="in" filter="dissolve">
                                      <p:cBhvr>
                                        <p:cTn id="31" dur="500"/>
                                        <p:tgtEl>
                                          <p:spTgt spid="226307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63076"/>
                                        </p:tgtEl>
                                        <p:attrNameLst>
                                          <p:attrName>style.visibility</p:attrName>
                                        </p:attrNameLst>
                                      </p:cBhvr>
                                      <p:to>
                                        <p:strVal val="visible"/>
                                      </p:to>
                                    </p:set>
                                    <p:animEffect transition="in" filter="dissolve">
                                      <p:cBhvr>
                                        <p:cTn id="36" dur="500"/>
                                        <p:tgtEl>
                                          <p:spTgt spid="2263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073" grpId="0" bldLvl="0" animBg="1"/>
      <p:bldP spid="2263063" grpId="0"/>
      <p:bldP spid="2263064" grpId="0"/>
      <p:bldP spid="2263066" grpId="0"/>
      <p:bldP spid="2263068" grpId="0"/>
      <p:bldP spid="2263074" grpId="0"/>
      <p:bldP spid="2263075" grpId="0"/>
      <p:bldP spid="2263076"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4786" name="Rectangle 66"/>
          <p:cNvSpPr/>
          <p:nvPr/>
        </p:nvSpPr>
        <p:spPr>
          <a:xfrm>
            <a:off x="3260725" y="55563"/>
            <a:ext cx="5703888" cy="6145212"/>
          </a:xfrm>
          <a:prstGeom prst="rect">
            <a:avLst/>
          </a:prstGeom>
          <a:solidFill>
            <a:srgbClr val="CCFFFF"/>
          </a:solidFill>
          <a:ln w="9525" cap="flat" cmpd="sng">
            <a:solidFill>
              <a:srgbClr val="FF6600"/>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334727" name="Text Box 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34728" name="Text Box 8"/>
          <p:cNvSpPr txBox="1">
            <a:spLocks noChangeArrowheads="1"/>
          </p:cNvSpPr>
          <p:nvPr/>
        </p:nvSpPr>
        <p:spPr bwMode="auto">
          <a:xfrm>
            <a:off x="50800" y="103188"/>
            <a:ext cx="2900363"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334733" name="Text Box 13"/>
          <p:cNvSpPr txBox="1"/>
          <p:nvPr/>
        </p:nvSpPr>
        <p:spPr>
          <a:xfrm>
            <a:off x="503238" y="2825750"/>
            <a:ext cx="2160587" cy="1066800"/>
          </a:xfrm>
          <a:prstGeom prst="rect">
            <a:avLst/>
          </a:prstGeom>
          <a:solidFill>
            <a:srgbClr val="99CCFF"/>
          </a:solidFill>
          <a:ln w="9525">
            <a:noFill/>
          </a:ln>
        </p:spPr>
        <p:txBody>
          <a:bodyPr>
            <a:spAutoFit/>
          </a:bodyPr>
          <a:p>
            <a:pPr algn="ctr" eaLnBrk="1" hangingPunct="1">
              <a:buFont typeface="Wingdings" panose="05000000000000000000" pitchFamily="2" charset="2"/>
            </a:pPr>
            <a:r>
              <a:rPr lang="zh-CN" altLang="en-US" sz="3200" b="1" dirty="0">
                <a:solidFill>
                  <a:srgbClr val="FF0000"/>
                </a:solidFill>
                <a:latin typeface="黑体" panose="02010609060101010101" pitchFamily="49" charset="-122"/>
                <a:ea typeface="黑体" panose="02010609060101010101" pitchFamily="49" charset="-122"/>
              </a:rPr>
              <a:t>查询方式流程图</a:t>
            </a:r>
            <a:endParaRPr lang="zh-CN" altLang="en-US" sz="3200" b="1" dirty="0">
              <a:solidFill>
                <a:srgbClr val="FF0000"/>
              </a:solidFill>
              <a:latin typeface="黑体" panose="02010609060101010101" pitchFamily="49" charset="-122"/>
              <a:ea typeface="黑体" panose="02010609060101010101" pitchFamily="49" charset="-122"/>
            </a:endParaRPr>
          </a:p>
        </p:txBody>
      </p:sp>
      <p:sp>
        <p:nvSpPr>
          <p:cNvPr id="2334734" name="AutoShape 14"/>
          <p:cNvSpPr/>
          <p:nvPr/>
        </p:nvSpPr>
        <p:spPr>
          <a:xfrm>
            <a:off x="3908425" y="160338"/>
            <a:ext cx="1228725" cy="430212"/>
          </a:xfrm>
          <a:prstGeom prst="flowChartAlternateProcess">
            <a:avLst/>
          </a:prstGeom>
          <a:solidFill>
            <a:srgbClr val="FF6600"/>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开始</a:t>
            </a:r>
            <a:endParaRPr lang="zh-CN" altLang="en-US" sz="2000" b="1" dirty="0">
              <a:solidFill>
                <a:srgbClr val="333399"/>
              </a:solidFill>
              <a:latin typeface="楷体_GB2312" pitchFamily="49" charset="-122"/>
            </a:endParaRPr>
          </a:p>
        </p:txBody>
      </p:sp>
      <p:sp>
        <p:nvSpPr>
          <p:cNvPr id="2334735" name="AutoShape 15"/>
          <p:cNvSpPr/>
          <p:nvPr/>
        </p:nvSpPr>
        <p:spPr>
          <a:xfrm>
            <a:off x="3673475" y="835025"/>
            <a:ext cx="1692275"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设存储指针</a:t>
            </a:r>
            <a:endParaRPr lang="zh-CN" altLang="en-US" sz="2000" b="1" dirty="0">
              <a:solidFill>
                <a:srgbClr val="333399"/>
              </a:solidFill>
              <a:latin typeface="楷体_GB2312" pitchFamily="49" charset="-122"/>
            </a:endParaRPr>
          </a:p>
        </p:txBody>
      </p:sp>
      <p:sp>
        <p:nvSpPr>
          <p:cNvPr id="2334736" name="AutoShape 16"/>
          <p:cNvSpPr/>
          <p:nvPr/>
        </p:nvSpPr>
        <p:spPr>
          <a:xfrm>
            <a:off x="3673475" y="1482725"/>
            <a:ext cx="1709738"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设巡检遍数</a:t>
            </a:r>
            <a:endParaRPr lang="zh-CN" altLang="en-US" sz="2000" b="1" dirty="0">
              <a:solidFill>
                <a:srgbClr val="333399"/>
              </a:solidFill>
              <a:latin typeface="楷体_GB2312" pitchFamily="49" charset="-122"/>
            </a:endParaRPr>
          </a:p>
        </p:txBody>
      </p:sp>
      <p:sp>
        <p:nvSpPr>
          <p:cNvPr id="2334737" name="AutoShape 17"/>
          <p:cNvSpPr/>
          <p:nvPr/>
        </p:nvSpPr>
        <p:spPr>
          <a:xfrm>
            <a:off x="3665538" y="2128838"/>
            <a:ext cx="1709737"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设采样个数</a:t>
            </a:r>
            <a:endParaRPr lang="zh-CN" altLang="en-US" sz="2000" b="1" dirty="0">
              <a:solidFill>
                <a:srgbClr val="333399"/>
              </a:solidFill>
              <a:latin typeface="楷体_GB2312" pitchFamily="49" charset="-122"/>
            </a:endParaRPr>
          </a:p>
        </p:txBody>
      </p:sp>
      <p:sp>
        <p:nvSpPr>
          <p:cNvPr id="2334738" name="AutoShape 18"/>
          <p:cNvSpPr/>
          <p:nvPr/>
        </p:nvSpPr>
        <p:spPr>
          <a:xfrm>
            <a:off x="3783013" y="2776538"/>
            <a:ext cx="1476375"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通路选择</a:t>
            </a:r>
            <a:endParaRPr lang="zh-CN" altLang="en-US" sz="2000" b="1" dirty="0">
              <a:solidFill>
                <a:srgbClr val="333399"/>
              </a:solidFill>
              <a:latin typeface="楷体_GB2312" pitchFamily="49" charset="-122"/>
            </a:endParaRPr>
          </a:p>
        </p:txBody>
      </p:sp>
      <p:sp>
        <p:nvSpPr>
          <p:cNvPr id="2334739" name="AutoShape 19"/>
          <p:cNvSpPr/>
          <p:nvPr/>
        </p:nvSpPr>
        <p:spPr>
          <a:xfrm>
            <a:off x="3563938" y="3441700"/>
            <a:ext cx="1908175"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读</a:t>
            </a:r>
            <a:r>
              <a:rPr lang="en-US" altLang="zh-CN" sz="2000" b="1">
                <a:solidFill>
                  <a:srgbClr val="333399"/>
                </a:solidFill>
                <a:latin typeface="楷体_GB2312" pitchFamily="49" charset="-122"/>
              </a:rPr>
              <a:t>A/D</a:t>
            </a:r>
            <a:r>
              <a:rPr lang="zh-CN" altLang="en-US" sz="2000" b="1" dirty="0">
                <a:solidFill>
                  <a:srgbClr val="333399"/>
                </a:solidFill>
                <a:latin typeface="楷体_GB2312" pitchFamily="49" charset="-122"/>
              </a:rPr>
              <a:t>转换状态</a:t>
            </a:r>
            <a:endParaRPr lang="zh-CN" altLang="en-US" sz="2000" b="1" dirty="0">
              <a:solidFill>
                <a:srgbClr val="333399"/>
              </a:solidFill>
              <a:latin typeface="楷体_GB2312" pitchFamily="49" charset="-122"/>
            </a:endParaRPr>
          </a:p>
        </p:txBody>
      </p:sp>
      <p:sp>
        <p:nvSpPr>
          <p:cNvPr id="2334740" name="AutoShape 20"/>
          <p:cNvSpPr/>
          <p:nvPr/>
        </p:nvSpPr>
        <p:spPr>
          <a:xfrm>
            <a:off x="3563938" y="4086225"/>
            <a:ext cx="1908175" cy="527050"/>
          </a:xfrm>
          <a:prstGeom prst="flowChartDecision">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endParaRPr lang="zh-CN" altLang="zh-CN" sz="1400" b="1" dirty="0">
              <a:solidFill>
                <a:srgbClr val="333399"/>
              </a:solidFill>
              <a:latin typeface="楷体_GB2312" pitchFamily="49" charset="-122"/>
            </a:endParaRPr>
          </a:p>
        </p:txBody>
      </p:sp>
      <p:sp>
        <p:nvSpPr>
          <p:cNvPr id="2334741" name="AutoShape 21"/>
          <p:cNvSpPr/>
          <p:nvPr/>
        </p:nvSpPr>
        <p:spPr>
          <a:xfrm>
            <a:off x="3673475" y="4857750"/>
            <a:ext cx="1731963"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取转换结果</a:t>
            </a:r>
            <a:endParaRPr lang="zh-CN" altLang="en-US" sz="2000" b="1" dirty="0">
              <a:solidFill>
                <a:srgbClr val="333399"/>
              </a:solidFill>
              <a:latin typeface="楷体_GB2312" pitchFamily="49" charset="-122"/>
            </a:endParaRPr>
          </a:p>
        </p:txBody>
      </p:sp>
      <p:sp>
        <p:nvSpPr>
          <p:cNvPr id="2334742" name="AutoShape 22"/>
          <p:cNvSpPr/>
          <p:nvPr/>
        </p:nvSpPr>
        <p:spPr>
          <a:xfrm>
            <a:off x="3665538" y="5508625"/>
            <a:ext cx="1731962"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存转换结果</a:t>
            </a:r>
            <a:endParaRPr lang="zh-CN" altLang="en-US" sz="2000" b="1" dirty="0">
              <a:solidFill>
                <a:srgbClr val="333399"/>
              </a:solidFill>
              <a:latin typeface="楷体_GB2312" pitchFamily="49" charset="-122"/>
            </a:endParaRPr>
          </a:p>
        </p:txBody>
      </p:sp>
      <p:sp>
        <p:nvSpPr>
          <p:cNvPr id="2334743" name="AutoShape 23"/>
          <p:cNvSpPr/>
          <p:nvPr/>
        </p:nvSpPr>
        <p:spPr>
          <a:xfrm>
            <a:off x="6602413" y="5268913"/>
            <a:ext cx="2054225" cy="407987"/>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延时，采样周期</a:t>
            </a:r>
            <a:endParaRPr lang="zh-CN" altLang="en-US" sz="2000" b="1" dirty="0">
              <a:solidFill>
                <a:srgbClr val="333399"/>
              </a:solidFill>
              <a:latin typeface="楷体_GB2312" pitchFamily="49" charset="-122"/>
            </a:endParaRPr>
          </a:p>
        </p:txBody>
      </p:sp>
      <p:sp>
        <p:nvSpPr>
          <p:cNvPr id="2334744" name="AutoShape 24"/>
          <p:cNvSpPr/>
          <p:nvPr/>
        </p:nvSpPr>
        <p:spPr>
          <a:xfrm>
            <a:off x="6918325" y="4614863"/>
            <a:ext cx="1423988"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地址增</a:t>
            </a:r>
            <a:r>
              <a:rPr lang="en-US" altLang="zh-CN" sz="2000" b="1">
                <a:solidFill>
                  <a:srgbClr val="333399"/>
                </a:solidFill>
                <a:latin typeface="楷体_GB2312" pitchFamily="49" charset="-122"/>
              </a:rPr>
              <a:t>1</a:t>
            </a:r>
            <a:endParaRPr lang="en-US" altLang="zh-CN" sz="2000" b="1">
              <a:solidFill>
                <a:srgbClr val="333399"/>
              </a:solidFill>
              <a:latin typeface="楷体_GB2312" pitchFamily="49" charset="-122"/>
            </a:endParaRPr>
          </a:p>
        </p:txBody>
      </p:sp>
      <p:sp>
        <p:nvSpPr>
          <p:cNvPr id="2334745" name="AutoShape 25"/>
          <p:cNvSpPr/>
          <p:nvPr/>
        </p:nvSpPr>
        <p:spPr>
          <a:xfrm>
            <a:off x="6931025" y="3973513"/>
            <a:ext cx="1423988"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通路数增</a:t>
            </a:r>
            <a:r>
              <a:rPr lang="en-US" altLang="zh-CN" sz="2000" b="1">
                <a:solidFill>
                  <a:srgbClr val="333399"/>
                </a:solidFill>
                <a:latin typeface="楷体_GB2312" pitchFamily="49" charset="-122"/>
              </a:rPr>
              <a:t>1</a:t>
            </a:r>
            <a:endParaRPr lang="en-US" altLang="zh-CN" sz="2000" b="1">
              <a:solidFill>
                <a:srgbClr val="333399"/>
              </a:solidFill>
              <a:latin typeface="楷体_GB2312" pitchFamily="49" charset="-122"/>
            </a:endParaRPr>
          </a:p>
        </p:txBody>
      </p:sp>
      <p:sp>
        <p:nvSpPr>
          <p:cNvPr id="2334746" name="AutoShape 26"/>
          <p:cNvSpPr/>
          <p:nvPr/>
        </p:nvSpPr>
        <p:spPr>
          <a:xfrm>
            <a:off x="6827838" y="3332163"/>
            <a:ext cx="1622425"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采样个数减</a:t>
            </a:r>
            <a:r>
              <a:rPr lang="en-US" altLang="zh-CN" sz="2000" b="1">
                <a:solidFill>
                  <a:srgbClr val="333399"/>
                </a:solidFill>
                <a:latin typeface="楷体_GB2312" pitchFamily="49" charset="-122"/>
              </a:rPr>
              <a:t>1</a:t>
            </a:r>
            <a:endParaRPr lang="en-US" altLang="zh-CN" sz="2000" b="1">
              <a:solidFill>
                <a:srgbClr val="333399"/>
              </a:solidFill>
              <a:latin typeface="楷体_GB2312" pitchFamily="49" charset="-122"/>
            </a:endParaRPr>
          </a:p>
        </p:txBody>
      </p:sp>
      <p:sp>
        <p:nvSpPr>
          <p:cNvPr id="2334748" name="AutoShape 28"/>
          <p:cNvSpPr/>
          <p:nvPr/>
        </p:nvSpPr>
        <p:spPr>
          <a:xfrm>
            <a:off x="6819900" y="1909763"/>
            <a:ext cx="1622425" cy="406400"/>
          </a:xfrm>
          <a:prstGeom prst="flowChartProcess">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巡检遍数减</a:t>
            </a:r>
            <a:r>
              <a:rPr lang="en-US" altLang="zh-CN" sz="2000" b="1">
                <a:solidFill>
                  <a:srgbClr val="333399"/>
                </a:solidFill>
                <a:latin typeface="楷体_GB2312" pitchFamily="49" charset="-122"/>
              </a:rPr>
              <a:t>1</a:t>
            </a:r>
            <a:endParaRPr lang="en-US" altLang="zh-CN" sz="2000" b="1">
              <a:solidFill>
                <a:srgbClr val="333399"/>
              </a:solidFill>
              <a:latin typeface="楷体_GB2312" pitchFamily="49" charset="-122"/>
            </a:endParaRPr>
          </a:p>
        </p:txBody>
      </p:sp>
      <p:sp>
        <p:nvSpPr>
          <p:cNvPr id="2334750" name="AutoShape 30"/>
          <p:cNvSpPr/>
          <p:nvPr/>
        </p:nvSpPr>
        <p:spPr>
          <a:xfrm>
            <a:off x="7015163" y="474663"/>
            <a:ext cx="1228725" cy="430212"/>
          </a:xfrm>
          <a:prstGeom prst="flowChartAlternateProcess">
            <a:avLst/>
          </a:prstGeom>
          <a:solidFill>
            <a:srgbClr val="FF6600"/>
          </a:solidFill>
          <a:ln w="9525" cap="flat" cmpd="sng">
            <a:solidFill>
              <a:schemeClr val="tx1"/>
            </a:solidFill>
            <a:prstDash val="solid"/>
            <a:miter/>
            <a:headEnd type="none" w="med" len="med"/>
            <a:tailEnd type="none" w="med" len="med"/>
          </a:ln>
        </p:spPr>
        <p:txBody>
          <a:bodyPr>
            <a:spAutoFit/>
          </a:bodyPr>
          <a:p>
            <a:pPr algn="ctr" eaLnBrk="1" hangingPunct="1"/>
            <a:r>
              <a:rPr lang="zh-CN" altLang="en-US" sz="2000" b="1" dirty="0">
                <a:solidFill>
                  <a:srgbClr val="333399"/>
                </a:solidFill>
                <a:latin typeface="楷体_GB2312" pitchFamily="49" charset="-122"/>
              </a:rPr>
              <a:t>结束</a:t>
            </a:r>
            <a:endParaRPr lang="zh-CN" altLang="en-US" sz="2000" b="1" dirty="0">
              <a:solidFill>
                <a:srgbClr val="333399"/>
              </a:solidFill>
              <a:latin typeface="楷体_GB2312" pitchFamily="49" charset="-122"/>
            </a:endParaRPr>
          </a:p>
        </p:txBody>
      </p:sp>
      <p:sp>
        <p:nvSpPr>
          <p:cNvPr id="2334751" name="Text Box 31"/>
          <p:cNvSpPr txBox="1"/>
          <p:nvPr/>
        </p:nvSpPr>
        <p:spPr>
          <a:xfrm>
            <a:off x="3783013" y="4141788"/>
            <a:ext cx="1692275" cy="396875"/>
          </a:xfrm>
          <a:prstGeom prst="rect">
            <a:avLst/>
          </a:prstGeom>
          <a:noFill/>
          <a:ln w="9525">
            <a:noFill/>
          </a:ln>
        </p:spPr>
        <p:txBody>
          <a:bodyPr>
            <a:spAutoFit/>
          </a:bodyPr>
          <a:p>
            <a:pPr algn="ctr" eaLnBrk="1" hangingPunct="1">
              <a:buFont typeface="Wingdings" panose="05000000000000000000" pitchFamily="2" charset="2"/>
            </a:pPr>
            <a:r>
              <a:rPr lang="zh-CN" altLang="en-US" sz="2000" b="1" dirty="0">
                <a:solidFill>
                  <a:srgbClr val="FF0000"/>
                </a:solidFill>
                <a:latin typeface="楷体_GB2312" pitchFamily="49" charset="-122"/>
              </a:rPr>
              <a:t>转换结束？</a:t>
            </a:r>
            <a:endParaRPr lang="zh-CN" altLang="en-US" sz="2000" b="1" dirty="0">
              <a:solidFill>
                <a:srgbClr val="FF0000"/>
              </a:solidFill>
              <a:latin typeface="楷体_GB2312" pitchFamily="49" charset="-122"/>
            </a:endParaRPr>
          </a:p>
        </p:txBody>
      </p:sp>
      <p:sp>
        <p:nvSpPr>
          <p:cNvPr id="2334752" name="Line 32"/>
          <p:cNvSpPr/>
          <p:nvPr/>
        </p:nvSpPr>
        <p:spPr>
          <a:xfrm>
            <a:off x="4519613" y="590550"/>
            <a:ext cx="0" cy="244475"/>
          </a:xfrm>
          <a:prstGeom prst="line">
            <a:avLst/>
          </a:prstGeom>
          <a:ln w="25400" cap="flat" cmpd="sng">
            <a:solidFill>
              <a:schemeClr val="tx1"/>
            </a:solidFill>
            <a:prstDash val="solid"/>
            <a:headEnd type="none" w="med" len="med"/>
            <a:tailEnd type="triangle" w="med" len="med"/>
          </a:ln>
        </p:spPr>
      </p:sp>
      <p:sp>
        <p:nvSpPr>
          <p:cNvPr id="2334753" name="Line 33"/>
          <p:cNvSpPr/>
          <p:nvPr/>
        </p:nvSpPr>
        <p:spPr>
          <a:xfrm>
            <a:off x="4519613" y="1241425"/>
            <a:ext cx="0" cy="241300"/>
          </a:xfrm>
          <a:prstGeom prst="line">
            <a:avLst/>
          </a:prstGeom>
          <a:ln w="25400" cap="flat" cmpd="sng">
            <a:solidFill>
              <a:schemeClr val="tx1"/>
            </a:solidFill>
            <a:prstDash val="solid"/>
            <a:headEnd type="none" w="med" len="med"/>
            <a:tailEnd type="triangle" w="med" len="med"/>
          </a:ln>
        </p:spPr>
      </p:sp>
      <p:sp>
        <p:nvSpPr>
          <p:cNvPr id="2334754" name="Line 34"/>
          <p:cNvSpPr/>
          <p:nvPr/>
        </p:nvSpPr>
        <p:spPr>
          <a:xfrm>
            <a:off x="4519613" y="1887538"/>
            <a:ext cx="0" cy="241300"/>
          </a:xfrm>
          <a:prstGeom prst="line">
            <a:avLst/>
          </a:prstGeom>
          <a:ln w="25400" cap="flat" cmpd="sng">
            <a:solidFill>
              <a:schemeClr val="tx1"/>
            </a:solidFill>
            <a:prstDash val="solid"/>
            <a:headEnd type="none" w="med" len="med"/>
            <a:tailEnd type="triangle" w="med" len="med"/>
          </a:ln>
        </p:spPr>
      </p:sp>
      <p:sp>
        <p:nvSpPr>
          <p:cNvPr id="2334755" name="Line 35"/>
          <p:cNvSpPr/>
          <p:nvPr/>
        </p:nvSpPr>
        <p:spPr>
          <a:xfrm>
            <a:off x="4519613" y="2535238"/>
            <a:ext cx="0" cy="241300"/>
          </a:xfrm>
          <a:prstGeom prst="line">
            <a:avLst/>
          </a:prstGeom>
          <a:ln w="25400" cap="flat" cmpd="sng">
            <a:solidFill>
              <a:schemeClr val="tx1"/>
            </a:solidFill>
            <a:prstDash val="solid"/>
            <a:headEnd type="none" w="med" len="med"/>
            <a:tailEnd type="triangle" w="med" len="med"/>
          </a:ln>
        </p:spPr>
      </p:sp>
      <p:sp>
        <p:nvSpPr>
          <p:cNvPr id="2334756" name="Line 36"/>
          <p:cNvSpPr/>
          <p:nvPr/>
        </p:nvSpPr>
        <p:spPr>
          <a:xfrm>
            <a:off x="4519613" y="3194050"/>
            <a:ext cx="0" cy="241300"/>
          </a:xfrm>
          <a:prstGeom prst="line">
            <a:avLst/>
          </a:prstGeom>
          <a:ln w="25400" cap="flat" cmpd="sng">
            <a:solidFill>
              <a:schemeClr val="tx1"/>
            </a:solidFill>
            <a:prstDash val="solid"/>
            <a:headEnd type="none" w="med" len="med"/>
            <a:tailEnd type="triangle" w="med" len="med"/>
          </a:ln>
        </p:spPr>
      </p:sp>
      <p:sp>
        <p:nvSpPr>
          <p:cNvPr id="2334757" name="Line 37"/>
          <p:cNvSpPr/>
          <p:nvPr/>
        </p:nvSpPr>
        <p:spPr>
          <a:xfrm>
            <a:off x="4519613" y="3848100"/>
            <a:ext cx="0" cy="241300"/>
          </a:xfrm>
          <a:prstGeom prst="line">
            <a:avLst/>
          </a:prstGeom>
          <a:ln w="25400" cap="flat" cmpd="sng">
            <a:solidFill>
              <a:schemeClr val="tx1"/>
            </a:solidFill>
            <a:prstDash val="solid"/>
            <a:headEnd type="none" w="med" len="med"/>
            <a:tailEnd type="triangle" w="med" len="med"/>
          </a:ln>
        </p:spPr>
      </p:sp>
      <p:sp>
        <p:nvSpPr>
          <p:cNvPr id="2334758" name="Line 38"/>
          <p:cNvSpPr/>
          <p:nvPr/>
        </p:nvSpPr>
        <p:spPr>
          <a:xfrm>
            <a:off x="5465763" y="4346575"/>
            <a:ext cx="484187" cy="0"/>
          </a:xfrm>
          <a:prstGeom prst="line">
            <a:avLst/>
          </a:prstGeom>
          <a:ln w="25400" cap="flat" cmpd="sng">
            <a:solidFill>
              <a:schemeClr val="tx1"/>
            </a:solidFill>
            <a:prstDash val="solid"/>
            <a:headEnd type="none" w="med" len="med"/>
            <a:tailEnd type="none" w="med" len="med"/>
          </a:ln>
        </p:spPr>
      </p:sp>
      <p:sp>
        <p:nvSpPr>
          <p:cNvPr id="2334759" name="Line 39"/>
          <p:cNvSpPr/>
          <p:nvPr/>
        </p:nvSpPr>
        <p:spPr>
          <a:xfrm flipV="1">
            <a:off x="5956300" y="3290888"/>
            <a:ext cx="3175" cy="1055687"/>
          </a:xfrm>
          <a:prstGeom prst="line">
            <a:avLst/>
          </a:prstGeom>
          <a:ln w="25400" cap="flat" cmpd="sng">
            <a:solidFill>
              <a:schemeClr val="tx1"/>
            </a:solidFill>
            <a:prstDash val="solid"/>
            <a:headEnd type="none" w="med" len="med"/>
            <a:tailEnd type="none" w="med" len="med"/>
          </a:ln>
        </p:spPr>
      </p:sp>
      <p:sp>
        <p:nvSpPr>
          <p:cNvPr id="2334760" name="Line 40"/>
          <p:cNvSpPr/>
          <p:nvPr/>
        </p:nvSpPr>
        <p:spPr>
          <a:xfrm>
            <a:off x="4519613" y="3290888"/>
            <a:ext cx="1436687" cy="0"/>
          </a:xfrm>
          <a:prstGeom prst="line">
            <a:avLst/>
          </a:prstGeom>
          <a:ln w="25400" cap="flat" cmpd="sng">
            <a:solidFill>
              <a:schemeClr val="tx1"/>
            </a:solidFill>
            <a:prstDash val="solid"/>
            <a:headEnd type="triangle" w="med" len="med"/>
            <a:tailEnd type="none" w="med" len="med"/>
          </a:ln>
        </p:spPr>
      </p:sp>
      <p:sp>
        <p:nvSpPr>
          <p:cNvPr id="2334761" name="Line 41"/>
          <p:cNvSpPr/>
          <p:nvPr/>
        </p:nvSpPr>
        <p:spPr>
          <a:xfrm>
            <a:off x="4519613" y="4616450"/>
            <a:ext cx="0" cy="241300"/>
          </a:xfrm>
          <a:prstGeom prst="line">
            <a:avLst/>
          </a:prstGeom>
          <a:ln w="25400" cap="flat" cmpd="sng">
            <a:solidFill>
              <a:schemeClr val="tx1"/>
            </a:solidFill>
            <a:prstDash val="solid"/>
            <a:headEnd type="none" w="med" len="med"/>
            <a:tailEnd type="triangle" w="med" len="med"/>
          </a:ln>
        </p:spPr>
      </p:sp>
      <p:sp>
        <p:nvSpPr>
          <p:cNvPr id="2334762" name="Line 42"/>
          <p:cNvSpPr/>
          <p:nvPr/>
        </p:nvSpPr>
        <p:spPr>
          <a:xfrm>
            <a:off x="4519613" y="5264150"/>
            <a:ext cx="0" cy="241300"/>
          </a:xfrm>
          <a:prstGeom prst="line">
            <a:avLst/>
          </a:prstGeom>
          <a:ln w="25400" cap="flat" cmpd="sng">
            <a:solidFill>
              <a:schemeClr val="tx1"/>
            </a:solidFill>
            <a:prstDash val="solid"/>
            <a:headEnd type="none" w="med" len="med"/>
            <a:tailEnd type="triangle" w="med" len="med"/>
          </a:ln>
        </p:spPr>
      </p:sp>
      <p:sp>
        <p:nvSpPr>
          <p:cNvPr id="2334768" name="AutoShape 48"/>
          <p:cNvSpPr/>
          <p:nvPr/>
        </p:nvSpPr>
        <p:spPr>
          <a:xfrm>
            <a:off x="6673850" y="2560638"/>
            <a:ext cx="1908175" cy="527050"/>
          </a:xfrm>
          <a:prstGeom prst="flowChartDecision">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endParaRPr lang="zh-CN" altLang="zh-CN" sz="1400" b="1" dirty="0">
              <a:solidFill>
                <a:srgbClr val="333399"/>
              </a:solidFill>
              <a:latin typeface="楷体_GB2312" pitchFamily="49" charset="-122"/>
            </a:endParaRPr>
          </a:p>
        </p:txBody>
      </p:sp>
      <p:sp>
        <p:nvSpPr>
          <p:cNvPr id="2334765" name="Text Box 45"/>
          <p:cNvSpPr txBox="1"/>
          <p:nvPr/>
        </p:nvSpPr>
        <p:spPr>
          <a:xfrm>
            <a:off x="6856413" y="2600325"/>
            <a:ext cx="1692275" cy="396875"/>
          </a:xfrm>
          <a:prstGeom prst="rect">
            <a:avLst/>
          </a:prstGeom>
          <a:noFill/>
          <a:ln w="9525">
            <a:noFill/>
          </a:ln>
        </p:spPr>
        <p:txBody>
          <a:bodyPr>
            <a:spAutoFit/>
          </a:bodyPr>
          <a:p>
            <a:pPr algn="ctr" eaLnBrk="1" hangingPunct="1">
              <a:buFont typeface="Wingdings" panose="05000000000000000000" pitchFamily="2" charset="2"/>
            </a:pPr>
            <a:r>
              <a:rPr lang="zh-CN" altLang="en-US" sz="2000" b="1" dirty="0">
                <a:solidFill>
                  <a:srgbClr val="FF0000"/>
                </a:solidFill>
                <a:latin typeface="楷体_GB2312" pitchFamily="49" charset="-122"/>
              </a:rPr>
              <a:t>采样完？</a:t>
            </a:r>
            <a:endParaRPr lang="zh-CN" altLang="en-US" sz="2000" b="1" dirty="0">
              <a:solidFill>
                <a:srgbClr val="FF0000"/>
              </a:solidFill>
              <a:latin typeface="楷体_GB2312" pitchFamily="49" charset="-122"/>
            </a:endParaRPr>
          </a:p>
        </p:txBody>
      </p:sp>
      <p:sp>
        <p:nvSpPr>
          <p:cNvPr id="2334769" name="AutoShape 49"/>
          <p:cNvSpPr/>
          <p:nvPr/>
        </p:nvSpPr>
        <p:spPr>
          <a:xfrm>
            <a:off x="6673850" y="1146175"/>
            <a:ext cx="1908175" cy="527050"/>
          </a:xfrm>
          <a:prstGeom prst="flowChartDecision">
            <a:avLst/>
          </a:prstGeom>
          <a:solidFill>
            <a:schemeClr val="accent1"/>
          </a:solidFill>
          <a:ln w="9525" cap="flat" cmpd="sng">
            <a:solidFill>
              <a:schemeClr val="tx1"/>
            </a:solidFill>
            <a:prstDash val="solid"/>
            <a:miter/>
            <a:headEnd type="none" w="med" len="med"/>
            <a:tailEnd type="none" w="med" len="med"/>
          </a:ln>
        </p:spPr>
        <p:txBody>
          <a:bodyPr>
            <a:spAutoFit/>
          </a:bodyPr>
          <a:p>
            <a:pPr algn="ctr" eaLnBrk="1" hangingPunct="1"/>
            <a:endParaRPr lang="zh-CN" altLang="zh-CN" sz="1400" b="1" dirty="0">
              <a:solidFill>
                <a:srgbClr val="333399"/>
              </a:solidFill>
              <a:latin typeface="楷体_GB2312" pitchFamily="49" charset="-122"/>
            </a:endParaRPr>
          </a:p>
        </p:txBody>
      </p:sp>
      <p:sp>
        <p:nvSpPr>
          <p:cNvPr id="2334767" name="Text Box 47"/>
          <p:cNvSpPr txBox="1"/>
          <p:nvPr/>
        </p:nvSpPr>
        <p:spPr>
          <a:xfrm>
            <a:off x="6858000" y="1201738"/>
            <a:ext cx="1692275" cy="396875"/>
          </a:xfrm>
          <a:prstGeom prst="rect">
            <a:avLst/>
          </a:prstGeom>
          <a:noFill/>
          <a:ln w="9525">
            <a:noFill/>
          </a:ln>
        </p:spPr>
        <p:txBody>
          <a:bodyPr>
            <a:spAutoFit/>
          </a:bodyPr>
          <a:p>
            <a:pPr algn="ctr" eaLnBrk="1" hangingPunct="1">
              <a:buFont typeface="Wingdings" panose="05000000000000000000" pitchFamily="2" charset="2"/>
            </a:pPr>
            <a:r>
              <a:rPr lang="zh-CN" altLang="en-US" sz="2000" b="1" dirty="0">
                <a:solidFill>
                  <a:srgbClr val="FF0000"/>
                </a:solidFill>
                <a:latin typeface="楷体_GB2312" pitchFamily="49" charset="-122"/>
              </a:rPr>
              <a:t>遍数减完？</a:t>
            </a:r>
            <a:endParaRPr lang="zh-CN" altLang="en-US" sz="2000" b="1" dirty="0">
              <a:solidFill>
                <a:srgbClr val="FF0000"/>
              </a:solidFill>
              <a:latin typeface="楷体_GB2312" pitchFamily="49" charset="-122"/>
            </a:endParaRPr>
          </a:p>
        </p:txBody>
      </p:sp>
      <p:sp>
        <p:nvSpPr>
          <p:cNvPr id="2334770" name="Line 50"/>
          <p:cNvSpPr/>
          <p:nvPr/>
        </p:nvSpPr>
        <p:spPr>
          <a:xfrm>
            <a:off x="7632700" y="5024438"/>
            <a:ext cx="0" cy="241300"/>
          </a:xfrm>
          <a:prstGeom prst="line">
            <a:avLst/>
          </a:prstGeom>
          <a:ln w="25400" cap="flat" cmpd="sng">
            <a:solidFill>
              <a:schemeClr val="tx1"/>
            </a:solidFill>
            <a:prstDash val="solid"/>
            <a:headEnd type="triangle" w="med" len="med"/>
            <a:tailEnd type="none" w="med" len="med"/>
          </a:ln>
        </p:spPr>
      </p:sp>
      <p:sp>
        <p:nvSpPr>
          <p:cNvPr id="2334771" name="Line 51"/>
          <p:cNvSpPr/>
          <p:nvPr/>
        </p:nvSpPr>
        <p:spPr>
          <a:xfrm>
            <a:off x="7643813" y="4373563"/>
            <a:ext cx="0" cy="241300"/>
          </a:xfrm>
          <a:prstGeom prst="line">
            <a:avLst/>
          </a:prstGeom>
          <a:ln w="25400" cap="flat" cmpd="sng">
            <a:solidFill>
              <a:schemeClr val="tx1"/>
            </a:solidFill>
            <a:prstDash val="solid"/>
            <a:headEnd type="triangle" w="med" len="med"/>
            <a:tailEnd type="none" w="med" len="med"/>
          </a:ln>
        </p:spPr>
      </p:sp>
      <p:sp>
        <p:nvSpPr>
          <p:cNvPr id="2334772" name="Line 52"/>
          <p:cNvSpPr/>
          <p:nvPr/>
        </p:nvSpPr>
        <p:spPr>
          <a:xfrm>
            <a:off x="7643813" y="3732213"/>
            <a:ext cx="0" cy="241300"/>
          </a:xfrm>
          <a:prstGeom prst="line">
            <a:avLst/>
          </a:prstGeom>
          <a:ln w="25400" cap="flat" cmpd="sng">
            <a:solidFill>
              <a:schemeClr val="tx1"/>
            </a:solidFill>
            <a:prstDash val="solid"/>
            <a:headEnd type="triangle" w="med" len="med"/>
            <a:tailEnd type="none" w="med" len="med"/>
          </a:ln>
        </p:spPr>
      </p:sp>
      <p:sp>
        <p:nvSpPr>
          <p:cNvPr id="2334773" name="Line 53"/>
          <p:cNvSpPr/>
          <p:nvPr/>
        </p:nvSpPr>
        <p:spPr>
          <a:xfrm>
            <a:off x="7632700" y="3086100"/>
            <a:ext cx="0" cy="241300"/>
          </a:xfrm>
          <a:prstGeom prst="line">
            <a:avLst/>
          </a:prstGeom>
          <a:ln w="25400" cap="flat" cmpd="sng">
            <a:solidFill>
              <a:schemeClr val="tx1"/>
            </a:solidFill>
            <a:prstDash val="solid"/>
            <a:headEnd type="triangle" w="med" len="med"/>
            <a:tailEnd type="none" w="med" len="med"/>
          </a:ln>
        </p:spPr>
      </p:sp>
      <p:sp>
        <p:nvSpPr>
          <p:cNvPr id="2334774" name="Line 54"/>
          <p:cNvSpPr/>
          <p:nvPr/>
        </p:nvSpPr>
        <p:spPr>
          <a:xfrm>
            <a:off x="7632700" y="2316163"/>
            <a:ext cx="0" cy="241300"/>
          </a:xfrm>
          <a:prstGeom prst="line">
            <a:avLst/>
          </a:prstGeom>
          <a:ln w="25400" cap="flat" cmpd="sng">
            <a:solidFill>
              <a:schemeClr val="tx1"/>
            </a:solidFill>
            <a:prstDash val="solid"/>
            <a:headEnd type="triangle" w="med" len="med"/>
            <a:tailEnd type="none" w="med" len="med"/>
          </a:ln>
        </p:spPr>
      </p:sp>
      <p:sp>
        <p:nvSpPr>
          <p:cNvPr id="2334775" name="Line 55"/>
          <p:cNvSpPr/>
          <p:nvPr/>
        </p:nvSpPr>
        <p:spPr>
          <a:xfrm>
            <a:off x="7629525" y="1673225"/>
            <a:ext cx="0" cy="241300"/>
          </a:xfrm>
          <a:prstGeom prst="line">
            <a:avLst/>
          </a:prstGeom>
          <a:ln w="25400" cap="flat" cmpd="sng">
            <a:solidFill>
              <a:schemeClr val="tx1"/>
            </a:solidFill>
            <a:prstDash val="solid"/>
            <a:headEnd type="triangle" w="med" len="med"/>
            <a:tailEnd type="none" w="med" len="med"/>
          </a:ln>
        </p:spPr>
      </p:sp>
      <p:sp>
        <p:nvSpPr>
          <p:cNvPr id="2334776" name="Line 56"/>
          <p:cNvSpPr/>
          <p:nvPr/>
        </p:nvSpPr>
        <p:spPr>
          <a:xfrm>
            <a:off x="7629525" y="904875"/>
            <a:ext cx="0" cy="241300"/>
          </a:xfrm>
          <a:prstGeom prst="line">
            <a:avLst/>
          </a:prstGeom>
          <a:ln w="25400" cap="flat" cmpd="sng">
            <a:solidFill>
              <a:schemeClr val="tx1"/>
            </a:solidFill>
            <a:prstDash val="solid"/>
            <a:headEnd type="triangle" w="med" len="med"/>
            <a:tailEnd type="none" w="med" len="med"/>
          </a:ln>
        </p:spPr>
      </p:sp>
      <p:sp>
        <p:nvSpPr>
          <p:cNvPr id="2334777" name="Line 57"/>
          <p:cNvSpPr/>
          <p:nvPr/>
        </p:nvSpPr>
        <p:spPr>
          <a:xfrm>
            <a:off x="4503738" y="5915025"/>
            <a:ext cx="0" cy="177800"/>
          </a:xfrm>
          <a:prstGeom prst="line">
            <a:avLst/>
          </a:prstGeom>
          <a:ln w="25400" cap="flat" cmpd="sng">
            <a:solidFill>
              <a:schemeClr val="tx1"/>
            </a:solidFill>
            <a:prstDash val="solid"/>
            <a:headEnd type="none" w="med" len="med"/>
            <a:tailEnd type="none" w="med" len="med"/>
          </a:ln>
        </p:spPr>
      </p:sp>
      <p:sp>
        <p:nvSpPr>
          <p:cNvPr id="2334778" name="Line 58"/>
          <p:cNvSpPr/>
          <p:nvPr/>
        </p:nvSpPr>
        <p:spPr>
          <a:xfrm>
            <a:off x="4503738" y="6092825"/>
            <a:ext cx="3140075" cy="0"/>
          </a:xfrm>
          <a:prstGeom prst="line">
            <a:avLst/>
          </a:prstGeom>
          <a:ln w="25400" cap="flat" cmpd="sng">
            <a:solidFill>
              <a:schemeClr val="tx1"/>
            </a:solidFill>
            <a:prstDash val="solid"/>
            <a:headEnd type="none" w="med" len="med"/>
            <a:tailEnd type="none" w="med" len="med"/>
          </a:ln>
        </p:spPr>
      </p:sp>
      <p:sp>
        <p:nvSpPr>
          <p:cNvPr id="2334779" name="Line 59"/>
          <p:cNvSpPr/>
          <p:nvPr/>
        </p:nvSpPr>
        <p:spPr>
          <a:xfrm>
            <a:off x="7629525" y="5673725"/>
            <a:ext cx="0" cy="419100"/>
          </a:xfrm>
          <a:prstGeom prst="line">
            <a:avLst/>
          </a:prstGeom>
          <a:ln w="25400" cap="flat" cmpd="sng">
            <a:solidFill>
              <a:schemeClr val="tx1"/>
            </a:solidFill>
            <a:prstDash val="solid"/>
            <a:headEnd type="triangle" w="med" len="med"/>
            <a:tailEnd type="none" w="med" len="med"/>
          </a:ln>
        </p:spPr>
      </p:sp>
      <p:sp>
        <p:nvSpPr>
          <p:cNvPr id="2334780" name="Line 60"/>
          <p:cNvSpPr/>
          <p:nvPr/>
        </p:nvSpPr>
        <p:spPr>
          <a:xfrm>
            <a:off x="6048375" y="2825750"/>
            <a:ext cx="625475" cy="0"/>
          </a:xfrm>
          <a:prstGeom prst="line">
            <a:avLst/>
          </a:prstGeom>
          <a:ln w="25400" cap="flat" cmpd="sng">
            <a:solidFill>
              <a:schemeClr val="tx1"/>
            </a:solidFill>
            <a:prstDash val="solid"/>
            <a:headEnd type="none" w="med" len="med"/>
            <a:tailEnd type="none" w="med" len="med"/>
          </a:ln>
        </p:spPr>
      </p:sp>
      <p:sp>
        <p:nvSpPr>
          <p:cNvPr id="2334781" name="Line 61"/>
          <p:cNvSpPr/>
          <p:nvPr/>
        </p:nvSpPr>
        <p:spPr>
          <a:xfrm>
            <a:off x="6048375" y="2632075"/>
            <a:ext cx="0" cy="201613"/>
          </a:xfrm>
          <a:prstGeom prst="line">
            <a:avLst/>
          </a:prstGeom>
          <a:ln w="25400" cap="flat" cmpd="sng">
            <a:solidFill>
              <a:schemeClr val="tx1"/>
            </a:solidFill>
            <a:prstDash val="solid"/>
            <a:headEnd type="none" w="med" len="med"/>
            <a:tailEnd type="none" w="med" len="med"/>
          </a:ln>
        </p:spPr>
      </p:sp>
      <p:sp>
        <p:nvSpPr>
          <p:cNvPr id="2334782" name="Line 62"/>
          <p:cNvSpPr/>
          <p:nvPr/>
        </p:nvSpPr>
        <p:spPr>
          <a:xfrm>
            <a:off x="4522788" y="2632075"/>
            <a:ext cx="1525587" cy="0"/>
          </a:xfrm>
          <a:prstGeom prst="line">
            <a:avLst/>
          </a:prstGeom>
          <a:ln w="25400" cap="flat" cmpd="sng">
            <a:solidFill>
              <a:schemeClr val="tx1"/>
            </a:solidFill>
            <a:prstDash val="solid"/>
            <a:headEnd type="triangle" w="med" len="med"/>
            <a:tailEnd type="none" w="med" len="med"/>
          </a:ln>
        </p:spPr>
      </p:sp>
      <p:sp>
        <p:nvSpPr>
          <p:cNvPr id="2334783" name="Line 63"/>
          <p:cNvSpPr/>
          <p:nvPr/>
        </p:nvSpPr>
        <p:spPr>
          <a:xfrm>
            <a:off x="6045200" y="1408113"/>
            <a:ext cx="625475" cy="0"/>
          </a:xfrm>
          <a:prstGeom prst="line">
            <a:avLst/>
          </a:prstGeom>
          <a:ln w="25400" cap="flat" cmpd="sng">
            <a:solidFill>
              <a:schemeClr val="tx1"/>
            </a:solidFill>
            <a:prstDash val="solid"/>
            <a:headEnd type="none" w="med" len="med"/>
            <a:tailEnd type="none" w="med" len="med"/>
          </a:ln>
        </p:spPr>
      </p:sp>
      <p:sp>
        <p:nvSpPr>
          <p:cNvPr id="2334784" name="Line 64"/>
          <p:cNvSpPr/>
          <p:nvPr/>
        </p:nvSpPr>
        <p:spPr>
          <a:xfrm>
            <a:off x="6048375" y="1408113"/>
            <a:ext cx="0" cy="581025"/>
          </a:xfrm>
          <a:prstGeom prst="line">
            <a:avLst/>
          </a:prstGeom>
          <a:ln w="25400" cap="flat" cmpd="sng">
            <a:solidFill>
              <a:schemeClr val="tx1"/>
            </a:solidFill>
            <a:prstDash val="solid"/>
            <a:headEnd type="none" w="med" len="med"/>
            <a:tailEnd type="none" w="med" len="med"/>
          </a:ln>
        </p:spPr>
      </p:sp>
      <p:sp>
        <p:nvSpPr>
          <p:cNvPr id="2334785" name="Line 65"/>
          <p:cNvSpPr/>
          <p:nvPr/>
        </p:nvSpPr>
        <p:spPr>
          <a:xfrm>
            <a:off x="4522788" y="1989138"/>
            <a:ext cx="1525587" cy="0"/>
          </a:xfrm>
          <a:prstGeom prst="line">
            <a:avLst/>
          </a:prstGeom>
          <a:ln w="25400" cap="flat" cmpd="sng">
            <a:solidFill>
              <a:schemeClr val="tx1"/>
            </a:solidFill>
            <a:prstDash val="solid"/>
            <a:headEnd type="triangle" w="med" len="med"/>
            <a:tailEnd type="none" w="med" len="med"/>
          </a:ln>
        </p:spPr>
      </p:sp>
      <p:sp>
        <p:nvSpPr>
          <p:cNvPr id="2334787" name="Text Box 67"/>
          <p:cNvSpPr txBox="1"/>
          <p:nvPr/>
        </p:nvSpPr>
        <p:spPr>
          <a:xfrm>
            <a:off x="4427538" y="4491038"/>
            <a:ext cx="468312" cy="366712"/>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Y</a:t>
            </a:r>
            <a:endParaRPr lang="en-US" altLang="zh-CN" sz="1800" b="1">
              <a:solidFill>
                <a:srgbClr val="FF0000"/>
              </a:solidFill>
              <a:latin typeface="黑体" panose="02010609060101010101" pitchFamily="49" charset="-122"/>
              <a:ea typeface="黑体" panose="02010609060101010101" pitchFamily="49" charset="-122"/>
            </a:endParaRPr>
          </a:p>
        </p:txBody>
      </p:sp>
      <p:sp>
        <p:nvSpPr>
          <p:cNvPr id="2334788" name="Text Box 68"/>
          <p:cNvSpPr txBox="1"/>
          <p:nvPr/>
        </p:nvSpPr>
        <p:spPr>
          <a:xfrm>
            <a:off x="7524750" y="2276475"/>
            <a:ext cx="468313" cy="366713"/>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Y</a:t>
            </a:r>
            <a:endParaRPr lang="en-US" altLang="zh-CN" sz="1800" b="1">
              <a:solidFill>
                <a:srgbClr val="FF0000"/>
              </a:solidFill>
              <a:latin typeface="黑体" panose="02010609060101010101" pitchFamily="49" charset="-122"/>
              <a:ea typeface="黑体" panose="02010609060101010101" pitchFamily="49" charset="-122"/>
            </a:endParaRPr>
          </a:p>
        </p:txBody>
      </p:sp>
      <p:sp>
        <p:nvSpPr>
          <p:cNvPr id="2334789" name="Text Box 69"/>
          <p:cNvSpPr txBox="1"/>
          <p:nvPr/>
        </p:nvSpPr>
        <p:spPr>
          <a:xfrm>
            <a:off x="7524750" y="874713"/>
            <a:ext cx="468313" cy="366712"/>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Y</a:t>
            </a:r>
            <a:endParaRPr lang="en-US" altLang="zh-CN" sz="1800" b="1">
              <a:solidFill>
                <a:srgbClr val="FF0000"/>
              </a:solidFill>
              <a:latin typeface="黑体" panose="02010609060101010101" pitchFamily="49" charset="-122"/>
              <a:ea typeface="黑体" panose="02010609060101010101" pitchFamily="49" charset="-122"/>
            </a:endParaRPr>
          </a:p>
        </p:txBody>
      </p:sp>
      <p:sp>
        <p:nvSpPr>
          <p:cNvPr id="2334790" name="Text Box 70"/>
          <p:cNvSpPr txBox="1"/>
          <p:nvPr/>
        </p:nvSpPr>
        <p:spPr>
          <a:xfrm>
            <a:off x="5292725" y="4041775"/>
            <a:ext cx="468313" cy="366713"/>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N</a:t>
            </a:r>
            <a:endParaRPr lang="en-US" altLang="zh-CN" sz="1800" b="1">
              <a:solidFill>
                <a:srgbClr val="FF0000"/>
              </a:solidFill>
              <a:latin typeface="黑体" panose="02010609060101010101" pitchFamily="49" charset="-122"/>
              <a:ea typeface="黑体" panose="02010609060101010101" pitchFamily="49" charset="-122"/>
            </a:endParaRPr>
          </a:p>
        </p:txBody>
      </p:sp>
      <p:sp>
        <p:nvSpPr>
          <p:cNvPr id="2334792" name="Text Box 72"/>
          <p:cNvSpPr txBox="1"/>
          <p:nvPr/>
        </p:nvSpPr>
        <p:spPr>
          <a:xfrm>
            <a:off x="6408738" y="2486025"/>
            <a:ext cx="468312" cy="366713"/>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N</a:t>
            </a:r>
            <a:endParaRPr lang="en-US" altLang="zh-CN" sz="1800" b="1">
              <a:solidFill>
                <a:srgbClr val="FF0000"/>
              </a:solidFill>
              <a:latin typeface="黑体" panose="02010609060101010101" pitchFamily="49" charset="-122"/>
              <a:ea typeface="黑体" panose="02010609060101010101" pitchFamily="49" charset="-122"/>
            </a:endParaRPr>
          </a:p>
        </p:txBody>
      </p:sp>
      <p:sp>
        <p:nvSpPr>
          <p:cNvPr id="2334793" name="Text Box 73"/>
          <p:cNvSpPr txBox="1"/>
          <p:nvPr/>
        </p:nvSpPr>
        <p:spPr>
          <a:xfrm>
            <a:off x="6408738" y="1082675"/>
            <a:ext cx="468312" cy="366713"/>
          </a:xfrm>
          <a:prstGeom prst="rect">
            <a:avLst/>
          </a:prstGeom>
          <a:noFill/>
          <a:ln w="9525">
            <a:noFill/>
          </a:ln>
        </p:spPr>
        <p:txBody>
          <a:bodyPr>
            <a:spAutoFit/>
          </a:bodyPr>
          <a:p>
            <a:pPr algn="ctr" eaLnBrk="1" hangingPunct="1">
              <a:buFont typeface="Wingdings" panose="05000000000000000000" pitchFamily="2" charset="2"/>
            </a:pPr>
            <a:r>
              <a:rPr lang="en-US" altLang="zh-CN" sz="1800" b="1">
                <a:solidFill>
                  <a:srgbClr val="FF0000"/>
                </a:solidFill>
                <a:latin typeface="黑体" panose="02010609060101010101" pitchFamily="49" charset="-122"/>
                <a:ea typeface="黑体" panose="02010609060101010101" pitchFamily="49" charset="-122"/>
              </a:rPr>
              <a:t>N</a:t>
            </a:r>
            <a:endParaRPr lang="en-US" altLang="zh-CN" sz="1800" b="1">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cove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4077" name="Text Box 13"/>
          <p:cNvSpPr txBox="1"/>
          <p:nvPr/>
        </p:nvSpPr>
        <p:spPr>
          <a:xfrm>
            <a:off x="323850" y="2205038"/>
            <a:ext cx="8569325" cy="1554162"/>
          </a:xfrm>
          <a:prstGeom prst="rect">
            <a:avLst/>
          </a:prstGeom>
          <a:noFill/>
          <a:ln w="9525">
            <a:noFill/>
          </a:ln>
        </p:spPr>
        <p:txBody>
          <a:bodyPr>
            <a:spAutoFit/>
          </a:bodyPr>
          <a:p>
            <a:pPr algn="l" eaLnBrk="1" hangingPunct="1">
              <a:buFont typeface="Wingdings" panose="05000000000000000000" pitchFamily="2" charset="2"/>
              <a:buChar char="Ø"/>
            </a:pPr>
            <a:r>
              <a:rPr lang="zh-CN" altLang="en-US" sz="3200" b="1" dirty="0">
                <a:solidFill>
                  <a:srgbClr val="FF0000"/>
                </a:solidFill>
                <a:latin typeface="黑体" panose="02010609060101010101" pitchFamily="49" charset="-122"/>
                <a:ea typeface="黑体" panose="02010609060101010101" pitchFamily="49" charset="-122"/>
              </a:rPr>
              <a:t>中断方式：</a:t>
            </a:r>
            <a:r>
              <a:rPr lang="zh-CN" altLang="en-US" sz="3200" b="1" dirty="0">
                <a:solidFill>
                  <a:schemeClr val="tx1"/>
                </a:solidFill>
                <a:latin typeface="黑体" panose="02010609060101010101" pitchFamily="49" charset="-122"/>
                <a:ea typeface="黑体" panose="02010609060101010101" pitchFamily="49" charset="-122"/>
              </a:rPr>
              <a:t>当</a:t>
            </a:r>
            <a:r>
              <a:rPr lang="en-US" altLang="zh-CN" sz="3200" b="1">
                <a:solidFill>
                  <a:schemeClr val="tx1"/>
                </a:solidFill>
                <a:latin typeface="黑体" panose="02010609060101010101" pitchFamily="49" charset="-122"/>
                <a:ea typeface="黑体" panose="02010609060101010101" pitchFamily="49" charset="-122"/>
              </a:rPr>
              <a:t>A/D</a:t>
            </a:r>
            <a:r>
              <a:rPr lang="zh-CN" altLang="en-US" sz="3200" b="1" dirty="0">
                <a:solidFill>
                  <a:schemeClr val="tx1"/>
                </a:solidFill>
                <a:latin typeface="黑体" panose="02010609060101010101" pitchFamily="49" charset="-122"/>
                <a:ea typeface="黑体" panose="02010609060101010101" pitchFamily="49" charset="-122"/>
              </a:rPr>
              <a:t>转换结束，通过接口向</a:t>
            </a:r>
            <a:r>
              <a:rPr lang="en-US" altLang="zh-CN" sz="3200" b="1">
                <a:solidFill>
                  <a:schemeClr val="tx1"/>
                </a:solidFill>
                <a:latin typeface="黑体" panose="02010609060101010101" pitchFamily="49" charset="-122"/>
                <a:ea typeface="黑体" panose="02010609060101010101" pitchFamily="49" charset="-122"/>
              </a:rPr>
              <a:t>CPU  </a:t>
            </a:r>
            <a:endParaRPr lang="en-US" altLang="zh-CN" sz="3200" b="1">
              <a:solidFill>
                <a:schemeClr val="tx1"/>
              </a:solidFill>
              <a:latin typeface="黑体" panose="02010609060101010101" pitchFamily="49" charset="-122"/>
              <a:ea typeface="黑体" panose="02010609060101010101" pitchFamily="49" charset="-122"/>
            </a:endParaRPr>
          </a:p>
          <a:p>
            <a:pPr algn="l" eaLnBrk="1" hangingPunct="1">
              <a:buFont typeface="Wingdings" panose="05000000000000000000" pitchFamily="2" charset="2"/>
            </a:pPr>
            <a:r>
              <a:rPr lang="en-US" altLang="zh-CN" sz="3200" b="1">
                <a:solidFill>
                  <a:schemeClr val="tx1"/>
                </a:solidFill>
                <a:latin typeface="黑体" panose="02010609060101010101" pitchFamily="49" charset="-122"/>
                <a:ea typeface="黑体" panose="02010609060101010101" pitchFamily="49" charset="-122"/>
              </a:rPr>
              <a:t>           </a:t>
            </a:r>
            <a:r>
              <a:rPr lang="zh-CN" altLang="en-US" sz="3200" b="1" dirty="0">
                <a:solidFill>
                  <a:schemeClr val="tx1"/>
                </a:solidFill>
                <a:latin typeface="黑体" panose="02010609060101010101" pitchFamily="49" charset="-122"/>
                <a:ea typeface="黑体" panose="02010609060101010101" pitchFamily="49" charset="-122"/>
              </a:rPr>
              <a:t>发出中断请求。</a:t>
            </a:r>
            <a:r>
              <a:rPr lang="en-US" altLang="zh-CN" sz="3200" b="1">
                <a:solidFill>
                  <a:schemeClr val="tx1"/>
                </a:solidFill>
                <a:latin typeface="黑体" panose="02010609060101010101" pitchFamily="49" charset="-122"/>
                <a:ea typeface="黑体" panose="02010609060101010101" pitchFamily="49" charset="-122"/>
              </a:rPr>
              <a:t>CPU</a:t>
            </a:r>
            <a:r>
              <a:rPr lang="zh-CN" altLang="en-US" sz="3200" b="1" dirty="0">
                <a:solidFill>
                  <a:schemeClr val="tx1"/>
                </a:solidFill>
                <a:latin typeface="黑体" panose="02010609060101010101" pitchFamily="49" charset="-122"/>
                <a:ea typeface="黑体" panose="02010609060101010101" pitchFamily="49" charset="-122"/>
              </a:rPr>
              <a:t>响应中断，暂</a:t>
            </a:r>
            <a:endParaRPr lang="zh-CN" altLang="en-US" sz="3200" b="1" dirty="0">
              <a:solidFill>
                <a:schemeClr val="tx1"/>
              </a:solidFill>
              <a:latin typeface="黑体" panose="02010609060101010101" pitchFamily="49" charset="-122"/>
              <a:ea typeface="黑体" panose="02010609060101010101" pitchFamily="49" charset="-122"/>
            </a:endParaRPr>
          </a:p>
          <a:p>
            <a:pPr algn="l" eaLnBrk="1" hangingPunct="1">
              <a:buFont typeface="Wingdings" panose="05000000000000000000" pitchFamily="2" charset="2"/>
            </a:pPr>
            <a:r>
              <a:rPr lang="zh-CN" altLang="en-US" sz="3200" b="1" dirty="0">
                <a:solidFill>
                  <a:schemeClr val="tx1"/>
                </a:solidFill>
                <a:latin typeface="黑体" panose="02010609060101010101" pitchFamily="49" charset="-122"/>
                <a:ea typeface="黑体" panose="02010609060101010101" pitchFamily="49" charset="-122"/>
              </a:rPr>
              <a:t>           停主程序，执行中断服务程序。</a:t>
            </a:r>
            <a:endParaRPr lang="zh-CN" altLang="en-US" sz="3200" b="1" dirty="0">
              <a:solidFill>
                <a:schemeClr val="tx1"/>
              </a:solidFill>
              <a:latin typeface="黑体" panose="02010609060101010101" pitchFamily="49" charset="-122"/>
              <a:ea typeface="黑体" panose="02010609060101010101" pitchFamily="49" charset="-122"/>
            </a:endParaRPr>
          </a:p>
        </p:txBody>
      </p:sp>
      <p:sp>
        <p:nvSpPr>
          <p:cNvPr id="2264080" name="Text Box 16"/>
          <p:cNvSpPr txBox="1"/>
          <p:nvPr/>
        </p:nvSpPr>
        <p:spPr>
          <a:xfrm>
            <a:off x="665163" y="4076700"/>
            <a:ext cx="7481887" cy="946150"/>
          </a:xfrm>
          <a:prstGeom prst="rect">
            <a:avLst/>
          </a:prstGeom>
          <a:noFill/>
          <a:ln w="9525">
            <a:noFill/>
          </a:ln>
        </p:spPr>
        <p:txBody>
          <a:bodyPr>
            <a:spAutoFit/>
          </a:bodyPr>
          <a:p>
            <a:pPr marL="1076325" indent="-1076325" algn="l" eaLnBrk="1" hangingPunct="1"/>
            <a:r>
              <a:rPr lang="zh-CN" altLang="en-US" sz="2800" b="1" dirty="0">
                <a:solidFill>
                  <a:srgbClr val="FF0000"/>
                </a:solidFill>
                <a:latin typeface="楷体_GB2312" pitchFamily="49" charset="-122"/>
              </a:rPr>
              <a:t>优点：</a:t>
            </a:r>
            <a:r>
              <a:rPr lang="zh-CN" altLang="en-US" sz="2800" b="1" dirty="0">
                <a:solidFill>
                  <a:srgbClr val="3333FF"/>
                </a:solidFill>
                <a:latin typeface="楷体_GB2312" pitchFamily="49" charset="-122"/>
              </a:rPr>
              <a:t>少占用</a:t>
            </a:r>
            <a:r>
              <a:rPr lang="en-US" altLang="zh-CN" sz="2800" b="1">
                <a:solidFill>
                  <a:srgbClr val="3333FF"/>
                </a:solidFill>
                <a:latin typeface="楷体_GB2312" pitchFamily="49" charset="-122"/>
              </a:rPr>
              <a:t>CPU</a:t>
            </a:r>
            <a:r>
              <a:rPr lang="zh-CN" altLang="en-US" sz="2800" b="1" dirty="0">
                <a:solidFill>
                  <a:srgbClr val="3333FF"/>
                </a:solidFill>
                <a:latin typeface="楷体_GB2312" pitchFamily="49" charset="-122"/>
              </a:rPr>
              <a:t>时间，大大提高</a:t>
            </a:r>
            <a:r>
              <a:rPr lang="en-US" altLang="zh-CN" sz="2800" b="1">
                <a:solidFill>
                  <a:srgbClr val="3333FF"/>
                </a:solidFill>
                <a:latin typeface="楷体_GB2312" pitchFamily="49" charset="-122"/>
              </a:rPr>
              <a:t>CPU</a:t>
            </a:r>
            <a:r>
              <a:rPr lang="zh-CN" altLang="en-US" sz="2800" b="1" dirty="0">
                <a:solidFill>
                  <a:srgbClr val="3333FF"/>
                </a:solidFill>
                <a:latin typeface="楷体_GB2312" pitchFamily="49" charset="-122"/>
              </a:rPr>
              <a:t>效率，并且具有很强的实时处理能力。</a:t>
            </a:r>
            <a:endParaRPr lang="zh-CN" altLang="en-US" sz="2800" b="1" dirty="0">
              <a:solidFill>
                <a:srgbClr val="3333FF"/>
              </a:solidFill>
              <a:latin typeface="楷体_GB2312" pitchFamily="49" charset="-122"/>
            </a:endParaRPr>
          </a:p>
        </p:txBody>
      </p:sp>
      <p:sp>
        <p:nvSpPr>
          <p:cNvPr id="2264082" name="Text Box 18"/>
          <p:cNvSpPr txBox="1"/>
          <p:nvPr/>
        </p:nvSpPr>
        <p:spPr>
          <a:xfrm>
            <a:off x="673100" y="5105400"/>
            <a:ext cx="5230813" cy="519113"/>
          </a:xfrm>
          <a:prstGeom prst="rect">
            <a:avLst/>
          </a:prstGeom>
          <a:noFill/>
          <a:ln w="9525">
            <a:noFill/>
          </a:ln>
        </p:spPr>
        <p:txBody>
          <a:bodyPr>
            <a:spAutoFit/>
          </a:bodyPr>
          <a:p>
            <a:pPr marL="1076325" indent="-1076325" algn="l" eaLnBrk="1" hangingPunct="1"/>
            <a:r>
              <a:rPr lang="zh-CN" altLang="en-US" sz="2800" b="1" dirty="0">
                <a:solidFill>
                  <a:srgbClr val="FF0000"/>
                </a:solidFill>
                <a:latin typeface="楷体_GB2312" pitchFamily="49" charset="-122"/>
              </a:rPr>
              <a:t>缺点：</a:t>
            </a:r>
            <a:r>
              <a:rPr lang="zh-CN" altLang="en-US" sz="2800" b="1" dirty="0">
                <a:solidFill>
                  <a:schemeClr val="tx1"/>
                </a:solidFill>
                <a:latin typeface="楷体_GB2312" pitchFamily="49" charset="-122"/>
              </a:rPr>
              <a:t>要求硬件多，编程复杂。</a:t>
            </a:r>
            <a:endParaRPr lang="zh-CN" altLang="en-US" sz="2800" b="1" dirty="0">
              <a:solidFill>
                <a:schemeClr val="tx1"/>
              </a:solidFill>
              <a:latin typeface="楷体_GB2312" pitchFamily="49" charset="-122"/>
            </a:endParaRPr>
          </a:p>
        </p:txBody>
      </p:sp>
      <p:sp>
        <p:nvSpPr>
          <p:cNvPr id="2264086" name="Text Box 2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4582" name="Text Box 23"/>
          <p:cNvSpPr txBox="1"/>
          <p:nvPr/>
        </p:nvSpPr>
        <p:spPr>
          <a:xfrm>
            <a:off x="1042988" y="1520825"/>
            <a:ext cx="3600450" cy="579438"/>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3200" b="1">
                <a:solidFill>
                  <a:schemeClr val="tx1"/>
                </a:solidFill>
                <a:latin typeface="黑体" panose="02010609060101010101" pitchFamily="49" charset="-122"/>
                <a:ea typeface="黑体" panose="02010609060101010101" pitchFamily="49" charset="-122"/>
              </a:rPr>
              <a:t>2.</a:t>
            </a:r>
            <a:r>
              <a:rPr lang="zh-CN" altLang="en-US" sz="3200" b="1" dirty="0">
                <a:solidFill>
                  <a:schemeClr val="tx1"/>
                </a:solidFill>
                <a:latin typeface="Times New Roman" panose="02020603050405020304" pitchFamily="18" charset="0"/>
                <a:ea typeface="黑体" panose="02010609060101010101" pitchFamily="49" charset="-122"/>
              </a:rPr>
              <a:t>条件采样 </a:t>
            </a:r>
            <a:endParaRPr lang="zh-CN" altLang="en-US" sz="3200" b="1" dirty="0">
              <a:solidFill>
                <a:schemeClr val="tx1"/>
              </a:solidFill>
              <a:latin typeface="Times New Roman" panose="02020603050405020304" pitchFamily="18" charset="0"/>
              <a:ea typeface="黑体" panose="02010609060101010101" pitchFamily="49" charset="-122"/>
            </a:endParaRPr>
          </a:p>
        </p:txBody>
      </p:sp>
      <p:sp>
        <p:nvSpPr>
          <p:cNvPr id="2264088" name="Text Box 24"/>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2030" name="Text Box 14"/>
          <p:cNvSpPr txBox="1"/>
          <p:nvPr/>
        </p:nvSpPr>
        <p:spPr>
          <a:xfrm>
            <a:off x="254000" y="796925"/>
            <a:ext cx="6081713"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2.6.1 </a:t>
            </a:r>
            <a:r>
              <a:rPr lang="zh-CN" altLang="en-US" sz="3200" b="1" dirty="0">
                <a:solidFill>
                  <a:srgbClr val="333399"/>
                </a:solidFill>
                <a:latin typeface="楷体_GB2312" pitchFamily="49" charset="-122"/>
              </a:rPr>
              <a:t>模拟信号的采样控制方式</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4077"/>
                                        </p:tgtEl>
                                        <p:attrNameLst>
                                          <p:attrName>style.visibility</p:attrName>
                                        </p:attrNameLst>
                                      </p:cBhvr>
                                      <p:to>
                                        <p:strVal val="visible"/>
                                      </p:to>
                                    </p:set>
                                    <p:animEffect transition="in" filter="dissolve">
                                      <p:cBhvr>
                                        <p:cTn id="7" dur="500"/>
                                        <p:tgtEl>
                                          <p:spTgt spid="22640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4080"/>
                                        </p:tgtEl>
                                        <p:attrNameLst>
                                          <p:attrName>style.visibility</p:attrName>
                                        </p:attrNameLst>
                                      </p:cBhvr>
                                      <p:to>
                                        <p:strVal val="visible"/>
                                      </p:to>
                                    </p:set>
                                    <p:animEffect transition="in" filter="dissolve">
                                      <p:cBhvr>
                                        <p:cTn id="12" dur="500"/>
                                        <p:tgtEl>
                                          <p:spTgt spid="226408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64082"/>
                                        </p:tgtEl>
                                        <p:attrNameLst>
                                          <p:attrName>style.visibility</p:attrName>
                                        </p:attrNameLst>
                                      </p:cBhvr>
                                      <p:to>
                                        <p:strVal val="visible"/>
                                      </p:to>
                                    </p:set>
                                    <p:animEffect transition="in" filter="dissolve">
                                      <p:cBhvr>
                                        <p:cTn id="17" dur="500"/>
                                        <p:tgtEl>
                                          <p:spTgt spid="22640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4077" grpId="0"/>
      <p:bldP spid="2264080" grpId="0"/>
      <p:bldP spid="2264082"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5103" name="Text Box 15"/>
          <p:cNvSpPr txBox="1"/>
          <p:nvPr/>
        </p:nvSpPr>
        <p:spPr>
          <a:xfrm>
            <a:off x="609600" y="1449388"/>
            <a:ext cx="6915150" cy="579437"/>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3200" b="1">
                <a:solidFill>
                  <a:schemeClr val="tx1"/>
                </a:solidFill>
                <a:latin typeface="黑体" panose="02010609060101010101" pitchFamily="49" charset="-122"/>
                <a:ea typeface="黑体" panose="02010609060101010101" pitchFamily="49" charset="-122"/>
              </a:rPr>
              <a:t>3.</a:t>
            </a:r>
            <a:r>
              <a:rPr lang="zh-CN" altLang="en-US" sz="3200" b="1" dirty="0">
                <a:solidFill>
                  <a:schemeClr val="tx1"/>
                </a:solidFill>
                <a:latin typeface="Times New Roman" panose="02020603050405020304" pitchFamily="18" charset="0"/>
                <a:ea typeface="黑体" panose="02010609060101010101" pitchFamily="49" charset="-122"/>
              </a:rPr>
              <a:t>直接存储器存取（</a:t>
            </a:r>
            <a:r>
              <a:rPr lang="en-US" altLang="zh-CN" sz="3200" b="1">
                <a:solidFill>
                  <a:schemeClr val="tx1"/>
                </a:solidFill>
                <a:latin typeface="Times New Roman" panose="02020603050405020304" pitchFamily="18" charset="0"/>
                <a:ea typeface="黑体" panose="02010609060101010101" pitchFamily="49" charset="-122"/>
              </a:rPr>
              <a:t>DMA</a:t>
            </a:r>
            <a:r>
              <a:rPr lang="zh-CN" altLang="en-US" sz="3200" b="1" dirty="0">
                <a:solidFill>
                  <a:schemeClr val="tx1"/>
                </a:solidFill>
                <a:latin typeface="Times New Roman" panose="02020603050405020304" pitchFamily="18" charset="0"/>
                <a:ea typeface="黑体" panose="02010609060101010101" pitchFamily="49" charset="-122"/>
              </a:rPr>
              <a:t>）方式</a:t>
            </a:r>
            <a:endParaRPr lang="zh-CN" altLang="en-US" sz="3200" b="1" dirty="0">
              <a:solidFill>
                <a:schemeClr val="tx1"/>
              </a:solidFill>
              <a:latin typeface="Times New Roman" panose="02020603050405020304" pitchFamily="18" charset="0"/>
              <a:ea typeface="黑体" panose="02010609060101010101" pitchFamily="49" charset="-122"/>
            </a:endParaRPr>
          </a:p>
        </p:txBody>
      </p:sp>
      <p:sp>
        <p:nvSpPr>
          <p:cNvPr id="2265104" name="Text Box 16"/>
          <p:cNvSpPr txBox="1"/>
          <p:nvPr/>
        </p:nvSpPr>
        <p:spPr>
          <a:xfrm>
            <a:off x="830263" y="2046288"/>
            <a:ext cx="5541962" cy="519112"/>
          </a:xfrm>
          <a:prstGeom prst="rect">
            <a:avLst/>
          </a:prstGeom>
          <a:noFill/>
          <a:ln w="9525">
            <a:noFill/>
          </a:ln>
        </p:spPr>
        <p:txBody>
          <a:bodyPr wrap="none">
            <a:spAutoFit/>
          </a:bodyPr>
          <a:p>
            <a:pPr algn="l" eaLnBrk="1" hangingPunct="1"/>
            <a:r>
              <a:rPr lang="zh-CN" altLang="en-US" sz="2800" b="1" dirty="0">
                <a:solidFill>
                  <a:srgbClr val="FF0000"/>
                </a:solidFill>
                <a:latin typeface="楷体_GB2312" pitchFamily="49" charset="-122"/>
              </a:rPr>
              <a:t>特点：</a:t>
            </a:r>
            <a:r>
              <a:rPr lang="zh-CN" altLang="en-US" sz="2800" b="1" dirty="0">
                <a:solidFill>
                  <a:srgbClr val="3333FF"/>
                </a:solidFill>
                <a:latin typeface="楷体_GB2312" pitchFamily="49" charset="-122"/>
              </a:rPr>
              <a:t>由硬件完成数据的传送操作</a:t>
            </a:r>
            <a:endParaRPr lang="zh-CN" altLang="en-US" sz="2800" b="1" dirty="0">
              <a:solidFill>
                <a:srgbClr val="3333FF"/>
              </a:solidFill>
              <a:latin typeface="楷体_GB2312" pitchFamily="49" charset="-122"/>
            </a:endParaRPr>
          </a:p>
        </p:txBody>
      </p:sp>
      <p:sp>
        <p:nvSpPr>
          <p:cNvPr id="2265107" name="Text Box 19"/>
          <p:cNvSpPr txBox="1"/>
          <p:nvPr/>
        </p:nvSpPr>
        <p:spPr>
          <a:xfrm>
            <a:off x="744538" y="2751138"/>
            <a:ext cx="3432175" cy="309086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defTabSz="914400" eaLnBrk="1" hangingPunct="1">
              <a:buClr>
                <a:srgbClr val="FF0000"/>
              </a:buClr>
              <a:buFont typeface="Wingdings" panose="05000000000000000000" pitchFamily="2" charset="2"/>
              <a:tabLst>
                <a:tab pos="3314700" algn="l"/>
              </a:tabLst>
            </a:pPr>
            <a:r>
              <a:rPr lang="zh-CN" altLang="en-US" sz="2800" b="1" dirty="0">
                <a:solidFill>
                  <a:schemeClr val="tx1"/>
                </a:solidFill>
                <a:latin typeface="Times New Roman" panose="02020603050405020304" pitchFamily="18" charset="0"/>
                <a:ea typeface="黑体" panose="02010609060101010101" pitchFamily="49" charset="-122"/>
              </a:rPr>
              <a:t>在</a:t>
            </a:r>
            <a:r>
              <a:rPr lang="en-US" altLang="zh-CN" sz="2800" b="1">
                <a:solidFill>
                  <a:schemeClr val="tx1"/>
                </a:solidFill>
                <a:latin typeface="Times New Roman" panose="02020603050405020304" pitchFamily="18" charset="0"/>
                <a:ea typeface="黑体" panose="02010609060101010101" pitchFamily="49" charset="-122"/>
              </a:rPr>
              <a:t>DMA</a:t>
            </a:r>
            <a:r>
              <a:rPr lang="zh-CN" altLang="en-US" sz="2800" b="1" dirty="0">
                <a:solidFill>
                  <a:schemeClr val="tx1"/>
                </a:solidFill>
                <a:latin typeface="Times New Roman" panose="02020603050405020304" pitchFamily="18" charset="0"/>
                <a:ea typeface="黑体" panose="02010609060101010101" pitchFamily="49" charset="-122"/>
              </a:rPr>
              <a:t>控制器控制下，数据直接在外部设备和存储器</a:t>
            </a:r>
            <a:r>
              <a:rPr lang="en-US" altLang="zh-CN" sz="2800" b="1">
                <a:solidFill>
                  <a:schemeClr val="tx1"/>
                </a:solidFill>
                <a:latin typeface="Times New Roman" panose="02020603050405020304" pitchFamily="18" charset="0"/>
                <a:ea typeface="黑体" panose="02010609060101010101" pitchFamily="49" charset="-122"/>
              </a:rPr>
              <a:t>MEM</a:t>
            </a:r>
            <a:r>
              <a:rPr lang="zh-CN" altLang="en-US" sz="2800" b="1" dirty="0">
                <a:solidFill>
                  <a:schemeClr val="tx1"/>
                </a:solidFill>
                <a:latin typeface="Times New Roman" panose="02020603050405020304" pitchFamily="18" charset="0"/>
                <a:ea typeface="黑体" panose="02010609060101010101" pitchFamily="49" charset="-122"/>
              </a:rPr>
              <a:t>之间进行传送，而不通过</a:t>
            </a:r>
            <a:r>
              <a:rPr lang="en-US" altLang="zh-CN" sz="2800" b="1">
                <a:solidFill>
                  <a:schemeClr val="tx1"/>
                </a:solidFill>
                <a:latin typeface="Times New Roman" panose="02020603050405020304" pitchFamily="18" charset="0"/>
                <a:ea typeface="黑体" panose="02010609060101010101" pitchFamily="49" charset="-122"/>
              </a:rPr>
              <a:t>CPU</a:t>
            </a:r>
            <a:r>
              <a:rPr lang="zh-CN" altLang="en-US" sz="2800" b="1" dirty="0">
                <a:solidFill>
                  <a:schemeClr val="tx1"/>
                </a:solidFill>
                <a:latin typeface="Times New Roman" panose="02020603050405020304" pitchFamily="18" charset="0"/>
                <a:ea typeface="黑体" panose="02010609060101010101" pitchFamily="49" charset="-122"/>
              </a:rPr>
              <a:t>和</a:t>
            </a:r>
            <a:r>
              <a:rPr lang="en-US" altLang="zh-CN" sz="2800" b="1">
                <a:solidFill>
                  <a:schemeClr val="tx1"/>
                </a:solidFill>
                <a:latin typeface="Times New Roman" panose="02020603050405020304" pitchFamily="18" charset="0"/>
                <a:ea typeface="黑体" panose="02010609060101010101" pitchFamily="49" charset="-122"/>
              </a:rPr>
              <a:t>I/O</a:t>
            </a:r>
            <a:r>
              <a:rPr lang="zh-CN" altLang="en-US" sz="2800" b="1" dirty="0">
                <a:solidFill>
                  <a:schemeClr val="tx1"/>
                </a:solidFill>
                <a:latin typeface="Times New Roman" panose="02020603050405020304" pitchFamily="18" charset="0"/>
                <a:ea typeface="黑体" panose="02010609060101010101" pitchFamily="49" charset="-122"/>
              </a:rPr>
              <a:t>，因而可大大提高数据的采集速率。</a:t>
            </a:r>
            <a:endParaRPr lang="zh-CN" altLang="en-US" sz="2800" b="1" dirty="0">
              <a:solidFill>
                <a:schemeClr val="tx1"/>
              </a:solidFill>
              <a:latin typeface="Times New Roman" panose="02020603050405020304" pitchFamily="18" charset="0"/>
              <a:ea typeface="黑体" panose="02010609060101010101" pitchFamily="49" charset="-122"/>
            </a:endParaRPr>
          </a:p>
        </p:txBody>
      </p:sp>
      <p:grpSp>
        <p:nvGrpSpPr>
          <p:cNvPr id="25639" name="组合 25638"/>
          <p:cNvGrpSpPr/>
          <p:nvPr/>
        </p:nvGrpSpPr>
        <p:grpSpPr>
          <a:xfrm>
            <a:off x="5040313" y="2744788"/>
            <a:ext cx="3663950" cy="3157537"/>
            <a:chOff x="3175" y="1729"/>
            <a:chExt cx="2308" cy="1989"/>
          </a:xfrm>
        </p:grpSpPr>
        <p:sp>
          <p:nvSpPr>
            <p:cNvPr id="2265110" name="AutoShape 22"/>
            <p:cNvSpPr/>
            <p:nvPr/>
          </p:nvSpPr>
          <p:spPr>
            <a:xfrm>
              <a:off x="3726" y="3150"/>
              <a:ext cx="56" cy="276"/>
            </a:xfrm>
            <a:prstGeom prst="up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265112" name="AutoShape 24"/>
            <p:cNvSpPr/>
            <p:nvPr/>
          </p:nvSpPr>
          <p:spPr>
            <a:xfrm>
              <a:off x="3738" y="2569"/>
              <a:ext cx="56" cy="276"/>
            </a:xfrm>
            <a:prstGeom prst="up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265114" name="AutoShape 26"/>
            <p:cNvSpPr/>
            <p:nvPr/>
          </p:nvSpPr>
          <p:spPr>
            <a:xfrm>
              <a:off x="3734" y="1998"/>
              <a:ext cx="56" cy="276"/>
            </a:xfrm>
            <a:prstGeom prst="up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265116" name="AutoShape 28"/>
            <p:cNvSpPr/>
            <p:nvPr/>
          </p:nvSpPr>
          <p:spPr>
            <a:xfrm>
              <a:off x="3383" y="1990"/>
              <a:ext cx="56" cy="276"/>
            </a:xfrm>
            <a:prstGeom prst="down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265117" name="AutoShape 29"/>
            <p:cNvSpPr/>
            <p:nvPr/>
          </p:nvSpPr>
          <p:spPr>
            <a:xfrm>
              <a:off x="3379" y="2571"/>
              <a:ext cx="56" cy="276"/>
            </a:xfrm>
            <a:prstGeom prst="down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265118" name="AutoShape 30"/>
            <p:cNvSpPr/>
            <p:nvPr/>
          </p:nvSpPr>
          <p:spPr>
            <a:xfrm>
              <a:off x="3354" y="3154"/>
              <a:ext cx="56" cy="276"/>
            </a:xfrm>
            <a:prstGeom prst="downArrow">
              <a:avLst>
                <a:gd name="adj1" fmla="val 50000"/>
                <a:gd name="adj2" fmla="val 123214"/>
              </a:avLst>
            </a:prstGeom>
            <a:solidFill>
              <a:schemeClr val="accent1"/>
            </a:solidFill>
            <a:ln w="9525" cap="flat" cmpd="sng">
              <a:solidFill>
                <a:srgbClr val="3333FF"/>
              </a:solidFill>
              <a:prstDash val="solid"/>
              <a:miter/>
              <a:headEnd type="none" w="med" len="med"/>
              <a:tailEnd type="none" w="med" len="med"/>
            </a:ln>
          </p:spPr>
          <p:txBody>
            <a:bodyPr wrap="none" anchor="ctr" anchorCtr="0">
              <a:spAutoFit/>
            </a:bodyPr>
            <a:p>
              <a:pPr algn="ctr" eaLnBrk="1" hangingPunct="1"/>
              <a:endParaRPr lang="zh-CN" altLang="en-US" b="1" dirty="0">
                <a:solidFill>
                  <a:srgbClr val="333399"/>
                </a:solidFill>
                <a:latin typeface="楷体_GB2312" pitchFamily="49" charset="-122"/>
              </a:endParaRPr>
            </a:p>
          </p:txBody>
        </p:sp>
        <p:grpSp>
          <p:nvGrpSpPr>
            <p:cNvPr id="2265141" name="Group 53"/>
            <p:cNvGrpSpPr/>
            <p:nvPr/>
          </p:nvGrpSpPr>
          <p:grpSpPr>
            <a:xfrm>
              <a:off x="3175" y="3466"/>
              <a:ext cx="785" cy="252"/>
              <a:chOff x="3306" y="3287"/>
              <a:chExt cx="785" cy="252"/>
            </a:xfrm>
          </p:grpSpPr>
          <p:sp>
            <p:nvSpPr>
              <p:cNvPr id="25635" name="Rectangle 21"/>
              <p:cNvSpPr/>
              <p:nvPr/>
            </p:nvSpPr>
            <p:spPr>
              <a:xfrm>
                <a:off x="3306" y="3297"/>
                <a:ext cx="785" cy="242"/>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5636" name="Text Box 31"/>
              <p:cNvSpPr txBox="1"/>
              <p:nvPr/>
            </p:nvSpPr>
            <p:spPr>
              <a:xfrm>
                <a:off x="3488" y="3287"/>
                <a:ext cx="438" cy="250"/>
              </a:xfrm>
              <a:prstGeom prst="rect">
                <a:avLst/>
              </a:prstGeom>
              <a:noFill/>
              <a:ln w="9525">
                <a:noFill/>
              </a:ln>
            </p:spPr>
            <p:txBody>
              <a:bodyPr wrap="none">
                <a:spAutoFit/>
              </a:bodyPr>
              <a:p>
                <a:pPr algn="ctr" eaLnBrk="1" hangingPunct="1"/>
                <a:r>
                  <a:rPr lang="zh-CN" altLang="en-US" sz="2000" b="1" dirty="0">
                    <a:solidFill>
                      <a:srgbClr val="333399"/>
                    </a:solidFill>
                    <a:latin typeface="楷体_GB2312" pitchFamily="49" charset="-122"/>
                  </a:rPr>
                  <a:t>外设</a:t>
                </a:r>
                <a:endParaRPr lang="zh-CN" altLang="en-US" sz="2000" b="1" dirty="0">
                  <a:solidFill>
                    <a:srgbClr val="333399"/>
                  </a:solidFill>
                  <a:latin typeface="楷体_GB2312" pitchFamily="49" charset="-122"/>
                </a:endParaRPr>
              </a:p>
            </p:txBody>
          </p:sp>
        </p:grpSp>
        <p:grpSp>
          <p:nvGrpSpPr>
            <p:cNvPr id="2265142" name="Group 54"/>
            <p:cNvGrpSpPr/>
            <p:nvPr/>
          </p:nvGrpSpPr>
          <p:grpSpPr>
            <a:xfrm>
              <a:off x="3188" y="2897"/>
              <a:ext cx="785" cy="251"/>
              <a:chOff x="3319" y="2718"/>
              <a:chExt cx="785" cy="251"/>
            </a:xfrm>
          </p:grpSpPr>
          <p:sp>
            <p:nvSpPr>
              <p:cNvPr id="25633" name="Rectangle 23"/>
              <p:cNvSpPr/>
              <p:nvPr/>
            </p:nvSpPr>
            <p:spPr>
              <a:xfrm>
                <a:off x="3319" y="2718"/>
                <a:ext cx="785" cy="242"/>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5634" name="Text Box 32"/>
              <p:cNvSpPr txBox="1"/>
              <p:nvPr/>
            </p:nvSpPr>
            <p:spPr>
              <a:xfrm>
                <a:off x="3496" y="2719"/>
                <a:ext cx="463" cy="250"/>
              </a:xfrm>
              <a:prstGeom prst="rect">
                <a:avLst/>
              </a:prstGeom>
              <a:noFill/>
              <a:ln w="9525">
                <a:noFill/>
              </a:ln>
            </p:spPr>
            <p:txBody>
              <a:bodyPr wrap="none">
                <a:spAutoFit/>
              </a:bodyPr>
              <a:p>
                <a:pPr algn="ctr" eaLnBrk="1" hangingPunct="1"/>
                <a:r>
                  <a:rPr lang="en-US" altLang="zh-CN" sz="2000" b="1">
                    <a:solidFill>
                      <a:srgbClr val="333399"/>
                    </a:solidFill>
                    <a:latin typeface="Times New Roman" panose="02020603050405020304" pitchFamily="18" charset="0"/>
                  </a:rPr>
                  <a:t>I</a:t>
                </a:r>
                <a:r>
                  <a:rPr lang="zh-CN" altLang="en-US" sz="2000" b="1" dirty="0">
                    <a:solidFill>
                      <a:srgbClr val="333399"/>
                    </a:solidFill>
                    <a:latin typeface="Times New Roman" panose="02020603050405020304" pitchFamily="18" charset="0"/>
                  </a:rPr>
                  <a:t>／</a:t>
                </a:r>
                <a:r>
                  <a:rPr lang="en-US" altLang="zh-CN" sz="2000" b="1">
                    <a:solidFill>
                      <a:srgbClr val="333399"/>
                    </a:solidFill>
                    <a:latin typeface="Times New Roman" panose="02020603050405020304" pitchFamily="18" charset="0"/>
                  </a:rPr>
                  <a:t>O</a:t>
                </a:r>
                <a:endParaRPr lang="en-US" altLang="zh-CN" sz="2000" b="1">
                  <a:solidFill>
                    <a:srgbClr val="333399"/>
                  </a:solidFill>
                  <a:latin typeface="Times New Roman" panose="02020603050405020304" pitchFamily="18" charset="0"/>
                </a:endParaRPr>
              </a:p>
            </p:txBody>
          </p:sp>
        </p:grpSp>
        <p:grpSp>
          <p:nvGrpSpPr>
            <p:cNvPr id="2265144" name="Group 56"/>
            <p:cNvGrpSpPr/>
            <p:nvPr/>
          </p:nvGrpSpPr>
          <p:grpSpPr>
            <a:xfrm>
              <a:off x="3192" y="2321"/>
              <a:ext cx="785" cy="250"/>
              <a:chOff x="3323" y="2142"/>
              <a:chExt cx="785" cy="250"/>
            </a:xfrm>
          </p:grpSpPr>
          <p:sp>
            <p:nvSpPr>
              <p:cNvPr id="25631" name="Rectangle 25"/>
              <p:cNvSpPr/>
              <p:nvPr/>
            </p:nvSpPr>
            <p:spPr>
              <a:xfrm>
                <a:off x="3323" y="2145"/>
                <a:ext cx="785" cy="242"/>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5632" name="Text Box 33"/>
              <p:cNvSpPr txBox="1"/>
              <p:nvPr/>
            </p:nvSpPr>
            <p:spPr>
              <a:xfrm>
                <a:off x="3488" y="2142"/>
                <a:ext cx="446" cy="250"/>
              </a:xfrm>
              <a:prstGeom prst="rect">
                <a:avLst/>
              </a:prstGeom>
              <a:noFill/>
              <a:ln w="9525">
                <a:noFill/>
              </a:ln>
            </p:spPr>
            <p:txBody>
              <a:bodyPr wrap="none">
                <a:spAutoFit/>
              </a:bodyPr>
              <a:p>
                <a:pPr algn="ctr" eaLnBrk="1" hangingPunct="1"/>
                <a:r>
                  <a:rPr lang="en-US" altLang="zh-CN" sz="2000" b="1">
                    <a:solidFill>
                      <a:srgbClr val="333399"/>
                    </a:solidFill>
                    <a:latin typeface="Times New Roman" panose="02020603050405020304" pitchFamily="18" charset="0"/>
                  </a:rPr>
                  <a:t>CPU</a:t>
                </a:r>
                <a:endParaRPr lang="en-US" altLang="zh-CN" sz="2000" b="1">
                  <a:solidFill>
                    <a:srgbClr val="333399"/>
                  </a:solidFill>
                  <a:latin typeface="Times New Roman" panose="02020603050405020304" pitchFamily="18" charset="0"/>
                </a:endParaRPr>
              </a:p>
            </p:txBody>
          </p:sp>
        </p:grpSp>
        <p:grpSp>
          <p:nvGrpSpPr>
            <p:cNvPr id="2265145" name="Group 57"/>
            <p:cNvGrpSpPr/>
            <p:nvPr/>
          </p:nvGrpSpPr>
          <p:grpSpPr>
            <a:xfrm>
              <a:off x="3188" y="1729"/>
              <a:ext cx="785" cy="257"/>
              <a:chOff x="3319" y="1550"/>
              <a:chExt cx="785" cy="257"/>
            </a:xfrm>
          </p:grpSpPr>
          <p:sp>
            <p:nvSpPr>
              <p:cNvPr id="25629" name="Rectangle 27"/>
              <p:cNvSpPr/>
              <p:nvPr/>
            </p:nvSpPr>
            <p:spPr>
              <a:xfrm>
                <a:off x="3319" y="1565"/>
                <a:ext cx="785" cy="242"/>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algn="ctr" eaLnBrk="1" hangingPunct="1"/>
                <a:endParaRPr lang="zh-CN" altLang="en-US" b="1" dirty="0">
                  <a:solidFill>
                    <a:srgbClr val="333399"/>
                  </a:solidFill>
                  <a:latin typeface="楷体_GB2312" pitchFamily="49" charset="-122"/>
                </a:endParaRPr>
              </a:p>
            </p:txBody>
          </p:sp>
          <p:sp>
            <p:nvSpPr>
              <p:cNvPr id="25630" name="Text Box 34"/>
              <p:cNvSpPr txBox="1"/>
              <p:nvPr/>
            </p:nvSpPr>
            <p:spPr>
              <a:xfrm>
                <a:off x="3513" y="1550"/>
                <a:ext cx="438" cy="250"/>
              </a:xfrm>
              <a:prstGeom prst="rect">
                <a:avLst/>
              </a:prstGeom>
              <a:noFill/>
              <a:ln w="9525">
                <a:noFill/>
              </a:ln>
            </p:spPr>
            <p:txBody>
              <a:bodyPr wrap="none">
                <a:spAutoFit/>
              </a:bodyPr>
              <a:p>
                <a:pPr algn="ctr" eaLnBrk="1" hangingPunct="1"/>
                <a:r>
                  <a:rPr lang="zh-CN" altLang="en-US" sz="2000" b="1" dirty="0">
                    <a:solidFill>
                      <a:srgbClr val="333399"/>
                    </a:solidFill>
                    <a:latin typeface="Times New Roman" panose="02020603050405020304" pitchFamily="18" charset="0"/>
                  </a:rPr>
                  <a:t>内存</a:t>
                </a:r>
                <a:endParaRPr lang="zh-CN" altLang="en-US" sz="2000" b="1" dirty="0">
                  <a:solidFill>
                    <a:srgbClr val="333399"/>
                  </a:solidFill>
                  <a:latin typeface="Times New Roman" panose="02020603050405020304" pitchFamily="18" charset="0"/>
                </a:endParaRPr>
              </a:p>
            </p:txBody>
          </p:sp>
        </p:grpSp>
        <p:grpSp>
          <p:nvGrpSpPr>
            <p:cNvPr id="2265143" name="Group 55"/>
            <p:cNvGrpSpPr/>
            <p:nvPr/>
          </p:nvGrpSpPr>
          <p:grpSpPr>
            <a:xfrm>
              <a:off x="4415" y="2667"/>
              <a:ext cx="1068" cy="250"/>
              <a:chOff x="4546" y="2488"/>
              <a:chExt cx="1068" cy="250"/>
            </a:xfrm>
          </p:grpSpPr>
          <p:sp>
            <p:nvSpPr>
              <p:cNvPr id="25627" name="Rectangle 35"/>
              <p:cNvSpPr/>
              <p:nvPr/>
            </p:nvSpPr>
            <p:spPr>
              <a:xfrm>
                <a:off x="4546" y="2491"/>
                <a:ext cx="1068" cy="242"/>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5628" name="Text Box 37"/>
              <p:cNvSpPr txBox="1"/>
              <p:nvPr/>
            </p:nvSpPr>
            <p:spPr>
              <a:xfrm>
                <a:off x="4610" y="2488"/>
                <a:ext cx="982" cy="250"/>
              </a:xfrm>
              <a:prstGeom prst="rect">
                <a:avLst/>
              </a:prstGeom>
              <a:noFill/>
              <a:ln w="9525">
                <a:noFill/>
              </a:ln>
            </p:spPr>
            <p:txBody>
              <a:bodyPr wrap="none">
                <a:spAutoFit/>
              </a:bodyPr>
              <a:p>
                <a:pPr algn="ctr" eaLnBrk="1" hangingPunct="1"/>
                <a:r>
                  <a:rPr lang="en-US" altLang="zh-CN" sz="2000" b="1">
                    <a:solidFill>
                      <a:srgbClr val="FF0000"/>
                    </a:solidFill>
                    <a:latin typeface="Times New Roman" panose="02020603050405020304" pitchFamily="18" charset="0"/>
                  </a:rPr>
                  <a:t>DMA</a:t>
                </a:r>
                <a:r>
                  <a:rPr lang="zh-CN" altLang="en-US" sz="2000" b="1" dirty="0">
                    <a:solidFill>
                      <a:srgbClr val="FF0000"/>
                    </a:solidFill>
                    <a:latin typeface="Times New Roman" panose="02020603050405020304" pitchFamily="18" charset="0"/>
                  </a:rPr>
                  <a:t>控制器</a:t>
                </a:r>
                <a:endParaRPr lang="zh-CN" altLang="en-US" sz="2000" b="1" dirty="0">
                  <a:solidFill>
                    <a:srgbClr val="FF0000"/>
                  </a:solidFill>
                  <a:latin typeface="Times New Roman" panose="02020603050405020304" pitchFamily="18" charset="0"/>
                </a:endParaRPr>
              </a:p>
            </p:txBody>
          </p:sp>
        </p:grpSp>
        <p:sp>
          <p:nvSpPr>
            <p:cNvPr id="2265127" name="Line 39"/>
            <p:cNvSpPr/>
            <p:nvPr/>
          </p:nvSpPr>
          <p:spPr>
            <a:xfrm>
              <a:off x="3959" y="3552"/>
              <a:ext cx="801" cy="0"/>
            </a:xfrm>
            <a:prstGeom prst="line">
              <a:avLst/>
            </a:prstGeom>
            <a:ln w="15875" cap="flat" cmpd="sng">
              <a:solidFill>
                <a:srgbClr val="3333FF"/>
              </a:solidFill>
              <a:prstDash val="sysDot"/>
              <a:headEnd type="none" w="med" len="med"/>
              <a:tailEnd type="none" w="med" len="med"/>
            </a:ln>
          </p:spPr>
        </p:sp>
        <p:sp>
          <p:nvSpPr>
            <p:cNvPr id="2265129" name="Line 41"/>
            <p:cNvSpPr/>
            <p:nvPr/>
          </p:nvSpPr>
          <p:spPr>
            <a:xfrm flipV="1">
              <a:off x="4752" y="2910"/>
              <a:ext cx="0" cy="634"/>
            </a:xfrm>
            <a:prstGeom prst="line">
              <a:avLst/>
            </a:prstGeom>
            <a:ln w="15875" cap="flat" cmpd="sng">
              <a:solidFill>
                <a:srgbClr val="3333FF"/>
              </a:solidFill>
              <a:prstDash val="sysDot"/>
              <a:headEnd type="none" w="med" len="med"/>
              <a:tailEnd type="none" w="med" len="med"/>
            </a:ln>
          </p:spPr>
        </p:sp>
        <p:sp>
          <p:nvSpPr>
            <p:cNvPr id="2265130" name="Line 42"/>
            <p:cNvSpPr/>
            <p:nvPr/>
          </p:nvSpPr>
          <p:spPr>
            <a:xfrm flipV="1">
              <a:off x="4752" y="1907"/>
              <a:ext cx="0" cy="710"/>
            </a:xfrm>
            <a:prstGeom prst="line">
              <a:avLst/>
            </a:prstGeom>
            <a:ln w="15875" cap="flat" cmpd="sng">
              <a:solidFill>
                <a:srgbClr val="3333FF"/>
              </a:solidFill>
              <a:prstDash val="sysDot"/>
              <a:headEnd type="none" w="med" len="med"/>
              <a:tailEnd type="none" w="med" len="med"/>
            </a:ln>
          </p:spPr>
        </p:sp>
        <p:sp>
          <p:nvSpPr>
            <p:cNvPr id="2265133" name="Line 45"/>
            <p:cNvSpPr/>
            <p:nvPr/>
          </p:nvSpPr>
          <p:spPr>
            <a:xfrm flipH="1">
              <a:off x="3976" y="1915"/>
              <a:ext cx="776" cy="0"/>
            </a:xfrm>
            <a:prstGeom prst="line">
              <a:avLst/>
            </a:prstGeom>
            <a:ln w="15875" cap="flat" cmpd="sng">
              <a:solidFill>
                <a:srgbClr val="3333FF"/>
              </a:solidFill>
              <a:prstDash val="sysDot"/>
              <a:headEnd type="none" w="med" len="med"/>
              <a:tailEnd type="triangle" w="sm" len="lg"/>
            </a:ln>
          </p:spPr>
        </p:sp>
        <p:sp>
          <p:nvSpPr>
            <p:cNvPr id="2265134" name="Line 46"/>
            <p:cNvSpPr/>
            <p:nvPr/>
          </p:nvSpPr>
          <p:spPr>
            <a:xfrm>
              <a:off x="3976" y="1807"/>
              <a:ext cx="1169" cy="0"/>
            </a:xfrm>
            <a:prstGeom prst="line">
              <a:avLst/>
            </a:prstGeom>
            <a:ln w="15875" cap="flat" cmpd="sng">
              <a:solidFill>
                <a:srgbClr val="3333FF"/>
              </a:solidFill>
              <a:prstDash val="sysDot"/>
              <a:headEnd type="none" w="med" len="med"/>
              <a:tailEnd type="none" w="med" len="med"/>
            </a:ln>
          </p:spPr>
        </p:sp>
        <p:sp>
          <p:nvSpPr>
            <p:cNvPr id="2265136" name="Line 48"/>
            <p:cNvSpPr/>
            <p:nvPr/>
          </p:nvSpPr>
          <p:spPr>
            <a:xfrm>
              <a:off x="5145" y="1807"/>
              <a:ext cx="0" cy="818"/>
            </a:xfrm>
            <a:prstGeom prst="line">
              <a:avLst/>
            </a:prstGeom>
            <a:ln w="15875" cap="flat" cmpd="sng">
              <a:solidFill>
                <a:srgbClr val="3333FF"/>
              </a:solidFill>
              <a:prstDash val="sysDot"/>
              <a:headEnd type="none" w="med" len="med"/>
              <a:tailEnd type="none" w="med" len="med"/>
            </a:ln>
          </p:spPr>
        </p:sp>
        <p:sp>
          <p:nvSpPr>
            <p:cNvPr id="2265137" name="Line 49"/>
            <p:cNvSpPr/>
            <p:nvPr/>
          </p:nvSpPr>
          <p:spPr>
            <a:xfrm>
              <a:off x="5128" y="2917"/>
              <a:ext cx="0" cy="760"/>
            </a:xfrm>
            <a:prstGeom prst="line">
              <a:avLst/>
            </a:prstGeom>
            <a:ln w="15875" cap="flat" cmpd="sng">
              <a:solidFill>
                <a:srgbClr val="3333FF"/>
              </a:solidFill>
              <a:prstDash val="sysDot"/>
              <a:headEnd type="none" w="med" len="med"/>
              <a:tailEnd type="none" w="med" len="med"/>
            </a:ln>
          </p:spPr>
        </p:sp>
        <p:sp>
          <p:nvSpPr>
            <p:cNvPr id="2265139" name="Line 51"/>
            <p:cNvSpPr/>
            <p:nvPr/>
          </p:nvSpPr>
          <p:spPr>
            <a:xfrm flipH="1">
              <a:off x="3959" y="3668"/>
              <a:ext cx="1169" cy="0"/>
            </a:xfrm>
            <a:prstGeom prst="line">
              <a:avLst/>
            </a:prstGeom>
            <a:ln w="15875" cap="flat" cmpd="sng">
              <a:solidFill>
                <a:srgbClr val="3333FF"/>
              </a:solidFill>
              <a:prstDash val="sysDot"/>
              <a:headEnd type="none" w="med" len="med"/>
              <a:tailEnd type="triangle" w="sm" len="lg"/>
            </a:ln>
          </p:spPr>
        </p:sp>
      </p:grpSp>
      <p:sp>
        <p:nvSpPr>
          <p:cNvPr id="2265146" name="Text Box 5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5147" name="Text Box 59"/>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2030" name="Text Box 14"/>
          <p:cNvSpPr txBox="1"/>
          <p:nvPr/>
        </p:nvSpPr>
        <p:spPr>
          <a:xfrm>
            <a:off x="254000" y="796925"/>
            <a:ext cx="6081713"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2.6.1 </a:t>
            </a:r>
            <a:r>
              <a:rPr lang="zh-CN" altLang="en-US" sz="3200" b="1" dirty="0">
                <a:solidFill>
                  <a:srgbClr val="333399"/>
                </a:solidFill>
                <a:latin typeface="楷体_GB2312" pitchFamily="49" charset="-122"/>
              </a:rPr>
              <a:t>模拟信号的采样控制方式</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5103"/>
                                        </p:tgtEl>
                                        <p:attrNameLst>
                                          <p:attrName>style.visibility</p:attrName>
                                        </p:attrNameLst>
                                      </p:cBhvr>
                                      <p:to>
                                        <p:strVal val="visible"/>
                                      </p:to>
                                    </p:set>
                                    <p:animEffect transition="in" filter="dissolve">
                                      <p:cBhvr>
                                        <p:cTn id="7" dur="500"/>
                                        <p:tgtEl>
                                          <p:spTgt spid="2265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5104"/>
                                        </p:tgtEl>
                                        <p:attrNameLst>
                                          <p:attrName>style.visibility</p:attrName>
                                        </p:attrNameLst>
                                      </p:cBhvr>
                                      <p:to>
                                        <p:strVal val="visible"/>
                                      </p:to>
                                    </p:set>
                                    <p:animEffect transition="in" filter="dissolve">
                                      <p:cBhvr>
                                        <p:cTn id="12" dur="500"/>
                                        <p:tgtEl>
                                          <p:spTgt spid="226510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65107"/>
                                        </p:tgtEl>
                                        <p:attrNameLst>
                                          <p:attrName>style.visibility</p:attrName>
                                        </p:attrNameLst>
                                      </p:cBhvr>
                                      <p:to>
                                        <p:strVal val="visible"/>
                                      </p:to>
                                    </p:set>
                                    <p:animEffect transition="in" filter="dissolve">
                                      <p:cBhvr>
                                        <p:cTn id="17" dur="500"/>
                                        <p:tgtEl>
                                          <p:spTgt spid="226510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639"/>
                                        </p:tgtEl>
                                        <p:attrNameLst>
                                          <p:attrName>style.visibility</p:attrName>
                                        </p:attrNameLst>
                                      </p:cBhvr>
                                      <p:to>
                                        <p:strVal val="visible"/>
                                      </p:to>
                                    </p:set>
                                    <p:animEffect transition="in" filter="dissolve">
                                      <p:cBhvr>
                                        <p:cTn id="22" dur="500"/>
                                        <p:tgtEl>
                                          <p:spTgt spid="256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5103" grpId="0"/>
      <p:bldP spid="2265104" grpId="0"/>
      <p:bldP spid="2265107" grpId="0" bldLvl="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6123" name="Text Box 1035"/>
          <p:cNvSpPr txBox="1"/>
          <p:nvPr/>
        </p:nvSpPr>
        <p:spPr>
          <a:xfrm>
            <a:off x="636588" y="1504950"/>
            <a:ext cx="7067550" cy="519113"/>
          </a:xfrm>
          <a:prstGeom prst="rect">
            <a:avLst/>
          </a:prstGeom>
          <a:noFill/>
          <a:ln w="9525">
            <a:noFill/>
          </a:ln>
        </p:spPr>
        <p:txBody>
          <a:bodyPr>
            <a:spAutoFit/>
          </a:bodyPr>
          <a:p>
            <a:pPr algn="l" defTabSz="914400" eaLnBrk="1" hangingPunct="1">
              <a:buClr>
                <a:srgbClr val="FF0000"/>
              </a:buClr>
              <a:buFont typeface="Wingdings" panose="05000000000000000000" pitchFamily="2" charset="2"/>
              <a:tabLst>
                <a:tab pos="3314700" algn="l"/>
              </a:tabLst>
            </a:pP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采样控制方式的分类归纳如下： </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66136" name="Text Box 104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6137" name="Text Box 1049"/>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6641" name="组合 26640"/>
          <p:cNvGrpSpPr/>
          <p:nvPr/>
        </p:nvGrpSpPr>
        <p:grpSpPr>
          <a:xfrm>
            <a:off x="808038" y="2097088"/>
            <a:ext cx="7651750" cy="3756025"/>
            <a:chOff x="509" y="1321"/>
            <a:chExt cx="4820" cy="2366"/>
          </a:xfrm>
        </p:grpSpPr>
        <p:sp>
          <p:nvSpPr>
            <p:cNvPr id="2266125" name="Text Box 1037"/>
            <p:cNvSpPr txBox="1"/>
            <p:nvPr/>
          </p:nvSpPr>
          <p:spPr>
            <a:xfrm>
              <a:off x="1364" y="1561"/>
              <a:ext cx="1654" cy="327"/>
            </a:xfrm>
            <a:prstGeom prst="rect">
              <a:avLst/>
            </a:prstGeom>
            <a:noFill/>
            <a:ln w="9525">
              <a:noFill/>
            </a:ln>
          </p:spPr>
          <p:txBody>
            <a:bodyPr>
              <a:spAutoFit/>
            </a:bodyPr>
            <a:p>
              <a:pPr algn="l" eaLnBrk="1" hangingPunct="1"/>
              <a:r>
                <a:rPr lang="zh-CN" altLang="en-US" sz="2800" b="1" dirty="0">
                  <a:solidFill>
                    <a:srgbClr val="CC00CC"/>
                  </a:solidFill>
                  <a:latin typeface="黑体" panose="02010609060101010101" pitchFamily="49" charset="-122"/>
                  <a:ea typeface="黑体" panose="02010609060101010101" pitchFamily="49" charset="-122"/>
                </a:rPr>
                <a:t>无条件采样</a:t>
              </a:r>
              <a:endParaRPr lang="zh-CN" altLang="en-US" sz="2800" b="1" dirty="0">
                <a:solidFill>
                  <a:srgbClr val="CC00CC"/>
                </a:solidFill>
                <a:latin typeface="黑体" panose="02010609060101010101" pitchFamily="49" charset="-122"/>
                <a:ea typeface="黑体" panose="02010609060101010101" pitchFamily="49" charset="-122"/>
              </a:endParaRPr>
            </a:p>
          </p:txBody>
        </p:sp>
        <p:sp>
          <p:nvSpPr>
            <p:cNvPr id="2266126" name="Text Box 1038"/>
            <p:cNvSpPr txBox="1"/>
            <p:nvPr/>
          </p:nvSpPr>
          <p:spPr>
            <a:xfrm>
              <a:off x="1358" y="2452"/>
              <a:ext cx="1295" cy="327"/>
            </a:xfrm>
            <a:prstGeom prst="rect">
              <a:avLst/>
            </a:prstGeom>
            <a:noFill/>
            <a:ln w="9525">
              <a:noFill/>
            </a:ln>
          </p:spPr>
          <p:txBody>
            <a:bodyPr>
              <a:spAutoFit/>
            </a:bodyPr>
            <a:p>
              <a:pPr algn="l" eaLnBrk="1" hangingPunct="1"/>
              <a:r>
                <a:rPr lang="zh-CN" altLang="en-US" sz="2800" b="1" dirty="0">
                  <a:solidFill>
                    <a:srgbClr val="CC00CC"/>
                  </a:solidFill>
                  <a:latin typeface="黑体" panose="02010609060101010101" pitchFamily="49" charset="-122"/>
                  <a:ea typeface="黑体" panose="02010609060101010101" pitchFamily="49" charset="-122"/>
                </a:rPr>
                <a:t>条件采样</a:t>
              </a:r>
              <a:endParaRPr lang="zh-CN" altLang="en-US" sz="2800" b="1" dirty="0">
                <a:solidFill>
                  <a:srgbClr val="CC00CC"/>
                </a:solidFill>
                <a:latin typeface="黑体" panose="02010609060101010101" pitchFamily="49" charset="-122"/>
                <a:ea typeface="黑体" panose="02010609060101010101" pitchFamily="49" charset="-122"/>
              </a:endParaRPr>
            </a:p>
          </p:txBody>
        </p:sp>
        <p:sp>
          <p:nvSpPr>
            <p:cNvPr id="2266127" name="Text Box 1039"/>
            <p:cNvSpPr txBox="1"/>
            <p:nvPr/>
          </p:nvSpPr>
          <p:spPr>
            <a:xfrm>
              <a:off x="509" y="2452"/>
              <a:ext cx="760" cy="327"/>
            </a:xfrm>
            <a:prstGeom prst="rect">
              <a:avLst/>
            </a:prstGeom>
            <a:noFill/>
            <a:ln w="9525">
              <a:noFill/>
            </a:ln>
          </p:spPr>
          <p:txBody>
            <a:bodyPr/>
            <a:p>
              <a:pPr algn="l" eaLnBrk="1" hangingPunct="1"/>
              <a:r>
                <a:rPr lang="zh-CN" altLang="en-US" sz="2800" b="1" dirty="0">
                  <a:solidFill>
                    <a:srgbClr val="FF0000"/>
                  </a:solidFill>
                  <a:latin typeface="黑体" panose="02010609060101010101" pitchFamily="49" charset="-122"/>
                  <a:ea typeface="黑体" panose="02010609060101010101" pitchFamily="49" charset="-122"/>
                </a:rPr>
                <a:t>采样</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266131" name="Text Box 1043"/>
            <p:cNvSpPr txBox="1"/>
            <p:nvPr/>
          </p:nvSpPr>
          <p:spPr>
            <a:xfrm>
              <a:off x="2933" y="1321"/>
              <a:ext cx="2396" cy="769"/>
            </a:xfrm>
            <a:prstGeom prst="rect">
              <a:avLst/>
            </a:prstGeom>
            <a:noFill/>
            <a:ln w="9525">
              <a:noFill/>
            </a:ln>
          </p:spPr>
          <p:txBody>
            <a:bodyPr>
              <a:spAutoFit/>
            </a:bodyPr>
            <a:p>
              <a:pPr algn="l" eaLnBrk="1" hangingPunct="1"/>
              <a:r>
                <a:rPr lang="zh-CN" altLang="en-US" sz="2800" b="1" dirty="0">
                  <a:solidFill>
                    <a:srgbClr val="3333FF"/>
                  </a:solidFill>
                  <a:latin typeface="黑体" panose="02010609060101010101" pitchFamily="49" charset="-122"/>
                  <a:ea typeface="黑体" panose="02010609060101010101" pitchFamily="49" charset="-122"/>
                </a:rPr>
                <a:t>定时采样</a:t>
              </a:r>
              <a:r>
                <a:rPr lang="en-US" altLang="zh-CN" sz="2800" b="1">
                  <a:solidFill>
                    <a:srgbClr val="3333FF"/>
                  </a:solidFill>
                  <a:latin typeface="黑体" panose="02010609060101010101" pitchFamily="49" charset="-122"/>
                  <a:ea typeface="黑体" panose="02010609060101010101" pitchFamily="49" charset="-122"/>
                </a:rPr>
                <a:t>(</a:t>
              </a:r>
              <a:r>
                <a:rPr lang="zh-CN" altLang="en-US" sz="2800" b="1" dirty="0">
                  <a:solidFill>
                    <a:srgbClr val="3333FF"/>
                  </a:solidFill>
                  <a:latin typeface="黑体" panose="02010609060101010101" pitchFamily="49" charset="-122"/>
                  <a:ea typeface="黑体" panose="02010609060101010101" pitchFamily="49" charset="-122"/>
                </a:rPr>
                <a:t>等间隔采样</a:t>
              </a:r>
              <a:r>
                <a:rPr lang="en-US" altLang="zh-CN" sz="2800" b="1">
                  <a:solidFill>
                    <a:srgbClr val="3333FF"/>
                  </a:solidFill>
                  <a:latin typeface="黑体" panose="02010609060101010101" pitchFamily="49" charset="-122"/>
                  <a:ea typeface="黑体" panose="02010609060101010101" pitchFamily="49" charset="-122"/>
                </a:rPr>
                <a:t>)</a:t>
              </a:r>
              <a:endParaRPr lang="en-US" altLang="zh-CN" sz="2800" b="1">
                <a:solidFill>
                  <a:srgbClr val="3333FF"/>
                </a:solidFill>
                <a:latin typeface="黑体" panose="02010609060101010101" pitchFamily="49" charset="-122"/>
                <a:ea typeface="黑体" panose="02010609060101010101" pitchFamily="49" charset="-122"/>
              </a:endParaRPr>
            </a:p>
            <a:p>
              <a:pPr algn="l" eaLnBrk="1" hangingPunct="1"/>
              <a:endParaRPr lang="en-US" altLang="zh-CN" sz="1800" b="1">
                <a:solidFill>
                  <a:srgbClr val="3333FF"/>
                </a:solidFill>
                <a:latin typeface="黑体" panose="02010609060101010101" pitchFamily="49" charset="-122"/>
                <a:ea typeface="黑体" panose="02010609060101010101" pitchFamily="49" charset="-122"/>
              </a:endParaRPr>
            </a:p>
            <a:p>
              <a:pPr algn="l" eaLnBrk="1" hangingPunct="1"/>
              <a:r>
                <a:rPr lang="zh-CN" altLang="en-US" sz="2800" b="1" dirty="0">
                  <a:solidFill>
                    <a:srgbClr val="3333FF"/>
                  </a:solidFill>
                  <a:latin typeface="黑体" panose="02010609060101010101" pitchFamily="49" charset="-122"/>
                  <a:ea typeface="黑体" panose="02010609060101010101" pitchFamily="49" charset="-122"/>
                </a:rPr>
                <a:t>变步长采样</a:t>
              </a:r>
              <a:r>
                <a:rPr lang="en-US" altLang="zh-CN" sz="2800" b="1">
                  <a:solidFill>
                    <a:srgbClr val="3333FF"/>
                  </a:solidFill>
                  <a:latin typeface="黑体" panose="02010609060101010101" pitchFamily="49" charset="-122"/>
                  <a:ea typeface="黑体" panose="02010609060101010101" pitchFamily="49" charset="-122"/>
                </a:rPr>
                <a:t>(</a:t>
              </a:r>
              <a:r>
                <a:rPr lang="zh-CN" altLang="en-US" sz="2800" b="1" dirty="0">
                  <a:solidFill>
                    <a:srgbClr val="3333FF"/>
                  </a:solidFill>
                  <a:latin typeface="黑体" panose="02010609060101010101" pitchFamily="49" charset="-122"/>
                  <a:ea typeface="黑体" panose="02010609060101010101" pitchFamily="49" charset="-122"/>
                </a:rPr>
                <a:t>等点采样</a:t>
              </a:r>
              <a:r>
                <a:rPr lang="en-US" altLang="zh-CN" sz="2800" b="1">
                  <a:solidFill>
                    <a:srgbClr val="3333FF"/>
                  </a:solidFill>
                  <a:latin typeface="黑体" panose="02010609060101010101" pitchFamily="49" charset="-122"/>
                  <a:ea typeface="黑体" panose="02010609060101010101" pitchFamily="49" charset="-122"/>
                </a:rPr>
                <a:t>)</a:t>
              </a:r>
              <a:endParaRPr lang="en-US" altLang="zh-CN" sz="2800" b="1">
                <a:solidFill>
                  <a:srgbClr val="3333FF"/>
                </a:solidFill>
                <a:latin typeface="黑体" panose="02010609060101010101" pitchFamily="49" charset="-122"/>
                <a:ea typeface="黑体" panose="02010609060101010101" pitchFamily="49" charset="-122"/>
              </a:endParaRPr>
            </a:p>
          </p:txBody>
        </p:sp>
        <p:sp>
          <p:nvSpPr>
            <p:cNvPr id="2266133" name="Text Box 1045"/>
            <p:cNvSpPr txBox="1"/>
            <p:nvPr/>
          </p:nvSpPr>
          <p:spPr>
            <a:xfrm>
              <a:off x="2926" y="2226"/>
              <a:ext cx="1921" cy="769"/>
            </a:xfrm>
            <a:prstGeom prst="rect">
              <a:avLst/>
            </a:prstGeom>
            <a:noFill/>
            <a:ln w="9525">
              <a:noFill/>
            </a:ln>
          </p:spPr>
          <p:txBody>
            <a:bodyPr>
              <a:spAutoFit/>
            </a:bodyPr>
            <a:p>
              <a:pPr algn="l" eaLnBrk="1" hangingPunct="1"/>
              <a:r>
                <a:rPr lang="zh-CN" altLang="en-US" sz="2800" b="1" dirty="0">
                  <a:solidFill>
                    <a:srgbClr val="3333FF"/>
                  </a:solidFill>
                  <a:latin typeface="黑体" panose="02010609060101010101" pitchFamily="49" charset="-122"/>
                  <a:ea typeface="黑体" panose="02010609060101010101" pitchFamily="49" charset="-122"/>
                </a:rPr>
                <a:t>查询采样</a:t>
              </a:r>
              <a:endParaRPr lang="zh-CN" altLang="en-US" sz="2800" b="1" dirty="0">
                <a:solidFill>
                  <a:srgbClr val="3333FF"/>
                </a:solidFill>
                <a:latin typeface="黑体" panose="02010609060101010101" pitchFamily="49" charset="-122"/>
                <a:ea typeface="黑体" panose="02010609060101010101" pitchFamily="49" charset="-122"/>
              </a:endParaRPr>
            </a:p>
            <a:p>
              <a:pPr algn="l" eaLnBrk="1" hangingPunct="1"/>
              <a:endParaRPr lang="zh-CN" altLang="en-US" sz="1800" b="1" dirty="0">
                <a:solidFill>
                  <a:srgbClr val="3333FF"/>
                </a:solidFill>
                <a:latin typeface="黑体" panose="02010609060101010101" pitchFamily="49" charset="-122"/>
                <a:ea typeface="黑体" panose="02010609060101010101" pitchFamily="49" charset="-122"/>
              </a:endParaRPr>
            </a:p>
            <a:p>
              <a:pPr algn="l" eaLnBrk="1" hangingPunct="1"/>
              <a:r>
                <a:rPr lang="zh-CN" altLang="en-US" sz="2800" b="1" dirty="0">
                  <a:solidFill>
                    <a:srgbClr val="3333FF"/>
                  </a:solidFill>
                  <a:latin typeface="黑体" panose="02010609060101010101" pitchFamily="49" charset="-122"/>
                  <a:ea typeface="黑体" panose="02010609060101010101" pitchFamily="49" charset="-122"/>
                </a:rPr>
                <a:t>中断控制采样</a:t>
              </a:r>
              <a:endParaRPr lang="zh-CN" altLang="en-US" sz="2800" b="1" dirty="0">
                <a:solidFill>
                  <a:srgbClr val="3333FF"/>
                </a:solidFill>
                <a:latin typeface="黑体" panose="02010609060101010101" pitchFamily="49" charset="-122"/>
                <a:ea typeface="黑体" panose="02010609060101010101" pitchFamily="49" charset="-122"/>
              </a:endParaRPr>
            </a:p>
          </p:txBody>
        </p:sp>
        <p:sp>
          <p:nvSpPr>
            <p:cNvPr id="2266134" name="Text Box 1046"/>
            <p:cNvSpPr txBox="1"/>
            <p:nvPr/>
          </p:nvSpPr>
          <p:spPr>
            <a:xfrm>
              <a:off x="1383" y="3360"/>
              <a:ext cx="2055" cy="327"/>
            </a:xfrm>
            <a:prstGeom prst="rect">
              <a:avLst/>
            </a:prstGeom>
            <a:noFill/>
            <a:ln w="9525">
              <a:noFill/>
            </a:ln>
          </p:spPr>
          <p:txBody>
            <a:bodyPr>
              <a:spAutoFit/>
            </a:bodyPr>
            <a:p>
              <a:pPr algn="l" eaLnBrk="1" hangingPunct="1"/>
              <a:r>
                <a:rPr lang="en-US" altLang="zh-CN" sz="2800" b="1">
                  <a:solidFill>
                    <a:srgbClr val="CC00CC"/>
                  </a:solidFill>
                  <a:latin typeface="黑体" panose="02010609060101010101" pitchFamily="49" charset="-122"/>
                  <a:ea typeface="黑体" panose="02010609060101010101" pitchFamily="49" charset="-122"/>
                </a:rPr>
                <a:t>DMA</a:t>
              </a:r>
              <a:r>
                <a:rPr lang="zh-CN" altLang="en-US" sz="2800" b="1" dirty="0">
                  <a:solidFill>
                    <a:srgbClr val="CC00CC"/>
                  </a:solidFill>
                  <a:latin typeface="黑体" panose="02010609060101010101" pitchFamily="49" charset="-122"/>
                  <a:ea typeface="黑体" panose="02010609060101010101" pitchFamily="49" charset="-122"/>
                </a:rPr>
                <a:t>方式采样</a:t>
              </a:r>
              <a:endParaRPr lang="zh-CN" altLang="en-US" sz="2800" b="1" dirty="0">
                <a:solidFill>
                  <a:srgbClr val="CC00CC"/>
                </a:solidFill>
                <a:latin typeface="黑体" panose="02010609060101010101" pitchFamily="49" charset="-122"/>
                <a:ea typeface="黑体" panose="02010609060101010101" pitchFamily="49" charset="-122"/>
              </a:endParaRPr>
            </a:p>
          </p:txBody>
        </p:sp>
        <p:sp>
          <p:nvSpPr>
            <p:cNvPr id="2266139" name="AutoShape 1051"/>
            <p:cNvSpPr/>
            <p:nvPr/>
          </p:nvSpPr>
          <p:spPr>
            <a:xfrm>
              <a:off x="1088" y="1681"/>
              <a:ext cx="296" cy="1905"/>
            </a:xfrm>
            <a:prstGeom prst="leftBrace">
              <a:avLst>
                <a:gd name="adj1" fmla="val 53631"/>
                <a:gd name="adj2" fmla="val 50000"/>
              </a:avLst>
            </a:prstGeom>
            <a:noFill/>
            <a:ln w="25400" cap="flat" cmpd="sng">
              <a:solidFill>
                <a:schemeClr val="accent1"/>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66140" name="AutoShape 1052"/>
            <p:cNvSpPr/>
            <p:nvPr/>
          </p:nvSpPr>
          <p:spPr>
            <a:xfrm>
              <a:off x="2615" y="1447"/>
              <a:ext cx="296" cy="567"/>
            </a:xfrm>
            <a:prstGeom prst="leftBrace">
              <a:avLst>
                <a:gd name="adj1" fmla="val 15962"/>
                <a:gd name="adj2" fmla="val 50000"/>
              </a:avLst>
            </a:prstGeom>
            <a:noFill/>
            <a:ln w="25400" cap="flat" cmpd="sng">
              <a:solidFill>
                <a:schemeClr val="accent1"/>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2266141" name="AutoShape 1053"/>
            <p:cNvSpPr/>
            <p:nvPr/>
          </p:nvSpPr>
          <p:spPr>
            <a:xfrm>
              <a:off x="2606" y="2337"/>
              <a:ext cx="296" cy="567"/>
            </a:xfrm>
            <a:prstGeom prst="leftBrace">
              <a:avLst>
                <a:gd name="adj1" fmla="val 15962"/>
                <a:gd name="adj2" fmla="val 50000"/>
              </a:avLst>
            </a:prstGeom>
            <a:noFill/>
            <a:ln w="25400" cap="flat" cmpd="sng">
              <a:solidFill>
                <a:schemeClr val="accent1"/>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sp>
        <p:nvSpPr>
          <p:cNvPr id="2262030" name="Text Box 14"/>
          <p:cNvSpPr txBox="1"/>
          <p:nvPr/>
        </p:nvSpPr>
        <p:spPr>
          <a:xfrm>
            <a:off x="254000" y="796925"/>
            <a:ext cx="6081713"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2.6.1 </a:t>
            </a:r>
            <a:r>
              <a:rPr lang="zh-CN" altLang="en-US" sz="3200" b="1" dirty="0">
                <a:solidFill>
                  <a:srgbClr val="333399"/>
                </a:solidFill>
                <a:latin typeface="楷体_GB2312" pitchFamily="49" charset="-122"/>
              </a:rPr>
              <a:t>模拟信号的采样控制方式</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6123"/>
                                        </p:tgtEl>
                                        <p:attrNameLst>
                                          <p:attrName>style.visibility</p:attrName>
                                        </p:attrNameLst>
                                      </p:cBhvr>
                                      <p:to>
                                        <p:strVal val="visible"/>
                                      </p:to>
                                    </p:set>
                                    <p:animEffect transition="in" filter="dissolve">
                                      <p:cBhvr>
                                        <p:cTn id="7" dur="500"/>
                                        <p:tgtEl>
                                          <p:spTgt spid="22661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641"/>
                                        </p:tgtEl>
                                        <p:attrNameLst>
                                          <p:attrName>style.visibility</p:attrName>
                                        </p:attrNameLst>
                                      </p:cBhvr>
                                      <p:to>
                                        <p:strVal val="visible"/>
                                      </p:to>
                                    </p:set>
                                    <p:animEffect transition="in" filter="dissolve">
                                      <p:cBhvr>
                                        <p:cTn id="12" dur="500"/>
                                        <p:tgtEl>
                                          <p:spTgt spid="266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6123"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7149" name="Text Box 1037"/>
          <p:cNvSpPr txBox="1"/>
          <p:nvPr/>
        </p:nvSpPr>
        <p:spPr>
          <a:xfrm>
            <a:off x="550863" y="909638"/>
            <a:ext cx="5245100"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2.6.2 </a:t>
            </a:r>
            <a:r>
              <a:rPr lang="zh-CN" altLang="en-US" sz="3200" b="1" dirty="0">
                <a:solidFill>
                  <a:srgbClr val="333399"/>
                </a:solidFill>
                <a:latin typeface="楷体_GB2312" pitchFamily="49" charset="-122"/>
              </a:rPr>
              <a:t>采样控制方式的选择</a:t>
            </a:r>
            <a:endParaRPr lang="zh-CN" altLang="en-US" sz="3200" b="1" dirty="0">
              <a:solidFill>
                <a:srgbClr val="333399"/>
              </a:solidFill>
              <a:latin typeface="楷体_GB2312" pitchFamily="49" charset="-122"/>
            </a:endParaRPr>
          </a:p>
        </p:txBody>
      </p:sp>
      <p:sp>
        <p:nvSpPr>
          <p:cNvPr id="2267152" name="Text Box 1040"/>
          <p:cNvSpPr txBox="1"/>
          <p:nvPr/>
        </p:nvSpPr>
        <p:spPr>
          <a:xfrm>
            <a:off x="863600" y="3860800"/>
            <a:ext cx="2543175" cy="519113"/>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2.</a:t>
            </a:r>
            <a:r>
              <a:rPr lang="zh-CN" altLang="en-US" sz="2800" b="1" dirty="0">
                <a:solidFill>
                  <a:srgbClr val="FF0000"/>
                </a:solidFill>
                <a:latin typeface="Times New Roman" panose="02020603050405020304" pitchFamily="18" charset="0"/>
                <a:ea typeface="黑体" panose="02010609060101010101" pitchFamily="49" charset="-122"/>
              </a:rPr>
              <a:t>中断方式： </a:t>
            </a:r>
            <a:endParaRPr lang="zh-CN" altLang="en-US" sz="2800" b="1" dirty="0">
              <a:solidFill>
                <a:srgbClr val="FF0000"/>
              </a:solidFill>
              <a:latin typeface="Times New Roman" panose="02020603050405020304" pitchFamily="18" charset="0"/>
              <a:ea typeface="黑体" panose="02010609060101010101" pitchFamily="49" charset="-122"/>
            </a:endParaRPr>
          </a:p>
        </p:txBody>
      </p:sp>
      <p:sp>
        <p:nvSpPr>
          <p:cNvPr id="2267153" name="Text Box 1041"/>
          <p:cNvSpPr txBox="1"/>
          <p:nvPr/>
        </p:nvSpPr>
        <p:spPr>
          <a:xfrm>
            <a:off x="3013075" y="3871913"/>
            <a:ext cx="5605463" cy="1917700"/>
          </a:xfrm>
          <a:prstGeom prst="rect">
            <a:avLst/>
          </a:prstGeom>
          <a:noFill/>
          <a:ln w="9525">
            <a:noFill/>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具有很强的实时处理能力，可充分发挥</a:t>
            </a:r>
            <a:r>
              <a:rPr lang="en-US" altLang="zh-CN" sz="2400" b="1">
                <a:solidFill>
                  <a:schemeClr val="tx1"/>
                </a:solidFill>
                <a:latin typeface="Times New Roman" panose="02020603050405020304" pitchFamily="18" charset="0"/>
                <a:ea typeface="黑体" panose="02010609060101010101" pitchFamily="49" charset="-122"/>
              </a:rPr>
              <a:t>CPU</a:t>
            </a:r>
            <a:r>
              <a:rPr lang="zh-CN" altLang="en-US" sz="2400" b="1" dirty="0">
                <a:solidFill>
                  <a:schemeClr val="tx1"/>
                </a:solidFill>
                <a:latin typeface="Times New Roman" panose="02020603050405020304" pitchFamily="18" charset="0"/>
                <a:ea typeface="黑体" panose="02010609060101010101" pitchFamily="49" charset="-122"/>
              </a:rPr>
              <a:t>的效率。通常应用于主程序要同时处理其他任务的情况下，以及一个或多个模拟信号源要实时采集而不允许错过的场合。</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67159" name="Text Box 104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7160" name="Text Box 1048"/>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7161" name="Text Box 1049"/>
          <p:cNvSpPr txBox="1"/>
          <p:nvPr/>
        </p:nvSpPr>
        <p:spPr>
          <a:xfrm>
            <a:off x="3348038" y="1876425"/>
            <a:ext cx="5270500" cy="1552575"/>
          </a:xfrm>
          <a:prstGeom prst="rect">
            <a:avLst/>
          </a:prstGeom>
          <a:noFill/>
          <a:ln w="9525">
            <a:noFill/>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无需控制信号介入，所要求的硬件和软件最简单，但仅适于随时处于准备好状态的</a:t>
            </a:r>
            <a:r>
              <a:rPr lang="en-US" altLang="zh-CN" sz="2400" b="1">
                <a:solidFill>
                  <a:schemeClr val="tx1"/>
                </a:solidFill>
                <a:latin typeface="Times New Roman" panose="02020603050405020304" pitchFamily="18" charset="0"/>
                <a:ea typeface="黑体" panose="02010609060101010101" pitchFamily="49" charset="-122"/>
              </a:rPr>
              <a:t>A/D</a:t>
            </a:r>
            <a:r>
              <a:rPr lang="zh-CN" altLang="en-US" sz="2400" b="1" dirty="0">
                <a:solidFill>
                  <a:schemeClr val="tx1"/>
                </a:solidFill>
                <a:latin typeface="Times New Roman" panose="02020603050405020304" pitchFamily="18" charset="0"/>
                <a:ea typeface="黑体" panose="02010609060101010101" pitchFamily="49" charset="-122"/>
              </a:rPr>
              <a:t>转换器，且要求</a:t>
            </a:r>
            <a:r>
              <a:rPr lang="en-US" altLang="zh-CN" sz="2400" b="1">
                <a:solidFill>
                  <a:schemeClr val="tx1"/>
                </a:solidFill>
                <a:latin typeface="Times New Roman" panose="02020603050405020304" pitchFamily="18" charset="0"/>
                <a:ea typeface="黑体" panose="02010609060101010101" pitchFamily="49" charset="-122"/>
              </a:rPr>
              <a:t>CPU</a:t>
            </a:r>
            <a:r>
              <a:rPr lang="zh-CN" altLang="en-US" sz="2400" b="1" dirty="0">
                <a:solidFill>
                  <a:schemeClr val="tx1"/>
                </a:solidFill>
                <a:latin typeface="Times New Roman" panose="02020603050405020304" pitchFamily="18" charset="0"/>
                <a:ea typeface="黑体" panose="02010609060101010101" pitchFamily="49" charset="-122"/>
              </a:rPr>
              <a:t>与</a:t>
            </a:r>
            <a:r>
              <a:rPr lang="en-US" altLang="zh-CN" sz="2400" b="1">
                <a:solidFill>
                  <a:schemeClr val="tx1"/>
                </a:solidFill>
                <a:latin typeface="Times New Roman" panose="02020603050405020304" pitchFamily="18" charset="0"/>
                <a:ea typeface="黑体" panose="02010609060101010101" pitchFamily="49" charset="-122"/>
              </a:rPr>
              <a:t>A/D</a:t>
            </a:r>
            <a:r>
              <a:rPr lang="zh-CN" altLang="en-US" sz="2400" b="1" dirty="0">
                <a:solidFill>
                  <a:schemeClr val="tx1"/>
                </a:solidFill>
                <a:latin typeface="Times New Roman" panose="02020603050405020304" pitchFamily="18" charset="0"/>
                <a:ea typeface="黑体" panose="02010609060101010101" pitchFamily="49" charset="-122"/>
              </a:rPr>
              <a:t>转换器同时工作，使用时不方便。</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67162" name="Rectangle 1050"/>
          <p:cNvSpPr/>
          <p:nvPr/>
        </p:nvSpPr>
        <p:spPr>
          <a:xfrm>
            <a:off x="863600" y="1830388"/>
            <a:ext cx="2936875" cy="519112"/>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1.</a:t>
            </a:r>
            <a:r>
              <a:rPr lang="zh-CN" altLang="en-US" sz="2800" b="1" dirty="0">
                <a:solidFill>
                  <a:srgbClr val="FF0000"/>
                </a:solidFill>
                <a:latin typeface="Times New Roman" panose="02020603050405020304" pitchFamily="18" charset="0"/>
                <a:ea typeface="黑体" panose="02010609060101010101" pitchFamily="49" charset="-122"/>
              </a:rPr>
              <a:t>无条件采样：</a:t>
            </a:r>
            <a:endParaRPr lang="zh-CN" altLang="en-US" sz="2800" b="1" dirty="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7149"/>
                                        </p:tgtEl>
                                        <p:attrNameLst>
                                          <p:attrName>style.visibility</p:attrName>
                                        </p:attrNameLst>
                                      </p:cBhvr>
                                      <p:to>
                                        <p:strVal val="visible"/>
                                      </p:to>
                                    </p:set>
                                    <p:animEffect transition="in" filter="dissolve">
                                      <p:cBhvr>
                                        <p:cTn id="7" dur="500"/>
                                        <p:tgtEl>
                                          <p:spTgt spid="22671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67162"/>
                                        </p:tgtEl>
                                        <p:attrNameLst>
                                          <p:attrName>style.visibility</p:attrName>
                                        </p:attrNameLst>
                                      </p:cBhvr>
                                      <p:to>
                                        <p:strVal val="visible"/>
                                      </p:to>
                                    </p:set>
                                    <p:animEffect transition="in" filter="dissolve">
                                      <p:cBhvr>
                                        <p:cTn id="12" dur="500"/>
                                        <p:tgtEl>
                                          <p:spTgt spid="226716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67161"/>
                                        </p:tgtEl>
                                        <p:attrNameLst>
                                          <p:attrName>style.visibility</p:attrName>
                                        </p:attrNameLst>
                                      </p:cBhvr>
                                      <p:to>
                                        <p:strVal val="visible"/>
                                      </p:to>
                                    </p:set>
                                    <p:animEffect transition="in" filter="dissolve">
                                      <p:cBhvr>
                                        <p:cTn id="15" dur="500"/>
                                        <p:tgtEl>
                                          <p:spTgt spid="226716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67152"/>
                                        </p:tgtEl>
                                        <p:attrNameLst>
                                          <p:attrName>style.visibility</p:attrName>
                                        </p:attrNameLst>
                                      </p:cBhvr>
                                      <p:to>
                                        <p:strVal val="visible"/>
                                      </p:to>
                                    </p:set>
                                    <p:animEffect transition="in" filter="dissolve">
                                      <p:cBhvr>
                                        <p:cTn id="20" dur="500"/>
                                        <p:tgtEl>
                                          <p:spTgt spid="226715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267153"/>
                                        </p:tgtEl>
                                        <p:attrNameLst>
                                          <p:attrName>style.visibility</p:attrName>
                                        </p:attrNameLst>
                                      </p:cBhvr>
                                      <p:to>
                                        <p:strVal val="visible"/>
                                      </p:to>
                                    </p:set>
                                    <p:animEffect transition="in" filter="dissolve">
                                      <p:cBhvr>
                                        <p:cTn id="23" dur="500"/>
                                        <p:tgtEl>
                                          <p:spTgt spid="2267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7149" grpId="0" bldLvl="0" animBg="1"/>
      <p:bldP spid="2267152" grpId="0"/>
      <p:bldP spid="2267153" grpId="0"/>
      <p:bldP spid="2267161" grpId="0"/>
      <p:bldP spid="2267162"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8166" name="Text Box 6"/>
          <p:cNvSpPr txBox="1"/>
          <p:nvPr/>
        </p:nvSpPr>
        <p:spPr>
          <a:xfrm>
            <a:off x="935038" y="3810000"/>
            <a:ext cx="2684462" cy="519113"/>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4.</a:t>
            </a:r>
            <a:r>
              <a:rPr lang="en-US" altLang="zh-CN" sz="2800" b="1">
                <a:solidFill>
                  <a:srgbClr val="FF0000"/>
                </a:solidFill>
                <a:latin typeface="Times New Roman" panose="02020603050405020304" pitchFamily="18" charset="0"/>
                <a:ea typeface="黑体" panose="02010609060101010101" pitchFamily="49" charset="-122"/>
              </a:rPr>
              <a:t>DMA</a:t>
            </a:r>
            <a:r>
              <a:rPr lang="zh-CN" altLang="en-US" sz="2800" b="1" dirty="0">
                <a:solidFill>
                  <a:srgbClr val="FF0000"/>
                </a:solidFill>
                <a:latin typeface="Times New Roman" panose="02020603050405020304" pitchFamily="18" charset="0"/>
                <a:ea typeface="黑体" panose="02010609060101010101" pitchFamily="49" charset="-122"/>
              </a:rPr>
              <a:t>方式： </a:t>
            </a:r>
            <a:endParaRPr lang="zh-CN" altLang="en-US" sz="2800" b="1" dirty="0">
              <a:solidFill>
                <a:srgbClr val="FF0000"/>
              </a:solidFill>
              <a:latin typeface="Times New Roman" panose="02020603050405020304" pitchFamily="18" charset="0"/>
              <a:ea typeface="黑体" panose="02010609060101010101" pitchFamily="49" charset="-122"/>
            </a:endParaRPr>
          </a:p>
        </p:txBody>
      </p:sp>
      <p:sp>
        <p:nvSpPr>
          <p:cNvPr id="2268167" name="Text Box 7"/>
          <p:cNvSpPr txBox="1"/>
          <p:nvPr/>
        </p:nvSpPr>
        <p:spPr>
          <a:xfrm>
            <a:off x="3144838" y="3824288"/>
            <a:ext cx="5495925" cy="1187450"/>
          </a:xfrm>
          <a:prstGeom prst="rect">
            <a:avLst/>
          </a:prstGeom>
          <a:noFill/>
          <a:ln w="9525">
            <a:noFill/>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传送每个字节只需一个存储周期，可进行数据块传送而不花费取指令时间。用于高速数据采集。但其硬件成本较高。</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68168" name="Text Box 8"/>
          <p:cNvSpPr txBox="1"/>
          <p:nvPr/>
        </p:nvSpPr>
        <p:spPr>
          <a:xfrm>
            <a:off x="935038" y="1844675"/>
            <a:ext cx="2535237" cy="519113"/>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3.</a:t>
            </a:r>
            <a:r>
              <a:rPr lang="zh-CN" altLang="en-US" sz="2800" b="1" dirty="0">
                <a:solidFill>
                  <a:srgbClr val="FF0000"/>
                </a:solidFill>
                <a:latin typeface="Times New Roman" panose="02020603050405020304" pitchFamily="18" charset="0"/>
                <a:ea typeface="黑体" panose="02010609060101010101" pitchFamily="49" charset="-122"/>
              </a:rPr>
              <a:t>查询方式： </a:t>
            </a:r>
            <a:endParaRPr lang="zh-CN" altLang="en-US" sz="2800" b="1" dirty="0">
              <a:solidFill>
                <a:srgbClr val="FF0000"/>
              </a:solidFill>
              <a:latin typeface="Times New Roman" panose="02020603050405020304" pitchFamily="18" charset="0"/>
              <a:ea typeface="黑体" panose="02010609060101010101" pitchFamily="49" charset="-122"/>
            </a:endParaRPr>
          </a:p>
        </p:txBody>
      </p:sp>
      <p:sp>
        <p:nvSpPr>
          <p:cNvPr id="2268169" name="Text Box 9"/>
          <p:cNvSpPr txBox="1"/>
          <p:nvPr/>
        </p:nvSpPr>
        <p:spPr>
          <a:xfrm>
            <a:off x="3159125" y="1876425"/>
            <a:ext cx="5670550" cy="1552575"/>
          </a:xfrm>
          <a:prstGeom prst="rect">
            <a:avLst/>
          </a:prstGeom>
          <a:noFill/>
          <a:ln w="9525">
            <a:noFill/>
          </a:ln>
        </p:spPr>
        <p:txBody>
          <a:bodyPr>
            <a:spAutoFit/>
          </a:bodyPr>
          <a:p>
            <a:pPr algn="l" eaLnBrk="1" hangingPunct="1"/>
            <a:r>
              <a:rPr lang="zh-CN" altLang="en-US" sz="2400" b="1" dirty="0">
                <a:solidFill>
                  <a:schemeClr val="tx1"/>
                </a:solidFill>
                <a:latin typeface="Times New Roman" panose="02020603050405020304" pitchFamily="18" charset="0"/>
                <a:ea typeface="黑体" panose="02010609060101010101" pitchFamily="49" charset="-122"/>
              </a:rPr>
              <a:t>与中断方式比较，无须保护现场，软件开发和调试比较容易，所需硬件也少。用于查询方式能满足系统等待时间要求，或系统只采集几个模拟信号的场合。 </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268173" name="Text Box 1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68175" name="Text Box 15"/>
          <p:cNvSpPr txBox="1">
            <a:spLocks noChangeArrowheads="1"/>
          </p:cNvSpPr>
          <p:nvPr/>
        </p:nvSpPr>
        <p:spPr bwMode="auto">
          <a:xfrm>
            <a:off x="935038" y="80963"/>
            <a:ext cx="7212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2.6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模拟信号的采样控制方式</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7149" name="Text Box 1037"/>
          <p:cNvSpPr txBox="1"/>
          <p:nvPr/>
        </p:nvSpPr>
        <p:spPr>
          <a:xfrm>
            <a:off x="550863" y="909638"/>
            <a:ext cx="5245100"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2.6.2 </a:t>
            </a:r>
            <a:r>
              <a:rPr lang="zh-CN" altLang="en-US" sz="3200" b="1" dirty="0">
                <a:solidFill>
                  <a:srgbClr val="333399"/>
                </a:solidFill>
                <a:latin typeface="楷体_GB2312" pitchFamily="49" charset="-122"/>
              </a:rPr>
              <a:t>采样控制方式的选择</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8168"/>
                                        </p:tgtEl>
                                        <p:attrNameLst>
                                          <p:attrName>style.visibility</p:attrName>
                                        </p:attrNameLst>
                                      </p:cBhvr>
                                      <p:to>
                                        <p:strVal val="visible"/>
                                      </p:to>
                                    </p:set>
                                    <p:animEffect transition="in" filter="dissolve">
                                      <p:cBhvr>
                                        <p:cTn id="7" dur="500"/>
                                        <p:tgtEl>
                                          <p:spTgt spid="226816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8169"/>
                                        </p:tgtEl>
                                        <p:attrNameLst>
                                          <p:attrName>style.visibility</p:attrName>
                                        </p:attrNameLst>
                                      </p:cBhvr>
                                      <p:to>
                                        <p:strVal val="visible"/>
                                      </p:to>
                                    </p:set>
                                    <p:animEffect transition="in" filter="dissolve">
                                      <p:cBhvr>
                                        <p:cTn id="10" dur="500"/>
                                        <p:tgtEl>
                                          <p:spTgt spid="226816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268166"/>
                                        </p:tgtEl>
                                        <p:attrNameLst>
                                          <p:attrName>style.visibility</p:attrName>
                                        </p:attrNameLst>
                                      </p:cBhvr>
                                      <p:to>
                                        <p:strVal val="visible"/>
                                      </p:to>
                                    </p:set>
                                    <p:animEffect transition="in" filter="dissolve">
                                      <p:cBhvr>
                                        <p:cTn id="15" dur="500"/>
                                        <p:tgtEl>
                                          <p:spTgt spid="226816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68167"/>
                                        </p:tgtEl>
                                        <p:attrNameLst>
                                          <p:attrName>style.visibility</p:attrName>
                                        </p:attrNameLst>
                                      </p:cBhvr>
                                      <p:to>
                                        <p:strVal val="visible"/>
                                      </p:to>
                                    </p:set>
                                    <p:animEffect transition="in" filter="dissolve">
                                      <p:cBhvr>
                                        <p:cTn id="18" dur="500"/>
                                        <p:tgtEl>
                                          <p:spTgt spid="2268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8166" grpId="0"/>
      <p:bldP spid="2268167" grpId="0"/>
      <p:bldP spid="2268168" grpId="0"/>
      <p:bldP spid="226816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4450" name="Text Box 1071"/>
          <p:cNvSpPr txBox="1"/>
          <p:nvPr/>
        </p:nvSpPr>
        <p:spPr>
          <a:xfrm>
            <a:off x="287338" y="1912938"/>
            <a:ext cx="2163762" cy="366712"/>
          </a:xfrm>
          <a:prstGeom prst="rect">
            <a:avLst/>
          </a:prstGeom>
          <a:noFill/>
          <a:ln w="9525">
            <a:noFill/>
          </a:ln>
        </p:spPr>
        <p:txBody>
          <a:bodyPr>
            <a:spAutoFit/>
          </a:bodyPr>
          <a:p>
            <a:pPr algn="l" eaLnBrk="1" hangingPunct="1">
              <a:lnSpc>
                <a:spcPct val="90000"/>
              </a:lnSpc>
            </a:pPr>
            <a:r>
              <a:rPr lang="zh-CN" altLang="en-US" sz="2000" b="1" dirty="0">
                <a:solidFill>
                  <a:srgbClr val="333399"/>
                </a:solidFill>
                <a:latin typeface="Times New Roman" panose="02020603050405020304" pitchFamily="18" charset="0"/>
              </a:rPr>
              <a:t>模拟信号</a:t>
            </a:r>
            <a:r>
              <a:rPr lang="en-US" altLang="zh-CN" sz="2000" b="1" i="1" err="1">
                <a:solidFill>
                  <a:srgbClr val="333399"/>
                </a:solidFill>
                <a:latin typeface="Times New Roman" panose="02020603050405020304" pitchFamily="18" charset="0"/>
              </a:rPr>
              <a:t>x(t</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104451" name="Text Box 1072"/>
          <p:cNvSpPr txBox="1"/>
          <p:nvPr/>
        </p:nvSpPr>
        <p:spPr>
          <a:xfrm>
            <a:off x="287338" y="2940050"/>
            <a:ext cx="2228850" cy="366713"/>
          </a:xfrm>
          <a:prstGeom prst="rect">
            <a:avLst/>
          </a:prstGeom>
          <a:noFill/>
          <a:ln w="9525">
            <a:noFill/>
          </a:ln>
        </p:spPr>
        <p:txBody>
          <a:bodyPr>
            <a:spAutoFit/>
          </a:bodyPr>
          <a:p>
            <a:pPr algn="l" eaLnBrk="1" hangingPunct="1">
              <a:lnSpc>
                <a:spcPct val="90000"/>
              </a:lnSpc>
            </a:pPr>
            <a:r>
              <a:rPr lang="zh-CN" altLang="en-US" sz="2000" b="1" dirty="0">
                <a:solidFill>
                  <a:srgbClr val="333399"/>
                </a:solidFill>
                <a:latin typeface="Times New Roman" panose="02020603050405020304" pitchFamily="18" charset="0"/>
              </a:rPr>
              <a:t>采样信号</a:t>
            </a:r>
            <a:r>
              <a:rPr lang="en-US" altLang="zh-CN" sz="2000" b="1" i="1" err="1">
                <a:solidFill>
                  <a:srgbClr val="333399"/>
                </a:solidFill>
                <a:latin typeface="Times New Roman" panose="02020603050405020304" pitchFamily="18" charset="0"/>
              </a:rPr>
              <a:t>x</a:t>
            </a:r>
            <a:r>
              <a:rPr lang="en-US" altLang="zh-CN" sz="2000" b="1" i="1" baseline="-25000" err="1">
                <a:solidFill>
                  <a:srgbClr val="333399"/>
                </a:solidFill>
                <a:latin typeface="Times New Roman" panose="02020603050405020304" pitchFamily="18" charset="0"/>
              </a:rPr>
              <a:t>S</a:t>
            </a:r>
            <a:r>
              <a:rPr lang="en-US" altLang="zh-CN" sz="2000" b="1" i="1" err="1">
                <a:solidFill>
                  <a:srgbClr val="333399"/>
                </a:solidFill>
                <a:latin typeface="Times New Roman" panose="02020603050405020304" pitchFamily="18" charset="0"/>
              </a:rPr>
              <a:t>(nT</a:t>
            </a:r>
            <a:r>
              <a:rPr lang="en-US" altLang="zh-CN" sz="2000" b="1" i="1" baseline="-25000" err="1">
                <a:solidFill>
                  <a:srgbClr val="333399"/>
                </a:solidFill>
                <a:latin typeface="Times New Roman" panose="02020603050405020304" pitchFamily="18" charset="0"/>
              </a:rPr>
              <a:t>S</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sp>
        <p:nvSpPr>
          <p:cNvPr id="104452" name="Text Box 1073"/>
          <p:cNvSpPr txBox="1"/>
          <p:nvPr/>
        </p:nvSpPr>
        <p:spPr>
          <a:xfrm>
            <a:off x="287338" y="3946525"/>
            <a:ext cx="2124075" cy="366713"/>
          </a:xfrm>
          <a:prstGeom prst="rect">
            <a:avLst/>
          </a:prstGeom>
          <a:noFill/>
          <a:ln w="9525">
            <a:noFill/>
          </a:ln>
        </p:spPr>
        <p:txBody>
          <a:bodyPr>
            <a:spAutoFit/>
          </a:bodyPr>
          <a:p>
            <a:pPr algn="l" eaLnBrk="1" hangingPunct="1">
              <a:lnSpc>
                <a:spcPct val="90000"/>
              </a:lnSpc>
            </a:pPr>
            <a:r>
              <a:rPr lang="zh-CN" altLang="en-US" sz="2000" b="1" dirty="0">
                <a:solidFill>
                  <a:srgbClr val="333399"/>
                </a:solidFill>
                <a:latin typeface="Times New Roman" panose="02020603050405020304" pitchFamily="18" charset="0"/>
              </a:rPr>
              <a:t>量化信号</a:t>
            </a:r>
            <a:r>
              <a:rPr lang="en-US" altLang="zh-CN" sz="2000" b="1" i="1" err="1">
                <a:solidFill>
                  <a:srgbClr val="333399"/>
                </a:solidFill>
                <a:latin typeface="Times New Roman" panose="02020603050405020304" pitchFamily="18" charset="0"/>
              </a:rPr>
              <a:t>x</a:t>
            </a:r>
            <a:r>
              <a:rPr lang="en-US" altLang="zh-CN" sz="2000" b="1" i="1" baseline="-25000" err="1">
                <a:solidFill>
                  <a:srgbClr val="333399"/>
                </a:solidFill>
                <a:latin typeface="Times New Roman" panose="02020603050405020304" pitchFamily="18" charset="0"/>
              </a:rPr>
              <a:t>q</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i="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45682" name="Text Box 1074"/>
          <p:cNvSpPr txBox="1"/>
          <p:nvPr/>
        </p:nvSpPr>
        <p:spPr>
          <a:xfrm>
            <a:off x="287338" y="4978400"/>
            <a:ext cx="2155825" cy="366713"/>
          </a:xfrm>
          <a:prstGeom prst="rect">
            <a:avLst/>
          </a:prstGeom>
          <a:noFill/>
          <a:ln w="9525">
            <a:noFill/>
          </a:ln>
        </p:spPr>
        <p:txBody>
          <a:bodyPr>
            <a:spAutoFit/>
          </a:bodyPr>
          <a:p>
            <a:pPr algn="l" eaLnBrk="1" hangingPunct="1">
              <a:lnSpc>
                <a:spcPct val="90000"/>
              </a:lnSpc>
            </a:pPr>
            <a:r>
              <a:rPr lang="zh-CN" altLang="en-US" sz="2000" b="1" dirty="0">
                <a:solidFill>
                  <a:srgbClr val="333399"/>
                </a:solidFill>
                <a:latin typeface="Times New Roman" panose="02020603050405020304" pitchFamily="18" charset="0"/>
              </a:rPr>
              <a:t>数字信号</a:t>
            </a:r>
            <a:r>
              <a:rPr lang="en-US" altLang="zh-CN" sz="2000" b="1" i="1" err="1">
                <a:solidFill>
                  <a:srgbClr val="333399"/>
                </a:solidFill>
                <a:latin typeface="Times New Roman" panose="02020603050405020304" pitchFamily="18" charset="0"/>
              </a:rPr>
              <a:t>x</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45686" name="AutoShape 1078"/>
          <p:cNvSpPr/>
          <p:nvPr/>
        </p:nvSpPr>
        <p:spPr>
          <a:xfrm flipH="1">
            <a:off x="2992438" y="1905000"/>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2245687" name="AutoShape 1079"/>
          <p:cNvSpPr/>
          <p:nvPr/>
        </p:nvSpPr>
        <p:spPr>
          <a:xfrm flipH="1">
            <a:off x="2998788" y="2905125"/>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05" name="Group 1097"/>
          <p:cNvGrpSpPr/>
          <p:nvPr/>
        </p:nvGrpSpPr>
        <p:grpSpPr>
          <a:xfrm>
            <a:off x="2439988" y="2500313"/>
            <a:ext cx="1271587" cy="396875"/>
            <a:chOff x="1537" y="1319"/>
            <a:chExt cx="801" cy="250"/>
          </a:xfrm>
        </p:grpSpPr>
        <p:sp>
          <p:nvSpPr>
            <p:cNvPr id="104457" name="Rectangle 1076"/>
            <p:cNvSpPr/>
            <p:nvPr/>
          </p:nvSpPr>
          <p:spPr>
            <a:xfrm>
              <a:off x="1537" y="1319"/>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104458" name="Text Box 1080"/>
            <p:cNvSpPr txBox="1"/>
            <p:nvPr/>
          </p:nvSpPr>
          <p:spPr>
            <a:xfrm>
              <a:off x="1590" y="1342"/>
              <a:ext cx="696" cy="212"/>
            </a:xfrm>
            <a:prstGeom prst="rect">
              <a:avLst/>
            </a:prstGeom>
            <a:noFill/>
            <a:ln w="9525">
              <a:noFill/>
            </a:ln>
          </p:spPr>
          <p:txBody>
            <a:bodyPr wrap="none">
              <a:spAutoFit/>
            </a:bodyPr>
            <a:p>
              <a:pPr algn="ctr" eaLnBrk="1" hangingPunct="1"/>
              <a:r>
                <a:rPr lang="zh-CN" altLang="en-US" sz="1600" b="1" dirty="0">
                  <a:solidFill>
                    <a:srgbClr val="333399"/>
                  </a:solidFill>
                  <a:latin typeface="楷体_GB2312" pitchFamily="49" charset="-122"/>
                </a:rPr>
                <a:t>采样</a:t>
              </a:r>
              <a:r>
                <a:rPr lang="en-US" altLang="zh-CN" sz="1600" b="1">
                  <a:solidFill>
                    <a:srgbClr val="333399"/>
                  </a:solidFill>
                  <a:latin typeface="楷体_GB2312" pitchFamily="49" charset="-122"/>
                </a:rPr>
                <a:t>/</a:t>
              </a:r>
              <a:r>
                <a:rPr lang="zh-CN" altLang="en-US" sz="1600" b="1" dirty="0">
                  <a:solidFill>
                    <a:srgbClr val="333399"/>
                  </a:solidFill>
                  <a:latin typeface="楷体_GB2312" pitchFamily="49" charset="-122"/>
                </a:rPr>
                <a:t>保持</a:t>
              </a:r>
              <a:endParaRPr lang="zh-CN" altLang="en-US" sz="1600" b="1" dirty="0">
                <a:solidFill>
                  <a:srgbClr val="333399"/>
                </a:solidFill>
                <a:latin typeface="楷体_GB2312" pitchFamily="49" charset="-122"/>
              </a:endParaRPr>
            </a:p>
          </p:txBody>
        </p:sp>
      </p:grpSp>
      <p:grpSp>
        <p:nvGrpSpPr>
          <p:cNvPr id="2245755" name="Group 1147"/>
          <p:cNvGrpSpPr/>
          <p:nvPr/>
        </p:nvGrpSpPr>
        <p:grpSpPr>
          <a:xfrm>
            <a:off x="2420938" y="3513138"/>
            <a:ext cx="1271587" cy="396875"/>
            <a:chOff x="1525" y="1957"/>
            <a:chExt cx="801" cy="250"/>
          </a:xfrm>
        </p:grpSpPr>
        <p:sp>
          <p:nvSpPr>
            <p:cNvPr id="104460" name="Rectangle 1081"/>
            <p:cNvSpPr/>
            <p:nvPr/>
          </p:nvSpPr>
          <p:spPr>
            <a:xfrm>
              <a:off x="1525" y="1957"/>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104461" name="Text Box 1082"/>
            <p:cNvSpPr txBox="1"/>
            <p:nvPr/>
          </p:nvSpPr>
          <p:spPr>
            <a:xfrm>
              <a:off x="1738" y="1980"/>
              <a:ext cx="415"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量化</a:t>
              </a:r>
              <a:endParaRPr lang="zh-CN" altLang="en-US" sz="1600" b="1" dirty="0">
                <a:solidFill>
                  <a:srgbClr val="333399"/>
                </a:solidFill>
                <a:latin typeface="楷体_GB2312" pitchFamily="49" charset="-122"/>
              </a:endParaRPr>
            </a:p>
          </p:txBody>
        </p:sp>
      </p:grpSp>
      <p:sp>
        <p:nvSpPr>
          <p:cNvPr id="2245693" name="AutoShape 1085"/>
          <p:cNvSpPr/>
          <p:nvPr/>
        </p:nvSpPr>
        <p:spPr>
          <a:xfrm flipH="1">
            <a:off x="2978150" y="3917950"/>
            <a:ext cx="55563" cy="517525"/>
          </a:xfrm>
          <a:prstGeom prst="downArrow">
            <a:avLst>
              <a:gd name="adj1" fmla="val 50000"/>
              <a:gd name="adj2" fmla="val 232855"/>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56" name="Group 1148"/>
          <p:cNvGrpSpPr/>
          <p:nvPr/>
        </p:nvGrpSpPr>
        <p:grpSpPr>
          <a:xfrm>
            <a:off x="2400300" y="4513263"/>
            <a:ext cx="1271588" cy="396875"/>
            <a:chOff x="1512" y="2587"/>
            <a:chExt cx="801" cy="250"/>
          </a:xfrm>
        </p:grpSpPr>
        <p:sp>
          <p:nvSpPr>
            <p:cNvPr id="104464" name="Rectangle 1086"/>
            <p:cNvSpPr/>
            <p:nvPr/>
          </p:nvSpPr>
          <p:spPr>
            <a:xfrm>
              <a:off x="1512" y="2587"/>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104465" name="Text Box 1087"/>
            <p:cNvSpPr txBox="1"/>
            <p:nvPr/>
          </p:nvSpPr>
          <p:spPr>
            <a:xfrm>
              <a:off x="1724" y="2610"/>
              <a:ext cx="407"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编码</a:t>
              </a:r>
              <a:endParaRPr lang="zh-CN" altLang="en-US" sz="1600" b="1" dirty="0">
                <a:solidFill>
                  <a:srgbClr val="333399"/>
                </a:solidFill>
                <a:latin typeface="楷体_GB2312" pitchFamily="49" charset="-122"/>
              </a:endParaRPr>
            </a:p>
          </p:txBody>
        </p:sp>
      </p:grpSp>
      <p:sp>
        <p:nvSpPr>
          <p:cNvPr id="2245696" name="AutoShape 1088"/>
          <p:cNvSpPr/>
          <p:nvPr/>
        </p:nvSpPr>
        <p:spPr>
          <a:xfrm flipH="1">
            <a:off x="2970213" y="4918075"/>
            <a:ext cx="55562" cy="517525"/>
          </a:xfrm>
          <a:prstGeom prst="downArrow">
            <a:avLst>
              <a:gd name="adj1" fmla="val 50000"/>
              <a:gd name="adj2" fmla="val 232859"/>
            </a:avLst>
          </a:prstGeom>
          <a:solidFill>
            <a:schemeClr val="accent1"/>
          </a:solidFill>
          <a:ln w="9525" cap="flat" cmpd="sng">
            <a:solidFill>
              <a:srgbClr val="3333FF"/>
            </a:solidFill>
            <a:prstDash val="solid"/>
            <a:miter/>
            <a:headEnd type="none" w="med" len="med"/>
            <a:tailEnd type="none" w="med" len="med"/>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2245757" name="Group 1149"/>
          <p:cNvGrpSpPr/>
          <p:nvPr/>
        </p:nvGrpSpPr>
        <p:grpSpPr>
          <a:xfrm>
            <a:off x="2366963" y="5516563"/>
            <a:ext cx="1271587" cy="396875"/>
            <a:chOff x="1491" y="3219"/>
            <a:chExt cx="801" cy="250"/>
          </a:xfrm>
        </p:grpSpPr>
        <p:sp>
          <p:nvSpPr>
            <p:cNvPr id="104468" name="Rectangle 1089"/>
            <p:cNvSpPr/>
            <p:nvPr/>
          </p:nvSpPr>
          <p:spPr>
            <a:xfrm>
              <a:off x="1491" y="3219"/>
              <a:ext cx="801" cy="250"/>
            </a:xfrm>
            <a:prstGeom prst="rect">
              <a:avLst/>
            </a:prstGeom>
            <a:solidFill>
              <a:schemeClr val="bg1"/>
            </a:solidFill>
            <a:ln w="9525"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algn="ctr" eaLnBrk="1" hangingPunct="1"/>
              <a:endParaRPr lang="zh-CN" altLang="en-US" b="1" dirty="0">
                <a:solidFill>
                  <a:srgbClr val="333399"/>
                </a:solidFill>
                <a:latin typeface="楷体_GB2312" pitchFamily="49" charset="-122"/>
              </a:endParaRPr>
            </a:p>
          </p:txBody>
        </p:sp>
        <p:sp>
          <p:nvSpPr>
            <p:cNvPr id="104469" name="Text Box 1090"/>
            <p:cNvSpPr txBox="1"/>
            <p:nvPr/>
          </p:nvSpPr>
          <p:spPr>
            <a:xfrm>
              <a:off x="1646" y="3241"/>
              <a:ext cx="537" cy="212"/>
            </a:xfrm>
            <a:prstGeom prst="rect">
              <a:avLst/>
            </a:prstGeom>
            <a:noFill/>
            <a:ln w="9525">
              <a:noFill/>
            </a:ln>
          </p:spPr>
          <p:txBody>
            <a:bodyPr>
              <a:spAutoFit/>
            </a:bodyPr>
            <a:p>
              <a:pPr algn="ctr" eaLnBrk="1" hangingPunct="1"/>
              <a:r>
                <a:rPr lang="zh-CN" altLang="en-US" sz="1600" b="1" dirty="0">
                  <a:solidFill>
                    <a:srgbClr val="333399"/>
                  </a:solidFill>
                  <a:latin typeface="楷体_GB2312" pitchFamily="49" charset="-122"/>
                </a:rPr>
                <a:t>计算机</a:t>
              </a:r>
              <a:endParaRPr lang="zh-CN" altLang="en-US" sz="1600" b="1" dirty="0">
                <a:solidFill>
                  <a:srgbClr val="333399"/>
                </a:solidFill>
                <a:latin typeface="楷体_GB2312" pitchFamily="49" charset="-122"/>
              </a:endParaRPr>
            </a:p>
          </p:txBody>
        </p:sp>
      </p:grpSp>
      <p:sp>
        <p:nvSpPr>
          <p:cNvPr id="2245700" name="Line 1092"/>
          <p:cNvSpPr/>
          <p:nvPr/>
        </p:nvSpPr>
        <p:spPr>
          <a:xfrm>
            <a:off x="3922713" y="2817813"/>
            <a:ext cx="874712" cy="292100"/>
          </a:xfrm>
          <a:prstGeom prst="line">
            <a:avLst/>
          </a:prstGeom>
          <a:ln w="12700" cap="flat" cmpd="sng">
            <a:solidFill>
              <a:srgbClr val="3333FF"/>
            </a:solidFill>
            <a:prstDash val="solid"/>
            <a:headEnd type="none" w="med" len="med"/>
            <a:tailEnd type="arrow" w="sm" len="lg"/>
          </a:ln>
        </p:spPr>
      </p:sp>
      <p:sp>
        <p:nvSpPr>
          <p:cNvPr id="2245701" name="Line 1093"/>
          <p:cNvSpPr/>
          <p:nvPr/>
        </p:nvSpPr>
        <p:spPr>
          <a:xfrm>
            <a:off x="3836988" y="3857625"/>
            <a:ext cx="874712" cy="292100"/>
          </a:xfrm>
          <a:prstGeom prst="line">
            <a:avLst/>
          </a:prstGeom>
          <a:ln w="12700" cap="flat" cmpd="sng">
            <a:solidFill>
              <a:srgbClr val="3333FF"/>
            </a:solidFill>
            <a:prstDash val="solid"/>
            <a:headEnd type="none" w="med" len="med"/>
            <a:tailEnd type="arrow" w="sm" len="lg"/>
          </a:ln>
        </p:spPr>
      </p:sp>
      <p:sp>
        <p:nvSpPr>
          <p:cNvPr id="2245702" name="Line 1094"/>
          <p:cNvSpPr/>
          <p:nvPr/>
        </p:nvSpPr>
        <p:spPr>
          <a:xfrm>
            <a:off x="3849688" y="4878388"/>
            <a:ext cx="874712" cy="292100"/>
          </a:xfrm>
          <a:prstGeom prst="line">
            <a:avLst/>
          </a:prstGeom>
          <a:ln w="12700" cap="flat" cmpd="sng">
            <a:solidFill>
              <a:srgbClr val="3333FF"/>
            </a:solidFill>
            <a:prstDash val="solid"/>
            <a:headEnd type="none" w="med" len="med"/>
            <a:tailEnd type="arrow" w="sm" len="lg"/>
          </a:ln>
        </p:spPr>
      </p:sp>
      <p:grpSp>
        <p:nvGrpSpPr>
          <p:cNvPr id="104473" name="组合 104472"/>
          <p:cNvGrpSpPr/>
          <p:nvPr/>
        </p:nvGrpSpPr>
        <p:grpSpPr>
          <a:xfrm>
            <a:off x="5110163" y="5076825"/>
            <a:ext cx="2978150" cy="1089025"/>
            <a:chOff x="3219" y="3198"/>
            <a:chExt cx="1876" cy="686"/>
          </a:xfrm>
        </p:grpSpPr>
        <p:sp>
          <p:nvSpPr>
            <p:cNvPr id="2245747" name="Line 1139"/>
            <p:cNvSpPr/>
            <p:nvPr/>
          </p:nvSpPr>
          <p:spPr>
            <a:xfrm>
              <a:off x="3606" y="3795"/>
              <a:ext cx="1344" cy="0"/>
            </a:xfrm>
            <a:prstGeom prst="line">
              <a:avLst/>
            </a:prstGeom>
            <a:ln w="9525" cap="flat" cmpd="sng">
              <a:solidFill>
                <a:srgbClr val="3333FF"/>
              </a:solidFill>
              <a:prstDash val="solid"/>
              <a:headEnd type="none" w="med" len="med"/>
              <a:tailEnd type="stealth" w="sm" len="lg"/>
            </a:ln>
          </p:spPr>
        </p:sp>
        <p:sp>
          <p:nvSpPr>
            <p:cNvPr id="2245748" name="Line 1140"/>
            <p:cNvSpPr/>
            <p:nvPr/>
          </p:nvSpPr>
          <p:spPr>
            <a:xfrm flipV="1">
              <a:off x="3606" y="3270"/>
              <a:ext cx="0" cy="525"/>
            </a:xfrm>
            <a:prstGeom prst="line">
              <a:avLst/>
            </a:prstGeom>
            <a:ln w="9525" cap="flat" cmpd="sng">
              <a:solidFill>
                <a:srgbClr val="3333FF"/>
              </a:solidFill>
              <a:prstDash val="solid"/>
              <a:headEnd type="none" w="med" len="med"/>
              <a:tailEnd type="stealth" w="sm" len="lg"/>
            </a:ln>
          </p:spPr>
        </p:sp>
        <p:sp>
          <p:nvSpPr>
            <p:cNvPr id="2245758" name="Text Box 1150"/>
            <p:cNvSpPr txBox="1"/>
            <p:nvPr/>
          </p:nvSpPr>
          <p:spPr>
            <a:xfrm>
              <a:off x="3219" y="3198"/>
              <a:ext cx="503" cy="214"/>
            </a:xfrm>
            <a:prstGeom prst="rect">
              <a:avLst/>
            </a:prstGeom>
            <a:noFill/>
            <a:ln w="9525">
              <a:noFill/>
            </a:ln>
          </p:spPr>
          <p:txBody>
            <a:bodyPr>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59" name="Text Box 1151"/>
            <p:cNvSpPr txBox="1"/>
            <p:nvPr/>
          </p:nvSpPr>
          <p:spPr>
            <a:xfrm>
              <a:off x="4942" y="3670"/>
              <a:ext cx="153" cy="214"/>
            </a:xfrm>
            <a:prstGeom prst="rect">
              <a:avLst/>
            </a:prstGeom>
            <a:noFill/>
            <a:ln w="9525">
              <a:noFill/>
            </a:ln>
          </p:spPr>
          <p:txBody>
            <a:bodyPr>
              <a:spAutoFit/>
            </a:bodyPr>
            <a:p>
              <a:pPr algn="l" eaLnBrk="1" hangingPunct="1">
                <a:lnSpc>
                  <a:spcPct val="90000"/>
                </a:lnSpc>
              </a:pPr>
              <a:r>
                <a:rPr lang="en-US" altLang="zh-CN" sz="1800" b="1" i="1">
                  <a:solidFill>
                    <a:srgbClr val="333399"/>
                  </a:solidFill>
                  <a:latin typeface="Times New Roman" panose="02020603050405020304" pitchFamily="18" charset="0"/>
                </a:rPr>
                <a:t>n</a:t>
              </a:r>
              <a:endParaRPr lang="en-US" altLang="zh-CN" sz="1800" b="1" i="1">
                <a:solidFill>
                  <a:srgbClr val="333399"/>
                </a:solidFill>
                <a:latin typeface="Times New Roman" panose="02020603050405020304" pitchFamily="18" charset="0"/>
              </a:endParaRPr>
            </a:p>
          </p:txBody>
        </p:sp>
        <p:sp>
          <p:nvSpPr>
            <p:cNvPr id="2245760" name="Line 1152"/>
            <p:cNvSpPr/>
            <p:nvPr/>
          </p:nvSpPr>
          <p:spPr>
            <a:xfrm flipV="1">
              <a:off x="3790" y="3745"/>
              <a:ext cx="0" cy="50"/>
            </a:xfrm>
            <a:prstGeom prst="line">
              <a:avLst/>
            </a:prstGeom>
            <a:ln w="9525" cap="flat" cmpd="sng">
              <a:solidFill>
                <a:srgbClr val="3333FF"/>
              </a:solidFill>
              <a:prstDash val="solid"/>
              <a:headEnd type="none" w="med" len="med"/>
              <a:tailEnd type="none" w="med" len="med"/>
            </a:ln>
          </p:spPr>
        </p:sp>
        <p:sp>
          <p:nvSpPr>
            <p:cNvPr id="2245761" name="Line 1153"/>
            <p:cNvSpPr/>
            <p:nvPr/>
          </p:nvSpPr>
          <p:spPr>
            <a:xfrm flipV="1">
              <a:off x="3999" y="3745"/>
              <a:ext cx="0" cy="50"/>
            </a:xfrm>
            <a:prstGeom prst="line">
              <a:avLst/>
            </a:prstGeom>
            <a:ln w="9525" cap="flat" cmpd="sng">
              <a:solidFill>
                <a:srgbClr val="3333FF"/>
              </a:solidFill>
              <a:prstDash val="solid"/>
              <a:headEnd type="none" w="med" len="med"/>
              <a:tailEnd type="none" w="med" len="med"/>
            </a:ln>
          </p:spPr>
        </p:sp>
        <p:sp>
          <p:nvSpPr>
            <p:cNvPr id="2245762" name="Line 1154"/>
            <p:cNvSpPr/>
            <p:nvPr/>
          </p:nvSpPr>
          <p:spPr>
            <a:xfrm flipV="1">
              <a:off x="4182" y="3745"/>
              <a:ext cx="0" cy="50"/>
            </a:xfrm>
            <a:prstGeom prst="line">
              <a:avLst/>
            </a:prstGeom>
            <a:ln w="9525" cap="flat" cmpd="sng">
              <a:solidFill>
                <a:srgbClr val="3333FF"/>
              </a:solidFill>
              <a:prstDash val="solid"/>
              <a:headEnd type="none" w="med" len="med"/>
              <a:tailEnd type="none" w="med" len="med"/>
            </a:ln>
          </p:spPr>
        </p:sp>
        <p:sp>
          <p:nvSpPr>
            <p:cNvPr id="2245763" name="Line 1155"/>
            <p:cNvSpPr/>
            <p:nvPr/>
          </p:nvSpPr>
          <p:spPr>
            <a:xfrm flipV="1">
              <a:off x="4391" y="3745"/>
              <a:ext cx="0" cy="50"/>
            </a:xfrm>
            <a:prstGeom prst="line">
              <a:avLst/>
            </a:prstGeom>
            <a:ln w="9525" cap="flat" cmpd="sng">
              <a:solidFill>
                <a:srgbClr val="3333FF"/>
              </a:solidFill>
              <a:prstDash val="solid"/>
              <a:headEnd type="none" w="med" len="med"/>
              <a:tailEnd type="none" w="med" len="med"/>
            </a:ln>
          </p:spPr>
        </p:sp>
        <p:sp>
          <p:nvSpPr>
            <p:cNvPr id="2245764" name="Line 1156"/>
            <p:cNvSpPr/>
            <p:nvPr/>
          </p:nvSpPr>
          <p:spPr>
            <a:xfrm flipV="1">
              <a:off x="4558" y="3754"/>
              <a:ext cx="0" cy="41"/>
            </a:xfrm>
            <a:prstGeom prst="line">
              <a:avLst/>
            </a:prstGeom>
            <a:ln w="9525" cap="flat" cmpd="sng">
              <a:solidFill>
                <a:srgbClr val="3333FF"/>
              </a:solidFill>
              <a:prstDash val="solid"/>
              <a:headEnd type="none" w="med" len="med"/>
              <a:tailEnd type="none" w="med" len="med"/>
            </a:ln>
          </p:spPr>
        </p:sp>
        <p:sp>
          <p:nvSpPr>
            <p:cNvPr id="2245765" name="Line 1157"/>
            <p:cNvSpPr/>
            <p:nvPr/>
          </p:nvSpPr>
          <p:spPr>
            <a:xfrm flipV="1">
              <a:off x="4733" y="3754"/>
              <a:ext cx="0" cy="41"/>
            </a:xfrm>
            <a:prstGeom prst="line">
              <a:avLst/>
            </a:prstGeom>
            <a:ln w="9525" cap="flat" cmpd="sng">
              <a:solidFill>
                <a:srgbClr val="3333FF"/>
              </a:solidFill>
              <a:prstDash val="solid"/>
              <a:headEnd type="none" w="med" len="med"/>
              <a:tailEnd type="none" w="med" len="med"/>
            </a:ln>
          </p:spPr>
        </p:sp>
        <p:sp>
          <p:nvSpPr>
            <p:cNvPr id="2245766" name="Text Box 1158"/>
            <p:cNvSpPr txBox="1"/>
            <p:nvPr/>
          </p:nvSpPr>
          <p:spPr>
            <a:xfrm rot="-5400000">
              <a:off x="3652" y="3542"/>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001</a:t>
              </a:r>
              <a:endParaRPr lang="en-US" altLang="zh-CN" sz="1400" b="1">
                <a:solidFill>
                  <a:srgbClr val="333399"/>
                </a:solidFill>
                <a:latin typeface="Times New Roman" panose="02020603050405020304" pitchFamily="18" charset="0"/>
              </a:endParaRPr>
            </a:p>
          </p:txBody>
        </p:sp>
        <p:sp>
          <p:nvSpPr>
            <p:cNvPr id="2245767" name="Text Box 1159"/>
            <p:cNvSpPr txBox="1"/>
            <p:nvPr/>
          </p:nvSpPr>
          <p:spPr>
            <a:xfrm rot="-5400000">
              <a:off x="3858"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011</a:t>
              </a:r>
              <a:endParaRPr lang="en-US" altLang="zh-CN" sz="1400" b="1">
                <a:solidFill>
                  <a:srgbClr val="333399"/>
                </a:solidFill>
                <a:latin typeface="Times New Roman" panose="02020603050405020304" pitchFamily="18" charset="0"/>
              </a:endParaRPr>
            </a:p>
          </p:txBody>
        </p:sp>
        <p:sp>
          <p:nvSpPr>
            <p:cNvPr id="2245768" name="Text Box 1160"/>
            <p:cNvSpPr txBox="1"/>
            <p:nvPr/>
          </p:nvSpPr>
          <p:spPr>
            <a:xfrm rot="-5400000">
              <a:off x="4042"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100</a:t>
              </a:r>
              <a:endParaRPr lang="en-US" altLang="zh-CN" sz="1400" b="1">
                <a:solidFill>
                  <a:srgbClr val="333399"/>
                </a:solidFill>
                <a:latin typeface="Times New Roman" panose="02020603050405020304" pitchFamily="18" charset="0"/>
              </a:endParaRPr>
            </a:p>
          </p:txBody>
        </p:sp>
        <p:sp>
          <p:nvSpPr>
            <p:cNvPr id="2245769" name="Text Box 1161"/>
            <p:cNvSpPr txBox="1"/>
            <p:nvPr/>
          </p:nvSpPr>
          <p:spPr>
            <a:xfrm rot="-5400000">
              <a:off x="4250"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010</a:t>
              </a:r>
              <a:endParaRPr lang="en-US" altLang="zh-CN" sz="1400" b="1">
                <a:solidFill>
                  <a:srgbClr val="333399"/>
                </a:solidFill>
                <a:latin typeface="Times New Roman" panose="02020603050405020304" pitchFamily="18" charset="0"/>
              </a:endParaRPr>
            </a:p>
          </p:txBody>
        </p:sp>
        <p:sp>
          <p:nvSpPr>
            <p:cNvPr id="2245770" name="Text Box 1162"/>
            <p:cNvSpPr txBox="1"/>
            <p:nvPr/>
          </p:nvSpPr>
          <p:spPr>
            <a:xfrm rot="-5400000">
              <a:off x="4423"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010</a:t>
              </a:r>
              <a:endParaRPr lang="en-US" altLang="zh-CN" sz="1400" b="1">
                <a:solidFill>
                  <a:srgbClr val="333399"/>
                </a:solidFill>
                <a:latin typeface="Times New Roman" panose="02020603050405020304" pitchFamily="18" charset="0"/>
              </a:endParaRPr>
            </a:p>
          </p:txBody>
        </p:sp>
        <p:sp>
          <p:nvSpPr>
            <p:cNvPr id="2245771" name="Text Box 1163"/>
            <p:cNvSpPr txBox="1"/>
            <p:nvPr/>
          </p:nvSpPr>
          <p:spPr>
            <a:xfrm rot="-5400000">
              <a:off x="4599" y="3531"/>
              <a:ext cx="284"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011</a:t>
              </a:r>
              <a:endParaRPr lang="en-US" altLang="zh-CN" sz="1400" b="1">
                <a:solidFill>
                  <a:srgbClr val="333399"/>
                </a:solidFill>
                <a:latin typeface="Times New Roman" panose="02020603050405020304" pitchFamily="18" charset="0"/>
              </a:endParaRPr>
            </a:p>
          </p:txBody>
        </p:sp>
      </p:grpSp>
      <p:grpSp>
        <p:nvGrpSpPr>
          <p:cNvPr id="104490" name="组合 104489"/>
          <p:cNvGrpSpPr/>
          <p:nvPr/>
        </p:nvGrpSpPr>
        <p:grpSpPr>
          <a:xfrm>
            <a:off x="5214938" y="1084263"/>
            <a:ext cx="2898775" cy="1370012"/>
            <a:chOff x="3285" y="683"/>
            <a:chExt cx="1826" cy="863"/>
          </a:xfrm>
        </p:grpSpPr>
        <p:sp>
          <p:nvSpPr>
            <p:cNvPr id="2245713" name="Line 1105"/>
            <p:cNvSpPr/>
            <p:nvPr/>
          </p:nvSpPr>
          <p:spPr>
            <a:xfrm>
              <a:off x="3606" y="1441"/>
              <a:ext cx="1336" cy="0"/>
            </a:xfrm>
            <a:prstGeom prst="line">
              <a:avLst/>
            </a:prstGeom>
            <a:ln w="9525" cap="flat" cmpd="sng">
              <a:solidFill>
                <a:srgbClr val="3333FF"/>
              </a:solidFill>
              <a:prstDash val="solid"/>
              <a:headEnd type="none" w="med" len="med"/>
              <a:tailEnd type="stealth" w="sm" len="lg"/>
            </a:ln>
          </p:spPr>
        </p:sp>
        <p:sp>
          <p:nvSpPr>
            <p:cNvPr id="2245714" name="Line 1106"/>
            <p:cNvSpPr/>
            <p:nvPr/>
          </p:nvSpPr>
          <p:spPr>
            <a:xfrm flipV="1">
              <a:off x="3606" y="765"/>
              <a:ext cx="0" cy="676"/>
            </a:xfrm>
            <a:prstGeom prst="line">
              <a:avLst/>
            </a:prstGeom>
            <a:ln w="9525" cap="flat" cmpd="sng">
              <a:solidFill>
                <a:srgbClr val="3333FF"/>
              </a:solidFill>
              <a:prstDash val="solid"/>
              <a:headEnd type="none" w="med" len="med"/>
              <a:tailEnd type="stealth" w="sm" len="lg"/>
            </a:ln>
          </p:spPr>
        </p:sp>
        <p:sp>
          <p:nvSpPr>
            <p:cNvPr id="2245749" name="Text Box 1141"/>
            <p:cNvSpPr txBox="1"/>
            <p:nvPr/>
          </p:nvSpPr>
          <p:spPr>
            <a:xfrm>
              <a:off x="4923" y="1315"/>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0" name="Text Box 1142"/>
            <p:cNvSpPr txBox="1"/>
            <p:nvPr/>
          </p:nvSpPr>
          <p:spPr>
            <a:xfrm>
              <a:off x="3285" y="683"/>
              <a:ext cx="324"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t</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3" name="Freeform 1165"/>
            <p:cNvSpPr/>
            <p:nvPr/>
          </p:nvSpPr>
          <p:spPr>
            <a:xfrm>
              <a:off x="3706" y="945"/>
              <a:ext cx="1110" cy="437"/>
            </a:xfrm>
            <a:custGeom>
              <a:avLst/>
              <a:gdLst/>
              <a:ahLst/>
              <a:cxnLst>
                <a:cxn ang="0">
                  <a:pos x="0" y="1191264914"/>
                </a:cxn>
                <a:cxn ang="0">
                  <a:pos x="915521288" y="182818588"/>
                </a:cxn>
                <a:cxn ang="0">
                  <a:pos x="1137707744" y="85511671"/>
                </a:cxn>
                <a:cxn ang="0">
                  <a:pos x="1317064909" y="109100446"/>
                </a:cxn>
                <a:cxn ang="0">
                  <a:pos x="1608852848" y="330251438"/>
                </a:cxn>
                <a:cxn ang="0">
                  <a:pos x="1876550231" y="527813655"/>
                </a:cxn>
                <a:cxn ang="0">
                  <a:pos x="2144245978" y="651657730"/>
                </a:cxn>
                <a:cxn ang="0">
                  <a:pos x="2147483647" y="651657730"/>
                </a:cxn>
                <a:cxn ang="0">
                  <a:pos x="2147483647" y="601530080"/>
                </a:cxn>
                <a:cxn ang="0">
                  <a:pos x="2147483647" y="527813655"/>
                </a:cxn>
                <a:cxn ang="0">
                  <a:pos x="2147483647" y="430506738"/>
                </a:cxn>
                <a:cxn ang="0">
                  <a:pos x="2147483647" y="3066626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grpSp>
      <p:grpSp>
        <p:nvGrpSpPr>
          <p:cNvPr id="104496" name="组合 104495"/>
          <p:cNvGrpSpPr/>
          <p:nvPr/>
        </p:nvGrpSpPr>
        <p:grpSpPr>
          <a:xfrm>
            <a:off x="4846638" y="3727450"/>
            <a:ext cx="3265487" cy="1457325"/>
            <a:chOff x="3053" y="2348"/>
            <a:chExt cx="2057" cy="918"/>
          </a:xfrm>
        </p:grpSpPr>
        <p:sp>
          <p:nvSpPr>
            <p:cNvPr id="2245734" name="Line 1126"/>
            <p:cNvSpPr/>
            <p:nvPr/>
          </p:nvSpPr>
          <p:spPr>
            <a:xfrm>
              <a:off x="3606" y="3094"/>
              <a:ext cx="1336" cy="0"/>
            </a:xfrm>
            <a:prstGeom prst="line">
              <a:avLst/>
            </a:prstGeom>
            <a:ln w="9525" cap="flat" cmpd="sng">
              <a:solidFill>
                <a:srgbClr val="3333FF"/>
              </a:solidFill>
              <a:prstDash val="solid"/>
              <a:headEnd type="none" w="med" len="med"/>
              <a:tailEnd type="stealth" w="sm" len="lg"/>
            </a:ln>
          </p:spPr>
        </p:sp>
        <p:sp>
          <p:nvSpPr>
            <p:cNvPr id="2245735" name="Line 1127"/>
            <p:cNvSpPr/>
            <p:nvPr/>
          </p:nvSpPr>
          <p:spPr>
            <a:xfrm flipV="1">
              <a:off x="3606" y="2410"/>
              <a:ext cx="0" cy="684"/>
            </a:xfrm>
            <a:prstGeom prst="line">
              <a:avLst/>
            </a:prstGeom>
            <a:ln w="9525" cap="flat" cmpd="sng">
              <a:solidFill>
                <a:srgbClr val="3333FF"/>
              </a:solidFill>
              <a:prstDash val="solid"/>
              <a:headEnd type="none" w="med" len="med"/>
              <a:tailEnd type="stealth" w="sm" len="lg"/>
            </a:ln>
          </p:spPr>
        </p:sp>
        <p:sp>
          <p:nvSpPr>
            <p:cNvPr id="2245736" name="Freeform 1128"/>
            <p:cNvSpPr/>
            <p:nvPr/>
          </p:nvSpPr>
          <p:spPr>
            <a:xfrm>
              <a:off x="3685" y="2652"/>
              <a:ext cx="1077" cy="404"/>
            </a:xfrm>
            <a:custGeom>
              <a:avLst/>
              <a:gdLst/>
              <a:ahLst/>
              <a:cxnLst>
                <a:cxn ang="0">
                  <a:pos x="0" y="1018143125"/>
                </a:cxn>
                <a:cxn ang="0">
                  <a:pos x="861893185" y="156249688"/>
                </a:cxn>
                <a:cxn ang="0">
                  <a:pos x="1071065299" y="73085325"/>
                </a:cxn>
                <a:cxn ang="0">
                  <a:pos x="1239916512" y="93246575"/>
                </a:cxn>
                <a:cxn ang="0">
                  <a:pos x="1514612670" y="282257500"/>
                </a:cxn>
                <a:cxn ang="0">
                  <a:pos x="1766628221" y="451108763"/>
                </a:cxn>
                <a:cxn ang="0">
                  <a:pos x="2018643772" y="556955325"/>
                </a:cxn>
                <a:cxn ang="0">
                  <a:pos x="2147483647" y="556955325"/>
                </a:cxn>
                <a:cxn ang="0">
                  <a:pos x="2147483647" y="514111875"/>
                </a:cxn>
                <a:cxn ang="0">
                  <a:pos x="2147483647" y="451108763"/>
                </a:cxn>
                <a:cxn ang="0">
                  <a:pos x="2147483647" y="367942813"/>
                </a:cxn>
                <a:cxn ang="0">
                  <a:pos x="2147483647" y="262096250"/>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5737" name="Line 1129"/>
            <p:cNvSpPr/>
            <p:nvPr/>
          </p:nvSpPr>
          <p:spPr>
            <a:xfrm>
              <a:off x="3606" y="3002"/>
              <a:ext cx="1236" cy="0"/>
            </a:xfrm>
            <a:prstGeom prst="line">
              <a:avLst/>
            </a:prstGeom>
            <a:ln w="9525" cap="flat" cmpd="sng">
              <a:solidFill>
                <a:srgbClr val="006666"/>
              </a:solidFill>
              <a:prstDash val="sysDot"/>
              <a:headEnd type="none" w="med" len="med"/>
              <a:tailEnd type="none" w="med" len="med"/>
            </a:ln>
          </p:spPr>
        </p:sp>
        <p:sp>
          <p:nvSpPr>
            <p:cNvPr id="2245738" name="Line 1130"/>
            <p:cNvSpPr/>
            <p:nvPr/>
          </p:nvSpPr>
          <p:spPr>
            <a:xfrm>
              <a:off x="3606" y="2902"/>
              <a:ext cx="1236" cy="0"/>
            </a:xfrm>
            <a:prstGeom prst="line">
              <a:avLst/>
            </a:prstGeom>
            <a:ln w="9525" cap="flat" cmpd="sng">
              <a:solidFill>
                <a:srgbClr val="006666"/>
              </a:solidFill>
              <a:prstDash val="sysDot"/>
              <a:headEnd type="none" w="med" len="med"/>
              <a:tailEnd type="none" w="med" len="med"/>
            </a:ln>
          </p:spPr>
        </p:sp>
        <p:sp>
          <p:nvSpPr>
            <p:cNvPr id="2245739" name="Line 1131"/>
            <p:cNvSpPr/>
            <p:nvPr/>
          </p:nvSpPr>
          <p:spPr>
            <a:xfrm>
              <a:off x="3606" y="2810"/>
              <a:ext cx="1236" cy="0"/>
            </a:xfrm>
            <a:prstGeom prst="line">
              <a:avLst/>
            </a:prstGeom>
            <a:ln w="9525" cap="flat" cmpd="sng">
              <a:solidFill>
                <a:srgbClr val="006666"/>
              </a:solidFill>
              <a:prstDash val="sysDot"/>
              <a:headEnd type="none" w="med" len="med"/>
              <a:tailEnd type="none" w="med" len="med"/>
            </a:ln>
          </p:spPr>
        </p:sp>
        <p:sp>
          <p:nvSpPr>
            <p:cNvPr id="2245740" name="Line 1132"/>
            <p:cNvSpPr/>
            <p:nvPr/>
          </p:nvSpPr>
          <p:spPr>
            <a:xfrm>
              <a:off x="3606" y="2719"/>
              <a:ext cx="1244" cy="0"/>
            </a:xfrm>
            <a:prstGeom prst="line">
              <a:avLst/>
            </a:prstGeom>
            <a:ln w="9525" cap="flat" cmpd="sng">
              <a:solidFill>
                <a:srgbClr val="006666"/>
              </a:solidFill>
              <a:prstDash val="sysDot"/>
              <a:headEnd type="none" w="med" len="med"/>
              <a:tailEnd type="none" w="med" len="med"/>
            </a:ln>
          </p:spPr>
        </p:sp>
        <p:sp>
          <p:nvSpPr>
            <p:cNvPr id="2245741" name="Line 1133"/>
            <p:cNvSpPr/>
            <p:nvPr/>
          </p:nvSpPr>
          <p:spPr>
            <a:xfrm flipV="1">
              <a:off x="3807" y="2927"/>
              <a:ext cx="0" cy="167"/>
            </a:xfrm>
            <a:prstGeom prst="line">
              <a:avLst/>
            </a:prstGeom>
            <a:ln w="9525" cap="flat" cmpd="sng">
              <a:solidFill>
                <a:srgbClr val="CC00CC"/>
              </a:solidFill>
              <a:prstDash val="solid"/>
              <a:headEnd type="none" w="med" len="med"/>
              <a:tailEnd type="none" w="med" len="med"/>
            </a:ln>
          </p:spPr>
        </p:sp>
        <p:sp>
          <p:nvSpPr>
            <p:cNvPr id="2245742" name="Line 1134"/>
            <p:cNvSpPr/>
            <p:nvPr/>
          </p:nvSpPr>
          <p:spPr>
            <a:xfrm flipV="1">
              <a:off x="3990" y="2752"/>
              <a:ext cx="0" cy="342"/>
            </a:xfrm>
            <a:prstGeom prst="line">
              <a:avLst/>
            </a:prstGeom>
            <a:ln w="9525" cap="flat" cmpd="sng">
              <a:solidFill>
                <a:srgbClr val="CC00CC"/>
              </a:solidFill>
              <a:prstDash val="solid"/>
              <a:headEnd type="none" w="med" len="med"/>
              <a:tailEnd type="none" w="med" len="med"/>
            </a:ln>
          </p:spPr>
        </p:sp>
        <p:sp>
          <p:nvSpPr>
            <p:cNvPr id="2245743" name="Line 1135"/>
            <p:cNvSpPr/>
            <p:nvPr/>
          </p:nvSpPr>
          <p:spPr>
            <a:xfrm flipV="1">
              <a:off x="4182" y="2694"/>
              <a:ext cx="0" cy="400"/>
            </a:xfrm>
            <a:prstGeom prst="line">
              <a:avLst/>
            </a:prstGeom>
            <a:ln w="9525" cap="flat" cmpd="sng">
              <a:solidFill>
                <a:srgbClr val="CC00CC"/>
              </a:solidFill>
              <a:prstDash val="solid"/>
              <a:headEnd type="none" w="med" len="med"/>
              <a:tailEnd type="none" w="med" len="med"/>
            </a:ln>
          </p:spPr>
        </p:sp>
        <p:sp>
          <p:nvSpPr>
            <p:cNvPr id="2245744" name="Line 1136"/>
            <p:cNvSpPr/>
            <p:nvPr/>
          </p:nvSpPr>
          <p:spPr>
            <a:xfrm flipV="1">
              <a:off x="4383" y="2826"/>
              <a:ext cx="0" cy="268"/>
            </a:xfrm>
            <a:prstGeom prst="line">
              <a:avLst/>
            </a:prstGeom>
            <a:ln w="9525" cap="flat" cmpd="sng">
              <a:solidFill>
                <a:srgbClr val="CC00CC"/>
              </a:solidFill>
              <a:prstDash val="solid"/>
              <a:headEnd type="none" w="med" len="med"/>
              <a:tailEnd type="none" w="med" len="med"/>
            </a:ln>
          </p:spPr>
        </p:sp>
        <p:sp>
          <p:nvSpPr>
            <p:cNvPr id="2245745" name="Line 1137"/>
            <p:cNvSpPr/>
            <p:nvPr/>
          </p:nvSpPr>
          <p:spPr>
            <a:xfrm flipH="1" flipV="1">
              <a:off x="4557" y="2868"/>
              <a:ext cx="1" cy="226"/>
            </a:xfrm>
            <a:prstGeom prst="line">
              <a:avLst/>
            </a:prstGeom>
            <a:ln w="9525" cap="flat" cmpd="sng">
              <a:solidFill>
                <a:srgbClr val="CC00CC"/>
              </a:solidFill>
              <a:prstDash val="solid"/>
              <a:headEnd type="none" w="med" len="med"/>
              <a:tailEnd type="none" w="med" len="med"/>
            </a:ln>
          </p:spPr>
        </p:sp>
        <p:sp>
          <p:nvSpPr>
            <p:cNvPr id="2245746" name="Line 1138"/>
            <p:cNvSpPr/>
            <p:nvPr/>
          </p:nvSpPr>
          <p:spPr>
            <a:xfrm flipV="1">
              <a:off x="4733" y="2802"/>
              <a:ext cx="0" cy="292"/>
            </a:xfrm>
            <a:prstGeom prst="line">
              <a:avLst/>
            </a:prstGeom>
            <a:ln w="9525" cap="flat" cmpd="sng">
              <a:solidFill>
                <a:srgbClr val="CC00CC"/>
              </a:solidFill>
              <a:prstDash val="solid"/>
              <a:headEnd type="none" w="med" len="med"/>
              <a:tailEnd type="none" w="med" len="med"/>
            </a:ln>
          </p:spPr>
        </p:sp>
        <p:sp>
          <p:nvSpPr>
            <p:cNvPr id="2245753" name="Text Box 1145"/>
            <p:cNvSpPr txBox="1"/>
            <p:nvPr/>
          </p:nvSpPr>
          <p:spPr>
            <a:xfrm>
              <a:off x="4922" y="2960"/>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4" name="Text Box 1146"/>
            <p:cNvSpPr txBox="1"/>
            <p:nvPr/>
          </p:nvSpPr>
          <p:spPr>
            <a:xfrm>
              <a:off x="3053" y="2348"/>
              <a:ext cx="553"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q</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6" name="Text Box 1168"/>
            <p:cNvSpPr txBox="1"/>
            <p:nvPr/>
          </p:nvSpPr>
          <p:spPr>
            <a:xfrm>
              <a:off x="3420" y="2899"/>
              <a:ext cx="172"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q</a:t>
              </a:r>
              <a:endParaRPr lang="en-US" altLang="zh-CN" sz="1400" b="1" i="1">
                <a:solidFill>
                  <a:srgbClr val="333399"/>
                </a:solidFill>
                <a:latin typeface="Times New Roman" panose="02020603050405020304" pitchFamily="18" charset="0"/>
              </a:endParaRPr>
            </a:p>
          </p:txBody>
        </p:sp>
        <p:sp>
          <p:nvSpPr>
            <p:cNvPr id="2245777" name="Text Box 1169"/>
            <p:cNvSpPr txBox="1"/>
            <p:nvPr/>
          </p:nvSpPr>
          <p:spPr>
            <a:xfrm>
              <a:off x="3362" y="2805"/>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2q</a:t>
              </a:r>
              <a:endParaRPr lang="en-US" altLang="zh-CN" sz="1400" b="1" i="1">
                <a:solidFill>
                  <a:srgbClr val="333399"/>
                </a:solidFill>
                <a:latin typeface="Times New Roman" panose="02020603050405020304" pitchFamily="18" charset="0"/>
              </a:endParaRPr>
            </a:p>
          </p:txBody>
        </p:sp>
        <p:sp>
          <p:nvSpPr>
            <p:cNvPr id="2245778" name="Text Box 1170"/>
            <p:cNvSpPr txBox="1"/>
            <p:nvPr/>
          </p:nvSpPr>
          <p:spPr>
            <a:xfrm>
              <a:off x="3357" y="2692"/>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3q</a:t>
              </a:r>
              <a:endParaRPr lang="en-US" altLang="zh-CN" sz="1400" b="1" i="1">
                <a:solidFill>
                  <a:srgbClr val="333399"/>
                </a:solidFill>
                <a:latin typeface="Times New Roman" panose="02020603050405020304" pitchFamily="18" charset="0"/>
              </a:endParaRPr>
            </a:p>
          </p:txBody>
        </p:sp>
        <p:sp>
          <p:nvSpPr>
            <p:cNvPr id="2245779" name="Text Box 1171"/>
            <p:cNvSpPr txBox="1"/>
            <p:nvPr/>
          </p:nvSpPr>
          <p:spPr>
            <a:xfrm>
              <a:off x="3366" y="2591"/>
              <a:ext cx="228"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4q</a:t>
              </a:r>
              <a:endParaRPr lang="en-US" altLang="zh-CN" sz="1400" b="1" i="1">
                <a:solidFill>
                  <a:srgbClr val="333399"/>
                </a:solidFill>
                <a:latin typeface="Times New Roman" panose="02020603050405020304" pitchFamily="18" charset="0"/>
              </a:endParaRPr>
            </a:p>
          </p:txBody>
        </p:sp>
        <p:sp>
          <p:nvSpPr>
            <p:cNvPr id="2245785" name="Text Box 1177"/>
            <p:cNvSpPr txBox="1"/>
            <p:nvPr/>
          </p:nvSpPr>
          <p:spPr>
            <a:xfrm>
              <a:off x="3669" y="3067"/>
              <a:ext cx="235" cy="192"/>
            </a:xfrm>
            <a:prstGeom prst="rect">
              <a:avLst/>
            </a:prstGeom>
            <a:noFill/>
            <a:ln w="9525">
              <a:noFill/>
            </a:ln>
          </p:spPr>
          <p:txBody>
            <a:bodyPr>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6" name="Text Box 1178"/>
            <p:cNvSpPr txBox="1"/>
            <p:nvPr/>
          </p:nvSpPr>
          <p:spPr>
            <a:xfrm>
              <a:off x="3839" y="3068"/>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7" name="Text Box 1179"/>
            <p:cNvSpPr txBox="1"/>
            <p:nvPr/>
          </p:nvSpPr>
          <p:spPr>
            <a:xfrm>
              <a:off x="4084" y="3074"/>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8" name="Text Box 1180"/>
            <p:cNvSpPr txBox="1"/>
            <p:nvPr/>
          </p:nvSpPr>
          <p:spPr>
            <a:xfrm>
              <a:off x="4348" y="3046"/>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2245789" name="Line 1181"/>
            <p:cNvSpPr/>
            <p:nvPr/>
          </p:nvSpPr>
          <p:spPr>
            <a:xfrm>
              <a:off x="3618" y="2624"/>
              <a:ext cx="1244" cy="0"/>
            </a:xfrm>
            <a:prstGeom prst="line">
              <a:avLst/>
            </a:prstGeom>
            <a:ln w="9525" cap="flat" cmpd="sng">
              <a:solidFill>
                <a:srgbClr val="006666"/>
              </a:solidFill>
              <a:prstDash val="sysDot"/>
              <a:headEnd type="none" w="med" len="med"/>
              <a:tailEnd type="none" w="med" len="med"/>
            </a:ln>
          </p:spPr>
        </p:sp>
      </p:grpSp>
      <p:sp>
        <p:nvSpPr>
          <p:cNvPr id="2245790" name="Text Box 118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45791" name="Text Box 1183"/>
          <p:cNvSpPr txBox="1"/>
          <p:nvPr/>
        </p:nvSpPr>
        <p:spPr>
          <a:xfrm>
            <a:off x="446088" y="920750"/>
            <a:ext cx="3476625" cy="641350"/>
          </a:xfrm>
          <a:prstGeom prst="rect">
            <a:avLst/>
          </a:prstGeom>
          <a:solidFill>
            <a:srgbClr val="99CCFF"/>
          </a:solidFill>
          <a:ln w="9525">
            <a:noFill/>
          </a:ln>
        </p:spPr>
        <p:txBody>
          <a:bodyPr>
            <a:spAutoFit/>
          </a:bodyPr>
          <a:p>
            <a:pPr algn="l" eaLnBrk="1" hangingPunct="1"/>
            <a:r>
              <a:rPr lang="zh-CN" altLang="en-US" b="1" dirty="0">
                <a:solidFill>
                  <a:srgbClr val="333399"/>
                </a:solidFill>
                <a:latin typeface="楷体_GB2312" pitchFamily="49" charset="-122"/>
              </a:rPr>
              <a:t>信号转换过程：</a:t>
            </a:r>
            <a:endParaRPr lang="zh-CN" altLang="en-US" b="1" dirty="0">
              <a:solidFill>
                <a:srgbClr val="333399"/>
              </a:solidFill>
              <a:latin typeface="楷体_GB2312" pitchFamily="49" charset="-122"/>
            </a:endParaRPr>
          </a:p>
        </p:txBody>
      </p:sp>
      <p:grpSp>
        <p:nvGrpSpPr>
          <p:cNvPr id="104524" name="组合 104523"/>
          <p:cNvGrpSpPr/>
          <p:nvPr/>
        </p:nvGrpSpPr>
        <p:grpSpPr>
          <a:xfrm>
            <a:off x="4808538" y="2362200"/>
            <a:ext cx="3297237" cy="1470025"/>
            <a:chOff x="3029" y="1488"/>
            <a:chExt cx="2077" cy="926"/>
          </a:xfrm>
        </p:grpSpPr>
        <p:sp>
          <p:nvSpPr>
            <p:cNvPr id="2245712" name="Freeform 1104"/>
            <p:cNvSpPr/>
            <p:nvPr/>
          </p:nvSpPr>
          <p:spPr>
            <a:xfrm>
              <a:off x="3701" y="1758"/>
              <a:ext cx="1110" cy="429"/>
            </a:xfrm>
            <a:custGeom>
              <a:avLst/>
              <a:gdLst/>
              <a:ahLst/>
              <a:cxnLst>
                <a:cxn ang="0">
                  <a:pos x="0" y="1148051380"/>
                </a:cxn>
                <a:cxn ang="0">
                  <a:pos x="915521288" y="176186553"/>
                </a:cxn>
                <a:cxn ang="0">
                  <a:pos x="1137707744" y="82408969"/>
                </a:cxn>
                <a:cxn ang="0">
                  <a:pos x="1317064909" y="105142827"/>
                </a:cxn>
                <a:cxn ang="0">
                  <a:pos x="1608852848" y="318272321"/>
                </a:cxn>
                <a:cxn ang="0">
                  <a:pos x="1876550231" y="508666271"/>
                </a:cxn>
                <a:cxn ang="0">
                  <a:pos x="2144245978" y="628018180"/>
                </a:cxn>
                <a:cxn ang="0">
                  <a:pos x="2147483647" y="628018180"/>
                </a:cxn>
                <a:cxn ang="0">
                  <a:pos x="2147483647" y="579708311"/>
                </a:cxn>
                <a:cxn ang="0">
                  <a:pos x="2147483647" y="508666271"/>
                </a:cxn>
                <a:cxn ang="0">
                  <a:pos x="2147483647" y="414890372"/>
                </a:cxn>
                <a:cxn ang="0">
                  <a:pos x="2147483647" y="2955384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2245715" name="Line 1107"/>
            <p:cNvSpPr/>
            <p:nvPr/>
          </p:nvSpPr>
          <p:spPr>
            <a:xfrm>
              <a:off x="3606" y="2234"/>
              <a:ext cx="1336" cy="0"/>
            </a:xfrm>
            <a:prstGeom prst="line">
              <a:avLst/>
            </a:prstGeom>
            <a:ln w="9525" cap="flat" cmpd="sng">
              <a:solidFill>
                <a:srgbClr val="3333FF"/>
              </a:solidFill>
              <a:prstDash val="solid"/>
              <a:headEnd type="none" w="med" len="med"/>
              <a:tailEnd type="stealth" w="sm" len="lg"/>
            </a:ln>
          </p:spPr>
        </p:sp>
        <p:sp>
          <p:nvSpPr>
            <p:cNvPr id="2245716" name="Line 1108"/>
            <p:cNvSpPr/>
            <p:nvPr/>
          </p:nvSpPr>
          <p:spPr>
            <a:xfrm flipV="1">
              <a:off x="3606" y="1558"/>
              <a:ext cx="0" cy="676"/>
            </a:xfrm>
            <a:prstGeom prst="line">
              <a:avLst/>
            </a:prstGeom>
            <a:ln w="9525" cap="flat" cmpd="sng">
              <a:solidFill>
                <a:srgbClr val="3333FF"/>
              </a:solidFill>
              <a:prstDash val="solid"/>
              <a:headEnd type="none" w="med" len="med"/>
              <a:tailEnd type="stealth" w="sm" len="lg"/>
            </a:ln>
          </p:spPr>
        </p:sp>
        <p:sp>
          <p:nvSpPr>
            <p:cNvPr id="2245719" name="Line 1111"/>
            <p:cNvSpPr/>
            <p:nvPr/>
          </p:nvSpPr>
          <p:spPr>
            <a:xfrm flipV="1">
              <a:off x="3798" y="2084"/>
              <a:ext cx="0" cy="150"/>
            </a:xfrm>
            <a:prstGeom prst="line">
              <a:avLst/>
            </a:prstGeom>
            <a:ln w="9525" cap="flat" cmpd="sng">
              <a:solidFill>
                <a:srgbClr val="006666"/>
              </a:solidFill>
              <a:prstDash val="solid"/>
              <a:headEnd type="none" w="med" len="med"/>
              <a:tailEnd type="none" w="med" len="med"/>
            </a:ln>
          </p:spPr>
        </p:sp>
        <p:sp>
          <p:nvSpPr>
            <p:cNvPr id="2245720" name="Line 1112"/>
            <p:cNvSpPr/>
            <p:nvPr/>
          </p:nvSpPr>
          <p:spPr>
            <a:xfrm>
              <a:off x="3798" y="2084"/>
              <a:ext cx="192" cy="0"/>
            </a:xfrm>
            <a:prstGeom prst="line">
              <a:avLst/>
            </a:prstGeom>
            <a:ln w="9525" cap="flat" cmpd="sng">
              <a:solidFill>
                <a:srgbClr val="006666"/>
              </a:solidFill>
              <a:prstDash val="solid"/>
              <a:headEnd type="none" w="med" len="med"/>
              <a:tailEnd type="none" w="med" len="med"/>
            </a:ln>
          </p:spPr>
        </p:sp>
        <p:sp>
          <p:nvSpPr>
            <p:cNvPr id="2245721" name="Line 1113"/>
            <p:cNvSpPr/>
            <p:nvPr/>
          </p:nvSpPr>
          <p:spPr>
            <a:xfrm flipV="1">
              <a:off x="3990" y="1884"/>
              <a:ext cx="0" cy="200"/>
            </a:xfrm>
            <a:prstGeom prst="line">
              <a:avLst/>
            </a:prstGeom>
            <a:ln w="9525" cap="flat" cmpd="sng">
              <a:solidFill>
                <a:srgbClr val="006666"/>
              </a:solidFill>
              <a:prstDash val="solid"/>
              <a:headEnd type="none" w="med" len="med"/>
              <a:tailEnd type="none" w="med" len="med"/>
            </a:ln>
          </p:spPr>
        </p:sp>
        <p:sp>
          <p:nvSpPr>
            <p:cNvPr id="2245725" name="Line 1117"/>
            <p:cNvSpPr/>
            <p:nvPr/>
          </p:nvSpPr>
          <p:spPr>
            <a:xfrm>
              <a:off x="4182" y="1792"/>
              <a:ext cx="209" cy="0"/>
            </a:xfrm>
            <a:prstGeom prst="line">
              <a:avLst/>
            </a:prstGeom>
            <a:ln w="9525" cap="flat" cmpd="sng">
              <a:solidFill>
                <a:srgbClr val="006666"/>
              </a:solidFill>
              <a:prstDash val="solid"/>
              <a:headEnd type="none" w="med" len="med"/>
              <a:tailEnd type="none" w="med" len="med"/>
            </a:ln>
          </p:spPr>
        </p:sp>
        <p:sp>
          <p:nvSpPr>
            <p:cNvPr id="2245726" name="Line 1118"/>
            <p:cNvSpPr/>
            <p:nvPr/>
          </p:nvSpPr>
          <p:spPr>
            <a:xfrm>
              <a:off x="4392" y="1793"/>
              <a:ext cx="0" cy="143"/>
            </a:xfrm>
            <a:prstGeom prst="line">
              <a:avLst/>
            </a:prstGeom>
            <a:ln w="9525" cap="flat" cmpd="sng">
              <a:solidFill>
                <a:srgbClr val="006666"/>
              </a:solidFill>
              <a:prstDash val="solid"/>
              <a:headEnd type="none" w="med" len="med"/>
              <a:tailEnd type="none" w="med" len="med"/>
            </a:ln>
          </p:spPr>
        </p:sp>
        <p:sp>
          <p:nvSpPr>
            <p:cNvPr id="2245727" name="Line 1119"/>
            <p:cNvSpPr/>
            <p:nvPr/>
          </p:nvSpPr>
          <p:spPr>
            <a:xfrm>
              <a:off x="4391" y="1934"/>
              <a:ext cx="167" cy="0"/>
            </a:xfrm>
            <a:prstGeom prst="line">
              <a:avLst/>
            </a:prstGeom>
            <a:ln w="9525" cap="flat" cmpd="sng">
              <a:solidFill>
                <a:srgbClr val="006666"/>
              </a:solidFill>
              <a:prstDash val="solid"/>
              <a:headEnd type="none" w="med" len="med"/>
              <a:tailEnd type="none" w="med" len="med"/>
            </a:ln>
          </p:spPr>
        </p:sp>
        <p:sp>
          <p:nvSpPr>
            <p:cNvPr id="2245730" name="Line 1122"/>
            <p:cNvSpPr/>
            <p:nvPr/>
          </p:nvSpPr>
          <p:spPr>
            <a:xfrm>
              <a:off x="4558" y="1935"/>
              <a:ext cx="0" cy="58"/>
            </a:xfrm>
            <a:prstGeom prst="line">
              <a:avLst/>
            </a:prstGeom>
            <a:ln w="9525" cap="flat" cmpd="sng">
              <a:solidFill>
                <a:srgbClr val="006666"/>
              </a:solidFill>
              <a:prstDash val="solid"/>
              <a:headEnd type="none" w="med" len="med"/>
              <a:tailEnd type="none" w="med" len="med"/>
            </a:ln>
          </p:spPr>
        </p:sp>
        <p:sp>
          <p:nvSpPr>
            <p:cNvPr id="2245731" name="Line 1123"/>
            <p:cNvSpPr/>
            <p:nvPr/>
          </p:nvSpPr>
          <p:spPr>
            <a:xfrm>
              <a:off x="4558" y="2000"/>
              <a:ext cx="175" cy="0"/>
            </a:xfrm>
            <a:prstGeom prst="line">
              <a:avLst/>
            </a:prstGeom>
            <a:ln w="9525" cap="flat" cmpd="sng">
              <a:solidFill>
                <a:srgbClr val="006666"/>
              </a:solidFill>
              <a:prstDash val="solid"/>
              <a:headEnd type="none" w="med" len="med"/>
              <a:tailEnd type="none" w="med" len="med"/>
            </a:ln>
          </p:spPr>
        </p:sp>
        <p:sp>
          <p:nvSpPr>
            <p:cNvPr id="2245732" name="Line 1124"/>
            <p:cNvSpPr/>
            <p:nvPr/>
          </p:nvSpPr>
          <p:spPr>
            <a:xfrm flipV="1">
              <a:off x="4733" y="1942"/>
              <a:ext cx="0" cy="51"/>
            </a:xfrm>
            <a:prstGeom prst="line">
              <a:avLst/>
            </a:prstGeom>
            <a:ln w="9525" cap="flat" cmpd="sng">
              <a:solidFill>
                <a:srgbClr val="006666"/>
              </a:solidFill>
              <a:prstDash val="solid"/>
              <a:headEnd type="none" w="med" len="med"/>
              <a:tailEnd type="none" w="med" len="med"/>
            </a:ln>
          </p:spPr>
        </p:sp>
        <p:sp>
          <p:nvSpPr>
            <p:cNvPr id="2245733" name="Line 1125"/>
            <p:cNvSpPr/>
            <p:nvPr/>
          </p:nvSpPr>
          <p:spPr>
            <a:xfrm>
              <a:off x="4733" y="1951"/>
              <a:ext cx="109" cy="0"/>
            </a:xfrm>
            <a:prstGeom prst="line">
              <a:avLst/>
            </a:prstGeom>
            <a:ln w="9525" cap="flat" cmpd="sng">
              <a:solidFill>
                <a:srgbClr val="006666"/>
              </a:solidFill>
              <a:prstDash val="solid"/>
              <a:headEnd type="none" w="med" len="med"/>
              <a:tailEnd type="none" w="med" len="med"/>
            </a:ln>
          </p:spPr>
        </p:sp>
        <p:sp>
          <p:nvSpPr>
            <p:cNvPr id="2245751" name="Text Box 1143"/>
            <p:cNvSpPr txBox="1"/>
            <p:nvPr/>
          </p:nvSpPr>
          <p:spPr>
            <a:xfrm>
              <a:off x="4918" y="2113"/>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2245752" name="Text Box 1144"/>
            <p:cNvSpPr txBox="1"/>
            <p:nvPr/>
          </p:nvSpPr>
          <p:spPr>
            <a:xfrm>
              <a:off x="3029" y="1488"/>
              <a:ext cx="558"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2245774" name="Line 1166"/>
            <p:cNvSpPr/>
            <p:nvPr/>
          </p:nvSpPr>
          <p:spPr>
            <a:xfrm>
              <a:off x="3990" y="1892"/>
              <a:ext cx="192" cy="0"/>
            </a:xfrm>
            <a:prstGeom prst="line">
              <a:avLst/>
            </a:prstGeom>
            <a:ln w="9525" cap="flat" cmpd="sng">
              <a:solidFill>
                <a:srgbClr val="006666"/>
              </a:solidFill>
              <a:prstDash val="solid"/>
              <a:headEnd type="none" w="med" len="med"/>
              <a:tailEnd type="none" w="med" len="med"/>
            </a:ln>
          </p:spPr>
        </p:sp>
        <p:sp>
          <p:nvSpPr>
            <p:cNvPr id="2245775" name="Line 1167"/>
            <p:cNvSpPr/>
            <p:nvPr/>
          </p:nvSpPr>
          <p:spPr>
            <a:xfrm flipH="1" flipV="1">
              <a:off x="4173" y="1784"/>
              <a:ext cx="1" cy="108"/>
            </a:xfrm>
            <a:prstGeom prst="line">
              <a:avLst/>
            </a:prstGeom>
            <a:ln w="9525" cap="flat" cmpd="sng">
              <a:solidFill>
                <a:srgbClr val="006666"/>
              </a:solidFill>
              <a:prstDash val="solid"/>
              <a:headEnd type="none" w="med" len="med"/>
              <a:tailEnd type="none" w="med" len="med"/>
            </a:ln>
          </p:spPr>
        </p:sp>
        <p:sp>
          <p:nvSpPr>
            <p:cNvPr id="2245780" name="Text Box 1172"/>
            <p:cNvSpPr txBox="1"/>
            <p:nvPr/>
          </p:nvSpPr>
          <p:spPr>
            <a:xfrm>
              <a:off x="3665" y="2211"/>
              <a:ext cx="224"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1" name="Text Box 1173"/>
            <p:cNvSpPr txBox="1"/>
            <p:nvPr/>
          </p:nvSpPr>
          <p:spPr>
            <a:xfrm>
              <a:off x="3852" y="2222"/>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2" name="Text Box 1174"/>
            <p:cNvSpPr txBox="1"/>
            <p:nvPr/>
          </p:nvSpPr>
          <p:spPr>
            <a:xfrm>
              <a:off x="4055" y="2219"/>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45784" name="Text Box 1176"/>
            <p:cNvSpPr txBox="1"/>
            <p:nvPr/>
          </p:nvSpPr>
          <p:spPr>
            <a:xfrm>
              <a:off x="4328" y="2190"/>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sp>
          <p:nvSpPr>
            <p:cNvPr id="2" name="Freeform 1104"/>
            <p:cNvSpPr/>
            <p:nvPr/>
          </p:nvSpPr>
          <p:spPr>
            <a:xfrm>
              <a:off x="3701" y="1758"/>
              <a:ext cx="1110" cy="429"/>
            </a:xfrm>
            <a:custGeom>
              <a:avLst/>
              <a:gdLst/>
              <a:ahLst/>
              <a:cxnLst>
                <a:cxn ang="0">
                  <a:pos x="0" y="1148051380"/>
                </a:cxn>
                <a:cxn ang="0">
                  <a:pos x="915521288" y="176186553"/>
                </a:cxn>
                <a:cxn ang="0">
                  <a:pos x="1137707744" y="82408969"/>
                </a:cxn>
                <a:cxn ang="0">
                  <a:pos x="1317064909" y="105142827"/>
                </a:cxn>
                <a:cxn ang="0">
                  <a:pos x="1608852848" y="318272321"/>
                </a:cxn>
                <a:cxn ang="0">
                  <a:pos x="1876550231" y="508666271"/>
                </a:cxn>
                <a:cxn ang="0">
                  <a:pos x="2144245978" y="628018180"/>
                </a:cxn>
                <a:cxn ang="0">
                  <a:pos x="2147483647" y="628018180"/>
                </a:cxn>
                <a:cxn ang="0">
                  <a:pos x="2147483647" y="579708311"/>
                </a:cxn>
                <a:cxn ang="0">
                  <a:pos x="2147483647" y="508666271"/>
                </a:cxn>
                <a:cxn ang="0">
                  <a:pos x="2147483647" y="414890372"/>
                </a:cxn>
                <a:cxn ang="0">
                  <a:pos x="2147483647" y="295538463"/>
                </a:cxn>
              </a:cxnLst>
              <a:pathLst>
                <a:path w="1077" h="404">
                  <a:moveTo>
                    <a:pt x="0" y="404"/>
                  </a:moveTo>
                  <a:cubicBezTo>
                    <a:pt x="135" y="264"/>
                    <a:pt x="271" y="124"/>
                    <a:pt x="342" y="62"/>
                  </a:cubicBezTo>
                  <a:cubicBezTo>
                    <a:pt x="413" y="0"/>
                    <a:pt x="400" y="33"/>
                    <a:pt x="425" y="29"/>
                  </a:cubicBezTo>
                  <a:cubicBezTo>
                    <a:pt x="450" y="25"/>
                    <a:pt x="463" y="23"/>
                    <a:pt x="492" y="37"/>
                  </a:cubicBezTo>
                  <a:cubicBezTo>
                    <a:pt x="521" y="51"/>
                    <a:pt x="566" y="88"/>
                    <a:pt x="601" y="112"/>
                  </a:cubicBezTo>
                  <a:cubicBezTo>
                    <a:pt x="636" y="136"/>
                    <a:pt x="668" y="161"/>
                    <a:pt x="701" y="179"/>
                  </a:cubicBezTo>
                  <a:cubicBezTo>
                    <a:pt x="734" y="197"/>
                    <a:pt x="772" y="214"/>
                    <a:pt x="801" y="221"/>
                  </a:cubicBezTo>
                  <a:cubicBezTo>
                    <a:pt x="830" y="228"/>
                    <a:pt x="852" y="224"/>
                    <a:pt x="876" y="221"/>
                  </a:cubicBezTo>
                  <a:cubicBezTo>
                    <a:pt x="900" y="218"/>
                    <a:pt x="922" y="211"/>
                    <a:pt x="943" y="204"/>
                  </a:cubicBezTo>
                  <a:cubicBezTo>
                    <a:pt x="964" y="197"/>
                    <a:pt x="983" y="189"/>
                    <a:pt x="1001" y="179"/>
                  </a:cubicBezTo>
                  <a:cubicBezTo>
                    <a:pt x="1019" y="169"/>
                    <a:pt x="1039" y="158"/>
                    <a:pt x="1052" y="146"/>
                  </a:cubicBezTo>
                  <a:cubicBezTo>
                    <a:pt x="1065" y="134"/>
                    <a:pt x="1073" y="111"/>
                    <a:pt x="1077" y="104"/>
                  </a:cubicBezTo>
                </a:path>
              </a:pathLst>
            </a:custGeom>
            <a:noFill/>
            <a:ln w="9525" cap="flat" cmpd="sng">
              <a:solidFill>
                <a:srgbClr val="FF0000">
                  <a:alpha val="100000"/>
                </a:srgbClr>
              </a:solidFill>
              <a:prstDash val="solid"/>
              <a:round/>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sp>
          <p:nvSpPr>
            <p:cNvPr id="3" name="Line 1107"/>
            <p:cNvSpPr/>
            <p:nvPr/>
          </p:nvSpPr>
          <p:spPr>
            <a:xfrm>
              <a:off x="3606" y="2234"/>
              <a:ext cx="1336" cy="0"/>
            </a:xfrm>
            <a:prstGeom prst="line">
              <a:avLst/>
            </a:prstGeom>
            <a:ln w="9525" cap="flat" cmpd="sng">
              <a:solidFill>
                <a:srgbClr val="3333FF"/>
              </a:solidFill>
              <a:prstDash val="solid"/>
              <a:headEnd type="none" w="med" len="med"/>
              <a:tailEnd type="stealth" w="sm" len="lg"/>
            </a:ln>
          </p:spPr>
        </p:sp>
        <p:sp>
          <p:nvSpPr>
            <p:cNvPr id="4" name="Line 1108"/>
            <p:cNvSpPr/>
            <p:nvPr/>
          </p:nvSpPr>
          <p:spPr>
            <a:xfrm flipV="1">
              <a:off x="3606" y="1558"/>
              <a:ext cx="0" cy="676"/>
            </a:xfrm>
            <a:prstGeom prst="line">
              <a:avLst/>
            </a:prstGeom>
            <a:ln w="9525" cap="flat" cmpd="sng">
              <a:solidFill>
                <a:srgbClr val="3333FF"/>
              </a:solidFill>
              <a:prstDash val="solid"/>
              <a:headEnd type="none" w="med" len="med"/>
              <a:tailEnd type="stealth" w="sm" len="lg"/>
            </a:ln>
          </p:spPr>
        </p:sp>
        <p:sp>
          <p:nvSpPr>
            <p:cNvPr id="5" name="Line 1111"/>
            <p:cNvSpPr/>
            <p:nvPr/>
          </p:nvSpPr>
          <p:spPr>
            <a:xfrm flipV="1">
              <a:off x="3798" y="2084"/>
              <a:ext cx="0" cy="150"/>
            </a:xfrm>
            <a:prstGeom prst="line">
              <a:avLst/>
            </a:prstGeom>
            <a:ln w="9525" cap="flat" cmpd="sng">
              <a:solidFill>
                <a:srgbClr val="006666"/>
              </a:solidFill>
              <a:prstDash val="solid"/>
              <a:headEnd type="none" w="med" len="med"/>
              <a:tailEnd type="none" w="med" len="med"/>
            </a:ln>
          </p:spPr>
        </p:sp>
        <p:sp>
          <p:nvSpPr>
            <p:cNvPr id="6" name="Line 1112"/>
            <p:cNvSpPr/>
            <p:nvPr/>
          </p:nvSpPr>
          <p:spPr>
            <a:xfrm>
              <a:off x="3798" y="2084"/>
              <a:ext cx="192" cy="0"/>
            </a:xfrm>
            <a:prstGeom prst="line">
              <a:avLst/>
            </a:prstGeom>
            <a:ln w="9525" cap="flat" cmpd="sng">
              <a:solidFill>
                <a:srgbClr val="006666"/>
              </a:solidFill>
              <a:prstDash val="solid"/>
              <a:headEnd type="none" w="med" len="med"/>
              <a:tailEnd type="none" w="med" len="med"/>
            </a:ln>
          </p:spPr>
        </p:sp>
        <p:sp>
          <p:nvSpPr>
            <p:cNvPr id="7" name="Line 1113"/>
            <p:cNvSpPr/>
            <p:nvPr/>
          </p:nvSpPr>
          <p:spPr>
            <a:xfrm flipV="1">
              <a:off x="3990" y="1884"/>
              <a:ext cx="0" cy="200"/>
            </a:xfrm>
            <a:prstGeom prst="line">
              <a:avLst/>
            </a:prstGeom>
            <a:ln w="9525" cap="flat" cmpd="sng">
              <a:solidFill>
                <a:srgbClr val="006666"/>
              </a:solidFill>
              <a:prstDash val="solid"/>
              <a:headEnd type="none" w="med" len="med"/>
              <a:tailEnd type="none" w="med" len="med"/>
            </a:ln>
          </p:spPr>
        </p:sp>
        <p:sp>
          <p:nvSpPr>
            <p:cNvPr id="8" name="Line 1117"/>
            <p:cNvSpPr/>
            <p:nvPr/>
          </p:nvSpPr>
          <p:spPr>
            <a:xfrm>
              <a:off x="4182" y="1792"/>
              <a:ext cx="209" cy="0"/>
            </a:xfrm>
            <a:prstGeom prst="line">
              <a:avLst/>
            </a:prstGeom>
            <a:ln w="9525" cap="flat" cmpd="sng">
              <a:solidFill>
                <a:srgbClr val="006666"/>
              </a:solidFill>
              <a:prstDash val="solid"/>
              <a:headEnd type="none" w="med" len="med"/>
              <a:tailEnd type="none" w="med" len="med"/>
            </a:ln>
          </p:spPr>
        </p:sp>
        <p:sp>
          <p:nvSpPr>
            <p:cNvPr id="9" name="Line 1118"/>
            <p:cNvSpPr/>
            <p:nvPr/>
          </p:nvSpPr>
          <p:spPr>
            <a:xfrm>
              <a:off x="4392" y="1793"/>
              <a:ext cx="0" cy="143"/>
            </a:xfrm>
            <a:prstGeom prst="line">
              <a:avLst/>
            </a:prstGeom>
            <a:ln w="9525" cap="flat" cmpd="sng">
              <a:solidFill>
                <a:srgbClr val="006666"/>
              </a:solidFill>
              <a:prstDash val="solid"/>
              <a:headEnd type="none" w="med" len="med"/>
              <a:tailEnd type="none" w="med" len="med"/>
            </a:ln>
          </p:spPr>
        </p:sp>
        <p:sp>
          <p:nvSpPr>
            <p:cNvPr id="10" name="Line 1119"/>
            <p:cNvSpPr/>
            <p:nvPr/>
          </p:nvSpPr>
          <p:spPr>
            <a:xfrm>
              <a:off x="4391" y="1934"/>
              <a:ext cx="167" cy="0"/>
            </a:xfrm>
            <a:prstGeom prst="line">
              <a:avLst/>
            </a:prstGeom>
            <a:ln w="9525" cap="flat" cmpd="sng">
              <a:solidFill>
                <a:srgbClr val="006666"/>
              </a:solidFill>
              <a:prstDash val="solid"/>
              <a:headEnd type="none" w="med" len="med"/>
              <a:tailEnd type="none" w="med" len="med"/>
            </a:ln>
          </p:spPr>
        </p:sp>
        <p:sp>
          <p:nvSpPr>
            <p:cNvPr id="11" name="Line 1122"/>
            <p:cNvSpPr/>
            <p:nvPr/>
          </p:nvSpPr>
          <p:spPr>
            <a:xfrm>
              <a:off x="4558" y="1935"/>
              <a:ext cx="0" cy="58"/>
            </a:xfrm>
            <a:prstGeom prst="line">
              <a:avLst/>
            </a:prstGeom>
            <a:ln w="9525" cap="flat" cmpd="sng">
              <a:solidFill>
                <a:srgbClr val="006666"/>
              </a:solidFill>
              <a:prstDash val="solid"/>
              <a:headEnd type="none" w="med" len="med"/>
              <a:tailEnd type="none" w="med" len="med"/>
            </a:ln>
          </p:spPr>
        </p:sp>
        <p:sp>
          <p:nvSpPr>
            <p:cNvPr id="12" name="Line 1123"/>
            <p:cNvSpPr/>
            <p:nvPr/>
          </p:nvSpPr>
          <p:spPr>
            <a:xfrm>
              <a:off x="4558" y="2000"/>
              <a:ext cx="175" cy="0"/>
            </a:xfrm>
            <a:prstGeom prst="line">
              <a:avLst/>
            </a:prstGeom>
            <a:ln w="9525" cap="flat" cmpd="sng">
              <a:solidFill>
                <a:srgbClr val="006666"/>
              </a:solidFill>
              <a:prstDash val="solid"/>
              <a:headEnd type="none" w="med" len="med"/>
              <a:tailEnd type="none" w="med" len="med"/>
            </a:ln>
          </p:spPr>
        </p:sp>
        <p:sp>
          <p:nvSpPr>
            <p:cNvPr id="13" name="Line 1124"/>
            <p:cNvSpPr/>
            <p:nvPr/>
          </p:nvSpPr>
          <p:spPr>
            <a:xfrm flipV="1">
              <a:off x="4733" y="1942"/>
              <a:ext cx="0" cy="51"/>
            </a:xfrm>
            <a:prstGeom prst="line">
              <a:avLst/>
            </a:prstGeom>
            <a:ln w="9525" cap="flat" cmpd="sng">
              <a:solidFill>
                <a:srgbClr val="006666"/>
              </a:solidFill>
              <a:prstDash val="solid"/>
              <a:headEnd type="none" w="med" len="med"/>
              <a:tailEnd type="none" w="med" len="med"/>
            </a:ln>
          </p:spPr>
        </p:sp>
        <p:sp>
          <p:nvSpPr>
            <p:cNvPr id="14" name="Line 1125"/>
            <p:cNvSpPr/>
            <p:nvPr/>
          </p:nvSpPr>
          <p:spPr>
            <a:xfrm>
              <a:off x="4733" y="1951"/>
              <a:ext cx="109" cy="0"/>
            </a:xfrm>
            <a:prstGeom prst="line">
              <a:avLst/>
            </a:prstGeom>
            <a:ln w="9525" cap="flat" cmpd="sng">
              <a:solidFill>
                <a:srgbClr val="006666"/>
              </a:solidFill>
              <a:prstDash val="solid"/>
              <a:headEnd type="none" w="med" len="med"/>
              <a:tailEnd type="none" w="med" len="med"/>
            </a:ln>
          </p:spPr>
        </p:sp>
        <p:sp>
          <p:nvSpPr>
            <p:cNvPr id="15" name="Text Box 1143"/>
            <p:cNvSpPr txBox="1"/>
            <p:nvPr/>
          </p:nvSpPr>
          <p:spPr>
            <a:xfrm>
              <a:off x="4918" y="2113"/>
              <a:ext cx="188" cy="231"/>
            </a:xfrm>
            <a:prstGeom prst="rect">
              <a:avLst/>
            </a:prstGeom>
            <a:noFill/>
            <a:ln w="9525">
              <a:noFill/>
            </a:ln>
          </p:spPr>
          <p:txBody>
            <a:bodyPr wrap="none">
              <a:spAutoFit/>
            </a:bodyPr>
            <a:p>
              <a:pPr algn="ctr" eaLnBrk="1" hangingPunct="1"/>
              <a:r>
                <a:rPr lang="en-US" altLang="zh-CN" sz="1800" b="1" i="1">
                  <a:solidFill>
                    <a:srgbClr val="333399"/>
                  </a:solidFill>
                  <a:latin typeface="楷体_GB2312" pitchFamily="49" charset="-122"/>
                </a:rPr>
                <a:t>t</a:t>
              </a:r>
              <a:endParaRPr lang="en-US" altLang="zh-CN" sz="1800" b="1" i="1">
                <a:solidFill>
                  <a:srgbClr val="333399"/>
                </a:solidFill>
                <a:latin typeface="楷体_GB2312" pitchFamily="49" charset="-122"/>
              </a:endParaRPr>
            </a:p>
          </p:txBody>
        </p:sp>
        <p:sp>
          <p:nvSpPr>
            <p:cNvPr id="16" name="Text Box 1144"/>
            <p:cNvSpPr txBox="1"/>
            <p:nvPr/>
          </p:nvSpPr>
          <p:spPr>
            <a:xfrm>
              <a:off x="3029" y="1488"/>
              <a:ext cx="558" cy="214"/>
            </a:xfrm>
            <a:prstGeom prst="rect">
              <a:avLst/>
            </a:prstGeom>
            <a:noFill/>
            <a:ln w="9525">
              <a:noFill/>
            </a:ln>
          </p:spPr>
          <p:txBody>
            <a:bodyPr wrap="none">
              <a:spAutoFit/>
            </a:bodyPr>
            <a:p>
              <a:pPr algn="l" eaLnBrk="1" hangingPunct="1">
                <a:lnSpc>
                  <a:spcPct val="90000"/>
                </a:lnSpc>
              </a:pPr>
              <a:r>
                <a:rPr lang="en-US" altLang="zh-CN" sz="1800" b="1" i="1" err="1">
                  <a:solidFill>
                    <a:srgbClr val="333399"/>
                  </a:solidFill>
                  <a:latin typeface="Times New Roman" panose="02020603050405020304" pitchFamily="18" charset="0"/>
                </a:rPr>
                <a:t>x</a:t>
              </a:r>
              <a:r>
                <a:rPr lang="en-US" altLang="zh-CN" sz="1800" b="1" i="1" baseline="-25000" err="1">
                  <a:solidFill>
                    <a:srgbClr val="333399"/>
                  </a:solidFill>
                  <a:latin typeface="Times New Roman" panose="02020603050405020304" pitchFamily="18" charset="0"/>
                </a:rPr>
                <a:t>S</a:t>
              </a:r>
              <a:r>
                <a:rPr lang="en-US" altLang="zh-CN" sz="1800" b="1" err="1">
                  <a:solidFill>
                    <a:srgbClr val="333399"/>
                  </a:solidFill>
                  <a:latin typeface="Times New Roman" panose="02020603050405020304" pitchFamily="18" charset="0"/>
                </a:rPr>
                <a:t>(</a:t>
              </a:r>
              <a:r>
                <a:rPr lang="en-US" altLang="zh-CN" sz="1800" b="1" i="1" err="1">
                  <a:solidFill>
                    <a:srgbClr val="333399"/>
                  </a:solidFill>
                  <a:latin typeface="Times New Roman" panose="02020603050405020304" pitchFamily="18" charset="0"/>
                </a:rPr>
                <a:t>nT</a:t>
              </a:r>
              <a:r>
                <a:rPr lang="en-US" altLang="zh-CN" sz="1800" b="1" i="1" baseline="-25000" err="1">
                  <a:solidFill>
                    <a:srgbClr val="333399"/>
                  </a:solidFill>
                  <a:latin typeface="Times New Roman" panose="02020603050405020304" pitchFamily="18" charset="0"/>
                </a:rPr>
                <a:t>S</a:t>
              </a:r>
              <a:r>
                <a:rPr lang="en-US" altLang="zh-CN" sz="1800" b="1">
                  <a:solidFill>
                    <a:srgbClr val="333399"/>
                  </a:solidFill>
                  <a:latin typeface="Times New Roman" panose="02020603050405020304" pitchFamily="18" charset="0"/>
                </a:rPr>
                <a:t>)</a:t>
              </a:r>
              <a:endParaRPr lang="en-US" altLang="zh-CN" sz="1800" b="1">
                <a:solidFill>
                  <a:srgbClr val="333399"/>
                </a:solidFill>
                <a:latin typeface="Times New Roman" panose="02020603050405020304" pitchFamily="18" charset="0"/>
              </a:endParaRPr>
            </a:p>
          </p:txBody>
        </p:sp>
        <p:sp>
          <p:nvSpPr>
            <p:cNvPr id="17" name="Line 1166"/>
            <p:cNvSpPr/>
            <p:nvPr/>
          </p:nvSpPr>
          <p:spPr>
            <a:xfrm>
              <a:off x="3990" y="1892"/>
              <a:ext cx="192" cy="0"/>
            </a:xfrm>
            <a:prstGeom prst="line">
              <a:avLst/>
            </a:prstGeom>
            <a:ln w="9525" cap="flat" cmpd="sng">
              <a:solidFill>
                <a:srgbClr val="006666"/>
              </a:solidFill>
              <a:prstDash val="solid"/>
              <a:headEnd type="none" w="med" len="med"/>
              <a:tailEnd type="none" w="med" len="med"/>
            </a:ln>
          </p:spPr>
        </p:sp>
        <p:sp>
          <p:nvSpPr>
            <p:cNvPr id="18" name="Line 1167"/>
            <p:cNvSpPr/>
            <p:nvPr/>
          </p:nvSpPr>
          <p:spPr>
            <a:xfrm flipH="1" flipV="1">
              <a:off x="4173" y="1784"/>
              <a:ext cx="1" cy="108"/>
            </a:xfrm>
            <a:prstGeom prst="line">
              <a:avLst/>
            </a:prstGeom>
            <a:ln w="9525" cap="flat" cmpd="sng">
              <a:solidFill>
                <a:srgbClr val="006666"/>
              </a:solidFill>
              <a:prstDash val="solid"/>
              <a:headEnd type="none" w="med" len="med"/>
              <a:tailEnd type="none" w="med" len="med"/>
            </a:ln>
          </p:spPr>
        </p:sp>
        <p:sp>
          <p:nvSpPr>
            <p:cNvPr id="19" name="Text Box 1172"/>
            <p:cNvSpPr txBox="1"/>
            <p:nvPr/>
          </p:nvSpPr>
          <p:spPr>
            <a:xfrm>
              <a:off x="3665" y="2211"/>
              <a:ext cx="224"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0" name="Text Box 1173"/>
            <p:cNvSpPr txBox="1"/>
            <p:nvPr/>
          </p:nvSpPr>
          <p:spPr>
            <a:xfrm>
              <a:off x="3852" y="2222"/>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2T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1" name="Text Box 1174"/>
            <p:cNvSpPr txBox="1"/>
            <p:nvPr/>
          </p:nvSpPr>
          <p:spPr>
            <a:xfrm>
              <a:off x="4055" y="2219"/>
              <a:ext cx="280" cy="192"/>
            </a:xfrm>
            <a:prstGeom prst="rect">
              <a:avLst/>
            </a:prstGeom>
            <a:noFill/>
            <a:ln w="9525">
              <a:noFill/>
            </a:ln>
          </p:spPr>
          <p:txBody>
            <a:bodyPr wrap="none">
              <a:spAutoFit/>
            </a:bodyPr>
            <a:p>
              <a:pPr algn="ctr" eaLnBrk="1" hangingPunct="1"/>
              <a:r>
                <a:rPr lang="en-US" altLang="zh-CN" sz="1400" b="1" i="1">
                  <a:solidFill>
                    <a:srgbClr val="333399"/>
                  </a:solidFill>
                  <a:latin typeface="Times New Roman" panose="02020603050405020304" pitchFamily="18" charset="0"/>
                </a:rPr>
                <a:t>3T</a:t>
              </a:r>
              <a:r>
                <a:rPr lang="en-US" altLang="zh-CN" sz="1400" b="1" i="1" baseline="-25000">
                  <a:solidFill>
                    <a:srgbClr val="333399"/>
                  </a:solidFill>
                  <a:latin typeface="Times New Roman" panose="02020603050405020304" pitchFamily="18" charset="0"/>
                </a:rPr>
                <a:t>S</a:t>
              </a:r>
              <a:endParaRPr lang="en-US" altLang="zh-CN" sz="1400" b="1" i="1" baseline="-25000">
                <a:solidFill>
                  <a:srgbClr val="333399"/>
                </a:solidFill>
                <a:latin typeface="Times New Roman" panose="02020603050405020304" pitchFamily="18" charset="0"/>
              </a:endParaRPr>
            </a:p>
          </p:txBody>
        </p:sp>
        <p:sp>
          <p:nvSpPr>
            <p:cNvPr id="22" name="Text Box 1176"/>
            <p:cNvSpPr txBox="1"/>
            <p:nvPr/>
          </p:nvSpPr>
          <p:spPr>
            <a:xfrm>
              <a:off x="4328" y="2190"/>
              <a:ext cx="244"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a:t>
              </a:r>
              <a:endParaRPr lang="en-US" altLang="zh-CN" sz="1600" b="1">
                <a:solidFill>
                  <a:srgbClr val="333399"/>
                </a:solidFill>
                <a:latin typeface="Times New Roman" panose="02020603050405020304" pitchFamily="18" charset="0"/>
              </a:endParaRPr>
            </a:p>
          </p:txBody>
        </p:sp>
      </p:grpSp>
      <p:sp>
        <p:nvSpPr>
          <p:cNvPr id="2269194" name="Text Box 10"/>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Tree>
  </p:cSld>
  <p:clrMapOvr>
    <a:masterClrMapping/>
  </p:clrMapOvr>
  <p:transition spd="med">
    <p:cove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9194" name="Text Box 10"/>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69195" name="Text Box 11"/>
          <p:cNvSpPr txBox="1"/>
          <p:nvPr/>
        </p:nvSpPr>
        <p:spPr>
          <a:xfrm>
            <a:off x="560388" y="782638"/>
            <a:ext cx="253523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2.7.1 </a:t>
            </a:r>
            <a:r>
              <a:rPr lang="zh-CN" altLang="en-US" sz="3200" b="1" dirty="0">
                <a:solidFill>
                  <a:srgbClr val="333399"/>
                </a:solidFill>
                <a:latin typeface="楷体_GB2312" pitchFamily="49" charset="-122"/>
              </a:rPr>
              <a:t>量化</a:t>
            </a:r>
            <a:endParaRPr lang="zh-CN" altLang="en-US" sz="3200" b="1" dirty="0">
              <a:solidFill>
                <a:srgbClr val="333399"/>
              </a:solidFill>
              <a:latin typeface="楷体_GB2312" pitchFamily="49" charset="-122"/>
            </a:endParaRPr>
          </a:p>
        </p:txBody>
      </p:sp>
      <p:sp>
        <p:nvSpPr>
          <p:cNvPr id="2269200" name="Text Box 1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grpSp>
        <p:nvGrpSpPr>
          <p:cNvPr id="2269203" name="Group 19"/>
          <p:cNvGrpSpPr/>
          <p:nvPr/>
        </p:nvGrpSpPr>
        <p:grpSpPr>
          <a:xfrm>
            <a:off x="1241425" y="1557338"/>
            <a:ext cx="6751638" cy="1944687"/>
            <a:chOff x="567" y="1003"/>
            <a:chExt cx="4740" cy="1379"/>
          </a:xfrm>
        </p:grpSpPr>
        <p:sp>
          <p:nvSpPr>
            <p:cNvPr id="29709" name="Rectangle 18"/>
            <p:cNvSpPr/>
            <p:nvPr/>
          </p:nvSpPr>
          <p:spPr>
            <a:xfrm>
              <a:off x="567" y="1003"/>
              <a:ext cx="4740" cy="1379"/>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9710" name="Text Box 13"/>
            <p:cNvSpPr txBox="1"/>
            <p:nvPr/>
          </p:nvSpPr>
          <p:spPr>
            <a:xfrm>
              <a:off x="1474" y="1026"/>
              <a:ext cx="3640" cy="1276"/>
            </a:xfrm>
            <a:prstGeom prst="rect">
              <a:avLst/>
            </a:prstGeom>
            <a:no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采样信号的幅值与某个</a:t>
              </a:r>
              <a:r>
                <a:rPr lang="zh-CN" altLang="en-US" sz="2800" b="1" dirty="0">
                  <a:solidFill>
                    <a:srgbClr val="FF0000"/>
                  </a:solidFill>
                  <a:latin typeface="黑体" panose="02010609060101010101" pitchFamily="49" charset="-122"/>
                  <a:ea typeface="黑体" panose="02010609060101010101" pitchFamily="49" charset="-122"/>
                </a:rPr>
                <a:t>最小数量</a:t>
              </a:r>
              <a:endParaRPr lang="zh-CN" altLang="en-US" sz="2800" b="1" dirty="0">
                <a:solidFill>
                  <a:srgbClr val="FF0000"/>
                </a:solidFill>
                <a:latin typeface="黑体" panose="02010609060101010101" pitchFamily="49" charset="-122"/>
                <a:ea typeface="黑体" panose="02010609060101010101" pitchFamily="49" charset="-122"/>
              </a:endParaRPr>
            </a:p>
            <a:p>
              <a:pPr algn="l" eaLnBrk="1" hangingPunct="1"/>
              <a:r>
                <a:rPr lang="zh-CN" altLang="en-US" sz="2800" b="1" dirty="0">
                  <a:solidFill>
                    <a:srgbClr val="FF0000"/>
                  </a:solidFill>
                  <a:latin typeface="黑体" panose="02010609060101010101" pitchFamily="49" charset="-122"/>
                  <a:ea typeface="黑体" panose="02010609060101010101" pitchFamily="49" charset="-122"/>
                </a:rPr>
                <a:t>单位</a:t>
              </a:r>
              <a:r>
                <a:rPr lang="zh-CN" altLang="en-US" sz="2800" b="1" dirty="0">
                  <a:solidFill>
                    <a:schemeClr val="tx1"/>
                  </a:solidFill>
                  <a:latin typeface="黑体" panose="02010609060101010101" pitchFamily="49" charset="-122"/>
                  <a:ea typeface="黑体" panose="02010609060101010101" pitchFamily="49" charset="-122"/>
                </a:rPr>
                <a:t>的一系列倍数比较，用最接</a:t>
              </a:r>
              <a:endParaRPr lang="zh-CN" altLang="en-US" sz="2800" b="1" dirty="0">
                <a:solidFill>
                  <a:schemeClr val="tx1"/>
                </a:solidFill>
                <a:latin typeface="黑体" panose="02010609060101010101" pitchFamily="49" charset="-122"/>
                <a:ea typeface="黑体" panose="02010609060101010101" pitchFamily="49" charset="-122"/>
              </a:endParaRPr>
            </a:p>
            <a:p>
              <a:pPr algn="l" eaLnBrk="1" hangingPunct="1"/>
              <a:r>
                <a:rPr lang="zh-CN" altLang="en-US" sz="2800" b="1" dirty="0">
                  <a:solidFill>
                    <a:schemeClr val="tx1"/>
                  </a:solidFill>
                  <a:latin typeface="黑体" panose="02010609060101010101" pitchFamily="49" charset="-122"/>
                  <a:ea typeface="黑体" panose="02010609060101010101" pitchFamily="49" charset="-122"/>
                </a:rPr>
                <a:t>近采样信号幅值的最小数量单位</a:t>
              </a:r>
              <a:endParaRPr lang="zh-CN" altLang="en-US" sz="2800" b="1" dirty="0">
                <a:solidFill>
                  <a:schemeClr val="tx1"/>
                </a:solidFill>
                <a:latin typeface="黑体" panose="02010609060101010101" pitchFamily="49" charset="-122"/>
                <a:ea typeface="黑体" panose="02010609060101010101" pitchFamily="49" charset="-122"/>
              </a:endParaRPr>
            </a:p>
            <a:p>
              <a:pPr algn="l" eaLnBrk="1" hangingPunct="1"/>
              <a:r>
                <a:rPr lang="zh-CN" altLang="en-US" sz="2800" b="1" dirty="0">
                  <a:solidFill>
                    <a:schemeClr val="tx1"/>
                  </a:solidFill>
                  <a:latin typeface="黑体" panose="02010609060101010101" pitchFamily="49" charset="-122"/>
                  <a:ea typeface="黑体" panose="02010609060101010101" pitchFamily="49" charset="-122"/>
                </a:rPr>
                <a:t>倍数来代替该幅值。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9711" name="Rectangle 17"/>
            <p:cNvSpPr/>
            <p:nvPr/>
          </p:nvSpPr>
          <p:spPr>
            <a:xfrm>
              <a:off x="655" y="1041"/>
              <a:ext cx="846" cy="411"/>
            </a:xfrm>
            <a:prstGeom prst="rect">
              <a:avLst/>
            </a:prstGeom>
            <a:noFill/>
            <a:ln w="9525">
              <a:noFill/>
            </a:ln>
          </p:spPr>
          <p:txBody>
            <a:bodyPr wrap="none">
              <a:spAutoFit/>
            </a:bodyPr>
            <a:p>
              <a:pPr algn="ctr" eaLnBrk="1" hangingPunct="1"/>
              <a:r>
                <a:rPr lang="zh-CN" altLang="en-US" sz="3200" b="1" dirty="0">
                  <a:solidFill>
                    <a:srgbClr val="FF0000"/>
                  </a:solidFill>
                  <a:latin typeface="黑体" panose="02010609060101010101" pitchFamily="49" charset="-122"/>
                  <a:ea typeface="黑体" panose="02010609060101010101" pitchFamily="49" charset="-122"/>
                </a:rPr>
                <a:t>量化</a:t>
              </a:r>
              <a:r>
                <a:rPr lang="en-US" altLang="zh-CN" sz="3200" b="1">
                  <a:solidFill>
                    <a:srgbClr val="FF0000"/>
                  </a:solidFill>
                  <a:latin typeface="黑体" panose="02010609060101010101" pitchFamily="49" charset="-122"/>
                  <a:ea typeface="黑体" panose="02010609060101010101" pitchFamily="49" charset="-122"/>
                </a:rPr>
                <a:t>:</a:t>
              </a:r>
              <a:endParaRPr lang="en-US" altLang="zh-CN" sz="3200" b="1">
                <a:solidFill>
                  <a:srgbClr val="FF0000"/>
                </a:solidFill>
                <a:latin typeface="黑体" panose="02010609060101010101" pitchFamily="49" charset="-122"/>
                <a:ea typeface="黑体" panose="02010609060101010101" pitchFamily="49" charset="-122"/>
              </a:endParaRPr>
            </a:p>
          </p:txBody>
        </p:sp>
      </p:grpSp>
      <p:sp>
        <p:nvSpPr>
          <p:cNvPr id="2269204" name="Text Box 20"/>
          <p:cNvSpPr txBox="1"/>
          <p:nvPr/>
        </p:nvSpPr>
        <p:spPr>
          <a:xfrm>
            <a:off x="1752600" y="3708400"/>
            <a:ext cx="5899150" cy="519113"/>
          </a:xfrm>
          <a:prstGeom prst="rect">
            <a:avLst/>
          </a:prstGeom>
          <a:solidFill>
            <a:srgbClr val="FFCC99"/>
          </a:solidFill>
          <a:ln w="9525">
            <a:noFill/>
          </a:ln>
        </p:spPr>
        <p:txBody>
          <a:bodyPr wrap="none">
            <a:spAutoFit/>
          </a:bodyPr>
          <a:p>
            <a:pPr algn="l" eaLnBrk="1" hangingPunct="1"/>
            <a:r>
              <a:rPr lang="zh-CN" altLang="en-US" sz="2800" b="1" dirty="0">
                <a:solidFill>
                  <a:srgbClr val="FF0000"/>
                </a:solidFill>
                <a:latin typeface="楷体_GB2312" pitchFamily="49" charset="-122"/>
              </a:rPr>
              <a:t>最小数量单位</a:t>
            </a:r>
            <a:r>
              <a:rPr lang="en-US" altLang="zh-CN" sz="2800" b="1">
                <a:solidFill>
                  <a:srgbClr val="FF0000"/>
                </a:solidFill>
                <a:latin typeface="楷体_GB2312" pitchFamily="49" charset="-122"/>
              </a:rPr>
              <a:t>:</a:t>
            </a:r>
            <a:r>
              <a:rPr lang="zh-CN" altLang="en-US" sz="2800" b="1" dirty="0">
                <a:solidFill>
                  <a:srgbClr val="3333FF"/>
                </a:solidFill>
                <a:latin typeface="楷体_GB2312" pitchFamily="49" charset="-122"/>
              </a:rPr>
              <a:t>量化单位，用</a:t>
            </a:r>
            <a:r>
              <a:rPr lang="en-US" altLang="zh-CN" sz="2800" b="1" i="1">
                <a:solidFill>
                  <a:srgbClr val="3333FF"/>
                </a:solidFill>
                <a:latin typeface="Times New Roman" panose="02020603050405020304" pitchFamily="18" charset="0"/>
              </a:rPr>
              <a:t>q</a:t>
            </a:r>
            <a:r>
              <a:rPr lang="zh-CN" altLang="en-US" sz="2800" b="1" dirty="0">
                <a:solidFill>
                  <a:srgbClr val="3333FF"/>
                </a:solidFill>
                <a:latin typeface="楷体_GB2312" pitchFamily="49" charset="-122"/>
              </a:rPr>
              <a:t>表示。</a:t>
            </a:r>
            <a:endParaRPr lang="zh-CN" altLang="en-US" sz="2800" b="1" dirty="0">
              <a:solidFill>
                <a:srgbClr val="3333FF"/>
              </a:solidFill>
              <a:latin typeface="楷体_GB2312" pitchFamily="49" charset="-122"/>
            </a:endParaRPr>
          </a:p>
        </p:txBody>
      </p:sp>
      <p:sp>
        <p:nvSpPr>
          <p:cNvPr id="2269206" name="Text Box 22"/>
          <p:cNvSpPr txBox="1"/>
          <p:nvPr/>
        </p:nvSpPr>
        <p:spPr>
          <a:xfrm>
            <a:off x="860425" y="4365625"/>
            <a:ext cx="2863850" cy="519113"/>
          </a:xfrm>
          <a:prstGeom prst="rect">
            <a:avLst/>
          </a:prstGeom>
          <a:noFill/>
          <a:ln w="9525">
            <a:noFill/>
          </a:ln>
        </p:spPr>
        <p:txBody>
          <a:bodyPr wrap="none">
            <a:spAutoFit/>
          </a:bodyPr>
          <a:p>
            <a:pPr algn="l" eaLnBrk="1" hangingPunct="1"/>
            <a:r>
              <a:rPr lang="zh-CN" altLang="en-US" sz="2800" b="1" dirty="0">
                <a:solidFill>
                  <a:srgbClr val="FF0000"/>
                </a:solidFill>
                <a:latin typeface="黑体" panose="02010609060101010101" pitchFamily="49" charset="-122"/>
                <a:ea typeface="黑体" panose="02010609060101010101" pitchFamily="49" charset="-122"/>
              </a:rPr>
              <a:t>量化单位定义： </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269207" name="Text Box 23"/>
          <p:cNvSpPr txBox="1"/>
          <p:nvPr/>
        </p:nvSpPr>
        <p:spPr>
          <a:xfrm>
            <a:off x="3275013" y="4394200"/>
            <a:ext cx="5510212" cy="946150"/>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量化器满量程电压</a:t>
            </a:r>
            <a:r>
              <a:rPr lang="en-US" altLang="zh-CN" sz="2800" b="1" i="1" err="1">
                <a:solidFill>
                  <a:srgbClr val="FF0000"/>
                </a:solidFill>
                <a:latin typeface="Times New Roman" panose="02020603050405020304" pitchFamily="18" charset="0"/>
                <a:ea typeface="黑体" panose="02010609060101010101" pitchFamily="49" charset="-122"/>
              </a:rPr>
              <a:t>FSR</a:t>
            </a:r>
            <a:r>
              <a:rPr lang="en-US" altLang="zh-CN" sz="2800" b="1" err="1">
                <a:solidFill>
                  <a:schemeClr val="tx1"/>
                </a:solidFill>
                <a:latin typeface="Times New Roman" panose="02020603050405020304" pitchFamily="18" charset="0"/>
                <a:ea typeface="黑体" panose="02010609060101010101" pitchFamily="49" charset="-122"/>
              </a:rPr>
              <a:t>(Full</a:t>
            </a:r>
            <a:r>
              <a:rPr lang="en-US" altLang="zh-CN" sz="2800" b="1">
                <a:solidFill>
                  <a:schemeClr val="tx1"/>
                </a:solidFill>
                <a:latin typeface="Times New Roman" panose="02020603050405020304" pitchFamily="18" charset="0"/>
                <a:ea typeface="黑体" panose="02010609060101010101" pitchFamily="49" charset="-122"/>
              </a:rPr>
              <a:t> Scale Range)</a:t>
            </a:r>
            <a:r>
              <a:rPr lang="zh-CN" altLang="en-US" sz="2800" b="1" dirty="0">
                <a:solidFill>
                  <a:schemeClr val="tx1"/>
                </a:solidFill>
                <a:latin typeface="黑体" panose="02010609060101010101" pitchFamily="49" charset="-122"/>
                <a:ea typeface="黑体" panose="02010609060101010101" pitchFamily="49" charset="-122"/>
              </a:rPr>
              <a:t>与</a:t>
            </a:r>
            <a:r>
              <a:rPr lang="en-US" altLang="zh-CN" sz="2800" b="1">
                <a:solidFill>
                  <a:srgbClr val="FF0000"/>
                </a:solidFill>
                <a:latin typeface="Times New Roman" panose="02020603050405020304" pitchFamily="18" charset="0"/>
                <a:ea typeface="黑体" panose="02010609060101010101" pitchFamily="49" charset="-122"/>
              </a:rPr>
              <a:t>2</a:t>
            </a:r>
            <a:r>
              <a:rPr lang="en-US" altLang="zh-CN" sz="2800" b="1" i="1" baseline="30000">
                <a:solidFill>
                  <a:srgbClr val="FF0000"/>
                </a:solidFill>
                <a:latin typeface="Times New Roman" panose="02020603050405020304" pitchFamily="18" charset="0"/>
                <a:ea typeface="黑体" panose="02010609060101010101" pitchFamily="49" charset="-122"/>
              </a:rPr>
              <a:t>n</a:t>
            </a:r>
            <a:r>
              <a:rPr lang="zh-CN" altLang="en-US" sz="2800" b="1" dirty="0">
                <a:solidFill>
                  <a:schemeClr val="tx1"/>
                </a:solidFill>
                <a:latin typeface="黑体" panose="02010609060101010101" pitchFamily="49" charset="-122"/>
                <a:ea typeface="黑体" panose="02010609060101010101" pitchFamily="49" charset="-122"/>
              </a:rPr>
              <a:t>的比值。 </a:t>
            </a:r>
            <a:endParaRPr lang="zh-CN" altLang="en-US" sz="2800" b="1" dirty="0">
              <a:solidFill>
                <a:schemeClr val="tx1"/>
              </a:solidFill>
              <a:latin typeface="黑体" panose="02010609060101010101" pitchFamily="49" charset="-122"/>
              <a:ea typeface="黑体" panose="02010609060101010101" pitchFamily="49" charset="-122"/>
            </a:endParaRPr>
          </a:p>
        </p:txBody>
      </p:sp>
      <p:grpSp>
        <p:nvGrpSpPr>
          <p:cNvPr id="2269211" name="Group 27"/>
          <p:cNvGrpSpPr/>
          <p:nvPr/>
        </p:nvGrpSpPr>
        <p:grpSpPr>
          <a:xfrm>
            <a:off x="1943100" y="5337175"/>
            <a:ext cx="5267325" cy="825500"/>
            <a:chOff x="1104" y="3328"/>
            <a:chExt cx="3318" cy="520"/>
          </a:xfrm>
        </p:grpSpPr>
        <p:sp>
          <p:nvSpPr>
            <p:cNvPr id="29706" name="Rectangle 26"/>
            <p:cNvSpPr/>
            <p:nvPr/>
          </p:nvSpPr>
          <p:spPr>
            <a:xfrm>
              <a:off x="1104" y="3328"/>
              <a:ext cx="3318" cy="520"/>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graphicFrame>
          <p:nvGraphicFramePr>
            <p:cNvPr id="29707" name="Object 24"/>
            <p:cNvGraphicFramePr>
              <a:graphicFrameLocks noChangeAspect="1"/>
            </p:cNvGraphicFramePr>
            <p:nvPr/>
          </p:nvGraphicFramePr>
          <p:xfrm>
            <a:off x="1270" y="3364"/>
            <a:ext cx="793" cy="454"/>
          </p:xfrm>
          <a:graphic>
            <a:graphicData uri="http://schemas.openxmlformats.org/presentationml/2006/ole">
              <mc:AlternateContent xmlns:mc="http://schemas.openxmlformats.org/markup-compatibility/2006">
                <mc:Choice xmlns:v="urn:schemas-microsoft-com:vml" Requires="v">
                  <p:oleObj spid="_x0000_s3146" name="" r:id="rId1" imgW="571500" imgH="393700" progId="Equation.3">
                    <p:embed/>
                  </p:oleObj>
                </mc:Choice>
                <mc:Fallback>
                  <p:oleObj name="" r:id="rId1" imgW="571500" imgH="393700" progId="Equation.3">
                    <p:embed/>
                    <p:pic>
                      <p:nvPicPr>
                        <p:cNvPr id="0" name="图片 3145"/>
                        <p:cNvPicPr/>
                        <p:nvPr/>
                      </p:nvPicPr>
                      <p:blipFill>
                        <a:blip r:embed="rId2"/>
                        <a:stretch>
                          <a:fillRect/>
                        </a:stretch>
                      </p:blipFill>
                      <p:spPr>
                        <a:xfrm>
                          <a:off x="1270" y="3364"/>
                          <a:ext cx="793" cy="454"/>
                        </a:xfrm>
                        <a:prstGeom prst="rect">
                          <a:avLst/>
                        </a:prstGeom>
                        <a:solidFill>
                          <a:srgbClr val="CCFFFF"/>
                        </a:solidFill>
                        <a:ln w="38100">
                          <a:noFill/>
                          <a:miter/>
                        </a:ln>
                      </p:spPr>
                    </p:pic>
                  </p:oleObj>
                </mc:Fallback>
              </mc:AlternateContent>
            </a:graphicData>
          </a:graphic>
        </p:graphicFrame>
        <p:sp>
          <p:nvSpPr>
            <p:cNvPr id="29708" name="Rectangle 25"/>
            <p:cNvSpPr/>
            <p:nvPr/>
          </p:nvSpPr>
          <p:spPr>
            <a:xfrm>
              <a:off x="2302" y="3430"/>
              <a:ext cx="2042" cy="327"/>
            </a:xfrm>
            <a:prstGeom prst="rect">
              <a:avLst/>
            </a:prstGeom>
            <a:noFill/>
            <a:ln w="9525">
              <a:noFill/>
            </a:ln>
          </p:spPr>
          <p:txBody>
            <a:bodyPr wrap="none">
              <a:spAutoFit/>
            </a:bodyPr>
            <a:p>
              <a:pPr algn="ctr" eaLnBrk="1" hangingPunct="1"/>
              <a:r>
                <a:rPr lang="en-US" altLang="zh-CN" sz="2800" b="1">
                  <a:solidFill>
                    <a:srgbClr val="3333FF"/>
                  </a:solidFill>
                  <a:latin typeface="黑体" panose="02010609060101010101" pitchFamily="49" charset="-122"/>
                  <a:ea typeface="黑体" panose="02010609060101010101" pitchFamily="49" charset="-122"/>
                </a:rPr>
                <a:t>(</a:t>
              </a:r>
              <a:r>
                <a:rPr lang="en-US" altLang="zh-CN" sz="2800" b="1" i="1">
                  <a:solidFill>
                    <a:srgbClr val="FF0000"/>
                  </a:solidFill>
                  <a:latin typeface="Times New Roman" panose="02020603050405020304" pitchFamily="18" charset="0"/>
                  <a:ea typeface="黑体" panose="02010609060101010101" pitchFamily="49" charset="-122"/>
                </a:rPr>
                <a:t>n</a:t>
              </a:r>
              <a:r>
                <a:rPr lang="zh-CN" altLang="en-US" sz="2800" b="1" dirty="0">
                  <a:solidFill>
                    <a:srgbClr val="3333FF"/>
                  </a:solidFill>
                  <a:latin typeface="黑体" panose="02010609060101010101" pitchFamily="49" charset="-122"/>
                  <a:ea typeface="黑体" panose="02010609060101010101" pitchFamily="49" charset="-122"/>
                </a:rPr>
                <a:t>：量化器的位数</a:t>
              </a:r>
              <a:r>
                <a:rPr lang="en-US" altLang="zh-CN" sz="2800" b="1">
                  <a:solidFill>
                    <a:srgbClr val="3333FF"/>
                  </a:solidFill>
                  <a:latin typeface="黑体" panose="02010609060101010101" pitchFamily="49" charset="-122"/>
                  <a:ea typeface="黑体" panose="02010609060101010101" pitchFamily="49" charset="-122"/>
                </a:rPr>
                <a:t>)</a:t>
              </a:r>
              <a:endParaRPr lang="en-US" altLang="zh-CN" sz="2800" b="1">
                <a:solidFill>
                  <a:srgbClr val="3333FF"/>
                </a:solidFill>
                <a:latin typeface="黑体" panose="02010609060101010101" pitchFamily="49" charset="-122"/>
                <a:ea typeface="黑体" panose="02010609060101010101" pitchFamily="49" charset="-122"/>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69195"/>
                                        </p:tgtEl>
                                        <p:attrNameLst>
                                          <p:attrName>style.visibility</p:attrName>
                                        </p:attrNameLst>
                                      </p:cBhvr>
                                      <p:to>
                                        <p:strVal val="visible"/>
                                      </p:to>
                                    </p:set>
                                    <p:animEffect transition="in" filter="dissolve">
                                      <p:cBhvr>
                                        <p:cTn id="7" dur="500"/>
                                        <p:tgtEl>
                                          <p:spTgt spid="22691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69203"/>
                                        </p:tgtEl>
                                        <p:attrNameLst>
                                          <p:attrName>style.visibility</p:attrName>
                                        </p:attrNameLst>
                                      </p:cBhvr>
                                      <p:to>
                                        <p:strVal val="visible"/>
                                      </p:to>
                                    </p:set>
                                    <p:animEffect transition="in" filter="dissolve">
                                      <p:cBhvr>
                                        <p:cTn id="12" dur="500"/>
                                        <p:tgtEl>
                                          <p:spTgt spid="226920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69204"/>
                                        </p:tgtEl>
                                        <p:attrNameLst>
                                          <p:attrName>style.visibility</p:attrName>
                                        </p:attrNameLst>
                                      </p:cBhvr>
                                      <p:to>
                                        <p:strVal val="visible"/>
                                      </p:to>
                                    </p:set>
                                    <p:animEffect transition="in" filter="dissolve">
                                      <p:cBhvr>
                                        <p:cTn id="17" dur="500"/>
                                        <p:tgtEl>
                                          <p:spTgt spid="226920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69207"/>
                                        </p:tgtEl>
                                        <p:attrNameLst>
                                          <p:attrName>style.visibility</p:attrName>
                                        </p:attrNameLst>
                                      </p:cBhvr>
                                      <p:to>
                                        <p:strVal val="visible"/>
                                      </p:to>
                                    </p:set>
                                    <p:animEffect transition="in" filter="dissolve">
                                      <p:cBhvr>
                                        <p:cTn id="22" dur="500"/>
                                        <p:tgtEl>
                                          <p:spTgt spid="2269207"/>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269206"/>
                                        </p:tgtEl>
                                        <p:attrNameLst>
                                          <p:attrName>style.visibility</p:attrName>
                                        </p:attrNameLst>
                                      </p:cBhvr>
                                      <p:to>
                                        <p:strVal val="visible"/>
                                      </p:to>
                                    </p:set>
                                    <p:animEffect transition="in" filter="dissolve">
                                      <p:cBhvr>
                                        <p:cTn id="25" dur="500"/>
                                        <p:tgtEl>
                                          <p:spTgt spid="2269206"/>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269211"/>
                                        </p:tgtEl>
                                        <p:attrNameLst>
                                          <p:attrName>style.visibility</p:attrName>
                                        </p:attrNameLst>
                                      </p:cBhvr>
                                      <p:to>
                                        <p:strVal val="visible"/>
                                      </p:to>
                                    </p:set>
                                    <p:animEffect transition="in" filter="dissolve">
                                      <p:cBhvr>
                                        <p:cTn id="30" dur="500"/>
                                        <p:tgtEl>
                                          <p:spTgt spid="2269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9195" grpId="0" bldLvl="0" animBg="1"/>
      <p:bldP spid="2269204" grpId="0" bldLvl="0" animBg="1"/>
      <p:bldP spid="2269206" grpId="0"/>
      <p:bldP spid="226920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1238" name="Text Box 6"/>
          <p:cNvSpPr txBox="1"/>
          <p:nvPr/>
        </p:nvSpPr>
        <p:spPr>
          <a:xfrm>
            <a:off x="1258888" y="2492375"/>
            <a:ext cx="6983412" cy="519113"/>
          </a:xfrm>
          <a:prstGeom prst="rect">
            <a:avLst/>
          </a:prstGeom>
          <a:noFill/>
          <a:ln w="9525">
            <a:noFill/>
          </a:ln>
        </p:spPr>
        <p:txBody>
          <a:bodyPr>
            <a:spAutoFit/>
          </a:bodyPr>
          <a:p>
            <a:pPr algn="l" eaLnBrk="1" hangingPunct="1">
              <a:buClr>
                <a:srgbClr val="FF0000"/>
              </a:buClr>
              <a:buFont typeface="Wingdings" panose="05000000000000000000" pitchFamily="2" charset="2"/>
              <a:buChar char="Ø"/>
            </a:pPr>
            <a:r>
              <a:rPr lang="en-US" altLang="zh-CN" sz="2800" b="1">
                <a:solidFill>
                  <a:schemeClr val="tx1"/>
                </a:solidFill>
                <a:latin typeface="黑体" panose="02010609060101010101" pitchFamily="49" charset="-122"/>
                <a:ea typeface="黑体" panose="02010609060101010101" pitchFamily="49" charset="-122"/>
              </a:rPr>
              <a:t>  </a:t>
            </a:r>
            <a:r>
              <a:rPr lang="zh-CN" altLang="en-US" sz="2800" b="1" dirty="0">
                <a:solidFill>
                  <a:schemeClr val="tx1"/>
                </a:solidFill>
                <a:latin typeface="黑体" panose="02010609060101010101" pitchFamily="49" charset="-122"/>
                <a:ea typeface="黑体" panose="02010609060101010101" pitchFamily="49" charset="-122"/>
              </a:rPr>
              <a:t>当</a:t>
            </a:r>
            <a:r>
              <a:rPr lang="en-US" altLang="zh-CN" sz="2800" b="1" i="1">
                <a:solidFill>
                  <a:schemeClr val="tx1"/>
                </a:solidFill>
                <a:latin typeface="Times New Roman" panose="02020603050405020304" pitchFamily="18" charset="0"/>
                <a:ea typeface="黑体" panose="02010609060101010101" pitchFamily="49" charset="-122"/>
              </a:rPr>
              <a:t>FSR</a:t>
            </a:r>
            <a:r>
              <a:rPr lang="en-US" altLang="zh-CN" sz="2800" b="1">
                <a:solidFill>
                  <a:schemeClr val="tx1"/>
                </a:solidFill>
                <a:latin typeface="Times New Roman" panose="02020603050405020304" pitchFamily="18" charset="0"/>
                <a:ea typeface="黑体" panose="02010609060101010101" pitchFamily="49" charset="-122"/>
              </a:rPr>
              <a:t> = 10V</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i="1">
                <a:solidFill>
                  <a:schemeClr val="tx1"/>
                </a:solidFill>
                <a:latin typeface="Times New Roman" panose="02020603050405020304" pitchFamily="18" charset="0"/>
                <a:ea typeface="黑体" panose="02010609060101010101" pitchFamily="49" charset="-122"/>
              </a:rPr>
              <a:t>n </a:t>
            </a:r>
            <a:r>
              <a:rPr lang="en-US" altLang="zh-CN" sz="2800" b="1">
                <a:solidFill>
                  <a:schemeClr val="tx1"/>
                </a:solidFill>
                <a:latin typeface="Times New Roman" panose="02020603050405020304" pitchFamily="18" charset="0"/>
                <a:ea typeface="黑体" panose="02010609060101010101" pitchFamily="49" charset="-122"/>
              </a:rPr>
              <a:t>= 8</a:t>
            </a:r>
            <a:r>
              <a:rPr lang="zh-CN" altLang="en-US" sz="2800" b="1" dirty="0">
                <a:solidFill>
                  <a:schemeClr val="tx1"/>
                </a:solidFill>
                <a:latin typeface="黑体" panose="02010609060101010101" pitchFamily="49" charset="-122"/>
                <a:ea typeface="黑体" panose="02010609060101010101" pitchFamily="49" charset="-122"/>
              </a:rPr>
              <a:t>时</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i="1">
                <a:solidFill>
                  <a:schemeClr val="tx1"/>
                </a:solidFill>
                <a:latin typeface="Times New Roman" panose="02020603050405020304" pitchFamily="18" charset="0"/>
                <a:ea typeface="黑体" panose="02010609060101010101" pitchFamily="49" charset="-122"/>
              </a:rPr>
              <a:t>q </a:t>
            </a:r>
            <a:r>
              <a:rPr lang="en-US" altLang="zh-CN" sz="2800" b="1">
                <a:solidFill>
                  <a:schemeClr val="tx1"/>
                </a:solidFill>
                <a:latin typeface="Times New Roman" panose="02020603050405020304" pitchFamily="18" charset="0"/>
                <a:ea typeface="黑体" panose="02010609060101010101" pitchFamily="49" charset="-122"/>
              </a:rPr>
              <a:t>= 39.1 mV</a:t>
            </a:r>
            <a:r>
              <a:rPr lang="zh-CN" altLang="en-US" sz="2800" b="1" dirty="0">
                <a:solidFill>
                  <a:schemeClr val="tx1"/>
                </a:solidFill>
                <a:latin typeface="黑体" panose="02010609060101010101" pitchFamily="49" charset="-122"/>
                <a:ea typeface="黑体" panose="02010609060101010101" pitchFamily="49" charset="-122"/>
              </a:rPr>
              <a:t>；</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71239" name="Text Box 7"/>
          <p:cNvSpPr txBox="1"/>
          <p:nvPr/>
        </p:nvSpPr>
        <p:spPr>
          <a:xfrm>
            <a:off x="1258888" y="3032125"/>
            <a:ext cx="7467600" cy="519113"/>
          </a:xfrm>
          <a:prstGeom prst="rect">
            <a:avLst/>
          </a:prstGeom>
          <a:noFill/>
          <a:ln w="9525">
            <a:noFill/>
          </a:ln>
        </p:spPr>
        <p:txBody>
          <a:bodyPr>
            <a:spAutoFit/>
          </a:bodyPr>
          <a:p>
            <a:pPr algn="l" eaLnBrk="1" hangingPunct="1">
              <a:buClr>
                <a:srgbClr val="FF0000"/>
              </a:buClr>
              <a:buFont typeface="Wingdings" panose="05000000000000000000" pitchFamily="2" charset="2"/>
              <a:buChar char="Ø"/>
            </a:pP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当</a:t>
            </a:r>
            <a:r>
              <a:rPr lang="en-US" altLang="zh-CN" sz="2800" b="1" i="1">
                <a:solidFill>
                  <a:schemeClr val="tx1"/>
                </a:solidFill>
                <a:latin typeface="Times New Roman" panose="02020603050405020304" pitchFamily="18" charset="0"/>
                <a:ea typeface="黑体" panose="02010609060101010101" pitchFamily="49" charset="-122"/>
              </a:rPr>
              <a:t>FSR</a:t>
            </a:r>
            <a:r>
              <a:rPr lang="en-US" altLang="zh-CN" sz="2800" b="1">
                <a:solidFill>
                  <a:schemeClr val="tx1"/>
                </a:solidFill>
                <a:latin typeface="Times New Roman" panose="02020603050405020304" pitchFamily="18" charset="0"/>
                <a:ea typeface="黑体" panose="02010609060101010101" pitchFamily="49" charset="-122"/>
              </a:rPr>
              <a:t> = 10V</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i="1">
                <a:solidFill>
                  <a:schemeClr val="tx1"/>
                </a:solidFill>
                <a:latin typeface="Times New Roman" panose="02020603050405020304" pitchFamily="18" charset="0"/>
                <a:ea typeface="黑体" panose="02010609060101010101" pitchFamily="49" charset="-122"/>
              </a:rPr>
              <a:t>n</a:t>
            </a:r>
            <a:r>
              <a:rPr lang="en-US" altLang="zh-CN" sz="2800" b="1">
                <a:solidFill>
                  <a:schemeClr val="tx1"/>
                </a:solidFill>
                <a:latin typeface="Times New Roman" panose="02020603050405020304" pitchFamily="18" charset="0"/>
                <a:ea typeface="黑体" panose="02010609060101010101" pitchFamily="49" charset="-122"/>
              </a:rPr>
              <a:t> = 12</a:t>
            </a:r>
            <a:r>
              <a:rPr lang="zh-CN" altLang="en-US" sz="2800" b="1" dirty="0">
                <a:solidFill>
                  <a:schemeClr val="tx1"/>
                </a:solidFill>
                <a:latin typeface="Times New Roman" panose="02020603050405020304" pitchFamily="18" charset="0"/>
                <a:ea typeface="黑体" panose="02010609060101010101" pitchFamily="49" charset="-122"/>
              </a:rPr>
              <a:t>时，</a:t>
            </a:r>
            <a:r>
              <a:rPr lang="en-US" altLang="zh-CN" sz="2800" b="1" i="1">
                <a:solidFill>
                  <a:schemeClr val="tx1"/>
                </a:solidFill>
                <a:latin typeface="Times New Roman" panose="02020603050405020304" pitchFamily="18" charset="0"/>
                <a:ea typeface="黑体" panose="02010609060101010101" pitchFamily="49" charset="-122"/>
              </a:rPr>
              <a:t>q</a:t>
            </a:r>
            <a:r>
              <a:rPr lang="en-US" altLang="zh-CN" sz="2800" b="1">
                <a:solidFill>
                  <a:schemeClr val="tx1"/>
                </a:solidFill>
                <a:latin typeface="Times New Roman" panose="02020603050405020304" pitchFamily="18" charset="0"/>
                <a:ea typeface="黑体" panose="02010609060101010101" pitchFamily="49" charset="-122"/>
              </a:rPr>
              <a:t> = 2.44 mV</a:t>
            </a:r>
            <a:r>
              <a:rPr lang="zh-CN" altLang="en-US" sz="2800" b="1" dirty="0">
                <a:solidFill>
                  <a:schemeClr val="tx1"/>
                </a:solidFill>
                <a:latin typeface="Times New Roman" panose="02020603050405020304" pitchFamily="18" charset="0"/>
                <a:ea typeface="黑体" panose="02010609060101010101" pitchFamily="49" charset="-122"/>
              </a:rPr>
              <a:t>；</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71240" name="Text Box 8"/>
          <p:cNvSpPr txBox="1"/>
          <p:nvPr/>
        </p:nvSpPr>
        <p:spPr>
          <a:xfrm>
            <a:off x="1258888" y="3571875"/>
            <a:ext cx="7572375" cy="519113"/>
          </a:xfrm>
          <a:prstGeom prst="rect">
            <a:avLst/>
          </a:prstGeom>
          <a:noFill/>
          <a:ln w="9525">
            <a:noFill/>
          </a:ln>
        </p:spPr>
        <p:txBody>
          <a:bodyPr>
            <a:spAutoFit/>
          </a:bodyPr>
          <a:p>
            <a:pPr algn="l" eaLnBrk="1" hangingPunct="1">
              <a:buClr>
                <a:srgbClr val="FF0000"/>
              </a:buClr>
              <a:buFont typeface="Wingdings" panose="05000000000000000000" pitchFamily="2" charset="2"/>
              <a:buChar char="Ø"/>
            </a:pPr>
            <a:r>
              <a:rPr lang="en-US" altLang="zh-CN" sz="2800" b="1">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当</a:t>
            </a:r>
            <a:r>
              <a:rPr lang="en-US" altLang="zh-CN" sz="2800" b="1" i="1">
                <a:solidFill>
                  <a:schemeClr val="tx1"/>
                </a:solidFill>
                <a:latin typeface="Times New Roman" panose="02020603050405020304" pitchFamily="18" charset="0"/>
                <a:ea typeface="黑体" panose="02010609060101010101" pitchFamily="49" charset="-122"/>
              </a:rPr>
              <a:t>FSR</a:t>
            </a:r>
            <a:r>
              <a:rPr lang="en-US" altLang="zh-CN" sz="2800" b="1">
                <a:solidFill>
                  <a:schemeClr val="tx1"/>
                </a:solidFill>
                <a:latin typeface="Times New Roman" panose="02020603050405020304" pitchFamily="18" charset="0"/>
                <a:ea typeface="黑体" panose="02010609060101010101" pitchFamily="49" charset="-122"/>
              </a:rPr>
              <a:t> = 10V</a:t>
            </a:r>
            <a:r>
              <a:rPr lang="zh-CN" altLang="en-US" sz="2800" b="1" dirty="0">
                <a:solidFill>
                  <a:schemeClr val="tx1"/>
                </a:solidFill>
                <a:latin typeface="Times New Roman" panose="02020603050405020304" pitchFamily="18" charset="0"/>
                <a:ea typeface="黑体" panose="02010609060101010101" pitchFamily="49" charset="-122"/>
              </a:rPr>
              <a:t>，</a:t>
            </a:r>
            <a:r>
              <a:rPr lang="en-US" altLang="zh-CN" sz="2800" b="1" i="1">
                <a:solidFill>
                  <a:schemeClr val="tx1"/>
                </a:solidFill>
                <a:latin typeface="Times New Roman" panose="02020603050405020304" pitchFamily="18" charset="0"/>
                <a:ea typeface="黑体" panose="02010609060101010101" pitchFamily="49" charset="-122"/>
              </a:rPr>
              <a:t>n</a:t>
            </a:r>
            <a:r>
              <a:rPr lang="en-US" altLang="zh-CN" sz="2800" b="1">
                <a:solidFill>
                  <a:schemeClr val="tx1"/>
                </a:solidFill>
                <a:latin typeface="Times New Roman" panose="02020603050405020304" pitchFamily="18" charset="0"/>
                <a:ea typeface="黑体" panose="02010609060101010101" pitchFamily="49" charset="-122"/>
              </a:rPr>
              <a:t> = 16</a:t>
            </a:r>
            <a:r>
              <a:rPr lang="zh-CN" altLang="en-US" sz="2800" b="1" dirty="0">
                <a:solidFill>
                  <a:schemeClr val="tx1"/>
                </a:solidFill>
                <a:latin typeface="Times New Roman" panose="02020603050405020304" pitchFamily="18" charset="0"/>
                <a:ea typeface="黑体" panose="02010609060101010101" pitchFamily="49" charset="-122"/>
              </a:rPr>
              <a:t>时，</a:t>
            </a:r>
            <a:r>
              <a:rPr lang="en-US" altLang="zh-CN" sz="2800" b="1" i="1">
                <a:solidFill>
                  <a:schemeClr val="tx1"/>
                </a:solidFill>
                <a:latin typeface="Times New Roman" panose="02020603050405020304" pitchFamily="18" charset="0"/>
                <a:ea typeface="黑体" panose="02010609060101010101" pitchFamily="49" charset="-122"/>
              </a:rPr>
              <a:t>q</a:t>
            </a:r>
            <a:r>
              <a:rPr lang="en-US" altLang="zh-CN" sz="2800" b="1">
                <a:solidFill>
                  <a:schemeClr val="tx1"/>
                </a:solidFill>
                <a:latin typeface="Times New Roman" panose="02020603050405020304" pitchFamily="18" charset="0"/>
                <a:ea typeface="黑体" panose="02010609060101010101" pitchFamily="49" charset="-122"/>
              </a:rPr>
              <a:t> = 0.15 mV</a:t>
            </a:r>
            <a:r>
              <a:rPr lang="zh-CN" altLang="en-US" sz="2800" b="1" dirty="0">
                <a:solidFill>
                  <a:schemeClr val="tx1"/>
                </a:solidFill>
                <a:latin typeface="Times New Roman" panose="02020603050405020304" pitchFamily="18" charset="0"/>
                <a:ea typeface="黑体" panose="02010609060101010101" pitchFamily="49" charset="-122"/>
              </a:rPr>
              <a:t>。</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71242" name="Text Box 10"/>
          <p:cNvSpPr txBox="1"/>
          <p:nvPr/>
        </p:nvSpPr>
        <p:spPr>
          <a:xfrm>
            <a:off x="1117600" y="4724400"/>
            <a:ext cx="7054850" cy="641350"/>
          </a:xfrm>
          <a:prstGeom prst="rect">
            <a:avLst/>
          </a:prstGeom>
          <a:solidFill>
            <a:srgbClr val="CCFFFF"/>
          </a:solidFill>
          <a:ln w="9525">
            <a:noFill/>
          </a:ln>
        </p:spPr>
        <p:txBody>
          <a:bodyPr>
            <a:spAutoFit/>
          </a:bodyPr>
          <a:p>
            <a:pPr algn="l" eaLnBrk="1" hangingPunct="1"/>
            <a:r>
              <a:rPr lang="zh-CN" altLang="en-US" b="1" dirty="0">
                <a:solidFill>
                  <a:srgbClr val="3333FF"/>
                </a:solidFill>
                <a:latin typeface="黑体" panose="02010609060101010101" pitchFamily="49" charset="-122"/>
                <a:ea typeface="黑体" panose="02010609060101010101" pitchFamily="49" charset="-122"/>
              </a:rPr>
              <a:t>量化器的位数</a:t>
            </a:r>
            <a:r>
              <a:rPr lang="en-US" altLang="zh-CN" b="1" i="1">
                <a:solidFill>
                  <a:srgbClr val="3333FF"/>
                </a:solidFill>
                <a:latin typeface="Times New Roman" panose="02020603050405020304" pitchFamily="18" charset="0"/>
                <a:ea typeface="黑体" panose="02010609060101010101" pitchFamily="49" charset="-122"/>
              </a:rPr>
              <a:t>n</a:t>
            </a:r>
            <a:r>
              <a:rPr lang="en-US" altLang="zh-CN" b="1">
                <a:solidFill>
                  <a:srgbClr val="FF0000"/>
                </a:solidFill>
                <a:latin typeface="黑体" panose="02010609060101010101" pitchFamily="49" charset="-122"/>
                <a:ea typeface="黑体" panose="02010609060101010101" pitchFamily="49" charset="-122"/>
              </a:rPr>
              <a:t>↑</a:t>
            </a:r>
            <a:r>
              <a:rPr lang="zh-CN" altLang="en-US" b="1" dirty="0">
                <a:solidFill>
                  <a:srgbClr val="3333FF"/>
                </a:solidFill>
                <a:latin typeface="黑体" panose="02010609060101010101" pitchFamily="49" charset="-122"/>
                <a:ea typeface="黑体" panose="02010609060101010101" pitchFamily="49" charset="-122"/>
              </a:rPr>
              <a:t>，量化单位</a:t>
            </a:r>
            <a:r>
              <a:rPr lang="en-US" altLang="zh-CN" b="1" i="1">
                <a:solidFill>
                  <a:srgbClr val="3333FF"/>
                </a:solidFill>
                <a:latin typeface="Times New Roman" panose="02020603050405020304" pitchFamily="18" charset="0"/>
                <a:ea typeface="黑体" panose="02010609060101010101" pitchFamily="49" charset="-122"/>
              </a:rPr>
              <a:t>q</a:t>
            </a:r>
            <a:r>
              <a:rPr lang="en-US" altLang="zh-CN" b="1">
                <a:solidFill>
                  <a:srgbClr val="FF0000"/>
                </a:solidFill>
                <a:latin typeface="黑体" panose="02010609060101010101" pitchFamily="49" charset="-122"/>
                <a:ea typeface="黑体" panose="02010609060101010101" pitchFamily="49" charset="-122"/>
              </a:rPr>
              <a:t>↓</a:t>
            </a:r>
            <a:r>
              <a:rPr lang="zh-CN" altLang="en-US" b="1" dirty="0">
                <a:solidFill>
                  <a:srgbClr val="3333FF"/>
                </a:solidFill>
                <a:latin typeface="黑体" panose="02010609060101010101" pitchFamily="49" charset="-122"/>
                <a:ea typeface="黑体" panose="02010609060101010101" pitchFamily="49" charset="-122"/>
              </a:rPr>
              <a:t>。 </a:t>
            </a:r>
            <a:endParaRPr lang="zh-CN" altLang="en-US" b="1" dirty="0">
              <a:solidFill>
                <a:srgbClr val="3333FF"/>
              </a:solidFill>
              <a:latin typeface="黑体" panose="02010609060101010101" pitchFamily="49" charset="-122"/>
              <a:ea typeface="黑体" panose="02010609060101010101" pitchFamily="49" charset="-122"/>
            </a:endParaRPr>
          </a:p>
        </p:txBody>
      </p:sp>
      <p:sp>
        <p:nvSpPr>
          <p:cNvPr id="2271246" name="Text Box 1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1247" name="Text Box 15"/>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1249" name="Text Box 17"/>
          <p:cNvSpPr txBox="1"/>
          <p:nvPr/>
        </p:nvSpPr>
        <p:spPr>
          <a:xfrm>
            <a:off x="611188" y="1652588"/>
            <a:ext cx="1512887" cy="588962"/>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例子：</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69195" name="Text Box 11"/>
          <p:cNvSpPr txBox="1"/>
          <p:nvPr/>
        </p:nvSpPr>
        <p:spPr>
          <a:xfrm>
            <a:off x="560388" y="782638"/>
            <a:ext cx="253523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2.7.1 </a:t>
            </a:r>
            <a:r>
              <a:rPr lang="zh-CN" altLang="en-US" sz="3200" b="1" dirty="0">
                <a:solidFill>
                  <a:srgbClr val="333399"/>
                </a:solidFill>
                <a:latin typeface="楷体_GB2312" pitchFamily="49" charset="-122"/>
              </a:rPr>
              <a:t>量化</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1249"/>
                                        </p:tgtEl>
                                        <p:attrNameLst>
                                          <p:attrName>style.visibility</p:attrName>
                                        </p:attrNameLst>
                                      </p:cBhvr>
                                      <p:to>
                                        <p:strVal val="visible"/>
                                      </p:to>
                                    </p:set>
                                    <p:animEffect transition="in" filter="dissolve">
                                      <p:cBhvr>
                                        <p:cTn id="7" dur="500"/>
                                        <p:tgtEl>
                                          <p:spTgt spid="2271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1238"/>
                                        </p:tgtEl>
                                        <p:attrNameLst>
                                          <p:attrName>style.visibility</p:attrName>
                                        </p:attrNameLst>
                                      </p:cBhvr>
                                      <p:to>
                                        <p:strVal val="visible"/>
                                      </p:to>
                                    </p:set>
                                    <p:animEffect transition="in" filter="dissolve">
                                      <p:cBhvr>
                                        <p:cTn id="12" dur="500"/>
                                        <p:tgtEl>
                                          <p:spTgt spid="227123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1239"/>
                                        </p:tgtEl>
                                        <p:attrNameLst>
                                          <p:attrName>style.visibility</p:attrName>
                                        </p:attrNameLst>
                                      </p:cBhvr>
                                      <p:to>
                                        <p:strVal val="visible"/>
                                      </p:to>
                                    </p:set>
                                    <p:animEffect transition="in" filter="dissolve">
                                      <p:cBhvr>
                                        <p:cTn id="17" dur="500"/>
                                        <p:tgtEl>
                                          <p:spTgt spid="227123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71240"/>
                                        </p:tgtEl>
                                        <p:attrNameLst>
                                          <p:attrName>style.visibility</p:attrName>
                                        </p:attrNameLst>
                                      </p:cBhvr>
                                      <p:to>
                                        <p:strVal val="visible"/>
                                      </p:to>
                                    </p:set>
                                    <p:animEffect transition="in" filter="dissolve">
                                      <p:cBhvr>
                                        <p:cTn id="22" dur="500"/>
                                        <p:tgtEl>
                                          <p:spTgt spid="227124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71242"/>
                                        </p:tgtEl>
                                        <p:attrNameLst>
                                          <p:attrName>style.visibility</p:attrName>
                                        </p:attrNameLst>
                                      </p:cBhvr>
                                      <p:to>
                                        <p:strVal val="visible"/>
                                      </p:to>
                                    </p:set>
                                    <p:animEffect transition="in" filter="dissolve">
                                      <p:cBhvr>
                                        <p:cTn id="27" dur="500"/>
                                        <p:tgtEl>
                                          <p:spTgt spid="2271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1238" grpId="0"/>
      <p:bldP spid="2271239" grpId="0"/>
      <p:bldP spid="2271240" grpId="0"/>
      <p:bldP spid="2271242" grpId="0" bldLvl="0" animBg="1"/>
      <p:bldP spid="2271249" grpId="0" bldLvl="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2263" name="Text Box 7"/>
          <p:cNvSpPr txBox="1"/>
          <p:nvPr/>
        </p:nvSpPr>
        <p:spPr>
          <a:xfrm>
            <a:off x="1042988" y="1830388"/>
            <a:ext cx="7381875" cy="519112"/>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ea typeface="黑体" panose="02010609060101010101" pitchFamily="49" charset="-122"/>
              </a:rPr>
              <a:t>日常生活中使用的人民币，其最小单位是</a:t>
            </a:r>
            <a:r>
              <a:rPr lang="zh-CN" altLang="en-US" sz="2800" b="1" dirty="0">
                <a:solidFill>
                  <a:srgbClr val="FF0000"/>
                </a:solidFill>
                <a:latin typeface="Times New Roman" panose="02020603050405020304" pitchFamily="18" charset="0"/>
                <a:ea typeface="黑体" panose="02010609060101010101" pitchFamily="49" charset="-122"/>
              </a:rPr>
              <a:t>分</a:t>
            </a:r>
            <a:r>
              <a:rPr lang="zh-CN" altLang="en-US" sz="2800" b="1" dirty="0">
                <a:solidFill>
                  <a:schemeClr val="tx1"/>
                </a:solidFill>
                <a:latin typeface="Times New Roman" panose="02020603050405020304" pitchFamily="18" charset="0"/>
                <a:ea typeface="黑体" panose="02010609060101010101" pitchFamily="49" charset="-122"/>
              </a:rPr>
              <a:t>。</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72265" name="Text Box 9"/>
          <p:cNvSpPr txBox="1"/>
          <p:nvPr/>
        </p:nvSpPr>
        <p:spPr>
          <a:xfrm>
            <a:off x="1908175" y="3644900"/>
            <a:ext cx="3851275" cy="579438"/>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3200" b="1">
                <a:solidFill>
                  <a:schemeClr val="tx1"/>
                </a:solidFill>
                <a:latin typeface="楷体_GB2312" pitchFamily="49" charset="-122"/>
              </a:rPr>
              <a:t>  </a:t>
            </a:r>
            <a:r>
              <a:rPr lang="zh-CN" altLang="en-US" sz="3200" b="1" dirty="0">
                <a:solidFill>
                  <a:schemeClr val="tx1"/>
                </a:solidFill>
                <a:latin typeface="楷体_GB2312" pitchFamily="49" charset="-122"/>
              </a:rPr>
              <a:t>一概忽略</a:t>
            </a:r>
            <a:endParaRPr lang="zh-CN" altLang="en-US" sz="3200" b="1" dirty="0">
              <a:solidFill>
                <a:schemeClr val="tx1"/>
              </a:solidFill>
              <a:latin typeface="楷体_GB2312" pitchFamily="49" charset="-122"/>
            </a:endParaRPr>
          </a:p>
        </p:txBody>
      </p:sp>
      <p:sp>
        <p:nvSpPr>
          <p:cNvPr id="2272266" name="Text Box 10"/>
          <p:cNvSpPr txBox="1"/>
          <p:nvPr/>
        </p:nvSpPr>
        <p:spPr>
          <a:xfrm>
            <a:off x="1908175" y="4221163"/>
            <a:ext cx="3419475" cy="579437"/>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3200" b="1">
                <a:solidFill>
                  <a:schemeClr val="tx1"/>
                </a:solidFill>
                <a:latin typeface="楷体_GB2312" pitchFamily="49" charset="-122"/>
              </a:rPr>
              <a:t>  </a:t>
            </a:r>
            <a:r>
              <a:rPr lang="zh-CN" altLang="en-US" sz="3200" b="1" dirty="0">
                <a:solidFill>
                  <a:schemeClr val="tx1"/>
                </a:solidFill>
                <a:latin typeface="楷体_GB2312" pitchFamily="49" charset="-122"/>
              </a:rPr>
              <a:t>四舍五入</a:t>
            </a:r>
            <a:endParaRPr lang="zh-CN" altLang="en-US" sz="3200" b="1" dirty="0">
              <a:solidFill>
                <a:schemeClr val="tx1"/>
              </a:solidFill>
              <a:latin typeface="楷体_GB2312" pitchFamily="49" charset="-122"/>
            </a:endParaRPr>
          </a:p>
        </p:txBody>
      </p:sp>
      <p:sp>
        <p:nvSpPr>
          <p:cNvPr id="2272270" name="Text Box 14"/>
          <p:cNvSpPr txBox="1"/>
          <p:nvPr/>
        </p:nvSpPr>
        <p:spPr>
          <a:xfrm>
            <a:off x="1192213" y="5265738"/>
            <a:ext cx="6727825" cy="519112"/>
          </a:xfrm>
          <a:prstGeom prst="rect">
            <a:avLst/>
          </a:prstGeom>
          <a:solidFill>
            <a:srgbClr val="CCFFFF"/>
          </a:solidFill>
          <a:ln w="9525">
            <a:noFill/>
          </a:ln>
        </p:spPr>
        <p:txBody>
          <a:bodyPr>
            <a:spAutoFit/>
          </a:bodyPr>
          <a:p>
            <a:pPr algn="ctr" eaLnBrk="1" hangingPunct="1"/>
            <a:r>
              <a:rPr lang="zh-CN" altLang="en-US" sz="2800" b="1" dirty="0">
                <a:solidFill>
                  <a:srgbClr val="333399"/>
                </a:solidFill>
                <a:latin typeface="黑体" panose="02010609060101010101" pitchFamily="49" charset="-122"/>
                <a:ea typeface="黑体" panose="02010609060101010101" pitchFamily="49" charset="-122"/>
              </a:rPr>
              <a:t>类似地，</a:t>
            </a:r>
            <a:r>
              <a:rPr lang="en-US" altLang="zh-CN" sz="2800" b="1">
                <a:solidFill>
                  <a:srgbClr val="333399"/>
                </a:solidFill>
                <a:latin typeface="黑体" panose="02010609060101010101" pitchFamily="49" charset="-122"/>
                <a:ea typeface="黑体" panose="02010609060101010101" pitchFamily="49" charset="-122"/>
              </a:rPr>
              <a:t>A/D</a:t>
            </a:r>
            <a:r>
              <a:rPr lang="zh-CN" altLang="en-US" sz="2800" b="1" dirty="0">
                <a:solidFill>
                  <a:srgbClr val="333399"/>
                </a:solidFill>
                <a:latin typeface="黑体" panose="02010609060101010101" pitchFamily="49" charset="-122"/>
                <a:ea typeface="黑体" panose="02010609060101010101" pitchFamily="49" charset="-122"/>
              </a:rPr>
              <a:t>转换器也有两种量化方法。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72272" name="Text Box 1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2273" name="Text Box 17"/>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2274" name="Rectangle 18"/>
          <p:cNvSpPr/>
          <p:nvPr/>
        </p:nvSpPr>
        <p:spPr>
          <a:xfrm>
            <a:off x="755650" y="2636838"/>
            <a:ext cx="7272338" cy="946150"/>
          </a:xfrm>
          <a:prstGeom prst="rect">
            <a:avLst/>
          </a:prstGeom>
          <a:noFill/>
          <a:ln w="9525">
            <a:noFill/>
          </a:ln>
        </p:spPr>
        <p:txBody>
          <a:bodyPr>
            <a:spAutoFit/>
          </a:bodyPr>
          <a:p>
            <a:pPr algn="l" eaLnBrk="1" hangingPunct="1"/>
            <a:r>
              <a:rPr lang="zh-CN" altLang="en-US" sz="2800" b="1" dirty="0">
                <a:solidFill>
                  <a:srgbClr val="333399"/>
                </a:solidFill>
                <a:latin typeface="黑体" panose="02010609060101010101" pitchFamily="49" charset="-122"/>
                <a:ea typeface="黑体" panose="02010609060101010101" pitchFamily="49" charset="-122"/>
              </a:rPr>
              <a:t>在计算某个货物的价值时，对不到一分钱的剩余部分，处理方法有：</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72275" name="AutoShape 19"/>
          <p:cNvSpPr/>
          <p:nvPr/>
        </p:nvSpPr>
        <p:spPr>
          <a:xfrm>
            <a:off x="6011863" y="1039813"/>
            <a:ext cx="2268537" cy="579437"/>
          </a:xfrm>
          <a:prstGeom prst="wedgeRoundRectCallout">
            <a:avLst>
              <a:gd name="adj1" fmla="val 26139"/>
              <a:gd name="adj2" fmla="val 94931"/>
              <a:gd name="adj3" fmla="val 16667"/>
            </a:avLst>
          </a:prstGeom>
          <a:solidFill>
            <a:schemeClr val="accent1"/>
          </a:solidFill>
          <a:ln w="9525" cap="flat" cmpd="sng">
            <a:solidFill>
              <a:schemeClr val="tx1"/>
            </a:solidFill>
            <a:prstDash val="solid"/>
            <a:miter/>
            <a:headEnd type="none" w="med" len="med"/>
            <a:tailEnd type="none" w="med" len="med"/>
          </a:ln>
        </p:spPr>
        <p:txBody>
          <a:bodyPr anchor="ctr" anchorCtr="0"/>
          <a:p>
            <a:pPr algn="ctr" eaLnBrk="1" hangingPunct="1"/>
            <a:r>
              <a:rPr lang="zh-CN" altLang="en-US" sz="2400" b="1" dirty="0">
                <a:solidFill>
                  <a:schemeClr val="tx1"/>
                </a:solidFill>
                <a:latin typeface="黑体" panose="02010609060101010101" pitchFamily="49" charset="-122"/>
                <a:ea typeface="黑体" panose="02010609060101010101" pitchFamily="49" charset="-122"/>
              </a:rPr>
              <a:t>类似</a:t>
            </a:r>
            <a:r>
              <a:rPr lang="zh-CN" altLang="en-US" sz="2400" b="1" dirty="0">
                <a:solidFill>
                  <a:srgbClr val="FF0000"/>
                </a:solidFill>
                <a:latin typeface="黑体" panose="02010609060101010101" pitchFamily="49" charset="-122"/>
                <a:ea typeface="黑体" panose="02010609060101010101" pitchFamily="49" charset="-122"/>
              </a:rPr>
              <a:t>量化单位</a:t>
            </a:r>
            <a:endParaRPr lang="zh-CN" altLang="en-US" sz="2400" b="1" dirty="0">
              <a:solidFill>
                <a:srgbClr val="FF0000"/>
              </a:solidFill>
              <a:latin typeface="黑体" panose="02010609060101010101" pitchFamily="49" charset="-122"/>
              <a:ea typeface="黑体" panose="02010609060101010101" pitchFamily="49" charset="-122"/>
            </a:endParaRPr>
          </a:p>
        </p:txBody>
      </p:sp>
      <p:sp>
        <p:nvSpPr>
          <p:cNvPr id="31756"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2263"/>
                                        </p:tgtEl>
                                        <p:attrNameLst>
                                          <p:attrName>style.visibility</p:attrName>
                                        </p:attrNameLst>
                                      </p:cBhvr>
                                      <p:to>
                                        <p:strVal val="visible"/>
                                      </p:to>
                                    </p:set>
                                    <p:animEffect transition="in" filter="dissolve">
                                      <p:cBhvr>
                                        <p:cTn id="7" dur="500"/>
                                        <p:tgtEl>
                                          <p:spTgt spid="22722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2275"/>
                                        </p:tgtEl>
                                        <p:attrNameLst>
                                          <p:attrName>style.visibility</p:attrName>
                                        </p:attrNameLst>
                                      </p:cBhvr>
                                      <p:to>
                                        <p:strVal val="visible"/>
                                      </p:to>
                                    </p:set>
                                    <p:animEffect transition="in" filter="dissolve">
                                      <p:cBhvr>
                                        <p:cTn id="12" dur="500"/>
                                        <p:tgtEl>
                                          <p:spTgt spid="227227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2274"/>
                                        </p:tgtEl>
                                        <p:attrNameLst>
                                          <p:attrName>style.visibility</p:attrName>
                                        </p:attrNameLst>
                                      </p:cBhvr>
                                      <p:to>
                                        <p:strVal val="visible"/>
                                      </p:to>
                                    </p:set>
                                    <p:animEffect transition="in" filter="dissolve">
                                      <p:cBhvr>
                                        <p:cTn id="17" dur="500"/>
                                        <p:tgtEl>
                                          <p:spTgt spid="227227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72265"/>
                                        </p:tgtEl>
                                        <p:attrNameLst>
                                          <p:attrName>style.visibility</p:attrName>
                                        </p:attrNameLst>
                                      </p:cBhvr>
                                      <p:to>
                                        <p:strVal val="visible"/>
                                      </p:to>
                                    </p:set>
                                    <p:animEffect transition="in" filter="dissolve">
                                      <p:cBhvr>
                                        <p:cTn id="22" dur="500"/>
                                        <p:tgtEl>
                                          <p:spTgt spid="2272265"/>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272266"/>
                                        </p:tgtEl>
                                        <p:attrNameLst>
                                          <p:attrName>style.visibility</p:attrName>
                                        </p:attrNameLst>
                                      </p:cBhvr>
                                      <p:to>
                                        <p:strVal val="visible"/>
                                      </p:to>
                                    </p:set>
                                    <p:animEffect transition="in" filter="dissolve">
                                      <p:cBhvr>
                                        <p:cTn id="25" dur="500"/>
                                        <p:tgtEl>
                                          <p:spTgt spid="2272266"/>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272270"/>
                                        </p:tgtEl>
                                        <p:attrNameLst>
                                          <p:attrName>style.visibility</p:attrName>
                                        </p:attrNameLst>
                                      </p:cBhvr>
                                      <p:to>
                                        <p:strVal val="visible"/>
                                      </p:to>
                                    </p:set>
                                    <p:animEffect transition="in" filter="dissolve">
                                      <p:cBhvr>
                                        <p:cTn id="30" dur="500"/>
                                        <p:tgtEl>
                                          <p:spTgt spid="2272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2263" grpId="0"/>
      <p:bldP spid="2272265" grpId="0"/>
      <p:bldP spid="2272266" grpId="0"/>
      <p:bldP spid="2272270" grpId="0" bldLvl="0" animBg="1"/>
      <p:bldP spid="2272274" grpId="0"/>
      <p:bldP spid="2272275" grpId="0" bldLvl="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3293" name="Text Box 2061"/>
          <p:cNvSpPr txBox="1"/>
          <p:nvPr/>
        </p:nvSpPr>
        <p:spPr>
          <a:xfrm>
            <a:off x="3995738" y="3836988"/>
            <a:ext cx="2555875" cy="457200"/>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zh-CN" altLang="en-US" sz="2400" b="1" dirty="0">
                <a:solidFill>
                  <a:srgbClr val="FF0000"/>
                </a:solidFill>
                <a:latin typeface="楷体_GB2312" pitchFamily="49" charset="-122"/>
              </a:rPr>
              <a:t>只舍不入：</a:t>
            </a:r>
            <a:endParaRPr lang="zh-CN" altLang="en-US" sz="2400" b="1" dirty="0">
              <a:solidFill>
                <a:srgbClr val="FF0000"/>
              </a:solidFill>
              <a:latin typeface="楷体_GB2312" pitchFamily="49" charset="-122"/>
            </a:endParaRPr>
          </a:p>
        </p:txBody>
      </p:sp>
      <p:sp>
        <p:nvSpPr>
          <p:cNvPr id="2273294" name="Text Box 2062"/>
          <p:cNvSpPr txBox="1"/>
          <p:nvPr/>
        </p:nvSpPr>
        <p:spPr>
          <a:xfrm>
            <a:off x="3995738" y="4787900"/>
            <a:ext cx="2555875" cy="457200"/>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zh-CN" altLang="en-US" sz="2400" b="1" dirty="0">
                <a:solidFill>
                  <a:srgbClr val="FF0000"/>
                </a:solidFill>
                <a:latin typeface="楷体_GB2312" pitchFamily="49" charset="-122"/>
              </a:rPr>
              <a:t>有舍有入：</a:t>
            </a:r>
            <a:endParaRPr lang="zh-CN" altLang="en-US" sz="2400" b="1" dirty="0">
              <a:solidFill>
                <a:srgbClr val="FF0000"/>
              </a:solidFill>
              <a:latin typeface="楷体_GB2312" pitchFamily="49" charset="-122"/>
            </a:endParaRPr>
          </a:p>
        </p:txBody>
      </p:sp>
      <p:sp>
        <p:nvSpPr>
          <p:cNvPr id="2273295" name="Text Box 2063"/>
          <p:cNvSpPr txBox="1"/>
          <p:nvPr/>
        </p:nvSpPr>
        <p:spPr>
          <a:xfrm>
            <a:off x="4068763" y="3213100"/>
            <a:ext cx="3989387" cy="519113"/>
          </a:xfrm>
          <a:prstGeom prst="rect">
            <a:avLst/>
          </a:prstGeom>
          <a:noFill/>
          <a:ln w="9525">
            <a:noFill/>
          </a:ln>
        </p:spPr>
        <p:txBody>
          <a:bodyPr>
            <a:spAutoFit/>
          </a:bodyPr>
          <a:p>
            <a:pPr algn="l" eaLnBrk="1" hangingPunct="1"/>
            <a:r>
              <a:rPr lang="en-US" altLang="zh-CN" sz="2800" b="1">
                <a:solidFill>
                  <a:srgbClr val="3333FF"/>
                </a:solidFill>
                <a:latin typeface="黑体" panose="02010609060101010101" pitchFamily="49" charset="-122"/>
                <a:ea typeface="黑体" panose="02010609060101010101" pitchFamily="49" charset="-122"/>
              </a:rPr>
              <a:t>A/D</a:t>
            </a:r>
            <a:r>
              <a:rPr lang="zh-CN" altLang="en-US" sz="2800" b="1" dirty="0">
                <a:solidFill>
                  <a:srgbClr val="3333FF"/>
                </a:solidFill>
                <a:latin typeface="黑体" panose="02010609060101010101" pitchFamily="49" charset="-122"/>
                <a:ea typeface="黑体" panose="02010609060101010101" pitchFamily="49" charset="-122"/>
              </a:rPr>
              <a:t>转换器的量化方法</a:t>
            </a:r>
            <a:r>
              <a:rPr lang="en-US" altLang="zh-CN" sz="2800" b="1">
                <a:solidFill>
                  <a:srgbClr val="3333FF"/>
                </a:solidFill>
                <a:latin typeface="黑体" panose="02010609060101010101" pitchFamily="49" charset="-122"/>
                <a:ea typeface="黑体" panose="02010609060101010101" pitchFamily="49" charset="-122"/>
              </a:rPr>
              <a:t>:</a:t>
            </a:r>
            <a:endParaRPr lang="en-US" altLang="zh-CN" sz="2800" b="1">
              <a:solidFill>
                <a:srgbClr val="3333FF"/>
              </a:solidFill>
              <a:latin typeface="黑体" panose="02010609060101010101" pitchFamily="49" charset="-122"/>
              <a:ea typeface="黑体" panose="02010609060101010101" pitchFamily="49" charset="-122"/>
            </a:endParaRPr>
          </a:p>
        </p:txBody>
      </p:sp>
      <p:sp>
        <p:nvSpPr>
          <p:cNvPr id="2273299" name="Text Box 206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3300" name="Text Box 2068"/>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3302" name="Text Box 2070"/>
          <p:cNvSpPr txBox="1"/>
          <p:nvPr/>
        </p:nvSpPr>
        <p:spPr>
          <a:xfrm>
            <a:off x="1095375" y="1628775"/>
            <a:ext cx="7237413" cy="1373188"/>
          </a:xfrm>
          <a:prstGeom prst="rect">
            <a:avLst/>
          </a:prstGeom>
          <a:solidFill>
            <a:srgbClr val="CCFFFF"/>
          </a:solidFill>
          <a:ln w="9525">
            <a:noFill/>
          </a:ln>
        </p:spPr>
        <p:txBody>
          <a:bodyPr>
            <a:spAutoFit/>
          </a:bodyPr>
          <a:p>
            <a:pPr algn="l" eaLnBrk="1" hangingPunct="1">
              <a:spcBef>
                <a:spcPct val="50000"/>
              </a:spcBef>
            </a:pPr>
            <a:r>
              <a:rPr lang="zh-CN" altLang="en-US" sz="2800" b="1" dirty="0">
                <a:solidFill>
                  <a:schemeClr val="tx1"/>
                </a:solidFill>
                <a:latin typeface="黑体" panose="02010609060101010101" pitchFamily="49" charset="-122"/>
                <a:ea typeface="黑体" panose="02010609060101010101" pitchFamily="49" charset="-122"/>
              </a:rPr>
              <a:t>为了对采样信号的幅值进行量化，将信号幅值轴分成若干层，各层之间的间隔相等，且等于</a:t>
            </a:r>
            <a:r>
              <a:rPr lang="zh-CN" altLang="en-US" sz="2800" b="1" dirty="0">
                <a:solidFill>
                  <a:srgbClr val="FF0000"/>
                </a:solidFill>
                <a:latin typeface="黑体" panose="02010609060101010101" pitchFamily="49" charset="-122"/>
                <a:ea typeface="黑体" panose="02010609060101010101" pitchFamily="49" charset="-122"/>
              </a:rPr>
              <a:t>量化单位</a:t>
            </a:r>
            <a:r>
              <a:rPr lang="en-US" altLang="zh-CN" sz="2800" b="1" i="1">
                <a:solidFill>
                  <a:srgbClr val="FF0000"/>
                </a:solidFill>
                <a:latin typeface="Times New Roman" panose="02020603050405020304" pitchFamily="18" charset="0"/>
                <a:ea typeface="黑体" panose="02010609060101010101" pitchFamily="49" charset="-122"/>
              </a:rPr>
              <a:t>q</a:t>
            </a:r>
            <a:r>
              <a:rPr lang="zh-CN" altLang="en-US" sz="2800" b="1" dirty="0">
                <a:solidFill>
                  <a:schemeClr val="tx1"/>
                </a:solidFill>
                <a:latin typeface="黑体" panose="02010609060101010101" pitchFamily="49" charset="-122"/>
                <a:ea typeface="黑体" panose="02010609060101010101" pitchFamily="49" charset="-122"/>
              </a:rPr>
              <a:t>。</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73303" name="Rectangle 2071"/>
          <p:cNvSpPr/>
          <p:nvPr/>
        </p:nvSpPr>
        <p:spPr>
          <a:xfrm>
            <a:off x="5665788" y="3836988"/>
            <a:ext cx="3370262" cy="822325"/>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楷体_GB2312" pitchFamily="49" charset="-122"/>
              </a:rPr>
              <a:t>信号幅值小于</a:t>
            </a:r>
            <a:r>
              <a:rPr lang="zh-CN" altLang="en-US" sz="2400" b="1" dirty="0">
                <a:solidFill>
                  <a:srgbClr val="FF0000"/>
                </a:solidFill>
                <a:latin typeface="楷体_GB2312" pitchFamily="49" charset="-122"/>
              </a:rPr>
              <a:t>量化单位</a:t>
            </a:r>
            <a:r>
              <a:rPr lang="en-US" altLang="zh-CN" sz="2400" b="1" i="1">
                <a:solidFill>
                  <a:srgbClr val="FF0000"/>
                </a:solidFill>
                <a:latin typeface="楷体_GB2312" pitchFamily="49" charset="-122"/>
              </a:rPr>
              <a:t>q</a:t>
            </a:r>
            <a:r>
              <a:rPr lang="zh-CN" altLang="en-US" sz="2400" b="1" dirty="0">
                <a:solidFill>
                  <a:schemeClr val="tx1"/>
                </a:solidFill>
                <a:latin typeface="楷体_GB2312" pitchFamily="49" charset="-122"/>
              </a:rPr>
              <a:t>的部分，一律舍去。</a:t>
            </a:r>
            <a:endParaRPr lang="zh-CN" altLang="en-US" sz="2400" b="1" dirty="0">
              <a:solidFill>
                <a:schemeClr val="tx1"/>
              </a:solidFill>
              <a:latin typeface="楷体_GB2312" pitchFamily="49" charset="-122"/>
            </a:endParaRPr>
          </a:p>
        </p:txBody>
      </p:sp>
      <p:sp>
        <p:nvSpPr>
          <p:cNvPr id="2273304" name="Text Box 2072"/>
          <p:cNvSpPr txBox="1"/>
          <p:nvPr/>
        </p:nvSpPr>
        <p:spPr>
          <a:xfrm>
            <a:off x="5653088" y="4776788"/>
            <a:ext cx="3563937" cy="1187450"/>
          </a:xfrm>
          <a:prstGeom prst="rect">
            <a:avLst/>
          </a:prstGeom>
          <a:noFill/>
          <a:ln w="9525">
            <a:noFill/>
          </a:ln>
        </p:spPr>
        <p:txBody>
          <a:bodyPr>
            <a:spAutoFit/>
          </a:bodyPr>
          <a:p>
            <a:pPr algn="l" eaLnBrk="1" hangingPunct="1">
              <a:buClr>
                <a:srgbClr val="FF0000"/>
              </a:buClr>
              <a:buFont typeface="Wingdings" panose="05000000000000000000" pitchFamily="2" charset="2"/>
            </a:pPr>
            <a:r>
              <a:rPr lang="zh-CN" altLang="en-US" sz="2400" b="1" dirty="0">
                <a:solidFill>
                  <a:schemeClr val="tx1"/>
                </a:solidFill>
                <a:latin typeface="楷体_GB2312" pitchFamily="49" charset="-122"/>
              </a:rPr>
              <a:t>信号幅值小于</a:t>
            </a:r>
            <a:r>
              <a:rPr lang="en-US" altLang="zh-CN" sz="2400" b="1" i="1">
                <a:solidFill>
                  <a:srgbClr val="FF0000"/>
                </a:solidFill>
                <a:latin typeface="楷体_GB2312" pitchFamily="49" charset="-122"/>
              </a:rPr>
              <a:t>q</a:t>
            </a:r>
            <a:r>
              <a:rPr lang="en-US" altLang="zh-CN" sz="2400" b="1">
                <a:solidFill>
                  <a:srgbClr val="FF0000"/>
                </a:solidFill>
                <a:latin typeface="楷体_GB2312" pitchFamily="49" charset="-122"/>
              </a:rPr>
              <a:t>/2</a:t>
            </a:r>
            <a:r>
              <a:rPr lang="zh-CN" altLang="en-US" sz="2400" b="1" dirty="0">
                <a:solidFill>
                  <a:schemeClr val="tx1"/>
                </a:solidFill>
                <a:latin typeface="楷体_GB2312" pitchFamily="49" charset="-122"/>
              </a:rPr>
              <a:t>的部分，舍去；大于或等于</a:t>
            </a:r>
            <a:r>
              <a:rPr lang="en-US" altLang="zh-CN" sz="2400" b="1" i="1">
                <a:solidFill>
                  <a:srgbClr val="FF0000"/>
                </a:solidFill>
                <a:latin typeface="楷体_GB2312" pitchFamily="49" charset="-122"/>
              </a:rPr>
              <a:t>q</a:t>
            </a:r>
            <a:r>
              <a:rPr lang="en-US" altLang="zh-CN" sz="2400" b="1">
                <a:solidFill>
                  <a:srgbClr val="FF0000"/>
                </a:solidFill>
                <a:latin typeface="楷体_GB2312" pitchFamily="49" charset="-122"/>
              </a:rPr>
              <a:t>/2</a:t>
            </a:r>
            <a:r>
              <a:rPr lang="zh-CN" altLang="en-US" sz="2400" b="1" dirty="0">
                <a:solidFill>
                  <a:schemeClr val="tx1"/>
                </a:solidFill>
                <a:latin typeface="楷体_GB2312" pitchFamily="49" charset="-122"/>
              </a:rPr>
              <a:t>的部分，计入。</a:t>
            </a:r>
            <a:endParaRPr lang="zh-CN" altLang="en-US" sz="2400" b="1" dirty="0">
              <a:solidFill>
                <a:schemeClr val="tx1"/>
              </a:solidFill>
              <a:latin typeface="楷体_GB2312" pitchFamily="49" charset="-122"/>
            </a:endParaRPr>
          </a:p>
        </p:txBody>
      </p:sp>
      <p:grpSp>
        <p:nvGrpSpPr>
          <p:cNvPr id="2273341" name="Group 2109"/>
          <p:cNvGrpSpPr/>
          <p:nvPr/>
        </p:nvGrpSpPr>
        <p:grpSpPr>
          <a:xfrm>
            <a:off x="34925" y="3151188"/>
            <a:ext cx="3797300" cy="2582862"/>
            <a:chOff x="22" y="1985"/>
            <a:chExt cx="2392" cy="1627"/>
          </a:xfrm>
        </p:grpSpPr>
        <p:sp>
          <p:nvSpPr>
            <p:cNvPr id="32781" name="Line 2073"/>
            <p:cNvSpPr/>
            <p:nvPr/>
          </p:nvSpPr>
          <p:spPr>
            <a:xfrm>
              <a:off x="601" y="3429"/>
              <a:ext cx="1686" cy="0"/>
            </a:xfrm>
            <a:prstGeom prst="line">
              <a:avLst/>
            </a:prstGeom>
            <a:ln w="9525" cap="flat" cmpd="sng">
              <a:solidFill>
                <a:srgbClr val="3333FF"/>
              </a:solidFill>
              <a:prstDash val="solid"/>
              <a:headEnd type="none" w="med" len="med"/>
              <a:tailEnd type="stealth" w="sm" len="lg"/>
            </a:ln>
          </p:spPr>
        </p:sp>
        <p:sp>
          <p:nvSpPr>
            <p:cNvPr id="32782" name="Text Box 2074"/>
            <p:cNvSpPr txBox="1"/>
            <p:nvPr/>
          </p:nvSpPr>
          <p:spPr>
            <a:xfrm>
              <a:off x="2245" y="3281"/>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32783" name="Line 2075"/>
            <p:cNvSpPr/>
            <p:nvPr/>
          </p:nvSpPr>
          <p:spPr>
            <a:xfrm flipV="1">
              <a:off x="601" y="2085"/>
              <a:ext cx="0" cy="1344"/>
            </a:xfrm>
            <a:prstGeom prst="line">
              <a:avLst/>
            </a:prstGeom>
            <a:ln w="9525" cap="flat" cmpd="sng">
              <a:solidFill>
                <a:srgbClr val="3333FF"/>
              </a:solidFill>
              <a:prstDash val="solid"/>
              <a:headEnd type="none" w="med" len="med"/>
              <a:tailEnd type="stealth" w="sm" len="lg"/>
            </a:ln>
          </p:spPr>
        </p:sp>
        <p:sp>
          <p:nvSpPr>
            <p:cNvPr id="32784" name="Line 2076"/>
            <p:cNvSpPr/>
            <p:nvPr/>
          </p:nvSpPr>
          <p:spPr>
            <a:xfrm>
              <a:off x="601" y="3287"/>
              <a:ext cx="1695" cy="0"/>
            </a:xfrm>
            <a:prstGeom prst="line">
              <a:avLst/>
            </a:prstGeom>
            <a:ln w="9525" cap="flat" cmpd="sng">
              <a:solidFill>
                <a:srgbClr val="006666"/>
              </a:solidFill>
              <a:prstDash val="sysDot"/>
              <a:headEnd type="none" w="med" len="med"/>
              <a:tailEnd type="none" w="sm" len="lg"/>
            </a:ln>
          </p:spPr>
        </p:sp>
        <p:sp>
          <p:nvSpPr>
            <p:cNvPr id="32785" name="Text Box 2077"/>
            <p:cNvSpPr txBox="1"/>
            <p:nvPr/>
          </p:nvSpPr>
          <p:spPr>
            <a:xfrm>
              <a:off x="406" y="3329"/>
              <a:ext cx="188"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0</a:t>
              </a:r>
              <a:endParaRPr lang="en-US" altLang="zh-CN" sz="1800" b="1">
                <a:solidFill>
                  <a:srgbClr val="333399"/>
                </a:solidFill>
                <a:latin typeface="Times New Roman" panose="02020603050405020304" pitchFamily="18" charset="0"/>
              </a:endParaRPr>
            </a:p>
          </p:txBody>
        </p:sp>
        <p:sp>
          <p:nvSpPr>
            <p:cNvPr id="32786" name="Text Box 2078"/>
            <p:cNvSpPr txBox="1"/>
            <p:nvPr/>
          </p:nvSpPr>
          <p:spPr>
            <a:xfrm>
              <a:off x="401" y="3149"/>
              <a:ext cx="188"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32787" name="Line 2079"/>
            <p:cNvSpPr/>
            <p:nvPr/>
          </p:nvSpPr>
          <p:spPr>
            <a:xfrm>
              <a:off x="601" y="3145"/>
              <a:ext cx="1686" cy="0"/>
            </a:xfrm>
            <a:prstGeom prst="line">
              <a:avLst/>
            </a:prstGeom>
            <a:ln w="9525" cap="flat" cmpd="sng">
              <a:solidFill>
                <a:srgbClr val="006666"/>
              </a:solidFill>
              <a:prstDash val="sysDot"/>
              <a:headEnd type="none" w="med" len="med"/>
              <a:tailEnd type="none" w="sm" len="lg"/>
            </a:ln>
          </p:spPr>
        </p:sp>
        <p:sp>
          <p:nvSpPr>
            <p:cNvPr id="32788" name="Text Box 2080"/>
            <p:cNvSpPr txBox="1"/>
            <p:nvPr/>
          </p:nvSpPr>
          <p:spPr>
            <a:xfrm>
              <a:off x="345" y="3020"/>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2</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32789" name="Line 2081"/>
            <p:cNvSpPr/>
            <p:nvPr/>
          </p:nvSpPr>
          <p:spPr>
            <a:xfrm>
              <a:off x="601" y="2995"/>
              <a:ext cx="1695" cy="0"/>
            </a:xfrm>
            <a:prstGeom prst="line">
              <a:avLst/>
            </a:prstGeom>
            <a:ln w="9525" cap="flat" cmpd="sng">
              <a:solidFill>
                <a:srgbClr val="006666"/>
              </a:solidFill>
              <a:prstDash val="sysDot"/>
              <a:headEnd type="none" w="med" len="med"/>
              <a:tailEnd type="none" w="sm" len="lg"/>
            </a:ln>
          </p:spPr>
        </p:sp>
        <p:sp>
          <p:nvSpPr>
            <p:cNvPr id="32790" name="Text Box 2082"/>
            <p:cNvSpPr txBox="1"/>
            <p:nvPr/>
          </p:nvSpPr>
          <p:spPr>
            <a:xfrm>
              <a:off x="350" y="2848"/>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3</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32791" name="Line 2083"/>
            <p:cNvSpPr/>
            <p:nvPr/>
          </p:nvSpPr>
          <p:spPr>
            <a:xfrm>
              <a:off x="601" y="2844"/>
              <a:ext cx="1695" cy="0"/>
            </a:xfrm>
            <a:prstGeom prst="line">
              <a:avLst/>
            </a:prstGeom>
            <a:ln w="9525" cap="flat" cmpd="sng">
              <a:solidFill>
                <a:srgbClr val="006666"/>
              </a:solidFill>
              <a:prstDash val="sysDot"/>
              <a:headEnd type="none" w="med" len="med"/>
              <a:tailEnd type="none" w="sm" len="lg"/>
            </a:ln>
          </p:spPr>
        </p:sp>
        <p:sp>
          <p:nvSpPr>
            <p:cNvPr id="32792" name="Line 2084"/>
            <p:cNvSpPr/>
            <p:nvPr/>
          </p:nvSpPr>
          <p:spPr>
            <a:xfrm>
              <a:off x="601" y="2703"/>
              <a:ext cx="1686" cy="0"/>
            </a:xfrm>
            <a:prstGeom prst="line">
              <a:avLst/>
            </a:prstGeom>
            <a:ln w="9525" cap="flat" cmpd="sng">
              <a:solidFill>
                <a:srgbClr val="006666"/>
              </a:solidFill>
              <a:prstDash val="sysDot"/>
              <a:headEnd type="none" w="med" len="med"/>
              <a:tailEnd type="none" w="sm" len="lg"/>
            </a:ln>
          </p:spPr>
        </p:sp>
        <p:sp>
          <p:nvSpPr>
            <p:cNvPr id="32793" name="Line 2085"/>
            <p:cNvSpPr/>
            <p:nvPr/>
          </p:nvSpPr>
          <p:spPr>
            <a:xfrm>
              <a:off x="601" y="2552"/>
              <a:ext cx="1686" cy="0"/>
            </a:xfrm>
            <a:prstGeom prst="line">
              <a:avLst/>
            </a:prstGeom>
            <a:ln w="9525" cap="flat" cmpd="sng">
              <a:solidFill>
                <a:srgbClr val="006666"/>
              </a:solidFill>
              <a:prstDash val="sysDot"/>
              <a:headEnd type="none" w="med" len="med"/>
              <a:tailEnd type="none" w="sm" len="lg"/>
            </a:ln>
          </p:spPr>
        </p:sp>
        <p:sp>
          <p:nvSpPr>
            <p:cNvPr id="32794" name="Line 2086"/>
            <p:cNvSpPr/>
            <p:nvPr/>
          </p:nvSpPr>
          <p:spPr>
            <a:xfrm>
              <a:off x="601" y="2402"/>
              <a:ext cx="1695" cy="0"/>
            </a:xfrm>
            <a:prstGeom prst="line">
              <a:avLst/>
            </a:prstGeom>
            <a:ln w="9525" cap="flat" cmpd="sng">
              <a:solidFill>
                <a:srgbClr val="006666"/>
              </a:solidFill>
              <a:prstDash val="sysDot"/>
              <a:headEnd type="none" w="med" len="med"/>
              <a:tailEnd type="none" w="sm" len="lg"/>
            </a:ln>
          </p:spPr>
        </p:sp>
        <p:sp>
          <p:nvSpPr>
            <p:cNvPr id="32795" name="Text Box 2087"/>
            <p:cNvSpPr txBox="1"/>
            <p:nvPr/>
          </p:nvSpPr>
          <p:spPr>
            <a:xfrm>
              <a:off x="22" y="1985"/>
              <a:ext cx="605"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baseline="-25000" err="1">
                  <a:solidFill>
                    <a:srgbClr val="333399"/>
                  </a:solidFill>
                  <a:latin typeface="Times New Roman" panose="02020603050405020304" pitchFamily="18" charset="0"/>
                </a:rPr>
                <a:t>S</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32796" name="Freeform 2088"/>
            <p:cNvSpPr/>
            <p:nvPr/>
          </p:nvSpPr>
          <p:spPr>
            <a:xfrm>
              <a:off x="601" y="2457"/>
              <a:ext cx="1386" cy="805"/>
            </a:xfrm>
            <a:custGeom>
              <a:avLst/>
              <a:gdLst/>
              <a:ahLst/>
              <a:cxnLst>
                <a:cxn ang="0">
                  <a:pos x="0" y="805"/>
                </a:cxn>
                <a:cxn ang="0">
                  <a:pos x="75" y="763"/>
                </a:cxn>
                <a:cxn ang="0">
                  <a:pos x="125" y="705"/>
                </a:cxn>
                <a:cxn ang="0">
                  <a:pos x="200" y="579"/>
                </a:cxn>
                <a:cxn ang="0">
                  <a:pos x="259" y="421"/>
                </a:cxn>
                <a:cxn ang="0">
                  <a:pos x="300" y="287"/>
                </a:cxn>
                <a:cxn ang="0">
                  <a:pos x="384" y="137"/>
                </a:cxn>
                <a:cxn ang="0">
                  <a:pos x="501" y="28"/>
                </a:cxn>
                <a:cxn ang="0">
                  <a:pos x="634" y="3"/>
                </a:cxn>
                <a:cxn ang="0">
                  <a:pos x="743" y="45"/>
                </a:cxn>
                <a:cxn ang="0">
                  <a:pos x="818" y="162"/>
                </a:cxn>
                <a:cxn ang="0">
                  <a:pos x="943" y="312"/>
                </a:cxn>
                <a:cxn ang="0">
                  <a:pos x="1035" y="404"/>
                </a:cxn>
                <a:cxn ang="0">
                  <a:pos x="1169" y="488"/>
                </a:cxn>
                <a:cxn ang="0">
                  <a:pos x="1386" y="563"/>
                </a:cxn>
              </a:cxnLst>
              <a:pathLst>
                <a:path w="1386" h="805">
                  <a:moveTo>
                    <a:pt x="0" y="805"/>
                  </a:moveTo>
                  <a:cubicBezTo>
                    <a:pt x="27" y="792"/>
                    <a:pt x="54" y="780"/>
                    <a:pt x="75" y="763"/>
                  </a:cubicBezTo>
                  <a:cubicBezTo>
                    <a:pt x="96" y="746"/>
                    <a:pt x="104" y="736"/>
                    <a:pt x="125" y="705"/>
                  </a:cubicBezTo>
                  <a:cubicBezTo>
                    <a:pt x="146" y="674"/>
                    <a:pt x="178" y="626"/>
                    <a:pt x="200" y="579"/>
                  </a:cubicBezTo>
                  <a:cubicBezTo>
                    <a:pt x="222" y="532"/>
                    <a:pt x="242" y="470"/>
                    <a:pt x="259" y="421"/>
                  </a:cubicBezTo>
                  <a:cubicBezTo>
                    <a:pt x="276" y="372"/>
                    <a:pt x="279" y="334"/>
                    <a:pt x="300" y="287"/>
                  </a:cubicBezTo>
                  <a:cubicBezTo>
                    <a:pt x="321" y="240"/>
                    <a:pt x="350" y="180"/>
                    <a:pt x="384" y="137"/>
                  </a:cubicBezTo>
                  <a:cubicBezTo>
                    <a:pt x="418" y="94"/>
                    <a:pt x="459" y="50"/>
                    <a:pt x="501" y="28"/>
                  </a:cubicBezTo>
                  <a:cubicBezTo>
                    <a:pt x="543" y="6"/>
                    <a:pt x="594" y="0"/>
                    <a:pt x="634" y="3"/>
                  </a:cubicBezTo>
                  <a:cubicBezTo>
                    <a:pt x="674" y="6"/>
                    <a:pt x="712" y="19"/>
                    <a:pt x="743" y="45"/>
                  </a:cubicBezTo>
                  <a:cubicBezTo>
                    <a:pt x="774" y="71"/>
                    <a:pt x="785" y="118"/>
                    <a:pt x="818" y="162"/>
                  </a:cubicBezTo>
                  <a:cubicBezTo>
                    <a:pt x="851" y="206"/>
                    <a:pt x="907" y="272"/>
                    <a:pt x="943" y="312"/>
                  </a:cubicBezTo>
                  <a:cubicBezTo>
                    <a:pt x="979" y="352"/>
                    <a:pt x="997" y="375"/>
                    <a:pt x="1035" y="404"/>
                  </a:cubicBezTo>
                  <a:cubicBezTo>
                    <a:pt x="1073" y="433"/>
                    <a:pt x="1111" y="462"/>
                    <a:pt x="1169" y="488"/>
                  </a:cubicBezTo>
                  <a:cubicBezTo>
                    <a:pt x="1227" y="514"/>
                    <a:pt x="1350" y="551"/>
                    <a:pt x="1386" y="563"/>
                  </a:cubicBezTo>
                </a:path>
              </a:pathLst>
            </a:custGeom>
            <a:noFill/>
            <a:ln w="9525" cap="flat" cmpd="sng">
              <a:solidFill>
                <a:srgbClr val="FF0000">
                  <a:alpha val="100000"/>
                </a:srgbClr>
              </a:solidFill>
              <a:prstDash val="sysDot"/>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32797" name="Text Box 2089"/>
            <p:cNvSpPr txBox="1"/>
            <p:nvPr/>
          </p:nvSpPr>
          <p:spPr>
            <a:xfrm>
              <a:off x="646" y="3400"/>
              <a:ext cx="243"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32798" name="Line 2090"/>
            <p:cNvSpPr/>
            <p:nvPr/>
          </p:nvSpPr>
          <p:spPr>
            <a:xfrm flipV="1">
              <a:off x="776" y="3087"/>
              <a:ext cx="0" cy="342"/>
            </a:xfrm>
            <a:prstGeom prst="line">
              <a:avLst/>
            </a:prstGeom>
            <a:ln w="9525" cap="flat" cmpd="sng">
              <a:solidFill>
                <a:srgbClr val="CC00CC"/>
              </a:solidFill>
              <a:prstDash val="solid"/>
              <a:headEnd type="none" w="med" len="med"/>
              <a:tailEnd type="none" w="sm" len="lg"/>
            </a:ln>
          </p:spPr>
        </p:sp>
        <p:sp>
          <p:nvSpPr>
            <p:cNvPr id="32799" name="Line 2091"/>
            <p:cNvSpPr/>
            <p:nvPr/>
          </p:nvSpPr>
          <p:spPr>
            <a:xfrm flipV="1">
              <a:off x="826" y="2995"/>
              <a:ext cx="0" cy="434"/>
            </a:xfrm>
            <a:prstGeom prst="line">
              <a:avLst/>
            </a:prstGeom>
            <a:ln w="9525" cap="flat" cmpd="sng">
              <a:solidFill>
                <a:srgbClr val="CC00CC"/>
              </a:solidFill>
              <a:prstDash val="solid"/>
              <a:headEnd type="none" w="med" len="med"/>
              <a:tailEnd type="none" w="sm" len="lg"/>
            </a:ln>
          </p:spPr>
        </p:sp>
        <p:sp>
          <p:nvSpPr>
            <p:cNvPr id="32800" name="Text Box 2092"/>
            <p:cNvSpPr txBox="1"/>
            <p:nvPr/>
          </p:nvSpPr>
          <p:spPr>
            <a:xfrm>
              <a:off x="802" y="3397"/>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2T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32801" name="Line 2093"/>
            <p:cNvSpPr/>
            <p:nvPr/>
          </p:nvSpPr>
          <p:spPr>
            <a:xfrm flipV="1">
              <a:off x="952" y="2644"/>
              <a:ext cx="0" cy="785"/>
            </a:xfrm>
            <a:prstGeom prst="line">
              <a:avLst/>
            </a:prstGeom>
            <a:ln w="9525" cap="flat" cmpd="sng">
              <a:solidFill>
                <a:srgbClr val="CC00CC"/>
              </a:solidFill>
              <a:prstDash val="solid"/>
              <a:headEnd type="none" w="med" len="med"/>
              <a:tailEnd type="none" w="sm" len="lg"/>
            </a:ln>
          </p:spPr>
        </p:sp>
        <p:sp>
          <p:nvSpPr>
            <p:cNvPr id="32802" name="Line 2094"/>
            <p:cNvSpPr/>
            <p:nvPr/>
          </p:nvSpPr>
          <p:spPr>
            <a:xfrm flipV="1">
              <a:off x="1002" y="2578"/>
              <a:ext cx="0" cy="851"/>
            </a:xfrm>
            <a:prstGeom prst="line">
              <a:avLst/>
            </a:prstGeom>
            <a:ln w="9525" cap="flat" cmpd="sng">
              <a:solidFill>
                <a:srgbClr val="CC00CC"/>
              </a:solidFill>
              <a:prstDash val="solid"/>
              <a:headEnd type="none" w="med" len="med"/>
              <a:tailEnd type="none" w="sm" len="lg"/>
            </a:ln>
          </p:spPr>
        </p:sp>
        <p:sp>
          <p:nvSpPr>
            <p:cNvPr id="32803" name="Text Box 2095"/>
            <p:cNvSpPr txBox="1"/>
            <p:nvPr/>
          </p:nvSpPr>
          <p:spPr>
            <a:xfrm>
              <a:off x="1023" y="3400"/>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3T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32804" name="Line 2096"/>
            <p:cNvSpPr/>
            <p:nvPr/>
          </p:nvSpPr>
          <p:spPr>
            <a:xfrm flipV="1">
              <a:off x="1127" y="2469"/>
              <a:ext cx="0" cy="960"/>
            </a:xfrm>
            <a:prstGeom prst="line">
              <a:avLst/>
            </a:prstGeom>
            <a:ln w="9525" cap="flat" cmpd="sng">
              <a:solidFill>
                <a:srgbClr val="CC00CC"/>
              </a:solidFill>
              <a:prstDash val="solid"/>
              <a:headEnd type="none" w="med" len="med"/>
              <a:tailEnd type="none" w="sm" len="lg"/>
            </a:ln>
          </p:spPr>
        </p:sp>
        <p:sp>
          <p:nvSpPr>
            <p:cNvPr id="32805" name="Line 2097"/>
            <p:cNvSpPr/>
            <p:nvPr/>
          </p:nvSpPr>
          <p:spPr>
            <a:xfrm flipV="1">
              <a:off x="1177" y="2460"/>
              <a:ext cx="0" cy="969"/>
            </a:xfrm>
            <a:prstGeom prst="line">
              <a:avLst/>
            </a:prstGeom>
            <a:ln w="9525" cap="flat" cmpd="sng">
              <a:solidFill>
                <a:srgbClr val="CC00CC"/>
              </a:solidFill>
              <a:prstDash val="solid"/>
              <a:headEnd type="none" w="med" len="med"/>
              <a:tailEnd type="none" w="sm" len="lg"/>
            </a:ln>
          </p:spPr>
        </p:sp>
        <p:sp>
          <p:nvSpPr>
            <p:cNvPr id="32806" name="Text Box 2098"/>
            <p:cNvSpPr txBox="1"/>
            <p:nvPr/>
          </p:nvSpPr>
          <p:spPr>
            <a:xfrm>
              <a:off x="1288" y="3392"/>
              <a:ext cx="228"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a:t>
              </a:r>
              <a:endParaRPr lang="en-US" altLang="zh-CN" sz="1400" b="1">
                <a:solidFill>
                  <a:srgbClr val="333399"/>
                </a:solidFill>
                <a:latin typeface="Times New Roman" panose="02020603050405020304" pitchFamily="18" charset="0"/>
              </a:endParaRPr>
            </a:p>
          </p:txBody>
        </p:sp>
        <p:sp>
          <p:nvSpPr>
            <p:cNvPr id="32807" name="Line 2099"/>
            <p:cNvSpPr/>
            <p:nvPr/>
          </p:nvSpPr>
          <p:spPr>
            <a:xfrm flipV="1">
              <a:off x="1302" y="2477"/>
              <a:ext cx="0" cy="952"/>
            </a:xfrm>
            <a:prstGeom prst="line">
              <a:avLst/>
            </a:prstGeom>
            <a:ln w="9525" cap="flat" cmpd="sng">
              <a:solidFill>
                <a:srgbClr val="CC00CC"/>
              </a:solidFill>
              <a:prstDash val="solid"/>
              <a:headEnd type="none" w="med" len="med"/>
              <a:tailEnd type="none" w="sm" len="lg"/>
            </a:ln>
          </p:spPr>
        </p:sp>
        <p:sp>
          <p:nvSpPr>
            <p:cNvPr id="32808" name="Line 2100"/>
            <p:cNvSpPr/>
            <p:nvPr/>
          </p:nvSpPr>
          <p:spPr>
            <a:xfrm flipV="1">
              <a:off x="1352" y="2511"/>
              <a:ext cx="0" cy="918"/>
            </a:xfrm>
            <a:prstGeom prst="line">
              <a:avLst/>
            </a:prstGeom>
            <a:ln w="9525" cap="flat" cmpd="sng">
              <a:solidFill>
                <a:srgbClr val="CC00CC"/>
              </a:solidFill>
              <a:prstDash val="solid"/>
              <a:headEnd type="none" w="med" len="med"/>
              <a:tailEnd type="none" w="sm" len="lg"/>
            </a:ln>
          </p:spPr>
        </p:sp>
        <p:sp>
          <p:nvSpPr>
            <p:cNvPr id="32809" name="Line 2101"/>
            <p:cNvSpPr/>
            <p:nvPr/>
          </p:nvSpPr>
          <p:spPr>
            <a:xfrm flipV="1">
              <a:off x="1477" y="2685"/>
              <a:ext cx="0" cy="744"/>
            </a:xfrm>
            <a:prstGeom prst="line">
              <a:avLst/>
            </a:prstGeom>
            <a:ln w="9525" cap="flat" cmpd="sng">
              <a:solidFill>
                <a:srgbClr val="CC00CC"/>
              </a:solidFill>
              <a:prstDash val="solid"/>
              <a:headEnd type="none" w="med" len="med"/>
              <a:tailEnd type="none" w="sm" len="lg"/>
            </a:ln>
          </p:spPr>
        </p:sp>
        <p:sp>
          <p:nvSpPr>
            <p:cNvPr id="32810" name="Line 2102"/>
            <p:cNvSpPr/>
            <p:nvPr/>
          </p:nvSpPr>
          <p:spPr>
            <a:xfrm flipV="1">
              <a:off x="1528" y="2745"/>
              <a:ext cx="0" cy="684"/>
            </a:xfrm>
            <a:prstGeom prst="line">
              <a:avLst/>
            </a:prstGeom>
            <a:ln w="9525" cap="flat" cmpd="sng">
              <a:solidFill>
                <a:srgbClr val="CC00CC"/>
              </a:solidFill>
              <a:prstDash val="solid"/>
              <a:headEnd type="none" w="med" len="med"/>
              <a:tailEnd type="none" w="sm" len="lg"/>
            </a:ln>
          </p:spPr>
        </p:sp>
        <p:sp>
          <p:nvSpPr>
            <p:cNvPr id="32811" name="Line 2103"/>
            <p:cNvSpPr/>
            <p:nvPr/>
          </p:nvSpPr>
          <p:spPr>
            <a:xfrm flipV="1">
              <a:off x="1644" y="2861"/>
              <a:ext cx="0" cy="568"/>
            </a:xfrm>
            <a:prstGeom prst="line">
              <a:avLst/>
            </a:prstGeom>
            <a:ln w="9525" cap="flat" cmpd="sng">
              <a:solidFill>
                <a:srgbClr val="CC00CC"/>
              </a:solidFill>
              <a:prstDash val="solid"/>
              <a:headEnd type="none" w="med" len="med"/>
              <a:tailEnd type="none" w="sm" len="lg"/>
            </a:ln>
          </p:spPr>
        </p:sp>
        <p:sp>
          <p:nvSpPr>
            <p:cNvPr id="32812" name="Line 2104"/>
            <p:cNvSpPr/>
            <p:nvPr/>
          </p:nvSpPr>
          <p:spPr>
            <a:xfrm flipV="1">
              <a:off x="1694" y="2903"/>
              <a:ext cx="0" cy="526"/>
            </a:xfrm>
            <a:prstGeom prst="line">
              <a:avLst/>
            </a:prstGeom>
            <a:ln w="9525" cap="flat" cmpd="sng">
              <a:solidFill>
                <a:srgbClr val="CC00CC"/>
              </a:solidFill>
              <a:prstDash val="solid"/>
              <a:headEnd type="none" w="med" len="med"/>
              <a:tailEnd type="none" w="sm" len="lg"/>
            </a:ln>
          </p:spPr>
        </p:sp>
        <p:sp>
          <p:nvSpPr>
            <p:cNvPr id="32813" name="Line 2105"/>
            <p:cNvSpPr/>
            <p:nvPr/>
          </p:nvSpPr>
          <p:spPr>
            <a:xfrm flipV="1">
              <a:off x="1828" y="2961"/>
              <a:ext cx="0" cy="468"/>
            </a:xfrm>
            <a:prstGeom prst="line">
              <a:avLst/>
            </a:prstGeom>
            <a:ln w="9525" cap="flat" cmpd="sng">
              <a:solidFill>
                <a:srgbClr val="CC00CC"/>
              </a:solidFill>
              <a:prstDash val="solid"/>
              <a:headEnd type="none" w="med" len="med"/>
              <a:tailEnd type="none" w="sm" len="lg"/>
            </a:ln>
          </p:spPr>
        </p:sp>
        <p:sp>
          <p:nvSpPr>
            <p:cNvPr id="32814" name="Line 2106"/>
            <p:cNvSpPr/>
            <p:nvPr/>
          </p:nvSpPr>
          <p:spPr>
            <a:xfrm flipV="1">
              <a:off x="1878" y="2986"/>
              <a:ext cx="0" cy="443"/>
            </a:xfrm>
            <a:prstGeom prst="line">
              <a:avLst/>
            </a:prstGeom>
            <a:ln w="9525" cap="flat" cmpd="sng">
              <a:solidFill>
                <a:srgbClr val="CC00CC"/>
              </a:solidFill>
              <a:prstDash val="solid"/>
              <a:headEnd type="none" w="med" len="med"/>
              <a:tailEnd type="none" w="sm" len="lg"/>
            </a:ln>
          </p:spPr>
        </p:sp>
        <p:sp>
          <p:nvSpPr>
            <p:cNvPr id="32815" name="Text Box 2107"/>
            <p:cNvSpPr txBox="1"/>
            <p:nvPr/>
          </p:nvSpPr>
          <p:spPr>
            <a:xfrm>
              <a:off x="405" y="2416"/>
              <a:ext cx="173" cy="460"/>
            </a:xfrm>
            <a:prstGeom prst="rect">
              <a:avLst/>
            </a:prstGeom>
            <a:noFill/>
            <a:ln w="9525">
              <a:noFill/>
            </a:ln>
          </p:spPr>
          <p:txBody>
            <a:bodyPr wrap="none">
              <a:spAutoFit/>
            </a:bodyPr>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p:txBody>
        </p:sp>
      </p:grpSp>
      <p:sp>
        <p:nvSpPr>
          <p:cNvPr id="2273340" name="Rectangle 2108"/>
          <p:cNvSpPr/>
          <p:nvPr/>
        </p:nvSpPr>
        <p:spPr>
          <a:xfrm>
            <a:off x="3924300" y="3151188"/>
            <a:ext cx="5076825" cy="2941637"/>
          </a:xfrm>
          <a:prstGeom prst="rect">
            <a:avLst/>
          </a:prstGeom>
          <a:no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32818"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3302"/>
                                        </p:tgtEl>
                                        <p:attrNameLst>
                                          <p:attrName>style.visibility</p:attrName>
                                        </p:attrNameLst>
                                      </p:cBhvr>
                                      <p:to>
                                        <p:strVal val="visible"/>
                                      </p:to>
                                    </p:set>
                                    <p:animEffect transition="in" filter="dissolve">
                                      <p:cBhvr>
                                        <p:cTn id="7" dur="500"/>
                                        <p:tgtEl>
                                          <p:spTgt spid="22733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73341"/>
                                        </p:tgtEl>
                                        <p:attrNameLst>
                                          <p:attrName>style.visibility</p:attrName>
                                        </p:attrNameLst>
                                      </p:cBhvr>
                                      <p:to>
                                        <p:strVal val="visible"/>
                                      </p:to>
                                    </p:set>
                                    <p:animEffect transition="in" filter="dissolve">
                                      <p:cBhvr>
                                        <p:cTn id="12" dur="500"/>
                                        <p:tgtEl>
                                          <p:spTgt spid="22733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73295"/>
                                        </p:tgtEl>
                                        <p:attrNameLst>
                                          <p:attrName>style.visibility</p:attrName>
                                        </p:attrNameLst>
                                      </p:cBhvr>
                                      <p:to>
                                        <p:strVal val="visible"/>
                                      </p:to>
                                    </p:set>
                                    <p:animEffect transition="in" filter="dissolve">
                                      <p:cBhvr>
                                        <p:cTn id="17" dur="500"/>
                                        <p:tgtEl>
                                          <p:spTgt spid="227329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273340"/>
                                        </p:tgtEl>
                                        <p:attrNameLst>
                                          <p:attrName>style.visibility</p:attrName>
                                        </p:attrNameLst>
                                      </p:cBhvr>
                                      <p:to>
                                        <p:strVal val="visible"/>
                                      </p:to>
                                    </p:set>
                                    <p:animEffect transition="in" filter="dissolve">
                                      <p:cBhvr>
                                        <p:cTn id="20" dur="500"/>
                                        <p:tgtEl>
                                          <p:spTgt spid="2273340"/>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73303"/>
                                        </p:tgtEl>
                                        <p:attrNameLst>
                                          <p:attrName>style.visibility</p:attrName>
                                        </p:attrNameLst>
                                      </p:cBhvr>
                                      <p:to>
                                        <p:strVal val="visible"/>
                                      </p:to>
                                    </p:set>
                                    <p:animEffect transition="in" filter="dissolve">
                                      <p:cBhvr>
                                        <p:cTn id="25" dur="500"/>
                                        <p:tgtEl>
                                          <p:spTgt spid="2273303"/>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273293"/>
                                        </p:tgtEl>
                                        <p:attrNameLst>
                                          <p:attrName>style.visibility</p:attrName>
                                        </p:attrNameLst>
                                      </p:cBhvr>
                                      <p:to>
                                        <p:strVal val="visible"/>
                                      </p:to>
                                    </p:set>
                                    <p:animEffect transition="in" filter="dissolve">
                                      <p:cBhvr>
                                        <p:cTn id="28" dur="500"/>
                                        <p:tgtEl>
                                          <p:spTgt spid="2273293"/>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273294"/>
                                        </p:tgtEl>
                                        <p:attrNameLst>
                                          <p:attrName>style.visibility</p:attrName>
                                        </p:attrNameLst>
                                      </p:cBhvr>
                                      <p:to>
                                        <p:strVal val="visible"/>
                                      </p:to>
                                    </p:set>
                                    <p:animEffect transition="in" filter="dissolve">
                                      <p:cBhvr>
                                        <p:cTn id="33" dur="500"/>
                                        <p:tgtEl>
                                          <p:spTgt spid="227329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273304"/>
                                        </p:tgtEl>
                                        <p:attrNameLst>
                                          <p:attrName>style.visibility</p:attrName>
                                        </p:attrNameLst>
                                      </p:cBhvr>
                                      <p:to>
                                        <p:strVal val="visible"/>
                                      </p:to>
                                    </p:set>
                                    <p:animEffect transition="in" filter="dissolve">
                                      <p:cBhvr>
                                        <p:cTn id="36" dur="500"/>
                                        <p:tgtEl>
                                          <p:spTgt spid="22733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293" grpId="0"/>
      <p:bldP spid="2273294" grpId="0"/>
      <p:bldP spid="2273295" grpId="0"/>
      <p:bldP spid="2273302" grpId="0" bldLvl="0" animBg="1"/>
      <p:bldP spid="2273303" grpId="0"/>
      <p:bldP spid="2273304" grpId="0"/>
      <p:bldP spid="2273340" grpId="0" bldLvl="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4370" name="AutoShape 66"/>
          <p:cNvSpPr/>
          <p:nvPr/>
        </p:nvSpPr>
        <p:spPr>
          <a:xfrm>
            <a:off x="4492625" y="4421188"/>
            <a:ext cx="515938" cy="392112"/>
          </a:xfrm>
          <a:prstGeom prst="rightArrow">
            <a:avLst>
              <a:gd name="adj1" fmla="val 50000"/>
              <a:gd name="adj2" fmla="val 32894"/>
            </a:avLst>
          </a:prstGeom>
          <a:noFill/>
          <a:ln w="9525" cap="flat" cmpd="sng">
            <a:solidFill>
              <a:srgbClr val="FF0000"/>
            </a:solidFill>
            <a:prstDash val="solid"/>
            <a:miter/>
            <a:headEnd type="none" w="med" len="med"/>
            <a:tailEnd type="none" w="sm" len="lg"/>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33875" name="组合 33874"/>
          <p:cNvGrpSpPr/>
          <p:nvPr/>
        </p:nvGrpSpPr>
        <p:grpSpPr>
          <a:xfrm>
            <a:off x="220663" y="2989263"/>
            <a:ext cx="4033837" cy="2916237"/>
            <a:chOff x="139" y="1883"/>
            <a:chExt cx="2541" cy="1837"/>
          </a:xfrm>
        </p:grpSpPr>
        <p:sp>
          <p:nvSpPr>
            <p:cNvPr id="2274323" name="Line 19"/>
            <p:cNvSpPr/>
            <p:nvPr/>
          </p:nvSpPr>
          <p:spPr>
            <a:xfrm>
              <a:off x="718" y="3327"/>
              <a:ext cx="1811" cy="0"/>
            </a:xfrm>
            <a:prstGeom prst="line">
              <a:avLst/>
            </a:prstGeom>
            <a:ln w="9525" cap="flat" cmpd="sng">
              <a:solidFill>
                <a:srgbClr val="3333FF"/>
              </a:solidFill>
              <a:prstDash val="solid"/>
              <a:headEnd type="none" w="med" len="med"/>
              <a:tailEnd type="stealth" w="sm" len="lg"/>
            </a:ln>
          </p:spPr>
        </p:sp>
        <p:sp>
          <p:nvSpPr>
            <p:cNvPr id="2274324" name="Text Box 20"/>
            <p:cNvSpPr txBox="1"/>
            <p:nvPr/>
          </p:nvSpPr>
          <p:spPr>
            <a:xfrm>
              <a:off x="2511" y="3179"/>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74325" name="Line 21"/>
            <p:cNvSpPr/>
            <p:nvPr/>
          </p:nvSpPr>
          <p:spPr>
            <a:xfrm flipV="1">
              <a:off x="718" y="1983"/>
              <a:ext cx="0" cy="1344"/>
            </a:xfrm>
            <a:prstGeom prst="line">
              <a:avLst/>
            </a:prstGeom>
            <a:ln w="9525" cap="flat" cmpd="sng">
              <a:solidFill>
                <a:srgbClr val="3333FF"/>
              </a:solidFill>
              <a:prstDash val="solid"/>
              <a:headEnd type="none" w="med" len="med"/>
              <a:tailEnd type="stealth" w="sm" len="lg"/>
            </a:ln>
          </p:spPr>
        </p:sp>
        <p:sp>
          <p:nvSpPr>
            <p:cNvPr id="2274326" name="Line 22"/>
            <p:cNvSpPr/>
            <p:nvPr/>
          </p:nvSpPr>
          <p:spPr>
            <a:xfrm>
              <a:off x="718" y="3185"/>
              <a:ext cx="1695" cy="0"/>
            </a:xfrm>
            <a:prstGeom prst="line">
              <a:avLst/>
            </a:prstGeom>
            <a:ln w="9525" cap="flat" cmpd="sng">
              <a:solidFill>
                <a:srgbClr val="006666"/>
              </a:solidFill>
              <a:prstDash val="sysDot"/>
              <a:headEnd type="none" w="med" len="med"/>
              <a:tailEnd type="none" w="sm" len="lg"/>
            </a:ln>
          </p:spPr>
        </p:sp>
        <p:sp>
          <p:nvSpPr>
            <p:cNvPr id="2274327" name="Text Box 23"/>
            <p:cNvSpPr txBox="1"/>
            <p:nvPr/>
          </p:nvSpPr>
          <p:spPr>
            <a:xfrm>
              <a:off x="523" y="3227"/>
              <a:ext cx="188"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0</a:t>
              </a:r>
              <a:endParaRPr lang="en-US" altLang="zh-CN" sz="1800" b="1">
                <a:solidFill>
                  <a:srgbClr val="333399"/>
                </a:solidFill>
                <a:latin typeface="Times New Roman" panose="02020603050405020304" pitchFamily="18" charset="0"/>
              </a:endParaRPr>
            </a:p>
          </p:txBody>
        </p:sp>
        <p:sp>
          <p:nvSpPr>
            <p:cNvPr id="2274328" name="Text Box 24"/>
            <p:cNvSpPr txBox="1"/>
            <p:nvPr/>
          </p:nvSpPr>
          <p:spPr>
            <a:xfrm>
              <a:off x="518" y="3047"/>
              <a:ext cx="188"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31" name="Line 27"/>
            <p:cNvSpPr/>
            <p:nvPr/>
          </p:nvSpPr>
          <p:spPr>
            <a:xfrm>
              <a:off x="718" y="3043"/>
              <a:ext cx="1686" cy="0"/>
            </a:xfrm>
            <a:prstGeom prst="line">
              <a:avLst/>
            </a:prstGeom>
            <a:ln w="9525" cap="flat" cmpd="sng">
              <a:solidFill>
                <a:srgbClr val="006666"/>
              </a:solidFill>
              <a:prstDash val="sysDot"/>
              <a:headEnd type="none" w="med" len="med"/>
              <a:tailEnd type="none" w="sm" len="lg"/>
            </a:ln>
          </p:spPr>
        </p:sp>
        <p:sp>
          <p:nvSpPr>
            <p:cNvPr id="2274332" name="Text Box 28"/>
            <p:cNvSpPr txBox="1"/>
            <p:nvPr/>
          </p:nvSpPr>
          <p:spPr>
            <a:xfrm>
              <a:off x="462" y="2918"/>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2</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33" name="Line 29"/>
            <p:cNvSpPr/>
            <p:nvPr/>
          </p:nvSpPr>
          <p:spPr>
            <a:xfrm>
              <a:off x="718" y="2893"/>
              <a:ext cx="1695" cy="0"/>
            </a:xfrm>
            <a:prstGeom prst="line">
              <a:avLst/>
            </a:prstGeom>
            <a:ln w="9525" cap="flat" cmpd="sng">
              <a:solidFill>
                <a:srgbClr val="006666"/>
              </a:solidFill>
              <a:prstDash val="sysDot"/>
              <a:headEnd type="none" w="med" len="med"/>
              <a:tailEnd type="none" w="sm" len="lg"/>
            </a:ln>
          </p:spPr>
        </p:sp>
        <p:sp>
          <p:nvSpPr>
            <p:cNvPr id="2274334" name="Text Box 30"/>
            <p:cNvSpPr txBox="1"/>
            <p:nvPr/>
          </p:nvSpPr>
          <p:spPr>
            <a:xfrm>
              <a:off x="467" y="2746"/>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3</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35" name="Line 31"/>
            <p:cNvSpPr/>
            <p:nvPr/>
          </p:nvSpPr>
          <p:spPr>
            <a:xfrm>
              <a:off x="718" y="2742"/>
              <a:ext cx="1695" cy="0"/>
            </a:xfrm>
            <a:prstGeom prst="line">
              <a:avLst/>
            </a:prstGeom>
            <a:ln w="9525" cap="flat" cmpd="sng">
              <a:solidFill>
                <a:srgbClr val="006666"/>
              </a:solidFill>
              <a:prstDash val="sysDot"/>
              <a:headEnd type="none" w="med" len="med"/>
              <a:tailEnd type="none" w="sm" len="lg"/>
            </a:ln>
          </p:spPr>
        </p:sp>
        <p:sp>
          <p:nvSpPr>
            <p:cNvPr id="2274336" name="Line 32"/>
            <p:cNvSpPr/>
            <p:nvPr/>
          </p:nvSpPr>
          <p:spPr>
            <a:xfrm>
              <a:off x="718" y="2601"/>
              <a:ext cx="1686" cy="0"/>
            </a:xfrm>
            <a:prstGeom prst="line">
              <a:avLst/>
            </a:prstGeom>
            <a:ln w="9525" cap="flat" cmpd="sng">
              <a:solidFill>
                <a:srgbClr val="006666"/>
              </a:solidFill>
              <a:prstDash val="sysDot"/>
              <a:headEnd type="none" w="med" len="med"/>
              <a:tailEnd type="none" w="sm" len="lg"/>
            </a:ln>
          </p:spPr>
        </p:sp>
        <p:sp>
          <p:nvSpPr>
            <p:cNvPr id="2274337" name="Line 33"/>
            <p:cNvSpPr/>
            <p:nvPr/>
          </p:nvSpPr>
          <p:spPr>
            <a:xfrm>
              <a:off x="718" y="2450"/>
              <a:ext cx="1686" cy="0"/>
            </a:xfrm>
            <a:prstGeom prst="line">
              <a:avLst/>
            </a:prstGeom>
            <a:ln w="9525" cap="flat" cmpd="sng">
              <a:solidFill>
                <a:srgbClr val="006666"/>
              </a:solidFill>
              <a:prstDash val="sysDot"/>
              <a:headEnd type="none" w="med" len="med"/>
              <a:tailEnd type="none" w="sm" len="lg"/>
            </a:ln>
          </p:spPr>
        </p:sp>
        <p:sp>
          <p:nvSpPr>
            <p:cNvPr id="2274338" name="Line 34"/>
            <p:cNvSpPr/>
            <p:nvPr/>
          </p:nvSpPr>
          <p:spPr>
            <a:xfrm>
              <a:off x="718" y="2300"/>
              <a:ext cx="1695" cy="0"/>
            </a:xfrm>
            <a:prstGeom prst="line">
              <a:avLst/>
            </a:prstGeom>
            <a:ln w="9525" cap="flat" cmpd="sng">
              <a:solidFill>
                <a:srgbClr val="006666"/>
              </a:solidFill>
              <a:prstDash val="sysDot"/>
              <a:headEnd type="none" w="med" len="med"/>
              <a:tailEnd type="none" w="sm" len="lg"/>
            </a:ln>
          </p:spPr>
        </p:sp>
        <p:sp>
          <p:nvSpPr>
            <p:cNvPr id="2274339" name="Text Box 35"/>
            <p:cNvSpPr txBox="1"/>
            <p:nvPr/>
          </p:nvSpPr>
          <p:spPr>
            <a:xfrm>
              <a:off x="139" y="1883"/>
              <a:ext cx="605"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baseline="-25000" err="1">
                  <a:solidFill>
                    <a:srgbClr val="333399"/>
                  </a:solidFill>
                  <a:latin typeface="Times New Roman" panose="02020603050405020304" pitchFamily="18" charset="0"/>
                </a:rPr>
                <a:t>S</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74350" name="Freeform 46"/>
            <p:cNvSpPr/>
            <p:nvPr/>
          </p:nvSpPr>
          <p:spPr>
            <a:xfrm>
              <a:off x="718" y="2355"/>
              <a:ext cx="1386" cy="805"/>
            </a:xfrm>
            <a:custGeom>
              <a:avLst/>
              <a:gdLst/>
              <a:ahLst/>
              <a:cxnLst>
                <a:cxn ang="0">
                  <a:pos x="0" y="2028724194"/>
                </a:cxn>
                <a:cxn ang="0">
                  <a:pos x="189012513" y="1922877673"/>
                </a:cxn>
                <a:cxn ang="0">
                  <a:pos x="315020325" y="1776708667"/>
                </a:cxn>
                <a:cxn ang="0">
                  <a:pos x="504031250" y="1459169104"/>
                </a:cxn>
                <a:cxn ang="0">
                  <a:pos x="652721263" y="1060984572"/>
                </a:cxn>
                <a:cxn ang="0">
                  <a:pos x="756046875" y="723283767"/>
                </a:cxn>
                <a:cxn ang="0">
                  <a:pos x="967740000" y="345260477"/>
                </a:cxn>
                <a:cxn ang="0">
                  <a:pos x="1262599075" y="70564347"/>
                </a:cxn>
                <a:cxn ang="0">
                  <a:pos x="1597779063" y="7559672"/>
                </a:cxn>
                <a:cxn ang="0">
                  <a:pos x="1872476888" y="113406193"/>
                </a:cxn>
                <a:cxn ang="0">
                  <a:pos x="2061487813" y="408265153"/>
                </a:cxn>
                <a:cxn ang="0">
                  <a:pos x="2147483647" y="786288442"/>
                </a:cxn>
                <a:cxn ang="0">
                  <a:pos x="2147483647" y="1018142727"/>
                </a:cxn>
                <a:cxn ang="0">
                  <a:pos x="2147483647" y="1229835769"/>
                </a:cxn>
                <a:cxn ang="0">
                  <a:pos x="2147483647" y="1418846620"/>
                </a:cxn>
              </a:cxnLst>
              <a:pathLst>
                <a:path w="1386" h="805">
                  <a:moveTo>
                    <a:pt x="0" y="805"/>
                  </a:moveTo>
                  <a:cubicBezTo>
                    <a:pt x="27" y="792"/>
                    <a:pt x="54" y="780"/>
                    <a:pt x="75" y="763"/>
                  </a:cubicBezTo>
                  <a:cubicBezTo>
                    <a:pt x="96" y="746"/>
                    <a:pt x="104" y="736"/>
                    <a:pt x="125" y="705"/>
                  </a:cubicBezTo>
                  <a:cubicBezTo>
                    <a:pt x="146" y="674"/>
                    <a:pt x="178" y="626"/>
                    <a:pt x="200" y="579"/>
                  </a:cubicBezTo>
                  <a:cubicBezTo>
                    <a:pt x="222" y="532"/>
                    <a:pt x="242" y="470"/>
                    <a:pt x="259" y="421"/>
                  </a:cubicBezTo>
                  <a:cubicBezTo>
                    <a:pt x="276" y="372"/>
                    <a:pt x="279" y="334"/>
                    <a:pt x="300" y="287"/>
                  </a:cubicBezTo>
                  <a:cubicBezTo>
                    <a:pt x="321" y="240"/>
                    <a:pt x="350" y="180"/>
                    <a:pt x="384" y="137"/>
                  </a:cubicBezTo>
                  <a:cubicBezTo>
                    <a:pt x="418" y="94"/>
                    <a:pt x="459" y="50"/>
                    <a:pt x="501" y="28"/>
                  </a:cubicBezTo>
                  <a:cubicBezTo>
                    <a:pt x="543" y="6"/>
                    <a:pt x="594" y="0"/>
                    <a:pt x="634" y="3"/>
                  </a:cubicBezTo>
                  <a:cubicBezTo>
                    <a:pt x="674" y="6"/>
                    <a:pt x="712" y="19"/>
                    <a:pt x="743" y="45"/>
                  </a:cubicBezTo>
                  <a:cubicBezTo>
                    <a:pt x="774" y="71"/>
                    <a:pt x="785" y="118"/>
                    <a:pt x="818" y="162"/>
                  </a:cubicBezTo>
                  <a:cubicBezTo>
                    <a:pt x="851" y="206"/>
                    <a:pt x="907" y="272"/>
                    <a:pt x="943" y="312"/>
                  </a:cubicBezTo>
                  <a:cubicBezTo>
                    <a:pt x="979" y="352"/>
                    <a:pt x="997" y="375"/>
                    <a:pt x="1035" y="404"/>
                  </a:cubicBezTo>
                  <a:cubicBezTo>
                    <a:pt x="1073" y="433"/>
                    <a:pt x="1111" y="462"/>
                    <a:pt x="1169" y="488"/>
                  </a:cubicBezTo>
                  <a:cubicBezTo>
                    <a:pt x="1227" y="514"/>
                    <a:pt x="1350" y="551"/>
                    <a:pt x="1386" y="563"/>
                  </a:cubicBezTo>
                </a:path>
              </a:pathLst>
            </a:custGeom>
            <a:noFill/>
            <a:ln w="9525" cap="flat" cmpd="sng">
              <a:solidFill>
                <a:srgbClr val="FF0000">
                  <a:alpha val="100000"/>
                </a:srgbClr>
              </a:solidFill>
              <a:prstDash val="sysDot"/>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2274352" name="Text Box 48"/>
            <p:cNvSpPr txBox="1"/>
            <p:nvPr/>
          </p:nvSpPr>
          <p:spPr>
            <a:xfrm>
              <a:off x="763" y="3298"/>
              <a:ext cx="243"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53" name="Line 49"/>
            <p:cNvSpPr/>
            <p:nvPr/>
          </p:nvSpPr>
          <p:spPr>
            <a:xfrm flipV="1">
              <a:off x="893" y="2985"/>
              <a:ext cx="0" cy="342"/>
            </a:xfrm>
            <a:prstGeom prst="line">
              <a:avLst/>
            </a:prstGeom>
            <a:ln w="9525" cap="flat" cmpd="sng">
              <a:solidFill>
                <a:srgbClr val="CC00CC"/>
              </a:solidFill>
              <a:prstDash val="solid"/>
              <a:headEnd type="none" w="med" len="med"/>
              <a:tailEnd type="none" w="sm" len="lg"/>
            </a:ln>
          </p:spPr>
        </p:sp>
        <p:sp>
          <p:nvSpPr>
            <p:cNvPr id="2274354" name="Line 50"/>
            <p:cNvSpPr/>
            <p:nvPr/>
          </p:nvSpPr>
          <p:spPr>
            <a:xfrm flipV="1">
              <a:off x="943" y="2893"/>
              <a:ext cx="0" cy="434"/>
            </a:xfrm>
            <a:prstGeom prst="line">
              <a:avLst/>
            </a:prstGeom>
            <a:ln w="9525" cap="flat" cmpd="sng">
              <a:solidFill>
                <a:srgbClr val="CC00CC"/>
              </a:solidFill>
              <a:prstDash val="solid"/>
              <a:headEnd type="none" w="med" len="med"/>
              <a:tailEnd type="none" w="sm" len="lg"/>
            </a:ln>
          </p:spPr>
        </p:sp>
        <p:sp>
          <p:nvSpPr>
            <p:cNvPr id="2274355" name="Text Box 51"/>
            <p:cNvSpPr txBox="1"/>
            <p:nvPr/>
          </p:nvSpPr>
          <p:spPr>
            <a:xfrm>
              <a:off x="919" y="3295"/>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2T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56" name="Line 52"/>
            <p:cNvSpPr/>
            <p:nvPr/>
          </p:nvSpPr>
          <p:spPr>
            <a:xfrm flipV="1">
              <a:off x="1069" y="2542"/>
              <a:ext cx="0" cy="785"/>
            </a:xfrm>
            <a:prstGeom prst="line">
              <a:avLst/>
            </a:prstGeom>
            <a:ln w="9525" cap="flat" cmpd="sng">
              <a:solidFill>
                <a:srgbClr val="CC00CC"/>
              </a:solidFill>
              <a:prstDash val="solid"/>
              <a:headEnd type="none" w="med" len="med"/>
              <a:tailEnd type="none" w="sm" len="lg"/>
            </a:ln>
          </p:spPr>
        </p:sp>
        <p:sp>
          <p:nvSpPr>
            <p:cNvPr id="2274357" name="Line 53"/>
            <p:cNvSpPr/>
            <p:nvPr/>
          </p:nvSpPr>
          <p:spPr>
            <a:xfrm flipV="1">
              <a:off x="1119" y="2476"/>
              <a:ext cx="0" cy="851"/>
            </a:xfrm>
            <a:prstGeom prst="line">
              <a:avLst/>
            </a:prstGeom>
            <a:ln w="9525" cap="flat" cmpd="sng">
              <a:solidFill>
                <a:srgbClr val="CC00CC"/>
              </a:solidFill>
              <a:prstDash val="solid"/>
              <a:headEnd type="none" w="med" len="med"/>
              <a:tailEnd type="none" w="sm" len="lg"/>
            </a:ln>
          </p:spPr>
        </p:sp>
        <p:sp>
          <p:nvSpPr>
            <p:cNvPr id="2274358" name="Text Box 54"/>
            <p:cNvSpPr txBox="1"/>
            <p:nvPr/>
          </p:nvSpPr>
          <p:spPr>
            <a:xfrm>
              <a:off x="1140" y="3298"/>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3T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59" name="Line 55"/>
            <p:cNvSpPr/>
            <p:nvPr/>
          </p:nvSpPr>
          <p:spPr>
            <a:xfrm flipV="1">
              <a:off x="1244" y="2367"/>
              <a:ext cx="0" cy="960"/>
            </a:xfrm>
            <a:prstGeom prst="line">
              <a:avLst/>
            </a:prstGeom>
            <a:ln w="9525" cap="flat" cmpd="sng">
              <a:solidFill>
                <a:srgbClr val="CC00CC"/>
              </a:solidFill>
              <a:prstDash val="solid"/>
              <a:headEnd type="none" w="med" len="med"/>
              <a:tailEnd type="none" w="sm" len="lg"/>
            </a:ln>
          </p:spPr>
        </p:sp>
        <p:sp>
          <p:nvSpPr>
            <p:cNvPr id="2274360" name="Line 56"/>
            <p:cNvSpPr/>
            <p:nvPr/>
          </p:nvSpPr>
          <p:spPr>
            <a:xfrm flipV="1">
              <a:off x="1294" y="2358"/>
              <a:ext cx="0" cy="969"/>
            </a:xfrm>
            <a:prstGeom prst="line">
              <a:avLst/>
            </a:prstGeom>
            <a:ln w="9525" cap="flat" cmpd="sng">
              <a:solidFill>
                <a:srgbClr val="CC00CC"/>
              </a:solidFill>
              <a:prstDash val="solid"/>
              <a:headEnd type="none" w="med" len="med"/>
              <a:tailEnd type="none" w="sm" len="lg"/>
            </a:ln>
          </p:spPr>
        </p:sp>
        <p:sp>
          <p:nvSpPr>
            <p:cNvPr id="2274361" name="Text Box 57"/>
            <p:cNvSpPr txBox="1"/>
            <p:nvPr/>
          </p:nvSpPr>
          <p:spPr>
            <a:xfrm>
              <a:off x="1405" y="3290"/>
              <a:ext cx="228"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a:t>
              </a:r>
              <a:endParaRPr lang="en-US" altLang="zh-CN" sz="1400" b="1">
                <a:solidFill>
                  <a:srgbClr val="333399"/>
                </a:solidFill>
                <a:latin typeface="Times New Roman" panose="02020603050405020304" pitchFamily="18" charset="0"/>
              </a:endParaRPr>
            </a:p>
          </p:txBody>
        </p:sp>
        <p:sp>
          <p:nvSpPr>
            <p:cNvPr id="2274362" name="Line 58"/>
            <p:cNvSpPr/>
            <p:nvPr/>
          </p:nvSpPr>
          <p:spPr>
            <a:xfrm flipV="1">
              <a:off x="1419" y="2375"/>
              <a:ext cx="0" cy="952"/>
            </a:xfrm>
            <a:prstGeom prst="line">
              <a:avLst/>
            </a:prstGeom>
            <a:ln w="9525" cap="flat" cmpd="sng">
              <a:solidFill>
                <a:srgbClr val="CC00CC"/>
              </a:solidFill>
              <a:prstDash val="solid"/>
              <a:headEnd type="none" w="med" len="med"/>
              <a:tailEnd type="none" w="sm" len="lg"/>
            </a:ln>
          </p:spPr>
        </p:sp>
        <p:sp>
          <p:nvSpPr>
            <p:cNvPr id="2274363" name="Line 59"/>
            <p:cNvSpPr/>
            <p:nvPr/>
          </p:nvSpPr>
          <p:spPr>
            <a:xfrm flipV="1">
              <a:off x="1469" y="2409"/>
              <a:ext cx="0" cy="918"/>
            </a:xfrm>
            <a:prstGeom prst="line">
              <a:avLst/>
            </a:prstGeom>
            <a:ln w="9525" cap="flat" cmpd="sng">
              <a:solidFill>
                <a:srgbClr val="CC00CC"/>
              </a:solidFill>
              <a:prstDash val="solid"/>
              <a:headEnd type="none" w="med" len="med"/>
              <a:tailEnd type="none" w="sm" len="lg"/>
            </a:ln>
          </p:spPr>
        </p:sp>
        <p:sp>
          <p:nvSpPr>
            <p:cNvPr id="2274364" name="Line 60"/>
            <p:cNvSpPr/>
            <p:nvPr/>
          </p:nvSpPr>
          <p:spPr>
            <a:xfrm flipV="1">
              <a:off x="1594" y="2583"/>
              <a:ext cx="0" cy="744"/>
            </a:xfrm>
            <a:prstGeom prst="line">
              <a:avLst/>
            </a:prstGeom>
            <a:ln w="9525" cap="flat" cmpd="sng">
              <a:solidFill>
                <a:srgbClr val="CC00CC"/>
              </a:solidFill>
              <a:prstDash val="solid"/>
              <a:headEnd type="none" w="med" len="med"/>
              <a:tailEnd type="none" w="sm" len="lg"/>
            </a:ln>
          </p:spPr>
        </p:sp>
        <p:sp>
          <p:nvSpPr>
            <p:cNvPr id="2274365" name="Line 61"/>
            <p:cNvSpPr/>
            <p:nvPr/>
          </p:nvSpPr>
          <p:spPr>
            <a:xfrm flipV="1">
              <a:off x="1645" y="2643"/>
              <a:ext cx="0" cy="684"/>
            </a:xfrm>
            <a:prstGeom prst="line">
              <a:avLst/>
            </a:prstGeom>
            <a:ln w="9525" cap="flat" cmpd="sng">
              <a:solidFill>
                <a:srgbClr val="CC00CC"/>
              </a:solidFill>
              <a:prstDash val="solid"/>
              <a:headEnd type="none" w="med" len="med"/>
              <a:tailEnd type="none" w="sm" len="lg"/>
            </a:ln>
          </p:spPr>
        </p:sp>
        <p:sp>
          <p:nvSpPr>
            <p:cNvPr id="2274366" name="Line 62"/>
            <p:cNvSpPr/>
            <p:nvPr/>
          </p:nvSpPr>
          <p:spPr>
            <a:xfrm flipV="1">
              <a:off x="1761" y="2759"/>
              <a:ext cx="0" cy="568"/>
            </a:xfrm>
            <a:prstGeom prst="line">
              <a:avLst/>
            </a:prstGeom>
            <a:ln w="9525" cap="flat" cmpd="sng">
              <a:solidFill>
                <a:srgbClr val="CC00CC"/>
              </a:solidFill>
              <a:prstDash val="solid"/>
              <a:headEnd type="none" w="med" len="med"/>
              <a:tailEnd type="none" w="sm" len="lg"/>
            </a:ln>
          </p:spPr>
        </p:sp>
        <p:sp>
          <p:nvSpPr>
            <p:cNvPr id="2274367" name="Line 63"/>
            <p:cNvSpPr/>
            <p:nvPr/>
          </p:nvSpPr>
          <p:spPr>
            <a:xfrm flipV="1">
              <a:off x="1811" y="2801"/>
              <a:ext cx="0" cy="526"/>
            </a:xfrm>
            <a:prstGeom prst="line">
              <a:avLst/>
            </a:prstGeom>
            <a:ln w="9525" cap="flat" cmpd="sng">
              <a:solidFill>
                <a:srgbClr val="CC00CC"/>
              </a:solidFill>
              <a:prstDash val="solid"/>
              <a:headEnd type="none" w="med" len="med"/>
              <a:tailEnd type="none" w="sm" len="lg"/>
            </a:ln>
          </p:spPr>
        </p:sp>
        <p:sp>
          <p:nvSpPr>
            <p:cNvPr id="2274368" name="Line 64"/>
            <p:cNvSpPr/>
            <p:nvPr/>
          </p:nvSpPr>
          <p:spPr>
            <a:xfrm flipV="1">
              <a:off x="1945" y="2859"/>
              <a:ext cx="0" cy="468"/>
            </a:xfrm>
            <a:prstGeom prst="line">
              <a:avLst/>
            </a:prstGeom>
            <a:ln w="9525" cap="flat" cmpd="sng">
              <a:solidFill>
                <a:srgbClr val="CC00CC"/>
              </a:solidFill>
              <a:prstDash val="solid"/>
              <a:headEnd type="none" w="med" len="med"/>
              <a:tailEnd type="none" w="sm" len="lg"/>
            </a:ln>
          </p:spPr>
        </p:sp>
        <p:sp>
          <p:nvSpPr>
            <p:cNvPr id="2274369" name="Line 65"/>
            <p:cNvSpPr/>
            <p:nvPr/>
          </p:nvSpPr>
          <p:spPr>
            <a:xfrm flipV="1">
              <a:off x="1995" y="2884"/>
              <a:ext cx="0" cy="443"/>
            </a:xfrm>
            <a:prstGeom prst="line">
              <a:avLst/>
            </a:prstGeom>
            <a:ln w="9525" cap="flat" cmpd="sng">
              <a:solidFill>
                <a:srgbClr val="CC00CC"/>
              </a:solidFill>
              <a:prstDash val="solid"/>
              <a:headEnd type="none" w="med" len="med"/>
              <a:tailEnd type="none" w="sm" len="lg"/>
            </a:ln>
          </p:spPr>
        </p:sp>
        <p:sp>
          <p:nvSpPr>
            <p:cNvPr id="2274372" name="Text Box 68"/>
            <p:cNvSpPr txBox="1"/>
            <p:nvPr/>
          </p:nvSpPr>
          <p:spPr>
            <a:xfrm>
              <a:off x="522" y="2314"/>
              <a:ext cx="173" cy="460"/>
            </a:xfrm>
            <a:prstGeom prst="rect">
              <a:avLst/>
            </a:prstGeom>
            <a:noFill/>
            <a:ln w="9525">
              <a:noFill/>
            </a:ln>
          </p:spPr>
          <p:txBody>
            <a:bodyPr wrap="none">
              <a:spAutoFit/>
            </a:bodyPr>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p:txBody>
        </p:sp>
        <p:sp>
          <p:nvSpPr>
            <p:cNvPr id="2274411" name="Text Box 107"/>
            <p:cNvSpPr txBox="1"/>
            <p:nvPr/>
          </p:nvSpPr>
          <p:spPr>
            <a:xfrm>
              <a:off x="1278" y="3470"/>
              <a:ext cx="302" cy="250"/>
            </a:xfrm>
            <a:prstGeom prst="rect">
              <a:avLst/>
            </a:prstGeom>
            <a:noFill/>
            <a:ln w="9525">
              <a:noFill/>
            </a:ln>
          </p:spPr>
          <p:txBody>
            <a:bodyPr wrap="none">
              <a:spAutoFit/>
            </a:bodyPr>
            <a:p>
              <a:pPr algn="ctr" eaLnBrk="1" hangingPunct="1"/>
              <a:r>
                <a:rPr lang="en-US" altLang="zh-CN" sz="2000" b="1">
                  <a:solidFill>
                    <a:srgbClr val="FF0000"/>
                  </a:solidFill>
                  <a:latin typeface="Times New Roman" panose="02020603050405020304" pitchFamily="18" charset="0"/>
                </a:rPr>
                <a:t>(a)</a:t>
              </a:r>
              <a:endParaRPr lang="en-US" altLang="zh-CN" sz="2000" b="1">
                <a:solidFill>
                  <a:srgbClr val="FF0000"/>
                </a:solidFill>
                <a:latin typeface="Times New Roman" panose="02020603050405020304" pitchFamily="18" charset="0"/>
              </a:endParaRPr>
            </a:p>
          </p:txBody>
        </p:sp>
      </p:grpSp>
      <p:grpSp>
        <p:nvGrpSpPr>
          <p:cNvPr id="33876" name="组合 33875"/>
          <p:cNvGrpSpPr/>
          <p:nvPr/>
        </p:nvGrpSpPr>
        <p:grpSpPr>
          <a:xfrm>
            <a:off x="4813300" y="2995613"/>
            <a:ext cx="4060825" cy="2917825"/>
            <a:chOff x="3032" y="1887"/>
            <a:chExt cx="2558" cy="1838"/>
          </a:xfrm>
        </p:grpSpPr>
        <p:sp>
          <p:nvSpPr>
            <p:cNvPr id="2274351" name="Freeform 47"/>
            <p:cNvSpPr/>
            <p:nvPr/>
          </p:nvSpPr>
          <p:spPr>
            <a:xfrm>
              <a:off x="3618" y="2359"/>
              <a:ext cx="1386" cy="805"/>
            </a:xfrm>
            <a:custGeom>
              <a:avLst/>
              <a:gdLst/>
              <a:ahLst/>
              <a:cxnLst>
                <a:cxn ang="0">
                  <a:pos x="0" y="2028724194"/>
                </a:cxn>
                <a:cxn ang="0">
                  <a:pos x="189012513" y="1922877673"/>
                </a:cxn>
                <a:cxn ang="0">
                  <a:pos x="315020325" y="1776708667"/>
                </a:cxn>
                <a:cxn ang="0">
                  <a:pos x="504031250" y="1459169104"/>
                </a:cxn>
                <a:cxn ang="0">
                  <a:pos x="652721263" y="1060984572"/>
                </a:cxn>
                <a:cxn ang="0">
                  <a:pos x="756046875" y="723283767"/>
                </a:cxn>
                <a:cxn ang="0">
                  <a:pos x="967740000" y="345260477"/>
                </a:cxn>
                <a:cxn ang="0">
                  <a:pos x="1262599075" y="70564347"/>
                </a:cxn>
                <a:cxn ang="0">
                  <a:pos x="1597779063" y="7559672"/>
                </a:cxn>
                <a:cxn ang="0">
                  <a:pos x="1872476888" y="113406193"/>
                </a:cxn>
                <a:cxn ang="0">
                  <a:pos x="2061487813" y="408265153"/>
                </a:cxn>
                <a:cxn ang="0">
                  <a:pos x="2147483647" y="786288442"/>
                </a:cxn>
                <a:cxn ang="0">
                  <a:pos x="2147483647" y="1018142727"/>
                </a:cxn>
                <a:cxn ang="0">
                  <a:pos x="2147483647" y="1229835769"/>
                </a:cxn>
                <a:cxn ang="0">
                  <a:pos x="2147483647" y="1418846620"/>
                </a:cxn>
              </a:cxnLst>
              <a:pathLst>
                <a:path w="1386" h="805">
                  <a:moveTo>
                    <a:pt x="0" y="805"/>
                  </a:moveTo>
                  <a:cubicBezTo>
                    <a:pt x="27" y="792"/>
                    <a:pt x="54" y="780"/>
                    <a:pt x="75" y="763"/>
                  </a:cubicBezTo>
                  <a:cubicBezTo>
                    <a:pt x="96" y="746"/>
                    <a:pt x="104" y="736"/>
                    <a:pt x="125" y="705"/>
                  </a:cubicBezTo>
                  <a:cubicBezTo>
                    <a:pt x="146" y="674"/>
                    <a:pt x="178" y="626"/>
                    <a:pt x="200" y="579"/>
                  </a:cubicBezTo>
                  <a:cubicBezTo>
                    <a:pt x="222" y="532"/>
                    <a:pt x="242" y="470"/>
                    <a:pt x="259" y="421"/>
                  </a:cubicBezTo>
                  <a:cubicBezTo>
                    <a:pt x="276" y="372"/>
                    <a:pt x="279" y="334"/>
                    <a:pt x="300" y="287"/>
                  </a:cubicBezTo>
                  <a:cubicBezTo>
                    <a:pt x="321" y="240"/>
                    <a:pt x="350" y="180"/>
                    <a:pt x="384" y="137"/>
                  </a:cubicBezTo>
                  <a:cubicBezTo>
                    <a:pt x="418" y="94"/>
                    <a:pt x="459" y="50"/>
                    <a:pt x="501" y="28"/>
                  </a:cubicBezTo>
                  <a:cubicBezTo>
                    <a:pt x="543" y="6"/>
                    <a:pt x="594" y="0"/>
                    <a:pt x="634" y="3"/>
                  </a:cubicBezTo>
                  <a:cubicBezTo>
                    <a:pt x="674" y="6"/>
                    <a:pt x="712" y="19"/>
                    <a:pt x="743" y="45"/>
                  </a:cubicBezTo>
                  <a:cubicBezTo>
                    <a:pt x="774" y="71"/>
                    <a:pt x="785" y="118"/>
                    <a:pt x="818" y="162"/>
                  </a:cubicBezTo>
                  <a:cubicBezTo>
                    <a:pt x="851" y="206"/>
                    <a:pt x="907" y="272"/>
                    <a:pt x="943" y="312"/>
                  </a:cubicBezTo>
                  <a:cubicBezTo>
                    <a:pt x="979" y="352"/>
                    <a:pt x="997" y="375"/>
                    <a:pt x="1035" y="404"/>
                  </a:cubicBezTo>
                  <a:cubicBezTo>
                    <a:pt x="1073" y="433"/>
                    <a:pt x="1111" y="462"/>
                    <a:pt x="1169" y="488"/>
                  </a:cubicBezTo>
                  <a:cubicBezTo>
                    <a:pt x="1227" y="514"/>
                    <a:pt x="1350" y="551"/>
                    <a:pt x="1386" y="563"/>
                  </a:cubicBezTo>
                </a:path>
              </a:pathLst>
            </a:custGeom>
            <a:noFill/>
            <a:ln w="9525" cap="flat" cmpd="sng">
              <a:solidFill>
                <a:srgbClr val="FF0000">
                  <a:alpha val="100000"/>
                </a:srgbClr>
              </a:solidFill>
              <a:prstDash val="sysDot"/>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2274373" name="Line 69"/>
            <p:cNvSpPr/>
            <p:nvPr/>
          </p:nvSpPr>
          <p:spPr>
            <a:xfrm>
              <a:off x="3615" y="3327"/>
              <a:ext cx="1811" cy="0"/>
            </a:xfrm>
            <a:prstGeom prst="line">
              <a:avLst/>
            </a:prstGeom>
            <a:ln w="9525" cap="flat" cmpd="sng">
              <a:solidFill>
                <a:srgbClr val="3333FF"/>
              </a:solidFill>
              <a:prstDash val="solid"/>
              <a:headEnd type="none" w="med" len="med"/>
              <a:tailEnd type="stealth" w="sm" len="lg"/>
            </a:ln>
          </p:spPr>
        </p:sp>
        <p:sp>
          <p:nvSpPr>
            <p:cNvPr id="2274374" name="Text Box 70"/>
            <p:cNvSpPr txBox="1"/>
            <p:nvPr/>
          </p:nvSpPr>
          <p:spPr>
            <a:xfrm>
              <a:off x="5421" y="3183"/>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74375" name="Line 71"/>
            <p:cNvSpPr/>
            <p:nvPr/>
          </p:nvSpPr>
          <p:spPr>
            <a:xfrm flipV="1">
              <a:off x="3615" y="1949"/>
              <a:ext cx="0" cy="1378"/>
            </a:xfrm>
            <a:prstGeom prst="line">
              <a:avLst/>
            </a:prstGeom>
            <a:ln w="9525" cap="flat" cmpd="sng">
              <a:solidFill>
                <a:srgbClr val="3333FF"/>
              </a:solidFill>
              <a:prstDash val="solid"/>
              <a:headEnd type="none" w="med" len="med"/>
              <a:tailEnd type="stealth" w="sm" len="lg"/>
            </a:ln>
          </p:spPr>
        </p:sp>
        <p:sp>
          <p:nvSpPr>
            <p:cNvPr id="2274376" name="Text Box 72"/>
            <p:cNvSpPr txBox="1"/>
            <p:nvPr/>
          </p:nvSpPr>
          <p:spPr>
            <a:xfrm>
              <a:off x="3032" y="1887"/>
              <a:ext cx="605"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baseline="-25000" err="1">
                  <a:solidFill>
                    <a:srgbClr val="333399"/>
                  </a:solidFill>
                  <a:latin typeface="Times New Roman" panose="02020603050405020304" pitchFamily="18" charset="0"/>
                </a:rPr>
                <a:t>q</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74377" name="Text Box 73"/>
            <p:cNvSpPr txBox="1"/>
            <p:nvPr/>
          </p:nvSpPr>
          <p:spPr>
            <a:xfrm>
              <a:off x="3449" y="3222"/>
              <a:ext cx="188"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0</a:t>
              </a:r>
              <a:endParaRPr lang="en-US" altLang="zh-CN" sz="1800" b="1">
                <a:solidFill>
                  <a:srgbClr val="333399"/>
                </a:solidFill>
                <a:latin typeface="Times New Roman" panose="02020603050405020304" pitchFamily="18" charset="0"/>
              </a:endParaRPr>
            </a:p>
          </p:txBody>
        </p:sp>
        <p:sp>
          <p:nvSpPr>
            <p:cNvPr id="2274378" name="Line 74"/>
            <p:cNvSpPr/>
            <p:nvPr/>
          </p:nvSpPr>
          <p:spPr>
            <a:xfrm>
              <a:off x="3615" y="3185"/>
              <a:ext cx="1703" cy="0"/>
            </a:xfrm>
            <a:prstGeom prst="line">
              <a:avLst/>
            </a:prstGeom>
            <a:ln w="9525" cap="flat" cmpd="sng">
              <a:solidFill>
                <a:srgbClr val="006666"/>
              </a:solidFill>
              <a:prstDash val="sysDot"/>
              <a:headEnd type="none" w="med" len="med"/>
              <a:tailEnd type="none" w="sm" len="lg"/>
            </a:ln>
          </p:spPr>
        </p:sp>
        <p:sp>
          <p:nvSpPr>
            <p:cNvPr id="2274380" name="Text Box 76"/>
            <p:cNvSpPr txBox="1"/>
            <p:nvPr/>
          </p:nvSpPr>
          <p:spPr>
            <a:xfrm>
              <a:off x="3428" y="3043"/>
              <a:ext cx="188"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81" name="Line 77"/>
            <p:cNvSpPr/>
            <p:nvPr/>
          </p:nvSpPr>
          <p:spPr>
            <a:xfrm>
              <a:off x="3623" y="3044"/>
              <a:ext cx="1686" cy="0"/>
            </a:xfrm>
            <a:prstGeom prst="line">
              <a:avLst/>
            </a:prstGeom>
            <a:ln w="9525" cap="flat" cmpd="sng">
              <a:solidFill>
                <a:srgbClr val="006666"/>
              </a:solidFill>
              <a:prstDash val="sysDot"/>
              <a:headEnd type="none" w="med" len="med"/>
              <a:tailEnd type="none" w="sm" len="lg"/>
            </a:ln>
          </p:spPr>
        </p:sp>
        <p:sp>
          <p:nvSpPr>
            <p:cNvPr id="2274382" name="Text Box 78"/>
            <p:cNvSpPr txBox="1"/>
            <p:nvPr/>
          </p:nvSpPr>
          <p:spPr>
            <a:xfrm>
              <a:off x="3354" y="2914"/>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2</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83" name="Line 79"/>
            <p:cNvSpPr/>
            <p:nvPr/>
          </p:nvSpPr>
          <p:spPr>
            <a:xfrm>
              <a:off x="3615" y="2893"/>
              <a:ext cx="1694" cy="0"/>
            </a:xfrm>
            <a:prstGeom prst="line">
              <a:avLst/>
            </a:prstGeom>
            <a:ln w="9525" cap="flat" cmpd="sng">
              <a:solidFill>
                <a:srgbClr val="006666"/>
              </a:solidFill>
              <a:prstDash val="sysDot"/>
              <a:headEnd type="none" w="med" len="med"/>
              <a:tailEnd type="none" w="sm" len="lg"/>
            </a:ln>
          </p:spPr>
        </p:sp>
        <p:sp>
          <p:nvSpPr>
            <p:cNvPr id="2274384" name="Text Box 80"/>
            <p:cNvSpPr txBox="1"/>
            <p:nvPr/>
          </p:nvSpPr>
          <p:spPr>
            <a:xfrm>
              <a:off x="3368" y="2750"/>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3</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4385" name="Line 81"/>
            <p:cNvSpPr/>
            <p:nvPr/>
          </p:nvSpPr>
          <p:spPr>
            <a:xfrm>
              <a:off x="3615" y="2742"/>
              <a:ext cx="1694" cy="0"/>
            </a:xfrm>
            <a:prstGeom prst="line">
              <a:avLst/>
            </a:prstGeom>
            <a:ln w="9525" cap="flat" cmpd="sng">
              <a:solidFill>
                <a:srgbClr val="006666"/>
              </a:solidFill>
              <a:prstDash val="sysDot"/>
              <a:headEnd type="none" w="med" len="med"/>
              <a:tailEnd type="none" w="sm" len="lg"/>
            </a:ln>
          </p:spPr>
        </p:sp>
        <p:sp>
          <p:nvSpPr>
            <p:cNvPr id="2274386" name="Line 82"/>
            <p:cNvSpPr/>
            <p:nvPr/>
          </p:nvSpPr>
          <p:spPr>
            <a:xfrm>
              <a:off x="3615" y="2602"/>
              <a:ext cx="1694" cy="0"/>
            </a:xfrm>
            <a:prstGeom prst="line">
              <a:avLst/>
            </a:prstGeom>
            <a:ln w="9525" cap="flat" cmpd="sng">
              <a:solidFill>
                <a:srgbClr val="006666"/>
              </a:solidFill>
              <a:prstDash val="sysDot"/>
              <a:headEnd type="none" w="med" len="med"/>
              <a:tailEnd type="none" w="sm" len="lg"/>
            </a:ln>
          </p:spPr>
        </p:sp>
        <p:sp>
          <p:nvSpPr>
            <p:cNvPr id="2274387" name="Line 83"/>
            <p:cNvSpPr/>
            <p:nvPr/>
          </p:nvSpPr>
          <p:spPr>
            <a:xfrm>
              <a:off x="3615" y="2450"/>
              <a:ext cx="1694" cy="0"/>
            </a:xfrm>
            <a:prstGeom prst="line">
              <a:avLst/>
            </a:prstGeom>
            <a:ln w="9525" cap="flat" cmpd="sng">
              <a:solidFill>
                <a:srgbClr val="006666"/>
              </a:solidFill>
              <a:prstDash val="sysDot"/>
              <a:headEnd type="none" w="med" len="med"/>
              <a:tailEnd type="none" w="sm" len="lg"/>
            </a:ln>
          </p:spPr>
        </p:sp>
        <p:sp>
          <p:nvSpPr>
            <p:cNvPr id="2274388" name="Line 84"/>
            <p:cNvSpPr/>
            <p:nvPr/>
          </p:nvSpPr>
          <p:spPr>
            <a:xfrm>
              <a:off x="3615" y="2300"/>
              <a:ext cx="1694" cy="0"/>
            </a:xfrm>
            <a:prstGeom prst="line">
              <a:avLst/>
            </a:prstGeom>
            <a:ln w="9525" cap="flat" cmpd="sng">
              <a:solidFill>
                <a:srgbClr val="006666"/>
              </a:solidFill>
              <a:prstDash val="sysDot"/>
              <a:headEnd type="none" w="med" len="med"/>
              <a:tailEnd type="none" w="sm" len="lg"/>
            </a:ln>
          </p:spPr>
        </p:sp>
        <p:sp>
          <p:nvSpPr>
            <p:cNvPr id="2274389" name="Text Box 85"/>
            <p:cNvSpPr txBox="1"/>
            <p:nvPr/>
          </p:nvSpPr>
          <p:spPr>
            <a:xfrm>
              <a:off x="3406" y="2293"/>
              <a:ext cx="173" cy="460"/>
            </a:xfrm>
            <a:prstGeom prst="rect">
              <a:avLst/>
            </a:prstGeom>
            <a:noFill/>
            <a:ln w="9525">
              <a:noFill/>
            </a:ln>
          </p:spPr>
          <p:txBody>
            <a:bodyPr wrap="none">
              <a:spAutoFit/>
            </a:bodyPr>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p:txBody>
        </p:sp>
        <p:sp>
          <p:nvSpPr>
            <p:cNvPr id="2274390" name="Text Box 86"/>
            <p:cNvSpPr txBox="1"/>
            <p:nvPr/>
          </p:nvSpPr>
          <p:spPr>
            <a:xfrm>
              <a:off x="3655" y="3303"/>
              <a:ext cx="243"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91" name="Line 87"/>
            <p:cNvSpPr/>
            <p:nvPr/>
          </p:nvSpPr>
          <p:spPr>
            <a:xfrm flipV="1">
              <a:off x="3790" y="3043"/>
              <a:ext cx="0" cy="284"/>
            </a:xfrm>
            <a:prstGeom prst="line">
              <a:avLst/>
            </a:prstGeom>
            <a:ln w="9525" cap="flat" cmpd="sng">
              <a:solidFill>
                <a:srgbClr val="CC00CC"/>
              </a:solidFill>
              <a:prstDash val="solid"/>
              <a:headEnd type="none" w="med" len="med"/>
              <a:tailEnd type="none" w="sm" len="lg"/>
            </a:ln>
          </p:spPr>
        </p:sp>
        <p:sp>
          <p:nvSpPr>
            <p:cNvPr id="2274393" name="Line 89"/>
            <p:cNvSpPr/>
            <p:nvPr/>
          </p:nvSpPr>
          <p:spPr>
            <a:xfrm flipV="1">
              <a:off x="3840" y="3043"/>
              <a:ext cx="0" cy="284"/>
            </a:xfrm>
            <a:prstGeom prst="line">
              <a:avLst/>
            </a:prstGeom>
            <a:ln w="9525" cap="flat" cmpd="sng">
              <a:solidFill>
                <a:srgbClr val="CC00CC"/>
              </a:solidFill>
              <a:prstDash val="solid"/>
              <a:headEnd type="none" w="med" len="med"/>
              <a:tailEnd type="none" w="sm" len="lg"/>
            </a:ln>
          </p:spPr>
        </p:sp>
        <p:sp>
          <p:nvSpPr>
            <p:cNvPr id="2274395" name="Text Box 91"/>
            <p:cNvSpPr txBox="1"/>
            <p:nvPr/>
          </p:nvSpPr>
          <p:spPr>
            <a:xfrm>
              <a:off x="3820" y="3291"/>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2T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96" name="Line 92"/>
            <p:cNvSpPr/>
            <p:nvPr/>
          </p:nvSpPr>
          <p:spPr>
            <a:xfrm flipV="1">
              <a:off x="3974" y="2601"/>
              <a:ext cx="0" cy="726"/>
            </a:xfrm>
            <a:prstGeom prst="line">
              <a:avLst/>
            </a:prstGeom>
            <a:ln w="9525" cap="flat" cmpd="sng">
              <a:solidFill>
                <a:srgbClr val="CC00CC"/>
              </a:solidFill>
              <a:prstDash val="solid"/>
              <a:headEnd type="none" w="med" len="med"/>
              <a:tailEnd type="none" w="sm" len="lg"/>
            </a:ln>
          </p:spPr>
        </p:sp>
        <p:sp>
          <p:nvSpPr>
            <p:cNvPr id="2274397" name="Line 93"/>
            <p:cNvSpPr/>
            <p:nvPr/>
          </p:nvSpPr>
          <p:spPr>
            <a:xfrm flipH="1" flipV="1">
              <a:off x="4023" y="2594"/>
              <a:ext cx="1" cy="733"/>
            </a:xfrm>
            <a:prstGeom prst="line">
              <a:avLst/>
            </a:prstGeom>
            <a:ln w="9525" cap="flat" cmpd="sng">
              <a:solidFill>
                <a:srgbClr val="CC00CC"/>
              </a:solidFill>
              <a:prstDash val="solid"/>
              <a:headEnd type="none" w="med" len="med"/>
              <a:tailEnd type="none" w="sm" len="lg"/>
            </a:ln>
          </p:spPr>
        </p:sp>
        <p:sp>
          <p:nvSpPr>
            <p:cNvPr id="2274398" name="Text Box 94"/>
            <p:cNvSpPr txBox="1"/>
            <p:nvPr/>
          </p:nvSpPr>
          <p:spPr>
            <a:xfrm>
              <a:off x="4033" y="3294"/>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3T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4399" name="Line 95"/>
            <p:cNvSpPr/>
            <p:nvPr/>
          </p:nvSpPr>
          <p:spPr>
            <a:xfrm flipV="1">
              <a:off x="4141" y="2450"/>
              <a:ext cx="0" cy="877"/>
            </a:xfrm>
            <a:prstGeom prst="line">
              <a:avLst/>
            </a:prstGeom>
            <a:ln w="9525" cap="flat" cmpd="sng">
              <a:solidFill>
                <a:srgbClr val="CC00CC"/>
              </a:solidFill>
              <a:prstDash val="solid"/>
              <a:headEnd type="none" w="med" len="med"/>
              <a:tailEnd type="none" w="sm" len="lg"/>
            </a:ln>
          </p:spPr>
        </p:sp>
        <p:sp>
          <p:nvSpPr>
            <p:cNvPr id="2274400" name="Line 96"/>
            <p:cNvSpPr/>
            <p:nvPr/>
          </p:nvSpPr>
          <p:spPr>
            <a:xfrm flipV="1">
              <a:off x="4191" y="2450"/>
              <a:ext cx="0" cy="877"/>
            </a:xfrm>
            <a:prstGeom prst="line">
              <a:avLst/>
            </a:prstGeom>
            <a:ln w="9525" cap="flat" cmpd="sng">
              <a:solidFill>
                <a:srgbClr val="CC00CC"/>
              </a:solidFill>
              <a:prstDash val="solid"/>
              <a:headEnd type="none" w="med" len="med"/>
              <a:tailEnd type="none" w="sm" len="lg"/>
            </a:ln>
          </p:spPr>
        </p:sp>
        <p:sp>
          <p:nvSpPr>
            <p:cNvPr id="2274401" name="Text Box 97"/>
            <p:cNvSpPr txBox="1"/>
            <p:nvPr/>
          </p:nvSpPr>
          <p:spPr>
            <a:xfrm>
              <a:off x="4264" y="3277"/>
              <a:ext cx="228"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a:t>
              </a:r>
              <a:endParaRPr lang="en-US" altLang="zh-CN" sz="1400" b="1">
                <a:solidFill>
                  <a:srgbClr val="333399"/>
                </a:solidFill>
                <a:latin typeface="Times New Roman" panose="02020603050405020304" pitchFamily="18" charset="0"/>
              </a:endParaRPr>
            </a:p>
          </p:txBody>
        </p:sp>
        <p:sp>
          <p:nvSpPr>
            <p:cNvPr id="2274402" name="Line 98"/>
            <p:cNvSpPr/>
            <p:nvPr/>
          </p:nvSpPr>
          <p:spPr>
            <a:xfrm flipV="1">
              <a:off x="4316" y="2450"/>
              <a:ext cx="0" cy="877"/>
            </a:xfrm>
            <a:prstGeom prst="line">
              <a:avLst/>
            </a:prstGeom>
            <a:ln w="9525" cap="flat" cmpd="sng">
              <a:solidFill>
                <a:srgbClr val="CC00CC"/>
              </a:solidFill>
              <a:prstDash val="solid"/>
              <a:headEnd type="none" w="med" len="med"/>
              <a:tailEnd type="none" w="sm" len="lg"/>
            </a:ln>
          </p:spPr>
        </p:sp>
        <p:sp>
          <p:nvSpPr>
            <p:cNvPr id="2274403" name="Line 99"/>
            <p:cNvSpPr/>
            <p:nvPr/>
          </p:nvSpPr>
          <p:spPr>
            <a:xfrm flipV="1">
              <a:off x="4366" y="2450"/>
              <a:ext cx="0" cy="877"/>
            </a:xfrm>
            <a:prstGeom prst="line">
              <a:avLst/>
            </a:prstGeom>
            <a:ln w="9525" cap="flat" cmpd="sng">
              <a:solidFill>
                <a:srgbClr val="CC00CC"/>
              </a:solidFill>
              <a:prstDash val="solid"/>
              <a:headEnd type="none" w="med" len="med"/>
              <a:tailEnd type="none" w="sm" len="lg"/>
            </a:ln>
          </p:spPr>
        </p:sp>
        <p:sp>
          <p:nvSpPr>
            <p:cNvPr id="2274404" name="Line 100"/>
            <p:cNvSpPr/>
            <p:nvPr/>
          </p:nvSpPr>
          <p:spPr>
            <a:xfrm flipV="1">
              <a:off x="4491" y="2601"/>
              <a:ext cx="0" cy="726"/>
            </a:xfrm>
            <a:prstGeom prst="line">
              <a:avLst/>
            </a:prstGeom>
            <a:ln w="9525" cap="flat" cmpd="sng">
              <a:solidFill>
                <a:srgbClr val="CC00CC"/>
              </a:solidFill>
              <a:prstDash val="solid"/>
              <a:headEnd type="none" w="med" len="med"/>
              <a:tailEnd type="none" w="sm" len="lg"/>
            </a:ln>
          </p:spPr>
        </p:sp>
        <p:sp>
          <p:nvSpPr>
            <p:cNvPr id="2274405" name="Line 101"/>
            <p:cNvSpPr/>
            <p:nvPr/>
          </p:nvSpPr>
          <p:spPr>
            <a:xfrm flipV="1">
              <a:off x="4541" y="2601"/>
              <a:ext cx="0" cy="726"/>
            </a:xfrm>
            <a:prstGeom prst="line">
              <a:avLst/>
            </a:prstGeom>
            <a:ln w="9525" cap="flat" cmpd="sng">
              <a:solidFill>
                <a:srgbClr val="CC00CC"/>
              </a:solidFill>
              <a:prstDash val="solid"/>
              <a:headEnd type="none" w="med" len="med"/>
              <a:tailEnd type="none" w="sm" len="lg"/>
            </a:ln>
          </p:spPr>
        </p:sp>
        <p:sp>
          <p:nvSpPr>
            <p:cNvPr id="2274407" name="Line 103"/>
            <p:cNvSpPr/>
            <p:nvPr/>
          </p:nvSpPr>
          <p:spPr>
            <a:xfrm flipV="1">
              <a:off x="4666" y="2893"/>
              <a:ext cx="0" cy="434"/>
            </a:xfrm>
            <a:prstGeom prst="line">
              <a:avLst/>
            </a:prstGeom>
            <a:ln w="9525" cap="flat" cmpd="sng">
              <a:solidFill>
                <a:srgbClr val="CC00CC"/>
              </a:solidFill>
              <a:prstDash val="solid"/>
              <a:headEnd type="none" w="med" len="med"/>
              <a:tailEnd type="none" w="sm" len="lg"/>
            </a:ln>
          </p:spPr>
        </p:sp>
        <p:sp>
          <p:nvSpPr>
            <p:cNvPr id="2274408" name="Line 104"/>
            <p:cNvSpPr/>
            <p:nvPr/>
          </p:nvSpPr>
          <p:spPr>
            <a:xfrm flipH="1" flipV="1">
              <a:off x="4710" y="2893"/>
              <a:ext cx="7" cy="434"/>
            </a:xfrm>
            <a:prstGeom prst="line">
              <a:avLst/>
            </a:prstGeom>
            <a:ln w="9525" cap="flat" cmpd="sng">
              <a:solidFill>
                <a:srgbClr val="CC00CC"/>
              </a:solidFill>
              <a:prstDash val="solid"/>
              <a:headEnd type="none" w="med" len="med"/>
              <a:tailEnd type="none" w="sm" len="lg"/>
            </a:ln>
          </p:spPr>
        </p:sp>
        <p:sp>
          <p:nvSpPr>
            <p:cNvPr id="2274409" name="Line 105"/>
            <p:cNvSpPr/>
            <p:nvPr/>
          </p:nvSpPr>
          <p:spPr>
            <a:xfrm flipV="1">
              <a:off x="4833" y="2893"/>
              <a:ext cx="0" cy="434"/>
            </a:xfrm>
            <a:prstGeom prst="line">
              <a:avLst/>
            </a:prstGeom>
            <a:ln w="9525" cap="flat" cmpd="sng">
              <a:solidFill>
                <a:srgbClr val="CC00CC"/>
              </a:solidFill>
              <a:prstDash val="solid"/>
              <a:headEnd type="none" w="med" len="med"/>
              <a:tailEnd type="none" w="sm" len="lg"/>
            </a:ln>
          </p:spPr>
        </p:sp>
        <p:sp>
          <p:nvSpPr>
            <p:cNvPr id="2274410" name="Line 106"/>
            <p:cNvSpPr/>
            <p:nvPr/>
          </p:nvSpPr>
          <p:spPr>
            <a:xfrm flipV="1">
              <a:off x="4883" y="2893"/>
              <a:ext cx="0" cy="434"/>
            </a:xfrm>
            <a:prstGeom prst="line">
              <a:avLst/>
            </a:prstGeom>
            <a:ln w="9525" cap="flat" cmpd="sng">
              <a:solidFill>
                <a:srgbClr val="CC00CC"/>
              </a:solidFill>
              <a:prstDash val="solid"/>
              <a:headEnd type="none" w="med" len="med"/>
              <a:tailEnd type="none" w="sm" len="lg"/>
            </a:ln>
          </p:spPr>
        </p:sp>
        <p:sp>
          <p:nvSpPr>
            <p:cNvPr id="2274412" name="Text Box 108"/>
            <p:cNvSpPr txBox="1"/>
            <p:nvPr/>
          </p:nvSpPr>
          <p:spPr>
            <a:xfrm>
              <a:off x="4399" y="3475"/>
              <a:ext cx="311" cy="250"/>
            </a:xfrm>
            <a:prstGeom prst="rect">
              <a:avLst/>
            </a:prstGeom>
            <a:noFill/>
            <a:ln w="9525">
              <a:noFill/>
            </a:ln>
          </p:spPr>
          <p:txBody>
            <a:bodyPr wrap="none">
              <a:spAutoFit/>
            </a:bodyPr>
            <a:p>
              <a:pPr algn="ctr" eaLnBrk="1" hangingPunct="1"/>
              <a:r>
                <a:rPr lang="en-US" altLang="zh-CN" sz="2000" b="1">
                  <a:solidFill>
                    <a:srgbClr val="FF0000"/>
                  </a:solidFill>
                  <a:latin typeface="Times New Roman" panose="02020603050405020304" pitchFamily="18" charset="0"/>
                </a:rPr>
                <a:t>(b)</a:t>
              </a:r>
              <a:endParaRPr lang="en-US" altLang="zh-CN" sz="2000" b="1">
                <a:solidFill>
                  <a:srgbClr val="FF0000"/>
                </a:solidFill>
                <a:latin typeface="Times New Roman" panose="02020603050405020304" pitchFamily="18" charset="0"/>
              </a:endParaRPr>
            </a:p>
          </p:txBody>
        </p:sp>
      </p:grpSp>
      <p:sp>
        <p:nvSpPr>
          <p:cNvPr id="2274414" name="Text Box 11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4415" name="Text Box 111"/>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4416" name="Text Box 112"/>
          <p:cNvSpPr txBox="1"/>
          <p:nvPr/>
        </p:nvSpPr>
        <p:spPr>
          <a:xfrm>
            <a:off x="971550" y="1577975"/>
            <a:ext cx="33988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en-US" altLang="zh-CN" sz="2800" b="1">
                <a:solidFill>
                  <a:srgbClr val="333399"/>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只舍不入</a:t>
            </a:r>
            <a:r>
              <a:rPr lang="zh-CN" altLang="en-US" sz="2800" b="1" dirty="0">
                <a:solidFill>
                  <a:srgbClr val="333399"/>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的量化</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74418" name="Rectangle 114"/>
          <p:cNvSpPr/>
          <p:nvPr/>
        </p:nvSpPr>
        <p:spPr>
          <a:xfrm>
            <a:off x="1258888" y="2189163"/>
            <a:ext cx="6840537" cy="519112"/>
          </a:xfrm>
          <a:prstGeom prst="rect">
            <a:avLst/>
          </a:prstGeom>
          <a:solidFill>
            <a:srgbClr val="CCFFFF"/>
          </a:solidFill>
          <a:ln w="9525">
            <a:noFill/>
          </a:ln>
        </p:spPr>
        <p:txBody>
          <a:bodyPr>
            <a:spAutoFit/>
          </a:bodyPr>
          <a:p>
            <a:pPr algn="l" eaLnBrk="1" hangingPunct="1">
              <a:buClr>
                <a:srgbClr val="FF0000"/>
              </a:buClr>
              <a:buFont typeface="Wingdings" panose="05000000000000000000" pitchFamily="2" charset="2"/>
            </a:pPr>
            <a:r>
              <a:rPr lang="zh-CN" altLang="en-US" sz="2800" b="1" dirty="0">
                <a:solidFill>
                  <a:schemeClr val="tx1"/>
                </a:solidFill>
                <a:latin typeface="楷体_GB2312" pitchFamily="49" charset="-122"/>
              </a:rPr>
              <a:t>信号幅值小于</a:t>
            </a:r>
            <a:r>
              <a:rPr lang="zh-CN" altLang="en-US" sz="2800" b="1" dirty="0">
                <a:solidFill>
                  <a:srgbClr val="FF0000"/>
                </a:solidFill>
                <a:latin typeface="楷体_GB2312" pitchFamily="49" charset="-122"/>
              </a:rPr>
              <a:t>量化单位</a:t>
            </a:r>
            <a:r>
              <a:rPr lang="en-US" altLang="zh-CN" sz="2800" b="1" i="1">
                <a:solidFill>
                  <a:srgbClr val="FF0000"/>
                </a:solidFill>
                <a:latin typeface="楷体_GB2312" pitchFamily="49" charset="-122"/>
              </a:rPr>
              <a:t>q</a:t>
            </a:r>
            <a:r>
              <a:rPr lang="zh-CN" altLang="en-US" sz="2800" b="1" dirty="0">
                <a:solidFill>
                  <a:schemeClr val="tx1"/>
                </a:solidFill>
                <a:latin typeface="楷体_GB2312" pitchFamily="49" charset="-122"/>
              </a:rPr>
              <a:t>的部分，一律舍去。</a:t>
            </a:r>
            <a:endParaRPr lang="zh-CN" altLang="en-US" sz="2800" b="1" dirty="0">
              <a:solidFill>
                <a:schemeClr val="tx1"/>
              </a:solidFill>
              <a:latin typeface="楷体_GB2312" pitchFamily="49" charset="-122"/>
            </a:endParaRPr>
          </a:p>
        </p:txBody>
      </p:sp>
      <p:sp>
        <p:nvSpPr>
          <p:cNvPr id="33874"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4416"/>
                                        </p:tgtEl>
                                        <p:attrNameLst>
                                          <p:attrName>style.visibility</p:attrName>
                                        </p:attrNameLst>
                                      </p:cBhvr>
                                      <p:to>
                                        <p:strVal val="visible"/>
                                      </p:to>
                                    </p:set>
                                    <p:animEffect transition="in" filter="dissolve">
                                      <p:cBhvr>
                                        <p:cTn id="7" dur="500"/>
                                        <p:tgtEl>
                                          <p:spTgt spid="22744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4418"/>
                                        </p:tgtEl>
                                        <p:attrNameLst>
                                          <p:attrName>style.visibility</p:attrName>
                                        </p:attrNameLst>
                                      </p:cBhvr>
                                      <p:to>
                                        <p:strVal val="visible"/>
                                      </p:to>
                                    </p:set>
                                    <p:animEffect transition="in" filter="dissolve">
                                      <p:cBhvr>
                                        <p:cTn id="12" dur="500"/>
                                        <p:tgtEl>
                                          <p:spTgt spid="22744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875"/>
                                        </p:tgtEl>
                                        <p:attrNameLst>
                                          <p:attrName>style.visibility</p:attrName>
                                        </p:attrNameLst>
                                      </p:cBhvr>
                                      <p:to>
                                        <p:strVal val="visible"/>
                                      </p:to>
                                    </p:set>
                                    <p:animEffect transition="in" filter="dissolve">
                                      <p:cBhvr>
                                        <p:cTn id="17" dur="500"/>
                                        <p:tgtEl>
                                          <p:spTgt spid="33875"/>
                                        </p:tgtEl>
                                      </p:cBhvr>
                                    </p:animEffect>
                                  </p:childTnLst>
                                </p:cTn>
                              </p:par>
                            </p:childTnLst>
                          </p:cTn>
                        </p:par>
                      </p:childTnLst>
                    </p:cTn>
                  </p:par>
                  <p:par>
                    <p:cTn id="18" fill="hold">
                      <p:stCondLst>
                        <p:cond delay="indefinite"/>
                      </p:stCondLst>
                      <p:childTnLst>
                        <p:par>
                          <p:cTn id="19" fill="hold">
                            <p:stCondLst>
                              <p:cond delay="0"/>
                            </p:stCondLst>
                            <p:childTnLst>
                              <p:par>
                                <p:cTn id="20" presetID="17" presetClass="entr" presetSubtype="8" fill="hold" grpId="0" nodeType="clickEffect">
                                  <p:stCondLst>
                                    <p:cond delay="0"/>
                                  </p:stCondLst>
                                  <p:childTnLst>
                                    <p:set>
                                      <p:cBhvr>
                                        <p:cTn id="21" dur="1" fill="hold">
                                          <p:stCondLst>
                                            <p:cond delay="0"/>
                                          </p:stCondLst>
                                        </p:cTn>
                                        <p:tgtEl>
                                          <p:spTgt spid="2274370"/>
                                        </p:tgtEl>
                                        <p:attrNameLst>
                                          <p:attrName>style.visibility</p:attrName>
                                        </p:attrNameLst>
                                      </p:cBhvr>
                                      <p:to>
                                        <p:strVal val="visible"/>
                                      </p:to>
                                    </p:set>
                                    <p:anim calcmode="lin" valueType="num">
                                      <p:cBhvr>
                                        <p:cTn id="22" dur="500" fill="hold"/>
                                        <p:tgtEl>
                                          <p:spTgt spid="2274370"/>
                                        </p:tgtEl>
                                        <p:attrNameLst>
                                          <p:attrName>ppt_x</p:attrName>
                                        </p:attrNameLst>
                                      </p:cBhvr>
                                      <p:tavLst>
                                        <p:tav tm="0">
                                          <p:val>
                                            <p:strVal val="#ppt_x-#ppt_w/2"/>
                                          </p:val>
                                        </p:tav>
                                        <p:tav tm="100000">
                                          <p:val>
                                            <p:strVal val="#ppt_x"/>
                                          </p:val>
                                        </p:tav>
                                      </p:tavLst>
                                    </p:anim>
                                    <p:anim calcmode="lin" valueType="num">
                                      <p:cBhvr>
                                        <p:cTn id="23" dur="500" fill="hold"/>
                                        <p:tgtEl>
                                          <p:spTgt spid="2274370"/>
                                        </p:tgtEl>
                                        <p:attrNameLst>
                                          <p:attrName>ppt_y</p:attrName>
                                        </p:attrNameLst>
                                      </p:cBhvr>
                                      <p:tavLst>
                                        <p:tav tm="0">
                                          <p:val>
                                            <p:strVal val="#ppt_y"/>
                                          </p:val>
                                        </p:tav>
                                        <p:tav tm="100000">
                                          <p:val>
                                            <p:strVal val="#ppt_y"/>
                                          </p:val>
                                        </p:tav>
                                      </p:tavLst>
                                    </p:anim>
                                    <p:anim calcmode="lin" valueType="num">
                                      <p:cBhvr>
                                        <p:cTn id="24" dur="500" fill="hold"/>
                                        <p:tgtEl>
                                          <p:spTgt spid="2274370"/>
                                        </p:tgtEl>
                                        <p:attrNameLst>
                                          <p:attrName>ppt_w</p:attrName>
                                        </p:attrNameLst>
                                      </p:cBhvr>
                                      <p:tavLst>
                                        <p:tav tm="0">
                                          <p:val>
                                            <p:fltVal val="0.000000"/>
                                          </p:val>
                                        </p:tav>
                                        <p:tav tm="100000">
                                          <p:val>
                                            <p:strVal val="#ppt_w"/>
                                          </p:val>
                                        </p:tav>
                                      </p:tavLst>
                                    </p:anim>
                                    <p:anim calcmode="lin" valueType="num">
                                      <p:cBhvr>
                                        <p:cTn id="25" dur="500" fill="hold"/>
                                        <p:tgtEl>
                                          <p:spTgt spid="2274370"/>
                                        </p:tgtEl>
                                        <p:attrNameLst>
                                          <p:attrName>ppt_h</p:attrName>
                                        </p:attrNameLst>
                                      </p:cBhvr>
                                      <p:tavLst>
                                        <p:tav tm="0">
                                          <p:val>
                                            <p:strVal val="#ppt_h"/>
                                          </p:val>
                                        </p:tav>
                                        <p:tav tm="100000">
                                          <p:val>
                                            <p:strVal val="#ppt_h"/>
                                          </p:val>
                                        </p:tav>
                                      </p:tavLst>
                                    </p:anim>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3876"/>
                                        </p:tgtEl>
                                        <p:attrNameLst>
                                          <p:attrName>style.visibility</p:attrName>
                                        </p:attrNameLst>
                                      </p:cBhvr>
                                      <p:to>
                                        <p:strVal val="visible"/>
                                      </p:to>
                                    </p:set>
                                    <p:animEffect transition="in" filter="dissolve">
                                      <p:cBhvr>
                                        <p:cTn id="30" dur="500"/>
                                        <p:tgtEl>
                                          <p:spTgt spid="33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4370" grpId="0" bldLvl="0" animBg="1"/>
      <p:bldP spid="2274416" grpId="0"/>
      <p:bldP spid="2274418" grpId="0" bldLvl="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5359" name="Rectangle 31"/>
          <p:cNvSpPr/>
          <p:nvPr/>
        </p:nvSpPr>
        <p:spPr>
          <a:xfrm>
            <a:off x="1258888" y="2190750"/>
            <a:ext cx="6805612" cy="3975100"/>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275338" name="Text Box 10"/>
          <p:cNvSpPr txBox="1"/>
          <p:nvPr/>
        </p:nvSpPr>
        <p:spPr>
          <a:xfrm>
            <a:off x="1511300" y="2262188"/>
            <a:ext cx="4325938" cy="519112"/>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量化信号用</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q</a:t>
            </a:r>
            <a:r>
              <a:rPr lang="en-US" altLang="zh-CN" sz="2800" b="1" i="1" err="1">
                <a:solidFill>
                  <a:schemeClr val="tx1"/>
                </a:solidFill>
                <a:latin typeface="Times New Roman" panose="02020603050405020304" pitchFamily="18" charset="0"/>
                <a:ea typeface="宋体" panose="02010600030101010101" pitchFamily="2" charset="-122"/>
              </a:rPr>
              <a:t>(nT</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i="1" baseline="-25000">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a:t>
            </a:r>
            <a:r>
              <a:rPr lang="en-US" altLang="zh-CN" sz="2800" b="1">
                <a:solidFill>
                  <a:schemeClr val="tx1"/>
                </a:solidFill>
                <a:latin typeface="Times New Roman" panose="02020603050405020304" pitchFamily="18" charset="0"/>
              </a:rPr>
              <a:t> </a:t>
            </a:r>
            <a:r>
              <a:rPr lang="zh-CN" altLang="en-US" sz="2800" b="1" dirty="0">
                <a:solidFill>
                  <a:schemeClr val="tx1"/>
                </a:solidFill>
                <a:latin typeface="Times New Roman" panose="02020603050405020304" pitchFamily="18" charset="0"/>
              </a:rPr>
              <a:t>表示</a:t>
            </a:r>
            <a:r>
              <a:rPr lang="zh-CN" altLang="en-US" sz="2800" b="1" dirty="0">
                <a:solidFill>
                  <a:schemeClr val="tx1"/>
                </a:solidFill>
                <a:latin typeface="Times New Roman" panose="02020603050405020304" pitchFamily="18" charset="0"/>
                <a:ea typeface="宋体" panose="02010600030101010101" pitchFamily="2" charset="-122"/>
              </a:rPr>
              <a:t>： </a:t>
            </a:r>
            <a:endParaRPr lang="zh-CN" altLang="en-US" sz="2800" b="1" dirty="0">
              <a:solidFill>
                <a:schemeClr val="tx1"/>
              </a:solidFill>
              <a:latin typeface="Times New Roman" panose="02020603050405020304" pitchFamily="18" charset="0"/>
              <a:ea typeface="宋体" panose="02010600030101010101" pitchFamily="2" charset="-122"/>
            </a:endParaRPr>
          </a:p>
        </p:txBody>
      </p:sp>
      <p:sp>
        <p:nvSpPr>
          <p:cNvPr id="2275339" name="Text Box 11"/>
          <p:cNvSpPr txBox="1"/>
          <p:nvPr/>
        </p:nvSpPr>
        <p:spPr>
          <a:xfrm>
            <a:off x="1506538" y="2908300"/>
            <a:ext cx="630237" cy="519113"/>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当</a:t>
            </a:r>
            <a:r>
              <a:rPr lang="zh-CN" altLang="en-US" sz="2800" b="1" dirty="0">
                <a:solidFill>
                  <a:schemeClr val="tx1"/>
                </a:solidFill>
                <a:latin typeface="Times New Roman" panose="02020603050405020304" pitchFamily="18" charset="0"/>
                <a:ea typeface="宋体" panose="02010600030101010101" pitchFamily="2" charset="-122"/>
              </a:rPr>
              <a:t> </a:t>
            </a:r>
            <a:endParaRPr lang="zh-CN" altLang="en-US" sz="2800" b="1" dirty="0">
              <a:solidFill>
                <a:schemeClr val="tx1"/>
              </a:solidFill>
              <a:latin typeface="Times New Roman" panose="02020603050405020304" pitchFamily="18" charset="0"/>
              <a:ea typeface="宋体" panose="02010600030101010101" pitchFamily="2" charset="-122"/>
            </a:endParaRPr>
          </a:p>
        </p:txBody>
      </p:sp>
      <p:graphicFrame>
        <p:nvGraphicFramePr>
          <p:cNvPr id="34821" name="Object 12"/>
          <p:cNvGraphicFramePr>
            <a:graphicFrameLocks noChangeAspect="1"/>
          </p:cNvGraphicFramePr>
          <p:nvPr/>
        </p:nvGraphicFramePr>
        <p:xfrm>
          <a:off x="2136775" y="2906713"/>
          <a:ext cx="2533650" cy="554037"/>
        </p:xfrm>
        <a:graphic>
          <a:graphicData uri="http://schemas.openxmlformats.org/presentationml/2006/ole">
            <mc:AlternateContent xmlns:mc="http://schemas.openxmlformats.org/markup-compatibility/2006">
              <mc:Choice xmlns:v="urn:schemas-microsoft-com:vml" Requires="v">
                <p:oleObj spid="_x0000_s3145" name="" r:id="rId1" imgW="977900" imgH="228600" progId="Equation.3">
                  <p:embed/>
                </p:oleObj>
              </mc:Choice>
              <mc:Fallback>
                <p:oleObj name="" r:id="rId1" imgW="977900" imgH="228600" progId="Equation.3">
                  <p:embed/>
                  <p:pic>
                    <p:nvPicPr>
                      <p:cNvPr id="0" name="图片 3144"/>
                      <p:cNvPicPr/>
                      <p:nvPr/>
                    </p:nvPicPr>
                    <p:blipFill>
                      <a:blip r:embed="rId2"/>
                      <a:stretch>
                        <a:fillRect/>
                      </a:stretch>
                    </p:blipFill>
                    <p:spPr>
                      <a:xfrm>
                        <a:off x="2136775" y="2906713"/>
                        <a:ext cx="2533650" cy="554037"/>
                      </a:xfrm>
                      <a:prstGeom prst="rect">
                        <a:avLst/>
                      </a:prstGeom>
                      <a:solidFill>
                        <a:srgbClr val="CCFFFF"/>
                      </a:solidFill>
                      <a:ln w="38100">
                        <a:noFill/>
                        <a:miter/>
                      </a:ln>
                    </p:spPr>
                  </p:pic>
                </p:oleObj>
              </mc:Fallback>
            </mc:AlternateContent>
          </a:graphicData>
        </a:graphic>
      </p:graphicFrame>
      <p:sp>
        <p:nvSpPr>
          <p:cNvPr id="2275341" name="Text Box 13"/>
          <p:cNvSpPr txBox="1"/>
          <p:nvPr/>
        </p:nvSpPr>
        <p:spPr>
          <a:xfrm>
            <a:off x="4751388" y="2901950"/>
            <a:ext cx="898525" cy="519113"/>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时</a:t>
            </a:r>
            <a:r>
              <a:rPr lang="zh-CN" altLang="en-US" sz="2800" b="1" dirty="0">
                <a:solidFill>
                  <a:schemeClr val="tx1"/>
                </a:solidFill>
                <a:latin typeface="Times New Roman" panose="02020603050405020304" pitchFamily="18" charset="0"/>
                <a:ea typeface="宋体" panose="02010600030101010101" pitchFamily="2" charset="-122"/>
              </a:rPr>
              <a:t>，</a:t>
            </a:r>
            <a:endParaRPr lang="zh-CN" altLang="en-US" sz="2800" b="1" dirty="0">
              <a:solidFill>
                <a:schemeClr val="tx1"/>
              </a:solidFill>
              <a:latin typeface="Times New Roman" panose="02020603050405020304" pitchFamily="18" charset="0"/>
              <a:ea typeface="宋体" panose="02010600030101010101" pitchFamily="2" charset="-122"/>
            </a:endParaRPr>
          </a:p>
        </p:txBody>
      </p:sp>
      <p:graphicFrame>
        <p:nvGraphicFramePr>
          <p:cNvPr id="34823" name="Object 14"/>
          <p:cNvGraphicFramePr>
            <a:graphicFrameLocks noChangeAspect="1"/>
          </p:cNvGraphicFramePr>
          <p:nvPr/>
        </p:nvGraphicFramePr>
        <p:xfrm>
          <a:off x="5646738" y="2884488"/>
          <a:ext cx="1827212" cy="581025"/>
        </p:xfrm>
        <a:graphic>
          <a:graphicData uri="http://schemas.openxmlformats.org/presentationml/2006/ole">
            <mc:AlternateContent xmlns:mc="http://schemas.openxmlformats.org/markup-compatibility/2006">
              <mc:Choice xmlns:v="urn:schemas-microsoft-com:vml" Requires="v">
                <p:oleObj spid="_x0000_s3141" name="" r:id="rId3" imgW="748665" imgH="241300" progId="Equation.3">
                  <p:embed/>
                </p:oleObj>
              </mc:Choice>
              <mc:Fallback>
                <p:oleObj name="" r:id="rId3" imgW="748665" imgH="241300" progId="Equation.3">
                  <p:embed/>
                  <p:pic>
                    <p:nvPicPr>
                      <p:cNvPr id="0" name="图片 3140"/>
                      <p:cNvPicPr/>
                      <p:nvPr/>
                    </p:nvPicPr>
                    <p:blipFill>
                      <a:blip r:embed="rId4"/>
                      <a:stretch>
                        <a:fillRect/>
                      </a:stretch>
                    </p:blipFill>
                    <p:spPr>
                      <a:xfrm>
                        <a:off x="5646738" y="2884488"/>
                        <a:ext cx="1827212" cy="581025"/>
                      </a:xfrm>
                      <a:prstGeom prst="rect">
                        <a:avLst/>
                      </a:prstGeom>
                      <a:solidFill>
                        <a:srgbClr val="CCFFFF"/>
                      </a:solidFill>
                      <a:ln w="38100">
                        <a:noFill/>
                        <a:miter/>
                      </a:ln>
                    </p:spPr>
                  </p:pic>
                </p:oleObj>
              </mc:Fallback>
            </mc:AlternateContent>
          </a:graphicData>
        </a:graphic>
      </p:graphicFrame>
      <p:sp>
        <p:nvSpPr>
          <p:cNvPr id="2275343" name="Text Box 15"/>
          <p:cNvSpPr txBox="1"/>
          <p:nvPr/>
        </p:nvSpPr>
        <p:spPr>
          <a:xfrm>
            <a:off x="1506538" y="3752850"/>
            <a:ext cx="630237" cy="519113"/>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当</a:t>
            </a:r>
            <a:r>
              <a:rPr lang="zh-CN" altLang="en-US" sz="2800" b="1" dirty="0">
                <a:solidFill>
                  <a:schemeClr val="tx1"/>
                </a:solidFill>
                <a:latin typeface="Times New Roman" panose="02020603050405020304" pitchFamily="18" charset="0"/>
                <a:ea typeface="宋体" panose="02010600030101010101" pitchFamily="2" charset="-122"/>
              </a:rPr>
              <a:t> </a:t>
            </a:r>
            <a:endParaRPr lang="zh-CN" altLang="en-US" sz="2800" b="1" dirty="0">
              <a:solidFill>
                <a:schemeClr val="tx1"/>
              </a:solidFill>
              <a:latin typeface="Times New Roman" panose="02020603050405020304" pitchFamily="18" charset="0"/>
              <a:ea typeface="宋体" panose="02010600030101010101" pitchFamily="2" charset="-122"/>
            </a:endParaRPr>
          </a:p>
        </p:txBody>
      </p:sp>
      <p:graphicFrame>
        <p:nvGraphicFramePr>
          <p:cNvPr id="34825" name="Object 16"/>
          <p:cNvGraphicFramePr>
            <a:graphicFrameLocks noChangeAspect="1"/>
          </p:cNvGraphicFramePr>
          <p:nvPr/>
        </p:nvGraphicFramePr>
        <p:xfrm>
          <a:off x="2136775" y="3709988"/>
          <a:ext cx="2746375" cy="549275"/>
        </p:xfrm>
        <a:graphic>
          <a:graphicData uri="http://schemas.openxmlformats.org/presentationml/2006/ole">
            <mc:AlternateContent xmlns:mc="http://schemas.openxmlformats.org/markup-compatibility/2006">
              <mc:Choice xmlns:v="urn:schemas-microsoft-com:vml" Requires="v">
                <p:oleObj spid="_x0000_s3140" name="" r:id="rId5" imgW="1066800" imgH="228600" progId="Equation.3">
                  <p:embed/>
                </p:oleObj>
              </mc:Choice>
              <mc:Fallback>
                <p:oleObj name="" r:id="rId5" imgW="1066800" imgH="228600" progId="Equation.3">
                  <p:embed/>
                  <p:pic>
                    <p:nvPicPr>
                      <p:cNvPr id="0" name="图片 3139"/>
                      <p:cNvPicPr/>
                      <p:nvPr/>
                    </p:nvPicPr>
                    <p:blipFill>
                      <a:blip r:embed="rId6"/>
                      <a:stretch>
                        <a:fillRect/>
                      </a:stretch>
                    </p:blipFill>
                    <p:spPr>
                      <a:xfrm>
                        <a:off x="2136775" y="3709988"/>
                        <a:ext cx="2746375" cy="549275"/>
                      </a:xfrm>
                      <a:prstGeom prst="rect">
                        <a:avLst/>
                      </a:prstGeom>
                      <a:solidFill>
                        <a:srgbClr val="CCFFFF"/>
                      </a:solidFill>
                      <a:ln w="38100">
                        <a:noFill/>
                        <a:miter/>
                      </a:ln>
                    </p:spPr>
                  </p:pic>
                </p:oleObj>
              </mc:Fallback>
            </mc:AlternateContent>
          </a:graphicData>
        </a:graphic>
      </p:graphicFrame>
      <p:sp>
        <p:nvSpPr>
          <p:cNvPr id="2275345" name="Text Box 17"/>
          <p:cNvSpPr txBox="1"/>
          <p:nvPr/>
        </p:nvSpPr>
        <p:spPr>
          <a:xfrm>
            <a:off x="4895850" y="3681413"/>
            <a:ext cx="898525" cy="519112"/>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时，</a:t>
            </a:r>
            <a:endParaRPr lang="zh-CN" altLang="en-US" sz="2800" b="1" dirty="0">
              <a:solidFill>
                <a:schemeClr val="tx1"/>
              </a:solidFill>
              <a:latin typeface="Times New Roman" panose="02020603050405020304" pitchFamily="18" charset="0"/>
            </a:endParaRPr>
          </a:p>
        </p:txBody>
      </p:sp>
      <p:graphicFrame>
        <p:nvGraphicFramePr>
          <p:cNvPr id="34827" name="Object 18"/>
          <p:cNvGraphicFramePr>
            <a:graphicFrameLocks noChangeAspect="1"/>
          </p:cNvGraphicFramePr>
          <p:nvPr/>
        </p:nvGraphicFramePr>
        <p:xfrm>
          <a:off x="5826125" y="3681413"/>
          <a:ext cx="1797050" cy="568325"/>
        </p:xfrm>
        <a:graphic>
          <a:graphicData uri="http://schemas.openxmlformats.org/presentationml/2006/ole">
            <mc:AlternateContent xmlns:mc="http://schemas.openxmlformats.org/markup-compatibility/2006">
              <mc:Choice xmlns:v="urn:schemas-microsoft-com:vml" Requires="v">
                <p:oleObj spid="_x0000_s3142" name="" r:id="rId7" imgW="748665" imgH="241300" progId="Equation.3">
                  <p:embed/>
                </p:oleObj>
              </mc:Choice>
              <mc:Fallback>
                <p:oleObj name="" r:id="rId7" imgW="748665" imgH="241300" progId="Equation.3">
                  <p:embed/>
                  <p:pic>
                    <p:nvPicPr>
                      <p:cNvPr id="0" name="图片 3141"/>
                      <p:cNvPicPr/>
                      <p:nvPr/>
                    </p:nvPicPr>
                    <p:blipFill>
                      <a:blip r:embed="rId8"/>
                      <a:stretch>
                        <a:fillRect/>
                      </a:stretch>
                    </p:blipFill>
                    <p:spPr>
                      <a:xfrm>
                        <a:off x="5826125" y="3681413"/>
                        <a:ext cx="1797050" cy="568325"/>
                      </a:xfrm>
                      <a:prstGeom prst="rect">
                        <a:avLst/>
                      </a:prstGeom>
                      <a:solidFill>
                        <a:srgbClr val="CCFFFF"/>
                      </a:solidFill>
                      <a:ln w="38100">
                        <a:noFill/>
                        <a:miter/>
                      </a:ln>
                    </p:spPr>
                  </p:pic>
                </p:oleObj>
              </mc:Fallback>
            </mc:AlternateContent>
          </a:graphicData>
        </a:graphic>
      </p:graphicFrame>
      <p:sp>
        <p:nvSpPr>
          <p:cNvPr id="2275347" name="Text Box 19"/>
          <p:cNvSpPr txBox="1"/>
          <p:nvPr/>
        </p:nvSpPr>
        <p:spPr>
          <a:xfrm>
            <a:off x="1506538" y="4530725"/>
            <a:ext cx="720725" cy="519113"/>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当 </a:t>
            </a:r>
            <a:endParaRPr lang="zh-CN" altLang="en-US" sz="2800" b="1" dirty="0">
              <a:solidFill>
                <a:schemeClr val="tx1"/>
              </a:solidFill>
              <a:latin typeface="楷体_GB2312" pitchFamily="49" charset="-122"/>
            </a:endParaRPr>
          </a:p>
        </p:txBody>
      </p:sp>
      <p:graphicFrame>
        <p:nvGraphicFramePr>
          <p:cNvPr id="34829" name="Object 20"/>
          <p:cNvGraphicFramePr>
            <a:graphicFrameLocks noChangeAspect="1"/>
          </p:cNvGraphicFramePr>
          <p:nvPr/>
        </p:nvGraphicFramePr>
        <p:xfrm>
          <a:off x="2116138" y="4549775"/>
          <a:ext cx="2681287" cy="523875"/>
        </p:xfrm>
        <a:graphic>
          <a:graphicData uri="http://schemas.openxmlformats.org/presentationml/2006/ole">
            <mc:AlternateContent xmlns:mc="http://schemas.openxmlformats.org/markup-compatibility/2006">
              <mc:Choice xmlns:v="urn:schemas-microsoft-com:vml" Requires="v">
                <p:oleObj spid="_x0000_s3143" name="" r:id="rId9" imgW="1143000" imgH="228600" progId="Equation.3">
                  <p:embed/>
                </p:oleObj>
              </mc:Choice>
              <mc:Fallback>
                <p:oleObj name="" r:id="rId9" imgW="1143000" imgH="228600" progId="Equation.3">
                  <p:embed/>
                  <p:pic>
                    <p:nvPicPr>
                      <p:cNvPr id="0" name="图片 3142"/>
                      <p:cNvPicPr/>
                      <p:nvPr/>
                    </p:nvPicPr>
                    <p:blipFill>
                      <a:blip r:embed="rId10"/>
                      <a:stretch>
                        <a:fillRect/>
                      </a:stretch>
                    </p:blipFill>
                    <p:spPr>
                      <a:xfrm>
                        <a:off x="2116138" y="4549775"/>
                        <a:ext cx="2681287" cy="523875"/>
                      </a:xfrm>
                      <a:prstGeom prst="rect">
                        <a:avLst/>
                      </a:prstGeom>
                      <a:solidFill>
                        <a:srgbClr val="CCFFFF"/>
                      </a:solidFill>
                      <a:ln w="38100">
                        <a:noFill/>
                        <a:miter/>
                      </a:ln>
                    </p:spPr>
                  </p:pic>
                </p:oleObj>
              </mc:Fallback>
            </mc:AlternateContent>
          </a:graphicData>
        </a:graphic>
      </p:graphicFrame>
      <p:sp>
        <p:nvSpPr>
          <p:cNvPr id="2275349" name="Text Box 21"/>
          <p:cNvSpPr txBox="1"/>
          <p:nvPr/>
        </p:nvSpPr>
        <p:spPr>
          <a:xfrm>
            <a:off x="4897438" y="4530725"/>
            <a:ext cx="898525" cy="519113"/>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时，</a:t>
            </a:r>
            <a:endParaRPr lang="zh-CN" altLang="en-US" sz="2800" b="1" dirty="0">
              <a:solidFill>
                <a:schemeClr val="tx1"/>
              </a:solidFill>
              <a:latin typeface="Times New Roman" panose="02020603050405020304" pitchFamily="18" charset="0"/>
            </a:endParaRPr>
          </a:p>
        </p:txBody>
      </p:sp>
      <p:graphicFrame>
        <p:nvGraphicFramePr>
          <p:cNvPr id="34831" name="Object 22"/>
          <p:cNvGraphicFramePr>
            <a:graphicFrameLocks noChangeAspect="1"/>
          </p:cNvGraphicFramePr>
          <p:nvPr/>
        </p:nvGraphicFramePr>
        <p:xfrm>
          <a:off x="5773738" y="4516438"/>
          <a:ext cx="2006600" cy="568325"/>
        </p:xfrm>
        <a:graphic>
          <a:graphicData uri="http://schemas.openxmlformats.org/presentationml/2006/ole">
            <mc:AlternateContent xmlns:mc="http://schemas.openxmlformats.org/markup-compatibility/2006">
              <mc:Choice xmlns:v="urn:schemas-microsoft-com:vml" Requires="v">
                <p:oleObj spid="_x0000_s3144" name="" r:id="rId11" imgW="837565" imgH="241300" progId="Equation.3">
                  <p:embed/>
                </p:oleObj>
              </mc:Choice>
              <mc:Fallback>
                <p:oleObj name="" r:id="rId11" imgW="837565" imgH="241300" progId="Equation.3">
                  <p:embed/>
                  <p:pic>
                    <p:nvPicPr>
                      <p:cNvPr id="0" name="图片 3143"/>
                      <p:cNvPicPr/>
                      <p:nvPr/>
                    </p:nvPicPr>
                    <p:blipFill>
                      <a:blip r:embed="rId12"/>
                      <a:stretch>
                        <a:fillRect/>
                      </a:stretch>
                    </p:blipFill>
                    <p:spPr>
                      <a:xfrm>
                        <a:off x="5773738" y="4516438"/>
                        <a:ext cx="2006600" cy="568325"/>
                      </a:xfrm>
                      <a:prstGeom prst="rect">
                        <a:avLst/>
                      </a:prstGeom>
                      <a:solidFill>
                        <a:srgbClr val="CCFFFF"/>
                      </a:solidFill>
                      <a:ln w="38100">
                        <a:noFill/>
                        <a:miter/>
                      </a:ln>
                    </p:spPr>
                  </p:pic>
                </p:oleObj>
              </mc:Fallback>
            </mc:AlternateContent>
          </a:graphicData>
        </a:graphic>
      </p:graphicFrame>
      <p:sp>
        <p:nvSpPr>
          <p:cNvPr id="2275351" name="Text Box 23"/>
          <p:cNvSpPr txBox="1"/>
          <p:nvPr/>
        </p:nvSpPr>
        <p:spPr>
          <a:xfrm>
            <a:off x="3171825" y="5099050"/>
            <a:ext cx="3425825" cy="1006475"/>
          </a:xfrm>
          <a:prstGeom prst="rect">
            <a:avLst/>
          </a:prstGeom>
          <a:noFill/>
          <a:ln w="9525">
            <a:noFill/>
          </a:ln>
        </p:spPr>
        <p:txBody>
          <a:bodyPr wrap="none">
            <a:spAutoFit/>
          </a:bodyPr>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p:txBody>
      </p:sp>
      <p:sp>
        <p:nvSpPr>
          <p:cNvPr id="2275355" name="Text Box 2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5356" name="Text Box 28"/>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34835" name="Text Box 29"/>
          <p:cNvSpPr txBox="1"/>
          <p:nvPr/>
        </p:nvSpPr>
        <p:spPr>
          <a:xfrm>
            <a:off x="971550" y="1577975"/>
            <a:ext cx="33988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en-US" altLang="zh-CN" sz="2800" b="1">
                <a:solidFill>
                  <a:srgbClr val="333399"/>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只舍不入</a:t>
            </a:r>
            <a:r>
              <a:rPr lang="zh-CN" altLang="en-US" sz="2800" b="1" dirty="0">
                <a:solidFill>
                  <a:srgbClr val="333399"/>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的量化</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34839"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5359"/>
                                        </p:tgtEl>
                                        <p:attrNameLst>
                                          <p:attrName>style.visibility</p:attrName>
                                        </p:attrNameLst>
                                      </p:cBhvr>
                                      <p:to>
                                        <p:strVal val="visible"/>
                                      </p:to>
                                    </p:set>
                                    <p:animEffect transition="in" filter="dissolve">
                                      <p:cBhvr>
                                        <p:cTn id="7" dur="500"/>
                                        <p:tgtEl>
                                          <p:spTgt spid="22753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5338"/>
                                        </p:tgtEl>
                                        <p:attrNameLst>
                                          <p:attrName>style.visibility</p:attrName>
                                        </p:attrNameLst>
                                      </p:cBhvr>
                                      <p:to>
                                        <p:strVal val="visible"/>
                                      </p:to>
                                    </p:set>
                                    <p:animEffect transition="in" filter="dissolve">
                                      <p:cBhvr>
                                        <p:cTn id="12" dur="500"/>
                                        <p:tgtEl>
                                          <p:spTgt spid="227533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275339"/>
                                        </p:tgtEl>
                                        <p:attrNameLst>
                                          <p:attrName>style.visibility</p:attrName>
                                        </p:attrNameLst>
                                      </p:cBhvr>
                                      <p:to>
                                        <p:strVal val="visible"/>
                                      </p:to>
                                    </p:set>
                                    <p:animEffect transition="in" filter="wipe(left)">
                                      <p:cBhvr>
                                        <p:cTn id="17" dur="500"/>
                                        <p:tgtEl>
                                          <p:spTgt spid="2275339"/>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34821"/>
                                        </p:tgtEl>
                                        <p:attrNameLst>
                                          <p:attrName>style.visibility</p:attrName>
                                        </p:attrNameLst>
                                      </p:cBhvr>
                                      <p:to>
                                        <p:strVal val="visible"/>
                                      </p:to>
                                    </p:set>
                                    <p:animEffect transition="in" filter="wipe(left)">
                                      <p:cBhvr>
                                        <p:cTn id="21" dur="500"/>
                                        <p:tgtEl>
                                          <p:spTgt spid="34821"/>
                                        </p:tgtEl>
                                      </p:cBhvr>
                                    </p:animEffect>
                                  </p:child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2275341"/>
                                        </p:tgtEl>
                                        <p:attrNameLst>
                                          <p:attrName>style.visibility</p:attrName>
                                        </p:attrNameLst>
                                      </p:cBhvr>
                                      <p:to>
                                        <p:strVal val="visible"/>
                                      </p:to>
                                    </p:set>
                                    <p:animEffect transition="in" filter="wipe(left)">
                                      <p:cBhvr>
                                        <p:cTn id="25" dur="500"/>
                                        <p:tgtEl>
                                          <p:spTgt spid="2275341"/>
                                        </p:tgtEl>
                                      </p:cBhvr>
                                    </p:animEffect>
                                  </p:childTnLst>
                                </p:cTn>
                              </p:par>
                            </p:childTnLst>
                          </p:cTn>
                        </p:par>
                        <p:par>
                          <p:cTn id="26" fill="hold">
                            <p:stCondLst>
                              <p:cond delay="1500"/>
                            </p:stCondLst>
                            <p:childTnLst>
                              <p:par>
                                <p:cTn id="27" presetID="22" presetClass="entr" presetSubtype="8" fill="hold" nodeType="afterEffect">
                                  <p:stCondLst>
                                    <p:cond delay="0"/>
                                  </p:stCondLst>
                                  <p:childTnLst>
                                    <p:set>
                                      <p:cBhvr>
                                        <p:cTn id="28" dur="1" fill="hold">
                                          <p:stCondLst>
                                            <p:cond delay="0"/>
                                          </p:stCondLst>
                                        </p:cTn>
                                        <p:tgtEl>
                                          <p:spTgt spid="34823"/>
                                        </p:tgtEl>
                                        <p:attrNameLst>
                                          <p:attrName>style.visibility</p:attrName>
                                        </p:attrNameLst>
                                      </p:cBhvr>
                                      <p:to>
                                        <p:strVal val="visible"/>
                                      </p:to>
                                    </p:set>
                                    <p:animEffect transition="in" filter="wipe(left)">
                                      <p:cBhvr>
                                        <p:cTn id="29" dur="500"/>
                                        <p:tgtEl>
                                          <p:spTgt spid="3482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275343"/>
                                        </p:tgtEl>
                                        <p:attrNameLst>
                                          <p:attrName>style.visibility</p:attrName>
                                        </p:attrNameLst>
                                      </p:cBhvr>
                                      <p:to>
                                        <p:strVal val="visible"/>
                                      </p:to>
                                    </p:set>
                                    <p:animEffect transition="in" filter="wipe(left)">
                                      <p:cBhvr>
                                        <p:cTn id="34" dur="500"/>
                                        <p:tgtEl>
                                          <p:spTgt spid="2275343"/>
                                        </p:tgtEl>
                                      </p:cBhvr>
                                    </p:animEffect>
                                  </p:childTnLst>
                                </p:cTn>
                              </p:par>
                            </p:childTnLst>
                          </p:cTn>
                        </p:par>
                        <p:par>
                          <p:cTn id="35" fill="hold">
                            <p:stCondLst>
                              <p:cond delay="500"/>
                            </p:stCondLst>
                            <p:childTnLst>
                              <p:par>
                                <p:cTn id="36" presetID="22" presetClass="entr" presetSubtype="8" fill="hold" nodeType="afterEffect">
                                  <p:stCondLst>
                                    <p:cond delay="0"/>
                                  </p:stCondLst>
                                  <p:childTnLst>
                                    <p:set>
                                      <p:cBhvr>
                                        <p:cTn id="37" dur="1" fill="hold">
                                          <p:stCondLst>
                                            <p:cond delay="0"/>
                                          </p:stCondLst>
                                        </p:cTn>
                                        <p:tgtEl>
                                          <p:spTgt spid="34825"/>
                                        </p:tgtEl>
                                        <p:attrNameLst>
                                          <p:attrName>style.visibility</p:attrName>
                                        </p:attrNameLst>
                                      </p:cBhvr>
                                      <p:to>
                                        <p:strVal val="visible"/>
                                      </p:to>
                                    </p:set>
                                    <p:animEffect transition="in" filter="wipe(left)">
                                      <p:cBhvr>
                                        <p:cTn id="38" dur="500"/>
                                        <p:tgtEl>
                                          <p:spTgt spid="34825"/>
                                        </p:tgtEl>
                                      </p:cBhvr>
                                    </p:animEffect>
                                  </p:childTnLst>
                                </p:cTn>
                              </p:par>
                            </p:childTnLst>
                          </p:cTn>
                        </p:par>
                        <p:par>
                          <p:cTn id="39" fill="hold">
                            <p:stCondLst>
                              <p:cond delay="1000"/>
                            </p:stCondLst>
                            <p:childTnLst>
                              <p:par>
                                <p:cTn id="40" presetID="22" presetClass="entr" presetSubtype="8" fill="hold" grpId="0" nodeType="afterEffect">
                                  <p:stCondLst>
                                    <p:cond delay="0"/>
                                  </p:stCondLst>
                                  <p:childTnLst>
                                    <p:set>
                                      <p:cBhvr>
                                        <p:cTn id="41" dur="1" fill="hold">
                                          <p:stCondLst>
                                            <p:cond delay="0"/>
                                          </p:stCondLst>
                                        </p:cTn>
                                        <p:tgtEl>
                                          <p:spTgt spid="2275345"/>
                                        </p:tgtEl>
                                        <p:attrNameLst>
                                          <p:attrName>style.visibility</p:attrName>
                                        </p:attrNameLst>
                                      </p:cBhvr>
                                      <p:to>
                                        <p:strVal val="visible"/>
                                      </p:to>
                                    </p:set>
                                    <p:animEffect transition="in" filter="wipe(left)">
                                      <p:cBhvr>
                                        <p:cTn id="42" dur="500"/>
                                        <p:tgtEl>
                                          <p:spTgt spid="2275345"/>
                                        </p:tgtEl>
                                      </p:cBhvr>
                                    </p:animEffect>
                                  </p:childTnLst>
                                </p:cTn>
                              </p:par>
                            </p:childTnLst>
                          </p:cTn>
                        </p:par>
                        <p:par>
                          <p:cTn id="43" fill="hold">
                            <p:stCondLst>
                              <p:cond delay="1500"/>
                            </p:stCondLst>
                            <p:childTnLst>
                              <p:par>
                                <p:cTn id="44" presetID="22" presetClass="entr" presetSubtype="8" fill="hold" nodeType="afterEffect">
                                  <p:stCondLst>
                                    <p:cond delay="0"/>
                                  </p:stCondLst>
                                  <p:childTnLst>
                                    <p:set>
                                      <p:cBhvr>
                                        <p:cTn id="45" dur="1" fill="hold">
                                          <p:stCondLst>
                                            <p:cond delay="0"/>
                                          </p:stCondLst>
                                        </p:cTn>
                                        <p:tgtEl>
                                          <p:spTgt spid="34827"/>
                                        </p:tgtEl>
                                        <p:attrNameLst>
                                          <p:attrName>style.visibility</p:attrName>
                                        </p:attrNameLst>
                                      </p:cBhvr>
                                      <p:to>
                                        <p:strVal val="visible"/>
                                      </p:to>
                                    </p:set>
                                    <p:animEffect transition="in" filter="wipe(left)">
                                      <p:cBhvr>
                                        <p:cTn id="46" dur="500"/>
                                        <p:tgtEl>
                                          <p:spTgt spid="3482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2275347"/>
                                        </p:tgtEl>
                                        <p:attrNameLst>
                                          <p:attrName>style.visibility</p:attrName>
                                        </p:attrNameLst>
                                      </p:cBhvr>
                                      <p:to>
                                        <p:strVal val="visible"/>
                                      </p:to>
                                    </p:set>
                                    <p:animEffect transition="in" filter="wipe(left)">
                                      <p:cBhvr>
                                        <p:cTn id="51" dur="500"/>
                                        <p:tgtEl>
                                          <p:spTgt spid="2275347"/>
                                        </p:tgtEl>
                                      </p:cBhvr>
                                    </p:animEffect>
                                  </p:childTnLst>
                                </p:cTn>
                              </p:par>
                            </p:childTnLst>
                          </p:cTn>
                        </p:par>
                        <p:par>
                          <p:cTn id="52" fill="hold">
                            <p:stCondLst>
                              <p:cond delay="500"/>
                            </p:stCondLst>
                            <p:childTnLst>
                              <p:par>
                                <p:cTn id="53" presetID="22" presetClass="entr" presetSubtype="8" fill="hold" nodeType="afterEffect">
                                  <p:stCondLst>
                                    <p:cond delay="0"/>
                                  </p:stCondLst>
                                  <p:childTnLst>
                                    <p:set>
                                      <p:cBhvr>
                                        <p:cTn id="54" dur="1" fill="hold">
                                          <p:stCondLst>
                                            <p:cond delay="0"/>
                                          </p:stCondLst>
                                        </p:cTn>
                                        <p:tgtEl>
                                          <p:spTgt spid="34829"/>
                                        </p:tgtEl>
                                        <p:attrNameLst>
                                          <p:attrName>style.visibility</p:attrName>
                                        </p:attrNameLst>
                                      </p:cBhvr>
                                      <p:to>
                                        <p:strVal val="visible"/>
                                      </p:to>
                                    </p:set>
                                    <p:animEffect transition="in" filter="wipe(left)">
                                      <p:cBhvr>
                                        <p:cTn id="55" dur="500"/>
                                        <p:tgtEl>
                                          <p:spTgt spid="34829"/>
                                        </p:tgtEl>
                                      </p:cBhvr>
                                    </p:animEffect>
                                  </p:childTnLst>
                                </p:cTn>
                              </p:par>
                            </p:childTnLst>
                          </p:cTn>
                        </p:par>
                        <p:par>
                          <p:cTn id="56" fill="hold">
                            <p:stCondLst>
                              <p:cond delay="1000"/>
                            </p:stCondLst>
                            <p:childTnLst>
                              <p:par>
                                <p:cTn id="57" presetID="22" presetClass="entr" presetSubtype="8" fill="hold" grpId="0" nodeType="afterEffect">
                                  <p:stCondLst>
                                    <p:cond delay="0"/>
                                  </p:stCondLst>
                                  <p:childTnLst>
                                    <p:set>
                                      <p:cBhvr>
                                        <p:cTn id="58" dur="1" fill="hold">
                                          <p:stCondLst>
                                            <p:cond delay="0"/>
                                          </p:stCondLst>
                                        </p:cTn>
                                        <p:tgtEl>
                                          <p:spTgt spid="2275349"/>
                                        </p:tgtEl>
                                        <p:attrNameLst>
                                          <p:attrName>style.visibility</p:attrName>
                                        </p:attrNameLst>
                                      </p:cBhvr>
                                      <p:to>
                                        <p:strVal val="visible"/>
                                      </p:to>
                                    </p:set>
                                    <p:animEffect transition="in" filter="wipe(left)">
                                      <p:cBhvr>
                                        <p:cTn id="59" dur="500"/>
                                        <p:tgtEl>
                                          <p:spTgt spid="2275349"/>
                                        </p:tgtEl>
                                      </p:cBhvr>
                                    </p:animEffect>
                                  </p:childTnLst>
                                </p:cTn>
                              </p:par>
                            </p:childTnLst>
                          </p:cTn>
                        </p:par>
                        <p:par>
                          <p:cTn id="60" fill="hold">
                            <p:stCondLst>
                              <p:cond delay="1500"/>
                            </p:stCondLst>
                            <p:childTnLst>
                              <p:par>
                                <p:cTn id="61" presetID="22" presetClass="entr" presetSubtype="8" fill="hold" nodeType="afterEffect">
                                  <p:stCondLst>
                                    <p:cond delay="0"/>
                                  </p:stCondLst>
                                  <p:childTnLst>
                                    <p:set>
                                      <p:cBhvr>
                                        <p:cTn id="62" dur="1" fill="hold">
                                          <p:stCondLst>
                                            <p:cond delay="0"/>
                                          </p:stCondLst>
                                        </p:cTn>
                                        <p:tgtEl>
                                          <p:spTgt spid="34831"/>
                                        </p:tgtEl>
                                        <p:attrNameLst>
                                          <p:attrName>style.visibility</p:attrName>
                                        </p:attrNameLst>
                                      </p:cBhvr>
                                      <p:to>
                                        <p:strVal val="visible"/>
                                      </p:to>
                                    </p:set>
                                    <p:animEffect transition="in" filter="wipe(left)">
                                      <p:cBhvr>
                                        <p:cTn id="63" dur="500"/>
                                        <p:tgtEl>
                                          <p:spTgt spid="34831"/>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grpId="0" nodeType="clickEffect">
                                  <p:stCondLst>
                                    <p:cond delay="0"/>
                                  </p:stCondLst>
                                  <p:childTnLst>
                                    <p:set>
                                      <p:cBhvr>
                                        <p:cTn id="67" dur="1" fill="hold">
                                          <p:stCondLst>
                                            <p:cond delay="0"/>
                                          </p:stCondLst>
                                        </p:cTn>
                                        <p:tgtEl>
                                          <p:spTgt spid="2275351"/>
                                        </p:tgtEl>
                                        <p:attrNameLst>
                                          <p:attrName>style.visibility</p:attrName>
                                        </p:attrNameLst>
                                      </p:cBhvr>
                                      <p:to>
                                        <p:strVal val="visible"/>
                                      </p:to>
                                    </p:set>
                                    <p:animEffect transition="in" filter="wipe(up)">
                                      <p:cBhvr>
                                        <p:cTn id="68" dur="500"/>
                                        <p:tgtEl>
                                          <p:spTgt spid="2275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5359" grpId="0" bldLvl="0" animBg="1"/>
      <p:bldP spid="2275338" grpId="0"/>
      <p:bldP spid="2275339" grpId="0"/>
      <p:bldP spid="2275341" grpId="0"/>
      <p:bldP spid="2275343" grpId="0"/>
      <p:bldP spid="2275345" grpId="0"/>
      <p:bldP spid="2275347" grpId="0"/>
      <p:bldP spid="2275349" grpId="0"/>
      <p:bldP spid="227535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6407" name="AutoShape 55"/>
          <p:cNvSpPr/>
          <p:nvPr/>
        </p:nvSpPr>
        <p:spPr>
          <a:xfrm>
            <a:off x="4479925" y="4645025"/>
            <a:ext cx="515938" cy="392113"/>
          </a:xfrm>
          <a:prstGeom prst="rightArrow">
            <a:avLst>
              <a:gd name="adj1" fmla="val 50000"/>
              <a:gd name="adj2" fmla="val 32894"/>
            </a:avLst>
          </a:prstGeom>
          <a:noFill/>
          <a:ln w="9525" cap="flat" cmpd="sng">
            <a:solidFill>
              <a:srgbClr val="FF0000"/>
            </a:solidFill>
            <a:prstDash val="solid"/>
            <a:miter/>
            <a:headEnd type="none" w="med" len="med"/>
            <a:tailEnd type="none" w="sm" len="lg"/>
          </a:ln>
        </p:spPr>
        <p:txBody>
          <a:bodyPr anchor="ctr" anchorCtr="0">
            <a:spAutoFit/>
          </a:bodyPr>
          <a:p>
            <a:pPr algn="ctr" eaLnBrk="1" hangingPunct="1"/>
            <a:endParaRPr lang="zh-CN" altLang="en-US" b="1" dirty="0">
              <a:solidFill>
                <a:srgbClr val="333399"/>
              </a:solidFill>
              <a:latin typeface="楷体_GB2312" pitchFamily="49" charset="-122"/>
            </a:endParaRPr>
          </a:p>
        </p:txBody>
      </p:sp>
      <p:grpSp>
        <p:nvGrpSpPr>
          <p:cNvPr id="35923" name="组合 35922"/>
          <p:cNvGrpSpPr/>
          <p:nvPr/>
        </p:nvGrpSpPr>
        <p:grpSpPr>
          <a:xfrm>
            <a:off x="207963" y="3213100"/>
            <a:ext cx="4033837" cy="2876550"/>
            <a:chOff x="131" y="2024"/>
            <a:chExt cx="2541" cy="1812"/>
          </a:xfrm>
        </p:grpSpPr>
        <p:sp>
          <p:nvSpPr>
            <p:cNvPr id="2276372" name="Line 20"/>
            <p:cNvSpPr/>
            <p:nvPr/>
          </p:nvSpPr>
          <p:spPr>
            <a:xfrm>
              <a:off x="710" y="3468"/>
              <a:ext cx="1811" cy="0"/>
            </a:xfrm>
            <a:prstGeom prst="line">
              <a:avLst/>
            </a:prstGeom>
            <a:ln w="9525" cap="flat" cmpd="sng">
              <a:solidFill>
                <a:srgbClr val="3333FF"/>
              </a:solidFill>
              <a:prstDash val="solid"/>
              <a:headEnd type="none" w="med" len="med"/>
              <a:tailEnd type="stealth" w="sm" len="lg"/>
            </a:ln>
          </p:spPr>
        </p:sp>
        <p:sp>
          <p:nvSpPr>
            <p:cNvPr id="2276373" name="Text Box 21"/>
            <p:cNvSpPr txBox="1"/>
            <p:nvPr/>
          </p:nvSpPr>
          <p:spPr>
            <a:xfrm>
              <a:off x="2503" y="3320"/>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76374" name="Line 22"/>
            <p:cNvSpPr/>
            <p:nvPr/>
          </p:nvSpPr>
          <p:spPr>
            <a:xfrm flipV="1">
              <a:off x="710" y="2124"/>
              <a:ext cx="0" cy="1344"/>
            </a:xfrm>
            <a:prstGeom prst="line">
              <a:avLst/>
            </a:prstGeom>
            <a:ln w="9525" cap="flat" cmpd="sng">
              <a:solidFill>
                <a:srgbClr val="3333FF"/>
              </a:solidFill>
              <a:prstDash val="solid"/>
              <a:headEnd type="none" w="med" len="med"/>
              <a:tailEnd type="stealth" w="sm" len="lg"/>
            </a:ln>
          </p:spPr>
        </p:sp>
        <p:sp>
          <p:nvSpPr>
            <p:cNvPr id="2276375" name="Line 23"/>
            <p:cNvSpPr/>
            <p:nvPr/>
          </p:nvSpPr>
          <p:spPr>
            <a:xfrm>
              <a:off x="710" y="3326"/>
              <a:ext cx="1695" cy="0"/>
            </a:xfrm>
            <a:prstGeom prst="line">
              <a:avLst/>
            </a:prstGeom>
            <a:ln w="9525" cap="flat" cmpd="sng">
              <a:solidFill>
                <a:srgbClr val="008080"/>
              </a:solidFill>
              <a:prstDash val="sysDot"/>
              <a:headEnd type="none" w="med" len="med"/>
              <a:tailEnd type="none" w="sm" len="lg"/>
            </a:ln>
          </p:spPr>
        </p:sp>
        <p:sp>
          <p:nvSpPr>
            <p:cNvPr id="2276376" name="Text Box 24"/>
            <p:cNvSpPr txBox="1"/>
            <p:nvPr/>
          </p:nvSpPr>
          <p:spPr>
            <a:xfrm>
              <a:off x="515" y="3368"/>
              <a:ext cx="188"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0</a:t>
              </a:r>
              <a:endParaRPr lang="en-US" altLang="zh-CN" sz="1800" b="1">
                <a:solidFill>
                  <a:srgbClr val="333399"/>
                </a:solidFill>
                <a:latin typeface="Times New Roman" panose="02020603050405020304" pitchFamily="18" charset="0"/>
              </a:endParaRPr>
            </a:p>
          </p:txBody>
        </p:sp>
        <p:sp>
          <p:nvSpPr>
            <p:cNvPr id="2276377" name="Text Box 25"/>
            <p:cNvSpPr txBox="1"/>
            <p:nvPr/>
          </p:nvSpPr>
          <p:spPr>
            <a:xfrm>
              <a:off x="510" y="3188"/>
              <a:ext cx="188"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378" name="Line 26"/>
            <p:cNvSpPr/>
            <p:nvPr/>
          </p:nvSpPr>
          <p:spPr>
            <a:xfrm>
              <a:off x="710" y="3184"/>
              <a:ext cx="1686" cy="0"/>
            </a:xfrm>
            <a:prstGeom prst="line">
              <a:avLst/>
            </a:prstGeom>
            <a:ln w="9525" cap="flat" cmpd="sng">
              <a:solidFill>
                <a:srgbClr val="008080"/>
              </a:solidFill>
              <a:prstDash val="sysDot"/>
              <a:headEnd type="none" w="med" len="med"/>
              <a:tailEnd type="none" w="sm" len="lg"/>
            </a:ln>
          </p:spPr>
        </p:sp>
        <p:sp>
          <p:nvSpPr>
            <p:cNvPr id="2276379" name="Text Box 27"/>
            <p:cNvSpPr txBox="1"/>
            <p:nvPr/>
          </p:nvSpPr>
          <p:spPr>
            <a:xfrm>
              <a:off x="454" y="3059"/>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2</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380" name="Line 28"/>
            <p:cNvSpPr/>
            <p:nvPr/>
          </p:nvSpPr>
          <p:spPr>
            <a:xfrm>
              <a:off x="710" y="3034"/>
              <a:ext cx="1695" cy="0"/>
            </a:xfrm>
            <a:prstGeom prst="line">
              <a:avLst/>
            </a:prstGeom>
            <a:ln w="9525" cap="flat" cmpd="sng">
              <a:solidFill>
                <a:srgbClr val="008080"/>
              </a:solidFill>
              <a:prstDash val="sysDot"/>
              <a:headEnd type="none" w="med" len="med"/>
              <a:tailEnd type="none" w="sm" len="lg"/>
            </a:ln>
          </p:spPr>
        </p:sp>
        <p:sp>
          <p:nvSpPr>
            <p:cNvPr id="2276381" name="Text Box 29"/>
            <p:cNvSpPr txBox="1"/>
            <p:nvPr/>
          </p:nvSpPr>
          <p:spPr>
            <a:xfrm>
              <a:off x="459" y="2887"/>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3</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382" name="Line 30"/>
            <p:cNvSpPr/>
            <p:nvPr/>
          </p:nvSpPr>
          <p:spPr>
            <a:xfrm>
              <a:off x="710" y="2883"/>
              <a:ext cx="1695" cy="0"/>
            </a:xfrm>
            <a:prstGeom prst="line">
              <a:avLst/>
            </a:prstGeom>
            <a:ln w="9525" cap="flat" cmpd="sng">
              <a:solidFill>
                <a:srgbClr val="008080"/>
              </a:solidFill>
              <a:prstDash val="sysDot"/>
              <a:headEnd type="none" w="med" len="med"/>
              <a:tailEnd type="none" w="sm" len="lg"/>
            </a:ln>
          </p:spPr>
        </p:sp>
        <p:sp>
          <p:nvSpPr>
            <p:cNvPr id="2276383" name="Line 31"/>
            <p:cNvSpPr/>
            <p:nvPr/>
          </p:nvSpPr>
          <p:spPr>
            <a:xfrm>
              <a:off x="710" y="2733"/>
              <a:ext cx="1686" cy="0"/>
            </a:xfrm>
            <a:prstGeom prst="line">
              <a:avLst/>
            </a:prstGeom>
            <a:ln w="9525" cap="flat" cmpd="sng">
              <a:solidFill>
                <a:srgbClr val="008080"/>
              </a:solidFill>
              <a:prstDash val="sysDot"/>
              <a:headEnd type="none" w="med" len="med"/>
              <a:tailEnd type="none" w="sm" len="lg"/>
            </a:ln>
          </p:spPr>
        </p:sp>
        <p:sp>
          <p:nvSpPr>
            <p:cNvPr id="2276384" name="Line 32"/>
            <p:cNvSpPr/>
            <p:nvPr/>
          </p:nvSpPr>
          <p:spPr>
            <a:xfrm>
              <a:off x="727" y="2591"/>
              <a:ext cx="1686" cy="0"/>
            </a:xfrm>
            <a:prstGeom prst="line">
              <a:avLst/>
            </a:prstGeom>
            <a:ln w="9525" cap="flat" cmpd="sng">
              <a:solidFill>
                <a:srgbClr val="008080"/>
              </a:solidFill>
              <a:prstDash val="sysDot"/>
              <a:headEnd type="none" w="med" len="med"/>
              <a:tailEnd type="none" w="sm" len="lg"/>
            </a:ln>
          </p:spPr>
        </p:sp>
        <p:sp>
          <p:nvSpPr>
            <p:cNvPr id="2276385" name="Line 33"/>
            <p:cNvSpPr/>
            <p:nvPr/>
          </p:nvSpPr>
          <p:spPr>
            <a:xfrm>
              <a:off x="710" y="2433"/>
              <a:ext cx="1695" cy="0"/>
            </a:xfrm>
            <a:prstGeom prst="line">
              <a:avLst/>
            </a:prstGeom>
            <a:ln w="9525" cap="flat" cmpd="sng">
              <a:solidFill>
                <a:srgbClr val="008080"/>
              </a:solidFill>
              <a:prstDash val="sysDot"/>
              <a:headEnd type="none" w="med" len="med"/>
              <a:tailEnd type="none" w="sm" len="lg"/>
            </a:ln>
          </p:spPr>
        </p:sp>
        <p:sp>
          <p:nvSpPr>
            <p:cNvPr id="2276386" name="Text Box 34"/>
            <p:cNvSpPr txBox="1"/>
            <p:nvPr/>
          </p:nvSpPr>
          <p:spPr>
            <a:xfrm>
              <a:off x="131" y="2024"/>
              <a:ext cx="605"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baseline="-25000" err="1">
                  <a:solidFill>
                    <a:srgbClr val="333399"/>
                  </a:solidFill>
                  <a:latin typeface="Times New Roman" panose="02020603050405020304" pitchFamily="18" charset="0"/>
                </a:rPr>
                <a:t>S</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76387" name="Freeform 35"/>
            <p:cNvSpPr/>
            <p:nvPr/>
          </p:nvSpPr>
          <p:spPr>
            <a:xfrm>
              <a:off x="710" y="2489"/>
              <a:ext cx="1386" cy="805"/>
            </a:xfrm>
            <a:custGeom>
              <a:avLst/>
              <a:gdLst/>
              <a:ahLst/>
              <a:cxnLst>
                <a:cxn ang="0">
                  <a:pos x="0" y="2028724194"/>
                </a:cxn>
                <a:cxn ang="0">
                  <a:pos x="189012513" y="1922877673"/>
                </a:cxn>
                <a:cxn ang="0">
                  <a:pos x="315020325" y="1776708667"/>
                </a:cxn>
                <a:cxn ang="0">
                  <a:pos x="504031250" y="1459169104"/>
                </a:cxn>
                <a:cxn ang="0">
                  <a:pos x="652721263" y="1060984572"/>
                </a:cxn>
                <a:cxn ang="0">
                  <a:pos x="756046875" y="723283767"/>
                </a:cxn>
                <a:cxn ang="0">
                  <a:pos x="967740000" y="345260477"/>
                </a:cxn>
                <a:cxn ang="0">
                  <a:pos x="1262599075" y="70564347"/>
                </a:cxn>
                <a:cxn ang="0">
                  <a:pos x="1597779063" y="7559672"/>
                </a:cxn>
                <a:cxn ang="0">
                  <a:pos x="1872476888" y="113406193"/>
                </a:cxn>
                <a:cxn ang="0">
                  <a:pos x="2061487813" y="408265153"/>
                </a:cxn>
                <a:cxn ang="0">
                  <a:pos x="2147483647" y="786288442"/>
                </a:cxn>
                <a:cxn ang="0">
                  <a:pos x="2147483647" y="1018142727"/>
                </a:cxn>
                <a:cxn ang="0">
                  <a:pos x="2147483647" y="1229835769"/>
                </a:cxn>
                <a:cxn ang="0">
                  <a:pos x="2147483647" y="1418846620"/>
                </a:cxn>
              </a:cxnLst>
              <a:pathLst>
                <a:path w="1386" h="805">
                  <a:moveTo>
                    <a:pt x="0" y="805"/>
                  </a:moveTo>
                  <a:cubicBezTo>
                    <a:pt x="27" y="792"/>
                    <a:pt x="54" y="780"/>
                    <a:pt x="75" y="763"/>
                  </a:cubicBezTo>
                  <a:cubicBezTo>
                    <a:pt x="96" y="746"/>
                    <a:pt x="104" y="736"/>
                    <a:pt x="125" y="705"/>
                  </a:cubicBezTo>
                  <a:cubicBezTo>
                    <a:pt x="146" y="674"/>
                    <a:pt x="178" y="626"/>
                    <a:pt x="200" y="579"/>
                  </a:cubicBezTo>
                  <a:cubicBezTo>
                    <a:pt x="222" y="532"/>
                    <a:pt x="242" y="470"/>
                    <a:pt x="259" y="421"/>
                  </a:cubicBezTo>
                  <a:cubicBezTo>
                    <a:pt x="276" y="372"/>
                    <a:pt x="279" y="334"/>
                    <a:pt x="300" y="287"/>
                  </a:cubicBezTo>
                  <a:cubicBezTo>
                    <a:pt x="321" y="240"/>
                    <a:pt x="350" y="180"/>
                    <a:pt x="384" y="137"/>
                  </a:cubicBezTo>
                  <a:cubicBezTo>
                    <a:pt x="418" y="94"/>
                    <a:pt x="459" y="50"/>
                    <a:pt x="501" y="28"/>
                  </a:cubicBezTo>
                  <a:cubicBezTo>
                    <a:pt x="543" y="6"/>
                    <a:pt x="594" y="0"/>
                    <a:pt x="634" y="3"/>
                  </a:cubicBezTo>
                  <a:cubicBezTo>
                    <a:pt x="674" y="6"/>
                    <a:pt x="712" y="19"/>
                    <a:pt x="743" y="45"/>
                  </a:cubicBezTo>
                  <a:cubicBezTo>
                    <a:pt x="774" y="71"/>
                    <a:pt x="785" y="118"/>
                    <a:pt x="818" y="162"/>
                  </a:cubicBezTo>
                  <a:cubicBezTo>
                    <a:pt x="851" y="206"/>
                    <a:pt x="907" y="272"/>
                    <a:pt x="943" y="312"/>
                  </a:cubicBezTo>
                  <a:cubicBezTo>
                    <a:pt x="979" y="352"/>
                    <a:pt x="997" y="375"/>
                    <a:pt x="1035" y="404"/>
                  </a:cubicBezTo>
                  <a:cubicBezTo>
                    <a:pt x="1073" y="433"/>
                    <a:pt x="1111" y="462"/>
                    <a:pt x="1169" y="488"/>
                  </a:cubicBezTo>
                  <a:cubicBezTo>
                    <a:pt x="1227" y="514"/>
                    <a:pt x="1350" y="551"/>
                    <a:pt x="1386" y="563"/>
                  </a:cubicBezTo>
                </a:path>
              </a:pathLst>
            </a:custGeom>
            <a:noFill/>
            <a:ln w="9525" cap="flat" cmpd="sng">
              <a:solidFill>
                <a:srgbClr val="FF0000">
                  <a:alpha val="100000"/>
                </a:srgbClr>
              </a:solidFill>
              <a:prstDash val="sysDot"/>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2276389" name="Text Box 37"/>
            <p:cNvSpPr txBox="1"/>
            <p:nvPr/>
          </p:nvSpPr>
          <p:spPr>
            <a:xfrm>
              <a:off x="755" y="3439"/>
              <a:ext cx="243"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390" name="Line 38"/>
            <p:cNvSpPr/>
            <p:nvPr/>
          </p:nvSpPr>
          <p:spPr>
            <a:xfrm flipV="1">
              <a:off x="885" y="3126"/>
              <a:ext cx="0" cy="342"/>
            </a:xfrm>
            <a:prstGeom prst="line">
              <a:avLst/>
            </a:prstGeom>
            <a:ln w="9525" cap="flat" cmpd="sng">
              <a:solidFill>
                <a:srgbClr val="CC00CC"/>
              </a:solidFill>
              <a:prstDash val="solid"/>
              <a:headEnd type="none" w="med" len="med"/>
              <a:tailEnd type="none" w="sm" len="lg"/>
            </a:ln>
          </p:spPr>
        </p:sp>
        <p:sp>
          <p:nvSpPr>
            <p:cNvPr id="2276391" name="Line 39"/>
            <p:cNvSpPr/>
            <p:nvPr/>
          </p:nvSpPr>
          <p:spPr>
            <a:xfrm flipV="1">
              <a:off x="935" y="3034"/>
              <a:ext cx="0" cy="434"/>
            </a:xfrm>
            <a:prstGeom prst="line">
              <a:avLst/>
            </a:prstGeom>
            <a:ln w="9525" cap="flat" cmpd="sng">
              <a:solidFill>
                <a:srgbClr val="CC00CC"/>
              </a:solidFill>
              <a:prstDash val="solid"/>
              <a:headEnd type="none" w="med" len="med"/>
              <a:tailEnd type="none" w="sm" len="lg"/>
            </a:ln>
          </p:spPr>
        </p:sp>
        <p:sp>
          <p:nvSpPr>
            <p:cNvPr id="2276392" name="Text Box 40"/>
            <p:cNvSpPr txBox="1"/>
            <p:nvPr/>
          </p:nvSpPr>
          <p:spPr>
            <a:xfrm>
              <a:off x="911" y="3436"/>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2T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393" name="Line 41"/>
            <p:cNvSpPr/>
            <p:nvPr/>
          </p:nvSpPr>
          <p:spPr>
            <a:xfrm flipV="1">
              <a:off x="1061" y="2683"/>
              <a:ext cx="0" cy="785"/>
            </a:xfrm>
            <a:prstGeom prst="line">
              <a:avLst/>
            </a:prstGeom>
            <a:ln w="9525" cap="flat" cmpd="sng">
              <a:solidFill>
                <a:srgbClr val="CC00CC"/>
              </a:solidFill>
              <a:prstDash val="solid"/>
              <a:headEnd type="none" w="med" len="med"/>
              <a:tailEnd type="none" w="sm" len="lg"/>
            </a:ln>
          </p:spPr>
        </p:sp>
        <p:sp>
          <p:nvSpPr>
            <p:cNvPr id="2276394" name="Line 42"/>
            <p:cNvSpPr/>
            <p:nvPr/>
          </p:nvSpPr>
          <p:spPr>
            <a:xfrm flipV="1">
              <a:off x="1111" y="2617"/>
              <a:ext cx="0" cy="851"/>
            </a:xfrm>
            <a:prstGeom prst="line">
              <a:avLst/>
            </a:prstGeom>
            <a:ln w="9525" cap="flat" cmpd="sng">
              <a:solidFill>
                <a:srgbClr val="CC00CC"/>
              </a:solidFill>
              <a:prstDash val="solid"/>
              <a:headEnd type="none" w="med" len="med"/>
              <a:tailEnd type="none" w="sm" len="lg"/>
            </a:ln>
          </p:spPr>
        </p:sp>
        <p:sp>
          <p:nvSpPr>
            <p:cNvPr id="2276395" name="Text Box 43"/>
            <p:cNvSpPr txBox="1"/>
            <p:nvPr/>
          </p:nvSpPr>
          <p:spPr>
            <a:xfrm>
              <a:off x="1132" y="3439"/>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3T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396" name="Line 44"/>
            <p:cNvSpPr/>
            <p:nvPr/>
          </p:nvSpPr>
          <p:spPr>
            <a:xfrm flipV="1">
              <a:off x="1236" y="2508"/>
              <a:ext cx="0" cy="960"/>
            </a:xfrm>
            <a:prstGeom prst="line">
              <a:avLst/>
            </a:prstGeom>
            <a:ln w="9525" cap="flat" cmpd="sng">
              <a:solidFill>
                <a:srgbClr val="CC00CC"/>
              </a:solidFill>
              <a:prstDash val="solid"/>
              <a:headEnd type="none" w="med" len="med"/>
              <a:tailEnd type="none" w="sm" len="lg"/>
            </a:ln>
          </p:spPr>
        </p:sp>
        <p:sp>
          <p:nvSpPr>
            <p:cNvPr id="2276397" name="Line 45"/>
            <p:cNvSpPr/>
            <p:nvPr/>
          </p:nvSpPr>
          <p:spPr>
            <a:xfrm flipV="1">
              <a:off x="1286" y="2499"/>
              <a:ext cx="0" cy="969"/>
            </a:xfrm>
            <a:prstGeom prst="line">
              <a:avLst/>
            </a:prstGeom>
            <a:ln w="9525" cap="flat" cmpd="sng">
              <a:solidFill>
                <a:srgbClr val="CC00CC"/>
              </a:solidFill>
              <a:prstDash val="solid"/>
              <a:headEnd type="none" w="med" len="med"/>
              <a:tailEnd type="none" w="sm" len="lg"/>
            </a:ln>
          </p:spPr>
        </p:sp>
        <p:sp>
          <p:nvSpPr>
            <p:cNvPr id="2276398" name="Text Box 46"/>
            <p:cNvSpPr txBox="1"/>
            <p:nvPr/>
          </p:nvSpPr>
          <p:spPr>
            <a:xfrm>
              <a:off x="1397" y="3431"/>
              <a:ext cx="228"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a:t>
              </a:r>
              <a:endParaRPr lang="en-US" altLang="zh-CN" sz="1400" b="1">
                <a:solidFill>
                  <a:srgbClr val="333399"/>
                </a:solidFill>
                <a:latin typeface="Times New Roman" panose="02020603050405020304" pitchFamily="18" charset="0"/>
              </a:endParaRPr>
            </a:p>
          </p:txBody>
        </p:sp>
        <p:sp>
          <p:nvSpPr>
            <p:cNvPr id="2276399" name="Line 47"/>
            <p:cNvSpPr/>
            <p:nvPr/>
          </p:nvSpPr>
          <p:spPr>
            <a:xfrm flipV="1">
              <a:off x="1411" y="2516"/>
              <a:ext cx="0" cy="952"/>
            </a:xfrm>
            <a:prstGeom prst="line">
              <a:avLst/>
            </a:prstGeom>
            <a:ln w="9525" cap="flat" cmpd="sng">
              <a:solidFill>
                <a:srgbClr val="CC00CC"/>
              </a:solidFill>
              <a:prstDash val="solid"/>
              <a:headEnd type="none" w="med" len="med"/>
              <a:tailEnd type="none" w="sm" len="lg"/>
            </a:ln>
          </p:spPr>
        </p:sp>
        <p:sp>
          <p:nvSpPr>
            <p:cNvPr id="2276400" name="Line 48"/>
            <p:cNvSpPr/>
            <p:nvPr/>
          </p:nvSpPr>
          <p:spPr>
            <a:xfrm flipV="1">
              <a:off x="1461" y="2550"/>
              <a:ext cx="0" cy="918"/>
            </a:xfrm>
            <a:prstGeom prst="line">
              <a:avLst/>
            </a:prstGeom>
            <a:ln w="9525" cap="flat" cmpd="sng">
              <a:solidFill>
                <a:srgbClr val="CC00CC"/>
              </a:solidFill>
              <a:prstDash val="solid"/>
              <a:headEnd type="none" w="med" len="med"/>
              <a:tailEnd type="none" w="sm" len="lg"/>
            </a:ln>
          </p:spPr>
        </p:sp>
        <p:sp>
          <p:nvSpPr>
            <p:cNvPr id="2276401" name="Line 49"/>
            <p:cNvSpPr/>
            <p:nvPr/>
          </p:nvSpPr>
          <p:spPr>
            <a:xfrm flipV="1">
              <a:off x="1586" y="2724"/>
              <a:ext cx="0" cy="744"/>
            </a:xfrm>
            <a:prstGeom prst="line">
              <a:avLst/>
            </a:prstGeom>
            <a:ln w="9525" cap="flat" cmpd="sng">
              <a:solidFill>
                <a:srgbClr val="CC00CC"/>
              </a:solidFill>
              <a:prstDash val="solid"/>
              <a:headEnd type="none" w="med" len="med"/>
              <a:tailEnd type="none" w="sm" len="lg"/>
            </a:ln>
          </p:spPr>
        </p:sp>
        <p:sp>
          <p:nvSpPr>
            <p:cNvPr id="2276402" name="Line 50"/>
            <p:cNvSpPr/>
            <p:nvPr/>
          </p:nvSpPr>
          <p:spPr>
            <a:xfrm flipV="1">
              <a:off x="1637" y="2784"/>
              <a:ext cx="0" cy="684"/>
            </a:xfrm>
            <a:prstGeom prst="line">
              <a:avLst/>
            </a:prstGeom>
            <a:ln w="9525" cap="flat" cmpd="sng">
              <a:solidFill>
                <a:srgbClr val="CC00CC"/>
              </a:solidFill>
              <a:prstDash val="solid"/>
              <a:headEnd type="none" w="med" len="med"/>
              <a:tailEnd type="none" w="sm" len="lg"/>
            </a:ln>
          </p:spPr>
        </p:sp>
        <p:sp>
          <p:nvSpPr>
            <p:cNvPr id="2276403" name="Line 51"/>
            <p:cNvSpPr/>
            <p:nvPr/>
          </p:nvSpPr>
          <p:spPr>
            <a:xfrm flipV="1">
              <a:off x="1753" y="2900"/>
              <a:ext cx="0" cy="568"/>
            </a:xfrm>
            <a:prstGeom prst="line">
              <a:avLst/>
            </a:prstGeom>
            <a:ln w="9525" cap="flat" cmpd="sng">
              <a:solidFill>
                <a:srgbClr val="CC00CC"/>
              </a:solidFill>
              <a:prstDash val="solid"/>
              <a:headEnd type="none" w="med" len="med"/>
              <a:tailEnd type="none" w="sm" len="lg"/>
            </a:ln>
          </p:spPr>
        </p:sp>
        <p:sp>
          <p:nvSpPr>
            <p:cNvPr id="2276404" name="Line 52"/>
            <p:cNvSpPr/>
            <p:nvPr/>
          </p:nvSpPr>
          <p:spPr>
            <a:xfrm flipV="1">
              <a:off x="1803" y="2942"/>
              <a:ext cx="0" cy="526"/>
            </a:xfrm>
            <a:prstGeom prst="line">
              <a:avLst/>
            </a:prstGeom>
            <a:ln w="9525" cap="flat" cmpd="sng">
              <a:solidFill>
                <a:srgbClr val="CC00CC"/>
              </a:solidFill>
              <a:prstDash val="solid"/>
              <a:headEnd type="none" w="med" len="med"/>
              <a:tailEnd type="none" w="sm" len="lg"/>
            </a:ln>
          </p:spPr>
        </p:sp>
        <p:sp>
          <p:nvSpPr>
            <p:cNvPr id="2276405" name="Line 53"/>
            <p:cNvSpPr/>
            <p:nvPr/>
          </p:nvSpPr>
          <p:spPr>
            <a:xfrm flipV="1">
              <a:off x="1937" y="3000"/>
              <a:ext cx="0" cy="468"/>
            </a:xfrm>
            <a:prstGeom prst="line">
              <a:avLst/>
            </a:prstGeom>
            <a:ln w="9525" cap="flat" cmpd="sng">
              <a:solidFill>
                <a:srgbClr val="CC00CC"/>
              </a:solidFill>
              <a:prstDash val="solid"/>
              <a:headEnd type="none" w="med" len="med"/>
              <a:tailEnd type="none" w="sm" len="lg"/>
            </a:ln>
          </p:spPr>
        </p:sp>
        <p:sp>
          <p:nvSpPr>
            <p:cNvPr id="2276406" name="Line 54"/>
            <p:cNvSpPr/>
            <p:nvPr/>
          </p:nvSpPr>
          <p:spPr>
            <a:xfrm flipV="1">
              <a:off x="1987" y="3025"/>
              <a:ext cx="0" cy="443"/>
            </a:xfrm>
            <a:prstGeom prst="line">
              <a:avLst/>
            </a:prstGeom>
            <a:ln w="9525" cap="flat" cmpd="sng">
              <a:solidFill>
                <a:srgbClr val="CC00CC"/>
              </a:solidFill>
              <a:prstDash val="solid"/>
              <a:headEnd type="none" w="med" len="med"/>
              <a:tailEnd type="none" w="sm" len="lg"/>
            </a:ln>
          </p:spPr>
        </p:sp>
        <p:sp>
          <p:nvSpPr>
            <p:cNvPr id="2276408" name="Text Box 56"/>
            <p:cNvSpPr txBox="1"/>
            <p:nvPr/>
          </p:nvSpPr>
          <p:spPr>
            <a:xfrm>
              <a:off x="514" y="2455"/>
              <a:ext cx="173" cy="460"/>
            </a:xfrm>
            <a:prstGeom prst="rect">
              <a:avLst/>
            </a:prstGeom>
            <a:noFill/>
            <a:ln w="9525">
              <a:noFill/>
            </a:ln>
          </p:spPr>
          <p:txBody>
            <a:bodyPr wrap="none">
              <a:spAutoFit/>
            </a:bodyPr>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p:txBody>
        </p:sp>
        <p:sp>
          <p:nvSpPr>
            <p:cNvPr id="2276443" name="Text Box 91"/>
            <p:cNvSpPr txBox="1"/>
            <p:nvPr/>
          </p:nvSpPr>
          <p:spPr>
            <a:xfrm>
              <a:off x="1270" y="3586"/>
              <a:ext cx="302" cy="250"/>
            </a:xfrm>
            <a:prstGeom prst="rect">
              <a:avLst/>
            </a:prstGeom>
            <a:noFill/>
            <a:ln w="9525">
              <a:noFill/>
            </a:ln>
          </p:spPr>
          <p:txBody>
            <a:bodyPr wrap="none">
              <a:spAutoFit/>
            </a:bodyPr>
            <a:p>
              <a:pPr algn="ctr" eaLnBrk="1" hangingPunct="1"/>
              <a:r>
                <a:rPr lang="en-US" altLang="zh-CN" sz="2000" b="1">
                  <a:solidFill>
                    <a:srgbClr val="FF0000"/>
                  </a:solidFill>
                  <a:latin typeface="Times New Roman" panose="02020603050405020304" pitchFamily="18" charset="0"/>
                </a:rPr>
                <a:t>(a)</a:t>
              </a:r>
              <a:endParaRPr lang="en-US" altLang="zh-CN" sz="2000" b="1">
                <a:solidFill>
                  <a:srgbClr val="FF0000"/>
                </a:solidFill>
                <a:latin typeface="Times New Roman" panose="02020603050405020304" pitchFamily="18" charset="0"/>
              </a:endParaRPr>
            </a:p>
          </p:txBody>
        </p:sp>
      </p:grpSp>
      <p:grpSp>
        <p:nvGrpSpPr>
          <p:cNvPr id="35924" name="组合 35923"/>
          <p:cNvGrpSpPr/>
          <p:nvPr/>
        </p:nvGrpSpPr>
        <p:grpSpPr>
          <a:xfrm>
            <a:off x="4800600" y="3219450"/>
            <a:ext cx="4060825" cy="2890838"/>
            <a:chOff x="3024" y="2028"/>
            <a:chExt cx="2558" cy="1821"/>
          </a:xfrm>
        </p:grpSpPr>
        <p:sp>
          <p:nvSpPr>
            <p:cNvPr id="2276388" name="Freeform 36"/>
            <p:cNvSpPr/>
            <p:nvPr/>
          </p:nvSpPr>
          <p:spPr>
            <a:xfrm>
              <a:off x="3603" y="2500"/>
              <a:ext cx="1386" cy="805"/>
            </a:xfrm>
            <a:custGeom>
              <a:avLst/>
              <a:gdLst/>
              <a:ahLst/>
              <a:cxnLst>
                <a:cxn ang="0">
                  <a:pos x="0" y="2028727369"/>
                </a:cxn>
                <a:cxn ang="0">
                  <a:pos x="189012513" y="1922880765"/>
                </a:cxn>
                <a:cxn ang="0">
                  <a:pos x="315020325" y="1776711645"/>
                </a:cxn>
                <a:cxn ang="0">
                  <a:pos x="504031250" y="1459171833"/>
                </a:cxn>
                <a:cxn ang="0">
                  <a:pos x="652721263" y="1060986990"/>
                </a:cxn>
                <a:cxn ang="0">
                  <a:pos x="756046875" y="723285920"/>
                </a:cxn>
                <a:cxn ang="0">
                  <a:pos x="967740000" y="345262335"/>
                </a:cxn>
                <a:cxn ang="0">
                  <a:pos x="1262599075" y="70564403"/>
                </a:cxn>
                <a:cxn ang="0">
                  <a:pos x="1597779063" y="7561265"/>
                </a:cxn>
                <a:cxn ang="0">
                  <a:pos x="1872476888" y="113407869"/>
                </a:cxn>
                <a:cxn ang="0">
                  <a:pos x="2061487813" y="408265472"/>
                </a:cxn>
                <a:cxn ang="0">
                  <a:pos x="2147483647" y="786289058"/>
                </a:cxn>
                <a:cxn ang="0">
                  <a:pos x="2147483647" y="1018143523"/>
                </a:cxn>
                <a:cxn ang="0">
                  <a:pos x="2147483647" y="1229836731"/>
                </a:cxn>
                <a:cxn ang="0">
                  <a:pos x="2147483647" y="1418849318"/>
                </a:cxn>
              </a:cxnLst>
              <a:pathLst>
                <a:path w="1386" h="805">
                  <a:moveTo>
                    <a:pt x="0" y="805"/>
                  </a:moveTo>
                  <a:cubicBezTo>
                    <a:pt x="27" y="792"/>
                    <a:pt x="54" y="780"/>
                    <a:pt x="75" y="763"/>
                  </a:cubicBezTo>
                  <a:cubicBezTo>
                    <a:pt x="96" y="746"/>
                    <a:pt x="104" y="736"/>
                    <a:pt x="125" y="705"/>
                  </a:cubicBezTo>
                  <a:cubicBezTo>
                    <a:pt x="146" y="674"/>
                    <a:pt x="178" y="626"/>
                    <a:pt x="200" y="579"/>
                  </a:cubicBezTo>
                  <a:cubicBezTo>
                    <a:pt x="222" y="532"/>
                    <a:pt x="242" y="470"/>
                    <a:pt x="259" y="421"/>
                  </a:cubicBezTo>
                  <a:cubicBezTo>
                    <a:pt x="276" y="372"/>
                    <a:pt x="279" y="334"/>
                    <a:pt x="300" y="287"/>
                  </a:cubicBezTo>
                  <a:cubicBezTo>
                    <a:pt x="321" y="240"/>
                    <a:pt x="350" y="180"/>
                    <a:pt x="384" y="137"/>
                  </a:cubicBezTo>
                  <a:cubicBezTo>
                    <a:pt x="418" y="94"/>
                    <a:pt x="459" y="50"/>
                    <a:pt x="501" y="28"/>
                  </a:cubicBezTo>
                  <a:cubicBezTo>
                    <a:pt x="543" y="6"/>
                    <a:pt x="594" y="0"/>
                    <a:pt x="634" y="3"/>
                  </a:cubicBezTo>
                  <a:cubicBezTo>
                    <a:pt x="674" y="6"/>
                    <a:pt x="712" y="19"/>
                    <a:pt x="743" y="45"/>
                  </a:cubicBezTo>
                  <a:cubicBezTo>
                    <a:pt x="774" y="71"/>
                    <a:pt x="785" y="118"/>
                    <a:pt x="818" y="162"/>
                  </a:cubicBezTo>
                  <a:cubicBezTo>
                    <a:pt x="851" y="206"/>
                    <a:pt x="907" y="272"/>
                    <a:pt x="943" y="312"/>
                  </a:cubicBezTo>
                  <a:cubicBezTo>
                    <a:pt x="979" y="352"/>
                    <a:pt x="997" y="375"/>
                    <a:pt x="1035" y="404"/>
                  </a:cubicBezTo>
                  <a:cubicBezTo>
                    <a:pt x="1073" y="433"/>
                    <a:pt x="1111" y="462"/>
                    <a:pt x="1169" y="488"/>
                  </a:cubicBezTo>
                  <a:cubicBezTo>
                    <a:pt x="1227" y="514"/>
                    <a:pt x="1350" y="551"/>
                    <a:pt x="1386" y="563"/>
                  </a:cubicBezTo>
                </a:path>
              </a:pathLst>
            </a:custGeom>
            <a:noFill/>
            <a:ln w="9525" cap="flat" cmpd="sng">
              <a:solidFill>
                <a:srgbClr val="FF0000">
                  <a:alpha val="100000"/>
                </a:srgbClr>
              </a:solidFill>
              <a:prstDash val="sysDot"/>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2276409" name="Line 57"/>
            <p:cNvSpPr/>
            <p:nvPr/>
          </p:nvSpPr>
          <p:spPr>
            <a:xfrm>
              <a:off x="3607" y="3468"/>
              <a:ext cx="1811" cy="0"/>
            </a:xfrm>
            <a:prstGeom prst="line">
              <a:avLst/>
            </a:prstGeom>
            <a:ln w="9525" cap="flat" cmpd="sng">
              <a:solidFill>
                <a:srgbClr val="3333FF"/>
              </a:solidFill>
              <a:prstDash val="solid"/>
              <a:headEnd type="none" w="med" len="med"/>
              <a:tailEnd type="stealth" w="sm" len="lg"/>
            </a:ln>
          </p:spPr>
        </p:sp>
        <p:sp>
          <p:nvSpPr>
            <p:cNvPr id="2276410" name="Text Box 58"/>
            <p:cNvSpPr txBox="1"/>
            <p:nvPr/>
          </p:nvSpPr>
          <p:spPr>
            <a:xfrm>
              <a:off x="5413" y="3324"/>
              <a:ext cx="169" cy="288"/>
            </a:xfrm>
            <a:prstGeom prst="rect">
              <a:avLst/>
            </a:prstGeom>
            <a:noFill/>
            <a:ln w="9525">
              <a:noFill/>
            </a:ln>
          </p:spPr>
          <p:txBody>
            <a:bodyPr wrap="none">
              <a:spAutoFit/>
            </a:bodyPr>
            <a:p>
              <a:pPr algn="ctr" eaLnBrk="1" hangingPunct="1"/>
              <a:r>
                <a:rPr lang="en-US" altLang="zh-CN" sz="2400" b="1" i="1">
                  <a:solidFill>
                    <a:srgbClr val="333399"/>
                  </a:solidFill>
                  <a:latin typeface="Times New Roman" panose="02020603050405020304" pitchFamily="18" charset="0"/>
                </a:rPr>
                <a:t>t</a:t>
              </a:r>
              <a:endParaRPr lang="en-US" altLang="zh-CN" sz="2400" b="1" i="1">
                <a:solidFill>
                  <a:srgbClr val="333399"/>
                </a:solidFill>
                <a:latin typeface="Times New Roman" panose="02020603050405020304" pitchFamily="18" charset="0"/>
              </a:endParaRPr>
            </a:p>
          </p:txBody>
        </p:sp>
        <p:sp>
          <p:nvSpPr>
            <p:cNvPr id="2276411" name="Line 59"/>
            <p:cNvSpPr/>
            <p:nvPr/>
          </p:nvSpPr>
          <p:spPr>
            <a:xfrm flipV="1">
              <a:off x="3607" y="2090"/>
              <a:ext cx="0" cy="1378"/>
            </a:xfrm>
            <a:prstGeom prst="line">
              <a:avLst/>
            </a:prstGeom>
            <a:ln w="9525" cap="flat" cmpd="sng">
              <a:solidFill>
                <a:srgbClr val="3333FF"/>
              </a:solidFill>
              <a:prstDash val="solid"/>
              <a:headEnd type="none" w="med" len="med"/>
              <a:tailEnd type="stealth" w="sm" len="lg"/>
            </a:ln>
          </p:spPr>
        </p:sp>
        <p:sp>
          <p:nvSpPr>
            <p:cNvPr id="2276412" name="Text Box 60"/>
            <p:cNvSpPr txBox="1"/>
            <p:nvPr/>
          </p:nvSpPr>
          <p:spPr>
            <a:xfrm>
              <a:off x="3024" y="2028"/>
              <a:ext cx="605"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x</a:t>
              </a:r>
              <a:r>
                <a:rPr lang="en-US" altLang="zh-CN" sz="2000" b="1" baseline="-25000" err="1">
                  <a:solidFill>
                    <a:srgbClr val="333399"/>
                  </a:solidFill>
                  <a:latin typeface="Times New Roman" panose="02020603050405020304" pitchFamily="18" charset="0"/>
                </a:rPr>
                <a:t>q</a:t>
              </a:r>
              <a:r>
                <a:rPr lang="en-US" altLang="zh-CN" sz="2000" b="1" err="1">
                  <a:solidFill>
                    <a:srgbClr val="333399"/>
                  </a:solidFill>
                  <a:latin typeface="Times New Roman" panose="02020603050405020304" pitchFamily="18" charset="0"/>
                </a:rPr>
                <a:t>(</a:t>
              </a:r>
              <a:r>
                <a:rPr lang="en-US" altLang="zh-CN" sz="2000" b="1" i="1" err="1">
                  <a:solidFill>
                    <a:srgbClr val="333399"/>
                  </a:solidFill>
                  <a:latin typeface="Times New Roman" panose="02020603050405020304" pitchFamily="18" charset="0"/>
                </a:rPr>
                <a:t>nT</a:t>
              </a:r>
              <a:r>
                <a:rPr lang="en-US" altLang="zh-CN" sz="2000" b="1" baseline="-25000" err="1">
                  <a:solidFill>
                    <a:srgbClr val="333399"/>
                  </a:solidFill>
                  <a:latin typeface="Times New Roman" panose="02020603050405020304" pitchFamily="18" charset="0"/>
                </a:rPr>
                <a:t>S</a:t>
              </a:r>
              <a:r>
                <a:rPr lang="en-US" altLang="zh-CN" sz="2000" b="1">
                  <a:solidFill>
                    <a:srgbClr val="333399"/>
                  </a:solidFill>
                  <a:latin typeface="Times New Roman" panose="02020603050405020304" pitchFamily="18" charset="0"/>
                </a:rPr>
                <a:t>)</a:t>
              </a:r>
              <a:endParaRPr lang="en-US" altLang="zh-CN" sz="2000" b="1">
                <a:solidFill>
                  <a:srgbClr val="333399"/>
                </a:solidFill>
                <a:latin typeface="Times New Roman" panose="02020603050405020304" pitchFamily="18" charset="0"/>
              </a:endParaRPr>
            </a:p>
          </p:txBody>
        </p:sp>
        <p:sp>
          <p:nvSpPr>
            <p:cNvPr id="2276413" name="Text Box 61"/>
            <p:cNvSpPr txBox="1"/>
            <p:nvPr/>
          </p:nvSpPr>
          <p:spPr>
            <a:xfrm>
              <a:off x="3441" y="3363"/>
              <a:ext cx="188"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0</a:t>
              </a:r>
              <a:endParaRPr lang="en-US" altLang="zh-CN" sz="1800" b="1">
                <a:solidFill>
                  <a:srgbClr val="333399"/>
                </a:solidFill>
                <a:latin typeface="Times New Roman" panose="02020603050405020304" pitchFamily="18" charset="0"/>
              </a:endParaRPr>
            </a:p>
          </p:txBody>
        </p:sp>
        <p:sp>
          <p:nvSpPr>
            <p:cNvPr id="2276414" name="Line 62"/>
            <p:cNvSpPr/>
            <p:nvPr/>
          </p:nvSpPr>
          <p:spPr>
            <a:xfrm>
              <a:off x="3607" y="3326"/>
              <a:ext cx="1703" cy="0"/>
            </a:xfrm>
            <a:prstGeom prst="line">
              <a:avLst/>
            </a:prstGeom>
            <a:ln w="9525" cap="flat" cmpd="sng">
              <a:solidFill>
                <a:srgbClr val="008080"/>
              </a:solidFill>
              <a:prstDash val="sysDot"/>
              <a:headEnd type="none" w="med" len="med"/>
              <a:tailEnd type="none" w="sm" len="lg"/>
            </a:ln>
          </p:spPr>
        </p:sp>
        <p:sp>
          <p:nvSpPr>
            <p:cNvPr id="2276415" name="Text Box 63"/>
            <p:cNvSpPr txBox="1"/>
            <p:nvPr/>
          </p:nvSpPr>
          <p:spPr>
            <a:xfrm>
              <a:off x="3420" y="3184"/>
              <a:ext cx="188"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416" name="Line 64"/>
            <p:cNvSpPr/>
            <p:nvPr/>
          </p:nvSpPr>
          <p:spPr>
            <a:xfrm>
              <a:off x="3615" y="3185"/>
              <a:ext cx="1686" cy="0"/>
            </a:xfrm>
            <a:prstGeom prst="line">
              <a:avLst/>
            </a:prstGeom>
            <a:ln w="9525" cap="flat" cmpd="sng">
              <a:solidFill>
                <a:srgbClr val="008080"/>
              </a:solidFill>
              <a:prstDash val="sysDot"/>
              <a:headEnd type="none" w="med" len="med"/>
              <a:tailEnd type="none" w="sm" len="lg"/>
            </a:ln>
          </p:spPr>
        </p:sp>
        <p:sp>
          <p:nvSpPr>
            <p:cNvPr id="2276417" name="Text Box 65"/>
            <p:cNvSpPr txBox="1"/>
            <p:nvPr/>
          </p:nvSpPr>
          <p:spPr>
            <a:xfrm>
              <a:off x="3346" y="3055"/>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2</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418" name="Line 66"/>
            <p:cNvSpPr/>
            <p:nvPr/>
          </p:nvSpPr>
          <p:spPr>
            <a:xfrm>
              <a:off x="3607" y="3034"/>
              <a:ext cx="1694" cy="0"/>
            </a:xfrm>
            <a:prstGeom prst="line">
              <a:avLst/>
            </a:prstGeom>
            <a:ln w="9525" cap="flat" cmpd="sng">
              <a:solidFill>
                <a:srgbClr val="008080"/>
              </a:solidFill>
              <a:prstDash val="sysDot"/>
              <a:headEnd type="none" w="med" len="med"/>
              <a:tailEnd type="none" w="sm" len="lg"/>
            </a:ln>
          </p:spPr>
        </p:sp>
        <p:sp>
          <p:nvSpPr>
            <p:cNvPr id="2276419" name="Text Box 67"/>
            <p:cNvSpPr txBox="1"/>
            <p:nvPr/>
          </p:nvSpPr>
          <p:spPr>
            <a:xfrm>
              <a:off x="3360" y="2891"/>
              <a:ext cx="260" cy="231"/>
            </a:xfrm>
            <a:prstGeom prst="rect">
              <a:avLst/>
            </a:prstGeom>
            <a:noFill/>
            <a:ln w="9525">
              <a:noFill/>
            </a:ln>
          </p:spPr>
          <p:txBody>
            <a:bodyPr wrap="none">
              <a:spAutoFit/>
            </a:bodyPr>
            <a:p>
              <a:pPr algn="ctr" eaLnBrk="1" hangingPunct="1"/>
              <a:r>
                <a:rPr lang="en-US" altLang="zh-CN" sz="1800" b="1">
                  <a:solidFill>
                    <a:srgbClr val="333399"/>
                  </a:solidFill>
                  <a:latin typeface="Times New Roman" panose="02020603050405020304" pitchFamily="18" charset="0"/>
                </a:rPr>
                <a:t>3</a:t>
              </a:r>
              <a:r>
                <a:rPr lang="en-US" altLang="zh-CN" sz="1800" b="1" i="1">
                  <a:solidFill>
                    <a:srgbClr val="333399"/>
                  </a:solidFill>
                  <a:latin typeface="Times New Roman" panose="02020603050405020304" pitchFamily="18" charset="0"/>
                </a:rPr>
                <a:t>q</a:t>
              </a:r>
              <a:endParaRPr lang="en-US" altLang="zh-CN" sz="1800" b="1" i="1">
                <a:solidFill>
                  <a:srgbClr val="333399"/>
                </a:solidFill>
                <a:latin typeface="Times New Roman" panose="02020603050405020304" pitchFamily="18" charset="0"/>
              </a:endParaRPr>
            </a:p>
          </p:txBody>
        </p:sp>
        <p:sp>
          <p:nvSpPr>
            <p:cNvPr id="2276420" name="Line 68"/>
            <p:cNvSpPr/>
            <p:nvPr/>
          </p:nvSpPr>
          <p:spPr>
            <a:xfrm>
              <a:off x="3607" y="2883"/>
              <a:ext cx="1694" cy="0"/>
            </a:xfrm>
            <a:prstGeom prst="line">
              <a:avLst/>
            </a:prstGeom>
            <a:ln w="9525" cap="flat" cmpd="sng">
              <a:solidFill>
                <a:srgbClr val="008080"/>
              </a:solidFill>
              <a:prstDash val="sysDot"/>
              <a:headEnd type="none" w="med" len="med"/>
              <a:tailEnd type="none" w="sm" len="lg"/>
            </a:ln>
          </p:spPr>
        </p:sp>
        <p:sp>
          <p:nvSpPr>
            <p:cNvPr id="2276421" name="Line 69"/>
            <p:cNvSpPr/>
            <p:nvPr/>
          </p:nvSpPr>
          <p:spPr>
            <a:xfrm>
              <a:off x="3608" y="2733"/>
              <a:ext cx="1694" cy="0"/>
            </a:xfrm>
            <a:prstGeom prst="line">
              <a:avLst/>
            </a:prstGeom>
            <a:ln w="9525" cap="flat" cmpd="sng">
              <a:solidFill>
                <a:srgbClr val="008080"/>
              </a:solidFill>
              <a:prstDash val="sysDot"/>
              <a:headEnd type="none" w="med" len="med"/>
              <a:tailEnd type="none" w="sm" len="lg"/>
            </a:ln>
          </p:spPr>
        </p:sp>
        <p:sp>
          <p:nvSpPr>
            <p:cNvPr id="2276422" name="Line 70"/>
            <p:cNvSpPr/>
            <p:nvPr/>
          </p:nvSpPr>
          <p:spPr>
            <a:xfrm>
              <a:off x="3607" y="2591"/>
              <a:ext cx="1694" cy="0"/>
            </a:xfrm>
            <a:prstGeom prst="line">
              <a:avLst/>
            </a:prstGeom>
            <a:ln w="9525" cap="flat" cmpd="sng">
              <a:solidFill>
                <a:srgbClr val="008080"/>
              </a:solidFill>
              <a:prstDash val="sysDot"/>
              <a:headEnd type="none" w="med" len="med"/>
              <a:tailEnd type="none" w="sm" len="lg"/>
            </a:ln>
          </p:spPr>
        </p:sp>
        <p:sp>
          <p:nvSpPr>
            <p:cNvPr id="2276423" name="Line 71"/>
            <p:cNvSpPr/>
            <p:nvPr/>
          </p:nvSpPr>
          <p:spPr>
            <a:xfrm>
              <a:off x="3607" y="2433"/>
              <a:ext cx="1694" cy="0"/>
            </a:xfrm>
            <a:prstGeom prst="line">
              <a:avLst/>
            </a:prstGeom>
            <a:ln w="9525" cap="flat" cmpd="sng">
              <a:solidFill>
                <a:srgbClr val="008080"/>
              </a:solidFill>
              <a:prstDash val="sysDot"/>
              <a:headEnd type="none" w="med" len="med"/>
              <a:tailEnd type="none" w="sm" len="lg"/>
            </a:ln>
          </p:spPr>
        </p:sp>
        <p:sp>
          <p:nvSpPr>
            <p:cNvPr id="2276424" name="Text Box 72"/>
            <p:cNvSpPr txBox="1"/>
            <p:nvPr/>
          </p:nvSpPr>
          <p:spPr>
            <a:xfrm>
              <a:off x="3398" y="2434"/>
              <a:ext cx="173" cy="460"/>
            </a:xfrm>
            <a:prstGeom prst="rect">
              <a:avLst/>
            </a:prstGeom>
            <a:noFill/>
            <a:ln w="9525">
              <a:noFill/>
            </a:ln>
          </p:spPr>
          <p:txBody>
            <a:bodyPr wrap="none">
              <a:spAutoFit/>
            </a:bodyPr>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a:p>
              <a:pPr algn="ctr" eaLnBrk="1" hangingPunct="1"/>
              <a:r>
                <a:rPr lang="en-US" altLang="zh-CN" sz="1400" b="1">
                  <a:solidFill>
                    <a:srgbClr val="333399"/>
                  </a:solidFill>
                  <a:latin typeface="楷体_GB2312" pitchFamily="49" charset="-122"/>
                </a:rPr>
                <a:t>.</a:t>
              </a:r>
              <a:endParaRPr lang="en-US" altLang="zh-CN" sz="1400" b="1">
                <a:solidFill>
                  <a:srgbClr val="333399"/>
                </a:solidFill>
                <a:latin typeface="楷体_GB2312" pitchFamily="49" charset="-122"/>
              </a:endParaRPr>
            </a:p>
          </p:txBody>
        </p:sp>
        <p:sp>
          <p:nvSpPr>
            <p:cNvPr id="2276425" name="Text Box 73"/>
            <p:cNvSpPr txBox="1"/>
            <p:nvPr/>
          </p:nvSpPr>
          <p:spPr>
            <a:xfrm>
              <a:off x="3647" y="3444"/>
              <a:ext cx="243"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426" name="Line 74"/>
            <p:cNvSpPr/>
            <p:nvPr/>
          </p:nvSpPr>
          <p:spPr>
            <a:xfrm flipV="1">
              <a:off x="3782" y="3184"/>
              <a:ext cx="0" cy="284"/>
            </a:xfrm>
            <a:prstGeom prst="line">
              <a:avLst/>
            </a:prstGeom>
            <a:ln w="9525" cap="flat" cmpd="sng">
              <a:solidFill>
                <a:srgbClr val="CC00CC"/>
              </a:solidFill>
              <a:prstDash val="solid"/>
              <a:headEnd type="none" w="med" len="med"/>
              <a:tailEnd type="none" w="sm" len="lg"/>
            </a:ln>
          </p:spPr>
        </p:sp>
        <p:sp>
          <p:nvSpPr>
            <p:cNvPr id="2276427" name="Line 75"/>
            <p:cNvSpPr/>
            <p:nvPr/>
          </p:nvSpPr>
          <p:spPr>
            <a:xfrm flipV="1">
              <a:off x="3832" y="3184"/>
              <a:ext cx="0" cy="284"/>
            </a:xfrm>
            <a:prstGeom prst="line">
              <a:avLst/>
            </a:prstGeom>
            <a:ln w="9525" cap="flat" cmpd="sng">
              <a:solidFill>
                <a:srgbClr val="CC00CC"/>
              </a:solidFill>
              <a:prstDash val="solid"/>
              <a:headEnd type="none" w="med" len="med"/>
              <a:tailEnd type="none" w="sm" len="lg"/>
            </a:ln>
          </p:spPr>
        </p:sp>
        <p:sp>
          <p:nvSpPr>
            <p:cNvPr id="2276428" name="Text Box 76"/>
            <p:cNvSpPr txBox="1"/>
            <p:nvPr/>
          </p:nvSpPr>
          <p:spPr>
            <a:xfrm>
              <a:off x="3812" y="3432"/>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2T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429" name="Line 77"/>
            <p:cNvSpPr/>
            <p:nvPr/>
          </p:nvSpPr>
          <p:spPr>
            <a:xfrm flipV="1">
              <a:off x="3966" y="2734"/>
              <a:ext cx="0" cy="734"/>
            </a:xfrm>
            <a:prstGeom prst="line">
              <a:avLst/>
            </a:prstGeom>
            <a:ln w="9525" cap="flat" cmpd="sng">
              <a:solidFill>
                <a:srgbClr val="CC00CC"/>
              </a:solidFill>
              <a:prstDash val="solid"/>
              <a:headEnd type="none" w="med" len="med"/>
              <a:tailEnd type="none" w="sm" len="lg"/>
            </a:ln>
          </p:spPr>
        </p:sp>
        <p:sp>
          <p:nvSpPr>
            <p:cNvPr id="2276430" name="Line 78"/>
            <p:cNvSpPr/>
            <p:nvPr/>
          </p:nvSpPr>
          <p:spPr>
            <a:xfrm flipH="1" flipV="1">
              <a:off x="4015" y="2727"/>
              <a:ext cx="1" cy="741"/>
            </a:xfrm>
            <a:prstGeom prst="line">
              <a:avLst/>
            </a:prstGeom>
            <a:ln w="9525" cap="flat" cmpd="sng">
              <a:solidFill>
                <a:srgbClr val="CC00CC"/>
              </a:solidFill>
              <a:prstDash val="solid"/>
              <a:headEnd type="none" w="med" len="med"/>
              <a:tailEnd type="none" w="sm" len="lg"/>
            </a:ln>
          </p:spPr>
        </p:sp>
        <p:sp>
          <p:nvSpPr>
            <p:cNvPr id="2276431" name="Text Box 79"/>
            <p:cNvSpPr txBox="1"/>
            <p:nvPr/>
          </p:nvSpPr>
          <p:spPr>
            <a:xfrm>
              <a:off x="4025" y="3435"/>
              <a:ext cx="307" cy="212"/>
            </a:xfrm>
            <a:prstGeom prst="rect">
              <a:avLst/>
            </a:prstGeom>
            <a:noFill/>
            <a:ln w="9525">
              <a:noFill/>
            </a:ln>
          </p:spPr>
          <p:txBody>
            <a:bodyPr wrap="none">
              <a:spAutoFit/>
            </a:bodyPr>
            <a:p>
              <a:pPr algn="ctr" eaLnBrk="1" hangingPunct="1"/>
              <a:r>
                <a:rPr lang="en-US" altLang="zh-CN" sz="1600" b="1" i="1">
                  <a:solidFill>
                    <a:srgbClr val="333399"/>
                  </a:solidFill>
                  <a:latin typeface="Times New Roman" panose="02020603050405020304" pitchFamily="18" charset="0"/>
                </a:rPr>
                <a:t>3T</a:t>
              </a:r>
              <a:r>
                <a:rPr lang="en-US" altLang="zh-CN" sz="1600" b="1" baseline="-25000">
                  <a:solidFill>
                    <a:srgbClr val="333399"/>
                  </a:solidFill>
                  <a:latin typeface="Times New Roman" panose="02020603050405020304" pitchFamily="18" charset="0"/>
                </a:rPr>
                <a:t>S</a:t>
              </a:r>
              <a:endParaRPr lang="en-US" altLang="zh-CN" sz="1600" b="1" baseline="-25000">
                <a:solidFill>
                  <a:srgbClr val="333399"/>
                </a:solidFill>
                <a:latin typeface="Times New Roman" panose="02020603050405020304" pitchFamily="18" charset="0"/>
              </a:endParaRPr>
            </a:p>
          </p:txBody>
        </p:sp>
        <p:sp>
          <p:nvSpPr>
            <p:cNvPr id="2276432" name="Line 80"/>
            <p:cNvSpPr/>
            <p:nvPr/>
          </p:nvSpPr>
          <p:spPr>
            <a:xfrm flipV="1">
              <a:off x="4133" y="2434"/>
              <a:ext cx="0" cy="1034"/>
            </a:xfrm>
            <a:prstGeom prst="line">
              <a:avLst/>
            </a:prstGeom>
            <a:ln w="9525" cap="flat" cmpd="sng">
              <a:solidFill>
                <a:srgbClr val="CC00CC"/>
              </a:solidFill>
              <a:prstDash val="solid"/>
              <a:headEnd type="none" w="med" len="med"/>
              <a:tailEnd type="none" w="sm" len="lg"/>
            </a:ln>
          </p:spPr>
        </p:sp>
        <p:sp>
          <p:nvSpPr>
            <p:cNvPr id="2276433" name="Line 81"/>
            <p:cNvSpPr/>
            <p:nvPr/>
          </p:nvSpPr>
          <p:spPr>
            <a:xfrm flipV="1">
              <a:off x="4183" y="2432"/>
              <a:ext cx="0" cy="1036"/>
            </a:xfrm>
            <a:prstGeom prst="line">
              <a:avLst/>
            </a:prstGeom>
            <a:ln w="9525" cap="flat" cmpd="sng">
              <a:solidFill>
                <a:srgbClr val="CC00CC"/>
              </a:solidFill>
              <a:prstDash val="solid"/>
              <a:headEnd type="none" w="med" len="med"/>
              <a:tailEnd type="none" w="sm" len="lg"/>
            </a:ln>
          </p:spPr>
        </p:sp>
        <p:sp>
          <p:nvSpPr>
            <p:cNvPr id="2276434" name="Text Box 82"/>
            <p:cNvSpPr txBox="1"/>
            <p:nvPr/>
          </p:nvSpPr>
          <p:spPr>
            <a:xfrm>
              <a:off x="4256" y="3418"/>
              <a:ext cx="228" cy="192"/>
            </a:xfrm>
            <a:prstGeom prst="rect">
              <a:avLst/>
            </a:prstGeom>
            <a:noFill/>
            <a:ln w="9525">
              <a:noFill/>
            </a:ln>
          </p:spPr>
          <p:txBody>
            <a:bodyPr wrap="none">
              <a:spAutoFit/>
            </a:bodyPr>
            <a:p>
              <a:pPr algn="ctr" eaLnBrk="1" hangingPunct="1"/>
              <a:r>
                <a:rPr lang="en-US" altLang="zh-CN" sz="1400" b="1">
                  <a:solidFill>
                    <a:srgbClr val="333399"/>
                  </a:solidFill>
                  <a:latin typeface="Times New Roman" panose="02020603050405020304" pitchFamily="18" charset="0"/>
                </a:rPr>
                <a:t>…</a:t>
              </a:r>
              <a:endParaRPr lang="en-US" altLang="zh-CN" sz="1400" b="1">
                <a:solidFill>
                  <a:srgbClr val="333399"/>
                </a:solidFill>
                <a:latin typeface="Times New Roman" panose="02020603050405020304" pitchFamily="18" charset="0"/>
              </a:endParaRPr>
            </a:p>
          </p:txBody>
        </p:sp>
        <p:sp>
          <p:nvSpPr>
            <p:cNvPr id="2276435" name="Line 83"/>
            <p:cNvSpPr/>
            <p:nvPr/>
          </p:nvSpPr>
          <p:spPr>
            <a:xfrm flipV="1">
              <a:off x="4308" y="2591"/>
              <a:ext cx="0" cy="877"/>
            </a:xfrm>
            <a:prstGeom prst="line">
              <a:avLst/>
            </a:prstGeom>
            <a:ln w="9525" cap="flat" cmpd="sng">
              <a:solidFill>
                <a:srgbClr val="CC00CC"/>
              </a:solidFill>
              <a:prstDash val="solid"/>
              <a:headEnd type="none" w="med" len="med"/>
              <a:tailEnd type="none" w="sm" len="lg"/>
            </a:ln>
          </p:spPr>
        </p:sp>
        <p:sp>
          <p:nvSpPr>
            <p:cNvPr id="2276436" name="Line 84"/>
            <p:cNvSpPr/>
            <p:nvPr/>
          </p:nvSpPr>
          <p:spPr>
            <a:xfrm flipV="1">
              <a:off x="4358" y="2591"/>
              <a:ext cx="0" cy="877"/>
            </a:xfrm>
            <a:prstGeom prst="line">
              <a:avLst/>
            </a:prstGeom>
            <a:ln w="9525" cap="flat" cmpd="sng">
              <a:solidFill>
                <a:srgbClr val="CC00CC"/>
              </a:solidFill>
              <a:prstDash val="solid"/>
              <a:headEnd type="none" w="med" len="med"/>
              <a:tailEnd type="none" w="sm" len="lg"/>
            </a:ln>
          </p:spPr>
        </p:sp>
        <p:sp>
          <p:nvSpPr>
            <p:cNvPr id="2276437" name="Line 85"/>
            <p:cNvSpPr/>
            <p:nvPr/>
          </p:nvSpPr>
          <p:spPr>
            <a:xfrm flipV="1">
              <a:off x="4483" y="2725"/>
              <a:ext cx="0" cy="743"/>
            </a:xfrm>
            <a:prstGeom prst="line">
              <a:avLst/>
            </a:prstGeom>
            <a:ln w="9525" cap="flat" cmpd="sng">
              <a:solidFill>
                <a:srgbClr val="CC00CC"/>
              </a:solidFill>
              <a:prstDash val="solid"/>
              <a:headEnd type="none" w="med" len="med"/>
              <a:tailEnd type="none" w="sm" len="lg"/>
            </a:ln>
          </p:spPr>
        </p:sp>
        <p:sp>
          <p:nvSpPr>
            <p:cNvPr id="2276438" name="Line 86"/>
            <p:cNvSpPr/>
            <p:nvPr/>
          </p:nvSpPr>
          <p:spPr>
            <a:xfrm flipV="1">
              <a:off x="4533" y="2734"/>
              <a:ext cx="0" cy="734"/>
            </a:xfrm>
            <a:prstGeom prst="line">
              <a:avLst/>
            </a:prstGeom>
            <a:ln w="9525" cap="flat" cmpd="sng">
              <a:solidFill>
                <a:srgbClr val="CC00CC"/>
              </a:solidFill>
              <a:prstDash val="solid"/>
              <a:headEnd type="none" w="med" len="med"/>
              <a:tailEnd type="none" w="sm" len="lg"/>
            </a:ln>
          </p:spPr>
        </p:sp>
        <p:sp>
          <p:nvSpPr>
            <p:cNvPr id="2276439" name="Line 87"/>
            <p:cNvSpPr/>
            <p:nvPr/>
          </p:nvSpPr>
          <p:spPr>
            <a:xfrm flipV="1">
              <a:off x="4658" y="2883"/>
              <a:ext cx="0" cy="585"/>
            </a:xfrm>
            <a:prstGeom prst="line">
              <a:avLst/>
            </a:prstGeom>
            <a:ln w="9525" cap="flat" cmpd="sng">
              <a:solidFill>
                <a:srgbClr val="CC00CC"/>
              </a:solidFill>
              <a:prstDash val="solid"/>
              <a:headEnd type="none" w="med" len="med"/>
              <a:tailEnd type="none" w="sm" len="lg"/>
            </a:ln>
          </p:spPr>
        </p:sp>
        <p:sp>
          <p:nvSpPr>
            <p:cNvPr id="2276440" name="Line 88"/>
            <p:cNvSpPr/>
            <p:nvPr/>
          </p:nvSpPr>
          <p:spPr>
            <a:xfrm flipV="1">
              <a:off x="4709" y="2883"/>
              <a:ext cx="0" cy="585"/>
            </a:xfrm>
            <a:prstGeom prst="line">
              <a:avLst/>
            </a:prstGeom>
            <a:ln w="9525" cap="flat" cmpd="sng">
              <a:solidFill>
                <a:srgbClr val="CC00CC"/>
              </a:solidFill>
              <a:prstDash val="solid"/>
              <a:headEnd type="none" w="med" len="med"/>
              <a:tailEnd type="none" w="sm" len="lg"/>
            </a:ln>
          </p:spPr>
        </p:sp>
        <p:sp>
          <p:nvSpPr>
            <p:cNvPr id="2276441" name="Line 89"/>
            <p:cNvSpPr/>
            <p:nvPr/>
          </p:nvSpPr>
          <p:spPr>
            <a:xfrm flipV="1">
              <a:off x="4825" y="3034"/>
              <a:ext cx="0" cy="434"/>
            </a:xfrm>
            <a:prstGeom prst="line">
              <a:avLst/>
            </a:prstGeom>
            <a:ln w="9525" cap="flat" cmpd="sng">
              <a:solidFill>
                <a:srgbClr val="CC00CC"/>
              </a:solidFill>
              <a:prstDash val="solid"/>
              <a:headEnd type="none" w="med" len="med"/>
              <a:tailEnd type="none" w="sm" len="lg"/>
            </a:ln>
          </p:spPr>
        </p:sp>
        <p:sp>
          <p:nvSpPr>
            <p:cNvPr id="2276442" name="Line 90"/>
            <p:cNvSpPr/>
            <p:nvPr/>
          </p:nvSpPr>
          <p:spPr>
            <a:xfrm flipV="1">
              <a:off x="4875" y="3034"/>
              <a:ext cx="0" cy="434"/>
            </a:xfrm>
            <a:prstGeom prst="line">
              <a:avLst/>
            </a:prstGeom>
            <a:ln w="9525" cap="flat" cmpd="sng">
              <a:solidFill>
                <a:srgbClr val="CC00CC"/>
              </a:solidFill>
              <a:prstDash val="solid"/>
              <a:headEnd type="none" w="med" len="med"/>
              <a:tailEnd type="none" w="sm" len="lg"/>
            </a:ln>
          </p:spPr>
        </p:sp>
        <p:sp>
          <p:nvSpPr>
            <p:cNvPr id="2276444" name="Text Box 92"/>
            <p:cNvSpPr txBox="1"/>
            <p:nvPr/>
          </p:nvSpPr>
          <p:spPr>
            <a:xfrm>
              <a:off x="4391" y="3599"/>
              <a:ext cx="311" cy="250"/>
            </a:xfrm>
            <a:prstGeom prst="rect">
              <a:avLst/>
            </a:prstGeom>
            <a:noFill/>
            <a:ln w="9525">
              <a:noFill/>
            </a:ln>
          </p:spPr>
          <p:txBody>
            <a:bodyPr wrap="none">
              <a:spAutoFit/>
            </a:bodyPr>
            <a:p>
              <a:pPr algn="ctr" eaLnBrk="1" hangingPunct="1"/>
              <a:r>
                <a:rPr lang="en-US" altLang="zh-CN" sz="2000" b="1">
                  <a:solidFill>
                    <a:srgbClr val="FF0000"/>
                  </a:solidFill>
                  <a:latin typeface="Times New Roman" panose="02020603050405020304" pitchFamily="18" charset="0"/>
                </a:rPr>
                <a:t>(b)</a:t>
              </a:r>
              <a:endParaRPr lang="en-US" altLang="zh-CN" sz="2000" b="1">
                <a:solidFill>
                  <a:srgbClr val="FF0000"/>
                </a:solidFill>
                <a:latin typeface="Times New Roman" panose="02020603050405020304" pitchFamily="18" charset="0"/>
              </a:endParaRPr>
            </a:p>
          </p:txBody>
        </p:sp>
      </p:grpSp>
      <p:sp>
        <p:nvSpPr>
          <p:cNvPr id="2276446" name="Text Box 9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6447" name="Text Box 95"/>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6448" name="Text Box 96"/>
          <p:cNvSpPr txBox="1"/>
          <p:nvPr/>
        </p:nvSpPr>
        <p:spPr>
          <a:xfrm>
            <a:off x="971550" y="1577975"/>
            <a:ext cx="33988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2.</a:t>
            </a:r>
            <a:r>
              <a:rPr lang="en-US" altLang="zh-CN" sz="2800" b="1">
                <a:solidFill>
                  <a:srgbClr val="333399"/>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有舍有入</a:t>
            </a:r>
            <a:r>
              <a:rPr lang="zh-CN" altLang="en-US" sz="2800" b="1" dirty="0">
                <a:solidFill>
                  <a:srgbClr val="333399"/>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的量化</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76450" name="Text Box 98"/>
          <p:cNvSpPr txBox="1"/>
          <p:nvPr/>
        </p:nvSpPr>
        <p:spPr>
          <a:xfrm>
            <a:off x="1150938" y="2159000"/>
            <a:ext cx="7218362" cy="946150"/>
          </a:xfrm>
          <a:prstGeom prst="rect">
            <a:avLst/>
          </a:prstGeom>
          <a:solidFill>
            <a:srgbClr val="CCFFFF"/>
          </a:solidFill>
          <a:ln w="9525">
            <a:noFill/>
          </a:ln>
        </p:spPr>
        <p:txBody>
          <a:bodyPr>
            <a:spAutoFit/>
          </a:bodyPr>
          <a:p>
            <a:pPr algn="l" eaLnBrk="1" hangingPunct="1">
              <a:buClr>
                <a:srgbClr val="FF0000"/>
              </a:buClr>
              <a:buFont typeface="Wingdings" panose="05000000000000000000" pitchFamily="2" charset="2"/>
            </a:pPr>
            <a:r>
              <a:rPr lang="zh-CN" altLang="en-US" sz="2800" b="1" dirty="0">
                <a:solidFill>
                  <a:schemeClr val="tx1"/>
                </a:solidFill>
                <a:latin typeface="楷体_GB2312" pitchFamily="49" charset="-122"/>
              </a:rPr>
              <a:t>信号幅值小于</a:t>
            </a:r>
            <a:r>
              <a:rPr lang="en-US" altLang="zh-CN" sz="2800" b="1" i="1">
                <a:solidFill>
                  <a:srgbClr val="FF0000"/>
                </a:solidFill>
                <a:latin typeface="楷体_GB2312" pitchFamily="49" charset="-122"/>
              </a:rPr>
              <a:t>q</a:t>
            </a:r>
            <a:r>
              <a:rPr lang="en-US" altLang="zh-CN" sz="2800" b="1">
                <a:solidFill>
                  <a:srgbClr val="FF0000"/>
                </a:solidFill>
                <a:latin typeface="楷体_GB2312" pitchFamily="49" charset="-122"/>
              </a:rPr>
              <a:t>/2</a:t>
            </a:r>
            <a:r>
              <a:rPr lang="zh-CN" altLang="en-US" sz="2800" b="1" dirty="0">
                <a:solidFill>
                  <a:schemeClr val="tx1"/>
                </a:solidFill>
                <a:latin typeface="楷体_GB2312" pitchFamily="49" charset="-122"/>
              </a:rPr>
              <a:t>的部分，舍去；大于或等于</a:t>
            </a:r>
            <a:r>
              <a:rPr lang="en-US" altLang="zh-CN" sz="2800" b="1" i="1">
                <a:solidFill>
                  <a:srgbClr val="FF0000"/>
                </a:solidFill>
                <a:latin typeface="楷体_GB2312" pitchFamily="49" charset="-122"/>
              </a:rPr>
              <a:t>q</a:t>
            </a:r>
            <a:r>
              <a:rPr lang="en-US" altLang="zh-CN" sz="2800" b="1">
                <a:solidFill>
                  <a:srgbClr val="FF0000"/>
                </a:solidFill>
                <a:latin typeface="楷体_GB2312" pitchFamily="49" charset="-122"/>
              </a:rPr>
              <a:t>/2</a:t>
            </a:r>
            <a:r>
              <a:rPr lang="zh-CN" altLang="en-US" sz="2800" b="1" dirty="0">
                <a:solidFill>
                  <a:schemeClr val="tx1"/>
                </a:solidFill>
                <a:latin typeface="楷体_GB2312" pitchFamily="49" charset="-122"/>
              </a:rPr>
              <a:t>的部分，计入。</a:t>
            </a:r>
            <a:endParaRPr lang="zh-CN" altLang="en-US" sz="2800" b="1" dirty="0">
              <a:solidFill>
                <a:schemeClr val="tx1"/>
              </a:solidFill>
              <a:latin typeface="楷体_GB2312" pitchFamily="49" charset="-122"/>
            </a:endParaRPr>
          </a:p>
        </p:txBody>
      </p:sp>
      <p:sp>
        <p:nvSpPr>
          <p:cNvPr id="35922"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6448"/>
                                        </p:tgtEl>
                                        <p:attrNameLst>
                                          <p:attrName>style.visibility</p:attrName>
                                        </p:attrNameLst>
                                      </p:cBhvr>
                                      <p:to>
                                        <p:strVal val="visible"/>
                                      </p:to>
                                    </p:set>
                                    <p:animEffect transition="in" filter="dissolve">
                                      <p:cBhvr>
                                        <p:cTn id="7" dur="500"/>
                                        <p:tgtEl>
                                          <p:spTgt spid="22764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6450"/>
                                        </p:tgtEl>
                                        <p:attrNameLst>
                                          <p:attrName>style.visibility</p:attrName>
                                        </p:attrNameLst>
                                      </p:cBhvr>
                                      <p:to>
                                        <p:strVal val="visible"/>
                                      </p:to>
                                    </p:set>
                                    <p:animEffect transition="in" filter="dissolve">
                                      <p:cBhvr>
                                        <p:cTn id="12" dur="500"/>
                                        <p:tgtEl>
                                          <p:spTgt spid="227645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5923"/>
                                        </p:tgtEl>
                                        <p:attrNameLst>
                                          <p:attrName>style.visibility</p:attrName>
                                        </p:attrNameLst>
                                      </p:cBhvr>
                                      <p:to>
                                        <p:strVal val="visible"/>
                                      </p:to>
                                    </p:set>
                                    <p:animEffect transition="in" filter="dissolve">
                                      <p:cBhvr>
                                        <p:cTn id="17" dur="500"/>
                                        <p:tgtEl>
                                          <p:spTgt spid="35923"/>
                                        </p:tgtEl>
                                      </p:cBhvr>
                                    </p:animEffect>
                                  </p:childTnLst>
                                </p:cTn>
                              </p:par>
                            </p:childTnLst>
                          </p:cTn>
                        </p:par>
                      </p:childTnLst>
                    </p:cTn>
                  </p:par>
                  <p:par>
                    <p:cTn id="18" fill="hold">
                      <p:stCondLst>
                        <p:cond delay="indefinite"/>
                      </p:stCondLst>
                      <p:childTnLst>
                        <p:par>
                          <p:cTn id="19" fill="hold">
                            <p:stCondLst>
                              <p:cond delay="0"/>
                            </p:stCondLst>
                            <p:childTnLst>
                              <p:par>
                                <p:cTn id="20" presetID="17" presetClass="entr" presetSubtype="10" fill="hold" grpId="0" nodeType="clickEffect">
                                  <p:stCondLst>
                                    <p:cond delay="0"/>
                                  </p:stCondLst>
                                  <p:childTnLst>
                                    <p:set>
                                      <p:cBhvr>
                                        <p:cTn id="21" dur="1" fill="hold">
                                          <p:stCondLst>
                                            <p:cond delay="0"/>
                                          </p:stCondLst>
                                        </p:cTn>
                                        <p:tgtEl>
                                          <p:spTgt spid="2276407"/>
                                        </p:tgtEl>
                                        <p:attrNameLst>
                                          <p:attrName>style.visibility</p:attrName>
                                        </p:attrNameLst>
                                      </p:cBhvr>
                                      <p:to>
                                        <p:strVal val="visible"/>
                                      </p:to>
                                    </p:set>
                                    <p:anim calcmode="lin" valueType="num">
                                      <p:cBhvr>
                                        <p:cTn id="22" dur="500" fill="hold"/>
                                        <p:tgtEl>
                                          <p:spTgt spid="2276407"/>
                                        </p:tgtEl>
                                        <p:attrNameLst>
                                          <p:attrName>ppt_w</p:attrName>
                                        </p:attrNameLst>
                                      </p:cBhvr>
                                      <p:tavLst>
                                        <p:tav tm="0">
                                          <p:val>
                                            <p:fltVal val="0.000000"/>
                                          </p:val>
                                        </p:tav>
                                        <p:tav tm="100000">
                                          <p:val>
                                            <p:strVal val="#ppt_w"/>
                                          </p:val>
                                        </p:tav>
                                      </p:tavLst>
                                    </p:anim>
                                    <p:anim calcmode="lin" valueType="num">
                                      <p:cBhvr>
                                        <p:cTn id="23" dur="500" fill="hold"/>
                                        <p:tgtEl>
                                          <p:spTgt spid="2276407"/>
                                        </p:tgtEl>
                                        <p:attrNameLst>
                                          <p:attrName>ppt_h</p:attrName>
                                        </p:attrNameLst>
                                      </p:cBhvr>
                                      <p:tavLst>
                                        <p:tav tm="0">
                                          <p:val>
                                            <p:strVal val="#ppt_h"/>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5924"/>
                                        </p:tgtEl>
                                        <p:attrNameLst>
                                          <p:attrName>style.visibility</p:attrName>
                                        </p:attrNameLst>
                                      </p:cBhvr>
                                      <p:to>
                                        <p:strVal val="visible"/>
                                      </p:to>
                                    </p:set>
                                    <p:animEffect transition="in" filter="dissolve">
                                      <p:cBhvr>
                                        <p:cTn id="28" dur="500"/>
                                        <p:tgtEl>
                                          <p:spTgt spid="35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6407" grpId="0" bldLvl="0" animBg="1"/>
      <p:bldP spid="2276448" grpId="0"/>
      <p:bldP spid="2276450" grpId="0" bldLvl="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7402" name="Rectangle 26"/>
          <p:cNvSpPr/>
          <p:nvPr/>
        </p:nvSpPr>
        <p:spPr>
          <a:xfrm>
            <a:off x="1258888" y="2133600"/>
            <a:ext cx="6805612" cy="3975100"/>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277383" name="Text Box 7"/>
          <p:cNvSpPr txBox="1"/>
          <p:nvPr/>
        </p:nvSpPr>
        <p:spPr>
          <a:xfrm>
            <a:off x="1414463" y="2168525"/>
            <a:ext cx="4237037" cy="519113"/>
          </a:xfrm>
          <a:prstGeom prst="rect">
            <a:avLst/>
          </a:prstGeom>
          <a:noFill/>
          <a:ln w="9525">
            <a:noFill/>
          </a:ln>
        </p:spPr>
        <p:txBody>
          <a:bodyPr wrap="none">
            <a:spAutoFit/>
          </a:bodyPr>
          <a:p>
            <a:pPr algn="l" eaLnBrk="1" hangingPunct="1"/>
            <a:r>
              <a:rPr lang="zh-CN" altLang="en-US" sz="2800" b="1" dirty="0">
                <a:solidFill>
                  <a:schemeClr val="tx1"/>
                </a:solidFill>
                <a:latin typeface="Times New Roman" panose="02020603050405020304" pitchFamily="18" charset="0"/>
              </a:rPr>
              <a:t>量化信号用</a:t>
            </a:r>
            <a:r>
              <a:rPr lang="en-US" altLang="zh-CN" sz="2800" b="1" i="1" err="1">
                <a:solidFill>
                  <a:schemeClr val="tx1"/>
                </a:solidFill>
                <a:latin typeface="Times New Roman" panose="02020603050405020304" pitchFamily="18" charset="0"/>
                <a:ea typeface="宋体" panose="02010600030101010101" pitchFamily="2" charset="-122"/>
              </a:rPr>
              <a:t>x</a:t>
            </a:r>
            <a:r>
              <a:rPr lang="en-US" altLang="zh-CN" sz="2800" b="1" i="1" baseline="-25000" err="1">
                <a:solidFill>
                  <a:schemeClr val="tx1"/>
                </a:solidFill>
                <a:latin typeface="Times New Roman" panose="02020603050405020304" pitchFamily="18" charset="0"/>
                <a:ea typeface="宋体" panose="02010600030101010101" pitchFamily="2" charset="-122"/>
              </a:rPr>
              <a:t>q</a:t>
            </a:r>
            <a:r>
              <a:rPr lang="en-US" altLang="zh-CN" sz="2800" b="1" i="1" err="1">
                <a:solidFill>
                  <a:schemeClr val="tx1"/>
                </a:solidFill>
                <a:latin typeface="Times New Roman" panose="02020603050405020304" pitchFamily="18" charset="0"/>
                <a:ea typeface="宋体" panose="02010600030101010101" pitchFamily="2" charset="-122"/>
              </a:rPr>
              <a:t>(nT</a:t>
            </a:r>
            <a:r>
              <a:rPr lang="en-US" altLang="zh-CN" sz="2800" b="1" i="1" baseline="-25000" err="1">
                <a:solidFill>
                  <a:schemeClr val="tx1"/>
                </a:solidFill>
                <a:latin typeface="Times New Roman" panose="02020603050405020304" pitchFamily="18" charset="0"/>
                <a:ea typeface="宋体" panose="02010600030101010101" pitchFamily="2" charset="-122"/>
              </a:rPr>
              <a:t>s</a:t>
            </a:r>
            <a:r>
              <a:rPr lang="en-US" altLang="zh-CN" sz="2800" b="1" i="1" baseline="-25000">
                <a:solidFill>
                  <a:schemeClr val="tx1"/>
                </a:solidFill>
                <a:latin typeface="Times New Roman" panose="02020603050405020304" pitchFamily="18" charset="0"/>
                <a:ea typeface="宋体" panose="02010600030101010101" pitchFamily="2" charset="-122"/>
              </a:rPr>
              <a:t> </a:t>
            </a:r>
            <a:r>
              <a:rPr lang="en-US" altLang="zh-CN" sz="2800" b="1" i="1">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Times New Roman" panose="02020603050405020304" pitchFamily="18" charset="0"/>
              </a:rPr>
              <a:t>表示</a:t>
            </a:r>
            <a:r>
              <a:rPr lang="zh-CN" altLang="en-US" sz="2800" b="1" dirty="0">
                <a:solidFill>
                  <a:schemeClr val="tx1"/>
                </a:solidFill>
                <a:latin typeface="Times New Roman" panose="02020603050405020304" pitchFamily="18" charset="0"/>
                <a:ea typeface="宋体" panose="02010600030101010101" pitchFamily="2" charset="-122"/>
              </a:rPr>
              <a:t>： </a:t>
            </a:r>
            <a:endParaRPr lang="zh-CN" altLang="en-US" sz="2800" b="1" dirty="0">
              <a:solidFill>
                <a:schemeClr val="tx1"/>
              </a:solidFill>
              <a:latin typeface="Times New Roman" panose="02020603050405020304" pitchFamily="18" charset="0"/>
              <a:ea typeface="宋体" panose="02010600030101010101" pitchFamily="2" charset="-122"/>
            </a:endParaRPr>
          </a:p>
        </p:txBody>
      </p:sp>
      <p:sp>
        <p:nvSpPr>
          <p:cNvPr id="2277384" name="Text Box 8"/>
          <p:cNvSpPr txBox="1"/>
          <p:nvPr/>
        </p:nvSpPr>
        <p:spPr>
          <a:xfrm>
            <a:off x="1414463" y="2874963"/>
            <a:ext cx="720725" cy="519112"/>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当 </a:t>
            </a:r>
            <a:endParaRPr lang="zh-CN" altLang="en-US" sz="2800" b="1" dirty="0">
              <a:solidFill>
                <a:schemeClr val="tx1"/>
              </a:solidFill>
              <a:latin typeface="楷体_GB2312" pitchFamily="49" charset="-122"/>
            </a:endParaRPr>
          </a:p>
        </p:txBody>
      </p:sp>
      <p:graphicFrame>
        <p:nvGraphicFramePr>
          <p:cNvPr id="36869" name="Object 9"/>
          <p:cNvGraphicFramePr>
            <a:graphicFrameLocks noChangeAspect="1"/>
          </p:cNvGraphicFramePr>
          <p:nvPr/>
        </p:nvGraphicFramePr>
        <p:xfrm>
          <a:off x="2038350" y="2763838"/>
          <a:ext cx="2400300" cy="771525"/>
        </p:xfrm>
        <a:graphic>
          <a:graphicData uri="http://schemas.openxmlformats.org/presentationml/2006/ole">
            <mc:AlternateContent xmlns:mc="http://schemas.openxmlformats.org/markup-compatibility/2006">
              <mc:Choice xmlns:v="urn:schemas-microsoft-com:vml" Requires="v">
                <p:oleObj spid="_x0000_s3156" name="" r:id="rId1" imgW="1155065" imgH="393700" progId="Equation.3">
                  <p:embed/>
                </p:oleObj>
              </mc:Choice>
              <mc:Fallback>
                <p:oleObj name="" r:id="rId1" imgW="1155065" imgH="393700" progId="Equation.3">
                  <p:embed/>
                  <p:pic>
                    <p:nvPicPr>
                      <p:cNvPr id="0" name="图片 3155"/>
                      <p:cNvPicPr/>
                      <p:nvPr/>
                    </p:nvPicPr>
                    <p:blipFill>
                      <a:blip r:embed="rId2"/>
                      <a:stretch>
                        <a:fillRect/>
                      </a:stretch>
                    </p:blipFill>
                    <p:spPr>
                      <a:xfrm>
                        <a:off x="2038350" y="2763838"/>
                        <a:ext cx="2400300" cy="771525"/>
                      </a:xfrm>
                      <a:prstGeom prst="rect">
                        <a:avLst/>
                      </a:prstGeom>
                      <a:solidFill>
                        <a:srgbClr val="CCFFFF"/>
                      </a:solidFill>
                      <a:ln w="38100">
                        <a:noFill/>
                        <a:miter/>
                      </a:ln>
                    </p:spPr>
                  </p:pic>
                </p:oleObj>
              </mc:Fallback>
            </mc:AlternateContent>
          </a:graphicData>
        </a:graphic>
      </p:graphicFrame>
      <p:sp>
        <p:nvSpPr>
          <p:cNvPr id="2277386" name="Text Box 10"/>
          <p:cNvSpPr txBox="1"/>
          <p:nvPr/>
        </p:nvSpPr>
        <p:spPr>
          <a:xfrm>
            <a:off x="4471988" y="2887663"/>
            <a:ext cx="898525" cy="519112"/>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时，</a:t>
            </a:r>
            <a:endParaRPr lang="zh-CN" altLang="en-US" sz="2800" b="1" dirty="0">
              <a:solidFill>
                <a:schemeClr val="tx1"/>
              </a:solidFill>
              <a:latin typeface="楷体_GB2312" pitchFamily="49" charset="-122"/>
            </a:endParaRPr>
          </a:p>
        </p:txBody>
      </p:sp>
      <p:graphicFrame>
        <p:nvGraphicFramePr>
          <p:cNvPr id="36871" name="Object 11"/>
          <p:cNvGraphicFramePr>
            <a:graphicFrameLocks noChangeAspect="1"/>
          </p:cNvGraphicFramePr>
          <p:nvPr/>
        </p:nvGraphicFramePr>
        <p:xfrm>
          <a:off x="5286375" y="2886075"/>
          <a:ext cx="1809750" cy="577850"/>
        </p:xfrm>
        <a:graphic>
          <a:graphicData uri="http://schemas.openxmlformats.org/presentationml/2006/ole">
            <mc:AlternateContent xmlns:mc="http://schemas.openxmlformats.org/markup-compatibility/2006">
              <mc:Choice xmlns:v="urn:schemas-microsoft-com:vml" Requires="v">
                <p:oleObj spid="_x0000_s3153" name="" r:id="rId3" imgW="748665" imgH="241300" progId="Equation.3">
                  <p:embed/>
                </p:oleObj>
              </mc:Choice>
              <mc:Fallback>
                <p:oleObj name="" r:id="rId3" imgW="748665" imgH="241300" progId="Equation.3">
                  <p:embed/>
                  <p:pic>
                    <p:nvPicPr>
                      <p:cNvPr id="0" name="图片 3152"/>
                      <p:cNvPicPr/>
                      <p:nvPr/>
                    </p:nvPicPr>
                    <p:blipFill>
                      <a:blip r:embed="rId4"/>
                      <a:stretch>
                        <a:fillRect/>
                      </a:stretch>
                    </p:blipFill>
                    <p:spPr>
                      <a:xfrm>
                        <a:off x="5286375" y="2886075"/>
                        <a:ext cx="1809750" cy="577850"/>
                      </a:xfrm>
                      <a:prstGeom prst="rect">
                        <a:avLst/>
                      </a:prstGeom>
                      <a:solidFill>
                        <a:srgbClr val="CCFFFF"/>
                      </a:solidFill>
                      <a:ln w="38100">
                        <a:noFill/>
                        <a:miter/>
                      </a:ln>
                    </p:spPr>
                  </p:pic>
                </p:oleObj>
              </mc:Fallback>
            </mc:AlternateContent>
          </a:graphicData>
        </a:graphic>
      </p:graphicFrame>
      <p:sp>
        <p:nvSpPr>
          <p:cNvPr id="2277388" name="Text Box 12"/>
          <p:cNvSpPr txBox="1"/>
          <p:nvPr/>
        </p:nvSpPr>
        <p:spPr>
          <a:xfrm>
            <a:off x="1403350" y="3759200"/>
            <a:ext cx="541338" cy="519113"/>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当</a:t>
            </a:r>
            <a:endParaRPr lang="zh-CN" altLang="en-US" sz="2800" b="1" dirty="0">
              <a:solidFill>
                <a:schemeClr val="tx1"/>
              </a:solidFill>
              <a:latin typeface="楷体_GB2312" pitchFamily="49" charset="-122"/>
            </a:endParaRPr>
          </a:p>
        </p:txBody>
      </p:sp>
      <p:graphicFrame>
        <p:nvGraphicFramePr>
          <p:cNvPr id="36873" name="Object 13"/>
          <p:cNvGraphicFramePr>
            <a:graphicFrameLocks noChangeAspect="1"/>
          </p:cNvGraphicFramePr>
          <p:nvPr/>
        </p:nvGraphicFramePr>
        <p:xfrm>
          <a:off x="2052638" y="3621088"/>
          <a:ext cx="2444750" cy="779462"/>
        </p:xfrm>
        <a:graphic>
          <a:graphicData uri="http://schemas.openxmlformats.org/presentationml/2006/ole">
            <mc:AlternateContent xmlns:mc="http://schemas.openxmlformats.org/markup-compatibility/2006">
              <mc:Choice xmlns:v="urn:schemas-microsoft-com:vml" Requires="v">
                <p:oleObj spid="_x0000_s3155" name="" r:id="rId5" imgW="1104265" imgH="393700" progId="Equation.3">
                  <p:embed/>
                </p:oleObj>
              </mc:Choice>
              <mc:Fallback>
                <p:oleObj name="" r:id="rId5" imgW="1104265" imgH="393700" progId="Equation.3">
                  <p:embed/>
                  <p:pic>
                    <p:nvPicPr>
                      <p:cNvPr id="0" name="图片 3154"/>
                      <p:cNvPicPr/>
                      <p:nvPr/>
                    </p:nvPicPr>
                    <p:blipFill>
                      <a:blip r:embed="rId6"/>
                      <a:stretch>
                        <a:fillRect/>
                      </a:stretch>
                    </p:blipFill>
                    <p:spPr>
                      <a:xfrm>
                        <a:off x="2052638" y="3621088"/>
                        <a:ext cx="2444750" cy="779462"/>
                      </a:xfrm>
                      <a:prstGeom prst="rect">
                        <a:avLst/>
                      </a:prstGeom>
                      <a:solidFill>
                        <a:srgbClr val="CCFFFF"/>
                      </a:solidFill>
                      <a:ln w="38100">
                        <a:noFill/>
                        <a:miter/>
                      </a:ln>
                    </p:spPr>
                  </p:pic>
                </p:oleObj>
              </mc:Fallback>
            </mc:AlternateContent>
          </a:graphicData>
        </a:graphic>
      </p:graphicFrame>
      <p:sp>
        <p:nvSpPr>
          <p:cNvPr id="2277390" name="Text Box 14"/>
          <p:cNvSpPr txBox="1"/>
          <p:nvPr/>
        </p:nvSpPr>
        <p:spPr>
          <a:xfrm>
            <a:off x="4537075" y="3752850"/>
            <a:ext cx="898525" cy="519113"/>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时，</a:t>
            </a:r>
            <a:endParaRPr lang="zh-CN" altLang="en-US" sz="2800" b="1" dirty="0">
              <a:solidFill>
                <a:schemeClr val="tx1"/>
              </a:solidFill>
              <a:latin typeface="楷体_GB2312" pitchFamily="49" charset="-122"/>
            </a:endParaRPr>
          </a:p>
        </p:txBody>
      </p:sp>
      <p:graphicFrame>
        <p:nvGraphicFramePr>
          <p:cNvPr id="36875" name="Object 15"/>
          <p:cNvGraphicFramePr>
            <a:graphicFrameLocks noChangeAspect="1"/>
          </p:cNvGraphicFramePr>
          <p:nvPr/>
        </p:nvGraphicFramePr>
        <p:xfrm>
          <a:off x="5338763" y="3729038"/>
          <a:ext cx="1779587" cy="563562"/>
        </p:xfrm>
        <a:graphic>
          <a:graphicData uri="http://schemas.openxmlformats.org/presentationml/2006/ole">
            <mc:AlternateContent xmlns:mc="http://schemas.openxmlformats.org/markup-compatibility/2006">
              <mc:Choice xmlns:v="urn:schemas-microsoft-com:vml" Requires="v">
                <p:oleObj spid="_x0000_s3154" name="" r:id="rId7" imgW="748665" imgH="241300" progId="Equation.3">
                  <p:embed/>
                </p:oleObj>
              </mc:Choice>
              <mc:Fallback>
                <p:oleObj name="" r:id="rId7" imgW="748665" imgH="241300" progId="Equation.3">
                  <p:embed/>
                  <p:pic>
                    <p:nvPicPr>
                      <p:cNvPr id="0" name="图片 3153"/>
                      <p:cNvPicPr/>
                      <p:nvPr/>
                    </p:nvPicPr>
                    <p:blipFill>
                      <a:blip r:embed="rId8"/>
                      <a:stretch>
                        <a:fillRect/>
                      </a:stretch>
                    </p:blipFill>
                    <p:spPr>
                      <a:xfrm>
                        <a:off x="5338763" y="3729038"/>
                        <a:ext cx="1779587" cy="563562"/>
                      </a:xfrm>
                      <a:prstGeom prst="rect">
                        <a:avLst/>
                      </a:prstGeom>
                      <a:solidFill>
                        <a:srgbClr val="CCFFFF"/>
                      </a:solidFill>
                      <a:ln w="38100">
                        <a:noFill/>
                        <a:miter/>
                      </a:ln>
                    </p:spPr>
                  </p:pic>
                </p:oleObj>
              </mc:Fallback>
            </mc:AlternateContent>
          </a:graphicData>
        </a:graphic>
      </p:graphicFrame>
      <p:sp>
        <p:nvSpPr>
          <p:cNvPr id="2277392" name="Text Box 16"/>
          <p:cNvSpPr txBox="1"/>
          <p:nvPr/>
        </p:nvSpPr>
        <p:spPr>
          <a:xfrm>
            <a:off x="1403350" y="4559300"/>
            <a:ext cx="541338" cy="519113"/>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当</a:t>
            </a:r>
            <a:endParaRPr lang="zh-CN" altLang="en-US" sz="2800" b="1" dirty="0">
              <a:solidFill>
                <a:schemeClr val="tx1"/>
              </a:solidFill>
              <a:latin typeface="楷体_GB2312" pitchFamily="49" charset="-122"/>
            </a:endParaRPr>
          </a:p>
        </p:txBody>
      </p:sp>
      <p:graphicFrame>
        <p:nvGraphicFramePr>
          <p:cNvPr id="36877" name="Object 17"/>
          <p:cNvGraphicFramePr>
            <a:graphicFrameLocks noChangeAspect="1"/>
          </p:cNvGraphicFramePr>
          <p:nvPr/>
        </p:nvGraphicFramePr>
        <p:xfrm>
          <a:off x="2039938" y="4475163"/>
          <a:ext cx="2611437" cy="736600"/>
        </p:xfrm>
        <a:graphic>
          <a:graphicData uri="http://schemas.openxmlformats.org/presentationml/2006/ole">
            <mc:AlternateContent xmlns:mc="http://schemas.openxmlformats.org/markup-compatibility/2006">
              <mc:Choice xmlns:v="urn:schemas-microsoft-com:vml" Requires="v">
                <p:oleObj spid="_x0000_s3152" name="" r:id="rId9" imgW="1180465" imgH="393700" progId="Equation.3">
                  <p:embed/>
                </p:oleObj>
              </mc:Choice>
              <mc:Fallback>
                <p:oleObj name="" r:id="rId9" imgW="1180465" imgH="393700" progId="Equation.3">
                  <p:embed/>
                  <p:pic>
                    <p:nvPicPr>
                      <p:cNvPr id="0" name="图片 3151"/>
                      <p:cNvPicPr/>
                      <p:nvPr/>
                    </p:nvPicPr>
                    <p:blipFill>
                      <a:blip r:embed="rId10"/>
                      <a:stretch>
                        <a:fillRect/>
                      </a:stretch>
                    </p:blipFill>
                    <p:spPr>
                      <a:xfrm>
                        <a:off x="2039938" y="4475163"/>
                        <a:ext cx="2611437" cy="736600"/>
                      </a:xfrm>
                      <a:prstGeom prst="rect">
                        <a:avLst/>
                      </a:prstGeom>
                      <a:solidFill>
                        <a:srgbClr val="CCFFFF"/>
                      </a:solidFill>
                      <a:ln w="38100">
                        <a:noFill/>
                        <a:miter/>
                      </a:ln>
                    </p:spPr>
                  </p:pic>
                </p:oleObj>
              </mc:Fallback>
            </mc:AlternateContent>
          </a:graphicData>
        </a:graphic>
      </p:graphicFrame>
      <p:sp>
        <p:nvSpPr>
          <p:cNvPr id="2277394" name="Text Box 18"/>
          <p:cNvSpPr txBox="1"/>
          <p:nvPr/>
        </p:nvSpPr>
        <p:spPr>
          <a:xfrm>
            <a:off x="4643438" y="4543425"/>
            <a:ext cx="898525" cy="519113"/>
          </a:xfrm>
          <a:prstGeom prst="rect">
            <a:avLst/>
          </a:prstGeom>
          <a:noFill/>
          <a:ln w="9525">
            <a:noFill/>
          </a:ln>
        </p:spPr>
        <p:txBody>
          <a:bodyPr wrap="none">
            <a:spAutoFit/>
          </a:bodyPr>
          <a:p>
            <a:pPr algn="l" eaLnBrk="1" hangingPunct="1"/>
            <a:r>
              <a:rPr lang="zh-CN" altLang="en-US" sz="2800" b="1" dirty="0">
                <a:solidFill>
                  <a:schemeClr val="tx1"/>
                </a:solidFill>
                <a:latin typeface="楷体_GB2312" pitchFamily="49" charset="-122"/>
              </a:rPr>
              <a:t>时，</a:t>
            </a:r>
            <a:endParaRPr lang="zh-CN" altLang="en-US" sz="2800" b="1" dirty="0">
              <a:solidFill>
                <a:schemeClr val="tx1"/>
              </a:solidFill>
              <a:latin typeface="楷体_GB2312" pitchFamily="49" charset="-122"/>
            </a:endParaRPr>
          </a:p>
        </p:txBody>
      </p:sp>
      <p:graphicFrame>
        <p:nvGraphicFramePr>
          <p:cNvPr id="36879" name="Object 19"/>
          <p:cNvGraphicFramePr>
            <a:graphicFrameLocks noChangeAspect="1"/>
          </p:cNvGraphicFramePr>
          <p:nvPr/>
        </p:nvGraphicFramePr>
        <p:xfrm>
          <a:off x="5311775" y="4554538"/>
          <a:ext cx="1851025" cy="523875"/>
        </p:xfrm>
        <a:graphic>
          <a:graphicData uri="http://schemas.openxmlformats.org/presentationml/2006/ole">
            <mc:AlternateContent xmlns:mc="http://schemas.openxmlformats.org/markup-compatibility/2006">
              <mc:Choice xmlns:v="urn:schemas-microsoft-com:vml" Requires="v">
                <p:oleObj spid="_x0000_s3151" name="" r:id="rId11" imgW="837565" imgH="241300" progId="Equation.3">
                  <p:embed/>
                </p:oleObj>
              </mc:Choice>
              <mc:Fallback>
                <p:oleObj name="" r:id="rId11" imgW="837565" imgH="241300" progId="Equation.3">
                  <p:embed/>
                  <p:pic>
                    <p:nvPicPr>
                      <p:cNvPr id="0" name="图片 3150"/>
                      <p:cNvPicPr/>
                      <p:nvPr/>
                    </p:nvPicPr>
                    <p:blipFill>
                      <a:blip r:embed="rId12"/>
                      <a:stretch>
                        <a:fillRect/>
                      </a:stretch>
                    </p:blipFill>
                    <p:spPr>
                      <a:xfrm>
                        <a:off x="5311775" y="4554538"/>
                        <a:ext cx="1851025" cy="523875"/>
                      </a:xfrm>
                      <a:prstGeom prst="rect">
                        <a:avLst/>
                      </a:prstGeom>
                      <a:solidFill>
                        <a:srgbClr val="CCFFFF"/>
                      </a:solidFill>
                      <a:ln w="38100">
                        <a:noFill/>
                        <a:miter/>
                      </a:ln>
                    </p:spPr>
                  </p:pic>
                </p:oleObj>
              </mc:Fallback>
            </mc:AlternateContent>
          </a:graphicData>
        </a:graphic>
      </p:graphicFrame>
      <p:sp>
        <p:nvSpPr>
          <p:cNvPr id="2277396" name="Text Box 20"/>
          <p:cNvSpPr txBox="1"/>
          <p:nvPr/>
        </p:nvSpPr>
        <p:spPr>
          <a:xfrm>
            <a:off x="2916238" y="5048250"/>
            <a:ext cx="3552825" cy="1006475"/>
          </a:xfrm>
          <a:prstGeom prst="rect">
            <a:avLst/>
          </a:prstGeom>
          <a:noFill/>
          <a:ln w="9525">
            <a:noFill/>
          </a:ln>
        </p:spPr>
        <p:txBody>
          <a:bodyPr wrap="none">
            <a:spAutoFit/>
          </a:bodyPr>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a:p>
            <a:pPr algn="l" eaLnBrk="1" hangingPunct="1"/>
            <a:r>
              <a:rPr lang="zh-CN" altLang="en-US" sz="2000" b="1" dirty="0">
                <a:solidFill>
                  <a:schemeClr val="tx1"/>
                </a:solidFill>
                <a:latin typeface="Times New Roman" panose="02020603050405020304" pitchFamily="18" charset="0"/>
                <a:ea typeface="宋体" panose="02010600030101010101" pitchFamily="2" charset="-122"/>
              </a:rPr>
              <a:t>．                                             ．</a:t>
            </a:r>
            <a:endParaRPr lang="zh-CN" altLang="en-US" sz="2000" b="1" dirty="0">
              <a:solidFill>
                <a:schemeClr val="tx1"/>
              </a:solidFill>
              <a:latin typeface="Times New Roman" panose="02020603050405020304" pitchFamily="18" charset="0"/>
              <a:ea typeface="宋体" panose="02010600030101010101" pitchFamily="2" charset="-122"/>
            </a:endParaRPr>
          </a:p>
        </p:txBody>
      </p:sp>
      <p:sp>
        <p:nvSpPr>
          <p:cNvPr id="2277398" name="Text Box 2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7399" name="Text Box 23"/>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36883" name="Text Box 24"/>
          <p:cNvSpPr txBox="1"/>
          <p:nvPr/>
        </p:nvSpPr>
        <p:spPr>
          <a:xfrm>
            <a:off x="971550" y="1577975"/>
            <a:ext cx="33988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2.</a:t>
            </a:r>
            <a:r>
              <a:rPr lang="en-US" altLang="zh-CN" sz="2800" b="1">
                <a:solidFill>
                  <a:srgbClr val="333399"/>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有舍有入</a:t>
            </a:r>
            <a:r>
              <a:rPr lang="zh-CN" altLang="en-US" sz="2800" b="1" dirty="0">
                <a:solidFill>
                  <a:srgbClr val="333399"/>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的量化</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36884" name="Text Box 25"/>
          <p:cNvSpPr txBox="1"/>
          <p:nvPr/>
        </p:nvSpPr>
        <p:spPr>
          <a:xfrm>
            <a:off x="490538" y="873125"/>
            <a:ext cx="3360737"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2.7.2 </a:t>
            </a:r>
            <a:r>
              <a:rPr lang="zh-CN" altLang="en-US" sz="3200" b="1" dirty="0">
                <a:solidFill>
                  <a:srgbClr val="333399"/>
                </a:solidFill>
                <a:latin typeface="楷体_GB2312" pitchFamily="49" charset="-122"/>
              </a:rPr>
              <a:t>量化方法</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7402"/>
                                        </p:tgtEl>
                                        <p:attrNameLst>
                                          <p:attrName>style.visibility</p:attrName>
                                        </p:attrNameLst>
                                      </p:cBhvr>
                                      <p:to>
                                        <p:strVal val="visible"/>
                                      </p:to>
                                    </p:set>
                                    <p:animEffect transition="in" filter="dissolve">
                                      <p:cBhvr>
                                        <p:cTn id="7" dur="500"/>
                                        <p:tgtEl>
                                          <p:spTgt spid="22774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7383"/>
                                        </p:tgtEl>
                                        <p:attrNameLst>
                                          <p:attrName>style.visibility</p:attrName>
                                        </p:attrNameLst>
                                      </p:cBhvr>
                                      <p:to>
                                        <p:strVal val="visible"/>
                                      </p:to>
                                    </p:set>
                                    <p:animEffect transition="in" filter="dissolve">
                                      <p:cBhvr>
                                        <p:cTn id="12" dur="500"/>
                                        <p:tgtEl>
                                          <p:spTgt spid="22773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277384"/>
                                        </p:tgtEl>
                                        <p:attrNameLst>
                                          <p:attrName>style.visibility</p:attrName>
                                        </p:attrNameLst>
                                      </p:cBhvr>
                                      <p:to>
                                        <p:strVal val="visible"/>
                                      </p:to>
                                    </p:set>
                                    <p:animEffect transition="in" filter="wipe(left)">
                                      <p:cBhvr>
                                        <p:cTn id="17" dur="500"/>
                                        <p:tgtEl>
                                          <p:spTgt spid="2277384"/>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36869"/>
                                        </p:tgtEl>
                                        <p:attrNameLst>
                                          <p:attrName>style.visibility</p:attrName>
                                        </p:attrNameLst>
                                      </p:cBhvr>
                                      <p:to>
                                        <p:strVal val="visible"/>
                                      </p:to>
                                    </p:set>
                                    <p:animEffect transition="in" filter="wipe(left)">
                                      <p:cBhvr>
                                        <p:cTn id="21" dur="500"/>
                                        <p:tgtEl>
                                          <p:spTgt spid="36869"/>
                                        </p:tgtEl>
                                      </p:cBhvr>
                                    </p:animEffect>
                                  </p:child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2277386"/>
                                        </p:tgtEl>
                                        <p:attrNameLst>
                                          <p:attrName>style.visibility</p:attrName>
                                        </p:attrNameLst>
                                      </p:cBhvr>
                                      <p:to>
                                        <p:strVal val="visible"/>
                                      </p:to>
                                    </p:set>
                                    <p:animEffect transition="in" filter="wipe(left)">
                                      <p:cBhvr>
                                        <p:cTn id="25" dur="500"/>
                                        <p:tgtEl>
                                          <p:spTgt spid="2277386"/>
                                        </p:tgtEl>
                                      </p:cBhvr>
                                    </p:animEffect>
                                  </p:childTnLst>
                                </p:cTn>
                              </p:par>
                            </p:childTnLst>
                          </p:cTn>
                        </p:par>
                        <p:par>
                          <p:cTn id="26" fill="hold">
                            <p:stCondLst>
                              <p:cond delay="1500"/>
                            </p:stCondLst>
                            <p:childTnLst>
                              <p:par>
                                <p:cTn id="27" presetID="22" presetClass="entr" presetSubtype="8" fill="hold" nodeType="afterEffect">
                                  <p:stCondLst>
                                    <p:cond delay="0"/>
                                  </p:stCondLst>
                                  <p:childTnLst>
                                    <p:set>
                                      <p:cBhvr>
                                        <p:cTn id="28" dur="1" fill="hold">
                                          <p:stCondLst>
                                            <p:cond delay="0"/>
                                          </p:stCondLst>
                                        </p:cTn>
                                        <p:tgtEl>
                                          <p:spTgt spid="36871"/>
                                        </p:tgtEl>
                                        <p:attrNameLst>
                                          <p:attrName>style.visibility</p:attrName>
                                        </p:attrNameLst>
                                      </p:cBhvr>
                                      <p:to>
                                        <p:strVal val="visible"/>
                                      </p:to>
                                    </p:set>
                                    <p:animEffect transition="in" filter="wipe(left)">
                                      <p:cBhvr>
                                        <p:cTn id="29" dur="500"/>
                                        <p:tgtEl>
                                          <p:spTgt spid="36871"/>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277388"/>
                                        </p:tgtEl>
                                        <p:attrNameLst>
                                          <p:attrName>style.visibility</p:attrName>
                                        </p:attrNameLst>
                                      </p:cBhvr>
                                      <p:to>
                                        <p:strVal val="visible"/>
                                      </p:to>
                                    </p:set>
                                    <p:animEffect transition="in" filter="wipe(left)">
                                      <p:cBhvr>
                                        <p:cTn id="34" dur="500"/>
                                        <p:tgtEl>
                                          <p:spTgt spid="2277388"/>
                                        </p:tgtEl>
                                      </p:cBhvr>
                                    </p:animEffect>
                                  </p:childTnLst>
                                </p:cTn>
                              </p:par>
                            </p:childTnLst>
                          </p:cTn>
                        </p:par>
                        <p:par>
                          <p:cTn id="35" fill="hold">
                            <p:stCondLst>
                              <p:cond delay="500"/>
                            </p:stCondLst>
                            <p:childTnLst>
                              <p:par>
                                <p:cTn id="36" presetID="22" presetClass="entr" presetSubtype="8" fill="hold" nodeType="afterEffect">
                                  <p:stCondLst>
                                    <p:cond delay="0"/>
                                  </p:stCondLst>
                                  <p:childTnLst>
                                    <p:set>
                                      <p:cBhvr>
                                        <p:cTn id="37" dur="1" fill="hold">
                                          <p:stCondLst>
                                            <p:cond delay="0"/>
                                          </p:stCondLst>
                                        </p:cTn>
                                        <p:tgtEl>
                                          <p:spTgt spid="36873"/>
                                        </p:tgtEl>
                                        <p:attrNameLst>
                                          <p:attrName>style.visibility</p:attrName>
                                        </p:attrNameLst>
                                      </p:cBhvr>
                                      <p:to>
                                        <p:strVal val="visible"/>
                                      </p:to>
                                    </p:set>
                                    <p:animEffect transition="in" filter="wipe(left)">
                                      <p:cBhvr>
                                        <p:cTn id="38" dur="500"/>
                                        <p:tgtEl>
                                          <p:spTgt spid="36873"/>
                                        </p:tgtEl>
                                      </p:cBhvr>
                                    </p:animEffect>
                                  </p:childTnLst>
                                </p:cTn>
                              </p:par>
                            </p:childTnLst>
                          </p:cTn>
                        </p:par>
                        <p:par>
                          <p:cTn id="39" fill="hold">
                            <p:stCondLst>
                              <p:cond delay="1000"/>
                            </p:stCondLst>
                            <p:childTnLst>
                              <p:par>
                                <p:cTn id="40" presetID="22" presetClass="entr" presetSubtype="8" fill="hold" grpId="0" nodeType="afterEffect">
                                  <p:stCondLst>
                                    <p:cond delay="0"/>
                                  </p:stCondLst>
                                  <p:childTnLst>
                                    <p:set>
                                      <p:cBhvr>
                                        <p:cTn id="41" dur="1" fill="hold">
                                          <p:stCondLst>
                                            <p:cond delay="0"/>
                                          </p:stCondLst>
                                        </p:cTn>
                                        <p:tgtEl>
                                          <p:spTgt spid="2277390"/>
                                        </p:tgtEl>
                                        <p:attrNameLst>
                                          <p:attrName>style.visibility</p:attrName>
                                        </p:attrNameLst>
                                      </p:cBhvr>
                                      <p:to>
                                        <p:strVal val="visible"/>
                                      </p:to>
                                    </p:set>
                                    <p:animEffect transition="in" filter="wipe(left)">
                                      <p:cBhvr>
                                        <p:cTn id="42" dur="500"/>
                                        <p:tgtEl>
                                          <p:spTgt spid="2277390"/>
                                        </p:tgtEl>
                                      </p:cBhvr>
                                    </p:animEffect>
                                  </p:childTnLst>
                                </p:cTn>
                              </p:par>
                            </p:childTnLst>
                          </p:cTn>
                        </p:par>
                        <p:par>
                          <p:cTn id="43" fill="hold">
                            <p:stCondLst>
                              <p:cond delay="1500"/>
                            </p:stCondLst>
                            <p:childTnLst>
                              <p:par>
                                <p:cTn id="44" presetID="22" presetClass="entr" presetSubtype="8" fill="hold" nodeType="afterEffect">
                                  <p:stCondLst>
                                    <p:cond delay="0"/>
                                  </p:stCondLst>
                                  <p:childTnLst>
                                    <p:set>
                                      <p:cBhvr>
                                        <p:cTn id="45" dur="1" fill="hold">
                                          <p:stCondLst>
                                            <p:cond delay="0"/>
                                          </p:stCondLst>
                                        </p:cTn>
                                        <p:tgtEl>
                                          <p:spTgt spid="36875"/>
                                        </p:tgtEl>
                                        <p:attrNameLst>
                                          <p:attrName>style.visibility</p:attrName>
                                        </p:attrNameLst>
                                      </p:cBhvr>
                                      <p:to>
                                        <p:strVal val="visible"/>
                                      </p:to>
                                    </p:set>
                                    <p:animEffect transition="in" filter="wipe(left)">
                                      <p:cBhvr>
                                        <p:cTn id="46" dur="500"/>
                                        <p:tgtEl>
                                          <p:spTgt spid="36875"/>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2277392"/>
                                        </p:tgtEl>
                                        <p:attrNameLst>
                                          <p:attrName>style.visibility</p:attrName>
                                        </p:attrNameLst>
                                      </p:cBhvr>
                                      <p:to>
                                        <p:strVal val="visible"/>
                                      </p:to>
                                    </p:set>
                                    <p:animEffect transition="in" filter="wipe(left)">
                                      <p:cBhvr>
                                        <p:cTn id="51" dur="500"/>
                                        <p:tgtEl>
                                          <p:spTgt spid="2277392"/>
                                        </p:tgtEl>
                                      </p:cBhvr>
                                    </p:animEffect>
                                  </p:childTnLst>
                                </p:cTn>
                              </p:par>
                            </p:childTnLst>
                          </p:cTn>
                        </p:par>
                        <p:par>
                          <p:cTn id="52" fill="hold">
                            <p:stCondLst>
                              <p:cond delay="500"/>
                            </p:stCondLst>
                            <p:childTnLst>
                              <p:par>
                                <p:cTn id="53" presetID="22" presetClass="entr" presetSubtype="8" fill="hold" nodeType="afterEffect">
                                  <p:stCondLst>
                                    <p:cond delay="0"/>
                                  </p:stCondLst>
                                  <p:childTnLst>
                                    <p:set>
                                      <p:cBhvr>
                                        <p:cTn id="54" dur="1" fill="hold">
                                          <p:stCondLst>
                                            <p:cond delay="0"/>
                                          </p:stCondLst>
                                        </p:cTn>
                                        <p:tgtEl>
                                          <p:spTgt spid="36877"/>
                                        </p:tgtEl>
                                        <p:attrNameLst>
                                          <p:attrName>style.visibility</p:attrName>
                                        </p:attrNameLst>
                                      </p:cBhvr>
                                      <p:to>
                                        <p:strVal val="visible"/>
                                      </p:to>
                                    </p:set>
                                    <p:animEffect transition="in" filter="wipe(left)">
                                      <p:cBhvr>
                                        <p:cTn id="55" dur="500"/>
                                        <p:tgtEl>
                                          <p:spTgt spid="36877"/>
                                        </p:tgtEl>
                                      </p:cBhvr>
                                    </p:animEffect>
                                  </p:childTnLst>
                                </p:cTn>
                              </p:par>
                            </p:childTnLst>
                          </p:cTn>
                        </p:par>
                        <p:par>
                          <p:cTn id="56" fill="hold">
                            <p:stCondLst>
                              <p:cond delay="1000"/>
                            </p:stCondLst>
                            <p:childTnLst>
                              <p:par>
                                <p:cTn id="57" presetID="22" presetClass="entr" presetSubtype="8" fill="hold" grpId="0" nodeType="afterEffect">
                                  <p:stCondLst>
                                    <p:cond delay="0"/>
                                  </p:stCondLst>
                                  <p:childTnLst>
                                    <p:set>
                                      <p:cBhvr>
                                        <p:cTn id="58" dur="1" fill="hold">
                                          <p:stCondLst>
                                            <p:cond delay="0"/>
                                          </p:stCondLst>
                                        </p:cTn>
                                        <p:tgtEl>
                                          <p:spTgt spid="2277394"/>
                                        </p:tgtEl>
                                        <p:attrNameLst>
                                          <p:attrName>style.visibility</p:attrName>
                                        </p:attrNameLst>
                                      </p:cBhvr>
                                      <p:to>
                                        <p:strVal val="visible"/>
                                      </p:to>
                                    </p:set>
                                    <p:animEffect transition="in" filter="wipe(left)">
                                      <p:cBhvr>
                                        <p:cTn id="59" dur="500"/>
                                        <p:tgtEl>
                                          <p:spTgt spid="2277394"/>
                                        </p:tgtEl>
                                      </p:cBhvr>
                                    </p:animEffect>
                                  </p:childTnLst>
                                </p:cTn>
                              </p:par>
                            </p:childTnLst>
                          </p:cTn>
                        </p:par>
                        <p:par>
                          <p:cTn id="60" fill="hold">
                            <p:stCondLst>
                              <p:cond delay="1500"/>
                            </p:stCondLst>
                            <p:childTnLst>
                              <p:par>
                                <p:cTn id="61" presetID="22" presetClass="entr" presetSubtype="8" fill="hold" nodeType="afterEffect">
                                  <p:stCondLst>
                                    <p:cond delay="0"/>
                                  </p:stCondLst>
                                  <p:childTnLst>
                                    <p:set>
                                      <p:cBhvr>
                                        <p:cTn id="62" dur="1" fill="hold">
                                          <p:stCondLst>
                                            <p:cond delay="0"/>
                                          </p:stCondLst>
                                        </p:cTn>
                                        <p:tgtEl>
                                          <p:spTgt spid="36879"/>
                                        </p:tgtEl>
                                        <p:attrNameLst>
                                          <p:attrName>style.visibility</p:attrName>
                                        </p:attrNameLst>
                                      </p:cBhvr>
                                      <p:to>
                                        <p:strVal val="visible"/>
                                      </p:to>
                                    </p:set>
                                    <p:animEffect transition="in" filter="wipe(left)">
                                      <p:cBhvr>
                                        <p:cTn id="63" dur="500"/>
                                        <p:tgtEl>
                                          <p:spTgt spid="36879"/>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grpId="0" nodeType="clickEffect">
                                  <p:stCondLst>
                                    <p:cond delay="0"/>
                                  </p:stCondLst>
                                  <p:childTnLst>
                                    <p:set>
                                      <p:cBhvr>
                                        <p:cTn id="67" dur="1" fill="hold">
                                          <p:stCondLst>
                                            <p:cond delay="0"/>
                                          </p:stCondLst>
                                        </p:cTn>
                                        <p:tgtEl>
                                          <p:spTgt spid="2277396"/>
                                        </p:tgtEl>
                                        <p:attrNameLst>
                                          <p:attrName>style.visibility</p:attrName>
                                        </p:attrNameLst>
                                      </p:cBhvr>
                                      <p:to>
                                        <p:strVal val="visible"/>
                                      </p:to>
                                    </p:set>
                                    <p:animEffect transition="in" filter="wipe(up)">
                                      <p:cBhvr>
                                        <p:cTn id="68" dur="500"/>
                                        <p:tgtEl>
                                          <p:spTgt spid="22773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7402" grpId="0" bldLvl="0" animBg="1"/>
      <p:bldP spid="2277383" grpId="0"/>
      <p:bldP spid="2277384" grpId="0"/>
      <p:bldP spid="2277386" grpId="0"/>
      <p:bldP spid="2277388" grpId="0"/>
      <p:bldP spid="2277390" grpId="0"/>
      <p:bldP spid="2277392" grpId="0"/>
      <p:bldP spid="2277394" grpId="0"/>
      <p:bldP spid="2277396"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8413" name="Text Box 1037"/>
          <p:cNvSpPr txBox="1"/>
          <p:nvPr/>
        </p:nvSpPr>
        <p:spPr>
          <a:xfrm>
            <a:off x="1908175" y="765175"/>
            <a:ext cx="6840538" cy="101600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spcBef>
                <a:spcPct val="50000"/>
              </a:spcBef>
            </a:pPr>
            <a:r>
              <a:rPr lang="zh-CN" altLang="en-US" sz="2000" b="1" dirty="0">
                <a:solidFill>
                  <a:schemeClr val="tx1"/>
                </a:solidFill>
                <a:latin typeface="黑体" panose="02010609060101010101" pitchFamily="49" charset="-122"/>
                <a:ea typeface="黑体" panose="02010609060101010101" pitchFamily="49" charset="-122"/>
              </a:rPr>
              <a:t>设来自传感器的模拟信号的电压是在</a:t>
            </a:r>
            <a:r>
              <a:rPr lang="en-US" altLang="zh-CN" sz="2000" b="1">
                <a:solidFill>
                  <a:schemeClr val="tx1"/>
                </a:solidFill>
                <a:latin typeface="黑体" panose="02010609060101010101" pitchFamily="49" charset="-122"/>
                <a:ea typeface="黑体" panose="02010609060101010101" pitchFamily="49" charset="-122"/>
              </a:rPr>
              <a:t>0</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范围内变化，如下图</a:t>
            </a:r>
            <a:r>
              <a:rPr lang="en-US" altLang="zh-CN" sz="2000" b="1">
                <a:solidFill>
                  <a:schemeClr val="tx1"/>
                </a:solidFill>
                <a:latin typeface="黑体" panose="02010609060101010101" pitchFamily="49" charset="-122"/>
                <a:ea typeface="黑体" panose="02010609060101010101" pitchFamily="49" charset="-122"/>
              </a:rPr>
              <a:t>(a)</a:t>
            </a:r>
            <a:r>
              <a:rPr lang="zh-CN" altLang="en-US" sz="2000" b="1" dirty="0">
                <a:solidFill>
                  <a:schemeClr val="tx1"/>
                </a:solidFill>
                <a:latin typeface="黑体" panose="02010609060101010101" pitchFamily="49" charset="-122"/>
                <a:ea typeface="黑体" panose="02010609060101010101" pitchFamily="49" charset="-122"/>
              </a:rPr>
              <a:t>中虚线所示。现用</a:t>
            </a:r>
            <a:r>
              <a:rPr lang="en-US" altLang="zh-CN" sz="2000" b="1">
                <a:solidFill>
                  <a:schemeClr val="tx1"/>
                </a:solidFill>
                <a:latin typeface="黑体" panose="02010609060101010101" pitchFamily="49" charset="-122"/>
                <a:ea typeface="黑体" panose="02010609060101010101" pitchFamily="49" charset="-122"/>
              </a:rPr>
              <a:t>1V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2V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3V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4V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（即量化单位</a:t>
            </a:r>
            <a:r>
              <a:rPr lang="en-US" altLang="zh-CN" sz="2000" b="1">
                <a:solidFill>
                  <a:schemeClr val="tx1"/>
                </a:solidFill>
                <a:latin typeface="黑体" panose="02010609060101010101" pitchFamily="49" charset="-122"/>
                <a:ea typeface="黑体" panose="02010609060101010101" pitchFamily="49" charset="-122"/>
              </a:rPr>
              <a:t>1V</a:t>
            </a:r>
            <a:r>
              <a:rPr lang="zh-CN" altLang="en-US" sz="2000" b="1" dirty="0">
                <a:solidFill>
                  <a:schemeClr val="tx1"/>
                </a:solidFill>
                <a:latin typeface="黑体" panose="02010609060101010101" pitchFamily="49" charset="-122"/>
                <a:ea typeface="黑体" panose="02010609060101010101" pitchFamily="49" charset="-122"/>
              </a:rPr>
              <a:t>）五个电平近似取代 </a:t>
            </a:r>
            <a:r>
              <a:rPr lang="en-US" altLang="zh-CN" sz="2000" b="1">
                <a:solidFill>
                  <a:schemeClr val="tx1"/>
                </a:solidFill>
                <a:latin typeface="黑体" panose="02010609060101010101" pitchFamily="49" charset="-122"/>
                <a:ea typeface="黑体" panose="02010609060101010101" pitchFamily="49" charset="-122"/>
              </a:rPr>
              <a:t>0</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范围内变化的采样信号。</a:t>
            </a:r>
            <a:endParaRPr lang="zh-CN" altLang="en-US" sz="2000" b="1" dirty="0">
              <a:solidFill>
                <a:schemeClr val="tx1"/>
              </a:solidFill>
              <a:latin typeface="黑体" panose="02010609060101010101" pitchFamily="49" charset="-122"/>
              <a:ea typeface="黑体" panose="02010609060101010101" pitchFamily="49" charset="-122"/>
            </a:endParaRPr>
          </a:p>
        </p:txBody>
      </p:sp>
      <p:sp>
        <p:nvSpPr>
          <p:cNvPr id="2278416" name="Text Box 104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78417" name="Text Box 1041"/>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78418" name="Text Box 1042"/>
          <p:cNvSpPr txBox="1"/>
          <p:nvPr/>
        </p:nvSpPr>
        <p:spPr>
          <a:xfrm>
            <a:off x="369888" y="728663"/>
            <a:ext cx="1249362" cy="1076325"/>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量化实例：</a:t>
            </a:r>
            <a:endParaRPr lang="zh-CN" altLang="en-US" sz="3200" b="1" dirty="0">
              <a:solidFill>
                <a:srgbClr val="333399"/>
              </a:solidFill>
              <a:latin typeface="黑体" panose="02010609060101010101" pitchFamily="49" charset="-122"/>
              <a:ea typeface="黑体" panose="02010609060101010101" pitchFamily="49" charset="-122"/>
            </a:endParaRPr>
          </a:p>
        </p:txBody>
      </p:sp>
      <p:grpSp>
        <p:nvGrpSpPr>
          <p:cNvPr id="37962" name="组合 37961"/>
          <p:cNvGrpSpPr/>
          <p:nvPr/>
        </p:nvGrpSpPr>
        <p:grpSpPr>
          <a:xfrm>
            <a:off x="323850" y="1785938"/>
            <a:ext cx="3967163" cy="3735387"/>
            <a:chOff x="204" y="1125"/>
            <a:chExt cx="2499" cy="2353"/>
          </a:xfrm>
        </p:grpSpPr>
        <p:grpSp>
          <p:nvGrpSpPr>
            <p:cNvPr id="2278419" name="Group 1043"/>
            <p:cNvGrpSpPr/>
            <p:nvPr/>
          </p:nvGrpSpPr>
          <p:grpSpPr>
            <a:xfrm>
              <a:off x="1394" y="1158"/>
              <a:ext cx="350" cy="250"/>
              <a:chOff x="1367" y="393"/>
              <a:chExt cx="350" cy="250"/>
            </a:xfrm>
          </p:grpSpPr>
          <p:sp>
            <p:nvSpPr>
              <p:cNvPr id="37959" name="AutoShape 1044"/>
              <p:cNvSpPr/>
              <p:nvPr/>
            </p:nvSpPr>
            <p:spPr>
              <a:xfrm>
                <a:off x="1367" y="417"/>
                <a:ext cx="326" cy="217"/>
              </a:xfrm>
              <a:prstGeom prst="wedgeRectCallout">
                <a:avLst>
                  <a:gd name="adj1" fmla="val -54602"/>
                  <a:gd name="adj2" fmla="val 150921"/>
                </a:avLst>
              </a:prstGeom>
              <a:solidFill>
                <a:srgbClr val="CCFFFF"/>
              </a:solidFill>
              <a:ln w="9525" cap="flat" cmpd="sng">
                <a:solidFill>
                  <a:srgbClr val="CCFFFF"/>
                </a:solidFill>
                <a:prstDash val="solid"/>
                <a:miter/>
                <a:headEnd type="none" w="med" len="med"/>
                <a:tailEnd type="none" w="sm" len="lg"/>
              </a:ln>
            </p:spPr>
            <p:txBody>
              <a:bodyPr anchor="ctr" anchorCtr="0"/>
              <a:p>
                <a:pPr algn="ctr" eaLnBrk="1" hangingPunct="1"/>
                <a:endParaRPr lang="zh-CN" altLang="zh-CN" b="1" dirty="0">
                  <a:solidFill>
                    <a:srgbClr val="333399"/>
                  </a:solidFill>
                  <a:latin typeface="楷体_GB2312" pitchFamily="49" charset="-122"/>
                </a:endParaRPr>
              </a:p>
            </p:txBody>
          </p:sp>
          <p:sp>
            <p:nvSpPr>
              <p:cNvPr id="37960" name="Text Box 1045"/>
              <p:cNvSpPr txBox="1"/>
              <p:nvPr/>
            </p:nvSpPr>
            <p:spPr>
              <a:xfrm>
                <a:off x="1371" y="393"/>
                <a:ext cx="346" cy="250"/>
              </a:xfrm>
              <a:prstGeom prst="rect">
                <a:avLst/>
              </a:prstGeom>
              <a:noFill/>
              <a:ln w="9525">
                <a:noFill/>
              </a:ln>
            </p:spPr>
            <p:txBody>
              <a:bodyPr>
                <a:spAutoFit/>
              </a:bodyPr>
              <a:p>
                <a:pPr algn="ctr" eaLnBrk="1" hangingPunct="1"/>
                <a:r>
                  <a:rPr lang="en-US" altLang="zh-CN" sz="2000" b="1" i="1" err="1">
                    <a:solidFill>
                      <a:srgbClr val="333399"/>
                    </a:solidFill>
                    <a:latin typeface="Times New Roman" panose="02020603050405020304" pitchFamily="18" charset="0"/>
                  </a:rPr>
                  <a:t>x(t</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grpSp>
        <p:sp>
          <p:nvSpPr>
            <p:cNvPr id="2278422" name="Line 1046"/>
            <p:cNvSpPr/>
            <p:nvPr/>
          </p:nvSpPr>
          <p:spPr>
            <a:xfrm>
              <a:off x="503" y="2994"/>
              <a:ext cx="2062" cy="0"/>
            </a:xfrm>
            <a:prstGeom prst="line">
              <a:avLst/>
            </a:prstGeom>
            <a:ln w="9525" cap="flat" cmpd="sng">
              <a:solidFill>
                <a:srgbClr val="3333FF"/>
              </a:solidFill>
              <a:prstDash val="solid"/>
              <a:headEnd type="none" w="med" len="med"/>
              <a:tailEnd type="triangle" w="sm" len="lg"/>
            </a:ln>
          </p:spPr>
        </p:sp>
        <p:sp>
          <p:nvSpPr>
            <p:cNvPr id="2278423" name="Text Box 1047"/>
            <p:cNvSpPr txBox="1"/>
            <p:nvPr/>
          </p:nvSpPr>
          <p:spPr>
            <a:xfrm>
              <a:off x="2543" y="2877"/>
              <a:ext cx="160"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endParaRPr lang="en-US" altLang="zh-CN" sz="2000" b="1" i="1">
                <a:solidFill>
                  <a:srgbClr val="333399"/>
                </a:solidFill>
                <a:latin typeface="Times New Roman" panose="02020603050405020304" pitchFamily="18" charset="0"/>
              </a:endParaRPr>
            </a:p>
          </p:txBody>
        </p:sp>
        <p:sp>
          <p:nvSpPr>
            <p:cNvPr id="2278424" name="Line 1048"/>
            <p:cNvSpPr/>
            <p:nvPr/>
          </p:nvSpPr>
          <p:spPr>
            <a:xfrm flipV="1">
              <a:off x="503" y="1207"/>
              <a:ext cx="0" cy="1787"/>
            </a:xfrm>
            <a:prstGeom prst="line">
              <a:avLst/>
            </a:prstGeom>
            <a:ln w="9525" cap="flat" cmpd="sng">
              <a:solidFill>
                <a:srgbClr val="3333FF"/>
              </a:solidFill>
              <a:prstDash val="solid"/>
              <a:headEnd type="none" w="med" len="med"/>
              <a:tailEnd type="triangle" w="sm" len="lg"/>
            </a:ln>
          </p:spPr>
        </p:sp>
        <p:sp>
          <p:nvSpPr>
            <p:cNvPr id="2278425" name="Text Box 1049"/>
            <p:cNvSpPr txBox="1"/>
            <p:nvPr/>
          </p:nvSpPr>
          <p:spPr>
            <a:xfrm>
              <a:off x="204" y="1125"/>
              <a:ext cx="261"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U</a:t>
              </a:r>
              <a:r>
                <a:rPr lang="en-US" altLang="zh-CN" sz="2000" b="1" i="1" baseline="-25000" err="1">
                  <a:solidFill>
                    <a:srgbClr val="333399"/>
                  </a:solidFill>
                  <a:latin typeface="Times New Roman" panose="02020603050405020304" pitchFamily="18" charset="0"/>
                </a:rPr>
                <a:t>i</a:t>
              </a:r>
              <a:endParaRPr lang="en-US" altLang="zh-CN" sz="2000" b="1" i="1" baseline="-25000" err="1">
                <a:solidFill>
                  <a:srgbClr val="333399"/>
                </a:solidFill>
                <a:latin typeface="Times New Roman" panose="02020603050405020304" pitchFamily="18" charset="0"/>
              </a:endParaRPr>
            </a:p>
          </p:txBody>
        </p:sp>
        <p:sp>
          <p:nvSpPr>
            <p:cNvPr id="2278426" name="Freeform 1050"/>
            <p:cNvSpPr/>
            <p:nvPr/>
          </p:nvSpPr>
          <p:spPr>
            <a:xfrm>
              <a:off x="578" y="1614"/>
              <a:ext cx="1644" cy="1338"/>
            </a:xfrm>
            <a:custGeom>
              <a:avLst/>
              <a:gdLst/>
              <a:ahLst/>
              <a:cxnLst>
                <a:cxn ang="0">
                  <a:pos x="0" y="2147483647"/>
                </a:cxn>
                <a:cxn ang="0">
                  <a:pos x="209173763" y="2147483647"/>
                </a:cxn>
                <a:cxn ang="0">
                  <a:pos x="378023438" y="2147483647"/>
                </a:cxn>
                <a:cxn ang="0">
                  <a:pos x="546874700" y="2147483647"/>
                </a:cxn>
                <a:cxn ang="0">
                  <a:pos x="693043763" y="2147483647"/>
                </a:cxn>
                <a:cxn ang="0">
                  <a:pos x="798890325" y="2147483647"/>
                </a:cxn>
                <a:cxn ang="0">
                  <a:pos x="861893438" y="2089210325"/>
                </a:cxn>
                <a:cxn ang="0">
                  <a:pos x="904736888" y="1837194700"/>
                </a:cxn>
                <a:cxn ang="0">
                  <a:pos x="967740000" y="1499493763"/>
                </a:cxn>
                <a:cxn ang="0">
                  <a:pos x="1030744700" y="1164312188"/>
                </a:cxn>
                <a:cxn ang="0">
                  <a:pos x="1176913763" y="763608138"/>
                </a:cxn>
                <a:cxn ang="0">
                  <a:pos x="1325602188" y="448587813"/>
                </a:cxn>
                <a:cxn ang="0">
                  <a:pos x="1471771250" y="259576888"/>
                </a:cxn>
                <a:cxn ang="0">
                  <a:pos x="1852315638" y="27722513"/>
                </a:cxn>
                <a:cxn ang="0">
                  <a:pos x="2147483647" y="90725625"/>
                </a:cxn>
                <a:cxn ang="0">
                  <a:pos x="2147483647" y="259576888"/>
                </a:cxn>
                <a:cxn ang="0">
                  <a:pos x="2147483647" y="617439075"/>
                </a:cxn>
                <a:cxn ang="0">
                  <a:pos x="2147483647" y="952619063"/>
                </a:cxn>
                <a:cxn ang="0">
                  <a:pos x="2147483647" y="1330642500"/>
                </a:cxn>
                <a:cxn ang="0">
                  <a:pos x="2147483647" y="1479332513"/>
                </a:cxn>
                <a:cxn ang="0">
                  <a:pos x="2147483647" y="1648182188"/>
                </a:cxn>
                <a:cxn ang="0">
                  <a:pos x="2147483647" y="1774190000"/>
                </a:cxn>
              </a:cxnLst>
              <a:pathLst>
                <a:path w="1644" h="1338">
                  <a:moveTo>
                    <a:pt x="0" y="1338"/>
                  </a:moveTo>
                  <a:cubicBezTo>
                    <a:pt x="29" y="1325"/>
                    <a:pt x="58" y="1313"/>
                    <a:pt x="83" y="1296"/>
                  </a:cubicBezTo>
                  <a:cubicBezTo>
                    <a:pt x="108" y="1279"/>
                    <a:pt x="128" y="1262"/>
                    <a:pt x="150" y="1238"/>
                  </a:cubicBezTo>
                  <a:cubicBezTo>
                    <a:pt x="172" y="1214"/>
                    <a:pt x="196" y="1185"/>
                    <a:pt x="217" y="1154"/>
                  </a:cubicBezTo>
                  <a:cubicBezTo>
                    <a:pt x="238" y="1123"/>
                    <a:pt x="258" y="1090"/>
                    <a:pt x="275" y="1054"/>
                  </a:cubicBezTo>
                  <a:cubicBezTo>
                    <a:pt x="292" y="1018"/>
                    <a:pt x="306" y="974"/>
                    <a:pt x="317" y="937"/>
                  </a:cubicBezTo>
                  <a:cubicBezTo>
                    <a:pt x="328" y="900"/>
                    <a:pt x="335" y="864"/>
                    <a:pt x="342" y="829"/>
                  </a:cubicBezTo>
                  <a:cubicBezTo>
                    <a:pt x="349" y="794"/>
                    <a:pt x="352" y="768"/>
                    <a:pt x="359" y="729"/>
                  </a:cubicBezTo>
                  <a:cubicBezTo>
                    <a:pt x="366" y="690"/>
                    <a:pt x="376" y="639"/>
                    <a:pt x="384" y="595"/>
                  </a:cubicBezTo>
                  <a:cubicBezTo>
                    <a:pt x="392" y="551"/>
                    <a:pt x="395" y="511"/>
                    <a:pt x="409" y="462"/>
                  </a:cubicBezTo>
                  <a:cubicBezTo>
                    <a:pt x="423" y="413"/>
                    <a:pt x="447" y="350"/>
                    <a:pt x="467" y="303"/>
                  </a:cubicBezTo>
                  <a:cubicBezTo>
                    <a:pt x="487" y="256"/>
                    <a:pt x="507" y="211"/>
                    <a:pt x="526" y="178"/>
                  </a:cubicBezTo>
                  <a:cubicBezTo>
                    <a:pt x="545" y="145"/>
                    <a:pt x="549" y="131"/>
                    <a:pt x="584" y="103"/>
                  </a:cubicBezTo>
                  <a:cubicBezTo>
                    <a:pt x="619" y="75"/>
                    <a:pt x="679" y="22"/>
                    <a:pt x="735" y="11"/>
                  </a:cubicBezTo>
                  <a:cubicBezTo>
                    <a:pt x="791" y="0"/>
                    <a:pt x="871" y="21"/>
                    <a:pt x="918" y="36"/>
                  </a:cubicBezTo>
                  <a:cubicBezTo>
                    <a:pt x="965" y="51"/>
                    <a:pt x="989" y="68"/>
                    <a:pt x="1018" y="103"/>
                  </a:cubicBezTo>
                  <a:cubicBezTo>
                    <a:pt x="1047" y="138"/>
                    <a:pt x="1068" y="199"/>
                    <a:pt x="1094" y="245"/>
                  </a:cubicBezTo>
                  <a:cubicBezTo>
                    <a:pt x="1120" y="291"/>
                    <a:pt x="1141" y="331"/>
                    <a:pt x="1177" y="378"/>
                  </a:cubicBezTo>
                  <a:cubicBezTo>
                    <a:pt x="1213" y="425"/>
                    <a:pt x="1273" y="493"/>
                    <a:pt x="1311" y="528"/>
                  </a:cubicBezTo>
                  <a:cubicBezTo>
                    <a:pt x="1349" y="563"/>
                    <a:pt x="1370" y="566"/>
                    <a:pt x="1402" y="587"/>
                  </a:cubicBezTo>
                  <a:cubicBezTo>
                    <a:pt x="1434" y="608"/>
                    <a:pt x="1463" y="635"/>
                    <a:pt x="1503" y="654"/>
                  </a:cubicBezTo>
                  <a:cubicBezTo>
                    <a:pt x="1543" y="673"/>
                    <a:pt x="1593" y="688"/>
                    <a:pt x="1644" y="704"/>
                  </a:cubicBezTo>
                </a:path>
              </a:pathLst>
            </a:custGeom>
            <a:noFill/>
            <a:ln w="9525" cap="flat" cmpd="sng">
              <a:solidFill>
                <a:srgbClr val="FF0000">
                  <a:alpha val="100000"/>
                </a:srgbClr>
              </a:solidFill>
              <a:prstDash val="solid"/>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2278427" name="Text Box 1051"/>
            <p:cNvSpPr txBox="1"/>
            <p:nvPr/>
          </p:nvSpPr>
          <p:spPr>
            <a:xfrm>
              <a:off x="313" y="2899"/>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0</a:t>
              </a:r>
              <a:endParaRPr lang="en-US" altLang="zh-CN" sz="1600" b="1">
                <a:solidFill>
                  <a:srgbClr val="333399"/>
                </a:solidFill>
                <a:latin typeface="Times New Roman" panose="02020603050405020304" pitchFamily="18" charset="0"/>
              </a:endParaRPr>
            </a:p>
          </p:txBody>
        </p:sp>
        <p:sp>
          <p:nvSpPr>
            <p:cNvPr id="2278428" name="Line 1052"/>
            <p:cNvSpPr/>
            <p:nvPr/>
          </p:nvSpPr>
          <p:spPr>
            <a:xfrm>
              <a:off x="503" y="2852"/>
              <a:ext cx="1920" cy="0"/>
            </a:xfrm>
            <a:prstGeom prst="line">
              <a:avLst/>
            </a:prstGeom>
            <a:ln w="9525" cap="flat" cmpd="sng">
              <a:solidFill>
                <a:srgbClr val="006666"/>
              </a:solidFill>
              <a:prstDash val="sysDot"/>
              <a:headEnd type="none" w="med" len="med"/>
              <a:tailEnd type="none" w="sm" len="lg"/>
            </a:ln>
          </p:spPr>
        </p:sp>
        <p:sp>
          <p:nvSpPr>
            <p:cNvPr id="2278429" name="Text Box 1053"/>
            <p:cNvSpPr txBox="1"/>
            <p:nvPr/>
          </p:nvSpPr>
          <p:spPr>
            <a:xfrm>
              <a:off x="212" y="2753"/>
              <a:ext cx="276"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0.5</a:t>
              </a:r>
              <a:endParaRPr lang="en-US" altLang="zh-CN" sz="1600" b="1">
                <a:solidFill>
                  <a:srgbClr val="333399"/>
                </a:solidFill>
                <a:latin typeface="Times New Roman" panose="02020603050405020304" pitchFamily="18" charset="0"/>
              </a:endParaRPr>
            </a:p>
          </p:txBody>
        </p:sp>
        <p:sp>
          <p:nvSpPr>
            <p:cNvPr id="2278430" name="Line 1054"/>
            <p:cNvSpPr/>
            <p:nvPr/>
          </p:nvSpPr>
          <p:spPr>
            <a:xfrm>
              <a:off x="503" y="2710"/>
              <a:ext cx="1928" cy="0"/>
            </a:xfrm>
            <a:prstGeom prst="line">
              <a:avLst/>
            </a:prstGeom>
            <a:ln w="9525" cap="flat" cmpd="sng">
              <a:solidFill>
                <a:srgbClr val="006666"/>
              </a:solidFill>
              <a:prstDash val="solid"/>
              <a:headEnd type="none" w="med" len="med"/>
              <a:tailEnd type="none" w="sm" len="lg"/>
            </a:ln>
          </p:spPr>
        </p:sp>
        <p:sp>
          <p:nvSpPr>
            <p:cNvPr id="2278431" name="Text Box 1055"/>
            <p:cNvSpPr txBox="1"/>
            <p:nvPr/>
          </p:nvSpPr>
          <p:spPr>
            <a:xfrm>
              <a:off x="300" y="2610"/>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1</a:t>
              </a:r>
              <a:endParaRPr lang="en-US" altLang="zh-CN" sz="1600" b="1">
                <a:solidFill>
                  <a:srgbClr val="333399"/>
                </a:solidFill>
                <a:latin typeface="Times New Roman" panose="02020603050405020304" pitchFamily="18" charset="0"/>
              </a:endParaRPr>
            </a:p>
          </p:txBody>
        </p:sp>
        <p:sp>
          <p:nvSpPr>
            <p:cNvPr id="2278432" name="Line 1056"/>
            <p:cNvSpPr/>
            <p:nvPr/>
          </p:nvSpPr>
          <p:spPr>
            <a:xfrm>
              <a:off x="503" y="2576"/>
              <a:ext cx="1928" cy="0"/>
            </a:xfrm>
            <a:prstGeom prst="line">
              <a:avLst/>
            </a:prstGeom>
            <a:ln w="9525" cap="flat" cmpd="sng">
              <a:solidFill>
                <a:srgbClr val="006666"/>
              </a:solidFill>
              <a:prstDash val="sysDot"/>
              <a:headEnd type="none" w="med" len="med"/>
              <a:tailEnd type="none" w="sm" len="lg"/>
            </a:ln>
          </p:spPr>
        </p:sp>
        <p:sp>
          <p:nvSpPr>
            <p:cNvPr id="2278433" name="Text Box 1057"/>
            <p:cNvSpPr txBox="1"/>
            <p:nvPr/>
          </p:nvSpPr>
          <p:spPr>
            <a:xfrm>
              <a:off x="232" y="2465"/>
              <a:ext cx="276"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1.5</a:t>
              </a:r>
              <a:endParaRPr lang="en-US" altLang="zh-CN" sz="1600" b="1">
                <a:solidFill>
                  <a:srgbClr val="333399"/>
                </a:solidFill>
                <a:latin typeface="Times New Roman" panose="02020603050405020304" pitchFamily="18" charset="0"/>
              </a:endParaRPr>
            </a:p>
          </p:txBody>
        </p:sp>
        <p:sp>
          <p:nvSpPr>
            <p:cNvPr id="2278434" name="Line 1058"/>
            <p:cNvSpPr/>
            <p:nvPr/>
          </p:nvSpPr>
          <p:spPr>
            <a:xfrm>
              <a:off x="503" y="2426"/>
              <a:ext cx="1937" cy="0"/>
            </a:xfrm>
            <a:prstGeom prst="line">
              <a:avLst/>
            </a:prstGeom>
            <a:ln w="9525" cap="flat" cmpd="sng">
              <a:solidFill>
                <a:srgbClr val="006666"/>
              </a:solidFill>
              <a:prstDash val="solid"/>
              <a:headEnd type="none" w="med" len="med"/>
              <a:tailEnd type="none" w="sm" len="lg"/>
            </a:ln>
          </p:spPr>
        </p:sp>
        <p:sp>
          <p:nvSpPr>
            <p:cNvPr id="2278435" name="Text Box 1059"/>
            <p:cNvSpPr txBox="1"/>
            <p:nvPr/>
          </p:nvSpPr>
          <p:spPr>
            <a:xfrm>
              <a:off x="312" y="2323"/>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2</a:t>
              </a:r>
              <a:endParaRPr lang="en-US" altLang="zh-CN" sz="1600" b="1">
                <a:solidFill>
                  <a:srgbClr val="333399"/>
                </a:solidFill>
                <a:latin typeface="Times New Roman" panose="02020603050405020304" pitchFamily="18" charset="0"/>
              </a:endParaRPr>
            </a:p>
          </p:txBody>
        </p:sp>
        <p:sp>
          <p:nvSpPr>
            <p:cNvPr id="2278436" name="Line 1060"/>
            <p:cNvSpPr/>
            <p:nvPr/>
          </p:nvSpPr>
          <p:spPr>
            <a:xfrm>
              <a:off x="515" y="2280"/>
              <a:ext cx="1928" cy="0"/>
            </a:xfrm>
            <a:prstGeom prst="line">
              <a:avLst/>
            </a:prstGeom>
            <a:ln w="9525" cap="flat" cmpd="sng">
              <a:solidFill>
                <a:srgbClr val="006666"/>
              </a:solidFill>
              <a:prstDash val="sysDot"/>
              <a:headEnd type="none" w="med" len="med"/>
              <a:tailEnd type="none" w="sm" len="lg"/>
            </a:ln>
          </p:spPr>
        </p:sp>
        <p:sp>
          <p:nvSpPr>
            <p:cNvPr id="2278437" name="Text Box 1061"/>
            <p:cNvSpPr txBox="1"/>
            <p:nvPr/>
          </p:nvSpPr>
          <p:spPr>
            <a:xfrm>
              <a:off x="244" y="2168"/>
              <a:ext cx="276"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2.5</a:t>
              </a:r>
              <a:endParaRPr lang="en-US" altLang="zh-CN" sz="1600" b="1">
                <a:solidFill>
                  <a:srgbClr val="333399"/>
                </a:solidFill>
                <a:latin typeface="Times New Roman" panose="02020603050405020304" pitchFamily="18" charset="0"/>
              </a:endParaRPr>
            </a:p>
          </p:txBody>
        </p:sp>
        <p:sp>
          <p:nvSpPr>
            <p:cNvPr id="2278438" name="Line 1062"/>
            <p:cNvSpPr/>
            <p:nvPr/>
          </p:nvSpPr>
          <p:spPr>
            <a:xfrm>
              <a:off x="503" y="2151"/>
              <a:ext cx="1928" cy="0"/>
            </a:xfrm>
            <a:prstGeom prst="line">
              <a:avLst/>
            </a:prstGeom>
            <a:ln w="9525" cap="flat" cmpd="sng">
              <a:solidFill>
                <a:srgbClr val="006666"/>
              </a:solidFill>
              <a:prstDash val="solid"/>
              <a:headEnd type="none" w="med" len="med"/>
              <a:tailEnd type="none" w="sm" len="lg"/>
            </a:ln>
          </p:spPr>
        </p:sp>
        <p:sp>
          <p:nvSpPr>
            <p:cNvPr id="2278439" name="Text Box 1063"/>
            <p:cNvSpPr txBox="1"/>
            <p:nvPr/>
          </p:nvSpPr>
          <p:spPr>
            <a:xfrm>
              <a:off x="312" y="2055"/>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3</a:t>
              </a:r>
              <a:endParaRPr lang="en-US" altLang="zh-CN" sz="1600" b="1">
                <a:solidFill>
                  <a:srgbClr val="333399"/>
                </a:solidFill>
                <a:latin typeface="Times New Roman" panose="02020603050405020304" pitchFamily="18" charset="0"/>
              </a:endParaRPr>
            </a:p>
          </p:txBody>
        </p:sp>
        <p:sp>
          <p:nvSpPr>
            <p:cNvPr id="2278440" name="Line 1064"/>
            <p:cNvSpPr/>
            <p:nvPr/>
          </p:nvSpPr>
          <p:spPr>
            <a:xfrm>
              <a:off x="503" y="2000"/>
              <a:ext cx="1937" cy="0"/>
            </a:xfrm>
            <a:prstGeom prst="line">
              <a:avLst/>
            </a:prstGeom>
            <a:ln w="9525" cap="flat" cmpd="sng">
              <a:solidFill>
                <a:srgbClr val="006666"/>
              </a:solidFill>
              <a:prstDash val="sysDot"/>
              <a:headEnd type="none" w="med" len="med"/>
              <a:tailEnd type="none" w="sm" len="lg"/>
            </a:ln>
          </p:spPr>
        </p:sp>
        <p:sp>
          <p:nvSpPr>
            <p:cNvPr id="2278441" name="Text Box 1065"/>
            <p:cNvSpPr txBox="1"/>
            <p:nvPr/>
          </p:nvSpPr>
          <p:spPr>
            <a:xfrm>
              <a:off x="232" y="1897"/>
              <a:ext cx="276"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3.5</a:t>
              </a:r>
              <a:endParaRPr lang="en-US" altLang="zh-CN" sz="1600" b="1">
                <a:solidFill>
                  <a:srgbClr val="333399"/>
                </a:solidFill>
                <a:latin typeface="Times New Roman" panose="02020603050405020304" pitchFamily="18" charset="0"/>
              </a:endParaRPr>
            </a:p>
          </p:txBody>
        </p:sp>
        <p:sp>
          <p:nvSpPr>
            <p:cNvPr id="2278442" name="Line 1066"/>
            <p:cNvSpPr/>
            <p:nvPr/>
          </p:nvSpPr>
          <p:spPr>
            <a:xfrm>
              <a:off x="503" y="1859"/>
              <a:ext cx="1937" cy="0"/>
            </a:xfrm>
            <a:prstGeom prst="line">
              <a:avLst/>
            </a:prstGeom>
            <a:ln w="9525" cap="flat" cmpd="sng">
              <a:solidFill>
                <a:srgbClr val="006666"/>
              </a:solidFill>
              <a:prstDash val="solid"/>
              <a:headEnd type="none" w="med" len="med"/>
              <a:tailEnd type="none" w="sm" len="lg"/>
            </a:ln>
          </p:spPr>
        </p:sp>
        <p:sp>
          <p:nvSpPr>
            <p:cNvPr id="2278443" name="Text Box 1067"/>
            <p:cNvSpPr txBox="1"/>
            <p:nvPr/>
          </p:nvSpPr>
          <p:spPr>
            <a:xfrm>
              <a:off x="303" y="1754"/>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4</a:t>
              </a:r>
              <a:endParaRPr lang="en-US" altLang="zh-CN" sz="1600" b="1">
                <a:solidFill>
                  <a:srgbClr val="333399"/>
                </a:solidFill>
                <a:latin typeface="Times New Roman" panose="02020603050405020304" pitchFamily="18" charset="0"/>
              </a:endParaRPr>
            </a:p>
          </p:txBody>
        </p:sp>
        <p:sp>
          <p:nvSpPr>
            <p:cNvPr id="2278444" name="Line 1068"/>
            <p:cNvSpPr/>
            <p:nvPr/>
          </p:nvSpPr>
          <p:spPr>
            <a:xfrm>
              <a:off x="503" y="1708"/>
              <a:ext cx="1928" cy="0"/>
            </a:xfrm>
            <a:prstGeom prst="line">
              <a:avLst/>
            </a:prstGeom>
            <a:ln w="9525" cap="flat" cmpd="sng">
              <a:solidFill>
                <a:srgbClr val="006666"/>
              </a:solidFill>
              <a:prstDash val="sysDot"/>
              <a:headEnd type="none" w="med" len="med"/>
              <a:tailEnd type="none" w="sm" len="lg"/>
            </a:ln>
          </p:spPr>
        </p:sp>
        <p:sp>
          <p:nvSpPr>
            <p:cNvPr id="2278445" name="Text Box 1069"/>
            <p:cNvSpPr txBox="1"/>
            <p:nvPr/>
          </p:nvSpPr>
          <p:spPr>
            <a:xfrm>
              <a:off x="240" y="1597"/>
              <a:ext cx="276"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4.5</a:t>
              </a:r>
              <a:endParaRPr lang="en-US" altLang="zh-CN" sz="1600" b="1">
                <a:solidFill>
                  <a:srgbClr val="333399"/>
                </a:solidFill>
                <a:latin typeface="Times New Roman" panose="02020603050405020304" pitchFamily="18" charset="0"/>
              </a:endParaRPr>
            </a:p>
          </p:txBody>
        </p:sp>
        <p:sp>
          <p:nvSpPr>
            <p:cNvPr id="2278446" name="Line 1070"/>
            <p:cNvSpPr/>
            <p:nvPr/>
          </p:nvSpPr>
          <p:spPr>
            <a:xfrm>
              <a:off x="503" y="1566"/>
              <a:ext cx="1937" cy="0"/>
            </a:xfrm>
            <a:prstGeom prst="line">
              <a:avLst/>
            </a:prstGeom>
            <a:ln w="9525" cap="flat" cmpd="sng">
              <a:solidFill>
                <a:srgbClr val="006666"/>
              </a:solidFill>
              <a:prstDash val="solid"/>
              <a:headEnd type="none" w="med" len="med"/>
              <a:tailEnd type="none" w="sm" len="lg"/>
            </a:ln>
          </p:spPr>
        </p:sp>
        <p:sp>
          <p:nvSpPr>
            <p:cNvPr id="2278447" name="Text Box 1071"/>
            <p:cNvSpPr txBox="1"/>
            <p:nvPr/>
          </p:nvSpPr>
          <p:spPr>
            <a:xfrm>
              <a:off x="321" y="1455"/>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5</a:t>
              </a:r>
              <a:endParaRPr lang="en-US" altLang="zh-CN" sz="1600" b="1">
                <a:solidFill>
                  <a:srgbClr val="333399"/>
                </a:solidFill>
                <a:latin typeface="Times New Roman" panose="02020603050405020304" pitchFamily="18" charset="0"/>
              </a:endParaRPr>
            </a:p>
          </p:txBody>
        </p:sp>
        <p:sp>
          <p:nvSpPr>
            <p:cNvPr id="2278448" name="Text Box 1072"/>
            <p:cNvSpPr txBox="1"/>
            <p:nvPr/>
          </p:nvSpPr>
          <p:spPr>
            <a:xfrm>
              <a:off x="593" y="2939"/>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1</a:t>
              </a:r>
              <a:endParaRPr lang="en-US" altLang="zh-CN" sz="2000" b="1" baseline="-25000">
                <a:solidFill>
                  <a:srgbClr val="333399"/>
                </a:solidFill>
                <a:latin typeface="Times New Roman" panose="02020603050405020304" pitchFamily="18" charset="0"/>
              </a:endParaRPr>
            </a:p>
          </p:txBody>
        </p:sp>
        <p:sp>
          <p:nvSpPr>
            <p:cNvPr id="2278449" name="Line 1073"/>
            <p:cNvSpPr/>
            <p:nvPr/>
          </p:nvSpPr>
          <p:spPr>
            <a:xfrm flipV="1">
              <a:off x="753" y="2827"/>
              <a:ext cx="0" cy="167"/>
            </a:xfrm>
            <a:prstGeom prst="line">
              <a:avLst/>
            </a:prstGeom>
            <a:ln w="9525" cap="flat" cmpd="sng">
              <a:solidFill>
                <a:srgbClr val="CC00CC"/>
              </a:solidFill>
              <a:prstDash val="solid"/>
              <a:headEnd type="none" w="med" len="med"/>
              <a:tailEnd type="none" w="sm" len="lg"/>
            </a:ln>
          </p:spPr>
        </p:sp>
        <p:sp>
          <p:nvSpPr>
            <p:cNvPr id="2278450" name="Line 1074"/>
            <p:cNvSpPr/>
            <p:nvPr/>
          </p:nvSpPr>
          <p:spPr>
            <a:xfrm>
              <a:off x="753" y="2994"/>
              <a:ext cx="0" cy="484"/>
            </a:xfrm>
            <a:prstGeom prst="line">
              <a:avLst/>
            </a:prstGeom>
            <a:ln w="9525" cap="flat" cmpd="sng">
              <a:solidFill>
                <a:srgbClr val="3333FF"/>
              </a:solidFill>
              <a:prstDash val="solid"/>
              <a:headEnd type="none" w="med" len="med"/>
              <a:tailEnd type="none" w="sm" len="lg"/>
            </a:ln>
          </p:spPr>
        </p:sp>
        <p:sp>
          <p:nvSpPr>
            <p:cNvPr id="2278451" name="Line 1075"/>
            <p:cNvSpPr/>
            <p:nvPr/>
          </p:nvSpPr>
          <p:spPr>
            <a:xfrm flipV="1">
              <a:off x="837" y="2710"/>
              <a:ext cx="0" cy="284"/>
            </a:xfrm>
            <a:prstGeom prst="line">
              <a:avLst/>
            </a:prstGeom>
            <a:ln w="9525" cap="flat" cmpd="sng">
              <a:solidFill>
                <a:srgbClr val="CC00CC"/>
              </a:solidFill>
              <a:prstDash val="solid"/>
              <a:headEnd type="none" w="med" len="med"/>
              <a:tailEnd type="none" w="sm" len="lg"/>
            </a:ln>
          </p:spPr>
        </p:sp>
        <p:sp>
          <p:nvSpPr>
            <p:cNvPr id="2278452" name="Line 1076"/>
            <p:cNvSpPr/>
            <p:nvPr/>
          </p:nvSpPr>
          <p:spPr>
            <a:xfrm>
              <a:off x="837" y="2994"/>
              <a:ext cx="0" cy="250"/>
            </a:xfrm>
            <a:prstGeom prst="line">
              <a:avLst/>
            </a:prstGeom>
            <a:ln w="9525" cap="flat" cmpd="sng">
              <a:solidFill>
                <a:srgbClr val="3333FF"/>
              </a:solidFill>
              <a:prstDash val="solid"/>
              <a:headEnd type="none" w="med" len="med"/>
              <a:tailEnd type="none" w="sm" len="lg"/>
            </a:ln>
          </p:spPr>
        </p:sp>
        <p:sp>
          <p:nvSpPr>
            <p:cNvPr id="2278453" name="Line 1077"/>
            <p:cNvSpPr/>
            <p:nvPr/>
          </p:nvSpPr>
          <p:spPr>
            <a:xfrm>
              <a:off x="570" y="3211"/>
              <a:ext cx="183" cy="0"/>
            </a:xfrm>
            <a:prstGeom prst="line">
              <a:avLst/>
            </a:prstGeom>
            <a:ln w="9525" cap="flat" cmpd="sng">
              <a:solidFill>
                <a:srgbClr val="3333FF"/>
              </a:solidFill>
              <a:prstDash val="solid"/>
              <a:headEnd type="none" w="med" len="med"/>
              <a:tailEnd type="stealth" w="sm" len="lg"/>
            </a:ln>
          </p:spPr>
        </p:sp>
        <p:sp>
          <p:nvSpPr>
            <p:cNvPr id="2278454" name="Line 1078"/>
            <p:cNvSpPr/>
            <p:nvPr/>
          </p:nvSpPr>
          <p:spPr>
            <a:xfrm flipH="1">
              <a:off x="837" y="3211"/>
              <a:ext cx="142" cy="0"/>
            </a:xfrm>
            <a:prstGeom prst="line">
              <a:avLst/>
            </a:prstGeom>
            <a:ln w="9525" cap="flat" cmpd="sng">
              <a:solidFill>
                <a:srgbClr val="3333FF"/>
              </a:solidFill>
              <a:prstDash val="solid"/>
              <a:headEnd type="none" w="med" len="med"/>
              <a:tailEnd type="stealth" w="sm" len="lg"/>
            </a:ln>
          </p:spPr>
        </p:sp>
        <p:sp>
          <p:nvSpPr>
            <p:cNvPr id="2278455" name="Text Box 1079"/>
            <p:cNvSpPr txBox="1"/>
            <p:nvPr/>
          </p:nvSpPr>
          <p:spPr>
            <a:xfrm>
              <a:off x="798" y="3015"/>
              <a:ext cx="201" cy="212"/>
            </a:xfrm>
            <a:prstGeom prst="rect">
              <a:avLst/>
            </a:prstGeom>
            <a:noFill/>
            <a:ln w="9525">
              <a:noFill/>
            </a:ln>
          </p:spPr>
          <p:txBody>
            <a:bodyPr>
              <a:spAutoFit/>
            </a:bodyPr>
            <a:p>
              <a:pPr algn="ctr" eaLnBrk="1" hangingPunct="1">
                <a:buNone/>
              </a:pPr>
              <a:r>
                <a:rPr lang="en-US" altLang="zh-CN" sz="1600" b="1" i="1">
                  <a:solidFill>
                    <a:srgbClr val="333399"/>
                  </a:solidFill>
                  <a:latin typeface="Times New Roman" panose="02020603050405020304" pitchFamily="18" charset="0"/>
                  <a:ea typeface="宋体" panose="02010600030101010101" pitchFamily="2" charset="-122"/>
                </a:rPr>
                <a:t>τ</a:t>
              </a:r>
              <a:endParaRPr lang="en-US" altLang="zh-CN" sz="1600" b="1" i="1">
                <a:solidFill>
                  <a:srgbClr val="333399"/>
                </a:solidFill>
                <a:latin typeface="Times New Roman" panose="02020603050405020304" pitchFamily="18" charset="0"/>
                <a:ea typeface="宋体" panose="02010600030101010101" pitchFamily="2" charset="-122"/>
              </a:endParaRPr>
            </a:p>
          </p:txBody>
        </p:sp>
        <p:sp>
          <p:nvSpPr>
            <p:cNvPr id="2278456" name="Line 1080"/>
            <p:cNvSpPr/>
            <p:nvPr/>
          </p:nvSpPr>
          <p:spPr>
            <a:xfrm>
              <a:off x="1012" y="2994"/>
              <a:ext cx="0" cy="484"/>
            </a:xfrm>
            <a:prstGeom prst="line">
              <a:avLst/>
            </a:prstGeom>
            <a:ln w="9525" cap="flat" cmpd="sng">
              <a:solidFill>
                <a:srgbClr val="3333FF"/>
              </a:solidFill>
              <a:prstDash val="solid"/>
              <a:headEnd type="none" w="med" len="med"/>
              <a:tailEnd type="none" w="sm" len="lg"/>
            </a:ln>
          </p:spPr>
        </p:sp>
        <p:sp>
          <p:nvSpPr>
            <p:cNvPr id="2278457" name="Line 1081"/>
            <p:cNvSpPr/>
            <p:nvPr/>
          </p:nvSpPr>
          <p:spPr>
            <a:xfrm>
              <a:off x="753" y="3445"/>
              <a:ext cx="259" cy="0"/>
            </a:xfrm>
            <a:prstGeom prst="line">
              <a:avLst/>
            </a:prstGeom>
            <a:ln w="9525" cap="flat" cmpd="sng">
              <a:solidFill>
                <a:srgbClr val="3333FF"/>
              </a:solidFill>
              <a:prstDash val="solid"/>
              <a:headEnd type="stealth" w="sm" len="lg"/>
              <a:tailEnd type="stealth" w="sm" len="lg"/>
            </a:ln>
          </p:spPr>
        </p:sp>
        <p:sp>
          <p:nvSpPr>
            <p:cNvPr id="2278458" name="Text Box 1082"/>
            <p:cNvSpPr txBox="1"/>
            <p:nvPr/>
          </p:nvSpPr>
          <p:spPr>
            <a:xfrm>
              <a:off x="750" y="3225"/>
              <a:ext cx="257" cy="231"/>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T</a:t>
              </a:r>
              <a:r>
                <a:rPr lang="en-US" altLang="zh-CN" sz="1800" b="1" baseline="-25000">
                  <a:solidFill>
                    <a:srgbClr val="333399"/>
                  </a:solidFill>
                  <a:latin typeface="Times New Roman" panose="02020603050405020304" pitchFamily="18" charset="0"/>
                </a:rPr>
                <a:t>S</a:t>
              </a:r>
              <a:endParaRPr lang="en-US" altLang="zh-CN" sz="1800" b="1" baseline="-25000">
                <a:solidFill>
                  <a:srgbClr val="333399"/>
                </a:solidFill>
                <a:latin typeface="Times New Roman" panose="02020603050405020304" pitchFamily="18" charset="0"/>
              </a:endParaRPr>
            </a:p>
          </p:txBody>
        </p:sp>
        <p:sp>
          <p:nvSpPr>
            <p:cNvPr id="2278459" name="Text Box 1083"/>
            <p:cNvSpPr txBox="1"/>
            <p:nvPr/>
          </p:nvSpPr>
          <p:spPr>
            <a:xfrm>
              <a:off x="973" y="2943"/>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2</a:t>
              </a:r>
              <a:endParaRPr lang="en-US" altLang="zh-CN" sz="2000" b="1" baseline="-25000">
                <a:solidFill>
                  <a:srgbClr val="333399"/>
                </a:solidFill>
                <a:latin typeface="Times New Roman" panose="02020603050405020304" pitchFamily="18" charset="0"/>
              </a:endParaRPr>
            </a:p>
          </p:txBody>
        </p:sp>
        <p:sp>
          <p:nvSpPr>
            <p:cNvPr id="2278460" name="Line 1084"/>
            <p:cNvSpPr/>
            <p:nvPr/>
          </p:nvSpPr>
          <p:spPr>
            <a:xfrm flipV="1">
              <a:off x="1012" y="2000"/>
              <a:ext cx="0" cy="994"/>
            </a:xfrm>
            <a:prstGeom prst="line">
              <a:avLst/>
            </a:prstGeom>
            <a:ln w="9525" cap="flat" cmpd="sng">
              <a:solidFill>
                <a:srgbClr val="CC00CC"/>
              </a:solidFill>
              <a:prstDash val="solid"/>
              <a:headEnd type="none" w="med" len="med"/>
              <a:tailEnd type="none" w="sm" len="lg"/>
            </a:ln>
          </p:spPr>
        </p:sp>
        <p:sp>
          <p:nvSpPr>
            <p:cNvPr id="2278461" name="Line 1085"/>
            <p:cNvSpPr/>
            <p:nvPr/>
          </p:nvSpPr>
          <p:spPr>
            <a:xfrm flipV="1">
              <a:off x="1096" y="1817"/>
              <a:ext cx="0" cy="1177"/>
            </a:xfrm>
            <a:prstGeom prst="line">
              <a:avLst/>
            </a:prstGeom>
            <a:ln w="9525" cap="flat" cmpd="sng">
              <a:solidFill>
                <a:srgbClr val="CC00CC"/>
              </a:solidFill>
              <a:prstDash val="solid"/>
              <a:headEnd type="none" w="med" len="med"/>
              <a:tailEnd type="none" w="sm" len="lg"/>
            </a:ln>
          </p:spPr>
        </p:sp>
        <p:sp>
          <p:nvSpPr>
            <p:cNvPr id="2278462" name="Text Box 1086"/>
            <p:cNvSpPr txBox="1"/>
            <p:nvPr/>
          </p:nvSpPr>
          <p:spPr>
            <a:xfrm>
              <a:off x="552" y="2702"/>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0.7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63" name="Text Box 1087"/>
            <p:cNvSpPr txBox="1"/>
            <p:nvPr/>
          </p:nvSpPr>
          <p:spPr>
            <a:xfrm>
              <a:off x="823" y="1855"/>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3.5</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64" name="Text Box 1088"/>
            <p:cNvSpPr txBox="1"/>
            <p:nvPr/>
          </p:nvSpPr>
          <p:spPr>
            <a:xfrm>
              <a:off x="1143" y="2947"/>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3</a:t>
              </a:r>
              <a:endParaRPr lang="en-US" altLang="zh-CN" sz="2000" b="1" baseline="-25000">
                <a:solidFill>
                  <a:srgbClr val="333399"/>
                </a:solidFill>
                <a:latin typeface="Times New Roman" panose="02020603050405020304" pitchFamily="18" charset="0"/>
              </a:endParaRPr>
            </a:p>
          </p:txBody>
        </p:sp>
        <p:sp>
          <p:nvSpPr>
            <p:cNvPr id="2278465" name="Line 1089"/>
            <p:cNvSpPr/>
            <p:nvPr/>
          </p:nvSpPr>
          <p:spPr>
            <a:xfrm flipV="1">
              <a:off x="1254" y="1650"/>
              <a:ext cx="0" cy="1344"/>
            </a:xfrm>
            <a:prstGeom prst="line">
              <a:avLst/>
            </a:prstGeom>
            <a:ln w="9525" cap="flat" cmpd="sng">
              <a:solidFill>
                <a:srgbClr val="CC00CC"/>
              </a:solidFill>
              <a:prstDash val="solid"/>
              <a:headEnd type="none" w="med" len="med"/>
              <a:tailEnd type="none" w="sm" len="lg"/>
            </a:ln>
          </p:spPr>
        </p:sp>
        <p:sp>
          <p:nvSpPr>
            <p:cNvPr id="2278466" name="Text Box 1090"/>
            <p:cNvSpPr txBox="1"/>
            <p:nvPr/>
          </p:nvSpPr>
          <p:spPr>
            <a:xfrm>
              <a:off x="1036" y="1534"/>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4.6</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67" name="Line 1091"/>
            <p:cNvSpPr/>
            <p:nvPr/>
          </p:nvSpPr>
          <p:spPr>
            <a:xfrm flipV="1">
              <a:off x="1338" y="1625"/>
              <a:ext cx="0" cy="1369"/>
            </a:xfrm>
            <a:prstGeom prst="line">
              <a:avLst/>
            </a:prstGeom>
            <a:ln w="9525" cap="flat" cmpd="sng">
              <a:solidFill>
                <a:srgbClr val="CC00CC"/>
              </a:solidFill>
              <a:prstDash val="solid"/>
              <a:headEnd type="none" w="med" len="med"/>
              <a:tailEnd type="none" w="sm" len="lg"/>
            </a:ln>
          </p:spPr>
        </p:sp>
        <p:sp>
          <p:nvSpPr>
            <p:cNvPr id="2278468" name="Text Box 1092"/>
            <p:cNvSpPr txBox="1"/>
            <p:nvPr/>
          </p:nvSpPr>
          <p:spPr>
            <a:xfrm>
              <a:off x="1390" y="2951"/>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4</a:t>
              </a:r>
              <a:endParaRPr lang="en-US" altLang="zh-CN" sz="2000" b="1" baseline="-25000">
                <a:solidFill>
                  <a:srgbClr val="333399"/>
                </a:solidFill>
                <a:latin typeface="Times New Roman" panose="02020603050405020304" pitchFamily="18" charset="0"/>
              </a:endParaRPr>
            </a:p>
          </p:txBody>
        </p:sp>
        <p:sp>
          <p:nvSpPr>
            <p:cNvPr id="2278469" name="Line 1093"/>
            <p:cNvSpPr/>
            <p:nvPr/>
          </p:nvSpPr>
          <p:spPr>
            <a:xfrm flipV="1">
              <a:off x="1496" y="1650"/>
              <a:ext cx="0" cy="1344"/>
            </a:xfrm>
            <a:prstGeom prst="line">
              <a:avLst/>
            </a:prstGeom>
            <a:ln w="9525" cap="flat" cmpd="sng">
              <a:solidFill>
                <a:srgbClr val="CC00CC"/>
              </a:solidFill>
              <a:prstDash val="solid"/>
              <a:headEnd type="none" w="med" len="med"/>
              <a:tailEnd type="none" w="sm" len="lg"/>
            </a:ln>
          </p:spPr>
        </p:sp>
        <p:sp>
          <p:nvSpPr>
            <p:cNvPr id="2278470" name="Text Box 1094"/>
            <p:cNvSpPr txBox="1"/>
            <p:nvPr/>
          </p:nvSpPr>
          <p:spPr>
            <a:xfrm>
              <a:off x="1449" y="1521"/>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4.7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71" name="Line 1095"/>
            <p:cNvSpPr/>
            <p:nvPr/>
          </p:nvSpPr>
          <p:spPr>
            <a:xfrm flipV="1">
              <a:off x="1580" y="1700"/>
              <a:ext cx="0" cy="1294"/>
            </a:xfrm>
            <a:prstGeom prst="line">
              <a:avLst/>
            </a:prstGeom>
            <a:ln w="9525" cap="flat" cmpd="sng">
              <a:solidFill>
                <a:srgbClr val="CC00CC"/>
              </a:solidFill>
              <a:prstDash val="solid"/>
              <a:headEnd type="none" w="med" len="med"/>
              <a:tailEnd type="none" w="sm" len="lg"/>
            </a:ln>
          </p:spPr>
        </p:sp>
        <p:sp>
          <p:nvSpPr>
            <p:cNvPr id="2278472" name="Text Box 1096"/>
            <p:cNvSpPr txBox="1"/>
            <p:nvPr/>
          </p:nvSpPr>
          <p:spPr>
            <a:xfrm>
              <a:off x="1636" y="2956"/>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5</a:t>
              </a:r>
              <a:endParaRPr lang="en-US" altLang="zh-CN" sz="2000" b="1" baseline="-25000">
                <a:solidFill>
                  <a:srgbClr val="333399"/>
                </a:solidFill>
                <a:latin typeface="Times New Roman" panose="02020603050405020304" pitchFamily="18" charset="0"/>
              </a:endParaRPr>
            </a:p>
          </p:txBody>
        </p:sp>
        <p:sp>
          <p:nvSpPr>
            <p:cNvPr id="2278473" name="Line 1097"/>
            <p:cNvSpPr/>
            <p:nvPr/>
          </p:nvSpPr>
          <p:spPr>
            <a:xfrm flipV="1">
              <a:off x="1738" y="1967"/>
              <a:ext cx="0" cy="1027"/>
            </a:xfrm>
            <a:prstGeom prst="line">
              <a:avLst/>
            </a:prstGeom>
            <a:ln w="9525" cap="flat" cmpd="sng">
              <a:solidFill>
                <a:srgbClr val="CC00CC"/>
              </a:solidFill>
              <a:prstDash val="solid"/>
              <a:headEnd type="none" w="med" len="med"/>
              <a:tailEnd type="none" w="sm" len="lg"/>
            </a:ln>
          </p:spPr>
        </p:sp>
        <p:sp>
          <p:nvSpPr>
            <p:cNvPr id="2278474" name="Text Box 1098"/>
            <p:cNvSpPr txBox="1"/>
            <p:nvPr/>
          </p:nvSpPr>
          <p:spPr>
            <a:xfrm>
              <a:off x="1703" y="1842"/>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3.6</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75" name="Line 1099"/>
            <p:cNvSpPr/>
            <p:nvPr/>
          </p:nvSpPr>
          <p:spPr>
            <a:xfrm flipV="1">
              <a:off x="1822" y="2067"/>
              <a:ext cx="0" cy="927"/>
            </a:xfrm>
            <a:prstGeom prst="line">
              <a:avLst/>
            </a:prstGeom>
            <a:ln w="9525" cap="flat" cmpd="sng">
              <a:solidFill>
                <a:srgbClr val="CC00CC"/>
              </a:solidFill>
              <a:prstDash val="solid"/>
              <a:headEnd type="none" w="med" len="med"/>
              <a:tailEnd type="none" w="sm" len="lg"/>
            </a:ln>
          </p:spPr>
        </p:sp>
        <p:sp>
          <p:nvSpPr>
            <p:cNvPr id="2278476" name="Text Box 1100"/>
            <p:cNvSpPr txBox="1"/>
            <p:nvPr/>
          </p:nvSpPr>
          <p:spPr>
            <a:xfrm>
              <a:off x="1881" y="2960"/>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6</a:t>
              </a:r>
              <a:endParaRPr lang="en-US" altLang="zh-CN" sz="2000" b="1" baseline="-25000">
                <a:solidFill>
                  <a:srgbClr val="333399"/>
                </a:solidFill>
                <a:latin typeface="Times New Roman" panose="02020603050405020304" pitchFamily="18" charset="0"/>
              </a:endParaRPr>
            </a:p>
          </p:txBody>
        </p:sp>
        <p:sp>
          <p:nvSpPr>
            <p:cNvPr id="2278477" name="Line 1101"/>
            <p:cNvSpPr/>
            <p:nvPr/>
          </p:nvSpPr>
          <p:spPr>
            <a:xfrm flipV="1">
              <a:off x="1980" y="2201"/>
              <a:ext cx="0" cy="793"/>
            </a:xfrm>
            <a:prstGeom prst="line">
              <a:avLst/>
            </a:prstGeom>
            <a:ln w="9525" cap="flat" cmpd="sng">
              <a:solidFill>
                <a:srgbClr val="CC00CC"/>
              </a:solidFill>
              <a:prstDash val="solid"/>
              <a:headEnd type="none" w="med" len="med"/>
              <a:tailEnd type="none" w="sm" len="lg"/>
            </a:ln>
          </p:spPr>
        </p:sp>
        <p:sp>
          <p:nvSpPr>
            <p:cNvPr id="2278478" name="Text Box 1102"/>
            <p:cNvSpPr txBox="1"/>
            <p:nvPr/>
          </p:nvSpPr>
          <p:spPr>
            <a:xfrm>
              <a:off x="1966" y="2088"/>
              <a:ext cx="301" cy="192"/>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2.7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2278479" name="Line 1103"/>
            <p:cNvSpPr/>
            <p:nvPr/>
          </p:nvSpPr>
          <p:spPr>
            <a:xfrm flipV="1">
              <a:off x="2064" y="2250"/>
              <a:ext cx="0" cy="744"/>
            </a:xfrm>
            <a:prstGeom prst="line">
              <a:avLst/>
            </a:prstGeom>
            <a:ln w="9525" cap="flat" cmpd="sng">
              <a:solidFill>
                <a:srgbClr val="CC00CC"/>
              </a:solidFill>
              <a:prstDash val="solid"/>
              <a:headEnd type="none" w="med" len="med"/>
              <a:tailEnd type="none" w="sm" len="lg"/>
            </a:ln>
          </p:spPr>
        </p:sp>
        <p:sp>
          <p:nvSpPr>
            <p:cNvPr id="2278480" name="Text Box 1104"/>
            <p:cNvSpPr txBox="1"/>
            <p:nvPr/>
          </p:nvSpPr>
          <p:spPr>
            <a:xfrm>
              <a:off x="1279" y="3226"/>
              <a:ext cx="302" cy="250"/>
            </a:xfrm>
            <a:prstGeom prst="rect">
              <a:avLst/>
            </a:prstGeom>
            <a:noFill/>
            <a:ln w="9525">
              <a:noFill/>
            </a:ln>
          </p:spPr>
          <p:txBody>
            <a:bodyPr wrap="none">
              <a:spAutoFit/>
            </a:bodyPr>
            <a:p>
              <a:pPr algn="ctr" eaLnBrk="1" hangingPunct="1"/>
              <a:r>
                <a:rPr lang="en-US" altLang="zh-CN" sz="2000" b="1">
                  <a:solidFill>
                    <a:srgbClr val="333399"/>
                  </a:solidFill>
                  <a:latin typeface="Times New Roman" panose="02020603050405020304" pitchFamily="18" charset="0"/>
                </a:rPr>
                <a:t>(a)</a:t>
              </a:r>
              <a:endParaRPr lang="en-US" altLang="zh-CN" sz="2000" b="1">
                <a:solidFill>
                  <a:srgbClr val="333399"/>
                </a:solidFill>
                <a:latin typeface="Times New Roman" panose="02020603050405020304" pitchFamily="18" charset="0"/>
              </a:endParaRPr>
            </a:p>
          </p:txBody>
        </p:sp>
      </p:grpSp>
      <p:sp>
        <p:nvSpPr>
          <p:cNvPr id="2278514" name="Text Box 1138"/>
          <p:cNvSpPr txBox="1"/>
          <p:nvPr/>
        </p:nvSpPr>
        <p:spPr>
          <a:xfrm>
            <a:off x="1150938" y="5708650"/>
            <a:ext cx="7273925" cy="457200"/>
          </a:xfrm>
          <a:prstGeom prst="rect">
            <a:avLst/>
          </a:prstGeom>
          <a:noFill/>
          <a:ln w="9525">
            <a:noFill/>
          </a:ln>
        </p:spPr>
        <p:txBody>
          <a:bodyPr>
            <a:spAutoFit/>
          </a:bodyPr>
          <a:p>
            <a:pPr algn="l" eaLnBrk="1" hangingPunct="1"/>
            <a:r>
              <a:rPr lang="zh-CN" altLang="en-US" sz="2400" b="1" dirty="0">
                <a:solidFill>
                  <a:srgbClr val="FF0000"/>
                </a:solidFill>
                <a:latin typeface="Times New Roman" panose="02020603050405020304" pitchFamily="18" charset="0"/>
              </a:rPr>
              <a:t>解：</a:t>
            </a:r>
            <a:r>
              <a:rPr lang="zh-CN" altLang="en-US" sz="2400" b="1" dirty="0">
                <a:solidFill>
                  <a:schemeClr val="tx1"/>
                </a:solidFill>
                <a:latin typeface="Times New Roman" panose="02020603050405020304" pitchFamily="18" charset="0"/>
              </a:rPr>
              <a:t>采用</a:t>
            </a:r>
            <a:r>
              <a:rPr lang="en-US" altLang="zh-CN" sz="2400" b="1">
                <a:solidFill>
                  <a:schemeClr val="tx1"/>
                </a:solidFill>
                <a:latin typeface="Times New Roman" panose="02020603050405020304" pitchFamily="18" charset="0"/>
                <a:ea typeface="宋体" panose="02010600030101010101" pitchFamily="2" charset="-122"/>
              </a:rPr>
              <a:t>“</a:t>
            </a:r>
            <a:r>
              <a:rPr lang="zh-CN" altLang="en-US" sz="2400" b="1" dirty="0">
                <a:solidFill>
                  <a:schemeClr val="tx1"/>
                </a:solidFill>
                <a:latin typeface="Times New Roman" panose="02020603050405020304" pitchFamily="18" charset="0"/>
              </a:rPr>
              <a:t>有舍有入</a:t>
            </a:r>
            <a:r>
              <a:rPr lang="en-US" altLang="zh-CN" sz="2400" b="1">
                <a:solidFill>
                  <a:schemeClr val="tx1"/>
                </a:solidFill>
                <a:latin typeface="Times New Roman" panose="02020603050405020304" pitchFamily="18" charset="0"/>
                <a:ea typeface="宋体" panose="02010600030101010101" pitchFamily="2" charset="-122"/>
              </a:rPr>
              <a:t>”</a:t>
            </a:r>
            <a:r>
              <a:rPr lang="zh-CN" altLang="en-US" sz="2400" b="1" dirty="0">
                <a:solidFill>
                  <a:schemeClr val="tx1"/>
                </a:solidFill>
                <a:latin typeface="楷体_GB2312" pitchFamily="49" charset="-122"/>
              </a:rPr>
              <a:t>的方法对采样信号进行量化。</a:t>
            </a:r>
            <a:endParaRPr lang="zh-CN" altLang="en-US" sz="2400" b="1" dirty="0">
              <a:solidFill>
                <a:schemeClr val="tx1"/>
              </a:solidFill>
              <a:latin typeface="楷体_GB2312" pitchFamily="49" charset="-122"/>
            </a:endParaRPr>
          </a:p>
        </p:txBody>
      </p:sp>
      <p:sp>
        <p:nvSpPr>
          <p:cNvPr id="2278515" name="Rectangle 1139"/>
          <p:cNvSpPr/>
          <p:nvPr/>
        </p:nvSpPr>
        <p:spPr>
          <a:xfrm>
            <a:off x="4859338" y="2212975"/>
            <a:ext cx="3924300" cy="457200"/>
          </a:xfrm>
          <a:prstGeom prst="rect">
            <a:avLst/>
          </a:prstGeom>
          <a:noFill/>
          <a:ln w="9525">
            <a:noFill/>
          </a:ln>
        </p:spPr>
        <p:txBody>
          <a:bodyPr>
            <a:spAutoFit/>
          </a:bodyPr>
          <a:p>
            <a:pPr algn="l" eaLnBrk="1" hangingPunct="1"/>
            <a:r>
              <a:rPr lang="zh-CN" altLang="en-US" sz="2400" b="1" dirty="0">
                <a:solidFill>
                  <a:srgbClr val="333399"/>
                </a:solidFill>
                <a:latin typeface="楷体_GB2312" pitchFamily="49" charset="-122"/>
              </a:rPr>
              <a:t>按以下规律处理采样信号：</a:t>
            </a:r>
            <a:endParaRPr lang="zh-CN" altLang="en-US" sz="2400" b="1" dirty="0">
              <a:solidFill>
                <a:srgbClr val="333399"/>
              </a:solidFill>
              <a:latin typeface="楷体_GB2312" pitchFamily="49" charset="-122"/>
            </a:endParaRPr>
          </a:p>
        </p:txBody>
      </p:sp>
      <p:sp>
        <p:nvSpPr>
          <p:cNvPr id="2278516" name="Text Box 1140"/>
          <p:cNvSpPr txBox="1"/>
          <p:nvPr/>
        </p:nvSpPr>
        <p:spPr>
          <a:xfrm>
            <a:off x="4932363" y="2779713"/>
            <a:ext cx="3671887" cy="1006475"/>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000" b="1" dirty="0">
                <a:solidFill>
                  <a:srgbClr val="3333FF"/>
                </a:solidFill>
                <a:latin typeface="Times New Roman" panose="02020603050405020304" pitchFamily="18" charset="0"/>
                <a:ea typeface="黑体" panose="02010609060101010101" pitchFamily="49" charset="-122"/>
              </a:rPr>
              <a:t>电压值处于</a:t>
            </a:r>
            <a:r>
              <a:rPr lang="en-US" altLang="zh-CN" sz="2000" b="1">
                <a:solidFill>
                  <a:srgbClr val="FF0000"/>
                </a:solidFill>
                <a:latin typeface="Times New Roman" panose="02020603050405020304" pitchFamily="18" charset="0"/>
                <a:ea typeface="黑体" panose="02010609060101010101" pitchFamily="49" charset="-122"/>
              </a:rPr>
              <a:t>0.5</a:t>
            </a:r>
            <a:r>
              <a:rPr lang="zh-CN" altLang="en-US" sz="2000" b="1" dirty="0">
                <a:solidFill>
                  <a:srgbClr val="FF0000"/>
                </a:solidFill>
                <a:latin typeface="Times New Roman" panose="02020603050405020304" pitchFamily="18" charset="0"/>
                <a:ea typeface="黑体" panose="02010609060101010101" pitchFamily="49" charset="-122"/>
              </a:rPr>
              <a:t>～小于</a:t>
            </a:r>
            <a:r>
              <a:rPr lang="en-US" altLang="zh-CN" sz="2000" b="1">
                <a:solidFill>
                  <a:srgbClr val="FF0000"/>
                </a:solidFill>
                <a:latin typeface="Times New Roman" panose="02020603050405020304" pitchFamily="18" charset="0"/>
                <a:ea typeface="黑体" panose="02010609060101010101" pitchFamily="49" charset="-122"/>
              </a:rPr>
              <a:t>1.5V</a:t>
            </a:r>
            <a:r>
              <a:rPr lang="zh-CN" altLang="en-US" sz="2000" b="1" dirty="0">
                <a:solidFill>
                  <a:srgbClr val="3333FF"/>
                </a:solidFill>
                <a:latin typeface="Times New Roman" panose="02020603050405020304" pitchFamily="18" charset="0"/>
                <a:ea typeface="黑体" panose="02010609060101010101" pitchFamily="49" charset="-122"/>
              </a:rPr>
              <a:t>范围内的采样信号，都将电压值视为</a:t>
            </a:r>
            <a:r>
              <a:rPr lang="en-US" altLang="zh-CN" sz="2000" b="1">
                <a:solidFill>
                  <a:srgbClr val="FF0000"/>
                </a:solidFill>
                <a:latin typeface="Times New Roman" panose="02020603050405020304" pitchFamily="18" charset="0"/>
                <a:ea typeface="黑体" panose="02010609060101010101" pitchFamily="49" charset="-122"/>
              </a:rPr>
              <a:t>1 V</a:t>
            </a:r>
            <a:r>
              <a:rPr lang="zh-CN" altLang="en-US" sz="2000" b="1" dirty="0">
                <a:solidFill>
                  <a:srgbClr val="3333FF"/>
                </a:solidFill>
                <a:latin typeface="Times New Roman" panose="02020603050405020304" pitchFamily="18" charset="0"/>
                <a:ea typeface="黑体" panose="02010609060101010101" pitchFamily="49" charset="-122"/>
              </a:rPr>
              <a:t>； </a:t>
            </a:r>
            <a:endParaRPr lang="zh-CN" altLang="en-US" sz="2000" b="1" dirty="0">
              <a:solidFill>
                <a:srgbClr val="3333FF"/>
              </a:solidFill>
              <a:latin typeface="Times New Roman" panose="02020603050405020304" pitchFamily="18" charset="0"/>
              <a:ea typeface="黑体" panose="02010609060101010101" pitchFamily="49" charset="-122"/>
            </a:endParaRPr>
          </a:p>
        </p:txBody>
      </p:sp>
      <p:sp>
        <p:nvSpPr>
          <p:cNvPr id="2278517" name="Text Box 1141"/>
          <p:cNvSpPr txBox="1"/>
          <p:nvPr/>
        </p:nvSpPr>
        <p:spPr>
          <a:xfrm>
            <a:off x="4930775" y="3825875"/>
            <a:ext cx="3673475" cy="1006475"/>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000" b="1" dirty="0">
                <a:solidFill>
                  <a:srgbClr val="3333FF"/>
                </a:solidFill>
                <a:latin typeface="Times New Roman" panose="02020603050405020304" pitchFamily="18" charset="0"/>
                <a:ea typeface="黑体" panose="02010609060101010101" pitchFamily="49" charset="-122"/>
              </a:rPr>
              <a:t>电压值处于</a:t>
            </a:r>
            <a:r>
              <a:rPr lang="en-US" altLang="zh-CN" sz="2000" b="1">
                <a:solidFill>
                  <a:srgbClr val="FF0000"/>
                </a:solidFill>
                <a:latin typeface="Times New Roman" panose="02020603050405020304" pitchFamily="18" charset="0"/>
                <a:ea typeface="黑体" panose="02010609060101010101" pitchFamily="49" charset="-122"/>
              </a:rPr>
              <a:t>1.5V</a:t>
            </a:r>
            <a:r>
              <a:rPr lang="zh-CN" altLang="en-US" sz="2000" b="1" dirty="0">
                <a:solidFill>
                  <a:srgbClr val="FF0000"/>
                </a:solidFill>
                <a:latin typeface="Times New Roman" panose="02020603050405020304" pitchFamily="18" charset="0"/>
                <a:ea typeface="黑体" panose="02010609060101010101" pitchFamily="49" charset="-122"/>
              </a:rPr>
              <a:t>～小于</a:t>
            </a:r>
            <a:r>
              <a:rPr lang="en-US" altLang="zh-CN" sz="2000" b="1">
                <a:solidFill>
                  <a:srgbClr val="FF0000"/>
                </a:solidFill>
                <a:latin typeface="Times New Roman" panose="02020603050405020304" pitchFamily="18" charset="0"/>
                <a:ea typeface="黑体" panose="02010609060101010101" pitchFamily="49" charset="-122"/>
              </a:rPr>
              <a:t>2.5V</a:t>
            </a:r>
            <a:r>
              <a:rPr lang="zh-CN" altLang="en-US" sz="2000" b="1" dirty="0">
                <a:solidFill>
                  <a:srgbClr val="3333FF"/>
                </a:solidFill>
                <a:latin typeface="Times New Roman" panose="02020603050405020304" pitchFamily="18" charset="0"/>
                <a:ea typeface="黑体" panose="02010609060101010101" pitchFamily="49" charset="-122"/>
              </a:rPr>
              <a:t>范围内的采样信号，则视为</a:t>
            </a:r>
            <a:r>
              <a:rPr lang="en-US" altLang="zh-CN" sz="2000" b="1">
                <a:solidFill>
                  <a:srgbClr val="FF0000"/>
                </a:solidFill>
                <a:latin typeface="Times New Roman" panose="02020603050405020304" pitchFamily="18" charset="0"/>
                <a:ea typeface="黑体" panose="02010609060101010101" pitchFamily="49" charset="-122"/>
              </a:rPr>
              <a:t>2 V</a:t>
            </a:r>
            <a:r>
              <a:rPr lang="zh-CN" altLang="en-US" sz="2000" b="1" dirty="0">
                <a:solidFill>
                  <a:srgbClr val="3333FF"/>
                </a:solidFill>
                <a:latin typeface="Times New Roman" panose="02020603050405020304" pitchFamily="18" charset="0"/>
                <a:ea typeface="黑体" panose="02010609060101010101" pitchFamily="49" charset="-122"/>
              </a:rPr>
              <a:t>； </a:t>
            </a:r>
            <a:endParaRPr lang="zh-CN" altLang="en-US" sz="2000" b="1" dirty="0">
              <a:solidFill>
                <a:srgbClr val="3333FF"/>
              </a:solidFill>
              <a:latin typeface="Times New Roman" panose="02020603050405020304" pitchFamily="18" charset="0"/>
              <a:ea typeface="黑体" panose="02010609060101010101" pitchFamily="49" charset="-122"/>
            </a:endParaRPr>
          </a:p>
        </p:txBody>
      </p:sp>
      <p:sp>
        <p:nvSpPr>
          <p:cNvPr id="2278518" name="Text Box 1142"/>
          <p:cNvSpPr txBox="1"/>
          <p:nvPr/>
        </p:nvSpPr>
        <p:spPr>
          <a:xfrm>
            <a:off x="4932363" y="4868863"/>
            <a:ext cx="2787650" cy="396875"/>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000" b="1" dirty="0">
                <a:solidFill>
                  <a:srgbClr val="3333FF"/>
                </a:solidFill>
                <a:latin typeface="Times New Roman" panose="02020603050405020304" pitchFamily="18" charset="0"/>
                <a:ea typeface="黑体" panose="02010609060101010101" pitchFamily="49" charset="-122"/>
              </a:rPr>
              <a:t>其它依次类推。 </a:t>
            </a:r>
            <a:endParaRPr lang="zh-CN" altLang="en-US" sz="2000" b="1" dirty="0">
              <a:solidFill>
                <a:srgbClr val="3333FF"/>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78418"/>
                                        </p:tgtEl>
                                        <p:attrNameLst>
                                          <p:attrName>style.visibility</p:attrName>
                                        </p:attrNameLst>
                                      </p:cBhvr>
                                      <p:to>
                                        <p:strVal val="visible"/>
                                      </p:to>
                                    </p:set>
                                    <p:animEffect transition="in" filter="dissolve">
                                      <p:cBhvr>
                                        <p:cTn id="7" dur="500"/>
                                        <p:tgtEl>
                                          <p:spTgt spid="22784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78413"/>
                                        </p:tgtEl>
                                        <p:attrNameLst>
                                          <p:attrName>style.visibility</p:attrName>
                                        </p:attrNameLst>
                                      </p:cBhvr>
                                      <p:to>
                                        <p:strVal val="visible"/>
                                      </p:to>
                                    </p:set>
                                    <p:animEffect transition="in" filter="dissolve">
                                      <p:cBhvr>
                                        <p:cTn id="12" dur="500"/>
                                        <p:tgtEl>
                                          <p:spTgt spid="22784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7962"/>
                                        </p:tgtEl>
                                        <p:attrNameLst>
                                          <p:attrName>style.visibility</p:attrName>
                                        </p:attrNameLst>
                                      </p:cBhvr>
                                      <p:to>
                                        <p:strVal val="visible"/>
                                      </p:to>
                                    </p:set>
                                    <p:animEffect transition="in" filter="dissolve">
                                      <p:cBhvr>
                                        <p:cTn id="17" dur="500"/>
                                        <p:tgtEl>
                                          <p:spTgt spid="379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78514">
                                            <p:txEl>
                                              <p:charRg st="0" end="24"/>
                                            </p:txEl>
                                          </p:spTgt>
                                        </p:tgtEl>
                                        <p:attrNameLst>
                                          <p:attrName>style.visibility</p:attrName>
                                        </p:attrNameLst>
                                      </p:cBhvr>
                                      <p:to>
                                        <p:strVal val="visible"/>
                                      </p:to>
                                    </p:set>
                                    <p:animEffect transition="in" filter="dissolve">
                                      <p:cBhvr>
                                        <p:cTn id="22" dur="500"/>
                                        <p:tgtEl>
                                          <p:spTgt spid="2278514">
                                            <p:txEl>
                                              <p:charRg st="0" end="2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78515"/>
                                        </p:tgtEl>
                                        <p:attrNameLst>
                                          <p:attrName>style.visibility</p:attrName>
                                        </p:attrNameLst>
                                      </p:cBhvr>
                                      <p:to>
                                        <p:strVal val="visible"/>
                                      </p:to>
                                    </p:set>
                                    <p:animEffect transition="in" filter="dissolve">
                                      <p:cBhvr>
                                        <p:cTn id="27" dur="500"/>
                                        <p:tgtEl>
                                          <p:spTgt spid="2278515"/>
                                        </p:tgtEl>
                                      </p:cBhvr>
                                    </p:animEffect>
                                  </p:childTnLst>
                                </p:cTn>
                              </p:par>
                            </p:childTnLst>
                          </p:cTn>
                        </p:par>
                        <p:par>
                          <p:cTn id="28" fill="hold">
                            <p:stCondLst>
                              <p:cond delay="500"/>
                            </p:stCondLst>
                            <p:childTnLst>
                              <p:par>
                                <p:cTn id="29" presetID="9" presetClass="entr" presetSubtype="0" fill="hold" grpId="0" nodeType="afterEffect">
                                  <p:stCondLst>
                                    <p:cond delay="0"/>
                                  </p:stCondLst>
                                  <p:childTnLst>
                                    <p:set>
                                      <p:cBhvr>
                                        <p:cTn id="30" dur="1" fill="hold">
                                          <p:stCondLst>
                                            <p:cond delay="0"/>
                                          </p:stCondLst>
                                        </p:cTn>
                                        <p:tgtEl>
                                          <p:spTgt spid="2278516">
                                            <p:txEl>
                                              <p:charRg st="0" end="37"/>
                                            </p:txEl>
                                          </p:spTgt>
                                        </p:tgtEl>
                                        <p:attrNameLst>
                                          <p:attrName>style.visibility</p:attrName>
                                        </p:attrNameLst>
                                      </p:cBhvr>
                                      <p:to>
                                        <p:strVal val="visible"/>
                                      </p:to>
                                    </p:set>
                                    <p:animEffect transition="in" filter="dissolve">
                                      <p:cBhvr>
                                        <p:cTn id="31" dur="500"/>
                                        <p:tgtEl>
                                          <p:spTgt spid="2278516">
                                            <p:txEl>
                                              <p:charRg st="0" end="37"/>
                                            </p:txEl>
                                          </p:spTgt>
                                        </p:tgtEl>
                                      </p:cBhvr>
                                    </p:animEffect>
                                  </p:childTnLst>
                                </p:cTn>
                              </p:par>
                            </p:childTnLst>
                          </p:cTn>
                        </p:par>
                        <p:par>
                          <p:cTn id="32" fill="hold">
                            <p:stCondLst>
                              <p:cond delay="1000"/>
                            </p:stCondLst>
                            <p:childTnLst>
                              <p:par>
                                <p:cTn id="33" presetID="9" presetClass="entr" presetSubtype="0" fill="hold" grpId="0" nodeType="afterEffect">
                                  <p:stCondLst>
                                    <p:cond delay="0"/>
                                  </p:stCondLst>
                                  <p:childTnLst>
                                    <p:set>
                                      <p:cBhvr>
                                        <p:cTn id="34" dur="1" fill="hold">
                                          <p:stCondLst>
                                            <p:cond delay="0"/>
                                          </p:stCondLst>
                                        </p:cTn>
                                        <p:tgtEl>
                                          <p:spTgt spid="2278517">
                                            <p:txEl>
                                              <p:charRg st="0" end="34"/>
                                            </p:txEl>
                                          </p:spTgt>
                                        </p:tgtEl>
                                        <p:attrNameLst>
                                          <p:attrName>style.visibility</p:attrName>
                                        </p:attrNameLst>
                                      </p:cBhvr>
                                      <p:to>
                                        <p:strVal val="visible"/>
                                      </p:to>
                                    </p:set>
                                    <p:animEffect transition="in" filter="dissolve">
                                      <p:cBhvr>
                                        <p:cTn id="35" dur="500"/>
                                        <p:tgtEl>
                                          <p:spTgt spid="2278517">
                                            <p:txEl>
                                              <p:charRg st="0" end="34"/>
                                            </p:txEl>
                                          </p:spTgt>
                                        </p:tgtEl>
                                      </p:cBhvr>
                                    </p:animEffect>
                                  </p:childTnLst>
                                </p:cTn>
                              </p:par>
                            </p:childTnLst>
                          </p:cTn>
                        </p:par>
                        <p:par>
                          <p:cTn id="36" fill="hold">
                            <p:stCondLst>
                              <p:cond delay="1500"/>
                            </p:stCondLst>
                            <p:childTnLst>
                              <p:par>
                                <p:cTn id="37" presetID="9" presetClass="entr" presetSubtype="0" fill="hold" grpId="0" nodeType="afterEffect">
                                  <p:stCondLst>
                                    <p:cond delay="0"/>
                                  </p:stCondLst>
                                  <p:childTnLst>
                                    <p:set>
                                      <p:cBhvr>
                                        <p:cTn id="38" dur="1" fill="hold">
                                          <p:stCondLst>
                                            <p:cond delay="0"/>
                                          </p:stCondLst>
                                        </p:cTn>
                                        <p:tgtEl>
                                          <p:spTgt spid="2278518"/>
                                        </p:tgtEl>
                                        <p:attrNameLst>
                                          <p:attrName>style.visibility</p:attrName>
                                        </p:attrNameLst>
                                      </p:cBhvr>
                                      <p:to>
                                        <p:strVal val="visible"/>
                                      </p:to>
                                    </p:set>
                                    <p:animEffect transition="in" filter="dissolve">
                                      <p:cBhvr>
                                        <p:cTn id="39" dur="500"/>
                                        <p:tgtEl>
                                          <p:spTgt spid="2278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8413" grpId="0" bldLvl="0" animBg="1"/>
      <p:bldP spid="2278418" grpId="0" bldLvl="0" animBg="1"/>
      <p:bldP spid="2278514" grpId="0" build="p"/>
      <p:bldP spid="2278515" grpId="0"/>
      <p:bldP spid="2278516" grpId="0" build="p"/>
      <p:bldP spid="2278517" grpId="0" build="p"/>
      <p:bldP spid="227851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8914" name="Text Box 2"/>
          <p:cNvSpPr txBox="1"/>
          <p:nvPr/>
        </p:nvSpPr>
        <p:spPr>
          <a:xfrm>
            <a:off x="1908175" y="765175"/>
            <a:ext cx="6840538" cy="101600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spcBef>
                <a:spcPct val="50000"/>
              </a:spcBef>
            </a:pPr>
            <a:r>
              <a:rPr lang="zh-CN" altLang="en-US" sz="2000" b="1" dirty="0">
                <a:solidFill>
                  <a:schemeClr val="tx1"/>
                </a:solidFill>
                <a:latin typeface="黑体" panose="02010609060101010101" pitchFamily="49" charset="-122"/>
                <a:ea typeface="黑体" panose="02010609060101010101" pitchFamily="49" charset="-122"/>
              </a:rPr>
              <a:t>设来自传感器的模拟信号的电压是在</a:t>
            </a:r>
            <a:r>
              <a:rPr lang="en-US" altLang="zh-CN" sz="2000" b="1">
                <a:solidFill>
                  <a:schemeClr val="tx1"/>
                </a:solidFill>
                <a:latin typeface="黑体" panose="02010609060101010101" pitchFamily="49" charset="-122"/>
                <a:ea typeface="黑体" panose="02010609060101010101" pitchFamily="49" charset="-122"/>
              </a:rPr>
              <a:t>0</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范围内变化，如下图</a:t>
            </a:r>
            <a:r>
              <a:rPr lang="en-US" altLang="zh-CN" sz="2000" b="1">
                <a:solidFill>
                  <a:schemeClr val="tx1"/>
                </a:solidFill>
                <a:latin typeface="黑体" panose="02010609060101010101" pitchFamily="49" charset="-122"/>
                <a:ea typeface="黑体" panose="02010609060101010101" pitchFamily="49" charset="-122"/>
              </a:rPr>
              <a:t>(a)</a:t>
            </a:r>
            <a:r>
              <a:rPr lang="zh-CN" altLang="en-US" sz="2000" b="1" dirty="0">
                <a:solidFill>
                  <a:schemeClr val="tx1"/>
                </a:solidFill>
                <a:latin typeface="黑体" panose="02010609060101010101" pitchFamily="49" charset="-122"/>
                <a:ea typeface="黑体" panose="02010609060101010101" pitchFamily="49" charset="-122"/>
              </a:rPr>
              <a:t>中虚线所示。现用</a:t>
            </a:r>
            <a:r>
              <a:rPr lang="en-US" altLang="zh-CN" sz="2000" b="1">
                <a:solidFill>
                  <a:schemeClr val="tx1"/>
                </a:solidFill>
                <a:latin typeface="黑体" panose="02010609060101010101" pitchFamily="49" charset="-122"/>
                <a:ea typeface="黑体" panose="02010609060101010101" pitchFamily="49" charset="-122"/>
              </a:rPr>
              <a:t>1V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2V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3V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4V</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（即量化单位</a:t>
            </a:r>
            <a:r>
              <a:rPr lang="en-US" altLang="zh-CN" sz="2000" b="1">
                <a:solidFill>
                  <a:schemeClr val="tx1"/>
                </a:solidFill>
                <a:latin typeface="黑体" panose="02010609060101010101" pitchFamily="49" charset="-122"/>
                <a:ea typeface="黑体" panose="02010609060101010101" pitchFamily="49" charset="-122"/>
              </a:rPr>
              <a:t>1V</a:t>
            </a:r>
            <a:r>
              <a:rPr lang="zh-CN" altLang="en-US" sz="2000" b="1" dirty="0">
                <a:solidFill>
                  <a:schemeClr val="tx1"/>
                </a:solidFill>
                <a:latin typeface="黑体" panose="02010609060101010101" pitchFamily="49" charset="-122"/>
                <a:ea typeface="黑体" panose="02010609060101010101" pitchFamily="49" charset="-122"/>
              </a:rPr>
              <a:t>）五个电平近似取代 </a:t>
            </a:r>
            <a:r>
              <a:rPr lang="en-US" altLang="zh-CN" sz="2000" b="1">
                <a:solidFill>
                  <a:schemeClr val="tx1"/>
                </a:solidFill>
                <a:latin typeface="黑体" panose="02010609060101010101" pitchFamily="49" charset="-122"/>
                <a:ea typeface="黑体" panose="02010609060101010101" pitchFamily="49" charset="-122"/>
              </a:rPr>
              <a:t>0</a:t>
            </a:r>
            <a:r>
              <a:rPr lang="zh-CN" altLang="en-US" sz="2000" b="1" dirty="0">
                <a:solidFill>
                  <a:schemeClr val="tx1"/>
                </a:solidFill>
                <a:latin typeface="黑体" panose="02010609060101010101" pitchFamily="49" charset="-122"/>
                <a:ea typeface="黑体" panose="02010609060101010101" pitchFamily="49" charset="-122"/>
              </a:rPr>
              <a:t>～</a:t>
            </a:r>
            <a:r>
              <a:rPr lang="en-US" altLang="zh-CN" sz="2000" b="1">
                <a:solidFill>
                  <a:schemeClr val="tx1"/>
                </a:solidFill>
                <a:latin typeface="黑体" panose="02010609060101010101" pitchFamily="49" charset="-122"/>
                <a:ea typeface="黑体" panose="02010609060101010101" pitchFamily="49" charset="-122"/>
              </a:rPr>
              <a:t>5V</a:t>
            </a:r>
            <a:r>
              <a:rPr lang="zh-CN" altLang="en-US" sz="2000" b="1" dirty="0">
                <a:solidFill>
                  <a:schemeClr val="tx1"/>
                </a:solidFill>
                <a:latin typeface="黑体" panose="02010609060101010101" pitchFamily="49" charset="-122"/>
                <a:ea typeface="黑体" panose="02010609060101010101" pitchFamily="49" charset="-122"/>
              </a:rPr>
              <a:t>范围内变化的采样信号。</a:t>
            </a:r>
            <a:endParaRPr lang="zh-CN" altLang="en-US" sz="2000" b="1" dirty="0">
              <a:solidFill>
                <a:schemeClr val="tx1"/>
              </a:solidFill>
              <a:latin typeface="黑体" panose="02010609060101010101" pitchFamily="49" charset="-122"/>
              <a:ea typeface="黑体" panose="02010609060101010101" pitchFamily="49" charset="-122"/>
            </a:endParaRPr>
          </a:p>
        </p:txBody>
      </p:sp>
      <p:sp>
        <p:nvSpPr>
          <p:cNvPr id="2335747" name="Text Box 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35748" name="Text Box 4"/>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38917" name="Text Box 5"/>
          <p:cNvSpPr txBox="1"/>
          <p:nvPr/>
        </p:nvSpPr>
        <p:spPr>
          <a:xfrm>
            <a:off x="369888" y="728663"/>
            <a:ext cx="1249362" cy="1076325"/>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量化实例：</a:t>
            </a:r>
            <a:endParaRPr lang="zh-CN" altLang="en-US" sz="3200" b="1" dirty="0">
              <a:solidFill>
                <a:srgbClr val="333399"/>
              </a:solidFill>
              <a:latin typeface="黑体" panose="02010609060101010101" pitchFamily="49" charset="-122"/>
              <a:ea typeface="黑体" panose="02010609060101010101" pitchFamily="49" charset="-122"/>
            </a:endParaRPr>
          </a:p>
        </p:txBody>
      </p:sp>
      <p:grpSp>
        <p:nvGrpSpPr>
          <p:cNvPr id="38918" name="Group 6"/>
          <p:cNvGrpSpPr/>
          <p:nvPr/>
        </p:nvGrpSpPr>
        <p:grpSpPr>
          <a:xfrm>
            <a:off x="2212975" y="1838325"/>
            <a:ext cx="555625" cy="396875"/>
            <a:chOff x="1367" y="393"/>
            <a:chExt cx="350" cy="250"/>
          </a:xfrm>
        </p:grpSpPr>
        <p:sp>
          <p:nvSpPr>
            <p:cNvPr id="39015" name="AutoShape 7"/>
            <p:cNvSpPr/>
            <p:nvPr/>
          </p:nvSpPr>
          <p:spPr>
            <a:xfrm>
              <a:off x="1367" y="417"/>
              <a:ext cx="326" cy="217"/>
            </a:xfrm>
            <a:prstGeom prst="wedgeRectCallout">
              <a:avLst>
                <a:gd name="adj1" fmla="val -54602"/>
                <a:gd name="adj2" fmla="val 150921"/>
              </a:avLst>
            </a:prstGeom>
            <a:solidFill>
              <a:srgbClr val="CCFFFF"/>
            </a:solidFill>
            <a:ln w="9525" cap="flat" cmpd="sng">
              <a:solidFill>
                <a:srgbClr val="CCFFFF"/>
              </a:solidFill>
              <a:prstDash val="solid"/>
              <a:miter/>
              <a:headEnd type="none" w="med" len="med"/>
              <a:tailEnd type="none" w="sm" len="lg"/>
            </a:ln>
          </p:spPr>
          <p:txBody>
            <a:bodyPr anchor="ctr" anchorCtr="0"/>
            <a:p>
              <a:pPr algn="ctr" eaLnBrk="1" hangingPunct="1"/>
              <a:endParaRPr lang="zh-CN" altLang="zh-CN" b="1" dirty="0">
                <a:solidFill>
                  <a:srgbClr val="333399"/>
                </a:solidFill>
                <a:latin typeface="楷体_GB2312" pitchFamily="49" charset="-122"/>
              </a:endParaRPr>
            </a:p>
          </p:txBody>
        </p:sp>
        <p:sp>
          <p:nvSpPr>
            <p:cNvPr id="39016" name="Text Box 8"/>
            <p:cNvSpPr txBox="1"/>
            <p:nvPr/>
          </p:nvSpPr>
          <p:spPr>
            <a:xfrm>
              <a:off x="1371" y="393"/>
              <a:ext cx="346" cy="250"/>
            </a:xfrm>
            <a:prstGeom prst="rect">
              <a:avLst/>
            </a:prstGeom>
            <a:noFill/>
            <a:ln w="9525">
              <a:noFill/>
            </a:ln>
          </p:spPr>
          <p:txBody>
            <a:bodyPr>
              <a:spAutoFit/>
            </a:bodyPr>
            <a:p>
              <a:pPr algn="ctr" eaLnBrk="1" hangingPunct="1"/>
              <a:r>
                <a:rPr lang="en-US" altLang="zh-CN" sz="2000" b="1" i="1" err="1">
                  <a:solidFill>
                    <a:srgbClr val="333399"/>
                  </a:solidFill>
                  <a:latin typeface="Times New Roman" panose="02020603050405020304" pitchFamily="18" charset="0"/>
                </a:rPr>
                <a:t>x(t</a:t>
              </a:r>
              <a:r>
                <a:rPr lang="en-US" altLang="zh-CN" sz="2000" b="1" i="1">
                  <a:solidFill>
                    <a:srgbClr val="333399"/>
                  </a:solidFill>
                  <a:latin typeface="Times New Roman" panose="02020603050405020304" pitchFamily="18" charset="0"/>
                </a:rPr>
                <a:t>)</a:t>
              </a:r>
              <a:endParaRPr lang="en-US" altLang="zh-CN" sz="2000" b="1" i="1">
                <a:solidFill>
                  <a:srgbClr val="333399"/>
                </a:solidFill>
                <a:latin typeface="Times New Roman" panose="02020603050405020304" pitchFamily="18" charset="0"/>
              </a:endParaRPr>
            </a:p>
          </p:txBody>
        </p:sp>
      </p:grpSp>
      <p:sp>
        <p:nvSpPr>
          <p:cNvPr id="38919" name="Line 9"/>
          <p:cNvSpPr/>
          <p:nvPr/>
        </p:nvSpPr>
        <p:spPr>
          <a:xfrm>
            <a:off x="798513" y="4752975"/>
            <a:ext cx="3273425" cy="0"/>
          </a:xfrm>
          <a:prstGeom prst="line">
            <a:avLst/>
          </a:prstGeom>
          <a:ln w="9525" cap="flat" cmpd="sng">
            <a:solidFill>
              <a:srgbClr val="3333FF"/>
            </a:solidFill>
            <a:prstDash val="solid"/>
            <a:headEnd type="none" w="med" len="med"/>
            <a:tailEnd type="triangle" w="sm" len="lg"/>
          </a:ln>
        </p:spPr>
      </p:sp>
      <p:sp>
        <p:nvSpPr>
          <p:cNvPr id="38920" name="Text Box 10"/>
          <p:cNvSpPr txBox="1"/>
          <p:nvPr/>
        </p:nvSpPr>
        <p:spPr>
          <a:xfrm>
            <a:off x="4037013" y="4567238"/>
            <a:ext cx="25400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endParaRPr lang="en-US" altLang="zh-CN" sz="2000" b="1" i="1">
              <a:solidFill>
                <a:srgbClr val="333399"/>
              </a:solidFill>
              <a:latin typeface="Times New Roman" panose="02020603050405020304" pitchFamily="18" charset="0"/>
            </a:endParaRPr>
          </a:p>
        </p:txBody>
      </p:sp>
      <p:sp>
        <p:nvSpPr>
          <p:cNvPr id="38921" name="Line 11"/>
          <p:cNvSpPr/>
          <p:nvPr/>
        </p:nvSpPr>
        <p:spPr>
          <a:xfrm flipV="1">
            <a:off x="798513" y="1916113"/>
            <a:ext cx="0" cy="2836862"/>
          </a:xfrm>
          <a:prstGeom prst="line">
            <a:avLst/>
          </a:prstGeom>
          <a:ln w="9525" cap="flat" cmpd="sng">
            <a:solidFill>
              <a:srgbClr val="3333FF"/>
            </a:solidFill>
            <a:prstDash val="solid"/>
            <a:headEnd type="none" w="med" len="med"/>
            <a:tailEnd type="triangle" w="sm" len="lg"/>
          </a:ln>
        </p:spPr>
      </p:sp>
      <p:sp>
        <p:nvSpPr>
          <p:cNvPr id="38922" name="Text Box 12"/>
          <p:cNvSpPr txBox="1"/>
          <p:nvPr/>
        </p:nvSpPr>
        <p:spPr>
          <a:xfrm>
            <a:off x="323850" y="1785938"/>
            <a:ext cx="414338" cy="396875"/>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U</a:t>
            </a:r>
            <a:r>
              <a:rPr lang="en-US" altLang="zh-CN" sz="2000" b="1" i="1" baseline="-25000" err="1">
                <a:solidFill>
                  <a:srgbClr val="333399"/>
                </a:solidFill>
                <a:latin typeface="Times New Roman" panose="02020603050405020304" pitchFamily="18" charset="0"/>
              </a:rPr>
              <a:t>i</a:t>
            </a:r>
            <a:endParaRPr lang="en-US" altLang="zh-CN" sz="2000" b="1" i="1" baseline="-25000" err="1">
              <a:solidFill>
                <a:srgbClr val="333399"/>
              </a:solidFill>
              <a:latin typeface="Times New Roman" panose="02020603050405020304" pitchFamily="18" charset="0"/>
            </a:endParaRPr>
          </a:p>
        </p:txBody>
      </p:sp>
      <p:sp>
        <p:nvSpPr>
          <p:cNvPr id="38923" name="Freeform 13"/>
          <p:cNvSpPr/>
          <p:nvPr/>
        </p:nvSpPr>
        <p:spPr>
          <a:xfrm>
            <a:off x="917575" y="2562225"/>
            <a:ext cx="2609850" cy="2124075"/>
          </a:xfrm>
          <a:custGeom>
            <a:avLst/>
            <a:gdLst/>
            <a:ahLst/>
            <a:cxnLst>
              <a:cxn ang="0">
                <a:pos x="0" y="2147483647"/>
              </a:cxn>
              <a:cxn ang="0">
                <a:pos x="209173763" y="2147483647"/>
              </a:cxn>
              <a:cxn ang="0">
                <a:pos x="378023438" y="2147483647"/>
              </a:cxn>
              <a:cxn ang="0">
                <a:pos x="546874700" y="2147483647"/>
              </a:cxn>
              <a:cxn ang="0">
                <a:pos x="693043763" y="2147483647"/>
              </a:cxn>
              <a:cxn ang="0">
                <a:pos x="798890325" y="2147483647"/>
              </a:cxn>
              <a:cxn ang="0">
                <a:pos x="861893438" y="2089210325"/>
              </a:cxn>
              <a:cxn ang="0">
                <a:pos x="904736888" y="1837194700"/>
              </a:cxn>
              <a:cxn ang="0">
                <a:pos x="967740000" y="1499493763"/>
              </a:cxn>
              <a:cxn ang="0">
                <a:pos x="1030744700" y="1164312188"/>
              </a:cxn>
              <a:cxn ang="0">
                <a:pos x="1176913763" y="763608138"/>
              </a:cxn>
              <a:cxn ang="0">
                <a:pos x="1325602188" y="448587813"/>
              </a:cxn>
              <a:cxn ang="0">
                <a:pos x="1471771250" y="259576888"/>
              </a:cxn>
              <a:cxn ang="0">
                <a:pos x="1852315638" y="27722513"/>
              </a:cxn>
              <a:cxn ang="0">
                <a:pos x="2147483647" y="90725625"/>
              </a:cxn>
              <a:cxn ang="0">
                <a:pos x="2147483647" y="259576888"/>
              </a:cxn>
              <a:cxn ang="0">
                <a:pos x="2147483647" y="617439075"/>
              </a:cxn>
              <a:cxn ang="0">
                <a:pos x="2147483647" y="952619063"/>
              </a:cxn>
              <a:cxn ang="0">
                <a:pos x="2147483647" y="1330642500"/>
              </a:cxn>
              <a:cxn ang="0">
                <a:pos x="2147483647" y="1479332513"/>
              </a:cxn>
              <a:cxn ang="0">
                <a:pos x="2147483647" y="1648182188"/>
              </a:cxn>
              <a:cxn ang="0">
                <a:pos x="2147483647" y="1774190000"/>
              </a:cxn>
            </a:cxnLst>
            <a:pathLst>
              <a:path w="1644" h="1338">
                <a:moveTo>
                  <a:pt x="0" y="1338"/>
                </a:moveTo>
                <a:cubicBezTo>
                  <a:pt x="29" y="1325"/>
                  <a:pt x="58" y="1313"/>
                  <a:pt x="83" y="1296"/>
                </a:cubicBezTo>
                <a:cubicBezTo>
                  <a:pt x="108" y="1279"/>
                  <a:pt x="128" y="1262"/>
                  <a:pt x="150" y="1238"/>
                </a:cubicBezTo>
                <a:cubicBezTo>
                  <a:pt x="172" y="1214"/>
                  <a:pt x="196" y="1185"/>
                  <a:pt x="217" y="1154"/>
                </a:cubicBezTo>
                <a:cubicBezTo>
                  <a:pt x="238" y="1123"/>
                  <a:pt x="258" y="1090"/>
                  <a:pt x="275" y="1054"/>
                </a:cubicBezTo>
                <a:cubicBezTo>
                  <a:pt x="292" y="1018"/>
                  <a:pt x="306" y="974"/>
                  <a:pt x="317" y="937"/>
                </a:cubicBezTo>
                <a:cubicBezTo>
                  <a:pt x="328" y="900"/>
                  <a:pt x="335" y="864"/>
                  <a:pt x="342" y="829"/>
                </a:cubicBezTo>
                <a:cubicBezTo>
                  <a:pt x="349" y="794"/>
                  <a:pt x="352" y="768"/>
                  <a:pt x="359" y="729"/>
                </a:cubicBezTo>
                <a:cubicBezTo>
                  <a:pt x="366" y="690"/>
                  <a:pt x="376" y="639"/>
                  <a:pt x="384" y="595"/>
                </a:cubicBezTo>
                <a:cubicBezTo>
                  <a:pt x="392" y="551"/>
                  <a:pt x="395" y="511"/>
                  <a:pt x="409" y="462"/>
                </a:cubicBezTo>
                <a:cubicBezTo>
                  <a:pt x="423" y="413"/>
                  <a:pt x="447" y="350"/>
                  <a:pt x="467" y="303"/>
                </a:cubicBezTo>
                <a:cubicBezTo>
                  <a:pt x="487" y="256"/>
                  <a:pt x="507" y="211"/>
                  <a:pt x="526" y="178"/>
                </a:cubicBezTo>
                <a:cubicBezTo>
                  <a:pt x="545" y="145"/>
                  <a:pt x="549" y="131"/>
                  <a:pt x="584" y="103"/>
                </a:cubicBezTo>
                <a:cubicBezTo>
                  <a:pt x="619" y="75"/>
                  <a:pt x="679" y="22"/>
                  <a:pt x="735" y="11"/>
                </a:cubicBezTo>
                <a:cubicBezTo>
                  <a:pt x="791" y="0"/>
                  <a:pt x="871" y="21"/>
                  <a:pt x="918" y="36"/>
                </a:cubicBezTo>
                <a:cubicBezTo>
                  <a:pt x="965" y="51"/>
                  <a:pt x="989" y="68"/>
                  <a:pt x="1018" y="103"/>
                </a:cubicBezTo>
                <a:cubicBezTo>
                  <a:pt x="1047" y="138"/>
                  <a:pt x="1068" y="199"/>
                  <a:pt x="1094" y="245"/>
                </a:cubicBezTo>
                <a:cubicBezTo>
                  <a:pt x="1120" y="291"/>
                  <a:pt x="1141" y="331"/>
                  <a:pt x="1177" y="378"/>
                </a:cubicBezTo>
                <a:cubicBezTo>
                  <a:pt x="1213" y="425"/>
                  <a:pt x="1273" y="493"/>
                  <a:pt x="1311" y="528"/>
                </a:cubicBezTo>
                <a:cubicBezTo>
                  <a:pt x="1349" y="563"/>
                  <a:pt x="1370" y="566"/>
                  <a:pt x="1402" y="587"/>
                </a:cubicBezTo>
                <a:cubicBezTo>
                  <a:pt x="1434" y="608"/>
                  <a:pt x="1463" y="635"/>
                  <a:pt x="1503" y="654"/>
                </a:cubicBezTo>
                <a:cubicBezTo>
                  <a:pt x="1543" y="673"/>
                  <a:pt x="1593" y="688"/>
                  <a:pt x="1644" y="704"/>
                </a:cubicBezTo>
              </a:path>
            </a:pathLst>
          </a:custGeom>
          <a:noFill/>
          <a:ln w="9525" cap="flat" cmpd="sng">
            <a:solidFill>
              <a:srgbClr val="FF0000">
                <a:alpha val="100000"/>
              </a:srgbClr>
            </a:solidFill>
            <a:prstDash val="solid"/>
            <a:round/>
            <a:headEnd type="none" w="med" len="med"/>
            <a:tailEnd type="none" w="sm" len="lg"/>
          </a:ln>
        </p:spPr>
        <p:txBody>
          <a:bodyPr/>
          <a:p>
            <a:pPr algn="ctr" eaLnBrk="1" hangingPunct="1"/>
            <a:endParaRPr lang="zh-CN" altLang="en-US" b="1">
              <a:solidFill>
                <a:srgbClr val="333399"/>
              </a:solidFill>
              <a:latin typeface="楷体_GB2312" pitchFamily="49" charset="-122"/>
            </a:endParaRPr>
          </a:p>
        </p:txBody>
      </p:sp>
      <p:sp>
        <p:nvSpPr>
          <p:cNvPr id="38924" name="Text Box 14"/>
          <p:cNvSpPr txBox="1"/>
          <p:nvPr/>
        </p:nvSpPr>
        <p:spPr>
          <a:xfrm>
            <a:off x="496888" y="4602163"/>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0</a:t>
            </a:r>
            <a:endParaRPr lang="en-US" altLang="zh-CN" sz="1600" b="1">
              <a:solidFill>
                <a:srgbClr val="333399"/>
              </a:solidFill>
              <a:latin typeface="Times New Roman" panose="02020603050405020304" pitchFamily="18" charset="0"/>
            </a:endParaRPr>
          </a:p>
        </p:txBody>
      </p:sp>
      <p:sp>
        <p:nvSpPr>
          <p:cNvPr id="38925" name="Line 15"/>
          <p:cNvSpPr/>
          <p:nvPr/>
        </p:nvSpPr>
        <p:spPr>
          <a:xfrm>
            <a:off x="798513" y="4527550"/>
            <a:ext cx="3048000" cy="0"/>
          </a:xfrm>
          <a:prstGeom prst="line">
            <a:avLst/>
          </a:prstGeom>
          <a:ln w="9525" cap="flat" cmpd="sng">
            <a:solidFill>
              <a:srgbClr val="006666"/>
            </a:solidFill>
            <a:prstDash val="sysDot"/>
            <a:headEnd type="none" w="med" len="med"/>
            <a:tailEnd type="none" w="sm" len="lg"/>
          </a:ln>
        </p:spPr>
      </p:sp>
      <p:sp>
        <p:nvSpPr>
          <p:cNvPr id="38926" name="Text Box 16"/>
          <p:cNvSpPr txBox="1"/>
          <p:nvPr/>
        </p:nvSpPr>
        <p:spPr>
          <a:xfrm>
            <a:off x="336550" y="4370388"/>
            <a:ext cx="4381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0.5</a:t>
            </a:r>
            <a:endParaRPr lang="en-US" altLang="zh-CN" sz="1600" b="1">
              <a:solidFill>
                <a:srgbClr val="333399"/>
              </a:solidFill>
              <a:latin typeface="Times New Roman" panose="02020603050405020304" pitchFamily="18" charset="0"/>
            </a:endParaRPr>
          </a:p>
        </p:txBody>
      </p:sp>
      <p:sp>
        <p:nvSpPr>
          <p:cNvPr id="38927" name="Line 17"/>
          <p:cNvSpPr/>
          <p:nvPr/>
        </p:nvSpPr>
        <p:spPr>
          <a:xfrm>
            <a:off x="798513" y="4302125"/>
            <a:ext cx="3060700" cy="0"/>
          </a:xfrm>
          <a:prstGeom prst="line">
            <a:avLst/>
          </a:prstGeom>
          <a:ln w="9525" cap="flat" cmpd="sng">
            <a:solidFill>
              <a:srgbClr val="006666"/>
            </a:solidFill>
            <a:prstDash val="solid"/>
            <a:headEnd type="none" w="med" len="med"/>
            <a:tailEnd type="none" w="sm" len="lg"/>
          </a:ln>
        </p:spPr>
      </p:sp>
      <p:sp>
        <p:nvSpPr>
          <p:cNvPr id="38928" name="Text Box 18"/>
          <p:cNvSpPr txBox="1"/>
          <p:nvPr/>
        </p:nvSpPr>
        <p:spPr>
          <a:xfrm>
            <a:off x="476250" y="4143375"/>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1</a:t>
            </a:r>
            <a:endParaRPr lang="en-US" altLang="zh-CN" sz="1600" b="1">
              <a:solidFill>
                <a:srgbClr val="333399"/>
              </a:solidFill>
              <a:latin typeface="Times New Roman" panose="02020603050405020304" pitchFamily="18" charset="0"/>
            </a:endParaRPr>
          </a:p>
        </p:txBody>
      </p:sp>
      <p:sp>
        <p:nvSpPr>
          <p:cNvPr id="38929" name="Line 19"/>
          <p:cNvSpPr/>
          <p:nvPr/>
        </p:nvSpPr>
        <p:spPr>
          <a:xfrm>
            <a:off x="798513" y="4089400"/>
            <a:ext cx="3060700" cy="0"/>
          </a:xfrm>
          <a:prstGeom prst="line">
            <a:avLst/>
          </a:prstGeom>
          <a:ln w="9525" cap="flat" cmpd="sng">
            <a:solidFill>
              <a:srgbClr val="006666"/>
            </a:solidFill>
            <a:prstDash val="sysDot"/>
            <a:headEnd type="none" w="med" len="med"/>
            <a:tailEnd type="none" w="sm" len="lg"/>
          </a:ln>
        </p:spPr>
      </p:sp>
      <p:sp>
        <p:nvSpPr>
          <p:cNvPr id="38930" name="Text Box 20"/>
          <p:cNvSpPr txBox="1"/>
          <p:nvPr/>
        </p:nvSpPr>
        <p:spPr>
          <a:xfrm>
            <a:off x="368300" y="3913188"/>
            <a:ext cx="4381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1.5</a:t>
            </a:r>
            <a:endParaRPr lang="en-US" altLang="zh-CN" sz="1600" b="1">
              <a:solidFill>
                <a:srgbClr val="333399"/>
              </a:solidFill>
              <a:latin typeface="Times New Roman" panose="02020603050405020304" pitchFamily="18" charset="0"/>
            </a:endParaRPr>
          </a:p>
        </p:txBody>
      </p:sp>
      <p:sp>
        <p:nvSpPr>
          <p:cNvPr id="38931" name="Line 21"/>
          <p:cNvSpPr/>
          <p:nvPr/>
        </p:nvSpPr>
        <p:spPr>
          <a:xfrm>
            <a:off x="798513" y="3851275"/>
            <a:ext cx="3074987" cy="0"/>
          </a:xfrm>
          <a:prstGeom prst="line">
            <a:avLst/>
          </a:prstGeom>
          <a:ln w="9525" cap="flat" cmpd="sng">
            <a:solidFill>
              <a:srgbClr val="006666"/>
            </a:solidFill>
            <a:prstDash val="solid"/>
            <a:headEnd type="none" w="med" len="med"/>
            <a:tailEnd type="none" w="sm" len="lg"/>
          </a:ln>
        </p:spPr>
      </p:sp>
      <p:sp>
        <p:nvSpPr>
          <p:cNvPr id="38932" name="Text Box 22"/>
          <p:cNvSpPr txBox="1"/>
          <p:nvPr/>
        </p:nvSpPr>
        <p:spPr>
          <a:xfrm>
            <a:off x="495300" y="3687763"/>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2</a:t>
            </a:r>
            <a:endParaRPr lang="en-US" altLang="zh-CN" sz="1600" b="1">
              <a:solidFill>
                <a:srgbClr val="333399"/>
              </a:solidFill>
              <a:latin typeface="Times New Roman" panose="02020603050405020304" pitchFamily="18" charset="0"/>
            </a:endParaRPr>
          </a:p>
        </p:txBody>
      </p:sp>
      <p:sp>
        <p:nvSpPr>
          <p:cNvPr id="38933" name="Line 23"/>
          <p:cNvSpPr/>
          <p:nvPr/>
        </p:nvSpPr>
        <p:spPr>
          <a:xfrm>
            <a:off x="817563" y="3619500"/>
            <a:ext cx="3060700" cy="0"/>
          </a:xfrm>
          <a:prstGeom prst="line">
            <a:avLst/>
          </a:prstGeom>
          <a:ln w="9525" cap="flat" cmpd="sng">
            <a:solidFill>
              <a:srgbClr val="006666"/>
            </a:solidFill>
            <a:prstDash val="sysDot"/>
            <a:headEnd type="none" w="med" len="med"/>
            <a:tailEnd type="none" w="sm" len="lg"/>
          </a:ln>
        </p:spPr>
      </p:sp>
      <p:sp>
        <p:nvSpPr>
          <p:cNvPr id="38934" name="Text Box 24"/>
          <p:cNvSpPr txBox="1"/>
          <p:nvPr/>
        </p:nvSpPr>
        <p:spPr>
          <a:xfrm>
            <a:off x="387350" y="3441700"/>
            <a:ext cx="4381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2.5</a:t>
            </a:r>
            <a:endParaRPr lang="en-US" altLang="zh-CN" sz="1600" b="1">
              <a:solidFill>
                <a:srgbClr val="333399"/>
              </a:solidFill>
              <a:latin typeface="Times New Roman" panose="02020603050405020304" pitchFamily="18" charset="0"/>
            </a:endParaRPr>
          </a:p>
        </p:txBody>
      </p:sp>
      <p:sp>
        <p:nvSpPr>
          <p:cNvPr id="38935" name="Line 25"/>
          <p:cNvSpPr/>
          <p:nvPr/>
        </p:nvSpPr>
        <p:spPr>
          <a:xfrm>
            <a:off x="798513" y="3414713"/>
            <a:ext cx="3060700" cy="0"/>
          </a:xfrm>
          <a:prstGeom prst="line">
            <a:avLst/>
          </a:prstGeom>
          <a:ln w="9525" cap="flat" cmpd="sng">
            <a:solidFill>
              <a:srgbClr val="006666"/>
            </a:solidFill>
            <a:prstDash val="solid"/>
            <a:headEnd type="none" w="med" len="med"/>
            <a:tailEnd type="none" w="sm" len="lg"/>
          </a:ln>
        </p:spPr>
      </p:sp>
      <p:sp>
        <p:nvSpPr>
          <p:cNvPr id="38936" name="Text Box 26"/>
          <p:cNvSpPr txBox="1"/>
          <p:nvPr/>
        </p:nvSpPr>
        <p:spPr>
          <a:xfrm>
            <a:off x="495300" y="3262313"/>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3</a:t>
            </a:r>
            <a:endParaRPr lang="en-US" altLang="zh-CN" sz="1600" b="1">
              <a:solidFill>
                <a:srgbClr val="333399"/>
              </a:solidFill>
              <a:latin typeface="Times New Roman" panose="02020603050405020304" pitchFamily="18" charset="0"/>
            </a:endParaRPr>
          </a:p>
        </p:txBody>
      </p:sp>
      <p:sp>
        <p:nvSpPr>
          <p:cNvPr id="38937" name="Line 27"/>
          <p:cNvSpPr/>
          <p:nvPr/>
        </p:nvSpPr>
        <p:spPr>
          <a:xfrm>
            <a:off x="798513" y="3175000"/>
            <a:ext cx="3074987" cy="0"/>
          </a:xfrm>
          <a:prstGeom prst="line">
            <a:avLst/>
          </a:prstGeom>
          <a:ln w="9525" cap="flat" cmpd="sng">
            <a:solidFill>
              <a:srgbClr val="006666"/>
            </a:solidFill>
            <a:prstDash val="sysDot"/>
            <a:headEnd type="none" w="med" len="med"/>
            <a:tailEnd type="none" w="sm" len="lg"/>
          </a:ln>
        </p:spPr>
      </p:sp>
      <p:sp>
        <p:nvSpPr>
          <p:cNvPr id="38938" name="Text Box 28"/>
          <p:cNvSpPr txBox="1"/>
          <p:nvPr/>
        </p:nvSpPr>
        <p:spPr>
          <a:xfrm>
            <a:off x="368300" y="3011488"/>
            <a:ext cx="4381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3.5</a:t>
            </a:r>
            <a:endParaRPr lang="en-US" altLang="zh-CN" sz="1600" b="1">
              <a:solidFill>
                <a:srgbClr val="333399"/>
              </a:solidFill>
              <a:latin typeface="Times New Roman" panose="02020603050405020304" pitchFamily="18" charset="0"/>
            </a:endParaRPr>
          </a:p>
        </p:txBody>
      </p:sp>
      <p:sp>
        <p:nvSpPr>
          <p:cNvPr id="38939" name="Line 29"/>
          <p:cNvSpPr/>
          <p:nvPr/>
        </p:nvSpPr>
        <p:spPr>
          <a:xfrm>
            <a:off x="798513" y="2951163"/>
            <a:ext cx="3074987" cy="0"/>
          </a:xfrm>
          <a:prstGeom prst="line">
            <a:avLst/>
          </a:prstGeom>
          <a:ln w="9525" cap="flat" cmpd="sng">
            <a:solidFill>
              <a:srgbClr val="006666"/>
            </a:solidFill>
            <a:prstDash val="solid"/>
            <a:headEnd type="none" w="med" len="med"/>
            <a:tailEnd type="none" w="sm" len="lg"/>
          </a:ln>
        </p:spPr>
      </p:sp>
      <p:sp>
        <p:nvSpPr>
          <p:cNvPr id="38940" name="Text Box 30"/>
          <p:cNvSpPr txBox="1"/>
          <p:nvPr/>
        </p:nvSpPr>
        <p:spPr>
          <a:xfrm>
            <a:off x="481013" y="2784475"/>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4</a:t>
            </a:r>
            <a:endParaRPr lang="en-US" altLang="zh-CN" sz="1600" b="1">
              <a:solidFill>
                <a:srgbClr val="333399"/>
              </a:solidFill>
              <a:latin typeface="Times New Roman" panose="02020603050405020304" pitchFamily="18" charset="0"/>
            </a:endParaRPr>
          </a:p>
        </p:txBody>
      </p:sp>
      <p:sp>
        <p:nvSpPr>
          <p:cNvPr id="38941" name="Line 31"/>
          <p:cNvSpPr/>
          <p:nvPr/>
        </p:nvSpPr>
        <p:spPr>
          <a:xfrm>
            <a:off x="798513" y="2711450"/>
            <a:ext cx="3060700" cy="0"/>
          </a:xfrm>
          <a:prstGeom prst="line">
            <a:avLst/>
          </a:prstGeom>
          <a:ln w="9525" cap="flat" cmpd="sng">
            <a:solidFill>
              <a:srgbClr val="006666"/>
            </a:solidFill>
            <a:prstDash val="sysDot"/>
            <a:headEnd type="none" w="med" len="med"/>
            <a:tailEnd type="none" w="sm" len="lg"/>
          </a:ln>
        </p:spPr>
      </p:sp>
      <p:sp>
        <p:nvSpPr>
          <p:cNvPr id="38942" name="Text Box 32"/>
          <p:cNvSpPr txBox="1"/>
          <p:nvPr/>
        </p:nvSpPr>
        <p:spPr>
          <a:xfrm>
            <a:off x="381000" y="2535238"/>
            <a:ext cx="4381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4.5</a:t>
            </a:r>
            <a:endParaRPr lang="en-US" altLang="zh-CN" sz="1600" b="1">
              <a:solidFill>
                <a:srgbClr val="333399"/>
              </a:solidFill>
              <a:latin typeface="Times New Roman" panose="02020603050405020304" pitchFamily="18" charset="0"/>
            </a:endParaRPr>
          </a:p>
        </p:txBody>
      </p:sp>
      <p:sp>
        <p:nvSpPr>
          <p:cNvPr id="38943" name="Line 33"/>
          <p:cNvSpPr/>
          <p:nvPr/>
        </p:nvSpPr>
        <p:spPr>
          <a:xfrm>
            <a:off x="798513" y="2486025"/>
            <a:ext cx="3074987" cy="0"/>
          </a:xfrm>
          <a:prstGeom prst="line">
            <a:avLst/>
          </a:prstGeom>
          <a:ln w="9525" cap="flat" cmpd="sng">
            <a:solidFill>
              <a:srgbClr val="006666"/>
            </a:solidFill>
            <a:prstDash val="solid"/>
            <a:headEnd type="none" w="med" len="med"/>
            <a:tailEnd type="none" w="sm" len="lg"/>
          </a:ln>
        </p:spPr>
      </p:sp>
      <p:sp>
        <p:nvSpPr>
          <p:cNvPr id="38944" name="Text Box 34"/>
          <p:cNvSpPr txBox="1"/>
          <p:nvPr/>
        </p:nvSpPr>
        <p:spPr>
          <a:xfrm>
            <a:off x="509588" y="2309813"/>
            <a:ext cx="285750" cy="336550"/>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5</a:t>
            </a:r>
            <a:endParaRPr lang="en-US" altLang="zh-CN" sz="1600" b="1">
              <a:solidFill>
                <a:srgbClr val="333399"/>
              </a:solidFill>
              <a:latin typeface="Times New Roman" panose="02020603050405020304" pitchFamily="18" charset="0"/>
            </a:endParaRPr>
          </a:p>
        </p:txBody>
      </p:sp>
      <p:sp>
        <p:nvSpPr>
          <p:cNvPr id="38945" name="Text Box 35"/>
          <p:cNvSpPr txBox="1"/>
          <p:nvPr/>
        </p:nvSpPr>
        <p:spPr>
          <a:xfrm>
            <a:off x="941388" y="4665663"/>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1</a:t>
            </a:r>
            <a:endParaRPr lang="en-US" altLang="zh-CN" sz="2000" b="1" baseline="-25000">
              <a:solidFill>
                <a:srgbClr val="333399"/>
              </a:solidFill>
              <a:latin typeface="Times New Roman" panose="02020603050405020304" pitchFamily="18" charset="0"/>
            </a:endParaRPr>
          </a:p>
        </p:txBody>
      </p:sp>
      <p:sp>
        <p:nvSpPr>
          <p:cNvPr id="38946" name="Line 36"/>
          <p:cNvSpPr/>
          <p:nvPr/>
        </p:nvSpPr>
        <p:spPr>
          <a:xfrm flipV="1">
            <a:off x="1195388" y="4487863"/>
            <a:ext cx="0" cy="265112"/>
          </a:xfrm>
          <a:prstGeom prst="line">
            <a:avLst/>
          </a:prstGeom>
          <a:ln w="9525" cap="flat" cmpd="sng">
            <a:solidFill>
              <a:srgbClr val="CC00CC"/>
            </a:solidFill>
            <a:prstDash val="solid"/>
            <a:headEnd type="none" w="med" len="med"/>
            <a:tailEnd type="none" w="sm" len="lg"/>
          </a:ln>
        </p:spPr>
      </p:sp>
      <p:sp>
        <p:nvSpPr>
          <p:cNvPr id="38947" name="Line 37"/>
          <p:cNvSpPr/>
          <p:nvPr/>
        </p:nvSpPr>
        <p:spPr>
          <a:xfrm>
            <a:off x="1195388" y="4752975"/>
            <a:ext cx="0" cy="768350"/>
          </a:xfrm>
          <a:prstGeom prst="line">
            <a:avLst/>
          </a:prstGeom>
          <a:ln w="9525" cap="flat" cmpd="sng">
            <a:solidFill>
              <a:srgbClr val="3333FF"/>
            </a:solidFill>
            <a:prstDash val="solid"/>
            <a:headEnd type="none" w="med" len="med"/>
            <a:tailEnd type="none" w="sm" len="lg"/>
          </a:ln>
        </p:spPr>
      </p:sp>
      <p:sp>
        <p:nvSpPr>
          <p:cNvPr id="38948" name="Line 38"/>
          <p:cNvSpPr/>
          <p:nvPr/>
        </p:nvSpPr>
        <p:spPr>
          <a:xfrm flipV="1">
            <a:off x="1328738" y="4302125"/>
            <a:ext cx="0" cy="450850"/>
          </a:xfrm>
          <a:prstGeom prst="line">
            <a:avLst/>
          </a:prstGeom>
          <a:ln w="9525" cap="flat" cmpd="sng">
            <a:solidFill>
              <a:srgbClr val="CC00CC"/>
            </a:solidFill>
            <a:prstDash val="solid"/>
            <a:headEnd type="none" w="med" len="med"/>
            <a:tailEnd type="none" w="sm" len="lg"/>
          </a:ln>
        </p:spPr>
      </p:sp>
      <p:sp>
        <p:nvSpPr>
          <p:cNvPr id="38949" name="Line 39"/>
          <p:cNvSpPr/>
          <p:nvPr/>
        </p:nvSpPr>
        <p:spPr>
          <a:xfrm>
            <a:off x="1328738" y="4752975"/>
            <a:ext cx="0" cy="396875"/>
          </a:xfrm>
          <a:prstGeom prst="line">
            <a:avLst/>
          </a:prstGeom>
          <a:ln w="9525" cap="flat" cmpd="sng">
            <a:solidFill>
              <a:srgbClr val="3333FF"/>
            </a:solidFill>
            <a:prstDash val="solid"/>
            <a:headEnd type="none" w="med" len="med"/>
            <a:tailEnd type="none" w="sm" len="lg"/>
          </a:ln>
        </p:spPr>
      </p:sp>
      <p:sp>
        <p:nvSpPr>
          <p:cNvPr id="38950" name="Line 40"/>
          <p:cNvSpPr/>
          <p:nvPr/>
        </p:nvSpPr>
        <p:spPr>
          <a:xfrm>
            <a:off x="904875" y="5097463"/>
            <a:ext cx="290513" cy="0"/>
          </a:xfrm>
          <a:prstGeom prst="line">
            <a:avLst/>
          </a:prstGeom>
          <a:ln w="9525" cap="flat" cmpd="sng">
            <a:solidFill>
              <a:srgbClr val="3333FF"/>
            </a:solidFill>
            <a:prstDash val="solid"/>
            <a:headEnd type="none" w="med" len="med"/>
            <a:tailEnd type="stealth" w="sm" len="lg"/>
          </a:ln>
        </p:spPr>
      </p:sp>
      <p:sp>
        <p:nvSpPr>
          <p:cNvPr id="38951" name="Line 41"/>
          <p:cNvSpPr/>
          <p:nvPr/>
        </p:nvSpPr>
        <p:spPr>
          <a:xfrm flipH="1">
            <a:off x="1328738" y="5097463"/>
            <a:ext cx="225425" cy="0"/>
          </a:xfrm>
          <a:prstGeom prst="line">
            <a:avLst/>
          </a:prstGeom>
          <a:ln w="9525" cap="flat" cmpd="sng">
            <a:solidFill>
              <a:srgbClr val="3333FF"/>
            </a:solidFill>
            <a:prstDash val="solid"/>
            <a:headEnd type="none" w="med" len="med"/>
            <a:tailEnd type="stealth" w="sm" len="lg"/>
          </a:ln>
        </p:spPr>
      </p:sp>
      <p:sp>
        <p:nvSpPr>
          <p:cNvPr id="38952" name="Text Box 42"/>
          <p:cNvSpPr txBox="1"/>
          <p:nvPr/>
        </p:nvSpPr>
        <p:spPr>
          <a:xfrm>
            <a:off x="1266825" y="4786313"/>
            <a:ext cx="319088" cy="336550"/>
          </a:xfrm>
          <a:prstGeom prst="rect">
            <a:avLst/>
          </a:prstGeom>
          <a:noFill/>
          <a:ln w="9525">
            <a:noFill/>
          </a:ln>
        </p:spPr>
        <p:txBody>
          <a:bodyPr>
            <a:spAutoFit/>
          </a:bodyPr>
          <a:p>
            <a:pPr algn="ctr" eaLnBrk="1" hangingPunct="1">
              <a:buNone/>
            </a:pPr>
            <a:r>
              <a:rPr lang="en-US" altLang="zh-CN" sz="1600" b="1" i="1">
                <a:solidFill>
                  <a:srgbClr val="333399"/>
                </a:solidFill>
                <a:latin typeface="Times New Roman" panose="02020603050405020304" pitchFamily="18" charset="0"/>
                <a:ea typeface="宋体" panose="02010600030101010101" pitchFamily="2" charset="-122"/>
              </a:rPr>
              <a:t>τ</a:t>
            </a:r>
            <a:endParaRPr lang="en-US" altLang="zh-CN" sz="1600" b="1" i="1">
              <a:solidFill>
                <a:srgbClr val="333399"/>
              </a:solidFill>
              <a:latin typeface="Times New Roman" panose="02020603050405020304" pitchFamily="18" charset="0"/>
              <a:ea typeface="宋体" panose="02010600030101010101" pitchFamily="2" charset="-122"/>
            </a:endParaRPr>
          </a:p>
        </p:txBody>
      </p:sp>
      <p:sp>
        <p:nvSpPr>
          <p:cNvPr id="38953" name="Line 43"/>
          <p:cNvSpPr/>
          <p:nvPr/>
        </p:nvSpPr>
        <p:spPr>
          <a:xfrm>
            <a:off x="1606550" y="4752975"/>
            <a:ext cx="0" cy="768350"/>
          </a:xfrm>
          <a:prstGeom prst="line">
            <a:avLst/>
          </a:prstGeom>
          <a:ln w="9525" cap="flat" cmpd="sng">
            <a:solidFill>
              <a:srgbClr val="3333FF"/>
            </a:solidFill>
            <a:prstDash val="solid"/>
            <a:headEnd type="none" w="med" len="med"/>
            <a:tailEnd type="none" w="sm" len="lg"/>
          </a:ln>
        </p:spPr>
      </p:sp>
      <p:sp>
        <p:nvSpPr>
          <p:cNvPr id="38954" name="Line 44"/>
          <p:cNvSpPr/>
          <p:nvPr/>
        </p:nvSpPr>
        <p:spPr>
          <a:xfrm>
            <a:off x="1195388" y="5468938"/>
            <a:ext cx="411162" cy="0"/>
          </a:xfrm>
          <a:prstGeom prst="line">
            <a:avLst/>
          </a:prstGeom>
          <a:ln w="9525" cap="flat" cmpd="sng">
            <a:solidFill>
              <a:srgbClr val="3333FF"/>
            </a:solidFill>
            <a:prstDash val="solid"/>
            <a:headEnd type="stealth" w="sm" len="lg"/>
            <a:tailEnd type="stealth" w="sm" len="lg"/>
          </a:ln>
        </p:spPr>
      </p:sp>
      <p:sp>
        <p:nvSpPr>
          <p:cNvPr id="38955" name="Text Box 45"/>
          <p:cNvSpPr txBox="1"/>
          <p:nvPr/>
        </p:nvSpPr>
        <p:spPr>
          <a:xfrm>
            <a:off x="1190625" y="5119688"/>
            <a:ext cx="407988" cy="366712"/>
          </a:xfrm>
          <a:prstGeom prst="rect">
            <a:avLst/>
          </a:prstGeom>
          <a:noFill/>
          <a:ln w="9525">
            <a:noFill/>
          </a:ln>
        </p:spPr>
        <p:txBody>
          <a:bodyPr wrap="none">
            <a:spAutoFit/>
          </a:bodyPr>
          <a:p>
            <a:pPr algn="ctr" eaLnBrk="1" hangingPunct="1"/>
            <a:r>
              <a:rPr lang="en-US" altLang="zh-CN" sz="1800" b="1" i="1">
                <a:solidFill>
                  <a:srgbClr val="333399"/>
                </a:solidFill>
                <a:latin typeface="Times New Roman" panose="02020603050405020304" pitchFamily="18" charset="0"/>
              </a:rPr>
              <a:t>T</a:t>
            </a:r>
            <a:r>
              <a:rPr lang="en-US" altLang="zh-CN" sz="1800" b="1" baseline="-25000">
                <a:solidFill>
                  <a:srgbClr val="333399"/>
                </a:solidFill>
                <a:latin typeface="Times New Roman" panose="02020603050405020304" pitchFamily="18" charset="0"/>
              </a:rPr>
              <a:t>S</a:t>
            </a:r>
            <a:endParaRPr lang="en-US" altLang="zh-CN" sz="1800" b="1" baseline="-25000">
              <a:solidFill>
                <a:srgbClr val="333399"/>
              </a:solidFill>
              <a:latin typeface="Times New Roman" panose="02020603050405020304" pitchFamily="18" charset="0"/>
            </a:endParaRPr>
          </a:p>
        </p:txBody>
      </p:sp>
      <p:sp>
        <p:nvSpPr>
          <p:cNvPr id="38956" name="Text Box 46"/>
          <p:cNvSpPr txBox="1"/>
          <p:nvPr/>
        </p:nvSpPr>
        <p:spPr>
          <a:xfrm>
            <a:off x="1544638" y="4672013"/>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2</a:t>
            </a:r>
            <a:endParaRPr lang="en-US" altLang="zh-CN" sz="2000" b="1" baseline="-25000">
              <a:solidFill>
                <a:srgbClr val="333399"/>
              </a:solidFill>
              <a:latin typeface="Times New Roman" panose="02020603050405020304" pitchFamily="18" charset="0"/>
            </a:endParaRPr>
          </a:p>
        </p:txBody>
      </p:sp>
      <p:sp>
        <p:nvSpPr>
          <p:cNvPr id="38957" name="Line 47"/>
          <p:cNvSpPr/>
          <p:nvPr/>
        </p:nvSpPr>
        <p:spPr>
          <a:xfrm flipV="1">
            <a:off x="1606550" y="3175000"/>
            <a:ext cx="0" cy="1577975"/>
          </a:xfrm>
          <a:prstGeom prst="line">
            <a:avLst/>
          </a:prstGeom>
          <a:ln w="9525" cap="flat" cmpd="sng">
            <a:solidFill>
              <a:srgbClr val="CC00CC"/>
            </a:solidFill>
            <a:prstDash val="solid"/>
            <a:headEnd type="none" w="med" len="med"/>
            <a:tailEnd type="none" w="sm" len="lg"/>
          </a:ln>
        </p:spPr>
      </p:sp>
      <p:sp>
        <p:nvSpPr>
          <p:cNvPr id="38958" name="Line 48"/>
          <p:cNvSpPr/>
          <p:nvPr/>
        </p:nvSpPr>
        <p:spPr>
          <a:xfrm flipV="1">
            <a:off x="1739900" y="2884488"/>
            <a:ext cx="0" cy="1868487"/>
          </a:xfrm>
          <a:prstGeom prst="line">
            <a:avLst/>
          </a:prstGeom>
          <a:ln w="9525" cap="flat" cmpd="sng">
            <a:solidFill>
              <a:srgbClr val="CC00CC"/>
            </a:solidFill>
            <a:prstDash val="solid"/>
            <a:headEnd type="none" w="med" len="med"/>
            <a:tailEnd type="none" w="sm" len="lg"/>
          </a:ln>
        </p:spPr>
      </p:sp>
      <p:sp>
        <p:nvSpPr>
          <p:cNvPr id="38959" name="Text Box 49"/>
          <p:cNvSpPr txBox="1"/>
          <p:nvPr/>
        </p:nvSpPr>
        <p:spPr>
          <a:xfrm>
            <a:off x="876300" y="4289425"/>
            <a:ext cx="477838"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0.7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60" name="Text Box 50"/>
          <p:cNvSpPr txBox="1"/>
          <p:nvPr/>
        </p:nvSpPr>
        <p:spPr>
          <a:xfrm>
            <a:off x="1306513" y="2944813"/>
            <a:ext cx="477837"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3.5</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61" name="Text Box 51"/>
          <p:cNvSpPr txBox="1"/>
          <p:nvPr/>
        </p:nvSpPr>
        <p:spPr>
          <a:xfrm>
            <a:off x="1814513" y="4678363"/>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3</a:t>
            </a:r>
            <a:endParaRPr lang="en-US" altLang="zh-CN" sz="2000" b="1" baseline="-25000">
              <a:solidFill>
                <a:srgbClr val="333399"/>
              </a:solidFill>
              <a:latin typeface="Times New Roman" panose="02020603050405020304" pitchFamily="18" charset="0"/>
            </a:endParaRPr>
          </a:p>
        </p:txBody>
      </p:sp>
      <p:sp>
        <p:nvSpPr>
          <p:cNvPr id="38962" name="Line 52"/>
          <p:cNvSpPr/>
          <p:nvPr/>
        </p:nvSpPr>
        <p:spPr>
          <a:xfrm flipV="1">
            <a:off x="1990725" y="2619375"/>
            <a:ext cx="0" cy="2133600"/>
          </a:xfrm>
          <a:prstGeom prst="line">
            <a:avLst/>
          </a:prstGeom>
          <a:ln w="9525" cap="flat" cmpd="sng">
            <a:solidFill>
              <a:srgbClr val="CC00CC"/>
            </a:solidFill>
            <a:prstDash val="solid"/>
            <a:headEnd type="none" w="med" len="med"/>
            <a:tailEnd type="none" w="sm" len="lg"/>
          </a:ln>
        </p:spPr>
      </p:sp>
      <p:sp>
        <p:nvSpPr>
          <p:cNvPr id="38963" name="Text Box 53"/>
          <p:cNvSpPr txBox="1"/>
          <p:nvPr/>
        </p:nvSpPr>
        <p:spPr>
          <a:xfrm>
            <a:off x="1644650" y="2435225"/>
            <a:ext cx="477838"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4.6</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64" name="Line 54"/>
          <p:cNvSpPr/>
          <p:nvPr/>
        </p:nvSpPr>
        <p:spPr>
          <a:xfrm flipV="1">
            <a:off x="2124075" y="2579688"/>
            <a:ext cx="0" cy="2173287"/>
          </a:xfrm>
          <a:prstGeom prst="line">
            <a:avLst/>
          </a:prstGeom>
          <a:ln w="9525" cap="flat" cmpd="sng">
            <a:solidFill>
              <a:srgbClr val="CC00CC"/>
            </a:solidFill>
            <a:prstDash val="solid"/>
            <a:headEnd type="none" w="med" len="med"/>
            <a:tailEnd type="none" w="sm" len="lg"/>
          </a:ln>
        </p:spPr>
      </p:sp>
      <p:sp>
        <p:nvSpPr>
          <p:cNvPr id="38965" name="Text Box 55"/>
          <p:cNvSpPr txBox="1"/>
          <p:nvPr/>
        </p:nvSpPr>
        <p:spPr>
          <a:xfrm>
            <a:off x="2206625" y="4684713"/>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4</a:t>
            </a:r>
            <a:endParaRPr lang="en-US" altLang="zh-CN" sz="2000" b="1" baseline="-25000">
              <a:solidFill>
                <a:srgbClr val="333399"/>
              </a:solidFill>
              <a:latin typeface="Times New Roman" panose="02020603050405020304" pitchFamily="18" charset="0"/>
            </a:endParaRPr>
          </a:p>
        </p:txBody>
      </p:sp>
      <p:sp>
        <p:nvSpPr>
          <p:cNvPr id="38966" name="Line 56"/>
          <p:cNvSpPr/>
          <p:nvPr/>
        </p:nvSpPr>
        <p:spPr>
          <a:xfrm flipV="1">
            <a:off x="2374900" y="2619375"/>
            <a:ext cx="0" cy="2133600"/>
          </a:xfrm>
          <a:prstGeom prst="line">
            <a:avLst/>
          </a:prstGeom>
          <a:ln w="9525" cap="flat" cmpd="sng">
            <a:solidFill>
              <a:srgbClr val="CC00CC"/>
            </a:solidFill>
            <a:prstDash val="solid"/>
            <a:headEnd type="none" w="med" len="med"/>
            <a:tailEnd type="none" w="sm" len="lg"/>
          </a:ln>
        </p:spPr>
      </p:sp>
      <p:sp>
        <p:nvSpPr>
          <p:cNvPr id="38967" name="Text Box 57"/>
          <p:cNvSpPr txBox="1"/>
          <p:nvPr/>
        </p:nvSpPr>
        <p:spPr>
          <a:xfrm>
            <a:off x="2300288" y="2414588"/>
            <a:ext cx="477837"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4.7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68" name="Line 58"/>
          <p:cNvSpPr/>
          <p:nvPr/>
        </p:nvSpPr>
        <p:spPr>
          <a:xfrm flipV="1">
            <a:off x="2508250" y="2698750"/>
            <a:ext cx="0" cy="2054225"/>
          </a:xfrm>
          <a:prstGeom prst="line">
            <a:avLst/>
          </a:prstGeom>
          <a:ln w="9525" cap="flat" cmpd="sng">
            <a:solidFill>
              <a:srgbClr val="CC00CC"/>
            </a:solidFill>
            <a:prstDash val="solid"/>
            <a:headEnd type="none" w="med" len="med"/>
            <a:tailEnd type="none" w="sm" len="lg"/>
          </a:ln>
        </p:spPr>
      </p:sp>
      <p:sp>
        <p:nvSpPr>
          <p:cNvPr id="38969" name="Text Box 59"/>
          <p:cNvSpPr txBox="1"/>
          <p:nvPr/>
        </p:nvSpPr>
        <p:spPr>
          <a:xfrm>
            <a:off x="2597150" y="4692650"/>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5</a:t>
            </a:r>
            <a:endParaRPr lang="en-US" altLang="zh-CN" sz="2000" b="1" baseline="-25000">
              <a:solidFill>
                <a:srgbClr val="333399"/>
              </a:solidFill>
              <a:latin typeface="Times New Roman" panose="02020603050405020304" pitchFamily="18" charset="0"/>
            </a:endParaRPr>
          </a:p>
        </p:txBody>
      </p:sp>
      <p:sp>
        <p:nvSpPr>
          <p:cNvPr id="38970" name="Line 60"/>
          <p:cNvSpPr/>
          <p:nvPr/>
        </p:nvSpPr>
        <p:spPr>
          <a:xfrm flipV="1">
            <a:off x="2759075" y="3122613"/>
            <a:ext cx="0" cy="1630362"/>
          </a:xfrm>
          <a:prstGeom prst="line">
            <a:avLst/>
          </a:prstGeom>
          <a:ln w="9525" cap="flat" cmpd="sng">
            <a:solidFill>
              <a:srgbClr val="CC00CC"/>
            </a:solidFill>
            <a:prstDash val="solid"/>
            <a:headEnd type="none" w="med" len="med"/>
            <a:tailEnd type="none" w="sm" len="lg"/>
          </a:ln>
        </p:spPr>
      </p:sp>
      <p:sp>
        <p:nvSpPr>
          <p:cNvPr id="38971" name="Text Box 61"/>
          <p:cNvSpPr txBox="1"/>
          <p:nvPr/>
        </p:nvSpPr>
        <p:spPr>
          <a:xfrm>
            <a:off x="2703513" y="2924175"/>
            <a:ext cx="477837"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3.6</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72" name="Line 62"/>
          <p:cNvSpPr/>
          <p:nvPr/>
        </p:nvSpPr>
        <p:spPr>
          <a:xfrm flipV="1">
            <a:off x="2892425" y="3281363"/>
            <a:ext cx="0" cy="1471612"/>
          </a:xfrm>
          <a:prstGeom prst="line">
            <a:avLst/>
          </a:prstGeom>
          <a:ln w="9525" cap="flat" cmpd="sng">
            <a:solidFill>
              <a:srgbClr val="CC00CC"/>
            </a:solidFill>
            <a:prstDash val="solid"/>
            <a:headEnd type="none" w="med" len="med"/>
            <a:tailEnd type="none" w="sm" len="lg"/>
          </a:ln>
        </p:spPr>
      </p:sp>
      <p:sp>
        <p:nvSpPr>
          <p:cNvPr id="38973" name="Text Box 63"/>
          <p:cNvSpPr txBox="1"/>
          <p:nvPr/>
        </p:nvSpPr>
        <p:spPr>
          <a:xfrm>
            <a:off x="2986088" y="4699000"/>
            <a:ext cx="336550" cy="396875"/>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6</a:t>
            </a:r>
            <a:endParaRPr lang="en-US" altLang="zh-CN" sz="2000" b="1" baseline="-25000">
              <a:solidFill>
                <a:srgbClr val="333399"/>
              </a:solidFill>
              <a:latin typeface="Times New Roman" panose="02020603050405020304" pitchFamily="18" charset="0"/>
            </a:endParaRPr>
          </a:p>
        </p:txBody>
      </p:sp>
      <p:sp>
        <p:nvSpPr>
          <p:cNvPr id="38974" name="Line 64"/>
          <p:cNvSpPr/>
          <p:nvPr/>
        </p:nvSpPr>
        <p:spPr>
          <a:xfrm flipV="1">
            <a:off x="3143250" y="3494088"/>
            <a:ext cx="0" cy="1258887"/>
          </a:xfrm>
          <a:prstGeom prst="line">
            <a:avLst/>
          </a:prstGeom>
          <a:ln w="9525" cap="flat" cmpd="sng">
            <a:solidFill>
              <a:srgbClr val="CC00CC"/>
            </a:solidFill>
            <a:prstDash val="solid"/>
            <a:headEnd type="none" w="med" len="med"/>
            <a:tailEnd type="none" w="sm" len="lg"/>
          </a:ln>
        </p:spPr>
      </p:sp>
      <p:sp>
        <p:nvSpPr>
          <p:cNvPr id="38975" name="Text Box 65"/>
          <p:cNvSpPr txBox="1"/>
          <p:nvPr/>
        </p:nvSpPr>
        <p:spPr>
          <a:xfrm>
            <a:off x="3121025" y="3314700"/>
            <a:ext cx="477838" cy="304800"/>
          </a:xfrm>
          <a:prstGeom prst="rect">
            <a:avLst/>
          </a:prstGeom>
          <a:noFill/>
          <a:ln w="9525">
            <a:noFill/>
          </a:ln>
        </p:spPr>
        <p:txBody>
          <a:bodyPr>
            <a:spAutoFit/>
          </a:bodyPr>
          <a:p>
            <a:pPr algn="l" eaLnBrk="1" hangingPunct="1">
              <a:buNone/>
            </a:pPr>
            <a:r>
              <a:rPr lang="en-US" altLang="zh-CN" sz="1400" b="1">
                <a:solidFill>
                  <a:srgbClr val="333399"/>
                </a:solidFill>
                <a:latin typeface="Times New Roman" panose="02020603050405020304" pitchFamily="18" charset="0"/>
                <a:ea typeface="宋体" panose="02010600030101010101" pitchFamily="2" charset="-122"/>
              </a:rPr>
              <a:t>2.7</a:t>
            </a:r>
            <a:endParaRPr lang="en-US" altLang="zh-CN" sz="1400" b="1">
              <a:solidFill>
                <a:srgbClr val="333399"/>
              </a:solidFill>
              <a:latin typeface="Times New Roman" panose="02020603050405020304" pitchFamily="18" charset="0"/>
              <a:ea typeface="宋体" panose="02010600030101010101" pitchFamily="2" charset="-122"/>
            </a:endParaRPr>
          </a:p>
        </p:txBody>
      </p:sp>
      <p:sp>
        <p:nvSpPr>
          <p:cNvPr id="38976" name="Line 66"/>
          <p:cNvSpPr/>
          <p:nvPr/>
        </p:nvSpPr>
        <p:spPr>
          <a:xfrm flipV="1">
            <a:off x="3276600" y="3571875"/>
            <a:ext cx="0" cy="1181100"/>
          </a:xfrm>
          <a:prstGeom prst="line">
            <a:avLst/>
          </a:prstGeom>
          <a:ln w="9525" cap="flat" cmpd="sng">
            <a:solidFill>
              <a:srgbClr val="CC00CC"/>
            </a:solidFill>
            <a:prstDash val="solid"/>
            <a:headEnd type="none" w="med" len="med"/>
            <a:tailEnd type="none" w="sm" len="lg"/>
          </a:ln>
        </p:spPr>
      </p:sp>
      <p:sp>
        <p:nvSpPr>
          <p:cNvPr id="38977" name="Text Box 67"/>
          <p:cNvSpPr txBox="1"/>
          <p:nvPr/>
        </p:nvSpPr>
        <p:spPr>
          <a:xfrm>
            <a:off x="2030413" y="5157788"/>
            <a:ext cx="479425" cy="396875"/>
          </a:xfrm>
          <a:prstGeom prst="rect">
            <a:avLst/>
          </a:prstGeom>
          <a:noFill/>
          <a:ln w="9525">
            <a:noFill/>
          </a:ln>
        </p:spPr>
        <p:txBody>
          <a:bodyPr wrap="none">
            <a:spAutoFit/>
          </a:bodyPr>
          <a:p>
            <a:pPr algn="ctr" eaLnBrk="1" hangingPunct="1"/>
            <a:r>
              <a:rPr lang="en-US" altLang="zh-CN" sz="2000" b="1">
                <a:solidFill>
                  <a:srgbClr val="333399"/>
                </a:solidFill>
                <a:latin typeface="Times New Roman" panose="02020603050405020304" pitchFamily="18" charset="0"/>
              </a:rPr>
              <a:t>(a)</a:t>
            </a:r>
            <a:endParaRPr lang="en-US" altLang="zh-CN" sz="2000" b="1">
              <a:solidFill>
                <a:srgbClr val="333399"/>
              </a:solidFill>
              <a:latin typeface="Times New Roman" panose="02020603050405020304" pitchFamily="18" charset="0"/>
            </a:endParaRPr>
          </a:p>
        </p:txBody>
      </p:sp>
      <p:grpSp>
        <p:nvGrpSpPr>
          <p:cNvPr id="39018" name="组合 39017"/>
          <p:cNvGrpSpPr/>
          <p:nvPr/>
        </p:nvGrpSpPr>
        <p:grpSpPr>
          <a:xfrm>
            <a:off x="4987925" y="1792288"/>
            <a:ext cx="3948113" cy="3725862"/>
            <a:chOff x="3142" y="1129"/>
            <a:chExt cx="2487" cy="2347"/>
          </a:xfrm>
        </p:grpSpPr>
        <p:sp>
          <p:nvSpPr>
            <p:cNvPr id="2335812" name="Line 68"/>
            <p:cNvSpPr/>
            <p:nvPr/>
          </p:nvSpPr>
          <p:spPr>
            <a:xfrm>
              <a:off x="3416" y="2994"/>
              <a:ext cx="2054" cy="0"/>
            </a:xfrm>
            <a:prstGeom prst="line">
              <a:avLst/>
            </a:prstGeom>
            <a:ln w="9525" cap="flat" cmpd="sng">
              <a:solidFill>
                <a:srgbClr val="3333FF"/>
              </a:solidFill>
              <a:prstDash val="solid"/>
              <a:headEnd type="none" w="med" len="med"/>
              <a:tailEnd type="stealth" w="sm" len="lg"/>
            </a:ln>
          </p:spPr>
        </p:sp>
        <p:sp>
          <p:nvSpPr>
            <p:cNvPr id="2335813" name="Text Box 69"/>
            <p:cNvSpPr txBox="1"/>
            <p:nvPr/>
          </p:nvSpPr>
          <p:spPr>
            <a:xfrm>
              <a:off x="5469" y="2872"/>
              <a:ext cx="160"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endParaRPr lang="en-US" altLang="zh-CN" sz="2000" b="1" i="1">
                <a:solidFill>
                  <a:srgbClr val="333399"/>
                </a:solidFill>
                <a:latin typeface="Times New Roman" panose="02020603050405020304" pitchFamily="18" charset="0"/>
              </a:endParaRPr>
            </a:p>
          </p:txBody>
        </p:sp>
        <p:sp>
          <p:nvSpPr>
            <p:cNvPr id="2335814" name="Line 70"/>
            <p:cNvSpPr/>
            <p:nvPr/>
          </p:nvSpPr>
          <p:spPr>
            <a:xfrm flipV="1">
              <a:off x="3416" y="1207"/>
              <a:ext cx="0" cy="1787"/>
            </a:xfrm>
            <a:prstGeom prst="line">
              <a:avLst/>
            </a:prstGeom>
            <a:ln w="9525" cap="flat" cmpd="sng">
              <a:solidFill>
                <a:srgbClr val="3333FF"/>
              </a:solidFill>
              <a:prstDash val="solid"/>
              <a:headEnd type="none" w="med" len="med"/>
              <a:tailEnd type="triangle" w="sm" len="lg"/>
            </a:ln>
          </p:spPr>
        </p:sp>
        <p:sp>
          <p:nvSpPr>
            <p:cNvPr id="2335815" name="Text Box 71"/>
            <p:cNvSpPr txBox="1"/>
            <p:nvPr/>
          </p:nvSpPr>
          <p:spPr>
            <a:xfrm>
              <a:off x="3142" y="1129"/>
              <a:ext cx="284" cy="250"/>
            </a:xfrm>
            <a:prstGeom prst="rect">
              <a:avLst/>
            </a:prstGeom>
            <a:noFill/>
            <a:ln w="9525">
              <a:noFill/>
            </a:ln>
          </p:spPr>
          <p:txBody>
            <a:bodyPr wrap="none">
              <a:spAutoFit/>
            </a:bodyPr>
            <a:p>
              <a:pPr algn="ctr" eaLnBrk="1" hangingPunct="1"/>
              <a:r>
                <a:rPr lang="en-US" altLang="zh-CN" sz="2000" b="1" i="1" err="1">
                  <a:solidFill>
                    <a:srgbClr val="333399"/>
                  </a:solidFill>
                  <a:latin typeface="Times New Roman" panose="02020603050405020304" pitchFamily="18" charset="0"/>
                </a:rPr>
                <a:t>U</a:t>
              </a:r>
              <a:r>
                <a:rPr lang="en-US" altLang="zh-CN" sz="2000" b="1" i="1" baseline="-25000" err="1">
                  <a:solidFill>
                    <a:srgbClr val="333399"/>
                  </a:solidFill>
                  <a:latin typeface="Times New Roman" panose="02020603050405020304" pitchFamily="18" charset="0"/>
                </a:rPr>
                <a:t>q</a:t>
              </a:r>
              <a:endParaRPr lang="en-US" altLang="zh-CN" sz="2000" b="1" i="1" baseline="-25000" err="1">
                <a:solidFill>
                  <a:srgbClr val="333399"/>
                </a:solidFill>
                <a:latin typeface="Times New Roman" panose="02020603050405020304" pitchFamily="18" charset="0"/>
              </a:endParaRPr>
            </a:p>
          </p:txBody>
        </p:sp>
        <p:sp>
          <p:nvSpPr>
            <p:cNvPr id="2335816" name="Line 72"/>
            <p:cNvSpPr/>
            <p:nvPr/>
          </p:nvSpPr>
          <p:spPr>
            <a:xfrm>
              <a:off x="3416" y="2710"/>
              <a:ext cx="1937" cy="0"/>
            </a:xfrm>
            <a:prstGeom prst="line">
              <a:avLst/>
            </a:prstGeom>
            <a:ln w="9525" cap="flat" cmpd="sng">
              <a:solidFill>
                <a:srgbClr val="006666"/>
              </a:solidFill>
              <a:prstDash val="solid"/>
              <a:headEnd type="none" w="med" len="med"/>
              <a:tailEnd type="none" w="sm" len="lg"/>
            </a:ln>
          </p:spPr>
        </p:sp>
        <p:sp>
          <p:nvSpPr>
            <p:cNvPr id="2335817" name="Text Box 73"/>
            <p:cNvSpPr txBox="1"/>
            <p:nvPr/>
          </p:nvSpPr>
          <p:spPr>
            <a:xfrm>
              <a:off x="3226" y="2614"/>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1</a:t>
              </a:r>
              <a:endParaRPr lang="en-US" altLang="zh-CN" sz="1600" b="1">
                <a:solidFill>
                  <a:srgbClr val="333399"/>
                </a:solidFill>
                <a:latin typeface="Times New Roman" panose="02020603050405020304" pitchFamily="18" charset="0"/>
              </a:endParaRPr>
            </a:p>
          </p:txBody>
        </p:sp>
        <p:sp>
          <p:nvSpPr>
            <p:cNvPr id="2335818" name="Line 74"/>
            <p:cNvSpPr/>
            <p:nvPr/>
          </p:nvSpPr>
          <p:spPr>
            <a:xfrm>
              <a:off x="3416" y="2426"/>
              <a:ext cx="1954" cy="0"/>
            </a:xfrm>
            <a:prstGeom prst="line">
              <a:avLst/>
            </a:prstGeom>
            <a:ln w="9525" cap="flat" cmpd="sng">
              <a:solidFill>
                <a:srgbClr val="006666"/>
              </a:solidFill>
              <a:prstDash val="solid"/>
              <a:headEnd type="none" w="med" len="med"/>
              <a:tailEnd type="none" w="sm" len="lg"/>
            </a:ln>
          </p:spPr>
        </p:sp>
        <p:sp>
          <p:nvSpPr>
            <p:cNvPr id="2335819" name="Text Box 75"/>
            <p:cNvSpPr txBox="1"/>
            <p:nvPr/>
          </p:nvSpPr>
          <p:spPr>
            <a:xfrm>
              <a:off x="3229" y="2319"/>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2</a:t>
              </a:r>
              <a:endParaRPr lang="en-US" altLang="zh-CN" sz="1600" b="1">
                <a:solidFill>
                  <a:srgbClr val="333399"/>
                </a:solidFill>
                <a:latin typeface="Times New Roman" panose="02020603050405020304" pitchFamily="18" charset="0"/>
              </a:endParaRPr>
            </a:p>
          </p:txBody>
        </p:sp>
        <p:sp>
          <p:nvSpPr>
            <p:cNvPr id="2335820" name="Line 76"/>
            <p:cNvSpPr/>
            <p:nvPr/>
          </p:nvSpPr>
          <p:spPr>
            <a:xfrm>
              <a:off x="3416" y="2142"/>
              <a:ext cx="1954" cy="0"/>
            </a:xfrm>
            <a:prstGeom prst="line">
              <a:avLst/>
            </a:prstGeom>
            <a:ln w="9525" cap="flat" cmpd="sng">
              <a:solidFill>
                <a:srgbClr val="006666"/>
              </a:solidFill>
              <a:prstDash val="solid"/>
              <a:headEnd type="none" w="med" len="med"/>
              <a:tailEnd type="none" w="sm" len="lg"/>
            </a:ln>
          </p:spPr>
        </p:sp>
        <p:sp>
          <p:nvSpPr>
            <p:cNvPr id="2335821" name="Text Box 77"/>
            <p:cNvSpPr txBox="1"/>
            <p:nvPr/>
          </p:nvSpPr>
          <p:spPr>
            <a:xfrm>
              <a:off x="3229" y="2051"/>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3</a:t>
              </a:r>
              <a:endParaRPr lang="en-US" altLang="zh-CN" sz="1600" b="1">
                <a:solidFill>
                  <a:srgbClr val="333399"/>
                </a:solidFill>
                <a:latin typeface="Times New Roman" panose="02020603050405020304" pitchFamily="18" charset="0"/>
              </a:endParaRPr>
            </a:p>
          </p:txBody>
        </p:sp>
        <p:sp>
          <p:nvSpPr>
            <p:cNvPr id="2335822" name="Line 78"/>
            <p:cNvSpPr/>
            <p:nvPr/>
          </p:nvSpPr>
          <p:spPr>
            <a:xfrm>
              <a:off x="3416" y="1859"/>
              <a:ext cx="1954" cy="0"/>
            </a:xfrm>
            <a:prstGeom prst="line">
              <a:avLst/>
            </a:prstGeom>
            <a:ln w="9525" cap="flat" cmpd="sng">
              <a:solidFill>
                <a:srgbClr val="006666"/>
              </a:solidFill>
              <a:prstDash val="solid"/>
              <a:headEnd type="none" w="med" len="med"/>
              <a:tailEnd type="none" w="sm" len="lg"/>
            </a:ln>
          </p:spPr>
        </p:sp>
        <p:sp>
          <p:nvSpPr>
            <p:cNvPr id="2335823" name="Text Box 79"/>
            <p:cNvSpPr txBox="1"/>
            <p:nvPr/>
          </p:nvSpPr>
          <p:spPr>
            <a:xfrm>
              <a:off x="3230" y="1741"/>
              <a:ext cx="180" cy="212"/>
            </a:xfrm>
            <a:prstGeom prst="rect">
              <a:avLst/>
            </a:prstGeom>
            <a:noFill/>
            <a:ln w="9525">
              <a:noFill/>
            </a:ln>
          </p:spPr>
          <p:txBody>
            <a:bodyPr wrap="none">
              <a:spAutoFit/>
            </a:bodyPr>
            <a:p>
              <a:pPr algn="ctr" eaLnBrk="1" hangingPunct="1"/>
              <a:r>
                <a:rPr lang="en-US" altLang="zh-CN" sz="1600" b="1">
                  <a:solidFill>
                    <a:srgbClr val="333399"/>
                  </a:solidFill>
                  <a:latin typeface="Times New Roman" panose="02020603050405020304" pitchFamily="18" charset="0"/>
                </a:rPr>
                <a:t>4</a:t>
              </a:r>
              <a:endParaRPr lang="en-US" altLang="zh-CN" sz="1600" b="1">
                <a:solidFill>
                  <a:srgbClr val="333399"/>
                </a:solidFill>
                <a:latin typeface="Times New Roman" panose="02020603050405020304" pitchFamily="18" charset="0"/>
              </a:endParaRPr>
            </a:p>
          </p:txBody>
        </p:sp>
        <p:sp>
          <p:nvSpPr>
            <p:cNvPr id="2335824" name="Line 80"/>
            <p:cNvSpPr/>
            <p:nvPr/>
          </p:nvSpPr>
          <p:spPr>
            <a:xfrm>
              <a:off x="3416" y="1566"/>
              <a:ext cx="1954" cy="0"/>
            </a:xfrm>
            <a:prstGeom prst="line">
              <a:avLst/>
            </a:prstGeom>
            <a:ln w="9525" cap="flat" cmpd="sng">
              <a:solidFill>
                <a:srgbClr val="006666"/>
              </a:solidFill>
              <a:prstDash val="solid"/>
              <a:headEnd type="none" w="med" len="med"/>
              <a:tailEnd type="none" w="sm" len="lg"/>
            </a:ln>
          </p:spPr>
        </p:sp>
        <p:sp>
          <p:nvSpPr>
            <p:cNvPr id="2335825" name="Text Box 81"/>
            <p:cNvSpPr txBox="1"/>
            <p:nvPr/>
          </p:nvSpPr>
          <p:spPr>
            <a:xfrm>
              <a:off x="3243" y="1453"/>
              <a:ext cx="180" cy="212"/>
            </a:xfrm>
            <a:prstGeom prst="rect">
              <a:avLst/>
            </a:prstGeom>
            <a:noFill/>
            <a:ln w="9525">
              <a:noFill/>
            </a:ln>
          </p:spPr>
          <p:txBody>
            <a:bodyPr>
              <a:spAutoFit/>
            </a:bodyPr>
            <a:p>
              <a:pPr algn="ctr" eaLnBrk="1" hangingPunct="1"/>
              <a:r>
                <a:rPr lang="en-US" altLang="zh-CN" sz="1600" b="1">
                  <a:solidFill>
                    <a:srgbClr val="333399"/>
                  </a:solidFill>
                  <a:latin typeface="Times New Roman" panose="02020603050405020304" pitchFamily="18" charset="0"/>
                </a:rPr>
                <a:t>5</a:t>
              </a:r>
              <a:endParaRPr lang="en-US" altLang="zh-CN" sz="1600" b="1">
                <a:solidFill>
                  <a:srgbClr val="333399"/>
                </a:solidFill>
                <a:latin typeface="Times New Roman" panose="02020603050405020304" pitchFamily="18" charset="0"/>
              </a:endParaRPr>
            </a:p>
          </p:txBody>
        </p:sp>
        <p:sp>
          <p:nvSpPr>
            <p:cNvPr id="2335826" name="Text Box 82"/>
            <p:cNvSpPr txBox="1"/>
            <p:nvPr/>
          </p:nvSpPr>
          <p:spPr>
            <a:xfrm>
              <a:off x="3560" y="2944"/>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1</a:t>
              </a:r>
              <a:endParaRPr lang="en-US" altLang="zh-CN" sz="2000" b="1" baseline="-25000">
                <a:solidFill>
                  <a:srgbClr val="333399"/>
                </a:solidFill>
                <a:latin typeface="Times New Roman" panose="02020603050405020304" pitchFamily="18" charset="0"/>
              </a:endParaRPr>
            </a:p>
          </p:txBody>
        </p:sp>
        <p:sp>
          <p:nvSpPr>
            <p:cNvPr id="2335827" name="Line 83"/>
            <p:cNvSpPr/>
            <p:nvPr/>
          </p:nvSpPr>
          <p:spPr>
            <a:xfrm flipV="1">
              <a:off x="3667" y="2710"/>
              <a:ext cx="0" cy="284"/>
            </a:xfrm>
            <a:prstGeom prst="line">
              <a:avLst/>
            </a:prstGeom>
            <a:ln w="9525" cap="flat" cmpd="sng">
              <a:solidFill>
                <a:srgbClr val="CC00CC"/>
              </a:solidFill>
              <a:prstDash val="solid"/>
              <a:headEnd type="none" w="med" len="med"/>
              <a:tailEnd type="none" w="sm" len="lg"/>
            </a:ln>
          </p:spPr>
        </p:sp>
        <p:sp>
          <p:nvSpPr>
            <p:cNvPr id="2335828" name="Line 84"/>
            <p:cNvSpPr/>
            <p:nvPr/>
          </p:nvSpPr>
          <p:spPr>
            <a:xfrm flipV="1">
              <a:off x="3750" y="2710"/>
              <a:ext cx="0" cy="284"/>
            </a:xfrm>
            <a:prstGeom prst="line">
              <a:avLst/>
            </a:prstGeom>
            <a:ln w="9525" cap="flat" cmpd="sng">
              <a:solidFill>
                <a:srgbClr val="CC00CC"/>
              </a:solidFill>
              <a:prstDash val="solid"/>
              <a:headEnd type="none" w="med" len="med"/>
              <a:tailEnd type="none" w="sm" len="lg"/>
            </a:ln>
          </p:spPr>
        </p:sp>
        <p:sp>
          <p:nvSpPr>
            <p:cNvPr id="2335829" name="Text Box 85"/>
            <p:cNvSpPr txBox="1"/>
            <p:nvPr/>
          </p:nvSpPr>
          <p:spPr>
            <a:xfrm>
              <a:off x="3823" y="2956"/>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2</a:t>
              </a:r>
              <a:endParaRPr lang="en-US" altLang="zh-CN" sz="2000" b="1" baseline="-25000">
                <a:solidFill>
                  <a:srgbClr val="333399"/>
                </a:solidFill>
                <a:latin typeface="Times New Roman" panose="02020603050405020304" pitchFamily="18" charset="0"/>
              </a:endParaRPr>
            </a:p>
          </p:txBody>
        </p:sp>
        <p:sp>
          <p:nvSpPr>
            <p:cNvPr id="2335830" name="Line 86"/>
            <p:cNvSpPr/>
            <p:nvPr/>
          </p:nvSpPr>
          <p:spPr>
            <a:xfrm flipV="1">
              <a:off x="3925" y="1859"/>
              <a:ext cx="0" cy="1135"/>
            </a:xfrm>
            <a:prstGeom prst="line">
              <a:avLst/>
            </a:prstGeom>
            <a:ln w="9525" cap="flat" cmpd="sng">
              <a:solidFill>
                <a:srgbClr val="CC00CC"/>
              </a:solidFill>
              <a:prstDash val="solid"/>
              <a:headEnd type="none" w="med" len="med"/>
              <a:tailEnd type="none" w="sm" len="lg"/>
            </a:ln>
          </p:spPr>
        </p:sp>
        <p:sp>
          <p:nvSpPr>
            <p:cNvPr id="2335831" name="Line 87"/>
            <p:cNvSpPr/>
            <p:nvPr/>
          </p:nvSpPr>
          <p:spPr>
            <a:xfrm flipV="1">
              <a:off x="4009" y="1859"/>
              <a:ext cx="0" cy="1135"/>
            </a:xfrm>
            <a:prstGeom prst="line">
              <a:avLst/>
            </a:prstGeom>
            <a:ln w="9525" cap="flat" cmpd="sng">
              <a:solidFill>
                <a:srgbClr val="CC00CC"/>
              </a:solidFill>
              <a:prstDash val="solid"/>
              <a:headEnd type="none" w="med" len="med"/>
              <a:tailEnd type="none" w="sm" len="lg"/>
            </a:ln>
          </p:spPr>
        </p:sp>
        <p:sp>
          <p:nvSpPr>
            <p:cNvPr id="2335832" name="Text Box 88"/>
            <p:cNvSpPr txBox="1"/>
            <p:nvPr/>
          </p:nvSpPr>
          <p:spPr>
            <a:xfrm>
              <a:off x="4077" y="2959"/>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3</a:t>
              </a:r>
              <a:endParaRPr lang="en-US" altLang="zh-CN" sz="2000" b="1" baseline="-25000">
                <a:solidFill>
                  <a:srgbClr val="333399"/>
                </a:solidFill>
                <a:latin typeface="Times New Roman" panose="02020603050405020304" pitchFamily="18" charset="0"/>
              </a:endParaRPr>
            </a:p>
          </p:txBody>
        </p:sp>
        <p:sp>
          <p:nvSpPr>
            <p:cNvPr id="2335833" name="Line 89"/>
            <p:cNvSpPr/>
            <p:nvPr/>
          </p:nvSpPr>
          <p:spPr>
            <a:xfrm flipV="1">
              <a:off x="4168" y="1566"/>
              <a:ext cx="0" cy="1428"/>
            </a:xfrm>
            <a:prstGeom prst="line">
              <a:avLst/>
            </a:prstGeom>
            <a:ln w="9525" cap="flat" cmpd="sng">
              <a:solidFill>
                <a:srgbClr val="CC00CC"/>
              </a:solidFill>
              <a:prstDash val="solid"/>
              <a:headEnd type="none" w="med" len="med"/>
              <a:tailEnd type="none" w="sm" len="lg"/>
            </a:ln>
          </p:spPr>
        </p:sp>
        <p:sp>
          <p:nvSpPr>
            <p:cNvPr id="2335834" name="Line 90"/>
            <p:cNvSpPr/>
            <p:nvPr/>
          </p:nvSpPr>
          <p:spPr>
            <a:xfrm flipV="1">
              <a:off x="4251" y="1566"/>
              <a:ext cx="0" cy="1428"/>
            </a:xfrm>
            <a:prstGeom prst="line">
              <a:avLst/>
            </a:prstGeom>
            <a:ln w="9525" cap="flat" cmpd="sng">
              <a:solidFill>
                <a:srgbClr val="CC00CC"/>
              </a:solidFill>
              <a:prstDash val="solid"/>
              <a:headEnd type="none" w="med" len="med"/>
              <a:tailEnd type="none" w="sm" len="lg"/>
            </a:ln>
          </p:spPr>
        </p:sp>
        <p:sp>
          <p:nvSpPr>
            <p:cNvPr id="2335835" name="Text Box 91"/>
            <p:cNvSpPr txBox="1"/>
            <p:nvPr/>
          </p:nvSpPr>
          <p:spPr>
            <a:xfrm>
              <a:off x="4325" y="2947"/>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4</a:t>
              </a:r>
              <a:endParaRPr lang="en-US" altLang="zh-CN" sz="2000" b="1" baseline="-25000">
                <a:solidFill>
                  <a:srgbClr val="333399"/>
                </a:solidFill>
                <a:latin typeface="Times New Roman" panose="02020603050405020304" pitchFamily="18" charset="0"/>
              </a:endParaRPr>
            </a:p>
          </p:txBody>
        </p:sp>
        <p:sp>
          <p:nvSpPr>
            <p:cNvPr id="2335836" name="Line 92"/>
            <p:cNvSpPr/>
            <p:nvPr/>
          </p:nvSpPr>
          <p:spPr>
            <a:xfrm flipV="1">
              <a:off x="4410" y="1566"/>
              <a:ext cx="0" cy="1428"/>
            </a:xfrm>
            <a:prstGeom prst="line">
              <a:avLst/>
            </a:prstGeom>
            <a:ln w="9525" cap="flat" cmpd="sng">
              <a:solidFill>
                <a:srgbClr val="CC00CC"/>
              </a:solidFill>
              <a:prstDash val="solid"/>
              <a:headEnd type="none" w="med" len="med"/>
              <a:tailEnd type="none" w="sm" len="lg"/>
            </a:ln>
          </p:spPr>
        </p:sp>
        <p:sp>
          <p:nvSpPr>
            <p:cNvPr id="2335837" name="Line 93"/>
            <p:cNvSpPr/>
            <p:nvPr/>
          </p:nvSpPr>
          <p:spPr>
            <a:xfrm flipV="1">
              <a:off x="4493" y="1566"/>
              <a:ext cx="0" cy="1428"/>
            </a:xfrm>
            <a:prstGeom prst="line">
              <a:avLst/>
            </a:prstGeom>
            <a:ln w="9525" cap="flat" cmpd="sng">
              <a:solidFill>
                <a:srgbClr val="CC00CC"/>
              </a:solidFill>
              <a:prstDash val="solid"/>
              <a:headEnd type="none" w="med" len="med"/>
              <a:tailEnd type="none" w="sm" len="lg"/>
            </a:ln>
          </p:spPr>
        </p:sp>
        <p:sp>
          <p:nvSpPr>
            <p:cNvPr id="2335838" name="Text Box 94"/>
            <p:cNvSpPr txBox="1"/>
            <p:nvPr/>
          </p:nvSpPr>
          <p:spPr>
            <a:xfrm>
              <a:off x="4578" y="2952"/>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5</a:t>
              </a:r>
              <a:endParaRPr lang="en-US" altLang="zh-CN" sz="2000" b="1" baseline="-25000">
                <a:solidFill>
                  <a:srgbClr val="333399"/>
                </a:solidFill>
                <a:latin typeface="Times New Roman" panose="02020603050405020304" pitchFamily="18" charset="0"/>
              </a:endParaRPr>
            </a:p>
          </p:txBody>
        </p:sp>
        <p:sp>
          <p:nvSpPr>
            <p:cNvPr id="2335839" name="Line 95"/>
            <p:cNvSpPr/>
            <p:nvPr/>
          </p:nvSpPr>
          <p:spPr>
            <a:xfrm flipV="1">
              <a:off x="4652" y="1859"/>
              <a:ext cx="0" cy="1135"/>
            </a:xfrm>
            <a:prstGeom prst="line">
              <a:avLst/>
            </a:prstGeom>
            <a:ln w="9525" cap="flat" cmpd="sng">
              <a:solidFill>
                <a:srgbClr val="CC00CC"/>
              </a:solidFill>
              <a:prstDash val="solid"/>
              <a:headEnd type="none" w="med" len="med"/>
              <a:tailEnd type="none" w="sm" len="lg"/>
            </a:ln>
          </p:spPr>
        </p:sp>
        <p:sp>
          <p:nvSpPr>
            <p:cNvPr id="2335840" name="Line 96"/>
            <p:cNvSpPr/>
            <p:nvPr/>
          </p:nvSpPr>
          <p:spPr>
            <a:xfrm flipV="1">
              <a:off x="4735" y="1859"/>
              <a:ext cx="0" cy="1135"/>
            </a:xfrm>
            <a:prstGeom prst="line">
              <a:avLst/>
            </a:prstGeom>
            <a:ln w="9525" cap="flat" cmpd="sng">
              <a:solidFill>
                <a:srgbClr val="CC00CC"/>
              </a:solidFill>
              <a:prstDash val="solid"/>
              <a:headEnd type="none" w="med" len="med"/>
              <a:tailEnd type="none" w="sm" len="lg"/>
            </a:ln>
          </p:spPr>
        </p:sp>
        <p:sp>
          <p:nvSpPr>
            <p:cNvPr id="2335841" name="Text Box 97"/>
            <p:cNvSpPr txBox="1"/>
            <p:nvPr/>
          </p:nvSpPr>
          <p:spPr>
            <a:xfrm>
              <a:off x="4807" y="2948"/>
              <a:ext cx="212" cy="250"/>
            </a:xfrm>
            <a:prstGeom prst="rect">
              <a:avLst/>
            </a:prstGeom>
            <a:noFill/>
            <a:ln w="9525">
              <a:noFill/>
            </a:ln>
          </p:spPr>
          <p:txBody>
            <a:bodyPr wrap="none">
              <a:spAutoFit/>
            </a:bodyPr>
            <a:p>
              <a:pPr algn="ctr" eaLnBrk="1" hangingPunct="1"/>
              <a:r>
                <a:rPr lang="en-US" altLang="zh-CN" sz="2000" b="1" i="1">
                  <a:solidFill>
                    <a:srgbClr val="333399"/>
                  </a:solidFill>
                  <a:latin typeface="Times New Roman" panose="02020603050405020304" pitchFamily="18" charset="0"/>
                </a:rPr>
                <a:t>t</a:t>
              </a:r>
              <a:r>
                <a:rPr lang="en-US" altLang="zh-CN" sz="2000" b="1" baseline="-25000">
                  <a:solidFill>
                    <a:srgbClr val="333399"/>
                  </a:solidFill>
                  <a:latin typeface="Times New Roman" panose="02020603050405020304" pitchFamily="18" charset="0"/>
                </a:rPr>
                <a:t>6</a:t>
              </a:r>
              <a:endParaRPr lang="en-US" altLang="zh-CN" sz="2000" b="1" baseline="-25000">
                <a:solidFill>
                  <a:srgbClr val="333399"/>
                </a:solidFill>
                <a:latin typeface="Times New Roman" panose="02020603050405020304" pitchFamily="18" charset="0"/>
              </a:endParaRPr>
            </a:p>
          </p:txBody>
        </p:sp>
        <p:sp>
          <p:nvSpPr>
            <p:cNvPr id="2335842" name="Line 98"/>
            <p:cNvSpPr/>
            <p:nvPr/>
          </p:nvSpPr>
          <p:spPr>
            <a:xfrm flipV="1">
              <a:off x="4894" y="2142"/>
              <a:ext cx="0" cy="852"/>
            </a:xfrm>
            <a:prstGeom prst="line">
              <a:avLst/>
            </a:prstGeom>
            <a:ln w="9525" cap="flat" cmpd="sng">
              <a:solidFill>
                <a:srgbClr val="CC00CC"/>
              </a:solidFill>
              <a:prstDash val="solid"/>
              <a:headEnd type="none" w="med" len="med"/>
              <a:tailEnd type="none" w="sm" len="lg"/>
            </a:ln>
          </p:spPr>
        </p:sp>
        <p:sp>
          <p:nvSpPr>
            <p:cNvPr id="2335843" name="Line 99"/>
            <p:cNvSpPr/>
            <p:nvPr/>
          </p:nvSpPr>
          <p:spPr>
            <a:xfrm flipV="1">
              <a:off x="4977" y="2142"/>
              <a:ext cx="0" cy="852"/>
            </a:xfrm>
            <a:prstGeom prst="line">
              <a:avLst/>
            </a:prstGeom>
            <a:ln w="9525" cap="flat" cmpd="sng">
              <a:solidFill>
                <a:srgbClr val="CC00CC"/>
              </a:solidFill>
              <a:prstDash val="solid"/>
              <a:headEnd type="none" w="med" len="med"/>
              <a:tailEnd type="none" w="sm" len="lg"/>
            </a:ln>
          </p:spPr>
        </p:sp>
        <p:sp>
          <p:nvSpPr>
            <p:cNvPr id="2335844" name="Text Box 100"/>
            <p:cNvSpPr txBox="1"/>
            <p:nvPr/>
          </p:nvSpPr>
          <p:spPr>
            <a:xfrm>
              <a:off x="4300" y="3226"/>
              <a:ext cx="311" cy="250"/>
            </a:xfrm>
            <a:prstGeom prst="rect">
              <a:avLst/>
            </a:prstGeom>
            <a:noFill/>
            <a:ln w="9525">
              <a:noFill/>
            </a:ln>
          </p:spPr>
          <p:txBody>
            <a:bodyPr wrap="none">
              <a:spAutoFit/>
            </a:bodyPr>
            <a:p>
              <a:pPr algn="ctr" eaLnBrk="1" hangingPunct="1"/>
              <a:r>
                <a:rPr lang="en-US" altLang="zh-CN" sz="2000" b="1">
                  <a:solidFill>
                    <a:srgbClr val="333399"/>
                  </a:solidFill>
                  <a:latin typeface="Times New Roman" panose="02020603050405020304" pitchFamily="18" charset="0"/>
                </a:rPr>
                <a:t>(b)</a:t>
              </a:r>
              <a:endParaRPr lang="en-US" altLang="zh-CN" sz="2000" b="1">
                <a:solidFill>
                  <a:srgbClr val="333399"/>
                </a:solidFill>
                <a:latin typeface="Times New Roman" panose="02020603050405020304" pitchFamily="18" charset="0"/>
              </a:endParaRPr>
            </a:p>
          </p:txBody>
        </p:sp>
      </p:grpSp>
      <p:grpSp>
        <p:nvGrpSpPr>
          <p:cNvPr id="2335849" name="Group 105"/>
          <p:cNvGrpSpPr/>
          <p:nvPr/>
        </p:nvGrpSpPr>
        <p:grpSpPr>
          <a:xfrm>
            <a:off x="873125" y="5510213"/>
            <a:ext cx="7526338" cy="701675"/>
            <a:chOff x="526" y="3453"/>
            <a:chExt cx="4741" cy="442"/>
          </a:xfrm>
        </p:grpSpPr>
        <p:sp>
          <p:nvSpPr>
            <p:cNvPr id="39012" name="Rectangle 104"/>
            <p:cNvSpPr/>
            <p:nvPr/>
          </p:nvSpPr>
          <p:spPr>
            <a:xfrm>
              <a:off x="526" y="3472"/>
              <a:ext cx="4741" cy="417"/>
            </a:xfrm>
            <a:prstGeom prst="rect">
              <a:avLst/>
            </a:prstGeom>
            <a:solidFill>
              <a:srgbClr val="99CCFF"/>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39013" name="Text Box 102"/>
            <p:cNvSpPr txBox="1"/>
            <p:nvPr/>
          </p:nvSpPr>
          <p:spPr>
            <a:xfrm>
              <a:off x="1764" y="3453"/>
              <a:ext cx="3409" cy="442"/>
            </a:xfrm>
            <a:prstGeom prst="rect">
              <a:avLst/>
            </a:prstGeom>
            <a:noFill/>
            <a:ln w="9525">
              <a:noFill/>
            </a:ln>
          </p:spPr>
          <p:txBody>
            <a:bodyPr>
              <a:spAutoFit/>
            </a:bodyPr>
            <a:p>
              <a:pPr algn="l" eaLnBrk="1" hangingPunct="1"/>
              <a:r>
                <a:rPr lang="zh-CN" altLang="en-US" sz="2000" b="1" dirty="0">
                  <a:solidFill>
                    <a:schemeClr val="tx1"/>
                  </a:solidFill>
                  <a:latin typeface="Times New Roman" panose="02020603050405020304" pitchFamily="18" charset="0"/>
                  <a:ea typeface="黑体" panose="02010609060101010101" pitchFamily="49" charset="-122"/>
                </a:rPr>
                <a:t>把原来幅值连续变化的采样信号，变成了幅值为有限序列的量化信号。</a:t>
              </a:r>
              <a:endParaRPr lang="zh-CN" altLang="en-US" sz="2000" b="1" dirty="0">
                <a:solidFill>
                  <a:schemeClr val="tx1"/>
                </a:solidFill>
                <a:latin typeface="Times New Roman" panose="02020603050405020304" pitchFamily="18" charset="0"/>
                <a:ea typeface="黑体" panose="02010609060101010101" pitchFamily="49" charset="-122"/>
              </a:endParaRPr>
            </a:p>
          </p:txBody>
        </p:sp>
        <p:sp>
          <p:nvSpPr>
            <p:cNvPr id="39014" name="Text Box 103"/>
            <p:cNvSpPr txBox="1"/>
            <p:nvPr/>
          </p:nvSpPr>
          <p:spPr>
            <a:xfrm>
              <a:off x="680" y="3498"/>
              <a:ext cx="1171" cy="327"/>
            </a:xfrm>
            <a:prstGeom prst="rect">
              <a:avLst/>
            </a:prstGeom>
            <a:noFill/>
            <a:ln w="9525">
              <a:noFill/>
            </a:ln>
          </p:spPr>
          <p:txBody>
            <a:bodyPr>
              <a:spAutoFit/>
            </a:bodyPr>
            <a:p>
              <a:pPr algn="ctr" eaLnBrk="1" hangingPunct="1">
                <a:spcBef>
                  <a:spcPct val="50000"/>
                </a:spcBef>
              </a:pPr>
              <a:r>
                <a:rPr lang="zh-CN" altLang="en-US" sz="2800" b="1" dirty="0">
                  <a:solidFill>
                    <a:srgbClr val="FF0000"/>
                  </a:solidFill>
                  <a:latin typeface="黑体" panose="02010609060101010101" pitchFamily="49" charset="-122"/>
                  <a:ea typeface="黑体" panose="02010609060101010101" pitchFamily="49" charset="-122"/>
                </a:rPr>
                <a:t>量化结果：</a:t>
              </a:r>
              <a:endParaRPr lang="zh-CN" altLang="en-US" sz="2800" b="1" dirty="0">
                <a:solidFill>
                  <a:srgbClr val="FF0000"/>
                </a:solidFill>
                <a:latin typeface="黑体" panose="02010609060101010101" pitchFamily="49" charset="-122"/>
                <a:ea typeface="黑体" panose="02010609060101010101" pitchFamily="49" charset="-122"/>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9018"/>
                                        </p:tgtEl>
                                        <p:attrNameLst>
                                          <p:attrName>style.visibility</p:attrName>
                                        </p:attrNameLst>
                                      </p:cBhvr>
                                      <p:to>
                                        <p:strVal val="visible"/>
                                      </p:to>
                                    </p:set>
                                    <p:animEffect transition="in" filter="dissolve">
                                      <p:cBhvr>
                                        <p:cTn id="7" dur="500"/>
                                        <p:tgtEl>
                                          <p:spTgt spid="390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5849"/>
                                        </p:tgtEl>
                                        <p:attrNameLst>
                                          <p:attrName>style.visibility</p:attrName>
                                        </p:attrNameLst>
                                      </p:cBhvr>
                                      <p:to>
                                        <p:strVal val="visible"/>
                                      </p:to>
                                    </p:set>
                                    <p:animEffect transition="in" filter="dissolve">
                                      <p:cBhvr>
                                        <p:cTn id="12" dur="500"/>
                                        <p:tgtEl>
                                          <p:spTgt spid="23358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1483" name="Text Box 11"/>
          <p:cNvSpPr txBox="1"/>
          <p:nvPr/>
        </p:nvSpPr>
        <p:spPr>
          <a:xfrm>
            <a:off x="1331913" y="1484313"/>
            <a:ext cx="6732587" cy="946150"/>
          </a:xfrm>
          <a:prstGeom prst="rect">
            <a:avLst/>
          </a:prstGeom>
          <a:solidFill>
            <a:srgbClr val="CCFFFF"/>
          </a:solid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量化信号的</a:t>
            </a:r>
            <a:r>
              <a:rPr lang="zh-CN" altLang="en-US" sz="2800" b="1" dirty="0">
                <a:solidFill>
                  <a:srgbClr val="FF0000"/>
                </a:solidFill>
                <a:latin typeface="黑体" panose="02010609060101010101" pitchFamily="49" charset="-122"/>
                <a:ea typeface="黑体" panose="02010609060101010101" pitchFamily="49" charset="-122"/>
              </a:rPr>
              <a:t>精度</a:t>
            </a:r>
            <a:r>
              <a:rPr lang="zh-CN" altLang="en-US" sz="2800" b="1" dirty="0">
                <a:solidFill>
                  <a:schemeClr val="tx1"/>
                </a:solidFill>
                <a:latin typeface="黑体" panose="02010609060101010101" pitchFamily="49" charset="-122"/>
                <a:ea typeface="黑体" panose="02010609060101010101" pitchFamily="49" charset="-122"/>
              </a:rPr>
              <a:t>取决于所选的量化单位</a:t>
            </a:r>
            <a:r>
              <a:rPr lang="en-US" altLang="zh-CN" sz="2800" b="1" i="1">
                <a:solidFill>
                  <a:srgbClr val="FF0000"/>
                </a:solidFill>
                <a:latin typeface="Times New Roman" panose="02020603050405020304" pitchFamily="18" charset="0"/>
                <a:ea typeface="黑体" panose="02010609060101010101" pitchFamily="49" charset="-122"/>
              </a:rPr>
              <a:t>q</a:t>
            </a:r>
            <a:r>
              <a:rPr lang="zh-CN" altLang="en-US" sz="2800" b="1" dirty="0">
                <a:solidFill>
                  <a:schemeClr val="tx1"/>
                </a:solidFill>
                <a:latin typeface="黑体" panose="02010609060101010101" pitchFamily="49" charset="-122"/>
                <a:ea typeface="黑体" panose="02010609060101010101" pitchFamily="49" charset="-122"/>
              </a:rPr>
              <a:t>。 </a:t>
            </a:r>
            <a:r>
              <a:rPr lang="en-US" altLang="zh-CN" sz="2800" b="1" i="1">
                <a:solidFill>
                  <a:srgbClr val="FF0000"/>
                </a:solidFill>
                <a:latin typeface="Times New Roman" panose="02020603050405020304" pitchFamily="18" charset="0"/>
                <a:ea typeface="黑体" panose="02010609060101010101" pitchFamily="49" charset="-122"/>
              </a:rPr>
              <a:t>q</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，信号</a:t>
            </a:r>
            <a:r>
              <a:rPr lang="zh-CN" altLang="en-US" sz="2800" b="1" dirty="0">
                <a:solidFill>
                  <a:srgbClr val="FF0000"/>
                </a:solidFill>
                <a:latin typeface="黑体" panose="02010609060101010101" pitchFamily="49" charset="-122"/>
                <a:ea typeface="黑体" panose="02010609060101010101" pitchFamily="49" charset="-122"/>
              </a:rPr>
              <a:t>精度</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81486" name="Text Box 14"/>
          <p:cNvSpPr txBox="1"/>
          <p:nvPr/>
        </p:nvSpPr>
        <p:spPr>
          <a:xfrm>
            <a:off x="461963" y="2600325"/>
            <a:ext cx="8250237" cy="946150"/>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量化始终存在着误差</a:t>
            </a:r>
            <a:r>
              <a:rPr lang="zh-CN" altLang="en-US" sz="2800" b="1" dirty="0">
                <a:solidFill>
                  <a:srgbClr val="333399"/>
                </a:solidFill>
                <a:latin typeface="楷体_GB2312" pitchFamily="49" charset="-122"/>
              </a:rPr>
              <a:t>，这是因为量化是用近似值代替信号精确值的缘故。 </a:t>
            </a:r>
            <a:endParaRPr lang="zh-CN" altLang="en-US" sz="2800" b="1" dirty="0">
              <a:solidFill>
                <a:srgbClr val="333399"/>
              </a:solidFill>
              <a:latin typeface="楷体_GB2312"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
        <p:nvSpPr>
          <p:cNvPr id="2281490" name="Text Box 1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81491" name="Text Box 19"/>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281495" name="Group 23"/>
          <p:cNvGrpSpPr/>
          <p:nvPr/>
        </p:nvGrpSpPr>
        <p:grpSpPr>
          <a:xfrm>
            <a:off x="792163" y="3717925"/>
            <a:ext cx="7847012" cy="1223963"/>
            <a:chOff x="431" y="2387"/>
            <a:chExt cx="4943" cy="771"/>
          </a:xfrm>
        </p:grpSpPr>
        <p:sp>
          <p:nvSpPr>
            <p:cNvPr id="39947" name="Rectangle 22"/>
            <p:cNvSpPr/>
            <p:nvPr/>
          </p:nvSpPr>
          <p:spPr>
            <a:xfrm>
              <a:off x="431" y="2387"/>
              <a:ext cx="4834" cy="771"/>
            </a:xfrm>
            <a:prstGeom prst="rect">
              <a:avLst/>
            </a:prstGeom>
            <a:solidFill>
              <a:srgbClr val="FFCC99"/>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39948" name="Text Box 20"/>
            <p:cNvSpPr txBox="1"/>
            <p:nvPr/>
          </p:nvSpPr>
          <p:spPr>
            <a:xfrm>
              <a:off x="473" y="2432"/>
              <a:ext cx="1364" cy="365"/>
            </a:xfrm>
            <a:prstGeom prst="rect">
              <a:avLst/>
            </a:prstGeom>
            <a:noFill/>
            <a:ln w="9525">
              <a:noFill/>
            </a:ln>
          </p:spPr>
          <p:txBody>
            <a:bodyPr>
              <a:spAutoFit/>
            </a:bodyPr>
            <a:p>
              <a:pPr algn="l" eaLnBrk="1" hangingPunct="1">
                <a:spcBef>
                  <a:spcPct val="50000"/>
                </a:spcBef>
              </a:pPr>
              <a:r>
                <a:rPr lang="zh-CN" altLang="en-US" sz="3200" b="1" dirty="0">
                  <a:solidFill>
                    <a:srgbClr val="FF0000"/>
                  </a:solidFill>
                  <a:latin typeface="黑体" panose="02010609060101010101" pitchFamily="49" charset="-122"/>
                  <a:ea typeface="黑体" panose="02010609060101010101" pitchFamily="49" charset="-122"/>
                </a:rPr>
                <a:t>量化误差：</a:t>
              </a:r>
              <a:endParaRPr lang="zh-CN" altLang="en-US" sz="3200" b="1" dirty="0">
                <a:solidFill>
                  <a:srgbClr val="FF0000"/>
                </a:solidFill>
                <a:latin typeface="黑体" panose="02010609060101010101" pitchFamily="49" charset="-122"/>
                <a:ea typeface="黑体" panose="02010609060101010101" pitchFamily="49" charset="-122"/>
              </a:endParaRPr>
            </a:p>
          </p:txBody>
        </p:sp>
        <p:sp>
          <p:nvSpPr>
            <p:cNvPr id="39949" name="Rectangle 21"/>
            <p:cNvSpPr/>
            <p:nvPr/>
          </p:nvSpPr>
          <p:spPr>
            <a:xfrm>
              <a:off x="1723" y="2432"/>
              <a:ext cx="3651" cy="672"/>
            </a:xfrm>
            <a:prstGeom prst="rect">
              <a:avLst/>
            </a:prstGeom>
            <a:noFill/>
            <a:ln w="9525">
              <a:noFill/>
            </a:ln>
          </p:spPr>
          <p:txBody>
            <a:bodyPr>
              <a:spAutoFit/>
            </a:bodyPr>
            <a:p>
              <a:pPr algn="l" eaLnBrk="1" hangingPunct="1">
                <a:spcBef>
                  <a:spcPct val="50000"/>
                </a:spcBef>
              </a:pPr>
              <a:r>
                <a:rPr lang="zh-CN" altLang="en-US" sz="3200" b="1" dirty="0">
                  <a:solidFill>
                    <a:schemeClr val="tx1"/>
                  </a:solidFill>
                  <a:latin typeface="黑体" panose="02010609060101010101" pitchFamily="49" charset="-122"/>
                  <a:ea typeface="黑体" panose="02010609060101010101" pitchFamily="49" charset="-122"/>
                </a:rPr>
                <a:t>由量化引起的误差，也常称作</a:t>
              </a:r>
              <a:r>
                <a:rPr lang="zh-CN" altLang="en-US" sz="3200" b="1" dirty="0">
                  <a:solidFill>
                    <a:srgbClr val="FF0000"/>
                  </a:solidFill>
                  <a:latin typeface="黑体" panose="02010609060101010101" pitchFamily="49" charset="-122"/>
                  <a:ea typeface="黑体" panose="02010609060101010101" pitchFamily="49" charset="-122"/>
                </a:rPr>
                <a:t>量化噪声</a:t>
              </a:r>
              <a:r>
                <a:rPr lang="zh-CN" altLang="en-US" sz="3200" b="1" dirty="0">
                  <a:solidFill>
                    <a:schemeClr val="tx1"/>
                  </a:solidFill>
                  <a:latin typeface="黑体" panose="02010609060101010101" pitchFamily="49" charset="-122"/>
                  <a:ea typeface="黑体" panose="02010609060101010101" pitchFamily="49" charset="-122"/>
                </a:rPr>
                <a:t>，记为</a:t>
              </a:r>
              <a:r>
                <a:rPr lang="en-US" altLang="zh-CN" sz="3200" b="1" i="1">
                  <a:solidFill>
                    <a:srgbClr val="FF0000"/>
                  </a:solidFill>
                  <a:latin typeface="Times New Roman" panose="02020603050405020304" pitchFamily="18" charset="0"/>
                  <a:ea typeface="黑体" panose="02010609060101010101" pitchFamily="49" charset="-122"/>
                </a:rPr>
                <a:t>e</a:t>
              </a:r>
              <a:r>
                <a:rPr lang="zh-CN" altLang="en-US" sz="3200" b="1" dirty="0">
                  <a:solidFill>
                    <a:schemeClr val="tx1"/>
                  </a:solidFill>
                  <a:latin typeface="黑体" panose="02010609060101010101" pitchFamily="49" charset="-122"/>
                  <a:ea typeface="黑体" panose="02010609060101010101" pitchFamily="49" charset="-122"/>
                </a:rPr>
                <a:t>。</a:t>
              </a:r>
              <a:endParaRPr lang="zh-CN" altLang="en-US" sz="3200" b="1" dirty="0">
                <a:solidFill>
                  <a:schemeClr val="tx1"/>
                </a:solidFill>
                <a:latin typeface="黑体" panose="02010609060101010101" pitchFamily="49" charset="-122"/>
                <a:ea typeface="黑体" panose="02010609060101010101" pitchFamily="49" charset="-122"/>
              </a:endParaRPr>
            </a:p>
          </p:txBody>
        </p:sp>
      </p:grpSp>
      <p:graphicFrame>
        <p:nvGraphicFramePr>
          <p:cNvPr id="39944" name="Object 24"/>
          <p:cNvGraphicFramePr>
            <a:graphicFrameLocks noChangeAspect="1"/>
          </p:cNvGraphicFramePr>
          <p:nvPr/>
        </p:nvGraphicFramePr>
        <p:xfrm>
          <a:off x="827088" y="5157788"/>
          <a:ext cx="3821112" cy="779462"/>
        </p:xfrm>
        <a:graphic>
          <a:graphicData uri="http://schemas.openxmlformats.org/presentationml/2006/ole">
            <mc:AlternateContent xmlns:mc="http://schemas.openxmlformats.org/markup-compatibility/2006">
              <mc:Choice xmlns:v="urn:schemas-microsoft-com:vml" Requires="v">
                <p:oleObj spid="_x0000_s3157" name="" r:id="rId1" imgW="1320165" imgH="241300" progId="Equation.3">
                  <p:embed/>
                </p:oleObj>
              </mc:Choice>
              <mc:Fallback>
                <p:oleObj name="" r:id="rId1" imgW="1320165" imgH="241300" progId="Equation.3">
                  <p:embed/>
                  <p:pic>
                    <p:nvPicPr>
                      <p:cNvPr id="0" name="图片 3156"/>
                      <p:cNvPicPr/>
                      <p:nvPr/>
                    </p:nvPicPr>
                    <p:blipFill>
                      <a:blip r:embed="rId2"/>
                      <a:stretch>
                        <a:fillRect/>
                      </a:stretch>
                    </p:blipFill>
                    <p:spPr>
                      <a:xfrm>
                        <a:off x="827088" y="5157788"/>
                        <a:ext cx="3821112" cy="779462"/>
                      </a:xfrm>
                      <a:prstGeom prst="rect">
                        <a:avLst/>
                      </a:prstGeom>
                      <a:solidFill>
                        <a:srgbClr val="FFCC99"/>
                      </a:solidFill>
                      <a:ln w="38100">
                        <a:noFill/>
                        <a:miter/>
                      </a:ln>
                    </p:spPr>
                  </p:pic>
                </p:oleObj>
              </mc:Fallback>
            </mc:AlternateContent>
          </a:graphicData>
        </a:graphic>
      </p:graphicFrame>
      <p:sp>
        <p:nvSpPr>
          <p:cNvPr id="2281497" name="Text Box 25"/>
          <p:cNvSpPr txBox="1"/>
          <p:nvPr/>
        </p:nvSpPr>
        <p:spPr>
          <a:xfrm>
            <a:off x="5222875" y="4962525"/>
            <a:ext cx="3435350" cy="519113"/>
          </a:xfrm>
          <a:prstGeom prst="rect">
            <a:avLst/>
          </a:prstGeom>
          <a:noFill/>
          <a:ln w="9525">
            <a:noFill/>
          </a:ln>
        </p:spPr>
        <p:txBody>
          <a:bodyPr wrap="none">
            <a:spAutoFit/>
          </a:bodyPr>
          <a:p>
            <a:pPr algn="l" eaLnBrk="1" hangingPunct="1"/>
            <a:r>
              <a:rPr lang="en-US" altLang="zh-CN" sz="2800" b="1" i="1" err="1">
                <a:solidFill>
                  <a:srgbClr val="333399"/>
                </a:solidFill>
                <a:latin typeface="Times New Roman" panose="02020603050405020304" pitchFamily="18" charset="0"/>
                <a:ea typeface="宋体" panose="02010600030101010101" pitchFamily="2" charset="-122"/>
              </a:rPr>
              <a:t>x</a:t>
            </a:r>
            <a:r>
              <a:rPr lang="en-US" altLang="zh-CN" sz="2800" b="1" i="1" baseline="-25000" err="1">
                <a:solidFill>
                  <a:srgbClr val="333399"/>
                </a:solidFill>
                <a:latin typeface="Times New Roman" panose="02020603050405020304" pitchFamily="18" charset="0"/>
                <a:ea typeface="宋体" panose="02010600030101010101" pitchFamily="2" charset="-122"/>
              </a:rPr>
              <a:t>s</a:t>
            </a:r>
            <a:r>
              <a:rPr lang="en-US" altLang="zh-CN" sz="2800" b="1" err="1">
                <a:solidFill>
                  <a:srgbClr val="333399"/>
                </a:solidFill>
                <a:latin typeface="Times New Roman" panose="02020603050405020304" pitchFamily="18" charset="0"/>
                <a:ea typeface="宋体" panose="02010600030101010101" pitchFamily="2" charset="-122"/>
              </a:rPr>
              <a:t>(</a:t>
            </a:r>
            <a:r>
              <a:rPr lang="en-US" altLang="zh-CN" sz="2800" b="1" i="1" err="1">
                <a:solidFill>
                  <a:srgbClr val="333399"/>
                </a:solidFill>
                <a:latin typeface="Times New Roman" panose="02020603050405020304" pitchFamily="18" charset="0"/>
                <a:ea typeface="宋体" panose="02010600030101010101" pitchFamily="2" charset="-122"/>
              </a:rPr>
              <a:t>nT</a:t>
            </a:r>
            <a:r>
              <a:rPr lang="en-US" altLang="zh-CN" sz="2800" b="1" i="1" baseline="-25000" err="1">
                <a:solidFill>
                  <a:srgbClr val="333399"/>
                </a:solidFill>
                <a:latin typeface="Times New Roman" panose="02020603050405020304" pitchFamily="18" charset="0"/>
                <a:ea typeface="宋体" panose="02010600030101010101" pitchFamily="2" charset="-122"/>
              </a:rPr>
              <a:t>s</a:t>
            </a:r>
            <a:r>
              <a:rPr lang="en-US" altLang="zh-CN" sz="2800" b="1">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rPr>
              <a:t>采样信号</a:t>
            </a:r>
            <a:r>
              <a:rPr lang="zh-CN" altLang="en-US" sz="2800" b="1" dirty="0">
                <a:solidFill>
                  <a:srgbClr val="333399"/>
                </a:solidFill>
                <a:latin typeface="Times New Roman" panose="02020603050405020304" pitchFamily="18" charset="0"/>
                <a:ea typeface="宋体" panose="02010600030101010101" pitchFamily="2" charset="-122"/>
              </a:rPr>
              <a:t>； </a:t>
            </a:r>
            <a:endParaRPr lang="zh-CN" altLang="en-US" sz="2800" b="1" dirty="0">
              <a:solidFill>
                <a:srgbClr val="333399"/>
              </a:solidFill>
              <a:latin typeface="Times New Roman" panose="02020603050405020304" pitchFamily="18" charset="0"/>
              <a:ea typeface="宋体" panose="02010600030101010101" pitchFamily="2" charset="-122"/>
            </a:endParaRPr>
          </a:p>
        </p:txBody>
      </p:sp>
      <p:sp>
        <p:nvSpPr>
          <p:cNvPr id="2281498" name="Text Box 26"/>
          <p:cNvSpPr txBox="1"/>
          <p:nvPr/>
        </p:nvSpPr>
        <p:spPr>
          <a:xfrm>
            <a:off x="5219700" y="5502275"/>
            <a:ext cx="3373438" cy="519113"/>
          </a:xfrm>
          <a:prstGeom prst="rect">
            <a:avLst/>
          </a:prstGeom>
          <a:noFill/>
          <a:ln w="9525">
            <a:noFill/>
          </a:ln>
        </p:spPr>
        <p:txBody>
          <a:bodyPr wrap="none">
            <a:spAutoFit/>
          </a:bodyPr>
          <a:p>
            <a:pPr algn="l" eaLnBrk="1" hangingPunct="1"/>
            <a:r>
              <a:rPr lang="en-US" altLang="zh-CN" sz="2800" b="1" i="1" err="1">
                <a:solidFill>
                  <a:srgbClr val="333399"/>
                </a:solidFill>
                <a:latin typeface="Times New Roman" panose="02020603050405020304" pitchFamily="18" charset="0"/>
                <a:ea typeface="宋体" panose="02010600030101010101" pitchFamily="2" charset="-122"/>
              </a:rPr>
              <a:t>x</a:t>
            </a:r>
            <a:r>
              <a:rPr lang="en-US" altLang="zh-CN" sz="2800" b="1" i="1" baseline="-25000" err="1">
                <a:solidFill>
                  <a:srgbClr val="333399"/>
                </a:solidFill>
                <a:latin typeface="Times New Roman" panose="02020603050405020304" pitchFamily="18" charset="0"/>
                <a:ea typeface="宋体" panose="02010600030101010101" pitchFamily="2" charset="-122"/>
              </a:rPr>
              <a:t>q</a:t>
            </a:r>
            <a:r>
              <a:rPr lang="en-US" altLang="zh-CN" sz="2800" b="1" err="1">
                <a:solidFill>
                  <a:srgbClr val="333399"/>
                </a:solidFill>
                <a:latin typeface="Times New Roman" panose="02020603050405020304" pitchFamily="18" charset="0"/>
                <a:ea typeface="宋体" panose="02010600030101010101" pitchFamily="2" charset="-122"/>
              </a:rPr>
              <a:t>(</a:t>
            </a:r>
            <a:r>
              <a:rPr lang="en-US" altLang="zh-CN" sz="2800" b="1" i="1" err="1">
                <a:solidFill>
                  <a:srgbClr val="333399"/>
                </a:solidFill>
                <a:latin typeface="Times New Roman" panose="02020603050405020304" pitchFamily="18" charset="0"/>
                <a:ea typeface="宋体" panose="02010600030101010101" pitchFamily="2" charset="-122"/>
              </a:rPr>
              <a:t>nT</a:t>
            </a:r>
            <a:r>
              <a:rPr lang="en-US" altLang="zh-CN" sz="2800" b="1" i="1" baseline="-25000" err="1">
                <a:solidFill>
                  <a:srgbClr val="333399"/>
                </a:solidFill>
                <a:latin typeface="Times New Roman" panose="02020603050405020304" pitchFamily="18" charset="0"/>
                <a:ea typeface="宋体" panose="02010600030101010101" pitchFamily="2" charset="-122"/>
              </a:rPr>
              <a:t>s</a:t>
            </a:r>
            <a:r>
              <a:rPr lang="en-US" altLang="zh-CN" sz="2800" b="1">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rPr>
              <a:t>量化信号</a:t>
            </a:r>
            <a:r>
              <a:rPr lang="zh-CN" altLang="en-US" sz="2800" b="1" dirty="0">
                <a:solidFill>
                  <a:srgbClr val="333399"/>
                </a:solidFill>
                <a:latin typeface="Times New Roman" panose="02020603050405020304" pitchFamily="18" charset="0"/>
                <a:ea typeface="宋体" panose="02010600030101010101" pitchFamily="2" charset="-122"/>
              </a:rPr>
              <a:t>。</a:t>
            </a:r>
            <a:endParaRPr lang="zh-CN" altLang="en-US" sz="2800" b="1" dirty="0">
              <a:solidFill>
                <a:srgbClr val="333399"/>
              </a:solidFill>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1487"/>
                                        </p:tgtEl>
                                        <p:attrNameLst>
                                          <p:attrName>style.visibility</p:attrName>
                                        </p:attrNameLst>
                                      </p:cBhvr>
                                      <p:to>
                                        <p:strVal val="visible"/>
                                      </p:to>
                                    </p:set>
                                    <p:animEffect transition="in" filter="dissolve">
                                      <p:cBhvr>
                                        <p:cTn id="7" dur="500"/>
                                        <p:tgtEl>
                                          <p:spTgt spid="22814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1483"/>
                                        </p:tgtEl>
                                        <p:attrNameLst>
                                          <p:attrName>style.visibility</p:attrName>
                                        </p:attrNameLst>
                                      </p:cBhvr>
                                      <p:to>
                                        <p:strVal val="visible"/>
                                      </p:to>
                                    </p:set>
                                    <p:animEffect transition="in" filter="dissolve">
                                      <p:cBhvr>
                                        <p:cTn id="12" dur="500"/>
                                        <p:tgtEl>
                                          <p:spTgt spid="228148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81486">
                                            <p:txEl>
                                              <p:charRg st="0" end="34"/>
                                            </p:txEl>
                                          </p:spTgt>
                                        </p:tgtEl>
                                        <p:attrNameLst>
                                          <p:attrName>style.visibility</p:attrName>
                                        </p:attrNameLst>
                                      </p:cBhvr>
                                      <p:to>
                                        <p:strVal val="visible"/>
                                      </p:to>
                                    </p:set>
                                    <p:animEffect transition="in" filter="dissolve">
                                      <p:cBhvr>
                                        <p:cTn id="17" dur="500"/>
                                        <p:tgtEl>
                                          <p:spTgt spid="2281486">
                                            <p:txEl>
                                              <p:charRg st="0" end="3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81495"/>
                                        </p:tgtEl>
                                        <p:attrNameLst>
                                          <p:attrName>style.visibility</p:attrName>
                                        </p:attrNameLst>
                                      </p:cBhvr>
                                      <p:to>
                                        <p:strVal val="visible"/>
                                      </p:to>
                                    </p:set>
                                    <p:animEffect transition="in" filter="dissolve">
                                      <p:cBhvr>
                                        <p:cTn id="22" dur="500"/>
                                        <p:tgtEl>
                                          <p:spTgt spid="228149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9944"/>
                                        </p:tgtEl>
                                        <p:attrNameLst>
                                          <p:attrName>style.visibility</p:attrName>
                                        </p:attrNameLst>
                                      </p:cBhvr>
                                      <p:to>
                                        <p:strVal val="visible"/>
                                      </p:to>
                                    </p:set>
                                    <p:animEffect transition="in" filter="dissolve">
                                      <p:cBhvr>
                                        <p:cTn id="27" dur="500"/>
                                        <p:tgtEl>
                                          <p:spTgt spid="3994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81497"/>
                                        </p:tgtEl>
                                        <p:attrNameLst>
                                          <p:attrName>style.visibility</p:attrName>
                                        </p:attrNameLst>
                                      </p:cBhvr>
                                      <p:to>
                                        <p:strVal val="visible"/>
                                      </p:to>
                                    </p:set>
                                    <p:animEffect transition="in" filter="dissolve">
                                      <p:cBhvr>
                                        <p:cTn id="32" dur="500"/>
                                        <p:tgtEl>
                                          <p:spTgt spid="2281497"/>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281498"/>
                                        </p:tgtEl>
                                        <p:attrNameLst>
                                          <p:attrName>style.visibility</p:attrName>
                                        </p:attrNameLst>
                                      </p:cBhvr>
                                      <p:to>
                                        <p:strVal val="visible"/>
                                      </p:to>
                                    </p:set>
                                    <p:animEffect transition="in" filter="dissolve">
                                      <p:cBhvr>
                                        <p:cTn id="35" dur="500"/>
                                        <p:tgtEl>
                                          <p:spTgt spid="22814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1483" grpId="0" bldLvl="0" animBg="1"/>
      <p:bldP spid="2281486" grpId="0" build="p"/>
      <p:bldP spid="2281487" grpId="0" bldLvl="0" animBg="1"/>
      <p:bldP spid="2281497" grpId="0"/>
      <p:bldP spid="228149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2521" name="Text Box 25"/>
          <p:cNvSpPr txBox="1"/>
          <p:nvPr/>
        </p:nvSpPr>
        <p:spPr>
          <a:xfrm>
            <a:off x="3132138" y="850900"/>
            <a:ext cx="5761037" cy="457200"/>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量化误差的大小与所采用的量化方法有关。 </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82522" name="Text Box 26"/>
          <p:cNvSpPr txBox="1"/>
          <p:nvPr/>
        </p:nvSpPr>
        <p:spPr>
          <a:xfrm>
            <a:off x="468313" y="1449388"/>
            <a:ext cx="3949700" cy="946150"/>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1.</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只舍不入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82525" name="Text Box 2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0965" name="Text Box 30"/>
          <p:cNvSpPr txBox="1"/>
          <p:nvPr/>
        </p:nvSpPr>
        <p:spPr>
          <a:xfrm>
            <a:off x="439738" y="822325"/>
            <a:ext cx="2692400" cy="519113"/>
          </a:xfrm>
          <a:prstGeom prst="rect">
            <a:avLst/>
          </a:prstGeom>
          <a:solidFill>
            <a:srgbClr val="99CCFF"/>
          </a:solidFill>
          <a:ln w="9525">
            <a:noFill/>
          </a:ln>
        </p:spPr>
        <p:txBody>
          <a:bodyPr>
            <a:spAutoFit/>
          </a:bodyPr>
          <a:p>
            <a:pPr algn="l" eaLnBrk="1" hangingPunct="1"/>
            <a:r>
              <a:rPr lang="en-US" altLang="zh-CN" sz="2800" b="1">
                <a:solidFill>
                  <a:srgbClr val="333399"/>
                </a:solidFill>
                <a:latin typeface="楷体_GB2312" pitchFamily="49" charset="-122"/>
              </a:rPr>
              <a:t>2.7.3 </a:t>
            </a:r>
            <a:r>
              <a:rPr lang="zh-CN" altLang="en-US" sz="2800" b="1" dirty="0">
                <a:solidFill>
                  <a:srgbClr val="333399"/>
                </a:solidFill>
                <a:latin typeface="楷体_GB2312" pitchFamily="49" charset="-122"/>
              </a:rPr>
              <a:t>量化误差</a:t>
            </a:r>
            <a:endParaRPr lang="zh-CN" altLang="en-US" sz="2800" b="1" dirty="0">
              <a:solidFill>
                <a:srgbClr val="333399"/>
              </a:solidFill>
              <a:latin typeface="楷体_GB2312" pitchFamily="49" charset="-122"/>
            </a:endParaRPr>
          </a:p>
        </p:txBody>
      </p:sp>
      <p:sp>
        <p:nvSpPr>
          <p:cNvPr id="2282527" name="Text Box 31"/>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40967" name="Rectangle 122"/>
          <p:cNvSpPr/>
          <p:nvPr/>
        </p:nvSpPr>
        <p:spPr>
          <a:xfrm>
            <a:off x="6145213" y="6316663"/>
            <a:ext cx="1181100" cy="350837"/>
          </a:xfrm>
          <a:prstGeom prst="rect">
            <a:avLst/>
          </a:prstGeom>
          <a:noFill/>
          <a:ln w="9525">
            <a:noFill/>
          </a:ln>
        </p:spPr>
        <p:txBody>
          <a:bodyPr wrap="none" lIns="0" tIns="0" rIns="0" bIns="0">
            <a:spAutoFit/>
          </a:bodyPr>
          <a:p>
            <a:pPr algn="ctr" eaLnBrk="1" hangingPunct="1"/>
            <a:r>
              <a:rPr lang="en-US" altLang="zh-CN" sz="2300" b="1">
                <a:solidFill>
                  <a:srgbClr val="000080"/>
                </a:solidFill>
                <a:latin typeface="楷体_GB2312" pitchFamily="49" charset="-122"/>
              </a:rPr>
              <a:t>        </a:t>
            </a:r>
            <a:endParaRPr lang="en-US" altLang="zh-CN" sz="2300" b="1">
              <a:solidFill>
                <a:srgbClr val="000080"/>
              </a:solidFill>
              <a:latin typeface="楷体_GB2312" pitchFamily="49" charset="-122"/>
            </a:endParaRPr>
          </a:p>
        </p:txBody>
      </p:sp>
      <p:grpSp>
        <p:nvGrpSpPr>
          <p:cNvPr id="2282623" name="Group 127"/>
          <p:cNvGrpSpPr/>
          <p:nvPr/>
        </p:nvGrpSpPr>
        <p:grpSpPr>
          <a:xfrm>
            <a:off x="4859338" y="1338263"/>
            <a:ext cx="3960812" cy="4838700"/>
            <a:chOff x="3220" y="843"/>
            <a:chExt cx="2495" cy="3048"/>
          </a:xfrm>
        </p:grpSpPr>
        <p:sp>
          <p:nvSpPr>
            <p:cNvPr id="40983" name="Rectangle 126"/>
            <p:cNvSpPr/>
            <p:nvPr/>
          </p:nvSpPr>
          <p:spPr>
            <a:xfrm>
              <a:off x="3220" y="867"/>
              <a:ext cx="2495" cy="3024"/>
            </a:xfrm>
            <a:prstGeom prst="rect">
              <a:avLst/>
            </a:prstGeom>
            <a:solidFill>
              <a:srgbClr val="FFFF99"/>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40984" name="Line 35"/>
            <p:cNvSpPr/>
            <p:nvPr/>
          </p:nvSpPr>
          <p:spPr>
            <a:xfrm>
              <a:off x="3968" y="930"/>
              <a:ext cx="1" cy="1484"/>
            </a:xfrm>
            <a:prstGeom prst="line">
              <a:avLst/>
            </a:prstGeom>
            <a:ln w="0" cap="flat" cmpd="sng">
              <a:solidFill>
                <a:srgbClr val="0000FF"/>
              </a:solidFill>
              <a:prstDash val="solid"/>
              <a:headEnd type="none" w="med" len="med"/>
              <a:tailEnd type="none" w="med" len="med"/>
            </a:ln>
          </p:spPr>
        </p:sp>
        <p:sp>
          <p:nvSpPr>
            <p:cNvPr id="40985" name="Line 36"/>
            <p:cNvSpPr/>
            <p:nvPr/>
          </p:nvSpPr>
          <p:spPr>
            <a:xfrm>
              <a:off x="3313" y="1873"/>
              <a:ext cx="1791" cy="1"/>
            </a:xfrm>
            <a:prstGeom prst="line">
              <a:avLst/>
            </a:prstGeom>
            <a:ln w="0" cap="flat" cmpd="sng">
              <a:solidFill>
                <a:srgbClr val="0000FF"/>
              </a:solidFill>
              <a:prstDash val="solid"/>
              <a:headEnd type="none" w="med" len="med"/>
              <a:tailEnd type="none" w="med" len="med"/>
            </a:ln>
          </p:spPr>
        </p:sp>
        <p:sp>
          <p:nvSpPr>
            <p:cNvPr id="40986" name="Line 37"/>
            <p:cNvSpPr/>
            <p:nvPr/>
          </p:nvSpPr>
          <p:spPr>
            <a:xfrm>
              <a:off x="4109" y="1745"/>
              <a:ext cx="140" cy="1"/>
            </a:xfrm>
            <a:prstGeom prst="line">
              <a:avLst/>
            </a:prstGeom>
            <a:ln w="25400" cap="flat" cmpd="sng">
              <a:solidFill>
                <a:srgbClr val="FF00FF"/>
              </a:solidFill>
              <a:prstDash val="solid"/>
              <a:headEnd type="none" w="med" len="med"/>
              <a:tailEnd type="none" w="med" len="med"/>
            </a:ln>
          </p:spPr>
        </p:sp>
        <p:sp>
          <p:nvSpPr>
            <p:cNvPr id="40987" name="Line 38"/>
            <p:cNvSpPr/>
            <p:nvPr/>
          </p:nvSpPr>
          <p:spPr>
            <a:xfrm flipV="1">
              <a:off x="4249" y="1603"/>
              <a:ext cx="1" cy="138"/>
            </a:xfrm>
            <a:prstGeom prst="line">
              <a:avLst/>
            </a:prstGeom>
            <a:ln w="25400" cap="flat" cmpd="sng">
              <a:solidFill>
                <a:srgbClr val="FF00FF"/>
              </a:solidFill>
              <a:prstDash val="solid"/>
              <a:headEnd type="none" w="med" len="med"/>
              <a:tailEnd type="none" w="med" len="med"/>
            </a:ln>
          </p:spPr>
        </p:sp>
        <p:sp>
          <p:nvSpPr>
            <p:cNvPr id="40988" name="Line 39"/>
            <p:cNvSpPr/>
            <p:nvPr/>
          </p:nvSpPr>
          <p:spPr>
            <a:xfrm>
              <a:off x="4249" y="1605"/>
              <a:ext cx="141" cy="1"/>
            </a:xfrm>
            <a:prstGeom prst="line">
              <a:avLst/>
            </a:prstGeom>
            <a:ln w="25400" cap="flat" cmpd="sng">
              <a:solidFill>
                <a:srgbClr val="FF00FF"/>
              </a:solidFill>
              <a:prstDash val="solid"/>
              <a:headEnd type="none" w="med" len="med"/>
              <a:tailEnd type="none" w="med" len="med"/>
            </a:ln>
          </p:spPr>
        </p:sp>
        <p:sp>
          <p:nvSpPr>
            <p:cNvPr id="40989" name="Line 40"/>
            <p:cNvSpPr/>
            <p:nvPr/>
          </p:nvSpPr>
          <p:spPr>
            <a:xfrm flipV="1">
              <a:off x="4390" y="1467"/>
              <a:ext cx="1" cy="138"/>
            </a:xfrm>
            <a:prstGeom prst="line">
              <a:avLst/>
            </a:prstGeom>
            <a:ln w="25400" cap="flat" cmpd="sng">
              <a:solidFill>
                <a:srgbClr val="FF00FF"/>
              </a:solidFill>
              <a:prstDash val="solid"/>
              <a:headEnd type="none" w="med" len="med"/>
              <a:tailEnd type="none" w="med" len="med"/>
            </a:ln>
          </p:spPr>
        </p:sp>
        <p:sp>
          <p:nvSpPr>
            <p:cNvPr id="40990" name="Line 41"/>
            <p:cNvSpPr/>
            <p:nvPr/>
          </p:nvSpPr>
          <p:spPr>
            <a:xfrm>
              <a:off x="4390" y="1465"/>
              <a:ext cx="140" cy="1"/>
            </a:xfrm>
            <a:prstGeom prst="line">
              <a:avLst/>
            </a:prstGeom>
            <a:ln w="25400" cap="flat" cmpd="sng">
              <a:solidFill>
                <a:srgbClr val="FF00FF"/>
              </a:solidFill>
              <a:prstDash val="solid"/>
              <a:headEnd type="none" w="med" len="med"/>
              <a:tailEnd type="none" w="med" len="med"/>
            </a:ln>
          </p:spPr>
        </p:sp>
        <p:sp>
          <p:nvSpPr>
            <p:cNvPr id="40991" name="Line 42"/>
            <p:cNvSpPr/>
            <p:nvPr/>
          </p:nvSpPr>
          <p:spPr>
            <a:xfrm flipV="1">
              <a:off x="4530" y="1327"/>
              <a:ext cx="1" cy="138"/>
            </a:xfrm>
            <a:prstGeom prst="line">
              <a:avLst/>
            </a:prstGeom>
            <a:ln w="25400" cap="flat" cmpd="sng">
              <a:solidFill>
                <a:srgbClr val="FF00FF"/>
              </a:solidFill>
              <a:prstDash val="solid"/>
              <a:headEnd type="none" w="med" len="med"/>
              <a:tailEnd type="none" w="med" len="med"/>
            </a:ln>
          </p:spPr>
        </p:sp>
        <p:sp>
          <p:nvSpPr>
            <p:cNvPr id="40992" name="Line 43"/>
            <p:cNvSpPr/>
            <p:nvPr/>
          </p:nvSpPr>
          <p:spPr>
            <a:xfrm>
              <a:off x="4530" y="1327"/>
              <a:ext cx="141" cy="1"/>
            </a:xfrm>
            <a:prstGeom prst="line">
              <a:avLst/>
            </a:prstGeom>
            <a:ln w="25400" cap="flat" cmpd="sng">
              <a:solidFill>
                <a:srgbClr val="FF00FF"/>
              </a:solidFill>
              <a:prstDash val="solid"/>
              <a:headEnd type="none" w="med" len="med"/>
              <a:tailEnd type="none" w="med" len="med"/>
            </a:ln>
          </p:spPr>
        </p:sp>
        <p:sp>
          <p:nvSpPr>
            <p:cNvPr id="40993" name="Line 44"/>
            <p:cNvSpPr/>
            <p:nvPr/>
          </p:nvSpPr>
          <p:spPr>
            <a:xfrm flipV="1">
              <a:off x="4671" y="1194"/>
              <a:ext cx="1" cy="133"/>
            </a:xfrm>
            <a:prstGeom prst="line">
              <a:avLst/>
            </a:prstGeom>
            <a:ln w="25400" cap="flat" cmpd="sng">
              <a:solidFill>
                <a:srgbClr val="FF00FF"/>
              </a:solidFill>
              <a:prstDash val="solid"/>
              <a:headEnd type="none" w="med" len="med"/>
              <a:tailEnd type="none" w="med" len="med"/>
            </a:ln>
          </p:spPr>
        </p:sp>
        <p:sp>
          <p:nvSpPr>
            <p:cNvPr id="40994" name="Line 45"/>
            <p:cNvSpPr/>
            <p:nvPr/>
          </p:nvSpPr>
          <p:spPr>
            <a:xfrm>
              <a:off x="3828" y="2011"/>
              <a:ext cx="1" cy="138"/>
            </a:xfrm>
            <a:prstGeom prst="line">
              <a:avLst/>
            </a:prstGeom>
            <a:ln w="25400" cap="flat" cmpd="sng">
              <a:solidFill>
                <a:srgbClr val="FF00FF"/>
              </a:solidFill>
              <a:prstDash val="solid"/>
              <a:headEnd type="none" w="med" len="med"/>
              <a:tailEnd type="none" w="med" len="med"/>
            </a:ln>
          </p:spPr>
        </p:sp>
        <p:sp>
          <p:nvSpPr>
            <p:cNvPr id="40995" name="Line 46"/>
            <p:cNvSpPr/>
            <p:nvPr/>
          </p:nvSpPr>
          <p:spPr>
            <a:xfrm flipH="1">
              <a:off x="3687" y="2149"/>
              <a:ext cx="141" cy="1"/>
            </a:xfrm>
            <a:prstGeom prst="line">
              <a:avLst/>
            </a:prstGeom>
            <a:ln w="25400" cap="flat" cmpd="sng">
              <a:solidFill>
                <a:srgbClr val="FF00FF"/>
              </a:solidFill>
              <a:prstDash val="solid"/>
              <a:headEnd type="none" w="med" len="med"/>
              <a:tailEnd type="none" w="med" len="med"/>
            </a:ln>
          </p:spPr>
        </p:sp>
        <p:sp>
          <p:nvSpPr>
            <p:cNvPr id="40996" name="Line 47"/>
            <p:cNvSpPr/>
            <p:nvPr/>
          </p:nvSpPr>
          <p:spPr>
            <a:xfrm>
              <a:off x="3687" y="2149"/>
              <a:ext cx="1" cy="138"/>
            </a:xfrm>
            <a:prstGeom prst="line">
              <a:avLst/>
            </a:prstGeom>
            <a:ln w="25400" cap="flat" cmpd="sng">
              <a:solidFill>
                <a:srgbClr val="FF00FF"/>
              </a:solidFill>
              <a:prstDash val="solid"/>
              <a:headEnd type="none" w="med" len="med"/>
              <a:tailEnd type="none" w="med" len="med"/>
            </a:ln>
          </p:spPr>
        </p:sp>
        <p:sp>
          <p:nvSpPr>
            <p:cNvPr id="40997" name="Line 48"/>
            <p:cNvSpPr/>
            <p:nvPr/>
          </p:nvSpPr>
          <p:spPr>
            <a:xfrm flipH="1">
              <a:off x="3547" y="2287"/>
              <a:ext cx="140" cy="1"/>
            </a:xfrm>
            <a:prstGeom prst="line">
              <a:avLst/>
            </a:prstGeom>
            <a:ln w="25400" cap="flat" cmpd="sng">
              <a:solidFill>
                <a:srgbClr val="FF00FF"/>
              </a:solidFill>
              <a:prstDash val="solid"/>
              <a:headEnd type="none" w="med" len="med"/>
              <a:tailEnd type="none" w="med" len="med"/>
            </a:ln>
          </p:spPr>
        </p:sp>
        <p:sp>
          <p:nvSpPr>
            <p:cNvPr id="40998" name="Line 49"/>
            <p:cNvSpPr/>
            <p:nvPr/>
          </p:nvSpPr>
          <p:spPr>
            <a:xfrm>
              <a:off x="4671" y="1194"/>
              <a:ext cx="140" cy="1"/>
            </a:xfrm>
            <a:prstGeom prst="line">
              <a:avLst/>
            </a:prstGeom>
            <a:ln w="25400" cap="flat" cmpd="sng">
              <a:solidFill>
                <a:srgbClr val="FF00FF"/>
              </a:solidFill>
              <a:prstDash val="solid"/>
              <a:headEnd type="none" w="med" len="med"/>
              <a:tailEnd type="none" w="med" len="med"/>
            </a:ln>
          </p:spPr>
        </p:sp>
        <p:sp>
          <p:nvSpPr>
            <p:cNvPr id="40999" name="Line 50"/>
            <p:cNvSpPr/>
            <p:nvPr/>
          </p:nvSpPr>
          <p:spPr>
            <a:xfrm>
              <a:off x="3828" y="2011"/>
              <a:ext cx="140" cy="1"/>
            </a:xfrm>
            <a:prstGeom prst="line">
              <a:avLst/>
            </a:prstGeom>
            <a:ln w="25400" cap="flat" cmpd="sng">
              <a:solidFill>
                <a:srgbClr val="FF00FF"/>
              </a:solidFill>
              <a:prstDash val="solid"/>
              <a:headEnd type="none" w="med" len="med"/>
              <a:tailEnd type="none" w="med" len="med"/>
            </a:ln>
          </p:spPr>
        </p:sp>
        <p:sp>
          <p:nvSpPr>
            <p:cNvPr id="41000" name="Line 51"/>
            <p:cNvSpPr/>
            <p:nvPr/>
          </p:nvSpPr>
          <p:spPr>
            <a:xfrm flipH="1">
              <a:off x="3418" y="999"/>
              <a:ext cx="1452" cy="1415"/>
            </a:xfrm>
            <a:prstGeom prst="line">
              <a:avLst/>
            </a:prstGeom>
            <a:ln w="12700" cap="flat" cmpd="sng">
              <a:solidFill>
                <a:srgbClr val="0000FF"/>
              </a:solidFill>
              <a:prstDash val="dash"/>
              <a:headEnd type="none" w="med" len="med"/>
              <a:tailEnd type="none" w="med" len="med"/>
            </a:ln>
          </p:spPr>
        </p:sp>
        <p:sp>
          <p:nvSpPr>
            <p:cNvPr id="41001" name="Line 52"/>
            <p:cNvSpPr/>
            <p:nvPr/>
          </p:nvSpPr>
          <p:spPr>
            <a:xfrm>
              <a:off x="4249" y="1839"/>
              <a:ext cx="1" cy="34"/>
            </a:xfrm>
            <a:prstGeom prst="line">
              <a:avLst/>
            </a:prstGeom>
            <a:ln w="0" cap="flat" cmpd="sng">
              <a:solidFill>
                <a:srgbClr val="0000FF"/>
              </a:solidFill>
              <a:prstDash val="solid"/>
              <a:headEnd type="none" w="med" len="med"/>
              <a:tailEnd type="none" w="med" len="med"/>
            </a:ln>
          </p:spPr>
        </p:sp>
        <p:sp>
          <p:nvSpPr>
            <p:cNvPr id="41002" name="Line 53"/>
            <p:cNvSpPr/>
            <p:nvPr/>
          </p:nvSpPr>
          <p:spPr>
            <a:xfrm>
              <a:off x="4390" y="1839"/>
              <a:ext cx="1" cy="34"/>
            </a:xfrm>
            <a:prstGeom prst="line">
              <a:avLst/>
            </a:prstGeom>
            <a:ln w="0" cap="flat" cmpd="sng">
              <a:solidFill>
                <a:srgbClr val="0000FF"/>
              </a:solidFill>
              <a:prstDash val="solid"/>
              <a:headEnd type="none" w="med" len="med"/>
              <a:tailEnd type="none" w="med" len="med"/>
            </a:ln>
          </p:spPr>
        </p:sp>
        <p:sp>
          <p:nvSpPr>
            <p:cNvPr id="41003" name="Line 54"/>
            <p:cNvSpPr/>
            <p:nvPr/>
          </p:nvSpPr>
          <p:spPr>
            <a:xfrm>
              <a:off x="4530" y="1839"/>
              <a:ext cx="1" cy="34"/>
            </a:xfrm>
            <a:prstGeom prst="line">
              <a:avLst/>
            </a:prstGeom>
            <a:ln w="0" cap="flat" cmpd="sng">
              <a:solidFill>
                <a:srgbClr val="0000FF"/>
              </a:solidFill>
              <a:prstDash val="solid"/>
              <a:headEnd type="none" w="med" len="med"/>
              <a:tailEnd type="none" w="med" len="med"/>
            </a:ln>
          </p:spPr>
        </p:sp>
        <p:sp>
          <p:nvSpPr>
            <p:cNvPr id="41004" name="Line 55"/>
            <p:cNvSpPr/>
            <p:nvPr/>
          </p:nvSpPr>
          <p:spPr>
            <a:xfrm>
              <a:off x="4671" y="1839"/>
              <a:ext cx="1" cy="34"/>
            </a:xfrm>
            <a:prstGeom prst="line">
              <a:avLst/>
            </a:prstGeom>
            <a:ln w="0" cap="flat" cmpd="sng">
              <a:solidFill>
                <a:srgbClr val="0000FF"/>
              </a:solidFill>
              <a:prstDash val="solid"/>
              <a:headEnd type="none" w="med" len="med"/>
              <a:tailEnd type="none" w="med" len="med"/>
            </a:ln>
          </p:spPr>
        </p:sp>
        <p:sp>
          <p:nvSpPr>
            <p:cNvPr id="41005" name="Line 56"/>
            <p:cNvSpPr/>
            <p:nvPr/>
          </p:nvSpPr>
          <p:spPr>
            <a:xfrm>
              <a:off x="4811" y="1839"/>
              <a:ext cx="1" cy="34"/>
            </a:xfrm>
            <a:prstGeom prst="line">
              <a:avLst/>
            </a:prstGeom>
            <a:ln w="0" cap="flat" cmpd="sng">
              <a:solidFill>
                <a:srgbClr val="0000FF"/>
              </a:solidFill>
              <a:prstDash val="solid"/>
              <a:headEnd type="none" w="med" len="med"/>
              <a:tailEnd type="none" w="med" len="med"/>
            </a:ln>
          </p:spPr>
        </p:sp>
        <p:sp>
          <p:nvSpPr>
            <p:cNvPr id="41006" name="Line 57"/>
            <p:cNvSpPr/>
            <p:nvPr/>
          </p:nvSpPr>
          <p:spPr>
            <a:xfrm>
              <a:off x="3828" y="1839"/>
              <a:ext cx="1" cy="34"/>
            </a:xfrm>
            <a:prstGeom prst="line">
              <a:avLst/>
            </a:prstGeom>
            <a:ln w="0" cap="flat" cmpd="sng">
              <a:solidFill>
                <a:srgbClr val="0000FF"/>
              </a:solidFill>
              <a:prstDash val="solid"/>
              <a:headEnd type="none" w="med" len="med"/>
              <a:tailEnd type="none" w="med" len="med"/>
            </a:ln>
          </p:spPr>
        </p:sp>
        <p:sp>
          <p:nvSpPr>
            <p:cNvPr id="41007" name="Line 58"/>
            <p:cNvSpPr/>
            <p:nvPr/>
          </p:nvSpPr>
          <p:spPr>
            <a:xfrm>
              <a:off x="3687" y="1839"/>
              <a:ext cx="1" cy="34"/>
            </a:xfrm>
            <a:prstGeom prst="line">
              <a:avLst/>
            </a:prstGeom>
            <a:ln w="0" cap="flat" cmpd="sng">
              <a:solidFill>
                <a:srgbClr val="0000FF"/>
              </a:solidFill>
              <a:prstDash val="solid"/>
              <a:headEnd type="none" w="med" len="med"/>
              <a:tailEnd type="none" w="med" len="med"/>
            </a:ln>
          </p:spPr>
        </p:sp>
        <p:sp>
          <p:nvSpPr>
            <p:cNvPr id="41008" name="Line 59"/>
            <p:cNvSpPr/>
            <p:nvPr/>
          </p:nvSpPr>
          <p:spPr>
            <a:xfrm>
              <a:off x="3547" y="1839"/>
              <a:ext cx="1" cy="34"/>
            </a:xfrm>
            <a:prstGeom prst="line">
              <a:avLst/>
            </a:prstGeom>
            <a:ln w="0" cap="flat" cmpd="sng">
              <a:solidFill>
                <a:srgbClr val="0000FF"/>
              </a:solidFill>
              <a:prstDash val="solid"/>
              <a:headEnd type="none" w="med" len="med"/>
              <a:tailEnd type="none" w="med" len="med"/>
            </a:ln>
          </p:spPr>
        </p:sp>
        <p:sp>
          <p:nvSpPr>
            <p:cNvPr id="41009" name="Line 60"/>
            <p:cNvSpPr/>
            <p:nvPr/>
          </p:nvSpPr>
          <p:spPr>
            <a:xfrm>
              <a:off x="3407" y="1839"/>
              <a:ext cx="1" cy="34"/>
            </a:xfrm>
            <a:prstGeom prst="line">
              <a:avLst/>
            </a:prstGeom>
            <a:ln w="0" cap="flat" cmpd="sng">
              <a:solidFill>
                <a:srgbClr val="0000FF"/>
              </a:solidFill>
              <a:prstDash val="solid"/>
              <a:headEnd type="none" w="med" len="med"/>
              <a:tailEnd type="none" w="med" len="med"/>
            </a:ln>
          </p:spPr>
        </p:sp>
        <p:sp>
          <p:nvSpPr>
            <p:cNvPr id="41010" name="Line 61"/>
            <p:cNvSpPr/>
            <p:nvPr/>
          </p:nvSpPr>
          <p:spPr>
            <a:xfrm>
              <a:off x="3968" y="1735"/>
              <a:ext cx="35" cy="1"/>
            </a:xfrm>
            <a:prstGeom prst="line">
              <a:avLst/>
            </a:prstGeom>
            <a:ln w="0" cap="flat" cmpd="sng">
              <a:solidFill>
                <a:srgbClr val="0000FF"/>
              </a:solidFill>
              <a:prstDash val="solid"/>
              <a:headEnd type="none" w="med" len="med"/>
              <a:tailEnd type="none" w="med" len="med"/>
            </a:ln>
          </p:spPr>
        </p:sp>
        <p:sp>
          <p:nvSpPr>
            <p:cNvPr id="41011" name="Line 62"/>
            <p:cNvSpPr/>
            <p:nvPr/>
          </p:nvSpPr>
          <p:spPr>
            <a:xfrm>
              <a:off x="3968" y="1597"/>
              <a:ext cx="35" cy="1"/>
            </a:xfrm>
            <a:prstGeom prst="line">
              <a:avLst/>
            </a:prstGeom>
            <a:ln w="0" cap="flat" cmpd="sng">
              <a:solidFill>
                <a:srgbClr val="0000FF"/>
              </a:solidFill>
              <a:prstDash val="solid"/>
              <a:headEnd type="none" w="med" len="med"/>
              <a:tailEnd type="none" w="med" len="med"/>
            </a:ln>
          </p:spPr>
        </p:sp>
        <p:sp>
          <p:nvSpPr>
            <p:cNvPr id="41012" name="Line 63"/>
            <p:cNvSpPr/>
            <p:nvPr/>
          </p:nvSpPr>
          <p:spPr>
            <a:xfrm>
              <a:off x="3968" y="1459"/>
              <a:ext cx="35" cy="1"/>
            </a:xfrm>
            <a:prstGeom prst="line">
              <a:avLst/>
            </a:prstGeom>
            <a:ln w="0" cap="flat" cmpd="sng">
              <a:solidFill>
                <a:srgbClr val="0000FF"/>
              </a:solidFill>
              <a:prstDash val="solid"/>
              <a:headEnd type="none" w="med" len="med"/>
              <a:tailEnd type="none" w="med" len="med"/>
            </a:ln>
          </p:spPr>
        </p:sp>
        <p:sp>
          <p:nvSpPr>
            <p:cNvPr id="41013" name="Line 64"/>
            <p:cNvSpPr/>
            <p:nvPr/>
          </p:nvSpPr>
          <p:spPr>
            <a:xfrm>
              <a:off x="3968" y="1321"/>
              <a:ext cx="35" cy="1"/>
            </a:xfrm>
            <a:prstGeom prst="line">
              <a:avLst/>
            </a:prstGeom>
            <a:ln w="0" cap="flat" cmpd="sng">
              <a:solidFill>
                <a:srgbClr val="0000FF"/>
              </a:solidFill>
              <a:prstDash val="solid"/>
              <a:headEnd type="none" w="med" len="med"/>
              <a:tailEnd type="none" w="med" len="med"/>
            </a:ln>
          </p:spPr>
        </p:sp>
        <p:sp>
          <p:nvSpPr>
            <p:cNvPr id="41014" name="Line 65"/>
            <p:cNvSpPr/>
            <p:nvPr/>
          </p:nvSpPr>
          <p:spPr>
            <a:xfrm>
              <a:off x="3968" y="1183"/>
              <a:ext cx="35" cy="1"/>
            </a:xfrm>
            <a:prstGeom prst="line">
              <a:avLst/>
            </a:prstGeom>
            <a:ln w="0" cap="flat" cmpd="sng">
              <a:solidFill>
                <a:srgbClr val="0000FF"/>
              </a:solidFill>
              <a:prstDash val="solid"/>
              <a:headEnd type="none" w="med" len="med"/>
              <a:tailEnd type="none" w="med" len="med"/>
            </a:ln>
          </p:spPr>
        </p:sp>
        <p:sp>
          <p:nvSpPr>
            <p:cNvPr id="41015" name="Rectangle 66"/>
            <p:cNvSpPr/>
            <p:nvPr/>
          </p:nvSpPr>
          <p:spPr>
            <a:xfrm>
              <a:off x="4029" y="1637"/>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1016" name="Rectangle 67"/>
            <p:cNvSpPr/>
            <p:nvPr/>
          </p:nvSpPr>
          <p:spPr>
            <a:xfrm>
              <a:off x="4276" y="1827"/>
              <a:ext cx="228"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1017" name="Rectangle 68"/>
            <p:cNvSpPr/>
            <p:nvPr/>
          </p:nvSpPr>
          <p:spPr>
            <a:xfrm>
              <a:off x="4083" y="1183"/>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1018" name="Rectangle 69"/>
            <p:cNvSpPr/>
            <p:nvPr/>
          </p:nvSpPr>
          <p:spPr>
            <a:xfrm>
              <a:off x="4083" y="1336"/>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1019" name="Rectangle 70"/>
            <p:cNvSpPr/>
            <p:nvPr/>
          </p:nvSpPr>
          <p:spPr>
            <a:xfrm>
              <a:off x="4083" y="1490"/>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1020" name="Rectangle 71"/>
            <p:cNvSpPr/>
            <p:nvPr/>
          </p:nvSpPr>
          <p:spPr>
            <a:xfrm>
              <a:off x="3801" y="1700"/>
              <a:ext cx="80"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1021" name="Rectangle 72"/>
            <p:cNvSpPr/>
            <p:nvPr/>
          </p:nvSpPr>
          <p:spPr>
            <a:xfrm>
              <a:off x="4041" y="2709"/>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1022" name="Line 73"/>
            <p:cNvSpPr/>
            <p:nvPr/>
          </p:nvSpPr>
          <p:spPr>
            <a:xfrm flipV="1">
              <a:off x="4530" y="2799"/>
              <a:ext cx="1" cy="140"/>
            </a:xfrm>
            <a:prstGeom prst="line">
              <a:avLst/>
            </a:prstGeom>
            <a:ln w="25400" cap="flat" cmpd="sng">
              <a:solidFill>
                <a:srgbClr val="FF00FF"/>
              </a:solidFill>
              <a:prstDash val="solid"/>
              <a:headEnd type="none" w="med" len="med"/>
              <a:tailEnd type="none" w="med" len="med"/>
            </a:ln>
          </p:spPr>
        </p:sp>
        <p:sp>
          <p:nvSpPr>
            <p:cNvPr id="41023" name="Line 74"/>
            <p:cNvSpPr/>
            <p:nvPr/>
          </p:nvSpPr>
          <p:spPr>
            <a:xfrm flipV="1">
              <a:off x="4665" y="2801"/>
              <a:ext cx="1" cy="138"/>
            </a:xfrm>
            <a:prstGeom prst="line">
              <a:avLst/>
            </a:prstGeom>
            <a:ln w="25400" cap="flat" cmpd="sng">
              <a:solidFill>
                <a:srgbClr val="FF00FF"/>
              </a:solidFill>
              <a:prstDash val="solid"/>
              <a:headEnd type="none" w="med" len="med"/>
              <a:tailEnd type="none" w="med" len="med"/>
            </a:ln>
          </p:spPr>
        </p:sp>
        <p:sp>
          <p:nvSpPr>
            <p:cNvPr id="41024" name="Line 75"/>
            <p:cNvSpPr/>
            <p:nvPr/>
          </p:nvSpPr>
          <p:spPr>
            <a:xfrm>
              <a:off x="3968" y="2582"/>
              <a:ext cx="1" cy="644"/>
            </a:xfrm>
            <a:prstGeom prst="line">
              <a:avLst/>
            </a:prstGeom>
            <a:ln w="0" cap="flat" cmpd="sng">
              <a:solidFill>
                <a:srgbClr val="0000FF"/>
              </a:solidFill>
              <a:prstDash val="solid"/>
              <a:headEnd type="none" w="med" len="med"/>
              <a:tailEnd type="none" w="med" len="med"/>
            </a:ln>
          </p:spPr>
        </p:sp>
        <p:sp>
          <p:nvSpPr>
            <p:cNvPr id="41025" name="Line 76"/>
            <p:cNvSpPr/>
            <p:nvPr/>
          </p:nvSpPr>
          <p:spPr>
            <a:xfrm>
              <a:off x="3830" y="2803"/>
              <a:ext cx="1" cy="134"/>
            </a:xfrm>
            <a:prstGeom prst="line">
              <a:avLst/>
            </a:prstGeom>
            <a:ln w="25400" cap="flat" cmpd="sng">
              <a:solidFill>
                <a:srgbClr val="FF00FF"/>
              </a:solidFill>
              <a:prstDash val="solid"/>
              <a:headEnd type="none" w="med" len="med"/>
              <a:tailEnd type="none" w="med" len="med"/>
            </a:ln>
          </p:spPr>
        </p:sp>
        <p:sp>
          <p:nvSpPr>
            <p:cNvPr id="41026" name="Rectangle 77"/>
            <p:cNvSpPr/>
            <p:nvPr/>
          </p:nvSpPr>
          <p:spPr>
            <a:xfrm>
              <a:off x="4812" y="2232"/>
              <a:ext cx="169" cy="182"/>
            </a:xfrm>
            <a:prstGeom prst="rect">
              <a:avLst/>
            </a:prstGeom>
            <a:noFill/>
            <a:ln w="9525">
              <a:noFill/>
            </a:ln>
          </p:spPr>
          <p:txBody>
            <a:bodyPr wrap="none" lIns="0" tIns="0" rIns="0" bIns="0">
              <a:spAutoFit/>
            </a:bodyPr>
            <a:p>
              <a:pPr algn="ctr" eaLnBrk="1" hangingPunct="1"/>
              <a:r>
                <a:rPr lang="en-US" altLang="zh-CN" sz="1900" b="0">
                  <a:solidFill>
                    <a:srgbClr val="FF0000"/>
                  </a:solidFill>
                  <a:latin typeface="Times New Roman" panose="02020603050405020304" pitchFamily="18" charset="0"/>
                </a:rPr>
                <a:t>(a)</a:t>
              </a:r>
              <a:endParaRPr lang="en-US" altLang="zh-CN" b="1">
                <a:solidFill>
                  <a:srgbClr val="FF0000"/>
                </a:solidFill>
                <a:latin typeface="楷体_GB2312" pitchFamily="49" charset="-122"/>
              </a:endParaRPr>
            </a:p>
          </p:txBody>
        </p:sp>
        <p:sp>
          <p:nvSpPr>
            <p:cNvPr id="41027" name="Rectangle 78"/>
            <p:cNvSpPr/>
            <p:nvPr/>
          </p:nvSpPr>
          <p:spPr>
            <a:xfrm>
              <a:off x="4812" y="3181"/>
              <a:ext cx="178" cy="182"/>
            </a:xfrm>
            <a:prstGeom prst="rect">
              <a:avLst/>
            </a:prstGeom>
            <a:noFill/>
            <a:ln w="9525">
              <a:noFill/>
            </a:ln>
          </p:spPr>
          <p:txBody>
            <a:bodyPr wrap="none" lIns="0" tIns="0" rIns="0" bIns="0">
              <a:spAutoFit/>
            </a:bodyPr>
            <a:p>
              <a:pPr algn="ctr" eaLnBrk="1" hangingPunct="1"/>
              <a:r>
                <a:rPr lang="en-US" altLang="zh-CN" sz="1900" b="0">
                  <a:solidFill>
                    <a:srgbClr val="FF0000"/>
                  </a:solidFill>
                  <a:latin typeface="Times New Roman" panose="02020603050405020304" pitchFamily="18" charset="0"/>
                </a:rPr>
                <a:t>(b)</a:t>
              </a:r>
              <a:endParaRPr lang="en-US" altLang="zh-CN" b="1">
                <a:solidFill>
                  <a:srgbClr val="FF0000"/>
                </a:solidFill>
                <a:latin typeface="楷体_GB2312" pitchFamily="49" charset="-122"/>
              </a:endParaRPr>
            </a:p>
          </p:txBody>
        </p:sp>
        <p:sp>
          <p:nvSpPr>
            <p:cNvPr id="41028" name="Rectangle 79"/>
            <p:cNvSpPr/>
            <p:nvPr/>
          </p:nvSpPr>
          <p:spPr>
            <a:xfrm>
              <a:off x="3515" y="843"/>
              <a:ext cx="82"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1029" name="Rectangle 80"/>
            <p:cNvSpPr/>
            <p:nvPr/>
          </p:nvSpPr>
          <p:spPr>
            <a:xfrm>
              <a:off x="3580" y="928"/>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q</a:t>
              </a:r>
              <a:endParaRPr lang="en-US" altLang="zh-CN" b="1">
                <a:solidFill>
                  <a:srgbClr val="FF0000"/>
                </a:solidFill>
                <a:latin typeface="楷体_GB2312" pitchFamily="49" charset="-122"/>
              </a:endParaRPr>
            </a:p>
          </p:txBody>
        </p:sp>
        <p:sp>
          <p:nvSpPr>
            <p:cNvPr id="41030" name="Rectangle 81"/>
            <p:cNvSpPr/>
            <p:nvPr/>
          </p:nvSpPr>
          <p:spPr>
            <a:xfrm>
              <a:off x="3655" y="889"/>
              <a:ext cx="29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1031" name="Rectangle 82"/>
            <p:cNvSpPr/>
            <p:nvPr/>
          </p:nvSpPr>
          <p:spPr>
            <a:xfrm>
              <a:off x="3699" y="901"/>
              <a:ext cx="157" cy="144"/>
            </a:xfrm>
            <a:prstGeom prst="rect">
              <a:avLst/>
            </a:prstGeom>
            <a:noFill/>
            <a:ln w="9525">
              <a:noFill/>
            </a:ln>
          </p:spPr>
          <p:txBody>
            <a:bodyPr wrap="none" lIns="0" tIns="0" rIns="0" bIns="0">
              <a:spAutoFit/>
            </a:bodyPr>
            <a:p>
              <a:pPr algn="ctr" eaLnBrk="1" hangingPunct="1"/>
              <a:r>
                <a:rPr lang="en-US" altLang="zh-CN" sz="1500" b="0" i="1" err="1">
                  <a:solidFill>
                    <a:srgbClr val="FF0000"/>
                  </a:solidFill>
                  <a:latin typeface="Times New Roman" panose="02020603050405020304" pitchFamily="18" charset="0"/>
                </a:rPr>
                <a:t>nT</a:t>
              </a:r>
              <a:r>
                <a:rPr lang="en-US" altLang="zh-CN" sz="1500" b="0" i="1">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1032" name="Rectangle 83"/>
            <p:cNvSpPr/>
            <p:nvPr/>
          </p:nvSpPr>
          <p:spPr>
            <a:xfrm>
              <a:off x="5216" y="1752"/>
              <a:ext cx="82"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1033" name="Rectangle 84"/>
            <p:cNvSpPr/>
            <p:nvPr/>
          </p:nvSpPr>
          <p:spPr>
            <a:xfrm>
              <a:off x="5334" y="1796"/>
              <a:ext cx="29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1034" name="Rectangle 85"/>
            <p:cNvSpPr/>
            <p:nvPr/>
          </p:nvSpPr>
          <p:spPr>
            <a:xfrm>
              <a:off x="5391" y="1812"/>
              <a:ext cx="127" cy="144"/>
            </a:xfrm>
            <a:prstGeom prst="rect">
              <a:avLst/>
            </a:prstGeom>
            <a:noFill/>
            <a:ln w="9525">
              <a:noFill/>
            </a:ln>
          </p:spPr>
          <p:txBody>
            <a:bodyPr wrap="none" lIns="0" tIns="0" rIns="0" bIns="0">
              <a:spAutoFit/>
            </a:bodyPr>
            <a:p>
              <a:pPr algn="ctr" eaLnBrk="1" hangingPunct="1"/>
              <a:r>
                <a:rPr lang="en-US" altLang="zh-CN" sz="15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1035" name="Line 86"/>
            <p:cNvSpPr/>
            <p:nvPr/>
          </p:nvSpPr>
          <p:spPr>
            <a:xfrm>
              <a:off x="3313" y="2939"/>
              <a:ext cx="1779" cy="1"/>
            </a:xfrm>
            <a:prstGeom prst="line">
              <a:avLst/>
            </a:prstGeom>
            <a:ln w="0" cap="flat" cmpd="sng">
              <a:solidFill>
                <a:srgbClr val="0000FF"/>
              </a:solidFill>
              <a:prstDash val="solid"/>
              <a:headEnd type="none" w="med" len="med"/>
              <a:tailEnd type="none" w="med" len="med"/>
            </a:ln>
          </p:spPr>
        </p:sp>
        <p:sp>
          <p:nvSpPr>
            <p:cNvPr id="41036" name="Line 87"/>
            <p:cNvSpPr/>
            <p:nvPr/>
          </p:nvSpPr>
          <p:spPr>
            <a:xfrm>
              <a:off x="3962" y="2939"/>
              <a:ext cx="36" cy="1"/>
            </a:xfrm>
            <a:prstGeom prst="line">
              <a:avLst/>
            </a:prstGeom>
            <a:ln w="0" cap="flat" cmpd="sng">
              <a:solidFill>
                <a:srgbClr val="0000FF"/>
              </a:solidFill>
              <a:prstDash val="solid"/>
              <a:headEnd type="none" w="med" len="med"/>
              <a:tailEnd type="none" w="med" len="med"/>
            </a:ln>
          </p:spPr>
        </p:sp>
        <p:sp>
          <p:nvSpPr>
            <p:cNvPr id="41037" name="Rectangle 88"/>
            <p:cNvSpPr/>
            <p:nvPr/>
          </p:nvSpPr>
          <p:spPr>
            <a:xfrm>
              <a:off x="3834" y="2478"/>
              <a:ext cx="67" cy="182"/>
            </a:xfrm>
            <a:prstGeom prst="rect">
              <a:avLst/>
            </a:prstGeom>
            <a:noFill/>
            <a:ln w="9525">
              <a:noFill/>
            </a:ln>
          </p:spPr>
          <p:txBody>
            <a:bodyPr wrap="none" lIns="0" tIns="0" rIns="0" bIns="0">
              <a:spAutoFit/>
            </a:bodyPr>
            <a:p>
              <a:pPr algn="ctr" eaLnBrk="1" hangingPunct="1"/>
              <a:r>
                <a:rPr lang="en-US" altLang="zh-CN" sz="1900" b="0" i="1">
                  <a:solidFill>
                    <a:srgbClr val="FF0000"/>
                  </a:solidFill>
                  <a:latin typeface="Times New Roman" panose="02020603050405020304" pitchFamily="18" charset="0"/>
                </a:rPr>
                <a:t>e</a:t>
              </a:r>
              <a:endParaRPr lang="en-US" altLang="zh-CN" b="1">
                <a:solidFill>
                  <a:srgbClr val="FF0000"/>
                </a:solidFill>
                <a:latin typeface="楷体_GB2312" pitchFamily="49" charset="-122"/>
              </a:endParaRPr>
            </a:p>
          </p:txBody>
        </p:sp>
        <p:sp>
          <p:nvSpPr>
            <p:cNvPr id="41038" name="Rectangle 89"/>
            <p:cNvSpPr/>
            <p:nvPr/>
          </p:nvSpPr>
          <p:spPr>
            <a:xfrm>
              <a:off x="4105" y="1873"/>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1039" name="Rectangle 90"/>
            <p:cNvSpPr/>
            <p:nvPr/>
          </p:nvSpPr>
          <p:spPr>
            <a:xfrm>
              <a:off x="3562" y="1654"/>
              <a:ext cx="228"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1040" name="Line 91"/>
            <p:cNvSpPr/>
            <p:nvPr/>
          </p:nvSpPr>
          <p:spPr>
            <a:xfrm flipH="1" flipV="1">
              <a:off x="5022" y="1850"/>
              <a:ext cx="70" cy="23"/>
            </a:xfrm>
            <a:prstGeom prst="line">
              <a:avLst/>
            </a:prstGeom>
            <a:ln w="0" cap="flat" cmpd="sng">
              <a:solidFill>
                <a:srgbClr val="0000FF"/>
              </a:solidFill>
              <a:prstDash val="solid"/>
              <a:headEnd type="none" w="med" len="med"/>
              <a:tailEnd type="none" w="med" len="med"/>
            </a:ln>
          </p:spPr>
        </p:sp>
        <p:sp>
          <p:nvSpPr>
            <p:cNvPr id="41041" name="Line 92"/>
            <p:cNvSpPr/>
            <p:nvPr/>
          </p:nvSpPr>
          <p:spPr>
            <a:xfrm flipH="1">
              <a:off x="5022" y="1873"/>
              <a:ext cx="70" cy="23"/>
            </a:xfrm>
            <a:prstGeom prst="line">
              <a:avLst/>
            </a:prstGeom>
            <a:ln w="0" cap="flat" cmpd="sng">
              <a:solidFill>
                <a:srgbClr val="0000FF"/>
              </a:solidFill>
              <a:prstDash val="solid"/>
              <a:headEnd type="none" w="med" len="med"/>
              <a:tailEnd type="none" w="med" len="med"/>
            </a:ln>
          </p:spPr>
        </p:sp>
        <p:sp>
          <p:nvSpPr>
            <p:cNvPr id="41042" name="Line 93"/>
            <p:cNvSpPr/>
            <p:nvPr/>
          </p:nvSpPr>
          <p:spPr>
            <a:xfrm flipH="1" flipV="1">
              <a:off x="5022" y="2916"/>
              <a:ext cx="70" cy="23"/>
            </a:xfrm>
            <a:prstGeom prst="line">
              <a:avLst/>
            </a:prstGeom>
            <a:ln w="0" cap="flat" cmpd="sng">
              <a:solidFill>
                <a:srgbClr val="0000FF"/>
              </a:solidFill>
              <a:prstDash val="solid"/>
              <a:headEnd type="none" w="med" len="med"/>
              <a:tailEnd type="none" w="med" len="med"/>
            </a:ln>
          </p:spPr>
        </p:sp>
        <p:sp>
          <p:nvSpPr>
            <p:cNvPr id="41043" name="Line 94"/>
            <p:cNvSpPr/>
            <p:nvPr/>
          </p:nvSpPr>
          <p:spPr>
            <a:xfrm flipH="1">
              <a:off x="5022" y="2939"/>
              <a:ext cx="70" cy="23"/>
            </a:xfrm>
            <a:prstGeom prst="line">
              <a:avLst/>
            </a:prstGeom>
            <a:ln w="0" cap="flat" cmpd="sng">
              <a:solidFill>
                <a:srgbClr val="0000FF"/>
              </a:solidFill>
              <a:prstDash val="solid"/>
              <a:headEnd type="none" w="med" len="med"/>
              <a:tailEnd type="none" w="med" len="med"/>
            </a:ln>
          </p:spPr>
        </p:sp>
        <p:sp>
          <p:nvSpPr>
            <p:cNvPr id="41044" name="Line 95"/>
            <p:cNvSpPr/>
            <p:nvPr/>
          </p:nvSpPr>
          <p:spPr>
            <a:xfrm flipH="1">
              <a:off x="3945" y="2570"/>
              <a:ext cx="23" cy="70"/>
            </a:xfrm>
            <a:prstGeom prst="line">
              <a:avLst/>
            </a:prstGeom>
            <a:ln w="0" cap="flat" cmpd="sng">
              <a:solidFill>
                <a:srgbClr val="0000FF"/>
              </a:solidFill>
              <a:prstDash val="solid"/>
              <a:headEnd type="none" w="med" len="med"/>
              <a:tailEnd type="none" w="med" len="med"/>
            </a:ln>
          </p:spPr>
        </p:sp>
        <p:sp>
          <p:nvSpPr>
            <p:cNvPr id="41045" name="Line 96"/>
            <p:cNvSpPr/>
            <p:nvPr/>
          </p:nvSpPr>
          <p:spPr>
            <a:xfrm>
              <a:off x="3968" y="2570"/>
              <a:ext cx="24" cy="70"/>
            </a:xfrm>
            <a:prstGeom prst="line">
              <a:avLst/>
            </a:prstGeom>
            <a:ln w="0" cap="flat" cmpd="sng">
              <a:solidFill>
                <a:srgbClr val="0000FF"/>
              </a:solidFill>
              <a:prstDash val="solid"/>
              <a:headEnd type="none" w="med" len="med"/>
              <a:tailEnd type="none" w="med" len="med"/>
            </a:ln>
          </p:spPr>
        </p:sp>
        <p:sp>
          <p:nvSpPr>
            <p:cNvPr id="41046" name="Line 97"/>
            <p:cNvSpPr/>
            <p:nvPr/>
          </p:nvSpPr>
          <p:spPr>
            <a:xfrm flipH="1">
              <a:off x="3945" y="930"/>
              <a:ext cx="23" cy="69"/>
            </a:xfrm>
            <a:prstGeom prst="line">
              <a:avLst/>
            </a:prstGeom>
            <a:ln w="0" cap="flat" cmpd="sng">
              <a:solidFill>
                <a:srgbClr val="0000FF"/>
              </a:solidFill>
              <a:prstDash val="solid"/>
              <a:headEnd type="none" w="med" len="med"/>
              <a:tailEnd type="none" w="med" len="med"/>
            </a:ln>
          </p:spPr>
        </p:sp>
        <p:sp>
          <p:nvSpPr>
            <p:cNvPr id="41047" name="Line 98"/>
            <p:cNvSpPr/>
            <p:nvPr/>
          </p:nvSpPr>
          <p:spPr>
            <a:xfrm>
              <a:off x="3968" y="930"/>
              <a:ext cx="24" cy="69"/>
            </a:xfrm>
            <a:prstGeom prst="line">
              <a:avLst/>
            </a:prstGeom>
            <a:ln w="0" cap="flat" cmpd="sng">
              <a:solidFill>
                <a:srgbClr val="0000FF"/>
              </a:solidFill>
              <a:prstDash val="solid"/>
              <a:headEnd type="none" w="med" len="med"/>
              <a:tailEnd type="none" w="med" len="med"/>
            </a:ln>
          </p:spPr>
        </p:sp>
        <p:sp>
          <p:nvSpPr>
            <p:cNvPr id="41048" name="Line 99"/>
            <p:cNvSpPr/>
            <p:nvPr/>
          </p:nvSpPr>
          <p:spPr>
            <a:xfrm flipH="1">
              <a:off x="3822" y="2804"/>
              <a:ext cx="140" cy="139"/>
            </a:xfrm>
            <a:prstGeom prst="line">
              <a:avLst/>
            </a:prstGeom>
            <a:ln w="25400" cap="flat" cmpd="sng">
              <a:solidFill>
                <a:srgbClr val="FF00FF"/>
              </a:solidFill>
              <a:prstDash val="solid"/>
              <a:headEnd type="none" w="med" len="med"/>
              <a:tailEnd type="none" w="med" len="med"/>
            </a:ln>
          </p:spPr>
        </p:sp>
        <p:sp>
          <p:nvSpPr>
            <p:cNvPr id="41049" name="Line 100"/>
            <p:cNvSpPr/>
            <p:nvPr/>
          </p:nvSpPr>
          <p:spPr>
            <a:xfrm flipH="1">
              <a:off x="3541" y="2799"/>
              <a:ext cx="146" cy="144"/>
            </a:xfrm>
            <a:prstGeom prst="line">
              <a:avLst/>
            </a:prstGeom>
            <a:ln w="25400" cap="flat" cmpd="sng">
              <a:solidFill>
                <a:srgbClr val="FF00FF"/>
              </a:solidFill>
              <a:prstDash val="solid"/>
              <a:headEnd type="none" w="med" len="med"/>
              <a:tailEnd type="none" w="med" len="med"/>
            </a:ln>
          </p:spPr>
        </p:sp>
        <p:sp>
          <p:nvSpPr>
            <p:cNvPr id="41050" name="Line 101"/>
            <p:cNvSpPr/>
            <p:nvPr/>
          </p:nvSpPr>
          <p:spPr>
            <a:xfrm flipH="1">
              <a:off x="3962" y="2799"/>
              <a:ext cx="147" cy="144"/>
            </a:xfrm>
            <a:prstGeom prst="line">
              <a:avLst/>
            </a:prstGeom>
            <a:ln w="25400" cap="flat" cmpd="sng">
              <a:solidFill>
                <a:srgbClr val="FF00FF"/>
              </a:solidFill>
              <a:prstDash val="solid"/>
              <a:headEnd type="none" w="med" len="med"/>
              <a:tailEnd type="none" w="med" len="med"/>
            </a:ln>
          </p:spPr>
        </p:sp>
        <p:sp>
          <p:nvSpPr>
            <p:cNvPr id="41051" name="Line 102"/>
            <p:cNvSpPr/>
            <p:nvPr/>
          </p:nvSpPr>
          <p:spPr>
            <a:xfrm flipH="1">
              <a:off x="4524" y="2804"/>
              <a:ext cx="141" cy="139"/>
            </a:xfrm>
            <a:prstGeom prst="line">
              <a:avLst/>
            </a:prstGeom>
            <a:ln w="25400" cap="flat" cmpd="sng">
              <a:solidFill>
                <a:srgbClr val="FF00FF"/>
              </a:solidFill>
              <a:prstDash val="solid"/>
              <a:headEnd type="none" w="med" len="med"/>
              <a:tailEnd type="none" w="med" len="med"/>
            </a:ln>
          </p:spPr>
        </p:sp>
        <p:sp>
          <p:nvSpPr>
            <p:cNvPr id="41052" name="Line 103"/>
            <p:cNvSpPr/>
            <p:nvPr/>
          </p:nvSpPr>
          <p:spPr>
            <a:xfrm flipV="1">
              <a:off x="4109" y="2801"/>
              <a:ext cx="140" cy="138"/>
            </a:xfrm>
            <a:prstGeom prst="line">
              <a:avLst/>
            </a:prstGeom>
            <a:ln w="25400" cap="flat" cmpd="sng">
              <a:solidFill>
                <a:srgbClr val="FF00FF"/>
              </a:solidFill>
              <a:prstDash val="solid"/>
              <a:headEnd type="none" w="med" len="med"/>
              <a:tailEnd type="none" w="med" len="med"/>
            </a:ln>
          </p:spPr>
        </p:sp>
        <p:sp>
          <p:nvSpPr>
            <p:cNvPr id="41053" name="Line 104"/>
            <p:cNvSpPr/>
            <p:nvPr/>
          </p:nvSpPr>
          <p:spPr>
            <a:xfrm flipV="1">
              <a:off x="4249" y="2801"/>
              <a:ext cx="141" cy="138"/>
            </a:xfrm>
            <a:prstGeom prst="line">
              <a:avLst/>
            </a:prstGeom>
            <a:ln w="25400" cap="flat" cmpd="sng">
              <a:solidFill>
                <a:srgbClr val="FF00FF"/>
              </a:solidFill>
              <a:prstDash val="solid"/>
              <a:headEnd type="none" w="med" len="med"/>
              <a:tailEnd type="none" w="med" len="med"/>
            </a:ln>
          </p:spPr>
        </p:sp>
        <p:sp>
          <p:nvSpPr>
            <p:cNvPr id="41054" name="Line 105"/>
            <p:cNvSpPr/>
            <p:nvPr/>
          </p:nvSpPr>
          <p:spPr>
            <a:xfrm flipV="1">
              <a:off x="4390" y="2801"/>
              <a:ext cx="140" cy="138"/>
            </a:xfrm>
            <a:prstGeom prst="line">
              <a:avLst/>
            </a:prstGeom>
            <a:ln w="25400" cap="flat" cmpd="sng">
              <a:solidFill>
                <a:srgbClr val="FF00FF"/>
              </a:solidFill>
              <a:prstDash val="solid"/>
              <a:headEnd type="none" w="med" len="med"/>
              <a:tailEnd type="none" w="med" len="med"/>
            </a:ln>
          </p:spPr>
        </p:sp>
        <p:sp>
          <p:nvSpPr>
            <p:cNvPr id="41055" name="Line 106"/>
            <p:cNvSpPr/>
            <p:nvPr/>
          </p:nvSpPr>
          <p:spPr>
            <a:xfrm>
              <a:off x="3970" y="2804"/>
              <a:ext cx="41" cy="1"/>
            </a:xfrm>
            <a:prstGeom prst="line">
              <a:avLst/>
            </a:prstGeom>
            <a:ln w="0" cap="flat" cmpd="sng">
              <a:solidFill>
                <a:srgbClr val="0000FF"/>
              </a:solidFill>
              <a:prstDash val="solid"/>
              <a:headEnd type="none" w="med" len="med"/>
              <a:tailEnd type="none" w="med" len="med"/>
            </a:ln>
          </p:spPr>
        </p:sp>
        <p:sp>
          <p:nvSpPr>
            <p:cNvPr id="41056" name="Line 107"/>
            <p:cNvSpPr/>
            <p:nvPr/>
          </p:nvSpPr>
          <p:spPr>
            <a:xfrm flipV="1">
              <a:off x="3693" y="2803"/>
              <a:ext cx="137" cy="136"/>
            </a:xfrm>
            <a:prstGeom prst="line">
              <a:avLst/>
            </a:prstGeom>
            <a:ln w="25400" cap="flat" cmpd="sng">
              <a:solidFill>
                <a:srgbClr val="FF00FF"/>
              </a:solidFill>
              <a:prstDash val="solid"/>
              <a:headEnd type="none" w="med" len="med"/>
              <a:tailEnd type="none" w="med" len="med"/>
            </a:ln>
          </p:spPr>
        </p:sp>
        <p:sp>
          <p:nvSpPr>
            <p:cNvPr id="41057" name="Rectangle 108"/>
            <p:cNvSpPr/>
            <p:nvPr/>
          </p:nvSpPr>
          <p:spPr>
            <a:xfrm>
              <a:off x="5239" y="2803"/>
              <a:ext cx="82"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1058" name="Rectangle 109"/>
            <p:cNvSpPr/>
            <p:nvPr/>
          </p:nvSpPr>
          <p:spPr>
            <a:xfrm>
              <a:off x="5295" y="2914"/>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1059" name="Rectangle 110"/>
            <p:cNvSpPr/>
            <p:nvPr/>
          </p:nvSpPr>
          <p:spPr>
            <a:xfrm>
              <a:off x="5350" y="2847"/>
              <a:ext cx="26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1060" name="Rectangle 111"/>
            <p:cNvSpPr/>
            <p:nvPr/>
          </p:nvSpPr>
          <p:spPr>
            <a:xfrm>
              <a:off x="5399" y="2860"/>
              <a:ext cx="127" cy="144"/>
            </a:xfrm>
            <a:prstGeom prst="rect">
              <a:avLst/>
            </a:prstGeom>
            <a:noFill/>
            <a:ln w="9525">
              <a:noFill/>
            </a:ln>
          </p:spPr>
          <p:txBody>
            <a:bodyPr wrap="none" lIns="0" tIns="0" rIns="0" bIns="0">
              <a:spAutoFit/>
            </a:bodyPr>
            <a:p>
              <a:pPr algn="ctr" eaLnBrk="1" hangingPunct="1"/>
              <a:r>
                <a:rPr lang="en-US" altLang="zh-CN" sz="15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1061" name="Rectangle 112"/>
            <p:cNvSpPr/>
            <p:nvPr/>
          </p:nvSpPr>
          <p:spPr>
            <a:xfrm>
              <a:off x="5504" y="2912"/>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1062" name="Rectangle 113"/>
            <p:cNvSpPr/>
            <p:nvPr/>
          </p:nvSpPr>
          <p:spPr>
            <a:xfrm>
              <a:off x="5268" y="1865"/>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1063" name="Rectangle 114"/>
            <p:cNvSpPr/>
            <p:nvPr/>
          </p:nvSpPr>
          <p:spPr>
            <a:xfrm>
              <a:off x="5512" y="1865"/>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1064" name="Rectangle 115"/>
            <p:cNvSpPr/>
            <p:nvPr/>
          </p:nvSpPr>
          <p:spPr>
            <a:xfrm>
              <a:off x="3821" y="962"/>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1065" name="Line 116"/>
            <p:cNvSpPr/>
            <p:nvPr/>
          </p:nvSpPr>
          <p:spPr>
            <a:xfrm>
              <a:off x="4107" y="1745"/>
              <a:ext cx="1" cy="128"/>
            </a:xfrm>
            <a:prstGeom prst="line">
              <a:avLst/>
            </a:prstGeom>
            <a:ln w="25400" cap="flat" cmpd="sng">
              <a:solidFill>
                <a:srgbClr val="FF00FF"/>
              </a:solidFill>
              <a:prstDash val="solid"/>
              <a:headEnd type="none" w="med" len="med"/>
              <a:tailEnd type="none" w="med" len="med"/>
            </a:ln>
          </p:spPr>
        </p:sp>
        <p:sp>
          <p:nvSpPr>
            <p:cNvPr id="41066" name="Line 117"/>
            <p:cNvSpPr/>
            <p:nvPr/>
          </p:nvSpPr>
          <p:spPr>
            <a:xfrm>
              <a:off x="3687" y="2799"/>
              <a:ext cx="1" cy="140"/>
            </a:xfrm>
            <a:prstGeom prst="line">
              <a:avLst/>
            </a:prstGeom>
            <a:ln w="25400" cap="flat" cmpd="sng">
              <a:solidFill>
                <a:srgbClr val="FF00FF"/>
              </a:solidFill>
              <a:prstDash val="solid"/>
              <a:headEnd type="none" w="med" len="med"/>
              <a:tailEnd type="none" w="med" len="med"/>
            </a:ln>
          </p:spPr>
        </p:sp>
        <p:sp>
          <p:nvSpPr>
            <p:cNvPr id="41067" name="Line 118"/>
            <p:cNvSpPr/>
            <p:nvPr/>
          </p:nvSpPr>
          <p:spPr>
            <a:xfrm>
              <a:off x="4109" y="2799"/>
              <a:ext cx="1" cy="140"/>
            </a:xfrm>
            <a:prstGeom prst="line">
              <a:avLst/>
            </a:prstGeom>
            <a:ln w="25400" cap="flat" cmpd="sng">
              <a:solidFill>
                <a:srgbClr val="FF00FF"/>
              </a:solidFill>
              <a:prstDash val="solid"/>
              <a:headEnd type="none" w="med" len="med"/>
              <a:tailEnd type="none" w="med" len="med"/>
            </a:ln>
          </p:spPr>
        </p:sp>
        <p:sp>
          <p:nvSpPr>
            <p:cNvPr id="41068" name="Line 119"/>
            <p:cNvSpPr/>
            <p:nvPr/>
          </p:nvSpPr>
          <p:spPr>
            <a:xfrm>
              <a:off x="4249" y="2801"/>
              <a:ext cx="1" cy="138"/>
            </a:xfrm>
            <a:prstGeom prst="line">
              <a:avLst/>
            </a:prstGeom>
            <a:ln w="25400" cap="flat" cmpd="sng">
              <a:solidFill>
                <a:srgbClr val="FF00FF"/>
              </a:solidFill>
              <a:prstDash val="solid"/>
              <a:headEnd type="none" w="med" len="med"/>
              <a:tailEnd type="none" w="med" len="med"/>
            </a:ln>
          </p:spPr>
        </p:sp>
        <p:sp>
          <p:nvSpPr>
            <p:cNvPr id="41069" name="Line 120"/>
            <p:cNvSpPr/>
            <p:nvPr/>
          </p:nvSpPr>
          <p:spPr>
            <a:xfrm>
              <a:off x="4388" y="2804"/>
              <a:ext cx="1" cy="135"/>
            </a:xfrm>
            <a:prstGeom prst="line">
              <a:avLst/>
            </a:prstGeom>
            <a:ln w="25400" cap="flat" cmpd="sng">
              <a:solidFill>
                <a:srgbClr val="FF00FF"/>
              </a:solidFill>
              <a:prstDash val="solid"/>
              <a:headEnd type="none" w="med" len="med"/>
              <a:tailEnd type="none" w="med" len="med"/>
            </a:ln>
          </p:spPr>
        </p:sp>
        <p:sp>
          <p:nvSpPr>
            <p:cNvPr id="41070" name="Rectangle 121"/>
            <p:cNvSpPr/>
            <p:nvPr/>
          </p:nvSpPr>
          <p:spPr>
            <a:xfrm>
              <a:off x="3577" y="3476"/>
              <a:ext cx="1798" cy="369"/>
            </a:xfrm>
            <a:prstGeom prst="rect">
              <a:avLst/>
            </a:prstGeom>
            <a:noFill/>
            <a:ln w="9525">
              <a:noFill/>
            </a:ln>
          </p:spPr>
          <p:txBody>
            <a:bodyPr lIns="0" tIns="0" rIns="0" bIns="0">
              <a:spAutoFit/>
            </a:bodyPr>
            <a:p>
              <a:pPr algn="ctr" eaLnBrk="1" hangingPunct="1">
                <a:lnSpc>
                  <a:spcPct val="65000"/>
                </a:lnSpc>
              </a:pPr>
              <a:r>
                <a:rPr lang="en-US" altLang="zh-CN" sz="2300" b="1">
                  <a:solidFill>
                    <a:srgbClr val="000080"/>
                  </a:solidFill>
                  <a:latin typeface="Times New Roman" panose="02020603050405020304" pitchFamily="18" charset="0"/>
                </a:rPr>
                <a:t>“</a:t>
              </a:r>
              <a:r>
                <a:rPr lang="zh-CN" altLang="en-US" sz="2300" b="1" dirty="0">
                  <a:solidFill>
                    <a:srgbClr val="000080"/>
                  </a:solidFill>
                  <a:latin typeface="楷体_GB2312" pitchFamily="49" charset="-122"/>
                </a:rPr>
                <a:t>只舍不入</a:t>
              </a:r>
              <a:r>
                <a:rPr lang="zh-CN" altLang="en-US" sz="2300" b="1" dirty="0">
                  <a:solidFill>
                    <a:srgbClr val="000080"/>
                  </a:solidFill>
                  <a:latin typeface="Times New Roman" panose="02020603050405020304" pitchFamily="18" charset="0"/>
                </a:rPr>
                <a:t>”</a:t>
              </a:r>
              <a:r>
                <a:rPr lang="zh-CN" altLang="en-US" sz="2300" b="1" dirty="0">
                  <a:solidFill>
                    <a:srgbClr val="000080"/>
                  </a:solidFill>
                  <a:latin typeface="楷体_GB2312" pitchFamily="49" charset="-122"/>
                </a:rPr>
                <a:t>量化特性曲线与量化误差图</a:t>
              </a:r>
              <a:r>
                <a:rPr lang="zh-CN" altLang="en-US" b="1" dirty="0">
                  <a:solidFill>
                    <a:srgbClr val="333399"/>
                  </a:solidFill>
                  <a:latin typeface="楷体_GB2312" pitchFamily="49" charset="-122"/>
                </a:rPr>
                <a:t> </a:t>
              </a:r>
              <a:endParaRPr lang="zh-CN" altLang="en-US" b="1" dirty="0">
                <a:solidFill>
                  <a:srgbClr val="333399"/>
                </a:solidFill>
                <a:latin typeface="楷体_GB2312" pitchFamily="49" charset="-122"/>
              </a:endParaRPr>
            </a:p>
          </p:txBody>
        </p:sp>
        <p:sp>
          <p:nvSpPr>
            <p:cNvPr id="41071" name="Line 123"/>
            <p:cNvSpPr/>
            <p:nvPr/>
          </p:nvSpPr>
          <p:spPr>
            <a:xfrm>
              <a:off x="3970" y="1871"/>
              <a:ext cx="1" cy="138"/>
            </a:xfrm>
            <a:prstGeom prst="line">
              <a:avLst/>
            </a:prstGeom>
            <a:ln w="25400" cap="flat" cmpd="sng">
              <a:solidFill>
                <a:srgbClr val="FF00FF"/>
              </a:solidFill>
              <a:prstDash val="solid"/>
              <a:headEnd type="none" w="med" len="med"/>
              <a:tailEnd type="none" w="med" len="med"/>
            </a:ln>
          </p:spPr>
        </p:sp>
        <p:sp>
          <p:nvSpPr>
            <p:cNvPr id="41072" name="Line 124"/>
            <p:cNvSpPr/>
            <p:nvPr/>
          </p:nvSpPr>
          <p:spPr>
            <a:xfrm>
              <a:off x="3970" y="1873"/>
              <a:ext cx="140" cy="1"/>
            </a:xfrm>
            <a:prstGeom prst="line">
              <a:avLst/>
            </a:prstGeom>
            <a:ln w="25400" cap="flat" cmpd="sng">
              <a:solidFill>
                <a:srgbClr val="FF00FF"/>
              </a:solidFill>
              <a:prstDash val="solid"/>
              <a:headEnd type="none" w="med" len="med"/>
              <a:tailEnd type="none" w="med" len="med"/>
            </a:ln>
          </p:spPr>
        </p:sp>
        <p:sp>
          <p:nvSpPr>
            <p:cNvPr id="41073" name="Line 125"/>
            <p:cNvSpPr/>
            <p:nvPr/>
          </p:nvSpPr>
          <p:spPr>
            <a:xfrm>
              <a:off x="3965" y="2809"/>
              <a:ext cx="1" cy="134"/>
            </a:xfrm>
            <a:prstGeom prst="line">
              <a:avLst/>
            </a:prstGeom>
            <a:ln w="25400" cap="flat" cmpd="sng">
              <a:solidFill>
                <a:srgbClr val="FF00FF"/>
              </a:solidFill>
              <a:prstDash val="solid"/>
              <a:headEnd type="none" w="med" len="med"/>
              <a:tailEnd type="none" w="med" len="med"/>
            </a:ln>
          </p:spPr>
        </p:sp>
      </p:grpSp>
      <p:sp>
        <p:nvSpPr>
          <p:cNvPr id="2282624" name="Text Box 128"/>
          <p:cNvSpPr txBox="1"/>
          <p:nvPr/>
        </p:nvSpPr>
        <p:spPr>
          <a:xfrm>
            <a:off x="539750" y="2527300"/>
            <a:ext cx="3949700" cy="1552575"/>
          </a:xfrm>
          <a:prstGeom prst="rect">
            <a:avLst/>
          </a:prstGeom>
          <a:solidFill>
            <a:srgbClr val="99CCFF"/>
          </a:solidFill>
          <a:ln w="9525">
            <a:noFill/>
          </a:ln>
        </p:spPr>
        <p:txBody>
          <a:bodyPr>
            <a:spAutoFit/>
          </a:bodyPr>
          <a:p>
            <a:pPr algn="l" eaLnBrk="1" hangingPunct="1">
              <a:spcBef>
                <a:spcPct val="50000"/>
              </a:spcBef>
            </a:pPr>
            <a:r>
              <a:rPr lang="zh-CN" altLang="en-US" sz="2400" b="1" dirty="0">
                <a:solidFill>
                  <a:schemeClr val="tx1"/>
                </a:solidFill>
                <a:latin typeface="黑体" panose="02010609060101010101" pitchFamily="49" charset="-122"/>
                <a:ea typeface="黑体" panose="02010609060101010101" pitchFamily="49" charset="-122"/>
              </a:rPr>
              <a:t>量化误差只能是正误差，它可以取</a:t>
            </a:r>
            <a:r>
              <a:rPr lang="en-US" altLang="zh-CN" sz="2400" b="1">
                <a:solidFill>
                  <a:srgbClr val="FF0000"/>
                </a:solidFill>
                <a:latin typeface="Times New Roman" panose="02020603050405020304" pitchFamily="18" charset="0"/>
                <a:ea typeface="黑体" panose="02010609060101010101" pitchFamily="49" charset="-122"/>
              </a:rPr>
              <a:t>0~</a:t>
            </a:r>
            <a:r>
              <a:rPr lang="en-US" altLang="zh-CN" sz="2400" b="1" i="1">
                <a:solidFill>
                  <a:srgbClr val="FF0000"/>
                </a:solidFill>
                <a:latin typeface="Times New Roman" panose="02020603050405020304" pitchFamily="18" charset="0"/>
                <a:ea typeface="黑体" panose="02010609060101010101" pitchFamily="49" charset="-122"/>
              </a:rPr>
              <a:t>q</a:t>
            </a:r>
            <a:r>
              <a:rPr lang="zh-CN" altLang="en-US" sz="2400" b="1" dirty="0">
                <a:solidFill>
                  <a:schemeClr val="tx1"/>
                </a:solidFill>
                <a:latin typeface="黑体" panose="02010609060101010101" pitchFamily="49" charset="-122"/>
                <a:ea typeface="黑体" panose="02010609060101010101" pitchFamily="49" charset="-122"/>
              </a:rPr>
              <a:t>之间的任意值，是在</a:t>
            </a:r>
            <a:r>
              <a:rPr lang="en-US" altLang="zh-CN" sz="2400" b="1">
                <a:solidFill>
                  <a:srgbClr val="FF0000"/>
                </a:solidFill>
                <a:latin typeface="Times New Roman" panose="02020603050405020304" pitchFamily="18" charset="0"/>
                <a:ea typeface="黑体" panose="02010609060101010101" pitchFamily="49" charset="-122"/>
              </a:rPr>
              <a:t>[0</a:t>
            </a:r>
            <a:r>
              <a:rPr lang="zh-CN" altLang="en-US" sz="2400" b="1" dirty="0">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上均匀分布的随机变量。</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82625" name="Text Box 129"/>
          <p:cNvSpPr txBox="1"/>
          <p:nvPr/>
        </p:nvSpPr>
        <p:spPr>
          <a:xfrm>
            <a:off x="503238" y="4205288"/>
            <a:ext cx="3455987" cy="519112"/>
          </a:xfrm>
          <a:prstGeom prst="rect">
            <a:avLst/>
          </a:prstGeom>
          <a:noFill/>
          <a:ln w="9525">
            <a:noFill/>
          </a:ln>
        </p:spPr>
        <p:txBody>
          <a:bodyPr>
            <a:spAutoFit/>
          </a:bodyPr>
          <a:p>
            <a:pPr algn="ctr" eaLnBrk="1" hangingPunct="1">
              <a:spcBef>
                <a:spcPct val="50000"/>
              </a:spcBef>
            </a:pPr>
            <a:r>
              <a:rPr lang="zh-CN" altLang="en-US" sz="2800" b="1" dirty="0">
                <a:solidFill>
                  <a:srgbClr val="333399"/>
                </a:solidFill>
                <a:latin typeface="楷体_GB2312" pitchFamily="49" charset="-122"/>
              </a:rPr>
              <a:t>概率密度函数</a:t>
            </a:r>
            <a:r>
              <a:rPr lang="en-US" altLang="zh-CN" sz="2800" b="1" i="1" err="1">
                <a:solidFill>
                  <a:srgbClr val="FF0000"/>
                </a:solidFill>
                <a:latin typeface="Times New Roman" panose="02020603050405020304" pitchFamily="18" charset="0"/>
              </a:rPr>
              <a:t>p</a:t>
            </a:r>
            <a:r>
              <a:rPr lang="en-US" altLang="zh-CN" sz="2800" b="1" err="1">
                <a:solidFill>
                  <a:srgbClr val="FF0000"/>
                </a:solidFill>
                <a:latin typeface="Times New Roman" panose="02020603050405020304" pitchFamily="18" charset="0"/>
              </a:rPr>
              <a:t>(</a:t>
            </a:r>
            <a:r>
              <a:rPr lang="en-US" altLang="zh-CN" sz="2800" b="1" i="1" err="1">
                <a:solidFill>
                  <a:srgbClr val="FF0000"/>
                </a:solidFill>
                <a:latin typeface="Times New Roman" panose="02020603050405020304" pitchFamily="18" charset="0"/>
              </a:rPr>
              <a:t>e</a:t>
            </a:r>
            <a:r>
              <a:rPr lang="en-US" altLang="zh-CN" sz="2800" b="1">
                <a:solidFill>
                  <a:srgbClr val="FF0000"/>
                </a:solidFill>
                <a:latin typeface="Times New Roman" panose="02020603050405020304" pitchFamily="18" charset="0"/>
              </a:rPr>
              <a:t>)</a:t>
            </a:r>
            <a:r>
              <a:rPr lang="en-US" altLang="zh-CN" sz="2800" b="1">
                <a:solidFill>
                  <a:srgbClr val="3333FF"/>
                </a:solidFill>
                <a:latin typeface="Times New Roman" panose="02020603050405020304" pitchFamily="18" charset="0"/>
              </a:rPr>
              <a:t>:</a:t>
            </a:r>
            <a:endParaRPr lang="en-US" altLang="zh-CN" sz="2800" b="1">
              <a:solidFill>
                <a:srgbClr val="3333FF"/>
              </a:solidFill>
              <a:latin typeface="Times New Roman" panose="02020603050405020304" pitchFamily="18" charset="0"/>
            </a:endParaRPr>
          </a:p>
        </p:txBody>
      </p:sp>
      <p:grpSp>
        <p:nvGrpSpPr>
          <p:cNvPr id="2282637" name="Group 141"/>
          <p:cNvGrpSpPr/>
          <p:nvPr/>
        </p:nvGrpSpPr>
        <p:grpSpPr>
          <a:xfrm>
            <a:off x="1008063" y="4627563"/>
            <a:ext cx="2836862" cy="1595437"/>
            <a:chOff x="635" y="2915"/>
            <a:chExt cx="1787" cy="1005"/>
          </a:xfrm>
        </p:grpSpPr>
        <p:sp>
          <p:nvSpPr>
            <p:cNvPr id="40972" name="Line 130"/>
            <p:cNvSpPr/>
            <p:nvPr/>
          </p:nvSpPr>
          <p:spPr>
            <a:xfrm>
              <a:off x="635" y="3748"/>
              <a:ext cx="1587" cy="0"/>
            </a:xfrm>
            <a:prstGeom prst="line">
              <a:avLst/>
            </a:prstGeom>
            <a:ln w="19050" cap="flat" cmpd="sng">
              <a:solidFill>
                <a:schemeClr val="tx1"/>
              </a:solidFill>
              <a:prstDash val="solid"/>
              <a:headEnd type="none" w="med" len="med"/>
              <a:tailEnd type="triangle" w="med" len="med"/>
            </a:ln>
          </p:spPr>
        </p:sp>
        <p:sp>
          <p:nvSpPr>
            <p:cNvPr id="40973" name="Line 131"/>
            <p:cNvSpPr/>
            <p:nvPr/>
          </p:nvSpPr>
          <p:spPr>
            <a:xfrm flipV="1">
              <a:off x="1020" y="3029"/>
              <a:ext cx="0" cy="719"/>
            </a:xfrm>
            <a:prstGeom prst="line">
              <a:avLst/>
            </a:prstGeom>
            <a:ln w="19050" cap="flat" cmpd="sng">
              <a:solidFill>
                <a:schemeClr val="tx1"/>
              </a:solidFill>
              <a:prstDash val="solid"/>
              <a:headEnd type="none" w="med" len="med"/>
              <a:tailEnd type="triangle" w="med" len="med"/>
            </a:ln>
          </p:spPr>
        </p:sp>
        <p:sp>
          <p:nvSpPr>
            <p:cNvPr id="40974" name="Line 132"/>
            <p:cNvSpPr/>
            <p:nvPr/>
          </p:nvSpPr>
          <p:spPr>
            <a:xfrm>
              <a:off x="1020" y="3363"/>
              <a:ext cx="817" cy="0"/>
            </a:xfrm>
            <a:prstGeom prst="line">
              <a:avLst/>
            </a:prstGeom>
            <a:ln w="25400" cap="flat" cmpd="sng">
              <a:solidFill>
                <a:srgbClr val="FF0000"/>
              </a:solidFill>
              <a:prstDash val="solid"/>
              <a:headEnd type="none" w="med" len="med"/>
              <a:tailEnd type="none" w="med" len="med"/>
            </a:ln>
          </p:spPr>
        </p:sp>
        <p:sp>
          <p:nvSpPr>
            <p:cNvPr id="40975" name="Line 133"/>
            <p:cNvSpPr/>
            <p:nvPr/>
          </p:nvSpPr>
          <p:spPr>
            <a:xfrm>
              <a:off x="1837" y="3363"/>
              <a:ext cx="0" cy="385"/>
            </a:xfrm>
            <a:prstGeom prst="line">
              <a:avLst/>
            </a:prstGeom>
            <a:ln w="25400" cap="flat" cmpd="sng">
              <a:solidFill>
                <a:srgbClr val="FF0000"/>
              </a:solidFill>
              <a:prstDash val="solid"/>
              <a:headEnd type="none" w="med" len="med"/>
              <a:tailEnd type="none" w="med" len="med"/>
            </a:ln>
          </p:spPr>
        </p:sp>
        <p:sp>
          <p:nvSpPr>
            <p:cNvPr id="40976" name="Text Box 134"/>
            <p:cNvSpPr txBox="1"/>
            <p:nvPr/>
          </p:nvSpPr>
          <p:spPr>
            <a:xfrm>
              <a:off x="2177" y="3557"/>
              <a:ext cx="245"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40977" name="Text Box 135"/>
            <p:cNvSpPr txBox="1"/>
            <p:nvPr/>
          </p:nvSpPr>
          <p:spPr>
            <a:xfrm>
              <a:off x="1714" y="3670"/>
              <a:ext cx="245"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q</a:t>
              </a:r>
              <a:endParaRPr lang="en-US" altLang="zh-CN" sz="2000" b="1" i="1">
                <a:solidFill>
                  <a:srgbClr val="FF0000"/>
                </a:solidFill>
                <a:latin typeface="Times New Roman" panose="02020603050405020304" pitchFamily="18" charset="0"/>
              </a:endParaRPr>
            </a:p>
          </p:txBody>
        </p:sp>
        <p:sp>
          <p:nvSpPr>
            <p:cNvPr id="40978" name="Text Box 136"/>
            <p:cNvSpPr txBox="1"/>
            <p:nvPr/>
          </p:nvSpPr>
          <p:spPr>
            <a:xfrm>
              <a:off x="930" y="2915"/>
              <a:ext cx="635" cy="250"/>
            </a:xfrm>
            <a:prstGeom prst="rect">
              <a:avLst/>
            </a:prstGeom>
            <a:noFill/>
            <a:ln w="9525">
              <a:noFill/>
            </a:ln>
          </p:spPr>
          <p:txBody>
            <a:bodyPr>
              <a:spAutoFit/>
            </a:bodyPr>
            <a:p>
              <a:pPr algn="ctr" eaLnBrk="1" hangingPunct="1">
                <a:spcBef>
                  <a:spcPct val="50000"/>
                </a:spcBef>
              </a:pPr>
              <a:r>
                <a:rPr lang="en-US" altLang="zh-CN" sz="2000" b="1" i="1" err="1">
                  <a:solidFill>
                    <a:srgbClr val="FF0000"/>
                  </a:solidFill>
                  <a:latin typeface="Times New Roman" panose="02020603050405020304" pitchFamily="18" charset="0"/>
                </a:rPr>
                <a:t>p</a:t>
              </a:r>
              <a:r>
                <a:rPr lang="en-US" altLang="zh-CN" sz="2000" b="1" err="1">
                  <a:solidFill>
                    <a:srgbClr val="FF0000"/>
                  </a:solidFill>
                  <a:latin typeface="Times New Roman" panose="02020603050405020304" pitchFamily="18" charset="0"/>
                </a:rPr>
                <a:t>(</a:t>
              </a:r>
              <a:r>
                <a:rPr lang="en-US" altLang="zh-CN" sz="2000" b="1" i="1" err="1">
                  <a:solidFill>
                    <a:srgbClr val="FF0000"/>
                  </a:solidFill>
                  <a:latin typeface="Times New Roman" panose="02020603050405020304" pitchFamily="18" charset="0"/>
                </a:rPr>
                <a:t>e</a:t>
              </a:r>
              <a:r>
                <a:rPr lang="en-US" altLang="zh-CN" sz="2000" b="1">
                  <a:solidFill>
                    <a:srgbClr val="FF0000"/>
                  </a:solidFill>
                  <a:latin typeface="Times New Roman" panose="02020603050405020304" pitchFamily="18" charset="0"/>
                </a:rPr>
                <a:t>)</a:t>
              </a:r>
              <a:endParaRPr lang="en-US" altLang="zh-CN" sz="2000" b="1">
                <a:solidFill>
                  <a:srgbClr val="FF0000"/>
                </a:solidFill>
                <a:latin typeface="Times New Roman" panose="02020603050405020304" pitchFamily="18" charset="0"/>
              </a:endParaRPr>
            </a:p>
          </p:txBody>
        </p:sp>
        <p:grpSp>
          <p:nvGrpSpPr>
            <p:cNvPr id="40979" name="Group 140"/>
            <p:cNvGrpSpPr/>
            <p:nvPr/>
          </p:nvGrpSpPr>
          <p:grpSpPr>
            <a:xfrm>
              <a:off x="702" y="3140"/>
              <a:ext cx="386" cy="403"/>
              <a:chOff x="164" y="3141"/>
              <a:chExt cx="386" cy="403"/>
            </a:xfrm>
          </p:grpSpPr>
          <p:sp>
            <p:nvSpPr>
              <p:cNvPr id="40980" name="Text Box 137"/>
              <p:cNvSpPr txBox="1"/>
              <p:nvPr/>
            </p:nvSpPr>
            <p:spPr>
              <a:xfrm>
                <a:off x="164" y="3141"/>
                <a:ext cx="386" cy="250"/>
              </a:xfrm>
              <a:prstGeom prst="rect">
                <a:avLst/>
              </a:prstGeom>
              <a:noFill/>
              <a:ln w="9525">
                <a:noFill/>
              </a:ln>
            </p:spPr>
            <p:txBody>
              <a:bodyPr>
                <a:spAutoFit/>
              </a:bodyPr>
              <a:p>
                <a:pPr algn="ctr" eaLnBrk="1" hangingPunct="1">
                  <a:spcBef>
                    <a:spcPct val="50000"/>
                  </a:spcBef>
                </a:pPr>
                <a:r>
                  <a:rPr lang="en-US" altLang="zh-CN" sz="2000" b="1">
                    <a:solidFill>
                      <a:srgbClr val="FF0000"/>
                    </a:solidFill>
                    <a:latin typeface="Times New Roman" panose="02020603050405020304" pitchFamily="18" charset="0"/>
                  </a:rPr>
                  <a:t>1 </a:t>
                </a:r>
                <a:endParaRPr lang="en-US" altLang="zh-CN" sz="2000" b="1">
                  <a:solidFill>
                    <a:srgbClr val="FF0000"/>
                  </a:solidFill>
                  <a:latin typeface="Times New Roman" panose="02020603050405020304" pitchFamily="18" charset="0"/>
                </a:endParaRPr>
              </a:p>
            </p:txBody>
          </p:sp>
          <p:sp>
            <p:nvSpPr>
              <p:cNvPr id="40981" name="Text Box 138"/>
              <p:cNvSpPr txBox="1"/>
              <p:nvPr/>
            </p:nvSpPr>
            <p:spPr>
              <a:xfrm>
                <a:off x="231" y="3294"/>
                <a:ext cx="245"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q</a:t>
                </a:r>
                <a:endParaRPr lang="en-US" altLang="zh-CN" sz="2000" b="1" i="1">
                  <a:solidFill>
                    <a:srgbClr val="FF0000"/>
                  </a:solidFill>
                  <a:latin typeface="Times New Roman" panose="02020603050405020304" pitchFamily="18" charset="0"/>
                </a:endParaRPr>
              </a:p>
            </p:txBody>
          </p:sp>
          <p:sp>
            <p:nvSpPr>
              <p:cNvPr id="40982" name="Line 139"/>
              <p:cNvSpPr/>
              <p:nvPr/>
            </p:nvSpPr>
            <p:spPr>
              <a:xfrm>
                <a:off x="277" y="3363"/>
                <a:ext cx="154" cy="0"/>
              </a:xfrm>
              <a:prstGeom prst="line">
                <a:avLst/>
              </a:prstGeom>
              <a:ln w="19050" cap="flat" cmpd="sng">
                <a:solidFill>
                  <a:srgbClr val="FF0000"/>
                </a:solidFill>
                <a:prstDash val="solid"/>
                <a:headEnd type="none" w="med" len="med"/>
                <a:tailEnd type="none" w="med" len="med"/>
              </a:ln>
            </p:spPr>
          </p:sp>
        </p:gr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2521"/>
                                        </p:tgtEl>
                                        <p:attrNameLst>
                                          <p:attrName>style.visibility</p:attrName>
                                        </p:attrNameLst>
                                      </p:cBhvr>
                                      <p:to>
                                        <p:strVal val="visible"/>
                                      </p:to>
                                    </p:set>
                                    <p:animEffect transition="in" filter="dissolve">
                                      <p:cBhvr>
                                        <p:cTn id="7" dur="500"/>
                                        <p:tgtEl>
                                          <p:spTgt spid="22825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82522"/>
                                        </p:tgtEl>
                                        <p:attrNameLst>
                                          <p:attrName>style.visibility</p:attrName>
                                        </p:attrNameLst>
                                      </p:cBhvr>
                                      <p:to>
                                        <p:strVal val="visible"/>
                                      </p:to>
                                    </p:set>
                                    <p:animEffect transition="in" filter="dissolve">
                                      <p:cBhvr>
                                        <p:cTn id="12" dur="500"/>
                                        <p:tgtEl>
                                          <p:spTgt spid="22825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82623"/>
                                        </p:tgtEl>
                                        <p:attrNameLst>
                                          <p:attrName>style.visibility</p:attrName>
                                        </p:attrNameLst>
                                      </p:cBhvr>
                                      <p:to>
                                        <p:strVal val="visible"/>
                                      </p:to>
                                    </p:set>
                                    <p:animEffect transition="in" filter="dissolve">
                                      <p:cBhvr>
                                        <p:cTn id="17" dur="500"/>
                                        <p:tgtEl>
                                          <p:spTgt spid="228262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82624"/>
                                        </p:tgtEl>
                                        <p:attrNameLst>
                                          <p:attrName>style.visibility</p:attrName>
                                        </p:attrNameLst>
                                      </p:cBhvr>
                                      <p:to>
                                        <p:strVal val="visible"/>
                                      </p:to>
                                    </p:set>
                                    <p:animEffect transition="in" filter="dissolve">
                                      <p:cBhvr>
                                        <p:cTn id="22" dur="500"/>
                                        <p:tgtEl>
                                          <p:spTgt spid="228262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82625"/>
                                        </p:tgtEl>
                                        <p:attrNameLst>
                                          <p:attrName>style.visibility</p:attrName>
                                        </p:attrNameLst>
                                      </p:cBhvr>
                                      <p:to>
                                        <p:strVal val="visible"/>
                                      </p:to>
                                    </p:set>
                                    <p:animEffect transition="in" filter="dissolve">
                                      <p:cBhvr>
                                        <p:cTn id="27" dur="500"/>
                                        <p:tgtEl>
                                          <p:spTgt spid="2282625"/>
                                        </p:tgtEl>
                                      </p:cBhvr>
                                    </p:animEffect>
                                  </p:childTnLst>
                                </p:cTn>
                              </p:par>
                              <p:par>
                                <p:cTn id="28" presetID="9" presetClass="entr" presetSubtype="0" fill="hold" nodeType="withEffect">
                                  <p:stCondLst>
                                    <p:cond delay="0"/>
                                  </p:stCondLst>
                                  <p:childTnLst>
                                    <p:set>
                                      <p:cBhvr>
                                        <p:cTn id="29" dur="1" fill="hold">
                                          <p:stCondLst>
                                            <p:cond delay="0"/>
                                          </p:stCondLst>
                                        </p:cTn>
                                        <p:tgtEl>
                                          <p:spTgt spid="2282637"/>
                                        </p:tgtEl>
                                        <p:attrNameLst>
                                          <p:attrName>style.visibility</p:attrName>
                                        </p:attrNameLst>
                                      </p:cBhvr>
                                      <p:to>
                                        <p:strVal val="visible"/>
                                      </p:to>
                                    </p:set>
                                    <p:animEffect transition="in" filter="dissolve">
                                      <p:cBhvr>
                                        <p:cTn id="30" dur="500"/>
                                        <p:tgtEl>
                                          <p:spTgt spid="2282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2521" grpId="0" bldLvl="0" animBg="1"/>
      <p:bldP spid="2282522" grpId="0"/>
      <p:bldP spid="2282624" grpId="0" bldLvl="0" animBg="1"/>
      <p:bldP spid="2282625"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5575" name="Text Box 7"/>
          <p:cNvSpPr txBox="1"/>
          <p:nvPr/>
        </p:nvSpPr>
        <p:spPr>
          <a:xfrm>
            <a:off x="719138" y="2205038"/>
            <a:ext cx="5365750" cy="519112"/>
          </a:xfrm>
          <a:prstGeom prst="rect">
            <a:avLst/>
          </a:prstGeom>
          <a:no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平均误差</a:t>
            </a:r>
            <a:r>
              <a:rPr lang="en-US" altLang="zh-CN" sz="2800" b="1">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误差的数学期望</a:t>
            </a:r>
            <a:r>
              <a:rPr lang="en-US" altLang="zh-CN" sz="2800" b="1">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为： </a:t>
            </a:r>
            <a:endParaRPr lang="zh-CN" altLang="en-US" sz="2800" b="1" dirty="0">
              <a:solidFill>
                <a:schemeClr val="tx1"/>
              </a:solidFill>
              <a:latin typeface="黑体" panose="02010609060101010101" pitchFamily="49" charset="-122"/>
              <a:ea typeface="黑体" panose="02010609060101010101" pitchFamily="49" charset="-122"/>
            </a:endParaRPr>
          </a:p>
        </p:txBody>
      </p:sp>
      <p:graphicFrame>
        <p:nvGraphicFramePr>
          <p:cNvPr id="41987" name="Object 8"/>
          <p:cNvGraphicFramePr>
            <a:graphicFrameLocks noChangeAspect="1"/>
          </p:cNvGraphicFramePr>
          <p:nvPr/>
        </p:nvGraphicFramePr>
        <p:xfrm>
          <a:off x="1803400" y="2982913"/>
          <a:ext cx="5397500" cy="993775"/>
        </p:xfrm>
        <a:graphic>
          <a:graphicData uri="http://schemas.openxmlformats.org/presentationml/2006/ole">
            <mc:AlternateContent xmlns:mc="http://schemas.openxmlformats.org/markup-compatibility/2006">
              <mc:Choice xmlns:v="urn:schemas-microsoft-com:vml" Requires="v">
                <p:oleObj spid="_x0000_s3148" name="" r:id="rId1" imgW="1816100" imgH="419100" progId="Equation.3">
                  <p:embed/>
                </p:oleObj>
              </mc:Choice>
              <mc:Fallback>
                <p:oleObj name="" r:id="rId1" imgW="1816100" imgH="419100" progId="Equation.3">
                  <p:embed/>
                  <p:pic>
                    <p:nvPicPr>
                      <p:cNvPr id="0" name="图片 3147"/>
                      <p:cNvPicPr/>
                      <p:nvPr/>
                    </p:nvPicPr>
                    <p:blipFill>
                      <a:blip r:embed="rId2"/>
                      <a:stretch>
                        <a:fillRect/>
                      </a:stretch>
                    </p:blipFill>
                    <p:spPr>
                      <a:xfrm>
                        <a:off x="1803400" y="2982913"/>
                        <a:ext cx="5397500" cy="993775"/>
                      </a:xfrm>
                      <a:prstGeom prst="rect">
                        <a:avLst/>
                      </a:prstGeom>
                      <a:solidFill>
                        <a:srgbClr val="CCFFFF"/>
                      </a:solidFill>
                      <a:ln w="38100">
                        <a:noFill/>
                        <a:miter/>
                      </a:ln>
                    </p:spPr>
                  </p:pic>
                </p:oleObj>
              </mc:Fallback>
            </mc:AlternateContent>
          </a:graphicData>
        </a:graphic>
      </p:graphicFrame>
      <p:sp>
        <p:nvSpPr>
          <p:cNvPr id="2285585" name="Text Box 1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1989" name="Text Box 18"/>
          <p:cNvSpPr txBox="1"/>
          <p:nvPr/>
        </p:nvSpPr>
        <p:spPr>
          <a:xfrm>
            <a:off x="468313" y="1449388"/>
            <a:ext cx="5616575"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1.</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只舍不入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85588" name="Text Box 20"/>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5589" name="Text Box 21"/>
          <p:cNvSpPr txBox="1"/>
          <p:nvPr/>
        </p:nvSpPr>
        <p:spPr>
          <a:xfrm>
            <a:off x="1306513" y="4184650"/>
            <a:ext cx="6613525" cy="519113"/>
          </a:xfrm>
          <a:prstGeom prst="rect">
            <a:avLst/>
          </a:prstGeom>
          <a:noFill/>
          <a:ln w="9525">
            <a:noFill/>
          </a:ln>
        </p:spPr>
        <p:txBody>
          <a:bodyPr wrap="none">
            <a:spAutoFit/>
          </a:bodyPr>
          <a:p>
            <a:pPr algn="l" eaLnBrk="1" hangingPunct="1"/>
            <a:r>
              <a:rPr lang="zh-CN" altLang="en-US" sz="2800" b="1" dirty="0">
                <a:solidFill>
                  <a:srgbClr val="333399"/>
                </a:solidFill>
                <a:latin typeface="楷体_GB2312" pitchFamily="49" charset="-122"/>
              </a:rPr>
              <a:t>由于平均误差不等于零，故称为</a:t>
            </a:r>
            <a:r>
              <a:rPr lang="zh-CN" altLang="en-US" sz="2800" b="1" dirty="0">
                <a:solidFill>
                  <a:srgbClr val="FF0000"/>
                </a:solidFill>
                <a:latin typeface="楷体_GB2312" pitchFamily="49" charset="-122"/>
              </a:rPr>
              <a:t>有偏的</a:t>
            </a:r>
            <a:r>
              <a:rPr lang="zh-CN" altLang="en-US" sz="2800" b="1" dirty="0">
                <a:solidFill>
                  <a:srgbClr val="333399"/>
                </a:solidFill>
                <a:latin typeface="楷体_GB2312" pitchFamily="49" charset="-122"/>
              </a:rPr>
              <a:t>。</a:t>
            </a:r>
            <a:endParaRPr lang="zh-CN" altLang="en-US" sz="2800" b="1" dirty="0">
              <a:solidFill>
                <a:srgbClr val="333399"/>
              </a:solidFill>
              <a:latin typeface="楷体_GB2312" pitchFamily="49" charset="-122"/>
            </a:endParaRPr>
          </a:p>
        </p:txBody>
      </p:sp>
      <p:graphicFrame>
        <p:nvGraphicFramePr>
          <p:cNvPr id="41993" name="Object 22"/>
          <p:cNvGraphicFramePr>
            <a:graphicFrameLocks noChangeAspect="1"/>
          </p:cNvGraphicFramePr>
          <p:nvPr/>
        </p:nvGraphicFramePr>
        <p:xfrm>
          <a:off x="4067175" y="5121275"/>
          <a:ext cx="1454150" cy="744538"/>
        </p:xfrm>
        <a:graphic>
          <a:graphicData uri="http://schemas.openxmlformats.org/presentationml/2006/ole">
            <mc:AlternateContent xmlns:mc="http://schemas.openxmlformats.org/markup-compatibility/2006">
              <mc:Choice xmlns:v="urn:schemas-microsoft-com:vml" Requires="v">
                <p:oleObj spid="_x0000_s3147" name="" r:id="rId3" imgW="520700" imgH="228600" progId="Equation.3">
                  <p:embed/>
                </p:oleObj>
              </mc:Choice>
              <mc:Fallback>
                <p:oleObj name="" r:id="rId3" imgW="520700" imgH="228600" progId="Equation.3">
                  <p:embed/>
                  <p:pic>
                    <p:nvPicPr>
                      <p:cNvPr id="0" name="图片 3146"/>
                      <p:cNvPicPr/>
                      <p:nvPr/>
                    </p:nvPicPr>
                    <p:blipFill>
                      <a:blip r:embed="rId4"/>
                      <a:stretch>
                        <a:fillRect/>
                      </a:stretch>
                    </p:blipFill>
                    <p:spPr>
                      <a:xfrm>
                        <a:off x="4067175" y="5121275"/>
                        <a:ext cx="1454150" cy="744538"/>
                      </a:xfrm>
                      <a:prstGeom prst="rect">
                        <a:avLst/>
                      </a:prstGeom>
                      <a:solidFill>
                        <a:srgbClr val="CCFFFF"/>
                      </a:solidFill>
                      <a:ln w="38100">
                        <a:noFill/>
                        <a:miter/>
                      </a:ln>
                    </p:spPr>
                  </p:pic>
                </p:oleObj>
              </mc:Fallback>
            </mc:AlternateContent>
          </a:graphicData>
        </a:graphic>
      </p:graphicFrame>
      <p:sp>
        <p:nvSpPr>
          <p:cNvPr id="2285591" name="Rectangle 23"/>
          <p:cNvSpPr/>
          <p:nvPr/>
        </p:nvSpPr>
        <p:spPr>
          <a:xfrm>
            <a:off x="774700" y="4854575"/>
            <a:ext cx="3041650" cy="519113"/>
          </a:xfrm>
          <a:prstGeom prst="rect">
            <a:avLst/>
          </a:prstGeom>
          <a:noFill/>
          <a:ln w="9525">
            <a:noFill/>
          </a:ln>
        </p:spPr>
        <p:txBody>
          <a:bodyPr wrap="none">
            <a:spAutoFit/>
          </a:bodyPr>
          <a:p>
            <a:pPr algn="ctr" eaLnBrk="1" hangingPunct="1"/>
            <a:r>
              <a:rPr lang="zh-CN" altLang="en-US" sz="2800" b="1" dirty="0">
                <a:solidFill>
                  <a:schemeClr val="tx1"/>
                </a:solidFill>
                <a:latin typeface="黑体" panose="02010609060101010101" pitchFamily="49" charset="-122"/>
                <a:ea typeface="黑体" panose="02010609060101010101" pitchFamily="49" charset="-122"/>
              </a:rPr>
              <a:t>最大量化误差为：</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5575"/>
                                        </p:tgtEl>
                                        <p:attrNameLst>
                                          <p:attrName>style.visibility</p:attrName>
                                        </p:attrNameLst>
                                      </p:cBhvr>
                                      <p:to>
                                        <p:strVal val="visible"/>
                                      </p:to>
                                    </p:set>
                                    <p:animEffect transition="in" filter="dissolve">
                                      <p:cBhvr>
                                        <p:cTn id="7" dur="500"/>
                                        <p:tgtEl>
                                          <p:spTgt spid="2285575"/>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41987"/>
                                        </p:tgtEl>
                                        <p:attrNameLst>
                                          <p:attrName>style.visibility</p:attrName>
                                        </p:attrNameLst>
                                      </p:cBhvr>
                                      <p:to>
                                        <p:strVal val="visible"/>
                                      </p:to>
                                    </p:set>
                                    <p:animEffect transition="in" filter="dissolve">
                                      <p:cBhvr>
                                        <p:cTn id="11" dur="500"/>
                                        <p:tgtEl>
                                          <p:spTgt spid="4198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285589"/>
                                        </p:tgtEl>
                                        <p:attrNameLst>
                                          <p:attrName>style.visibility</p:attrName>
                                        </p:attrNameLst>
                                      </p:cBhvr>
                                      <p:to>
                                        <p:strVal val="visible"/>
                                      </p:to>
                                    </p:set>
                                    <p:animEffect transition="in" filter="dissolve">
                                      <p:cBhvr>
                                        <p:cTn id="16" dur="500"/>
                                        <p:tgtEl>
                                          <p:spTgt spid="22855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285591"/>
                                        </p:tgtEl>
                                        <p:attrNameLst>
                                          <p:attrName>style.visibility</p:attrName>
                                        </p:attrNameLst>
                                      </p:cBhvr>
                                      <p:to>
                                        <p:strVal val="visible"/>
                                      </p:to>
                                    </p:set>
                                    <p:animEffect transition="in" filter="dissolve">
                                      <p:cBhvr>
                                        <p:cTn id="21" dur="500"/>
                                        <p:tgtEl>
                                          <p:spTgt spid="2285591"/>
                                        </p:tgtEl>
                                      </p:cBhvr>
                                    </p:animEffect>
                                  </p:childTnLst>
                                </p:cTn>
                              </p:par>
                            </p:childTnLst>
                          </p:cTn>
                        </p:par>
                        <p:par>
                          <p:cTn id="22" fill="hold">
                            <p:stCondLst>
                              <p:cond delay="500"/>
                            </p:stCondLst>
                            <p:childTnLst>
                              <p:par>
                                <p:cTn id="23" presetID="9" presetClass="entr" presetSubtype="0" fill="hold" nodeType="afterEffect">
                                  <p:stCondLst>
                                    <p:cond delay="0"/>
                                  </p:stCondLst>
                                  <p:childTnLst>
                                    <p:set>
                                      <p:cBhvr>
                                        <p:cTn id="24" dur="1" fill="hold">
                                          <p:stCondLst>
                                            <p:cond delay="0"/>
                                          </p:stCondLst>
                                        </p:cTn>
                                        <p:tgtEl>
                                          <p:spTgt spid="41993"/>
                                        </p:tgtEl>
                                        <p:attrNameLst>
                                          <p:attrName>style.visibility</p:attrName>
                                        </p:attrNameLst>
                                      </p:cBhvr>
                                      <p:to>
                                        <p:strVal val="visible"/>
                                      </p:to>
                                    </p:set>
                                    <p:animEffect transition="in" filter="dissolve">
                                      <p:cBhvr>
                                        <p:cTn id="25" dur="500"/>
                                        <p:tgtEl>
                                          <p:spTgt spid="419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5575" grpId="0"/>
      <p:bldP spid="2285589" grpId="0"/>
      <p:bldP spid="228559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6610" name="Text Box 18"/>
          <p:cNvSpPr txBox="1"/>
          <p:nvPr/>
        </p:nvSpPr>
        <p:spPr>
          <a:xfrm>
            <a:off x="935038" y="2097088"/>
            <a:ext cx="3529012" cy="519112"/>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量化误差的方差为： </a:t>
            </a:r>
            <a:endParaRPr lang="zh-CN" altLang="en-US" sz="2800" b="1" dirty="0">
              <a:solidFill>
                <a:schemeClr val="tx1"/>
              </a:solidFill>
              <a:latin typeface="黑体" panose="02010609060101010101" pitchFamily="49" charset="-122"/>
              <a:ea typeface="黑体" panose="02010609060101010101" pitchFamily="49" charset="-122"/>
            </a:endParaRPr>
          </a:p>
        </p:txBody>
      </p:sp>
      <p:graphicFrame>
        <p:nvGraphicFramePr>
          <p:cNvPr id="43011" name="Object 19"/>
          <p:cNvGraphicFramePr>
            <a:graphicFrameLocks noChangeAspect="1"/>
          </p:cNvGraphicFramePr>
          <p:nvPr/>
        </p:nvGraphicFramePr>
        <p:xfrm>
          <a:off x="823913" y="2744788"/>
          <a:ext cx="7656512" cy="1054100"/>
        </p:xfrm>
        <a:graphic>
          <a:graphicData uri="http://schemas.openxmlformats.org/presentationml/2006/ole">
            <mc:AlternateContent xmlns:mc="http://schemas.openxmlformats.org/markup-compatibility/2006">
              <mc:Choice xmlns:v="urn:schemas-microsoft-com:vml" Requires="v">
                <p:oleObj spid="_x0000_s3149" name="" r:id="rId1" imgW="2818130" imgH="444500" progId="Equation.3">
                  <p:embed/>
                </p:oleObj>
              </mc:Choice>
              <mc:Fallback>
                <p:oleObj name="" r:id="rId1" imgW="2818130" imgH="444500" progId="Equation.3">
                  <p:embed/>
                  <p:pic>
                    <p:nvPicPr>
                      <p:cNvPr id="0" name="图片 3148"/>
                      <p:cNvPicPr/>
                      <p:nvPr/>
                    </p:nvPicPr>
                    <p:blipFill>
                      <a:blip r:embed="rId2"/>
                      <a:stretch>
                        <a:fillRect/>
                      </a:stretch>
                    </p:blipFill>
                    <p:spPr>
                      <a:xfrm>
                        <a:off x="823913" y="2744788"/>
                        <a:ext cx="7656512" cy="1054100"/>
                      </a:xfrm>
                      <a:prstGeom prst="rect">
                        <a:avLst/>
                      </a:prstGeom>
                      <a:solidFill>
                        <a:srgbClr val="CCFFFF"/>
                      </a:solidFill>
                      <a:ln w="38100">
                        <a:noFill/>
                        <a:miter/>
                      </a:ln>
                    </p:spPr>
                  </p:pic>
                </p:oleObj>
              </mc:Fallback>
            </mc:AlternateContent>
          </a:graphicData>
        </a:graphic>
      </p:graphicFrame>
      <p:sp>
        <p:nvSpPr>
          <p:cNvPr id="2286617" name="Text Box 25"/>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3013" name="Text Box 26"/>
          <p:cNvSpPr txBox="1"/>
          <p:nvPr/>
        </p:nvSpPr>
        <p:spPr>
          <a:xfrm>
            <a:off x="468313" y="1449388"/>
            <a:ext cx="5616575"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1.</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只舍不入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86620" name="Text Box 28"/>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6621" name="Text Box 29"/>
          <p:cNvSpPr txBox="1"/>
          <p:nvPr/>
        </p:nvSpPr>
        <p:spPr>
          <a:xfrm>
            <a:off x="971550" y="3933825"/>
            <a:ext cx="7237413" cy="946150"/>
          </a:xfrm>
          <a:prstGeom prst="rect">
            <a:avLst/>
          </a:prstGeom>
          <a:solidFill>
            <a:srgbClr val="FFCC99"/>
          </a:solid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即使模拟信号</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t</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rgbClr val="3333FF"/>
                </a:solidFill>
                <a:latin typeface="Times New Roman" panose="02020603050405020304" pitchFamily="18" charset="0"/>
              </a:rPr>
              <a:t>为无噪声信号，经过量化器量化后，量化信号</a:t>
            </a:r>
            <a:r>
              <a:rPr lang="en-US" altLang="zh-CN" sz="2800" b="1" i="1" err="1">
                <a:solidFill>
                  <a:srgbClr val="FF0000"/>
                </a:solidFill>
                <a:latin typeface="Times New Roman" panose="02020603050405020304" pitchFamily="18" charset="0"/>
              </a:rPr>
              <a:t>x</a:t>
            </a:r>
            <a:r>
              <a:rPr lang="en-US" altLang="zh-CN" sz="2800" b="1" i="1" baseline="-25000" err="1">
                <a:solidFill>
                  <a:srgbClr val="FF0000"/>
                </a:solidFill>
                <a:latin typeface="Times New Roman" panose="02020603050405020304" pitchFamily="18" charset="0"/>
              </a:rPr>
              <a:t>q</a:t>
            </a:r>
            <a:r>
              <a:rPr lang="en-US" altLang="zh-CN" sz="2800" b="1" err="1">
                <a:solidFill>
                  <a:srgbClr val="FF0000"/>
                </a:solidFill>
                <a:latin typeface="Times New Roman" panose="02020603050405020304" pitchFamily="18" charset="0"/>
              </a:rPr>
              <a:t>(</a:t>
            </a:r>
            <a:r>
              <a:rPr lang="en-US" altLang="zh-CN" sz="2800" b="1" i="1" err="1">
                <a:solidFill>
                  <a:srgbClr val="FF0000"/>
                </a:solidFill>
                <a:latin typeface="Times New Roman" panose="02020603050405020304" pitchFamily="18" charset="0"/>
              </a:rPr>
              <a:t>nT</a:t>
            </a:r>
            <a:r>
              <a:rPr lang="en-US" altLang="zh-CN" sz="2800" b="1" i="1" baseline="-25000" err="1">
                <a:solidFill>
                  <a:srgbClr val="FF0000"/>
                </a:solidFill>
                <a:latin typeface="Times New Roman" panose="02020603050405020304" pitchFamily="18" charset="0"/>
              </a:rPr>
              <a:t>s</a:t>
            </a:r>
            <a:r>
              <a:rPr lang="en-US" altLang="zh-CN" sz="2800" b="1">
                <a:solidFill>
                  <a:srgbClr val="FF0000"/>
                </a:solidFill>
                <a:latin typeface="Times New Roman" panose="02020603050405020304" pitchFamily="18" charset="0"/>
              </a:rPr>
              <a:t>)</a:t>
            </a:r>
            <a:r>
              <a:rPr lang="zh-CN" altLang="en-US" sz="2800" b="1" dirty="0">
                <a:solidFill>
                  <a:srgbClr val="3333FF"/>
                </a:solidFill>
                <a:latin typeface="楷体_GB2312" pitchFamily="49" charset="-122"/>
              </a:rPr>
              <a:t>将包含噪声</a:t>
            </a:r>
            <a:r>
              <a:rPr lang="en-US" altLang="zh-CN" sz="2800" b="1" i="1">
                <a:solidFill>
                  <a:srgbClr val="FF0000"/>
                </a:solidFill>
                <a:latin typeface="Times New Roman" panose="02020603050405020304" pitchFamily="18" charset="0"/>
              </a:rPr>
              <a:t>q</a:t>
            </a:r>
            <a:r>
              <a:rPr lang="en-US" altLang="zh-CN" sz="2800" b="1" baseline="30000">
                <a:solidFill>
                  <a:srgbClr val="FF0000"/>
                </a:solidFill>
                <a:latin typeface="Times New Roman" panose="02020603050405020304" pitchFamily="18" charset="0"/>
              </a:rPr>
              <a:t>2</a:t>
            </a:r>
            <a:r>
              <a:rPr lang="en-US" altLang="zh-CN" sz="2800" b="1">
                <a:solidFill>
                  <a:srgbClr val="FF0000"/>
                </a:solidFill>
                <a:latin typeface="Times New Roman" panose="02020603050405020304" pitchFamily="18" charset="0"/>
              </a:rPr>
              <a:t>/12</a:t>
            </a:r>
            <a:endParaRPr lang="en-US" altLang="zh-CN" sz="2800" b="1" i="1">
              <a:solidFill>
                <a:srgbClr val="FF0000"/>
              </a:solidFill>
              <a:latin typeface="Times New Roman" panose="02020603050405020304" pitchFamily="18" charset="0"/>
              <a:ea typeface="宋体" panose="02010600030101010101" pitchFamily="2" charset="-122"/>
            </a:endParaRPr>
          </a:p>
        </p:txBody>
      </p:sp>
      <p:sp>
        <p:nvSpPr>
          <p:cNvPr id="2286622" name="Text Box 30"/>
          <p:cNvSpPr txBox="1"/>
          <p:nvPr/>
        </p:nvSpPr>
        <p:spPr>
          <a:xfrm>
            <a:off x="906463" y="5029200"/>
            <a:ext cx="4313237" cy="519113"/>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量化误差的标准差为：</a:t>
            </a:r>
            <a:endParaRPr lang="zh-CN" altLang="en-US" sz="2800" b="1" dirty="0">
              <a:solidFill>
                <a:schemeClr val="tx1"/>
              </a:solidFill>
              <a:latin typeface="黑体" panose="02010609060101010101" pitchFamily="49" charset="-122"/>
              <a:ea typeface="黑体" panose="02010609060101010101" pitchFamily="49" charset="-122"/>
            </a:endParaRPr>
          </a:p>
        </p:txBody>
      </p:sp>
      <p:graphicFrame>
        <p:nvGraphicFramePr>
          <p:cNvPr id="43018" name="Object 31"/>
          <p:cNvGraphicFramePr>
            <a:graphicFrameLocks noChangeAspect="1"/>
          </p:cNvGraphicFramePr>
          <p:nvPr/>
        </p:nvGraphicFramePr>
        <p:xfrm>
          <a:off x="4692650" y="5059363"/>
          <a:ext cx="3119438" cy="1033462"/>
        </p:xfrm>
        <a:graphic>
          <a:graphicData uri="http://schemas.openxmlformats.org/presentationml/2006/ole">
            <mc:AlternateContent xmlns:mc="http://schemas.openxmlformats.org/markup-compatibility/2006">
              <mc:Choice xmlns:v="urn:schemas-microsoft-com:vml" Requires="v">
                <p:oleObj spid="_x0000_s3150" name="" r:id="rId3" imgW="1180465" imgH="419100" progId="Equation.3">
                  <p:embed/>
                </p:oleObj>
              </mc:Choice>
              <mc:Fallback>
                <p:oleObj name="" r:id="rId3" imgW="1180465" imgH="419100" progId="Equation.3">
                  <p:embed/>
                  <p:pic>
                    <p:nvPicPr>
                      <p:cNvPr id="0" name="图片 3149"/>
                      <p:cNvPicPr/>
                      <p:nvPr/>
                    </p:nvPicPr>
                    <p:blipFill>
                      <a:blip r:embed="rId4"/>
                      <a:stretch>
                        <a:fillRect/>
                      </a:stretch>
                    </p:blipFill>
                    <p:spPr>
                      <a:xfrm>
                        <a:off x="4692650" y="5059363"/>
                        <a:ext cx="3119438" cy="1033462"/>
                      </a:xfrm>
                      <a:prstGeom prst="rect">
                        <a:avLst/>
                      </a:prstGeom>
                      <a:solidFill>
                        <a:srgbClr val="CCFFFF"/>
                      </a:solidFill>
                      <a:ln w="38100">
                        <a:noFill/>
                        <a:miter/>
                      </a:ln>
                    </p:spPr>
                  </p:pic>
                </p:oleObj>
              </mc:Fallback>
            </mc:AlternateContent>
          </a:graphicData>
        </a:graphic>
      </p:graphicFrame>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6610"/>
                                        </p:tgtEl>
                                        <p:attrNameLst>
                                          <p:attrName>style.visibility</p:attrName>
                                        </p:attrNameLst>
                                      </p:cBhvr>
                                      <p:to>
                                        <p:strVal val="visible"/>
                                      </p:to>
                                    </p:set>
                                    <p:animEffect transition="in" filter="dissolve">
                                      <p:cBhvr>
                                        <p:cTn id="7" dur="500"/>
                                        <p:tgtEl>
                                          <p:spTgt spid="22866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43011"/>
                                        </p:tgtEl>
                                        <p:attrNameLst>
                                          <p:attrName>style.visibility</p:attrName>
                                        </p:attrNameLst>
                                      </p:cBhvr>
                                      <p:to>
                                        <p:strVal val="visible"/>
                                      </p:to>
                                    </p:set>
                                    <p:animEffect transition="in" filter="dissolve">
                                      <p:cBhvr>
                                        <p:cTn id="11" dur="500"/>
                                        <p:tgtEl>
                                          <p:spTgt spid="43011"/>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286621"/>
                                        </p:tgtEl>
                                        <p:attrNameLst>
                                          <p:attrName>style.visibility</p:attrName>
                                        </p:attrNameLst>
                                      </p:cBhvr>
                                      <p:to>
                                        <p:strVal val="visible"/>
                                      </p:to>
                                    </p:set>
                                    <p:animEffect transition="in" filter="dissolve">
                                      <p:cBhvr>
                                        <p:cTn id="16" dur="500"/>
                                        <p:tgtEl>
                                          <p:spTgt spid="228662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286622"/>
                                        </p:tgtEl>
                                        <p:attrNameLst>
                                          <p:attrName>style.visibility</p:attrName>
                                        </p:attrNameLst>
                                      </p:cBhvr>
                                      <p:to>
                                        <p:strVal val="visible"/>
                                      </p:to>
                                    </p:set>
                                    <p:animEffect transition="in" filter="dissolve">
                                      <p:cBhvr>
                                        <p:cTn id="21" dur="500"/>
                                        <p:tgtEl>
                                          <p:spTgt spid="2286622"/>
                                        </p:tgtEl>
                                      </p:cBhvr>
                                    </p:animEffect>
                                  </p:childTnLst>
                                </p:cTn>
                              </p:par>
                            </p:childTnLst>
                          </p:cTn>
                        </p:par>
                        <p:par>
                          <p:cTn id="22" fill="hold">
                            <p:stCondLst>
                              <p:cond delay="500"/>
                            </p:stCondLst>
                            <p:childTnLst>
                              <p:par>
                                <p:cTn id="23" presetID="9" presetClass="entr" presetSubtype="0" fill="hold" nodeType="afterEffect">
                                  <p:stCondLst>
                                    <p:cond delay="0"/>
                                  </p:stCondLst>
                                  <p:childTnLst>
                                    <p:set>
                                      <p:cBhvr>
                                        <p:cTn id="24" dur="1" fill="hold">
                                          <p:stCondLst>
                                            <p:cond delay="0"/>
                                          </p:stCondLst>
                                        </p:cTn>
                                        <p:tgtEl>
                                          <p:spTgt spid="43018"/>
                                        </p:tgtEl>
                                        <p:attrNameLst>
                                          <p:attrName>style.visibility</p:attrName>
                                        </p:attrNameLst>
                                      </p:cBhvr>
                                      <p:to>
                                        <p:strVal val="visible"/>
                                      </p:to>
                                    </p:set>
                                    <p:animEffect transition="in" filter="dissolve">
                                      <p:cBhvr>
                                        <p:cTn id="25" dur="500"/>
                                        <p:tgtEl>
                                          <p:spTgt spid="430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6610" grpId="0"/>
      <p:bldP spid="2286621" grpId="0" bldLvl="0" animBg="1"/>
      <p:bldP spid="2286622"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87646" name="Text Box 105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87647" name="Text Box 1055"/>
          <p:cNvSpPr txBox="1"/>
          <p:nvPr/>
        </p:nvSpPr>
        <p:spPr>
          <a:xfrm>
            <a:off x="468313" y="1449388"/>
            <a:ext cx="4067175" cy="946150"/>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2.</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有舍有入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87649" name="Text Box 1057"/>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287791" name="Group 1199"/>
          <p:cNvGrpSpPr/>
          <p:nvPr/>
        </p:nvGrpSpPr>
        <p:grpSpPr>
          <a:xfrm>
            <a:off x="4859338" y="782638"/>
            <a:ext cx="4105275" cy="5346700"/>
            <a:chOff x="3061" y="493"/>
            <a:chExt cx="2586" cy="3368"/>
          </a:xfrm>
        </p:grpSpPr>
        <p:sp>
          <p:nvSpPr>
            <p:cNvPr id="44054" name="Rectangle 1182"/>
            <p:cNvSpPr/>
            <p:nvPr/>
          </p:nvSpPr>
          <p:spPr>
            <a:xfrm>
              <a:off x="3061" y="493"/>
              <a:ext cx="2586" cy="3368"/>
            </a:xfrm>
            <a:prstGeom prst="rect">
              <a:avLst/>
            </a:prstGeom>
            <a:solidFill>
              <a:srgbClr val="FFFF99"/>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44055" name="Line 1061"/>
            <p:cNvSpPr/>
            <p:nvPr/>
          </p:nvSpPr>
          <p:spPr>
            <a:xfrm>
              <a:off x="3801" y="690"/>
              <a:ext cx="1" cy="1623"/>
            </a:xfrm>
            <a:prstGeom prst="line">
              <a:avLst/>
            </a:prstGeom>
            <a:ln w="0" cap="flat" cmpd="sng">
              <a:solidFill>
                <a:srgbClr val="0000FF"/>
              </a:solidFill>
              <a:prstDash val="solid"/>
              <a:headEnd type="none" w="med" len="med"/>
              <a:tailEnd type="none" w="med" len="med"/>
            </a:ln>
          </p:spPr>
        </p:sp>
        <p:sp>
          <p:nvSpPr>
            <p:cNvPr id="44056" name="Line 1062"/>
            <p:cNvSpPr/>
            <p:nvPr/>
          </p:nvSpPr>
          <p:spPr>
            <a:xfrm>
              <a:off x="3164" y="1617"/>
              <a:ext cx="1687" cy="1"/>
            </a:xfrm>
            <a:prstGeom prst="line">
              <a:avLst/>
            </a:prstGeom>
            <a:ln w="0" cap="flat" cmpd="sng">
              <a:solidFill>
                <a:srgbClr val="0000FF"/>
              </a:solidFill>
              <a:prstDash val="solid"/>
              <a:headEnd type="none" w="med" len="med"/>
              <a:tailEnd type="none" w="med" len="med"/>
            </a:ln>
          </p:spPr>
        </p:sp>
        <p:sp>
          <p:nvSpPr>
            <p:cNvPr id="44057" name="Line 1063"/>
            <p:cNvSpPr/>
            <p:nvPr/>
          </p:nvSpPr>
          <p:spPr>
            <a:xfrm flipV="1">
              <a:off x="3223" y="771"/>
              <a:ext cx="1439" cy="1414"/>
            </a:xfrm>
            <a:prstGeom prst="line">
              <a:avLst/>
            </a:prstGeom>
            <a:ln w="12700" cap="flat" cmpd="sng">
              <a:solidFill>
                <a:srgbClr val="0000FF"/>
              </a:solidFill>
              <a:prstDash val="dash"/>
              <a:headEnd type="none" w="med" len="med"/>
              <a:tailEnd type="none" w="med" len="med"/>
            </a:ln>
          </p:spPr>
        </p:sp>
        <p:sp>
          <p:nvSpPr>
            <p:cNvPr id="44058" name="Line 1064"/>
            <p:cNvSpPr/>
            <p:nvPr/>
          </p:nvSpPr>
          <p:spPr>
            <a:xfrm flipV="1">
              <a:off x="3896" y="1430"/>
              <a:ext cx="2" cy="187"/>
            </a:xfrm>
            <a:prstGeom prst="line">
              <a:avLst/>
            </a:prstGeom>
            <a:ln w="25400" cap="flat" cmpd="sng">
              <a:solidFill>
                <a:srgbClr val="FF00FF"/>
              </a:solidFill>
              <a:prstDash val="solid"/>
              <a:headEnd type="none" w="med" len="med"/>
              <a:tailEnd type="none" w="med" len="med"/>
            </a:ln>
          </p:spPr>
        </p:sp>
        <p:sp>
          <p:nvSpPr>
            <p:cNvPr id="44059" name="Line 1065"/>
            <p:cNvSpPr/>
            <p:nvPr/>
          </p:nvSpPr>
          <p:spPr>
            <a:xfrm>
              <a:off x="3896" y="1432"/>
              <a:ext cx="188" cy="1"/>
            </a:xfrm>
            <a:prstGeom prst="line">
              <a:avLst/>
            </a:prstGeom>
            <a:ln w="25400" cap="flat" cmpd="sng">
              <a:solidFill>
                <a:srgbClr val="FF00FF"/>
              </a:solidFill>
              <a:prstDash val="solid"/>
              <a:headEnd type="none" w="med" len="med"/>
              <a:tailEnd type="none" w="med" len="med"/>
            </a:ln>
          </p:spPr>
        </p:sp>
        <p:sp>
          <p:nvSpPr>
            <p:cNvPr id="44060" name="Line 1066"/>
            <p:cNvSpPr/>
            <p:nvPr/>
          </p:nvSpPr>
          <p:spPr>
            <a:xfrm flipV="1">
              <a:off x="4084" y="1246"/>
              <a:ext cx="1" cy="186"/>
            </a:xfrm>
            <a:prstGeom prst="line">
              <a:avLst/>
            </a:prstGeom>
            <a:ln w="25400" cap="flat" cmpd="sng">
              <a:solidFill>
                <a:srgbClr val="FF00FF"/>
              </a:solidFill>
              <a:prstDash val="solid"/>
              <a:headEnd type="none" w="med" len="med"/>
              <a:tailEnd type="none" w="med" len="med"/>
            </a:ln>
          </p:spPr>
        </p:sp>
        <p:sp>
          <p:nvSpPr>
            <p:cNvPr id="44061" name="Line 1067"/>
            <p:cNvSpPr/>
            <p:nvPr/>
          </p:nvSpPr>
          <p:spPr>
            <a:xfrm>
              <a:off x="4084" y="1246"/>
              <a:ext cx="189" cy="1"/>
            </a:xfrm>
            <a:prstGeom prst="line">
              <a:avLst/>
            </a:prstGeom>
            <a:ln w="25400" cap="flat" cmpd="sng">
              <a:solidFill>
                <a:srgbClr val="FF00FF"/>
              </a:solidFill>
              <a:prstDash val="solid"/>
              <a:headEnd type="none" w="med" len="med"/>
              <a:tailEnd type="none" w="med" len="med"/>
            </a:ln>
          </p:spPr>
        </p:sp>
        <p:sp>
          <p:nvSpPr>
            <p:cNvPr id="44062" name="Line 1068"/>
            <p:cNvSpPr/>
            <p:nvPr/>
          </p:nvSpPr>
          <p:spPr>
            <a:xfrm flipV="1">
              <a:off x="4273" y="1065"/>
              <a:ext cx="2" cy="181"/>
            </a:xfrm>
            <a:prstGeom prst="line">
              <a:avLst/>
            </a:prstGeom>
            <a:ln w="25400" cap="flat" cmpd="sng">
              <a:solidFill>
                <a:srgbClr val="FF00FF"/>
              </a:solidFill>
              <a:prstDash val="solid"/>
              <a:headEnd type="none" w="med" len="med"/>
              <a:tailEnd type="none" w="med" len="med"/>
            </a:ln>
          </p:spPr>
        </p:sp>
        <p:sp>
          <p:nvSpPr>
            <p:cNvPr id="44063" name="Line 1069"/>
            <p:cNvSpPr/>
            <p:nvPr/>
          </p:nvSpPr>
          <p:spPr>
            <a:xfrm flipV="1">
              <a:off x="4462" y="876"/>
              <a:ext cx="1" cy="191"/>
            </a:xfrm>
            <a:prstGeom prst="line">
              <a:avLst/>
            </a:prstGeom>
            <a:ln w="25400" cap="flat" cmpd="sng">
              <a:solidFill>
                <a:srgbClr val="FF00FF"/>
              </a:solidFill>
              <a:prstDash val="solid"/>
              <a:headEnd type="none" w="med" len="med"/>
              <a:tailEnd type="none" w="med" len="med"/>
            </a:ln>
          </p:spPr>
        </p:sp>
        <p:sp>
          <p:nvSpPr>
            <p:cNvPr id="44064" name="Line 1070"/>
            <p:cNvSpPr/>
            <p:nvPr/>
          </p:nvSpPr>
          <p:spPr>
            <a:xfrm>
              <a:off x="4462" y="876"/>
              <a:ext cx="189" cy="1"/>
            </a:xfrm>
            <a:prstGeom prst="line">
              <a:avLst/>
            </a:prstGeom>
            <a:ln w="25400" cap="flat" cmpd="sng">
              <a:solidFill>
                <a:srgbClr val="FF00FF"/>
              </a:solidFill>
              <a:prstDash val="solid"/>
              <a:headEnd type="none" w="med" len="med"/>
              <a:tailEnd type="none" w="med" len="med"/>
            </a:ln>
          </p:spPr>
        </p:sp>
        <p:sp>
          <p:nvSpPr>
            <p:cNvPr id="44065" name="Line 1071"/>
            <p:cNvSpPr/>
            <p:nvPr/>
          </p:nvSpPr>
          <p:spPr>
            <a:xfrm>
              <a:off x="3707" y="1617"/>
              <a:ext cx="1" cy="186"/>
            </a:xfrm>
            <a:prstGeom prst="line">
              <a:avLst/>
            </a:prstGeom>
            <a:ln w="25400" cap="flat" cmpd="sng">
              <a:solidFill>
                <a:srgbClr val="FF00FF"/>
              </a:solidFill>
              <a:prstDash val="solid"/>
              <a:headEnd type="none" w="med" len="med"/>
              <a:tailEnd type="none" w="med" len="med"/>
            </a:ln>
          </p:spPr>
        </p:sp>
        <p:sp>
          <p:nvSpPr>
            <p:cNvPr id="44066" name="Line 1072"/>
            <p:cNvSpPr/>
            <p:nvPr/>
          </p:nvSpPr>
          <p:spPr>
            <a:xfrm flipH="1">
              <a:off x="3518" y="1803"/>
              <a:ext cx="189" cy="1"/>
            </a:xfrm>
            <a:prstGeom prst="line">
              <a:avLst/>
            </a:prstGeom>
            <a:ln w="25400" cap="flat" cmpd="sng">
              <a:solidFill>
                <a:srgbClr val="FF00FF"/>
              </a:solidFill>
              <a:prstDash val="solid"/>
              <a:headEnd type="none" w="med" len="med"/>
              <a:tailEnd type="none" w="med" len="med"/>
            </a:ln>
          </p:spPr>
        </p:sp>
        <p:sp>
          <p:nvSpPr>
            <p:cNvPr id="44067" name="Line 1073"/>
            <p:cNvSpPr/>
            <p:nvPr/>
          </p:nvSpPr>
          <p:spPr>
            <a:xfrm>
              <a:off x="3518" y="1803"/>
              <a:ext cx="1" cy="185"/>
            </a:xfrm>
            <a:prstGeom prst="line">
              <a:avLst/>
            </a:prstGeom>
            <a:ln w="25400" cap="flat" cmpd="sng">
              <a:solidFill>
                <a:srgbClr val="FF00FF"/>
              </a:solidFill>
              <a:prstDash val="solid"/>
              <a:headEnd type="none" w="med" len="med"/>
              <a:tailEnd type="none" w="med" len="med"/>
            </a:ln>
          </p:spPr>
        </p:sp>
        <p:sp>
          <p:nvSpPr>
            <p:cNvPr id="44068" name="Line 1074"/>
            <p:cNvSpPr/>
            <p:nvPr/>
          </p:nvSpPr>
          <p:spPr>
            <a:xfrm flipH="1">
              <a:off x="3329" y="1988"/>
              <a:ext cx="189" cy="1"/>
            </a:xfrm>
            <a:prstGeom prst="line">
              <a:avLst/>
            </a:prstGeom>
            <a:ln w="25400" cap="flat" cmpd="sng">
              <a:solidFill>
                <a:srgbClr val="FF00FF"/>
              </a:solidFill>
              <a:prstDash val="solid"/>
              <a:headEnd type="none" w="med" len="med"/>
              <a:tailEnd type="none" w="med" len="med"/>
            </a:ln>
          </p:spPr>
        </p:sp>
        <p:sp>
          <p:nvSpPr>
            <p:cNvPr id="44069" name="Line 1075"/>
            <p:cNvSpPr/>
            <p:nvPr/>
          </p:nvSpPr>
          <p:spPr>
            <a:xfrm>
              <a:off x="3329" y="1988"/>
              <a:ext cx="1" cy="197"/>
            </a:xfrm>
            <a:prstGeom prst="line">
              <a:avLst/>
            </a:prstGeom>
            <a:ln w="25400" cap="flat" cmpd="sng">
              <a:solidFill>
                <a:srgbClr val="FF00FF"/>
              </a:solidFill>
              <a:prstDash val="solid"/>
              <a:headEnd type="none" w="med" len="med"/>
              <a:tailEnd type="none" w="med" len="med"/>
            </a:ln>
          </p:spPr>
        </p:sp>
        <p:sp>
          <p:nvSpPr>
            <p:cNvPr id="44070" name="Line 1076"/>
            <p:cNvSpPr/>
            <p:nvPr/>
          </p:nvSpPr>
          <p:spPr>
            <a:xfrm>
              <a:off x="3990" y="1582"/>
              <a:ext cx="1" cy="35"/>
            </a:xfrm>
            <a:prstGeom prst="line">
              <a:avLst/>
            </a:prstGeom>
            <a:ln w="0" cap="flat" cmpd="sng">
              <a:solidFill>
                <a:srgbClr val="0000FF"/>
              </a:solidFill>
              <a:prstDash val="solid"/>
              <a:headEnd type="none" w="med" len="med"/>
              <a:tailEnd type="none" w="med" len="med"/>
            </a:ln>
          </p:spPr>
        </p:sp>
        <p:sp>
          <p:nvSpPr>
            <p:cNvPr id="44071" name="Line 1077"/>
            <p:cNvSpPr/>
            <p:nvPr/>
          </p:nvSpPr>
          <p:spPr>
            <a:xfrm>
              <a:off x="4179" y="1582"/>
              <a:ext cx="1" cy="35"/>
            </a:xfrm>
            <a:prstGeom prst="line">
              <a:avLst/>
            </a:prstGeom>
            <a:ln w="0" cap="flat" cmpd="sng">
              <a:solidFill>
                <a:srgbClr val="0000FF"/>
              </a:solidFill>
              <a:prstDash val="solid"/>
              <a:headEnd type="none" w="med" len="med"/>
              <a:tailEnd type="none" w="med" len="med"/>
            </a:ln>
          </p:spPr>
        </p:sp>
        <p:sp>
          <p:nvSpPr>
            <p:cNvPr id="44072" name="Line 1078"/>
            <p:cNvSpPr/>
            <p:nvPr/>
          </p:nvSpPr>
          <p:spPr>
            <a:xfrm>
              <a:off x="4367" y="1582"/>
              <a:ext cx="1" cy="35"/>
            </a:xfrm>
            <a:prstGeom prst="line">
              <a:avLst/>
            </a:prstGeom>
            <a:ln w="0" cap="flat" cmpd="sng">
              <a:solidFill>
                <a:srgbClr val="0000FF"/>
              </a:solidFill>
              <a:prstDash val="solid"/>
              <a:headEnd type="none" w="med" len="med"/>
              <a:tailEnd type="none" w="med" len="med"/>
            </a:ln>
          </p:spPr>
        </p:sp>
        <p:sp>
          <p:nvSpPr>
            <p:cNvPr id="44073" name="Line 1079"/>
            <p:cNvSpPr/>
            <p:nvPr/>
          </p:nvSpPr>
          <p:spPr>
            <a:xfrm>
              <a:off x="3801" y="1803"/>
              <a:ext cx="36" cy="1"/>
            </a:xfrm>
            <a:prstGeom prst="line">
              <a:avLst/>
            </a:prstGeom>
            <a:ln w="0" cap="flat" cmpd="sng">
              <a:solidFill>
                <a:srgbClr val="0000FF"/>
              </a:solidFill>
              <a:prstDash val="solid"/>
              <a:headEnd type="none" w="med" len="med"/>
              <a:tailEnd type="none" w="med" len="med"/>
            </a:ln>
          </p:spPr>
        </p:sp>
        <p:sp>
          <p:nvSpPr>
            <p:cNvPr id="44074" name="Line 1080"/>
            <p:cNvSpPr/>
            <p:nvPr/>
          </p:nvSpPr>
          <p:spPr>
            <a:xfrm>
              <a:off x="3801" y="1988"/>
              <a:ext cx="36" cy="1"/>
            </a:xfrm>
            <a:prstGeom prst="line">
              <a:avLst/>
            </a:prstGeom>
            <a:ln w="0" cap="flat" cmpd="sng">
              <a:solidFill>
                <a:srgbClr val="0000FF"/>
              </a:solidFill>
              <a:prstDash val="solid"/>
              <a:headEnd type="none" w="med" len="med"/>
              <a:tailEnd type="none" w="med" len="med"/>
            </a:ln>
          </p:spPr>
        </p:sp>
        <p:sp>
          <p:nvSpPr>
            <p:cNvPr id="44075" name="Line 1081"/>
            <p:cNvSpPr/>
            <p:nvPr/>
          </p:nvSpPr>
          <p:spPr>
            <a:xfrm>
              <a:off x="3801" y="1432"/>
              <a:ext cx="36" cy="1"/>
            </a:xfrm>
            <a:prstGeom prst="line">
              <a:avLst/>
            </a:prstGeom>
            <a:ln w="0" cap="flat" cmpd="sng">
              <a:solidFill>
                <a:srgbClr val="0000FF"/>
              </a:solidFill>
              <a:prstDash val="solid"/>
              <a:headEnd type="none" w="med" len="med"/>
              <a:tailEnd type="none" w="med" len="med"/>
            </a:ln>
          </p:spPr>
        </p:sp>
        <p:sp>
          <p:nvSpPr>
            <p:cNvPr id="44076" name="Line 1082"/>
            <p:cNvSpPr/>
            <p:nvPr/>
          </p:nvSpPr>
          <p:spPr>
            <a:xfrm>
              <a:off x="3801" y="1246"/>
              <a:ext cx="36" cy="1"/>
            </a:xfrm>
            <a:prstGeom prst="line">
              <a:avLst/>
            </a:prstGeom>
            <a:ln w="0" cap="flat" cmpd="sng">
              <a:solidFill>
                <a:srgbClr val="0000FF"/>
              </a:solidFill>
              <a:prstDash val="solid"/>
              <a:headEnd type="none" w="med" len="med"/>
              <a:tailEnd type="none" w="med" len="med"/>
            </a:ln>
          </p:spPr>
        </p:sp>
        <p:sp>
          <p:nvSpPr>
            <p:cNvPr id="44077" name="Line 1083"/>
            <p:cNvSpPr/>
            <p:nvPr/>
          </p:nvSpPr>
          <p:spPr>
            <a:xfrm>
              <a:off x="3801" y="1061"/>
              <a:ext cx="36" cy="1"/>
            </a:xfrm>
            <a:prstGeom prst="line">
              <a:avLst/>
            </a:prstGeom>
            <a:ln w="0" cap="flat" cmpd="sng">
              <a:solidFill>
                <a:srgbClr val="0000FF"/>
              </a:solidFill>
              <a:prstDash val="solid"/>
              <a:headEnd type="none" w="med" len="med"/>
              <a:tailEnd type="none" w="med" len="med"/>
            </a:ln>
          </p:spPr>
        </p:sp>
        <p:sp>
          <p:nvSpPr>
            <p:cNvPr id="44078" name="Line 1084"/>
            <p:cNvSpPr/>
            <p:nvPr/>
          </p:nvSpPr>
          <p:spPr>
            <a:xfrm>
              <a:off x="3612" y="1582"/>
              <a:ext cx="1" cy="35"/>
            </a:xfrm>
            <a:prstGeom prst="line">
              <a:avLst/>
            </a:prstGeom>
            <a:ln w="0" cap="flat" cmpd="sng">
              <a:solidFill>
                <a:srgbClr val="0000FF"/>
              </a:solidFill>
              <a:prstDash val="solid"/>
              <a:headEnd type="none" w="med" len="med"/>
              <a:tailEnd type="none" w="med" len="med"/>
            </a:ln>
          </p:spPr>
        </p:sp>
        <p:sp>
          <p:nvSpPr>
            <p:cNvPr id="44079" name="Line 1085"/>
            <p:cNvSpPr/>
            <p:nvPr/>
          </p:nvSpPr>
          <p:spPr>
            <a:xfrm>
              <a:off x="3424" y="1582"/>
              <a:ext cx="1" cy="35"/>
            </a:xfrm>
            <a:prstGeom prst="line">
              <a:avLst/>
            </a:prstGeom>
            <a:ln w="0" cap="flat" cmpd="sng">
              <a:solidFill>
                <a:srgbClr val="0000FF"/>
              </a:solidFill>
              <a:prstDash val="solid"/>
              <a:headEnd type="none" w="med" len="med"/>
              <a:tailEnd type="none" w="med" len="med"/>
            </a:ln>
          </p:spPr>
        </p:sp>
        <p:grpSp>
          <p:nvGrpSpPr>
            <p:cNvPr id="44080" name="Group 1088"/>
            <p:cNvGrpSpPr/>
            <p:nvPr/>
          </p:nvGrpSpPr>
          <p:grpSpPr>
            <a:xfrm>
              <a:off x="3857" y="1629"/>
              <a:ext cx="99" cy="136"/>
              <a:chOff x="3857" y="1755"/>
              <a:chExt cx="99" cy="136"/>
            </a:xfrm>
          </p:grpSpPr>
          <p:sp>
            <p:nvSpPr>
              <p:cNvPr id="44173" name="Rectangle 1086"/>
              <p:cNvSpPr/>
              <p:nvPr/>
            </p:nvSpPr>
            <p:spPr>
              <a:xfrm>
                <a:off x="3857" y="1755"/>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174" name="Rectangle 1087"/>
              <p:cNvSpPr/>
              <p:nvPr/>
            </p:nvSpPr>
            <p:spPr>
              <a:xfrm>
                <a:off x="3894" y="1795"/>
                <a:ext cx="62"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grpSp>
        <p:grpSp>
          <p:nvGrpSpPr>
            <p:cNvPr id="44081" name="Group 1091"/>
            <p:cNvGrpSpPr/>
            <p:nvPr/>
          </p:nvGrpSpPr>
          <p:grpSpPr>
            <a:xfrm>
              <a:off x="3657" y="1461"/>
              <a:ext cx="128" cy="136"/>
              <a:chOff x="3657" y="1587"/>
              <a:chExt cx="128" cy="136"/>
            </a:xfrm>
          </p:grpSpPr>
          <p:sp>
            <p:nvSpPr>
              <p:cNvPr id="44171" name="Rectangle 1089"/>
              <p:cNvSpPr/>
              <p:nvPr/>
            </p:nvSpPr>
            <p:spPr>
              <a:xfrm>
                <a:off x="3657" y="1587"/>
                <a:ext cx="80"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172" name="Rectangle 1090"/>
              <p:cNvSpPr/>
              <p:nvPr/>
            </p:nvSpPr>
            <p:spPr>
              <a:xfrm>
                <a:off x="3723" y="1627"/>
                <a:ext cx="62"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grpSp>
        <p:sp>
          <p:nvSpPr>
            <p:cNvPr id="44082" name="Rectangle 1092"/>
            <p:cNvSpPr/>
            <p:nvPr/>
          </p:nvSpPr>
          <p:spPr>
            <a:xfrm>
              <a:off x="3845" y="1316"/>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083" name="Rectangle 1093"/>
            <p:cNvSpPr/>
            <p:nvPr/>
          </p:nvSpPr>
          <p:spPr>
            <a:xfrm>
              <a:off x="3899" y="1745"/>
              <a:ext cx="80"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084" name="Rectangle 1094"/>
            <p:cNvSpPr/>
            <p:nvPr/>
          </p:nvSpPr>
          <p:spPr>
            <a:xfrm>
              <a:off x="4395" y="1588"/>
              <a:ext cx="228"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085" name="Line 1095"/>
            <p:cNvSpPr/>
            <p:nvPr/>
          </p:nvSpPr>
          <p:spPr>
            <a:xfrm>
              <a:off x="3801" y="2173"/>
              <a:ext cx="36" cy="1"/>
            </a:xfrm>
            <a:prstGeom prst="line">
              <a:avLst/>
            </a:prstGeom>
            <a:ln w="0" cap="flat" cmpd="sng">
              <a:solidFill>
                <a:srgbClr val="0000FF"/>
              </a:solidFill>
              <a:prstDash val="solid"/>
              <a:headEnd type="none" w="med" len="med"/>
              <a:tailEnd type="none" w="med" len="med"/>
            </a:ln>
          </p:spPr>
        </p:sp>
        <p:sp>
          <p:nvSpPr>
            <p:cNvPr id="44086" name="Rectangle 1096"/>
            <p:cNvSpPr/>
            <p:nvPr/>
          </p:nvSpPr>
          <p:spPr>
            <a:xfrm>
              <a:off x="3133" y="1582"/>
              <a:ext cx="228"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087" name="Rectangle 1097"/>
            <p:cNvSpPr/>
            <p:nvPr/>
          </p:nvSpPr>
          <p:spPr>
            <a:xfrm>
              <a:off x="3992" y="1635"/>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nvGrpSpPr>
            <p:cNvPr id="44088" name="Group 1100"/>
            <p:cNvGrpSpPr/>
            <p:nvPr/>
          </p:nvGrpSpPr>
          <p:grpSpPr>
            <a:xfrm>
              <a:off x="4153" y="1635"/>
              <a:ext cx="94" cy="125"/>
              <a:chOff x="4153" y="1761"/>
              <a:chExt cx="94" cy="125"/>
            </a:xfrm>
          </p:grpSpPr>
          <p:sp>
            <p:nvSpPr>
              <p:cNvPr id="44169" name="Rectangle 1098"/>
              <p:cNvSpPr/>
              <p:nvPr/>
            </p:nvSpPr>
            <p:spPr>
              <a:xfrm>
                <a:off x="4153" y="1790"/>
                <a:ext cx="40"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44170" name="Rectangle 1099"/>
              <p:cNvSpPr/>
              <p:nvPr/>
            </p:nvSpPr>
            <p:spPr>
              <a:xfrm>
                <a:off x="4199" y="1761"/>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sp>
          <p:nvSpPr>
            <p:cNvPr id="44089" name="Line 1101"/>
            <p:cNvSpPr/>
            <p:nvPr/>
          </p:nvSpPr>
          <p:spPr>
            <a:xfrm>
              <a:off x="4556" y="1582"/>
              <a:ext cx="1" cy="35"/>
            </a:xfrm>
            <a:prstGeom prst="line">
              <a:avLst/>
            </a:prstGeom>
            <a:ln w="0" cap="flat" cmpd="sng">
              <a:solidFill>
                <a:srgbClr val="0000FF"/>
              </a:solidFill>
              <a:prstDash val="solid"/>
              <a:headEnd type="none" w="med" len="med"/>
              <a:tailEnd type="none" w="med" len="med"/>
            </a:ln>
          </p:spPr>
        </p:sp>
        <p:sp>
          <p:nvSpPr>
            <p:cNvPr id="44090" name="Line 1102"/>
            <p:cNvSpPr/>
            <p:nvPr/>
          </p:nvSpPr>
          <p:spPr>
            <a:xfrm>
              <a:off x="3235" y="1582"/>
              <a:ext cx="1" cy="35"/>
            </a:xfrm>
            <a:prstGeom prst="line">
              <a:avLst/>
            </a:prstGeom>
            <a:ln w="0" cap="flat" cmpd="sng">
              <a:solidFill>
                <a:srgbClr val="0000FF"/>
              </a:solidFill>
              <a:prstDash val="solid"/>
              <a:headEnd type="none" w="med" len="med"/>
              <a:tailEnd type="none" w="med" len="med"/>
            </a:ln>
          </p:spPr>
        </p:sp>
        <p:sp>
          <p:nvSpPr>
            <p:cNvPr id="44091" name="Rectangle 1103"/>
            <p:cNvSpPr/>
            <p:nvPr/>
          </p:nvSpPr>
          <p:spPr>
            <a:xfrm>
              <a:off x="3563" y="1623"/>
              <a:ext cx="80"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nvGrpSpPr>
            <p:cNvPr id="44092" name="Group 1107"/>
            <p:cNvGrpSpPr/>
            <p:nvPr/>
          </p:nvGrpSpPr>
          <p:grpSpPr>
            <a:xfrm>
              <a:off x="3727" y="1959"/>
              <a:ext cx="76" cy="298"/>
              <a:chOff x="3727" y="2085"/>
              <a:chExt cx="76" cy="298"/>
            </a:xfrm>
          </p:grpSpPr>
          <p:sp>
            <p:nvSpPr>
              <p:cNvPr id="44166" name="Rectangle 1104"/>
              <p:cNvSpPr/>
              <p:nvPr/>
            </p:nvSpPr>
            <p:spPr>
              <a:xfrm>
                <a:off x="3727" y="2085"/>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167" name="Rectangle 1105"/>
              <p:cNvSpPr/>
              <p:nvPr/>
            </p:nvSpPr>
            <p:spPr>
              <a:xfrm>
                <a:off x="3727" y="2143"/>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168" name="Rectangle 1106"/>
              <p:cNvSpPr/>
              <p:nvPr/>
            </p:nvSpPr>
            <p:spPr>
              <a:xfrm>
                <a:off x="3727" y="2201"/>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grpSp>
        <p:grpSp>
          <p:nvGrpSpPr>
            <p:cNvPr id="44093" name="Group 1111"/>
            <p:cNvGrpSpPr/>
            <p:nvPr/>
          </p:nvGrpSpPr>
          <p:grpSpPr>
            <a:xfrm>
              <a:off x="3928" y="852"/>
              <a:ext cx="76" cy="298"/>
              <a:chOff x="3928" y="978"/>
              <a:chExt cx="76" cy="298"/>
            </a:xfrm>
          </p:grpSpPr>
          <p:sp>
            <p:nvSpPr>
              <p:cNvPr id="44163" name="Rectangle 1108"/>
              <p:cNvSpPr/>
              <p:nvPr/>
            </p:nvSpPr>
            <p:spPr>
              <a:xfrm>
                <a:off x="3928" y="978"/>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164" name="Rectangle 1109"/>
              <p:cNvSpPr/>
              <p:nvPr/>
            </p:nvSpPr>
            <p:spPr>
              <a:xfrm>
                <a:off x="3928" y="1036"/>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sp>
            <p:nvSpPr>
              <p:cNvPr id="44165" name="Rectangle 1110"/>
              <p:cNvSpPr/>
              <p:nvPr/>
            </p:nvSpPr>
            <p:spPr>
              <a:xfrm>
                <a:off x="3928" y="1094"/>
                <a:ext cx="76" cy="182"/>
              </a:xfrm>
              <a:prstGeom prst="rect">
                <a:avLst/>
              </a:prstGeom>
              <a:noFill/>
              <a:ln w="9525">
                <a:noFill/>
              </a:ln>
            </p:spPr>
            <p:txBody>
              <a:bodyPr wrap="none" lIns="0" tIns="0" rIns="0" bIns="0">
                <a:spAutoFit/>
              </a:bodyPr>
              <a:p>
                <a:pPr algn="ctr" eaLnBrk="1" hangingPunct="1"/>
                <a:r>
                  <a:rPr lang="en-US" altLang="zh-CN" sz="1900" b="0">
                    <a:solidFill>
                      <a:srgbClr val="0000FF"/>
                    </a:solidFill>
                    <a:latin typeface="宋体" panose="02010600030101010101" pitchFamily="2" charset="-122"/>
                    <a:ea typeface="宋体" panose="02010600030101010101" pitchFamily="2" charset="-122"/>
                  </a:rPr>
                  <a:t>.</a:t>
                </a:r>
                <a:endParaRPr lang="en-US" altLang="zh-CN" b="1">
                  <a:solidFill>
                    <a:srgbClr val="333399"/>
                  </a:solidFill>
                  <a:latin typeface="楷体_GB2312" pitchFamily="49" charset="-122"/>
                </a:endParaRPr>
              </a:p>
            </p:txBody>
          </p:sp>
        </p:grpSp>
        <p:sp>
          <p:nvSpPr>
            <p:cNvPr id="44094" name="Line 1112"/>
            <p:cNvSpPr/>
            <p:nvPr/>
          </p:nvSpPr>
          <p:spPr>
            <a:xfrm>
              <a:off x="3141" y="2780"/>
              <a:ext cx="1863" cy="1"/>
            </a:xfrm>
            <a:prstGeom prst="line">
              <a:avLst/>
            </a:prstGeom>
            <a:ln w="0" cap="flat" cmpd="sng">
              <a:solidFill>
                <a:srgbClr val="0000FF"/>
              </a:solidFill>
              <a:prstDash val="solid"/>
              <a:headEnd type="none" w="med" len="med"/>
              <a:tailEnd type="none" w="med" len="med"/>
            </a:ln>
          </p:spPr>
        </p:sp>
        <p:sp>
          <p:nvSpPr>
            <p:cNvPr id="44095" name="Line 1113"/>
            <p:cNvSpPr/>
            <p:nvPr/>
          </p:nvSpPr>
          <p:spPr>
            <a:xfrm>
              <a:off x="3801" y="2432"/>
              <a:ext cx="1" cy="568"/>
            </a:xfrm>
            <a:prstGeom prst="line">
              <a:avLst/>
            </a:prstGeom>
            <a:ln w="0" cap="flat" cmpd="sng">
              <a:solidFill>
                <a:srgbClr val="0000FF"/>
              </a:solidFill>
              <a:prstDash val="solid"/>
              <a:headEnd type="none" w="med" len="med"/>
              <a:tailEnd type="none" w="med" len="med"/>
            </a:ln>
          </p:spPr>
        </p:sp>
        <p:sp>
          <p:nvSpPr>
            <p:cNvPr id="44096" name="Line 1114"/>
            <p:cNvSpPr/>
            <p:nvPr/>
          </p:nvSpPr>
          <p:spPr>
            <a:xfrm>
              <a:off x="3329" y="2687"/>
              <a:ext cx="2" cy="189"/>
            </a:xfrm>
            <a:prstGeom prst="line">
              <a:avLst/>
            </a:prstGeom>
            <a:ln w="25400" cap="flat" cmpd="sng">
              <a:solidFill>
                <a:srgbClr val="FF00FF"/>
              </a:solidFill>
              <a:prstDash val="solid"/>
              <a:headEnd type="none" w="med" len="med"/>
              <a:tailEnd type="none" w="med" len="med"/>
            </a:ln>
          </p:spPr>
        </p:sp>
        <p:sp>
          <p:nvSpPr>
            <p:cNvPr id="44097" name="Line 1115"/>
            <p:cNvSpPr/>
            <p:nvPr/>
          </p:nvSpPr>
          <p:spPr>
            <a:xfrm flipV="1">
              <a:off x="3518" y="2687"/>
              <a:ext cx="1" cy="185"/>
            </a:xfrm>
            <a:prstGeom prst="line">
              <a:avLst/>
            </a:prstGeom>
            <a:ln w="25400" cap="flat" cmpd="sng">
              <a:solidFill>
                <a:srgbClr val="FF00FF"/>
              </a:solidFill>
              <a:prstDash val="solid"/>
              <a:headEnd type="none" w="med" len="med"/>
              <a:tailEnd type="none" w="med" len="med"/>
            </a:ln>
          </p:spPr>
        </p:sp>
        <p:sp>
          <p:nvSpPr>
            <p:cNvPr id="44098" name="Line 1116"/>
            <p:cNvSpPr/>
            <p:nvPr/>
          </p:nvSpPr>
          <p:spPr>
            <a:xfrm flipV="1">
              <a:off x="3707" y="2687"/>
              <a:ext cx="1" cy="185"/>
            </a:xfrm>
            <a:prstGeom prst="line">
              <a:avLst/>
            </a:prstGeom>
            <a:ln w="25400" cap="flat" cmpd="sng">
              <a:solidFill>
                <a:srgbClr val="FF00FF"/>
              </a:solidFill>
              <a:prstDash val="solid"/>
              <a:headEnd type="none" w="med" len="med"/>
              <a:tailEnd type="none" w="med" len="med"/>
            </a:ln>
          </p:spPr>
        </p:sp>
        <p:sp>
          <p:nvSpPr>
            <p:cNvPr id="44099" name="Line 1117"/>
            <p:cNvSpPr/>
            <p:nvPr/>
          </p:nvSpPr>
          <p:spPr>
            <a:xfrm flipV="1">
              <a:off x="3896" y="2687"/>
              <a:ext cx="1" cy="185"/>
            </a:xfrm>
            <a:prstGeom prst="line">
              <a:avLst/>
            </a:prstGeom>
            <a:ln w="25400" cap="flat" cmpd="sng">
              <a:solidFill>
                <a:srgbClr val="FF00FF"/>
              </a:solidFill>
              <a:prstDash val="solid"/>
              <a:headEnd type="none" w="med" len="med"/>
              <a:tailEnd type="none" w="med" len="med"/>
            </a:ln>
          </p:spPr>
        </p:sp>
        <p:sp>
          <p:nvSpPr>
            <p:cNvPr id="44100" name="Line 1118"/>
            <p:cNvSpPr/>
            <p:nvPr/>
          </p:nvSpPr>
          <p:spPr>
            <a:xfrm flipV="1">
              <a:off x="4084" y="2687"/>
              <a:ext cx="1" cy="185"/>
            </a:xfrm>
            <a:prstGeom prst="line">
              <a:avLst/>
            </a:prstGeom>
            <a:ln w="25400" cap="flat" cmpd="sng">
              <a:solidFill>
                <a:srgbClr val="FF00FF"/>
              </a:solidFill>
              <a:prstDash val="solid"/>
              <a:headEnd type="none" w="med" len="med"/>
              <a:tailEnd type="none" w="med" len="med"/>
            </a:ln>
          </p:spPr>
        </p:sp>
        <p:sp>
          <p:nvSpPr>
            <p:cNvPr id="44101" name="Line 1119"/>
            <p:cNvSpPr/>
            <p:nvPr/>
          </p:nvSpPr>
          <p:spPr>
            <a:xfrm flipV="1">
              <a:off x="4273" y="2687"/>
              <a:ext cx="1" cy="185"/>
            </a:xfrm>
            <a:prstGeom prst="line">
              <a:avLst/>
            </a:prstGeom>
            <a:ln w="25400" cap="flat" cmpd="sng">
              <a:solidFill>
                <a:srgbClr val="FF00FF"/>
              </a:solidFill>
              <a:prstDash val="solid"/>
              <a:headEnd type="none" w="med" len="med"/>
              <a:tailEnd type="none" w="med" len="med"/>
            </a:ln>
          </p:spPr>
        </p:sp>
        <p:sp>
          <p:nvSpPr>
            <p:cNvPr id="44102" name="Line 1120"/>
            <p:cNvSpPr/>
            <p:nvPr/>
          </p:nvSpPr>
          <p:spPr>
            <a:xfrm flipV="1">
              <a:off x="4462" y="2687"/>
              <a:ext cx="1" cy="185"/>
            </a:xfrm>
            <a:prstGeom prst="line">
              <a:avLst/>
            </a:prstGeom>
            <a:ln w="25400" cap="flat" cmpd="sng">
              <a:solidFill>
                <a:srgbClr val="FF00FF"/>
              </a:solidFill>
              <a:prstDash val="solid"/>
              <a:headEnd type="none" w="med" len="med"/>
              <a:tailEnd type="none" w="med" len="med"/>
            </a:ln>
          </p:spPr>
        </p:sp>
        <p:sp>
          <p:nvSpPr>
            <p:cNvPr id="44103" name="Line 1121"/>
            <p:cNvSpPr/>
            <p:nvPr/>
          </p:nvSpPr>
          <p:spPr>
            <a:xfrm>
              <a:off x="4462" y="2687"/>
              <a:ext cx="283" cy="1"/>
            </a:xfrm>
            <a:prstGeom prst="line">
              <a:avLst/>
            </a:prstGeom>
            <a:ln w="0" cap="flat" cmpd="sng">
              <a:solidFill>
                <a:srgbClr val="0000FF"/>
              </a:solidFill>
              <a:prstDash val="sysDot"/>
              <a:headEnd type="none" w="med" len="med"/>
              <a:tailEnd type="none" w="med" len="med"/>
            </a:ln>
          </p:spPr>
        </p:sp>
        <p:sp>
          <p:nvSpPr>
            <p:cNvPr id="44104" name="Line 1122"/>
            <p:cNvSpPr/>
            <p:nvPr/>
          </p:nvSpPr>
          <p:spPr>
            <a:xfrm flipV="1">
              <a:off x="4474" y="2871"/>
              <a:ext cx="253" cy="1"/>
            </a:xfrm>
            <a:prstGeom prst="line">
              <a:avLst/>
            </a:prstGeom>
            <a:ln w="0" cap="flat" cmpd="sng">
              <a:solidFill>
                <a:srgbClr val="0000FF"/>
              </a:solidFill>
              <a:prstDash val="sysDot"/>
              <a:headEnd type="none" w="med" len="med"/>
              <a:tailEnd type="none" w="med" len="med"/>
            </a:ln>
          </p:spPr>
        </p:sp>
        <p:sp>
          <p:nvSpPr>
            <p:cNvPr id="44105" name="Rectangle 1123"/>
            <p:cNvSpPr/>
            <p:nvPr/>
          </p:nvSpPr>
          <p:spPr>
            <a:xfrm>
              <a:off x="4457" y="2079"/>
              <a:ext cx="169" cy="182"/>
            </a:xfrm>
            <a:prstGeom prst="rect">
              <a:avLst/>
            </a:prstGeom>
            <a:noFill/>
            <a:ln w="9525">
              <a:noFill/>
            </a:ln>
          </p:spPr>
          <p:txBody>
            <a:bodyPr wrap="none" lIns="0" tIns="0" rIns="0" bIns="0">
              <a:spAutoFit/>
            </a:bodyPr>
            <a:p>
              <a:pPr algn="ctr" eaLnBrk="1" hangingPunct="1"/>
              <a:r>
                <a:rPr lang="en-US" altLang="zh-CN" sz="1900" b="0">
                  <a:solidFill>
                    <a:srgbClr val="FF0000"/>
                  </a:solidFill>
                  <a:latin typeface="Times New Roman" panose="02020603050405020304" pitchFamily="18" charset="0"/>
                </a:rPr>
                <a:t>(a)</a:t>
              </a:r>
              <a:endParaRPr lang="en-US" altLang="zh-CN" b="1">
                <a:solidFill>
                  <a:srgbClr val="FF0000"/>
                </a:solidFill>
                <a:latin typeface="楷体_GB2312" pitchFamily="49" charset="-122"/>
              </a:endParaRPr>
            </a:p>
          </p:txBody>
        </p:sp>
        <p:sp>
          <p:nvSpPr>
            <p:cNvPr id="44106" name="Rectangle 1124"/>
            <p:cNvSpPr/>
            <p:nvPr/>
          </p:nvSpPr>
          <p:spPr>
            <a:xfrm>
              <a:off x="4446" y="3044"/>
              <a:ext cx="178" cy="182"/>
            </a:xfrm>
            <a:prstGeom prst="rect">
              <a:avLst/>
            </a:prstGeom>
            <a:noFill/>
            <a:ln w="9525">
              <a:noFill/>
            </a:ln>
          </p:spPr>
          <p:txBody>
            <a:bodyPr wrap="none" lIns="0" tIns="0" rIns="0" bIns="0">
              <a:spAutoFit/>
            </a:bodyPr>
            <a:p>
              <a:pPr algn="ctr" eaLnBrk="1" hangingPunct="1"/>
              <a:r>
                <a:rPr lang="en-US" altLang="zh-CN" sz="1900" b="0">
                  <a:solidFill>
                    <a:srgbClr val="FF0000"/>
                  </a:solidFill>
                  <a:latin typeface="Times New Roman" panose="02020603050405020304" pitchFamily="18" charset="0"/>
                </a:rPr>
                <a:t>(b)</a:t>
              </a:r>
              <a:endParaRPr lang="en-US" altLang="zh-CN" b="1">
                <a:solidFill>
                  <a:srgbClr val="FF0000"/>
                </a:solidFill>
                <a:latin typeface="楷体_GB2312" pitchFamily="49" charset="-122"/>
              </a:endParaRPr>
            </a:p>
          </p:txBody>
        </p:sp>
        <p:sp>
          <p:nvSpPr>
            <p:cNvPr id="44107" name="Rectangle 1125"/>
            <p:cNvSpPr/>
            <p:nvPr/>
          </p:nvSpPr>
          <p:spPr>
            <a:xfrm>
              <a:off x="4975" y="1496"/>
              <a:ext cx="128"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 </a:t>
              </a:r>
              <a:endParaRPr lang="en-US" altLang="zh-CN" b="1">
                <a:solidFill>
                  <a:srgbClr val="FF0000"/>
                </a:solidFill>
                <a:latin typeface="楷体_GB2312" pitchFamily="49" charset="-122"/>
              </a:endParaRPr>
            </a:p>
          </p:txBody>
        </p:sp>
        <p:sp>
          <p:nvSpPr>
            <p:cNvPr id="44108" name="Rectangle 1126"/>
            <p:cNvSpPr/>
            <p:nvPr/>
          </p:nvSpPr>
          <p:spPr>
            <a:xfrm>
              <a:off x="5083" y="1536"/>
              <a:ext cx="310" cy="154"/>
            </a:xfrm>
            <a:prstGeom prst="rect">
              <a:avLst/>
            </a:prstGeom>
            <a:noFill/>
            <a:ln w="9525">
              <a:noFill/>
            </a:ln>
          </p:spPr>
          <p:txBody>
            <a:bodyPr wrap="none" lIns="0" tIns="0" rIns="0" bIns="0">
              <a:spAutoFit/>
            </a:bodyPr>
            <a:p>
              <a:pPr algn="ctr" eaLnBrk="1" hangingPunct="1"/>
              <a:r>
                <a:rPr lang="en-US" altLang="zh-CN" sz="16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4109" name="Rectangle 1127"/>
            <p:cNvSpPr/>
            <p:nvPr/>
          </p:nvSpPr>
          <p:spPr>
            <a:xfrm>
              <a:off x="5141" y="1548"/>
              <a:ext cx="135" cy="154"/>
            </a:xfrm>
            <a:prstGeom prst="rect">
              <a:avLst/>
            </a:prstGeom>
            <a:noFill/>
            <a:ln w="9525">
              <a:noFill/>
            </a:ln>
          </p:spPr>
          <p:txBody>
            <a:bodyPr wrap="none" lIns="0" tIns="0" rIns="0" bIns="0">
              <a:spAutoFit/>
            </a:bodyPr>
            <a:p>
              <a:pPr algn="ctr" eaLnBrk="1" hangingPunct="1"/>
              <a:r>
                <a:rPr lang="en-US" altLang="zh-CN" sz="16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4110" name="Rectangle 1128"/>
            <p:cNvSpPr/>
            <p:nvPr/>
          </p:nvSpPr>
          <p:spPr>
            <a:xfrm>
              <a:off x="3399" y="692"/>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q</a:t>
              </a:r>
              <a:endParaRPr lang="en-US" altLang="zh-CN" b="1">
                <a:solidFill>
                  <a:srgbClr val="FF0000"/>
                </a:solidFill>
                <a:latin typeface="楷体_GB2312" pitchFamily="49" charset="-122"/>
              </a:endParaRPr>
            </a:p>
          </p:txBody>
        </p:sp>
        <p:sp>
          <p:nvSpPr>
            <p:cNvPr id="44111" name="Rectangle 1129"/>
            <p:cNvSpPr/>
            <p:nvPr/>
          </p:nvSpPr>
          <p:spPr>
            <a:xfrm>
              <a:off x="3341" y="597"/>
              <a:ext cx="82"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4112" name="Rectangle 1130"/>
            <p:cNvSpPr/>
            <p:nvPr/>
          </p:nvSpPr>
          <p:spPr>
            <a:xfrm>
              <a:off x="3453" y="634"/>
              <a:ext cx="310" cy="154"/>
            </a:xfrm>
            <a:prstGeom prst="rect">
              <a:avLst/>
            </a:prstGeom>
            <a:noFill/>
            <a:ln w="9525">
              <a:noFill/>
            </a:ln>
          </p:spPr>
          <p:txBody>
            <a:bodyPr wrap="none" lIns="0" tIns="0" rIns="0" bIns="0">
              <a:spAutoFit/>
            </a:bodyPr>
            <a:p>
              <a:pPr algn="ctr" eaLnBrk="1" hangingPunct="1"/>
              <a:r>
                <a:rPr lang="en-US" altLang="zh-CN" sz="16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4113" name="Rectangle 1131"/>
            <p:cNvSpPr/>
            <p:nvPr/>
          </p:nvSpPr>
          <p:spPr>
            <a:xfrm>
              <a:off x="3513" y="650"/>
              <a:ext cx="135" cy="154"/>
            </a:xfrm>
            <a:prstGeom prst="rect">
              <a:avLst/>
            </a:prstGeom>
            <a:noFill/>
            <a:ln w="9525">
              <a:noFill/>
            </a:ln>
          </p:spPr>
          <p:txBody>
            <a:bodyPr wrap="none" lIns="0" tIns="0" rIns="0" bIns="0">
              <a:spAutoFit/>
            </a:bodyPr>
            <a:p>
              <a:pPr algn="ctr" eaLnBrk="1" hangingPunct="1"/>
              <a:r>
                <a:rPr lang="en-US" altLang="zh-CN" sz="16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4114" name="Rectangle 1132"/>
            <p:cNvSpPr/>
            <p:nvPr/>
          </p:nvSpPr>
          <p:spPr>
            <a:xfrm>
              <a:off x="3907" y="2374"/>
              <a:ext cx="67" cy="182"/>
            </a:xfrm>
            <a:prstGeom prst="rect">
              <a:avLst/>
            </a:prstGeom>
            <a:noFill/>
            <a:ln w="9525">
              <a:noFill/>
            </a:ln>
          </p:spPr>
          <p:txBody>
            <a:bodyPr wrap="none" lIns="0" tIns="0" rIns="0" bIns="0">
              <a:spAutoFit/>
            </a:bodyPr>
            <a:p>
              <a:pPr algn="ctr" eaLnBrk="1" hangingPunct="1"/>
              <a:r>
                <a:rPr lang="en-US" altLang="zh-CN" sz="1900" b="0" i="1">
                  <a:solidFill>
                    <a:srgbClr val="0000FF"/>
                  </a:solidFill>
                  <a:latin typeface="Times New Roman" panose="02020603050405020304" pitchFamily="18" charset="0"/>
                </a:rPr>
                <a:t>e</a:t>
              </a:r>
              <a:endParaRPr lang="en-US" altLang="zh-CN" b="1">
                <a:solidFill>
                  <a:srgbClr val="333399"/>
                </a:solidFill>
                <a:latin typeface="楷体_GB2312" pitchFamily="49" charset="-122"/>
              </a:endParaRPr>
            </a:p>
          </p:txBody>
        </p:sp>
        <p:sp>
          <p:nvSpPr>
            <p:cNvPr id="44115" name="Rectangle 1133"/>
            <p:cNvSpPr/>
            <p:nvPr/>
          </p:nvSpPr>
          <p:spPr>
            <a:xfrm>
              <a:off x="4766" y="2762"/>
              <a:ext cx="107" cy="154"/>
            </a:xfrm>
            <a:prstGeom prst="rect">
              <a:avLst/>
            </a:prstGeom>
            <a:noFill/>
            <a:ln w="9525">
              <a:noFill/>
            </a:ln>
          </p:spPr>
          <p:txBody>
            <a:bodyPr wrap="none" lIns="0" tIns="0" rIns="0" bIns="0">
              <a:spAutoFit/>
            </a:bodyPr>
            <a:p>
              <a:pPr algn="ctr" eaLnBrk="1" hangingPunct="1"/>
              <a:r>
                <a:rPr lang="en-US" altLang="zh-CN" sz="16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116" name="Rectangle 1134"/>
            <p:cNvSpPr/>
            <p:nvPr/>
          </p:nvSpPr>
          <p:spPr>
            <a:xfrm>
              <a:off x="4794" y="2919"/>
              <a:ext cx="48" cy="115"/>
            </a:xfrm>
            <a:prstGeom prst="rect">
              <a:avLst/>
            </a:prstGeom>
            <a:noFill/>
            <a:ln w="9525">
              <a:noFill/>
            </a:ln>
          </p:spPr>
          <p:txBody>
            <a:bodyPr wrap="none" lIns="0" tIns="0" rIns="0" bIns="0">
              <a:spAutoFit/>
            </a:bodyPr>
            <a:p>
              <a:pPr algn="ctr" eaLnBrk="1" hangingPunct="1"/>
              <a:r>
                <a:rPr lang="en-US" altLang="zh-CN" sz="12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44117" name="Line 1135"/>
            <p:cNvSpPr/>
            <p:nvPr/>
          </p:nvSpPr>
          <p:spPr>
            <a:xfrm>
              <a:off x="4739" y="2917"/>
              <a:ext cx="114" cy="1"/>
            </a:xfrm>
            <a:prstGeom prst="line">
              <a:avLst/>
            </a:prstGeom>
            <a:ln w="0" cap="flat" cmpd="sng">
              <a:solidFill>
                <a:srgbClr val="0000FF"/>
              </a:solidFill>
              <a:prstDash val="solid"/>
              <a:headEnd type="none" w="med" len="med"/>
              <a:tailEnd type="none" w="med" len="med"/>
            </a:ln>
          </p:spPr>
        </p:sp>
        <p:sp>
          <p:nvSpPr>
            <p:cNvPr id="44118" name="Rectangle 1136"/>
            <p:cNvSpPr/>
            <p:nvPr/>
          </p:nvSpPr>
          <p:spPr>
            <a:xfrm>
              <a:off x="4806" y="2662"/>
              <a:ext cx="48" cy="115"/>
            </a:xfrm>
            <a:prstGeom prst="rect">
              <a:avLst/>
            </a:prstGeom>
            <a:noFill/>
            <a:ln w="9525">
              <a:noFill/>
            </a:ln>
          </p:spPr>
          <p:txBody>
            <a:bodyPr wrap="none" lIns="0" tIns="0" rIns="0" bIns="0">
              <a:spAutoFit/>
            </a:bodyPr>
            <a:p>
              <a:pPr algn="ctr" eaLnBrk="1" hangingPunct="1"/>
              <a:r>
                <a:rPr lang="en-US" altLang="zh-CN" sz="12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grpSp>
          <p:nvGrpSpPr>
            <p:cNvPr id="44119" name="Group 1139"/>
            <p:cNvGrpSpPr/>
            <p:nvPr/>
          </p:nvGrpSpPr>
          <p:grpSpPr>
            <a:xfrm>
              <a:off x="4753" y="2502"/>
              <a:ext cx="130" cy="161"/>
              <a:chOff x="4753" y="2775"/>
              <a:chExt cx="130" cy="161"/>
            </a:xfrm>
          </p:grpSpPr>
          <p:sp>
            <p:nvSpPr>
              <p:cNvPr id="44161" name="Rectangle 1137"/>
              <p:cNvSpPr/>
              <p:nvPr/>
            </p:nvSpPr>
            <p:spPr>
              <a:xfrm>
                <a:off x="4819" y="2775"/>
                <a:ext cx="64" cy="154"/>
              </a:xfrm>
              <a:prstGeom prst="rect">
                <a:avLst/>
              </a:prstGeom>
              <a:noFill/>
              <a:ln w="9525">
                <a:noFill/>
              </a:ln>
            </p:spPr>
            <p:txBody>
              <a:bodyPr wrap="none" lIns="0" tIns="0" rIns="0" bIns="0">
                <a:spAutoFit/>
              </a:bodyPr>
              <a:p>
                <a:pPr algn="ctr" eaLnBrk="1" hangingPunct="1"/>
                <a:r>
                  <a:rPr lang="en-US" altLang="zh-CN" sz="16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4162" name="Rectangle 1138"/>
              <p:cNvSpPr/>
              <p:nvPr/>
            </p:nvSpPr>
            <p:spPr>
              <a:xfrm>
                <a:off x="4753" y="2821"/>
                <a:ext cx="54" cy="115"/>
              </a:xfrm>
              <a:prstGeom prst="rect">
                <a:avLst/>
              </a:prstGeom>
              <a:noFill/>
              <a:ln w="9525">
                <a:noFill/>
              </a:ln>
            </p:spPr>
            <p:txBody>
              <a:bodyPr wrap="none" lIns="0" tIns="0" rIns="0" bIns="0">
                <a:spAutoFit/>
              </a:bodyPr>
              <a:p>
                <a:pPr algn="ctr" eaLnBrk="1" hangingPunct="1"/>
                <a:r>
                  <a:rPr lang="en-US" altLang="zh-CN" sz="1200" b="0">
                    <a:solidFill>
                      <a:srgbClr val="0000FF"/>
                    </a:solidFill>
                    <a:latin typeface="Times New Roman" panose="02020603050405020304" pitchFamily="18" charset="0"/>
                  </a:rPr>
                  <a:t>+</a:t>
                </a:r>
                <a:endParaRPr lang="en-US" altLang="zh-CN" b="1">
                  <a:solidFill>
                    <a:srgbClr val="333399"/>
                  </a:solidFill>
                  <a:latin typeface="楷体_GB2312" pitchFamily="49" charset="-122"/>
                </a:endParaRPr>
              </a:p>
            </p:txBody>
          </p:sp>
        </p:grpSp>
        <p:sp>
          <p:nvSpPr>
            <p:cNvPr id="44120" name="Line 1140"/>
            <p:cNvSpPr/>
            <p:nvPr/>
          </p:nvSpPr>
          <p:spPr>
            <a:xfrm>
              <a:off x="4757" y="2654"/>
              <a:ext cx="118" cy="1"/>
            </a:xfrm>
            <a:prstGeom prst="line">
              <a:avLst/>
            </a:prstGeom>
            <a:ln w="0" cap="flat" cmpd="sng">
              <a:solidFill>
                <a:srgbClr val="0000FF"/>
              </a:solidFill>
              <a:prstDash val="solid"/>
              <a:headEnd type="none" w="med" len="med"/>
              <a:tailEnd type="none" w="med" len="med"/>
            </a:ln>
          </p:spPr>
        </p:sp>
        <p:sp>
          <p:nvSpPr>
            <p:cNvPr id="44121" name="Line 1141"/>
            <p:cNvSpPr/>
            <p:nvPr/>
          </p:nvSpPr>
          <p:spPr>
            <a:xfrm flipH="1">
              <a:off x="3135" y="2685"/>
              <a:ext cx="194" cy="191"/>
            </a:xfrm>
            <a:prstGeom prst="line">
              <a:avLst/>
            </a:prstGeom>
            <a:ln w="25400" cap="flat" cmpd="sng">
              <a:solidFill>
                <a:srgbClr val="FF00FF"/>
              </a:solidFill>
              <a:prstDash val="solid"/>
              <a:headEnd type="none" w="med" len="med"/>
              <a:tailEnd type="none" w="med" len="med"/>
            </a:ln>
          </p:spPr>
        </p:sp>
        <p:sp>
          <p:nvSpPr>
            <p:cNvPr id="44122" name="Line 1142"/>
            <p:cNvSpPr/>
            <p:nvPr/>
          </p:nvSpPr>
          <p:spPr>
            <a:xfrm flipH="1">
              <a:off x="3327" y="2691"/>
              <a:ext cx="191" cy="187"/>
            </a:xfrm>
            <a:prstGeom prst="line">
              <a:avLst/>
            </a:prstGeom>
            <a:ln w="25400" cap="flat" cmpd="sng">
              <a:solidFill>
                <a:srgbClr val="FF00FF"/>
              </a:solidFill>
              <a:prstDash val="solid"/>
              <a:headEnd type="none" w="med" len="med"/>
              <a:tailEnd type="none" w="med" len="med"/>
            </a:ln>
          </p:spPr>
        </p:sp>
        <p:sp>
          <p:nvSpPr>
            <p:cNvPr id="44123" name="Line 1143"/>
            <p:cNvSpPr/>
            <p:nvPr/>
          </p:nvSpPr>
          <p:spPr>
            <a:xfrm flipH="1">
              <a:off x="3520" y="2691"/>
              <a:ext cx="187" cy="185"/>
            </a:xfrm>
            <a:prstGeom prst="line">
              <a:avLst/>
            </a:prstGeom>
            <a:ln w="25400" cap="flat" cmpd="sng">
              <a:solidFill>
                <a:srgbClr val="FF00FF"/>
              </a:solidFill>
              <a:prstDash val="solid"/>
              <a:headEnd type="none" w="med" len="med"/>
              <a:tailEnd type="none" w="med" len="med"/>
            </a:ln>
          </p:spPr>
        </p:sp>
        <p:sp>
          <p:nvSpPr>
            <p:cNvPr id="44124" name="Line 1144"/>
            <p:cNvSpPr/>
            <p:nvPr/>
          </p:nvSpPr>
          <p:spPr>
            <a:xfrm flipH="1">
              <a:off x="3709" y="2691"/>
              <a:ext cx="187" cy="185"/>
            </a:xfrm>
            <a:prstGeom prst="line">
              <a:avLst/>
            </a:prstGeom>
            <a:ln w="25400" cap="flat" cmpd="sng">
              <a:solidFill>
                <a:srgbClr val="FF00FF"/>
              </a:solidFill>
              <a:prstDash val="solid"/>
              <a:headEnd type="none" w="med" len="med"/>
              <a:tailEnd type="none" w="med" len="med"/>
            </a:ln>
          </p:spPr>
        </p:sp>
        <p:sp>
          <p:nvSpPr>
            <p:cNvPr id="44125" name="Line 1145"/>
            <p:cNvSpPr/>
            <p:nvPr/>
          </p:nvSpPr>
          <p:spPr>
            <a:xfrm flipH="1">
              <a:off x="3898" y="2691"/>
              <a:ext cx="186" cy="187"/>
            </a:xfrm>
            <a:prstGeom prst="line">
              <a:avLst/>
            </a:prstGeom>
            <a:ln w="25400" cap="flat" cmpd="sng">
              <a:solidFill>
                <a:srgbClr val="FF00FF"/>
              </a:solidFill>
              <a:prstDash val="solid"/>
              <a:headEnd type="none" w="med" len="med"/>
              <a:tailEnd type="none" w="med" len="med"/>
            </a:ln>
          </p:spPr>
        </p:sp>
        <p:sp>
          <p:nvSpPr>
            <p:cNvPr id="44126" name="Line 1146"/>
            <p:cNvSpPr/>
            <p:nvPr/>
          </p:nvSpPr>
          <p:spPr>
            <a:xfrm flipH="1">
              <a:off x="4086" y="2691"/>
              <a:ext cx="187" cy="185"/>
            </a:xfrm>
            <a:prstGeom prst="line">
              <a:avLst/>
            </a:prstGeom>
            <a:ln w="25400" cap="flat" cmpd="sng">
              <a:solidFill>
                <a:srgbClr val="FF00FF"/>
              </a:solidFill>
              <a:prstDash val="solid"/>
              <a:headEnd type="none" w="med" len="med"/>
              <a:tailEnd type="none" w="med" len="med"/>
            </a:ln>
          </p:spPr>
        </p:sp>
        <p:sp>
          <p:nvSpPr>
            <p:cNvPr id="44127" name="Line 1147"/>
            <p:cNvSpPr/>
            <p:nvPr/>
          </p:nvSpPr>
          <p:spPr>
            <a:xfrm flipH="1">
              <a:off x="4271" y="2685"/>
              <a:ext cx="191" cy="191"/>
            </a:xfrm>
            <a:prstGeom prst="line">
              <a:avLst/>
            </a:prstGeom>
            <a:ln w="25400" cap="flat" cmpd="sng">
              <a:solidFill>
                <a:srgbClr val="FF00FF"/>
              </a:solidFill>
              <a:prstDash val="solid"/>
              <a:headEnd type="none" w="med" len="med"/>
              <a:tailEnd type="none" w="med" len="med"/>
            </a:ln>
          </p:spPr>
        </p:sp>
        <p:sp>
          <p:nvSpPr>
            <p:cNvPr id="44128" name="Line 1148"/>
            <p:cNvSpPr/>
            <p:nvPr/>
          </p:nvSpPr>
          <p:spPr>
            <a:xfrm flipH="1">
              <a:off x="4460" y="2691"/>
              <a:ext cx="193" cy="185"/>
            </a:xfrm>
            <a:prstGeom prst="line">
              <a:avLst/>
            </a:prstGeom>
            <a:ln w="25400" cap="flat" cmpd="sng">
              <a:solidFill>
                <a:srgbClr val="FF00FF"/>
              </a:solidFill>
              <a:prstDash val="solid"/>
              <a:headEnd type="none" w="med" len="med"/>
              <a:tailEnd type="none" w="med" len="med"/>
            </a:ln>
          </p:spPr>
        </p:sp>
        <p:sp>
          <p:nvSpPr>
            <p:cNvPr id="44129" name="Line 1149"/>
            <p:cNvSpPr/>
            <p:nvPr/>
          </p:nvSpPr>
          <p:spPr>
            <a:xfrm>
              <a:off x="4273" y="1067"/>
              <a:ext cx="189" cy="1"/>
            </a:xfrm>
            <a:prstGeom prst="line">
              <a:avLst/>
            </a:prstGeom>
            <a:ln w="25400" cap="flat" cmpd="sng">
              <a:solidFill>
                <a:srgbClr val="FF00FF"/>
              </a:solidFill>
              <a:prstDash val="solid"/>
              <a:headEnd type="none" w="med" len="med"/>
              <a:tailEnd type="none" w="med" len="med"/>
            </a:ln>
          </p:spPr>
        </p:sp>
        <p:grpSp>
          <p:nvGrpSpPr>
            <p:cNvPr id="44130" name="Group 1152"/>
            <p:cNvGrpSpPr/>
            <p:nvPr/>
          </p:nvGrpSpPr>
          <p:grpSpPr>
            <a:xfrm>
              <a:off x="3882" y="1183"/>
              <a:ext cx="93" cy="125"/>
              <a:chOff x="3882" y="1309"/>
              <a:chExt cx="93" cy="125"/>
            </a:xfrm>
          </p:grpSpPr>
          <p:sp>
            <p:nvSpPr>
              <p:cNvPr id="44159" name="Rectangle 1150"/>
              <p:cNvSpPr/>
              <p:nvPr/>
            </p:nvSpPr>
            <p:spPr>
              <a:xfrm>
                <a:off x="3882" y="1338"/>
                <a:ext cx="40"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44160" name="Rectangle 1151"/>
              <p:cNvSpPr/>
              <p:nvPr/>
            </p:nvSpPr>
            <p:spPr>
              <a:xfrm>
                <a:off x="3927" y="1309"/>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grpSp>
          <p:nvGrpSpPr>
            <p:cNvPr id="44131" name="Group 1157"/>
            <p:cNvGrpSpPr/>
            <p:nvPr/>
          </p:nvGrpSpPr>
          <p:grpSpPr>
            <a:xfrm>
              <a:off x="3886" y="1919"/>
              <a:ext cx="125" cy="125"/>
              <a:chOff x="3886" y="2045"/>
              <a:chExt cx="125" cy="125"/>
            </a:xfrm>
          </p:grpSpPr>
          <p:grpSp>
            <p:nvGrpSpPr>
              <p:cNvPr id="44155" name="Group 1155"/>
              <p:cNvGrpSpPr/>
              <p:nvPr/>
            </p:nvGrpSpPr>
            <p:grpSpPr>
              <a:xfrm>
                <a:off x="3917" y="2045"/>
                <a:ext cx="94" cy="125"/>
                <a:chOff x="3917" y="2045"/>
                <a:chExt cx="94" cy="125"/>
              </a:xfrm>
            </p:grpSpPr>
            <p:sp>
              <p:nvSpPr>
                <p:cNvPr id="44157" name="Rectangle 1153"/>
                <p:cNvSpPr/>
                <p:nvPr/>
              </p:nvSpPr>
              <p:spPr>
                <a:xfrm>
                  <a:off x="3917" y="2074"/>
                  <a:ext cx="40"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44158" name="Rectangle 1154"/>
                <p:cNvSpPr/>
                <p:nvPr/>
              </p:nvSpPr>
              <p:spPr>
                <a:xfrm>
                  <a:off x="3963" y="2045"/>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sp>
            <p:nvSpPr>
              <p:cNvPr id="44156" name="Rectangle 1156"/>
              <p:cNvSpPr/>
              <p:nvPr/>
            </p:nvSpPr>
            <p:spPr>
              <a:xfrm>
                <a:off x="3886" y="2050"/>
                <a:ext cx="32" cy="115"/>
              </a:xfrm>
              <a:prstGeom prst="rect">
                <a:avLst/>
              </a:prstGeom>
              <a:noFill/>
              <a:ln w="9525">
                <a:noFill/>
              </a:ln>
            </p:spPr>
            <p:txBody>
              <a:bodyPr wrap="none" lIns="0" tIns="0" rIns="0" bIns="0">
                <a:spAutoFit/>
              </a:bodyPr>
              <a:p>
                <a:pPr algn="ctr" eaLnBrk="1" hangingPunct="1"/>
                <a:r>
                  <a:rPr lang="en-US" altLang="zh-CN" sz="1200" b="0">
                    <a:solidFill>
                      <a:srgbClr val="0000FF"/>
                    </a:solidFill>
                    <a:latin typeface="Times New Roman" panose="02020603050405020304" pitchFamily="18" charset="0"/>
                  </a:rPr>
                  <a:t>-</a:t>
                </a:r>
                <a:endParaRPr lang="en-US" altLang="zh-CN" b="1">
                  <a:solidFill>
                    <a:srgbClr val="333399"/>
                  </a:solidFill>
                  <a:latin typeface="楷体_GB2312" pitchFamily="49" charset="-122"/>
                </a:endParaRPr>
              </a:p>
            </p:txBody>
          </p:sp>
        </p:grpSp>
        <p:grpSp>
          <p:nvGrpSpPr>
            <p:cNvPr id="44132" name="Group 1162"/>
            <p:cNvGrpSpPr/>
            <p:nvPr/>
          </p:nvGrpSpPr>
          <p:grpSpPr>
            <a:xfrm>
              <a:off x="3373" y="1623"/>
              <a:ext cx="125" cy="125"/>
              <a:chOff x="3373" y="1749"/>
              <a:chExt cx="125" cy="125"/>
            </a:xfrm>
          </p:grpSpPr>
          <p:grpSp>
            <p:nvGrpSpPr>
              <p:cNvPr id="44151" name="Group 1160"/>
              <p:cNvGrpSpPr/>
              <p:nvPr/>
            </p:nvGrpSpPr>
            <p:grpSpPr>
              <a:xfrm>
                <a:off x="3404" y="1749"/>
                <a:ext cx="94" cy="125"/>
                <a:chOff x="3404" y="1749"/>
                <a:chExt cx="94" cy="125"/>
              </a:xfrm>
            </p:grpSpPr>
            <p:sp>
              <p:nvSpPr>
                <p:cNvPr id="44153" name="Rectangle 1158"/>
                <p:cNvSpPr/>
                <p:nvPr/>
              </p:nvSpPr>
              <p:spPr>
                <a:xfrm>
                  <a:off x="3404" y="1778"/>
                  <a:ext cx="40" cy="96"/>
                </a:xfrm>
                <a:prstGeom prst="rect">
                  <a:avLst/>
                </a:prstGeom>
                <a:noFill/>
                <a:ln w="9525">
                  <a:noFill/>
                </a:ln>
              </p:spPr>
              <p:txBody>
                <a:bodyPr wrap="none" lIns="0" tIns="0" rIns="0" bIns="0">
                  <a:spAutoFit/>
                </a:bodyPr>
                <a:p>
                  <a:pPr algn="ctr" eaLnBrk="1" hangingPunct="1"/>
                  <a:r>
                    <a:rPr lang="en-US" altLang="zh-CN" sz="1000" b="0">
                      <a:solidFill>
                        <a:srgbClr val="0000FF"/>
                      </a:solidFill>
                      <a:latin typeface="Times New Roman" panose="02020603050405020304" pitchFamily="18" charset="0"/>
                    </a:rPr>
                    <a:t>2</a:t>
                  </a:r>
                  <a:endParaRPr lang="en-US" altLang="zh-CN" b="1">
                    <a:solidFill>
                      <a:srgbClr val="333399"/>
                    </a:solidFill>
                    <a:latin typeface="楷体_GB2312" pitchFamily="49" charset="-122"/>
                  </a:endParaRPr>
                </a:p>
              </p:txBody>
            </p:sp>
            <p:sp>
              <p:nvSpPr>
                <p:cNvPr id="44154" name="Rectangle 1159"/>
                <p:cNvSpPr/>
                <p:nvPr/>
              </p:nvSpPr>
              <p:spPr>
                <a:xfrm>
                  <a:off x="3450" y="1749"/>
                  <a:ext cx="48" cy="115"/>
                </a:xfrm>
                <a:prstGeom prst="rect">
                  <a:avLst/>
                </a:prstGeom>
                <a:noFill/>
                <a:ln w="9525">
                  <a:noFill/>
                </a:ln>
              </p:spPr>
              <p:txBody>
                <a:bodyPr wrap="none" lIns="0" tIns="0" rIns="0" bIns="0">
                  <a:spAutoFit/>
                </a:bodyPr>
                <a:p>
                  <a:pPr algn="ctr" eaLnBrk="1" hangingPunct="1"/>
                  <a:r>
                    <a:rPr lang="en-US" altLang="zh-CN" sz="1200" b="0" i="1">
                      <a:solidFill>
                        <a:srgbClr val="0000FF"/>
                      </a:solidFill>
                      <a:latin typeface="Times New Roman" panose="02020603050405020304" pitchFamily="18" charset="0"/>
                    </a:rPr>
                    <a:t>q</a:t>
                  </a:r>
                  <a:endParaRPr lang="en-US" altLang="zh-CN" b="1">
                    <a:solidFill>
                      <a:srgbClr val="333399"/>
                    </a:solidFill>
                    <a:latin typeface="楷体_GB2312" pitchFamily="49" charset="-122"/>
                  </a:endParaRPr>
                </a:p>
              </p:txBody>
            </p:sp>
          </p:grpSp>
          <p:sp>
            <p:nvSpPr>
              <p:cNvPr id="44152" name="Rectangle 1161"/>
              <p:cNvSpPr/>
              <p:nvPr/>
            </p:nvSpPr>
            <p:spPr>
              <a:xfrm>
                <a:off x="3373" y="1755"/>
                <a:ext cx="32" cy="115"/>
              </a:xfrm>
              <a:prstGeom prst="rect">
                <a:avLst/>
              </a:prstGeom>
              <a:noFill/>
              <a:ln w="9525">
                <a:noFill/>
              </a:ln>
            </p:spPr>
            <p:txBody>
              <a:bodyPr wrap="none" lIns="0" tIns="0" rIns="0" bIns="0">
                <a:spAutoFit/>
              </a:bodyPr>
              <a:p>
                <a:pPr algn="ctr" eaLnBrk="1" hangingPunct="1"/>
                <a:r>
                  <a:rPr lang="en-US" altLang="zh-CN" sz="1200" b="0">
                    <a:solidFill>
                      <a:srgbClr val="0000FF"/>
                    </a:solidFill>
                    <a:latin typeface="Times New Roman" panose="02020603050405020304" pitchFamily="18" charset="0"/>
                  </a:rPr>
                  <a:t>-</a:t>
                </a:r>
                <a:endParaRPr lang="en-US" altLang="zh-CN" b="1">
                  <a:solidFill>
                    <a:srgbClr val="333399"/>
                  </a:solidFill>
                  <a:latin typeface="楷体_GB2312" pitchFamily="49" charset="-122"/>
                </a:endParaRPr>
              </a:p>
            </p:txBody>
          </p:sp>
        </p:grpSp>
        <p:sp>
          <p:nvSpPr>
            <p:cNvPr id="44133" name="Line 1163"/>
            <p:cNvSpPr/>
            <p:nvPr/>
          </p:nvSpPr>
          <p:spPr>
            <a:xfrm flipH="1" flipV="1">
              <a:off x="4922" y="2759"/>
              <a:ext cx="71" cy="23"/>
            </a:xfrm>
            <a:prstGeom prst="line">
              <a:avLst/>
            </a:prstGeom>
            <a:ln w="0" cap="flat" cmpd="sng">
              <a:solidFill>
                <a:srgbClr val="0000FF"/>
              </a:solidFill>
              <a:prstDash val="solid"/>
              <a:headEnd type="none" w="med" len="med"/>
              <a:tailEnd type="none" w="med" len="med"/>
            </a:ln>
          </p:spPr>
        </p:sp>
        <p:sp>
          <p:nvSpPr>
            <p:cNvPr id="44134" name="Line 1164"/>
            <p:cNvSpPr/>
            <p:nvPr/>
          </p:nvSpPr>
          <p:spPr>
            <a:xfrm flipH="1">
              <a:off x="4922" y="2782"/>
              <a:ext cx="71" cy="23"/>
            </a:xfrm>
            <a:prstGeom prst="line">
              <a:avLst/>
            </a:prstGeom>
            <a:ln w="0" cap="flat" cmpd="sng">
              <a:solidFill>
                <a:srgbClr val="0000FF"/>
              </a:solidFill>
              <a:prstDash val="solid"/>
              <a:headEnd type="none" w="med" len="med"/>
              <a:tailEnd type="none" w="med" len="med"/>
            </a:ln>
          </p:spPr>
        </p:sp>
        <p:sp>
          <p:nvSpPr>
            <p:cNvPr id="44135" name="Line 1165"/>
            <p:cNvSpPr/>
            <p:nvPr/>
          </p:nvSpPr>
          <p:spPr>
            <a:xfrm flipH="1" flipV="1">
              <a:off x="4769" y="1596"/>
              <a:ext cx="70" cy="23"/>
            </a:xfrm>
            <a:prstGeom prst="line">
              <a:avLst/>
            </a:prstGeom>
            <a:ln w="0" cap="flat" cmpd="sng">
              <a:solidFill>
                <a:srgbClr val="0000FF"/>
              </a:solidFill>
              <a:prstDash val="solid"/>
              <a:headEnd type="none" w="med" len="med"/>
              <a:tailEnd type="none" w="med" len="med"/>
            </a:ln>
          </p:spPr>
        </p:sp>
        <p:sp>
          <p:nvSpPr>
            <p:cNvPr id="44136" name="Line 1166"/>
            <p:cNvSpPr/>
            <p:nvPr/>
          </p:nvSpPr>
          <p:spPr>
            <a:xfrm flipH="1">
              <a:off x="4769" y="1619"/>
              <a:ext cx="70" cy="23"/>
            </a:xfrm>
            <a:prstGeom prst="line">
              <a:avLst/>
            </a:prstGeom>
            <a:ln w="0" cap="flat" cmpd="sng">
              <a:solidFill>
                <a:srgbClr val="0000FF"/>
              </a:solidFill>
              <a:prstDash val="solid"/>
              <a:headEnd type="none" w="med" len="med"/>
              <a:tailEnd type="none" w="med" len="med"/>
            </a:ln>
          </p:spPr>
        </p:sp>
        <p:sp>
          <p:nvSpPr>
            <p:cNvPr id="44137" name="Line 1167"/>
            <p:cNvSpPr/>
            <p:nvPr/>
          </p:nvSpPr>
          <p:spPr>
            <a:xfrm flipH="1">
              <a:off x="3778" y="692"/>
              <a:ext cx="23" cy="81"/>
            </a:xfrm>
            <a:prstGeom prst="line">
              <a:avLst/>
            </a:prstGeom>
            <a:ln w="0" cap="flat" cmpd="sng">
              <a:solidFill>
                <a:srgbClr val="0000FF"/>
              </a:solidFill>
              <a:prstDash val="solid"/>
              <a:headEnd type="none" w="med" len="med"/>
              <a:tailEnd type="none" w="med" len="med"/>
            </a:ln>
          </p:spPr>
        </p:sp>
        <p:sp>
          <p:nvSpPr>
            <p:cNvPr id="44138" name="Line 1168"/>
            <p:cNvSpPr/>
            <p:nvPr/>
          </p:nvSpPr>
          <p:spPr>
            <a:xfrm>
              <a:off x="3801" y="692"/>
              <a:ext cx="24" cy="81"/>
            </a:xfrm>
            <a:prstGeom prst="line">
              <a:avLst/>
            </a:prstGeom>
            <a:ln w="0" cap="flat" cmpd="sng">
              <a:solidFill>
                <a:srgbClr val="0000FF"/>
              </a:solidFill>
              <a:prstDash val="solid"/>
              <a:headEnd type="none" w="med" len="med"/>
              <a:tailEnd type="none" w="med" len="med"/>
            </a:ln>
          </p:spPr>
        </p:sp>
        <p:sp>
          <p:nvSpPr>
            <p:cNvPr id="44139" name="Line 1169"/>
            <p:cNvSpPr/>
            <p:nvPr/>
          </p:nvSpPr>
          <p:spPr>
            <a:xfrm flipH="1">
              <a:off x="3778" y="2434"/>
              <a:ext cx="23" cy="81"/>
            </a:xfrm>
            <a:prstGeom prst="line">
              <a:avLst/>
            </a:prstGeom>
            <a:ln w="0" cap="flat" cmpd="sng">
              <a:solidFill>
                <a:srgbClr val="0000FF"/>
              </a:solidFill>
              <a:prstDash val="solid"/>
              <a:headEnd type="none" w="med" len="med"/>
              <a:tailEnd type="none" w="med" len="med"/>
            </a:ln>
          </p:spPr>
        </p:sp>
        <p:sp>
          <p:nvSpPr>
            <p:cNvPr id="44140" name="Line 1170"/>
            <p:cNvSpPr/>
            <p:nvPr/>
          </p:nvSpPr>
          <p:spPr>
            <a:xfrm>
              <a:off x="3801" y="2434"/>
              <a:ext cx="24" cy="81"/>
            </a:xfrm>
            <a:prstGeom prst="line">
              <a:avLst/>
            </a:prstGeom>
            <a:ln w="0" cap="flat" cmpd="sng">
              <a:solidFill>
                <a:srgbClr val="0000FF"/>
              </a:solidFill>
              <a:prstDash val="solid"/>
              <a:headEnd type="none" w="med" len="med"/>
              <a:tailEnd type="none" w="med" len="med"/>
            </a:ln>
          </p:spPr>
        </p:sp>
        <p:sp>
          <p:nvSpPr>
            <p:cNvPr id="44141" name="Rectangle 1171"/>
            <p:cNvSpPr/>
            <p:nvPr/>
          </p:nvSpPr>
          <p:spPr>
            <a:xfrm>
              <a:off x="5111" y="2646"/>
              <a:ext cx="128" cy="221"/>
            </a:xfrm>
            <a:prstGeom prst="rect">
              <a:avLst/>
            </a:prstGeom>
            <a:noFill/>
            <a:ln w="9525">
              <a:noFill/>
            </a:ln>
          </p:spPr>
          <p:txBody>
            <a:bodyPr wrap="none" lIns="0" tIns="0" rIns="0" bIns="0">
              <a:spAutoFit/>
            </a:bodyPr>
            <a:p>
              <a:pPr algn="ctr" eaLnBrk="1" hangingPunct="1"/>
              <a:r>
                <a:rPr lang="en-US" altLang="zh-CN" sz="2300" b="0" i="1">
                  <a:solidFill>
                    <a:srgbClr val="FF0000"/>
                  </a:solidFill>
                  <a:latin typeface="Times New Roman" panose="02020603050405020304" pitchFamily="18" charset="0"/>
                </a:rPr>
                <a:t>x </a:t>
              </a:r>
              <a:endParaRPr lang="en-US" altLang="zh-CN" b="1">
                <a:solidFill>
                  <a:srgbClr val="FF0000"/>
                </a:solidFill>
                <a:latin typeface="楷体_GB2312" pitchFamily="49" charset="-122"/>
              </a:endParaRPr>
            </a:p>
          </p:txBody>
        </p:sp>
        <p:sp>
          <p:nvSpPr>
            <p:cNvPr id="44142" name="Rectangle 1172"/>
            <p:cNvSpPr/>
            <p:nvPr/>
          </p:nvSpPr>
          <p:spPr>
            <a:xfrm>
              <a:off x="5167" y="2753"/>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4143" name="Rectangle 1173"/>
            <p:cNvSpPr/>
            <p:nvPr/>
          </p:nvSpPr>
          <p:spPr>
            <a:xfrm>
              <a:off x="5228" y="2687"/>
              <a:ext cx="310" cy="154"/>
            </a:xfrm>
            <a:prstGeom prst="rect">
              <a:avLst/>
            </a:prstGeom>
            <a:noFill/>
            <a:ln w="9525">
              <a:noFill/>
            </a:ln>
          </p:spPr>
          <p:txBody>
            <a:bodyPr wrap="none" lIns="0" tIns="0" rIns="0" bIns="0">
              <a:spAutoFit/>
            </a:bodyPr>
            <a:p>
              <a:pPr algn="ctr" eaLnBrk="1" hangingPunct="1"/>
              <a:r>
                <a:rPr lang="en-US" altLang="zh-CN" sz="16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4144" name="Rectangle 1174"/>
            <p:cNvSpPr/>
            <p:nvPr/>
          </p:nvSpPr>
          <p:spPr>
            <a:xfrm>
              <a:off x="5286" y="2699"/>
              <a:ext cx="135" cy="154"/>
            </a:xfrm>
            <a:prstGeom prst="rect">
              <a:avLst/>
            </a:prstGeom>
            <a:noFill/>
            <a:ln w="9525">
              <a:noFill/>
            </a:ln>
          </p:spPr>
          <p:txBody>
            <a:bodyPr wrap="none" lIns="0" tIns="0" rIns="0" bIns="0">
              <a:spAutoFit/>
            </a:bodyPr>
            <a:p>
              <a:pPr algn="ctr" eaLnBrk="1" hangingPunct="1"/>
              <a:r>
                <a:rPr lang="en-US" altLang="zh-CN" sz="16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4145" name="Rectangle 1175"/>
            <p:cNvSpPr/>
            <p:nvPr/>
          </p:nvSpPr>
          <p:spPr>
            <a:xfrm>
              <a:off x="5416" y="2753"/>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4146" name="Rectangle 1176"/>
            <p:cNvSpPr/>
            <p:nvPr/>
          </p:nvSpPr>
          <p:spPr>
            <a:xfrm>
              <a:off x="5027" y="1602"/>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4147" name="Rectangle 1177"/>
            <p:cNvSpPr/>
            <p:nvPr/>
          </p:nvSpPr>
          <p:spPr>
            <a:xfrm>
              <a:off x="5258" y="1606"/>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4148" name="Rectangle 1178"/>
            <p:cNvSpPr/>
            <p:nvPr/>
          </p:nvSpPr>
          <p:spPr>
            <a:xfrm>
              <a:off x="3632" y="704"/>
              <a:ext cx="48" cy="115"/>
            </a:xfrm>
            <a:prstGeom prst="rect">
              <a:avLst/>
            </a:prstGeom>
            <a:noFill/>
            <a:ln w="9525">
              <a:noFill/>
            </a:ln>
          </p:spPr>
          <p:txBody>
            <a:bodyPr wrap="none" lIns="0" tIns="0" rIns="0" bIns="0">
              <a:spAutoFit/>
            </a:bodyPr>
            <a:p>
              <a:pPr algn="ctr" eaLnBrk="1" hangingPunct="1"/>
              <a:r>
                <a:rPr lang="en-US" altLang="zh-CN" sz="12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4149" name="Rectangle 1179"/>
            <p:cNvSpPr/>
            <p:nvPr/>
          </p:nvSpPr>
          <p:spPr>
            <a:xfrm>
              <a:off x="3323" y="3339"/>
              <a:ext cx="1961" cy="442"/>
            </a:xfrm>
            <a:prstGeom prst="rect">
              <a:avLst/>
            </a:prstGeom>
            <a:noFill/>
            <a:ln w="9525">
              <a:noFill/>
            </a:ln>
          </p:spPr>
          <p:txBody>
            <a:bodyPr lIns="0" tIns="0" rIns="0" bIns="0">
              <a:spAutoFit/>
            </a:bodyPr>
            <a:p>
              <a:pPr algn="ctr" eaLnBrk="1" hangingPunct="1"/>
              <a:r>
                <a:rPr lang="en-US" altLang="zh-CN" sz="2300" b="1">
                  <a:solidFill>
                    <a:srgbClr val="000080"/>
                  </a:solidFill>
                  <a:latin typeface="Times New Roman" panose="02020603050405020304" pitchFamily="18" charset="0"/>
                </a:rPr>
                <a:t>“</a:t>
              </a:r>
              <a:r>
                <a:rPr lang="zh-CN" altLang="en-US" sz="2300" b="1" dirty="0">
                  <a:solidFill>
                    <a:srgbClr val="000080"/>
                  </a:solidFill>
                  <a:latin typeface="楷体_GB2312" pitchFamily="49" charset="-122"/>
                </a:rPr>
                <a:t>有舍有入</a:t>
              </a:r>
              <a:r>
                <a:rPr lang="zh-CN" altLang="en-US" sz="2300" b="1" dirty="0">
                  <a:solidFill>
                    <a:srgbClr val="000080"/>
                  </a:solidFill>
                  <a:latin typeface="Times New Roman" panose="02020603050405020304" pitchFamily="18" charset="0"/>
                </a:rPr>
                <a:t>”</a:t>
              </a:r>
              <a:r>
                <a:rPr lang="zh-CN" altLang="en-US" sz="2300" b="1" dirty="0">
                  <a:solidFill>
                    <a:srgbClr val="000080"/>
                  </a:solidFill>
                  <a:latin typeface="楷体_GB2312" pitchFamily="49" charset="-122"/>
                </a:rPr>
                <a:t>量化特性曲线与量化误差图</a:t>
              </a:r>
              <a:endParaRPr lang="zh-CN" altLang="en-US" sz="2300" b="1" dirty="0">
                <a:solidFill>
                  <a:srgbClr val="000080"/>
                </a:solidFill>
                <a:latin typeface="楷体_GB2312" pitchFamily="49" charset="-122"/>
              </a:endParaRPr>
            </a:p>
          </p:txBody>
        </p:sp>
        <p:sp>
          <p:nvSpPr>
            <p:cNvPr id="44150" name="Line 1181"/>
            <p:cNvSpPr/>
            <p:nvPr/>
          </p:nvSpPr>
          <p:spPr>
            <a:xfrm flipH="1">
              <a:off x="3706" y="1615"/>
              <a:ext cx="189" cy="1"/>
            </a:xfrm>
            <a:prstGeom prst="line">
              <a:avLst/>
            </a:prstGeom>
            <a:ln w="25400" cap="flat" cmpd="sng">
              <a:solidFill>
                <a:srgbClr val="FF00FF"/>
              </a:solidFill>
              <a:prstDash val="solid"/>
              <a:headEnd type="none" w="med" len="med"/>
              <a:tailEnd type="none" w="med" len="med"/>
            </a:ln>
          </p:spPr>
        </p:sp>
      </p:grpSp>
      <p:sp>
        <p:nvSpPr>
          <p:cNvPr id="2287775" name="Text Box 1183"/>
          <p:cNvSpPr txBox="1"/>
          <p:nvPr/>
        </p:nvSpPr>
        <p:spPr>
          <a:xfrm>
            <a:off x="539750" y="2527300"/>
            <a:ext cx="3949700" cy="1552575"/>
          </a:xfrm>
          <a:prstGeom prst="rect">
            <a:avLst/>
          </a:prstGeom>
          <a:solidFill>
            <a:srgbClr val="99CCFF"/>
          </a:solidFill>
          <a:ln w="9525">
            <a:noFill/>
          </a:ln>
        </p:spPr>
        <p:txBody>
          <a:bodyPr>
            <a:spAutoFit/>
          </a:bodyPr>
          <a:p>
            <a:pPr algn="l" eaLnBrk="1" hangingPunct="1">
              <a:spcBef>
                <a:spcPct val="50000"/>
              </a:spcBef>
            </a:pPr>
            <a:r>
              <a:rPr lang="zh-CN" altLang="en-US" sz="2400" b="1" dirty="0">
                <a:solidFill>
                  <a:schemeClr val="tx1"/>
                </a:solidFill>
                <a:latin typeface="黑体" panose="02010609060101010101" pitchFamily="49" charset="-122"/>
                <a:ea typeface="黑体" panose="02010609060101010101" pitchFamily="49" charset="-122"/>
              </a:rPr>
              <a:t>量化误差有正有负，它可以取</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en-US" altLang="zh-CN" sz="2400" b="1" i="1">
                <a:solidFill>
                  <a:srgbClr val="FF0000"/>
                </a:solidFill>
                <a:latin typeface="Times New Roman" panose="02020603050405020304" pitchFamily="18" charset="0"/>
                <a:ea typeface="黑体" panose="02010609060101010101" pitchFamily="49" charset="-122"/>
              </a:rPr>
              <a:t>q/2</a:t>
            </a:r>
            <a:r>
              <a:rPr lang="zh-CN" altLang="en-US" sz="2400" b="1" dirty="0">
                <a:solidFill>
                  <a:schemeClr val="tx1"/>
                </a:solidFill>
                <a:latin typeface="黑体" panose="02010609060101010101" pitchFamily="49" charset="-122"/>
                <a:ea typeface="黑体" panose="02010609060101010101" pitchFamily="49" charset="-122"/>
              </a:rPr>
              <a:t>之间的任意值，是在</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zh-CN" altLang="en-US" sz="2400" b="1" dirty="0">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q/2</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上均匀分布的随机变量。</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87776" name="Text Box 1184"/>
          <p:cNvSpPr txBox="1"/>
          <p:nvPr/>
        </p:nvSpPr>
        <p:spPr>
          <a:xfrm>
            <a:off x="503238" y="4205288"/>
            <a:ext cx="3455987" cy="519112"/>
          </a:xfrm>
          <a:prstGeom prst="rect">
            <a:avLst/>
          </a:prstGeom>
          <a:noFill/>
          <a:ln w="9525">
            <a:noFill/>
          </a:ln>
        </p:spPr>
        <p:txBody>
          <a:bodyPr>
            <a:spAutoFit/>
          </a:bodyPr>
          <a:p>
            <a:pPr algn="ctr" eaLnBrk="1" hangingPunct="1">
              <a:spcBef>
                <a:spcPct val="50000"/>
              </a:spcBef>
            </a:pPr>
            <a:r>
              <a:rPr lang="zh-CN" altLang="en-US" sz="2800" b="1" dirty="0">
                <a:solidFill>
                  <a:srgbClr val="333399"/>
                </a:solidFill>
                <a:latin typeface="楷体_GB2312" pitchFamily="49" charset="-122"/>
              </a:rPr>
              <a:t>概率密度函数</a:t>
            </a:r>
            <a:r>
              <a:rPr lang="en-US" altLang="zh-CN" sz="2800" b="1" i="1" err="1">
                <a:solidFill>
                  <a:srgbClr val="FF0000"/>
                </a:solidFill>
                <a:latin typeface="Times New Roman" panose="02020603050405020304" pitchFamily="18" charset="0"/>
              </a:rPr>
              <a:t>p</a:t>
            </a:r>
            <a:r>
              <a:rPr lang="en-US" altLang="zh-CN" sz="2800" b="1" err="1">
                <a:solidFill>
                  <a:srgbClr val="FF0000"/>
                </a:solidFill>
                <a:latin typeface="Times New Roman" panose="02020603050405020304" pitchFamily="18" charset="0"/>
              </a:rPr>
              <a:t>(</a:t>
            </a:r>
            <a:r>
              <a:rPr lang="en-US" altLang="zh-CN" sz="2800" b="1" i="1" err="1">
                <a:solidFill>
                  <a:srgbClr val="FF0000"/>
                </a:solidFill>
                <a:latin typeface="Times New Roman" panose="02020603050405020304" pitchFamily="18" charset="0"/>
              </a:rPr>
              <a:t>e</a:t>
            </a:r>
            <a:r>
              <a:rPr lang="en-US" altLang="zh-CN" sz="2800" b="1">
                <a:solidFill>
                  <a:srgbClr val="FF0000"/>
                </a:solidFill>
                <a:latin typeface="Times New Roman" panose="02020603050405020304" pitchFamily="18" charset="0"/>
              </a:rPr>
              <a:t>)</a:t>
            </a:r>
            <a:r>
              <a:rPr lang="en-US" altLang="zh-CN" sz="2800" b="1">
                <a:solidFill>
                  <a:srgbClr val="3333FF"/>
                </a:solidFill>
                <a:latin typeface="Times New Roman" panose="02020603050405020304" pitchFamily="18" charset="0"/>
              </a:rPr>
              <a:t>:</a:t>
            </a:r>
            <a:endParaRPr lang="en-US" altLang="zh-CN" sz="2800" b="1">
              <a:solidFill>
                <a:srgbClr val="3333FF"/>
              </a:solidFill>
              <a:latin typeface="Times New Roman" panose="02020603050405020304" pitchFamily="18" charset="0"/>
            </a:endParaRPr>
          </a:p>
        </p:txBody>
      </p:sp>
      <p:sp>
        <p:nvSpPr>
          <p:cNvPr id="2287778" name="Line 1186"/>
          <p:cNvSpPr/>
          <p:nvPr/>
        </p:nvSpPr>
        <p:spPr>
          <a:xfrm>
            <a:off x="1008063" y="5949950"/>
            <a:ext cx="2519362" cy="0"/>
          </a:xfrm>
          <a:prstGeom prst="line">
            <a:avLst/>
          </a:prstGeom>
          <a:ln w="19050" cap="flat" cmpd="sng">
            <a:solidFill>
              <a:schemeClr val="tx1"/>
            </a:solidFill>
            <a:prstDash val="solid"/>
            <a:headEnd type="none" w="med" len="med"/>
            <a:tailEnd type="triangle" w="med" len="med"/>
          </a:ln>
        </p:spPr>
      </p:sp>
      <p:sp>
        <p:nvSpPr>
          <p:cNvPr id="2287779" name="Line 1187"/>
          <p:cNvSpPr/>
          <p:nvPr/>
        </p:nvSpPr>
        <p:spPr>
          <a:xfrm flipV="1">
            <a:off x="2230438" y="4808538"/>
            <a:ext cx="0" cy="1141412"/>
          </a:xfrm>
          <a:prstGeom prst="line">
            <a:avLst/>
          </a:prstGeom>
          <a:ln w="19050" cap="flat" cmpd="sng">
            <a:solidFill>
              <a:schemeClr val="tx1"/>
            </a:solidFill>
            <a:prstDash val="solid"/>
            <a:headEnd type="none" w="med" len="med"/>
            <a:tailEnd type="triangle" w="med" len="med"/>
          </a:ln>
        </p:spPr>
      </p:sp>
      <p:sp>
        <p:nvSpPr>
          <p:cNvPr id="2287780" name="Line 1188"/>
          <p:cNvSpPr/>
          <p:nvPr/>
        </p:nvSpPr>
        <p:spPr>
          <a:xfrm>
            <a:off x="1592263" y="5338763"/>
            <a:ext cx="1296987" cy="0"/>
          </a:xfrm>
          <a:prstGeom prst="line">
            <a:avLst/>
          </a:prstGeom>
          <a:ln w="25400" cap="flat" cmpd="sng">
            <a:solidFill>
              <a:srgbClr val="FF0000"/>
            </a:solidFill>
            <a:prstDash val="solid"/>
            <a:headEnd type="none" w="med" len="med"/>
            <a:tailEnd type="none" w="med" len="med"/>
          </a:ln>
        </p:spPr>
      </p:sp>
      <p:sp>
        <p:nvSpPr>
          <p:cNvPr id="2287781" name="Line 1189"/>
          <p:cNvSpPr/>
          <p:nvPr/>
        </p:nvSpPr>
        <p:spPr>
          <a:xfrm>
            <a:off x="2889250" y="5338763"/>
            <a:ext cx="0" cy="611187"/>
          </a:xfrm>
          <a:prstGeom prst="line">
            <a:avLst/>
          </a:prstGeom>
          <a:ln w="25400" cap="flat" cmpd="sng">
            <a:solidFill>
              <a:srgbClr val="FF0000"/>
            </a:solidFill>
            <a:prstDash val="solid"/>
            <a:headEnd type="none" w="med" len="med"/>
            <a:tailEnd type="none" w="med" len="med"/>
          </a:ln>
        </p:spPr>
      </p:sp>
      <p:sp>
        <p:nvSpPr>
          <p:cNvPr id="2287782" name="Text Box 1190"/>
          <p:cNvSpPr txBox="1"/>
          <p:nvPr/>
        </p:nvSpPr>
        <p:spPr>
          <a:xfrm>
            <a:off x="3455988" y="5646738"/>
            <a:ext cx="388937" cy="457200"/>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2287783" name="Text Box 1191"/>
          <p:cNvSpPr txBox="1"/>
          <p:nvPr/>
        </p:nvSpPr>
        <p:spPr>
          <a:xfrm>
            <a:off x="2560638" y="5864225"/>
            <a:ext cx="654050" cy="396875"/>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2287784" name="Text Box 1192"/>
          <p:cNvSpPr txBox="1"/>
          <p:nvPr/>
        </p:nvSpPr>
        <p:spPr>
          <a:xfrm>
            <a:off x="2087563" y="4627563"/>
            <a:ext cx="1008062" cy="396875"/>
          </a:xfrm>
          <a:prstGeom prst="rect">
            <a:avLst/>
          </a:prstGeom>
          <a:noFill/>
          <a:ln w="9525">
            <a:noFill/>
          </a:ln>
        </p:spPr>
        <p:txBody>
          <a:bodyPr>
            <a:spAutoFit/>
          </a:bodyPr>
          <a:p>
            <a:pPr algn="ctr" eaLnBrk="1" hangingPunct="1">
              <a:spcBef>
                <a:spcPct val="50000"/>
              </a:spcBef>
            </a:pPr>
            <a:r>
              <a:rPr lang="en-US" altLang="zh-CN" sz="2000" b="1" i="1" err="1">
                <a:solidFill>
                  <a:srgbClr val="FF0000"/>
                </a:solidFill>
                <a:latin typeface="Times New Roman" panose="02020603050405020304" pitchFamily="18" charset="0"/>
              </a:rPr>
              <a:t>p</a:t>
            </a:r>
            <a:r>
              <a:rPr lang="en-US" altLang="zh-CN" sz="2000" b="1" err="1">
                <a:solidFill>
                  <a:srgbClr val="FF0000"/>
                </a:solidFill>
                <a:latin typeface="Times New Roman" panose="02020603050405020304" pitchFamily="18" charset="0"/>
              </a:rPr>
              <a:t>(</a:t>
            </a:r>
            <a:r>
              <a:rPr lang="en-US" altLang="zh-CN" sz="2000" b="1" i="1" err="1">
                <a:solidFill>
                  <a:srgbClr val="FF0000"/>
                </a:solidFill>
                <a:latin typeface="Times New Roman" panose="02020603050405020304" pitchFamily="18" charset="0"/>
              </a:rPr>
              <a:t>e</a:t>
            </a:r>
            <a:r>
              <a:rPr lang="en-US" altLang="zh-CN" sz="2000" b="1">
                <a:solidFill>
                  <a:srgbClr val="FF0000"/>
                </a:solidFill>
                <a:latin typeface="Times New Roman" panose="02020603050405020304" pitchFamily="18" charset="0"/>
              </a:rPr>
              <a:t>)</a:t>
            </a:r>
            <a:endParaRPr lang="en-US" altLang="zh-CN" sz="2000" b="1">
              <a:solidFill>
                <a:srgbClr val="FF0000"/>
              </a:solidFill>
              <a:latin typeface="Times New Roman" panose="02020603050405020304" pitchFamily="18" charset="0"/>
            </a:endParaRPr>
          </a:p>
        </p:txBody>
      </p:sp>
      <p:grpSp>
        <p:nvGrpSpPr>
          <p:cNvPr id="2287785" name="Group 1193"/>
          <p:cNvGrpSpPr/>
          <p:nvPr/>
        </p:nvGrpSpPr>
        <p:grpSpPr>
          <a:xfrm>
            <a:off x="1725613" y="4703763"/>
            <a:ext cx="612775" cy="639762"/>
            <a:chOff x="164" y="3141"/>
            <a:chExt cx="386" cy="403"/>
          </a:xfrm>
        </p:grpSpPr>
        <p:sp>
          <p:nvSpPr>
            <p:cNvPr id="44051" name="Text Box 1194"/>
            <p:cNvSpPr txBox="1"/>
            <p:nvPr/>
          </p:nvSpPr>
          <p:spPr>
            <a:xfrm>
              <a:off x="164" y="3141"/>
              <a:ext cx="386" cy="250"/>
            </a:xfrm>
            <a:prstGeom prst="rect">
              <a:avLst/>
            </a:prstGeom>
            <a:noFill/>
            <a:ln w="9525">
              <a:noFill/>
            </a:ln>
          </p:spPr>
          <p:txBody>
            <a:bodyPr>
              <a:spAutoFit/>
            </a:bodyPr>
            <a:p>
              <a:pPr algn="ctr" eaLnBrk="1" hangingPunct="1">
                <a:spcBef>
                  <a:spcPct val="50000"/>
                </a:spcBef>
              </a:pPr>
              <a:r>
                <a:rPr lang="en-US" altLang="zh-CN" sz="2000" b="1">
                  <a:solidFill>
                    <a:srgbClr val="FF0000"/>
                  </a:solidFill>
                  <a:latin typeface="Times New Roman" panose="02020603050405020304" pitchFamily="18" charset="0"/>
                </a:rPr>
                <a:t>1 </a:t>
              </a:r>
              <a:endParaRPr lang="en-US" altLang="zh-CN" sz="2000" b="1">
                <a:solidFill>
                  <a:srgbClr val="FF0000"/>
                </a:solidFill>
                <a:latin typeface="Times New Roman" panose="02020603050405020304" pitchFamily="18" charset="0"/>
              </a:endParaRPr>
            </a:p>
          </p:txBody>
        </p:sp>
        <p:sp>
          <p:nvSpPr>
            <p:cNvPr id="44052" name="Text Box 1195"/>
            <p:cNvSpPr txBox="1"/>
            <p:nvPr/>
          </p:nvSpPr>
          <p:spPr>
            <a:xfrm>
              <a:off x="231" y="3294"/>
              <a:ext cx="245"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q</a:t>
              </a:r>
              <a:endParaRPr lang="en-US" altLang="zh-CN" sz="2000" b="1" i="1">
                <a:solidFill>
                  <a:srgbClr val="FF0000"/>
                </a:solidFill>
                <a:latin typeface="Times New Roman" panose="02020603050405020304" pitchFamily="18" charset="0"/>
              </a:endParaRPr>
            </a:p>
          </p:txBody>
        </p:sp>
        <p:sp>
          <p:nvSpPr>
            <p:cNvPr id="44053" name="Line 1196"/>
            <p:cNvSpPr/>
            <p:nvPr/>
          </p:nvSpPr>
          <p:spPr>
            <a:xfrm>
              <a:off x="277" y="3363"/>
              <a:ext cx="154" cy="0"/>
            </a:xfrm>
            <a:prstGeom prst="line">
              <a:avLst/>
            </a:prstGeom>
            <a:ln w="19050" cap="flat" cmpd="sng">
              <a:solidFill>
                <a:srgbClr val="FF0000"/>
              </a:solidFill>
              <a:prstDash val="solid"/>
              <a:headEnd type="none" w="med" len="med"/>
              <a:tailEnd type="none" w="med" len="med"/>
            </a:ln>
          </p:spPr>
        </p:sp>
      </p:grpSp>
      <p:sp>
        <p:nvSpPr>
          <p:cNvPr id="2287789" name="Line 1197"/>
          <p:cNvSpPr/>
          <p:nvPr/>
        </p:nvSpPr>
        <p:spPr>
          <a:xfrm>
            <a:off x="1603375" y="5343525"/>
            <a:ext cx="0" cy="611188"/>
          </a:xfrm>
          <a:prstGeom prst="line">
            <a:avLst/>
          </a:prstGeom>
          <a:ln w="25400" cap="flat" cmpd="sng">
            <a:solidFill>
              <a:srgbClr val="FF0000"/>
            </a:solidFill>
            <a:prstDash val="solid"/>
            <a:headEnd type="none" w="med" len="med"/>
            <a:tailEnd type="none" w="med" len="med"/>
          </a:ln>
        </p:spPr>
      </p:sp>
      <p:sp>
        <p:nvSpPr>
          <p:cNvPr id="2287790" name="Text Box 1198"/>
          <p:cNvSpPr txBox="1"/>
          <p:nvPr/>
        </p:nvSpPr>
        <p:spPr>
          <a:xfrm>
            <a:off x="1265238" y="5873750"/>
            <a:ext cx="654050" cy="396875"/>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87647"/>
                                        </p:tgtEl>
                                        <p:attrNameLst>
                                          <p:attrName>style.visibility</p:attrName>
                                        </p:attrNameLst>
                                      </p:cBhvr>
                                      <p:to>
                                        <p:strVal val="visible"/>
                                      </p:to>
                                    </p:set>
                                    <p:animEffect transition="in" filter="dissolve">
                                      <p:cBhvr>
                                        <p:cTn id="7" dur="500"/>
                                        <p:tgtEl>
                                          <p:spTgt spid="22876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87791"/>
                                        </p:tgtEl>
                                        <p:attrNameLst>
                                          <p:attrName>style.visibility</p:attrName>
                                        </p:attrNameLst>
                                      </p:cBhvr>
                                      <p:to>
                                        <p:strVal val="visible"/>
                                      </p:to>
                                    </p:set>
                                    <p:animEffect transition="in" filter="dissolve">
                                      <p:cBhvr>
                                        <p:cTn id="12" dur="500"/>
                                        <p:tgtEl>
                                          <p:spTgt spid="22877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87775"/>
                                        </p:tgtEl>
                                        <p:attrNameLst>
                                          <p:attrName>style.visibility</p:attrName>
                                        </p:attrNameLst>
                                      </p:cBhvr>
                                      <p:to>
                                        <p:strVal val="visible"/>
                                      </p:to>
                                    </p:set>
                                    <p:animEffect transition="in" filter="dissolve">
                                      <p:cBhvr>
                                        <p:cTn id="17" dur="500"/>
                                        <p:tgtEl>
                                          <p:spTgt spid="228777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87776"/>
                                        </p:tgtEl>
                                        <p:attrNameLst>
                                          <p:attrName>style.visibility</p:attrName>
                                        </p:attrNameLst>
                                      </p:cBhvr>
                                      <p:to>
                                        <p:strVal val="visible"/>
                                      </p:to>
                                    </p:set>
                                    <p:animEffect transition="in" filter="dissolve">
                                      <p:cBhvr>
                                        <p:cTn id="22" dur="500"/>
                                        <p:tgtEl>
                                          <p:spTgt spid="2287776"/>
                                        </p:tgtEl>
                                      </p:cBhvr>
                                    </p:animEffect>
                                  </p:childTnLst>
                                </p:cTn>
                              </p:par>
                              <p:par>
                                <p:cTn id="23" presetID="9" presetClass="entr" presetSubtype="0" fill="hold" nodeType="withEffect">
                                  <p:stCondLst>
                                    <p:cond delay="0"/>
                                  </p:stCondLst>
                                  <p:childTnLst>
                                    <p:set>
                                      <p:cBhvr>
                                        <p:cTn id="24" dur="1" fill="hold">
                                          <p:stCondLst>
                                            <p:cond delay="0"/>
                                          </p:stCondLst>
                                        </p:cTn>
                                        <p:tgtEl>
                                          <p:spTgt spid="2287778"/>
                                        </p:tgtEl>
                                        <p:attrNameLst>
                                          <p:attrName>style.visibility</p:attrName>
                                        </p:attrNameLst>
                                      </p:cBhvr>
                                      <p:to>
                                        <p:strVal val="visible"/>
                                      </p:to>
                                    </p:set>
                                    <p:animEffect transition="in" filter="dissolve">
                                      <p:cBhvr>
                                        <p:cTn id="25" dur="500"/>
                                        <p:tgtEl>
                                          <p:spTgt spid="2287778"/>
                                        </p:tgtEl>
                                      </p:cBhvr>
                                    </p:animEffect>
                                  </p:childTnLst>
                                </p:cTn>
                              </p:par>
                              <p:par>
                                <p:cTn id="26" presetID="9" presetClass="entr" presetSubtype="0" fill="hold" nodeType="withEffect">
                                  <p:stCondLst>
                                    <p:cond delay="0"/>
                                  </p:stCondLst>
                                  <p:childTnLst>
                                    <p:set>
                                      <p:cBhvr>
                                        <p:cTn id="27" dur="1" fill="hold">
                                          <p:stCondLst>
                                            <p:cond delay="0"/>
                                          </p:stCondLst>
                                        </p:cTn>
                                        <p:tgtEl>
                                          <p:spTgt spid="2287779"/>
                                        </p:tgtEl>
                                        <p:attrNameLst>
                                          <p:attrName>style.visibility</p:attrName>
                                        </p:attrNameLst>
                                      </p:cBhvr>
                                      <p:to>
                                        <p:strVal val="visible"/>
                                      </p:to>
                                    </p:set>
                                    <p:animEffect transition="in" filter="dissolve">
                                      <p:cBhvr>
                                        <p:cTn id="28" dur="500"/>
                                        <p:tgtEl>
                                          <p:spTgt spid="2287779"/>
                                        </p:tgtEl>
                                      </p:cBhvr>
                                    </p:animEffect>
                                  </p:childTnLst>
                                </p:cTn>
                              </p:par>
                              <p:par>
                                <p:cTn id="29" presetID="9" presetClass="entr" presetSubtype="0" fill="hold" nodeType="withEffect">
                                  <p:stCondLst>
                                    <p:cond delay="0"/>
                                  </p:stCondLst>
                                  <p:childTnLst>
                                    <p:set>
                                      <p:cBhvr>
                                        <p:cTn id="30" dur="1" fill="hold">
                                          <p:stCondLst>
                                            <p:cond delay="0"/>
                                          </p:stCondLst>
                                        </p:cTn>
                                        <p:tgtEl>
                                          <p:spTgt spid="2287780"/>
                                        </p:tgtEl>
                                        <p:attrNameLst>
                                          <p:attrName>style.visibility</p:attrName>
                                        </p:attrNameLst>
                                      </p:cBhvr>
                                      <p:to>
                                        <p:strVal val="visible"/>
                                      </p:to>
                                    </p:set>
                                    <p:animEffect transition="in" filter="dissolve">
                                      <p:cBhvr>
                                        <p:cTn id="31" dur="500"/>
                                        <p:tgtEl>
                                          <p:spTgt spid="2287780"/>
                                        </p:tgtEl>
                                      </p:cBhvr>
                                    </p:animEffect>
                                  </p:childTnLst>
                                </p:cTn>
                              </p:par>
                              <p:par>
                                <p:cTn id="32" presetID="9" presetClass="entr" presetSubtype="0" fill="hold" nodeType="withEffect">
                                  <p:stCondLst>
                                    <p:cond delay="0"/>
                                  </p:stCondLst>
                                  <p:childTnLst>
                                    <p:set>
                                      <p:cBhvr>
                                        <p:cTn id="33" dur="1" fill="hold">
                                          <p:stCondLst>
                                            <p:cond delay="0"/>
                                          </p:stCondLst>
                                        </p:cTn>
                                        <p:tgtEl>
                                          <p:spTgt spid="2287781"/>
                                        </p:tgtEl>
                                        <p:attrNameLst>
                                          <p:attrName>style.visibility</p:attrName>
                                        </p:attrNameLst>
                                      </p:cBhvr>
                                      <p:to>
                                        <p:strVal val="visible"/>
                                      </p:to>
                                    </p:set>
                                    <p:animEffect transition="in" filter="dissolve">
                                      <p:cBhvr>
                                        <p:cTn id="34" dur="500"/>
                                        <p:tgtEl>
                                          <p:spTgt spid="2287781"/>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287782"/>
                                        </p:tgtEl>
                                        <p:attrNameLst>
                                          <p:attrName>style.visibility</p:attrName>
                                        </p:attrNameLst>
                                      </p:cBhvr>
                                      <p:to>
                                        <p:strVal val="visible"/>
                                      </p:to>
                                    </p:set>
                                    <p:animEffect transition="in" filter="dissolve">
                                      <p:cBhvr>
                                        <p:cTn id="37" dur="500"/>
                                        <p:tgtEl>
                                          <p:spTgt spid="2287782"/>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287783"/>
                                        </p:tgtEl>
                                        <p:attrNameLst>
                                          <p:attrName>style.visibility</p:attrName>
                                        </p:attrNameLst>
                                      </p:cBhvr>
                                      <p:to>
                                        <p:strVal val="visible"/>
                                      </p:to>
                                    </p:set>
                                    <p:animEffect transition="in" filter="dissolve">
                                      <p:cBhvr>
                                        <p:cTn id="40" dur="500"/>
                                        <p:tgtEl>
                                          <p:spTgt spid="2287783"/>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287784"/>
                                        </p:tgtEl>
                                        <p:attrNameLst>
                                          <p:attrName>style.visibility</p:attrName>
                                        </p:attrNameLst>
                                      </p:cBhvr>
                                      <p:to>
                                        <p:strVal val="visible"/>
                                      </p:to>
                                    </p:set>
                                    <p:animEffect transition="in" filter="dissolve">
                                      <p:cBhvr>
                                        <p:cTn id="43" dur="500"/>
                                        <p:tgtEl>
                                          <p:spTgt spid="2287784"/>
                                        </p:tgtEl>
                                      </p:cBhvr>
                                    </p:animEffect>
                                  </p:childTnLst>
                                </p:cTn>
                              </p:par>
                              <p:par>
                                <p:cTn id="44" presetID="9" presetClass="entr" presetSubtype="0" fill="hold" nodeType="withEffect">
                                  <p:stCondLst>
                                    <p:cond delay="0"/>
                                  </p:stCondLst>
                                  <p:childTnLst>
                                    <p:set>
                                      <p:cBhvr>
                                        <p:cTn id="45" dur="1" fill="hold">
                                          <p:stCondLst>
                                            <p:cond delay="0"/>
                                          </p:stCondLst>
                                        </p:cTn>
                                        <p:tgtEl>
                                          <p:spTgt spid="2287785"/>
                                        </p:tgtEl>
                                        <p:attrNameLst>
                                          <p:attrName>style.visibility</p:attrName>
                                        </p:attrNameLst>
                                      </p:cBhvr>
                                      <p:to>
                                        <p:strVal val="visible"/>
                                      </p:to>
                                    </p:set>
                                    <p:animEffect transition="in" filter="dissolve">
                                      <p:cBhvr>
                                        <p:cTn id="46" dur="500"/>
                                        <p:tgtEl>
                                          <p:spTgt spid="2287785"/>
                                        </p:tgtEl>
                                      </p:cBhvr>
                                    </p:animEffect>
                                  </p:childTnLst>
                                </p:cTn>
                              </p:par>
                              <p:par>
                                <p:cTn id="47" presetID="9" presetClass="entr" presetSubtype="0" fill="hold" nodeType="withEffect">
                                  <p:stCondLst>
                                    <p:cond delay="0"/>
                                  </p:stCondLst>
                                  <p:childTnLst>
                                    <p:set>
                                      <p:cBhvr>
                                        <p:cTn id="48" dur="1" fill="hold">
                                          <p:stCondLst>
                                            <p:cond delay="0"/>
                                          </p:stCondLst>
                                        </p:cTn>
                                        <p:tgtEl>
                                          <p:spTgt spid="2287789"/>
                                        </p:tgtEl>
                                        <p:attrNameLst>
                                          <p:attrName>style.visibility</p:attrName>
                                        </p:attrNameLst>
                                      </p:cBhvr>
                                      <p:to>
                                        <p:strVal val="visible"/>
                                      </p:to>
                                    </p:set>
                                    <p:animEffect transition="in" filter="dissolve">
                                      <p:cBhvr>
                                        <p:cTn id="49" dur="500"/>
                                        <p:tgtEl>
                                          <p:spTgt spid="228778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287790"/>
                                        </p:tgtEl>
                                        <p:attrNameLst>
                                          <p:attrName>style.visibility</p:attrName>
                                        </p:attrNameLst>
                                      </p:cBhvr>
                                      <p:to>
                                        <p:strVal val="visible"/>
                                      </p:to>
                                    </p:set>
                                    <p:animEffect transition="in" filter="dissolve">
                                      <p:cBhvr>
                                        <p:cTn id="52" dur="500"/>
                                        <p:tgtEl>
                                          <p:spTgt spid="22877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7647" grpId="0"/>
      <p:bldP spid="2287775" grpId="0" bldLvl="0" animBg="1"/>
      <p:bldP spid="2287776" grpId="0"/>
      <p:bldP spid="2287782" grpId="0"/>
      <p:bldP spid="2287783" grpId="0"/>
      <p:bldP spid="2287784" grpId="0"/>
      <p:bldP spid="228779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6770" name="Text Box 2"/>
          <p:cNvSpPr txBox="1"/>
          <p:nvPr/>
        </p:nvSpPr>
        <p:spPr>
          <a:xfrm>
            <a:off x="719138" y="2205038"/>
            <a:ext cx="5365750" cy="519112"/>
          </a:xfrm>
          <a:prstGeom prst="rect">
            <a:avLst/>
          </a:prstGeom>
          <a:no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平均误差</a:t>
            </a:r>
            <a:r>
              <a:rPr lang="en-US" altLang="zh-CN" sz="2800" b="1">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误差的数学期望</a:t>
            </a:r>
            <a:r>
              <a:rPr lang="en-US" altLang="zh-CN" sz="2800" b="1">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为：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36772" name="Text Box 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5060" name="Text Box 5"/>
          <p:cNvSpPr txBox="1"/>
          <p:nvPr/>
        </p:nvSpPr>
        <p:spPr>
          <a:xfrm>
            <a:off x="468313" y="1449388"/>
            <a:ext cx="5616575"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2.</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有舍有入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36775" name="Text Box 7"/>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336776" name="Text Box 8"/>
          <p:cNvSpPr txBox="1"/>
          <p:nvPr/>
        </p:nvSpPr>
        <p:spPr>
          <a:xfrm>
            <a:off x="1663700" y="4113213"/>
            <a:ext cx="6256338" cy="519112"/>
          </a:xfrm>
          <a:prstGeom prst="rect">
            <a:avLst/>
          </a:prstGeom>
          <a:noFill/>
          <a:ln w="9525">
            <a:noFill/>
          </a:ln>
        </p:spPr>
        <p:txBody>
          <a:bodyPr wrap="none">
            <a:spAutoFit/>
          </a:bodyPr>
          <a:p>
            <a:pPr algn="l" eaLnBrk="1" hangingPunct="1"/>
            <a:r>
              <a:rPr lang="zh-CN" altLang="en-US" sz="2800" b="1" dirty="0">
                <a:solidFill>
                  <a:srgbClr val="333399"/>
                </a:solidFill>
                <a:latin typeface="楷体_GB2312" pitchFamily="49" charset="-122"/>
              </a:rPr>
              <a:t>由于平均误差等于零，故称为</a:t>
            </a:r>
            <a:r>
              <a:rPr lang="zh-CN" altLang="en-US" sz="2800" b="1" dirty="0">
                <a:solidFill>
                  <a:srgbClr val="FF0000"/>
                </a:solidFill>
                <a:latin typeface="楷体_GB2312" pitchFamily="49" charset="-122"/>
              </a:rPr>
              <a:t>无偏的</a:t>
            </a:r>
            <a:r>
              <a:rPr lang="zh-CN" altLang="en-US" sz="2800" b="1" dirty="0">
                <a:solidFill>
                  <a:srgbClr val="333399"/>
                </a:solidFill>
                <a:latin typeface="楷体_GB2312" pitchFamily="49" charset="-122"/>
              </a:rPr>
              <a:t>。</a:t>
            </a:r>
            <a:endParaRPr lang="zh-CN" altLang="en-US" sz="2800" b="1" dirty="0">
              <a:solidFill>
                <a:srgbClr val="333399"/>
              </a:solidFill>
              <a:latin typeface="楷体_GB2312" pitchFamily="49" charset="-122"/>
            </a:endParaRPr>
          </a:p>
        </p:txBody>
      </p:sp>
      <p:graphicFrame>
        <p:nvGraphicFramePr>
          <p:cNvPr id="45064" name="Object 9"/>
          <p:cNvGraphicFramePr>
            <a:graphicFrameLocks noChangeAspect="1"/>
          </p:cNvGraphicFramePr>
          <p:nvPr/>
        </p:nvGraphicFramePr>
        <p:xfrm>
          <a:off x="3959225" y="5013325"/>
          <a:ext cx="1525588" cy="977900"/>
        </p:xfrm>
        <a:graphic>
          <a:graphicData uri="http://schemas.openxmlformats.org/presentationml/2006/ole">
            <mc:AlternateContent xmlns:mc="http://schemas.openxmlformats.org/markup-compatibility/2006">
              <mc:Choice xmlns:v="urn:schemas-microsoft-com:vml" Requires="v">
                <p:oleObj spid="_x0000_s3166" name="" r:id="rId1" imgW="546100" imgH="393700" progId="Equation.3">
                  <p:embed/>
                </p:oleObj>
              </mc:Choice>
              <mc:Fallback>
                <p:oleObj name="" r:id="rId1" imgW="546100" imgH="393700" progId="Equation.3">
                  <p:embed/>
                  <p:pic>
                    <p:nvPicPr>
                      <p:cNvPr id="0" name="图片 3165"/>
                      <p:cNvPicPr/>
                      <p:nvPr/>
                    </p:nvPicPr>
                    <p:blipFill>
                      <a:blip r:embed="rId2"/>
                      <a:stretch>
                        <a:fillRect/>
                      </a:stretch>
                    </p:blipFill>
                    <p:spPr>
                      <a:xfrm>
                        <a:off x="3959225" y="5013325"/>
                        <a:ext cx="1525588" cy="977900"/>
                      </a:xfrm>
                      <a:prstGeom prst="rect">
                        <a:avLst/>
                      </a:prstGeom>
                      <a:solidFill>
                        <a:srgbClr val="CCFFFF"/>
                      </a:solidFill>
                      <a:ln w="38100">
                        <a:noFill/>
                        <a:miter/>
                      </a:ln>
                    </p:spPr>
                  </p:pic>
                </p:oleObj>
              </mc:Fallback>
            </mc:AlternateContent>
          </a:graphicData>
        </a:graphic>
      </p:graphicFrame>
      <p:sp>
        <p:nvSpPr>
          <p:cNvPr id="2336778" name="Rectangle 10"/>
          <p:cNvSpPr/>
          <p:nvPr/>
        </p:nvSpPr>
        <p:spPr>
          <a:xfrm>
            <a:off x="719138" y="4854575"/>
            <a:ext cx="3041650" cy="519113"/>
          </a:xfrm>
          <a:prstGeom prst="rect">
            <a:avLst/>
          </a:prstGeom>
          <a:noFill/>
          <a:ln w="9525">
            <a:noFill/>
          </a:ln>
        </p:spPr>
        <p:txBody>
          <a:bodyPr wrap="none">
            <a:spAutoFit/>
          </a:bodyPr>
          <a:p>
            <a:pPr algn="ctr" eaLnBrk="1" hangingPunct="1"/>
            <a:r>
              <a:rPr lang="zh-CN" altLang="en-US" sz="2800" b="1" dirty="0">
                <a:solidFill>
                  <a:schemeClr val="tx1"/>
                </a:solidFill>
                <a:latin typeface="黑体" panose="02010609060101010101" pitchFamily="49" charset="-122"/>
                <a:ea typeface="黑体" panose="02010609060101010101" pitchFamily="49" charset="-122"/>
              </a:rPr>
              <a:t>最大量化误差为：</a:t>
            </a:r>
            <a:endParaRPr lang="zh-CN" altLang="en-US" sz="2800" b="1" dirty="0">
              <a:solidFill>
                <a:schemeClr val="tx1"/>
              </a:solidFill>
              <a:latin typeface="黑体" panose="02010609060101010101" pitchFamily="49" charset="-122"/>
              <a:ea typeface="黑体" panose="02010609060101010101" pitchFamily="49" charset="-122"/>
            </a:endParaRPr>
          </a:p>
        </p:txBody>
      </p:sp>
      <p:graphicFrame>
        <p:nvGraphicFramePr>
          <p:cNvPr id="45066" name="Object 11"/>
          <p:cNvGraphicFramePr>
            <a:graphicFrameLocks noChangeAspect="1"/>
          </p:cNvGraphicFramePr>
          <p:nvPr/>
        </p:nvGraphicFramePr>
        <p:xfrm>
          <a:off x="2016125" y="2828925"/>
          <a:ext cx="5130800" cy="1060450"/>
        </p:xfrm>
        <a:graphic>
          <a:graphicData uri="http://schemas.openxmlformats.org/presentationml/2006/ole">
            <mc:AlternateContent xmlns:mc="http://schemas.openxmlformats.org/markup-compatibility/2006">
              <mc:Choice xmlns:v="urn:schemas-microsoft-com:vml" Requires="v">
                <p:oleObj spid="_x0000_s3165" name="" r:id="rId3" imgW="1803400" imgH="457200" progId="Equation.3">
                  <p:embed/>
                </p:oleObj>
              </mc:Choice>
              <mc:Fallback>
                <p:oleObj name="" r:id="rId3" imgW="1803400" imgH="457200" progId="Equation.3">
                  <p:embed/>
                  <p:pic>
                    <p:nvPicPr>
                      <p:cNvPr id="0" name="图片 3164"/>
                      <p:cNvPicPr/>
                      <p:nvPr/>
                    </p:nvPicPr>
                    <p:blipFill>
                      <a:blip r:embed="rId4"/>
                      <a:stretch>
                        <a:fillRect/>
                      </a:stretch>
                    </p:blipFill>
                    <p:spPr>
                      <a:xfrm>
                        <a:off x="2016125" y="2828925"/>
                        <a:ext cx="5130800" cy="1060450"/>
                      </a:xfrm>
                      <a:prstGeom prst="rect">
                        <a:avLst/>
                      </a:prstGeom>
                      <a:solidFill>
                        <a:srgbClr val="CCFFFF"/>
                      </a:solidFill>
                      <a:ln w="38100">
                        <a:noFill/>
                        <a:miter/>
                      </a:ln>
                    </p:spPr>
                  </p:pic>
                </p:oleObj>
              </mc:Fallback>
            </mc:AlternateContent>
          </a:graphicData>
        </a:graphic>
      </p:graphicFrame>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6770"/>
                                        </p:tgtEl>
                                        <p:attrNameLst>
                                          <p:attrName>style.visibility</p:attrName>
                                        </p:attrNameLst>
                                      </p:cBhvr>
                                      <p:to>
                                        <p:strVal val="visible"/>
                                      </p:to>
                                    </p:set>
                                    <p:animEffect transition="in" filter="dissolve">
                                      <p:cBhvr>
                                        <p:cTn id="7" dur="500"/>
                                        <p:tgtEl>
                                          <p:spTgt spid="233677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45066"/>
                                        </p:tgtEl>
                                        <p:attrNameLst>
                                          <p:attrName>style.visibility</p:attrName>
                                        </p:attrNameLst>
                                      </p:cBhvr>
                                      <p:to>
                                        <p:strVal val="visible"/>
                                      </p:to>
                                    </p:set>
                                    <p:animEffect transition="in" filter="dissolve">
                                      <p:cBhvr>
                                        <p:cTn id="11" dur="500"/>
                                        <p:tgtEl>
                                          <p:spTgt spid="4506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336776"/>
                                        </p:tgtEl>
                                        <p:attrNameLst>
                                          <p:attrName>style.visibility</p:attrName>
                                        </p:attrNameLst>
                                      </p:cBhvr>
                                      <p:to>
                                        <p:strVal val="visible"/>
                                      </p:to>
                                    </p:set>
                                    <p:animEffect transition="in" filter="dissolve">
                                      <p:cBhvr>
                                        <p:cTn id="16" dur="500"/>
                                        <p:tgtEl>
                                          <p:spTgt spid="233677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336778"/>
                                        </p:tgtEl>
                                        <p:attrNameLst>
                                          <p:attrName>style.visibility</p:attrName>
                                        </p:attrNameLst>
                                      </p:cBhvr>
                                      <p:to>
                                        <p:strVal val="visible"/>
                                      </p:to>
                                    </p:set>
                                    <p:animEffect transition="in" filter="dissolve">
                                      <p:cBhvr>
                                        <p:cTn id="21" dur="500"/>
                                        <p:tgtEl>
                                          <p:spTgt spid="2336778"/>
                                        </p:tgtEl>
                                      </p:cBhvr>
                                    </p:animEffect>
                                  </p:childTnLst>
                                </p:cTn>
                              </p:par>
                            </p:childTnLst>
                          </p:cTn>
                        </p:par>
                        <p:par>
                          <p:cTn id="22" fill="hold">
                            <p:stCondLst>
                              <p:cond delay="500"/>
                            </p:stCondLst>
                            <p:childTnLst>
                              <p:par>
                                <p:cTn id="23" presetID="9" presetClass="entr" presetSubtype="0" fill="hold" nodeType="afterEffect">
                                  <p:stCondLst>
                                    <p:cond delay="0"/>
                                  </p:stCondLst>
                                  <p:childTnLst>
                                    <p:set>
                                      <p:cBhvr>
                                        <p:cTn id="24" dur="1" fill="hold">
                                          <p:stCondLst>
                                            <p:cond delay="0"/>
                                          </p:stCondLst>
                                        </p:cTn>
                                        <p:tgtEl>
                                          <p:spTgt spid="45064"/>
                                        </p:tgtEl>
                                        <p:attrNameLst>
                                          <p:attrName>style.visibility</p:attrName>
                                        </p:attrNameLst>
                                      </p:cBhvr>
                                      <p:to>
                                        <p:strVal val="visible"/>
                                      </p:to>
                                    </p:set>
                                    <p:animEffect transition="in" filter="dissolve">
                                      <p:cBhvr>
                                        <p:cTn id="25" dur="500"/>
                                        <p:tgtEl>
                                          <p:spTgt spid="450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6770" grpId="0"/>
      <p:bldP spid="2336776" grpId="0"/>
      <p:bldP spid="2336778"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7794" name="Text Box 2"/>
          <p:cNvSpPr txBox="1"/>
          <p:nvPr/>
        </p:nvSpPr>
        <p:spPr>
          <a:xfrm>
            <a:off x="935038" y="2097088"/>
            <a:ext cx="3529012" cy="519112"/>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量化误差的方差为：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37796" name="Text Box 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6084" name="Text Box 5"/>
          <p:cNvSpPr txBox="1"/>
          <p:nvPr/>
        </p:nvSpPr>
        <p:spPr>
          <a:xfrm>
            <a:off x="468313" y="1449388"/>
            <a:ext cx="5616575"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FF0000"/>
                </a:solidFill>
                <a:latin typeface="黑体" panose="02010609060101010101" pitchFamily="49" charset="-122"/>
                <a:ea typeface="黑体" panose="02010609060101010101" pitchFamily="49" charset="-122"/>
              </a:rPr>
              <a:t>2.</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FF0000"/>
                </a:solidFill>
                <a:latin typeface="黑体" panose="02010609060101010101" pitchFamily="49" charset="-122"/>
                <a:ea typeface="黑体" panose="02010609060101010101" pitchFamily="49" charset="-122"/>
              </a:rPr>
              <a:t>有舍有入</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法引起的量化误差</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37799" name="Text Box 7"/>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337800" name="Text Box 8"/>
          <p:cNvSpPr txBox="1"/>
          <p:nvPr/>
        </p:nvSpPr>
        <p:spPr>
          <a:xfrm>
            <a:off x="971550" y="3933825"/>
            <a:ext cx="7237413" cy="946150"/>
          </a:xfrm>
          <a:prstGeom prst="rect">
            <a:avLst/>
          </a:prstGeom>
          <a:solidFill>
            <a:srgbClr val="FFCC99"/>
          </a:solid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即使模拟信号</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t</a:t>
            </a:r>
            <a:r>
              <a:rPr lang="en-US" altLang="zh-CN" sz="2800" b="1">
                <a:solidFill>
                  <a:srgbClr val="FF0000"/>
                </a:solidFill>
                <a:latin typeface="Times New Roman" panose="02020603050405020304" pitchFamily="18" charset="0"/>
                <a:ea typeface="宋体" panose="02010600030101010101" pitchFamily="2" charset="-122"/>
              </a:rPr>
              <a:t>)</a:t>
            </a:r>
            <a:r>
              <a:rPr lang="zh-CN" altLang="en-US" sz="2800" b="1" dirty="0">
                <a:solidFill>
                  <a:srgbClr val="3333FF"/>
                </a:solidFill>
                <a:latin typeface="Times New Roman" panose="02020603050405020304" pitchFamily="18" charset="0"/>
              </a:rPr>
              <a:t>为无噪声信号，经过量化器量化后，量化信号</a:t>
            </a:r>
            <a:r>
              <a:rPr lang="en-US" altLang="zh-CN" sz="2800" b="1" i="1" err="1">
                <a:solidFill>
                  <a:srgbClr val="FF0000"/>
                </a:solidFill>
                <a:latin typeface="Times New Roman" panose="02020603050405020304" pitchFamily="18" charset="0"/>
              </a:rPr>
              <a:t>x</a:t>
            </a:r>
            <a:r>
              <a:rPr lang="en-US" altLang="zh-CN" sz="2800" b="1" i="1" baseline="-25000" err="1">
                <a:solidFill>
                  <a:srgbClr val="FF0000"/>
                </a:solidFill>
                <a:latin typeface="Times New Roman" panose="02020603050405020304" pitchFamily="18" charset="0"/>
              </a:rPr>
              <a:t>q</a:t>
            </a:r>
            <a:r>
              <a:rPr lang="en-US" altLang="zh-CN" sz="2800" b="1" err="1">
                <a:solidFill>
                  <a:srgbClr val="FF0000"/>
                </a:solidFill>
                <a:latin typeface="Times New Roman" panose="02020603050405020304" pitchFamily="18" charset="0"/>
              </a:rPr>
              <a:t>(</a:t>
            </a:r>
            <a:r>
              <a:rPr lang="en-US" altLang="zh-CN" sz="2800" b="1" i="1" err="1">
                <a:solidFill>
                  <a:srgbClr val="FF0000"/>
                </a:solidFill>
                <a:latin typeface="Times New Roman" panose="02020603050405020304" pitchFamily="18" charset="0"/>
              </a:rPr>
              <a:t>nT</a:t>
            </a:r>
            <a:r>
              <a:rPr lang="en-US" altLang="zh-CN" sz="2800" b="1" i="1" baseline="-25000" err="1">
                <a:solidFill>
                  <a:srgbClr val="FF0000"/>
                </a:solidFill>
                <a:latin typeface="Times New Roman" panose="02020603050405020304" pitchFamily="18" charset="0"/>
              </a:rPr>
              <a:t>s</a:t>
            </a:r>
            <a:r>
              <a:rPr lang="en-US" altLang="zh-CN" sz="2800" b="1">
                <a:solidFill>
                  <a:srgbClr val="FF0000"/>
                </a:solidFill>
                <a:latin typeface="Times New Roman" panose="02020603050405020304" pitchFamily="18" charset="0"/>
              </a:rPr>
              <a:t>)</a:t>
            </a:r>
            <a:r>
              <a:rPr lang="zh-CN" altLang="en-US" sz="2800" b="1" dirty="0">
                <a:solidFill>
                  <a:srgbClr val="3333FF"/>
                </a:solidFill>
                <a:latin typeface="楷体_GB2312" pitchFamily="49" charset="-122"/>
              </a:rPr>
              <a:t>将包含噪声</a:t>
            </a:r>
            <a:r>
              <a:rPr lang="en-US" altLang="zh-CN" sz="2800" b="1" i="1">
                <a:solidFill>
                  <a:srgbClr val="FF0000"/>
                </a:solidFill>
                <a:latin typeface="Times New Roman" panose="02020603050405020304" pitchFamily="18" charset="0"/>
              </a:rPr>
              <a:t>q</a:t>
            </a:r>
            <a:r>
              <a:rPr lang="en-US" altLang="zh-CN" sz="2800" b="1" baseline="30000">
                <a:solidFill>
                  <a:srgbClr val="FF0000"/>
                </a:solidFill>
                <a:latin typeface="Times New Roman" panose="02020603050405020304" pitchFamily="18" charset="0"/>
              </a:rPr>
              <a:t>2</a:t>
            </a:r>
            <a:r>
              <a:rPr lang="en-US" altLang="zh-CN" sz="2800" b="1">
                <a:solidFill>
                  <a:srgbClr val="FF0000"/>
                </a:solidFill>
                <a:latin typeface="Times New Roman" panose="02020603050405020304" pitchFamily="18" charset="0"/>
              </a:rPr>
              <a:t>/12</a:t>
            </a:r>
            <a:endParaRPr lang="en-US" altLang="zh-CN" sz="2800" b="1" i="1">
              <a:solidFill>
                <a:srgbClr val="FF0000"/>
              </a:solidFill>
              <a:latin typeface="Times New Roman" panose="02020603050405020304" pitchFamily="18" charset="0"/>
              <a:ea typeface="宋体" panose="02010600030101010101" pitchFamily="2" charset="-122"/>
            </a:endParaRPr>
          </a:p>
        </p:txBody>
      </p:sp>
      <p:sp>
        <p:nvSpPr>
          <p:cNvPr id="2337801" name="Text Box 9"/>
          <p:cNvSpPr txBox="1"/>
          <p:nvPr/>
        </p:nvSpPr>
        <p:spPr>
          <a:xfrm>
            <a:off x="906463" y="5029200"/>
            <a:ext cx="4313237" cy="519113"/>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量化误差的标准差为：</a:t>
            </a:r>
            <a:endParaRPr lang="zh-CN" altLang="en-US" sz="2800" b="1" dirty="0">
              <a:solidFill>
                <a:schemeClr val="tx1"/>
              </a:solidFill>
              <a:latin typeface="黑体" panose="02010609060101010101" pitchFamily="49" charset="-122"/>
              <a:ea typeface="黑体" panose="02010609060101010101" pitchFamily="49" charset="-122"/>
            </a:endParaRPr>
          </a:p>
        </p:txBody>
      </p:sp>
      <p:graphicFrame>
        <p:nvGraphicFramePr>
          <p:cNvPr id="46089" name="Object 10"/>
          <p:cNvGraphicFramePr>
            <a:graphicFrameLocks noChangeAspect="1"/>
          </p:cNvGraphicFramePr>
          <p:nvPr/>
        </p:nvGraphicFramePr>
        <p:xfrm>
          <a:off x="4692650" y="5059363"/>
          <a:ext cx="3119438" cy="1033462"/>
        </p:xfrm>
        <a:graphic>
          <a:graphicData uri="http://schemas.openxmlformats.org/presentationml/2006/ole">
            <mc:AlternateContent xmlns:mc="http://schemas.openxmlformats.org/markup-compatibility/2006">
              <mc:Choice xmlns:v="urn:schemas-microsoft-com:vml" Requires="v">
                <p:oleObj spid="_x0000_s3167" name="" r:id="rId1" imgW="1180465" imgH="419100" progId="Equation.3">
                  <p:embed/>
                </p:oleObj>
              </mc:Choice>
              <mc:Fallback>
                <p:oleObj name="" r:id="rId1" imgW="1180465" imgH="419100" progId="Equation.3">
                  <p:embed/>
                  <p:pic>
                    <p:nvPicPr>
                      <p:cNvPr id="0" name="图片 3166"/>
                      <p:cNvPicPr/>
                      <p:nvPr/>
                    </p:nvPicPr>
                    <p:blipFill>
                      <a:blip r:embed="rId2"/>
                      <a:stretch>
                        <a:fillRect/>
                      </a:stretch>
                    </p:blipFill>
                    <p:spPr>
                      <a:xfrm>
                        <a:off x="4692650" y="5059363"/>
                        <a:ext cx="3119438" cy="1033462"/>
                      </a:xfrm>
                      <a:prstGeom prst="rect">
                        <a:avLst/>
                      </a:prstGeom>
                      <a:solidFill>
                        <a:srgbClr val="CCFFFF"/>
                      </a:solidFill>
                      <a:ln w="38100">
                        <a:noFill/>
                        <a:miter/>
                      </a:ln>
                    </p:spPr>
                  </p:pic>
                </p:oleObj>
              </mc:Fallback>
            </mc:AlternateContent>
          </a:graphicData>
        </a:graphic>
      </p:graphicFrame>
      <p:graphicFrame>
        <p:nvGraphicFramePr>
          <p:cNvPr id="46090" name="Object 11"/>
          <p:cNvGraphicFramePr>
            <a:graphicFrameLocks noChangeAspect="1"/>
          </p:cNvGraphicFramePr>
          <p:nvPr/>
        </p:nvGraphicFramePr>
        <p:xfrm>
          <a:off x="969963" y="2646363"/>
          <a:ext cx="7288212" cy="1108075"/>
        </p:xfrm>
        <a:graphic>
          <a:graphicData uri="http://schemas.openxmlformats.org/presentationml/2006/ole">
            <mc:AlternateContent xmlns:mc="http://schemas.openxmlformats.org/markup-compatibility/2006">
              <mc:Choice xmlns:v="urn:schemas-microsoft-com:vml" Requires="v">
                <p:oleObj spid="_x0000_s3168" name="" r:id="rId3" imgW="2514600" imgH="457200" progId="Equation.3">
                  <p:embed/>
                </p:oleObj>
              </mc:Choice>
              <mc:Fallback>
                <p:oleObj name="" r:id="rId3" imgW="2514600" imgH="457200" progId="Equation.3">
                  <p:embed/>
                  <p:pic>
                    <p:nvPicPr>
                      <p:cNvPr id="0" name="图片 3167"/>
                      <p:cNvPicPr/>
                      <p:nvPr/>
                    </p:nvPicPr>
                    <p:blipFill>
                      <a:blip r:embed="rId4"/>
                      <a:stretch>
                        <a:fillRect/>
                      </a:stretch>
                    </p:blipFill>
                    <p:spPr>
                      <a:xfrm>
                        <a:off x="969963" y="2646363"/>
                        <a:ext cx="7288212" cy="1108075"/>
                      </a:xfrm>
                      <a:prstGeom prst="rect">
                        <a:avLst/>
                      </a:prstGeom>
                      <a:solidFill>
                        <a:srgbClr val="CCFFFF"/>
                      </a:solidFill>
                      <a:ln w="38100">
                        <a:noFill/>
                        <a:miter/>
                      </a:ln>
                    </p:spPr>
                  </p:pic>
                </p:oleObj>
              </mc:Fallback>
            </mc:AlternateContent>
          </a:graphicData>
        </a:graphic>
      </p:graphicFrame>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7794"/>
                                        </p:tgtEl>
                                        <p:attrNameLst>
                                          <p:attrName>style.visibility</p:attrName>
                                        </p:attrNameLst>
                                      </p:cBhvr>
                                      <p:to>
                                        <p:strVal val="visible"/>
                                      </p:to>
                                    </p:set>
                                    <p:animEffect transition="in" filter="dissolve">
                                      <p:cBhvr>
                                        <p:cTn id="7" dur="500"/>
                                        <p:tgtEl>
                                          <p:spTgt spid="233779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46090"/>
                                        </p:tgtEl>
                                        <p:attrNameLst>
                                          <p:attrName>style.visibility</p:attrName>
                                        </p:attrNameLst>
                                      </p:cBhvr>
                                      <p:to>
                                        <p:strVal val="visible"/>
                                      </p:to>
                                    </p:set>
                                    <p:animEffect transition="in" filter="dissolve">
                                      <p:cBhvr>
                                        <p:cTn id="11" dur="500"/>
                                        <p:tgtEl>
                                          <p:spTgt spid="4609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337800"/>
                                        </p:tgtEl>
                                        <p:attrNameLst>
                                          <p:attrName>style.visibility</p:attrName>
                                        </p:attrNameLst>
                                      </p:cBhvr>
                                      <p:to>
                                        <p:strVal val="visible"/>
                                      </p:to>
                                    </p:set>
                                    <p:animEffect transition="in" filter="dissolve">
                                      <p:cBhvr>
                                        <p:cTn id="16" dur="500"/>
                                        <p:tgtEl>
                                          <p:spTgt spid="233780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337801"/>
                                        </p:tgtEl>
                                        <p:attrNameLst>
                                          <p:attrName>style.visibility</p:attrName>
                                        </p:attrNameLst>
                                      </p:cBhvr>
                                      <p:to>
                                        <p:strVal val="visible"/>
                                      </p:to>
                                    </p:set>
                                    <p:animEffect transition="in" filter="dissolve">
                                      <p:cBhvr>
                                        <p:cTn id="21" dur="500"/>
                                        <p:tgtEl>
                                          <p:spTgt spid="2337801"/>
                                        </p:tgtEl>
                                      </p:cBhvr>
                                    </p:animEffect>
                                  </p:childTnLst>
                                </p:cTn>
                              </p:par>
                            </p:childTnLst>
                          </p:cTn>
                        </p:par>
                        <p:par>
                          <p:cTn id="22" fill="hold">
                            <p:stCondLst>
                              <p:cond delay="500"/>
                            </p:stCondLst>
                            <p:childTnLst>
                              <p:par>
                                <p:cTn id="23" presetID="9" presetClass="entr" presetSubtype="0" fill="hold" nodeType="afterEffect">
                                  <p:stCondLst>
                                    <p:cond delay="0"/>
                                  </p:stCondLst>
                                  <p:childTnLst>
                                    <p:set>
                                      <p:cBhvr>
                                        <p:cTn id="24" dur="1" fill="hold">
                                          <p:stCondLst>
                                            <p:cond delay="0"/>
                                          </p:stCondLst>
                                        </p:cTn>
                                        <p:tgtEl>
                                          <p:spTgt spid="46089"/>
                                        </p:tgtEl>
                                        <p:attrNameLst>
                                          <p:attrName>style.visibility</p:attrName>
                                        </p:attrNameLst>
                                      </p:cBhvr>
                                      <p:to>
                                        <p:strVal val="visible"/>
                                      </p:to>
                                    </p:set>
                                    <p:animEffect transition="in" filter="dissolve">
                                      <p:cBhvr>
                                        <p:cTn id="25" dur="500"/>
                                        <p:tgtEl>
                                          <p:spTgt spid="460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7794" grpId="0"/>
      <p:bldP spid="2337800" grpId="0" bldLvl="0" animBg="1"/>
      <p:bldP spid="2337801"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90697" name="Text Box 9"/>
          <p:cNvSpPr txBox="1"/>
          <p:nvPr/>
        </p:nvSpPr>
        <p:spPr>
          <a:xfrm>
            <a:off x="1150938" y="1449388"/>
            <a:ext cx="7021512"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由以上分析可知：</a:t>
            </a:r>
            <a:r>
              <a:rPr lang="zh-CN" altLang="en-US" sz="2800" b="1" dirty="0">
                <a:solidFill>
                  <a:srgbClr val="FF0000"/>
                </a:solidFill>
                <a:latin typeface="黑体" panose="02010609060101010101" pitchFamily="49" charset="-122"/>
                <a:ea typeface="黑体" panose="02010609060101010101" pitchFamily="49" charset="-122"/>
              </a:rPr>
              <a:t>量化误差是一种原理性误差，它只能减小而无法完全消除。</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290699" name="Text Box 1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90701" name="Text Box 13"/>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90702" name="Text Box 14"/>
          <p:cNvSpPr txBox="1"/>
          <p:nvPr/>
        </p:nvSpPr>
        <p:spPr>
          <a:xfrm>
            <a:off x="703263" y="2600325"/>
            <a:ext cx="7956550" cy="822325"/>
          </a:xfrm>
          <a:prstGeom prst="rect">
            <a:avLst/>
          </a:prstGeom>
          <a:solidFill>
            <a:srgbClr val="FFFF99"/>
          </a:solidFill>
          <a:ln w="9525">
            <a:noFill/>
          </a:ln>
        </p:spPr>
        <p:txBody>
          <a:bodyPr>
            <a:spAutoFit/>
          </a:bodyPr>
          <a:p>
            <a:pPr algn="l" eaLnBrk="1" hangingPunct="1">
              <a:spcBef>
                <a:spcPct val="50000"/>
              </a:spcBef>
            </a:pPr>
            <a:r>
              <a:rPr lang="zh-CN" altLang="en-US" sz="2400" b="1" dirty="0">
                <a:solidFill>
                  <a:srgbClr val="333399"/>
                </a:solidFill>
                <a:latin typeface="楷体_GB2312" pitchFamily="49" charset="-122"/>
              </a:rPr>
              <a:t>量化特性曲线具有非线性的性质，因此，量化过程是一个非线性的变换过程。</a:t>
            </a:r>
            <a:endParaRPr lang="zh-CN" altLang="en-US" sz="2400" b="1" dirty="0">
              <a:solidFill>
                <a:srgbClr val="333399"/>
              </a:solidFill>
              <a:latin typeface="楷体_GB2312" pitchFamily="49" charset="-122"/>
            </a:endParaRPr>
          </a:p>
        </p:txBody>
      </p:sp>
      <p:sp>
        <p:nvSpPr>
          <p:cNvPr id="2290703" name="Text Box 15"/>
          <p:cNvSpPr txBox="1"/>
          <p:nvPr/>
        </p:nvSpPr>
        <p:spPr>
          <a:xfrm>
            <a:off x="565150" y="3536950"/>
            <a:ext cx="3935413" cy="519113"/>
          </a:xfrm>
          <a:prstGeom prst="rect">
            <a:avLst/>
          </a:prstGeom>
          <a:no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两种量化方法的比较：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90704" name="Text Box 16"/>
          <p:cNvSpPr txBox="1"/>
          <p:nvPr/>
        </p:nvSpPr>
        <p:spPr>
          <a:xfrm>
            <a:off x="1116013" y="4113213"/>
            <a:ext cx="7478712" cy="822325"/>
          </a:xfrm>
          <a:prstGeom prst="rect">
            <a:avLst/>
          </a:prstGeom>
          <a:noFill/>
          <a:ln w="9525">
            <a:noFill/>
          </a:ln>
        </p:spPr>
        <p:txBody>
          <a:bodyPr>
            <a:spAutoFit/>
          </a:bodyPr>
          <a:p>
            <a:pPr algn="l" eaLnBrk="1" hangingPunct="1"/>
            <a:r>
              <a:rPr lang="en-US" altLang="zh-CN" sz="2400" b="1">
                <a:solidFill>
                  <a:srgbClr val="3333FF"/>
                </a:solidFill>
                <a:latin typeface="Times New Roman" panose="02020603050405020304" pitchFamily="18" charset="0"/>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有舍有入</a:t>
            </a:r>
            <a:r>
              <a:rPr lang="zh-CN" altLang="en-US" sz="2400" b="1" dirty="0">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的方法好，这是因为，</a:t>
            </a:r>
            <a:r>
              <a:rPr lang="zh-CN" altLang="en-US" sz="2400" b="1" dirty="0">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有舍有入</a:t>
            </a:r>
            <a:r>
              <a:rPr lang="zh-CN" altLang="en-US" sz="2400" b="1" dirty="0">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法的最大量化误差只是</a:t>
            </a:r>
            <a:r>
              <a:rPr lang="zh-CN" altLang="en-US" sz="2400" b="1" dirty="0">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只舍不入</a:t>
            </a:r>
            <a:r>
              <a:rPr lang="zh-CN" altLang="en-US" sz="2400" b="1" dirty="0">
                <a:solidFill>
                  <a:srgbClr val="3333FF"/>
                </a:solidFill>
                <a:latin typeface="Times New Roman" panose="02020603050405020304" pitchFamily="18" charset="0"/>
                <a:ea typeface="黑体" panose="02010609060101010101" pitchFamily="49" charset="-122"/>
              </a:rPr>
              <a:t>”</a:t>
            </a:r>
            <a:r>
              <a:rPr lang="zh-CN" altLang="en-US" sz="2400" b="1" dirty="0">
                <a:solidFill>
                  <a:srgbClr val="3333FF"/>
                </a:solidFill>
                <a:latin typeface="黑体" panose="02010609060101010101" pitchFamily="49" charset="-122"/>
                <a:ea typeface="黑体" panose="02010609060101010101" pitchFamily="49" charset="-122"/>
              </a:rPr>
              <a:t>法的</a:t>
            </a:r>
            <a:r>
              <a:rPr lang="en-US" altLang="zh-CN" sz="2400" b="1">
                <a:solidFill>
                  <a:srgbClr val="3333FF"/>
                </a:solidFill>
                <a:latin typeface="黑体" panose="02010609060101010101" pitchFamily="49" charset="-122"/>
                <a:ea typeface="黑体" panose="02010609060101010101" pitchFamily="49" charset="-122"/>
              </a:rPr>
              <a:t>1/2</a:t>
            </a:r>
            <a:r>
              <a:rPr lang="zh-CN" altLang="en-US" sz="2400" b="1" dirty="0">
                <a:solidFill>
                  <a:srgbClr val="3333FF"/>
                </a:solidFill>
                <a:latin typeface="黑体" panose="02010609060101010101" pitchFamily="49" charset="-122"/>
                <a:ea typeface="黑体" panose="02010609060101010101" pitchFamily="49" charset="-122"/>
              </a:rPr>
              <a:t>，并且是无偏的。</a:t>
            </a:r>
            <a:endParaRPr lang="zh-CN" altLang="en-US" sz="2400" b="1" dirty="0">
              <a:solidFill>
                <a:srgbClr val="3333FF"/>
              </a:solidFill>
              <a:latin typeface="黑体" panose="02010609060101010101" pitchFamily="49" charset="-122"/>
              <a:ea typeface="黑体" panose="02010609060101010101" pitchFamily="49" charset="-122"/>
            </a:endParaRPr>
          </a:p>
        </p:txBody>
      </p:sp>
      <p:sp>
        <p:nvSpPr>
          <p:cNvPr id="2290705" name="Text Box 17"/>
          <p:cNvSpPr txBox="1"/>
          <p:nvPr/>
        </p:nvSpPr>
        <p:spPr>
          <a:xfrm>
            <a:off x="2087563" y="5121275"/>
            <a:ext cx="4824412" cy="946150"/>
          </a:xfrm>
          <a:prstGeom prst="rect">
            <a:avLst/>
          </a:prstGeom>
          <a:solidFill>
            <a:srgbClr val="99CCFF"/>
          </a:solidFill>
          <a:ln w="9525">
            <a:noFill/>
          </a:ln>
        </p:spPr>
        <p:txBody>
          <a:bodyPr>
            <a:spAutoFit/>
          </a:bodyPr>
          <a:p>
            <a:pPr algn="l" eaLnBrk="1" hangingPunct="1"/>
            <a:r>
              <a:rPr lang="zh-CN" altLang="en-US" sz="2800" b="1" dirty="0">
                <a:solidFill>
                  <a:schemeClr val="tx1"/>
                </a:solidFill>
                <a:latin typeface="Times New Roman" panose="02020603050405020304" pitchFamily="18" charset="0"/>
              </a:rPr>
              <a:t>目前大部分</a:t>
            </a:r>
            <a:r>
              <a:rPr lang="en-US" altLang="zh-CN" sz="2800" b="1">
                <a:solidFill>
                  <a:schemeClr val="tx1"/>
                </a:solidFill>
                <a:latin typeface="Times New Roman" panose="02020603050405020304" pitchFamily="18" charset="0"/>
                <a:ea typeface="宋体" panose="02010600030101010101" pitchFamily="2" charset="-122"/>
              </a:rPr>
              <a:t>A/D</a:t>
            </a:r>
            <a:r>
              <a:rPr lang="zh-CN" altLang="en-US" sz="2800" b="1" dirty="0">
                <a:solidFill>
                  <a:schemeClr val="tx1"/>
                </a:solidFill>
                <a:latin typeface="Times New Roman" panose="02020603050405020304" pitchFamily="18" charset="0"/>
              </a:rPr>
              <a:t>转换器都是采用“</a:t>
            </a:r>
            <a:r>
              <a:rPr lang="zh-CN" altLang="en-US" sz="2800" b="1" dirty="0">
                <a:solidFill>
                  <a:srgbClr val="FF0000"/>
                </a:solidFill>
                <a:latin typeface="Times New Roman" panose="02020603050405020304" pitchFamily="18" charset="0"/>
              </a:rPr>
              <a:t>有舍有入</a:t>
            </a:r>
            <a:r>
              <a:rPr lang="zh-CN" altLang="en-US" sz="2800" b="1" dirty="0">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楷体_GB2312" pitchFamily="49" charset="-122"/>
              </a:rPr>
              <a:t>的量化方法。 </a:t>
            </a:r>
            <a:endParaRPr lang="zh-CN" altLang="en-US" sz="2800" b="1" dirty="0">
              <a:solidFill>
                <a:schemeClr val="tx1"/>
              </a:solidFill>
              <a:latin typeface="楷体_GB2312"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90697"/>
                                        </p:tgtEl>
                                        <p:attrNameLst>
                                          <p:attrName>style.visibility</p:attrName>
                                        </p:attrNameLst>
                                      </p:cBhvr>
                                      <p:to>
                                        <p:strVal val="visible"/>
                                      </p:to>
                                    </p:set>
                                    <p:animEffect transition="in" filter="dissolve">
                                      <p:cBhvr>
                                        <p:cTn id="7" dur="500"/>
                                        <p:tgtEl>
                                          <p:spTgt spid="229069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90702"/>
                                        </p:tgtEl>
                                        <p:attrNameLst>
                                          <p:attrName>style.visibility</p:attrName>
                                        </p:attrNameLst>
                                      </p:cBhvr>
                                      <p:to>
                                        <p:strVal val="visible"/>
                                      </p:to>
                                    </p:set>
                                    <p:animEffect transition="in" filter="dissolve">
                                      <p:cBhvr>
                                        <p:cTn id="12" dur="500"/>
                                        <p:tgtEl>
                                          <p:spTgt spid="22907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90703"/>
                                        </p:tgtEl>
                                        <p:attrNameLst>
                                          <p:attrName>style.visibility</p:attrName>
                                        </p:attrNameLst>
                                      </p:cBhvr>
                                      <p:to>
                                        <p:strVal val="visible"/>
                                      </p:to>
                                    </p:set>
                                    <p:animEffect transition="in" filter="dissolve">
                                      <p:cBhvr>
                                        <p:cTn id="17" dur="500"/>
                                        <p:tgtEl>
                                          <p:spTgt spid="2290703"/>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2290704"/>
                                        </p:tgtEl>
                                        <p:attrNameLst>
                                          <p:attrName>style.visibility</p:attrName>
                                        </p:attrNameLst>
                                      </p:cBhvr>
                                      <p:to>
                                        <p:strVal val="visible"/>
                                      </p:to>
                                    </p:set>
                                    <p:animEffect transition="in" filter="dissolve">
                                      <p:cBhvr>
                                        <p:cTn id="21" dur="500"/>
                                        <p:tgtEl>
                                          <p:spTgt spid="229070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90705"/>
                                        </p:tgtEl>
                                        <p:attrNameLst>
                                          <p:attrName>style.visibility</p:attrName>
                                        </p:attrNameLst>
                                      </p:cBhvr>
                                      <p:to>
                                        <p:strVal val="visible"/>
                                      </p:to>
                                    </p:set>
                                    <p:animEffect transition="in" filter="dissolve">
                                      <p:cBhvr>
                                        <p:cTn id="26" dur="500"/>
                                        <p:tgtEl>
                                          <p:spTgt spid="22907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0697" grpId="0" bldLvl="0" animBg="1"/>
      <p:bldP spid="2290702" grpId="0" bldLvl="0" animBg="1"/>
      <p:bldP spid="2290703" grpId="0"/>
      <p:bldP spid="2290704" grpId="0"/>
      <p:bldP spid="2290705" grpId="0" bldLvl="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92747" name="Text Box 11"/>
          <p:cNvSpPr txBox="1"/>
          <p:nvPr/>
        </p:nvSpPr>
        <p:spPr>
          <a:xfrm>
            <a:off x="647700" y="1362075"/>
            <a:ext cx="7769225" cy="519113"/>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量化误差对数据采集系统动态平滑性的影响</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92748" name="Text Box 12"/>
          <p:cNvSpPr txBox="1"/>
          <p:nvPr/>
        </p:nvSpPr>
        <p:spPr>
          <a:xfrm>
            <a:off x="2149475" y="2027238"/>
            <a:ext cx="4513263" cy="822325"/>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Times New Roman" panose="02020603050405020304" pitchFamily="18" charset="0"/>
              </a:rPr>
              <a:t>不考虑采样过程，只专注于研究模拟信号经过量化后的情况。</a:t>
            </a:r>
            <a:endParaRPr lang="zh-CN" altLang="en-US" sz="2400" b="1" dirty="0">
              <a:solidFill>
                <a:schemeClr val="tx1"/>
              </a:solidFill>
              <a:latin typeface="Times New Roman" panose="02020603050405020304" pitchFamily="18" charset="0"/>
            </a:endParaRPr>
          </a:p>
        </p:txBody>
      </p:sp>
      <p:sp>
        <p:nvSpPr>
          <p:cNvPr id="2292750" name="Text Box 1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92752" name="Text Box 16"/>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292966" name="Group 230"/>
          <p:cNvGrpSpPr/>
          <p:nvPr/>
        </p:nvGrpSpPr>
        <p:grpSpPr>
          <a:xfrm>
            <a:off x="469900" y="1773238"/>
            <a:ext cx="3957638" cy="3563937"/>
            <a:chOff x="296" y="1616"/>
            <a:chExt cx="2493" cy="2245"/>
          </a:xfrm>
        </p:grpSpPr>
        <p:sp>
          <p:nvSpPr>
            <p:cNvPr id="48259" name="Line 20"/>
            <p:cNvSpPr/>
            <p:nvPr/>
          </p:nvSpPr>
          <p:spPr>
            <a:xfrm>
              <a:off x="794" y="1705"/>
              <a:ext cx="1" cy="1301"/>
            </a:xfrm>
            <a:prstGeom prst="line">
              <a:avLst/>
            </a:prstGeom>
            <a:ln w="0" cap="flat" cmpd="sng">
              <a:solidFill>
                <a:srgbClr val="000000"/>
              </a:solidFill>
              <a:prstDash val="solid"/>
              <a:headEnd type="none" w="med" len="med"/>
              <a:tailEnd type="none" w="med" len="med"/>
            </a:ln>
          </p:spPr>
        </p:sp>
        <p:sp>
          <p:nvSpPr>
            <p:cNvPr id="48260" name="Line 21"/>
            <p:cNvSpPr/>
            <p:nvPr/>
          </p:nvSpPr>
          <p:spPr>
            <a:xfrm flipV="1">
              <a:off x="884" y="2493"/>
              <a:ext cx="1" cy="213"/>
            </a:xfrm>
            <a:prstGeom prst="line">
              <a:avLst/>
            </a:prstGeom>
            <a:ln w="25400" cap="flat" cmpd="sng">
              <a:solidFill>
                <a:srgbClr val="FF00FF"/>
              </a:solidFill>
              <a:prstDash val="solid"/>
              <a:headEnd type="none" w="med" len="med"/>
              <a:tailEnd type="none" w="med" len="med"/>
            </a:ln>
          </p:spPr>
        </p:sp>
        <p:sp>
          <p:nvSpPr>
            <p:cNvPr id="48261" name="Line 22"/>
            <p:cNvSpPr/>
            <p:nvPr/>
          </p:nvSpPr>
          <p:spPr>
            <a:xfrm>
              <a:off x="884" y="2493"/>
              <a:ext cx="90" cy="1"/>
            </a:xfrm>
            <a:prstGeom prst="line">
              <a:avLst/>
            </a:prstGeom>
            <a:ln w="25400" cap="flat" cmpd="sng">
              <a:solidFill>
                <a:srgbClr val="FF00FF"/>
              </a:solidFill>
              <a:prstDash val="solid"/>
              <a:headEnd type="none" w="med" len="med"/>
              <a:tailEnd type="none" w="med" len="med"/>
            </a:ln>
          </p:spPr>
        </p:sp>
        <p:sp>
          <p:nvSpPr>
            <p:cNvPr id="48262" name="Line 23"/>
            <p:cNvSpPr/>
            <p:nvPr/>
          </p:nvSpPr>
          <p:spPr>
            <a:xfrm flipV="1">
              <a:off x="974" y="2281"/>
              <a:ext cx="1" cy="212"/>
            </a:xfrm>
            <a:prstGeom prst="line">
              <a:avLst/>
            </a:prstGeom>
            <a:ln w="25400" cap="flat" cmpd="sng">
              <a:solidFill>
                <a:srgbClr val="FF00FF"/>
              </a:solidFill>
              <a:prstDash val="solid"/>
              <a:headEnd type="none" w="med" len="med"/>
              <a:tailEnd type="none" w="med" len="med"/>
            </a:ln>
          </p:spPr>
        </p:sp>
        <p:sp>
          <p:nvSpPr>
            <p:cNvPr id="48263" name="Line 24"/>
            <p:cNvSpPr/>
            <p:nvPr/>
          </p:nvSpPr>
          <p:spPr>
            <a:xfrm>
              <a:off x="1309" y="2281"/>
              <a:ext cx="221" cy="2"/>
            </a:xfrm>
            <a:prstGeom prst="line">
              <a:avLst/>
            </a:prstGeom>
            <a:ln w="25400" cap="flat" cmpd="sng">
              <a:solidFill>
                <a:srgbClr val="FF00FF"/>
              </a:solidFill>
              <a:prstDash val="solid"/>
              <a:headEnd type="none" w="med" len="med"/>
              <a:tailEnd type="none" w="med" len="med"/>
            </a:ln>
          </p:spPr>
        </p:sp>
        <p:sp>
          <p:nvSpPr>
            <p:cNvPr id="48264" name="Line 25"/>
            <p:cNvSpPr/>
            <p:nvPr/>
          </p:nvSpPr>
          <p:spPr>
            <a:xfrm>
              <a:off x="1528" y="2285"/>
              <a:ext cx="1" cy="208"/>
            </a:xfrm>
            <a:prstGeom prst="line">
              <a:avLst/>
            </a:prstGeom>
            <a:ln w="25400" cap="flat" cmpd="sng">
              <a:solidFill>
                <a:srgbClr val="FF00FF"/>
              </a:solidFill>
              <a:prstDash val="solid"/>
              <a:headEnd type="none" w="med" len="med"/>
              <a:tailEnd type="none" w="med" len="med"/>
            </a:ln>
          </p:spPr>
        </p:sp>
        <p:sp>
          <p:nvSpPr>
            <p:cNvPr id="48265" name="Line 26"/>
            <p:cNvSpPr/>
            <p:nvPr/>
          </p:nvSpPr>
          <p:spPr>
            <a:xfrm>
              <a:off x="1528" y="2493"/>
              <a:ext cx="273" cy="2"/>
            </a:xfrm>
            <a:prstGeom prst="line">
              <a:avLst/>
            </a:prstGeom>
            <a:ln w="25400" cap="flat" cmpd="sng">
              <a:solidFill>
                <a:srgbClr val="FF00FF"/>
              </a:solidFill>
              <a:prstDash val="solid"/>
              <a:headEnd type="none" w="med" len="med"/>
              <a:tailEnd type="none" w="med" len="med"/>
            </a:ln>
          </p:spPr>
        </p:sp>
        <p:sp>
          <p:nvSpPr>
            <p:cNvPr id="48266" name="Line 27"/>
            <p:cNvSpPr/>
            <p:nvPr/>
          </p:nvSpPr>
          <p:spPr>
            <a:xfrm>
              <a:off x="1798" y="2497"/>
              <a:ext cx="1" cy="207"/>
            </a:xfrm>
            <a:prstGeom prst="line">
              <a:avLst/>
            </a:prstGeom>
            <a:ln w="25400" cap="flat" cmpd="sng">
              <a:solidFill>
                <a:srgbClr val="FF00FF"/>
              </a:solidFill>
              <a:prstDash val="solid"/>
              <a:headEnd type="none" w="med" len="med"/>
              <a:tailEnd type="none" w="med" len="med"/>
            </a:ln>
          </p:spPr>
        </p:sp>
        <p:sp>
          <p:nvSpPr>
            <p:cNvPr id="48267" name="Line 28"/>
            <p:cNvSpPr/>
            <p:nvPr/>
          </p:nvSpPr>
          <p:spPr>
            <a:xfrm>
              <a:off x="2185" y="2706"/>
              <a:ext cx="1" cy="204"/>
            </a:xfrm>
            <a:prstGeom prst="line">
              <a:avLst/>
            </a:prstGeom>
            <a:ln w="25400" cap="flat" cmpd="sng">
              <a:solidFill>
                <a:srgbClr val="FF00FF"/>
              </a:solidFill>
              <a:prstDash val="solid"/>
              <a:headEnd type="none" w="med" len="med"/>
              <a:tailEnd type="none" w="med" len="med"/>
            </a:ln>
          </p:spPr>
        </p:sp>
        <p:sp>
          <p:nvSpPr>
            <p:cNvPr id="48268" name="Line 29"/>
            <p:cNvSpPr/>
            <p:nvPr/>
          </p:nvSpPr>
          <p:spPr>
            <a:xfrm>
              <a:off x="2185" y="2906"/>
              <a:ext cx="257" cy="1"/>
            </a:xfrm>
            <a:prstGeom prst="line">
              <a:avLst/>
            </a:prstGeom>
            <a:ln w="25400" cap="flat" cmpd="sng">
              <a:solidFill>
                <a:srgbClr val="FF00FF"/>
              </a:solidFill>
              <a:prstDash val="solid"/>
              <a:headEnd type="none" w="med" len="med"/>
              <a:tailEnd type="none" w="med" len="med"/>
            </a:ln>
          </p:spPr>
        </p:sp>
        <p:sp>
          <p:nvSpPr>
            <p:cNvPr id="48269" name="Oval 30"/>
            <p:cNvSpPr/>
            <p:nvPr/>
          </p:nvSpPr>
          <p:spPr>
            <a:xfrm>
              <a:off x="1064" y="2093"/>
              <a:ext cx="254" cy="250"/>
            </a:xfrm>
            <a:prstGeom prst="ellipse">
              <a:avLst/>
            </a:prstGeom>
            <a:noFill/>
            <a:ln w="19050" cap="flat" cmpd="sng">
              <a:solidFill>
                <a:srgbClr val="00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270" name="Line 31"/>
            <p:cNvSpPr/>
            <p:nvPr/>
          </p:nvSpPr>
          <p:spPr>
            <a:xfrm flipV="1">
              <a:off x="807" y="2591"/>
              <a:ext cx="1719" cy="2"/>
            </a:xfrm>
            <a:prstGeom prst="line">
              <a:avLst/>
            </a:prstGeom>
            <a:ln w="0" cap="flat" cmpd="sng">
              <a:solidFill>
                <a:srgbClr val="000000"/>
              </a:solidFill>
              <a:prstDash val="sysDot"/>
              <a:headEnd type="none" w="med" len="med"/>
              <a:tailEnd type="none" w="med" len="med"/>
            </a:ln>
          </p:spPr>
        </p:sp>
        <p:sp>
          <p:nvSpPr>
            <p:cNvPr id="48271" name="Line 32"/>
            <p:cNvSpPr/>
            <p:nvPr/>
          </p:nvSpPr>
          <p:spPr>
            <a:xfrm flipV="1">
              <a:off x="794" y="2379"/>
              <a:ext cx="1713" cy="2"/>
            </a:xfrm>
            <a:prstGeom prst="line">
              <a:avLst/>
            </a:prstGeom>
            <a:ln w="0" cap="flat" cmpd="sng">
              <a:solidFill>
                <a:srgbClr val="000000"/>
              </a:solidFill>
              <a:prstDash val="sysDot"/>
              <a:headEnd type="none" w="med" len="med"/>
              <a:tailEnd type="none" w="med" len="med"/>
            </a:ln>
          </p:spPr>
        </p:sp>
        <p:sp>
          <p:nvSpPr>
            <p:cNvPr id="48272" name="Line 33"/>
            <p:cNvSpPr/>
            <p:nvPr/>
          </p:nvSpPr>
          <p:spPr>
            <a:xfrm flipV="1">
              <a:off x="794" y="2166"/>
              <a:ext cx="1693" cy="2"/>
            </a:xfrm>
            <a:prstGeom prst="line">
              <a:avLst/>
            </a:prstGeom>
            <a:ln w="0" cap="flat" cmpd="sng">
              <a:solidFill>
                <a:srgbClr val="000000"/>
              </a:solidFill>
              <a:prstDash val="sysDot"/>
              <a:headEnd type="none" w="med" len="med"/>
              <a:tailEnd type="none" w="med" len="med"/>
            </a:ln>
          </p:spPr>
        </p:sp>
        <p:sp>
          <p:nvSpPr>
            <p:cNvPr id="48273" name="Rectangle 34"/>
            <p:cNvSpPr/>
            <p:nvPr/>
          </p:nvSpPr>
          <p:spPr>
            <a:xfrm>
              <a:off x="1064" y="2162"/>
              <a:ext cx="251" cy="198"/>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274" name="Line 35"/>
            <p:cNvSpPr/>
            <p:nvPr/>
          </p:nvSpPr>
          <p:spPr>
            <a:xfrm flipV="1">
              <a:off x="807" y="2817"/>
              <a:ext cx="1719" cy="2"/>
            </a:xfrm>
            <a:prstGeom prst="line">
              <a:avLst/>
            </a:prstGeom>
            <a:ln w="0" cap="flat" cmpd="sng">
              <a:solidFill>
                <a:srgbClr val="000000"/>
              </a:solidFill>
              <a:prstDash val="sysDot"/>
              <a:headEnd type="none" w="med" len="med"/>
              <a:tailEnd type="none" w="med" len="med"/>
            </a:ln>
          </p:spPr>
        </p:sp>
        <p:sp>
          <p:nvSpPr>
            <p:cNvPr id="48275" name="Line 36"/>
            <p:cNvSpPr/>
            <p:nvPr/>
          </p:nvSpPr>
          <p:spPr>
            <a:xfrm flipH="1">
              <a:off x="974" y="2156"/>
              <a:ext cx="103" cy="237"/>
            </a:xfrm>
            <a:prstGeom prst="line">
              <a:avLst/>
            </a:prstGeom>
            <a:ln w="19050" cap="flat" cmpd="sng">
              <a:solidFill>
                <a:srgbClr val="0000FF"/>
              </a:solidFill>
              <a:prstDash val="solid"/>
              <a:headEnd type="none" w="med" len="med"/>
              <a:tailEnd type="none" w="med" len="med"/>
            </a:ln>
          </p:spPr>
        </p:sp>
        <p:sp>
          <p:nvSpPr>
            <p:cNvPr id="48276" name="Line 37"/>
            <p:cNvSpPr/>
            <p:nvPr/>
          </p:nvSpPr>
          <p:spPr>
            <a:xfrm flipH="1">
              <a:off x="884" y="2374"/>
              <a:ext cx="97" cy="226"/>
            </a:xfrm>
            <a:prstGeom prst="line">
              <a:avLst/>
            </a:prstGeom>
            <a:ln w="19050" cap="flat" cmpd="sng">
              <a:solidFill>
                <a:srgbClr val="0000FF"/>
              </a:solidFill>
              <a:prstDash val="solid"/>
              <a:headEnd type="none" w="med" len="med"/>
              <a:tailEnd type="none" w="med" len="med"/>
            </a:ln>
          </p:spPr>
        </p:sp>
        <p:sp>
          <p:nvSpPr>
            <p:cNvPr id="48277" name="Line 38"/>
            <p:cNvSpPr/>
            <p:nvPr/>
          </p:nvSpPr>
          <p:spPr>
            <a:xfrm flipH="1">
              <a:off x="794" y="2587"/>
              <a:ext cx="96" cy="119"/>
            </a:xfrm>
            <a:prstGeom prst="line">
              <a:avLst/>
            </a:prstGeom>
            <a:ln w="19050" cap="flat" cmpd="sng">
              <a:solidFill>
                <a:srgbClr val="0000FF"/>
              </a:solidFill>
              <a:prstDash val="solid"/>
              <a:headEnd type="none" w="med" len="med"/>
              <a:tailEnd type="none" w="med" len="med"/>
            </a:ln>
          </p:spPr>
        </p:sp>
        <p:sp>
          <p:nvSpPr>
            <p:cNvPr id="48278" name="Line 39"/>
            <p:cNvSpPr/>
            <p:nvPr/>
          </p:nvSpPr>
          <p:spPr>
            <a:xfrm>
              <a:off x="1798" y="2593"/>
              <a:ext cx="387" cy="226"/>
            </a:xfrm>
            <a:prstGeom prst="line">
              <a:avLst/>
            </a:prstGeom>
            <a:ln w="19050" cap="flat" cmpd="sng">
              <a:solidFill>
                <a:srgbClr val="0000FF"/>
              </a:solidFill>
              <a:prstDash val="solid"/>
              <a:headEnd type="none" w="med" len="med"/>
              <a:tailEnd type="none" w="med" len="med"/>
            </a:ln>
          </p:spPr>
        </p:sp>
        <p:sp>
          <p:nvSpPr>
            <p:cNvPr id="48279" name="Line 40"/>
            <p:cNvSpPr/>
            <p:nvPr/>
          </p:nvSpPr>
          <p:spPr>
            <a:xfrm>
              <a:off x="1296" y="2156"/>
              <a:ext cx="232" cy="225"/>
            </a:xfrm>
            <a:prstGeom prst="line">
              <a:avLst/>
            </a:prstGeom>
            <a:ln w="19050" cap="flat" cmpd="sng">
              <a:solidFill>
                <a:srgbClr val="0000FF"/>
              </a:solidFill>
              <a:prstDash val="solid"/>
              <a:headEnd type="none" w="med" len="med"/>
              <a:tailEnd type="none" w="med" len="med"/>
            </a:ln>
          </p:spPr>
        </p:sp>
        <p:sp>
          <p:nvSpPr>
            <p:cNvPr id="48280" name="Line 41"/>
            <p:cNvSpPr/>
            <p:nvPr/>
          </p:nvSpPr>
          <p:spPr>
            <a:xfrm>
              <a:off x="2185" y="2819"/>
              <a:ext cx="90" cy="37"/>
            </a:xfrm>
            <a:prstGeom prst="line">
              <a:avLst/>
            </a:prstGeom>
            <a:ln w="19050" cap="flat" cmpd="sng">
              <a:solidFill>
                <a:srgbClr val="0000FF"/>
              </a:solidFill>
              <a:prstDash val="solid"/>
              <a:headEnd type="none" w="med" len="med"/>
              <a:tailEnd type="none" w="med" len="med"/>
            </a:ln>
          </p:spPr>
        </p:sp>
        <p:sp>
          <p:nvSpPr>
            <p:cNvPr id="48281" name="Line 42"/>
            <p:cNvSpPr/>
            <p:nvPr/>
          </p:nvSpPr>
          <p:spPr>
            <a:xfrm>
              <a:off x="1528" y="2381"/>
              <a:ext cx="270" cy="212"/>
            </a:xfrm>
            <a:prstGeom prst="line">
              <a:avLst/>
            </a:prstGeom>
            <a:ln w="19050" cap="flat" cmpd="sng">
              <a:solidFill>
                <a:srgbClr val="0000FF"/>
              </a:solidFill>
              <a:prstDash val="solid"/>
              <a:headEnd type="none" w="med" len="med"/>
              <a:tailEnd type="none" w="med" len="med"/>
            </a:ln>
          </p:spPr>
        </p:sp>
        <p:sp>
          <p:nvSpPr>
            <p:cNvPr id="48282" name="Line 43"/>
            <p:cNvSpPr/>
            <p:nvPr/>
          </p:nvSpPr>
          <p:spPr>
            <a:xfrm>
              <a:off x="794" y="2931"/>
              <a:ext cx="38" cy="1"/>
            </a:xfrm>
            <a:prstGeom prst="line">
              <a:avLst/>
            </a:prstGeom>
            <a:ln w="0" cap="flat" cmpd="sng">
              <a:solidFill>
                <a:srgbClr val="000000"/>
              </a:solidFill>
              <a:prstDash val="solid"/>
              <a:headEnd type="none" w="med" len="med"/>
              <a:tailEnd type="none" w="med" len="med"/>
            </a:ln>
          </p:spPr>
        </p:sp>
        <p:sp>
          <p:nvSpPr>
            <p:cNvPr id="48283" name="Line 44"/>
            <p:cNvSpPr/>
            <p:nvPr/>
          </p:nvSpPr>
          <p:spPr>
            <a:xfrm>
              <a:off x="794" y="2493"/>
              <a:ext cx="38" cy="1"/>
            </a:xfrm>
            <a:prstGeom prst="line">
              <a:avLst/>
            </a:prstGeom>
            <a:ln w="0" cap="flat" cmpd="sng">
              <a:solidFill>
                <a:srgbClr val="000000"/>
              </a:solidFill>
              <a:prstDash val="solid"/>
              <a:headEnd type="none" w="med" len="med"/>
              <a:tailEnd type="none" w="med" len="med"/>
            </a:ln>
          </p:spPr>
        </p:sp>
        <p:sp>
          <p:nvSpPr>
            <p:cNvPr id="48284" name="Line 45"/>
            <p:cNvSpPr/>
            <p:nvPr/>
          </p:nvSpPr>
          <p:spPr>
            <a:xfrm>
              <a:off x="794" y="2281"/>
              <a:ext cx="38" cy="1"/>
            </a:xfrm>
            <a:prstGeom prst="line">
              <a:avLst/>
            </a:prstGeom>
            <a:ln w="0" cap="flat" cmpd="sng">
              <a:solidFill>
                <a:srgbClr val="000000"/>
              </a:solidFill>
              <a:prstDash val="solid"/>
              <a:headEnd type="none" w="med" len="med"/>
              <a:tailEnd type="none" w="med" len="med"/>
            </a:ln>
          </p:spPr>
        </p:sp>
        <p:sp>
          <p:nvSpPr>
            <p:cNvPr id="48285" name="Line 46"/>
            <p:cNvSpPr/>
            <p:nvPr/>
          </p:nvSpPr>
          <p:spPr>
            <a:xfrm>
              <a:off x="794" y="2068"/>
              <a:ext cx="38" cy="1"/>
            </a:xfrm>
            <a:prstGeom prst="line">
              <a:avLst/>
            </a:prstGeom>
            <a:ln w="0" cap="flat" cmpd="sng">
              <a:solidFill>
                <a:srgbClr val="000000"/>
              </a:solidFill>
              <a:prstDash val="solid"/>
              <a:headEnd type="none" w="med" len="med"/>
              <a:tailEnd type="none" w="med" len="med"/>
            </a:ln>
          </p:spPr>
        </p:sp>
        <p:sp>
          <p:nvSpPr>
            <p:cNvPr id="48286" name="Rectangle 47"/>
            <p:cNvSpPr/>
            <p:nvPr/>
          </p:nvSpPr>
          <p:spPr>
            <a:xfrm>
              <a:off x="687" y="2643"/>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0</a:t>
              </a:r>
              <a:endParaRPr lang="en-US" altLang="zh-CN" b="1">
                <a:solidFill>
                  <a:srgbClr val="333399"/>
                </a:solidFill>
                <a:latin typeface="楷体_GB2312" pitchFamily="49" charset="-122"/>
              </a:endParaRPr>
            </a:p>
          </p:txBody>
        </p:sp>
        <p:sp>
          <p:nvSpPr>
            <p:cNvPr id="48287" name="Rectangle 48"/>
            <p:cNvSpPr/>
            <p:nvPr/>
          </p:nvSpPr>
          <p:spPr>
            <a:xfrm>
              <a:off x="687" y="2431"/>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288" name="Rectangle 49"/>
            <p:cNvSpPr/>
            <p:nvPr/>
          </p:nvSpPr>
          <p:spPr>
            <a:xfrm>
              <a:off x="624" y="2218"/>
              <a:ext cx="104"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2q</a:t>
              </a:r>
              <a:endParaRPr lang="en-US" altLang="zh-CN" b="1">
                <a:solidFill>
                  <a:srgbClr val="333399"/>
                </a:solidFill>
                <a:latin typeface="楷体_GB2312" pitchFamily="49" charset="-122"/>
              </a:endParaRPr>
            </a:p>
          </p:txBody>
        </p:sp>
        <p:sp>
          <p:nvSpPr>
            <p:cNvPr id="48289" name="Rectangle 50"/>
            <p:cNvSpPr/>
            <p:nvPr/>
          </p:nvSpPr>
          <p:spPr>
            <a:xfrm>
              <a:off x="637" y="1993"/>
              <a:ext cx="104"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3q</a:t>
              </a:r>
              <a:endParaRPr lang="en-US" altLang="zh-CN" b="1">
                <a:solidFill>
                  <a:srgbClr val="333399"/>
                </a:solidFill>
                <a:latin typeface="楷体_GB2312" pitchFamily="49" charset="-122"/>
              </a:endParaRPr>
            </a:p>
          </p:txBody>
        </p:sp>
        <p:sp>
          <p:nvSpPr>
            <p:cNvPr id="48290" name="Rectangle 51"/>
            <p:cNvSpPr/>
            <p:nvPr/>
          </p:nvSpPr>
          <p:spPr>
            <a:xfrm>
              <a:off x="649" y="2869"/>
              <a:ext cx="87"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291" name="Line 52"/>
            <p:cNvSpPr/>
            <p:nvPr/>
          </p:nvSpPr>
          <p:spPr>
            <a:xfrm>
              <a:off x="794" y="3142"/>
              <a:ext cx="1" cy="513"/>
            </a:xfrm>
            <a:prstGeom prst="line">
              <a:avLst/>
            </a:prstGeom>
            <a:ln w="0" cap="flat" cmpd="sng">
              <a:solidFill>
                <a:srgbClr val="000000"/>
              </a:solidFill>
              <a:prstDash val="solid"/>
              <a:headEnd type="none" w="med" len="med"/>
              <a:tailEnd type="none" w="med" len="med"/>
            </a:ln>
          </p:spPr>
        </p:sp>
        <p:sp>
          <p:nvSpPr>
            <p:cNvPr id="48292" name="Line 53"/>
            <p:cNvSpPr/>
            <p:nvPr/>
          </p:nvSpPr>
          <p:spPr>
            <a:xfrm flipV="1">
              <a:off x="794" y="3453"/>
              <a:ext cx="1854" cy="2"/>
            </a:xfrm>
            <a:prstGeom prst="line">
              <a:avLst/>
            </a:prstGeom>
            <a:ln w="0" cap="flat" cmpd="sng">
              <a:solidFill>
                <a:srgbClr val="000000"/>
              </a:solidFill>
              <a:prstDash val="solid"/>
              <a:headEnd type="none" w="med" len="med"/>
              <a:tailEnd type="none" w="med" len="med"/>
            </a:ln>
          </p:spPr>
        </p:sp>
        <p:sp>
          <p:nvSpPr>
            <p:cNvPr id="48293" name="Line 54"/>
            <p:cNvSpPr/>
            <p:nvPr/>
          </p:nvSpPr>
          <p:spPr>
            <a:xfrm flipV="1">
              <a:off x="794" y="3340"/>
              <a:ext cx="1674" cy="2"/>
            </a:xfrm>
            <a:prstGeom prst="line">
              <a:avLst/>
            </a:prstGeom>
            <a:ln w="0" cap="flat" cmpd="sng">
              <a:solidFill>
                <a:srgbClr val="000000"/>
              </a:solidFill>
              <a:prstDash val="sysDot"/>
              <a:headEnd type="none" w="med" len="med"/>
              <a:tailEnd type="none" w="med" len="med"/>
            </a:ln>
          </p:spPr>
        </p:sp>
        <p:sp>
          <p:nvSpPr>
            <p:cNvPr id="48294" name="Line 55"/>
            <p:cNvSpPr/>
            <p:nvPr/>
          </p:nvSpPr>
          <p:spPr>
            <a:xfrm flipV="1">
              <a:off x="794" y="3553"/>
              <a:ext cx="1674" cy="2"/>
            </a:xfrm>
            <a:prstGeom prst="line">
              <a:avLst/>
            </a:prstGeom>
            <a:ln w="0" cap="flat" cmpd="sng">
              <a:solidFill>
                <a:srgbClr val="000000"/>
              </a:solidFill>
              <a:prstDash val="sysDot"/>
              <a:headEnd type="none" w="med" len="med"/>
              <a:tailEnd type="none" w="med" len="med"/>
            </a:ln>
          </p:spPr>
        </p:sp>
        <p:sp>
          <p:nvSpPr>
            <p:cNvPr id="48295" name="Line 56"/>
            <p:cNvSpPr/>
            <p:nvPr/>
          </p:nvSpPr>
          <p:spPr>
            <a:xfrm>
              <a:off x="884" y="3342"/>
              <a:ext cx="1" cy="221"/>
            </a:xfrm>
            <a:prstGeom prst="line">
              <a:avLst/>
            </a:prstGeom>
            <a:ln w="25400" cap="flat" cmpd="sng">
              <a:solidFill>
                <a:srgbClr val="FF00FF"/>
              </a:solidFill>
              <a:prstDash val="solid"/>
              <a:headEnd type="none" w="med" len="med"/>
              <a:tailEnd type="none" w="med" len="med"/>
            </a:ln>
          </p:spPr>
        </p:sp>
        <p:sp>
          <p:nvSpPr>
            <p:cNvPr id="48296" name="Line 57"/>
            <p:cNvSpPr/>
            <p:nvPr/>
          </p:nvSpPr>
          <p:spPr>
            <a:xfrm flipH="1">
              <a:off x="794" y="3344"/>
              <a:ext cx="90" cy="111"/>
            </a:xfrm>
            <a:prstGeom prst="line">
              <a:avLst/>
            </a:prstGeom>
            <a:ln w="25400" cap="flat" cmpd="sng">
              <a:solidFill>
                <a:srgbClr val="FF00FF"/>
              </a:solidFill>
              <a:prstDash val="solid"/>
              <a:headEnd type="none" w="med" len="med"/>
              <a:tailEnd type="none" w="med" len="med"/>
            </a:ln>
          </p:spPr>
        </p:sp>
        <p:sp>
          <p:nvSpPr>
            <p:cNvPr id="48297" name="Line 58"/>
            <p:cNvSpPr/>
            <p:nvPr/>
          </p:nvSpPr>
          <p:spPr>
            <a:xfrm>
              <a:off x="974" y="3342"/>
              <a:ext cx="1" cy="221"/>
            </a:xfrm>
            <a:prstGeom prst="line">
              <a:avLst/>
            </a:prstGeom>
            <a:ln w="25400" cap="flat" cmpd="sng">
              <a:solidFill>
                <a:srgbClr val="FF00FF"/>
              </a:solidFill>
              <a:prstDash val="solid"/>
              <a:headEnd type="none" w="med" len="med"/>
              <a:tailEnd type="none" w="med" len="med"/>
            </a:ln>
          </p:spPr>
        </p:sp>
        <p:sp>
          <p:nvSpPr>
            <p:cNvPr id="48298" name="Line 59"/>
            <p:cNvSpPr/>
            <p:nvPr/>
          </p:nvSpPr>
          <p:spPr>
            <a:xfrm>
              <a:off x="1069" y="3342"/>
              <a:ext cx="1" cy="225"/>
            </a:xfrm>
            <a:prstGeom prst="line">
              <a:avLst/>
            </a:prstGeom>
            <a:ln w="25400" cap="flat" cmpd="sng">
              <a:solidFill>
                <a:srgbClr val="FF00FF"/>
              </a:solidFill>
              <a:prstDash val="solid"/>
              <a:headEnd type="none" w="med" len="med"/>
              <a:tailEnd type="none" w="med" len="med"/>
            </a:ln>
          </p:spPr>
        </p:sp>
        <p:sp>
          <p:nvSpPr>
            <p:cNvPr id="48299" name="Line 60"/>
            <p:cNvSpPr/>
            <p:nvPr/>
          </p:nvSpPr>
          <p:spPr>
            <a:xfrm flipH="1">
              <a:off x="884" y="3344"/>
              <a:ext cx="90" cy="219"/>
            </a:xfrm>
            <a:prstGeom prst="line">
              <a:avLst/>
            </a:prstGeom>
            <a:ln w="25400" cap="flat" cmpd="sng">
              <a:solidFill>
                <a:srgbClr val="FF00FF"/>
              </a:solidFill>
              <a:prstDash val="solid"/>
              <a:headEnd type="none" w="med" len="med"/>
              <a:tailEnd type="none" w="med" len="med"/>
            </a:ln>
          </p:spPr>
        </p:sp>
        <p:sp>
          <p:nvSpPr>
            <p:cNvPr id="48300" name="Line 61"/>
            <p:cNvSpPr/>
            <p:nvPr/>
          </p:nvSpPr>
          <p:spPr>
            <a:xfrm flipH="1">
              <a:off x="974" y="3344"/>
              <a:ext cx="97" cy="219"/>
            </a:xfrm>
            <a:prstGeom prst="line">
              <a:avLst/>
            </a:prstGeom>
            <a:ln w="25400" cap="flat" cmpd="sng">
              <a:solidFill>
                <a:srgbClr val="FF00FF"/>
              </a:solidFill>
              <a:prstDash val="solid"/>
              <a:headEnd type="none" w="med" len="med"/>
              <a:tailEnd type="none" w="med" len="med"/>
            </a:ln>
          </p:spPr>
        </p:sp>
        <p:sp>
          <p:nvSpPr>
            <p:cNvPr id="48301" name="Line 62"/>
            <p:cNvSpPr/>
            <p:nvPr/>
          </p:nvSpPr>
          <p:spPr>
            <a:xfrm>
              <a:off x="1309" y="3342"/>
              <a:ext cx="1" cy="225"/>
            </a:xfrm>
            <a:prstGeom prst="line">
              <a:avLst/>
            </a:prstGeom>
            <a:ln w="25400" cap="flat" cmpd="sng">
              <a:solidFill>
                <a:srgbClr val="FF00FF"/>
              </a:solidFill>
              <a:prstDash val="solid"/>
              <a:headEnd type="none" w="med" len="med"/>
              <a:tailEnd type="none" w="med" len="med"/>
            </a:ln>
          </p:spPr>
        </p:sp>
        <p:sp>
          <p:nvSpPr>
            <p:cNvPr id="48302" name="Oval 63"/>
            <p:cNvSpPr/>
            <p:nvPr/>
          </p:nvSpPr>
          <p:spPr>
            <a:xfrm>
              <a:off x="1064" y="3480"/>
              <a:ext cx="258" cy="250"/>
            </a:xfrm>
            <a:prstGeom prst="ellipse">
              <a:avLst/>
            </a:prstGeom>
            <a:noFill/>
            <a:ln w="25400" cap="flat" cmpd="sng">
              <a:solidFill>
                <a:srgbClr val="FF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303" name="Rectangle 64"/>
            <p:cNvSpPr/>
            <p:nvPr/>
          </p:nvSpPr>
          <p:spPr>
            <a:xfrm>
              <a:off x="981" y="3561"/>
              <a:ext cx="434" cy="16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304" name="Line 65"/>
            <p:cNvSpPr/>
            <p:nvPr/>
          </p:nvSpPr>
          <p:spPr>
            <a:xfrm>
              <a:off x="1528" y="3342"/>
              <a:ext cx="1" cy="213"/>
            </a:xfrm>
            <a:prstGeom prst="line">
              <a:avLst/>
            </a:prstGeom>
            <a:ln w="25400" cap="flat" cmpd="sng">
              <a:solidFill>
                <a:srgbClr val="FF00FF"/>
              </a:solidFill>
              <a:prstDash val="solid"/>
              <a:headEnd type="none" w="med" len="med"/>
              <a:tailEnd type="none" w="med" len="med"/>
            </a:ln>
          </p:spPr>
        </p:sp>
        <p:sp>
          <p:nvSpPr>
            <p:cNvPr id="48305" name="Line 66"/>
            <p:cNvSpPr/>
            <p:nvPr/>
          </p:nvSpPr>
          <p:spPr>
            <a:xfrm>
              <a:off x="1309" y="3342"/>
              <a:ext cx="219" cy="211"/>
            </a:xfrm>
            <a:prstGeom prst="line">
              <a:avLst/>
            </a:prstGeom>
            <a:ln w="25400" cap="flat" cmpd="sng">
              <a:solidFill>
                <a:srgbClr val="FF00FF"/>
              </a:solidFill>
              <a:prstDash val="solid"/>
              <a:headEnd type="none" w="med" len="med"/>
              <a:tailEnd type="none" w="med" len="med"/>
            </a:ln>
          </p:spPr>
        </p:sp>
        <p:sp>
          <p:nvSpPr>
            <p:cNvPr id="48306" name="Line 67"/>
            <p:cNvSpPr/>
            <p:nvPr/>
          </p:nvSpPr>
          <p:spPr>
            <a:xfrm>
              <a:off x="1798" y="3342"/>
              <a:ext cx="1" cy="217"/>
            </a:xfrm>
            <a:prstGeom prst="line">
              <a:avLst/>
            </a:prstGeom>
            <a:ln w="25400" cap="flat" cmpd="sng">
              <a:solidFill>
                <a:srgbClr val="FF00FF"/>
              </a:solidFill>
              <a:prstDash val="solid"/>
              <a:headEnd type="none" w="med" len="med"/>
              <a:tailEnd type="none" w="med" len="med"/>
            </a:ln>
          </p:spPr>
        </p:sp>
        <p:sp>
          <p:nvSpPr>
            <p:cNvPr id="48307" name="Line 68"/>
            <p:cNvSpPr/>
            <p:nvPr/>
          </p:nvSpPr>
          <p:spPr>
            <a:xfrm>
              <a:off x="1528" y="3344"/>
              <a:ext cx="273" cy="215"/>
            </a:xfrm>
            <a:prstGeom prst="line">
              <a:avLst/>
            </a:prstGeom>
            <a:ln w="25400" cap="flat" cmpd="sng">
              <a:solidFill>
                <a:srgbClr val="FF00FF"/>
              </a:solidFill>
              <a:prstDash val="solid"/>
              <a:headEnd type="none" w="med" len="med"/>
              <a:tailEnd type="none" w="med" len="med"/>
            </a:ln>
          </p:spPr>
        </p:sp>
        <p:sp>
          <p:nvSpPr>
            <p:cNvPr id="48308" name="Line 69"/>
            <p:cNvSpPr/>
            <p:nvPr/>
          </p:nvSpPr>
          <p:spPr>
            <a:xfrm>
              <a:off x="2185" y="3342"/>
              <a:ext cx="1" cy="215"/>
            </a:xfrm>
            <a:prstGeom prst="line">
              <a:avLst/>
            </a:prstGeom>
            <a:ln w="25400" cap="flat" cmpd="sng">
              <a:solidFill>
                <a:srgbClr val="FF00FF"/>
              </a:solidFill>
              <a:prstDash val="solid"/>
              <a:headEnd type="none" w="med" len="med"/>
              <a:tailEnd type="none" w="med" len="med"/>
            </a:ln>
          </p:spPr>
        </p:sp>
        <p:sp>
          <p:nvSpPr>
            <p:cNvPr id="48309" name="Line 70"/>
            <p:cNvSpPr/>
            <p:nvPr/>
          </p:nvSpPr>
          <p:spPr>
            <a:xfrm>
              <a:off x="1796" y="3342"/>
              <a:ext cx="387" cy="215"/>
            </a:xfrm>
            <a:prstGeom prst="line">
              <a:avLst/>
            </a:prstGeom>
            <a:ln w="25400" cap="flat" cmpd="sng">
              <a:solidFill>
                <a:srgbClr val="FF00FF"/>
              </a:solidFill>
              <a:prstDash val="solid"/>
              <a:headEnd type="none" w="med" len="med"/>
              <a:tailEnd type="none" w="med" len="med"/>
            </a:ln>
          </p:spPr>
        </p:sp>
        <p:sp>
          <p:nvSpPr>
            <p:cNvPr id="48310" name="Line 71"/>
            <p:cNvSpPr/>
            <p:nvPr/>
          </p:nvSpPr>
          <p:spPr>
            <a:xfrm>
              <a:off x="2189" y="3342"/>
              <a:ext cx="90" cy="38"/>
            </a:xfrm>
            <a:prstGeom prst="line">
              <a:avLst/>
            </a:prstGeom>
            <a:ln w="25400" cap="flat" cmpd="sng">
              <a:solidFill>
                <a:srgbClr val="FF00FF"/>
              </a:solidFill>
              <a:prstDash val="solid"/>
              <a:headEnd type="none" w="med" len="med"/>
              <a:tailEnd type="none" w="med" len="med"/>
            </a:ln>
          </p:spPr>
        </p:sp>
        <p:grpSp>
          <p:nvGrpSpPr>
            <p:cNvPr id="48311" name="Group 74"/>
            <p:cNvGrpSpPr/>
            <p:nvPr/>
          </p:nvGrpSpPr>
          <p:grpSpPr>
            <a:xfrm>
              <a:off x="597" y="3267"/>
              <a:ext cx="146" cy="150"/>
              <a:chOff x="618" y="3103"/>
              <a:chExt cx="146" cy="150"/>
            </a:xfrm>
          </p:grpSpPr>
          <p:sp>
            <p:nvSpPr>
              <p:cNvPr id="48346" name="Rectangle 72"/>
              <p:cNvSpPr/>
              <p:nvPr/>
            </p:nvSpPr>
            <p:spPr>
              <a:xfrm>
                <a:off x="618" y="3103"/>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347" name="Rectangle 73"/>
              <p:cNvSpPr/>
              <p:nvPr/>
            </p:nvSpPr>
            <p:spPr>
              <a:xfrm>
                <a:off x="683" y="3128"/>
                <a:ext cx="81"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a:t>
                </a:r>
                <a:endParaRPr lang="en-US" altLang="zh-CN" b="1">
                  <a:solidFill>
                    <a:srgbClr val="333399"/>
                  </a:solidFill>
                  <a:latin typeface="楷体_GB2312" pitchFamily="49" charset="-122"/>
                </a:endParaRPr>
              </a:p>
            </p:txBody>
          </p:sp>
        </p:grpSp>
        <p:grpSp>
          <p:nvGrpSpPr>
            <p:cNvPr id="48312" name="Group 77"/>
            <p:cNvGrpSpPr/>
            <p:nvPr/>
          </p:nvGrpSpPr>
          <p:grpSpPr>
            <a:xfrm>
              <a:off x="559" y="3492"/>
              <a:ext cx="184" cy="150"/>
              <a:chOff x="580" y="3328"/>
              <a:chExt cx="184" cy="150"/>
            </a:xfrm>
          </p:grpSpPr>
          <p:sp>
            <p:nvSpPr>
              <p:cNvPr id="48344" name="Rectangle 75"/>
              <p:cNvSpPr/>
              <p:nvPr/>
            </p:nvSpPr>
            <p:spPr>
              <a:xfrm>
                <a:off x="580" y="3328"/>
                <a:ext cx="87"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345" name="Rectangle 76"/>
              <p:cNvSpPr/>
              <p:nvPr/>
            </p:nvSpPr>
            <p:spPr>
              <a:xfrm>
                <a:off x="683" y="3353"/>
                <a:ext cx="81"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a:t>
                </a:r>
                <a:endParaRPr lang="en-US" altLang="zh-CN" b="1">
                  <a:solidFill>
                    <a:srgbClr val="333399"/>
                  </a:solidFill>
                  <a:latin typeface="楷体_GB2312" pitchFamily="49" charset="-122"/>
                </a:endParaRPr>
              </a:p>
            </p:txBody>
          </p:sp>
        </p:grpSp>
        <p:sp>
          <p:nvSpPr>
            <p:cNvPr id="48313" name="Rectangle 78"/>
            <p:cNvSpPr/>
            <p:nvPr/>
          </p:nvSpPr>
          <p:spPr>
            <a:xfrm>
              <a:off x="687" y="3405"/>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0</a:t>
              </a:r>
              <a:endParaRPr lang="en-US" altLang="zh-CN" b="1">
                <a:solidFill>
                  <a:srgbClr val="333399"/>
                </a:solidFill>
                <a:latin typeface="楷体_GB2312" pitchFamily="49" charset="-122"/>
              </a:endParaRPr>
            </a:p>
          </p:txBody>
        </p:sp>
        <p:sp>
          <p:nvSpPr>
            <p:cNvPr id="48314" name="Line 79"/>
            <p:cNvSpPr/>
            <p:nvPr/>
          </p:nvSpPr>
          <p:spPr>
            <a:xfrm flipV="1">
              <a:off x="1361" y="1943"/>
              <a:ext cx="283" cy="275"/>
            </a:xfrm>
            <a:prstGeom prst="line">
              <a:avLst/>
            </a:prstGeom>
            <a:ln w="0" cap="flat" cmpd="sng">
              <a:solidFill>
                <a:srgbClr val="000000"/>
              </a:solidFill>
              <a:prstDash val="solid"/>
              <a:headEnd type="none" w="med" len="med"/>
              <a:tailEnd type="none" w="med" len="med"/>
            </a:ln>
          </p:spPr>
        </p:sp>
        <p:sp>
          <p:nvSpPr>
            <p:cNvPr id="48315" name="Rectangle 80"/>
            <p:cNvSpPr/>
            <p:nvPr/>
          </p:nvSpPr>
          <p:spPr>
            <a:xfrm>
              <a:off x="2742" y="2629"/>
              <a:ext cx="47"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316" name="Rectangle 81"/>
            <p:cNvSpPr/>
            <p:nvPr/>
          </p:nvSpPr>
          <p:spPr>
            <a:xfrm>
              <a:off x="2729" y="3378"/>
              <a:ext cx="47"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317" name="Rectangle 82"/>
            <p:cNvSpPr/>
            <p:nvPr/>
          </p:nvSpPr>
          <p:spPr>
            <a:xfrm>
              <a:off x="1622" y="1747"/>
              <a:ext cx="89" cy="240"/>
            </a:xfrm>
            <a:prstGeom prst="rect">
              <a:avLst/>
            </a:prstGeom>
            <a:noFill/>
            <a:ln w="9525">
              <a:noFill/>
            </a:ln>
          </p:spPr>
          <p:txBody>
            <a:bodyPr wrap="none" lIns="0" tIns="0" rIns="0" bIns="0">
              <a:spAutoFit/>
            </a:bodyPr>
            <a:p>
              <a:pPr algn="ctr" eaLnBrk="1" hangingPunct="1"/>
              <a:r>
                <a:rPr lang="en-US" altLang="zh-CN" sz="25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8318" name="Rectangle 83"/>
            <p:cNvSpPr/>
            <p:nvPr/>
          </p:nvSpPr>
          <p:spPr>
            <a:xfrm>
              <a:off x="1705" y="1809"/>
              <a:ext cx="17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8319" name="Rectangle 84"/>
            <p:cNvSpPr/>
            <p:nvPr/>
          </p:nvSpPr>
          <p:spPr>
            <a:xfrm>
              <a:off x="1775" y="1803"/>
              <a:ext cx="38" cy="163"/>
            </a:xfrm>
            <a:prstGeom prst="rect">
              <a:avLst/>
            </a:prstGeom>
            <a:noFill/>
            <a:ln w="9525">
              <a:noFill/>
            </a:ln>
          </p:spPr>
          <p:txBody>
            <a:bodyPr wrap="none" lIns="0" tIns="0" rIns="0" bIns="0">
              <a:spAutoFit/>
            </a:bodyPr>
            <a:p>
              <a:pPr algn="ctr" eaLnBrk="1" hangingPunct="1"/>
              <a:r>
                <a:rPr lang="en-US" altLang="zh-CN" sz="17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320" name="Rectangle 85"/>
            <p:cNvSpPr/>
            <p:nvPr/>
          </p:nvSpPr>
          <p:spPr>
            <a:xfrm>
              <a:off x="296" y="1616"/>
              <a:ext cx="89" cy="240"/>
            </a:xfrm>
            <a:prstGeom prst="rect">
              <a:avLst/>
            </a:prstGeom>
            <a:noFill/>
            <a:ln w="9525">
              <a:noFill/>
            </a:ln>
          </p:spPr>
          <p:txBody>
            <a:bodyPr wrap="none" lIns="0" tIns="0" rIns="0" bIns="0">
              <a:spAutoFit/>
            </a:bodyPr>
            <a:p>
              <a:pPr algn="ctr" eaLnBrk="1" hangingPunct="1"/>
              <a:r>
                <a:rPr lang="en-US" altLang="zh-CN" sz="25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8321" name="Rectangle 86"/>
            <p:cNvSpPr/>
            <p:nvPr/>
          </p:nvSpPr>
          <p:spPr>
            <a:xfrm>
              <a:off x="361" y="1711"/>
              <a:ext cx="52" cy="125"/>
            </a:xfrm>
            <a:prstGeom prst="rect">
              <a:avLst/>
            </a:prstGeom>
            <a:noFill/>
            <a:ln w="9525">
              <a:noFill/>
            </a:ln>
          </p:spPr>
          <p:txBody>
            <a:bodyPr wrap="none" lIns="0" tIns="0" rIns="0" bIns="0">
              <a:spAutoFit/>
            </a:bodyPr>
            <a:p>
              <a:pPr algn="ctr" eaLnBrk="1" hangingPunct="1"/>
              <a:r>
                <a:rPr lang="en-US" altLang="zh-CN" sz="1300" b="0" i="1">
                  <a:solidFill>
                    <a:srgbClr val="FF0000"/>
                  </a:solidFill>
                  <a:latin typeface="Times New Roman" panose="02020603050405020304" pitchFamily="18" charset="0"/>
                </a:rPr>
                <a:t>q</a:t>
              </a:r>
              <a:endParaRPr lang="en-US" altLang="zh-CN" b="1">
                <a:solidFill>
                  <a:srgbClr val="FF0000"/>
                </a:solidFill>
                <a:latin typeface="楷体_GB2312" pitchFamily="49" charset="-122"/>
              </a:endParaRPr>
            </a:p>
          </p:txBody>
        </p:sp>
        <p:sp>
          <p:nvSpPr>
            <p:cNvPr id="48322" name="Rectangle 87"/>
            <p:cNvSpPr/>
            <p:nvPr/>
          </p:nvSpPr>
          <p:spPr>
            <a:xfrm>
              <a:off x="326" y="1684"/>
              <a:ext cx="492" cy="144"/>
            </a:xfrm>
            <a:prstGeom prst="rect">
              <a:avLst/>
            </a:prstGeom>
            <a:noFill/>
            <a:ln w="9525">
              <a:noFill/>
            </a:ln>
          </p:spPr>
          <p:txBody>
            <a:bodyPr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8323" name="Rectangle 88"/>
            <p:cNvSpPr/>
            <p:nvPr/>
          </p:nvSpPr>
          <p:spPr>
            <a:xfrm>
              <a:off x="478" y="1680"/>
              <a:ext cx="144" cy="163"/>
            </a:xfrm>
            <a:prstGeom prst="rect">
              <a:avLst/>
            </a:prstGeom>
            <a:noFill/>
            <a:ln w="9525">
              <a:noFill/>
            </a:ln>
          </p:spPr>
          <p:txBody>
            <a:bodyPr wrap="none" lIns="0" tIns="0" rIns="0" bIns="0">
              <a:spAutoFit/>
            </a:bodyPr>
            <a:p>
              <a:pPr algn="ctr" eaLnBrk="1" hangingPunct="1"/>
              <a:r>
                <a:rPr lang="en-US" altLang="zh-CN" sz="17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8324" name="Line 89"/>
            <p:cNvSpPr/>
            <p:nvPr/>
          </p:nvSpPr>
          <p:spPr>
            <a:xfrm flipH="1">
              <a:off x="768" y="1705"/>
              <a:ext cx="26" cy="75"/>
            </a:xfrm>
            <a:prstGeom prst="line">
              <a:avLst/>
            </a:prstGeom>
            <a:ln w="0" cap="flat" cmpd="sng">
              <a:solidFill>
                <a:srgbClr val="000000"/>
              </a:solidFill>
              <a:prstDash val="solid"/>
              <a:headEnd type="none" w="med" len="med"/>
              <a:tailEnd type="none" w="med" len="med"/>
            </a:ln>
          </p:spPr>
        </p:sp>
        <p:sp>
          <p:nvSpPr>
            <p:cNvPr id="48325" name="Line 90"/>
            <p:cNvSpPr/>
            <p:nvPr/>
          </p:nvSpPr>
          <p:spPr>
            <a:xfrm>
              <a:off x="794" y="1705"/>
              <a:ext cx="26" cy="75"/>
            </a:xfrm>
            <a:prstGeom prst="line">
              <a:avLst/>
            </a:prstGeom>
            <a:ln w="0" cap="flat" cmpd="sng">
              <a:solidFill>
                <a:srgbClr val="000000"/>
              </a:solidFill>
              <a:prstDash val="solid"/>
              <a:headEnd type="none" w="med" len="med"/>
              <a:tailEnd type="none" w="med" len="med"/>
            </a:ln>
          </p:spPr>
        </p:sp>
        <p:sp>
          <p:nvSpPr>
            <p:cNvPr id="48326" name="Line 91"/>
            <p:cNvSpPr/>
            <p:nvPr/>
          </p:nvSpPr>
          <p:spPr>
            <a:xfrm flipH="1" flipV="1">
              <a:off x="2571" y="2681"/>
              <a:ext cx="77" cy="25"/>
            </a:xfrm>
            <a:prstGeom prst="line">
              <a:avLst/>
            </a:prstGeom>
            <a:ln w="0" cap="flat" cmpd="sng">
              <a:solidFill>
                <a:srgbClr val="000000"/>
              </a:solidFill>
              <a:prstDash val="solid"/>
              <a:headEnd type="none" w="med" len="med"/>
              <a:tailEnd type="none" w="med" len="med"/>
            </a:ln>
          </p:spPr>
        </p:sp>
        <p:sp>
          <p:nvSpPr>
            <p:cNvPr id="48327" name="Line 92"/>
            <p:cNvSpPr/>
            <p:nvPr/>
          </p:nvSpPr>
          <p:spPr>
            <a:xfrm flipH="1">
              <a:off x="2571" y="2706"/>
              <a:ext cx="77" cy="25"/>
            </a:xfrm>
            <a:prstGeom prst="line">
              <a:avLst/>
            </a:prstGeom>
            <a:ln w="0" cap="flat" cmpd="sng">
              <a:solidFill>
                <a:srgbClr val="000000"/>
              </a:solidFill>
              <a:prstDash val="solid"/>
              <a:headEnd type="none" w="med" len="med"/>
              <a:tailEnd type="none" w="med" len="med"/>
            </a:ln>
          </p:spPr>
        </p:sp>
        <p:sp>
          <p:nvSpPr>
            <p:cNvPr id="48328" name="Line 93"/>
            <p:cNvSpPr/>
            <p:nvPr/>
          </p:nvSpPr>
          <p:spPr>
            <a:xfrm flipH="1" flipV="1">
              <a:off x="2571" y="3430"/>
              <a:ext cx="77" cy="25"/>
            </a:xfrm>
            <a:prstGeom prst="line">
              <a:avLst/>
            </a:prstGeom>
            <a:ln w="0" cap="flat" cmpd="sng">
              <a:solidFill>
                <a:srgbClr val="000000"/>
              </a:solidFill>
              <a:prstDash val="solid"/>
              <a:headEnd type="none" w="med" len="med"/>
              <a:tailEnd type="none" w="med" len="med"/>
            </a:ln>
          </p:spPr>
        </p:sp>
        <p:sp>
          <p:nvSpPr>
            <p:cNvPr id="48329" name="Line 94"/>
            <p:cNvSpPr/>
            <p:nvPr/>
          </p:nvSpPr>
          <p:spPr>
            <a:xfrm flipH="1">
              <a:off x="2571" y="3455"/>
              <a:ext cx="77" cy="25"/>
            </a:xfrm>
            <a:prstGeom prst="line">
              <a:avLst/>
            </a:prstGeom>
            <a:ln w="0" cap="flat" cmpd="sng">
              <a:solidFill>
                <a:srgbClr val="000000"/>
              </a:solidFill>
              <a:prstDash val="solid"/>
              <a:headEnd type="none" w="med" len="med"/>
              <a:tailEnd type="none" w="med" len="med"/>
            </a:ln>
          </p:spPr>
        </p:sp>
        <p:sp>
          <p:nvSpPr>
            <p:cNvPr id="48330" name="Line 95"/>
            <p:cNvSpPr/>
            <p:nvPr/>
          </p:nvSpPr>
          <p:spPr>
            <a:xfrm flipH="1">
              <a:off x="768" y="3142"/>
              <a:ext cx="26" cy="75"/>
            </a:xfrm>
            <a:prstGeom prst="line">
              <a:avLst/>
            </a:prstGeom>
            <a:ln w="0" cap="flat" cmpd="sng">
              <a:solidFill>
                <a:srgbClr val="000000"/>
              </a:solidFill>
              <a:prstDash val="solid"/>
              <a:headEnd type="none" w="med" len="med"/>
              <a:tailEnd type="none" w="med" len="med"/>
            </a:ln>
          </p:spPr>
        </p:sp>
        <p:sp>
          <p:nvSpPr>
            <p:cNvPr id="48331" name="Line 96"/>
            <p:cNvSpPr/>
            <p:nvPr/>
          </p:nvSpPr>
          <p:spPr>
            <a:xfrm>
              <a:off x="794" y="3142"/>
              <a:ext cx="26" cy="75"/>
            </a:xfrm>
            <a:prstGeom prst="line">
              <a:avLst/>
            </a:prstGeom>
            <a:ln w="0" cap="flat" cmpd="sng">
              <a:solidFill>
                <a:srgbClr val="000000"/>
              </a:solidFill>
              <a:prstDash val="solid"/>
              <a:headEnd type="none" w="med" len="med"/>
              <a:tailEnd type="none" w="med" len="med"/>
            </a:ln>
          </p:spPr>
        </p:sp>
        <p:sp>
          <p:nvSpPr>
            <p:cNvPr id="48332" name="Rectangle 97"/>
            <p:cNvSpPr/>
            <p:nvPr/>
          </p:nvSpPr>
          <p:spPr>
            <a:xfrm>
              <a:off x="636" y="3067"/>
              <a:ext cx="75"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e</a:t>
              </a:r>
              <a:endParaRPr lang="en-US" altLang="zh-CN" b="1">
                <a:solidFill>
                  <a:srgbClr val="FF0000"/>
                </a:solidFill>
                <a:latin typeface="楷体_GB2312" pitchFamily="49" charset="-122"/>
              </a:endParaRPr>
            </a:p>
          </p:txBody>
        </p:sp>
        <p:sp>
          <p:nvSpPr>
            <p:cNvPr id="48333" name="Line 98"/>
            <p:cNvSpPr/>
            <p:nvPr/>
          </p:nvSpPr>
          <p:spPr>
            <a:xfrm flipV="1">
              <a:off x="1315" y="2062"/>
              <a:ext cx="1" cy="219"/>
            </a:xfrm>
            <a:prstGeom prst="line">
              <a:avLst/>
            </a:prstGeom>
            <a:ln w="25400" cap="flat" cmpd="sng">
              <a:solidFill>
                <a:srgbClr val="FF00FF"/>
              </a:solidFill>
              <a:prstDash val="solid"/>
              <a:headEnd type="none" w="med" len="med"/>
              <a:tailEnd type="none" w="med" len="med"/>
            </a:ln>
          </p:spPr>
        </p:sp>
        <p:sp>
          <p:nvSpPr>
            <p:cNvPr id="48334" name="Line 99"/>
            <p:cNvSpPr/>
            <p:nvPr/>
          </p:nvSpPr>
          <p:spPr>
            <a:xfrm>
              <a:off x="1058" y="2066"/>
              <a:ext cx="257" cy="1"/>
            </a:xfrm>
            <a:prstGeom prst="line">
              <a:avLst/>
            </a:prstGeom>
            <a:ln w="25400" cap="flat" cmpd="sng">
              <a:solidFill>
                <a:srgbClr val="FF00FF"/>
              </a:solidFill>
              <a:prstDash val="solid"/>
              <a:headEnd type="none" w="med" len="med"/>
              <a:tailEnd type="none" w="med" len="med"/>
            </a:ln>
          </p:spPr>
        </p:sp>
        <p:sp>
          <p:nvSpPr>
            <p:cNvPr id="48335" name="Rectangle 100"/>
            <p:cNvSpPr/>
            <p:nvPr/>
          </p:nvSpPr>
          <p:spPr>
            <a:xfrm>
              <a:off x="1060" y="2264"/>
              <a:ext cx="13" cy="27"/>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336" name="Line 101"/>
            <p:cNvSpPr/>
            <p:nvPr/>
          </p:nvSpPr>
          <p:spPr>
            <a:xfrm>
              <a:off x="974" y="2285"/>
              <a:ext cx="84" cy="1"/>
            </a:xfrm>
            <a:prstGeom prst="line">
              <a:avLst/>
            </a:prstGeom>
            <a:ln w="25400" cap="flat" cmpd="sng">
              <a:solidFill>
                <a:srgbClr val="FF00FF"/>
              </a:solidFill>
              <a:prstDash val="solid"/>
              <a:headEnd type="none" w="med" len="med"/>
              <a:tailEnd type="none" w="med" len="med"/>
            </a:ln>
          </p:spPr>
        </p:sp>
        <p:sp>
          <p:nvSpPr>
            <p:cNvPr id="48337" name="Line 102"/>
            <p:cNvSpPr/>
            <p:nvPr/>
          </p:nvSpPr>
          <p:spPr>
            <a:xfrm>
              <a:off x="1058" y="2066"/>
              <a:ext cx="1" cy="219"/>
            </a:xfrm>
            <a:prstGeom prst="line">
              <a:avLst/>
            </a:prstGeom>
            <a:ln w="25400" cap="flat" cmpd="sng">
              <a:solidFill>
                <a:srgbClr val="FF00FF"/>
              </a:solidFill>
              <a:prstDash val="solid"/>
              <a:headEnd type="none" w="med" len="med"/>
              <a:tailEnd type="none" w="med" len="med"/>
            </a:ln>
          </p:spPr>
        </p:sp>
        <p:sp>
          <p:nvSpPr>
            <p:cNvPr id="48338" name="Rectangle 103"/>
            <p:cNvSpPr/>
            <p:nvPr/>
          </p:nvSpPr>
          <p:spPr>
            <a:xfrm>
              <a:off x="606" y="1741"/>
              <a:ext cx="52" cy="125"/>
            </a:xfrm>
            <a:prstGeom prst="rect">
              <a:avLst/>
            </a:prstGeom>
            <a:noFill/>
            <a:ln w="9525">
              <a:noFill/>
            </a:ln>
          </p:spPr>
          <p:txBody>
            <a:bodyPr wrap="none" lIns="0" tIns="0" rIns="0" bIns="0">
              <a:spAutoFit/>
            </a:bodyPr>
            <a:p>
              <a:pPr algn="ctr" eaLnBrk="1" hangingPunct="1"/>
              <a:r>
                <a:rPr lang="en-US" altLang="zh-CN" sz="13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8339" name="Rectangle 104"/>
            <p:cNvSpPr/>
            <p:nvPr/>
          </p:nvSpPr>
          <p:spPr>
            <a:xfrm>
              <a:off x="1478" y="3669"/>
              <a:ext cx="177" cy="192"/>
            </a:xfrm>
            <a:prstGeom prst="rect">
              <a:avLst/>
            </a:prstGeom>
            <a:noFill/>
            <a:ln w="9525">
              <a:noFill/>
            </a:ln>
          </p:spPr>
          <p:txBody>
            <a:bodyPr wrap="none" lIns="0" tIns="0" rIns="0" bIns="0">
              <a:spAutoFit/>
            </a:bodyPr>
            <a:p>
              <a:pPr algn="ctr" eaLnBrk="1" hangingPunct="1"/>
              <a:r>
                <a:rPr lang="en-US" altLang="zh-CN" sz="2000" b="0">
                  <a:solidFill>
                    <a:srgbClr val="FF0000"/>
                  </a:solidFill>
                  <a:latin typeface="Times New Roman" panose="02020603050405020304" pitchFamily="18" charset="0"/>
                  <a:ea typeface="宋体" panose="02010600030101010101" pitchFamily="2" charset="-122"/>
                </a:rPr>
                <a:t>(a)</a:t>
              </a:r>
              <a:endParaRPr lang="en-US" altLang="zh-CN" sz="2000" b="1">
                <a:solidFill>
                  <a:srgbClr val="FF0000"/>
                </a:solidFill>
                <a:latin typeface="Times New Roman" panose="02020603050405020304" pitchFamily="18" charset="0"/>
              </a:endParaRPr>
            </a:p>
          </p:txBody>
        </p:sp>
        <p:sp>
          <p:nvSpPr>
            <p:cNvPr id="48340" name="Line 105"/>
            <p:cNvSpPr/>
            <p:nvPr/>
          </p:nvSpPr>
          <p:spPr>
            <a:xfrm>
              <a:off x="794" y="2706"/>
              <a:ext cx="1854" cy="1"/>
            </a:xfrm>
            <a:prstGeom prst="line">
              <a:avLst/>
            </a:prstGeom>
            <a:ln w="0" cap="flat" cmpd="sng">
              <a:solidFill>
                <a:srgbClr val="000000"/>
              </a:solidFill>
              <a:prstDash val="solid"/>
              <a:headEnd type="none" w="med" len="med"/>
              <a:tailEnd type="none" w="med" len="med"/>
            </a:ln>
          </p:spPr>
        </p:sp>
        <p:sp>
          <p:nvSpPr>
            <p:cNvPr id="48341" name="Line 106"/>
            <p:cNvSpPr/>
            <p:nvPr/>
          </p:nvSpPr>
          <p:spPr>
            <a:xfrm>
              <a:off x="793" y="2707"/>
              <a:ext cx="90" cy="1"/>
            </a:xfrm>
            <a:prstGeom prst="line">
              <a:avLst/>
            </a:prstGeom>
            <a:ln w="25400" cap="flat" cmpd="sng">
              <a:solidFill>
                <a:srgbClr val="FF00FF"/>
              </a:solidFill>
              <a:prstDash val="solid"/>
              <a:headEnd type="none" w="med" len="med"/>
              <a:tailEnd type="none" w="med" len="med"/>
            </a:ln>
          </p:spPr>
        </p:sp>
        <p:sp>
          <p:nvSpPr>
            <p:cNvPr id="48342" name="Line 107"/>
            <p:cNvSpPr/>
            <p:nvPr/>
          </p:nvSpPr>
          <p:spPr>
            <a:xfrm flipV="1">
              <a:off x="1796" y="2704"/>
              <a:ext cx="387" cy="4"/>
            </a:xfrm>
            <a:prstGeom prst="line">
              <a:avLst/>
            </a:prstGeom>
            <a:ln w="25400" cap="flat" cmpd="sng">
              <a:solidFill>
                <a:srgbClr val="FF00FF"/>
              </a:solidFill>
              <a:prstDash val="solid"/>
              <a:headEnd type="none" w="med" len="med"/>
              <a:tailEnd type="none" w="med" len="med"/>
            </a:ln>
          </p:spPr>
        </p:sp>
        <p:sp>
          <p:nvSpPr>
            <p:cNvPr id="48343" name="Rectangle 108"/>
            <p:cNvSpPr/>
            <p:nvPr/>
          </p:nvSpPr>
          <p:spPr>
            <a:xfrm>
              <a:off x="978" y="3573"/>
              <a:ext cx="434" cy="169"/>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grpSp>
        <p:nvGrpSpPr>
          <p:cNvPr id="2292967" name="Group 231"/>
          <p:cNvGrpSpPr/>
          <p:nvPr/>
        </p:nvGrpSpPr>
        <p:grpSpPr>
          <a:xfrm>
            <a:off x="4876800" y="1808163"/>
            <a:ext cx="3835400" cy="3473450"/>
            <a:chOff x="3072" y="1638"/>
            <a:chExt cx="2416" cy="2188"/>
          </a:xfrm>
        </p:grpSpPr>
        <p:sp>
          <p:nvSpPr>
            <p:cNvPr id="48138" name="Line 109"/>
            <p:cNvSpPr/>
            <p:nvPr/>
          </p:nvSpPr>
          <p:spPr>
            <a:xfrm flipV="1">
              <a:off x="3528" y="2683"/>
              <a:ext cx="1857" cy="3"/>
            </a:xfrm>
            <a:prstGeom prst="line">
              <a:avLst/>
            </a:prstGeom>
            <a:ln w="0" cap="flat" cmpd="sng">
              <a:solidFill>
                <a:srgbClr val="000000"/>
              </a:solidFill>
              <a:prstDash val="solid"/>
              <a:headEnd type="none" w="med" len="med"/>
              <a:tailEnd type="none" w="med" len="med"/>
            </a:ln>
          </p:spPr>
        </p:sp>
        <p:sp>
          <p:nvSpPr>
            <p:cNvPr id="48139" name="Line 110"/>
            <p:cNvSpPr/>
            <p:nvPr/>
          </p:nvSpPr>
          <p:spPr>
            <a:xfrm>
              <a:off x="3528" y="1766"/>
              <a:ext cx="1" cy="1227"/>
            </a:xfrm>
            <a:prstGeom prst="line">
              <a:avLst/>
            </a:prstGeom>
            <a:ln w="0" cap="flat" cmpd="sng">
              <a:solidFill>
                <a:srgbClr val="000000"/>
              </a:solidFill>
              <a:prstDash val="solid"/>
              <a:headEnd type="none" w="med" len="med"/>
              <a:tailEnd type="none" w="med" len="med"/>
            </a:ln>
          </p:spPr>
        </p:sp>
        <p:sp>
          <p:nvSpPr>
            <p:cNvPr id="48140" name="Oval 111"/>
            <p:cNvSpPr/>
            <p:nvPr/>
          </p:nvSpPr>
          <p:spPr>
            <a:xfrm>
              <a:off x="3800" y="2074"/>
              <a:ext cx="235" cy="252"/>
            </a:xfrm>
            <a:prstGeom prst="ellipse">
              <a:avLst/>
            </a:prstGeom>
            <a:noFill/>
            <a:ln w="19050" cap="flat" cmpd="sng">
              <a:solidFill>
                <a:srgbClr val="00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141" name="Line 112"/>
            <p:cNvSpPr/>
            <p:nvPr/>
          </p:nvSpPr>
          <p:spPr>
            <a:xfrm flipV="1">
              <a:off x="3541" y="2632"/>
              <a:ext cx="1650" cy="2"/>
            </a:xfrm>
            <a:prstGeom prst="line">
              <a:avLst/>
            </a:prstGeom>
            <a:ln w="0" cap="flat" cmpd="sng">
              <a:solidFill>
                <a:srgbClr val="000000"/>
              </a:solidFill>
              <a:prstDash val="sysDot"/>
              <a:headEnd type="none" w="med" len="med"/>
              <a:tailEnd type="none" w="med" len="med"/>
            </a:ln>
          </p:spPr>
        </p:sp>
        <p:sp>
          <p:nvSpPr>
            <p:cNvPr id="48142" name="Line 113"/>
            <p:cNvSpPr/>
            <p:nvPr/>
          </p:nvSpPr>
          <p:spPr>
            <a:xfrm flipV="1">
              <a:off x="3541" y="2530"/>
              <a:ext cx="1650" cy="2"/>
            </a:xfrm>
            <a:prstGeom prst="line">
              <a:avLst/>
            </a:prstGeom>
            <a:ln w="0" cap="flat" cmpd="sng">
              <a:solidFill>
                <a:srgbClr val="000000"/>
              </a:solidFill>
              <a:prstDash val="sysDot"/>
              <a:headEnd type="none" w="med" len="med"/>
              <a:tailEnd type="none" w="med" len="med"/>
            </a:ln>
          </p:spPr>
        </p:sp>
        <p:sp>
          <p:nvSpPr>
            <p:cNvPr id="48143" name="Line 114"/>
            <p:cNvSpPr/>
            <p:nvPr/>
          </p:nvSpPr>
          <p:spPr>
            <a:xfrm flipV="1">
              <a:off x="3528" y="2414"/>
              <a:ext cx="1657" cy="2"/>
            </a:xfrm>
            <a:prstGeom prst="line">
              <a:avLst/>
            </a:prstGeom>
            <a:ln w="0" cap="flat" cmpd="sng">
              <a:solidFill>
                <a:srgbClr val="000000"/>
              </a:solidFill>
              <a:prstDash val="sysDot"/>
              <a:headEnd type="none" w="med" len="med"/>
              <a:tailEnd type="none" w="med" len="med"/>
            </a:ln>
          </p:spPr>
        </p:sp>
        <p:sp>
          <p:nvSpPr>
            <p:cNvPr id="48144" name="Rectangle 115"/>
            <p:cNvSpPr/>
            <p:nvPr/>
          </p:nvSpPr>
          <p:spPr>
            <a:xfrm>
              <a:off x="3788" y="2135"/>
              <a:ext cx="260" cy="205"/>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145" name="Line 116"/>
            <p:cNvSpPr/>
            <p:nvPr/>
          </p:nvSpPr>
          <p:spPr>
            <a:xfrm flipV="1">
              <a:off x="3541" y="2748"/>
              <a:ext cx="1650" cy="2"/>
            </a:xfrm>
            <a:prstGeom prst="line">
              <a:avLst/>
            </a:prstGeom>
            <a:ln w="0" cap="flat" cmpd="sng">
              <a:solidFill>
                <a:srgbClr val="000000"/>
              </a:solidFill>
              <a:prstDash val="sysDot"/>
              <a:headEnd type="none" w="med" len="med"/>
              <a:tailEnd type="none" w="med" len="med"/>
            </a:ln>
          </p:spPr>
        </p:sp>
        <p:sp>
          <p:nvSpPr>
            <p:cNvPr id="48146" name="Line 117"/>
            <p:cNvSpPr/>
            <p:nvPr/>
          </p:nvSpPr>
          <p:spPr>
            <a:xfrm flipH="1">
              <a:off x="3710" y="2126"/>
              <a:ext cx="110" cy="239"/>
            </a:xfrm>
            <a:prstGeom prst="line">
              <a:avLst/>
            </a:prstGeom>
            <a:ln w="19050" cap="flat" cmpd="sng">
              <a:solidFill>
                <a:srgbClr val="0000FF"/>
              </a:solidFill>
              <a:prstDash val="solid"/>
              <a:headEnd type="none" w="med" len="med"/>
              <a:tailEnd type="none" w="med" len="med"/>
            </a:ln>
          </p:spPr>
        </p:sp>
        <p:sp>
          <p:nvSpPr>
            <p:cNvPr id="48147" name="Line 118"/>
            <p:cNvSpPr/>
            <p:nvPr/>
          </p:nvSpPr>
          <p:spPr>
            <a:xfrm flipH="1">
              <a:off x="3619" y="2350"/>
              <a:ext cx="97" cy="246"/>
            </a:xfrm>
            <a:prstGeom prst="line">
              <a:avLst/>
            </a:prstGeom>
            <a:ln w="19050" cap="flat" cmpd="sng">
              <a:solidFill>
                <a:srgbClr val="0000FF"/>
              </a:solidFill>
              <a:prstDash val="solid"/>
              <a:headEnd type="none" w="med" len="med"/>
              <a:tailEnd type="none" w="med" len="med"/>
            </a:ln>
          </p:spPr>
        </p:sp>
        <p:sp>
          <p:nvSpPr>
            <p:cNvPr id="48148" name="Line 119"/>
            <p:cNvSpPr/>
            <p:nvPr/>
          </p:nvSpPr>
          <p:spPr>
            <a:xfrm flipH="1">
              <a:off x="3528" y="2581"/>
              <a:ext cx="98" cy="105"/>
            </a:xfrm>
            <a:prstGeom prst="line">
              <a:avLst/>
            </a:prstGeom>
            <a:ln w="19050" cap="flat" cmpd="sng">
              <a:solidFill>
                <a:srgbClr val="0000FF"/>
              </a:solidFill>
              <a:prstDash val="solid"/>
              <a:headEnd type="none" w="med" len="med"/>
              <a:tailEnd type="none" w="med" len="med"/>
            </a:ln>
          </p:spPr>
        </p:sp>
        <p:sp>
          <p:nvSpPr>
            <p:cNvPr id="48149" name="Line 120"/>
            <p:cNvSpPr/>
            <p:nvPr/>
          </p:nvSpPr>
          <p:spPr>
            <a:xfrm>
              <a:off x="4538" y="2570"/>
              <a:ext cx="388" cy="231"/>
            </a:xfrm>
            <a:prstGeom prst="line">
              <a:avLst/>
            </a:prstGeom>
            <a:ln w="19050" cap="flat" cmpd="sng">
              <a:solidFill>
                <a:srgbClr val="0000FF"/>
              </a:solidFill>
              <a:prstDash val="solid"/>
              <a:headEnd type="none" w="med" len="med"/>
              <a:tailEnd type="none" w="med" len="med"/>
            </a:ln>
          </p:spPr>
        </p:sp>
        <p:sp>
          <p:nvSpPr>
            <p:cNvPr id="48150" name="Line 121"/>
            <p:cNvSpPr/>
            <p:nvPr/>
          </p:nvSpPr>
          <p:spPr>
            <a:xfrm>
              <a:off x="3988" y="2106"/>
              <a:ext cx="278" cy="246"/>
            </a:xfrm>
            <a:prstGeom prst="line">
              <a:avLst/>
            </a:prstGeom>
            <a:ln w="19050" cap="flat" cmpd="sng">
              <a:solidFill>
                <a:srgbClr val="0000FF"/>
              </a:solidFill>
              <a:prstDash val="solid"/>
              <a:headEnd type="none" w="med" len="med"/>
              <a:tailEnd type="none" w="med" len="med"/>
            </a:ln>
          </p:spPr>
        </p:sp>
        <p:sp>
          <p:nvSpPr>
            <p:cNvPr id="48151" name="Line 122"/>
            <p:cNvSpPr/>
            <p:nvPr/>
          </p:nvSpPr>
          <p:spPr>
            <a:xfrm>
              <a:off x="4926" y="2801"/>
              <a:ext cx="91" cy="39"/>
            </a:xfrm>
            <a:prstGeom prst="line">
              <a:avLst/>
            </a:prstGeom>
            <a:ln w="19050" cap="flat" cmpd="sng">
              <a:solidFill>
                <a:srgbClr val="0000FF"/>
              </a:solidFill>
              <a:prstDash val="solid"/>
              <a:headEnd type="none" w="med" len="med"/>
              <a:tailEnd type="none" w="med" len="med"/>
            </a:ln>
          </p:spPr>
        </p:sp>
        <p:sp>
          <p:nvSpPr>
            <p:cNvPr id="48152" name="Line 123"/>
            <p:cNvSpPr/>
            <p:nvPr/>
          </p:nvSpPr>
          <p:spPr>
            <a:xfrm>
              <a:off x="4266" y="2352"/>
              <a:ext cx="272" cy="218"/>
            </a:xfrm>
            <a:prstGeom prst="line">
              <a:avLst/>
            </a:prstGeom>
            <a:ln w="19050" cap="flat" cmpd="sng">
              <a:solidFill>
                <a:srgbClr val="0000FF"/>
              </a:solidFill>
              <a:prstDash val="solid"/>
              <a:headEnd type="none" w="med" len="med"/>
              <a:tailEnd type="none" w="med" len="med"/>
            </a:ln>
          </p:spPr>
        </p:sp>
        <p:sp>
          <p:nvSpPr>
            <p:cNvPr id="48153" name="Line 124"/>
            <p:cNvSpPr/>
            <p:nvPr/>
          </p:nvSpPr>
          <p:spPr>
            <a:xfrm flipV="1">
              <a:off x="3528" y="2914"/>
              <a:ext cx="26" cy="3"/>
            </a:xfrm>
            <a:prstGeom prst="line">
              <a:avLst/>
            </a:prstGeom>
            <a:ln w="0" cap="flat" cmpd="sng">
              <a:solidFill>
                <a:srgbClr val="000000"/>
              </a:solidFill>
              <a:prstDash val="solid"/>
              <a:headEnd type="none" w="med" len="med"/>
              <a:tailEnd type="none" w="med" len="med"/>
            </a:ln>
          </p:spPr>
        </p:sp>
        <p:sp>
          <p:nvSpPr>
            <p:cNvPr id="48154" name="Rectangle 125"/>
            <p:cNvSpPr/>
            <p:nvPr/>
          </p:nvSpPr>
          <p:spPr>
            <a:xfrm>
              <a:off x="3434" y="2634"/>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0</a:t>
              </a:r>
              <a:endParaRPr lang="en-US" altLang="zh-CN" b="1">
                <a:solidFill>
                  <a:srgbClr val="333399"/>
                </a:solidFill>
                <a:latin typeface="楷体_GB2312" pitchFamily="49" charset="-122"/>
              </a:endParaRPr>
            </a:p>
          </p:txBody>
        </p:sp>
        <p:sp>
          <p:nvSpPr>
            <p:cNvPr id="48155" name="Rectangle 126"/>
            <p:cNvSpPr/>
            <p:nvPr/>
          </p:nvSpPr>
          <p:spPr>
            <a:xfrm>
              <a:off x="3434" y="2519"/>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156" name="Rectangle 127"/>
            <p:cNvSpPr/>
            <p:nvPr/>
          </p:nvSpPr>
          <p:spPr>
            <a:xfrm>
              <a:off x="3396" y="2416"/>
              <a:ext cx="104"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2q</a:t>
              </a:r>
              <a:endParaRPr lang="en-US" altLang="zh-CN" b="1">
                <a:solidFill>
                  <a:srgbClr val="333399"/>
                </a:solidFill>
                <a:latin typeface="楷体_GB2312" pitchFamily="49" charset="-122"/>
              </a:endParaRPr>
            </a:p>
          </p:txBody>
        </p:sp>
        <p:sp>
          <p:nvSpPr>
            <p:cNvPr id="48157" name="Rectangle 128"/>
            <p:cNvSpPr/>
            <p:nvPr/>
          </p:nvSpPr>
          <p:spPr>
            <a:xfrm>
              <a:off x="3383" y="2294"/>
              <a:ext cx="104"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3q</a:t>
              </a:r>
              <a:endParaRPr lang="en-US" altLang="zh-CN" b="1">
                <a:solidFill>
                  <a:srgbClr val="333399"/>
                </a:solidFill>
                <a:latin typeface="楷体_GB2312" pitchFamily="49" charset="-122"/>
              </a:endParaRPr>
            </a:p>
          </p:txBody>
        </p:sp>
        <p:sp>
          <p:nvSpPr>
            <p:cNvPr id="48158" name="Rectangle 129"/>
            <p:cNvSpPr/>
            <p:nvPr/>
          </p:nvSpPr>
          <p:spPr>
            <a:xfrm>
              <a:off x="3382" y="2852"/>
              <a:ext cx="87"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159" name="Line 130"/>
            <p:cNvSpPr/>
            <p:nvPr/>
          </p:nvSpPr>
          <p:spPr>
            <a:xfrm>
              <a:off x="3528" y="3101"/>
              <a:ext cx="1" cy="526"/>
            </a:xfrm>
            <a:prstGeom prst="line">
              <a:avLst/>
            </a:prstGeom>
            <a:ln w="0" cap="flat" cmpd="sng">
              <a:solidFill>
                <a:srgbClr val="000000"/>
              </a:solidFill>
              <a:prstDash val="solid"/>
              <a:headEnd type="none" w="med" len="med"/>
              <a:tailEnd type="none" w="med" len="med"/>
            </a:ln>
          </p:spPr>
        </p:sp>
        <p:sp>
          <p:nvSpPr>
            <p:cNvPr id="48160" name="Line 131"/>
            <p:cNvSpPr/>
            <p:nvPr/>
          </p:nvSpPr>
          <p:spPr>
            <a:xfrm flipV="1">
              <a:off x="3528" y="3419"/>
              <a:ext cx="1870" cy="3"/>
            </a:xfrm>
            <a:prstGeom prst="line">
              <a:avLst/>
            </a:prstGeom>
            <a:ln w="0" cap="flat" cmpd="sng">
              <a:solidFill>
                <a:srgbClr val="000000"/>
              </a:solidFill>
              <a:prstDash val="solid"/>
              <a:headEnd type="none" w="med" len="med"/>
              <a:tailEnd type="none" w="med" len="med"/>
            </a:ln>
          </p:spPr>
        </p:sp>
        <p:sp>
          <p:nvSpPr>
            <p:cNvPr id="48161" name="Line 132"/>
            <p:cNvSpPr/>
            <p:nvPr/>
          </p:nvSpPr>
          <p:spPr>
            <a:xfrm flipV="1">
              <a:off x="3541" y="3368"/>
              <a:ext cx="1644" cy="2"/>
            </a:xfrm>
            <a:prstGeom prst="line">
              <a:avLst/>
            </a:prstGeom>
            <a:ln w="0" cap="flat" cmpd="sng">
              <a:solidFill>
                <a:srgbClr val="000000"/>
              </a:solidFill>
              <a:prstDash val="sysDot"/>
              <a:headEnd type="none" w="med" len="med"/>
              <a:tailEnd type="none" w="med" len="med"/>
            </a:ln>
          </p:spPr>
        </p:sp>
        <p:sp>
          <p:nvSpPr>
            <p:cNvPr id="48162" name="Line 133"/>
            <p:cNvSpPr/>
            <p:nvPr/>
          </p:nvSpPr>
          <p:spPr>
            <a:xfrm flipV="1">
              <a:off x="3528" y="3484"/>
              <a:ext cx="1663" cy="2"/>
            </a:xfrm>
            <a:prstGeom prst="line">
              <a:avLst/>
            </a:prstGeom>
            <a:ln w="0" cap="flat" cmpd="sng">
              <a:solidFill>
                <a:srgbClr val="000000"/>
              </a:solidFill>
              <a:prstDash val="sysDot"/>
              <a:headEnd type="none" w="med" len="med"/>
              <a:tailEnd type="none" w="med" len="med"/>
            </a:ln>
          </p:spPr>
        </p:sp>
        <p:sp>
          <p:nvSpPr>
            <p:cNvPr id="48163" name="Oval 134"/>
            <p:cNvSpPr/>
            <p:nvPr/>
          </p:nvSpPr>
          <p:spPr>
            <a:xfrm>
              <a:off x="3800" y="3451"/>
              <a:ext cx="240" cy="261"/>
            </a:xfrm>
            <a:prstGeom prst="ellipse">
              <a:avLst/>
            </a:prstGeom>
            <a:noFill/>
            <a:ln w="25400" cap="flat" cmpd="sng">
              <a:solidFill>
                <a:srgbClr val="FF00FF"/>
              </a:solidFill>
              <a:prstDash val="solid"/>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sp>
          <p:nvSpPr>
            <p:cNvPr id="48164" name="Rectangle 135"/>
            <p:cNvSpPr/>
            <p:nvPr/>
          </p:nvSpPr>
          <p:spPr>
            <a:xfrm>
              <a:off x="3787" y="3492"/>
              <a:ext cx="270" cy="242"/>
            </a:xfrm>
            <a:prstGeom prst="rect">
              <a:avLst/>
            </a:prstGeom>
            <a:solidFill>
              <a:srgbClr val="FFFFFF"/>
            </a:solidFill>
            <a:ln w="0" cap="flat" cmpd="sng">
              <a:solidFill>
                <a:srgbClr val="FFFFFF"/>
              </a:solidFill>
              <a:prstDash val="solid"/>
              <a:miter/>
              <a:headEnd type="none" w="med" len="med"/>
              <a:tailEnd type="none" w="med" len="med"/>
            </a:ln>
          </p:spPr>
          <p:txBody>
            <a:bodyPr/>
            <a:p>
              <a:pPr algn="ctr" eaLnBrk="1" hangingPunct="1"/>
              <a:endParaRPr lang="zh-CN" altLang="en-US" b="1" dirty="0">
                <a:solidFill>
                  <a:srgbClr val="333399"/>
                </a:solidFill>
                <a:latin typeface="楷体_GB2312" pitchFamily="49" charset="-122"/>
              </a:endParaRPr>
            </a:p>
          </p:txBody>
        </p:sp>
        <p:grpSp>
          <p:nvGrpSpPr>
            <p:cNvPr id="48165" name="Group 136"/>
            <p:cNvGrpSpPr/>
            <p:nvPr/>
          </p:nvGrpSpPr>
          <p:grpSpPr>
            <a:xfrm>
              <a:off x="3350" y="3248"/>
              <a:ext cx="147" cy="151"/>
              <a:chOff x="3329" y="2273"/>
              <a:chExt cx="147" cy="151"/>
            </a:xfrm>
          </p:grpSpPr>
          <p:sp>
            <p:nvSpPr>
              <p:cNvPr id="48257" name="Rectangle 137"/>
              <p:cNvSpPr/>
              <p:nvPr/>
            </p:nvSpPr>
            <p:spPr>
              <a:xfrm>
                <a:off x="3329" y="2273"/>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258" name="Rectangle 138"/>
              <p:cNvSpPr/>
              <p:nvPr/>
            </p:nvSpPr>
            <p:spPr>
              <a:xfrm>
                <a:off x="3395" y="2299"/>
                <a:ext cx="81"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a:t>
                </a:r>
                <a:endParaRPr lang="en-US" altLang="zh-CN" b="1">
                  <a:solidFill>
                    <a:srgbClr val="333399"/>
                  </a:solidFill>
                  <a:latin typeface="楷体_GB2312" pitchFamily="49" charset="-122"/>
                </a:endParaRPr>
              </a:p>
            </p:txBody>
          </p:sp>
        </p:grpSp>
        <p:grpSp>
          <p:nvGrpSpPr>
            <p:cNvPr id="48166" name="Group 139"/>
            <p:cNvGrpSpPr/>
            <p:nvPr/>
          </p:nvGrpSpPr>
          <p:grpSpPr>
            <a:xfrm>
              <a:off x="3305" y="3441"/>
              <a:ext cx="192" cy="157"/>
              <a:chOff x="3284" y="2466"/>
              <a:chExt cx="192" cy="157"/>
            </a:xfrm>
          </p:grpSpPr>
          <p:sp>
            <p:nvSpPr>
              <p:cNvPr id="48255" name="Rectangle 140"/>
              <p:cNvSpPr/>
              <p:nvPr/>
            </p:nvSpPr>
            <p:spPr>
              <a:xfrm>
                <a:off x="3284" y="2466"/>
                <a:ext cx="87"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-q</a:t>
                </a:r>
                <a:endParaRPr lang="en-US" altLang="zh-CN" b="1">
                  <a:solidFill>
                    <a:srgbClr val="333399"/>
                  </a:solidFill>
                  <a:latin typeface="楷体_GB2312" pitchFamily="49" charset="-122"/>
                </a:endParaRPr>
              </a:p>
            </p:txBody>
          </p:sp>
          <p:sp>
            <p:nvSpPr>
              <p:cNvPr id="48256" name="Rectangle 141"/>
              <p:cNvSpPr/>
              <p:nvPr/>
            </p:nvSpPr>
            <p:spPr>
              <a:xfrm>
                <a:off x="3395" y="2498"/>
                <a:ext cx="81"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/2</a:t>
                </a:r>
                <a:endParaRPr lang="en-US" altLang="zh-CN" b="1">
                  <a:solidFill>
                    <a:srgbClr val="333399"/>
                  </a:solidFill>
                  <a:latin typeface="楷体_GB2312" pitchFamily="49" charset="-122"/>
                </a:endParaRPr>
              </a:p>
            </p:txBody>
          </p:sp>
        </p:grpSp>
        <p:sp>
          <p:nvSpPr>
            <p:cNvPr id="48167" name="Rectangle 142"/>
            <p:cNvSpPr/>
            <p:nvPr/>
          </p:nvSpPr>
          <p:spPr>
            <a:xfrm>
              <a:off x="3447" y="3370"/>
              <a:ext cx="52" cy="125"/>
            </a:xfrm>
            <a:prstGeom prst="rect">
              <a:avLst/>
            </a:prstGeom>
            <a:noFill/>
            <a:ln w="9525">
              <a:noFill/>
            </a:ln>
          </p:spPr>
          <p:txBody>
            <a:bodyPr wrap="none" lIns="0" tIns="0" rIns="0" bIns="0">
              <a:spAutoFit/>
            </a:bodyPr>
            <a:p>
              <a:pPr algn="ctr" eaLnBrk="1" hangingPunct="1"/>
              <a:r>
                <a:rPr lang="en-US" altLang="zh-CN" sz="1300" b="0">
                  <a:solidFill>
                    <a:srgbClr val="000000"/>
                  </a:solidFill>
                  <a:latin typeface="Times New Roman" panose="02020603050405020304" pitchFamily="18" charset="0"/>
                </a:rPr>
                <a:t>0</a:t>
              </a:r>
              <a:endParaRPr lang="en-US" altLang="zh-CN" b="1">
                <a:solidFill>
                  <a:srgbClr val="333399"/>
                </a:solidFill>
                <a:latin typeface="楷体_GB2312" pitchFamily="49" charset="-122"/>
              </a:endParaRPr>
            </a:p>
          </p:txBody>
        </p:sp>
        <p:sp>
          <p:nvSpPr>
            <p:cNvPr id="48168" name="Line 143"/>
            <p:cNvSpPr/>
            <p:nvPr/>
          </p:nvSpPr>
          <p:spPr>
            <a:xfrm flipV="1">
              <a:off x="4007" y="1839"/>
              <a:ext cx="285" cy="282"/>
            </a:xfrm>
            <a:prstGeom prst="line">
              <a:avLst/>
            </a:prstGeom>
            <a:ln w="0" cap="flat" cmpd="sng">
              <a:solidFill>
                <a:srgbClr val="000000"/>
              </a:solidFill>
              <a:prstDash val="solid"/>
              <a:headEnd type="none" w="med" len="med"/>
              <a:tailEnd type="none" w="med" len="med"/>
            </a:ln>
          </p:spPr>
        </p:sp>
        <p:sp>
          <p:nvSpPr>
            <p:cNvPr id="48169" name="Line 144"/>
            <p:cNvSpPr/>
            <p:nvPr/>
          </p:nvSpPr>
          <p:spPr>
            <a:xfrm flipV="1">
              <a:off x="3541" y="2312"/>
              <a:ext cx="1650" cy="2"/>
            </a:xfrm>
            <a:prstGeom prst="line">
              <a:avLst/>
            </a:prstGeom>
            <a:ln w="0" cap="flat" cmpd="sng">
              <a:solidFill>
                <a:srgbClr val="000000"/>
              </a:solidFill>
              <a:prstDash val="sysDot"/>
              <a:headEnd type="none" w="med" len="med"/>
              <a:tailEnd type="none" w="med" len="med"/>
            </a:ln>
          </p:spPr>
        </p:sp>
        <p:sp>
          <p:nvSpPr>
            <p:cNvPr id="48170" name="Line 145"/>
            <p:cNvSpPr/>
            <p:nvPr/>
          </p:nvSpPr>
          <p:spPr>
            <a:xfrm flipV="1">
              <a:off x="3541" y="2209"/>
              <a:ext cx="1657" cy="2"/>
            </a:xfrm>
            <a:prstGeom prst="line">
              <a:avLst/>
            </a:prstGeom>
            <a:ln w="0" cap="flat" cmpd="sng">
              <a:solidFill>
                <a:srgbClr val="000000"/>
              </a:solidFill>
              <a:prstDash val="sysDot"/>
              <a:headEnd type="none" w="med" len="med"/>
              <a:tailEnd type="none" w="med" len="med"/>
            </a:ln>
          </p:spPr>
        </p:sp>
        <p:sp>
          <p:nvSpPr>
            <p:cNvPr id="48171" name="Line 146"/>
            <p:cNvSpPr/>
            <p:nvPr/>
          </p:nvSpPr>
          <p:spPr>
            <a:xfrm flipV="1">
              <a:off x="3528" y="2106"/>
              <a:ext cx="1657" cy="2"/>
            </a:xfrm>
            <a:prstGeom prst="line">
              <a:avLst/>
            </a:prstGeom>
            <a:ln w="0" cap="flat" cmpd="sng">
              <a:solidFill>
                <a:srgbClr val="000000"/>
              </a:solidFill>
              <a:prstDash val="sysDot"/>
              <a:headEnd type="none" w="med" len="med"/>
              <a:tailEnd type="none" w="med" len="med"/>
            </a:ln>
          </p:spPr>
        </p:sp>
        <p:sp>
          <p:nvSpPr>
            <p:cNvPr id="48172" name="Line 147"/>
            <p:cNvSpPr/>
            <p:nvPr/>
          </p:nvSpPr>
          <p:spPr>
            <a:xfrm flipV="1">
              <a:off x="3528" y="2260"/>
              <a:ext cx="26" cy="2"/>
            </a:xfrm>
            <a:prstGeom prst="line">
              <a:avLst/>
            </a:prstGeom>
            <a:ln w="0" cap="flat" cmpd="sng">
              <a:solidFill>
                <a:srgbClr val="000000"/>
              </a:solidFill>
              <a:prstDash val="solid"/>
              <a:headEnd type="none" w="med" len="med"/>
              <a:tailEnd type="none" w="med" len="med"/>
            </a:ln>
          </p:spPr>
        </p:sp>
        <p:sp>
          <p:nvSpPr>
            <p:cNvPr id="48173" name="Line 148"/>
            <p:cNvSpPr/>
            <p:nvPr/>
          </p:nvSpPr>
          <p:spPr>
            <a:xfrm flipV="1">
              <a:off x="3528" y="2478"/>
              <a:ext cx="26" cy="2"/>
            </a:xfrm>
            <a:prstGeom prst="line">
              <a:avLst/>
            </a:prstGeom>
            <a:ln w="0" cap="flat" cmpd="sng">
              <a:solidFill>
                <a:srgbClr val="000000"/>
              </a:solidFill>
              <a:prstDash val="solid"/>
              <a:headEnd type="none" w="med" len="med"/>
              <a:tailEnd type="none" w="med" len="med"/>
            </a:ln>
          </p:spPr>
        </p:sp>
        <p:sp>
          <p:nvSpPr>
            <p:cNvPr id="48174" name="Line 149"/>
            <p:cNvSpPr/>
            <p:nvPr/>
          </p:nvSpPr>
          <p:spPr>
            <a:xfrm flipV="1">
              <a:off x="3528" y="2363"/>
              <a:ext cx="26" cy="2"/>
            </a:xfrm>
            <a:prstGeom prst="line">
              <a:avLst/>
            </a:prstGeom>
            <a:ln w="0" cap="flat" cmpd="sng">
              <a:solidFill>
                <a:srgbClr val="000000"/>
              </a:solidFill>
              <a:prstDash val="solid"/>
              <a:headEnd type="none" w="med" len="med"/>
              <a:tailEnd type="none" w="med" len="med"/>
            </a:ln>
          </p:spPr>
        </p:sp>
        <p:sp>
          <p:nvSpPr>
            <p:cNvPr id="48175" name="Line 150"/>
            <p:cNvSpPr/>
            <p:nvPr/>
          </p:nvSpPr>
          <p:spPr>
            <a:xfrm flipV="1">
              <a:off x="3528" y="2158"/>
              <a:ext cx="26" cy="2"/>
            </a:xfrm>
            <a:prstGeom prst="line">
              <a:avLst/>
            </a:prstGeom>
            <a:ln w="0" cap="flat" cmpd="sng">
              <a:solidFill>
                <a:srgbClr val="000000"/>
              </a:solidFill>
              <a:prstDash val="solid"/>
              <a:headEnd type="none" w="med" len="med"/>
              <a:tailEnd type="none" w="med" len="med"/>
            </a:ln>
          </p:spPr>
        </p:sp>
        <p:sp>
          <p:nvSpPr>
            <p:cNvPr id="48176" name="Line 151"/>
            <p:cNvSpPr/>
            <p:nvPr/>
          </p:nvSpPr>
          <p:spPr>
            <a:xfrm flipV="1">
              <a:off x="3580" y="2589"/>
              <a:ext cx="2" cy="92"/>
            </a:xfrm>
            <a:prstGeom prst="line">
              <a:avLst/>
            </a:prstGeom>
            <a:ln w="25400" cap="flat" cmpd="sng">
              <a:solidFill>
                <a:srgbClr val="FF00FF"/>
              </a:solidFill>
              <a:prstDash val="solid"/>
              <a:headEnd type="none" w="med" len="med"/>
              <a:tailEnd type="none" w="med" len="med"/>
            </a:ln>
          </p:spPr>
        </p:sp>
        <p:sp>
          <p:nvSpPr>
            <p:cNvPr id="48177" name="Line 152"/>
            <p:cNvSpPr/>
            <p:nvPr/>
          </p:nvSpPr>
          <p:spPr>
            <a:xfrm>
              <a:off x="3582" y="2587"/>
              <a:ext cx="65" cy="1"/>
            </a:xfrm>
            <a:prstGeom prst="line">
              <a:avLst/>
            </a:prstGeom>
            <a:ln w="25400" cap="flat" cmpd="sng">
              <a:solidFill>
                <a:srgbClr val="FF00FF"/>
              </a:solidFill>
              <a:prstDash val="solid"/>
              <a:headEnd type="none" w="med" len="med"/>
              <a:tailEnd type="none" w="med" len="med"/>
            </a:ln>
          </p:spPr>
        </p:sp>
        <p:sp>
          <p:nvSpPr>
            <p:cNvPr id="48178" name="Line 153"/>
            <p:cNvSpPr/>
            <p:nvPr/>
          </p:nvSpPr>
          <p:spPr>
            <a:xfrm flipV="1">
              <a:off x="3645" y="2480"/>
              <a:ext cx="1" cy="107"/>
            </a:xfrm>
            <a:prstGeom prst="line">
              <a:avLst/>
            </a:prstGeom>
            <a:ln w="25400" cap="flat" cmpd="sng">
              <a:solidFill>
                <a:srgbClr val="FF00FF"/>
              </a:solidFill>
              <a:prstDash val="solid"/>
              <a:headEnd type="none" w="med" len="med"/>
              <a:tailEnd type="none" w="med" len="med"/>
            </a:ln>
          </p:spPr>
        </p:sp>
        <p:sp>
          <p:nvSpPr>
            <p:cNvPr id="48179" name="Line 154"/>
            <p:cNvSpPr/>
            <p:nvPr/>
          </p:nvSpPr>
          <p:spPr>
            <a:xfrm>
              <a:off x="3647" y="2478"/>
              <a:ext cx="45" cy="1"/>
            </a:xfrm>
            <a:prstGeom prst="line">
              <a:avLst/>
            </a:prstGeom>
            <a:ln w="25400" cap="flat" cmpd="sng">
              <a:solidFill>
                <a:srgbClr val="FF00FF"/>
              </a:solidFill>
              <a:prstDash val="solid"/>
              <a:headEnd type="none" w="med" len="med"/>
              <a:tailEnd type="none" w="med" len="med"/>
            </a:ln>
          </p:spPr>
        </p:sp>
        <p:sp>
          <p:nvSpPr>
            <p:cNvPr id="48180" name="Line 155"/>
            <p:cNvSpPr/>
            <p:nvPr/>
          </p:nvSpPr>
          <p:spPr>
            <a:xfrm flipV="1">
              <a:off x="3690" y="2363"/>
              <a:ext cx="1" cy="115"/>
            </a:xfrm>
            <a:prstGeom prst="line">
              <a:avLst/>
            </a:prstGeom>
            <a:ln w="25400" cap="flat" cmpd="sng">
              <a:solidFill>
                <a:srgbClr val="FF00FF"/>
              </a:solidFill>
              <a:prstDash val="solid"/>
              <a:headEnd type="none" w="med" len="med"/>
              <a:tailEnd type="none" w="med" len="med"/>
            </a:ln>
          </p:spPr>
        </p:sp>
        <p:sp>
          <p:nvSpPr>
            <p:cNvPr id="48181" name="Line 156"/>
            <p:cNvSpPr/>
            <p:nvPr/>
          </p:nvSpPr>
          <p:spPr>
            <a:xfrm>
              <a:off x="3690" y="2363"/>
              <a:ext cx="48" cy="2"/>
            </a:xfrm>
            <a:prstGeom prst="line">
              <a:avLst/>
            </a:prstGeom>
            <a:ln w="25400" cap="flat" cmpd="sng">
              <a:solidFill>
                <a:srgbClr val="FF00FF"/>
              </a:solidFill>
              <a:prstDash val="solid"/>
              <a:headEnd type="none" w="med" len="med"/>
              <a:tailEnd type="none" w="med" len="med"/>
            </a:ln>
          </p:spPr>
        </p:sp>
        <p:sp>
          <p:nvSpPr>
            <p:cNvPr id="48182" name="Line 157"/>
            <p:cNvSpPr/>
            <p:nvPr/>
          </p:nvSpPr>
          <p:spPr>
            <a:xfrm flipV="1">
              <a:off x="3736" y="2262"/>
              <a:ext cx="1" cy="103"/>
            </a:xfrm>
            <a:prstGeom prst="line">
              <a:avLst/>
            </a:prstGeom>
            <a:ln w="25400" cap="flat" cmpd="sng">
              <a:solidFill>
                <a:srgbClr val="FF00FF"/>
              </a:solidFill>
              <a:prstDash val="solid"/>
              <a:headEnd type="none" w="med" len="med"/>
              <a:tailEnd type="none" w="med" len="med"/>
            </a:ln>
          </p:spPr>
        </p:sp>
        <p:sp>
          <p:nvSpPr>
            <p:cNvPr id="48183" name="Line 158"/>
            <p:cNvSpPr/>
            <p:nvPr/>
          </p:nvSpPr>
          <p:spPr>
            <a:xfrm>
              <a:off x="3736" y="2262"/>
              <a:ext cx="49" cy="1"/>
            </a:xfrm>
            <a:prstGeom prst="line">
              <a:avLst/>
            </a:prstGeom>
            <a:ln w="25400" cap="flat" cmpd="sng">
              <a:solidFill>
                <a:srgbClr val="FF00FF"/>
              </a:solidFill>
              <a:prstDash val="solid"/>
              <a:headEnd type="none" w="med" len="med"/>
              <a:tailEnd type="none" w="med" len="med"/>
            </a:ln>
          </p:spPr>
        </p:sp>
        <p:sp>
          <p:nvSpPr>
            <p:cNvPr id="48184" name="Line 159"/>
            <p:cNvSpPr/>
            <p:nvPr/>
          </p:nvSpPr>
          <p:spPr>
            <a:xfrm flipV="1">
              <a:off x="3781" y="2158"/>
              <a:ext cx="1" cy="104"/>
            </a:xfrm>
            <a:prstGeom prst="line">
              <a:avLst/>
            </a:prstGeom>
            <a:ln w="25400" cap="flat" cmpd="sng">
              <a:solidFill>
                <a:srgbClr val="FF00FF"/>
              </a:solidFill>
              <a:prstDash val="solid"/>
              <a:headEnd type="none" w="med" len="med"/>
              <a:tailEnd type="none" w="med" len="med"/>
            </a:ln>
          </p:spPr>
        </p:sp>
        <p:sp>
          <p:nvSpPr>
            <p:cNvPr id="48185" name="Line 160"/>
            <p:cNvSpPr/>
            <p:nvPr/>
          </p:nvSpPr>
          <p:spPr>
            <a:xfrm>
              <a:off x="3781" y="2158"/>
              <a:ext cx="60" cy="2"/>
            </a:xfrm>
            <a:prstGeom prst="line">
              <a:avLst/>
            </a:prstGeom>
            <a:ln w="25400" cap="flat" cmpd="sng">
              <a:solidFill>
                <a:srgbClr val="FF00FF"/>
              </a:solidFill>
              <a:prstDash val="solid"/>
              <a:headEnd type="none" w="med" len="med"/>
              <a:tailEnd type="none" w="med" len="med"/>
            </a:ln>
          </p:spPr>
        </p:sp>
        <p:sp>
          <p:nvSpPr>
            <p:cNvPr id="48186" name="Line 161"/>
            <p:cNvSpPr/>
            <p:nvPr/>
          </p:nvSpPr>
          <p:spPr>
            <a:xfrm>
              <a:off x="3839" y="2044"/>
              <a:ext cx="142" cy="1"/>
            </a:xfrm>
            <a:prstGeom prst="line">
              <a:avLst/>
            </a:prstGeom>
            <a:ln w="25400" cap="flat" cmpd="sng">
              <a:solidFill>
                <a:srgbClr val="FF00FF"/>
              </a:solidFill>
              <a:prstDash val="solid"/>
              <a:headEnd type="none" w="med" len="med"/>
              <a:tailEnd type="none" w="med" len="med"/>
            </a:ln>
          </p:spPr>
        </p:sp>
        <p:sp>
          <p:nvSpPr>
            <p:cNvPr id="48187" name="Line 162"/>
            <p:cNvSpPr/>
            <p:nvPr/>
          </p:nvSpPr>
          <p:spPr>
            <a:xfrm>
              <a:off x="3981" y="2147"/>
              <a:ext cx="132" cy="1"/>
            </a:xfrm>
            <a:prstGeom prst="line">
              <a:avLst/>
            </a:prstGeom>
            <a:ln w="25400" cap="flat" cmpd="sng">
              <a:solidFill>
                <a:srgbClr val="FF00FF"/>
              </a:solidFill>
              <a:prstDash val="solid"/>
              <a:headEnd type="none" w="med" len="med"/>
              <a:tailEnd type="none" w="med" len="med"/>
            </a:ln>
          </p:spPr>
        </p:sp>
        <p:sp>
          <p:nvSpPr>
            <p:cNvPr id="48188" name="Line 163"/>
            <p:cNvSpPr/>
            <p:nvPr/>
          </p:nvSpPr>
          <p:spPr>
            <a:xfrm flipH="1">
              <a:off x="4111" y="2147"/>
              <a:ext cx="2" cy="115"/>
            </a:xfrm>
            <a:prstGeom prst="line">
              <a:avLst/>
            </a:prstGeom>
            <a:ln w="25400" cap="flat" cmpd="sng">
              <a:solidFill>
                <a:srgbClr val="FF00FF"/>
              </a:solidFill>
              <a:prstDash val="solid"/>
              <a:headEnd type="none" w="med" len="med"/>
              <a:tailEnd type="none" w="med" len="med"/>
            </a:ln>
          </p:spPr>
        </p:sp>
        <p:sp>
          <p:nvSpPr>
            <p:cNvPr id="48189" name="Line 164"/>
            <p:cNvSpPr/>
            <p:nvPr/>
          </p:nvSpPr>
          <p:spPr>
            <a:xfrm>
              <a:off x="4111" y="2262"/>
              <a:ext cx="116" cy="1"/>
            </a:xfrm>
            <a:prstGeom prst="line">
              <a:avLst/>
            </a:prstGeom>
            <a:ln w="25400" cap="flat" cmpd="sng">
              <a:solidFill>
                <a:srgbClr val="FF00FF"/>
              </a:solidFill>
              <a:prstDash val="solid"/>
              <a:headEnd type="none" w="med" len="med"/>
              <a:tailEnd type="none" w="med" len="med"/>
            </a:ln>
          </p:spPr>
        </p:sp>
        <p:sp>
          <p:nvSpPr>
            <p:cNvPr id="48190" name="Line 165"/>
            <p:cNvSpPr/>
            <p:nvPr/>
          </p:nvSpPr>
          <p:spPr>
            <a:xfrm>
              <a:off x="4227" y="2262"/>
              <a:ext cx="1" cy="103"/>
            </a:xfrm>
            <a:prstGeom prst="line">
              <a:avLst/>
            </a:prstGeom>
            <a:ln w="25400" cap="flat" cmpd="sng">
              <a:solidFill>
                <a:srgbClr val="FF00FF"/>
              </a:solidFill>
              <a:prstDash val="solid"/>
              <a:headEnd type="none" w="med" len="med"/>
              <a:tailEnd type="none" w="med" len="med"/>
            </a:ln>
          </p:spPr>
        </p:sp>
        <p:sp>
          <p:nvSpPr>
            <p:cNvPr id="48191" name="Line 166"/>
            <p:cNvSpPr/>
            <p:nvPr/>
          </p:nvSpPr>
          <p:spPr>
            <a:xfrm>
              <a:off x="4227" y="2365"/>
              <a:ext cx="158" cy="1"/>
            </a:xfrm>
            <a:prstGeom prst="line">
              <a:avLst/>
            </a:prstGeom>
            <a:ln w="25400" cap="flat" cmpd="sng">
              <a:solidFill>
                <a:srgbClr val="FF00FF"/>
              </a:solidFill>
              <a:prstDash val="solid"/>
              <a:headEnd type="none" w="med" len="med"/>
              <a:tailEnd type="none" w="med" len="med"/>
            </a:ln>
          </p:spPr>
        </p:sp>
        <p:sp>
          <p:nvSpPr>
            <p:cNvPr id="48192" name="Line 167"/>
            <p:cNvSpPr/>
            <p:nvPr/>
          </p:nvSpPr>
          <p:spPr>
            <a:xfrm>
              <a:off x="4383" y="2365"/>
              <a:ext cx="1" cy="115"/>
            </a:xfrm>
            <a:prstGeom prst="line">
              <a:avLst/>
            </a:prstGeom>
            <a:ln w="25400" cap="flat" cmpd="sng">
              <a:solidFill>
                <a:srgbClr val="FF00FF"/>
              </a:solidFill>
              <a:prstDash val="solid"/>
              <a:headEnd type="none" w="med" len="med"/>
              <a:tailEnd type="none" w="med" len="med"/>
            </a:ln>
          </p:spPr>
        </p:sp>
        <p:sp>
          <p:nvSpPr>
            <p:cNvPr id="48193" name="Line 168"/>
            <p:cNvSpPr/>
            <p:nvPr/>
          </p:nvSpPr>
          <p:spPr>
            <a:xfrm>
              <a:off x="4383" y="2480"/>
              <a:ext cx="133" cy="1"/>
            </a:xfrm>
            <a:prstGeom prst="line">
              <a:avLst/>
            </a:prstGeom>
            <a:ln w="25400" cap="flat" cmpd="sng">
              <a:solidFill>
                <a:srgbClr val="FF00FF"/>
              </a:solidFill>
              <a:prstDash val="solid"/>
              <a:headEnd type="none" w="med" len="med"/>
              <a:tailEnd type="none" w="med" len="med"/>
            </a:ln>
          </p:spPr>
        </p:sp>
        <p:sp>
          <p:nvSpPr>
            <p:cNvPr id="48194" name="Line 169"/>
            <p:cNvSpPr/>
            <p:nvPr/>
          </p:nvSpPr>
          <p:spPr>
            <a:xfrm>
              <a:off x="4512" y="2480"/>
              <a:ext cx="1" cy="103"/>
            </a:xfrm>
            <a:prstGeom prst="line">
              <a:avLst/>
            </a:prstGeom>
            <a:ln w="25400" cap="flat" cmpd="sng">
              <a:solidFill>
                <a:srgbClr val="FF00FF"/>
              </a:solidFill>
              <a:prstDash val="solid"/>
              <a:headEnd type="none" w="med" len="med"/>
              <a:tailEnd type="none" w="med" len="med"/>
            </a:ln>
          </p:spPr>
        </p:sp>
        <p:sp>
          <p:nvSpPr>
            <p:cNvPr id="48195" name="Line 170"/>
            <p:cNvSpPr/>
            <p:nvPr/>
          </p:nvSpPr>
          <p:spPr>
            <a:xfrm>
              <a:off x="4512" y="2583"/>
              <a:ext cx="168" cy="1"/>
            </a:xfrm>
            <a:prstGeom prst="line">
              <a:avLst/>
            </a:prstGeom>
            <a:ln w="25400" cap="flat" cmpd="sng">
              <a:solidFill>
                <a:srgbClr val="FF00FF"/>
              </a:solidFill>
              <a:prstDash val="solid"/>
              <a:headEnd type="none" w="med" len="med"/>
              <a:tailEnd type="none" w="med" len="med"/>
            </a:ln>
          </p:spPr>
        </p:sp>
        <p:sp>
          <p:nvSpPr>
            <p:cNvPr id="48196" name="Line 171"/>
            <p:cNvSpPr/>
            <p:nvPr/>
          </p:nvSpPr>
          <p:spPr>
            <a:xfrm>
              <a:off x="4680" y="2583"/>
              <a:ext cx="1" cy="103"/>
            </a:xfrm>
            <a:prstGeom prst="line">
              <a:avLst/>
            </a:prstGeom>
            <a:ln w="25400" cap="flat" cmpd="sng">
              <a:solidFill>
                <a:srgbClr val="FF00FF"/>
              </a:solidFill>
              <a:prstDash val="solid"/>
              <a:headEnd type="none" w="med" len="med"/>
              <a:tailEnd type="none" w="med" len="med"/>
            </a:ln>
          </p:spPr>
        </p:sp>
        <p:sp>
          <p:nvSpPr>
            <p:cNvPr id="48197" name="Line 172"/>
            <p:cNvSpPr/>
            <p:nvPr/>
          </p:nvSpPr>
          <p:spPr>
            <a:xfrm>
              <a:off x="4874" y="2686"/>
              <a:ext cx="2" cy="115"/>
            </a:xfrm>
            <a:prstGeom prst="line">
              <a:avLst/>
            </a:prstGeom>
            <a:ln w="25400" cap="flat" cmpd="sng">
              <a:solidFill>
                <a:srgbClr val="FF00FF"/>
              </a:solidFill>
              <a:prstDash val="solid"/>
              <a:headEnd type="none" w="med" len="med"/>
              <a:tailEnd type="none" w="med" len="med"/>
            </a:ln>
          </p:spPr>
        </p:sp>
        <p:sp>
          <p:nvSpPr>
            <p:cNvPr id="48198" name="Line 173"/>
            <p:cNvSpPr/>
            <p:nvPr/>
          </p:nvSpPr>
          <p:spPr>
            <a:xfrm>
              <a:off x="4874" y="2801"/>
              <a:ext cx="156" cy="1"/>
            </a:xfrm>
            <a:prstGeom prst="line">
              <a:avLst/>
            </a:prstGeom>
            <a:ln w="25400" cap="flat" cmpd="sng">
              <a:solidFill>
                <a:srgbClr val="FF00FF"/>
              </a:solidFill>
              <a:prstDash val="solid"/>
              <a:headEnd type="none" w="med" len="med"/>
              <a:tailEnd type="none" w="med" len="med"/>
            </a:ln>
          </p:spPr>
        </p:sp>
        <p:sp>
          <p:nvSpPr>
            <p:cNvPr id="48199" name="Line 174"/>
            <p:cNvSpPr/>
            <p:nvPr/>
          </p:nvSpPr>
          <p:spPr>
            <a:xfrm>
              <a:off x="5030" y="2801"/>
              <a:ext cx="1" cy="128"/>
            </a:xfrm>
            <a:prstGeom prst="line">
              <a:avLst/>
            </a:prstGeom>
            <a:ln w="25400" cap="flat" cmpd="sng">
              <a:solidFill>
                <a:srgbClr val="FF00FF"/>
              </a:solidFill>
              <a:prstDash val="solid"/>
              <a:headEnd type="none" w="med" len="med"/>
              <a:tailEnd type="none" w="med" len="med"/>
            </a:ln>
          </p:spPr>
        </p:sp>
        <p:sp>
          <p:nvSpPr>
            <p:cNvPr id="48200" name="Line 175"/>
            <p:cNvSpPr/>
            <p:nvPr/>
          </p:nvSpPr>
          <p:spPr>
            <a:xfrm flipV="1">
              <a:off x="3541" y="2863"/>
              <a:ext cx="1657" cy="2"/>
            </a:xfrm>
            <a:prstGeom prst="line">
              <a:avLst/>
            </a:prstGeom>
            <a:ln w="0" cap="flat" cmpd="sng">
              <a:solidFill>
                <a:srgbClr val="000000"/>
              </a:solidFill>
              <a:prstDash val="sysDot"/>
              <a:headEnd type="none" w="med" len="med"/>
              <a:tailEnd type="none" w="med" len="med"/>
            </a:ln>
          </p:spPr>
        </p:sp>
        <p:sp>
          <p:nvSpPr>
            <p:cNvPr id="48201" name="Line 176"/>
            <p:cNvSpPr/>
            <p:nvPr/>
          </p:nvSpPr>
          <p:spPr>
            <a:xfrm>
              <a:off x="3580" y="3370"/>
              <a:ext cx="1" cy="120"/>
            </a:xfrm>
            <a:prstGeom prst="line">
              <a:avLst/>
            </a:prstGeom>
            <a:ln w="25400" cap="flat" cmpd="sng">
              <a:solidFill>
                <a:srgbClr val="FF00FF"/>
              </a:solidFill>
              <a:prstDash val="solid"/>
              <a:headEnd type="none" w="med" len="med"/>
              <a:tailEnd type="none" w="med" len="med"/>
            </a:ln>
          </p:spPr>
        </p:sp>
        <p:sp>
          <p:nvSpPr>
            <p:cNvPr id="48202" name="Line 177"/>
            <p:cNvSpPr/>
            <p:nvPr/>
          </p:nvSpPr>
          <p:spPr>
            <a:xfrm flipH="1">
              <a:off x="3528" y="3370"/>
              <a:ext cx="52" cy="52"/>
            </a:xfrm>
            <a:prstGeom prst="line">
              <a:avLst/>
            </a:prstGeom>
            <a:ln w="25400" cap="flat" cmpd="sng">
              <a:solidFill>
                <a:srgbClr val="FF00FF"/>
              </a:solidFill>
              <a:prstDash val="solid"/>
              <a:headEnd type="none" w="med" len="med"/>
              <a:tailEnd type="none" w="med" len="med"/>
            </a:ln>
          </p:spPr>
        </p:sp>
        <p:sp>
          <p:nvSpPr>
            <p:cNvPr id="48203" name="Line 178"/>
            <p:cNvSpPr/>
            <p:nvPr/>
          </p:nvSpPr>
          <p:spPr>
            <a:xfrm>
              <a:off x="3658" y="3370"/>
              <a:ext cx="1" cy="116"/>
            </a:xfrm>
            <a:prstGeom prst="line">
              <a:avLst/>
            </a:prstGeom>
            <a:ln w="25400" cap="flat" cmpd="sng">
              <a:solidFill>
                <a:srgbClr val="FF00FF"/>
              </a:solidFill>
              <a:prstDash val="solid"/>
              <a:headEnd type="none" w="med" len="med"/>
              <a:tailEnd type="none" w="med" len="med"/>
            </a:ln>
          </p:spPr>
        </p:sp>
        <p:sp>
          <p:nvSpPr>
            <p:cNvPr id="48204" name="Line 179"/>
            <p:cNvSpPr/>
            <p:nvPr/>
          </p:nvSpPr>
          <p:spPr>
            <a:xfrm flipH="1">
              <a:off x="3580" y="3370"/>
              <a:ext cx="78" cy="116"/>
            </a:xfrm>
            <a:prstGeom prst="line">
              <a:avLst/>
            </a:prstGeom>
            <a:ln w="25400" cap="flat" cmpd="sng">
              <a:solidFill>
                <a:srgbClr val="FF00FF"/>
              </a:solidFill>
              <a:prstDash val="solid"/>
              <a:headEnd type="none" w="med" len="med"/>
              <a:tailEnd type="none" w="med" len="med"/>
            </a:ln>
          </p:spPr>
        </p:sp>
        <p:sp>
          <p:nvSpPr>
            <p:cNvPr id="48205" name="Line 180"/>
            <p:cNvSpPr/>
            <p:nvPr/>
          </p:nvSpPr>
          <p:spPr>
            <a:xfrm>
              <a:off x="3697" y="3370"/>
              <a:ext cx="1" cy="120"/>
            </a:xfrm>
            <a:prstGeom prst="line">
              <a:avLst/>
            </a:prstGeom>
            <a:ln w="25400" cap="flat" cmpd="sng">
              <a:solidFill>
                <a:srgbClr val="FF00FF"/>
              </a:solidFill>
              <a:prstDash val="solid"/>
              <a:headEnd type="none" w="med" len="med"/>
              <a:tailEnd type="none" w="med" len="med"/>
            </a:ln>
          </p:spPr>
        </p:sp>
        <p:sp>
          <p:nvSpPr>
            <p:cNvPr id="48206" name="Line 181"/>
            <p:cNvSpPr/>
            <p:nvPr/>
          </p:nvSpPr>
          <p:spPr>
            <a:xfrm flipH="1">
              <a:off x="3658" y="3370"/>
              <a:ext cx="39" cy="116"/>
            </a:xfrm>
            <a:prstGeom prst="line">
              <a:avLst/>
            </a:prstGeom>
            <a:ln w="25400" cap="flat" cmpd="sng">
              <a:solidFill>
                <a:srgbClr val="FF00FF"/>
              </a:solidFill>
              <a:prstDash val="solid"/>
              <a:headEnd type="none" w="med" len="med"/>
              <a:tailEnd type="none" w="med" len="med"/>
            </a:ln>
          </p:spPr>
        </p:sp>
        <p:sp>
          <p:nvSpPr>
            <p:cNvPr id="48207" name="Line 182"/>
            <p:cNvSpPr/>
            <p:nvPr/>
          </p:nvSpPr>
          <p:spPr>
            <a:xfrm>
              <a:off x="3736" y="3370"/>
              <a:ext cx="1" cy="116"/>
            </a:xfrm>
            <a:prstGeom prst="line">
              <a:avLst/>
            </a:prstGeom>
            <a:ln w="25400" cap="flat" cmpd="sng">
              <a:solidFill>
                <a:srgbClr val="FF00FF"/>
              </a:solidFill>
              <a:prstDash val="solid"/>
              <a:headEnd type="none" w="med" len="med"/>
              <a:tailEnd type="none" w="med" len="med"/>
            </a:ln>
          </p:spPr>
        </p:sp>
        <p:sp>
          <p:nvSpPr>
            <p:cNvPr id="48208" name="Line 183"/>
            <p:cNvSpPr/>
            <p:nvPr/>
          </p:nvSpPr>
          <p:spPr>
            <a:xfrm flipH="1">
              <a:off x="3697" y="3370"/>
              <a:ext cx="39" cy="114"/>
            </a:xfrm>
            <a:prstGeom prst="line">
              <a:avLst/>
            </a:prstGeom>
            <a:ln w="25400" cap="flat" cmpd="sng">
              <a:solidFill>
                <a:srgbClr val="FF00FF"/>
              </a:solidFill>
              <a:prstDash val="solid"/>
              <a:headEnd type="none" w="med" len="med"/>
              <a:tailEnd type="none" w="med" len="med"/>
            </a:ln>
          </p:spPr>
        </p:sp>
        <p:sp>
          <p:nvSpPr>
            <p:cNvPr id="48209" name="Line 184"/>
            <p:cNvSpPr/>
            <p:nvPr/>
          </p:nvSpPr>
          <p:spPr>
            <a:xfrm>
              <a:off x="3787" y="3370"/>
              <a:ext cx="1" cy="116"/>
            </a:xfrm>
            <a:prstGeom prst="line">
              <a:avLst/>
            </a:prstGeom>
            <a:ln w="25400" cap="flat" cmpd="sng">
              <a:solidFill>
                <a:srgbClr val="FF00FF"/>
              </a:solidFill>
              <a:prstDash val="solid"/>
              <a:headEnd type="none" w="med" len="med"/>
              <a:tailEnd type="none" w="med" len="med"/>
            </a:ln>
          </p:spPr>
        </p:sp>
        <p:sp>
          <p:nvSpPr>
            <p:cNvPr id="48210" name="Line 185"/>
            <p:cNvSpPr/>
            <p:nvPr/>
          </p:nvSpPr>
          <p:spPr>
            <a:xfrm flipH="1">
              <a:off x="3736" y="3370"/>
              <a:ext cx="51" cy="116"/>
            </a:xfrm>
            <a:prstGeom prst="line">
              <a:avLst/>
            </a:prstGeom>
            <a:ln w="25400" cap="flat" cmpd="sng">
              <a:solidFill>
                <a:srgbClr val="FF00FF"/>
              </a:solidFill>
              <a:prstDash val="solid"/>
              <a:headEnd type="none" w="med" len="med"/>
              <a:tailEnd type="none" w="med" len="med"/>
            </a:ln>
          </p:spPr>
        </p:sp>
        <p:sp>
          <p:nvSpPr>
            <p:cNvPr id="48211" name="Line 186"/>
            <p:cNvSpPr/>
            <p:nvPr/>
          </p:nvSpPr>
          <p:spPr>
            <a:xfrm>
              <a:off x="3839" y="3370"/>
              <a:ext cx="1" cy="116"/>
            </a:xfrm>
            <a:prstGeom prst="line">
              <a:avLst/>
            </a:prstGeom>
            <a:ln w="25400" cap="flat" cmpd="sng">
              <a:solidFill>
                <a:srgbClr val="FF00FF"/>
              </a:solidFill>
              <a:prstDash val="solid"/>
              <a:headEnd type="none" w="med" len="med"/>
              <a:tailEnd type="none" w="med" len="med"/>
            </a:ln>
          </p:spPr>
        </p:sp>
        <p:sp>
          <p:nvSpPr>
            <p:cNvPr id="48212" name="Line 187"/>
            <p:cNvSpPr/>
            <p:nvPr/>
          </p:nvSpPr>
          <p:spPr>
            <a:xfrm flipH="1">
              <a:off x="3787" y="3370"/>
              <a:ext cx="52" cy="116"/>
            </a:xfrm>
            <a:prstGeom prst="line">
              <a:avLst/>
            </a:prstGeom>
            <a:ln w="25400" cap="flat" cmpd="sng">
              <a:solidFill>
                <a:srgbClr val="FF00FF"/>
              </a:solidFill>
              <a:prstDash val="solid"/>
              <a:headEnd type="none" w="med" len="med"/>
              <a:tailEnd type="none" w="med" len="med"/>
            </a:ln>
          </p:spPr>
        </p:sp>
        <p:sp>
          <p:nvSpPr>
            <p:cNvPr id="48213" name="Line 188"/>
            <p:cNvSpPr/>
            <p:nvPr/>
          </p:nvSpPr>
          <p:spPr>
            <a:xfrm>
              <a:off x="3994" y="3370"/>
              <a:ext cx="1" cy="116"/>
            </a:xfrm>
            <a:prstGeom prst="line">
              <a:avLst/>
            </a:prstGeom>
            <a:ln w="25400" cap="flat" cmpd="sng">
              <a:solidFill>
                <a:srgbClr val="FF00FF"/>
              </a:solidFill>
              <a:prstDash val="solid"/>
              <a:headEnd type="none" w="med" len="med"/>
              <a:tailEnd type="none" w="med" len="med"/>
            </a:ln>
          </p:spPr>
        </p:sp>
        <p:sp>
          <p:nvSpPr>
            <p:cNvPr id="48214" name="Line 189"/>
            <p:cNvSpPr/>
            <p:nvPr/>
          </p:nvSpPr>
          <p:spPr>
            <a:xfrm>
              <a:off x="4111" y="3370"/>
              <a:ext cx="1" cy="114"/>
            </a:xfrm>
            <a:prstGeom prst="line">
              <a:avLst/>
            </a:prstGeom>
            <a:ln w="25400" cap="flat" cmpd="sng">
              <a:solidFill>
                <a:srgbClr val="FF00FF"/>
              </a:solidFill>
              <a:prstDash val="solid"/>
              <a:headEnd type="none" w="med" len="med"/>
              <a:tailEnd type="none" w="med" len="med"/>
            </a:ln>
          </p:spPr>
        </p:sp>
        <p:sp>
          <p:nvSpPr>
            <p:cNvPr id="48215" name="Line 190"/>
            <p:cNvSpPr/>
            <p:nvPr/>
          </p:nvSpPr>
          <p:spPr>
            <a:xfrm>
              <a:off x="3994" y="3368"/>
              <a:ext cx="119" cy="118"/>
            </a:xfrm>
            <a:prstGeom prst="line">
              <a:avLst/>
            </a:prstGeom>
            <a:ln w="25400" cap="flat" cmpd="sng">
              <a:solidFill>
                <a:srgbClr val="FF00FF"/>
              </a:solidFill>
              <a:prstDash val="solid"/>
              <a:headEnd type="none" w="med" len="med"/>
              <a:tailEnd type="none" w="med" len="med"/>
            </a:ln>
          </p:spPr>
        </p:sp>
        <p:sp>
          <p:nvSpPr>
            <p:cNvPr id="48216" name="Line 191"/>
            <p:cNvSpPr/>
            <p:nvPr/>
          </p:nvSpPr>
          <p:spPr>
            <a:xfrm>
              <a:off x="4214" y="3370"/>
              <a:ext cx="1" cy="120"/>
            </a:xfrm>
            <a:prstGeom prst="line">
              <a:avLst/>
            </a:prstGeom>
            <a:ln w="25400" cap="flat" cmpd="sng">
              <a:solidFill>
                <a:srgbClr val="FF00FF"/>
              </a:solidFill>
              <a:prstDash val="solid"/>
              <a:headEnd type="none" w="med" len="med"/>
              <a:tailEnd type="none" w="med" len="med"/>
            </a:ln>
          </p:spPr>
        </p:sp>
        <p:sp>
          <p:nvSpPr>
            <p:cNvPr id="48217" name="Line 192"/>
            <p:cNvSpPr/>
            <p:nvPr/>
          </p:nvSpPr>
          <p:spPr>
            <a:xfrm>
              <a:off x="4111" y="3370"/>
              <a:ext cx="103" cy="114"/>
            </a:xfrm>
            <a:prstGeom prst="line">
              <a:avLst/>
            </a:prstGeom>
            <a:ln w="25400" cap="flat" cmpd="sng">
              <a:solidFill>
                <a:srgbClr val="FF00FF"/>
              </a:solidFill>
              <a:prstDash val="solid"/>
              <a:headEnd type="none" w="med" len="med"/>
              <a:tailEnd type="none" w="med" len="med"/>
            </a:ln>
          </p:spPr>
        </p:sp>
        <p:sp>
          <p:nvSpPr>
            <p:cNvPr id="48218" name="Line 193"/>
            <p:cNvSpPr/>
            <p:nvPr/>
          </p:nvSpPr>
          <p:spPr>
            <a:xfrm>
              <a:off x="4383" y="3370"/>
              <a:ext cx="1" cy="120"/>
            </a:xfrm>
            <a:prstGeom prst="line">
              <a:avLst/>
            </a:prstGeom>
            <a:ln w="25400" cap="flat" cmpd="sng">
              <a:solidFill>
                <a:srgbClr val="FF00FF"/>
              </a:solidFill>
              <a:prstDash val="solid"/>
              <a:headEnd type="none" w="med" len="med"/>
              <a:tailEnd type="none" w="med" len="med"/>
            </a:ln>
          </p:spPr>
        </p:sp>
        <p:sp>
          <p:nvSpPr>
            <p:cNvPr id="48219" name="Line 194"/>
            <p:cNvSpPr/>
            <p:nvPr/>
          </p:nvSpPr>
          <p:spPr>
            <a:xfrm>
              <a:off x="4214" y="3370"/>
              <a:ext cx="173" cy="118"/>
            </a:xfrm>
            <a:prstGeom prst="line">
              <a:avLst/>
            </a:prstGeom>
            <a:ln w="25400" cap="flat" cmpd="sng">
              <a:solidFill>
                <a:srgbClr val="FF00FF"/>
              </a:solidFill>
              <a:prstDash val="solid"/>
              <a:headEnd type="none" w="med" len="med"/>
              <a:tailEnd type="none" w="med" len="med"/>
            </a:ln>
          </p:spPr>
        </p:sp>
        <p:sp>
          <p:nvSpPr>
            <p:cNvPr id="48220" name="Line 195"/>
            <p:cNvSpPr/>
            <p:nvPr/>
          </p:nvSpPr>
          <p:spPr>
            <a:xfrm>
              <a:off x="4512" y="3370"/>
              <a:ext cx="1" cy="120"/>
            </a:xfrm>
            <a:prstGeom prst="line">
              <a:avLst/>
            </a:prstGeom>
            <a:ln w="25400" cap="flat" cmpd="sng">
              <a:solidFill>
                <a:srgbClr val="FF00FF"/>
              </a:solidFill>
              <a:prstDash val="solid"/>
              <a:headEnd type="none" w="med" len="med"/>
              <a:tailEnd type="none" w="med" len="med"/>
            </a:ln>
          </p:spPr>
        </p:sp>
        <p:sp>
          <p:nvSpPr>
            <p:cNvPr id="48221" name="Line 196"/>
            <p:cNvSpPr/>
            <p:nvPr/>
          </p:nvSpPr>
          <p:spPr>
            <a:xfrm>
              <a:off x="4383" y="3370"/>
              <a:ext cx="129" cy="116"/>
            </a:xfrm>
            <a:prstGeom prst="line">
              <a:avLst/>
            </a:prstGeom>
            <a:ln w="25400" cap="flat" cmpd="sng">
              <a:solidFill>
                <a:srgbClr val="FF00FF"/>
              </a:solidFill>
              <a:prstDash val="solid"/>
              <a:headEnd type="none" w="med" len="med"/>
              <a:tailEnd type="none" w="med" len="med"/>
            </a:ln>
          </p:spPr>
        </p:sp>
        <p:sp>
          <p:nvSpPr>
            <p:cNvPr id="48222" name="Line 197"/>
            <p:cNvSpPr/>
            <p:nvPr/>
          </p:nvSpPr>
          <p:spPr>
            <a:xfrm>
              <a:off x="4680" y="3370"/>
              <a:ext cx="2" cy="116"/>
            </a:xfrm>
            <a:prstGeom prst="line">
              <a:avLst/>
            </a:prstGeom>
            <a:ln w="25400" cap="flat" cmpd="sng">
              <a:solidFill>
                <a:srgbClr val="FF00FF"/>
              </a:solidFill>
              <a:prstDash val="solid"/>
              <a:headEnd type="none" w="med" len="med"/>
              <a:tailEnd type="none" w="med" len="med"/>
            </a:ln>
          </p:spPr>
        </p:sp>
        <p:sp>
          <p:nvSpPr>
            <p:cNvPr id="48223" name="Line 198"/>
            <p:cNvSpPr/>
            <p:nvPr/>
          </p:nvSpPr>
          <p:spPr>
            <a:xfrm>
              <a:off x="4512" y="3370"/>
              <a:ext cx="170" cy="116"/>
            </a:xfrm>
            <a:prstGeom prst="line">
              <a:avLst/>
            </a:prstGeom>
            <a:ln w="25400" cap="flat" cmpd="sng">
              <a:solidFill>
                <a:srgbClr val="FF00FF"/>
              </a:solidFill>
              <a:prstDash val="solid"/>
              <a:headEnd type="none" w="med" len="med"/>
              <a:tailEnd type="none" w="med" len="med"/>
            </a:ln>
          </p:spPr>
        </p:sp>
        <p:sp>
          <p:nvSpPr>
            <p:cNvPr id="48224" name="Line 199"/>
            <p:cNvSpPr/>
            <p:nvPr/>
          </p:nvSpPr>
          <p:spPr>
            <a:xfrm>
              <a:off x="4874" y="3370"/>
              <a:ext cx="2" cy="116"/>
            </a:xfrm>
            <a:prstGeom prst="line">
              <a:avLst/>
            </a:prstGeom>
            <a:ln w="25400" cap="flat" cmpd="sng">
              <a:solidFill>
                <a:srgbClr val="FF00FF"/>
              </a:solidFill>
              <a:prstDash val="solid"/>
              <a:headEnd type="none" w="med" len="med"/>
              <a:tailEnd type="none" w="med" len="med"/>
            </a:ln>
          </p:spPr>
        </p:sp>
        <p:sp>
          <p:nvSpPr>
            <p:cNvPr id="48225" name="Line 200"/>
            <p:cNvSpPr/>
            <p:nvPr/>
          </p:nvSpPr>
          <p:spPr>
            <a:xfrm>
              <a:off x="4680" y="3370"/>
              <a:ext cx="194" cy="116"/>
            </a:xfrm>
            <a:prstGeom prst="line">
              <a:avLst/>
            </a:prstGeom>
            <a:ln w="25400" cap="flat" cmpd="sng">
              <a:solidFill>
                <a:srgbClr val="FF00FF"/>
              </a:solidFill>
              <a:prstDash val="solid"/>
              <a:headEnd type="none" w="med" len="med"/>
              <a:tailEnd type="none" w="med" len="med"/>
            </a:ln>
          </p:spPr>
        </p:sp>
        <p:sp>
          <p:nvSpPr>
            <p:cNvPr id="48226" name="Line 201"/>
            <p:cNvSpPr/>
            <p:nvPr/>
          </p:nvSpPr>
          <p:spPr>
            <a:xfrm>
              <a:off x="5030" y="3370"/>
              <a:ext cx="2" cy="116"/>
            </a:xfrm>
            <a:prstGeom prst="line">
              <a:avLst/>
            </a:prstGeom>
            <a:ln w="25400" cap="flat" cmpd="sng">
              <a:solidFill>
                <a:srgbClr val="FF00FF"/>
              </a:solidFill>
              <a:prstDash val="solid"/>
              <a:headEnd type="none" w="med" len="med"/>
              <a:tailEnd type="none" w="med" len="med"/>
            </a:ln>
          </p:spPr>
        </p:sp>
        <p:sp>
          <p:nvSpPr>
            <p:cNvPr id="48227" name="Line 202"/>
            <p:cNvSpPr/>
            <p:nvPr/>
          </p:nvSpPr>
          <p:spPr>
            <a:xfrm>
              <a:off x="4874" y="3370"/>
              <a:ext cx="160" cy="122"/>
            </a:xfrm>
            <a:prstGeom prst="line">
              <a:avLst/>
            </a:prstGeom>
            <a:ln w="25400" cap="flat" cmpd="sng">
              <a:solidFill>
                <a:srgbClr val="FF00FF"/>
              </a:solidFill>
              <a:prstDash val="solid"/>
              <a:headEnd type="none" w="med" len="med"/>
              <a:tailEnd type="none" w="med" len="med"/>
            </a:ln>
          </p:spPr>
        </p:sp>
        <p:sp>
          <p:nvSpPr>
            <p:cNvPr id="48228" name="Line 203"/>
            <p:cNvSpPr/>
            <p:nvPr/>
          </p:nvSpPr>
          <p:spPr>
            <a:xfrm>
              <a:off x="5030" y="3370"/>
              <a:ext cx="51" cy="39"/>
            </a:xfrm>
            <a:prstGeom prst="line">
              <a:avLst/>
            </a:prstGeom>
            <a:ln w="25400" cap="flat" cmpd="sng">
              <a:solidFill>
                <a:srgbClr val="FF00FF"/>
              </a:solidFill>
              <a:prstDash val="solid"/>
              <a:headEnd type="none" w="med" len="med"/>
              <a:tailEnd type="none" w="med" len="med"/>
            </a:ln>
          </p:spPr>
        </p:sp>
        <p:sp>
          <p:nvSpPr>
            <p:cNvPr id="48229" name="Rectangle 204"/>
            <p:cNvSpPr/>
            <p:nvPr/>
          </p:nvSpPr>
          <p:spPr>
            <a:xfrm>
              <a:off x="5441" y="2566"/>
              <a:ext cx="47"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230" name="Rectangle 205"/>
            <p:cNvSpPr/>
            <p:nvPr/>
          </p:nvSpPr>
          <p:spPr>
            <a:xfrm>
              <a:off x="5441" y="3296"/>
              <a:ext cx="47"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231" name="Line 206"/>
            <p:cNvSpPr/>
            <p:nvPr/>
          </p:nvSpPr>
          <p:spPr>
            <a:xfrm>
              <a:off x="5017" y="2844"/>
              <a:ext cx="103" cy="45"/>
            </a:xfrm>
            <a:prstGeom prst="line">
              <a:avLst/>
            </a:prstGeom>
            <a:ln w="19050" cap="flat" cmpd="sng">
              <a:solidFill>
                <a:srgbClr val="0000FF"/>
              </a:solidFill>
              <a:prstDash val="solid"/>
              <a:headEnd type="none" w="med" len="med"/>
              <a:tailEnd type="none" w="med" len="med"/>
            </a:ln>
          </p:spPr>
        </p:sp>
        <p:sp>
          <p:nvSpPr>
            <p:cNvPr id="48232" name="Line 207"/>
            <p:cNvSpPr/>
            <p:nvPr/>
          </p:nvSpPr>
          <p:spPr>
            <a:xfrm flipV="1">
              <a:off x="3528" y="2587"/>
              <a:ext cx="26" cy="2"/>
            </a:xfrm>
            <a:prstGeom prst="line">
              <a:avLst/>
            </a:prstGeom>
            <a:ln w="0" cap="flat" cmpd="sng">
              <a:solidFill>
                <a:srgbClr val="000000"/>
              </a:solidFill>
              <a:prstDash val="solid"/>
              <a:headEnd type="none" w="med" len="med"/>
              <a:tailEnd type="none" w="med" len="med"/>
            </a:ln>
          </p:spPr>
        </p:sp>
        <p:sp>
          <p:nvSpPr>
            <p:cNvPr id="48233" name="Rectangle 208"/>
            <p:cNvSpPr/>
            <p:nvPr/>
          </p:nvSpPr>
          <p:spPr>
            <a:xfrm>
              <a:off x="4230" y="1638"/>
              <a:ext cx="92" cy="250"/>
            </a:xfrm>
            <a:prstGeom prst="rect">
              <a:avLst/>
            </a:prstGeom>
            <a:noFill/>
            <a:ln w="9525">
              <a:noFill/>
            </a:ln>
          </p:spPr>
          <p:txBody>
            <a:bodyPr wrap="none" lIns="0" tIns="0" rIns="0" bIns="0">
              <a:spAutoFit/>
            </a:bodyPr>
            <a:p>
              <a:pPr algn="ctr" eaLnBrk="1" hangingPunct="1"/>
              <a:r>
                <a:rPr lang="en-US" altLang="zh-CN" sz="26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8234" name="Rectangle 209"/>
            <p:cNvSpPr/>
            <p:nvPr/>
          </p:nvSpPr>
          <p:spPr>
            <a:xfrm>
              <a:off x="4316" y="1702"/>
              <a:ext cx="17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8235" name="Rectangle 210"/>
            <p:cNvSpPr/>
            <p:nvPr/>
          </p:nvSpPr>
          <p:spPr>
            <a:xfrm>
              <a:off x="4380" y="1702"/>
              <a:ext cx="38" cy="163"/>
            </a:xfrm>
            <a:prstGeom prst="rect">
              <a:avLst/>
            </a:prstGeom>
            <a:noFill/>
            <a:ln w="9525">
              <a:noFill/>
            </a:ln>
          </p:spPr>
          <p:txBody>
            <a:bodyPr wrap="none" lIns="0" tIns="0" rIns="0" bIns="0">
              <a:spAutoFit/>
            </a:bodyPr>
            <a:p>
              <a:pPr algn="ctr" eaLnBrk="1" hangingPunct="1"/>
              <a:r>
                <a:rPr lang="en-US" altLang="zh-CN" sz="1700" b="0" i="1">
                  <a:solidFill>
                    <a:srgbClr val="FF0000"/>
                  </a:solidFill>
                  <a:latin typeface="Times New Roman" panose="02020603050405020304" pitchFamily="18" charset="0"/>
                </a:rPr>
                <a:t>t</a:t>
              </a:r>
              <a:endParaRPr lang="en-US" altLang="zh-CN" b="1">
                <a:solidFill>
                  <a:srgbClr val="FF0000"/>
                </a:solidFill>
                <a:latin typeface="楷体_GB2312" pitchFamily="49" charset="-122"/>
              </a:endParaRPr>
            </a:p>
          </p:txBody>
        </p:sp>
        <p:sp>
          <p:nvSpPr>
            <p:cNvPr id="48236" name="Rectangle 211"/>
            <p:cNvSpPr/>
            <p:nvPr/>
          </p:nvSpPr>
          <p:spPr>
            <a:xfrm>
              <a:off x="3072" y="1677"/>
              <a:ext cx="92" cy="250"/>
            </a:xfrm>
            <a:prstGeom prst="rect">
              <a:avLst/>
            </a:prstGeom>
            <a:noFill/>
            <a:ln w="9525">
              <a:noFill/>
            </a:ln>
          </p:spPr>
          <p:txBody>
            <a:bodyPr wrap="none" lIns="0" tIns="0" rIns="0" bIns="0">
              <a:spAutoFit/>
            </a:bodyPr>
            <a:p>
              <a:pPr algn="ctr" eaLnBrk="1" hangingPunct="1"/>
              <a:r>
                <a:rPr lang="en-US" altLang="zh-CN" sz="2600" b="0" i="1">
                  <a:solidFill>
                    <a:srgbClr val="FF0000"/>
                  </a:solidFill>
                  <a:latin typeface="Times New Roman" panose="02020603050405020304" pitchFamily="18" charset="0"/>
                </a:rPr>
                <a:t>x</a:t>
              </a:r>
              <a:endParaRPr lang="en-US" altLang="zh-CN" b="1">
                <a:solidFill>
                  <a:srgbClr val="FF0000"/>
                </a:solidFill>
                <a:latin typeface="楷体_GB2312" pitchFamily="49" charset="-122"/>
              </a:endParaRPr>
            </a:p>
          </p:txBody>
        </p:sp>
        <p:sp>
          <p:nvSpPr>
            <p:cNvPr id="48237" name="Rectangle 212"/>
            <p:cNvSpPr/>
            <p:nvPr/>
          </p:nvSpPr>
          <p:spPr>
            <a:xfrm>
              <a:off x="3143" y="1777"/>
              <a:ext cx="52" cy="125"/>
            </a:xfrm>
            <a:prstGeom prst="rect">
              <a:avLst/>
            </a:prstGeom>
            <a:noFill/>
            <a:ln w="9525">
              <a:noFill/>
            </a:ln>
          </p:spPr>
          <p:txBody>
            <a:bodyPr wrap="none" lIns="0" tIns="0" rIns="0" bIns="0">
              <a:spAutoFit/>
            </a:bodyPr>
            <a:p>
              <a:pPr algn="ctr" eaLnBrk="1" hangingPunct="1"/>
              <a:r>
                <a:rPr lang="en-US" altLang="zh-CN" sz="1300" b="0" i="1">
                  <a:solidFill>
                    <a:srgbClr val="FF0000"/>
                  </a:solidFill>
                  <a:latin typeface="Times New Roman" panose="02020603050405020304" pitchFamily="18" charset="0"/>
                </a:rPr>
                <a:t>q</a:t>
              </a:r>
              <a:endParaRPr lang="en-US" altLang="zh-CN" b="1">
                <a:solidFill>
                  <a:srgbClr val="FF0000"/>
                </a:solidFill>
                <a:latin typeface="楷体_GB2312" pitchFamily="49" charset="-122"/>
              </a:endParaRPr>
            </a:p>
          </p:txBody>
        </p:sp>
        <p:sp>
          <p:nvSpPr>
            <p:cNvPr id="48238" name="Rectangle 213"/>
            <p:cNvSpPr/>
            <p:nvPr/>
          </p:nvSpPr>
          <p:spPr>
            <a:xfrm>
              <a:off x="3202" y="1747"/>
              <a:ext cx="290" cy="144"/>
            </a:xfrm>
            <a:prstGeom prst="rect">
              <a:avLst/>
            </a:prstGeom>
            <a:noFill/>
            <a:ln w="9525">
              <a:noFill/>
            </a:ln>
          </p:spPr>
          <p:txBody>
            <a:bodyPr wrap="none" lIns="0" tIns="0" rIns="0" bIns="0">
              <a:spAutoFit/>
            </a:bodyPr>
            <a:p>
              <a:pPr algn="ctr" eaLnBrk="1" hangingPunct="1"/>
              <a:r>
                <a:rPr lang="en-US" altLang="zh-CN" sz="1500" b="0">
                  <a:solidFill>
                    <a:srgbClr val="FF0000"/>
                  </a:solidFill>
                  <a:latin typeface="Times New Roman" panose="02020603050405020304" pitchFamily="18" charset="0"/>
                </a:rPr>
                <a:t>(       )</a:t>
              </a:r>
              <a:endParaRPr lang="en-US" altLang="zh-CN" b="1">
                <a:solidFill>
                  <a:srgbClr val="FF0000"/>
                </a:solidFill>
                <a:latin typeface="楷体_GB2312" pitchFamily="49" charset="-122"/>
              </a:endParaRPr>
            </a:p>
          </p:txBody>
        </p:sp>
        <p:sp>
          <p:nvSpPr>
            <p:cNvPr id="48239" name="Rectangle 214"/>
            <p:cNvSpPr/>
            <p:nvPr/>
          </p:nvSpPr>
          <p:spPr>
            <a:xfrm>
              <a:off x="3254" y="1739"/>
              <a:ext cx="144" cy="163"/>
            </a:xfrm>
            <a:prstGeom prst="rect">
              <a:avLst/>
            </a:prstGeom>
            <a:noFill/>
            <a:ln w="9525">
              <a:noFill/>
            </a:ln>
          </p:spPr>
          <p:txBody>
            <a:bodyPr wrap="none" lIns="0" tIns="0" rIns="0" bIns="0">
              <a:spAutoFit/>
            </a:bodyPr>
            <a:p>
              <a:pPr algn="ctr" eaLnBrk="1" hangingPunct="1"/>
              <a:r>
                <a:rPr lang="en-US" altLang="zh-CN" sz="1700" b="0" i="1" err="1">
                  <a:solidFill>
                    <a:srgbClr val="FF0000"/>
                  </a:solidFill>
                  <a:latin typeface="Times New Roman" panose="02020603050405020304" pitchFamily="18" charset="0"/>
                </a:rPr>
                <a:t>nT</a:t>
              </a:r>
              <a:endParaRPr lang="en-US" altLang="zh-CN" b="1">
                <a:solidFill>
                  <a:srgbClr val="FF0000"/>
                </a:solidFill>
                <a:latin typeface="楷体_GB2312" pitchFamily="49" charset="-122"/>
              </a:endParaRPr>
            </a:p>
          </p:txBody>
        </p:sp>
        <p:sp>
          <p:nvSpPr>
            <p:cNvPr id="48240" name="Line 215"/>
            <p:cNvSpPr/>
            <p:nvPr/>
          </p:nvSpPr>
          <p:spPr>
            <a:xfrm flipH="1">
              <a:off x="3503" y="3101"/>
              <a:ext cx="25" cy="77"/>
            </a:xfrm>
            <a:prstGeom prst="line">
              <a:avLst/>
            </a:prstGeom>
            <a:ln w="0" cap="flat" cmpd="sng">
              <a:solidFill>
                <a:srgbClr val="000000"/>
              </a:solidFill>
              <a:prstDash val="solid"/>
              <a:headEnd type="none" w="med" len="med"/>
              <a:tailEnd type="none" w="med" len="med"/>
            </a:ln>
          </p:spPr>
        </p:sp>
        <p:sp>
          <p:nvSpPr>
            <p:cNvPr id="48241" name="Line 216"/>
            <p:cNvSpPr/>
            <p:nvPr/>
          </p:nvSpPr>
          <p:spPr>
            <a:xfrm>
              <a:off x="3528" y="3101"/>
              <a:ext cx="26" cy="77"/>
            </a:xfrm>
            <a:prstGeom prst="line">
              <a:avLst/>
            </a:prstGeom>
            <a:ln w="0" cap="flat" cmpd="sng">
              <a:solidFill>
                <a:srgbClr val="000000"/>
              </a:solidFill>
              <a:prstDash val="solid"/>
              <a:headEnd type="none" w="med" len="med"/>
              <a:tailEnd type="none" w="med" len="med"/>
            </a:ln>
          </p:spPr>
        </p:sp>
        <p:sp>
          <p:nvSpPr>
            <p:cNvPr id="48242" name="Line 217"/>
            <p:cNvSpPr/>
            <p:nvPr/>
          </p:nvSpPr>
          <p:spPr>
            <a:xfrm flipH="1" flipV="1">
              <a:off x="5327" y="3396"/>
              <a:ext cx="65" cy="26"/>
            </a:xfrm>
            <a:prstGeom prst="line">
              <a:avLst/>
            </a:prstGeom>
            <a:ln w="0" cap="flat" cmpd="sng">
              <a:solidFill>
                <a:srgbClr val="000000"/>
              </a:solidFill>
              <a:prstDash val="solid"/>
              <a:headEnd type="none" w="med" len="med"/>
              <a:tailEnd type="none" w="med" len="med"/>
            </a:ln>
          </p:spPr>
        </p:sp>
        <p:sp>
          <p:nvSpPr>
            <p:cNvPr id="48243" name="Line 218"/>
            <p:cNvSpPr/>
            <p:nvPr/>
          </p:nvSpPr>
          <p:spPr>
            <a:xfrm flipH="1">
              <a:off x="5327" y="3422"/>
              <a:ext cx="65" cy="25"/>
            </a:xfrm>
            <a:prstGeom prst="line">
              <a:avLst/>
            </a:prstGeom>
            <a:ln w="0" cap="flat" cmpd="sng">
              <a:solidFill>
                <a:srgbClr val="000000"/>
              </a:solidFill>
              <a:prstDash val="solid"/>
              <a:headEnd type="none" w="med" len="med"/>
              <a:tailEnd type="none" w="med" len="med"/>
            </a:ln>
          </p:spPr>
        </p:sp>
        <p:sp>
          <p:nvSpPr>
            <p:cNvPr id="48244" name="Line 219"/>
            <p:cNvSpPr/>
            <p:nvPr/>
          </p:nvSpPr>
          <p:spPr>
            <a:xfrm flipH="1" flipV="1">
              <a:off x="5327" y="2660"/>
              <a:ext cx="65" cy="26"/>
            </a:xfrm>
            <a:prstGeom prst="line">
              <a:avLst/>
            </a:prstGeom>
            <a:ln w="0" cap="flat" cmpd="sng">
              <a:solidFill>
                <a:srgbClr val="000000"/>
              </a:solidFill>
              <a:prstDash val="solid"/>
              <a:headEnd type="none" w="med" len="med"/>
              <a:tailEnd type="none" w="med" len="med"/>
            </a:ln>
          </p:spPr>
        </p:sp>
        <p:sp>
          <p:nvSpPr>
            <p:cNvPr id="48245" name="Line 220"/>
            <p:cNvSpPr/>
            <p:nvPr/>
          </p:nvSpPr>
          <p:spPr>
            <a:xfrm flipH="1">
              <a:off x="5327" y="2686"/>
              <a:ext cx="65" cy="25"/>
            </a:xfrm>
            <a:prstGeom prst="line">
              <a:avLst/>
            </a:prstGeom>
            <a:ln w="0" cap="flat" cmpd="sng">
              <a:solidFill>
                <a:srgbClr val="000000"/>
              </a:solidFill>
              <a:prstDash val="solid"/>
              <a:headEnd type="none" w="med" len="med"/>
              <a:tailEnd type="none" w="med" len="med"/>
            </a:ln>
          </p:spPr>
        </p:sp>
        <p:sp>
          <p:nvSpPr>
            <p:cNvPr id="48246" name="Line 221"/>
            <p:cNvSpPr/>
            <p:nvPr/>
          </p:nvSpPr>
          <p:spPr>
            <a:xfrm flipH="1">
              <a:off x="3503" y="1762"/>
              <a:ext cx="25" cy="77"/>
            </a:xfrm>
            <a:prstGeom prst="line">
              <a:avLst/>
            </a:prstGeom>
            <a:ln w="0" cap="flat" cmpd="sng">
              <a:solidFill>
                <a:srgbClr val="000000"/>
              </a:solidFill>
              <a:prstDash val="solid"/>
              <a:headEnd type="none" w="med" len="med"/>
              <a:tailEnd type="none" w="med" len="med"/>
            </a:ln>
          </p:spPr>
        </p:sp>
        <p:sp>
          <p:nvSpPr>
            <p:cNvPr id="48247" name="Line 222"/>
            <p:cNvSpPr/>
            <p:nvPr/>
          </p:nvSpPr>
          <p:spPr>
            <a:xfrm>
              <a:off x="3528" y="1762"/>
              <a:ext cx="26" cy="77"/>
            </a:xfrm>
            <a:prstGeom prst="line">
              <a:avLst/>
            </a:prstGeom>
            <a:ln w="0" cap="flat" cmpd="sng">
              <a:solidFill>
                <a:srgbClr val="000000"/>
              </a:solidFill>
              <a:prstDash val="solid"/>
              <a:headEnd type="none" w="med" len="med"/>
              <a:tailEnd type="none" w="med" len="med"/>
            </a:ln>
          </p:spPr>
        </p:sp>
        <p:sp>
          <p:nvSpPr>
            <p:cNvPr id="48248" name="Rectangle 223"/>
            <p:cNvSpPr/>
            <p:nvPr/>
          </p:nvSpPr>
          <p:spPr>
            <a:xfrm>
              <a:off x="3377" y="3022"/>
              <a:ext cx="75" cy="202"/>
            </a:xfrm>
            <a:prstGeom prst="rect">
              <a:avLst/>
            </a:prstGeom>
            <a:noFill/>
            <a:ln w="9525">
              <a:noFill/>
            </a:ln>
          </p:spPr>
          <p:txBody>
            <a:bodyPr wrap="none" lIns="0" tIns="0" rIns="0" bIns="0">
              <a:spAutoFit/>
            </a:bodyPr>
            <a:p>
              <a:pPr algn="ctr" eaLnBrk="1" hangingPunct="1"/>
              <a:r>
                <a:rPr lang="en-US" altLang="zh-CN" sz="2100" b="0" i="1">
                  <a:solidFill>
                    <a:srgbClr val="FF0000"/>
                  </a:solidFill>
                  <a:latin typeface="Times New Roman" panose="02020603050405020304" pitchFamily="18" charset="0"/>
                </a:rPr>
                <a:t>e</a:t>
              </a:r>
              <a:endParaRPr lang="en-US" altLang="zh-CN" b="1">
                <a:solidFill>
                  <a:srgbClr val="FF0000"/>
                </a:solidFill>
                <a:latin typeface="楷体_GB2312" pitchFamily="49" charset="-122"/>
              </a:endParaRPr>
            </a:p>
          </p:txBody>
        </p:sp>
        <p:sp>
          <p:nvSpPr>
            <p:cNvPr id="48249" name="Line 224"/>
            <p:cNvSpPr/>
            <p:nvPr/>
          </p:nvSpPr>
          <p:spPr>
            <a:xfrm flipV="1">
              <a:off x="3839" y="2042"/>
              <a:ext cx="1" cy="116"/>
            </a:xfrm>
            <a:prstGeom prst="line">
              <a:avLst/>
            </a:prstGeom>
            <a:ln w="25400" cap="flat" cmpd="sng">
              <a:solidFill>
                <a:srgbClr val="FF00FF"/>
              </a:solidFill>
              <a:prstDash val="solid"/>
              <a:headEnd type="none" w="med" len="med"/>
              <a:tailEnd type="none" w="med" len="med"/>
            </a:ln>
          </p:spPr>
        </p:sp>
        <p:sp>
          <p:nvSpPr>
            <p:cNvPr id="48250" name="Line 225"/>
            <p:cNvSpPr/>
            <p:nvPr/>
          </p:nvSpPr>
          <p:spPr>
            <a:xfrm flipV="1">
              <a:off x="3981" y="2040"/>
              <a:ext cx="3" cy="105"/>
            </a:xfrm>
            <a:prstGeom prst="line">
              <a:avLst/>
            </a:prstGeom>
            <a:ln w="25400" cap="flat" cmpd="sng">
              <a:solidFill>
                <a:srgbClr val="FF00FF"/>
              </a:solidFill>
              <a:prstDash val="solid"/>
              <a:headEnd type="none" w="med" len="med"/>
              <a:tailEnd type="none" w="med" len="med"/>
            </a:ln>
          </p:spPr>
        </p:sp>
        <p:sp>
          <p:nvSpPr>
            <p:cNvPr id="48251" name="Rectangle 226"/>
            <p:cNvSpPr/>
            <p:nvPr/>
          </p:nvSpPr>
          <p:spPr>
            <a:xfrm>
              <a:off x="3391" y="1803"/>
              <a:ext cx="52" cy="125"/>
            </a:xfrm>
            <a:prstGeom prst="rect">
              <a:avLst/>
            </a:prstGeom>
            <a:noFill/>
            <a:ln w="9525">
              <a:noFill/>
            </a:ln>
          </p:spPr>
          <p:txBody>
            <a:bodyPr wrap="none" lIns="0" tIns="0" rIns="0" bIns="0">
              <a:spAutoFit/>
            </a:bodyPr>
            <a:p>
              <a:pPr algn="ctr" eaLnBrk="1" hangingPunct="1"/>
              <a:r>
                <a:rPr lang="en-US" altLang="zh-CN" sz="1300" b="0" i="1">
                  <a:solidFill>
                    <a:srgbClr val="FF0000"/>
                  </a:solidFill>
                  <a:latin typeface="Times New Roman" panose="02020603050405020304" pitchFamily="18" charset="0"/>
                </a:rPr>
                <a:t>S</a:t>
              </a:r>
              <a:endParaRPr lang="en-US" altLang="zh-CN" b="1">
                <a:solidFill>
                  <a:srgbClr val="FF0000"/>
                </a:solidFill>
                <a:latin typeface="楷体_GB2312" pitchFamily="49" charset="-122"/>
              </a:endParaRPr>
            </a:p>
          </p:txBody>
        </p:sp>
        <p:sp>
          <p:nvSpPr>
            <p:cNvPr id="48252" name="Line 227"/>
            <p:cNvSpPr/>
            <p:nvPr/>
          </p:nvSpPr>
          <p:spPr>
            <a:xfrm>
              <a:off x="4682" y="2686"/>
              <a:ext cx="194" cy="1"/>
            </a:xfrm>
            <a:prstGeom prst="line">
              <a:avLst/>
            </a:prstGeom>
            <a:ln w="25400" cap="flat" cmpd="sng">
              <a:solidFill>
                <a:srgbClr val="FF00FF"/>
              </a:solidFill>
              <a:prstDash val="solid"/>
              <a:headEnd type="none" w="med" len="med"/>
              <a:tailEnd type="none" w="med" len="med"/>
            </a:ln>
          </p:spPr>
        </p:sp>
        <p:sp>
          <p:nvSpPr>
            <p:cNvPr id="48253" name="Line 228"/>
            <p:cNvSpPr/>
            <p:nvPr/>
          </p:nvSpPr>
          <p:spPr>
            <a:xfrm>
              <a:off x="3521" y="2685"/>
              <a:ext cx="65" cy="1"/>
            </a:xfrm>
            <a:prstGeom prst="line">
              <a:avLst/>
            </a:prstGeom>
            <a:ln w="25400" cap="flat" cmpd="sng">
              <a:solidFill>
                <a:srgbClr val="FF00FF"/>
              </a:solidFill>
              <a:prstDash val="solid"/>
              <a:headEnd type="none" w="med" len="med"/>
              <a:tailEnd type="none" w="med" len="med"/>
            </a:ln>
          </p:spPr>
        </p:sp>
        <p:sp>
          <p:nvSpPr>
            <p:cNvPr id="48254" name="Rectangle 229"/>
            <p:cNvSpPr/>
            <p:nvPr/>
          </p:nvSpPr>
          <p:spPr>
            <a:xfrm>
              <a:off x="4327" y="3634"/>
              <a:ext cx="186" cy="192"/>
            </a:xfrm>
            <a:prstGeom prst="rect">
              <a:avLst/>
            </a:prstGeom>
            <a:noFill/>
            <a:ln w="9525">
              <a:noFill/>
            </a:ln>
          </p:spPr>
          <p:txBody>
            <a:bodyPr wrap="none" lIns="0" tIns="0" rIns="0" bIns="0">
              <a:spAutoFit/>
            </a:bodyPr>
            <a:p>
              <a:pPr algn="ctr" eaLnBrk="1" hangingPunct="1"/>
              <a:r>
                <a:rPr lang="en-US" altLang="zh-CN" sz="2000" b="0">
                  <a:solidFill>
                    <a:srgbClr val="FF0000"/>
                  </a:solidFill>
                  <a:latin typeface="Times New Roman" panose="02020603050405020304" pitchFamily="18" charset="0"/>
                  <a:ea typeface="宋体" panose="02010600030101010101" pitchFamily="2" charset="-122"/>
                </a:rPr>
                <a:t>(b)</a:t>
              </a:r>
              <a:endParaRPr lang="en-US" altLang="zh-CN" sz="2000" b="1">
                <a:solidFill>
                  <a:srgbClr val="FF0000"/>
                </a:solidFill>
                <a:latin typeface="Times New Roman" panose="02020603050405020304" pitchFamily="18" charset="0"/>
              </a:endParaRPr>
            </a:p>
          </p:txBody>
        </p:sp>
      </p:grpSp>
      <p:sp>
        <p:nvSpPr>
          <p:cNvPr id="2292968" name="Text Box 232"/>
          <p:cNvSpPr txBox="1"/>
          <p:nvPr/>
        </p:nvSpPr>
        <p:spPr>
          <a:xfrm>
            <a:off x="1201738" y="5373688"/>
            <a:ext cx="6899275" cy="822325"/>
          </a:xfrm>
          <a:prstGeom prst="rect">
            <a:avLst/>
          </a:prstGeom>
          <a:solidFill>
            <a:srgbClr val="99CCFF"/>
          </a:solidFill>
          <a:ln w="9525">
            <a:noFill/>
          </a:ln>
        </p:spPr>
        <p:txBody>
          <a:bodyPr>
            <a:spAutoFit/>
          </a:bodyPr>
          <a:p>
            <a:pPr algn="l" eaLnBrk="1" hangingPunct="1">
              <a:spcBef>
                <a:spcPct val="50000"/>
              </a:spcBef>
            </a:pPr>
            <a:r>
              <a:rPr lang="zh-CN" altLang="en-US" sz="2400" b="1" dirty="0">
                <a:solidFill>
                  <a:srgbClr val="333399"/>
                </a:solidFill>
                <a:latin typeface="黑体" panose="02010609060101010101" pitchFamily="49" charset="-122"/>
                <a:ea typeface="黑体" panose="02010609060101010101" pitchFamily="49" charset="-122"/>
              </a:rPr>
              <a:t>量化信号呈阶梯形状。量化误差</a:t>
            </a:r>
            <a:r>
              <a:rPr lang="en-US" altLang="zh-CN" sz="2400" b="1" i="1">
                <a:solidFill>
                  <a:srgbClr val="FF0000"/>
                </a:solidFill>
                <a:latin typeface="Times New Roman" panose="02020603050405020304" pitchFamily="18" charset="0"/>
                <a:ea typeface="黑体" panose="02010609060101010101" pitchFamily="49" charset="-122"/>
              </a:rPr>
              <a:t>e</a:t>
            </a:r>
            <a:r>
              <a:rPr lang="zh-CN" altLang="en-US" sz="2400" b="1" dirty="0">
                <a:solidFill>
                  <a:srgbClr val="333399"/>
                </a:solidFill>
                <a:latin typeface="黑体" panose="02010609060101010101" pitchFamily="49" charset="-122"/>
                <a:ea typeface="黑体" panose="02010609060101010101" pitchFamily="49" charset="-122"/>
              </a:rPr>
              <a:t>取决于量化单位</a:t>
            </a:r>
            <a:r>
              <a:rPr lang="en-US" altLang="zh-CN" sz="2400" b="1" i="1">
                <a:solidFill>
                  <a:srgbClr val="FF0000"/>
                </a:solidFill>
                <a:latin typeface="Times New Roman" panose="02020603050405020304" pitchFamily="18" charset="0"/>
                <a:ea typeface="黑体" panose="02010609060101010101" pitchFamily="49" charset="-122"/>
              </a:rPr>
              <a:t>q</a:t>
            </a:r>
            <a:r>
              <a:rPr lang="zh-CN" altLang="en-US" sz="2400" b="1" dirty="0">
                <a:solidFill>
                  <a:srgbClr val="333399"/>
                </a:solidFill>
                <a:latin typeface="黑体" panose="02010609060101010101" pitchFamily="49" charset="-122"/>
                <a:ea typeface="黑体" panose="02010609060101010101" pitchFamily="49" charset="-122"/>
              </a:rPr>
              <a:t>和模拟信号</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rgbClr val="333399"/>
                </a:solidFill>
                <a:latin typeface="黑体" panose="02010609060101010101" pitchFamily="49" charset="-122"/>
                <a:ea typeface="黑体" panose="02010609060101010101" pitchFamily="49" charset="-122"/>
              </a:rPr>
              <a:t>的电平。</a:t>
            </a:r>
            <a:endParaRPr lang="zh-CN" altLang="en-US" sz="2400" b="1" dirty="0">
              <a:solidFill>
                <a:srgbClr val="333399"/>
              </a:solidFill>
              <a:latin typeface="黑体" panose="02010609060101010101" pitchFamily="49" charset="-122"/>
              <a:ea typeface="黑体" panose="02010609060101010101"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92747"/>
                                        </p:tgtEl>
                                        <p:attrNameLst>
                                          <p:attrName>style.visibility</p:attrName>
                                        </p:attrNameLst>
                                      </p:cBhvr>
                                      <p:to>
                                        <p:strVal val="visible"/>
                                      </p:to>
                                    </p:set>
                                    <p:animEffect transition="in" filter="dissolve">
                                      <p:cBhvr>
                                        <p:cTn id="7" dur="500"/>
                                        <p:tgtEl>
                                          <p:spTgt spid="22927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92748"/>
                                        </p:tgtEl>
                                        <p:attrNameLst>
                                          <p:attrName>style.visibility</p:attrName>
                                        </p:attrNameLst>
                                      </p:cBhvr>
                                      <p:to>
                                        <p:strVal val="visible"/>
                                      </p:to>
                                    </p:set>
                                    <p:animEffect transition="in" filter="dissolve">
                                      <p:cBhvr>
                                        <p:cTn id="12" dur="500"/>
                                        <p:tgtEl>
                                          <p:spTgt spid="2292748"/>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xit" presetSubtype="10" fill="hold" grpId="1" nodeType="clickEffect">
                                  <p:stCondLst>
                                    <p:cond delay="0"/>
                                  </p:stCondLst>
                                  <p:childTnLst>
                                    <p:animEffect transition="out" filter="blinds(horizontal)">
                                      <p:cBhvr>
                                        <p:cTn id="16" dur="500"/>
                                        <p:tgtEl>
                                          <p:spTgt spid="2292748"/>
                                        </p:tgtEl>
                                      </p:cBhvr>
                                    </p:animEffect>
                                    <p:set>
                                      <p:cBhvr>
                                        <p:cTn id="17" dur="1" fill="hold">
                                          <p:stCondLst>
                                            <p:cond delay="499"/>
                                          </p:stCondLst>
                                        </p:cTn>
                                        <p:tgtEl>
                                          <p:spTgt spid="229274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92966"/>
                                        </p:tgtEl>
                                        <p:attrNameLst>
                                          <p:attrName>style.visibility</p:attrName>
                                        </p:attrNameLst>
                                      </p:cBhvr>
                                      <p:to>
                                        <p:strVal val="visible"/>
                                      </p:to>
                                    </p:set>
                                    <p:animEffect transition="in" filter="dissolve">
                                      <p:cBhvr>
                                        <p:cTn id="22" dur="500"/>
                                        <p:tgtEl>
                                          <p:spTgt spid="229296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92967"/>
                                        </p:tgtEl>
                                        <p:attrNameLst>
                                          <p:attrName>style.visibility</p:attrName>
                                        </p:attrNameLst>
                                      </p:cBhvr>
                                      <p:to>
                                        <p:strVal val="visible"/>
                                      </p:to>
                                    </p:set>
                                    <p:animEffect transition="in" filter="dissolve">
                                      <p:cBhvr>
                                        <p:cTn id="27" dur="500"/>
                                        <p:tgtEl>
                                          <p:spTgt spid="229296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92968"/>
                                        </p:tgtEl>
                                        <p:attrNameLst>
                                          <p:attrName>style.visibility</p:attrName>
                                        </p:attrNameLst>
                                      </p:cBhvr>
                                      <p:to>
                                        <p:strVal val="visible"/>
                                      </p:to>
                                    </p:set>
                                    <p:animEffect transition="in" filter="dissolve">
                                      <p:cBhvr>
                                        <p:cTn id="32" dur="500"/>
                                        <p:tgtEl>
                                          <p:spTgt spid="2292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2747" grpId="0"/>
      <p:bldP spid="2292748" grpId="0" bldLvl="0" animBg="1"/>
      <p:bldP spid="2292748" grpId="1" bldLvl="0" animBg="1"/>
      <p:bldP spid="2292968" grpId="0" bldLvl="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94801" name="Text Box 17"/>
          <p:cNvSpPr txBox="1"/>
          <p:nvPr/>
        </p:nvSpPr>
        <p:spPr>
          <a:xfrm>
            <a:off x="690563" y="3500438"/>
            <a:ext cx="4851400" cy="579437"/>
          </a:xfrm>
          <a:prstGeom prst="rect">
            <a:avLst/>
          </a:prstGeom>
          <a:noFill/>
          <a:ln w="9525">
            <a:noFill/>
          </a:ln>
        </p:spPr>
        <p:txBody>
          <a:bodyPr>
            <a:spAutoFit/>
          </a:bodyPr>
          <a:p>
            <a:pPr algn="l" eaLnBrk="1" hangingPunct="1"/>
            <a:r>
              <a:rPr lang="en-US" altLang="zh-CN" sz="3200" b="1">
                <a:solidFill>
                  <a:srgbClr val="3333FF"/>
                </a:solidFill>
                <a:latin typeface="Times New Roman" panose="02020603050405020304" pitchFamily="18" charset="0"/>
                <a:ea typeface="宋体" panose="02010600030101010101" pitchFamily="2" charset="-122"/>
              </a:rPr>
              <a:t>(1) </a:t>
            </a:r>
            <a:r>
              <a:rPr lang="zh-CN" altLang="en-US" sz="3200" b="1" dirty="0">
                <a:solidFill>
                  <a:srgbClr val="3333FF"/>
                </a:solidFill>
                <a:latin typeface="Times New Roman" panose="02020603050405020304" pitchFamily="18" charset="0"/>
              </a:rPr>
              <a:t>对于相同的模拟信号</a:t>
            </a:r>
            <a:endParaRPr lang="zh-CN" altLang="en-US" sz="3200" b="1" dirty="0">
              <a:solidFill>
                <a:srgbClr val="3333FF"/>
              </a:solidFill>
              <a:latin typeface="Times New Roman" panose="02020603050405020304" pitchFamily="18" charset="0"/>
            </a:endParaRPr>
          </a:p>
        </p:txBody>
      </p:sp>
      <p:sp>
        <p:nvSpPr>
          <p:cNvPr id="2294802" name="Text Box 18"/>
          <p:cNvSpPr txBox="1"/>
          <p:nvPr/>
        </p:nvSpPr>
        <p:spPr>
          <a:xfrm>
            <a:off x="1454150" y="4257675"/>
            <a:ext cx="6826250" cy="822325"/>
          </a:xfrm>
          <a:prstGeom prst="rect">
            <a:avLst/>
          </a:prstGeom>
          <a:noFill/>
          <a:ln w="9525">
            <a:noFill/>
          </a:ln>
        </p:spPr>
        <p:txBody>
          <a:bodyPr>
            <a:spAutoFit/>
          </a:bodyPr>
          <a:p>
            <a:pPr algn="l" eaLnBrk="1" hangingPunct="1"/>
            <a:r>
              <a:rPr lang="en-US" altLang="zh-CN" sz="2400" b="1">
                <a:solidFill>
                  <a:schemeClr val="tx1"/>
                </a:solidFill>
                <a:latin typeface="黑体" panose="02010609060101010101" pitchFamily="49" charset="-122"/>
                <a:ea typeface="黑体" panose="02010609060101010101" pitchFamily="49" charset="-122"/>
              </a:rPr>
              <a:t>A/D</a:t>
            </a:r>
            <a:r>
              <a:rPr lang="zh-CN" altLang="en-US" sz="2400" b="1" dirty="0">
                <a:solidFill>
                  <a:schemeClr val="tx1"/>
                </a:solidFill>
                <a:latin typeface="黑体" panose="02010609060101010101" pitchFamily="49" charset="-122"/>
                <a:ea typeface="黑体" panose="02010609060101010101" pitchFamily="49" charset="-122"/>
              </a:rPr>
              <a:t>转换器位数</a:t>
            </a:r>
            <a:r>
              <a:rPr lang="en-US" altLang="zh-CN" sz="2400" b="1" i="1">
                <a:solidFill>
                  <a:srgbClr val="FF0000"/>
                </a:solidFill>
                <a:latin typeface="Times New Roman" panose="02020603050405020304" pitchFamily="18" charset="0"/>
                <a:ea typeface="黑体" panose="02010609060101010101" pitchFamily="49" charset="-122"/>
              </a:rPr>
              <a:t>n</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，噪声</a:t>
            </a:r>
            <a:r>
              <a:rPr lang="en-US" altLang="zh-CN" sz="2400" b="1" i="1">
                <a:solidFill>
                  <a:srgbClr val="FF0000"/>
                </a:solidFill>
                <a:latin typeface="Times New Roman" panose="02020603050405020304" pitchFamily="18" charset="0"/>
                <a:ea typeface="黑体" panose="02010609060101010101" pitchFamily="49" charset="-122"/>
              </a:rPr>
              <a:t>e</a:t>
            </a:r>
            <a:r>
              <a:rPr lang="zh-CN" altLang="en-US" sz="2400" b="1" dirty="0">
                <a:solidFill>
                  <a:schemeClr val="tx1"/>
                </a:solidFill>
                <a:latin typeface="黑体" panose="02010609060101010101" pitchFamily="49" charset="-122"/>
                <a:ea typeface="黑体" panose="02010609060101010101" pitchFamily="49" charset="-122"/>
              </a:rPr>
              <a:t>峰</a:t>
            </a:r>
            <a:r>
              <a:rPr lang="en-US" altLang="zh-CN" sz="2400" b="1">
                <a:solidFill>
                  <a:schemeClr val="tx1"/>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峰值</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，噪声</a:t>
            </a:r>
            <a:r>
              <a:rPr lang="en-US" altLang="zh-CN" sz="2400" b="1" i="1">
                <a:solidFill>
                  <a:srgbClr val="FF0000"/>
                </a:solidFill>
                <a:latin typeface="Times New Roman" panose="02020603050405020304" pitchFamily="18" charset="0"/>
                <a:ea typeface="黑体" panose="02010609060101010101" pitchFamily="49" charset="-122"/>
              </a:rPr>
              <a:t>e</a:t>
            </a:r>
            <a:r>
              <a:rPr lang="zh-CN" altLang="en-US" sz="2400" b="1" dirty="0">
                <a:solidFill>
                  <a:schemeClr val="tx1"/>
                </a:solidFill>
                <a:latin typeface="黑体" panose="02010609060101010101" pitchFamily="49" charset="-122"/>
                <a:ea typeface="黑体" panose="02010609060101010101" pitchFamily="49" charset="-122"/>
              </a:rPr>
              <a:t>变化的频率</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a:t>
            </a:r>
            <a:endParaRPr lang="zh-CN" altLang="en-US" sz="2400" b="1" dirty="0">
              <a:solidFill>
                <a:schemeClr val="tx1"/>
              </a:solidFill>
              <a:latin typeface="黑体" panose="02010609060101010101" pitchFamily="49" charset="-122"/>
              <a:ea typeface="黑体" panose="02010609060101010101" pitchFamily="49" charset="-122"/>
            </a:endParaRPr>
          </a:p>
        </p:txBody>
      </p:sp>
      <p:pic>
        <p:nvPicPr>
          <p:cNvPr id="2294805" name="Picture 21" descr="kugel_blau"/>
          <p:cNvPicPr>
            <a:picLocks noChangeAspect="1"/>
          </p:cNvPicPr>
          <p:nvPr/>
        </p:nvPicPr>
        <p:blipFill>
          <a:blip r:embed="rId1"/>
          <a:stretch>
            <a:fillRect/>
          </a:stretch>
        </p:blipFill>
        <p:spPr>
          <a:xfrm>
            <a:off x="1079500" y="4378325"/>
            <a:ext cx="342900" cy="238125"/>
          </a:xfrm>
          <a:prstGeom prst="rect">
            <a:avLst/>
          </a:prstGeom>
          <a:noFill/>
          <a:ln w="9525">
            <a:noFill/>
          </a:ln>
        </p:spPr>
      </p:pic>
      <p:sp>
        <p:nvSpPr>
          <p:cNvPr id="2294806" name="Text Box 2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49158" name="Text Box 23"/>
          <p:cNvSpPr txBox="1"/>
          <p:nvPr/>
        </p:nvSpPr>
        <p:spPr>
          <a:xfrm>
            <a:off x="647700" y="1362075"/>
            <a:ext cx="7769225" cy="519113"/>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量化误差对数据采集系统动态平滑性的影响</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94809" name="Text Box 25"/>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294815" name="Group 31"/>
          <p:cNvGrpSpPr/>
          <p:nvPr/>
        </p:nvGrpSpPr>
        <p:grpSpPr>
          <a:xfrm>
            <a:off x="690563" y="1916113"/>
            <a:ext cx="7769225" cy="1420812"/>
            <a:chOff x="435" y="1207"/>
            <a:chExt cx="4894" cy="895"/>
          </a:xfrm>
        </p:grpSpPr>
        <p:sp>
          <p:nvSpPr>
            <p:cNvPr id="49164" name="Rectangle 27"/>
            <p:cNvSpPr/>
            <p:nvPr/>
          </p:nvSpPr>
          <p:spPr>
            <a:xfrm>
              <a:off x="435" y="1207"/>
              <a:ext cx="4894" cy="895"/>
            </a:xfrm>
            <a:prstGeom prst="rect">
              <a:avLst/>
            </a:prstGeom>
            <a:solidFill>
              <a:srgbClr val="FFCC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49165" name="Text Box 15"/>
            <p:cNvSpPr txBox="1"/>
            <p:nvPr/>
          </p:nvSpPr>
          <p:spPr>
            <a:xfrm>
              <a:off x="463" y="1207"/>
              <a:ext cx="4848" cy="518"/>
            </a:xfrm>
            <a:prstGeom prst="rect">
              <a:avLst/>
            </a:prstGeom>
            <a:no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a:t>
              </a:r>
              <a:r>
                <a:rPr lang="en-US" altLang="zh-CN" sz="2400" b="1" i="1">
                  <a:solidFill>
                    <a:srgbClr val="FF0000"/>
                  </a:solidFill>
                  <a:latin typeface="Times New Roman" panose="02020603050405020304" pitchFamily="18" charset="0"/>
                  <a:ea typeface="黑体" panose="02010609060101010101" pitchFamily="49" charset="-122"/>
                </a:rPr>
                <a:t>q</a:t>
              </a:r>
              <a:r>
                <a:rPr lang="zh-CN" altLang="en-US" sz="2400" b="1" dirty="0">
                  <a:solidFill>
                    <a:schemeClr val="tx1"/>
                  </a:solidFill>
                  <a:latin typeface="黑体" panose="02010609060101010101" pitchFamily="49" charset="-122"/>
                  <a:ea typeface="黑体" panose="02010609060101010101" pitchFamily="49" charset="-122"/>
                </a:rPr>
                <a:t>与</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的电平相比足够小时，量化误差</a:t>
              </a:r>
              <a:r>
                <a:rPr lang="en-US" altLang="zh-CN" sz="2400" b="1" i="1">
                  <a:solidFill>
                    <a:schemeClr val="tx1"/>
                  </a:solidFill>
                  <a:latin typeface="黑体" panose="02010609060101010101" pitchFamily="49" charset="-122"/>
                  <a:ea typeface="黑体" panose="02010609060101010101" pitchFamily="49" charset="-122"/>
                </a:rPr>
                <a:t>e</a:t>
              </a:r>
              <a:r>
                <a:rPr lang="zh-CN" altLang="en-US" sz="2400" b="1" dirty="0">
                  <a:solidFill>
                    <a:schemeClr val="tx1"/>
                  </a:solidFill>
                  <a:latin typeface="黑体" panose="02010609060101010101" pitchFamily="49" charset="-122"/>
                  <a:ea typeface="黑体" panose="02010609060101010101" pitchFamily="49" charset="-122"/>
                </a:rPr>
                <a:t>可作为噪声考虑，称为量化噪声：</a:t>
              </a:r>
              <a:endParaRPr lang="zh-CN" altLang="en-US" sz="2400" b="1" dirty="0">
                <a:solidFill>
                  <a:schemeClr val="tx1"/>
                </a:solidFill>
                <a:latin typeface="黑体" panose="02010609060101010101" pitchFamily="49" charset="-122"/>
                <a:ea typeface="黑体" panose="02010609060101010101" pitchFamily="49" charset="-122"/>
              </a:endParaRPr>
            </a:p>
          </p:txBody>
        </p:sp>
        <p:graphicFrame>
          <p:nvGraphicFramePr>
            <p:cNvPr id="49166" name="Object 26"/>
            <p:cNvGraphicFramePr>
              <a:graphicFrameLocks noChangeAspect="1"/>
            </p:cNvGraphicFramePr>
            <p:nvPr/>
          </p:nvGraphicFramePr>
          <p:xfrm>
            <a:off x="1759" y="1725"/>
            <a:ext cx="1878" cy="377"/>
          </p:xfrm>
          <a:graphic>
            <a:graphicData uri="http://schemas.openxmlformats.org/presentationml/2006/ole">
              <mc:AlternateContent xmlns:mc="http://schemas.openxmlformats.org/markup-compatibility/2006">
                <mc:Choice xmlns:v="urn:schemas-microsoft-com:vml" Requires="v">
                  <p:oleObj spid="_x0000_s3161" name="" r:id="rId2" imgW="1091565" imgH="241300" progId="Equation.3">
                    <p:embed/>
                  </p:oleObj>
                </mc:Choice>
                <mc:Fallback>
                  <p:oleObj name="" r:id="rId2" imgW="1091565" imgH="241300" progId="Equation.3">
                    <p:embed/>
                    <p:pic>
                      <p:nvPicPr>
                        <p:cNvPr id="0" name="图片 3160"/>
                        <p:cNvPicPr/>
                        <p:nvPr/>
                      </p:nvPicPr>
                      <p:blipFill>
                        <a:blip r:embed="rId3"/>
                        <a:stretch>
                          <a:fillRect/>
                        </a:stretch>
                      </p:blipFill>
                      <p:spPr>
                        <a:xfrm>
                          <a:off x="1759" y="1725"/>
                          <a:ext cx="1878" cy="377"/>
                        </a:xfrm>
                        <a:prstGeom prst="rect">
                          <a:avLst/>
                        </a:prstGeom>
                        <a:solidFill>
                          <a:srgbClr val="FFCC99"/>
                        </a:solidFill>
                        <a:ln w="38100">
                          <a:noFill/>
                          <a:miter/>
                        </a:ln>
                      </p:spPr>
                    </p:pic>
                  </p:oleObj>
                </mc:Fallback>
              </mc:AlternateContent>
            </a:graphicData>
          </a:graphic>
        </p:graphicFrame>
      </p:grpSp>
      <p:sp>
        <p:nvSpPr>
          <p:cNvPr id="2294813" name="Text Box 29"/>
          <p:cNvSpPr txBox="1"/>
          <p:nvPr/>
        </p:nvSpPr>
        <p:spPr>
          <a:xfrm>
            <a:off x="1439863" y="5219700"/>
            <a:ext cx="7019925" cy="822325"/>
          </a:xfrm>
          <a:prstGeom prst="rect">
            <a:avLst/>
          </a:prstGeom>
          <a:noFill/>
          <a:ln w="9525">
            <a:noFill/>
          </a:ln>
        </p:spPr>
        <p:txBody>
          <a:bodyPr>
            <a:spAutoFit/>
          </a:bodyPr>
          <a:p>
            <a:pPr algn="l" eaLnBrk="1" hangingPunct="1"/>
            <a:r>
              <a:rPr lang="en-US" altLang="zh-CN" sz="2400" b="1">
                <a:solidFill>
                  <a:schemeClr val="tx1"/>
                </a:solidFill>
                <a:latin typeface="黑体" panose="02010609060101010101" pitchFamily="49" charset="-122"/>
                <a:ea typeface="黑体" panose="02010609060101010101" pitchFamily="49" charset="-122"/>
              </a:rPr>
              <a:t>A/D</a:t>
            </a:r>
            <a:r>
              <a:rPr lang="zh-CN" altLang="en-US" sz="2400" b="1" dirty="0">
                <a:solidFill>
                  <a:schemeClr val="tx1"/>
                </a:solidFill>
                <a:latin typeface="黑体" panose="02010609060101010101" pitchFamily="49" charset="-122"/>
                <a:ea typeface="黑体" panose="02010609060101010101" pitchFamily="49" charset="-122"/>
              </a:rPr>
              <a:t>转换器位数</a:t>
            </a:r>
            <a:r>
              <a:rPr lang="en-US" altLang="zh-CN" sz="2400" b="1" i="1">
                <a:solidFill>
                  <a:srgbClr val="FF0000"/>
                </a:solidFill>
                <a:latin typeface="Times New Roman" panose="02020603050405020304" pitchFamily="18" charset="0"/>
                <a:ea typeface="黑体" panose="02010609060101010101" pitchFamily="49" charset="-122"/>
              </a:rPr>
              <a:t>n</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，则产生高频、小振幅的量化噪声。</a:t>
            </a:r>
            <a:endParaRPr lang="zh-CN" altLang="en-US" sz="2400" b="1" dirty="0">
              <a:solidFill>
                <a:schemeClr val="tx1"/>
              </a:solidFill>
              <a:latin typeface="黑体" panose="02010609060101010101" pitchFamily="49" charset="-122"/>
              <a:ea typeface="黑体" panose="02010609060101010101" pitchFamily="49" charset="-122"/>
            </a:endParaRPr>
          </a:p>
        </p:txBody>
      </p:sp>
      <p:pic>
        <p:nvPicPr>
          <p:cNvPr id="2294814" name="Picture 30" descr="kugel_blau"/>
          <p:cNvPicPr>
            <a:picLocks noChangeAspect="1"/>
          </p:cNvPicPr>
          <p:nvPr/>
        </p:nvPicPr>
        <p:blipFill>
          <a:blip r:embed="rId1"/>
          <a:stretch>
            <a:fillRect/>
          </a:stretch>
        </p:blipFill>
        <p:spPr>
          <a:xfrm>
            <a:off x="1096963" y="5351463"/>
            <a:ext cx="342900" cy="238125"/>
          </a:xfrm>
          <a:prstGeom prst="rect">
            <a:avLst/>
          </a:prstGeom>
          <a:noFill/>
          <a:ln w="9525">
            <a:noFill/>
          </a:ln>
        </p:spPr>
      </p:pic>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94815"/>
                                        </p:tgtEl>
                                        <p:attrNameLst>
                                          <p:attrName>style.visibility</p:attrName>
                                        </p:attrNameLst>
                                      </p:cBhvr>
                                      <p:to>
                                        <p:strVal val="visible"/>
                                      </p:to>
                                    </p:set>
                                    <p:animEffect transition="in" filter="dissolve">
                                      <p:cBhvr>
                                        <p:cTn id="7" dur="500"/>
                                        <p:tgtEl>
                                          <p:spTgt spid="22948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94801"/>
                                        </p:tgtEl>
                                        <p:attrNameLst>
                                          <p:attrName>style.visibility</p:attrName>
                                        </p:attrNameLst>
                                      </p:cBhvr>
                                      <p:to>
                                        <p:strVal val="visible"/>
                                      </p:to>
                                    </p:set>
                                    <p:animEffect transition="in" filter="dissolve">
                                      <p:cBhvr>
                                        <p:cTn id="12" dur="500"/>
                                        <p:tgtEl>
                                          <p:spTgt spid="229480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94802"/>
                                        </p:tgtEl>
                                        <p:attrNameLst>
                                          <p:attrName>style.visibility</p:attrName>
                                        </p:attrNameLst>
                                      </p:cBhvr>
                                      <p:to>
                                        <p:strVal val="visible"/>
                                      </p:to>
                                    </p:set>
                                    <p:animEffect transition="in" filter="dissolve">
                                      <p:cBhvr>
                                        <p:cTn id="17" dur="500"/>
                                        <p:tgtEl>
                                          <p:spTgt spid="2294802"/>
                                        </p:tgtEl>
                                      </p:cBhvr>
                                    </p:animEffect>
                                  </p:childTnLst>
                                </p:cTn>
                              </p:par>
                              <p:par>
                                <p:cTn id="18" presetID="9" presetClass="entr" presetSubtype="0" fill="hold" nodeType="withEffect">
                                  <p:stCondLst>
                                    <p:cond delay="0"/>
                                  </p:stCondLst>
                                  <p:childTnLst>
                                    <p:set>
                                      <p:cBhvr>
                                        <p:cTn id="19" dur="1" fill="hold">
                                          <p:stCondLst>
                                            <p:cond delay="0"/>
                                          </p:stCondLst>
                                        </p:cTn>
                                        <p:tgtEl>
                                          <p:spTgt spid="2294805"/>
                                        </p:tgtEl>
                                        <p:attrNameLst>
                                          <p:attrName>style.visibility</p:attrName>
                                        </p:attrNameLst>
                                      </p:cBhvr>
                                      <p:to>
                                        <p:strVal val="visible"/>
                                      </p:to>
                                    </p:set>
                                    <p:animEffect transition="in" filter="dissolve">
                                      <p:cBhvr>
                                        <p:cTn id="20" dur="500"/>
                                        <p:tgtEl>
                                          <p:spTgt spid="229480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94813"/>
                                        </p:tgtEl>
                                        <p:attrNameLst>
                                          <p:attrName>style.visibility</p:attrName>
                                        </p:attrNameLst>
                                      </p:cBhvr>
                                      <p:to>
                                        <p:strVal val="visible"/>
                                      </p:to>
                                    </p:set>
                                    <p:animEffect transition="in" filter="dissolve">
                                      <p:cBhvr>
                                        <p:cTn id="25" dur="500"/>
                                        <p:tgtEl>
                                          <p:spTgt spid="2294813"/>
                                        </p:tgtEl>
                                      </p:cBhvr>
                                    </p:animEffect>
                                  </p:childTnLst>
                                </p:cTn>
                              </p:par>
                              <p:par>
                                <p:cTn id="26" presetID="9" presetClass="entr" presetSubtype="0" fill="hold" nodeType="withEffect">
                                  <p:stCondLst>
                                    <p:cond delay="0"/>
                                  </p:stCondLst>
                                  <p:childTnLst>
                                    <p:set>
                                      <p:cBhvr>
                                        <p:cTn id="27" dur="1" fill="hold">
                                          <p:stCondLst>
                                            <p:cond delay="0"/>
                                          </p:stCondLst>
                                        </p:cTn>
                                        <p:tgtEl>
                                          <p:spTgt spid="2294814"/>
                                        </p:tgtEl>
                                        <p:attrNameLst>
                                          <p:attrName>style.visibility</p:attrName>
                                        </p:attrNameLst>
                                      </p:cBhvr>
                                      <p:to>
                                        <p:strVal val="visible"/>
                                      </p:to>
                                    </p:set>
                                    <p:animEffect transition="in" filter="dissolve">
                                      <p:cBhvr>
                                        <p:cTn id="28" dur="500"/>
                                        <p:tgtEl>
                                          <p:spTgt spid="22948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4801" grpId="0"/>
      <p:bldP spid="2294802" grpId="0"/>
      <p:bldP spid="229481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8818" name="Text Box 2"/>
          <p:cNvSpPr txBox="1"/>
          <p:nvPr/>
        </p:nvSpPr>
        <p:spPr>
          <a:xfrm>
            <a:off x="1079500" y="3608388"/>
            <a:ext cx="4851400" cy="579437"/>
          </a:xfrm>
          <a:prstGeom prst="rect">
            <a:avLst/>
          </a:prstGeom>
          <a:noFill/>
          <a:ln w="9525">
            <a:noFill/>
          </a:ln>
        </p:spPr>
        <p:txBody>
          <a:bodyPr>
            <a:spAutoFit/>
          </a:bodyPr>
          <a:p>
            <a:pPr algn="l" eaLnBrk="1" hangingPunct="1"/>
            <a:r>
              <a:rPr lang="en-US" altLang="zh-CN" sz="3200" b="1">
                <a:solidFill>
                  <a:srgbClr val="3333FF"/>
                </a:solidFill>
                <a:latin typeface="Times New Roman" panose="02020603050405020304" pitchFamily="18" charset="0"/>
                <a:ea typeface="宋体" panose="02010600030101010101" pitchFamily="2" charset="-122"/>
              </a:rPr>
              <a:t>(2) </a:t>
            </a:r>
            <a:r>
              <a:rPr lang="zh-CN" altLang="en-US" sz="3200" b="1" dirty="0">
                <a:solidFill>
                  <a:srgbClr val="3333FF"/>
                </a:solidFill>
                <a:latin typeface="Times New Roman" panose="02020603050405020304" pitchFamily="18" charset="0"/>
              </a:rPr>
              <a:t>对于相同的量化单位</a:t>
            </a:r>
            <a:r>
              <a:rPr lang="en-US" altLang="zh-CN" sz="3200" b="1" i="1">
                <a:solidFill>
                  <a:srgbClr val="FF0000"/>
                </a:solidFill>
                <a:latin typeface="Times New Roman" panose="02020603050405020304" pitchFamily="18" charset="0"/>
              </a:rPr>
              <a:t>q</a:t>
            </a:r>
            <a:endParaRPr lang="en-US" altLang="zh-CN" sz="3200" b="1" i="1">
              <a:solidFill>
                <a:srgbClr val="FF0000"/>
              </a:solidFill>
              <a:latin typeface="Times New Roman" panose="02020603050405020304" pitchFamily="18" charset="0"/>
            </a:endParaRPr>
          </a:p>
        </p:txBody>
      </p:sp>
      <p:pic>
        <p:nvPicPr>
          <p:cNvPr id="2338820" name="Picture 4" descr="kugel_blau"/>
          <p:cNvPicPr>
            <a:picLocks noChangeAspect="1"/>
          </p:cNvPicPr>
          <p:nvPr/>
        </p:nvPicPr>
        <p:blipFill>
          <a:blip r:embed="rId1"/>
          <a:stretch>
            <a:fillRect/>
          </a:stretch>
        </p:blipFill>
        <p:spPr>
          <a:xfrm>
            <a:off x="1511300" y="4486275"/>
            <a:ext cx="342900" cy="238125"/>
          </a:xfrm>
          <a:prstGeom prst="rect">
            <a:avLst/>
          </a:prstGeom>
          <a:noFill/>
          <a:ln w="9525">
            <a:noFill/>
          </a:ln>
        </p:spPr>
      </p:pic>
      <p:sp>
        <p:nvSpPr>
          <p:cNvPr id="2338821" name="Text Box 5"/>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0181" name="Text Box 6"/>
          <p:cNvSpPr txBox="1"/>
          <p:nvPr/>
        </p:nvSpPr>
        <p:spPr>
          <a:xfrm>
            <a:off x="647700" y="1362075"/>
            <a:ext cx="7769225" cy="519113"/>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量化误差对数据采集系统动态平滑性的影响</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38824" name="Text Box 8"/>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50184" name="Group 9"/>
          <p:cNvGrpSpPr/>
          <p:nvPr/>
        </p:nvGrpSpPr>
        <p:grpSpPr>
          <a:xfrm>
            <a:off x="690563" y="1971675"/>
            <a:ext cx="7769225" cy="1420813"/>
            <a:chOff x="435" y="1207"/>
            <a:chExt cx="4894" cy="895"/>
          </a:xfrm>
        </p:grpSpPr>
        <p:sp>
          <p:nvSpPr>
            <p:cNvPr id="50188" name="Rectangle 10"/>
            <p:cNvSpPr/>
            <p:nvPr/>
          </p:nvSpPr>
          <p:spPr>
            <a:xfrm>
              <a:off x="435" y="1207"/>
              <a:ext cx="4894" cy="895"/>
            </a:xfrm>
            <a:prstGeom prst="rect">
              <a:avLst/>
            </a:prstGeom>
            <a:solidFill>
              <a:srgbClr val="FFCC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50189" name="Text Box 11"/>
            <p:cNvSpPr txBox="1"/>
            <p:nvPr/>
          </p:nvSpPr>
          <p:spPr>
            <a:xfrm>
              <a:off x="463" y="1207"/>
              <a:ext cx="4848" cy="518"/>
            </a:xfrm>
            <a:prstGeom prst="rect">
              <a:avLst/>
            </a:prstGeom>
            <a:no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a:t>
              </a:r>
              <a:r>
                <a:rPr lang="en-US" altLang="zh-CN" sz="2400" b="1" i="1">
                  <a:solidFill>
                    <a:srgbClr val="FF0000"/>
                  </a:solidFill>
                  <a:latin typeface="Times New Roman" panose="02020603050405020304" pitchFamily="18" charset="0"/>
                  <a:ea typeface="黑体" panose="02010609060101010101" pitchFamily="49" charset="-122"/>
                </a:rPr>
                <a:t>q</a:t>
              </a:r>
              <a:r>
                <a:rPr lang="zh-CN" altLang="en-US" sz="2400" b="1" dirty="0">
                  <a:solidFill>
                    <a:schemeClr val="tx1"/>
                  </a:solidFill>
                  <a:latin typeface="黑体" panose="02010609060101010101" pitchFamily="49" charset="-122"/>
                  <a:ea typeface="黑体" panose="02010609060101010101" pitchFamily="49" charset="-122"/>
                </a:rPr>
                <a:t>与</a:t>
              </a:r>
              <a:r>
                <a:rPr lang="en-US" altLang="zh-CN" sz="2400" b="1" i="1" err="1">
                  <a:solidFill>
                    <a:srgbClr val="FF0000"/>
                  </a:solidFill>
                  <a:latin typeface="Times New Roman" panose="02020603050405020304" pitchFamily="18" charset="0"/>
                  <a:ea typeface="黑体" panose="02010609060101010101" pitchFamily="49" charset="-122"/>
                </a:rPr>
                <a:t>x</a:t>
              </a:r>
              <a:r>
                <a:rPr lang="en-US" altLang="zh-CN" sz="2400" b="1" err="1">
                  <a:solidFill>
                    <a:srgbClr val="FF0000"/>
                  </a:solidFill>
                  <a:latin typeface="Times New Roman" panose="02020603050405020304" pitchFamily="18" charset="0"/>
                  <a:ea typeface="黑体" panose="02010609060101010101" pitchFamily="49" charset="-122"/>
                </a:rPr>
                <a:t>(</a:t>
              </a:r>
              <a:r>
                <a:rPr lang="en-US" altLang="zh-CN" sz="2400" b="1" i="1" err="1">
                  <a:solidFill>
                    <a:srgbClr val="FF0000"/>
                  </a:solidFill>
                  <a:latin typeface="Times New Roman" panose="02020603050405020304" pitchFamily="18" charset="0"/>
                  <a:ea typeface="黑体" panose="02010609060101010101" pitchFamily="49" charset="-122"/>
                </a:rPr>
                <a:t>t</a:t>
              </a:r>
              <a:r>
                <a:rPr lang="en-US" altLang="zh-CN" sz="2400" b="1">
                  <a:solidFill>
                    <a:srgbClr val="FF0000"/>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的电平相比足够小时，量化误差</a:t>
              </a:r>
              <a:r>
                <a:rPr lang="en-US" altLang="zh-CN" sz="2400" b="1" i="1">
                  <a:solidFill>
                    <a:schemeClr val="tx1"/>
                  </a:solidFill>
                  <a:latin typeface="黑体" panose="02010609060101010101" pitchFamily="49" charset="-122"/>
                  <a:ea typeface="黑体" panose="02010609060101010101" pitchFamily="49" charset="-122"/>
                </a:rPr>
                <a:t>e</a:t>
              </a:r>
              <a:r>
                <a:rPr lang="zh-CN" altLang="en-US" sz="2400" b="1" dirty="0">
                  <a:solidFill>
                    <a:schemeClr val="tx1"/>
                  </a:solidFill>
                  <a:latin typeface="黑体" panose="02010609060101010101" pitchFamily="49" charset="-122"/>
                  <a:ea typeface="黑体" panose="02010609060101010101" pitchFamily="49" charset="-122"/>
                </a:rPr>
                <a:t>可作为噪声考虑，称为量化噪声：</a:t>
              </a:r>
              <a:endParaRPr lang="zh-CN" altLang="en-US" sz="2400" b="1" dirty="0">
                <a:solidFill>
                  <a:schemeClr val="tx1"/>
                </a:solidFill>
                <a:latin typeface="黑体" panose="02010609060101010101" pitchFamily="49" charset="-122"/>
                <a:ea typeface="黑体" panose="02010609060101010101" pitchFamily="49" charset="-122"/>
              </a:endParaRPr>
            </a:p>
          </p:txBody>
        </p:sp>
        <p:graphicFrame>
          <p:nvGraphicFramePr>
            <p:cNvPr id="50190" name="Object 12"/>
            <p:cNvGraphicFramePr>
              <a:graphicFrameLocks noChangeAspect="1"/>
            </p:cNvGraphicFramePr>
            <p:nvPr/>
          </p:nvGraphicFramePr>
          <p:xfrm>
            <a:off x="1759" y="1725"/>
            <a:ext cx="1878" cy="377"/>
          </p:xfrm>
          <a:graphic>
            <a:graphicData uri="http://schemas.openxmlformats.org/presentationml/2006/ole">
              <mc:AlternateContent xmlns:mc="http://schemas.openxmlformats.org/markup-compatibility/2006">
                <mc:Choice xmlns:v="urn:schemas-microsoft-com:vml" Requires="v">
                  <p:oleObj spid="_x0000_s3159" name="" r:id="rId2" imgW="1091565" imgH="241300" progId="Equation.3">
                    <p:embed/>
                  </p:oleObj>
                </mc:Choice>
                <mc:Fallback>
                  <p:oleObj name="" r:id="rId2" imgW="1091565" imgH="241300" progId="Equation.3">
                    <p:embed/>
                    <p:pic>
                      <p:nvPicPr>
                        <p:cNvPr id="0" name="图片 3158"/>
                        <p:cNvPicPr/>
                        <p:nvPr/>
                      </p:nvPicPr>
                      <p:blipFill>
                        <a:blip r:embed="rId3"/>
                        <a:stretch>
                          <a:fillRect/>
                        </a:stretch>
                      </p:blipFill>
                      <p:spPr>
                        <a:xfrm>
                          <a:off x="1759" y="1725"/>
                          <a:ext cx="1878" cy="377"/>
                        </a:xfrm>
                        <a:prstGeom prst="rect">
                          <a:avLst/>
                        </a:prstGeom>
                        <a:solidFill>
                          <a:srgbClr val="FFCC99"/>
                        </a:solidFill>
                        <a:ln w="38100">
                          <a:noFill/>
                          <a:miter/>
                        </a:ln>
                      </p:spPr>
                    </p:pic>
                  </p:oleObj>
                </mc:Fallback>
              </mc:AlternateContent>
            </a:graphicData>
          </a:graphic>
        </p:graphicFrame>
      </p:grpSp>
      <p:pic>
        <p:nvPicPr>
          <p:cNvPr id="2338830" name="Picture 14" descr="kugel_blau"/>
          <p:cNvPicPr>
            <a:picLocks noChangeAspect="1"/>
          </p:cNvPicPr>
          <p:nvPr/>
        </p:nvPicPr>
        <p:blipFill>
          <a:blip r:embed="rId1"/>
          <a:stretch>
            <a:fillRect/>
          </a:stretch>
        </p:blipFill>
        <p:spPr>
          <a:xfrm>
            <a:off x="1528763" y="5135563"/>
            <a:ext cx="342900" cy="238125"/>
          </a:xfrm>
          <a:prstGeom prst="rect">
            <a:avLst/>
          </a:prstGeom>
          <a:noFill/>
          <a:ln w="9525">
            <a:noFill/>
          </a:ln>
        </p:spPr>
      </p:pic>
      <p:sp>
        <p:nvSpPr>
          <p:cNvPr id="2338831" name="Text Box 15"/>
          <p:cNvSpPr txBox="1"/>
          <p:nvPr/>
        </p:nvSpPr>
        <p:spPr>
          <a:xfrm>
            <a:off x="1852613" y="4365625"/>
            <a:ext cx="6175375" cy="457200"/>
          </a:xfrm>
          <a:prstGeom prst="rect">
            <a:avLst/>
          </a:prstGeom>
          <a:no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信号变化</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，量化噪声的变化频率</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 </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38832" name="Text Box 16"/>
          <p:cNvSpPr txBox="1"/>
          <p:nvPr/>
        </p:nvSpPr>
        <p:spPr>
          <a:xfrm>
            <a:off x="1835150" y="5013325"/>
            <a:ext cx="6175375" cy="457200"/>
          </a:xfrm>
          <a:prstGeom prst="rect">
            <a:avLst/>
          </a:prstGeom>
          <a:no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信号变化</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，量化噪声的变化频率</a:t>
            </a: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 </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8818"/>
                                        </p:tgtEl>
                                        <p:attrNameLst>
                                          <p:attrName>style.visibility</p:attrName>
                                        </p:attrNameLst>
                                      </p:cBhvr>
                                      <p:to>
                                        <p:strVal val="visible"/>
                                      </p:to>
                                    </p:set>
                                    <p:animEffect transition="in" filter="dissolve">
                                      <p:cBhvr>
                                        <p:cTn id="7" dur="500"/>
                                        <p:tgtEl>
                                          <p:spTgt spid="23388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8820"/>
                                        </p:tgtEl>
                                        <p:attrNameLst>
                                          <p:attrName>style.visibility</p:attrName>
                                        </p:attrNameLst>
                                      </p:cBhvr>
                                      <p:to>
                                        <p:strVal val="visible"/>
                                      </p:to>
                                    </p:set>
                                    <p:animEffect transition="in" filter="dissolve">
                                      <p:cBhvr>
                                        <p:cTn id="12" dur="500"/>
                                        <p:tgtEl>
                                          <p:spTgt spid="2338820"/>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38831"/>
                                        </p:tgtEl>
                                        <p:attrNameLst>
                                          <p:attrName>style.visibility</p:attrName>
                                        </p:attrNameLst>
                                      </p:cBhvr>
                                      <p:to>
                                        <p:strVal val="visible"/>
                                      </p:to>
                                    </p:set>
                                    <p:animEffect transition="in" filter="dissolve">
                                      <p:cBhvr>
                                        <p:cTn id="15" dur="500"/>
                                        <p:tgtEl>
                                          <p:spTgt spid="233883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38830"/>
                                        </p:tgtEl>
                                        <p:attrNameLst>
                                          <p:attrName>style.visibility</p:attrName>
                                        </p:attrNameLst>
                                      </p:cBhvr>
                                      <p:to>
                                        <p:strVal val="visible"/>
                                      </p:to>
                                    </p:set>
                                    <p:animEffect transition="in" filter="dissolve">
                                      <p:cBhvr>
                                        <p:cTn id="20" dur="500"/>
                                        <p:tgtEl>
                                          <p:spTgt spid="2338830"/>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338832"/>
                                        </p:tgtEl>
                                        <p:attrNameLst>
                                          <p:attrName>style.visibility</p:attrName>
                                        </p:attrNameLst>
                                      </p:cBhvr>
                                      <p:to>
                                        <p:strVal val="visible"/>
                                      </p:to>
                                    </p:set>
                                    <p:animEffect transition="in" filter="dissolve">
                                      <p:cBhvr>
                                        <p:cTn id="23" dur="500"/>
                                        <p:tgtEl>
                                          <p:spTgt spid="23388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8818" grpId="0"/>
      <p:bldP spid="2338831" grpId="0"/>
      <p:bldP spid="233883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96844" name="Text Box 12"/>
          <p:cNvSpPr txBox="1"/>
          <p:nvPr/>
        </p:nvSpPr>
        <p:spPr>
          <a:xfrm>
            <a:off x="827088" y="2025650"/>
            <a:ext cx="1550987" cy="641350"/>
          </a:xfrm>
          <a:prstGeom prst="rect">
            <a:avLst/>
          </a:prstGeom>
          <a:solidFill>
            <a:srgbClr val="FF99CC"/>
          </a:solidFill>
          <a:ln w="9525">
            <a:noFill/>
          </a:ln>
        </p:spPr>
        <p:txBody>
          <a:bodyPr>
            <a:spAutoFit/>
          </a:bodyPr>
          <a:p>
            <a:pPr algn="l" eaLnBrk="1" hangingPunct="1"/>
            <a:r>
              <a:rPr lang="zh-CN" altLang="en-US" b="1" dirty="0">
                <a:solidFill>
                  <a:schemeClr val="tx1"/>
                </a:solidFill>
                <a:latin typeface="楷体_GB2312" pitchFamily="49" charset="-122"/>
              </a:rPr>
              <a:t>结论： </a:t>
            </a:r>
            <a:endParaRPr lang="zh-CN" altLang="en-US" b="1" dirty="0">
              <a:solidFill>
                <a:schemeClr val="tx1"/>
              </a:solidFill>
              <a:latin typeface="楷体_GB2312" pitchFamily="49" charset="-122"/>
            </a:endParaRPr>
          </a:p>
        </p:txBody>
      </p:sp>
      <p:sp>
        <p:nvSpPr>
          <p:cNvPr id="2296845" name="Text Box 13"/>
          <p:cNvSpPr txBox="1"/>
          <p:nvPr/>
        </p:nvSpPr>
        <p:spPr>
          <a:xfrm>
            <a:off x="1225550" y="2720975"/>
            <a:ext cx="6805613" cy="946150"/>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800" b="1" dirty="0">
                <a:solidFill>
                  <a:srgbClr val="3333FF"/>
                </a:solidFill>
                <a:latin typeface="Times New Roman" panose="02020603050405020304" pitchFamily="18" charset="0"/>
                <a:ea typeface="黑体" panose="02010609060101010101" pitchFamily="49" charset="-122"/>
              </a:rPr>
              <a:t>模拟信号经过量化后，产生了跳跃状的量化噪声； </a:t>
            </a:r>
            <a:endParaRPr lang="zh-CN" altLang="en-US" sz="2800" b="1" dirty="0">
              <a:solidFill>
                <a:srgbClr val="3333FF"/>
              </a:solidFill>
              <a:latin typeface="Times New Roman" panose="02020603050405020304" pitchFamily="18" charset="0"/>
              <a:ea typeface="黑体" panose="02010609060101010101" pitchFamily="49" charset="-122"/>
            </a:endParaRPr>
          </a:p>
        </p:txBody>
      </p:sp>
      <p:sp>
        <p:nvSpPr>
          <p:cNvPr id="2296846" name="Text Box 14"/>
          <p:cNvSpPr txBox="1"/>
          <p:nvPr/>
        </p:nvSpPr>
        <p:spPr>
          <a:xfrm>
            <a:off x="1225550" y="3667125"/>
            <a:ext cx="7424738" cy="519113"/>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800" b="1" dirty="0">
                <a:solidFill>
                  <a:srgbClr val="3333FF"/>
                </a:solidFill>
                <a:latin typeface="Times New Roman" panose="02020603050405020304" pitchFamily="18" charset="0"/>
                <a:ea typeface="黑体" panose="02010609060101010101" pitchFamily="49" charset="-122"/>
              </a:rPr>
              <a:t>量化噪声的峰 </a:t>
            </a:r>
            <a:r>
              <a:rPr lang="en-US" altLang="zh-CN" sz="2800" b="1">
                <a:solidFill>
                  <a:srgbClr val="3333FF"/>
                </a:solidFill>
                <a:latin typeface="Times New Roman" panose="02020603050405020304" pitchFamily="18" charset="0"/>
                <a:ea typeface="黑体" panose="02010609060101010101" pitchFamily="49" charset="-122"/>
              </a:rPr>
              <a:t>- </a:t>
            </a:r>
            <a:r>
              <a:rPr lang="zh-CN" altLang="en-US" sz="2800" b="1" dirty="0">
                <a:solidFill>
                  <a:srgbClr val="3333FF"/>
                </a:solidFill>
                <a:latin typeface="Times New Roman" panose="02020603050405020304" pitchFamily="18" charset="0"/>
                <a:ea typeface="黑体" panose="02010609060101010101" pitchFamily="49" charset="-122"/>
              </a:rPr>
              <a:t>峰值等于量化单位</a:t>
            </a:r>
            <a:r>
              <a:rPr lang="en-US" altLang="zh-CN" sz="2800" b="1" i="1">
                <a:solidFill>
                  <a:srgbClr val="FF0000"/>
                </a:solidFill>
                <a:latin typeface="Times New Roman" panose="02020603050405020304" pitchFamily="18" charset="0"/>
                <a:ea typeface="黑体" panose="02010609060101010101" pitchFamily="49" charset="-122"/>
              </a:rPr>
              <a:t>q</a:t>
            </a:r>
            <a:r>
              <a:rPr lang="zh-CN" altLang="en-US" sz="2800" b="1" dirty="0">
                <a:solidFill>
                  <a:srgbClr val="3333FF"/>
                </a:solidFill>
                <a:latin typeface="Times New Roman" panose="02020603050405020304" pitchFamily="18" charset="0"/>
                <a:ea typeface="黑体" panose="02010609060101010101" pitchFamily="49" charset="-122"/>
              </a:rPr>
              <a:t>； </a:t>
            </a:r>
            <a:endParaRPr lang="zh-CN" altLang="en-US" sz="2800" b="1" dirty="0">
              <a:solidFill>
                <a:srgbClr val="3333FF"/>
              </a:solidFill>
              <a:latin typeface="Times New Roman" panose="02020603050405020304" pitchFamily="18" charset="0"/>
              <a:ea typeface="黑体" panose="02010609060101010101" pitchFamily="49" charset="-122"/>
            </a:endParaRPr>
          </a:p>
        </p:txBody>
      </p:sp>
      <p:sp>
        <p:nvSpPr>
          <p:cNvPr id="2296847" name="Text Box 15"/>
          <p:cNvSpPr txBox="1"/>
          <p:nvPr/>
        </p:nvSpPr>
        <p:spPr>
          <a:xfrm>
            <a:off x="1225550" y="4251325"/>
            <a:ext cx="6805613" cy="1373188"/>
          </a:xfrm>
          <a:prstGeom prst="rect">
            <a:avLst/>
          </a:prstGeom>
          <a:noFill/>
          <a:ln w="9525">
            <a:noFill/>
          </a:ln>
        </p:spPr>
        <p:txBody>
          <a:bodyPr>
            <a:spAutoFit/>
          </a:bodyPr>
          <a:p>
            <a:pPr marL="542925" indent="-542925" algn="l" eaLnBrk="1" hangingPunct="1">
              <a:buClr>
                <a:srgbClr val="FF0000"/>
              </a:buClr>
              <a:buFont typeface="Wingdings" panose="05000000000000000000" pitchFamily="2" charset="2"/>
              <a:buChar char="u"/>
            </a:pPr>
            <a:r>
              <a:rPr lang="zh-CN" altLang="en-US" sz="2800" b="1" dirty="0">
                <a:solidFill>
                  <a:srgbClr val="3333FF"/>
                </a:solidFill>
                <a:latin typeface="Times New Roman" panose="02020603050405020304" pitchFamily="18" charset="0"/>
                <a:ea typeface="黑体" panose="02010609060101010101" pitchFamily="49" charset="-122"/>
              </a:rPr>
              <a:t>量化噪声的变化频率取决于量化单位</a:t>
            </a:r>
            <a:r>
              <a:rPr lang="en-US" altLang="zh-CN" sz="2800" b="1" i="1">
                <a:solidFill>
                  <a:srgbClr val="FF0000"/>
                </a:solidFill>
                <a:latin typeface="Times New Roman" panose="02020603050405020304" pitchFamily="18" charset="0"/>
                <a:ea typeface="黑体" panose="02010609060101010101" pitchFamily="49" charset="-122"/>
              </a:rPr>
              <a:t>q</a:t>
            </a:r>
            <a:r>
              <a:rPr lang="zh-CN" altLang="en-US" sz="2800" b="1" dirty="0">
                <a:solidFill>
                  <a:srgbClr val="3333FF"/>
                </a:solidFill>
                <a:latin typeface="Times New Roman" panose="02020603050405020304" pitchFamily="18" charset="0"/>
                <a:ea typeface="黑体" panose="02010609060101010101" pitchFamily="49" charset="-122"/>
              </a:rPr>
              <a:t>和模拟信号</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的变化情况：</a:t>
            </a:r>
            <a:endParaRPr lang="zh-CN" altLang="en-US" sz="2800" b="1" dirty="0">
              <a:solidFill>
                <a:srgbClr val="3333FF"/>
              </a:solidFill>
              <a:latin typeface="Times New Roman" panose="02020603050405020304" pitchFamily="18" charset="0"/>
              <a:ea typeface="黑体" panose="02010609060101010101" pitchFamily="49" charset="-122"/>
            </a:endParaRPr>
          </a:p>
          <a:p>
            <a:pPr marL="542925" indent="-542925" algn="l" eaLnBrk="1" hangingPunct="1">
              <a:buClr>
                <a:srgbClr val="FF0000"/>
              </a:buClr>
              <a:buFont typeface="Wingdings" panose="05000000000000000000" pitchFamily="2" charset="2"/>
            </a:pPr>
            <a:r>
              <a:rPr lang="zh-CN" altLang="en-US" sz="2800" b="1" dirty="0">
                <a:solidFill>
                  <a:srgbClr val="3333FF"/>
                </a:solidFill>
                <a:latin typeface="Times New Roman" panose="02020603050405020304" pitchFamily="18" charset="0"/>
                <a:ea typeface="黑体" panose="02010609060101010101" pitchFamily="49" charset="-122"/>
              </a:rPr>
              <a:t>             </a:t>
            </a:r>
            <a:r>
              <a:rPr lang="en-US" altLang="zh-CN" sz="2800" b="1" i="1">
                <a:solidFill>
                  <a:srgbClr val="FF0000"/>
                </a:solidFill>
                <a:latin typeface="Times New Roman" panose="02020603050405020304" pitchFamily="18" charset="0"/>
                <a:ea typeface="黑体" panose="02010609060101010101" pitchFamily="49" charset="-122"/>
              </a:rPr>
              <a:t>q</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x</a:t>
            </a:r>
            <a:r>
              <a:rPr lang="en-US" altLang="zh-CN" sz="2800" b="1" err="1">
                <a:solidFill>
                  <a:srgbClr val="FF0000"/>
                </a:solidFill>
                <a:latin typeface="Times New Roman" panose="02020603050405020304" pitchFamily="18" charset="0"/>
                <a:ea typeface="黑体" panose="02010609060101010101" pitchFamily="49" charset="-122"/>
              </a:rPr>
              <a:t>(</a:t>
            </a:r>
            <a:r>
              <a:rPr lang="en-US" altLang="zh-CN" sz="2800" b="1" i="1" err="1">
                <a:solidFill>
                  <a:srgbClr val="FF0000"/>
                </a:solidFill>
                <a:latin typeface="Times New Roman" panose="02020603050405020304" pitchFamily="18" charset="0"/>
                <a:ea typeface="黑体" panose="02010609060101010101" pitchFamily="49" charset="-122"/>
              </a:rPr>
              <a:t>t</a:t>
            </a:r>
            <a:r>
              <a:rPr lang="en-US" altLang="zh-CN" sz="2800" b="1">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变化</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，噪声的频率</a:t>
            </a:r>
            <a:r>
              <a:rPr lang="zh-CN" altLang="en-US" sz="2800" b="1" dirty="0">
                <a:solidFill>
                  <a:srgbClr val="FF0000"/>
                </a:solidFill>
                <a:latin typeface="Times New Roman" panose="02020603050405020304" pitchFamily="18" charset="0"/>
                <a:ea typeface="黑体" panose="02010609060101010101" pitchFamily="49" charset="-122"/>
              </a:rPr>
              <a:t>↓</a:t>
            </a:r>
            <a:r>
              <a:rPr lang="zh-CN" altLang="en-US" sz="2800" b="1" dirty="0">
                <a:solidFill>
                  <a:srgbClr val="3333FF"/>
                </a:solidFill>
                <a:latin typeface="Times New Roman" panose="02020603050405020304" pitchFamily="18" charset="0"/>
                <a:ea typeface="黑体" panose="02010609060101010101" pitchFamily="49" charset="-122"/>
              </a:rPr>
              <a:t>。</a:t>
            </a:r>
            <a:endParaRPr lang="zh-CN" altLang="en-US" sz="2800" b="1" dirty="0">
              <a:solidFill>
                <a:srgbClr val="3333FF"/>
              </a:solidFill>
              <a:latin typeface="Times New Roman" panose="02020603050405020304" pitchFamily="18" charset="0"/>
              <a:ea typeface="黑体" panose="02010609060101010101" pitchFamily="49" charset="-122"/>
            </a:endParaRPr>
          </a:p>
        </p:txBody>
      </p:sp>
      <p:sp>
        <p:nvSpPr>
          <p:cNvPr id="2296848" name="Text Box 1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1207" name="Text Box 17"/>
          <p:cNvSpPr txBox="1"/>
          <p:nvPr/>
        </p:nvSpPr>
        <p:spPr>
          <a:xfrm>
            <a:off x="647700" y="1362075"/>
            <a:ext cx="7769225" cy="519113"/>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量化误差对数据采集系统动态平滑性的影响</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96851" name="Text Box 19"/>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96844"/>
                                        </p:tgtEl>
                                        <p:attrNameLst>
                                          <p:attrName>style.visibility</p:attrName>
                                        </p:attrNameLst>
                                      </p:cBhvr>
                                      <p:to>
                                        <p:strVal val="visible"/>
                                      </p:to>
                                    </p:set>
                                    <p:animEffect transition="in" filter="dissolve">
                                      <p:cBhvr>
                                        <p:cTn id="7" dur="500"/>
                                        <p:tgtEl>
                                          <p:spTgt spid="22968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96845">
                                            <p:txEl>
                                              <p:charRg st="0" end="24"/>
                                            </p:txEl>
                                          </p:spTgt>
                                        </p:tgtEl>
                                        <p:attrNameLst>
                                          <p:attrName>style.visibility</p:attrName>
                                        </p:attrNameLst>
                                      </p:cBhvr>
                                      <p:to>
                                        <p:strVal val="visible"/>
                                      </p:to>
                                    </p:set>
                                    <p:animEffect transition="in" filter="dissolve">
                                      <p:cBhvr>
                                        <p:cTn id="12" dur="500"/>
                                        <p:tgtEl>
                                          <p:spTgt spid="2296845">
                                            <p:txEl>
                                              <p:charRg st="0" end="2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96846"/>
                                        </p:tgtEl>
                                        <p:attrNameLst>
                                          <p:attrName>style.visibility</p:attrName>
                                        </p:attrNameLst>
                                      </p:cBhvr>
                                      <p:to>
                                        <p:strVal val="visible"/>
                                      </p:to>
                                    </p:set>
                                    <p:animEffect transition="in" filter="dissolve">
                                      <p:cBhvr>
                                        <p:cTn id="17" dur="500"/>
                                        <p:tgtEl>
                                          <p:spTgt spid="229684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96847">
                                            <p:txEl>
                                              <p:charRg st="0" end="33"/>
                                            </p:txEl>
                                          </p:spTgt>
                                        </p:tgtEl>
                                        <p:attrNameLst>
                                          <p:attrName>style.visibility</p:attrName>
                                        </p:attrNameLst>
                                      </p:cBhvr>
                                      <p:to>
                                        <p:strVal val="visible"/>
                                      </p:to>
                                    </p:set>
                                    <p:animEffect transition="in" filter="dissolve">
                                      <p:cBhvr>
                                        <p:cTn id="22" dur="500"/>
                                        <p:tgtEl>
                                          <p:spTgt spid="2296847">
                                            <p:txEl>
                                              <p:charRg st="0" end="3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96847">
                                            <p:txEl>
                                              <p:charRg st="33" end="65"/>
                                            </p:txEl>
                                          </p:spTgt>
                                        </p:tgtEl>
                                        <p:attrNameLst>
                                          <p:attrName>style.visibility</p:attrName>
                                        </p:attrNameLst>
                                      </p:cBhvr>
                                      <p:to>
                                        <p:strVal val="visible"/>
                                      </p:to>
                                    </p:set>
                                    <p:animEffect transition="in" filter="dissolve">
                                      <p:cBhvr>
                                        <p:cTn id="27" dur="500"/>
                                        <p:tgtEl>
                                          <p:spTgt spid="2296847">
                                            <p:txEl>
                                              <p:charRg st="33" end="6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6844" grpId="0" bldLvl="0" animBg="1"/>
      <p:bldP spid="2296845" grpId="0" build="p"/>
      <p:bldP spid="2296846" grpId="0"/>
      <p:bldP spid="2296847" grpId="0" uiExpand="1" build="p"/>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9846" name="Text Box 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2227" name="Text Box 7"/>
          <p:cNvSpPr txBox="1"/>
          <p:nvPr/>
        </p:nvSpPr>
        <p:spPr>
          <a:xfrm>
            <a:off x="647700" y="1362075"/>
            <a:ext cx="7769225" cy="519113"/>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量化误差对数据采集系统动态平滑性的影响</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39849" name="Text Box 9"/>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339850" name="Text Box 10"/>
          <p:cNvSpPr txBox="1"/>
          <p:nvPr/>
        </p:nvSpPr>
        <p:spPr>
          <a:xfrm>
            <a:off x="900113" y="2276475"/>
            <a:ext cx="7524750" cy="3082925"/>
          </a:xfrm>
          <a:prstGeom prst="rect">
            <a:avLst/>
          </a:prstGeom>
          <a:solidFill>
            <a:srgbClr val="CCFFFF"/>
          </a:solidFill>
          <a:ln w="9525">
            <a:noFill/>
          </a:ln>
        </p:spPr>
        <p:txBody>
          <a:bodyPr>
            <a:spAutoFit/>
          </a:bodyPr>
          <a:p>
            <a:pPr algn="l" eaLnBrk="1" hangingPunct="1">
              <a:spcBef>
                <a:spcPct val="50000"/>
              </a:spcBef>
            </a:pPr>
            <a:r>
              <a:rPr lang="zh-CN" altLang="en-US" sz="2800" b="1" dirty="0">
                <a:solidFill>
                  <a:schemeClr val="tx1"/>
                </a:solidFill>
                <a:latin typeface="黑体" panose="02010609060101010101" pitchFamily="49" charset="-122"/>
                <a:ea typeface="黑体" panose="02010609060101010101" pitchFamily="49" charset="-122"/>
              </a:rPr>
              <a:t>可以采用</a:t>
            </a:r>
            <a:r>
              <a:rPr lang="zh-CN" altLang="en-US" sz="2800" b="1" dirty="0">
                <a:solidFill>
                  <a:srgbClr val="FF0000"/>
                </a:solidFill>
                <a:latin typeface="黑体" panose="02010609060101010101" pitchFamily="49" charset="-122"/>
                <a:ea typeface="黑体" panose="02010609060101010101" pitchFamily="49" charset="-122"/>
              </a:rPr>
              <a:t>低通滤波器</a:t>
            </a:r>
            <a:r>
              <a:rPr lang="zh-CN" altLang="en-US" sz="2800" b="1" dirty="0">
                <a:solidFill>
                  <a:schemeClr val="tx1"/>
                </a:solidFill>
                <a:latin typeface="黑体" panose="02010609060101010101" pitchFamily="49" charset="-122"/>
                <a:ea typeface="黑体" panose="02010609060101010101" pitchFamily="49" charset="-122"/>
              </a:rPr>
              <a:t>来滤除频率较高的噪声。</a:t>
            </a:r>
            <a:endParaRPr lang="zh-CN" altLang="en-US" sz="2800" b="1" dirty="0">
              <a:solidFill>
                <a:schemeClr val="tx1"/>
              </a:solidFill>
              <a:latin typeface="黑体" panose="02010609060101010101" pitchFamily="49" charset="-122"/>
              <a:ea typeface="黑体" panose="02010609060101010101" pitchFamily="49" charset="-122"/>
            </a:endParaRPr>
          </a:p>
          <a:p>
            <a:pPr algn="l" eaLnBrk="1" hangingPunct="1">
              <a:spcBef>
                <a:spcPct val="50000"/>
              </a:spcBef>
            </a:pPr>
            <a:r>
              <a:rPr lang="zh-CN" altLang="en-US" sz="2800" b="1" dirty="0">
                <a:solidFill>
                  <a:schemeClr val="tx1"/>
                </a:solidFill>
                <a:latin typeface="黑体" panose="02010609060101010101" pitchFamily="49" charset="-122"/>
                <a:ea typeface="黑体" panose="02010609060101010101" pitchFamily="49" charset="-122"/>
              </a:rPr>
              <a:t>但是，如果</a:t>
            </a:r>
            <a:r>
              <a:rPr lang="en-US" altLang="zh-CN" sz="2800" b="1">
                <a:solidFill>
                  <a:schemeClr val="tx1"/>
                </a:solidFill>
                <a:latin typeface="黑体" panose="02010609060101010101" pitchFamily="49" charset="-122"/>
                <a:ea typeface="黑体" panose="02010609060101010101" pitchFamily="49" charset="-122"/>
              </a:rPr>
              <a:t>A/D</a:t>
            </a:r>
            <a:r>
              <a:rPr lang="zh-CN" altLang="en-US" sz="2800" b="1" dirty="0">
                <a:solidFill>
                  <a:schemeClr val="tx1"/>
                </a:solidFill>
                <a:latin typeface="黑体" panose="02010609060101010101" pitchFamily="49" charset="-122"/>
                <a:ea typeface="黑体" panose="02010609060101010101" pitchFamily="49" charset="-122"/>
              </a:rPr>
              <a:t>转换器位数不够，使量化单位</a:t>
            </a:r>
            <a:r>
              <a:rPr lang="en-US" altLang="zh-CN" sz="2800" b="1" i="1">
                <a:solidFill>
                  <a:srgbClr val="FF0000"/>
                </a:solidFill>
                <a:latin typeface="Times New Roman" panose="02020603050405020304" pitchFamily="18" charset="0"/>
                <a:ea typeface="黑体" panose="02010609060101010101" pitchFamily="49" charset="-122"/>
              </a:rPr>
              <a:t>q</a:t>
            </a:r>
            <a:r>
              <a:rPr lang="zh-CN" altLang="en-US" sz="2800" b="1" dirty="0">
                <a:solidFill>
                  <a:schemeClr val="tx1"/>
                </a:solidFill>
                <a:latin typeface="黑体" panose="02010609060101010101" pitchFamily="49" charset="-122"/>
                <a:ea typeface="黑体" panose="02010609060101010101" pitchFamily="49" charset="-122"/>
              </a:rPr>
              <a:t>较大，并且当模拟信号又很缓慢时，量化噪声不仅振幅大，而且频率低。</a:t>
            </a:r>
            <a:endParaRPr lang="zh-CN" altLang="en-US" sz="2800" b="1" dirty="0">
              <a:solidFill>
                <a:schemeClr val="tx1"/>
              </a:solidFill>
              <a:latin typeface="黑体" panose="02010609060101010101" pitchFamily="49" charset="-122"/>
              <a:ea typeface="黑体" panose="02010609060101010101" pitchFamily="49" charset="-122"/>
            </a:endParaRPr>
          </a:p>
          <a:p>
            <a:pPr algn="l" eaLnBrk="1" hangingPunct="1">
              <a:spcBef>
                <a:spcPct val="50000"/>
              </a:spcBef>
            </a:pPr>
            <a:r>
              <a:rPr lang="zh-CN" altLang="en-US" sz="2800" b="1" dirty="0">
                <a:solidFill>
                  <a:schemeClr val="tx1"/>
                </a:solidFill>
                <a:latin typeface="黑体" panose="02010609060101010101" pitchFamily="49" charset="-122"/>
                <a:ea typeface="黑体" panose="02010609060101010101" pitchFamily="49" charset="-122"/>
              </a:rPr>
              <a:t>低通滤波器难以抑制低频、大振幅的噪声，因此将较严重地影响系统输出的平滑性。</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9850"/>
                                        </p:tgtEl>
                                        <p:attrNameLst>
                                          <p:attrName>style.visibility</p:attrName>
                                        </p:attrNameLst>
                                      </p:cBhvr>
                                      <p:to>
                                        <p:strVal val="visible"/>
                                      </p:to>
                                    </p:set>
                                    <p:animEffect transition="in" filter="dissolve">
                                      <p:cBhvr>
                                        <p:cTn id="7" dur="500"/>
                                        <p:tgtEl>
                                          <p:spTgt spid="23398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9850" grpId="0" bldLvl="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98893" name="Text Box 13"/>
          <p:cNvSpPr txBox="1"/>
          <p:nvPr/>
        </p:nvSpPr>
        <p:spPr>
          <a:xfrm>
            <a:off x="755650" y="1376363"/>
            <a:ext cx="7696200"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4.</a:t>
            </a:r>
            <a:r>
              <a:rPr lang="zh-CN" altLang="en-US" sz="2800" b="1" dirty="0">
                <a:solidFill>
                  <a:srgbClr val="333399"/>
                </a:solidFill>
                <a:latin typeface="黑体" panose="02010609060101010101" pitchFamily="49" charset="-122"/>
                <a:ea typeface="黑体" panose="02010609060101010101" pitchFamily="49" charset="-122"/>
              </a:rPr>
              <a:t>量化误差（噪声）与量化器位数的关系</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298894" name="Text Box 14"/>
          <p:cNvSpPr txBox="1"/>
          <p:nvPr/>
        </p:nvSpPr>
        <p:spPr>
          <a:xfrm>
            <a:off x="863600" y="2024063"/>
            <a:ext cx="7551738" cy="1187450"/>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当量化单位与模拟信号幅值相比足够小时，量化信号的每一个台阶都很小，与模拟信号非常接近，量化误差可按一系列在</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1"/>
                </a:solidFill>
                <a:latin typeface="黑体" panose="02010609060101010101" pitchFamily="49" charset="-122"/>
                <a:ea typeface="黑体" panose="02010609060101010101" pitchFamily="49" charset="-122"/>
              </a:rPr>
              <a:t>之间的斜率不同的线性段处理。</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298898" name="Text Box 1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298900" name="Text Box 20"/>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2299012" name="Group 132"/>
          <p:cNvGrpSpPr/>
          <p:nvPr/>
        </p:nvGrpSpPr>
        <p:grpSpPr>
          <a:xfrm>
            <a:off x="287338" y="3392488"/>
            <a:ext cx="4140200" cy="2281237"/>
            <a:chOff x="385" y="2016"/>
            <a:chExt cx="2608" cy="1437"/>
          </a:xfrm>
        </p:grpSpPr>
        <p:sp>
          <p:nvSpPr>
            <p:cNvPr id="53260" name="Text Box 126"/>
            <p:cNvSpPr txBox="1"/>
            <p:nvPr/>
          </p:nvSpPr>
          <p:spPr>
            <a:xfrm>
              <a:off x="1247" y="2016"/>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53261" name="Line 21"/>
            <p:cNvSpPr/>
            <p:nvPr/>
          </p:nvSpPr>
          <p:spPr>
            <a:xfrm>
              <a:off x="385" y="2841"/>
              <a:ext cx="2336" cy="0"/>
            </a:xfrm>
            <a:prstGeom prst="line">
              <a:avLst/>
            </a:prstGeom>
            <a:ln w="12700" cap="flat" cmpd="sng">
              <a:solidFill>
                <a:schemeClr val="tx1"/>
              </a:solidFill>
              <a:prstDash val="solid"/>
              <a:headEnd type="none" w="med" len="med"/>
              <a:tailEnd type="triangle" w="med" len="med"/>
            </a:ln>
          </p:spPr>
        </p:sp>
        <p:sp>
          <p:nvSpPr>
            <p:cNvPr id="53262" name="Line 22"/>
            <p:cNvSpPr/>
            <p:nvPr/>
          </p:nvSpPr>
          <p:spPr>
            <a:xfrm flipV="1">
              <a:off x="1548" y="2183"/>
              <a:ext cx="0" cy="1270"/>
            </a:xfrm>
            <a:prstGeom prst="line">
              <a:avLst/>
            </a:prstGeom>
            <a:ln w="12700" cap="flat" cmpd="sng">
              <a:solidFill>
                <a:schemeClr val="tx1"/>
              </a:solidFill>
              <a:prstDash val="solid"/>
              <a:headEnd type="none" w="med" len="med"/>
              <a:tailEnd type="triangle" w="med" len="med"/>
            </a:ln>
          </p:spPr>
        </p:sp>
        <p:sp>
          <p:nvSpPr>
            <p:cNvPr id="53263" name="Line 23"/>
            <p:cNvSpPr/>
            <p:nvPr/>
          </p:nvSpPr>
          <p:spPr>
            <a:xfrm flipV="1">
              <a:off x="1202" y="2546"/>
              <a:ext cx="725" cy="567"/>
            </a:xfrm>
            <a:prstGeom prst="line">
              <a:avLst/>
            </a:prstGeom>
            <a:ln w="25400" cap="flat" cmpd="sng">
              <a:solidFill>
                <a:srgbClr val="FF00FF"/>
              </a:solidFill>
              <a:prstDash val="solid"/>
              <a:headEnd type="none" w="med" len="med"/>
              <a:tailEnd type="none" w="med" len="med"/>
            </a:ln>
          </p:spPr>
        </p:sp>
        <p:sp>
          <p:nvSpPr>
            <p:cNvPr id="53264" name="Line 24"/>
            <p:cNvSpPr/>
            <p:nvPr/>
          </p:nvSpPr>
          <p:spPr>
            <a:xfrm>
              <a:off x="1066" y="2546"/>
              <a:ext cx="975" cy="0"/>
            </a:xfrm>
            <a:prstGeom prst="line">
              <a:avLst/>
            </a:prstGeom>
            <a:ln w="12700" cap="flat" cmpd="sng">
              <a:solidFill>
                <a:srgbClr val="0000FF"/>
              </a:solidFill>
              <a:prstDash val="dash"/>
              <a:headEnd type="none" w="med" len="med"/>
              <a:tailEnd type="none" w="med" len="med"/>
            </a:ln>
          </p:spPr>
        </p:sp>
        <p:sp>
          <p:nvSpPr>
            <p:cNvPr id="53265" name="Line 25"/>
            <p:cNvSpPr/>
            <p:nvPr/>
          </p:nvSpPr>
          <p:spPr>
            <a:xfrm>
              <a:off x="1066" y="3113"/>
              <a:ext cx="975" cy="0"/>
            </a:xfrm>
            <a:prstGeom prst="line">
              <a:avLst/>
            </a:prstGeom>
            <a:ln w="12700" cap="flat" cmpd="sng">
              <a:solidFill>
                <a:srgbClr val="0000FF"/>
              </a:solidFill>
              <a:prstDash val="dash"/>
              <a:headEnd type="none" w="med" len="med"/>
              <a:tailEnd type="none" w="med" len="med"/>
            </a:ln>
          </p:spPr>
        </p:sp>
        <p:sp>
          <p:nvSpPr>
            <p:cNvPr id="53266" name="Line 26"/>
            <p:cNvSpPr/>
            <p:nvPr/>
          </p:nvSpPr>
          <p:spPr>
            <a:xfrm flipV="1">
              <a:off x="1202" y="2546"/>
              <a:ext cx="0" cy="567"/>
            </a:xfrm>
            <a:prstGeom prst="line">
              <a:avLst/>
            </a:prstGeom>
            <a:ln w="25400" cap="flat" cmpd="sng">
              <a:solidFill>
                <a:srgbClr val="FF00FF"/>
              </a:solidFill>
              <a:prstDash val="solid"/>
              <a:headEnd type="none" w="med" len="med"/>
              <a:tailEnd type="none" w="med" len="med"/>
            </a:ln>
          </p:spPr>
        </p:sp>
        <p:sp>
          <p:nvSpPr>
            <p:cNvPr id="53267" name="Line 27"/>
            <p:cNvSpPr/>
            <p:nvPr/>
          </p:nvSpPr>
          <p:spPr>
            <a:xfrm flipV="1">
              <a:off x="657" y="2542"/>
              <a:ext cx="545" cy="567"/>
            </a:xfrm>
            <a:prstGeom prst="line">
              <a:avLst/>
            </a:prstGeom>
            <a:ln w="25400" cap="flat" cmpd="sng">
              <a:solidFill>
                <a:srgbClr val="FF00FF"/>
              </a:solidFill>
              <a:prstDash val="solid"/>
              <a:headEnd type="none" w="med" len="med"/>
              <a:tailEnd type="none" w="med" len="med"/>
            </a:ln>
          </p:spPr>
        </p:sp>
        <p:sp>
          <p:nvSpPr>
            <p:cNvPr id="53268" name="Line 28"/>
            <p:cNvSpPr/>
            <p:nvPr/>
          </p:nvSpPr>
          <p:spPr>
            <a:xfrm flipV="1">
              <a:off x="657" y="2546"/>
              <a:ext cx="0" cy="567"/>
            </a:xfrm>
            <a:prstGeom prst="line">
              <a:avLst/>
            </a:prstGeom>
            <a:ln w="25400" cap="flat" cmpd="sng">
              <a:solidFill>
                <a:srgbClr val="FF00FF"/>
              </a:solidFill>
              <a:prstDash val="solid"/>
              <a:headEnd type="none" w="med" len="med"/>
              <a:tailEnd type="none" w="med" len="med"/>
            </a:ln>
          </p:spPr>
        </p:sp>
        <p:sp>
          <p:nvSpPr>
            <p:cNvPr id="53269" name="Line 29"/>
            <p:cNvSpPr/>
            <p:nvPr/>
          </p:nvSpPr>
          <p:spPr>
            <a:xfrm>
              <a:off x="664" y="2546"/>
              <a:ext cx="0" cy="0"/>
            </a:xfrm>
            <a:prstGeom prst="line">
              <a:avLst/>
            </a:prstGeom>
            <a:ln w="9525" cap="flat" cmpd="sng">
              <a:solidFill>
                <a:srgbClr val="FF6600"/>
              </a:solidFill>
              <a:prstDash val="solid"/>
              <a:headEnd type="none" w="med" len="med"/>
              <a:tailEnd type="none" w="med" len="med"/>
            </a:ln>
            <a:effectLst>
              <a:outerShdw dist="107763" dir="13499999" algn="ctr" rotWithShape="0">
                <a:schemeClr val="bg2"/>
              </a:outerShdw>
            </a:effectLst>
          </p:spPr>
        </p:sp>
        <p:sp>
          <p:nvSpPr>
            <p:cNvPr id="53270" name="Line 30"/>
            <p:cNvSpPr/>
            <p:nvPr/>
          </p:nvSpPr>
          <p:spPr>
            <a:xfrm flipV="1">
              <a:off x="385" y="2546"/>
              <a:ext cx="272" cy="408"/>
            </a:xfrm>
            <a:prstGeom prst="line">
              <a:avLst/>
            </a:prstGeom>
            <a:ln w="25400" cap="flat" cmpd="sng">
              <a:solidFill>
                <a:srgbClr val="FF00FF"/>
              </a:solidFill>
              <a:prstDash val="solid"/>
              <a:headEnd type="none" w="med" len="med"/>
              <a:tailEnd type="none" w="med" len="med"/>
            </a:ln>
          </p:spPr>
        </p:sp>
        <p:sp>
          <p:nvSpPr>
            <p:cNvPr id="53271" name="Line 31"/>
            <p:cNvSpPr/>
            <p:nvPr/>
          </p:nvSpPr>
          <p:spPr>
            <a:xfrm flipV="1">
              <a:off x="2177" y="2542"/>
              <a:ext cx="0" cy="567"/>
            </a:xfrm>
            <a:prstGeom prst="line">
              <a:avLst/>
            </a:prstGeom>
            <a:ln w="25400" cap="flat" cmpd="sng">
              <a:solidFill>
                <a:srgbClr val="FF00FF"/>
              </a:solidFill>
              <a:prstDash val="solid"/>
              <a:headEnd type="none" w="med" len="med"/>
              <a:tailEnd type="none" w="med" len="med"/>
            </a:ln>
          </p:spPr>
        </p:sp>
        <p:sp>
          <p:nvSpPr>
            <p:cNvPr id="53272" name="Line 32"/>
            <p:cNvSpPr/>
            <p:nvPr/>
          </p:nvSpPr>
          <p:spPr>
            <a:xfrm flipV="1">
              <a:off x="1927" y="2546"/>
              <a:ext cx="0" cy="567"/>
            </a:xfrm>
            <a:prstGeom prst="line">
              <a:avLst/>
            </a:prstGeom>
            <a:ln w="25400" cap="flat" cmpd="sng">
              <a:solidFill>
                <a:srgbClr val="FF00FF"/>
              </a:solidFill>
              <a:prstDash val="solid"/>
              <a:headEnd type="none" w="med" len="med"/>
              <a:tailEnd type="none" w="med" len="med"/>
            </a:ln>
          </p:spPr>
        </p:sp>
        <p:sp>
          <p:nvSpPr>
            <p:cNvPr id="53273" name="Line 33"/>
            <p:cNvSpPr/>
            <p:nvPr/>
          </p:nvSpPr>
          <p:spPr>
            <a:xfrm flipV="1">
              <a:off x="1927" y="2546"/>
              <a:ext cx="250" cy="563"/>
            </a:xfrm>
            <a:prstGeom prst="line">
              <a:avLst/>
            </a:prstGeom>
            <a:ln w="25400" cap="flat" cmpd="sng">
              <a:solidFill>
                <a:srgbClr val="FF00FF"/>
              </a:solidFill>
              <a:prstDash val="solid"/>
              <a:headEnd type="none" w="med" len="med"/>
              <a:tailEnd type="none" w="med" len="med"/>
            </a:ln>
          </p:spPr>
        </p:sp>
        <p:sp>
          <p:nvSpPr>
            <p:cNvPr id="53274" name="Line 34"/>
            <p:cNvSpPr/>
            <p:nvPr/>
          </p:nvSpPr>
          <p:spPr>
            <a:xfrm flipV="1">
              <a:off x="2177" y="2659"/>
              <a:ext cx="431" cy="446"/>
            </a:xfrm>
            <a:prstGeom prst="line">
              <a:avLst/>
            </a:prstGeom>
            <a:ln w="25400" cap="flat" cmpd="sng">
              <a:solidFill>
                <a:srgbClr val="FF00FF"/>
              </a:solidFill>
              <a:prstDash val="solid"/>
              <a:headEnd type="none" w="med" len="med"/>
              <a:tailEnd type="none" w="med" len="med"/>
            </a:ln>
          </p:spPr>
        </p:sp>
        <p:sp>
          <p:nvSpPr>
            <p:cNvPr id="53275" name="Text Box 125"/>
            <p:cNvSpPr txBox="1"/>
            <p:nvPr/>
          </p:nvSpPr>
          <p:spPr>
            <a:xfrm>
              <a:off x="2585" y="2682"/>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t</a:t>
              </a:r>
              <a:endParaRPr lang="en-US" altLang="zh-CN" sz="2400" b="1" i="1">
                <a:solidFill>
                  <a:srgbClr val="FF0000"/>
                </a:solidFill>
                <a:latin typeface="Times New Roman" panose="02020603050405020304" pitchFamily="18" charset="0"/>
              </a:endParaRPr>
            </a:p>
          </p:txBody>
        </p:sp>
        <p:sp>
          <p:nvSpPr>
            <p:cNvPr id="53276" name="Text Box 127"/>
            <p:cNvSpPr txBox="1"/>
            <p:nvPr/>
          </p:nvSpPr>
          <p:spPr>
            <a:xfrm>
              <a:off x="1433" y="3068"/>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3277" name="Text Box 128"/>
            <p:cNvSpPr txBox="1"/>
            <p:nvPr/>
          </p:nvSpPr>
          <p:spPr>
            <a:xfrm>
              <a:off x="1406" y="2296"/>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3278" name="Text Box 129"/>
            <p:cNvSpPr txBox="1"/>
            <p:nvPr/>
          </p:nvSpPr>
          <p:spPr>
            <a:xfrm>
              <a:off x="1656"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2</a:t>
              </a:r>
              <a:endParaRPr lang="en-US" altLang="zh-CN" sz="2000" b="1" i="1" baseline="-25000">
                <a:solidFill>
                  <a:srgbClr val="FF0000"/>
                </a:solidFill>
                <a:latin typeface="Times New Roman" panose="02020603050405020304" pitchFamily="18" charset="0"/>
              </a:endParaRPr>
            </a:p>
          </p:txBody>
        </p:sp>
        <p:sp>
          <p:nvSpPr>
            <p:cNvPr id="53279" name="Text Box 130"/>
            <p:cNvSpPr txBox="1"/>
            <p:nvPr/>
          </p:nvSpPr>
          <p:spPr>
            <a:xfrm>
              <a:off x="907"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1</a:t>
              </a:r>
              <a:endParaRPr lang="en-US" altLang="zh-CN" sz="2000" b="1" i="1" baseline="-25000">
                <a:solidFill>
                  <a:srgbClr val="FF0000"/>
                </a:solidFill>
                <a:latin typeface="Times New Roman" panose="02020603050405020304" pitchFamily="18" charset="0"/>
              </a:endParaRPr>
            </a:p>
          </p:txBody>
        </p:sp>
      </p:grpSp>
      <p:sp>
        <p:nvSpPr>
          <p:cNvPr id="2299013" name="Text Box 133"/>
          <p:cNvSpPr txBox="1"/>
          <p:nvPr/>
        </p:nvSpPr>
        <p:spPr>
          <a:xfrm>
            <a:off x="4113213" y="3392488"/>
            <a:ext cx="4922837" cy="396875"/>
          </a:xfrm>
          <a:prstGeom prst="rect">
            <a:avLst/>
          </a:prstGeom>
          <a:noFill/>
          <a:ln w="9525">
            <a:noFill/>
          </a:ln>
        </p:spPr>
        <p:txBody>
          <a:bodyPr>
            <a:spAutoFit/>
          </a:bodyPr>
          <a:p>
            <a:pPr algn="l" eaLnBrk="1" hangingPunct="1">
              <a:buNone/>
            </a:pPr>
            <a:r>
              <a:rPr lang="zh-CN" altLang="en-US" sz="2000" b="1" dirty="0">
                <a:solidFill>
                  <a:srgbClr val="333399"/>
                </a:solidFill>
                <a:latin typeface="黑体" panose="02010609060101010101" pitchFamily="49" charset="-122"/>
                <a:ea typeface="黑体" panose="02010609060101010101" pitchFamily="49" charset="-122"/>
              </a:rPr>
              <a:t>设</a:t>
            </a:r>
            <a:r>
              <a:rPr lang="en-US" altLang="zh-CN" sz="2000" b="1" i="1">
                <a:solidFill>
                  <a:srgbClr val="FF0000"/>
                </a:solidFill>
                <a:latin typeface="Times New Roman" panose="02020603050405020304" pitchFamily="18" charset="0"/>
                <a:ea typeface="黑体" panose="02010609060101010101" pitchFamily="49" charset="-122"/>
              </a:rPr>
              <a:t>α</a:t>
            </a:r>
            <a:r>
              <a:rPr lang="zh-CN" altLang="en-US" sz="2000" b="1" dirty="0">
                <a:solidFill>
                  <a:srgbClr val="333399"/>
                </a:solidFill>
                <a:latin typeface="黑体" panose="02010609060101010101" pitchFamily="49" charset="-122"/>
                <a:ea typeface="黑体" panose="02010609060101010101" pitchFamily="49" charset="-122"/>
              </a:rPr>
              <a:t>为时间间隔</a:t>
            </a:r>
            <a:r>
              <a:rPr lang="en-US" altLang="zh-CN" sz="2000" b="1">
                <a:solidFill>
                  <a:srgbClr val="FF0000"/>
                </a:solidFill>
                <a:latin typeface="Times New Roman" panose="02020603050405020304" pitchFamily="18" charset="0"/>
                <a:ea typeface="黑体" panose="02010609060101010101" pitchFamily="49" charset="-122"/>
              </a:rPr>
              <a:t>-</a:t>
            </a:r>
            <a:r>
              <a:rPr lang="en-US" altLang="zh-CN" sz="2000" b="1" i="1">
                <a:solidFill>
                  <a:srgbClr val="FF0000"/>
                </a:solidFill>
                <a:latin typeface="Times New Roman" panose="02020603050405020304" pitchFamily="18" charset="0"/>
                <a:ea typeface="黑体" panose="02010609060101010101" pitchFamily="49" charset="-122"/>
              </a:rPr>
              <a:t>t</a:t>
            </a:r>
            <a:r>
              <a:rPr lang="en-US" altLang="zh-CN" sz="2000" b="1" baseline="-25000">
                <a:solidFill>
                  <a:srgbClr val="FF0000"/>
                </a:solidFill>
                <a:latin typeface="Times New Roman" panose="02020603050405020304" pitchFamily="18" charset="0"/>
                <a:ea typeface="黑体" panose="02010609060101010101" pitchFamily="49" charset="-122"/>
              </a:rPr>
              <a:t>1</a:t>
            </a:r>
            <a:r>
              <a:rPr lang="zh-CN" altLang="en-US" sz="2000" b="1" dirty="0">
                <a:solidFill>
                  <a:srgbClr val="FF0000"/>
                </a:solidFill>
                <a:latin typeface="Times New Roman" panose="02020603050405020304" pitchFamily="18" charset="0"/>
                <a:ea typeface="黑体" panose="02010609060101010101" pitchFamily="49" charset="-122"/>
              </a:rPr>
              <a:t>～</a:t>
            </a:r>
            <a:r>
              <a:rPr lang="en-US" altLang="zh-CN" sz="2000" b="1" i="1">
                <a:solidFill>
                  <a:srgbClr val="FF0000"/>
                </a:solidFill>
                <a:latin typeface="Times New Roman" panose="02020603050405020304" pitchFamily="18" charset="0"/>
                <a:ea typeface="黑体" panose="02010609060101010101" pitchFamily="49" charset="-122"/>
              </a:rPr>
              <a:t>t</a:t>
            </a:r>
            <a:r>
              <a:rPr lang="en-US" altLang="zh-CN" sz="2000" b="1" baseline="-25000">
                <a:solidFill>
                  <a:srgbClr val="FF0000"/>
                </a:solidFill>
                <a:latin typeface="Times New Roman" panose="02020603050405020304" pitchFamily="18" charset="0"/>
                <a:ea typeface="黑体" panose="02010609060101010101" pitchFamily="49" charset="-122"/>
              </a:rPr>
              <a:t>2</a:t>
            </a:r>
            <a:r>
              <a:rPr lang="en-US" altLang="zh-CN" sz="2000" b="1" baseline="-25000">
                <a:solidFill>
                  <a:srgbClr val="333399"/>
                </a:solidFill>
                <a:latin typeface="黑体" panose="02010609060101010101" pitchFamily="49" charset="-122"/>
                <a:ea typeface="黑体" panose="02010609060101010101" pitchFamily="49" charset="-122"/>
              </a:rPr>
              <a:t> </a:t>
            </a:r>
            <a:r>
              <a:rPr lang="zh-CN" altLang="en-US" sz="2000" b="1" dirty="0">
                <a:solidFill>
                  <a:srgbClr val="333399"/>
                </a:solidFill>
                <a:latin typeface="黑体" panose="02010609060101010101" pitchFamily="49" charset="-122"/>
                <a:ea typeface="黑体" panose="02010609060101010101" pitchFamily="49" charset="-122"/>
              </a:rPr>
              <a:t>内直线段的斜率： </a:t>
            </a:r>
            <a:endParaRPr lang="zh-CN" altLang="en-US" sz="2000" b="1" dirty="0">
              <a:solidFill>
                <a:srgbClr val="333399"/>
              </a:solidFill>
              <a:latin typeface="黑体" panose="02010609060101010101" pitchFamily="49" charset="-122"/>
              <a:ea typeface="黑体" panose="02010609060101010101" pitchFamily="49" charset="-122"/>
            </a:endParaRPr>
          </a:p>
        </p:txBody>
      </p:sp>
      <p:graphicFrame>
        <p:nvGraphicFramePr>
          <p:cNvPr id="53257" name="Object 134"/>
          <p:cNvGraphicFramePr>
            <a:graphicFrameLocks noChangeAspect="1"/>
          </p:cNvGraphicFramePr>
          <p:nvPr/>
        </p:nvGraphicFramePr>
        <p:xfrm>
          <a:off x="5184775" y="3854450"/>
          <a:ext cx="2555875" cy="1279525"/>
        </p:xfrm>
        <a:graphic>
          <a:graphicData uri="http://schemas.openxmlformats.org/presentationml/2006/ole">
            <mc:AlternateContent xmlns:mc="http://schemas.openxmlformats.org/markup-compatibility/2006">
              <mc:Choice xmlns:v="urn:schemas-microsoft-com:vml" Requires="v">
                <p:oleObj spid="_x0000_s3163" name="" r:id="rId1" imgW="825500" imgH="609600" progId="Equation.3">
                  <p:embed/>
                </p:oleObj>
              </mc:Choice>
              <mc:Fallback>
                <p:oleObj name="" r:id="rId1" imgW="825500" imgH="609600" progId="Equation.3">
                  <p:embed/>
                  <p:pic>
                    <p:nvPicPr>
                      <p:cNvPr id="0" name="图片 3162"/>
                      <p:cNvPicPr/>
                      <p:nvPr/>
                    </p:nvPicPr>
                    <p:blipFill>
                      <a:blip r:embed="rId2"/>
                      <a:stretch>
                        <a:fillRect/>
                      </a:stretch>
                    </p:blipFill>
                    <p:spPr>
                      <a:xfrm>
                        <a:off x="5184775" y="3854450"/>
                        <a:ext cx="2555875" cy="1279525"/>
                      </a:xfrm>
                      <a:prstGeom prst="rect">
                        <a:avLst/>
                      </a:prstGeom>
                      <a:solidFill>
                        <a:srgbClr val="FFFF99"/>
                      </a:solidFill>
                      <a:ln w="38100">
                        <a:noFill/>
                        <a:miter/>
                      </a:ln>
                    </p:spPr>
                  </p:pic>
                </p:oleObj>
              </mc:Fallback>
            </mc:AlternateContent>
          </a:graphicData>
        </a:graphic>
      </p:graphicFrame>
      <p:graphicFrame>
        <p:nvGraphicFramePr>
          <p:cNvPr id="53258" name="Object 135"/>
          <p:cNvGraphicFramePr>
            <a:graphicFrameLocks noChangeAspect="1"/>
          </p:cNvGraphicFramePr>
          <p:nvPr/>
        </p:nvGraphicFramePr>
        <p:xfrm>
          <a:off x="4616450" y="5303838"/>
          <a:ext cx="2105025" cy="738187"/>
        </p:xfrm>
        <a:graphic>
          <a:graphicData uri="http://schemas.openxmlformats.org/presentationml/2006/ole">
            <mc:AlternateContent xmlns:mc="http://schemas.openxmlformats.org/markup-compatibility/2006">
              <mc:Choice xmlns:v="urn:schemas-microsoft-com:vml" Requires="v">
                <p:oleObj spid="_x0000_s3162" name="" r:id="rId3" imgW="711200" imgH="393700" progId="Equation.3">
                  <p:embed/>
                </p:oleObj>
              </mc:Choice>
              <mc:Fallback>
                <p:oleObj name="" r:id="rId3" imgW="711200" imgH="393700" progId="Equation.3">
                  <p:embed/>
                  <p:pic>
                    <p:nvPicPr>
                      <p:cNvPr id="0" name="图片 3161"/>
                      <p:cNvPicPr/>
                      <p:nvPr/>
                    </p:nvPicPr>
                    <p:blipFill>
                      <a:blip r:embed="rId4"/>
                      <a:stretch>
                        <a:fillRect/>
                      </a:stretch>
                    </p:blipFill>
                    <p:spPr>
                      <a:xfrm>
                        <a:off x="4616450" y="5303838"/>
                        <a:ext cx="2105025" cy="738187"/>
                      </a:xfrm>
                      <a:prstGeom prst="rect">
                        <a:avLst/>
                      </a:prstGeom>
                      <a:solidFill>
                        <a:srgbClr val="FFFF99"/>
                      </a:solidFill>
                      <a:ln w="38100">
                        <a:noFill/>
                        <a:miter/>
                      </a:ln>
                    </p:spPr>
                  </p:pic>
                </p:oleObj>
              </mc:Fallback>
            </mc:AlternateContent>
          </a:graphicData>
        </a:graphic>
      </p:graphicFrame>
      <p:graphicFrame>
        <p:nvGraphicFramePr>
          <p:cNvPr id="53259" name="Object 136"/>
          <p:cNvGraphicFramePr>
            <a:graphicFrameLocks noChangeAspect="1"/>
          </p:cNvGraphicFramePr>
          <p:nvPr/>
        </p:nvGraphicFramePr>
        <p:xfrm>
          <a:off x="7027863" y="5291138"/>
          <a:ext cx="1504950" cy="750887"/>
        </p:xfrm>
        <a:graphic>
          <a:graphicData uri="http://schemas.openxmlformats.org/presentationml/2006/ole">
            <mc:AlternateContent xmlns:mc="http://schemas.openxmlformats.org/markup-compatibility/2006">
              <mc:Choice xmlns:v="urn:schemas-microsoft-com:vml" Requires="v">
                <p:oleObj spid="_x0000_s3164" name="" r:id="rId5" imgW="508000" imgH="393700" progId="Equation.3">
                  <p:embed/>
                </p:oleObj>
              </mc:Choice>
              <mc:Fallback>
                <p:oleObj name="" r:id="rId5" imgW="508000" imgH="393700" progId="Equation.3">
                  <p:embed/>
                  <p:pic>
                    <p:nvPicPr>
                      <p:cNvPr id="0" name="图片 3163"/>
                      <p:cNvPicPr/>
                      <p:nvPr/>
                    </p:nvPicPr>
                    <p:blipFill>
                      <a:blip r:embed="rId6"/>
                      <a:stretch>
                        <a:fillRect/>
                      </a:stretch>
                    </p:blipFill>
                    <p:spPr>
                      <a:xfrm>
                        <a:off x="7027863" y="5291138"/>
                        <a:ext cx="1504950" cy="750887"/>
                      </a:xfrm>
                      <a:prstGeom prst="rect">
                        <a:avLst/>
                      </a:prstGeom>
                      <a:solidFill>
                        <a:srgbClr val="FFFF99"/>
                      </a:solidFill>
                      <a:ln w="38100">
                        <a:noFill/>
                        <a:miter/>
                      </a:ln>
                    </p:spPr>
                  </p:pic>
                </p:oleObj>
              </mc:Fallback>
            </mc:AlternateContent>
          </a:graphicData>
        </a:graphic>
      </p:graphicFrame>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98893"/>
                                        </p:tgtEl>
                                        <p:attrNameLst>
                                          <p:attrName>style.visibility</p:attrName>
                                        </p:attrNameLst>
                                      </p:cBhvr>
                                      <p:to>
                                        <p:strVal val="visible"/>
                                      </p:to>
                                    </p:set>
                                    <p:animEffect transition="in" filter="dissolve">
                                      <p:cBhvr>
                                        <p:cTn id="7" dur="500"/>
                                        <p:tgtEl>
                                          <p:spTgt spid="22988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98894"/>
                                        </p:tgtEl>
                                        <p:attrNameLst>
                                          <p:attrName>style.visibility</p:attrName>
                                        </p:attrNameLst>
                                      </p:cBhvr>
                                      <p:to>
                                        <p:strVal val="visible"/>
                                      </p:to>
                                    </p:set>
                                    <p:animEffect transition="in" filter="dissolve">
                                      <p:cBhvr>
                                        <p:cTn id="12" dur="500"/>
                                        <p:tgtEl>
                                          <p:spTgt spid="229889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9012"/>
                                        </p:tgtEl>
                                        <p:attrNameLst>
                                          <p:attrName>style.visibility</p:attrName>
                                        </p:attrNameLst>
                                      </p:cBhvr>
                                      <p:to>
                                        <p:strVal val="visible"/>
                                      </p:to>
                                    </p:set>
                                    <p:animEffect transition="in" filter="dissolve">
                                      <p:cBhvr>
                                        <p:cTn id="17" dur="500"/>
                                        <p:tgtEl>
                                          <p:spTgt spid="22990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99013"/>
                                        </p:tgtEl>
                                        <p:attrNameLst>
                                          <p:attrName>style.visibility</p:attrName>
                                        </p:attrNameLst>
                                      </p:cBhvr>
                                      <p:to>
                                        <p:strVal val="visible"/>
                                      </p:to>
                                    </p:set>
                                    <p:animEffect transition="in" filter="dissolve">
                                      <p:cBhvr>
                                        <p:cTn id="22" dur="500"/>
                                        <p:tgtEl>
                                          <p:spTgt spid="22990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3257"/>
                                        </p:tgtEl>
                                        <p:attrNameLst>
                                          <p:attrName>style.visibility</p:attrName>
                                        </p:attrNameLst>
                                      </p:cBhvr>
                                      <p:to>
                                        <p:strVal val="visible"/>
                                      </p:to>
                                    </p:set>
                                    <p:animEffect transition="in" filter="dissolve">
                                      <p:cBhvr>
                                        <p:cTn id="27" dur="500"/>
                                        <p:tgtEl>
                                          <p:spTgt spid="5325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53258"/>
                                        </p:tgtEl>
                                        <p:attrNameLst>
                                          <p:attrName>style.visibility</p:attrName>
                                        </p:attrNameLst>
                                      </p:cBhvr>
                                      <p:to>
                                        <p:strVal val="visible"/>
                                      </p:to>
                                    </p:set>
                                    <p:animEffect transition="in" filter="dissolve">
                                      <p:cBhvr>
                                        <p:cTn id="32" dur="500"/>
                                        <p:tgtEl>
                                          <p:spTgt spid="53258"/>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53259"/>
                                        </p:tgtEl>
                                        <p:attrNameLst>
                                          <p:attrName>style.visibility</p:attrName>
                                        </p:attrNameLst>
                                      </p:cBhvr>
                                      <p:to>
                                        <p:strVal val="visible"/>
                                      </p:to>
                                    </p:set>
                                    <p:animEffect transition="in" filter="dissolve">
                                      <p:cBhvr>
                                        <p:cTn id="37" dur="500"/>
                                        <p:tgtEl>
                                          <p:spTgt spid="53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8893" grpId="0"/>
      <p:bldP spid="2298894" grpId="0" bldLvl="0" animBg="1"/>
      <p:bldP spid="2299013"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4274" name="Text Box 2"/>
          <p:cNvSpPr txBox="1"/>
          <p:nvPr/>
        </p:nvSpPr>
        <p:spPr>
          <a:xfrm>
            <a:off x="755650" y="1376363"/>
            <a:ext cx="7696200"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4.</a:t>
            </a:r>
            <a:r>
              <a:rPr lang="zh-CN" altLang="en-US" sz="2800" b="1" dirty="0">
                <a:solidFill>
                  <a:srgbClr val="333399"/>
                </a:solidFill>
                <a:latin typeface="黑体" panose="02010609060101010101" pitchFamily="49" charset="-122"/>
                <a:ea typeface="黑体" panose="02010609060101010101" pitchFamily="49" charset="-122"/>
              </a:rPr>
              <a:t>量化误差（噪声）与量化器位数的关系</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54275" name="Text Box 3"/>
          <p:cNvSpPr txBox="1"/>
          <p:nvPr/>
        </p:nvSpPr>
        <p:spPr>
          <a:xfrm>
            <a:off x="863600" y="2024063"/>
            <a:ext cx="7551738" cy="1187450"/>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当量化单位与模拟信号幅值相比足够小时，量化信号的每一个台阶都很小，与模拟信号非常接近，量化误差可按一系列在</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1"/>
                </a:solidFill>
                <a:latin typeface="黑体" panose="02010609060101010101" pitchFamily="49" charset="-122"/>
                <a:ea typeface="黑体" panose="02010609060101010101" pitchFamily="49" charset="-122"/>
              </a:rPr>
              <a:t>之间的斜率不同的线性段处理。</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41892" name="Text Box 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1894" name="Text Box 6"/>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54279" name="Group 7"/>
          <p:cNvGrpSpPr/>
          <p:nvPr/>
        </p:nvGrpSpPr>
        <p:grpSpPr>
          <a:xfrm>
            <a:off x="323850" y="3392488"/>
            <a:ext cx="4140200" cy="2281237"/>
            <a:chOff x="385" y="2016"/>
            <a:chExt cx="2608" cy="1437"/>
          </a:xfrm>
        </p:grpSpPr>
        <p:sp>
          <p:nvSpPr>
            <p:cNvPr id="54285" name="Text Box 8"/>
            <p:cNvSpPr txBox="1"/>
            <p:nvPr/>
          </p:nvSpPr>
          <p:spPr>
            <a:xfrm>
              <a:off x="1247" y="2016"/>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54286" name="Line 9"/>
            <p:cNvSpPr/>
            <p:nvPr/>
          </p:nvSpPr>
          <p:spPr>
            <a:xfrm>
              <a:off x="385" y="2841"/>
              <a:ext cx="2336" cy="0"/>
            </a:xfrm>
            <a:prstGeom prst="line">
              <a:avLst/>
            </a:prstGeom>
            <a:ln w="12700" cap="flat" cmpd="sng">
              <a:solidFill>
                <a:schemeClr val="tx1"/>
              </a:solidFill>
              <a:prstDash val="solid"/>
              <a:headEnd type="none" w="med" len="med"/>
              <a:tailEnd type="triangle" w="med" len="med"/>
            </a:ln>
          </p:spPr>
        </p:sp>
        <p:sp>
          <p:nvSpPr>
            <p:cNvPr id="54287" name="Line 10"/>
            <p:cNvSpPr/>
            <p:nvPr/>
          </p:nvSpPr>
          <p:spPr>
            <a:xfrm flipV="1">
              <a:off x="1548" y="2183"/>
              <a:ext cx="0" cy="1270"/>
            </a:xfrm>
            <a:prstGeom prst="line">
              <a:avLst/>
            </a:prstGeom>
            <a:ln w="12700" cap="flat" cmpd="sng">
              <a:solidFill>
                <a:schemeClr val="tx1"/>
              </a:solidFill>
              <a:prstDash val="solid"/>
              <a:headEnd type="none" w="med" len="med"/>
              <a:tailEnd type="triangle" w="med" len="med"/>
            </a:ln>
          </p:spPr>
        </p:sp>
        <p:sp>
          <p:nvSpPr>
            <p:cNvPr id="54288" name="Line 11"/>
            <p:cNvSpPr/>
            <p:nvPr/>
          </p:nvSpPr>
          <p:spPr>
            <a:xfrm flipV="1">
              <a:off x="1202" y="2546"/>
              <a:ext cx="725" cy="567"/>
            </a:xfrm>
            <a:prstGeom prst="line">
              <a:avLst/>
            </a:prstGeom>
            <a:ln w="25400" cap="flat" cmpd="sng">
              <a:solidFill>
                <a:srgbClr val="FF00FF"/>
              </a:solidFill>
              <a:prstDash val="solid"/>
              <a:headEnd type="none" w="med" len="med"/>
              <a:tailEnd type="none" w="med" len="med"/>
            </a:ln>
          </p:spPr>
        </p:sp>
        <p:sp>
          <p:nvSpPr>
            <p:cNvPr id="54289" name="Line 12"/>
            <p:cNvSpPr/>
            <p:nvPr/>
          </p:nvSpPr>
          <p:spPr>
            <a:xfrm>
              <a:off x="1066" y="2546"/>
              <a:ext cx="975" cy="0"/>
            </a:xfrm>
            <a:prstGeom prst="line">
              <a:avLst/>
            </a:prstGeom>
            <a:ln w="12700" cap="flat" cmpd="sng">
              <a:solidFill>
                <a:srgbClr val="0000FF"/>
              </a:solidFill>
              <a:prstDash val="dash"/>
              <a:headEnd type="none" w="med" len="med"/>
              <a:tailEnd type="none" w="med" len="med"/>
            </a:ln>
          </p:spPr>
        </p:sp>
        <p:sp>
          <p:nvSpPr>
            <p:cNvPr id="54290" name="Line 13"/>
            <p:cNvSpPr/>
            <p:nvPr/>
          </p:nvSpPr>
          <p:spPr>
            <a:xfrm>
              <a:off x="1066" y="3113"/>
              <a:ext cx="975" cy="0"/>
            </a:xfrm>
            <a:prstGeom prst="line">
              <a:avLst/>
            </a:prstGeom>
            <a:ln w="12700" cap="flat" cmpd="sng">
              <a:solidFill>
                <a:srgbClr val="0000FF"/>
              </a:solidFill>
              <a:prstDash val="dash"/>
              <a:headEnd type="none" w="med" len="med"/>
              <a:tailEnd type="none" w="med" len="med"/>
            </a:ln>
          </p:spPr>
        </p:sp>
        <p:sp>
          <p:nvSpPr>
            <p:cNvPr id="54291" name="Line 14"/>
            <p:cNvSpPr/>
            <p:nvPr/>
          </p:nvSpPr>
          <p:spPr>
            <a:xfrm flipV="1">
              <a:off x="1202" y="2546"/>
              <a:ext cx="0" cy="567"/>
            </a:xfrm>
            <a:prstGeom prst="line">
              <a:avLst/>
            </a:prstGeom>
            <a:ln w="25400" cap="flat" cmpd="sng">
              <a:solidFill>
                <a:srgbClr val="FF00FF"/>
              </a:solidFill>
              <a:prstDash val="solid"/>
              <a:headEnd type="none" w="med" len="med"/>
              <a:tailEnd type="none" w="med" len="med"/>
            </a:ln>
          </p:spPr>
        </p:sp>
        <p:sp>
          <p:nvSpPr>
            <p:cNvPr id="54292" name="Line 15"/>
            <p:cNvSpPr/>
            <p:nvPr/>
          </p:nvSpPr>
          <p:spPr>
            <a:xfrm flipV="1">
              <a:off x="657" y="2542"/>
              <a:ext cx="545" cy="567"/>
            </a:xfrm>
            <a:prstGeom prst="line">
              <a:avLst/>
            </a:prstGeom>
            <a:ln w="25400" cap="flat" cmpd="sng">
              <a:solidFill>
                <a:srgbClr val="FF00FF"/>
              </a:solidFill>
              <a:prstDash val="solid"/>
              <a:headEnd type="none" w="med" len="med"/>
              <a:tailEnd type="none" w="med" len="med"/>
            </a:ln>
          </p:spPr>
        </p:sp>
        <p:sp>
          <p:nvSpPr>
            <p:cNvPr id="54293" name="Line 16"/>
            <p:cNvSpPr/>
            <p:nvPr/>
          </p:nvSpPr>
          <p:spPr>
            <a:xfrm flipV="1">
              <a:off x="657" y="2546"/>
              <a:ext cx="0" cy="567"/>
            </a:xfrm>
            <a:prstGeom prst="line">
              <a:avLst/>
            </a:prstGeom>
            <a:ln w="25400" cap="flat" cmpd="sng">
              <a:solidFill>
                <a:srgbClr val="FF00FF"/>
              </a:solidFill>
              <a:prstDash val="solid"/>
              <a:headEnd type="none" w="med" len="med"/>
              <a:tailEnd type="none" w="med" len="med"/>
            </a:ln>
          </p:spPr>
        </p:sp>
        <p:sp>
          <p:nvSpPr>
            <p:cNvPr id="54294" name="Line 17"/>
            <p:cNvSpPr/>
            <p:nvPr/>
          </p:nvSpPr>
          <p:spPr>
            <a:xfrm>
              <a:off x="664" y="2546"/>
              <a:ext cx="0" cy="0"/>
            </a:xfrm>
            <a:prstGeom prst="line">
              <a:avLst/>
            </a:prstGeom>
            <a:ln w="9525" cap="flat" cmpd="sng">
              <a:solidFill>
                <a:srgbClr val="FF6600"/>
              </a:solidFill>
              <a:prstDash val="solid"/>
              <a:headEnd type="none" w="med" len="med"/>
              <a:tailEnd type="none" w="med" len="med"/>
            </a:ln>
            <a:effectLst>
              <a:outerShdw dist="107763" dir="13499999" algn="ctr" rotWithShape="0">
                <a:schemeClr val="bg2"/>
              </a:outerShdw>
            </a:effectLst>
          </p:spPr>
        </p:sp>
        <p:sp>
          <p:nvSpPr>
            <p:cNvPr id="54295" name="Line 18"/>
            <p:cNvSpPr/>
            <p:nvPr/>
          </p:nvSpPr>
          <p:spPr>
            <a:xfrm flipV="1">
              <a:off x="385" y="2546"/>
              <a:ext cx="272" cy="408"/>
            </a:xfrm>
            <a:prstGeom prst="line">
              <a:avLst/>
            </a:prstGeom>
            <a:ln w="25400" cap="flat" cmpd="sng">
              <a:solidFill>
                <a:srgbClr val="FF00FF"/>
              </a:solidFill>
              <a:prstDash val="solid"/>
              <a:headEnd type="none" w="med" len="med"/>
              <a:tailEnd type="none" w="med" len="med"/>
            </a:ln>
          </p:spPr>
        </p:sp>
        <p:sp>
          <p:nvSpPr>
            <p:cNvPr id="54296" name="Line 19"/>
            <p:cNvSpPr/>
            <p:nvPr/>
          </p:nvSpPr>
          <p:spPr>
            <a:xfrm flipV="1">
              <a:off x="2177" y="2542"/>
              <a:ext cx="0" cy="567"/>
            </a:xfrm>
            <a:prstGeom prst="line">
              <a:avLst/>
            </a:prstGeom>
            <a:ln w="25400" cap="flat" cmpd="sng">
              <a:solidFill>
                <a:srgbClr val="FF00FF"/>
              </a:solidFill>
              <a:prstDash val="solid"/>
              <a:headEnd type="none" w="med" len="med"/>
              <a:tailEnd type="none" w="med" len="med"/>
            </a:ln>
          </p:spPr>
        </p:sp>
        <p:sp>
          <p:nvSpPr>
            <p:cNvPr id="54297" name="Line 20"/>
            <p:cNvSpPr/>
            <p:nvPr/>
          </p:nvSpPr>
          <p:spPr>
            <a:xfrm flipV="1">
              <a:off x="1927" y="2546"/>
              <a:ext cx="0" cy="567"/>
            </a:xfrm>
            <a:prstGeom prst="line">
              <a:avLst/>
            </a:prstGeom>
            <a:ln w="25400" cap="flat" cmpd="sng">
              <a:solidFill>
                <a:srgbClr val="FF00FF"/>
              </a:solidFill>
              <a:prstDash val="solid"/>
              <a:headEnd type="none" w="med" len="med"/>
              <a:tailEnd type="none" w="med" len="med"/>
            </a:ln>
          </p:spPr>
        </p:sp>
        <p:sp>
          <p:nvSpPr>
            <p:cNvPr id="54298" name="Line 21"/>
            <p:cNvSpPr/>
            <p:nvPr/>
          </p:nvSpPr>
          <p:spPr>
            <a:xfrm flipV="1">
              <a:off x="1927" y="2546"/>
              <a:ext cx="250" cy="563"/>
            </a:xfrm>
            <a:prstGeom prst="line">
              <a:avLst/>
            </a:prstGeom>
            <a:ln w="25400" cap="flat" cmpd="sng">
              <a:solidFill>
                <a:srgbClr val="FF00FF"/>
              </a:solidFill>
              <a:prstDash val="solid"/>
              <a:headEnd type="none" w="med" len="med"/>
              <a:tailEnd type="none" w="med" len="med"/>
            </a:ln>
          </p:spPr>
        </p:sp>
        <p:sp>
          <p:nvSpPr>
            <p:cNvPr id="54299" name="Line 22"/>
            <p:cNvSpPr/>
            <p:nvPr/>
          </p:nvSpPr>
          <p:spPr>
            <a:xfrm flipV="1">
              <a:off x="2177" y="2659"/>
              <a:ext cx="431" cy="446"/>
            </a:xfrm>
            <a:prstGeom prst="line">
              <a:avLst/>
            </a:prstGeom>
            <a:ln w="25400" cap="flat" cmpd="sng">
              <a:solidFill>
                <a:srgbClr val="FF00FF"/>
              </a:solidFill>
              <a:prstDash val="solid"/>
              <a:headEnd type="none" w="med" len="med"/>
              <a:tailEnd type="none" w="med" len="med"/>
            </a:ln>
          </p:spPr>
        </p:sp>
        <p:sp>
          <p:nvSpPr>
            <p:cNvPr id="54300" name="Text Box 23"/>
            <p:cNvSpPr txBox="1"/>
            <p:nvPr/>
          </p:nvSpPr>
          <p:spPr>
            <a:xfrm>
              <a:off x="2585" y="2682"/>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t</a:t>
              </a:r>
              <a:endParaRPr lang="en-US" altLang="zh-CN" sz="2400" b="1" i="1">
                <a:solidFill>
                  <a:srgbClr val="FF0000"/>
                </a:solidFill>
                <a:latin typeface="Times New Roman" panose="02020603050405020304" pitchFamily="18" charset="0"/>
              </a:endParaRPr>
            </a:p>
          </p:txBody>
        </p:sp>
        <p:sp>
          <p:nvSpPr>
            <p:cNvPr id="54301" name="Text Box 24"/>
            <p:cNvSpPr txBox="1"/>
            <p:nvPr/>
          </p:nvSpPr>
          <p:spPr>
            <a:xfrm>
              <a:off x="1433" y="3068"/>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4302" name="Text Box 25"/>
            <p:cNvSpPr txBox="1"/>
            <p:nvPr/>
          </p:nvSpPr>
          <p:spPr>
            <a:xfrm>
              <a:off x="1406" y="2296"/>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4303" name="Text Box 26"/>
            <p:cNvSpPr txBox="1"/>
            <p:nvPr/>
          </p:nvSpPr>
          <p:spPr>
            <a:xfrm>
              <a:off x="1656"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2</a:t>
              </a:r>
              <a:endParaRPr lang="en-US" altLang="zh-CN" sz="2000" b="1" i="1" baseline="-25000">
                <a:solidFill>
                  <a:srgbClr val="FF0000"/>
                </a:solidFill>
                <a:latin typeface="Times New Roman" panose="02020603050405020304" pitchFamily="18" charset="0"/>
              </a:endParaRPr>
            </a:p>
          </p:txBody>
        </p:sp>
        <p:sp>
          <p:nvSpPr>
            <p:cNvPr id="54304" name="Text Box 27"/>
            <p:cNvSpPr txBox="1"/>
            <p:nvPr/>
          </p:nvSpPr>
          <p:spPr>
            <a:xfrm>
              <a:off x="907"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1</a:t>
              </a:r>
              <a:endParaRPr lang="en-US" altLang="zh-CN" sz="2000" b="1" i="1" baseline="-25000">
                <a:solidFill>
                  <a:srgbClr val="FF0000"/>
                </a:solidFill>
                <a:latin typeface="Times New Roman" panose="02020603050405020304" pitchFamily="18" charset="0"/>
              </a:endParaRPr>
            </a:p>
          </p:txBody>
        </p:sp>
      </p:grpSp>
      <p:sp>
        <p:nvSpPr>
          <p:cNvPr id="2341920" name="Text Box 32"/>
          <p:cNvSpPr txBox="1"/>
          <p:nvPr/>
        </p:nvSpPr>
        <p:spPr>
          <a:xfrm>
            <a:off x="4464050" y="3397250"/>
            <a:ext cx="4403725" cy="457200"/>
          </a:xfrm>
          <a:prstGeom prst="rect">
            <a:avLst/>
          </a:prstGeom>
          <a:noFill/>
          <a:ln w="9525">
            <a:noFill/>
          </a:ln>
        </p:spPr>
        <p:txBody>
          <a:bodyPr>
            <a:spAutoFit/>
          </a:bodyPr>
          <a:p>
            <a:pPr algn="l" eaLnBrk="1" hangingPunct="1">
              <a:buNone/>
            </a:pPr>
            <a:r>
              <a:rPr lang="zh-CN" altLang="en-US" sz="2400" b="1" dirty="0">
                <a:solidFill>
                  <a:srgbClr val="333399"/>
                </a:solidFill>
                <a:latin typeface="黑体" panose="02010609060101010101" pitchFamily="49" charset="-122"/>
                <a:ea typeface="黑体" panose="02010609060101010101" pitchFamily="49" charset="-122"/>
              </a:rPr>
              <a:t>误差</a:t>
            </a:r>
            <a:r>
              <a:rPr lang="en-US" altLang="zh-CN" sz="2400" b="1" i="1">
                <a:solidFill>
                  <a:srgbClr val="FF0000"/>
                </a:solidFill>
                <a:latin typeface="Times New Roman" panose="02020603050405020304" pitchFamily="18" charset="0"/>
                <a:ea typeface="黑体" panose="02010609060101010101" pitchFamily="49" charset="-122"/>
              </a:rPr>
              <a:t>e</a:t>
            </a:r>
            <a:r>
              <a:rPr lang="en-US" altLang="zh-CN" sz="2400" b="1">
                <a:solidFill>
                  <a:srgbClr val="FF0000"/>
                </a:solidFill>
                <a:latin typeface="Times New Roman" panose="02020603050405020304" pitchFamily="18" charset="0"/>
                <a:ea typeface="黑体" panose="02010609060101010101" pitchFamily="49" charset="-122"/>
              </a:rPr>
              <a:t> =</a:t>
            </a:r>
            <a:r>
              <a:rPr lang="en-US" altLang="zh-CN" sz="2400" b="1" i="1" err="1">
                <a:solidFill>
                  <a:srgbClr val="FF0000"/>
                </a:solidFill>
                <a:latin typeface="Times New Roman" panose="02020603050405020304" pitchFamily="18" charset="0"/>
                <a:ea typeface="黑体" panose="02010609060101010101" pitchFamily="49" charset="-122"/>
              </a:rPr>
              <a:t>αt</a:t>
            </a:r>
            <a:r>
              <a:rPr lang="zh-CN" altLang="en-US" sz="2400" b="1" dirty="0">
                <a:solidFill>
                  <a:srgbClr val="333399"/>
                </a:solidFill>
                <a:latin typeface="黑体" panose="02010609060101010101" pitchFamily="49" charset="-122"/>
                <a:ea typeface="黑体" panose="02010609060101010101" pitchFamily="49" charset="-122"/>
              </a:rPr>
              <a:t>，则其方差为：</a:t>
            </a:r>
            <a:endParaRPr lang="zh-CN" altLang="en-US" sz="2400" b="1" dirty="0">
              <a:solidFill>
                <a:srgbClr val="333399"/>
              </a:solidFill>
              <a:latin typeface="黑体" panose="02010609060101010101" pitchFamily="49" charset="-122"/>
              <a:ea typeface="黑体" panose="02010609060101010101" pitchFamily="49" charset="-122"/>
            </a:endParaRPr>
          </a:p>
        </p:txBody>
      </p:sp>
      <p:grpSp>
        <p:nvGrpSpPr>
          <p:cNvPr id="2341924" name="Group 36"/>
          <p:cNvGrpSpPr/>
          <p:nvPr/>
        </p:nvGrpSpPr>
        <p:grpSpPr>
          <a:xfrm>
            <a:off x="4392613" y="3932238"/>
            <a:ext cx="4572000" cy="2160587"/>
            <a:chOff x="2784" y="2500"/>
            <a:chExt cx="2880" cy="1361"/>
          </a:xfrm>
        </p:grpSpPr>
        <p:sp>
          <p:nvSpPr>
            <p:cNvPr id="54282" name="Rectangle 35"/>
            <p:cNvSpPr/>
            <p:nvPr/>
          </p:nvSpPr>
          <p:spPr>
            <a:xfrm>
              <a:off x="2784" y="2500"/>
              <a:ext cx="2880" cy="1361"/>
            </a:xfrm>
            <a:prstGeom prst="rect">
              <a:avLst/>
            </a:prstGeom>
            <a:solidFill>
              <a:srgbClr val="FFFF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graphicFrame>
          <p:nvGraphicFramePr>
            <p:cNvPr id="54283" name="Object 33"/>
            <p:cNvGraphicFramePr>
              <a:graphicFrameLocks noChangeAspect="1"/>
            </p:cNvGraphicFramePr>
            <p:nvPr/>
          </p:nvGraphicFramePr>
          <p:xfrm>
            <a:off x="2837" y="2545"/>
            <a:ext cx="2749" cy="623"/>
          </p:xfrm>
          <a:graphic>
            <a:graphicData uri="http://schemas.openxmlformats.org/presentationml/2006/ole">
              <mc:AlternateContent xmlns:mc="http://schemas.openxmlformats.org/markup-compatibility/2006">
                <mc:Choice xmlns:v="urn:schemas-microsoft-com:vml" Requires="v">
                  <p:oleObj spid="_x0000_s3158" name="" r:id="rId1" imgW="2197100" imgH="457200" progId="Equation.3">
                    <p:embed/>
                  </p:oleObj>
                </mc:Choice>
                <mc:Fallback>
                  <p:oleObj name="" r:id="rId1" imgW="2197100" imgH="457200" progId="Equation.3">
                    <p:embed/>
                    <p:pic>
                      <p:nvPicPr>
                        <p:cNvPr id="0" name="图片 3157"/>
                        <p:cNvPicPr/>
                        <p:nvPr/>
                      </p:nvPicPr>
                      <p:blipFill>
                        <a:blip r:embed="rId2"/>
                        <a:stretch>
                          <a:fillRect/>
                        </a:stretch>
                      </p:blipFill>
                      <p:spPr>
                        <a:xfrm>
                          <a:off x="2837" y="2545"/>
                          <a:ext cx="2749" cy="623"/>
                        </a:xfrm>
                        <a:prstGeom prst="rect">
                          <a:avLst/>
                        </a:prstGeom>
                        <a:noFill/>
                        <a:ln w="38100">
                          <a:noFill/>
                          <a:miter/>
                        </a:ln>
                      </p:spPr>
                    </p:pic>
                  </p:oleObj>
                </mc:Fallback>
              </mc:AlternateContent>
            </a:graphicData>
          </a:graphic>
        </p:graphicFrame>
        <p:graphicFrame>
          <p:nvGraphicFramePr>
            <p:cNvPr id="54284" name="Object 34"/>
            <p:cNvGraphicFramePr>
              <a:graphicFrameLocks noChangeAspect="1"/>
            </p:cNvGraphicFramePr>
            <p:nvPr/>
          </p:nvGraphicFramePr>
          <p:xfrm>
            <a:off x="3100" y="3203"/>
            <a:ext cx="1594" cy="604"/>
          </p:xfrm>
          <a:graphic>
            <a:graphicData uri="http://schemas.openxmlformats.org/presentationml/2006/ole">
              <mc:AlternateContent xmlns:mc="http://schemas.openxmlformats.org/markup-compatibility/2006">
                <mc:Choice xmlns:v="urn:schemas-microsoft-com:vml" Requires="v">
                  <p:oleObj spid="_x0000_s3160" name="" r:id="rId3" imgW="1256665" imgH="444500" progId="Equation.3">
                    <p:embed/>
                  </p:oleObj>
                </mc:Choice>
                <mc:Fallback>
                  <p:oleObj name="" r:id="rId3" imgW="1256665" imgH="444500" progId="Equation.3">
                    <p:embed/>
                    <p:pic>
                      <p:nvPicPr>
                        <p:cNvPr id="0" name="图片 3159"/>
                        <p:cNvPicPr/>
                        <p:nvPr/>
                      </p:nvPicPr>
                      <p:blipFill>
                        <a:blip r:embed="rId4"/>
                        <a:stretch>
                          <a:fillRect/>
                        </a:stretch>
                      </p:blipFill>
                      <p:spPr>
                        <a:xfrm>
                          <a:off x="3100" y="3203"/>
                          <a:ext cx="1594" cy="604"/>
                        </a:xfrm>
                        <a:prstGeom prst="rect">
                          <a:avLst/>
                        </a:prstGeom>
                        <a:noFill/>
                        <a:ln w="38100">
                          <a:noFill/>
                          <a:miter/>
                        </a:ln>
                      </p:spPr>
                    </p:pic>
                  </p:oleObj>
                </mc:Fallback>
              </mc:AlternateContent>
            </a:graphicData>
          </a:graphic>
        </p:graphicFrame>
      </p:gr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41920"/>
                                        </p:tgtEl>
                                        <p:attrNameLst>
                                          <p:attrName>style.visibility</p:attrName>
                                        </p:attrNameLst>
                                      </p:cBhvr>
                                      <p:to>
                                        <p:strVal val="visible"/>
                                      </p:to>
                                    </p:set>
                                    <p:animEffect transition="in" filter="dissolve">
                                      <p:cBhvr>
                                        <p:cTn id="7" dur="500"/>
                                        <p:tgtEl>
                                          <p:spTgt spid="23419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1924"/>
                                        </p:tgtEl>
                                        <p:attrNameLst>
                                          <p:attrName>style.visibility</p:attrName>
                                        </p:attrNameLst>
                                      </p:cBhvr>
                                      <p:to>
                                        <p:strVal val="visible"/>
                                      </p:to>
                                    </p:set>
                                    <p:animEffect transition="in" filter="dissolve">
                                      <p:cBhvr>
                                        <p:cTn id="12" dur="500"/>
                                        <p:tgtEl>
                                          <p:spTgt spid="2341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192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2951" name="Rectangle 39"/>
          <p:cNvSpPr/>
          <p:nvPr/>
        </p:nvSpPr>
        <p:spPr>
          <a:xfrm>
            <a:off x="4464050" y="4006850"/>
            <a:ext cx="4503738" cy="2085975"/>
          </a:xfrm>
          <a:prstGeom prst="rect">
            <a:avLst/>
          </a:prstGeom>
          <a:solidFill>
            <a:srgbClr val="FFFF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graphicFrame>
        <p:nvGraphicFramePr>
          <p:cNvPr id="55299" name="Object 34"/>
          <p:cNvGraphicFramePr>
            <a:graphicFrameLocks noChangeAspect="1"/>
          </p:cNvGraphicFramePr>
          <p:nvPr/>
        </p:nvGraphicFramePr>
        <p:xfrm>
          <a:off x="4464050" y="4006850"/>
          <a:ext cx="4503738" cy="1158875"/>
        </p:xfrm>
        <a:graphic>
          <a:graphicData uri="http://schemas.openxmlformats.org/presentationml/2006/ole">
            <mc:AlternateContent xmlns:mc="http://schemas.openxmlformats.org/markup-compatibility/2006">
              <mc:Choice xmlns:v="urn:schemas-microsoft-com:vml" Requires="v">
                <p:oleObj spid="_x0000_s3188" name="" r:id="rId1" imgW="2082165" imgH="571500" progId="Equation.3">
                  <p:embed/>
                </p:oleObj>
              </mc:Choice>
              <mc:Fallback>
                <p:oleObj name="" r:id="rId1" imgW="2082165" imgH="571500" progId="Equation.3">
                  <p:embed/>
                  <p:pic>
                    <p:nvPicPr>
                      <p:cNvPr id="0" name="图片 3187"/>
                      <p:cNvPicPr/>
                      <p:nvPr/>
                    </p:nvPicPr>
                    <p:blipFill>
                      <a:blip r:embed="rId2"/>
                      <a:stretch>
                        <a:fillRect/>
                      </a:stretch>
                    </p:blipFill>
                    <p:spPr>
                      <a:xfrm>
                        <a:off x="4464050" y="4006850"/>
                        <a:ext cx="4503738" cy="1158875"/>
                      </a:xfrm>
                      <a:prstGeom prst="rect">
                        <a:avLst/>
                      </a:prstGeom>
                      <a:solidFill>
                        <a:srgbClr val="FFFF99"/>
                      </a:solidFill>
                      <a:ln w="38100">
                        <a:noFill/>
                        <a:miter/>
                      </a:ln>
                    </p:spPr>
                  </p:pic>
                </p:oleObj>
              </mc:Fallback>
            </mc:AlternateContent>
          </a:graphicData>
        </a:graphic>
      </p:graphicFrame>
      <p:sp>
        <p:nvSpPr>
          <p:cNvPr id="2342949" name="AutoShape 37"/>
          <p:cNvSpPr/>
          <p:nvPr/>
        </p:nvSpPr>
        <p:spPr>
          <a:xfrm>
            <a:off x="7920038" y="5175250"/>
            <a:ext cx="1044575" cy="717550"/>
          </a:xfrm>
          <a:prstGeom prst="wedgeRoundRectCallout">
            <a:avLst>
              <a:gd name="adj1" fmla="val 3949"/>
              <a:gd name="adj2" fmla="val -83852"/>
              <a:gd name="adj3" fmla="val 16667"/>
            </a:avLst>
          </a:prstGeom>
          <a:solidFill>
            <a:schemeClr val="accent1"/>
          </a:solidFill>
          <a:ln w="9525" cap="flat" cmpd="sng">
            <a:solidFill>
              <a:schemeClr val="tx1"/>
            </a:solidFill>
            <a:prstDash val="solid"/>
            <a:miter/>
            <a:headEnd type="none" w="med" len="med"/>
            <a:tailEnd type="none" w="med" len="med"/>
          </a:ln>
        </p:spPr>
        <p:txBody>
          <a:bodyPr anchor="ctr" anchorCtr="0"/>
          <a:p>
            <a:pPr algn="ctr" eaLnBrk="1" hangingPunct="1"/>
            <a:endParaRPr lang="zh-CN" altLang="zh-CN" b="1" dirty="0">
              <a:solidFill>
                <a:srgbClr val="333399"/>
              </a:solidFill>
              <a:latin typeface="楷体_GB2312" pitchFamily="49" charset="-122"/>
            </a:endParaRPr>
          </a:p>
        </p:txBody>
      </p:sp>
      <p:sp>
        <p:nvSpPr>
          <p:cNvPr id="55301" name="Text Box 2"/>
          <p:cNvSpPr txBox="1"/>
          <p:nvPr/>
        </p:nvSpPr>
        <p:spPr>
          <a:xfrm>
            <a:off x="755650" y="1376363"/>
            <a:ext cx="7696200"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4.</a:t>
            </a:r>
            <a:r>
              <a:rPr lang="zh-CN" altLang="en-US" sz="2800" b="1" dirty="0">
                <a:solidFill>
                  <a:srgbClr val="333399"/>
                </a:solidFill>
                <a:latin typeface="黑体" panose="02010609060101010101" pitchFamily="49" charset="-122"/>
                <a:ea typeface="黑体" panose="02010609060101010101" pitchFamily="49" charset="-122"/>
              </a:rPr>
              <a:t>量化误差（噪声）与量化器位数的关系</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55302" name="Text Box 3"/>
          <p:cNvSpPr txBox="1"/>
          <p:nvPr/>
        </p:nvSpPr>
        <p:spPr>
          <a:xfrm>
            <a:off x="863600" y="2024063"/>
            <a:ext cx="7551738" cy="1187450"/>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当量化单位与模拟信号幅值相比足够小时，量化信号的每一个台阶都很小，与模拟信号非常接近，量化误差可按一系列在</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1"/>
                </a:solidFill>
                <a:latin typeface="黑体" panose="02010609060101010101" pitchFamily="49" charset="-122"/>
                <a:ea typeface="黑体" panose="02010609060101010101" pitchFamily="49" charset="-122"/>
              </a:rPr>
              <a:t>之间的斜率不同的线性段处理。</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42916" name="Text Box 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2918" name="Text Box 6"/>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55306" name="Group 7"/>
          <p:cNvGrpSpPr/>
          <p:nvPr/>
        </p:nvGrpSpPr>
        <p:grpSpPr>
          <a:xfrm>
            <a:off x="323850" y="3392488"/>
            <a:ext cx="4140200" cy="2281237"/>
            <a:chOff x="385" y="2016"/>
            <a:chExt cx="2608" cy="1437"/>
          </a:xfrm>
        </p:grpSpPr>
        <p:sp>
          <p:nvSpPr>
            <p:cNvPr id="55310" name="Text Box 8"/>
            <p:cNvSpPr txBox="1"/>
            <p:nvPr/>
          </p:nvSpPr>
          <p:spPr>
            <a:xfrm>
              <a:off x="1247" y="2016"/>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55311" name="Line 9"/>
            <p:cNvSpPr/>
            <p:nvPr/>
          </p:nvSpPr>
          <p:spPr>
            <a:xfrm>
              <a:off x="385" y="2841"/>
              <a:ext cx="2336" cy="0"/>
            </a:xfrm>
            <a:prstGeom prst="line">
              <a:avLst/>
            </a:prstGeom>
            <a:ln w="12700" cap="flat" cmpd="sng">
              <a:solidFill>
                <a:schemeClr val="tx1"/>
              </a:solidFill>
              <a:prstDash val="solid"/>
              <a:headEnd type="none" w="med" len="med"/>
              <a:tailEnd type="triangle" w="med" len="med"/>
            </a:ln>
          </p:spPr>
        </p:sp>
        <p:sp>
          <p:nvSpPr>
            <p:cNvPr id="55312" name="Line 10"/>
            <p:cNvSpPr/>
            <p:nvPr/>
          </p:nvSpPr>
          <p:spPr>
            <a:xfrm flipV="1">
              <a:off x="1548" y="2183"/>
              <a:ext cx="0" cy="1270"/>
            </a:xfrm>
            <a:prstGeom prst="line">
              <a:avLst/>
            </a:prstGeom>
            <a:ln w="12700" cap="flat" cmpd="sng">
              <a:solidFill>
                <a:schemeClr val="tx1"/>
              </a:solidFill>
              <a:prstDash val="solid"/>
              <a:headEnd type="none" w="med" len="med"/>
              <a:tailEnd type="triangle" w="med" len="med"/>
            </a:ln>
          </p:spPr>
        </p:sp>
        <p:sp>
          <p:nvSpPr>
            <p:cNvPr id="55313" name="Line 11"/>
            <p:cNvSpPr/>
            <p:nvPr/>
          </p:nvSpPr>
          <p:spPr>
            <a:xfrm flipV="1">
              <a:off x="1202" y="2546"/>
              <a:ext cx="725" cy="567"/>
            </a:xfrm>
            <a:prstGeom prst="line">
              <a:avLst/>
            </a:prstGeom>
            <a:ln w="25400" cap="flat" cmpd="sng">
              <a:solidFill>
                <a:srgbClr val="FF00FF"/>
              </a:solidFill>
              <a:prstDash val="solid"/>
              <a:headEnd type="none" w="med" len="med"/>
              <a:tailEnd type="none" w="med" len="med"/>
            </a:ln>
          </p:spPr>
        </p:sp>
        <p:sp>
          <p:nvSpPr>
            <p:cNvPr id="55314" name="Line 12"/>
            <p:cNvSpPr/>
            <p:nvPr/>
          </p:nvSpPr>
          <p:spPr>
            <a:xfrm>
              <a:off x="1066" y="2546"/>
              <a:ext cx="975" cy="0"/>
            </a:xfrm>
            <a:prstGeom prst="line">
              <a:avLst/>
            </a:prstGeom>
            <a:ln w="12700" cap="flat" cmpd="sng">
              <a:solidFill>
                <a:srgbClr val="0000FF"/>
              </a:solidFill>
              <a:prstDash val="dash"/>
              <a:headEnd type="none" w="med" len="med"/>
              <a:tailEnd type="none" w="med" len="med"/>
            </a:ln>
          </p:spPr>
        </p:sp>
        <p:sp>
          <p:nvSpPr>
            <p:cNvPr id="55315" name="Line 13"/>
            <p:cNvSpPr/>
            <p:nvPr/>
          </p:nvSpPr>
          <p:spPr>
            <a:xfrm>
              <a:off x="1066" y="3113"/>
              <a:ext cx="975" cy="0"/>
            </a:xfrm>
            <a:prstGeom prst="line">
              <a:avLst/>
            </a:prstGeom>
            <a:ln w="12700" cap="flat" cmpd="sng">
              <a:solidFill>
                <a:srgbClr val="0000FF"/>
              </a:solidFill>
              <a:prstDash val="dash"/>
              <a:headEnd type="none" w="med" len="med"/>
              <a:tailEnd type="none" w="med" len="med"/>
            </a:ln>
          </p:spPr>
        </p:sp>
        <p:sp>
          <p:nvSpPr>
            <p:cNvPr id="55316" name="Line 14"/>
            <p:cNvSpPr/>
            <p:nvPr/>
          </p:nvSpPr>
          <p:spPr>
            <a:xfrm flipV="1">
              <a:off x="1202" y="2546"/>
              <a:ext cx="0" cy="567"/>
            </a:xfrm>
            <a:prstGeom prst="line">
              <a:avLst/>
            </a:prstGeom>
            <a:ln w="25400" cap="flat" cmpd="sng">
              <a:solidFill>
                <a:srgbClr val="FF00FF"/>
              </a:solidFill>
              <a:prstDash val="solid"/>
              <a:headEnd type="none" w="med" len="med"/>
              <a:tailEnd type="none" w="med" len="med"/>
            </a:ln>
          </p:spPr>
        </p:sp>
        <p:sp>
          <p:nvSpPr>
            <p:cNvPr id="55317" name="Line 15"/>
            <p:cNvSpPr/>
            <p:nvPr/>
          </p:nvSpPr>
          <p:spPr>
            <a:xfrm flipV="1">
              <a:off x="657" y="2542"/>
              <a:ext cx="545" cy="567"/>
            </a:xfrm>
            <a:prstGeom prst="line">
              <a:avLst/>
            </a:prstGeom>
            <a:ln w="25400" cap="flat" cmpd="sng">
              <a:solidFill>
                <a:srgbClr val="FF00FF"/>
              </a:solidFill>
              <a:prstDash val="solid"/>
              <a:headEnd type="none" w="med" len="med"/>
              <a:tailEnd type="none" w="med" len="med"/>
            </a:ln>
          </p:spPr>
        </p:sp>
        <p:sp>
          <p:nvSpPr>
            <p:cNvPr id="55318" name="Line 16"/>
            <p:cNvSpPr/>
            <p:nvPr/>
          </p:nvSpPr>
          <p:spPr>
            <a:xfrm flipV="1">
              <a:off x="657" y="2546"/>
              <a:ext cx="0" cy="567"/>
            </a:xfrm>
            <a:prstGeom prst="line">
              <a:avLst/>
            </a:prstGeom>
            <a:ln w="25400" cap="flat" cmpd="sng">
              <a:solidFill>
                <a:srgbClr val="FF00FF"/>
              </a:solidFill>
              <a:prstDash val="solid"/>
              <a:headEnd type="none" w="med" len="med"/>
              <a:tailEnd type="none" w="med" len="med"/>
            </a:ln>
          </p:spPr>
        </p:sp>
        <p:sp>
          <p:nvSpPr>
            <p:cNvPr id="55319" name="Line 17"/>
            <p:cNvSpPr/>
            <p:nvPr/>
          </p:nvSpPr>
          <p:spPr>
            <a:xfrm>
              <a:off x="664" y="2546"/>
              <a:ext cx="0" cy="0"/>
            </a:xfrm>
            <a:prstGeom prst="line">
              <a:avLst/>
            </a:prstGeom>
            <a:ln w="9525" cap="flat" cmpd="sng">
              <a:solidFill>
                <a:srgbClr val="FF6600"/>
              </a:solidFill>
              <a:prstDash val="solid"/>
              <a:headEnd type="none" w="med" len="med"/>
              <a:tailEnd type="none" w="med" len="med"/>
            </a:ln>
            <a:effectLst>
              <a:outerShdw dist="107763" dir="13499999" algn="ctr" rotWithShape="0">
                <a:schemeClr val="bg2"/>
              </a:outerShdw>
            </a:effectLst>
          </p:spPr>
        </p:sp>
        <p:sp>
          <p:nvSpPr>
            <p:cNvPr id="55320" name="Line 18"/>
            <p:cNvSpPr/>
            <p:nvPr/>
          </p:nvSpPr>
          <p:spPr>
            <a:xfrm flipV="1">
              <a:off x="385" y="2546"/>
              <a:ext cx="272" cy="408"/>
            </a:xfrm>
            <a:prstGeom prst="line">
              <a:avLst/>
            </a:prstGeom>
            <a:ln w="25400" cap="flat" cmpd="sng">
              <a:solidFill>
                <a:srgbClr val="FF00FF"/>
              </a:solidFill>
              <a:prstDash val="solid"/>
              <a:headEnd type="none" w="med" len="med"/>
              <a:tailEnd type="none" w="med" len="med"/>
            </a:ln>
          </p:spPr>
        </p:sp>
        <p:sp>
          <p:nvSpPr>
            <p:cNvPr id="55321" name="Line 19"/>
            <p:cNvSpPr/>
            <p:nvPr/>
          </p:nvSpPr>
          <p:spPr>
            <a:xfrm flipV="1">
              <a:off x="2177" y="2542"/>
              <a:ext cx="0" cy="567"/>
            </a:xfrm>
            <a:prstGeom prst="line">
              <a:avLst/>
            </a:prstGeom>
            <a:ln w="25400" cap="flat" cmpd="sng">
              <a:solidFill>
                <a:srgbClr val="FF00FF"/>
              </a:solidFill>
              <a:prstDash val="solid"/>
              <a:headEnd type="none" w="med" len="med"/>
              <a:tailEnd type="none" w="med" len="med"/>
            </a:ln>
          </p:spPr>
        </p:sp>
        <p:sp>
          <p:nvSpPr>
            <p:cNvPr id="55322" name="Line 20"/>
            <p:cNvSpPr/>
            <p:nvPr/>
          </p:nvSpPr>
          <p:spPr>
            <a:xfrm flipV="1">
              <a:off x="1927" y="2546"/>
              <a:ext cx="0" cy="567"/>
            </a:xfrm>
            <a:prstGeom prst="line">
              <a:avLst/>
            </a:prstGeom>
            <a:ln w="25400" cap="flat" cmpd="sng">
              <a:solidFill>
                <a:srgbClr val="FF00FF"/>
              </a:solidFill>
              <a:prstDash val="solid"/>
              <a:headEnd type="none" w="med" len="med"/>
              <a:tailEnd type="none" w="med" len="med"/>
            </a:ln>
          </p:spPr>
        </p:sp>
        <p:sp>
          <p:nvSpPr>
            <p:cNvPr id="55323" name="Line 21"/>
            <p:cNvSpPr/>
            <p:nvPr/>
          </p:nvSpPr>
          <p:spPr>
            <a:xfrm flipV="1">
              <a:off x="1927" y="2546"/>
              <a:ext cx="250" cy="563"/>
            </a:xfrm>
            <a:prstGeom prst="line">
              <a:avLst/>
            </a:prstGeom>
            <a:ln w="25400" cap="flat" cmpd="sng">
              <a:solidFill>
                <a:srgbClr val="FF00FF"/>
              </a:solidFill>
              <a:prstDash val="solid"/>
              <a:headEnd type="none" w="med" len="med"/>
              <a:tailEnd type="none" w="med" len="med"/>
            </a:ln>
          </p:spPr>
        </p:sp>
        <p:sp>
          <p:nvSpPr>
            <p:cNvPr id="55324" name="Line 22"/>
            <p:cNvSpPr/>
            <p:nvPr/>
          </p:nvSpPr>
          <p:spPr>
            <a:xfrm flipV="1">
              <a:off x="2177" y="2659"/>
              <a:ext cx="431" cy="446"/>
            </a:xfrm>
            <a:prstGeom prst="line">
              <a:avLst/>
            </a:prstGeom>
            <a:ln w="25400" cap="flat" cmpd="sng">
              <a:solidFill>
                <a:srgbClr val="FF00FF"/>
              </a:solidFill>
              <a:prstDash val="solid"/>
              <a:headEnd type="none" w="med" len="med"/>
              <a:tailEnd type="none" w="med" len="med"/>
            </a:ln>
          </p:spPr>
        </p:sp>
        <p:sp>
          <p:nvSpPr>
            <p:cNvPr id="55325" name="Text Box 23"/>
            <p:cNvSpPr txBox="1"/>
            <p:nvPr/>
          </p:nvSpPr>
          <p:spPr>
            <a:xfrm>
              <a:off x="2585" y="2682"/>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t</a:t>
              </a:r>
              <a:endParaRPr lang="en-US" altLang="zh-CN" sz="2400" b="1" i="1">
                <a:solidFill>
                  <a:srgbClr val="FF0000"/>
                </a:solidFill>
                <a:latin typeface="Times New Roman" panose="02020603050405020304" pitchFamily="18" charset="0"/>
              </a:endParaRPr>
            </a:p>
          </p:txBody>
        </p:sp>
        <p:sp>
          <p:nvSpPr>
            <p:cNvPr id="55326" name="Text Box 24"/>
            <p:cNvSpPr txBox="1"/>
            <p:nvPr/>
          </p:nvSpPr>
          <p:spPr>
            <a:xfrm>
              <a:off x="1433" y="3068"/>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5327" name="Text Box 25"/>
            <p:cNvSpPr txBox="1"/>
            <p:nvPr/>
          </p:nvSpPr>
          <p:spPr>
            <a:xfrm>
              <a:off x="1406" y="2296"/>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5328" name="Text Box 26"/>
            <p:cNvSpPr txBox="1"/>
            <p:nvPr/>
          </p:nvSpPr>
          <p:spPr>
            <a:xfrm>
              <a:off x="1656"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2</a:t>
              </a:r>
              <a:endParaRPr lang="en-US" altLang="zh-CN" sz="2000" b="1" i="1" baseline="-25000">
                <a:solidFill>
                  <a:srgbClr val="FF0000"/>
                </a:solidFill>
                <a:latin typeface="Times New Roman" panose="02020603050405020304" pitchFamily="18" charset="0"/>
              </a:endParaRPr>
            </a:p>
          </p:txBody>
        </p:sp>
        <p:sp>
          <p:nvSpPr>
            <p:cNvPr id="55329" name="Text Box 27"/>
            <p:cNvSpPr txBox="1"/>
            <p:nvPr/>
          </p:nvSpPr>
          <p:spPr>
            <a:xfrm>
              <a:off x="907"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1</a:t>
              </a:r>
              <a:endParaRPr lang="en-US" altLang="zh-CN" sz="2000" b="1" i="1" baseline="-25000">
                <a:solidFill>
                  <a:srgbClr val="FF0000"/>
                </a:solidFill>
                <a:latin typeface="Times New Roman" panose="02020603050405020304" pitchFamily="18" charset="0"/>
              </a:endParaRPr>
            </a:p>
          </p:txBody>
        </p:sp>
      </p:grpSp>
      <p:sp>
        <p:nvSpPr>
          <p:cNvPr id="2342945" name="Text Box 33"/>
          <p:cNvSpPr txBox="1"/>
          <p:nvPr/>
        </p:nvSpPr>
        <p:spPr>
          <a:xfrm>
            <a:off x="4464050" y="3392488"/>
            <a:ext cx="3465513" cy="457200"/>
          </a:xfrm>
          <a:prstGeom prst="rect">
            <a:avLst/>
          </a:prstGeom>
          <a:noFill/>
          <a:ln w="9525">
            <a:noFill/>
          </a:ln>
        </p:spPr>
        <p:txBody>
          <a:bodyPr>
            <a:spAutoFit/>
          </a:bodyPr>
          <a:p>
            <a:pPr algn="l" eaLnBrk="1" hangingPunct="1"/>
            <a:r>
              <a:rPr lang="zh-CN" altLang="en-US" sz="2400" b="1" dirty="0">
                <a:solidFill>
                  <a:srgbClr val="333399"/>
                </a:solidFill>
                <a:latin typeface="黑体" panose="02010609060101010101" pitchFamily="49" charset="-122"/>
                <a:ea typeface="黑体" panose="02010609060101010101" pitchFamily="49" charset="-122"/>
              </a:rPr>
              <a:t>相应的量化信噪比为： </a:t>
            </a:r>
            <a:endParaRPr lang="zh-CN" altLang="en-US" sz="2400" b="1" dirty="0">
              <a:solidFill>
                <a:srgbClr val="333399"/>
              </a:solidFill>
              <a:latin typeface="黑体" panose="02010609060101010101" pitchFamily="49" charset="-122"/>
              <a:ea typeface="黑体" panose="02010609060101010101" pitchFamily="49" charset="-122"/>
            </a:endParaRPr>
          </a:p>
        </p:txBody>
      </p:sp>
      <p:graphicFrame>
        <p:nvGraphicFramePr>
          <p:cNvPr id="55308" name="Object 36"/>
          <p:cNvGraphicFramePr>
            <a:graphicFrameLocks noChangeAspect="1"/>
          </p:cNvGraphicFramePr>
          <p:nvPr/>
        </p:nvGraphicFramePr>
        <p:xfrm>
          <a:off x="7986713" y="5238750"/>
          <a:ext cx="871537" cy="603250"/>
        </p:xfrm>
        <a:graphic>
          <a:graphicData uri="http://schemas.openxmlformats.org/presentationml/2006/ole">
            <mc:AlternateContent xmlns:mc="http://schemas.openxmlformats.org/markup-compatibility/2006">
              <mc:Choice xmlns:v="urn:schemas-microsoft-com:vml" Requires="v">
                <p:oleObj spid="_x0000_s3189" name="" r:id="rId3" imgW="571500" imgH="393700" progId="Equation.3">
                  <p:embed/>
                </p:oleObj>
              </mc:Choice>
              <mc:Fallback>
                <p:oleObj name="" r:id="rId3" imgW="571500" imgH="393700" progId="Equation.3">
                  <p:embed/>
                  <p:pic>
                    <p:nvPicPr>
                      <p:cNvPr id="0" name="图片 3188"/>
                      <p:cNvPicPr/>
                      <p:nvPr/>
                    </p:nvPicPr>
                    <p:blipFill>
                      <a:blip r:embed="rId4"/>
                      <a:stretch>
                        <a:fillRect/>
                      </a:stretch>
                    </p:blipFill>
                    <p:spPr>
                      <a:xfrm>
                        <a:off x="7986713" y="5238750"/>
                        <a:ext cx="871537" cy="603250"/>
                      </a:xfrm>
                      <a:prstGeom prst="rect">
                        <a:avLst/>
                      </a:prstGeom>
                      <a:solidFill>
                        <a:schemeClr val="accent1"/>
                      </a:solidFill>
                      <a:ln w="38100">
                        <a:noFill/>
                        <a:miter/>
                      </a:ln>
                    </p:spPr>
                  </p:pic>
                </p:oleObj>
              </mc:Fallback>
            </mc:AlternateContent>
          </a:graphicData>
        </a:graphic>
      </p:graphicFrame>
      <p:graphicFrame>
        <p:nvGraphicFramePr>
          <p:cNvPr id="55309" name="Object 38"/>
          <p:cNvGraphicFramePr>
            <a:graphicFrameLocks noChangeAspect="1"/>
          </p:cNvGraphicFramePr>
          <p:nvPr/>
        </p:nvGraphicFramePr>
        <p:xfrm>
          <a:off x="5111750" y="5408613"/>
          <a:ext cx="1331913" cy="442912"/>
        </p:xfrm>
        <a:graphic>
          <a:graphicData uri="http://schemas.openxmlformats.org/presentationml/2006/ole">
            <mc:AlternateContent xmlns:mc="http://schemas.openxmlformats.org/markup-compatibility/2006">
              <mc:Choice xmlns:v="urn:schemas-microsoft-com:vml" Requires="v">
                <p:oleObj spid="_x0000_s3190" name="" r:id="rId5" imgW="596900" imgH="190500" progId="Equation.3">
                  <p:embed/>
                </p:oleObj>
              </mc:Choice>
              <mc:Fallback>
                <p:oleObj name="" r:id="rId5" imgW="596900" imgH="190500" progId="Equation.3">
                  <p:embed/>
                  <p:pic>
                    <p:nvPicPr>
                      <p:cNvPr id="0" name="图片 3189"/>
                      <p:cNvPicPr/>
                      <p:nvPr/>
                    </p:nvPicPr>
                    <p:blipFill>
                      <a:blip r:embed="rId6"/>
                      <a:stretch>
                        <a:fillRect/>
                      </a:stretch>
                    </p:blipFill>
                    <p:spPr>
                      <a:xfrm>
                        <a:off x="5111750" y="5408613"/>
                        <a:ext cx="1331913" cy="442912"/>
                      </a:xfrm>
                      <a:prstGeom prst="rect">
                        <a:avLst/>
                      </a:prstGeom>
                      <a:noFill/>
                      <a:ln w="38100">
                        <a:noFill/>
                        <a:miter/>
                      </a:ln>
                    </p:spPr>
                  </p:pic>
                </p:oleObj>
              </mc:Fallback>
            </mc:AlternateContent>
          </a:graphicData>
        </a:graphic>
      </p:graphicFrame>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42945"/>
                                        </p:tgtEl>
                                        <p:attrNameLst>
                                          <p:attrName>style.visibility</p:attrName>
                                        </p:attrNameLst>
                                      </p:cBhvr>
                                      <p:to>
                                        <p:strVal val="visible"/>
                                      </p:to>
                                    </p:set>
                                    <p:animEffect transition="in" filter="dissolve">
                                      <p:cBhvr>
                                        <p:cTn id="7" dur="500"/>
                                        <p:tgtEl>
                                          <p:spTgt spid="234294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5299"/>
                                        </p:tgtEl>
                                        <p:attrNameLst>
                                          <p:attrName>style.visibility</p:attrName>
                                        </p:attrNameLst>
                                      </p:cBhvr>
                                      <p:to>
                                        <p:strVal val="visible"/>
                                      </p:to>
                                    </p:set>
                                    <p:animEffect transition="in" filter="dissolve">
                                      <p:cBhvr>
                                        <p:cTn id="12" dur="500"/>
                                        <p:tgtEl>
                                          <p:spTgt spid="5529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42951"/>
                                        </p:tgtEl>
                                        <p:attrNameLst>
                                          <p:attrName>style.visibility</p:attrName>
                                        </p:attrNameLst>
                                      </p:cBhvr>
                                      <p:to>
                                        <p:strVal val="visible"/>
                                      </p:to>
                                    </p:set>
                                    <p:animEffect transition="in" filter="dissolve">
                                      <p:cBhvr>
                                        <p:cTn id="15" dur="500"/>
                                        <p:tgtEl>
                                          <p:spTgt spid="234295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42949"/>
                                        </p:tgtEl>
                                        <p:attrNameLst>
                                          <p:attrName>style.visibility</p:attrName>
                                        </p:attrNameLst>
                                      </p:cBhvr>
                                      <p:to>
                                        <p:strVal val="visible"/>
                                      </p:to>
                                    </p:set>
                                    <p:animEffect transition="in" filter="dissolve">
                                      <p:cBhvr>
                                        <p:cTn id="20" dur="500"/>
                                        <p:tgtEl>
                                          <p:spTgt spid="2342949"/>
                                        </p:tgtEl>
                                      </p:cBhvr>
                                    </p:animEffect>
                                  </p:childTnLst>
                                </p:cTn>
                              </p:par>
                              <p:par>
                                <p:cTn id="21" presetID="9" presetClass="entr" presetSubtype="0" fill="hold" nodeType="withEffect">
                                  <p:stCondLst>
                                    <p:cond delay="0"/>
                                  </p:stCondLst>
                                  <p:childTnLst>
                                    <p:set>
                                      <p:cBhvr>
                                        <p:cTn id="22" dur="1" fill="hold">
                                          <p:stCondLst>
                                            <p:cond delay="0"/>
                                          </p:stCondLst>
                                        </p:cTn>
                                        <p:tgtEl>
                                          <p:spTgt spid="55308"/>
                                        </p:tgtEl>
                                        <p:attrNameLst>
                                          <p:attrName>style.visibility</p:attrName>
                                        </p:attrNameLst>
                                      </p:cBhvr>
                                      <p:to>
                                        <p:strVal val="visible"/>
                                      </p:to>
                                    </p:set>
                                    <p:animEffect transition="in" filter="dissolve">
                                      <p:cBhvr>
                                        <p:cTn id="23" dur="500"/>
                                        <p:tgtEl>
                                          <p:spTgt spid="553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55309"/>
                                        </p:tgtEl>
                                        <p:attrNameLst>
                                          <p:attrName>style.visibility</p:attrName>
                                        </p:attrNameLst>
                                      </p:cBhvr>
                                      <p:to>
                                        <p:strVal val="visible"/>
                                      </p:to>
                                    </p:set>
                                    <p:animEffect transition="in" filter="dissolve">
                                      <p:cBhvr>
                                        <p:cTn id="28" dur="500"/>
                                        <p:tgtEl>
                                          <p:spTgt spid="55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2951" grpId="0" bldLvl="0" animBg="1"/>
      <p:bldP spid="2342949" grpId="0" bldLvl="0" animBg="1"/>
      <p:bldP spid="2342945"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3938" name="Rectangle 2"/>
          <p:cNvSpPr/>
          <p:nvPr/>
        </p:nvSpPr>
        <p:spPr>
          <a:xfrm>
            <a:off x="4787900" y="3968750"/>
            <a:ext cx="3635375" cy="1541463"/>
          </a:xfrm>
          <a:prstGeom prst="rect">
            <a:avLst/>
          </a:prstGeom>
          <a:solidFill>
            <a:srgbClr val="FFFF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56323" name="Text Box 5"/>
          <p:cNvSpPr txBox="1"/>
          <p:nvPr/>
        </p:nvSpPr>
        <p:spPr>
          <a:xfrm>
            <a:off x="755650" y="1376363"/>
            <a:ext cx="7696200"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4.</a:t>
            </a:r>
            <a:r>
              <a:rPr lang="zh-CN" altLang="en-US" sz="2800" b="1" dirty="0">
                <a:solidFill>
                  <a:srgbClr val="333399"/>
                </a:solidFill>
                <a:latin typeface="黑体" panose="02010609060101010101" pitchFamily="49" charset="-122"/>
                <a:ea typeface="黑体" panose="02010609060101010101" pitchFamily="49" charset="-122"/>
              </a:rPr>
              <a:t>量化误差（噪声）与量化器位数的关系</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56324" name="Text Box 6"/>
          <p:cNvSpPr txBox="1"/>
          <p:nvPr/>
        </p:nvSpPr>
        <p:spPr>
          <a:xfrm>
            <a:off x="863600" y="2024063"/>
            <a:ext cx="7551738" cy="1187450"/>
          </a:xfrm>
          <a:prstGeom prst="rect">
            <a:avLst/>
          </a:prstGeom>
          <a:solidFill>
            <a:srgbClr val="CCFFFF"/>
          </a:solid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当量化单位与模拟信号幅值相比足够小时，量化信号的每一个台阶都很小，与模拟信号非常接近，量化误差可按一系列在</a:t>
            </a:r>
            <a:r>
              <a:rPr lang="en-US" altLang="zh-CN" sz="2400" b="1">
                <a:solidFill>
                  <a:srgbClr val="FF0000"/>
                </a:solidFill>
                <a:latin typeface="Times New Roman" panose="02020603050405020304" pitchFamily="18" charset="0"/>
                <a:ea typeface="黑体" panose="02010609060101010101" pitchFamily="49" charset="-122"/>
              </a:rPr>
              <a:t>-</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en-US" altLang="zh-CN" sz="2400" b="1" i="1">
                <a:solidFill>
                  <a:srgbClr val="FF0000"/>
                </a:solidFill>
                <a:latin typeface="Times New Roman" panose="02020603050405020304" pitchFamily="18" charset="0"/>
                <a:ea typeface="黑体" panose="02010609060101010101" pitchFamily="49" charset="-122"/>
              </a:rPr>
              <a:t>q</a:t>
            </a:r>
            <a:r>
              <a:rPr lang="en-US" altLang="zh-CN" sz="2400" b="1">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1"/>
                </a:solidFill>
                <a:latin typeface="黑体" panose="02010609060101010101" pitchFamily="49" charset="-122"/>
                <a:ea typeface="黑体" panose="02010609060101010101" pitchFamily="49" charset="-122"/>
              </a:rPr>
              <a:t>之间的斜率不同的线性段处理。</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43943" name="Text Box 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3945" name="Text Box 9"/>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grpSp>
        <p:nvGrpSpPr>
          <p:cNvPr id="56328" name="Group 10"/>
          <p:cNvGrpSpPr/>
          <p:nvPr/>
        </p:nvGrpSpPr>
        <p:grpSpPr>
          <a:xfrm>
            <a:off x="323850" y="3392488"/>
            <a:ext cx="4140200" cy="2281237"/>
            <a:chOff x="385" y="2016"/>
            <a:chExt cx="2608" cy="1437"/>
          </a:xfrm>
        </p:grpSpPr>
        <p:sp>
          <p:nvSpPr>
            <p:cNvPr id="56333" name="Text Box 11"/>
            <p:cNvSpPr txBox="1"/>
            <p:nvPr/>
          </p:nvSpPr>
          <p:spPr>
            <a:xfrm>
              <a:off x="1247" y="2016"/>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e</a:t>
              </a:r>
              <a:endParaRPr lang="en-US" altLang="zh-CN" sz="2400" b="1" i="1">
                <a:solidFill>
                  <a:srgbClr val="FF0000"/>
                </a:solidFill>
                <a:latin typeface="Times New Roman" panose="02020603050405020304" pitchFamily="18" charset="0"/>
              </a:endParaRPr>
            </a:p>
          </p:txBody>
        </p:sp>
        <p:sp>
          <p:nvSpPr>
            <p:cNvPr id="56334" name="Line 12"/>
            <p:cNvSpPr/>
            <p:nvPr/>
          </p:nvSpPr>
          <p:spPr>
            <a:xfrm>
              <a:off x="385" y="2841"/>
              <a:ext cx="2336" cy="0"/>
            </a:xfrm>
            <a:prstGeom prst="line">
              <a:avLst/>
            </a:prstGeom>
            <a:ln w="12700" cap="flat" cmpd="sng">
              <a:solidFill>
                <a:schemeClr val="tx1"/>
              </a:solidFill>
              <a:prstDash val="solid"/>
              <a:headEnd type="none" w="med" len="med"/>
              <a:tailEnd type="triangle" w="med" len="med"/>
            </a:ln>
          </p:spPr>
        </p:sp>
        <p:sp>
          <p:nvSpPr>
            <p:cNvPr id="56335" name="Line 13"/>
            <p:cNvSpPr/>
            <p:nvPr/>
          </p:nvSpPr>
          <p:spPr>
            <a:xfrm flipV="1">
              <a:off x="1548" y="2183"/>
              <a:ext cx="0" cy="1270"/>
            </a:xfrm>
            <a:prstGeom prst="line">
              <a:avLst/>
            </a:prstGeom>
            <a:ln w="12700" cap="flat" cmpd="sng">
              <a:solidFill>
                <a:schemeClr val="tx1"/>
              </a:solidFill>
              <a:prstDash val="solid"/>
              <a:headEnd type="none" w="med" len="med"/>
              <a:tailEnd type="triangle" w="med" len="med"/>
            </a:ln>
          </p:spPr>
        </p:sp>
        <p:sp>
          <p:nvSpPr>
            <p:cNvPr id="56336" name="Line 14"/>
            <p:cNvSpPr/>
            <p:nvPr/>
          </p:nvSpPr>
          <p:spPr>
            <a:xfrm flipV="1">
              <a:off x="1202" y="2546"/>
              <a:ext cx="725" cy="567"/>
            </a:xfrm>
            <a:prstGeom prst="line">
              <a:avLst/>
            </a:prstGeom>
            <a:ln w="25400" cap="flat" cmpd="sng">
              <a:solidFill>
                <a:srgbClr val="FF00FF"/>
              </a:solidFill>
              <a:prstDash val="solid"/>
              <a:headEnd type="none" w="med" len="med"/>
              <a:tailEnd type="none" w="med" len="med"/>
            </a:ln>
          </p:spPr>
        </p:sp>
        <p:sp>
          <p:nvSpPr>
            <p:cNvPr id="56337" name="Line 15"/>
            <p:cNvSpPr/>
            <p:nvPr/>
          </p:nvSpPr>
          <p:spPr>
            <a:xfrm>
              <a:off x="1066" y="2546"/>
              <a:ext cx="975" cy="0"/>
            </a:xfrm>
            <a:prstGeom prst="line">
              <a:avLst/>
            </a:prstGeom>
            <a:ln w="12700" cap="flat" cmpd="sng">
              <a:solidFill>
                <a:srgbClr val="0000FF"/>
              </a:solidFill>
              <a:prstDash val="dash"/>
              <a:headEnd type="none" w="med" len="med"/>
              <a:tailEnd type="none" w="med" len="med"/>
            </a:ln>
          </p:spPr>
        </p:sp>
        <p:sp>
          <p:nvSpPr>
            <p:cNvPr id="56338" name="Line 16"/>
            <p:cNvSpPr/>
            <p:nvPr/>
          </p:nvSpPr>
          <p:spPr>
            <a:xfrm>
              <a:off x="1066" y="3113"/>
              <a:ext cx="975" cy="0"/>
            </a:xfrm>
            <a:prstGeom prst="line">
              <a:avLst/>
            </a:prstGeom>
            <a:ln w="12700" cap="flat" cmpd="sng">
              <a:solidFill>
                <a:srgbClr val="0000FF"/>
              </a:solidFill>
              <a:prstDash val="dash"/>
              <a:headEnd type="none" w="med" len="med"/>
              <a:tailEnd type="none" w="med" len="med"/>
            </a:ln>
          </p:spPr>
        </p:sp>
        <p:sp>
          <p:nvSpPr>
            <p:cNvPr id="56339" name="Line 17"/>
            <p:cNvSpPr/>
            <p:nvPr/>
          </p:nvSpPr>
          <p:spPr>
            <a:xfrm flipV="1">
              <a:off x="1202" y="2546"/>
              <a:ext cx="0" cy="567"/>
            </a:xfrm>
            <a:prstGeom prst="line">
              <a:avLst/>
            </a:prstGeom>
            <a:ln w="25400" cap="flat" cmpd="sng">
              <a:solidFill>
                <a:srgbClr val="FF00FF"/>
              </a:solidFill>
              <a:prstDash val="solid"/>
              <a:headEnd type="none" w="med" len="med"/>
              <a:tailEnd type="none" w="med" len="med"/>
            </a:ln>
          </p:spPr>
        </p:sp>
        <p:sp>
          <p:nvSpPr>
            <p:cNvPr id="56340" name="Line 18"/>
            <p:cNvSpPr/>
            <p:nvPr/>
          </p:nvSpPr>
          <p:spPr>
            <a:xfrm flipV="1">
              <a:off x="657" y="2542"/>
              <a:ext cx="545" cy="567"/>
            </a:xfrm>
            <a:prstGeom prst="line">
              <a:avLst/>
            </a:prstGeom>
            <a:ln w="25400" cap="flat" cmpd="sng">
              <a:solidFill>
                <a:srgbClr val="FF00FF"/>
              </a:solidFill>
              <a:prstDash val="solid"/>
              <a:headEnd type="none" w="med" len="med"/>
              <a:tailEnd type="none" w="med" len="med"/>
            </a:ln>
          </p:spPr>
        </p:sp>
        <p:sp>
          <p:nvSpPr>
            <p:cNvPr id="56341" name="Line 19"/>
            <p:cNvSpPr/>
            <p:nvPr/>
          </p:nvSpPr>
          <p:spPr>
            <a:xfrm flipV="1">
              <a:off x="657" y="2546"/>
              <a:ext cx="0" cy="567"/>
            </a:xfrm>
            <a:prstGeom prst="line">
              <a:avLst/>
            </a:prstGeom>
            <a:ln w="25400" cap="flat" cmpd="sng">
              <a:solidFill>
                <a:srgbClr val="FF00FF"/>
              </a:solidFill>
              <a:prstDash val="solid"/>
              <a:headEnd type="none" w="med" len="med"/>
              <a:tailEnd type="none" w="med" len="med"/>
            </a:ln>
          </p:spPr>
        </p:sp>
        <p:sp>
          <p:nvSpPr>
            <p:cNvPr id="56342" name="Line 20"/>
            <p:cNvSpPr/>
            <p:nvPr/>
          </p:nvSpPr>
          <p:spPr>
            <a:xfrm>
              <a:off x="664" y="2546"/>
              <a:ext cx="0" cy="0"/>
            </a:xfrm>
            <a:prstGeom prst="line">
              <a:avLst/>
            </a:prstGeom>
            <a:ln w="9525" cap="flat" cmpd="sng">
              <a:solidFill>
                <a:srgbClr val="FF6600"/>
              </a:solidFill>
              <a:prstDash val="solid"/>
              <a:headEnd type="none" w="med" len="med"/>
              <a:tailEnd type="none" w="med" len="med"/>
            </a:ln>
            <a:effectLst>
              <a:outerShdw dist="107763" dir="13499999" algn="ctr" rotWithShape="0">
                <a:schemeClr val="bg2"/>
              </a:outerShdw>
            </a:effectLst>
          </p:spPr>
        </p:sp>
        <p:sp>
          <p:nvSpPr>
            <p:cNvPr id="56343" name="Line 21"/>
            <p:cNvSpPr/>
            <p:nvPr/>
          </p:nvSpPr>
          <p:spPr>
            <a:xfrm flipV="1">
              <a:off x="385" y="2546"/>
              <a:ext cx="272" cy="408"/>
            </a:xfrm>
            <a:prstGeom prst="line">
              <a:avLst/>
            </a:prstGeom>
            <a:ln w="25400" cap="flat" cmpd="sng">
              <a:solidFill>
                <a:srgbClr val="FF00FF"/>
              </a:solidFill>
              <a:prstDash val="solid"/>
              <a:headEnd type="none" w="med" len="med"/>
              <a:tailEnd type="none" w="med" len="med"/>
            </a:ln>
          </p:spPr>
        </p:sp>
        <p:sp>
          <p:nvSpPr>
            <p:cNvPr id="56344" name="Line 22"/>
            <p:cNvSpPr/>
            <p:nvPr/>
          </p:nvSpPr>
          <p:spPr>
            <a:xfrm flipV="1">
              <a:off x="2177" y="2542"/>
              <a:ext cx="0" cy="567"/>
            </a:xfrm>
            <a:prstGeom prst="line">
              <a:avLst/>
            </a:prstGeom>
            <a:ln w="25400" cap="flat" cmpd="sng">
              <a:solidFill>
                <a:srgbClr val="FF00FF"/>
              </a:solidFill>
              <a:prstDash val="solid"/>
              <a:headEnd type="none" w="med" len="med"/>
              <a:tailEnd type="none" w="med" len="med"/>
            </a:ln>
          </p:spPr>
        </p:sp>
        <p:sp>
          <p:nvSpPr>
            <p:cNvPr id="56345" name="Line 23"/>
            <p:cNvSpPr/>
            <p:nvPr/>
          </p:nvSpPr>
          <p:spPr>
            <a:xfrm flipV="1">
              <a:off x="1927" y="2546"/>
              <a:ext cx="0" cy="567"/>
            </a:xfrm>
            <a:prstGeom prst="line">
              <a:avLst/>
            </a:prstGeom>
            <a:ln w="25400" cap="flat" cmpd="sng">
              <a:solidFill>
                <a:srgbClr val="FF00FF"/>
              </a:solidFill>
              <a:prstDash val="solid"/>
              <a:headEnd type="none" w="med" len="med"/>
              <a:tailEnd type="none" w="med" len="med"/>
            </a:ln>
          </p:spPr>
        </p:sp>
        <p:sp>
          <p:nvSpPr>
            <p:cNvPr id="56346" name="Line 24"/>
            <p:cNvSpPr/>
            <p:nvPr/>
          </p:nvSpPr>
          <p:spPr>
            <a:xfrm flipV="1">
              <a:off x="1927" y="2546"/>
              <a:ext cx="250" cy="563"/>
            </a:xfrm>
            <a:prstGeom prst="line">
              <a:avLst/>
            </a:prstGeom>
            <a:ln w="25400" cap="flat" cmpd="sng">
              <a:solidFill>
                <a:srgbClr val="FF00FF"/>
              </a:solidFill>
              <a:prstDash val="solid"/>
              <a:headEnd type="none" w="med" len="med"/>
              <a:tailEnd type="none" w="med" len="med"/>
            </a:ln>
          </p:spPr>
        </p:sp>
        <p:sp>
          <p:nvSpPr>
            <p:cNvPr id="56347" name="Line 25"/>
            <p:cNvSpPr/>
            <p:nvPr/>
          </p:nvSpPr>
          <p:spPr>
            <a:xfrm flipV="1">
              <a:off x="2177" y="2659"/>
              <a:ext cx="431" cy="446"/>
            </a:xfrm>
            <a:prstGeom prst="line">
              <a:avLst/>
            </a:prstGeom>
            <a:ln w="25400" cap="flat" cmpd="sng">
              <a:solidFill>
                <a:srgbClr val="FF00FF"/>
              </a:solidFill>
              <a:prstDash val="solid"/>
              <a:headEnd type="none" w="med" len="med"/>
              <a:tailEnd type="none" w="med" len="med"/>
            </a:ln>
          </p:spPr>
        </p:sp>
        <p:sp>
          <p:nvSpPr>
            <p:cNvPr id="56348" name="Text Box 26"/>
            <p:cNvSpPr txBox="1"/>
            <p:nvPr/>
          </p:nvSpPr>
          <p:spPr>
            <a:xfrm>
              <a:off x="2585" y="2682"/>
              <a:ext cx="408" cy="288"/>
            </a:xfrm>
            <a:prstGeom prst="rect">
              <a:avLst/>
            </a:prstGeom>
            <a:no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rPr>
                <a:t>t</a:t>
              </a:r>
              <a:endParaRPr lang="en-US" altLang="zh-CN" sz="2400" b="1" i="1">
                <a:solidFill>
                  <a:srgbClr val="FF0000"/>
                </a:solidFill>
                <a:latin typeface="Times New Roman" panose="02020603050405020304" pitchFamily="18" charset="0"/>
              </a:endParaRPr>
            </a:p>
          </p:txBody>
        </p:sp>
        <p:sp>
          <p:nvSpPr>
            <p:cNvPr id="56349" name="Text Box 27"/>
            <p:cNvSpPr txBox="1"/>
            <p:nvPr/>
          </p:nvSpPr>
          <p:spPr>
            <a:xfrm>
              <a:off x="1433" y="3068"/>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6350" name="Text Box 28"/>
            <p:cNvSpPr txBox="1"/>
            <p:nvPr/>
          </p:nvSpPr>
          <p:spPr>
            <a:xfrm>
              <a:off x="1406" y="2296"/>
              <a:ext cx="562" cy="250"/>
            </a:xfrm>
            <a:prstGeom prst="rect">
              <a:avLst/>
            </a:prstGeom>
            <a:noFill/>
            <a:ln w="9525">
              <a:noFill/>
            </a:ln>
          </p:spPr>
          <p:txBody>
            <a:bodyPr>
              <a:spAutoFit/>
            </a:bodyPr>
            <a:p>
              <a:pPr algn="ctr" eaLnBrk="1" hangingPunct="1"/>
              <a:r>
                <a:rPr lang="en-US" altLang="zh-CN" sz="2000" b="1" i="1">
                  <a:solidFill>
                    <a:srgbClr val="FF0000"/>
                  </a:solidFill>
                  <a:latin typeface="Times New Roman" panose="02020603050405020304" pitchFamily="18" charset="0"/>
                </a:rPr>
                <a:t>q/2</a:t>
              </a:r>
              <a:endParaRPr lang="en-US" altLang="zh-CN" sz="2000" b="1" i="1">
                <a:solidFill>
                  <a:srgbClr val="FF0000"/>
                </a:solidFill>
                <a:latin typeface="Times New Roman" panose="02020603050405020304" pitchFamily="18" charset="0"/>
              </a:endParaRPr>
            </a:p>
          </p:txBody>
        </p:sp>
        <p:sp>
          <p:nvSpPr>
            <p:cNvPr id="56351" name="Text Box 29"/>
            <p:cNvSpPr txBox="1"/>
            <p:nvPr/>
          </p:nvSpPr>
          <p:spPr>
            <a:xfrm>
              <a:off x="1656"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2</a:t>
              </a:r>
              <a:endParaRPr lang="en-US" altLang="zh-CN" sz="2000" b="1" i="1" baseline="-25000">
                <a:solidFill>
                  <a:srgbClr val="FF0000"/>
                </a:solidFill>
                <a:latin typeface="Times New Roman" panose="02020603050405020304" pitchFamily="18" charset="0"/>
              </a:endParaRPr>
            </a:p>
          </p:txBody>
        </p:sp>
        <p:sp>
          <p:nvSpPr>
            <p:cNvPr id="56352" name="Text Box 30"/>
            <p:cNvSpPr txBox="1"/>
            <p:nvPr/>
          </p:nvSpPr>
          <p:spPr>
            <a:xfrm>
              <a:off x="907" y="2772"/>
              <a:ext cx="408" cy="250"/>
            </a:xfrm>
            <a:prstGeom prst="rect">
              <a:avLst/>
            </a:prstGeom>
            <a:noFill/>
            <a:ln w="9525">
              <a:noFill/>
            </a:ln>
          </p:spPr>
          <p:txBody>
            <a:bodyPr>
              <a:spAutoFit/>
            </a:bodyPr>
            <a:p>
              <a:pPr algn="ctr" eaLnBrk="1" hangingPunct="1">
                <a:spcBef>
                  <a:spcPct val="50000"/>
                </a:spcBef>
              </a:pPr>
              <a:r>
                <a:rPr lang="en-US" altLang="zh-CN" sz="2000" b="1" i="1">
                  <a:solidFill>
                    <a:srgbClr val="FF0000"/>
                  </a:solidFill>
                  <a:latin typeface="Times New Roman" panose="02020603050405020304" pitchFamily="18" charset="0"/>
                </a:rPr>
                <a:t>-t</a:t>
              </a:r>
              <a:r>
                <a:rPr lang="en-US" altLang="zh-CN" sz="2000" b="1" i="1" baseline="-25000">
                  <a:solidFill>
                    <a:srgbClr val="FF0000"/>
                  </a:solidFill>
                  <a:latin typeface="Times New Roman" panose="02020603050405020304" pitchFamily="18" charset="0"/>
                </a:rPr>
                <a:t>1</a:t>
              </a:r>
              <a:endParaRPr lang="en-US" altLang="zh-CN" sz="2000" b="1" i="1" baseline="-25000">
                <a:solidFill>
                  <a:srgbClr val="FF0000"/>
                </a:solidFill>
                <a:latin typeface="Times New Roman" panose="02020603050405020304" pitchFamily="18" charset="0"/>
              </a:endParaRPr>
            </a:p>
          </p:txBody>
        </p:sp>
      </p:grpSp>
      <p:sp>
        <p:nvSpPr>
          <p:cNvPr id="56329" name="Text Box 31"/>
          <p:cNvSpPr txBox="1"/>
          <p:nvPr/>
        </p:nvSpPr>
        <p:spPr>
          <a:xfrm>
            <a:off x="4464050" y="3392488"/>
            <a:ext cx="3465513" cy="457200"/>
          </a:xfrm>
          <a:prstGeom prst="rect">
            <a:avLst/>
          </a:prstGeom>
          <a:noFill/>
          <a:ln w="9525">
            <a:noFill/>
          </a:ln>
        </p:spPr>
        <p:txBody>
          <a:bodyPr>
            <a:spAutoFit/>
          </a:bodyPr>
          <a:p>
            <a:pPr algn="l" eaLnBrk="1" hangingPunct="1"/>
            <a:r>
              <a:rPr lang="zh-CN" altLang="en-US" sz="2400" b="1" dirty="0">
                <a:solidFill>
                  <a:srgbClr val="333399"/>
                </a:solidFill>
                <a:latin typeface="黑体" panose="02010609060101010101" pitchFamily="49" charset="-122"/>
                <a:ea typeface="黑体" panose="02010609060101010101" pitchFamily="49" charset="-122"/>
              </a:rPr>
              <a:t>相应的量化信噪比为： </a:t>
            </a:r>
            <a:endParaRPr lang="zh-CN" altLang="en-US" sz="2400" b="1" dirty="0">
              <a:solidFill>
                <a:srgbClr val="333399"/>
              </a:solidFill>
              <a:latin typeface="黑体" panose="02010609060101010101" pitchFamily="49" charset="-122"/>
              <a:ea typeface="黑体" panose="02010609060101010101" pitchFamily="49" charset="-122"/>
            </a:endParaRPr>
          </a:p>
        </p:txBody>
      </p:sp>
      <p:graphicFrame>
        <p:nvGraphicFramePr>
          <p:cNvPr id="56330" name="Object 34"/>
          <p:cNvGraphicFramePr>
            <a:graphicFrameLocks noChangeAspect="1"/>
          </p:cNvGraphicFramePr>
          <p:nvPr/>
        </p:nvGraphicFramePr>
        <p:xfrm>
          <a:off x="4884738" y="3968750"/>
          <a:ext cx="3386137" cy="857250"/>
        </p:xfrm>
        <a:graphic>
          <a:graphicData uri="http://schemas.openxmlformats.org/presentationml/2006/ole">
            <mc:AlternateContent xmlns:mc="http://schemas.openxmlformats.org/markup-compatibility/2006">
              <mc:Choice xmlns:v="urn:schemas-microsoft-com:vml" Requires="v">
                <p:oleObj spid="_x0000_s3191" name="" r:id="rId1" imgW="1409065" imgH="393700" progId="Equation.3">
                  <p:embed/>
                </p:oleObj>
              </mc:Choice>
              <mc:Fallback>
                <p:oleObj name="" r:id="rId1" imgW="1409065" imgH="393700" progId="Equation.3">
                  <p:embed/>
                  <p:pic>
                    <p:nvPicPr>
                      <p:cNvPr id="0" name="图片 3190"/>
                      <p:cNvPicPr/>
                      <p:nvPr/>
                    </p:nvPicPr>
                    <p:blipFill>
                      <a:blip r:embed="rId2"/>
                      <a:stretch>
                        <a:fillRect/>
                      </a:stretch>
                    </p:blipFill>
                    <p:spPr>
                      <a:xfrm>
                        <a:off x="4884738" y="3968750"/>
                        <a:ext cx="3386137" cy="857250"/>
                      </a:xfrm>
                      <a:prstGeom prst="rect">
                        <a:avLst/>
                      </a:prstGeom>
                      <a:noFill/>
                      <a:ln w="38100">
                        <a:noFill/>
                        <a:miter/>
                      </a:ln>
                    </p:spPr>
                  </p:pic>
                </p:oleObj>
              </mc:Fallback>
            </mc:AlternateContent>
          </a:graphicData>
        </a:graphic>
      </p:graphicFrame>
      <p:graphicFrame>
        <p:nvGraphicFramePr>
          <p:cNvPr id="56331" name="Object 35"/>
          <p:cNvGraphicFramePr>
            <a:graphicFrameLocks noChangeAspect="1"/>
          </p:cNvGraphicFramePr>
          <p:nvPr/>
        </p:nvGraphicFramePr>
        <p:xfrm>
          <a:off x="5670550" y="4994275"/>
          <a:ext cx="2074863" cy="415925"/>
        </p:xfrm>
        <a:graphic>
          <a:graphicData uri="http://schemas.openxmlformats.org/presentationml/2006/ole">
            <mc:AlternateContent xmlns:mc="http://schemas.openxmlformats.org/markup-compatibility/2006">
              <mc:Choice xmlns:v="urn:schemas-microsoft-com:vml" Requires="v">
                <p:oleObj spid="_x0000_s3192" name="" r:id="rId3" imgW="887730" imgH="177800" progId="Equation.DSMT4">
                  <p:embed/>
                </p:oleObj>
              </mc:Choice>
              <mc:Fallback>
                <p:oleObj name="" r:id="rId3" imgW="887730" imgH="177800" progId="Equation.DSMT4">
                  <p:embed/>
                  <p:pic>
                    <p:nvPicPr>
                      <p:cNvPr id="0" name="图片 3191"/>
                      <p:cNvPicPr/>
                      <p:nvPr/>
                    </p:nvPicPr>
                    <p:blipFill>
                      <a:blip r:embed="rId4"/>
                      <a:stretch>
                        <a:fillRect/>
                      </a:stretch>
                    </p:blipFill>
                    <p:spPr>
                      <a:xfrm>
                        <a:off x="5670550" y="4994275"/>
                        <a:ext cx="2074863" cy="415925"/>
                      </a:xfrm>
                      <a:prstGeom prst="rect">
                        <a:avLst/>
                      </a:prstGeom>
                      <a:noFill/>
                      <a:ln w="38100">
                        <a:noFill/>
                        <a:miter/>
                      </a:ln>
                    </p:spPr>
                  </p:pic>
                </p:oleObj>
              </mc:Fallback>
            </mc:AlternateContent>
          </a:graphicData>
        </a:graphic>
      </p:graphicFrame>
      <p:sp>
        <p:nvSpPr>
          <p:cNvPr id="2343972" name="Text Box 36"/>
          <p:cNvSpPr txBox="1"/>
          <p:nvPr/>
        </p:nvSpPr>
        <p:spPr>
          <a:xfrm>
            <a:off x="5184775" y="5564188"/>
            <a:ext cx="3024188" cy="457200"/>
          </a:xfrm>
          <a:prstGeom prst="rect">
            <a:avLst/>
          </a:prstGeom>
          <a:noFill/>
          <a:ln w="9525">
            <a:noFill/>
          </a:ln>
        </p:spPr>
        <p:txBody>
          <a:bodyPr wrap="none">
            <a:spAutoFit/>
          </a:bodyPr>
          <a:p>
            <a:pPr algn="l" eaLnBrk="1" hangingPunct="1"/>
            <a:r>
              <a:rPr lang="en-US" altLang="zh-CN" sz="2400" b="1" i="1">
                <a:solidFill>
                  <a:srgbClr val="FF0000"/>
                </a:solidFill>
                <a:latin typeface="Times New Roman" panose="02020603050405020304" pitchFamily="18" charset="0"/>
                <a:ea typeface="宋体" panose="02010600030101010101" pitchFamily="2" charset="-122"/>
              </a:rPr>
              <a:t>n</a:t>
            </a:r>
            <a:r>
              <a:rPr lang="zh-CN" altLang="en-US" sz="2400" b="1" dirty="0">
                <a:solidFill>
                  <a:srgbClr val="333399"/>
                </a:solidFill>
                <a:latin typeface="Times New Roman" panose="02020603050405020304" pitchFamily="18" charset="0"/>
                <a:ea typeface="宋体" panose="02010600030101010101" pitchFamily="2" charset="-122"/>
              </a:rPr>
              <a:t>：</a:t>
            </a:r>
            <a:r>
              <a:rPr lang="en-US" altLang="zh-CN" sz="2400" b="1">
                <a:solidFill>
                  <a:srgbClr val="333399"/>
                </a:solidFill>
                <a:latin typeface="Times New Roman" panose="02020603050405020304" pitchFamily="18" charset="0"/>
                <a:ea typeface="宋体" panose="02010600030101010101" pitchFamily="2" charset="-122"/>
              </a:rPr>
              <a:t>A/D</a:t>
            </a:r>
            <a:r>
              <a:rPr lang="zh-CN" altLang="en-US" sz="2400" b="1" dirty="0">
                <a:solidFill>
                  <a:srgbClr val="333399"/>
                </a:solidFill>
                <a:latin typeface="Times New Roman" panose="02020603050405020304" pitchFamily="18" charset="0"/>
              </a:rPr>
              <a:t>转换器位数</a:t>
            </a:r>
            <a:r>
              <a:rPr lang="zh-CN" altLang="en-US" sz="2400" b="1" dirty="0">
                <a:solidFill>
                  <a:srgbClr val="333399"/>
                </a:solidFill>
                <a:latin typeface="Times New Roman" panose="02020603050405020304" pitchFamily="18" charset="0"/>
                <a:ea typeface="宋体" panose="02010600030101010101" pitchFamily="2" charset="-122"/>
              </a:rPr>
              <a:t>。</a:t>
            </a:r>
            <a:endParaRPr lang="zh-CN" altLang="en-US" sz="2400" b="1" dirty="0">
              <a:solidFill>
                <a:srgbClr val="333399"/>
              </a:solidFill>
              <a:latin typeface="Times New Roman" panose="02020603050405020304" pitchFamily="18" charset="0"/>
              <a:ea typeface="宋体" panose="02010600030101010101" pitchFamily="2" charset="-122"/>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43938"/>
                                        </p:tgtEl>
                                        <p:attrNameLst>
                                          <p:attrName>style.visibility</p:attrName>
                                        </p:attrNameLst>
                                      </p:cBhvr>
                                      <p:to>
                                        <p:strVal val="visible"/>
                                      </p:to>
                                    </p:set>
                                    <p:animEffect transition="in" filter="dissolve">
                                      <p:cBhvr>
                                        <p:cTn id="7" dur="500"/>
                                        <p:tgtEl>
                                          <p:spTgt spid="2343938"/>
                                        </p:tgtEl>
                                      </p:cBhvr>
                                    </p:animEffect>
                                  </p:childTnLst>
                                </p:cTn>
                              </p:par>
                              <p:par>
                                <p:cTn id="8" presetID="9" presetClass="entr" presetSubtype="0" fill="hold" nodeType="withEffect">
                                  <p:stCondLst>
                                    <p:cond delay="0"/>
                                  </p:stCondLst>
                                  <p:childTnLst>
                                    <p:set>
                                      <p:cBhvr>
                                        <p:cTn id="9" dur="1" fill="hold">
                                          <p:stCondLst>
                                            <p:cond delay="0"/>
                                          </p:stCondLst>
                                        </p:cTn>
                                        <p:tgtEl>
                                          <p:spTgt spid="56330"/>
                                        </p:tgtEl>
                                        <p:attrNameLst>
                                          <p:attrName>style.visibility</p:attrName>
                                        </p:attrNameLst>
                                      </p:cBhvr>
                                      <p:to>
                                        <p:strVal val="visible"/>
                                      </p:to>
                                    </p:set>
                                    <p:animEffect transition="in" filter="dissolve">
                                      <p:cBhvr>
                                        <p:cTn id="10" dur="500"/>
                                        <p:tgtEl>
                                          <p:spTgt spid="56330"/>
                                        </p:tgtEl>
                                      </p:cBhvr>
                                    </p:animEffect>
                                  </p:childTnLst>
                                </p:cTn>
                              </p:par>
                              <p:par>
                                <p:cTn id="11" presetID="9" presetClass="entr" presetSubtype="0" fill="hold" nodeType="withEffect">
                                  <p:stCondLst>
                                    <p:cond delay="0"/>
                                  </p:stCondLst>
                                  <p:childTnLst>
                                    <p:set>
                                      <p:cBhvr>
                                        <p:cTn id="12" dur="1" fill="hold">
                                          <p:stCondLst>
                                            <p:cond delay="0"/>
                                          </p:stCondLst>
                                        </p:cTn>
                                        <p:tgtEl>
                                          <p:spTgt spid="56331"/>
                                        </p:tgtEl>
                                        <p:attrNameLst>
                                          <p:attrName>style.visibility</p:attrName>
                                        </p:attrNameLst>
                                      </p:cBhvr>
                                      <p:to>
                                        <p:strVal val="visible"/>
                                      </p:to>
                                    </p:set>
                                    <p:animEffect transition="in" filter="dissolve">
                                      <p:cBhvr>
                                        <p:cTn id="13" dur="500"/>
                                        <p:tgtEl>
                                          <p:spTgt spid="5633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43972"/>
                                        </p:tgtEl>
                                        <p:attrNameLst>
                                          <p:attrName>style.visibility</p:attrName>
                                        </p:attrNameLst>
                                      </p:cBhvr>
                                      <p:to>
                                        <p:strVal val="visible"/>
                                      </p:to>
                                    </p:set>
                                    <p:animEffect transition="in" filter="dissolve">
                                      <p:cBhvr>
                                        <p:cTn id="18" dur="500"/>
                                        <p:tgtEl>
                                          <p:spTgt spid="23439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3938" grpId="0" bldLvl="0" animBg="1"/>
      <p:bldP spid="234397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1959" name="Text Box 7"/>
          <p:cNvSpPr txBox="1"/>
          <p:nvPr/>
        </p:nvSpPr>
        <p:spPr>
          <a:xfrm>
            <a:off x="1079500" y="2230438"/>
            <a:ext cx="7205663" cy="946150"/>
          </a:xfrm>
          <a:prstGeom prst="rect">
            <a:avLst/>
          </a:prstGeom>
          <a:solidFill>
            <a:srgbClr val="CCFFFF"/>
          </a:solidFill>
          <a:ln w="9525">
            <a:noFill/>
          </a:ln>
        </p:spPr>
        <p:txBody>
          <a:bodyPr>
            <a:spAutoFit/>
          </a:bodyPr>
          <a:p>
            <a:pPr algn="l" eaLnBrk="1" hangingPunct="1"/>
            <a:r>
              <a:rPr lang="zh-CN" altLang="en-US" sz="2800" b="1" dirty="0">
                <a:solidFill>
                  <a:schemeClr val="tx1"/>
                </a:solidFill>
                <a:latin typeface="Times New Roman" panose="02020603050405020304" pitchFamily="18" charset="0"/>
              </a:rPr>
              <a:t>位数</a:t>
            </a:r>
            <a:r>
              <a:rPr lang="en-US" altLang="zh-CN" sz="2800" b="1" i="1">
                <a:solidFill>
                  <a:srgbClr val="FF0000"/>
                </a:solidFill>
                <a:latin typeface="Times New Roman" panose="02020603050405020304" pitchFamily="18" charset="0"/>
              </a:rPr>
              <a:t>n</a:t>
            </a:r>
            <a:r>
              <a:rPr lang="zh-CN" altLang="en-US" sz="2800" b="1" dirty="0">
                <a:solidFill>
                  <a:schemeClr val="tx1"/>
                </a:solidFill>
                <a:latin typeface="Times New Roman" panose="02020603050405020304" pitchFamily="18" charset="0"/>
              </a:rPr>
              <a:t>每增加一位，信噪比将增加</a:t>
            </a:r>
            <a:r>
              <a:rPr lang="en-US" altLang="zh-CN" sz="2800" b="1">
                <a:solidFill>
                  <a:srgbClr val="FF0000"/>
                </a:solidFill>
                <a:latin typeface="Times New Roman" panose="02020603050405020304" pitchFamily="18" charset="0"/>
                <a:ea typeface="宋体" panose="02010600030101010101" pitchFamily="2" charset="-122"/>
              </a:rPr>
              <a:t>6dB</a:t>
            </a:r>
            <a:r>
              <a:rPr lang="zh-CN" altLang="en-US" sz="2800" b="1" dirty="0">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latin typeface="楷体_GB2312" pitchFamily="49" charset="-122"/>
              </a:rPr>
              <a:t>也就意味着量化误差减小。</a:t>
            </a:r>
            <a:endParaRPr lang="zh-CN" altLang="en-US" sz="2800" b="1" dirty="0">
              <a:solidFill>
                <a:schemeClr val="tx1"/>
              </a:solidFill>
              <a:latin typeface="楷体_GB2312" pitchFamily="49" charset="-122"/>
              <a:ea typeface="宋体" panose="02010600030101010101" pitchFamily="2" charset="-122"/>
            </a:endParaRPr>
          </a:p>
        </p:txBody>
      </p:sp>
      <p:grpSp>
        <p:nvGrpSpPr>
          <p:cNvPr id="2301970" name="Group 18"/>
          <p:cNvGrpSpPr/>
          <p:nvPr/>
        </p:nvGrpSpPr>
        <p:grpSpPr>
          <a:xfrm>
            <a:off x="1016000" y="3968750"/>
            <a:ext cx="7264400" cy="1368425"/>
            <a:chOff x="748" y="2523"/>
            <a:chExt cx="4576" cy="862"/>
          </a:xfrm>
        </p:grpSpPr>
        <p:sp>
          <p:nvSpPr>
            <p:cNvPr id="57352" name="Rectangle 17"/>
            <p:cNvSpPr/>
            <p:nvPr/>
          </p:nvSpPr>
          <p:spPr>
            <a:xfrm>
              <a:off x="748" y="2523"/>
              <a:ext cx="4576" cy="862"/>
            </a:xfrm>
            <a:prstGeom prst="rect">
              <a:avLst/>
            </a:prstGeom>
            <a:solidFill>
              <a:srgbClr val="99CC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57353" name="Text Box 9"/>
            <p:cNvSpPr txBox="1"/>
            <p:nvPr/>
          </p:nvSpPr>
          <p:spPr>
            <a:xfrm>
              <a:off x="836" y="2614"/>
              <a:ext cx="887" cy="365"/>
            </a:xfrm>
            <a:prstGeom prst="rect">
              <a:avLst/>
            </a:prstGeom>
            <a:noFill/>
            <a:ln w="9525">
              <a:noFill/>
            </a:ln>
          </p:spPr>
          <p:txBody>
            <a:bodyPr wrap="none">
              <a:spAutoFit/>
            </a:bodyPr>
            <a:p>
              <a:pPr algn="l" eaLnBrk="1" hangingPunct="1"/>
              <a:r>
                <a:rPr lang="zh-CN" altLang="en-US" sz="3200" b="1" dirty="0">
                  <a:solidFill>
                    <a:srgbClr val="FF0000"/>
                  </a:solidFill>
                  <a:latin typeface="Times New Roman" panose="02020603050405020304" pitchFamily="18" charset="0"/>
                  <a:ea typeface="黑体" panose="02010609060101010101" pitchFamily="49" charset="-122"/>
                </a:rPr>
                <a:t>结论：</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57354" name="Text Box 10"/>
            <p:cNvSpPr txBox="1"/>
            <p:nvPr/>
          </p:nvSpPr>
          <p:spPr>
            <a:xfrm>
              <a:off x="1578" y="2622"/>
              <a:ext cx="3641" cy="672"/>
            </a:xfrm>
            <a:prstGeom prst="rect">
              <a:avLst/>
            </a:prstGeom>
            <a:noFill/>
            <a:ln w="9525">
              <a:noFill/>
            </a:ln>
          </p:spPr>
          <p:txBody>
            <a:bodyPr>
              <a:spAutoFit/>
            </a:bodyPr>
            <a:p>
              <a:pPr algn="l" eaLnBrk="1" hangingPunct="1"/>
              <a:r>
                <a:rPr lang="zh-CN" altLang="en-US" sz="3200" b="1" dirty="0">
                  <a:solidFill>
                    <a:srgbClr val="3333FF"/>
                  </a:solidFill>
                  <a:latin typeface="黑体" panose="02010609060101010101" pitchFamily="49" charset="-122"/>
                  <a:ea typeface="黑体" panose="02010609060101010101" pitchFamily="49" charset="-122"/>
                </a:rPr>
                <a:t>增加</a:t>
              </a:r>
              <a:r>
                <a:rPr lang="en-US" altLang="zh-CN" sz="3200" b="1">
                  <a:solidFill>
                    <a:srgbClr val="3333FF"/>
                  </a:solidFill>
                  <a:latin typeface="Times New Roman" panose="02020603050405020304" pitchFamily="18" charset="0"/>
                  <a:ea typeface="黑体" panose="02010609060101010101" pitchFamily="49" charset="-122"/>
                </a:rPr>
                <a:t>A/D</a:t>
              </a:r>
              <a:r>
                <a:rPr lang="zh-CN" altLang="en-US" sz="3200" b="1" dirty="0">
                  <a:solidFill>
                    <a:srgbClr val="3333FF"/>
                  </a:solidFill>
                  <a:latin typeface="黑体" panose="02010609060101010101" pitchFamily="49" charset="-122"/>
                  <a:ea typeface="黑体" panose="02010609060101010101" pitchFamily="49" charset="-122"/>
                </a:rPr>
                <a:t>转换器的位数能减小量化误差。</a:t>
              </a:r>
              <a:endParaRPr lang="zh-CN" altLang="en-US" sz="3200" b="1" dirty="0">
                <a:solidFill>
                  <a:srgbClr val="3333FF"/>
                </a:solidFill>
                <a:latin typeface="黑体" panose="02010609060101010101" pitchFamily="49" charset="-122"/>
                <a:ea typeface="黑体" panose="02010609060101010101" pitchFamily="49" charset="-122"/>
              </a:endParaRPr>
            </a:p>
          </p:txBody>
        </p:sp>
      </p:grpSp>
      <p:sp>
        <p:nvSpPr>
          <p:cNvPr id="2301965" name="Text Box 1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57349" name="Text Box 14"/>
          <p:cNvSpPr txBox="1"/>
          <p:nvPr/>
        </p:nvSpPr>
        <p:spPr>
          <a:xfrm>
            <a:off x="755650" y="1376363"/>
            <a:ext cx="7696200" cy="519112"/>
          </a:xfrm>
          <a:prstGeom prst="rect">
            <a:avLst/>
          </a:prstGeom>
          <a:noFill/>
          <a:ln w="9525">
            <a:noFill/>
          </a:ln>
        </p:spPr>
        <p:txBody>
          <a:bodyPr>
            <a:spAutoFit/>
          </a:bodyPr>
          <a:p>
            <a:pPr algn="l" eaLnBrk="1" hangingPunct="1">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4.</a:t>
            </a:r>
            <a:r>
              <a:rPr lang="zh-CN" altLang="en-US" sz="2800" b="1" dirty="0">
                <a:solidFill>
                  <a:srgbClr val="333399"/>
                </a:solidFill>
                <a:latin typeface="黑体" panose="02010609060101010101" pitchFamily="49" charset="-122"/>
                <a:ea typeface="黑体" panose="02010609060101010101" pitchFamily="49" charset="-122"/>
              </a:rPr>
              <a:t>量化误差（噪声）与量化器位数的关系</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1968" name="Text Box 16"/>
          <p:cNvSpPr txBox="1">
            <a:spLocks noChangeArrowheads="1"/>
          </p:cNvSpPr>
          <p:nvPr/>
        </p:nvSpPr>
        <p:spPr bwMode="auto">
          <a:xfrm>
            <a:off x="1908175" y="80963"/>
            <a:ext cx="55895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buClrTx/>
              <a:buSzTx/>
              <a:buFontTx/>
              <a:buNone/>
              <a:defRPr/>
            </a:pPr>
            <a:r>
              <a:rPr kumimoji="1" lang="en-US" altLang="zh-CN" sz="4000" b="1"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2.7 </a:t>
            </a:r>
            <a:r>
              <a:rPr kumimoji="1" lang="en-US" altLang="zh-CN"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 </a:t>
            </a:r>
            <a:r>
              <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rPr>
              <a:t>量化与量化误差</a:t>
            </a:r>
            <a:endParaRPr kumimoji="1" lang="zh-CN" altLang="en-US" sz="4000" b="1" kern="1200" cap="none" spc="0" normalizeH="0" baseline="0" noProof="0">
              <a:solidFill>
                <a:schemeClr val="tx1"/>
              </a:solidFill>
              <a:effectLst>
                <a:outerShdw blurRad="38100" dist="38100" dir="2700000" algn="tl">
                  <a:srgbClr val="C0C0C0"/>
                </a:outerShdw>
              </a:effectLst>
              <a:latin typeface="Arial Black" panose="020B0A04020102020204" pitchFamily="34" charset="0"/>
              <a:ea typeface="楷体_GB2312" pitchFamily="49" charset="-122"/>
              <a:cs typeface="+mn-cs"/>
            </a:endParaRPr>
          </a:p>
        </p:txBody>
      </p:sp>
      <p:sp>
        <p:nvSpPr>
          <p:cNvPr id="2281487" name="Text Box 15"/>
          <p:cNvSpPr txBox="1"/>
          <p:nvPr/>
        </p:nvSpPr>
        <p:spPr>
          <a:xfrm>
            <a:off x="439738" y="728663"/>
            <a:ext cx="3303587"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2.7.3 </a:t>
            </a:r>
            <a:r>
              <a:rPr lang="zh-CN" altLang="en-US" sz="3200" b="1" dirty="0">
                <a:solidFill>
                  <a:srgbClr val="333399"/>
                </a:solidFill>
                <a:latin typeface="楷体_GB2312" pitchFamily="49" charset="-122"/>
              </a:rPr>
              <a:t>量化误差</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1959"/>
                                        </p:tgtEl>
                                        <p:attrNameLst>
                                          <p:attrName>style.visibility</p:attrName>
                                        </p:attrNameLst>
                                      </p:cBhvr>
                                      <p:to>
                                        <p:strVal val="visible"/>
                                      </p:to>
                                    </p:set>
                                    <p:animEffect transition="in" filter="dissolve">
                                      <p:cBhvr>
                                        <p:cTn id="7" dur="500"/>
                                        <p:tgtEl>
                                          <p:spTgt spid="23019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01970"/>
                                        </p:tgtEl>
                                        <p:attrNameLst>
                                          <p:attrName>style.visibility</p:attrName>
                                        </p:attrNameLst>
                                      </p:cBhvr>
                                      <p:to>
                                        <p:strVal val="visible"/>
                                      </p:to>
                                    </p:set>
                                    <p:animEffect transition="in" filter="dissolve">
                                      <p:cBhvr>
                                        <p:cTn id="12" dur="500"/>
                                        <p:tgtEl>
                                          <p:spTgt spid="23019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1959" grpId="0" bldLvl="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2989" name="Text Box 13"/>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02997" name="Rectangle 21"/>
          <p:cNvSpPr/>
          <p:nvPr/>
        </p:nvSpPr>
        <p:spPr>
          <a:xfrm>
            <a:off x="719138" y="836613"/>
            <a:ext cx="7947025" cy="1190625"/>
          </a:xfrm>
          <a:prstGeom prst="rect">
            <a:avLst/>
          </a:prstGeom>
          <a:solidFill>
            <a:srgbClr val="99CC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02990" name="Text Box 14"/>
          <p:cNvSpPr txBox="1"/>
          <p:nvPr/>
        </p:nvSpPr>
        <p:spPr>
          <a:xfrm>
            <a:off x="981075" y="873125"/>
            <a:ext cx="1331913" cy="641350"/>
          </a:xfrm>
          <a:prstGeom prst="rect">
            <a:avLst/>
          </a:prstGeom>
          <a:noFill/>
          <a:ln w="9525">
            <a:noFill/>
          </a:ln>
        </p:spPr>
        <p:txBody>
          <a:bodyPr wrap="none">
            <a:spAutoFit/>
          </a:bodyPr>
          <a:p>
            <a:pPr algn="l" eaLnBrk="1" hangingPunct="1"/>
            <a:r>
              <a:rPr lang="zh-CN" altLang="en-US" b="1" dirty="0">
                <a:solidFill>
                  <a:srgbClr val="333399"/>
                </a:solidFill>
                <a:latin typeface="黑体" panose="02010609060101010101" pitchFamily="49" charset="-122"/>
                <a:ea typeface="黑体" panose="02010609060101010101" pitchFamily="49" charset="-122"/>
              </a:rPr>
              <a:t>编码</a:t>
            </a:r>
            <a:r>
              <a:rPr lang="en-US" altLang="zh-CN" b="1">
                <a:solidFill>
                  <a:srgbClr val="333399"/>
                </a:solidFill>
                <a:latin typeface="黑体" panose="02010609060101010101" pitchFamily="49" charset="-122"/>
                <a:ea typeface="黑体" panose="02010609060101010101" pitchFamily="49" charset="-122"/>
              </a:rPr>
              <a:t>:</a:t>
            </a:r>
            <a:endParaRPr lang="en-US" altLang="zh-CN" b="1">
              <a:solidFill>
                <a:srgbClr val="333399"/>
              </a:solidFill>
              <a:latin typeface="黑体" panose="02010609060101010101" pitchFamily="49" charset="-122"/>
              <a:ea typeface="黑体" panose="02010609060101010101" pitchFamily="49" charset="-122"/>
            </a:endParaRPr>
          </a:p>
        </p:txBody>
      </p:sp>
      <p:sp>
        <p:nvSpPr>
          <p:cNvPr id="2302991" name="Text Box 15"/>
          <p:cNvSpPr txBox="1"/>
          <p:nvPr/>
        </p:nvSpPr>
        <p:spPr>
          <a:xfrm>
            <a:off x="2235200" y="836613"/>
            <a:ext cx="6148388" cy="1190625"/>
          </a:xfrm>
          <a:prstGeom prst="rect">
            <a:avLst/>
          </a:prstGeom>
          <a:noFill/>
          <a:ln w="9525">
            <a:noFill/>
          </a:ln>
        </p:spPr>
        <p:txBody>
          <a:bodyPr wrap="none">
            <a:spAutoFit/>
          </a:bodyPr>
          <a:p>
            <a:pPr algn="l" eaLnBrk="1" hangingPunct="1"/>
            <a:r>
              <a:rPr lang="zh-CN" altLang="en-US" b="1" dirty="0">
                <a:solidFill>
                  <a:srgbClr val="FF0000"/>
                </a:solidFill>
                <a:latin typeface="黑体" panose="02010609060101010101" pitchFamily="49" charset="-122"/>
                <a:ea typeface="黑体" panose="02010609060101010101" pitchFamily="49" charset="-122"/>
              </a:rPr>
              <a:t>将量化信号的电平用数字代码</a:t>
            </a:r>
            <a:endParaRPr lang="zh-CN" altLang="en-US" b="1" dirty="0">
              <a:solidFill>
                <a:srgbClr val="FF0000"/>
              </a:solidFill>
              <a:latin typeface="黑体" panose="02010609060101010101" pitchFamily="49" charset="-122"/>
              <a:ea typeface="黑体" panose="02010609060101010101" pitchFamily="49" charset="-122"/>
            </a:endParaRPr>
          </a:p>
          <a:p>
            <a:pPr algn="l" eaLnBrk="1" hangingPunct="1"/>
            <a:r>
              <a:rPr lang="zh-CN" altLang="en-US" b="1" dirty="0">
                <a:solidFill>
                  <a:srgbClr val="FF0000"/>
                </a:solidFill>
                <a:latin typeface="黑体" panose="02010609060101010101" pitchFamily="49" charset="-122"/>
                <a:ea typeface="黑体" panose="02010609060101010101" pitchFamily="49" charset="-122"/>
              </a:rPr>
              <a:t>来表示。 </a:t>
            </a:r>
            <a:endParaRPr lang="zh-CN" altLang="en-US" b="1" dirty="0">
              <a:solidFill>
                <a:srgbClr val="FF0000"/>
              </a:solidFill>
              <a:latin typeface="黑体" panose="02010609060101010101" pitchFamily="49" charset="-122"/>
              <a:ea typeface="黑体" panose="02010609060101010101" pitchFamily="49" charset="-122"/>
            </a:endParaRPr>
          </a:p>
        </p:txBody>
      </p:sp>
      <p:sp>
        <p:nvSpPr>
          <p:cNvPr id="2302992" name="Text Box 16"/>
          <p:cNvSpPr txBox="1"/>
          <p:nvPr/>
        </p:nvSpPr>
        <p:spPr>
          <a:xfrm>
            <a:off x="1511300" y="3429000"/>
            <a:ext cx="6256338" cy="519113"/>
          </a:xfrm>
          <a:prstGeom prst="rect">
            <a:avLst/>
          </a:prstGeom>
          <a:noFill/>
          <a:ln w="9525">
            <a:noFill/>
          </a:ln>
        </p:spPr>
        <p:txBody>
          <a:bodyPr wrap="none">
            <a:spAutoFit/>
          </a:bodyPr>
          <a:p>
            <a:pPr algn="l" eaLnBrk="1" hangingPunct="1"/>
            <a:r>
              <a:rPr lang="zh-CN" altLang="en-US" sz="2800" b="1" dirty="0">
                <a:solidFill>
                  <a:srgbClr val="3333FF"/>
                </a:solidFill>
                <a:latin typeface="Times New Roman" panose="02020603050405020304" pitchFamily="18" charset="0"/>
              </a:rPr>
              <a:t>单极性信号，电压从</a:t>
            </a:r>
            <a:r>
              <a:rPr lang="zh-CN" altLang="en-US" sz="2800" b="1" dirty="0">
                <a:solidFill>
                  <a:srgbClr val="3333FF"/>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0V</a:t>
            </a:r>
            <a:r>
              <a:rPr lang="zh-CN" altLang="en-US" sz="2800" b="1" dirty="0">
                <a:solidFill>
                  <a:srgbClr val="FF0000"/>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 </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V</a:t>
            </a:r>
            <a:r>
              <a:rPr lang="en-US" altLang="zh-CN" sz="2800" b="1">
                <a:solidFill>
                  <a:srgbClr val="3333FF"/>
                </a:solidFill>
                <a:latin typeface="Times New Roman" panose="02020603050405020304" pitchFamily="18" charset="0"/>
                <a:ea typeface="宋体" panose="02010600030101010101" pitchFamily="2" charset="-122"/>
              </a:rPr>
              <a:t> </a:t>
            </a:r>
            <a:r>
              <a:rPr lang="zh-CN" altLang="en-US" sz="2800" b="1" dirty="0">
                <a:solidFill>
                  <a:srgbClr val="3333FF"/>
                </a:solidFill>
                <a:latin typeface="Times New Roman" panose="02020603050405020304" pitchFamily="18" charset="0"/>
              </a:rPr>
              <a:t>变化</a:t>
            </a:r>
            <a:r>
              <a:rPr lang="zh-CN" altLang="en-US" sz="2800" b="1" dirty="0">
                <a:solidFill>
                  <a:srgbClr val="3333FF"/>
                </a:solidFill>
                <a:latin typeface="Times New Roman" panose="02020603050405020304" pitchFamily="18" charset="0"/>
                <a:ea typeface="宋体" panose="02010600030101010101" pitchFamily="2" charset="-122"/>
              </a:rPr>
              <a:t>；</a:t>
            </a:r>
            <a:endParaRPr lang="zh-CN" altLang="en-US" sz="2800" b="1" dirty="0">
              <a:solidFill>
                <a:srgbClr val="3333FF"/>
              </a:solidFill>
              <a:latin typeface="Times New Roman" panose="02020603050405020304" pitchFamily="18" charset="0"/>
              <a:ea typeface="宋体" panose="02010600030101010101" pitchFamily="2" charset="-122"/>
            </a:endParaRPr>
          </a:p>
        </p:txBody>
      </p:sp>
      <p:sp>
        <p:nvSpPr>
          <p:cNvPr id="2302993" name="Text Box 17"/>
          <p:cNvSpPr txBox="1"/>
          <p:nvPr/>
        </p:nvSpPr>
        <p:spPr>
          <a:xfrm>
            <a:off x="1520825" y="3951288"/>
            <a:ext cx="7407275" cy="519112"/>
          </a:xfrm>
          <a:prstGeom prst="rect">
            <a:avLst/>
          </a:prstGeom>
          <a:no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双极性信号</a:t>
            </a:r>
            <a:r>
              <a:rPr lang="zh-CN" altLang="en-US" sz="2800" b="1" dirty="0">
                <a:solidFill>
                  <a:srgbClr val="3333FF"/>
                </a:solidFill>
                <a:latin typeface="Times New Roman" panose="02020603050405020304" pitchFamily="18" charset="0"/>
                <a:ea typeface="宋体" panose="02010600030101010101" pitchFamily="2" charset="-122"/>
              </a:rPr>
              <a:t>，</a:t>
            </a:r>
            <a:r>
              <a:rPr lang="zh-CN" altLang="en-US" sz="2800" b="1" dirty="0">
                <a:solidFill>
                  <a:srgbClr val="3333FF"/>
                </a:solidFill>
                <a:latin typeface="Times New Roman" panose="02020603050405020304" pitchFamily="18" charset="0"/>
              </a:rPr>
              <a:t>电压从</a:t>
            </a:r>
            <a:r>
              <a:rPr lang="zh-CN" altLang="en-US" sz="2800" b="1" dirty="0">
                <a:solidFill>
                  <a:srgbClr val="3333FF"/>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V</a:t>
            </a:r>
            <a:r>
              <a:rPr lang="zh-CN" altLang="en-US" sz="2800" b="1" dirty="0">
                <a:solidFill>
                  <a:srgbClr val="FF0000"/>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 </a:t>
            </a:r>
            <a:r>
              <a:rPr lang="en-US" altLang="zh-CN" sz="2800" b="1" i="1" err="1">
                <a:solidFill>
                  <a:srgbClr val="FF0000"/>
                </a:solidFill>
                <a:latin typeface="Times New Roman" panose="02020603050405020304" pitchFamily="18" charset="0"/>
                <a:ea typeface="宋体" panose="02010600030101010101" pitchFamily="2" charset="-122"/>
              </a:rPr>
              <a:t>x</a:t>
            </a:r>
            <a:r>
              <a:rPr lang="en-US" altLang="zh-CN" sz="2800" b="1" err="1">
                <a:solidFill>
                  <a:srgbClr val="FF0000"/>
                </a:solidFill>
                <a:latin typeface="Times New Roman" panose="02020603050405020304" pitchFamily="18" charset="0"/>
                <a:ea typeface="宋体" panose="02010600030101010101" pitchFamily="2" charset="-122"/>
              </a:rPr>
              <a:t>V</a:t>
            </a:r>
            <a:r>
              <a:rPr lang="en-US" altLang="zh-CN" sz="2800" b="1">
                <a:solidFill>
                  <a:srgbClr val="3333FF"/>
                </a:solidFill>
                <a:latin typeface="Times New Roman" panose="02020603050405020304" pitchFamily="18" charset="0"/>
                <a:ea typeface="宋体" panose="02010600030101010101" pitchFamily="2" charset="-122"/>
              </a:rPr>
              <a:t> </a:t>
            </a:r>
            <a:r>
              <a:rPr lang="zh-CN" altLang="en-US" sz="2800" b="1" dirty="0">
                <a:solidFill>
                  <a:srgbClr val="3333FF"/>
                </a:solidFill>
                <a:latin typeface="Times New Roman" panose="02020603050405020304" pitchFamily="18" charset="0"/>
              </a:rPr>
              <a:t>变化</a:t>
            </a:r>
            <a:r>
              <a:rPr lang="zh-CN" altLang="en-US" sz="2800" b="1" dirty="0">
                <a:solidFill>
                  <a:srgbClr val="3333FF"/>
                </a:solidFill>
                <a:latin typeface="Times New Roman" panose="02020603050405020304" pitchFamily="18" charset="0"/>
                <a:ea typeface="宋体" panose="02010600030101010101" pitchFamily="2" charset="-122"/>
              </a:rPr>
              <a:t>。</a:t>
            </a:r>
            <a:endParaRPr lang="zh-CN" altLang="en-US" sz="2800" b="1" dirty="0">
              <a:solidFill>
                <a:srgbClr val="3333FF"/>
              </a:solidFill>
              <a:latin typeface="Times New Roman" panose="02020603050405020304" pitchFamily="18" charset="0"/>
              <a:ea typeface="宋体" panose="02010600030101010101" pitchFamily="2" charset="-122"/>
            </a:endParaRPr>
          </a:p>
        </p:txBody>
      </p:sp>
      <p:pic>
        <p:nvPicPr>
          <p:cNvPr id="2302994" name="Picture 18" descr="kugel_blau"/>
          <p:cNvPicPr>
            <a:picLocks noChangeAspect="1"/>
          </p:cNvPicPr>
          <p:nvPr/>
        </p:nvPicPr>
        <p:blipFill>
          <a:blip r:embed="rId1"/>
          <a:stretch>
            <a:fillRect/>
          </a:stretch>
        </p:blipFill>
        <p:spPr>
          <a:xfrm>
            <a:off x="1106488" y="3529013"/>
            <a:ext cx="457200" cy="315912"/>
          </a:xfrm>
          <a:prstGeom prst="rect">
            <a:avLst/>
          </a:prstGeom>
          <a:noFill/>
          <a:ln w="9525">
            <a:noFill/>
          </a:ln>
        </p:spPr>
      </p:pic>
      <p:pic>
        <p:nvPicPr>
          <p:cNvPr id="2302995" name="Picture 19" descr="kugel_blau"/>
          <p:cNvPicPr>
            <a:picLocks noChangeAspect="1"/>
          </p:cNvPicPr>
          <p:nvPr/>
        </p:nvPicPr>
        <p:blipFill>
          <a:blip r:embed="rId1"/>
          <a:stretch>
            <a:fillRect/>
          </a:stretch>
        </p:blipFill>
        <p:spPr>
          <a:xfrm>
            <a:off x="1127125" y="4056063"/>
            <a:ext cx="457200" cy="315912"/>
          </a:xfrm>
          <a:prstGeom prst="rect">
            <a:avLst/>
          </a:prstGeom>
          <a:noFill/>
          <a:ln w="9525">
            <a:noFill/>
          </a:ln>
        </p:spPr>
      </p:pic>
      <p:sp>
        <p:nvSpPr>
          <p:cNvPr id="2302996" name="Text Box 2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02999" name="Text Box 23"/>
          <p:cNvSpPr txBox="1"/>
          <p:nvPr/>
        </p:nvSpPr>
        <p:spPr>
          <a:xfrm>
            <a:off x="1295400" y="2168525"/>
            <a:ext cx="6877050" cy="1066800"/>
          </a:xfrm>
          <a:prstGeom prst="rect">
            <a:avLst/>
          </a:prstGeom>
          <a:solidFill>
            <a:srgbClr val="CCFFFF"/>
          </a:solidFill>
          <a:ln w="9525">
            <a:noFill/>
          </a:ln>
        </p:spPr>
        <p:txBody>
          <a:bodyPr>
            <a:spAutoFit/>
          </a:bodyPr>
          <a:p>
            <a:pPr algn="ctr" eaLnBrk="1" hangingPunct="1">
              <a:spcBef>
                <a:spcPct val="50000"/>
              </a:spcBef>
            </a:pPr>
            <a:r>
              <a:rPr lang="zh-CN" altLang="en-US" sz="3200" b="1" dirty="0">
                <a:solidFill>
                  <a:srgbClr val="FF0000"/>
                </a:solidFill>
                <a:latin typeface="楷体_GB2312" pitchFamily="49" charset="-122"/>
              </a:rPr>
              <a:t>二进制编码</a:t>
            </a:r>
            <a:r>
              <a:rPr lang="zh-CN" altLang="en-US" sz="3200" b="1" dirty="0">
                <a:solidFill>
                  <a:schemeClr val="tx1"/>
                </a:solidFill>
                <a:latin typeface="楷体_GB2312" pitchFamily="49" charset="-122"/>
              </a:rPr>
              <a:t>：用</a:t>
            </a:r>
            <a:r>
              <a:rPr lang="en-US" altLang="zh-CN" sz="3200" b="1">
                <a:solidFill>
                  <a:srgbClr val="FF0000"/>
                </a:solidFill>
                <a:latin typeface="楷体_GB2312" pitchFamily="49" charset="-122"/>
              </a:rPr>
              <a:t>1</a:t>
            </a:r>
            <a:r>
              <a:rPr lang="zh-CN" altLang="en-US" sz="3200" b="1" dirty="0">
                <a:solidFill>
                  <a:schemeClr val="tx1"/>
                </a:solidFill>
                <a:latin typeface="楷体_GB2312" pitchFamily="49" charset="-122"/>
              </a:rPr>
              <a:t>和</a:t>
            </a:r>
            <a:r>
              <a:rPr lang="en-US" altLang="zh-CN" sz="3200" b="1">
                <a:solidFill>
                  <a:srgbClr val="FF0000"/>
                </a:solidFill>
                <a:latin typeface="楷体_GB2312" pitchFamily="49" charset="-122"/>
              </a:rPr>
              <a:t>0</a:t>
            </a:r>
            <a:r>
              <a:rPr lang="zh-CN" altLang="en-US" sz="3200" b="1" dirty="0">
                <a:solidFill>
                  <a:schemeClr val="tx1"/>
                </a:solidFill>
                <a:latin typeface="楷体_GB2312" pitchFamily="49" charset="-122"/>
              </a:rPr>
              <a:t>所组成的</a:t>
            </a:r>
            <a:r>
              <a:rPr lang="en-US" altLang="zh-CN" sz="3200" b="1" i="1">
                <a:solidFill>
                  <a:srgbClr val="FF0000"/>
                </a:solidFill>
                <a:latin typeface="Times New Roman" panose="02020603050405020304" pitchFamily="18" charset="0"/>
                <a:ea typeface="黑体" panose="02010609060101010101" pitchFamily="49" charset="-122"/>
              </a:rPr>
              <a:t>n</a:t>
            </a:r>
            <a:r>
              <a:rPr lang="zh-CN" altLang="en-US" sz="3200" b="1" dirty="0">
                <a:solidFill>
                  <a:schemeClr val="tx1"/>
                </a:solidFill>
                <a:latin typeface="楷体_GB2312" pitchFamily="49" charset="-122"/>
              </a:rPr>
              <a:t>位数码来代表量化电平。</a:t>
            </a:r>
            <a:endParaRPr lang="zh-CN" altLang="en-US" sz="3200" b="1" dirty="0">
              <a:solidFill>
                <a:schemeClr val="tx1"/>
              </a:solidFill>
              <a:latin typeface="楷体_GB2312" pitchFamily="49" charset="-122"/>
            </a:endParaRPr>
          </a:p>
        </p:txBody>
      </p:sp>
      <p:sp>
        <p:nvSpPr>
          <p:cNvPr id="2303000" name="Text Box 24"/>
          <p:cNvSpPr txBox="1"/>
          <p:nvPr/>
        </p:nvSpPr>
        <p:spPr>
          <a:xfrm>
            <a:off x="914400" y="4545013"/>
            <a:ext cx="3117850" cy="579437"/>
          </a:xfrm>
          <a:prstGeom prst="rect">
            <a:avLst/>
          </a:prstGeom>
          <a:noFill/>
          <a:ln w="9525">
            <a:noFill/>
          </a:ln>
        </p:spPr>
        <p:txBody>
          <a:bodyPr>
            <a:spAutoFit/>
          </a:bodyPr>
          <a:p>
            <a:pPr algn="l" eaLnBrk="1" hangingPunct="1"/>
            <a:r>
              <a:rPr lang="zh-CN" altLang="en-US" sz="3200" b="1" dirty="0">
                <a:solidFill>
                  <a:schemeClr val="tx1"/>
                </a:solidFill>
                <a:latin typeface="黑体" panose="02010609060101010101" pitchFamily="49" charset="-122"/>
                <a:ea typeface="黑体" panose="02010609060101010101" pitchFamily="49" charset="-122"/>
              </a:rPr>
              <a:t>二进制码类型：</a:t>
            </a:r>
            <a:endParaRPr lang="zh-CN" altLang="en-US" sz="3200" b="1" dirty="0">
              <a:solidFill>
                <a:schemeClr val="tx1"/>
              </a:solidFill>
              <a:latin typeface="黑体" panose="02010609060101010101" pitchFamily="49" charset="-122"/>
              <a:ea typeface="黑体" panose="02010609060101010101" pitchFamily="49" charset="-122"/>
            </a:endParaRPr>
          </a:p>
        </p:txBody>
      </p:sp>
      <p:sp>
        <p:nvSpPr>
          <p:cNvPr id="2303001" name="Text Box 25"/>
          <p:cNvSpPr txBox="1"/>
          <p:nvPr/>
        </p:nvSpPr>
        <p:spPr>
          <a:xfrm>
            <a:off x="2519363" y="5121275"/>
            <a:ext cx="3486150" cy="946150"/>
          </a:xfrm>
          <a:prstGeom prst="rect">
            <a:avLst/>
          </a:prstGeom>
          <a:noFill/>
          <a:ln w="9525">
            <a:noFill/>
          </a:ln>
        </p:spPr>
        <p:txBody>
          <a:bodyPr>
            <a:spAutoFit/>
          </a:bodyPr>
          <a:p>
            <a:pPr algn="l" eaLnBrk="1" hangingPunct="1">
              <a:buClr>
                <a:srgbClr val="FF0000"/>
              </a:buClr>
              <a:buFont typeface="Wingdings" panose="05000000000000000000" pitchFamily="2" charset="2"/>
              <a:buChar char="u"/>
            </a:pPr>
            <a:r>
              <a:rPr lang="en-US" altLang="zh-CN" sz="2800" b="1">
                <a:solidFill>
                  <a:srgbClr val="3333FF"/>
                </a:solidFill>
                <a:latin typeface="黑体" panose="02010609060101010101" pitchFamily="49" charset="-122"/>
                <a:ea typeface="黑体" panose="02010609060101010101" pitchFamily="49" charset="-122"/>
              </a:rPr>
              <a:t>  </a:t>
            </a:r>
            <a:r>
              <a:rPr lang="zh-CN" altLang="en-US" sz="2800" b="1" dirty="0">
                <a:solidFill>
                  <a:srgbClr val="3333FF"/>
                </a:solidFill>
                <a:latin typeface="黑体" panose="02010609060101010101" pitchFamily="49" charset="-122"/>
                <a:ea typeface="黑体" panose="02010609060101010101" pitchFamily="49" charset="-122"/>
              </a:rPr>
              <a:t>单极性二进制码</a:t>
            </a:r>
            <a:endParaRPr lang="zh-CN" altLang="en-US" sz="2800" b="1" dirty="0">
              <a:solidFill>
                <a:srgbClr val="3333FF"/>
              </a:solidFill>
              <a:latin typeface="黑体" panose="02010609060101010101" pitchFamily="49" charset="-122"/>
              <a:ea typeface="黑体" panose="02010609060101010101" pitchFamily="49" charset="-122"/>
            </a:endParaRPr>
          </a:p>
          <a:p>
            <a:pPr algn="l" eaLnBrk="1" hangingPunct="1">
              <a:buClr>
                <a:srgbClr val="FF0000"/>
              </a:buClr>
              <a:buFont typeface="Wingdings" panose="05000000000000000000" pitchFamily="2" charset="2"/>
              <a:buChar char="u"/>
            </a:pPr>
            <a:r>
              <a:rPr lang="zh-CN" altLang="en-US" sz="2800" b="1" dirty="0">
                <a:solidFill>
                  <a:srgbClr val="3333FF"/>
                </a:solidFill>
                <a:latin typeface="黑体" panose="02010609060101010101" pitchFamily="49" charset="-122"/>
                <a:ea typeface="黑体" panose="02010609060101010101" pitchFamily="49" charset="-122"/>
              </a:rPr>
              <a:t>  双极性二进制码</a:t>
            </a:r>
            <a:endParaRPr lang="zh-CN" altLang="en-US" sz="2800" b="1" dirty="0">
              <a:solidFill>
                <a:srgbClr val="3333FF"/>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2997"/>
                                        </p:tgtEl>
                                        <p:attrNameLst>
                                          <p:attrName>style.visibility</p:attrName>
                                        </p:attrNameLst>
                                      </p:cBhvr>
                                      <p:to>
                                        <p:strVal val="visible"/>
                                      </p:to>
                                    </p:set>
                                    <p:animEffect transition="in" filter="dissolve">
                                      <p:cBhvr>
                                        <p:cTn id="7" dur="500"/>
                                        <p:tgtEl>
                                          <p:spTgt spid="230299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02990"/>
                                        </p:tgtEl>
                                        <p:attrNameLst>
                                          <p:attrName>style.visibility</p:attrName>
                                        </p:attrNameLst>
                                      </p:cBhvr>
                                      <p:to>
                                        <p:strVal val="visible"/>
                                      </p:to>
                                    </p:set>
                                    <p:animEffect transition="in" filter="dissolve">
                                      <p:cBhvr>
                                        <p:cTn id="10" dur="500"/>
                                        <p:tgtEl>
                                          <p:spTgt spid="230299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302991"/>
                                        </p:tgtEl>
                                        <p:attrNameLst>
                                          <p:attrName>style.visibility</p:attrName>
                                        </p:attrNameLst>
                                      </p:cBhvr>
                                      <p:to>
                                        <p:strVal val="visible"/>
                                      </p:to>
                                    </p:set>
                                    <p:animEffect transition="in" filter="dissolve">
                                      <p:cBhvr>
                                        <p:cTn id="13" dur="500"/>
                                        <p:tgtEl>
                                          <p:spTgt spid="230299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02999"/>
                                        </p:tgtEl>
                                        <p:attrNameLst>
                                          <p:attrName>style.visibility</p:attrName>
                                        </p:attrNameLst>
                                      </p:cBhvr>
                                      <p:to>
                                        <p:strVal val="visible"/>
                                      </p:to>
                                    </p:set>
                                    <p:animEffect transition="in" filter="dissolve">
                                      <p:cBhvr>
                                        <p:cTn id="18" dur="500"/>
                                        <p:tgtEl>
                                          <p:spTgt spid="230299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302992"/>
                                        </p:tgtEl>
                                        <p:attrNameLst>
                                          <p:attrName>style.visibility</p:attrName>
                                        </p:attrNameLst>
                                      </p:cBhvr>
                                      <p:to>
                                        <p:strVal val="visible"/>
                                      </p:to>
                                    </p:set>
                                    <p:animEffect transition="in" filter="dissolve">
                                      <p:cBhvr>
                                        <p:cTn id="23" dur="500"/>
                                        <p:tgtEl>
                                          <p:spTgt spid="2302992"/>
                                        </p:tgtEl>
                                      </p:cBhvr>
                                    </p:animEffect>
                                  </p:childTnLst>
                                </p:cTn>
                              </p:par>
                              <p:par>
                                <p:cTn id="24" presetID="9" presetClass="entr" presetSubtype="0" fill="hold" nodeType="withEffect">
                                  <p:stCondLst>
                                    <p:cond delay="0"/>
                                  </p:stCondLst>
                                  <p:childTnLst>
                                    <p:set>
                                      <p:cBhvr>
                                        <p:cTn id="25" dur="1" fill="hold">
                                          <p:stCondLst>
                                            <p:cond delay="0"/>
                                          </p:stCondLst>
                                        </p:cTn>
                                        <p:tgtEl>
                                          <p:spTgt spid="2302994"/>
                                        </p:tgtEl>
                                        <p:attrNameLst>
                                          <p:attrName>style.visibility</p:attrName>
                                        </p:attrNameLst>
                                      </p:cBhvr>
                                      <p:to>
                                        <p:strVal val="visible"/>
                                      </p:to>
                                    </p:set>
                                    <p:animEffect transition="in" filter="dissolve">
                                      <p:cBhvr>
                                        <p:cTn id="26" dur="500"/>
                                        <p:tgtEl>
                                          <p:spTgt spid="230299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302993"/>
                                        </p:tgtEl>
                                        <p:attrNameLst>
                                          <p:attrName>style.visibility</p:attrName>
                                        </p:attrNameLst>
                                      </p:cBhvr>
                                      <p:to>
                                        <p:strVal val="visible"/>
                                      </p:to>
                                    </p:set>
                                    <p:animEffect transition="in" filter="dissolve">
                                      <p:cBhvr>
                                        <p:cTn id="31" dur="500"/>
                                        <p:tgtEl>
                                          <p:spTgt spid="2302993"/>
                                        </p:tgtEl>
                                      </p:cBhvr>
                                    </p:animEffect>
                                  </p:childTnLst>
                                </p:cTn>
                              </p:par>
                              <p:par>
                                <p:cTn id="32" presetID="9" presetClass="entr" presetSubtype="0" fill="hold" nodeType="withEffect">
                                  <p:stCondLst>
                                    <p:cond delay="0"/>
                                  </p:stCondLst>
                                  <p:childTnLst>
                                    <p:set>
                                      <p:cBhvr>
                                        <p:cTn id="33" dur="1" fill="hold">
                                          <p:stCondLst>
                                            <p:cond delay="0"/>
                                          </p:stCondLst>
                                        </p:cTn>
                                        <p:tgtEl>
                                          <p:spTgt spid="2302995"/>
                                        </p:tgtEl>
                                        <p:attrNameLst>
                                          <p:attrName>style.visibility</p:attrName>
                                        </p:attrNameLst>
                                      </p:cBhvr>
                                      <p:to>
                                        <p:strVal val="visible"/>
                                      </p:to>
                                    </p:set>
                                    <p:animEffect transition="in" filter="dissolve">
                                      <p:cBhvr>
                                        <p:cTn id="34" dur="500"/>
                                        <p:tgtEl>
                                          <p:spTgt spid="2302995"/>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303000"/>
                                        </p:tgtEl>
                                        <p:attrNameLst>
                                          <p:attrName>style.visibility</p:attrName>
                                        </p:attrNameLst>
                                      </p:cBhvr>
                                      <p:to>
                                        <p:strVal val="visible"/>
                                      </p:to>
                                    </p:set>
                                    <p:animEffect transition="in" filter="dissolve">
                                      <p:cBhvr>
                                        <p:cTn id="39" dur="500"/>
                                        <p:tgtEl>
                                          <p:spTgt spid="2303000"/>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2303001"/>
                                        </p:tgtEl>
                                        <p:attrNameLst>
                                          <p:attrName>style.visibility</p:attrName>
                                        </p:attrNameLst>
                                      </p:cBhvr>
                                      <p:to>
                                        <p:strVal val="visible"/>
                                      </p:to>
                                    </p:set>
                                    <p:animEffect transition="in" filter="dissolve">
                                      <p:cBhvr>
                                        <p:cTn id="43" dur="500"/>
                                        <p:tgtEl>
                                          <p:spTgt spid="23030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2997" grpId="0" bldLvl="0" animBg="1"/>
      <p:bldP spid="2302990" grpId="0"/>
      <p:bldP spid="2302991" grpId="0"/>
      <p:bldP spid="2302992" grpId="0"/>
      <p:bldP spid="2302993" grpId="0"/>
      <p:bldP spid="2302999" grpId="0" bldLvl="0" animBg="1"/>
      <p:bldP spid="2303000" grpId="0"/>
      <p:bldP spid="2303001"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
        <p:nvSpPr>
          <p:cNvPr id="2304019" name="Text Box 2067"/>
          <p:cNvSpPr txBox="1"/>
          <p:nvPr/>
        </p:nvSpPr>
        <p:spPr>
          <a:xfrm>
            <a:off x="971550" y="1470025"/>
            <a:ext cx="5364163" cy="519113"/>
          </a:xfrm>
          <a:prstGeom prst="rect">
            <a:avLst/>
          </a:prstGeom>
          <a:no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单极性编码的方式有以下几种：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04020" name="Text Box 2068"/>
          <p:cNvSpPr txBox="1"/>
          <p:nvPr/>
        </p:nvSpPr>
        <p:spPr>
          <a:xfrm>
            <a:off x="763588" y="2146300"/>
            <a:ext cx="2151062"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zh-CN" altLang="en-US" sz="2800" b="1" dirty="0">
                <a:solidFill>
                  <a:srgbClr val="333399"/>
                </a:solidFill>
                <a:latin typeface="黑体" panose="02010609060101010101" pitchFamily="49" charset="-122"/>
                <a:ea typeface="黑体" panose="02010609060101010101" pitchFamily="49" charset="-122"/>
              </a:rPr>
              <a:t>二进制码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4021" name="Text Box 2069"/>
          <p:cNvSpPr txBox="1"/>
          <p:nvPr/>
        </p:nvSpPr>
        <p:spPr>
          <a:xfrm>
            <a:off x="542925" y="2744788"/>
            <a:ext cx="8216900" cy="946150"/>
          </a:xfrm>
          <a:prstGeom prst="rect">
            <a:avLst/>
          </a:prstGeom>
          <a:noFill/>
          <a:ln w="9525">
            <a:noFill/>
          </a:ln>
        </p:spPr>
        <p:txBody>
          <a:bodyPr>
            <a:spAutoFit/>
          </a:bodyPr>
          <a:p>
            <a:pPr algn="l" eaLnBrk="1" hangingPunct="1"/>
            <a:r>
              <a:rPr lang="zh-CN" altLang="en-US" sz="2800" b="1" dirty="0">
                <a:solidFill>
                  <a:schemeClr val="tx1"/>
                </a:solidFill>
                <a:latin typeface="Times New Roman" panose="02020603050405020304" pitchFamily="18" charset="0"/>
              </a:rPr>
              <a:t>在数据转换中，经常使用的是</a:t>
            </a:r>
            <a:r>
              <a:rPr lang="zh-CN" altLang="en-US" sz="2800" b="1" dirty="0">
                <a:solidFill>
                  <a:srgbClr val="FF0000"/>
                </a:solidFill>
                <a:latin typeface="Times New Roman" panose="02020603050405020304" pitchFamily="18" charset="0"/>
              </a:rPr>
              <a:t>二进制分数码</a:t>
            </a:r>
            <a:r>
              <a:rPr lang="zh-CN" altLang="en-US" sz="2800" b="1" dirty="0">
                <a:solidFill>
                  <a:schemeClr val="tx1"/>
                </a:solidFill>
                <a:latin typeface="Times New Roman" panose="02020603050405020304" pitchFamily="18" charset="0"/>
              </a:rPr>
              <a:t>。</a:t>
            </a:r>
            <a:r>
              <a:rPr lang="zh-CN" altLang="en-US" sz="2800" b="1" dirty="0">
                <a:solidFill>
                  <a:schemeClr val="tx1"/>
                </a:solidFill>
                <a:latin typeface="楷体_GB2312" pitchFamily="49" charset="-122"/>
              </a:rPr>
              <a:t>在这种码制中，一个（十进制）数的量化电平可表示为：</a:t>
            </a:r>
            <a:endParaRPr lang="zh-CN" altLang="en-US" sz="2800" b="1" dirty="0">
              <a:solidFill>
                <a:schemeClr val="tx1"/>
              </a:solidFill>
              <a:latin typeface="楷体_GB2312" pitchFamily="49" charset="-122"/>
            </a:endParaRPr>
          </a:p>
        </p:txBody>
      </p:sp>
      <p:sp>
        <p:nvSpPr>
          <p:cNvPr id="2304022" name="Text Box 2070"/>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04023" name="Text Box 2071"/>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aphicFrame>
        <p:nvGraphicFramePr>
          <p:cNvPr id="59400" name="Object 2072"/>
          <p:cNvGraphicFramePr>
            <a:graphicFrameLocks noChangeAspect="1"/>
          </p:cNvGraphicFramePr>
          <p:nvPr/>
        </p:nvGraphicFramePr>
        <p:xfrm>
          <a:off x="1874838" y="3752850"/>
          <a:ext cx="5037137" cy="1120775"/>
        </p:xfrm>
        <a:graphic>
          <a:graphicData uri="http://schemas.openxmlformats.org/presentationml/2006/ole">
            <mc:AlternateContent xmlns:mc="http://schemas.openxmlformats.org/markup-compatibility/2006">
              <mc:Choice xmlns:v="urn:schemas-microsoft-com:vml" Requires="v">
                <p:oleObj spid="_x0000_s3193" name="" r:id="rId1" imgW="1980565" imgH="431800" progId="Equation.3">
                  <p:embed/>
                </p:oleObj>
              </mc:Choice>
              <mc:Fallback>
                <p:oleObj name="" r:id="rId1" imgW="1980565" imgH="431800" progId="Equation.3">
                  <p:embed/>
                  <p:pic>
                    <p:nvPicPr>
                      <p:cNvPr id="0" name="图片 3192"/>
                      <p:cNvPicPr/>
                      <p:nvPr/>
                    </p:nvPicPr>
                    <p:blipFill>
                      <a:blip r:embed="rId2"/>
                      <a:stretch>
                        <a:fillRect/>
                      </a:stretch>
                    </p:blipFill>
                    <p:spPr>
                      <a:xfrm>
                        <a:off x="1874838" y="3752850"/>
                        <a:ext cx="5037137" cy="1120775"/>
                      </a:xfrm>
                      <a:prstGeom prst="rect">
                        <a:avLst/>
                      </a:prstGeom>
                      <a:solidFill>
                        <a:srgbClr val="CCFFFF"/>
                      </a:solidFill>
                      <a:ln w="38100">
                        <a:noFill/>
                        <a:miter/>
                      </a:ln>
                    </p:spPr>
                  </p:pic>
                </p:oleObj>
              </mc:Fallback>
            </mc:AlternateContent>
          </a:graphicData>
        </a:graphic>
      </p:graphicFrame>
      <p:sp>
        <p:nvSpPr>
          <p:cNvPr id="2304025" name="Text Box 2073"/>
          <p:cNvSpPr txBox="1"/>
          <p:nvPr/>
        </p:nvSpPr>
        <p:spPr>
          <a:xfrm>
            <a:off x="763588" y="5049838"/>
            <a:ext cx="7788275" cy="946150"/>
          </a:xfrm>
          <a:prstGeom prst="rect">
            <a:avLst/>
          </a:prstGeom>
          <a:noFill/>
          <a:ln w="9525">
            <a:noFill/>
          </a:ln>
        </p:spPr>
        <p:txBody>
          <a:bodyPr>
            <a:spAutoFit/>
          </a:bodyPr>
          <a:p>
            <a:pPr algn="l" eaLnBrk="1" hangingPunct="1"/>
            <a:r>
              <a:rPr lang="zh-CN" altLang="en-US" sz="2800" b="1" dirty="0">
                <a:solidFill>
                  <a:srgbClr val="333399"/>
                </a:solidFill>
                <a:latin typeface="Times New Roman" panose="02020603050405020304" pitchFamily="18" charset="0"/>
              </a:rPr>
              <a:t>式中</a:t>
            </a:r>
            <a:r>
              <a:rPr lang="zh-CN" altLang="en-US" sz="2800" b="1" dirty="0">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rPr>
              <a:t>第</a:t>
            </a:r>
            <a:r>
              <a:rPr lang="en-US" altLang="zh-CN" sz="2800" b="1">
                <a:solidFill>
                  <a:srgbClr val="333399"/>
                </a:solidFill>
                <a:latin typeface="Times New Roman" panose="02020603050405020304" pitchFamily="18" charset="0"/>
                <a:ea typeface="宋体" panose="02010600030101010101" pitchFamily="2" charset="-122"/>
              </a:rPr>
              <a:t>1</a:t>
            </a:r>
            <a:r>
              <a:rPr lang="zh-CN" altLang="en-US" sz="2800" b="1" dirty="0">
                <a:solidFill>
                  <a:srgbClr val="333399"/>
                </a:solidFill>
                <a:latin typeface="Times New Roman" panose="02020603050405020304" pitchFamily="18" charset="0"/>
              </a:rPr>
              <a:t>位</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a:solidFill>
                  <a:srgbClr val="333399"/>
                </a:solidFill>
                <a:latin typeface="Times New Roman" panose="02020603050405020304" pitchFamily="18" charset="0"/>
                <a:ea typeface="宋体" panose="02010600030101010101" pitchFamily="2" charset="-122"/>
              </a:rPr>
              <a:t>MSB</a:t>
            </a:r>
            <a:r>
              <a:rPr lang="zh-CN" altLang="en-US" sz="2800" b="1" dirty="0">
                <a:solidFill>
                  <a:srgbClr val="333399"/>
                </a:solidFill>
                <a:latin typeface="Times New Roman" panose="02020603050405020304" pitchFamily="18" charset="0"/>
                <a:ea typeface="宋体" panose="02010600030101010101" pitchFamily="2" charset="-122"/>
              </a:rPr>
              <a:t>）</a:t>
            </a:r>
            <a:r>
              <a:rPr lang="zh-CN" altLang="en-US" sz="2800" b="1" dirty="0">
                <a:solidFill>
                  <a:srgbClr val="333399"/>
                </a:solidFill>
                <a:latin typeface="Times New Roman" panose="02020603050405020304" pitchFamily="18" charset="0"/>
              </a:rPr>
              <a:t>的权是</a:t>
            </a:r>
            <a:r>
              <a:rPr lang="en-US" altLang="zh-CN" sz="2800" b="1">
                <a:solidFill>
                  <a:srgbClr val="333399"/>
                </a:solidFill>
                <a:latin typeface="Times New Roman" panose="02020603050405020304" pitchFamily="18" charset="0"/>
              </a:rPr>
              <a:t>1/2</a:t>
            </a:r>
            <a:r>
              <a:rPr lang="zh-CN" altLang="en-US" sz="2800" b="1" dirty="0">
                <a:solidFill>
                  <a:srgbClr val="333399"/>
                </a:solidFill>
                <a:latin typeface="Times New Roman" panose="02020603050405020304" pitchFamily="18" charset="0"/>
              </a:rPr>
              <a:t>，第二位的权是</a:t>
            </a:r>
            <a:r>
              <a:rPr lang="en-US" altLang="zh-CN" sz="2800" b="1">
                <a:solidFill>
                  <a:srgbClr val="333399"/>
                </a:solidFill>
                <a:latin typeface="Times New Roman" panose="02020603050405020304" pitchFamily="18" charset="0"/>
              </a:rPr>
              <a:t>1/4</a:t>
            </a:r>
            <a:r>
              <a:rPr lang="zh-CN" altLang="en-US" sz="2800" b="1" dirty="0">
                <a:solidFill>
                  <a:srgbClr val="333399"/>
                </a:solidFill>
                <a:latin typeface="Times New Roman" panose="02020603050405020304" pitchFamily="18" charset="0"/>
              </a:rPr>
              <a:t>，</a:t>
            </a:r>
            <a:r>
              <a:rPr lang="en-US" altLang="zh-CN" sz="2800" b="1">
                <a:solidFill>
                  <a:srgbClr val="333399"/>
                </a:solidFill>
                <a:latin typeface="Times New Roman" panose="02020603050405020304" pitchFamily="18" charset="0"/>
              </a:rPr>
              <a:t>……</a:t>
            </a:r>
            <a:r>
              <a:rPr lang="zh-CN" altLang="en-US" sz="2800" b="1" dirty="0">
                <a:solidFill>
                  <a:srgbClr val="333399"/>
                </a:solidFill>
                <a:latin typeface="Times New Roman" panose="02020603050405020304" pitchFamily="18" charset="0"/>
              </a:rPr>
              <a:t>，第</a:t>
            </a:r>
            <a:r>
              <a:rPr lang="en-US" altLang="zh-CN" sz="2800" b="1" i="1">
                <a:solidFill>
                  <a:srgbClr val="333399"/>
                </a:solidFill>
                <a:latin typeface="Times New Roman" panose="02020603050405020304" pitchFamily="18" charset="0"/>
              </a:rPr>
              <a:t>n</a:t>
            </a:r>
            <a:r>
              <a:rPr lang="zh-CN" altLang="en-US" sz="2800" b="1" dirty="0">
                <a:solidFill>
                  <a:srgbClr val="333399"/>
                </a:solidFill>
                <a:latin typeface="Times New Roman" panose="02020603050405020304" pitchFamily="18" charset="0"/>
              </a:rPr>
              <a:t>位的权是</a:t>
            </a:r>
            <a:r>
              <a:rPr lang="en-US" altLang="zh-CN" sz="2800" b="1">
                <a:solidFill>
                  <a:srgbClr val="333399"/>
                </a:solidFill>
                <a:latin typeface="Times New Roman" panose="02020603050405020304" pitchFamily="18" charset="0"/>
              </a:rPr>
              <a:t>1/2</a:t>
            </a:r>
            <a:r>
              <a:rPr lang="en-US" altLang="zh-CN" sz="2800" b="1" baseline="30000">
                <a:solidFill>
                  <a:srgbClr val="333399"/>
                </a:solidFill>
                <a:latin typeface="Times New Roman" panose="02020603050405020304" pitchFamily="18" charset="0"/>
              </a:rPr>
              <a:t>n</a:t>
            </a:r>
            <a:r>
              <a:rPr lang="zh-CN" altLang="en-US" sz="2800" b="1" dirty="0">
                <a:solidFill>
                  <a:srgbClr val="333399"/>
                </a:solidFill>
                <a:latin typeface="Times New Roman" panose="02020603050405020304" pitchFamily="18" charset="0"/>
                <a:ea typeface="宋体" panose="02010600030101010101" pitchFamily="2" charset="-122"/>
              </a:rPr>
              <a:t>。</a:t>
            </a:r>
            <a:r>
              <a:rPr lang="en-US" altLang="zh-CN" sz="2800" b="1" i="1" err="1">
                <a:solidFill>
                  <a:srgbClr val="FF0000"/>
                </a:solidFill>
                <a:latin typeface="Times New Roman" panose="02020603050405020304" pitchFamily="18" charset="0"/>
              </a:rPr>
              <a:t>a</a:t>
            </a:r>
            <a:r>
              <a:rPr lang="en-US" altLang="zh-CN" sz="2800" b="1" i="1" baseline="-25000" err="1">
                <a:solidFill>
                  <a:srgbClr val="FF0000"/>
                </a:solidFill>
                <a:latin typeface="Times New Roman" panose="02020603050405020304" pitchFamily="18" charset="0"/>
              </a:rPr>
              <a:t>i</a:t>
            </a:r>
            <a:r>
              <a:rPr lang="zh-CN" altLang="en-US" sz="2800" b="1" dirty="0">
                <a:solidFill>
                  <a:srgbClr val="FF0000"/>
                </a:solidFill>
                <a:latin typeface="Times New Roman" panose="02020603050405020304" pitchFamily="18" charset="0"/>
              </a:rPr>
              <a:t>或为</a:t>
            </a:r>
            <a:r>
              <a:rPr lang="en-US" altLang="zh-CN" sz="2800" b="1">
                <a:solidFill>
                  <a:srgbClr val="FF0000"/>
                </a:solidFill>
                <a:latin typeface="Times New Roman" panose="02020603050405020304" pitchFamily="18" charset="0"/>
              </a:rPr>
              <a:t>0</a:t>
            </a:r>
            <a:r>
              <a:rPr lang="zh-CN" altLang="en-US" sz="2800" b="1" dirty="0">
                <a:solidFill>
                  <a:srgbClr val="FF0000"/>
                </a:solidFill>
                <a:latin typeface="Times New Roman" panose="02020603050405020304" pitchFamily="18" charset="0"/>
              </a:rPr>
              <a:t>或为</a:t>
            </a:r>
            <a:r>
              <a:rPr lang="en-US" altLang="zh-CN" sz="2800" b="1">
                <a:solidFill>
                  <a:srgbClr val="FF0000"/>
                </a:solidFill>
                <a:latin typeface="Times New Roman" panose="02020603050405020304" pitchFamily="18" charset="0"/>
              </a:rPr>
              <a:t>1</a:t>
            </a:r>
            <a:r>
              <a:rPr lang="zh-CN" altLang="en-US" sz="2800" b="1" dirty="0">
                <a:solidFill>
                  <a:srgbClr val="333399"/>
                </a:solidFill>
                <a:latin typeface="Times New Roman" panose="02020603050405020304" pitchFamily="18" charset="0"/>
              </a:rPr>
              <a:t>。</a:t>
            </a:r>
            <a:endParaRPr lang="zh-CN" altLang="en-US" sz="28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4018"/>
                                        </p:tgtEl>
                                        <p:attrNameLst>
                                          <p:attrName>style.visibility</p:attrName>
                                        </p:attrNameLst>
                                      </p:cBhvr>
                                      <p:to>
                                        <p:strVal val="visible"/>
                                      </p:to>
                                    </p:set>
                                    <p:animEffect transition="in" filter="dissolve">
                                      <p:cBhvr>
                                        <p:cTn id="7" dur="500"/>
                                        <p:tgtEl>
                                          <p:spTgt spid="23040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04019"/>
                                        </p:tgtEl>
                                        <p:attrNameLst>
                                          <p:attrName>style.visibility</p:attrName>
                                        </p:attrNameLst>
                                      </p:cBhvr>
                                      <p:to>
                                        <p:strVal val="visible"/>
                                      </p:to>
                                    </p:set>
                                    <p:animEffect transition="in" filter="dissolve">
                                      <p:cBhvr>
                                        <p:cTn id="12" dur="500"/>
                                        <p:tgtEl>
                                          <p:spTgt spid="23040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04020"/>
                                        </p:tgtEl>
                                        <p:attrNameLst>
                                          <p:attrName>style.visibility</p:attrName>
                                        </p:attrNameLst>
                                      </p:cBhvr>
                                      <p:to>
                                        <p:strVal val="visible"/>
                                      </p:to>
                                    </p:set>
                                    <p:animEffect transition="in" filter="dissolve">
                                      <p:cBhvr>
                                        <p:cTn id="17" dur="500"/>
                                        <p:tgtEl>
                                          <p:spTgt spid="230402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4021"/>
                                        </p:tgtEl>
                                        <p:attrNameLst>
                                          <p:attrName>style.visibility</p:attrName>
                                        </p:attrNameLst>
                                      </p:cBhvr>
                                      <p:to>
                                        <p:strVal val="visible"/>
                                      </p:to>
                                    </p:set>
                                    <p:animEffect transition="in" filter="dissolve">
                                      <p:cBhvr>
                                        <p:cTn id="22" dur="500"/>
                                        <p:tgtEl>
                                          <p:spTgt spid="230402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9400"/>
                                        </p:tgtEl>
                                        <p:attrNameLst>
                                          <p:attrName>style.visibility</p:attrName>
                                        </p:attrNameLst>
                                      </p:cBhvr>
                                      <p:to>
                                        <p:strVal val="visible"/>
                                      </p:to>
                                    </p:set>
                                    <p:animEffect transition="in" filter="wipe(left)">
                                      <p:cBhvr>
                                        <p:cTn id="27" dur="500"/>
                                        <p:tgtEl>
                                          <p:spTgt spid="5940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04025"/>
                                        </p:tgtEl>
                                        <p:attrNameLst>
                                          <p:attrName>style.visibility</p:attrName>
                                        </p:attrNameLst>
                                      </p:cBhvr>
                                      <p:to>
                                        <p:strVal val="visible"/>
                                      </p:to>
                                    </p:set>
                                    <p:animEffect transition="in" filter="dissolve">
                                      <p:cBhvr>
                                        <p:cTn id="32" dur="500"/>
                                        <p:tgtEl>
                                          <p:spTgt spid="23040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4018" grpId="0" bldLvl="0" animBg="1"/>
      <p:bldP spid="2304019" grpId="0"/>
      <p:bldP spid="2304020" grpId="0"/>
      <p:bldP spid="2304021" grpId="0"/>
      <p:bldP spid="2304025"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6070" name="Text Box 6166"/>
          <p:cNvSpPr txBox="1"/>
          <p:nvPr/>
        </p:nvSpPr>
        <p:spPr>
          <a:xfrm>
            <a:off x="1079500" y="2816225"/>
            <a:ext cx="7232650" cy="1160463"/>
          </a:xfrm>
          <a:prstGeom prst="rect">
            <a:avLst/>
          </a:prstGeom>
          <a:solidFill>
            <a:srgbClr val="FFFF99"/>
          </a:solidFill>
          <a:ln w="9525">
            <a:noFill/>
          </a:ln>
        </p:spPr>
        <p:txBody>
          <a:bodyPr>
            <a:spAutoFit/>
          </a:bodyPr>
          <a:p>
            <a:pPr algn="l" eaLnBrk="1" hangingPunct="1">
              <a:spcBef>
                <a:spcPct val="50000"/>
              </a:spcBef>
            </a:pPr>
            <a:r>
              <a:rPr lang="zh-CN" altLang="en-US" sz="2800" b="1" dirty="0">
                <a:solidFill>
                  <a:srgbClr val="333399"/>
                </a:solidFill>
                <a:latin typeface="楷体_GB2312" pitchFamily="49" charset="-122"/>
              </a:rPr>
              <a:t>当</a:t>
            </a:r>
            <a:r>
              <a:rPr lang="en-US" altLang="zh-CN" sz="2800" b="1" i="1">
                <a:solidFill>
                  <a:srgbClr val="FF0000"/>
                </a:solidFill>
                <a:latin typeface="Times New Roman" panose="02020603050405020304" pitchFamily="18" charset="0"/>
              </a:rPr>
              <a:t>a</a:t>
            </a:r>
            <a:r>
              <a:rPr lang="en-US" altLang="zh-CN" sz="2800" b="1" i="1" baseline="-25000">
                <a:solidFill>
                  <a:srgbClr val="FF0000"/>
                </a:solidFill>
                <a:latin typeface="Times New Roman" panose="02020603050405020304" pitchFamily="18" charset="0"/>
              </a:rPr>
              <a:t>1</a:t>
            </a:r>
            <a:r>
              <a:rPr lang="zh-CN" altLang="en-US" sz="2800" b="1" dirty="0">
                <a:solidFill>
                  <a:srgbClr val="333399"/>
                </a:solidFill>
                <a:latin typeface="Times New Roman" panose="02020603050405020304" pitchFamily="18" charset="0"/>
              </a:rPr>
              <a:t>，</a:t>
            </a:r>
            <a:r>
              <a:rPr lang="en-US" altLang="zh-CN" sz="2800" b="1" i="1">
                <a:solidFill>
                  <a:srgbClr val="FF0000"/>
                </a:solidFill>
                <a:latin typeface="Times New Roman" panose="02020603050405020304" pitchFamily="18" charset="0"/>
              </a:rPr>
              <a:t>a</a:t>
            </a:r>
            <a:r>
              <a:rPr lang="en-US" altLang="zh-CN" sz="2800" b="1" i="1" baseline="-25000">
                <a:solidFill>
                  <a:srgbClr val="FF0000"/>
                </a:solidFill>
                <a:latin typeface="Times New Roman" panose="02020603050405020304" pitchFamily="18" charset="0"/>
              </a:rPr>
              <a:t>2</a:t>
            </a:r>
            <a:r>
              <a:rPr lang="zh-CN" altLang="en-US" sz="2800" b="1" dirty="0">
                <a:solidFill>
                  <a:srgbClr val="333399"/>
                </a:solidFill>
                <a:latin typeface="Times New Roman" panose="02020603050405020304" pitchFamily="18" charset="0"/>
              </a:rPr>
              <a:t>，</a:t>
            </a:r>
            <a:r>
              <a:rPr lang="en-US" altLang="zh-CN" sz="2800" b="1">
                <a:solidFill>
                  <a:srgbClr val="333399"/>
                </a:solidFill>
                <a:latin typeface="Times New Roman" panose="02020603050405020304" pitchFamily="18" charset="0"/>
              </a:rPr>
              <a:t>……</a:t>
            </a:r>
            <a:r>
              <a:rPr lang="zh-CN" altLang="en-US" sz="2800" b="1" dirty="0">
                <a:solidFill>
                  <a:srgbClr val="333399"/>
                </a:solidFill>
                <a:latin typeface="Times New Roman" panose="02020603050405020304" pitchFamily="18" charset="0"/>
              </a:rPr>
              <a:t>，</a:t>
            </a:r>
            <a:r>
              <a:rPr lang="en-US" altLang="zh-CN" sz="2800" b="1" i="1">
                <a:solidFill>
                  <a:srgbClr val="FF0000"/>
                </a:solidFill>
                <a:latin typeface="Times New Roman" panose="02020603050405020304" pitchFamily="18" charset="0"/>
              </a:rPr>
              <a:t>a</a:t>
            </a:r>
            <a:r>
              <a:rPr lang="en-US" altLang="zh-CN" sz="2800" b="1" i="1" baseline="-25000">
                <a:solidFill>
                  <a:srgbClr val="FF0000"/>
                </a:solidFill>
                <a:latin typeface="Times New Roman" panose="02020603050405020304" pitchFamily="18" charset="0"/>
              </a:rPr>
              <a:t>n</a:t>
            </a:r>
            <a:r>
              <a:rPr lang="zh-CN" altLang="en-US" sz="2800" b="1" dirty="0">
                <a:solidFill>
                  <a:srgbClr val="333399"/>
                </a:solidFill>
                <a:latin typeface="楷体_GB2312" pitchFamily="49" charset="-122"/>
              </a:rPr>
              <a:t>均为</a:t>
            </a:r>
            <a:r>
              <a:rPr lang="zh-CN" altLang="en-US" sz="2800" b="1" dirty="0">
                <a:solidFill>
                  <a:srgbClr val="333399"/>
                </a:solidFill>
                <a:latin typeface="Times New Roman" panose="02020603050405020304" pitchFamily="18" charset="0"/>
              </a:rPr>
              <a:t>“</a:t>
            </a:r>
            <a:r>
              <a:rPr lang="en-US" altLang="zh-CN" sz="2800" b="1">
                <a:solidFill>
                  <a:srgbClr val="FF0000"/>
                </a:solidFill>
                <a:latin typeface="楷体_GB2312" pitchFamily="49" charset="-122"/>
              </a:rPr>
              <a:t>1</a:t>
            </a:r>
            <a:r>
              <a:rPr lang="en-US" altLang="zh-CN" sz="2800" b="1">
                <a:solidFill>
                  <a:srgbClr val="333399"/>
                </a:solidFill>
                <a:latin typeface="Times New Roman" panose="02020603050405020304" pitchFamily="18" charset="0"/>
              </a:rPr>
              <a:t>”</a:t>
            </a:r>
            <a:r>
              <a:rPr lang="zh-CN" altLang="en-US" sz="2800" b="1" dirty="0">
                <a:solidFill>
                  <a:srgbClr val="333399"/>
                </a:solidFill>
                <a:latin typeface="楷体_GB2312" pitchFamily="49" charset="-122"/>
              </a:rPr>
              <a:t>时，</a:t>
            </a:r>
            <a:r>
              <a:rPr lang="en-US" altLang="zh-CN" sz="2800" b="1" i="1">
                <a:solidFill>
                  <a:srgbClr val="FF0000"/>
                </a:solidFill>
                <a:latin typeface="Times New Roman" panose="02020603050405020304" pitchFamily="18" charset="0"/>
              </a:rPr>
              <a:t>D</a:t>
            </a:r>
            <a:r>
              <a:rPr lang="zh-CN" altLang="en-US" sz="2800" b="1" dirty="0">
                <a:solidFill>
                  <a:srgbClr val="333399"/>
                </a:solidFill>
                <a:latin typeface="楷体_GB2312" pitchFamily="49" charset="-122"/>
              </a:rPr>
              <a:t>取最大值：</a:t>
            </a:r>
            <a:endParaRPr lang="zh-CN" altLang="en-US" sz="2800" b="1" dirty="0">
              <a:solidFill>
                <a:srgbClr val="333399"/>
              </a:solidFill>
              <a:latin typeface="楷体_GB2312" pitchFamily="49" charset="-122"/>
            </a:endParaRPr>
          </a:p>
          <a:p>
            <a:pPr algn="l" eaLnBrk="1" hangingPunct="1">
              <a:spcBef>
                <a:spcPct val="50000"/>
              </a:spcBef>
            </a:pPr>
            <a:r>
              <a:rPr lang="zh-CN" altLang="en-US" sz="2800" b="1" i="1" dirty="0">
                <a:solidFill>
                  <a:srgbClr val="FF0000"/>
                </a:solidFill>
                <a:latin typeface="Times New Roman" panose="02020603050405020304" pitchFamily="18" charset="0"/>
              </a:rPr>
              <a:t>                               </a:t>
            </a:r>
            <a:r>
              <a:rPr lang="en-US" altLang="zh-CN" sz="2800" b="1" i="1">
                <a:solidFill>
                  <a:srgbClr val="FF0000"/>
                </a:solidFill>
                <a:latin typeface="Times New Roman" panose="02020603050405020304" pitchFamily="18" charset="0"/>
              </a:rPr>
              <a:t>D</a:t>
            </a:r>
            <a:r>
              <a:rPr lang="en-US" altLang="zh-CN" sz="2800" b="1">
                <a:solidFill>
                  <a:srgbClr val="FF0000"/>
                </a:solidFill>
                <a:latin typeface="Times New Roman" panose="02020603050405020304" pitchFamily="18" charset="0"/>
              </a:rPr>
              <a:t>=1-1/2</a:t>
            </a:r>
            <a:r>
              <a:rPr lang="en-US" altLang="zh-CN" sz="2800" b="1" i="1" baseline="30000">
                <a:solidFill>
                  <a:srgbClr val="FF0000"/>
                </a:solidFill>
                <a:latin typeface="Times New Roman" panose="02020603050405020304" pitchFamily="18" charset="0"/>
              </a:rPr>
              <a:t>n</a:t>
            </a:r>
            <a:endParaRPr lang="en-US" altLang="zh-CN" sz="2800" b="1" i="1" baseline="30000">
              <a:solidFill>
                <a:srgbClr val="FF0000"/>
              </a:solidFill>
              <a:latin typeface="Times New Roman" panose="02020603050405020304" pitchFamily="18" charset="0"/>
            </a:endParaRPr>
          </a:p>
        </p:txBody>
      </p:sp>
      <p:sp>
        <p:nvSpPr>
          <p:cNvPr id="2306061" name="Text Box 6157"/>
          <p:cNvSpPr txBox="1"/>
          <p:nvPr/>
        </p:nvSpPr>
        <p:spPr>
          <a:xfrm>
            <a:off x="542925" y="2133600"/>
            <a:ext cx="8345488" cy="519113"/>
          </a:xfrm>
          <a:prstGeom prst="rect">
            <a:avLst/>
          </a:prstGeom>
          <a:solidFill>
            <a:srgbClr val="CCFFFF"/>
          </a:solid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数</a:t>
            </a:r>
            <a:r>
              <a:rPr lang="en-US" altLang="zh-CN" sz="2800" b="1" i="1">
                <a:solidFill>
                  <a:schemeClr val="tx1"/>
                </a:solidFill>
                <a:latin typeface="Times New Roman" panose="02020603050405020304" pitchFamily="18" charset="0"/>
                <a:ea typeface="黑体" panose="02010609060101010101" pitchFamily="49" charset="-122"/>
              </a:rPr>
              <a:t>D</a:t>
            </a:r>
            <a:r>
              <a:rPr lang="zh-CN" altLang="en-US" sz="2800" b="1" dirty="0">
                <a:solidFill>
                  <a:schemeClr val="tx1"/>
                </a:solidFill>
                <a:latin typeface="黑体" panose="02010609060101010101" pitchFamily="49" charset="-122"/>
                <a:ea typeface="黑体" panose="02010609060101010101" pitchFamily="49" charset="-122"/>
              </a:rPr>
              <a:t>的值就是所有非</a:t>
            </a:r>
            <a:r>
              <a:rPr lang="en-US" altLang="zh-CN" sz="2800" b="1">
                <a:solidFill>
                  <a:schemeClr val="tx1"/>
                </a:solidFill>
                <a:latin typeface="黑体" panose="02010609060101010101" pitchFamily="49" charset="-122"/>
                <a:ea typeface="黑体" panose="02010609060101010101" pitchFamily="49" charset="-122"/>
              </a:rPr>
              <a:t>0</a:t>
            </a:r>
            <a:r>
              <a:rPr lang="zh-CN" altLang="en-US" sz="2800" b="1" dirty="0">
                <a:solidFill>
                  <a:schemeClr val="tx1"/>
                </a:solidFill>
                <a:latin typeface="黑体" panose="02010609060101010101" pitchFamily="49" charset="-122"/>
                <a:ea typeface="黑体" panose="02010609060101010101" pitchFamily="49" charset="-122"/>
              </a:rPr>
              <a:t>位的值与它的权的积累加的和。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06065" name="Text Box 616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0422" name="Text Box 6164"/>
          <p:cNvSpPr txBox="1"/>
          <p:nvPr/>
        </p:nvSpPr>
        <p:spPr>
          <a:xfrm>
            <a:off x="763588" y="1484313"/>
            <a:ext cx="2151062"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zh-CN" altLang="en-US" sz="2800" b="1" dirty="0">
                <a:solidFill>
                  <a:srgbClr val="333399"/>
                </a:solidFill>
                <a:latin typeface="黑体" panose="02010609060101010101" pitchFamily="49" charset="-122"/>
                <a:ea typeface="黑体" panose="02010609060101010101" pitchFamily="49" charset="-122"/>
              </a:rPr>
              <a:t>二进制码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6069" name="Text Box 6165"/>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pSp>
        <p:nvGrpSpPr>
          <p:cNvPr id="2306073" name="Group 6169"/>
          <p:cNvGrpSpPr/>
          <p:nvPr/>
        </p:nvGrpSpPr>
        <p:grpSpPr>
          <a:xfrm>
            <a:off x="6119813" y="3895725"/>
            <a:ext cx="2768600" cy="701675"/>
            <a:chOff x="3719" y="2778"/>
            <a:chExt cx="1744" cy="442"/>
          </a:xfrm>
        </p:grpSpPr>
        <p:sp>
          <p:nvSpPr>
            <p:cNvPr id="60428" name="AutoShape 6168"/>
            <p:cNvSpPr/>
            <p:nvPr/>
          </p:nvSpPr>
          <p:spPr>
            <a:xfrm>
              <a:off x="3719" y="2778"/>
              <a:ext cx="1744" cy="442"/>
            </a:xfrm>
            <a:prstGeom prst="wedgeRoundRectCallout">
              <a:avLst>
                <a:gd name="adj1" fmla="val -46218"/>
                <a:gd name="adj2" fmla="val -84843"/>
                <a:gd name="adj3" fmla="val 16667"/>
              </a:avLst>
            </a:prstGeom>
            <a:solidFill>
              <a:schemeClr val="accent1"/>
            </a:solidFill>
            <a:ln w="9525" cap="flat" cmpd="sng">
              <a:solidFill>
                <a:schemeClr val="tx1"/>
              </a:solidFill>
              <a:prstDash val="solid"/>
              <a:miter/>
              <a:headEnd type="none" w="med" len="med"/>
              <a:tailEnd type="none" w="med" len="med"/>
            </a:ln>
          </p:spPr>
          <p:txBody>
            <a:bodyPr anchor="ctr" anchorCtr="0"/>
            <a:p>
              <a:pPr algn="ctr" eaLnBrk="1" hangingPunct="1"/>
              <a:endParaRPr lang="zh-CN" altLang="zh-CN" b="1" dirty="0">
                <a:solidFill>
                  <a:srgbClr val="333399"/>
                </a:solidFill>
                <a:latin typeface="楷体_GB2312" pitchFamily="49" charset="-122"/>
              </a:endParaRPr>
            </a:p>
          </p:txBody>
        </p:sp>
        <p:sp>
          <p:nvSpPr>
            <p:cNvPr id="60429" name="Text Box 6167"/>
            <p:cNvSpPr txBox="1"/>
            <p:nvPr/>
          </p:nvSpPr>
          <p:spPr>
            <a:xfrm>
              <a:off x="3719" y="2778"/>
              <a:ext cx="1744" cy="442"/>
            </a:xfrm>
            <a:prstGeom prst="rect">
              <a:avLst/>
            </a:prstGeom>
            <a:noFill/>
            <a:ln w="9525">
              <a:noFill/>
            </a:ln>
          </p:spPr>
          <p:txBody>
            <a:bodyPr>
              <a:spAutoFit/>
            </a:bodyPr>
            <a:p>
              <a:pPr algn="ctr" eaLnBrk="1" hangingPunct="1">
                <a:spcBef>
                  <a:spcPct val="50000"/>
                </a:spcBef>
              </a:pPr>
              <a:r>
                <a:rPr lang="zh-CN" altLang="en-US" sz="2000" b="1" dirty="0">
                  <a:solidFill>
                    <a:schemeClr val="tx1"/>
                  </a:solidFill>
                  <a:latin typeface="黑体" panose="02010609060101010101" pitchFamily="49" charset="-122"/>
                  <a:ea typeface="黑体" panose="02010609060101010101" pitchFamily="49" charset="-122"/>
                </a:rPr>
                <a:t>在二进制分数码中，数</a:t>
              </a:r>
              <a:r>
                <a:rPr lang="en-US" altLang="zh-CN" sz="2000" b="1">
                  <a:solidFill>
                    <a:schemeClr val="tx1"/>
                  </a:solidFill>
                  <a:latin typeface="黑体" panose="02010609060101010101" pitchFamily="49" charset="-122"/>
                  <a:ea typeface="黑体" panose="02010609060101010101" pitchFamily="49" charset="-122"/>
                </a:rPr>
                <a:t>D</a:t>
              </a:r>
              <a:r>
                <a:rPr lang="zh-CN" altLang="en-US" sz="2000" b="1" dirty="0">
                  <a:solidFill>
                    <a:schemeClr val="tx1"/>
                  </a:solidFill>
                  <a:latin typeface="黑体" panose="02010609060101010101" pitchFamily="49" charset="-122"/>
                  <a:ea typeface="黑体" panose="02010609060101010101" pitchFamily="49" charset="-122"/>
                </a:rPr>
                <a:t>的值是一个小数。</a:t>
              </a:r>
              <a:endParaRPr lang="zh-CN" altLang="en-US" sz="2000" b="1" dirty="0">
                <a:solidFill>
                  <a:schemeClr val="tx1"/>
                </a:solidFill>
                <a:latin typeface="黑体" panose="02010609060101010101" pitchFamily="49" charset="-122"/>
                <a:ea typeface="黑体" panose="02010609060101010101" pitchFamily="49" charset="-122"/>
              </a:endParaRPr>
            </a:p>
          </p:txBody>
        </p:sp>
      </p:grpSp>
      <p:sp>
        <p:nvSpPr>
          <p:cNvPr id="2306074" name="Text Box 6170"/>
          <p:cNvSpPr txBox="1"/>
          <p:nvPr/>
        </p:nvSpPr>
        <p:spPr>
          <a:xfrm>
            <a:off x="393700" y="4113213"/>
            <a:ext cx="3084513" cy="822325"/>
          </a:xfrm>
          <a:prstGeom prst="rect">
            <a:avLst/>
          </a:prstGeom>
          <a:noFill/>
          <a:ln w="9525">
            <a:noFill/>
          </a:ln>
        </p:spPr>
        <p:txBody>
          <a:bodyPr>
            <a:spAutoFit/>
          </a:bodyPr>
          <a:p>
            <a:pPr algn="l" eaLnBrk="1" hangingPunct="1">
              <a:spcBef>
                <a:spcPct val="50000"/>
              </a:spcBef>
            </a:pPr>
            <a:r>
              <a:rPr lang="zh-CN" altLang="en-US" sz="2400" b="1" dirty="0">
                <a:solidFill>
                  <a:schemeClr val="tx1"/>
                </a:solidFill>
                <a:latin typeface="黑体" panose="02010609060101010101" pitchFamily="49" charset="-122"/>
                <a:ea typeface="黑体" panose="02010609060101010101" pitchFamily="49" charset="-122"/>
              </a:rPr>
              <a:t>一个模拟电压</a:t>
            </a:r>
            <a:r>
              <a:rPr lang="en-US" altLang="zh-CN" sz="2400" b="1" i="1" err="1">
                <a:solidFill>
                  <a:srgbClr val="FF0000"/>
                </a:solidFill>
                <a:latin typeface="Times New Roman" panose="02020603050405020304" pitchFamily="18" charset="0"/>
                <a:ea typeface="黑体" panose="02010609060101010101" pitchFamily="49" charset="-122"/>
              </a:rPr>
              <a:t>U</a:t>
            </a:r>
            <a:r>
              <a:rPr lang="en-US" altLang="zh-CN" sz="2400" b="1" baseline="-25000" err="1">
                <a:solidFill>
                  <a:srgbClr val="FF0000"/>
                </a:solidFill>
                <a:latin typeface="Times New Roman" panose="02020603050405020304" pitchFamily="18" charset="0"/>
                <a:ea typeface="黑体" panose="02010609060101010101" pitchFamily="49" charset="-122"/>
              </a:rPr>
              <a:t>o</a:t>
            </a:r>
            <a:r>
              <a:rPr lang="zh-CN" altLang="en-US" sz="2400" b="1" dirty="0">
                <a:solidFill>
                  <a:schemeClr val="tx1"/>
                </a:solidFill>
                <a:latin typeface="黑体" panose="02010609060101010101" pitchFamily="49" charset="-122"/>
                <a:ea typeface="黑体" panose="02010609060101010101" pitchFamily="49" charset="-122"/>
              </a:rPr>
              <a:t>，用二进制分数码表示：</a:t>
            </a:r>
            <a:endParaRPr lang="zh-CN" altLang="en-US" sz="2400" b="1" dirty="0">
              <a:solidFill>
                <a:schemeClr val="tx1"/>
              </a:solidFill>
              <a:latin typeface="黑体" panose="02010609060101010101" pitchFamily="49" charset="-122"/>
              <a:ea typeface="黑体" panose="02010609060101010101" pitchFamily="49" charset="-122"/>
            </a:endParaRPr>
          </a:p>
        </p:txBody>
      </p:sp>
      <p:graphicFrame>
        <p:nvGraphicFramePr>
          <p:cNvPr id="60426" name="Object 6171"/>
          <p:cNvGraphicFramePr>
            <a:graphicFrameLocks noChangeAspect="1"/>
          </p:cNvGraphicFramePr>
          <p:nvPr/>
        </p:nvGraphicFramePr>
        <p:xfrm>
          <a:off x="482600" y="5016500"/>
          <a:ext cx="5637213" cy="968375"/>
        </p:xfrm>
        <a:graphic>
          <a:graphicData uri="http://schemas.openxmlformats.org/presentationml/2006/ole">
            <mc:AlternateContent xmlns:mc="http://schemas.openxmlformats.org/markup-compatibility/2006">
              <mc:Choice xmlns:v="urn:schemas-microsoft-com:vml" Requires="v">
                <p:oleObj spid="_x0000_s3195" name="" r:id="rId1" imgW="2564130" imgH="431800" progId="Equation.3">
                  <p:embed/>
                </p:oleObj>
              </mc:Choice>
              <mc:Fallback>
                <p:oleObj name="" r:id="rId1" imgW="2564130" imgH="431800" progId="Equation.3">
                  <p:embed/>
                  <p:pic>
                    <p:nvPicPr>
                      <p:cNvPr id="0" name="图片 3194"/>
                      <p:cNvPicPr/>
                      <p:nvPr/>
                    </p:nvPicPr>
                    <p:blipFill>
                      <a:blip r:embed="rId2"/>
                      <a:stretch>
                        <a:fillRect/>
                      </a:stretch>
                    </p:blipFill>
                    <p:spPr>
                      <a:xfrm>
                        <a:off x="482600" y="5016500"/>
                        <a:ext cx="5637213" cy="968375"/>
                      </a:xfrm>
                      <a:prstGeom prst="rect">
                        <a:avLst/>
                      </a:prstGeom>
                      <a:solidFill>
                        <a:srgbClr val="CCFFFF"/>
                      </a:solidFill>
                      <a:ln w="38100">
                        <a:noFill/>
                        <a:miter/>
                      </a:ln>
                    </p:spPr>
                  </p:pic>
                </p:oleObj>
              </mc:Fallback>
            </mc:AlternateContent>
          </a:graphicData>
        </a:graphic>
      </p:graphicFrame>
      <p:sp>
        <p:nvSpPr>
          <p:cNvPr id="2306076" name="Text Box 6172"/>
          <p:cNvSpPr txBox="1"/>
          <p:nvPr/>
        </p:nvSpPr>
        <p:spPr>
          <a:xfrm>
            <a:off x="6303963" y="5553075"/>
            <a:ext cx="2624137" cy="457200"/>
          </a:xfrm>
          <a:prstGeom prst="rect">
            <a:avLst/>
          </a:prstGeom>
          <a:solidFill>
            <a:srgbClr val="CCFFFF"/>
          </a:solidFill>
          <a:ln w="9525">
            <a:noFill/>
          </a:ln>
        </p:spPr>
        <p:txBody>
          <a:bodyPr>
            <a:spAutoFit/>
          </a:bodyPr>
          <a:p>
            <a:pPr algn="ctr" eaLnBrk="1" hangingPunct="1">
              <a:spcBef>
                <a:spcPct val="50000"/>
              </a:spcBef>
            </a:pPr>
            <a:r>
              <a:rPr lang="en-US" altLang="zh-CN" sz="2400" b="1" i="1">
                <a:solidFill>
                  <a:srgbClr val="FF0000"/>
                </a:solidFill>
                <a:latin typeface="Times New Roman" panose="02020603050405020304" pitchFamily="18" charset="0"/>
                <a:ea typeface="黑体" panose="02010609060101010101" pitchFamily="49" charset="-122"/>
              </a:rPr>
              <a:t>FSR</a:t>
            </a:r>
            <a:r>
              <a:rPr lang="zh-CN" altLang="en-US" sz="2400" b="1" dirty="0">
                <a:solidFill>
                  <a:srgbClr val="333399"/>
                </a:solidFill>
                <a:latin typeface="黑体" panose="02010609060101010101" pitchFamily="49" charset="-122"/>
                <a:ea typeface="黑体" panose="02010609060101010101" pitchFamily="49" charset="-122"/>
              </a:rPr>
              <a:t>：满量程电压</a:t>
            </a:r>
            <a:endParaRPr lang="zh-CN" altLang="en-US" sz="2400" b="1" dirty="0">
              <a:solidFill>
                <a:srgbClr val="333399"/>
              </a:solidFill>
              <a:latin typeface="黑体" panose="02010609060101010101" pitchFamily="49" charset="-122"/>
              <a:ea typeface="黑体" panose="02010609060101010101" pitchFamily="49"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6061"/>
                                        </p:tgtEl>
                                        <p:attrNameLst>
                                          <p:attrName>style.visibility</p:attrName>
                                        </p:attrNameLst>
                                      </p:cBhvr>
                                      <p:to>
                                        <p:strVal val="visible"/>
                                      </p:to>
                                    </p:set>
                                    <p:animEffect transition="in" filter="dissolve">
                                      <p:cBhvr>
                                        <p:cTn id="7" dur="500"/>
                                        <p:tgtEl>
                                          <p:spTgt spid="230606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06070"/>
                                        </p:tgtEl>
                                        <p:attrNameLst>
                                          <p:attrName>style.visibility</p:attrName>
                                        </p:attrNameLst>
                                      </p:cBhvr>
                                      <p:to>
                                        <p:strVal val="visible"/>
                                      </p:to>
                                    </p:set>
                                    <p:animEffect transition="in" filter="dissolve">
                                      <p:cBhvr>
                                        <p:cTn id="12" dur="500"/>
                                        <p:tgtEl>
                                          <p:spTgt spid="230607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06073"/>
                                        </p:tgtEl>
                                        <p:attrNameLst>
                                          <p:attrName>style.visibility</p:attrName>
                                        </p:attrNameLst>
                                      </p:cBhvr>
                                      <p:to>
                                        <p:strVal val="visible"/>
                                      </p:to>
                                    </p:set>
                                    <p:animEffect transition="in" filter="dissolve">
                                      <p:cBhvr>
                                        <p:cTn id="17" dur="500"/>
                                        <p:tgtEl>
                                          <p:spTgt spid="230607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6074"/>
                                        </p:tgtEl>
                                        <p:attrNameLst>
                                          <p:attrName>style.visibility</p:attrName>
                                        </p:attrNameLst>
                                      </p:cBhvr>
                                      <p:to>
                                        <p:strVal val="visible"/>
                                      </p:to>
                                    </p:set>
                                    <p:animEffect transition="in" filter="dissolve">
                                      <p:cBhvr>
                                        <p:cTn id="22" dur="500"/>
                                        <p:tgtEl>
                                          <p:spTgt spid="230607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0426"/>
                                        </p:tgtEl>
                                        <p:attrNameLst>
                                          <p:attrName>style.visibility</p:attrName>
                                        </p:attrNameLst>
                                      </p:cBhvr>
                                      <p:to>
                                        <p:strVal val="visible"/>
                                      </p:to>
                                    </p:set>
                                    <p:animEffect transition="in" filter="dissolve">
                                      <p:cBhvr>
                                        <p:cTn id="27" dur="500"/>
                                        <p:tgtEl>
                                          <p:spTgt spid="6042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06076"/>
                                        </p:tgtEl>
                                        <p:attrNameLst>
                                          <p:attrName>style.visibility</p:attrName>
                                        </p:attrNameLst>
                                      </p:cBhvr>
                                      <p:to>
                                        <p:strVal val="visible"/>
                                      </p:to>
                                    </p:set>
                                    <p:animEffect transition="in" filter="dissolve">
                                      <p:cBhvr>
                                        <p:cTn id="32" dur="500"/>
                                        <p:tgtEl>
                                          <p:spTgt spid="2306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6070" grpId="0" bldLvl="0" animBg="1"/>
      <p:bldP spid="2306061" grpId="0" bldLvl="0" animBg="1"/>
      <p:bldP spid="2306074" grpId="0"/>
      <p:bldP spid="2306076" grpId="0" bldLvl="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4963" name="Text Box 3"/>
          <p:cNvSpPr txBox="1"/>
          <p:nvPr/>
        </p:nvSpPr>
        <p:spPr>
          <a:xfrm>
            <a:off x="641350" y="2211388"/>
            <a:ext cx="8251825" cy="946150"/>
          </a:xfrm>
          <a:prstGeom prst="rect">
            <a:avLst/>
          </a:prstGeom>
          <a:solidFill>
            <a:srgbClr val="CCFFFF"/>
          </a:solid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设有一个</a:t>
            </a:r>
            <a:r>
              <a:rPr lang="en-US" altLang="zh-CN" sz="2800" b="1">
                <a:solidFill>
                  <a:schemeClr val="tx1"/>
                </a:solidFill>
                <a:latin typeface="黑体" panose="02010609060101010101" pitchFamily="49" charset="-122"/>
                <a:ea typeface="黑体" panose="02010609060101010101" pitchFamily="49" charset="-122"/>
              </a:rPr>
              <a:t>D/A</a:t>
            </a:r>
            <a:r>
              <a:rPr lang="zh-CN" altLang="en-US" sz="2800" b="1" dirty="0">
                <a:solidFill>
                  <a:schemeClr val="tx1"/>
                </a:solidFill>
                <a:latin typeface="黑体" panose="02010609060101010101" pitchFamily="49" charset="-122"/>
                <a:ea typeface="黑体" panose="02010609060101010101" pitchFamily="49" charset="-122"/>
              </a:rPr>
              <a:t>转换器，输入二进制数码为</a:t>
            </a:r>
            <a:r>
              <a:rPr lang="en-US" altLang="zh-CN" sz="2800" b="1">
                <a:solidFill>
                  <a:schemeClr val="tx1"/>
                </a:solidFill>
                <a:latin typeface="黑体" panose="02010609060101010101" pitchFamily="49" charset="-122"/>
                <a:ea typeface="黑体" panose="02010609060101010101" pitchFamily="49" charset="-122"/>
              </a:rPr>
              <a:t>:</a:t>
            </a:r>
            <a:r>
              <a:rPr lang="en-US" altLang="zh-CN" sz="2800" b="1">
                <a:solidFill>
                  <a:srgbClr val="FF0000"/>
                </a:solidFill>
                <a:latin typeface="黑体" panose="02010609060101010101" pitchFamily="49" charset="-122"/>
                <a:ea typeface="黑体" panose="02010609060101010101" pitchFamily="49" charset="-122"/>
              </a:rPr>
              <a:t>110101</a:t>
            </a:r>
            <a:r>
              <a:rPr lang="zh-CN" altLang="en-US" sz="2800" b="1" dirty="0">
                <a:solidFill>
                  <a:schemeClr val="tx1"/>
                </a:solidFill>
                <a:latin typeface="黑体" panose="02010609060101010101" pitchFamily="49" charset="-122"/>
                <a:ea typeface="黑体" panose="02010609060101010101" pitchFamily="49" charset="-122"/>
              </a:rPr>
              <a:t>，基准电压</a:t>
            </a:r>
            <a:r>
              <a:rPr lang="en-US" altLang="zh-CN" sz="2800" b="1" i="1">
                <a:solidFill>
                  <a:srgbClr val="FF0000"/>
                </a:solidFill>
                <a:latin typeface="Times New Roman" panose="02020603050405020304" pitchFamily="18" charset="0"/>
                <a:ea typeface="黑体" panose="02010609060101010101" pitchFamily="49" charset="-122"/>
              </a:rPr>
              <a:t>U</a:t>
            </a:r>
            <a:r>
              <a:rPr lang="en-US" altLang="zh-CN" sz="2800" b="1" baseline="-25000">
                <a:solidFill>
                  <a:srgbClr val="FF0000"/>
                </a:solidFill>
                <a:latin typeface="Times New Roman" panose="02020603050405020304" pitchFamily="18" charset="0"/>
                <a:ea typeface="黑体" panose="02010609060101010101" pitchFamily="49" charset="-122"/>
              </a:rPr>
              <a:t>REF</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i="1">
                <a:solidFill>
                  <a:srgbClr val="FF0000"/>
                </a:solidFill>
                <a:latin typeface="Times New Roman" panose="02020603050405020304" pitchFamily="18" charset="0"/>
                <a:ea typeface="黑体" panose="02010609060101010101" pitchFamily="49" charset="-122"/>
              </a:rPr>
              <a:t>FSR</a:t>
            </a:r>
            <a:r>
              <a:rPr lang="en-US" altLang="zh-CN" sz="2800" b="1">
                <a:solidFill>
                  <a:srgbClr val="FF0000"/>
                </a:solidFill>
                <a:latin typeface="Times New Roman" panose="02020603050405020304" pitchFamily="18" charset="0"/>
                <a:ea typeface="黑体" panose="02010609060101010101" pitchFamily="49" charset="-122"/>
              </a:rPr>
              <a:t>=10V</a:t>
            </a:r>
            <a:r>
              <a:rPr lang="zh-CN" altLang="en-US" sz="2800" b="1" dirty="0">
                <a:solidFill>
                  <a:schemeClr val="tx1"/>
                </a:solidFill>
                <a:latin typeface="黑体" panose="02010609060101010101" pitchFamily="49" charset="-122"/>
                <a:ea typeface="黑体" panose="02010609060101010101" pitchFamily="49" charset="-122"/>
              </a:rPr>
              <a:t>，求</a:t>
            </a:r>
            <a:r>
              <a:rPr lang="en-US" altLang="zh-CN" sz="2800" b="1" i="1" err="1">
                <a:solidFill>
                  <a:srgbClr val="FF0000"/>
                </a:solidFill>
                <a:latin typeface="Times New Roman" panose="02020603050405020304" pitchFamily="18" charset="0"/>
                <a:ea typeface="黑体" panose="02010609060101010101" pitchFamily="49" charset="-122"/>
              </a:rPr>
              <a:t>U</a:t>
            </a:r>
            <a:r>
              <a:rPr lang="en-US" altLang="zh-CN" sz="2800" b="1" baseline="-25000" err="1">
                <a:solidFill>
                  <a:srgbClr val="FF0000"/>
                </a:solidFill>
                <a:latin typeface="Times New Roman" panose="02020603050405020304" pitchFamily="18" charset="0"/>
                <a:ea typeface="黑体" panose="02010609060101010101" pitchFamily="49" charset="-122"/>
              </a:rPr>
              <a:t>o</a:t>
            </a:r>
            <a:r>
              <a:rPr lang="en-US" altLang="zh-CN" sz="2800" b="1">
                <a:solidFill>
                  <a:srgbClr val="FF0000"/>
                </a:solidFill>
                <a:latin typeface="Times New Roman" panose="02020603050405020304" pitchFamily="18" charset="0"/>
                <a:ea typeface="黑体" panose="02010609060101010101" pitchFamily="49" charset="-122"/>
              </a:rPr>
              <a:t>=?</a:t>
            </a:r>
            <a:r>
              <a:rPr lang="en-US" altLang="zh-CN" sz="2800" b="1">
                <a:solidFill>
                  <a:schemeClr val="tx1"/>
                </a:solidFill>
                <a:latin typeface="黑体" panose="02010609060101010101" pitchFamily="49" charset="-122"/>
                <a:ea typeface="黑体" panose="02010609060101010101" pitchFamily="49" charset="-122"/>
              </a:rPr>
              <a:t> </a:t>
            </a:r>
            <a:endParaRPr lang="en-US" altLang="zh-CN" sz="2800" b="1">
              <a:solidFill>
                <a:schemeClr val="tx1"/>
              </a:solidFill>
              <a:latin typeface="黑体" panose="02010609060101010101" pitchFamily="49" charset="-122"/>
              <a:ea typeface="黑体" panose="02010609060101010101" pitchFamily="49" charset="-122"/>
            </a:endParaRPr>
          </a:p>
        </p:txBody>
      </p:sp>
      <p:sp>
        <p:nvSpPr>
          <p:cNvPr id="2344965" name="Text Box 5"/>
          <p:cNvSpPr txBox="1"/>
          <p:nvPr/>
        </p:nvSpPr>
        <p:spPr>
          <a:xfrm>
            <a:off x="223838" y="3194050"/>
            <a:ext cx="1000125" cy="579438"/>
          </a:xfrm>
          <a:prstGeom prst="rect">
            <a:avLst/>
          </a:prstGeom>
          <a:noFill/>
          <a:ln w="9525">
            <a:noFill/>
          </a:ln>
        </p:spPr>
        <p:txBody>
          <a:bodyPr wrap="none">
            <a:spAutoFit/>
          </a:bodyPr>
          <a:p>
            <a:pPr algn="l" eaLnBrk="1" hangingPunct="1"/>
            <a:r>
              <a:rPr lang="zh-CN" altLang="en-US" sz="3200" b="1" dirty="0">
                <a:solidFill>
                  <a:srgbClr val="333399"/>
                </a:solidFill>
                <a:latin typeface="Times New Roman" panose="02020603050405020304" pitchFamily="18" charset="0"/>
              </a:rPr>
              <a:t>解：</a:t>
            </a:r>
            <a:endParaRPr lang="zh-CN" altLang="en-US" sz="3200" b="1" dirty="0">
              <a:solidFill>
                <a:srgbClr val="333399"/>
              </a:solidFill>
              <a:latin typeface="Times New Roman" panose="02020603050405020304" pitchFamily="18" charset="0"/>
            </a:endParaRPr>
          </a:p>
        </p:txBody>
      </p:sp>
      <p:sp>
        <p:nvSpPr>
          <p:cNvPr id="2344966" name="Text Box 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1446" name="Text Box 8"/>
          <p:cNvSpPr txBox="1"/>
          <p:nvPr/>
        </p:nvSpPr>
        <p:spPr>
          <a:xfrm>
            <a:off x="763588" y="1484313"/>
            <a:ext cx="2151062"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zh-CN" altLang="en-US" sz="2800" b="1" dirty="0">
                <a:solidFill>
                  <a:srgbClr val="333399"/>
                </a:solidFill>
                <a:latin typeface="黑体" panose="02010609060101010101" pitchFamily="49" charset="-122"/>
                <a:ea typeface="黑体" panose="02010609060101010101" pitchFamily="49" charset="-122"/>
              </a:rPr>
              <a:t>二进制码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44969" name="Text Box 9"/>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44970" name="Text Box 10"/>
          <p:cNvSpPr txBox="1"/>
          <p:nvPr/>
        </p:nvSpPr>
        <p:spPr>
          <a:xfrm>
            <a:off x="4032250" y="1484313"/>
            <a:ext cx="1949450" cy="588962"/>
          </a:xfrm>
          <a:prstGeom prst="rect">
            <a:avLst/>
          </a:prstGeom>
          <a:solidFill>
            <a:srgbClr val="CC99FF"/>
          </a:solidFill>
          <a:ln w="9525" cap="flat" cmpd="sng">
            <a:solidFill>
              <a:srgbClr val="0000FF"/>
            </a:solidFill>
            <a:prstDash val="solid"/>
            <a:miter/>
            <a:headEnd type="none" w="med" len="med"/>
            <a:tailEnd type="none" w="med" len="med"/>
          </a:ln>
        </p:spPr>
        <p:txBody>
          <a:bodyPr>
            <a:spAutoFit/>
          </a:bodyPr>
          <a:p>
            <a:pPr algn="l" eaLnBrk="1" hangingPunct="1"/>
            <a:r>
              <a:rPr lang="zh-CN" altLang="en-US" sz="3200" b="1" dirty="0">
                <a:solidFill>
                  <a:srgbClr val="333399"/>
                </a:solidFill>
                <a:latin typeface="黑体" panose="02010609060101010101" pitchFamily="49" charset="-122"/>
                <a:ea typeface="黑体" panose="02010609060101010101" pitchFamily="49" charset="-122"/>
              </a:rPr>
              <a:t>编码实例：</a:t>
            </a:r>
            <a:endParaRPr lang="zh-CN" altLang="en-US" sz="3200" b="1" dirty="0">
              <a:solidFill>
                <a:srgbClr val="333399"/>
              </a:solidFill>
              <a:latin typeface="黑体" panose="02010609060101010101" pitchFamily="49" charset="-122"/>
              <a:ea typeface="黑体" panose="02010609060101010101" pitchFamily="49" charset="-122"/>
            </a:endParaRPr>
          </a:p>
        </p:txBody>
      </p:sp>
      <p:graphicFrame>
        <p:nvGraphicFramePr>
          <p:cNvPr id="61449" name="Object 11"/>
          <p:cNvGraphicFramePr>
            <a:graphicFrameLocks noChangeAspect="1"/>
          </p:cNvGraphicFramePr>
          <p:nvPr/>
        </p:nvGraphicFramePr>
        <p:xfrm>
          <a:off x="827088" y="3681413"/>
          <a:ext cx="8027987" cy="919162"/>
        </p:xfrm>
        <a:graphic>
          <a:graphicData uri="http://schemas.openxmlformats.org/presentationml/2006/ole">
            <mc:AlternateContent xmlns:mc="http://schemas.openxmlformats.org/markup-compatibility/2006">
              <mc:Choice xmlns:v="urn:schemas-microsoft-com:vml" Requires="v">
                <p:oleObj spid="_x0000_s3196" name="" r:id="rId1" imgW="3681095" imgH="393700" progId="Equation.3">
                  <p:embed/>
                </p:oleObj>
              </mc:Choice>
              <mc:Fallback>
                <p:oleObj name="" r:id="rId1" imgW="3681095" imgH="393700" progId="Equation.3">
                  <p:embed/>
                  <p:pic>
                    <p:nvPicPr>
                      <p:cNvPr id="0" name="图片 3195"/>
                      <p:cNvPicPr/>
                      <p:nvPr/>
                    </p:nvPicPr>
                    <p:blipFill>
                      <a:blip r:embed="rId2"/>
                      <a:stretch>
                        <a:fillRect/>
                      </a:stretch>
                    </p:blipFill>
                    <p:spPr>
                      <a:xfrm>
                        <a:off x="827088" y="3681413"/>
                        <a:ext cx="8027987" cy="919162"/>
                      </a:xfrm>
                      <a:prstGeom prst="rect">
                        <a:avLst/>
                      </a:prstGeom>
                      <a:solidFill>
                        <a:schemeClr val="bg1"/>
                      </a:solidFill>
                      <a:ln w="38100">
                        <a:noFill/>
                        <a:miter/>
                      </a:ln>
                    </p:spPr>
                  </p:pic>
                </p:oleObj>
              </mc:Fallback>
            </mc:AlternateContent>
          </a:graphicData>
        </a:graphic>
      </p:graphicFrame>
      <p:sp>
        <p:nvSpPr>
          <p:cNvPr id="2344972" name="Text Box 12"/>
          <p:cNvSpPr txBox="1"/>
          <p:nvPr/>
        </p:nvSpPr>
        <p:spPr>
          <a:xfrm>
            <a:off x="220663" y="5081588"/>
            <a:ext cx="592137" cy="579437"/>
          </a:xfrm>
          <a:prstGeom prst="rect">
            <a:avLst/>
          </a:prstGeom>
          <a:solidFill>
            <a:schemeClr val="bg1"/>
          </a:solidFill>
          <a:ln w="9525">
            <a:noFill/>
          </a:ln>
        </p:spPr>
        <p:txBody>
          <a:bodyPr wrap="none">
            <a:spAutoFit/>
          </a:bodyPr>
          <a:p>
            <a:pPr algn="l" eaLnBrk="1" hangingPunct="1"/>
            <a:r>
              <a:rPr lang="zh-CN" altLang="en-US" sz="3200" b="1" dirty="0">
                <a:solidFill>
                  <a:srgbClr val="333399"/>
                </a:solidFill>
                <a:latin typeface="Times New Roman" panose="02020603050405020304" pitchFamily="18" charset="0"/>
              </a:rPr>
              <a:t>则</a:t>
            </a:r>
            <a:endParaRPr lang="zh-CN" altLang="en-US" sz="3200" b="1" dirty="0">
              <a:solidFill>
                <a:srgbClr val="333399"/>
              </a:solidFill>
              <a:latin typeface="Times New Roman" panose="02020603050405020304" pitchFamily="18" charset="0"/>
            </a:endParaRPr>
          </a:p>
        </p:txBody>
      </p:sp>
      <p:graphicFrame>
        <p:nvGraphicFramePr>
          <p:cNvPr id="61451" name="Object 13"/>
          <p:cNvGraphicFramePr>
            <a:graphicFrameLocks noChangeAspect="1"/>
          </p:cNvGraphicFramePr>
          <p:nvPr/>
        </p:nvGraphicFramePr>
        <p:xfrm>
          <a:off x="865188" y="5137150"/>
          <a:ext cx="6731000" cy="558800"/>
        </p:xfrm>
        <a:graphic>
          <a:graphicData uri="http://schemas.openxmlformats.org/presentationml/2006/ole">
            <mc:AlternateContent xmlns:mc="http://schemas.openxmlformats.org/markup-compatibility/2006">
              <mc:Choice xmlns:v="urn:schemas-microsoft-com:vml" Requires="v">
                <p:oleObj spid="_x0000_s3194" name="" r:id="rId3" imgW="2603500" imgH="228600" progId="Equation.3">
                  <p:embed/>
                </p:oleObj>
              </mc:Choice>
              <mc:Fallback>
                <p:oleObj name="" r:id="rId3" imgW="2603500" imgH="228600" progId="Equation.3">
                  <p:embed/>
                  <p:pic>
                    <p:nvPicPr>
                      <p:cNvPr id="0" name="图片 3193"/>
                      <p:cNvPicPr/>
                      <p:nvPr/>
                    </p:nvPicPr>
                    <p:blipFill>
                      <a:blip r:embed="rId4"/>
                      <a:stretch>
                        <a:fillRect/>
                      </a:stretch>
                    </p:blipFill>
                    <p:spPr>
                      <a:xfrm>
                        <a:off x="865188" y="5137150"/>
                        <a:ext cx="6731000" cy="558800"/>
                      </a:xfrm>
                      <a:prstGeom prst="rect">
                        <a:avLst/>
                      </a:prstGeom>
                      <a:solidFill>
                        <a:schemeClr val="bg1"/>
                      </a:solidFill>
                      <a:ln w="38100">
                        <a:noFill/>
                        <a:miter/>
                      </a:ln>
                    </p:spPr>
                  </p:pic>
                </p:oleObj>
              </mc:Fallback>
            </mc:AlternateContent>
          </a:graphicData>
        </a:graphic>
      </p:graphicFrame>
      <p:sp>
        <p:nvSpPr>
          <p:cNvPr id="2344974" name="Text Box 14"/>
          <p:cNvSpPr txBox="1"/>
          <p:nvPr/>
        </p:nvSpPr>
        <p:spPr>
          <a:xfrm>
            <a:off x="7308850" y="5084763"/>
            <a:ext cx="1079500" cy="519112"/>
          </a:xfrm>
          <a:prstGeom prst="rect">
            <a:avLst/>
          </a:prstGeom>
          <a:noFill/>
          <a:ln w="9525">
            <a:noFill/>
          </a:ln>
        </p:spPr>
        <p:txBody>
          <a:bodyPr>
            <a:spAutoFit/>
          </a:bodyPr>
          <a:p>
            <a:pPr algn="ctr" eaLnBrk="1" hangingPunct="1">
              <a:spcBef>
                <a:spcPct val="50000"/>
              </a:spcBef>
            </a:pPr>
            <a:r>
              <a:rPr lang="en-US" altLang="zh-CN" sz="2800" b="1">
                <a:solidFill>
                  <a:schemeClr val="tx1"/>
                </a:solidFill>
                <a:latin typeface="楷体_GB2312" pitchFamily="49" charset="-122"/>
              </a:rPr>
              <a:t>(V)</a:t>
            </a:r>
            <a:endParaRPr lang="en-US" altLang="zh-CN" sz="2800" b="1">
              <a:solidFill>
                <a:schemeClr val="tx1"/>
              </a:solidFill>
              <a:latin typeface="楷体_GB2312" pitchFamily="49"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44970"/>
                                        </p:tgtEl>
                                        <p:attrNameLst>
                                          <p:attrName>style.visibility</p:attrName>
                                        </p:attrNameLst>
                                      </p:cBhvr>
                                      <p:to>
                                        <p:strVal val="visible"/>
                                      </p:to>
                                    </p:set>
                                    <p:animEffect transition="in" filter="dissolve">
                                      <p:cBhvr>
                                        <p:cTn id="7" dur="500"/>
                                        <p:tgtEl>
                                          <p:spTgt spid="23449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44963"/>
                                        </p:tgtEl>
                                        <p:attrNameLst>
                                          <p:attrName>style.visibility</p:attrName>
                                        </p:attrNameLst>
                                      </p:cBhvr>
                                      <p:to>
                                        <p:strVal val="visible"/>
                                      </p:to>
                                    </p:set>
                                    <p:animEffect transition="in" filter="dissolve">
                                      <p:cBhvr>
                                        <p:cTn id="12" dur="500"/>
                                        <p:tgtEl>
                                          <p:spTgt spid="234496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44965"/>
                                        </p:tgtEl>
                                        <p:attrNameLst>
                                          <p:attrName>style.visibility</p:attrName>
                                        </p:attrNameLst>
                                      </p:cBhvr>
                                      <p:to>
                                        <p:strVal val="visible"/>
                                      </p:to>
                                    </p:set>
                                    <p:animEffect transition="in" filter="dissolve">
                                      <p:cBhvr>
                                        <p:cTn id="17" dur="500"/>
                                        <p:tgtEl>
                                          <p:spTgt spid="234496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1449"/>
                                        </p:tgtEl>
                                        <p:attrNameLst>
                                          <p:attrName>style.visibility</p:attrName>
                                        </p:attrNameLst>
                                      </p:cBhvr>
                                      <p:to>
                                        <p:strVal val="visible"/>
                                      </p:to>
                                    </p:set>
                                    <p:animEffect transition="in" filter="dissolve">
                                      <p:cBhvr>
                                        <p:cTn id="22" dur="500"/>
                                        <p:tgtEl>
                                          <p:spTgt spid="6144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44972"/>
                                        </p:tgtEl>
                                        <p:attrNameLst>
                                          <p:attrName>style.visibility</p:attrName>
                                        </p:attrNameLst>
                                      </p:cBhvr>
                                      <p:to>
                                        <p:strVal val="visible"/>
                                      </p:to>
                                    </p:set>
                                    <p:animEffect transition="in" filter="dissolve">
                                      <p:cBhvr>
                                        <p:cTn id="27" dur="500"/>
                                        <p:tgtEl>
                                          <p:spTgt spid="2344972"/>
                                        </p:tgtEl>
                                      </p:cBhvr>
                                    </p:animEffect>
                                  </p:childTnLst>
                                </p:cTn>
                              </p:par>
                              <p:par>
                                <p:cTn id="28" presetID="9" presetClass="entr" presetSubtype="0" fill="hold" nodeType="withEffect">
                                  <p:stCondLst>
                                    <p:cond delay="0"/>
                                  </p:stCondLst>
                                  <p:childTnLst>
                                    <p:set>
                                      <p:cBhvr>
                                        <p:cTn id="29" dur="1" fill="hold">
                                          <p:stCondLst>
                                            <p:cond delay="0"/>
                                          </p:stCondLst>
                                        </p:cTn>
                                        <p:tgtEl>
                                          <p:spTgt spid="61451"/>
                                        </p:tgtEl>
                                        <p:attrNameLst>
                                          <p:attrName>style.visibility</p:attrName>
                                        </p:attrNameLst>
                                      </p:cBhvr>
                                      <p:to>
                                        <p:strVal val="visible"/>
                                      </p:to>
                                    </p:set>
                                    <p:animEffect transition="in" filter="dissolve">
                                      <p:cBhvr>
                                        <p:cTn id="30" dur="500"/>
                                        <p:tgtEl>
                                          <p:spTgt spid="61451"/>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2344974"/>
                                        </p:tgtEl>
                                        <p:attrNameLst>
                                          <p:attrName>style.visibility</p:attrName>
                                        </p:attrNameLst>
                                      </p:cBhvr>
                                      <p:to>
                                        <p:strVal val="visible"/>
                                      </p:to>
                                    </p:set>
                                    <p:animEffect transition="in" filter="dissolve">
                                      <p:cBhvr>
                                        <p:cTn id="33" dur="500"/>
                                        <p:tgtEl>
                                          <p:spTgt spid="23449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4963" grpId="0" bldLvl="0" animBg="1"/>
      <p:bldP spid="2344965" grpId="0"/>
      <p:bldP spid="2344970" grpId="0" bldLvl="0" animBg="1"/>
      <p:bldP spid="2344972" grpId="0" bldLvl="0" animBg="1"/>
      <p:bldP spid="234497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7097" name="Rectangle 1049"/>
          <p:cNvSpPr/>
          <p:nvPr/>
        </p:nvSpPr>
        <p:spPr>
          <a:xfrm>
            <a:off x="754063" y="2060575"/>
            <a:ext cx="7669212" cy="2127250"/>
          </a:xfrm>
          <a:prstGeom prst="rect">
            <a:avLst/>
          </a:prstGeom>
          <a:solidFill>
            <a:srgbClr val="CCFFFF"/>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07087" name="Text Box 1039"/>
          <p:cNvSpPr txBox="1"/>
          <p:nvPr/>
        </p:nvSpPr>
        <p:spPr>
          <a:xfrm>
            <a:off x="763588" y="2060575"/>
            <a:ext cx="7669212" cy="1187450"/>
          </a:xfrm>
          <a:prstGeom prst="rect">
            <a:avLst/>
          </a:prstGeom>
          <a:noFill/>
          <a:ln w="9525">
            <a:noFill/>
          </a:ln>
        </p:spPr>
        <p:txBody>
          <a:bodyPr>
            <a:spAutoFit/>
          </a:bodyPr>
          <a:p>
            <a:pPr algn="l" eaLnBrk="1" hangingPunct="1"/>
            <a:r>
              <a:rPr lang="zh-CN" altLang="en-US" sz="2400" b="1" dirty="0">
                <a:solidFill>
                  <a:schemeClr val="tx1"/>
                </a:solidFill>
                <a:latin typeface="黑体" panose="02010609060101010101" pitchFamily="49" charset="-122"/>
                <a:ea typeface="黑体" panose="02010609060101010101" pitchFamily="49" charset="-122"/>
              </a:rPr>
              <a:t>由于二进制数码的位数</a:t>
            </a:r>
            <a:r>
              <a:rPr lang="en-US" altLang="zh-CN" sz="2400" b="1" i="1">
                <a:solidFill>
                  <a:srgbClr val="FF0000"/>
                </a:solidFill>
                <a:latin typeface="Times New Roman" panose="02020603050405020304" pitchFamily="18" charset="0"/>
                <a:ea typeface="黑体" panose="02010609060101010101" pitchFamily="49" charset="-122"/>
              </a:rPr>
              <a:t>n</a:t>
            </a:r>
            <a:r>
              <a:rPr lang="zh-CN" altLang="en-US" sz="2400" b="1" dirty="0">
                <a:solidFill>
                  <a:schemeClr val="tx1"/>
                </a:solidFill>
                <a:latin typeface="黑体" panose="02010609060101010101" pitchFamily="49" charset="-122"/>
                <a:ea typeface="黑体" panose="02010609060101010101" pitchFamily="49" charset="-122"/>
              </a:rPr>
              <a:t>是有限的，即使二进制数码的各位</a:t>
            </a:r>
            <a:r>
              <a:rPr lang="en-US" altLang="zh-CN" sz="2400" b="1" i="1" err="1">
                <a:solidFill>
                  <a:srgbClr val="FF0000"/>
                </a:solidFill>
                <a:latin typeface="Times New Roman" panose="02020603050405020304" pitchFamily="18" charset="0"/>
                <a:ea typeface="黑体" panose="02010609060101010101" pitchFamily="49" charset="-122"/>
              </a:rPr>
              <a:t>a</a:t>
            </a:r>
            <a:r>
              <a:rPr lang="en-US" altLang="zh-CN" sz="2400" b="1" i="1" baseline="-25000" err="1">
                <a:solidFill>
                  <a:srgbClr val="FF0000"/>
                </a:solidFill>
                <a:latin typeface="Times New Roman" panose="02020603050405020304" pitchFamily="18" charset="0"/>
                <a:ea typeface="黑体" panose="02010609060101010101" pitchFamily="49" charset="-122"/>
              </a:rPr>
              <a:t>i</a:t>
            </a:r>
            <a:r>
              <a:rPr lang="en-US" altLang="zh-CN" sz="2400" b="1" i="1" baseline="-25000">
                <a:solidFill>
                  <a:srgbClr val="FF0000"/>
                </a:solidFill>
                <a:latin typeface="Times New Roman" panose="02020603050405020304" pitchFamily="18" charset="0"/>
                <a:ea typeface="黑体" panose="02010609060101010101" pitchFamily="49" charset="-122"/>
              </a:rPr>
              <a:t> </a:t>
            </a:r>
            <a:r>
              <a:rPr lang="en-US" altLang="zh-CN" sz="2400" b="1">
                <a:solidFill>
                  <a:srgbClr val="FF0000"/>
                </a:solidFill>
                <a:latin typeface="Times New Roman" panose="02020603050405020304" pitchFamily="18" charset="0"/>
                <a:ea typeface="黑体" panose="02010609060101010101" pitchFamily="49" charset="-122"/>
              </a:rPr>
              <a:t>=1</a:t>
            </a:r>
            <a:r>
              <a:rPr lang="en-US" altLang="zh-CN" sz="2400" b="1">
                <a:solidFill>
                  <a:schemeClr val="tx1"/>
                </a:solidFill>
                <a:latin typeface="Times New Roman" panose="02020603050405020304" pitchFamily="18" charset="0"/>
                <a:ea typeface="黑体" panose="02010609060101010101" pitchFamily="49" charset="-122"/>
              </a:rPr>
              <a:t>( </a:t>
            </a:r>
            <a:r>
              <a:rPr lang="en-US" altLang="zh-CN" sz="2400" b="1" i="1">
                <a:solidFill>
                  <a:schemeClr val="tx1"/>
                </a:solidFill>
                <a:latin typeface="Times New Roman" panose="02020603050405020304" pitchFamily="18" charset="0"/>
                <a:ea typeface="黑体" panose="02010609060101010101" pitchFamily="49" charset="-122"/>
              </a:rPr>
              <a:t>i </a:t>
            </a:r>
            <a:r>
              <a:rPr lang="en-US" altLang="zh-CN" sz="2400" b="1">
                <a:solidFill>
                  <a:schemeClr val="tx1"/>
                </a:solidFill>
                <a:latin typeface="Times New Roman" panose="02020603050405020304" pitchFamily="18" charset="0"/>
                <a:ea typeface="黑体" panose="02010609060101010101" pitchFamily="49" charset="-122"/>
              </a:rPr>
              <a:t>=1</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a:solidFill>
                  <a:schemeClr val="tx1"/>
                </a:solidFill>
                <a:latin typeface="Times New Roman" panose="02020603050405020304" pitchFamily="18" charset="0"/>
                <a:ea typeface="黑体" panose="02010609060101010101" pitchFamily="49" charset="-122"/>
              </a:rPr>
              <a:t>2</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i="1">
                <a:solidFill>
                  <a:schemeClr val="tx1"/>
                </a:solidFill>
                <a:latin typeface="Times New Roman" panose="02020603050405020304" pitchFamily="18" charset="0"/>
                <a:ea typeface="黑体" panose="02010609060101010101" pitchFamily="49" charset="-122"/>
              </a:rPr>
              <a:t>n</a:t>
            </a:r>
            <a:r>
              <a:rPr lang="en-US" altLang="zh-CN" sz="2400" b="1">
                <a:solidFill>
                  <a:schemeClr val="tx1"/>
                </a:solidFill>
                <a:latin typeface="Times New Roman" panose="02020603050405020304" pitchFamily="18" charset="0"/>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。最大输出电压</a:t>
            </a:r>
            <a:r>
              <a:rPr lang="en-US" altLang="zh-CN" sz="2400" b="1" i="1" err="1">
                <a:solidFill>
                  <a:srgbClr val="FF0000"/>
                </a:solidFill>
                <a:latin typeface="Times New Roman" panose="02020603050405020304" pitchFamily="18" charset="0"/>
                <a:ea typeface="黑体" panose="02010609060101010101" pitchFamily="49" charset="-122"/>
              </a:rPr>
              <a:t>U</a:t>
            </a:r>
            <a:r>
              <a:rPr lang="en-US" altLang="zh-CN" sz="2400" b="1" i="1" baseline="-25000" err="1">
                <a:solidFill>
                  <a:srgbClr val="FF0000"/>
                </a:solidFill>
                <a:latin typeface="Times New Roman" panose="02020603050405020304" pitchFamily="18" charset="0"/>
                <a:ea typeface="黑体" panose="02010609060101010101" pitchFamily="49" charset="-122"/>
              </a:rPr>
              <a:t>max</a:t>
            </a:r>
            <a:r>
              <a:rPr lang="zh-CN" altLang="en-US" sz="2400" b="1" dirty="0">
                <a:solidFill>
                  <a:schemeClr val="tx1"/>
                </a:solidFill>
                <a:latin typeface="黑体" panose="02010609060101010101" pitchFamily="49" charset="-122"/>
                <a:ea typeface="黑体" panose="02010609060101010101" pitchFamily="49" charset="-122"/>
              </a:rPr>
              <a:t>也不与</a:t>
            </a:r>
            <a:r>
              <a:rPr lang="en-US" altLang="zh-CN" sz="2400" b="1" i="1">
                <a:solidFill>
                  <a:srgbClr val="FF0000"/>
                </a:solidFill>
                <a:latin typeface="Times New Roman" panose="02020603050405020304" pitchFamily="18" charset="0"/>
                <a:ea typeface="黑体" panose="02010609060101010101" pitchFamily="49" charset="-122"/>
              </a:rPr>
              <a:t>FSR</a:t>
            </a:r>
            <a:r>
              <a:rPr lang="zh-CN" altLang="en-US" sz="2400" b="1" dirty="0">
                <a:solidFill>
                  <a:schemeClr val="tx1"/>
                </a:solidFill>
                <a:latin typeface="黑体" panose="02010609060101010101" pitchFamily="49" charset="-122"/>
                <a:ea typeface="黑体" panose="02010609060101010101" pitchFamily="49" charset="-122"/>
              </a:rPr>
              <a:t>相等，而是差一个量化单位</a:t>
            </a:r>
            <a:r>
              <a:rPr lang="en-US" altLang="zh-CN" sz="2400" b="1" i="1">
                <a:solidFill>
                  <a:srgbClr val="FF0000"/>
                </a:solidFill>
                <a:latin typeface="Times New Roman" panose="02020603050405020304" pitchFamily="18" charset="0"/>
                <a:ea typeface="黑体" panose="02010609060101010101" pitchFamily="49" charset="-122"/>
              </a:rPr>
              <a:t>q</a:t>
            </a:r>
            <a:r>
              <a:rPr lang="zh-CN" altLang="en-US" sz="2400" b="1" dirty="0">
                <a:solidFill>
                  <a:schemeClr val="tx1"/>
                </a:solidFill>
                <a:latin typeface="黑体" panose="02010609060101010101" pitchFamily="49" charset="-122"/>
                <a:ea typeface="黑体" panose="02010609060101010101" pitchFamily="49" charset="-122"/>
              </a:rPr>
              <a:t>，可用下式确定：</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07091" name="Text Box 104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2470" name="Text Box 1045"/>
          <p:cNvSpPr txBox="1"/>
          <p:nvPr/>
        </p:nvSpPr>
        <p:spPr>
          <a:xfrm>
            <a:off x="763588" y="1449388"/>
            <a:ext cx="2151062"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zh-CN" altLang="en-US" sz="2800" b="1" dirty="0">
                <a:solidFill>
                  <a:srgbClr val="333399"/>
                </a:solidFill>
                <a:latin typeface="黑体" panose="02010609060101010101" pitchFamily="49" charset="-122"/>
                <a:ea typeface="黑体" panose="02010609060101010101" pitchFamily="49" charset="-122"/>
              </a:rPr>
              <a:t>二进制码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7094" name="Text Box 1046"/>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aphicFrame>
        <p:nvGraphicFramePr>
          <p:cNvPr id="62472" name="Object 1048"/>
          <p:cNvGraphicFramePr>
            <a:graphicFrameLocks noChangeAspect="1"/>
          </p:cNvGraphicFramePr>
          <p:nvPr/>
        </p:nvGraphicFramePr>
        <p:xfrm>
          <a:off x="2819400" y="3284538"/>
          <a:ext cx="2905125" cy="903287"/>
        </p:xfrm>
        <a:graphic>
          <a:graphicData uri="http://schemas.openxmlformats.org/presentationml/2006/ole">
            <mc:AlternateContent xmlns:mc="http://schemas.openxmlformats.org/markup-compatibility/2006">
              <mc:Choice xmlns:v="urn:schemas-microsoft-com:vml" Requires="v">
                <p:oleObj spid="_x0000_s3197" name="" r:id="rId1" imgW="1205865" imgH="393700" progId="Equation.3">
                  <p:embed/>
                </p:oleObj>
              </mc:Choice>
              <mc:Fallback>
                <p:oleObj name="" r:id="rId1" imgW="1205865" imgH="393700" progId="Equation.3">
                  <p:embed/>
                  <p:pic>
                    <p:nvPicPr>
                      <p:cNvPr id="0" name="图片 3196"/>
                      <p:cNvPicPr/>
                      <p:nvPr/>
                    </p:nvPicPr>
                    <p:blipFill>
                      <a:blip r:embed="rId2"/>
                      <a:stretch>
                        <a:fillRect/>
                      </a:stretch>
                    </p:blipFill>
                    <p:spPr>
                      <a:xfrm>
                        <a:off x="2819400" y="3284538"/>
                        <a:ext cx="2905125" cy="903287"/>
                      </a:xfrm>
                      <a:prstGeom prst="rect">
                        <a:avLst/>
                      </a:prstGeom>
                      <a:noFill/>
                      <a:ln w="38100">
                        <a:noFill/>
                        <a:miter/>
                      </a:ln>
                    </p:spPr>
                  </p:pic>
                </p:oleObj>
              </mc:Fallback>
            </mc:AlternateContent>
          </a:graphicData>
        </a:graphic>
      </p:graphicFrame>
      <p:sp>
        <p:nvSpPr>
          <p:cNvPr id="2307098" name="Text Box 1050"/>
          <p:cNvSpPr txBox="1"/>
          <p:nvPr/>
        </p:nvSpPr>
        <p:spPr>
          <a:xfrm>
            <a:off x="1849438" y="4329113"/>
            <a:ext cx="6573837" cy="822325"/>
          </a:xfrm>
          <a:prstGeom prst="rect">
            <a:avLst/>
          </a:prstGeom>
          <a:noFill/>
          <a:ln w="9525">
            <a:noFill/>
          </a:ln>
        </p:spPr>
        <p:txBody>
          <a:bodyPr>
            <a:spAutoFit/>
          </a:bodyPr>
          <a:p>
            <a:pPr algn="l" eaLnBrk="1" hangingPunct="1"/>
            <a:r>
              <a:rPr lang="zh-CN" altLang="en-US" sz="2400" b="1" dirty="0">
                <a:solidFill>
                  <a:srgbClr val="333399"/>
                </a:solidFill>
                <a:latin typeface="黑体" panose="02010609060101010101" pitchFamily="49" charset="-122"/>
                <a:ea typeface="黑体" panose="02010609060101010101" pitchFamily="49" charset="-122"/>
              </a:rPr>
              <a:t>对于一个工作电压是</a:t>
            </a:r>
            <a:r>
              <a:rPr lang="en-US" altLang="zh-CN" sz="2400" b="1">
                <a:solidFill>
                  <a:srgbClr val="333399"/>
                </a:solidFill>
                <a:latin typeface="Times New Roman" panose="02020603050405020304" pitchFamily="18" charset="0"/>
                <a:ea typeface="黑体" panose="02010609060101010101" pitchFamily="49" charset="-122"/>
              </a:rPr>
              <a:t>0V</a:t>
            </a:r>
            <a:r>
              <a:rPr lang="zh-CN" altLang="en-US" sz="2400" b="1" dirty="0">
                <a:solidFill>
                  <a:srgbClr val="333399"/>
                </a:solidFill>
                <a:latin typeface="Times New Roman" panose="02020603050405020304" pitchFamily="18" charset="0"/>
                <a:ea typeface="黑体" panose="02010609060101010101" pitchFamily="49" charset="-122"/>
              </a:rPr>
              <a:t>～</a:t>
            </a:r>
            <a:r>
              <a:rPr lang="en-US" altLang="zh-CN" sz="2400" b="1">
                <a:solidFill>
                  <a:srgbClr val="333399"/>
                </a:solidFill>
                <a:latin typeface="Times New Roman" panose="02020603050405020304" pitchFamily="18" charset="0"/>
                <a:ea typeface="黑体" panose="02010609060101010101" pitchFamily="49" charset="-122"/>
              </a:rPr>
              <a:t>+10V</a:t>
            </a:r>
            <a:r>
              <a:rPr lang="zh-CN" altLang="en-US" sz="2400" b="1" dirty="0">
                <a:solidFill>
                  <a:srgbClr val="333399"/>
                </a:solidFill>
                <a:latin typeface="黑体" panose="02010609060101010101" pitchFamily="49" charset="-122"/>
                <a:ea typeface="黑体" panose="02010609060101010101" pitchFamily="49" charset="-122"/>
              </a:rPr>
              <a:t>的</a:t>
            </a:r>
            <a:r>
              <a:rPr lang="en-US" altLang="zh-CN" sz="2400" b="1">
                <a:solidFill>
                  <a:srgbClr val="FF0000"/>
                </a:solidFill>
                <a:latin typeface="黑体" panose="02010609060101010101" pitchFamily="49" charset="-122"/>
                <a:ea typeface="黑体" panose="02010609060101010101" pitchFamily="49" charset="-122"/>
              </a:rPr>
              <a:t>12</a:t>
            </a:r>
            <a:r>
              <a:rPr lang="zh-CN" altLang="en-US" sz="2400" b="1" dirty="0">
                <a:solidFill>
                  <a:srgbClr val="FF0000"/>
                </a:solidFill>
                <a:latin typeface="黑体" panose="02010609060101010101" pitchFamily="49" charset="-122"/>
                <a:ea typeface="黑体" panose="02010609060101010101" pitchFamily="49" charset="-122"/>
              </a:rPr>
              <a:t>位</a:t>
            </a:r>
            <a:r>
              <a:rPr lang="zh-CN" altLang="en-US" sz="2400" b="1" dirty="0">
                <a:solidFill>
                  <a:srgbClr val="333399"/>
                </a:solidFill>
                <a:latin typeface="黑体" panose="02010609060101010101" pitchFamily="49" charset="-122"/>
                <a:ea typeface="黑体" panose="02010609060101010101" pitchFamily="49" charset="-122"/>
              </a:rPr>
              <a:t>单极性转换器而言： </a:t>
            </a:r>
            <a:endParaRPr lang="zh-CN" altLang="en-US" sz="2400" b="1" dirty="0">
              <a:solidFill>
                <a:srgbClr val="333399"/>
              </a:solidFill>
              <a:latin typeface="黑体" panose="02010609060101010101" pitchFamily="49" charset="-122"/>
              <a:ea typeface="黑体" panose="02010609060101010101" pitchFamily="49" charset="-122"/>
            </a:endParaRPr>
          </a:p>
        </p:txBody>
      </p:sp>
      <p:sp>
        <p:nvSpPr>
          <p:cNvPr id="2307099" name="Rectangle 1051"/>
          <p:cNvSpPr/>
          <p:nvPr/>
        </p:nvSpPr>
        <p:spPr>
          <a:xfrm>
            <a:off x="935038" y="4329113"/>
            <a:ext cx="1103312" cy="457200"/>
          </a:xfrm>
          <a:prstGeom prst="rect">
            <a:avLst/>
          </a:prstGeom>
          <a:noFill/>
          <a:ln w="9525">
            <a:noFill/>
          </a:ln>
        </p:spPr>
        <p:txBody>
          <a:bodyPr wrap="none">
            <a:spAutoFit/>
          </a:bodyPr>
          <a:p>
            <a:pPr algn="ctr" eaLnBrk="1" hangingPunct="1"/>
            <a:r>
              <a:rPr lang="zh-CN" altLang="en-US" sz="2400" b="1" dirty="0">
                <a:solidFill>
                  <a:srgbClr val="FF0000"/>
                </a:solidFill>
                <a:latin typeface="黑体" panose="02010609060101010101" pitchFamily="49" charset="-122"/>
                <a:ea typeface="黑体" panose="02010609060101010101" pitchFamily="49" charset="-122"/>
              </a:rPr>
              <a:t>例子：</a:t>
            </a:r>
            <a:endParaRPr lang="zh-CN" altLang="en-US" sz="2400" b="1" dirty="0">
              <a:solidFill>
                <a:srgbClr val="FF0000"/>
              </a:solidFill>
              <a:latin typeface="黑体" panose="02010609060101010101" pitchFamily="49" charset="-122"/>
              <a:ea typeface="黑体" panose="02010609060101010101" pitchFamily="49" charset="-122"/>
            </a:endParaRPr>
          </a:p>
        </p:txBody>
      </p:sp>
      <p:sp>
        <p:nvSpPr>
          <p:cNvPr id="2307100" name="Text Box 1052"/>
          <p:cNvSpPr txBox="1"/>
          <p:nvPr/>
        </p:nvSpPr>
        <p:spPr>
          <a:xfrm>
            <a:off x="2284413" y="5121275"/>
            <a:ext cx="5087937" cy="457200"/>
          </a:xfrm>
          <a:prstGeom prst="rect">
            <a:avLst/>
          </a:prstGeom>
          <a:noFill/>
          <a:ln w="9525">
            <a:noFill/>
          </a:ln>
        </p:spPr>
        <p:txBody>
          <a:bodyPr wrap="none">
            <a:spAutoFit/>
          </a:bodyPr>
          <a:p>
            <a:pPr algn="l" eaLnBrk="1" hangingPunct="1"/>
            <a:r>
              <a:rPr lang="en-US" altLang="zh-CN" sz="2400" b="1" i="1" err="1">
                <a:solidFill>
                  <a:srgbClr val="FF0000"/>
                </a:solidFill>
                <a:latin typeface="Times New Roman" panose="02020603050405020304" pitchFamily="18" charset="0"/>
                <a:ea typeface="宋体" panose="02010600030101010101" pitchFamily="2" charset="-122"/>
              </a:rPr>
              <a:t>U</a:t>
            </a:r>
            <a:r>
              <a:rPr lang="en-US" altLang="zh-CN" sz="2400" b="1" i="1" baseline="-25000" err="1">
                <a:solidFill>
                  <a:srgbClr val="FF0000"/>
                </a:solidFill>
                <a:latin typeface="Times New Roman" panose="02020603050405020304" pitchFamily="18" charset="0"/>
                <a:ea typeface="宋体" panose="02010600030101010101" pitchFamily="2" charset="-122"/>
              </a:rPr>
              <a:t>max</a:t>
            </a:r>
            <a:r>
              <a:rPr lang="en-US" altLang="zh-CN" sz="2400" b="1">
                <a:solidFill>
                  <a:srgbClr val="333399"/>
                </a:solidFill>
                <a:latin typeface="Times New Roman" panose="02020603050405020304" pitchFamily="18" charset="0"/>
                <a:ea typeface="宋体" panose="02010600030101010101" pitchFamily="2" charset="-122"/>
              </a:rPr>
              <a:t> = 111  </a:t>
            </a:r>
            <a:r>
              <a:rPr lang="en-US" altLang="zh-CN" sz="2400" b="1" err="1">
                <a:solidFill>
                  <a:srgbClr val="333399"/>
                </a:solidFill>
                <a:latin typeface="Times New Roman" panose="02020603050405020304" pitchFamily="18" charset="0"/>
                <a:ea typeface="宋体" panose="02010600030101010101" pitchFamily="2" charset="-122"/>
              </a:rPr>
              <a:t>111</a:t>
            </a:r>
            <a:r>
              <a:rPr lang="en-US" altLang="zh-CN" sz="2400" b="1">
                <a:solidFill>
                  <a:srgbClr val="333399"/>
                </a:solidFill>
                <a:latin typeface="Times New Roman" panose="02020603050405020304" pitchFamily="18" charset="0"/>
                <a:ea typeface="宋体" panose="02010600030101010101" pitchFamily="2" charset="-122"/>
              </a:rPr>
              <a:t>  </a:t>
            </a:r>
            <a:r>
              <a:rPr lang="en-US" altLang="zh-CN" sz="2400" b="1" err="1">
                <a:solidFill>
                  <a:srgbClr val="333399"/>
                </a:solidFill>
                <a:latin typeface="Times New Roman" panose="02020603050405020304" pitchFamily="18" charset="0"/>
                <a:ea typeface="宋体" panose="02010600030101010101" pitchFamily="2" charset="-122"/>
              </a:rPr>
              <a:t>111</a:t>
            </a:r>
            <a:r>
              <a:rPr lang="en-US" altLang="zh-CN" sz="2400" b="1">
                <a:solidFill>
                  <a:srgbClr val="333399"/>
                </a:solidFill>
                <a:latin typeface="Times New Roman" panose="02020603050405020304" pitchFamily="18" charset="0"/>
                <a:ea typeface="宋体" panose="02010600030101010101" pitchFamily="2" charset="-122"/>
              </a:rPr>
              <a:t>  </a:t>
            </a:r>
            <a:r>
              <a:rPr lang="en-US" altLang="zh-CN" sz="2400" b="1" err="1">
                <a:solidFill>
                  <a:srgbClr val="333399"/>
                </a:solidFill>
                <a:latin typeface="Times New Roman" panose="02020603050405020304" pitchFamily="18" charset="0"/>
                <a:ea typeface="宋体" panose="02010600030101010101" pitchFamily="2" charset="-122"/>
              </a:rPr>
              <a:t>111</a:t>
            </a:r>
            <a:r>
              <a:rPr lang="en-US" altLang="zh-CN" sz="2400" b="1">
                <a:solidFill>
                  <a:srgbClr val="333399"/>
                </a:solidFill>
                <a:latin typeface="Times New Roman" panose="02020603050405020304" pitchFamily="18" charset="0"/>
                <a:ea typeface="宋体" panose="02010600030101010101" pitchFamily="2" charset="-122"/>
              </a:rPr>
              <a:t> = + 9.9976 V</a:t>
            </a:r>
            <a:endParaRPr lang="en-US" altLang="zh-CN" sz="2400" b="1">
              <a:solidFill>
                <a:srgbClr val="333399"/>
              </a:solidFill>
              <a:latin typeface="Times New Roman" panose="02020603050405020304" pitchFamily="18" charset="0"/>
              <a:ea typeface="宋体" panose="02010600030101010101" pitchFamily="2" charset="-122"/>
            </a:endParaRPr>
          </a:p>
        </p:txBody>
      </p:sp>
      <p:sp>
        <p:nvSpPr>
          <p:cNvPr id="2307101" name="Text Box 1053"/>
          <p:cNvSpPr txBox="1"/>
          <p:nvPr/>
        </p:nvSpPr>
        <p:spPr>
          <a:xfrm>
            <a:off x="2325688" y="5589588"/>
            <a:ext cx="4881562" cy="457200"/>
          </a:xfrm>
          <a:prstGeom prst="rect">
            <a:avLst/>
          </a:prstGeom>
          <a:noFill/>
          <a:ln w="9525">
            <a:noFill/>
          </a:ln>
        </p:spPr>
        <p:txBody>
          <a:bodyPr wrap="none">
            <a:spAutoFit/>
          </a:bodyPr>
          <a:p>
            <a:pPr algn="l" eaLnBrk="1" hangingPunct="1"/>
            <a:r>
              <a:rPr lang="en-US" altLang="zh-CN" sz="2400" b="1" i="1" err="1">
                <a:solidFill>
                  <a:srgbClr val="FF0000"/>
                </a:solidFill>
                <a:latin typeface="Times New Roman" panose="02020603050405020304" pitchFamily="18" charset="0"/>
                <a:ea typeface="宋体" panose="02010600030101010101" pitchFamily="2" charset="-122"/>
              </a:rPr>
              <a:t>U</a:t>
            </a:r>
            <a:r>
              <a:rPr lang="en-US" altLang="zh-CN" sz="2400" b="1" i="1" baseline="-25000" err="1">
                <a:solidFill>
                  <a:srgbClr val="FF0000"/>
                </a:solidFill>
                <a:latin typeface="Times New Roman" panose="02020603050405020304" pitchFamily="18" charset="0"/>
                <a:ea typeface="宋体" panose="02010600030101010101" pitchFamily="2" charset="-122"/>
              </a:rPr>
              <a:t>min</a:t>
            </a:r>
            <a:r>
              <a:rPr lang="en-US" altLang="zh-CN" sz="2400" b="1">
                <a:solidFill>
                  <a:srgbClr val="333399"/>
                </a:solidFill>
                <a:latin typeface="Times New Roman" panose="02020603050405020304" pitchFamily="18" charset="0"/>
                <a:ea typeface="宋体" panose="02010600030101010101" pitchFamily="2" charset="-122"/>
              </a:rPr>
              <a:t> = 000  </a:t>
            </a:r>
            <a:r>
              <a:rPr lang="en-US" altLang="zh-CN" sz="2400" b="1" err="1">
                <a:solidFill>
                  <a:srgbClr val="333399"/>
                </a:solidFill>
                <a:latin typeface="Times New Roman" panose="02020603050405020304" pitchFamily="18" charset="0"/>
                <a:ea typeface="宋体" panose="02010600030101010101" pitchFamily="2" charset="-122"/>
              </a:rPr>
              <a:t>000</a:t>
            </a:r>
            <a:r>
              <a:rPr lang="en-US" altLang="zh-CN" sz="2400" b="1">
                <a:solidFill>
                  <a:srgbClr val="333399"/>
                </a:solidFill>
                <a:latin typeface="Times New Roman" panose="02020603050405020304" pitchFamily="18" charset="0"/>
                <a:ea typeface="宋体" panose="02010600030101010101" pitchFamily="2" charset="-122"/>
              </a:rPr>
              <a:t>  </a:t>
            </a:r>
            <a:r>
              <a:rPr lang="en-US" altLang="zh-CN" sz="2400" b="1" err="1">
                <a:solidFill>
                  <a:srgbClr val="333399"/>
                </a:solidFill>
                <a:latin typeface="Times New Roman" panose="02020603050405020304" pitchFamily="18" charset="0"/>
                <a:ea typeface="宋体" panose="02010600030101010101" pitchFamily="2" charset="-122"/>
              </a:rPr>
              <a:t>000</a:t>
            </a:r>
            <a:r>
              <a:rPr lang="en-US" altLang="zh-CN" sz="2400" b="1">
                <a:solidFill>
                  <a:srgbClr val="333399"/>
                </a:solidFill>
                <a:latin typeface="Times New Roman" panose="02020603050405020304" pitchFamily="18" charset="0"/>
                <a:ea typeface="宋体" panose="02010600030101010101" pitchFamily="2" charset="-122"/>
              </a:rPr>
              <a:t>  </a:t>
            </a:r>
            <a:r>
              <a:rPr lang="en-US" altLang="zh-CN" sz="2400" b="1" err="1">
                <a:solidFill>
                  <a:srgbClr val="333399"/>
                </a:solidFill>
                <a:latin typeface="Times New Roman" panose="02020603050405020304" pitchFamily="18" charset="0"/>
                <a:ea typeface="宋体" panose="02010600030101010101" pitchFamily="2" charset="-122"/>
              </a:rPr>
              <a:t>000</a:t>
            </a:r>
            <a:r>
              <a:rPr lang="en-US" altLang="zh-CN" sz="2400" b="1">
                <a:solidFill>
                  <a:srgbClr val="333399"/>
                </a:solidFill>
                <a:latin typeface="Times New Roman" panose="02020603050405020304" pitchFamily="18" charset="0"/>
                <a:ea typeface="宋体" panose="02010600030101010101" pitchFamily="2" charset="-122"/>
              </a:rPr>
              <a:t> = 0.0000 V </a:t>
            </a:r>
            <a:endParaRPr lang="en-US" altLang="zh-CN" sz="2400" b="1">
              <a:solidFill>
                <a:srgbClr val="333399"/>
              </a:solidFill>
              <a:latin typeface="Times New Roman" panose="02020603050405020304" pitchFamily="18" charset="0"/>
              <a:ea typeface="宋体" panose="02010600030101010101" pitchFamily="2"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7097"/>
                                        </p:tgtEl>
                                        <p:attrNameLst>
                                          <p:attrName>style.visibility</p:attrName>
                                        </p:attrNameLst>
                                      </p:cBhvr>
                                      <p:to>
                                        <p:strVal val="visible"/>
                                      </p:to>
                                    </p:set>
                                    <p:animEffect transition="in" filter="dissolve">
                                      <p:cBhvr>
                                        <p:cTn id="7" dur="500"/>
                                        <p:tgtEl>
                                          <p:spTgt spid="230709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07087"/>
                                        </p:tgtEl>
                                        <p:attrNameLst>
                                          <p:attrName>style.visibility</p:attrName>
                                        </p:attrNameLst>
                                      </p:cBhvr>
                                      <p:to>
                                        <p:strVal val="visible"/>
                                      </p:to>
                                    </p:set>
                                    <p:animEffect transition="in" filter="dissolve">
                                      <p:cBhvr>
                                        <p:cTn id="10" dur="500"/>
                                        <p:tgtEl>
                                          <p:spTgt spid="2307087"/>
                                        </p:tgtEl>
                                      </p:cBhvr>
                                    </p:animEffect>
                                  </p:childTnLst>
                                </p:cTn>
                              </p:par>
                              <p:par>
                                <p:cTn id="11" presetID="9" presetClass="entr" presetSubtype="0" fill="hold" nodeType="withEffect">
                                  <p:stCondLst>
                                    <p:cond delay="0"/>
                                  </p:stCondLst>
                                  <p:childTnLst>
                                    <p:set>
                                      <p:cBhvr>
                                        <p:cTn id="12" dur="1" fill="hold">
                                          <p:stCondLst>
                                            <p:cond delay="0"/>
                                          </p:stCondLst>
                                        </p:cTn>
                                        <p:tgtEl>
                                          <p:spTgt spid="62472"/>
                                        </p:tgtEl>
                                        <p:attrNameLst>
                                          <p:attrName>style.visibility</p:attrName>
                                        </p:attrNameLst>
                                      </p:cBhvr>
                                      <p:to>
                                        <p:strVal val="visible"/>
                                      </p:to>
                                    </p:set>
                                    <p:animEffect transition="in" filter="dissolve">
                                      <p:cBhvr>
                                        <p:cTn id="13" dur="500"/>
                                        <p:tgtEl>
                                          <p:spTgt spid="62472"/>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07098"/>
                                        </p:tgtEl>
                                        <p:attrNameLst>
                                          <p:attrName>style.visibility</p:attrName>
                                        </p:attrNameLst>
                                      </p:cBhvr>
                                      <p:to>
                                        <p:strVal val="visible"/>
                                      </p:to>
                                    </p:set>
                                    <p:animEffect transition="in" filter="dissolve">
                                      <p:cBhvr>
                                        <p:cTn id="18" dur="500"/>
                                        <p:tgtEl>
                                          <p:spTgt spid="2307098"/>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307099"/>
                                        </p:tgtEl>
                                        <p:attrNameLst>
                                          <p:attrName>style.visibility</p:attrName>
                                        </p:attrNameLst>
                                      </p:cBhvr>
                                      <p:to>
                                        <p:strVal val="visible"/>
                                      </p:to>
                                    </p:set>
                                    <p:animEffect transition="in" filter="dissolve">
                                      <p:cBhvr>
                                        <p:cTn id="21" dur="500"/>
                                        <p:tgtEl>
                                          <p:spTgt spid="230709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307100"/>
                                        </p:tgtEl>
                                        <p:attrNameLst>
                                          <p:attrName>style.visibility</p:attrName>
                                        </p:attrNameLst>
                                      </p:cBhvr>
                                      <p:to>
                                        <p:strVal val="visible"/>
                                      </p:to>
                                    </p:set>
                                    <p:animEffect transition="in" filter="dissolve">
                                      <p:cBhvr>
                                        <p:cTn id="26" dur="500"/>
                                        <p:tgtEl>
                                          <p:spTgt spid="230710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307101"/>
                                        </p:tgtEl>
                                        <p:attrNameLst>
                                          <p:attrName>style.visibility</p:attrName>
                                        </p:attrNameLst>
                                      </p:cBhvr>
                                      <p:to>
                                        <p:strVal val="visible"/>
                                      </p:to>
                                    </p:set>
                                    <p:animEffect transition="in" filter="dissolve">
                                      <p:cBhvr>
                                        <p:cTn id="31" dur="500"/>
                                        <p:tgtEl>
                                          <p:spTgt spid="2307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7097" grpId="0" bldLvl="0" animBg="1"/>
      <p:bldP spid="2307087" grpId="0"/>
      <p:bldP spid="2307098" grpId="0"/>
      <p:bldP spid="2307099" grpId="0"/>
      <p:bldP spid="2307100" grpId="0"/>
      <p:bldP spid="2307101"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9131" name="Text Box 11"/>
          <p:cNvSpPr txBox="1"/>
          <p:nvPr/>
        </p:nvSpPr>
        <p:spPr>
          <a:xfrm>
            <a:off x="1592263" y="1916113"/>
            <a:ext cx="5900737" cy="519112"/>
          </a:xfrm>
          <a:prstGeom prst="rect">
            <a:avLst/>
          </a:prstGeom>
          <a:noFill/>
          <a:ln w="9525">
            <a:noFill/>
          </a:ln>
        </p:spPr>
        <p:txBody>
          <a:bodyPr wrap="none">
            <a:spAutoFit/>
          </a:bodyPr>
          <a:p>
            <a:pPr algn="l" eaLnBrk="1" hangingPunct="1"/>
            <a:r>
              <a:rPr lang="en-US" altLang="zh-CN" sz="2800" b="1">
                <a:solidFill>
                  <a:srgbClr val="FF0000"/>
                </a:solidFill>
                <a:latin typeface="黑体" panose="02010609060101010101" pitchFamily="49" charset="-122"/>
                <a:ea typeface="黑体" panose="02010609060101010101" pitchFamily="49" charset="-122"/>
              </a:rPr>
              <a:t>8</a:t>
            </a:r>
            <a:r>
              <a:rPr lang="zh-CN" altLang="en-US" sz="2800" b="1" dirty="0">
                <a:solidFill>
                  <a:srgbClr val="FF0000"/>
                </a:solidFill>
                <a:latin typeface="黑体" panose="02010609060101010101" pitchFamily="49" charset="-122"/>
                <a:ea typeface="黑体" panose="02010609060101010101" pitchFamily="49" charset="-122"/>
              </a:rPr>
              <a:t>位单极性二进制码与满量程的关系 </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309154" name="Text Box 3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3493" name="Text Box 36"/>
          <p:cNvSpPr txBox="1"/>
          <p:nvPr/>
        </p:nvSpPr>
        <p:spPr>
          <a:xfrm>
            <a:off x="763588" y="1412875"/>
            <a:ext cx="2151062"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1.</a:t>
            </a:r>
            <a:r>
              <a:rPr lang="zh-CN" altLang="en-US" sz="2800" b="1" dirty="0">
                <a:solidFill>
                  <a:srgbClr val="333399"/>
                </a:solidFill>
                <a:latin typeface="黑体" panose="02010609060101010101" pitchFamily="49" charset="-122"/>
                <a:ea typeface="黑体" panose="02010609060101010101" pitchFamily="49" charset="-122"/>
              </a:rPr>
              <a:t>二进制码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9157" name="Text Box 37"/>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aphicFrame>
        <p:nvGraphicFramePr>
          <p:cNvPr id="2309189" name="Group 69"/>
          <p:cNvGraphicFramePr>
            <a:graphicFrameLocks noGrp="1"/>
          </p:cNvGraphicFramePr>
          <p:nvPr/>
        </p:nvGraphicFramePr>
        <p:xfrm>
          <a:off x="539750" y="2508250"/>
          <a:ext cx="8156575" cy="3562350"/>
        </p:xfrm>
        <a:graphic>
          <a:graphicData uri="http://schemas.openxmlformats.org/drawingml/2006/table">
            <a:tbl>
              <a:tblPr/>
              <a:tblGrid>
                <a:gridCol w="2484438"/>
                <a:gridCol w="2376487"/>
                <a:gridCol w="3295650"/>
              </a:tblGrid>
              <a:tr h="969963">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592387">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309136" name="Rectangle 16"/>
          <p:cNvSpPr/>
          <p:nvPr/>
        </p:nvSpPr>
        <p:spPr>
          <a:xfrm>
            <a:off x="1092200" y="2709863"/>
            <a:ext cx="1679575" cy="647700"/>
          </a:xfrm>
          <a:prstGeom prst="rect">
            <a:avLst/>
          </a:prstGeom>
          <a:noFill/>
          <a:ln w="9525">
            <a:noFill/>
          </a:ln>
        </p:spPr>
        <p:txBody>
          <a:bodyPr/>
          <a:p>
            <a:pPr algn="just" eaLnBrk="1" hangingPunct="1"/>
            <a:r>
              <a:rPr lang="zh-CN" altLang="en-US" sz="2800" b="1" dirty="0">
                <a:solidFill>
                  <a:schemeClr val="tx1"/>
                </a:solidFill>
                <a:latin typeface="楷体_GB2312" pitchFamily="49" charset="-122"/>
              </a:rPr>
              <a:t>标  度</a:t>
            </a:r>
            <a:endParaRPr lang="zh-CN" altLang="en-US" sz="2800" b="1" dirty="0">
              <a:solidFill>
                <a:schemeClr val="tx1"/>
              </a:solidFill>
              <a:latin typeface="楷体_GB2312" pitchFamily="49" charset="-122"/>
            </a:endParaRPr>
          </a:p>
        </p:txBody>
      </p:sp>
      <p:sp>
        <p:nvSpPr>
          <p:cNvPr id="2309139" name="Rectangle 19"/>
          <p:cNvSpPr/>
          <p:nvPr/>
        </p:nvSpPr>
        <p:spPr>
          <a:xfrm>
            <a:off x="3240088" y="2528888"/>
            <a:ext cx="2347912" cy="1008062"/>
          </a:xfrm>
          <a:prstGeom prst="rect">
            <a:avLst/>
          </a:prstGeom>
          <a:noFill/>
          <a:ln w="9525">
            <a:noFill/>
          </a:ln>
        </p:spPr>
        <p:txBody>
          <a:bodyPr/>
          <a:p>
            <a:pPr algn="just" eaLnBrk="1" hangingPunct="1"/>
            <a:r>
              <a:rPr lang="zh-CN" altLang="en-US" sz="2800" b="1" dirty="0">
                <a:solidFill>
                  <a:schemeClr val="tx1"/>
                </a:solidFill>
                <a:latin typeface="Times New Roman" panose="02020603050405020304" pitchFamily="18" charset="0"/>
              </a:rPr>
              <a:t>满量程电压</a:t>
            </a:r>
            <a:endParaRPr lang="zh-CN" altLang="en-US" sz="2800" b="1" dirty="0">
              <a:solidFill>
                <a:schemeClr val="tx1"/>
              </a:solidFill>
              <a:latin typeface="Times New Roman" panose="02020603050405020304" pitchFamily="18" charset="0"/>
            </a:endParaRPr>
          </a:p>
          <a:p>
            <a:pPr algn="just" eaLnBrk="0" hangingPunct="0"/>
            <a:r>
              <a:rPr lang="zh-CN" altLang="en-US" sz="2800" b="1" dirty="0">
                <a:solidFill>
                  <a:schemeClr val="tx1"/>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(+10V)</a:t>
            </a:r>
            <a:endParaRPr lang="en-US" altLang="zh-CN" sz="2800" b="1">
              <a:solidFill>
                <a:schemeClr val="tx1"/>
              </a:solidFill>
              <a:latin typeface="Times New Roman" panose="02020603050405020304" pitchFamily="18" charset="0"/>
              <a:ea typeface="宋体" panose="02010600030101010101" pitchFamily="2" charset="-122"/>
            </a:endParaRPr>
          </a:p>
        </p:txBody>
      </p:sp>
      <p:sp>
        <p:nvSpPr>
          <p:cNvPr id="2309142" name="Rectangle 22"/>
          <p:cNvSpPr/>
          <p:nvPr/>
        </p:nvSpPr>
        <p:spPr>
          <a:xfrm>
            <a:off x="5472113" y="2359025"/>
            <a:ext cx="3021012" cy="1177925"/>
          </a:xfrm>
          <a:prstGeom prst="rect">
            <a:avLst/>
          </a:prstGeom>
          <a:noFill/>
          <a:ln w="9525">
            <a:noFill/>
          </a:ln>
        </p:spPr>
        <p:txBody>
          <a:bodyPr/>
          <a:p>
            <a:pPr algn="just" eaLnBrk="1" hangingPunct="1"/>
            <a:r>
              <a:rPr lang="en-US" altLang="zh-CN" sz="900" b="1">
                <a:solidFill>
                  <a:schemeClr val="tx1"/>
                </a:solidFill>
                <a:latin typeface="Times New Roman" panose="02020603050405020304" pitchFamily="18" charset="0"/>
                <a:ea typeface="宋体" panose="02010600030101010101" pitchFamily="2" charset="-122"/>
              </a:rPr>
              <a:t>                              </a:t>
            </a:r>
            <a:endParaRPr lang="en-US" altLang="zh-CN" sz="900" b="1">
              <a:solidFill>
                <a:schemeClr val="tx1"/>
              </a:solidFill>
              <a:latin typeface="Times New Roman" panose="02020603050405020304" pitchFamily="18" charset="0"/>
              <a:ea typeface="宋体" panose="02010600030101010101" pitchFamily="2" charset="-122"/>
            </a:endParaRPr>
          </a:p>
          <a:p>
            <a:pPr algn="just" eaLnBrk="1" hangingPunct="1"/>
            <a:r>
              <a:rPr lang="en-US" altLang="zh-CN" sz="900" b="1">
                <a:solidFill>
                  <a:schemeClr val="tx1"/>
                </a:solidFill>
                <a:latin typeface="Times New Roman" panose="02020603050405020304" pitchFamily="18" charset="0"/>
                <a:ea typeface="宋体" panose="02010600030101010101" pitchFamily="2" charset="-122"/>
              </a:rPr>
              <a:t>                      </a:t>
            </a:r>
            <a:r>
              <a:rPr lang="zh-CN" altLang="en-US" sz="2800" b="1" dirty="0">
                <a:solidFill>
                  <a:schemeClr val="tx1"/>
                </a:solidFill>
                <a:latin typeface="Times New Roman" panose="02020603050405020304" pitchFamily="18" charset="0"/>
              </a:rPr>
              <a:t>二进制数码</a:t>
            </a:r>
            <a:endParaRPr lang="zh-CN" altLang="en-US" sz="2800" b="1" dirty="0">
              <a:solidFill>
                <a:schemeClr val="tx1"/>
              </a:solidFill>
              <a:latin typeface="Times New Roman" panose="02020603050405020304" pitchFamily="18" charset="0"/>
            </a:endParaRPr>
          </a:p>
          <a:p>
            <a:pPr algn="just" eaLnBrk="0" hangingPunct="0"/>
            <a:r>
              <a:rPr lang="zh-CN" altLang="en-US" sz="2800" b="1" dirty="0">
                <a:solidFill>
                  <a:schemeClr val="tx1"/>
                </a:solidFill>
                <a:latin typeface="Times New Roman" panose="02020603050405020304" pitchFamily="18" charset="0"/>
              </a:rPr>
              <a:t>   高</a:t>
            </a:r>
            <a:r>
              <a:rPr lang="en-US" altLang="zh-CN" sz="2800" b="1">
                <a:solidFill>
                  <a:schemeClr val="tx1"/>
                </a:solidFill>
                <a:latin typeface="Times New Roman" panose="02020603050405020304" pitchFamily="18" charset="0"/>
                <a:ea typeface="宋体" panose="02010600030101010101" pitchFamily="2" charset="-122"/>
              </a:rPr>
              <a:t>4</a:t>
            </a:r>
            <a:r>
              <a:rPr lang="zh-CN" altLang="en-US" sz="2800" b="1" dirty="0">
                <a:solidFill>
                  <a:schemeClr val="tx1"/>
                </a:solidFill>
                <a:latin typeface="楷体_GB2312" pitchFamily="49" charset="-122"/>
              </a:rPr>
              <a:t>位    低</a:t>
            </a:r>
            <a:r>
              <a:rPr lang="en-US" altLang="zh-CN" sz="2800" b="1">
                <a:solidFill>
                  <a:schemeClr val="tx1"/>
                </a:solidFill>
                <a:latin typeface="Times New Roman" panose="02020603050405020304" pitchFamily="18" charset="0"/>
                <a:ea typeface="宋体" panose="02010600030101010101" pitchFamily="2" charset="-122"/>
              </a:rPr>
              <a:t>4</a:t>
            </a:r>
            <a:r>
              <a:rPr lang="zh-CN" altLang="en-US" sz="2800" b="1" dirty="0">
                <a:solidFill>
                  <a:schemeClr val="tx1"/>
                </a:solidFill>
                <a:latin typeface="Times New Roman" panose="02020603050405020304" pitchFamily="18" charset="0"/>
              </a:rPr>
              <a:t>位</a:t>
            </a:r>
            <a:endParaRPr lang="zh-CN" altLang="en-US" sz="2800" b="1" dirty="0">
              <a:solidFill>
                <a:schemeClr val="tx1"/>
              </a:solidFill>
              <a:latin typeface="Times New Roman" panose="02020603050405020304" pitchFamily="18" charset="0"/>
            </a:endParaRPr>
          </a:p>
        </p:txBody>
      </p:sp>
      <p:sp>
        <p:nvSpPr>
          <p:cNvPr id="2309145" name="Rectangle 25"/>
          <p:cNvSpPr/>
          <p:nvPr/>
        </p:nvSpPr>
        <p:spPr>
          <a:xfrm>
            <a:off x="576263" y="3476625"/>
            <a:ext cx="2347912" cy="2689225"/>
          </a:xfrm>
          <a:prstGeom prst="rect">
            <a:avLst/>
          </a:prstGeom>
          <a:noFill/>
          <a:ln w="9525">
            <a:noFill/>
          </a:ln>
        </p:spPr>
        <p:txBody>
          <a:bodyPr/>
          <a:p>
            <a:pPr algn="just" eaLnBrk="1" hangingPunct="1"/>
            <a:r>
              <a:rPr lang="en-US" altLang="zh-CN" sz="9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a:t>
            </a:r>
            <a:r>
              <a:rPr lang="en-US" altLang="zh-CN" sz="2800" b="1" i="1">
                <a:solidFill>
                  <a:srgbClr val="FF0000"/>
                </a:solidFill>
                <a:latin typeface="Times New Roman" panose="02020603050405020304" pitchFamily="18" charset="0"/>
                <a:ea typeface="宋体" panose="02010600030101010101" pitchFamily="2" charset="-122"/>
              </a:rPr>
              <a:t>FSR</a:t>
            </a:r>
            <a:r>
              <a:rPr lang="en-US" altLang="zh-CN" sz="2800" b="1">
                <a:solidFill>
                  <a:srgbClr val="FF0000"/>
                </a:solidFill>
                <a:latin typeface="Times New Roman" panose="02020603050405020304" pitchFamily="18" charset="0"/>
                <a:ea typeface="宋体" panose="02010600030101010101" pitchFamily="2" charset="-122"/>
              </a:rPr>
              <a:t>-1</a:t>
            </a:r>
            <a:r>
              <a:rPr lang="en-US" altLang="zh-CN" sz="2800" b="1" i="1">
                <a:solidFill>
                  <a:srgbClr val="FF0000"/>
                </a:solidFill>
                <a:latin typeface="Times New Roman" panose="02020603050405020304" pitchFamily="18" charset="0"/>
                <a:ea typeface="宋体" panose="02010600030101010101" pitchFamily="2" charset="-122"/>
              </a:rPr>
              <a:t>LSB</a:t>
            </a:r>
            <a:endParaRPr lang="en-US" altLang="zh-CN" sz="2800" b="1" i="1">
              <a:solidFill>
                <a:srgbClr val="FF0000"/>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+3/4 </a:t>
            </a:r>
            <a:r>
              <a:rPr lang="en-US" altLang="zh-CN" sz="2800" b="1" i="1">
                <a:solidFill>
                  <a:srgbClr val="333399"/>
                </a:solidFill>
                <a:latin typeface="Times New Roman" panose="02020603050405020304" pitchFamily="18" charset="0"/>
                <a:ea typeface="宋体" panose="02010600030101010101" pitchFamily="2" charset="-122"/>
              </a:rPr>
              <a:t>FSR</a:t>
            </a:r>
            <a:endParaRPr lang="en-US" altLang="zh-CN" sz="2800" b="1" i="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+1/2</a:t>
            </a:r>
            <a:r>
              <a:rPr lang="en-US" altLang="zh-CN" sz="2800" b="1" i="1">
                <a:solidFill>
                  <a:srgbClr val="333399"/>
                </a:solidFill>
                <a:latin typeface="Times New Roman" panose="02020603050405020304" pitchFamily="18" charset="0"/>
                <a:ea typeface="宋体" panose="02010600030101010101" pitchFamily="2" charset="-122"/>
              </a:rPr>
              <a:t> FSR</a:t>
            </a:r>
            <a:endParaRPr lang="en-US" altLang="zh-CN" sz="2800" b="1" i="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+1/4 </a:t>
            </a:r>
            <a:r>
              <a:rPr lang="en-US" altLang="zh-CN" sz="2800" b="1" i="1">
                <a:solidFill>
                  <a:srgbClr val="333399"/>
                </a:solidFill>
                <a:latin typeface="Times New Roman" panose="02020603050405020304" pitchFamily="18" charset="0"/>
                <a:ea typeface="宋体" panose="02010600030101010101" pitchFamily="2" charset="-122"/>
              </a:rPr>
              <a:t>FSR</a:t>
            </a:r>
            <a:endParaRPr lang="en-US" altLang="zh-CN" sz="2800" b="1" i="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+1</a:t>
            </a:r>
            <a:r>
              <a:rPr lang="en-US" altLang="zh-CN" sz="2800" b="1" i="1">
                <a:solidFill>
                  <a:srgbClr val="333399"/>
                </a:solidFill>
                <a:latin typeface="Times New Roman" panose="02020603050405020304" pitchFamily="18" charset="0"/>
                <a:ea typeface="宋体" panose="02010600030101010101" pitchFamily="2" charset="-122"/>
              </a:rPr>
              <a:t>LSB</a:t>
            </a:r>
            <a:endParaRPr lang="en-US" altLang="zh-CN" sz="2800" b="1" i="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0</a:t>
            </a:r>
            <a:endParaRPr lang="en-US" altLang="zh-CN" sz="2800" b="1">
              <a:solidFill>
                <a:srgbClr val="FF0000"/>
              </a:solidFill>
              <a:latin typeface="Times New Roman" panose="02020603050405020304" pitchFamily="18" charset="0"/>
              <a:ea typeface="宋体" panose="02010600030101010101" pitchFamily="2" charset="-122"/>
            </a:endParaRPr>
          </a:p>
        </p:txBody>
      </p:sp>
      <p:sp>
        <p:nvSpPr>
          <p:cNvPr id="2309148" name="Rectangle 28"/>
          <p:cNvSpPr/>
          <p:nvPr/>
        </p:nvSpPr>
        <p:spPr>
          <a:xfrm>
            <a:off x="3235325" y="3476625"/>
            <a:ext cx="2092325" cy="2689225"/>
          </a:xfrm>
          <a:prstGeom prst="rect">
            <a:avLst/>
          </a:prstGeom>
          <a:noFill/>
          <a:ln w="9525">
            <a:noFill/>
          </a:ln>
        </p:spPr>
        <p:txBody>
          <a:bodyPr/>
          <a:p>
            <a:pPr algn="just" eaLnBrk="1" hangingPunct="1"/>
            <a:r>
              <a:rPr lang="en-US" altLang="zh-CN" sz="9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+9.96</a:t>
            </a:r>
            <a:endParaRPr lang="en-US" altLang="zh-CN" sz="2800" b="1">
              <a:solidFill>
                <a:srgbClr val="FF0000"/>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+7.50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+5.00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+2.50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+0.04</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0.00</a:t>
            </a:r>
            <a:endParaRPr lang="en-US" altLang="zh-CN" sz="2800" b="1">
              <a:solidFill>
                <a:srgbClr val="FF0000"/>
              </a:solidFill>
              <a:latin typeface="Times New Roman" panose="02020603050405020304" pitchFamily="18" charset="0"/>
              <a:ea typeface="宋体" panose="02010600030101010101" pitchFamily="2" charset="-122"/>
            </a:endParaRPr>
          </a:p>
        </p:txBody>
      </p:sp>
      <p:sp>
        <p:nvSpPr>
          <p:cNvPr id="2309151" name="Rectangle 31"/>
          <p:cNvSpPr/>
          <p:nvPr/>
        </p:nvSpPr>
        <p:spPr>
          <a:xfrm>
            <a:off x="5256213" y="3476625"/>
            <a:ext cx="3706812" cy="2689225"/>
          </a:xfrm>
          <a:prstGeom prst="rect">
            <a:avLst/>
          </a:prstGeom>
          <a:noFill/>
          <a:ln w="9525">
            <a:noFill/>
          </a:ln>
        </p:spPr>
        <p:txBody>
          <a:bodyPr/>
          <a:p>
            <a:pPr algn="just" eaLnBrk="1" hangingPunct="1"/>
            <a:r>
              <a:rPr lang="en-US" altLang="zh-CN" sz="9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1111          </a:t>
            </a:r>
            <a:r>
              <a:rPr lang="en-US" altLang="zh-CN" sz="2800" b="1" err="1">
                <a:solidFill>
                  <a:srgbClr val="FF0000"/>
                </a:solidFill>
                <a:latin typeface="Times New Roman" panose="02020603050405020304" pitchFamily="18" charset="0"/>
                <a:ea typeface="宋体" panose="02010600030101010101" pitchFamily="2" charset="-122"/>
              </a:rPr>
              <a:t>1111</a:t>
            </a:r>
            <a:endParaRPr lang="en-US" altLang="zh-CN" sz="2800" b="1">
              <a:solidFill>
                <a:srgbClr val="FF0000"/>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1100          0000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1000          0000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0100          0000</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0000          0001</a:t>
            </a:r>
            <a:endParaRPr lang="en-US" altLang="zh-CN" sz="2800" b="1">
              <a:solidFill>
                <a:srgbClr val="333399"/>
              </a:solidFill>
              <a:latin typeface="Times New Roman" panose="02020603050405020304" pitchFamily="18" charset="0"/>
              <a:ea typeface="宋体" panose="02010600030101010101" pitchFamily="2" charset="-122"/>
            </a:endParaRPr>
          </a:p>
          <a:p>
            <a:pPr algn="just" eaLnBrk="0" hangingPunct="0"/>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rgbClr val="FF0000"/>
                </a:solidFill>
                <a:latin typeface="Times New Roman" panose="02020603050405020304" pitchFamily="18" charset="0"/>
                <a:ea typeface="宋体" panose="02010600030101010101" pitchFamily="2" charset="-122"/>
              </a:rPr>
              <a:t>0000          </a:t>
            </a:r>
            <a:r>
              <a:rPr lang="en-US" altLang="zh-CN" sz="2800" b="1" err="1">
                <a:solidFill>
                  <a:srgbClr val="FF0000"/>
                </a:solidFill>
                <a:latin typeface="Times New Roman" panose="02020603050405020304" pitchFamily="18" charset="0"/>
                <a:ea typeface="宋体" panose="02010600030101010101" pitchFamily="2" charset="-122"/>
              </a:rPr>
              <a:t>0000</a:t>
            </a:r>
            <a:endParaRPr lang="en-US" altLang="zh-CN" sz="2800" b="1" err="1">
              <a:solidFill>
                <a:srgbClr val="FF0000"/>
              </a:solidFill>
              <a:latin typeface="Times New Roman" panose="02020603050405020304" pitchFamily="18" charset="0"/>
              <a:ea typeface="宋体" panose="02010600030101010101" pitchFamily="2"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9131"/>
                                        </p:tgtEl>
                                        <p:attrNameLst>
                                          <p:attrName>style.visibility</p:attrName>
                                        </p:attrNameLst>
                                      </p:cBhvr>
                                      <p:to>
                                        <p:strVal val="visible"/>
                                      </p:to>
                                    </p:set>
                                    <p:animEffect transition="in" filter="dissolve">
                                      <p:cBhvr>
                                        <p:cTn id="7" dur="500"/>
                                        <p:tgtEl>
                                          <p:spTgt spid="230913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09189"/>
                                        </p:tgtEl>
                                        <p:attrNameLst>
                                          <p:attrName>style.visibility</p:attrName>
                                        </p:attrNameLst>
                                      </p:cBhvr>
                                      <p:to>
                                        <p:strVal val="visible"/>
                                      </p:to>
                                    </p:set>
                                    <p:animEffect transition="in" filter="dissolve">
                                      <p:cBhvr>
                                        <p:cTn id="12" dur="500"/>
                                        <p:tgtEl>
                                          <p:spTgt spid="23091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09136"/>
                                        </p:tgtEl>
                                        <p:attrNameLst>
                                          <p:attrName>style.visibility</p:attrName>
                                        </p:attrNameLst>
                                      </p:cBhvr>
                                      <p:to>
                                        <p:strVal val="visible"/>
                                      </p:to>
                                    </p:set>
                                    <p:animEffect transition="in" filter="dissolve">
                                      <p:cBhvr>
                                        <p:cTn id="15" dur="500"/>
                                        <p:tgtEl>
                                          <p:spTgt spid="2309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309139"/>
                                        </p:tgtEl>
                                        <p:attrNameLst>
                                          <p:attrName>style.visibility</p:attrName>
                                        </p:attrNameLst>
                                      </p:cBhvr>
                                      <p:to>
                                        <p:strVal val="visible"/>
                                      </p:to>
                                    </p:set>
                                    <p:animEffect transition="in" filter="dissolve">
                                      <p:cBhvr>
                                        <p:cTn id="18" dur="500"/>
                                        <p:tgtEl>
                                          <p:spTgt spid="2309139"/>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309142"/>
                                        </p:tgtEl>
                                        <p:attrNameLst>
                                          <p:attrName>style.visibility</p:attrName>
                                        </p:attrNameLst>
                                      </p:cBhvr>
                                      <p:to>
                                        <p:strVal val="visible"/>
                                      </p:to>
                                    </p:set>
                                    <p:animEffect transition="in" filter="dissolve">
                                      <p:cBhvr>
                                        <p:cTn id="21" dur="500"/>
                                        <p:tgtEl>
                                          <p:spTgt spid="2309142"/>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309145"/>
                                        </p:tgtEl>
                                        <p:attrNameLst>
                                          <p:attrName>style.visibility</p:attrName>
                                        </p:attrNameLst>
                                      </p:cBhvr>
                                      <p:to>
                                        <p:strVal val="visible"/>
                                      </p:to>
                                    </p:set>
                                    <p:animEffect transition="in" filter="dissolve">
                                      <p:cBhvr>
                                        <p:cTn id="24" dur="500"/>
                                        <p:tgtEl>
                                          <p:spTgt spid="2309145"/>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2309148"/>
                                        </p:tgtEl>
                                        <p:attrNameLst>
                                          <p:attrName>style.visibility</p:attrName>
                                        </p:attrNameLst>
                                      </p:cBhvr>
                                      <p:to>
                                        <p:strVal val="visible"/>
                                      </p:to>
                                    </p:set>
                                    <p:animEffect transition="in" filter="dissolve">
                                      <p:cBhvr>
                                        <p:cTn id="27" dur="500"/>
                                        <p:tgtEl>
                                          <p:spTgt spid="2309148"/>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2309151"/>
                                        </p:tgtEl>
                                        <p:attrNameLst>
                                          <p:attrName>style.visibility</p:attrName>
                                        </p:attrNameLst>
                                      </p:cBhvr>
                                      <p:to>
                                        <p:strVal val="visible"/>
                                      </p:to>
                                    </p:set>
                                    <p:animEffect transition="in" filter="dissolve">
                                      <p:cBhvr>
                                        <p:cTn id="30" dur="500"/>
                                        <p:tgtEl>
                                          <p:spTgt spid="2309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9131" grpId="0"/>
      <p:bldP spid="2309136" grpId="0"/>
      <p:bldP spid="2309139" grpId="0"/>
      <p:bldP spid="2309142" grpId="0"/>
      <p:bldP spid="2309145" grpId="0"/>
      <p:bldP spid="2309148" grpId="0"/>
      <p:bldP spid="2309151"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10165" name="Rectangle 21"/>
          <p:cNvSpPr/>
          <p:nvPr/>
        </p:nvSpPr>
        <p:spPr>
          <a:xfrm>
            <a:off x="650875" y="4506913"/>
            <a:ext cx="5216525" cy="1622425"/>
          </a:xfrm>
          <a:prstGeom prst="rect">
            <a:avLst/>
          </a:prstGeom>
          <a:solidFill>
            <a:srgbClr val="99CCFF"/>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10152" name="Text Box 8"/>
          <p:cNvSpPr txBox="1"/>
          <p:nvPr/>
        </p:nvSpPr>
        <p:spPr>
          <a:xfrm>
            <a:off x="865188" y="1449388"/>
            <a:ext cx="4330700"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2.</a:t>
            </a:r>
            <a:r>
              <a:rPr lang="zh-CN" altLang="en-US" sz="2800" b="1" dirty="0">
                <a:solidFill>
                  <a:srgbClr val="333399"/>
                </a:solidFill>
                <a:latin typeface="黑体" panose="02010609060101010101" pitchFamily="49" charset="-122"/>
                <a:ea typeface="黑体" panose="02010609060101010101" pitchFamily="49" charset="-122"/>
              </a:rPr>
              <a:t>二</a:t>
            </a:r>
            <a:r>
              <a:rPr lang="en-US" altLang="zh-CN" sz="2800" b="1">
                <a:solidFill>
                  <a:srgbClr val="333399"/>
                </a:solidFill>
                <a:latin typeface="黑体" panose="02010609060101010101" pitchFamily="49" charset="-122"/>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十进制（</a:t>
            </a:r>
            <a:r>
              <a:rPr lang="en-US" altLang="zh-CN" sz="2800" b="1">
                <a:solidFill>
                  <a:srgbClr val="333399"/>
                </a:solidFill>
                <a:latin typeface="Times New Roman" panose="02020603050405020304" pitchFamily="18" charset="0"/>
                <a:ea typeface="黑体" panose="02010609060101010101" pitchFamily="49" charset="-122"/>
              </a:rPr>
              <a:t>BCD</a:t>
            </a:r>
            <a:r>
              <a:rPr lang="zh-CN" altLang="en-US" sz="2800" b="1" dirty="0">
                <a:solidFill>
                  <a:srgbClr val="333399"/>
                </a:solidFill>
                <a:latin typeface="黑体" panose="02010609060101010101" pitchFamily="49" charset="-122"/>
                <a:ea typeface="黑体" panose="02010609060101010101" pitchFamily="49" charset="-122"/>
              </a:rPr>
              <a:t>）编码</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10153" name="Text Box 9"/>
          <p:cNvSpPr txBox="1"/>
          <p:nvPr/>
        </p:nvSpPr>
        <p:spPr>
          <a:xfrm>
            <a:off x="325438" y="1989138"/>
            <a:ext cx="5759450" cy="946150"/>
          </a:xfrm>
          <a:prstGeom prst="rect">
            <a:avLst/>
          </a:prstGeom>
          <a:solidFill>
            <a:srgbClr val="FFFF99"/>
          </a:solidFill>
          <a:ln w="9525">
            <a:noFill/>
          </a:ln>
        </p:spPr>
        <p:txBody>
          <a:bodyPr>
            <a:spAutoFit/>
          </a:bodyPr>
          <a:p>
            <a:pPr algn="l" eaLnBrk="1" hangingPunct="1">
              <a:buClr>
                <a:srgbClr val="FF0000"/>
              </a:buClr>
              <a:buFont typeface="Wingdings" panose="05000000000000000000" pitchFamily="2" charset="2"/>
            </a:pPr>
            <a:r>
              <a:rPr lang="zh-CN" altLang="en-US" sz="2800" b="1" dirty="0">
                <a:solidFill>
                  <a:schemeClr val="tx1"/>
                </a:solidFill>
                <a:latin typeface="黑体" panose="02010609060101010101" pitchFamily="49" charset="-122"/>
                <a:ea typeface="黑体" panose="02010609060101010101" pitchFamily="49" charset="-122"/>
              </a:rPr>
              <a:t>在</a:t>
            </a:r>
            <a:r>
              <a:rPr lang="en-US" altLang="zh-CN" sz="2800" b="1">
                <a:solidFill>
                  <a:schemeClr val="tx1"/>
                </a:solidFill>
                <a:latin typeface="Times New Roman" panose="02020603050405020304" pitchFamily="18" charset="0"/>
                <a:ea typeface="黑体" panose="02010609060101010101" pitchFamily="49" charset="-122"/>
              </a:rPr>
              <a:t>BCD</a:t>
            </a:r>
            <a:r>
              <a:rPr lang="zh-CN" altLang="en-US" sz="2800" b="1" dirty="0">
                <a:solidFill>
                  <a:schemeClr val="tx1"/>
                </a:solidFill>
                <a:latin typeface="黑体" panose="02010609060101010101" pitchFamily="49" charset="-122"/>
                <a:ea typeface="黑体" panose="02010609060101010101" pitchFamily="49" charset="-122"/>
              </a:rPr>
              <a:t>编码中，用一组</a:t>
            </a:r>
            <a:r>
              <a:rPr lang="en-US" altLang="zh-CN" sz="2800" b="1">
                <a:solidFill>
                  <a:schemeClr val="tx1"/>
                </a:solidFill>
                <a:latin typeface="黑体" panose="02010609060101010101" pitchFamily="49" charset="-122"/>
                <a:ea typeface="黑体" panose="02010609060101010101" pitchFamily="49" charset="-122"/>
              </a:rPr>
              <a:t>4</a:t>
            </a:r>
            <a:r>
              <a:rPr lang="zh-CN" altLang="en-US" sz="2800" b="1" dirty="0">
                <a:solidFill>
                  <a:schemeClr val="tx1"/>
                </a:solidFill>
                <a:latin typeface="黑体" panose="02010609060101010101" pitchFamily="49" charset="-122"/>
                <a:ea typeface="黑体" panose="02010609060101010101" pitchFamily="49" charset="-122"/>
              </a:rPr>
              <a:t>位二进制码来表示一位</a:t>
            </a:r>
            <a:r>
              <a:rPr lang="en-US" altLang="zh-CN" sz="2800" b="1">
                <a:solidFill>
                  <a:schemeClr val="tx1"/>
                </a:solidFill>
                <a:latin typeface="黑体" panose="02010609060101010101" pitchFamily="49" charset="-122"/>
                <a:ea typeface="黑体" panose="02010609060101010101" pitchFamily="49" charset="-122"/>
              </a:rPr>
              <a:t>0</a:t>
            </a:r>
            <a:r>
              <a:rPr lang="zh-CN" altLang="en-US" sz="2800" b="1" dirty="0">
                <a:solidFill>
                  <a:schemeClr val="tx1"/>
                </a:solidFill>
                <a:latin typeface="黑体" panose="02010609060101010101" pitchFamily="49" charset="-122"/>
                <a:ea typeface="黑体" panose="02010609060101010101" pitchFamily="49" charset="-122"/>
              </a:rPr>
              <a:t>～</a:t>
            </a:r>
            <a:r>
              <a:rPr lang="en-US" altLang="zh-CN" sz="2800" b="1">
                <a:solidFill>
                  <a:schemeClr val="tx1"/>
                </a:solidFill>
                <a:latin typeface="黑体" panose="02010609060101010101" pitchFamily="49" charset="-122"/>
                <a:ea typeface="黑体" panose="02010609060101010101" pitchFamily="49" charset="-122"/>
              </a:rPr>
              <a:t>9</a:t>
            </a:r>
            <a:r>
              <a:rPr lang="zh-CN" altLang="en-US" sz="2800" b="1" dirty="0">
                <a:solidFill>
                  <a:schemeClr val="tx1"/>
                </a:solidFill>
                <a:latin typeface="黑体" panose="02010609060101010101" pitchFamily="49" charset="-122"/>
                <a:ea typeface="黑体" panose="02010609060101010101" pitchFamily="49" charset="-122"/>
              </a:rPr>
              <a:t>的十进制数字。</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0156" name="Text Box 12"/>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0158" name="Text Box 14"/>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10160" name="Text Box 16"/>
          <p:cNvSpPr txBox="1"/>
          <p:nvPr/>
        </p:nvSpPr>
        <p:spPr>
          <a:xfrm>
            <a:off x="6438900" y="1952625"/>
            <a:ext cx="2016125" cy="41179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algn="ctr" eaLnBrk="1" hangingPunct="1">
              <a:lnSpc>
                <a:spcPct val="110000"/>
              </a:lnSpc>
            </a:pPr>
            <a:r>
              <a:rPr lang="en-US" altLang="zh-CN" sz="2400" b="1">
                <a:solidFill>
                  <a:srgbClr val="FF0000"/>
                </a:solidFill>
                <a:latin typeface="楷体_GB2312" pitchFamily="49" charset="-122"/>
              </a:rPr>
              <a:t>0</a:t>
            </a:r>
            <a:r>
              <a:rPr lang="en-US" altLang="zh-CN" sz="2400" b="1">
                <a:solidFill>
                  <a:srgbClr val="333399"/>
                </a:solidFill>
                <a:latin typeface="楷体_GB2312" pitchFamily="49" charset="-122"/>
              </a:rPr>
              <a:t>:	0000</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1</a:t>
            </a:r>
            <a:r>
              <a:rPr lang="en-US" altLang="zh-CN" sz="2400" b="1">
                <a:solidFill>
                  <a:srgbClr val="333399"/>
                </a:solidFill>
                <a:latin typeface="楷体_GB2312" pitchFamily="49" charset="-122"/>
              </a:rPr>
              <a:t>:	0001</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2</a:t>
            </a:r>
            <a:r>
              <a:rPr lang="en-US" altLang="zh-CN" sz="2400" b="1">
                <a:solidFill>
                  <a:srgbClr val="333399"/>
                </a:solidFill>
                <a:latin typeface="楷体_GB2312" pitchFamily="49" charset="-122"/>
              </a:rPr>
              <a:t>:	0010</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3</a:t>
            </a:r>
            <a:r>
              <a:rPr lang="en-US" altLang="zh-CN" sz="2400" b="1">
                <a:solidFill>
                  <a:srgbClr val="333399"/>
                </a:solidFill>
                <a:latin typeface="楷体_GB2312" pitchFamily="49" charset="-122"/>
              </a:rPr>
              <a:t>:	0011</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4</a:t>
            </a:r>
            <a:r>
              <a:rPr lang="en-US" altLang="zh-CN" sz="2400" b="1">
                <a:solidFill>
                  <a:srgbClr val="333399"/>
                </a:solidFill>
                <a:latin typeface="楷体_GB2312" pitchFamily="49" charset="-122"/>
              </a:rPr>
              <a:t>:	0100</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5</a:t>
            </a:r>
            <a:r>
              <a:rPr lang="en-US" altLang="zh-CN" sz="2400" b="1">
                <a:solidFill>
                  <a:srgbClr val="333399"/>
                </a:solidFill>
                <a:latin typeface="楷体_GB2312" pitchFamily="49" charset="-122"/>
              </a:rPr>
              <a:t>:	0101</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6</a:t>
            </a:r>
            <a:r>
              <a:rPr lang="en-US" altLang="zh-CN" sz="2400" b="1">
                <a:solidFill>
                  <a:srgbClr val="333399"/>
                </a:solidFill>
                <a:latin typeface="楷体_GB2312" pitchFamily="49" charset="-122"/>
              </a:rPr>
              <a:t>:	0110</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7</a:t>
            </a:r>
            <a:r>
              <a:rPr lang="en-US" altLang="zh-CN" sz="2400" b="1">
                <a:solidFill>
                  <a:srgbClr val="333399"/>
                </a:solidFill>
                <a:latin typeface="楷体_GB2312" pitchFamily="49" charset="-122"/>
              </a:rPr>
              <a:t>:	0111</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8</a:t>
            </a:r>
            <a:r>
              <a:rPr lang="en-US" altLang="zh-CN" sz="2400" b="1">
                <a:solidFill>
                  <a:srgbClr val="333399"/>
                </a:solidFill>
                <a:latin typeface="楷体_GB2312" pitchFamily="49" charset="-122"/>
              </a:rPr>
              <a:t>:	1000</a:t>
            </a:r>
            <a:endParaRPr lang="en-US" altLang="zh-CN" sz="2400" b="1">
              <a:solidFill>
                <a:srgbClr val="333399"/>
              </a:solidFill>
              <a:latin typeface="楷体_GB2312" pitchFamily="49" charset="-122"/>
            </a:endParaRPr>
          </a:p>
          <a:p>
            <a:pPr algn="ctr" eaLnBrk="1" hangingPunct="1">
              <a:lnSpc>
                <a:spcPct val="110000"/>
              </a:lnSpc>
            </a:pPr>
            <a:r>
              <a:rPr lang="en-US" altLang="zh-CN" sz="2400" b="1">
                <a:solidFill>
                  <a:srgbClr val="FF0000"/>
                </a:solidFill>
                <a:latin typeface="楷体_GB2312" pitchFamily="49" charset="-122"/>
              </a:rPr>
              <a:t>9</a:t>
            </a:r>
            <a:r>
              <a:rPr lang="en-US" altLang="zh-CN" sz="2400" b="1">
                <a:solidFill>
                  <a:srgbClr val="333399"/>
                </a:solidFill>
                <a:latin typeface="楷体_GB2312" pitchFamily="49" charset="-122"/>
              </a:rPr>
              <a:t>:	1001</a:t>
            </a:r>
            <a:endParaRPr lang="en-US" altLang="zh-CN" sz="2400" b="1">
              <a:solidFill>
                <a:srgbClr val="333399"/>
              </a:solidFill>
              <a:latin typeface="楷体_GB2312" pitchFamily="49" charset="-122"/>
            </a:endParaRPr>
          </a:p>
        </p:txBody>
      </p:sp>
      <p:sp>
        <p:nvSpPr>
          <p:cNvPr id="2310161" name="Text Box 17"/>
          <p:cNvSpPr txBox="1"/>
          <p:nvPr/>
        </p:nvSpPr>
        <p:spPr>
          <a:xfrm>
            <a:off x="827088" y="3033713"/>
            <a:ext cx="5075237" cy="946150"/>
          </a:xfrm>
          <a:prstGeom prst="rect">
            <a:avLst/>
          </a:prstGeom>
          <a:solidFill>
            <a:srgbClr val="FFCC99"/>
          </a:solidFill>
          <a:ln w="9525">
            <a:noFill/>
          </a:ln>
        </p:spPr>
        <p:txBody>
          <a:bodyPr>
            <a:spAutoFit/>
          </a:bodyPr>
          <a:p>
            <a:pPr algn="l" eaLnBrk="1" hangingPunct="1">
              <a:spcBef>
                <a:spcPct val="50000"/>
              </a:spcBef>
            </a:pPr>
            <a:r>
              <a:rPr lang="en-US" altLang="zh-CN" sz="2800" b="1">
                <a:solidFill>
                  <a:srgbClr val="333399"/>
                </a:solidFill>
                <a:latin typeface="楷体_GB2312" pitchFamily="49" charset="-122"/>
              </a:rPr>
              <a:t>4</a:t>
            </a:r>
            <a:r>
              <a:rPr lang="zh-CN" altLang="en-US" sz="2800" b="1" dirty="0">
                <a:solidFill>
                  <a:srgbClr val="333399"/>
                </a:solidFill>
                <a:latin typeface="楷体_GB2312" pitchFamily="49" charset="-122"/>
              </a:rPr>
              <a:t>位二进制码每一位的权值分别是</a:t>
            </a:r>
            <a:r>
              <a:rPr lang="en-US" altLang="zh-CN" sz="2800" b="1">
                <a:solidFill>
                  <a:srgbClr val="FF0000"/>
                </a:solidFill>
                <a:latin typeface="Times New Roman" panose="02020603050405020304" pitchFamily="18" charset="0"/>
              </a:rPr>
              <a:t>8421</a:t>
            </a:r>
            <a:r>
              <a:rPr lang="zh-CN" altLang="en-US" sz="2800" b="1" dirty="0">
                <a:solidFill>
                  <a:srgbClr val="333399"/>
                </a:solidFill>
                <a:latin typeface="楷体_GB2312" pitchFamily="49" charset="-122"/>
              </a:rPr>
              <a:t>（</a:t>
            </a:r>
            <a:r>
              <a:rPr lang="en-US" altLang="zh-CN" sz="2800" b="1">
                <a:solidFill>
                  <a:srgbClr val="FF0000"/>
                </a:solidFill>
                <a:latin typeface="Times New Roman" panose="02020603050405020304" pitchFamily="18" charset="0"/>
              </a:rPr>
              <a:t>2</a:t>
            </a:r>
            <a:r>
              <a:rPr lang="en-US" altLang="zh-CN" sz="2800" b="1" baseline="30000">
                <a:solidFill>
                  <a:srgbClr val="FF0000"/>
                </a:solidFill>
                <a:latin typeface="Times New Roman" panose="02020603050405020304" pitchFamily="18" charset="0"/>
              </a:rPr>
              <a:t>3</a:t>
            </a:r>
            <a:r>
              <a:rPr lang="en-US" altLang="zh-CN" sz="2800" b="1">
                <a:solidFill>
                  <a:srgbClr val="FF0000"/>
                </a:solidFill>
                <a:latin typeface="Times New Roman" panose="02020603050405020304" pitchFamily="18" charset="0"/>
              </a:rPr>
              <a:t>2</a:t>
            </a:r>
            <a:r>
              <a:rPr lang="en-US" altLang="zh-CN" sz="2800" b="1" baseline="30000">
                <a:solidFill>
                  <a:srgbClr val="FF0000"/>
                </a:solidFill>
                <a:latin typeface="Times New Roman" panose="02020603050405020304" pitchFamily="18" charset="0"/>
              </a:rPr>
              <a:t>2</a:t>
            </a:r>
            <a:r>
              <a:rPr lang="en-US" altLang="zh-CN" sz="2800" b="1">
                <a:solidFill>
                  <a:srgbClr val="FF0000"/>
                </a:solidFill>
                <a:latin typeface="Times New Roman" panose="02020603050405020304" pitchFamily="18" charset="0"/>
              </a:rPr>
              <a:t>2</a:t>
            </a:r>
            <a:r>
              <a:rPr lang="en-US" altLang="zh-CN" sz="2800" b="1" baseline="30000">
                <a:solidFill>
                  <a:srgbClr val="FF0000"/>
                </a:solidFill>
                <a:latin typeface="Times New Roman" panose="02020603050405020304" pitchFamily="18" charset="0"/>
              </a:rPr>
              <a:t>1</a:t>
            </a:r>
            <a:r>
              <a:rPr lang="en-US" altLang="zh-CN" sz="2800" b="1">
                <a:solidFill>
                  <a:srgbClr val="FF0000"/>
                </a:solidFill>
                <a:latin typeface="Times New Roman" panose="02020603050405020304" pitchFamily="18" charset="0"/>
              </a:rPr>
              <a:t>2</a:t>
            </a:r>
            <a:r>
              <a:rPr lang="en-US" altLang="zh-CN" sz="2800" b="1" baseline="30000">
                <a:solidFill>
                  <a:srgbClr val="FF0000"/>
                </a:solidFill>
                <a:latin typeface="Times New Roman" panose="02020603050405020304" pitchFamily="18" charset="0"/>
              </a:rPr>
              <a:t>0</a:t>
            </a:r>
            <a:r>
              <a:rPr lang="zh-CN" altLang="en-US" sz="2800" b="1" dirty="0">
                <a:solidFill>
                  <a:srgbClr val="333399"/>
                </a:solidFill>
                <a:latin typeface="楷体_GB2312" pitchFamily="49" charset="-122"/>
              </a:rPr>
              <a:t>）</a:t>
            </a:r>
            <a:endParaRPr lang="zh-CN" altLang="en-US" sz="2800" b="1" dirty="0">
              <a:solidFill>
                <a:srgbClr val="333399"/>
              </a:solidFill>
              <a:latin typeface="楷体_GB2312" pitchFamily="49" charset="-122"/>
            </a:endParaRPr>
          </a:p>
        </p:txBody>
      </p:sp>
      <p:sp>
        <p:nvSpPr>
          <p:cNvPr id="2310162" name="Text Box 18"/>
          <p:cNvSpPr txBox="1"/>
          <p:nvPr/>
        </p:nvSpPr>
        <p:spPr>
          <a:xfrm>
            <a:off x="250825" y="4049713"/>
            <a:ext cx="5757863" cy="457200"/>
          </a:xfrm>
          <a:prstGeom prst="rect">
            <a:avLst/>
          </a:prstGeom>
          <a:noFill/>
          <a:ln w="9525">
            <a:noFill/>
          </a:ln>
        </p:spPr>
        <p:txBody>
          <a:bodyPr>
            <a:spAutoFit/>
          </a:bodyPr>
          <a:p>
            <a:pPr algn="l" eaLnBrk="1" hangingPunct="1">
              <a:spcBef>
                <a:spcPct val="50000"/>
              </a:spcBef>
            </a:pPr>
            <a:r>
              <a:rPr lang="zh-CN" altLang="en-US" sz="2400" b="1" dirty="0">
                <a:solidFill>
                  <a:srgbClr val="FF0000"/>
                </a:solidFill>
                <a:latin typeface="黑体" panose="02010609060101010101" pitchFamily="49" charset="-122"/>
                <a:ea typeface="黑体" panose="02010609060101010101" pitchFamily="49" charset="-122"/>
              </a:rPr>
              <a:t>例子</a:t>
            </a:r>
            <a:r>
              <a:rPr lang="zh-CN" altLang="en-US" sz="2400" b="1" dirty="0">
                <a:solidFill>
                  <a:schemeClr val="tx1"/>
                </a:solidFill>
                <a:latin typeface="黑体" panose="02010609060101010101" pitchFamily="49" charset="-122"/>
                <a:ea typeface="黑体" panose="02010609060101010101" pitchFamily="49" charset="-122"/>
              </a:rPr>
              <a:t>：如果一个电压进行</a:t>
            </a:r>
            <a:r>
              <a:rPr lang="en-US" altLang="zh-CN" sz="2400" b="1">
                <a:solidFill>
                  <a:schemeClr val="tx1"/>
                </a:solidFill>
                <a:latin typeface="黑体" panose="02010609060101010101" pitchFamily="49" charset="-122"/>
                <a:ea typeface="黑体" panose="02010609060101010101" pitchFamily="49" charset="-122"/>
              </a:rPr>
              <a:t>BCD</a:t>
            </a:r>
            <a:r>
              <a:rPr lang="zh-CN" altLang="en-US" sz="2400" b="1" dirty="0">
                <a:solidFill>
                  <a:schemeClr val="tx1"/>
                </a:solidFill>
                <a:latin typeface="黑体" panose="02010609060101010101" pitchFamily="49" charset="-122"/>
                <a:ea typeface="黑体" panose="02010609060101010101" pitchFamily="49" charset="-122"/>
              </a:rPr>
              <a:t>编码，则有：</a:t>
            </a:r>
            <a:endParaRPr lang="zh-CN" altLang="en-US" sz="2400" b="1" dirty="0">
              <a:solidFill>
                <a:schemeClr val="tx1"/>
              </a:solidFill>
              <a:latin typeface="黑体" panose="02010609060101010101" pitchFamily="49" charset="-122"/>
              <a:ea typeface="黑体" panose="02010609060101010101" pitchFamily="49" charset="-122"/>
            </a:endParaRPr>
          </a:p>
        </p:txBody>
      </p:sp>
      <p:graphicFrame>
        <p:nvGraphicFramePr>
          <p:cNvPr id="2310163" name="Object 19"/>
          <p:cNvGraphicFramePr>
            <a:graphicFrameLocks noChangeAspect="1"/>
          </p:cNvGraphicFramePr>
          <p:nvPr/>
        </p:nvGraphicFramePr>
        <p:xfrm>
          <a:off x="762000" y="4495800"/>
          <a:ext cx="4611688" cy="849313"/>
        </p:xfrm>
        <a:graphic>
          <a:graphicData uri="http://schemas.openxmlformats.org/presentationml/2006/ole">
            <mc:AlternateContent xmlns:mc="http://schemas.openxmlformats.org/markup-compatibility/2006">
              <mc:Choice xmlns:v="urn:schemas-microsoft-com:vml" Requires="v">
                <p:oleObj spid="_x0000_s3199" name="" r:id="rId1" imgW="2197100" imgH="393700" progId="Equation.3">
                  <p:embed/>
                </p:oleObj>
              </mc:Choice>
              <mc:Fallback>
                <p:oleObj name="" r:id="rId1" imgW="2197100" imgH="393700" progId="Equation.3">
                  <p:embed/>
                  <p:pic>
                    <p:nvPicPr>
                      <p:cNvPr id="0" name="图片 3198"/>
                      <p:cNvPicPr/>
                      <p:nvPr/>
                    </p:nvPicPr>
                    <p:blipFill>
                      <a:blip r:embed="rId2"/>
                      <a:stretch>
                        <a:fillRect/>
                      </a:stretch>
                    </p:blipFill>
                    <p:spPr>
                      <a:xfrm>
                        <a:off x="762000" y="4495800"/>
                        <a:ext cx="4611688" cy="849313"/>
                      </a:xfrm>
                      <a:prstGeom prst="rect">
                        <a:avLst/>
                      </a:prstGeom>
                      <a:noFill/>
                      <a:ln w="38100">
                        <a:noFill/>
                        <a:miter/>
                      </a:ln>
                    </p:spPr>
                  </p:pic>
                </p:oleObj>
              </mc:Fallback>
            </mc:AlternateContent>
          </a:graphicData>
        </a:graphic>
      </p:graphicFrame>
      <p:graphicFrame>
        <p:nvGraphicFramePr>
          <p:cNvPr id="2310164" name="Object 20"/>
          <p:cNvGraphicFramePr>
            <a:graphicFrameLocks noChangeAspect="1"/>
          </p:cNvGraphicFramePr>
          <p:nvPr/>
        </p:nvGraphicFramePr>
        <p:xfrm>
          <a:off x="1803400" y="5308600"/>
          <a:ext cx="3913188" cy="820738"/>
        </p:xfrm>
        <a:graphic>
          <a:graphicData uri="http://schemas.openxmlformats.org/presentationml/2006/ole">
            <mc:AlternateContent xmlns:mc="http://schemas.openxmlformats.org/markup-compatibility/2006">
              <mc:Choice xmlns:v="urn:schemas-microsoft-com:vml" Requires="v">
                <p:oleObj spid="_x0000_s3198" name="" r:id="rId3" imgW="1968500" imgH="393700" progId="Equation.3">
                  <p:embed/>
                </p:oleObj>
              </mc:Choice>
              <mc:Fallback>
                <p:oleObj name="" r:id="rId3" imgW="1968500" imgH="393700" progId="Equation.3">
                  <p:embed/>
                  <p:pic>
                    <p:nvPicPr>
                      <p:cNvPr id="0" name="图片 3197"/>
                      <p:cNvPicPr/>
                      <p:nvPr/>
                    </p:nvPicPr>
                    <p:blipFill>
                      <a:blip r:embed="rId4"/>
                      <a:stretch>
                        <a:fillRect/>
                      </a:stretch>
                    </p:blipFill>
                    <p:spPr>
                      <a:xfrm>
                        <a:off x="1803400" y="5308600"/>
                        <a:ext cx="3913188" cy="820738"/>
                      </a:xfrm>
                      <a:prstGeom prst="rect">
                        <a:avLst/>
                      </a:prstGeom>
                      <a:noFill/>
                      <a:ln w="38100">
                        <a:noFill/>
                        <a:miter/>
                      </a:ln>
                    </p:spPr>
                  </p:pic>
                </p:oleObj>
              </mc:Fallback>
            </mc:AlternateContent>
          </a:graphicData>
        </a:graphic>
      </p:graphicFrame>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0152"/>
                                        </p:tgtEl>
                                        <p:attrNameLst>
                                          <p:attrName>style.visibility</p:attrName>
                                        </p:attrNameLst>
                                      </p:cBhvr>
                                      <p:to>
                                        <p:strVal val="visible"/>
                                      </p:to>
                                    </p:set>
                                    <p:animEffect transition="in" filter="dissolve">
                                      <p:cBhvr>
                                        <p:cTn id="7" dur="500"/>
                                        <p:tgtEl>
                                          <p:spTgt spid="231015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10153"/>
                                        </p:tgtEl>
                                        <p:attrNameLst>
                                          <p:attrName>style.visibility</p:attrName>
                                        </p:attrNameLst>
                                      </p:cBhvr>
                                      <p:to>
                                        <p:strVal val="visible"/>
                                      </p:to>
                                    </p:set>
                                    <p:animEffect transition="in" filter="dissolve">
                                      <p:cBhvr>
                                        <p:cTn id="12" dur="500"/>
                                        <p:tgtEl>
                                          <p:spTgt spid="23101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10160"/>
                                        </p:tgtEl>
                                        <p:attrNameLst>
                                          <p:attrName>style.visibility</p:attrName>
                                        </p:attrNameLst>
                                      </p:cBhvr>
                                      <p:to>
                                        <p:strVal val="visible"/>
                                      </p:to>
                                    </p:set>
                                    <p:animEffect transition="in" filter="dissolve">
                                      <p:cBhvr>
                                        <p:cTn id="17" dur="500"/>
                                        <p:tgtEl>
                                          <p:spTgt spid="2310160"/>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10160">
                                            <p:txEl>
                                              <p:charRg st="0" end="8"/>
                                            </p:txEl>
                                          </p:spTgt>
                                        </p:tgtEl>
                                        <p:attrNameLst>
                                          <p:attrName>style.visibility</p:attrName>
                                        </p:attrNameLst>
                                      </p:cBhvr>
                                      <p:to>
                                        <p:strVal val="visible"/>
                                      </p:to>
                                    </p:set>
                                    <p:animEffect transition="in" filter="dissolve">
                                      <p:cBhvr>
                                        <p:cTn id="20" dur="500"/>
                                        <p:tgtEl>
                                          <p:spTgt spid="2310160">
                                            <p:txEl>
                                              <p:charRg st="0" end="8"/>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310160">
                                            <p:txEl>
                                              <p:charRg st="8" end="16"/>
                                            </p:txEl>
                                          </p:spTgt>
                                        </p:tgtEl>
                                        <p:attrNameLst>
                                          <p:attrName>style.visibility</p:attrName>
                                        </p:attrNameLst>
                                      </p:cBhvr>
                                      <p:to>
                                        <p:strVal val="visible"/>
                                      </p:to>
                                    </p:set>
                                    <p:animEffect transition="in" filter="dissolve">
                                      <p:cBhvr>
                                        <p:cTn id="23" dur="500"/>
                                        <p:tgtEl>
                                          <p:spTgt spid="2310160">
                                            <p:txEl>
                                              <p:charRg st="8" end="16"/>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310160">
                                            <p:txEl>
                                              <p:charRg st="16" end="24"/>
                                            </p:txEl>
                                          </p:spTgt>
                                        </p:tgtEl>
                                        <p:attrNameLst>
                                          <p:attrName>style.visibility</p:attrName>
                                        </p:attrNameLst>
                                      </p:cBhvr>
                                      <p:to>
                                        <p:strVal val="visible"/>
                                      </p:to>
                                    </p:set>
                                    <p:animEffect transition="in" filter="dissolve">
                                      <p:cBhvr>
                                        <p:cTn id="26" dur="500"/>
                                        <p:tgtEl>
                                          <p:spTgt spid="2310160">
                                            <p:txEl>
                                              <p:charRg st="16" end="24"/>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2310160">
                                            <p:txEl>
                                              <p:charRg st="24" end="32"/>
                                            </p:txEl>
                                          </p:spTgt>
                                        </p:tgtEl>
                                        <p:attrNameLst>
                                          <p:attrName>style.visibility</p:attrName>
                                        </p:attrNameLst>
                                      </p:cBhvr>
                                      <p:to>
                                        <p:strVal val="visible"/>
                                      </p:to>
                                    </p:set>
                                    <p:animEffect transition="in" filter="dissolve">
                                      <p:cBhvr>
                                        <p:cTn id="29" dur="500"/>
                                        <p:tgtEl>
                                          <p:spTgt spid="2310160">
                                            <p:txEl>
                                              <p:charRg st="24" end="32"/>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310160">
                                            <p:txEl>
                                              <p:charRg st="32" end="40"/>
                                            </p:txEl>
                                          </p:spTgt>
                                        </p:tgtEl>
                                        <p:attrNameLst>
                                          <p:attrName>style.visibility</p:attrName>
                                        </p:attrNameLst>
                                      </p:cBhvr>
                                      <p:to>
                                        <p:strVal val="visible"/>
                                      </p:to>
                                    </p:set>
                                    <p:animEffect transition="in" filter="dissolve">
                                      <p:cBhvr>
                                        <p:cTn id="32" dur="500"/>
                                        <p:tgtEl>
                                          <p:spTgt spid="2310160">
                                            <p:txEl>
                                              <p:charRg st="32" end="40"/>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310160">
                                            <p:txEl>
                                              <p:charRg st="40" end="48"/>
                                            </p:txEl>
                                          </p:spTgt>
                                        </p:tgtEl>
                                        <p:attrNameLst>
                                          <p:attrName>style.visibility</p:attrName>
                                        </p:attrNameLst>
                                      </p:cBhvr>
                                      <p:to>
                                        <p:strVal val="visible"/>
                                      </p:to>
                                    </p:set>
                                    <p:animEffect transition="in" filter="dissolve">
                                      <p:cBhvr>
                                        <p:cTn id="35" dur="500"/>
                                        <p:tgtEl>
                                          <p:spTgt spid="2310160">
                                            <p:txEl>
                                              <p:charRg st="40" end="4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310160">
                                            <p:txEl>
                                              <p:charRg st="48" end="56"/>
                                            </p:txEl>
                                          </p:spTgt>
                                        </p:tgtEl>
                                        <p:attrNameLst>
                                          <p:attrName>style.visibility</p:attrName>
                                        </p:attrNameLst>
                                      </p:cBhvr>
                                      <p:to>
                                        <p:strVal val="visible"/>
                                      </p:to>
                                    </p:set>
                                    <p:animEffect transition="in" filter="dissolve">
                                      <p:cBhvr>
                                        <p:cTn id="38" dur="500"/>
                                        <p:tgtEl>
                                          <p:spTgt spid="2310160">
                                            <p:txEl>
                                              <p:charRg st="48" end="56"/>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10160">
                                            <p:txEl>
                                              <p:charRg st="56" end="64"/>
                                            </p:txEl>
                                          </p:spTgt>
                                        </p:tgtEl>
                                        <p:attrNameLst>
                                          <p:attrName>style.visibility</p:attrName>
                                        </p:attrNameLst>
                                      </p:cBhvr>
                                      <p:to>
                                        <p:strVal val="visible"/>
                                      </p:to>
                                    </p:set>
                                    <p:animEffect transition="in" filter="dissolve">
                                      <p:cBhvr>
                                        <p:cTn id="41" dur="500"/>
                                        <p:tgtEl>
                                          <p:spTgt spid="2310160">
                                            <p:txEl>
                                              <p:charRg st="56" end="64"/>
                                            </p:txEl>
                                          </p:spTgt>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2310160">
                                            <p:txEl>
                                              <p:charRg st="64" end="72"/>
                                            </p:txEl>
                                          </p:spTgt>
                                        </p:tgtEl>
                                        <p:attrNameLst>
                                          <p:attrName>style.visibility</p:attrName>
                                        </p:attrNameLst>
                                      </p:cBhvr>
                                      <p:to>
                                        <p:strVal val="visible"/>
                                      </p:to>
                                    </p:set>
                                    <p:animEffect transition="in" filter="dissolve">
                                      <p:cBhvr>
                                        <p:cTn id="44" dur="500"/>
                                        <p:tgtEl>
                                          <p:spTgt spid="2310160">
                                            <p:txEl>
                                              <p:charRg st="64" end="72"/>
                                            </p:txEl>
                                          </p:spTgt>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310160">
                                            <p:txEl>
                                              <p:charRg st="72" end="80"/>
                                            </p:txEl>
                                          </p:spTgt>
                                        </p:tgtEl>
                                        <p:attrNameLst>
                                          <p:attrName>style.visibility</p:attrName>
                                        </p:attrNameLst>
                                      </p:cBhvr>
                                      <p:to>
                                        <p:strVal val="visible"/>
                                      </p:to>
                                    </p:set>
                                    <p:animEffect transition="in" filter="dissolve">
                                      <p:cBhvr>
                                        <p:cTn id="47" dur="500"/>
                                        <p:tgtEl>
                                          <p:spTgt spid="2310160">
                                            <p:txEl>
                                              <p:charRg st="72" end="80"/>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310161"/>
                                        </p:tgtEl>
                                        <p:attrNameLst>
                                          <p:attrName>style.visibility</p:attrName>
                                        </p:attrNameLst>
                                      </p:cBhvr>
                                      <p:to>
                                        <p:strVal val="visible"/>
                                      </p:to>
                                    </p:set>
                                    <p:animEffect transition="in" filter="dissolve">
                                      <p:cBhvr>
                                        <p:cTn id="52" dur="500"/>
                                        <p:tgtEl>
                                          <p:spTgt spid="231016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2310162"/>
                                        </p:tgtEl>
                                        <p:attrNameLst>
                                          <p:attrName>style.visibility</p:attrName>
                                        </p:attrNameLst>
                                      </p:cBhvr>
                                      <p:to>
                                        <p:strVal val="visible"/>
                                      </p:to>
                                    </p:set>
                                    <p:animEffect transition="in" filter="dissolve">
                                      <p:cBhvr>
                                        <p:cTn id="57" dur="500"/>
                                        <p:tgtEl>
                                          <p:spTgt spid="2310162"/>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2310165"/>
                                        </p:tgtEl>
                                        <p:attrNameLst>
                                          <p:attrName>style.visibility</p:attrName>
                                        </p:attrNameLst>
                                      </p:cBhvr>
                                      <p:to>
                                        <p:strVal val="visible"/>
                                      </p:to>
                                    </p:set>
                                    <p:animEffect transition="in" filter="dissolve">
                                      <p:cBhvr>
                                        <p:cTn id="62" dur="500"/>
                                        <p:tgtEl>
                                          <p:spTgt spid="2310165"/>
                                        </p:tgtEl>
                                      </p:cBhvr>
                                    </p:animEffect>
                                  </p:childTnLst>
                                </p:cTn>
                              </p:par>
                              <p:par>
                                <p:cTn id="63" presetID="9" presetClass="entr" presetSubtype="0" fill="hold" nodeType="withEffect">
                                  <p:stCondLst>
                                    <p:cond delay="0"/>
                                  </p:stCondLst>
                                  <p:childTnLst>
                                    <p:set>
                                      <p:cBhvr>
                                        <p:cTn id="64" dur="1" fill="hold">
                                          <p:stCondLst>
                                            <p:cond delay="0"/>
                                          </p:stCondLst>
                                        </p:cTn>
                                        <p:tgtEl>
                                          <p:spTgt spid="2310163"/>
                                        </p:tgtEl>
                                        <p:attrNameLst>
                                          <p:attrName>style.visibility</p:attrName>
                                        </p:attrNameLst>
                                      </p:cBhvr>
                                      <p:to>
                                        <p:strVal val="visible"/>
                                      </p:to>
                                    </p:set>
                                    <p:animEffect transition="in" filter="dissolve">
                                      <p:cBhvr>
                                        <p:cTn id="65" dur="500"/>
                                        <p:tgtEl>
                                          <p:spTgt spid="2310163"/>
                                        </p:tgtEl>
                                      </p:cBhvr>
                                    </p:animEffect>
                                  </p:childTnLst>
                                </p:cTn>
                              </p:par>
                              <p:par>
                                <p:cTn id="66" presetID="9" presetClass="entr" presetSubtype="0" fill="hold" nodeType="withEffect">
                                  <p:stCondLst>
                                    <p:cond delay="0"/>
                                  </p:stCondLst>
                                  <p:childTnLst>
                                    <p:set>
                                      <p:cBhvr>
                                        <p:cTn id="67" dur="1" fill="hold">
                                          <p:stCondLst>
                                            <p:cond delay="0"/>
                                          </p:stCondLst>
                                        </p:cTn>
                                        <p:tgtEl>
                                          <p:spTgt spid="2310164"/>
                                        </p:tgtEl>
                                        <p:attrNameLst>
                                          <p:attrName>style.visibility</p:attrName>
                                        </p:attrNameLst>
                                      </p:cBhvr>
                                      <p:to>
                                        <p:strVal val="visible"/>
                                      </p:to>
                                    </p:set>
                                    <p:animEffect transition="in" filter="dissolve">
                                      <p:cBhvr>
                                        <p:cTn id="68" dur="500"/>
                                        <p:tgtEl>
                                          <p:spTgt spid="2310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0165" grpId="0" bldLvl="0" animBg="1"/>
      <p:bldP spid="2310152" grpId="0"/>
      <p:bldP spid="2310153" grpId="0" bldLvl="0" animBg="1"/>
      <p:bldP spid="2310160" grpId="0" animBg="1" build="allAtOnce"/>
      <p:bldP spid="2310161" grpId="0" bldLvl="0" animBg="1"/>
      <p:bldP spid="231016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5538" name="Text Box 2"/>
          <p:cNvSpPr txBox="1"/>
          <p:nvPr/>
        </p:nvSpPr>
        <p:spPr>
          <a:xfrm>
            <a:off x="865188" y="1449388"/>
            <a:ext cx="4330700"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2.</a:t>
            </a:r>
            <a:r>
              <a:rPr lang="zh-CN" altLang="en-US" sz="2800" b="1" dirty="0">
                <a:solidFill>
                  <a:srgbClr val="333399"/>
                </a:solidFill>
                <a:latin typeface="黑体" panose="02010609060101010101" pitchFamily="49" charset="-122"/>
                <a:ea typeface="黑体" panose="02010609060101010101" pitchFamily="49" charset="-122"/>
              </a:rPr>
              <a:t>二</a:t>
            </a:r>
            <a:r>
              <a:rPr lang="en-US" altLang="zh-CN" sz="2800" b="1">
                <a:solidFill>
                  <a:srgbClr val="333399"/>
                </a:solidFill>
                <a:latin typeface="黑体" panose="02010609060101010101" pitchFamily="49" charset="-122"/>
                <a:ea typeface="黑体" panose="02010609060101010101" pitchFamily="49" charset="-122"/>
              </a:rPr>
              <a:t>-</a:t>
            </a:r>
            <a:r>
              <a:rPr lang="zh-CN" altLang="en-US" sz="2800" b="1" dirty="0">
                <a:solidFill>
                  <a:srgbClr val="333399"/>
                </a:solidFill>
                <a:latin typeface="黑体" panose="02010609060101010101" pitchFamily="49" charset="-122"/>
                <a:ea typeface="黑体" panose="02010609060101010101" pitchFamily="49" charset="-122"/>
              </a:rPr>
              <a:t>十进制（</a:t>
            </a:r>
            <a:r>
              <a:rPr lang="en-US" altLang="zh-CN" sz="2800" b="1">
                <a:solidFill>
                  <a:srgbClr val="333399"/>
                </a:solidFill>
                <a:latin typeface="Times New Roman" panose="02020603050405020304" pitchFamily="18" charset="0"/>
                <a:ea typeface="黑体" panose="02010609060101010101" pitchFamily="49" charset="-122"/>
              </a:rPr>
              <a:t>BCD</a:t>
            </a:r>
            <a:r>
              <a:rPr lang="zh-CN" altLang="en-US" sz="2800" b="1" dirty="0">
                <a:solidFill>
                  <a:srgbClr val="333399"/>
                </a:solidFill>
                <a:latin typeface="黑体" panose="02010609060101010101" pitchFamily="49" charset="-122"/>
                <a:ea typeface="黑体" panose="02010609060101010101" pitchFamily="49" charset="-122"/>
              </a:rPr>
              <a:t>）编码</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45990" name="Text Box 6"/>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5992" name="Text Box 8"/>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aphicFrame>
        <p:nvGraphicFramePr>
          <p:cNvPr id="2346029" name="Group 45"/>
          <p:cNvGraphicFramePr>
            <a:graphicFrameLocks noGrp="1"/>
          </p:cNvGraphicFramePr>
          <p:nvPr/>
        </p:nvGraphicFramePr>
        <p:xfrm>
          <a:off x="755650" y="2565400"/>
          <a:ext cx="7705725" cy="3603625"/>
        </p:xfrm>
        <a:graphic>
          <a:graphicData uri="http://schemas.openxmlformats.org/drawingml/2006/table">
            <a:tbl>
              <a:tblPr/>
              <a:tblGrid>
                <a:gridCol w="2232025"/>
                <a:gridCol w="2341563"/>
                <a:gridCol w="3132137"/>
              </a:tblGrid>
              <a:tr h="738253">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标   度</a:t>
                      </a:r>
                      <a:endParaRPr kumimoji="0" lang="zh-CN" altLang="en-US" sz="2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a:txBody>
                  <a:tcPr marT="45724" marB="4572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电压</a:t>
                      </a:r>
                      <a:r>
                        <a:rPr kumimoji="0" lang="zh-CN" altLang="en-US" sz="28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a:t>
                      </a:r>
                      <a:r>
                        <a:rPr kumimoji="0" lang="en-US" altLang="zh-CN" sz="28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V</a:t>
                      </a:r>
                      <a:r>
                        <a:rPr kumimoji="0" lang="zh-CN" altLang="en-US" sz="28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a:t>
                      </a:r>
                      <a:endParaRPr kumimoji="0" lang="zh-CN" altLang="en-US" sz="28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800" b="1" i="0" u="none" strike="noStrike" cap="none" normalizeH="0" baseline="0" smtClean="0">
                          <a:ln>
                            <a:noFill/>
                          </a:ln>
                          <a:solidFill>
                            <a:schemeClr val="tx1"/>
                          </a:solidFill>
                          <a:effectLst/>
                          <a:latin typeface="Times New Roman" panose="02020603050405020304" pitchFamily="18" charset="0"/>
                          <a:ea typeface="宋体" panose="02010600030101010101" pitchFamily="2" charset="-122"/>
                        </a:rPr>
                        <a:t>BCD</a:t>
                      </a:r>
                      <a:r>
                        <a:rPr kumimoji="0" lang="zh-CN" altLang="en-US" sz="2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码</a:t>
                      </a:r>
                      <a:endParaRPr kumimoji="0" lang="zh-CN" altLang="en-US" sz="2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865372">
                <a:tc>
                  <a:txBody>
                    <a:bodyPr/>
                    <a:lstStyle/>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+FSR-1LSB</a:t>
                      </a:r>
                      <a:endPar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+3/4</a:t>
                      </a:r>
                      <a:r>
                        <a:rPr kumimoji="1" lang="en-US" altLang="zh-CN" sz="2000" b="1" i="1" u="none" strike="noStrike" cap="none" normalizeH="0" baseline="0" smtClean="0">
                          <a:ln>
                            <a:noFill/>
                          </a:ln>
                          <a:solidFill>
                            <a:srgbClr val="333399"/>
                          </a:solidFill>
                          <a:effectLst/>
                          <a:latin typeface="Arial" panose="020B0604020202020204" pitchFamily="34" charset="0"/>
                          <a:ea typeface="宋体" panose="02010600030101010101" pitchFamily="2" charset="-122"/>
                        </a:rPr>
                        <a:t> </a:t>
                      </a: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FSR</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+1/2 FSR</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+1/4 FSR</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+1/8 FSR</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+1LSB</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a:t>
                      </a:r>
                      <a:endParaRPr kumimoji="0"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24" marB="4572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+9.99</a:t>
                      </a: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 </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+7.50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+5.00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+2.50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+1.25</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+0.01</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+0.00</a:t>
                      </a:r>
                      <a:endPar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1001     1001     1001</a:t>
                      </a: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 </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0111     0101     0000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0101     0000     0000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0010     0101     0000</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0001     0010     0101</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rPr>
                        <a:t>0000     0000     0001    </a:t>
                      </a:r>
                      <a:endParaRPr kumimoji="1" lang="en-US" altLang="zh-CN" sz="2000" b="1" i="0" u="none" strike="noStrike" cap="none" normalizeH="0" baseline="0" smtClean="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5000"/>
                        </a:spcBef>
                        <a:spcAft>
                          <a:spcPct val="0"/>
                        </a:spcAft>
                        <a:buClrTx/>
                        <a:buSzPct val="75000"/>
                        <a:buFont typeface="Wingdings" panose="05000000000000000000" pitchFamily="2" charset="2"/>
                        <a:buNone/>
                      </a:pPr>
                      <a:r>
                        <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0000     0000     0000</a:t>
                      </a:r>
                      <a:endParaRPr kumimoji="1" lang="en-US" altLang="zh-CN" sz="20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346028" name="Text Box 44"/>
          <p:cNvSpPr txBox="1"/>
          <p:nvPr/>
        </p:nvSpPr>
        <p:spPr>
          <a:xfrm>
            <a:off x="827088" y="2016125"/>
            <a:ext cx="5130800" cy="519113"/>
          </a:xfrm>
          <a:prstGeom prst="rect">
            <a:avLst/>
          </a:prstGeom>
          <a:solidFill>
            <a:srgbClr val="CCFFFF"/>
          </a:solidFill>
          <a:ln w="9525">
            <a:noFill/>
          </a:ln>
        </p:spPr>
        <p:txBody>
          <a:bodyPr wrap="none">
            <a:spAutoFit/>
          </a:bodyPr>
          <a:p>
            <a:pPr algn="l" eaLnBrk="1" hangingPunct="1"/>
            <a:r>
              <a:rPr lang="en-US" altLang="zh-CN" sz="2800" b="1">
                <a:solidFill>
                  <a:schemeClr val="tx1"/>
                </a:solidFill>
                <a:latin typeface="Times New Roman" panose="02020603050405020304" pitchFamily="18" charset="0"/>
                <a:ea typeface="宋体" panose="02010600030101010101" pitchFamily="2" charset="-122"/>
              </a:rPr>
              <a:t>3</a:t>
            </a:r>
            <a:r>
              <a:rPr lang="zh-CN" altLang="en-US" sz="2800" b="1" dirty="0">
                <a:solidFill>
                  <a:schemeClr val="tx1"/>
                </a:solidFill>
                <a:latin typeface="Times New Roman" panose="02020603050405020304" pitchFamily="18" charset="0"/>
              </a:rPr>
              <a:t>位十进制数字的</a:t>
            </a:r>
            <a:r>
              <a:rPr lang="en-US" altLang="zh-CN" sz="2800" b="1">
                <a:solidFill>
                  <a:schemeClr val="tx1"/>
                </a:solidFill>
                <a:latin typeface="Times New Roman" panose="02020603050405020304" pitchFamily="18" charset="0"/>
                <a:ea typeface="宋体" panose="02010600030101010101" pitchFamily="2" charset="-122"/>
              </a:rPr>
              <a:t>BCD</a:t>
            </a:r>
            <a:r>
              <a:rPr lang="zh-CN" altLang="en-US" sz="2800" b="1" dirty="0">
                <a:solidFill>
                  <a:schemeClr val="tx1"/>
                </a:solidFill>
                <a:latin typeface="Times New Roman" panose="02020603050405020304" pitchFamily="18" charset="0"/>
              </a:rPr>
              <a:t>编码表：</a:t>
            </a:r>
            <a:r>
              <a:rPr lang="zh-CN" altLang="en-US" sz="2800" b="1" dirty="0">
                <a:solidFill>
                  <a:schemeClr val="tx1"/>
                </a:solidFill>
                <a:latin typeface="Times New Roman" panose="02020603050405020304" pitchFamily="18" charset="0"/>
                <a:ea typeface="宋体" panose="02010600030101010101" pitchFamily="2" charset="-122"/>
              </a:rPr>
              <a:t> </a:t>
            </a:r>
            <a:endParaRPr lang="zh-CN" altLang="en-US" sz="2800" b="1" dirty="0">
              <a:solidFill>
                <a:schemeClr val="tx1"/>
              </a:solidFill>
              <a:latin typeface="Times New Roman" panose="02020603050405020304" pitchFamily="18" charset="0"/>
              <a:ea typeface="宋体" panose="02010600030101010101" pitchFamily="2"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46028"/>
                                        </p:tgtEl>
                                        <p:attrNameLst>
                                          <p:attrName>style.visibility</p:attrName>
                                        </p:attrNameLst>
                                      </p:cBhvr>
                                      <p:to>
                                        <p:strVal val="visible"/>
                                      </p:to>
                                    </p:set>
                                    <p:animEffect transition="in" filter="dissolve">
                                      <p:cBhvr>
                                        <p:cTn id="7" dur="500"/>
                                        <p:tgtEl>
                                          <p:spTgt spid="234602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6029"/>
                                        </p:tgtEl>
                                        <p:attrNameLst>
                                          <p:attrName>style.visibility</p:attrName>
                                        </p:attrNameLst>
                                      </p:cBhvr>
                                      <p:to>
                                        <p:strVal val="visible"/>
                                      </p:to>
                                    </p:set>
                                    <p:animEffect transition="in" filter="dissolve">
                                      <p:cBhvr>
                                        <p:cTn id="12" dur="500"/>
                                        <p:tgtEl>
                                          <p:spTgt spid="2346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6028" grpId="0" bldLvl="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06070" name="Text Box 6166"/>
          <p:cNvSpPr txBox="1"/>
          <p:nvPr/>
        </p:nvSpPr>
        <p:spPr>
          <a:xfrm>
            <a:off x="1079500" y="2816225"/>
            <a:ext cx="7232650" cy="2441575"/>
          </a:xfrm>
          <a:prstGeom prst="rect">
            <a:avLst/>
          </a:prstGeom>
          <a:solidFill>
            <a:srgbClr val="FFFF99"/>
          </a:solidFill>
          <a:ln w="9525">
            <a:noFill/>
          </a:ln>
        </p:spPr>
        <p:txBody>
          <a:bodyPr>
            <a:spAutoFit/>
          </a:bodyPr>
          <a:p>
            <a:pPr algn="l" eaLnBrk="1" hangingPunct="1">
              <a:spcBef>
                <a:spcPct val="50000"/>
              </a:spcBef>
            </a:pPr>
            <a:r>
              <a:rPr lang="zh-CN" altLang="en-US" sz="2800" b="1" dirty="0">
                <a:solidFill>
                  <a:srgbClr val="333399"/>
                </a:solidFill>
                <a:latin typeface="楷体_GB2312" pitchFamily="49" charset="-122"/>
              </a:rPr>
              <a:t>二进制码转换成格雷码的规律：</a:t>
            </a:r>
            <a:endParaRPr lang="zh-CN" altLang="en-US" sz="2800" b="1" dirty="0">
              <a:solidFill>
                <a:srgbClr val="333399"/>
              </a:solidFill>
              <a:latin typeface="楷体_GB2312" pitchFamily="49" charset="-122"/>
            </a:endParaRPr>
          </a:p>
          <a:p>
            <a:pPr algn="l" eaLnBrk="1" hangingPunct="1">
              <a:spcBef>
                <a:spcPct val="50000"/>
              </a:spcBef>
            </a:pPr>
            <a:r>
              <a:rPr lang="zh-CN" altLang="en-US" sz="2800" b="1" dirty="0">
                <a:solidFill>
                  <a:srgbClr val="333399"/>
                </a:solidFill>
                <a:latin typeface="楷体_GB2312" pitchFamily="49" charset="-122"/>
              </a:rPr>
              <a:t>从二进制码的最低两位开始，按异或规律定下格雷码的最低位，然后再用二进制码末前二位按异或规律定下格雷码的末前一位，如此往前推，可定下全部格雷码。</a:t>
            </a:r>
            <a:endParaRPr lang="zh-CN" altLang="en-US" sz="2800" b="1" dirty="0">
              <a:solidFill>
                <a:srgbClr val="333399"/>
              </a:solidFill>
              <a:latin typeface="楷体_GB2312" pitchFamily="49" charset="-122"/>
            </a:endParaRPr>
          </a:p>
        </p:txBody>
      </p:sp>
      <p:sp>
        <p:nvSpPr>
          <p:cNvPr id="2306061" name="Text Box 6157"/>
          <p:cNvSpPr txBox="1"/>
          <p:nvPr/>
        </p:nvSpPr>
        <p:spPr>
          <a:xfrm>
            <a:off x="542925" y="2133600"/>
            <a:ext cx="8345488" cy="519113"/>
          </a:xfrm>
          <a:prstGeom prst="rect">
            <a:avLst/>
          </a:prstGeom>
          <a:solidFill>
            <a:srgbClr val="CCFFFF"/>
          </a:solid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优点：从一个数到下一个相邻的数只需改变一位。</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06065" name="Text Box 616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88069" name="Text Box 6164"/>
          <p:cNvSpPr txBox="1"/>
          <p:nvPr/>
        </p:nvSpPr>
        <p:spPr>
          <a:xfrm>
            <a:off x="763588" y="1484313"/>
            <a:ext cx="1793875"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rgbClr val="333399"/>
                </a:solidFill>
                <a:latin typeface="黑体" panose="02010609060101010101" pitchFamily="49" charset="-122"/>
                <a:ea typeface="黑体" panose="02010609060101010101" pitchFamily="49" charset="-122"/>
              </a:rPr>
              <a:t>3.</a:t>
            </a:r>
            <a:r>
              <a:rPr lang="zh-CN" altLang="en-US" sz="2800" b="1" dirty="0">
                <a:solidFill>
                  <a:srgbClr val="333399"/>
                </a:solidFill>
                <a:latin typeface="黑体" panose="02010609060101010101" pitchFamily="49" charset="-122"/>
                <a:ea typeface="黑体" panose="02010609060101010101" pitchFamily="49" charset="-122"/>
              </a:rPr>
              <a:t>格雷码 </a:t>
            </a:r>
            <a:endParaRPr lang="zh-CN" altLang="en-US" sz="2800" b="1" dirty="0">
              <a:solidFill>
                <a:srgbClr val="333399"/>
              </a:solidFill>
              <a:latin typeface="黑体" panose="02010609060101010101" pitchFamily="49" charset="-122"/>
              <a:ea typeface="黑体" panose="02010609060101010101" pitchFamily="49" charset="-122"/>
            </a:endParaRPr>
          </a:p>
        </p:txBody>
      </p:sp>
      <p:sp>
        <p:nvSpPr>
          <p:cNvPr id="2306069" name="Text Box 6165"/>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06076" name="Text Box 6172"/>
          <p:cNvSpPr txBox="1"/>
          <p:nvPr/>
        </p:nvSpPr>
        <p:spPr>
          <a:xfrm>
            <a:off x="542925" y="5553075"/>
            <a:ext cx="8385175" cy="457200"/>
          </a:xfrm>
          <a:prstGeom prst="rect">
            <a:avLst/>
          </a:prstGeom>
          <a:solidFill>
            <a:srgbClr val="CCFFFF"/>
          </a:solidFill>
          <a:ln w="9525">
            <a:noFill/>
          </a:ln>
        </p:spPr>
        <p:txBody>
          <a:bodyPr>
            <a:spAutoFit/>
          </a:bodyPr>
          <a:p>
            <a:pPr algn="ctr" eaLnBrk="1" hangingPunct="1">
              <a:spcBef>
                <a:spcPct val="50000"/>
              </a:spcBef>
            </a:pPr>
            <a:r>
              <a:rPr lang="en-US" altLang="zh-CN" sz="2400" b="1">
                <a:solidFill>
                  <a:srgbClr val="333399"/>
                </a:solidFill>
                <a:latin typeface="黑体" panose="02010609060101010101" pitchFamily="49" charset="-122"/>
                <a:ea typeface="黑体" panose="02010609060101010101" pitchFamily="49" charset="-122"/>
              </a:rPr>
              <a:t>异或规律：相邻两数相同时为“0”，不相同时为“1”。</a:t>
            </a:r>
            <a:endParaRPr lang="en-US" altLang="zh-CN" sz="2400" b="1" dirty="0">
              <a:solidFill>
                <a:srgbClr val="333399"/>
              </a:solidFill>
              <a:latin typeface="黑体" panose="02010609060101010101" pitchFamily="49" charset="-122"/>
              <a:ea typeface="黑体" panose="02010609060101010101" pitchFamily="49" charset="-122"/>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8069"/>
                                        </p:tgtEl>
                                        <p:attrNameLst>
                                          <p:attrName>style.visibility</p:attrName>
                                        </p:attrNameLst>
                                      </p:cBhvr>
                                      <p:to>
                                        <p:strVal val="visible"/>
                                      </p:to>
                                    </p:set>
                                    <p:animEffect transition="in" filter="dissolve">
                                      <p:cBhvr>
                                        <p:cTn id="7" dur="500"/>
                                        <p:tgtEl>
                                          <p:spTgt spid="8806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06061"/>
                                        </p:tgtEl>
                                        <p:attrNameLst>
                                          <p:attrName>style.visibility</p:attrName>
                                        </p:attrNameLst>
                                      </p:cBhvr>
                                      <p:to>
                                        <p:strVal val="visible"/>
                                      </p:to>
                                    </p:set>
                                    <p:animEffect transition="in" filter="dissolve">
                                      <p:cBhvr>
                                        <p:cTn id="12" dur="500"/>
                                        <p:tgtEl>
                                          <p:spTgt spid="230606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06070"/>
                                        </p:tgtEl>
                                        <p:attrNameLst>
                                          <p:attrName>style.visibility</p:attrName>
                                        </p:attrNameLst>
                                      </p:cBhvr>
                                      <p:to>
                                        <p:strVal val="visible"/>
                                      </p:to>
                                    </p:set>
                                    <p:animEffect transition="in" filter="dissolve">
                                      <p:cBhvr>
                                        <p:cTn id="17" dur="500"/>
                                        <p:tgtEl>
                                          <p:spTgt spid="230607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6076"/>
                                        </p:tgtEl>
                                        <p:attrNameLst>
                                          <p:attrName>style.visibility</p:attrName>
                                        </p:attrNameLst>
                                      </p:cBhvr>
                                      <p:to>
                                        <p:strVal val="visible"/>
                                      </p:to>
                                    </p:set>
                                    <p:animEffect transition="in" filter="dissolve">
                                      <p:cBhvr>
                                        <p:cTn id="22" dur="500"/>
                                        <p:tgtEl>
                                          <p:spTgt spid="2306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6070" grpId="0" bldLvl="0" animBg="1"/>
      <p:bldP spid="2306061" grpId="0" bldLvl="0" animBg="1"/>
      <p:bldP spid="88069" grpId="0"/>
      <p:bldP spid="2306076" grpId="0" bldLvl="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7011" name="Text Box 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7013" name="Text Box 5"/>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04018" name="Text Box 2066"/>
          <p:cNvSpPr txBox="1"/>
          <p:nvPr/>
        </p:nvSpPr>
        <p:spPr>
          <a:xfrm>
            <a:off x="542925" y="782638"/>
            <a:ext cx="3633788"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2.8.1 </a:t>
            </a:r>
            <a:r>
              <a:rPr lang="zh-CN" altLang="en-US" sz="3200" b="1" dirty="0">
                <a:solidFill>
                  <a:srgbClr val="333399"/>
                </a:solidFill>
                <a:latin typeface="楷体_GB2312" pitchFamily="49" charset="-122"/>
              </a:rPr>
              <a:t>单极性编码</a:t>
            </a:r>
            <a:endParaRPr lang="zh-CN" altLang="en-US" sz="3200" b="1" dirty="0">
              <a:solidFill>
                <a:srgbClr val="333399"/>
              </a:solidFill>
              <a:latin typeface="楷体_GB2312" pitchFamily="49" charset="-122"/>
            </a:endParaRPr>
          </a:p>
        </p:txBody>
      </p:sp>
      <p:graphicFrame>
        <p:nvGraphicFramePr>
          <p:cNvPr id="67041" name="表格 67040"/>
          <p:cNvGraphicFramePr/>
          <p:nvPr/>
        </p:nvGraphicFramePr>
        <p:xfrm>
          <a:off x="935038" y="1479550"/>
          <a:ext cx="7381875" cy="4829175"/>
        </p:xfrm>
        <a:graphic>
          <a:graphicData uri="http://schemas.openxmlformats.org/drawingml/2006/table">
            <a:tbl>
              <a:tblPr/>
              <a:tblGrid>
                <a:gridCol w="1620838"/>
                <a:gridCol w="1763712"/>
                <a:gridCol w="2197100"/>
                <a:gridCol w="1800225"/>
              </a:tblGrid>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chemeClr val="tx1"/>
                          </a:solidFill>
                          <a:latin typeface="Times New Roman" panose="02020603050405020304" pitchFamily="18" charset="0"/>
                          <a:cs typeface="Times New Roman" panose="02020603050405020304" pitchFamily="18" charset="0"/>
                        </a:rPr>
                        <a:t>十进制数</a:t>
                      </a:r>
                      <a:endParaRPr lang="zh-CN" altLang="en-US" dirty="0">
                        <a:solidFill>
                          <a:schemeClr val="tx1"/>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accent1"/>
                    </a:solid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chemeClr val="tx1"/>
                          </a:solidFill>
                          <a:latin typeface="Times New Roman" panose="02020603050405020304" pitchFamily="18" charset="0"/>
                          <a:cs typeface="Times New Roman" panose="02020603050405020304" pitchFamily="18" charset="0"/>
                        </a:rPr>
                        <a:t>二进制数</a:t>
                      </a:r>
                      <a:endParaRPr lang="zh-CN" altLang="en-US" dirty="0">
                        <a:solidFill>
                          <a:schemeClr val="tx1"/>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accent1"/>
                    </a:solid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chemeClr val="tx1"/>
                          </a:solidFill>
                          <a:latin typeface="Times New Roman" panose="02020603050405020304" pitchFamily="18" charset="0"/>
                          <a:cs typeface="Times New Roman" panose="02020603050405020304" pitchFamily="18" charset="0"/>
                        </a:rPr>
                        <a:t>二</a:t>
                      </a:r>
                      <a:r>
                        <a:rPr lang="en-US" altLang="zh-CN">
                          <a:solidFill>
                            <a:schemeClr val="tx1"/>
                          </a:solidFill>
                          <a:latin typeface="黑体" panose="02010609060101010101" pitchFamily="49" charset="-122"/>
                          <a:ea typeface="黑体" panose="02010609060101010101" pitchFamily="49" charset="-122"/>
                        </a:rPr>
                        <a:t>-</a:t>
                      </a:r>
                      <a:r>
                        <a:rPr lang="zh-CN" altLang="en-US" dirty="0">
                          <a:solidFill>
                            <a:schemeClr val="tx1"/>
                          </a:solidFill>
                          <a:latin typeface="Times New Roman" panose="02020603050405020304" pitchFamily="18" charset="0"/>
                          <a:cs typeface="Times New Roman" panose="02020603050405020304" pitchFamily="18" charset="0"/>
                        </a:rPr>
                        <a:t>十进制数</a:t>
                      </a:r>
                      <a:endParaRPr lang="zh-CN" altLang="en-US" dirty="0">
                        <a:solidFill>
                          <a:schemeClr val="tx1"/>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accent1"/>
                    </a:solid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chemeClr val="tx1"/>
                          </a:solidFill>
                          <a:latin typeface="Times New Roman" panose="02020603050405020304" pitchFamily="18" charset="0"/>
                        </a:rPr>
                        <a:t>格雷码</a:t>
                      </a:r>
                      <a:endParaRPr lang="zh-CN" altLang="en-US" dirty="0">
                        <a:solidFill>
                          <a:schemeClr val="tx1"/>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accent1"/>
                    </a:solid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15</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0001    0101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rPr>
                        <a:t>1000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14</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0001    0100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5750">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13</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0001    0011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12</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0001    0010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a:t>
                      </a:r>
                      <a:r>
                        <a:rPr lang="en-US" altLang="zh-CN" err="1">
                          <a:solidFill>
                            <a:srgbClr val="333399"/>
                          </a:solidFill>
                          <a:latin typeface="Times New Roman" panose="02020603050405020304" pitchFamily="18" charset="0"/>
                          <a:cs typeface="Times New Roman" panose="02020603050405020304" pitchFamily="18" charset="0"/>
                        </a:rPr>
                        <a:t>0001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304800">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0001    0000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9</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1001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8</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1000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7</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0111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6</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0110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5</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0101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4</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0100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0110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3</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2</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0010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0011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0001</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282575">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zh-CN" altLang="en-US" dirty="0">
                          <a:solidFill>
                            <a:srgbClr val="333399"/>
                          </a:solidFill>
                          <a:latin typeface="Times New Roman" panose="02020603050405020304" pitchFamily="18" charset="0"/>
                          <a:cs typeface="Times New Roman" panose="02020603050405020304" pitchFamily="18" charset="0"/>
                        </a:rPr>
                        <a:t>            </a:t>
                      </a:r>
                      <a:r>
                        <a:rPr lang="en-US" altLang="zh-CN">
                          <a:solidFill>
                            <a:srgbClr val="333399"/>
                          </a:solidFill>
                          <a:latin typeface="Times New Roman" panose="02020603050405020304" pitchFamily="18" charset="0"/>
                          <a:cs typeface="Times New Roman" panose="02020603050405020304" pitchFamily="18" charset="0"/>
                        </a:rPr>
                        <a:t>0000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0" fontAlgn="base" hangingPunct="0">
                        <a:spcBef>
                          <a:spcPct val="50000"/>
                        </a:spcBef>
                        <a:spcAft>
                          <a:spcPct val="0"/>
                        </a:spcAft>
                        <a:buClrTx/>
                        <a:buSzPct val="75000"/>
                        <a:buFont typeface="Wingdings" panose="05000000000000000000" pitchFamily="2" charset="2"/>
                        <a:buChar char="l"/>
                        <a:defRPr sz="1800">
                          <a:solidFill>
                            <a:srgbClr val="000066"/>
                          </a:solidFill>
                          <a:latin typeface="+mn-lt"/>
                          <a:ea typeface="+mn-ea"/>
                          <a:cs typeface="+mn-cs"/>
                        </a:defRPr>
                      </a:lvl1pPr>
                      <a:lvl2pPr marL="609600" lvl="1"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2pPr>
                      <a:lvl3pPr marL="1017905" lvl="2" indent="-2032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3pPr>
                      <a:lvl4pPr marL="1600200" lvl="3"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4pPr>
                      <a:lvl5pPr marL="2057400" lvl="4" indent="-228600" algn="l" defTabSz="678180" rtl="0" eaLnBrk="0" fontAlgn="base" hangingPunct="0">
                        <a:spcBef>
                          <a:spcPct val="50000"/>
                        </a:spcBef>
                        <a:spcAft>
                          <a:spcPct val="0"/>
                        </a:spcAft>
                        <a:buClrTx/>
                        <a:buSzPct val="75000"/>
                        <a:buFont typeface="Wingdings" panose="05000000000000000000" pitchFamily="2" charset="2"/>
                        <a:buChar char="l"/>
                        <a:defRPr sz="1800" b="1">
                          <a:solidFill>
                            <a:srgbClr val="000066"/>
                          </a:solidFill>
                          <a:latin typeface="+mn-lt"/>
                          <a:ea typeface="+mn-ea"/>
                        </a:defRPr>
                      </a:lvl5pPr>
                    </a:lstStyle>
                    <a:p>
                      <a:pPr marL="0" lvl="0" indent="0" algn="ctr" defTabSz="914400">
                        <a:lnSpc>
                          <a:spcPct val="70000"/>
                        </a:lnSpc>
                        <a:spcBef>
                          <a:spcPct val="0"/>
                        </a:spcBef>
                        <a:buSzTx/>
                        <a:buFontTx/>
                        <a:buNone/>
                      </a:pPr>
                      <a:r>
                        <a:rPr lang="en-US" altLang="zh-CN">
                          <a:solidFill>
                            <a:srgbClr val="333399"/>
                          </a:solidFill>
                          <a:latin typeface="Times New Roman" panose="02020603050405020304" pitchFamily="18" charset="0"/>
                          <a:cs typeface="Times New Roman" panose="02020603050405020304" pitchFamily="18" charset="0"/>
                        </a:rPr>
                        <a:t>0000</a:t>
                      </a:r>
                      <a:endParaRPr lang="en-US" altLang="zh-CN">
                        <a:solidFill>
                          <a:srgbClr val="333399"/>
                        </a:solidFill>
                        <a:latin typeface="楷体_GB2312" pitchFamily="49" charset="-122"/>
                        <a:ea typeface="楷体_GB2312" pitchFamily="49" charset="-122"/>
                      </a:endParaRPr>
                    </a:p>
                  </a:txBody>
                  <a:tcPr anchor="ctr" anchorCtr="0">
                    <a:lnL w="12700" cap="flat" cmpd="sng">
                      <a:solidFill>
                        <a:srgbClr val="000000"/>
                      </a:solidFill>
                      <a:prstDash val="solid"/>
                      <a:headEnd type="none" w="med" len="med"/>
                      <a:tailEnd type="none" w="med" len="med"/>
                    </a:lnL>
                    <a:lnR w="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7041"/>
                                        </p:tgtEl>
                                        <p:attrNameLst>
                                          <p:attrName>style.visibility</p:attrName>
                                        </p:attrNameLst>
                                      </p:cBhvr>
                                      <p:to>
                                        <p:strVal val="visible"/>
                                      </p:to>
                                    </p:set>
                                    <p:animEffect transition="in" filter="dissolve">
                                      <p:cBhvr>
                                        <p:cTn id="7" dur="500"/>
                                        <p:tgtEl>
                                          <p:spTgt spid="670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8610"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
        <p:nvSpPr>
          <p:cNvPr id="2348035" name="Text Box 3"/>
          <p:cNvSpPr txBox="1"/>
          <p:nvPr/>
        </p:nvSpPr>
        <p:spPr>
          <a:xfrm>
            <a:off x="596900" y="1536700"/>
            <a:ext cx="2508250"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1.</a:t>
            </a:r>
            <a:r>
              <a:rPr lang="zh-CN" altLang="en-US" sz="2800" b="1" dirty="0">
                <a:solidFill>
                  <a:schemeClr val="tx1"/>
                </a:solidFill>
                <a:latin typeface="黑体" panose="02010609060101010101" pitchFamily="49" charset="-122"/>
                <a:ea typeface="黑体" panose="02010609060101010101" pitchFamily="49" charset="-122"/>
              </a:rPr>
              <a:t>符号</a:t>
            </a:r>
            <a:r>
              <a:rPr lang="en-US" altLang="zh-CN" sz="2800" b="1">
                <a:solidFill>
                  <a:schemeClr val="tx1"/>
                </a:solidFill>
                <a:latin typeface="黑体" panose="02010609060101010101" pitchFamily="49" charset="-122"/>
                <a:ea typeface="黑体" panose="02010609060101010101" pitchFamily="49" charset="-122"/>
              </a:rPr>
              <a:t>-</a:t>
            </a:r>
            <a:r>
              <a:rPr lang="zh-CN" altLang="en-US" sz="2800" b="1" dirty="0">
                <a:solidFill>
                  <a:schemeClr val="tx1"/>
                </a:solidFill>
                <a:latin typeface="黑体" panose="02010609060101010101" pitchFamily="49" charset="-122"/>
                <a:ea typeface="黑体" panose="02010609060101010101" pitchFamily="49" charset="-122"/>
              </a:rPr>
              <a:t>数值码</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48036" name="Text Box 4"/>
          <p:cNvSpPr txBox="1"/>
          <p:nvPr/>
        </p:nvSpPr>
        <p:spPr>
          <a:xfrm>
            <a:off x="642938" y="2163763"/>
            <a:ext cx="1293812" cy="519112"/>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特点： </a:t>
            </a:r>
            <a:endParaRPr lang="zh-CN" altLang="en-US" sz="2800" b="1" dirty="0">
              <a:solidFill>
                <a:srgbClr val="FF0000"/>
              </a:solidFill>
              <a:latin typeface="楷体_GB2312" pitchFamily="49" charset="-122"/>
            </a:endParaRPr>
          </a:p>
        </p:txBody>
      </p:sp>
      <p:sp>
        <p:nvSpPr>
          <p:cNvPr id="2348037" name="Text Box 5"/>
          <p:cNvSpPr txBox="1"/>
          <p:nvPr/>
        </p:nvSpPr>
        <p:spPr>
          <a:xfrm>
            <a:off x="1636713" y="2168525"/>
            <a:ext cx="6967537" cy="946150"/>
          </a:xfrm>
          <a:prstGeom prst="rect">
            <a:avLst/>
          </a:prstGeom>
          <a:no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最高位为符号位</a:t>
            </a:r>
            <a:r>
              <a:rPr lang="zh-CN" altLang="en-US" sz="2800" b="1" dirty="0">
                <a:solidFill>
                  <a:srgbClr val="3333FF"/>
                </a:solidFill>
                <a:latin typeface="Times New Roman" panose="02020603050405020304" pitchFamily="18" charset="0"/>
                <a:ea typeface="宋体" panose="02010600030101010101" pitchFamily="2" charset="-122"/>
              </a:rPr>
              <a:t>：“</a:t>
            </a:r>
            <a:r>
              <a:rPr lang="en-US" altLang="zh-CN" sz="2800" b="1">
                <a:solidFill>
                  <a:srgbClr val="FF0000"/>
                </a:solidFill>
                <a:latin typeface="Times New Roman" panose="02020603050405020304" pitchFamily="18" charset="0"/>
                <a:ea typeface="宋体" panose="02010600030101010101" pitchFamily="2" charset="-122"/>
              </a:rPr>
              <a:t>0</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3333FF"/>
                </a:solidFill>
                <a:latin typeface="Times New Roman" panose="02020603050405020304" pitchFamily="18" charset="0"/>
              </a:rPr>
              <a:t>表示正</a:t>
            </a:r>
            <a:r>
              <a:rPr lang="zh-CN" altLang="en-US" sz="2800" b="1" dirty="0">
                <a:solidFill>
                  <a:srgbClr val="3333FF"/>
                </a:solidFill>
                <a:latin typeface="Times New Roman" panose="02020603050405020304" pitchFamily="18" charset="0"/>
                <a:ea typeface="宋体" panose="02010600030101010101" pitchFamily="2" charset="-122"/>
              </a:rPr>
              <a:t>；“</a:t>
            </a:r>
            <a:r>
              <a:rPr lang="en-US" altLang="zh-CN" sz="2800" b="1">
                <a:solidFill>
                  <a:srgbClr val="FF0000"/>
                </a:solidFill>
                <a:latin typeface="Times New Roman" panose="02020603050405020304" pitchFamily="18" charset="0"/>
                <a:ea typeface="宋体" panose="02010600030101010101" pitchFamily="2" charset="-122"/>
              </a:rPr>
              <a:t>1</a:t>
            </a:r>
            <a:r>
              <a:rPr lang="en-US" altLang="zh-CN" sz="2800" b="1">
                <a:solidFill>
                  <a:srgbClr val="3333FF"/>
                </a:solidFill>
                <a:latin typeface="Times New Roman" panose="02020603050405020304" pitchFamily="18" charset="0"/>
                <a:ea typeface="宋体" panose="02010600030101010101" pitchFamily="2" charset="-122"/>
              </a:rPr>
              <a:t>”</a:t>
            </a:r>
            <a:r>
              <a:rPr lang="zh-CN" altLang="en-US" sz="2800" b="1" dirty="0">
                <a:solidFill>
                  <a:srgbClr val="3333FF"/>
                </a:solidFill>
                <a:latin typeface="楷体_GB2312" pitchFamily="49" charset="-122"/>
              </a:rPr>
              <a:t>表示负，其它各位是数值位。 </a:t>
            </a:r>
            <a:endParaRPr lang="zh-CN" altLang="en-US" sz="2800" b="1" dirty="0">
              <a:solidFill>
                <a:srgbClr val="3333FF"/>
              </a:solidFill>
              <a:latin typeface="楷体_GB2312" pitchFamily="49" charset="-122"/>
            </a:endParaRPr>
          </a:p>
        </p:txBody>
      </p:sp>
      <p:sp>
        <p:nvSpPr>
          <p:cNvPr id="2348038" name="Text Box 6"/>
          <p:cNvSpPr txBox="1"/>
          <p:nvPr/>
        </p:nvSpPr>
        <p:spPr>
          <a:xfrm>
            <a:off x="642938" y="3176588"/>
            <a:ext cx="1565275" cy="519112"/>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优点：</a:t>
            </a:r>
            <a:endParaRPr lang="zh-CN" altLang="en-US" sz="2800" b="1" dirty="0">
              <a:solidFill>
                <a:srgbClr val="FF0000"/>
              </a:solidFill>
              <a:latin typeface="楷体_GB2312" pitchFamily="49" charset="-122"/>
            </a:endParaRPr>
          </a:p>
        </p:txBody>
      </p:sp>
      <p:sp>
        <p:nvSpPr>
          <p:cNvPr id="2348039" name="Text Box 7"/>
          <p:cNvSpPr txBox="1"/>
          <p:nvPr/>
        </p:nvSpPr>
        <p:spPr>
          <a:xfrm>
            <a:off x="1636713" y="3182938"/>
            <a:ext cx="6859587" cy="1373187"/>
          </a:xfrm>
          <a:prstGeom prst="rect">
            <a:avLst/>
          </a:prstGeom>
          <a:noFill/>
          <a:ln w="9525">
            <a:noFill/>
          </a:ln>
        </p:spPr>
        <p:txBody>
          <a:bodyPr>
            <a:spAutoFit/>
          </a:bodyPr>
          <a:p>
            <a:pPr algn="l" eaLnBrk="1" hangingPunct="1"/>
            <a:r>
              <a:rPr lang="zh-CN" altLang="en-US" sz="2800" b="1" dirty="0">
                <a:solidFill>
                  <a:schemeClr val="tx1"/>
                </a:solidFill>
                <a:latin typeface="楷体_GB2312" pitchFamily="49" charset="-122"/>
              </a:rPr>
              <a:t>信号在零的附近变动</a:t>
            </a:r>
            <a:r>
              <a:rPr lang="en-US" altLang="zh-CN" sz="2800" b="1">
                <a:solidFill>
                  <a:srgbClr val="FF0000"/>
                </a:solidFill>
                <a:latin typeface="Times New Roman" panose="02020603050405020304" pitchFamily="18" charset="0"/>
              </a:rPr>
              <a:t>1</a:t>
            </a:r>
            <a:r>
              <a:rPr lang="en-US" altLang="zh-CN" sz="2800" b="1" i="1">
                <a:solidFill>
                  <a:srgbClr val="FF0000"/>
                </a:solidFill>
                <a:latin typeface="Times New Roman" panose="02020603050405020304" pitchFamily="18" charset="0"/>
              </a:rPr>
              <a:t>LSB</a:t>
            </a:r>
            <a:r>
              <a:rPr lang="zh-CN" altLang="en-US" sz="2800" b="1" dirty="0">
                <a:solidFill>
                  <a:schemeClr val="tx1"/>
                </a:solidFill>
                <a:latin typeface="楷体_GB2312" pitchFamily="49" charset="-122"/>
              </a:rPr>
              <a:t>时，数值码只有最低位改变，这意味着不会产生严重的瞬态效应。</a:t>
            </a:r>
            <a:endParaRPr lang="zh-CN" altLang="en-US" sz="2800" b="1" dirty="0">
              <a:solidFill>
                <a:schemeClr val="tx1"/>
              </a:solidFill>
              <a:latin typeface="楷体_GB2312" pitchFamily="49" charset="-122"/>
            </a:endParaRPr>
          </a:p>
        </p:txBody>
      </p:sp>
      <p:sp>
        <p:nvSpPr>
          <p:cNvPr id="2348040" name="Text Box 8"/>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48041" name="Text Box 9"/>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48042" name="Text Box 10"/>
          <p:cNvSpPr txBox="1"/>
          <p:nvPr/>
        </p:nvSpPr>
        <p:spPr>
          <a:xfrm>
            <a:off x="620713" y="4621213"/>
            <a:ext cx="1790700" cy="519112"/>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缺点： </a:t>
            </a:r>
            <a:endParaRPr lang="zh-CN" altLang="en-US" sz="2800" b="1" dirty="0">
              <a:solidFill>
                <a:srgbClr val="FF0000"/>
              </a:solidFill>
              <a:latin typeface="楷体_GB2312" pitchFamily="49" charset="-122"/>
            </a:endParaRPr>
          </a:p>
        </p:txBody>
      </p:sp>
      <p:sp>
        <p:nvSpPr>
          <p:cNvPr id="2348043" name="Text Box 11"/>
          <p:cNvSpPr txBox="1"/>
          <p:nvPr/>
        </p:nvSpPr>
        <p:spPr>
          <a:xfrm>
            <a:off x="1619250" y="4621213"/>
            <a:ext cx="6877050" cy="1373187"/>
          </a:xfrm>
          <a:prstGeom prst="rect">
            <a:avLst/>
          </a:prstGeom>
          <a:noFill/>
          <a:ln w="9525">
            <a:noFill/>
          </a:ln>
        </p:spPr>
        <p:txBody>
          <a:bodyPr>
            <a:spAutoFit/>
          </a:bodyPr>
          <a:p>
            <a:pPr algn="l" eaLnBrk="1" hangingPunct="1">
              <a:buClr>
                <a:srgbClr val="FF0000"/>
              </a:buClr>
              <a:buFont typeface="Wingdings" panose="05000000000000000000" pitchFamily="2" charset="2"/>
              <a:buChar char="Ø"/>
            </a:pPr>
            <a:r>
              <a:rPr lang="zh-CN" altLang="en-US" sz="2800" b="1" dirty="0">
                <a:solidFill>
                  <a:srgbClr val="3333FF"/>
                </a:solidFill>
                <a:latin typeface="楷体_GB2312" pitchFamily="49" charset="-122"/>
              </a:rPr>
              <a:t>有两个码表示零，</a:t>
            </a:r>
            <a:r>
              <a:rPr lang="en-US" altLang="zh-CN" sz="2800" b="1">
                <a:solidFill>
                  <a:srgbClr val="FF0000"/>
                </a:solidFill>
                <a:latin typeface="Times New Roman" panose="02020603050405020304" pitchFamily="18" charset="0"/>
              </a:rPr>
              <a:t>0</a:t>
            </a:r>
            <a:r>
              <a:rPr lang="en-US" altLang="zh-CN" sz="2800" b="1" baseline="38000">
                <a:solidFill>
                  <a:srgbClr val="FF0000"/>
                </a:solidFill>
                <a:latin typeface="Times New Roman" panose="02020603050405020304" pitchFamily="18" charset="0"/>
              </a:rPr>
              <a:t>+</a:t>
            </a:r>
            <a:r>
              <a:rPr lang="zh-CN" altLang="en-US" sz="2800" b="1" dirty="0">
                <a:solidFill>
                  <a:srgbClr val="3333FF"/>
                </a:solidFill>
                <a:latin typeface="楷体_GB2312" pitchFamily="49" charset="-122"/>
              </a:rPr>
              <a:t>为</a:t>
            </a:r>
            <a:r>
              <a:rPr lang="en-US" altLang="zh-CN" sz="2800" b="1">
                <a:solidFill>
                  <a:srgbClr val="FF0000"/>
                </a:solidFill>
                <a:latin typeface="Times New Roman" panose="02020603050405020304" pitchFamily="18" charset="0"/>
              </a:rPr>
              <a:t>0000</a:t>
            </a:r>
            <a:r>
              <a:rPr lang="zh-CN" altLang="en-US" sz="2800" b="1" dirty="0">
                <a:solidFill>
                  <a:srgbClr val="3333FF"/>
                </a:solidFill>
                <a:latin typeface="楷体_GB2312" pitchFamily="49" charset="-122"/>
              </a:rPr>
              <a:t>，</a:t>
            </a:r>
            <a:r>
              <a:rPr lang="en-US" altLang="zh-CN" sz="2800" b="1">
                <a:solidFill>
                  <a:srgbClr val="FF0000"/>
                </a:solidFill>
                <a:latin typeface="Times New Roman" panose="02020603050405020304" pitchFamily="18" charset="0"/>
              </a:rPr>
              <a:t>0</a:t>
            </a:r>
            <a:r>
              <a:rPr lang="en-US" altLang="zh-CN" b="1" baseline="40000">
                <a:solidFill>
                  <a:srgbClr val="FF0000"/>
                </a:solidFill>
                <a:latin typeface="Times New Roman" panose="02020603050405020304" pitchFamily="18" charset="0"/>
              </a:rPr>
              <a:t>-</a:t>
            </a:r>
            <a:r>
              <a:rPr lang="zh-CN" altLang="en-US" sz="2800" b="1" dirty="0">
                <a:solidFill>
                  <a:srgbClr val="3333FF"/>
                </a:solidFill>
                <a:latin typeface="楷体_GB2312" pitchFamily="49" charset="-122"/>
              </a:rPr>
              <a:t>为</a:t>
            </a:r>
            <a:r>
              <a:rPr lang="en-US" altLang="zh-CN" sz="2800" b="1">
                <a:solidFill>
                  <a:srgbClr val="FF0000"/>
                </a:solidFill>
                <a:latin typeface="Times New Roman" panose="02020603050405020304" pitchFamily="18" charset="0"/>
              </a:rPr>
              <a:t>1000</a:t>
            </a:r>
            <a:r>
              <a:rPr lang="zh-CN" altLang="en-US" sz="2800" b="1" dirty="0">
                <a:solidFill>
                  <a:srgbClr val="3333FF"/>
                </a:solidFill>
                <a:latin typeface="楷体_GB2312" pitchFamily="49" charset="-122"/>
              </a:rPr>
              <a:t>；</a:t>
            </a:r>
            <a:endParaRPr lang="zh-CN" altLang="en-US" sz="2800" b="1" dirty="0">
              <a:solidFill>
                <a:srgbClr val="3333FF"/>
              </a:solidFill>
              <a:latin typeface="楷体_GB2312" pitchFamily="49" charset="-122"/>
            </a:endParaRPr>
          </a:p>
          <a:p>
            <a:pPr algn="l" eaLnBrk="1" hangingPunct="1">
              <a:buClr>
                <a:srgbClr val="FF0000"/>
              </a:buClr>
              <a:buFont typeface="Wingdings" panose="05000000000000000000" pitchFamily="2" charset="2"/>
              <a:buChar char="Ø"/>
            </a:pPr>
            <a:r>
              <a:rPr lang="zh-CN" altLang="en-US" sz="2800" b="1" dirty="0">
                <a:solidFill>
                  <a:srgbClr val="3333FF"/>
                </a:solidFill>
                <a:latin typeface="楷体_GB2312" pitchFamily="49" charset="-122"/>
              </a:rPr>
              <a:t>转换器电路比其它双极性码复杂，其造  价也较昂贵。</a:t>
            </a:r>
            <a:endParaRPr lang="zh-CN" altLang="en-US" sz="2800" b="1" dirty="0">
              <a:solidFill>
                <a:srgbClr val="3333FF"/>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8610"/>
                                        </p:tgtEl>
                                        <p:attrNameLst>
                                          <p:attrName>style.visibility</p:attrName>
                                        </p:attrNameLst>
                                      </p:cBhvr>
                                      <p:to>
                                        <p:strVal val="visible"/>
                                      </p:to>
                                    </p:set>
                                    <p:animEffect transition="in" filter="dissolve">
                                      <p:cBhvr>
                                        <p:cTn id="7" dur="500"/>
                                        <p:tgtEl>
                                          <p:spTgt spid="686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48035"/>
                                        </p:tgtEl>
                                        <p:attrNameLst>
                                          <p:attrName>style.visibility</p:attrName>
                                        </p:attrNameLst>
                                      </p:cBhvr>
                                      <p:to>
                                        <p:strVal val="visible"/>
                                      </p:to>
                                    </p:set>
                                    <p:animEffect transition="in" filter="dissolve">
                                      <p:cBhvr>
                                        <p:cTn id="12" dur="500"/>
                                        <p:tgtEl>
                                          <p:spTgt spid="23480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48036"/>
                                        </p:tgtEl>
                                        <p:attrNameLst>
                                          <p:attrName>style.visibility</p:attrName>
                                        </p:attrNameLst>
                                      </p:cBhvr>
                                      <p:to>
                                        <p:strVal val="visible"/>
                                      </p:to>
                                    </p:set>
                                    <p:animEffect transition="in" filter="dissolve">
                                      <p:cBhvr>
                                        <p:cTn id="17" dur="500"/>
                                        <p:tgtEl>
                                          <p:spTgt spid="234803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48037"/>
                                        </p:tgtEl>
                                        <p:attrNameLst>
                                          <p:attrName>style.visibility</p:attrName>
                                        </p:attrNameLst>
                                      </p:cBhvr>
                                      <p:to>
                                        <p:strVal val="visible"/>
                                      </p:to>
                                    </p:set>
                                    <p:animEffect transition="in" filter="dissolve">
                                      <p:cBhvr>
                                        <p:cTn id="20" dur="500"/>
                                        <p:tgtEl>
                                          <p:spTgt spid="234803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48038"/>
                                        </p:tgtEl>
                                        <p:attrNameLst>
                                          <p:attrName>style.visibility</p:attrName>
                                        </p:attrNameLst>
                                      </p:cBhvr>
                                      <p:to>
                                        <p:strVal val="visible"/>
                                      </p:to>
                                    </p:set>
                                    <p:animEffect transition="in" filter="dissolve">
                                      <p:cBhvr>
                                        <p:cTn id="25" dur="500"/>
                                        <p:tgtEl>
                                          <p:spTgt spid="2348038"/>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48039"/>
                                        </p:tgtEl>
                                        <p:attrNameLst>
                                          <p:attrName>style.visibility</p:attrName>
                                        </p:attrNameLst>
                                      </p:cBhvr>
                                      <p:to>
                                        <p:strVal val="visible"/>
                                      </p:to>
                                    </p:set>
                                    <p:animEffect transition="in" filter="dissolve">
                                      <p:cBhvr>
                                        <p:cTn id="28" dur="500"/>
                                        <p:tgtEl>
                                          <p:spTgt spid="234803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348042"/>
                                        </p:tgtEl>
                                        <p:attrNameLst>
                                          <p:attrName>style.visibility</p:attrName>
                                        </p:attrNameLst>
                                      </p:cBhvr>
                                      <p:to>
                                        <p:strVal val="visible"/>
                                      </p:to>
                                    </p:set>
                                    <p:animEffect transition="in" filter="dissolve">
                                      <p:cBhvr>
                                        <p:cTn id="33" dur="500"/>
                                        <p:tgtEl>
                                          <p:spTgt spid="2348042"/>
                                        </p:tgtEl>
                                      </p:cBhvr>
                                    </p:animEffect>
                                  </p:childTnLst>
                                </p:cTn>
                              </p:par>
                              <p:par>
                                <p:cTn id="34" presetID="9" presetClass="entr" presetSubtype="0" fill="hold" nodeType="withEffect">
                                  <p:stCondLst>
                                    <p:cond delay="0"/>
                                  </p:stCondLst>
                                  <p:childTnLst>
                                    <p:set>
                                      <p:cBhvr>
                                        <p:cTn id="35" dur="1" fill="hold">
                                          <p:stCondLst>
                                            <p:cond delay="0"/>
                                          </p:stCondLst>
                                        </p:cTn>
                                        <p:tgtEl>
                                          <p:spTgt spid="2348043">
                                            <p:txEl>
                                              <p:charRg st="0" end="25"/>
                                            </p:txEl>
                                          </p:spTgt>
                                        </p:tgtEl>
                                        <p:attrNameLst>
                                          <p:attrName>style.visibility</p:attrName>
                                        </p:attrNameLst>
                                      </p:cBhvr>
                                      <p:to>
                                        <p:strVal val="visible"/>
                                      </p:to>
                                    </p:set>
                                    <p:animEffect transition="in" filter="dissolve">
                                      <p:cBhvr>
                                        <p:cTn id="36" dur="500"/>
                                        <p:tgtEl>
                                          <p:spTgt spid="2348043">
                                            <p:txEl>
                                              <p:charRg st="0" end="25"/>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348043">
                                            <p:txEl>
                                              <p:charRg st="25" end="51"/>
                                            </p:txEl>
                                          </p:spTgt>
                                        </p:tgtEl>
                                        <p:attrNameLst>
                                          <p:attrName>style.visibility</p:attrName>
                                        </p:attrNameLst>
                                      </p:cBhvr>
                                      <p:to>
                                        <p:strVal val="visible"/>
                                      </p:to>
                                    </p:set>
                                    <p:animEffect transition="in" filter="dissolve">
                                      <p:cBhvr>
                                        <p:cTn id="39" dur="500"/>
                                        <p:tgtEl>
                                          <p:spTgt spid="2348043">
                                            <p:txEl>
                                              <p:charRg st="25" end="5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 grpId="0" bldLvl="0" animBg="1"/>
      <p:bldP spid="2348035" grpId="0"/>
      <p:bldP spid="2348036" grpId="0"/>
      <p:bldP spid="2348037" grpId="0"/>
      <p:bldP spid="2348038" grpId="0"/>
      <p:bldP spid="2348039" grpId="0"/>
      <p:bldP spid="2348042"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15282" name="Text Box 18"/>
          <p:cNvSpPr txBox="1"/>
          <p:nvPr/>
        </p:nvSpPr>
        <p:spPr>
          <a:xfrm>
            <a:off x="511175" y="1377950"/>
            <a:ext cx="28654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2.</a:t>
            </a:r>
            <a:r>
              <a:rPr lang="zh-CN" altLang="en-US" sz="2800" b="1" dirty="0">
                <a:solidFill>
                  <a:schemeClr val="tx1"/>
                </a:solidFill>
                <a:latin typeface="黑体" panose="02010609060101010101" pitchFamily="49" charset="-122"/>
                <a:ea typeface="黑体" panose="02010609060101010101" pitchFamily="49" charset="-122"/>
              </a:rPr>
              <a:t>偏移二进制码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5283" name="Text Box 19"/>
          <p:cNvSpPr txBox="1"/>
          <p:nvPr/>
        </p:nvSpPr>
        <p:spPr>
          <a:xfrm>
            <a:off x="539750" y="1928813"/>
            <a:ext cx="1797050" cy="519112"/>
          </a:xfrm>
          <a:prstGeom prst="rect">
            <a:avLst/>
          </a:prstGeom>
          <a:noFill/>
          <a:ln w="9525">
            <a:noFill/>
          </a:ln>
        </p:spPr>
        <p:txBody>
          <a:bodyPr>
            <a:spAutoFit/>
          </a:bodyPr>
          <a:p>
            <a:pPr algn="l" eaLnBrk="1" hangingPunct="1"/>
            <a:r>
              <a:rPr lang="zh-CN" altLang="en-US" sz="2800" b="1" dirty="0">
                <a:solidFill>
                  <a:srgbClr val="FF0000"/>
                </a:solidFill>
                <a:latin typeface="楷体_GB2312" pitchFamily="49" charset="-122"/>
              </a:rPr>
              <a:t>特点： </a:t>
            </a:r>
            <a:endParaRPr lang="zh-CN" altLang="en-US" sz="2800" b="1" dirty="0">
              <a:solidFill>
                <a:srgbClr val="FF0000"/>
              </a:solidFill>
              <a:latin typeface="楷体_GB2312" pitchFamily="49" charset="-122"/>
            </a:endParaRPr>
          </a:p>
        </p:txBody>
      </p:sp>
      <p:sp>
        <p:nvSpPr>
          <p:cNvPr id="2315284" name="Text Box 20"/>
          <p:cNvSpPr txBox="1"/>
          <p:nvPr/>
        </p:nvSpPr>
        <p:spPr>
          <a:xfrm>
            <a:off x="1566863" y="1916113"/>
            <a:ext cx="7181850" cy="946150"/>
          </a:xfrm>
          <a:prstGeom prst="rect">
            <a:avLst/>
          </a:prstGeom>
          <a:noFill/>
          <a:ln w="9525">
            <a:noFill/>
          </a:ln>
        </p:spPr>
        <p:txBody>
          <a:bodyPr>
            <a:spAutoFit/>
          </a:bodyPr>
          <a:p>
            <a:pPr algn="l" eaLnBrk="1" hangingPunct="1"/>
            <a:r>
              <a:rPr lang="zh-CN" altLang="en-US" sz="2800" b="1" dirty="0">
                <a:solidFill>
                  <a:srgbClr val="3333FF"/>
                </a:solidFill>
                <a:latin typeface="楷体_GB2312" pitchFamily="49" charset="-122"/>
              </a:rPr>
              <a:t>其代码完全按照二进制码的方式变化，不同之处，只是代码简单地用满量程值加以偏移。</a:t>
            </a:r>
            <a:endParaRPr lang="zh-CN" altLang="en-US" sz="2800" b="1" dirty="0">
              <a:solidFill>
                <a:srgbClr val="3333FF"/>
              </a:solidFill>
              <a:latin typeface="楷体_GB2312" pitchFamily="49" charset="-122"/>
            </a:endParaRPr>
          </a:p>
        </p:txBody>
      </p:sp>
      <p:sp>
        <p:nvSpPr>
          <p:cNvPr id="2315285" name="Text Box 21"/>
          <p:cNvSpPr txBox="1"/>
          <p:nvPr/>
        </p:nvSpPr>
        <p:spPr>
          <a:xfrm>
            <a:off x="519113" y="3017838"/>
            <a:ext cx="7329487" cy="519112"/>
          </a:xfrm>
          <a:prstGeom prst="rect">
            <a:avLst/>
          </a:prstGeom>
          <a:solidFill>
            <a:srgbClr val="CCFFFF"/>
          </a:solidFill>
          <a:ln w="9525">
            <a:noFill/>
          </a:ln>
        </p:spPr>
        <p:txBody>
          <a:bodyPr wrap="none">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以</a:t>
            </a:r>
            <a:r>
              <a:rPr lang="en-US" altLang="zh-CN" sz="2800" b="1">
                <a:solidFill>
                  <a:schemeClr val="tx1"/>
                </a:solidFill>
                <a:latin typeface="黑体" panose="02010609060101010101" pitchFamily="49" charset="-122"/>
                <a:ea typeface="黑体" panose="02010609060101010101" pitchFamily="49" charset="-122"/>
              </a:rPr>
              <a:t>4</a:t>
            </a:r>
            <a:r>
              <a:rPr lang="zh-CN" altLang="en-US" sz="2800" b="1" dirty="0">
                <a:solidFill>
                  <a:schemeClr val="tx1"/>
                </a:solidFill>
                <a:latin typeface="黑体" panose="02010609060101010101" pitchFamily="49" charset="-122"/>
                <a:ea typeface="黑体" panose="02010609060101010101" pitchFamily="49" charset="-122"/>
              </a:rPr>
              <a:t>位二进制码为例，代码的偏移情况如下：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5286" name="Text Box 22"/>
          <p:cNvSpPr txBox="1"/>
          <p:nvPr/>
        </p:nvSpPr>
        <p:spPr>
          <a:xfrm>
            <a:off x="1536700" y="3656013"/>
            <a:ext cx="7212013" cy="457200"/>
          </a:xfrm>
          <a:prstGeom prst="rect">
            <a:avLst/>
          </a:prstGeom>
          <a:noFill/>
          <a:ln w="9525">
            <a:noFill/>
          </a:ln>
        </p:spPr>
        <p:txBody>
          <a:bodyPr>
            <a:spAutoFit/>
          </a:bodyPr>
          <a:p>
            <a:pPr algn="l" eaLnBrk="1" hangingPunct="1"/>
            <a:r>
              <a:rPr lang="zh-CN" altLang="en-US" sz="2400" b="1" dirty="0">
                <a:solidFill>
                  <a:srgbClr val="3333FF"/>
                </a:solidFill>
                <a:latin typeface="Times New Roman" panose="02020603050405020304" pitchFamily="18" charset="0"/>
              </a:rPr>
              <a:t>代码为</a:t>
            </a:r>
            <a:r>
              <a:rPr lang="zh-CN" altLang="en-US" sz="2400" b="1" dirty="0">
                <a:solidFill>
                  <a:srgbClr val="3333FF"/>
                </a:solidFill>
                <a:latin typeface="Times New Roman" panose="02020603050405020304" pitchFamily="18" charset="0"/>
                <a:ea typeface="宋体" panose="02010600030101010101" pitchFamily="2" charset="-122"/>
              </a:rPr>
              <a:t>“</a:t>
            </a:r>
            <a:r>
              <a:rPr lang="en-US" altLang="zh-CN" sz="2400" b="1">
                <a:solidFill>
                  <a:srgbClr val="FF0000"/>
                </a:solidFill>
                <a:latin typeface="Times New Roman" panose="02020603050405020304" pitchFamily="18" charset="0"/>
                <a:ea typeface="宋体" panose="02010600030101010101" pitchFamily="2" charset="-122"/>
              </a:rPr>
              <a:t>0000</a:t>
            </a:r>
            <a:r>
              <a:rPr lang="en-US" altLang="zh-CN" sz="2400" b="1">
                <a:solidFill>
                  <a:srgbClr val="3333FF"/>
                </a:solidFill>
                <a:latin typeface="Times New Roman" panose="02020603050405020304" pitchFamily="18" charset="0"/>
                <a:ea typeface="宋体" panose="02010600030101010101" pitchFamily="2" charset="-122"/>
              </a:rPr>
              <a:t>”</a:t>
            </a:r>
            <a:r>
              <a:rPr lang="zh-CN" altLang="en-US" sz="2400" b="1" dirty="0">
                <a:solidFill>
                  <a:srgbClr val="3333FF"/>
                </a:solidFill>
                <a:latin typeface="Times New Roman" panose="02020603050405020304" pitchFamily="18" charset="0"/>
              </a:rPr>
              <a:t>时，表示模拟负满量程值，即</a:t>
            </a:r>
            <a:r>
              <a:rPr lang="en-US" altLang="zh-CN" sz="2400" b="1">
                <a:solidFill>
                  <a:srgbClr val="FF0000"/>
                </a:solidFill>
                <a:latin typeface="Times New Roman" panose="02020603050405020304" pitchFamily="18" charset="0"/>
                <a:ea typeface="宋体" panose="02010600030101010101" pitchFamily="2" charset="-122"/>
              </a:rPr>
              <a:t>-</a:t>
            </a:r>
            <a:r>
              <a:rPr lang="en-US" altLang="zh-CN" sz="2400" b="1" i="1">
                <a:solidFill>
                  <a:srgbClr val="FF0000"/>
                </a:solidFill>
                <a:latin typeface="Times New Roman" panose="02020603050405020304" pitchFamily="18" charset="0"/>
                <a:ea typeface="宋体" panose="02010600030101010101" pitchFamily="2" charset="-122"/>
              </a:rPr>
              <a:t>FSR</a:t>
            </a:r>
            <a:r>
              <a:rPr lang="zh-CN" altLang="en-US" sz="2400" b="1" dirty="0">
                <a:solidFill>
                  <a:srgbClr val="3333FF"/>
                </a:solidFill>
                <a:latin typeface="Times New Roman" panose="02020603050405020304" pitchFamily="18" charset="0"/>
                <a:ea typeface="宋体" panose="02010600030101010101" pitchFamily="2" charset="-122"/>
              </a:rPr>
              <a:t>。</a:t>
            </a:r>
            <a:endParaRPr lang="zh-CN" altLang="en-US" sz="2400" b="1" dirty="0">
              <a:solidFill>
                <a:srgbClr val="3333FF"/>
              </a:solidFill>
              <a:latin typeface="Times New Roman" panose="02020603050405020304" pitchFamily="18" charset="0"/>
              <a:ea typeface="宋体" panose="02010600030101010101" pitchFamily="2" charset="-122"/>
            </a:endParaRPr>
          </a:p>
        </p:txBody>
      </p:sp>
      <p:pic>
        <p:nvPicPr>
          <p:cNvPr id="2315287" name="Picture 23" descr="kugel_blau"/>
          <p:cNvPicPr>
            <a:picLocks noChangeAspect="1"/>
          </p:cNvPicPr>
          <p:nvPr/>
        </p:nvPicPr>
        <p:blipFill>
          <a:blip r:embed="rId1"/>
          <a:stretch>
            <a:fillRect/>
          </a:stretch>
        </p:blipFill>
        <p:spPr>
          <a:xfrm>
            <a:off x="1152525" y="3767138"/>
            <a:ext cx="323850" cy="238125"/>
          </a:xfrm>
          <a:prstGeom prst="rect">
            <a:avLst/>
          </a:prstGeom>
          <a:noFill/>
          <a:ln w="9525">
            <a:noFill/>
          </a:ln>
        </p:spPr>
      </p:pic>
      <p:sp>
        <p:nvSpPr>
          <p:cNvPr id="2315288" name="Text Box 24"/>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5290" name="Text Box 26"/>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15291" name="Text Box 27"/>
          <p:cNvSpPr txBox="1"/>
          <p:nvPr/>
        </p:nvSpPr>
        <p:spPr>
          <a:xfrm>
            <a:off x="1514475" y="4221163"/>
            <a:ext cx="6837363" cy="822325"/>
          </a:xfrm>
          <a:prstGeom prst="rect">
            <a:avLst/>
          </a:prstGeom>
          <a:noFill/>
          <a:ln w="9525">
            <a:noFill/>
          </a:ln>
        </p:spPr>
        <p:txBody>
          <a:bodyPr>
            <a:spAutoFit/>
          </a:bodyPr>
          <a:p>
            <a:pPr algn="l" eaLnBrk="1" hangingPunct="1"/>
            <a:r>
              <a:rPr lang="zh-CN" altLang="en-US" sz="2400" b="1" dirty="0">
                <a:solidFill>
                  <a:srgbClr val="3333FF"/>
                </a:solidFill>
                <a:latin typeface="Times New Roman" panose="02020603050405020304" pitchFamily="18" charset="0"/>
              </a:rPr>
              <a:t>代码为“</a:t>
            </a:r>
            <a:r>
              <a:rPr lang="en-US" altLang="zh-CN" sz="2400" b="1">
                <a:solidFill>
                  <a:srgbClr val="FF0000"/>
                </a:solidFill>
                <a:latin typeface="Times New Roman" panose="02020603050405020304" pitchFamily="18" charset="0"/>
              </a:rPr>
              <a:t>1000</a:t>
            </a:r>
            <a:r>
              <a:rPr lang="en-US" altLang="zh-CN" sz="2400" b="1">
                <a:solidFill>
                  <a:srgbClr val="3333FF"/>
                </a:solidFill>
                <a:latin typeface="Times New Roman" panose="02020603050405020304" pitchFamily="18" charset="0"/>
              </a:rPr>
              <a:t>”</a:t>
            </a:r>
            <a:r>
              <a:rPr lang="zh-CN" altLang="en-US" sz="2400" b="1" dirty="0">
                <a:solidFill>
                  <a:srgbClr val="3333FF"/>
                </a:solidFill>
                <a:latin typeface="Times New Roman" panose="02020603050405020304" pitchFamily="18" charset="0"/>
              </a:rPr>
              <a:t>时，表示模拟</a:t>
            </a:r>
            <a:r>
              <a:rPr lang="zh-CN" altLang="en-US" sz="2400" b="1" dirty="0">
                <a:solidFill>
                  <a:srgbClr val="FF0000"/>
                </a:solidFill>
                <a:latin typeface="Times New Roman" panose="02020603050405020304" pitchFamily="18" charset="0"/>
              </a:rPr>
              <a:t>零</a:t>
            </a:r>
            <a:r>
              <a:rPr lang="zh-CN" altLang="en-US" sz="2400" b="1" dirty="0">
                <a:solidFill>
                  <a:srgbClr val="3333FF"/>
                </a:solidFill>
                <a:latin typeface="Times New Roman" panose="02020603050405020304" pitchFamily="18" charset="0"/>
              </a:rPr>
              <a:t>，即模拟零电压对应于</a:t>
            </a:r>
            <a:r>
              <a:rPr lang="en-US" altLang="zh-CN" sz="2400" b="1">
                <a:solidFill>
                  <a:srgbClr val="FF0000"/>
                </a:solidFill>
                <a:latin typeface="Times New Roman" panose="02020603050405020304" pitchFamily="18" charset="0"/>
              </a:rPr>
              <a:t>2</a:t>
            </a:r>
            <a:r>
              <a:rPr lang="en-US" altLang="zh-CN" sz="2400" b="1" baseline="30000">
                <a:solidFill>
                  <a:srgbClr val="FF0000"/>
                </a:solidFill>
                <a:latin typeface="Times New Roman" panose="02020603050405020304" pitchFamily="18" charset="0"/>
              </a:rPr>
              <a:t>n-1</a:t>
            </a:r>
            <a:r>
              <a:rPr lang="zh-CN" altLang="en-US" sz="2400" b="1" dirty="0">
                <a:solidFill>
                  <a:srgbClr val="3333FF"/>
                </a:solidFill>
                <a:latin typeface="Times New Roman" panose="02020603050405020304" pitchFamily="18" charset="0"/>
              </a:rPr>
              <a:t>。</a:t>
            </a:r>
            <a:endParaRPr lang="zh-CN" altLang="en-US" sz="2400" b="1" dirty="0">
              <a:solidFill>
                <a:srgbClr val="3333FF"/>
              </a:solidFill>
              <a:latin typeface="Times New Roman" panose="02020603050405020304" pitchFamily="18" charset="0"/>
            </a:endParaRPr>
          </a:p>
        </p:txBody>
      </p:sp>
      <p:sp>
        <p:nvSpPr>
          <p:cNvPr id="2315292" name="Text Box 28"/>
          <p:cNvSpPr txBox="1"/>
          <p:nvPr/>
        </p:nvSpPr>
        <p:spPr>
          <a:xfrm>
            <a:off x="1487488" y="5084763"/>
            <a:ext cx="6721475" cy="822325"/>
          </a:xfrm>
          <a:prstGeom prst="rect">
            <a:avLst/>
          </a:prstGeom>
          <a:noFill/>
          <a:ln w="9525">
            <a:noFill/>
          </a:ln>
        </p:spPr>
        <p:txBody>
          <a:bodyPr>
            <a:spAutoFit/>
          </a:bodyPr>
          <a:p>
            <a:pPr algn="l" eaLnBrk="1" hangingPunct="1"/>
            <a:r>
              <a:rPr lang="zh-CN" altLang="en-US" sz="2400" b="1" dirty="0">
                <a:solidFill>
                  <a:srgbClr val="3333FF"/>
                </a:solidFill>
                <a:latin typeface="Times New Roman" panose="02020603050405020304" pitchFamily="18" charset="0"/>
              </a:rPr>
              <a:t>代码为“</a:t>
            </a:r>
            <a:r>
              <a:rPr lang="en-US" altLang="zh-CN" sz="2400" b="1">
                <a:solidFill>
                  <a:srgbClr val="3333FF"/>
                </a:solidFill>
                <a:latin typeface="Times New Roman" panose="02020603050405020304" pitchFamily="18" charset="0"/>
              </a:rPr>
              <a:t>1111”</a:t>
            </a:r>
            <a:r>
              <a:rPr lang="zh-CN" altLang="en-US" sz="2400" b="1" dirty="0">
                <a:solidFill>
                  <a:srgbClr val="3333FF"/>
                </a:solidFill>
                <a:latin typeface="Times New Roman" panose="02020603050405020304" pitchFamily="18" charset="0"/>
              </a:rPr>
              <a:t>时，表示模拟正满量程值减</a:t>
            </a:r>
            <a:r>
              <a:rPr lang="en-US" altLang="zh-CN" sz="2400" b="1">
                <a:solidFill>
                  <a:srgbClr val="FF0000"/>
                </a:solidFill>
                <a:latin typeface="Times New Roman" panose="02020603050405020304" pitchFamily="18" charset="0"/>
              </a:rPr>
              <a:t>1</a:t>
            </a:r>
            <a:r>
              <a:rPr lang="en-US" altLang="zh-CN" sz="2400" b="1" i="1">
                <a:solidFill>
                  <a:srgbClr val="FF0000"/>
                </a:solidFill>
                <a:latin typeface="Times New Roman" panose="02020603050405020304" pitchFamily="18" charset="0"/>
              </a:rPr>
              <a:t>LSB</a:t>
            </a:r>
            <a:r>
              <a:rPr lang="zh-CN" altLang="en-US" sz="2400" b="1" dirty="0">
                <a:solidFill>
                  <a:srgbClr val="3333FF"/>
                </a:solidFill>
                <a:latin typeface="Times New Roman" panose="02020603050405020304" pitchFamily="18" charset="0"/>
              </a:rPr>
              <a:t>，即</a:t>
            </a:r>
            <a:r>
              <a:rPr lang="en-US" altLang="zh-CN" sz="2400" b="1" i="1">
                <a:solidFill>
                  <a:srgbClr val="FF0000"/>
                </a:solidFill>
                <a:latin typeface="Times New Roman" panose="02020603050405020304" pitchFamily="18" charset="0"/>
              </a:rPr>
              <a:t>FSR</a:t>
            </a:r>
            <a:r>
              <a:rPr lang="en-US" altLang="zh-CN" sz="2400" b="1">
                <a:solidFill>
                  <a:srgbClr val="FF0000"/>
                </a:solidFill>
                <a:latin typeface="Times New Roman" panose="02020603050405020304" pitchFamily="18" charset="0"/>
              </a:rPr>
              <a:t>-</a:t>
            </a:r>
            <a:r>
              <a:rPr lang="en-US" altLang="zh-CN" sz="2400" b="1" i="1">
                <a:solidFill>
                  <a:srgbClr val="FF0000"/>
                </a:solidFill>
                <a:latin typeface="Times New Roman" panose="02020603050405020304" pitchFamily="18" charset="0"/>
              </a:rPr>
              <a:t>FSR</a:t>
            </a:r>
            <a:r>
              <a:rPr lang="en-US" altLang="zh-CN" sz="2400" b="1">
                <a:solidFill>
                  <a:srgbClr val="FF0000"/>
                </a:solidFill>
                <a:latin typeface="Times New Roman" panose="02020603050405020304" pitchFamily="18" charset="0"/>
              </a:rPr>
              <a:t>/2</a:t>
            </a:r>
            <a:r>
              <a:rPr lang="en-US" altLang="zh-CN" sz="2400" b="1" baseline="30000">
                <a:solidFill>
                  <a:srgbClr val="FF0000"/>
                </a:solidFill>
                <a:latin typeface="Times New Roman" panose="02020603050405020304" pitchFamily="18" charset="0"/>
              </a:rPr>
              <a:t>n-1</a:t>
            </a:r>
            <a:endParaRPr lang="en-US" altLang="zh-CN" sz="2400" b="1" baseline="30000">
              <a:solidFill>
                <a:srgbClr val="FF0000"/>
              </a:solidFill>
              <a:latin typeface="Times New Roman" panose="02020603050405020304" pitchFamily="18" charset="0"/>
            </a:endParaRPr>
          </a:p>
        </p:txBody>
      </p:sp>
      <p:pic>
        <p:nvPicPr>
          <p:cNvPr id="2315293" name="Picture 29" descr="kugel_blau"/>
          <p:cNvPicPr>
            <a:picLocks noChangeAspect="1"/>
          </p:cNvPicPr>
          <p:nvPr/>
        </p:nvPicPr>
        <p:blipFill>
          <a:blip r:embed="rId1"/>
          <a:stretch>
            <a:fillRect/>
          </a:stretch>
        </p:blipFill>
        <p:spPr>
          <a:xfrm>
            <a:off x="1150938" y="4329113"/>
            <a:ext cx="323850" cy="238125"/>
          </a:xfrm>
          <a:prstGeom prst="rect">
            <a:avLst/>
          </a:prstGeom>
          <a:noFill/>
          <a:ln w="9525">
            <a:noFill/>
          </a:ln>
        </p:spPr>
      </p:pic>
      <p:pic>
        <p:nvPicPr>
          <p:cNvPr id="2315294" name="Picture 30" descr="kugel_blau"/>
          <p:cNvPicPr>
            <a:picLocks noChangeAspect="1"/>
          </p:cNvPicPr>
          <p:nvPr/>
        </p:nvPicPr>
        <p:blipFill>
          <a:blip r:embed="rId1"/>
          <a:stretch>
            <a:fillRect/>
          </a:stretch>
        </p:blipFill>
        <p:spPr>
          <a:xfrm>
            <a:off x="1150938" y="5192713"/>
            <a:ext cx="323850" cy="238125"/>
          </a:xfrm>
          <a:prstGeom prst="rect">
            <a:avLst/>
          </a:prstGeom>
          <a:noFill/>
          <a:ln w="9525">
            <a:noFill/>
          </a:ln>
        </p:spPr>
      </p:pic>
      <p:sp>
        <p:nvSpPr>
          <p:cNvPr id="69648"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5282"/>
                                        </p:tgtEl>
                                        <p:attrNameLst>
                                          <p:attrName>style.visibility</p:attrName>
                                        </p:attrNameLst>
                                      </p:cBhvr>
                                      <p:to>
                                        <p:strVal val="visible"/>
                                      </p:to>
                                    </p:set>
                                    <p:animEffect transition="in" filter="dissolve">
                                      <p:cBhvr>
                                        <p:cTn id="7" dur="500"/>
                                        <p:tgtEl>
                                          <p:spTgt spid="23152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15283"/>
                                        </p:tgtEl>
                                        <p:attrNameLst>
                                          <p:attrName>style.visibility</p:attrName>
                                        </p:attrNameLst>
                                      </p:cBhvr>
                                      <p:to>
                                        <p:strVal val="visible"/>
                                      </p:to>
                                    </p:set>
                                    <p:animEffect transition="in" filter="dissolve">
                                      <p:cBhvr>
                                        <p:cTn id="12" dur="500"/>
                                        <p:tgtEl>
                                          <p:spTgt spid="2315283"/>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15284"/>
                                        </p:tgtEl>
                                        <p:attrNameLst>
                                          <p:attrName>style.visibility</p:attrName>
                                        </p:attrNameLst>
                                      </p:cBhvr>
                                      <p:to>
                                        <p:strVal val="visible"/>
                                      </p:to>
                                    </p:set>
                                    <p:animEffect transition="in" filter="dissolve">
                                      <p:cBhvr>
                                        <p:cTn id="15" dur="500"/>
                                        <p:tgtEl>
                                          <p:spTgt spid="231528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15285"/>
                                        </p:tgtEl>
                                        <p:attrNameLst>
                                          <p:attrName>style.visibility</p:attrName>
                                        </p:attrNameLst>
                                      </p:cBhvr>
                                      <p:to>
                                        <p:strVal val="visible"/>
                                      </p:to>
                                    </p:set>
                                    <p:animEffect transition="in" filter="dissolve">
                                      <p:cBhvr>
                                        <p:cTn id="20" dur="500"/>
                                        <p:tgtEl>
                                          <p:spTgt spid="231528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15286"/>
                                        </p:tgtEl>
                                        <p:attrNameLst>
                                          <p:attrName>style.visibility</p:attrName>
                                        </p:attrNameLst>
                                      </p:cBhvr>
                                      <p:to>
                                        <p:strVal val="visible"/>
                                      </p:to>
                                    </p:set>
                                    <p:animEffect transition="in" filter="dissolve">
                                      <p:cBhvr>
                                        <p:cTn id="25" dur="500"/>
                                        <p:tgtEl>
                                          <p:spTgt spid="2315286"/>
                                        </p:tgtEl>
                                      </p:cBhvr>
                                    </p:animEffect>
                                  </p:childTnLst>
                                </p:cTn>
                              </p:par>
                              <p:par>
                                <p:cTn id="26" presetID="9" presetClass="entr" presetSubtype="0" fill="hold" nodeType="withEffect">
                                  <p:stCondLst>
                                    <p:cond delay="0"/>
                                  </p:stCondLst>
                                  <p:childTnLst>
                                    <p:set>
                                      <p:cBhvr>
                                        <p:cTn id="27" dur="1" fill="hold">
                                          <p:stCondLst>
                                            <p:cond delay="0"/>
                                          </p:stCondLst>
                                        </p:cTn>
                                        <p:tgtEl>
                                          <p:spTgt spid="2315287"/>
                                        </p:tgtEl>
                                        <p:attrNameLst>
                                          <p:attrName>style.visibility</p:attrName>
                                        </p:attrNameLst>
                                      </p:cBhvr>
                                      <p:to>
                                        <p:strVal val="visible"/>
                                      </p:to>
                                    </p:set>
                                    <p:animEffect transition="in" filter="dissolve">
                                      <p:cBhvr>
                                        <p:cTn id="28" dur="500"/>
                                        <p:tgtEl>
                                          <p:spTgt spid="2315287"/>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315291"/>
                                        </p:tgtEl>
                                        <p:attrNameLst>
                                          <p:attrName>style.visibility</p:attrName>
                                        </p:attrNameLst>
                                      </p:cBhvr>
                                      <p:to>
                                        <p:strVal val="visible"/>
                                      </p:to>
                                    </p:set>
                                    <p:animEffect transition="in" filter="dissolve">
                                      <p:cBhvr>
                                        <p:cTn id="33" dur="500"/>
                                        <p:tgtEl>
                                          <p:spTgt spid="2315291"/>
                                        </p:tgtEl>
                                      </p:cBhvr>
                                    </p:animEffect>
                                  </p:childTnLst>
                                </p:cTn>
                              </p:par>
                              <p:par>
                                <p:cTn id="34" presetID="9" presetClass="entr" presetSubtype="0" fill="hold" nodeType="withEffect">
                                  <p:stCondLst>
                                    <p:cond delay="0"/>
                                  </p:stCondLst>
                                  <p:childTnLst>
                                    <p:set>
                                      <p:cBhvr>
                                        <p:cTn id="35" dur="1" fill="hold">
                                          <p:stCondLst>
                                            <p:cond delay="0"/>
                                          </p:stCondLst>
                                        </p:cTn>
                                        <p:tgtEl>
                                          <p:spTgt spid="2315293"/>
                                        </p:tgtEl>
                                        <p:attrNameLst>
                                          <p:attrName>style.visibility</p:attrName>
                                        </p:attrNameLst>
                                      </p:cBhvr>
                                      <p:to>
                                        <p:strVal val="visible"/>
                                      </p:to>
                                    </p:set>
                                    <p:animEffect transition="in" filter="dissolve">
                                      <p:cBhvr>
                                        <p:cTn id="36" dur="500"/>
                                        <p:tgtEl>
                                          <p:spTgt spid="2315293"/>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315292"/>
                                        </p:tgtEl>
                                        <p:attrNameLst>
                                          <p:attrName>style.visibility</p:attrName>
                                        </p:attrNameLst>
                                      </p:cBhvr>
                                      <p:to>
                                        <p:strVal val="visible"/>
                                      </p:to>
                                    </p:set>
                                    <p:animEffect transition="in" filter="dissolve">
                                      <p:cBhvr>
                                        <p:cTn id="41" dur="500"/>
                                        <p:tgtEl>
                                          <p:spTgt spid="2315292"/>
                                        </p:tgtEl>
                                      </p:cBhvr>
                                    </p:animEffect>
                                  </p:childTnLst>
                                </p:cTn>
                              </p:par>
                              <p:par>
                                <p:cTn id="42" presetID="9" presetClass="entr" presetSubtype="0" fill="hold" nodeType="withEffect">
                                  <p:stCondLst>
                                    <p:cond delay="0"/>
                                  </p:stCondLst>
                                  <p:childTnLst>
                                    <p:set>
                                      <p:cBhvr>
                                        <p:cTn id="43" dur="1" fill="hold">
                                          <p:stCondLst>
                                            <p:cond delay="0"/>
                                          </p:stCondLst>
                                        </p:cTn>
                                        <p:tgtEl>
                                          <p:spTgt spid="2315294"/>
                                        </p:tgtEl>
                                        <p:attrNameLst>
                                          <p:attrName>style.visibility</p:attrName>
                                        </p:attrNameLst>
                                      </p:cBhvr>
                                      <p:to>
                                        <p:strVal val="visible"/>
                                      </p:to>
                                    </p:set>
                                    <p:animEffect transition="in" filter="dissolve">
                                      <p:cBhvr>
                                        <p:cTn id="44" dur="500"/>
                                        <p:tgtEl>
                                          <p:spTgt spid="2315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5282" grpId="0"/>
      <p:bldP spid="2315283" grpId="0"/>
      <p:bldP spid="2315284" grpId="0"/>
      <p:bldP spid="2315285" grpId="0" bldLvl="0" animBg="1"/>
      <p:bldP spid="2315286" grpId="0"/>
      <p:bldP spid="2315291" grpId="0"/>
      <p:bldP spid="2315292"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317320" name="Object 8"/>
          <p:cNvGraphicFramePr>
            <a:graphicFrameLocks noChangeAspect="1"/>
          </p:cNvGraphicFramePr>
          <p:nvPr/>
        </p:nvGraphicFramePr>
        <p:xfrm>
          <a:off x="863600" y="2667000"/>
          <a:ext cx="3887788" cy="1004888"/>
        </p:xfrm>
        <a:graphic>
          <a:graphicData uri="http://schemas.openxmlformats.org/presentationml/2006/ole">
            <mc:AlternateContent xmlns:mc="http://schemas.openxmlformats.org/markup-compatibility/2006">
              <mc:Choice xmlns:v="urn:schemas-microsoft-com:vml" Requires="v">
                <p:oleObj spid="_x0000_s3169" name="" r:id="rId1" imgW="1511300" imgH="457200" progId="Equation.3">
                  <p:embed/>
                </p:oleObj>
              </mc:Choice>
              <mc:Fallback>
                <p:oleObj name="" r:id="rId1" imgW="1511300" imgH="457200" progId="Equation.3">
                  <p:embed/>
                  <p:pic>
                    <p:nvPicPr>
                      <p:cNvPr id="0" name="图片 3168"/>
                      <p:cNvPicPr/>
                      <p:nvPr/>
                    </p:nvPicPr>
                    <p:blipFill>
                      <a:blip r:embed="rId2"/>
                      <a:stretch>
                        <a:fillRect/>
                      </a:stretch>
                    </p:blipFill>
                    <p:spPr>
                      <a:xfrm>
                        <a:off x="863600" y="2667000"/>
                        <a:ext cx="3887788" cy="1004888"/>
                      </a:xfrm>
                      <a:prstGeom prst="rect">
                        <a:avLst/>
                      </a:prstGeom>
                      <a:solidFill>
                        <a:srgbClr val="FFFF99"/>
                      </a:solidFill>
                      <a:ln w="38100">
                        <a:noFill/>
                        <a:miter/>
                      </a:ln>
                    </p:spPr>
                  </p:pic>
                </p:oleObj>
              </mc:Fallback>
            </mc:AlternateContent>
          </a:graphicData>
        </a:graphic>
      </p:graphicFrame>
      <p:graphicFrame>
        <p:nvGraphicFramePr>
          <p:cNvPr id="2317321" name="Object 9"/>
          <p:cNvGraphicFramePr>
            <a:graphicFrameLocks noChangeAspect="1"/>
          </p:cNvGraphicFramePr>
          <p:nvPr/>
        </p:nvGraphicFramePr>
        <p:xfrm>
          <a:off x="1008063" y="4084638"/>
          <a:ext cx="3563937" cy="839787"/>
        </p:xfrm>
        <a:graphic>
          <a:graphicData uri="http://schemas.openxmlformats.org/presentationml/2006/ole">
            <mc:AlternateContent xmlns:mc="http://schemas.openxmlformats.org/markup-compatibility/2006">
              <mc:Choice xmlns:v="urn:schemas-microsoft-com:vml" Requires="v">
                <p:oleObj spid="_x0000_s3171" name="" r:id="rId3" imgW="1574800" imgH="431800" progId="Equation.3">
                  <p:embed/>
                </p:oleObj>
              </mc:Choice>
              <mc:Fallback>
                <p:oleObj name="" r:id="rId3" imgW="1574800" imgH="431800" progId="Equation.3">
                  <p:embed/>
                  <p:pic>
                    <p:nvPicPr>
                      <p:cNvPr id="0" name="图片 3170"/>
                      <p:cNvPicPr/>
                      <p:nvPr/>
                    </p:nvPicPr>
                    <p:blipFill>
                      <a:blip r:embed="rId4"/>
                      <a:stretch>
                        <a:fillRect/>
                      </a:stretch>
                    </p:blipFill>
                    <p:spPr>
                      <a:xfrm>
                        <a:off x="1008063" y="4084638"/>
                        <a:ext cx="3563937" cy="839787"/>
                      </a:xfrm>
                      <a:prstGeom prst="rect">
                        <a:avLst/>
                      </a:prstGeom>
                      <a:solidFill>
                        <a:srgbClr val="FFCC99"/>
                      </a:solidFill>
                      <a:ln w="38100">
                        <a:noFill/>
                        <a:miter/>
                      </a:ln>
                    </p:spPr>
                  </p:pic>
                </p:oleObj>
              </mc:Fallback>
            </mc:AlternateContent>
          </a:graphicData>
        </a:graphic>
      </p:graphicFrame>
      <p:graphicFrame>
        <p:nvGraphicFramePr>
          <p:cNvPr id="2317322" name="Object 10"/>
          <p:cNvGraphicFramePr>
            <a:graphicFrameLocks noChangeAspect="1"/>
          </p:cNvGraphicFramePr>
          <p:nvPr/>
        </p:nvGraphicFramePr>
        <p:xfrm>
          <a:off x="1258888" y="5148263"/>
          <a:ext cx="2808287" cy="476250"/>
        </p:xfrm>
        <a:graphic>
          <a:graphicData uri="http://schemas.openxmlformats.org/presentationml/2006/ole">
            <mc:AlternateContent xmlns:mc="http://schemas.openxmlformats.org/markup-compatibility/2006">
              <mc:Choice xmlns:v="urn:schemas-microsoft-com:vml" Requires="v">
                <p:oleObj spid="_x0000_s3170" name="" r:id="rId5" imgW="1066165" imgH="215900" progId="Equation.3">
                  <p:embed/>
                </p:oleObj>
              </mc:Choice>
              <mc:Fallback>
                <p:oleObj name="" r:id="rId5" imgW="1066165" imgH="215900" progId="Equation.3">
                  <p:embed/>
                  <p:pic>
                    <p:nvPicPr>
                      <p:cNvPr id="0" name="图片 3169"/>
                      <p:cNvPicPr/>
                      <p:nvPr/>
                    </p:nvPicPr>
                    <p:blipFill>
                      <a:blip r:embed="rId6"/>
                      <a:stretch>
                        <a:fillRect/>
                      </a:stretch>
                    </p:blipFill>
                    <p:spPr>
                      <a:xfrm>
                        <a:off x="1258888" y="5148263"/>
                        <a:ext cx="2808287" cy="476250"/>
                      </a:xfrm>
                      <a:prstGeom prst="rect">
                        <a:avLst/>
                      </a:prstGeom>
                      <a:solidFill>
                        <a:srgbClr val="FFCC99"/>
                      </a:solidFill>
                      <a:ln w="38100">
                        <a:noFill/>
                        <a:miter/>
                      </a:ln>
                    </p:spPr>
                  </p:pic>
                </p:oleObj>
              </mc:Fallback>
            </mc:AlternateContent>
          </a:graphicData>
        </a:graphic>
      </p:graphicFrame>
      <p:sp>
        <p:nvSpPr>
          <p:cNvPr id="2317325" name="Text Box 13"/>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7326" name="Text Box 14"/>
          <p:cNvSpPr txBox="1"/>
          <p:nvPr/>
        </p:nvSpPr>
        <p:spPr>
          <a:xfrm>
            <a:off x="539750" y="1973263"/>
            <a:ext cx="6480175" cy="519112"/>
          </a:xfrm>
          <a:prstGeom prst="rect">
            <a:avLst/>
          </a:prstGeom>
          <a:solidFill>
            <a:srgbClr val="CCFFFF"/>
          </a:solidFill>
          <a:ln w="9525">
            <a:noFill/>
          </a:ln>
        </p:spPr>
        <p:txBody>
          <a:bodyPr>
            <a:spAutoFit/>
          </a:bodyPr>
          <a:p>
            <a:pPr algn="l" eaLnBrk="1" hangingPunct="1"/>
            <a:r>
              <a:rPr lang="zh-CN" altLang="en-US" sz="2800" b="1" dirty="0">
                <a:solidFill>
                  <a:srgbClr val="333399"/>
                </a:solidFill>
                <a:latin typeface="楷体_GB2312" pitchFamily="49" charset="-122"/>
              </a:rPr>
              <a:t>以上偏移情况可以用表达式概括如下： </a:t>
            </a:r>
            <a:endParaRPr lang="zh-CN" altLang="en-US" sz="2800" b="1" dirty="0">
              <a:solidFill>
                <a:srgbClr val="333399"/>
              </a:solidFill>
              <a:latin typeface="楷体_GB2312" pitchFamily="49" charset="-122"/>
            </a:endParaRPr>
          </a:p>
        </p:txBody>
      </p:sp>
      <p:sp>
        <p:nvSpPr>
          <p:cNvPr id="70663" name="Text Box 15"/>
          <p:cNvSpPr txBox="1"/>
          <p:nvPr/>
        </p:nvSpPr>
        <p:spPr>
          <a:xfrm>
            <a:off x="511175" y="1377950"/>
            <a:ext cx="28654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2.</a:t>
            </a:r>
            <a:r>
              <a:rPr lang="zh-CN" altLang="en-US" sz="2800" b="1" dirty="0">
                <a:solidFill>
                  <a:schemeClr val="tx1"/>
                </a:solidFill>
                <a:latin typeface="黑体" panose="02010609060101010101" pitchFamily="49" charset="-122"/>
                <a:ea typeface="黑体" panose="02010609060101010101" pitchFamily="49" charset="-122"/>
              </a:rPr>
              <a:t>偏移二进制码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7329" name="Text Box 17"/>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17332" name="AutoShape 20"/>
          <p:cNvSpPr/>
          <p:nvPr/>
        </p:nvSpPr>
        <p:spPr>
          <a:xfrm>
            <a:off x="5759450" y="2957513"/>
            <a:ext cx="2701925" cy="1973262"/>
          </a:xfrm>
          <a:prstGeom prst="wedgeRoundRectCallout">
            <a:avLst>
              <a:gd name="adj1" fmla="val -72972"/>
              <a:gd name="adj2" fmla="val -37130"/>
              <a:gd name="adj3" fmla="val 16667"/>
            </a:avLst>
          </a:prstGeom>
          <a:solidFill>
            <a:schemeClr val="accent1"/>
          </a:solidFill>
          <a:ln w="9525" cap="flat" cmpd="sng">
            <a:solidFill>
              <a:schemeClr val="tx1"/>
            </a:solidFill>
            <a:prstDash val="solid"/>
            <a:miter/>
            <a:headEnd type="none" w="med" len="med"/>
            <a:tailEnd type="none" w="med" len="med"/>
          </a:ln>
        </p:spPr>
        <p:txBody>
          <a:bodyPr anchor="ctr" anchorCtr="0"/>
          <a:p>
            <a:pPr algn="ctr" eaLnBrk="1" hangingPunct="1"/>
            <a:endParaRPr lang="zh-CN" altLang="zh-CN" b="1" dirty="0">
              <a:solidFill>
                <a:srgbClr val="333399"/>
              </a:solidFill>
              <a:latin typeface="楷体_GB2312" pitchFamily="49" charset="-122"/>
            </a:endParaRPr>
          </a:p>
        </p:txBody>
      </p:sp>
      <p:sp>
        <p:nvSpPr>
          <p:cNvPr id="2317333" name="Text Box 21"/>
          <p:cNvSpPr txBox="1"/>
          <p:nvPr/>
        </p:nvSpPr>
        <p:spPr>
          <a:xfrm>
            <a:off x="5865813" y="2962275"/>
            <a:ext cx="2701925" cy="822325"/>
          </a:xfrm>
          <a:prstGeom prst="rect">
            <a:avLst/>
          </a:prstGeom>
          <a:noFill/>
          <a:ln w="9525">
            <a:noFill/>
          </a:ln>
        </p:spPr>
        <p:txBody>
          <a:bodyPr>
            <a:spAutoFit/>
          </a:bodyPr>
          <a:p>
            <a:pPr algn="l" eaLnBrk="1" hangingPunct="1">
              <a:spcBef>
                <a:spcPct val="50000"/>
              </a:spcBef>
            </a:pPr>
            <a:r>
              <a:rPr lang="zh-CN" altLang="en-US" sz="2400" b="1" dirty="0">
                <a:solidFill>
                  <a:srgbClr val="FF0000"/>
                </a:solidFill>
                <a:latin typeface="楷体_GB2312" pitchFamily="49" charset="-122"/>
              </a:rPr>
              <a:t>比较：单极性二</a:t>
            </a:r>
            <a:endParaRPr lang="zh-CN" altLang="en-US" sz="2400" b="1" dirty="0">
              <a:solidFill>
                <a:srgbClr val="FF0000"/>
              </a:solidFill>
              <a:latin typeface="楷体_GB2312" pitchFamily="49" charset="-122"/>
            </a:endParaRPr>
          </a:p>
          <a:p>
            <a:pPr algn="l" eaLnBrk="1" hangingPunct="1"/>
            <a:r>
              <a:rPr lang="zh-CN" altLang="en-US" sz="2400" b="1" dirty="0">
                <a:solidFill>
                  <a:srgbClr val="FF0000"/>
                </a:solidFill>
                <a:latin typeface="楷体_GB2312" pitchFamily="49" charset="-122"/>
              </a:rPr>
              <a:t>      进制码</a:t>
            </a:r>
            <a:endParaRPr lang="zh-CN" altLang="en-US" sz="2400" b="1" dirty="0">
              <a:solidFill>
                <a:srgbClr val="FF0000"/>
              </a:solidFill>
              <a:latin typeface="楷体_GB2312" pitchFamily="49" charset="-122"/>
            </a:endParaRPr>
          </a:p>
        </p:txBody>
      </p:sp>
      <p:graphicFrame>
        <p:nvGraphicFramePr>
          <p:cNvPr id="2317330" name="Object 18"/>
          <p:cNvGraphicFramePr>
            <a:graphicFrameLocks noChangeAspect="1"/>
          </p:cNvGraphicFramePr>
          <p:nvPr/>
        </p:nvGraphicFramePr>
        <p:xfrm>
          <a:off x="6048375" y="3814763"/>
          <a:ext cx="2149475" cy="968375"/>
        </p:xfrm>
        <a:graphic>
          <a:graphicData uri="http://schemas.openxmlformats.org/presentationml/2006/ole">
            <mc:AlternateContent xmlns:mc="http://schemas.openxmlformats.org/markup-compatibility/2006">
              <mc:Choice xmlns:v="urn:schemas-microsoft-com:vml" Requires="v">
                <p:oleObj spid="_x0000_s3172" name="" r:id="rId7" imgW="977900" imgH="431800" progId="Equation.3">
                  <p:embed/>
                </p:oleObj>
              </mc:Choice>
              <mc:Fallback>
                <p:oleObj name="" r:id="rId7" imgW="977900" imgH="431800" progId="Equation.3">
                  <p:embed/>
                  <p:pic>
                    <p:nvPicPr>
                      <p:cNvPr id="0" name="图片 3171"/>
                      <p:cNvPicPr/>
                      <p:nvPr/>
                    </p:nvPicPr>
                    <p:blipFill>
                      <a:blip r:embed="rId8"/>
                      <a:stretch>
                        <a:fillRect/>
                      </a:stretch>
                    </p:blipFill>
                    <p:spPr>
                      <a:xfrm>
                        <a:off x="6048375" y="3814763"/>
                        <a:ext cx="2149475" cy="968375"/>
                      </a:xfrm>
                      <a:prstGeom prst="rect">
                        <a:avLst/>
                      </a:prstGeom>
                      <a:solidFill>
                        <a:srgbClr val="CCFFFF"/>
                      </a:solidFill>
                      <a:ln w="38100">
                        <a:noFill/>
                        <a:miter/>
                      </a:ln>
                    </p:spPr>
                  </p:pic>
                </p:oleObj>
              </mc:Fallback>
            </mc:AlternateContent>
          </a:graphicData>
        </a:graphic>
      </p:graphicFrame>
      <p:sp>
        <p:nvSpPr>
          <p:cNvPr id="70670"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7326"/>
                                        </p:tgtEl>
                                        <p:attrNameLst>
                                          <p:attrName>style.visibility</p:attrName>
                                        </p:attrNameLst>
                                      </p:cBhvr>
                                      <p:to>
                                        <p:strVal val="visible"/>
                                      </p:to>
                                    </p:set>
                                    <p:animEffect transition="in" filter="dissolve">
                                      <p:cBhvr>
                                        <p:cTn id="7" dur="500"/>
                                        <p:tgtEl>
                                          <p:spTgt spid="23173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17320"/>
                                        </p:tgtEl>
                                        <p:attrNameLst>
                                          <p:attrName>style.visibility</p:attrName>
                                        </p:attrNameLst>
                                      </p:cBhvr>
                                      <p:to>
                                        <p:strVal val="visible"/>
                                      </p:to>
                                    </p:set>
                                    <p:animEffect transition="in" filter="dissolve">
                                      <p:cBhvr>
                                        <p:cTn id="12" dur="500"/>
                                        <p:tgtEl>
                                          <p:spTgt spid="23173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17333"/>
                                        </p:tgtEl>
                                        <p:attrNameLst>
                                          <p:attrName>style.visibility</p:attrName>
                                        </p:attrNameLst>
                                      </p:cBhvr>
                                      <p:to>
                                        <p:strVal val="visible"/>
                                      </p:to>
                                    </p:set>
                                    <p:animEffect transition="in" filter="dissolve">
                                      <p:cBhvr>
                                        <p:cTn id="17" dur="500"/>
                                        <p:tgtEl>
                                          <p:spTgt spid="2317333"/>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17332"/>
                                        </p:tgtEl>
                                        <p:attrNameLst>
                                          <p:attrName>style.visibility</p:attrName>
                                        </p:attrNameLst>
                                      </p:cBhvr>
                                      <p:to>
                                        <p:strVal val="visible"/>
                                      </p:to>
                                    </p:set>
                                    <p:animEffect transition="in" filter="dissolve">
                                      <p:cBhvr>
                                        <p:cTn id="20" dur="500"/>
                                        <p:tgtEl>
                                          <p:spTgt spid="2317332"/>
                                        </p:tgtEl>
                                      </p:cBhvr>
                                    </p:animEffect>
                                  </p:childTnLst>
                                </p:cTn>
                              </p:par>
                              <p:par>
                                <p:cTn id="21" presetID="9" presetClass="entr" presetSubtype="0" fill="hold" nodeType="withEffect">
                                  <p:stCondLst>
                                    <p:cond delay="0"/>
                                  </p:stCondLst>
                                  <p:childTnLst>
                                    <p:set>
                                      <p:cBhvr>
                                        <p:cTn id="22" dur="1" fill="hold">
                                          <p:stCondLst>
                                            <p:cond delay="0"/>
                                          </p:stCondLst>
                                        </p:cTn>
                                        <p:tgtEl>
                                          <p:spTgt spid="2317330"/>
                                        </p:tgtEl>
                                        <p:attrNameLst>
                                          <p:attrName>style.visibility</p:attrName>
                                        </p:attrNameLst>
                                      </p:cBhvr>
                                      <p:to>
                                        <p:strVal val="visible"/>
                                      </p:to>
                                    </p:set>
                                    <p:animEffect transition="in" filter="dissolve">
                                      <p:cBhvr>
                                        <p:cTn id="23" dur="500"/>
                                        <p:tgtEl>
                                          <p:spTgt spid="2317330"/>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17321"/>
                                        </p:tgtEl>
                                        <p:attrNameLst>
                                          <p:attrName>style.visibility</p:attrName>
                                        </p:attrNameLst>
                                      </p:cBhvr>
                                      <p:to>
                                        <p:strVal val="visible"/>
                                      </p:to>
                                    </p:set>
                                    <p:animEffect transition="in" filter="dissolve">
                                      <p:cBhvr>
                                        <p:cTn id="28" dur="500"/>
                                        <p:tgtEl>
                                          <p:spTgt spid="23173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317322"/>
                                        </p:tgtEl>
                                        <p:attrNameLst>
                                          <p:attrName>style.visibility</p:attrName>
                                        </p:attrNameLst>
                                      </p:cBhvr>
                                      <p:to>
                                        <p:strVal val="visible"/>
                                      </p:to>
                                    </p:set>
                                    <p:animEffect transition="in" filter="dissolve">
                                      <p:cBhvr>
                                        <p:cTn id="33" dur="500"/>
                                        <p:tgtEl>
                                          <p:spTgt spid="23173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7326" grpId="0" bldLvl="0" animBg="1"/>
      <p:bldP spid="2317332" grpId="0" bldLvl="0" animBg="1"/>
      <p:bldP spid="2317333"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18357" name="Rectangle 21"/>
          <p:cNvSpPr/>
          <p:nvPr/>
        </p:nvSpPr>
        <p:spPr>
          <a:xfrm>
            <a:off x="511175" y="1928813"/>
            <a:ext cx="8021638" cy="2695575"/>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18344" name="Text Box 8"/>
          <p:cNvSpPr txBox="1"/>
          <p:nvPr/>
        </p:nvSpPr>
        <p:spPr>
          <a:xfrm>
            <a:off x="1614488" y="2935288"/>
            <a:ext cx="5826125" cy="519112"/>
          </a:xfrm>
          <a:prstGeom prst="rect">
            <a:avLst/>
          </a:prstGeom>
          <a:noFill/>
          <a:ln w="9525">
            <a:noFill/>
          </a:ln>
        </p:spPr>
        <p:txBody>
          <a:bodyPr wrap="none">
            <a:spAutoFit/>
          </a:bodyPr>
          <a:p>
            <a:pPr algn="l" eaLnBrk="1" hangingPunct="1"/>
            <a:r>
              <a:rPr lang="en-US" altLang="zh-CN" sz="2800" b="1" i="1" err="1">
                <a:solidFill>
                  <a:srgbClr val="FF0000"/>
                </a:solidFill>
                <a:latin typeface="Times New Roman" panose="02020603050405020304" pitchFamily="18" charset="0"/>
                <a:ea typeface="宋体" panose="02010600030101010101" pitchFamily="2" charset="-122"/>
              </a:rPr>
              <a:t>U</a:t>
            </a:r>
            <a:r>
              <a:rPr lang="en-US" altLang="zh-CN" sz="2800" b="1" i="1" baseline="-25000" err="1">
                <a:solidFill>
                  <a:srgbClr val="FF0000"/>
                </a:solidFill>
                <a:latin typeface="Times New Roman" panose="02020603050405020304" pitchFamily="18" charset="0"/>
                <a:ea typeface="宋体" panose="02010600030101010101" pitchFamily="2" charset="-122"/>
              </a:rPr>
              <a:t>max</a:t>
            </a:r>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 111  </a:t>
            </a:r>
            <a:r>
              <a:rPr lang="en-US" altLang="zh-CN" sz="2800" b="1" err="1">
                <a:solidFill>
                  <a:schemeClr val="tx1"/>
                </a:solidFill>
                <a:latin typeface="Times New Roman" panose="02020603050405020304" pitchFamily="18" charset="0"/>
                <a:ea typeface="宋体" panose="02010600030101010101" pitchFamily="2" charset="-122"/>
              </a:rPr>
              <a:t>111</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111</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111</a:t>
            </a:r>
            <a:r>
              <a:rPr lang="en-US" altLang="zh-CN" sz="2800" b="1">
                <a:solidFill>
                  <a:schemeClr val="tx1"/>
                </a:solidFill>
                <a:latin typeface="Times New Roman" panose="02020603050405020304" pitchFamily="18" charset="0"/>
                <a:ea typeface="宋体" panose="02010600030101010101" pitchFamily="2" charset="-122"/>
              </a:rPr>
              <a:t>= + 9.9951 V</a:t>
            </a:r>
            <a:endParaRPr lang="en-US" altLang="zh-CN" sz="2800" b="1">
              <a:solidFill>
                <a:schemeClr val="tx1"/>
              </a:solidFill>
              <a:latin typeface="Times New Roman" panose="02020603050405020304" pitchFamily="18" charset="0"/>
              <a:ea typeface="宋体" panose="02010600030101010101" pitchFamily="2" charset="-122"/>
            </a:endParaRPr>
          </a:p>
        </p:txBody>
      </p:sp>
      <p:sp>
        <p:nvSpPr>
          <p:cNvPr id="2318345" name="Text Box 9"/>
          <p:cNvSpPr txBox="1"/>
          <p:nvPr/>
        </p:nvSpPr>
        <p:spPr>
          <a:xfrm>
            <a:off x="1676400" y="3482975"/>
            <a:ext cx="5568950" cy="519113"/>
          </a:xfrm>
          <a:prstGeom prst="rect">
            <a:avLst/>
          </a:prstGeom>
          <a:noFill/>
          <a:ln w="9525">
            <a:noFill/>
          </a:ln>
        </p:spPr>
        <p:txBody>
          <a:bodyPr wrap="none">
            <a:spAutoFit/>
          </a:bodyPr>
          <a:p>
            <a:pPr algn="l" eaLnBrk="1" hangingPunct="1"/>
            <a:r>
              <a:rPr lang="en-US" altLang="zh-CN" sz="2800" b="1" i="1" err="1">
                <a:solidFill>
                  <a:srgbClr val="FF0000"/>
                </a:solidFill>
                <a:latin typeface="Times New Roman" panose="02020603050405020304" pitchFamily="18" charset="0"/>
                <a:ea typeface="宋体" panose="02010600030101010101" pitchFamily="2" charset="-122"/>
              </a:rPr>
              <a:t>U</a:t>
            </a:r>
            <a:r>
              <a:rPr lang="en-US" altLang="zh-CN" sz="2800" b="1" i="1" baseline="-25000" err="1">
                <a:solidFill>
                  <a:srgbClr val="FF0000"/>
                </a:solidFill>
                <a:latin typeface="Times New Roman" panose="02020603050405020304" pitchFamily="18" charset="0"/>
                <a:ea typeface="宋体" panose="02010600030101010101" pitchFamily="2" charset="-122"/>
              </a:rPr>
              <a:t>mid</a:t>
            </a:r>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 100  000  </a:t>
            </a:r>
            <a:r>
              <a:rPr lang="en-US" altLang="zh-CN" sz="2800" b="1" err="1">
                <a:solidFill>
                  <a:schemeClr val="tx1"/>
                </a:solidFill>
                <a:latin typeface="Times New Roman" panose="02020603050405020304" pitchFamily="18" charset="0"/>
                <a:ea typeface="宋体" panose="02010600030101010101" pitchFamily="2" charset="-122"/>
              </a:rPr>
              <a:t>000</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000</a:t>
            </a:r>
            <a:r>
              <a:rPr lang="en-US" altLang="zh-CN" sz="2800" b="1">
                <a:solidFill>
                  <a:schemeClr val="tx1"/>
                </a:solidFill>
                <a:latin typeface="Times New Roman" panose="02020603050405020304" pitchFamily="18" charset="0"/>
                <a:ea typeface="宋体" panose="02010600030101010101" pitchFamily="2" charset="-122"/>
              </a:rPr>
              <a:t> = 0.0000 V</a:t>
            </a:r>
            <a:endParaRPr lang="en-US" altLang="zh-CN" sz="2800" b="1">
              <a:solidFill>
                <a:schemeClr val="tx1"/>
              </a:solidFill>
              <a:latin typeface="Times New Roman" panose="02020603050405020304" pitchFamily="18" charset="0"/>
              <a:ea typeface="宋体" panose="02010600030101010101" pitchFamily="2" charset="-122"/>
            </a:endParaRPr>
          </a:p>
        </p:txBody>
      </p:sp>
      <p:sp>
        <p:nvSpPr>
          <p:cNvPr id="2318346" name="Text Box 10"/>
          <p:cNvSpPr txBox="1"/>
          <p:nvPr/>
        </p:nvSpPr>
        <p:spPr>
          <a:xfrm>
            <a:off x="1676400" y="4025900"/>
            <a:ext cx="6118225" cy="519113"/>
          </a:xfrm>
          <a:prstGeom prst="rect">
            <a:avLst/>
          </a:prstGeom>
          <a:noFill/>
          <a:ln w="9525">
            <a:noFill/>
          </a:ln>
        </p:spPr>
        <p:txBody>
          <a:bodyPr wrap="none">
            <a:spAutoFit/>
          </a:bodyPr>
          <a:p>
            <a:pPr algn="l" eaLnBrk="1" hangingPunct="1"/>
            <a:r>
              <a:rPr lang="en-US" altLang="zh-CN" sz="2800" b="1" i="1" err="1">
                <a:solidFill>
                  <a:srgbClr val="FF0000"/>
                </a:solidFill>
                <a:latin typeface="Times New Roman" panose="02020603050405020304" pitchFamily="18" charset="0"/>
                <a:ea typeface="宋体" panose="02010600030101010101" pitchFamily="2" charset="-122"/>
              </a:rPr>
              <a:t>U</a:t>
            </a:r>
            <a:r>
              <a:rPr lang="en-US" altLang="zh-CN" sz="2800" b="1" i="1" baseline="-25000" err="1">
                <a:solidFill>
                  <a:srgbClr val="FF0000"/>
                </a:solidFill>
                <a:latin typeface="Times New Roman" panose="02020603050405020304" pitchFamily="18" charset="0"/>
                <a:ea typeface="宋体" panose="02010600030101010101" pitchFamily="2" charset="-122"/>
              </a:rPr>
              <a:t>min</a:t>
            </a:r>
            <a:r>
              <a:rPr lang="en-US" altLang="zh-CN" sz="2800" b="1">
                <a:solidFill>
                  <a:srgbClr val="333399"/>
                </a:solidFill>
                <a:latin typeface="Times New Roman" panose="02020603050405020304" pitchFamily="18" charset="0"/>
                <a:ea typeface="宋体" panose="02010600030101010101" pitchFamily="2" charset="-122"/>
              </a:rPr>
              <a:t> </a:t>
            </a:r>
            <a:r>
              <a:rPr lang="en-US" altLang="zh-CN" sz="2800" b="1">
                <a:solidFill>
                  <a:schemeClr val="tx1"/>
                </a:solidFill>
                <a:latin typeface="Times New Roman" panose="02020603050405020304" pitchFamily="18" charset="0"/>
                <a:ea typeface="宋体" panose="02010600030101010101" pitchFamily="2" charset="-122"/>
              </a:rPr>
              <a:t>= 000  </a:t>
            </a:r>
            <a:r>
              <a:rPr lang="en-US" altLang="zh-CN" sz="2800" b="1" err="1">
                <a:solidFill>
                  <a:schemeClr val="tx1"/>
                </a:solidFill>
                <a:latin typeface="Times New Roman" panose="02020603050405020304" pitchFamily="18" charset="0"/>
                <a:ea typeface="宋体" panose="02010600030101010101" pitchFamily="2" charset="-122"/>
              </a:rPr>
              <a:t>000</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000</a:t>
            </a:r>
            <a:r>
              <a:rPr lang="en-US" altLang="zh-CN" sz="2800" b="1">
                <a:solidFill>
                  <a:schemeClr val="tx1"/>
                </a:solidFill>
                <a:latin typeface="Times New Roman" panose="02020603050405020304" pitchFamily="18" charset="0"/>
                <a:ea typeface="宋体" panose="02010600030101010101" pitchFamily="2" charset="-122"/>
              </a:rPr>
              <a:t>  </a:t>
            </a:r>
            <a:r>
              <a:rPr lang="en-US" altLang="zh-CN" sz="2800" b="1" err="1">
                <a:solidFill>
                  <a:schemeClr val="tx1"/>
                </a:solidFill>
                <a:latin typeface="Times New Roman" panose="02020603050405020304" pitchFamily="18" charset="0"/>
                <a:ea typeface="宋体" panose="02010600030101010101" pitchFamily="2" charset="-122"/>
              </a:rPr>
              <a:t>000</a:t>
            </a:r>
            <a:r>
              <a:rPr lang="en-US" altLang="zh-CN" sz="2800" b="1">
                <a:solidFill>
                  <a:schemeClr val="tx1"/>
                </a:solidFill>
                <a:latin typeface="Times New Roman" panose="02020603050405020304" pitchFamily="18" charset="0"/>
                <a:ea typeface="宋体" panose="02010600030101010101" pitchFamily="2" charset="-122"/>
              </a:rPr>
              <a:t> = </a:t>
            </a:r>
            <a:r>
              <a:rPr lang="zh-CN" altLang="en-US" sz="2800" b="1" dirty="0">
                <a:solidFill>
                  <a:schemeClr val="tx1"/>
                </a:solidFill>
                <a:latin typeface="Times New Roman" panose="02020603050405020304" pitchFamily="18" charset="0"/>
                <a:ea typeface="宋体" panose="02010600030101010101" pitchFamily="2" charset="-122"/>
              </a:rPr>
              <a:t>－</a:t>
            </a:r>
            <a:r>
              <a:rPr lang="en-US" altLang="zh-CN" sz="2800" b="1">
                <a:solidFill>
                  <a:schemeClr val="tx1"/>
                </a:solidFill>
                <a:latin typeface="Times New Roman" panose="02020603050405020304" pitchFamily="18" charset="0"/>
                <a:ea typeface="宋体" panose="02010600030101010101" pitchFamily="2" charset="-122"/>
              </a:rPr>
              <a:t>10.0000 V</a:t>
            </a:r>
            <a:endParaRPr lang="en-US" altLang="zh-CN" sz="2800" b="1">
              <a:solidFill>
                <a:schemeClr val="tx1"/>
              </a:solidFill>
              <a:latin typeface="Times New Roman" panose="02020603050405020304" pitchFamily="18" charset="0"/>
              <a:ea typeface="宋体" panose="02010600030101010101" pitchFamily="2" charset="-122"/>
            </a:endParaRPr>
          </a:p>
        </p:txBody>
      </p:sp>
      <p:sp>
        <p:nvSpPr>
          <p:cNvPr id="2318347" name="Text Box 11"/>
          <p:cNvSpPr txBox="1"/>
          <p:nvPr/>
        </p:nvSpPr>
        <p:spPr>
          <a:xfrm>
            <a:off x="755650" y="4837113"/>
            <a:ext cx="1354138" cy="519112"/>
          </a:xfrm>
          <a:prstGeom prst="rect">
            <a:avLst/>
          </a:prstGeom>
          <a:noFill/>
          <a:ln w="9525">
            <a:noFill/>
          </a:ln>
        </p:spPr>
        <p:txBody>
          <a:bodyPr>
            <a:spAutoFit/>
          </a:bodyPr>
          <a:p>
            <a:pPr algn="l" eaLnBrk="1" hangingPunct="1"/>
            <a:r>
              <a:rPr lang="zh-CN" altLang="en-US" sz="2800" b="1" dirty="0">
                <a:solidFill>
                  <a:srgbClr val="FF0000"/>
                </a:solidFill>
                <a:latin typeface="Times New Roman" panose="02020603050405020304" pitchFamily="18" charset="0"/>
              </a:rPr>
              <a:t>优点：</a:t>
            </a:r>
            <a:endParaRPr lang="zh-CN" altLang="en-US" sz="2800" b="1" dirty="0">
              <a:solidFill>
                <a:srgbClr val="FF0000"/>
              </a:solidFill>
              <a:latin typeface="Times New Roman" panose="02020603050405020304" pitchFamily="18" charset="0"/>
            </a:endParaRPr>
          </a:p>
        </p:txBody>
      </p:sp>
      <p:sp>
        <p:nvSpPr>
          <p:cNvPr id="2318348" name="Text Box 12"/>
          <p:cNvSpPr txBox="1"/>
          <p:nvPr/>
        </p:nvSpPr>
        <p:spPr>
          <a:xfrm>
            <a:off x="755650" y="5403850"/>
            <a:ext cx="1314450" cy="519113"/>
          </a:xfrm>
          <a:prstGeom prst="rect">
            <a:avLst/>
          </a:prstGeom>
          <a:noFill/>
          <a:ln w="9525">
            <a:noFill/>
          </a:ln>
        </p:spPr>
        <p:txBody>
          <a:bodyPr>
            <a:spAutoFit/>
          </a:bodyPr>
          <a:p>
            <a:pPr algn="l" eaLnBrk="1" hangingPunct="1"/>
            <a:r>
              <a:rPr lang="zh-CN" altLang="en-US" sz="2800" b="1" dirty="0">
                <a:solidFill>
                  <a:srgbClr val="FF0000"/>
                </a:solidFill>
                <a:latin typeface="Times New Roman" panose="02020603050405020304" pitchFamily="18" charset="0"/>
              </a:rPr>
              <a:t>缺点：</a:t>
            </a:r>
            <a:endParaRPr lang="zh-CN" altLang="en-US" sz="2800" b="1" dirty="0">
              <a:solidFill>
                <a:srgbClr val="FF0000"/>
              </a:solidFill>
              <a:latin typeface="Times New Roman" panose="02020603050405020304" pitchFamily="18" charset="0"/>
            </a:endParaRPr>
          </a:p>
        </p:txBody>
      </p:sp>
      <p:sp>
        <p:nvSpPr>
          <p:cNvPr id="2318349" name="Text Box 13"/>
          <p:cNvSpPr txBox="1"/>
          <p:nvPr/>
        </p:nvSpPr>
        <p:spPr>
          <a:xfrm>
            <a:off x="1725613" y="4837113"/>
            <a:ext cx="7296150" cy="519112"/>
          </a:xfrm>
          <a:prstGeom prst="rect">
            <a:avLst/>
          </a:prstGeom>
          <a:noFill/>
          <a:ln w="9525">
            <a:noFill/>
          </a:ln>
        </p:spPr>
        <p:txBody>
          <a:bodyPr>
            <a:spAutoFit/>
          </a:bodyPr>
          <a:p>
            <a:pPr algn="l" eaLnBrk="1" hangingPunct="1"/>
            <a:r>
              <a:rPr lang="zh-CN" altLang="en-US" sz="2800" b="1" dirty="0">
                <a:solidFill>
                  <a:srgbClr val="3333FF"/>
                </a:solidFill>
                <a:latin typeface="楷体_GB2312" pitchFamily="49" charset="-122"/>
              </a:rPr>
              <a:t>转换器容易实现，还很容易变换成补码。 </a:t>
            </a:r>
            <a:endParaRPr lang="zh-CN" altLang="en-US" sz="2800" b="1" dirty="0">
              <a:solidFill>
                <a:srgbClr val="3333FF"/>
              </a:solidFill>
              <a:latin typeface="楷体_GB2312" pitchFamily="49" charset="-122"/>
            </a:endParaRPr>
          </a:p>
        </p:txBody>
      </p:sp>
      <p:sp>
        <p:nvSpPr>
          <p:cNvPr id="2318350" name="Text Box 14"/>
          <p:cNvSpPr txBox="1"/>
          <p:nvPr/>
        </p:nvSpPr>
        <p:spPr>
          <a:xfrm>
            <a:off x="1733550" y="5408613"/>
            <a:ext cx="5708650" cy="519112"/>
          </a:xfrm>
          <a:prstGeom prst="rect">
            <a:avLst/>
          </a:prstGeom>
          <a:noFill/>
          <a:ln w="9525">
            <a:noFill/>
          </a:ln>
        </p:spPr>
        <p:txBody>
          <a:bodyPr>
            <a:spAutoFit/>
          </a:bodyPr>
          <a:p>
            <a:pPr algn="l" eaLnBrk="1" hangingPunct="1"/>
            <a:r>
              <a:rPr lang="zh-CN" altLang="en-US" sz="2800" b="1" dirty="0">
                <a:solidFill>
                  <a:srgbClr val="3333FF"/>
                </a:solidFill>
                <a:latin typeface="楷体_GB2312" pitchFamily="49" charset="-122"/>
              </a:rPr>
              <a:t>在零点附近发生主码跃迁。</a:t>
            </a:r>
            <a:endParaRPr lang="zh-CN" altLang="en-US" sz="2800" b="1" dirty="0">
              <a:solidFill>
                <a:srgbClr val="3333FF"/>
              </a:solidFill>
              <a:latin typeface="楷体_GB2312" pitchFamily="49" charset="-122"/>
            </a:endParaRPr>
          </a:p>
        </p:txBody>
      </p:sp>
      <p:sp>
        <p:nvSpPr>
          <p:cNvPr id="2318351" name="Text Box 15"/>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8352" name="Text Box 16"/>
          <p:cNvSpPr txBox="1"/>
          <p:nvPr/>
        </p:nvSpPr>
        <p:spPr>
          <a:xfrm>
            <a:off x="900113" y="1952625"/>
            <a:ext cx="1119187" cy="519113"/>
          </a:xfrm>
          <a:prstGeom prst="rect">
            <a:avLst/>
          </a:prstGeom>
          <a:noFill/>
          <a:ln w="9525">
            <a:noFill/>
          </a:ln>
        </p:spPr>
        <p:txBody>
          <a:bodyPr>
            <a:spAutoFit/>
          </a:bodyPr>
          <a:p>
            <a:pPr algn="l" eaLnBrk="1" hangingPunct="1"/>
            <a:r>
              <a:rPr lang="zh-CN" altLang="en-US" sz="2800" b="1" dirty="0">
                <a:solidFill>
                  <a:srgbClr val="FF0000"/>
                </a:solidFill>
                <a:latin typeface="Times New Roman" panose="02020603050405020304" pitchFamily="18" charset="0"/>
              </a:rPr>
              <a:t>例子：</a:t>
            </a:r>
            <a:endParaRPr lang="zh-CN" altLang="en-US" sz="2800" b="1" dirty="0">
              <a:solidFill>
                <a:srgbClr val="FF0000"/>
              </a:solidFill>
              <a:latin typeface="Times New Roman" panose="02020603050405020304" pitchFamily="18" charset="0"/>
            </a:endParaRPr>
          </a:p>
        </p:txBody>
      </p:sp>
      <p:sp>
        <p:nvSpPr>
          <p:cNvPr id="2318353" name="Text Box 17"/>
          <p:cNvSpPr txBox="1"/>
          <p:nvPr/>
        </p:nvSpPr>
        <p:spPr>
          <a:xfrm>
            <a:off x="1874838" y="1957388"/>
            <a:ext cx="6156325" cy="946150"/>
          </a:xfrm>
          <a:prstGeom prst="rect">
            <a:avLst/>
          </a:prstGeom>
          <a:noFill/>
          <a:ln w="9525">
            <a:noFill/>
          </a:ln>
        </p:spPr>
        <p:txBody>
          <a:bodyPr>
            <a:spAutoFit/>
          </a:bodyPr>
          <a:p>
            <a:pPr algn="l" eaLnBrk="1" hangingPunct="1"/>
            <a:r>
              <a:rPr lang="zh-CN" altLang="en-US" sz="2800" b="1" dirty="0">
                <a:solidFill>
                  <a:srgbClr val="3333FF"/>
                </a:solidFill>
                <a:latin typeface="Times New Roman" panose="02020603050405020304" pitchFamily="18" charset="0"/>
              </a:rPr>
              <a:t>对于一个满量程电压是</a:t>
            </a:r>
            <a:r>
              <a:rPr lang="en-US" altLang="zh-CN" sz="2800" b="1">
                <a:solidFill>
                  <a:srgbClr val="3333FF"/>
                </a:solidFill>
                <a:latin typeface="Times New Roman" panose="02020603050405020304" pitchFamily="18" charset="0"/>
              </a:rPr>
              <a:t>-</a:t>
            </a:r>
            <a:r>
              <a:rPr lang="en-US" altLang="zh-CN" sz="2800" b="1">
                <a:solidFill>
                  <a:srgbClr val="3333FF"/>
                </a:solidFill>
                <a:latin typeface="Times New Roman" panose="02020603050405020304" pitchFamily="18" charset="0"/>
                <a:ea typeface="宋体" panose="02010600030101010101" pitchFamily="2" charset="-122"/>
              </a:rPr>
              <a:t>10V</a:t>
            </a:r>
            <a:r>
              <a:rPr lang="zh-CN" altLang="en-US" sz="2800" b="1" dirty="0">
                <a:solidFill>
                  <a:srgbClr val="3333FF"/>
                </a:solidFill>
                <a:latin typeface="Times New Roman" panose="02020603050405020304" pitchFamily="18" charset="0"/>
                <a:ea typeface="宋体" panose="02010600030101010101" pitchFamily="2" charset="-122"/>
              </a:rPr>
              <a:t>～ </a:t>
            </a:r>
            <a:r>
              <a:rPr lang="en-US" altLang="zh-CN" sz="2800" b="1">
                <a:solidFill>
                  <a:srgbClr val="3333FF"/>
                </a:solidFill>
                <a:latin typeface="Times New Roman" panose="02020603050405020304" pitchFamily="18" charset="0"/>
                <a:ea typeface="宋体" panose="02010600030101010101" pitchFamily="2" charset="-122"/>
              </a:rPr>
              <a:t>+10V</a:t>
            </a:r>
            <a:r>
              <a:rPr lang="zh-CN" altLang="en-US" sz="2800" b="1" dirty="0">
                <a:solidFill>
                  <a:srgbClr val="3333FF"/>
                </a:solidFill>
                <a:latin typeface="Times New Roman" panose="02020603050405020304" pitchFamily="18" charset="0"/>
              </a:rPr>
              <a:t>的</a:t>
            </a:r>
            <a:r>
              <a:rPr lang="en-US" altLang="zh-CN" sz="2800" b="1">
                <a:solidFill>
                  <a:srgbClr val="FF0000"/>
                </a:solidFill>
                <a:latin typeface="Times New Roman" panose="02020603050405020304" pitchFamily="18" charset="0"/>
                <a:ea typeface="宋体" panose="02010600030101010101" pitchFamily="2" charset="-122"/>
              </a:rPr>
              <a:t>12</a:t>
            </a:r>
            <a:r>
              <a:rPr lang="zh-CN" altLang="en-US" sz="2800" b="1" dirty="0">
                <a:solidFill>
                  <a:srgbClr val="FF0000"/>
                </a:solidFill>
                <a:latin typeface="楷体_GB2312" pitchFamily="49" charset="-122"/>
              </a:rPr>
              <a:t>位</a:t>
            </a:r>
            <a:r>
              <a:rPr lang="zh-CN" altLang="en-US" sz="2800" b="1" dirty="0">
                <a:solidFill>
                  <a:srgbClr val="3333FF"/>
                </a:solidFill>
                <a:latin typeface="楷体_GB2312" pitchFamily="49" charset="-122"/>
              </a:rPr>
              <a:t>偏移二进制转换器而言： </a:t>
            </a:r>
            <a:endParaRPr lang="zh-CN" altLang="en-US" sz="2800" b="1" dirty="0">
              <a:solidFill>
                <a:srgbClr val="3333FF"/>
              </a:solidFill>
              <a:latin typeface="楷体_GB2312" pitchFamily="49" charset="-122"/>
            </a:endParaRPr>
          </a:p>
        </p:txBody>
      </p:sp>
      <p:sp>
        <p:nvSpPr>
          <p:cNvPr id="71693" name="Text Box 18"/>
          <p:cNvSpPr txBox="1"/>
          <p:nvPr/>
        </p:nvSpPr>
        <p:spPr>
          <a:xfrm>
            <a:off x="511175" y="1377950"/>
            <a:ext cx="2865438" cy="519113"/>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2.</a:t>
            </a:r>
            <a:r>
              <a:rPr lang="zh-CN" altLang="en-US" sz="2800" b="1" dirty="0">
                <a:solidFill>
                  <a:schemeClr val="tx1"/>
                </a:solidFill>
                <a:latin typeface="黑体" panose="02010609060101010101" pitchFamily="49" charset="-122"/>
                <a:ea typeface="黑体" panose="02010609060101010101" pitchFamily="49" charset="-122"/>
              </a:rPr>
              <a:t>偏移二进制码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8356" name="Text Box 20"/>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71697"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8357"/>
                                        </p:tgtEl>
                                        <p:attrNameLst>
                                          <p:attrName>style.visibility</p:attrName>
                                        </p:attrNameLst>
                                      </p:cBhvr>
                                      <p:to>
                                        <p:strVal val="visible"/>
                                      </p:to>
                                    </p:set>
                                    <p:animEffect transition="in" filter="dissolve">
                                      <p:cBhvr>
                                        <p:cTn id="7" dur="500"/>
                                        <p:tgtEl>
                                          <p:spTgt spid="231835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18352"/>
                                        </p:tgtEl>
                                        <p:attrNameLst>
                                          <p:attrName>style.visibility</p:attrName>
                                        </p:attrNameLst>
                                      </p:cBhvr>
                                      <p:to>
                                        <p:strVal val="visible"/>
                                      </p:to>
                                    </p:set>
                                    <p:animEffect transition="in" filter="dissolve">
                                      <p:cBhvr>
                                        <p:cTn id="12" dur="500"/>
                                        <p:tgtEl>
                                          <p:spTgt spid="231835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18353"/>
                                        </p:tgtEl>
                                        <p:attrNameLst>
                                          <p:attrName>style.visibility</p:attrName>
                                        </p:attrNameLst>
                                      </p:cBhvr>
                                      <p:to>
                                        <p:strVal val="visible"/>
                                      </p:to>
                                    </p:set>
                                    <p:animEffect transition="in" filter="dissolve">
                                      <p:cBhvr>
                                        <p:cTn id="15" dur="500"/>
                                        <p:tgtEl>
                                          <p:spTgt spid="23183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18344"/>
                                        </p:tgtEl>
                                        <p:attrNameLst>
                                          <p:attrName>style.visibility</p:attrName>
                                        </p:attrNameLst>
                                      </p:cBhvr>
                                      <p:to>
                                        <p:strVal val="visible"/>
                                      </p:to>
                                    </p:set>
                                    <p:animEffect transition="in" filter="dissolve">
                                      <p:cBhvr>
                                        <p:cTn id="20" dur="500"/>
                                        <p:tgtEl>
                                          <p:spTgt spid="231834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18345"/>
                                        </p:tgtEl>
                                        <p:attrNameLst>
                                          <p:attrName>style.visibility</p:attrName>
                                        </p:attrNameLst>
                                      </p:cBhvr>
                                      <p:to>
                                        <p:strVal val="visible"/>
                                      </p:to>
                                    </p:set>
                                    <p:animEffect transition="in" filter="dissolve">
                                      <p:cBhvr>
                                        <p:cTn id="25" dur="500"/>
                                        <p:tgtEl>
                                          <p:spTgt spid="2318345"/>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318346"/>
                                        </p:tgtEl>
                                        <p:attrNameLst>
                                          <p:attrName>style.visibility</p:attrName>
                                        </p:attrNameLst>
                                      </p:cBhvr>
                                      <p:to>
                                        <p:strVal val="visible"/>
                                      </p:to>
                                    </p:set>
                                    <p:animEffect transition="in" filter="dissolve">
                                      <p:cBhvr>
                                        <p:cTn id="30" dur="500"/>
                                        <p:tgtEl>
                                          <p:spTgt spid="231834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318347"/>
                                        </p:tgtEl>
                                        <p:attrNameLst>
                                          <p:attrName>style.visibility</p:attrName>
                                        </p:attrNameLst>
                                      </p:cBhvr>
                                      <p:to>
                                        <p:strVal val="visible"/>
                                      </p:to>
                                    </p:set>
                                    <p:animEffect transition="in" filter="dissolve">
                                      <p:cBhvr>
                                        <p:cTn id="35" dur="500"/>
                                        <p:tgtEl>
                                          <p:spTgt spid="2318347"/>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318349"/>
                                        </p:tgtEl>
                                        <p:attrNameLst>
                                          <p:attrName>style.visibility</p:attrName>
                                        </p:attrNameLst>
                                      </p:cBhvr>
                                      <p:to>
                                        <p:strVal val="visible"/>
                                      </p:to>
                                    </p:set>
                                    <p:animEffect transition="in" filter="dissolve">
                                      <p:cBhvr>
                                        <p:cTn id="38" dur="500"/>
                                        <p:tgtEl>
                                          <p:spTgt spid="2318349"/>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318348"/>
                                        </p:tgtEl>
                                        <p:attrNameLst>
                                          <p:attrName>style.visibility</p:attrName>
                                        </p:attrNameLst>
                                      </p:cBhvr>
                                      <p:to>
                                        <p:strVal val="visible"/>
                                      </p:to>
                                    </p:set>
                                    <p:animEffect transition="in" filter="dissolve">
                                      <p:cBhvr>
                                        <p:cTn id="43" dur="500"/>
                                        <p:tgtEl>
                                          <p:spTgt spid="2318348"/>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318350"/>
                                        </p:tgtEl>
                                        <p:attrNameLst>
                                          <p:attrName>style.visibility</p:attrName>
                                        </p:attrNameLst>
                                      </p:cBhvr>
                                      <p:to>
                                        <p:strVal val="visible"/>
                                      </p:to>
                                    </p:set>
                                    <p:animEffect transition="in" filter="dissolve">
                                      <p:cBhvr>
                                        <p:cTn id="46" dur="500"/>
                                        <p:tgtEl>
                                          <p:spTgt spid="23183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8357" grpId="0" bldLvl="0" animBg="1"/>
      <p:bldP spid="2318344" grpId="0"/>
      <p:bldP spid="2318345" grpId="0"/>
      <p:bldP spid="2318346" grpId="0"/>
      <p:bldP spid="2318347" grpId="0"/>
      <p:bldP spid="2318348" grpId="0"/>
      <p:bldP spid="2318349" grpId="0"/>
      <p:bldP spid="2318350" grpId="0"/>
      <p:bldP spid="2318352" grpId="0"/>
      <p:bldP spid="2318353"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19369" name="Text Box 9"/>
          <p:cNvSpPr txBox="1"/>
          <p:nvPr/>
        </p:nvSpPr>
        <p:spPr>
          <a:xfrm>
            <a:off x="757238" y="1360488"/>
            <a:ext cx="1793875"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3.2</a:t>
            </a:r>
            <a:r>
              <a:rPr lang="zh-CN" altLang="en-US" sz="2800" b="1" dirty="0">
                <a:solidFill>
                  <a:schemeClr val="tx1"/>
                </a:solidFill>
                <a:latin typeface="黑体" panose="02010609060101010101" pitchFamily="49" charset="-122"/>
                <a:ea typeface="黑体" panose="02010609060101010101" pitchFamily="49" charset="-122"/>
              </a:rPr>
              <a:t>的补码</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9370" name="Text Box 10"/>
          <p:cNvSpPr txBox="1"/>
          <p:nvPr/>
        </p:nvSpPr>
        <p:spPr>
          <a:xfrm>
            <a:off x="782638" y="1970088"/>
            <a:ext cx="3130550" cy="519112"/>
          </a:xfrm>
          <a:prstGeom prst="rect">
            <a:avLst/>
          </a:prstGeom>
          <a:solidFill>
            <a:srgbClr val="CCFFFF"/>
          </a:solidFill>
          <a:ln w="9525">
            <a:noFill/>
          </a:ln>
        </p:spPr>
        <p:txBody>
          <a:bodyPr wrap="none">
            <a:spAutoFit/>
          </a:bodyPr>
          <a:p>
            <a:pPr algn="l" eaLnBrk="1" hangingPunct="1"/>
            <a:r>
              <a:rPr lang="zh-CN" altLang="en-US" sz="2800" b="1" dirty="0">
                <a:solidFill>
                  <a:srgbClr val="333399"/>
                </a:solidFill>
                <a:latin typeface="Times New Roman" panose="02020603050405020304" pitchFamily="18" charset="0"/>
              </a:rPr>
              <a:t>补码的构成方法：</a:t>
            </a:r>
            <a:r>
              <a:rPr lang="zh-CN" altLang="en-US" sz="2800" b="1" dirty="0">
                <a:solidFill>
                  <a:srgbClr val="333399"/>
                </a:solidFill>
                <a:latin typeface="Times New Roman" panose="02020603050405020304" pitchFamily="18" charset="0"/>
                <a:ea typeface="宋体" panose="02010600030101010101" pitchFamily="2" charset="-122"/>
              </a:rPr>
              <a:t> </a:t>
            </a:r>
            <a:endParaRPr lang="zh-CN" altLang="en-US" sz="2800" b="1" dirty="0">
              <a:solidFill>
                <a:srgbClr val="333399"/>
              </a:solidFill>
              <a:latin typeface="Times New Roman" panose="02020603050405020304" pitchFamily="18" charset="0"/>
              <a:ea typeface="宋体" panose="02010600030101010101" pitchFamily="2" charset="-122"/>
            </a:endParaRPr>
          </a:p>
        </p:txBody>
      </p:sp>
      <p:sp>
        <p:nvSpPr>
          <p:cNvPr id="2319371" name="Text Box 11"/>
          <p:cNvSpPr txBox="1"/>
          <p:nvPr/>
        </p:nvSpPr>
        <p:spPr>
          <a:xfrm>
            <a:off x="573088" y="2578100"/>
            <a:ext cx="1550987" cy="519113"/>
          </a:xfrm>
          <a:prstGeom prst="rect">
            <a:avLst/>
          </a:prstGeom>
          <a:noFill/>
          <a:ln w="9525">
            <a:noFill/>
          </a:ln>
        </p:spPr>
        <p:txBody>
          <a:bodyPr>
            <a:spAutoFit/>
          </a:bodyPr>
          <a:p>
            <a:pPr algn="l" eaLnBrk="1" hangingPunct="1"/>
            <a:r>
              <a:rPr lang="zh-CN" altLang="en-US" sz="2800" b="1" dirty="0">
                <a:solidFill>
                  <a:srgbClr val="FF0000"/>
                </a:solidFill>
                <a:latin typeface="黑体" panose="02010609060101010101" pitchFamily="49" charset="-122"/>
                <a:ea typeface="黑体" panose="02010609060101010101" pitchFamily="49" charset="-122"/>
              </a:rPr>
              <a:t>方法</a:t>
            </a:r>
            <a:r>
              <a:rPr lang="en-US" altLang="zh-CN" sz="2800" b="1">
                <a:solidFill>
                  <a:srgbClr val="FF0000"/>
                </a:solidFill>
                <a:latin typeface="黑体" panose="02010609060101010101" pitchFamily="49" charset="-122"/>
                <a:ea typeface="黑体" panose="02010609060101010101" pitchFamily="49" charset="-122"/>
              </a:rPr>
              <a:t>1</a:t>
            </a:r>
            <a:r>
              <a:rPr lang="zh-CN" altLang="en-US" sz="2800" b="1" dirty="0">
                <a:solidFill>
                  <a:srgbClr val="FF0000"/>
                </a:solidFill>
                <a:latin typeface="黑体" panose="02010609060101010101" pitchFamily="49" charset="-122"/>
                <a:ea typeface="黑体" panose="02010609060101010101" pitchFamily="49" charset="-122"/>
              </a:rPr>
              <a:t>： </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319372" name="Text Box 12"/>
          <p:cNvSpPr txBox="1"/>
          <p:nvPr/>
        </p:nvSpPr>
        <p:spPr>
          <a:xfrm>
            <a:off x="1985963" y="2565400"/>
            <a:ext cx="6581775" cy="946150"/>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补码符号位与偏移二进制码的符号位相反，而数值部分则相同。 </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9373" name="Text Box 13"/>
          <p:cNvSpPr txBox="1"/>
          <p:nvPr/>
        </p:nvSpPr>
        <p:spPr>
          <a:xfrm>
            <a:off x="576263" y="3633788"/>
            <a:ext cx="1271587" cy="519112"/>
          </a:xfrm>
          <a:prstGeom prst="rect">
            <a:avLst/>
          </a:prstGeom>
          <a:noFill/>
          <a:ln w="9525">
            <a:noFill/>
          </a:ln>
        </p:spPr>
        <p:txBody>
          <a:bodyPr>
            <a:spAutoFit/>
          </a:bodyPr>
          <a:p>
            <a:pPr algn="l" eaLnBrk="1" hangingPunct="1"/>
            <a:r>
              <a:rPr lang="zh-CN" altLang="en-US" sz="2800" b="1" dirty="0">
                <a:solidFill>
                  <a:srgbClr val="FF0000"/>
                </a:solidFill>
                <a:latin typeface="黑体" panose="02010609060101010101" pitchFamily="49" charset="-122"/>
                <a:ea typeface="黑体" panose="02010609060101010101" pitchFamily="49" charset="-122"/>
              </a:rPr>
              <a:t>方法</a:t>
            </a:r>
            <a:r>
              <a:rPr lang="en-US" altLang="zh-CN" sz="2800" b="1">
                <a:solidFill>
                  <a:srgbClr val="FF0000"/>
                </a:solidFill>
                <a:latin typeface="黑体" panose="02010609060101010101" pitchFamily="49" charset="-122"/>
                <a:ea typeface="黑体" panose="02010609060101010101" pitchFamily="49" charset="-122"/>
              </a:rPr>
              <a:t>2</a:t>
            </a:r>
            <a:r>
              <a:rPr lang="zh-CN" altLang="en-US" sz="2800" b="1" dirty="0">
                <a:solidFill>
                  <a:srgbClr val="FF0000"/>
                </a:solidFill>
                <a:latin typeface="黑体" panose="02010609060101010101" pitchFamily="49" charset="-122"/>
                <a:ea typeface="黑体" panose="02010609060101010101" pitchFamily="49" charset="-122"/>
              </a:rPr>
              <a:t>： </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319374" name="Text Box 14"/>
          <p:cNvSpPr txBox="1"/>
          <p:nvPr/>
        </p:nvSpPr>
        <p:spPr>
          <a:xfrm>
            <a:off x="2487613" y="3633788"/>
            <a:ext cx="4824412" cy="519112"/>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正数的补码就是二进制码；</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19375" name="Text Box 15"/>
          <p:cNvSpPr txBox="1"/>
          <p:nvPr/>
        </p:nvSpPr>
        <p:spPr>
          <a:xfrm>
            <a:off x="2482850" y="4175125"/>
            <a:ext cx="6084888" cy="946150"/>
          </a:xfrm>
          <a:prstGeom prst="rect">
            <a:avLst/>
          </a:prstGeom>
          <a:noFill/>
          <a:ln w="9525">
            <a:noFill/>
          </a:ln>
        </p:spPr>
        <p:txBody>
          <a:bodyPr>
            <a:spAutoFit/>
          </a:bodyPr>
          <a:p>
            <a:pPr algn="l" eaLnBrk="1" hangingPunct="1"/>
            <a:r>
              <a:rPr lang="zh-CN" altLang="en-US" sz="2800" b="1" dirty="0">
                <a:solidFill>
                  <a:schemeClr val="tx1"/>
                </a:solidFill>
                <a:latin typeface="黑体" panose="02010609060101010101" pitchFamily="49" charset="-122"/>
                <a:ea typeface="黑体" panose="02010609060101010101" pitchFamily="49" charset="-122"/>
              </a:rPr>
              <a:t>负数的补码是先把相应正数的二进制码所有位取反，然后，在最低位加</a:t>
            </a:r>
            <a:r>
              <a:rPr lang="en-US" altLang="zh-CN" sz="2800" b="1">
                <a:solidFill>
                  <a:schemeClr val="tx1"/>
                </a:solidFill>
                <a:latin typeface="黑体" panose="02010609060101010101" pitchFamily="49" charset="-122"/>
                <a:ea typeface="黑体" panose="02010609060101010101" pitchFamily="49" charset="-122"/>
              </a:rPr>
              <a:t>1</a:t>
            </a:r>
            <a:r>
              <a:rPr lang="zh-CN" altLang="en-US" sz="2800" b="1" dirty="0">
                <a:solidFill>
                  <a:schemeClr val="tx1"/>
                </a:solidFill>
                <a:latin typeface="黑体" panose="02010609060101010101" pitchFamily="49" charset="-122"/>
                <a:ea typeface="黑体" panose="02010609060101010101" pitchFamily="49" charset="-122"/>
              </a:rPr>
              <a:t>。</a:t>
            </a:r>
            <a:endParaRPr lang="zh-CN" altLang="en-US" sz="2800" b="1" dirty="0">
              <a:solidFill>
                <a:schemeClr val="tx1"/>
              </a:solidFill>
              <a:latin typeface="黑体" panose="02010609060101010101" pitchFamily="49" charset="-122"/>
              <a:ea typeface="黑体" panose="02010609060101010101" pitchFamily="49" charset="-122"/>
            </a:endParaRPr>
          </a:p>
        </p:txBody>
      </p:sp>
      <p:pic>
        <p:nvPicPr>
          <p:cNvPr id="2319377" name="Picture 17" descr="kugel_blau"/>
          <p:cNvPicPr>
            <a:picLocks noChangeAspect="1"/>
          </p:cNvPicPr>
          <p:nvPr/>
        </p:nvPicPr>
        <p:blipFill>
          <a:blip r:embed="rId1"/>
          <a:stretch>
            <a:fillRect/>
          </a:stretch>
        </p:blipFill>
        <p:spPr>
          <a:xfrm>
            <a:off x="2087563" y="3808413"/>
            <a:ext cx="366712" cy="244475"/>
          </a:xfrm>
          <a:prstGeom prst="rect">
            <a:avLst/>
          </a:prstGeom>
          <a:noFill/>
          <a:ln w="9525">
            <a:noFill/>
          </a:ln>
        </p:spPr>
      </p:pic>
      <p:sp>
        <p:nvSpPr>
          <p:cNvPr id="2319379" name="Text Box 19"/>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9381" name="Text Box 21"/>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pic>
        <p:nvPicPr>
          <p:cNvPr id="2319382" name="Picture 22" descr="kugel_blau"/>
          <p:cNvPicPr>
            <a:picLocks noChangeAspect="1"/>
          </p:cNvPicPr>
          <p:nvPr/>
        </p:nvPicPr>
        <p:blipFill>
          <a:blip r:embed="rId2"/>
          <a:stretch>
            <a:fillRect/>
          </a:stretch>
        </p:blipFill>
        <p:spPr>
          <a:xfrm>
            <a:off x="2087563" y="4360863"/>
            <a:ext cx="411162" cy="244475"/>
          </a:xfrm>
          <a:prstGeom prst="rect">
            <a:avLst/>
          </a:prstGeom>
          <a:noFill/>
          <a:ln w="9525">
            <a:noFill/>
          </a:ln>
        </p:spPr>
      </p:pic>
      <p:grpSp>
        <p:nvGrpSpPr>
          <p:cNvPr id="2319387" name="Group 27"/>
          <p:cNvGrpSpPr/>
          <p:nvPr/>
        </p:nvGrpSpPr>
        <p:grpSpPr>
          <a:xfrm>
            <a:off x="693738" y="5210175"/>
            <a:ext cx="7874000" cy="882650"/>
            <a:chOff x="437" y="3282"/>
            <a:chExt cx="4960" cy="556"/>
          </a:xfrm>
        </p:grpSpPr>
        <p:sp>
          <p:nvSpPr>
            <p:cNvPr id="72719" name="Rectangle 26"/>
            <p:cNvSpPr/>
            <p:nvPr/>
          </p:nvSpPr>
          <p:spPr>
            <a:xfrm>
              <a:off x="493" y="3282"/>
              <a:ext cx="4904" cy="556"/>
            </a:xfrm>
            <a:prstGeom prst="rect">
              <a:avLst/>
            </a:prstGeom>
            <a:solidFill>
              <a:srgbClr val="FFFF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72720" name="Text Box 23"/>
            <p:cNvSpPr txBox="1"/>
            <p:nvPr/>
          </p:nvSpPr>
          <p:spPr>
            <a:xfrm>
              <a:off x="437" y="3385"/>
              <a:ext cx="1111" cy="327"/>
            </a:xfrm>
            <a:prstGeom prst="rect">
              <a:avLst/>
            </a:prstGeom>
            <a:noFill/>
            <a:ln w="9525">
              <a:noFill/>
            </a:ln>
          </p:spPr>
          <p:txBody>
            <a:bodyPr>
              <a:spAutoFit/>
            </a:bodyPr>
            <a:p>
              <a:pPr algn="ctr" eaLnBrk="1" hangingPunct="1">
                <a:spcBef>
                  <a:spcPct val="50000"/>
                </a:spcBef>
              </a:pPr>
              <a:r>
                <a:rPr lang="zh-CN" altLang="en-US" sz="2800" b="1" dirty="0">
                  <a:solidFill>
                    <a:srgbClr val="FF0000"/>
                  </a:solidFill>
                  <a:latin typeface="楷体_GB2312" pitchFamily="49" charset="-122"/>
                </a:rPr>
                <a:t>例子：</a:t>
              </a:r>
              <a:endParaRPr lang="zh-CN" altLang="en-US" sz="2800" b="1" dirty="0">
                <a:solidFill>
                  <a:srgbClr val="FF0000"/>
                </a:solidFill>
                <a:latin typeface="楷体_GB2312" pitchFamily="49" charset="-122"/>
              </a:endParaRPr>
            </a:p>
          </p:txBody>
        </p:sp>
        <p:graphicFrame>
          <p:nvGraphicFramePr>
            <p:cNvPr id="72721" name="Object 24"/>
            <p:cNvGraphicFramePr>
              <a:graphicFrameLocks noChangeAspect="1"/>
            </p:cNvGraphicFramePr>
            <p:nvPr/>
          </p:nvGraphicFramePr>
          <p:xfrm>
            <a:off x="1292" y="3282"/>
            <a:ext cx="1315" cy="556"/>
          </p:xfrm>
          <a:graphic>
            <a:graphicData uri="http://schemas.openxmlformats.org/presentationml/2006/ole">
              <mc:AlternateContent xmlns:mc="http://schemas.openxmlformats.org/markup-compatibility/2006">
                <mc:Choice xmlns:v="urn:schemas-microsoft-com:vml" Requires="v">
                  <p:oleObj spid="_x0000_s3173" name="" r:id="rId3" imgW="875665" imgH="393700" progId="Equation.3">
                    <p:embed/>
                  </p:oleObj>
                </mc:Choice>
                <mc:Fallback>
                  <p:oleObj name="" r:id="rId3" imgW="875665" imgH="393700" progId="Equation.3">
                    <p:embed/>
                    <p:pic>
                      <p:nvPicPr>
                        <p:cNvPr id="0" name="图片 3172"/>
                        <p:cNvPicPr/>
                        <p:nvPr/>
                      </p:nvPicPr>
                      <p:blipFill>
                        <a:blip r:embed="rId4"/>
                        <a:stretch>
                          <a:fillRect/>
                        </a:stretch>
                      </p:blipFill>
                      <p:spPr>
                        <a:xfrm>
                          <a:off x="1292" y="3282"/>
                          <a:ext cx="1315" cy="556"/>
                        </a:xfrm>
                        <a:prstGeom prst="rect">
                          <a:avLst/>
                        </a:prstGeom>
                        <a:noFill/>
                        <a:ln w="38100">
                          <a:noFill/>
                          <a:miter/>
                        </a:ln>
                      </p:spPr>
                    </p:pic>
                  </p:oleObj>
                </mc:Fallback>
              </mc:AlternateContent>
            </a:graphicData>
          </a:graphic>
        </p:graphicFrame>
        <p:graphicFrame>
          <p:nvGraphicFramePr>
            <p:cNvPr id="72722" name="Object 25"/>
            <p:cNvGraphicFramePr>
              <a:graphicFrameLocks noChangeAspect="1"/>
            </p:cNvGraphicFramePr>
            <p:nvPr/>
          </p:nvGraphicFramePr>
          <p:xfrm>
            <a:off x="2789" y="3282"/>
            <a:ext cx="2472" cy="556"/>
          </p:xfrm>
          <a:graphic>
            <a:graphicData uri="http://schemas.openxmlformats.org/presentationml/2006/ole">
              <mc:AlternateContent xmlns:mc="http://schemas.openxmlformats.org/markup-compatibility/2006">
                <mc:Choice xmlns:v="urn:schemas-microsoft-com:vml" Requires="v">
                  <p:oleObj spid="_x0000_s3174" name="" r:id="rId5" imgW="1625600" imgH="393700" progId="Equation.3">
                    <p:embed/>
                  </p:oleObj>
                </mc:Choice>
                <mc:Fallback>
                  <p:oleObj name="" r:id="rId5" imgW="1625600" imgH="393700" progId="Equation.3">
                    <p:embed/>
                    <p:pic>
                      <p:nvPicPr>
                        <p:cNvPr id="0" name="图片 3173"/>
                        <p:cNvPicPr/>
                        <p:nvPr/>
                      </p:nvPicPr>
                      <p:blipFill>
                        <a:blip r:embed="rId6"/>
                        <a:stretch>
                          <a:fillRect/>
                        </a:stretch>
                      </p:blipFill>
                      <p:spPr>
                        <a:xfrm>
                          <a:off x="2789" y="3282"/>
                          <a:ext cx="2472" cy="556"/>
                        </a:xfrm>
                        <a:prstGeom prst="rect">
                          <a:avLst/>
                        </a:prstGeom>
                        <a:noFill/>
                        <a:ln w="38100">
                          <a:noFill/>
                          <a:miter/>
                        </a:ln>
                      </p:spPr>
                    </p:pic>
                  </p:oleObj>
                </mc:Fallback>
              </mc:AlternateContent>
            </a:graphicData>
          </a:graphic>
        </p:graphicFrame>
      </p:grpSp>
      <p:sp>
        <p:nvSpPr>
          <p:cNvPr id="72724"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9369"/>
                                        </p:tgtEl>
                                        <p:attrNameLst>
                                          <p:attrName>style.visibility</p:attrName>
                                        </p:attrNameLst>
                                      </p:cBhvr>
                                      <p:to>
                                        <p:strVal val="visible"/>
                                      </p:to>
                                    </p:set>
                                    <p:animEffect transition="in" filter="dissolve">
                                      <p:cBhvr>
                                        <p:cTn id="7" dur="500"/>
                                        <p:tgtEl>
                                          <p:spTgt spid="231936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19370"/>
                                        </p:tgtEl>
                                        <p:attrNameLst>
                                          <p:attrName>style.visibility</p:attrName>
                                        </p:attrNameLst>
                                      </p:cBhvr>
                                      <p:to>
                                        <p:strVal val="visible"/>
                                      </p:to>
                                    </p:set>
                                    <p:animEffect transition="in" filter="dissolve">
                                      <p:cBhvr>
                                        <p:cTn id="12" dur="500"/>
                                        <p:tgtEl>
                                          <p:spTgt spid="231937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19371"/>
                                        </p:tgtEl>
                                        <p:attrNameLst>
                                          <p:attrName>style.visibility</p:attrName>
                                        </p:attrNameLst>
                                      </p:cBhvr>
                                      <p:to>
                                        <p:strVal val="visible"/>
                                      </p:to>
                                    </p:set>
                                    <p:animEffect transition="in" filter="dissolve">
                                      <p:cBhvr>
                                        <p:cTn id="17" dur="500"/>
                                        <p:tgtEl>
                                          <p:spTgt spid="2319371"/>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19372"/>
                                        </p:tgtEl>
                                        <p:attrNameLst>
                                          <p:attrName>style.visibility</p:attrName>
                                        </p:attrNameLst>
                                      </p:cBhvr>
                                      <p:to>
                                        <p:strVal val="visible"/>
                                      </p:to>
                                    </p:set>
                                    <p:animEffect transition="in" filter="dissolve">
                                      <p:cBhvr>
                                        <p:cTn id="20" dur="500"/>
                                        <p:tgtEl>
                                          <p:spTgt spid="231937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319373"/>
                                        </p:tgtEl>
                                        <p:attrNameLst>
                                          <p:attrName>style.visibility</p:attrName>
                                        </p:attrNameLst>
                                      </p:cBhvr>
                                      <p:to>
                                        <p:strVal val="visible"/>
                                      </p:to>
                                    </p:set>
                                    <p:animEffect transition="in" filter="dissolve">
                                      <p:cBhvr>
                                        <p:cTn id="25" dur="500"/>
                                        <p:tgtEl>
                                          <p:spTgt spid="2319373"/>
                                        </p:tgtEl>
                                      </p:cBhvr>
                                    </p:animEffect>
                                  </p:childTnLst>
                                </p:cTn>
                              </p:par>
                              <p:par>
                                <p:cTn id="26" presetID="9" presetClass="entr" presetSubtype="0" fill="hold" nodeType="withEffect">
                                  <p:stCondLst>
                                    <p:cond delay="0"/>
                                  </p:stCondLst>
                                  <p:childTnLst>
                                    <p:set>
                                      <p:cBhvr>
                                        <p:cTn id="27" dur="1" fill="hold">
                                          <p:stCondLst>
                                            <p:cond delay="0"/>
                                          </p:stCondLst>
                                        </p:cTn>
                                        <p:tgtEl>
                                          <p:spTgt spid="2319377"/>
                                        </p:tgtEl>
                                        <p:attrNameLst>
                                          <p:attrName>style.visibility</p:attrName>
                                        </p:attrNameLst>
                                      </p:cBhvr>
                                      <p:to>
                                        <p:strVal val="visible"/>
                                      </p:to>
                                    </p:set>
                                    <p:animEffect transition="in" filter="dissolve">
                                      <p:cBhvr>
                                        <p:cTn id="28" dur="500"/>
                                        <p:tgtEl>
                                          <p:spTgt spid="2319377"/>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319374"/>
                                        </p:tgtEl>
                                        <p:attrNameLst>
                                          <p:attrName>style.visibility</p:attrName>
                                        </p:attrNameLst>
                                      </p:cBhvr>
                                      <p:to>
                                        <p:strVal val="visible"/>
                                      </p:to>
                                    </p:set>
                                    <p:animEffect transition="in" filter="dissolve">
                                      <p:cBhvr>
                                        <p:cTn id="31" dur="500"/>
                                        <p:tgtEl>
                                          <p:spTgt spid="231937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319382"/>
                                        </p:tgtEl>
                                        <p:attrNameLst>
                                          <p:attrName>style.visibility</p:attrName>
                                        </p:attrNameLst>
                                      </p:cBhvr>
                                      <p:to>
                                        <p:strVal val="visible"/>
                                      </p:to>
                                    </p:set>
                                    <p:animEffect transition="in" filter="dissolve">
                                      <p:cBhvr>
                                        <p:cTn id="36" dur="500"/>
                                        <p:tgtEl>
                                          <p:spTgt spid="2319382"/>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2319375"/>
                                        </p:tgtEl>
                                        <p:attrNameLst>
                                          <p:attrName>style.visibility</p:attrName>
                                        </p:attrNameLst>
                                      </p:cBhvr>
                                      <p:to>
                                        <p:strVal val="visible"/>
                                      </p:to>
                                    </p:set>
                                    <p:animEffect transition="in" filter="dissolve">
                                      <p:cBhvr>
                                        <p:cTn id="39" dur="500"/>
                                        <p:tgtEl>
                                          <p:spTgt spid="2319375"/>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nodeType="clickEffect">
                                  <p:stCondLst>
                                    <p:cond delay="0"/>
                                  </p:stCondLst>
                                  <p:childTnLst>
                                    <p:set>
                                      <p:cBhvr>
                                        <p:cTn id="43" dur="1" fill="hold">
                                          <p:stCondLst>
                                            <p:cond delay="0"/>
                                          </p:stCondLst>
                                        </p:cTn>
                                        <p:tgtEl>
                                          <p:spTgt spid="2319387"/>
                                        </p:tgtEl>
                                        <p:attrNameLst>
                                          <p:attrName>style.visibility</p:attrName>
                                        </p:attrNameLst>
                                      </p:cBhvr>
                                      <p:to>
                                        <p:strVal val="visible"/>
                                      </p:to>
                                    </p:set>
                                    <p:animEffect transition="in" filter="dissolve">
                                      <p:cBhvr>
                                        <p:cTn id="44" dur="500"/>
                                        <p:tgtEl>
                                          <p:spTgt spid="23193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9369" grpId="0"/>
      <p:bldP spid="2319370" grpId="0" bldLvl="0" animBg="1"/>
      <p:bldP spid="2319371" grpId="0"/>
      <p:bldP spid="2319372" grpId="0"/>
      <p:bldP spid="2319373" grpId="0"/>
      <p:bldP spid="2319374" grpId="0"/>
      <p:bldP spid="2319375"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20414" name="Rectangle 30"/>
          <p:cNvSpPr/>
          <p:nvPr/>
        </p:nvSpPr>
        <p:spPr>
          <a:xfrm>
            <a:off x="611188" y="3068638"/>
            <a:ext cx="8021637" cy="1943100"/>
          </a:xfrm>
          <a:prstGeom prst="rect">
            <a:avLst/>
          </a:prstGeom>
          <a:solidFill>
            <a:srgbClr val="CCFFFF"/>
          </a:solidFill>
          <a:ln w="9525" cap="flat" cmpd="sng">
            <a:solidFill>
              <a:srgbClr val="FF6600"/>
            </a:solidFill>
            <a:prstDash val="solid"/>
            <a:miter/>
            <a:headEnd type="none" w="med" len="med"/>
            <a:tailEnd type="none" w="med" len="med"/>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20401" name="Text Box 17"/>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73732" name="Text Box 18"/>
          <p:cNvSpPr txBox="1"/>
          <p:nvPr/>
        </p:nvSpPr>
        <p:spPr>
          <a:xfrm>
            <a:off x="757238" y="1360488"/>
            <a:ext cx="1793875" cy="519112"/>
          </a:xfrm>
          <a:prstGeom prst="rect">
            <a:avLst/>
          </a:prstGeom>
          <a:noFill/>
          <a:ln w="9525">
            <a:noFill/>
          </a:ln>
        </p:spPr>
        <p:txBody>
          <a:bodyPr wrap="none">
            <a:spAutoFit/>
          </a:bodyPr>
          <a:p>
            <a:pPr algn="l" eaLnBrk="1" hangingPunct="1">
              <a:buClr>
                <a:srgbClr val="FF0000"/>
              </a:buClr>
              <a:buFont typeface="Wingdings" panose="05000000000000000000" pitchFamily="2" charset="2"/>
            </a:pPr>
            <a:r>
              <a:rPr lang="en-US" altLang="zh-CN" sz="2800" b="1">
                <a:solidFill>
                  <a:schemeClr val="tx1"/>
                </a:solidFill>
                <a:latin typeface="黑体" panose="02010609060101010101" pitchFamily="49" charset="-122"/>
                <a:ea typeface="黑体" panose="02010609060101010101" pitchFamily="49" charset="-122"/>
              </a:rPr>
              <a:t>3.2</a:t>
            </a:r>
            <a:r>
              <a:rPr lang="zh-CN" altLang="en-US" sz="2800" b="1" dirty="0">
                <a:solidFill>
                  <a:schemeClr val="tx1"/>
                </a:solidFill>
                <a:latin typeface="黑体" panose="02010609060101010101" pitchFamily="49" charset="-122"/>
                <a:ea typeface="黑体" panose="02010609060101010101" pitchFamily="49" charset="-122"/>
              </a:rPr>
              <a:t>的补码</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2320404" name="Text Box 20"/>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sp>
        <p:nvSpPr>
          <p:cNvPr id="2320405" name="Text Box 21"/>
          <p:cNvSpPr txBox="1"/>
          <p:nvPr/>
        </p:nvSpPr>
        <p:spPr>
          <a:xfrm>
            <a:off x="720725" y="1989138"/>
            <a:ext cx="1354138" cy="519112"/>
          </a:xfrm>
          <a:prstGeom prst="rect">
            <a:avLst/>
          </a:prstGeom>
          <a:noFill/>
          <a:ln w="9525">
            <a:noFill/>
          </a:ln>
        </p:spPr>
        <p:txBody>
          <a:bodyPr>
            <a:spAutoFit/>
          </a:bodyPr>
          <a:p>
            <a:pPr algn="l" eaLnBrk="1" hangingPunct="1"/>
            <a:r>
              <a:rPr lang="zh-CN" altLang="en-US" sz="2800" b="1" dirty="0">
                <a:solidFill>
                  <a:srgbClr val="FF0000"/>
                </a:solidFill>
                <a:latin typeface="Times New Roman" panose="02020603050405020304" pitchFamily="18" charset="0"/>
              </a:rPr>
              <a:t>优点：</a:t>
            </a:r>
            <a:endParaRPr lang="zh-CN" altLang="en-US" sz="2800" b="1" dirty="0">
              <a:solidFill>
                <a:srgbClr val="FF0000"/>
              </a:solidFill>
              <a:latin typeface="Times New Roman" panose="02020603050405020304" pitchFamily="18" charset="0"/>
            </a:endParaRPr>
          </a:p>
        </p:txBody>
      </p:sp>
      <p:sp>
        <p:nvSpPr>
          <p:cNvPr id="2320406" name="Text Box 22"/>
          <p:cNvSpPr txBox="1"/>
          <p:nvPr/>
        </p:nvSpPr>
        <p:spPr>
          <a:xfrm>
            <a:off x="1690688" y="1989138"/>
            <a:ext cx="7296150" cy="946150"/>
          </a:xfrm>
          <a:prstGeom prst="rect">
            <a:avLst/>
          </a:prstGeom>
          <a:noFill/>
          <a:ln w="9525">
            <a:noFill/>
          </a:ln>
        </p:spPr>
        <p:txBody>
          <a:bodyPr>
            <a:spAutoFit/>
          </a:bodyPr>
          <a:p>
            <a:pPr algn="l" eaLnBrk="1" hangingPunct="1"/>
            <a:r>
              <a:rPr lang="zh-CN" altLang="en-US" sz="2800" b="1" dirty="0">
                <a:solidFill>
                  <a:srgbClr val="3333FF"/>
                </a:solidFill>
                <a:latin typeface="楷体_GB2312" pitchFamily="49" charset="-122"/>
              </a:rPr>
              <a:t>转换器容易实现，对于数字的代数运算非常方便，因为减法可以用加法代替。 </a:t>
            </a:r>
            <a:endParaRPr lang="zh-CN" altLang="en-US" sz="2800" b="1" dirty="0">
              <a:solidFill>
                <a:srgbClr val="3333FF"/>
              </a:solidFill>
              <a:latin typeface="楷体_GB2312" pitchFamily="49" charset="-122"/>
            </a:endParaRPr>
          </a:p>
        </p:txBody>
      </p:sp>
      <p:sp>
        <p:nvSpPr>
          <p:cNvPr id="2320407" name="Text Box 23"/>
          <p:cNvSpPr txBox="1"/>
          <p:nvPr/>
        </p:nvSpPr>
        <p:spPr>
          <a:xfrm>
            <a:off x="755650" y="5229225"/>
            <a:ext cx="1314450" cy="519113"/>
          </a:xfrm>
          <a:prstGeom prst="rect">
            <a:avLst/>
          </a:prstGeom>
          <a:noFill/>
          <a:ln w="9525">
            <a:noFill/>
          </a:ln>
        </p:spPr>
        <p:txBody>
          <a:bodyPr>
            <a:spAutoFit/>
          </a:bodyPr>
          <a:p>
            <a:pPr algn="l" eaLnBrk="1" hangingPunct="1"/>
            <a:r>
              <a:rPr lang="zh-CN" altLang="en-US" sz="2800" b="1" dirty="0">
                <a:solidFill>
                  <a:srgbClr val="FF0000"/>
                </a:solidFill>
                <a:latin typeface="Times New Roman" panose="02020603050405020304" pitchFamily="18" charset="0"/>
              </a:rPr>
              <a:t>缺点：</a:t>
            </a:r>
            <a:endParaRPr lang="zh-CN" altLang="en-US" sz="2800" b="1" dirty="0">
              <a:solidFill>
                <a:srgbClr val="FF0000"/>
              </a:solidFill>
              <a:latin typeface="Times New Roman" panose="02020603050405020304" pitchFamily="18" charset="0"/>
            </a:endParaRPr>
          </a:p>
        </p:txBody>
      </p:sp>
      <p:sp>
        <p:nvSpPr>
          <p:cNvPr id="2320408" name="Text Box 24"/>
          <p:cNvSpPr txBox="1"/>
          <p:nvPr/>
        </p:nvSpPr>
        <p:spPr>
          <a:xfrm>
            <a:off x="1733550" y="5233988"/>
            <a:ext cx="5708650" cy="519112"/>
          </a:xfrm>
          <a:prstGeom prst="rect">
            <a:avLst/>
          </a:prstGeom>
          <a:noFill/>
          <a:ln w="9525">
            <a:noFill/>
          </a:ln>
        </p:spPr>
        <p:txBody>
          <a:bodyPr>
            <a:spAutoFit/>
          </a:bodyPr>
          <a:p>
            <a:pPr algn="l" eaLnBrk="1" hangingPunct="1"/>
            <a:r>
              <a:rPr lang="zh-CN" altLang="en-US" sz="2800" b="1" dirty="0">
                <a:solidFill>
                  <a:srgbClr val="3333FF"/>
                </a:solidFill>
                <a:latin typeface="楷体_GB2312" pitchFamily="49" charset="-122"/>
              </a:rPr>
              <a:t>在零点附近发生主码跃迁。</a:t>
            </a:r>
            <a:endParaRPr lang="zh-CN" altLang="en-US" sz="2800" b="1" dirty="0">
              <a:solidFill>
                <a:srgbClr val="3333FF"/>
              </a:solidFill>
              <a:latin typeface="楷体_GB2312" pitchFamily="49" charset="-122"/>
            </a:endParaRPr>
          </a:p>
        </p:txBody>
      </p:sp>
      <p:sp>
        <p:nvSpPr>
          <p:cNvPr id="2320409" name="Text Box 25"/>
          <p:cNvSpPr txBox="1"/>
          <p:nvPr/>
        </p:nvSpPr>
        <p:spPr>
          <a:xfrm>
            <a:off x="792163" y="3319463"/>
            <a:ext cx="1223962" cy="519112"/>
          </a:xfrm>
          <a:prstGeom prst="rect">
            <a:avLst/>
          </a:prstGeom>
          <a:noFill/>
          <a:ln w="9525">
            <a:noFill/>
          </a:ln>
        </p:spPr>
        <p:txBody>
          <a:bodyPr>
            <a:spAutoFit/>
          </a:bodyPr>
          <a:p>
            <a:pPr algn="ctr" eaLnBrk="1" hangingPunct="1">
              <a:spcBef>
                <a:spcPct val="50000"/>
              </a:spcBef>
            </a:pPr>
            <a:r>
              <a:rPr lang="zh-CN" altLang="en-US" sz="2800" b="1" dirty="0">
                <a:solidFill>
                  <a:srgbClr val="FF0000"/>
                </a:solidFill>
                <a:latin typeface="楷体_GB2312" pitchFamily="49" charset="-122"/>
              </a:rPr>
              <a:t>例子：</a:t>
            </a:r>
            <a:endParaRPr lang="zh-CN" altLang="en-US" sz="2800" b="1" dirty="0">
              <a:solidFill>
                <a:srgbClr val="FF0000"/>
              </a:solidFill>
              <a:latin typeface="楷体_GB2312" pitchFamily="49" charset="-122"/>
            </a:endParaRPr>
          </a:p>
        </p:txBody>
      </p:sp>
      <p:graphicFrame>
        <p:nvGraphicFramePr>
          <p:cNvPr id="2320410" name="Object 26"/>
          <p:cNvGraphicFramePr>
            <a:graphicFrameLocks noChangeAspect="1"/>
          </p:cNvGraphicFramePr>
          <p:nvPr/>
        </p:nvGraphicFramePr>
        <p:xfrm>
          <a:off x="1943100" y="3208338"/>
          <a:ext cx="4484688" cy="765175"/>
        </p:xfrm>
        <a:graphic>
          <a:graphicData uri="http://schemas.openxmlformats.org/presentationml/2006/ole">
            <mc:AlternateContent xmlns:mc="http://schemas.openxmlformats.org/markup-compatibility/2006">
              <mc:Choice xmlns:v="urn:schemas-microsoft-com:vml" Requires="v">
                <p:oleObj spid="_x0000_s3177" name="" r:id="rId1" imgW="1981200" imgH="393700" progId="Equation.3">
                  <p:embed/>
                </p:oleObj>
              </mc:Choice>
              <mc:Fallback>
                <p:oleObj name="" r:id="rId1" imgW="1981200" imgH="393700" progId="Equation.3">
                  <p:embed/>
                  <p:pic>
                    <p:nvPicPr>
                      <p:cNvPr id="0" name="图片 3176"/>
                      <p:cNvPicPr/>
                      <p:nvPr/>
                    </p:nvPicPr>
                    <p:blipFill>
                      <a:blip r:embed="rId2"/>
                      <a:stretch>
                        <a:fillRect/>
                      </a:stretch>
                    </p:blipFill>
                    <p:spPr>
                      <a:xfrm>
                        <a:off x="1943100" y="3208338"/>
                        <a:ext cx="4484688" cy="765175"/>
                      </a:xfrm>
                      <a:prstGeom prst="rect">
                        <a:avLst/>
                      </a:prstGeom>
                      <a:noFill/>
                      <a:ln w="38100">
                        <a:noFill/>
                        <a:miter/>
                      </a:ln>
                    </p:spPr>
                  </p:pic>
                </p:oleObj>
              </mc:Fallback>
            </mc:AlternateContent>
          </a:graphicData>
        </a:graphic>
      </p:graphicFrame>
      <p:sp>
        <p:nvSpPr>
          <p:cNvPr id="2320411" name="Text Box 27"/>
          <p:cNvSpPr txBox="1"/>
          <p:nvPr/>
        </p:nvSpPr>
        <p:spPr>
          <a:xfrm>
            <a:off x="6227763" y="3330575"/>
            <a:ext cx="2362200" cy="457200"/>
          </a:xfrm>
          <a:prstGeom prst="rect">
            <a:avLst/>
          </a:prstGeom>
          <a:noFill/>
          <a:ln w="9525">
            <a:noFill/>
          </a:ln>
        </p:spPr>
        <p:txBody>
          <a:bodyPr>
            <a:spAutoFit/>
          </a:bodyPr>
          <a:p>
            <a:pPr algn="ctr" eaLnBrk="1" hangingPunct="1">
              <a:spcBef>
                <a:spcPct val="50000"/>
              </a:spcBef>
            </a:pPr>
            <a:r>
              <a:rPr lang="en-US" altLang="zh-CN" sz="2400" b="1">
                <a:solidFill>
                  <a:srgbClr val="333399"/>
                </a:solidFill>
                <a:latin typeface="楷体_GB2312" pitchFamily="49" charset="-122"/>
              </a:rPr>
              <a:t>(</a:t>
            </a:r>
            <a:r>
              <a:rPr lang="zh-CN" altLang="en-US" sz="2400" b="1" dirty="0">
                <a:solidFill>
                  <a:srgbClr val="333399"/>
                </a:solidFill>
                <a:latin typeface="楷体_GB2312" pitchFamily="49" charset="-122"/>
              </a:rPr>
              <a:t>不考虑进位</a:t>
            </a:r>
            <a:r>
              <a:rPr lang="en-US" altLang="zh-CN" sz="2400" b="1">
                <a:solidFill>
                  <a:srgbClr val="333399"/>
                </a:solidFill>
                <a:latin typeface="楷体_GB2312" pitchFamily="49" charset="-122"/>
              </a:rPr>
              <a:t>)</a:t>
            </a:r>
            <a:endParaRPr lang="en-US" altLang="zh-CN" sz="2400" b="1">
              <a:solidFill>
                <a:srgbClr val="333399"/>
              </a:solidFill>
              <a:latin typeface="楷体_GB2312" pitchFamily="49" charset="-122"/>
            </a:endParaRPr>
          </a:p>
        </p:txBody>
      </p:sp>
      <p:graphicFrame>
        <p:nvGraphicFramePr>
          <p:cNvPr id="2320412" name="Object 28"/>
          <p:cNvGraphicFramePr>
            <a:graphicFrameLocks noChangeAspect="1"/>
          </p:cNvGraphicFramePr>
          <p:nvPr/>
        </p:nvGraphicFramePr>
        <p:xfrm>
          <a:off x="1943100" y="4103688"/>
          <a:ext cx="4484688" cy="765175"/>
        </p:xfrm>
        <a:graphic>
          <a:graphicData uri="http://schemas.openxmlformats.org/presentationml/2006/ole">
            <mc:AlternateContent xmlns:mc="http://schemas.openxmlformats.org/markup-compatibility/2006">
              <mc:Choice xmlns:v="urn:schemas-microsoft-com:vml" Requires="v">
                <p:oleObj spid="_x0000_s3175" name="" r:id="rId3" imgW="1981200" imgH="393700" progId="Equation.3">
                  <p:embed/>
                </p:oleObj>
              </mc:Choice>
              <mc:Fallback>
                <p:oleObj name="" r:id="rId3" imgW="1981200" imgH="393700" progId="Equation.3">
                  <p:embed/>
                  <p:pic>
                    <p:nvPicPr>
                      <p:cNvPr id="0" name="图片 3174"/>
                      <p:cNvPicPr/>
                      <p:nvPr/>
                    </p:nvPicPr>
                    <p:blipFill>
                      <a:blip r:embed="rId4"/>
                      <a:stretch>
                        <a:fillRect/>
                      </a:stretch>
                    </p:blipFill>
                    <p:spPr>
                      <a:xfrm>
                        <a:off x="1943100" y="4103688"/>
                        <a:ext cx="4484688" cy="765175"/>
                      </a:xfrm>
                      <a:prstGeom prst="rect">
                        <a:avLst/>
                      </a:prstGeom>
                      <a:noFill/>
                      <a:ln w="38100">
                        <a:noFill/>
                        <a:miter/>
                      </a:ln>
                    </p:spPr>
                  </p:pic>
                </p:oleObj>
              </mc:Fallback>
            </mc:AlternateContent>
          </a:graphicData>
        </a:graphic>
      </p:graphicFrame>
      <p:sp>
        <p:nvSpPr>
          <p:cNvPr id="2320413" name="Text Box 29"/>
          <p:cNvSpPr txBox="1"/>
          <p:nvPr/>
        </p:nvSpPr>
        <p:spPr>
          <a:xfrm>
            <a:off x="6227763" y="4225925"/>
            <a:ext cx="2362200" cy="457200"/>
          </a:xfrm>
          <a:prstGeom prst="rect">
            <a:avLst/>
          </a:prstGeom>
          <a:noFill/>
          <a:ln w="9525">
            <a:noFill/>
          </a:ln>
        </p:spPr>
        <p:txBody>
          <a:bodyPr>
            <a:spAutoFit/>
          </a:bodyPr>
          <a:p>
            <a:pPr algn="ctr" eaLnBrk="1" hangingPunct="1">
              <a:spcBef>
                <a:spcPct val="50000"/>
              </a:spcBef>
            </a:pPr>
            <a:r>
              <a:rPr lang="en-US" altLang="zh-CN" sz="2400" b="1">
                <a:solidFill>
                  <a:srgbClr val="333399"/>
                </a:solidFill>
                <a:latin typeface="楷体_GB2312" pitchFamily="49" charset="-122"/>
              </a:rPr>
              <a:t>(</a:t>
            </a:r>
            <a:r>
              <a:rPr lang="zh-CN" altLang="en-US" sz="2400" b="1" dirty="0">
                <a:solidFill>
                  <a:srgbClr val="333399"/>
                </a:solidFill>
                <a:latin typeface="楷体_GB2312" pitchFamily="49" charset="-122"/>
              </a:rPr>
              <a:t>不考虑进位</a:t>
            </a:r>
            <a:r>
              <a:rPr lang="en-US" altLang="zh-CN" sz="2400" b="1">
                <a:solidFill>
                  <a:srgbClr val="333399"/>
                </a:solidFill>
                <a:latin typeface="楷体_GB2312" pitchFamily="49" charset="-122"/>
              </a:rPr>
              <a:t>)</a:t>
            </a:r>
            <a:endParaRPr lang="en-US" altLang="zh-CN" sz="2400" b="1">
              <a:solidFill>
                <a:srgbClr val="333399"/>
              </a:solidFill>
              <a:latin typeface="楷体_GB2312" pitchFamily="49" charset="-122"/>
            </a:endParaRPr>
          </a:p>
        </p:txBody>
      </p:sp>
      <p:sp>
        <p:nvSpPr>
          <p:cNvPr id="73745" name="Text Box 2"/>
          <p:cNvSpPr txBox="1"/>
          <p:nvPr/>
        </p:nvSpPr>
        <p:spPr>
          <a:xfrm>
            <a:off x="431800" y="763588"/>
            <a:ext cx="3635375" cy="579437"/>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20405"/>
                                        </p:tgtEl>
                                        <p:attrNameLst>
                                          <p:attrName>style.visibility</p:attrName>
                                        </p:attrNameLst>
                                      </p:cBhvr>
                                      <p:to>
                                        <p:strVal val="visible"/>
                                      </p:to>
                                    </p:set>
                                    <p:animEffect transition="in" filter="dissolve">
                                      <p:cBhvr>
                                        <p:cTn id="7" dur="500"/>
                                        <p:tgtEl>
                                          <p:spTgt spid="232040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20406"/>
                                        </p:tgtEl>
                                        <p:attrNameLst>
                                          <p:attrName>style.visibility</p:attrName>
                                        </p:attrNameLst>
                                      </p:cBhvr>
                                      <p:to>
                                        <p:strVal val="visible"/>
                                      </p:to>
                                    </p:set>
                                    <p:animEffect transition="in" filter="dissolve">
                                      <p:cBhvr>
                                        <p:cTn id="10" dur="500"/>
                                        <p:tgtEl>
                                          <p:spTgt spid="232040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320414"/>
                                        </p:tgtEl>
                                        <p:attrNameLst>
                                          <p:attrName>style.visibility</p:attrName>
                                        </p:attrNameLst>
                                      </p:cBhvr>
                                      <p:to>
                                        <p:strVal val="visible"/>
                                      </p:to>
                                    </p:set>
                                    <p:animEffect transition="in" filter="dissolve">
                                      <p:cBhvr>
                                        <p:cTn id="15" dur="500"/>
                                        <p:tgtEl>
                                          <p:spTgt spid="232041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320409"/>
                                        </p:tgtEl>
                                        <p:attrNameLst>
                                          <p:attrName>style.visibility</p:attrName>
                                        </p:attrNameLst>
                                      </p:cBhvr>
                                      <p:to>
                                        <p:strVal val="visible"/>
                                      </p:to>
                                    </p:set>
                                    <p:animEffect transition="in" filter="dissolve">
                                      <p:cBhvr>
                                        <p:cTn id="18" dur="500"/>
                                        <p:tgtEl>
                                          <p:spTgt spid="2320409"/>
                                        </p:tgtEl>
                                      </p:cBhvr>
                                    </p:animEffect>
                                  </p:childTnLst>
                                </p:cTn>
                              </p:par>
                              <p:par>
                                <p:cTn id="19" presetID="9" presetClass="entr" presetSubtype="0" fill="hold" nodeType="withEffect">
                                  <p:stCondLst>
                                    <p:cond delay="0"/>
                                  </p:stCondLst>
                                  <p:childTnLst>
                                    <p:set>
                                      <p:cBhvr>
                                        <p:cTn id="20" dur="1" fill="hold">
                                          <p:stCondLst>
                                            <p:cond delay="0"/>
                                          </p:stCondLst>
                                        </p:cTn>
                                        <p:tgtEl>
                                          <p:spTgt spid="2320410"/>
                                        </p:tgtEl>
                                        <p:attrNameLst>
                                          <p:attrName>style.visibility</p:attrName>
                                        </p:attrNameLst>
                                      </p:cBhvr>
                                      <p:to>
                                        <p:strVal val="visible"/>
                                      </p:to>
                                    </p:set>
                                    <p:animEffect transition="in" filter="dissolve">
                                      <p:cBhvr>
                                        <p:cTn id="21" dur="500"/>
                                        <p:tgtEl>
                                          <p:spTgt spid="2320410"/>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320411"/>
                                        </p:tgtEl>
                                        <p:attrNameLst>
                                          <p:attrName>style.visibility</p:attrName>
                                        </p:attrNameLst>
                                      </p:cBhvr>
                                      <p:to>
                                        <p:strVal val="visible"/>
                                      </p:to>
                                    </p:set>
                                    <p:animEffect transition="in" filter="dissolve">
                                      <p:cBhvr>
                                        <p:cTn id="24" dur="500"/>
                                        <p:tgtEl>
                                          <p:spTgt spid="2320411"/>
                                        </p:tgtEl>
                                      </p:cBhvr>
                                    </p:animEffect>
                                  </p:childTnLst>
                                </p:cTn>
                              </p:par>
                              <p:par>
                                <p:cTn id="25" presetID="9" presetClass="entr" presetSubtype="0" fill="hold" nodeType="withEffect">
                                  <p:stCondLst>
                                    <p:cond delay="0"/>
                                  </p:stCondLst>
                                  <p:childTnLst>
                                    <p:set>
                                      <p:cBhvr>
                                        <p:cTn id="26" dur="1" fill="hold">
                                          <p:stCondLst>
                                            <p:cond delay="0"/>
                                          </p:stCondLst>
                                        </p:cTn>
                                        <p:tgtEl>
                                          <p:spTgt spid="2320412"/>
                                        </p:tgtEl>
                                        <p:attrNameLst>
                                          <p:attrName>style.visibility</p:attrName>
                                        </p:attrNameLst>
                                      </p:cBhvr>
                                      <p:to>
                                        <p:strVal val="visible"/>
                                      </p:to>
                                    </p:set>
                                    <p:animEffect transition="in" filter="dissolve">
                                      <p:cBhvr>
                                        <p:cTn id="27" dur="500"/>
                                        <p:tgtEl>
                                          <p:spTgt spid="232041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2320413"/>
                                        </p:tgtEl>
                                        <p:attrNameLst>
                                          <p:attrName>style.visibility</p:attrName>
                                        </p:attrNameLst>
                                      </p:cBhvr>
                                      <p:to>
                                        <p:strVal val="visible"/>
                                      </p:to>
                                    </p:set>
                                    <p:animEffect transition="in" filter="dissolve">
                                      <p:cBhvr>
                                        <p:cTn id="30" dur="500"/>
                                        <p:tgtEl>
                                          <p:spTgt spid="232041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320407"/>
                                        </p:tgtEl>
                                        <p:attrNameLst>
                                          <p:attrName>style.visibility</p:attrName>
                                        </p:attrNameLst>
                                      </p:cBhvr>
                                      <p:to>
                                        <p:strVal val="visible"/>
                                      </p:to>
                                    </p:set>
                                    <p:animEffect transition="in" filter="dissolve">
                                      <p:cBhvr>
                                        <p:cTn id="35" dur="500"/>
                                        <p:tgtEl>
                                          <p:spTgt spid="2320407"/>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320408"/>
                                        </p:tgtEl>
                                        <p:attrNameLst>
                                          <p:attrName>style.visibility</p:attrName>
                                        </p:attrNameLst>
                                      </p:cBhvr>
                                      <p:to>
                                        <p:strVal val="visible"/>
                                      </p:to>
                                    </p:set>
                                    <p:animEffect transition="in" filter="dissolve">
                                      <p:cBhvr>
                                        <p:cTn id="38" dur="500"/>
                                        <p:tgtEl>
                                          <p:spTgt spid="23204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0414" grpId="0" bldLvl="0" animBg="1"/>
      <p:bldP spid="2320405" grpId="0"/>
      <p:bldP spid="2320406" grpId="0"/>
      <p:bldP spid="2320407" grpId="0"/>
      <p:bldP spid="2320408" grpId="0"/>
      <p:bldP spid="2320409" grpId="0"/>
      <p:bldP spid="2320411" grpId="0"/>
      <p:bldP spid="232041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13289" name="Rectangle 6217"/>
          <p:cNvSpPr/>
          <p:nvPr/>
        </p:nvSpPr>
        <p:spPr>
          <a:xfrm>
            <a:off x="611188" y="3644900"/>
            <a:ext cx="7885112" cy="468313"/>
          </a:xfrm>
          <a:prstGeom prst="rect">
            <a:avLst/>
          </a:prstGeom>
          <a:solidFill>
            <a:srgbClr val="FFFF99"/>
          </a:solidFill>
          <a:ln w="9525">
            <a:noFill/>
          </a:ln>
        </p:spPr>
        <p:txBody>
          <a:bodyPr wrap="none" anchor="ctr" anchorCtr="0"/>
          <a:p>
            <a:pPr algn="ctr" eaLnBrk="1" hangingPunct="1"/>
            <a:endParaRPr lang="zh-CN" altLang="en-US" b="1" dirty="0">
              <a:solidFill>
                <a:srgbClr val="333399"/>
              </a:solidFill>
              <a:latin typeface="楷体_GB2312" pitchFamily="49" charset="-122"/>
            </a:endParaRPr>
          </a:p>
        </p:txBody>
      </p:sp>
      <p:sp>
        <p:nvSpPr>
          <p:cNvPr id="2313227" name="Text Box 6155"/>
          <p:cNvSpPr txBox="1"/>
          <p:nvPr/>
        </p:nvSpPr>
        <p:spPr>
          <a:xfrm>
            <a:off x="431800" y="657225"/>
            <a:ext cx="3635375" cy="579438"/>
          </a:xfrm>
          <a:prstGeom prst="rect">
            <a:avLst/>
          </a:prstGeom>
          <a:solidFill>
            <a:srgbClr val="99CCFF"/>
          </a:solidFill>
          <a:ln w="9525">
            <a:noFill/>
          </a:ln>
        </p:spPr>
        <p:txBody>
          <a:bodyPr>
            <a:spAutoFit/>
          </a:bodyPr>
          <a:p>
            <a:pPr algn="l" eaLnBrk="1" hangingPunct="1"/>
            <a:r>
              <a:rPr lang="en-US" altLang="zh-CN" sz="3200" b="1">
                <a:solidFill>
                  <a:srgbClr val="333399"/>
                </a:solidFill>
                <a:latin typeface="楷体_GB2312" pitchFamily="49" charset="-122"/>
              </a:rPr>
              <a:t>2.8.2 </a:t>
            </a:r>
            <a:r>
              <a:rPr lang="zh-CN" altLang="en-US" sz="3200" b="1" dirty="0">
                <a:solidFill>
                  <a:srgbClr val="333399"/>
                </a:solidFill>
                <a:latin typeface="楷体_GB2312" pitchFamily="49" charset="-122"/>
              </a:rPr>
              <a:t>双极性编码</a:t>
            </a:r>
            <a:endParaRPr lang="zh-CN" altLang="en-US" sz="3200" b="1" dirty="0">
              <a:solidFill>
                <a:srgbClr val="333399"/>
              </a:solidFill>
              <a:latin typeface="楷体_GB2312" pitchFamily="49" charset="-122"/>
            </a:endParaRPr>
          </a:p>
        </p:txBody>
      </p:sp>
      <p:sp>
        <p:nvSpPr>
          <p:cNvPr id="2313233" name="Text Box 6161"/>
          <p:cNvSpPr txBox="1">
            <a:spLocks noChangeArrowheads="1"/>
          </p:cNvSpPr>
          <p:nvPr/>
        </p:nvSpPr>
        <p:spPr bwMode="auto">
          <a:xfrm>
            <a:off x="5543550" y="6381750"/>
            <a:ext cx="3600450" cy="4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algn="ctr" defTabSz="914400" eaLnBrk="1" hangingPunct="1">
              <a:lnSpc>
                <a:spcPct val="90000"/>
              </a:lnSpc>
              <a:spcBef>
                <a:spcPct val="50000"/>
              </a:spcBef>
              <a:buClrTx/>
              <a:buSzTx/>
              <a:buFontTx/>
              <a:buNone/>
              <a:defRPr/>
            </a:pPr>
            <a:r>
              <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rPr>
              <a:t>模拟信号的数字化处理</a:t>
            </a:r>
            <a:endParaRPr kumimoji="1" lang="zh-CN" altLang="en-US" sz="24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2313234" name="Text Box 6162"/>
          <p:cNvSpPr txBox="1">
            <a:spLocks noChangeArrowheads="1"/>
          </p:cNvSpPr>
          <p:nvPr/>
        </p:nvSpPr>
        <p:spPr bwMode="auto">
          <a:xfrm>
            <a:off x="2638425" y="80963"/>
            <a:ext cx="38004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p>
            <a:pPr algn="ctr" eaLnBrk="1" hangingPunct="1"/>
            <a:r>
              <a:rPr lang="en-US" altLang="zh-CN" sz="4000" b="1">
                <a:solidFill>
                  <a:schemeClr val="tx1"/>
                </a:solidFill>
                <a:effectLst>
                  <a:outerShdw blurRad="38100" dist="38100" dir="2700000">
                    <a:srgbClr val="C0C0C0"/>
                  </a:outerShdw>
                </a:effectLst>
                <a:latin typeface="Times New Roman" panose="02020603050405020304" pitchFamily="18" charset="0"/>
              </a:rPr>
              <a:t>2.8 </a:t>
            </a:r>
            <a:r>
              <a:rPr lang="en-US" altLang="zh-CN" sz="4000" b="1">
                <a:solidFill>
                  <a:schemeClr val="tx1"/>
                </a:solidFill>
                <a:effectLst>
                  <a:outerShdw blurRad="38100" dist="38100" dir="2700000">
                    <a:srgbClr val="C0C0C0"/>
                  </a:outerShdw>
                </a:effectLst>
                <a:latin typeface="Arial Black" panose="020B0A04020102020204" pitchFamily="34" charset="0"/>
              </a:rPr>
              <a:t> </a:t>
            </a:r>
            <a:r>
              <a:rPr lang="zh-CN" altLang="en-US" sz="4000" b="1" dirty="0">
                <a:solidFill>
                  <a:schemeClr val="tx1"/>
                </a:solidFill>
                <a:effectLst>
                  <a:outerShdw blurRad="38100" dist="38100" dir="2700000">
                    <a:srgbClr val="C0C0C0"/>
                  </a:outerShdw>
                </a:effectLst>
                <a:latin typeface="Arial Black" panose="020B0A04020102020204" pitchFamily="34" charset="0"/>
              </a:rPr>
              <a:t>编码 </a:t>
            </a:r>
            <a:endParaRPr lang="zh-CN" altLang="en-US" sz="4000" b="1" dirty="0">
              <a:solidFill>
                <a:schemeClr val="tx1"/>
              </a:solidFill>
              <a:effectLst>
                <a:outerShdw blurRad="38100" dist="38100" dir="2700000">
                  <a:srgbClr val="C0C0C0"/>
                </a:outerShdw>
              </a:effectLst>
              <a:latin typeface="Arial Black" panose="020B0A04020102020204" pitchFamily="34" charset="0"/>
            </a:endParaRPr>
          </a:p>
        </p:txBody>
      </p:sp>
      <p:graphicFrame>
        <p:nvGraphicFramePr>
          <p:cNvPr id="2313299" name="Group 6227"/>
          <p:cNvGraphicFramePr>
            <a:graphicFrameLocks noGrp="1"/>
          </p:cNvGraphicFramePr>
          <p:nvPr/>
        </p:nvGraphicFramePr>
        <p:xfrm>
          <a:off x="611188" y="1341438"/>
          <a:ext cx="7885113" cy="4816475"/>
        </p:xfrm>
        <a:graphic>
          <a:graphicData uri="http://schemas.openxmlformats.org/drawingml/2006/table">
            <a:tbl>
              <a:tblPr/>
              <a:tblGrid>
                <a:gridCol w="1971675"/>
                <a:gridCol w="1971675"/>
                <a:gridCol w="1970087"/>
                <a:gridCol w="1971675"/>
              </a:tblGrid>
              <a:tr h="519079">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十进制数</a:t>
                      </a:r>
                      <a:r>
                        <a:rPr kumimoji="0" lang="en-US" altLang="zh-CN" sz="1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a:t>
                      </a:r>
                      <a:r>
                        <a:rPr kumimoji="0" lang="zh-CN" altLang="en-US" sz="1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分数</a:t>
                      </a:r>
                      <a:r>
                        <a:rPr kumimoji="0" lang="en-US" altLang="zh-CN" sz="1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a:txBody>
                  <a:tcPr marT="45717" marB="4571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CC66">
                        <a:alpha val="50000"/>
                      </a:srgbClr>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符号</a:t>
                      </a: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a:t>
                      </a:r>
                      <a:r>
                        <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数值码</a:t>
                      </a:r>
                      <a:endPar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CC66">
                        <a:alpha val="50000"/>
                      </a:srgbClr>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偏移二进制码</a:t>
                      </a:r>
                      <a:endPar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CC66">
                        <a:alpha val="50000"/>
                      </a:srgbClr>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2</a:t>
                      </a:r>
                      <a:r>
                        <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的补码</a:t>
                      </a:r>
                      <a:endParaRPr kumimoji="0" lang="zh-CN" altLang="en-US"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CC66">
                        <a:alpha val="50000"/>
                      </a:srgbClr>
                    </a:solidFill>
                  </a:tcPr>
                </a:tc>
              </a:tr>
              <a:tr h="4297396">
                <a:tc>
                  <a:txBody>
                    <a:bodyPr/>
                    <a:lstStyle/>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+7/8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+6/8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+5/8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+4/8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+3/8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+2/8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 </a:t>
                      </a: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a:t>
                      </a:r>
                      <a:r>
                        <a:rPr kumimoji="0" lang="en-US" altLang="zh-CN" sz="1800" b="1" i="0" u="none" strike="noStrike" cap="none" normalizeH="0" baseline="40000" smtClean="0">
                          <a:ln>
                            <a:noFill/>
                          </a:ln>
                          <a:solidFill>
                            <a:srgbClr val="FF0000"/>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4000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 0</a:t>
                      </a:r>
                      <a:r>
                        <a:rPr kumimoji="0" lang="en-US" altLang="zh-CN" sz="2800" b="1" i="0" u="none" strike="noStrike" cap="none" normalizeH="0" baseline="24000" smtClean="0">
                          <a:ln>
                            <a:noFill/>
                          </a:ln>
                          <a:solidFill>
                            <a:srgbClr val="FF0000"/>
                          </a:solidFill>
                          <a:effectLst/>
                          <a:latin typeface="Arial" panose="020B0604020202020204" pitchFamily="34" charset="0"/>
                          <a:ea typeface="宋体" panose="02010600030101010101" pitchFamily="2" charset="-122"/>
                        </a:rPr>
                        <a:t>-</a:t>
                      </a:r>
                      <a:endParaRPr kumimoji="0" lang="en-US" altLang="zh-CN" sz="2800" b="1" i="0" u="none" strike="noStrike" cap="none" normalizeH="0" baseline="2400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-2/8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-3/8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-4/8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-5/8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-6/8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-7/8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-8/8</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1000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1000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1000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0001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rPr>
                        <a:t>0000</a:t>
                      </a:r>
                      <a:endParaRPr kumimoji="0" lang="en-US" altLang="zh-CN" sz="1800" b="1" i="0" u="none" strike="noStrike" cap="none" normalizeH="0" baseline="0" smtClean="0">
                        <a:ln>
                          <a:noFill/>
                        </a:ln>
                        <a:solidFill>
                          <a:srgbClr val="FF0000"/>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1100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1010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1001</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9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rPr>
                        <a:t>1000</a:t>
                      </a:r>
                      <a:endParaRPr kumimoji="0" lang="en-US" altLang="zh-CN" sz="1800" b="1" i="0" u="none" strike="noStrike" cap="none" normalizeH="0" baseline="0" smtClean="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13289"/>
                                        </p:tgtEl>
                                        <p:attrNameLst>
                                          <p:attrName>style.visibility</p:attrName>
                                        </p:attrNameLst>
                                      </p:cBhvr>
                                      <p:to>
                                        <p:strVal val="visible"/>
                                      </p:to>
                                    </p:set>
                                    <p:animEffect transition="in" filter="dissolve">
                                      <p:cBhvr>
                                        <p:cTn id="7" dur="500"/>
                                        <p:tgtEl>
                                          <p:spTgt spid="2313289"/>
                                        </p:tgtEl>
                                      </p:cBhvr>
                                    </p:animEffect>
                                  </p:childTnLst>
                                </p:cTn>
                              </p:par>
                              <p:par>
                                <p:cTn id="8" presetID="9" presetClass="entr" presetSubtype="0" fill="hold" nodeType="withEffect">
                                  <p:stCondLst>
                                    <p:cond delay="0"/>
                                  </p:stCondLst>
                                  <p:childTnLst>
                                    <p:set>
                                      <p:cBhvr>
                                        <p:cTn id="9" dur="1" fill="hold">
                                          <p:stCondLst>
                                            <p:cond delay="0"/>
                                          </p:stCondLst>
                                        </p:cTn>
                                        <p:tgtEl>
                                          <p:spTgt spid="2313299"/>
                                        </p:tgtEl>
                                        <p:attrNameLst>
                                          <p:attrName>style.visibility</p:attrName>
                                        </p:attrNameLst>
                                      </p:cBhvr>
                                      <p:to>
                                        <p:strVal val="visible"/>
                                      </p:to>
                                    </p:set>
                                    <p:animEffect transition="in" filter="dissolve">
                                      <p:cBhvr>
                                        <p:cTn id="10" dur="500"/>
                                        <p:tgtEl>
                                          <p:spTgt spid="2313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3289" grpId="0" bldLvl="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5474" name="文本框 105473"/>
          <p:cNvSpPr txBox="1"/>
          <p:nvPr/>
        </p:nvSpPr>
        <p:spPr>
          <a:xfrm>
            <a:off x="2916238" y="-26987"/>
            <a:ext cx="3556000" cy="519112"/>
          </a:xfrm>
          <a:prstGeom prst="rect">
            <a:avLst/>
          </a:prstGeom>
          <a:noFill/>
          <a:ln w="9525">
            <a:noFill/>
          </a:ln>
        </p:spPr>
        <p:txBody>
          <a:bodyPr wrap="none" anchor="t" anchorCtr="0">
            <a:spAutoFit/>
          </a:bodyPr>
          <a:p>
            <a:pPr algn="l" eaLnBrk="1" hangingPunct="1"/>
            <a:r>
              <a:rPr lang="zh-CN" altLang="en-US" sz="2800" b="1" dirty="0">
                <a:solidFill>
                  <a:srgbClr val="0000B4"/>
                </a:solidFill>
                <a:latin typeface="华文新魏" panose="02010800040101010101" pitchFamily="2" charset="-122"/>
                <a:ea typeface="华文新魏" panose="02010800040101010101" pitchFamily="2" charset="-122"/>
              </a:rPr>
              <a:t>第</a:t>
            </a:r>
            <a:r>
              <a:rPr lang="en-US" altLang="zh-CN" sz="2800" b="1">
                <a:solidFill>
                  <a:srgbClr val="0000B4"/>
                </a:solidFill>
                <a:latin typeface="Times New Roman" panose="02020603050405020304" pitchFamily="18" charset="0"/>
                <a:ea typeface="华文新魏" panose="02010800040101010101" pitchFamily="2" charset="-122"/>
              </a:rPr>
              <a:t>2</a:t>
            </a:r>
            <a:r>
              <a:rPr lang="zh-CN" altLang="en-US" sz="2800" b="1" dirty="0">
                <a:solidFill>
                  <a:srgbClr val="0000B4"/>
                </a:solidFill>
                <a:latin typeface="华文新魏" panose="02010800040101010101" pitchFamily="2" charset="-122"/>
                <a:ea typeface="华文新魏" panose="02010800040101010101" pitchFamily="2" charset="-122"/>
              </a:rPr>
              <a:t>章 习题与思考题   </a:t>
            </a:r>
            <a:endParaRPr lang="zh-CN" altLang="en-US" sz="2800" b="1" dirty="0">
              <a:solidFill>
                <a:srgbClr val="0000B4"/>
              </a:solidFill>
              <a:latin typeface="华文新魏" panose="02010800040101010101" pitchFamily="2" charset="-122"/>
              <a:ea typeface="华文新魏" panose="02010800040101010101" pitchFamily="2" charset="-122"/>
            </a:endParaRPr>
          </a:p>
        </p:txBody>
      </p:sp>
      <p:sp>
        <p:nvSpPr>
          <p:cNvPr id="105475" name="文本框 105474"/>
          <p:cNvSpPr txBox="1"/>
          <p:nvPr/>
        </p:nvSpPr>
        <p:spPr>
          <a:xfrm>
            <a:off x="611188" y="836613"/>
            <a:ext cx="8208962" cy="1066800"/>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2-2.</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Arial" panose="020B0604020202020204" pitchFamily="34" charset="0"/>
              </a:rPr>
              <a:t>试说明为什么在实际采样中，不能完全</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       满足采样定理所规定的不失真条件？</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sp>
        <p:nvSpPr>
          <p:cNvPr id="105476" name="文本框 105475"/>
          <p:cNvSpPr txBox="1"/>
          <p:nvPr/>
        </p:nvSpPr>
        <p:spPr>
          <a:xfrm>
            <a:off x="539750" y="2060575"/>
            <a:ext cx="1368425" cy="579438"/>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解</a:t>
            </a:r>
            <a:r>
              <a:rPr lang="zh-CN" altLang="en-US" sz="3200" b="1" dirty="0">
                <a:solidFill>
                  <a:srgbClr val="0000B4"/>
                </a:solidFill>
                <a:effectLst>
                  <a:outerShdw blurRad="38100" dist="38100" dir="2700000">
                    <a:srgbClr val="C0C0C0"/>
                  </a:outerShdw>
                </a:effectLst>
                <a:latin typeface="Arial" panose="020B0604020202020204" pitchFamily="34" charset="0"/>
              </a:rPr>
              <a:t>：</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grpSp>
        <p:nvGrpSpPr>
          <p:cNvPr id="105477" name="组合 105476"/>
          <p:cNvGrpSpPr/>
          <p:nvPr/>
        </p:nvGrpSpPr>
        <p:grpSpPr>
          <a:xfrm>
            <a:off x="539750" y="2827338"/>
            <a:ext cx="6718300" cy="1033462"/>
            <a:chOff x="975" y="1821"/>
            <a:chExt cx="4232" cy="651"/>
          </a:xfrm>
        </p:grpSpPr>
        <p:sp>
          <p:nvSpPr>
            <p:cNvPr id="105478" name="文本框 105477"/>
            <p:cNvSpPr txBox="1"/>
            <p:nvPr/>
          </p:nvSpPr>
          <p:spPr>
            <a:xfrm>
              <a:off x="975" y="1918"/>
              <a:ext cx="4232"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当        时，模拟信号的采样值为</a:t>
              </a:r>
              <a:endParaRPr lang="zh-CN" altLang="en-US" sz="3200" b="1" dirty="0">
                <a:solidFill>
                  <a:srgbClr val="0000B4"/>
                </a:solidFill>
                <a:effectLst>
                  <a:outerShdw blurRad="38100" dist="38100" dir="2700000">
                    <a:srgbClr val="C0C0C0"/>
                  </a:outerShdw>
                </a:effectLst>
                <a:latin typeface="楷体_GB2312" pitchFamily="49" charset="-122"/>
              </a:endParaRPr>
            </a:p>
          </p:txBody>
        </p:sp>
        <p:graphicFrame>
          <p:nvGraphicFramePr>
            <p:cNvPr id="105479" name="对象 105478"/>
            <p:cNvGraphicFramePr/>
            <p:nvPr/>
          </p:nvGraphicFramePr>
          <p:xfrm>
            <a:off x="1314" y="1821"/>
            <a:ext cx="1008" cy="651"/>
          </p:xfrm>
          <a:graphic>
            <a:graphicData uri="http://schemas.openxmlformats.org/presentationml/2006/ole">
              <mc:AlternateContent xmlns:mc="http://schemas.openxmlformats.org/markup-compatibility/2006">
                <mc:Choice xmlns:v="urn:schemas-microsoft-com:vml" Requires="v">
                  <p:oleObj spid="_x0000_s3176" name="" r:id="rId1" imgW="622300" imgH="431800" progId="Equation.3">
                    <p:embed/>
                  </p:oleObj>
                </mc:Choice>
                <mc:Fallback>
                  <p:oleObj name="" r:id="rId1" imgW="622300" imgH="431800" progId="Equation.3">
                    <p:embed/>
                    <p:pic>
                      <p:nvPicPr>
                        <p:cNvPr id="0" name="图片 3175"/>
                        <p:cNvPicPr/>
                        <p:nvPr/>
                      </p:nvPicPr>
                      <p:blipFill>
                        <a:blip r:embed="rId2"/>
                        <a:stretch>
                          <a:fillRect/>
                        </a:stretch>
                      </p:blipFill>
                      <p:spPr>
                        <a:xfrm>
                          <a:off x="1314" y="1821"/>
                          <a:ext cx="1008" cy="651"/>
                        </a:xfrm>
                        <a:prstGeom prst="rect">
                          <a:avLst/>
                        </a:prstGeom>
                        <a:solidFill>
                          <a:schemeClr val="bg1"/>
                        </a:solidFill>
                        <a:ln w="38100">
                          <a:noFill/>
                          <a:miter/>
                        </a:ln>
                      </p:spPr>
                    </p:pic>
                  </p:oleObj>
                </mc:Fallback>
              </mc:AlternateContent>
            </a:graphicData>
          </a:graphic>
        </p:graphicFrame>
      </p:grpSp>
      <p:grpSp>
        <p:nvGrpSpPr>
          <p:cNvPr id="105480" name="组合 105479"/>
          <p:cNvGrpSpPr/>
          <p:nvPr/>
        </p:nvGrpSpPr>
        <p:grpSpPr>
          <a:xfrm>
            <a:off x="769938" y="4725988"/>
            <a:ext cx="8339137" cy="939800"/>
            <a:chOff x="364" y="3292"/>
            <a:chExt cx="5253" cy="592"/>
          </a:xfrm>
        </p:grpSpPr>
        <p:sp>
          <p:nvSpPr>
            <p:cNvPr id="105481" name="文本框 105480"/>
            <p:cNvSpPr txBox="1"/>
            <p:nvPr/>
          </p:nvSpPr>
          <p:spPr>
            <a:xfrm>
              <a:off x="364" y="3426"/>
              <a:ext cx="5253"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只有在     时，</a:t>
              </a:r>
              <a:r>
                <a:rPr lang="en-US" altLang="zh-CN" sz="3200" b="1" i="1" err="1">
                  <a:solidFill>
                    <a:srgbClr val="0000B4"/>
                  </a:solidFill>
                  <a:effectLst>
                    <a:outerShdw blurRad="38100" dist="38100" dir="2700000">
                      <a:srgbClr val="C0C0C0"/>
                    </a:outerShdw>
                  </a:effectLst>
                  <a:latin typeface="Times New Roman" panose="02020603050405020304" pitchFamily="18" charset="0"/>
                </a:rPr>
                <a:t>x</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S</a:t>
              </a:r>
              <a:r>
                <a:rPr lang="en-US" altLang="zh-CN" sz="3200" b="1" err="1">
                  <a:solidFill>
                    <a:srgbClr val="0000B4"/>
                  </a:solidFill>
                  <a:effectLst>
                    <a:outerShdw blurRad="38100" dist="38100" dir="2700000">
                      <a:srgbClr val="C0C0C0"/>
                    </a:outerShdw>
                  </a:effectLst>
                  <a:latin typeface="Times New Roman" panose="02020603050405020304" pitchFamily="18" charset="0"/>
                </a:rPr>
                <a:t>(</a:t>
              </a:r>
              <a:r>
                <a:rPr lang="en-US" altLang="zh-CN" sz="3200" b="1" i="1" err="1">
                  <a:solidFill>
                    <a:srgbClr val="0000B4"/>
                  </a:solidFill>
                  <a:effectLst>
                    <a:outerShdw blurRad="38100" dist="38100" dir="2700000">
                      <a:srgbClr val="C0C0C0"/>
                    </a:outerShdw>
                  </a:effectLst>
                  <a:latin typeface="Times New Roman" panose="02020603050405020304" pitchFamily="18" charset="0"/>
                </a:rPr>
                <a:t>nT</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Times New Roman" panose="02020603050405020304" pitchFamily="18" charset="0"/>
                </a:rPr>
                <a:t>)</a:t>
              </a:r>
              <a:r>
                <a:rPr lang="zh-CN" altLang="en-US" sz="3200" b="1" dirty="0">
                  <a:solidFill>
                    <a:srgbClr val="0000B4"/>
                  </a:solidFill>
                  <a:effectLst>
                    <a:outerShdw blurRad="38100" dist="38100" dir="2700000">
                      <a:srgbClr val="C0C0C0"/>
                    </a:outerShdw>
                  </a:effectLst>
                  <a:latin typeface="Times New Roman" panose="02020603050405020304" pitchFamily="18" charset="0"/>
                </a:rPr>
                <a:t>与</a:t>
              </a:r>
              <a:r>
                <a:rPr lang="en-US" altLang="zh-CN" sz="3200" b="1" i="1" err="1">
                  <a:solidFill>
                    <a:srgbClr val="0000B4"/>
                  </a:solidFill>
                  <a:effectLst>
                    <a:outerShdw blurRad="38100" dist="38100" dir="2700000">
                      <a:srgbClr val="C0C0C0"/>
                    </a:outerShdw>
                  </a:effectLst>
                  <a:latin typeface="Times New Roman" panose="02020603050405020304" pitchFamily="18" charset="0"/>
                </a:rPr>
                <a:t>x</a:t>
              </a:r>
              <a:r>
                <a:rPr lang="en-US" altLang="zh-CN" sz="3200" b="1" err="1">
                  <a:solidFill>
                    <a:srgbClr val="0000B4"/>
                  </a:solidFill>
                  <a:effectLst>
                    <a:outerShdw blurRad="38100" dist="38100" dir="2700000">
                      <a:srgbClr val="C0C0C0"/>
                    </a:outerShdw>
                  </a:effectLst>
                  <a:latin typeface="Times New Roman" panose="02020603050405020304" pitchFamily="18" charset="0"/>
                </a:rPr>
                <a:t>(</a:t>
              </a:r>
              <a:r>
                <a:rPr lang="en-US" altLang="zh-CN" sz="3200" b="1" i="1" err="1">
                  <a:solidFill>
                    <a:srgbClr val="0000B4"/>
                  </a:solidFill>
                  <a:effectLst>
                    <a:outerShdw blurRad="38100" dist="38100" dir="2700000">
                      <a:srgbClr val="C0C0C0"/>
                    </a:outerShdw>
                  </a:effectLst>
                  <a:latin typeface="Times New Roman" panose="02020603050405020304" pitchFamily="18" charset="0"/>
                </a:rPr>
                <a:t>t</a:t>
              </a:r>
              <a:r>
                <a:rPr lang="en-US" altLang="zh-CN" sz="3200" b="1">
                  <a:solidFill>
                    <a:srgbClr val="0000B4"/>
                  </a:solidFill>
                  <a:effectLst>
                    <a:outerShdw blurRad="38100" dist="38100" dir="2700000">
                      <a:srgbClr val="C0C0C0"/>
                    </a:outerShdw>
                  </a:effectLst>
                  <a:latin typeface="Times New Roman" panose="02020603050405020304" pitchFamily="18" charset="0"/>
                </a:rPr>
                <a:t>)</a:t>
              </a:r>
              <a:r>
                <a:rPr lang="zh-CN" altLang="en-US" sz="3200" b="1" dirty="0">
                  <a:solidFill>
                    <a:srgbClr val="0000B4"/>
                  </a:solidFill>
                  <a:effectLst>
                    <a:outerShdw blurRad="38100" dist="38100" dir="2700000">
                      <a:srgbClr val="C0C0C0"/>
                    </a:outerShdw>
                  </a:effectLst>
                  <a:latin typeface="Times New Roman" panose="02020603050405020304" pitchFamily="18" charset="0"/>
                </a:rPr>
                <a:t>的幅值才相同。</a:t>
              </a:r>
              <a:endParaRPr lang="zh-CN" altLang="en-US" sz="3200" b="1" dirty="0">
                <a:solidFill>
                  <a:srgbClr val="0000B4"/>
                </a:solidFill>
                <a:effectLst>
                  <a:outerShdw blurRad="38100" dist="38100" dir="2700000">
                    <a:srgbClr val="C0C0C0"/>
                  </a:outerShdw>
                </a:effectLst>
                <a:latin typeface="Times New Roman" panose="02020603050405020304" pitchFamily="18" charset="0"/>
              </a:endParaRPr>
            </a:p>
          </p:txBody>
        </p:sp>
        <p:graphicFrame>
          <p:nvGraphicFramePr>
            <p:cNvPr id="105482" name="对象 105481"/>
            <p:cNvGraphicFramePr/>
            <p:nvPr/>
          </p:nvGraphicFramePr>
          <p:xfrm>
            <a:off x="1202" y="3292"/>
            <a:ext cx="680" cy="592"/>
          </p:xfrm>
          <a:graphic>
            <a:graphicData uri="http://schemas.openxmlformats.org/presentationml/2006/ole">
              <mc:AlternateContent xmlns:mc="http://schemas.openxmlformats.org/markup-compatibility/2006">
                <mc:Choice xmlns:v="urn:schemas-microsoft-com:vml" Requires="v">
                  <p:oleObj spid="_x0000_s3183" name="" r:id="rId3" imgW="419100" imgH="393700" progId="Equation.3">
                    <p:embed/>
                  </p:oleObj>
                </mc:Choice>
                <mc:Fallback>
                  <p:oleObj name="" r:id="rId3" imgW="419100" imgH="393700" progId="Equation.3">
                    <p:embed/>
                    <p:pic>
                      <p:nvPicPr>
                        <p:cNvPr id="0" name="图片 3182"/>
                        <p:cNvPicPr/>
                        <p:nvPr/>
                      </p:nvPicPr>
                      <p:blipFill>
                        <a:blip r:embed="rId4"/>
                        <a:stretch>
                          <a:fillRect/>
                        </a:stretch>
                      </p:blipFill>
                      <p:spPr>
                        <a:xfrm>
                          <a:off x="1202" y="3292"/>
                          <a:ext cx="680" cy="592"/>
                        </a:xfrm>
                        <a:prstGeom prst="rect">
                          <a:avLst/>
                        </a:prstGeom>
                        <a:noFill/>
                        <a:ln w="38100">
                          <a:noFill/>
                          <a:miter/>
                        </a:ln>
                      </p:spPr>
                    </p:pic>
                  </p:oleObj>
                </mc:Fallback>
              </mc:AlternateContent>
            </a:graphicData>
          </a:graphic>
        </p:graphicFrame>
      </p:grpSp>
      <p:grpSp>
        <p:nvGrpSpPr>
          <p:cNvPr id="105483" name="组合 105482"/>
          <p:cNvGrpSpPr/>
          <p:nvPr/>
        </p:nvGrpSpPr>
        <p:grpSpPr>
          <a:xfrm>
            <a:off x="1403350" y="2095500"/>
            <a:ext cx="7416800" cy="639763"/>
            <a:chOff x="793" y="1910"/>
            <a:chExt cx="4672" cy="403"/>
          </a:xfrm>
        </p:grpSpPr>
        <p:graphicFrame>
          <p:nvGraphicFramePr>
            <p:cNvPr id="105484" name="对象 105483"/>
            <p:cNvGraphicFramePr/>
            <p:nvPr/>
          </p:nvGraphicFramePr>
          <p:xfrm>
            <a:off x="2370" y="1920"/>
            <a:ext cx="3095" cy="393"/>
          </p:xfrm>
          <a:graphic>
            <a:graphicData uri="http://schemas.openxmlformats.org/presentationml/2006/ole">
              <mc:AlternateContent xmlns:mc="http://schemas.openxmlformats.org/markup-compatibility/2006">
                <mc:Choice xmlns:v="urn:schemas-microsoft-com:vml" Requires="v">
                  <p:oleObj spid="_x0000_s3180" name="" r:id="rId5" imgW="1384300" imgH="228600" progId="Equation.3">
                    <p:embed/>
                  </p:oleObj>
                </mc:Choice>
                <mc:Fallback>
                  <p:oleObj name="" r:id="rId5" imgW="1384300" imgH="228600" progId="Equation.3">
                    <p:embed/>
                    <p:pic>
                      <p:nvPicPr>
                        <p:cNvPr id="0" name="图片 3179"/>
                        <p:cNvPicPr/>
                        <p:nvPr/>
                      </p:nvPicPr>
                      <p:blipFill>
                        <a:blip r:embed="rId6"/>
                        <a:stretch>
                          <a:fillRect/>
                        </a:stretch>
                      </p:blipFill>
                      <p:spPr>
                        <a:xfrm>
                          <a:off x="2370" y="1920"/>
                          <a:ext cx="3095" cy="393"/>
                        </a:xfrm>
                        <a:prstGeom prst="rect">
                          <a:avLst/>
                        </a:prstGeom>
                        <a:solidFill>
                          <a:schemeClr val="bg1"/>
                        </a:solidFill>
                        <a:ln w="38100">
                          <a:noFill/>
                          <a:miter/>
                        </a:ln>
                      </p:spPr>
                    </p:pic>
                  </p:oleObj>
                </mc:Fallback>
              </mc:AlternateContent>
            </a:graphicData>
          </a:graphic>
        </p:graphicFrame>
        <p:sp>
          <p:nvSpPr>
            <p:cNvPr id="105485" name="文本框 105484"/>
            <p:cNvSpPr txBox="1"/>
            <p:nvPr/>
          </p:nvSpPr>
          <p:spPr>
            <a:xfrm>
              <a:off x="793" y="1910"/>
              <a:ext cx="1658"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若模拟信号为</a:t>
              </a:r>
              <a:endParaRPr lang="zh-CN" altLang="en-US" sz="3200" b="1" dirty="0">
                <a:solidFill>
                  <a:srgbClr val="0000B4"/>
                </a:solidFill>
                <a:effectLst>
                  <a:outerShdw blurRad="38100" dist="38100" dir="2700000">
                    <a:srgbClr val="C0C0C0"/>
                  </a:outerShdw>
                </a:effectLst>
                <a:latin typeface="楷体_GB2312" pitchFamily="49" charset="-122"/>
              </a:endParaRPr>
            </a:p>
          </p:txBody>
        </p:sp>
      </p:grpSp>
      <p:graphicFrame>
        <p:nvGraphicFramePr>
          <p:cNvPr id="105486" name="对象 105485"/>
          <p:cNvGraphicFramePr/>
          <p:nvPr/>
        </p:nvGraphicFramePr>
        <p:xfrm>
          <a:off x="2051050" y="3860800"/>
          <a:ext cx="4465638" cy="709613"/>
        </p:xfrm>
        <a:graphic>
          <a:graphicData uri="http://schemas.openxmlformats.org/presentationml/2006/ole">
            <mc:AlternateContent xmlns:mc="http://schemas.openxmlformats.org/markup-compatibility/2006">
              <mc:Choice xmlns:v="urn:schemas-microsoft-com:vml" Requires="v">
                <p:oleObj spid="_x0000_s3179" name="" r:id="rId7" imgW="1435100" imgH="241300" progId="Equation.3">
                  <p:embed/>
                </p:oleObj>
              </mc:Choice>
              <mc:Fallback>
                <p:oleObj name="" r:id="rId7" imgW="1435100" imgH="241300" progId="Equation.3">
                  <p:embed/>
                  <p:pic>
                    <p:nvPicPr>
                      <p:cNvPr id="0" name="图片 3178"/>
                      <p:cNvPicPr/>
                      <p:nvPr/>
                    </p:nvPicPr>
                    <p:blipFill>
                      <a:blip r:embed="rId8"/>
                      <a:stretch>
                        <a:fillRect/>
                      </a:stretch>
                    </p:blipFill>
                    <p:spPr>
                      <a:xfrm>
                        <a:off x="2051050" y="3860800"/>
                        <a:ext cx="4465638" cy="709613"/>
                      </a:xfrm>
                      <a:prstGeom prst="rect">
                        <a:avLst/>
                      </a:prstGeom>
                      <a:noFill/>
                      <a:ln w="38100">
                        <a:noFill/>
                        <a:miter/>
                      </a:ln>
                    </p:spPr>
                  </p:pic>
                </p:oleObj>
              </mc:Fallback>
            </mc:AlternateContent>
          </a:graphicData>
        </a:graphic>
      </p:graphicFrame>
      <p:sp>
        <p:nvSpPr>
          <p:cNvPr id="105487" name="文本框 105486"/>
          <p:cNvSpPr txBox="1"/>
          <p:nvPr/>
        </p:nvSpPr>
        <p:spPr>
          <a:xfrm>
            <a:off x="769938" y="5772150"/>
            <a:ext cx="5287962" cy="579438"/>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但在工程上很难做到。     </a:t>
            </a:r>
            <a:endParaRPr lang="zh-CN" altLang="en-US" sz="3200" b="1" dirty="0">
              <a:solidFill>
                <a:srgbClr val="0000B4"/>
              </a:solidFill>
              <a:effectLst>
                <a:outerShdw blurRad="38100" dist="38100" dir="2700000">
                  <a:srgbClr val="C0C0C0"/>
                </a:outerShdw>
              </a:effectLst>
              <a:latin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5476"/>
                                        </p:tgtEl>
                                        <p:attrNameLst>
                                          <p:attrName>style.visibility</p:attrName>
                                        </p:attrNameLst>
                                      </p:cBhvr>
                                      <p:to>
                                        <p:strVal val="visible"/>
                                      </p:to>
                                    </p:set>
                                    <p:animEffect transition="in" filter="dissolve">
                                      <p:cBhvr>
                                        <p:cTn id="7" dur="500"/>
                                        <p:tgtEl>
                                          <p:spTgt spid="10547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5483"/>
                                        </p:tgtEl>
                                        <p:attrNameLst>
                                          <p:attrName>style.visibility</p:attrName>
                                        </p:attrNameLst>
                                      </p:cBhvr>
                                      <p:to>
                                        <p:strVal val="visible"/>
                                      </p:to>
                                    </p:set>
                                    <p:animEffect transition="in" filter="wipe(left)">
                                      <p:cBhvr>
                                        <p:cTn id="12" dur="1000"/>
                                        <p:tgtEl>
                                          <p:spTgt spid="1054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5477"/>
                                        </p:tgtEl>
                                        <p:attrNameLst>
                                          <p:attrName>style.visibility</p:attrName>
                                        </p:attrNameLst>
                                      </p:cBhvr>
                                      <p:to>
                                        <p:strVal val="visible"/>
                                      </p:to>
                                    </p:set>
                                    <p:animEffect transition="in" filter="wipe(left)">
                                      <p:cBhvr>
                                        <p:cTn id="17" dur="1000"/>
                                        <p:tgtEl>
                                          <p:spTgt spid="10547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5486"/>
                                        </p:tgtEl>
                                        <p:attrNameLst>
                                          <p:attrName>style.visibility</p:attrName>
                                        </p:attrNameLst>
                                      </p:cBhvr>
                                      <p:to>
                                        <p:strVal val="visible"/>
                                      </p:to>
                                    </p:set>
                                    <p:animEffect transition="in" filter="wipe(left)">
                                      <p:cBhvr>
                                        <p:cTn id="22" dur="1000"/>
                                        <p:tgtEl>
                                          <p:spTgt spid="10548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05480"/>
                                        </p:tgtEl>
                                        <p:attrNameLst>
                                          <p:attrName>style.visibility</p:attrName>
                                        </p:attrNameLst>
                                      </p:cBhvr>
                                      <p:to>
                                        <p:strVal val="visible"/>
                                      </p:to>
                                    </p:set>
                                    <p:animEffect transition="in" filter="wipe(left)">
                                      <p:cBhvr>
                                        <p:cTn id="27" dur="1000"/>
                                        <p:tgtEl>
                                          <p:spTgt spid="10548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05487"/>
                                        </p:tgtEl>
                                        <p:attrNameLst>
                                          <p:attrName>style.visibility</p:attrName>
                                        </p:attrNameLst>
                                      </p:cBhvr>
                                      <p:to>
                                        <p:strVal val="visible"/>
                                      </p:to>
                                    </p:set>
                                    <p:animEffect transition="in" filter="wipe(left)">
                                      <p:cBhvr>
                                        <p:cTn id="32" dur="1000"/>
                                        <p:tgtEl>
                                          <p:spTgt spid="1054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476" grpId="0"/>
      <p:bldP spid="105487"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6498" name="矩形 106497"/>
          <p:cNvSpPr/>
          <p:nvPr/>
        </p:nvSpPr>
        <p:spPr>
          <a:xfrm>
            <a:off x="592138" y="692150"/>
            <a:ext cx="8372475" cy="1554163"/>
          </a:xfrm>
          <a:prstGeom prst="rect">
            <a:avLst/>
          </a:prstGeom>
          <a:noFill/>
          <a:ln w="9525">
            <a:noFill/>
          </a:ln>
        </p:spPr>
        <p:txBody>
          <a:bodyPr anchor="ctr" anchorCtr="0">
            <a:spAutoFit/>
          </a:bodyPr>
          <a:p>
            <a:pPr algn="l" eaLnBrk="1" hangingPunct="1">
              <a:buNone/>
            </a:pPr>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2-3.</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对某种模拟信号</a:t>
            </a:r>
            <a:r>
              <a:rPr lang="en-US" altLang="zh-CN" sz="3200" b="1" i="1" err="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x</a:t>
            </a:r>
            <a:r>
              <a:rPr lang="en-US" altLang="zh-CN" sz="3200" b="1" err="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3200" b="1" i="1" err="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t</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采样时间间隔</a:t>
            </a:r>
            <a:r>
              <a:rPr lang="en-US" altLang="zh-CN" sz="3200" b="1" i="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T</a:t>
            </a:r>
            <a:r>
              <a:rPr lang="en-US" altLang="zh-CN" sz="3200" b="1" baseline="-2500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S</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分</a:t>
            </a:r>
            <a:endPar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a:p>
            <a:pPr algn="l" eaLnBrk="1" hangingPunct="1">
              <a:buNone/>
            </a:pP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      别为</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4ms</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8ms</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16ms</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，试求出这种模拟</a:t>
            </a:r>
            <a:endPar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a:p>
            <a:pPr algn="l" eaLnBrk="1" hangingPunct="1">
              <a:buNone/>
            </a:pP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      信号的截止频率</a:t>
            </a: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n-US" altLang="zh-CN" sz="3200" b="1" i="1" err="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f</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C</a:t>
            </a:r>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分别为多少？</a:t>
            </a:r>
            <a:endPar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p:txBody>
      </p:sp>
      <p:sp>
        <p:nvSpPr>
          <p:cNvPr id="106499" name="文本框 106498"/>
          <p:cNvSpPr txBox="1"/>
          <p:nvPr/>
        </p:nvSpPr>
        <p:spPr>
          <a:xfrm>
            <a:off x="515938" y="2408238"/>
            <a:ext cx="1319212" cy="579437"/>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解</a:t>
            </a:r>
            <a:r>
              <a:rPr lang="zh-CN" altLang="en-US" sz="3200" b="1" dirty="0">
                <a:solidFill>
                  <a:srgbClr val="0000B4"/>
                </a:solidFill>
                <a:effectLst>
                  <a:outerShdw blurRad="38100" dist="38100" dir="2700000">
                    <a:srgbClr val="C0C0C0"/>
                  </a:outerShdw>
                </a:effectLst>
                <a:latin typeface="Arial" panose="020B0604020202020204" pitchFamily="34" charset="0"/>
              </a:rPr>
              <a:t>：</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grpSp>
        <p:nvGrpSpPr>
          <p:cNvPr id="106500" name="组合 106499"/>
          <p:cNvGrpSpPr/>
          <p:nvPr/>
        </p:nvGrpSpPr>
        <p:grpSpPr>
          <a:xfrm>
            <a:off x="1235075" y="2293938"/>
            <a:ext cx="6927850" cy="942975"/>
            <a:chOff x="778" y="1445"/>
            <a:chExt cx="4364" cy="594"/>
          </a:xfrm>
        </p:grpSpPr>
        <p:sp>
          <p:nvSpPr>
            <p:cNvPr id="106501" name="文本框 106500"/>
            <p:cNvSpPr txBox="1"/>
            <p:nvPr/>
          </p:nvSpPr>
          <p:spPr>
            <a:xfrm>
              <a:off x="778" y="1519"/>
              <a:ext cx="4364"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由采样定理         ，有      ，则</a:t>
              </a:r>
              <a:endParaRPr lang="zh-CN" altLang="en-US" sz="3200" b="1" dirty="0">
                <a:solidFill>
                  <a:srgbClr val="0000B4"/>
                </a:solidFill>
                <a:effectLst>
                  <a:outerShdw blurRad="38100" dist="38100" dir="2700000">
                    <a:srgbClr val="C0C0C0"/>
                  </a:outerShdw>
                </a:effectLst>
                <a:latin typeface="楷体_GB2312" pitchFamily="49" charset="-122"/>
              </a:endParaRPr>
            </a:p>
          </p:txBody>
        </p:sp>
        <p:graphicFrame>
          <p:nvGraphicFramePr>
            <p:cNvPr id="106502" name="对象 106501"/>
            <p:cNvGraphicFramePr/>
            <p:nvPr/>
          </p:nvGraphicFramePr>
          <p:xfrm>
            <a:off x="2150" y="1527"/>
            <a:ext cx="1102" cy="361"/>
          </p:xfrm>
          <a:graphic>
            <a:graphicData uri="http://schemas.openxmlformats.org/presentationml/2006/ole">
              <mc:AlternateContent xmlns:mc="http://schemas.openxmlformats.org/markup-compatibility/2006">
                <mc:Choice xmlns:v="urn:schemas-microsoft-com:vml" Requires="v">
                  <p:oleObj spid="_x0000_s3184" name="" r:id="rId1" imgW="584200" imgH="241300" progId="Equation.3">
                    <p:embed/>
                  </p:oleObj>
                </mc:Choice>
                <mc:Fallback>
                  <p:oleObj name="" r:id="rId1" imgW="584200" imgH="241300" progId="Equation.3">
                    <p:embed/>
                    <p:pic>
                      <p:nvPicPr>
                        <p:cNvPr id="0" name="图片 3183"/>
                        <p:cNvPicPr/>
                        <p:nvPr/>
                      </p:nvPicPr>
                      <p:blipFill>
                        <a:blip r:embed="rId2"/>
                        <a:stretch>
                          <a:fillRect/>
                        </a:stretch>
                      </p:blipFill>
                      <p:spPr>
                        <a:xfrm>
                          <a:off x="2150" y="1527"/>
                          <a:ext cx="1102" cy="361"/>
                        </a:xfrm>
                        <a:prstGeom prst="rect">
                          <a:avLst/>
                        </a:prstGeom>
                        <a:noFill/>
                        <a:ln w="38100">
                          <a:noFill/>
                          <a:miter/>
                        </a:ln>
                      </p:spPr>
                    </p:pic>
                  </p:oleObj>
                </mc:Fallback>
              </mc:AlternateContent>
            </a:graphicData>
          </a:graphic>
        </p:graphicFrame>
        <p:graphicFrame>
          <p:nvGraphicFramePr>
            <p:cNvPr id="106503" name="对象 106502"/>
            <p:cNvGraphicFramePr/>
            <p:nvPr/>
          </p:nvGraphicFramePr>
          <p:xfrm>
            <a:off x="3810" y="1445"/>
            <a:ext cx="816" cy="594"/>
          </p:xfrm>
          <a:graphic>
            <a:graphicData uri="http://schemas.openxmlformats.org/presentationml/2006/ole">
              <mc:AlternateContent xmlns:mc="http://schemas.openxmlformats.org/markup-compatibility/2006">
                <mc:Choice xmlns:v="urn:schemas-microsoft-com:vml" Requires="v">
                  <p:oleObj spid="_x0000_s3181" name="" r:id="rId3" imgW="533400" imgH="393700" progId="Equation.3">
                    <p:embed/>
                  </p:oleObj>
                </mc:Choice>
                <mc:Fallback>
                  <p:oleObj name="" r:id="rId3" imgW="533400" imgH="393700" progId="Equation.3">
                    <p:embed/>
                    <p:pic>
                      <p:nvPicPr>
                        <p:cNvPr id="0" name="图片 3180"/>
                        <p:cNvPicPr/>
                        <p:nvPr/>
                      </p:nvPicPr>
                      <p:blipFill>
                        <a:blip r:embed="rId4"/>
                        <a:stretch>
                          <a:fillRect/>
                        </a:stretch>
                      </p:blipFill>
                      <p:spPr>
                        <a:xfrm>
                          <a:off x="3810" y="1445"/>
                          <a:ext cx="816" cy="594"/>
                        </a:xfrm>
                        <a:prstGeom prst="rect">
                          <a:avLst/>
                        </a:prstGeom>
                        <a:noFill/>
                        <a:ln w="38100">
                          <a:noFill/>
                          <a:miter/>
                        </a:ln>
                      </p:spPr>
                    </p:pic>
                  </p:oleObj>
                </mc:Fallback>
              </mc:AlternateContent>
            </a:graphicData>
          </a:graphic>
        </p:graphicFrame>
      </p:grpSp>
      <p:grpSp>
        <p:nvGrpSpPr>
          <p:cNvPr id="106504" name="组合 106503"/>
          <p:cNvGrpSpPr/>
          <p:nvPr/>
        </p:nvGrpSpPr>
        <p:grpSpPr>
          <a:xfrm>
            <a:off x="498475" y="3333750"/>
            <a:ext cx="8178800" cy="981075"/>
            <a:chOff x="314" y="2100"/>
            <a:chExt cx="5152" cy="618"/>
          </a:xfrm>
        </p:grpSpPr>
        <p:sp>
          <p:nvSpPr>
            <p:cNvPr id="106505" name="文本框 106504"/>
            <p:cNvSpPr txBox="1"/>
            <p:nvPr/>
          </p:nvSpPr>
          <p:spPr>
            <a:xfrm>
              <a:off x="314" y="2192"/>
              <a:ext cx="2974" cy="365"/>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当</a:t>
              </a:r>
              <a:r>
                <a:rPr lang="en-US" altLang="zh-CN" sz="3200" b="1" i="1">
                  <a:solidFill>
                    <a:srgbClr val="0000B4"/>
                  </a:solidFill>
                  <a:effectLst>
                    <a:outerShdw blurRad="38100" dist="38100" dir="2700000">
                      <a:srgbClr val="C0C0C0"/>
                    </a:outerShdw>
                  </a:effectLst>
                  <a:latin typeface="Times New Roman" panose="02020603050405020304" pitchFamily="18" charset="0"/>
                </a:rPr>
                <a:t>T</a:t>
              </a:r>
              <a:r>
                <a:rPr lang="en-US" altLang="zh-CN" sz="3200" b="1" baseline="-25000">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宋体" panose="02010600030101010101" pitchFamily="2" charset="-122"/>
                  <a:ea typeface="宋体" panose="02010600030101010101" pitchFamily="2" charset="-122"/>
                </a:rPr>
                <a:t>=</a:t>
              </a:r>
              <a:r>
                <a:rPr lang="en-US" altLang="zh-CN" sz="3200" b="1">
                  <a:solidFill>
                    <a:srgbClr val="0000B4"/>
                  </a:solidFill>
                  <a:effectLst>
                    <a:outerShdw blurRad="38100" dist="38100" dir="2700000">
                      <a:srgbClr val="C0C0C0"/>
                    </a:outerShdw>
                  </a:effectLst>
                  <a:latin typeface="Times New Roman" panose="02020603050405020304" pitchFamily="18" charset="0"/>
                </a:rPr>
                <a:t>4ms</a:t>
              </a:r>
              <a:r>
                <a:rPr lang="zh-CN" altLang="en-US" sz="3200" b="1" dirty="0">
                  <a:solidFill>
                    <a:srgbClr val="0000B4"/>
                  </a:solidFill>
                  <a:effectLst>
                    <a:outerShdw blurRad="38100" dist="38100" dir="2700000">
                      <a:srgbClr val="C0C0C0"/>
                    </a:outerShdw>
                  </a:effectLst>
                  <a:latin typeface="楷体_GB2312" pitchFamily="49" charset="-122"/>
                </a:rPr>
                <a:t>时，</a:t>
              </a:r>
              <a:r>
                <a:rPr lang="en-US" altLang="zh-CN" sz="3200" b="1" i="1" err="1">
                  <a:solidFill>
                    <a:srgbClr val="0000B4"/>
                  </a:solidFill>
                  <a:effectLst>
                    <a:outerShdw blurRad="38100" dist="38100" dir="2700000">
                      <a:srgbClr val="C0C0C0"/>
                    </a:outerShdw>
                  </a:effectLst>
                  <a:latin typeface="Times New Roman" panose="02020603050405020304" pitchFamily="18" charset="0"/>
                </a:rPr>
                <a:t>f</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Times New Roman" panose="02020603050405020304" pitchFamily="18" charset="0"/>
                </a:rPr>
                <a:t>=250Hz</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6506" name="矩形 106505"/>
            <p:cNvSpPr/>
            <p:nvPr/>
          </p:nvSpPr>
          <p:spPr>
            <a:xfrm>
              <a:off x="3236" y="2175"/>
              <a:ext cx="453" cy="365"/>
            </a:xfrm>
            <a:prstGeom prst="rect">
              <a:avLst/>
            </a:prstGeom>
            <a:noFill/>
            <a:ln w="9525">
              <a:noFill/>
            </a:ln>
          </p:spPr>
          <p:txBody>
            <a:bodyPr anchor="ctr" anchorCtr="0">
              <a:spAutoFit/>
            </a:bodyPr>
            <a:p>
              <a:pPr algn="l" eaLnBrk="1" hangingPunct="1">
                <a:buNone/>
              </a:pPr>
              <a:r>
                <a:rPr lang="zh-CN" altLang="en-US" sz="3200" b="0"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endParaRPr lang="zh-CN" altLang="en-US" sz="3200" b="0"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p:txBody>
        </p:sp>
        <p:graphicFrame>
          <p:nvGraphicFramePr>
            <p:cNvPr id="106507" name="对象 106506"/>
            <p:cNvGraphicFramePr/>
            <p:nvPr/>
          </p:nvGraphicFramePr>
          <p:xfrm>
            <a:off x="3583" y="2100"/>
            <a:ext cx="1883" cy="618"/>
          </p:xfrm>
          <a:graphic>
            <a:graphicData uri="http://schemas.openxmlformats.org/presentationml/2006/ole">
              <mc:AlternateContent xmlns:mc="http://schemas.openxmlformats.org/markup-compatibility/2006">
                <mc:Choice xmlns:v="urn:schemas-microsoft-com:vml" Requires="v">
                  <p:oleObj spid="_x0000_s3178" name="" r:id="rId5" imgW="1155065" imgH="393700" progId="Equation.3">
                    <p:embed/>
                  </p:oleObj>
                </mc:Choice>
                <mc:Fallback>
                  <p:oleObj name="" r:id="rId5" imgW="1155065" imgH="393700" progId="Equation.3">
                    <p:embed/>
                    <p:pic>
                      <p:nvPicPr>
                        <p:cNvPr id="0" name="图片 3177"/>
                        <p:cNvPicPr/>
                        <p:nvPr/>
                      </p:nvPicPr>
                      <p:blipFill>
                        <a:blip r:embed="rId6"/>
                        <a:stretch>
                          <a:fillRect/>
                        </a:stretch>
                      </p:blipFill>
                      <p:spPr>
                        <a:xfrm>
                          <a:off x="3583" y="2100"/>
                          <a:ext cx="1883" cy="618"/>
                        </a:xfrm>
                        <a:prstGeom prst="rect">
                          <a:avLst/>
                        </a:prstGeom>
                        <a:noFill/>
                        <a:ln w="38100">
                          <a:noFill/>
                          <a:miter/>
                        </a:ln>
                      </p:spPr>
                    </p:pic>
                  </p:oleObj>
                </mc:Fallback>
              </mc:AlternateContent>
            </a:graphicData>
          </a:graphic>
        </p:graphicFrame>
      </p:grpSp>
      <p:grpSp>
        <p:nvGrpSpPr>
          <p:cNvPr id="106508" name="组合 106507"/>
          <p:cNvGrpSpPr/>
          <p:nvPr/>
        </p:nvGrpSpPr>
        <p:grpSpPr>
          <a:xfrm>
            <a:off x="442913" y="4381500"/>
            <a:ext cx="8212137" cy="981075"/>
            <a:chOff x="279" y="2760"/>
            <a:chExt cx="5173" cy="618"/>
          </a:xfrm>
        </p:grpSpPr>
        <p:sp>
          <p:nvSpPr>
            <p:cNvPr id="106509" name="文本框 106508"/>
            <p:cNvSpPr txBox="1"/>
            <p:nvPr/>
          </p:nvSpPr>
          <p:spPr>
            <a:xfrm>
              <a:off x="279" y="2852"/>
              <a:ext cx="2728"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当</a:t>
              </a:r>
              <a:r>
                <a:rPr lang="en-US" altLang="zh-CN" sz="3200" b="1" i="1">
                  <a:solidFill>
                    <a:srgbClr val="0000B4"/>
                  </a:solidFill>
                  <a:effectLst>
                    <a:outerShdw blurRad="38100" dist="38100" dir="2700000">
                      <a:srgbClr val="C0C0C0"/>
                    </a:outerShdw>
                  </a:effectLst>
                  <a:latin typeface="Times New Roman" panose="02020603050405020304" pitchFamily="18" charset="0"/>
                </a:rPr>
                <a:t>T</a:t>
              </a:r>
              <a:r>
                <a:rPr lang="en-US" altLang="zh-CN" sz="3200" b="1" baseline="-25000">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宋体" panose="02010600030101010101" pitchFamily="2" charset="-122"/>
                  <a:ea typeface="宋体" panose="02010600030101010101" pitchFamily="2" charset="-122"/>
                </a:rPr>
                <a:t>=8</a:t>
              </a:r>
              <a:r>
                <a:rPr lang="en-US" altLang="zh-CN" sz="3200" b="1">
                  <a:solidFill>
                    <a:srgbClr val="0000B4"/>
                  </a:solidFill>
                  <a:effectLst>
                    <a:outerShdw blurRad="38100" dist="38100" dir="2700000">
                      <a:srgbClr val="C0C0C0"/>
                    </a:outerShdw>
                  </a:effectLst>
                  <a:latin typeface="Times New Roman" panose="02020603050405020304" pitchFamily="18" charset="0"/>
                </a:rPr>
                <a:t>ms</a:t>
              </a:r>
              <a:r>
                <a:rPr lang="zh-CN" altLang="en-US" sz="3200" b="1" dirty="0">
                  <a:solidFill>
                    <a:srgbClr val="0000B4"/>
                  </a:solidFill>
                  <a:effectLst>
                    <a:outerShdw blurRad="38100" dist="38100" dir="2700000">
                      <a:srgbClr val="C0C0C0"/>
                    </a:outerShdw>
                  </a:effectLst>
                  <a:latin typeface="楷体_GB2312" pitchFamily="49" charset="-122"/>
                </a:rPr>
                <a:t>时，</a:t>
              </a:r>
              <a:r>
                <a:rPr lang="en-US" altLang="zh-CN" sz="3200" b="1" i="1" err="1">
                  <a:solidFill>
                    <a:srgbClr val="0000B4"/>
                  </a:solidFill>
                  <a:effectLst>
                    <a:outerShdw blurRad="38100" dist="38100" dir="2700000">
                      <a:srgbClr val="C0C0C0"/>
                    </a:outerShdw>
                  </a:effectLst>
                  <a:latin typeface="Times New Roman" panose="02020603050405020304" pitchFamily="18" charset="0"/>
                </a:rPr>
                <a:t>f</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Times New Roman" panose="02020603050405020304" pitchFamily="18" charset="0"/>
                </a:rPr>
                <a:t>=125Hz</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6510" name="矩形 106509"/>
            <p:cNvSpPr/>
            <p:nvPr/>
          </p:nvSpPr>
          <p:spPr>
            <a:xfrm>
              <a:off x="3201" y="2856"/>
              <a:ext cx="453" cy="365"/>
            </a:xfrm>
            <a:prstGeom prst="rect">
              <a:avLst/>
            </a:prstGeom>
            <a:noFill/>
            <a:ln w="9525">
              <a:noFill/>
            </a:ln>
          </p:spPr>
          <p:txBody>
            <a:bodyPr anchor="ctr" anchorCtr="0">
              <a:spAutoFit/>
            </a:bodyPr>
            <a:p>
              <a:pPr algn="l" eaLnBrk="1" hangingPunct="1">
                <a:buNone/>
              </a:pPr>
              <a:r>
                <a:rPr lang="zh-CN" altLang="en-US" sz="3200" b="0"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endParaRPr lang="zh-CN" altLang="en-US" sz="3200" b="0"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p:txBody>
        </p:sp>
        <p:graphicFrame>
          <p:nvGraphicFramePr>
            <p:cNvPr id="106511" name="对象 106510"/>
            <p:cNvGraphicFramePr/>
            <p:nvPr/>
          </p:nvGraphicFramePr>
          <p:xfrm>
            <a:off x="3527" y="2760"/>
            <a:ext cx="1925" cy="618"/>
          </p:xfrm>
          <a:graphic>
            <a:graphicData uri="http://schemas.openxmlformats.org/presentationml/2006/ole">
              <mc:AlternateContent xmlns:mc="http://schemas.openxmlformats.org/markup-compatibility/2006">
                <mc:Choice xmlns:v="urn:schemas-microsoft-com:vml" Requires="v">
                  <p:oleObj spid="_x0000_s3182" name="" r:id="rId7" imgW="1180465" imgH="393700" progId="Equation.3">
                    <p:embed/>
                  </p:oleObj>
                </mc:Choice>
                <mc:Fallback>
                  <p:oleObj name="" r:id="rId7" imgW="1180465" imgH="393700" progId="Equation.3">
                    <p:embed/>
                    <p:pic>
                      <p:nvPicPr>
                        <p:cNvPr id="0" name="图片 3181"/>
                        <p:cNvPicPr/>
                        <p:nvPr/>
                      </p:nvPicPr>
                      <p:blipFill>
                        <a:blip r:embed="rId8"/>
                        <a:stretch>
                          <a:fillRect/>
                        </a:stretch>
                      </p:blipFill>
                      <p:spPr>
                        <a:xfrm>
                          <a:off x="3527" y="2760"/>
                          <a:ext cx="1925" cy="618"/>
                        </a:xfrm>
                        <a:prstGeom prst="rect">
                          <a:avLst/>
                        </a:prstGeom>
                        <a:noFill/>
                        <a:ln w="38100">
                          <a:noFill/>
                          <a:miter/>
                        </a:ln>
                      </p:spPr>
                    </p:pic>
                  </p:oleObj>
                </mc:Fallback>
              </mc:AlternateContent>
            </a:graphicData>
          </a:graphic>
        </p:graphicFrame>
      </p:grpSp>
      <p:grpSp>
        <p:nvGrpSpPr>
          <p:cNvPr id="106512" name="组合 106511"/>
          <p:cNvGrpSpPr/>
          <p:nvPr/>
        </p:nvGrpSpPr>
        <p:grpSpPr>
          <a:xfrm>
            <a:off x="395288" y="5424488"/>
            <a:ext cx="8569325" cy="981075"/>
            <a:chOff x="249" y="3417"/>
            <a:chExt cx="5398" cy="618"/>
          </a:xfrm>
        </p:grpSpPr>
        <p:sp>
          <p:nvSpPr>
            <p:cNvPr id="106513" name="文本框 106512"/>
            <p:cNvSpPr txBox="1"/>
            <p:nvPr/>
          </p:nvSpPr>
          <p:spPr>
            <a:xfrm>
              <a:off x="249" y="3509"/>
              <a:ext cx="2919" cy="365"/>
            </a:xfrm>
            <a:prstGeom prst="rect">
              <a:avLst/>
            </a:prstGeom>
            <a:noFill/>
            <a:ln w="9525">
              <a:noFill/>
            </a:ln>
          </p:spPr>
          <p:txBody>
            <a:bodyPr wrap="none" anchor="t" anchorCtr="0">
              <a:spAutoFit/>
            </a:bodyPr>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当</a:t>
              </a:r>
              <a:r>
                <a:rPr lang="en-US" altLang="zh-CN" sz="3200" b="1" i="1">
                  <a:solidFill>
                    <a:srgbClr val="0000B4"/>
                  </a:solidFill>
                  <a:effectLst>
                    <a:outerShdw blurRad="38100" dist="38100" dir="2700000">
                      <a:srgbClr val="C0C0C0"/>
                    </a:outerShdw>
                  </a:effectLst>
                  <a:latin typeface="Times New Roman" panose="02020603050405020304" pitchFamily="18" charset="0"/>
                </a:rPr>
                <a:t>T</a:t>
              </a:r>
              <a:r>
                <a:rPr lang="en-US" altLang="zh-CN" sz="3200" b="1" baseline="-25000">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宋体" panose="02010600030101010101" pitchFamily="2" charset="-122"/>
                  <a:ea typeface="宋体" panose="02010600030101010101" pitchFamily="2" charset="-122"/>
                </a:rPr>
                <a:t>=</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16</a:t>
              </a:r>
              <a:r>
                <a:rPr lang="en-US" altLang="zh-CN" sz="3200" b="1">
                  <a:solidFill>
                    <a:srgbClr val="0000B4"/>
                  </a:solidFill>
                  <a:effectLst>
                    <a:outerShdw blurRad="38100" dist="38100" dir="2700000">
                      <a:srgbClr val="C0C0C0"/>
                    </a:outerShdw>
                  </a:effectLst>
                  <a:latin typeface="Times New Roman" panose="02020603050405020304" pitchFamily="18" charset="0"/>
                </a:rPr>
                <a:t>ms</a:t>
              </a:r>
              <a:r>
                <a:rPr lang="zh-CN" altLang="en-US" sz="3200" b="1" dirty="0">
                  <a:solidFill>
                    <a:srgbClr val="0000B4"/>
                  </a:solidFill>
                  <a:effectLst>
                    <a:outerShdw blurRad="38100" dist="38100" dir="2700000">
                      <a:srgbClr val="C0C0C0"/>
                    </a:outerShdw>
                  </a:effectLst>
                  <a:latin typeface="楷体_GB2312" pitchFamily="49" charset="-122"/>
                </a:rPr>
                <a:t>时，</a:t>
              </a:r>
              <a:r>
                <a:rPr lang="en-US" altLang="zh-CN" sz="3200" b="1" i="1" err="1">
                  <a:solidFill>
                    <a:srgbClr val="0000B4"/>
                  </a:solidFill>
                  <a:effectLst>
                    <a:outerShdw blurRad="38100" dist="38100" dir="2700000">
                      <a:srgbClr val="C0C0C0"/>
                    </a:outerShdw>
                  </a:effectLst>
                  <a:latin typeface="Times New Roman" panose="02020603050405020304" pitchFamily="18" charset="0"/>
                </a:rPr>
                <a:t>f</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S</a:t>
              </a:r>
              <a:r>
                <a:rPr lang="en-US" altLang="zh-CN" sz="3200" b="1">
                  <a:solidFill>
                    <a:srgbClr val="0000B4"/>
                  </a:solidFill>
                  <a:effectLst>
                    <a:outerShdw blurRad="38100" dist="38100" dir="2700000">
                      <a:srgbClr val="C0C0C0"/>
                    </a:outerShdw>
                  </a:effectLst>
                  <a:latin typeface="Times New Roman" panose="02020603050405020304" pitchFamily="18" charset="0"/>
                </a:rPr>
                <a:t>=62.5Hz</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6514" name="矩形 106513"/>
            <p:cNvSpPr/>
            <p:nvPr/>
          </p:nvSpPr>
          <p:spPr>
            <a:xfrm>
              <a:off x="3201" y="3491"/>
              <a:ext cx="453" cy="365"/>
            </a:xfrm>
            <a:prstGeom prst="rect">
              <a:avLst/>
            </a:prstGeom>
            <a:noFill/>
            <a:ln w="9525">
              <a:noFill/>
            </a:ln>
          </p:spPr>
          <p:txBody>
            <a:bodyPr anchor="ctr" anchorCtr="0">
              <a:spAutoFit/>
            </a:bodyPr>
            <a:p>
              <a:pPr algn="l" eaLnBrk="1" hangingPunct="1">
                <a:buNone/>
              </a:pPr>
              <a:r>
                <a:rPr lang="zh-CN" altLang="en-US" sz="3200" b="0"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endParaRPr lang="zh-CN" altLang="en-US" sz="3200" b="0"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p:txBody>
        </p:sp>
        <p:graphicFrame>
          <p:nvGraphicFramePr>
            <p:cNvPr id="106515" name="对象 106514"/>
            <p:cNvGraphicFramePr/>
            <p:nvPr/>
          </p:nvGraphicFramePr>
          <p:xfrm>
            <a:off x="3515" y="3417"/>
            <a:ext cx="2132" cy="618"/>
          </p:xfrm>
          <a:graphic>
            <a:graphicData uri="http://schemas.openxmlformats.org/presentationml/2006/ole">
              <mc:AlternateContent xmlns:mc="http://schemas.openxmlformats.org/markup-compatibility/2006">
                <mc:Choice xmlns:v="urn:schemas-microsoft-com:vml" Requires="v">
                  <p:oleObj spid="_x0000_s3185" name="" r:id="rId9" imgW="1307465" imgH="393700" progId="Equation.3">
                    <p:embed/>
                  </p:oleObj>
                </mc:Choice>
                <mc:Fallback>
                  <p:oleObj name="" r:id="rId9" imgW="1307465" imgH="393700" progId="Equation.3">
                    <p:embed/>
                    <p:pic>
                      <p:nvPicPr>
                        <p:cNvPr id="0" name="图片 3184"/>
                        <p:cNvPicPr/>
                        <p:nvPr/>
                      </p:nvPicPr>
                      <p:blipFill>
                        <a:blip r:embed="rId10"/>
                        <a:stretch>
                          <a:fillRect/>
                        </a:stretch>
                      </p:blipFill>
                      <p:spPr>
                        <a:xfrm>
                          <a:off x="3515" y="3417"/>
                          <a:ext cx="2132" cy="618"/>
                        </a:xfrm>
                        <a:prstGeom prst="rect">
                          <a:avLst/>
                        </a:prstGeom>
                        <a:noFill/>
                        <a:ln w="38100">
                          <a:noFill/>
                          <a:miter/>
                        </a:ln>
                      </p:spPr>
                    </p:pic>
                  </p:oleObj>
                </mc:Fallback>
              </mc:AlternateContent>
            </a:graphicData>
          </a:graphic>
        </p:graphicFrame>
      </p:grpSp>
      <p:sp>
        <p:nvSpPr>
          <p:cNvPr id="106516" name="文本框 106515"/>
          <p:cNvSpPr txBox="1"/>
          <p:nvPr/>
        </p:nvSpPr>
        <p:spPr>
          <a:xfrm>
            <a:off x="2916238" y="-26987"/>
            <a:ext cx="3556000" cy="519112"/>
          </a:xfrm>
          <a:prstGeom prst="rect">
            <a:avLst/>
          </a:prstGeom>
          <a:noFill/>
          <a:ln w="9525">
            <a:noFill/>
          </a:ln>
        </p:spPr>
        <p:txBody>
          <a:bodyPr wrap="none" anchor="t" anchorCtr="0">
            <a:spAutoFit/>
          </a:bodyPr>
          <a:p>
            <a:pPr algn="l" eaLnBrk="1" hangingPunct="1"/>
            <a:r>
              <a:rPr lang="zh-CN" altLang="en-US" sz="2800" b="1" dirty="0">
                <a:solidFill>
                  <a:srgbClr val="0000B4"/>
                </a:solidFill>
                <a:latin typeface="华文新魏" panose="02010800040101010101" pitchFamily="2" charset="-122"/>
                <a:ea typeface="华文新魏" panose="02010800040101010101" pitchFamily="2" charset="-122"/>
              </a:rPr>
              <a:t>第</a:t>
            </a:r>
            <a:r>
              <a:rPr lang="en-US" altLang="zh-CN" sz="2800" b="1">
                <a:solidFill>
                  <a:srgbClr val="0000B4"/>
                </a:solidFill>
                <a:latin typeface="Times New Roman" panose="02020603050405020304" pitchFamily="18" charset="0"/>
                <a:ea typeface="华文新魏" panose="02010800040101010101" pitchFamily="2" charset="-122"/>
              </a:rPr>
              <a:t>2</a:t>
            </a:r>
            <a:r>
              <a:rPr lang="zh-CN" altLang="en-US" sz="2800" b="1" dirty="0">
                <a:solidFill>
                  <a:srgbClr val="0000B4"/>
                </a:solidFill>
                <a:latin typeface="华文新魏" panose="02010800040101010101" pitchFamily="2" charset="-122"/>
                <a:ea typeface="华文新魏" panose="02010800040101010101" pitchFamily="2" charset="-122"/>
              </a:rPr>
              <a:t>章 习题与思考题   </a:t>
            </a:r>
            <a:endParaRPr lang="zh-CN" altLang="en-US" sz="2800" b="1" dirty="0">
              <a:solidFill>
                <a:srgbClr val="0000B4"/>
              </a:solidFill>
              <a:latin typeface="华文新魏" panose="02010800040101010101" pitchFamily="2" charset="-122"/>
              <a:ea typeface="华文新魏" panose="02010800040101010101" pitchFamily="2"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6499"/>
                                        </p:tgtEl>
                                        <p:attrNameLst>
                                          <p:attrName>style.visibility</p:attrName>
                                        </p:attrNameLst>
                                      </p:cBhvr>
                                      <p:to>
                                        <p:strVal val="visible"/>
                                      </p:to>
                                    </p:set>
                                    <p:animEffect transition="in" filter="dissolve">
                                      <p:cBhvr>
                                        <p:cTn id="7" dur="500"/>
                                        <p:tgtEl>
                                          <p:spTgt spid="10649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6500"/>
                                        </p:tgtEl>
                                        <p:attrNameLst>
                                          <p:attrName>style.visibility</p:attrName>
                                        </p:attrNameLst>
                                      </p:cBhvr>
                                      <p:to>
                                        <p:strVal val="visible"/>
                                      </p:to>
                                    </p:set>
                                    <p:animEffect transition="in" filter="wipe(left)">
                                      <p:cBhvr>
                                        <p:cTn id="12" dur="1000"/>
                                        <p:tgtEl>
                                          <p:spTgt spid="10650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6504"/>
                                        </p:tgtEl>
                                        <p:attrNameLst>
                                          <p:attrName>style.visibility</p:attrName>
                                        </p:attrNameLst>
                                      </p:cBhvr>
                                      <p:to>
                                        <p:strVal val="visible"/>
                                      </p:to>
                                    </p:set>
                                    <p:animEffect transition="in" filter="wipe(left)">
                                      <p:cBhvr>
                                        <p:cTn id="17" dur="1000"/>
                                        <p:tgtEl>
                                          <p:spTgt spid="10650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06508"/>
                                        </p:tgtEl>
                                        <p:attrNameLst>
                                          <p:attrName>style.visibility</p:attrName>
                                        </p:attrNameLst>
                                      </p:cBhvr>
                                      <p:to>
                                        <p:strVal val="visible"/>
                                      </p:to>
                                    </p:set>
                                    <p:animEffect transition="in" filter="wipe(left)">
                                      <p:cBhvr>
                                        <p:cTn id="22" dur="1000"/>
                                        <p:tgtEl>
                                          <p:spTgt spid="10650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06512"/>
                                        </p:tgtEl>
                                        <p:attrNameLst>
                                          <p:attrName>style.visibility</p:attrName>
                                        </p:attrNameLst>
                                      </p:cBhvr>
                                      <p:to>
                                        <p:strVal val="visible"/>
                                      </p:to>
                                    </p:set>
                                    <p:animEffect transition="in" filter="wipe(left)">
                                      <p:cBhvr>
                                        <p:cTn id="27" dur="1000"/>
                                        <p:tgtEl>
                                          <p:spTgt spid="106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9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7522" name="矩形 107521"/>
          <p:cNvSpPr/>
          <p:nvPr/>
        </p:nvSpPr>
        <p:spPr>
          <a:xfrm>
            <a:off x="684213" y="922338"/>
            <a:ext cx="8208962" cy="1066800"/>
          </a:xfrm>
          <a:prstGeom prst="rect">
            <a:avLst/>
          </a:prstGeom>
          <a:noFill/>
          <a:ln w="9525">
            <a:noFill/>
          </a:ln>
        </p:spPr>
        <p:txBody>
          <a:bodyPr anchor="ctr" anchorCtr="0">
            <a:spAutoFit/>
          </a:bodyPr>
          <a:p>
            <a:pPr algn="l" eaLnBrk="1" hangingPunct="1"/>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2-4. </a:t>
            </a:r>
            <a:r>
              <a:rPr lang="zh-CN" altLang="en-US" sz="3200" b="1" dirty="0">
                <a:solidFill>
                  <a:srgbClr val="0000B4"/>
                </a:solidFill>
                <a:effectLst>
                  <a:outerShdw blurRad="38100" dist="38100" dir="2700000">
                    <a:srgbClr val="C0C0C0"/>
                  </a:outerShdw>
                </a:effectLst>
                <a:latin typeface="楷体_GB2312" pitchFamily="49" charset="-122"/>
              </a:rPr>
              <a:t>采样周期与哪些因素有关？如何选择采</a:t>
            </a:r>
            <a:endParaRPr lang="zh-CN" altLang="en-US" sz="3200" b="1" dirty="0">
              <a:solidFill>
                <a:srgbClr val="0000B4"/>
              </a:solidFill>
              <a:effectLst>
                <a:outerShdw blurRad="38100" dist="38100" dir="2700000">
                  <a:srgbClr val="C0C0C0"/>
                </a:outerShdw>
              </a:effectLst>
              <a:latin typeface="楷体_GB2312" pitchFamily="49" charset="-122"/>
            </a:endParaRPr>
          </a:p>
          <a:p>
            <a:pPr algn="l" eaLnBrk="1" hangingPunct="1"/>
            <a:r>
              <a:rPr lang="zh-CN" altLang="en-US" sz="3200" b="1" dirty="0">
                <a:solidFill>
                  <a:srgbClr val="0000B4"/>
                </a:solidFill>
                <a:effectLst>
                  <a:outerShdw blurRad="38100" dist="38100" dir="2700000">
                    <a:srgbClr val="C0C0C0"/>
                  </a:outerShdw>
                </a:effectLst>
                <a:latin typeface="楷体_GB2312" pitchFamily="49" charset="-122"/>
              </a:rPr>
              <a:t>    样周期？</a:t>
            </a:r>
            <a:endParaRPr lang="zh-CN" altLang="en-US" sz="3200" b="1" dirty="0">
              <a:solidFill>
                <a:srgbClr val="0000B4"/>
              </a:solidFill>
              <a:effectLst>
                <a:outerShdw blurRad="38100" dist="38100" dir="2700000">
                  <a:srgbClr val="C0C0C0"/>
                </a:outerShdw>
              </a:effectLst>
              <a:latin typeface="楷体_GB2312" pitchFamily="49" charset="-122"/>
            </a:endParaRPr>
          </a:p>
        </p:txBody>
      </p:sp>
      <p:sp>
        <p:nvSpPr>
          <p:cNvPr id="107523" name="文本框 107522"/>
          <p:cNvSpPr txBox="1"/>
          <p:nvPr/>
        </p:nvSpPr>
        <p:spPr>
          <a:xfrm>
            <a:off x="515938" y="2492375"/>
            <a:ext cx="1535112" cy="579438"/>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解</a:t>
            </a:r>
            <a:r>
              <a:rPr lang="zh-CN" altLang="en-US" sz="3200" b="1" dirty="0">
                <a:solidFill>
                  <a:srgbClr val="0000B4"/>
                </a:solidFill>
                <a:effectLst>
                  <a:outerShdw blurRad="38100" dist="38100" dir="2700000">
                    <a:srgbClr val="C0C0C0"/>
                  </a:outerShdw>
                </a:effectLst>
                <a:latin typeface="Arial" panose="020B0604020202020204" pitchFamily="34" charset="0"/>
              </a:rPr>
              <a:t>：</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sp>
        <p:nvSpPr>
          <p:cNvPr id="107524" name="矩形 107523"/>
          <p:cNvSpPr/>
          <p:nvPr/>
        </p:nvSpPr>
        <p:spPr>
          <a:xfrm>
            <a:off x="611188" y="3641725"/>
            <a:ext cx="8281987" cy="579438"/>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1.</a:t>
            </a:r>
            <a:r>
              <a:rPr lang="en-US" altLang="zh-CN" sz="3200" b="1">
                <a:solidFill>
                  <a:srgbClr val="0000B4"/>
                </a:solidFill>
                <a:effectLst>
                  <a:outerShdw blurRad="38100" dist="38100" dir="2700000">
                    <a:srgbClr val="C0C0C0"/>
                  </a:outerShdw>
                </a:effectLst>
                <a:latin typeface="楷体_GB2312" pitchFamily="49" charset="-122"/>
              </a:rPr>
              <a:t> </a:t>
            </a:r>
            <a:r>
              <a:rPr lang="zh-CN" altLang="en-US" sz="3200" b="1" dirty="0">
                <a:solidFill>
                  <a:srgbClr val="0000B4"/>
                </a:solidFill>
                <a:effectLst>
                  <a:outerShdw blurRad="38100" dist="38100" dir="2700000">
                    <a:srgbClr val="C0C0C0"/>
                  </a:outerShdw>
                </a:effectLst>
                <a:latin typeface="楷体_GB2312" pitchFamily="49" charset="-122"/>
              </a:rPr>
              <a:t>采样周期与信号</a:t>
            </a:r>
            <a:r>
              <a:rPr lang="en-US" altLang="zh-CN" sz="3200" b="1" i="1" err="1">
                <a:solidFill>
                  <a:srgbClr val="0000B4"/>
                </a:solidFill>
                <a:effectLst>
                  <a:outerShdw blurRad="38100" dist="38100" dir="2700000">
                    <a:srgbClr val="C0C0C0"/>
                  </a:outerShdw>
                </a:effectLst>
                <a:latin typeface="Times New Roman" panose="02020603050405020304" pitchFamily="18" charset="0"/>
              </a:rPr>
              <a:t>x</a:t>
            </a:r>
            <a:r>
              <a:rPr lang="en-US" altLang="zh-CN" sz="3200" b="1" err="1">
                <a:solidFill>
                  <a:srgbClr val="0000B4"/>
                </a:solidFill>
                <a:effectLst>
                  <a:outerShdw blurRad="38100" dist="38100" dir="2700000">
                    <a:srgbClr val="C0C0C0"/>
                  </a:outerShdw>
                </a:effectLst>
                <a:latin typeface="Times New Roman" panose="02020603050405020304" pitchFamily="18" charset="0"/>
              </a:rPr>
              <a:t>(</a:t>
            </a:r>
            <a:r>
              <a:rPr lang="en-US" altLang="zh-CN" sz="3200" b="1" i="1" err="1">
                <a:solidFill>
                  <a:srgbClr val="0000B4"/>
                </a:solidFill>
                <a:effectLst>
                  <a:outerShdw blurRad="38100" dist="38100" dir="2700000">
                    <a:srgbClr val="C0C0C0"/>
                  </a:outerShdw>
                </a:effectLst>
                <a:latin typeface="Times New Roman" panose="02020603050405020304" pitchFamily="18" charset="0"/>
              </a:rPr>
              <a:t>t</a:t>
            </a:r>
            <a:r>
              <a:rPr lang="en-US" altLang="zh-CN" sz="3200" b="1">
                <a:solidFill>
                  <a:srgbClr val="0000B4"/>
                </a:solidFill>
                <a:effectLst>
                  <a:outerShdw blurRad="38100" dist="38100" dir="2700000">
                    <a:srgbClr val="C0C0C0"/>
                  </a:outerShdw>
                </a:effectLst>
                <a:latin typeface="Times New Roman" panose="02020603050405020304" pitchFamily="18" charset="0"/>
              </a:rPr>
              <a:t>) </a:t>
            </a:r>
            <a:r>
              <a:rPr lang="zh-CN" altLang="en-US" sz="3200" b="1" dirty="0">
                <a:solidFill>
                  <a:srgbClr val="0000B4"/>
                </a:solidFill>
                <a:effectLst>
                  <a:outerShdw blurRad="38100" dist="38100" dir="2700000">
                    <a:srgbClr val="C0C0C0"/>
                  </a:outerShdw>
                </a:effectLst>
                <a:latin typeface="楷体_GB2312" pitchFamily="49" charset="-122"/>
              </a:rPr>
              <a:t>的截止频率</a:t>
            </a:r>
            <a:r>
              <a:rPr lang="en-US" altLang="zh-CN" sz="3200" b="1" i="1" err="1">
                <a:solidFill>
                  <a:srgbClr val="0000B4"/>
                </a:solidFill>
                <a:effectLst>
                  <a:outerShdw blurRad="38100" dist="38100" dir="2700000">
                    <a:srgbClr val="C0C0C0"/>
                  </a:outerShdw>
                </a:effectLst>
                <a:latin typeface="Times New Roman" panose="02020603050405020304" pitchFamily="18" charset="0"/>
              </a:rPr>
              <a:t>f</a:t>
            </a:r>
            <a:r>
              <a:rPr lang="en-US" altLang="zh-CN" sz="3200" b="1" baseline="-25000" err="1">
                <a:solidFill>
                  <a:srgbClr val="0000B4"/>
                </a:solidFill>
                <a:effectLst>
                  <a:outerShdw blurRad="38100" dist="38100" dir="2700000">
                    <a:srgbClr val="C0C0C0"/>
                  </a:outerShdw>
                </a:effectLst>
                <a:latin typeface="Times New Roman" panose="02020603050405020304" pitchFamily="18" charset="0"/>
              </a:rPr>
              <a:t>C</a:t>
            </a:r>
            <a:r>
              <a:rPr lang="en-US" altLang="zh-CN" sz="3200" b="1" baseline="-25000">
                <a:solidFill>
                  <a:srgbClr val="0000B4"/>
                </a:solidFill>
                <a:effectLst>
                  <a:outerShdw blurRad="38100" dist="38100" dir="2700000">
                    <a:srgbClr val="C0C0C0"/>
                  </a:outerShdw>
                </a:effectLst>
                <a:latin typeface="Times New Roman" panose="02020603050405020304" pitchFamily="18" charset="0"/>
              </a:rPr>
              <a:t> </a:t>
            </a:r>
            <a:r>
              <a:rPr lang="zh-CN" altLang="en-US" sz="3200" b="1" dirty="0">
                <a:solidFill>
                  <a:srgbClr val="0000B4"/>
                </a:solidFill>
                <a:effectLst>
                  <a:outerShdw blurRad="38100" dist="38100" dir="2700000">
                    <a:srgbClr val="C0C0C0"/>
                  </a:outerShdw>
                </a:effectLst>
                <a:latin typeface="楷体_GB2312" pitchFamily="49" charset="-122"/>
              </a:rPr>
              <a:t>有关。</a:t>
            </a:r>
            <a:endParaRPr lang="zh-CN" altLang="en-US" sz="3200" b="1" dirty="0">
              <a:solidFill>
                <a:srgbClr val="0000B4"/>
              </a:solidFill>
              <a:effectLst>
                <a:outerShdw blurRad="38100" dist="38100" dir="2700000">
                  <a:srgbClr val="C0C0C0"/>
                </a:outerShdw>
              </a:effectLst>
              <a:latin typeface="楷体_GB2312" pitchFamily="49" charset="-122"/>
            </a:endParaRPr>
          </a:p>
        </p:txBody>
      </p:sp>
      <p:grpSp>
        <p:nvGrpSpPr>
          <p:cNvPr id="107525" name="组合 107524"/>
          <p:cNvGrpSpPr/>
          <p:nvPr/>
        </p:nvGrpSpPr>
        <p:grpSpPr>
          <a:xfrm>
            <a:off x="611188" y="4976813"/>
            <a:ext cx="8532812" cy="1116012"/>
            <a:chOff x="385" y="3135"/>
            <a:chExt cx="5375" cy="703"/>
          </a:xfrm>
        </p:grpSpPr>
        <p:sp>
          <p:nvSpPr>
            <p:cNvPr id="107526" name="矩形 107525"/>
            <p:cNvSpPr/>
            <p:nvPr/>
          </p:nvSpPr>
          <p:spPr>
            <a:xfrm>
              <a:off x="385" y="3256"/>
              <a:ext cx="5375" cy="365"/>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2.</a:t>
              </a:r>
              <a:r>
                <a:rPr lang="en-US" altLang="zh-CN" sz="3200" b="1">
                  <a:solidFill>
                    <a:srgbClr val="0000B4"/>
                  </a:solidFill>
                  <a:effectLst>
                    <a:outerShdw blurRad="38100" dist="38100" dir="2700000">
                      <a:srgbClr val="C0C0C0"/>
                    </a:outerShdw>
                  </a:effectLst>
                  <a:latin typeface="楷体_GB2312" pitchFamily="49" charset="-122"/>
                </a:rPr>
                <a:t> </a:t>
              </a:r>
              <a:r>
                <a:rPr lang="zh-CN" altLang="en-US" sz="3200" b="1" dirty="0">
                  <a:solidFill>
                    <a:srgbClr val="0000B4"/>
                  </a:solidFill>
                  <a:effectLst>
                    <a:outerShdw blurRad="38100" dist="38100" dir="2700000">
                      <a:srgbClr val="C0C0C0"/>
                    </a:outerShdw>
                  </a:effectLst>
                  <a:latin typeface="楷体_GB2312" pitchFamily="49" charset="-122"/>
                </a:rPr>
                <a:t>根据采样定理         ，确定采样周期。               </a:t>
              </a:r>
              <a:endParaRPr lang="zh-CN" altLang="en-US" sz="3200" b="1" dirty="0">
                <a:solidFill>
                  <a:srgbClr val="0000B4"/>
                </a:solidFill>
                <a:effectLst>
                  <a:outerShdw blurRad="38100" dist="38100" dir="2700000">
                    <a:srgbClr val="C0C0C0"/>
                  </a:outerShdw>
                </a:effectLst>
                <a:latin typeface="楷体_GB2312" pitchFamily="49" charset="-122"/>
              </a:endParaRPr>
            </a:p>
          </p:txBody>
        </p:sp>
        <p:graphicFrame>
          <p:nvGraphicFramePr>
            <p:cNvPr id="107527" name="对象 107526"/>
            <p:cNvGraphicFramePr/>
            <p:nvPr/>
          </p:nvGraphicFramePr>
          <p:xfrm>
            <a:off x="2381" y="3135"/>
            <a:ext cx="1088" cy="703"/>
          </p:xfrm>
          <a:graphic>
            <a:graphicData uri="http://schemas.openxmlformats.org/presentationml/2006/ole">
              <mc:AlternateContent xmlns:mc="http://schemas.openxmlformats.org/markup-compatibility/2006">
                <mc:Choice xmlns:v="urn:schemas-microsoft-com:vml" Requires="v">
                  <p:oleObj spid="_x0000_s3186" name="" r:id="rId1" imgW="622300" imgH="431800" progId="Equation.3">
                    <p:embed/>
                  </p:oleObj>
                </mc:Choice>
                <mc:Fallback>
                  <p:oleObj name="" r:id="rId1" imgW="622300" imgH="431800" progId="Equation.3">
                    <p:embed/>
                    <p:pic>
                      <p:nvPicPr>
                        <p:cNvPr id="0" name="图片 3185"/>
                        <p:cNvPicPr/>
                        <p:nvPr/>
                      </p:nvPicPr>
                      <p:blipFill>
                        <a:blip r:embed="rId2"/>
                        <a:stretch>
                          <a:fillRect/>
                        </a:stretch>
                      </p:blipFill>
                      <p:spPr>
                        <a:xfrm>
                          <a:off x="2381" y="3135"/>
                          <a:ext cx="1088" cy="703"/>
                        </a:xfrm>
                        <a:prstGeom prst="rect">
                          <a:avLst/>
                        </a:prstGeom>
                        <a:noFill/>
                        <a:ln w="38100">
                          <a:noFill/>
                          <a:miter/>
                        </a:ln>
                      </p:spPr>
                    </p:pic>
                  </p:oleObj>
                </mc:Fallback>
              </mc:AlternateContent>
            </a:graphicData>
          </a:graphic>
        </p:graphicFrame>
      </p:grpSp>
      <p:sp>
        <p:nvSpPr>
          <p:cNvPr id="107528" name="文本框 107527"/>
          <p:cNvSpPr txBox="1"/>
          <p:nvPr/>
        </p:nvSpPr>
        <p:spPr>
          <a:xfrm>
            <a:off x="2916238" y="-26987"/>
            <a:ext cx="3556000" cy="519112"/>
          </a:xfrm>
          <a:prstGeom prst="rect">
            <a:avLst/>
          </a:prstGeom>
          <a:noFill/>
          <a:ln w="9525">
            <a:noFill/>
          </a:ln>
        </p:spPr>
        <p:txBody>
          <a:bodyPr wrap="none" anchor="t" anchorCtr="0">
            <a:spAutoFit/>
          </a:bodyPr>
          <a:p>
            <a:pPr algn="l" eaLnBrk="1" hangingPunct="1"/>
            <a:r>
              <a:rPr lang="zh-CN" altLang="en-US" sz="2800" b="1" dirty="0">
                <a:solidFill>
                  <a:srgbClr val="0000B4"/>
                </a:solidFill>
                <a:latin typeface="华文新魏" panose="02010800040101010101" pitchFamily="2" charset="-122"/>
                <a:ea typeface="华文新魏" panose="02010800040101010101" pitchFamily="2" charset="-122"/>
              </a:rPr>
              <a:t>第</a:t>
            </a:r>
            <a:r>
              <a:rPr lang="en-US" altLang="zh-CN" sz="2800" b="1">
                <a:solidFill>
                  <a:srgbClr val="0000B4"/>
                </a:solidFill>
                <a:latin typeface="Times New Roman" panose="02020603050405020304" pitchFamily="18" charset="0"/>
                <a:ea typeface="华文新魏" panose="02010800040101010101" pitchFamily="2" charset="-122"/>
              </a:rPr>
              <a:t>2</a:t>
            </a:r>
            <a:r>
              <a:rPr lang="zh-CN" altLang="en-US" sz="2800" b="1" dirty="0">
                <a:solidFill>
                  <a:srgbClr val="0000B4"/>
                </a:solidFill>
                <a:latin typeface="华文新魏" panose="02010800040101010101" pitchFamily="2" charset="-122"/>
                <a:ea typeface="华文新魏" panose="02010800040101010101" pitchFamily="2" charset="-122"/>
              </a:rPr>
              <a:t>章 习题与思考题   </a:t>
            </a:r>
            <a:endParaRPr lang="zh-CN" altLang="en-US" sz="2800" b="1" dirty="0">
              <a:solidFill>
                <a:srgbClr val="0000B4"/>
              </a:solidFill>
              <a:latin typeface="华文新魏" panose="02010800040101010101" pitchFamily="2" charset="-122"/>
              <a:ea typeface="华文新魏" panose="02010800040101010101" pitchFamily="2"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7523"/>
                                        </p:tgtEl>
                                        <p:attrNameLst>
                                          <p:attrName>style.visibility</p:attrName>
                                        </p:attrNameLst>
                                      </p:cBhvr>
                                      <p:to>
                                        <p:strVal val="visible"/>
                                      </p:to>
                                    </p:set>
                                    <p:animEffect transition="in" filter="dissolve">
                                      <p:cBhvr>
                                        <p:cTn id="7" dur="500"/>
                                        <p:tgtEl>
                                          <p:spTgt spid="1075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07524"/>
                                        </p:tgtEl>
                                        <p:attrNameLst>
                                          <p:attrName>style.visibility</p:attrName>
                                        </p:attrNameLst>
                                      </p:cBhvr>
                                      <p:to>
                                        <p:strVal val="visible"/>
                                      </p:to>
                                    </p:set>
                                    <p:animEffect transition="in" filter="wipe(left)">
                                      <p:cBhvr>
                                        <p:cTn id="12" dur="1000"/>
                                        <p:tgtEl>
                                          <p:spTgt spid="1075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7525"/>
                                        </p:tgtEl>
                                        <p:attrNameLst>
                                          <p:attrName>style.visibility</p:attrName>
                                        </p:attrNameLst>
                                      </p:cBhvr>
                                      <p:to>
                                        <p:strVal val="visible"/>
                                      </p:to>
                                    </p:set>
                                    <p:animEffect transition="in" filter="wipe(left)">
                                      <p:cBhvr>
                                        <p:cTn id="17" dur="1000"/>
                                        <p:tgtEl>
                                          <p:spTgt spid="1075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3" grpId="0"/>
      <p:bldP spid="107524"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8546" name="矩形 108545"/>
          <p:cNvSpPr/>
          <p:nvPr/>
        </p:nvSpPr>
        <p:spPr>
          <a:xfrm>
            <a:off x="684213" y="908050"/>
            <a:ext cx="8280400" cy="1554163"/>
          </a:xfrm>
          <a:prstGeom prst="rect">
            <a:avLst/>
          </a:prstGeom>
          <a:noFill/>
          <a:ln w="9525">
            <a:noFill/>
          </a:ln>
        </p:spPr>
        <p:txBody>
          <a:bodyPr anchor="ctr" anchorCtr="0">
            <a:spAutoFit/>
          </a:bodyPr>
          <a:p>
            <a:pPr algn="l" eaLnBrk="1" hangingPunct="1">
              <a:buNone/>
            </a:pPr>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2-6.</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对采样信号进行量化的最小数量单位是</a:t>
            </a:r>
            <a:endPar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algn="l" eaLnBrk="1" hangingPunct="1">
              <a:buNone/>
            </a:pP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多少？它与</a:t>
            </a:r>
            <a:r>
              <a:rPr lang="en-US" altLang="zh-CN" sz="3200" b="1" i="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FSR</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和</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量化器的位数</a:t>
            </a:r>
            <a:r>
              <a:rPr lang="en-US" altLang="zh-CN" sz="3200" b="1" i="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n </a:t>
            </a: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之间</a:t>
            </a:r>
            <a:endPar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a:p>
            <a:pPr algn="l" eaLnBrk="1" hangingPunct="1">
              <a:buNone/>
            </a:pPr>
            <a:r>
              <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       有何关系？</a:t>
            </a:r>
            <a:endParaRPr lang="zh-CN" altLang="en-US" sz="3200" b="1" dirty="0">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endParaRPr>
          </a:p>
        </p:txBody>
      </p:sp>
      <p:sp>
        <p:nvSpPr>
          <p:cNvPr id="108547" name="文本框 108546"/>
          <p:cNvSpPr txBox="1"/>
          <p:nvPr/>
        </p:nvSpPr>
        <p:spPr>
          <a:xfrm>
            <a:off x="515938" y="2849563"/>
            <a:ext cx="1463675" cy="579437"/>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解</a:t>
            </a:r>
            <a:r>
              <a:rPr lang="zh-CN" altLang="en-US" sz="3200" b="1" dirty="0">
                <a:solidFill>
                  <a:srgbClr val="0000B4"/>
                </a:solidFill>
                <a:effectLst>
                  <a:outerShdw blurRad="38100" dist="38100" dir="2700000">
                    <a:srgbClr val="C0C0C0"/>
                  </a:outerShdw>
                </a:effectLst>
                <a:latin typeface="Arial" panose="020B0604020202020204" pitchFamily="34" charset="0"/>
              </a:rPr>
              <a:t>：</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sp>
        <p:nvSpPr>
          <p:cNvPr id="108548" name="矩形 108547"/>
          <p:cNvSpPr/>
          <p:nvPr/>
        </p:nvSpPr>
        <p:spPr>
          <a:xfrm>
            <a:off x="647700" y="5168900"/>
            <a:ext cx="7237413" cy="579438"/>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2.</a:t>
            </a:r>
            <a:r>
              <a:rPr lang="en-US" altLang="zh-CN" sz="3200" b="1">
                <a:solidFill>
                  <a:srgbClr val="0000B4"/>
                </a:solidFill>
                <a:effectLst>
                  <a:outerShdw blurRad="38100" dist="38100" dir="2700000">
                    <a:srgbClr val="C0C0C0"/>
                  </a:outerShdw>
                </a:effectLst>
                <a:latin typeface="楷体_GB2312" pitchFamily="49" charset="-122"/>
              </a:rPr>
              <a:t> </a:t>
            </a:r>
            <a:r>
              <a:rPr lang="en-US" altLang="zh-CN" sz="3200" b="1" i="1">
                <a:solidFill>
                  <a:srgbClr val="0000B4"/>
                </a:solidFill>
                <a:effectLst>
                  <a:outerShdw blurRad="38100" dist="38100" dir="2700000">
                    <a:srgbClr val="C0C0C0"/>
                  </a:outerShdw>
                </a:effectLst>
                <a:latin typeface="Times New Roman" panose="02020603050405020304" pitchFamily="18" charset="0"/>
              </a:rPr>
              <a:t>q </a:t>
            </a:r>
            <a:r>
              <a:rPr lang="zh-CN" altLang="en-US" sz="3200" b="1" dirty="0">
                <a:solidFill>
                  <a:srgbClr val="0000B4"/>
                </a:solidFill>
                <a:effectLst>
                  <a:outerShdw blurRad="38100" dist="38100" dir="2700000">
                    <a:srgbClr val="C0C0C0"/>
                  </a:outerShdw>
                </a:effectLst>
                <a:latin typeface="Times New Roman" panose="02020603050405020304" pitchFamily="18" charset="0"/>
              </a:rPr>
              <a:t>与</a:t>
            </a:r>
            <a:r>
              <a:rPr lang="en-US" altLang="zh-CN" sz="3200" b="1" i="1">
                <a:solidFill>
                  <a:srgbClr val="0000B4"/>
                </a:solidFill>
                <a:effectLst>
                  <a:outerShdw blurRad="38100" dist="38100" dir="2700000">
                    <a:srgbClr val="C0C0C0"/>
                  </a:outerShdw>
                </a:effectLst>
                <a:latin typeface="Times New Roman" panose="02020603050405020304" pitchFamily="18" charset="0"/>
              </a:rPr>
              <a:t>FSR</a:t>
            </a:r>
            <a:r>
              <a:rPr lang="zh-CN" altLang="en-US" sz="3200" b="1" dirty="0">
                <a:solidFill>
                  <a:srgbClr val="0000B4"/>
                </a:solidFill>
                <a:effectLst>
                  <a:outerShdw blurRad="38100" dist="38100" dir="2700000">
                    <a:srgbClr val="C0C0C0"/>
                  </a:outerShdw>
                </a:effectLst>
                <a:latin typeface="Times New Roman" panose="02020603050405020304" pitchFamily="18" charset="0"/>
              </a:rPr>
              <a:t>成正比，与</a:t>
            </a:r>
            <a:r>
              <a:rPr lang="en-US" altLang="zh-CN" sz="3200" b="1">
                <a:solidFill>
                  <a:srgbClr val="0000B4"/>
                </a:solidFill>
                <a:effectLst>
                  <a:outerShdw blurRad="38100" dist="38100" dir="2700000">
                    <a:srgbClr val="C0C0C0"/>
                  </a:outerShdw>
                </a:effectLst>
                <a:latin typeface="Times New Roman" panose="02020603050405020304" pitchFamily="18" charset="0"/>
              </a:rPr>
              <a:t>2</a:t>
            </a:r>
            <a:r>
              <a:rPr lang="en-US" altLang="zh-CN" sz="3200" b="1" i="1" baseline="50000">
                <a:solidFill>
                  <a:srgbClr val="0000B4"/>
                </a:solidFill>
                <a:effectLst>
                  <a:outerShdw blurRad="38100" dist="38100" dir="2700000">
                    <a:srgbClr val="C0C0C0"/>
                  </a:outerShdw>
                </a:effectLst>
                <a:latin typeface="Times New Roman" panose="02020603050405020304" pitchFamily="18" charset="0"/>
              </a:rPr>
              <a:t>n</a:t>
            </a:r>
            <a:r>
              <a:rPr lang="en-US" altLang="zh-CN" sz="3200" b="1" i="1" baseline="30000">
                <a:solidFill>
                  <a:srgbClr val="0000B4"/>
                </a:solidFill>
                <a:effectLst>
                  <a:outerShdw blurRad="38100" dist="38100" dir="2700000">
                    <a:srgbClr val="C0C0C0"/>
                  </a:outerShdw>
                </a:effectLst>
                <a:latin typeface="Times New Roman" panose="02020603050405020304" pitchFamily="18" charset="0"/>
              </a:rPr>
              <a:t> </a:t>
            </a:r>
            <a:r>
              <a:rPr lang="zh-CN" altLang="en-US" sz="3200" b="1" dirty="0">
                <a:solidFill>
                  <a:srgbClr val="0000B4"/>
                </a:solidFill>
                <a:effectLst>
                  <a:outerShdw blurRad="38100" dist="38100" dir="2700000">
                    <a:srgbClr val="C0C0C0"/>
                  </a:outerShdw>
                </a:effectLst>
                <a:latin typeface="Times New Roman" panose="02020603050405020304" pitchFamily="18" charset="0"/>
              </a:rPr>
              <a:t>成反比。</a:t>
            </a:r>
            <a:r>
              <a:rPr lang="zh-CN" altLang="en-US" sz="3200" b="1" dirty="0">
                <a:solidFill>
                  <a:srgbClr val="0000B4"/>
                </a:solidFill>
                <a:effectLst>
                  <a:outerShdw blurRad="38100" dist="38100" dir="2700000">
                    <a:srgbClr val="C0C0C0"/>
                  </a:outerShdw>
                </a:effectLst>
                <a:latin typeface="楷体_GB2312" pitchFamily="49" charset="-122"/>
              </a:rPr>
              <a:t>               </a:t>
            </a:r>
            <a:endParaRPr lang="zh-CN" altLang="en-US" sz="3200" b="1" dirty="0">
              <a:solidFill>
                <a:srgbClr val="0000B4"/>
              </a:solidFill>
              <a:effectLst>
                <a:outerShdw blurRad="38100" dist="38100" dir="2700000">
                  <a:srgbClr val="C0C0C0"/>
                </a:outerShdw>
              </a:effectLst>
              <a:latin typeface="楷体_GB2312" pitchFamily="49" charset="-122"/>
            </a:endParaRPr>
          </a:p>
        </p:txBody>
      </p:sp>
      <p:grpSp>
        <p:nvGrpSpPr>
          <p:cNvPr id="108549" name="组合 108548"/>
          <p:cNvGrpSpPr/>
          <p:nvPr/>
        </p:nvGrpSpPr>
        <p:grpSpPr>
          <a:xfrm>
            <a:off x="666750" y="3732213"/>
            <a:ext cx="8281988" cy="1008062"/>
            <a:chOff x="385" y="2351"/>
            <a:chExt cx="5217" cy="635"/>
          </a:xfrm>
        </p:grpSpPr>
        <p:sp>
          <p:nvSpPr>
            <p:cNvPr id="108550" name="矩形 108549"/>
            <p:cNvSpPr/>
            <p:nvPr/>
          </p:nvSpPr>
          <p:spPr>
            <a:xfrm>
              <a:off x="385" y="2475"/>
              <a:ext cx="5217" cy="365"/>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1. </a:t>
              </a:r>
              <a:r>
                <a:rPr lang="zh-CN" altLang="en-US" sz="3200" b="1" dirty="0">
                  <a:solidFill>
                    <a:srgbClr val="0000B4"/>
                  </a:solidFill>
                  <a:effectLst>
                    <a:outerShdw blurRad="38100" dist="38100" dir="2700000">
                      <a:srgbClr val="C0C0C0"/>
                    </a:outerShdw>
                  </a:effectLst>
                  <a:latin typeface="Arial" panose="020B0604020202020204" pitchFamily="34" charset="0"/>
                </a:rPr>
                <a:t>最小数量单位是量化单位 </a:t>
              </a:r>
              <a:r>
                <a:rPr lang="en-US" altLang="zh-CN" sz="3200" b="1" i="1">
                  <a:solidFill>
                    <a:srgbClr val="0000B4"/>
                  </a:solidFill>
                  <a:effectLst>
                    <a:outerShdw blurRad="38100" dist="38100" dir="2700000">
                      <a:srgbClr val="C0C0C0"/>
                    </a:outerShdw>
                  </a:effectLst>
                  <a:latin typeface="Times New Roman" panose="02020603050405020304" pitchFamily="18" charset="0"/>
                </a:rPr>
                <a:t>q</a:t>
              </a:r>
              <a:r>
                <a:rPr lang="zh-CN" altLang="en-US" sz="3200" b="1" dirty="0">
                  <a:solidFill>
                    <a:srgbClr val="0000B4"/>
                  </a:solidFill>
                  <a:effectLst>
                    <a:outerShdw blurRad="38100" dist="38100" dir="2700000">
                      <a:srgbClr val="C0C0C0"/>
                    </a:outerShdw>
                  </a:effectLst>
                  <a:latin typeface="楷体_GB2312" pitchFamily="49" charset="-122"/>
                </a:rPr>
                <a:t>，</a:t>
              </a:r>
              <a:r>
                <a:rPr lang="en-US" altLang="zh-CN" sz="3200" b="1" i="1">
                  <a:solidFill>
                    <a:srgbClr val="0000B4"/>
                  </a:solidFill>
                  <a:effectLst>
                    <a:outerShdw blurRad="38100" dist="38100" dir="2700000">
                      <a:srgbClr val="C0C0C0"/>
                    </a:outerShdw>
                  </a:effectLst>
                  <a:latin typeface="Times New Roman" panose="02020603050405020304" pitchFamily="18" charset="0"/>
                </a:rPr>
                <a:t>q =          </a:t>
              </a:r>
              <a:r>
                <a:rPr lang="zh-CN" altLang="en-US" sz="3200" b="1" i="1" dirty="0">
                  <a:solidFill>
                    <a:srgbClr val="0000B4"/>
                  </a:solidFill>
                  <a:effectLst>
                    <a:outerShdw blurRad="38100" dist="38100" dir="2700000">
                      <a:srgbClr val="C0C0C0"/>
                    </a:outerShdw>
                  </a:effectLst>
                  <a:latin typeface="Times New Roman" panose="02020603050405020304" pitchFamily="18" charset="0"/>
                </a:rPr>
                <a:t>。</a:t>
              </a:r>
              <a:endParaRPr lang="zh-CN" altLang="en-US" sz="3200" b="1" i="1" dirty="0">
                <a:solidFill>
                  <a:srgbClr val="0000B4"/>
                </a:solidFill>
                <a:effectLst>
                  <a:outerShdw blurRad="38100" dist="38100" dir="2700000">
                    <a:srgbClr val="C0C0C0"/>
                  </a:outerShdw>
                </a:effectLst>
                <a:latin typeface="Times New Roman" panose="02020603050405020304" pitchFamily="18" charset="0"/>
              </a:endParaRPr>
            </a:p>
          </p:txBody>
        </p:sp>
        <p:graphicFrame>
          <p:nvGraphicFramePr>
            <p:cNvPr id="108551" name="对象 108550"/>
            <p:cNvGraphicFramePr/>
            <p:nvPr/>
          </p:nvGraphicFramePr>
          <p:xfrm>
            <a:off x="4392" y="2351"/>
            <a:ext cx="587" cy="635"/>
          </p:xfrm>
          <a:graphic>
            <a:graphicData uri="http://schemas.openxmlformats.org/presentationml/2006/ole">
              <mc:AlternateContent xmlns:mc="http://schemas.openxmlformats.org/markup-compatibility/2006">
                <mc:Choice xmlns:v="urn:schemas-microsoft-com:vml" Requires="v">
                  <p:oleObj spid="_x0000_s3187" name="" r:id="rId1" imgW="342900" imgH="393700" progId="Equation.3">
                    <p:embed/>
                  </p:oleObj>
                </mc:Choice>
                <mc:Fallback>
                  <p:oleObj name="" r:id="rId1" imgW="342900" imgH="393700" progId="Equation.3">
                    <p:embed/>
                    <p:pic>
                      <p:nvPicPr>
                        <p:cNvPr id="0" name="图片 3186"/>
                        <p:cNvPicPr/>
                        <p:nvPr/>
                      </p:nvPicPr>
                      <p:blipFill>
                        <a:blip r:embed="rId2"/>
                        <a:stretch>
                          <a:fillRect/>
                        </a:stretch>
                      </p:blipFill>
                      <p:spPr>
                        <a:xfrm>
                          <a:off x="4392" y="2351"/>
                          <a:ext cx="587" cy="635"/>
                        </a:xfrm>
                        <a:prstGeom prst="rect">
                          <a:avLst/>
                        </a:prstGeom>
                        <a:noFill/>
                        <a:ln w="38100">
                          <a:noFill/>
                          <a:miter/>
                        </a:ln>
                      </p:spPr>
                    </p:pic>
                  </p:oleObj>
                </mc:Fallback>
              </mc:AlternateContent>
            </a:graphicData>
          </a:graphic>
        </p:graphicFrame>
      </p:grpSp>
      <p:sp>
        <p:nvSpPr>
          <p:cNvPr id="108552" name="文本框 108551"/>
          <p:cNvSpPr txBox="1"/>
          <p:nvPr/>
        </p:nvSpPr>
        <p:spPr>
          <a:xfrm>
            <a:off x="2916238" y="-26987"/>
            <a:ext cx="3556000" cy="519112"/>
          </a:xfrm>
          <a:prstGeom prst="rect">
            <a:avLst/>
          </a:prstGeom>
          <a:noFill/>
          <a:ln w="9525">
            <a:noFill/>
          </a:ln>
        </p:spPr>
        <p:txBody>
          <a:bodyPr wrap="none" anchor="t" anchorCtr="0">
            <a:spAutoFit/>
          </a:bodyPr>
          <a:p>
            <a:pPr algn="l" eaLnBrk="1" hangingPunct="1"/>
            <a:r>
              <a:rPr lang="zh-CN" altLang="en-US" sz="2800" b="1" dirty="0">
                <a:solidFill>
                  <a:srgbClr val="0000B4"/>
                </a:solidFill>
                <a:latin typeface="华文新魏" panose="02010800040101010101" pitchFamily="2" charset="-122"/>
                <a:ea typeface="华文新魏" panose="02010800040101010101" pitchFamily="2" charset="-122"/>
              </a:rPr>
              <a:t>第</a:t>
            </a:r>
            <a:r>
              <a:rPr lang="en-US" altLang="zh-CN" sz="2800" b="1">
                <a:solidFill>
                  <a:srgbClr val="0000B4"/>
                </a:solidFill>
                <a:latin typeface="Times New Roman" panose="02020603050405020304" pitchFamily="18" charset="0"/>
                <a:ea typeface="华文新魏" panose="02010800040101010101" pitchFamily="2" charset="-122"/>
              </a:rPr>
              <a:t>2</a:t>
            </a:r>
            <a:r>
              <a:rPr lang="zh-CN" altLang="en-US" sz="2800" b="1" dirty="0">
                <a:solidFill>
                  <a:srgbClr val="0000B4"/>
                </a:solidFill>
                <a:latin typeface="华文新魏" panose="02010800040101010101" pitchFamily="2" charset="-122"/>
                <a:ea typeface="华文新魏" panose="02010800040101010101" pitchFamily="2" charset="-122"/>
              </a:rPr>
              <a:t>章 习题与思考题   </a:t>
            </a:r>
            <a:endParaRPr lang="zh-CN" altLang="en-US" sz="2800" b="1" dirty="0">
              <a:solidFill>
                <a:srgbClr val="0000B4"/>
              </a:solidFill>
              <a:latin typeface="华文新魏" panose="02010800040101010101" pitchFamily="2" charset="-122"/>
              <a:ea typeface="华文新魏" panose="02010800040101010101" pitchFamily="2"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8547"/>
                                        </p:tgtEl>
                                        <p:attrNameLst>
                                          <p:attrName>style.visibility</p:attrName>
                                        </p:attrNameLst>
                                      </p:cBhvr>
                                      <p:to>
                                        <p:strVal val="visible"/>
                                      </p:to>
                                    </p:set>
                                    <p:animEffect transition="in" filter="dissolve">
                                      <p:cBhvr>
                                        <p:cTn id="7" dur="500"/>
                                        <p:tgtEl>
                                          <p:spTgt spid="1085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8549"/>
                                        </p:tgtEl>
                                        <p:attrNameLst>
                                          <p:attrName>style.visibility</p:attrName>
                                        </p:attrNameLst>
                                      </p:cBhvr>
                                      <p:to>
                                        <p:strVal val="visible"/>
                                      </p:to>
                                    </p:set>
                                    <p:animEffect transition="in" filter="wipe(left)">
                                      <p:cBhvr>
                                        <p:cTn id="12" dur="1000"/>
                                        <p:tgtEl>
                                          <p:spTgt spid="10854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08548"/>
                                        </p:tgtEl>
                                        <p:attrNameLst>
                                          <p:attrName>style.visibility</p:attrName>
                                        </p:attrNameLst>
                                      </p:cBhvr>
                                      <p:to>
                                        <p:strVal val="visible"/>
                                      </p:to>
                                    </p:set>
                                    <p:animEffect transition="in" filter="wipe(left)">
                                      <p:cBhvr>
                                        <p:cTn id="17" dur="1000"/>
                                        <p:tgtEl>
                                          <p:spTgt spid="108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47" grpId="0"/>
      <p:bldP spid="10854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9570" name="矩形 109569"/>
          <p:cNvSpPr/>
          <p:nvPr/>
        </p:nvSpPr>
        <p:spPr>
          <a:xfrm>
            <a:off x="611188" y="1196975"/>
            <a:ext cx="8281987" cy="579438"/>
          </a:xfrm>
          <a:prstGeom prst="rect">
            <a:avLst/>
          </a:prstGeom>
          <a:noFill/>
          <a:ln w="9525">
            <a:noFill/>
          </a:ln>
        </p:spPr>
        <p:txBody>
          <a:bodyPr anchor="ctr" anchorCtr="0">
            <a:spAutoFit/>
          </a:bodyPr>
          <a:p>
            <a:pPr algn="l" eaLnBrk="1" hangingPunct="1"/>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2-9</a:t>
            </a:r>
            <a:r>
              <a:rPr lang="en-US" altLang="zh-CN" sz="3200" b="1">
                <a:solidFill>
                  <a:srgbClr val="0000B4"/>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3200" b="1">
                <a:solidFill>
                  <a:srgbClr val="0000B4"/>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rgbClr val="0000B4"/>
                </a:solidFill>
                <a:effectLst>
                  <a:outerShdw blurRad="38100" dist="38100" dir="2700000">
                    <a:srgbClr val="C0C0C0"/>
                  </a:outerShdw>
                </a:effectLst>
                <a:latin typeface="楷体_GB2312" pitchFamily="49" charset="-122"/>
              </a:rPr>
              <a:t>把十进制数</a:t>
            </a:r>
            <a:r>
              <a:rPr lang="en-US" altLang="zh-CN" sz="3200" b="1">
                <a:solidFill>
                  <a:srgbClr val="0000B4"/>
                </a:solidFill>
                <a:effectLst>
                  <a:outerShdw blurRad="38100" dist="38100" dir="2700000">
                    <a:srgbClr val="C0C0C0"/>
                  </a:outerShdw>
                </a:effectLst>
                <a:latin typeface="Times New Roman" panose="02020603050405020304" pitchFamily="18" charset="0"/>
              </a:rPr>
              <a:t>256</a:t>
            </a:r>
            <a:r>
              <a:rPr lang="zh-CN" altLang="en-US" sz="3200" b="1" dirty="0">
                <a:solidFill>
                  <a:srgbClr val="0000B4"/>
                </a:solidFill>
                <a:effectLst>
                  <a:outerShdw blurRad="38100" dist="38100" dir="2700000">
                    <a:srgbClr val="C0C0C0"/>
                  </a:outerShdw>
                </a:effectLst>
                <a:latin typeface="楷体_GB2312" pitchFamily="49" charset="-122"/>
              </a:rPr>
              <a:t>转换成相应的</a:t>
            </a:r>
            <a:r>
              <a:rPr lang="en-US" altLang="zh-CN" sz="3200" b="1">
                <a:solidFill>
                  <a:srgbClr val="0000B4"/>
                </a:solidFill>
                <a:effectLst>
                  <a:outerShdw blurRad="38100" dist="38100" dir="2700000">
                    <a:srgbClr val="C0C0C0"/>
                  </a:outerShdw>
                </a:effectLst>
                <a:latin typeface="Times New Roman" panose="02020603050405020304" pitchFamily="18" charset="0"/>
              </a:rPr>
              <a:t>BCD</a:t>
            </a:r>
            <a:r>
              <a:rPr lang="zh-CN" altLang="en-US" sz="3200" b="1" dirty="0">
                <a:solidFill>
                  <a:srgbClr val="0000B4"/>
                </a:solidFill>
                <a:effectLst>
                  <a:outerShdw blurRad="38100" dist="38100" dir="2700000">
                    <a:srgbClr val="C0C0C0"/>
                  </a:outerShdw>
                </a:effectLst>
                <a:latin typeface="楷体_GB2312" pitchFamily="49" charset="-122"/>
              </a:rPr>
              <a:t>码。</a:t>
            </a:r>
            <a:endParaRPr lang="zh-CN" altLang="en-US" sz="3200" b="1" dirty="0">
              <a:solidFill>
                <a:srgbClr val="0000B4"/>
              </a:solidFill>
              <a:effectLst>
                <a:outerShdw blurRad="38100" dist="38100" dir="2700000">
                  <a:srgbClr val="C0C0C0"/>
                </a:outerShdw>
              </a:effectLst>
              <a:latin typeface="楷体_GB2312" pitchFamily="49" charset="-122"/>
            </a:endParaRPr>
          </a:p>
        </p:txBody>
      </p:sp>
      <p:sp>
        <p:nvSpPr>
          <p:cNvPr id="109571" name="文本框 109570"/>
          <p:cNvSpPr txBox="1"/>
          <p:nvPr/>
        </p:nvSpPr>
        <p:spPr>
          <a:xfrm>
            <a:off x="515938" y="2562225"/>
            <a:ext cx="1392237" cy="579438"/>
          </a:xfrm>
          <a:prstGeom prst="rect">
            <a:avLst/>
          </a:prstGeom>
          <a:noFill/>
          <a:ln w="9525">
            <a:noFill/>
          </a:ln>
        </p:spPr>
        <p:txBody>
          <a:bodyPr>
            <a:spAutoFit/>
          </a:bodyPr>
          <a:p>
            <a:pPr algn="l" eaLnBrk="1" hangingPunct="1"/>
            <a:r>
              <a:rPr lang="zh-CN" altLang="en-US" sz="3200" b="1" dirty="0">
                <a:solidFill>
                  <a:srgbClr val="0000B4"/>
                </a:solidFill>
                <a:effectLst>
                  <a:outerShdw blurRad="38100" dist="38100" dir="2700000">
                    <a:srgbClr val="C0C0C0"/>
                  </a:outerShdw>
                </a:effectLst>
                <a:latin typeface="Arial" panose="020B0604020202020204" pitchFamily="34" charset="0"/>
              </a:rPr>
              <a:t>解</a:t>
            </a:r>
            <a:r>
              <a:rPr lang="zh-CN" altLang="en-US" sz="3200" b="1" dirty="0">
                <a:solidFill>
                  <a:srgbClr val="0000B4"/>
                </a:solidFill>
                <a:effectLst>
                  <a:outerShdw blurRad="38100" dist="38100" dir="2700000">
                    <a:srgbClr val="C0C0C0"/>
                  </a:outerShdw>
                </a:effectLst>
                <a:latin typeface="Arial" panose="020B0604020202020204" pitchFamily="34" charset="0"/>
              </a:rPr>
              <a:t>：</a:t>
            </a:r>
            <a:endParaRPr lang="zh-CN" altLang="en-US" sz="3200" b="1" dirty="0">
              <a:solidFill>
                <a:srgbClr val="0000B4"/>
              </a:solidFill>
              <a:effectLst>
                <a:outerShdw blurRad="38100" dist="38100" dir="2700000">
                  <a:srgbClr val="C0C0C0"/>
                </a:outerShdw>
              </a:effectLst>
              <a:latin typeface="Arial" panose="020B0604020202020204" pitchFamily="34" charset="0"/>
            </a:endParaRPr>
          </a:p>
        </p:txBody>
      </p:sp>
      <p:sp>
        <p:nvSpPr>
          <p:cNvPr id="109572" name="文本框 109571"/>
          <p:cNvSpPr txBox="1"/>
          <p:nvPr/>
        </p:nvSpPr>
        <p:spPr>
          <a:xfrm>
            <a:off x="3787775" y="3281363"/>
            <a:ext cx="1863725" cy="579437"/>
          </a:xfrm>
          <a:prstGeom prst="rect">
            <a:avLst/>
          </a:prstGeom>
          <a:noFill/>
          <a:ln w="9525">
            <a:noFill/>
          </a:ln>
        </p:spPr>
        <p:txBody>
          <a:bodyPr>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2  5  6</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9573" name="下箭头 109572"/>
          <p:cNvSpPr/>
          <p:nvPr/>
        </p:nvSpPr>
        <p:spPr>
          <a:xfrm>
            <a:off x="4067175" y="4149725"/>
            <a:ext cx="576263" cy="719138"/>
          </a:xfrm>
          <a:prstGeom prst="downArrow">
            <a:avLst>
              <a:gd name="adj1" fmla="val 50000"/>
              <a:gd name="adj2" fmla="val 31198"/>
            </a:avLst>
          </a:prstGeom>
          <a:solidFill>
            <a:schemeClr val="hlink"/>
          </a:solidFill>
          <a:ln w="9525" cap="flat" cmpd="sng">
            <a:solidFill>
              <a:schemeClr val="tx1"/>
            </a:solidFill>
            <a:prstDash val="solid"/>
            <a:miter/>
            <a:headEnd type="none" w="med" len="med"/>
            <a:tailEnd type="none" w="med" len="med"/>
          </a:ln>
        </p:spPr>
        <p:txBody>
          <a:bodyPr/>
          <a:p>
            <a:pPr algn="ctr" eaLnBrk="1" hangingPunct="1"/>
            <a:endParaRPr lang="zh-CN" altLang="en-US" b="1">
              <a:solidFill>
                <a:srgbClr val="333399"/>
              </a:solidFill>
              <a:latin typeface="楷体_GB2312" pitchFamily="49" charset="-122"/>
            </a:endParaRPr>
          </a:p>
        </p:txBody>
      </p:sp>
      <p:grpSp>
        <p:nvGrpSpPr>
          <p:cNvPr id="109574" name="组合 109573"/>
          <p:cNvGrpSpPr/>
          <p:nvPr/>
        </p:nvGrpSpPr>
        <p:grpSpPr>
          <a:xfrm>
            <a:off x="2484438" y="5154613"/>
            <a:ext cx="3671887" cy="579437"/>
            <a:chOff x="1565" y="3247"/>
            <a:chExt cx="2313" cy="365"/>
          </a:xfrm>
        </p:grpSpPr>
        <p:sp>
          <p:nvSpPr>
            <p:cNvPr id="109575" name="文本框 109574"/>
            <p:cNvSpPr txBox="1"/>
            <p:nvPr/>
          </p:nvSpPr>
          <p:spPr>
            <a:xfrm>
              <a:off x="1565" y="3247"/>
              <a:ext cx="628" cy="365"/>
            </a:xfrm>
            <a:prstGeom prst="rect">
              <a:avLst/>
            </a:prstGeom>
            <a:noFill/>
            <a:ln w="9525">
              <a:noFill/>
            </a:ln>
          </p:spPr>
          <p:txBody>
            <a:bodyPr wrap="none" anchor="t" anchorCtr="0">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0010</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9576" name="文本框 109575"/>
            <p:cNvSpPr txBox="1"/>
            <p:nvPr/>
          </p:nvSpPr>
          <p:spPr>
            <a:xfrm>
              <a:off x="2434" y="3247"/>
              <a:ext cx="628" cy="365"/>
            </a:xfrm>
            <a:prstGeom prst="rect">
              <a:avLst/>
            </a:prstGeom>
            <a:noFill/>
            <a:ln w="9525">
              <a:noFill/>
            </a:ln>
          </p:spPr>
          <p:txBody>
            <a:bodyPr wrap="none" anchor="t" anchorCtr="0">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0101</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sp>
          <p:nvSpPr>
            <p:cNvPr id="109577" name="文本框 109576"/>
            <p:cNvSpPr txBox="1"/>
            <p:nvPr/>
          </p:nvSpPr>
          <p:spPr>
            <a:xfrm>
              <a:off x="3250" y="3247"/>
              <a:ext cx="628" cy="365"/>
            </a:xfrm>
            <a:prstGeom prst="rect">
              <a:avLst/>
            </a:prstGeom>
            <a:noFill/>
            <a:ln w="9525">
              <a:noFill/>
            </a:ln>
          </p:spPr>
          <p:txBody>
            <a:bodyPr wrap="none" anchor="t" anchorCtr="0">
              <a:spAutoFit/>
            </a:bodyPr>
            <a:p>
              <a:pPr algn="l" eaLnBrk="1" hangingPunct="1"/>
              <a:r>
                <a:rPr lang="en-US" altLang="zh-CN" sz="3200" b="1">
                  <a:solidFill>
                    <a:srgbClr val="0000B4"/>
                  </a:solidFill>
                  <a:effectLst>
                    <a:outerShdw blurRad="38100" dist="38100" dir="2700000">
                      <a:srgbClr val="C0C0C0"/>
                    </a:outerShdw>
                  </a:effectLst>
                  <a:latin typeface="Times New Roman" panose="02020603050405020304" pitchFamily="18" charset="0"/>
                </a:rPr>
                <a:t>0110</a:t>
              </a:r>
              <a:endParaRPr lang="en-US" altLang="zh-CN" sz="3200" b="1">
                <a:solidFill>
                  <a:srgbClr val="0000B4"/>
                </a:solidFill>
                <a:effectLst>
                  <a:outerShdw blurRad="38100" dist="38100" dir="2700000">
                    <a:srgbClr val="C0C0C0"/>
                  </a:outerShdw>
                </a:effectLst>
                <a:latin typeface="Times New Roman" panose="02020603050405020304" pitchFamily="18" charset="0"/>
              </a:endParaRPr>
            </a:p>
          </p:txBody>
        </p:sp>
      </p:grpSp>
      <p:sp>
        <p:nvSpPr>
          <p:cNvPr id="109578" name="文本框 109577"/>
          <p:cNvSpPr txBox="1"/>
          <p:nvPr/>
        </p:nvSpPr>
        <p:spPr>
          <a:xfrm>
            <a:off x="2916238" y="-26987"/>
            <a:ext cx="3556000" cy="519112"/>
          </a:xfrm>
          <a:prstGeom prst="rect">
            <a:avLst/>
          </a:prstGeom>
          <a:noFill/>
          <a:ln w="9525">
            <a:noFill/>
          </a:ln>
        </p:spPr>
        <p:txBody>
          <a:bodyPr wrap="none" anchor="t" anchorCtr="0">
            <a:spAutoFit/>
          </a:bodyPr>
          <a:p>
            <a:pPr algn="l" eaLnBrk="1" hangingPunct="1"/>
            <a:r>
              <a:rPr lang="zh-CN" altLang="en-US" sz="2800" b="1" dirty="0">
                <a:solidFill>
                  <a:srgbClr val="0000B4"/>
                </a:solidFill>
                <a:latin typeface="华文新魏" panose="02010800040101010101" pitchFamily="2" charset="-122"/>
                <a:ea typeface="华文新魏" panose="02010800040101010101" pitchFamily="2" charset="-122"/>
              </a:rPr>
              <a:t>第</a:t>
            </a:r>
            <a:r>
              <a:rPr lang="en-US" altLang="zh-CN" sz="2800" b="1">
                <a:solidFill>
                  <a:srgbClr val="0000B4"/>
                </a:solidFill>
                <a:latin typeface="Times New Roman" panose="02020603050405020304" pitchFamily="18" charset="0"/>
                <a:ea typeface="华文新魏" panose="02010800040101010101" pitchFamily="2" charset="-122"/>
              </a:rPr>
              <a:t>2</a:t>
            </a:r>
            <a:r>
              <a:rPr lang="zh-CN" altLang="en-US" sz="2800" b="1" dirty="0">
                <a:solidFill>
                  <a:srgbClr val="0000B4"/>
                </a:solidFill>
                <a:latin typeface="华文新魏" panose="02010800040101010101" pitchFamily="2" charset="-122"/>
                <a:ea typeface="华文新魏" panose="02010800040101010101" pitchFamily="2" charset="-122"/>
              </a:rPr>
              <a:t>章 习题与思考题   </a:t>
            </a:r>
            <a:endParaRPr lang="zh-CN" altLang="en-US" sz="2800" b="1" dirty="0">
              <a:solidFill>
                <a:srgbClr val="0000B4"/>
              </a:solidFill>
              <a:latin typeface="华文新魏" panose="02010800040101010101" pitchFamily="2" charset="-122"/>
              <a:ea typeface="华文新魏" panose="02010800040101010101" pitchFamily="2"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9571"/>
                                        </p:tgtEl>
                                        <p:attrNameLst>
                                          <p:attrName>style.visibility</p:attrName>
                                        </p:attrNameLst>
                                      </p:cBhvr>
                                      <p:to>
                                        <p:strVal val="visible"/>
                                      </p:to>
                                    </p:set>
                                    <p:animEffect transition="in" filter="dissolve">
                                      <p:cBhvr>
                                        <p:cTn id="7" dur="500"/>
                                        <p:tgtEl>
                                          <p:spTgt spid="10957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09572"/>
                                        </p:tgtEl>
                                        <p:attrNameLst>
                                          <p:attrName>style.visibility</p:attrName>
                                        </p:attrNameLst>
                                      </p:cBhvr>
                                      <p:to>
                                        <p:strVal val="visible"/>
                                      </p:to>
                                    </p:set>
                                    <p:animEffect transition="in" filter="wipe(left)">
                                      <p:cBhvr>
                                        <p:cTn id="12" dur="1000"/>
                                        <p:tgtEl>
                                          <p:spTgt spid="109572"/>
                                        </p:tgtEl>
                                      </p:cBhvr>
                                    </p:animEffect>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nodeType="clickEffect">
                                  <p:stCondLst>
                                    <p:cond delay="0"/>
                                  </p:stCondLst>
                                  <p:childTnLst>
                                    <p:set>
                                      <p:cBhvr>
                                        <p:cTn id="16" dur="1" fill="hold">
                                          <p:stCondLst>
                                            <p:cond delay="0"/>
                                          </p:stCondLst>
                                        </p:cTn>
                                        <p:tgtEl>
                                          <p:spTgt spid="109573"/>
                                        </p:tgtEl>
                                        <p:attrNameLst>
                                          <p:attrName>style.visibility</p:attrName>
                                        </p:attrNameLst>
                                      </p:cBhvr>
                                      <p:to>
                                        <p:strVal val="visible"/>
                                      </p:to>
                                    </p:set>
                                    <p:animEffect transition="in" filter="fade">
                                      <p:cBhvr>
                                        <p:cTn id="17" dur="1000"/>
                                        <p:tgtEl>
                                          <p:spTgt spid="109573"/>
                                        </p:tgtEl>
                                      </p:cBhvr>
                                    </p:animEffect>
                                    <p:anim calcmode="lin" valueType="num">
                                      <p:cBhvr>
                                        <p:cTn id="18" dur="1000" fill="hold"/>
                                        <p:tgtEl>
                                          <p:spTgt spid="109573"/>
                                        </p:tgtEl>
                                        <p:attrNameLst>
                                          <p:attrName>ppt_x</p:attrName>
                                        </p:attrNameLst>
                                      </p:cBhvr>
                                      <p:tavLst>
                                        <p:tav tm="0">
                                          <p:val>
                                            <p:strVal val="#ppt_x"/>
                                          </p:val>
                                        </p:tav>
                                        <p:tav tm="100000">
                                          <p:val>
                                            <p:strVal val="#ppt_x"/>
                                          </p:val>
                                        </p:tav>
                                      </p:tavLst>
                                    </p:anim>
                                    <p:anim calcmode="lin" valueType="num">
                                      <p:cBhvr>
                                        <p:cTn id="19" dur="1000" fill="hold"/>
                                        <p:tgtEl>
                                          <p:spTgt spid="109573"/>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09574"/>
                                        </p:tgtEl>
                                        <p:attrNameLst>
                                          <p:attrName>style.visibility</p:attrName>
                                        </p:attrNameLst>
                                      </p:cBhvr>
                                      <p:to>
                                        <p:strVal val="visible"/>
                                      </p:to>
                                    </p:set>
                                    <p:animEffect transition="in" filter="wipe(left)">
                                      <p:cBhvr>
                                        <p:cTn id="24" dur="1000"/>
                                        <p:tgtEl>
                                          <p:spTgt spid="1095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1" grpId="0"/>
      <p:bldP spid="109572"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7378" name="Text Box 2"/>
          <p:cNvSpPr txBox="1">
            <a:spLocks noChangeArrowheads="1"/>
          </p:cNvSpPr>
          <p:nvPr/>
        </p:nvSpPr>
        <p:spPr bwMode="auto">
          <a:xfrm>
            <a:off x="684213" y="225425"/>
            <a:ext cx="7667625"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典型数据采集系统：</a:t>
            </a:r>
            <a:r>
              <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数字存储示波器</a:t>
            </a:r>
            <a:endPar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sp>
        <p:nvSpPr>
          <p:cNvPr id="3075" name="Text Box 3"/>
          <p:cNvSpPr txBox="1"/>
          <p:nvPr/>
        </p:nvSpPr>
        <p:spPr>
          <a:xfrm>
            <a:off x="488950" y="1125538"/>
            <a:ext cx="5235575" cy="579437"/>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数字存储示波器的主要指标</a:t>
            </a:r>
            <a:endParaRPr lang="zh-CN" altLang="en-US" sz="3200" dirty="0">
              <a:latin typeface="Times New Roman" panose="02020603050405020304" pitchFamily="18" charset="0"/>
            </a:endParaRPr>
          </a:p>
        </p:txBody>
      </p:sp>
      <p:sp>
        <p:nvSpPr>
          <p:cNvPr id="3076" name="Text Box 11"/>
          <p:cNvSpPr txBox="1"/>
          <p:nvPr/>
        </p:nvSpPr>
        <p:spPr>
          <a:xfrm>
            <a:off x="431800" y="1952625"/>
            <a:ext cx="4860925" cy="2501900"/>
          </a:xfrm>
          <a:prstGeom prst="rect">
            <a:avLst/>
          </a:prstGeom>
          <a:noFill/>
          <a:ln w="9525">
            <a:noFill/>
          </a:ln>
        </p:spPr>
        <p:txBody>
          <a:bodyPr>
            <a:spAutoFit/>
          </a:bodyPr>
          <a:p>
            <a:pPr marL="685800" indent="-685800" eaLnBrk="1" hangingPunct="1">
              <a:lnSpc>
                <a:spcPct val="110000"/>
              </a:lnSpc>
            </a:pPr>
            <a:r>
              <a:rPr lang="en-US" altLang="zh-CN" sz="2400" dirty="0">
                <a:solidFill>
                  <a:srgbClr val="FF0000"/>
                </a:solidFill>
                <a:latin typeface="Times New Roman" panose="02020603050405020304" pitchFamily="18" charset="0"/>
              </a:rPr>
              <a:t>1. </a:t>
            </a:r>
            <a:r>
              <a:rPr lang="zh-CN" altLang="en-US" sz="2400" dirty="0">
                <a:solidFill>
                  <a:srgbClr val="FF0000"/>
                </a:solidFill>
                <a:latin typeface="Times New Roman" panose="02020603050405020304" pitchFamily="18" charset="0"/>
              </a:rPr>
              <a:t>带宽：</a:t>
            </a:r>
            <a:r>
              <a:rPr lang="en-US" altLang="zh-CN" sz="2400" dirty="0">
                <a:solidFill>
                  <a:srgbClr val="FF0000"/>
                </a:solidFill>
                <a:latin typeface="Times New Roman" panose="02020603050405020304" pitchFamily="18" charset="0"/>
              </a:rPr>
              <a:t>100MHz</a:t>
            </a:r>
            <a:endParaRPr lang="en-US" altLang="zh-CN"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2. </a:t>
            </a:r>
            <a:r>
              <a:rPr lang="zh-CN" altLang="en-US" sz="2400" dirty="0">
                <a:solidFill>
                  <a:srgbClr val="FF0000"/>
                </a:solidFill>
                <a:latin typeface="Times New Roman" panose="02020603050405020304" pitchFamily="18" charset="0"/>
              </a:rPr>
              <a:t>采样率：</a:t>
            </a:r>
            <a:r>
              <a:rPr lang="en-US" altLang="zh-CN" sz="2400" dirty="0">
                <a:solidFill>
                  <a:srgbClr val="FF0000"/>
                </a:solidFill>
                <a:latin typeface="Times New Roman" panose="02020603050405020304" pitchFamily="18" charset="0"/>
              </a:rPr>
              <a:t>1GSPS</a:t>
            </a:r>
            <a:endParaRPr lang="en-US" altLang="zh-CN"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3. </a:t>
            </a:r>
            <a:r>
              <a:rPr lang="zh-CN" altLang="en-US" sz="2400" dirty="0">
                <a:solidFill>
                  <a:srgbClr val="FF0000"/>
                </a:solidFill>
                <a:latin typeface="Times New Roman" panose="02020603050405020304" pitchFamily="18" charset="0"/>
              </a:rPr>
              <a:t>存储深度：</a:t>
            </a:r>
            <a:r>
              <a:rPr lang="en-US" altLang="zh-CN" sz="2400" dirty="0">
                <a:solidFill>
                  <a:srgbClr val="FF0000"/>
                </a:solidFill>
                <a:latin typeface="Times New Roman" panose="02020603050405020304" pitchFamily="18" charset="0"/>
              </a:rPr>
              <a:t>24kpts</a:t>
            </a:r>
            <a:endParaRPr lang="en-US" altLang="zh-CN"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4. </a:t>
            </a:r>
            <a:r>
              <a:rPr lang="zh-CN" altLang="en-US" sz="2400" dirty="0">
                <a:solidFill>
                  <a:srgbClr val="FF0000"/>
                </a:solidFill>
                <a:latin typeface="Times New Roman" panose="02020603050405020304" pitchFamily="18" charset="0"/>
              </a:rPr>
              <a:t>波形捕获率：</a:t>
            </a:r>
            <a:r>
              <a:rPr lang="en-US" altLang="zh-CN" sz="2400" dirty="0">
                <a:solidFill>
                  <a:srgbClr val="FF0000"/>
                </a:solidFill>
                <a:latin typeface="Times New Roman" panose="02020603050405020304" pitchFamily="18" charset="0"/>
              </a:rPr>
              <a:t>15000wfms/s</a:t>
            </a:r>
            <a:endParaRPr lang="en-US" altLang="zh-CN"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3333CC"/>
                </a:solidFill>
                <a:latin typeface="Times New Roman" panose="02020603050405020304" pitchFamily="18" charset="0"/>
              </a:rPr>
              <a:t>5. </a:t>
            </a:r>
            <a:r>
              <a:rPr lang="zh-CN" altLang="en-US" sz="2400" dirty="0">
                <a:solidFill>
                  <a:srgbClr val="3333CC"/>
                </a:solidFill>
                <a:latin typeface="Times New Roman" panose="02020603050405020304" pitchFamily="18" charset="0"/>
              </a:rPr>
              <a:t>垂直灵敏度：</a:t>
            </a:r>
            <a:r>
              <a:rPr lang="en-US" altLang="zh-CN" sz="2400" dirty="0">
                <a:solidFill>
                  <a:srgbClr val="3333CC"/>
                </a:solidFill>
                <a:latin typeface="Times New Roman" panose="02020603050405020304" pitchFamily="18" charset="0"/>
              </a:rPr>
              <a:t>2mV/div~5V/div</a:t>
            </a:r>
            <a:endParaRPr lang="en-US" altLang="zh-CN" sz="2400" dirty="0">
              <a:solidFill>
                <a:srgbClr val="3333CC"/>
              </a:solidFill>
              <a:latin typeface="Times New Roman" panose="02020603050405020304" pitchFamily="18" charset="0"/>
            </a:endParaRPr>
          </a:p>
          <a:p>
            <a:pPr marL="685800" indent="-685800" eaLnBrk="1" hangingPunct="1">
              <a:lnSpc>
                <a:spcPct val="110000"/>
              </a:lnSpc>
            </a:pPr>
            <a:r>
              <a:rPr lang="en-US" altLang="zh-CN" sz="2400" dirty="0">
                <a:solidFill>
                  <a:srgbClr val="3333CC"/>
                </a:solidFill>
                <a:latin typeface="Times New Roman" panose="02020603050405020304" pitchFamily="18" charset="0"/>
              </a:rPr>
              <a:t>6. </a:t>
            </a:r>
            <a:r>
              <a:rPr lang="zh-CN" altLang="en-US" sz="2400" dirty="0">
                <a:solidFill>
                  <a:srgbClr val="3333CC"/>
                </a:solidFill>
                <a:latin typeface="Times New Roman" panose="02020603050405020304" pitchFamily="18" charset="0"/>
              </a:rPr>
              <a:t>时基范围：</a:t>
            </a:r>
            <a:r>
              <a:rPr lang="en-US" altLang="zh-CN" sz="2400" dirty="0">
                <a:solidFill>
                  <a:srgbClr val="3333CC"/>
                </a:solidFill>
                <a:latin typeface="Times New Roman" panose="02020603050405020304" pitchFamily="18" charset="0"/>
              </a:rPr>
              <a:t>5ns/div~50s/div</a:t>
            </a:r>
            <a:endParaRPr lang="zh-CN" altLang="en-US" sz="2400" dirty="0">
              <a:solidFill>
                <a:srgbClr val="3333CC"/>
              </a:solidFill>
              <a:latin typeface="Times New Roman" panose="02020603050405020304" pitchFamily="18" charset="0"/>
            </a:endParaRPr>
          </a:p>
        </p:txBody>
      </p:sp>
      <p:pic>
        <p:nvPicPr>
          <p:cNvPr id="3077" name="Picture 6" descr="UTD8202C"/>
          <p:cNvPicPr>
            <a:picLocks noChangeAspect="1"/>
          </p:cNvPicPr>
          <p:nvPr/>
        </p:nvPicPr>
        <p:blipFill>
          <a:blip r:embed="rId1"/>
          <a:stretch>
            <a:fillRect/>
          </a:stretch>
        </p:blipFill>
        <p:spPr>
          <a:xfrm>
            <a:off x="5083175" y="2060575"/>
            <a:ext cx="3100388" cy="2419350"/>
          </a:xfrm>
          <a:prstGeom prst="rect">
            <a:avLst/>
          </a:prstGeom>
          <a:noFill/>
          <a:ln w="9525">
            <a:noFill/>
          </a:ln>
        </p:spPr>
      </p:pic>
      <p:sp>
        <p:nvSpPr>
          <p:cNvPr id="3078" name="Text Box 11"/>
          <p:cNvSpPr txBox="1"/>
          <p:nvPr/>
        </p:nvSpPr>
        <p:spPr>
          <a:xfrm>
            <a:off x="403225" y="4797425"/>
            <a:ext cx="8561388" cy="1370013"/>
          </a:xfrm>
          <a:prstGeom prst="rect">
            <a:avLst/>
          </a:prstGeom>
          <a:noFill/>
          <a:ln w="9525">
            <a:noFill/>
          </a:ln>
        </p:spPr>
        <p:txBody>
          <a:bodyPr>
            <a:spAutoFit/>
          </a:bodyPr>
          <a:p>
            <a:pPr marL="685800" indent="-685800" eaLnBrk="1" hangingPunct="1">
              <a:lnSpc>
                <a:spcPct val="110000"/>
              </a:lnSpc>
              <a:spcAft>
                <a:spcPct val="20000"/>
              </a:spcAft>
            </a:pPr>
            <a:r>
              <a:rPr lang="en-US" altLang="zh-CN" sz="2400" dirty="0">
                <a:solidFill>
                  <a:srgbClr val="FF0000"/>
                </a:solidFill>
                <a:latin typeface="Times New Roman" panose="02020603050405020304" pitchFamily="18" charset="0"/>
              </a:rPr>
              <a:t>AT84AD001</a:t>
            </a:r>
            <a:r>
              <a:rPr lang="zh-CN" altLang="en-US" sz="2400" dirty="0">
                <a:solidFill>
                  <a:srgbClr val="FF0000"/>
                </a:solidFill>
                <a:latin typeface="Times New Roman" panose="02020603050405020304" pitchFamily="18" charset="0"/>
              </a:rPr>
              <a:t>：</a:t>
            </a:r>
            <a:r>
              <a:rPr lang="en-US" altLang="zh-CN" sz="2400" dirty="0">
                <a:solidFill>
                  <a:srgbClr val="FF0000"/>
                </a:solidFill>
                <a:latin typeface="Times New Roman" panose="02020603050405020304" pitchFamily="18" charset="0"/>
              </a:rPr>
              <a:t>1GSPS</a:t>
            </a:r>
            <a:r>
              <a:rPr lang="zh-CN" altLang="en-US" sz="2400" dirty="0">
                <a:solidFill>
                  <a:srgbClr val="FF0000"/>
                </a:solidFill>
                <a:latin typeface="Times New Roman" panose="02020603050405020304" pitchFamily="18" charset="0"/>
              </a:rPr>
              <a:t>、</a:t>
            </a:r>
            <a:r>
              <a:rPr lang="en-US" altLang="zh-CN" sz="2400" dirty="0">
                <a:solidFill>
                  <a:srgbClr val="FF0000"/>
                </a:solidFill>
                <a:latin typeface="Times New Roman" panose="02020603050405020304" pitchFamily="18" charset="0"/>
              </a:rPr>
              <a:t>500mVpp</a:t>
            </a:r>
            <a:r>
              <a:rPr lang="zh-CN" altLang="en-US" sz="2400" dirty="0">
                <a:solidFill>
                  <a:srgbClr val="FF0000"/>
                </a:solidFill>
                <a:latin typeface="Times New Roman" panose="02020603050405020304" pitchFamily="18" charset="0"/>
              </a:rPr>
              <a:t>、</a:t>
            </a:r>
            <a:r>
              <a:rPr lang="en-US" altLang="zh-CN" sz="2400" dirty="0">
                <a:solidFill>
                  <a:srgbClr val="FF0000"/>
                </a:solidFill>
                <a:latin typeface="Times New Roman" panose="02020603050405020304" pitchFamily="18" charset="0"/>
              </a:rPr>
              <a:t>8bit</a:t>
            </a:r>
            <a:endParaRPr lang="en-US" altLang="zh-CN" sz="2400" dirty="0">
              <a:solidFill>
                <a:srgbClr val="FF0000"/>
              </a:solidFill>
              <a:latin typeface="Times New Roman" panose="02020603050405020304" pitchFamily="18" charset="0"/>
            </a:endParaRPr>
          </a:p>
          <a:p>
            <a:pPr marL="685800" indent="-685800" eaLnBrk="1" hangingPunct="1">
              <a:lnSpc>
                <a:spcPct val="110000"/>
              </a:lnSpc>
            </a:pPr>
            <a:r>
              <a:rPr lang="zh-CN" altLang="en-US" sz="2400" dirty="0">
                <a:solidFill>
                  <a:srgbClr val="3333CC"/>
                </a:solidFill>
                <a:latin typeface="Times New Roman" panose="02020603050405020304" pitchFamily="18" charset="0"/>
              </a:rPr>
              <a:t>量化单位、“有舍有入”、量化误差、信噪比？</a:t>
            </a:r>
            <a:endParaRPr lang="zh-CN" altLang="en-US" sz="2400" dirty="0">
              <a:solidFill>
                <a:srgbClr val="3333CC"/>
              </a:solidFill>
              <a:latin typeface="Times New Roman" panose="02020603050405020304" pitchFamily="18" charset="0"/>
            </a:endParaRPr>
          </a:p>
          <a:p>
            <a:pPr marL="685800" indent="-685800" eaLnBrk="1" hangingPunct="1">
              <a:lnSpc>
                <a:spcPct val="110000"/>
              </a:lnSpc>
            </a:pPr>
            <a:r>
              <a:rPr lang="zh-CN" altLang="en-US" sz="2400" dirty="0">
                <a:solidFill>
                  <a:srgbClr val="3333CC"/>
                </a:solidFill>
                <a:latin typeface="Times New Roman" panose="02020603050405020304" pitchFamily="18" charset="0"/>
              </a:rPr>
              <a:t>二进制、格雷码？</a:t>
            </a:r>
            <a:endParaRPr lang="zh-CN" altLang="en-US" sz="2400" dirty="0">
              <a:solidFill>
                <a:srgbClr val="3333CC"/>
              </a:solidFill>
              <a:latin typeface="Times New Roman" panose="02020603050405020304" pitchFamily="18" charset="0"/>
            </a:endParaRPr>
          </a:p>
        </p:txBody>
      </p:sp>
      <p:graphicFrame>
        <p:nvGraphicFramePr>
          <p:cNvPr id="3079" name="Object 24"/>
          <p:cNvGraphicFramePr>
            <a:graphicFrameLocks noChangeAspect="1"/>
          </p:cNvGraphicFramePr>
          <p:nvPr/>
        </p:nvGraphicFramePr>
        <p:xfrm>
          <a:off x="6048375" y="4759325"/>
          <a:ext cx="1008063" cy="577850"/>
        </p:xfrm>
        <a:graphic>
          <a:graphicData uri="http://schemas.openxmlformats.org/presentationml/2006/ole">
            <mc:AlternateContent xmlns:mc="http://schemas.openxmlformats.org/markup-compatibility/2006">
              <mc:Choice xmlns:v="urn:schemas-microsoft-com:vml" Requires="v">
                <p:oleObj spid="_x0000_s2" name="" r:id="rId2" imgW="571500" imgH="393700" progId="Equation.3">
                  <p:embed/>
                </p:oleObj>
              </mc:Choice>
              <mc:Fallback>
                <p:oleObj name="" r:id="rId2" imgW="571500" imgH="393700" progId="Equation.3">
                  <p:embed/>
                  <p:pic>
                    <p:nvPicPr>
                      <p:cNvPr id="0" name="图片 1"/>
                      <p:cNvPicPr/>
                      <p:nvPr/>
                    </p:nvPicPr>
                    <p:blipFill>
                      <a:blip r:embed="rId3"/>
                      <a:stretch>
                        <a:fillRect/>
                      </a:stretch>
                    </p:blipFill>
                    <p:spPr>
                      <a:xfrm>
                        <a:off x="6048375" y="4759325"/>
                        <a:ext cx="1008063" cy="577850"/>
                      </a:xfrm>
                      <a:prstGeom prst="rect">
                        <a:avLst/>
                      </a:prstGeom>
                      <a:solidFill>
                        <a:srgbClr val="CCFFFF"/>
                      </a:solidFill>
                      <a:ln w="38100">
                        <a:noFill/>
                        <a:miter/>
                      </a:ln>
                    </p:spPr>
                  </p:pic>
                </p:oleObj>
              </mc:Fallback>
            </mc:AlternateContent>
          </a:graphicData>
        </a:graphic>
      </p:graphicFrame>
    </p:spTree>
  </p:cSld>
  <p:clrMapOvr>
    <a:masterClrMapping/>
  </p:clrMapOvr>
  <p:transition spd="med">
    <p:cove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7378" name="Text Box 2"/>
          <p:cNvSpPr txBox="1">
            <a:spLocks noChangeArrowheads="1"/>
          </p:cNvSpPr>
          <p:nvPr/>
        </p:nvSpPr>
        <p:spPr bwMode="auto">
          <a:xfrm>
            <a:off x="684213" y="225425"/>
            <a:ext cx="7667625"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典型数据采集系统：</a:t>
            </a:r>
            <a:r>
              <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数字存储示波器</a:t>
            </a:r>
            <a:endPar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sp>
        <p:nvSpPr>
          <p:cNvPr id="4099" name="Text Box 3"/>
          <p:cNvSpPr txBox="1"/>
          <p:nvPr/>
        </p:nvSpPr>
        <p:spPr>
          <a:xfrm>
            <a:off x="488950" y="1125538"/>
            <a:ext cx="5235575" cy="579437"/>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数字存储示波器的主要功能</a:t>
            </a:r>
            <a:endParaRPr lang="zh-CN" altLang="en-US" sz="3200" dirty="0">
              <a:latin typeface="Times New Roman" panose="02020603050405020304" pitchFamily="18" charset="0"/>
            </a:endParaRPr>
          </a:p>
        </p:txBody>
      </p:sp>
      <p:sp>
        <p:nvSpPr>
          <p:cNvPr id="4100" name="Text Box 11"/>
          <p:cNvSpPr txBox="1"/>
          <p:nvPr/>
        </p:nvSpPr>
        <p:spPr>
          <a:xfrm>
            <a:off x="431800" y="2241550"/>
            <a:ext cx="8243888" cy="3305175"/>
          </a:xfrm>
          <a:prstGeom prst="rect">
            <a:avLst/>
          </a:prstGeom>
          <a:noFill/>
          <a:ln w="9525">
            <a:noFill/>
          </a:ln>
        </p:spPr>
        <p:txBody>
          <a:bodyPr>
            <a:spAutoFit/>
          </a:bodyPr>
          <a:p>
            <a:pPr marL="685800" indent="-685800" eaLnBrk="1" hangingPunct="1">
              <a:lnSpc>
                <a:spcPct val="110000"/>
              </a:lnSpc>
            </a:pPr>
            <a:r>
              <a:rPr lang="en-US" altLang="zh-CN" sz="2400" dirty="0">
                <a:solidFill>
                  <a:srgbClr val="FF0000"/>
                </a:solidFill>
                <a:latin typeface="Times New Roman" panose="02020603050405020304" pitchFamily="18" charset="0"/>
              </a:rPr>
              <a:t>1. </a:t>
            </a:r>
            <a:r>
              <a:rPr lang="zh-CN" altLang="en-US" sz="2400" dirty="0">
                <a:solidFill>
                  <a:srgbClr val="FF0000"/>
                </a:solidFill>
                <a:latin typeface="Times New Roman" panose="02020603050405020304" pitchFamily="18" charset="0"/>
              </a:rPr>
              <a:t>模拟信号处理：</a:t>
            </a:r>
            <a:r>
              <a:rPr lang="zh-CN" altLang="en-US" sz="2400" dirty="0">
                <a:solidFill>
                  <a:srgbClr val="3333CC"/>
                </a:solidFill>
                <a:latin typeface="Times New Roman" panose="02020603050405020304" pitchFamily="18" charset="0"/>
              </a:rPr>
              <a:t>信号调理通道</a:t>
            </a:r>
            <a:r>
              <a:rPr lang="en-US" altLang="zh-CN" sz="2400" dirty="0">
                <a:solidFill>
                  <a:srgbClr val="3333CC"/>
                </a:solidFill>
                <a:latin typeface="Times New Roman" panose="02020603050405020304" pitchFamily="18" charset="0"/>
              </a:rPr>
              <a:t>——</a:t>
            </a:r>
            <a:r>
              <a:rPr lang="zh-CN" altLang="en-US" sz="2400" dirty="0">
                <a:solidFill>
                  <a:srgbClr val="FF0000"/>
                </a:solidFill>
                <a:latin typeface="Times New Roman" panose="02020603050405020304" pitchFamily="18" charset="0"/>
              </a:rPr>
              <a:t>衰减、放大、阻抗变换</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2. </a:t>
            </a:r>
            <a:r>
              <a:rPr lang="zh-CN" altLang="en-US" sz="2400" dirty="0">
                <a:solidFill>
                  <a:srgbClr val="FF0000"/>
                </a:solidFill>
                <a:latin typeface="Times New Roman" panose="02020603050405020304" pitchFamily="18" charset="0"/>
              </a:rPr>
              <a:t>采集数据：</a:t>
            </a:r>
            <a:r>
              <a:rPr lang="en-US" altLang="zh-CN" sz="2400" dirty="0">
                <a:solidFill>
                  <a:srgbClr val="3333CC"/>
                </a:solidFill>
                <a:latin typeface="Times New Roman" panose="02020603050405020304" pitchFamily="18" charset="0"/>
              </a:rPr>
              <a:t>ADC</a:t>
            </a:r>
            <a:r>
              <a:rPr lang="zh-CN" altLang="en-US" sz="2400" dirty="0">
                <a:solidFill>
                  <a:srgbClr val="3333CC"/>
                </a:solidFill>
                <a:latin typeface="Times New Roman" panose="02020603050405020304" pitchFamily="18" charset="0"/>
              </a:rPr>
              <a:t>、</a:t>
            </a:r>
            <a:r>
              <a:rPr lang="en-US" altLang="zh-CN" sz="2400" dirty="0">
                <a:solidFill>
                  <a:srgbClr val="3333CC"/>
                </a:solidFill>
                <a:latin typeface="Times New Roman" panose="02020603050405020304" pitchFamily="18" charset="0"/>
              </a:rPr>
              <a:t>FPGA——</a:t>
            </a:r>
            <a:r>
              <a:rPr lang="zh-CN" altLang="en-US" sz="2400" dirty="0">
                <a:solidFill>
                  <a:srgbClr val="FF0000"/>
                </a:solidFill>
                <a:latin typeface="Times New Roman" panose="02020603050405020304" pitchFamily="18" charset="0"/>
              </a:rPr>
              <a:t>采样、量化、编码、缓存</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3. </a:t>
            </a:r>
            <a:r>
              <a:rPr lang="zh-CN" altLang="en-US" sz="2400" dirty="0">
                <a:solidFill>
                  <a:srgbClr val="FF0000"/>
                </a:solidFill>
                <a:latin typeface="Times New Roman" panose="02020603050405020304" pitchFamily="18" charset="0"/>
              </a:rPr>
              <a:t>二次数据计算：</a:t>
            </a:r>
            <a:r>
              <a:rPr lang="en-US" altLang="zh-CN" sz="2400" dirty="0">
                <a:solidFill>
                  <a:srgbClr val="3333CC"/>
                </a:solidFill>
                <a:latin typeface="Times New Roman" panose="02020603050405020304" pitchFamily="18" charset="0"/>
              </a:rPr>
              <a:t>FPGA</a:t>
            </a:r>
            <a:r>
              <a:rPr lang="zh-CN" altLang="en-US" sz="2400" dirty="0">
                <a:solidFill>
                  <a:srgbClr val="3333CC"/>
                </a:solidFill>
                <a:latin typeface="Times New Roman" panose="02020603050405020304" pitchFamily="18" charset="0"/>
              </a:rPr>
              <a:t>、</a:t>
            </a:r>
            <a:r>
              <a:rPr lang="en-US" altLang="zh-CN" sz="2400" dirty="0">
                <a:solidFill>
                  <a:srgbClr val="3333CC"/>
                </a:solidFill>
                <a:latin typeface="Times New Roman" panose="02020603050405020304" pitchFamily="18" charset="0"/>
              </a:rPr>
              <a:t>DSP——</a:t>
            </a:r>
            <a:r>
              <a:rPr lang="zh-CN" altLang="en-US" sz="2400" dirty="0">
                <a:solidFill>
                  <a:srgbClr val="FF0000"/>
                </a:solidFill>
                <a:latin typeface="Times New Roman" panose="02020603050405020304" pitchFamily="18" charset="0"/>
              </a:rPr>
              <a:t>峰值、平均、参数测量</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4. </a:t>
            </a:r>
            <a:r>
              <a:rPr lang="zh-CN" altLang="en-US" sz="2400" dirty="0">
                <a:solidFill>
                  <a:srgbClr val="FF0000"/>
                </a:solidFill>
                <a:latin typeface="Times New Roman" panose="02020603050405020304" pitchFamily="18" charset="0"/>
              </a:rPr>
              <a:t>数字信号处理：</a:t>
            </a:r>
            <a:r>
              <a:rPr lang="en-US" altLang="zh-CN" sz="2400" dirty="0">
                <a:solidFill>
                  <a:srgbClr val="3333CC"/>
                </a:solidFill>
                <a:latin typeface="Times New Roman" panose="02020603050405020304" pitchFamily="18" charset="0"/>
              </a:rPr>
              <a:t>DSP</a:t>
            </a:r>
            <a:r>
              <a:rPr lang="zh-CN" altLang="en-US" sz="2400" dirty="0">
                <a:solidFill>
                  <a:srgbClr val="3333CC"/>
                </a:solidFill>
                <a:latin typeface="Times New Roman" panose="02020603050405020304" pitchFamily="18" charset="0"/>
              </a:rPr>
              <a:t>、</a:t>
            </a:r>
            <a:r>
              <a:rPr lang="en-US" altLang="zh-CN" sz="2400" dirty="0">
                <a:solidFill>
                  <a:srgbClr val="3333CC"/>
                </a:solidFill>
                <a:latin typeface="Times New Roman" panose="02020603050405020304" pitchFamily="18" charset="0"/>
              </a:rPr>
              <a:t>PC——</a:t>
            </a:r>
            <a:r>
              <a:rPr lang="zh-CN" altLang="en-US" sz="2400" dirty="0">
                <a:solidFill>
                  <a:srgbClr val="FF0000"/>
                </a:solidFill>
                <a:latin typeface="Times New Roman" panose="02020603050405020304" pitchFamily="18" charset="0"/>
              </a:rPr>
              <a:t>数学运算、</a:t>
            </a:r>
            <a:r>
              <a:rPr lang="en-US" altLang="zh-CN" sz="2400" dirty="0">
                <a:solidFill>
                  <a:srgbClr val="FF0000"/>
                </a:solidFill>
                <a:latin typeface="Times New Roman" panose="02020603050405020304" pitchFamily="18" charset="0"/>
              </a:rPr>
              <a:t>FFT</a:t>
            </a:r>
            <a:r>
              <a:rPr lang="zh-CN" altLang="en-US" sz="2400" dirty="0">
                <a:solidFill>
                  <a:srgbClr val="FF0000"/>
                </a:solidFill>
                <a:latin typeface="Times New Roman" panose="02020603050405020304" pitchFamily="18" charset="0"/>
              </a:rPr>
              <a:t>、数字滤波</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5. </a:t>
            </a:r>
            <a:r>
              <a:rPr lang="zh-CN" altLang="en-US" sz="2400" dirty="0">
                <a:solidFill>
                  <a:srgbClr val="FF0000"/>
                </a:solidFill>
                <a:latin typeface="Times New Roman" panose="02020603050405020304" pitchFamily="18" charset="0"/>
              </a:rPr>
              <a:t>数据存储：</a:t>
            </a:r>
            <a:r>
              <a:rPr lang="en-US" altLang="zh-CN" sz="2400" dirty="0">
                <a:solidFill>
                  <a:srgbClr val="3333CC"/>
                </a:solidFill>
                <a:latin typeface="Times New Roman" panose="02020603050405020304" pitchFamily="18" charset="0"/>
              </a:rPr>
              <a:t>SDRAM</a:t>
            </a:r>
            <a:r>
              <a:rPr lang="zh-CN" altLang="en-US" sz="2400" dirty="0">
                <a:solidFill>
                  <a:srgbClr val="3333CC"/>
                </a:solidFill>
                <a:latin typeface="Times New Roman" panose="02020603050405020304" pitchFamily="18" charset="0"/>
              </a:rPr>
              <a:t>、</a:t>
            </a:r>
            <a:r>
              <a:rPr lang="en-US" altLang="zh-CN" sz="2400" dirty="0">
                <a:solidFill>
                  <a:srgbClr val="3333CC"/>
                </a:solidFill>
                <a:latin typeface="Times New Roman" panose="02020603050405020304" pitchFamily="18" charset="0"/>
              </a:rPr>
              <a:t>SRAM——</a:t>
            </a:r>
            <a:r>
              <a:rPr lang="zh-CN" altLang="en-US" sz="2400" dirty="0">
                <a:solidFill>
                  <a:srgbClr val="FF0000"/>
                </a:solidFill>
                <a:latin typeface="Times New Roman" panose="02020603050405020304" pitchFamily="18" charset="0"/>
              </a:rPr>
              <a:t>数据、波形图像、设置</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6. </a:t>
            </a:r>
            <a:r>
              <a:rPr lang="zh-CN" altLang="en-US" sz="2400" dirty="0">
                <a:solidFill>
                  <a:srgbClr val="FF0000"/>
                </a:solidFill>
                <a:latin typeface="Times New Roman" panose="02020603050405020304" pitchFamily="18" charset="0"/>
              </a:rPr>
              <a:t>屏幕显示：</a:t>
            </a:r>
            <a:r>
              <a:rPr lang="en-US" altLang="zh-CN" sz="2400" dirty="0">
                <a:solidFill>
                  <a:srgbClr val="3333CC"/>
                </a:solidFill>
                <a:latin typeface="Times New Roman" panose="02020603050405020304" pitchFamily="18" charset="0"/>
              </a:rPr>
              <a:t>LCD</a:t>
            </a:r>
            <a:r>
              <a:rPr lang="zh-CN" altLang="en-US" sz="2400" dirty="0">
                <a:solidFill>
                  <a:srgbClr val="3333CC"/>
                </a:solidFill>
                <a:latin typeface="Times New Roman" panose="02020603050405020304" pitchFamily="18" charset="0"/>
              </a:rPr>
              <a:t>、</a:t>
            </a:r>
            <a:r>
              <a:rPr lang="en-US" altLang="zh-CN" sz="2400" dirty="0">
                <a:solidFill>
                  <a:srgbClr val="3333CC"/>
                </a:solidFill>
                <a:latin typeface="Times New Roman" panose="02020603050405020304" pitchFamily="18" charset="0"/>
              </a:rPr>
              <a:t>PC——</a:t>
            </a:r>
            <a:r>
              <a:rPr lang="zh-CN" altLang="en-US" sz="2400" dirty="0">
                <a:solidFill>
                  <a:srgbClr val="FF0000"/>
                </a:solidFill>
                <a:latin typeface="Times New Roman" panose="02020603050405020304" pitchFamily="18" charset="0"/>
              </a:rPr>
              <a:t>波形、菜单</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7. </a:t>
            </a:r>
            <a:r>
              <a:rPr lang="zh-CN" altLang="en-US" sz="2400" dirty="0">
                <a:solidFill>
                  <a:srgbClr val="FF0000"/>
                </a:solidFill>
                <a:latin typeface="Times New Roman" panose="02020603050405020304" pitchFamily="18" charset="0"/>
              </a:rPr>
              <a:t>打印输出：</a:t>
            </a:r>
            <a:r>
              <a:rPr lang="en-US" altLang="zh-CN" sz="2400" dirty="0">
                <a:solidFill>
                  <a:srgbClr val="3333CC"/>
                </a:solidFill>
                <a:latin typeface="Times New Roman" panose="02020603050405020304" pitchFamily="18" charset="0"/>
              </a:rPr>
              <a:t>USB——</a:t>
            </a:r>
            <a:r>
              <a:rPr lang="zh-CN" altLang="en-US" sz="2400" dirty="0">
                <a:solidFill>
                  <a:srgbClr val="FF0000"/>
                </a:solidFill>
                <a:latin typeface="Times New Roman" panose="02020603050405020304" pitchFamily="18" charset="0"/>
              </a:rPr>
              <a:t>屏幕拷贝、波形录制</a:t>
            </a:r>
            <a:endParaRPr lang="zh-CN" altLang="en-US" sz="2400" dirty="0">
              <a:solidFill>
                <a:srgbClr val="FF0000"/>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8. </a:t>
            </a:r>
            <a:r>
              <a:rPr lang="zh-CN" altLang="en-US" sz="2400" dirty="0">
                <a:solidFill>
                  <a:srgbClr val="FF0000"/>
                </a:solidFill>
                <a:latin typeface="Times New Roman" panose="02020603050405020304" pitchFamily="18" charset="0"/>
              </a:rPr>
              <a:t>人机联系：</a:t>
            </a:r>
            <a:r>
              <a:rPr lang="zh-CN" altLang="en-US" sz="2400" dirty="0">
                <a:solidFill>
                  <a:srgbClr val="3333CC"/>
                </a:solidFill>
                <a:latin typeface="Times New Roman" panose="02020603050405020304" pitchFamily="18" charset="0"/>
              </a:rPr>
              <a:t>键盘、触摸屏</a:t>
            </a:r>
            <a:endParaRPr lang="zh-CN" altLang="en-US" sz="2400" dirty="0">
              <a:solidFill>
                <a:srgbClr val="3333CC"/>
              </a:solidFill>
              <a:latin typeface="Times New Roman" panose="02020603050405020304" pitchFamily="18" charset="0"/>
            </a:endParaRPr>
          </a:p>
        </p:txBody>
      </p:sp>
    </p:spTree>
  </p:cSld>
  <p:clrMapOvr>
    <a:masterClrMapping/>
  </p:clrMapOvr>
  <p:transition spd="med">
    <p:cove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77378" name="Text Box 2"/>
          <p:cNvSpPr txBox="1">
            <a:spLocks noChangeArrowheads="1"/>
          </p:cNvSpPr>
          <p:nvPr/>
        </p:nvSpPr>
        <p:spPr bwMode="auto">
          <a:xfrm>
            <a:off x="684213" y="225425"/>
            <a:ext cx="7667625"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典型数据采集系统：</a:t>
            </a:r>
            <a:r>
              <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数字存储示波器</a:t>
            </a:r>
            <a:endParaRPr kumimoji="1" lang="zh-CN" altLang="en-US" sz="3600" b="1" i="0" u="none" strike="noStrike" kern="1200" cap="none" spc="0" normalizeH="0" baseline="0" noProof="0">
              <a:ln>
                <a:noFill/>
              </a:ln>
              <a:solidFill>
                <a:schemeClr val="tx1"/>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sp>
        <p:nvSpPr>
          <p:cNvPr id="5123" name="Text Box 3"/>
          <p:cNvSpPr txBox="1"/>
          <p:nvPr/>
        </p:nvSpPr>
        <p:spPr>
          <a:xfrm>
            <a:off x="488950" y="1125538"/>
            <a:ext cx="5235575" cy="579437"/>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数字存储示波器的采样技术</a:t>
            </a:r>
            <a:endParaRPr lang="zh-CN" altLang="en-US" sz="3200" dirty="0">
              <a:latin typeface="Times New Roman" panose="02020603050405020304" pitchFamily="18" charset="0"/>
            </a:endParaRPr>
          </a:p>
        </p:txBody>
      </p:sp>
      <p:sp>
        <p:nvSpPr>
          <p:cNvPr id="5124" name="Text Box 11"/>
          <p:cNvSpPr txBox="1"/>
          <p:nvPr/>
        </p:nvSpPr>
        <p:spPr>
          <a:xfrm>
            <a:off x="431800" y="1808163"/>
            <a:ext cx="8135938" cy="1296987"/>
          </a:xfrm>
          <a:prstGeom prst="rect">
            <a:avLst/>
          </a:prstGeom>
          <a:noFill/>
          <a:ln w="9525">
            <a:noFill/>
          </a:ln>
        </p:spPr>
        <p:txBody>
          <a:bodyPr>
            <a:spAutoFit/>
          </a:bodyPr>
          <a:p>
            <a:pPr marL="685800" indent="-685800" eaLnBrk="1" hangingPunct="1">
              <a:lnSpc>
                <a:spcPct val="110000"/>
              </a:lnSpc>
            </a:pPr>
            <a:r>
              <a:rPr lang="en-US" altLang="zh-CN" sz="2400" dirty="0">
                <a:solidFill>
                  <a:srgbClr val="FF0000"/>
                </a:solidFill>
                <a:latin typeface="Times New Roman" panose="02020603050405020304" pitchFamily="18" charset="0"/>
              </a:rPr>
              <a:t>1. </a:t>
            </a:r>
            <a:r>
              <a:rPr lang="zh-CN" altLang="en-US" sz="2400" dirty="0">
                <a:solidFill>
                  <a:srgbClr val="FF0000"/>
                </a:solidFill>
                <a:latin typeface="Times New Roman" panose="02020603050405020304" pitchFamily="18" charset="0"/>
              </a:rPr>
              <a:t>间歇采样：</a:t>
            </a:r>
            <a:r>
              <a:rPr lang="zh-CN" altLang="en-US" sz="2400" dirty="0">
                <a:solidFill>
                  <a:srgbClr val="3333CC"/>
                </a:solidFill>
                <a:latin typeface="Times New Roman" panose="02020603050405020304" pitchFamily="18" charset="0"/>
              </a:rPr>
              <a:t>处理速度跟不上采集速度，死区时间大，波形捕获率体现系统实时性。</a:t>
            </a:r>
            <a:endParaRPr lang="zh-CN" altLang="en-US" sz="2400" dirty="0">
              <a:solidFill>
                <a:srgbClr val="3333CC"/>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2. </a:t>
            </a:r>
            <a:r>
              <a:rPr lang="zh-CN" altLang="en-US" sz="2400" dirty="0">
                <a:solidFill>
                  <a:srgbClr val="FF0000"/>
                </a:solidFill>
                <a:latin typeface="Times New Roman" panose="02020603050405020304" pitchFamily="18" charset="0"/>
              </a:rPr>
              <a:t>变频采样：</a:t>
            </a:r>
            <a:r>
              <a:rPr lang="zh-CN" altLang="en-US" sz="2400" dirty="0">
                <a:solidFill>
                  <a:srgbClr val="3333CC"/>
                </a:solidFill>
                <a:latin typeface="Times New Roman" panose="02020603050405020304" pitchFamily="18" charset="0"/>
              </a:rPr>
              <a:t>慢速时基档位采用，充分利用存储空间。</a:t>
            </a:r>
            <a:endParaRPr lang="zh-CN" altLang="en-US" sz="2400" dirty="0">
              <a:solidFill>
                <a:srgbClr val="3333CC"/>
              </a:solidFill>
              <a:latin typeface="Times New Roman" panose="02020603050405020304" pitchFamily="18" charset="0"/>
            </a:endParaRPr>
          </a:p>
        </p:txBody>
      </p:sp>
      <p:sp>
        <p:nvSpPr>
          <p:cNvPr id="5125" name="Text Box 3"/>
          <p:cNvSpPr txBox="1"/>
          <p:nvPr/>
        </p:nvSpPr>
        <p:spPr>
          <a:xfrm>
            <a:off x="488950" y="3321050"/>
            <a:ext cx="6099175" cy="579438"/>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数字存储示波器的采样控制方式</a:t>
            </a:r>
            <a:endParaRPr lang="zh-CN" altLang="en-US" sz="3200" dirty="0">
              <a:latin typeface="Times New Roman" panose="02020603050405020304" pitchFamily="18" charset="0"/>
            </a:endParaRPr>
          </a:p>
        </p:txBody>
      </p:sp>
      <p:sp>
        <p:nvSpPr>
          <p:cNvPr id="5126" name="Text Box 11"/>
          <p:cNvSpPr txBox="1"/>
          <p:nvPr/>
        </p:nvSpPr>
        <p:spPr>
          <a:xfrm>
            <a:off x="431800" y="3933825"/>
            <a:ext cx="8135938" cy="2100263"/>
          </a:xfrm>
          <a:prstGeom prst="rect">
            <a:avLst/>
          </a:prstGeom>
          <a:noFill/>
          <a:ln w="9525">
            <a:noFill/>
          </a:ln>
        </p:spPr>
        <p:txBody>
          <a:bodyPr>
            <a:spAutoFit/>
          </a:bodyPr>
          <a:p>
            <a:pPr marL="685800" indent="-685800" eaLnBrk="1" hangingPunct="1">
              <a:lnSpc>
                <a:spcPct val="110000"/>
              </a:lnSpc>
            </a:pPr>
            <a:r>
              <a:rPr lang="en-US" altLang="zh-CN" sz="2400" dirty="0">
                <a:solidFill>
                  <a:srgbClr val="FF0000"/>
                </a:solidFill>
                <a:latin typeface="Times New Roman" panose="02020603050405020304" pitchFamily="18" charset="0"/>
              </a:rPr>
              <a:t>1. DMA</a:t>
            </a:r>
            <a:r>
              <a:rPr lang="zh-CN" altLang="en-US" sz="2400" dirty="0">
                <a:solidFill>
                  <a:srgbClr val="FF0000"/>
                </a:solidFill>
                <a:latin typeface="Times New Roman" panose="02020603050405020304" pitchFamily="18" charset="0"/>
              </a:rPr>
              <a:t>采样：</a:t>
            </a:r>
            <a:r>
              <a:rPr lang="en-US" altLang="zh-CN" sz="2400" dirty="0">
                <a:solidFill>
                  <a:srgbClr val="3333CC"/>
                </a:solidFill>
                <a:latin typeface="Times New Roman" panose="02020603050405020304" pitchFamily="18" charset="0"/>
              </a:rPr>
              <a:t>ADC</a:t>
            </a:r>
            <a:r>
              <a:rPr lang="zh-CN" altLang="en-US" sz="2400" dirty="0">
                <a:solidFill>
                  <a:srgbClr val="3333CC"/>
                </a:solidFill>
                <a:latin typeface="Times New Roman" panose="02020603050405020304" pitchFamily="18" charset="0"/>
              </a:rPr>
              <a:t>高速采样、量化、编码，</a:t>
            </a:r>
            <a:r>
              <a:rPr lang="en-US" altLang="zh-CN" sz="2400" dirty="0">
                <a:solidFill>
                  <a:srgbClr val="3333CC"/>
                </a:solidFill>
                <a:latin typeface="Times New Roman" panose="02020603050405020304" pitchFamily="18" charset="0"/>
              </a:rPr>
              <a:t>FPGA</a:t>
            </a:r>
            <a:r>
              <a:rPr lang="zh-CN" altLang="en-US" sz="2400" dirty="0">
                <a:solidFill>
                  <a:srgbClr val="3333CC"/>
                </a:solidFill>
                <a:latin typeface="Times New Roman" panose="02020603050405020304" pitchFamily="18" charset="0"/>
              </a:rPr>
              <a:t>缓存。</a:t>
            </a:r>
            <a:endParaRPr lang="zh-CN" altLang="en-US" sz="2400" dirty="0">
              <a:solidFill>
                <a:srgbClr val="3333CC"/>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2. </a:t>
            </a:r>
            <a:r>
              <a:rPr lang="zh-CN" altLang="en-US" sz="2400" dirty="0">
                <a:solidFill>
                  <a:srgbClr val="FF0000"/>
                </a:solidFill>
                <a:latin typeface="Times New Roman" panose="02020603050405020304" pitchFamily="18" charset="0"/>
              </a:rPr>
              <a:t>查询方式：</a:t>
            </a:r>
            <a:r>
              <a:rPr lang="zh-CN" altLang="en-US" sz="2400" dirty="0">
                <a:solidFill>
                  <a:srgbClr val="3333CC"/>
                </a:solidFill>
                <a:latin typeface="Times New Roman" panose="02020603050405020304" pitchFamily="18" charset="0"/>
              </a:rPr>
              <a:t>软件主程序每个大循环查询并等待一幅波形采集完成（</a:t>
            </a:r>
            <a:r>
              <a:rPr lang="en-US" altLang="zh-CN" sz="2400" dirty="0">
                <a:solidFill>
                  <a:srgbClr val="3333CC"/>
                </a:solidFill>
                <a:latin typeface="Times New Roman" panose="02020603050405020304" pitchFamily="18" charset="0"/>
              </a:rPr>
              <a:t>FPGA</a:t>
            </a:r>
            <a:r>
              <a:rPr lang="zh-CN" altLang="en-US" sz="2400" dirty="0">
                <a:solidFill>
                  <a:srgbClr val="3333CC"/>
                </a:solidFill>
                <a:latin typeface="Times New Roman" panose="02020603050405020304" pitchFamily="18" charset="0"/>
              </a:rPr>
              <a:t>中的</a:t>
            </a:r>
            <a:r>
              <a:rPr lang="en-US" altLang="zh-CN" sz="2400" dirty="0">
                <a:solidFill>
                  <a:srgbClr val="3333CC"/>
                </a:solidFill>
                <a:latin typeface="Times New Roman" panose="02020603050405020304" pitchFamily="18" charset="0"/>
              </a:rPr>
              <a:t>FIFO</a:t>
            </a:r>
            <a:r>
              <a:rPr lang="zh-CN" altLang="en-US" sz="2400" dirty="0">
                <a:solidFill>
                  <a:srgbClr val="3333CC"/>
                </a:solidFill>
                <a:latin typeface="Times New Roman" panose="02020603050405020304" pitchFamily="18" charset="0"/>
              </a:rPr>
              <a:t>存满）。</a:t>
            </a:r>
            <a:endParaRPr lang="zh-CN" altLang="en-US" sz="2400" dirty="0">
              <a:solidFill>
                <a:srgbClr val="3333CC"/>
              </a:solidFill>
              <a:latin typeface="Times New Roman" panose="02020603050405020304" pitchFamily="18" charset="0"/>
            </a:endParaRPr>
          </a:p>
          <a:p>
            <a:pPr marL="685800" indent="-685800" eaLnBrk="1" hangingPunct="1">
              <a:lnSpc>
                <a:spcPct val="110000"/>
              </a:lnSpc>
            </a:pPr>
            <a:r>
              <a:rPr lang="en-US" altLang="zh-CN" sz="2400" dirty="0">
                <a:solidFill>
                  <a:srgbClr val="FF0000"/>
                </a:solidFill>
                <a:latin typeface="Times New Roman" panose="02020603050405020304" pitchFamily="18" charset="0"/>
              </a:rPr>
              <a:t>3. </a:t>
            </a:r>
            <a:r>
              <a:rPr lang="zh-CN" altLang="en-US" sz="2400" dirty="0">
                <a:solidFill>
                  <a:srgbClr val="FF0000"/>
                </a:solidFill>
                <a:latin typeface="Times New Roman" panose="02020603050405020304" pitchFamily="18" charset="0"/>
              </a:rPr>
              <a:t>中断方式：</a:t>
            </a:r>
            <a:r>
              <a:rPr lang="zh-CN" altLang="en-US" sz="2400" dirty="0">
                <a:solidFill>
                  <a:srgbClr val="3333CC"/>
                </a:solidFill>
                <a:latin typeface="Times New Roman" panose="02020603050405020304" pitchFamily="18" charset="0"/>
              </a:rPr>
              <a:t>一旦有触控操作，触摸屏</a:t>
            </a:r>
            <a:r>
              <a:rPr lang="en-US" altLang="zh-CN" sz="2400" dirty="0">
                <a:solidFill>
                  <a:srgbClr val="3333CC"/>
                </a:solidFill>
                <a:latin typeface="Times New Roman" panose="02020603050405020304" pitchFamily="18" charset="0"/>
              </a:rPr>
              <a:t>ADC</a:t>
            </a:r>
            <a:r>
              <a:rPr lang="zh-CN" altLang="en-US" sz="2400" dirty="0">
                <a:solidFill>
                  <a:srgbClr val="3333CC"/>
                </a:solidFill>
                <a:latin typeface="Times New Roman" panose="02020603050405020304" pitchFamily="18" charset="0"/>
              </a:rPr>
              <a:t>立即采集数据、并申请中断主程序，进入按键响应子程序。</a:t>
            </a:r>
            <a:endParaRPr lang="zh-CN" altLang="en-US" sz="2400" dirty="0">
              <a:solidFill>
                <a:srgbClr val="3333CC"/>
              </a:solidFill>
              <a:latin typeface="Times New Roman" panose="02020603050405020304" pitchFamily="18" charset="0"/>
            </a:endParaRPr>
          </a:p>
        </p:txBody>
      </p:sp>
    </p:spTree>
  </p:cSld>
  <p:clrMapOvr>
    <a:masterClrMapping/>
  </p:clrMapOvr>
  <p:transition spd="med">
    <p:cove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6146" name="Picture 2" descr="Turm_blau_hell"/>
          <p:cNvPicPr>
            <a:picLocks noChangeAspect="1"/>
          </p:cNvPicPr>
          <p:nvPr/>
        </p:nvPicPr>
        <p:blipFill>
          <a:blip r:embed="rId1"/>
          <a:stretch>
            <a:fillRect/>
          </a:stretch>
        </p:blipFill>
        <p:spPr>
          <a:xfrm>
            <a:off x="3016250" y="836613"/>
            <a:ext cx="5537200" cy="5295900"/>
          </a:xfrm>
          <a:prstGeom prst="rect">
            <a:avLst/>
          </a:prstGeom>
          <a:noFill/>
          <a:ln w="9525">
            <a:noFill/>
          </a:ln>
        </p:spPr>
      </p:pic>
      <p:sp>
        <p:nvSpPr>
          <p:cNvPr id="6147" name="Rectangle 3"/>
          <p:cNvSpPr/>
          <p:nvPr/>
        </p:nvSpPr>
        <p:spPr>
          <a:xfrm>
            <a:off x="0" y="512763"/>
            <a:ext cx="609600" cy="5605462"/>
          </a:xfrm>
          <a:prstGeom prst="rect">
            <a:avLst/>
          </a:prstGeom>
          <a:solidFill>
            <a:srgbClr val="808080"/>
          </a:solidFill>
          <a:ln w="12700">
            <a:noFill/>
          </a:ln>
        </p:spPr>
        <p:txBody>
          <a:bodyPr wrap="none" anchor="ctr" anchorCtr="0"/>
          <a:p>
            <a:pPr eaLnBrk="1" hangingPunct="1">
              <a:lnSpc>
                <a:spcPct val="90000"/>
              </a:lnSpc>
            </a:pPr>
            <a:endParaRPr lang="zh-CN" altLang="en-US" dirty="0">
              <a:latin typeface="Times New Roman" panose="02020603050405020304" pitchFamily="18" charset="0"/>
            </a:endParaRPr>
          </a:p>
        </p:txBody>
      </p:sp>
      <p:pic>
        <p:nvPicPr>
          <p:cNvPr id="6148" name="Picture 5" descr="kugel_blau"/>
          <p:cNvPicPr>
            <a:picLocks noChangeAspect="1"/>
          </p:cNvPicPr>
          <p:nvPr/>
        </p:nvPicPr>
        <p:blipFill>
          <a:blip r:embed="rId2"/>
          <a:stretch>
            <a:fillRect/>
          </a:stretch>
        </p:blipFill>
        <p:spPr>
          <a:xfrm>
            <a:off x="1582738" y="1557338"/>
            <a:ext cx="457200" cy="315912"/>
          </a:xfrm>
          <a:prstGeom prst="rect">
            <a:avLst/>
          </a:prstGeom>
          <a:noFill/>
          <a:ln w="9525">
            <a:noFill/>
          </a:ln>
        </p:spPr>
      </p:pic>
      <p:pic>
        <p:nvPicPr>
          <p:cNvPr id="6149" name="Picture 6" descr="kugel_blau"/>
          <p:cNvPicPr>
            <a:picLocks noChangeAspect="1"/>
          </p:cNvPicPr>
          <p:nvPr/>
        </p:nvPicPr>
        <p:blipFill>
          <a:blip r:embed="rId2"/>
          <a:stretch>
            <a:fillRect/>
          </a:stretch>
        </p:blipFill>
        <p:spPr>
          <a:xfrm>
            <a:off x="1577975" y="2257425"/>
            <a:ext cx="457200" cy="315913"/>
          </a:xfrm>
          <a:prstGeom prst="rect">
            <a:avLst/>
          </a:prstGeom>
          <a:noFill/>
          <a:ln w="9525">
            <a:noFill/>
          </a:ln>
        </p:spPr>
      </p:pic>
      <p:pic>
        <p:nvPicPr>
          <p:cNvPr id="6150" name="Picture 8" descr="kugel_blau"/>
          <p:cNvPicPr>
            <a:picLocks noChangeAspect="1"/>
          </p:cNvPicPr>
          <p:nvPr/>
        </p:nvPicPr>
        <p:blipFill>
          <a:blip r:embed="rId2"/>
          <a:stretch>
            <a:fillRect/>
          </a:stretch>
        </p:blipFill>
        <p:spPr>
          <a:xfrm>
            <a:off x="1576388" y="3013075"/>
            <a:ext cx="457200" cy="315913"/>
          </a:xfrm>
          <a:prstGeom prst="rect">
            <a:avLst/>
          </a:prstGeom>
          <a:noFill/>
          <a:ln w="9525">
            <a:noFill/>
          </a:ln>
        </p:spPr>
      </p:pic>
      <p:pic>
        <p:nvPicPr>
          <p:cNvPr id="6151" name="Picture 10" descr="kugel_blau"/>
          <p:cNvPicPr>
            <a:picLocks noChangeAspect="1"/>
          </p:cNvPicPr>
          <p:nvPr/>
        </p:nvPicPr>
        <p:blipFill>
          <a:blip r:embed="rId2"/>
          <a:stretch>
            <a:fillRect/>
          </a:stretch>
        </p:blipFill>
        <p:spPr>
          <a:xfrm>
            <a:off x="1584325" y="3797300"/>
            <a:ext cx="457200" cy="315913"/>
          </a:xfrm>
          <a:prstGeom prst="rect">
            <a:avLst/>
          </a:prstGeom>
          <a:noFill/>
          <a:ln w="9525">
            <a:noFill/>
          </a:ln>
        </p:spPr>
      </p:pic>
      <p:sp>
        <p:nvSpPr>
          <p:cNvPr id="2383885" name="Text Box 13"/>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endParaRPr kumimoji="1" lang="zh-CN" altLang="zh-CN" sz="32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6153" name="Line 14"/>
          <p:cNvSpPr/>
          <p:nvPr/>
        </p:nvSpPr>
        <p:spPr>
          <a:xfrm>
            <a:off x="609600" y="673100"/>
            <a:ext cx="257175" cy="0"/>
          </a:xfrm>
          <a:prstGeom prst="line">
            <a:avLst/>
          </a:prstGeom>
          <a:ln w="19050" cap="flat" cmpd="sng">
            <a:solidFill>
              <a:srgbClr val="808080"/>
            </a:solidFill>
            <a:prstDash val="solid"/>
            <a:headEnd type="none" w="med" len="med"/>
            <a:tailEnd type="none" w="med" len="med"/>
          </a:ln>
        </p:spPr>
      </p:sp>
      <p:sp>
        <p:nvSpPr>
          <p:cNvPr id="6154" name="Line 15"/>
          <p:cNvSpPr/>
          <p:nvPr/>
        </p:nvSpPr>
        <p:spPr>
          <a:xfrm>
            <a:off x="863600" y="673100"/>
            <a:ext cx="0" cy="484188"/>
          </a:xfrm>
          <a:prstGeom prst="line">
            <a:avLst/>
          </a:prstGeom>
          <a:ln w="19050" cap="flat" cmpd="sng">
            <a:solidFill>
              <a:srgbClr val="808080"/>
            </a:solidFill>
            <a:prstDash val="solid"/>
            <a:headEnd type="none" w="med" len="med"/>
            <a:tailEnd type="none" w="med" len="med"/>
          </a:ln>
        </p:spPr>
      </p:sp>
      <p:sp>
        <p:nvSpPr>
          <p:cNvPr id="6155" name="Line 16"/>
          <p:cNvSpPr/>
          <p:nvPr/>
        </p:nvSpPr>
        <p:spPr>
          <a:xfrm flipV="1">
            <a:off x="862013" y="1160463"/>
            <a:ext cx="6626225" cy="0"/>
          </a:xfrm>
          <a:prstGeom prst="line">
            <a:avLst/>
          </a:prstGeom>
          <a:ln w="19050" cap="flat" cmpd="sng">
            <a:solidFill>
              <a:srgbClr val="808080"/>
            </a:solidFill>
            <a:prstDash val="solid"/>
            <a:headEnd type="none" w="med" len="med"/>
            <a:tailEnd type="none" w="med" len="med"/>
          </a:ln>
        </p:spPr>
      </p:sp>
      <p:sp>
        <p:nvSpPr>
          <p:cNvPr id="6156" name="Line 17"/>
          <p:cNvSpPr/>
          <p:nvPr/>
        </p:nvSpPr>
        <p:spPr>
          <a:xfrm>
            <a:off x="1150938" y="1179513"/>
            <a:ext cx="0" cy="520700"/>
          </a:xfrm>
          <a:prstGeom prst="line">
            <a:avLst/>
          </a:prstGeom>
          <a:ln w="19050" cap="flat" cmpd="sng">
            <a:solidFill>
              <a:srgbClr val="808080"/>
            </a:solidFill>
            <a:prstDash val="solid"/>
            <a:headEnd type="none" w="med" len="med"/>
            <a:tailEnd type="none" w="med" len="med"/>
          </a:ln>
        </p:spPr>
      </p:sp>
      <p:sp>
        <p:nvSpPr>
          <p:cNvPr id="6157" name="Line 18"/>
          <p:cNvSpPr/>
          <p:nvPr/>
        </p:nvSpPr>
        <p:spPr>
          <a:xfrm>
            <a:off x="1150938" y="1725613"/>
            <a:ext cx="257175" cy="0"/>
          </a:xfrm>
          <a:prstGeom prst="line">
            <a:avLst/>
          </a:prstGeom>
          <a:ln w="19050" cap="flat" cmpd="sng">
            <a:solidFill>
              <a:srgbClr val="808080"/>
            </a:solidFill>
            <a:prstDash val="solid"/>
            <a:headEnd type="none" w="med" len="med"/>
            <a:tailEnd type="none" w="med" len="med"/>
          </a:ln>
        </p:spPr>
      </p:sp>
      <p:sp>
        <p:nvSpPr>
          <p:cNvPr id="6158" name="Line 19"/>
          <p:cNvSpPr/>
          <p:nvPr/>
        </p:nvSpPr>
        <p:spPr>
          <a:xfrm>
            <a:off x="1150938" y="1725613"/>
            <a:ext cx="0" cy="644525"/>
          </a:xfrm>
          <a:prstGeom prst="line">
            <a:avLst/>
          </a:prstGeom>
          <a:ln w="19050" cap="flat" cmpd="sng">
            <a:solidFill>
              <a:srgbClr val="808080"/>
            </a:solidFill>
            <a:prstDash val="solid"/>
            <a:headEnd type="none" w="med" len="med"/>
            <a:tailEnd type="none" w="med" len="med"/>
          </a:ln>
        </p:spPr>
      </p:sp>
      <p:sp>
        <p:nvSpPr>
          <p:cNvPr id="6159" name="Line 20"/>
          <p:cNvSpPr/>
          <p:nvPr/>
        </p:nvSpPr>
        <p:spPr>
          <a:xfrm>
            <a:off x="1160463" y="2428875"/>
            <a:ext cx="257175" cy="0"/>
          </a:xfrm>
          <a:prstGeom prst="line">
            <a:avLst/>
          </a:prstGeom>
          <a:ln w="19050" cap="flat" cmpd="sng">
            <a:solidFill>
              <a:srgbClr val="808080"/>
            </a:solidFill>
            <a:prstDash val="solid"/>
            <a:headEnd type="none" w="med" len="med"/>
            <a:tailEnd type="none" w="med" len="med"/>
          </a:ln>
        </p:spPr>
      </p:sp>
      <p:sp>
        <p:nvSpPr>
          <p:cNvPr id="6160" name="Line 21"/>
          <p:cNvSpPr/>
          <p:nvPr/>
        </p:nvSpPr>
        <p:spPr>
          <a:xfrm flipH="1">
            <a:off x="1150938" y="2370138"/>
            <a:ext cx="0" cy="1139825"/>
          </a:xfrm>
          <a:prstGeom prst="line">
            <a:avLst/>
          </a:prstGeom>
          <a:ln w="19050" cap="flat" cmpd="sng">
            <a:solidFill>
              <a:srgbClr val="808080"/>
            </a:solidFill>
            <a:prstDash val="solid"/>
            <a:headEnd type="none" w="med" len="med"/>
            <a:tailEnd type="none" w="med" len="med"/>
          </a:ln>
        </p:spPr>
      </p:sp>
      <p:sp>
        <p:nvSpPr>
          <p:cNvPr id="6161" name="Line 22"/>
          <p:cNvSpPr/>
          <p:nvPr/>
        </p:nvSpPr>
        <p:spPr>
          <a:xfrm>
            <a:off x="1150938" y="3186113"/>
            <a:ext cx="257175" cy="0"/>
          </a:xfrm>
          <a:prstGeom prst="line">
            <a:avLst/>
          </a:prstGeom>
          <a:ln w="19050" cap="flat" cmpd="sng">
            <a:solidFill>
              <a:srgbClr val="808080"/>
            </a:solidFill>
            <a:prstDash val="solid"/>
            <a:headEnd type="none" w="med" len="med"/>
            <a:tailEnd type="none" w="med" len="med"/>
          </a:ln>
        </p:spPr>
      </p:sp>
      <p:sp>
        <p:nvSpPr>
          <p:cNvPr id="6162" name="Line 23"/>
          <p:cNvSpPr/>
          <p:nvPr/>
        </p:nvSpPr>
        <p:spPr>
          <a:xfrm>
            <a:off x="1150938" y="3506788"/>
            <a:ext cx="0" cy="639762"/>
          </a:xfrm>
          <a:prstGeom prst="line">
            <a:avLst/>
          </a:prstGeom>
          <a:ln w="19050" cap="flat" cmpd="sng">
            <a:solidFill>
              <a:srgbClr val="808080"/>
            </a:solidFill>
            <a:prstDash val="solid"/>
            <a:headEnd type="none" w="med" len="med"/>
            <a:tailEnd type="none" w="med" len="med"/>
          </a:ln>
        </p:spPr>
      </p:sp>
      <p:sp>
        <p:nvSpPr>
          <p:cNvPr id="6163" name="Line 24"/>
          <p:cNvSpPr/>
          <p:nvPr/>
        </p:nvSpPr>
        <p:spPr>
          <a:xfrm>
            <a:off x="1150938" y="3941763"/>
            <a:ext cx="257175" cy="0"/>
          </a:xfrm>
          <a:prstGeom prst="line">
            <a:avLst/>
          </a:prstGeom>
          <a:ln w="19050" cap="flat" cmpd="sng">
            <a:solidFill>
              <a:srgbClr val="808080"/>
            </a:solidFill>
            <a:prstDash val="solid"/>
            <a:headEnd type="none" w="med" len="med"/>
            <a:tailEnd type="none" w="med" len="med"/>
          </a:ln>
        </p:spPr>
      </p:sp>
      <p:sp>
        <p:nvSpPr>
          <p:cNvPr id="6164" name="Line 25"/>
          <p:cNvSpPr/>
          <p:nvPr/>
        </p:nvSpPr>
        <p:spPr>
          <a:xfrm>
            <a:off x="1150938" y="4146550"/>
            <a:ext cx="0" cy="663575"/>
          </a:xfrm>
          <a:prstGeom prst="line">
            <a:avLst/>
          </a:prstGeom>
          <a:ln w="19050" cap="flat" cmpd="sng">
            <a:solidFill>
              <a:srgbClr val="808080"/>
            </a:solidFill>
            <a:prstDash val="solid"/>
            <a:headEnd type="none" w="med" len="med"/>
            <a:tailEnd type="none" w="med" len="med"/>
          </a:ln>
        </p:spPr>
      </p:sp>
      <p:sp>
        <p:nvSpPr>
          <p:cNvPr id="6165" name="Line 26"/>
          <p:cNvSpPr/>
          <p:nvPr/>
        </p:nvSpPr>
        <p:spPr>
          <a:xfrm>
            <a:off x="1150938" y="4697413"/>
            <a:ext cx="257175" cy="0"/>
          </a:xfrm>
          <a:prstGeom prst="line">
            <a:avLst/>
          </a:prstGeom>
          <a:ln w="19050" cap="flat" cmpd="sng">
            <a:solidFill>
              <a:srgbClr val="808080"/>
            </a:solidFill>
            <a:prstDash val="solid"/>
            <a:headEnd type="none" w="med" len="med"/>
            <a:tailEnd type="none" w="med" len="med"/>
          </a:ln>
        </p:spPr>
      </p:sp>
      <p:pic>
        <p:nvPicPr>
          <p:cNvPr id="6166" name="Picture 27" descr="kugel_blau"/>
          <p:cNvPicPr>
            <a:picLocks noChangeAspect="1"/>
          </p:cNvPicPr>
          <p:nvPr/>
        </p:nvPicPr>
        <p:blipFill>
          <a:blip r:embed="rId2"/>
          <a:stretch>
            <a:fillRect/>
          </a:stretch>
        </p:blipFill>
        <p:spPr>
          <a:xfrm>
            <a:off x="1576388" y="4552950"/>
            <a:ext cx="457200" cy="315913"/>
          </a:xfrm>
          <a:prstGeom prst="rect">
            <a:avLst/>
          </a:prstGeom>
          <a:noFill/>
          <a:ln w="9525">
            <a:noFill/>
          </a:ln>
        </p:spPr>
      </p:pic>
      <p:sp>
        <p:nvSpPr>
          <p:cNvPr id="2383901" name="Rectangle 29"/>
          <p:cNvSpPr>
            <a:spLocks noChangeArrowheads="1"/>
          </p:cNvSpPr>
          <p:nvPr/>
        </p:nvSpPr>
        <p:spPr bwMode="auto">
          <a:xfrm>
            <a:off x="1709738" y="292100"/>
            <a:ext cx="6156325" cy="628650"/>
          </a:xfrm>
          <a:prstGeom prst="rect">
            <a:avLst/>
          </a:prstGeom>
          <a:noFill/>
          <a:ln>
            <a:noFill/>
          </a:ln>
          <a:effec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a:t>
            </a:r>
            <a:endPar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sp>
        <p:nvSpPr>
          <p:cNvPr id="2383903" name="Rectangle 31"/>
          <p:cNvSpPr>
            <a:spLocks noChangeArrowheads="1"/>
          </p:cNvSpPr>
          <p:nvPr/>
        </p:nvSpPr>
        <p:spPr bwMode="auto">
          <a:xfrm>
            <a:off x="2093913" y="1928813"/>
            <a:ext cx="7096125"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3.2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工作原理及主要技术指标</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sp>
        <p:nvSpPr>
          <p:cNvPr id="2383904" name="Rectangle 32"/>
          <p:cNvSpPr>
            <a:spLocks noChangeArrowheads="1"/>
          </p:cNvSpPr>
          <p:nvPr/>
        </p:nvSpPr>
        <p:spPr bwMode="auto">
          <a:xfrm>
            <a:off x="2098675" y="2728913"/>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3.3 </a:t>
            </a:r>
            <a:r>
              <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a:t>
            </a:r>
            <a:endPar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5" name="Rectangle 33"/>
          <p:cNvSpPr>
            <a:spLocks noChangeArrowheads="1"/>
          </p:cNvSpPr>
          <p:nvPr/>
        </p:nvSpPr>
        <p:spPr bwMode="auto">
          <a:xfrm>
            <a:off x="2079625" y="3509963"/>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3.4</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6" name="Rectangle 34"/>
          <p:cNvSpPr>
            <a:spLocks noChangeArrowheads="1"/>
          </p:cNvSpPr>
          <p:nvPr/>
        </p:nvSpPr>
        <p:spPr bwMode="auto">
          <a:xfrm>
            <a:off x="2070100" y="4265613"/>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3.5</a:t>
            </a: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 </a:t>
            </a:r>
            <a:r>
              <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a:t>
            </a:r>
            <a:endPar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7" name="Rectangle 35"/>
          <p:cNvSpPr>
            <a:spLocks noChangeArrowheads="1"/>
          </p:cNvSpPr>
          <p:nvPr/>
        </p:nvSpPr>
        <p:spPr bwMode="auto">
          <a:xfrm>
            <a:off x="2051050" y="4989513"/>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3.6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8" name="Rectangle 36"/>
          <p:cNvSpPr>
            <a:spLocks noGrp="1" noChangeArrowheads="1"/>
          </p:cNvSpPr>
          <p:nvPr>
            <p:ph type="subTitle" idx="1"/>
          </p:nvPr>
        </p:nvSpPr>
        <p:spPr bwMode="auto">
          <a:xfrm>
            <a:off x="2103438" y="1276350"/>
            <a:ext cx="5695950" cy="784225"/>
          </a:xfrm>
        </p:spPr>
        <p:txBody>
          <a:bodyPr vert="horz" wrap="square" lIns="82550" tIns="41275" rIns="82550" bIns="41275" numCol="1" anchor="t" anchorCtr="0" compatLnSpc="1"/>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6174" name="Picture 37" descr="kugel_blau"/>
          <p:cNvPicPr>
            <a:picLocks noChangeAspect="1"/>
          </p:cNvPicPr>
          <p:nvPr/>
        </p:nvPicPr>
        <p:blipFill>
          <a:blip r:embed="rId2"/>
          <a:stretch>
            <a:fillRect/>
          </a:stretch>
        </p:blipFill>
        <p:spPr>
          <a:xfrm>
            <a:off x="1582738" y="5281613"/>
            <a:ext cx="457200" cy="315912"/>
          </a:xfrm>
          <a:prstGeom prst="rect">
            <a:avLst/>
          </a:prstGeom>
          <a:noFill/>
          <a:ln w="9525">
            <a:noFill/>
          </a:ln>
        </p:spPr>
      </p:pic>
      <p:sp>
        <p:nvSpPr>
          <p:cNvPr id="6175" name="Line 38"/>
          <p:cNvSpPr/>
          <p:nvPr/>
        </p:nvSpPr>
        <p:spPr>
          <a:xfrm flipH="1">
            <a:off x="1152525" y="4791075"/>
            <a:ext cx="0" cy="649288"/>
          </a:xfrm>
          <a:prstGeom prst="line">
            <a:avLst/>
          </a:prstGeom>
          <a:ln w="19050" cap="flat" cmpd="sng">
            <a:solidFill>
              <a:srgbClr val="808080"/>
            </a:solidFill>
            <a:prstDash val="solid"/>
            <a:headEnd type="none" w="med" len="med"/>
            <a:tailEnd type="none" w="med" len="med"/>
          </a:ln>
        </p:spPr>
      </p:sp>
      <p:sp>
        <p:nvSpPr>
          <p:cNvPr id="6176" name="Line 39"/>
          <p:cNvSpPr/>
          <p:nvPr/>
        </p:nvSpPr>
        <p:spPr>
          <a:xfrm>
            <a:off x="1152525" y="5441950"/>
            <a:ext cx="257175" cy="0"/>
          </a:xfrm>
          <a:prstGeom prst="line">
            <a:avLst/>
          </a:prstGeom>
          <a:ln w="19050" cap="flat" cmpd="sng">
            <a:solidFill>
              <a:srgbClr val="808080"/>
            </a:solidFill>
            <a:prstDash val="solid"/>
            <a:headEnd type="none" w="med" len="med"/>
            <a:tailEnd type="none" w="med" len="med"/>
          </a:ln>
        </p:spPr>
      </p:sp>
    </p:spTree>
  </p:cSld>
  <p:clrMapOvr>
    <a:masterClrMapping/>
  </p:clrMapOvr>
  <p:transition spd="med">
    <p:cove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554509" name="Text Box 77"/>
          <p:cNvSpPr txBox="1"/>
          <p:nvPr/>
        </p:nvSpPr>
        <p:spPr>
          <a:xfrm>
            <a:off x="793750" y="1789113"/>
            <a:ext cx="3311525" cy="3549650"/>
          </a:xfrm>
          <a:prstGeom prst="rect">
            <a:avLst/>
          </a:prstGeom>
          <a:solidFill>
            <a:srgbClr val="CCFFFF"/>
          </a:solidFill>
          <a:ln w="9525">
            <a:noFill/>
          </a:ln>
        </p:spPr>
        <p:txBody>
          <a:bodyPr>
            <a:spAutoFit/>
          </a:bodyPr>
          <a:p>
            <a:pPr eaLnBrk="1" hangingPunct="1">
              <a:lnSpc>
                <a:spcPct val="90000"/>
              </a:lnSpc>
            </a:pPr>
            <a:r>
              <a:rPr lang="zh-CN" altLang="en-US" sz="2800" dirty="0">
                <a:solidFill>
                  <a:srgbClr val="FF0000"/>
                </a:solidFill>
                <a:latin typeface="黑体" panose="02010609060101010101" pitchFamily="49" charset="-122"/>
                <a:ea typeface="黑体" panose="02010609060101010101" pitchFamily="49" charset="-122"/>
              </a:rPr>
              <a:t>多路开关：</a:t>
            </a:r>
            <a:r>
              <a:rPr lang="zh-CN" altLang="en-US" sz="2800" dirty="0">
                <a:solidFill>
                  <a:schemeClr val="tx1"/>
                </a:solidFill>
                <a:latin typeface="黑体" panose="02010609060101010101" pitchFamily="49" charset="-122"/>
                <a:ea typeface="黑体" panose="02010609060101010101" pitchFamily="49" charset="-122"/>
              </a:rPr>
              <a:t>在多路被测信号共用一路</a:t>
            </a:r>
            <a:r>
              <a:rPr lang="en-US" altLang="zh-CN" sz="2800" dirty="0">
                <a:solidFill>
                  <a:schemeClr val="tx1"/>
                </a:solidFill>
                <a:latin typeface="黑体" panose="02010609060101010101" pitchFamily="49" charset="-122"/>
                <a:ea typeface="黑体" panose="02010609060101010101" pitchFamily="49" charset="-122"/>
              </a:rPr>
              <a:t>A/D</a:t>
            </a:r>
            <a:r>
              <a:rPr lang="zh-CN" altLang="en-US" sz="2800" dirty="0">
                <a:solidFill>
                  <a:schemeClr val="tx1"/>
                </a:solidFill>
                <a:latin typeface="黑体" panose="02010609060101010101" pitchFamily="49" charset="-122"/>
                <a:ea typeface="黑体" panose="02010609060101010101" pitchFamily="49" charset="-122"/>
              </a:rPr>
              <a:t>转换器的数据采集系统中，用来将多路被测信号分别传送到</a:t>
            </a:r>
            <a:r>
              <a:rPr lang="en-US" altLang="zh-CN" sz="2800" dirty="0">
                <a:solidFill>
                  <a:schemeClr val="tx1"/>
                </a:solidFill>
                <a:latin typeface="黑体" panose="02010609060101010101" pitchFamily="49" charset="-122"/>
                <a:ea typeface="黑体" panose="02010609060101010101" pitchFamily="49" charset="-122"/>
              </a:rPr>
              <a:t>A/D</a:t>
            </a:r>
            <a:r>
              <a:rPr lang="zh-CN" altLang="en-US" sz="2800" dirty="0">
                <a:solidFill>
                  <a:schemeClr val="tx1"/>
                </a:solidFill>
                <a:latin typeface="黑体" panose="02010609060101010101" pitchFamily="49" charset="-122"/>
                <a:ea typeface="黑体" panose="02010609060101010101" pitchFamily="49" charset="-122"/>
              </a:rPr>
              <a:t>转换器进行转换，以便计算机能对多路被测信号进行处理。</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1554522" name="Rectangle 90"/>
          <p:cNvSpPr/>
          <p:nvPr/>
        </p:nvSpPr>
        <p:spPr>
          <a:xfrm>
            <a:off x="5695950" y="1962150"/>
            <a:ext cx="2181225" cy="2619375"/>
          </a:xfrm>
          <a:prstGeom prst="rect">
            <a:avLst/>
          </a:prstGeom>
          <a:solidFill>
            <a:srgbClr val="FFCC99"/>
          </a:solidFill>
          <a:ln w="25400" cap="flat" cmpd="sng">
            <a:solidFill>
              <a:schemeClr val="tx1"/>
            </a:solidFill>
            <a:prstDash val="dash"/>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554523" name="Line 91"/>
          <p:cNvSpPr/>
          <p:nvPr/>
        </p:nvSpPr>
        <p:spPr>
          <a:xfrm>
            <a:off x="5172075" y="2505075"/>
            <a:ext cx="1019175" cy="0"/>
          </a:xfrm>
          <a:prstGeom prst="line">
            <a:avLst/>
          </a:prstGeom>
          <a:ln w="25400" cap="flat" cmpd="sng">
            <a:solidFill>
              <a:srgbClr val="000080"/>
            </a:solidFill>
            <a:prstDash val="solid"/>
            <a:headEnd type="oval" w="med" len="med"/>
            <a:tailEnd type="oval" w="med" len="med"/>
          </a:ln>
        </p:spPr>
      </p:sp>
      <p:sp>
        <p:nvSpPr>
          <p:cNvPr id="1554524" name="Line 92"/>
          <p:cNvSpPr/>
          <p:nvPr/>
        </p:nvSpPr>
        <p:spPr>
          <a:xfrm>
            <a:off x="5178425" y="3025775"/>
            <a:ext cx="1019175" cy="0"/>
          </a:xfrm>
          <a:prstGeom prst="line">
            <a:avLst/>
          </a:prstGeom>
          <a:ln w="25400" cap="flat" cmpd="sng">
            <a:solidFill>
              <a:srgbClr val="000080"/>
            </a:solidFill>
            <a:prstDash val="solid"/>
            <a:headEnd type="oval" w="med" len="med"/>
            <a:tailEnd type="oval" w="med" len="med"/>
          </a:ln>
        </p:spPr>
      </p:sp>
      <p:sp>
        <p:nvSpPr>
          <p:cNvPr id="1554525" name="Line 93"/>
          <p:cNvSpPr/>
          <p:nvPr/>
        </p:nvSpPr>
        <p:spPr>
          <a:xfrm>
            <a:off x="5168900" y="3549650"/>
            <a:ext cx="1019175" cy="0"/>
          </a:xfrm>
          <a:prstGeom prst="line">
            <a:avLst/>
          </a:prstGeom>
          <a:ln w="25400" cap="flat" cmpd="sng">
            <a:solidFill>
              <a:srgbClr val="000080"/>
            </a:solidFill>
            <a:prstDash val="solid"/>
            <a:headEnd type="oval" w="med" len="med"/>
            <a:tailEnd type="oval" w="med" len="med"/>
          </a:ln>
        </p:spPr>
      </p:sp>
      <p:sp>
        <p:nvSpPr>
          <p:cNvPr id="1554526" name="Line 94"/>
          <p:cNvSpPr/>
          <p:nvPr/>
        </p:nvSpPr>
        <p:spPr>
          <a:xfrm>
            <a:off x="5175250" y="4070350"/>
            <a:ext cx="1019175" cy="0"/>
          </a:xfrm>
          <a:prstGeom prst="line">
            <a:avLst/>
          </a:prstGeom>
          <a:ln w="25400" cap="flat" cmpd="sng">
            <a:solidFill>
              <a:srgbClr val="000080"/>
            </a:solidFill>
            <a:prstDash val="solid"/>
            <a:headEnd type="oval" w="med" len="med"/>
            <a:tailEnd type="oval" w="med" len="med"/>
          </a:ln>
        </p:spPr>
      </p:sp>
      <p:sp>
        <p:nvSpPr>
          <p:cNvPr id="1554527" name="Line 95"/>
          <p:cNvSpPr/>
          <p:nvPr/>
        </p:nvSpPr>
        <p:spPr>
          <a:xfrm>
            <a:off x="7499350" y="3289300"/>
            <a:ext cx="1019175" cy="0"/>
          </a:xfrm>
          <a:prstGeom prst="line">
            <a:avLst/>
          </a:prstGeom>
          <a:ln w="25400" cap="flat" cmpd="sng">
            <a:solidFill>
              <a:srgbClr val="003366"/>
            </a:solidFill>
            <a:prstDash val="solid"/>
            <a:headEnd type="oval" w="med" len="med"/>
            <a:tailEnd type="oval" w="med" len="med"/>
          </a:ln>
        </p:spPr>
      </p:sp>
      <p:sp>
        <p:nvSpPr>
          <p:cNvPr id="1554528" name="Line 96"/>
          <p:cNvSpPr/>
          <p:nvPr/>
        </p:nvSpPr>
        <p:spPr>
          <a:xfrm flipH="1" flipV="1">
            <a:off x="6648450" y="4257675"/>
            <a:ext cx="0" cy="552450"/>
          </a:xfrm>
          <a:prstGeom prst="line">
            <a:avLst/>
          </a:prstGeom>
          <a:ln w="25400" cap="flat" cmpd="sng">
            <a:solidFill>
              <a:srgbClr val="003366"/>
            </a:solidFill>
            <a:prstDash val="solid"/>
            <a:headEnd type="none" w="med" len="med"/>
            <a:tailEnd type="stealth" w="med" len="lg"/>
          </a:ln>
        </p:spPr>
      </p:sp>
      <p:sp>
        <p:nvSpPr>
          <p:cNvPr id="1554529" name="Line 97"/>
          <p:cNvSpPr/>
          <p:nvPr/>
        </p:nvSpPr>
        <p:spPr>
          <a:xfrm flipH="1" flipV="1">
            <a:off x="7054850" y="4264025"/>
            <a:ext cx="0" cy="552450"/>
          </a:xfrm>
          <a:prstGeom prst="line">
            <a:avLst/>
          </a:prstGeom>
          <a:ln w="25400" cap="flat" cmpd="sng">
            <a:solidFill>
              <a:srgbClr val="003366"/>
            </a:solidFill>
            <a:prstDash val="solid"/>
            <a:headEnd type="none" w="med" len="med"/>
            <a:tailEnd type="stealth" w="med" len="lg"/>
          </a:ln>
        </p:spPr>
      </p:sp>
      <p:sp>
        <p:nvSpPr>
          <p:cNvPr id="1554530" name="Line 98"/>
          <p:cNvSpPr/>
          <p:nvPr/>
        </p:nvSpPr>
        <p:spPr>
          <a:xfrm flipH="1" flipV="1">
            <a:off x="6207125" y="2520950"/>
            <a:ext cx="1276350" cy="762000"/>
          </a:xfrm>
          <a:prstGeom prst="line">
            <a:avLst/>
          </a:prstGeom>
          <a:ln w="25400" cap="flat" cmpd="sng">
            <a:solidFill>
              <a:srgbClr val="FF0000"/>
            </a:solidFill>
            <a:prstDash val="solid"/>
            <a:headEnd type="none" w="med" len="med"/>
            <a:tailEnd type="stealth" w="med" len="lg"/>
          </a:ln>
        </p:spPr>
      </p:sp>
      <p:sp>
        <p:nvSpPr>
          <p:cNvPr id="1554531" name="Text Box 99"/>
          <p:cNvSpPr txBox="1"/>
          <p:nvPr/>
        </p:nvSpPr>
        <p:spPr>
          <a:xfrm>
            <a:off x="5638800" y="5229225"/>
            <a:ext cx="2457450" cy="420688"/>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四选一多路开关</a:t>
            </a:r>
            <a:endParaRPr lang="zh-CN" altLang="en-US" sz="2400" dirty="0">
              <a:latin typeface="Times New Roman" panose="02020603050405020304" pitchFamily="18" charset="0"/>
            </a:endParaRPr>
          </a:p>
        </p:txBody>
      </p:sp>
      <p:sp>
        <p:nvSpPr>
          <p:cNvPr id="1554532" name="Text Box 100"/>
          <p:cNvSpPr txBox="1"/>
          <p:nvPr/>
        </p:nvSpPr>
        <p:spPr>
          <a:xfrm>
            <a:off x="4657725" y="2276475"/>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0</a:t>
            </a:r>
            <a:endParaRPr lang="en-US" altLang="zh-CN" sz="2400" baseline="-25000" dirty="0">
              <a:solidFill>
                <a:srgbClr val="FF0000"/>
              </a:solidFill>
              <a:latin typeface="Times New Roman" panose="02020603050405020304" pitchFamily="18" charset="0"/>
            </a:endParaRPr>
          </a:p>
        </p:txBody>
      </p:sp>
      <p:sp>
        <p:nvSpPr>
          <p:cNvPr id="1554533" name="Text Box 101"/>
          <p:cNvSpPr txBox="1"/>
          <p:nvPr/>
        </p:nvSpPr>
        <p:spPr>
          <a:xfrm>
            <a:off x="4654550" y="2797175"/>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1</a:t>
            </a:r>
            <a:endParaRPr lang="en-US" altLang="zh-CN" sz="2400" baseline="-25000" dirty="0">
              <a:solidFill>
                <a:srgbClr val="FF0000"/>
              </a:solidFill>
              <a:latin typeface="Times New Roman" panose="02020603050405020304" pitchFamily="18" charset="0"/>
            </a:endParaRPr>
          </a:p>
        </p:txBody>
      </p:sp>
      <p:sp>
        <p:nvSpPr>
          <p:cNvPr id="1554534" name="Text Box 102"/>
          <p:cNvSpPr txBox="1"/>
          <p:nvPr/>
        </p:nvSpPr>
        <p:spPr>
          <a:xfrm>
            <a:off x="4660900" y="3308350"/>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2</a:t>
            </a:r>
            <a:endParaRPr lang="en-US" altLang="zh-CN" sz="2400" baseline="-25000" dirty="0">
              <a:solidFill>
                <a:srgbClr val="FF0000"/>
              </a:solidFill>
              <a:latin typeface="Times New Roman" panose="02020603050405020304" pitchFamily="18" charset="0"/>
            </a:endParaRPr>
          </a:p>
        </p:txBody>
      </p:sp>
      <p:sp>
        <p:nvSpPr>
          <p:cNvPr id="1554535" name="Text Box 103"/>
          <p:cNvSpPr txBox="1"/>
          <p:nvPr/>
        </p:nvSpPr>
        <p:spPr>
          <a:xfrm>
            <a:off x="4660900" y="3860800"/>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3</a:t>
            </a:r>
            <a:endParaRPr lang="en-US" altLang="zh-CN" sz="2400" baseline="-25000" dirty="0">
              <a:solidFill>
                <a:srgbClr val="FF0000"/>
              </a:solidFill>
              <a:latin typeface="Times New Roman" panose="02020603050405020304" pitchFamily="18" charset="0"/>
            </a:endParaRPr>
          </a:p>
        </p:txBody>
      </p:sp>
      <p:sp>
        <p:nvSpPr>
          <p:cNvPr id="1554536" name="Text Box 104"/>
          <p:cNvSpPr txBox="1"/>
          <p:nvPr/>
        </p:nvSpPr>
        <p:spPr>
          <a:xfrm>
            <a:off x="6403975" y="4756150"/>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1</a:t>
            </a:r>
            <a:endParaRPr lang="en-US" altLang="zh-CN" sz="2400" baseline="-25000" dirty="0">
              <a:solidFill>
                <a:srgbClr val="FF0000"/>
              </a:solidFill>
              <a:latin typeface="Times New Roman" panose="02020603050405020304" pitchFamily="18" charset="0"/>
            </a:endParaRPr>
          </a:p>
        </p:txBody>
      </p:sp>
      <p:sp>
        <p:nvSpPr>
          <p:cNvPr id="1554537" name="Text Box 105"/>
          <p:cNvSpPr txBox="1"/>
          <p:nvPr/>
        </p:nvSpPr>
        <p:spPr>
          <a:xfrm>
            <a:off x="6842125" y="4756150"/>
            <a:ext cx="800100"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2</a:t>
            </a:r>
            <a:endParaRPr lang="en-US" altLang="zh-CN" sz="2400" baseline="-25000" dirty="0">
              <a:solidFill>
                <a:srgbClr val="FF0000"/>
              </a:solidFill>
              <a:latin typeface="Times New Roman" panose="02020603050405020304" pitchFamily="18" charset="0"/>
            </a:endParaRPr>
          </a:p>
        </p:txBody>
      </p:sp>
      <p:sp>
        <p:nvSpPr>
          <p:cNvPr id="1554538" name="Text Box 106"/>
          <p:cNvSpPr txBox="1"/>
          <p:nvPr/>
        </p:nvSpPr>
        <p:spPr>
          <a:xfrm>
            <a:off x="8515350" y="3060700"/>
            <a:ext cx="542925" cy="420688"/>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Y</a:t>
            </a:r>
            <a:endParaRPr lang="en-US" altLang="zh-CN" sz="2400" baseline="-25000" dirty="0">
              <a:solidFill>
                <a:srgbClr val="FF0000"/>
              </a:solidFill>
              <a:latin typeface="Times New Roman" panose="02020603050405020304" pitchFamily="18" charset="0"/>
            </a:endParaRPr>
          </a:p>
        </p:txBody>
      </p:sp>
      <p:sp>
        <p:nvSpPr>
          <p:cNvPr id="1554539" name="Text Box 107"/>
          <p:cNvSpPr txBox="1"/>
          <p:nvPr/>
        </p:nvSpPr>
        <p:spPr>
          <a:xfrm>
            <a:off x="619125" y="8667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54539"/>
                                        </p:tgtEl>
                                        <p:attrNameLst>
                                          <p:attrName>style.visibility</p:attrName>
                                        </p:attrNameLst>
                                      </p:cBhvr>
                                      <p:to>
                                        <p:strVal val="visible"/>
                                      </p:to>
                                    </p:set>
                                    <p:animEffect transition="in" filter="dissolve">
                                      <p:cBhvr>
                                        <p:cTn id="7" dur="500"/>
                                        <p:tgtEl>
                                          <p:spTgt spid="155453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54509"/>
                                        </p:tgtEl>
                                        <p:attrNameLst>
                                          <p:attrName>style.visibility</p:attrName>
                                        </p:attrNameLst>
                                      </p:cBhvr>
                                      <p:to>
                                        <p:strVal val="visible"/>
                                      </p:to>
                                    </p:set>
                                    <p:animEffect transition="in" filter="dissolve">
                                      <p:cBhvr>
                                        <p:cTn id="12" dur="500"/>
                                        <p:tgtEl>
                                          <p:spTgt spid="155450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554522"/>
                                        </p:tgtEl>
                                        <p:attrNameLst>
                                          <p:attrName>style.visibility</p:attrName>
                                        </p:attrNameLst>
                                      </p:cBhvr>
                                      <p:to>
                                        <p:strVal val="visible"/>
                                      </p:to>
                                    </p:set>
                                    <p:animEffect transition="in" filter="dissolve">
                                      <p:cBhvr>
                                        <p:cTn id="17" dur="500"/>
                                        <p:tgtEl>
                                          <p:spTgt spid="1554522"/>
                                        </p:tgtEl>
                                      </p:cBhvr>
                                    </p:animEffect>
                                  </p:childTnLst>
                                </p:cTn>
                              </p:par>
                              <p:par>
                                <p:cTn id="18" presetID="9" presetClass="entr" presetSubtype="0" fill="hold" nodeType="withEffect">
                                  <p:stCondLst>
                                    <p:cond delay="0"/>
                                  </p:stCondLst>
                                  <p:childTnLst>
                                    <p:set>
                                      <p:cBhvr>
                                        <p:cTn id="19" dur="1" fill="hold">
                                          <p:stCondLst>
                                            <p:cond delay="0"/>
                                          </p:stCondLst>
                                        </p:cTn>
                                        <p:tgtEl>
                                          <p:spTgt spid="1554523"/>
                                        </p:tgtEl>
                                        <p:attrNameLst>
                                          <p:attrName>style.visibility</p:attrName>
                                        </p:attrNameLst>
                                      </p:cBhvr>
                                      <p:to>
                                        <p:strVal val="visible"/>
                                      </p:to>
                                    </p:set>
                                    <p:animEffect transition="in" filter="dissolve">
                                      <p:cBhvr>
                                        <p:cTn id="20" dur="500"/>
                                        <p:tgtEl>
                                          <p:spTgt spid="1554523"/>
                                        </p:tgtEl>
                                      </p:cBhvr>
                                    </p:animEffect>
                                  </p:childTnLst>
                                </p:cTn>
                              </p:par>
                              <p:par>
                                <p:cTn id="21" presetID="9" presetClass="entr" presetSubtype="0" fill="hold" nodeType="withEffect">
                                  <p:stCondLst>
                                    <p:cond delay="0"/>
                                  </p:stCondLst>
                                  <p:childTnLst>
                                    <p:set>
                                      <p:cBhvr>
                                        <p:cTn id="22" dur="1" fill="hold">
                                          <p:stCondLst>
                                            <p:cond delay="0"/>
                                          </p:stCondLst>
                                        </p:cTn>
                                        <p:tgtEl>
                                          <p:spTgt spid="1554524"/>
                                        </p:tgtEl>
                                        <p:attrNameLst>
                                          <p:attrName>style.visibility</p:attrName>
                                        </p:attrNameLst>
                                      </p:cBhvr>
                                      <p:to>
                                        <p:strVal val="visible"/>
                                      </p:to>
                                    </p:set>
                                    <p:animEffect transition="in" filter="dissolve">
                                      <p:cBhvr>
                                        <p:cTn id="23" dur="500"/>
                                        <p:tgtEl>
                                          <p:spTgt spid="1554524"/>
                                        </p:tgtEl>
                                      </p:cBhvr>
                                    </p:animEffect>
                                  </p:childTnLst>
                                </p:cTn>
                              </p:par>
                              <p:par>
                                <p:cTn id="24" presetID="9" presetClass="entr" presetSubtype="0" fill="hold" nodeType="withEffect">
                                  <p:stCondLst>
                                    <p:cond delay="0"/>
                                  </p:stCondLst>
                                  <p:childTnLst>
                                    <p:set>
                                      <p:cBhvr>
                                        <p:cTn id="25" dur="1" fill="hold">
                                          <p:stCondLst>
                                            <p:cond delay="0"/>
                                          </p:stCondLst>
                                        </p:cTn>
                                        <p:tgtEl>
                                          <p:spTgt spid="1554525"/>
                                        </p:tgtEl>
                                        <p:attrNameLst>
                                          <p:attrName>style.visibility</p:attrName>
                                        </p:attrNameLst>
                                      </p:cBhvr>
                                      <p:to>
                                        <p:strVal val="visible"/>
                                      </p:to>
                                    </p:set>
                                    <p:animEffect transition="in" filter="dissolve">
                                      <p:cBhvr>
                                        <p:cTn id="26" dur="500"/>
                                        <p:tgtEl>
                                          <p:spTgt spid="1554525"/>
                                        </p:tgtEl>
                                      </p:cBhvr>
                                    </p:animEffect>
                                  </p:childTnLst>
                                </p:cTn>
                              </p:par>
                              <p:par>
                                <p:cTn id="27" presetID="9" presetClass="entr" presetSubtype="0" fill="hold" nodeType="withEffect">
                                  <p:stCondLst>
                                    <p:cond delay="0"/>
                                  </p:stCondLst>
                                  <p:childTnLst>
                                    <p:set>
                                      <p:cBhvr>
                                        <p:cTn id="28" dur="1" fill="hold">
                                          <p:stCondLst>
                                            <p:cond delay="0"/>
                                          </p:stCondLst>
                                        </p:cTn>
                                        <p:tgtEl>
                                          <p:spTgt spid="1554526"/>
                                        </p:tgtEl>
                                        <p:attrNameLst>
                                          <p:attrName>style.visibility</p:attrName>
                                        </p:attrNameLst>
                                      </p:cBhvr>
                                      <p:to>
                                        <p:strVal val="visible"/>
                                      </p:to>
                                    </p:set>
                                    <p:animEffect transition="in" filter="dissolve">
                                      <p:cBhvr>
                                        <p:cTn id="29" dur="500"/>
                                        <p:tgtEl>
                                          <p:spTgt spid="1554526"/>
                                        </p:tgtEl>
                                      </p:cBhvr>
                                    </p:animEffect>
                                  </p:childTnLst>
                                </p:cTn>
                              </p:par>
                              <p:par>
                                <p:cTn id="30" presetID="9" presetClass="entr" presetSubtype="0" fill="hold" nodeType="withEffect">
                                  <p:stCondLst>
                                    <p:cond delay="0"/>
                                  </p:stCondLst>
                                  <p:childTnLst>
                                    <p:set>
                                      <p:cBhvr>
                                        <p:cTn id="31" dur="1" fill="hold">
                                          <p:stCondLst>
                                            <p:cond delay="0"/>
                                          </p:stCondLst>
                                        </p:cTn>
                                        <p:tgtEl>
                                          <p:spTgt spid="1554527"/>
                                        </p:tgtEl>
                                        <p:attrNameLst>
                                          <p:attrName>style.visibility</p:attrName>
                                        </p:attrNameLst>
                                      </p:cBhvr>
                                      <p:to>
                                        <p:strVal val="visible"/>
                                      </p:to>
                                    </p:set>
                                    <p:animEffect transition="in" filter="dissolve">
                                      <p:cBhvr>
                                        <p:cTn id="32" dur="500"/>
                                        <p:tgtEl>
                                          <p:spTgt spid="1554527"/>
                                        </p:tgtEl>
                                      </p:cBhvr>
                                    </p:animEffect>
                                  </p:childTnLst>
                                </p:cTn>
                              </p:par>
                              <p:par>
                                <p:cTn id="33" presetID="9" presetClass="entr" presetSubtype="0" fill="hold" nodeType="withEffect">
                                  <p:stCondLst>
                                    <p:cond delay="0"/>
                                  </p:stCondLst>
                                  <p:childTnLst>
                                    <p:set>
                                      <p:cBhvr>
                                        <p:cTn id="34" dur="1" fill="hold">
                                          <p:stCondLst>
                                            <p:cond delay="0"/>
                                          </p:stCondLst>
                                        </p:cTn>
                                        <p:tgtEl>
                                          <p:spTgt spid="1554528"/>
                                        </p:tgtEl>
                                        <p:attrNameLst>
                                          <p:attrName>style.visibility</p:attrName>
                                        </p:attrNameLst>
                                      </p:cBhvr>
                                      <p:to>
                                        <p:strVal val="visible"/>
                                      </p:to>
                                    </p:set>
                                    <p:animEffect transition="in" filter="dissolve">
                                      <p:cBhvr>
                                        <p:cTn id="35" dur="500"/>
                                        <p:tgtEl>
                                          <p:spTgt spid="1554528"/>
                                        </p:tgtEl>
                                      </p:cBhvr>
                                    </p:animEffect>
                                  </p:childTnLst>
                                </p:cTn>
                              </p:par>
                              <p:par>
                                <p:cTn id="36" presetID="9" presetClass="entr" presetSubtype="0" fill="hold" nodeType="withEffect">
                                  <p:stCondLst>
                                    <p:cond delay="0"/>
                                  </p:stCondLst>
                                  <p:childTnLst>
                                    <p:set>
                                      <p:cBhvr>
                                        <p:cTn id="37" dur="1" fill="hold">
                                          <p:stCondLst>
                                            <p:cond delay="0"/>
                                          </p:stCondLst>
                                        </p:cTn>
                                        <p:tgtEl>
                                          <p:spTgt spid="1554529"/>
                                        </p:tgtEl>
                                        <p:attrNameLst>
                                          <p:attrName>style.visibility</p:attrName>
                                        </p:attrNameLst>
                                      </p:cBhvr>
                                      <p:to>
                                        <p:strVal val="visible"/>
                                      </p:to>
                                    </p:set>
                                    <p:animEffect transition="in" filter="dissolve">
                                      <p:cBhvr>
                                        <p:cTn id="38" dur="500"/>
                                        <p:tgtEl>
                                          <p:spTgt spid="1554529"/>
                                        </p:tgtEl>
                                      </p:cBhvr>
                                    </p:animEffect>
                                  </p:childTnLst>
                                </p:cTn>
                              </p:par>
                              <p:par>
                                <p:cTn id="39" presetID="9" presetClass="entr" presetSubtype="0" fill="hold" nodeType="withEffect">
                                  <p:stCondLst>
                                    <p:cond delay="0"/>
                                  </p:stCondLst>
                                  <p:childTnLst>
                                    <p:set>
                                      <p:cBhvr>
                                        <p:cTn id="40" dur="1" fill="hold">
                                          <p:stCondLst>
                                            <p:cond delay="0"/>
                                          </p:stCondLst>
                                        </p:cTn>
                                        <p:tgtEl>
                                          <p:spTgt spid="1554530"/>
                                        </p:tgtEl>
                                        <p:attrNameLst>
                                          <p:attrName>style.visibility</p:attrName>
                                        </p:attrNameLst>
                                      </p:cBhvr>
                                      <p:to>
                                        <p:strVal val="visible"/>
                                      </p:to>
                                    </p:set>
                                    <p:animEffect transition="in" filter="dissolve">
                                      <p:cBhvr>
                                        <p:cTn id="41" dur="500"/>
                                        <p:tgtEl>
                                          <p:spTgt spid="1554530"/>
                                        </p:tgtEl>
                                      </p:cBhvr>
                                    </p:animEffect>
                                  </p:childTnLst>
                                </p:cTn>
                              </p:par>
                              <p:par>
                                <p:cTn id="42" presetID="9" presetClass="entr" presetSubtype="0" fill="hold" nodeType="withEffect">
                                  <p:stCondLst>
                                    <p:cond delay="0"/>
                                  </p:stCondLst>
                                  <p:childTnLst>
                                    <p:set>
                                      <p:cBhvr>
                                        <p:cTn id="43" dur="1" fill="hold">
                                          <p:stCondLst>
                                            <p:cond delay="0"/>
                                          </p:stCondLst>
                                        </p:cTn>
                                        <p:tgtEl>
                                          <p:spTgt spid="1554531"/>
                                        </p:tgtEl>
                                        <p:attrNameLst>
                                          <p:attrName>style.visibility</p:attrName>
                                        </p:attrNameLst>
                                      </p:cBhvr>
                                      <p:to>
                                        <p:strVal val="visible"/>
                                      </p:to>
                                    </p:set>
                                    <p:animEffect transition="in" filter="dissolve">
                                      <p:cBhvr>
                                        <p:cTn id="44" dur="500"/>
                                        <p:tgtEl>
                                          <p:spTgt spid="1554531"/>
                                        </p:tgtEl>
                                      </p:cBhvr>
                                    </p:animEffect>
                                  </p:childTnLst>
                                </p:cTn>
                              </p:par>
                              <p:par>
                                <p:cTn id="45" presetID="9" presetClass="entr" presetSubtype="0" fill="hold" nodeType="withEffect">
                                  <p:stCondLst>
                                    <p:cond delay="0"/>
                                  </p:stCondLst>
                                  <p:childTnLst>
                                    <p:set>
                                      <p:cBhvr>
                                        <p:cTn id="46" dur="1" fill="hold">
                                          <p:stCondLst>
                                            <p:cond delay="0"/>
                                          </p:stCondLst>
                                        </p:cTn>
                                        <p:tgtEl>
                                          <p:spTgt spid="1554532"/>
                                        </p:tgtEl>
                                        <p:attrNameLst>
                                          <p:attrName>style.visibility</p:attrName>
                                        </p:attrNameLst>
                                      </p:cBhvr>
                                      <p:to>
                                        <p:strVal val="visible"/>
                                      </p:to>
                                    </p:set>
                                    <p:animEffect transition="in" filter="dissolve">
                                      <p:cBhvr>
                                        <p:cTn id="47" dur="500"/>
                                        <p:tgtEl>
                                          <p:spTgt spid="1554532"/>
                                        </p:tgtEl>
                                      </p:cBhvr>
                                    </p:animEffect>
                                  </p:childTnLst>
                                </p:cTn>
                              </p:par>
                              <p:par>
                                <p:cTn id="48" presetID="9" presetClass="entr" presetSubtype="0" fill="hold" nodeType="withEffect">
                                  <p:stCondLst>
                                    <p:cond delay="0"/>
                                  </p:stCondLst>
                                  <p:childTnLst>
                                    <p:set>
                                      <p:cBhvr>
                                        <p:cTn id="49" dur="1" fill="hold">
                                          <p:stCondLst>
                                            <p:cond delay="0"/>
                                          </p:stCondLst>
                                        </p:cTn>
                                        <p:tgtEl>
                                          <p:spTgt spid="1554533"/>
                                        </p:tgtEl>
                                        <p:attrNameLst>
                                          <p:attrName>style.visibility</p:attrName>
                                        </p:attrNameLst>
                                      </p:cBhvr>
                                      <p:to>
                                        <p:strVal val="visible"/>
                                      </p:to>
                                    </p:set>
                                    <p:animEffect transition="in" filter="dissolve">
                                      <p:cBhvr>
                                        <p:cTn id="50" dur="500"/>
                                        <p:tgtEl>
                                          <p:spTgt spid="1554533"/>
                                        </p:tgtEl>
                                      </p:cBhvr>
                                    </p:animEffect>
                                  </p:childTnLst>
                                </p:cTn>
                              </p:par>
                              <p:par>
                                <p:cTn id="51" presetID="9" presetClass="entr" presetSubtype="0" fill="hold" nodeType="withEffect">
                                  <p:stCondLst>
                                    <p:cond delay="0"/>
                                  </p:stCondLst>
                                  <p:childTnLst>
                                    <p:set>
                                      <p:cBhvr>
                                        <p:cTn id="52" dur="1" fill="hold">
                                          <p:stCondLst>
                                            <p:cond delay="0"/>
                                          </p:stCondLst>
                                        </p:cTn>
                                        <p:tgtEl>
                                          <p:spTgt spid="1554534"/>
                                        </p:tgtEl>
                                        <p:attrNameLst>
                                          <p:attrName>style.visibility</p:attrName>
                                        </p:attrNameLst>
                                      </p:cBhvr>
                                      <p:to>
                                        <p:strVal val="visible"/>
                                      </p:to>
                                    </p:set>
                                    <p:animEffect transition="in" filter="dissolve">
                                      <p:cBhvr>
                                        <p:cTn id="53" dur="500"/>
                                        <p:tgtEl>
                                          <p:spTgt spid="1554534"/>
                                        </p:tgtEl>
                                      </p:cBhvr>
                                    </p:animEffect>
                                  </p:childTnLst>
                                </p:cTn>
                              </p:par>
                              <p:par>
                                <p:cTn id="54" presetID="9" presetClass="entr" presetSubtype="0" fill="hold" nodeType="withEffect">
                                  <p:stCondLst>
                                    <p:cond delay="0"/>
                                  </p:stCondLst>
                                  <p:childTnLst>
                                    <p:set>
                                      <p:cBhvr>
                                        <p:cTn id="55" dur="1" fill="hold">
                                          <p:stCondLst>
                                            <p:cond delay="0"/>
                                          </p:stCondLst>
                                        </p:cTn>
                                        <p:tgtEl>
                                          <p:spTgt spid="1554535"/>
                                        </p:tgtEl>
                                        <p:attrNameLst>
                                          <p:attrName>style.visibility</p:attrName>
                                        </p:attrNameLst>
                                      </p:cBhvr>
                                      <p:to>
                                        <p:strVal val="visible"/>
                                      </p:to>
                                    </p:set>
                                    <p:animEffect transition="in" filter="dissolve">
                                      <p:cBhvr>
                                        <p:cTn id="56" dur="500"/>
                                        <p:tgtEl>
                                          <p:spTgt spid="1554535"/>
                                        </p:tgtEl>
                                      </p:cBhvr>
                                    </p:animEffect>
                                  </p:childTnLst>
                                </p:cTn>
                              </p:par>
                              <p:par>
                                <p:cTn id="57" presetID="9" presetClass="entr" presetSubtype="0" fill="hold" nodeType="withEffect">
                                  <p:stCondLst>
                                    <p:cond delay="0"/>
                                  </p:stCondLst>
                                  <p:childTnLst>
                                    <p:set>
                                      <p:cBhvr>
                                        <p:cTn id="58" dur="1" fill="hold">
                                          <p:stCondLst>
                                            <p:cond delay="0"/>
                                          </p:stCondLst>
                                        </p:cTn>
                                        <p:tgtEl>
                                          <p:spTgt spid="1554536"/>
                                        </p:tgtEl>
                                        <p:attrNameLst>
                                          <p:attrName>style.visibility</p:attrName>
                                        </p:attrNameLst>
                                      </p:cBhvr>
                                      <p:to>
                                        <p:strVal val="visible"/>
                                      </p:to>
                                    </p:set>
                                    <p:animEffect transition="in" filter="dissolve">
                                      <p:cBhvr>
                                        <p:cTn id="59" dur="500"/>
                                        <p:tgtEl>
                                          <p:spTgt spid="1554536"/>
                                        </p:tgtEl>
                                      </p:cBhvr>
                                    </p:animEffect>
                                  </p:childTnLst>
                                </p:cTn>
                              </p:par>
                              <p:par>
                                <p:cTn id="60" presetID="9" presetClass="entr" presetSubtype="0" fill="hold" nodeType="withEffect">
                                  <p:stCondLst>
                                    <p:cond delay="0"/>
                                  </p:stCondLst>
                                  <p:childTnLst>
                                    <p:set>
                                      <p:cBhvr>
                                        <p:cTn id="61" dur="1" fill="hold">
                                          <p:stCondLst>
                                            <p:cond delay="0"/>
                                          </p:stCondLst>
                                        </p:cTn>
                                        <p:tgtEl>
                                          <p:spTgt spid="1554537"/>
                                        </p:tgtEl>
                                        <p:attrNameLst>
                                          <p:attrName>style.visibility</p:attrName>
                                        </p:attrNameLst>
                                      </p:cBhvr>
                                      <p:to>
                                        <p:strVal val="visible"/>
                                      </p:to>
                                    </p:set>
                                    <p:animEffect transition="in" filter="dissolve">
                                      <p:cBhvr>
                                        <p:cTn id="62" dur="500"/>
                                        <p:tgtEl>
                                          <p:spTgt spid="1554537"/>
                                        </p:tgtEl>
                                      </p:cBhvr>
                                    </p:animEffect>
                                  </p:childTnLst>
                                </p:cTn>
                              </p:par>
                              <p:par>
                                <p:cTn id="63" presetID="9" presetClass="entr" presetSubtype="0" fill="hold" nodeType="withEffect">
                                  <p:stCondLst>
                                    <p:cond delay="0"/>
                                  </p:stCondLst>
                                  <p:childTnLst>
                                    <p:set>
                                      <p:cBhvr>
                                        <p:cTn id="64" dur="1" fill="hold">
                                          <p:stCondLst>
                                            <p:cond delay="0"/>
                                          </p:stCondLst>
                                        </p:cTn>
                                        <p:tgtEl>
                                          <p:spTgt spid="1554538"/>
                                        </p:tgtEl>
                                        <p:attrNameLst>
                                          <p:attrName>style.visibility</p:attrName>
                                        </p:attrNameLst>
                                      </p:cBhvr>
                                      <p:to>
                                        <p:strVal val="visible"/>
                                      </p:to>
                                    </p:set>
                                    <p:animEffect transition="in" filter="dissolve">
                                      <p:cBhvr>
                                        <p:cTn id="65" dur="500"/>
                                        <p:tgtEl>
                                          <p:spTgt spid="15545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09" grpId="0" animBg="1"/>
      <p:bldP spid="1554522" grpId="0" animBg="1"/>
      <p:bldP spid="1554531" grpId="0"/>
      <p:bldP spid="1554532" grpId="0"/>
      <p:bldP spid="1554533" grpId="0"/>
      <p:bldP spid="1554534" grpId="0"/>
      <p:bldP spid="1554535" grpId="0"/>
      <p:bldP spid="1554536" grpId="0"/>
      <p:bldP spid="1554537" grpId="0"/>
      <p:bldP spid="1554538" grpId="0"/>
      <p:bldP spid="1554539"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9007" name="Text Box 15"/>
          <p:cNvSpPr txBox="1"/>
          <p:nvPr/>
        </p:nvSpPr>
        <p:spPr>
          <a:xfrm>
            <a:off x="1085850" y="5372100"/>
            <a:ext cx="6991350" cy="74930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电子多路开关由于是一种集成化无触点开关，不仅寿命长、体积小，而且对系统的干扰小。</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389008" name="Text Box 16"/>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9220" name="Text Box 17"/>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67598" name="Text Box 14"/>
          <p:cNvSpPr txBox="1">
            <a:spLocks noChangeArrowheads="1"/>
          </p:cNvSpPr>
          <p:nvPr/>
        </p:nvSpPr>
        <p:spPr bwMode="auto">
          <a:xfrm>
            <a:off x="1725613" y="1563688"/>
            <a:ext cx="2436813" cy="579438"/>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机电式： </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599" name="Text Box 15"/>
          <p:cNvSpPr txBox="1">
            <a:spLocks noChangeArrowheads="1"/>
          </p:cNvSpPr>
          <p:nvPr/>
        </p:nvSpPr>
        <p:spPr bwMode="auto">
          <a:xfrm>
            <a:off x="1692275" y="3579813"/>
            <a:ext cx="2120900" cy="579438"/>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电子式： </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600" name="Text Box 16"/>
          <p:cNvSpPr txBox="1">
            <a:spLocks noChangeArrowheads="1"/>
          </p:cNvSpPr>
          <p:nvPr/>
        </p:nvSpPr>
        <p:spPr bwMode="auto">
          <a:xfrm>
            <a:off x="471488" y="2624138"/>
            <a:ext cx="1363663" cy="579438"/>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楷体_GB2312" pitchFamily="49" charset="-122"/>
                <a:ea typeface="楷体_GB2312" pitchFamily="49" charset="-122"/>
                <a:cs typeface="+mn-cs"/>
              </a:rPr>
              <a:t>类型</a:t>
            </a:r>
            <a:endParaRPr kumimoji="1" lang="zh-CN" altLang="en-US" sz="3200" kern="1200" cap="none" spc="0" normalizeH="0" baseline="0" noProof="0">
              <a:solidFill>
                <a:srgbClr val="333399"/>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601" name="Text Box 17"/>
          <p:cNvSpPr txBox="1">
            <a:spLocks noChangeArrowheads="1"/>
          </p:cNvSpPr>
          <p:nvPr/>
        </p:nvSpPr>
        <p:spPr bwMode="auto">
          <a:xfrm>
            <a:off x="3043238" y="2581275"/>
            <a:ext cx="5773738" cy="4762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800" kern="1200" cap="none" spc="0" normalizeH="0" baseline="0" noProof="0">
                <a:solidFill>
                  <a:srgbClr val="CC0099"/>
                </a:solidFill>
                <a:effectLst>
                  <a:outerShdw blurRad="38100" dist="38100" dir="2700000" algn="tl">
                    <a:srgbClr val="C0C0C0"/>
                  </a:outerShdw>
                </a:effectLst>
                <a:latin typeface="楷体_GB2312" pitchFamily="49" charset="-122"/>
                <a:ea typeface="楷体_GB2312" pitchFamily="49" charset="-122"/>
                <a:cs typeface="+mn-cs"/>
              </a:rPr>
              <a:t>用于大电流、高电压、低速切换</a:t>
            </a:r>
            <a:endParaRPr kumimoji="1" lang="zh-CN" altLang="en-US" sz="2800" kern="1200" cap="none" spc="0" normalizeH="0" baseline="0" noProof="0">
              <a:solidFill>
                <a:srgbClr val="CC0099"/>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602" name="Text Box 18"/>
          <p:cNvSpPr txBox="1">
            <a:spLocks noChangeArrowheads="1"/>
          </p:cNvSpPr>
          <p:nvPr/>
        </p:nvSpPr>
        <p:spPr bwMode="auto">
          <a:xfrm>
            <a:off x="2995613" y="4732338"/>
            <a:ext cx="5821363" cy="4762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800" kern="1200" cap="none" spc="0" normalizeH="0" baseline="0" noProof="0">
                <a:solidFill>
                  <a:srgbClr val="CC0099"/>
                </a:solidFill>
                <a:effectLst>
                  <a:outerShdw blurRad="38100" dist="38100" dir="2700000" algn="tl">
                    <a:srgbClr val="C0C0C0"/>
                  </a:outerShdw>
                </a:effectLst>
                <a:latin typeface="楷体_GB2312" pitchFamily="49" charset="-122"/>
                <a:ea typeface="楷体_GB2312" pitchFamily="49" charset="-122"/>
                <a:cs typeface="+mn-cs"/>
              </a:rPr>
              <a:t>用于小电流、低电压、高速切换</a:t>
            </a:r>
            <a:endParaRPr kumimoji="1" lang="zh-CN" altLang="en-US" sz="2800" kern="1200" cap="none" spc="0" normalizeH="0" baseline="0" noProof="0">
              <a:solidFill>
                <a:srgbClr val="CC0099"/>
              </a:solidFill>
              <a:effectLst>
                <a:outerShdw blurRad="38100" dist="38100" dir="2700000" algn="tl">
                  <a:srgbClr val="C0C0C0"/>
                </a:outerShdw>
              </a:effectLst>
              <a:latin typeface="楷体_GB2312" pitchFamily="49" charset="-122"/>
              <a:ea typeface="楷体_GB2312" pitchFamily="49" charset="-122"/>
              <a:cs typeface="+mn-cs"/>
            </a:endParaRPr>
          </a:p>
        </p:txBody>
      </p:sp>
      <p:pic>
        <p:nvPicPr>
          <p:cNvPr id="67603" name="Picture 19" descr="干簧管1"/>
          <p:cNvPicPr>
            <a:picLocks noChangeAspect="1"/>
          </p:cNvPicPr>
          <p:nvPr/>
        </p:nvPicPr>
        <p:blipFill>
          <a:blip r:embed="rId1"/>
          <a:stretch>
            <a:fillRect/>
          </a:stretch>
        </p:blipFill>
        <p:spPr>
          <a:xfrm>
            <a:off x="3708400" y="1420813"/>
            <a:ext cx="1081088" cy="906462"/>
          </a:xfrm>
          <a:prstGeom prst="rect">
            <a:avLst/>
          </a:prstGeom>
          <a:noFill/>
          <a:ln w="9525">
            <a:noFill/>
          </a:ln>
        </p:spPr>
      </p:pic>
      <p:pic>
        <p:nvPicPr>
          <p:cNvPr id="67604" name="Picture 20" descr="干簧管2"/>
          <p:cNvPicPr>
            <a:picLocks noChangeAspect="1"/>
          </p:cNvPicPr>
          <p:nvPr/>
        </p:nvPicPr>
        <p:blipFill>
          <a:blip r:embed="rId2"/>
          <a:stretch>
            <a:fillRect/>
          </a:stretch>
        </p:blipFill>
        <p:spPr>
          <a:xfrm>
            <a:off x="5076825" y="1492250"/>
            <a:ext cx="1566863" cy="747713"/>
          </a:xfrm>
          <a:prstGeom prst="rect">
            <a:avLst/>
          </a:prstGeom>
          <a:noFill/>
          <a:ln w="9525">
            <a:noFill/>
          </a:ln>
        </p:spPr>
      </p:pic>
      <p:pic>
        <p:nvPicPr>
          <p:cNvPr id="67605" name="Picture 21" descr="干簧管3"/>
          <p:cNvPicPr>
            <a:picLocks noChangeAspect="1"/>
          </p:cNvPicPr>
          <p:nvPr/>
        </p:nvPicPr>
        <p:blipFill>
          <a:blip r:embed="rId3"/>
          <a:stretch>
            <a:fillRect/>
          </a:stretch>
        </p:blipFill>
        <p:spPr>
          <a:xfrm>
            <a:off x="6943725" y="1500188"/>
            <a:ext cx="1873250" cy="725487"/>
          </a:xfrm>
          <a:prstGeom prst="rect">
            <a:avLst/>
          </a:prstGeom>
          <a:noFill/>
          <a:ln w="9525">
            <a:noFill/>
          </a:ln>
        </p:spPr>
      </p:pic>
      <p:sp>
        <p:nvSpPr>
          <p:cNvPr id="67606" name="Text Box 22"/>
          <p:cNvSpPr txBox="1">
            <a:spLocks noChangeArrowheads="1"/>
          </p:cNvSpPr>
          <p:nvPr/>
        </p:nvSpPr>
        <p:spPr bwMode="auto">
          <a:xfrm>
            <a:off x="1908175" y="2489200"/>
            <a:ext cx="1511300" cy="579438"/>
          </a:xfrm>
          <a:prstGeom prst="rect">
            <a:avLst/>
          </a:prstGeom>
          <a:noFill/>
          <a:ln>
            <a:noFill/>
          </a:ln>
          <a:effectLst/>
        </p:spPr>
        <p:txBody>
          <a:bodyPr>
            <a:spAutoFit/>
          </a:bodyPr>
          <a:lstStyle/>
          <a:p>
            <a:pPr marR="0" defTabSz="914400" eaLnBrk="1" hangingPunct="1">
              <a:buClrTx/>
              <a:buSzTx/>
              <a:buFontTx/>
              <a:buNone/>
              <a:defRPr/>
            </a:pPr>
            <a:r>
              <a:rPr kumimoji="1" lang="zh-CN" altLang="en-US" sz="28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用途：</a:t>
            </a: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 </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pic>
        <p:nvPicPr>
          <p:cNvPr id="67607" name="Picture 23" descr="CMOS开关1"/>
          <p:cNvPicPr>
            <a:picLocks noChangeAspect="1"/>
          </p:cNvPicPr>
          <p:nvPr/>
        </p:nvPicPr>
        <p:blipFill>
          <a:blip r:embed="rId4"/>
          <a:stretch>
            <a:fillRect/>
          </a:stretch>
        </p:blipFill>
        <p:spPr>
          <a:xfrm>
            <a:off x="3419475" y="3363913"/>
            <a:ext cx="1223963" cy="1223962"/>
          </a:xfrm>
          <a:prstGeom prst="rect">
            <a:avLst/>
          </a:prstGeom>
          <a:noFill/>
          <a:ln w="9525">
            <a:noFill/>
          </a:ln>
        </p:spPr>
      </p:pic>
      <p:pic>
        <p:nvPicPr>
          <p:cNvPr id="67608" name="Picture 24" descr="CMOS开关2"/>
          <p:cNvPicPr>
            <a:picLocks noChangeAspect="1"/>
          </p:cNvPicPr>
          <p:nvPr/>
        </p:nvPicPr>
        <p:blipFill>
          <a:blip r:embed="rId5"/>
          <a:stretch>
            <a:fillRect/>
          </a:stretch>
        </p:blipFill>
        <p:spPr>
          <a:xfrm>
            <a:off x="5364163" y="3363913"/>
            <a:ext cx="1511300" cy="1212850"/>
          </a:xfrm>
          <a:prstGeom prst="rect">
            <a:avLst/>
          </a:prstGeom>
          <a:noFill/>
          <a:ln w="9525">
            <a:noFill/>
          </a:ln>
        </p:spPr>
      </p:pic>
      <p:sp>
        <p:nvSpPr>
          <p:cNvPr id="67609" name="Text Box 25"/>
          <p:cNvSpPr txBox="1">
            <a:spLocks noChangeArrowheads="1"/>
          </p:cNvSpPr>
          <p:nvPr/>
        </p:nvSpPr>
        <p:spPr bwMode="auto">
          <a:xfrm>
            <a:off x="1908175" y="4649788"/>
            <a:ext cx="1800225" cy="579438"/>
          </a:xfrm>
          <a:prstGeom prst="rect">
            <a:avLst/>
          </a:prstGeom>
          <a:noFill/>
          <a:ln>
            <a:noFill/>
          </a:ln>
          <a:effectLst/>
        </p:spPr>
        <p:txBody>
          <a:bodyPr>
            <a:spAutoFit/>
          </a:bodyPr>
          <a:lstStyle/>
          <a:p>
            <a:pPr marR="0" defTabSz="914400" eaLnBrk="1" hangingPunct="1">
              <a:buClrTx/>
              <a:buSzTx/>
              <a:buFontTx/>
              <a:buNone/>
              <a:defRPr/>
            </a:pPr>
            <a:r>
              <a:rPr kumimoji="1" lang="zh-CN" altLang="en-US" sz="28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用途：</a:t>
            </a: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 </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610" name="AutoShape 26"/>
          <p:cNvSpPr/>
          <p:nvPr/>
        </p:nvSpPr>
        <p:spPr>
          <a:xfrm>
            <a:off x="1547813" y="1995488"/>
            <a:ext cx="144462" cy="1873250"/>
          </a:xfrm>
          <a:prstGeom prst="leftBrace">
            <a:avLst>
              <a:gd name="adj1" fmla="val 108058"/>
              <a:gd name="adj2" fmla="val 50000"/>
            </a:avLst>
          </a:prstGeom>
          <a:noFill/>
          <a:ln w="22225"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7600"/>
                                        </p:tgtEl>
                                        <p:attrNameLst>
                                          <p:attrName>style.visibility</p:attrName>
                                        </p:attrNameLst>
                                      </p:cBhvr>
                                      <p:to>
                                        <p:strVal val="visible"/>
                                      </p:to>
                                    </p:set>
                                    <p:animEffect transition="in" filter="dissolve">
                                      <p:cBhvr>
                                        <p:cTn id="7" dur="500"/>
                                        <p:tgtEl>
                                          <p:spTgt spid="6760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7610"/>
                                        </p:tgtEl>
                                        <p:attrNameLst>
                                          <p:attrName>style.visibility</p:attrName>
                                        </p:attrNameLst>
                                      </p:cBhvr>
                                      <p:to>
                                        <p:strVal val="visible"/>
                                      </p:to>
                                    </p:set>
                                    <p:animEffect transition="in" filter="dissolve">
                                      <p:cBhvr>
                                        <p:cTn id="11" dur="500"/>
                                        <p:tgtEl>
                                          <p:spTgt spid="676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67598"/>
                                        </p:tgtEl>
                                        <p:attrNameLst>
                                          <p:attrName>style.visibility</p:attrName>
                                        </p:attrNameLst>
                                      </p:cBhvr>
                                      <p:to>
                                        <p:strVal val="visible"/>
                                      </p:to>
                                    </p:set>
                                    <p:animEffect transition="in" filter="dissolve">
                                      <p:cBhvr>
                                        <p:cTn id="16" dur="500"/>
                                        <p:tgtEl>
                                          <p:spTgt spid="67598"/>
                                        </p:tgtEl>
                                      </p:cBhvr>
                                    </p:animEffect>
                                  </p:childTnLst>
                                </p:cTn>
                              </p:par>
                              <p:par>
                                <p:cTn id="17" presetID="2" presetClass="entr" presetSubtype="2" fill="hold" nodeType="withEffect">
                                  <p:stCondLst>
                                    <p:cond delay="0"/>
                                  </p:stCondLst>
                                  <p:childTnLst>
                                    <p:set>
                                      <p:cBhvr>
                                        <p:cTn id="18" dur="1" fill="hold">
                                          <p:stCondLst>
                                            <p:cond delay="0"/>
                                          </p:stCondLst>
                                        </p:cTn>
                                        <p:tgtEl>
                                          <p:spTgt spid="67603"/>
                                        </p:tgtEl>
                                        <p:attrNameLst>
                                          <p:attrName>style.visibility</p:attrName>
                                        </p:attrNameLst>
                                      </p:cBhvr>
                                      <p:to>
                                        <p:strVal val="visible"/>
                                      </p:to>
                                    </p:set>
                                    <p:anim calcmode="lin" valueType="num">
                                      <p:cBhvr additive="base">
                                        <p:cTn id="19" dur="500" fill="hold"/>
                                        <p:tgtEl>
                                          <p:spTgt spid="67603"/>
                                        </p:tgtEl>
                                        <p:attrNameLst>
                                          <p:attrName>ppt_x</p:attrName>
                                        </p:attrNameLst>
                                      </p:cBhvr>
                                      <p:tavLst>
                                        <p:tav tm="0">
                                          <p:val>
                                            <p:strVal val="1+#ppt_w/2"/>
                                          </p:val>
                                        </p:tav>
                                        <p:tav tm="100000">
                                          <p:val>
                                            <p:strVal val="#ppt_x"/>
                                          </p:val>
                                        </p:tav>
                                      </p:tavLst>
                                    </p:anim>
                                    <p:anim calcmode="lin" valueType="num">
                                      <p:cBhvr additive="base">
                                        <p:cTn id="20" dur="500" fill="hold"/>
                                        <p:tgtEl>
                                          <p:spTgt spid="67603"/>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67604"/>
                                        </p:tgtEl>
                                        <p:attrNameLst>
                                          <p:attrName>style.visibility</p:attrName>
                                        </p:attrNameLst>
                                      </p:cBhvr>
                                      <p:to>
                                        <p:strVal val="visible"/>
                                      </p:to>
                                    </p:set>
                                    <p:anim calcmode="lin" valueType="num">
                                      <p:cBhvr additive="base">
                                        <p:cTn id="23" dur="500" fill="hold"/>
                                        <p:tgtEl>
                                          <p:spTgt spid="67604"/>
                                        </p:tgtEl>
                                        <p:attrNameLst>
                                          <p:attrName>ppt_x</p:attrName>
                                        </p:attrNameLst>
                                      </p:cBhvr>
                                      <p:tavLst>
                                        <p:tav tm="0">
                                          <p:val>
                                            <p:strVal val="1+#ppt_w/2"/>
                                          </p:val>
                                        </p:tav>
                                        <p:tav tm="100000">
                                          <p:val>
                                            <p:strVal val="#ppt_x"/>
                                          </p:val>
                                        </p:tav>
                                      </p:tavLst>
                                    </p:anim>
                                    <p:anim calcmode="lin" valueType="num">
                                      <p:cBhvr additive="base">
                                        <p:cTn id="24" dur="500" fill="hold"/>
                                        <p:tgtEl>
                                          <p:spTgt spid="67604"/>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67605"/>
                                        </p:tgtEl>
                                        <p:attrNameLst>
                                          <p:attrName>style.visibility</p:attrName>
                                        </p:attrNameLst>
                                      </p:cBhvr>
                                      <p:to>
                                        <p:strVal val="visible"/>
                                      </p:to>
                                    </p:set>
                                    <p:anim calcmode="lin" valueType="num">
                                      <p:cBhvr additive="base">
                                        <p:cTn id="27" dur="500" fill="hold"/>
                                        <p:tgtEl>
                                          <p:spTgt spid="67605"/>
                                        </p:tgtEl>
                                        <p:attrNameLst>
                                          <p:attrName>ppt_x</p:attrName>
                                        </p:attrNameLst>
                                      </p:cBhvr>
                                      <p:tavLst>
                                        <p:tav tm="0">
                                          <p:val>
                                            <p:strVal val="1+#ppt_w/2"/>
                                          </p:val>
                                        </p:tav>
                                        <p:tav tm="100000">
                                          <p:val>
                                            <p:strVal val="#ppt_x"/>
                                          </p:val>
                                        </p:tav>
                                      </p:tavLst>
                                    </p:anim>
                                    <p:anim calcmode="lin" valueType="num">
                                      <p:cBhvr additive="base">
                                        <p:cTn id="28" dur="500" fill="hold"/>
                                        <p:tgtEl>
                                          <p:spTgt spid="67605"/>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7606"/>
                                        </p:tgtEl>
                                        <p:attrNameLst>
                                          <p:attrName>style.visibility</p:attrName>
                                        </p:attrNameLst>
                                      </p:cBhvr>
                                      <p:to>
                                        <p:strVal val="visible"/>
                                      </p:to>
                                    </p:set>
                                    <p:animEffect transition="in" filter="dissolve">
                                      <p:cBhvr>
                                        <p:cTn id="33" dur="500"/>
                                        <p:tgtEl>
                                          <p:spTgt spid="67606"/>
                                        </p:tgtEl>
                                      </p:cBhvr>
                                    </p:animEffect>
                                  </p:childTnLst>
                                </p:cTn>
                              </p:par>
                              <p:par>
                                <p:cTn id="34" presetID="9" presetClass="entr" presetSubtype="0" fill="hold" nodeType="withEffect">
                                  <p:stCondLst>
                                    <p:cond delay="0"/>
                                  </p:stCondLst>
                                  <p:childTnLst>
                                    <p:set>
                                      <p:cBhvr>
                                        <p:cTn id="35" dur="1" fill="hold">
                                          <p:stCondLst>
                                            <p:cond delay="0"/>
                                          </p:stCondLst>
                                        </p:cTn>
                                        <p:tgtEl>
                                          <p:spTgt spid="67601"/>
                                        </p:tgtEl>
                                        <p:attrNameLst>
                                          <p:attrName>style.visibility</p:attrName>
                                        </p:attrNameLst>
                                      </p:cBhvr>
                                      <p:to>
                                        <p:strVal val="visible"/>
                                      </p:to>
                                    </p:set>
                                    <p:animEffect transition="in" filter="dissolve">
                                      <p:cBhvr>
                                        <p:cTn id="36" dur="500"/>
                                        <p:tgtEl>
                                          <p:spTgt spid="6760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7599"/>
                                        </p:tgtEl>
                                        <p:attrNameLst>
                                          <p:attrName>style.visibility</p:attrName>
                                        </p:attrNameLst>
                                      </p:cBhvr>
                                      <p:to>
                                        <p:strVal val="visible"/>
                                      </p:to>
                                    </p:set>
                                    <p:animEffect transition="in" filter="dissolve">
                                      <p:cBhvr>
                                        <p:cTn id="41" dur="500"/>
                                        <p:tgtEl>
                                          <p:spTgt spid="67599"/>
                                        </p:tgtEl>
                                      </p:cBhvr>
                                    </p:animEffect>
                                  </p:childTnLst>
                                </p:cTn>
                              </p:par>
                              <p:par>
                                <p:cTn id="42" presetID="2" presetClass="entr" presetSubtype="2" fill="hold" nodeType="withEffect">
                                  <p:stCondLst>
                                    <p:cond delay="0"/>
                                  </p:stCondLst>
                                  <p:childTnLst>
                                    <p:set>
                                      <p:cBhvr>
                                        <p:cTn id="43" dur="1" fill="hold">
                                          <p:stCondLst>
                                            <p:cond delay="0"/>
                                          </p:stCondLst>
                                        </p:cTn>
                                        <p:tgtEl>
                                          <p:spTgt spid="67607"/>
                                        </p:tgtEl>
                                        <p:attrNameLst>
                                          <p:attrName>style.visibility</p:attrName>
                                        </p:attrNameLst>
                                      </p:cBhvr>
                                      <p:to>
                                        <p:strVal val="visible"/>
                                      </p:to>
                                    </p:set>
                                    <p:anim calcmode="lin" valueType="num">
                                      <p:cBhvr additive="base">
                                        <p:cTn id="44" dur="500" fill="hold"/>
                                        <p:tgtEl>
                                          <p:spTgt spid="67607"/>
                                        </p:tgtEl>
                                        <p:attrNameLst>
                                          <p:attrName>ppt_x</p:attrName>
                                        </p:attrNameLst>
                                      </p:cBhvr>
                                      <p:tavLst>
                                        <p:tav tm="0">
                                          <p:val>
                                            <p:strVal val="1+#ppt_w/2"/>
                                          </p:val>
                                        </p:tav>
                                        <p:tav tm="100000">
                                          <p:val>
                                            <p:strVal val="#ppt_x"/>
                                          </p:val>
                                        </p:tav>
                                      </p:tavLst>
                                    </p:anim>
                                    <p:anim calcmode="lin" valueType="num">
                                      <p:cBhvr additive="base">
                                        <p:cTn id="45" dur="500" fill="hold"/>
                                        <p:tgtEl>
                                          <p:spTgt spid="67607"/>
                                        </p:tgtEl>
                                        <p:attrNameLst>
                                          <p:attrName>ppt_y</p:attrName>
                                        </p:attrNameLst>
                                      </p:cBhvr>
                                      <p:tavLst>
                                        <p:tav tm="0">
                                          <p:val>
                                            <p:strVal val="#ppt_y"/>
                                          </p:val>
                                        </p:tav>
                                        <p:tav tm="100000">
                                          <p:val>
                                            <p:strVal val="#ppt_y"/>
                                          </p:val>
                                        </p:tav>
                                      </p:tavLst>
                                    </p:anim>
                                  </p:childTnLst>
                                </p:cTn>
                              </p:par>
                              <p:par>
                                <p:cTn id="46" presetID="2" presetClass="entr" presetSubtype="2" fill="hold" nodeType="withEffect">
                                  <p:stCondLst>
                                    <p:cond delay="0"/>
                                  </p:stCondLst>
                                  <p:childTnLst>
                                    <p:set>
                                      <p:cBhvr>
                                        <p:cTn id="47" dur="1" fill="hold">
                                          <p:stCondLst>
                                            <p:cond delay="0"/>
                                          </p:stCondLst>
                                        </p:cTn>
                                        <p:tgtEl>
                                          <p:spTgt spid="67608"/>
                                        </p:tgtEl>
                                        <p:attrNameLst>
                                          <p:attrName>style.visibility</p:attrName>
                                        </p:attrNameLst>
                                      </p:cBhvr>
                                      <p:to>
                                        <p:strVal val="visible"/>
                                      </p:to>
                                    </p:set>
                                    <p:anim calcmode="lin" valueType="num">
                                      <p:cBhvr additive="base">
                                        <p:cTn id="48" dur="500" fill="hold"/>
                                        <p:tgtEl>
                                          <p:spTgt spid="67608"/>
                                        </p:tgtEl>
                                        <p:attrNameLst>
                                          <p:attrName>ppt_x</p:attrName>
                                        </p:attrNameLst>
                                      </p:cBhvr>
                                      <p:tavLst>
                                        <p:tav tm="0">
                                          <p:val>
                                            <p:strVal val="1+#ppt_w/2"/>
                                          </p:val>
                                        </p:tav>
                                        <p:tav tm="100000">
                                          <p:val>
                                            <p:strVal val="#ppt_x"/>
                                          </p:val>
                                        </p:tav>
                                      </p:tavLst>
                                    </p:anim>
                                    <p:anim calcmode="lin" valueType="num">
                                      <p:cBhvr additive="base">
                                        <p:cTn id="49" dur="500" fill="hold"/>
                                        <p:tgtEl>
                                          <p:spTgt spid="67608"/>
                                        </p:tgtEl>
                                        <p:attrNameLst>
                                          <p:attrName>ppt_y</p:attrName>
                                        </p:attrNameLst>
                                      </p:cBhvr>
                                      <p:tavLst>
                                        <p:tav tm="0">
                                          <p:val>
                                            <p:strVal val="#ppt_y"/>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nodeType="clickEffect">
                                  <p:stCondLst>
                                    <p:cond delay="0"/>
                                  </p:stCondLst>
                                  <p:childTnLst>
                                    <p:set>
                                      <p:cBhvr>
                                        <p:cTn id="53" dur="1" fill="hold">
                                          <p:stCondLst>
                                            <p:cond delay="0"/>
                                          </p:stCondLst>
                                        </p:cTn>
                                        <p:tgtEl>
                                          <p:spTgt spid="67609"/>
                                        </p:tgtEl>
                                        <p:attrNameLst>
                                          <p:attrName>style.visibility</p:attrName>
                                        </p:attrNameLst>
                                      </p:cBhvr>
                                      <p:to>
                                        <p:strVal val="visible"/>
                                      </p:to>
                                    </p:set>
                                    <p:animEffect transition="in" filter="dissolve">
                                      <p:cBhvr>
                                        <p:cTn id="54" dur="500"/>
                                        <p:tgtEl>
                                          <p:spTgt spid="67609"/>
                                        </p:tgtEl>
                                      </p:cBhvr>
                                    </p:animEffect>
                                  </p:childTnLst>
                                </p:cTn>
                              </p:par>
                              <p:par>
                                <p:cTn id="55" presetID="9" presetClass="entr" presetSubtype="0" fill="hold" nodeType="withEffect">
                                  <p:stCondLst>
                                    <p:cond delay="0"/>
                                  </p:stCondLst>
                                  <p:childTnLst>
                                    <p:set>
                                      <p:cBhvr>
                                        <p:cTn id="56" dur="1" fill="hold">
                                          <p:stCondLst>
                                            <p:cond delay="0"/>
                                          </p:stCondLst>
                                        </p:cTn>
                                        <p:tgtEl>
                                          <p:spTgt spid="67602"/>
                                        </p:tgtEl>
                                        <p:attrNameLst>
                                          <p:attrName>style.visibility</p:attrName>
                                        </p:attrNameLst>
                                      </p:cBhvr>
                                      <p:to>
                                        <p:strVal val="visible"/>
                                      </p:to>
                                    </p:set>
                                    <p:animEffect transition="in" filter="dissolve">
                                      <p:cBhvr>
                                        <p:cTn id="57" dur="500"/>
                                        <p:tgtEl>
                                          <p:spTgt spid="67602"/>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2389007"/>
                                        </p:tgtEl>
                                        <p:attrNameLst>
                                          <p:attrName>style.visibility</p:attrName>
                                        </p:attrNameLst>
                                      </p:cBhvr>
                                      <p:to>
                                        <p:strVal val="visible"/>
                                      </p:to>
                                    </p:set>
                                    <p:animEffect transition="in" filter="dissolve">
                                      <p:cBhvr>
                                        <p:cTn id="62" dur="500"/>
                                        <p:tgtEl>
                                          <p:spTgt spid="23890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9007" grpId="0" animBg="1"/>
      <p:bldP spid="67598" grpId="0"/>
      <p:bldP spid="67599" grpId="0"/>
      <p:bldP spid="67600" grpId="0"/>
      <p:bldP spid="67601" grpId="0"/>
      <p:bldP spid="67602" grpId="0"/>
      <p:bldP spid="67606" grpId="0"/>
      <p:bldP spid="67609" grpId="0"/>
      <p:bldP spid="67610"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2" name="Text Box 24"/>
          <p:cNvSpPr txBox="1"/>
          <p:nvPr/>
        </p:nvSpPr>
        <p:spPr>
          <a:xfrm>
            <a:off x="485775" y="1676400"/>
            <a:ext cx="4924425"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244658" name="Text Box 50"/>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1268" name="Text Box 51"/>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grpSp>
        <p:nvGrpSpPr>
          <p:cNvPr id="5161" name="Group 41"/>
          <p:cNvGrpSpPr/>
          <p:nvPr/>
        </p:nvGrpSpPr>
        <p:grpSpPr>
          <a:xfrm>
            <a:off x="1122363" y="2608263"/>
            <a:ext cx="7589837" cy="2863850"/>
            <a:chOff x="707" y="1643"/>
            <a:chExt cx="4781" cy="1804"/>
          </a:xfrm>
        </p:grpSpPr>
        <p:sp>
          <p:nvSpPr>
            <p:cNvPr id="5153" name="Text Box 33"/>
            <p:cNvSpPr txBox="1">
              <a:spLocks noChangeArrowheads="1"/>
            </p:cNvSpPr>
            <p:nvPr/>
          </p:nvSpPr>
          <p:spPr bwMode="auto">
            <a:xfrm>
              <a:off x="1346" y="1643"/>
              <a:ext cx="3326" cy="404"/>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双极性晶体管</a:t>
              </a:r>
              <a:r>
                <a:rPr kumimoji="1" lang="en-US" altLang="zh-CN" sz="32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(BJT)</a:t>
              </a: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开关</a:t>
              </a:r>
              <a:r>
                <a:rPr kumimoji="1" lang="zh-CN" altLang="en-US"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 </a:t>
              </a:r>
              <a:endParaRPr kumimoji="1" lang="zh-CN" altLang="en-US"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5154" name="Text Box 34"/>
            <p:cNvSpPr txBox="1">
              <a:spLocks noChangeArrowheads="1"/>
            </p:cNvSpPr>
            <p:nvPr/>
          </p:nvSpPr>
          <p:spPr bwMode="auto">
            <a:xfrm>
              <a:off x="1353" y="2364"/>
              <a:ext cx="2843" cy="404"/>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场效应晶体管</a:t>
              </a:r>
              <a:r>
                <a:rPr kumimoji="1" lang="en-US" altLang="zh-CN" sz="32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(FET)</a:t>
              </a: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开关</a:t>
              </a:r>
              <a:r>
                <a:rPr kumimoji="1" lang="zh-CN" altLang="en-US"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 </a:t>
              </a:r>
              <a:endParaRPr kumimoji="1" lang="zh-CN" altLang="en-US"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5155" name="Text Box 35"/>
            <p:cNvSpPr txBox="1">
              <a:spLocks noChangeArrowheads="1"/>
            </p:cNvSpPr>
            <p:nvPr/>
          </p:nvSpPr>
          <p:spPr bwMode="auto">
            <a:xfrm>
              <a:off x="707" y="1769"/>
              <a:ext cx="427" cy="1593"/>
            </a:xfrm>
            <a:prstGeom prst="rect">
              <a:avLst/>
            </a:prstGeom>
            <a:noFill/>
            <a:ln>
              <a:noFill/>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楷体_GB2312" pitchFamily="49" charset="-122"/>
                  <a:ea typeface="楷体_GB2312" pitchFamily="49" charset="-122"/>
                  <a:cs typeface="+mn-cs"/>
                </a:rPr>
                <a:t>电子式类型</a:t>
              </a:r>
              <a:endParaRPr kumimoji="1" lang="zh-CN" altLang="en-US" sz="3200" kern="1200" cap="none" spc="0" normalizeH="0" baseline="0" noProof="0">
                <a:solidFill>
                  <a:srgbClr val="333399"/>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5156" name="Text Box 36"/>
            <p:cNvSpPr txBox="1">
              <a:spLocks noChangeArrowheads="1"/>
            </p:cNvSpPr>
            <p:nvPr/>
          </p:nvSpPr>
          <p:spPr bwMode="auto">
            <a:xfrm>
              <a:off x="4276" y="2144"/>
              <a:ext cx="1100" cy="334"/>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结型</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5157" name="Text Box 37"/>
            <p:cNvSpPr txBox="1">
              <a:spLocks noChangeArrowheads="1"/>
            </p:cNvSpPr>
            <p:nvPr/>
          </p:nvSpPr>
          <p:spPr bwMode="auto">
            <a:xfrm>
              <a:off x="4261" y="2675"/>
              <a:ext cx="1227" cy="334"/>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绝缘栅型</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5158" name="Text Box 38"/>
            <p:cNvSpPr txBox="1">
              <a:spLocks noChangeArrowheads="1"/>
            </p:cNvSpPr>
            <p:nvPr/>
          </p:nvSpPr>
          <p:spPr bwMode="auto">
            <a:xfrm>
              <a:off x="1324" y="3113"/>
              <a:ext cx="2117" cy="334"/>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rPr>
                <a:t>集成电路开关</a:t>
              </a:r>
              <a:endParaRPr kumimoji="1" lang="zh-CN" altLang="en-US" sz="3200" kern="1200" cap="none" spc="0" normalizeH="0" baseline="0" noProof="0">
                <a:solidFill>
                  <a:srgbClr val="3333FF"/>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276" name="AutoShape 39"/>
            <p:cNvSpPr/>
            <p:nvPr/>
          </p:nvSpPr>
          <p:spPr>
            <a:xfrm>
              <a:off x="1179" y="1867"/>
              <a:ext cx="91" cy="1405"/>
            </a:xfrm>
            <a:prstGeom prst="leftBrace">
              <a:avLst>
                <a:gd name="adj1" fmla="val 128663"/>
                <a:gd name="adj2" fmla="val 50000"/>
              </a:avLst>
            </a:prstGeom>
            <a:noFill/>
            <a:ln w="22225"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dirty="0">
                <a:latin typeface="Times New Roman" panose="02020603050405020304" pitchFamily="18" charset="0"/>
              </a:endParaRPr>
            </a:p>
          </p:txBody>
        </p:sp>
        <p:sp>
          <p:nvSpPr>
            <p:cNvPr id="11277" name="AutoShape 40"/>
            <p:cNvSpPr/>
            <p:nvPr/>
          </p:nvSpPr>
          <p:spPr>
            <a:xfrm>
              <a:off x="4173" y="2320"/>
              <a:ext cx="90" cy="543"/>
            </a:xfrm>
            <a:prstGeom prst="leftBrace">
              <a:avLst>
                <a:gd name="adj1" fmla="val 50277"/>
                <a:gd name="adj2" fmla="val 50000"/>
              </a:avLst>
            </a:prstGeom>
            <a:noFill/>
            <a:ln w="22225"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dirty="0">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4632"/>
                                        </p:tgtEl>
                                        <p:attrNameLst>
                                          <p:attrName>style.visibility</p:attrName>
                                        </p:attrNameLst>
                                      </p:cBhvr>
                                      <p:to>
                                        <p:strVal val="visible"/>
                                      </p:to>
                                    </p:set>
                                    <p:animEffect transition="in" filter="dissolve">
                                      <p:cBhvr>
                                        <p:cTn id="7" dur="500"/>
                                        <p:tgtEl>
                                          <p:spTgt spid="2244632"/>
                                        </p:tgtEl>
                                      </p:cBhvr>
                                    </p:animEffect>
                                  </p:childTnLst>
                                </p:cTn>
                              </p:par>
                            </p:childTnLst>
                          </p:cTn>
                        </p:par>
                      </p:childTnLst>
                    </p:cTn>
                  </p:par>
                  <p:par>
                    <p:cTn id="8" fill="hold">
                      <p:stCondLst>
                        <p:cond delay="indefinite"/>
                      </p:stCondLst>
                      <p:childTnLst>
                        <p:par>
                          <p:cTn id="9" fill="hold">
                            <p:stCondLst>
                              <p:cond delay="0"/>
                            </p:stCondLst>
                            <p:childTnLst>
                              <p:par>
                                <p:cTn id="10" presetID="55" presetClass="entr" presetSubtype="0" fill="hold" nodeType="clickEffect">
                                  <p:stCondLst>
                                    <p:cond delay="0"/>
                                  </p:stCondLst>
                                  <p:childTnLst>
                                    <p:set>
                                      <p:cBhvr>
                                        <p:cTn id="11" dur="1" fill="hold">
                                          <p:stCondLst>
                                            <p:cond delay="0"/>
                                          </p:stCondLst>
                                        </p:cTn>
                                        <p:tgtEl>
                                          <p:spTgt spid="5161"/>
                                        </p:tgtEl>
                                        <p:attrNameLst>
                                          <p:attrName>style.visibility</p:attrName>
                                        </p:attrNameLst>
                                      </p:cBhvr>
                                      <p:to>
                                        <p:strVal val="visible"/>
                                      </p:to>
                                    </p:set>
                                    <p:anim calcmode="lin" valueType="num">
                                      <p:cBhvr>
                                        <p:cTn id="12" dur="500" fill="hold"/>
                                        <p:tgtEl>
                                          <p:spTgt spid="5161"/>
                                        </p:tgtEl>
                                        <p:attrNameLst>
                                          <p:attrName>ppt_w</p:attrName>
                                        </p:attrNameLst>
                                      </p:cBhvr>
                                      <p:tavLst>
                                        <p:tav tm="0">
                                          <p:val>
                                            <p:strVal val="#ppt_w*0.70"/>
                                          </p:val>
                                        </p:tav>
                                        <p:tav tm="100000">
                                          <p:val>
                                            <p:strVal val="#ppt_w"/>
                                          </p:val>
                                        </p:tav>
                                      </p:tavLst>
                                    </p:anim>
                                    <p:anim calcmode="lin" valueType="num">
                                      <p:cBhvr>
                                        <p:cTn id="13" dur="500" fill="hold"/>
                                        <p:tgtEl>
                                          <p:spTgt spid="5161"/>
                                        </p:tgtEl>
                                        <p:attrNameLst>
                                          <p:attrName>ppt_h</p:attrName>
                                        </p:attrNameLst>
                                      </p:cBhvr>
                                      <p:tavLst>
                                        <p:tav tm="0">
                                          <p:val>
                                            <p:strVal val="#ppt_h"/>
                                          </p:val>
                                        </p:tav>
                                        <p:tav tm="100000">
                                          <p:val>
                                            <p:strVal val="#ppt_h"/>
                                          </p:val>
                                        </p:tav>
                                      </p:tavLst>
                                    </p:anim>
                                    <p:animEffect transition="in" filter="fade">
                                      <p:cBhvr>
                                        <p:cTn id="14" dur="500"/>
                                        <p:tgtEl>
                                          <p:spTgt spid="51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2"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22" name="Text Box 14"/>
          <p:cNvSpPr txBox="1"/>
          <p:nvPr/>
        </p:nvSpPr>
        <p:spPr>
          <a:xfrm>
            <a:off x="695325" y="3125788"/>
            <a:ext cx="7980363" cy="2654300"/>
          </a:xfrm>
          <a:prstGeom prst="rect">
            <a:avLst/>
          </a:prstGeom>
          <a:noFill/>
          <a:ln w="9525">
            <a:noFill/>
          </a:ln>
        </p:spPr>
        <p:txBody>
          <a:bodyPr>
            <a:spAutoFit/>
          </a:bodyPr>
          <a:p>
            <a:pPr eaLnBrk="1" hangingPunct="1">
              <a:buClr>
                <a:srgbClr val="FF0000"/>
              </a:buClr>
              <a:buFont typeface="Wingdings" panose="05000000000000000000" pitchFamily="2" charset="2"/>
            </a:pPr>
            <a:r>
              <a:rPr lang="zh-CN" altLang="zh-CN" sz="2800" dirty="0">
                <a:solidFill>
                  <a:srgbClr val="3333FF"/>
                </a:solidFill>
                <a:latin typeface="楷体_GB2312" pitchFamily="49" charset="-122"/>
              </a:rPr>
              <a:t>开关电路</a:t>
            </a:r>
            <a:r>
              <a:rPr lang="zh-CN" altLang="en-US" sz="2800" dirty="0">
                <a:solidFill>
                  <a:srgbClr val="3333FF"/>
                </a:solidFill>
                <a:latin typeface="楷体_GB2312" pitchFamily="49" charset="-122"/>
              </a:rPr>
              <a:t>：</a:t>
            </a:r>
            <a:r>
              <a:rPr lang="zh-CN" altLang="zh-CN" sz="2800" dirty="0">
                <a:solidFill>
                  <a:srgbClr val="3333FF"/>
                </a:solidFill>
                <a:latin typeface="楷体_GB2312" pitchFamily="49" charset="-122"/>
              </a:rPr>
              <a:t>晶体管只工作在</a:t>
            </a:r>
            <a:r>
              <a:rPr lang="zh-CN" altLang="en-US" sz="2800" dirty="0">
                <a:solidFill>
                  <a:srgbClr val="3333FF"/>
                </a:solidFill>
                <a:latin typeface="楷体_GB2312" pitchFamily="49" charset="-122"/>
              </a:rPr>
              <a:t>饱和与截止</a:t>
            </a:r>
            <a:r>
              <a:rPr lang="zh-CN" altLang="zh-CN" sz="2800" dirty="0">
                <a:solidFill>
                  <a:srgbClr val="3333FF"/>
                </a:solidFill>
                <a:latin typeface="楷体_GB2312" pitchFamily="49" charset="-122"/>
              </a:rPr>
              <a:t>状态</a:t>
            </a:r>
            <a:r>
              <a:rPr lang="zh-CN" altLang="en-US" sz="2800" dirty="0">
                <a:solidFill>
                  <a:srgbClr val="3333FF"/>
                </a:solidFill>
                <a:latin typeface="楷体_GB2312" pitchFamily="49" charset="-122"/>
              </a:rPr>
              <a:t>。</a:t>
            </a:r>
            <a:endParaRPr lang="zh-CN" altLang="en-US" sz="2800" dirty="0">
              <a:solidFill>
                <a:srgbClr val="3333FF"/>
              </a:solidFill>
              <a:latin typeface="楷体_GB2312" pitchFamily="49" charset="-122"/>
            </a:endParaRPr>
          </a:p>
          <a:p>
            <a:pPr eaLnBrk="1" hangingPunct="1">
              <a:buClr>
                <a:srgbClr val="FF0000"/>
              </a:buClr>
              <a:buFont typeface="Wingdings" panose="05000000000000000000" pitchFamily="2" charset="2"/>
            </a:pPr>
            <a:endParaRPr lang="zh-CN" altLang="en-US" sz="2800" dirty="0">
              <a:solidFill>
                <a:srgbClr val="3333FF"/>
              </a:solidFill>
              <a:latin typeface="楷体_GB2312" pitchFamily="49" charset="-122"/>
            </a:endParaRPr>
          </a:p>
          <a:p>
            <a:pPr eaLnBrk="1" hangingPunct="1">
              <a:buClr>
                <a:srgbClr val="FF0000"/>
              </a:buClr>
              <a:buFont typeface="Wingdings" panose="05000000000000000000" pitchFamily="2" charset="2"/>
            </a:pPr>
            <a:r>
              <a:rPr lang="zh-CN" altLang="zh-CN" sz="2800" dirty="0">
                <a:solidFill>
                  <a:srgbClr val="3333FF"/>
                </a:solidFill>
                <a:latin typeface="楷体_GB2312" pitchFamily="49" charset="-122"/>
              </a:rPr>
              <a:t>以晶体管截止，集电极不吸收电流表示关；</a:t>
            </a:r>
            <a:endParaRPr lang="zh-CN" altLang="en-US" sz="2800" dirty="0">
              <a:solidFill>
                <a:srgbClr val="3333FF"/>
              </a:solidFill>
              <a:latin typeface="楷体_GB2312" pitchFamily="49" charset="-122"/>
            </a:endParaRPr>
          </a:p>
          <a:p>
            <a:pPr eaLnBrk="1" hangingPunct="1">
              <a:buClr>
                <a:srgbClr val="FF0000"/>
              </a:buClr>
              <a:buFont typeface="Wingdings" panose="05000000000000000000" pitchFamily="2" charset="2"/>
            </a:pPr>
            <a:endParaRPr lang="zh-CN" altLang="en-US" sz="2800" dirty="0">
              <a:solidFill>
                <a:srgbClr val="3333FF"/>
              </a:solidFill>
              <a:latin typeface="楷体_GB2312" pitchFamily="49" charset="-122"/>
            </a:endParaRPr>
          </a:p>
          <a:p>
            <a:pPr eaLnBrk="1" hangingPunct="1">
              <a:buClr>
                <a:srgbClr val="FF0000"/>
              </a:buClr>
              <a:buFont typeface="Wingdings" panose="05000000000000000000" pitchFamily="2" charset="2"/>
            </a:pPr>
            <a:r>
              <a:rPr lang="zh-CN" altLang="zh-CN" sz="2800" dirty="0">
                <a:solidFill>
                  <a:srgbClr val="3333FF"/>
                </a:solidFill>
                <a:latin typeface="楷体_GB2312" pitchFamily="49" charset="-122"/>
              </a:rPr>
              <a:t>以晶体管饱和，发射极和集电极之间的电压差接近于0时表示开。</a:t>
            </a:r>
            <a:endParaRPr lang="en-US" altLang="zh-CN" sz="2800" dirty="0">
              <a:solidFill>
                <a:srgbClr val="3333FF"/>
              </a:solidFill>
              <a:latin typeface="楷体_GB2312" pitchFamily="49" charset="-122"/>
            </a:endParaRPr>
          </a:p>
        </p:txBody>
      </p:sp>
      <p:sp>
        <p:nvSpPr>
          <p:cNvPr id="2244632" name="Text Box 24"/>
          <p:cNvSpPr txBox="1"/>
          <p:nvPr/>
        </p:nvSpPr>
        <p:spPr>
          <a:xfrm>
            <a:off x="485775" y="1676400"/>
            <a:ext cx="8189913" cy="1074738"/>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开关只有两种状态：通、断</a:t>
            </a:r>
            <a:endParaRPr lang="zh-CN" altLang="en-US" sz="28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三极管和场效应管有三种状态：截止、放大、饱和</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244658" name="Text Box 50"/>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2293" name="Text Box 51"/>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2244632"/>
                                        </p:tgtEl>
                                        <p:attrNameLst>
                                          <p:attrName>style.visibility</p:attrName>
                                        </p:attrNameLst>
                                      </p:cBhvr>
                                      <p:to>
                                        <p:strVal val="visible"/>
                                      </p:to>
                                    </p:set>
                                    <p:animEffect transition="in" filter="blinds(horizontal)">
                                      <p:cBhvr>
                                        <p:cTn id="7" dur="500"/>
                                        <p:tgtEl>
                                          <p:spTgt spid="2244632"/>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2244622"/>
                                        </p:tgtEl>
                                        <p:attrNameLst>
                                          <p:attrName>style.visibility</p:attrName>
                                        </p:attrNameLst>
                                      </p:cBhvr>
                                      <p:to>
                                        <p:strVal val="visible"/>
                                      </p:to>
                                    </p:set>
                                    <p:animEffect transition="in" filter="blinds(horizontal)">
                                      <p:cBhvr>
                                        <p:cTn id="12" dur="500"/>
                                        <p:tgtEl>
                                          <p:spTgt spid="22446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22" grpId="0"/>
      <p:bldP spid="2244632"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314" name="Text Box 14"/>
          <p:cNvSpPr txBox="1"/>
          <p:nvPr/>
        </p:nvSpPr>
        <p:spPr>
          <a:xfrm>
            <a:off x="698500" y="2347913"/>
            <a:ext cx="4892675"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a:t>
            </a:r>
            <a:endParaRPr lang="en-US" altLang="zh-CN" sz="2800" dirty="0">
              <a:solidFill>
                <a:srgbClr val="3333FF"/>
              </a:solidFill>
              <a:latin typeface="楷体_GB2312" pitchFamily="49" charset="-122"/>
            </a:endParaRPr>
          </a:p>
        </p:txBody>
      </p:sp>
      <p:sp>
        <p:nvSpPr>
          <p:cNvPr id="13315" name="Text Box 24"/>
          <p:cNvSpPr txBox="1"/>
          <p:nvPr/>
        </p:nvSpPr>
        <p:spPr>
          <a:xfrm>
            <a:off x="485775" y="1676400"/>
            <a:ext cx="4924425"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grpSp>
        <p:nvGrpSpPr>
          <p:cNvPr id="2244654" name="Group 46"/>
          <p:cNvGrpSpPr/>
          <p:nvPr/>
        </p:nvGrpSpPr>
        <p:grpSpPr>
          <a:xfrm>
            <a:off x="5143500" y="2695575"/>
            <a:ext cx="3216275" cy="2114550"/>
            <a:chOff x="1368" y="1734"/>
            <a:chExt cx="2026" cy="1332"/>
          </a:xfrm>
        </p:grpSpPr>
        <p:sp>
          <p:nvSpPr>
            <p:cNvPr id="13324" name="Rectangle 45"/>
            <p:cNvSpPr/>
            <p:nvPr/>
          </p:nvSpPr>
          <p:spPr>
            <a:xfrm>
              <a:off x="1368" y="1734"/>
              <a:ext cx="2010" cy="1332"/>
            </a:xfrm>
            <a:prstGeom prst="rect">
              <a:avLst/>
            </a:prstGeom>
            <a:solidFill>
              <a:srgbClr val="FFCC99"/>
            </a:solidFill>
            <a:ln w="9525" cap="flat" cmpd="sng">
              <a:solidFill>
                <a:srgbClr val="FF660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25" name="Line 25"/>
            <p:cNvSpPr/>
            <p:nvPr/>
          </p:nvSpPr>
          <p:spPr>
            <a:xfrm>
              <a:off x="1776" y="2091"/>
              <a:ext cx="0" cy="348"/>
            </a:xfrm>
            <a:prstGeom prst="line">
              <a:avLst/>
            </a:prstGeom>
            <a:ln w="25400" cap="flat" cmpd="sng">
              <a:solidFill>
                <a:schemeClr val="tx1"/>
              </a:solidFill>
              <a:prstDash val="solid"/>
              <a:headEnd type="none" w="med" len="med"/>
              <a:tailEnd type="none" w="med" len="med"/>
            </a:ln>
          </p:spPr>
        </p:sp>
        <p:sp>
          <p:nvSpPr>
            <p:cNvPr id="13326" name="Line 26"/>
            <p:cNvSpPr/>
            <p:nvPr/>
          </p:nvSpPr>
          <p:spPr>
            <a:xfrm>
              <a:off x="1536" y="2265"/>
              <a:ext cx="234" cy="0"/>
            </a:xfrm>
            <a:prstGeom prst="line">
              <a:avLst/>
            </a:prstGeom>
            <a:ln w="25400" cap="flat" cmpd="sng">
              <a:solidFill>
                <a:schemeClr val="tx1"/>
              </a:solidFill>
              <a:prstDash val="solid"/>
              <a:headEnd type="none" w="med" len="med"/>
              <a:tailEnd type="none" w="med" len="med"/>
            </a:ln>
          </p:spPr>
        </p:sp>
        <p:sp>
          <p:nvSpPr>
            <p:cNvPr id="13327" name="Line 27"/>
            <p:cNvSpPr/>
            <p:nvPr/>
          </p:nvSpPr>
          <p:spPr>
            <a:xfrm flipV="1">
              <a:off x="1771" y="2053"/>
              <a:ext cx="243" cy="216"/>
            </a:xfrm>
            <a:prstGeom prst="line">
              <a:avLst/>
            </a:prstGeom>
            <a:ln w="25400" cap="flat" cmpd="sng">
              <a:solidFill>
                <a:schemeClr val="tx1"/>
              </a:solidFill>
              <a:prstDash val="solid"/>
              <a:headEnd type="none" w="med" len="med"/>
              <a:tailEnd type="none" w="med" len="med"/>
            </a:ln>
          </p:spPr>
        </p:sp>
        <p:sp>
          <p:nvSpPr>
            <p:cNvPr id="13328" name="Line 28"/>
            <p:cNvSpPr/>
            <p:nvPr/>
          </p:nvSpPr>
          <p:spPr>
            <a:xfrm>
              <a:off x="1774" y="2266"/>
              <a:ext cx="240" cy="201"/>
            </a:xfrm>
            <a:prstGeom prst="line">
              <a:avLst/>
            </a:prstGeom>
            <a:ln w="25400" cap="flat" cmpd="sng">
              <a:solidFill>
                <a:schemeClr val="tx1"/>
              </a:solidFill>
              <a:prstDash val="solid"/>
              <a:headEnd type="none" w="med" len="med"/>
              <a:tailEnd type="stealth" w="lg" len="lg"/>
            </a:ln>
          </p:spPr>
        </p:sp>
        <p:sp>
          <p:nvSpPr>
            <p:cNvPr id="13329" name="Line 29"/>
            <p:cNvSpPr/>
            <p:nvPr/>
          </p:nvSpPr>
          <p:spPr>
            <a:xfrm flipH="1">
              <a:off x="2008" y="2467"/>
              <a:ext cx="0" cy="210"/>
            </a:xfrm>
            <a:prstGeom prst="line">
              <a:avLst/>
            </a:prstGeom>
            <a:ln w="25400" cap="flat" cmpd="sng">
              <a:solidFill>
                <a:schemeClr val="tx1"/>
              </a:solidFill>
              <a:prstDash val="solid"/>
              <a:headEnd type="none" w="med" len="med"/>
              <a:tailEnd type="none" w="med" len="med"/>
            </a:ln>
          </p:spPr>
        </p:sp>
        <p:sp>
          <p:nvSpPr>
            <p:cNvPr id="13330" name="Line 30"/>
            <p:cNvSpPr/>
            <p:nvPr/>
          </p:nvSpPr>
          <p:spPr>
            <a:xfrm flipH="1">
              <a:off x="2006" y="1847"/>
              <a:ext cx="0" cy="210"/>
            </a:xfrm>
            <a:prstGeom prst="line">
              <a:avLst/>
            </a:prstGeom>
            <a:ln w="25400" cap="flat" cmpd="sng">
              <a:solidFill>
                <a:schemeClr val="tx1"/>
              </a:solidFill>
              <a:prstDash val="solid"/>
              <a:headEnd type="none" w="med" len="med"/>
              <a:tailEnd type="none" w="med" len="med"/>
            </a:ln>
          </p:spPr>
        </p:sp>
        <p:sp>
          <p:nvSpPr>
            <p:cNvPr id="13331" name="Text Box 31"/>
            <p:cNvSpPr txBox="1"/>
            <p:nvPr/>
          </p:nvSpPr>
          <p:spPr>
            <a:xfrm>
              <a:off x="1500" y="2238"/>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B</a:t>
              </a:r>
              <a:endParaRPr lang="en-US" altLang="zh-CN" sz="1800" dirty="0">
                <a:solidFill>
                  <a:srgbClr val="FF0000"/>
                </a:solidFill>
                <a:latin typeface="Times New Roman" panose="02020603050405020304" pitchFamily="18" charset="0"/>
              </a:endParaRPr>
            </a:p>
          </p:txBody>
        </p:sp>
        <p:sp>
          <p:nvSpPr>
            <p:cNvPr id="13332" name="Text Box 32"/>
            <p:cNvSpPr txBox="1"/>
            <p:nvPr/>
          </p:nvSpPr>
          <p:spPr>
            <a:xfrm>
              <a:off x="1990" y="2464"/>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E</a:t>
              </a:r>
              <a:endParaRPr lang="en-US" altLang="zh-CN" sz="1800" dirty="0">
                <a:solidFill>
                  <a:srgbClr val="FF0000"/>
                </a:solidFill>
                <a:latin typeface="Times New Roman" panose="02020603050405020304" pitchFamily="18" charset="0"/>
              </a:endParaRPr>
            </a:p>
          </p:txBody>
        </p:sp>
        <p:sp>
          <p:nvSpPr>
            <p:cNvPr id="13333" name="Text Box 33"/>
            <p:cNvSpPr txBox="1"/>
            <p:nvPr/>
          </p:nvSpPr>
          <p:spPr>
            <a:xfrm>
              <a:off x="1990" y="1828"/>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C</a:t>
              </a:r>
              <a:endParaRPr lang="en-US" altLang="zh-CN" sz="1800" dirty="0">
                <a:solidFill>
                  <a:srgbClr val="FF0000"/>
                </a:solidFill>
                <a:latin typeface="Times New Roman" panose="02020603050405020304" pitchFamily="18" charset="0"/>
              </a:endParaRPr>
            </a:p>
          </p:txBody>
        </p:sp>
        <p:sp>
          <p:nvSpPr>
            <p:cNvPr id="13334" name="Text Box 34"/>
            <p:cNvSpPr txBox="1"/>
            <p:nvPr/>
          </p:nvSpPr>
          <p:spPr>
            <a:xfrm>
              <a:off x="1566" y="2736"/>
              <a:ext cx="768" cy="300"/>
            </a:xfrm>
            <a:prstGeom prst="rect">
              <a:avLst/>
            </a:prstGeom>
            <a:no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NPN</a:t>
              </a:r>
              <a:endParaRPr lang="en-US" altLang="zh-CN" sz="2800" dirty="0">
                <a:latin typeface="Times New Roman" panose="02020603050405020304" pitchFamily="18" charset="0"/>
              </a:endParaRPr>
            </a:p>
          </p:txBody>
        </p:sp>
        <p:sp>
          <p:nvSpPr>
            <p:cNvPr id="13335" name="Line 35"/>
            <p:cNvSpPr/>
            <p:nvPr/>
          </p:nvSpPr>
          <p:spPr>
            <a:xfrm>
              <a:off x="2836" y="2083"/>
              <a:ext cx="0" cy="348"/>
            </a:xfrm>
            <a:prstGeom prst="line">
              <a:avLst/>
            </a:prstGeom>
            <a:ln w="25400" cap="flat" cmpd="sng">
              <a:solidFill>
                <a:schemeClr val="tx1"/>
              </a:solidFill>
              <a:prstDash val="solid"/>
              <a:headEnd type="none" w="med" len="med"/>
              <a:tailEnd type="none" w="med" len="med"/>
            </a:ln>
          </p:spPr>
        </p:sp>
        <p:sp>
          <p:nvSpPr>
            <p:cNvPr id="13336" name="Line 36"/>
            <p:cNvSpPr/>
            <p:nvPr/>
          </p:nvSpPr>
          <p:spPr>
            <a:xfrm>
              <a:off x="2596" y="2257"/>
              <a:ext cx="234" cy="0"/>
            </a:xfrm>
            <a:prstGeom prst="line">
              <a:avLst/>
            </a:prstGeom>
            <a:ln w="25400" cap="flat" cmpd="sng">
              <a:solidFill>
                <a:schemeClr val="tx1"/>
              </a:solidFill>
              <a:prstDash val="solid"/>
              <a:headEnd type="none" w="med" len="med"/>
              <a:tailEnd type="none" w="med" len="med"/>
            </a:ln>
          </p:spPr>
        </p:sp>
        <p:sp>
          <p:nvSpPr>
            <p:cNvPr id="13337" name="Line 37"/>
            <p:cNvSpPr/>
            <p:nvPr/>
          </p:nvSpPr>
          <p:spPr>
            <a:xfrm flipV="1">
              <a:off x="2831" y="2045"/>
              <a:ext cx="243" cy="207"/>
            </a:xfrm>
            <a:prstGeom prst="line">
              <a:avLst/>
            </a:prstGeom>
            <a:ln w="25400" cap="flat" cmpd="sng">
              <a:solidFill>
                <a:schemeClr val="tx1"/>
              </a:solidFill>
              <a:prstDash val="solid"/>
              <a:headEnd type="none" w="med" len="med"/>
              <a:tailEnd type="none" w="med" len="med"/>
            </a:ln>
          </p:spPr>
        </p:sp>
        <p:sp>
          <p:nvSpPr>
            <p:cNvPr id="13338" name="Line 38"/>
            <p:cNvSpPr/>
            <p:nvPr/>
          </p:nvSpPr>
          <p:spPr>
            <a:xfrm>
              <a:off x="2831" y="2252"/>
              <a:ext cx="243" cy="207"/>
            </a:xfrm>
            <a:prstGeom prst="line">
              <a:avLst/>
            </a:prstGeom>
            <a:ln w="25400" cap="flat" cmpd="sng">
              <a:solidFill>
                <a:schemeClr val="tx1"/>
              </a:solidFill>
              <a:prstDash val="solid"/>
              <a:headEnd type="stealth" w="lg" len="lg"/>
              <a:tailEnd type="none" w="lg" len="lg"/>
            </a:ln>
          </p:spPr>
        </p:sp>
        <p:sp>
          <p:nvSpPr>
            <p:cNvPr id="13339" name="Line 39"/>
            <p:cNvSpPr/>
            <p:nvPr/>
          </p:nvSpPr>
          <p:spPr>
            <a:xfrm flipH="1">
              <a:off x="3068" y="2459"/>
              <a:ext cx="0" cy="210"/>
            </a:xfrm>
            <a:prstGeom prst="line">
              <a:avLst/>
            </a:prstGeom>
            <a:ln w="25400" cap="flat" cmpd="sng">
              <a:solidFill>
                <a:schemeClr val="tx1"/>
              </a:solidFill>
              <a:prstDash val="solid"/>
              <a:headEnd type="none" w="med" len="med"/>
              <a:tailEnd type="none" w="med" len="med"/>
            </a:ln>
          </p:spPr>
        </p:sp>
        <p:sp>
          <p:nvSpPr>
            <p:cNvPr id="13340" name="Line 40"/>
            <p:cNvSpPr/>
            <p:nvPr/>
          </p:nvSpPr>
          <p:spPr>
            <a:xfrm flipH="1">
              <a:off x="3066" y="1839"/>
              <a:ext cx="0" cy="210"/>
            </a:xfrm>
            <a:prstGeom prst="line">
              <a:avLst/>
            </a:prstGeom>
            <a:ln w="25400" cap="flat" cmpd="sng">
              <a:solidFill>
                <a:schemeClr val="tx1"/>
              </a:solidFill>
              <a:prstDash val="solid"/>
              <a:headEnd type="none" w="med" len="med"/>
              <a:tailEnd type="none" w="med" len="med"/>
            </a:ln>
          </p:spPr>
        </p:sp>
        <p:sp>
          <p:nvSpPr>
            <p:cNvPr id="13341" name="Text Box 41"/>
            <p:cNvSpPr txBox="1"/>
            <p:nvPr/>
          </p:nvSpPr>
          <p:spPr>
            <a:xfrm>
              <a:off x="2560" y="2230"/>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B</a:t>
              </a:r>
              <a:endParaRPr lang="en-US" altLang="zh-CN" sz="1800" dirty="0">
                <a:solidFill>
                  <a:srgbClr val="FF0000"/>
                </a:solidFill>
                <a:latin typeface="Times New Roman" panose="02020603050405020304" pitchFamily="18" charset="0"/>
              </a:endParaRPr>
            </a:p>
          </p:txBody>
        </p:sp>
        <p:sp>
          <p:nvSpPr>
            <p:cNvPr id="13342" name="Text Box 42"/>
            <p:cNvSpPr txBox="1"/>
            <p:nvPr/>
          </p:nvSpPr>
          <p:spPr>
            <a:xfrm>
              <a:off x="3050" y="2456"/>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E</a:t>
              </a:r>
              <a:endParaRPr lang="en-US" altLang="zh-CN" sz="1800" dirty="0">
                <a:solidFill>
                  <a:srgbClr val="FF0000"/>
                </a:solidFill>
                <a:latin typeface="Times New Roman" panose="02020603050405020304" pitchFamily="18" charset="0"/>
              </a:endParaRPr>
            </a:p>
          </p:txBody>
        </p:sp>
        <p:sp>
          <p:nvSpPr>
            <p:cNvPr id="13343" name="Text Box 43"/>
            <p:cNvSpPr txBox="1"/>
            <p:nvPr/>
          </p:nvSpPr>
          <p:spPr>
            <a:xfrm>
              <a:off x="3050" y="1820"/>
              <a:ext cx="234"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C</a:t>
              </a:r>
              <a:endParaRPr lang="en-US" altLang="zh-CN" sz="1800" dirty="0">
                <a:solidFill>
                  <a:srgbClr val="FF0000"/>
                </a:solidFill>
                <a:latin typeface="Times New Roman" panose="02020603050405020304" pitchFamily="18" charset="0"/>
              </a:endParaRPr>
            </a:p>
          </p:txBody>
        </p:sp>
        <p:sp>
          <p:nvSpPr>
            <p:cNvPr id="13344" name="Text Box 44"/>
            <p:cNvSpPr txBox="1"/>
            <p:nvPr/>
          </p:nvSpPr>
          <p:spPr>
            <a:xfrm>
              <a:off x="2626" y="2728"/>
              <a:ext cx="768" cy="300"/>
            </a:xfrm>
            <a:prstGeom prst="rect">
              <a:avLst/>
            </a:prstGeom>
            <a:no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PNP</a:t>
              </a:r>
              <a:endParaRPr lang="en-US" altLang="zh-CN" sz="2800" dirty="0">
                <a:latin typeface="Times New Roman" panose="02020603050405020304" pitchFamily="18" charset="0"/>
              </a:endParaRPr>
            </a:p>
          </p:txBody>
        </p:sp>
      </p:grpSp>
      <p:sp>
        <p:nvSpPr>
          <p:cNvPr id="13317" name="Text Box 47"/>
          <p:cNvSpPr txBox="1"/>
          <p:nvPr/>
        </p:nvSpPr>
        <p:spPr>
          <a:xfrm>
            <a:off x="695325" y="3644900"/>
            <a:ext cx="3913188"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13318" name="Text Box 48"/>
          <p:cNvSpPr txBox="1"/>
          <p:nvPr/>
        </p:nvSpPr>
        <p:spPr>
          <a:xfrm>
            <a:off x="1258888" y="4367213"/>
            <a:ext cx="3708400" cy="9461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latin typeface="Times New Roman" panose="02020603050405020304" pitchFamily="18" charset="0"/>
              </a:rPr>
              <a:t>结型</a:t>
            </a:r>
            <a:endParaRPr lang="zh-CN" altLang="en-US" sz="2800" dirty="0">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800" dirty="0">
                <a:latin typeface="Times New Roman" panose="02020603050405020304" pitchFamily="18" charset="0"/>
              </a:rPr>
              <a:t> 绝缘栅型</a:t>
            </a:r>
            <a:endParaRPr lang="en-US" altLang="zh-CN" sz="2800" dirty="0">
              <a:latin typeface="Times New Roman" panose="02020603050405020304" pitchFamily="18" charset="0"/>
            </a:endParaRPr>
          </a:p>
        </p:txBody>
      </p:sp>
      <p:sp>
        <p:nvSpPr>
          <p:cNvPr id="2244657" name="Text Box 49"/>
          <p:cNvSpPr txBox="1"/>
          <p:nvPr/>
        </p:nvSpPr>
        <p:spPr>
          <a:xfrm>
            <a:off x="5743575" y="4848225"/>
            <a:ext cx="2066925" cy="420688"/>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双极型晶体管</a:t>
            </a:r>
            <a:endParaRPr lang="zh-CN" altLang="en-US" sz="2400" dirty="0">
              <a:solidFill>
                <a:schemeClr val="tx1"/>
              </a:solidFill>
              <a:latin typeface="Times New Roman" panose="02020603050405020304" pitchFamily="18" charset="0"/>
            </a:endParaRPr>
          </a:p>
        </p:txBody>
      </p:sp>
      <p:sp>
        <p:nvSpPr>
          <p:cNvPr id="2244658" name="Text Box 50"/>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3321" name="Text Box 51"/>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3322" name="Text Box 52"/>
          <p:cNvSpPr txBox="1"/>
          <p:nvPr/>
        </p:nvSpPr>
        <p:spPr>
          <a:xfrm>
            <a:off x="739775" y="5394325"/>
            <a:ext cx="4087813"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集成电路开关 </a:t>
            </a:r>
            <a:endParaRPr lang="zh-CN" altLang="en-US" sz="2800" dirty="0">
              <a:solidFill>
                <a:srgbClr val="3333FF"/>
              </a:solidFill>
              <a:latin typeface="楷体_GB2312" pitchFamily="49" charset="-122"/>
            </a:endParaRPr>
          </a:p>
        </p:txBody>
      </p:sp>
      <p:sp>
        <p:nvSpPr>
          <p:cNvPr id="2" name="Text Box 48"/>
          <p:cNvSpPr txBox="1"/>
          <p:nvPr/>
        </p:nvSpPr>
        <p:spPr>
          <a:xfrm>
            <a:off x="1258888" y="3033713"/>
            <a:ext cx="3708400" cy="4762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pPr>
            <a:r>
              <a:rPr lang="zh-CN" altLang="en-US" sz="2800" dirty="0">
                <a:solidFill>
                  <a:srgbClr val="FF0000"/>
                </a:solidFill>
                <a:latin typeface="Times New Roman" panose="02020603050405020304" pitchFamily="18" charset="0"/>
              </a:rPr>
              <a:t>（</a:t>
            </a:r>
            <a:r>
              <a:rPr lang="en-US" altLang="zh-CN" sz="2800" dirty="0">
                <a:solidFill>
                  <a:srgbClr val="FF0000"/>
                </a:solidFill>
                <a:latin typeface="Times New Roman" panose="02020603050405020304" pitchFamily="18" charset="0"/>
              </a:rPr>
              <a:t>NPN</a:t>
            </a:r>
            <a:r>
              <a:rPr lang="zh-CN" altLang="en-US" sz="2800" dirty="0">
                <a:solidFill>
                  <a:srgbClr val="FF0000"/>
                </a:solidFill>
                <a:latin typeface="Times New Roman" panose="02020603050405020304" pitchFamily="18" charset="0"/>
              </a:rPr>
              <a:t>管、</a:t>
            </a:r>
            <a:r>
              <a:rPr lang="en-US" altLang="zh-CN" sz="2800" dirty="0">
                <a:solidFill>
                  <a:srgbClr val="FF0000"/>
                </a:solidFill>
                <a:latin typeface="Times New Roman" panose="02020603050405020304" pitchFamily="18" charset="0"/>
              </a:rPr>
              <a:t>PNP</a:t>
            </a:r>
            <a:r>
              <a:rPr lang="zh-CN" altLang="en-US" sz="2800" dirty="0">
                <a:solidFill>
                  <a:srgbClr val="FF0000"/>
                </a:solidFill>
                <a:latin typeface="Times New Roman" panose="02020603050405020304" pitchFamily="18" charset="0"/>
              </a:rPr>
              <a:t>管）</a:t>
            </a:r>
            <a:endParaRPr lang="zh-CN" altLang="en-US" sz="28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4654"/>
                                        </p:tgtEl>
                                        <p:attrNameLst>
                                          <p:attrName>style.visibility</p:attrName>
                                        </p:attrNameLst>
                                      </p:cBhvr>
                                      <p:to>
                                        <p:strVal val="visible"/>
                                      </p:to>
                                    </p:set>
                                    <p:animEffect transition="in" filter="dissolve">
                                      <p:cBhvr>
                                        <p:cTn id="12" dur="500"/>
                                        <p:tgtEl>
                                          <p:spTgt spid="2244654"/>
                                        </p:tgtEl>
                                      </p:cBhvr>
                                    </p:animEffect>
                                  </p:childTnLst>
                                </p:cTn>
                              </p:par>
                              <p:par>
                                <p:cTn id="13" presetID="9" presetClass="entr" presetSubtype="0" fill="hold" nodeType="withEffect">
                                  <p:stCondLst>
                                    <p:cond delay="0"/>
                                  </p:stCondLst>
                                  <p:childTnLst>
                                    <p:set>
                                      <p:cBhvr>
                                        <p:cTn id="14" dur="1" fill="hold">
                                          <p:stCondLst>
                                            <p:cond delay="0"/>
                                          </p:stCondLst>
                                        </p:cTn>
                                        <p:tgtEl>
                                          <p:spTgt spid="2244657"/>
                                        </p:tgtEl>
                                        <p:attrNameLst>
                                          <p:attrName>style.visibility</p:attrName>
                                        </p:attrNameLst>
                                      </p:cBhvr>
                                      <p:to>
                                        <p:strVal val="visible"/>
                                      </p:to>
                                    </p:set>
                                    <p:animEffect transition="in" filter="dissolve">
                                      <p:cBhvr>
                                        <p:cTn id="15" dur="500"/>
                                        <p:tgtEl>
                                          <p:spTgt spid="22446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57" grpId="0"/>
      <p:bldP spid="2"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1074" name="Rectangle 34"/>
          <p:cNvSpPr/>
          <p:nvPr/>
        </p:nvSpPr>
        <p:spPr>
          <a:xfrm>
            <a:off x="4543425" y="2457450"/>
            <a:ext cx="4433888" cy="3095625"/>
          </a:xfrm>
          <a:prstGeom prst="rect">
            <a:avLst/>
          </a:prstGeom>
          <a:solidFill>
            <a:srgbClr val="FFFF99"/>
          </a:solid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4339" name="Text Box 2"/>
          <p:cNvSpPr txBox="1"/>
          <p:nvPr/>
        </p:nvSpPr>
        <p:spPr>
          <a:xfrm>
            <a:off x="650875" y="2357438"/>
            <a:ext cx="4892675"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 </a:t>
            </a:r>
            <a:endParaRPr lang="zh-CN" altLang="en-US" sz="2800" dirty="0">
              <a:solidFill>
                <a:srgbClr val="3333FF"/>
              </a:solidFill>
              <a:latin typeface="楷体_GB2312" pitchFamily="49" charset="-122"/>
            </a:endParaRPr>
          </a:p>
        </p:txBody>
      </p:sp>
      <p:sp>
        <p:nvSpPr>
          <p:cNvPr id="14340" name="Text Box 3"/>
          <p:cNvSpPr txBox="1"/>
          <p:nvPr/>
        </p:nvSpPr>
        <p:spPr>
          <a:xfrm>
            <a:off x="485775" y="1676400"/>
            <a:ext cx="4924425"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14341" name="Text Box 26"/>
          <p:cNvSpPr txBox="1"/>
          <p:nvPr/>
        </p:nvSpPr>
        <p:spPr>
          <a:xfrm>
            <a:off x="647700" y="2963863"/>
            <a:ext cx="4892675"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6150" name="Text Box 27"/>
          <p:cNvSpPr txBox="1"/>
          <p:nvPr/>
        </p:nvSpPr>
        <p:spPr>
          <a:xfrm>
            <a:off x="692150" y="3638550"/>
            <a:ext cx="3832225" cy="1630363"/>
          </a:xfrm>
          <a:prstGeom prst="rect">
            <a:avLst/>
          </a:prstGeom>
          <a:noFill/>
          <a:ln w="9525">
            <a:noFill/>
          </a:ln>
        </p:spPr>
        <p:txBody>
          <a:bodyPr>
            <a:spAutoFit/>
          </a:bodyPr>
          <a:p>
            <a:pPr eaLnBrk="1" hangingPunct="1">
              <a:spcBef>
                <a:spcPct val="3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solidFill>
                  <a:srgbClr val="FF0000"/>
                </a:solidFill>
                <a:latin typeface="Times New Roman" panose="02020603050405020304" pitchFamily="18" charset="0"/>
              </a:rPr>
              <a:t>结型</a:t>
            </a:r>
            <a:r>
              <a:rPr lang="en-US" altLang="zh-CN" sz="2800" dirty="0">
                <a:solidFill>
                  <a:srgbClr val="FF0000"/>
                </a:solidFill>
                <a:latin typeface="Times New Roman" panose="02020603050405020304" pitchFamily="18" charset="0"/>
              </a:rPr>
              <a:t>(JFET)</a:t>
            </a:r>
            <a:endParaRPr lang="en-US" altLang="zh-CN" sz="2800" dirty="0">
              <a:solidFill>
                <a:srgbClr val="FF0000"/>
              </a:solidFill>
              <a:latin typeface="Times New Roman" panose="02020603050405020304" pitchFamily="18" charset="0"/>
            </a:endParaRPr>
          </a:p>
          <a:p>
            <a:pPr eaLnBrk="1" hangingPunct="1">
              <a:spcBef>
                <a:spcPct val="30000"/>
              </a:spcBef>
              <a:buClr>
                <a:srgbClr val="FF0000"/>
              </a:buClr>
              <a:buFont typeface="Wingdings" panose="05000000000000000000" pitchFamily="2" charset="2"/>
            </a:pPr>
            <a:r>
              <a:rPr lang="en-US" altLang="zh-CN" sz="2800" dirty="0">
                <a:solidFill>
                  <a:srgbClr val="FF0000"/>
                </a:solidFill>
                <a:latin typeface="Times New Roman" panose="02020603050405020304" pitchFamily="18" charset="0"/>
              </a:rPr>
              <a:t>    </a:t>
            </a:r>
            <a:r>
              <a:rPr lang="zh-CN" altLang="en-US" sz="2800" dirty="0">
                <a:solidFill>
                  <a:srgbClr val="FF0000"/>
                </a:solidFill>
                <a:latin typeface="Times New Roman" panose="02020603050405020304" pitchFamily="18" charset="0"/>
              </a:rPr>
              <a:t>（</a:t>
            </a:r>
            <a:r>
              <a:rPr lang="en-US" altLang="zh-CN" sz="2800" dirty="0">
                <a:solidFill>
                  <a:srgbClr val="FF0000"/>
                </a:solidFill>
                <a:latin typeface="Times New Roman" panose="02020603050405020304" pitchFamily="18" charset="0"/>
              </a:rPr>
              <a:t>N</a:t>
            </a:r>
            <a:r>
              <a:rPr lang="zh-CN" altLang="en-US" sz="2800" dirty="0">
                <a:solidFill>
                  <a:srgbClr val="FF0000"/>
                </a:solidFill>
                <a:latin typeface="Times New Roman" panose="02020603050405020304" pitchFamily="18" charset="0"/>
              </a:rPr>
              <a:t>沟道、</a:t>
            </a:r>
            <a:r>
              <a:rPr lang="en-US" altLang="zh-CN" sz="2800" dirty="0">
                <a:solidFill>
                  <a:srgbClr val="FF0000"/>
                </a:solidFill>
                <a:latin typeface="Times New Roman" panose="02020603050405020304" pitchFamily="18" charset="0"/>
              </a:rPr>
              <a:t>P</a:t>
            </a:r>
            <a:r>
              <a:rPr lang="zh-CN" altLang="en-US" sz="2800" dirty="0">
                <a:solidFill>
                  <a:srgbClr val="FF0000"/>
                </a:solidFill>
                <a:latin typeface="Times New Roman" panose="02020603050405020304" pitchFamily="18" charset="0"/>
              </a:rPr>
              <a:t>沟道）</a:t>
            </a:r>
            <a:endParaRPr lang="en-US" altLang="zh-CN" sz="2800" dirty="0">
              <a:solidFill>
                <a:srgbClr val="FF0000"/>
              </a:solidFill>
              <a:latin typeface="Times New Roman" panose="02020603050405020304" pitchFamily="18" charset="0"/>
            </a:endParaRPr>
          </a:p>
          <a:p>
            <a:pPr eaLnBrk="1" hangingPunct="1">
              <a:spcBef>
                <a:spcPct val="30000"/>
              </a:spcBef>
              <a:buClr>
                <a:srgbClr val="FF0000"/>
              </a:buClr>
              <a:buFont typeface="Wingdings" panose="05000000000000000000" pitchFamily="2" charset="2"/>
              <a:buChar char="Ø"/>
            </a:pPr>
            <a:r>
              <a:rPr lang="zh-CN" altLang="en-US" sz="2800" dirty="0">
                <a:latin typeface="Times New Roman" panose="02020603050405020304" pitchFamily="18" charset="0"/>
              </a:rPr>
              <a:t> 绝缘栅型</a:t>
            </a:r>
            <a:endParaRPr lang="en-US" altLang="zh-CN" sz="2800" dirty="0">
              <a:latin typeface="Times New Roman" panose="02020603050405020304" pitchFamily="18" charset="0"/>
            </a:endParaRPr>
          </a:p>
        </p:txBody>
      </p:sp>
      <p:sp>
        <p:nvSpPr>
          <p:cNvPr id="2391069" name="Text Box 29"/>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4344" name="Text Box 30"/>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4345" name="Text Box 31"/>
          <p:cNvSpPr txBox="1"/>
          <p:nvPr/>
        </p:nvSpPr>
        <p:spPr>
          <a:xfrm>
            <a:off x="692150" y="5322888"/>
            <a:ext cx="3832225"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集成电路开关 </a:t>
            </a:r>
            <a:endParaRPr lang="zh-CN" altLang="en-US" sz="2800" dirty="0">
              <a:solidFill>
                <a:srgbClr val="3333FF"/>
              </a:solidFill>
              <a:latin typeface="楷体_GB2312" pitchFamily="49" charset="-122"/>
            </a:endParaRPr>
          </a:p>
        </p:txBody>
      </p:sp>
      <p:pic>
        <p:nvPicPr>
          <p:cNvPr id="2391073" name="Picture 33" descr="2219064_6"/>
          <p:cNvPicPr>
            <a:picLocks noChangeAspect="1"/>
          </p:cNvPicPr>
          <p:nvPr/>
        </p:nvPicPr>
        <p:blipFill>
          <a:blip r:embed="rId1"/>
          <a:stretch>
            <a:fillRect/>
          </a:stretch>
        </p:blipFill>
        <p:spPr>
          <a:xfrm>
            <a:off x="4524375" y="2286000"/>
            <a:ext cx="4476750" cy="2952750"/>
          </a:xfrm>
          <a:prstGeom prst="rect">
            <a:avLst/>
          </a:prstGeom>
          <a:noFill/>
          <a:ln w="9525">
            <a:noFill/>
          </a:ln>
        </p:spPr>
      </p:pic>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50">
                                            <p:txEl>
                                              <p:charRg st="0" end="10"/>
                                            </p:txEl>
                                          </p:spTgt>
                                        </p:tgtEl>
                                        <p:attrNameLst>
                                          <p:attrName>style.visibility</p:attrName>
                                        </p:attrNameLst>
                                      </p:cBhvr>
                                      <p:to>
                                        <p:strVal val="visible"/>
                                      </p:to>
                                    </p:set>
                                    <p:animEffect transition="in" filter="dissolve">
                                      <p:cBhvr>
                                        <p:cTn id="7" dur="500"/>
                                        <p:tgtEl>
                                          <p:spTgt spid="6150">
                                            <p:txEl>
                                              <p:charRg st="0" end="1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150">
                                            <p:txEl>
                                              <p:charRg st="10" end="24"/>
                                            </p:txEl>
                                          </p:spTgt>
                                        </p:tgtEl>
                                        <p:attrNameLst>
                                          <p:attrName>style.visibility</p:attrName>
                                        </p:attrNameLst>
                                      </p:cBhvr>
                                      <p:to>
                                        <p:strVal val="visible"/>
                                      </p:to>
                                    </p:set>
                                    <p:animEffect transition="in" filter="dissolve">
                                      <p:cBhvr>
                                        <p:cTn id="10" dur="500"/>
                                        <p:tgtEl>
                                          <p:spTgt spid="6150">
                                            <p:txEl>
                                              <p:charRg st="10" end="2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150">
                                            <p:txEl>
                                              <p:charRg st="24" end="30"/>
                                            </p:txEl>
                                          </p:spTgt>
                                        </p:tgtEl>
                                        <p:attrNameLst>
                                          <p:attrName>style.visibility</p:attrName>
                                        </p:attrNameLst>
                                      </p:cBhvr>
                                      <p:to>
                                        <p:strVal val="visible"/>
                                      </p:to>
                                    </p:set>
                                    <p:animEffect transition="in" filter="dissolve">
                                      <p:cBhvr>
                                        <p:cTn id="13" dur="500"/>
                                        <p:tgtEl>
                                          <p:spTgt spid="6150">
                                            <p:txEl>
                                              <p:charRg st="24" end="3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391074"/>
                                        </p:tgtEl>
                                        <p:attrNameLst>
                                          <p:attrName>style.visibility</p:attrName>
                                        </p:attrNameLst>
                                      </p:cBhvr>
                                      <p:to>
                                        <p:strVal val="visible"/>
                                      </p:to>
                                    </p:set>
                                    <p:animEffect transition="in" filter="dissolve">
                                      <p:cBhvr>
                                        <p:cTn id="18" dur="500"/>
                                        <p:tgtEl>
                                          <p:spTgt spid="2391074"/>
                                        </p:tgtEl>
                                      </p:cBhvr>
                                    </p:animEffect>
                                  </p:childTnLst>
                                </p:cTn>
                              </p:par>
                              <p:par>
                                <p:cTn id="19" presetID="9" presetClass="entr" presetSubtype="0" fill="hold" nodeType="withEffect">
                                  <p:stCondLst>
                                    <p:cond delay="0"/>
                                  </p:stCondLst>
                                  <p:childTnLst>
                                    <p:set>
                                      <p:cBhvr>
                                        <p:cTn id="20" dur="1" fill="hold">
                                          <p:stCondLst>
                                            <p:cond delay="0"/>
                                          </p:stCondLst>
                                        </p:cTn>
                                        <p:tgtEl>
                                          <p:spTgt spid="2391073"/>
                                        </p:tgtEl>
                                        <p:attrNameLst>
                                          <p:attrName>style.visibility</p:attrName>
                                        </p:attrNameLst>
                                      </p:cBhvr>
                                      <p:to>
                                        <p:strVal val="visible"/>
                                      </p:to>
                                    </p:set>
                                    <p:animEffect transition="in" filter="dissolve">
                                      <p:cBhvr>
                                        <p:cTn id="21" dur="500"/>
                                        <p:tgtEl>
                                          <p:spTgt spid="23910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1074"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2066" name="Rectangle 2"/>
          <p:cNvSpPr/>
          <p:nvPr/>
        </p:nvSpPr>
        <p:spPr>
          <a:xfrm>
            <a:off x="4573588" y="2333625"/>
            <a:ext cx="4197350" cy="3638550"/>
          </a:xfrm>
          <a:prstGeom prst="rect">
            <a:avLst/>
          </a:prstGeom>
          <a:solidFill>
            <a:srgbClr val="FFFF99"/>
          </a:solid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5363" name="Text Box 3"/>
          <p:cNvSpPr txBox="1"/>
          <p:nvPr/>
        </p:nvSpPr>
        <p:spPr>
          <a:xfrm>
            <a:off x="650875" y="2357438"/>
            <a:ext cx="3863975"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 </a:t>
            </a:r>
            <a:endParaRPr lang="zh-CN" altLang="en-US" sz="2800" dirty="0">
              <a:solidFill>
                <a:srgbClr val="3333FF"/>
              </a:solidFill>
              <a:latin typeface="楷体_GB2312" pitchFamily="49" charset="-122"/>
            </a:endParaRPr>
          </a:p>
        </p:txBody>
      </p:sp>
      <p:sp>
        <p:nvSpPr>
          <p:cNvPr id="15364" name="Text Box 4"/>
          <p:cNvSpPr txBox="1"/>
          <p:nvPr/>
        </p:nvSpPr>
        <p:spPr>
          <a:xfrm>
            <a:off x="485775" y="1676400"/>
            <a:ext cx="4924425"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15365" name="Text Box 5"/>
          <p:cNvSpPr txBox="1"/>
          <p:nvPr/>
        </p:nvSpPr>
        <p:spPr>
          <a:xfrm>
            <a:off x="647700" y="2963863"/>
            <a:ext cx="3856038"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7174" name="Text Box 6"/>
          <p:cNvSpPr txBox="1"/>
          <p:nvPr/>
        </p:nvSpPr>
        <p:spPr>
          <a:xfrm>
            <a:off x="692150" y="3638550"/>
            <a:ext cx="3984625" cy="1630363"/>
          </a:xfrm>
          <a:prstGeom prst="rect">
            <a:avLst/>
          </a:prstGeom>
          <a:noFill/>
          <a:ln w="9525">
            <a:noFill/>
          </a:ln>
        </p:spPr>
        <p:txBody>
          <a:bodyPr>
            <a:spAutoFit/>
          </a:bodyPr>
          <a:p>
            <a:pPr eaLnBrk="1" hangingPunct="1">
              <a:spcBef>
                <a:spcPct val="3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latin typeface="Times New Roman" panose="02020603050405020304" pitchFamily="18" charset="0"/>
              </a:rPr>
              <a:t>结型</a:t>
            </a:r>
            <a:endParaRPr lang="zh-CN" altLang="en-US" sz="2800" dirty="0">
              <a:latin typeface="Times New Roman" panose="02020603050405020304" pitchFamily="18" charset="0"/>
            </a:endParaRPr>
          </a:p>
          <a:p>
            <a:pPr eaLnBrk="1" hangingPunct="1">
              <a:spcBef>
                <a:spcPct val="30000"/>
              </a:spcBef>
              <a:buClr>
                <a:srgbClr val="FF0000"/>
              </a:buClr>
              <a:buFont typeface="Wingdings" panose="05000000000000000000" pitchFamily="2" charset="2"/>
              <a:buChar char="Ø"/>
            </a:pPr>
            <a:r>
              <a:rPr lang="zh-CN" altLang="en-US" sz="2800" dirty="0">
                <a:latin typeface="Times New Roman" panose="02020603050405020304" pitchFamily="18" charset="0"/>
              </a:rPr>
              <a:t> </a:t>
            </a:r>
            <a:r>
              <a:rPr lang="zh-CN" altLang="en-US" sz="2800" dirty="0">
                <a:solidFill>
                  <a:srgbClr val="FF0000"/>
                </a:solidFill>
                <a:latin typeface="Times New Roman" panose="02020603050405020304" pitchFamily="18" charset="0"/>
              </a:rPr>
              <a:t>绝缘栅型</a:t>
            </a:r>
            <a:r>
              <a:rPr lang="en-US" altLang="zh-CN" sz="2800" dirty="0">
                <a:solidFill>
                  <a:srgbClr val="FF0000"/>
                </a:solidFill>
                <a:latin typeface="Times New Roman" panose="02020603050405020304" pitchFamily="18" charset="0"/>
              </a:rPr>
              <a:t>(MOSFET)</a:t>
            </a:r>
            <a:endParaRPr lang="en-US" altLang="zh-CN" sz="2800" dirty="0">
              <a:solidFill>
                <a:srgbClr val="FF0000"/>
              </a:solidFill>
              <a:latin typeface="Times New Roman" panose="02020603050405020304" pitchFamily="18" charset="0"/>
            </a:endParaRPr>
          </a:p>
          <a:p>
            <a:pPr eaLnBrk="1" hangingPunct="1">
              <a:spcBef>
                <a:spcPct val="30000"/>
              </a:spcBef>
              <a:buClr>
                <a:srgbClr val="FF0000"/>
              </a:buClr>
              <a:buFont typeface="Wingdings" panose="05000000000000000000" pitchFamily="2" charset="2"/>
            </a:pPr>
            <a:r>
              <a:rPr lang="en-US" altLang="zh-CN" sz="2800" dirty="0">
                <a:solidFill>
                  <a:srgbClr val="FF0000"/>
                </a:solidFill>
                <a:latin typeface="Times New Roman" panose="02020603050405020304" pitchFamily="18" charset="0"/>
              </a:rPr>
              <a:t>    </a:t>
            </a:r>
            <a:r>
              <a:rPr lang="zh-CN" altLang="en-US" sz="2800" dirty="0">
                <a:solidFill>
                  <a:srgbClr val="FF0000"/>
                </a:solidFill>
                <a:latin typeface="Times New Roman" panose="02020603050405020304" pitchFamily="18" charset="0"/>
              </a:rPr>
              <a:t>（增强型、耗尽型）</a:t>
            </a:r>
            <a:endParaRPr lang="zh-CN" altLang="en-US" sz="2800" dirty="0">
              <a:solidFill>
                <a:srgbClr val="FF0000"/>
              </a:solidFill>
              <a:latin typeface="Times New Roman" panose="02020603050405020304" pitchFamily="18" charset="0"/>
            </a:endParaRPr>
          </a:p>
        </p:txBody>
      </p:sp>
      <p:sp>
        <p:nvSpPr>
          <p:cNvPr id="2392071" name="Text Box 7"/>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5368" name="Text Box 8"/>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5369" name="Text Box 9"/>
          <p:cNvSpPr txBox="1"/>
          <p:nvPr/>
        </p:nvSpPr>
        <p:spPr>
          <a:xfrm>
            <a:off x="692150" y="5394325"/>
            <a:ext cx="3887788"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集成电路开关 </a:t>
            </a:r>
            <a:endParaRPr lang="zh-CN" altLang="en-US" sz="2800" dirty="0">
              <a:solidFill>
                <a:srgbClr val="3333FF"/>
              </a:solidFill>
              <a:latin typeface="楷体_GB2312" pitchFamily="49" charset="-122"/>
            </a:endParaRPr>
          </a:p>
        </p:txBody>
      </p:sp>
      <p:sp>
        <p:nvSpPr>
          <p:cNvPr id="2392076" name="Line 12"/>
          <p:cNvSpPr/>
          <p:nvPr/>
        </p:nvSpPr>
        <p:spPr>
          <a:xfrm flipH="1">
            <a:off x="5651500" y="3098800"/>
            <a:ext cx="0" cy="466725"/>
          </a:xfrm>
          <a:prstGeom prst="line">
            <a:avLst/>
          </a:prstGeom>
          <a:ln w="25400" cap="flat" cmpd="sng">
            <a:solidFill>
              <a:schemeClr val="tx1"/>
            </a:solidFill>
            <a:prstDash val="solid"/>
            <a:headEnd type="none" w="med" len="med"/>
            <a:tailEnd type="none" w="med" len="med"/>
          </a:ln>
        </p:spPr>
      </p:sp>
      <p:sp>
        <p:nvSpPr>
          <p:cNvPr id="2392077" name="Line 13"/>
          <p:cNvSpPr/>
          <p:nvPr/>
        </p:nvSpPr>
        <p:spPr>
          <a:xfrm>
            <a:off x="5572125" y="3211513"/>
            <a:ext cx="0" cy="247650"/>
          </a:xfrm>
          <a:prstGeom prst="line">
            <a:avLst/>
          </a:prstGeom>
          <a:ln w="25400" cap="flat" cmpd="sng">
            <a:solidFill>
              <a:schemeClr val="tx1"/>
            </a:solidFill>
            <a:prstDash val="solid"/>
            <a:headEnd type="none" w="med" len="med"/>
            <a:tailEnd type="none" w="med" len="med"/>
          </a:ln>
        </p:spPr>
      </p:sp>
      <p:sp>
        <p:nvSpPr>
          <p:cNvPr id="2392078" name="Line 14"/>
          <p:cNvSpPr/>
          <p:nvPr/>
        </p:nvSpPr>
        <p:spPr>
          <a:xfrm>
            <a:off x="5659438" y="3184525"/>
            <a:ext cx="287337" cy="0"/>
          </a:xfrm>
          <a:prstGeom prst="line">
            <a:avLst/>
          </a:prstGeom>
          <a:ln w="25400" cap="flat" cmpd="sng">
            <a:solidFill>
              <a:schemeClr val="tx1"/>
            </a:solidFill>
            <a:prstDash val="solid"/>
            <a:headEnd type="none" w="med" len="med"/>
            <a:tailEnd type="none" w="med" len="med"/>
          </a:ln>
        </p:spPr>
      </p:sp>
      <p:sp>
        <p:nvSpPr>
          <p:cNvPr id="2392079" name="Line 15"/>
          <p:cNvSpPr/>
          <p:nvPr/>
        </p:nvSpPr>
        <p:spPr>
          <a:xfrm>
            <a:off x="5661025" y="3476625"/>
            <a:ext cx="287338" cy="0"/>
          </a:xfrm>
          <a:prstGeom prst="line">
            <a:avLst/>
          </a:prstGeom>
          <a:ln w="25400" cap="flat" cmpd="sng">
            <a:solidFill>
              <a:schemeClr val="tx1"/>
            </a:solidFill>
            <a:prstDash val="solid"/>
            <a:headEnd type="none" w="med" len="med"/>
            <a:tailEnd type="none" w="med" len="med"/>
          </a:ln>
        </p:spPr>
      </p:sp>
      <p:sp>
        <p:nvSpPr>
          <p:cNvPr id="2392080" name="Line 16"/>
          <p:cNvSpPr/>
          <p:nvPr/>
        </p:nvSpPr>
        <p:spPr>
          <a:xfrm>
            <a:off x="5659438" y="3336925"/>
            <a:ext cx="282575" cy="0"/>
          </a:xfrm>
          <a:prstGeom prst="line">
            <a:avLst/>
          </a:prstGeom>
          <a:ln w="25400" cap="flat" cmpd="sng">
            <a:solidFill>
              <a:schemeClr val="tx1"/>
            </a:solidFill>
            <a:prstDash val="solid"/>
            <a:headEnd type="stealth" w="lg" len="lg"/>
            <a:tailEnd type="none" w="med" len="med"/>
          </a:ln>
        </p:spPr>
      </p:sp>
      <p:sp>
        <p:nvSpPr>
          <p:cNvPr id="2392081" name="Line 17"/>
          <p:cNvSpPr/>
          <p:nvPr/>
        </p:nvSpPr>
        <p:spPr>
          <a:xfrm>
            <a:off x="5141913" y="3336925"/>
            <a:ext cx="427037" cy="0"/>
          </a:xfrm>
          <a:prstGeom prst="line">
            <a:avLst/>
          </a:prstGeom>
          <a:ln w="25400" cap="flat" cmpd="sng">
            <a:solidFill>
              <a:schemeClr val="tx1"/>
            </a:solidFill>
            <a:prstDash val="solid"/>
            <a:headEnd type="none" w="med" len="med"/>
            <a:tailEnd type="none" w="med" len="med"/>
          </a:ln>
        </p:spPr>
      </p:sp>
      <p:sp>
        <p:nvSpPr>
          <p:cNvPr id="2392082" name="Line 18"/>
          <p:cNvSpPr/>
          <p:nvPr/>
        </p:nvSpPr>
        <p:spPr>
          <a:xfrm flipH="1">
            <a:off x="5934075" y="2711450"/>
            <a:ext cx="0" cy="466725"/>
          </a:xfrm>
          <a:prstGeom prst="line">
            <a:avLst/>
          </a:prstGeom>
          <a:ln w="25400" cap="flat" cmpd="sng">
            <a:solidFill>
              <a:schemeClr val="tx1"/>
            </a:solidFill>
            <a:prstDash val="solid"/>
            <a:headEnd type="none" w="med" len="med"/>
            <a:tailEnd type="none" w="med" len="med"/>
          </a:ln>
        </p:spPr>
      </p:sp>
      <p:sp>
        <p:nvSpPr>
          <p:cNvPr id="2392083" name="Line 19"/>
          <p:cNvSpPr/>
          <p:nvPr/>
        </p:nvSpPr>
        <p:spPr>
          <a:xfrm flipH="1">
            <a:off x="5937250" y="3470275"/>
            <a:ext cx="0" cy="466725"/>
          </a:xfrm>
          <a:prstGeom prst="line">
            <a:avLst/>
          </a:prstGeom>
          <a:ln w="25400" cap="flat" cmpd="sng">
            <a:solidFill>
              <a:schemeClr val="tx1"/>
            </a:solidFill>
            <a:prstDash val="solid"/>
            <a:headEnd type="none" w="med" len="med"/>
            <a:tailEnd type="none" w="med" len="med"/>
          </a:ln>
        </p:spPr>
      </p:sp>
      <p:sp>
        <p:nvSpPr>
          <p:cNvPr id="2392084" name="Text Box 20"/>
          <p:cNvSpPr txBox="1"/>
          <p:nvPr/>
        </p:nvSpPr>
        <p:spPr>
          <a:xfrm>
            <a:off x="5127625" y="3048000"/>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G</a:t>
            </a:r>
            <a:endParaRPr lang="en-US" altLang="zh-CN" sz="1600" dirty="0">
              <a:solidFill>
                <a:srgbClr val="FF0000"/>
              </a:solidFill>
              <a:latin typeface="Times New Roman" panose="02020603050405020304" pitchFamily="18" charset="0"/>
            </a:endParaRPr>
          </a:p>
        </p:txBody>
      </p:sp>
      <p:sp>
        <p:nvSpPr>
          <p:cNvPr id="2392085" name="Text Box 21"/>
          <p:cNvSpPr txBox="1"/>
          <p:nvPr/>
        </p:nvSpPr>
        <p:spPr>
          <a:xfrm>
            <a:off x="5897563" y="3659188"/>
            <a:ext cx="355600"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S</a:t>
            </a:r>
            <a:endParaRPr lang="en-US" altLang="zh-CN" sz="1600" dirty="0">
              <a:solidFill>
                <a:srgbClr val="FF0000"/>
              </a:solidFill>
              <a:latin typeface="Times New Roman" panose="02020603050405020304" pitchFamily="18" charset="0"/>
            </a:endParaRPr>
          </a:p>
        </p:txBody>
      </p:sp>
      <p:sp>
        <p:nvSpPr>
          <p:cNvPr id="2392086" name="Text Box 22"/>
          <p:cNvSpPr txBox="1"/>
          <p:nvPr/>
        </p:nvSpPr>
        <p:spPr>
          <a:xfrm>
            <a:off x="5895975" y="2706688"/>
            <a:ext cx="355600"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D</a:t>
            </a:r>
            <a:endParaRPr lang="en-US" altLang="zh-CN" sz="1600" dirty="0">
              <a:solidFill>
                <a:srgbClr val="FF0000"/>
              </a:solidFill>
              <a:latin typeface="Times New Roman" panose="02020603050405020304" pitchFamily="18" charset="0"/>
            </a:endParaRPr>
          </a:p>
        </p:txBody>
      </p:sp>
      <p:sp>
        <p:nvSpPr>
          <p:cNvPr id="2392087" name="Line 23"/>
          <p:cNvSpPr/>
          <p:nvPr/>
        </p:nvSpPr>
        <p:spPr>
          <a:xfrm flipH="1">
            <a:off x="7700963" y="3092450"/>
            <a:ext cx="0" cy="466725"/>
          </a:xfrm>
          <a:prstGeom prst="line">
            <a:avLst/>
          </a:prstGeom>
          <a:ln w="25400" cap="flat" cmpd="sng">
            <a:solidFill>
              <a:schemeClr val="tx1"/>
            </a:solidFill>
            <a:prstDash val="solid"/>
            <a:headEnd type="none" w="med" len="med"/>
            <a:tailEnd type="none" w="med" len="med"/>
          </a:ln>
        </p:spPr>
      </p:sp>
      <p:sp>
        <p:nvSpPr>
          <p:cNvPr id="2392088" name="Line 24"/>
          <p:cNvSpPr/>
          <p:nvPr/>
        </p:nvSpPr>
        <p:spPr>
          <a:xfrm>
            <a:off x="7621588" y="3205163"/>
            <a:ext cx="0" cy="247650"/>
          </a:xfrm>
          <a:prstGeom prst="line">
            <a:avLst/>
          </a:prstGeom>
          <a:ln w="25400" cap="flat" cmpd="sng">
            <a:solidFill>
              <a:schemeClr val="tx1"/>
            </a:solidFill>
            <a:prstDash val="solid"/>
            <a:headEnd type="none" w="med" len="med"/>
            <a:tailEnd type="none" w="med" len="med"/>
          </a:ln>
        </p:spPr>
      </p:sp>
      <p:sp>
        <p:nvSpPr>
          <p:cNvPr id="2392089" name="Line 25"/>
          <p:cNvSpPr/>
          <p:nvPr/>
        </p:nvSpPr>
        <p:spPr>
          <a:xfrm>
            <a:off x="7708900" y="3178175"/>
            <a:ext cx="287338" cy="0"/>
          </a:xfrm>
          <a:prstGeom prst="line">
            <a:avLst/>
          </a:prstGeom>
          <a:ln w="25400" cap="flat" cmpd="sng">
            <a:solidFill>
              <a:schemeClr val="tx1"/>
            </a:solidFill>
            <a:prstDash val="solid"/>
            <a:headEnd type="none" w="med" len="med"/>
            <a:tailEnd type="none" w="med" len="med"/>
          </a:ln>
        </p:spPr>
      </p:sp>
      <p:sp>
        <p:nvSpPr>
          <p:cNvPr id="2392090" name="Line 26"/>
          <p:cNvSpPr/>
          <p:nvPr/>
        </p:nvSpPr>
        <p:spPr>
          <a:xfrm>
            <a:off x="7710488" y="3470275"/>
            <a:ext cx="287337" cy="0"/>
          </a:xfrm>
          <a:prstGeom prst="line">
            <a:avLst/>
          </a:prstGeom>
          <a:ln w="25400" cap="flat" cmpd="sng">
            <a:solidFill>
              <a:schemeClr val="tx1"/>
            </a:solidFill>
            <a:prstDash val="solid"/>
            <a:headEnd type="none" w="med" len="med"/>
            <a:tailEnd type="none" w="med" len="med"/>
          </a:ln>
        </p:spPr>
      </p:sp>
      <p:sp>
        <p:nvSpPr>
          <p:cNvPr id="2392091" name="Line 27"/>
          <p:cNvSpPr/>
          <p:nvPr/>
        </p:nvSpPr>
        <p:spPr>
          <a:xfrm>
            <a:off x="7708900" y="3330575"/>
            <a:ext cx="282575" cy="0"/>
          </a:xfrm>
          <a:prstGeom prst="line">
            <a:avLst/>
          </a:prstGeom>
          <a:ln w="25400" cap="flat" cmpd="sng">
            <a:solidFill>
              <a:schemeClr val="tx1"/>
            </a:solidFill>
            <a:prstDash val="solid"/>
            <a:headEnd type="none" w="lg" len="lg"/>
            <a:tailEnd type="stealth" w="lg" len="lg"/>
          </a:ln>
        </p:spPr>
      </p:sp>
      <p:sp>
        <p:nvSpPr>
          <p:cNvPr id="2392092" name="Line 28"/>
          <p:cNvSpPr/>
          <p:nvPr/>
        </p:nvSpPr>
        <p:spPr>
          <a:xfrm>
            <a:off x="7191375" y="3330575"/>
            <a:ext cx="427038" cy="0"/>
          </a:xfrm>
          <a:prstGeom prst="line">
            <a:avLst/>
          </a:prstGeom>
          <a:ln w="25400" cap="flat" cmpd="sng">
            <a:solidFill>
              <a:schemeClr val="tx1"/>
            </a:solidFill>
            <a:prstDash val="solid"/>
            <a:headEnd type="none" w="med" len="med"/>
            <a:tailEnd type="none" w="med" len="med"/>
          </a:ln>
        </p:spPr>
      </p:sp>
      <p:sp>
        <p:nvSpPr>
          <p:cNvPr id="2392093" name="Line 29"/>
          <p:cNvSpPr/>
          <p:nvPr/>
        </p:nvSpPr>
        <p:spPr>
          <a:xfrm flipH="1">
            <a:off x="7983538" y="2705100"/>
            <a:ext cx="0" cy="466725"/>
          </a:xfrm>
          <a:prstGeom prst="line">
            <a:avLst/>
          </a:prstGeom>
          <a:ln w="25400" cap="flat" cmpd="sng">
            <a:solidFill>
              <a:schemeClr val="tx1"/>
            </a:solidFill>
            <a:prstDash val="solid"/>
            <a:headEnd type="none" w="med" len="med"/>
            <a:tailEnd type="none" w="med" len="med"/>
          </a:ln>
        </p:spPr>
      </p:sp>
      <p:sp>
        <p:nvSpPr>
          <p:cNvPr id="2392094" name="Line 30"/>
          <p:cNvSpPr/>
          <p:nvPr/>
        </p:nvSpPr>
        <p:spPr>
          <a:xfrm flipH="1">
            <a:off x="7986713" y="3463925"/>
            <a:ext cx="0" cy="466725"/>
          </a:xfrm>
          <a:prstGeom prst="line">
            <a:avLst/>
          </a:prstGeom>
          <a:ln w="25400" cap="flat" cmpd="sng">
            <a:solidFill>
              <a:schemeClr val="tx1"/>
            </a:solidFill>
            <a:prstDash val="solid"/>
            <a:headEnd type="none" w="med" len="med"/>
            <a:tailEnd type="none" w="med" len="med"/>
          </a:ln>
        </p:spPr>
      </p:sp>
      <p:sp>
        <p:nvSpPr>
          <p:cNvPr id="2392095" name="Text Box 31"/>
          <p:cNvSpPr txBox="1"/>
          <p:nvPr/>
        </p:nvSpPr>
        <p:spPr>
          <a:xfrm>
            <a:off x="7177088" y="3041650"/>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G</a:t>
            </a:r>
            <a:endParaRPr lang="en-US" altLang="zh-CN" sz="1600" dirty="0">
              <a:solidFill>
                <a:srgbClr val="FF0000"/>
              </a:solidFill>
              <a:latin typeface="Times New Roman" panose="02020603050405020304" pitchFamily="18" charset="0"/>
            </a:endParaRPr>
          </a:p>
        </p:txBody>
      </p:sp>
      <p:sp>
        <p:nvSpPr>
          <p:cNvPr id="2392096" name="Text Box 32"/>
          <p:cNvSpPr txBox="1"/>
          <p:nvPr/>
        </p:nvSpPr>
        <p:spPr>
          <a:xfrm>
            <a:off x="7947025" y="3652838"/>
            <a:ext cx="355600"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S</a:t>
            </a:r>
            <a:endParaRPr lang="en-US" altLang="zh-CN" sz="1600" dirty="0">
              <a:solidFill>
                <a:srgbClr val="FF0000"/>
              </a:solidFill>
              <a:latin typeface="Times New Roman" panose="02020603050405020304" pitchFamily="18" charset="0"/>
            </a:endParaRPr>
          </a:p>
        </p:txBody>
      </p:sp>
      <p:sp>
        <p:nvSpPr>
          <p:cNvPr id="2392097" name="Text Box 33"/>
          <p:cNvSpPr txBox="1"/>
          <p:nvPr/>
        </p:nvSpPr>
        <p:spPr>
          <a:xfrm>
            <a:off x="7945438" y="2700338"/>
            <a:ext cx="355600"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D</a:t>
            </a:r>
            <a:endParaRPr lang="en-US" altLang="zh-CN" sz="1600" dirty="0">
              <a:solidFill>
                <a:srgbClr val="FF0000"/>
              </a:solidFill>
              <a:latin typeface="Times New Roman" panose="02020603050405020304" pitchFamily="18" charset="0"/>
            </a:endParaRPr>
          </a:p>
        </p:txBody>
      </p:sp>
      <p:sp>
        <p:nvSpPr>
          <p:cNvPr id="2392098" name="Line 34"/>
          <p:cNvSpPr/>
          <p:nvPr/>
        </p:nvSpPr>
        <p:spPr>
          <a:xfrm flipH="1">
            <a:off x="5653088" y="4656138"/>
            <a:ext cx="0" cy="466725"/>
          </a:xfrm>
          <a:prstGeom prst="line">
            <a:avLst/>
          </a:prstGeom>
          <a:ln w="25400" cap="flat" cmpd="sng">
            <a:solidFill>
              <a:schemeClr val="tx1"/>
            </a:solidFill>
            <a:prstDash val="dash"/>
            <a:headEnd type="none" w="med" len="med"/>
            <a:tailEnd type="none" w="med" len="med"/>
          </a:ln>
        </p:spPr>
      </p:sp>
      <p:sp>
        <p:nvSpPr>
          <p:cNvPr id="2392099" name="Line 35"/>
          <p:cNvSpPr/>
          <p:nvPr/>
        </p:nvSpPr>
        <p:spPr>
          <a:xfrm>
            <a:off x="5573713" y="4768850"/>
            <a:ext cx="0" cy="247650"/>
          </a:xfrm>
          <a:prstGeom prst="line">
            <a:avLst/>
          </a:prstGeom>
          <a:ln w="25400" cap="flat" cmpd="sng">
            <a:solidFill>
              <a:schemeClr val="tx1"/>
            </a:solidFill>
            <a:prstDash val="solid"/>
            <a:headEnd type="none" w="med" len="med"/>
            <a:tailEnd type="none" w="med" len="med"/>
          </a:ln>
        </p:spPr>
      </p:sp>
      <p:sp>
        <p:nvSpPr>
          <p:cNvPr id="2392100" name="Line 36"/>
          <p:cNvSpPr/>
          <p:nvPr/>
        </p:nvSpPr>
        <p:spPr>
          <a:xfrm>
            <a:off x="5661025" y="4741863"/>
            <a:ext cx="287338" cy="0"/>
          </a:xfrm>
          <a:prstGeom prst="line">
            <a:avLst/>
          </a:prstGeom>
          <a:ln w="25400" cap="flat" cmpd="sng">
            <a:solidFill>
              <a:schemeClr val="tx1"/>
            </a:solidFill>
            <a:prstDash val="solid"/>
            <a:headEnd type="none" w="med" len="med"/>
            <a:tailEnd type="none" w="med" len="med"/>
          </a:ln>
        </p:spPr>
      </p:sp>
      <p:sp>
        <p:nvSpPr>
          <p:cNvPr id="2392101" name="Line 37"/>
          <p:cNvSpPr/>
          <p:nvPr/>
        </p:nvSpPr>
        <p:spPr>
          <a:xfrm>
            <a:off x="5662613" y="5033963"/>
            <a:ext cx="287337" cy="0"/>
          </a:xfrm>
          <a:prstGeom prst="line">
            <a:avLst/>
          </a:prstGeom>
          <a:ln w="25400" cap="flat" cmpd="sng">
            <a:solidFill>
              <a:schemeClr val="tx1"/>
            </a:solidFill>
            <a:prstDash val="solid"/>
            <a:headEnd type="none" w="med" len="med"/>
            <a:tailEnd type="none" w="med" len="med"/>
          </a:ln>
        </p:spPr>
      </p:sp>
      <p:sp>
        <p:nvSpPr>
          <p:cNvPr id="2392102" name="Line 38"/>
          <p:cNvSpPr/>
          <p:nvPr/>
        </p:nvSpPr>
        <p:spPr>
          <a:xfrm>
            <a:off x="5661025" y="4894263"/>
            <a:ext cx="282575" cy="0"/>
          </a:xfrm>
          <a:prstGeom prst="line">
            <a:avLst/>
          </a:prstGeom>
          <a:ln w="25400" cap="flat" cmpd="sng">
            <a:solidFill>
              <a:schemeClr val="tx1"/>
            </a:solidFill>
            <a:prstDash val="solid"/>
            <a:headEnd type="stealth" w="lg" len="lg"/>
            <a:tailEnd type="none" w="med" len="med"/>
          </a:ln>
        </p:spPr>
      </p:sp>
      <p:sp>
        <p:nvSpPr>
          <p:cNvPr id="2392103" name="Line 39"/>
          <p:cNvSpPr/>
          <p:nvPr/>
        </p:nvSpPr>
        <p:spPr>
          <a:xfrm>
            <a:off x="5143500" y="4997450"/>
            <a:ext cx="427038" cy="0"/>
          </a:xfrm>
          <a:prstGeom prst="line">
            <a:avLst/>
          </a:prstGeom>
          <a:ln w="25400" cap="flat" cmpd="sng">
            <a:solidFill>
              <a:schemeClr val="tx1"/>
            </a:solidFill>
            <a:prstDash val="solid"/>
            <a:headEnd type="none" w="med" len="med"/>
            <a:tailEnd type="none" w="med" len="med"/>
          </a:ln>
        </p:spPr>
      </p:sp>
      <p:sp>
        <p:nvSpPr>
          <p:cNvPr id="2392104" name="Line 40"/>
          <p:cNvSpPr/>
          <p:nvPr/>
        </p:nvSpPr>
        <p:spPr>
          <a:xfrm flipH="1">
            <a:off x="5935663" y="4268788"/>
            <a:ext cx="0" cy="466725"/>
          </a:xfrm>
          <a:prstGeom prst="line">
            <a:avLst/>
          </a:prstGeom>
          <a:ln w="25400" cap="flat" cmpd="sng">
            <a:solidFill>
              <a:schemeClr val="tx1"/>
            </a:solidFill>
            <a:prstDash val="solid"/>
            <a:headEnd type="none" w="med" len="med"/>
            <a:tailEnd type="none" w="med" len="med"/>
          </a:ln>
        </p:spPr>
      </p:sp>
      <p:sp>
        <p:nvSpPr>
          <p:cNvPr id="2392105" name="Line 41"/>
          <p:cNvSpPr/>
          <p:nvPr/>
        </p:nvSpPr>
        <p:spPr>
          <a:xfrm flipH="1">
            <a:off x="5938838" y="5027613"/>
            <a:ext cx="0" cy="466725"/>
          </a:xfrm>
          <a:prstGeom prst="line">
            <a:avLst/>
          </a:prstGeom>
          <a:ln w="25400" cap="flat" cmpd="sng">
            <a:solidFill>
              <a:schemeClr val="tx1"/>
            </a:solidFill>
            <a:prstDash val="solid"/>
            <a:headEnd type="none" w="med" len="med"/>
            <a:tailEnd type="none" w="med" len="med"/>
          </a:ln>
        </p:spPr>
      </p:sp>
      <p:sp>
        <p:nvSpPr>
          <p:cNvPr id="2392106" name="Text Box 42"/>
          <p:cNvSpPr txBox="1"/>
          <p:nvPr/>
        </p:nvSpPr>
        <p:spPr>
          <a:xfrm>
            <a:off x="5129213" y="470852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G</a:t>
            </a:r>
            <a:endParaRPr lang="en-US" altLang="zh-CN" sz="1600" dirty="0">
              <a:solidFill>
                <a:srgbClr val="FF0000"/>
              </a:solidFill>
              <a:latin typeface="Times New Roman" panose="02020603050405020304" pitchFamily="18" charset="0"/>
            </a:endParaRPr>
          </a:p>
        </p:txBody>
      </p:sp>
      <p:sp>
        <p:nvSpPr>
          <p:cNvPr id="2392107" name="Text Box 43"/>
          <p:cNvSpPr txBox="1"/>
          <p:nvPr/>
        </p:nvSpPr>
        <p:spPr>
          <a:xfrm>
            <a:off x="5899150" y="521652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S</a:t>
            </a:r>
            <a:endParaRPr lang="en-US" altLang="zh-CN" sz="1600" dirty="0">
              <a:solidFill>
                <a:srgbClr val="FF0000"/>
              </a:solidFill>
              <a:latin typeface="Times New Roman" panose="02020603050405020304" pitchFamily="18" charset="0"/>
            </a:endParaRPr>
          </a:p>
        </p:txBody>
      </p:sp>
      <p:sp>
        <p:nvSpPr>
          <p:cNvPr id="2392108" name="Text Box 44"/>
          <p:cNvSpPr txBox="1"/>
          <p:nvPr/>
        </p:nvSpPr>
        <p:spPr>
          <a:xfrm>
            <a:off x="5897563" y="426402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D</a:t>
            </a:r>
            <a:endParaRPr lang="en-US" altLang="zh-CN" sz="1600" dirty="0">
              <a:solidFill>
                <a:srgbClr val="FF0000"/>
              </a:solidFill>
              <a:latin typeface="Times New Roman" panose="02020603050405020304" pitchFamily="18" charset="0"/>
            </a:endParaRPr>
          </a:p>
        </p:txBody>
      </p:sp>
      <p:sp>
        <p:nvSpPr>
          <p:cNvPr id="2392109" name="Line 45"/>
          <p:cNvSpPr/>
          <p:nvPr/>
        </p:nvSpPr>
        <p:spPr>
          <a:xfrm flipH="1">
            <a:off x="7702550" y="4649788"/>
            <a:ext cx="0" cy="466725"/>
          </a:xfrm>
          <a:prstGeom prst="line">
            <a:avLst/>
          </a:prstGeom>
          <a:ln w="25400" cap="flat" cmpd="sng">
            <a:solidFill>
              <a:schemeClr val="tx1"/>
            </a:solidFill>
            <a:prstDash val="dash"/>
            <a:headEnd type="none" w="med" len="med"/>
            <a:tailEnd type="none" w="med" len="med"/>
          </a:ln>
        </p:spPr>
      </p:sp>
      <p:sp>
        <p:nvSpPr>
          <p:cNvPr id="2392110" name="Line 46"/>
          <p:cNvSpPr/>
          <p:nvPr/>
        </p:nvSpPr>
        <p:spPr>
          <a:xfrm>
            <a:off x="7623175" y="4762500"/>
            <a:ext cx="0" cy="247650"/>
          </a:xfrm>
          <a:prstGeom prst="line">
            <a:avLst/>
          </a:prstGeom>
          <a:ln w="25400" cap="flat" cmpd="sng">
            <a:solidFill>
              <a:schemeClr val="tx1"/>
            </a:solidFill>
            <a:prstDash val="solid"/>
            <a:headEnd type="none" w="med" len="med"/>
            <a:tailEnd type="none" w="med" len="med"/>
          </a:ln>
        </p:spPr>
      </p:sp>
      <p:sp>
        <p:nvSpPr>
          <p:cNvPr id="2392111" name="Line 47"/>
          <p:cNvSpPr/>
          <p:nvPr/>
        </p:nvSpPr>
        <p:spPr>
          <a:xfrm>
            <a:off x="7710488" y="4735513"/>
            <a:ext cx="287337" cy="0"/>
          </a:xfrm>
          <a:prstGeom prst="line">
            <a:avLst/>
          </a:prstGeom>
          <a:ln w="25400" cap="flat" cmpd="sng">
            <a:solidFill>
              <a:schemeClr val="tx1"/>
            </a:solidFill>
            <a:prstDash val="solid"/>
            <a:headEnd type="none" w="med" len="med"/>
            <a:tailEnd type="none" w="med" len="med"/>
          </a:ln>
        </p:spPr>
      </p:sp>
      <p:sp>
        <p:nvSpPr>
          <p:cNvPr id="2392112" name="Line 48"/>
          <p:cNvSpPr/>
          <p:nvPr/>
        </p:nvSpPr>
        <p:spPr>
          <a:xfrm>
            <a:off x="7712075" y="5027613"/>
            <a:ext cx="287338" cy="0"/>
          </a:xfrm>
          <a:prstGeom prst="line">
            <a:avLst/>
          </a:prstGeom>
          <a:ln w="25400" cap="flat" cmpd="sng">
            <a:solidFill>
              <a:schemeClr val="tx1"/>
            </a:solidFill>
            <a:prstDash val="solid"/>
            <a:headEnd type="none" w="med" len="med"/>
            <a:tailEnd type="none" w="med" len="med"/>
          </a:ln>
        </p:spPr>
      </p:sp>
      <p:sp>
        <p:nvSpPr>
          <p:cNvPr id="2392113" name="Line 49"/>
          <p:cNvSpPr/>
          <p:nvPr/>
        </p:nvSpPr>
        <p:spPr>
          <a:xfrm>
            <a:off x="7710488" y="4887913"/>
            <a:ext cx="282575" cy="0"/>
          </a:xfrm>
          <a:prstGeom prst="line">
            <a:avLst/>
          </a:prstGeom>
          <a:ln w="25400" cap="flat" cmpd="sng">
            <a:solidFill>
              <a:schemeClr val="tx1"/>
            </a:solidFill>
            <a:prstDash val="solid"/>
            <a:headEnd type="none" w="lg" len="lg"/>
            <a:tailEnd type="stealth" w="lg" len="lg"/>
          </a:ln>
        </p:spPr>
      </p:sp>
      <p:sp>
        <p:nvSpPr>
          <p:cNvPr id="2392114" name="Line 50"/>
          <p:cNvSpPr/>
          <p:nvPr/>
        </p:nvSpPr>
        <p:spPr>
          <a:xfrm>
            <a:off x="7192963" y="4991100"/>
            <a:ext cx="427037" cy="0"/>
          </a:xfrm>
          <a:prstGeom prst="line">
            <a:avLst/>
          </a:prstGeom>
          <a:ln w="25400" cap="flat" cmpd="sng">
            <a:solidFill>
              <a:schemeClr val="tx1"/>
            </a:solidFill>
            <a:prstDash val="solid"/>
            <a:headEnd type="none" w="med" len="med"/>
            <a:tailEnd type="none" w="med" len="med"/>
          </a:ln>
        </p:spPr>
      </p:sp>
      <p:sp>
        <p:nvSpPr>
          <p:cNvPr id="2392115" name="Line 51"/>
          <p:cNvSpPr/>
          <p:nvPr/>
        </p:nvSpPr>
        <p:spPr>
          <a:xfrm flipH="1">
            <a:off x="7985125" y="4262438"/>
            <a:ext cx="0" cy="466725"/>
          </a:xfrm>
          <a:prstGeom prst="line">
            <a:avLst/>
          </a:prstGeom>
          <a:ln w="25400" cap="flat" cmpd="sng">
            <a:solidFill>
              <a:schemeClr val="tx1"/>
            </a:solidFill>
            <a:prstDash val="solid"/>
            <a:headEnd type="none" w="med" len="med"/>
            <a:tailEnd type="none" w="med" len="med"/>
          </a:ln>
        </p:spPr>
      </p:sp>
      <p:sp>
        <p:nvSpPr>
          <p:cNvPr id="2392116" name="Line 52"/>
          <p:cNvSpPr/>
          <p:nvPr/>
        </p:nvSpPr>
        <p:spPr>
          <a:xfrm flipH="1">
            <a:off x="7988300" y="5021263"/>
            <a:ext cx="0" cy="466725"/>
          </a:xfrm>
          <a:prstGeom prst="line">
            <a:avLst/>
          </a:prstGeom>
          <a:ln w="25400" cap="flat" cmpd="sng">
            <a:solidFill>
              <a:schemeClr val="tx1"/>
            </a:solidFill>
            <a:prstDash val="solid"/>
            <a:headEnd type="none" w="med" len="med"/>
            <a:tailEnd type="none" w="med" len="med"/>
          </a:ln>
        </p:spPr>
      </p:sp>
      <p:sp>
        <p:nvSpPr>
          <p:cNvPr id="2392117" name="Text Box 53"/>
          <p:cNvSpPr txBox="1"/>
          <p:nvPr/>
        </p:nvSpPr>
        <p:spPr>
          <a:xfrm>
            <a:off x="7178675" y="470217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G</a:t>
            </a:r>
            <a:endParaRPr lang="en-US" altLang="zh-CN" sz="1600" dirty="0">
              <a:solidFill>
                <a:srgbClr val="FF0000"/>
              </a:solidFill>
              <a:latin typeface="Times New Roman" panose="02020603050405020304" pitchFamily="18" charset="0"/>
            </a:endParaRPr>
          </a:p>
        </p:txBody>
      </p:sp>
      <p:sp>
        <p:nvSpPr>
          <p:cNvPr id="2392118" name="Text Box 54"/>
          <p:cNvSpPr txBox="1"/>
          <p:nvPr/>
        </p:nvSpPr>
        <p:spPr>
          <a:xfrm>
            <a:off x="7948613" y="521017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S</a:t>
            </a:r>
            <a:endParaRPr lang="en-US" altLang="zh-CN" sz="1600" dirty="0">
              <a:solidFill>
                <a:srgbClr val="FF0000"/>
              </a:solidFill>
              <a:latin typeface="Times New Roman" panose="02020603050405020304" pitchFamily="18" charset="0"/>
            </a:endParaRPr>
          </a:p>
        </p:txBody>
      </p:sp>
      <p:sp>
        <p:nvSpPr>
          <p:cNvPr id="2392119" name="Text Box 55"/>
          <p:cNvSpPr txBox="1"/>
          <p:nvPr/>
        </p:nvSpPr>
        <p:spPr>
          <a:xfrm>
            <a:off x="7947025" y="4257675"/>
            <a:ext cx="355600"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D</a:t>
            </a:r>
            <a:endParaRPr lang="en-US" altLang="zh-CN" sz="1600" dirty="0">
              <a:solidFill>
                <a:srgbClr val="FF0000"/>
              </a:solidFill>
              <a:latin typeface="Times New Roman" panose="02020603050405020304" pitchFamily="18" charset="0"/>
            </a:endParaRPr>
          </a:p>
        </p:txBody>
      </p:sp>
      <p:sp>
        <p:nvSpPr>
          <p:cNvPr id="2392120" name="Text Box 56"/>
          <p:cNvSpPr txBox="1"/>
          <p:nvPr/>
        </p:nvSpPr>
        <p:spPr>
          <a:xfrm>
            <a:off x="4856163" y="2351088"/>
            <a:ext cx="1951037" cy="366712"/>
          </a:xfrm>
          <a:prstGeom prst="rect">
            <a:avLst/>
          </a:prstGeom>
          <a:noFill/>
          <a:ln w="9525">
            <a:noFill/>
          </a:ln>
        </p:spPr>
        <p:txBody>
          <a:bodyPr>
            <a:spAutoFit/>
          </a:bodyPr>
          <a:p>
            <a:pPr eaLnBrk="1" hangingPunct="1">
              <a:lnSpc>
                <a:spcPct val="90000"/>
              </a:lnSpc>
              <a:spcBef>
                <a:spcPct val="50000"/>
              </a:spcBef>
            </a:pPr>
            <a:r>
              <a:rPr lang="en-US" altLang="zh-CN" sz="2000" dirty="0">
                <a:latin typeface="Times New Roman" panose="02020603050405020304" pitchFamily="18" charset="0"/>
              </a:rPr>
              <a:t>N</a:t>
            </a:r>
            <a:r>
              <a:rPr lang="zh-CN" altLang="en-US" sz="2000" dirty="0">
                <a:latin typeface="Times New Roman" panose="02020603050405020304" pitchFamily="18" charset="0"/>
              </a:rPr>
              <a:t>沟道耗尽型</a:t>
            </a:r>
            <a:endParaRPr lang="zh-CN" altLang="en-US" sz="2000" dirty="0">
              <a:latin typeface="Times New Roman" panose="02020603050405020304" pitchFamily="18" charset="0"/>
            </a:endParaRPr>
          </a:p>
        </p:txBody>
      </p:sp>
      <p:sp>
        <p:nvSpPr>
          <p:cNvPr id="2392121" name="Text Box 57"/>
          <p:cNvSpPr txBox="1"/>
          <p:nvPr/>
        </p:nvSpPr>
        <p:spPr>
          <a:xfrm>
            <a:off x="6931025" y="2344738"/>
            <a:ext cx="1951038" cy="366712"/>
          </a:xfrm>
          <a:prstGeom prst="rect">
            <a:avLst/>
          </a:prstGeom>
          <a:noFill/>
          <a:ln w="9525">
            <a:noFill/>
          </a:ln>
        </p:spPr>
        <p:txBody>
          <a:bodyPr>
            <a:spAutoFit/>
          </a:bodyPr>
          <a:p>
            <a:pPr eaLnBrk="1" hangingPunct="1">
              <a:lnSpc>
                <a:spcPct val="90000"/>
              </a:lnSpc>
              <a:spcBef>
                <a:spcPct val="50000"/>
              </a:spcBef>
            </a:pPr>
            <a:r>
              <a:rPr lang="en-US" altLang="zh-CN" sz="2000" dirty="0">
                <a:latin typeface="Times New Roman" panose="02020603050405020304" pitchFamily="18" charset="0"/>
              </a:rPr>
              <a:t>P</a:t>
            </a:r>
            <a:r>
              <a:rPr lang="zh-CN" altLang="en-US" sz="2000" dirty="0">
                <a:latin typeface="Times New Roman" panose="02020603050405020304" pitchFamily="18" charset="0"/>
              </a:rPr>
              <a:t>沟道耗尽型</a:t>
            </a:r>
            <a:endParaRPr lang="zh-CN" altLang="en-US" sz="2000" dirty="0">
              <a:latin typeface="Times New Roman" panose="02020603050405020304" pitchFamily="18" charset="0"/>
            </a:endParaRPr>
          </a:p>
        </p:txBody>
      </p:sp>
      <p:sp>
        <p:nvSpPr>
          <p:cNvPr id="2392122" name="Text Box 58"/>
          <p:cNvSpPr txBox="1"/>
          <p:nvPr/>
        </p:nvSpPr>
        <p:spPr>
          <a:xfrm>
            <a:off x="4872038" y="5495925"/>
            <a:ext cx="1951037" cy="366713"/>
          </a:xfrm>
          <a:prstGeom prst="rect">
            <a:avLst/>
          </a:prstGeom>
          <a:noFill/>
          <a:ln w="9525">
            <a:noFill/>
          </a:ln>
        </p:spPr>
        <p:txBody>
          <a:bodyPr>
            <a:spAutoFit/>
          </a:bodyPr>
          <a:p>
            <a:pPr eaLnBrk="1" hangingPunct="1">
              <a:lnSpc>
                <a:spcPct val="90000"/>
              </a:lnSpc>
              <a:spcBef>
                <a:spcPct val="50000"/>
              </a:spcBef>
            </a:pPr>
            <a:r>
              <a:rPr lang="en-US" altLang="zh-CN" sz="2000" dirty="0">
                <a:latin typeface="Times New Roman" panose="02020603050405020304" pitchFamily="18" charset="0"/>
              </a:rPr>
              <a:t>N</a:t>
            </a:r>
            <a:r>
              <a:rPr lang="zh-CN" altLang="en-US" sz="2000" dirty="0">
                <a:latin typeface="Times New Roman" panose="02020603050405020304" pitchFamily="18" charset="0"/>
              </a:rPr>
              <a:t>沟道增强型</a:t>
            </a:r>
            <a:endParaRPr lang="zh-CN" altLang="en-US" sz="2000" dirty="0">
              <a:latin typeface="Times New Roman" panose="02020603050405020304" pitchFamily="18" charset="0"/>
            </a:endParaRPr>
          </a:p>
        </p:txBody>
      </p:sp>
      <p:sp>
        <p:nvSpPr>
          <p:cNvPr id="2392123" name="Text Box 59"/>
          <p:cNvSpPr txBox="1"/>
          <p:nvPr/>
        </p:nvSpPr>
        <p:spPr>
          <a:xfrm>
            <a:off x="6946900" y="5489575"/>
            <a:ext cx="1951038" cy="366713"/>
          </a:xfrm>
          <a:prstGeom prst="rect">
            <a:avLst/>
          </a:prstGeom>
          <a:noFill/>
          <a:ln w="9525">
            <a:noFill/>
          </a:ln>
        </p:spPr>
        <p:txBody>
          <a:bodyPr>
            <a:spAutoFit/>
          </a:bodyPr>
          <a:p>
            <a:pPr eaLnBrk="1" hangingPunct="1">
              <a:lnSpc>
                <a:spcPct val="90000"/>
              </a:lnSpc>
              <a:spcBef>
                <a:spcPct val="50000"/>
              </a:spcBef>
            </a:pPr>
            <a:r>
              <a:rPr lang="en-US" altLang="zh-CN" sz="2000" dirty="0">
                <a:latin typeface="Times New Roman" panose="02020603050405020304" pitchFamily="18" charset="0"/>
              </a:rPr>
              <a:t>P</a:t>
            </a:r>
            <a:r>
              <a:rPr lang="zh-CN" altLang="en-US" sz="2000" dirty="0">
                <a:latin typeface="Times New Roman" panose="02020603050405020304" pitchFamily="18" charset="0"/>
              </a:rPr>
              <a:t>沟道增强型</a:t>
            </a:r>
            <a:endParaRPr lang="zh-CN" altLang="en-US" sz="2000" dirty="0">
              <a:latin typeface="Times New Roman" panose="02020603050405020304" pitchFamily="18" charset="0"/>
            </a:endParaRPr>
          </a:p>
        </p:txBody>
      </p:sp>
      <p:sp>
        <p:nvSpPr>
          <p:cNvPr id="2392124" name="Line 60"/>
          <p:cNvSpPr/>
          <p:nvPr/>
        </p:nvSpPr>
        <p:spPr>
          <a:xfrm>
            <a:off x="4579938" y="4114800"/>
            <a:ext cx="4183062" cy="0"/>
          </a:xfrm>
          <a:prstGeom prst="line">
            <a:avLst/>
          </a:prstGeom>
          <a:ln w="9525" cap="flat" cmpd="sng">
            <a:solidFill>
              <a:srgbClr val="FF9900"/>
            </a:solidFill>
            <a:prstDash val="solid"/>
            <a:headEnd type="none" w="med" len="med"/>
            <a:tailEnd type="none" w="med" len="med"/>
          </a:ln>
        </p:spPr>
      </p:sp>
      <p:sp>
        <p:nvSpPr>
          <p:cNvPr id="2392125" name="Line 61"/>
          <p:cNvSpPr/>
          <p:nvPr/>
        </p:nvSpPr>
        <p:spPr>
          <a:xfrm>
            <a:off x="6680200" y="2336800"/>
            <a:ext cx="0" cy="3632200"/>
          </a:xfrm>
          <a:prstGeom prst="line">
            <a:avLst/>
          </a:prstGeom>
          <a:ln w="9525" cap="flat" cmpd="sng">
            <a:solidFill>
              <a:srgbClr val="FF9900"/>
            </a:solidFill>
            <a:prstDash val="solid"/>
            <a:headEnd type="none" w="med" len="med"/>
            <a:tailEnd type="none" w="med" len="med"/>
          </a:ln>
        </p:spPr>
      </p:sp>
      <p:sp>
        <p:nvSpPr>
          <p:cNvPr id="2392126" name="Text Box 62"/>
          <p:cNvSpPr txBox="1"/>
          <p:nvPr/>
        </p:nvSpPr>
        <p:spPr>
          <a:xfrm>
            <a:off x="5591175" y="1592263"/>
            <a:ext cx="3157538" cy="641350"/>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2000" dirty="0">
                <a:solidFill>
                  <a:srgbClr val="FF0000"/>
                </a:solidFill>
                <a:latin typeface="Times New Roman" panose="02020603050405020304" pitchFamily="18" charset="0"/>
              </a:rPr>
              <a:t>二氧化硅为绝缘层的金属</a:t>
            </a:r>
            <a:r>
              <a:rPr lang="en-US" altLang="zh-CN" sz="2000" dirty="0">
                <a:solidFill>
                  <a:srgbClr val="FF0000"/>
                </a:solidFill>
                <a:latin typeface="Times New Roman" panose="02020603050405020304" pitchFamily="18" charset="0"/>
              </a:rPr>
              <a:t>-</a:t>
            </a:r>
            <a:r>
              <a:rPr lang="zh-CN" altLang="en-US" sz="2000" dirty="0">
                <a:solidFill>
                  <a:srgbClr val="FF0000"/>
                </a:solidFill>
                <a:latin typeface="Times New Roman" panose="02020603050405020304" pitchFamily="18" charset="0"/>
              </a:rPr>
              <a:t>氧化物</a:t>
            </a:r>
            <a:r>
              <a:rPr lang="en-US" altLang="zh-CN" sz="2000" dirty="0">
                <a:solidFill>
                  <a:srgbClr val="FF0000"/>
                </a:solidFill>
                <a:latin typeface="Times New Roman" panose="02020603050405020304" pitchFamily="18" charset="0"/>
              </a:rPr>
              <a:t>-</a:t>
            </a:r>
            <a:r>
              <a:rPr lang="zh-CN" altLang="en-US" sz="2000" dirty="0">
                <a:solidFill>
                  <a:srgbClr val="FF0000"/>
                </a:solidFill>
                <a:latin typeface="Times New Roman" panose="02020603050405020304" pitchFamily="18" charset="0"/>
              </a:rPr>
              <a:t>半导体场效应管</a:t>
            </a:r>
            <a:endParaRPr lang="zh-CN" altLang="en-US" sz="2000" dirty="0">
              <a:solidFill>
                <a:srgbClr val="FF0000"/>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74">
                                            <p:txEl>
                                              <p:charRg st="0" end="4"/>
                                            </p:txEl>
                                          </p:spTgt>
                                        </p:tgtEl>
                                        <p:attrNameLst>
                                          <p:attrName>style.visibility</p:attrName>
                                        </p:attrNameLst>
                                      </p:cBhvr>
                                      <p:to>
                                        <p:strVal val="visible"/>
                                      </p:to>
                                    </p:set>
                                    <p:animEffect transition="in" filter="dissolve">
                                      <p:cBhvr>
                                        <p:cTn id="7" dur="500"/>
                                        <p:tgtEl>
                                          <p:spTgt spid="7174">
                                            <p:txEl>
                                              <p:charRg st="0"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174">
                                            <p:txEl>
                                              <p:charRg st="4" end="18"/>
                                            </p:txEl>
                                          </p:spTgt>
                                        </p:tgtEl>
                                        <p:attrNameLst>
                                          <p:attrName>style.visibility</p:attrName>
                                        </p:attrNameLst>
                                      </p:cBhvr>
                                      <p:to>
                                        <p:strVal val="visible"/>
                                      </p:to>
                                    </p:set>
                                    <p:animEffect transition="in" filter="dissolve">
                                      <p:cBhvr>
                                        <p:cTn id="10" dur="500"/>
                                        <p:tgtEl>
                                          <p:spTgt spid="7174">
                                            <p:txEl>
                                              <p:charRg st="4" end="18"/>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174">
                                            <p:txEl>
                                              <p:charRg st="18" end="32"/>
                                            </p:txEl>
                                          </p:spTgt>
                                        </p:tgtEl>
                                        <p:attrNameLst>
                                          <p:attrName>style.visibility</p:attrName>
                                        </p:attrNameLst>
                                      </p:cBhvr>
                                      <p:to>
                                        <p:strVal val="visible"/>
                                      </p:to>
                                    </p:set>
                                    <p:animEffect transition="in" filter="dissolve">
                                      <p:cBhvr>
                                        <p:cTn id="13" dur="500"/>
                                        <p:tgtEl>
                                          <p:spTgt spid="7174">
                                            <p:txEl>
                                              <p:charRg st="18" end="3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392126"/>
                                        </p:tgtEl>
                                        <p:attrNameLst>
                                          <p:attrName>style.visibility</p:attrName>
                                        </p:attrNameLst>
                                      </p:cBhvr>
                                      <p:to>
                                        <p:strVal val="visible"/>
                                      </p:to>
                                    </p:set>
                                    <p:animEffect transition="in" filter="dissolve">
                                      <p:cBhvr>
                                        <p:cTn id="18" dur="500"/>
                                        <p:tgtEl>
                                          <p:spTgt spid="2392126"/>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392066"/>
                                        </p:tgtEl>
                                        <p:attrNameLst>
                                          <p:attrName>style.visibility</p:attrName>
                                        </p:attrNameLst>
                                      </p:cBhvr>
                                      <p:to>
                                        <p:strVal val="visible"/>
                                      </p:to>
                                    </p:set>
                                    <p:animEffect transition="in" filter="dissolve">
                                      <p:cBhvr>
                                        <p:cTn id="23" dur="500"/>
                                        <p:tgtEl>
                                          <p:spTgt spid="2392066"/>
                                        </p:tgtEl>
                                      </p:cBhvr>
                                    </p:animEffect>
                                  </p:childTnLst>
                                </p:cTn>
                              </p:par>
                              <p:par>
                                <p:cTn id="24" presetID="9" presetClass="entr" presetSubtype="0" fill="hold" nodeType="withEffect">
                                  <p:stCondLst>
                                    <p:cond delay="0"/>
                                  </p:stCondLst>
                                  <p:childTnLst>
                                    <p:set>
                                      <p:cBhvr>
                                        <p:cTn id="25" dur="1" fill="hold">
                                          <p:stCondLst>
                                            <p:cond delay="0"/>
                                          </p:stCondLst>
                                        </p:cTn>
                                        <p:tgtEl>
                                          <p:spTgt spid="2392124"/>
                                        </p:tgtEl>
                                        <p:attrNameLst>
                                          <p:attrName>style.visibility</p:attrName>
                                        </p:attrNameLst>
                                      </p:cBhvr>
                                      <p:to>
                                        <p:strVal val="visible"/>
                                      </p:to>
                                    </p:set>
                                    <p:animEffect transition="in" filter="dissolve">
                                      <p:cBhvr>
                                        <p:cTn id="26" dur="500"/>
                                        <p:tgtEl>
                                          <p:spTgt spid="2392124"/>
                                        </p:tgtEl>
                                      </p:cBhvr>
                                    </p:animEffect>
                                  </p:childTnLst>
                                </p:cTn>
                              </p:par>
                              <p:par>
                                <p:cTn id="27" presetID="9" presetClass="entr" presetSubtype="0" fill="hold" nodeType="withEffect">
                                  <p:stCondLst>
                                    <p:cond delay="0"/>
                                  </p:stCondLst>
                                  <p:childTnLst>
                                    <p:set>
                                      <p:cBhvr>
                                        <p:cTn id="28" dur="1" fill="hold">
                                          <p:stCondLst>
                                            <p:cond delay="0"/>
                                          </p:stCondLst>
                                        </p:cTn>
                                        <p:tgtEl>
                                          <p:spTgt spid="2392125"/>
                                        </p:tgtEl>
                                        <p:attrNameLst>
                                          <p:attrName>style.visibility</p:attrName>
                                        </p:attrNameLst>
                                      </p:cBhvr>
                                      <p:to>
                                        <p:strVal val="visible"/>
                                      </p:to>
                                    </p:set>
                                    <p:animEffect transition="in" filter="dissolve">
                                      <p:cBhvr>
                                        <p:cTn id="29" dur="500"/>
                                        <p:tgtEl>
                                          <p:spTgt spid="2392125"/>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392076"/>
                                        </p:tgtEl>
                                        <p:attrNameLst>
                                          <p:attrName>style.visibility</p:attrName>
                                        </p:attrNameLst>
                                      </p:cBhvr>
                                      <p:to>
                                        <p:strVal val="visible"/>
                                      </p:to>
                                    </p:set>
                                    <p:animEffect transition="in" filter="dissolve">
                                      <p:cBhvr>
                                        <p:cTn id="34" dur="500"/>
                                        <p:tgtEl>
                                          <p:spTgt spid="2392076"/>
                                        </p:tgtEl>
                                      </p:cBhvr>
                                    </p:animEffect>
                                  </p:childTnLst>
                                </p:cTn>
                              </p:par>
                              <p:par>
                                <p:cTn id="35" presetID="9" presetClass="entr" presetSubtype="0" fill="hold" nodeType="withEffect">
                                  <p:stCondLst>
                                    <p:cond delay="0"/>
                                  </p:stCondLst>
                                  <p:childTnLst>
                                    <p:set>
                                      <p:cBhvr>
                                        <p:cTn id="36" dur="1" fill="hold">
                                          <p:stCondLst>
                                            <p:cond delay="0"/>
                                          </p:stCondLst>
                                        </p:cTn>
                                        <p:tgtEl>
                                          <p:spTgt spid="2392077"/>
                                        </p:tgtEl>
                                        <p:attrNameLst>
                                          <p:attrName>style.visibility</p:attrName>
                                        </p:attrNameLst>
                                      </p:cBhvr>
                                      <p:to>
                                        <p:strVal val="visible"/>
                                      </p:to>
                                    </p:set>
                                    <p:animEffect transition="in" filter="dissolve">
                                      <p:cBhvr>
                                        <p:cTn id="37" dur="500"/>
                                        <p:tgtEl>
                                          <p:spTgt spid="2392077"/>
                                        </p:tgtEl>
                                      </p:cBhvr>
                                    </p:animEffect>
                                  </p:childTnLst>
                                </p:cTn>
                              </p:par>
                              <p:par>
                                <p:cTn id="38" presetID="9" presetClass="entr" presetSubtype="0" fill="hold" nodeType="withEffect">
                                  <p:stCondLst>
                                    <p:cond delay="0"/>
                                  </p:stCondLst>
                                  <p:childTnLst>
                                    <p:set>
                                      <p:cBhvr>
                                        <p:cTn id="39" dur="1" fill="hold">
                                          <p:stCondLst>
                                            <p:cond delay="0"/>
                                          </p:stCondLst>
                                        </p:cTn>
                                        <p:tgtEl>
                                          <p:spTgt spid="2392078"/>
                                        </p:tgtEl>
                                        <p:attrNameLst>
                                          <p:attrName>style.visibility</p:attrName>
                                        </p:attrNameLst>
                                      </p:cBhvr>
                                      <p:to>
                                        <p:strVal val="visible"/>
                                      </p:to>
                                    </p:set>
                                    <p:animEffect transition="in" filter="dissolve">
                                      <p:cBhvr>
                                        <p:cTn id="40" dur="500"/>
                                        <p:tgtEl>
                                          <p:spTgt spid="2392078"/>
                                        </p:tgtEl>
                                      </p:cBhvr>
                                    </p:animEffect>
                                  </p:childTnLst>
                                </p:cTn>
                              </p:par>
                              <p:par>
                                <p:cTn id="41" presetID="9" presetClass="entr" presetSubtype="0" fill="hold" nodeType="withEffect">
                                  <p:stCondLst>
                                    <p:cond delay="0"/>
                                  </p:stCondLst>
                                  <p:childTnLst>
                                    <p:set>
                                      <p:cBhvr>
                                        <p:cTn id="42" dur="1" fill="hold">
                                          <p:stCondLst>
                                            <p:cond delay="0"/>
                                          </p:stCondLst>
                                        </p:cTn>
                                        <p:tgtEl>
                                          <p:spTgt spid="2392079"/>
                                        </p:tgtEl>
                                        <p:attrNameLst>
                                          <p:attrName>style.visibility</p:attrName>
                                        </p:attrNameLst>
                                      </p:cBhvr>
                                      <p:to>
                                        <p:strVal val="visible"/>
                                      </p:to>
                                    </p:set>
                                    <p:animEffect transition="in" filter="dissolve">
                                      <p:cBhvr>
                                        <p:cTn id="43" dur="500"/>
                                        <p:tgtEl>
                                          <p:spTgt spid="2392079"/>
                                        </p:tgtEl>
                                      </p:cBhvr>
                                    </p:animEffect>
                                  </p:childTnLst>
                                </p:cTn>
                              </p:par>
                              <p:par>
                                <p:cTn id="44" presetID="9" presetClass="entr" presetSubtype="0" fill="hold" nodeType="withEffect">
                                  <p:stCondLst>
                                    <p:cond delay="0"/>
                                  </p:stCondLst>
                                  <p:childTnLst>
                                    <p:set>
                                      <p:cBhvr>
                                        <p:cTn id="45" dur="1" fill="hold">
                                          <p:stCondLst>
                                            <p:cond delay="0"/>
                                          </p:stCondLst>
                                        </p:cTn>
                                        <p:tgtEl>
                                          <p:spTgt spid="2392080"/>
                                        </p:tgtEl>
                                        <p:attrNameLst>
                                          <p:attrName>style.visibility</p:attrName>
                                        </p:attrNameLst>
                                      </p:cBhvr>
                                      <p:to>
                                        <p:strVal val="visible"/>
                                      </p:to>
                                    </p:set>
                                    <p:animEffect transition="in" filter="dissolve">
                                      <p:cBhvr>
                                        <p:cTn id="46" dur="500"/>
                                        <p:tgtEl>
                                          <p:spTgt spid="2392080"/>
                                        </p:tgtEl>
                                      </p:cBhvr>
                                    </p:animEffect>
                                  </p:childTnLst>
                                </p:cTn>
                              </p:par>
                              <p:par>
                                <p:cTn id="47" presetID="9" presetClass="entr" presetSubtype="0" fill="hold" nodeType="withEffect">
                                  <p:stCondLst>
                                    <p:cond delay="0"/>
                                  </p:stCondLst>
                                  <p:childTnLst>
                                    <p:set>
                                      <p:cBhvr>
                                        <p:cTn id="48" dur="1" fill="hold">
                                          <p:stCondLst>
                                            <p:cond delay="0"/>
                                          </p:stCondLst>
                                        </p:cTn>
                                        <p:tgtEl>
                                          <p:spTgt spid="2392081"/>
                                        </p:tgtEl>
                                        <p:attrNameLst>
                                          <p:attrName>style.visibility</p:attrName>
                                        </p:attrNameLst>
                                      </p:cBhvr>
                                      <p:to>
                                        <p:strVal val="visible"/>
                                      </p:to>
                                    </p:set>
                                    <p:animEffect transition="in" filter="dissolve">
                                      <p:cBhvr>
                                        <p:cTn id="49" dur="500"/>
                                        <p:tgtEl>
                                          <p:spTgt spid="2392081"/>
                                        </p:tgtEl>
                                      </p:cBhvr>
                                    </p:animEffect>
                                  </p:childTnLst>
                                </p:cTn>
                              </p:par>
                              <p:par>
                                <p:cTn id="50" presetID="9" presetClass="entr" presetSubtype="0" fill="hold" nodeType="withEffect">
                                  <p:stCondLst>
                                    <p:cond delay="0"/>
                                  </p:stCondLst>
                                  <p:childTnLst>
                                    <p:set>
                                      <p:cBhvr>
                                        <p:cTn id="51" dur="1" fill="hold">
                                          <p:stCondLst>
                                            <p:cond delay="0"/>
                                          </p:stCondLst>
                                        </p:cTn>
                                        <p:tgtEl>
                                          <p:spTgt spid="2392082"/>
                                        </p:tgtEl>
                                        <p:attrNameLst>
                                          <p:attrName>style.visibility</p:attrName>
                                        </p:attrNameLst>
                                      </p:cBhvr>
                                      <p:to>
                                        <p:strVal val="visible"/>
                                      </p:to>
                                    </p:set>
                                    <p:animEffect transition="in" filter="dissolve">
                                      <p:cBhvr>
                                        <p:cTn id="52" dur="500"/>
                                        <p:tgtEl>
                                          <p:spTgt spid="2392082"/>
                                        </p:tgtEl>
                                      </p:cBhvr>
                                    </p:animEffect>
                                  </p:childTnLst>
                                </p:cTn>
                              </p:par>
                              <p:par>
                                <p:cTn id="53" presetID="9" presetClass="entr" presetSubtype="0" fill="hold" nodeType="withEffect">
                                  <p:stCondLst>
                                    <p:cond delay="0"/>
                                  </p:stCondLst>
                                  <p:childTnLst>
                                    <p:set>
                                      <p:cBhvr>
                                        <p:cTn id="54" dur="1" fill="hold">
                                          <p:stCondLst>
                                            <p:cond delay="0"/>
                                          </p:stCondLst>
                                        </p:cTn>
                                        <p:tgtEl>
                                          <p:spTgt spid="2392083"/>
                                        </p:tgtEl>
                                        <p:attrNameLst>
                                          <p:attrName>style.visibility</p:attrName>
                                        </p:attrNameLst>
                                      </p:cBhvr>
                                      <p:to>
                                        <p:strVal val="visible"/>
                                      </p:to>
                                    </p:set>
                                    <p:animEffect transition="in" filter="dissolve">
                                      <p:cBhvr>
                                        <p:cTn id="55" dur="500"/>
                                        <p:tgtEl>
                                          <p:spTgt spid="2392083"/>
                                        </p:tgtEl>
                                      </p:cBhvr>
                                    </p:animEffect>
                                  </p:childTnLst>
                                </p:cTn>
                              </p:par>
                              <p:par>
                                <p:cTn id="56" presetID="9" presetClass="entr" presetSubtype="0" fill="hold" nodeType="withEffect">
                                  <p:stCondLst>
                                    <p:cond delay="0"/>
                                  </p:stCondLst>
                                  <p:childTnLst>
                                    <p:set>
                                      <p:cBhvr>
                                        <p:cTn id="57" dur="1" fill="hold">
                                          <p:stCondLst>
                                            <p:cond delay="0"/>
                                          </p:stCondLst>
                                        </p:cTn>
                                        <p:tgtEl>
                                          <p:spTgt spid="2392084"/>
                                        </p:tgtEl>
                                        <p:attrNameLst>
                                          <p:attrName>style.visibility</p:attrName>
                                        </p:attrNameLst>
                                      </p:cBhvr>
                                      <p:to>
                                        <p:strVal val="visible"/>
                                      </p:to>
                                    </p:set>
                                    <p:animEffect transition="in" filter="dissolve">
                                      <p:cBhvr>
                                        <p:cTn id="58" dur="500"/>
                                        <p:tgtEl>
                                          <p:spTgt spid="2392084"/>
                                        </p:tgtEl>
                                      </p:cBhvr>
                                    </p:animEffect>
                                  </p:childTnLst>
                                </p:cTn>
                              </p:par>
                              <p:par>
                                <p:cTn id="59" presetID="9" presetClass="entr" presetSubtype="0" fill="hold" nodeType="withEffect">
                                  <p:stCondLst>
                                    <p:cond delay="0"/>
                                  </p:stCondLst>
                                  <p:childTnLst>
                                    <p:set>
                                      <p:cBhvr>
                                        <p:cTn id="60" dur="1" fill="hold">
                                          <p:stCondLst>
                                            <p:cond delay="0"/>
                                          </p:stCondLst>
                                        </p:cTn>
                                        <p:tgtEl>
                                          <p:spTgt spid="2392085"/>
                                        </p:tgtEl>
                                        <p:attrNameLst>
                                          <p:attrName>style.visibility</p:attrName>
                                        </p:attrNameLst>
                                      </p:cBhvr>
                                      <p:to>
                                        <p:strVal val="visible"/>
                                      </p:to>
                                    </p:set>
                                    <p:animEffect transition="in" filter="dissolve">
                                      <p:cBhvr>
                                        <p:cTn id="61" dur="500"/>
                                        <p:tgtEl>
                                          <p:spTgt spid="2392085"/>
                                        </p:tgtEl>
                                      </p:cBhvr>
                                    </p:animEffect>
                                  </p:childTnLst>
                                </p:cTn>
                              </p:par>
                              <p:par>
                                <p:cTn id="62" presetID="9" presetClass="entr" presetSubtype="0" fill="hold" nodeType="withEffect">
                                  <p:stCondLst>
                                    <p:cond delay="0"/>
                                  </p:stCondLst>
                                  <p:childTnLst>
                                    <p:set>
                                      <p:cBhvr>
                                        <p:cTn id="63" dur="1" fill="hold">
                                          <p:stCondLst>
                                            <p:cond delay="0"/>
                                          </p:stCondLst>
                                        </p:cTn>
                                        <p:tgtEl>
                                          <p:spTgt spid="2392086"/>
                                        </p:tgtEl>
                                        <p:attrNameLst>
                                          <p:attrName>style.visibility</p:attrName>
                                        </p:attrNameLst>
                                      </p:cBhvr>
                                      <p:to>
                                        <p:strVal val="visible"/>
                                      </p:to>
                                    </p:set>
                                    <p:animEffect transition="in" filter="dissolve">
                                      <p:cBhvr>
                                        <p:cTn id="64" dur="500"/>
                                        <p:tgtEl>
                                          <p:spTgt spid="2392086"/>
                                        </p:tgtEl>
                                      </p:cBhvr>
                                    </p:animEffect>
                                  </p:childTnLst>
                                </p:cTn>
                              </p:par>
                              <p:par>
                                <p:cTn id="65" presetID="9" presetClass="entr" presetSubtype="0" fill="hold" nodeType="withEffect">
                                  <p:stCondLst>
                                    <p:cond delay="0"/>
                                  </p:stCondLst>
                                  <p:childTnLst>
                                    <p:set>
                                      <p:cBhvr>
                                        <p:cTn id="66" dur="1" fill="hold">
                                          <p:stCondLst>
                                            <p:cond delay="0"/>
                                          </p:stCondLst>
                                        </p:cTn>
                                        <p:tgtEl>
                                          <p:spTgt spid="2392120"/>
                                        </p:tgtEl>
                                        <p:attrNameLst>
                                          <p:attrName>style.visibility</p:attrName>
                                        </p:attrNameLst>
                                      </p:cBhvr>
                                      <p:to>
                                        <p:strVal val="visible"/>
                                      </p:to>
                                    </p:set>
                                    <p:animEffect transition="in" filter="dissolve">
                                      <p:cBhvr>
                                        <p:cTn id="67" dur="500"/>
                                        <p:tgtEl>
                                          <p:spTgt spid="2392120"/>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2392087"/>
                                        </p:tgtEl>
                                        <p:attrNameLst>
                                          <p:attrName>style.visibility</p:attrName>
                                        </p:attrNameLst>
                                      </p:cBhvr>
                                      <p:to>
                                        <p:strVal val="visible"/>
                                      </p:to>
                                    </p:set>
                                    <p:animEffect transition="in" filter="dissolve">
                                      <p:cBhvr>
                                        <p:cTn id="72" dur="500"/>
                                        <p:tgtEl>
                                          <p:spTgt spid="2392087"/>
                                        </p:tgtEl>
                                      </p:cBhvr>
                                    </p:animEffect>
                                  </p:childTnLst>
                                </p:cTn>
                              </p:par>
                              <p:par>
                                <p:cTn id="73" presetID="9" presetClass="entr" presetSubtype="0" fill="hold" nodeType="withEffect">
                                  <p:stCondLst>
                                    <p:cond delay="0"/>
                                  </p:stCondLst>
                                  <p:childTnLst>
                                    <p:set>
                                      <p:cBhvr>
                                        <p:cTn id="74" dur="1" fill="hold">
                                          <p:stCondLst>
                                            <p:cond delay="0"/>
                                          </p:stCondLst>
                                        </p:cTn>
                                        <p:tgtEl>
                                          <p:spTgt spid="2392088"/>
                                        </p:tgtEl>
                                        <p:attrNameLst>
                                          <p:attrName>style.visibility</p:attrName>
                                        </p:attrNameLst>
                                      </p:cBhvr>
                                      <p:to>
                                        <p:strVal val="visible"/>
                                      </p:to>
                                    </p:set>
                                    <p:animEffect transition="in" filter="dissolve">
                                      <p:cBhvr>
                                        <p:cTn id="75" dur="500"/>
                                        <p:tgtEl>
                                          <p:spTgt spid="2392088"/>
                                        </p:tgtEl>
                                      </p:cBhvr>
                                    </p:animEffect>
                                  </p:childTnLst>
                                </p:cTn>
                              </p:par>
                              <p:par>
                                <p:cTn id="76" presetID="9" presetClass="entr" presetSubtype="0" fill="hold" nodeType="withEffect">
                                  <p:stCondLst>
                                    <p:cond delay="0"/>
                                  </p:stCondLst>
                                  <p:childTnLst>
                                    <p:set>
                                      <p:cBhvr>
                                        <p:cTn id="77" dur="1" fill="hold">
                                          <p:stCondLst>
                                            <p:cond delay="0"/>
                                          </p:stCondLst>
                                        </p:cTn>
                                        <p:tgtEl>
                                          <p:spTgt spid="2392089"/>
                                        </p:tgtEl>
                                        <p:attrNameLst>
                                          <p:attrName>style.visibility</p:attrName>
                                        </p:attrNameLst>
                                      </p:cBhvr>
                                      <p:to>
                                        <p:strVal val="visible"/>
                                      </p:to>
                                    </p:set>
                                    <p:animEffect transition="in" filter="dissolve">
                                      <p:cBhvr>
                                        <p:cTn id="78" dur="500"/>
                                        <p:tgtEl>
                                          <p:spTgt spid="2392089"/>
                                        </p:tgtEl>
                                      </p:cBhvr>
                                    </p:animEffect>
                                  </p:childTnLst>
                                </p:cTn>
                              </p:par>
                              <p:par>
                                <p:cTn id="79" presetID="9" presetClass="entr" presetSubtype="0" fill="hold" nodeType="withEffect">
                                  <p:stCondLst>
                                    <p:cond delay="0"/>
                                  </p:stCondLst>
                                  <p:childTnLst>
                                    <p:set>
                                      <p:cBhvr>
                                        <p:cTn id="80" dur="1" fill="hold">
                                          <p:stCondLst>
                                            <p:cond delay="0"/>
                                          </p:stCondLst>
                                        </p:cTn>
                                        <p:tgtEl>
                                          <p:spTgt spid="2392090"/>
                                        </p:tgtEl>
                                        <p:attrNameLst>
                                          <p:attrName>style.visibility</p:attrName>
                                        </p:attrNameLst>
                                      </p:cBhvr>
                                      <p:to>
                                        <p:strVal val="visible"/>
                                      </p:to>
                                    </p:set>
                                    <p:animEffect transition="in" filter="dissolve">
                                      <p:cBhvr>
                                        <p:cTn id="81" dur="500"/>
                                        <p:tgtEl>
                                          <p:spTgt spid="2392090"/>
                                        </p:tgtEl>
                                      </p:cBhvr>
                                    </p:animEffect>
                                  </p:childTnLst>
                                </p:cTn>
                              </p:par>
                              <p:par>
                                <p:cTn id="82" presetID="9" presetClass="entr" presetSubtype="0" fill="hold" nodeType="withEffect">
                                  <p:stCondLst>
                                    <p:cond delay="0"/>
                                  </p:stCondLst>
                                  <p:childTnLst>
                                    <p:set>
                                      <p:cBhvr>
                                        <p:cTn id="83" dur="1" fill="hold">
                                          <p:stCondLst>
                                            <p:cond delay="0"/>
                                          </p:stCondLst>
                                        </p:cTn>
                                        <p:tgtEl>
                                          <p:spTgt spid="2392091"/>
                                        </p:tgtEl>
                                        <p:attrNameLst>
                                          <p:attrName>style.visibility</p:attrName>
                                        </p:attrNameLst>
                                      </p:cBhvr>
                                      <p:to>
                                        <p:strVal val="visible"/>
                                      </p:to>
                                    </p:set>
                                    <p:animEffect transition="in" filter="dissolve">
                                      <p:cBhvr>
                                        <p:cTn id="84" dur="500"/>
                                        <p:tgtEl>
                                          <p:spTgt spid="2392091"/>
                                        </p:tgtEl>
                                      </p:cBhvr>
                                    </p:animEffect>
                                  </p:childTnLst>
                                </p:cTn>
                              </p:par>
                              <p:par>
                                <p:cTn id="85" presetID="9" presetClass="entr" presetSubtype="0" fill="hold" nodeType="withEffect">
                                  <p:stCondLst>
                                    <p:cond delay="0"/>
                                  </p:stCondLst>
                                  <p:childTnLst>
                                    <p:set>
                                      <p:cBhvr>
                                        <p:cTn id="86" dur="1" fill="hold">
                                          <p:stCondLst>
                                            <p:cond delay="0"/>
                                          </p:stCondLst>
                                        </p:cTn>
                                        <p:tgtEl>
                                          <p:spTgt spid="2392092"/>
                                        </p:tgtEl>
                                        <p:attrNameLst>
                                          <p:attrName>style.visibility</p:attrName>
                                        </p:attrNameLst>
                                      </p:cBhvr>
                                      <p:to>
                                        <p:strVal val="visible"/>
                                      </p:to>
                                    </p:set>
                                    <p:animEffect transition="in" filter="dissolve">
                                      <p:cBhvr>
                                        <p:cTn id="87" dur="500"/>
                                        <p:tgtEl>
                                          <p:spTgt spid="2392092"/>
                                        </p:tgtEl>
                                      </p:cBhvr>
                                    </p:animEffect>
                                  </p:childTnLst>
                                </p:cTn>
                              </p:par>
                              <p:par>
                                <p:cTn id="88" presetID="9" presetClass="entr" presetSubtype="0" fill="hold" nodeType="withEffect">
                                  <p:stCondLst>
                                    <p:cond delay="0"/>
                                  </p:stCondLst>
                                  <p:childTnLst>
                                    <p:set>
                                      <p:cBhvr>
                                        <p:cTn id="89" dur="1" fill="hold">
                                          <p:stCondLst>
                                            <p:cond delay="0"/>
                                          </p:stCondLst>
                                        </p:cTn>
                                        <p:tgtEl>
                                          <p:spTgt spid="2392093"/>
                                        </p:tgtEl>
                                        <p:attrNameLst>
                                          <p:attrName>style.visibility</p:attrName>
                                        </p:attrNameLst>
                                      </p:cBhvr>
                                      <p:to>
                                        <p:strVal val="visible"/>
                                      </p:to>
                                    </p:set>
                                    <p:animEffect transition="in" filter="dissolve">
                                      <p:cBhvr>
                                        <p:cTn id="90" dur="500"/>
                                        <p:tgtEl>
                                          <p:spTgt spid="2392093"/>
                                        </p:tgtEl>
                                      </p:cBhvr>
                                    </p:animEffect>
                                  </p:childTnLst>
                                </p:cTn>
                              </p:par>
                              <p:par>
                                <p:cTn id="91" presetID="9" presetClass="entr" presetSubtype="0" fill="hold" nodeType="withEffect">
                                  <p:stCondLst>
                                    <p:cond delay="0"/>
                                  </p:stCondLst>
                                  <p:childTnLst>
                                    <p:set>
                                      <p:cBhvr>
                                        <p:cTn id="92" dur="1" fill="hold">
                                          <p:stCondLst>
                                            <p:cond delay="0"/>
                                          </p:stCondLst>
                                        </p:cTn>
                                        <p:tgtEl>
                                          <p:spTgt spid="2392094"/>
                                        </p:tgtEl>
                                        <p:attrNameLst>
                                          <p:attrName>style.visibility</p:attrName>
                                        </p:attrNameLst>
                                      </p:cBhvr>
                                      <p:to>
                                        <p:strVal val="visible"/>
                                      </p:to>
                                    </p:set>
                                    <p:animEffect transition="in" filter="dissolve">
                                      <p:cBhvr>
                                        <p:cTn id="93" dur="500"/>
                                        <p:tgtEl>
                                          <p:spTgt spid="2392094"/>
                                        </p:tgtEl>
                                      </p:cBhvr>
                                    </p:animEffect>
                                  </p:childTnLst>
                                </p:cTn>
                              </p:par>
                              <p:par>
                                <p:cTn id="94" presetID="9" presetClass="entr" presetSubtype="0" fill="hold" nodeType="withEffect">
                                  <p:stCondLst>
                                    <p:cond delay="0"/>
                                  </p:stCondLst>
                                  <p:childTnLst>
                                    <p:set>
                                      <p:cBhvr>
                                        <p:cTn id="95" dur="1" fill="hold">
                                          <p:stCondLst>
                                            <p:cond delay="0"/>
                                          </p:stCondLst>
                                        </p:cTn>
                                        <p:tgtEl>
                                          <p:spTgt spid="2392095"/>
                                        </p:tgtEl>
                                        <p:attrNameLst>
                                          <p:attrName>style.visibility</p:attrName>
                                        </p:attrNameLst>
                                      </p:cBhvr>
                                      <p:to>
                                        <p:strVal val="visible"/>
                                      </p:to>
                                    </p:set>
                                    <p:animEffect transition="in" filter="dissolve">
                                      <p:cBhvr>
                                        <p:cTn id="96" dur="500"/>
                                        <p:tgtEl>
                                          <p:spTgt spid="2392095"/>
                                        </p:tgtEl>
                                      </p:cBhvr>
                                    </p:animEffect>
                                  </p:childTnLst>
                                </p:cTn>
                              </p:par>
                              <p:par>
                                <p:cTn id="97" presetID="9" presetClass="entr" presetSubtype="0" fill="hold" nodeType="withEffect">
                                  <p:stCondLst>
                                    <p:cond delay="0"/>
                                  </p:stCondLst>
                                  <p:childTnLst>
                                    <p:set>
                                      <p:cBhvr>
                                        <p:cTn id="98" dur="1" fill="hold">
                                          <p:stCondLst>
                                            <p:cond delay="0"/>
                                          </p:stCondLst>
                                        </p:cTn>
                                        <p:tgtEl>
                                          <p:spTgt spid="2392096"/>
                                        </p:tgtEl>
                                        <p:attrNameLst>
                                          <p:attrName>style.visibility</p:attrName>
                                        </p:attrNameLst>
                                      </p:cBhvr>
                                      <p:to>
                                        <p:strVal val="visible"/>
                                      </p:to>
                                    </p:set>
                                    <p:animEffect transition="in" filter="dissolve">
                                      <p:cBhvr>
                                        <p:cTn id="99" dur="500"/>
                                        <p:tgtEl>
                                          <p:spTgt spid="2392096"/>
                                        </p:tgtEl>
                                      </p:cBhvr>
                                    </p:animEffect>
                                  </p:childTnLst>
                                </p:cTn>
                              </p:par>
                              <p:par>
                                <p:cTn id="100" presetID="9" presetClass="entr" presetSubtype="0" fill="hold" nodeType="withEffect">
                                  <p:stCondLst>
                                    <p:cond delay="0"/>
                                  </p:stCondLst>
                                  <p:childTnLst>
                                    <p:set>
                                      <p:cBhvr>
                                        <p:cTn id="101" dur="1" fill="hold">
                                          <p:stCondLst>
                                            <p:cond delay="0"/>
                                          </p:stCondLst>
                                        </p:cTn>
                                        <p:tgtEl>
                                          <p:spTgt spid="2392097"/>
                                        </p:tgtEl>
                                        <p:attrNameLst>
                                          <p:attrName>style.visibility</p:attrName>
                                        </p:attrNameLst>
                                      </p:cBhvr>
                                      <p:to>
                                        <p:strVal val="visible"/>
                                      </p:to>
                                    </p:set>
                                    <p:animEffect transition="in" filter="dissolve">
                                      <p:cBhvr>
                                        <p:cTn id="102" dur="500"/>
                                        <p:tgtEl>
                                          <p:spTgt spid="2392097"/>
                                        </p:tgtEl>
                                      </p:cBhvr>
                                    </p:animEffect>
                                  </p:childTnLst>
                                </p:cTn>
                              </p:par>
                              <p:par>
                                <p:cTn id="103" presetID="9" presetClass="entr" presetSubtype="0" fill="hold" nodeType="withEffect">
                                  <p:stCondLst>
                                    <p:cond delay="0"/>
                                  </p:stCondLst>
                                  <p:childTnLst>
                                    <p:set>
                                      <p:cBhvr>
                                        <p:cTn id="104" dur="1" fill="hold">
                                          <p:stCondLst>
                                            <p:cond delay="0"/>
                                          </p:stCondLst>
                                        </p:cTn>
                                        <p:tgtEl>
                                          <p:spTgt spid="2392121"/>
                                        </p:tgtEl>
                                        <p:attrNameLst>
                                          <p:attrName>style.visibility</p:attrName>
                                        </p:attrNameLst>
                                      </p:cBhvr>
                                      <p:to>
                                        <p:strVal val="visible"/>
                                      </p:to>
                                    </p:set>
                                    <p:animEffect transition="in" filter="dissolve">
                                      <p:cBhvr>
                                        <p:cTn id="105" dur="500"/>
                                        <p:tgtEl>
                                          <p:spTgt spid="2392121"/>
                                        </p:tgtEl>
                                      </p:cBhvr>
                                    </p:animEffect>
                                  </p:childTnLst>
                                </p:cTn>
                              </p:par>
                            </p:childTnLst>
                          </p:cTn>
                        </p:par>
                      </p:childTnLst>
                    </p:cTn>
                  </p:par>
                  <p:par>
                    <p:cTn id="106" fill="hold">
                      <p:stCondLst>
                        <p:cond delay="indefinite"/>
                      </p:stCondLst>
                      <p:childTnLst>
                        <p:par>
                          <p:cTn id="107" fill="hold">
                            <p:stCondLst>
                              <p:cond delay="0"/>
                            </p:stCondLst>
                            <p:childTnLst>
                              <p:par>
                                <p:cTn id="108" presetID="9" presetClass="entr" presetSubtype="0" fill="hold" nodeType="clickEffect">
                                  <p:stCondLst>
                                    <p:cond delay="0"/>
                                  </p:stCondLst>
                                  <p:childTnLst>
                                    <p:set>
                                      <p:cBhvr>
                                        <p:cTn id="109" dur="1" fill="hold">
                                          <p:stCondLst>
                                            <p:cond delay="0"/>
                                          </p:stCondLst>
                                        </p:cTn>
                                        <p:tgtEl>
                                          <p:spTgt spid="2392098"/>
                                        </p:tgtEl>
                                        <p:attrNameLst>
                                          <p:attrName>style.visibility</p:attrName>
                                        </p:attrNameLst>
                                      </p:cBhvr>
                                      <p:to>
                                        <p:strVal val="visible"/>
                                      </p:to>
                                    </p:set>
                                    <p:animEffect transition="in" filter="dissolve">
                                      <p:cBhvr>
                                        <p:cTn id="110" dur="500"/>
                                        <p:tgtEl>
                                          <p:spTgt spid="2392098"/>
                                        </p:tgtEl>
                                      </p:cBhvr>
                                    </p:animEffect>
                                  </p:childTnLst>
                                </p:cTn>
                              </p:par>
                              <p:par>
                                <p:cTn id="111" presetID="9" presetClass="entr" presetSubtype="0" fill="hold" nodeType="withEffect">
                                  <p:stCondLst>
                                    <p:cond delay="0"/>
                                  </p:stCondLst>
                                  <p:childTnLst>
                                    <p:set>
                                      <p:cBhvr>
                                        <p:cTn id="112" dur="1" fill="hold">
                                          <p:stCondLst>
                                            <p:cond delay="0"/>
                                          </p:stCondLst>
                                        </p:cTn>
                                        <p:tgtEl>
                                          <p:spTgt spid="2392099"/>
                                        </p:tgtEl>
                                        <p:attrNameLst>
                                          <p:attrName>style.visibility</p:attrName>
                                        </p:attrNameLst>
                                      </p:cBhvr>
                                      <p:to>
                                        <p:strVal val="visible"/>
                                      </p:to>
                                    </p:set>
                                    <p:animEffect transition="in" filter="dissolve">
                                      <p:cBhvr>
                                        <p:cTn id="113" dur="500"/>
                                        <p:tgtEl>
                                          <p:spTgt spid="2392099"/>
                                        </p:tgtEl>
                                      </p:cBhvr>
                                    </p:animEffect>
                                  </p:childTnLst>
                                </p:cTn>
                              </p:par>
                              <p:par>
                                <p:cTn id="114" presetID="9" presetClass="entr" presetSubtype="0" fill="hold" nodeType="withEffect">
                                  <p:stCondLst>
                                    <p:cond delay="0"/>
                                  </p:stCondLst>
                                  <p:childTnLst>
                                    <p:set>
                                      <p:cBhvr>
                                        <p:cTn id="115" dur="1" fill="hold">
                                          <p:stCondLst>
                                            <p:cond delay="0"/>
                                          </p:stCondLst>
                                        </p:cTn>
                                        <p:tgtEl>
                                          <p:spTgt spid="2392100"/>
                                        </p:tgtEl>
                                        <p:attrNameLst>
                                          <p:attrName>style.visibility</p:attrName>
                                        </p:attrNameLst>
                                      </p:cBhvr>
                                      <p:to>
                                        <p:strVal val="visible"/>
                                      </p:to>
                                    </p:set>
                                    <p:animEffect transition="in" filter="dissolve">
                                      <p:cBhvr>
                                        <p:cTn id="116" dur="500"/>
                                        <p:tgtEl>
                                          <p:spTgt spid="2392100"/>
                                        </p:tgtEl>
                                      </p:cBhvr>
                                    </p:animEffect>
                                  </p:childTnLst>
                                </p:cTn>
                              </p:par>
                              <p:par>
                                <p:cTn id="117" presetID="9" presetClass="entr" presetSubtype="0" fill="hold" nodeType="withEffect">
                                  <p:stCondLst>
                                    <p:cond delay="0"/>
                                  </p:stCondLst>
                                  <p:childTnLst>
                                    <p:set>
                                      <p:cBhvr>
                                        <p:cTn id="118" dur="1" fill="hold">
                                          <p:stCondLst>
                                            <p:cond delay="0"/>
                                          </p:stCondLst>
                                        </p:cTn>
                                        <p:tgtEl>
                                          <p:spTgt spid="2392101"/>
                                        </p:tgtEl>
                                        <p:attrNameLst>
                                          <p:attrName>style.visibility</p:attrName>
                                        </p:attrNameLst>
                                      </p:cBhvr>
                                      <p:to>
                                        <p:strVal val="visible"/>
                                      </p:to>
                                    </p:set>
                                    <p:animEffect transition="in" filter="dissolve">
                                      <p:cBhvr>
                                        <p:cTn id="119" dur="500"/>
                                        <p:tgtEl>
                                          <p:spTgt spid="2392101"/>
                                        </p:tgtEl>
                                      </p:cBhvr>
                                    </p:animEffect>
                                  </p:childTnLst>
                                </p:cTn>
                              </p:par>
                              <p:par>
                                <p:cTn id="120" presetID="9" presetClass="entr" presetSubtype="0" fill="hold" nodeType="withEffect">
                                  <p:stCondLst>
                                    <p:cond delay="0"/>
                                  </p:stCondLst>
                                  <p:childTnLst>
                                    <p:set>
                                      <p:cBhvr>
                                        <p:cTn id="121" dur="1" fill="hold">
                                          <p:stCondLst>
                                            <p:cond delay="0"/>
                                          </p:stCondLst>
                                        </p:cTn>
                                        <p:tgtEl>
                                          <p:spTgt spid="2392102"/>
                                        </p:tgtEl>
                                        <p:attrNameLst>
                                          <p:attrName>style.visibility</p:attrName>
                                        </p:attrNameLst>
                                      </p:cBhvr>
                                      <p:to>
                                        <p:strVal val="visible"/>
                                      </p:to>
                                    </p:set>
                                    <p:animEffect transition="in" filter="dissolve">
                                      <p:cBhvr>
                                        <p:cTn id="122" dur="500"/>
                                        <p:tgtEl>
                                          <p:spTgt spid="2392102"/>
                                        </p:tgtEl>
                                      </p:cBhvr>
                                    </p:animEffect>
                                  </p:childTnLst>
                                </p:cTn>
                              </p:par>
                              <p:par>
                                <p:cTn id="123" presetID="9" presetClass="entr" presetSubtype="0" fill="hold" nodeType="withEffect">
                                  <p:stCondLst>
                                    <p:cond delay="0"/>
                                  </p:stCondLst>
                                  <p:childTnLst>
                                    <p:set>
                                      <p:cBhvr>
                                        <p:cTn id="124" dur="1" fill="hold">
                                          <p:stCondLst>
                                            <p:cond delay="0"/>
                                          </p:stCondLst>
                                        </p:cTn>
                                        <p:tgtEl>
                                          <p:spTgt spid="2392103"/>
                                        </p:tgtEl>
                                        <p:attrNameLst>
                                          <p:attrName>style.visibility</p:attrName>
                                        </p:attrNameLst>
                                      </p:cBhvr>
                                      <p:to>
                                        <p:strVal val="visible"/>
                                      </p:to>
                                    </p:set>
                                    <p:animEffect transition="in" filter="dissolve">
                                      <p:cBhvr>
                                        <p:cTn id="125" dur="500"/>
                                        <p:tgtEl>
                                          <p:spTgt spid="2392103"/>
                                        </p:tgtEl>
                                      </p:cBhvr>
                                    </p:animEffect>
                                  </p:childTnLst>
                                </p:cTn>
                              </p:par>
                              <p:par>
                                <p:cTn id="126" presetID="9" presetClass="entr" presetSubtype="0" fill="hold" nodeType="withEffect">
                                  <p:stCondLst>
                                    <p:cond delay="0"/>
                                  </p:stCondLst>
                                  <p:childTnLst>
                                    <p:set>
                                      <p:cBhvr>
                                        <p:cTn id="127" dur="1" fill="hold">
                                          <p:stCondLst>
                                            <p:cond delay="0"/>
                                          </p:stCondLst>
                                        </p:cTn>
                                        <p:tgtEl>
                                          <p:spTgt spid="2392104"/>
                                        </p:tgtEl>
                                        <p:attrNameLst>
                                          <p:attrName>style.visibility</p:attrName>
                                        </p:attrNameLst>
                                      </p:cBhvr>
                                      <p:to>
                                        <p:strVal val="visible"/>
                                      </p:to>
                                    </p:set>
                                    <p:animEffect transition="in" filter="dissolve">
                                      <p:cBhvr>
                                        <p:cTn id="128" dur="500"/>
                                        <p:tgtEl>
                                          <p:spTgt spid="2392104"/>
                                        </p:tgtEl>
                                      </p:cBhvr>
                                    </p:animEffect>
                                  </p:childTnLst>
                                </p:cTn>
                              </p:par>
                              <p:par>
                                <p:cTn id="129" presetID="9" presetClass="entr" presetSubtype="0" fill="hold" nodeType="withEffect">
                                  <p:stCondLst>
                                    <p:cond delay="0"/>
                                  </p:stCondLst>
                                  <p:childTnLst>
                                    <p:set>
                                      <p:cBhvr>
                                        <p:cTn id="130" dur="1" fill="hold">
                                          <p:stCondLst>
                                            <p:cond delay="0"/>
                                          </p:stCondLst>
                                        </p:cTn>
                                        <p:tgtEl>
                                          <p:spTgt spid="2392105"/>
                                        </p:tgtEl>
                                        <p:attrNameLst>
                                          <p:attrName>style.visibility</p:attrName>
                                        </p:attrNameLst>
                                      </p:cBhvr>
                                      <p:to>
                                        <p:strVal val="visible"/>
                                      </p:to>
                                    </p:set>
                                    <p:animEffect transition="in" filter="dissolve">
                                      <p:cBhvr>
                                        <p:cTn id="131" dur="500"/>
                                        <p:tgtEl>
                                          <p:spTgt spid="2392105"/>
                                        </p:tgtEl>
                                      </p:cBhvr>
                                    </p:animEffect>
                                  </p:childTnLst>
                                </p:cTn>
                              </p:par>
                              <p:par>
                                <p:cTn id="132" presetID="9" presetClass="entr" presetSubtype="0" fill="hold" nodeType="withEffect">
                                  <p:stCondLst>
                                    <p:cond delay="0"/>
                                  </p:stCondLst>
                                  <p:childTnLst>
                                    <p:set>
                                      <p:cBhvr>
                                        <p:cTn id="133" dur="1" fill="hold">
                                          <p:stCondLst>
                                            <p:cond delay="0"/>
                                          </p:stCondLst>
                                        </p:cTn>
                                        <p:tgtEl>
                                          <p:spTgt spid="2392106"/>
                                        </p:tgtEl>
                                        <p:attrNameLst>
                                          <p:attrName>style.visibility</p:attrName>
                                        </p:attrNameLst>
                                      </p:cBhvr>
                                      <p:to>
                                        <p:strVal val="visible"/>
                                      </p:to>
                                    </p:set>
                                    <p:animEffect transition="in" filter="dissolve">
                                      <p:cBhvr>
                                        <p:cTn id="134" dur="500"/>
                                        <p:tgtEl>
                                          <p:spTgt spid="2392106"/>
                                        </p:tgtEl>
                                      </p:cBhvr>
                                    </p:animEffect>
                                  </p:childTnLst>
                                </p:cTn>
                              </p:par>
                              <p:par>
                                <p:cTn id="135" presetID="9" presetClass="entr" presetSubtype="0" fill="hold" nodeType="withEffect">
                                  <p:stCondLst>
                                    <p:cond delay="0"/>
                                  </p:stCondLst>
                                  <p:childTnLst>
                                    <p:set>
                                      <p:cBhvr>
                                        <p:cTn id="136" dur="1" fill="hold">
                                          <p:stCondLst>
                                            <p:cond delay="0"/>
                                          </p:stCondLst>
                                        </p:cTn>
                                        <p:tgtEl>
                                          <p:spTgt spid="2392107"/>
                                        </p:tgtEl>
                                        <p:attrNameLst>
                                          <p:attrName>style.visibility</p:attrName>
                                        </p:attrNameLst>
                                      </p:cBhvr>
                                      <p:to>
                                        <p:strVal val="visible"/>
                                      </p:to>
                                    </p:set>
                                    <p:animEffect transition="in" filter="dissolve">
                                      <p:cBhvr>
                                        <p:cTn id="137" dur="500"/>
                                        <p:tgtEl>
                                          <p:spTgt spid="2392107"/>
                                        </p:tgtEl>
                                      </p:cBhvr>
                                    </p:animEffect>
                                  </p:childTnLst>
                                </p:cTn>
                              </p:par>
                              <p:par>
                                <p:cTn id="138" presetID="9" presetClass="entr" presetSubtype="0" fill="hold" nodeType="withEffect">
                                  <p:stCondLst>
                                    <p:cond delay="0"/>
                                  </p:stCondLst>
                                  <p:childTnLst>
                                    <p:set>
                                      <p:cBhvr>
                                        <p:cTn id="139" dur="1" fill="hold">
                                          <p:stCondLst>
                                            <p:cond delay="0"/>
                                          </p:stCondLst>
                                        </p:cTn>
                                        <p:tgtEl>
                                          <p:spTgt spid="2392108"/>
                                        </p:tgtEl>
                                        <p:attrNameLst>
                                          <p:attrName>style.visibility</p:attrName>
                                        </p:attrNameLst>
                                      </p:cBhvr>
                                      <p:to>
                                        <p:strVal val="visible"/>
                                      </p:to>
                                    </p:set>
                                    <p:animEffect transition="in" filter="dissolve">
                                      <p:cBhvr>
                                        <p:cTn id="140" dur="500"/>
                                        <p:tgtEl>
                                          <p:spTgt spid="2392108"/>
                                        </p:tgtEl>
                                      </p:cBhvr>
                                    </p:animEffect>
                                  </p:childTnLst>
                                </p:cTn>
                              </p:par>
                              <p:par>
                                <p:cTn id="141" presetID="9" presetClass="entr" presetSubtype="0" fill="hold" nodeType="withEffect">
                                  <p:stCondLst>
                                    <p:cond delay="0"/>
                                  </p:stCondLst>
                                  <p:childTnLst>
                                    <p:set>
                                      <p:cBhvr>
                                        <p:cTn id="142" dur="1" fill="hold">
                                          <p:stCondLst>
                                            <p:cond delay="0"/>
                                          </p:stCondLst>
                                        </p:cTn>
                                        <p:tgtEl>
                                          <p:spTgt spid="2392122"/>
                                        </p:tgtEl>
                                        <p:attrNameLst>
                                          <p:attrName>style.visibility</p:attrName>
                                        </p:attrNameLst>
                                      </p:cBhvr>
                                      <p:to>
                                        <p:strVal val="visible"/>
                                      </p:to>
                                    </p:set>
                                    <p:animEffect transition="in" filter="dissolve">
                                      <p:cBhvr>
                                        <p:cTn id="143" dur="500"/>
                                        <p:tgtEl>
                                          <p:spTgt spid="2392122"/>
                                        </p:tgtEl>
                                      </p:cBhvr>
                                    </p:animEffect>
                                  </p:childTnLst>
                                </p:cTn>
                              </p:par>
                            </p:childTnLst>
                          </p:cTn>
                        </p:par>
                      </p:childTnLst>
                    </p:cTn>
                  </p:par>
                  <p:par>
                    <p:cTn id="144" fill="hold">
                      <p:stCondLst>
                        <p:cond delay="indefinite"/>
                      </p:stCondLst>
                      <p:childTnLst>
                        <p:par>
                          <p:cTn id="145" fill="hold">
                            <p:stCondLst>
                              <p:cond delay="0"/>
                            </p:stCondLst>
                            <p:childTnLst>
                              <p:par>
                                <p:cTn id="146" presetID="9" presetClass="entr" presetSubtype="0" fill="hold" nodeType="clickEffect">
                                  <p:stCondLst>
                                    <p:cond delay="0"/>
                                  </p:stCondLst>
                                  <p:childTnLst>
                                    <p:set>
                                      <p:cBhvr>
                                        <p:cTn id="147" dur="1" fill="hold">
                                          <p:stCondLst>
                                            <p:cond delay="0"/>
                                          </p:stCondLst>
                                        </p:cTn>
                                        <p:tgtEl>
                                          <p:spTgt spid="2392109"/>
                                        </p:tgtEl>
                                        <p:attrNameLst>
                                          <p:attrName>style.visibility</p:attrName>
                                        </p:attrNameLst>
                                      </p:cBhvr>
                                      <p:to>
                                        <p:strVal val="visible"/>
                                      </p:to>
                                    </p:set>
                                    <p:animEffect transition="in" filter="dissolve">
                                      <p:cBhvr>
                                        <p:cTn id="148" dur="500"/>
                                        <p:tgtEl>
                                          <p:spTgt spid="2392109"/>
                                        </p:tgtEl>
                                      </p:cBhvr>
                                    </p:animEffect>
                                  </p:childTnLst>
                                </p:cTn>
                              </p:par>
                              <p:par>
                                <p:cTn id="149" presetID="9" presetClass="entr" presetSubtype="0" fill="hold" nodeType="withEffect">
                                  <p:stCondLst>
                                    <p:cond delay="0"/>
                                  </p:stCondLst>
                                  <p:childTnLst>
                                    <p:set>
                                      <p:cBhvr>
                                        <p:cTn id="150" dur="1" fill="hold">
                                          <p:stCondLst>
                                            <p:cond delay="0"/>
                                          </p:stCondLst>
                                        </p:cTn>
                                        <p:tgtEl>
                                          <p:spTgt spid="2392110"/>
                                        </p:tgtEl>
                                        <p:attrNameLst>
                                          <p:attrName>style.visibility</p:attrName>
                                        </p:attrNameLst>
                                      </p:cBhvr>
                                      <p:to>
                                        <p:strVal val="visible"/>
                                      </p:to>
                                    </p:set>
                                    <p:animEffect transition="in" filter="dissolve">
                                      <p:cBhvr>
                                        <p:cTn id="151" dur="500"/>
                                        <p:tgtEl>
                                          <p:spTgt spid="2392110"/>
                                        </p:tgtEl>
                                      </p:cBhvr>
                                    </p:animEffect>
                                  </p:childTnLst>
                                </p:cTn>
                              </p:par>
                              <p:par>
                                <p:cTn id="152" presetID="9" presetClass="entr" presetSubtype="0" fill="hold" nodeType="withEffect">
                                  <p:stCondLst>
                                    <p:cond delay="0"/>
                                  </p:stCondLst>
                                  <p:childTnLst>
                                    <p:set>
                                      <p:cBhvr>
                                        <p:cTn id="153" dur="1" fill="hold">
                                          <p:stCondLst>
                                            <p:cond delay="0"/>
                                          </p:stCondLst>
                                        </p:cTn>
                                        <p:tgtEl>
                                          <p:spTgt spid="2392111"/>
                                        </p:tgtEl>
                                        <p:attrNameLst>
                                          <p:attrName>style.visibility</p:attrName>
                                        </p:attrNameLst>
                                      </p:cBhvr>
                                      <p:to>
                                        <p:strVal val="visible"/>
                                      </p:to>
                                    </p:set>
                                    <p:animEffect transition="in" filter="dissolve">
                                      <p:cBhvr>
                                        <p:cTn id="154" dur="500"/>
                                        <p:tgtEl>
                                          <p:spTgt spid="2392111"/>
                                        </p:tgtEl>
                                      </p:cBhvr>
                                    </p:animEffect>
                                  </p:childTnLst>
                                </p:cTn>
                              </p:par>
                              <p:par>
                                <p:cTn id="155" presetID="9" presetClass="entr" presetSubtype="0" fill="hold" nodeType="withEffect">
                                  <p:stCondLst>
                                    <p:cond delay="0"/>
                                  </p:stCondLst>
                                  <p:childTnLst>
                                    <p:set>
                                      <p:cBhvr>
                                        <p:cTn id="156" dur="1" fill="hold">
                                          <p:stCondLst>
                                            <p:cond delay="0"/>
                                          </p:stCondLst>
                                        </p:cTn>
                                        <p:tgtEl>
                                          <p:spTgt spid="2392112"/>
                                        </p:tgtEl>
                                        <p:attrNameLst>
                                          <p:attrName>style.visibility</p:attrName>
                                        </p:attrNameLst>
                                      </p:cBhvr>
                                      <p:to>
                                        <p:strVal val="visible"/>
                                      </p:to>
                                    </p:set>
                                    <p:animEffect transition="in" filter="dissolve">
                                      <p:cBhvr>
                                        <p:cTn id="157" dur="500"/>
                                        <p:tgtEl>
                                          <p:spTgt spid="2392112"/>
                                        </p:tgtEl>
                                      </p:cBhvr>
                                    </p:animEffect>
                                  </p:childTnLst>
                                </p:cTn>
                              </p:par>
                              <p:par>
                                <p:cTn id="158" presetID="9" presetClass="entr" presetSubtype="0" fill="hold" nodeType="withEffect">
                                  <p:stCondLst>
                                    <p:cond delay="0"/>
                                  </p:stCondLst>
                                  <p:childTnLst>
                                    <p:set>
                                      <p:cBhvr>
                                        <p:cTn id="159" dur="1" fill="hold">
                                          <p:stCondLst>
                                            <p:cond delay="0"/>
                                          </p:stCondLst>
                                        </p:cTn>
                                        <p:tgtEl>
                                          <p:spTgt spid="2392113"/>
                                        </p:tgtEl>
                                        <p:attrNameLst>
                                          <p:attrName>style.visibility</p:attrName>
                                        </p:attrNameLst>
                                      </p:cBhvr>
                                      <p:to>
                                        <p:strVal val="visible"/>
                                      </p:to>
                                    </p:set>
                                    <p:animEffect transition="in" filter="dissolve">
                                      <p:cBhvr>
                                        <p:cTn id="160" dur="500"/>
                                        <p:tgtEl>
                                          <p:spTgt spid="2392113"/>
                                        </p:tgtEl>
                                      </p:cBhvr>
                                    </p:animEffect>
                                  </p:childTnLst>
                                </p:cTn>
                              </p:par>
                              <p:par>
                                <p:cTn id="161" presetID="9" presetClass="entr" presetSubtype="0" fill="hold" nodeType="withEffect">
                                  <p:stCondLst>
                                    <p:cond delay="0"/>
                                  </p:stCondLst>
                                  <p:childTnLst>
                                    <p:set>
                                      <p:cBhvr>
                                        <p:cTn id="162" dur="1" fill="hold">
                                          <p:stCondLst>
                                            <p:cond delay="0"/>
                                          </p:stCondLst>
                                        </p:cTn>
                                        <p:tgtEl>
                                          <p:spTgt spid="2392114"/>
                                        </p:tgtEl>
                                        <p:attrNameLst>
                                          <p:attrName>style.visibility</p:attrName>
                                        </p:attrNameLst>
                                      </p:cBhvr>
                                      <p:to>
                                        <p:strVal val="visible"/>
                                      </p:to>
                                    </p:set>
                                    <p:animEffect transition="in" filter="dissolve">
                                      <p:cBhvr>
                                        <p:cTn id="163" dur="500"/>
                                        <p:tgtEl>
                                          <p:spTgt spid="2392114"/>
                                        </p:tgtEl>
                                      </p:cBhvr>
                                    </p:animEffect>
                                  </p:childTnLst>
                                </p:cTn>
                              </p:par>
                              <p:par>
                                <p:cTn id="164" presetID="9" presetClass="entr" presetSubtype="0" fill="hold" nodeType="withEffect">
                                  <p:stCondLst>
                                    <p:cond delay="0"/>
                                  </p:stCondLst>
                                  <p:childTnLst>
                                    <p:set>
                                      <p:cBhvr>
                                        <p:cTn id="165" dur="1" fill="hold">
                                          <p:stCondLst>
                                            <p:cond delay="0"/>
                                          </p:stCondLst>
                                        </p:cTn>
                                        <p:tgtEl>
                                          <p:spTgt spid="2392115"/>
                                        </p:tgtEl>
                                        <p:attrNameLst>
                                          <p:attrName>style.visibility</p:attrName>
                                        </p:attrNameLst>
                                      </p:cBhvr>
                                      <p:to>
                                        <p:strVal val="visible"/>
                                      </p:to>
                                    </p:set>
                                    <p:animEffect transition="in" filter="dissolve">
                                      <p:cBhvr>
                                        <p:cTn id="166" dur="500"/>
                                        <p:tgtEl>
                                          <p:spTgt spid="2392115"/>
                                        </p:tgtEl>
                                      </p:cBhvr>
                                    </p:animEffect>
                                  </p:childTnLst>
                                </p:cTn>
                              </p:par>
                              <p:par>
                                <p:cTn id="167" presetID="9" presetClass="entr" presetSubtype="0" fill="hold" nodeType="withEffect">
                                  <p:stCondLst>
                                    <p:cond delay="0"/>
                                  </p:stCondLst>
                                  <p:childTnLst>
                                    <p:set>
                                      <p:cBhvr>
                                        <p:cTn id="168" dur="1" fill="hold">
                                          <p:stCondLst>
                                            <p:cond delay="0"/>
                                          </p:stCondLst>
                                        </p:cTn>
                                        <p:tgtEl>
                                          <p:spTgt spid="2392116"/>
                                        </p:tgtEl>
                                        <p:attrNameLst>
                                          <p:attrName>style.visibility</p:attrName>
                                        </p:attrNameLst>
                                      </p:cBhvr>
                                      <p:to>
                                        <p:strVal val="visible"/>
                                      </p:to>
                                    </p:set>
                                    <p:animEffect transition="in" filter="dissolve">
                                      <p:cBhvr>
                                        <p:cTn id="169" dur="500"/>
                                        <p:tgtEl>
                                          <p:spTgt spid="2392116"/>
                                        </p:tgtEl>
                                      </p:cBhvr>
                                    </p:animEffect>
                                  </p:childTnLst>
                                </p:cTn>
                              </p:par>
                              <p:par>
                                <p:cTn id="170" presetID="9" presetClass="entr" presetSubtype="0" fill="hold" nodeType="withEffect">
                                  <p:stCondLst>
                                    <p:cond delay="0"/>
                                  </p:stCondLst>
                                  <p:childTnLst>
                                    <p:set>
                                      <p:cBhvr>
                                        <p:cTn id="171" dur="1" fill="hold">
                                          <p:stCondLst>
                                            <p:cond delay="0"/>
                                          </p:stCondLst>
                                        </p:cTn>
                                        <p:tgtEl>
                                          <p:spTgt spid="2392117"/>
                                        </p:tgtEl>
                                        <p:attrNameLst>
                                          <p:attrName>style.visibility</p:attrName>
                                        </p:attrNameLst>
                                      </p:cBhvr>
                                      <p:to>
                                        <p:strVal val="visible"/>
                                      </p:to>
                                    </p:set>
                                    <p:animEffect transition="in" filter="dissolve">
                                      <p:cBhvr>
                                        <p:cTn id="172" dur="500"/>
                                        <p:tgtEl>
                                          <p:spTgt spid="2392117"/>
                                        </p:tgtEl>
                                      </p:cBhvr>
                                    </p:animEffect>
                                  </p:childTnLst>
                                </p:cTn>
                              </p:par>
                              <p:par>
                                <p:cTn id="173" presetID="9" presetClass="entr" presetSubtype="0" fill="hold" nodeType="withEffect">
                                  <p:stCondLst>
                                    <p:cond delay="0"/>
                                  </p:stCondLst>
                                  <p:childTnLst>
                                    <p:set>
                                      <p:cBhvr>
                                        <p:cTn id="174" dur="1" fill="hold">
                                          <p:stCondLst>
                                            <p:cond delay="0"/>
                                          </p:stCondLst>
                                        </p:cTn>
                                        <p:tgtEl>
                                          <p:spTgt spid="2392118"/>
                                        </p:tgtEl>
                                        <p:attrNameLst>
                                          <p:attrName>style.visibility</p:attrName>
                                        </p:attrNameLst>
                                      </p:cBhvr>
                                      <p:to>
                                        <p:strVal val="visible"/>
                                      </p:to>
                                    </p:set>
                                    <p:animEffect transition="in" filter="dissolve">
                                      <p:cBhvr>
                                        <p:cTn id="175" dur="500"/>
                                        <p:tgtEl>
                                          <p:spTgt spid="2392118"/>
                                        </p:tgtEl>
                                      </p:cBhvr>
                                    </p:animEffect>
                                  </p:childTnLst>
                                </p:cTn>
                              </p:par>
                              <p:par>
                                <p:cTn id="176" presetID="9" presetClass="entr" presetSubtype="0" fill="hold" nodeType="withEffect">
                                  <p:stCondLst>
                                    <p:cond delay="0"/>
                                  </p:stCondLst>
                                  <p:childTnLst>
                                    <p:set>
                                      <p:cBhvr>
                                        <p:cTn id="177" dur="1" fill="hold">
                                          <p:stCondLst>
                                            <p:cond delay="0"/>
                                          </p:stCondLst>
                                        </p:cTn>
                                        <p:tgtEl>
                                          <p:spTgt spid="2392119"/>
                                        </p:tgtEl>
                                        <p:attrNameLst>
                                          <p:attrName>style.visibility</p:attrName>
                                        </p:attrNameLst>
                                      </p:cBhvr>
                                      <p:to>
                                        <p:strVal val="visible"/>
                                      </p:to>
                                    </p:set>
                                    <p:animEffect transition="in" filter="dissolve">
                                      <p:cBhvr>
                                        <p:cTn id="178" dur="500"/>
                                        <p:tgtEl>
                                          <p:spTgt spid="2392119"/>
                                        </p:tgtEl>
                                      </p:cBhvr>
                                    </p:animEffect>
                                  </p:childTnLst>
                                </p:cTn>
                              </p:par>
                              <p:par>
                                <p:cTn id="179" presetID="9" presetClass="entr" presetSubtype="0" fill="hold" nodeType="withEffect">
                                  <p:stCondLst>
                                    <p:cond delay="0"/>
                                  </p:stCondLst>
                                  <p:childTnLst>
                                    <p:set>
                                      <p:cBhvr>
                                        <p:cTn id="180" dur="1" fill="hold">
                                          <p:stCondLst>
                                            <p:cond delay="0"/>
                                          </p:stCondLst>
                                        </p:cTn>
                                        <p:tgtEl>
                                          <p:spTgt spid="2392123"/>
                                        </p:tgtEl>
                                        <p:attrNameLst>
                                          <p:attrName>style.visibility</p:attrName>
                                        </p:attrNameLst>
                                      </p:cBhvr>
                                      <p:to>
                                        <p:strVal val="visible"/>
                                      </p:to>
                                    </p:set>
                                    <p:animEffect transition="in" filter="dissolve">
                                      <p:cBhvr>
                                        <p:cTn id="181" dur="500"/>
                                        <p:tgtEl>
                                          <p:spTgt spid="2392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2066" grpId="0" animBg="1"/>
      <p:bldP spid="2392084" grpId="0"/>
      <p:bldP spid="2392085" grpId="0"/>
      <p:bldP spid="2392086" grpId="0"/>
      <p:bldP spid="2392095" grpId="0"/>
      <p:bldP spid="2392096" grpId="0"/>
      <p:bldP spid="2392097" grpId="0"/>
      <p:bldP spid="2392106" grpId="0"/>
      <p:bldP spid="2392107" grpId="0"/>
      <p:bldP spid="2392108" grpId="0"/>
      <p:bldP spid="2392117" grpId="0"/>
      <p:bldP spid="2392118" grpId="0"/>
      <p:bldP spid="2392119" grpId="0"/>
      <p:bldP spid="2392120" grpId="0"/>
      <p:bldP spid="2392121" grpId="0"/>
      <p:bldP spid="2392122" grpId="0"/>
      <p:bldP spid="2392123" grpId="0"/>
      <p:bldP spid="2392126"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3165" name="Rectangle 77"/>
          <p:cNvSpPr/>
          <p:nvPr/>
        </p:nvSpPr>
        <p:spPr>
          <a:xfrm>
            <a:off x="4833938" y="4432300"/>
            <a:ext cx="3840162" cy="1768475"/>
          </a:xfrm>
          <a:prstGeom prst="rect">
            <a:avLst/>
          </a:prstGeom>
          <a:solidFill>
            <a:srgbClr val="FFCC99"/>
          </a:solidFill>
          <a:ln w="9525" cap="flat" cmpd="sng">
            <a:solidFill>
              <a:srgbClr val="FF660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387" name="Text Box 3"/>
          <p:cNvSpPr txBox="1"/>
          <p:nvPr/>
        </p:nvSpPr>
        <p:spPr>
          <a:xfrm>
            <a:off x="650875" y="2682875"/>
            <a:ext cx="3863975"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 </a:t>
            </a:r>
            <a:endParaRPr lang="zh-CN" altLang="en-US" sz="2800" dirty="0">
              <a:solidFill>
                <a:srgbClr val="3333FF"/>
              </a:solidFill>
              <a:latin typeface="楷体_GB2312" pitchFamily="49" charset="-122"/>
            </a:endParaRPr>
          </a:p>
        </p:txBody>
      </p:sp>
      <p:sp>
        <p:nvSpPr>
          <p:cNvPr id="16388" name="Text Box 4"/>
          <p:cNvSpPr txBox="1"/>
          <p:nvPr/>
        </p:nvSpPr>
        <p:spPr>
          <a:xfrm>
            <a:off x="485775" y="1676400"/>
            <a:ext cx="3865563" cy="860425"/>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16389" name="Text Box 5"/>
          <p:cNvSpPr txBox="1"/>
          <p:nvPr/>
        </p:nvSpPr>
        <p:spPr>
          <a:xfrm>
            <a:off x="647700" y="3289300"/>
            <a:ext cx="3856038"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16390" name="Text Box 6"/>
          <p:cNvSpPr txBox="1"/>
          <p:nvPr/>
        </p:nvSpPr>
        <p:spPr>
          <a:xfrm>
            <a:off x="692150" y="3963988"/>
            <a:ext cx="4129088" cy="14160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latin typeface="Times New Roman" panose="02020603050405020304" pitchFamily="18" charset="0"/>
              </a:rPr>
              <a:t>结型</a:t>
            </a:r>
            <a:endParaRPr lang="zh-CN" altLang="en-US" sz="2800" dirty="0">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800" dirty="0">
                <a:latin typeface="Times New Roman" panose="02020603050405020304" pitchFamily="18" charset="0"/>
              </a:rPr>
              <a:t> </a:t>
            </a:r>
            <a:r>
              <a:rPr lang="zh-CN" altLang="en-US" sz="2800" dirty="0">
                <a:solidFill>
                  <a:srgbClr val="FF0000"/>
                </a:solidFill>
                <a:latin typeface="Times New Roman" panose="02020603050405020304" pitchFamily="18" charset="0"/>
              </a:rPr>
              <a:t>绝缘栅型</a:t>
            </a:r>
            <a:r>
              <a:rPr lang="en-US" altLang="zh-CN" sz="2800" dirty="0">
                <a:solidFill>
                  <a:srgbClr val="FF0000"/>
                </a:solidFill>
                <a:latin typeface="Times New Roman" panose="02020603050405020304" pitchFamily="18" charset="0"/>
              </a:rPr>
              <a:t>(MOSFET)</a:t>
            </a:r>
            <a:endParaRPr lang="zh-CN" altLang="en-US" sz="2800" dirty="0">
              <a:solidFill>
                <a:srgbClr val="FF0000"/>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en-US" altLang="zh-CN" sz="2800" dirty="0">
                <a:solidFill>
                  <a:srgbClr val="FF0000"/>
                </a:solidFill>
                <a:latin typeface="Times New Roman" panose="02020603050405020304" pitchFamily="18" charset="0"/>
              </a:rPr>
              <a:t>    (PMOS\NMOS\CMOS)</a:t>
            </a:r>
            <a:endParaRPr lang="en-US" altLang="zh-CN" sz="2800" dirty="0">
              <a:solidFill>
                <a:srgbClr val="FF0000"/>
              </a:solidFill>
              <a:latin typeface="Times New Roman" panose="02020603050405020304" pitchFamily="18" charset="0"/>
            </a:endParaRPr>
          </a:p>
        </p:txBody>
      </p:sp>
      <p:sp>
        <p:nvSpPr>
          <p:cNvPr id="2393095" name="Text Box 7"/>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6392" name="Text Box 8"/>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6393" name="Text Box 9"/>
          <p:cNvSpPr txBox="1"/>
          <p:nvPr/>
        </p:nvSpPr>
        <p:spPr>
          <a:xfrm>
            <a:off x="692150" y="5430838"/>
            <a:ext cx="4046538"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集成电路开关 </a:t>
            </a:r>
            <a:endParaRPr lang="zh-CN" altLang="en-US" sz="2800" dirty="0">
              <a:solidFill>
                <a:srgbClr val="3333FF"/>
              </a:solidFill>
              <a:latin typeface="楷体_GB2312" pitchFamily="49" charset="-122"/>
            </a:endParaRPr>
          </a:p>
        </p:txBody>
      </p:sp>
      <p:sp>
        <p:nvSpPr>
          <p:cNvPr id="2393149" name="Rectangle 61"/>
          <p:cNvSpPr/>
          <p:nvPr/>
        </p:nvSpPr>
        <p:spPr>
          <a:xfrm>
            <a:off x="4738688" y="876300"/>
            <a:ext cx="4032250" cy="1917700"/>
          </a:xfrm>
          <a:prstGeom prst="rect">
            <a:avLst/>
          </a:prstGeom>
          <a:solidFill>
            <a:srgbClr val="FFFF99"/>
          </a:solidFill>
          <a:ln w="9525">
            <a:noFill/>
          </a:ln>
        </p:spPr>
        <p:txBody>
          <a:bodyPr anchor="ctr" anchorCtr="0">
            <a:spAutoFit/>
          </a:bodyPr>
          <a:p>
            <a:pPr eaLnBrk="1" hangingPunct="1"/>
            <a:r>
              <a:rPr lang="en-US" altLang="zh-CN" sz="2400" b="0" dirty="0">
                <a:solidFill>
                  <a:srgbClr val="FF0000"/>
                </a:solidFill>
                <a:latin typeface="Times New Roman" panose="02020603050405020304" pitchFamily="18" charset="0"/>
                <a:ea typeface="黑体" panose="02010609060101010101" pitchFamily="49" charset="-122"/>
              </a:rPr>
              <a:t>PMOS</a:t>
            </a:r>
            <a:r>
              <a:rPr lang="zh-CN" altLang="en-US" sz="2400" b="0" dirty="0">
                <a:solidFill>
                  <a:schemeClr val="tx1"/>
                </a:solidFill>
                <a:latin typeface="黑体" panose="02010609060101010101" pitchFamily="49" charset="-122"/>
                <a:ea typeface="黑体" panose="02010609060101010101" pitchFamily="49" charset="-122"/>
              </a:rPr>
              <a:t>和</a:t>
            </a:r>
            <a:r>
              <a:rPr lang="en-US" altLang="zh-CN" sz="2400" b="0" dirty="0">
                <a:solidFill>
                  <a:srgbClr val="FF0000"/>
                </a:solidFill>
                <a:latin typeface="Times New Roman" panose="02020603050405020304" pitchFamily="18" charset="0"/>
                <a:ea typeface="黑体" panose="02010609060101010101" pitchFamily="49" charset="-122"/>
              </a:rPr>
              <a:t>NMOS</a:t>
            </a:r>
            <a:r>
              <a:rPr lang="zh-CN" altLang="en-US" sz="2400" b="0" dirty="0">
                <a:solidFill>
                  <a:schemeClr val="tx1"/>
                </a:solidFill>
                <a:latin typeface="黑体" panose="02010609060101010101" pitchFamily="49" charset="-122"/>
                <a:ea typeface="黑体" panose="02010609060101010101" pitchFamily="49" charset="-122"/>
              </a:rPr>
              <a:t>结合可以构成</a:t>
            </a:r>
            <a:r>
              <a:rPr lang="en-US" altLang="zh-CN" sz="2400" b="0" dirty="0">
                <a:solidFill>
                  <a:srgbClr val="FF0000"/>
                </a:solidFill>
                <a:latin typeface="Times New Roman" panose="02020603050405020304" pitchFamily="18" charset="0"/>
                <a:ea typeface="黑体" panose="02010609060101010101" pitchFamily="49" charset="-122"/>
              </a:rPr>
              <a:t>CMOS</a:t>
            </a:r>
            <a:r>
              <a:rPr lang="en-US" altLang="zh-CN" sz="2400" b="0" dirty="0">
                <a:solidFill>
                  <a:schemeClr val="tx1"/>
                </a:solidFill>
                <a:latin typeface="黑体" panose="02010609060101010101" pitchFamily="49" charset="-122"/>
                <a:ea typeface="黑体" panose="02010609060101010101" pitchFamily="49" charset="-122"/>
              </a:rPr>
              <a:t>(</a:t>
            </a:r>
            <a:r>
              <a:rPr lang="zh-CN" altLang="en-US" sz="2400" b="0" dirty="0">
                <a:solidFill>
                  <a:srgbClr val="FF0000"/>
                </a:solidFill>
                <a:latin typeface="黑体" panose="02010609060101010101" pitchFamily="49" charset="-122"/>
                <a:ea typeface="黑体" panose="02010609060101010101" pitchFamily="49" charset="-122"/>
              </a:rPr>
              <a:t>互补对称</a:t>
            </a:r>
            <a:r>
              <a:rPr lang="en-US" altLang="zh-CN" sz="2400" b="0" dirty="0">
                <a:solidFill>
                  <a:srgbClr val="FF0000"/>
                </a:solidFill>
                <a:latin typeface="Times New Roman" panose="02020603050405020304" pitchFamily="18" charset="0"/>
                <a:ea typeface="黑体" panose="02010609060101010101" pitchFamily="49" charset="-122"/>
              </a:rPr>
              <a:t>MOS</a:t>
            </a:r>
            <a:r>
              <a:rPr lang="zh-CN" altLang="en-US" sz="2400" b="0" dirty="0">
                <a:solidFill>
                  <a:schemeClr val="tx1"/>
                </a:solidFill>
                <a:latin typeface="黑体" panose="02010609060101010101" pitchFamily="49" charset="-122"/>
                <a:ea typeface="黑体" panose="02010609060101010101" pitchFamily="49" charset="-122"/>
              </a:rPr>
              <a:t>：</a:t>
            </a:r>
            <a:r>
              <a:rPr lang="en-US" altLang="zh-CN" sz="2400" b="0" dirty="0">
                <a:solidFill>
                  <a:schemeClr val="tx1"/>
                </a:solidFill>
                <a:latin typeface="Times New Roman" panose="02020603050405020304" pitchFamily="18" charset="0"/>
                <a:ea typeface="黑体" panose="02010609060101010101" pitchFamily="49" charset="-122"/>
              </a:rPr>
              <a:t>Complementary Metal-Oxide-Semiconductor Transistor</a:t>
            </a:r>
            <a:r>
              <a:rPr lang="en-US" altLang="zh-CN" sz="2400" b="0" dirty="0">
                <a:solidFill>
                  <a:schemeClr val="tx1"/>
                </a:solidFill>
                <a:latin typeface="黑体" panose="02010609060101010101" pitchFamily="49" charset="-122"/>
                <a:ea typeface="黑体" panose="02010609060101010101" pitchFamily="49" charset="-122"/>
              </a:rPr>
              <a:t> </a:t>
            </a:r>
            <a:r>
              <a:rPr lang="zh-CN" altLang="en-US" sz="2400" b="0" dirty="0">
                <a:solidFill>
                  <a:schemeClr val="tx1"/>
                </a:solidFill>
                <a:latin typeface="黑体" panose="02010609060101010101" pitchFamily="49" charset="-122"/>
                <a:ea typeface="黑体" panose="02010609060101010101" pitchFamily="49" charset="-122"/>
              </a:rPr>
              <a:t>互补型金属氧化物半导体</a:t>
            </a:r>
            <a:r>
              <a:rPr lang="en-US" altLang="zh-CN" sz="2400" b="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 </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2393150" name="Text Box 62"/>
          <p:cNvSpPr txBox="1"/>
          <p:nvPr/>
        </p:nvSpPr>
        <p:spPr>
          <a:xfrm>
            <a:off x="4851400" y="2903538"/>
            <a:ext cx="3759200" cy="8604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CMOS</a:t>
            </a:r>
            <a:r>
              <a:rPr lang="zh-CN" altLang="en-US" sz="2800" dirty="0">
                <a:latin typeface="Times New Roman" panose="02020603050405020304" pitchFamily="18" charset="0"/>
              </a:rPr>
              <a:t>型场效应管开关优点：</a:t>
            </a:r>
            <a:endParaRPr lang="zh-CN" altLang="en-US" sz="2800" dirty="0">
              <a:latin typeface="Times New Roman" panose="02020603050405020304" pitchFamily="18" charset="0"/>
            </a:endParaRPr>
          </a:p>
        </p:txBody>
      </p:sp>
      <p:sp>
        <p:nvSpPr>
          <p:cNvPr id="2393151" name="Text Box 63"/>
          <p:cNvSpPr txBox="1"/>
          <p:nvPr/>
        </p:nvSpPr>
        <p:spPr>
          <a:xfrm>
            <a:off x="4851400" y="3775075"/>
            <a:ext cx="3759200" cy="641350"/>
          </a:xfrm>
          <a:prstGeom prst="rect">
            <a:avLst/>
          </a:prstGeom>
          <a:noFill/>
          <a:ln w="9525">
            <a:noFill/>
          </a:ln>
        </p:spPr>
        <p:txBody>
          <a:bodyPr>
            <a:spAutoFit/>
          </a:bodyPr>
          <a:p>
            <a:pPr eaLnBrk="1" hangingPunct="1">
              <a:lnSpc>
                <a:spcPct val="90000"/>
              </a:lnSpc>
              <a:spcBef>
                <a:spcPct val="50000"/>
              </a:spcBef>
              <a:buClr>
                <a:srgbClr val="FF0000"/>
              </a:buClr>
              <a:buSzPct val="80000"/>
              <a:buFont typeface="Wingdings" panose="05000000000000000000" pitchFamily="2" charset="2"/>
              <a:buChar char="n"/>
            </a:pPr>
            <a:r>
              <a:rPr lang="en-US" altLang="zh-CN" sz="2000" dirty="0">
                <a:solidFill>
                  <a:schemeClr val="tx1"/>
                </a:solidFill>
                <a:latin typeface="黑体" panose="02010609060101010101" pitchFamily="49" charset="-122"/>
                <a:ea typeface="黑体" panose="02010609060101010101" pitchFamily="49" charset="-122"/>
              </a:rPr>
              <a:t> </a:t>
            </a:r>
            <a:r>
              <a:rPr lang="zh-CN" altLang="en-US" sz="2000" dirty="0">
                <a:solidFill>
                  <a:schemeClr val="tx1"/>
                </a:solidFill>
                <a:latin typeface="黑体" panose="02010609060101010101" pitchFamily="49" charset="-122"/>
                <a:ea typeface="黑体" panose="02010609060101010101" pitchFamily="49" charset="-122"/>
              </a:rPr>
              <a:t>导通电阻</a:t>
            </a:r>
            <a:r>
              <a:rPr lang="en-US" altLang="zh-CN" sz="2000" dirty="0">
                <a:solidFill>
                  <a:schemeClr val="tx1"/>
                </a:solidFill>
                <a:latin typeface="黑体" panose="02010609060101010101" pitchFamily="49" charset="-122"/>
                <a:ea typeface="黑体" panose="02010609060101010101" pitchFamily="49" charset="-122"/>
              </a:rPr>
              <a:t>R</a:t>
            </a:r>
            <a:r>
              <a:rPr lang="en-US" altLang="zh-CN" sz="2000" baseline="-25000" dirty="0">
                <a:solidFill>
                  <a:schemeClr val="tx1"/>
                </a:solidFill>
                <a:latin typeface="黑体" panose="02010609060101010101" pitchFamily="49" charset="-122"/>
                <a:ea typeface="黑体" panose="02010609060101010101" pitchFamily="49" charset="-122"/>
              </a:rPr>
              <a:t>ON</a:t>
            </a:r>
            <a:r>
              <a:rPr lang="zh-CN" altLang="en-US" sz="2000" dirty="0">
                <a:solidFill>
                  <a:schemeClr val="tx1"/>
                </a:solidFill>
                <a:latin typeface="黑体" panose="02010609060101010101" pitchFamily="49" charset="-122"/>
                <a:ea typeface="黑体" panose="02010609060101010101" pitchFamily="49" charset="-122"/>
              </a:rPr>
              <a:t>随信号电压变化波动小；</a:t>
            </a:r>
            <a:endParaRPr lang="zh-CN" altLang="en-US" sz="2000" dirty="0">
              <a:solidFill>
                <a:schemeClr val="tx1"/>
              </a:solidFill>
              <a:latin typeface="黑体" panose="02010609060101010101" pitchFamily="49" charset="-122"/>
              <a:ea typeface="黑体" panose="02010609060101010101" pitchFamily="49" charset="-122"/>
            </a:endParaRPr>
          </a:p>
        </p:txBody>
      </p:sp>
      <p:sp>
        <p:nvSpPr>
          <p:cNvPr id="2393152" name="Line 64"/>
          <p:cNvSpPr/>
          <p:nvPr/>
        </p:nvSpPr>
        <p:spPr>
          <a:xfrm flipV="1">
            <a:off x="5057775" y="5832475"/>
            <a:ext cx="2992438" cy="9525"/>
          </a:xfrm>
          <a:prstGeom prst="line">
            <a:avLst/>
          </a:prstGeom>
          <a:ln w="25400" cap="flat" cmpd="sng">
            <a:solidFill>
              <a:schemeClr val="tx1"/>
            </a:solidFill>
            <a:prstDash val="solid"/>
            <a:headEnd type="none" w="med" len="med"/>
            <a:tailEnd type="stealth" w="lg" len="lg"/>
          </a:ln>
        </p:spPr>
      </p:sp>
      <p:sp>
        <p:nvSpPr>
          <p:cNvPr id="2393153" name="Line 65"/>
          <p:cNvSpPr/>
          <p:nvPr/>
        </p:nvSpPr>
        <p:spPr>
          <a:xfrm flipV="1">
            <a:off x="6607175" y="4646613"/>
            <a:ext cx="7938" cy="1481137"/>
          </a:xfrm>
          <a:prstGeom prst="line">
            <a:avLst/>
          </a:prstGeom>
          <a:ln w="25400" cap="flat" cmpd="sng">
            <a:solidFill>
              <a:schemeClr val="tx1"/>
            </a:solidFill>
            <a:prstDash val="solid"/>
            <a:headEnd type="none" w="med" len="med"/>
            <a:tailEnd type="stealth" w="lg" len="lg"/>
          </a:ln>
        </p:spPr>
      </p:sp>
      <p:sp>
        <p:nvSpPr>
          <p:cNvPr id="2393155" name="Freeform 67"/>
          <p:cNvSpPr/>
          <p:nvPr/>
        </p:nvSpPr>
        <p:spPr>
          <a:xfrm>
            <a:off x="5216525" y="4794250"/>
            <a:ext cx="2616200" cy="863600"/>
          </a:xfrm>
          <a:custGeom>
            <a:avLst/>
            <a:gdLst/>
            <a:ahLst/>
            <a:cxnLst>
              <a:cxn ang="0">
                <a:pos x="0" y="0"/>
              </a:cxn>
              <a:cxn ang="0">
                <a:pos x="2147483646" y="2147483646"/>
              </a:cxn>
              <a:cxn ang="0">
                <a:pos x="2147483646" y="2147483646"/>
              </a:cxn>
            </a:cxnLst>
            <a:pathLst>
              <a:path w="1648" h="544">
                <a:moveTo>
                  <a:pt x="0" y="0"/>
                </a:moveTo>
                <a:cubicBezTo>
                  <a:pt x="195" y="173"/>
                  <a:pt x="391" y="346"/>
                  <a:pt x="666" y="437"/>
                </a:cubicBezTo>
                <a:cubicBezTo>
                  <a:pt x="941" y="528"/>
                  <a:pt x="1294" y="536"/>
                  <a:pt x="1648" y="544"/>
                </a:cubicBezTo>
              </a:path>
            </a:pathLst>
          </a:custGeom>
          <a:noFill/>
          <a:ln w="25400" cap="flat" cmpd="sng">
            <a:solidFill>
              <a:schemeClr val="accent2">
                <a:alpha val="100000"/>
              </a:schemeClr>
            </a:solidFill>
            <a:prstDash val="solid"/>
            <a:round/>
            <a:headEnd type="none" w="med" len="med"/>
            <a:tailEnd type="none" w="med" len="med"/>
          </a:ln>
        </p:spPr>
        <p:txBody>
          <a:bodyPr/>
          <a:p>
            <a:endParaRPr lang="zh-CN" altLang="en-US"/>
          </a:p>
        </p:txBody>
      </p:sp>
      <p:sp>
        <p:nvSpPr>
          <p:cNvPr id="2393156" name="Freeform 68"/>
          <p:cNvSpPr/>
          <p:nvPr/>
        </p:nvSpPr>
        <p:spPr>
          <a:xfrm flipH="1">
            <a:off x="5237163" y="4827588"/>
            <a:ext cx="2590800" cy="863600"/>
          </a:xfrm>
          <a:custGeom>
            <a:avLst/>
            <a:gdLst/>
            <a:ahLst/>
            <a:cxnLst>
              <a:cxn ang="0">
                <a:pos x="0" y="0"/>
              </a:cxn>
              <a:cxn ang="0">
                <a:pos x="2147483646" y="2147483646"/>
              </a:cxn>
              <a:cxn ang="0">
                <a:pos x="2147483646" y="2147483646"/>
              </a:cxn>
            </a:cxnLst>
            <a:pathLst>
              <a:path w="1648" h="544">
                <a:moveTo>
                  <a:pt x="0" y="0"/>
                </a:moveTo>
                <a:cubicBezTo>
                  <a:pt x="195" y="173"/>
                  <a:pt x="391" y="346"/>
                  <a:pt x="666" y="437"/>
                </a:cubicBezTo>
                <a:cubicBezTo>
                  <a:pt x="941" y="528"/>
                  <a:pt x="1294" y="536"/>
                  <a:pt x="1648" y="544"/>
                </a:cubicBezTo>
              </a:path>
            </a:pathLst>
          </a:custGeom>
          <a:noFill/>
          <a:ln w="25400" cap="flat" cmpd="sng">
            <a:solidFill>
              <a:schemeClr val="accent2">
                <a:alpha val="100000"/>
              </a:schemeClr>
            </a:solidFill>
            <a:prstDash val="solid"/>
            <a:round/>
            <a:headEnd type="none" w="med" len="med"/>
            <a:tailEnd type="none" w="med" len="med"/>
          </a:ln>
        </p:spPr>
        <p:txBody>
          <a:bodyPr/>
          <a:p>
            <a:endParaRPr lang="zh-CN" altLang="en-US"/>
          </a:p>
        </p:txBody>
      </p:sp>
      <p:sp>
        <p:nvSpPr>
          <p:cNvPr id="2393158" name="Freeform 70"/>
          <p:cNvSpPr/>
          <p:nvPr/>
        </p:nvSpPr>
        <p:spPr>
          <a:xfrm>
            <a:off x="5241925" y="5688013"/>
            <a:ext cx="2581275" cy="63500"/>
          </a:xfrm>
          <a:custGeom>
            <a:avLst/>
            <a:gdLst/>
            <a:ahLst/>
            <a:cxnLst>
              <a:cxn ang="0">
                <a:pos x="0" y="2147483646"/>
              </a:cxn>
              <a:cxn ang="0">
                <a:pos x="2147483646" y="2147483646"/>
              </a:cxn>
              <a:cxn ang="0">
                <a:pos x="2147483646" y="2147483646"/>
              </a:cxn>
            </a:cxnLst>
            <a:pathLst>
              <a:path w="1626" h="40">
                <a:moveTo>
                  <a:pt x="0" y="40"/>
                </a:moveTo>
                <a:cubicBezTo>
                  <a:pt x="293" y="22"/>
                  <a:pt x="587" y="4"/>
                  <a:pt x="858" y="2"/>
                </a:cubicBezTo>
                <a:cubicBezTo>
                  <a:pt x="1129" y="0"/>
                  <a:pt x="1377" y="14"/>
                  <a:pt x="1626" y="29"/>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2393159" name="Text Box 71"/>
          <p:cNvSpPr txBox="1"/>
          <p:nvPr/>
        </p:nvSpPr>
        <p:spPr>
          <a:xfrm>
            <a:off x="7948613" y="5559425"/>
            <a:ext cx="766762" cy="533400"/>
          </a:xfrm>
          <a:prstGeom prst="rect">
            <a:avLst/>
          </a:prstGeom>
          <a:noFill/>
          <a:ln w="9525">
            <a:noFill/>
          </a:ln>
        </p:spPr>
        <p:txBody>
          <a:bodyPr>
            <a:spAutoFit/>
          </a:bodyPr>
          <a:p>
            <a:pPr eaLnBrk="1" hangingPunct="1">
              <a:lnSpc>
                <a:spcPct val="90000"/>
              </a:lnSpc>
              <a:spcBef>
                <a:spcPct val="50000"/>
              </a:spcBef>
            </a:pPr>
            <a:r>
              <a:rPr lang="zh-CN" altLang="en-US" sz="1600" dirty="0">
                <a:solidFill>
                  <a:srgbClr val="FF0000"/>
                </a:solidFill>
                <a:latin typeface="Times New Roman" panose="02020603050405020304" pitchFamily="18" charset="0"/>
                <a:ea typeface="黑体" panose="02010609060101010101" pitchFamily="49" charset="-122"/>
              </a:rPr>
              <a:t>信号电压</a:t>
            </a:r>
            <a:endParaRPr lang="zh-CN" altLang="en-US" sz="1600" dirty="0">
              <a:solidFill>
                <a:srgbClr val="FF0000"/>
              </a:solidFill>
              <a:latin typeface="Times New Roman" panose="02020603050405020304" pitchFamily="18" charset="0"/>
              <a:ea typeface="黑体" panose="02010609060101010101" pitchFamily="49" charset="-122"/>
            </a:endParaRPr>
          </a:p>
        </p:txBody>
      </p:sp>
      <p:sp>
        <p:nvSpPr>
          <p:cNvPr id="2393160" name="Text Box 72"/>
          <p:cNvSpPr txBox="1"/>
          <p:nvPr/>
        </p:nvSpPr>
        <p:spPr>
          <a:xfrm>
            <a:off x="6602413" y="4556125"/>
            <a:ext cx="584200"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ea typeface="黑体" panose="02010609060101010101" pitchFamily="49" charset="-122"/>
              </a:rPr>
              <a:t>R</a:t>
            </a:r>
            <a:r>
              <a:rPr lang="en-US" altLang="zh-CN" sz="1600" baseline="-25000" dirty="0">
                <a:solidFill>
                  <a:srgbClr val="FF0000"/>
                </a:solidFill>
                <a:latin typeface="Times New Roman" panose="02020603050405020304" pitchFamily="18" charset="0"/>
                <a:ea typeface="黑体" panose="02010609060101010101" pitchFamily="49" charset="-122"/>
              </a:rPr>
              <a:t>ON</a:t>
            </a:r>
            <a:endParaRPr lang="en-US" altLang="zh-CN" sz="1600" baseline="-25000" dirty="0">
              <a:solidFill>
                <a:srgbClr val="FF0000"/>
              </a:solidFill>
              <a:latin typeface="Times New Roman" panose="02020603050405020304" pitchFamily="18" charset="0"/>
              <a:ea typeface="黑体" panose="02010609060101010101" pitchFamily="49" charset="-122"/>
            </a:endParaRPr>
          </a:p>
        </p:txBody>
      </p:sp>
      <p:sp>
        <p:nvSpPr>
          <p:cNvPr id="2393161" name="Text Box 73"/>
          <p:cNvSpPr txBox="1"/>
          <p:nvPr/>
        </p:nvSpPr>
        <p:spPr>
          <a:xfrm>
            <a:off x="7551738" y="4564063"/>
            <a:ext cx="1133475"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ea typeface="黑体" panose="02010609060101010101" pitchFamily="49" charset="-122"/>
              </a:rPr>
              <a:t>NMOS</a:t>
            </a:r>
            <a:endParaRPr lang="en-US" altLang="zh-CN" sz="1600" dirty="0">
              <a:solidFill>
                <a:srgbClr val="FF0000"/>
              </a:solidFill>
              <a:latin typeface="Times New Roman" panose="02020603050405020304" pitchFamily="18" charset="0"/>
              <a:ea typeface="黑体" panose="02010609060101010101" pitchFamily="49" charset="-122"/>
            </a:endParaRPr>
          </a:p>
        </p:txBody>
      </p:sp>
      <p:sp>
        <p:nvSpPr>
          <p:cNvPr id="2393162" name="Text Box 74"/>
          <p:cNvSpPr txBox="1"/>
          <p:nvPr/>
        </p:nvSpPr>
        <p:spPr>
          <a:xfrm>
            <a:off x="4959350" y="4538663"/>
            <a:ext cx="1133475"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ea typeface="黑体" panose="02010609060101010101" pitchFamily="49" charset="-122"/>
              </a:rPr>
              <a:t>PMOS</a:t>
            </a:r>
            <a:endParaRPr lang="en-US" altLang="zh-CN" sz="1600" dirty="0">
              <a:solidFill>
                <a:srgbClr val="FF0000"/>
              </a:solidFill>
              <a:latin typeface="Times New Roman" panose="02020603050405020304" pitchFamily="18" charset="0"/>
              <a:ea typeface="黑体" panose="02010609060101010101" pitchFamily="49" charset="-122"/>
            </a:endParaRPr>
          </a:p>
        </p:txBody>
      </p:sp>
      <p:sp>
        <p:nvSpPr>
          <p:cNvPr id="2393163" name="Text Box 75"/>
          <p:cNvSpPr txBox="1"/>
          <p:nvPr/>
        </p:nvSpPr>
        <p:spPr>
          <a:xfrm>
            <a:off x="5264150" y="5880100"/>
            <a:ext cx="1133475"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ea typeface="黑体" panose="02010609060101010101" pitchFamily="49" charset="-122"/>
              </a:rPr>
              <a:t>CMOS</a:t>
            </a:r>
            <a:endParaRPr lang="en-US" altLang="zh-CN" sz="1600" dirty="0">
              <a:solidFill>
                <a:srgbClr val="FF0000"/>
              </a:solidFill>
              <a:latin typeface="Times New Roman" panose="02020603050405020304" pitchFamily="18" charset="0"/>
              <a:ea typeface="黑体" panose="02010609060101010101" pitchFamily="49" charset="-122"/>
            </a:endParaRPr>
          </a:p>
        </p:txBody>
      </p:sp>
      <p:sp>
        <p:nvSpPr>
          <p:cNvPr id="2393164" name="Line 76"/>
          <p:cNvSpPr/>
          <p:nvPr/>
        </p:nvSpPr>
        <p:spPr>
          <a:xfrm flipV="1">
            <a:off x="5783263" y="5721350"/>
            <a:ext cx="338137" cy="200025"/>
          </a:xfrm>
          <a:prstGeom prst="line">
            <a:avLst/>
          </a:prstGeom>
          <a:ln w="12700" cap="flat" cmpd="sng">
            <a:solidFill>
              <a:schemeClr val="tx1"/>
            </a:solidFill>
            <a:prstDash val="solid"/>
            <a:headEnd type="none" w="med" len="med"/>
            <a:tailEnd type="triangle" w="med" len="med"/>
          </a:ln>
        </p:spPr>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3149"/>
                                        </p:tgtEl>
                                        <p:attrNameLst>
                                          <p:attrName>style.visibility</p:attrName>
                                        </p:attrNameLst>
                                      </p:cBhvr>
                                      <p:to>
                                        <p:strVal val="visible"/>
                                      </p:to>
                                    </p:set>
                                    <p:animEffect transition="in" filter="dissolve">
                                      <p:cBhvr>
                                        <p:cTn id="7" dur="500"/>
                                        <p:tgtEl>
                                          <p:spTgt spid="23931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3150"/>
                                        </p:tgtEl>
                                        <p:attrNameLst>
                                          <p:attrName>style.visibility</p:attrName>
                                        </p:attrNameLst>
                                      </p:cBhvr>
                                      <p:to>
                                        <p:strVal val="visible"/>
                                      </p:to>
                                    </p:set>
                                    <p:animEffect transition="in" filter="dissolve">
                                      <p:cBhvr>
                                        <p:cTn id="12" dur="500"/>
                                        <p:tgtEl>
                                          <p:spTgt spid="239315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3151"/>
                                        </p:tgtEl>
                                        <p:attrNameLst>
                                          <p:attrName>style.visibility</p:attrName>
                                        </p:attrNameLst>
                                      </p:cBhvr>
                                      <p:to>
                                        <p:strVal val="visible"/>
                                      </p:to>
                                    </p:set>
                                    <p:animEffect transition="in" filter="dissolve">
                                      <p:cBhvr>
                                        <p:cTn id="17" dur="500"/>
                                        <p:tgtEl>
                                          <p:spTgt spid="239315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3165"/>
                                        </p:tgtEl>
                                        <p:attrNameLst>
                                          <p:attrName>style.visibility</p:attrName>
                                        </p:attrNameLst>
                                      </p:cBhvr>
                                      <p:to>
                                        <p:strVal val="visible"/>
                                      </p:to>
                                    </p:set>
                                    <p:animEffect transition="in" filter="dissolve">
                                      <p:cBhvr>
                                        <p:cTn id="22" dur="500"/>
                                        <p:tgtEl>
                                          <p:spTgt spid="2393165"/>
                                        </p:tgtEl>
                                      </p:cBhvr>
                                    </p:animEffect>
                                  </p:childTnLst>
                                </p:cTn>
                              </p:par>
                              <p:par>
                                <p:cTn id="23" presetID="9" presetClass="entr" presetSubtype="0" fill="hold" nodeType="withEffect">
                                  <p:stCondLst>
                                    <p:cond delay="0"/>
                                  </p:stCondLst>
                                  <p:childTnLst>
                                    <p:set>
                                      <p:cBhvr>
                                        <p:cTn id="24" dur="1" fill="hold">
                                          <p:stCondLst>
                                            <p:cond delay="0"/>
                                          </p:stCondLst>
                                        </p:cTn>
                                        <p:tgtEl>
                                          <p:spTgt spid="2393152"/>
                                        </p:tgtEl>
                                        <p:attrNameLst>
                                          <p:attrName>style.visibility</p:attrName>
                                        </p:attrNameLst>
                                      </p:cBhvr>
                                      <p:to>
                                        <p:strVal val="visible"/>
                                      </p:to>
                                    </p:set>
                                    <p:animEffect transition="in" filter="dissolve">
                                      <p:cBhvr>
                                        <p:cTn id="25" dur="500"/>
                                        <p:tgtEl>
                                          <p:spTgt spid="2393152"/>
                                        </p:tgtEl>
                                      </p:cBhvr>
                                    </p:animEffect>
                                  </p:childTnLst>
                                </p:cTn>
                              </p:par>
                              <p:par>
                                <p:cTn id="26" presetID="9" presetClass="entr" presetSubtype="0" fill="hold" nodeType="withEffect">
                                  <p:stCondLst>
                                    <p:cond delay="0"/>
                                  </p:stCondLst>
                                  <p:childTnLst>
                                    <p:set>
                                      <p:cBhvr>
                                        <p:cTn id="27" dur="1" fill="hold">
                                          <p:stCondLst>
                                            <p:cond delay="0"/>
                                          </p:stCondLst>
                                        </p:cTn>
                                        <p:tgtEl>
                                          <p:spTgt spid="2393153"/>
                                        </p:tgtEl>
                                        <p:attrNameLst>
                                          <p:attrName>style.visibility</p:attrName>
                                        </p:attrNameLst>
                                      </p:cBhvr>
                                      <p:to>
                                        <p:strVal val="visible"/>
                                      </p:to>
                                    </p:set>
                                    <p:animEffect transition="in" filter="dissolve">
                                      <p:cBhvr>
                                        <p:cTn id="28" dur="500"/>
                                        <p:tgtEl>
                                          <p:spTgt spid="2393153"/>
                                        </p:tgtEl>
                                      </p:cBhvr>
                                    </p:animEffect>
                                  </p:childTnLst>
                                </p:cTn>
                              </p:par>
                              <p:par>
                                <p:cTn id="29" presetID="9" presetClass="entr" presetSubtype="0" fill="hold" nodeType="withEffect">
                                  <p:stCondLst>
                                    <p:cond delay="0"/>
                                  </p:stCondLst>
                                  <p:childTnLst>
                                    <p:set>
                                      <p:cBhvr>
                                        <p:cTn id="30" dur="1" fill="hold">
                                          <p:stCondLst>
                                            <p:cond delay="0"/>
                                          </p:stCondLst>
                                        </p:cTn>
                                        <p:tgtEl>
                                          <p:spTgt spid="2393155"/>
                                        </p:tgtEl>
                                        <p:attrNameLst>
                                          <p:attrName>style.visibility</p:attrName>
                                        </p:attrNameLst>
                                      </p:cBhvr>
                                      <p:to>
                                        <p:strVal val="visible"/>
                                      </p:to>
                                    </p:set>
                                    <p:animEffect transition="in" filter="dissolve">
                                      <p:cBhvr>
                                        <p:cTn id="31" dur="500"/>
                                        <p:tgtEl>
                                          <p:spTgt spid="2393155"/>
                                        </p:tgtEl>
                                      </p:cBhvr>
                                    </p:animEffect>
                                  </p:childTnLst>
                                </p:cTn>
                              </p:par>
                              <p:par>
                                <p:cTn id="32" presetID="9" presetClass="entr" presetSubtype="0" fill="hold" nodeType="withEffect">
                                  <p:stCondLst>
                                    <p:cond delay="0"/>
                                  </p:stCondLst>
                                  <p:childTnLst>
                                    <p:set>
                                      <p:cBhvr>
                                        <p:cTn id="33" dur="1" fill="hold">
                                          <p:stCondLst>
                                            <p:cond delay="0"/>
                                          </p:stCondLst>
                                        </p:cTn>
                                        <p:tgtEl>
                                          <p:spTgt spid="2393156"/>
                                        </p:tgtEl>
                                        <p:attrNameLst>
                                          <p:attrName>style.visibility</p:attrName>
                                        </p:attrNameLst>
                                      </p:cBhvr>
                                      <p:to>
                                        <p:strVal val="visible"/>
                                      </p:to>
                                    </p:set>
                                    <p:animEffect transition="in" filter="dissolve">
                                      <p:cBhvr>
                                        <p:cTn id="34" dur="500"/>
                                        <p:tgtEl>
                                          <p:spTgt spid="2393156"/>
                                        </p:tgtEl>
                                      </p:cBhvr>
                                    </p:animEffect>
                                  </p:childTnLst>
                                </p:cTn>
                              </p:par>
                              <p:par>
                                <p:cTn id="35" presetID="9" presetClass="entr" presetSubtype="0" fill="hold" nodeType="withEffect">
                                  <p:stCondLst>
                                    <p:cond delay="0"/>
                                  </p:stCondLst>
                                  <p:childTnLst>
                                    <p:set>
                                      <p:cBhvr>
                                        <p:cTn id="36" dur="1" fill="hold">
                                          <p:stCondLst>
                                            <p:cond delay="0"/>
                                          </p:stCondLst>
                                        </p:cTn>
                                        <p:tgtEl>
                                          <p:spTgt spid="2393158"/>
                                        </p:tgtEl>
                                        <p:attrNameLst>
                                          <p:attrName>style.visibility</p:attrName>
                                        </p:attrNameLst>
                                      </p:cBhvr>
                                      <p:to>
                                        <p:strVal val="visible"/>
                                      </p:to>
                                    </p:set>
                                    <p:animEffect transition="in" filter="dissolve">
                                      <p:cBhvr>
                                        <p:cTn id="37" dur="500"/>
                                        <p:tgtEl>
                                          <p:spTgt spid="2393158"/>
                                        </p:tgtEl>
                                      </p:cBhvr>
                                    </p:animEffect>
                                  </p:childTnLst>
                                </p:cTn>
                              </p:par>
                              <p:par>
                                <p:cTn id="38" presetID="9" presetClass="entr" presetSubtype="0" fill="hold" nodeType="withEffect">
                                  <p:stCondLst>
                                    <p:cond delay="0"/>
                                  </p:stCondLst>
                                  <p:childTnLst>
                                    <p:set>
                                      <p:cBhvr>
                                        <p:cTn id="39" dur="1" fill="hold">
                                          <p:stCondLst>
                                            <p:cond delay="0"/>
                                          </p:stCondLst>
                                        </p:cTn>
                                        <p:tgtEl>
                                          <p:spTgt spid="2393159"/>
                                        </p:tgtEl>
                                        <p:attrNameLst>
                                          <p:attrName>style.visibility</p:attrName>
                                        </p:attrNameLst>
                                      </p:cBhvr>
                                      <p:to>
                                        <p:strVal val="visible"/>
                                      </p:to>
                                    </p:set>
                                    <p:animEffect transition="in" filter="dissolve">
                                      <p:cBhvr>
                                        <p:cTn id="40" dur="500"/>
                                        <p:tgtEl>
                                          <p:spTgt spid="2393159"/>
                                        </p:tgtEl>
                                      </p:cBhvr>
                                    </p:animEffect>
                                  </p:childTnLst>
                                </p:cTn>
                              </p:par>
                              <p:par>
                                <p:cTn id="41" presetID="9" presetClass="entr" presetSubtype="0" fill="hold" nodeType="withEffect">
                                  <p:stCondLst>
                                    <p:cond delay="0"/>
                                  </p:stCondLst>
                                  <p:childTnLst>
                                    <p:set>
                                      <p:cBhvr>
                                        <p:cTn id="42" dur="1" fill="hold">
                                          <p:stCondLst>
                                            <p:cond delay="0"/>
                                          </p:stCondLst>
                                        </p:cTn>
                                        <p:tgtEl>
                                          <p:spTgt spid="2393160"/>
                                        </p:tgtEl>
                                        <p:attrNameLst>
                                          <p:attrName>style.visibility</p:attrName>
                                        </p:attrNameLst>
                                      </p:cBhvr>
                                      <p:to>
                                        <p:strVal val="visible"/>
                                      </p:to>
                                    </p:set>
                                    <p:animEffect transition="in" filter="dissolve">
                                      <p:cBhvr>
                                        <p:cTn id="43" dur="500"/>
                                        <p:tgtEl>
                                          <p:spTgt spid="2393160"/>
                                        </p:tgtEl>
                                      </p:cBhvr>
                                    </p:animEffect>
                                  </p:childTnLst>
                                </p:cTn>
                              </p:par>
                              <p:par>
                                <p:cTn id="44" presetID="9" presetClass="entr" presetSubtype="0" fill="hold" nodeType="withEffect">
                                  <p:stCondLst>
                                    <p:cond delay="0"/>
                                  </p:stCondLst>
                                  <p:childTnLst>
                                    <p:set>
                                      <p:cBhvr>
                                        <p:cTn id="45" dur="1" fill="hold">
                                          <p:stCondLst>
                                            <p:cond delay="0"/>
                                          </p:stCondLst>
                                        </p:cTn>
                                        <p:tgtEl>
                                          <p:spTgt spid="2393161"/>
                                        </p:tgtEl>
                                        <p:attrNameLst>
                                          <p:attrName>style.visibility</p:attrName>
                                        </p:attrNameLst>
                                      </p:cBhvr>
                                      <p:to>
                                        <p:strVal val="visible"/>
                                      </p:to>
                                    </p:set>
                                    <p:animEffect transition="in" filter="dissolve">
                                      <p:cBhvr>
                                        <p:cTn id="46" dur="500"/>
                                        <p:tgtEl>
                                          <p:spTgt spid="2393161"/>
                                        </p:tgtEl>
                                      </p:cBhvr>
                                    </p:animEffect>
                                  </p:childTnLst>
                                </p:cTn>
                              </p:par>
                              <p:par>
                                <p:cTn id="47" presetID="9" presetClass="entr" presetSubtype="0" fill="hold" nodeType="withEffect">
                                  <p:stCondLst>
                                    <p:cond delay="0"/>
                                  </p:stCondLst>
                                  <p:childTnLst>
                                    <p:set>
                                      <p:cBhvr>
                                        <p:cTn id="48" dur="1" fill="hold">
                                          <p:stCondLst>
                                            <p:cond delay="0"/>
                                          </p:stCondLst>
                                        </p:cTn>
                                        <p:tgtEl>
                                          <p:spTgt spid="2393162"/>
                                        </p:tgtEl>
                                        <p:attrNameLst>
                                          <p:attrName>style.visibility</p:attrName>
                                        </p:attrNameLst>
                                      </p:cBhvr>
                                      <p:to>
                                        <p:strVal val="visible"/>
                                      </p:to>
                                    </p:set>
                                    <p:animEffect transition="in" filter="dissolve">
                                      <p:cBhvr>
                                        <p:cTn id="49" dur="500"/>
                                        <p:tgtEl>
                                          <p:spTgt spid="2393162"/>
                                        </p:tgtEl>
                                      </p:cBhvr>
                                    </p:animEffect>
                                  </p:childTnLst>
                                </p:cTn>
                              </p:par>
                              <p:par>
                                <p:cTn id="50" presetID="9" presetClass="entr" presetSubtype="0" fill="hold" nodeType="withEffect">
                                  <p:stCondLst>
                                    <p:cond delay="0"/>
                                  </p:stCondLst>
                                  <p:childTnLst>
                                    <p:set>
                                      <p:cBhvr>
                                        <p:cTn id="51" dur="1" fill="hold">
                                          <p:stCondLst>
                                            <p:cond delay="0"/>
                                          </p:stCondLst>
                                        </p:cTn>
                                        <p:tgtEl>
                                          <p:spTgt spid="2393163"/>
                                        </p:tgtEl>
                                        <p:attrNameLst>
                                          <p:attrName>style.visibility</p:attrName>
                                        </p:attrNameLst>
                                      </p:cBhvr>
                                      <p:to>
                                        <p:strVal val="visible"/>
                                      </p:to>
                                    </p:set>
                                    <p:animEffect transition="in" filter="dissolve">
                                      <p:cBhvr>
                                        <p:cTn id="52" dur="500"/>
                                        <p:tgtEl>
                                          <p:spTgt spid="2393163"/>
                                        </p:tgtEl>
                                      </p:cBhvr>
                                    </p:animEffect>
                                  </p:childTnLst>
                                </p:cTn>
                              </p:par>
                              <p:par>
                                <p:cTn id="53" presetID="9" presetClass="entr" presetSubtype="0" fill="hold" nodeType="withEffect">
                                  <p:stCondLst>
                                    <p:cond delay="0"/>
                                  </p:stCondLst>
                                  <p:childTnLst>
                                    <p:set>
                                      <p:cBhvr>
                                        <p:cTn id="54" dur="1" fill="hold">
                                          <p:stCondLst>
                                            <p:cond delay="0"/>
                                          </p:stCondLst>
                                        </p:cTn>
                                        <p:tgtEl>
                                          <p:spTgt spid="2393164"/>
                                        </p:tgtEl>
                                        <p:attrNameLst>
                                          <p:attrName>style.visibility</p:attrName>
                                        </p:attrNameLst>
                                      </p:cBhvr>
                                      <p:to>
                                        <p:strVal val="visible"/>
                                      </p:to>
                                    </p:set>
                                    <p:animEffect transition="in" filter="dissolve">
                                      <p:cBhvr>
                                        <p:cTn id="55" dur="500"/>
                                        <p:tgtEl>
                                          <p:spTgt spid="2393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3165" grpId="0" animBg="1"/>
      <p:bldP spid="2393149" grpId="0" animBg="1"/>
      <p:bldP spid="2393150" grpId="0" animBg="1"/>
      <p:bldP spid="2393151" grpId="0"/>
      <p:bldP spid="2393159" grpId="0"/>
      <p:bldP spid="2393160" grpId="0"/>
      <p:bldP spid="2393161" grpId="0"/>
      <p:bldP spid="2393162" grpId="0"/>
      <p:bldP spid="2393163"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7410" name="Text Box 3"/>
          <p:cNvSpPr txBox="1"/>
          <p:nvPr/>
        </p:nvSpPr>
        <p:spPr>
          <a:xfrm>
            <a:off x="650875" y="2682875"/>
            <a:ext cx="3863975"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 </a:t>
            </a:r>
            <a:endParaRPr lang="zh-CN" altLang="en-US" sz="2800" dirty="0">
              <a:solidFill>
                <a:srgbClr val="3333FF"/>
              </a:solidFill>
              <a:latin typeface="楷体_GB2312" pitchFamily="49" charset="-122"/>
            </a:endParaRPr>
          </a:p>
        </p:txBody>
      </p:sp>
      <p:sp>
        <p:nvSpPr>
          <p:cNvPr id="17411" name="Text Box 4"/>
          <p:cNvSpPr txBox="1"/>
          <p:nvPr/>
        </p:nvSpPr>
        <p:spPr>
          <a:xfrm>
            <a:off x="485775" y="1676400"/>
            <a:ext cx="3865563" cy="860425"/>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17412" name="Text Box 5"/>
          <p:cNvSpPr txBox="1"/>
          <p:nvPr/>
        </p:nvSpPr>
        <p:spPr>
          <a:xfrm>
            <a:off x="647700" y="3289300"/>
            <a:ext cx="3856038"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2394119" name="Text Box 7"/>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7414" name="Text Box 8"/>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7415" name="Rectangle 10"/>
          <p:cNvSpPr/>
          <p:nvPr/>
        </p:nvSpPr>
        <p:spPr>
          <a:xfrm>
            <a:off x="4738688" y="876300"/>
            <a:ext cx="4032250" cy="1917700"/>
          </a:xfrm>
          <a:prstGeom prst="rect">
            <a:avLst/>
          </a:prstGeom>
          <a:solidFill>
            <a:srgbClr val="FFFF99"/>
          </a:solidFill>
          <a:ln w="9525">
            <a:noFill/>
          </a:ln>
        </p:spPr>
        <p:txBody>
          <a:bodyPr anchor="ctr" anchorCtr="0">
            <a:spAutoFit/>
          </a:bodyPr>
          <a:p>
            <a:pPr eaLnBrk="1" hangingPunct="1"/>
            <a:r>
              <a:rPr lang="en-US" altLang="zh-CN" sz="2400" b="0" dirty="0">
                <a:solidFill>
                  <a:srgbClr val="FF0000"/>
                </a:solidFill>
                <a:latin typeface="Times New Roman" panose="02020603050405020304" pitchFamily="18" charset="0"/>
                <a:ea typeface="黑体" panose="02010609060101010101" pitchFamily="49" charset="-122"/>
              </a:rPr>
              <a:t>PMOS</a:t>
            </a:r>
            <a:r>
              <a:rPr lang="zh-CN" altLang="en-US" sz="2400" b="0" dirty="0">
                <a:solidFill>
                  <a:schemeClr val="tx1"/>
                </a:solidFill>
                <a:latin typeface="黑体" panose="02010609060101010101" pitchFamily="49" charset="-122"/>
                <a:ea typeface="黑体" panose="02010609060101010101" pitchFamily="49" charset="-122"/>
              </a:rPr>
              <a:t>和</a:t>
            </a:r>
            <a:r>
              <a:rPr lang="en-US" altLang="zh-CN" sz="2400" b="0" dirty="0">
                <a:solidFill>
                  <a:srgbClr val="FF0000"/>
                </a:solidFill>
                <a:latin typeface="Times New Roman" panose="02020603050405020304" pitchFamily="18" charset="0"/>
                <a:ea typeface="黑体" panose="02010609060101010101" pitchFamily="49" charset="-122"/>
              </a:rPr>
              <a:t>NMOS</a:t>
            </a:r>
            <a:r>
              <a:rPr lang="zh-CN" altLang="en-US" sz="2400" b="0" dirty="0">
                <a:solidFill>
                  <a:schemeClr val="tx1"/>
                </a:solidFill>
                <a:latin typeface="黑体" panose="02010609060101010101" pitchFamily="49" charset="-122"/>
                <a:ea typeface="黑体" panose="02010609060101010101" pitchFamily="49" charset="-122"/>
              </a:rPr>
              <a:t>结合可以构成</a:t>
            </a:r>
            <a:r>
              <a:rPr lang="en-US" altLang="zh-CN" sz="2400" b="0" dirty="0">
                <a:solidFill>
                  <a:srgbClr val="FF0000"/>
                </a:solidFill>
                <a:latin typeface="Times New Roman" panose="02020603050405020304" pitchFamily="18" charset="0"/>
                <a:ea typeface="黑体" panose="02010609060101010101" pitchFamily="49" charset="-122"/>
              </a:rPr>
              <a:t>CMOS</a:t>
            </a:r>
            <a:r>
              <a:rPr lang="en-US" altLang="zh-CN" sz="2400" b="0" dirty="0">
                <a:solidFill>
                  <a:schemeClr val="tx1"/>
                </a:solidFill>
                <a:latin typeface="黑体" panose="02010609060101010101" pitchFamily="49" charset="-122"/>
                <a:ea typeface="黑体" panose="02010609060101010101" pitchFamily="49" charset="-122"/>
              </a:rPr>
              <a:t>(</a:t>
            </a:r>
            <a:r>
              <a:rPr lang="zh-CN" altLang="en-US" sz="2400" b="0" dirty="0">
                <a:solidFill>
                  <a:srgbClr val="FF0000"/>
                </a:solidFill>
                <a:latin typeface="黑体" panose="02010609060101010101" pitchFamily="49" charset="-122"/>
                <a:ea typeface="黑体" panose="02010609060101010101" pitchFamily="49" charset="-122"/>
              </a:rPr>
              <a:t>互补对称</a:t>
            </a:r>
            <a:r>
              <a:rPr lang="en-US" altLang="zh-CN" sz="2400" b="0" dirty="0">
                <a:solidFill>
                  <a:srgbClr val="FF0000"/>
                </a:solidFill>
                <a:latin typeface="Times New Roman" panose="02020603050405020304" pitchFamily="18" charset="0"/>
                <a:ea typeface="黑体" panose="02010609060101010101" pitchFamily="49" charset="-122"/>
              </a:rPr>
              <a:t>MOS</a:t>
            </a:r>
            <a:r>
              <a:rPr lang="zh-CN" altLang="en-US" sz="2400" b="0" dirty="0">
                <a:solidFill>
                  <a:schemeClr val="tx1"/>
                </a:solidFill>
                <a:latin typeface="黑体" panose="02010609060101010101" pitchFamily="49" charset="-122"/>
                <a:ea typeface="黑体" panose="02010609060101010101" pitchFamily="49" charset="-122"/>
              </a:rPr>
              <a:t>：</a:t>
            </a:r>
            <a:r>
              <a:rPr lang="en-US" altLang="zh-CN" sz="2400" b="0" dirty="0">
                <a:solidFill>
                  <a:schemeClr val="tx1"/>
                </a:solidFill>
                <a:latin typeface="Times New Roman" panose="02020603050405020304" pitchFamily="18" charset="0"/>
                <a:ea typeface="黑体" panose="02010609060101010101" pitchFamily="49" charset="-122"/>
              </a:rPr>
              <a:t>Complementary Metal-Oxide-Semiconductor Transistor</a:t>
            </a:r>
            <a:r>
              <a:rPr lang="en-US" altLang="zh-CN" sz="2400" b="0" dirty="0">
                <a:solidFill>
                  <a:schemeClr val="tx1"/>
                </a:solidFill>
                <a:latin typeface="黑体" panose="02010609060101010101" pitchFamily="49" charset="-122"/>
                <a:ea typeface="黑体" panose="02010609060101010101" pitchFamily="49" charset="-122"/>
              </a:rPr>
              <a:t> </a:t>
            </a:r>
            <a:r>
              <a:rPr lang="zh-CN" altLang="en-US" sz="2400" b="0" dirty="0">
                <a:solidFill>
                  <a:schemeClr val="tx1"/>
                </a:solidFill>
                <a:latin typeface="黑体" panose="02010609060101010101" pitchFamily="49" charset="-122"/>
                <a:ea typeface="黑体" panose="02010609060101010101" pitchFamily="49" charset="-122"/>
              </a:rPr>
              <a:t>互补型金属氧化物半导体</a:t>
            </a:r>
            <a:r>
              <a:rPr lang="en-US" altLang="zh-CN" sz="2400" b="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 </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17416" name="Text Box 11"/>
          <p:cNvSpPr txBox="1"/>
          <p:nvPr/>
        </p:nvSpPr>
        <p:spPr>
          <a:xfrm>
            <a:off x="4851400" y="2903538"/>
            <a:ext cx="3759200" cy="8604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CMOS</a:t>
            </a:r>
            <a:r>
              <a:rPr lang="zh-CN" altLang="en-US" sz="2800" dirty="0">
                <a:latin typeface="Times New Roman" panose="02020603050405020304" pitchFamily="18" charset="0"/>
              </a:rPr>
              <a:t>型场效应管开关优点：</a:t>
            </a:r>
            <a:endParaRPr lang="zh-CN" altLang="en-US" sz="2800" dirty="0">
              <a:latin typeface="Times New Roman" panose="02020603050405020304" pitchFamily="18" charset="0"/>
            </a:endParaRPr>
          </a:p>
        </p:txBody>
      </p:sp>
      <p:sp>
        <p:nvSpPr>
          <p:cNvPr id="2394124" name="Text Box 12"/>
          <p:cNvSpPr txBox="1"/>
          <p:nvPr/>
        </p:nvSpPr>
        <p:spPr>
          <a:xfrm>
            <a:off x="4859338" y="3775075"/>
            <a:ext cx="4105275" cy="2120900"/>
          </a:xfrm>
          <a:prstGeom prst="rect">
            <a:avLst/>
          </a:prstGeom>
          <a:noFill/>
          <a:ln w="9525">
            <a:noFill/>
          </a:ln>
        </p:spPr>
        <p:txBody>
          <a:bodyPr>
            <a:spAutoFit/>
          </a:bodyPr>
          <a:p>
            <a:pPr eaLnBrk="1" hangingPunct="1">
              <a:lnSpc>
                <a:spcPct val="90000"/>
              </a:lnSpc>
              <a:spcBef>
                <a:spcPct val="50000"/>
              </a:spcBef>
              <a:buClr>
                <a:srgbClr val="FF0000"/>
              </a:buClr>
              <a:buSzPct val="80000"/>
              <a:buFont typeface="Wingdings" panose="05000000000000000000" pitchFamily="2" charset="2"/>
              <a:buChar char="n"/>
            </a:pPr>
            <a:r>
              <a:rPr lang="en-US" altLang="zh-CN" sz="2000" dirty="0">
                <a:solidFill>
                  <a:schemeClr val="tx1"/>
                </a:solidFill>
                <a:latin typeface="黑体" panose="02010609060101010101" pitchFamily="49" charset="-122"/>
                <a:ea typeface="黑体" panose="02010609060101010101" pitchFamily="49" charset="-122"/>
              </a:rPr>
              <a:t> </a:t>
            </a:r>
            <a:r>
              <a:rPr lang="zh-CN" altLang="en-US" sz="2000" dirty="0">
                <a:solidFill>
                  <a:schemeClr val="tx1"/>
                </a:solidFill>
                <a:latin typeface="黑体" panose="02010609060101010101" pitchFamily="49" charset="-122"/>
                <a:ea typeface="黑体" panose="02010609060101010101" pitchFamily="49" charset="-122"/>
              </a:rPr>
              <a:t>开关接通时间短，小于</a:t>
            </a:r>
            <a:r>
              <a:rPr lang="en-US" altLang="zh-CN" sz="2000" dirty="0">
                <a:solidFill>
                  <a:schemeClr val="tx1"/>
                </a:solidFill>
                <a:latin typeface="黑体" panose="02010609060101010101" pitchFamily="49" charset="-122"/>
                <a:ea typeface="黑体" panose="02010609060101010101" pitchFamily="49" charset="-122"/>
              </a:rPr>
              <a:t>100ns</a:t>
            </a:r>
            <a:r>
              <a:rPr lang="zh-CN" altLang="en-US" sz="2000" dirty="0">
                <a:solidFill>
                  <a:schemeClr val="tx1"/>
                </a:solidFill>
                <a:latin typeface="黑体" panose="02010609060101010101" pitchFamily="49" charset="-122"/>
                <a:ea typeface="黑体" panose="02010609060101010101" pitchFamily="49" charset="-122"/>
              </a:rPr>
              <a:t>；</a:t>
            </a:r>
            <a:endParaRPr lang="zh-CN" altLang="en-US" sz="20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25000"/>
              </a:spcBef>
              <a:buClr>
                <a:srgbClr val="FF0000"/>
              </a:buClr>
              <a:buSzPct val="80000"/>
              <a:buFont typeface="Wingdings" panose="05000000000000000000" pitchFamily="2" charset="2"/>
              <a:buChar char="n"/>
            </a:pPr>
            <a:r>
              <a:rPr lang="zh-CN" altLang="en-US" sz="2000" dirty="0">
                <a:solidFill>
                  <a:schemeClr val="tx1"/>
                </a:solidFill>
                <a:latin typeface="黑体" panose="02010609060101010101" pitchFamily="49" charset="-122"/>
                <a:ea typeface="黑体" panose="02010609060101010101" pitchFamily="49" charset="-122"/>
              </a:rPr>
              <a:t> 功耗低；</a:t>
            </a:r>
            <a:endParaRPr lang="zh-CN" altLang="en-US" sz="20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25000"/>
              </a:spcBef>
              <a:buClr>
                <a:srgbClr val="FF0000"/>
              </a:buClr>
              <a:buSzPct val="80000"/>
              <a:buFont typeface="Wingdings" panose="05000000000000000000" pitchFamily="2" charset="2"/>
              <a:buChar char="n"/>
            </a:pPr>
            <a:r>
              <a:rPr lang="zh-CN" altLang="en-US" sz="2000" dirty="0">
                <a:solidFill>
                  <a:schemeClr val="tx1"/>
                </a:solidFill>
                <a:latin typeface="黑体" panose="02010609060101010101" pitchFamily="49" charset="-122"/>
                <a:ea typeface="黑体" panose="02010609060101010101" pitchFamily="49" charset="-122"/>
              </a:rPr>
              <a:t> 工作电压范围宽； </a:t>
            </a:r>
            <a:endParaRPr lang="zh-CN" altLang="en-US" sz="20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25000"/>
              </a:spcBef>
              <a:buClr>
                <a:srgbClr val="FF0000"/>
              </a:buClr>
              <a:buSzPct val="80000"/>
              <a:buFont typeface="Wingdings" panose="05000000000000000000" pitchFamily="2" charset="2"/>
              <a:buChar char="n"/>
            </a:pPr>
            <a:r>
              <a:rPr lang="zh-CN" altLang="en-US" sz="2000" dirty="0">
                <a:solidFill>
                  <a:schemeClr val="tx1"/>
                </a:solidFill>
                <a:latin typeface="黑体" panose="02010609060101010101" pitchFamily="49" charset="-122"/>
                <a:ea typeface="黑体" panose="02010609060101010101" pitchFamily="49" charset="-122"/>
              </a:rPr>
              <a:t> 抗干扰能力强；</a:t>
            </a:r>
            <a:endParaRPr lang="zh-CN" altLang="en-US" sz="20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25000"/>
              </a:spcBef>
              <a:buClr>
                <a:srgbClr val="FF0000"/>
              </a:buClr>
              <a:buSzPct val="80000"/>
              <a:buFont typeface="Wingdings" panose="05000000000000000000" pitchFamily="2" charset="2"/>
              <a:buChar char="n"/>
            </a:pPr>
            <a:r>
              <a:rPr lang="zh-CN" altLang="en-US" sz="2000" dirty="0">
                <a:solidFill>
                  <a:schemeClr val="tx1"/>
                </a:solidFill>
                <a:latin typeface="黑体" panose="02010609060101010101" pitchFamily="49" charset="-122"/>
                <a:ea typeface="黑体" panose="02010609060101010101" pitchFamily="49" charset="-122"/>
              </a:rPr>
              <a:t> 温度稳定性能好； </a:t>
            </a:r>
            <a:endParaRPr lang="zh-CN" altLang="en-US" sz="20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25000"/>
              </a:spcBef>
              <a:buClr>
                <a:srgbClr val="FF0000"/>
              </a:buClr>
              <a:buSzPct val="80000"/>
              <a:buFont typeface="Wingdings" panose="05000000000000000000" pitchFamily="2" charset="2"/>
              <a:buChar char="n"/>
            </a:pPr>
            <a:r>
              <a:rPr lang="zh-CN" altLang="en-US" sz="2000" dirty="0">
                <a:solidFill>
                  <a:schemeClr val="tx1"/>
                </a:solidFill>
                <a:latin typeface="黑体" panose="02010609060101010101" pitchFamily="49" charset="-122"/>
                <a:ea typeface="黑体" panose="02010609060101010101" pitchFamily="49" charset="-122"/>
              </a:rPr>
              <a:t> 易于和驱动电路集成。</a:t>
            </a:r>
            <a:endParaRPr lang="zh-CN" altLang="en-US" sz="2000" dirty="0">
              <a:solidFill>
                <a:schemeClr val="tx1"/>
              </a:solidFill>
              <a:latin typeface="黑体" panose="02010609060101010101" pitchFamily="49" charset="-122"/>
              <a:ea typeface="黑体" panose="02010609060101010101" pitchFamily="49" charset="-122"/>
            </a:endParaRPr>
          </a:p>
        </p:txBody>
      </p:sp>
      <p:sp>
        <p:nvSpPr>
          <p:cNvPr id="17418" name="Text Box 6"/>
          <p:cNvSpPr txBox="1"/>
          <p:nvPr/>
        </p:nvSpPr>
        <p:spPr>
          <a:xfrm>
            <a:off x="692150" y="3963988"/>
            <a:ext cx="4129088" cy="14160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latin typeface="Times New Roman" panose="02020603050405020304" pitchFamily="18" charset="0"/>
              </a:rPr>
              <a:t>结型</a:t>
            </a:r>
            <a:endParaRPr lang="zh-CN" altLang="en-US" sz="2800" dirty="0">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800" dirty="0">
                <a:latin typeface="Times New Roman" panose="02020603050405020304" pitchFamily="18" charset="0"/>
              </a:rPr>
              <a:t> </a:t>
            </a:r>
            <a:r>
              <a:rPr lang="zh-CN" altLang="en-US" sz="2800" dirty="0">
                <a:solidFill>
                  <a:srgbClr val="FF0000"/>
                </a:solidFill>
                <a:latin typeface="Times New Roman" panose="02020603050405020304" pitchFamily="18" charset="0"/>
              </a:rPr>
              <a:t>绝缘栅型</a:t>
            </a:r>
            <a:r>
              <a:rPr lang="en-US" altLang="zh-CN" sz="2800" dirty="0">
                <a:solidFill>
                  <a:srgbClr val="FF0000"/>
                </a:solidFill>
                <a:latin typeface="Times New Roman" panose="02020603050405020304" pitchFamily="18" charset="0"/>
              </a:rPr>
              <a:t>(MOSFET)</a:t>
            </a:r>
            <a:endParaRPr lang="zh-CN" altLang="en-US" sz="2800" dirty="0">
              <a:solidFill>
                <a:srgbClr val="FF0000"/>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en-US" altLang="zh-CN" sz="2800" dirty="0">
                <a:solidFill>
                  <a:srgbClr val="FF0000"/>
                </a:solidFill>
                <a:latin typeface="Times New Roman" panose="02020603050405020304" pitchFamily="18" charset="0"/>
              </a:rPr>
              <a:t>    (PMOS\NMOS\CMOS)</a:t>
            </a:r>
            <a:endParaRPr lang="en-US" altLang="zh-CN" sz="2800" dirty="0">
              <a:solidFill>
                <a:srgbClr val="FF0000"/>
              </a:solidFill>
              <a:latin typeface="Times New Roman" panose="02020603050405020304" pitchFamily="18" charset="0"/>
            </a:endParaRPr>
          </a:p>
        </p:txBody>
      </p:sp>
      <p:sp>
        <p:nvSpPr>
          <p:cNvPr id="17419" name="Text Box 9"/>
          <p:cNvSpPr txBox="1"/>
          <p:nvPr/>
        </p:nvSpPr>
        <p:spPr>
          <a:xfrm>
            <a:off x="692150" y="5430838"/>
            <a:ext cx="4046538"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集成电路开关 </a:t>
            </a:r>
            <a:endParaRPr lang="zh-CN" altLang="en-US" sz="2800" dirty="0">
              <a:solidFill>
                <a:srgbClr val="3333FF"/>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4124">
                                            <p:txEl>
                                              <p:charRg st="0" end="18"/>
                                            </p:txEl>
                                          </p:spTgt>
                                        </p:tgtEl>
                                        <p:attrNameLst>
                                          <p:attrName>style.visibility</p:attrName>
                                        </p:attrNameLst>
                                      </p:cBhvr>
                                      <p:to>
                                        <p:strVal val="visible"/>
                                      </p:to>
                                    </p:set>
                                    <p:animEffect transition="in" filter="dissolve">
                                      <p:cBhvr>
                                        <p:cTn id="7" dur="500"/>
                                        <p:tgtEl>
                                          <p:spTgt spid="2394124">
                                            <p:txEl>
                                              <p:charRg st="0" end="18"/>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4124">
                                            <p:txEl>
                                              <p:charRg st="18" end="24"/>
                                            </p:txEl>
                                          </p:spTgt>
                                        </p:tgtEl>
                                        <p:attrNameLst>
                                          <p:attrName>style.visibility</p:attrName>
                                        </p:attrNameLst>
                                      </p:cBhvr>
                                      <p:to>
                                        <p:strVal val="visible"/>
                                      </p:to>
                                    </p:set>
                                    <p:animEffect transition="in" filter="dissolve">
                                      <p:cBhvr>
                                        <p:cTn id="12" dur="500"/>
                                        <p:tgtEl>
                                          <p:spTgt spid="2394124">
                                            <p:txEl>
                                              <p:charRg st="18" end="2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4124">
                                            <p:txEl>
                                              <p:charRg st="24" end="35"/>
                                            </p:txEl>
                                          </p:spTgt>
                                        </p:tgtEl>
                                        <p:attrNameLst>
                                          <p:attrName>style.visibility</p:attrName>
                                        </p:attrNameLst>
                                      </p:cBhvr>
                                      <p:to>
                                        <p:strVal val="visible"/>
                                      </p:to>
                                    </p:set>
                                    <p:animEffect transition="in" filter="dissolve">
                                      <p:cBhvr>
                                        <p:cTn id="17" dur="500"/>
                                        <p:tgtEl>
                                          <p:spTgt spid="2394124">
                                            <p:txEl>
                                              <p:charRg st="24" end="3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4124">
                                            <p:txEl>
                                              <p:charRg st="35" end="44"/>
                                            </p:txEl>
                                          </p:spTgt>
                                        </p:tgtEl>
                                        <p:attrNameLst>
                                          <p:attrName>style.visibility</p:attrName>
                                        </p:attrNameLst>
                                      </p:cBhvr>
                                      <p:to>
                                        <p:strVal val="visible"/>
                                      </p:to>
                                    </p:set>
                                    <p:animEffect transition="in" filter="dissolve">
                                      <p:cBhvr>
                                        <p:cTn id="22" dur="500"/>
                                        <p:tgtEl>
                                          <p:spTgt spid="2394124">
                                            <p:txEl>
                                              <p:charRg st="35" end="4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94124">
                                            <p:txEl>
                                              <p:charRg st="44" end="55"/>
                                            </p:txEl>
                                          </p:spTgt>
                                        </p:tgtEl>
                                        <p:attrNameLst>
                                          <p:attrName>style.visibility</p:attrName>
                                        </p:attrNameLst>
                                      </p:cBhvr>
                                      <p:to>
                                        <p:strVal val="visible"/>
                                      </p:to>
                                    </p:set>
                                    <p:animEffect transition="in" filter="dissolve">
                                      <p:cBhvr>
                                        <p:cTn id="27" dur="500"/>
                                        <p:tgtEl>
                                          <p:spTgt spid="2394124">
                                            <p:txEl>
                                              <p:charRg st="44" end="5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94124">
                                            <p:txEl>
                                              <p:charRg st="55" end="67"/>
                                            </p:txEl>
                                          </p:spTgt>
                                        </p:tgtEl>
                                        <p:attrNameLst>
                                          <p:attrName>style.visibility</p:attrName>
                                        </p:attrNameLst>
                                      </p:cBhvr>
                                      <p:to>
                                        <p:strVal val="visible"/>
                                      </p:to>
                                    </p:set>
                                    <p:animEffect transition="in" filter="dissolve">
                                      <p:cBhvr>
                                        <p:cTn id="32" dur="500"/>
                                        <p:tgtEl>
                                          <p:spTgt spid="2394124">
                                            <p:txEl>
                                              <p:charRg st="55" end="6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8434" name="Text Box 2"/>
          <p:cNvSpPr txBox="1"/>
          <p:nvPr/>
        </p:nvSpPr>
        <p:spPr>
          <a:xfrm>
            <a:off x="857250" y="2333625"/>
            <a:ext cx="3863975"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双极性晶体管开关 </a:t>
            </a:r>
            <a:endParaRPr lang="zh-CN" altLang="en-US" sz="2800" dirty="0">
              <a:solidFill>
                <a:srgbClr val="3333FF"/>
              </a:solidFill>
              <a:latin typeface="楷体_GB2312" pitchFamily="49" charset="-122"/>
            </a:endParaRPr>
          </a:p>
        </p:txBody>
      </p:sp>
      <p:sp>
        <p:nvSpPr>
          <p:cNvPr id="18435" name="Text Box 3"/>
          <p:cNvSpPr txBox="1"/>
          <p:nvPr/>
        </p:nvSpPr>
        <p:spPr>
          <a:xfrm>
            <a:off x="485775" y="1676400"/>
            <a:ext cx="5287963"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电子多路开关根据结构可分为：</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18436" name="Text Box 4"/>
          <p:cNvSpPr txBox="1"/>
          <p:nvPr/>
        </p:nvSpPr>
        <p:spPr>
          <a:xfrm>
            <a:off x="854075" y="2940050"/>
            <a:ext cx="3856038"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3333FF"/>
                </a:solidFill>
                <a:latin typeface="楷体_GB2312" pitchFamily="49" charset="-122"/>
              </a:rPr>
              <a:t>场效应晶体管开关 </a:t>
            </a:r>
            <a:endParaRPr lang="zh-CN" altLang="en-US" sz="2800" dirty="0">
              <a:solidFill>
                <a:srgbClr val="3333FF"/>
              </a:solidFill>
              <a:latin typeface="楷体_GB2312" pitchFamily="49" charset="-122"/>
            </a:endParaRPr>
          </a:p>
        </p:txBody>
      </p:sp>
      <p:sp>
        <p:nvSpPr>
          <p:cNvPr id="18437" name="Text Box 5"/>
          <p:cNvSpPr txBox="1"/>
          <p:nvPr/>
        </p:nvSpPr>
        <p:spPr>
          <a:xfrm>
            <a:off x="1646238" y="3614738"/>
            <a:ext cx="3381375" cy="9461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r>
              <a:rPr lang="zh-CN" altLang="en-US" sz="2800" dirty="0">
                <a:latin typeface="Times New Roman" panose="02020603050405020304" pitchFamily="18" charset="0"/>
              </a:rPr>
              <a:t>结型</a:t>
            </a:r>
            <a:endParaRPr lang="zh-CN" altLang="en-US" sz="2800" dirty="0">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800" dirty="0">
                <a:latin typeface="Times New Roman" panose="02020603050405020304" pitchFamily="18" charset="0"/>
              </a:rPr>
              <a:t> 绝缘栅型</a:t>
            </a:r>
            <a:endParaRPr lang="en-US" altLang="zh-CN" sz="2800" dirty="0">
              <a:latin typeface="Times New Roman" panose="02020603050405020304" pitchFamily="18" charset="0"/>
            </a:endParaRPr>
          </a:p>
        </p:txBody>
      </p:sp>
      <p:sp>
        <p:nvSpPr>
          <p:cNvPr id="2395142" name="Text Box 6"/>
          <p:cNvSpPr txBox="1">
            <a:spLocks noChangeArrowheads="1"/>
          </p:cNvSpPr>
          <p:nvPr/>
        </p:nvSpPr>
        <p:spPr bwMode="auto">
          <a:xfrm>
            <a:off x="2719388" y="139700"/>
            <a:ext cx="3444875"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8439" name="Text Box 7"/>
          <p:cNvSpPr txBox="1"/>
          <p:nvPr/>
        </p:nvSpPr>
        <p:spPr>
          <a:xfrm>
            <a:off x="581025" y="790575"/>
            <a:ext cx="2447925"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多路开关：</a:t>
            </a:r>
            <a:endParaRPr lang="zh-CN" altLang="en-US" dirty="0">
              <a:latin typeface="Times New Roman" panose="02020603050405020304" pitchFamily="18" charset="0"/>
            </a:endParaRPr>
          </a:p>
        </p:txBody>
      </p:sp>
      <p:sp>
        <p:nvSpPr>
          <p:cNvPr id="10248" name="Text Box 8"/>
          <p:cNvSpPr txBox="1"/>
          <p:nvPr/>
        </p:nvSpPr>
        <p:spPr>
          <a:xfrm>
            <a:off x="898525" y="4641850"/>
            <a:ext cx="4156075" cy="519113"/>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dirty="0">
                <a:solidFill>
                  <a:srgbClr val="3333FF"/>
                </a:solidFill>
                <a:latin typeface="楷体_GB2312" pitchFamily="49" charset="-122"/>
              </a:rPr>
              <a:t> </a:t>
            </a:r>
            <a:r>
              <a:rPr lang="zh-CN" altLang="en-US" sz="2800" dirty="0">
                <a:solidFill>
                  <a:srgbClr val="FF0000"/>
                </a:solidFill>
                <a:latin typeface="楷体_GB2312" pitchFamily="49" charset="-122"/>
              </a:rPr>
              <a:t>集成电路开关</a:t>
            </a:r>
            <a:r>
              <a:rPr lang="zh-CN" altLang="en-US" sz="2800" dirty="0">
                <a:solidFill>
                  <a:srgbClr val="3333FF"/>
                </a:solidFill>
                <a:latin typeface="楷体_GB2312" pitchFamily="49" charset="-122"/>
              </a:rPr>
              <a:t> </a:t>
            </a:r>
            <a:endParaRPr lang="zh-CN" altLang="en-US" sz="2800" dirty="0">
              <a:solidFill>
                <a:srgbClr val="3333FF"/>
              </a:solidFill>
              <a:latin typeface="楷体_GB2312" pitchFamily="49" charset="-122"/>
            </a:endParaRPr>
          </a:p>
        </p:txBody>
      </p:sp>
      <p:sp>
        <p:nvSpPr>
          <p:cNvPr id="2395148" name="Text Box 12"/>
          <p:cNvSpPr txBox="1"/>
          <p:nvPr/>
        </p:nvSpPr>
        <p:spPr>
          <a:xfrm>
            <a:off x="5054600" y="2293938"/>
            <a:ext cx="3624263" cy="2012950"/>
          </a:xfrm>
          <a:prstGeom prst="rect">
            <a:avLst/>
          </a:prstGeom>
          <a:solidFill>
            <a:srgbClr val="FFFF99"/>
          </a:solid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集成电路开关</a:t>
            </a:r>
            <a:r>
              <a:rPr lang="zh-CN" altLang="en-US" sz="2800" dirty="0">
                <a:solidFill>
                  <a:schemeClr val="tx1"/>
                </a:solidFill>
                <a:latin typeface="Times New Roman" panose="02020603050405020304" pitchFamily="18" charset="0"/>
                <a:ea typeface="黑体" panose="02010609060101010101" pitchFamily="49" charset="-122"/>
              </a:rPr>
              <a:t>是将场效应管、地址计数器、译码器及控制电路等集成制造在一块芯片上而构成的器件。</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395149" name="Text Box 13"/>
          <p:cNvSpPr txBox="1"/>
          <p:nvPr/>
        </p:nvSpPr>
        <p:spPr>
          <a:xfrm>
            <a:off x="5054600" y="4454525"/>
            <a:ext cx="3624263" cy="1077913"/>
          </a:xfrm>
          <a:prstGeom prst="rect">
            <a:avLst/>
          </a:prstGeom>
          <a:solidFill>
            <a:srgbClr val="FFCC99"/>
          </a:solid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特点：</a:t>
            </a:r>
            <a:r>
              <a:rPr lang="zh-CN" altLang="en-US" sz="2400" dirty="0">
                <a:latin typeface="Times New Roman" panose="02020603050405020304" pitchFamily="18" charset="0"/>
              </a:rPr>
              <a:t>除了具有场效应管的特性之外，还具有体积小、使用方便等优点。</a:t>
            </a:r>
            <a:endParaRPr lang="zh-CN" altLang="en-US" sz="24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48"/>
                                        </p:tgtEl>
                                        <p:attrNameLst>
                                          <p:attrName>style.visibility</p:attrName>
                                        </p:attrNameLst>
                                      </p:cBhvr>
                                      <p:to>
                                        <p:strVal val="visible"/>
                                      </p:to>
                                    </p:set>
                                    <p:animEffect transition="in" filter="dissolve">
                                      <p:cBhvr>
                                        <p:cTn id="7" dur="500"/>
                                        <p:tgtEl>
                                          <p:spTgt spid="102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5148"/>
                                        </p:tgtEl>
                                        <p:attrNameLst>
                                          <p:attrName>style.visibility</p:attrName>
                                        </p:attrNameLst>
                                      </p:cBhvr>
                                      <p:to>
                                        <p:strVal val="visible"/>
                                      </p:to>
                                    </p:set>
                                    <p:animEffect transition="in" filter="dissolve">
                                      <p:cBhvr>
                                        <p:cTn id="12" dur="500"/>
                                        <p:tgtEl>
                                          <p:spTgt spid="23951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5149"/>
                                        </p:tgtEl>
                                        <p:attrNameLst>
                                          <p:attrName>style.visibility</p:attrName>
                                        </p:attrNameLst>
                                      </p:cBhvr>
                                      <p:to>
                                        <p:strVal val="visible"/>
                                      </p:to>
                                    </p:set>
                                    <p:animEffect transition="in" filter="dissolve">
                                      <p:cBhvr>
                                        <p:cTn id="17" dur="500"/>
                                        <p:tgtEl>
                                          <p:spTgt spid="2395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8" grpId="0"/>
      <p:bldP spid="2395148" grpId="0" animBg="1"/>
      <p:bldP spid="2395149"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5635" name="Text Box 1027"/>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5654" name="Text Box 1046"/>
          <p:cNvSpPr txBox="1"/>
          <p:nvPr/>
        </p:nvSpPr>
        <p:spPr>
          <a:xfrm>
            <a:off x="268288" y="763588"/>
            <a:ext cx="45323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
        <p:nvSpPr>
          <p:cNvPr id="2245655" name="Text Box 1047"/>
          <p:cNvSpPr txBox="1"/>
          <p:nvPr/>
        </p:nvSpPr>
        <p:spPr>
          <a:xfrm>
            <a:off x="423863" y="1497013"/>
            <a:ext cx="3702050"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1.</a:t>
            </a:r>
            <a:r>
              <a:rPr lang="zh-CN" altLang="en-US" sz="2800" dirty="0">
                <a:solidFill>
                  <a:schemeClr val="tx1"/>
                </a:solidFill>
                <a:latin typeface="Times New Roman" panose="02020603050405020304" pitchFamily="18" charset="0"/>
                <a:ea typeface="黑体" panose="02010609060101010101" pitchFamily="49" charset="-122"/>
              </a:rPr>
              <a:t>双极型晶体管开关 </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245657" name="Text Box 1049"/>
          <p:cNvSpPr txBox="1"/>
          <p:nvPr/>
        </p:nvSpPr>
        <p:spPr>
          <a:xfrm>
            <a:off x="344488" y="2024063"/>
            <a:ext cx="3221037" cy="519112"/>
          </a:xfrm>
          <a:prstGeom prst="rect">
            <a:avLst/>
          </a:prstGeom>
          <a:noFill/>
          <a:ln w="9525">
            <a:noFill/>
          </a:ln>
        </p:spPr>
        <p:txBody>
          <a:bodyPr wrap="none">
            <a:spAutoFit/>
          </a:bodyPr>
          <a:p>
            <a:pPr eaLnBrk="1" hangingPunct="1"/>
            <a:r>
              <a:rPr lang="zh-CN" altLang="en-US" sz="2800" dirty="0">
                <a:solidFill>
                  <a:srgbClr val="FF0000"/>
                </a:solidFill>
                <a:latin typeface="楷体_GB2312" pitchFamily="49" charset="-122"/>
              </a:rPr>
              <a:t>其工作原理如下： </a:t>
            </a:r>
            <a:endParaRPr lang="zh-CN" altLang="en-US" sz="2800" dirty="0">
              <a:solidFill>
                <a:srgbClr val="FF0000"/>
              </a:solidFill>
              <a:latin typeface="楷体_GB2312" pitchFamily="49" charset="-122"/>
            </a:endParaRPr>
          </a:p>
        </p:txBody>
      </p:sp>
      <p:sp>
        <p:nvSpPr>
          <p:cNvPr id="2245659" name="Text Box 1051"/>
          <p:cNvSpPr txBox="1"/>
          <p:nvPr/>
        </p:nvSpPr>
        <p:spPr>
          <a:xfrm>
            <a:off x="690563" y="2611438"/>
            <a:ext cx="4110037" cy="173513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000099"/>
                </a:solidFill>
                <a:latin typeface="Times New Roman" panose="02020603050405020304" pitchFamily="18" charset="0"/>
              </a:rPr>
              <a:t>设选择第</a:t>
            </a:r>
            <a:r>
              <a:rPr lang="en-US" altLang="zh-CN" sz="2400" dirty="0">
                <a:solidFill>
                  <a:srgbClr val="000099"/>
                </a:solidFill>
                <a:latin typeface="Times New Roman" panose="02020603050405020304" pitchFamily="18" charset="0"/>
              </a:rPr>
              <a:t>1</a:t>
            </a:r>
            <a:r>
              <a:rPr lang="zh-CN" altLang="en-US" sz="2400" dirty="0">
                <a:solidFill>
                  <a:srgbClr val="000099"/>
                </a:solidFill>
                <a:latin typeface="Times New Roman" panose="02020603050405020304" pitchFamily="18" charset="0"/>
              </a:rPr>
              <a:t>路模拟信号。则令通道控制信号</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en-US" altLang="zh-CN" sz="2400" dirty="0">
                <a:solidFill>
                  <a:srgbClr val="CC00CC"/>
                </a:solidFill>
                <a:latin typeface="Times New Roman" panose="02020603050405020304" pitchFamily="18" charset="0"/>
                <a:ea typeface="宋体" panose="02010600030101010101" pitchFamily="2" charset="-122"/>
              </a:rPr>
              <a:t>= 0</a:t>
            </a:r>
            <a:r>
              <a:rPr lang="zh-CN" altLang="en-US" sz="2400" dirty="0">
                <a:solidFill>
                  <a:srgbClr val="000099"/>
                </a:solidFill>
                <a:latin typeface="Times New Roman" panose="02020603050405020304" pitchFamily="18" charset="0"/>
                <a:ea typeface="宋体" panose="02010600030101010101" pitchFamily="2" charset="-122"/>
              </a:rPr>
              <a:t>，</a:t>
            </a:r>
            <a:r>
              <a:rPr lang="zh-CN" altLang="en-US" sz="2400" dirty="0">
                <a:solidFill>
                  <a:srgbClr val="000099"/>
                </a:solidFill>
                <a:latin typeface="Times New Roman" panose="02020603050405020304" pitchFamily="18" charset="0"/>
              </a:rPr>
              <a:t>晶体管</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en-US" altLang="zh-CN" sz="2400" baseline="30000" dirty="0">
                <a:solidFill>
                  <a:srgbClr val="CC00CC"/>
                </a:solidFill>
                <a:latin typeface="Times New Roman" panose="02020603050405020304" pitchFamily="18" charset="0"/>
                <a:ea typeface="宋体" panose="02010600030101010101" pitchFamily="2" charset="-122"/>
              </a:rPr>
              <a:t>′</a:t>
            </a:r>
            <a:r>
              <a:rPr lang="zh-CN" altLang="en-US" sz="2400" dirty="0">
                <a:solidFill>
                  <a:srgbClr val="000099"/>
                </a:solidFill>
                <a:latin typeface="Times New Roman" panose="02020603050405020304" pitchFamily="18" charset="0"/>
              </a:rPr>
              <a:t>截止（三电极开路），集电极为高电平，晶体管</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zh-CN" altLang="en-US" sz="2400" dirty="0">
                <a:solidFill>
                  <a:srgbClr val="000099"/>
                </a:solidFill>
                <a:latin typeface="Times New Roman" panose="02020603050405020304" pitchFamily="18" charset="0"/>
              </a:rPr>
              <a:t>导通，输入信号电压</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zh-CN" altLang="en-US" sz="2400" dirty="0">
                <a:solidFill>
                  <a:srgbClr val="000099"/>
                </a:solidFill>
                <a:latin typeface="Times New Roman" panose="02020603050405020304" pitchFamily="18" charset="0"/>
              </a:rPr>
              <a:t>被选中</a:t>
            </a:r>
            <a:r>
              <a:rPr lang="zh-CN" altLang="en-US" sz="2400" dirty="0">
                <a:solidFill>
                  <a:srgbClr val="000099"/>
                </a:solidFill>
                <a:latin typeface="Times New Roman" panose="02020603050405020304" pitchFamily="18" charset="0"/>
                <a:ea typeface="宋体" panose="02010600030101010101" pitchFamily="2" charset="-122"/>
              </a:rPr>
              <a:t>。 </a:t>
            </a:r>
            <a:endParaRPr lang="zh-CN" altLang="en-US" sz="2400" dirty="0">
              <a:solidFill>
                <a:srgbClr val="000099"/>
              </a:solidFill>
              <a:latin typeface="Times New Roman" panose="02020603050405020304" pitchFamily="18" charset="0"/>
              <a:ea typeface="宋体" panose="02010600030101010101" pitchFamily="2" charset="-122"/>
            </a:endParaRPr>
          </a:p>
        </p:txBody>
      </p:sp>
      <p:grpSp>
        <p:nvGrpSpPr>
          <p:cNvPr id="2248835" name="Group 2179"/>
          <p:cNvGrpSpPr/>
          <p:nvPr/>
        </p:nvGrpSpPr>
        <p:grpSpPr>
          <a:xfrm>
            <a:off x="4800600" y="1100138"/>
            <a:ext cx="4064000" cy="4902200"/>
            <a:chOff x="3024" y="693"/>
            <a:chExt cx="2560" cy="3088"/>
          </a:xfrm>
        </p:grpSpPr>
        <p:sp>
          <p:nvSpPr>
            <p:cNvPr id="19468" name="Rectangle 2178"/>
            <p:cNvSpPr/>
            <p:nvPr/>
          </p:nvSpPr>
          <p:spPr>
            <a:xfrm>
              <a:off x="3024" y="693"/>
              <a:ext cx="2560" cy="3088"/>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9469" name="Line 2071"/>
            <p:cNvSpPr/>
            <p:nvPr/>
          </p:nvSpPr>
          <p:spPr>
            <a:xfrm>
              <a:off x="3760" y="1204"/>
              <a:ext cx="582" cy="1"/>
            </a:xfrm>
            <a:prstGeom prst="line">
              <a:avLst/>
            </a:prstGeom>
            <a:ln w="0" cap="flat" cmpd="sng">
              <a:solidFill>
                <a:srgbClr val="0000FF"/>
              </a:solidFill>
              <a:prstDash val="solid"/>
              <a:headEnd type="none" w="med" len="med"/>
              <a:tailEnd type="none" w="med" len="med"/>
            </a:ln>
          </p:spPr>
        </p:sp>
        <p:sp>
          <p:nvSpPr>
            <p:cNvPr id="19470" name="Line 2072"/>
            <p:cNvSpPr/>
            <p:nvPr/>
          </p:nvSpPr>
          <p:spPr>
            <a:xfrm>
              <a:off x="4339" y="1287"/>
              <a:ext cx="197" cy="1"/>
            </a:xfrm>
            <a:prstGeom prst="line">
              <a:avLst/>
            </a:prstGeom>
            <a:ln w="0" cap="flat" cmpd="sng">
              <a:solidFill>
                <a:srgbClr val="0000FF"/>
              </a:solidFill>
              <a:prstDash val="solid"/>
              <a:headEnd type="none" w="med" len="med"/>
              <a:tailEnd type="none" w="med" len="med"/>
            </a:ln>
          </p:spPr>
        </p:sp>
        <p:sp>
          <p:nvSpPr>
            <p:cNvPr id="19471" name="Line 2073"/>
            <p:cNvSpPr/>
            <p:nvPr/>
          </p:nvSpPr>
          <p:spPr>
            <a:xfrm>
              <a:off x="4587" y="1204"/>
              <a:ext cx="720" cy="1"/>
            </a:xfrm>
            <a:prstGeom prst="line">
              <a:avLst/>
            </a:prstGeom>
            <a:ln w="0" cap="flat" cmpd="sng">
              <a:solidFill>
                <a:srgbClr val="0000FF"/>
              </a:solidFill>
              <a:prstDash val="solid"/>
              <a:headEnd type="none" w="med" len="med"/>
              <a:tailEnd type="none" w="med" len="med"/>
            </a:ln>
          </p:spPr>
        </p:sp>
        <p:sp>
          <p:nvSpPr>
            <p:cNvPr id="19472" name="Line 2074"/>
            <p:cNvSpPr/>
            <p:nvPr/>
          </p:nvSpPr>
          <p:spPr>
            <a:xfrm>
              <a:off x="4339" y="1204"/>
              <a:ext cx="83" cy="83"/>
            </a:xfrm>
            <a:prstGeom prst="line">
              <a:avLst/>
            </a:prstGeom>
            <a:ln w="0" cap="flat" cmpd="sng">
              <a:solidFill>
                <a:srgbClr val="0000FF"/>
              </a:solidFill>
              <a:prstDash val="solid"/>
              <a:headEnd type="none" w="med" len="med"/>
              <a:tailEnd type="none" w="med" len="med"/>
            </a:ln>
          </p:spPr>
        </p:sp>
        <p:sp>
          <p:nvSpPr>
            <p:cNvPr id="19473" name="Line 2075"/>
            <p:cNvSpPr/>
            <p:nvPr/>
          </p:nvSpPr>
          <p:spPr>
            <a:xfrm flipV="1">
              <a:off x="4422" y="1204"/>
              <a:ext cx="83" cy="83"/>
            </a:xfrm>
            <a:prstGeom prst="line">
              <a:avLst/>
            </a:prstGeom>
            <a:ln w="0" cap="flat" cmpd="sng">
              <a:solidFill>
                <a:srgbClr val="0000FF"/>
              </a:solidFill>
              <a:prstDash val="solid"/>
              <a:headEnd type="none" w="med" len="med"/>
              <a:tailEnd type="none" w="med" len="med"/>
            </a:ln>
          </p:spPr>
        </p:sp>
        <p:sp>
          <p:nvSpPr>
            <p:cNvPr id="19474" name="Line 2076"/>
            <p:cNvSpPr/>
            <p:nvPr/>
          </p:nvSpPr>
          <p:spPr>
            <a:xfrm>
              <a:off x="4505" y="1204"/>
              <a:ext cx="92" cy="1"/>
            </a:xfrm>
            <a:prstGeom prst="line">
              <a:avLst/>
            </a:prstGeom>
            <a:ln w="0" cap="flat" cmpd="sng">
              <a:solidFill>
                <a:srgbClr val="0000FF"/>
              </a:solidFill>
              <a:prstDash val="solid"/>
              <a:headEnd type="none" w="med" len="med"/>
              <a:tailEnd type="none" w="med" len="med"/>
            </a:ln>
          </p:spPr>
        </p:sp>
        <p:sp>
          <p:nvSpPr>
            <p:cNvPr id="19475" name="Line 2078"/>
            <p:cNvSpPr/>
            <p:nvPr/>
          </p:nvSpPr>
          <p:spPr>
            <a:xfrm>
              <a:off x="4422" y="1287"/>
              <a:ext cx="1" cy="335"/>
            </a:xfrm>
            <a:prstGeom prst="line">
              <a:avLst/>
            </a:prstGeom>
            <a:ln w="0" cap="flat" cmpd="sng">
              <a:solidFill>
                <a:srgbClr val="0000FF"/>
              </a:solidFill>
              <a:prstDash val="solid"/>
              <a:headEnd type="none" w="med" len="med"/>
              <a:tailEnd type="none" w="med" len="med"/>
            </a:ln>
          </p:spPr>
        </p:sp>
        <p:sp>
          <p:nvSpPr>
            <p:cNvPr id="19476" name="Line 2079"/>
            <p:cNvSpPr/>
            <p:nvPr/>
          </p:nvSpPr>
          <p:spPr>
            <a:xfrm flipH="1">
              <a:off x="4329" y="1622"/>
              <a:ext cx="93" cy="84"/>
            </a:xfrm>
            <a:prstGeom prst="line">
              <a:avLst/>
            </a:prstGeom>
            <a:ln w="0" cap="flat" cmpd="sng">
              <a:solidFill>
                <a:srgbClr val="0000FF"/>
              </a:solidFill>
              <a:prstDash val="solid"/>
              <a:headEnd type="none" w="med" len="med"/>
              <a:tailEnd type="none" w="med" len="med"/>
            </a:ln>
          </p:spPr>
        </p:sp>
        <p:sp>
          <p:nvSpPr>
            <p:cNvPr id="19477" name="Line 2080"/>
            <p:cNvSpPr/>
            <p:nvPr/>
          </p:nvSpPr>
          <p:spPr>
            <a:xfrm>
              <a:off x="4329" y="1706"/>
              <a:ext cx="93" cy="95"/>
            </a:xfrm>
            <a:prstGeom prst="line">
              <a:avLst/>
            </a:prstGeom>
            <a:ln w="0" cap="flat" cmpd="sng">
              <a:solidFill>
                <a:srgbClr val="0000FF"/>
              </a:solidFill>
              <a:prstDash val="solid"/>
              <a:headEnd type="none" w="med" len="med"/>
              <a:tailEnd type="none" w="med" len="med"/>
            </a:ln>
          </p:spPr>
        </p:sp>
        <p:sp>
          <p:nvSpPr>
            <p:cNvPr id="19478" name="Line 2081"/>
            <p:cNvSpPr/>
            <p:nvPr/>
          </p:nvSpPr>
          <p:spPr>
            <a:xfrm>
              <a:off x="4329" y="1622"/>
              <a:ext cx="1" cy="189"/>
            </a:xfrm>
            <a:prstGeom prst="line">
              <a:avLst/>
            </a:prstGeom>
            <a:ln w="0" cap="flat" cmpd="sng">
              <a:solidFill>
                <a:srgbClr val="0000FF"/>
              </a:solidFill>
              <a:prstDash val="solid"/>
              <a:headEnd type="none" w="med" len="med"/>
              <a:tailEnd type="none" w="med" len="med"/>
            </a:ln>
          </p:spPr>
        </p:sp>
        <p:sp>
          <p:nvSpPr>
            <p:cNvPr id="19479" name="Line 2082"/>
            <p:cNvSpPr/>
            <p:nvPr/>
          </p:nvSpPr>
          <p:spPr>
            <a:xfrm flipH="1" flipV="1">
              <a:off x="4381" y="1748"/>
              <a:ext cx="31" cy="42"/>
            </a:xfrm>
            <a:prstGeom prst="line">
              <a:avLst/>
            </a:prstGeom>
            <a:ln w="0" cap="flat" cmpd="sng">
              <a:solidFill>
                <a:srgbClr val="0000FF"/>
              </a:solidFill>
              <a:prstDash val="solid"/>
              <a:headEnd type="none" w="med" len="med"/>
              <a:tailEnd type="none" w="med" len="med"/>
            </a:ln>
          </p:spPr>
        </p:sp>
        <p:sp>
          <p:nvSpPr>
            <p:cNvPr id="19480" name="Line 2083"/>
            <p:cNvSpPr/>
            <p:nvPr/>
          </p:nvSpPr>
          <p:spPr>
            <a:xfrm>
              <a:off x="4174" y="1706"/>
              <a:ext cx="155" cy="1"/>
            </a:xfrm>
            <a:prstGeom prst="line">
              <a:avLst/>
            </a:prstGeom>
            <a:ln w="0" cap="flat" cmpd="sng">
              <a:solidFill>
                <a:srgbClr val="0000FF"/>
              </a:solidFill>
              <a:prstDash val="solid"/>
              <a:headEnd type="none" w="med" len="med"/>
              <a:tailEnd type="none" w="med" len="med"/>
            </a:ln>
          </p:spPr>
        </p:sp>
        <p:sp>
          <p:nvSpPr>
            <p:cNvPr id="19481" name="Rectangle 2084"/>
            <p:cNvSpPr/>
            <p:nvPr/>
          </p:nvSpPr>
          <p:spPr>
            <a:xfrm>
              <a:off x="4049" y="1685"/>
              <a:ext cx="128" cy="46"/>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482" name="Line 2085"/>
            <p:cNvSpPr/>
            <p:nvPr/>
          </p:nvSpPr>
          <p:spPr>
            <a:xfrm flipH="1">
              <a:off x="3760" y="1706"/>
              <a:ext cx="289" cy="1"/>
            </a:xfrm>
            <a:prstGeom prst="line">
              <a:avLst/>
            </a:prstGeom>
            <a:ln w="0" cap="flat" cmpd="sng">
              <a:solidFill>
                <a:srgbClr val="0000FF"/>
              </a:solidFill>
              <a:prstDash val="solid"/>
              <a:headEnd type="none" w="med" len="med"/>
              <a:tailEnd type="none" w="med" len="med"/>
            </a:ln>
          </p:spPr>
        </p:sp>
        <p:sp>
          <p:nvSpPr>
            <p:cNvPr id="19483" name="Rectangle 2086"/>
            <p:cNvSpPr/>
            <p:nvPr/>
          </p:nvSpPr>
          <p:spPr>
            <a:xfrm>
              <a:off x="4587" y="1455"/>
              <a:ext cx="121" cy="5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484" name="Line 2087"/>
            <p:cNvSpPr/>
            <p:nvPr/>
          </p:nvSpPr>
          <p:spPr>
            <a:xfrm>
              <a:off x="4419" y="1476"/>
              <a:ext cx="170" cy="1"/>
            </a:xfrm>
            <a:prstGeom prst="line">
              <a:avLst/>
            </a:prstGeom>
            <a:ln w="0" cap="flat" cmpd="sng">
              <a:solidFill>
                <a:srgbClr val="0000FF"/>
              </a:solidFill>
              <a:prstDash val="solid"/>
              <a:headEnd type="none" w="med" len="med"/>
              <a:tailEnd type="none" w="med" len="med"/>
            </a:ln>
          </p:spPr>
        </p:sp>
        <p:sp>
          <p:nvSpPr>
            <p:cNvPr id="19485" name="Line 2088"/>
            <p:cNvSpPr/>
            <p:nvPr/>
          </p:nvSpPr>
          <p:spPr>
            <a:xfrm>
              <a:off x="4705" y="1476"/>
              <a:ext cx="122" cy="1"/>
            </a:xfrm>
            <a:prstGeom prst="line">
              <a:avLst/>
            </a:prstGeom>
            <a:ln w="0" cap="flat" cmpd="sng">
              <a:solidFill>
                <a:srgbClr val="0000FF"/>
              </a:solidFill>
              <a:prstDash val="solid"/>
              <a:headEnd type="none" w="med" len="med"/>
              <a:tailEnd type="none" w="med" len="med"/>
            </a:ln>
          </p:spPr>
        </p:sp>
        <p:sp>
          <p:nvSpPr>
            <p:cNvPr id="19486" name="Line 2089"/>
            <p:cNvSpPr/>
            <p:nvPr/>
          </p:nvSpPr>
          <p:spPr>
            <a:xfrm>
              <a:off x="4422" y="1801"/>
              <a:ext cx="1" cy="157"/>
            </a:xfrm>
            <a:prstGeom prst="line">
              <a:avLst/>
            </a:prstGeom>
            <a:ln w="0" cap="flat" cmpd="sng">
              <a:solidFill>
                <a:srgbClr val="0000FF"/>
              </a:solidFill>
              <a:prstDash val="solid"/>
              <a:headEnd type="none" w="med" len="med"/>
              <a:tailEnd type="none" w="med" len="med"/>
            </a:ln>
          </p:spPr>
        </p:sp>
        <p:sp>
          <p:nvSpPr>
            <p:cNvPr id="19487" name="Line 2090"/>
            <p:cNvSpPr/>
            <p:nvPr/>
          </p:nvSpPr>
          <p:spPr>
            <a:xfrm>
              <a:off x="4349" y="1958"/>
              <a:ext cx="146" cy="1"/>
            </a:xfrm>
            <a:prstGeom prst="line">
              <a:avLst/>
            </a:prstGeom>
            <a:ln w="0" cap="flat" cmpd="sng">
              <a:solidFill>
                <a:srgbClr val="0000FF"/>
              </a:solidFill>
              <a:prstDash val="solid"/>
              <a:headEnd type="none" w="med" len="med"/>
              <a:tailEnd type="none" w="med" len="med"/>
            </a:ln>
          </p:spPr>
        </p:sp>
        <p:sp>
          <p:nvSpPr>
            <p:cNvPr id="19488" name="Rectangle 2091"/>
            <p:cNvSpPr/>
            <p:nvPr/>
          </p:nvSpPr>
          <p:spPr>
            <a:xfrm>
              <a:off x="5057" y="1036"/>
              <a:ext cx="44" cy="10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489" name="Line 2092"/>
            <p:cNvSpPr/>
            <p:nvPr/>
          </p:nvSpPr>
          <p:spPr>
            <a:xfrm>
              <a:off x="5077" y="924"/>
              <a:ext cx="1" cy="112"/>
            </a:xfrm>
            <a:prstGeom prst="line">
              <a:avLst/>
            </a:prstGeom>
            <a:ln w="0" cap="flat" cmpd="sng">
              <a:solidFill>
                <a:srgbClr val="0000FF"/>
              </a:solidFill>
              <a:prstDash val="solid"/>
              <a:headEnd type="none" w="med" len="med"/>
              <a:tailEnd type="none" w="med" len="med"/>
            </a:ln>
          </p:spPr>
        </p:sp>
        <p:sp>
          <p:nvSpPr>
            <p:cNvPr id="19490" name="Line 2093"/>
            <p:cNvSpPr/>
            <p:nvPr/>
          </p:nvSpPr>
          <p:spPr>
            <a:xfrm>
              <a:off x="5077" y="1141"/>
              <a:ext cx="1" cy="136"/>
            </a:xfrm>
            <a:prstGeom prst="line">
              <a:avLst/>
            </a:prstGeom>
            <a:ln w="0" cap="flat" cmpd="sng">
              <a:solidFill>
                <a:srgbClr val="0000FF"/>
              </a:solidFill>
              <a:prstDash val="solid"/>
              <a:headEnd type="none" w="med" len="med"/>
              <a:tailEnd type="none" w="med" len="med"/>
            </a:ln>
          </p:spPr>
        </p:sp>
        <p:sp>
          <p:nvSpPr>
            <p:cNvPr id="19491" name="Line 2094"/>
            <p:cNvSpPr/>
            <p:nvPr/>
          </p:nvSpPr>
          <p:spPr>
            <a:xfrm>
              <a:off x="3760" y="2544"/>
              <a:ext cx="490" cy="1"/>
            </a:xfrm>
            <a:prstGeom prst="line">
              <a:avLst/>
            </a:prstGeom>
            <a:ln w="0" cap="flat" cmpd="sng">
              <a:solidFill>
                <a:srgbClr val="0000FF"/>
              </a:solidFill>
              <a:prstDash val="solid"/>
              <a:headEnd type="none" w="med" len="med"/>
              <a:tailEnd type="none" w="med" len="med"/>
            </a:ln>
          </p:spPr>
        </p:sp>
        <p:sp>
          <p:nvSpPr>
            <p:cNvPr id="19492" name="Line 2095"/>
            <p:cNvSpPr/>
            <p:nvPr/>
          </p:nvSpPr>
          <p:spPr>
            <a:xfrm>
              <a:off x="4332" y="2628"/>
              <a:ext cx="194" cy="1"/>
            </a:xfrm>
            <a:prstGeom prst="line">
              <a:avLst/>
            </a:prstGeom>
            <a:ln w="0" cap="flat" cmpd="sng">
              <a:solidFill>
                <a:srgbClr val="0000FF"/>
              </a:solidFill>
              <a:prstDash val="solid"/>
              <a:headEnd type="none" w="med" len="med"/>
              <a:tailEnd type="none" w="med" len="med"/>
            </a:ln>
          </p:spPr>
        </p:sp>
        <p:sp>
          <p:nvSpPr>
            <p:cNvPr id="19493" name="Line 2096"/>
            <p:cNvSpPr/>
            <p:nvPr/>
          </p:nvSpPr>
          <p:spPr>
            <a:xfrm>
              <a:off x="4577" y="2544"/>
              <a:ext cx="502" cy="1"/>
            </a:xfrm>
            <a:prstGeom prst="line">
              <a:avLst/>
            </a:prstGeom>
            <a:ln w="0" cap="flat" cmpd="sng">
              <a:solidFill>
                <a:srgbClr val="0000FF"/>
              </a:solidFill>
              <a:prstDash val="solid"/>
              <a:headEnd type="none" w="med" len="med"/>
              <a:tailEnd type="none" w="med" len="med"/>
            </a:ln>
          </p:spPr>
        </p:sp>
        <p:sp>
          <p:nvSpPr>
            <p:cNvPr id="19494" name="Line 2097"/>
            <p:cNvSpPr/>
            <p:nvPr/>
          </p:nvSpPr>
          <p:spPr>
            <a:xfrm>
              <a:off x="4332" y="2544"/>
              <a:ext cx="82" cy="84"/>
            </a:xfrm>
            <a:prstGeom prst="line">
              <a:avLst/>
            </a:prstGeom>
            <a:ln w="0" cap="flat" cmpd="sng">
              <a:solidFill>
                <a:srgbClr val="0000FF"/>
              </a:solidFill>
              <a:prstDash val="solid"/>
              <a:headEnd type="none" w="med" len="med"/>
              <a:tailEnd type="none" w="med" len="med"/>
            </a:ln>
          </p:spPr>
        </p:sp>
        <p:sp>
          <p:nvSpPr>
            <p:cNvPr id="19495" name="Line 2098"/>
            <p:cNvSpPr/>
            <p:nvPr/>
          </p:nvSpPr>
          <p:spPr>
            <a:xfrm flipV="1">
              <a:off x="4414" y="2544"/>
              <a:ext cx="81" cy="84"/>
            </a:xfrm>
            <a:prstGeom prst="line">
              <a:avLst/>
            </a:prstGeom>
            <a:ln w="0" cap="flat" cmpd="sng">
              <a:solidFill>
                <a:srgbClr val="0000FF"/>
              </a:solidFill>
              <a:prstDash val="solid"/>
              <a:headEnd type="none" w="med" len="med"/>
              <a:tailEnd type="none" w="med" len="med"/>
            </a:ln>
          </p:spPr>
        </p:sp>
        <p:sp>
          <p:nvSpPr>
            <p:cNvPr id="19496" name="Line 2099"/>
            <p:cNvSpPr/>
            <p:nvPr/>
          </p:nvSpPr>
          <p:spPr>
            <a:xfrm>
              <a:off x="4495" y="2544"/>
              <a:ext cx="92" cy="1"/>
            </a:xfrm>
            <a:prstGeom prst="line">
              <a:avLst/>
            </a:prstGeom>
            <a:ln w="0" cap="flat" cmpd="sng">
              <a:solidFill>
                <a:srgbClr val="0000FF"/>
              </a:solidFill>
              <a:prstDash val="solid"/>
              <a:headEnd type="none" w="med" len="med"/>
              <a:tailEnd type="none" w="med" len="med"/>
            </a:ln>
          </p:spPr>
        </p:sp>
        <p:sp>
          <p:nvSpPr>
            <p:cNvPr id="19497" name="Line 2100"/>
            <p:cNvSpPr/>
            <p:nvPr/>
          </p:nvSpPr>
          <p:spPr>
            <a:xfrm>
              <a:off x="4158" y="2544"/>
              <a:ext cx="174" cy="1"/>
            </a:xfrm>
            <a:prstGeom prst="line">
              <a:avLst/>
            </a:prstGeom>
            <a:ln w="0" cap="flat" cmpd="sng">
              <a:solidFill>
                <a:srgbClr val="0000FF"/>
              </a:solidFill>
              <a:prstDash val="solid"/>
              <a:headEnd type="none" w="med" len="med"/>
              <a:tailEnd type="none" w="med" len="med"/>
            </a:ln>
          </p:spPr>
        </p:sp>
        <p:sp>
          <p:nvSpPr>
            <p:cNvPr id="19498" name="Line 2101"/>
            <p:cNvSpPr/>
            <p:nvPr/>
          </p:nvSpPr>
          <p:spPr>
            <a:xfrm>
              <a:off x="4414" y="2628"/>
              <a:ext cx="1" cy="335"/>
            </a:xfrm>
            <a:prstGeom prst="line">
              <a:avLst/>
            </a:prstGeom>
            <a:ln w="0" cap="flat" cmpd="sng">
              <a:solidFill>
                <a:srgbClr val="0000FF"/>
              </a:solidFill>
              <a:prstDash val="solid"/>
              <a:headEnd type="none" w="med" len="med"/>
              <a:tailEnd type="none" w="med" len="med"/>
            </a:ln>
          </p:spPr>
        </p:sp>
        <p:sp>
          <p:nvSpPr>
            <p:cNvPr id="19499" name="Line 2102"/>
            <p:cNvSpPr/>
            <p:nvPr/>
          </p:nvSpPr>
          <p:spPr>
            <a:xfrm flipH="1">
              <a:off x="4322" y="2963"/>
              <a:ext cx="92" cy="84"/>
            </a:xfrm>
            <a:prstGeom prst="line">
              <a:avLst/>
            </a:prstGeom>
            <a:ln w="0" cap="flat" cmpd="sng">
              <a:solidFill>
                <a:srgbClr val="0000FF"/>
              </a:solidFill>
              <a:prstDash val="solid"/>
              <a:headEnd type="none" w="med" len="med"/>
              <a:tailEnd type="none" w="med" len="med"/>
            </a:ln>
          </p:spPr>
        </p:sp>
        <p:sp>
          <p:nvSpPr>
            <p:cNvPr id="19500" name="Line 2103"/>
            <p:cNvSpPr/>
            <p:nvPr/>
          </p:nvSpPr>
          <p:spPr>
            <a:xfrm>
              <a:off x="4322" y="3047"/>
              <a:ext cx="92" cy="94"/>
            </a:xfrm>
            <a:prstGeom prst="line">
              <a:avLst/>
            </a:prstGeom>
            <a:ln w="0" cap="flat" cmpd="sng">
              <a:solidFill>
                <a:srgbClr val="0000FF"/>
              </a:solidFill>
              <a:prstDash val="solid"/>
              <a:headEnd type="none" w="med" len="med"/>
              <a:tailEnd type="none" w="med" len="med"/>
            </a:ln>
          </p:spPr>
        </p:sp>
        <p:sp>
          <p:nvSpPr>
            <p:cNvPr id="19501" name="Line 2104"/>
            <p:cNvSpPr/>
            <p:nvPr/>
          </p:nvSpPr>
          <p:spPr>
            <a:xfrm>
              <a:off x="4322" y="2963"/>
              <a:ext cx="1" cy="188"/>
            </a:xfrm>
            <a:prstGeom prst="line">
              <a:avLst/>
            </a:prstGeom>
            <a:ln w="0" cap="flat" cmpd="sng">
              <a:solidFill>
                <a:srgbClr val="0000FF"/>
              </a:solidFill>
              <a:prstDash val="solid"/>
              <a:headEnd type="none" w="med" len="med"/>
              <a:tailEnd type="none" w="med" len="med"/>
            </a:ln>
          </p:spPr>
        </p:sp>
        <p:sp>
          <p:nvSpPr>
            <p:cNvPr id="19502" name="Line 2105"/>
            <p:cNvSpPr/>
            <p:nvPr/>
          </p:nvSpPr>
          <p:spPr>
            <a:xfrm>
              <a:off x="4169" y="3047"/>
              <a:ext cx="153" cy="1"/>
            </a:xfrm>
            <a:prstGeom prst="line">
              <a:avLst/>
            </a:prstGeom>
            <a:ln w="0" cap="flat" cmpd="sng">
              <a:solidFill>
                <a:srgbClr val="0000FF"/>
              </a:solidFill>
              <a:prstDash val="solid"/>
              <a:headEnd type="none" w="med" len="med"/>
              <a:tailEnd type="none" w="med" len="med"/>
            </a:ln>
          </p:spPr>
        </p:sp>
        <p:sp>
          <p:nvSpPr>
            <p:cNvPr id="19503" name="Rectangle 2106"/>
            <p:cNvSpPr/>
            <p:nvPr/>
          </p:nvSpPr>
          <p:spPr>
            <a:xfrm>
              <a:off x="4046" y="3026"/>
              <a:ext cx="123" cy="5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04" name="Line 2107"/>
            <p:cNvSpPr/>
            <p:nvPr/>
          </p:nvSpPr>
          <p:spPr>
            <a:xfrm flipH="1">
              <a:off x="3760" y="3047"/>
              <a:ext cx="286" cy="1"/>
            </a:xfrm>
            <a:prstGeom prst="line">
              <a:avLst/>
            </a:prstGeom>
            <a:ln w="0" cap="flat" cmpd="sng">
              <a:solidFill>
                <a:srgbClr val="0000FF"/>
              </a:solidFill>
              <a:prstDash val="solid"/>
              <a:headEnd type="none" w="med" len="med"/>
              <a:tailEnd type="none" w="med" len="med"/>
            </a:ln>
          </p:spPr>
        </p:sp>
        <p:sp>
          <p:nvSpPr>
            <p:cNvPr id="19505" name="Rectangle 2108"/>
            <p:cNvSpPr/>
            <p:nvPr/>
          </p:nvSpPr>
          <p:spPr>
            <a:xfrm>
              <a:off x="4577" y="2795"/>
              <a:ext cx="122" cy="53"/>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06" name="Line 2109"/>
            <p:cNvSpPr/>
            <p:nvPr/>
          </p:nvSpPr>
          <p:spPr>
            <a:xfrm>
              <a:off x="4342" y="3298"/>
              <a:ext cx="157" cy="1"/>
            </a:xfrm>
            <a:prstGeom prst="line">
              <a:avLst/>
            </a:prstGeom>
            <a:ln w="0" cap="flat" cmpd="sng">
              <a:solidFill>
                <a:srgbClr val="0000FF"/>
              </a:solidFill>
              <a:prstDash val="solid"/>
              <a:headEnd type="none" w="med" len="med"/>
              <a:tailEnd type="none" w="med" len="med"/>
            </a:ln>
          </p:spPr>
        </p:sp>
        <p:sp>
          <p:nvSpPr>
            <p:cNvPr id="19507" name="Line 2110"/>
            <p:cNvSpPr/>
            <p:nvPr/>
          </p:nvSpPr>
          <p:spPr>
            <a:xfrm>
              <a:off x="5077" y="1245"/>
              <a:ext cx="1" cy="1299"/>
            </a:xfrm>
            <a:prstGeom prst="line">
              <a:avLst/>
            </a:prstGeom>
            <a:ln w="0" cap="flat" cmpd="sng">
              <a:solidFill>
                <a:srgbClr val="0000FF"/>
              </a:solidFill>
              <a:prstDash val="dash"/>
              <a:headEnd type="none" w="med" len="med"/>
              <a:tailEnd type="none" w="med" len="med"/>
            </a:ln>
          </p:spPr>
        </p:sp>
        <p:sp>
          <p:nvSpPr>
            <p:cNvPr id="19508" name="Rectangle 2111"/>
            <p:cNvSpPr/>
            <p:nvPr/>
          </p:nvSpPr>
          <p:spPr>
            <a:xfrm>
              <a:off x="4832" y="1350"/>
              <a:ext cx="20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19509" name="Rectangle 2112"/>
            <p:cNvSpPr/>
            <p:nvPr/>
          </p:nvSpPr>
          <p:spPr>
            <a:xfrm>
              <a:off x="4822" y="2670"/>
              <a:ext cx="20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grpSp>
          <p:nvGrpSpPr>
            <p:cNvPr id="19510" name="Group 2115"/>
            <p:cNvGrpSpPr/>
            <p:nvPr/>
          </p:nvGrpSpPr>
          <p:grpSpPr>
            <a:xfrm>
              <a:off x="4383" y="1067"/>
              <a:ext cx="115" cy="127"/>
              <a:chOff x="4383" y="1067"/>
              <a:chExt cx="115" cy="127"/>
            </a:xfrm>
          </p:grpSpPr>
          <p:sp>
            <p:nvSpPr>
              <p:cNvPr id="19572" name="Rectangle 2113"/>
              <p:cNvSpPr/>
              <p:nvPr/>
            </p:nvSpPr>
            <p:spPr>
              <a:xfrm>
                <a:off x="4383" y="1067"/>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19573" name="Rectangle 2114"/>
              <p:cNvSpPr/>
              <p:nvPr/>
            </p:nvSpPr>
            <p:spPr>
              <a:xfrm>
                <a:off x="4454" y="109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sp>
          <p:nvSpPr>
            <p:cNvPr id="19511" name="Rectangle 2116"/>
            <p:cNvSpPr/>
            <p:nvPr/>
          </p:nvSpPr>
          <p:spPr>
            <a:xfrm>
              <a:off x="4475" y="1643"/>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19512" name="Rectangle 2117"/>
            <p:cNvSpPr/>
            <p:nvPr/>
          </p:nvSpPr>
          <p:spPr>
            <a:xfrm>
              <a:off x="4546" y="1675"/>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nvGrpSpPr>
            <p:cNvPr id="19513" name="Group 2120"/>
            <p:cNvGrpSpPr/>
            <p:nvPr/>
          </p:nvGrpSpPr>
          <p:grpSpPr>
            <a:xfrm>
              <a:off x="4352" y="2387"/>
              <a:ext cx="116" cy="137"/>
              <a:chOff x="4352" y="2387"/>
              <a:chExt cx="116" cy="137"/>
            </a:xfrm>
          </p:grpSpPr>
          <p:sp>
            <p:nvSpPr>
              <p:cNvPr id="19570" name="Rectangle 2118"/>
              <p:cNvSpPr/>
              <p:nvPr/>
            </p:nvSpPr>
            <p:spPr>
              <a:xfrm>
                <a:off x="4352" y="2387"/>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19571" name="Rectangle 2119"/>
              <p:cNvSpPr/>
              <p:nvPr/>
            </p:nvSpPr>
            <p:spPr>
              <a:xfrm>
                <a:off x="4424" y="242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grpSp>
        <p:sp>
          <p:nvSpPr>
            <p:cNvPr id="19514" name="Rectangle 2121"/>
            <p:cNvSpPr/>
            <p:nvPr/>
          </p:nvSpPr>
          <p:spPr>
            <a:xfrm>
              <a:off x="4454" y="2984"/>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19515" name="Line 2122"/>
            <p:cNvSpPr/>
            <p:nvPr/>
          </p:nvSpPr>
          <p:spPr>
            <a:xfrm flipH="1">
              <a:off x="4531" y="2982"/>
              <a:ext cx="20" cy="21"/>
            </a:xfrm>
            <a:prstGeom prst="line">
              <a:avLst/>
            </a:prstGeom>
            <a:ln w="0" cap="flat" cmpd="sng">
              <a:solidFill>
                <a:srgbClr val="0000FF"/>
              </a:solidFill>
              <a:prstDash val="solid"/>
              <a:headEnd type="none" w="med" len="med"/>
              <a:tailEnd type="none" w="med" len="med"/>
            </a:ln>
          </p:spPr>
        </p:sp>
        <p:sp>
          <p:nvSpPr>
            <p:cNvPr id="19516" name="Rectangle 2123"/>
            <p:cNvSpPr/>
            <p:nvPr/>
          </p:nvSpPr>
          <p:spPr>
            <a:xfrm>
              <a:off x="4536" y="3015"/>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19517" name="Rectangle 2124"/>
            <p:cNvSpPr/>
            <p:nvPr/>
          </p:nvSpPr>
          <p:spPr>
            <a:xfrm>
              <a:off x="4066" y="1968"/>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19518" name="Rectangle 2125"/>
            <p:cNvSpPr/>
            <p:nvPr/>
          </p:nvSpPr>
          <p:spPr>
            <a:xfrm>
              <a:off x="4066" y="2108"/>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19519" name="Rectangle 2126"/>
            <p:cNvSpPr/>
            <p:nvPr/>
          </p:nvSpPr>
          <p:spPr>
            <a:xfrm>
              <a:off x="4066" y="2247"/>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grpSp>
          <p:nvGrpSpPr>
            <p:cNvPr id="19520" name="Group 2129"/>
            <p:cNvGrpSpPr/>
            <p:nvPr/>
          </p:nvGrpSpPr>
          <p:grpSpPr>
            <a:xfrm>
              <a:off x="3117" y="1643"/>
              <a:ext cx="495" cy="132"/>
              <a:chOff x="3117" y="1643"/>
              <a:chExt cx="495" cy="132"/>
            </a:xfrm>
          </p:grpSpPr>
          <p:sp>
            <p:nvSpPr>
              <p:cNvPr id="19568" name="Rectangle 2127"/>
              <p:cNvSpPr/>
              <p:nvPr/>
            </p:nvSpPr>
            <p:spPr>
              <a:xfrm>
                <a:off x="3117" y="1643"/>
                <a:ext cx="448"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通道选择</a:t>
                </a:r>
                <a:endParaRPr lang="zh-CN" altLang="en-US" dirty="0">
                  <a:solidFill>
                    <a:srgbClr val="FF0000"/>
                  </a:solidFill>
                  <a:latin typeface="Times New Roman" panose="02020603050405020304" pitchFamily="18" charset="0"/>
                </a:endParaRPr>
              </a:p>
            </p:txBody>
          </p:sp>
          <p:sp>
            <p:nvSpPr>
              <p:cNvPr id="19569" name="Rectangle 2128"/>
              <p:cNvSpPr/>
              <p:nvPr/>
            </p:nvSpPr>
            <p:spPr>
              <a:xfrm>
                <a:off x="3556" y="1654"/>
                <a:ext cx="56" cy="121"/>
              </a:xfrm>
              <a:prstGeom prst="rect">
                <a:avLst/>
              </a:prstGeom>
              <a:noFill/>
              <a:ln w="9525">
                <a:noFill/>
              </a:ln>
            </p:spPr>
            <p:txBody>
              <a:bodyPr wrap="none" lIns="0" tIns="0" rIns="0" bIns="0">
                <a:spAutoFit/>
              </a:bodyPr>
              <a:p>
                <a:pPr eaLnBrk="1" hangingPunct="1">
                  <a:lnSpc>
                    <a:spcPct val="90000"/>
                  </a:lnSpc>
                </a:pPr>
                <a:r>
                  <a:rPr lang="en-US" altLang="zh-CN" sz="14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grpSp>
        <p:grpSp>
          <p:nvGrpSpPr>
            <p:cNvPr id="19521" name="Group 2132"/>
            <p:cNvGrpSpPr/>
            <p:nvPr/>
          </p:nvGrpSpPr>
          <p:grpSpPr>
            <a:xfrm>
              <a:off x="3107" y="2994"/>
              <a:ext cx="495" cy="127"/>
              <a:chOff x="3107" y="2994"/>
              <a:chExt cx="495" cy="127"/>
            </a:xfrm>
          </p:grpSpPr>
          <p:sp>
            <p:nvSpPr>
              <p:cNvPr id="19566" name="Rectangle 2130"/>
              <p:cNvSpPr/>
              <p:nvPr/>
            </p:nvSpPr>
            <p:spPr>
              <a:xfrm>
                <a:off x="3107" y="2994"/>
                <a:ext cx="448"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通道选择</a:t>
                </a:r>
                <a:endParaRPr lang="zh-CN" altLang="en-US" dirty="0">
                  <a:solidFill>
                    <a:srgbClr val="FF0000"/>
                  </a:solidFill>
                  <a:latin typeface="Times New Roman" panose="02020603050405020304" pitchFamily="18" charset="0"/>
                </a:endParaRPr>
              </a:p>
            </p:txBody>
          </p:sp>
          <p:sp>
            <p:nvSpPr>
              <p:cNvPr id="19567" name="Rectangle 2131"/>
              <p:cNvSpPr/>
              <p:nvPr/>
            </p:nvSpPr>
            <p:spPr>
              <a:xfrm>
                <a:off x="3546" y="3000"/>
                <a:ext cx="56" cy="121"/>
              </a:xfrm>
              <a:prstGeom prst="rect">
                <a:avLst/>
              </a:prstGeom>
              <a:noFill/>
              <a:ln w="9525">
                <a:noFill/>
              </a:ln>
            </p:spPr>
            <p:txBody>
              <a:bodyPr wrap="none" lIns="0" tIns="0" rIns="0" bIns="0">
                <a:spAutoFit/>
              </a:bodyPr>
              <a:p>
                <a:pPr eaLnBrk="1" hangingPunct="1">
                  <a:lnSpc>
                    <a:spcPct val="90000"/>
                  </a:lnSpc>
                </a:pPr>
                <a:r>
                  <a:rPr lang="en-US" altLang="zh-CN" sz="14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grpSp>
        <p:sp>
          <p:nvSpPr>
            <p:cNvPr id="19522" name="Rectangle 2133"/>
            <p:cNvSpPr/>
            <p:nvPr/>
          </p:nvSpPr>
          <p:spPr>
            <a:xfrm>
              <a:off x="3658" y="1020"/>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19523" name="Rectangle 2134"/>
            <p:cNvSpPr/>
            <p:nvPr/>
          </p:nvSpPr>
          <p:spPr>
            <a:xfrm>
              <a:off x="3740" y="1057"/>
              <a:ext cx="6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i1</a:t>
              </a:r>
              <a:endParaRPr lang="en-US" altLang="zh-CN" dirty="0">
                <a:latin typeface="Times New Roman" panose="02020603050405020304" pitchFamily="18" charset="0"/>
              </a:endParaRPr>
            </a:p>
          </p:txBody>
        </p:sp>
        <p:sp>
          <p:nvSpPr>
            <p:cNvPr id="19524" name="Rectangle 2135"/>
            <p:cNvSpPr/>
            <p:nvPr/>
          </p:nvSpPr>
          <p:spPr>
            <a:xfrm>
              <a:off x="3648" y="2879"/>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19525" name="Rectangle 2136"/>
            <p:cNvSpPr/>
            <p:nvPr/>
          </p:nvSpPr>
          <p:spPr>
            <a:xfrm>
              <a:off x="3719" y="2921"/>
              <a:ext cx="103"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C8</a:t>
              </a:r>
              <a:endParaRPr lang="en-US" altLang="zh-CN" dirty="0">
                <a:latin typeface="Times New Roman" panose="02020603050405020304" pitchFamily="18" charset="0"/>
              </a:endParaRPr>
            </a:p>
          </p:txBody>
        </p:sp>
        <p:sp>
          <p:nvSpPr>
            <p:cNvPr id="19526" name="Rectangle 2137"/>
            <p:cNvSpPr/>
            <p:nvPr/>
          </p:nvSpPr>
          <p:spPr>
            <a:xfrm>
              <a:off x="3658" y="1518"/>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19527" name="Rectangle 2138"/>
            <p:cNvSpPr/>
            <p:nvPr/>
          </p:nvSpPr>
          <p:spPr>
            <a:xfrm>
              <a:off x="3740" y="1560"/>
              <a:ext cx="103"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C1</a:t>
              </a:r>
              <a:endParaRPr lang="en-US" altLang="zh-CN" dirty="0">
                <a:latin typeface="Times New Roman" panose="02020603050405020304" pitchFamily="18" charset="0"/>
              </a:endParaRPr>
            </a:p>
          </p:txBody>
        </p:sp>
        <p:sp>
          <p:nvSpPr>
            <p:cNvPr id="19528" name="Rectangle 2139"/>
            <p:cNvSpPr/>
            <p:nvPr/>
          </p:nvSpPr>
          <p:spPr>
            <a:xfrm>
              <a:off x="3658" y="2387"/>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19529" name="Rectangle 2140"/>
            <p:cNvSpPr/>
            <p:nvPr/>
          </p:nvSpPr>
          <p:spPr>
            <a:xfrm>
              <a:off x="3740" y="2418"/>
              <a:ext cx="6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i8</a:t>
              </a:r>
              <a:endParaRPr lang="en-US" altLang="zh-CN" dirty="0">
                <a:latin typeface="Times New Roman" panose="02020603050405020304" pitchFamily="18" charset="0"/>
              </a:endParaRPr>
            </a:p>
          </p:txBody>
        </p:sp>
        <p:sp>
          <p:nvSpPr>
            <p:cNvPr id="19530" name="Rectangle 2141"/>
            <p:cNvSpPr/>
            <p:nvPr/>
          </p:nvSpPr>
          <p:spPr>
            <a:xfrm>
              <a:off x="4036" y="154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19531" name="Rectangle 2142"/>
            <p:cNvSpPr/>
            <p:nvPr/>
          </p:nvSpPr>
          <p:spPr>
            <a:xfrm>
              <a:off x="4107" y="158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19532" name="Rectangle 2143"/>
            <p:cNvSpPr/>
            <p:nvPr/>
          </p:nvSpPr>
          <p:spPr>
            <a:xfrm>
              <a:off x="4567" y="132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19533" name="Rectangle 2144"/>
            <p:cNvSpPr/>
            <p:nvPr/>
          </p:nvSpPr>
          <p:spPr>
            <a:xfrm>
              <a:off x="4638" y="136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21</a:t>
              </a:r>
              <a:endParaRPr lang="en-US" altLang="zh-CN" dirty="0">
                <a:latin typeface="Times New Roman" panose="02020603050405020304" pitchFamily="18" charset="0"/>
              </a:endParaRPr>
            </a:p>
          </p:txBody>
        </p:sp>
        <p:sp>
          <p:nvSpPr>
            <p:cNvPr id="19534" name="Rectangle 2145"/>
            <p:cNvSpPr/>
            <p:nvPr/>
          </p:nvSpPr>
          <p:spPr>
            <a:xfrm>
              <a:off x="4107" y="291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18</a:t>
              </a:r>
              <a:endParaRPr lang="en-US" altLang="zh-CN" dirty="0">
                <a:latin typeface="Times New Roman" panose="02020603050405020304" pitchFamily="18" charset="0"/>
              </a:endParaRPr>
            </a:p>
          </p:txBody>
        </p:sp>
        <p:sp>
          <p:nvSpPr>
            <p:cNvPr id="19535" name="Rectangle 2146"/>
            <p:cNvSpPr/>
            <p:nvPr/>
          </p:nvSpPr>
          <p:spPr>
            <a:xfrm>
              <a:off x="4036" y="287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19536" name="Rectangle 2147"/>
            <p:cNvSpPr/>
            <p:nvPr/>
          </p:nvSpPr>
          <p:spPr>
            <a:xfrm>
              <a:off x="4628" y="270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28</a:t>
              </a:r>
              <a:endParaRPr lang="en-US" altLang="zh-CN" dirty="0">
                <a:latin typeface="Times New Roman" panose="02020603050405020304" pitchFamily="18" charset="0"/>
              </a:endParaRPr>
            </a:p>
          </p:txBody>
        </p:sp>
        <p:sp>
          <p:nvSpPr>
            <p:cNvPr id="19537" name="Rectangle 2148"/>
            <p:cNvSpPr/>
            <p:nvPr/>
          </p:nvSpPr>
          <p:spPr>
            <a:xfrm>
              <a:off x="4557" y="2666"/>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19538" name="Rectangle 2149"/>
            <p:cNvSpPr/>
            <p:nvPr/>
          </p:nvSpPr>
          <p:spPr>
            <a:xfrm>
              <a:off x="5404" y="1120"/>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19539" name="Rectangle 2150"/>
            <p:cNvSpPr/>
            <p:nvPr/>
          </p:nvSpPr>
          <p:spPr>
            <a:xfrm>
              <a:off x="5486" y="1162"/>
              <a:ext cx="36"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19540" name="Line 2151"/>
            <p:cNvSpPr/>
            <p:nvPr/>
          </p:nvSpPr>
          <p:spPr>
            <a:xfrm>
              <a:off x="4332" y="2544"/>
              <a:ext cx="41" cy="52"/>
            </a:xfrm>
            <a:prstGeom prst="line">
              <a:avLst/>
            </a:prstGeom>
            <a:ln w="0" cap="flat" cmpd="sng">
              <a:solidFill>
                <a:srgbClr val="0000FF"/>
              </a:solidFill>
              <a:prstDash val="solid"/>
              <a:headEnd type="none" w="med" len="med"/>
              <a:tailEnd type="none" w="med" len="med"/>
            </a:ln>
          </p:spPr>
        </p:sp>
        <p:sp>
          <p:nvSpPr>
            <p:cNvPr id="19541" name="Line 2152"/>
            <p:cNvSpPr/>
            <p:nvPr/>
          </p:nvSpPr>
          <p:spPr>
            <a:xfrm>
              <a:off x="4332" y="2544"/>
              <a:ext cx="51" cy="42"/>
            </a:xfrm>
            <a:prstGeom prst="line">
              <a:avLst/>
            </a:prstGeom>
            <a:ln w="0" cap="flat" cmpd="sng">
              <a:solidFill>
                <a:srgbClr val="0000FF"/>
              </a:solidFill>
              <a:prstDash val="solid"/>
              <a:headEnd type="none" w="med" len="med"/>
              <a:tailEnd type="none" w="med" len="med"/>
            </a:ln>
          </p:spPr>
        </p:sp>
        <p:sp>
          <p:nvSpPr>
            <p:cNvPr id="19542" name="Line 2153"/>
            <p:cNvSpPr/>
            <p:nvPr/>
          </p:nvSpPr>
          <p:spPr>
            <a:xfrm flipH="1" flipV="1">
              <a:off x="4383" y="1769"/>
              <a:ext cx="41" cy="32"/>
            </a:xfrm>
            <a:prstGeom prst="line">
              <a:avLst/>
            </a:prstGeom>
            <a:ln w="0" cap="flat" cmpd="sng">
              <a:solidFill>
                <a:srgbClr val="0000FF"/>
              </a:solidFill>
              <a:prstDash val="solid"/>
              <a:headEnd type="none" w="med" len="med"/>
              <a:tailEnd type="none" w="med" len="med"/>
            </a:ln>
          </p:spPr>
        </p:sp>
        <p:sp>
          <p:nvSpPr>
            <p:cNvPr id="19543" name="Line 2154"/>
            <p:cNvSpPr/>
            <p:nvPr/>
          </p:nvSpPr>
          <p:spPr>
            <a:xfrm>
              <a:off x="4342" y="1204"/>
              <a:ext cx="41" cy="62"/>
            </a:xfrm>
            <a:prstGeom prst="line">
              <a:avLst/>
            </a:prstGeom>
            <a:ln w="0" cap="flat" cmpd="sng">
              <a:solidFill>
                <a:srgbClr val="0000FF"/>
              </a:solidFill>
              <a:prstDash val="solid"/>
              <a:headEnd type="none" w="med" len="med"/>
              <a:tailEnd type="none" w="med" len="med"/>
            </a:ln>
          </p:spPr>
        </p:sp>
        <p:sp>
          <p:nvSpPr>
            <p:cNvPr id="19544" name="Line 2155"/>
            <p:cNvSpPr/>
            <p:nvPr/>
          </p:nvSpPr>
          <p:spPr>
            <a:xfrm>
              <a:off x="4342" y="1204"/>
              <a:ext cx="51" cy="41"/>
            </a:xfrm>
            <a:prstGeom prst="line">
              <a:avLst/>
            </a:prstGeom>
            <a:ln w="0" cap="flat" cmpd="sng">
              <a:solidFill>
                <a:srgbClr val="0000FF"/>
              </a:solidFill>
              <a:prstDash val="solid"/>
              <a:headEnd type="none" w="med" len="med"/>
              <a:tailEnd type="none" w="med" len="med"/>
            </a:ln>
          </p:spPr>
        </p:sp>
        <p:sp>
          <p:nvSpPr>
            <p:cNvPr id="19545" name="Line 2156"/>
            <p:cNvSpPr/>
            <p:nvPr/>
          </p:nvSpPr>
          <p:spPr>
            <a:xfrm flipH="1" flipV="1">
              <a:off x="4363" y="3099"/>
              <a:ext cx="40" cy="31"/>
            </a:xfrm>
            <a:prstGeom prst="line">
              <a:avLst/>
            </a:prstGeom>
            <a:ln w="0" cap="flat" cmpd="sng">
              <a:solidFill>
                <a:srgbClr val="0000FF"/>
              </a:solidFill>
              <a:prstDash val="solid"/>
              <a:headEnd type="none" w="med" len="med"/>
              <a:tailEnd type="none" w="med" len="med"/>
            </a:ln>
          </p:spPr>
        </p:sp>
        <p:sp>
          <p:nvSpPr>
            <p:cNvPr id="19546" name="Line 2157"/>
            <p:cNvSpPr/>
            <p:nvPr/>
          </p:nvSpPr>
          <p:spPr>
            <a:xfrm flipH="1" flipV="1">
              <a:off x="4373" y="3089"/>
              <a:ext cx="41" cy="52"/>
            </a:xfrm>
            <a:prstGeom prst="line">
              <a:avLst/>
            </a:prstGeom>
            <a:ln w="0" cap="flat" cmpd="sng">
              <a:solidFill>
                <a:srgbClr val="0000FF"/>
              </a:solidFill>
              <a:prstDash val="solid"/>
              <a:headEnd type="none" w="med" len="med"/>
              <a:tailEnd type="none" w="med" len="med"/>
            </a:ln>
          </p:spPr>
        </p:sp>
        <p:sp>
          <p:nvSpPr>
            <p:cNvPr id="19547" name="Oval 2158"/>
            <p:cNvSpPr/>
            <p:nvPr/>
          </p:nvSpPr>
          <p:spPr>
            <a:xfrm>
              <a:off x="5307" y="1183"/>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48" name="Oval 2159"/>
            <p:cNvSpPr/>
            <p:nvPr/>
          </p:nvSpPr>
          <p:spPr>
            <a:xfrm>
              <a:off x="5057" y="879"/>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49" name="Oval 2160"/>
            <p:cNvSpPr/>
            <p:nvPr/>
          </p:nvSpPr>
          <p:spPr>
            <a:xfrm>
              <a:off x="3713" y="1183"/>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0" name="Oval 2161"/>
            <p:cNvSpPr/>
            <p:nvPr/>
          </p:nvSpPr>
          <p:spPr>
            <a:xfrm>
              <a:off x="3714" y="1685"/>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1" name="Oval 2162"/>
            <p:cNvSpPr/>
            <p:nvPr/>
          </p:nvSpPr>
          <p:spPr>
            <a:xfrm>
              <a:off x="4825" y="1455"/>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2" name="Oval 2163"/>
            <p:cNvSpPr/>
            <p:nvPr/>
          </p:nvSpPr>
          <p:spPr>
            <a:xfrm>
              <a:off x="3713" y="2521"/>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3" name="Oval 2164"/>
            <p:cNvSpPr/>
            <p:nvPr/>
          </p:nvSpPr>
          <p:spPr>
            <a:xfrm>
              <a:off x="3714" y="3026"/>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4" name="Oval 2165"/>
            <p:cNvSpPr/>
            <p:nvPr/>
          </p:nvSpPr>
          <p:spPr>
            <a:xfrm>
              <a:off x="4812" y="2795"/>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5" name="Line 2166"/>
            <p:cNvSpPr/>
            <p:nvPr/>
          </p:nvSpPr>
          <p:spPr>
            <a:xfrm>
              <a:off x="4414" y="2816"/>
              <a:ext cx="163" cy="1"/>
            </a:xfrm>
            <a:prstGeom prst="line">
              <a:avLst/>
            </a:prstGeom>
            <a:ln w="0" cap="flat" cmpd="sng">
              <a:solidFill>
                <a:srgbClr val="0000FF"/>
              </a:solidFill>
              <a:prstDash val="solid"/>
              <a:headEnd type="none" w="med" len="med"/>
              <a:tailEnd type="none" w="med" len="med"/>
            </a:ln>
          </p:spPr>
        </p:sp>
        <p:sp>
          <p:nvSpPr>
            <p:cNvPr id="19556" name="Line 2167"/>
            <p:cNvSpPr/>
            <p:nvPr/>
          </p:nvSpPr>
          <p:spPr>
            <a:xfrm>
              <a:off x="4698" y="2816"/>
              <a:ext cx="114" cy="1"/>
            </a:xfrm>
            <a:prstGeom prst="line">
              <a:avLst/>
            </a:prstGeom>
            <a:ln w="0" cap="flat" cmpd="sng">
              <a:solidFill>
                <a:srgbClr val="0000FF"/>
              </a:solidFill>
              <a:prstDash val="solid"/>
              <a:headEnd type="none" w="med" len="med"/>
              <a:tailEnd type="none" w="med" len="med"/>
            </a:ln>
          </p:spPr>
        </p:sp>
        <p:sp>
          <p:nvSpPr>
            <p:cNvPr id="19557" name="Oval 2168"/>
            <p:cNvSpPr/>
            <p:nvPr/>
          </p:nvSpPr>
          <p:spPr>
            <a:xfrm>
              <a:off x="4397" y="1451"/>
              <a:ext cx="51" cy="5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8" name="Oval 2169"/>
            <p:cNvSpPr/>
            <p:nvPr/>
          </p:nvSpPr>
          <p:spPr>
            <a:xfrm>
              <a:off x="4393" y="2797"/>
              <a:ext cx="51" cy="5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59" name="Rectangle 2170"/>
            <p:cNvSpPr/>
            <p:nvPr/>
          </p:nvSpPr>
          <p:spPr>
            <a:xfrm>
              <a:off x="3097" y="1151"/>
              <a:ext cx="504"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模拟信号</a:t>
              </a:r>
              <a:r>
                <a:rPr lang="en-US" altLang="zh-CN" sz="14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sp>
          <p:nvSpPr>
            <p:cNvPr id="19560" name="Rectangle 2171"/>
            <p:cNvSpPr/>
            <p:nvPr/>
          </p:nvSpPr>
          <p:spPr>
            <a:xfrm>
              <a:off x="3107" y="2471"/>
              <a:ext cx="504"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模拟信号</a:t>
              </a:r>
              <a:r>
                <a:rPr lang="en-US" altLang="zh-CN" sz="14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sp>
          <p:nvSpPr>
            <p:cNvPr id="19561" name="Line 2172"/>
            <p:cNvSpPr/>
            <p:nvPr/>
          </p:nvSpPr>
          <p:spPr>
            <a:xfrm flipH="1">
              <a:off x="4541" y="1631"/>
              <a:ext cx="21" cy="21"/>
            </a:xfrm>
            <a:prstGeom prst="line">
              <a:avLst/>
            </a:prstGeom>
            <a:ln w="0" cap="flat" cmpd="sng">
              <a:solidFill>
                <a:srgbClr val="0000FF"/>
              </a:solidFill>
              <a:prstDash val="solid"/>
              <a:headEnd type="none" w="med" len="med"/>
              <a:tailEnd type="none" w="med" len="med"/>
            </a:ln>
          </p:spPr>
        </p:sp>
        <p:sp>
          <p:nvSpPr>
            <p:cNvPr id="19562" name="Line 2173"/>
            <p:cNvSpPr/>
            <p:nvPr/>
          </p:nvSpPr>
          <p:spPr>
            <a:xfrm flipV="1">
              <a:off x="4415" y="3141"/>
              <a:ext cx="1" cy="157"/>
            </a:xfrm>
            <a:prstGeom prst="line">
              <a:avLst/>
            </a:prstGeom>
            <a:ln w="0" cap="flat" cmpd="sng">
              <a:solidFill>
                <a:srgbClr val="0000FF"/>
              </a:solidFill>
              <a:prstDash val="solid"/>
              <a:headEnd type="none" w="med" len="med"/>
              <a:tailEnd type="none" w="med" len="med"/>
            </a:ln>
          </p:spPr>
        </p:sp>
        <p:sp>
          <p:nvSpPr>
            <p:cNvPr id="19563" name="Rectangle 2174"/>
            <p:cNvSpPr/>
            <p:nvPr/>
          </p:nvSpPr>
          <p:spPr>
            <a:xfrm>
              <a:off x="3599" y="3538"/>
              <a:ext cx="1450"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80"/>
                  </a:solidFill>
                  <a:latin typeface="楷体_GB2312" pitchFamily="49" charset="-122"/>
                </a:rPr>
                <a:t>双极型晶体管开关电路</a:t>
              </a:r>
              <a:endParaRPr lang="zh-CN" altLang="en-US" dirty="0">
                <a:latin typeface="Times New Roman" panose="02020603050405020304" pitchFamily="18" charset="0"/>
              </a:endParaRPr>
            </a:p>
          </p:txBody>
        </p:sp>
        <p:sp>
          <p:nvSpPr>
            <p:cNvPr id="19564" name="Oval 2176"/>
            <p:cNvSpPr/>
            <p:nvPr/>
          </p:nvSpPr>
          <p:spPr>
            <a:xfrm>
              <a:off x="5050" y="1176"/>
              <a:ext cx="51" cy="5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19565" name="Rectangle 2177"/>
            <p:cNvSpPr/>
            <p:nvPr/>
          </p:nvSpPr>
          <p:spPr>
            <a:xfrm>
              <a:off x="4984" y="771"/>
              <a:ext cx="19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VDD</a:t>
              </a:r>
              <a:endParaRPr lang="en-US" altLang="zh-CN" dirty="0">
                <a:latin typeface="Times New Roman" panose="02020603050405020304" pitchFamily="18" charset="0"/>
              </a:endParaRPr>
            </a:p>
          </p:txBody>
        </p:sp>
      </p:grpSp>
      <p:sp>
        <p:nvSpPr>
          <p:cNvPr id="2248836" name="Rectangle 2180"/>
          <p:cNvSpPr/>
          <p:nvPr/>
        </p:nvSpPr>
        <p:spPr>
          <a:xfrm>
            <a:off x="663575" y="4432300"/>
            <a:ext cx="4137025" cy="1077913"/>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000099"/>
                </a:solidFill>
                <a:latin typeface="Times New Roman" panose="02020603050405020304" pitchFamily="18" charset="0"/>
              </a:rPr>
              <a:t>同理，当令通道控制信号</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2</a:t>
            </a:r>
            <a:r>
              <a:rPr lang="en-US" altLang="zh-CN" sz="2400" dirty="0">
                <a:solidFill>
                  <a:srgbClr val="CC00CC"/>
                </a:solidFill>
                <a:latin typeface="Times New Roman" panose="02020603050405020304" pitchFamily="18" charset="0"/>
                <a:ea typeface="宋体" panose="02010600030101010101" pitchFamily="2" charset="-122"/>
              </a:rPr>
              <a:t>= 0</a:t>
            </a:r>
            <a:r>
              <a:rPr lang="en-US" altLang="zh-CN" sz="2400" dirty="0">
                <a:solidFill>
                  <a:srgbClr val="000099"/>
                </a:solidFill>
                <a:latin typeface="Times New Roman" panose="02020603050405020304" pitchFamily="18" charset="0"/>
              </a:rPr>
              <a:t> </a:t>
            </a:r>
            <a:r>
              <a:rPr lang="zh-CN" altLang="en-US" sz="2400" dirty="0">
                <a:solidFill>
                  <a:srgbClr val="000099"/>
                </a:solidFill>
                <a:latin typeface="Times New Roman" panose="02020603050405020304" pitchFamily="18" charset="0"/>
              </a:rPr>
              <a:t>时，则选中第</a:t>
            </a:r>
            <a:r>
              <a:rPr lang="en-US" altLang="zh-CN" sz="2400" dirty="0">
                <a:solidFill>
                  <a:srgbClr val="CC00CC"/>
                </a:solidFill>
                <a:latin typeface="Times New Roman" panose="02020603050405020304" pitchFamily="18" charset="0"/>
                <a:ea typeface="宋体" panose="02010600030101010101" pitchFamily="2" charset="-122"/>
              </a:rPr>
              <a:t>2</a:t>
            </a:r>
            <a:r>
              <a:rPr lang="zh-CN" altLang="en-US" sz="2400" dirty="0">
                <a:solidFill>
                  <a:srgbClr val="000099"/>
                </a:solidFill>
                <a:latin typeface="Times New Roman" panose="02020603050405020304" pitchFamily="18" charset="0"/>
              </a:rPr>
              <a:t>路模拟信号， </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baseline="-25000" dirty="0">
                <a:solidFill>
                  <a:srgbClr val="CC00CC"/>
                </a:solidFill>
                <a:latin typeface="Times New Roman" panose="02020603050405020304" pitchFamily="18" charset="0"/>
                <a:ea typeface="宋体" panose="02010600030101010101" pitchFamily="2" charset="-122"/>
              </a:rPr>
              <a:t>O</a:t>
            </a:r>
            <a:r>
              <a:rPr lang="en-US" altLang="zh-CN" sz="2400" dirty="0">
                <a:solidFill>
                  <a:srgbClr val="CC00CC"/>
                </a:solidFill>
                <a:latin typeface="Times New Roman" panose="02020603050405020304" pitchFamily="18" charset="0"/>
                <a:ea typeface="宋体" panose="02010600030101010101" pitchFamily="2" charset="-122"/>
              </a:rPr>
              <a:t> = </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a:t>
            </a:r>
            <a:r>
              <a:rPr lang="en-US" altLang="zh-CN" sz="2400" baseline="-25000" dirty="0">
                <a:solidFill>
                  <a:srgbClr val="CC00CC"/>
                </a:solidFill>
                <a:latin typeface="Times New Roman" panose="02020603050405020304" pitchFamily="18" charset="0"/>
                <a:ea typeface="宋体" panose="02010600030101010101" pitchFamily="2" charset="-122"/>
              </a:rPr>
              <a:t>2</a:t>
            </a:r>
            <a:r>
              <a:rPr lang="zh-CN" altLang="en-US" sz="2400" dirty="0">
                <a:solidFill>
                  <a:srgbClr val="000099"/>
                </a:solidFill>
                <a:latin typeface="Times New Roman" panose="02020603050405020304" pitchFamily="18" charset="0"/>
              </a:rPr>
              <a:t>。</a:t>
            </a:r>
            <a:endParaRPr lang="zh-CN" altLang="en-US" sz="2400" dirty="0">
              <a:solidFill>
                <a:srgbClr val="000099"/>
              </a:solidFill>
              <a:latin typeface="Times New Roman" panose="02020603050405020304" pitchFamily="18" charset="0"/>
            </a:endParaRPr>
          </a:p>
        </p:txBody>
      </p:sp>
      <p:sp>
        <p:nvSpPr>
          <p:cNvPr id="2248837" name="Text Box 2181"/>
          <p:cNvSpPr txBox="1"/>
          <p:nvPr/>
        </p:nvSpPr>
        <p:spPr>
          <a:xfrm>
            <a:off x="257175" y="2597150"/>
            <a:ext cx="3905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48838" name="Text Box 2182"/>
          <p:cNvSpPr txBox="1"/>
          <p:nvPr/>
        </p:nvSpPr>
        <p:spPr>
          <a:xfrm>
            <a:off x="254000" y="4437063"/>
            <a:ext cx="3905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48839" name="Text Box 2183"/>
          <p:cNvSpPr txBox="1"/>
          <p:nvPr/>
        </p:nvSpPr>
        <p:spPr>
          <a:xfrm>
            <a:off x="263525" y="5554663"/>
            <a:ext cx="29892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 …</a:t>
            </a:r>
            <a:endParaRPr lang="en-US" altLang="zh-CN"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5654"/>
                                        </p:tgtEl>
                                        <p:attrNameLst>
                                          <p:attrName>style.visibility</p:attrName>
                                        </p:attrNameLst>
                                      </p:cBhvr>
                                      <p:to>
                                        <p:strVal val="visible"/>
                                      </p:to>
                                    </p:set>
                                    <p:animEffect transition="in" filter="dissolve">
                                      <p:cBhvr>
                                        <p:cTn id="7" dur="500"/>
                                        <p:tgtEl>
                                          <p:spTgt spid="22456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5655"/>
                                        </p:tgtEl>
                                        <p:attrNameLst>
                                          <p:attrName>style.visibility</p:attrName>
                                        </p:attrNameLst>
                                      </p:cBhvr>
                                      <p:to>
                                        <p:strVal val="visible"/>
                                      </p:to>
                                    </p:set>
                                    <p:animEffect transition="in" filter="dissolve">
                                      <p:cBhvr>
                                        <p:cTn id="12" dur="500"/>
                                        <p:tgtEl>
                                          <p:spTgt spid="22456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8835"/>
                                        </p:tgtEl>
                                        <p:attrNameLst>
                                          <p:attrName>style.visibility</p:attrName>
                                        </p:attrNameLst>
                                      </p:cBhvr>
                                      <p:to>
                                        <p:strVal val="visible"/>
                                      </p:to>
                                    </p:set>
                                    <p:animEffect transition="in" filter="dissolve">
                                      <p:cBhvr>
                                        <p:cTn id="17" dur="500"/>
                                        <p:tgtEl>
                                          <p:spTgt spid="22488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45657"/>
                                        </p:tgtEl>
                                        <p:attrNameLst>
                                          <p:attrName>style.visibility</p:attrName>
                                        </p:attrNameLst>
                                      </p:cBhvr>
                                      <p:to>
                                        <p:strVal val="visible"/>
                                      </p:to>
                                    </p:set>
                                    <p:animEffect transition="in" filter="dissolve">
                                      <p:cBhvr>
                                        <p:cTn id="22" dur="500"/>
                                        <p:tgtEl>
                                          <p:spTgt spid="224565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45659"/>
                                        </p:tgtEl>
                                        <p:attrNameLst>
                                          <p:attrName>style.visibility</p:attrName>
                                        </p:attrNameLst>
                                      </p:cBhvr>
                                      <p:to>
                                        <p:strVal val="visible"/>
                                      </p:to>
                                    </p:set>
                                    <p:animEffect transition="in" filter="dissolve">
                                      <p:cBhvr>
                                        <p:cTn id="27" dur="500"/>
                                        <p:tgtEl>
                                          <p:spTgt spid="2245659"/>
                                        </p:tgtEl>
                                      </p:cBhvr>
                                    </p:animEffect>
                                  </p:childTnLst>
                                </p:cTn>
                              </p:par>
                              <p:par>
                                <p:cTn id="28" presetID="9" presetClass="entr" presetSubtype="0" fill="hold" nodeType="withEffect">
                                  <p:stCondLst>
                                    <p:cond delay="0"/>
                                  </p:stCondLst>
                                  <p:childTnLst>
                                    <p:set>
                                      <p:cBhvr>
                                        <p:cTn id="29" dur="1" fill="hold">
                                          <p:stCondLst>
                                            <p:cond delay="0"/>
                                          </p:stCondLst>
                                        </p:cTn>
                                        <p:tgtEl>
                                          <p:spTgt spid="2248837"/>
                                        </p:tgtEl>
                                        <p:attrNameLst>
                                          <p:attrName>style.visibility</p:attrName>
                                        </p:attrNameLst>
                                      </p:cBhvr>
                                      <p:to>
                                        <p:strVal val="visible"/>
                                      </p:to>
                                    </p:set>
                                    <p:animEffect transition="in" filter="dissolve">
                                      <p:cBhvr>
                                        <p:cTn id="30" dur="500"/>
                                        <p:tgtEl>
                                          <p:spTgt spid="2248837"/>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48838"/>
                                        </p:tgtEl>
                                        <p:attrNameLst>
                                          <p:attrName>style.visibility</p:attrName>
                                        </p:attrNameLst>
                                      </p:cBhvr>
                                      <p:to>
                                        <p:strVal val="visible"/>
                                      </p:to>
                                    </p:set>
                                    <p:animEffect transition="in" filter="dissolve">
                                      <p:cBhvr>
                                        <p:cTn id="35" dur="500"/>
                                        <p:tgtEl>
                                          <p:spTgt spid="2248838"/>
                                        </p:tgtEl>
                                      </p:cBhvr>
                                    </p:animEffect>
                                  </p:childTnLst>
                                </p:cTn>
                              </p:par>
                              <p:par>
                                <p:cTn id="36" presetID="9" presetClass="entr" presetSubtype="0" fill="hold" nodeType="withEffect">
                                  <p:stCondLst>
                                    <p:cond delay="0"/>
                                  </p:stCondLst>
                                  <p:childTnLst>
                                    <p:set>
                                      <p:cBhvr>
                                        <p:cTn id="37" dur="1" fill="hold">
                                          <p:stCondLst>
                                            <p:cond delay="0"/>
                                          </p:stCondLst>
                                        </p:cTn>
                                        <p:tgtEl>
                                          <p:spTgt spid="2248836"/>
                                        </p:tgtEl>
                                        <p:attrNameLst>
                                          <p:attrName>style.visibility</p:attrName>
                                        </p:attrNameLst>
                                      </p:cBhvr>
                                      <p:to>
                                        <p:strVal val="visible"/>
                                      </p:to>
                                    </p:set>
                                    <p:animEffect transition="in" filter="dissolve">
                                      <p:cBhvr>
                                        <p:cTn id="38" dur="500"/>
                                        <p:tgtEl>
                                          <p:spTgt spid="224883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2248839"/>
                                        </p:tgtEl>
                                        <p:attrNameLst>
                                          <p:attrName>style.visibility</p:attrName>
                                        </p:attrNameLst>
                                      </p:cBhvr>
                                      <p:to>
                                        <p:strVal val="visible"/>
                                      </p:to>
                                    </p:set>
                                    <p:animEffect transition="in" filter="dissolve">
                                      <p:cBhvr>
                                        <p:cTn id="43" dur="500"/>
                                        <p:tgtEl>
                                          <p:spTgt spid="22488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5654" grpId="0" animBg="1"/>
      <p:bldP spid="2245655" grpId="0" animBg="1"/>
      <p:bldP spid="2245657" grpId="0"/>
      <p:bldP spid="2245659" grpId="0"/>
      <p:bldP spid="2248836" grpId="0"/>
      <p:bldP spid="2248837" grpId="0"/>
      <p:bldP spid="2248838" grpId="0"/>
      <p:bldP spid="2248839"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6162" name="Text Box 2"/>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0483" name="Text Box 3"/>
          <p:cNvSpPr txBox="1"/>
          <p:nvPr/>
        </p:nvSpPr>
        <p:spPr>
          <a:xfrm>
            <a:off x="268288" y="763588"/>
            <a:ext cx="45323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
        <p:nvSpPr>
          <p:cNvPr id="20484" name="Text Box 4"/>
          <p:cNvSpPr txBox="1"/>
          <p:nvPr/>
        </p:nvSpPr>
        <p:spPr>
          <a:xfrm>
            <a:off x="423863" y="1497013"/>
            <a:ext cx="3702050"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1.</a:t>
            </a:r>
            <a:r>
              <a:rPr lang="zh-CN" altLang="en-US" sz="2800" dirty="0">
                <a:solidFill>
                  <a:schemeClr val="tx1"/>
                </a:solidFill>
                <a:latin typeface="Times New Roman" panose="02020603050405020304" pitchFamily="18" charset="0"/>
                <a:ea typeface="黑体" panose="02010609060101010101" pitchFamily="49" charset="-122"/>
              </a:rPr>
              <a:t>双极型晶体管开关 </a:t>
            </a:r>
            <a:endParaRPr lang="zh-CN" altLang="en-US" sz="2800" dirty="0">
              <a:solidFill>
                <a:schemeClr val="tx1"/>
              </a:solidFill>
              <a:latin typeface="Times New Roman" panose="02020603050405020304" pitchFamily="18" charset="0"/>
              <a:ea typeface="黑体" panose="02010609060101010101" pitchFamily="49" charset="-122"/>
            </a:endParaRPr>
          </a:p>
        </p:txBody>
      </p:sp>
      <p:grpSp>
        <p:nvGrpSpPr>
          <p:cNvPr id="20485" name="Group 7"/>
          <p:cNvGrpSpPr/>
          <p:nvPr/>
        </p:nvGrpSpPr>
        <p:grpSpPr>
          <a:xfrm>
            <a:off x="4800600" y="1100138"/>
            <a:ext cx="4064000" cy="4902200"/>
            <a:chOff x="3024" y="693"/>
            <a:chExt cx="2560" cy="3088"/>
          </a:xfrm>
        </p:grpSpPr>
        <p:sp>
          <p:nvSpPr>
            <p:cNvPr id="20493" name="Rectangle 8"/>
            <p:cNvSpPr/>
            <p:nvPr/>
          </p:nvSpPr>
          <p:spPr>
            <a:xfrm>
              <a:off x="3024" y="693"/>
              <a:ext cx="2560" cy="3088"/>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0494" name="Line 9"/>
            <p:cNvSpPr/>
            <p:nvPr/>
          </p:nvSpPr>
          <p:spPr>
            <a:xfrm>
              <a:off x="3760" y="1204"/>
              <a:ext cx="582" cy="1"/>
            </a:xfrm>
            <a:prstGeom prst="line">
              <a:avLst/>
            </a:prstGeom>
            <a:ln w="0" cap="flat" cmpd="sng">
              <a:solidFill>
                <a:srgbClr val="0000FF"/>
              </a:solidFill>
              <a:prstDash val="solid"/>
              <a:headEnd type="none" w="med" len="med"/>
              <a:tailEnd type="none" w="med" len="med"/>
            </a:ln>
          </p:spPr>
        </p:sp>
        <p:sp>
          <p:nvSpPr>
            <p:cNvPr id="20495" name="Line 10"/>
            <p:cNvSpPr/>
            <p:nvPr/>
          </p:nvSpPr>
          <p:spPr>
            <a:xfrm>
              <a:off x="4339" y="1287"/>
              <a:ext cx="197" cy="1"/>
            </a:xfrm>
            <a:prstGeom prst="line">
              <a:avLst/>
            </a:prstGeom>
            <a:ln w="0" cap="flat" cmpd="sng">
              <a:solidFill>
                <a:srgbClr val="0000FF"/>
              </a:solidFill>
              <a:prstDash val="solid"/>
              <a:headEnd type="none" w="med" len="med"/>
              <a:tailEnd type="none" w="med" len="med"/>
            </a:ln>
          </p:spPr>
        </p:sp>
        <p:sp>
          <p:nvSpPr>
            <p:cNvPr id="20496" name="Line 11"/>
            <p:cNvSpPr/>
            <p:nvPr/>
          </p:nvSpPr>
          <p:spPr>
            <a:xfrm>
              <a:off x="4587" y="1204"/>
              <a:ext cx="720" cy="1"/>
            </a:xfrm>
            <a:prstGeom prst="line">
              <a:avLst/>
            </a:prstGeom>
            <a:ln w="0" cap="flat" cmpd="sng">
              <a:solidFill>
                <a:srgbClr val="0000FF"/>
              </a:solidFill>
              <a:prstDash val="solid"/>
              <a:headEnd type="none" w="med" len="med"/>
              <a:tailEnd type="none" w="med" len="med"/>
            </a:ln>
          </p:spPr>
        </p:sp>
        <p:sp>
          <p:nvSpPr>
            <p:cNvPr id="20497" name="Line 12"/>
            <p:cNvSpPr/>
            <p:nvPr/>
          </p:nvSpPr>
          <p:spPr>
            <a:xfrm>
              <a:off x="4339" y="1204"/>
              <a:ext cx="83" cy="83"/>
            </a:xfrm>
            <a:prstGeom prst="line">
              <a:avLst/>
            </a:prstGeom>
            <a:ln w="0" cap="flat" cmpd="sng">
              <a:solidFill>
                <a:srgbClr val="0000FF"/>
              </a:solidFill>
              <a:prstDash val="solid"/>
              <a:headEnd type="none" w="med" len="med"/>
              <a:tailEnd type="none" w="med" len="med"/>
            </a:ln>
          </p:spPr>
        </p:sp>
        <p:sp>
          <p:nvSpPr>
            <p:cNvPr id="20498" name="Line 13"/>
            <p:cNvSpPr/>
            <p:nvPr/>
          </p:nvSpPr>
          <p:spPr>
            <a:xfrm flipV="1">
              <a:off x="4422" y="1204"/>
              <a:ext cx="83" cy="83"/>
            </a:xfrm>
            <a:prstGeom prst="line">
              <a:avLst/>
            </a:prstGeom>
            <a:ln w="0" cap="flat" cmpd="sng">
              <a:solidFill>
                <a:srgbClr val="0000FF"/>
              </a:solidFill>
              <a:prstDash val="solid"/>
              <a:headEnd type="none" w="med" len="med"/>
              <a:tailEnd type="none" w="med" len="med"/>
            </a:ln>
          </p:spPr>
        </p:sp>
        <p:sp>
          <p:nvSpPr>
            <p:cNvPr id="20499" name="Line 14"/>
            <p:cNvSpPr/>
            <p:nvPr/>
          </p:nvSpPr>
          <p:spPr>
            <a:xfrm>
              <a:off x="4505" y="1204"/>
              <a:ext cx="92" cy="1"/>
            </a:xfrm>
            <a:prstGeom prst="line">
              <a:avLst/>
            </a:prstGeom>
            <a:ln w="0" cap="flat" cmpd="sng">
              <a:solidFill>
                <a:srgbClr val="0000FF"/>
              </a:solidFill>
              <a:prstDash val="solid"/>
              <a:headEnd type="none" w="med" len="med"/>
              <a:tailEnd type="none" w="med" len="med"/>
            </a:ln>
          </p:spPr>
        </p:sp>
        <p:sp>
          <p:nvSpPr>
            <p:cNvPr id="20500" name="Line 15"/>
            <p:cNvSpPr/>
            <p:nvPr/>
          </p:nvSpPr>
          <p:spPr>
            <a:xfrm>
              <a:off x="4422" y="1287"/>
              <a:ext cx="1" cy="335"/>
            </a:xfrm>
            <a:prstGeom prst="line">
              <a:avLst/>
            </a:prstGeom>
            <a:ln w="0" cap="flat" cmpd="sng">
              <a:solidFill>
                <a:srgbClr val="0000FF"/>
              </a:solidFill>
              <a:prstDash val="solid"/>
              <a:headEnd type="none" w="med" len="med"/>
              <a:tailEnd type="none" w="med" len="med"/>
            </a:ln>
          </p:spPr>
        </p:sp>
        <p:sp>
          <p:nvSpPr>
            <p:cNvPr id="20501" name="Line 16"/>
            <p:cNvSpPr/>
            <p:nvPr/>
          </p:nvSpPr>
          <p:spPr>
            <a:xfrm flipH="1">
              <a:off x="4329" y="1622"/>
              <a:ext cx="93" cy="84"/>
            </a:xfrm>
            <a:prstGeom prst="line">
              <a:avLst/>
            </a:prstGeom>
            <a:ln w="0" cap="flat" cmpd="sng">
              <a:solidFill>
                <a:srgbClr val="0000FF"/>
              </a:solidFill>
              <a:prstDash val="solid"/>
              <a:headEnd type="none" w="med" len="med"/>
              <a:tailEnd type="none" w="med" len="med"/>
            </a:ln>
          </p:spPr>
        </p:sp>
        <p:sp>
          <p:nvSpPr>
            <p:cNvPr id="20502" name="Line 17"/>
            <p:cNvSpPr/>
            <p:nvPr/>
          </p:nvSpPr>
          <p:spPr>
            <a:xfrm>
              <a:off x="4329" y="1706"/>
              <a:ext cx="93" cy="95"/>
            </a:xfrm>
            <a:prstGeom prst="line">
              <a:avLst/>
            </a:prstGeom>
            <a:ln w="0" cap="flat" cmpd="sng">
              <a:solidFill>
                <a:srgbClr val="0000FF"/>
              </a:solidFill>
              <a:prstDash val="solid"/>
              <a:headEnd type="none" w="med" len="med"/>
              <a:tailEnd type="none" w="med" len="med"/>
            </a:ln>
          </p:spPr>
        </p:sp>
        <p:sp>
          <p:nvSpPr>
            <p:cNvPr id="20503" name="Line 18"/>
            <p:cNvSpPr/>
            <p:nvPr/>
          </p:nvSpPr>
          <p:spPr>
            <a:xfrm>
              <a:off x="4329" y="1622"/>
              <a:ext cx="1" cy="189"/>
            </a:xfrm>
            <a:prstGeom prst="line">
              <a:avLst/>
            </a:prstGeom>
            <a:ln w="0" cap="flat" cmpd="sng">
              <a:solidFill>
                <a:srgbClr val="0000FF"/>
              </a:solidFill>
              <a:prstDash val="solid"/>
              <a:headEnd type="none" w="med" len="med"/>
              <a:tailEnd type="none" w="med" len="med"/>
            </a:ln>
          </p:spPr>
        </p:sp>
        <p:sp>
          <p:nvSpPr>
            <p:cNvPr id="20504" name="Line 19"/>
            <p:cNvSpPr/>
            <p:nvPr/>
          </p:nvSpPr>
          <p:spPr>
            <a:xfrm flipH="1" flipV="1">
              <a:off x="4381" y="1748"/>
              <a:ext cx="31" cy="42"/>
            </a:xfrm>
            <a:prstGeom prst="line">
              <a:avLst/>
            </a:prstGeom>
            <a:ln w="0" cap="flat" cmpd="sng">
              <a:solidFill>
                <a:srgbClr val="0000FF"/>
              </a:solidFill>
              <a:prstDash val="solid"/>
              <a:headEnd type="none" w="med" len="med"/>
              <a:tailEnd type="none" w="med" len="med"/>
            </a:ln>
          </p:spPr>
        </p:sp>
        <p:sp>
          <p:nvSpPr>
            <p:cNvPr id="20505" name="Line 20"/>
            <p:cNvSpPr/>
            <p:nvPr/>
          </p:nvSpPr>
          <p:spPr>
            <a:xfrm>
              <a:off x="4174" y="1706"/>
              <a:ext cx="155" cy="1"/>
            </a:xfrm>
            <a:prstGeom prst="line">
              <a:avLst/>
            </a:prstGeom>
            <a:ln w="0" cap="flat" cmpd="sng">
              <a:solidFill>
                <a:srgbClr val="0000FF"/>
              </a:solidFill>
              <a:prstDash val="solid"/>
              <a:headEnd type="none" w="med" len="med"/>
              <a:tailEnd type="none" w="med" len="med"/>
            </a:ln>
          </p:spPr>
        </p:sp>
        <p:sp>
          <p:nvSpPr>
            <p:cNvPr id="20506" name="Rectangle 21"/>
            <p:cNvSpPr/>
            <p:nvPr/>
          </p:nvSpPr>
          <p:spPr>
            <a:xfrm>
              <a:off x="4049" y="1685"/>
              <a:ext cx="128" cy="46"/>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07" name="Line 22"/>
            <p:cNvSpPr/>
            <p:nvPr/>
          </p:nvSpPr>
          <p:spPr>
            <a:xfrm flipH="1">
              <a:off x="3760" y="1706"/>
              <a:ext cx="289" cy="1"/>
            </a:xfrm>
            <a:prstGeom prst="line">
              <a:avLst/>
            </a:prstGeom>
            <a:ln w="0" cap="flat" cmpd="sng">
              <a:solidFill>
                <a:srgbClr val="0000FF"/>
              </a:solidFill>
              <a:prstDash val="solid"/>
              <a:headEnd type="none" w="med" len="med"/>
              <a:tailEnd type="none" w="med" len="med"/>
            </a:ln>
          </p:spPr>
        </p:sp>
        <p:sp>
          <p:nvSpPr>
            <p:cNvPr id="20508" name="Rectangle 23"/>
            <p:cNvSpPr/>
            <p:nvPr/>
          </p:nvSpPr>
          <p:spPr>
            <a:xfrm>
              <a:off x="4587" y="1455"/>
              <a:ext cx="121" cy="5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09" name="Line 24"/>
            <p:cNvSpPr/>
            <p:nvPr/>
          </p:nvSpPr>
          <p:spPr>
            <a:xfrm>
              <a:off x="4419" y="1476"/>
              <a:ext cx="170" cy="1"/>
            </a:xfrm>
            <a:prstGeom prst="line">
              <a:avLst/>
            </a:prstGeom>
            <a:ln w="0" cap="flat" cmpd="sng">
              <a:solidFill>
                <a:srgbClr val="0000FF"/>
              </a:solidFill>
              <a:prstDash val="solid"/>
              <a:headEnd type="none" w="med" len="med"/>
              <a:tailEnd type="none" w="med" len="med"/>
            </a:ln>
          </p:spPr>
        </p:sp>
        <p:sp>
          <p:nvSpPr>
            <p:cNvPr id="20510" name="Line 25"/>
            <p:cNvSpPr/>
            <p:nvPr/>
          </p:nvSpPr>
          <p:spPr>
            <a:xfrm>
              <a:off x="4705" y="1476"/>
              <a:ext cx="122" cy="1"/>
            </a:xfrm>
            <a:prstGeom prst="line">
              <a:avLst/>
            </a:prstGeom>
            <a:ln w="0" cap="flat" cmpd="sng">
              <a:solidFill>
                <a:srgbClr val="0000FF"/>
              </a:solidFill>
              <a:prstDash val="solid"/>
              <a:headEnd type="none" w="med" len="med"/>
              <a:tailEnd type="none" w="med" len="med"/>
            </a:ln>
          </p:spPr>
        </p:sp>
        <p:sp>
          <p:nvSpPr>
            <p:cNvPr id="20511" name="Line 26"/>
            <p:cNvSpPr/>
            <p:nvPr/>
          </p:nvSpPr>
          <p:spPr>
            <a:xfrm>
              <a:off x="4422" y="1801"/>
              <a:ext cx="1" cy="157"/>
            </a:xfrm>
            <a:prstGeom prst="line">
              <a:avLst/>
            </a:prstGeom>
            <a:ln w="0" cap="flat" cmpd="sng">
              <a:solidFill>
                <a:srgbClr val="0000FF"/>
              </a:solidFill>
              <a:prstDash val="solid"/>
              <a:headEnd type="none" w="med" len="med"/>
              <a:tailEnd type="none" w="med" len="med"/>
            </a:ln>
          </p:spPr>
        </p:sp>
        <p:sp>
          <p:nvSpPr>
            <p:cNvPr id="20512" name="Line 27"/>
            <p:cNvSpPr/>
            <p:nvPr/>
          </p:nvSpPr>
          <p:spPr>
            <a:xfrm>
              <a:off x="4349" y="1958"/>
              <a:ext cx="146" cy="1"/>
            </a:xfrm>
            <a:prstGeom prst="line">
              <a:avLst/>
            </a:prstGeom>
            <a:ln w="0" cap="flat" cmpd="sng">
              <a:solidFill>
                <a:srgbClr val="0000FF"/>
              </a:solidFill>
              <a:prstDash val="solid"/>
              <a:headEnd type="none" w="med" len="med"/>
              <a:tailEnd type="none" w="med" len="med"/>
            </a:ln>
          </p:spPr>
        </p:sp>
        <p:sp>
          <p:nvSpPr>
            <p:cNvPr id="20513" name="Rectangle 28"/>
            <p:cNvSpPr/>
            <p:nvPr/>
          </p:nvSpPr>
          <p:spPr>
            <a:xfrm>
              <a:off x="5057" y="1036"/>
              <a:ext cx="44" cy="10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14" name="Line 29"/>
            <p:cNvSpPr/>
            <p:nvPr/>
          </p:nvSpPr>
          <p:spPr>
            <a:xfrm>
              <a:off x="5077" y="924"/>
              <a:ext cx="1" cy="112"/>
            </a:xfrm>
            <a:prstGeom prst="line">
              <a:avLst/>
            </a:prstGeom>
            <a:ln w="0" cap="flat" cmpd="sng">
              <a:solidFill>
                <a:srgbClr val="0000FF"/>
              </a:solidFill>
              <a:prstDash val="solid"/>
              <a:headEnd type="none" w="med" len="med"/>
              <a:tailEnd type="none" w="med" len="med"/>
            </a:ln>
          </p:spPr>
        </p:sp>
        <p:sp>
          <p:nvSpPr>
            <p:cNvPr id="20515" name="Line 30"/>
            <p:cNvSpPr/>
            <p:nvPr/>
          </p:nvSpPr>
          <p:spPr>
            <a:xfrm>
              <a:off x="5077" y="1141"/>
              <a:ext cx="1" cy="136"/>
            </a:xfrm>
            <a:prstGeom prst="line">
              <a:avLst/>
            </a:prstGeom>
            <a:ln w="0" cap="flat" cmpd="sng">
              <a:solidFill>
                <a:srgbClr val="0000FF"/>
              </a:solidFill>
              <a:prstDash val="solid"/>
              <a:headEnd type="none" w="med" len="med"/>
              <a:tailEnd type="none" w="med" len="med"/>
            </a:ln>
          </p:spPr>
        </p:sp>
        <p:sp>
          <p:nvSpPr>
            <p:cNvPr id="20516" name="Line 31"/>
            <p:cNvSpPr/>
            <p:nvPr/>
          </p:nvSpPr>
          <p:spPr>
            <a:xfrm>
              <a:off x="3760" y="2544"/>
              <a:ext cx="490" cy="1"/>
            </a:xfrm>
            <a:prstGeom prst="line">
              <a:avLst/>
            </a:prstGeom>
            <a:ln w="0" cap="flat" cmpd="sng">
              <a:solidFill>
                <a:srgbClr val="0000FF"/>
              </a:solidFill>
              <a:prstDash val="solid"/>
              <a:headEnd type="none" w="med" len="med"/>
              <a:tailEnd type="none" w="med" len="med"/>
            </a:ln>
          </p:spPr>
        </p:sp>
        <p:sp>
          <p:nvSpPr>
            <p:cNvPr id="20517" name="Line 32"/>
            <p:cNvSpPr/>
            <p:nvPr/>
          </p:nvSpPr>
          <p:spPr>
            <a:xfrm>
              <a:off x="4332" y="2628"/>
              <a:ext cx="194" cy="1"/>
            </a:xfrm>
            <a:prstGeom prst="line">
              <a:avLst/>
            </a:prstGeom>
            <a:ln w="0" cap="flat" cmpd="sng">
              <a:solidFill>
                <a:srgbClr val="0000FF"/>
              </a:solidFill>
              <a:prstDash val="solid"/>
              <a:headEnd type="none" w="med" len="med"/>
              <a:tailEnd type="none" w="med" len="med"/>
            </a:ln>
          </p:spPr>
        </p:sp>
        <p:sp>
          <p:nvSpPr>
            <p:cNvPr id="20518" name="Line 33"/>
            <p:cNvSpPr/>
            <p:nvPr/>
          </p:nvSpPr>
          <p:spPr>
            <a:xfrm>
              <a:off x="4577" y="2544"/>
              <a:ext cx="502" cy="1"/>
            </a:xfrm>
            <a:prstGeom prst="line">
              <a:avLst/>
            </a:prstGeom>
            <a:ln w="0" cap="flat" cmpd="sng">
              <a:solidFill>
                <a:srgbClr val="0000FF"/>
              </a:solidFill>
              <a:prstDash val="solid"/>
              <a:headEnd type="none" w="med" len="med"/>
              <a:tailEnd type="none" w="med" len="med"/>
            </a:ln>
          </p:spPr>
        </p:sp>
        <p:sp>
          <p:nvSpPr>
            <p:cNvPr id="20519" name="Line 34"/>
            <p:cNvSpPr/>
            <p:nvPr/>
          </p:nvSpPr>
          <p:spPr>
            <a:xfrm>
              <a:off x="4332" y="2544"/>
              <a:ext cx="82" cy="84"/>
            </a:xfrm>
            <a:prstGeom prst="line">
              <a:avLst/>
            </a:prstGeom>
            <a:ln w="0" cap="flat" cmpd="sng">
              <a:solidFill>
                <a:srgbClr val="0000FF"/>
              </a:solidFill>
              <a:prstDash val="solid"/>
              <a:headEnd type="none" w="med" len="med"/>
              <a:tailEnd type="none" w="med" len="med"/>
            </a:ln>
          </p:spPr>
        </p:sp>
        <p:sp>
          <p:nvSpPr>
            <p:cNvPr id="20520" name="Line 35"/>
            <p:cNvSpPr/>
            <p:nvPr/>
          </p:nvSpPr>
          <p:spPr>
            <a:xfrm flipV="1">
              <a:off x="4414" y="2544"/>
              <a:ext cx="81" cy="84"/>
            </a:xfrm>
            <a:prstGeom prst="line">
              <a:avLst/>
            </a:prstGeom>
            <a:ln w="0" cap="flat" cmpd="sng">
              <a:solidFill>
                <a:srgbClr val="0000FF"/>
              </a:solidFill>
              <a:prstDash val="solid"/>
              <a:headEnd type="none" w="med" len="med"/>
              <a:tailEnd type="none" w="med" len="med"/>
            </a:ln>
          </p:spPr>
        </p:sp>
        <p:sp>
          <p:nvSpPr>
            <p:cNvPr id="20521" name="Line 36"/>
            <p:cNvSpPr/>
            <p:nvPr/>
          </p:nvSpPr>
          <p:spPr>
            <a:xfrm>
              <a:off x="4495" y="2544"/>
              <a:ext cx="92" cy="1"/>
            </a:xfrm>
            <a:prstGeom prst="line">
              <a:avLst/>
            </a:prstGeom>
            <a:ln w="0" cap="flat" cmpd="sng">
              <a:solidFill>
                <a:srgbClr val="0000FF"/>
              </a:solidFill>
              <a:prstDash val="solid"/>
              <a:headEnd type="none" w="med" len="med"/>
              <a:tailEnd type="none" w="med" len="med"/>
            </a:ln>
          </p:spPr>
        </p:sp>
        <p:sp>
          <p:nvSpPr>
            <p:cNvPr id="20522" name="Line 37"/>
            <p:cNvSpPr/>
            <p:nvPr/>
          </p:nvSpPr>
          <p:spPr>
            <a:xfrm>
              <a:off x="4158" y="2544"/>
              <a:ext cx="174" cy="1"/>
            </a:xfrm>
            <a:prstGeom prst="line">
              <a:avLst/>
            </a:prstGeom>
            <a:ln w="0" cap="flat" cmpd="sng">
              <a:solidFill>
                <a:srgbClr val="0000FF"/>
              </a:solidFill>
              <a:prstDash val="solid"/>
              <a:headEnd type="none" w="med" len="med"/>
              <a:tailEnd type="none" w="med" len="med"/>
            </a:ln>
          </p:spPr>
        </p:sp>
        <p:sp>
          <p:nvSpPr>
            <p:cNvPr id="20523" name="Line 38"/>
            <p:cNvSpPr/>
            <p:nvPr/>
          </p:nvSpPr>
          <p:spPr>
            <a:xfrm>
              <a:off x="4414" y="2628"/>
              <a:ext cx="1" cy="335"/>
            </a:xfrm>
            <a:prstGeom prst="line">
              <a:avLst/>
            </a:prstGeom>
            <a:ln w="0" cap="flat" cmpd="sng">
              <a:solidFill>
                <a:srgbClr val="0000FF"/>
              </a:solidFill>
              <a:prstDash val="solid"/>
              <a:headEnd type="none" w="med" len="med"/>
              <a:tailEnd type="none" w="med" len="med"/>
            </a:ln>
          </p:spPr>
        </p:sp>
        <p:sp>
          <p:nvSpPr>
            <p:cNvPr id="20524" name="Line 39"/>
            <p:cNvSpPr/>
            <p:nvPr/>
          </p:nvSpPr>
          <p:spPr>
            <a:xfrm flipH="1">
              <a:off x="4322" y="2963"/>
              <a:ext cx="92" cy="84"/>
            </a:xfrm>
            <a:prstGeom prst="line">
              <a:avLst/>
            </a:prstGeom>
            <a:ln w="0" cap="flat" cmpd="sng">
              <a:solidFill>
                <a:srgbClr val="0000FF"/>
              </a:solidFill>
              <a:prstDash val="solid"/>
              <a:headEnd type="none" w="med" len="med"/>
              <a:tailEnd type="none" w="med" len="med"/>
            </a:ln>
          </p:spPr>
        </p:sp>
        <p:sp>
          <p:nvSpPr>
            <p:cNvPr id="20525" name="Line 40"/>
            <p:cNvSpPr/>
            <p:nvPr/>
          </p:nvSpPr>
          <p:spPr>
            <a:xfrm>
              <a:off x="4322" y="3047"/>
              <a:ext cx="92" cy="94"/>
            </a:xfrm>
            <a:prstGeom prst="line">
              <a:avLst/>
            </a:prstGeom>
            <a:ln w="0" cap="flat" cmpd="sng">
              <a:solidFill>
                <a:srgbClr val="0000FF"/>
              </a:solidFill>
              <a:prstDash val="solid"/>
              <a:headEnd type="none" w="med" len="med"/>
              <a:tailEnd type="none" w="med" len="med"/>
            </a:ln>
          </p:spPr>
        </p:sp>
        <p:sp>
          <p:nvSpPr>
            <p:cNvPr id="20526" name="Line 41"/>
            <p:cNvSpPr/>
            <p:nvPr/>
          </p:nvSpPr>
          <p:spPr>
            <a:xfrm>
              <a:off x="4322" y="2963"/>
              <a:ext cx="1" cy="188"/>
            </a:xfrm>
            <a:prstGeom prst="line">
              <a:avLst/>
            </a:prstGeom>
            <a:ln w="0" cap="flat" cmpd="sng">
              <a:solidFill>
                <a:srgbClr val="0000FF"/>
              </a:solidFill>
              <a:prstDash val="solid"/>
              <a:headEnd type="none" w="med" len="med"/>
              <a:tailEnd type="none" w="med" len="med"/>
            </a:ln>
          </p:spPr>
        </p:sp>
        <p:sp>
          <p:nvSpPr>
            <p:cNvPr id="20527" name="Line 42"/>
            <p:cNvSpPr/>
            <p:nvPr/>
          </p:nvSpPr>
          <p:spPr>
            <a:xfrm>
              <a:off x="4169" y="3047"/>
              <a:ext cx="153" cy="1"/>
            </a:xfrm>
            <a:prstGeom prst="line">
              <a:avLst/>
            </a:prstGeom>
            <a:ln w="0" cap="flat" cmpd="sng">
              <a:solidFill>
                <a:srgbClr val="0000FF"/>
              </a:solidFill>
              <a:prstDash val="solid"/>
              <a:headEnd type="none" w="med" len="med"/>
              <a:tailEnd type="none" w="med" len="med"/>
            </a:ln>
          </p:spPr>
        </p:sp>
        <p:sp>
          <p:nvSpPr>
            <p:cNvPr id="20528" name="Rectangle 43"/>
            <p:cNvSpPr/>
            <p:nvPr/>
          </p:nvSpPr>
          <p:spPr>
            <a:xfrm>
              <a:off x="4046" y="3026"/>
              <a:ext cx="123" cy="5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29" name="Line 44"/>
            <p:cNvSpPr/>
            <p:nvPr/>
          </p:nvSpPr>
          <p:spPr>
            <a:xfrm flipH="1">
              <a:off x="3760" y="3047"/>
              <a:ext cx="286" cy="1"/>
            </a:xfrm>
            <a:prstGeom prst="line">
              <a:avLst/>
            </a:prstGeom>
            <a:ln w="0" cap="flat" cmpd="sng">
              <a:solidFill>
                <a:srgbClr val="0000FF"/>
              </a:solidFill>
              <a:prstDash val="solid"/>
              <a:headEnd type="none" w="med" len="med"/>
              <a:tailEnd type="none" w="med" len="med"/>
            </a:ln>
          </p:spPr>
        </p:sp>
        <p:sp>
          <p:nvSpPr>
            <p:cNvPr id="20530" name="Rectangle 45"/>
            <p:cNvSpPr/>
            <p:nvPr/>
          </p:nvSpPr>
          <p:spPr>
            <a:xfrm>
              <a:off x="4577" y="2795"/>
              <a:ext cx="122" cy="53"/>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31" name="Line 46"/>
            <p:cNvSpPr/>
            <p:nvPr/>
          </p:nvSpPr>
          <p:spPr>
            <a:xfrm>
              <a:off x="4342" y="3298"/>
              <a:ext cx="157" cy="1"/>
            </a:xfrm>
            <a:prstGeom prst="line">
              <a:avLst/>
            </a:prstGeom>
            <a:ln w="0" cap="flat" cmpd="sng">
              <a:solidFill>
                <a:srgbClr val="0000FF"/>
              </a:solidFill>
              <a:prstDash val="solid"/>
              <a:headEnd type="none" w="med" len="med"/>
              <a:tailEnd type="none" w="med" len="med"/>
            </a:ln>
          </p:spPr>
        </p:sp>
        <p:sp>
          <p:nvSpPr>
            <p:cNvPr id="20532" name="Line 47"/>
            <p:cNvSpPr/>
            <p:nvPr/>
          </p:nvSpPr>
          <p:spPr>
            <a:xfrm>
              <a:off x="5077" y="1245"/>
              <a:ext cx="1" cy="1299"/>
            </a:xfrm>
            <a:prstGeom prst="line">
              <a:avLst/>
            </a:prstGeom>
            <a:ln w="0" cap="flat" cmpd="sng">
              <a:solidFill>
                <a:srgbClr val="0000FF"/>
              </a:solidFill>
              <a:prstDash val="dash"/>
              <a:headEnd type="none" w="med" len="med"/>
              <a:tailEnd type="none" w="med" len="med"/>
            </a:ln>
          </p:spPr>
        </p:sp>
        <p:sp>
          <p:nvSpPr>
            <p:cNvPr id="20533" name="Rectangle 48"/>
            <p:cNvSpPr/>
            <p:nvPr/>
          </p:nvSpPr>
          <p:spPr>
            <a:xfrm>
              <a:off x="4832" y="1350"/>
              <a:ext cx="20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20534" name="Rectangle 49"/>
            <p:cNvSpPr/>
            <p:nvPr/>
          </p:nvSpPr>
          <p:spPr>
            <a:xfrm>
              <a:off x="4822" y="2670"/>
              <a:ext cx="20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grpSp>
          <p:nvGrpSpPr>
            <p:cNvPr id="20535" name="Group 50"/>
            <p:cNvGrpSpPr/>
            <p:nvPr/>
          </p:nvGrpSpPr>
          <p:grpSpPr>
            <a:xfrm>
              <a:off x="4383" y="1067"/>
              <a:ext cx="115" cy="127"/>
              <a:chOff x="4383" y="1067"/>
              <a:chExt cx="115" cy="127"/>
            </a:xfrm>
          </p:grpSpPr>
          <p:sp>
            <p:nvSpPr>
              <p:cNvPr id="20597" name="Rectangle 51"/>
              <p:cNvSpPr/>
              <p:nvPr/>
            </p:nvSpPr>
            <p:spPr>
              <a:xfrm>
                <a:off x="4383" y="1067"/>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0598" name="Rectangle 52"/>
              <p:cNvSpPr/>
              <p:nvPr/>
            </p:nvSpPr>
            <p:spPr>
              <a:xfrm>
                <a:off x="4454" y="109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sp>
          <p:nvSpPr>
            <p:cNvPr id="20536" name="Rectangle 53"/>
            <p:cNvSpPr/>
            <p:nvPr/>
          </p:nvSpPr>
          <p:spPr>
            <a:xfrm>
              <a:off x="4475" y="1643"/>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0537" name="Rectangle 54"/>
            <p:cNvSpPr/>
            <p:nvPr/>
          </p:nvSpPr>
          <p:spPr>
            <a:xfrm>
              <a:off x="4546" y="1675"/>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nvGrpSpPr>
            <p:cNvPr id="20538" name="Group 55"/>
            <p:cNvGrpSpPr/>
            <p:nvPr/>
          </p:nvGrpSpPr>
          <p:grpSpPr>
            <a:xfrm>
              <a:off x="4352" y="2387"/>
              <a:ext cx="116" cy="137"/>
              <a:chOff x="4352" y="2387"/>
              <a:chExt cx="116" cy="137"/>
            </a:xfrm>
          </p:grpSpPr>
          <p:sp>
            <p:nvSpPr>
              <p:cNvPr id="20595" name="Rectangle 56"/>
              <p:cNvSpPr/>
              <p:nvPr/>
            </p:nvSpPr>
            <p:spPr>
              <a:xfrm>
                <a:off x="4352" y="2387"/>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0596" name="Rectangle 57"/>
              <p:cNvSpPr/>
              <p:nvPr/>
            </p:nvSpPr>
            <p:spPr>
              <a:xfrm>
                <a:off x="4424" y="242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grpSp>
        <p:sp>
          <p:nvSpPr>
            <p:cNvPr id="20539" name="Rectangle 58"/>
            <p:cNvSpPr/>
            <p:nvPr/>
          </p:nvSpPr>
          <p:spPr>
            <a:xfrm>
              <a:off x="4454" y="2984"/>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0540" name="Line 59"/>
            <p:cNvSpPr/>
            <p:nvPr/>
          </p:nvSpPr>
          <p:spPr>
            <a:xfrm flipH="1">
              <a:off x="4531" y="2982"/>
              <a:ext cx="20" cy="21"/>
            </a:xfrm>
            <a:prstGeom prst="line">
              <a:avLst/>
            </a:prstGeom>
            <a:ln w="0" cap="flat" cmpd="sng">
              <a:solidFill>
                <a:srgbClr val="0000FF"/>
              </a:solidFill>
              <a:prstDash val="solid"/>
              <a:headEnd type="none" w="med" len="med"/>
              <a:tailEnd type="none" w="med" len="med"/>
            </a:ln>
          </p:spPr>
        </p:sp>
        <p:sp>
          <p:nvSpPr>
            <p:cNvPr id="20541" name="Rectangle 60"/>
            <p:cNvSpPr/>
            <p:nvPr/>
          </p:nvSpPr>
          <p:spPr>
            <a:xfrm>
              <a:off x="4536" y="3015"/>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20542" name="Rectangle 61"/>
            <p:cNvSpPr/>
            <p:nvPr/>
          </p:nvSpPr>
          <p:spPr>
            <a:xfrm>
              <a:off x="4066" y="1968"/>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0543" name="Rectangle 62"/>
            <p:cNvSpPr/>
            <p:nvPr/>
          </p:nvSpPr>
          <p:spPr>
            <a:xfrm>
              <a:off x="4066" y="2108"/>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0544" name="Rectangle 63"/>
            <p:cNvSpPr/>
            <p:nvPr/>
          </p:nvSpPr>
          <p:spPr>
            <a:xfrm>
              <a:off x="4066" y="2247"/>
              <a:ext cx="72"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grpSp>
          <p:nvGrpSpPr>
            <p:cNvPr id="20545" name="Group 64"/>
            <p:cNvGrpSpPr/>
            <p:nvPr/>
          </p:nvGrpSpPr>
          <p:grpSpPr>
            <a:xfrm>
              <a:off x="3117" y="1643"/>
              <a:ext cx="495" cy="132"/>
              <a:chOff x="3117" y="1643"/>
              <a:chExt cx="495" cy="132"/>
            </a:xfrm>
          </p:grpSpPr>
          <p:sp>
            <p:nvSpPr>
              <p:cNvPr id="20593" name="Rectangle 65"/>
              <p:cNvSpPr/>
              <p:nvPr/>
            </p:nvSpPr>
            <p:spPr>
              <a:xfrm>
                <a:off x="3117" y="1643"/>
                <a:ext cx="448"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通道选择</a:t>
                </a:r>
                <a:endParaRPr lang="zh-CN" altLang="en-US" dirty="0">
                  <a:solidFill>
                    <a:srgbClr val="FF0000"/>
                  </a:solidFill>
                  <a:latin typeface="Times New Roman" panose="02020603050405020304" pitchFamily="18" charset="0"/>
                </a:endParaRPr>
              </a:p>
            </p:txBody>
          </p:sp>
          <p:sp>
            <p:nvSpPr>
              <p:cNvPr id="20594" name="Rectangle 66"/>
              <p:cNvSpPr/>
              <p:nvPr/>
            </p:nvSpPr>
            <p:spPr>
              <a:xfrm>
                <a:off x="3556" y="1654"/>
                <a:ext cx="56" cy="121"/>
              </a:xfrm>
              <a:prstGeom prst="rect">
                <a:avLst/>
              </a:prstGeom>
              <a:noFill/>
              <a:ln w="9525">
                <a:noFill/>
              </a:ln>
            </p:spPr>
            <p:txBody>
              <a:bodyPr wrap="none" lIns="0" tIns="0" rIns="0" bIns="0">
                <a:spAutoFit/>
              </a:bodyPr>
              <a:p>
                <a:pPr eaLnBrk="1" hangingPunct="1">
                  <a:lnSpc>
                    <a:spcPct val="90000"/>
                  </a:lnSpc>
                </a:pPr>
                <a:r>
                  <a:rPr lang="en-US" altLang="zh-CN" sz="14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grpSp>
        <p:grpSp>
          <p:nvGrpSpPr>
            <p:cNvPr id="20546" name="Group 67"/>
            <p:cNvGrpSpPr/>
            <p:nvPr/>
          </p:nvGrpSpPr>
          <p:grpSpPr>
            <a:xfrm>
              <a:off x="3107" y="2994"/>
              <a:ext cx="495" cy="127"/>
              <a:chOff x="3107" y="2994"/>
              <a:chExt cx="495" cy="127"/>
            </a:xfrm>
          </p:grpSpPr>
          <p:sp>
            <p:nvSpPr>
              <p:cNvPr id="20591" name="Rectangle 68"/>
              <p:cNvSpPr/>
              <p:nvPr/>
            </p:nvSpPr>
            <p:spPr>
              <a:xfrm>
                <a:off x="3107" y="2994"/>
                <a:ext cx="448"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通道选择</a:t>
                </a:r>
                <a:endParaRPr lang="zh-CN" altLang="en-US" dirty="0">
                  <a:solidFill>
                    <a:srgbClr val="FF0000"/>
                  </a:solidFill>
                  <a:latin typeface="Times New Roman" panose="02020603050405020304" pitchFamily="18" charset="0"/>
                </a:endParaRPr>
              </a:p>
            </p:txBody>
          </p:sp>
          <p:sp>
            <p:nvSpPr>
              <p:cNvPr id="20592" name="Rectangle 69"/>
              <p:cNvSpPr/>
              <p:nvPr/>
            </p:nvSpPr>
            <p:spPr>
              <a:xfrm>
                <a:off x="3546" y="3000"/>
                <a:ext cx="56" cy="121"/>
              </a:xfrm>
              <a:prstGeom prst="rect">
                <a:avLst/>
              </a:prstGeom>
              <a:noFill/>
              <a:ln w="9525">
                <a:noFill/>
              </a:ln>
            </p:spPr>
            <p:txBody>
              <a:bodyPr wrap="none" lIns="0" tIns="0" rIns="0" bIns="0">
                <a:spAutoFit/>
              </a:bodyPr>
              <a:p>
                <a:pPr eaLnBrk="1" hangingPunct="1">
                  <a:lnSpc>
                    <a:spcPct val="90000"/>
                  </a:lnSpc>
                </a:pPr>
                <a:r>
                  <a:rPr lang="en-US" altLang="zh-CN" sz="14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grpSp>
        <p:sp>
          <p:nvSpPr>
            <p:cNvPr id="20547" name="Rectangle 70"/>
            <p:cNvSpPr/>
            <p:nvPr/>
          </p:nvSpPr>
          <p:spPr>
            <a:xfrm>
              <a:off x="3658" y="1020"/>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0548" name="Rectangle 71"/>
            <p:cNvSpPr/>
            <p:nvPr/>
          </p:nvSpPr>
          <p:spPr>
            <a:xfrm>
              <a:off x="3740" y="1057"/>
              <a:ext cx="6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i1</a:t>
              </a:r>
              <a:endParaRPr lang="en-US" altLang="zh-CN" dirty="0">
                <a:latin typeface="Times New Roman" panose="02020603050405020304" pitchFamily="18" charset="0"/>
              </a:endParaRPr>
            </a:p>
          </p:txBody>
        </p:sp>
        <p:sp>
          <p:nvSpPr>
            <p:cNvPr id="20549" name="Rectangle 72"/>
            <p:cNvSpPr/>
            <p:nvPr/>
          </p:nvSpPr>
          <p:spPr>
            <a:xfrm>
              <a:off x="3648" y="2879"/>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0550" name="Rectangle 73"/>
            <p:cNvSpPr/>
            <p:nvPr/>
          </p:nvSpPr>
          <p:spPr>
            <a:xfrm>
              <a:off x="3719" y="2921"/>
              <a:ext cx="103"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C8</a:t>
              </a:r>
              <a:endParaRPr lang="en-US" altLang="zh-CN" dirty="0">
                <a:latin typeface="Times New Roman" panose="02020603050405020304" pitchFamily="18" charset="0"/>
              </a:endParaRPr>
            </a:p>
          </p:txBody>
        </p:sp>
        <p:sp>
          <p:nvSpPr>
            <p:cNvPr id="20551" name="Rectangle 74"/>
            <p:cNvSpPr/>
            <p:nvPr/>
          </p:nvSpPr>
          <p:spPr>
            <a:xfrm>
              <a:off x="3658" y="1518"/>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0552" name="Rectangle 75"/>
            <p:cNvSpPr/>
            <p:nvPr/>
          </p:nvSpPr>
          <p:spPr>
            <a:xfrm>
              <a:off x="3740" y="1560"/>
              <a:ext cx="103"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C1</a:t>
              </a:r>
              <a:endParaRPr lang="en-US" altLang="zh-CN" dirty="0">
                <a:latin typeface="Times New Roman" panose="02020603050405020304" pitchFamily="18" charset="0"/>
              </a:endParaRPr>
            </a:p>
          </p:txBody>
        </p:sp>
        <p:sp>
          <p:nvSpPr>
            <p:cNvPr id="20553" name="Rectangle 76"/>
            <p:cNvSpPr/>
            <p:nvPr/>
          </p:nvSpPr>
          <p:spPr>
            <a:xfrm>
              <a:off x="3658" y="2387"/>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0554" name="Rectangle 77"/>
            <p:cNvSpPr/>
            <p:nvPr/>
          </p:nvSpPr>
          <p:spPr>
            <a:xfrm>
              <a:off x="3740" y="2418"/>
              <a:ext cx="6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i8</a:t>
              </a:r>
              <a:endParaRPr lang="en-US" altLang="zh-CN" dirty="0">
                <a:latin typeface="Times New Roman" panose="02020603050405020304" pitchFamily="18" charset="0"/>
              </a:endParaRPr>
            </a:p>
          </p:txBody>
        </p:sp>
        <p:sp>
          <p:nvSpPr>
            <p:cNvPr id="20555" name="Rectangle 78"/>
            <p:cNvSpPr/>
            <p:nvPr/>
          </p:nvSpPr>
          <p:spPr>
            <a:xfrm>
              <a:off x="4036" y="154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0556" name="Rectangle 79"/>
            <p:cNvSpPr/>
            <p:nvPr/>
          </p:nvSpPr>
          <p:spPr>
            <a:xfrm>
              <a:off x="4107" y="158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0557" name="Rectangle 80"/>
            <p:cNvSpPr/>
            <p:nvPr/>
          </p:nvSpPr>
          <p:spPr>
            <a:xfrm>
              <a:off x="4567" y="132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0558" name="Rectangle 81"/>
            <p:cNvSpPr/>
            <p:nvPr/>
          </p:nvSpPr>
          <p:spPr>
            <a:xfrm>
              <a:off x="4638" y="136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21</a:t>
              </a:r>
              <a:endParaRPr lang="en-US" altLang="zh-CN" dirty="0">
                <a:latin typeface="Times New Roman" panose="02020603050405020304" pitchFamily="18" charset="0"/>
              </a:endParaRPr>
            </a:p>
          </p:txBody>
        </p:sp>
        <p:sp>
          <p:nvSpPr>
            <p:cNvPr id="20559" name="Rectangle 82"/>
            <p:cNvSpPr/>
            <p:nvPr/>
          </p:nvSpPr>
          <p:spPr>
            <a:xfrm>
              <a:off x="4107" y="291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18</a:t>
              </a:r>
              <a:endParaRPr lang="en-US" altLang="zh-CN" dirty="0">
                <a:latin typeface="Times New Roman" panose="02020603050405020304" pitchFamily="18" charset="0"/>
              </a:endParaRPr>
            </a:p>
          </p:txBody>
        </p:sp>
        <p:sp>
          <p:nvSpPr>
            <p:cNvPr id="20560" name="Rectangle 83"/>
            <p:cNvSpPr/>
            <p:nvPr/>
          </p:nvSpPr>
          <p:spPr>
            <a:xfrm>
              <a:off x="4036" y="2879"/>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0561" name="Rectangle 84"/>
            <p:cNvSpPr/>
            <p:nvPr/>
          </p:nvSpPr>
          <p:spPr>
            <a:xfrm>
              <a:off x="4628" y="2701"/>
              <a:ext cx="88"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28</a:t>
              </a:r>
              <a:endParaRPr lang="en-US" altLang="zh-CN" dirty="0">
                <a:latin typeface="Times New Roman" panose="02020603050405020304" pitchFamily="18" charset="0"/>
              </a:endParaRPr>
            </a:p>
          </p:txBody>
        </p:sp>
        <p:sp>
          <p:nvSpPr>
            <p:cNvPr id="20562" name="Rectangle 85"/>
            <p:cNvSpPr/>
            <p:nvPr/>
          </p:nvSpPr>
          <p:spPr>
            <a:xfrm>
              <a:off x="4557" y="2666"/>
              <a:ext cx="68"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0563" name="Rectangle 86"/>
            <p:cNvSpPr/>
            <p:nvPr/>
          </p:nvSpPr>
          <p:spPr>
            <a:xfrm>
              <a:off x="5404" y="1120"/>
              <a:ext cx="81" cy="121"/>
            </a:xfrm>
            <a:prstGeom prst="rect">
              <a:avLst/>
            </a:prstGeom>
            <a:noFill/>
            <a:ln w="9525">
              <a:noFill/>
            </a:ln>
          </p:spPr>
          <p:txBody>
            <a:bodyPr wrap="none" lIns="0" tIns="0" rIns="0" bIns="0">
              <a:spAutoFit/>
            </a:bodyPr>
            <a:p>
              <a:pPr eaLnBrk="1" hangingPunct="1">
                <a:lnSpc>
                  <a:spcPct val="90000"/>
                </a:lnSpc>
              </a:pPr>
              <a:r>
                <a:rPr lang="en-US" altLang="zh-CN" sz="14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0564" name="Rectangle 87"/>
            <p:cNvSpPr/>
            <p:nvPr/>
          </p:nvSpPr>
          <p:spPr>
            <a:xfrm>
              <a:off x="5486" y="1162"/>
              <a:ext cx="36"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20565" name="Line 88"/>
            <p:cNvSpPr/>
            <p:nvPr/>
          </p:nvSpPr>
          <p:spPr>
            <a:xfrm>
              <a:off x="4332" y="2544"/>
              <a:ext cx="41" cy="52"/>
            </a:xfrm>
            <a:prstGeom prst="line">
              <a:avLst/>
            </a:prstGeom>
            <a:ln w="0" cap="flat" cmpd="sng">
              <a:solidFill>
                <a:srgbClr val="0000FF"/>
              </a:solidFill>
              <a:prstDash val="solid"/>
              <a:headEnd type="none" w="med" len="med"/>
              <a:tailEnd type="none" w="med" len="med"/>
            </a:ln>
          </p:spPr>
        </p:sp>
        <p:sp>
          <p:nvSpPr>
            <p:cNvPr id="20566" name="Line 89"/>
            <p:cNvSpPr/>
            <p:nvPr/>
          </p:nvSpPr>
          <p:spPr>
            <a:xfrm>
              <a:off x="4332" y="2544"/>
              <a:ext cx="51" cy="42"/>
            </a:xfrm>
            <a:prstGeom prst="line">
              <a:avLst/>
            </a:prstGeom>
            <a:ln w="0" cap="flat" cmpd="sng">
              <a:solidFill>
                <a:srgbClr val="0000FF"/>
              </a:solidFill>
              <a:prstDash val="solid"/>
              <a:headEnd type="none" w="med" len="med"/>
              <a:tailEnd type="none" w="med" len="med"/>
            </a:ln>
          </p:spPr>
        </p:sp>
        <p:sp>
          <p:nvSpPr>
            <p:cNvPr id="20567" name="Line 90"/>
            <p:cNvSpPr/>
            <p:nvPr/>
          </p:nvSpPr>
          <p:spPr>
            <a:xfrm flipH="1" flipV="1">
              <a:off x="4383" y="1769"/>
              <a:ext cx="41" cy="32"/>
            </a:xfrm>
            <a:prstGeom prst="line">
              <a:avLst/>
            </a:prstGeom>
            <a:ln w="0" cap="flat" cmpd="sng">
              <a:solidFill>
                <a:srgbClr val="0000FF"/>
              </a:solidFill>
              <a:prstDash val="solid"/>
              <a:headEnd type="none" w="med" len="med"/>
              <a:tailEnd type="none" w="med" len="med"/>
            </a:ln>
          </p:spPr>
        </p:sp>
        <p:sp>
          <p:nvSpPr>
            <p:cNvPr id="20568" name="Line 91"/>
            <p:cNvSpPr/>
            <p:nvPr/>
          </p:nvSpPr>
          <p:spPr>
            <a:xfrm>
              <a:off x="4342" y="1204"/>
              <a:ext cx="41" cy="62"/>
            </a:xfrm>
            <a:prstGeom prst="line">
              <a:avLst/>
            </a:prstGeom>
            <a:ln w="0" cap="flat" cmpd="sng">
              <a:solidFill>
                <a:srgbClr val="0000FF"/>
              </a:solidFill>
              <a:prstDash val="solid"/>
              <a:headEnd type="none" w="med" len="med"/>
              <a:tailEnd type="none" w="med" len="med"/>
            </a:ln>
          </p:spPr>
        </p:sp>
        <p:sp>
          <p:nvSpPr>
            <p:cNvPr id="20569" name="Line 92"/>
            <p:cNvSpPr/>
            <p:nvPr/>
          </p:nvSpPr>
          <p:spPr>
            <a:xfrm>
              <a:off x="4342" y="1204"/>
              <a:ext cx="51" cy="41"/>
            </a:xfrm>
            <a:prstGeom prst="line">
              <a:avLst/>
            </a:prstGeom>
            <a:ln w="0" cap="flat" cmpd="sng">
              <a:solidFill>
                <a:srgbClr val="0000FF"/>
              </a:solidFill>
              <a:prstDash val="solid"/>
              <a:headEnd type="none" w="med" len="med"/>
              <a:tailEnd type="none" w="med" len="med"/>
            </a:ln>
          </p:spPr>
        </p:sp>
        <p:sp>
          <p:nvSpPr>
            <p:cNvPr id="20570" name="Line 93"/>
            <p:cNvSpPr/>
            <p:nvPr/>
          </p:nvSpPr>
          <p:spPr>
            <a:xfrm flipH="1" flipV="1">
              <a:off x="4363" y="3099"/>
              <a:ext cx="40" cy="31"/>
            </a:xfrm>
            <a:prstGeom prst="line">
              <a:avLst/>
            </a:prstGeom>
            <a:ln w="0" cap="flat" cmpd="sng">
              <a:solidFill>
                <a:srgbClr val="0000FF"/>
              </a:solidFill>
              <a:prstDash val="solid"/>
              <a:headEnd type="none" w="med" len="med"/>
              <a:tailEnd type="none" w="med" len="med"/>
            </a:ln>
          </p:spPr>
        </p:sp>
        <p:sp>
          <p:nvSpPr>
            <p:cNvPr id="20571" name="Line 94"/>
            <p:cNvSpPr/>
            <p:nvPr/>
          </p:nvSpPr>
          <p:spPr>
            <a:xfrm flipH="1" flipV="1">
              <a:off x="4373" y="3089"/>
              <a:ext cx="41" cy="52"/>
            </a:xfrm>
            <a:prstGeom prst="line">
              <a:avLst/>
            </a:prstGeom>
            <a:ln w="0" cap="flat" cmpd="sng">
              <a:solidFill>
                <a:srgbClr val="0000FF"/>
              </a:solidFill>
              <a:prstDash val="solid"/>
              <a:headEnd type="none" w="med" len="med"/>
              <a:tailEnd type="none" w="med" len="med"/>
            </a:ln>
          </p:spPr>
        </p:sp>
        <p:sp>
          <p:nvSpPr>
            <p:cNvPr id="20572" name="Oval 95"/>
            <p:cNvSpPr/>
            <p:nvPr/>
          </p:nvSpPr>
          <p:spPr>
            <a:xfrm>
              <a:off x="5307" y="1183"/>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3" name="Oval 96"/>
            <p:cNvSpPr/>
            <p:nvPr/>
          </p:nvSpPr>
          <p:spPr>
            <a:xfrm>
              <a:off x="5057" y="879"/>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4" name="Oval 97"/>
            <p:cNvSpPr/>
            <p:nvPr/>
          </p:nvSpPr>
          <p:spPr>
            <a:xfrm>
              <a:off x="3713" y="1183"/>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5" name="Oval 98"/>
            <p:cNvSpPr/>
            <p:nvPr/>
          </p:nvSpPr>
          <p:spPr>
            <a:xfrm>
              <a:off x="3714" y="1685"/>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6" name="Oval 99"/>
            <p:cNvSpPr/>
            <p:nvPr/>
          </p:nvSpPr>
          <p:spPr>
            <a:xfrm>
              <a:off x="4825" y="1455"/>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7" name="Oval 100"/>
            <p:cNvSpPr/>
            <p:nvPr/>
          </p:nvSpPr>
          <p:spPr>
            <a:xfrm>
              <a:off x="3713" y="2521"/>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8" name="Oval 101"/>
            <p:cNvSpPr/>
            <p:nvPr/>
          </p:nvSpPr>
          <p:spPr>
            <a:xfrm>
              <a:off x="3714" y="3026"/>
              <a:ext cx="51"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79" name="Oval 102"/>
            <p:cNvSpPr/>
            <p:nvPr/>
          </p:nvSpPr>
          <p:spPr>
            <a:xfrm>
              <a:off x="4812" y="2795"/>
              <a:ext cx="51" cy="5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80" name="Line 103"/>
            <p:cNvSpPr/>
            <p:nvPr/>
          </p:nvSpPr>
          <p:spPr>
            <a:xfrm>
              <a:off x="4414" y="2816"/>
              <a:ext cx="163" cy="1"/>
            </a:xfrm>
            <a:prstGeom prst="line">
              <a:avLst/>
            </a:prstGeom>
            <a:ln w="0" cap="flat" cmpd="sng">
              <a:solidFill>
                <a:srgbClr val="0000FF"/>
              </a:solidFill>
              <a:prstDash val="solid"/>
              <a:headEnd type="none" w="med" len="med"/>
              <a:tailEnd type="none" w="med" len="med"/>
            </a:ln>
          </p:spPr>
        </p:sp>
        <p:sp>
          <p:nvSpPr>
            <p:cNvPr id="20581" name="Line 104"/>
            <p:cNvSpPr/>
            <p:nvPr/>
          </p:nvSpPr>
          <p:spPr>
            <a:xfrm>
              <a:off x="4698" y="2816"/>
              <a:ext cx="114" cy="1"/>
            </a:xfrm>
            <a:prstGeom prst="line">
              <a:avLst/>
            </a:prstGeom>
            <a:ln w="0" cap="flat" cmpd="sng">
              <a:solidFill>
                <a:srgbClr val="0000FF"/>
              </a:solidFill>
              <a:prstDash val="solid"/>
              <a:headEnd type="none" w="med" len="med"/>
              <a:tailEnd type="none" w="med" len="med"/>
            </a:ln>
          </p:spPr>
        </p:sp>
        <p:sp>
          <p:nvSpPr>
            <p:cNvPr id="20582" name="Oval 105"/>
            <p:cNvSpPr/>
            <p:nvPr/>
          </p:nvSpPr>
          <p:spPr>
            <a:xfrm>
              <a:off x="4397" y="1451"/>
              <a:ext cx="51" cy="5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83" name="Oval 106"/>
            <p:cNvSpPr/>
            <p:nvPr/>
          </p:nvSpPr>
          <p:spPr>
            <a:xfrm>
              <a:off x="4393" y="2797"/>
              <a:ext cx="51" cy="5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84" name="Rectangle 107"/>
            <p:cNvSpPr/>
            <p:nvPr/>
          </p:nvSpPr>
          <p:spPr>
            <a:xfrm>
              <a:off x="3097" y="1151"/>
              <a:ext cx="504"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模拟信号</a:t>
              </a:r>
              <a:r>
                <a:rPr lang="en-US" altLang="zh-CN" sz="14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sp>
          <p:nvSpPr>
            <p:cNvPr id="20585" name="Rectangle 108"/>
            <p:cNvSpPr/>
            <p:nvPr/>
          </p:nvSpPr>
          <p:spPr>
            <a:xfrm>
              <a:off x="3107" y="2471"/>
              <a:ext cx="504" cy="121"/>
            </a:xfrm>
            <a:prstGeom prst="rect">
              <a:avLst/>
            </a:prstGeom>
            <a:noFill/>
            <a:ln w="9525">
              <a:noFill/>
            </a:ln>
          </p:spPr>
          <p:txBody>
            <a:bodyPr wrap="none" lIns="0" tIns="0" rIns="0" bIns="0">
              <a:spAutoFit/>
            </a:bodyPr>
            <a:p>
              <a:pPr eaLnBrk="1" hangingPunct="1">
                <a:lnSpc>
                  <a:spcPct val="90000"/>
                </a:lnSpc>
              </a:pPr>
              <a:r>
                <a:rPr lang="zh-CN" altLang="en-US" sz="1400" dirty="0">
                  <a:solidFill>
                    <a:srgbClr val="FF0000"/>
                  </a:solidFill>
                  <a:latin typeface="宋体" panose="02010600030101010101" pitchFamily="2" charset="-122"/>
                  <a:ea typeface="宋体" panose="02010600030101010101" pitchFamily="2" charset="-122"/>
                </a:rPr>
                <a:t>模拟信号</a:t>
              </a:r>
              <a:r>
                <a:rPr lang="en-US" altLang="zh-CN" sz="14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sp>
          <p:nvSpPr>
            <p:cNvPr id="20586" name="Line 109"/>
            <p:cNvSpPr/>
            <p:nvPr/>
          </p:nvSpPr>
          <p:spPr>
            <a:xfrm flipH="1">
              <a:off x="4541" y="1631"/>
              <a:ext cx="21" cy="21"/>
            </a:xfrm>
            <a:prstGeom prst="line">
              <a:avLst/>
            </a:prstGeom>
            <a:ln w="0" cap="flat" cmpd="sng">
              <a:solidFill>
                <a:srgbClr val="0000FF"/>
              </a:solidFill>
              <a:prstDash val="solid"/>
              <a:headEnd type="none" w="med" len="med"/>
              <a:tailEnd type="none" w="med" len="med"/>
            </a:ln>
          </p:spPr>
        </p:sp>
        <p:sp>
          <p:nvSpPr>
            <p:cNvPr id="20587" name="Line 110"/>
            <p:cNvSpPr/>
            <p:nvPr/>
          </p:nvSpPr>
          <p:spPr>
            <a:xfrm flipV="1">
              <a:off x="4415" y="3141"/>
              <a:ext cx="1" cy="157"/>
            </a:xfrm>
            <a:prstGeom prst="line">
              <a:avLst/>
            </a:prstGeom>
            <a:ln w="0" cap="flat" cmpd="sng">
              <a:solidFill>
                <a:srgbClr val="0000FF"/>
              </a:solidFill>
              <a:prstDash val="solid"/>
              <a:headEnd type="none" w="med" len="med"/>
              <a:tailEnd type="none" w="med" len="med"/>
            </a:ln>
          </p:spPr>
        </p:sp>
        <p:sp>
          <p:nvSpPr>
            <p:cNvPr id="20588" name="Rectangle 111"/>
            <p:cNvSpPr/>
            <p:nvPr/>
          </p:nvSpPr>
          <p:spPr>
            <a:xfrm>
              <a:off x="3599" y="3538"/>
              <a:ext cx="1450"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80"/>
                  </a:solidFill>
                  <a:latin typeface="楷体_GB2312" pitchFamily="49" charset="-122"/>
                </a:rPr>
                <a:t>双极型晶体管开关电路</a:t>
              </a:r>
              <a:endParaRPr lang="zh-CN" altLang="en-US" dirty="0">
                <a:latin typeface="Times New Roman" panose="02020603050405020304" pitchFamily="18" charset="0"/>
              </a:endParaRPr>
            </a:p>
          </p:txBody>
        </p:sp>
        <p:sp>
          <p:nvSpPr>
            <p:cNvPr id="20589" name="Oval 112"/>
            <p:cNvSpPr/>
            <p:nvPr/>
          </p:nvSpPr>
          <p:spPr>
            <a:xfrm>
              <a:off x="5050" y="1176"/>
              <a:ext cx="51" cy="5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0590" name="Rectangle 113"/>
            <p:cNvSpPr/>
            <p:nvPr/>
          </p:nvSpPr>
          <p:spPr>
            <a:xfrm>
              <a:off x="4984" y="771"/>
              <a:ext cx="192"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VDD</a:t>
              </a:r>
              <a:endParaRPr lang="en-US" altLang="zh-CN" dirty="0">
                <a:latin typeface="Times New Roman" panose="02020603050405020304" pitchFamily="18" charset="0"/>
              </a:endParaRPr>
            </a:p>
          </p:txBody>
        </p:sp>
      </p:grpSp>
      <p:sp>
        <p:nvSpPr>
          <p:cNvPr id="2396278" name="Text Box 118"/>
          <p:cNvSpPr txBox="1"/>
          <p:nvPr/>
        </p:nvSpPr>
        <p:spPr>
          <a:xfrm>
            <a:off x="274638" y="2133600"/>
            <a:ext cx="1250950"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注意： </a:t>
            </a:r>
            <a:endParaRPr lang="zh-CN" altLang="en-US" sz="2400" dirty="0">
              <a:solidFill>
                <a:srgbClr val="FF0000"/>
              </a:solidFill>
              <a:latin typeface="楷体_GB2312" pitchFamily="49" charset="-122"/>
            </a:endParaRPr>
          </a:p>
        </p:txBody>
      </p:sp>
      <p:sp>
        <p:nvSpPr>
          <p:cNvPr id="2396279" name="Text Box 119"/>
          <p:cNvSpPr txBox="1"/>
          <p:nvPr/>
        </p:nvSpPr>
        <p:spPr>
          <a:xfrm>
            <a:off x="1235075" y="2152650"/>
            <a:ext cx="3222625" cy="1187450"/>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在控制信号</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zh-CN" altLang="en-US" sz="2400" dirty="0">
                <a:solidFill>
                  <a:srgbClr val="CC00CC"/>
                </a:solidFill>
                <a:latin typeface="Times New Roman" panose="02020603050405020304" pitchFamily="18" charset="0"/>
                <a:ea typeface="宋体" panose="02010600030101010101" pitchFamily="2" charset="-122"/>
              </a:rPr>
              <a:t>～ </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8</a:t>
            </a:r>
            <a:r>
              <a:rPr lang="zh-CN" altLang="en-US" sz="2400" dirty="0">
                <a:solidFill>
                  <a:srgbClr val="3333FF"/>
                </a:solidFill>
                <a:latin typeface="Times New Roman" panose="02020603050405020304" pitchFamily="18" charset="0"/>
              </a:rPr>
              <a:t>中不能同时有两个或两个以上为</a:t>
            </a:r>
            <a:r>
              <a:rPr lang="en-US" altLang="zh-CN" sz="2400" dirty="0">
                <a:solidFill>
                  <a:srgbClr val="CC00CC"/>
                </a:solidFill>
                <a:latin typeface="Times New Roman" panose="02020603050405020304" pitchFamily="18" charset="0"/>
                <a:ea typeface="宋体" panose="02010600030101010101" pitchFamily="2" charset="-122"/>
              </a:rPr>
              <a:t>0</a:t>
            </a:r>
            <a:r>
              <a:rPr lang="zh-CN" altLang="en-US" sz="2400" dirty="0">
                <a:solidFill>
                  <a:srgbClr val="3333FF"/>
                </a:solidFill>
                <a:latin typeface="Times New Roman" panose="02020603050405020304" pitchFamily="18" charset="0"/>
                <a:ea typeface="宋体" panose="02010600030101010101" pitchFamily="2" charset="-122"/>
              </a:rPr>
              <a:t>。 </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2396280" name="Text Box 120"/>
          <p:cNvSpPr txBox="1"/>
          <p:nvPr/>
        </p:nvSpPr>
        <p:spPr>
          <a:xfrm>
            <a:off x="285750" y="3419475"/>
            <a:ext cx="1028700"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优点：</a:t>
            </a:r>
            <a:endParaRPr lang="zh-CN" altLang="en-US" sz="2400" dirty="0">
              <a:solidFill>
                <a:srgbClr val="FF0000"/>
              </a:solidFill>
              <a:latin typeface="楷体_GB2312" pitchFamily="49" charset="-122"/>
            </a:endParaRPr>
          </a:p>
        </p:txBody>
      </p:sp>
      <p:sp>
        <p:nvSpPr>
          <p:cNvPr id="2396281" name="Text Box 121"/>
          <p:cNvSpPr txBox="1"/>
          <p:nvPr/>
        </p:nvSpPr>
        <p:spPr>
          <a:xfrm>
            <a:off x="1217613" y="3400425"/>
            <a:ext cx="2946400" cy="457200"/>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开关速度快。</a:t>
            </a:r>
            <a:endParaRPr lang="zh-CN" altLang="en-US" sz="2400" dirty="0">
              <a:solidFill>
                <a:srgbClr val="3333FF"/>
              </a:solidFill>
              <a:latin typeface="Times New Roman" panose="02020603050405020304" pitchFamily="18" charset="0"/>
            </a:endParaRPr>
          </a:p>
        </p:txBody>
      </p:sp>
      <p:sp>
        <p:nvSpPr>
          <p:cNvPr id="2396282" name="Text Box 122"/>
          <p:cNvSpPr txBox="1"/>
          <p:nvPr/>
        </p:nvSpPr>
        <p:spPr>
          <a:xfrm>
            <a:off x="288925" y="4002088"/>
            <a:ext cx="1103313"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缺点：</a:t>
            </a:r>
            <a:endParaRPr lang="zh-CN" altLang="en-US" sz="2400" dirty="0">
              <a:solidFill>
                <a:srgbClr val="FF0000"/>
              </a:solidFill>
              <a:latin typeface="楷体_GB2312" pitchFamily="49" charset="-122"/>
            </a:endParaRPr>
          </a:p>
        </p:txBody>
      </p:sp>
      <p:sp>
        <p:nvSpPr>
          <p:cNvPr id="2396283" name="Text Box 123"/>
          <p:cNvSpPr txBox="1"/>
          <p:nvPr/>
        </p:nvSpPr>
        <p:spPr>
          <a:xfrm>
            <a:off x="1211263" y="4810125"/>
            <a:ext cx="3124200" cy="1406525"/>
          </a:xfrm>
          <a:prstGeom prst="rect">
            <a:avLst/>
          </a:prstGeom>
          <a:noFill/>
          <a:ln w="9525">
            <a:noFill/>
          </a:ln>
        </p:spPr>
        <p:txBody>
          <a:bodyPr>
            <a:spAutoFit/>
          </a:bodyPr>
          <a:p>
            <a:pPr eaLnBrk="1" hangingPunct="1">
              <a:lnSpc>
                <a:spcPct val="90000"/>
              </a:lnSpc>
              <a:buClr>
                <a:srgbClr val="FF0000"/>
              </a:buClr>
              <a:buSzPct val="80000"/>
              <a:buFont typeface="Wingdings" panose="05000000000000000000" pitchFamily="2" charset="2"/>
              <a:buChar char="Ø"/>
            </a:pPr>
            <a:r>
              <a:rPr lang="en-US" altLang="zh-CN" sz="2400" dirty="0">
                <a:solidFill>
                  <a:srgbClr val="3333FF"/>
                </a:solidFill>
                <a:latin typeface="楷体_GB2312" pitchFamily="49" charset="-122"/>
              </a:rPr>
              <a:t> </a:t>
            </a:r>
            <a:r>
              <a:rPr lang="zh-CN" altLang="en-US" sz="2400" dirty="0">
                <a:solidFill>
                  <a:srgbClr val="3333FF"/>
                </a:solidFill>
                <a:latin typeface="楷体_GB2312" pitchFamily="49" charset="-122"/>
              </a:rPr>
              <a:t>电流控制器件，基极控制电流流入信号源，影响转换精度，功耗大、单方向传送。</a:t>
            </a:r>
            <a:endParaRPr lang="zh-CN" altLang="en-US" sz="2400" dirty="0">
              <a:solidFill>
                <a:srgbClr val="3333FF"/>
              </a:solidFill>
              <a:latin typeface="楷体_GB2312" pitchFamily="49" charset="-122"/>
            </a:endParaRPr>
          </a:p>
        </p:txBody>
      </p:sp>
      <p:sp>
        <p:nvSpPr>
          <p:cNvPr id="2396284" name="Text Box 124"/>
          <p:cNvSpPr txBox="1"/>
          <p:nvPr/>
        </p:nvSpPr>
        <p:spPr>
          <a:xfrm>
            <a:off x="1219200" y="4021138"/>
            <a:ext cx="3103563" cy="749300"/>
          </a:xfrm>
          <a:prstGeom prst="rect">
            <a:avLst/>
          </a:prstGeom>
          <a:noFill/>
          <a:ln w="9525">
            <a:noFill/>
          </a:ln>
        </p:spPr>
        <p:txBody>
          <a:bodyPr>
            <a:spAutoFit/>
          </a:bodyPr>
          <a:p>
            <a:pPr eaLnBrk="1" hangingPunct="1">
              <a:lnSpc>
                <a:spcPct val="90000"/>
              </a:lnSpc>
              <a:buClr>
                <a:srgbClr val="FF0000"/>
              </a:buClr>
              <a:buSzPct val="80000"/>
              <a:buFont typeface="Wingdings" panose="05000000000000000000" pitchFamily="2" charset="2"/>
              <a:buChar char="Ø"/>
            </a:pPr>
            <a:r>
              <a:rPr lang="en-US" altLang="zh-CN" sz="2400" dirty="0">
                <a:solidFill>
                  <a:srgbClr val="3333FF"/>
                </a:solidFill>
                <a:latin typeface="楷体_GB2312" pitchFamily="49" charset="-122"/>
              </a:rPr>
              <a:t> </a:t>
            </a:r>
            <a:r>
              <a:rPr lang="zh-CN" altLang="en-US" sz="2400" dirty="0">
                <a:solidFill>
                  <a:srgbClr val="3333FF"/>
                </a:solidFill>
                <a:latin typeface="楷体_GB2312" pitchFamily="49" charset="-122"/>
              </a:rPr>
              <a:t>漏电流大，开路电阻小，导通电阻大。</a:t>
            </a:r>
            <a:endParaRPr lang="zh-CN" altLang="en-US" sz="2400" dirty="0">
              <a:solidFill>
                <a:srgbClr val="3333FF"/>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6278"/>
                                        </p:tgtEl>
                                        <p:attrNameLst>
                                          <p:attrName>style.visibility</p:attrName>
                                        </p:attrNameLst>
                                      </p:cBhvr>
                                      <p:to>
                                        <p:strVal val="visible"/>
                                      </p:to>
                                    </p:set>
                                    <p:animEffect transition="in" filter="dissolve">
                                      <p:cBhvr>
                                        <p:cTn id="7" dur="500"/>
                                        <p:tgtEl>
                                          <p:spTgt spid="2396278"/>
                                        </p:tgtEl>
                                      </p:cBhvr>
                                    </p:animEffect>
                                  </p:childTnLst>
                                </p:cTn>
                              </p:par>
                              <p:par>
                                <p:cTn id="8" presetID="9" presetClass="entr" presetSubtype="0" fill="hold" nodeType="withEffect">
                                  <p:stCondLst>
                                    <p:cond delay="0"/>
                                  </p:stCondLst>
                                  <p:childTnLst>
                                    <p:set>
                                      <p:cBhvr>
                                        <p:cTn id="9" dur="1" fill="hold">
                                          <p:stCondLst>
                                            <p:cond delay="0"/>
                                          </p:stCondLst>
                                        </p:cTn>
                                        <p:tgtEl>
                                          <p:spTgt spid="2396279"/>
                                        </p:tgtEl>
                                        <p:attrNameLst>
                                          <p:attrName>style.visibility</p:attrName>
                                        </p:attrNameLst>
                                      </p:cBhvr>
                                      <p:to>
                                        <p:strVal val="visible"/>
                                      </p:to>
                                    </p:set>
                                    <p:animEffect transition="in" filter="dissolve">
                                      <p:cBhvr>
                                        <p:cTn id="10" dur="500"/>
                                        <p:tgtEl>
                                          <p:spTgt spid="239627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396280"/>
                                        </p:tgtEl>
                                        <p:attrNameLst>
                                          <p:attrName>style.visibility</p:attrName>
                                        </p:attrNameLst>
                                      </p:cBhvr>
                                      <p:to>
                                        <p:strVal val="visible"/>
                                      </p:to>
                                    </p:set>
                                    <p:animEffect transition="in" filter="dissolve">
                                      <p:cBhvr>
                                        <p:cTn id="15" dur="500"/>
                                        <p:tgtEl>
                                          <p:spTgt spid="2396280"/>
                                        </p:tgtEl>
                                      </p:cBhvr>
                                    </p:animEffect>
                                  </p:childTnLst>
                                </p:cTn>
                              </p:par>
                              <p:par>
                                <p:cTn id="16" presetID="9" presetClass="entr" presetSubtype="0" fill="hold" nodeType="withEffect">
                                  <p:stCondLst>
                                    <p:cond delay="0"/>
                                  </p:stCondLst>
                                  <p:childTnLst>
                                    <p:set>
                                      <p:cBhvr>
                                        <p:cTn id="17" dur="1" fill="hold">
                                          <p:stCondLst>
                                            <p:cond delay="0"/>
                                          </p:stCondLst>
                                        </p:cTn>
                                        <p:tgtEl>
                                          <p:spTgt spid="2396281"/>
                                        </p:tgtEl>
                                        <p:attrNameLst>
                                          <p:attrName>style.visibility</p:attrName>
                                        </p:attrNameLst>
                                      </p:cBhvr>
                                      <p:to>
                                        <p:strVal val="visible"/>
                                      </p:to>
                                    </p:set>
                                    <p:animEffect transition="in" filter="dissolve">
                                      <p:cBhvr>
                                        <p:cTn id="18" dur="500"/>
                                        <p:tgtEl>
                                          <p:spTgt spid="239628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396282"/>
                                        </p:tgtEl>
                                        <p:attrNameLst>
                                          <p:attrName>style.visibility</p:attrName>
                                        </p:attrNameLst>
                                      </p:cBhvr>
                                      <p:to>
                                        <p:strVal val="visible"/>
                                      </p:to>
                                    </p:set>
                                    <p:animEffect transition="in" filter="dissolve">
                                      <p:cBhvr>
                                        <p:cTn id="23" dur="500"/>
                                        <p:tgtEl>
                                          <p:spTgt spid="2396282"/>
                                        </p:tgtEl>
                                      </p:cBhvr>
                                    </p:animEffect>
                                  </p:childTnLst>
                                </p:cTn>
                              </p:par>
                              <p:par>
                                <p:cTn id="24" presetID="9" presetClass="entr" presetSubtype="0" fill="hold" nodeType="withEffect">
                                  <p:stCondLst>
                                    <p:cond delay="0"/>
                                  </p:stCondLst>
                                  <p:childTnLst>
                                    <p:set>
                                      <p:cBhvr>
                                        <p:cTn id="25" dur="1" fill="hold">
                                          <p:stCondLst>
                                            <p:cond delay="0"/>
                                          </p:stCondLst>
                                        </p:cTn>
                                        <p:tgtEl>
                                          <p:spTgt spid="2396284"/>
                                        </p:tgtEl>
                                        <p:attrNameLst>
                                          <p:attrName>style.visibility</p:attrName>
                                        </p:attrNameLst>
                                      </p:cBhvr>
                                      <p:to>
                                        <p:strVal val="visible"/>
                                      </p:to>
                                    </p:set>
                                    <p:animEffect transition="in" filter="dissolve">
                                      <p:cBhvr>
                                        <p:cTn id="26" dur="500"/>
                                        <p:tgtEl>
                                          <p:spTgt spid="2396284"/>
                                        </p:tgtEl>
                                      </p:cBhvr>
                                    </p:animEffect>
                                  </p:childTnLst>
                                </p:cTn>
                              </p:par>
                              <p:par>
                                <p:cTn id="27" presetID="9" presetClass="entr" presetSubtype="0" fill="hold" nodeType="withEffect">
                                  <p:stCondLst>
                                    <p:cond delay="0"/>
                                  </p:stCondLst>
                                  <p:childTnLst>
                                    <p:set>
                                      <p:cBhvr>
                                        <p:cTn id="28" dur="1" fill="hold">
                                          <p:stCondLst>
                                            <p:cond delay="0"/>
                                          </p:stCondLst>
                                        </p:cTn>
                                        <p:tgtEl>
                                          <p:spTgt spid="2396283"/>
                                        </p:tgtEl>
                                        <p:attrNameLst>
                                          <p:attrName>style.visibility</p:attrName>
                                        </p:attrNameLst>
                                      </p:cBhvr>
                                      <p:to>
                                        <p:strVal val="visible"/>
                                      </p:to>
                                    </p:set>
                                    <p:animEffect transition="in" filter="dissolve">
                                      <p:cBhvr>
                                        <p:cTn id="29" dur="500"/>
                                        <p:tgtEl>
                                          <p:spTgt spid="23962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78" grpId="0"/>
      <p:bldP spid="2396279" grpId="0"/>
      <p:bldP spid="2396280" grpId="0"/>
      <p:bldP spid="2396281" grpId="0"/>
      <p:bldP spid="2396282" grpId="0"/>
      <p:bldP spid="2396283" grpId="0"/>
      <p:bldP spid="2396284"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7695" name="Text Box 11279"/>
          <p:cNvSpPr txBox="1"/>
          <p:nvPr/>
        </p:nvSpPr>
        <p:spPr>
          <a:xfrm>
            <a:off x="525463" y="1528763"/>
            <a:ext cx="3017837"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2.</a:t>
            </a:r>
            <a:r>
              <a:rPr lang="zh-CN" altLang="en-US" sz="2800" dirty="0">
                <a:solidFill>
                  <a:schemeClr val="tx1"/>
                </a:solidFill>
                <a:latin typeface="Times New Roman" panose="02020603050405020304" pitchFamily="18" charset="0"/>
                <a:ea typeface="黑体" panose="02010609060101010101" pitchFamily="49" charset="-122"/>
              </a:rPr>
              <a:t>场效应管开关 </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247697" name="Text Box 11281"/>
          <p:cNvSpPr txBox="1"/>
          <p:nvPr/>
        </p:nvSpPr>
        <p:spPr>
          <a:xfrm>
            <a:off x="236538" y="2095500"/>
            <a:ext cx="3651250" cy="519113"/>
          </a:xfrm>
          <a:prstGeom prst="rect">
            <a:avLst/>
          </a:prstGeom>
          <a:noFill/>
          <a:ln w="9525">
            <a:noFill/>
          </a:ln>
        </p:spPr>
        <p:txBody>
          <a:bodyPr>
            <a:spAutoFit/>
          </a:bodyPr>
          <a:p>
            <a:pPr marL="457200" indent="-457200" eaLnBrk="1" hangingPunct="1">
              <a:buAutoNum type="circleNumDbPlain"/>
            </a:pPr>
            <a:r>
              <a:rPr lang="zh-CN" altLang="en-US" sz="2800" dirty="0">
                <a:solidFill>
                  <a:srgbClr val="000099"/>
                </a:solidFill>
                <a:latin typeface="楷体_GB2312" pitchFamily="49" charset="-122"/>
              </a:rPr>
              <a:t>结型场效应管开关</a:t>
            </a:r>
            <a:endParaRPr lang="zh-CN" altLang="en-US" sz="2800" dirty="0">
              <a:solidFill>
                <a:srgbClr val="000099"/>
              </a:solidFill>
              <a:latin typeface="楷体_GB2312" pitchFamily="49" charset="-122"/>
            </a:endParaRPr>
          </a:p>
        </p:txBody>
      </p:sp>
      <p:sp>
        <p:nvSpPr>
          <p:cNvPr id="2247700" name="Text Box 11284"/>
          <p:cNvSpPr txBox="1"/>
          <p:nvPr/>
        </p:nvSpPr>
        <p:spPr>
          <a:xfrm>
            <a:off x="290513" y="2589213"/>
            <a:ext cx="2684462" cy="519112"/>
          </a:xfrm>
          <a:prstGeom prst="rect">
            <a:avLst/>
          </a:prstGeom>
          <a:noFill/>
          <a:ln w="9525">
            <a:noFill/>
          </a:ln>
        </p:spPr>
        <p:txBody>
          <a:bodyPr wrap="none">
            <a:spAutoFit/>
          </a:bodyPr>
          <a:p>
            <a:pPr eaLnBrk="1" hangingPunct="1"/>
            <a:r>
              <a:rPr lang="zh-CN" altLang="en-US" sz="2800" dirty="0">
                <a:solidFill>
                  <a:srgbClr val="FF0000"/>
                </a:solidFill>
                <a:latin typeface="楷体_GB2312" pitchFamily="49" charset="-122"/>
              </a:rPr>
              <a:t>工作原理如下：</a:t>
            </a:r>
            <a:endParaRPr lang="zh-CN" altLang="en-US" sz="2800" dirty="0">
              <a:solidFill>
                <a:srgbClr val="FF0000"/>
              </a:solidFill>
              <a:latin typeface="楷体_GB2312" pitchFamily="49" charset="-122"/>
            </a:endParaRPr>
          </a:p>
        </p:txBody>
      </p:sp>
      <p:sp>
        <p:nvSpPr>
          <p:cNvPr id="2247701" name="Text Box 11285"/>
          <p:cNvSpPr txBox="1"/>
          <p:nvPr/>
        </p:nvSpPr>
        <p:spPr>
          <a:xfrm>
            <a:off x="407988" y="3149600"/>
            <a:ext cx="4157662" cy="1406525"/>
          </a:xfrm>
          <a:prstGeom prst="rect">
            <a:avLst/>
          </a:prstGeom>
          <a:noFill/>
          <a:ln w="9525">
            <a:noFill/>
          </a:ln>
        </p:spPr>
        <p:txBody>
          <a:bodyPr>
            <a:spAutoFit/>
          </a:bodyPr>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设选择第</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路信号。则令通道控制信号</a:t>
            </a:r>
            <a:r>
              <a:rPr lang="en-US" altLang="zh-CN" sz="2400" i="1" dirty="0">
                <a:solidFill>
                  <a:srgbClr val="CC00CC"/>
                </a:solidFill>
                <a:latin typeface="Times New Roman" panose="02020603050405020304" pitchFamily="18" charset="0"/>
                <a:ea typeface="黑体" panose="02010609060101010101" pitchFamily="49" charset="-122"/>
              </a:rPr>
              <a:t>U</a:t>
            </a:r>
            <a:r>
              <a:rPr lang="en-US" altLang="zh-CN" sz="2400" i="1" baseline="-25000" dirty="0">
                <a:solidFill>
                  <a:srgbClr val="CC00CC"/>
                </a:solidFill>
                <a:latin typeface="Times New Roman" panose="02020603050405020304" pitchFamily="18" charset="0"/>
                <a:ea typeface="黑体" panose="02010609060101010101" pitchFamily="49" charset="-122"/>
              </a:rPr>
              <a:t>C</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，开关控制管</a:t>
            </a:r>
            <a:r>
              <a:rPr lang="en-US" altLang="zh-CN" sz="2400" i="1" dirty="0">
                <a:solidFill>
                  <a:srgbClr val="CC00CC"/>
                </a:solidFill>
                <a:latin typeface="Times New Roman" panose="02020603050405020304" pitchFamily="18" charset="0"/>
                <a:ea typeface="黑体" panose="02010609060101010101" pitchFamily="49" charset="-122"/>
              </a:rPr>
              <a:t>T</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en-US" altLang="zh-CN" sz="2400" dirty="0">
                <a:solidFill>
                  <a:srgbClr val="CC00CC"/>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导通，集电极为低电平，场效应管</a:t>
            </a:r>
            <a:r>
              <a:rPr lang="en-US" altLang="zh-CN" sz="2400" i="1" dirty="0">
                <a:solidFill>
                  <a:srgbClr val="CC00CC"/>
                </a:solidFill>
                <a:latin typeface="Times New Roman" panose="02020603050405020304" pitchFamily="18" charset="0"/>
                <a:ea typeface="黑体" panose="02010609060101010101" pitchFamily="49" charset="-122"/>
              </a:rPr>
              <a:t>T</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导通，</a:t>
            </a:r>
            <a:r>
              <a:rPr lang="en-US" altLang="zh-CN" sz="2400" i="1" dirty="0">
                <a:solidFill>
                  <a:srgbClr val="CC00CC"/>
                </a:solidFill>
                <a:latin typeface="Times New Roman" panose="02020603050405020304" pitchFamily="18" charset="0"/>
                <a:ea typeface="黑体" panose="02010609060101010101" pitchFamily="49" charset="-122"/>
              </a:rPr>
              <a:t>U</a:t>
            </a:r>
            <a:r>
              <a:rPr lang="en-US" altLang="zh-CN" sz="2400" i="1" baseline="-25000" dirty="0">
                <a:solidFill>
                  <a:srgbClr val="CC00CC"/>
                </a:solidFill>
                <a:latin typeface="Times New Roman" panose="02020603050405020304" pitchFamily="18" charset="0"/>
                <a:ea typeface="黑体" panose="02010609060101010101" pitchFamily="49" charset="-122"/>
              </a:rPr>
              <a:t>O</a:t>
            </a:r>
            <a:r>
              <a:rPr lang="en-US" altLang="zh-CN" sz="2400" dirty="0">
                <a:solidFill>
                  <a:srgbClr val="CC00CC"/>
                </a:solidFill>
                <a:latin typeface="Times New Roman" panose="02020603050405020304" pitchFamily="18" charset="0"/>
                <a:ea typeface="黑体" panose="02010609060101010101" pitchFamily="49" charset="-122"/>
              </a:rPr>
              <a:t>=</a:t>
            </a:r>
            <a:r>
              <a:rPr lang="en-US" altLang="zh-CN" sz="2400" i="1" dirty="0">
                <a:solidFill>
                  <a:srgbClr val="CC00CC"/>
                </a:solidFill>
                <a:latin typeface="Times New Roman" panose="02020603050405020304" pitchFamily="18" charset="0"/>
                <a:ea typeface="黑体" panose="02010609060101010101" pitchFamily="49" charset="-122"/>
              </a:rPr>
              <a:t>U</a:t>
            </a:r>
            <a:r>
              <a:rPr lang="en-US" altLang="zh-CN" sz="2400" i="1" baseline="-25000" dirty="0">
                <a:solidFill>
                  <a:srgbClr val="CC00CC"/>
                </a:solidFill>
                <a:latin typeface="Times New Roman" panose="02020603050405020304" pitchFamily="18" charset="0"/>
                <a:ea typeface="黑体" panose="02010609060101010101" pitchFamily="49" charset="-122"/>
              </a:rPr>
              <a:t>i</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247703" name="Text Box 11287"/>
          <p:cNvSpPr txBox="1"/>
          <p:nvPr/>
        </p:nvSpPr>
        <p:spPr>
          <a:xfrm>
            <a:off x="400050" y="4598988"/>
            <a:ext cx="4164013" cy="822325"/>
          </a:xfrm>
          <a:prstGeom prst="rect">
            <a:avLst/>
          </a:prstGeom>
          <a:noFill/>
          <a:ln w="9525">
            <a:noFill/>
          </a:ln>
        </p:spPr>
        <p:txBody>
          <a:bodyPr>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当</a:t>
            </a:r>
            <a:r>
              <a:rPr lang="en-US" altLang="zh-CN" sz="2400" i="1" dirty="0">
                <a:solidFill>
                  <a:srgbClr val="CC00CC"/>
                </a:solidFill>
                <a:latin typeface="Times New Roman" panose="02020603050405020304" pitchFamily="18" charset="0"/>
                <a:ea typeface="黑体" panose="02010609060101010101" pitchFamily="49" charset="-122"/>
              </a:rPr>
              <a:t>U</a:t>
            </a:r>
            <a:r>
              <a:rPr lang="en-US" altLang="zh-CN" sz="2400" i="1" baseline="-25000" dirty="0">
                <a:solidFill>
                  <a:srgbClr val="CC00CC"/>
                </a:solidFill>
                <a:latin typeface="Times New Roman" panose="02020603050405020304" pitchFamily="18" charset="0"/>
                <a:ea typeface="黑体" panose="02010609060101010101" pitchFamily="49" charset="-122"/>
              </a:rPr>
              <a:t>C</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en-US" altLang="zh-CN" sz="2400" dirty="0">
                <a:solidFill>
                  <a:srgbClr val="CC00CC"/>
                </a:solidFill>
                <a:latin typeface="Times New Roman" panose="02020603050405020304" pitchFamily="18" charset="0"/>
                <a:ea typeface="黑体" panose="02010609060101010101" pitchFamily="49" charset="-122"/>
              </a:rPr>
              <a:t> =0</a:t>
            </a:r>
            <a:r>
              <a:rPr lang="zh-CN" altLang="en-US" sz="2400" dirty="0">
                <a:solidFill>
                  <a:schemeClr val="tx1"/>
                </a:solidFill>
                <a:latin typeface="黑体" panose="02010609060101010101" pitchFamily="49" charset="-122"/>
                <a:ea typeface="黑体" panose="02010609060101010101" pitchFamily="49" charset="-122"/>
              </a:rPr>
              <a:t>时，</a:t>
            </a:r>
            <a:r>
              <a:rPr lang="en-US" altLang="zh-CN" sz="2400" i="1" dirty="0">
                <a:solidFill>
                  <a:srgbClr val="CC00CC"/>
                </a:solidFill>
                <a:latin typeface="Times New Roman" panose="02020603050405020304" pitchFamily="18" charset="0"/>
                <a:ea typeface="黑体" panose="02010609060101010101" pitchFamily="49" charset="-122"/>
              </a:rPr>
              <a:t>T</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en-US" altLang="zh-CN" sz="2400" baseline="30000" dirty="0">
                <a:solidFill>
                  <a:srgbClr val="CC00CC"/>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截止，</a:t>
            </a:r>
            <a:r>
              <a:rPr lang="en-US" altLang="zh-CN" sz="2400" i="1" dirty="0">
                <a:solidFill>
                  <a:srgbClr val="CC00CC"/>
                </a:solidFill>
                <a:latin typeface="Times New Roman" panose="02020603050405020304" pitchFamily="18" charset="0"/>
                <a:ea typeface="黑体" panose="02010609060101010101" pitchFamily="49" charset="-122"/>
              </a:rPr>
              <a:t>T</a:t>
            </a:r>
            <a:r>
              <a:rPr lang="en-US" altLang="zh-CN" sz="2400" baseline="-250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也截止，第</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路输入信号被切断。</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247704" name="Text Box 11288"/>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7706" name="Text Box 11290"/>
          <p:cNvSpPr txBox="1"/>
          <p:nvPr/>
        </p:nvSpPr>
        <p:spPr>
          <a:xfrm>
            <a:off x="401638" y="5472113"/>
            <a:ext cx="4183062" cy="457200"/>
          </a:xfrm>
          <a:prstGeom prst="rect">
            <a:avLst/>
          </a:prstGeom>
          <a:noFill/>
          <a:ln w="9525">
            <a:noFill/>
          </a:ln>
        </p:spPr>
        <p:txBody>
          <a:bodyPr>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其他各路操作与第一路相同。</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247707" name="Text Box 11291"/>
          <p:cNvSpPr txBox="1"/>
          <p:nvPr/>
        </p:nvSpPr>
        <p:spPr>
          <a:xfrm>
            <a:off x="66675" y="3136900"/>
            <a:ext cx="3905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47708" name="Text Box 11292"/>
          <p:cNvSpPr txBox="1"/>
          <p:nvPr/>
        </p:nvSpPr>
        <p:spPr>
          <a:xfrm>
            <a:off x="63500" y="4611688"/>
            <a:ext cx="3905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47709" name="Text Box 11293"/>
          <p:cNvSpPr txBox="1"/>
          <p:nvPr/>
        </p:nvSpPr>
        <p:spPr>
          <a:xfrm>
            <a:off x="57150" y="5486400"/>
            <a:ext cx="3905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grpSp>
        <p:nvGrpSpPr>
          <p:cNvPr id="2247804" name="Group 11388"/>
          <p:cNvGrpSpPr/>
          <p:nvPr/>
        </p:nvGrpSpPr>
        <p:grpSpPr>
          <a:xfrm>
            <a:off x="4537075" y="1519238"/>
            <a:ext cx="4525963" cy="4356100"/>
            <a:chOff x="2858" y="957"/>
            <a:chExt cx="2851" cy="2744"/>
          </a:xfrm>
        </p:grpSpPr>
        <p:sp>
          <p:nvSpPr>
            <p:cNvPr id="21519" name="AutoShape 11294"/>
            <p:cNvSpPr>
              <a:spLocks noChangeAspect="1" noTextEdit="1"/>
            </p:cNvSpPr>
            <p:nvPr/>
          </p:nvSpPr>
          <p:spPr>
            <a:xfrm>
              <a:off x="2858" y="957"/>
              <a:ext cx="2851" cy="2744"/>
            </a:xfrm>
            <a:prstGeom prst="rect">
              <a:avLst/>
            </a:prstGeom>
            <a:solidFill>
              <a:srgbClr val="FFFF99"/>
            </a:solidFill>
            <a:ln w="9525">
              <a:noFill/>
            </a:ln>
          </p:spPr>
          <p:txBody>
            <a:bodyPr/>
            <a:p>
              <a:endParaRPr lang="zh-CN" altLang="en-US"/>
            </a:p>
          </p:txBody>
        </p:sp>
        <p:sp>
          <p:nvSpPr>
            <p:cNvPr id="21520" name="Line 11296"/>
            <p:cNvSpPr/>
            <p:nvPr/>
          </p:nvSpPr>
          <p:spPr>
            <a:xfrm>
              <a:off x="4544" y="1194"/>
              <a:ext cx="1" cy="109"/>
            </a:xfrm>
            <a:prstGeom prst="line">
              <a:avLst/>
            </a:prstGeom>
            <a:ln w="0" cap="flat" cmpd="sng">
              <a:solidFill>
                <a:srgbClr val="0000FF"/>
              </a:solidFill>
              <a:prstDash val="solid"/>
              <a:headEnd type="none" w="med" len="med"/>
              <a:tailEnd type="none" w="med" len="med"/>
            </a:ln>
          </p:spPr>
        </p:sp>
        <p:sp>
          <p:nvSpPr>
            <p:cNvPr id="21521" name="Line 11297"/>
            <p:cNvSpPr/>
            <p:nvPr/>
          </p:nvSpPr>
          <p:spPr>
            <a:xfrm>
              <a:off x="4464" y="1303"/>
              <a:ext cx="280" cy="1"/>
            </a:xfrm>
            <a:prstGeom prst="line">
              <a:avLst/>
            </a:prstGeom>
            <a:ln w="0" cap="flat" cmpd="sng">
              <a:solidFill>
                <a:srgbClr val="0000FF"/>
              </a:solidFill>
              <a:prstDash val="solid"/>
              <a:headEnd type="none" w="med" len="med"/>
              <a:tailEnd type="none" w="med" len="med"/>
            </a:ln>
          </p:spPr>
        </p:sp>
        <p:sp>
          <p:nvSpPr>
            <p:cNvPr id="21522" name="Line 11298"/>
            <p:cNvSpPr/>
            <p:nvPr/>
          </p:nvSpPr>
          <p:spPr>
            <a:xfrm flipV="1">
              <a:off x="4650" y="1194"/>
              <a:ext cx="1" cy="109"/>
            </a:xfrm>
            <a:prstGeom prst="line">
              <a:avLst/>
            </a:prstGeom>
            <a:ln w="0" cap="flat" cmpd="sng">
              <a:solidFill>
                <a:srgbClr val="0000FF"/>
              </a:solidFill>
              <a:prstDash val="solid"/>
              <a:headEnd type="none" w="med" len="med"/>
              <a:tailEnd type="none" w="med" len="med"/>
            </a:ln>
          </p:spPr>
        </p:sp>
        <p:sp>
          <p:nvSpPr>
            <p:cNvPr id="21523" name="Line 11299"/>
            <p:cNvSpPr/>
            <p:nvPr/>
          </p:nvSpPr>
          <p:spPr>
            <a:xfrm>
              <a:off x="4544" y="1303"/>
              <a:ext cx="1" cy="177"/>
            </a:xfrm>
            <a:prstGeom prst="line">
              <a:avLst/>
            </a:prstGeom>
            <a:ln w="0" cap="flat" cmpd="sng">
              <a:solidFill>
                <a:srgbClr val="0000FF"/>
              </a:solidFill>
              <a:prstDash val="solid"/>
              <a:headEnd type="none" w="med" len="med"/>
              <a:tailEnd type="none" w="med" len="med"/>
            </a:ln>
          </p:spPr>
        </p:sp>
        <p:sp>
          <p:nvSpPr>
            <p:cNvPr id="21524" name="Line 11300"/>
            <p:cNvSpPr/>
            <p:nvPr/>
          </p:nvSpPr>
          <p:spPr>
            <a:xfrm flipV="1">
              <a:off x="4544" y="1371"/>
              <a:ext cx="26" cy="96"/>
            </a:xfrm>
            <a:prstGeom prst="line">
              <a:avLst/>
            </a:prstGeom>
            <a:ln w="0" cap="flat" cmpd="sng">
              <a:solidFill>
                <a:srgbClr val="0000FF"/>
              </a:solidFill>
              <a:prstDash val="solid"/>
              <a:headEnd type="none" w="med" len="med"/>
              <a:tailEnd type="none" w="med" len="med"/>
            </a:ln>
          </p:spPr>
        </p:sp>
        <p:sp>
          <p:nvSpPr>
            <p:cNvPr id="21525" name="Line 11301"/>
            <p:cNvSpPr/>
            <p:nvPr/>
          </p:nvSpPr>
          <p:spPr>
            <a:xfrm flipH="1" flipV="1">
              <a:off x="4517" y="1371"/>
              <a:ext cx="27" cy="96"/>
            </a:xfrm>
            <a:prstGeom prst="line">
              <a:avLst/>
            </a:prstGeom>
            <a:ln w="0" cap="flat" cmpd="sng">
              <a:solidFill>
                <a:srgbClr val="0000FF"/>
              </a:solidFill>
              <a:prstDash val="solid"/>
              <a:headEnd type="none" w="med" len="med"/>
              <a:tailEnd type="none" w="med" len="med"/>
            </a:ln>
          </p:spPr>
        </p:sp>
        <p:sp>
          <p:nvSpPr>
            <p:cNvPr id="21526" name="Line 11302"/>
            <p:cNvSpPr/>
            <p:nvPr/>
          </p:nvSpPr>
          <p:spPr>
            <a:xfrm>
              <a:off x="4544" y="1480"/>
              <a:ext cx="1" cy="150"/>
            </a:xfrm>
            <a:prstGeom prst="line">
              <a:avLst/>
            </a:prstGeom>
            <a:ln w="0" cap="flat" cmpd="sng">
              <a:solidFill>
                <a:srgbClr val="0000FF"/>
              </a:solidFill>
              <a:prstDash val="solid"/>
              <a:headEnd type="none" w="med" len="med"/>
              <a:tailEnd type="none" w="med" len="med"/>
            </a:ln>
          </p:spPr>
        </p:sp>
        <p:sp>
          <p:nvSpPr>
            <p:cNvPr id="21527" name="Line 11303"/>
            <p:cNvSpPr/>
            <p:nvPr/>
          </p:nvSpPr>
          <p:spPr>
            <a:xfrm flipH="1">
              <a:off x="4437" y="1630"/>
              <a:ext cx="107" cy="110"/>
            </a:xfrm>
            <a:prstGeom prst="line">
              <a:avLst/>
            </a:prstGeom>
            <a:ln w="0" cap="flat" cmpd="sng">
              <a:solidFill>
                <a:srgbClr val="0000FF"/>
              </a:solidFill>
              <a:prstDash val="solid"/>
              <a:headEnd type="none" w="med" len="med"/>
              <a:tailEnd type="none" w="med" len="med"/>
            </a:ln>
          </p:spPr>
        </p:sp>
        <p:sp>
          <p:nvSpPr>
            <p:cNvPr id="21528" name="Line 11304"/>
            <p:cNvSpPr/>
            <p:nvPr/>
          </p:nvSpPr>
          <p:spPr>
            <a:xfrm>
              <a:off x="4437" y="1740"/>
              <a:ext cx="107" cy="109"/>
            </a:xfrm>
            <a:prstGeom prst="line">
              <a:avLst/>
            </a:prstGeom>
            <a:ln w="0" cap="flat" cmpd="sng">
              <a:solidFill>
                <a:srgbClr val="0000FF"/>
              </a:solidFill>
              <a:prstDash val="solid"/>
              <a:headEnd type="none" w="med" len="med"/>
              <a:tailEnd type="none" w="med" len="med"/>
            </a:ln>
          </p:spPr>
        </p:sp>
        <p:sp>
          <p:nvSpPr>
            <p:cNvPr id="21529" name="Line 11305"/>
            <p:cNvSpPr/>
            <p:nvPr/>
          </p:nvSpPr>
          <p:spPr>
            <a:xfrm>
              <a:off x="4437" y="1630"/>
              <a:ext cx="1" cy="219"/>
            </a:xfrm>
            <a:prstGeom prst="line">
              <a:avLst/>
            </a:prstGeom>
            <a:ln w="0" cap="flat" cmpd="sng">
              <a:solidFill>
                <a:srgbClr val="0000FF"/>
              </a:solidFill>
              <a:prstDash val="solid"/>
              <a:headEnd type="none" w="med" len="med"/>
              <a:tailEnd type="none" w="med" len="med"/>
            </a:ln>
          </p:spPr>
        </p:sp>
        <p:sp>
          <p:nvSpPr>
            <p:cNvPr id="21530" name="Rectangle 11306"/>
            <p:cNvSpPr/>
            <p:nvPr/>
          </p:nvSpPr>
          <p:spPr>
            <a:xfrm>
              <a:off x="4050" y="1494"/>
              <a:ext cx="173" cy="68"/>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31" name="Rectangle 11307"/>
            <p:cNvSpPr/>
            <p:nvPr/>
          </p:nvSpPr>
          <p:spPr>
            <a:xfrm>
              <a:off x="3903" y="1712"/>
              <a:ext cx="174"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32" name="Line 11308"/>
            <p:cNvSpPr/>
            <p:nvPr/>
          </p:nvSpPr>
          <p:spPr>
            <a:xfrm flipH="1">
              <a:off x="4070" y="1740"/>
              <a:ext cx="367" cy="1"/>
            </a:xfrm>
            <a:prstGeom prst="line">
              <a:avLst/>
            </a:prstGeom>
            <a:ln w="0" cap="flat" cmpd="sng">
              <a:solidFill>
                <a:srgbClr val="0000FF"/>
              </a:solidFill>
              <a:prstDash val="solid"/>
              <a:headEnd type="none" w="med" len="med"/>
              <a:tailEnd type="none" w="med" len="med"/>
            </a:ln>
          </p:spPr>
        </p:sp>
        <p:sp>
          <p:nvSpPr>
            <p:cNvPr id="21533" name="Line 11309"/>
            <p:cNvSpPr/>
            <p:nvPr/>
          </p:nvSpPr>
          <p:spPr>
            <a:xfrm>
              <a:off x="4544" y="1849"/>
              <a:ext cx="1" cy="218"/>
            </a:xfrm>
            <a:prstGeom prst="line">
              <a:avLst/>
            </a:prstGeom>
            <a:ln w="0" cap="flat" cmpd="sng">
              <a:solidFill>
                <a:srgbClr val="0000FF"/>
              </a:solidFill>
              <a:prstDash val="solid"/>
              <a:headEnd type="none" w="med" len="med"/>
              <a:tailEnd type="none" w="med" len="med"/>
            </a:ln>
          </p:spPr>
        </p:sp>
        <p:sp>
          <p:nvSpPr>
            <p:cNvPr id="21534" name="Line 11310"/>
            <p:cNvSpPr/>
            <p:nvPr/>
          </p:nvSpPr>
          <p:spPr>
            <a:xfrm>
              <a:off x="4477" y="2067"/>
              <a:ext cx="147" cy="1"/>
            </a:xfrm>
            <a:prstGeom prst="line">
              <a:avLst/>
            </a:prstGeom>
            <a:ln w="0" cap="flat" cmpd="sng">
              <a:solidFill>
                <a:srgbClr val="0000FF"/>
              </a:solidFill>
              <a:prstDash val="solid"/>
              <a:headEnd type="none" w="med" len="med"/>
              <a:tailEnd type="none" w="med" len="med"/>
            </a:ln>
          </p:spPr>
        </p:sp>
        <p:sp>
          <p:nvSpPr>
            <p:cNvPr id="21535" name="Line 11311"/>
            <p:cNvSpPr/>
            <p:nvPr/>
          </p:nvSpPr>
          <p:spPr>
            <a:xfrm>
              <a:off x="5077" y="1194"/>
              <a:ext cx="1" cy="436"/>
            </a:xfrm>
            <a:prstGeom prst="line">
              <a:avLst/>
            </a:prstGeom>
            <a:ln w="0" cap="flat" cmpd="sng">
              <a:solidFill>
                <a:srgbClr val="0000FF"/>
              </a:solidFill>
              <a:prstDash val="solid"/>
              <a:headEnd type="none" w="med" len="med"/>
              <a:tailEnd type="none" w="med" len="med"/>
            </a:ln>
          </p:spPr>
        </p:sp>
        <p:sp>
          <p:nvSpPr>
            <p:cNvPr id="21536" name="Line 11312"/>
            <p:cNvSpPr/>
            <p:nvPr/>
          </p:nvSpPr>
          <p:spPr>
            <a:xfrm>
              <a:off x="4544" y="2327"/>
              <a:ext cx="1" cy="109"/>
            </a:xfrm>
            <a:prstGeom prst="line">
              <a:avLst/>
            </a:prstGeom>
            <a:ln w="0" cap="flat" cmpd="sng">
              <a:solidFill>
                <a:srgbClr val="0000FF"/>
              </a:solidFill>
              <a:prstDash val="solid"/>
              <a:headEnd type="none" w="med" len="med"/>
              <a:tailEnd type="none" w="med" len="med"/>
            </a:ln>
          </p:spPr>
        </p:sp>
        <p:sp>
          <p:nvSpPr>
            <p:cNvPr id="21537" name="Line 11313"/>
            <p:cNvSpPr/>
            <p:nvPr/>
          </p:nvSpPr>
          <p:spPr>
            <a:xfrm>
              <a:off x="4464" y="2436"/>
              <a:ext cx="280" cy="1"/>
            </a:xfrm>
            <a:prstGeom prst="line">
              <a:avLst/>
            </a:prstGeom>
            <a:ln w="0" cap="flat" cmpd="sng">
              <a:solidFill>
                <a:srgbClr val="0000FF"/>
              </a:solidFill>
              <a:prstDash val="solid"/>
              <a:headEnd type="none" w="med" len="med"/>
              <a:tailEnd type="none" w="med" len="med"/>
            </a:ln>
          </p:spPr>
        </p:sp>
        <p:sp>
          <p:nvSpPr>
            <p:cNvPr id="21538" name="Line 11314"/>
            <p:cNvSpPr/>
            <p:nvPr/>
          </p:nvSpPr>
          <p:spPr>
            <a:xfrm flipV="1">
              <a:off x="4650" y="2327"/>
              <a:ext cx="1" cy="109"/>
            </a:xfrm>
            <a:prstGeom prst="line">
              <a:avLst/>
            </a:prstGeom>
            <a:ln w="0" cap="flat" cmpd="sng">
              <a:solidFill>
                <a:srgbClr val="0000FF"/>
              </a:solidFill>
              <a:prstDash val="solid"/>
              <a:headEnd type="none" w="med" len="med"/>
              <a:tailEnd type="none" w="med" len="med"/>
            </a:ln>
          </p:spPr>
        </p:sp>
        <p:sp>
          <p:nvSpPr>
            <p:cNvPr id="21539" name="Line 11315"/>
            <p:cNvSpPr/>
            <p:nvPr/>
          </p:nvSpPr>
          <p:spPr>
            <a:xfrm>
              <a:off x="4544" y="2436"/>
              <a:ext cx="1" cy="177"/>
            </a:xfrm>
            <a:prstGeom prst="line">
              <a:avLst/>
            </a:prstGeom>
            <a:ln w="0" cap="flat" cmpd="sng">
              <a:solidFill>
                <a:srgbClr val="0000FF"/>
              </a:solidFill>
              <a:prstDash val="solid"/>
              <a:headEnd type="none" w="med" len="med"/>
              <a:tailEnd type="none" w="med" len="med"/>
            </a:ln>
          </p:spPr>
        </p:sp>
        <p:sp>
          <p:nvSpPr>
            <p:cNvPr id="21540" name="Line 11316"/>
            <p:cNvSpPr/>
            <p:nvPr/>
          </p:nvSpPr>
          <p:spPr>
            <a:xfrm flipV="1">
              <a:off x="4544" y="2504"/>
              <a:ext cx="26" cy="96"/>
            </a:xfrm>
            <a:prstGeom prst="line">
              <a:avLst/>
            </a:prstGeom>
            <a:ln w="0" cap="flat" cmpd="sng">
              <a:solidFill>
                <a:srgbClr val="0000FF"/>
              </a:solidFill>
              <a:prstDash val="solid"/>
              <a:headEnd type="none" w="med" len="med"/>
              <a:tailEnd type="none" w="med" len="med"/>
            </a:ln>
          </p:spPr>
        </p:sp>
        <p:sp>
          <p:nvSpPr>
            <p:cNvPr id="21541" name="Line 11317"/>
            <p:cNvSpPr/>
            <p:nvPr/>
          </p:nvSpPr>
          <p:spPr>
            <a:xfrm flipH="1" flipV="1">
              <a:off x="4517" y="2504"/>
              <a:ext cx="27" cy="96"/>
            </a:xfrm>
            <a:prstGeom prst="line">
              <a:avLst/>
            </a:prstGeom>
            <a:ln w="0" cap="flat" cmpd="sng">
              <a:solidFill>
                <a:srgbClr val="0000FF"/>
              </a:solidFill>
              <a:prstDash val="solid"/>
              <a:headEnd type="none" w="med" len="med"/>
              <a:tailEnd type="none" w="med" len="med"/>
            </a:ln>
          </p:spPr>
        </p:sp>
        <p:sp>
          <p:nvSpPr>
            <p:cNvPr id="21542" name="Line 11318"/>
            <p:cNvSpPr/>
            <p:nvPr/>
          </p:nvSpPr>
          <p:spPr>
            <a:xfrm>
              <a:off x="4544" y="2613"/>
              <a:ext cx="1" cy="151"/>
            </a:xfrm>
            <a:prstGeom prst="line">
              <a:avLst/>
            </a:prstGeom>
            <a:ln w="0" cap="flat" cmpd="sng">
              <a:solidFill>
                <a:srgbClr val="0000FF"/>
              </a:solidFill>
              <a:prstDash val="solid"/>
              <a:headEnd type="none" w="med" len="med"/>
              <a:tailEnd type="none" w="med" len="med"/>
            </a:ln>
          </p:spPr>
        </p:sp>
        <p:sp>
          <p:nvSpPr>
            <p:cNvPr id="21543" name="Line 11319"/>
            <p:cNvSpPr/>
            <p:nvPr/>
          </p:nvSpPr>
          <p:spPr>
            <a:xfrm flipH="1">
              <a:off x="4437" y="2764"/>
              <a:ext cx="107" cy="109"/>
            </a:xfrm>
            <a:prstGeom prst="line">
              <a:avLst/>
            </a:prstGeom>
            <a:ln w="0" cap="flat" cmpd="sng">
              <a:solidFill>
                <a:srgbClr val="0000FF"/>
              </a:solidFill>
              <a:prstDash val="solid"/>
              <a:headEnd type="none" w="med" len="med"/>
              <a:tailEnd type="none" w="med" len="med"/>
            </a:ln>
          </p:spPr>
        </p:sp>
        <p:sp>
          <p:nvSpPr>
            <p:cNvPr id="21544" name="Line 11320"/>
            <p:cNvSpPr/>
            <p:nvPr/>
          </p:nvSpPr>
          <p:spPr>
            <a:xfrm>
              <a:off x="4437" y="2873"/>
              <a:ext cx="107" cy="109"/>
            </a:xfrm>
            <a:prstGeom prst="line">
              <a:avLst/>
            </a:prstGeom>
            <a:ln w="0" cap="flat" cmpd="sng">
              <a:solidFill>
                <a:srgbClr val="0000FF"/>
              </a:solidFill>
              <a:prstDash val="solid"/>
              <a:headEnd type="none" w="med" len="med"/>
              <a:tailEnd type="none" w="med" len="med"/>
            </a:ln>
          </p:spPr>
        </p:sp>
        <p:sp>
          <p:nvSpPr>
            <p:cNvPr id="21545" name="Line 11321"/>
            <p:cNvSpPr/>
            <p:nvPr/>
          </p:nvSpPr>
          <p:spPr>
            <a:xfrm>
              <a:off x="4437" y="2764"/>
              <a:ext cx="1" cy="218"/>
            </a:xfrm>
            <a:prstGeom prst="line">
              <a:avLst/>
            </a:prstGeom>
            <a:ln w="0" cap="flat" cmpd="sng">
              <a:solidFill>
                <a:srgbClr val="0000FF"/>
              </a:solidFill>
              <a:prstDash val="solid"/>
              <a:headEnd type="none" w="med" len="med"/>
              <a:tailEnd type="none" w="med" len="med"/>
            </a:ln>
          </p:spPr>
        </p:sp>
        <p:sp>
          <p:nvSpPr>
            <p:cNvPr id="21546" name="Rectangle 11322"/>
            <p:cNvSpPr/>
            <p:nvPr/>
          </p:nvSpPr>
          <p:spPr>
            <a:xfrm>
              <a:off x="4050" y="2627"/>
              <a:ext cx="173" cy="68"/>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47" name="Rectangle 11323"/>
            <p:cNvSpPr/>
            <p:nvPr/>
          </p:nvSpPr>
          <p:spPr>
            <a:xfrm>
              <a:off x="3903" y="2845"/>
              <a:ext cx="174"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48" name="Line 11324"/>
            <p:cNvSpPr/>
            <p:nvPr/>
          </p:nvSpPr>
          <p:spPr>
            <a:xfrm>
              <a:off x="4544" y="2982"/>
              <a:ext cx="1" cy="218"/>
            </a:xfrm>
            <a:prstGeom prst="line">
              <a:avLst/>
            </a:prstGeom>
            <a:ln w="0" cap="flat" cmpd="sng">
              <a:solidFill>
                <a:srgbClr val="0000FF"/>
              </a:solidFill>
              <a:prstDash val="solid"/>
              <a:headEnd type="none" w="med" len="med"/>
              <a:tailEnd type="none" w="med" len="med"/>
            </a:ln>
          </p:spPr>
        </p:sp>
        <p:sp>
          <p:nvSpPr>
            <p:cNvPr id="21549" name="Line 11325"/>
            <p:cNvSpPr/>
            <p:nvPr/>
          </p:nvSpPr>
          <p:spPr>
            <a:xfrm>
              <a:off x="4477" y="3200"/>
              <a:ext cx="147" cy="1"/>
            </a:xfrm>
            <a:prstGeom prst="line">
              <a:avLst/>
            </a:prstGeom>
            <a:ln w="0" cap="flat" cmpd="sng">
              <a:solidFill>
                <a:srgbClr val="0000FF"/>
              </a:solidFill>
              <a:prstDash val="solid"/>
              <a:headEnd type="none" w="med" len="med"/>
              <a:tailEnd type="none" w="med" len="med"/>
            </a:ln>
          </p:spPr>
        </p:sp>
        <p:sp>
          <p:nvSpPr>
            <p:cNvPr id="21550" name="Rectangle 11326"/>
            <p:cNvSpPr/>
            <p:nvPr/>
          </p:nvSpPr>
          <p:spPr>
            <a:xfrm>
              <a:off x="3943" y="1712"/>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1551" name="Rectangle 11327"/>
            <p:cNvSpPr/>
            <p:nvPr/>
          </p:nvSpPr>
          <p:spPr>
            <a:xfrm>
              <a:off x="3943" y="1894"/>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1552" name="Rectangle 11328"/>
            <p:cNvSpPr/>
            <p:nvPr/>
          </p:nvSpPr>
          <p:spPr>
            <a:xfrm>
              <a:off x="3943" y="2076"/>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1553" name="Line 11329"/>
            <p:cNvSpPr/>
            <p:nvPr/>
          </p:nvSpPr>
          <p:spPr>
            <a:xfrm>
              <a:off x="5077" y="1630"/>
              <a:ext cx="1" cy="697"/>
            </a:xfrm>
            <a:prstGeom prst="line">
              <a:avLst/>
            </a:prstGeom>
            <a:ln w="0" cap="flat" cmpd="sng">
              <a:solidFill>
                <a:srgbClr val="0000FF"/>
              </a:solidFill>
              <a:prstDash val="sysDot"/>
              <a:headEnd type="none" w="med" len="med"/>
              <a:tailEnd type="none" w="med" len="med"/>
            </a:ln>
          </p:spPr>
        </p:sp>
        <p:grpSp>
          <p:nvGrpSpPr>
            <p:cNvPr id="21554" name="Group 11332"/>
            <p:cNvGrpSpPr/>
            <p:nvPr/>
          </p:nvGrpSpPr>
          <p:grpSpPr>
            <a:xfrm>
              <a:off x="4530" y="989"/>
              <a:ext cx="150" cy="175"/>
              <a:chOff x="4535" y="1264"/>
              <a:chExt cx="150" cy="175"/>
            </a:xfrm>
          </p:grpSpPr>
          <p:sp>
            <p:nvSpPr>
              <p:cNvPr id="21609" name="Rectangle 11330"/>
              <p:cNvSpPr/>
              <p:nvPr/>
            </p:nvSpPr>
            <p:spPr>
              <a:xfrm>
                <a:off x="4535" y="1264"/>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1610" name="Rectangle 11331"/>
              <p:cNvSpPr/>
              <p:nvPr/>
            </p:nvSpPr>
            <p:spPr>
              <a:xfrm>
                <a:off x="4629" y="1318"/>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grpSp>
        <p:sp>
          <p:nvSpPr>
            <p:cNvPr id="21555" name="Rectangle 11333"/>
            <p:cNvSpPr/>
            <p:nvPr/>
          </p:nvSpPr>
          <p:spPr>
            <a:xfrm>
              <a:off x="4610" y="1658"/>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1556" name="Rectangle 11334"/>
            <p:cNvSpPr/>
            <p:nvPr/>
          </p:nvSpPr>
          <p:spPr>
            <a:xfrm>
              <a:off x="4690" y="1712"/>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sp>
          <p:nvSpPr>
            <p:cNvPr id="21557" name="Line 11335"/>
            <p:cNvSpPr/>
            <p:nvPr/>
          </p:nvSpPr>
          <p:spPr>
            <a:xfrm flipH="1">
              <a:off x="4697" y="1651"/>
              <a:ext cx="33" cy="34"/>
            </a:xfrm>
            <a:prstGeom prst="line">
              <a:avLst/>
            </a:prstGeom>
            <a:ln w="0" cap="flat" cmpd="sng">
              <a:solidFill>
                <a:srgbClr val="FF0000"/>
              </a:solidFill>
              <a:prstDash val="solid"/>
              <a:headEnd type="none" w="med" len="med"/>
              <a:tailEnd type="none" w="med" len="med"/>
            </a:ln>
          </p:spPr>
        </p:sp>
        <p:grpSp>
          <p:nvGrpSpPr>
            <p:cNvPr id="21558" name="Group 11338"/>
            <p:cNvGrpSpPr/>
            <p:nvPr/>
          </p:nvGrpSpPr>
          <p:grpSpPr>
            <a:xfrm>
              <a:off x="4504" y="2149"/>
              <a:ext cx="149" cy="162"/>
              <a:chOff x="4509" y="2424"/>
              <a:chExt cx="149" cy="162"/>
            </a:xfrm>
          </p:grpSpPr>
          <p:sp>
            <p:nvSpPr>
              <p:cNvPr id="21607" name="Rectangle 11336"/>
              <p:cNvSpPr/>
              <p:nvPr/>
            </p:nvSpPr>
            <p:spPr>
              <a:xfrm>
                <a:off x="4509" y="2424"/>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1608" name="Rectangle 11337"/>
              <p:cNvSpPr/>
              <p:nvPr/>
            </p:nvSpPr>
            <p:spPr>
              <a:xfrm>
                <a:off x="4602" y="2465"/>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8</a:t>
                </a:r>
                <a:endParaRPr lang="en-US" altLang="zh-CN" dirty="0">
                  <a:solidFill>
                    <a:srgbClr val="FF0000"/>
                  </a:solidFill>
                  <a:latin typeface="Times New Roman" panose="02020603050405020304" pitchFamily="18" charset="0"/>
                </a:endParaRPr>
              </a:p>
            </p:txBody>
          </p:sp>
        </p:grpSp>
        <p:sp>
          <p:nvSpPr>
            <p:cNvPr id="21559" name="Rectangle 11339"/>
            <p:cNvSpPr/>
            <p:nvPr/>
          </p:nvSpPr>
          <p:spPr>
            <a:xfrm>
              <a:off x="4604" y="2798"/>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1560" name="Rectangle 11340"/>
            <p:cNvSpPr/>
            <p:nvPr/>
          </p:nvSpPr>
          <p:spPr>
            <a:xfrm>
              <a:off x="4697" y="2839"/>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8</a:t>
              </a:r>
              <a:endParaRPr lang="en-US" altLang="zh-CN" dirty="0">
                <a:solidFill>
                  <a:srgbClr val="FF0000"/>
                </a:solidFill>
                <a:latin typeface="Times New Roman" panose="02020603050405020304" pitchFamily="18" charset="0"/>
              </a:endParaRPr>
            </a:p>
          </p:txBody>
        </p:sp>
        <p:sp>
          <p:nvSpPr>
            <p:cNvPr id="21561" name="Line 11341"/>
            <p:cNvSpPr/>
            <p:nvPr/>
          </p:nvSpPr>
          <p:spPr>
            <a:xfrm flipH="1">
              <a:off x="4704" y="2791"/>
              <a:ext cx="26" cy="25"/>
            </a:xfrm>
            <a:prstGeom prst="line">
              <a:avLst/>
            </a:prstGeom>
            <a:ln w="0" cap="flat" cmpd="sng">
              <a:solidFill>
                <a:srgbClr val="FF0000"/>
              </a:solidFill>
              <a:prstDash val="solid"/>
              <a:headEnd type="none" w="med" len="med"/>
              <a:tailEnd type="none" w="med" len="med"/>
            </a:ln>
          </p:spPr>
        </p:sp>
        <p:sp>
          <p:nvSpPr>
            <p:cNvPr id="21562" name="Rectangle 11342"/>
            <p:cNvSpPr/>
            <p:nvPr/>
          </p:nvSpPr>
          <p:spPr>
            <a:xfrm>
              <a:off x="3583" y="975"/>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1563" name="Rectangle 11343"/>
            <p:cNvSpPr/>
            <p:nvPr/>
          </p:nvSpPr>
          <p:spPr>
            <a:xfrm>
              <a:off x="3685" y="1016"/>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i1</a:t>
              </a:r>
              <a:endParaRPr lang="en-US" altLang="zh-CN" dirty="0">
                <a:solidFill>
                  <a:srgbClr val="FF0000"/>
                </a:solidFill>
                <a:latin typeface="Times New Roman" panose="02020603050405020304" pitchFamily="18" charset="0"/>
              </a:endParaRPr>
            </a:p>
          </p:txBody>
        </p:sp>
        <p:sp>
          <p:nvSpPr>
            <p:cNvPr id="21564" name="Rectangle 11344"/>
            <p:cNvSpPr/>
            <p:nvPr/>
          </p:nvSpPr>
          <p:spPr>
            <a:xfrm>
              <a:off x="3556" y="2108"/>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1565" name="Rectangle 11345"/>
            <p:cNvSpPr/>
            <p:nvPr/>
          </p:nvSpPr>
          <p:spPr>
            <a:xfrm>
              <a:off x="3661" y="2149"/>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i8</a:t>
              </a:r>
              <a:endParaRPr lang="en-US" altLang="zh-CN" dirty="0">
                <a:solidFill>
                  <a:srgbClr val="FF0000"/>
                </a:solidFill>
                <a:latin typeface="Times New Roman" panose="02020603050405020304" pitchFamily="18" charset="0"/>
              </a:endParaRPr>
            </a:p>
          </p:txBody>
        </p:sp>
        <p:sp>
          <p:nvSpPr>
            <p:cNvPr id="21566" name="Rectangle 11346"/>
            <p:cNvSpPr/>
            <p:nvPr/>
          </p:nvSpPr>
          <p:spPr>
            <a:xfrm>
              <a:off x="3543" y="1528"/>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1567" name="Rectangle 11347"/>
            <p:cNvSpPr/>
            <p:nvPr/>
          </p:nvSpPr>
          <p:spPr>
            <a:xfrm>
              <a:off x="3652" y="1576"/>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C1</a:t>
              </a:r>
              <a:endParaRPr lang="en-US" altLang="zh-CN" dirty="0">
                <a:solidFill>
                  <a:srgbClr val="FF0000"/>
                </a:solidFill>
                <a:latin typeface="Times New Roman" panose="02020603050405020304" pitchFamily="18" charset="0"/>
              </a:endParaRPr>
            </a:p>
          </p:txBody>
        </p:sp>
        <p:sp>
          <p:nvSpPr>
            <p:cNvPr id="21568" name="Rectangle 11348"/>
            <p:cNvSpPr/>
            <p:nvPr/>
          </p:nvSpPr>
          <p:spPr>
            <a:xfrm>
              <a:off x="3530" y="2652"/>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1569" name="Rectangle 11349"/>
            <p:cNvSpPr/>
            <p:nvPr/>
          </p:nvSpPr>
          <p:spPr>
            <a:xfrm>
              <a:off x="3630" y="2695"/>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C8</a:t>
              </a:r>
              <a:endParaRPr lang="en-US" altLang="zh-CN" dirty="0">
                <a:solidFill>
                  <a:srgbClr val="FF0000"/>
                </a:solidFill>
                <a:latin typeface="Times New Roman" panose="02020603050405020304" pitchFamily="18" charset="0"/>
              </a:endParaRPr>
            </a:p>
          </p:txBody>
        </p:sp>
        <p:sp>
          <p:nvSpPr>
            <p:cNvPr id="21570" name="Rectangle 11350"/>
            <p:cNvSpPr/>
            <p:nvPr/>
          </p:nvSpPr>
          <p:spPr>
            <a:xfrm>
              <a:off x="2889" y="1658"/>
              <a:ext cx="653"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FF0000"/>
                  </a:solidFill>
                  <a:latin typeface="宋体" panose="02010600030101010101" pitchFamily="2" charset="-122"/>
                  <a:ea typeface="宋体" panose="02010600030101010101" pitchFamily="2" charset="-122"/>
                </a:rPr>
                <a:t>通道选择</a:t>
              </a:r>
              <a:r>
                <a:rPr lang="en-US" altLang="zh-CN" sz="18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sp>
          <p:nvSpPr>
            <p:cNvPr id="21571" name="Rectangle 11351"/>
            <p:cNvSpPr/>
            <p:nvPr/>
          </p:nvSpPr>
          <p:spPr>
            <a:xfrm>
              <a:off x="2876" y="2791"/>
              <a:ext cx="653"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FF0000"/>
                  </a:solidFill>
                  <a:latin typeface="宋体" panose="02010600030101010101" pitchFamily="2" charset="-122"/>
                  <a:ea typeface="宋体" panose="02010600030101010101" pitchFamily="2" charset="-122"/>
                </a:rPr>
                <a:t>通道选择</a:t>
              </a:r>
              <a:r>
                <a:rPr lang="en-US" altLang="zh-CN" sz="18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sp>
          <p:nvSpPr>
            <p:cNvPr id="21572" name="Rectangle 11352"/>
            <p:cNvSpPr/>
            <p:nvPr/>
          </p:nvSpPr>
          <p:spPr>
            <a:xfrm>
              <a:off x="5478" y="1084"/>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1573" name="Rectangle 11353"/>
            <p:cNvSpPr/>
            <p:nvPr/>
          </p:nvSpPr>
          <p:spPr>
            <a:xfrm>
              <a:off x="5584" y="113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21574" name="Rectangle 11354"/>
            <p:cNvSpPr/>
            <p:nvPr/>
          </p:nvSpPr>
          <p:spPr>
            <a:xfrm>
              <a:off x="3903" y="2682"/>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1575" name="Rectangle 11355"/>
            <p:cNvSpPr/>
            <p:nvPr/>
          </p:nvSpPr>
          <p:spPr>
            <a:xfrm>
              <a:off x="3997" y="2723"/>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18</a:t>
              </a:r>
              <a:endParaRPr lang="en-US" altLang="zh-CN" dirty="0">
                <a:latin typeface="Times New Roman" panose="02020603050405020304" pitchFamily="18" charset="0"/>
              </a:endParaRPr>
            </a:p>
          </p:txBody>
        </p:sp>
        <p:sp>
          <p:nvSpPr>
            <p:cNvPr id="21576" name="Rectangle 11356"/>
            <p:cNvSpPr/>
            <p:nvPr/>
          </p:nvSpPr>
          <p:spPr>
            <a:xfrm>
              <a:off x="4143" y="2504"/>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28</a:t>
              </a:r>
              <a:endParaRPr lang="en-US" altLang="zh-CN" dirty="0">
                <a:latin typeface="Times New Roman" panose="02020603050405020304" pitchFamily="18" charset="0"/>
              </a:endParaRPr>
            </a:p>
          </p:txBody>
        </p:sp>
        <p:sp>
          <p:nvSpPr>
            <p:cNvPr id="21577" name="Rectangle 11357"/>
            <p:cNvSpPr/>
            <p:nvPr/>
          </p:nvSpPr>
          <p:spPr>
            <a:xfrm>
              <a:off x="4050" y="2463"/>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1578" name="Rectangle 11358"/>
            <p:cNvSpPr/>
            <p:nvPr/>
          </p:nvSpPr>
          <p:spPr>
            <a:xfrm>
              <a:off x="4014" y="1580"/>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1579" name="Rectangle 11359"/>
            <p:cNvSpPr/>
            <p:nvPr/>
          </p:nvSpPr>
          <p:spPr>
            <a:xfrm>
              <a:off x="3917" y="1535"/>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1580" name="Rectangle 11360"/>
            <p:cNvSpPr/>
            <p:nvPr/>
          </p:nvSpPr>
          <p:spPr>
            <a:xfrm>
              <a:off x="4143" y="1371"/>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21</a:t>
              </a:r>
              <a:endParaRPr lang="en-US" altLang="zh-CN" dirty="0">
                <a:latin typeface="Times New Roman" panose="02020603050405020304" pitchFamily="18" charset="0"/>
              </a:endParaRPr>
            </a:p>
          </p:txBody>
        </p:sp>
        <p:sp>
          <p:nvSpPr>
            <p:cNvPr id="21581" name="Rectangle 11361"/>
            <p:cNvSpPr/>
            <p:nvPr/>
          </p:nvSpPr>
          <p:spPr>
            <a:xfrm>
              <a:off x="4050" y="1332"/>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1582" name="Line 11362"/>
            <p:cNvSpPr/>
            <p:nvPr/>
          </p:nvSpPr>
          <p:spPr>
            <a:xfrm flipH="1" flipV="1">
              <a:off x="4486" y="2950"/>
              <a:ext cx="58" cy="32"/>
            </a:xfrm>
            <a:prstGeom prst="line">
              <a:avLst/>
            </a:prstGeom>
            <a:ln w="0" cap="flat" cmpd="sng">
              <a:solidFill>
                <a:srgbClr val="0000FF"/>
              </a:solidFill>
              <a:prstDash val="solid"/>
              <a:headEnd type="none" w="med" len="med"/>
              <a:tailEnd type="none" w="med" len="med"/>
            </a:ln>
          </p:spPr>
        </p:sp>
        <p:sp>
          <p:nvSpPr>
            <p:cNvPr id="21583" name="Line 11363"/>
            <p:cNvSpPr/>
            <p:nvPr/>
          </p:nvSpPr>
          <p:spPr>
            <a:xfrm flipH="1" flipV="1">
              <a:off x="4504" y="1781"/>
              <a:ext cx="40" cy="68"/>
            </a:xfrm>
            <a:prstGeom prst="line">
              <a:avLst/>
            </a:prstGeom>
            <a:ln w="0" cap="flat" cmpd="sng">
              <a:solidFill>
                <a:srgbClr val="0000FF"/>
              </a:solidFill>
              <a:prstDash val="solid"/>
              <a:headEnd type="none" w="med" len="med"/>
              <a:tailEnd type="none" w="med" len="med"/>
            </a:ln>
          </p:spPr>
        </p:sp>
        <p:sp>
          <p:nvSpPr>
            <p:cNvPr id="21584" name="Line 11364"/>
            <p:cNvSpPr/>
            <p:nvPr/>
          </p:nvSpPr>
          <p:spPr>
            <a:xfrm flipH="1" flipV="1">
              <a:off x="4490" y="1808"/>
              <a:ext cx="54" cy="41"/>
            </a:xfrm>
            <a:prstGeom prst="line">
              <a:avLst/>
            </a:prstGeom>
            <a:ln w="0" cap="flat" cmpd="sng">
              <a:solidFill>
                <a:srgbClr val="0000FF"/>
              </a:solidFill>
              <a:prstDash val="solid"/>
              <a:headEnd type="none" w="med" len="med"/>
              <a:tailEnd type="none" w="med" len="med"/>
            </a:ln>
          </p:spPr>
        </p:sp>
        <p:sp>
          <p:nvSpPr>
            <p:cNvPr id="21585" name="Line 11365"/>
            <p:cNvSpPr/>
            <p:nvPr/>
          </p:nvSpPr>
          <p:spPr>
            <a:xfrm flipH="1" flipV="1">
              <a:off x="4513" y="2923"/>
              <a:ext cx="31" cy="59"/>
            </a:xfrm>
            <a:prstGeom prst="line">
              <a:avLst/>
            </a:prstGeom>
            <a:ln w="0" cap="flat" cmpd="sng">
              <a:solidFill>
                <a:srgbClr val="0000FF"/>
              </a:solidFill>
              <a:prstDash val="solid"/>
              <a:headEnd type="none" w="med" len="med"/>
              <a:tailEnd type="none" w="med" len="med"/>
            </a:ln>
          </p:spPr>
        </p:sp>
        <p:sp>
          <p:nvSpPr>
            <p:cNvPr id="21586" name="Oval 11366"/>
            <p:cNvSpPr/>
            <p:nvPr/>
          </p:nvSpPr>
          <p:spPr>
            <a:xfrm>
              <a:off x="5384" y="1166"/>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87" name="Oval 11367"/>
            <p:cNvSpPr/>
            <p:nvPr/>
          </p:nvSpPr>
          <p:spPr>
            <a:xfrm>
              <a:off x="3636" y="1166"/>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88" name="Oval 11368"/>
            <p:cNvSpPr/>
            <p:nvPr/>
          </p:nvSpPr>
          <p:spPr>
            <a:xfrm>
              <a:off x="3796" y="1494"/>
              <a:ext cx="67"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89" name="Oval 11369"/>
            <p:cNvSpPr/>
            <p:nvPr/>
          </p:nvSpPr>
          <p:spPr>
            <a:xfrm>
              <a:off x="3650" y="1712"/>
              <a:ext cx="66"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90" name="Oval 11370"/>
            <p:cNvSpPr/>
            <p:nvPr/>
          </p:nvSpPr>
          <p:spPr>
            <a:xfrm>
              <a:off x="3636" y="2299"/>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91" name="Oval 11371"/>
            <p:cNvSpPr/>
            <p:nvPr/>
          </p:nvSpPr>
          <p:spPr>
            <a:xfrm>
              <a:off x="3823" y="2627"/>
              <a:ext cx="67"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92" name="Oval 11372"/>
            <p:cNvSpPr/>
            <p:nvPr/>
          </p:nvSpPr>
          <p:spPr>
            <a:xfrm>
              <a:off x="3636" y="2845"/>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1593" name="Line 11373"/>
            <p:cNvSpPr/>
            <p:nvPr/>
          </p:nvSpPr>
          <p:spPr>
            <a:xfrm>
              <a:off x="4221" y="1524"/>
              <a:ext cx="325" cy="1"/>
            </a:xfrm>
            <a:prstGeom prst="line">
              <a:avLst/>
            </a:prstGeom>
            <a:ln w="0" cap="flat" cmpd="sng">
              <a:solidFill>
                <a:srgbClr val="0000FF"/>
              </a:solidFill>
              <a:prstDash val="solid"/>
              <a:headEnd type="none" w="med" len="med"/>
              <a:tailEnd type="none" w="med" len="med"/>
            </a:ln>
          </p:spPr>
        </p:sp>
        <p:sp>
          <p:nvSpPr>
            <p:cNvPr id="21594" name="Line 11374"/>
            <p:cNvSpPr/>
            <p:nvPr/>
          </p:nvSpPr>
          <p:spPr>
            <a:xfrm>
              <a:off x="3861" y="1524"/>
              <a:ext cx="191" cy="1"/>
            </a:xfrm>
            <a:prstGeom prst="line">
              <a:avLst/>
            </a:prstGeom>
            <a:ln w="0" cap="flat" cmpd="sng">
              <a:solidFill>
                <a:srgbClr val="0000FF"/>
              </a:solidFill>
              <a:prstDash val="solid"/>
              <a:headEnd type="none" w="med" len="med"/>
              <a:tailEnd type="none" w="med" len="med"/>
            </a:ln>
          </p:spPr>
        </p:sp>
        <p:sp>
          <p:nvSpPr>
            <p:cNvPr id="21595" name="Line 11375"/>
            <p:cNvSpPr/>
            <p:nvPr/>
          </p:nvSpPr>
          <p:spPr>
            <a:xfrm>
              <a:off x="4074" y="2873"/>
              <a:ext cx="365" cy="1"/>
            </a:xfrm>
            <a:prstGeom prst="line">
              <a:avLst/>
            </a:prstGeom>
            <a:ln w="0" cap="flat" cmpd="sng">
              <a:solidFill>
                <a:srgbClr val="0000FF"/>
              </a:solidFill>
              <a:prstDash val="solid"/>
              <a:headEnd type="none" w="med" len="med"/>
              <a:tailEnd type="none" w="med" len="med"/>
            </a:ln>
          </p:spPr>
        </p:sp>
        <p:sp>
          <p:nvSpPr>
            <p:cNvPr id="21596" name="Line 11376"/>
            <p:cNvSpPr/>
            <p:nvPr/>
          </p:nvSpPr>
          <p:spPr>
            <a:xfrm>
              <a:off x="3701" y="2877"/>
              <a:ext cx="204" cy="1"/>
            </a:xfrm>
            <a:prstGeom prst="line">
              <a:avLst/>
            </a:prstGeom>
            <a:ln w="0" cap="flat" cmpd="sng">
              <a:solidFill>
                <a:srgbClr val="0000FF"/>
              </a:solidFill>
              <a:prstDash val="solid"/>
              <a:headEnd type="none" w="med" len="med"/>
              <a:tailEnd type="none" w="med" len="med"/>
            </a:ln>
          </p:spPr>
        </p:sp>
        <p:sp>
          <p:nvSpPr>
            <p:cNvPr id="21597" name="Line 11377"/>
            <p:cNvSpPr/>
            <p:nvPr/>
          </p:nvSpPr>
          <p:spPr>
            <a:xfrm>
              <a:off x="3888" y="2659"/>
              <a:ext cx="164" cy="1"/>
            </a:xfrm>
            <a:prstGeom prst="line">
              <a:avLst/>
            </a:prstGeom>
            <a:ln w="0" cap="flat" cmpd="sng">
              <a:solidFill>
                <a:srgbClr val="0000FF"/>
              </a:solidFill>
              <a:prstDash val="solid"/>
              <a:headEnd type="none" w="med" len="med"/>
              <a:tailEnd type="none" w="med" len="med"/>
            </a:ln>
          </p:spPr>
        </p:sp>
        <p:sp>
          <p:nvSpPr>
            <p:cNvPr id="21598" name="Line 11378"/>
            <p:cNvSpPr/>
            <p:nvPr/>
          </p:nvSpPr>
          <p:spPr>
            <a:xfrm>
              <a:off x="4221" y="2659"/>
              <a:ext cx="325" cy="1"/>
            </a:xfrm>
            <a:prstGeom prst="line">
              <a:avLst/>
            </a:prstGeom>
            <a:ln w="0" cap="flat" cmpd="sng">
              <a:solidFill>
                <a:srgbClr val="0000FF"/>
              </a:solidFill>
              <a:prstDash val="solid"/>
              <a:headEnd type="none" w="med" len="med"/>
              <a:tailEnd type="none" w="med" len="med"/>
            </a:ln>
          </p:spPr>
        </p:sp>
        <p:sp>
          <p:nvSpPr>
            <p:cNvPr id="21599" name="Line 11379"/>
            <p:cNvSpPr/>
            <p:nvPr/>
          </p:nvSpPr>
          <p:spPr>
            <a:xfrm>
              <a:off x="4653" y="2331"/>
              <a:ext cx="427" cy="1"/>
            </a:xfrm>
            <a:prstGeom prst="line">
              <a:avLst/>
            </a:prstGeom>
            <a:ln w="0" cap="flat" cmpd="sng">
              <a:solidFill>
                <a:srgbClr val="0000FF"/>
              </a:solidFill>
              <a:prstDash val="solid"/>
              <a:headEnd type="none" w="med" len="med"/>
              <a:tailEnd type="none" w="med" len="med"/>
            </a:ln>
          </p:spPr>
        </p:sp>
        <p:sp>
          <p:nvSpPr>
            <p:cNvPr id="21600" name="Line 11380"/>
            <p:cNvSpPr/>
            <p:nvPr/>
          </p:nvSpPr>
          <p:spPr>
            <a:xfrm flipH="1">
              <a:off x="3701" y="2327"/>
              <a:ext cx="845" cy="1"/>
            </a:xfrm>
            <a:prstGeom prst="line">
              <a:avLst/>
            </a:prstGeom>
            <a:ln w="0" cap="flat" cmpd="sng">
              <a:solidFill>
                <a:srgbClr val="0000FF"/>
              </a:solidFill>
              <a:prstDash val="solid"/>
              <a:headEnd type="none" w="med" len="med"/>
              <a:tailEnd type="none" w="med" len="med"/>
            </a:ln>
          </p:spPr>
        </p:sp>
        <p:sp>
          <p:nvSpPr>
            <p:cNvPr id="21601" name="Line 11381"/>
            <p:cNvSpPr/>
            <p:nvPr/>
          </p:nvSpPr>
          <p:spPr>
            <a:xfrm flipH="1">
              <a:off x="3712" y="1740"/>
              <a:ext cx="193" cy="1"/>
            </a:xfrm>
            <a:prstGeom prst="line">
              <a:avLst/>
            </a:prstGeom>
            <a:ln w="0" cap="flat" cmpd="sng">
              <a:solidFill>
                <a:srgbClr val="0000FF"/>
              </a:solidFill>
              <a:prstDash val="solid"/>
              <a:headEnd type="none" w="med" len="med"/>
              <a:tailEnd type="none" w="med" len="med"/>
            </a:ln>
          </p:spPr>
        </p:sp>
        <p:sp>
          <p:nvSpPr>
            <p:cNvPr id="21602" name="Line 11382"/>
            <p:cNvSpPr/>
            <p:nvPr/>
          </p:nvSpPr>
          <p:spPr>
            <a:xfrm flipH="1">
              <a:off x="3701" y="1194"/>
              <a:ext cx="845" cy="1"/>
            </a:xfrm>
            <a:prstGeom prst="line">
              <a:avLst/>
            </a:prstGeom>
            <a:ln w="0" cap="flat" cmpd="sng">
              <a:solidFill>
                <a:srgbClr val="0000FF"/>
              </a:solidFill>
              <a:prstDash val="solid"/>
              <a:headEnd type="none" w="med" len="med"/>
              <a:tailEnd type="none" w="med" len="med"/>
            </a:ln>
          </p:spPr>
        </p:sp>
        <p:sp>
          <p:nvSpPr>
            <p:cNvPr id="21603" name="Line 11383"/>
            <p:cNvSpPr/>
            <p:nvPr/>
          </p:nvSpPr>
          <p:spPr>
            <a:xfrm>
              <a:off x="4653" y="1194"/>
              <a:ext cx="734" cy="1"/>
            </a:xfrm>
            <a:prstGeom prst="line">
              <a:avLst/>
            </a:prstGeom>
            <a:ln w="0" cap="flat" cmpd="sng">
              <a:solidFill>
                <a:srgbClr val="0000FF"/>
              </a:solidFill>
              <a:prstDash val="solid"/>
              <a:headEnd type="none" w="med" len="med"/>
              <a:tailEnd type="none" w="med" len="med"/>
            </a:ln>
          </p:spPr>
        </p:sp>
        <p:sp>
          <p:nvSpPr>
            <p:cNvPr id="21604" name="Rectangle 11384"/>
            <p:cNvSpPr/>
            <p:nvPr/>
          </p:nvSpPr>
          <p:spPr>
            <a:xfrm>
              <a:off x="3423" y="3409"/>
              <a:ext cx="1850" cy="199"/>
            </a:xfrm>
            <a:prstGeom prst="rect">
              <a:avLst/>
            </a:prstGeom>
            <a:noFill/>
            <a:ln w="9525">
              <a:noFill/>
            </a:ln>
          </p:spPr>
          <p:txBody>
            <a:bodyPr wrap="none" lIns="0" tIns="0" rIns="0" bIns="0">
              <a:spAutoFit/>
            </a:bodyPr>
            <a:p>
              <a:pPr eaLnBrk="1" hangingPunct="1">
                <a:lnSpc>
                  <a:spcPct val="90000"/>
                </a:lnSpc>
              </a:pPr>
              <a:r>
                <a:rPr lang="zh-CN" altLang="en-US" sz="2300" dirty="0">
                  <a:solidFill>
                    <a:srgbClr val="000080"/>
                  </a:solidFill>
                  <a:latin typeface="楷体_GB2312" pitchFamily="49" charset="-122"/>
                </a:rPr>
                <a:t>结型场效应管多路开关</a:t>
              </a:r>
              <a:endParaRPr lang="zh-CN" altLang="en-US" dirty="0">
                <a:latin typeface="Times New Roman" panose="02020603050405020304" pitchFamily="18" charset="0"/>
              </a:endParaRPr>
            </a:p>
          </p:txBody>
        </p:sp>
        <p:sp>
          <p:nvSpPr>
            <p:cNvPr id="21605" name="Text Box 11385"/>
            <p:cNvSpPr txBox="1"/>
            <p:nvPr/>
          </p:nvSpPr>
          <p:spPr>
            <a:xfrm>
              <a:off x="3709" y="1322"/>
              <a:ext cx="22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V</a:t>
              </a:r>
              <a:r>
                <a:rPr lang="en-US" altLang="zh-CN" sz="1800" b="0" i="1" baseline="-25000" dirty="0">
                  <a:solidFill>
                    <a:srgbClr val="0000FF"/>
                  </a:solidFill>
                  <a:latin typeface="Times New Roman" panose="02020603050405020304" pitchFamily="18" charset="0"/>
                </a:rPr>
                <a:t>DD</a:t>
              </a:r>
              <a:endParaRPr lang="en-US" altLang="zh-CN" sz="1800" b="0" i="1" baseline="-25000" dirty="0">
                <a:solidFill>
                  <a:srgbClr val="0000FF"/>
                </a:solidFill>
                <a:latin typeface="Times New Roman" panose="02020603050405020304" pitchFamily="18" charset="0"/>
              </a:endParaRPr>
            </a:p>
          </p:txBody>
        </p:sp>
        <p:sp>
          <p:nvSpPr>
            <p:cNvPr id="21606" name="Text Box 11387"/>
            <p:cNvSpPr txBox="1"/>
            <p:nvPr/>
          </p:nvSpPr>
          <p:spPr>
            <a:xfrm>
              <a:off x="3721" y="2457"/>
              <a:ext cx="22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V</a:t>
              </a:r>
              <a:r>
                <a:rPr lang="en-US" altLang="zh-CN" sz="1800" b="0" i="1" baseline="-25000" dirty="0">
                  <a:solidFill>
                    <a:srgbClr val="0000FF"/>
                  </a:solidFill>
                  <a:latin typeface="Times New Roman" panose="02020603050405020304" pitchFamily="18" charset="0"/>
                </a:rPr>
                <a:t>DD</a:t>
              </a:r>
              <a:endParaRPr lang="en-US" altLang="zh-CN" sz="1800" b="0" i="1" baseline="-25000" dirty="0">
                <a:solidFill>
                  <a:srgbClr val="0000FF"/>
                </a:solidFill>
                <a:latin typeface="Times New Roman" panose="02020603050405020304" pitchFamily="18" charset="0"/>
              </a:endParaRPr>
            </a:p>
          </p:txBody>
        </p:sp>
      </p:grpSp>
      <p:sp>
        <p:nvSpPr>
          <p:cNvPr id="21517" name="Text Box 3"/>
          <p:cNvSpPr txBox="1"/>
          <p:nvPr/>
        </p:nvSpPr>
        <p:spPr>
          <a:xfrm>
            <a:off x="268288" y="763588"/>
            <a:ext cx="45323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
        <p:nvSpPr>
          <p:cNvPr id="13420" name="Text Box 3"/>
          <p:cNvSpPr txBox="1"/>
          <p:nvPr/>
        </p:nvSpPr>
        <p:spPr>
          <a:xfrm>
            <a:off x="4968875" y="885825"/>
            <a:ext cx="3727450" cy="457200"/>
          </a:xfrm>
          <a:prstGeom prst="rect">
            <a:avLst/>
          </a:prstGeom>
          <a:noFill/>
          <a:ln w="9525">
            <a:noFill/>
          </a:ln>
        </p:spPr>
        <p:txBody>
          <a:bodyPr>
            <a:spAutoFit/>
          </a:bodyPr>
          <a:p>
            <a:pPr marL="457200" indent="-457200" algn="ctr" eaLnBrk="1" hangingPunct="1"/>
            <a:r>
              <a:rPr lang="en-US" altLang="zh-CN" sz="2400" dirty="0">
                <a:solidFill>
                  <a:srgbClr val="FF0000"/>
                </a:solidFill>
                <a:latin typeface="黑体" panose="02010609060101010101" pitchFamily="49" charset="-122"/>
                <a:ea typeface="黑体" panose="02010609060101010101" pitchFamily="49" charset="-122"/>
              </a:rPr>
              <a:t>P</a:t>
            </a:r>
            <a:r>
              <a:rPr lang="zh-CN" altLang="en-US" sz="2400" dirty="0">
                <a:solidFill>
                  <a:srgbClr val="FF0000"/>
                </a:solidFill>
                <a:latin typeface="黑体" panose="02010609060101010101" pitchFamily="49" charset="-122"/>
                <a:ea typeface="黑体" panose="02010609060101010101" pitchFamily="49" charset="-122"/>
              </a:rPr>
              <a:t>沟道</a:t>
            </a:r>
            <a:r>
              <a:rPr lang="en-US" altLang="zh-CN" sz="2400" dirty="0">
                <a:solidFill>
                  <a:srgbClr val="FF0000"/>
                </a:solidFill>
                <a:latin typeface="黑体" panose="02010609060101010101" pitchFamily="49" charset="-122"/>
                <a:ea typeface="黑体" panose="02010609060101010101" pitchFamily="49" charset="-122"/>
              </a:rPr>
              <a:t>JFET</a:t>
            </a:r>
            <a:endParaRPr lang="en-US" altLang="zh-CN" sz="2400"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7695"/>
                                        </p:tgtEl>
                                        <p:attrNameLst>
                                          <p:attrName>style.visibility</p:attrName>
                                        </p:attrNameLst>
                                      </p:cBhvr>
                                      <p:to>
                                        <p:strVal val="visible"/>
                                      </p:to>
                                    </p:set>
                                    <p:animEffect transition="in" filter="dissolve">
                                      <p:cBhvr>
                                        <p:cTn id="7" dur="500"/>
                                        <p:tgtEl>
                                          <p:spTgt spid="22476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7697"/>
                                        </p:tgtEl>
                                        <p:attrNameLst>
                                          <p:attrName>style.visibility</p:attrName>
                                        </p:attrNameLst>
                                      </p:cBhvr>
                                      <p:to>
                                        <p:strVal val="visible"/>
                                      </p:to>
                                    </p:set>
                                    <p:animEffect transition="in" filter="dissolve">
                                      <p:cBhvr>
                                        <p:cTn id="12" dur="500"/>
                                        <p:tgtEl>
                                          <p:spTgt spid="224769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7804"/>
                                        </p:tgtEl>
                                        <p:attrNameLst>
                                          <p:attrName>style.visibility</p:attrName>
                                        </p:attrNameLst>
                                      </p:cBhvr>
                                      <p:to>
                                        <p:strVal val="visible"/>
                                      </p:to>
                                    </p:set>
                                    <p:animEffect transition="in" filter="dissolve">
                                      <p:cBhvr>
                                        <p:cTn id="17" dur="500"/>
                                        <p:tgtEl>
                                          <p:spTgt spid="2247804"/>
                                        </p:tgtEl>
                                      </p:cBhvr>
                                    </p:animEffect>
                                  </p:childTnLst>
                                </p:cTn>
                              </p:par>
                            </p:childTnLst>
                          </p:cTn>
                        </p:par>
                      </p:childTnLst>
                    </p:cTn>
                  </p:par>
                  <p:par>
                    <p:cTn id="18" fill="hold">
                      <p:stCondLst>
                        <p:cond delay="indefinite"/>
                      </p:stCondLst>
                      <p:childTnLst>
                        <p:par>
                          <p:cTn id="19" fill="hold">
                            <p:stCondLst>
                              <p:cond delay="0"/>
                            </p:stCondLst>
                            <p:childTnLst>
                              <p:par>
                                <p:cTn id="20" presetID="55" presetClass="entr" presetSubtype="0" fill="hold" nodeType="clickEffect">
                                  <p:stCondLst>
                                    <p:cond delay="0"/>
                                  </p:stCondLst>
                                  <p:childTnLst>
                                    <p:set>
                                      <p:cBhvr>
                                        <p:cTn id="21" dur="1" fill="hold">
                                          <p:stCondLst>
                                            <p:cond delay="0"/>
                                          </p:stCondLst>
                                        </p:cTn>
                                        <p:tgtEl>
                                          <p:spTgt spid="13420"/>
                                        </p:tgtEl>
                                        <p:attrNameLst>
                                          <p:attrName>style.visibility</p:attrName>
                                        </p:attrNameLst>
                                      </p:cBhvr>
                                      <p:to>
                                        <p:strVal val="visible"/>
                                      </p:to>
                                    </p:set>
                                    <p:anim calcmode="lin" valueType="num">
                                      <p:cBhvr>
                                        <p:cTn id="22" dur="500" fill="hold"/>
                                        <p:tgtEl>
                                          <p:spTgt spid="13420"/>
                                        </p:tgtEl>
                                        <p:attrNameLst>
                                          <p:attrName>ppt_w</p:attrName>
                                        </p:attrNameLst>
                                      </p:cBhvr>
                                      <p:tavLst>
                                        <p:tav tm="0">
                                          <p:val>
                                            <p:strVal val="#ppt_w*0.70"/>
                                          </p:val>
                                        </p:tav>
                                        <p:tav tm="100000">
                                          <p:val>
                                            <p:strVal val="#ppt_w"/>
                                          </p:val>
                                        </p:tav>
                                      </p:tavLst>
                                    </p:anim>
                                    <p:anim calcmode="lin" valueType="num">
                                      <p:cBhvr>
                                        <p:cTn id="23" dur="500" fill="hold"/>
                                        <p:tgtEl>
                                          <p:spTgt spid="13420"/>
                                        </p:tgtEl>
                                        <p:attrNameLst>
                                          <p:attrName>ppt_h</p:attrName>
                                        </p:attrNameLst>
                                      </p:cBhvr>
                                      <p:tavLst>
                                        <p:tav tm="0">
                                          <p:val>
                                            <p:strVal val="#ppt_h"/>
                                          </p:val>
                                        </p:tav>
                                        <p:tav tm="100000">
                                          <p:val>
                                            <p:strVal val="#ppt_h"/>
                                          </p:val>
                                        </p:tav>
                                      </p:tavLst>
                                    </p:anim>
                                    <p:animEffect transition="in" filter="fade">
                                      <p:cBhvr>
                                        <p:cTn id="24" dur="500"/>
                                        <p:tgtEl>
                                          <p:spTgt spid="13420"/>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247700"/>
                                        </p:tgtEl>
                                        <p:attrNameLst>
                                          <p:attrName>style.visibility</p:attrName>
                                        </p:attrNameLst>
                                      </p:cBhvr>
                                      <p:to>
                                        <p:strVal val="visible"/>
                                      </p:to>
                                    </p:set>
                                    <p:animEffect transition="in" filter="dissolve">
                                      <p:cBhvr>
                                        <p:cTn id="29" dur="500"/>
                                        <p:tgtEl>
                                          <p:spTgt spid="2247700"/>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247707"/>
                                        </p:tgtEl>
                                        <p:attrNameLst>
                                          <p:attrName>style.visibility</p:attrName>
                                        </p:attrNameLst>
                                      </p:cBhvr>
                                      <p:to>
                                        <p:strVal val="visible"/>
                                      </p:to>
                                    </p:set>
                                    <p:animEffect transition="in" filter="dissolve">
                                      <p:cBhvr>
                                        <p:cTn id="34" dur="500"/>
                                        <p:tgtEl>
                                          <p:spTgt spid="2247707"/>
                                        </p:tgtEl>
                                      </p:cBhvr>
                                    </p:animEffect>
                                  </p:childTnLst>
                                </p:cTn>
                              </p:par>
                              <p:par>
                                <p:cTn id="35" presetID="9" presetClass="entr" presetSubtype="0" fill="hold" nodeType="withEffect">
                                  <p:stCondLst>
                                    <p:cond delay="0"/>
                                  </p:stCondLst>
                                  <p:childTnLst>
                                    <p:set>
                                      <p:cBhvr>
                                        <p:cTn id="36" dur="1" fill="hold">
                                          <p:stCondLst>
                                            <p:cond delay="0"/>
                                          </p:stCondLst>
                                        </p:cTn>
                                        <p:tgtEl>
                                          <p:spTgt spid="2247701"/>
                                        </p:tgtEl>
                                        <p:attrNameLst>
                                          <p:attrName>style.visibility</p:attrName>
                                        </p:attrNameLst>
                                      </p:cBhvr>
                                      <p:to>
                                        <p:strVal val="visible"/>
                                      </p:to>
                                    </p:set>
                                    <p:animEffect transition="in" filter="dissolve">
                                      <p:cBhvr>
                                        <p:cTn id="37" dur="500"/>
                                        <p:tgtEl>
                                          <p:spTgt spid="224770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247708"/>
                                        </p:tgtEl>
                                        <p:attrNameLst>
                                          <p:attrName>style.visibility</p:attrName>
                                        </p:attrNameLst>
                                      </p:cBhvr>
                                      <p:to>
                                        <p:strVal val="visible"/>
                                      </p:to>
                                    </p:set>
                                    <p:animEffect transition="in" filter="dissolve">
                                      <p:cBhvr>
                                        <p:cTn id="42" dur="500"/>
                                        <p:tgtEl>
                                          <p:spTgt spid="2247708"/>
                                        </p:tgtEl>
                                      </p:cBhvr>
                                    </p:animEffect>
                                  </p:childTnLst>
                                </p:cTn>
                              </p:par>
                              <p:par>
                                <p:cTn id="43" presetID="9" presetClass="entr" presetSubtype="0" fill="hold" nodeType="withEffect">
                                  <p:stCondLst>
                                    <p:cond delay="0"/>
                                  </p:stCondLst>
                                  <p:childTnLst>
                                    <p:set>
                                      <p:cBhvr>
                                        <p:cTn id="44" dur="1" fill="hold">
                                          <p:stCondLst>
                                            <p:cond delay="0"/>
                                          </p:stCondLst>
                                        </p:cTn>
                                        <p:tgtEl>
                                          <p:spTgt spid="2247703"/>
                                        </p:tgtEl>
                                        <p:attrNameLst>
                                          <p:attrName>style.visibility</p:attrName>
                                        </p:attrNameLst>
                                      </p:cBhvr>
                                      <p:to>
                                        <p:strVal val="visible"/>
                                      </p:to>
                                    </p:set>
                                    <p:animEffect transition="in" filter="dissolve">
                                      <p:cBhvr>
                                        <p:cTn id="45" dur="500"/>
                                        <p:tgtEl>
                                          <p:spTgt spid="2247703"/>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247709"/>
                                        </p:tgtEl>
                                        <p:attrNameLst>
                                          <p:attrName>style.visibility</p:attrName>
                                        </p:attrNameLst>
                                      </p:cBhvr>
                                      <p:to>
                                        <p:strVal val="visible"/>
                                      </p:to>
                                    </p:set>
                                    <p:animEffect transition="in" filter="dissolve">
                                      <p:cBhvr>
                                        <p:cTn id="50" dur="500"/>
                                        <p:tgtEl>
                                          <p:spTgt spid="2247709"/>
                                        </p:tgtEl>
                                      </p:cBhvr>
                                    </p:animEffect>
                                  </p:childTnLst>
                                </p:cTn>
                              </p:par>
                              <p:par>
                                <p:cTn id="51" presetID="9" presetClass="entr" presetSubtype="0" fill="hold" nodeType="withEffect">
                                  <p:stCondLst>
                                    <p:cond delay="0"/>
                                  </p:stCondLst>
                                  <p:childTnLst>
                                    <p:set>
                                      <p:cBhvr>
                                        <p:cTn id="52" dur="1" fill="hold">
                                          <p:stCondLst>
                                            <p:cond delay="0"/>
                                          </p:stCondLst>
                                        </p:cTn>
                                        <p:tgtEl>
                                          <p:spTgt spid="2247706"/>
                                        </p:tgtEl>
                                        <p:attrNameLst>
                                          <p:attrName>style.visibility</p:attrName>
                                        </p:attrNameLst>
                                      </p:cBhvr>
                                      <p:to>
                                        <p:strVal val="visible"/>
                                      </p:to>
                                    </p:set>
                                    <p:animEffect transition="in" filter="dissolve">
                                      <p:cBhvr>
                                        <p:cTn id="53" dur="500"/>
                                        <p:tgtEl>
                                          <p:spTgt spid="22477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7695" grpId="0" animBg="1"/>
      <p:bldP spid="2247697" grpId="0"/>
      <p:bldP spid="2247700" grpId="0"/>
      <p:bldP spid="2247701" grpId="0"/>
      <p:bldP spid="2247703" grpId="0"/>
      <p:bldP spid="2247706" grpId="0"/>
      <p:bldP spid="2247707" grpId="0"/>
      <p:bldP spid="2247708" grpId="0"/>
      <p:bldP spid="2247709" grpId="0"/>
      <p:bldP spid="13420"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0" name="Text Box 2"/>
          <p:cNvSpPr txBox="1"/>
          <p:nvPr/>
        </p:nvSpPr>
        <p:spPr>
          <a:xfrm>
            <a:off x="525463" y="1528763"/>
            <a:ext cx="3017837"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2.</a:t>
            </a:r>
            <a:r>
              <a:rPr lang="zh-CN" altLang="en-US" sz="2800" dirty="0">
                <a:solidFill>
                  <a:schemeClr val="tx1"/>
                </a:solidFill>
                <a:latin typeface="Times New Roman" panose="02020603050405020304" pitchFamily="18" charset="0"/>
                <a:ea typeface="黑体" panose="02010609060101010101" pitchFamily="49" charset="-122"/>
              </a:rPr>
              <a:t>场效应管开关 </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2531" name="Text Box 3"/>
          <p:cNvSpPr txBox="1"/>
          <p:nvPr/>
        </p:nvSpPr>
        <p:spPr>
          <a:xfrm>
            <a:off x="339725" y="2103438"/>
            <a:ext cx="3727450" cy="519112"/>
          </a:xfrm>
          <a:prstGeom prst="rect">
            <a:avLst/>
          </a:prstGeom>
          <a:noFill/>
          <a:ln w="9525">
            <a:noFill/>
          </a:ln>
        </p:spPr>
        <p:txBody>
          <a:bodyPr>
            <a:spAutoFit/>
          </a:bodyPr>
          <a:p>
            <a:pPr marL="457200" indent="-457200" eaLnBrk="1" hangingPunct="1">
              <a:buAutoNum type="circleNumDbPlain"/>
            </a:pPr>
            <a:r>
              <a:rPr lang="zh-CN" altLang="en-US" sz="2800" dirty="0">
                <a:solidFill>
                  <a:srgbClr val="000099"/>
                </a:solidFill>
                <a:latin typeface="楷体_GB2312" pitchFamily="49" charset="-122"/>
              </a:rPr>
              <a:t>结型场效应管开关</a:t>
            </a:r>
            <a:endParaRPr lang="zh-CN" altLang="en-US" sz="2800" dirty="0">
              <a:solidFill>
                <a:srgbClr val="000099"/>
              </a:solidFill>
              <a:latin typeface="楷体_GB2312" pitchFamily="49" charset="-122"/>
            </a:endParaRPr>
          </a:p>
        </p:txBody>
      </p:sp>
      <p:sp>
        <p:nvSpPr>
          <p:cNvPr id="2397191" name="Text Box 7"/>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2533" name="Group 13"/>
          <p:cNvGrpSpPr/>
          <p:nvPr/>
        </p:nvGrpSpPr>
        <p:grpSpPr>
          <a:xfrm>
            <a:off x="4537075" y="1519238"/>
            <a:ext cx="4525963" cy="4356100"/>
            <a:chOff x="2858" y="957"/>
            <a:chExt cx="2851" cy="2744"/>
          </a:xfrm>
        </p:grpSpPr>
        <p:sp>
          <p:nvSpPr>
            <p:cNvPr id="22540" name="AutoShape 14"/>
            <p:cNvSpPr>
              <a:spLocks noChangeAspect="1" noTextEdit="1"/>
            </p:cNvSpPr>
            <p:nvPr/>
          </p:nvSpPr>
          <p:spPr>
            <a:xfrm>
              <a:off x="2858" y="957"/>
              <a:ext cx="2851" cy="2744"/>
            </a:xfrm>
            <a:prstGeom prst="rect">
              <a:avLst/>
            </a:prstGeom>
            <a:solidFill>
              <a:srgbClr val="FFFF99"/>
            </a:solidFill>
            <a:ln w="9525">
              <a:noFill/>
            </a:ln>
          </p:spPr>
          <p:txBody>
            <a:bodyPr/>
            <a:p>
              <a:endParaRPr lang="zh-CN" altLang="en-US"/>
            </a:p>
          </p:txBody>
        </p:sp>
        <p:sp>
          <p:nvSpPr>
            <p:cNvPr id="22541" name="Line 15"/>
            <p:cNvSpPr/>
            <p:nvPr/>
          </p:nvSpPr>
          <p:spPr>
            <a:xfrm>
              <a:off x="4544" y="1194"/>
              <a:ext cx="1" cy="109"/>
            </a:xfrm>
            <a:prstGeom prst="line">
              <a:avLst/>
            </a:prstGeom>
            <a:ln w="0" cap="flat" cmpd="sng">
              <a:solidFill>
                <a:srgbClr val="0000FF"/>
              </a:solidFill>
              <a:prstDash val="solid"/>
              <a:headEnd type="none" w="med" len="med"/>
              <a:tailEnd type="none" w="med" len="med"/>
            </a:ln>
          </p:spPr>
        </p:sp>
        <p:sp>
          <p:nvSpPr>
            <p:cNvPr id="22542" name="Line 16"/>
            <p:cNvSpPr/>
            <p:nvPr/>
          </p:nvSpPr>
          <p:spPr>
            <a:xfrm>
              <a:off x="4464" y="1303"/>
              <a:ext cx="280" cy="1"/>
            </a:xfrm>
            <a:prstGeom prst="line">
              <a:avLst/>
            </a:prstGeom>
            <a:ln w="0" cap="flat" cmpd="sng">
              <a:solidFill>
                <a:srgbClr val="0000FF"/>
              </a:solidFill>
              <a:prstDash val="solid"/>
              <a:headEnd type="none" w="med" len="med"/>
              <a:tailEnd type="none" w="med" len="med"/>
            </a:ln>
          </p:spPr>
        </p:sp>
        <p:sp>
          <p:nvSpPr>
            <p:cNvPr id="22543" name="Line 17"/>
            <p:cNvSpPr/>
            <p:nvPr/>
          </p:nvSpPr>
          <p:spPr>
            <a:xfrm flipV="1">
              <a:off x="4650" y="1194"/>
              <a:ext cx="1" cy="109"/>
            </a:xfrm>
            <a:prstGeom prst="line">
              <a:avLst/>
            </a:prstGeom>
            <a:ln w="0" cap="flat" cmpd="sng">
              <a:solidFill>
                <a:srgbClr val="0000FF"/>
              </a:solidFill>
              <a:prstDash val="solid"/>
              <a:headEnd type="none" w="med" len="med"/>
              <a:tailEnd type="none" w="med" len="med"/>
            </a:ln>
          </p:spPr>
        </p:sp>
        <p:sp>
          <p:nvSpPr>
            <p:cNvPr id="22544" name="Line 18"/>
            <p:cNvSpPr/>
            <p:nvPr/>
          </p:nvSpPr>
          <p:spPr>
            <a:xfrm>
              <a:off x="4544" y="1303"/>
              <a:ext cx="1" cy="177"/>
            </a:xfrm>
            <a:prstGeom prst="line">
              <a:avLst/>
            </a:prstGeom>
            <a:ln w="0" cap="flat" cmpd="sng">
              <a:solidFill>
                <a:srgbClr val="0000FF"/>
              </a:solidFill>
              <a:prstDash val="solid"/>
              <a:headEnd type="none" w="med" len="med"/>
              <a:tailEnd type="none" w="med" len="med"/>
            </a:ln>
          </p:spPr>
        </p:sp>
        <p:sp>
          <p:nvSpPr>
            <p:cNvPr id="22545" name="Line 19"/>
            <p:cNvSpPr/>
            <p:nvPr/>
          </p:nvSpPr>
          <p:spPr>
            <a:xfrm flipV="1">
              <a:off x="4544" y="1371"/>
              <a:ext cx="26" cy="96"/>
            </a:xfrm>
            <a:prstGeom prst="line">
              <a:avLst/>
            </a:prstGeom>
            <a:ln w="0" cap="flat" cmpd="sng">
              <a:solidFill>
                <a:srgbClr val="0000FF"/>
              </a:solidFill>
              <a:prstDash val="solid"/>
              <a:headEnd type="none" w="med" len="med"/>
              <a:tailEnd type="none" w="med" len="med"/>
            </a:ln>
          </p:spPr>
        </p:sp>
        <p:sp>
          <p:nvSpPr>
            <p:cNvPr id="22546" name="Line 20"/>
            <p:cNvSpPr/>
            <p:nvPr/>
          </p:nvSpPr>
          <p:spPr>
            <a:xfrm flipH="1" flipV="1">
              <a:off x="4517" y="1371"/>
              <a:ext cx="27" cy="96"/>
            </a:xfrm>
            <a:prstGeom prst="line">
              <a:avLst/>
            </a:prstGeom>
            <a:ln w="0" cap="flat" cmpd="sng">
              <a:solidFill>
                <a:srgbClr val="0000FF"/>
              </a:solidFill>
              <a:prstDash val="solid"/>
              <a:headEnd type="none" w="med" len="med"/>
              <a:tailEnd type="none" w="med" len="med"/>
            </a:ln>
          </p:spPr>
        </p:sp>
        <p:sp>
          <p:nvSpPr>
            <p:cNvPr id="22547" name="Line 21"/>
            <p:cNvSpPr/>
            <p:nvPr/>
          </p:nvSpPr>
          <p:spPr>
            <a:xfrm>
              <a:off x="4544" y="1480"/>
              <a:ext cx="1" cy="150"/>
            </a:xfrm>
            <a:prstGeom prst="line">
              <a:avLst/>
            </a:prstGeom>
            <a:ln w="0" cap="flat" cmpd="sng">
              <a:solidFill>
                <a:srgbClr val="0000FF"/>
              </a:solidFill>
              <a:prstDash val="solid"/>
              <a:headEnd type="none" w="med" len="med"/>
              <a:tailEnd type="none" w="med" len="med"/>
            </a:ln>
          </p:spPr>
        </p:sp>
        <p:sp>
          <p:nvSpPr>
            <p:cNvPr id="22548" name="Line 22"/>
            <p:cNvSpPr/>
            <p:nvPr/>
          </p:nvSpPr>
          <p:spPr>
            <a:xfrm flipH="1">
              <a:off x="4437" y="1630"/>
              <a:ext cx="107" cy="110"/>
            </a:xfrm>
            <a:prstGeom prst="line">
              <a:avLst/>
            </a:prstGeom>
            <a:ln w="0" cap="flat" cmpd="sng">
              <a:solidFill>
                <a:srgbClr val="0000FF"/>
              </a:solidFill>
              <a:prstDash val="solid"/>
              <a:headEnd type="none" w="med" len="med"/>
              <a:tailEnd type="none" w="med" len="med"/>
            </a:ln>
          </p:spPr>
        </p:sp>
        <p:sp>
          <p:nvSpPr>
            <p:cNvPr id="22549" name="Line 23"/>
            <p:cNvSpPr/>
            <p:nvPr/>
          </p:nvSpPr>
          <p:spPr>
            <a:xfrm>
              <a:off x="4437" y="1740"/>
              <a:ext cx="107" cy="109"/>
            </a:xfrm>
            <a:prstGeom prst="line">
              <a:avLst/>
            </a:prstGeom>
            <a:ln w="0" cap="flat" cmpd="sng">
              <a:solidFill>
                <a:srgbClr val="0000FF"/>
              </a:solidFill>
              <a:prstDash val="solid"/>
              <a:headEnd type="none" w="med" len="med"/>
              <a:tailEnd type="none" w="med" len="med"/>
            </a:ln>
          </p:spPr>
        </p:sp>
        <p:sp>
          <p:nvSpPr>
            <p:cNvPr id="22550" name="Line 24"/>
            <p:cNvSpPr/>
            <p:nvPr/>
          </p:nvSpPr>
          <p:spPr>
            <a:xfrm>
              <a:off x="4437" y="1630"/>
              <a:ext cx="1" cy="219"/>
            </a:xfrm>
            <a:prstGeom prst="line">
              <a:avLst/>
            </a:prstGeom>
            <a:ln w="0" cap="flat" cmpd="sng">
              <a:solidFill>
                <a:srgbClr val="0000FF"/>
              </a:solidFill>
              <a:prstDash val="solid"/>
              <a:headEnd type="none" w="med" len="med"/>
              <a:tailEnd type="none" w="med" len="med"/>
            </a:ln>
          </p:spPr>
        </p:sp>
        <p:sp>
          <p:nvSpPr>
            <p:cNvPr id="22551" name="Rectangle 25"/>
            <p:cNvSpPr/>
            <p:nvPr/>
          </p:nvSpPr>
          <p:spPr>
            <a:xfrm>
              <a:off x="4050" y="1494"/>
              <a:ext cx="173" cy="68"/>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552" name="Rectangle 26"/>
            <p:cNvSpPr/>
            <p:nvPr/>
          </p:nvSpPr>
          <p:spPr>
            <a:xfrm>
              <a:off x="3903" y="1712"/>
              <a:ext cx="174"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553" name="Line 27"/>
            <p:cNvSpPr/>
            <p:nvPr/>
          </p:nvSpPr>
          <p:spPr>
            <a:xfrm flipH="1">
              <a:off x="4070" y="1740"/>
              <a:ext cx="367" cy="1"/>
            </a:xfrm>
            <a:prstGeom prst="line">
              <a:avLst/>
            </a:prstGeom>
            <a:ln w="0" cap="flat" cmpd="sng">
              <a:solidFill>
                <a:srgbClr val="0000FF"/>
              </a:solidFill>
              <a:prstDash val="solid"/>
              <a:headEnd type="none" w="med" len="med"/>
              <a:tailEnd type="none" w="med" len="med"/>
            </a:ln>
          </p:spPr>
        </p:sp>
        <p:sp>
          <p:nvSpPr>
            <p:cNvPr id="22554" name="Line 28"/>
            <p:cNvSpPr/>
            <p:nvPr/>
          </p:nvSpPr>
          <p:spPr>
            <a:xfrm>
              <a:off x="4544" y="1849"/>
              <a:ext cx="1" cy="218"/>
            </a:xfrm>
            <a:prstGeom prst="line">
              <a:avLst/>
            </a:prstGeom>
            <a:ln w="0" cap="flat" cmpd="sng">
              <a:solidFill>
                <a:srgbClr val="0000FF"/>
              </a:solidFill>
              <a:prstDash val="solid"/>
              <a:headEnd type="none" w="med" len="med"/>
              <a:tailEnd type="none" w="med" len="med"/>
            </a:ln>
          </p:spPr>
        </p:sp>
        <p:sp>
          <p:nvSpPr>
            <p:cNvPr id="22555" name="Line 29"/>
            <p:cNvSpPr/>
            <p:nvPr/>
          </p:nvSpPr>
          <p:spPr>
            <a:xfrm>
              <a:off x="4477" y="2067"/>
              <a:ext cx="147" cy="1"/>
            </a:xfrm>
            <a:prstGeom prst="line">
              <a:avLst/>
            </a:prstGeom>
            <a:ln w="0" cap="flat" cmpd="sng">
              <a:solidFill>
                <a:srgbClr val="0000FF"/>
              </a:solidFill>
              <a:prstDash val="solid"/>
              <a:headEnd type="none" w="med" len="med"/>
              <a:tailEnd type="none" w="med" len="med"/>
            </a:ln>
          </p:spPr>
        </p:sp>
        <p:sp>
          <p:nvSpPr>
            <p:cNvPr id="22556" name="Line 30"/>
            <p:cNvSpPr/>
            <p:nvPr/>
          </p:nvSpPr>
          <p:spPr>
            <a:xfrm>
              <a:off x="5077" y="1194"/>
              <a:ext cx="1" cy="436"/>
            </a:xfrm>
            <a:prstGeom prst="line">
              <a:avLst/>
            </a:prstGeom>
            <a:ln w="0" cap="flat" cmpd="sng">
              <a:solidFill>
                <a:srgbClr val="0000FF"/>
              </a:solidFill>
              <a:prstDash val="solid"/>
              <a:headEnd type="none" w="med" len="med"/>
              <a:tailEnd type="none" w="med" len="med"/>
            </a:ln>
          </p:spPr>
        </p:sp>
        <p:sp>
          <p:nvSpPr>
            <p:cNvPr id="22557" name="Line 31"/>
            <p:cNvSpPr/>
            <p:nvPr/>
          </p:nvSpPr>
          <p:spPr>
            <a:xfrm>
              <a:off x="4544" y="2327"/>
              <a:ext cx="1" cy="109"/>
            </a:xfrm>
            <a:prstGeom prst="line">
              <a:avLst/>
            </a:prstGeom>
            <a:ln w="0" cap="flat" cmpd="sng">
              <a:solidFill>
                <a:srgbClr val="0000FF"/>
              </a:solidFill>
              <a:prstDash val="solid"/>
              <a:headEnd type="none" w="med" len="med"/>
              <a:tailEnd type="none" w="med" len="med"/>
            </a:ln>
          </p:spPr>
        </p:sp>
        <p:sp>
          <p:nvSpPr>
            <p:cNvPr id="22558" name="Line 32"/>
            <p:cNvSpPr/>
            <p:nvPr/>
          </p:nvSpPr>
          <p:spPr>
            <a:xfrm>
              <a:off x="4464" y="2436"/>
              <a:ext cx="280" cy="1"/>
            </a:xfrm>
            <a:prstGeom prst="line">
              <a:avLst/>
            </a:prstGeom>
            <a:ln w="0" cap="flat" cmpd="sng">
              <a:solidFill>
                <a:srgbClr val="0000FF"/>
              </a:solidFill>
              <a:prstDash val="solid"/>
              <a:headEnd type="none" w="med" len="med"/>
              <a:tailEnd type="none" w="med" len="med"/>
            </a:ln>
          </p:spPr>
        </p:sp>
        <p:sp>
          <p:nvSpPr>
            <p:cNvPr id="22559" name="Line 33"/>
            <p:cNvSpPr/>
            <p:nvPr/>
          </p:nvSpPr>
          <p:spPr>
            <a:xfrm flipV="1">
              <a:off x="4650" y="2327"/>
              <a:ext cx="1" cy="109"/>
            </a:xfrm>
            <a:prstGeom prst="line">
              <a:avLst/>
            </a:prstGeom>
            <a:ln w="0" cap="flat" cmpd="sng">
              <a:solidFill>
                <a:srgbClr val="0000FF"/>
              </a:solidFill>
              <a:prstDash val="solid"/>
              <a:headEnd type="none" w="med" len="med"/>
              <a:tailEnd type="none" w="med" len="med"/>
            </a:ln>
          </p:spPr>
        </p:sp>
        <p:sp>
          <p:nvSpPr>
            <p:cNvPr id="22560" name="Line 34"/>
            <p:cNvSpPr/>
            <p:nvPr/>
          </p:nvSpPr>
          <p:spPr>
            <a:xfrm>
              <a:off x="4544" y="2436"/>
              <a:ext cx="1" cy="177"/>
            </a:xfrm>
            <a:prstGeom prst="line">
              <a:avLst/>
            </a:prstGeom>
            <a:ln w="0" cap="flat" cmpd="sng">
              <a:solidFill>
                <a:srgbClr val="0000FF"/>
              </a:solidFill>
              <a:prstDash val="solid"/>
              <a:headEnd type="none" w="med" len="med"/>
              <a:tailEnd type="none" w="med" len="med"/>
            </a:ln>
          </p:spPr>
        </p:sp>
        <p:sp>
          <p:nvSpPr>
            <p:cNvPr id="22561" name="Line 35"/>
            <p:cNvSpPr/>
            <p:nvPr/>
          </p:nvSpPr>
          <p:spPr>
            <a:xfrm flipV="1">
              <a:off x="4544" y="2504"/>
              <a:ext cx="26" cy="96"/>
            </a:xfrm>
            <a:prstGeom prst="line">
              <a:avLst/>
            </a:prstGeom>
            <a:ln w="0" cap="flat" cmpd="sng">
              <a:solidFill>
                <a:srgbClr val="0000FF"/>
              </a:solidFill>
              <a:prstDash val="solid"/>
              <a:headEnd type="none" w="med" len="med"/>
              <a:tailEnd type="none" w="med" len="med"/>
            </a:ln>
          </p:spPr>
        </p:sp>
        <p:sp>
          <p:nvSpPr>
            <p:cNvPr id="22562" name="Line 36"/>
            <p:cNvSpPr/>
            <p:nvPr/>
          </p:nvSpPr>
          <p:spPr>
            <a:xfrm flipH="1" flipV="1">
              <a:off x="4517" y="2504"/>
              <a:ext cx="27" cy="96"/>
            </a:xfrm>
            <a:prstGeom prst="line">
              <a:avLst/>
            </a:prstGeom>
            <a:ln w="0" cap="flat" cmpd="sng">
              <a:solidFill>
                <a:srgbClr val="0000FF"/>
              </a:solidFill>
              <a:prstDash val="solid"/>
              <a:headEnd type="none" w="med" len="med"/>
              <a:tailEnd type="none" w="med" len="med"/>
            </a:ln>
          </p:spPr>
        </p:sp>
        <p:sp>
          <p:nvSpPr>
            <p:cNvPr id="22563" name="Line 37"/>
            <p:cNvSpPr/>
            <p:nvPr/>
          </p:nvSpPr>
          <p:spPr>
            <a:xfrm>
              <a:off x="4544" y="2613"/>
              <a:ext cx="1" cy="151"/>
            </a:xfrm>
            <a:prstGeom prst="line">
              <a:avLst/>
            </a:prstGeom>
            <a:ln w="0" cap="flat" cmpd="sng">
              <a:solidFill>
                <a:srgbClr val="0000FF"/>
              </a:solidFill>
              <a:prstDash val="solid"/>
              <a:headEnd type="none" w="med" len="med"/>
              <a:tailEnd type="none" w="med" len="med"/>
            </a:ln>
          </p:spPr>
        </p:sp>
        <p:sp>
          <p:nvSpPr>
            <p:cNvPr id="22564" name="Line 38"/>
            <p:cNvSpPr/>
            <p:nvPr/>
          </p:nvSpPr>
          <p:spPr>
            <a:xfrm flipH="1">
              <a:off x="4437" y="2764"/>
              <a:ext cx="107" cy="109"/>
            </a:xfrm>
            <a:prstGeom prst="line">
              <a:avLst/>
            </a:prstGeom>
            <a:ln w="0" cap="flat" cmpd="sng">
              <a:solidFill>
                <a:srgbClr val="0000FF"/>
              </a:solidFill>
              <a:prstDash val="solid"/>
              <a:headEnd type="none" w="med" len="med"/>
              <a:tailEnd type="none" w="med" len="med"/>
            </a:ln>
          </p:spPr>
        </p:sp>
        <p:sp>
          <p:nvSpPr>
            <p:cNvPr id="22565" name="Line 39"/>
            <p:cNvSpPr/>
            <p:nvPr/>
          </p:nvSpPr>
          <p:spPr>
            <a:xfrm>
              <a:off x="4437" y="2873"/>
              <a:ext cx="107" cy="109"/>
            </a:xfrm>
            <a:prstGeom prst="line">
              <a:avLst/>
            </a:prstGeom>
            <a:ln w="0" cap="flat" cmpd="sng">
              <a:solidFill>
                <a:srgbClr val="0000FF"/>
              </a:solidFill>
              <a:prstDash val="solid"/>
              <a:headEnd type="none" w="med" len="med"/>
              <a:tailEnd type="none" w="med" len="med"/>
            </a:ln>
          </p:spPr>
        </p:sp>
        <p:sp>
          <p:nvSpPr>
            <p:cNvPr id="22566" name="Line 40"/>
            <p:cNvSpPr/>
            <p:nvPr/>
          </p:nvSpPr>
          <p:spPr>
            <a:xfrm>
              <a:off x="4437" y="2764"/>
              <a:ext cx="1" cy="218"/>
            </a:xfrm>
            <a:prstGeom prst="line">
              <a:avLst/>
            </a:prstGeom>
            <a:ln w="0" cap="flat" cmpd="sng">
              <a:solidFill>
                <a:srgbClr val="0000FF"/>
              </a:solidFill>
              <a:prstDash val="solid"/>
              <a:headEnd type="none" w="med" len="med"/>
              <a:tailEnd type="none" w="med" len="med"/>
            </a:ln>
          </p:spPr>
        </p:sp>
        <p:sp>
          <p:nvSpPr>
            <p:cNvPr id="22567" name="Rectangle 41"/>
            <p:cNvSpPr/>
            <p:nvPr/>
          </p:nvSpPr>
          <p:spPr>
            <a:xfrm>
              <a:off x="4050" y="2627"/>
              <a:ext cx="173" cy="68"/>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568" name="Rectangle 42"/>
            <p:cNvSpPr/>
            <p:nvPr/>
          </p:nvSpPr>
          <p:spPr>
            <a:xfrm>
              <a:off x="3903" y="2845"/>
              <a:ext cx="174"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569" name="Line 43"/>
            <p:cNvSpPr/>
            <p:nvPr/>
          </p:nvSpPr>
          <p:spPr>
            <a:xfrm>
              <a:off x="4544" y="2982"/>
              <a:ext cx="1" cy="218"/>
            </a:xfrm>
            <a:prstGeom prst="line">
              <a:avLst/>
            </a:prstGeom>
            <a:ln w="0" cap="flat" cmpd="sng">
              <a:solidFill>
                <a:srgbClr val="0000FF"/>
              </a:solidFill>
              <a:prstDash val="solid"/>
              <a:headEnd type="none" w="med" len="med"/>
              <a:tailEnd type="none" w="med" len="med"/>
            </a:ln>
          </p:spPr>
        </p:sp>
        <p:sp>
          <p:nvSpPr>
            <p:cNvPr id="22570" name="Line 44"/>
            <p:cNvSpPr/>
            <p:nvPr/>
          </p:nvSpPr>
          <p:spPr>
            <a:xfrm>
              <a:off x="4477" y="3200"/>
              <a:ext cx="147" cy="1"/>
            </a:xfrm>
            <a:prstGeom prst="line">
              <a:avLst/>
            </a:prstGeom>
            <a:ln w="0" cap="flat" cmpd="sng">
              <a:solidFill>
                <a:srgbClr val="0000FF"/>
              </a:solidFill>
              <a:prstDash val="solid"/>
              <a:headEnd type="none" w="med" len="med"/>
              <a:tailEnd type="none" w="med" len="med"/>
            </a:ln>
          </p:spPr>
        </p:sp>
        <p:sp>
          <p:nvSpPr>
            <p:cNvPr id="22571" name="Rectangle 45"/>
            <p:cNvSpPr/>
            <p:nvPr/>
          </p:nvSpPr>
          <p:spPr>
            <a:xfrm>
              <a:off x="3943" y="1712"/>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2572" name="Rectangle 46"/>
            <p:cNvSpPr/>
            <p:nvPr/>
          </p:nvSpPr>
          <p:spPr>
            <a:xfrm>
              <a:off x="3943" y="1894"/>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2573" name="Rectangle 47"/>
            <p:cNvSpPr/>
            <p:nvPr/>
          </p:nvSpPr>
          <p:spPr>
            <a:xfrm>
              <a:off x="3943" y="2076"/>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2574" name="Line 48"/>
            <p:cNvSpPr/>
            <p:nvPr/>
          </p:nvSpPr>
          <p:spPr>
            <a:xfrm>
              <a:off x="5077" y="1630"/>
              <a:ext cx="1" cy="697"/>
            </a:xfrm>
            <a:prstGeom prst="line">
              <a:avLst/>
            </a:prstGeom>
            <a:ln w="0" cap="flat" cmpd="sng">
              <a:solidFill>
                <a:srgbClr val="0000FF"/>
              </a:solidFill>
              <a:prstDash val="sysDot"/>
              <a:headEnd type="none" w="med" len="med"/>
              <a:tailEnd type="none" w="med" len="med"/>
            </a:ln>
          </p:spPr>
        </p:sp>
        <p:grpSp>
          <p:nvGrpSpPr>
            <p:cNvPr id="22575" name="Group 49"/>
            <p:cNvGrpSpPr/>
            <p:nvPr/>
          </p:nvGrpSpPr>
          <p:grpSpPr>
            <a:xfrm>
              <a:off x="4530" y="989"/>
              <a:ext cx="150" cy="175"/>
              <a:chOff x="4535" y="1264"/>
              <a:chExt cx="150" cy="175"/>
            </a:xfrm>
          </p:grpSpPr>
          <p:sp>
            <p:nvSpPr>
              <p:cNvPr id="22630" name="Rectangle 50"/>
              <p:cNvSpPr/>
              <p:nvPr/>
            </p:nvSpPr>
            <p:spPr>
              <a:xfrm>
                <a:off x="4535" y="1264"/>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2631" name="Rectangle 51"/>
              <p:cNvSpPr/>
              <p:nvPr/>
            </p:nvSpPr>
            <p:spPr>
              <a:xfrm>
                <a:off x="4629" y="1318"/>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grpSp>
        <p:sp>
          <p:nvSpPr>
            <p:cNvPr id="22576" name="Rectangle 52"/>
            <p:cNvSpPr/>
            <p:nvPr/>
          </p:nvSpPr>
          <p:spPr>
            <a:xfrm>
              <a:off x="4610" y="1658"/>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2577" name="Rectangle 53"/>
            <p:cNvSpPr/>
            <p:nvPr/>
          </p:nvSpPr>
          <p:spPr>
            <a:xfrm>
              <a:off x="4690" y="1712"/>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sp>
          <p:nvSpPr>
            <p:cNvPr id="22578" name="Line 54"/>
            <p:cNvSpPr/>
            <p:nvPr/>
          </p:nvSpPr>
          <p:spPr>
            <a:xfrm flipH="1">
              <a:off x="4697" y="1651"/>
              <a:ext cx="33" cy="34"/>
            </a:xfrm>
            <a:prstGeom prst="line">
              <a:avLst/>
            </a:prstGeom>
            <a:ln w="0" cap="flat" cmpd="sng">
              <a:solidFill>
                <a:srgbClr val="FF0000"/>
              </a:solidFill>
              <a:prstDash val="solid"/>
              <a:headEnd type="none" w="med" len="med"/>
              <a:tailEnd type="none" w="med" len="med"/>
            </a:ln>
          </p:spPr>
        </p:sp>
        <p:grpSp>
          <p:nvGrpSpPr>
            <p:cNvPr id="22579" name="Group 55"/>
            <p:cNvGrpSpPr/>
            <p:nvPr/>
          </p:nvGrpSpPr>
          <p:grpSpPr>
            <a:xfrm>
              <a:off x="4504" y="2149"/>
              <a:ext cx="149" cy="162"/>
              <a:chOff x="4509" y="2424"/>
              <a:chExt cx="149" cy="162"/>
            </a:xfrm>
          </p:grpSpPr>
          <p:sp>
            <p:nvSpPr>
              <p:cNvPr id="22628" name="Rectangle 56"/>
              <p:cNvSpPr/>
              <p:nvPr/>
            </p:nvSpPr>
            <p:spPr>
              <a:xfrm>
                <a:off x="4509" y="2424"/>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2629" name="Rectangle 57"/>
              <p:cNvSpPr/>
              <p:nvPr/>
            </p:nvSpPr>
            <p:spPr>
              <a:xfrm>
                <a:off x="4602" y="2465"/>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8</a:t>
                </a:r>
                <a:endParaRPr lang="en-US" altLang="zh-CN" dirty="0">
                  <a:solidFill>
                    <a:srgbClr val="FF0000"/>
                  </a:solidFill>
                  <a:latin typeface="Times New Roman" panose="02020603050405020304" pitchFamily="18" charset="0"/>
                </a:endParaRPr>
              </a:p>
            </p:txBody>
          </p:sp>
        </p:grpSp>
        <p:sp>
          <p:nvSpPr>
            <p:cNvPr id="22580" name="Rectangle 58"/>
            <p:cNvSpPr/>
            <p:nvPr/>
          </p:nvSpPr>
          <p:spPr>
            <a:xfrm>
              <a:off x="4604" y="2798"/>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2581" name="Rectangle 59"/>
            <p:cNvSpPr/>
            <p:nvPr/>
          </p:nvSpPr>
          <p:spPr>
            <a:xfrm>
              <a:off x="4697" y="2839"/>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8</a:t>
              </a:r>
              <a:endParaRPr lang="en-US" altLang="zh-CN" dirty="0">
                <a:solidFill>
                  <a:srgbClr val="FF0000"/>
                </a:solidFill>
                <a:latin typeface="Times New Roman" panose="02020603050405020304" pitchFamily="18" charset="0"/>
              </a:endParaRPr>
            </a:p>
          </p:txBody>
        </p:sp>
        <p:sp>
          <p:nvSpPr>
            <p:cNvPr id="22582" name="Line 60"/>
            <p:cNvSpPr/>
            <p:nvPr/>
          </p:nvSpPr>
          <p:spPr>
            <a:xfrm flipH="1">
              <a:off x="4704" y="2791"/>
              <a:ext cx="26" cy="25"/>
            </a:xfrm>
            <a:prstGeom prst="line">
              <a:avLst/>
            </a:prstGeom>
            <a:ln w="0" cap="flat" cmpd="sng">
              <a:solidFill>
                <a:srgbClr val="FF0000"/>
              </a:solidFill>
              <a:prstDash val="solid"/>
              <a:headEnd type="none" w="med" len="med"/>
              <a:tailEnd type="none" w="med" len="med"/>
            </a:ln>
          </p:spPr>
        </p:sp>
        <p:sp>
          <p:nvSpPr>
            <p:cNvPr id="22583" name="Rectangle 61"/>
            <p:cNvSpPr/>
            <p:nvPr/>
          </p:nvSpPr>
          <p:spPr>
            <a:xfrm>
              <a:off x="3583" y="975"/>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2584" name="Rectangle 62"/>
            <p:cNvSpPr/>
            <p:nvPr/>
          </p:nvSpPr>
          <p:spPr>
            <a:xfrm>
              <a:off x="3685" y="1016"/>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i1</a:t>
              </a:r>
              <a:endParaRPr lang="en-US" altLang="zh-CN" dirty="0">
                <a:solidFill>
                  <a:srgbClr val="FF0000"/>
                </a:solidFill>
                <a:latin typeface="Times New Roman" panose="02020603050405020304" pitchFamily="18" charset="0"/>
              </a:endParaRPr>
            </a:p>
          </p:txBody>
        </p:sp>
        <p:sp>
          <p:nvSpPr>
            <p:cNvPr id="22585" name="Rectangle 63"/>
            <p:cNvSpPr/>
            <p:nvPr/>
          </p:nvSpPr>
          <p:spPr>
            <a:xfrm>
              <a:off x="3556" y="2108"/>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2586" name="Rectangle 64"/>
            <p:cNvSpPr/>
            <p:nvPr/>
          </p:nvSpPr>
          <p:spPr>
            <a:xfrm>
              <a:off x="3661" y="2149"/>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i8</a:t>
              </a:r>
              <a:endParaRPr lang="en-US" altLang="zh-CN" dirty="0">
                <a:solidFill>
                  <a:srgbClr val="FF0000"/>
                </a:solidFill>
                <a:latin typeface="Times New Roman" panose="02020603050405020304" pitchFamily="18" charset="0"/>
              </a:endParaRPr>
            </a:p>
          </p:txBody>
        </p:sp>
        <p:sp>
          <p:nvSpPr>
            <p:cNvPr id="22587" name="Rectangle 65"/>
            <p:cNvSpPr/>
            <p:nvPr/>
          </p:nvSpPr>
          <p:spPr>
            <a:xfrm>
              <a:off x="3543" y="1528"/>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2588" name="Rectangle 66"/>
            <p:cNvSpPr/>
            <p:nvPr/>
          </p:nvSpPr>
          <p:spPr>
            <a:xfrm>
              <a:off x="3652" y="1576"/>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C1</a:t>
              </a:r>
              <a:endParaRPr lang="en-US" altLang="zh-CN" dirty="0">
                <a:solidFill>
                  <a:srgbClr val="FF0000"/>
                </a:solidFill>
                <a:latin typeface="Times New Roman" panose="02020603050405020304" pitchFamily="18" charset="0"/>
              </a:endParaRPr>
            </a:p>
          </p:txBody>
        </p:sp>
        <p:sp>
          <p:nvSpPr>
            <p:cNvPr id="22589" name="Rectangle 67"/>
            <p:cNvSpPr/>
            <p:nvPr/>
          </p:nvSpPr>
          <p:spPr>
            <a:xfrm>
              <a:off x="3530" y="2652"/>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2590" name="Rectangle 68"/>
            <p:cNvSpPr/>
            <p:nvPr/>
          </p:nvSpPr>
          <p:spPr>
            <a:xfrm>
              <a:off x="3630" y="2695"/>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C8</a:t>
              </a:r>
              <a:endParaRPr lang="en-US" altLang="zh-CN" dirty="0">
                <a:solidFill>
                  <a:srgbClr val="FF0000"/>
                </a:solidFill>
                <a:latin typeface="Times New Roman" panose="02020603050405020304" pitchFamily="18" charset="0"/>
              </a:endParaRPr>
            </a:p>
          </p:txBody>
        </p:sp>
        <p:sp>
          <p:nvSpPr>
            <p:cNvPr id="22591" name="Rectangle 69"/>
            <p:cNvSpPr/>
            <p:nvPr/>
          </p:nvSpPr>
          <p:spPr>
            <a:xfrm>
              <a:off x="2889" y="1658"/>
              <a:ext cx="653"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FF0000"/>
                  </a:solidFill>
                  <a:latin typeface="宋体" panose="02010600030101010101" pitchFamily="2" charset="-122"/>
                  <a:ea typeface="宋体" panose="02010600030101010101" pitchFamily="2" charset="-122"/>
                </a:rPr>
                <a:t>通道选择</a:t>
              </a:r>
              <a:r>
                <a:rPr lang="en-US" altLang="zh-CN" sz="1800" dirty="0">
                  <a:solidFill>
                    <a:srgbClr val="FF0000"/>
                  </a:solidFill>
                  <a:latin typeface="宋体" panose="02010600030101010101" pitchFamily="2" charset="-122"/>
                  <a:ea typeface="宋体" panose="02010600030101010101" pitchFamily="2" charset="-122"/>
                </a:rPr>
                <a:t>1</a:t>
              </a:r>
              <a:endParaRPr lang="en-US" altLang="zh-CN" dirty="0">
                <a:solidFill>
                  <a:srgbClr val="FF0000"/>
                </a:solidFill>
                <a:latin typeface="Times New Roman" panose="02020603050405020304" pitchFamily="18" charset="0"/>
              </a:endParaRPr>
            </a:p>
          </p:txBody>
        </p:sp>
        <p:sp>
          <p:nvSpPr>
            <p:cNvPr id="22592" name="Rectangle 70"/>
            <p:cNvSpPr/>
            <p:nvPr/>
          </p:nvSpPr>
          <p:spPr>
            <a:xfrm>
              <a:off x="2876" y="2791"/>
              <a:ext cx="653" cy="156"/>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FF0000"/>
                  </a:solidFill>
                  <a:latin typeface="宋体" panose="02010600030101010101" pitchFamily="2" charset="-122"/>
                  <a:ea typeface="宋体" panose="02010600030101010101" pitchFamily="2" charset="-122"/>
                </a:rPr>
                <a:t>通道选择</a:t>
              </a:r>
              <a:r>
                <a:rPr lang="en-US" altLang="zh-CN" sz="1800" dirty="0">
                  <a:solidFill>
                    <a:srgbClr val="FF0000"/>
                  </a:solidFill>
                  <a:latin typeface="宋体" panose="02010600030101010101" pitchFamily="2" charset="-122"/>
                  <a:ea typeface="宋体" panose="02010600030101010101" pitchFamily="2" charset="-122"/>
                </a:rPr>
                <a:t>8</a:t>
              </a:r>
              <a:endParaRPr lang="en-US" altLang="zh-CN" dirty="0">
                <a:solidFill>
                  <a:srgbClr val="FF0000"/>
                </a:solidFill>
                <a:latin typeface="Times New Roman" panose="02020603050405020304" pitchFamily="18" charset="0"/>
              </a:endParaRPr>
            </a:p>
          </p:txBody>
        </p:sp>
        <p:sp>
          <p:nvSpPr>
            <p:cNvPr id="22593" name="Rectangle 71"/>
            <p:cNvSpPr/>
            <p:nvPr/>
          </p:nvSpPr>
          <p:spPr>
            <a:xfrm>
              <a:off x="5478" y="1084"/>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2594" name="Rectangle 72"/>
            <p:cNvSpPr/>
            <p:nvPr/>
          </p:nvSpPr>
          <p:spPr>
            <a:xfrm>
              <a:off x="5584" y="1139"/>
              <a:ext cx="44" cy="95"/>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22595" name="Rectangle 73"/>
            <p:cNvSpPr/>
            <p:nvPr/>
          </p:nvSpPr>
          <p:spPr>
            <a:xfrm>
              <a:off x="3903" y="2682"/>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2596" name="Rectangle 74"/>
            <p:cNvSpPr/>
            <p:nvPr/>
          </p:nvSpPr>
          <p:spPr>
            <a:xfrm>
              <a:off x="3997" y="2723"/>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18</a:t>
              </a:r>
              <a:endParaRPr lang="en-US" altLang="zh-CN" dirty="0">
                <a:latin typeface="Times New Roman" panose="02020603050405020304" pitchFamily="18" charset="0"/>
              </a:endParaRPr>
            </a:p>
          </p:txBody>
        </p:sp>
        <p:sp>
          <p:nvSpPr>
            <p:cNvPr id="22597" name="Rectangle 75"/>
            <p:cNvSpPr/>
            <p:nvPr/>
          </p:nvSpPr>
          <p:spPr>
            <a:xfrm>
              <a:off x="4143" y="2504"/>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28</a:t>
              </a:r>
              <a:endParaRPr lang="en-US" altLang="zh-CN" dirty="0">
                <a:latin typeface="Times New Roman" panose="02020603050405020304" pitchFamily="18" charset="0"/>
              </a:endParaRPr>
            </a:p>
          </p:txBody>
        </p:sp>
        <p:sp>
          <p:nvSpPr>
            <p:cNvPr id="22598" name="Rectangle 76"/>
            <p:cNvSpPr/>
            <p:nvPr/>
          </p:nvSpPr>
          <p:spPr>
            <a:xfrm>
              <a:off x="4050" y="2463"/>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2599" name="Rectangle 77"/>
            <p:cNvSpPr/>
            <p:nvPr/>
          </p:nvSpPr>
          <p:spPr>
            <a:xfrm>
              <a:off x="4014" y="1580"/>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2600" name="Rectangle 78"/>
            <p:cNvSpPr/>
            <p:nvPr/>
          </p:nvSpPr>
          <p:spPr>
            <a:xfrm>
              <a:off x="3917" y="1535"/>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2601" name="Rectangle 79"/>
            <p:cNvSpPr/>
            <p:nvPr/>
          </p:nvSpPr>
          <p:spPr>
            <a:xfrm>
              <a:off x="4143" y="1371"/>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21</a:t>
              </a:r>
              <a:endParaRPr lang="en-US" altLang="zh-CN" dirty="0">
                <a:latin typeface="Times New Roman" panose="02020603050405020304" pitchFamily="18" charset="0"/>
              </a:endParaRPr>
            </a:p>
          </p:txBody>
        </p:sp>
        <p:sp>
          <p:nvSpPr>
            <p:cNvPr id="22602" name="Rectangle 80"/>
            <p:cNvSpPr/>
            <p:nvPr/>
          </p:nvSpPr>
          <p:spPr>
            <a:xfrm>
              <a:off x="4050" y="1332"/>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2603" name="Line 81"/>
            <p:cNvSpPr/>
            <p:nvPr/>
          </p:nvSpPr>
          <p:spPr>
            <a:xfrm flipH="1" flipV="1">
              <a:off x="4486" y="2950"/>
              <a:ext cx="58" cy="32"/>
            </a:xfrm>
            <a:prstGeom prst="line">
              <a:avLst/>
            </a:prstGeom>
            <a:ln w="0" cap="flat" cmpd="sng">
              <a:solidFill>
                <a:srgbClr val="0000FF"/>
              </a:solidFill>
              <a:prstDash val="solid"/>
              <a:headEnd type="none" w="med" len="med"/>
              <a:tailEnd type="none" w="med" len="med"/>
            </a:ln>
          </p:spPr>
        </p:sp>
        <p:sp>
          <p:nvSpPr>
            <p:cNvPr id="22604" name="Line 82"/>
            <p:cNvSpPr/>
            <p:nvPr/>
          </p:nvSpPr>
          <p:spPr>
            <a:xfrm flipH="1" flipV="1">
              <a:off x="4504" y="1781"/>
              <a:ext cx="40" cy="68"/>
            </a:xfrm>
            <a:prstGeom prst="line">
              <a:avLst/>
            </a:prstGeom>
            <a:ln w="0" cap="flat" cmpd="sng">
              <a:solidFill>
                <a:srgbClr val="0000FF"/>
              </a:solidFill>
              <a:prstDash val="solid"/>
              <a:headEnd type="none" w="med" len="med"/>
              <a:tailEnd type="none" w="med" len="med"/>
            </a:ln>
          </p:spPr>
        </p:sp>
        <p:sp>
          <p:nvSpPr>
            <p:cNvPr id="22605" name="Line 83"/>
            <p:cNvSpPr/>
            <p:nvPr/>
          </p:nvSpPr>
          <p:spPr>
            <a:xfrm flipH="1" flipV="1">
              <a:off x="4490" y="1808"/>
              <a:ext cx="54" cy="41"/>
            </a:xfrm>
            <a:prstGeom prst="line">
              <a:avLst/>
            </a:prstGeom>
            <a:ln w="0" cap="flat" cmpd="sng">
              <a:solidFill>
                <a:srgbClr val="0000FF"/>
              </a:solidFill>
              <a:prstDash val="solid"/>
              <a:headEnd type="none" w="med" len="med"/>
              <a:tailEnd type="none" w="med" len="med"/>
            </a:ln>
          </p:spPr>
        </p:sp>
        <p:sp>
          <p:nvSpPr>
            <p:cNvPr id="22606" name="Line 84"/>
            <p:cNvSpPr/>
            <p:nvPr/>
          </p:nvSpPr>
          <p:spPr>
            <a:xfrm flipH="1" flipV="1">
              <a:off x="4513" y="2923"/>
              <a:ext cx="31" cy="59"/>
            </a:xfrm>
            <a:prstGeom prst="line">
              <a:avLst/>
            </a:prstGeom>
            <a:ln w="0" cap="flat" cmpd="sng">
              <a:solidFill>
                <a:srgbClr val="0000FF"/>
              </a:solidFill>
              <a:prstDash val="solid"/>
              <a:headEnd type="none" w="med" len="med"/>
              <a:tailEnd type="none" w="med" len="med"/>
            </a:ln>
          </p:spPr>
        </p:sp>
        <p:sp>
          <p:nvSpPr>
            <p:cNvPr id="22607" name="Oval 85"/>
            <p:cNvSpPr/>
            <p:nvPr/>
          </p:nvSpPr>
          <p:spPr>
            <a:xfrm>
              <a:off x="5384" y="1166"/>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08" name="Oval 86"/>
            <p:cNvSpPr/>
            <p:nvPr/>
          </p:nvSpPr>
          <p:spPr>
            <a:xfrm>
              <a:off x="3636" y="1166"/>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09" name="Oval 87"/>
            <p:cNvSpPr/>
            <p:nvPr/>
          </p:nvSpPr>
          <p:spPr>
            <a:xfrm>
              <a:off x="3796" y="1494"/>
              <a:ext cx="67"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10" name="Oval 88"/>
            <p:cNvSpPr/>
            <p:nvPr/>
          </p:nvSpPr>
          <p:spPr>
            <a:xfrm>
              <a:off x="3650" y="1712"/>
              <a:ext cx="66"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11" name="Oval 89"/>
            <p:cNvSpPr/>
            <p:nvPr/>
          </p:nvSpPr>
          <p:spPr>
            <a:xfrm>
              <a:off x="3636" y="2299"/>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12" name="Oval 90"/>
            <p:cNvSpPr/>
            <p:nvPr/>
          </p:nvSpPr>
          <p:spPr>
            <a:xfrm>
              <a:off x="3823" y="2627"/>
              <a:ext cx="67"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13" name="Oval 91"/>
            <p:cNvSpPr/>
            <p:nvPr/>
          </p:nvSpPr>
          <p:spPr>
            <a:xfrm>
              <a:off x="3636" y="2845"/>
              <a:ext cx="67" cy="6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2614" name="Line 92"/>
            <p:cNvSpPr/>
            <p:nvPr/>
          </p:nvSpPr>
          <p:spPr>
            <a:xfrm>
              <a:off x="4221" y="1524"/>
              <a:ext cx="325" cy="1"/>
            </a:xfrm>
            <a:prstGeom prst="line">
              <a:avLst/>
            </a:prstGeom>
            <a:ln w="0" cap="flat" cmpd="sng">
              <a:solidFill>
                <a:srgbClr val="0000FF"/>
              </a:solidFill>
              <a:prstDash val="solid"/>
              <a:headEnd type="none" w="med" len="med"/>
              <a:tailEnd type="none" w="med" len="med"/>
            </a:ln>
          </p:spPr>
        </p:sp>
        <p:sp>
          <p:nvSpPr>
            <p:cNvPr id="22615" name="Line 93"/>
            <p:cNvSpPr/>
            <p:nvPr/>
          </p:nvSpPr>
          <p:spPr>
            <a:xfrm>
              <a:off x="3861" y="1524"/>
              <a:ext cx="191" cy="1"/>
            </a:xfrm>
            <a:prstGeom prst="line">
              <a:avLst/>
            </a:prstGeom>
            <a:ln w="0" cap="flat" cmpd="sng">
              <a:solidFill>
                <a:srgbClr val="0000FF"/>
              </a:solidFill>
              <a:prstDash val="solid"/>
              <a:headEnd type="none" w="med" len="med"/>
              <a:tailEnd type="none" w="med" len="med"/>
            </a:ln>
          </p:spPr>
        </p:sp>
        <p:sp>
          <p:nvSpPr>
            <p:cNvPr id="22616" name="Line 94"/>
            <p:cNvSpPr/>
            <p:nvPr/>
          </p:nvSpPr>
          <p:spPr>
            <a:xfrm>
              <a:off x="4074" y="2873"/>
              <a:ext cx="365" cy="1"/>
            </a:xfrm>
            <a:prstGeom prst="line">
              <a:avLst/>
            </a:prstGeom>
            <a:ln w="0" cap="flat" cmpd="sng">
              <a:solidFill>
                <a:srgbClr val="0000FF"/>
              </a:solidFill>
              <a:prstDash val="solid"/>
              <a:headEnd type="none" w="med" len="med"/>
              <a:tailEnd type="none" w="med" len="med"/>
            </a:ln>
          </p:spPr>
        </p:sp>
        <p:sp>
          <p:nvSpPr>
            <p:cNvPr id="22617" name="Line 95"/>
            <p:cNvSpPr/>
            <p:nvPr/>
          </p:nvSpPr>
          <p:spPr>
            <a:xfrm>
              <a:off x="3701" y="2877"/>
              <a:ext cx="204" cy="1"/>
            </a:xfrm>
            <a:prstGeom prst="line">
              <a:avLst/>
            </a:prstGeom>
            <a:ln w="0" cap="flat" cmpd="sng">
              <a:solidFill>
                <a:srgbClr val="0000FF"/>
              </a:solidFill>
              <a:prstDash val="solid"/>
              <a:headEnd type="none" w="med" len="med"/>
              <a:tailEnd type="none" w="med" len="med"/>
            </a:ln>
          </p:spPr>
        </p:sp>
        <p:sp>
          <p:nvSpPr>
            <p:cNvPr id="22618" name="Line 96"/>
            <p:cNvSpPr/>
            <p:nvPr/>
          </p:nvSpPr>
          <p:spPr>
            <a:xfrm>
              <a:off x="3888" y="2659"/>
              <a:ext cx="164" cy="1"/>
            </a:xfrm>
            <a:prstGeom prst="line">
              <a:avLst/>
            </a:prstGeom>
            <a:ln w="0" cap="flat" cmpd="sng">
              <a:solidFill>
                <a:srgbClr val="0000FF"/>
              </a:solidFill>
              <a:prstDash val="solid"/>
              <a:headEnd type="none" w="med" len="med"/>
              <a:tailEnd type="none" w="med" len="med"/>
            </a:ln>
          </p:spPr>
        </p:sp>
        <p:sp>
          <p:nvSpPr>
            <p:cNvPr id="22619" name="Line 97"/>
            <p:cNvSpPr/>
            <p:nvPr/>
          </p:nvSpPr>
          <p:spPr>
            <a:xfrm>
              <a:off x="4221" y="2659"/>
              <a:ext cx="325" cy="1"/>
            </a:xfrm>
            <a:prstGeom prst="line">
              <a:avLst/>
            </a:prstGeom>
            <a:ln w="0" cap="flat" cmpd="sng">
              <a:solidFill>
                <a:srgbClr val="0000FF"/>
              </a:solidFill>
              <a:prstDash val="solid"/>
              <a:headEnd type="none" w="med" len="med"/>
              <a:tailEnd type="none" w="med" len="med"/>
            </a:ln>
          </p:spPr>
        </p:sp>
        <p:sp>
          <p:nvSpPr>
            <p:cNvPr id="22620" name="Line 98"/>
            <p:cNvSpPr/>
            <p:nvPr/>
          </p:nvSpPr>
          <p:spPr>
            <a:xfrm>
              <a:off x="4653" y="2331"/>
              <a:ext cx="427" cy="1"/>
            </a:xfrm>
            <a:prstGeom prst="line">
              <a:avLst/>
            </a:prstGeom>
            <a:ln w="0" cap="flat" cmpd="sng">
              <a:solidFill>
                <a:srgbClr val="0000FF"/>
              </a:solidFill>
              <a:prstDash val="solid"/>
              <a:headEnd type="none" w="med" len="med"/>
              <a:tailEnd type="none" w="med" len="med"/>
            </a:ln>
          </p:spPr>
        </p:sp>
        <p:sp>
          <p:nvSpPr>
            <p:cNvPr id="22621" name="Line 99"/>
            <p:cNvSpPr/>
            <p:nvPr/>
          </p:nvSpPr>
          <p:spPr>
            <a:xfrm flipH="1">
              <a:off x="3701" y="2327"/>
              <a:ext cx="845" cy="1"/>
            </a:xfrm>
            <a:prstGeom prst="line">
              <a:avLst/>
            </a:prstGeom>
            <a:ln w="0" cap="flat" cmpd="sng">
              <a:solidFill>
                <a:srgbClr val="0000FF"/>
              </a:solidFill>
              <a:prstDash val="solid"/>
              <a:headEnd type="none" w="med" len="med"/>
              <a:tailEnd type="none" w="med" len="med"/>
            </a:ln>
          </p:spPr>
        </p:sp>
        <p:sp>
          <p:nvSpPr>
            <p:cNvPr id="22622" name="Line 100"/>
            <p:cNvSpPr/>
            <p:nvPr/>
          </p:nvSpPr>
          <p:spPr>
            <a:xfrm flipH="1">
              <a:off x="3712" y="1740"/>
              <a:ext cx="193" cy="1"/>
            </a:xfrm>
            <a:prstGeom prst="line">
              <a:avLst/>
            </a:prstGeom>
            <a:ln w="0" cap="flat" cmpd="sng">
              <a:solidFill>
                <a:srgbClr val="0000FF"/>
              </a:solidFill>
              <a:prstDash val="solid"/>
              <a:headEnd type="none" w="med" len="med"/>
              <a:tailEnd type="none" w="med" len="med"/>
            </a:ln>
          </p:spPr>
        </p:sp>
        <p:sp>
          <p:nvSpPr>
            <p:cNvPr id="22623" name="Line 101"/>
            <p:cNvSpPr/>
            <p:nvPr/>
          </p:nvSpPr>
          <p:spPr>
            <a:xfrm flipH="1">
              <a:off x="3701" y="1194"/>
              <a:ext cx="845" cy="1"/>
            </a:xfrm>
            <a:prstGeom prst="line">
              <a:avLst/>
            </a:prstGeom>
            <a:ln w="0" cap="flat" cmpd="sng">
              <a:solidFill>
                <a:srgbClr val="0000FF"/>
              </a:solidFill>
              <a:prstDash val="solid"/>
              <a:headEnd type="none" w="med" len="med"/>
              <a:tailEnd type="none" w="med" len="med"/>
            </a:ln>
          </p:spPr>
        </p:sp>
        <p:sp>
          <p:nvSpPr>
            <p:cNvPr id="22624" name="Line 102"/>
            <p:cNvSpPr/>
            <p:nvPr/>
          </p:nvSpPr>
          <p:spPr>
            <a:xfrm>
              <a:off x="4653" y="1194"/>
              <a:ext cx="734" cy="1"/>
            </a:xfrm>
            <a:prstGeom prst="line">
              <a:avLst/>
            </a:prstGeom>
            <a:ln w="0" cap="flat" cmpd="sng">
              <a:solidFill>
                <a:srgbClr val="0000FF"/>
              </a:solidFill>
              <a:prstDash val="solid"/>
              <a:headEnd type="none" w="med" len="med"/>
              <a:tailEnd type="none" w="med" len="med"/>
            </a:ln>
          </p:spPr>
        </p:sp>
        <p:sp>
          <p:nvSpPr>
            <p:cNvPr id="22625" name="Rectangle 103"/>
            <p:cNvSpPr/>
            <p:nvPr/>
          </p:nvSpPr>
          <p:spPr>
            <a:xfrm>
              <a:off x="3423" y="3409"/>
              <a:ext cx="1850" cy="199"/>
            </a:xfrm>
            <a:prstGeom prst="rect">
              <a:avLst/>
            </a:prstGeom>
            <a:noFill/>
            <a:ln w="9525">
              <a:noFill/>
            </a:ln>
          </p:spPr>
          <p:txBody>
            <a:bodyPr wrap="none" lIns="0" tIns="0" rIns="0" bIns="0">
              <a:spAutoFit/>
            </a:bodyPr>
            <a:p>
              <a:pPr eaLnBrk="1" hangingPunct="1">
                <a:lnSpc>
                  <a:spcPct val="90000"/>
                </a:lnSpc>
              </a:pPr>
              <a:r>
                <a:rPr lang="zh-CN" altLang="en-US" sz="2300" dirty="0">
                  <a:solidFill>
                    <a:srgbClr val="000080"/>
                  </a:solidFill>
                  <a:latin typeface="楷体_GB2312" pitchFamily="49" charset="-122"/>
                </a:rPr>
                <a:t>结型场效应管多路开关</a:t>
              </a:r>
              <a:endParaRPr lang="zh-CN" altLang="en-US" dirty="0">
                <a:latin typeface="Times New Roman" panose="02020603050405020304" pitchFamily="18" charset="0"/>
              </a:endParaRPr>
            </a:p>
          </p:txBody>
        </p:sp>
        <p:sp>
          <p:nvSpPr>
            <p:cNvPr id="22626" name="Text Box 104"/>
            <p:cNvSpPr txBox="1"/>
            <p:nvPr/>
          </p:nvSpPr>
          <p:spPr>
            <a:xfrm>
              <a:off x="3709" y="1322"/>
              <a:ext cx="22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V</a:t>
              </a:r>
              <a:r>
                <a:rPr lang="en-US" altLang="zh-CN" sz="1800" b="0" i="1" baseline="-25000" dirty="0">
                  <a:solidFill>
                    <a:srgbClr val="0000FF"/>
                  </a:solidFill>
                  <a:latin typeface="Times New Roman" panose="02020603050405020304" pitchFamily="18" charset="0"/>
                </a:rPr>
                <a:t>DD</a:t>
              </a:r>
              <a:endParaRPr lang="en-US" altLang="zh-CN" sz="1800" b="0" i="1" baseline="-25000" dirty="0">
                <a:solidFill>
                  <a:srgbClr val="0000FF"/>
                </a:solidFill>
                <a:latin typeface="Times New Roman" panose="02020603050405020304" pitchFamily="18" charset="0"/>
              </a:endParaRPr>
            </a:p>
          </p:txBody>
        </p:sp>
        <p:sp>
          <p:nvSpPr>
            <p:cNvPr id="22627" name="Text Box 105"/>
            <p:cNvSpPr txBox="1"/>
            <p:nvPr/>
          </p:nvSpPr>
          <p:spPr>
            <a:xfrm>
              <a:off x="3721" y="2457"/>
              <a:ext cx="22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V</a:t>
              </a:r>
              <a:r>
                <a:rPr lang="en-US" altLang="zh-CN" sz="1800" b="0" i="1" baseline="-25000" dirty="0">
                  <a:solidFill>
                    <a:srgbClr val="0000FF"/>
                  </a:solidFill>
                  <a:latin typeface="Times New Roman" panose="02020603050405020304" pitchFamily="18" charset="0"/>
                </a:rPr>
                <a:t>DD</a:t>
              </a:r>
              <a:endParaRPr lang="en-US" altLang="zh-CN" sz="1800" b="0" i="1" baseline="-25000" dirty="0">
                <a:solidFill>
                  <a:srgbClr val="0000FF"/>
                </a:solidFill>
                <a:latin typeface="Times New Roman" panose="02020603050405020304" pitchFamily="18" charset="0"/>
              </a:endParaRPr>
            </a:p>
          </p:txBody>
        </p:sp>
      </p:grpSp>
      <p:sp>
        <p:nvSpPr>
          <p:cNvPr id="2397290" name="Text Box 106"/>
          <p:cNvSpPr txBox="1"/>
          <p:nvPr/>
        </p:nvSpPr>
        <p:spPr>
          <a:xfrm>
            <a:off x="515938" y="2746375"/>
            <a:ext cx="1236662"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优点：</a:t>
            </a:r>
            <a:endParaRPr lang="zh-CN" altLang="en-US" sz="2400" dirty="0">
              <a:solidFill>
                <a:srgbClr val="FF0000"/>
              </a:solidFill>
              <a:latin typeface="楷体_GB2312" pitchFamily="49" charset="-122"/>
            </a:endParaRPr>
          </a:p>
        </p:txBody>
      </p:sp>
      <p:sp>
        <p:nvSpPr>
          <p:cNvPr id="2397291" name="Text Box 107"/>
          <p:cNvSpPr txBox="1"/>
          <p:nvPr/>
        </p:nvSpPr>
        <p:spPr>
          <a:xfrm>
            <a:off x="1319213" y="2757488"/>
            <a:ext cx="3044825" cy="1552575"/>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开关切换速度快</a:t>
            </a:r>
            <a:r>
              <a:rPr lang="en-US" altLang="zh-CN" sz="2400" dirty="0">
                <a:solidFill>
                  <a:srgbClr val="3333FF"/>
                </a:solidFill>
                <a:latin typeface="Times New Roman" panose="02020603050405020304" pitchFamily="18" charset="0"/>
              </a:rPr>
              <a:t>(10-100ns)</a:t>
            </a:r>
            <a:r>
              <a:rPr lang="zh-CN" altLang="en-US" sz="2400" dirty="0">
                <a:solidFill>
                  <a:srgbClr val="3333FF"/>
                </a:solidFill>
                <a:latin typeface="Times New Roman" panose="02020603050405020304" pitchFamily="18" charset="0"/>
              </a:rPr>
              <a:t>，导通电阻小</a:t>
            </a:r>
            <a:r>
              <a:rPr lang="en-US" altLang="zh-CN" sz="2400" dirty="0">
                <a:solidFill>
                  <a:srgbClr val="3333FF"/>
                </a:solidFill>
                <a:latin typeface="Times New Roman" panose="02020603050405020304" pitchFamily="18" charset="0"/>
              </a:rPr>
              <a:t>(5-100</a:t>
            </a:r>
            <a:r>
              <a:rPr lang="el-GR" altLang="zh-CN" sz="2400" dirty="0">
                <a:solidFill>
                  <a:srgbClr val="3333FF"/>
                </a:solidFill>
                <a:latin typeface="Times New Roman" panose="02020603050405020304" pitchFamily="18" charset="0"/>
                <a:cs typeface="Times New Roman" panose="02020603050405020304" pitchFamily="18" charset="0"/>
              </a:rPr>
              <a:t>Ω</a:t>
            </a:r>
            <a:r>
              <a:rPr lang="en-US" altLang="zh-CN" sz="2400" dirty="0">
                <a:solidFill>
                  <a:srgbClr val="3333FF"/>
                </a:solidFill>
                <a:latin typeface="Times New Roman" panose="02020603050405020304" pitchFamily="18" charset="0"/>
              </a:rPr>
              <a:t>)</a:t>
            </a:r>
            <a:r>
              <a:rPr lang="zh-CN" altLang="en-US" sz="2400" dirty="0">
                <a:solidFill>
                  <a:srgbClr val="3333FF"/>
                </a:solidFill>
                <a:latin typeface="Times New Roman" panose="02020603050405020304" pitchFamily="18" charset="0"/>
              </a:rPr>
              <a:t>，可两个方向传送信号。 </a:t>
            </a:r>
            <a:endParaRPr lang="zh-CN" altLang="en-US" sz="2400" dirty="0">
              <a:solidFill>
                <a:srgbClr val="3333FF"/>
              </a:solidFill>
              <a:latin typeface="Times New Roman" panose="02020603050405020304" pitchFamily="18" charset="0"/>
            </a:endParaRPr>
          </a:p>
        </p:txBody>
      </p:sp>
      <p:sp>
        <p:nvSpPr>
          <p:cNvPr id="2397292" name="Text Box 108"/>
          <p:cNvSpPr txBox="1"/>
          <p:nvPr/>
        </p:nvSpPr>
        <p:spPr>
          <a:xfrm>
            <a:off x="500063" y="4448175"/>
            <a:ext cx="1560512"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缺点：</a:t>
            </a:r>
            <a:endParaRPr lang="zh-CN" altLang="en-US" sz="2400" dirty="0">
              <a:solidFill>
                <a:srgbClr val="FF0000"/>
              </a:solidFill>
              <a:latin typeface="楷体_GB2312" pitchFamily="49" charset="-122"/>
            </a:endParaRPr>
          </a:p>
        </p:txBody>
      </p:sp>
      <p:sp>
        <p:nvSpPr>
          <p:cNvPr id="2397293" name="Text Box 109"/>
          <p:cNvSpPr txBox="1"/>
          <p:nvPr/>
        </p:nvSpPr>
        <p:spPr>
          <a:xfrm>
            <a:off x="1331913" y="4437063"/>
            <a:ext cx="2986087" cy="1187450"/>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为分立元件，需专门的电平转换电路驱动，使用不方便。</a:t>
            </a:r>
            <a:endParaRPr lang="zh-CN" altLang="en-US" sz="2400" dirty="0">
              <a:solidFill>
                <a:srgbClr val="3333FF"/>
              </a:solidFill>
              <a:latin typeface="Times New Roman" panose="02020603050405020304" pitchFamily="18" charset="0"/>
            </a:endParaRPr>
          </a:p>
        </p:txBody>
      </p:sp>
      <p:sp>
        <p:nvSpPr>
          <p:cNvPr id="22538" name="Text Box 3"/>
          <p:cNvSpPr txBox="1"/>
          <p:nvPr/>
        </p:nvSpPr>
        <p:spPr>
          <a:xfrm>
            <a:off x="268288" y="763588"/>
            <a:ext cx="45323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
        <p:nvSpPr>
          <p:cNvPr id="22539" name="Text Box 3"/>
          <p:cNvSpPr txBox="1"/>
          <p:nvPr/>
        </p:nvSpPr>
        <p:spPr>
          <a:xfrm>
            <a:off x="4968875" y="885825"/>
            <a:ext cx="3727450" cy="457200"/>
          </a:xfrm>
          <a:prstGeom prst="rect">
            <a:avLst/>
          </a:prstGeom>
          <a:noFill/>
          <a:ln w="9525">
            <a:noFill/>
          </a:ln>
        </p:spPr>
        <p:txBody>
          <a:bodyPr>
            <a:spAutoFit/>
          </a:bodyPr>
          <a:p>
            <a:pPr marL="457200" indent="-457200" algn="ctr" eaLnBrk="1" hangingPunct="1"/>
            <a:r>
              <a:rPr lang="en-US" altLang="zh-CN" sz="2400" dirty="0">
                <a:solidFill>
                  <a:srgbClr val="FF0000"/>
                </a:solidFill>
                <a:latin typeface="黑体" panose="02010609060101010101" pitchFamily="49" charset="-122"/>
                <a:ea typeface="黑体" panose="02010609060101010101" pitchFamily="49" charset="-122"/>
              </a:rPr>
              <a:t>P</a:t>
            </a:r>
            <a:r>
              <a:rPr lang="zh-CN" altLang="en-US" sz="2400" dirty="0">
                <a:solidFill>
                  <a:srgbClr val="FF0000"/>
                </a:solidFill>
                <a:latin typeface="黑体" panose="02010609060101010101" pitchFamily="49" charset="-122"/>
                <a:ea typeface="黑体" panose="02010609060101010101" pitchFamily="49" charset="-122"/>
              </a:rPr>
              <a:t>沟道</a:t>
            </a:r>
            <a:r>
              <a:rPr lang="en-US" altLang="zh-CN" sz="2400" dirty="0">
                <a:solidFill>
                  <a:srgbClr val="FF0000"/>
                </a:solidFill>
                <a:latin typeface="黑体" panose="02010609060101010101" pitchFamily="49" charset="-122"/>
                <a:ea typeface="黑体" panose="02010609060101010101" pitchFamily="49" charset="-122"/>
              </a:rPr>
              <a:t>JFET</a:t>
            </a:r>
            <a:endParaRPr lang="en-US" altLang="zh-CN" sz="2400"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7290"/>
                                        </p:tgtEl>
                                        <p:attrNameLst>
                                          <p:attrName>style.visibility</p:attrName>
                                        </p:attrNameLst>
                                      </p:cBhvr>
                                      <p:to>
                                        <p:strVal val="visible"/>
                                      </p:to>
                                    </p:set>
                                    <p:animEffect transition="in" filter="dissolve">
                                      <p:cBhvr>
                                        <p:cTn id="7" dur="500"/>
                                        <p:tgtEl>
                                          <p:spTgt spid="2397290"/>
                                        </p:tgtEl>
                                      </p:cBhvr>
                                    </p:animEffect>
                                  </p:childTnLst>
                                </p:cTn>
                              </p:par>
                              <p:par>
                                <p:cTn id="8" presetID="9" presetClass="entr" presetSubtype="0" fill="hold" nodeType="withEffect">
                                  <p:stCondLst>
                                    <p:cond delay="0"/>
                                  </p:stCondLst>
                                  <p:childTnLst>
                                    <p:set>
                                      <p:cBhvr>
                                        <p:cTn id="9" dur="1" fill="hold">
                                          <p:stCondLst>
                                            <p:cond delay="0"/>
                                          </p:stCondLst>
                                        </p:cTn>
                                        <p:tgtEl>
                                          <p:spTgt spid="2397291"/>
                                        </p:tgtEl>
                                        <p:attrNameLst>
                                          <p:attrName>style.visibility</p:attrName>
                                        </p:attrNameLst>
                                      </p:cBhvr>
                                      <p:to>
                                        <p:strVal val="visible"/>
                                      </p:to>
                                    </p:set>
                                    <p:animEffect transition="in" filter="dissolve">
                                      <p:cBhvr>
                                        <p:cTn id="10" dur="500"/>
                                        <p:tgtEl>
                                          <p:spTgt spid="23972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397292"/>
                                        </p:tgtEl>
                                        <p:attrNameLst>
                                          <p:attrName>style.visibility</p:attrName>
                                        </p:attrNameLst>
                                      </p:cBhvr>
                                      <p:to>
                                        <p:strVal val="visible"/>
                                      </p:to>
                                    </p:set>
                                    <p:animEffect transition="in" filter="dissolve">
                                      <p:cBhvr>
                                        <p:cTn id="15" dur="500"/>
                                        <p:tgtEl>
                                          <p:spTgt spid="2397292"/>
                                        </p:tgtEl>
                                      </p:cBhvr>
                                    </p:animEffect>
                                  </p:childTnLst>
                                </p:cTn>
                              </p:par>
                              <p:par>
                                <p:cTn id="16" presetID="9" presetClass="entr" presetSubtype="0" fill="hold" nodeType="withEffect">
                                  <p:stCondLst>
                                    <p:cond delay="0"/>
                                  </p:stCondLst>
                                  <p:childTnLst>
                                    <p:set>
                                      <p:cBhvr>
                                        <p:cTn id="17" dur="1" fill="hold">
                                          <p:stCondLst>
                                            <p:cond delay="0"/>
                                          </p:stCondLst>
                                        </p:cTn>
                                        <p:tgtEl>
                                          <p:spTgt spid="2397293"/>
                                        </p:tgtEl>
                                        <p:attrNameLst>
                                          <p:attrName>style.visibility</p:attrName>
                                        </p:attrNameLst>
                                      </p:cBhvr>
                                      <p:to>
                                        <p:strVal val="visible"/>
                                      </p:to>
                                    </p:set>
                                    <p:animEffect transition="in" filter="dissolve">
                                      <p:cBhvr>
                                        <p:cTn id="18" dur="500"/>
                                        <p:tgtEl>
                                          <p:spTgt spid="2397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7290" grpId="0"/>
      <p:bldP spid="2397291" grpId="0"/>
      <p:bldP spid="2397292" grpId="0"/>
      <p:bldP spid="2397293"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554" name="Text Box 2"/>
          <p:cNvSpPr txBox="1"/>
          <p:nvPr/>
        </p:nvSpPr>
        <p:spPr>
          <a:xfrm>
            <a:off x="525463" y="1528763"/>
            <a:ext cx="3017837"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2.</a:t>
            </a:r>
            <a:r>
              <a:rPr lang="zh-CN" altLang="en-US" sz="2800" dirty="0">
                <a:solidFill>
                  <a:schemeClr val="tx1"/>
                </a:solidFill>
                <a:latin typeface="Times New Roman" panose="02020603050405020304" pitchFamily="18" charset="0"/>
                <a:ea typeface="黑体" panose="02010609060101010101" pitchFamily="49" charset="-122"/>
              </a:rPr>
              <a:t>场效应管开关 </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398211" name="Text Box 3"/>
          <p:cNvSpPr txBox="1"/>
          <p:nvPr/>
        </p:nvSpPr>
        <p:spPr>
          <a:xfrm>
            <a:off x="165100" y="2022475"/>
            <a:ext cx="4114800" cy="519113"/>
          </a:xfrm>
          <a:prstGeom prst="rect">
            <a:avLst/>
          </a:prstGeom>
          <a:noFill/>
          <a:ln w="9525">
            <a:noFill/>
          </a:ln>
        </p:spPr>
        <p:txBody>
          <a:bodyPr>
            <a:spAutoFit/>
          </a:bodyPr>
          <a:p>
            <a:pPr marL="457200" indent="-457200" eaLnBrk="1" hangingPunct="1">
              <a:buAutoNum type="circleNumDbPlain" startAt="2"/>
            </a:pPr>
            <a:r>
              <a:rPr lang="zh-CN" altLang="en-US" sz="2800" dirty="0">
                <a:solidFill>
                  <a:srgbClr val="000099"/>
                </a:solidFill>
                <a:latin typeface="楷体_GB2312" pitchFamily="49" charset="-122"/>
              </a:rPr>
              <a:t>绝缘栅场效应管开关</a:t>
            </a:r>
            <a:endParaRPr lang="zh-CN" altLang="en-US" sz="2800" dirty="0">
              <a:solidFill>
                <a:srgbClr val="000099"/>
              </a:solidFill>
              <a:latin typeface="楷体_GB2312" pitchFamily="49" charset="-122"/>
            </a:endParaRPr>
          </a:p>
        </p:txBody>
      </p:sp>
      <p:sp>
        <p:nvSpPr>
          <p:cNvPr id="2398215" name="Text Box 7"/>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8314" name="Text Box 106"/>
          <p:cNvSpPr txBox="1"/>
          <p:nvPr/>
        </p:nvSpPr>
        <p:spPr>
          <a:xfrm>
            <a:off x="482600" y="2565400"/>
            <a:ext cx="3797300" cy="946150"/>
          </a:xfrm>
          <a:prstGeom prst="rect">
            <a:avLst/>
          </a:prstGeom>
          <a:solidFill>
            <a:srgbClr val="CCFFFF"/>
          </a:solidFill>
          <a:ln w="9525">
            <a:noFill/>
          </a:ln>
        </p:spPr>
        <p:txBody>
          <a:bodyPr>
            <a:spAutoFit/>
          </a:bodyPr>
          <a:p>
            <a:pPr eaLnBrk="1" hangingPunct="1"/>
            <a:r>
              <a:rPr lang="zh-CN" altLang="en-US" sz="2800" dirty="0">
                <a:solidFill>
                  <a:srgbClr val="FF0000"/>
                </a:solidFill>
                <a:latin typeface="楷体_GB2312" pitchFamily="49" charset="-122"/>
              </a:rPr>
              <a:t>其工作原理与结型场效应管多路开关类似。</a:t>
            </a:r>
            <a:endParaRPr lang="zh-CN" altLang="en-US" sz="2800" dirty="0">
              <a:solidFill>
                <a:srgbClr val="FF0000"/>
              </a:solidFill>
              <a:latin typeface="楷体_GB2312" pitchFamily="49" charset="-122"/>
            </a:endParaRPr>
          </a:p>
        </p:txBody>
      </p:sp>
      <p:grpSp>
        <p:nvGrpSpPr>
          <p:cNvPr id="2398315" name="Group 107"/>
          <p:cNvGrpSpPr/>
          <p:nvPr/>
        </p:nvGrpSpPr>
        <p:grpSpPr>
          <a:xfrm>
            <a:off x="4878388" y="1039813"/>
            <a:ext cx="4006850" cy="4916487"/>
            <a:chOff x="342" y="539"/>
            <a:chExt cx="2524" cy="3097"/>
          </a:xfrm>
        </p:grpSpPr>
        <p:sp>
          <p:nvSpPr>
            <p:cNvPr id="23565" name="AutoShape 108"/>
            <p:cNvSpPr>
              <a:spLocks noChangeAspect="1" noTextEdit="1"/>
            </p:cNvSpPr>
            <p:nvPr/>
          </p:nvSpPr>
          <p:spPr>
            <a:xfrm>
              <a:off x="342" y="539"/>
              <a:ext cx="2524" cy="3097"/>
            </a:xfrm>
            <a:prstGeom prst="rect">
              <a:avLst/>
            </a:prstGeom>
            <a:solidFill>
              <a:srgbClr val="FFFF99"/>
            </a:solidFill>
            <a:ln w="9525">
              <a:noFill/>
            </a:ln>
          </p:spPr>
          <p:txBody>
            <a:bodyPr/>
            <a:p>
              <a:endParaRPr lang="zh-CN" altLang="en-US"/>
            </a:p>
          </p:txBody>
        </p:sp>
        <p:sp>
          <p:nvSpPr>
            <p:cNvPr id="23566" name="Line 109"/>
            <p:cNvSpPr/>
            <p:nvPr/>
          </p:nvSpPr>
          <p:spPr>
            <a:xfrm>
              <a:off x="1595" y="778"/>
              <a:ext cx="1" cy="166"/>
            </a:xfrm>
            <a:prstGeom prst="line">
              <a:avLst/>
            </a:prstGeom>
            <a:ln w="0" cap="flat" cmpd="sng">
              <a:solidFill>
                <a:srgbClr val="0000FF"/>
              </a:solidFill>
              <a:prstDash val="solid"/>
              <a:headEnd type="none" w="med" len="med"/>
              <a:tailEnd type="none" w="med" len="med"/>
            </a:ln>
          </p:spPr>
        </p:sp>
        <p:sp>
          <p:nvSpPr>
            <p:cNvPr id="23567" name="Line 110"/>
            <p:cNvSpPr/>
            <p:nvPr/>
          </p:nvSpPr>
          <p:spPr>
            <a:xfrm>
              <a:off x="1514" y="944"/>
              <a:ext cx="135" cy="1"/>
            </a:xfrm>
            <a:prstGeom prst="line">
              <a:avLst/>
            </a:prstGeom>
            <a:ln w="0" cap="flat" cmpd="sng">
              <a:solidFill>
                <a:srgbClr val="0000FF"/>
              </a:solidFill>
              <a:prstDash val="solid"/>
              <a:headEnd type="none" w="med" len="med"/>
              <a:tailEnd type="none" w="med" len="med"/>
            </a:ln>
          </p:spPr>
        </p:sp>
        <p:sp>
          <p:nvSpPr>
            <p:cNvPr id="23568" name="Line 111"/>
            <p:cNvSpPr/>
            <p:nvPr/>
          </p:nvSpPr>
          <p:spPr>
            <a:xfrm>
              <a:off x="1812" y="778"/>
              <a:ext cx="1" cy="166"/>
            </a:xfrm>
            <a:prstGeom prst="line">
              <a:avLst/>
            </a:prstGeom>
            <a:ln w="0" cap="flat" cmpd="sng">
              <a:solidFill>
                <a:srgbClr val="0000FF"/>
              </a:solidFill>
              <a:prstDash val="solid"/>
              <a:headEnd type="none" w="med" len="med"/>
              <a:tailEnd type="none" w="med" len="med"/>
            </a:ln>
          </p:spPr>
        </p:sp>
        <p:sp>
          <p:nvSpPr>
            <p:cNvPr id="23569" name="Line 112"/>
            <p:cNvSpPr/>
            <p:nvPr/>
          </p:nvSpPr>
          <p:spPr>
            <a:xfrm>
              <a:off x="1704" y="778"/>
              <a:ext cx="1" cy="166"/>
            </a:xfrm>
            <a:prstGeom prst="line">
              <a:avLst/>
            </a:prstGeom>
            <a:ln w="0" cap="flat" cmpd="sng">
              <a:solidFill>
                <a:srgbClr val="0000FF"/>
              </a:solidFill>
              <a:prstDash val="solid"/>
              <a:headEnd type="none" w="med" len="med"/>
              <a:tailEnd type="none" w="med" len="med"/>
            </a:ln>
          </p:spPr>
        </p:sp>
        <p:sp>
          <p:nvSpPr>
            <p:cNvPr id="23570" name="Line 113"/>
            <p:cNvSpPr/>
            <p:nvPr/>
          </p:nvSpPr>
          <p:spPr>
            <a:xfrm flipH="1" flipV="1">
              <a:off x="1677" y="875"/>
              <a:ext cx="27" cy="69"/>
            </a:xfrm>
            <a:prstGeom prst="line">
              <a:avLst/>
            </a:prstGeom>
            <a:ln w="0" cap="flat" cmpd="sng">
              <a:solidFill>
                <a:srgbClr val="0000FF"/>
              </a:solidFill>
              <a:prstDash val="solid"/>
              <a:headEnd type="none" w="med" len="med"/>
              <a:tailEnd type="none" w="med" len="med"/>
            </a:ln>
          </p:spPr>
        </p:sp>
        <p:sp>
          <p:nvSpPr>
            <p:cNvPr id="23571" name="Line 114"/>
            <p:cNvSpPr/>
            <p:nvPr/>
          </p:nvSpPr>
          <p:spPr>
            <a:xfrm flipV="1">
              <a:off x="1704" y="875"/>
              <a:ext cx="27" cy="69"/>
            </a:xfrm>
            <a:prstGeom prst="line">
              <a:avLst/>
            </a:prstGeom>
            <a:ln w="0" cap="flat" cmpd="sng">
              <a:solidFill>
                <a:srgbClr val="0000FF"/>
              </a:solidFill>
              <a:prstDash val="solid"/>
              <a:headEnd type="none" w="med" len="med"/>
              <a:tailEnd type="none" w="med" len="med"/>
            </a:ln>
          </p:spPr>
        </p:sp>
        <p:sp>
          <p:nvSpPr>
            <p:cNvPr id="23572" name="Line 115"/>
            <p:cNvSpPr/>
            <p:nvPr/>
          </p:nvSpPr>
          <p:spPr>
            <a:xfrm>
              <a:off x="1677" y="944"/>
              <a:ext cx="67" cy="1"/>
            </a:xfrm>
            <a:prstGeom prst="line">
              <a:avLst/>
            </a:prstGeom>
            <a:ln w="0" cap="flat" cmpd="sng">
              <a:solidFill>
                <a:srgbClr val="0000FF"/>
              </a:solidFill>
              <a:prstDash val="solid"/>
              <a:headEnd type="none" w="med" len="med"/>
              <a:tailEnd type="none" w="med" len="med"/>
            </a:ln>
          </p:spPr>
        </p:sp>
        <p:sp>
          <p:nvSpPr>
            <p:cNvPr id="23573" name="Line 116"/>
            <p:cNvSpPr/>
            <p:nvPr/>
          </p:nvSpPr>
          <p:spPr>
            <a:xfrm>
              <a:off x="1772" y="944"/>
              <a:ext cx="122" cy="1"/>
            </a:xfrm>
            <a:prstGeom prst="line">
              <a:avLst/>
            </a:prstGeom>
            <a:ln w="0" cap="flat" cmpd="sng">
              <a:solidFill>
                <a:srgbClr val="0000FF"/>
              </a:solidFill>
              <a:prstDash val="solid"/>
              <a:headEnd type="none" w="med" len="med"/>
              <a:tailEnd type="none" w="med" len="med"/>
            </a:ln>
          </p:spPr>
        </p:sp>
        <p:sp>
          <p:nvSpPr>
            <p:cNvPr id="23574" name="Line 117"/>
            <p:cNvSpPr/>
            <p:nvPr/>
          </p:nvSpPr>
          <p:spPr>
            <a:xfrm>
              <a:off x="1661" y="983"/>
              <a:ext cx="108" cy="1"/>
            </a:xfrm>
            <a:prstGeom prst="line">
              <a:avLst/>
            </a:prstGeom>
            <a:ln w="0" cap="flat" cmpd="sng">
              <a:solidFill>
                <a:srgbClr val="0000FF"/>
              </a:solidFill>
              <a:prstDash val="solid"/>
              <a:headEnd type="none" w="med" len="med"/>
              <a:tailEnd type="none" w="med" len="med"/>
            </a:ln>
          </p:spPr>
        </p:sp>
        <p:sp>
          <p:nvSpPr>
            <p:cNvPr id="23575" name="Line 118"/>
            <p:cNvSpPr/>
            <p:nvPr/>
          </p:nvSpPr>
          <p:spPr>
            <a:xfrm flipH="1">
              <a:off x="1267" y="1330"/>
              <a:ext cx="396" cy="1"/>
            </a:xfrm>
            <a:prstGeom prst="line">
              <a:avLst/>
            </a:prstGeom>
            <a:ln w="0" cap="flat" cmpd="sng">
              <a:solidFill>
                <a:srgbClr val="0000FF"/>
              </a:solidFill>
              <a:prstDash val="solid"/>
              <a:headEnd type="none" w="med" len="med"/>
              <a:tailEnd type="none" w="med" len="med"/>
            </a:ln>
          </p:spPr>
        </p:sp>
        <p:sp>
          <p:nvSpPr>
            <p:cNvPr id="23576" name="Rectangle 119"/>
            <p:cNvSpPr/>
            <p:nvPr/>
          </p:nvSpPr>
          <p:spPr>
            <a:xfrm>
              <a:off x="1243" y="1054"/>
              <a:ext cx="67" cy="15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77" name="Line 120"/>
            <p:cNvSpPr/>
            <p:nvPr/>
          </p:nvSpPr>
          <p:spPr>
            <a:xfrm>
              <a:off x="1270" y="1206"/>
              <a:ext cx="1" cy="234"/>
            </a:xfrm>
            <a:prstGeom prst="line">
              <a:avLst/>
            </a:prstGeom>
            <a:ln w="0" cap="flat" cmpd="sng">
              <a:solidFill>
                <a:srgbClr val="0000FF"/>
              </a:solidFill>
              <a:prstDash val="solid"/>
              <a:headEnd type="none" w="med" len="med"/>
              <a:tailEnd type="none" w="med" len="med"/>
            </a:ln>
          </p:spPr>
        </p:sp>
        <p:sp>
          <p:nvSpPr>
            <p:cNvPr id="23578" name="Line 121"/>
            <p:cNvSpPr/>
            <p:nvPr/>
          </p:nvSpPr>
          <p:spPr>
            <a:xfrm flipH="1">
              <a:off x="1161" y="1440"/>
              <a:ext cx="109" cy="110"/>
            </a:xfrm>
            <a:prstGeom prst="line">
              <a:avLst/>
            </a:prstGeom>
            <a:ln w="0" cap="flat" cmpd="sng">
              <a:solidFill>
                <a:srgbClr val="0000FF"/>
              </a:solidFill>
              <a:prstDash val="solid"/>
              <a:headEnd type="none" w="med" len="med"/>
              <a:tailEnd type="none" w="med" len="med"/>
            </a:ln>
          </p:spPr>
        </p:sp>
        <p:sp>
          <p:nvSpPr>
            <p:cNvPr id="23579" name="Line 122"/>
            <p:cNvSpPr/>
            <p:nvPr/>
          </p:nvSpPr>
          <p:spPr>
            <a:xfrm>
              <a:off x="1161" y="1550"/>
              <a:ext cx="109" cy="111"/>
            </a:xfrm>
            <a:prstGeom prst="line">
              <a:avLst/>
            </a:prstGeom>
            <a:ln w="0" cap="flat" cmpd="sng">
              <a:solidFill>
                <a:srgbClr val="0000FF"/>
              </a:solidFill>
              <a:prstDash val="solid"/>
              <a:headEnd type="stealth" w="lg" len="lg"/>
              <a:tailEnd type="none" w="med" len="med"/>
            </a:ln>
          </p:spPr>
        </p:sp>
        <p:sp>
          <p:nvSpPr>
            <p:cNvPr id="23580" name="Line 123"/>
            <p:cNvSpPr/>
            <p:nvPr/>
          </p:nvSpPr>
          <p:spPr>
            <a:xfrm>
              <a:off x="1161" y="1440"/>
              <a:ext cx="1" cy="221"/>
            </a:xfrm>
            <a:prstGeom prst="line">
              <a:avLst/>
            </a:prstGeom>
            <a:ln w="0" cap="flat" cmpd="sng">
              <a:solidFill>
                <a:srgbClr val="0000FF"/>
              </a:solidFill>
              <a:prstDash val="solid"/>
              <a:headEnd type="none" w="med" len="med"/>
              <a:tailEnd type="none" w="med" len="med"/>
            </a:ln>
          </p:spPr>
        </p:sp>
        <p:sp>
          <p:nvSpPr>
            <p:cNvPr id="23581" name="Line 124"/>
            <p:cNvSpPr/>
            <p:nvPr/>
          </p:nvSpPr>
          <p:spPr>
            <a:xfrm flipH="1">
              <a:off x="953" y="1550"/>
              <a:ext cx="208" cy="1"/>
            </a:xfrm>
            <a:prstGeom prst="line">
              <a:avLst/>
            </a:prstGeom>
            <a:ln w="0" cap="flat" cmpd="sng">
              <a:solidFill>
                <a:srgbClr val="0000FF"/>
              </a:solidFill>
              <a:prstDash val="solid"/>
              <a:headEnd type="none" w="med" len="med"/>
              <a:tailEnd type="none" w="med" len="med"/>
            </a:ln>
          </p:spPr>
        </p:sp>
        <p:sp>
          <p:nvSpPr>
            <p:cNvPr id="23582" name="Rectangle 125"/>
            <p:cNvSpPr/>
            <p:nvPr/>
          </p:nvSpPr>
          <p:spPr>
            <a:xfrm>
              <a:off x="781" y="1523"/>
              <a:ext cx="177"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83" name="Line 126"/>
            <p:cNvSpPr/>
            <p:nvPr/>
          </p:nvSpPr>
          <p:spPr>
            <a:xfrm flipH="1">
              <a:off x="519" y="1550"/>
              <a:ext cx="262" cy="1"/>
            </a:xfrm>
            <a:prstGeom prst="line">
              <a:avLst/>
            </a:prstGeom>
            <a:ln w="0" cap="flat" cmpd="sng">
              <a:solidFill>
                <a:srgbClr val="0000FF"/>
              </a:solidFill>
              <a:prstDash val="solid"/>
              <a:headEnd type="none" w="med" len="med"/>
              <a:tailEnd type="none" w="med" len="med"/>
            </a:ln>
          </p:spPr>
        </p:sp>
        <p:sp>
          <p:nvSpPr>
            <p:cNvPr id="23584" name="Line 127"/>
            <p:cNvSpPr/>
            <p:nvPr/>
          </p:nvSpPr>
          <p:spPr>
            <a:xfrm>
              <a:off x="535" y="2102"/>
              <a:ext cx="1078" cy="1"/>
            </a:xfrm>
            <a:prstGeom prst="line">
              <a:avLst/>
            </a:prstGeom>
            <a:ln w="0" cap="flat" cmpd="sng">
              <a:solidFill>
                <a:srgbClr val="0000FF"/>
              </a:solidFill>
              <a:prstDash val="solid"/>
              <a:headEnd type="none" w="med" len="med"/>
              <a:tailEnd type="none" w="med" len="med"/>
            </a:ln>
          </p:spPr>
        </p:sp>
        <p:sp>
          <p:nvSpPr>
            <p:cNvPr id="23585" name="Line 128"/>
            <p:cNvSpPr/>
            <p:nvPr/>
          </p:nvSpPr>
          <p:spPr>
            <a:xfrm>
              <a:off x="1609" y="2102"/>
              <a:ext cx="1" cy="166"/>
            </a:xfrm>
            <a:prstGeom prst="line">
              <a:avLst/>
            </a:prstGeom>
            <a:ln w="0" cap="flat" cmpd="sng">
              <a:solidFill>
                <a:srgbClr val="0000FF"/>
              </a:solidFill>
              <a:prstDash val="solid"/>
              <a:headEnd type="none" w="med" len="med"/>
              <a:tailEnd type="none" w="med" len="med"/>
            </a:ln>
          </p:spPr>
        </p:sp>
        <p:sp>
          <p:nvSpPr>
            <p:cNvPr id="23586" name="Line 129"/>
            <p:cNvSpPr/>
            <p:nvPr/>
          </p:nvSpPr>
          <p:spPr>
            <a:xfrm>
              <a:off x="1527" y="2268"/>
              <a:ext cx="136" cy="1"/>
            </a:xfrm>
            <a:prstGeom prst="line">
              <a:avLst/>
            </a:prstGeom>
            <a:ln w="0" cap="flat" cmpd="sng">
              <a:solidFill>
                <a:srgbClr val="0000FF"/>
              </a:solidFill>
              <a:prstDash val="solid"/>
              <a:headEnd type="none" w="med" len="med"/>
              <a:tailEnd type="none" w="med" len="med"/>
            </a:ln>
          </p:spPr>
        </p:sp>
        <p:sp>
          <p:nvSpPr>
            <p:cNvPr id="23587" name="Line 130"/>
            <p:cNvSpPr/>
            <p:nvPr/>
          </p:nvSpPr>
          <p:spPr>
            <a:xfrm>
              <a:off x="1826" y="2102"/>
              <a:ext cx="1" cy="166"/>
            </a:xfrm>
            <a:prstGeom prst="line">
              <a:avLst/>
            </a:prstGeom>
            <a:ln w="0" cap="flat" cmpd="sng">
              <a:solidFill>
                <a:srgbClr val="0000FF"/>
              </a:solidFill>
              <a:prstDash val="solid"/>
              <a:headEnd type="none" w="med" len="med"/>
              <a:tailEnd type="none" w="med" len="med"/>
            </a:ln>
          </p:spPr>
        </p:sp>
        <p:sp>
          <p:nvSpPr>
            <p:cNvPr id="23588" name="Line 131"/>
            <p:cNvSpPr/>
            <p:nvPr/>
          </p:nvSpPr>
          <p:spPr>
            <a:xfrm>
              <a:off x="1717" y="2102"/>
              <a:ext cx="1" cy="166"/>
            </a:xfrm>
            <a:prstGeom prst="line">
              <a:avLst/>
            </a:prstGeom>
            <a:ln w="0" cap="flat" cmpd="sng">
              <a:solidFill>
                <a:srgbClr val="0000FF"/>
              </a:solidFill>
              <a:prstDash val="solid"/>
              <a:headEnd type="none" w="med" len="med"/>
              <a:tailEnd type="none" w="med" len="med"/>
            </a:ln>
          </p:spPr>
        </p:sp>
        <p:sp>
          <p:nvSpPr>
            <p:cNvPr id="23589" name="Line 132"/>
            <p:cNvSpPr/>
            <p:nvPr/>
          </p:nvSpPr>
          <p:spPr>
            <a:xfrm flipH="1" flipV="1">
              <a:off x="1690" y="2199"/>
              <a:ext cx="27" cy="69"/>
            </a:xfrm>
            <a:prstGeom prst="line">
              <a:avLst/>
            </a:prstGeom>
            <a:ln w="0" cap="flat" cmpd="sng">
              <a:solidFill>
                <a:srgbClr val="0000FF"/>
              </a:solidFill>
              <a:prstDash val="solid"/>
              <a:headEnd type="none" w="med" len="med"/>
              <a:tailEnd type="none" w="med" len="med"/>
            </a:ln>
          </p:spPr>
        </p:sp>
        <p:sp>
          <p:nvSpPr>
            <p:cNvPr id="23590" name="Line 133"/>
            <p:cNvSpPr/>
            <p:nvPr/>
          </p:nvSpPr>
          <p:spPr>
            <a:xfrm flipV="1">
              <a:off x="1717" y="2199"/>
              <a:ext cx="27" cy="69"/>
            </a:xfrm>
            <a:prstGeom prst="line">
              <a:avLst/>
            </a:prstGeom>
            <a:ln w="0" cap="flat" cmpd="sng">
              <a:solidFill>
                <a:srgbClr val="0000FF"/>
              </a:solidFill>
              <a:prstDash val="solid"/>
              <a:headEnd type="none" w="med" len="med"/>
              <a:tailEnd type="none" w="med" len="med"/>
            </a:ln>
          </p:spPr>
        </p:sp>
        <p:sp>
          <p:nvSpPr>
            <p:cNvPr id="23591" name="Line 134"/>
            <p:cNvSpPr/>
            <p:nvPr/>
          </p:nvSpPr>
          <p:spPr>
            <a:xfrm>
              <a:off x="1826" y="2102"/>
              <a:ext cx="422" cy="1"/>
            </a:xfrm>
            <a:prstGeom prst="line">
              <a:avLst/>
            </a:prstGeom>
            <a:ln w="0" cap="flat" cmpd="sng">
              <a:solidFill>
                <a:srgbClr val="0000FF"/>
              </a:solidFill>
              <a:prstDash val="solid"/>
              <a:headEnd type="none" w="med" len="med"/>
              <a:tailEnd type="none" w="med" len="med"/>
            </a:ln>
          </p:spPr>
        </p:sp>
        <p:sp>
          <p:nvSpPr>
            <p:cNvPr id="23592" name="Line 135"/>
            <p:cNvSpPr/>
            <p:nvPr/>
          </p:nvSpPr>
          <p:spPr>
            <a:xfrm>
              <a:off x="1690" y="2268"/>
              <a:ext cx="68" cy="1"/>
            </a:xfrm>
            <a:prstGeom prst="line">
              <a:avLst/>
            </a:prstGeom>
            <a:ln w="0" cap="flat" cmpd="sng">
              <a:solidFill>
                <a:srgbClr val="0000FF"/>
              </a:solidFill>
              <a:prstDash val="solid"/>
              <a:headEnd type="none" w="med" len="med"/>
              <a:tailEnd type="none" w="med" len="med"/>
            </a:ln>
          </p:spPr>
        </p:sp>
        <p:sp>
          <p:nvSpPr>
            <p:cNvPr id="23593" name="Line 136"/>
            <p:cNvSpPr/>
            <p:nvPr/>
          </p:nvSpPr>
          <p:spPr>
            <a:xfrm>
              <a:off x="1785" y="2268"/>
              <a:ext cx="122" cy="1"/>
            </a:xfrm>
            <a:prstGeom prst="line">
              <a:avLst/>
            </a:prstGeom>
            <a:ln w="0" cap="flat" cmpd="sng">
              <a:solidFill>
                <a:srgbClr val="0000FF"/>
              </a:solidFill>
              <a:prstDash val="solid"/>
              <a:headEnd type="none" w="med" len="med"/>
              <a:tailEnd type="none" w="med" len="med"/>
            </a:ln>
          </p:spPr>
        </p:sp>
        <p:sp>
          <p:nvSpPr>
            <p:cNvPr id="23594" name="Line 137"/>
            <p:cNvSpPr/>
            <p:nvPr/>
          </p:nvSpPr>
          <p:spPr>
            <a:xfrm>
              <a:off x="1677" y="2307"/>
              <a:ext cx="108" cy="1"/>
            </a:xfrm>
            <a:prstGeom prst="line">
              <a:avLst/>
            </a:prstGeom>
            <a:ln w="0" cap="flat" cmpd="sng">
              <a:solidFill>
                <a:srgbClr val="0000FF"/>
              </a:solidFill>
              <a:prstDash val="solid"/>
              <a:headEnd type="none" w="med" len="med"/>
              <a:tailEnd type="none" w="med" len="med"/>
            </a:ln>
          </p:spPr>
        </p:sp>
        <p:sp>
          <p:nvSpPr>
            <p:cNvPr id="23595" name="Line 138"/>
            <p:cNvSpPr/>
            <p:nvPr/>
          </p:nvSpPr>
          <p:spPr>
            <a:xfrm>
              <a:off x="1677" y="2307"/>
              <a:ext cx="1" cy="379"/>
            </a:xfrm>
            <a:prstGeom prst="line">
              <a:avLst/>
            </a:prstGeom>
            <a:ln w="0" cap="flat" cmpd="sng">
              <a:solidFill>
                <a:srgbClr val="0000FF"/>
              </a:solidFill>
              <a:prstDash val="solid"/>
              <a:headEnd type="none" w="med" len="med"/>
              <a:tailEnd type="none" w="med" len="med"/>
            </a:ln>
          </p:spPr>
        </p:sp>
        <p:sp>
          <p:nvSpPr>
            <p:cNvPr id="23596" name="Line 139"/>
            <p:cNvSpPr/>
            <p:nvPr/>
          </p:nvSpPr>
          <p:spPr>
            <a:xfrm flipH="1">
              <a:off x="1281" y="2681"/>
              <a:ext cx="396" cy="1"/>
            </a:xfrm>
            <a:prstGeom prst="line">
              <a:avLst/>
            </a:prstGeom>
            <a:ln w="0" cap="flat" cmpd="sng">
              <a:solidFill>
                <a:srgbClr val="0000FF"/>
              </a:solidFill>
              <a:prstDash val="solid"/>
              <a:headEnd type="none" w="med" len="med"/>
              <a:tailEnd type="none" w="med" len="med"/>
            </a:ln>
          </p:spPr>
        </p:sp>
        <p:sp>
          <p:nvSpPr>
            <p:cNvPr id="23597" name="Rectangle 140"/>
            <p:cNvSpPr/>
            <p:nvPr/>
          </p:nvSpPr>
          <p:spPr>
            <a:xfrm>
              <a:off x="1256" y="2447"/>
              <a:ext cx="68" cy="15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98" name="Line 141"/>
            <p:cNvSpPr/>
            <p:nvPr/>
          </p:nvSpPr>
          <p:spPr>
            <a:xfrm>
              <a:off x="1283" y="2323"/>
              <a:ext cx="1" cy="124"/>
            </a:xfrm>
            <a:prstGeom prst="line">
              <a:avLst/>
            </a:prstGeom>
            <a:ln w="0" cap="flat" cmpd="sng">
              <a:solidFill>
                <a:srgbClr val="0000FF"/>
              </a:solidFill>
              <a:prstDash val="solid"/>
              <a:headEnd type="none" w="med" len="med"/>
              <a:tailEnd type="none" w="med" len="med"/>
            </a:ln>
          </p:spPr>
        </p:sp>
        <p:sp>
          <p:nvSpPr>
            <p:cNvPr id="23599" name="Line 142"/>
            <p:cNvSpPr/>
            <p:nvPr/>
          </p:nvSpPr>
          <p:spPr>
            <a:xfrm flipH="1">
              <a:off x="1175" y="2792"/>
              <a:ext cx="108" cy="110"/>
            </a:xfrm>
            <a:prstGeom prst="line">
              <a:avLst/>
            </a:prstGeom>
            <a:ln w="0" cap="flat" cmpd="sng">
              <a:solidFill>
                <a:srgbClr val="0000FF"/>
              </a:solidFill>
              <a:prstDash val="solid"/>
              <a:headEnd type="none" w="med" len="med"/>
              <a:tailEnd type="none" w="med" len="med"/>
            </a:ln>
          </p:spPr>
        </p:sp>
        <p:sp>
          <p:nvSpPr>
            <p:cNvPr id="23600" name="Line 143"/>
            <p:cNvSpPr/>
            <p:nvPr/>
          </p:nvSpPr>
          <p:spPr>
            <a:xfrm>
              <a:off x="1175" y="2902"/>
              <a:ext cx="108" cy="110"/>
            </a:xfrm>
            <a:prstGeom prst="line">
              <a:avLst/>
            </a:prstGeom>
            <a:ln w="0" cap="flat" cmpd="sng">
              <a:solidFill>
                <a:srgbClr val="0000FF"/>
              </a:solidFill>
              <a:prstDash val="solid"/>
              <a:headEnd type="stealth" w="lg" len="lg"/>
              <a:tailEnd type="none" w="med" len="med"/>
            </a:ln>
          </p:spPr>
        </p:sp>
        <p:sp>
          <p:nvSpPr>
            <p:cNvPr id="23601" name="Line 144"/>
            <p:cNvSpPr/>
            <p:nvPr/>
          </p:nvSpPr>
          <p:spPr>
            <a:xfrm>
              <a:off x="1175" y="2792"/>
              <a:ext cx="1" cy="220"/>
            </a:xfrm>
            <a:prstGeom prst="line">
              <a:avLst/>
            </a:prstGeom>
            <a:ln w="0" cap="flat" cmpd="sng">
              <a:solidFill>
                <a:srgbClr val="0000FF"/>
              </a:solidFill>
              <a:prstDash val="solid"/>
              <a:headEnd type="none" w="med" len="med"/>
              <a:tailEnd type="none" w="med" len="med"/>
            </a:ln>
          </p:spPr>
        </p:sp>
        <p:sp>
          <p:nvSpPr>
            <p:cNvPr id="23602" name="Line 145"/>
            <p:cNvSpPr/>
            <p:nvPr/>
          </p:nvSpPr>
          <p:spPr>
            <a:xfrm flipH="1">
              <a:off x="967" y="2902"/>
              <a:ext cx="208" cy="1"/>
            </a:xfrm>
            <a:prstGeom prst="line">
              <a:avLst/>
            </a:prstGeom>
            <a:ln w="0" cap="flat" cmpd="sng">
              <a:solidFill>
                <a:srgbClr val="0000FF"/>
              </a:solidFill>
              <a:prstDash val="solid"/>
              <a:headEnd type="none" w="med" len="med"/>
              <a:tailEnd type="none" w="med" len="med"/>
            </a:ln>
          </p:spPr>
        </p:sp>
        <p:sp>
          <p:nvSpPr>
            <p:cNvPr id="23603" name="Rectangle 146"/>
            <p:cNvSpPr/>
            <p:nvPr/>
          </p:nvSpPr>
          <p:spPr>
            <a:xfrm>
              <a:off x="795" y="2874"/>
              <a:ext cx="176" cy="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04" name="Line 147"/>
            <p:cNvSpPr/>
            <p:nvPr/>
          </p:nvSpPr>
          <p:spPr>
            <a:xfrm flipH="1">
              <a:off x="533" y="2902"/>
              <a:ext cx="262" cy="1"/>
            </a:xfrm>
            <a:prstGeom prst="line">
              <a:avLst/>
            </a:prstGeom>
            <a:ln w="0" cap="flat" cmpd="sng">
              <a:solidFill>
                <a:srgbClr val="0000FF"/>
              </a:solidFill>
              <a:prstDash val="solid"/>
              <a:headEnd type="none" w="med" len="med"/>
              <a:tailEnd type="none" w="med" len="med"/>
            </a:ln>
          </p:spPr>
        </p:sp>
        <p:sp>
          <p:nvSpPr>
            <p:cNvPr id="23605" name="Line 148"/>
            <p:cNvSpPr/>
            <p:nvPr/>
          </p:nvSpPr>
          <p:spPr>
            <a:xfrm>
              <a:off x="2246" y="778"/>
              <a:ext cx="1" cy="235"/>
            </a:xfrm>
            <a:prstGeom prst="line">
              <a:avLst/>
            </a:prstGeom>
            <a:ln w="0" cap="flat" cmpd="sng">
              <a:solidFill>
                <a:srgbClr val="0000FF"/>
              </a:solidFill>
              <a:prstDash val="solid"/>
              <a:headEnd type="none" w="med" len="med"/>
              <a:tailEnd type="none" w="med" len="med"/>
            </a:ln>
          </p:spPr>
        </p:sp>
        <p:sp>
          <p:nvSpPr>
            <p:cNvPr id="23606" name="Line 149"/>
            <p:cNvSpPr/>
            <p:nvPr/>
          </p:nvSpPr>
          <p:spPr>
            <a:xfrm>
              <a:off x="2246" y="944"/>
              <a:ext cx="1" cy="1163"/>
            </a:xfrm>
            <a:prstGeom prst="line">
              <a:avLst/>
            </a:prstGeom>
            <a:ln w="0" cap="flat" cmpd="sng">
              <a:solidFill>
                <a:srgbClr val="0000FF"/>
              </a:solidFill>
              <a:prstDash val="sysDot"/>
              <a:headEnd type="none" w="med" len="med"/>
              <a:tailEnd type="none" w="med" len="med"/>
            </a:ln>
          </p:spPr>
        </p:sp>
        <p:sp>
          <p:nvSpPr>
            <p:cNvPr id="23607" name="Oval 150"/>
            <p:cNvSpPr/>
            <p:nvPr/>
          </p:nvSpPr>
          <p:spPr>
            <a:xfrm>
              <a:off x="1243" y="1785"/>
              <a:ext cx="67"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08" name="Rectangle 151"/>
            <p:cNvSpPr/>
            <p:nvPr/>
          </p:nvSpPr>
          <p:spPr>
            <a:xfrm>
              <a:off x="1338" y="1730"/>
              <a:ext cx="257"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+4V</a:t>
              </a:r>
              <a:endParaRPr lang="en-US" altLang="zh-CN" dirty="0">
                <a:latin typeface="Times New Roman" panose="02020603050405020304" pitchFamily="18" charset="0"/>
              </a:endParaRPr>
            </a:p>
          </p:txBody>
        </p:sp>
        <p:sp>
          <p:nvSpPr>
            <p:cNvPr id="23609" name="Rectangle 152"/>
            <p:cNvSpPr/>
            <p:nvPr/>
          </p:nvSpPr>
          <p:spPr>
            <a:xfrm>
              <a:off x="1351" y="3109"/>
              <a:ext cx="257"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+4V</a:t>
              </a:r>
              <a:endParaRPr lang="en-US" altLang="zh-CN" dirty="0">
                <a:latin typeface="Times New Roman" panose="02020603050405020304" pitchFamily="18" charset="0"/>
              </a:endParaRPr>
            </a:p>
          </p:txBody>
        </p:sp>
        <p:sp>
          <p:nvSpPr>
            <p:cNvPr id="23610" name="Rectangle 153"/>
            <p:cNvSpPr/>
            <p:nvPr/>
          </p:nvSpPr>
          <p:spPr>
            <a:xfrm>
              <a:off x="890" y="806"/>
              <a:ext cx="296"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-20V</a:t>
              </a:r>
              <a:endParaRPr lang="en-US" altLang="zh-CN" dirty="0">
                <a:latin typeface="Times New Roman" panose="02020603050405020304" pitchFamily="18" charset="0"/>
              </a:endParaRPr>
            </a:p>
          </p:txBody>
        </p:sp>
        <p:sp>
          <p:nvSpPr>
            <p:cNvPr id="23611" name="Rectangle 154"/>
            <p:cNvSpPr/>
            <p:nvPr/>
          </p:nvSpPr>
          <p:spPr>
            <a:xfrm>
              <a:off x="917" y="2185"/>
              <a:ext cx="296"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-20V</a:t>
              </a:r>
              <a:endParaRPr lang="en-US" altLang="zh-CN" dirty="0">
                <a:latin typeface="Times New Roman" panose="02020603050405020304" pitchFamily="18" charset="0"/>
              </a:endParaRPr>
            </a:p>
          </p:txBody>
        </p:sp>
        <p:grpSp>
          <p:nvGrpSpPr>
            <p:cNvPr id="23612" name="Group 155"/>
            <p:cNvGrpSpPr/>
            <p:nvPr/>
          </p:nvGrpSpPr>
          <p:grpSpPr>
            <a:xfrm>
              <a:off x="1649" y="599"/>
              <a:ext cx="165" cy="162"/>
              <a:chOff x="1649" y="599"/>
              <a:chExt cx="165" cy="162"/>
            </a:xfrm>
          </p:grpSpPr>
          <p:sp>
            <p:nvSpPr>
              <p:cNvPr id="23660" name="Rectangle 156"/>
              <p:cNvSpPr/>
              <p:nvPr/>
            </p:nvSpPr>
            <p:spPr>
              <a:xfrm>
                <a:off x="1649" y="599"/>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3661" name="Rectangle 157"/>
              <p:cNvSpPr/>
              <p:nvPr/>
            </p:nvSpPr>
            <p:spPr>
              <a:xfrm>
                <a:off x="1758" y="64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sp>
          <p:nvSpPr>
            <p:cNvPr id="23613" name="Rectangle 158"/>
            <p:cNvSpPr/>
            <p:nvPr/>
          </p:nvSpPr>
          <p:spPr>
            <a:xfrm>
              <a:off x="1351" y="1468"/>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3614" name="Rectangle 159"/>
            <p:cNvSpPr/>
            <p:nvPr/>
          </p:nvSpPr>
          <p:spPr>
            <a:xfrm>
              <a:off x="1460" y="1509"/>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3615" name="Line 160"/>
            <p:cNvSpPr/>
            <p:nvPr/>
          </p:nvSpPr>
          <p:spPr>
            <a:xfrm flipH="1">
              <a:off x="1446" y="1465"/>
              <a:ext cx="27" cy="30"/>
            </a:xfrm>
            <a:prstGeom prst="line">
              <a:avLst/>
            </a:prstGeom>
            <a:ln w="0" cap="flat" cmpd="sng">
              <a:solidFill>
                <a:srgbClr val="0000FF"/>
              </a:solidFill>
              <a:prstDash val="solid"/>
              <a:headEnd type="none" w="med" len="med"/>
              <a:tailEnd type="none" w="med" len="med"/>
            </a:ln>
          </p:spPr>
        </p:sp>
        <p:grpSp>
          <p:nvGrpSpPr>
            <p:cNvPr id="23616" name="Group 161"/>
            <p:cNvGrpSpPr/>
            <p:nvPr/>
          </p:nvGrpSpPr>
          <p:grpSpPr>
            <a:xfrm>
              <a:off x="1636" y="1909"/>
              <a:ext cx="151" cy="176"/>
              <a:chOff x="1636" y="1909"/>
              <a:chExt cx="151" cy="176"/>
            </a:xfrm>
          </p:grpSpPr>
          <p:sp>
            <p:nvSpPr>
              <p:cNvPr id="23658" name="Rectangle 162"/>
              <p:cNvSpPr/>
              <p:nvPr/>
            </p:nvSpPr>
            <p:spPr>
              <a:xfrm>
                <a:off x="1636" y="1909"/>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3659" name="Rectangle 163"/>
              <p:cNvSpPr/>
              <p:nvPr/>
            </p:nvSpPr>
            <p:spPr>
              <a:xfrm>
                <a:off x="1731" y="1964"/>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grpSp>
        <p:sp>
          <p:nvSpPr>
            <p:cNvPr id="23617" name="Rectangle 164"/>
            <p:cNvSpPr/>
            <p:nvPr/>
          </p:nvSpPr>
          <p:spPr>
            <a:xfrm>
              <a:off x="1358" y="2826"/>
              <a:ext cx="88" cy="156"/>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3618" name="Rectangle 165"/>
            <p:cNvSpPr/>
            <p:nvPr/>
          </p:nvSpPr>
          <p:spPr>
            <a:xfrm>
              <a:off x="1453" y="2881"/>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23619" name="Line 166"/>
            <p:cNvSpPr/>
            <p:nvPr/>
          </p:nvSpPr>
          <p:spPr>
            <a:xfrm flipH="1">
              <a:off x="1453" y="2810"/>
              <a:ext cx="34" cy="37"/>
            </a:xfrm>
            <a:prstGeom prst="line">
              <a:avLst/>
            </a:prstGeom>
            <a:ln w="0" cap="flat" cmpd="sng">
              <a:solidFill>
                <a:srgbClr val="0000FF"/>
              </a:solidFill>
              <a:prstDash val="solid"/>
              <a:headEnd type="none" w="med" len="med"/>
              <a:tailEnd type="none" w="med" len="med"/>
            </a:ln>
          </p:spPr>
        </p:sp>
        <p:sp>
          <p:nvSpPr>
            <p:cNvPr id="23620" name="Rectangle 167"/>
            <p:cNvSpPr/>
            <p:nvPr/>
          </p:nvSpPr>
          <p:spPr>
            <a:xfrm>
              <a:off x="781" y="1357"/>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621" name="Rectangle 168"/>
            <p:cNvSpPr/>
            <p:nvPr/>
          </p:nvSpPr>
          <p:spPr>
            <a:xfrm>
              <a:off x="876" y="1399"/>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3622" name="Rectangle 169"/>
            <p:cNvSpPr/>
            <p:nvPr/>
          </p:nvSpPr>
          <p:spPr>
            <a:xfrm>
              <a:off x="1324" y="1040"/>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623" name="Rectangle 170"/>
            <p:cNvSpPr/>
            <p:nvPr/>
          </p:nvSpPr>
          <p:spPr>
            <a:xfrm>
              <a:off x="1419" y="1081"/>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21</a:t>
              </a:r>
              <a:endParaRPr lang="en-US" altLang="zh-CN" dirty="0">
                <a:latin typeface="Times New Roman" panose="02020603050405020304" pitchFamily="18" charset="0"/>
              </a:endParaRPr>
            </a:p>
          </p:txBody>
        </p:sp>
        <p:sp>
          <p:nvSpPr>
            <p:cNvPr id="23624" name="Rectangle 171"/>
            <p:cNvSpPr/>
            <p:nvPr/>
          </p:nvSpPr>
          <p:spPr>
            <a:xfrm>
              <a:off x="768" y="2709"/>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625" name="Rectangle 172"/>
            <p:cNvSpPr/>
            <p:nvPr/>
          </p:nvSpPr>
          <p:spPr>
            <a:xfrm>
              <a:off x="863" y="2750"/>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18</a:t>
              </a:r>
              <a:endParaRPr lang="en-US" altLang="zh-CN" dirty="0">
                <a:latin typeface="Times New Roman" panose="02020603050405020304" pitchFamily="18" charset="0"/>
              </a:endParaRPr>
            </a:p>
          </p:txBody>
        </p:sp>
        <p:sp>
          <p:nvSpPr>
            <p:cNvPr id="23626" name="Rectangle 173"/>
            <p:cNvSpPr/>
            <p:nvPr/>
          </p:nvSpPr>
          <p:spPr>
            <a:xfrm>
              <a:off x="1338" y="2433"/>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627" name="Rectangle 174"/>
            <p:cNvSpPr/>
            <p:nvPr/>
          </p:nvSpPr>
          <p:spPr>
            <a:xfrm>
              <a:off x="1432" y="2474"/>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28</a:t>
              </a:r>
              <a:endParaRPr lang="en-US" altLang="zh-CN" dirty="0">
                <a:latin typeface="Times New Roman" panose="02020603050405020304" pitchFamily="18" charset="0"/>
              </a:endParaRPr>
            </a:p>
          </p:txBody>
        </p:sp>
        <p:sp>
          <p:nvSpPr>
            <p:cNvPr id="23628" name="Rectangle 175"/>
            <p:cNvSpPr/>
            <p:nvPr/>
          </p:nvSpPr>
          <p:spPr>
            <a:xfrm>
              <a:off x="2680" y="682"/>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3629" name="Rectangle 176"/>
            <p:cNvSpPr/>
            <p:nvPr/>
          </p:nvSpPr>
          <p:spPr>
            <a:xfrm>
              <a:off x="2786" y="73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23630" name="Rectangle 177"/>
            <p:cNvSpPr/>
            <p:nvPr/>
          </p:nvSpPr>
          <p:spPr>
            <a:xfrm>
              <a:off x="402" y="557"/>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3631" name="Rectangle 178"/>
            <p:cNvSpPr/>
            <p:nvPr/>
          </p:nvSpPr>
          <p:spPr>
            <a:xfrm>
              <a:off x="503" y="599"/>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i1</a:t>
              </a:r>
              <a:endParaRPr lang="en-US" altLang="zh-CN" dirty="0">
                <a:solidFill>
                  <a:srgbClr val="FF0000"/>
                </a:solidFill>
                <a:latin typeface="Times New Roman" panose="02020603050405020304" pitchFamily="18" charset="0"/>
              </a:endParaRPr>
            </a:p>
          </p:txBody>
        </p:sp>
        <p:sp>
          <p:nvSpPr>
            <p:cNvPr id="23632" name="Rectangle 179"/>
            <p:cNvSpPr/>
            <p:nvPr/>
          </p:nvSpPr>
          <p:spPr>
            <a:xfrm>
              <a:off x="402" y="1330"/>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3633" name="Rectangle 180"/>
            <p:cNvSpPr/>
            <p:nvPr/>
          </p:nvSpPr>
          <p:spPr>
            <a:xfrm>
              <a:off x="508" y="1371"/>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C1</a:t>
              </a:r>
              <a:endParaRPr lang="en-US" altLang="zh-CN" dirty="0">
                <a:solidFill>
                  <a:srgbClr val="FF0000"/>
                </a:solidFill>
                <a:latin typeface="Times New Roman" panose="02020603050405020304" pitchFamily="18" charset="0"/>
              </a:endParaRPr>
            </a:p>
          </p:txBody>
        </p:sp>
        <p:sp>
          <p:nvSpPr>
            <p:cNvPr id="23634" name="Rectangle 181"/>
            <p:cNvSpPr/>
            <p:nvPr/>
          </p:nvSpPr>
          <p:spPr>
            <a:xfrm>
              <a:off x="388" y="1895"/>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3635" name="Rectangle 182"/>
            <p:cNvSpPr/>
            <p:nvPr/>
          </p:nvSpPr>
          <p:spPr>
            <a:xfrm>
              <a:off x="492" y="1939"/>
              <a:ext cx="8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i8</a:t>
              </a:r>
              <a:endParaRPr lang="en-US" altLang="zh-CN" dirty="0">
                <a:solidFill>
                  <a:srgbClr val="FF0000"/>
                </a:solidFill>
                <a:latin typeface="Times New Roman" panose="02020603050405020304" pitchFamily="18" charset="0"/>
              </a:endParaRPr>
            </a:p>
          </p:txBody>
        </p:sp>
        <p:sp>
          <p:nvSpPr>
            <p:cNvPr id="23636" name="Rectangle 183"/>
            <p:cNvSpPr/>
            <p:nvPr/>
          </p:nvSpPr>
          <p:spPr>
            <a:xfrm>
              <a:off x="388" y="2681"/>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3637" name="Rectangle 184"/>
            <p:cNvSpPr/>
            <p:nvPr/>
          </p:nvSpPr>
          <p:spPr>
            <a:xfrm>
              <a:off x="494" y="2723"/>
              <a:ext cx="13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FF0000"/>
                  </a:solidFill>
                  <a:latin typeface="Times New Roman" panose="02020603050405020304" pitchFamily="18" charset="0"/>
                </a:rPr>
                <a:t>C8</a:t>
              </a:r>
              <a:endParaRPr lang="en-US" altLang="zh-CN" dirty="0">
                <a:solidFill>
                  <a:srgbClr val="FF0000"/>
                </a:solidFill>
                <a:latin typeface="Times New Roman" panose="02020603050405020304" pitchFamily="18" charset="0"/>
              </a:endParaRPr>
            </a:p>
          </p:txBody>
        </p:sp>
        <p:sp>
          <p:nvSpPr>
            <p:cNvPr id="23638" name="Oval 185"/>
            <p:cNvSpPr/>
            <p:nvPr/>
          </p:nvSpPr>
          <p:spPr>
            <a:xfrm>
              <a:off x="2572" y="750"/>
              <a:ext cx="68"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39" name="Oval 186"/>
            <p:cNvSpPr/>
            <p:nvPr/>
          </p:nvSpPr>
          <p:spPr>
            <a:xfrm>
              <a:off x="456" y="750"/>
              <a:ext cx="68"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0" name="Oval 187"/>
            <p:cNvSpPr/>
            <p:nvPr/>
          </p:nvSpPr>
          <p:spPr>
            <a:xfrm>
              <a:off x="456" y="1523"/>
              <a:ext cx="68"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1" name="Oval 188"/>
            <p:cNvSpPr/>
            <p:nvPr/>
          </p:nvSpPr>
          <p:spPr>
            <a:xfrm>
              <a:off x="470" y="2074"/>
              <a:ext cx="67"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2" name="Oval 189"/>
            <p:cNvSpPr/>
            <p:nvPr/>
          </p:nvSpPr>
          <p:spPr>
            <a:xfrm>
              <a:off x="1236" y="875"/>
              <a:ext cx="68"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3" name="Oval 190"/>
            <p:cNvSpPr/>
            <p:nvPr/>
          </p:nvSpPr>
          <p:spPr>
            <a:xfrm>
              <a:off x="470" y="2874"/>
              <a:ext cx="67"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4" name="Oval 191"/>
            <p:cNvSpPr/>
            <p:nvPr/>
          </p:nvSpPr>
          <p:spPr>
            <a:xfrm>
              <a:off x="1256" y="3178"/>
              <a:ext cx="68" cy="6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645" name="Oval 192"/>
            <p:cNvSpPr/>
            <p:nvPr/>
          </p:nvSpPr>
          <p:spPr>
            <a:xfrm>
              <a:off x="1256" y="2254"/>
              <a:ext cx="68"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23646" name="Group 193"/>
            <p:cNvGrpSpPr/>
            <p:nvPr/>
          </p:nvGrpSpPr>
          <p:grpSpPr>
            <a:xfrm>
              <a:off x="836" y="1495"/>
              <a:ext cx="92" cy="572"/>
              <a:chOff x="836" y="1495"/>
              <a:chExt cx="92" cy="572"/>
            </a:xfrm>
          </p:grpSpPr>
          <p:sp>
            <p:nvSpPr>
              <p:cNvPr id="23655" name="Rectangle 194"/>
              <p:cNvSpPr/>
              <p:nvPr/>
            </p:nvSpPr>
            <p:spPr>
              <a:xfrm>
                <a:off x="836" y="1495"/>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656" name="Rectangle 195"/>
              <p:cNvSpPr/>
              <p:nvPr/>
            </p:nvSpPr>
            <p:spPr>
              <a:xfrm>
                <a:off x="836" y="1675"/>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657" name="Rectangle 196"/>
              <p:cNvSpPr/>
              <p:nvPr/>
            </p:nvSpPr>
            <p:spPr>
              <a:xfrm>
                <a:off x="836" y="1868"/>
                <a:ext cx="92"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grpSp>
        <p:sp>
          <p:nvSpPr>
            <p:cNvPr id="23647" name="Line 197"/>
            <p:cNvSpPr/>
            <p:nvPr/>
          </p:nvSpPr>
          <p:spPr>
            <a:xfrm>
              <a:off x="1283" y="3012"/>
              <a:ext cx="1" cy="166"/>
            </a:xfrm>
            <a:prstGeom prst="line">
              <a:avLst/>
            </a:prstGeom>
            <a:ln w="0" cap="flat" cmpd="sng">
              <a:solidFill>
                <a:srgbClr val="0000FF"/>
              </a:solidFill>
              <a:prstDash val="solid"/>
              <a:headEnd type="none" w="med" len="med"/>
              <a:tailEnd type="none" w="med" len="med"/>
            </a:ln>
          </p:spPr>
        </p:sp>
        <p:sp>
          <p:nvSpPr>
            <p:cNvPr id="23648" name="Rectangle 198"/>
            <p:cNvSpPr/>
            <p:nvPr/>
          </p:nvSpPr>
          <p:spPr>
            <a:xfrm>
              <a:off x="567" y="3394"/>
              <a:ext cx="2035" cy="199"/>
            </a:xfrm>
            <a:prstGeom prst="rect">
              <a:avLst/>
            </a:prstGeom>
            <a:noFill/>
            <a:ln w="9525">
              <a:noFill/>
            </a:ln>
          </p:spPr>
          <p:txBody>
            <a:bodyPr wrap="none" lIns="0" tIns="0" rIns="0" bIns="0">
              <a:spAutoFit/>
            </a:bodyPr>
            <a:p>
              <a:pPr eaLnBrk="1" hangingPunct="1">
                <a:lnSpc>
                  <a:spcPct val="90000"/>
                </a:lnSpc>
              </a:pPr>
              <a:r>
                <a:rPr lang="zh-CN" altLang="en-US" sz="2300" dirty="0">
                  <a:solidFill>
                    <a:srgbClr val="000080"/>
                  </a:solidFill>
                  <a:latin typeface="楷体_GB2312" pitchFamily="49" charset="-122"/>
                </a:rPr>
                <a:t>绝缘栅场效应管多路开关</a:t>
              </a:r>
              <a:endParaRPr lang="zh-CN" altLang="en-US" dirty="0">
                <a:latin typeface="Times New Roman" panose="02020603050405020304" pitchFamily="18" charset="0"/>
              </a:endParaRPr>
            </a:p>
          </p:txBody>
        </p:sp>
        <p:sp>
          <p:nvSpPr>
            <p:cNvPr id="23649" name="Line 199"/>
            <p:cNvSpPr/>
            <p:nvPr/>
          </p:nvSpPr>
          <p:spPr>
            <a:xfrm>
              <a:off x="1286" y="2596"/>
              <a:ext cx="1" cy="198"/>
            </a:xfrm>
            <a:prstGeom prst="line">
              <a:avLst/>
            </a:prstGeom>
            <a:ln w="0" cap="flat" cmpd="sng">
              <a:solidFill>
                <a:srgbClr val="0000FF"/>
              </a:solidFill>
              <a:prstDash val="solid"/>
              <a:headEnd type="none" w="med" len="med"/>
              <a:tailEnd type="none" w="med" len="med"/>
            </a:ln>
          </p:spPr>
        </p:sp>
        <p:sp>
          <p:nvSpPr>
            <p:cNvPr id="23650" name="Line 200"/>
            <p:cNvSpPr/>
            <p:nvPr/>
          </p:nvSpPr>
          <p:spPr>
            <a:xfrm>
              <a:off x="1270" y="1665"/>
              <a:ext cx="1" cy="122"/>
            </a:xfrm>
            <a:prstGeom prst="line">
              <a:avLst/>
            </a:prstGeom>
            <a:ln w="0" cap="flat" cmpd="sng">
              <a:solidFill>
                <a:srgbClr val="0000FF"/>
              </a:solidFill>
              <a:prstDash val="solid"/>
              <a:headEnd type="none" w="med" len="med"/>
              <a:tailEnd type="none" w="med" len="med"/>
            </a:ln>
          </p:spPr>
        </p:sp>
        <p:sp>
          <p:nvSpPr>
            <p:cNvPr id="23651" name="Line 201"/>
            <p:cNvSpPr/>
            <p:nvPr/>
          </p:nvSpPr>
          <p:spPr>
            <a:xfrm>
              <a:off x="1663" y="983"/>
              <a:ext cx="1" cy="349"/>
            </a:xfrm>
            <a:prstGeom prst="line">
              <a:avLst/>
            </a:prstGeom>
            <a:ln w="0" cap="flat" cmpd="sng">
              <a:solidFill>
                <a:srgbClr val="0000FF"/>
              </a:solidFill>
              <a:prstDash val="solid"/>
              <a:headEnd type="none" w="med" len="med"/>
              <a:tailEnd type="none" w="med" len="med"/>
            </a:ln>
          </p:spPr>
        </p:sp>
        <p:sp>
          <p:nvSpPr>
            <p:cNvPr id="23652" name="Line 202"/>
            <p:cNvSpPr/>
            <p:nvPr/>
          </p:nvSpPr>
          <p:spPr>
            <a:xfrm>
              <a:off x="1270" y="939"/>
              <a:ext cx="1" cy="117"/>
            </a:xfrm>
            <a:prstGeom prst="line">
              <a:avLst/>
            </a:prstGeom>
            <a:ln w="0" cap="flat" cmpd="sng">
              <a:solidFill>
                <a:srgbClr val="0000FF"/>
              </a:solidFill>
              <a:prstDash val="solid"/>
              <a:headEnd type="none" w="med" len="med"/>
              <a:tailEnd type="none" w="med" len="med"/>
            </a:ln>
          </p:spPr>
        </p:sp>
        <p:sp>
          <p:nvSpPr>
            <p:cNvPr id="23653" name="Line 203"/>
            <p:cNvSpPr/>
            <p:nvPr/>
          </p:nvSpPr>
          <p:spPr>
            <a:xfrm>
              <a:off x="524" y="780"/>
              <a:ext cx="1071" cy="1"/>
            </a:xfrm>
            <a:prstGeom prst="line">
              <a:avLst/>
            </a:prstGeom>
            <a:ln w="0" cap="flat" cmpd="sng">
              <a:solidFill>
                <a:srgbClr val="0000FF"/>
              </a:solidFill>
              <a:prstDash val="solid"/>
              <a:headEnd type="none" w="med" len="med"/>
              <a:tailEnd type="none" w="med" len="med"/>
            </a:ln>
          </p:spPr>
        </p:sp>
        <p:sp>
          <p:nvSpPr>
            <p:cNvPr id="23654" name="Line 204"/>
            <p:cNvSpPr/>
            <p:nvPr/>
          </p:nvSpPr>
          <p:spPr>
            <a:xfrm>
              <a:off x="1812" y="780"/>
              <a:ext cx="760" cy="1"/>
            </a:xfrm>
            <a:prstGeom prst="line">
              <a:avLst/>
            </a:prstGeom>
            <a:ln w="0" cap="flat" cmpd="sng">
              <a:solidFill>
                <a:srgbClr val="0000FF"/>
              </a:solidFill>
              <a:prstDash val="solid"/>
              <a:headEnd type="none" w="med" len="med"/>
              <a:tailEnd type="none" w="med" len="med"/>
            </a:ln>
          </p:spPr>
        </p:sp>
      </p:grpSp>
      <p:sp>
        <p:nvSpPr>
          <p:cNvPr id="2398413" name="Text Box 205"/>
          <p:cNvSpPr txBox="1"/>
          <p:nvPr/>
        </p:nvSpPr>
        <p:spPr>
          <a:xfrm>
            <a:off x="247650" y="3584575"/>
            <a:ext cx="1165225"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优点：</a:t>
            </a:r>
            <a:endParaRPr lang="zh-CN" altLang="en-US" sz="2400" dirty="0">
              <a:solidFill>
                <a:srgbClr val="FF0000"/>
              </a:solidFill>
              <a:latin typeface="楷体_GB2312" pitchFamily="49" charset="-122"/>
            </a:endParaRPr>
          </a:p>
        </p:txBody>
      </p:sp>
      <p:sp>
        <p:nvSpPr>
          <p:cNvPr id="2398414" name="Text Box 206"/>
          <p:cNvSpPr txBox="1"/>
          <p:nvPr/>
        </p:nvSpPr>
        <p:spPr>
          <a:xfrm>
            <a:off x="1098550" y="3605213"/>
            <a:ext cx="3983038" cy="1552575"/>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开关切换速度快</a:t>
            </a:r>
            <a:r>
              <a:rPr lang="en-US" altLang="zh-CN" sz="2400" dirty="0">
                <a:solidFill>
                  <a:srgbClr val="3333FF"/>
                </a:solidFill>
                <a:latin typeface="Times New Roman" panose="02020603050405020304" pitchFamily="18" charset="0"/>
              </a:rPr>
              <a:t>(&lt;100ns)</a:t>
            </a:r>
            <a:r>
              <a:rPr lang="zh-CN" altLang="en-US" sz="2400" dirty="0">
                <a:solidFill>
                  <a:srgbClr val="3333FF"/>
                </a:solidFill>
                <a:latin typeface="Times New Roman" panose="02020603050405020304" pitchFamily="18" charset="0"/>
              </a:rPr>
              <a:t> ，导通电阻小</a:t>
            </a:r>
            <a:r>
              <a:rPr lang="en-US" altLang="zh-CN" sz="2400" dirty="0">
                <a:solidFill>
                  <a:srgbClr val="3333FF"/>
                </a:solidFill>
                <a:latin typeface="Times New Roman" panose="02020603050405020304" pitchFamily="18" charset="0"/>
              </a:rPr>
              <a:t>(&lt;100</a:t>
            </a:r>
            <a:r>
              <a:rPr lang="el-GR" altLang="zh-CN" sz="2400" dirty="0">
                <a:solidFill>
                  <a:srgbClr val="3333FF"/>
                </a:solidFill>
                <a:latin typeface="Times New Roman" panose="02020603050405020304" pitchFamily="18" charset="0"/>
                <a:cs typeface="Times New Roman" panose="02020603050405020304" pitchFamily="18" charset="0"/>
              </a:rPr>
              <a:t>Ω</a:t>
            </a:r>
            <a:r>
              <a:rPr lang="en-US" altLang="zh-CN" sz="2400" dirty="0">
                <a:solidFill>
                  <a:srgbClr val="3333FF"/>
                </a:solidFill>
                <a:latin typeface="Times New Roman" panose="02020603050405020304" pitchFamily="18" charset="0"/>
              </a:rPr>
              <a:t>)</a:t>
            </a:r>
            <a:r>
              <a:rPr lang="zh-CN" altLang="en-US" sz="2400" dirty="0">
                <a:solidFill>
                  <a:srgbClr val="3333FF"/>
                </a:solidFill>
                <a:latin typeface="Times New Roman" panose="02020603050405020304" pitchFamily="18" charset="0"/>
              </a:rPr>
              <a:t> ，且随信号电压变化波动小；易于和驱动电路集成。</a:t>
            </a:r>
            <a:endParaRPr lang="zh-CN" altLang="en-US" sz="2400" dirty="0">
              <a:solidFill>
                <a:srgbClr val="3333FF"/>
              </a:solidFill>
              <a:latin typeface="Times New Roman" panose="02020603050405020304" pitchFamily="18" charset="0"/>
            </a:endParaRPr>
          </a:p>
        </p:txBody>
      </p:sp>
      <p:sp>
        <p:nvSpPr>
          <p:cNvPr id="2398415" name="Text Box 207"/>
          <p:cNvSpPr txBox="1"/>
          <p:nvPr/>
        </p:nvSpPr>
        <p:spPr>
          <a:xfrm>
            <a:off x="244475" y="5229225"/>
            <a:ext cx="1560513" cy="457200"/>
          </a:xfrm>
          <a:prstGeom prst="rect">
            <a:avLst/>
          </a:prstGeom>
          <a:noFill/>
          <a:ln w="9525">
            <a:noFill/>
          </a:ln>
        </p:spPr>
        <p:txBody>
          <a:bodyPr>
            <a:spAutoFit/>
          </a:bodyPr>
          <a:p>
            <a:pPr eaLnBrk="1" hangingPunct="1"/>
            <a:r>
              <a:rPr lang="zh-CN" altLang="en-US" sz="2400" dirty="0">
                <a:solidFill>
                  <a:srgbClr val="FF0000"/>
                </a:solidFill>
                <a:latin typeface="楷体_GB2312" pitchFamily="49" charset="-122"/>
              </a:rPr>
              <a:t>缺点：</a:t>
            </a:r>
            <a:endParaRPr lang="zh-CN" altLang="en-US" sz="2400" dirty="0">
              <a:solidFill>
                <a:srgbClr val="FF0000"/>
              </a:solidFill>
              <a:latin typeface="楷体_GB2312" pitchFamily="49" charset="-122"/>
            </a:endParaRPr>
          </a:p>
        </p:txBody>
      </p:sp>
      <p:sp>
        <p:nvSpPr>
          <p:cNvPr id="2398416" name="Text Box 208"/>
          <p:cNvSpPr txBox="1"/>
          <p:nvPr/>
        </p:nvSpPr>
        <p:spPr>
          <a:xfrm>
            <a:off x="1087438" y="5235575"/>
            <a:ext cx="3863975" cy="822325"/>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rPr>
              <a:t>衬底要有保护电压，</a:t>
            </a:r>
            <a:r>
              <a:rPr lang="en-US" altLang="zh-CN" sz="2400" dirty="0">
                <a:solidFill>
                  <a:srgbClr val="3333FF"/>
                </a:solidFill>
                <a:latin typeface="Times New Roman" panose="02020603050405020304" pitchFamily="18" charset="0"/>
              </a:rPr>
              <a:t>P</a:t>
            </a:r>
            <a:r>
              <a:rPr lang="zh-CN" altLang="en-US" sz="2400" dirty="0">
                <a:solidFill>
                  <a:srgbClr val="3333FF"/>
                </a:solidFill>
                <a:latin typeface="Times New Roman" panose="02020603050405020304" pitchFamily="18" charset="0"/>
              </a:rPr>
              <a:t>沟道加正电压，</a:t>
            </a:r>
            <a:r>
              <a:rPr lang="en-US" altLang="zh-CN" sz="2400" dirty="0">
                <a:solidFill>
                  <a:srgbClr val="3333FF"/>
                </a:solidFill>
                <a:latin typeface="Times New Roman" panose="02020603050405020304" pitchFamily="18" charset="0"/>
              </a:rPr>
              <a:t>N</a:t>
            </a:r>
            <a:r>
              <a:rPr lang="zh-CN" altLang="en-US" sz="2400" dirty="0">
                <a:solidFill>
                  <a:srgbClr val="3333FF"/>
                </a:solidFill>
                <a:latin typeface="Times New Roman" panose="02020603050405020304" pitchFamily="18" charset="0"/>
              </a:rPr>
              <a:t>沟道加负电压。 </a:t>
            </a:r>
            <a:endParaRPr lang="zh-CN" altLang="en-US" sz="2400" dirty="0">
              <a:solidFill>
                <a:srgbClr val="3333FF"/>
              </a:solidFill>
              <a:latin typeface="Times New Roman" panose="02020603050405020304" pitchFamily="18" charset="0"/>
            </a:endParaRPr>
          </a:p>
        </p:txBody>
      </p:sp>
      <p:sp>
        <p:nvSpPr>
          <p:cNvPr id="23563" name="Text Box 3"/>
          <p:cNvSpPr txBox="1"/>
          <p:nvPr/>
        </p:nvSpPr>
        <p:spPr>
          <a:xfrm>
            <a:off x="268288" y="763588"/>
            <a:ext cx="45323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
        <p:nvSpPr>
          <p:cNvPr id="15471" name="Text Box 3"/>
          <p:cNvSpPr txBox="1"/>
          <p:nvPr/>
        </p:nvSpPr>
        <p:spPr>
          <a:xfrm>
            <a:off x="4968875" y="620713"/>
            <a:ext cx="3727450" cy="457200"/>
          </a:xfrm>
          <a:prstGeom prst="rect">
            <a:avLst/>
          </a:prstGeom>
          <a:noFill/>
          <a:ln w="9525">
            <a:noFill/>
          </a:ln>
        </p:spPr>
        <p:txBody>
          <a:bodyPr>
            <a:spAutoFit/>
          </a:bodyPr>
          <a:p>
            <a:pPr marL="457200" indent="-457200" algn="ctr" eaLnBrk="1" hangingPunct="1"/>
            <a:r>
              <a:rPr lang="en-US" altLang="zh-CN" sz="2400" dirty="0">
                <a:solidFill>
                  <a:srgbClr val="FF0000"/>
                </a:solidFill>
                <a:latin typeface="黑体" panose="02010609060101010101" pitchFamily="49" charset="-122"/>
                <a:ea typeface="黑体" panose="02010609060101010101" pitchFamily="49" charset="-122"/>
              </a:rPr>
              <a:t>N</a:t>
            </a:r>
            <a:r>
              <a:rPr lang="zh-CN" altLang="en-US" sz="2400" dirty="0">
                <a:solidFill>
                  <a:srgbClr val="FF0000"/>
                </a:solidFill>
                <a:latin typeface="黑体" panose="02010609060101010101" pitchFamily="49" charset="-122"/>
                <a:ea typeface="黑体" panose="02010609060101010101" pitchFamily="49" charset="-122"/>
              </a:rPr>
              <a:t>沟道增强型</a:t>
            </a:r>
            <a:r>
              <a:rPr lang="en-US" altLang="zh-CN" sz="2400" dirty="0">
                <a:solidFill>
                  <a:srgbClr val="FF0000"/>
                </a:solidFill>
                <a:latin typeface="黑体" panose="02010609060101010101" pitchFamily="49" charset="-122"/>
                <a:ea typeface="黑体" panose="02010609060101010101" pitchFamily="49" charset="-122"/>
              </a:rPr>
              <a:t>MOSFET</a:t>
            </a:r>
            <a:endParaRPr lang="en-US" altLang="zh-CN" sz="2400"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8211"/>
                                        </p:tgtEl>
                                        <p:attrNameLst>
                                          <p:attrName>style.visibility</p:attrName>
                                        </p:attrNameLst>
                                      </p:cBhvr>
                                      <p:to>
                                        <p:strVal val="visible"/>
                                      </p:to>
                                    </p:set>
                                    <p:animEffect transition="in" filter="dissolve">
                                      <p:cBhvr>
                                        <p:cTn id="7" dur="500"/>
                                        <p:tgtEl>
                                          <p:spTgt spid="23982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8315"/>
                                        </p:tgtEl>
                                        <p:attrNameLst>
                                          <p:attrName>style.visibility</p:attrName>
                                        </p:attrNameLst>
                                      </p:cBhvr>
                                      <p:to>
                                        <p:strVal val="visible"/>
                                      </p:to>
                                    </p:set>
                                    <p:animEffect transition="in" filter="dissolve">
                                      <p:cBhvr>
                                        <p:cTn id="12" dur="500"/>
                                        <p:tgtEl>
                                          <p:spTgt spid="2398315"/>
                                        </p:tgtEl>
                                      </p:cBhvr>
                                    </p:animEffect>
                                  </p:childTnLst>
                                </p:cTn>
                              </p:par>
                            </p:childTnLst>
                          </p:cTn>
                        </p:par>
                      </p:childTnLst>
                    </p:cTn>
                  </p:par>
                  <p:par>
                    <p:cTn id="13" fill="hold">
                      <p:stCondLst>
                        <p:cond delay="indefinite"/>
                      </p:stCondLst>
                      <p:childTnLst>
                        <p:par>
                          <p:cTn id="14" fill="hold">
                            <p:stCondLst>
                              <p:cond delay="0"/>
                            </p:stCondLst>
                            <p:childTnLst>
                              <p:par>
                                <p:cTn id="15" presetID="55" presetClass="entr" presetSubtype="0" fill="hold" nodeType="clickEffect">
                                  <p:stCondLst>
                                    <p:cond delay="0"/>
                                  </p:stCondLst>
                                  <p:childTnLst>
                                    <p:set>
                                      <p:cBhvr>
                                        <p:cTn id="16" dur="1" fill="hold">
                                          <p:stCondLst>
                                            <p:cond delay="0"/>
                                          </p:stCondLst>
                                        </p:cTn>
                                        <p:tgtEl>
                                          <p:spTgt spid="15471"/>
                                        </p:tgtEl>
                                        <p:attrNameLst>
                                          <p:attrName>style.visibility</p:attrName>
                                        </p:attrNameLst>
                                      </p:cBhvr>
                                      <p:to>
                                        <p:strVal val="visible"/>
                                      </p:to>
                                    </p:set>
                                    <p:anim calcmode="lin" valueType="num">
                                      <p:cBhvr>
                                        <p:cTn id="17" dur="500" fill="hold"/>
                                        <p:tgtEl>
                                          <p:spTgt spid="15471"/>
                                        </p:tgtEl>
                                        <p:attrNameLst>
                                          <p:attrName>ppt_w</p:attrName>
                                        </p:attrNameLst>
                                      </p:cBhvr>
                                      <p:tavLst>
                                        <p:tav tm="0">
                                          <p:val>
                                            <p:strVal val="#ppt_w*0.70"/>
                                          </p:val>
                                        </p:tav>
                                        <p:tav tm="100000">
                                          <p:val>
                                            <p:strVal val="#ppt_w"/>
                                          </p:val>
                                        </p:tav>
                                      </p:tavLst>
                                    </p:anim>
                                    <p:anim calcmode="lin" valueType="num">
                                      <p:cBhvr>
                                        <p:cTn id="18" dur="500" fill="hold"/>
                                        <p:tgtEl>
                                          <p:spTgt spid="15471"/>
                                        </p:tgtEl>
                                        <p:attrNameLst>
                                          <p:attrName>ppt_h</p:attrName>
                                        </p:attrNameLst>
                                      </p:cBhvr>
                                      <p:tavLst>
                                        <p:tav tm="0">
                                          <p:val>
                                            <p:strVal val="#ppt_h"/>
                                          </p:val>
                                        </p:tav>
                                        <p:tav tm="100000">
                                          <p:val>
                                            <p:strVal val="#ppt_h"/>
                                          </p:val>
                                        </p:tav>
                                      </p:tavLst>
                                    </p:anim>
                                    <p:animEffect transition="in" filter="fade">
                                      <p:cBhvr>
                                        <p:cTn id="19" dur="500"/>
                                        <p:tgtEl>
                                          <p:spTgt spid="15471"/>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2398314"/>
                                        </p:tgtEl>
                                        <p:attrNameLst>
                                          <p:attrName>style.visibility</p:attrName>
                                        </p:attrNameLst>
                                      </p:cBhvr>
                                      <p:to>
                                        <p:strVal val="visible"/>
                                      </p:to>
                                    </p:set>
                                    <p:animEffect transition="in" filter="dissolve">
                                      <p:cBhvr>
                                        <p:cTn id="24" dur="500"/>
                                        <p:tgtEl>
                                          <p:spTgt spid="239831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398413"/>
                                        </p:tgtEl>
                                        <p:attrNameLst>
                                          <p:attrName>style.visibility</p:attrName>
                                        </p:attrNameLst>
                                      </p:cBhvr>
                                      <p:to>
                                        <p:strVal val="visible"/>
                                      </p:to>
                                    </p:set>
                                    <p:animEffect transition="in" filter="dissolve">
                                      <p:cBhvr>
                                        <p:cTn id="29" dur="500"/>
                                        <p:tgtEl>
                                          <p:spTgt spid="2398413"/>
                                        </p:tgtEl>
                                      </p:cBhvr>
                                    </p:animEffect>
                                  </p:childTnLst>
                                </p:cTn>
                              </p:par>
                              <p:par>
                                <p:cTn id="30" presetID="9" presetClass="entr" presetSubtype="0" fill="hold" nodeType="withEffect">
                                  <p:stCondLst>
                                    <p:cond delay="0"/>
                                  </p:stCondLst>
                                  <p:childTnLst>
                                    <p:set>
                                      <p:cBhvr>
                                        <p:cTn id="31" dur="1" fill="hold">
                                          <p:stCondLst>
                                            <p:cond delay="0"/>
                                          </p:stCondLst>
                                        </p:cTn>
                                        <p:tgtEl>
                                          <p:spTgt spid="2398414"/>
                                        </p:tgtEl>
                                        <p:attrNameLst>
                                          <p:attrName>style.visibility</p:attrName>
                                        </p:attrNameLst>
                                      </p:cBhvr>
                                      <p:to>
                                        <p:strVal val="visible"/>
                                      </p:to>
                                    </p:set>
                                    <p:animEffect transition="in" filter="dissolve">
                                      <p:cBhvr>
                                        <p:cTn id="32" dur="500"/>
                                        <p:tgtEl>
                                          <p:spTgt spid="239841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398415"/>
                                        </p:tgtEl>
                                        <p:attrNameLst>
                                          <p:attrName>style.visibility</p:attrName>
                                        </p:attrNameLst>
                                      </p:cBhvr>
                                      <p:to>
                                        <p:strVal val="visible"/>
                                      </p:to>
                                    </p:set>
                                    <p:animEffect transition="in" filter="dissolve">
                                      <p:cBhvr>
                                        <p:cTn id="37" dur="500"/>
                                        <p:tgtEl>
                                          <p:spTgt spid="2398415"/>
                                        </p:tgtEl>
                                      </p:cBhvr>
                                    </p:animEffect>
                                  </p:childTnLst>
                                </p:cTn>
                              </p:par>
                              <p:par>
                                <p:cTn id="38" presetID="9" presetClass="entr" presetSubtype="0" fill="hold" nodeType="withEffect">
                                  <p:stCondLst>
                                    <p:cond delay="0"/>
                                  </p:stCondLst>
                                  <p:childTnLst>
                                    <p:set>
                                      <p:cBhvr>
                                        <p:cTn id="39" dur="1" fill="hold">
                                          <p:stCondLst>
                                            <p:cond delay="0"/>
                                          </p:stCondLst>
                                        </p:cTn>
                                        <p:tgtEl>
                                          <p:spTgt spid="2398416"/>
                                        </p:tgtEl>
                                        <p:attrNameLst>
                                          <p:attrName>style.visibility</p:attrName>
                                        </p:attrNameLst>
                                      </p:cBhvr>
                                      <p:to>
                                        <p:strVal val="visible"/>
                                      </p:to>
                                    </p:set>
                                    <p:animEffect transition="in" filter="dissolve">
                                      <p:cBhvr>
                                        <p:cTn id="40" dur="500"/>
                                        <p:tgtEl>
                                          <p:spTgt spid="2398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8211" grpId="0"/>
      <p:bldP spid="2398314" grpId="0" animBg="1"/>
      <p:bldP spid="2398413" grpId="0"/>
      <p:bldP spid="2398414" grpId="0"/>
      <p:bldP spid="2398415" grpId="0"/>
      <p:bldP spid="2398416" grpId="0"/>
      <p:bldP spid="15471"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79784" name="Text Box 8"/>
          <p:cNvSpPr txBox="1"/>
          <p:nvPr/>
        </p:nvSpPr>
        <p:spPr>
          <a:xfrm>
            <a:off x="481013" y="1520825"/>
            <a:ext cx="2968625" cy="476250"/>
          </a:xfrm>
          <a:prstGeom prst="rect">
            <a:avLst/>
          </a:prstGeom>
          <a:solidFill>
            <a:srgbClr val="CCFFFF"/>
          </a:solid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sz="2800" dirty="0">
                <a:solidFill>
                  <a:schemeClr val="tx1"/>
                </a:solidFill>
                <a:latin typeface="黑体" panose="02010609060101010101" pitchFamily="49" charset="-122"/>
                <a:ea typeface="黑体" panose="02010609060101010101" pitchFamily="49" charset="-122"/>
              </a:rPr>
              <a:t>3.</a:t>
            </a:r>
            <a:r>
              <a:rPr lang="zh-CN" altLang="en-US" sz="2800" dirty="0">
                <a:solidFill>
                  <a:schemeClr val="tx1"/>
                </a:solidFill>
                <a:latin typeface="Times New Roman" panose="02020603050405020304" pitchFamily="18" charset="0"/>
                <a:ea typeface="黑体" panose="02010609060101010101" pitchFamily="49" charset="-122"/>
              </a:rPr>
              <a:t>集成电路开关</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379789" name="Text Box 13"/>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79933" name="Group 157"/>
          <p:cNvGrpSpPr/>
          <p:nvPr/>
        </p:nvGrpSpPr>
        <p:grpSpPr>
          <a:xfrm>
            <a:off x="4429125" y="655638"/>
            <a:ext cx="4654550" cy="5562600"/>
            <a:chOff x="2790" y="413"/>
            <a:chExt cx="2932" cy="3504"/>
          </a:xfrm>
        </p:grpSpPr>
        <p:sp>
          <p:nvSpPr>
            <p:cNvPr id="24587" name="AutoShape 17"/>
            <p:cNvSpPr>
              <a:spLocks noChangeAspect="1" noTextEdit="1"/>
            </p:cNvSpPr>
            <p:nvPr/>
          </p:nvSpPr>
          <p:spPr>
            <a:xfrm>
              <a:off x="2790" y="413"/>
              <a:ext cx="2932" cy="3504"/>
            </a:xfrm>
            <a:prstGeom prst="rect">
              <a:avLst/>
            </a:prstGeom>
            <a:solidFill>
              <a:srgbClr val="FFFF99"/>
            </a:solidFill>
            <a:ln w="9525">
              <a:noFill/>
            </a:ln>
          </p:spPr>
          <p:txBody>
            <a:bodyPr/>
            <a:p>
              <a:endParaRPr lang="zh-CN" altLang="en-US"/>
            </a:p>
          </p:txBody>
        </p:sp>
        <p:sp>
          <p:nvSpPr>
            <p:cNvPr id="24588" name="Line 19"/>
            <p:cNvSpPr/>
            <p:nvPr/>
          </p:nvSpPr>
          <p:spPr>
            <a:xfrm>
              <a:off x="3100" y="618"/>
              <a:ext cx="338" cy="1"/>
            </a:xfrm>
            <a:prstGeom prst="line">
              <a:avLst/>
            </a:prstGeom>
            <a:ln w="0" cap="flat" cmpd="sng">
              <a:solidFill>
                <a:srgbClr val="0000FF"/>
              </a:solidFill>
              <a:prstDash val="solid"/>
              <a:headEnd type="none" w="med" len="med"/>
              <a:tailEnd type="none" w="med" len="med"/>
            </a:ln>
          </p:spPr>
        </p:sp>
        <p:sp>
          <p:nvSpPr>
            <p:cNvPr id="24589" name="Line 20"/>
            <p:cNvSpPr/>
            <p:nvPr/>
          </p:nvSpPr>
          <p:spPr>
            <a:xfrm>
              <a:off x="3438" y="618"/>
              <a:ext cx="1" cy="142"/>
            </a:xfrm>
            <a:prstGeom prst="line">
              <a:avLst/>
            </a:prstGeom>
            <a:ln w="0" cap="flat" cmpd="sng">
              <a:solidFill>
                <a:srgbClr val="0000FF"/>
              </a:solidFill>
              <a:prstDash val="solid"/>
              <a:headEnd type="none" w="med" len="med"/>
              <a:tailEnd type="none" w="med" len="med"/>
            </a:ln>
          </p:spPr>
        </p:sp>
        <p:sp>
          <p:nvSpPr>
            <p:cNvPr id="24590" name="Line 21"/>
            <p:cNvSpPr/>
            <p:nvPr/>
          </p:nvSpPr>
          <p:spPr>
            <a:xfrm>
              <a:off x="3396" y="760"/>
              <a:ext cx="85" cy="1"/>
            </a:xfrm>
            <a:prstGeom prst="line">
              <a:avLst/>
            </a:prstGeom>
            <a:ln w="0" cap="flat" cmpd="sng">
              <a:solidFill>
                <a:srgbClr val="0000FF"/>
              </a:solidFill>
              <a:prstDash val="solid"/>
              <a:headEnd type="none" w="med" len="med"/>
              <a:tailEnd type="none" w="med" len="med"/>
            </a:ln>
          </p:spPr>
        </p:sp>
        <p:sp>
          <p:nvSpPr>
            <p:cNvPr id="24591" name="Line 22"/>
            <p:cNvSpPr/>
            <p:nvPr/>
          </p:nvSpPr>
          <p:spPr>
            <a:xfrm>
              <a:off x="3523" y="618"/>
              <a:ext cx="1" cy="142"/>
            </a:xfrm>
            <a:prstGeom prst="line">
              <a:avLst/>
            </a:prstGeom>
            <a:ln w="0" cap="flat" cmpd="sng">
              <a:solidFill>
                <a:srgbClr val="0000FF"/>
              </a:solidFill>
              <a:prstDash val="solid"/>
              <a:headEnd type="none" w="med" len="med"/>
              <a:tailEnd type="none" w="med" len="med"/>
            </a:ln>
          </p:spPr>
        </p:sp>
        <p:sp>
          <p:nvSpPr>
            <p:cNvPr id="24592" name="Line 23"/>
            <p:cNvSpPr/>
            <p:nvPr/>
          </p:nvSpPr>
          <p:spPr>
            <a:xfrm flipV="1">
              <a:off x="3523" y="689"/>
              <a:ext cx="21" cy="71"/>
            </a:xfrm>
            <a:prstGeom prst="line">
              <a:avLst/>
            </a:prstGeom>
            <a:ln w="0" cap="flat" cmpd="sng">
              <a:solidFill>
                <a:srgbClr val="0000FF"/>
              </a:solidFill>
              <a:prstDash val="solid"/>
              <a:headEnd type="none" w="med" len="med"/>
              <a:tailEnd type="none" w="med" len="med"/>
            </a:ln>
          </p:spPr>
        </p:sp>
        <p:sp>
          <p:nvSpPr>
            <p:cNvPr id="24593" name="Line 24"/>
            <p:cNvSpPr/>
            <p:nvPr/>
          </p:nvSpPr>
          <p:spPr>
            <a:xfrm flipH="1" flipV="1">
              <a:off x="3502" y="689"/>
              <a:ext cx="21" cy="71"/>
            </a:xfrm>
            <a:prstGeom prst="line">
              <a:avLst/>
            </a:prstGeom>
            <a:ln w="0" cap="flat" cmpd="sng">
              <a:solidFill>
                <a:srgbClr val="0000FF"/>
              </a:solidFill>
              <a:prstDash val="solid"/>
              <a:headEnd type="none" w="med" len="med"/>
              <a:tailEnd type="none" w="med" len="med"/>
            </a:ln>
          </p:spPr>
        </p:sp>
        <p:sp>
          <p:nvSpPr>
            <p:cNvPr id="24594" name="Line 25"/>
            <p:cNvSpPr/>
            <p:nvPr/>
          </p:nvSpPr>
          <p:spPr>
            <a:xfrm>
              <a:off x="3491" y="760"/>
              <a:ext cx="74" cy="1"/>
            </a:xfrm>
            <a:prstGeom prst="line">
              <a:avLst/>
            </a:prstGeom>
            <a:ln w="0" cap="flat" cmpd="sng">
              <a:solidFill>
                <a:srgbClr val="0000FF"/>
              </a:solidFill>
              <a:prstDash val="solid"/>
              <a:headEnd type="none" w="med" len="med"/>
              <a:tailEnd type="none" w="med" len="med"/>
            </a:ln>
          </p:spPr>
        </p:sp>
        <p:sp>
          <p:nvSpPr>
            <p:cNvPr id="24595" name="Line 26"/>
            <p:cNvSpPr/>
            <p:nvPr/>
          </p:nvSpPr>
          <p:spPr>
            <a:xfrm>
              <a:off x="3576" y="760"/>
              <a:ext cx="74" cy="1"/>
            </a:xfrm>
            <a:prstGeom prst="line">
              <a:avLst/>
            </a:prstGeom>
            <a:ln w="0" cap="flat" cmpd="sng">
              <a:solidFill>
                <a:srgbClr val="0000FF"/>
              </a:solidFill>
              <a:prstDash val="solid"/>
              <a:headEnd type="none" w="med" len="med"/>
              <a:tailEnd type="none" w="med" len="med"/>
            </a:ln>
          </p:spPr>
        </p:sp>
        <p:sp>
          <p:nvSpPr>
            <p:cNvPr id="24596" name="Line 27"/>
            <p:cNvSpPr/>
            <p:nvPr/>
          </p:nvSpPr>
          <p:spPr>
            <a:xfrm flipV="1">
              <a:off x="3608" y="618"/>
              <a:ext cx="1" cy="142"/>
            </a:xfrm>
            <a:prstGeom prst="line">
              <a:avLst/>
            </a:prstGeom>
            <a:ln w="0" cap="flat" cmpd="sng">
              <a:solidFill>
                <a:srgbClr val="0000FF"/>
              </a:solidFill>
              <a:prstDash val="solid"/>
              <a:headEnd type="none" w="med" len="med"/>
              <a:tailEnd type="none" w="med" len="med"/>
            </a:ln>
          </p:spPr>
        </p:sp>
        <p:sp>
          <p:nvSpPr>
            <p:cNvPr id="24597" name="Line 28"/>
            <p:cNvSpPr/>
            <p:nvPr/>
          </p:nvSpPr>
          <p:spPr>
            <a:xfrm>
              <a:off x="3491" y="796"/>
              <a:ext cx="74" cy="1"/>
            </a:xfrm>
            <a:prstGeom prst="line">
              <a:avLst/>
            </a:prstGeom>
            <a:ln w="0" cap="flat" cmpd="sng">
              <a:solidFill>
                <a:srgbClr val="0000FF"/>
              </a:solidFill>
              <a:prstDash val="solid"/>
              <a:headEnd type="none" w="med" len="med"/>
              <a:tailEnd type="none" w="med" len="med"/>
            </a:ln>
          </p:spPr>
        </p:sp>
        <p:sp>
          <p:nvSpPr>
            <p:cNvPr id="24598" name="Line 29"/>
            <p:cNvSpPr/>
            <p:nvPr/>
          </p:nvSpPr>
          <p:spPr>
            <a:xfrm>
              <a:off x="3491" y="796"/>
              <a:ext cx="1" cy="1527"/>
            </a:xfrm>
            <a:prstGeom prst="line">
              <a:avLst/>
            </a:prstGeom>
            <a:ln w="0" cap="flat" cmpd="sng">
              <a:solidFill>
                <a:srgbClr val="0000FF"/>
              </a:solidFill>
              <a:prstDash val="solid"/>
              <a:headEnd type="none" w="med" len="med"/>
              <a:tailEnd type="none" w="med" len="med"/>
            </a:ln>
          </p:spPr>
        </p:sp>
        <p:sp>
          <p:nvSpPr>
            <p:cNvPr id="24599" name="Line 30"/>
            <p:cNvSpPr/>
            <p:nvPr/>
          </p:nvSpPr>
          <p:spPr>
            <a:xfrm>
              <a:off x="3100" y="950"/>
              <a:ext cx="592" cy="1"/>
            </a:xfrm>
            <a:prstGeom prst="line">
              <a:avLst/>
            </a:prstGeom>
            <a:ln w="0" cap="flat" cmpd="sng">
              <a:solidFill>
                <a:srgbClr val="0000FF"/>
              </a:solidFill>
              <a:prstDash val="solid"/>
              <a:headEnd type="none" w="med" len="med"/>
              <a:tailEnd type="none" w="med" len="med"/>
            </a:ln>
          </p:spPr>
        </p:sp>
        <p:sp>
          <p:nvSpPr>
            <p:cNvPr id="24600" name="Line 31"/>
            <p:cNvSpPr/>
            <p:nvPr/>
          </p:nvSpPr>
          <p:spPr>
            <a:xfrm>
              <a:off x="3692" y="950"/>
              <a:ext cx="1" cy="142"/>
            </a:xfrm>
            <a:prstGeom prst="line">
              <a:avLst/>
            </a:prstGeom>
            <a:ln w="0" cap="flat" cmpd="sng">
              <a:solidFill>
                <a:srgbClr val="0000FF"/>
              </a:solidFill>
              <a:prstDash val="solid"/>
              <a:headEnd type="none" w="med" len="med"/>
              <a:tailEnd type="none" w="med" len="med"/>
            </a:ln>
          </p:spPr>
        </p:sp>
        <p:sp>
          <p:nvSpPr>
            <p:cNvPr id="24601" name="Line 32"/>
            <p:cNvSpPr/>
            <p:nvPr/>
          </p:nvSpPr>
          <p:spPr>
            <a:xfrm>
              <a:off x="3650" y="1092"/>
              <a:ext cx="74" cy="1"/>
            </a:xfrm>
            <a:prstGeom prst="line">
              <a:avLst/>
            </a:prstGeom>
            <a:ln w="0" cap="flat" cmpd="sng">
              <a:solidFill>
                <a:srgbClr val="0000FF"/>
              </a:solidFill>
              <a:prstDash val="solid"/>
              <a:headEnd type="none" w="med" len="med"/>
              <a:tailEnd type="none" w="med" len="med"/>
            </a:ln>
          </p:spPr>
        </p:sp>
        <p:sp>
          <p:nvSpPr>
            <p:cNvPr id="24602" name="Line 33"/>
            <p:cNvSpPr/>
            <p:nvPr/>
          </p:nvSpPr>
          <p:spPr>
            <a:xfrm>
              <a:off x="3777" y="950"/>
              <a:ext cx="1" cy="142"/>
            </a:xfrm>
            <a:prstGeom prst="line">
              <a:avLst/>
            </a:prstGeom>
            <a:ln w="0" cap="flat" cmpd="sng">
              <a:solidFill>
                <a:srgbClr val="0000FF"/>
              </a:solidFill>
              <a:prstDash val="solid"/>
              <a:headEnd type="none" w="med" len="med"/>
              <a:tailEnd type="none" w="med" len="med"/>
            </a:ln>
          </p:spPr>
        </p:sp>
        <p:sp>
          <p:nvSpPr>
            <p:cNvPr id="24603" name="Line 34"/>
            <p:cNvSpPr/>
            <p:nvPr/>
          </p:nvSpPr>
          <p:spPr>
            <a:xfrm flipV="1">
              <a:off x="3777" y="1021"/>
              <a:ext cx="21" cy="71"/>
            </a:xfrm>
            <a:prstGeom prst="line">
              <a:avLst/>
            </a:prstGeom>
            <a:ln w="0" cap="flat" cmpd="sng">
              <a:solidFill>
                <a:srgbClr val="0000FF"/>
              </a:solidFill>
              <a:prstDash val="solid"/>
              <a:headEnd type="none" w="med" len="med"/>
              <a:tailEnd type="none" w="med" len="med"/>
            </a:ln>
          </p:spPr>
        </p:sp>
        <p:sp>
          <p:nvSpPr>
            <p:cNvPr id="24604" name="Line 35"/>
            <p:cNvSpPr/>
            <p:nvPr/>
          </p:nvSpPr>
          <p:spPr>
            <a:xfrm flipH="1" flipV="1">
              <a:off x="3756" y="1021"/>
              <a:ext cx="21" cy="71"/>
            </a:xfrm>
            <a:prstGeom prst="line">
              <a:avLst/>
            </a:prstGeom>
            <a:ln w="0" cap="flat" cmpd="sng">
              <a:solidFill>
                <a:srgbClr val="0000FF"/>
              </a:solidFill>
              <a:prstDash val="solid"/>
              <a:headEnd type="none" w="med" len="med"/>
              <a:tailEnd type="none" w="med" len="med"/>
            </a:ln>
          </p:spPr>
        </p:sp>
        <p:sp>
          <p:nvSpPr>
            <p:cNvPr id="24605" name="Line 36"/>
            <p:cNvSpPr/>
            <p:nvPr/>
          </p:nvSpPr>
          <p:spPr>
            <a:xfrm>
              <a:off x="3756" y="1092"/>
              <a:ext cx="52" cy="1"/>
            </a:xfrm>
            <a:prstGeom prst="line">
              <a:avLst/>
            </a:prstGeom>
            <a:ln w="0" cap="flat" cmpd="sng">
              <a:solidFill>
                <a:srgbClr val="0000FF"/>
              </a:solidFill>
              <a:prstDash val="solid"/>
              <a:headEnd type="none" w="med" len="med"/>
              <a:tailEnd type="none" w="med" len="med"/>
            </a:ln>
          </p:spPr>
        </p:sp>
        <p:sp>
          <p:nvSpPr>
            <p:cNvPr id="24606" name="Line 37"/>
            <p:cNvSpPr/>
            <p:nvPr/>
          </p:nvSpPr>
          <p:spPr>
            <a:xfrm>
              <a:off x="3830" y="1092"/>
              <a:ext cx="74" cy="1"/>
            </a:xfrm>
            <a:prstGeom prst="line">
              <a:avLst/>
            </a:prstGeom>
            <a:ln w="0" cap="flat" cmpd="sng">
              <a:solidFill>
                <a:srgbClr val="0000FF"/>
              </a:solidFill>
              <a:prstDash val="solid"/>
              <a:headEnd type="none" w="med" len="med"/>
              <a:tailEnd type="none" w="med" len="med"/>
            </a:ln>
          </p:spPr>
        </p:sp>
        <p:sp>
          <p:nvSpPr>
            <p:cNvPr id="24607" name="Line 38"/>
            <p:cNvSpPr/>
            <p:nvPr/>
          </p:nvSpPr>
          <p:spPr>
            <a:xfrm flipV="1">
              <a:off x="3861" y="950"/>
              <a:ext cx="1" cy="142"/>
            </a:xfrm>
            <a:prstGeom prst="line">
              <a:avLst/>
            </a:prstGeom>
            <a:ln w="0" cap="flat" cmpd="sng">
              <a:solidFill>
                <a:srgbClr val="0000FF"/>
              </a:solidFill>
              <a:prstDash val="solid"/>
              <a:headEnd type="none" w="med" len="med"/>
              <a:tailEnd type="none" w="med" len="med"/>
            </a:ln>
          </p:spPr>
        </p:sp>
        <p:sp>
          <p:nvSpPr>
            <p:cNvPr id="24608" name="Line 39"/>
            <p:cNvSpPr/>
            <p:nvPr/>
          </p:nvSpPr>
          <p:spPr>
            <a:xfrm>
              <a:off x="3745" y="1127"/>
              <a:ext cx="63" cy="1"/>
            </a:xfrm>
            <a:prstGeom prst="line">
              <a:avLst/>
            </a:prstGeom>
            <a:ln w="0" cap="flat" cmpd="sng">
              <a:solidFill>
                <a:srgbClr val="0000FF"/>
              </a:solidFill>
              <a:prstDash val="solid"/>
              <a:headEnd type="none" w="med" len="med"/>
              <a:tailEnd type="none" w="med" len="med"/>
            </a:ln>
          </p:spPr>
        </p:sp>
        <p:sp>
          <p:nvSpPr>
            <p:cNvPr id="24609" name="Line 40"/>
            <p:cNvSpPr/>
            <p:nvPr/>
          </p:nvSpPr>
          <p:spPr>
            <a:xfrm>
              <a:off x="3100" y="1281"/>
              <a:ext cx="849" cy="1"/>
            </a:xfrm>
            <a:prstGeom prst="line">
              <a:avLst/>
            </a:prstGeom>
            <a:ln w="0" cap="flat" cmpd="sng">
              <a:solidFill>
                <a:srgbClr val="0000FF"/>
              </a:solidFill>
              <a:prstDash val="solid"/>
              <a:headEnd type="none" w="med" len="med"/>
              <a:tailEnd type="none" w="med" len="med"/>
            </a:ln>
          </p:spPr>
        </p:sp>
        <p:sp>
          <p:nvSpPr>
            <p:cNvPr id="24610" name="Line 41"/>
            <p:cNvSpPr/>
            <p:nvPr/>
          </p:nvSpPr>
          <p:spPr>
            <a:xfrm>
              <a:off x="3914" y="1423"/>
              <a:ext cx="64" cy="1"/>
            </a:xfrm>
            <a:prstGeom prst="line">
              <a:avLst/>
            </a:prstGeom>
            <a:ln w="0" cap="flat" cmpd="sng">
              <a:solidFill>
                <a:srgbClr val="0000FF"/>
              </a:solidFill>
              <a:prstDash val="solid"/>
              <a:headEnd type="none" w="med" len="med"/>
              <a:tailEnd type="none" w="med" len="med"/>
            </a:ln>
          </p:spPr>
        </p:sp>
        <p:sp>
          <p:nvSpPr>
            <p:cNvPr id="24611" name="Line 42"/>
            <p:cNvSpPr/>
            <p:nvPr/>
          </p:nvSpPr>
          <p:spPr>
            <a:xfrm>
              <a:off x="4030" y="1281"/>
              <a:ext cx="1" cy="142"/>
            </a:xfrm>
            <a:prstGeom prst="line">
              <a:avLst/>
            </a:prstGeom>
            <a:ln w="0" cap="flat" cmpd="sng">
              <a:solidFill>
                <a:srgbClr val="0000FF"/>
              </a:solidFill>
              <a:prstDash val="solid"/>
              <a:headEnd type="none" w="med" len="med"/>
              <a:tailEnd type="none" w="med" len="med"/>
            </a:ln>
          </p:spPr>
        </p:sp>
        <p:sp>
          <p:nvSpPr>
            <p:cNvPr id="24612" name="Line 43"/>
            <p:cNvSpPr/>
            <p:nvPr/>
          </p:nvSpPr>
          <p:spPr>
            <a:xfrm flipV="1">
              <a:off x="4030" y="1352"/>
              <a:ext cx="22" cy="71"/>
            </a:xfrm>
            <a:prstGeom prst="line">
              <a:avLst/>
            </a:prstGeom>
            <a:ln w="0" cap="flat" cmpd="sng">
              <a:solidFill>
                <a:srgbClr val="0000FF"/>
              </a:solidFill>
              <a:prstDash val="solid"/>
              <a:headEnd type="none" w="med" len="med"/>
              <a:tailEnd type="none" w="med" len="med"/>
            </a:ln>
          </p:spPr>
        </p:sp>
        <p:sp>
          <p:nvSpPr>
            <p:cNvPr id="24613" name="Line 44"/>
            <p:cNvSpPr/>
            <p:nvPr/>
          </p:nvSpPr>
          <p:spPr>
            <a:xfrm flipH="1" flipV="1">
              <a:off x="4009" y="1352"/>
              <a:ext cx="21" cy="71"/>
            </a:xfrm>
            <a:prstGeom prst="line">
              <a:avLst/>
            </a:prstGeom>
            <a:ln w="0" cap="flat" cmpd="sng">
              <a:solidFill>
                <a:srgbClr val="0000FF"/>
              </a:solidFill>
              <a:prstDash val="solid"/>
              <a:headEnd type="none" w="med" len="med"/>
              <a:tailEnd type="none" w="med" len="med"/>
            </a:ln>
          </p:spPr>
        </p:sp>
        <p:sp>
          <p:nvSpPr>
            <p:cNvPr id="24614" name="Line 45"/>
            <p:cNvSpPr/>
            <p:nvPr/>
          </p:nvSpPr>
          <p:spPr>
            <a:xfrm>
              <a:off x="4115" y="1281"/>
              <a:ext cx="1" cy="142"/>
            </a:xfrm>
            <a:prstGeom prst="line">
              <a:avLst/>
            </a:prstGeom>
            <a:ln w="0" cap="flat" cmpd="sng">
              <a:solidFill>
                <a:srgbClr val="0000FF"/>
              </a:solidFill>
              <a:prstDash val="solid"/>
              <a:headEnd type="none" w="med" len="med"/>
              <a:tailEnd type="none" w="med" len="med"/>
            </a:ln>
          </p:spPr>
        </p:sp>
        <p:sp>
          <p:nvSpPr>
            <p:cNvPr id="24615" name="Line 46"/>
            <p:cNvSpPr/>
            <p:nvPr/>
          </p:nvSpPr>
          <p:spPr>
            <a:xfrm>
              <a:off x="4083" y="1423"/>
              <a:ext cx="64" cy="1"/>
            </a:xfrm>
            <a:prstGeom prst="line">
              <a:avLst/>
            </a:prstGeom>
            <a:ln w="0" cap="flat" cmpd="sng">
              <a:solidFill>
                <a:srgbClr val="0000FF"/>
              </a:solidFill>
              <a:prstDash val="solid"/>
              <a:headEnd type="none" w="med" len="med"/>
              <a:tailEnd type="none" w="med" len="med"/>
            </a:ln>
          </p:spPr>
        </p:sp>
        <p:sp>
          <p:nvSpPr>
            <p:cNvPr id="24616" name="Line 47"/>
            <p:cNvSpPr/>
            <p:nvPr/>
          </p:nvSpPr>
          <p:spPr>
            <a:xfrm>
              <a:off x="4009" y="1423"/>
              <a:ext cx="53" cy="1"/>
            </a:xfrm>
            <a:prstGeom prst="line">
              <a:avLst/>
            </a:prstGeom>
            <a:ln w="0" cap="flat" cmpd="sng">
              <a:solidFill>
                <a:srgbClr val="0000FF"/>
              </a:solidFill>
              <a:prstDash val="solid"/>
              <a:headEnd type="none" w="med" len="med"/>
              <a:tailEnd type="none" w="med" len="med"/>
            </a:ln>
          </p:spPr>
        </p:sp>
        <p:sp>
          <p:nvSpPr>
            <p:cNvPr id="24617" name="Line 48"/>
            <p:cNvSpPr/>
            <p:nvPr/>
          </p:nvSpPr>
          <p:spPr>
            <a:xfrm>
              <a:off x="4115" y="1281"/>
              <a:ext cx="1499" cy="1"/>
            </a:xfrm>
            <a:prstGeom prst="line">
              <a:avLst/>
            </a:prstGeom>
            <a:ln w="0" cap="flat" cmpd="sng">
              <a:solidFill>
                <a:srgbClr val="0000FF"/>
              </a:solidFill>
              <a:prstDash val="solid"/>
              <a:headEnd type="none" w="med" len="med"/>
              <a:tailEnd type="none" w="med" len="med"/>
            </a:ln>
          </p:spPr>
        </p:sp>
        <p:sp>
          <p:nvSpPr>
            <p:cNvPr id="24618" name="Line 49"/>
            <p:cNvSpPr/>
            <p:nvPr/>
          </p:nvSpPr>
          <p:spPr>
            <a:xfrm>
              <a:off x="3999" y="1459"/>
              <a:ext cx="63" cy="1"/>
            </a:xfrm>
            <a:prstGeom prst="line">
              <a:avLst/>
            </a:prstGeom>
            <a:ln w="0" cap="flat" cmpd="sng">
              <a:solidFill>
                <a:srgbClr val="0000FF"/>
              </a:solidFill>
              <a:prstDash val="solid"/>
              <a:headEnd type="none" w="med" len="med"/>
              <a:tailEnd type="none" w="med" len="med"/>
            </a:ln>
          </p:spPr>
        </p:sp>
        <p:sp>
          <p:nvSpPr>
            <p:cNvPr id="24619" name="Line 50"/>
            <p:cNvSpPr/>
            <p:nvPr/>
          </p:nvSpPr>
          <p:spPr>
            <a:xfrm>
              <a:off x="3111" y="1613"/>
              <a:ext cx="1681" cy="1"/>
            </a:xfrm>
            <a:prstGeom prst="line">
              <a:avLst/>
            </a:prstGeom>
            <a:ln w="0" cap="flat" cmpd="sng">
              <a:solidFill>
                <a:srgbClr val="0000FF"/>
              </a:solidFill>
              <a:prstDash val="solid"/>
              <a:headEnd type="none" w="med" len="med"/>
              <a:tailEnd type="none" w="med" len="med"/>
            </a:ln>
          </p:spPr>
        </p:sp>
        <p:sp>
          <p:nvSpPr>
            <p:cNvPr id="24620" name="Line 51"/>
            <p:cNvSpPr/>
            <p:nvPr/>
          </p:nvSpPr>
          <p:spPr>
            <a:xfrm>
              <a:off x="4792" y="1613"/>
              <a:ext cx="1" cy="142"/>
            </a:xfrm>
            <a:prstGeom prst="line">
              <a:avLst/>
            </a:prstGeom>
            <a:ln w="0" cap="flat" cmpd="sng">
              <a:solidFill>
                <a:srgbClr val="0000FF"/>
              </a:solidFill>
              <a:prstDash val="solid"/>
              <a:headEnd type="none" w="med" len="med"/>
              <a:tailEnd type="none" w="med" len="med"/>
            </a:ln>
          </p:spPr>
        </p:sp>
        <p:sp>
          <p:nvSpPr>
            <p:cNvPr id="24621" name="Line 52"/>
            <p:cNvSpPr/>
            <p:nvPr/>
          </p:nvSpPr>
          <p:spPr>
            <a:xfrm>
              <a:off x="4760" y="1755"/>
              <a:ext cx="63" cy="1"/>
            </a:xfrm>
            <a:prstGeom prst="line">
              <a:avLst/>
            </a:prstGeom>
            <a:ln w="0" cap="flat" cmpd="sng">
              <a:solidFill>
                <a:srgbClr val="0000FF"/>
              </a:solidFill>
              <a:prstDash val="solid"/>
              <a:headEnd type="none" w="med" len="med"/>
              <a:tailEnd type="none" w="med" len="med"/>
            </a:ln>
          </p:spPr>
        </p:sp>
        <p:sp>
          <p:nvSpPr>
            <p:cNvPr id="24622" name="Line 53"/>
            <p:cNvSpPr/>
            <p:nvPr/>
          </p:nvSpPr>
          <p:spPr>
            <a:xfrm>
              <a:off x="4876" y="1613"/>
              <a:ext cx="1" cy="142"/>
            </a:xfrm>
            <a:prstGeom prst="line">
              <a:avLst/>
            </a:prstGeom>
            <a:ln w="0" cap="flat" cmpd="sng">
              <a:solidFill>
                <a:srgbClr val="0000FF"/>
              </a:solidFill>
              <a:prstDash val="solid"/>
              <a:headEnd type="none" w="med" len="med"/>
              <a:tailEnd type="none" w="med" len="med"/>
            </a:ln>
          </p:spPr>
        </p:sp>
        <p:sp>
          <p:nvSpPr>
            <p:cNvPr id="24623" name="Line 54"/>
            <p:cNvSpPr/>
            <p:nvPr/>
          </p:nvSpPr>
          <p:spPr>
            <a:xfrm flipV="1">
              <a:off x="4876" y="1684"/>
              <a:ext cx="21" cy="71"/>
            </a:xfrm>
            <a:prstGeom prst="line">
              <a:avLst/>
            </a:prstGeom>
            <a:ln w="0" cap="flat" cmpd="sng">
              <a:solidFill>
                <a:srgbClr val="0000FF"/>
              </a:solidFill>
              <a:prstDash val="solid"/>
              <a:headEnd type="none" w="med" len="med"/>
              <a:tailEnd type="none" w="med" len="med"/>
            </a:ln>
          </p:spPr>
        </p:sp>
        <p:sp>
          <p:nvSpPr>
            <p:cNvPr id="24624" name="Line 55"/>
            <p:cNvSpPr/>
            <p:nvPr/>
          </p:nvSpPr>
          <p:spPr>
            <a:xfrm flipH="1" flipV="1">
              <a:off x="4855" y="1684"/>
              <a:ext cx="21" cy="71"/>
            </a:xfrm>
            <a:prstGeom prst="line">
              <a:avLst/>
            </a:prstGeom>
            <a:ln w="0" cap="flat" cmpd="sng">
              <a:solidFill>
                <a:srgbClr val="0000FF"/>
              </a:solidFill>
              <a:prstDash val="solid"/>
              <a:headEnd type="none" w="med" len="med"/>
              <a:tailEnd type="none" w="med" len="med"/>
            </a:ln>
          </p:spPr>
        </p:sp>
        <p:sp>
          <p:nvSpPr>
            <p:cNvPr id="24625" name="Line 56"/>
            <p:cNvSpPr/>
            <p:nvPr/>
          </p:nvSpPr>
          <p:spPr>
            <a:xfrm>
              <a:off x="4855" y="1755"/>
              <a:ext cx="53" cy="1"/>
            </a:xfrm>
            <a:prstGeom prst="line">
              <a:avLst/>
            </a:prstGeom>
            <a:ln w="0" cap="flat" cmpd="sng">
              <a:solidFill>
                <a:srgbClr val="0000FF"/>
              </a:solidFill>
              <a:prstDash val="solid"/>
              <a:headEnd type="none" w="med" len="med"/>
              <a:tailEnd type="none" w="med" len="med"/>
            </a:ln>
          </p:spPr>
        </p:sp>
        <p:sp>
          <p:nvSpPr>
            <p:cNvPr id="24626" name="Line 57"/>
            <p:cNvSpPr/>
            <p:nvPr/>
          </p:nvSpPr>
          <p:spPr>
            <a:xfrm>
              <a:off x="4929" y="1755"/>
              <a:ext cx="74" cy="1"/>
            </a:xfrm>
            <a:prstGeom prst="line">
              <a:avLst/>
            </a:prstGeom>
            <a:ln w="0" cap="flat" cmpd="sng">
              <a:solidFill>
                <a:srgbClr val="0000FF"/>
              </a:solidFill>
              <a:prstDash val="solid"/>
              <a:headEnd type="none" w="med" len="med"/>
              <a:tailEnd type="none" w="med" len="med"/>
            </a:ln>
          </p:spPr>
        </p:sp>
        <p:sp>
          <p:nvSpPr>
            <p:cNvPr id="24627" name="Line 58"/>
            <p:cNvSpPr/>
            <p:nvPr/>
          </p:nvSpPr>
          <p:spPr>
            <a:xfrm flipV="1">
              <a:off x="4961" y="1613"/>
              <a:ext cx="1" cy="142"/>
            </a:xfrm>
            <a:prstGeom prst="line">
              <a:avLst/>
            </a:prstGeom>
            <a:ln w="0" cap="flat" cmpd="sng">
              <a:solidFill>
                <a:srgbClr val="0000FF"/>
              </a:solidFill>
              <a:prstDash val="solid"/>
              <a:headEnd type="none" w="med" len="med"/>
              <a:tailEnd type="none" w="med" len="med"/>
            </a:ln>
          </p:spPr>
        </p:sp>
        <p:sp>
          <p:nvSpPr>
            <p:cNvPr id="24628" name="Line 59"/>
            <p:cNvSpPr/>
            <p:nvPr/>
          </p:nvSpPr>
          <p:spPr>
            <a:xfrm>
              <a:off x="4961" y="1613"/>
              <a:ext cx="507" cy="1"/>
            </a:xfrm>
            <a:prstGeom prst="line">
              <a:avLst/>
            </a:prstGeom>
            <a:ln w="0" cap="flat" cmpd="sng">
              <a:solidFill>
                <a:srgbClr val="0000FF"/>
              </a:solidFill>
              <a:prstDash val="solid"/>
              <a:headEnd type="none" w="med" len="med"/>
              <a:tailEnd type="none" w="med" len="med"/>
            </a:ln>
          </p:spPr>
        </p:sp>
        <p:sp>
          <p:nvSpPr>
            <p:cNvPr id="24629" name="Line 60"/>
            <p:cNvSpPr/>
            <p:nvPr/>
          </p:nvSpPr>
          <p:spPr>
            <a:xfrm>
              <a:off x="4844" y="1790"/>
              <a:ext cx="74" cy="1"/>
            </a:xfrm>
            <a:prstGeom prst="line">
              <a:avLst/>
            </a:prstGeom>
            <a:ln w="0" cap="flat" cmpd="sng">
              <a:solidFill>
                <a:srgbClr val="0000FF"/>
              </a:solidFill>
              <a:prstDash val="solid"/>
              <a:headEnd type="none" w="med" len="med"/>
              <a:tailEnd type="none" w="med" len="med"/>
            </a:ln>
          </p:spPr>
        </p:sp>
        <p:sp>
          <p:nvSpPr>
            <p:cNvPr id="24630" name="Line 61"/>
            <p:cNvSpPr/>
            <p:nvPr/>
          </p:nvSpPr>
          <p:spPr>
            <a:xfrm>
              <a:off x="4844" y="1790"/>
              <a:ext cx="1" cy="533"/>
            </a:xfrm>
            <a:prstGeom prst="line">
              <a:avLst/>
            </a:prstGeom>
            <a:ln w="0" cap="flat" cmpd="sng">
              <a:solidFill>
                <a:srgbClr val="0000FF"/>
              </a:solidFill>
              <a:prstDash val="solid"/>
              <a:headEnd type="none" w="med" len="med"/>
              <a:tailEnd type="none" w="med" len="med"/>
            </a:ln>
          </p:spPr>
        </p:sp>
        <p:sp>
          <p:nvSpPr>
            <p:cNvPr id="24631" name="Line 62"/>
            <p:cNvSpPr/>
            <p:nvPr/>
          </p:nvSpPr>
          <p:spPr>
            <a:xfrm>
              <a:off x="3100" y="1944"/>
              <a:ext cx="1945" cy="1"/>
            </a:xfrm>
            <a:prstGeom prst="line">
              <a:avLst/>
            </a:prstGeom>
            <a:ln w="0" cap="flat" cmpd="sng">
              <a:solidFill>
                <a:srgbClr val="0000FF"/>
              </a:solidFill>
              <a:prstDash val="solid"/>
              <a:headEnd type="none" w="med" len="med"/>
              <a:tailEnd type="none" w="med" len="med"/>
            </a:ln>
          </p:spPr>
        </p:sp>
        <p:sp>
          <p:nvSpPr>
            <p:cNvPr id="24632" name="Line 63"/>
            <p:cNvSpPr/>
            <p:nvPr/>
          </p:nvSpPr>
          <p:spPr>
            <a:xfrm>
              <a:off x="5045" y="1944"/>
              <a:ext cx="1" cy="142"/>
            </a:xfrm>
            <a:prstGeom prst="line">
              <a:avLst/>
            </a:prstGeom>
            <a:ln w="0" cap="flat" cmpd="sng">
              <a:solidFill>
                <a:srgbClr val="0000FF"/>
              </a:solidFill>
              <a:prstDash val="solid"/>
              <a:headEnd type="none" w="med" len="med"/>
              <a:tailEnd type="none" w="med" len="med"/>
            </a:ln>
          </p:spPr>
        </p:sp>
        <p:sp>
          <p:nvSpPr>
            <p:cNvPr id="24633" name="Line 64"/>
            <p:cNvSpPr/>
            <p:nvPr/>
          </p:nvSpPr>
          <p:spPr>
            <a:xfrm>
              <a:off x="5014" y="2086"/>
              <a:ext cx="63" cy="1"/>
            </a:xfrm>
            <a:prstGeom prst="line">
              <a:avLst/>
            </a:prstGeom>
            <a:ln w="0" cap="flat" cmpd="sng">
              <a:solidFill>
                <a:srgbClr val="0000FF"/>
              </a:solidFill>
              <a:prstDash val="solid"/>
              <a:headEnd type="none" w="med" len="med"/>
              <a:tailEnd type="none" w="med" len="med"/>
            </a:ln>
          </p:spPr>
        </p:sp>
        <p:sp>
          <p:nvSpPr>
            <p:cNvPr id="24634" name="Line 65"/>
            <p:cNvSpPr/>
            <p:nvPr/>
          </p:nvSpPr>
          <p:spPr>
            <a:xfrm>
              <a:off x="5130" y="1944"/>
              <a:ext cx="1" cy="142"/>
            </a:xfrm>
            <a:prstGeom prst="line">
              <a:avLst/>
            </a:prstGeom>
            <a:ln w="0" cap="flat" cmpd="sng">
              <a:solidFill>
                <a:srgbClr val="0000FF"/>
              </a:solidFill>
              <a:prstDash val="solid"/>
              <a:headEnd type="none" w="med" len="med"/>
              <a:tailEnd type="none" w="med" len="med"/>
            </a:ln>
          </p:spPr>
        </p:sp>
        <p:sp>
          <p:nvSpPr>
            <p:cNvPr id="24635" name="Line 66"/>
            <p:cNvSpPr/>
            <p:nvPr/>
          </p:nvSpPr>
          <p:spPr>
            <a:xfrm flipV="1">
              <a:off x="5130" y="2015"/>
              <a:ext cx="21" cy="71"/>
            </a:xfrm>
            <a:prstGeom prst="line">
              <a:avLst/>
            </a:prstGeom>
            <a:ln w="0" cap="flat" cmpd="sng">
              <a:solidFill>
                <a:srgbClr val="0000FF"/>
              </a:solidFill>
              <a:prstDash val="solid"/>
              <a:headEnd type="none" w="med" len="med"/>
              <a:tailEnd type="none" w="med" len="med"/>
            </a:ln>
          </p:spPr>
        </p:sp>
        <p:sp>
          <p:nvSpPr>
            <p:cNvPr id="24636" name="Line 67"/>
            <p:cNvSpPr/>
            <p:nvPr/>
          </p:nvSpPr>
          <p:spPr>
            <a:xfrm flipH="1" flipV="1">
              <a:off x="5109" y="2015"/>
              <a:ext cx="21" cy="71"/>
            </a:xfrm>
            <a:prstGeom prst="line">
              <a:avLst/>
            </a:prstGeom>
            <a:ln w="0" cap="flat" cmpd="sng">
              <a:solidFill>
                <a:srgbClr val="0000FF"/>
              </a:solidFill>
              <a:prstDash val="solid"/>
              <a:headEnd type="none" w="med" len="med"/>
              <a:tailEnd type="none" w="med" len="med"/>
            </a:ln>
          </p:spPr>
        </p:sp>
        <p:sp>
          <p:nvSpPr>
            <p:cNvPr id="24637" name="Line 68"/>
            <p:cNvSpPr/>
            <p:nvPr/>
          </p:nvSpPr>
          <p:spPr>
            <a:xfrm>
              <a:off x="5098" y="2086"/>
              <a:ext cx="64" cy="1"/>
            </a:xfrm>
            <a:prstGeom prst="line">
              <a:avLst/>
            </a:prstGeom>
            <a:ln w="0" cap="flat" cmpd="sng">
              <a:solidFill>
                <a:srgbClr val="0000FF"/>
              </a:solidFill>
              <a:prstDash val="solid"/>
              <a:headEnd type="none" w="med" len="med"/>
              <a:tailEnd type="none" w="med" len="med"/>
            </a:ln>
          </p:spPr>
        </p:sp>
        <p:sp>
          <p:nvSpPr>
            <p:cNvPr id="24638" name="Line 69"/>
            <p:cNvSpPr/>
            <p:nvPr/>
          </p:nvSpPr>
          <p:spPr>
            <a:xfrm>
              <a:off x="5193" y="2086"/>
              <a:ext cx="64" cy="1"/>
            </a:xfrm>
            <a:prstGeom prst="line">
              <a:avLst/>
            </a:prstGeom>
            <a:ln w="0" cap="flat" cmpd="sng">
              <a:solidFill>
                <a:srgbClr val="0000FF"/>
              </a:solidFill>
              <a:prstDash val="solid"/>
              <a:headEnd type="none" w="med" len="med"/>
              <a:tailEnd type="none" w="med" len="med"/>
            </a:ln>
          </p:spPr>
        </p:sp>
        <p:sp>
          <p:nvSpPr>
            <p:cNvPr id="24639" name="Line 70"/>
            <p:cNvSpPr/>
            <p:nvPr/>
          </p:nvSpPr>
          <p:spPr>
            <a:xfrm flipV="1">
              <a:off x="5214" y="1944"/>
              <a:ext cx="1" cy="142"/>
            </a:xfrm>
            <a:prstGeom prst="line">
              <a:avLst/>
            </a:prstGeom>
            <a:ln w="0" cap="flat" cmpd="sng">
              <a:solidFill>
                <a:srgbClr val="0000FF"/>
              </a:solidFill>
              <a:prstDash val="solid"/>
              <a:headEnd type="none" w="med" len="med"/>
              <a:tailEnd type="none" w="med" len="med"/>
            </a:ln>
          </p:spPr>
        </p:sp>
        <p:sp>
          <p:nvSpPr>
            <p:cNvPr id="24640" name="Line 71"/>
            <p:cNvSpPr/>
            <p:nvPr/>
          </p:nvSpPr>
          <p:spPr>
            <a:xfrm>
              <a:off x="5214" y="1944"/>
              <a:ext cx="254" cy="1"/>
            </a:xfrm>
            <a:prstGeom prst="line">
              <a:avLst/>
            </a:prstGeom>
            <a:ln w="0" cap="flat" cmpd="sng">
              <a:solidFill>
                <a:srgbClr val="0000FF"/>
              </a:solidFill>
              <a:prstDash val="solid"/>
              <a:headEnd type="none" w="med" len="med"/>
              <a:tailEnd type="none" w="med" len="med"/>
            </a:ln>
          </p:spPr>
        </p:sp>
        <p:sp>
          <p:nvSpPr>
            <p:cNvPr id="24641" name="Line 72"/>
            <p:cNvSpPr/>
            <p:nvPr/>
          </p:nvSpPr>
          <p:spPr>
            <a:xfrm>
              <a:off x="5098" y="2122"/>
              <a:ext cx="74" cy="1"/>
            </a:xfrm>
            <a:prstGeom prst="line">
              <a:avLst/>
            </a:prstGeom>
            <a:ln w="0" cap="flat" cmpd="sng">
              <a:solidFill>
                <a:srgbClr val="0000FF"/>
              </a:solidFill>
              <a:prstDash val="solid"/>
              <a:headEnd type="none" w="med" len="med"/>
              <a:tailEnd type="none" w="med" len="med"/>
            </a:ln>
          </p:spPr>
        </p:sp>
        <p:sp>
          <p:nvSpPr>
            <p:cNvPr id="24642" name="Line 73"/>
            <p:cNvSpPr/>
            <p:nvPr/>
          </p:nvSpPr>
          <p:spPr>
            <a:xfrm>
              <a:off x="5098" y="2122"/>
              <a:ext cx="1" cy="201"/>
            </a:xfrm>
            <a:prstGeom prst="line">
              <a:avLst/>
            </a:prstGeom>
            <a:ln w="0" cap="flat" cmpd="sng">
              <a:solidFill>
                <a:srgbClr val="0000FF"/>
              </a:solidFill>
              <a:prstDash val="solid"/>
              <a:headEnd type="none" w="med" len="med"/>
              <a:tailEnd type="none" w="med" len="med"/>
            </a:ln>
          </p:spPr>
        </p:sp>
        <p:sp>
          <p:nvSpPr>
            <p:cNvPr id="24643" name="Rectangle 74"/>
            <p:cNvSpPr/>
            <p:nvPr/>
          </p:nvSpPr>
          <p:spPr>
            <a:xfrm>
              <a:off x="3354" y="2323"/>
              <a:ext cx="1896" cy="38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44" name="Rectangle 75"/>
            <p:cNvSpPr/>
            <p:nvPr/>
          </p:nvSpPr>
          <p:spPr>
            <a:xfrm>
              <a:off x="3523" y="2169"/>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4645" name="Rectangle 76"/>
            <p:cNvSpPr/>
            <p:nvPr/>
          </p:nvSpPr>
          <p:spPr>
            <a:xfrm>
              <a:off x="3777" y="2169"/>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4646" name="Rectangle 77"/>
            <p:cNvSpPr/>
            <p:nvPr/>
          </p:nvSpPr>
          <p:spPr>
            <a:xfrm>
              <a:off x="4030" y="2169"/>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24647" name="Rectangle 78"/>
            <p:cNvSpPr/>
            <p:nvPr/>
          </p:nvSpPr>
          <p:spPr>
            <a:xfrm>
              <a:off x="4866" y="2169"/>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24648" name="Rectangle 79"/>
            <p:cNvSpPr/>
            <p:nvPr/>
          </p:nvSpPr>
          <p:spPr>
            <a:xfrm>
              <a:off x="5119" y="2169"/>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sp>
          <p:nvSpPr>
            <p:cNvPr id="24649" name="Rectangle 80"/>
            <p:cNvSpPr/>
            <p:nvPr/>
          </p:nvSpPr>
          <p:spPr>
            <a:xfrm>
              <a:off x="4274" y="2145"/>
              <a:ext cx="1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4650" name="Rectangle 81"/>
            <p:cNvSpPr/>
            <p:nvPr/>
          </p:nvSpPr>
          <p:spPr>
            <a:xfrm>
              <a:off x="3819" y="2441"/>
              <a:ext cx="960"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四</a:t>
              </a:r>
              <a:r>
                <a:rPr lang="en-US" altLang="zh-CN" sz="1600" b="0" dirty="0">
                  <a:solidFill>
                    <a:srgbClr val="0000FF"/>
                  </a:solidFill>
                  <a:latin typeface="宋体" panose="02010600030101010101" pitchFamily="2" charset="-122"/>
                  <a:ea typeface="宋体" panose="02010600030101010101" pitchFamily="2" charset="-122"/>
                </a:rPr>
                <a:t>-</a:t>
              </a:r>
              <a:r>
                <a:rPr lang="zh-CN" altLang="en-US" sz="1600" b="0" dirty="0">
                  <a:solidFill>
                    <a:srgbClr val="0000FF"/>
                  </a:solidFill>
                  <a:latin typeface="宋体" panose="02010600030101010101" pitchFamily="2" charset="-122"/>
                  <a:ea typeface="宋体" panose="02010600030101010101" pitchFamily="2" charset="-122"/>
                </a:rPr>
                <a:t>十六线译码器</a:t>
              </a:r>
              <a:endParaRPr lang="zh-CN" altLang="en-US" dirty="0">
                <a:latin typeface="Times New Roman" panose="02020603050405020304" pitchFamily="18" charset="0"/>
              </a:endParaRPr>
            </a:p>
          </p:txBody>
        </p:sp>
        <p:sp>
          <p:nvSpPr>
            <p:cNvPr id="24651" name="Rectangle 82"/>
            <p:cNvSpPr/>
            <p:nvPr/>
          </p:nvSpPr>
          <p:spPr>
            <a:xfrm>
              <a:off x="3787" y="2891"/>
              <a:ext cx="1026" cy="286"/>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52" name="Rectangle 83"/>
            <p:cNvSpPr/>
            <p:nvPr/>
          </p:nvSpPr>
          <p:spPr>
            <a:xfrm>
              <a:off x="4009" y="2962"/>
              <a:ext cx="640"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四位计数器</a:t>
              </a:r>
              <a:endParaRPr lang="zh-CN" altLang="en-US" dirty="0">
                <a:latin typeface="Times New Roman" panose="02020603050405020304" pitchFamily="18" charset="0"/>
              </a:endParaRPr>
            </a:p>
          </p:txBody>
        </p:sp>
        <p:sp>
          <p:nvSpPr>
            <p:cNvPr id="24653" name="Line 84"/>
            <p:cNvSpPr/>
            <p:nvPr/>
          </p:nvSpPr>
          <p:spPr>
            <a:xfrm>
              <a:off x="3946" y="2702"/>
              <a:ext cx="1" cy="189"/>
            </a:xfrm>
            <a:prstGeom prst="line">
              <a:avLst/>
            </a:prstGeom>
            <a:ln w="0" cap="flat" cmpd="sng">
              <a:solidFill>
                <a:srgbClr val="0000FF"/>
              </a:solidFill>
              <a:prstDash val="solid"/>
              <a:headEnd type="none" w="med" len="med"/>
              <a:tailEnd type="none" w="med" len="med"/>
            </a:ln>
          </p:spPr>
        </p:sp>
        <p:sp>
          <p:nvSpPr>
            <p:cNvPr id="24654" name="Line 85"/>
            <p:cNvSpPr/>
            <p:nvPr/>
          </p:nvSpPr>
          <p:spPr>
            <a:xfrm>
              <a:off x="4622" y="2702"/>
              <a:ext cx="1" cy="189"/>
            </a:xfrm>
            <a:prstGeom prst="line">
              <a:avLst/>
            </a:prstGeom>
            <a:ln w="0" cap="flat" cmpd="sng">
              <a:solidFill>
                <a:srgbClr val="0000FF"/>
              </a:solidFill>
              <a:prstDash val="solid"/>
              <a:headEnd type="none" w="med" len="med"/>
              <a:tailEnd type="none" w="med" len="med"/>
            </a:ln>
          </p:spPr>
        </p:sp>
        <p:sp>
          <p:nvSpPr>
            <p:cNvPr id="24655" name="Line 86"/>
            <p:cNvSpPr/>
            <p:nvPr/>
          </p:nvSpPr>
          <p:spPr>
            <a:xfrm>
              <a:off x="4168" y="2702"/>
              <a:ext cx="1" cy="189"/>
            </a:xfrm>
            <a:prstGeom prst="line">
              <a:avLst/>
            </a:prstGeom>
            <a:ln w="0" cap="flat" cmpd="sng">
              <a:solidFill>
                <a:srgbClr val="0000FF"/>
              </a:solidFill>
              <a:prstDash val="solid"/>
              <a:headEnd type="none" w="med" len="med"/>
              <a:tailEnd type="none" w="med" len="med"/>
            </a:ln>
          </p:spPr>
        </p:sp>
        <p:sp>
          <p:nvSpPr>
            <p:cNvPr id="24656" name="Line 87"/>
            <p:cNvSpPr/>
            <p:nvPr/>
          </p:nvSpPr>
          <p:spPr>
            <a:xfrm>
              <a:off x="4400" y="2702"/>
              <a:ext cx="1" cy="189"/>
            </a:xfrm>
            <a:prstGeom prst="line">
              <a:avLst/>
            </a:prstGeom>
            <a:ln w="0" cap="flat" cmpd="sng">
              <a:solidFill>
                <a:srgbClr val="0000FF"/>
              </a:solidFill>
              <a:prstDash val="solid"/>
              <a:headEnd type="none" w="med" len="med"/>
              <a:tailEnd type="none" w="med" len="med"/>
            </a:ln>
          </p:spPr>
        </p:sp>
        <p:sp>
          <p:nvSpPr>
            <p:cNvPr id="24657" name="Line 88"/>
            <p:cNvSpPr/>
            <p:nvPr/>
          </p:nvSpPr>
          <p:spPr>
            <a:xfrm flipH="1">
              <a:off x="3107" y="3033"/>
              <a:ext cx="680" cy="1"/>
            </a:xfrm>
            <a:prstGeom prst="line">
              <a:avLst/>
            </a:prstGeom>
            <a:ln w="0" cap="flat" cmpd="sng">
              <a:solidFill>
                <a:srgbClr val="0000FF"/>
              </a:solidFill>
              <a:prstDash val="solid"/>
              <a:headEnd type="none" w="med" len="med"/>
              <a:tailEnd type="none" w="med" len="med"/>
            </a:ln>
          </p:spPr>
        </p:sp>
        <p:sp>
          <p:nvSpPr>
            <p:cNvPr id="24658" name="Line 89"/>
            <p:cNvSpPr/>
            <p:nvPr/>
          </p:nvSpPr>
          <p:spPr>
            <a:xfrm>
              <a:off x="5468" y="618"/>
              <a:ext cx="1" cy="1326"/>
            </a:xfrm>
            <a:prstGeom prst="line">
              <a:avLst/>
            </a:prstGeom>
            <a:ln w="0" cap="flat" cmpd="sng">
              <a:solidFill>
                <a:srgbClr val="0000FF"/>
              </a:solidFill>
              <a:prstDash val="solid"/>
              <a:headEnd type="none" w="med" len="med"/>
              <a:tailEnd type="none" w="med" len="med"/>
            </a:ln>
          </p:spPr>
        </p:sp>
        <p:sp>
          <p:nvSpPr>
            <p:cNvPr id="24659" name="Oval 90"/>
            <p:cNvSpPr/>
            <p:nvPr/>
          </p:nvSpPr>
          <p:spPr>
            <a:xfrm>
              <a:off x="5615" y="1254"/>
              <a:ext cx="53"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0" name="Oval 91"/>
            <p:cNvSpPr/>
            <p:nvPr/>
          </p:nvSpPr>
          <p:spPr>
            <a:xfrm>
              <a:off x="3047" y="595"/>
              <a:ext cx="53"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1" name="Oval 92"/>
            <p:cNvSpPr/>
            <p:nvPr/>
          </p:nvSpPr>
          <p:spPr>
            <a:xfrm>
              <a:off x="3047" y="926"/>
              <a:ext cx="53"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2" name="Oval 93"/>
            <p:cNvSpPr/>
            <p:nvPr/>
          </p:nvSpPr>
          <p:spPr>
            <a:xfrm>
              <a:off x="3047" y="1257"/>
              <a:ext cx="53"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3" name="Oval 94"/>
            <p:cNvSpPr/>
            <p:nvPr/>
          </p:nvSpPr>
          <p:spPr>
            <a:xfrm>
              <a:off x="3058" y="1589"/>
              <a:ext cx="53"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4" name="Oval 95"/>
            <p:cNvSpPr/>
            <p:nvPr/>
          </p:nvSpPr>
          <p:spPr>
            <a:xfrm>
              <a:off x="3047" y="1920"/>
              <a:ext cx="53"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5" name="Oval 96"/>
            <p:cNvSpPr/>
            <p:nvPr/>
          </p:nvSpPr>
          <p:spPr>
            <a:xfrm>
              <a:off x="3058" y="3009"/>
              <a:ext cx="53"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66" name="Rectangle 97"/>
            <p:cNvSpPr/>
            <p:nvPr/>
          </p:nvSpPr>
          <p:spPr>
            <a:xfrm>
              <a:off x="3481" y="429"/>
              <a:ext cx="7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4667" name="Rectangle 98"/>
            <p:cNvSpPr/>
            <p:nvPr/>
          </p:nvSpPr>
          <p:spPr>
            <a:xfrm>
              <a:off x="3555" y="47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sp>
          <p:nvSpPr>
            <p:cNvPr id="24668" name="Rectangle 99"/>
            <p:cNvSpPr/>
            <p:nvPr/>
          </p:nvSpPr>
          <p:spPr>
            <a:xfrm>
              <a:off x="3724" y="784"/>
              <a:ext cx="7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4669" name="Rectangle 100"/>
            <p:cNvSpPr/>
            <p:nvPr/>
          </p:nvSpPr>
          <p:spPr>
            <a:xfrm>
              <a:off x="3798" y="83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2</a:t>
              </a:r>
              <a:endParaRPr lang="en-US" altLang="zh-CN" dirty="0">
                <a:solidFill>
                  <a:srgbClr val="FF0000"/>
                </a:solidFill>
                <a:latin typeface="Times New Roman" panose="02020603050405020304" pitchFamily="18" charset="0"/>
              </a:endParaRPr>
            </a:p>
          </p:txBody>
        </p:sp>
        <p:sp>
          <p:nvSpPr>
            <p:cNvPr id="24670" name="Rectangle 101"/>
            <p:cNvSpPr/>
            <p:nvPr/>
          </p:nvSpPr>
          <p:spPr>
            <a:xfrm>
              <a:off x="3967" y="1127"/>
              <a:ext cx="7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4671" name="Rectangle 102"/>
            <p:cNvSpPr/>
            <p:nvPr/>
          </p:nvSpPr>
          <p:spPr>
            <a:xfrm>
              <a:off x="4041" y="117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3</a:t>
              </a:r>
              <a:endParaRPr lang="en-US" altLang="zh-CN" dirty="0">
                <a:solidFill>
                  <a:srgbClr val="FF0000"/>
                </a:solidFill>
                <a:latin typeface="Times New Roman" panose="02020603050405020304" pitchFamily="18" charset="0"/>
              </a:endParaRPr>
            </a:p>
          </p:txBody>
        </p:sp>
        <p:sp>
          <p:nvSpPr>
            <p:cNvPr id="24672" name="Rectangle 103"/>
            <p:cNvSpPr/>
            <p:nvPr/>
          </p:nvSpPr>
          <p:spPr>
            <a:xfrm>
              <a:off x="4802" y="1447"/>
              <a:ext cx="7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4673" name="Rectangle 104"/>
            <p:cNvSpPr/>
            <p:nvPr/>
          </p:nvSpPr>
          <p:spPr>
            <a:xfrm>
              <a:off x="4866" y="1494"/>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15</a:t>
              </a:r>
              <a:endParaRPr lang="en-US" altLang="zh-CN" dirty="0">
                <a:solidFill>
                  <a:srgbClr val="FF0000"/>
                </a:solidFill>
                <a:latin typeface="Times New Roman" panose="02020603050405020304" pitchFamily="18" charset="0"/>
              </a:endParaRPr>
            </a:p>
          </p:txBody>
        </p:sp>
        <p:sp>
          <p:nvSpPr>
            <p:cNvPr id="24674" name="Rectangle 105"/>
            <p:cNvSpPr/>
            <p:nvPr/>
          </p:nvSpPr>
          <p:spPr>
            <a:xfrm>
              <a:off x="5066" y="1778"/>
              <a:ext cx="7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T</a:t>
              </a:r>
              <a:endParaRPr lang="en-US" altLang="zh-CN" dirty="0">
                <a:solidFill>
                  <a:srgbClr val="FF0000"/>
                </a:solidFill>
                <a:latin typeface="Times New Roman" panose="02020603050405020304" pitchFamily="18" charset="0"/>
              </a:endParaRPr>
            </a:p>
          </p:txBody>
        </p:sp>
        <p:sp>
          <p:nvSpPr>
            <p:cNvPr id="24675" name="Rectangle 106"/>
            <p:cNvSpPr/>
            <p:nvPr/>
          </p:nvSpPr>
          <p:spPr>
            <a:xfrm>
              <a:off x="5130" y="182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16</a:t>
              </a:r>
              <a:endParaRPr lang="en-US" altLang="zh-CN" dirty="0">
                <a:solidFill>
                  <a:srgbClr val="FF0000"/>
                </a:solidFill>
                <a:latin typeface="Times New Roman" panose="02020603050405020304" pitchFamily="18" charset="0"/>
              </a:endParaRPr>
            </a:p>
          </p:txBody>
        </p:sp>
        <p:sp>
          <p:nvSpPr>
            <p:cNvPr id="24676" name="Rectangle 107"/>
            <p:cNvSpPr/>
            <p:nvPr/>
          </p:nvSpPr>
          <p:spPr>
            <a:xfrm>
              <a:off x="5565" y="1114"/>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77" name="Rectangle 108"/>
            <p:cNvSpPr/>
            <p:nvPr/>
          </p:nvSpPr>
          <p:spPr>
            <a:xfrm>
              <a:off x="5650" y="1162"/>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0</a:t>
              </a:r>
              <a:endParaRPr lang="en-US" altLang="zh-CN" dirty="0">
                <a:solidFill>
                  <a:srgbClr val="FF0000"/>
                </a:solidFill>
                <a:latin typeface="Times New Roman" panose="02020603050405020304" pitchFamily="18" charset="0"/>
              </a:endParaRPr>
            </a:p>
          </p:txBody>
        </p:sp>
        <p:sp>
          <p:nvSpPr>
            <p:cNvPr id="24678" name="Rectangle 109"/>
            <p:cNvSpPr/>
            <p:nvPr/>
          </p:nvSpPr>
          <p:spPr>
            <a:xfrm>
              <a:off x="2857" y="1186"/>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79" name="Rectangle 110"/>
            <p:cNvSpPr/>
            <p:nvPr/>
          </p:nvSpPr>
          <p:spPr>
            <a:xfrm>
              <a:off x="2942" y="1222"/>
              <a:ext cx="7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i3</a:t>
              </a:r>
              <a:endParaRPr lang="en-US" altLang="zh-CN" dirty="0">
                <a:solidFill>
                  <a:srgbClr val="FF0000"/>
                </a:solidFill>
                <a:latin typeface="Times New Roman" panose="02020603050405020304" pitchFamily="18" charset="0"/>
              </a:endParaRPr>
            </a:p>
          </p:txBody>
        </p:sp>
        <p:sp>
          <p:nvSpPr>
            <p:cNvPr id="24680" name="Rectangle 111"/>
            <p:cNvSpPr/>
            <p:nvPr/>
          </p:nvSpPr>
          <p:spPr>
            <a:xfrm>
              <a:off x="2862" y="873"/>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81" name="Rectangle 112"/>
            <p:cNvSpPr/>
            <p:nvPr/>
          </p:nvSpPr>
          <p:spPr>
            <a:xfrm>
              <a:off x="2947" y="908"/>
              <a:ext cx="7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i2</a:t>
              </a:r>
              <a:endParaRPr lang="en-US" altLang="zh-CN" dirty="0">
                <a:solidFill>
                  <a:srgbClr val="FF0000"/>
                </a:solidFill>
                <a:latin typeface="Times New Roman" panose="02020603050405020304" pitchFamily="18" charset="0"/>
              </a:endParaRPr>
            </a:p>
          </p:txBody>
        </p:sp>
        <p:sp>
          <p:nvSpPr>
            <p:cNvPr id="24682" name="Rectangle 113"/>
            <p:cNvSpPr/>
            <p:nvPr/>
          </p:nvSpPr>
          <p:spPr>
            <a:xfrm>
              <a:off x="2868" y="535"/>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83" name="Rectangle 114"/>
            <p:cNvSpPr/>
            <p:nvPr/>
          </p:nvSpPr>
          <p:spPr>
            <a:xfrm>
              <a:off x="2952" y="571"/>
              <a:ext cx="7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i1</a:t>
              </a:r>
              <a:endParaRPr lang="en-US" altLang="zh-CN" dirty="0">
                <a:solidFill>
                  <a:srgbClr val="FF0000"/>
                </a:solidFill>
                <a:latin typeface="Times New Roman" panose="02020603050405020304" pitchFamily="18" charset="0"/>
              </a:endParaRPr>
            </a:p>
          </p:txBody>
        </p:sp>
        <p:sp>
          <p:nvSpPr>
            <p:cNvPr id="24684" name="Rectangle 115"/>
            <p:cNvSpPr/>
            <p:nvPr/>
          </p:nvSpPr>
          <p:spPr>
            <a:xfrm>
              <a:off x="2852" y="1530"/>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85" name="Rectangle 116"/>
            <p:cNvSpPr/>
            <p:nvPr/>
          </p:nvSpPr>
          <p:spPr>
            <a:xfrm>
              <a:off x="2931" y="1565"/>
              <a:ext cx="12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i15</a:t>
              </a:r>
              <a:endParaRPr lang="en-US" altLang="zh-CN" dirty="0">
                <a:solidFill>
                  <a:srgbClr val="FF0000"/>
                </a:solidFill>
                <a:latin typeface="Times New Roman" panose="02020603050405020304" pitchFamily="18" charset="0"/>
              </a:endParaRPr>
            </a:p>
          </p:txBody>
        </p:sp>
        <p:sp>
          <p:nvSpPr>
            <p:cNvPr id="24686" name="Rectangle 117"/>
            <p:cNvSpPr/>
            <p:nvPr/>
          </p:nvSpPr>
          <p:spPr>
            <a:xfrm>
              <a:off x="2920" y="1885"/>
              <a:ext cx="12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FF0000"/>
                  </a:solidFill>
                  <a:latin typeface="Times New Roman" panose="02020603050405020304" pitchFamily="18" charset="0"/>
                </a:rPr>
                <a:t>i16</a:t>
              </a:r>
              <a:endParaRPr lang="en-US" altLang="zh-CN" dirty="0">
                <a:solidFill>
                  <a:srgbClr val="FF0000"/>
                </a:solidFill>
                <a:latin typeface="Times New Roman" panose="02020603050405020304" pitchFamily="18" charset="0"/>
              </a:endParaRPr>
            </a:p>
          </p:txBody>
        </p:sp>
        <p:sp>
          <p:nvSpPr>
            <p:cNvPr id="24687" name="Rectangle 118"/>
            <p:cNvSpPr/>
            <p:nvPr/>
          </p:nvSpPr>
          <p:spPr>
            <a:xfrm>
              <a:off x="2841" y="1855"/>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24688" name="Rectangle 119"/>
            <p:cNvSpPr/>
            <p:nvPr/>
          </p:nvSpPr>
          <p:spPr>
            <a:xfrm>
              <a:off x="2804" y="2950"/>
              <a:ext cx="256"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计数</a:t>
              </a:r>
              <a:endParaRPr lang="zh-CN" altLang="en-US" dirty="0">
                <a:latin typeface="Times New Roman" panose="02020603050405020304" pitchFamily="18" charset="0"/>
              </a:endParaRPr>
            </a:p>
          </p:txBody>
        </p:sp>
        <p:sp>
          <p:nvSpPr>
            <p:cNvPr id="24689" name="Line 120"/>
            <p:cNvSpPr/>
            <p:nvPr/>
          </p:nvSpPr>
          <p:spPr>
            <a:xfrm>
              <a:off x="4168" y="3175"/>
              <a:ext cx="1" cy="190"/>
            </a:xfrm>
            <a:prstGeom prst="line">
              <a:avLst/>
            </a:prstGeom>
            <a:ln w="0" cap="flat" cmpd="sng">
              <a:solidFill>
                <a:srgbClr val="0000FF"/>
              </a:solidFill>
              <a:prstDash val="solid"/>
              <a:headEnd type="none" w="med" len="med"/>
              <a:tailEnd type="none" w="med" len="med"/>
            </a:ln>
          </p:spPr>
        </p:sp>
        <p:sp>
          <p:nvSpPr>
            <p:cNvPr id="24690" name="Line 121"/>
            <p:cNvSpPr/>
            <p:nvPr/>
          </p:nvSpPr>
          <p:spPr>
            <a:xfrm>
              <a:off x="4400" y="3175"/>
              <a:ext cx="1" cy="190"/>
            </a:xfrm>
            <a:prstGeom prst="line">
              <a:avLst/>
            </a:prstGeom>
            <a:ln w="0" cap="flat" cmpd="sng">
              <a:solidFill>
                <a:srgbClr val="0000FF"/>
              </a:solidFill>
              <a:prstDash val="solid"/>
              <a:headEnd type="none" w="med" len="med"/>
              <a:tailEnd type="none" w="med" len="med"/>
            </a:ln>
          </p:spPr>
        </p:sp>
        <p:sp>
          <p:nvSpPr>
            <p:cNvPr id="24691" name="Line 122"/>
            <p:cNvSpPr/>
            <p:nvPr/>
          </p:nvSpPr>
          <p:spPr>
            <a:xfrm>
              <a:off x="4622" y="3175"/>
              <a:ext cx="1" cy="190"/>
            </a:xfrm>
            <a:prstGeom prst="line">
              <a:avLst/>
            </a:prstGeom>
            <a:ln w="0" cap="flat" cmpd="sng">
              <a:solidFill>
                <a:srgbClr val="0000FF"/>
              </a:solidFill>
              <a:prstDash val="solid"/>
              <a:headEnd type="none" w="med" len="med"/>
              <a:tailEnd type="none" w="med" len="med"/>
            </a:ln>
          </p:spPr>
        </p:sp>
        <p:sp>
          <p:nvSpPr>
            <p:cNvPr id="24692" name="Oval 123"/>
            <p:cNvSpPr/>
            <p:nvPr/>
          </p:nvSpPr>
          <p:spPr>
            <a:xfrm>
              <a:off x="4601" y="3365"/>
              <a:ext cx="53" cy="4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93" name="Oval 124"/>
            <p:cNvSpPr/>
            <p:nvPr/>
          </p:nvSpPr>
          <p:spPr>
            <a:xfrm>
              <a:off x="4379" y="3365"/>
              <a:ext cx="53" cy="4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94" name="Oval 125"/>
            <p:cNvSpPr/>
            <p:nvPr/>
          </p:nvSpPr>
          <p:spPr>
            <a:xfrm>
              <a:off x="4147" y="3365"/>
              <a:ext cx="53" cy="4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695" name="Oval 126"/>
            <p:cNvSpPr/>
            <p:nvPr/>
          </p:nvSpPr>
          <p:spPr>
            <a:xfrm>
              <a:off x="3925" y="3365"/>
              <a:ext cx="53" cy="4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24696" name="Group 129"/>
            <p:cNvGrpSpPr/>
            <p:nvPr/>
          </p:nvGrpSpPr>
          <p:grpSpPr>
            <a:xfrm>
              <a:off x="3882" y="3424"/>
              <a:ext cx="112" cy="174"/>
              <a:chOff x="3612" y="3436"/>
              <a:chExt cx="112" cy="174"/>
            </a:xfrm>
          </p:grpSpPr>
          <p:sp>
            <p:nvSpPr>
              <p:cNvPr id="24723" name="Rectangle 127"/>
              <p:cNvSpPr/>
              <p:nvPr/>
            </p:nvSpPr>
            <p:spPr>
              <a:xfrm>
                <a:off x="3612" y="347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4724" name="Rectangle 128"/>
              <p:cNvSpPr/>
              <p:nvPr/>
            </p:nvSpPr>
            <p:spPr>
              <a:xfrm>
                <a:off x="3676" y="343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grpSp>
        <p:grpSp>
          <p:nvGrpSpPr>
            <p:cNvPr id="24697" name="Group 132"/>
            <p:cNvGrpSpPr/>
            <p:nvPr/>
          </p:nvGrpSpPr>
          <p:grpSpPr>
            <a:xfrm>
              <a:off x="4115" y="3424"/>
              <a:ext cx="111" cy="174"/>
              <a:chOff x="3845" y="3436"/>
              <a:chExt cx="111" cy="174"/>
            </a:xfrm>
          </p:grpSpPr>
          <p:sp>
            <p:nvSpPr>
              <p:cNvPr id="24721" name="Rectangle 130"/>
              <p:cNvSpPr/>
              <p:nvPr/>
            </p:nvSpPr>
            <p:spPr>
              <a:xfrm>
                <a:off x="3845" y="347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4722" name="Rectangle 131"/>
              <p:cNvSpPr/>
              <p:nvPr/>
            </p:nvSpPr>
            <p:spPr>
              <a:xfrm>
                <a:off x="3908" y="343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grpSp>
        <p:grpSp>
          <p:nvGrpSpPr>
            <p:cNvPr id="24698" name="Group 135"/>
            <p:cNvGrpSpPr/>
            <p:nvPr/>
          </p:nvGrpSpPr>
          <p:grpSpPr>
            <a:xfrm>
              <a:off x="4358" y="3424"/>
              <a:ext cx="112" cy="174"/>
              <a:chOff x="4088" y="3436"/>
              <a:chExt cx="112" cy="174"/>
            </a:xfrm>
          </p:grpSpPr>
          <p:sp>
            <p:nvSpPr>
              <p:cNvPr id="24719" name="Rectangle 133"/>
              <p:cNvSpPr/>
              <p:nvPr/>
            </p:nvSpPr>
            <p:spPr>
              <a:xfrm>
                <a:off x="4088" y="347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4720" name="Rectangle 134"/>
              <p:cNvSpPr/>
              <p:nvPr/>
            </p:nvSpPr>
            <p:spPr>
              <a:xfrm>
                <a:off x="4152" y="343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grpSp>
          <p:nvGrpSpPr>
            <p:cNvPr id="24699" name="Group 138"/>
            <p:cNvGrpSpPr/>
            <p:nvPr/>
          </p:nvGrpSpPr>
          <p:grpSpPr>
            <a:xfrm>
              <a:off x="4559" y="3436"/>
              <a:ext cx="111" cy="162"/>
              <a:chOff x="4289" y="3448"/>
              <a:chExt cx="111" cy="162"/>
            </a:xfrm>
          </p:grpSpPr>
          <p:sp>
            <p:nvSpPr>
              <p:cNvPr id="24717" name="Rectangle 136"/>
              <p:cNvSpPr/>
              <p:nvPr/>
            </p:nvSpPr>
            <p:spPr>
              <a:xfrm>
                <a:off x="4289" y="347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4718" name="Rectangle 137"/>
              <p:cNvSpPr/>
              <p:nvPr/>
            </p:nvSpPr>
            <p:spPr>
              <a:xfrm>
                <a:off x="4352" y="344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grpSp>
          <p:nvGrpSpPr>
            <p:cNvPr id="24700" name="Group 142"/>
            <p:cNvGrpSpPr/>
            <p:nvPr/>
          </p:nvGrpSpPr>
          <p:grpSpPr>
            <a:xfrm>
              <a:off x="2952" y="1281"/>
              <a:ext cx="64" cy="257"/>
              <a:chOff x="2682" y="1293"/>
              <a:chExt cx="64" cy="257"/>
            </a:xfrm>
          </p:grpSpPr>
          <p:sp>
            <p:nvSpPr>
              <p:cNvPr id="24714" name="Rectangle 139"/>
              <p:cNvSpPr/>
              <p:nvPr/>
            </p:nvSpPr>
            <p:spPr>
              <a:xfrm>
                <a:off x="2682" y="1293"/>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宋体" panose="02010600030101010101" pitchFamily="2" charset="-122"/>
                    <a:ea typeface="宋体" panose="02010600030101010101" pitchFamily="2" charset="-122"/>
                  </a:rPr>
                  <a:t>.</a:t>
                </a:r>
                <a:endParaRPr lang="en-US" altLang="zh-CN" dirty="0">
                  <a:solidFill>
                    <a:srgbClr val="FF0000"/>
                  </a:solidFill>
                  <a:latin typeface="Times New Roman" panose="02020603050405020304" pitchFamily="18" charset="0"/>
                </a:endParaRPr>
              </a:p>
            </p:txBody>
          </p:sp>
          <p:sp>
            <p:nvSpPr>
              <p:cNvPr id="24715" name="Rectangle 140"/>
              <p:cNvSpPr/>
              <p:nvPr/>
            </p:nvSpPr>
            <p:spPr>
              <a:xfrm>
                <a:off x="2682" y="1352"/>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宋体" panose="02010600030101010101" pitchFamily="2" charset="-122"/>
                    <a:ea typeface="宋体" panose="02010600030101010101" pitchFamily="2" charset="-122"/>
                  </a:rPr>
                  <a:t>.</a:t>
                </a:r>
                <a:endParaRPr lang="en-US" altLang="zh-CN" dirty="0">
                  <a:solidFill>
                    <a:srgbClr val="FF0000"/>
                  </a:solidFill>
                  <a:latin typeface="Times New Roman" panose="02020603050405020304" pitchFamily="18" charset="0"/>
                </a:endParaRPr>
              </a:p>
            </p:txBody>
          </p:sp>
          <p:sp>
            <p:nvSpPr>
              <p:cNvPr id="24716" name="Rectangle 141"/>
              <p:cNvSpPr/>
              <p:nvPr/>
            </p:nvSpPr>
            <p:spPr>
              <a:xfrm>
                <a:off x="2682" y="141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宋体" panose="02010600030101010101" pitchFamily="2" charset="-122"/>
                    <a:ea typeface="宋体" panose="02010600030101010101" pitchFamily="2" charset="-122"/>
                  </a:rPr>
                  <a:t>.</a:t>
                </a:r>
                <a:endParaRPr lang="en-US" altLang="zh-CN" dirty="0">
                  <a:solidFill>
                    <a:srgbClr val="FF0000"/>
                  </a:solidFill>
                  <a:latin typeface="Times New Roman" panose="02020603050405020304" pitchFamily="18" charset="0"/>
                </a:endParaRPr>
              </a:p>
            </p:txBody>
          </p:sp>
        </p:grpSp>
        <p:grpSp>
          <p:nvGrpSpPr>
            <p:cNvPr id="24701" name="Group 146"/>
            <p:cNvGrpSpPr/>
            <p:nvPr/>
          </p:nvGrpSpPr>
          <p:grpSpPr>
            <a:xfrm>
              <a:off x="3269" y="1281"/>
              <a:ext cx="64" cy="257"/>
              <a:chOff x="2999" y="1293"/>
              <a:chExt cx="64" cy="257"/>
            </a:xfrm>
          </p:grpSpPr>
          <p:sp>
            <p:nvSpPr>
              <p:cNvPr id="24711" name="Rectangle 143"/>
              <p:cNvSpPr/>
              <p:nvPr/>
            </p:nvSpPr>
            <p:spPr>
              <a:xfrm>
                <a:off x="2999" y="1293"/>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4712" name="Rectangle 144"/>
              <p:cNvSpPr/>
              <p:nvPr/>
            </p:nvSpPr>
            <p:spPr>
              <a:xfrm>
                <a:off x="2999" y="1352"/>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4713" name="Rectangle 145"/>
              <p:cNvSpPr/>
              <p:nvPr/>
            </p:nvSpPr>
            <p:spPr>
              <a:xfrm>
                <a:off x="2999" y="141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grpSp>
        <p:sp>
          <p:nvSpPr>
            <p:cNvPr id="24702" name="Rectangle 147"/>
            <p:cNvSpPr/>
            <p:nvPr/>
          </p:nvSpPr>
          <p:spPr>
            <a:xfrm>
              <a:off x="4274" y="1672"/>
              <a:ext cx="1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4703" name="Rectangle 148"/>
            <p:cNvSpPr/>
            <p:nvPr/>
          </p:nvSpPr>
          <p:spPr>
            <a:xfrm>
              <a:off x="3786" y="3690"/>
              <a:ext cx="960" cy="173"/>
            </a:xfrm>
            <a:prstGeom prst="rect">
              <a:avLst/>
            </a:prstGeom>
            <a:noFill/>
            <a:ln w="9525">
              <a:noFill/>
            </a:ln>
          </p:spPr>
          <p:txBody>
            <a:bodyPr wrap="none" lIns="0" tIns="0" rIns="0" bIns="0">
              <a:spAutoFit/>
            </a:bodyPr>
            <a:p>
              <a:pPr eaLnBrk="1" hangingPunct="1">
                <a:lnSpc>
                  <a:spcPct val="90000"/>
                </a:lnSpc>
              </a:pPr>
              <a:r>
                <a:rPr lang="en-US" altLang="zh-CN" sz="2000" dirty="0">
                  <a:solidFill>
                    <a:srgbClr val="000080"/>
                  </a:solidFill>
                  <a:latin typeface="楷体_GB2312" pitchFamily="49" charset="-122"/>
                </a:rPr>
                <a:t>16</a:t>
              </a:r>
              <a:r>
                <a:rPr lang="zh-CN" altLang="en-US" sz="2000" dirty="0">
                  <a:solidFill>
                    <a:srgbClr val="000080"/>
                  </a:solidFill>
                  <a:latin typeface="楷体_GB2312" pitchFamily="49" charset="-122"/>
                </a:rPr>
                <a:t>路集成开关</a:t>
              </a:r>
              <a:endParaRPr lang="zh-CN" altLang="en-US" dirty="0">
                <a:latin typeface="Times New Roman" panose="02020603050405020304" pitchFamily="18" charset="0"/>
              </a:endParaRPr>
            </a:p>
          </p:txBody>
        </p:sp>
        <p:sp>
          <p:nvSpPr>
            <p:cNvPr id="24704" name="Line 149"/>
            <p:cNvSpPr/>
            <p:nvPr/>
          </p:nvSpPr>
          <p:spPr>
            <a:xfrm>
              <a:off x="3948" y="1283"/>
              <a:ext cx="1" cy="142"/>
            </a:xfrm>
            <a:prstGeom prst="line">
              <a:avLst/>
            </a:prstGeom>
            <a:ln w="0" cap="flat" cmpd="sng">
              <a:solidFill>
                <a:srgbClr val="0000FF"/>
              </a:solidFill>
              <a:prstDash val="solid"/>
              <a:headEnd type="none" w="med" len="med"/>
              <a:tailEnd type="none" w="med" len="med"/>
            </a:ln>
          </p:spPr>
        </p:sp>
        <p:sp>
          <p:nvSpPr>
            <p:cNvPr id="24705" name="Line 150"/>
            <p:cNvSpPr/>
            <p:nvPr/>
          </p:nvSpPr>
          <p:spPr>
            <a:xfrm>
              <a:off x="3999" y="1461"/>
              <a:ext cx="1" cy="864"/>
            </a:xfrm>
            <a:prstGeom prst="line">
              <a:avLst/>
            </a:prstGeom>
            <a:ln w="0" cap="flat" cmpd="sng">
              <a:solidFill>
                <a:srgbClr val="0000FF"/>
              </a:solidFill>
              <a:prstDash val="solid"/>
              <a:headEnd type="none" w="med" len="med"/>
              <a:tailEnd type="none" w="med" len="med"/>
            </a:ln>
          </p:spPr>
        </p:sp>
        <p:sp>
          <p:nvSpPr>
            <p:cNvPr id="24706" name="Line 151"/>
            <p:cNvSpPr/>
            <p:nvPr/>
          </p:nvSpPr>
          <p:spPr>
            <a:xfrm>
              <a:off x="3745" y="1129"/>
              <a:ext cx="1" cy="1196"/>
            </a:xfrm>
            <a:prstGeom prst="line">
              <a:avLst/>
            </a:prstGeom>
            <a:ln w="0" cap="flat" cmpd="sng">
              <a:solidFill>
                <a:srgbClr val="0000FF"/>
              </a:solidFill>
              <a:prstDash val="solid"/>
              <a:headEnd type="none" w="med" len="med"/>
              <a:tailEnd type="none" w="med" len="med"/>
            </a:ln>
          </p:spPr>
        </p:sp>
        <p:sp>
          <p:nvSpPr>
            <p:cNvPr id="24707" name="Line 152"/>
            <p:cNvSpPr/>
            <p:nvPr/>
          </p:nvSpPr>
          <p:spPr>
            <a:xfrm>
              <a:off x="3608" y="620"/>
              <a:ext cx="1860" cy="1"/>
            </a:xfrm>
            <a:prstGeom prst="line">
              <a:avLst/>
            </a:prstGeom>
            <a:ln w="0" cap="flat" cmpd="sng">
              <a:solidFill>
                <a:srgbClr val="0000FF"/>
              </a:solidFill>
              <a:prstDash val="solid"/>
              <a:headEnd type="none" w="med" len="med"/>
              <a:tailEnd type="none" w="med" len="med"/>
            </a:ln>
          </p:spPr>
        </p:sp>
        <p:sp>
          <p:nvSpPr>
            <p:cNvPr id="24708" name="Line 153"/>
            <p:cNvSpPr/>
            <p:nvPr/>
          </p:nvSpPr>
          <p:spPr>
            <a:xfrm>
              <a:off x="3861" y="954"/>
              <a:ext cx="1607" cy="1"/>
            </a:xfrm>
            <a:prstGeom prst="line">
              <a:avLst/>
            </a:prstGeom>
            <a:ln w="0" cap="flat" cmpd="sng">
              <a:solidFill>
                <a:srgbClr val="0000FF"/>
              </a:solidFill>
              <a:prstDash val="solid"/>
              <a:headEnd type="none" w="med" len="med"/>
              <a:tailEnd type="none" w="med" len="med"/>
            </a:ln>
          </p:spPr>
        </p:sp>
        <p:sp>
          <p:nvSpPr>
            <p:cNvPr id="24709" name="Line 154"/>
            <p:cNvSpPr/>
            <p:nvPr/>
          </p:nvSpPr>
          <p:spPr>
            <a:xfrm flipV="1">
              <a:off x="3948" y="3173"/>
              <a:ext cx="1" cy="194"/>
            </a:xfrm>
            <a:prstGeom prst="line">
              <a:avLst/>
            </a:prstGeom>
            <a:ln w="0" cap="flat" cmpd="sng">
              <a:solidFill>
                <a:srgbClr val="0000FF"/>
              </a:solidFill>
              <a:prstDash val="solid"/>
              <a:headEnd type="none" w="med" len="med"/>
              <a:tailEnd type="none" w="med" len="med"/>
            </a:ln>
          </p:spPr>
        </p:sp>
        <p:sp>
          <p:nvSpPr>
            <p:cNvPr id="24710" name="Oval 156"/>
            <p:cNvSpPr/>
            <p:nvPr/>
          </p:nvSpPr>
          <p:spPr>
            <a:xfrm flipH="1" flipV="1">
              <a:off x="5457" y="1266"/>
              <a:ext cx="27" cy="27"/>
            </a:xfrm>
            <a:prstGeom prst="ellipse">
              <a:avLst/>
            </a:prstGeom>
            <a:solidFill>
              <a:schemeClr val="accent2"/>
            </a:solid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sp>
        <p:nvSpPr>
          <p:cNvPr id="2379934" name="Text Box 158"/>
          <p:cNvSpPr txBox="1"/>
          <p:nvPr/>
        </p:nvSpPr>
        <p:spPr>
          <a:xfrm>
            <a:off x="222250" y="2038350"/>
            <a:ext cx="2684463" cy="519113"/>
          </a:xfrm>
          <a:prstGeom prst="rect">
            <a:avLst/>
          </a:prstGeom>
          <a:noFill/>
          <a:ln w="9525">
            <a:noFill/>
          </a:ln>
        </p:spPr>
        <p:txBody>
          <a:bodyPr wrap="none">
            <a:spAutoFit/>
          </a:bodyPr>
          <a:p>
            <a:pPr eaLnBrk="1" hangingPunct="1"/>
            <a:r>
              <a:rPr lang="zh-CN" altLang="en-US" sz="2800" dirty="0">
                <a:solidFill>
                  <a:srgbClr val="FF0000"/>
                </a:solidFill>
                <a:latin typeface="楷体_GB2312" pitchFamily="49" charset="-122"/>
              </a:rPr>
              <a:t>工作原理如下：</a:t>
            </a:r>
            <a:endParaRPr lang="zh-CN" altLang="en-US" sz="2800" dirty="0">
              <a:solidFill>
                <a:srgbClr val="FF0000"/>
              </a:solidFill>
              <a:latin typeface="楷体_GB2312" pitchFamily="49" charset="-122"/>
            </a:endParaRPr>
          </a:p>
        </p:txBody>
      </p:sp>
      <p:sp>
        <p:nvSpPr>
          <p:cNvPr id="2379935" name="Text Box 159"/>
          <p:cNvSpPr txBox="1"/>
          <p:nvPr/>
        </p:nvSpPr>
        <p:spPr>
          <a:xfrm>
            <a:off x="582613" y="2649538"/>
            <a:ext cx="3690937" cy="1739900"/>
          </a:xfrm>
          <a:prstGeom prst="rect">
            <a:avLst/>
          </a:prstGeom>
          <a:noFill/>
          <a:ln w="9525">
            <a:noFill/>
          </a:ln>
        </p:spPr>
        <p:txBody>
          <a:bodyPr>
            <a:spAutoFit/>
          </a:bodyPr>
          <a:p>
            <a:pPr eaLnBrk="1" hangingPunct="1">
              <a:lnSpc>
                <a:spcPct val="90000"/>
              </a:lnSpc>
            </a:pPr>
            <a:r>
              <a:rPr lang="zh-CN" altLang="en-US" sz="2000" dirty="0">
                <a:solidFill>
                  <a:schemeClr val="tx1"/>
                </a:solidFill>
                <a:latin typeface="黑体" panose="02010609060101010101" pitchFamily="49" charset="-122"/>
                <a:ea typeface="黑体" panose="02010609060101010101" pitchFamily="49" charset="-122"/>
              </a:rPr>
              <a:t>设选择第</a:t>
            </a:r>
            <a:r>
              <a:rPr lang="en-US" altLang="zh-CN" sz="2000" dirty="0">
                <a:solidFill>
                  <a:srgbClr val="CC00CC"/>
                </a:solidFill>
                <a:latin typeface="Times New Roman" panose="02020603050405020304" pitchFamily="18" charset="0"/>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路信号。则计算机输出一个</a:t>
            </a:r>
            <a:r>
              <a:rPr lang="en-US" altLang="zh-CN" sz="2000" dirty="0">
                <a:solidFill>
                  <a:srgbClr val="CC00CC"/>
                </a:solidFill>
                <a:latin typeface="Times New Roman" panose="02020603050405020304" pitchFamily="18" charset="0"/>
                <a:ea typeface="黑体" panose="02010609060101010101" pitchFamily="49" charset="-122"/>
              </a:rPr>
              <a:t>4</a:t>
            </a:r>
            <a:r>
              <a:rPr lang="zh-CN" altLang="en-US" sz="2000" dirty="0">
                <a:solidFill>
                  <a:schemeClr val="tx1"/>
                </a:solidFill>
                <a:latin typeface="黑体" panose="02010609060101010101" pitchFamily="49" charset="-122"/>
                <a:ea typeface="黑体" panose="02010609060101010101" pitchFamily="49" charset="-122"/>
              </a:rPr>
              <a:t>位二进制码，把计数器置成</a:t>
            </a:r>
            <a:r>
              <a:rPr lang="en-US" altLang="zh-CN" sz="2000" dirty="0">
                <a:solidFill>
                  <a:srgbClr val="CC00CC"/>
                </a:solidFill>
                <a:latin typeface="Times New Roman" panose="02020603050405020304" pitchFamily="18" charset="0"/>
                <a:ea typeface="黑体" panose="02010609060101010101" pitchFamily="49" charset="-122"/>
              </a:rPr>
              <a:t>0001</a:t>
            </a:r>
            <a:r>
              <a:rPr lang="zh-CN" altLang="en-US" sz="2000" dirty="0">
                <a:solidFill>
                  <a:schemeClr val="tx1"/>
                </a:solidFill>
                <a:latin typeface="黑体" panose="02010609060101010101" pitchFamily="49" charset="-122"/>
                <a:ea typeface="黑体" panose="02010609060101010101" pitchFamily="49" charset="-122"/>
              </a:rPr>
              <a:t>状态，经四</a:t>
            </a:r>
            <a:r>
              <a:rPr lang="en-US" altLang="zh-CN" sz="2000" dirty="0">
                <a:solidFill>
                  <a:schemeClr val="tx1"/>
                </a:solidFill>
                <a:latin typeface="黑体" panose="02010609060101010101" pitchFamily="49" charset="-122"/>
                <a:ea typeface="黑体" panose="02010609060101010101" pitchFamily="49" charset="-122"/>
              </a:rPr>
              <a:t>-</a:t>
            </a:r>
            <a:r>
              <a:rPr lang="zh-CN" altLang="en-US" sz="2000" dirty="0">
                <a:solidFill>
                  <a:schemeClr val="tx1"/>
                </a:solidFill>
                <a:latin typeface="黑体" panose="02010609060101010101" pitchFamily="49" charset="-122"/>
                <a:ea typeface="黑体" panose="02010609060101010101" pitchFamily="49" charset="-122"/>
              </a:rPr>
              <a:t>十六线译码器后，第</a:t>
            </a:r>
            <a:r>
              <a:rPr lang="en-US" altLang="zh-CN" sz="2000" dirty="0">
                <a:solidFill>
                  <a:srgbClr val="CC00CC"/>
                </a:solidFill>
                <a:latin typeface="Times New Roman" panose="02020603050405020304" pitchFamily="18" charset="0"/>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根线输出高电平，场效应管</a:t>
            </a:r>
            <a:r>
              <a:rPr lang="en-US" altLang="zh-CN" sz="2000" dirty="0">
                <a:solidFill>
                  <a:srgbClr val="CC00CC"/>
                </a:solidFill>
                <a:latin typeface="Times New Roman" panose="02020603050405020304" pitchFamily="18" charset="0"/>
                <a:ea typeface="黑体" panose="02010609060101010101" pitchFamily="49" charset="-122"/>
              </a:rPr>
              <a:t>T</a:t>
            </a:r>
            <a:r>
              <a:rPr lang="en-US" altLang="zh-CN" sz="2000" baseline="-25000" dirty="0">
                <a:solidFill>
                  <a:srgbClr val="CC00CC"/>
                </a:solidFill>
                <a:latin typeface="Times New Roman" panose="02020603050405020304" pitchFamily="18" charset="0"/>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导通，</a:t>
            </a:r>
            <a:r>
              <a:rPr lang="en-US" altLang="zh-CN" sz="2000" i="1" dirty="0">
                <a:solidFill>
                  <a:srgbClr val="CC00CC"/>
                </a:solidFill>
                <a:latin typeface="Times New Roman" panose="02020603050405020304" pitchFamily="18" charset="0"/>
                <a:ea typeface="黑体" panose="02010609060101010101" pitchFamily="49" charset="-122"/>
              </a:rPr>
              <a:t>U</a:t>
            </a:r>
            <a:r>
              <a:rPr lang="en-US" altLang="zh-CN" sz="2000" i="1" baseline="-25000" dirty="0">
                <a:solidFill>
                  <a:srgbClr val="CC00CC"/>
                </a:solidFill>
                <a:latin typeface="Times New Roman" panose="02020603050405020304" pitchFamily="18" charset="0"/>
                <a:ea typeface="黑体" panose="02010609060101010101" pitchFamily="49" charset="-122"/>
              </a:rPr>
              <a:t>O</a:t>
            </a:r>
            <a:r>
              <a:rPr lang="en-US" altLang="zh-CN" sz="2000" dirty="0">
                <a:solidFill>
                  <a:srgbClr val="CC00CC"/>
                </a:solidFill>
                <a:latin typeface="Times New Roman" panose="02020603050405020304" pitchFamily="18" charset="0"/>
                <a:ea typeface="黑体" panose="02010609060101010101" pitchFamily="49" charset="-122"/>
              </a:rPr>
              <a:t>= </a:t>
            </a:r>
            <a:r>
              <a:rPr lang="en-US" altLang="zh-CN" sz="2000" i="1" dirty="0">
                <a:solidFill>
                  <a:srgbClr val="CC00CC"/>
                </a:solidFill>
                <a:latin typeface="Times New Roman" panose="02020603050405020304" pitchFamily="18" charset="0"/>
                <a:ea typeface="黑体" panose="02010609060101010101" pitchFamily="49" charset="-122"/>
              </a:rPr>
              <a:t>U</a:t>
            </a:r>
            <a:r>
              <a:rPr lang="en-US" altLang="zh-CN" sz="2000" i="1" baseline="-25000" dirty="0">
                <a:solidFill>
                  <a:srgbClr val="CC00CC"/>
                </a:solidFill>
                <a:latin typeface="Times New Roman" panose="02020603050405020304" pitchFamily="18" charset="0"/>
                <a:ea typeface="黑体" panose="02010609060101010101" pitchFamily="49" charset="-122"/>
              </a:rPr>
              <a:t>i</a:t>
            </a:r>
            <a:r>
              <a:rPr lang="en-US" altLang="zh-CN" sz="2000" baseline="-25000" dirty="0">
                <a:solidFill>
                  <a:srgbClr val="CC00CC"/>
                </a:solidFill>
                <a:latin typeface="Times New Roman" panose="02020603050405020304" pitchFamily="18" charset="0"/>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，选中第</a:t>
            </a:r>
            <a:r>
              <a:rPr lang="en-US" altLang="zh-CN" sz="2000" dirty="0">
                <a:solidFill>
                  <a:srgbClr val="CC00CC"/>
                </a:solidFill>
                <a:latin typeface="Times New Roman" panose="02020603050405020304" pitchFamily="18" charset="0"/>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路信号。 </a:t>
            </a:r>
            <a:endParaRPr lang="zh-CN" altLang="en-US" sz="2000" dirty="0">
              <a:solidFill>
                <a:schemeClr val="tx1"/>
              </a:solidFill>
              <a:latin typeface="黑体" panose="02010609060101010101" pitchFamily="49" charset="-122"/>
              <a:ea typeface="黑体" panose="02010609060101010101" pitchFamily="49" charset="-122"/>
            </a:endParaRPr>
          </a:p>
        </p:txBody>
      </p:sp>
      <p:sp>
        <p:nvSpPr>
          <p:cNvPr id="2379936" name="Text Box 160"/>
          <p:cNvSpPr txBox="1"/>
          <p:nvPr/>
        </p:nvSpPr>
        <p:spPr>
          <a:xfrm>
            <a:off x="249238" y="2636838"/>
            <a:ext cx="525462"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dirty="0">
                <a:latin typeface="Times New Roman" panose="02020603050405020304" pitchFamily="18" charset="0"/>
              </a:rPr>
              <a:t> </a:t>
            </a:r>
            <a:endParaRPr lang="en-US" altLang="zh-CN" sz="2400" dirty="0">
              <a:latin typeface="Times New Roman" panose="02020603050405020304" pitchFamily="18" charset="0"/>
            </a:endParaRPr>
          </a:p>
        </p:txBody>
      </p:sp>
      <p:sp>
        <p:nvSpPr>
          <p:cNvPr id="2379937" name="Text Box 161"/>
          <p:cNvSpPr txBox="1"/>
          <p:nvPr/>
        </p:nvSpPr>
        <p:spPr>
          <a:xfrm>
            <a:off x="571500" y="4452938"/>
            <a:ext cx="3976688" cy="1616075"/>
          </a:xfrm>
          <a:prstGeom prst="rect">
            <a:avLst/>
          </a:prstGeom>
          <a:noFill/>
          <a:ln w="9525">
            <a:noFill/>
          </a:ln>
        </p:spPr>
        <p:txBody>
          <a:bodyPr>
            <a:spAutoFit/>
          </a:bodyPr>
          <a:p>
            <a:pPr eaLnBrk="1" hangingPunct="1"/>
            <a:r>
              <a:rPr lang="zh-CN" altLang="en-US" sz="2000" dirty="0">
                <a:solidFill>
                  <a:schemeClr val="tx1"/>
                </a:solidFill>
                <a:latin typeface="黑体" panose="02010609060101010101" pitchFamily="49" charset="-122"/>
                <a:ea typeface="黑体" panose="02010609060101010101" pitchFamily="49" charset="-122"/>
              </a:rPr>
              <a:t>如果要连续选通第</a:t>
            </a:r>
            <a:r>
              <a:rPr lang="en-US" altLang="zh-CN" sz="2000" dirty="0">
                <a:solidFill>
                  <a:srgbClr val="CC00CC"/>
                </a:solidFill>
                <a:latin typeface="Times New Roman" panose="02020603050405020304" pitchFamily="18" charset="0"/>
              </a:rPr>
              <a:t>1</a:t>
            </a:r>
            <a:r>
              <a:rPr lang="zh-CN" altLang="en-US" sz="2000" dirty="0">
                <a:solidFill>
                  <a:schemeClr val="tx1"/>
                </a:solidFill>
                <a:latin typeface="黑体" panose="02010609060101010101" pitchFamily="49" charset="-122"/>
                <a:ea typeface="黑体" panose="02010609060101010101" pitchFamily="49" charset="-122"/>
              </a:rPr>
              <a:t>路到第</a:t>
            </a:r>
            <a:r>
              <a:rPr lang="en-US" altLang="zh-CN" sz="2000" dirty="0">
                <a:solidFill>
                  <a:srgbClr val="CC00CC"/>
                </a:solidFill>
                <a:latin typeface="Times New Roman" panose="02020603050405020304" pitchFamily="18" charset="0"/>
              </a:rPr>
              <a:t>3</a:t>
            </a:r>
            <a:r>
              <a:rPr lang="zh-CN" altLang="en-US" sz="2000" dirty="0">
                <a:solidFill>
                  <a:schemeClr val="tx1"/>
                </a:solidFill>
                <a:latin typeface="黑体" panose="02010609060101010101" pitchFamily="49" charset="-122"/>
                <a:ea typeface="黑体" panose="02010609060101010101" pitchFamily="49" charset="-122"/>
              </a:rPr>
              <a:t>路的信号，可以在计数器加入计数脉冲，每加入一次脉冲，计数器加</a:t>
            </a:r>
            <a:r>
              <a:rPr lang="en-US" altLang="zh-CN" sz="2000" dirty="0">
                <a:solidFill>
                  <a:srgbClr val="CC00CC"/>
                </a:solidFill>
                <a:latin typeface="Times New Roman" panose="02020603050405020304" pitchFamily="18" charset="0"/>
              </a:rPr>
              <a:t>1</a:t>
            </a:r>
            <a:r>
              <a:rPr lang="zh-CN" altLang="en-US" sz="2000" dirty="0">
                <a:solidFill>
                  <a:schemeClr val="tx1"/>
                </a:solidFill>
                <a:latin typeface="黑体" panose="02010609060101010101" pitchFamily="49" charset="-122"/>
                <a:ea typeface="黑体" panose="02010609060101010101" pitchFamily="49" charset="-122"/>
              </a:rPr>
              <a:t>，状态依次变为</a:t>
            </a:r>
            <a:r>
              <a:rPr lang="zh-CN" altLang="en-US" sz="2000" dirty="0">
                <a:latin typeface="楷体_GB2312" pitchFamily="49" charset="-122"/>
              </a:rPr>
              <a:t> </a:t>
            </a:r>
            <a:r>
              <a:rPr lang="en-US" altLang="zh-CN" sz="2000" dirty="0">
                <a:solidFill>
                  <a:srgbClr val="CC00CC"/>
                </a:solidFill>
                <a:latin typeface="Times New Roman" panose="02020603050405020304" pitchFamily="18" charset="0"/>
              </a:rPr>
              <a:t>0001</a:t>
            </a:r>
            <a:r>
              <a:rPr lang="zh-CN" altLang="en-US" sz="2000" dirty="0">
                <a:solidFill>
                  <a:srgbClr val="CC00CC"/>
                </a:solidFill>
                <a:latin typeface="楷体_GB2312" pitchFamily="49" charset="-122"/>
              </a:rPr>
              <a:t>，</a:t>
            </a:r>
            <a:r>
              <a:rPr lang="en-US" altLang="zh-CN" sz="2000" dirty="0">
                <a:solidFill>
                  <a:srgbClr val="CC00CC"/>
                </a:solidFill>
                <a:latin typeface="Times New Roman" panose="02020603050405020304" pitchFamily="18" charset="0"/>
              </a:rPr>
              <a:t>0010</a:t>
            </a:r>
            <a:r>
              <a:rPr lang="zh-CN" altLang="en-US" sz="2000" dirty="0">
                <a:solidFill>
                  <a:srgbClr val="CC00CC"/>
                </a:solidFill>
                <a:latin typeface="楷体_GB2312" pitchFamily="49" charset="-122"/>
              </a:rPr>
              <a:t>，</a:t>
            </a:r>
            <a:r>
              <a:rPr lang="en-US" altLang="zh-CN" sz="2000" dirty="0">
                <a:solidFill>
                  <a:srgbClr val="CC00CC"/>
                </a:solidFill>
                <a:latin typeface="Times New Roman" panose="02020603050405020304" pitchFamily="18" charset="0"/>
              </a:rPr>
              <a:t>0011</a:t>
            </a:r>
            <a:r>
              <a:rPr lang="zh-CN" altLang="en-US" sz="2000" dirty="0">
                <a:latin typeface="楷体_GB2312" pitchFamily="49" charset="-122"/>
              </a:rPr>
              <a:t>。</a:t>
            </a:r>
            <a:endParaRPr lang="zh-CN" altLang="en-US" sz="2000" dirty="0">
              <a:latin typeface="楷体_GB2312" pitchFamily="49" charset="-122"/>
            </a:endParaRPr>
          </a:p>
        </p:txBody>
      </p:sp>
      <p:sp>
        <p:nvSpPr>
          <p:cNvPr id="2379938" name="Text Box 162"/>
          <p:cNvSpPr txBox="1"/>
          <p:nvPr/>
        </p:nvSpPr>
        <p:spPr>
          <a:xfrm>
            <a:off x="249238" y="4465638"/>
            <a:ext cx="525462"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dirty="0">
                <a:latin typeface="Times New Roman" panose="02020603050405020304" pitchFamily="18" charset="0"/>
              </a:rPr>
              <a:t> </a:t>
            </a:r>
            <a:endParaRPr lang="en-US" altLang="zh-CN" sz="2400" dirty="0">
              <a:latin typeface="Times New Roman" panose="02020603050405020304" pitchFamily="18" charset="0"/>
            </a:endParaRPr>
          </a:p>
        </p:txBody>
      </p:sp>
      <p:sp>
        <p:nvSpPr>
          <p:cNvPr id="24586" name="Text Box 3"/>
          <p:cNvSpPr txBox="1"/>
          <p:nvPr/>
        </p:nvSpPr>
        <p:spPr>
          <a:xfrm>
            <a:off x="34925" y="763588"/>
            <a:ext cx="439420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3.2.1 </a:t>
            </a:r>
            <a:r>
              <a:rPr lang="zh-CN" altLang="en-US" sz="3200" dirty="0">
                <a:latin typeface="Times New Roman" panose="02020603050405020304" pitchFamily="18" charset="0"/>
              </a:rPr>
              <a:t>多路开关工作原理</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79784"/>
                                        </p:tgtEl>
                                        <p:attrNameLst>
                                          <p:attrName>style.visibility</p:attrName>
                                        </p:attrNameLst>
                                      </p:cBhvr>
                                      <p:to>
                                        <p:strVal val="visible"/>
                                      </p:to>
                                    </p:set>
                                    <p:animEffect transition="in" filter="dissolve">
                                      <p:cBhvr>
                                        <p:cTn id="7" dur="500"/>
                                        <p:tgtEl>
                                          <p:spTgt spid="237978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79933"/>
                                        </p:tgtEl>
                                        <p:attrNameLst>
                                          <p:attrName>style.visibility</p:attrName>
                                        </p:attrNameLst>
                                      </p:cBhvr>
                                      <p:to>
                                        <p:strVal val="visible"/>
                                      </p:to>
                                    </p:set>
                                    <p:animEffect transition="in" filter="dissolve">
                                      <p:cBhvr>
                                        <p:cTn id="12" dur="500"/>
                                        <p:tgtEl>
                                          <p:spTgt spid="23799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79934"/>
                                        </p:tgtEl>
                                        <p:attrNameLst>
                                          <p:attrName>style.visibility</p:attrName>
                                        </p:attrNameLst>
                                      </p:cBhvr>
                                      <p:to>
                                        <p:strVal val="visible"/>
                                      </p:to>
                                    </p:set>
                                    <p:animEffect transition="in" filter="dissolve">
                                      <p:cBhvr>
                                        <p:cTn id="17" dur="500"/>
                                        <p:tgtEl>
                                          <p:spTgt spid="237993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79936"/>
                                        </p:tgtEl>
                                        <p:attrNameLst>
                                          <p:attrName>style.visibility</p:attrName>
                                        </p:attrNameLst>
                                      </p:cBhvr>
                                      <p:to>
                                        <p:strVal val="visible"/>
                                      </p:to>
                                    </p:set>
                                    <p:animEffect transition="in" filter="dissolve">
                                      <p:cBhvr>
                                        <p:cTn id="22" dur="500"/>
                                        <p:tgtEl>
                                          <p:spTgt spid="2379936"/>
                                        </p:tgtEl>
                                      </p:cBhvr>
                                    </p:animEffect>
                                  </p:childTnLst>
                                </p:cTn>
                              </p:par>
                              <p:par>
                                <p:cTn id="23" presetID="9" presetClass="entr" presetSubtype="0" fill="hold" nodeType="withEffect">
                                  <p:stCondLst>
                                    <p:cond delay="0"/>
                                  </p:stCondLst>
                                  <p:childTnLst>
                                    <p:set>
                                      <p:cBhvr>
                                        <p:cTn id="24" dur="1" fill="hold">
                                          <p:stCondLst>
                                            <p:cond delay="0"/>
                                          </p:stCondLst>
                                        </p:cTn>
                                        <p:tgtEl>
                                          <p:spTgt spid="2379935"/>
                                        </p:tgtEl>
                                        <p:attrNameLst>
                                          <p:attrName>style.visibility</p:attrName>
                                        </p:attrNameLst>
                                      </p:cBhvr>
                                      <p:to>
                                        <p:strVal val="visible"/>
                                      </p:to>
                                    </p:set>
                                    <p:animEffect transition="in" filter="dissolve">
                                      <p:cBhvr>
                                        <p:cTn id="25" dur="500"/>
                                        <p:tgtEl>
                                          <p:spTgt spid="2379935"/>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79938"/>
                                        </p:tgtEl>
                                        <p:attrNameLst>
                                          <p:attrName>style.visibility</p:attrName>
                                        </p:attrNameLst>
                                      </p:cBhvr>
                                      <p:to>
                                        <p:strVal val="visible"/>
                                      </p:to>
                                    </p:set>
                                    <p:animEffect transition="in" filter="dissolve">
                                      <p:cBhvr>
                                        <p:cTn id="30" dur="500"/>
                                        <p:tgtEl>
                                          <p:spTgt spid="2379938"/>
                                        </p:tgtEl>
                                      </p:cBhvr>
                                    </p:animEffect>
                                  </p:childTnLst>
                                </p:cTn>
                              </p:par>
                              <p:par>
                                <p:cTn id="31" presetID="9" presetClass="entr" presetSubtype="0" fill="hold" nodeType="withEffect">
                                  <p:stCondLst>
                                    <p:cond delay="0"/>
                                  </p:stCondLst>
                                  <p:childTnLst>
                                    <p:set>
                                      <p:cBhvr>
                                        <p:cTn id="32" dur="1" fill="hold">
                                          <p:stCondLst>
                                            <p:cond delay="0"/>
                                          </p:stCondLst>
                                        </p:cTn>
                                        <p:tgtEl>
                                          <p:spTgt spid="2379937"/>
                                        </p:tgtEl>
                                        <p:attrNameLst>
                                          <p:attrName>style.visibility</p:attrName>
                                        </p:attrNameLst>
                                      </p:cBhvr>
                                      <p:to>
                                        <p:strVal val="visible"/>
                                      </p:to>
                                    </p:set>
                                    <p:animEffect transition="in" filter="dissolve">
                                      <p:cBhvr>
                                        <p:cTn id="33" dur="500"/>
                                        <p:tgtEl>
                                          <p:spTgt spid="23799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9784" grpId="0" animBg="1"/>
      <p:bldP spid="2379934" grpId="0"/>
      <p:bldP spid="2379935" grpId="0"/>
      <p:bldP spid="2379936" grpId="0"/>
      <p:bldP spid="2379937" grpId="0"/>
      <p:bldP spid="2379938"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8434" name="Text Box 2"/>
          <p:cNvSpPr txBox="1"/>
          <p:nvPr/>
        </p:nvSpPr>
        <p:spPr>
          <a:xfrm>
            <a:off x="280988" y="766763"/>
            <a:ext cx="5586412"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3.2.2 </a:t>
            </a:r>
            <a:r>
              <a:rPr lang="zh-CN" altLang="en-US" dirty="0">
                <a:latin typeface="Times New Roman" panose="02020603050405020304" pitchFamily="18" charset="0"/>
              </a:rPr>
              <a:t>多路开关的主要指标 </a:t>
            </a:r>
            <a:endParaRPr lang="zh-CN" altLang="en-US" dirty="0">
              <a:latin typeface="Times New Roman" panose="02020603050405020304" pitchFamily="18" charset="0"/>
            </a:endParaRPr>
          </a:p>
        </p:txBody>
      </p:sp>
      <p:sp>
        <p:nvSpPr>
          <p:cNvPr id="2399235" name="Text Box 3"/>
          <p:cNvSpPr txBox="1"/>
          <p:nvPr/>
        </p:nvSpPr>
        <p:spPr>
          <a:xfrm>
            <a:off x="280988" y="1423988"/>
            <a:ext cx="8863012" cy="4473575"/>
          </a:xfrm>
          <a:prstGeom prst="rect">
            <a:avLst/>
          </a:prstGeom>
          <a:noFill/>
          <a:ln w="9525">
            <a:noFill/>
          </a:ln>
        </p:spPr>
        <p:txBody>
          <a:bodyPr>
            <a:spAutoFit/>
          </a:bodyPr>
          <a:p>
            <a:pPr eaLnBrk="1" hangingPunct="1">
              <a:lnSpc>
                <a:spcPct val="120000"/>
              </a:lnSpc>
              <a:buClr>
                <a:srgbClr val="FF0000"/>
              </a:buClr>
              <a:buFont typeface="Wingdings" panose="05000000000000000000" pitchFamily="2" charset="2"/>
              <a:buChar char="u"/>
            </a:pPr>
            <a:r>
              <a:rPr lang="en-US" altLang="zh-CN" sz="2400" i="1"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baseline="-25000" dirty="0">
                <a:solidFill>
                  <a:srgbClr val="FF0000"/>
                </a:solidFill>
                <a:latin typeface="Times New Roman" panose="02020603050405020304" pitchFamily="18" charset="0"/>
                <a:ea typeface="黑体" panose="02010609060101010101" pitchFamily="49" charset="-122"/>
              </a:rPr>
              <a:t>ON</a:t>
            </a:r>
            <a:r>
              <a:rPr lang="zh-CN" altLang="en-US" sz="2400" dirty="0">
                <a:solidFill>
                  <a:srgbClr val="3333FF"/>
                </a:solidFill>
                <a:latin typeface="黑体" panose="02010609060101010101" pitchFamily="49" charset="-122"/>
                <a:ea typeface="黑体" panose="02010609060101010101" pitchFamily="49" charset="-122"/>
              </a:rPr>
              <a:t>：导通电阻；</a:t>
            </a:r>
            <a:endParaRPr lang="zh-CN" altLang="en-US" sz="2400" dirty="0">
              <a:solidFill>
                <a:srgbClr val="3333FF"/>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i="1" dirty="0">
                <a:solidFill>
                  <a:srgbClr val="3333FF"/>
                </a:solidFill>
                <a:latin typeface="Times New Roman" panose="02020603050405020304" pitchFamily="18" charset="0"/>
              </a:rPr>
              <a:t>  </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baseline="-25000" dirty="0">
                <a:solidFill>
                  <a:srgbClr val="FF0000"/>
                </a:solidFill>
                <a:latin typeface="Times New Roman" panose="02020603050405020304" pitchFamily="18" charset="0"/>
                <a:ea typeface="黑体" panose="02010609060101010101" pitchFamily="49" charset="-122"/>
              </a:rPr>
              <a:t>ONVS</a:t>
            </a:r>
            <a:r>
              <a:rPr lang="zh-CN" altLang="en-US" sz="2400" dirty="0">
                <a:solidFill>
                  <a:srgbClr val="000099"/>
                </a:solidFill>
                <a:latin typeface="黑体" panose="02010609060101010101" pitchFamily="49" charset="-122"/>
                <a:ea typeface="黑体" panose="02010609060101010101" pitchFamily="49" charset="-122"/>
              </a:rPr>
              <a:t>：导通电阻温度漂移；</a:t>
            </a:r>
            <a:endParaRPr lang="zh-CN" altLang="en-US" sz="2400" dirty="0">
              <a:solidFill>
                <a:srgbClr val="000099"/>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I</a:t>
            </a:r>
            <a:r>
              <a:rPr lang="en-US" altLang="zh-CN" sz="2400" baseline="-25000" dirty="0">
                <a:solidFill>
                  <a:srgbClr val="FF0000"/>
                </a:solidFill>
                <a:latin typeface="Times New Roman" panose="02020603050405020304" pitchFamily="18" charset="0"/>
                <a:ea typeface="黑体" panose="02010609060101010101" pitchFamily="49" charset="-122"/>
              </a:rPr>
              <a:t>C</a:t>
            </a:r>
            <a:r>
              <a:rPr lang="zh-CN" altLang="en-US" sz="2400" dirty="0">
                <a:solidFill>
                  <a:srgbClr val="3333FF"/>
                </a:solidFill>
                <a:latin typeface="黑体" panose="02010609060101010101" pitchFamily="49" charset="-122"/>
                <a:ea typeface="黑体" panose="02010609060101010101" pitchFamily="49" charset="-122"/>
              </a:rPr>
              <a:t>：开关接通电流；</a:t>
            </a:r>
            <a:endParaRPr lang="zh-CN" altLang="en-US" sz="2400" dirty="0">
              <a:solidFill>
                <a:srgbClr val="3333FF"/>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I</a:t>
            </a:r>
            <a:r>
              <a:rPr lang="en-US" altLang="zh-CN" sz="2400" baseline="-25000" dirty="0">
                <a:solidFill>
                  <a:srgbClr val="FF0000"/>
                </a:solidFill>
                <a:latin typeface="Times New Roman" panose="02020603050405020304" pitchFamily="18" charset="0"/>
                <a:ea typeface="黑体" panose="02010609060101010101" pitchFamily="49" charset="-122"/>
              </a:rPr>
              <a:t>S</a:t>
            </a:r>
            <a:r>
              <a:rPr lang="zh-CN" altLang="en-US" sz="2400" dirty="0">
                <a:solidFill>
                  <a:srgbClr val="000099"/>
                </a:solidFill>
                <a:latin typeface="黑体" panose="02010609060101010101" pitchFamily="49" charset="-122"/>
                <a:ea typeface="黑体" panose="02010609060101010101" pitchFamily="49" charset="-122"/>
              </a:rPr>
              <a:t>：开关断开时的泄漏电流；</a:t>
            </a:r>
            <a:endParaRPr lang="zh-CN" altLang="en-US" sz="2400" dirty="0">
              <a:solidFill>
                <a:srgbClr val="000099"/>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baseline="-25000" dirty="0">
                <a:solidFill>
                  <a:srgbClr val="FF0000"/>
                </a:solidFill>
                <a:latin typeface="Times New Roman" panose="02020603050405020304" pitchFamily="18" charset="0"/>
                <a:ea typeface="黑体" panose="02010609060101010101" pitchFamily="49" charset="-122"/>
              </a:rPr>
              <a:t>S</a:t>
            </a:r>
            <a:r>
              <a:rPr lang="zh-CN" altLang="en-US" sz="2400" dirty="0">
                <a:solidFill>
                  <a:srgbClr val="3333FF"/>
                </a:solidFill>
                <a:latin typeface="黑体" panose="02010609060101010101" pitchFamily="49" charset="-122"/>
                <a:ea typeface="黑体" panose="02010609060101010101" pitchFamily="49" charset="-122"/>
              </a:rPr>
              <a:t>：开关断开时，开关对地电容；</a:t>
            </a:r>
            <a:endParaRPr lang="zh-CN" altLang="en-US" sz="2400" dirty="0">
              <a:solidFill>
                <a:srgbClr val="3333FF"/>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baseline="-25000" dirty="0">
                <a:solidFill>
                  <a:srgbClr val="FF0000"/>
                </a:solidFill>
                <a:latin typeface="Times New Roman" panose="02020603050405020304" pitchFamily="18" charset="0"/>
                <a:ea typeface="黑体" panose="02010609060101010101" pitchFamily="49" charset="-122"/>
              </a:rPr>
              <a:t>OUT</a:t>
            </a:r>
            <a:r>
              <a:rPr lang="zh-CN" altLang="en-US" sz="2400" dirty="0">
                <a:solidFill>
                  <a:srgbClr val="000099"/>
                </a:solidFill>
                <a:latin typeface="黑体" panose="02010609060101010101" pitchFamily="49" charset="-122"/>
                <a:ea typeface="黑体" panose="02010609060101010101" pitchFamily="49" charset="-122"/>
              </a:rPr>
              <a:t>：开关断开时，输出端对地电容；</a:t>
            </a:r>
            <a:endParaRPr lang="zh-CN" altLang="en-US" sz="2400" dirty="0">
              <a:solidFill>
                <a:srgbClr val="000099"/>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ON</a:t>
            </a:r>
            <a:r>
              <a:rPr lang="zh-CN" altLang="en-US" sz="2400" dirty="0">
                <a:solidFill>
                  <a:srgbClr val="3333FF"/>
                </a:solidFill>
                <a:latin typeface="黑体" panose="02010609060101010101" pitchFamily="49" charset="-122"/>
                <a:ea typeface="黑体" panose="02010609060101010101" pitchFamily="49" charset="-122"/>
              </a:rPr>
              <a:t>：选通信号</a:t>
            </a:r>
            <a:r>
              <a:rPr lang="en-US" altLang="zh-CN" sz="2400" dirty="0">
                <a:solidFill>
                  <a:srgbClr val="3333FF"/>
                </a:solidFill>
                <a:latin typeface="黑体" panose="02010609060101010101" pitchFamily="49" charset="-122"/>
                <a:ea typeface="黑体" panose="02010609060101010101" pitchFamily="49" charset="-122"/>
              </a:rPr>
              <a:t>EN</a:t>
            </a:r>
            <a:r>
              <a:rPr lang="zh-CN" altLang="en-US" sz="2400" dirty="0">
                <a:solidFill>
                  <a:srgbClr val="3333FF"/>
                </a:solidFill>
                <a:latin typeface="黑体" panose="02010609060101010101" pitchFamily="49" charset="-122"/>
                <a:ea typeface="黑体" panose="02010609060101010101" pitchFamily="49" charset="-122"/>
              </a:rPr>
              <a:t>达到</a:t>
            </a:r>
            <a:r>
              <a:rPr lang="en-US" altLang="zh-CN" sz="2400" dirty="0">
                <a:solidFill>
                  <a:srgbClr val="3333FF"/>
                </a:solidFill>
                <a:latin typeface="黑体" panose="02010609060101010101" pitchFamily="49" charset="-122"/>
                <a:ea typeface="黑体" panose="02010609060101010101" pitchFamily="49" charset="-122"/>
              </a:rPr>
              <a:t>50%</a:t>
            </a:r>
            <a:r>
              <a:rPr lang="zh-CN" altLang="en-US" sz="2400" dirty="0">
                <a:solidFill>
                  <a:srgbClr val="3333FF"/>
                </a:solidFill>
                <a:latin typeface="黑体" panose="02010609060101010101" pitchFamily="49" charset="-122"/>
                <a:ea typeface="黑体" panose="02010609060101010101" pitchFamily="49" charset="-122"/>
              </a:rPr>
              <a:t>这一点时到开关接通时的延迟时间；</a:t>
            </a:r>
            <a:endParaRPr lang="zh-CN" altLang="en-US" sz="2400" dirty="0">
              <a:solidFill>
                <a:srgbClr val="3333FF"/>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OFF</a:t>
            </a:r>
            <a:r>
              <a:rPr lang="zh-CN" altLang="en-US" sz="2400" dirty="0">
                <a:solidFill>
                  <a:srgbClr val="000099"/>
                </a:solidFill>
                <a:latin typeface="黑体" panose="02010609060101010101" pitchFamily="49" charset="-122"/>
                <a:ea typeface="黑体" panose="02010609060101010101" pitchFamily="49" charset="-122"/>
              </a:rPr>
              <a:t>：</a:t>
            </a:r>
            <a:r>
              <a:rPr lang="en-US" altLang="zh-CN" sz="2400" dirty="0">
                <a:solidFill>
                  <a:srgbClr val="000099"/>
                </a:solidFill>
                <a:latin typeface="黑体" panose="02010609060101010101" pitchFamily="49" charset="-122"/>
                <a:ea typeface="黑体" panose="02010609060101010101" pitchFamily="49" charset="-122"/>
              </a:rPr>
              <a:t>EN</a:t>
            </a:r>
            <a:r>
              <a:rPr lang="zh-CN" altLang="en-US" sz="2400" dirty="0">
                <a:solidFill>
                  <a:srgbClr val="000099"/>
                </a:solidFill>
                <a:latin typeface="黑体" panose="02010609060101010101" pitchFamily="49" charset="-122"/>
                <a:ea typeface="黑体" panose="02010609060101010101" pitchFamily="49" charset="-122"/>
              </a:rPr>
              <a:t>达到</a:t>
            </a:r>
            <a:r>
              <a:rPr lang="en-US" altLang="zh-CN" sz="2400" dirty="0">
                <a:solidFill>
                  <a:srgbClr val="000099"/>
                </a:solidFill>
                <a:latin typeface="黑体" panose="02010609060101010101" pitchFamily="49" charset="-122"/>
                <a:ea typeface="黑体" panose="02010609060101010101" pitchFamily="49" charset="-122"/>
              </a:rPr>
              <a:t>50%</a:t>
            </a:r>
            <a:r>
              <a:rPr lang="zh-CN" altLang="en-US" sz="2400" dirty="0">
                <a:solidFill>
                  <a:srgbClr val="000099"/>
                </a:solidFill>
                <a:latin typeface="黑体" panose="02010609060101010101" pitchFamily="49" charset="-122"/>
                <a:ea typeface="黑体" panose="02010609060101010101" pitchFamily="49" charset="-122"/>
              </a:rPr>
              <a:t>这一点时到开关断开时的延迟时间；</a:t>
            </a:r>
            <a:endParaRPr lang="en-US" altLang="zh-CN" sz="2400" dirty="0">
              <a:solidFill>
                <a:srgbClr val="000099"/>
              </a:solidFill>
              <a:latin typeface="黑体" panose="02010609060101010101" pitchFamily="49" charset="-122"/>
              <a:ea typeface="黑体" panose="02010609060101010101" pitchFamily="49" charset="-122"/>
            </a:endParaRPr>
          </a:p>
          <a:p>
            <a:pPr eaLnBrk="1" hangingPunct="1">
              <a:lnSpc>
                <a:spcPct val="120000"/>
              </a:lnSpc>
              <a:buClr>
                <a:srgbClr val="FF0000"/>
              </a:buClr>
              <a:buFont typeface="Wingdings" panose="05000000000000000000" pitchFamily="2" charset="2"/>
              <a:buChar char="u"/>
            </a:pPr>
            <a:r>
              <a:rPr lang="zh-CN" altLang="en-US" sz="2400"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OPEN</a:t>
            </a:r>
            <a:r>
              <a:rPr lang="zh-CN" altLang="en-US" sz="2400" dirty="0">
                <a:solidFill>
                  <a:srgbClr val="3333FF"/>
                </a:solidFill>
                <a:latin typeface="黑体" panose="02010609060101010101" pitchFamily="49" charset="-122"/>
                <a:ea typeface="黑体" panose="02010609060101010101" pitchFamily="49" charset="-122"/>
              </a:rPr>
              <a:t>：开关切换时间，即当两个通道均为断开时，开关从一个通道的接通状态转到另一个通道的接通状态并达到稳定的时间。</a:t>
            </a:r>
            <a:endParaRPr lang="zh-CN" altLang="en-US" sz="2400" dirty="0">
              <a:solidFill>
                <a:srgbClr val="3333FF"/>
              </a:solidFill>
              <a:latin typeface="黑体" panose="02010609060101010101" pitchFamily="49" charset="-122"/>
              <a:ea typeface="黑体" panose="02010609060101010101" pitchFamily="49" charset="-122"/>
            </a:endParaRPr>
          </a:p>
        </p:txBody>
      </p:sp>
      <p:sp>
        <p:nvSpPr>
          <p:cNvPr id="2399236" name="Text Box 4"/>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434"/>
                                        </p:tgtEl>
                                        <p:attrNameLst>
                                          <p:attrName>style.visibility</p:attrName>
                                        </p:attrNameLst>
                                      </p:cBhvr>
                                      <p:to>
                                        <p:strVal val="visible"/>
                                      </p:to>
                                    </p:set>
                                    <p:animEffect transition="in" filter="dissolve">
                                      <p:cBhvr>
                                        <p:cTn id="7" dur="500"/>
                                        <p:tgtEl>
                                          <p:spTgt spid="1843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399235"/>
                                        </p:tgtEl>
                                        <p:attrNameLst>
                                          <p:attrName>style.visibility</p:attrName>
                                        </p:attrNameLst>
                                      </p:cBhvr>
                                      <p:to>
                                        <p:strVal val="visible"/>
                                      </p:to>
                                    </p:set>
                                    <p:animEffect transition="in" filter="dissolve">
                                      <p:cBhvr>
                                        <p:cTn id="11" dur="500"/>
                                        <p:tgtEl>
                                          <p:spTgt spid="2399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4" grpId="0" animBg="1"/>
      <p:bldP spid="2399235"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626" name="Text Box 21"/>
          <p:cNvSpPr txBox="1"/>
          <p:nvPr/>
        </p:nvSpPr>
        <p:spPr>
          <a:xfrm>
            <a:off x="280988" y="766763"/>
            <a:ext cx="5551487"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3.2.2 </a:t>
            </a:r>
            <a:r>
              <a:rPr lang="zh-CN" altLang="en-US" dirty="0">
                <a:latin typeface="Times New Roman" panose="02020603050405020304" pitchFamily="18" charset="0"/>
              </a:rPr>
              <a:t>多路开关的主要指标 </a:t>
            </a:r>
            <a:endParaRPr lang="zh-CN" altLang="en-US" dirty="0">
              <a:latin typeface="Times New Roman" panose="02020603050405020304" pitchFamily="18" charset="0"/>
            </a:endParaRPr>
          </a:p>
        </p:txBody>
      </p:sp>
      <p:sp>
        <p:nvSpPr>
          <p:cNvPr id="2252822" name="Text Box 22"/>
          <p:cNvSpPr txBox="1"/>
          <p:nvPr/>
        </p:nvSpPr>
        <p:spPr>
          <a:xfrm>
            <a:off x="930275" y="1423988"/>
            <a:ext cx="7781925" cy="457200"/>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400" i="1" dirty="0">
                <a:solidFill>
                  <a:srgbClr val="3333FF"/>
                </a:solidFill>
                <a:latin typeface="黑体" panose="02010609060101010101" pitchFamily="49" charset="-122"/>
                <a:ea typeface="黑体" panose="02010609060101010101" pitchFamily="49" charset="-122"/>
              </a:rPr>
              <a:t> </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baseline="-25000" dirty="0">
                <a:solidFill>
                  <a:srgbClr val="FF0000"/>
                </a:solidFill>
                <a:latin typeface="Times New Roman" panose="02020603050405020304" pitchFamily="18" charset="0"/>
                <a:ea typeface="黑体" panose="02010609060101010101" pitchFamily="49" charset="-122"/>
              </a:rPr>
              <a:t>ON</a:t>
            </a:r>
            <a:r>
              <a:rPr lang="zh-CN" altLang="en-US" sz="2400" dirty="0">
                <a:solidFill>
                  <a:srgbClr val="3333FF"/>
                </a:solidFill>
                <a:latin typeface="黑体" panose="02010609060101010101" pitchFamily="49" charset="-122"/>
                <a:ea typeface="黑体" panose="02010609060101010101" pitchFamily="49" charset="-122"/>
              </a:rPr>
              <a:t>：导通电阻；</a:t>
            </a:r>
            <a:endParaRPr lang="zh-CN" altLang="en-US" sz="2400" dirty="0">
              <a:solidFill>
                <a:srgbClr val="3333FF"/>
              </a:solidFill>
              <a:latin typeface="黑体" panose="02010609060101010101" pitchFamily="49" charset="-122"/>
              <a:ea typeface="黑体" panose="02010609060101010101" pitchFamily="49" charset="-122"/>
            </a:endParaRPr>
          </a:p>
        </p:txBody>
      </p:sp>
      <p:sp>
        <p:nvSpPr>
          <p:cNvPr id="2252828" name="Text Box 28"/>
          <p:cNvSpPr txBox="1">
            <a:spLocks noChangeArrowheads="1"/>
          </p:cNvSpPr>
          <p:nvPr/>
        </p:nvSpPr>
        <p:spPr bwMode="auto">
          <a:xfrm>
            <a:off x="525463" y="117475"/>
            <a:ext cx="831215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3.2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多路开关的工作原理及主要技术指标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2829" name="Rectangle 29"/>
          <p:cNvSpPr/>
          <p:nvPr/>
        </p:nvSpPr>
        <p:spPr>
          <a:xfrm>
            <a:off x="1439863" y="1930400"/>
            <a:ext cx="6923087" cy="2867025"/>
          </a:xfrm>
          <a:prstGeom prst="rect">
            <a:avLst/>
          </a:prstGeom>
          <a:noFill/>
          <a:ln w="9525">
            <a:noFill/>
          </a:ln>
        </p:spPr>
        <p:txBody>
          <a:bodyPr anchor="ctr" anchorCtr="0">
            <a:spAutoFit/>
          </a:bodyPr>
          <a:p>
            <a:pPr eaLnBrk="1" hangingPunct="1"/>
            <a:r>
              <a:rPr lang="zh-CN" altLang="en-US" sz="2400" dirty="0">
                <a:solidFill>
                  <a:schemeClr val="tx1"/>
                </a:solidFill>
                <a:latin typeface="楷体_GB2312" pitchFamily="49" charset="-122"/>
              </a:rPr>
              <a:t>多路开关的导通电阻</a:t>
            </a:r>
            <a:r>
              <a:rPr lang="en-US" altLang="zh-CN" sz="2400" i="1"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ON</a:t>
            </a:r>
            <a:r>
              <a:rPr lang="zh-CN" altLang="en-US" sz="2400" dirty="0">
                <a:solidFill>
                  <a:schemeClr val="tx1"/>
                </a:solidFill>
                <a:latin typeface="楷体_GB2312" pitchFamily="49" charset="-122"/>
              </a:rPr>
              <a:t>（一般为数</a:t>
            </a:r>
            <a:r>
              <a:rPr lang="en-US" altLang="zh-CN" sz="2400" dirty="0">
                <a:solidFill>
                  <a:srgbClr val="FF0000"/>
                </a:solidFill>
                <a:latin typeface="楷体_GB2312" pitchFamily="49" charset="-122"/>
              </a:rPr>
              <a:t>10Ω</a:t>
            </a:r>
            <a:r>
              <a:rPr lang="zh-CN" altLang="en-US" sz="2400" dirty="0">
                <a:solidFill>
                  <a:schemeClr val="tx1"/>
                </a:solidFill>
                <a:latin typeface="楷体_GB2312" pitchFamily="49" charset="-122"/>
              </a:rPr>
              <a:t>至</a:t>
            </a:r>
            <a:r>
              <a:rPr lang="en-US" altLang="zh-CN" sz="2400" dirty="0">
                <a:solidFill>
                  <a:srgbClr val="FF0000"/>
                </a:solidFill>
                <a:latin typeface="楷体_GB2312" pitchFamily="49" charset="-122"/>
              </a:rPr>
              <a:t>1kΩ</a:t>
            </a:r>
            <a:r>
              <a:rPr lang="zh-CN" altLang="en-US" sz="2400" dirty="0">
                <a:solidFill>
                  <a:schemeClr val="tx1"/>
                </a:solidFill>
                <a:latin typeface="楷体_GB2312" pitchFamily="49" charset="-122"/>
              </a:rPr>
              <a:t>左右）比机械开关的接触电阻（一般为</a:t>
            </a:r>
            <a:r>
              <a:rPr lang="en-US" altLang="zh-CN" sz="2400" dirty="0">
                <a:solidFill>
                  <a:srgbClr val="FF0000"/>
                </a:solidFill>
                <a:latin typeface="楷体_GB2312" pitchFamily="49" charset="-122"/>
              </a:rPr>
              <a:t>mΩ</a:t>
            </a:r>
            <a:r>
              <a:rPr lang="zh-CN" altLang="en-US" sz="2400" dirty="0">
                <a:solidFill>
                  <a:schemeClr val="tx1"/>
                </a:solidFill>
                <a:latin typeface="楷体_GB2312" pitchFamily="49" charset="-122"/>
              </a:rPr>
              <a:t>量级）大得多，对自动数据采集的信号传输精度或程控制增益放大的增益影响较明显。</a:t>
            </a:r>
            <a:endParaRPr lang="zh-CN" altLang="en-US" sz="2400" dirty="0">
              <a:solidFill>
                <a:schemeClr val="tx1"/>
              </a:solidFill>
              <a:latin typeface="楷体_GB2312" pitchFamily="49" charset="-122"/>
            </a:endParaRPr>
          </a:p>
          <a:p>
            <a:pPr eaLnBrk="1" hangingPunct="1">
              <a:spcBef>
                <a:spcPct val="30000"/>
              </a:spcBef>
            </a:pPr>
            <a:r>
              <a:rPr lang="zh-CN" altLang="en-US" sz="2400" dirty="0">
                <a:solidFill>
                  <a:schemeClr val="tx1"/>
                </a:solidFill>
                <a:latin typeface="楷体_GB2312" pitchFamily="49" charset="-122"/>
              </a:rPr>
              <a:t>而且</a:t>
            </a:r>
            <a:r>
              <a:rPr lang="en-US" altLang="zh-CN" sz="2400" i="1"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ON</a:t>
            </a:r>
            <a:r>
              <a:rPr lang="zh-CN" altLang="en-US" sz="2400" dirty="0">
                <a:solidFill>
                  <a:schemeClr val="tx1"/>
                </a:solidFill>
                <a:latin typeface="楷体_GB2312" pitchFamily="49" charset="-122"/>
              </a:rPr>
              <a:t>随电源电压高低、传输信号的幅度等的变化而变化，因而其影响难以进行后期修正。</a:t>
            </a:r>
            <a:endParaRPr lang="zh-CN" altLang="en-US" sz="2400" dirty="0">
              <a:solidFill>
                <a:schemeClr val="tx1"/>
              </a:solidFill>
              <a:latin typeface="楷体_GB2312" pitchFamily="49" charset="-122"/>
            </a:endParaRPr>
          </a:p>
          <a:p>
            <a:pPr eaLnBrk="1" hangingPunct="1">
              <a:spcBef>
                <a:spcPct val="30000"/>
              </a:spcBef>
            </a:pPr>
            <a:r>
              <a:rPr lang="zh-CN" altLang="en-US" sz="2400" dirty="0">
                <a:solidFill>
                  <a:schemeClr val="tx1"/>
                </a:solidFill>
                <a:latin typeface="楷体_GB2312" pitchFamily="49" charset="-122"/>
              </a:rPr>
              <a:t>实践中一般是设法减小</a:t>
            </a:r>
            <a:r>
              <a:rPr lang="en-US" altLang="zh-CN" sz="2400" i="1"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ON</a:t>
            </a:r>
            <a:r>
              <a:rPr lang="zh-CN" altLang="en-US" sz="2400" dirty="0">
                <a:solidFill>
                  <a:schemeClr val="tx1"/>
                </a:solidFill>
                <a:latin typeface="楷体_GB2312" pitchFamily="49" charset="-122"/>
              </a:rPr>
              <a:t>来降低其影响。</a:t>
            </a:r>
            <a:endParaRPr lang="zh-CN" altLang="en-US" sz="2400" dirty="0">
              <a:solidFill>
                <a:schemeClr val="tx1"/>
              </a:solidFill>
              <a:latin typeface="楷体_GB2312" pitchFamily="49" charset="-122"/>
            </a:endParaRPr>
          </a:p>
        </p:txBody>
      </p:sp>
      <p:sp>
        <p:nvSpPr>
          <p:cNvPr id="2252830" name="Rectangle 30"/>
          <p:cNvSpPr/>
          <p:nvPr/>
        </p:nvSpPr>
        <p:spPr>
          <a:xfrm>
            <a:off x="754063" y="4810125"/>
            <a:ext cx="7753350" cy="1311275"/>
          </a:xfrm>
          <a:prstGeom prst="rect">
            <a:avLst/>
          </a:prstGeom>
          <a:solidFill>
            <a:srgbClr val="CCFFFF"/>
          </a:solidFill>
          <a:ln w="9525">
            <a:noFill/>
          </a:ln>
        </p:spPr>
        <p:txBody>
          <a:bodyPr anchor="ctr" anchorCtr="0">
            <a:spAutoFit/>
          </a:bodyPr>
          <a:p>
            <a:pPr eaLnBrk="1" hangingPunct="1"/>
            <a:r>
              <a:rPr lang="zh-CN" altLang="en-US" sz="2000" dirty="0">
                <a:solidFill>
                  <a:schemeClr val="accent2"/>
                </a:solidFill>
                <a:latin typeface="楷体_GB2312" pitchFamily="49" charset="-122"/>
              </a:rPr>
              <a:t>以</a:t>
            </a:r>
            <a:r>
              <a:rPr lang="en-US" altLang="zh-CN" sz="2000" dirty="0">
                <a:solidFill>
                  <a:srgbClr val="FF0000"/>
                </a:solidFill>
                <a:latin typeface="Times New Roman" panose="02020603050405020304" pitchFamily="18" charset="0"/>
              </a:rPr>
              <a:t>CD4051</a:t>
            </a:r>
            <a:r>
              <a:rPr lang="zh-CN" altLang="en-US" sz="2000" dirty="0">
                <a:solidFill>
                  <a:schemeClr val="accent2"/>
                </a:solidFill>
                <a:latin typeface="楷体_GB2312" pitchFamily="49" charset="-122"/>
              </a:rPr>
              <a:t>为例，测试发现：</a:t>
            </a:r>
            <a:r>
              <a:rPr lang="en-US" altLang="zh-CN" sz="2000" dirty="0">
                <a:solidFill>
                  <a:srgbClr val="FF0000"/>
                </a:solidFill>
                <a:latin typeface="Times New Roman" panose="02020603050405020304" pitchFamily="18" charset="0"/>
              </a:rPr>
              <a:t>CD4051</a:t>
            </a:r>
            <a:r>
              <a:rPr lang="zh-CN" altLang="en-US" sz="2000" dirty="0">
                <a:solidFill>
                  <a:schemeClr val="accent2"/>
                </a:solidFill>
                <a:latin typeface="楷体_GB2312" pitchFamily="49" charset="-122"/>
              </a:rPr>
              <a:t>的</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a:t>
            </a:r>
            <a:r>
              <a:rPr lang="zh-CN" altLang="en-US" sz="2000" dirty="0">
                <a:solidFill>
                  <a:schemeClr val="accent2"/>
                </a:solidFill>
                <a:latin typeface="楷体_GB2312" pitchFamily="49" charset="-122"/>
              </a:rPr>
              <a:t>随电源电压和输入模拟电压的变化而变化。当</a:t>
            </a:r>
            <a:r>
              <a:rPr lang="en-US" altLang="zh-CN" sz="2000" dirty="0">
                <a:solidFill>
                  <a:srgbClr val="FF0000"/>
                </a:solidFill>
                <a:latin typeface="Times New Roman" panose="02020603050405020304" pitchFamily="18" charset="0"/>
              </a:rPr>
              <a:t>VDD=5V</a:t>
            </a:r>
            <a:r>
              <a:rPr lang="zh-CN" altLang="en-US" sz="2000" dirty="0">
                <a:solidFill>
                  <a:schemeClr val="accent2"/>
                </a:solidFill>
                <a:latin typeface="楷体_GB2312" pitchFamily="49" charset="-122"/>
              </a:rPr>
              <a:t>、</a:t>
            </a:r>
            <a:r>
              <a:rPr lang="en-US" altLang="zh-CN" sz="2000" dirty="0">
                <a:solidFill>
                  <a:srgbClr val="FF0000"/>
                </a:solidFill>
                <a:latin typeface="Times New Roman" panose="02020603050405020304" pitchFamily="18" charset="0"/>
              </a:rPr>
              <a:t>VEE=0V</a:t>
            </a:r>
            <a:r>
              <a:rPr lang="zh-CN" altLang="en-US" sz="2000" dirty="0">
                <a:solidFill>
                  <a:schemeClr val="accent2"/>
                </a:solidFill>
                <a:latin typeface="楷体_GB2312" pitchFamily="49" charset="-122"/>
              </a:rPr>
              <a:t>时，</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a:t>
            </a:r>
            <a:r>
              <a:rPr lang="en-US" altLang="zh-CN" sz="2000" dirty="0">
                <a:solidFill>
                  <a:srgbClr val="FF0000"/>
                </a:solidFill>
                <a:latin typeface="Times New Roman" panose="02020603050405020304" pitchFamily="18" charset="0"/>
              </a:rPr>
              <a:t>=280Ω</a:t>
            </a:r>
            <a:r>
              <a:rPr lang="zh-CN" altLang="en-US" sz="2000" dirty="0">
                <a:solidFill>
                  <a:schemeClr val="accent2"/>
                </a:solidFill>
                <a:latin typeface="楷体_GB2312" pitchFamily="49" charset="-122"/>
              </a:rPr>
              <a:t>，且随</a:t>
            </a:r>
            <a:r>
              <a:rPr lang="en-US" altLang="zh-CN" sz="2000" dirty="0">
                <a:solidFill>
                  <a:srgbClr val="FF0000"/>
                </a:solidFill>
                <a:latin typeface="Times New Roman" panose="02020603050405020304" pitchFamily="18" charset="0"/>
              </a:rPr>
              <a:t>V</a:t>
            </a:r>
            <a:r>
              <a:rPr lang="en-US" altLang="zh-CN" sz="2000" i="1" baseline="-25000" dirty="0">
                <a:solidFill>
                  <a:srgbClr val="FF0000"/>
                </a:solidFill>
                <a:latin typeface="Times New Roman" panose="02020603050405020304" pitchFamily="18" charset="0"/>
              </a:rPr>
              <a:t>i</a:t>
            </a:r>
            <a:r>
              <a:rPr lang="zh-CN" altLang="en-US" sz="2000" dirty="0">
                <a:solidFill>
                  <a:schemeClr val="accent2"/>
                </a:solidFill>
                <a:latin typeface="楷体_GB2312" pitchFamily="49" charset="-122"/>
              </a:rPr>
              <a:t>的变化突变；当</a:t>
            </a:r>
            <a:r>
              <a:rPr lang="en-US" altLang="zh-CN" sz="2000" dirty="0">
                <a:solidFill>
                  <a:srgbClr val="FF0000"/>
                </a:solidFill>
                <a:latin typeface="Times New Roman" panose="02020603050405020304" pitchFamily="18" charset="0"/>
              </a:rPr>
              <a:t>VDD&gt;10V</a:t>
            </a:r>
            <a:r>
              <a:rPr lang="zh-CN" altLang="en-US" sz="2000" dirty="0">
                <a:solidFill>
                  <a:schemeClr val="accent2"/>
                </a:solidFill>
                <a:latin typeface="楷体_GB2312" pitchFamily="49" charset="-122"/>
              </a:rPr>
              <a:t>、</a:t>
            </a:r>
            <a:r>
              <a:rPr lang="en-US" altLang="zh-CN" sz="2000" dirty="0">
                <a:solidFill>
                  <a:srgbClr val="FF0000"/>
                </a:solidFill>
                <a:latin typeface="Times New Roman" panose="02020603050405020304" pitchFamily="18" charset="0"/>
              </a:rPr>
              <a:t>VEE=0V</a:t>
            </a:r>
            <a:r>
              <a:rPr lang="zh-CN" altLang="en-US" sz="2000" dirty="0">
                <a:solidFill>
                  <a:schemeClr val="accent2"/>
                </a:solidFill>
                <a:latin typeface="楷体_GB2312" pitchFamily="49" charset="-122"/>
              </a:rPr>
              <a:t>时，</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a:t>
            </a:r>
            <a:r>
              <a:rPr lang="en-US" altLang="zh-CN" sz="2000" dirty="0">
                <a:solidFill>
                  <a:srgbClr val="FF0000"/>
                </a:solidFill>
                <a:latin typeface="Times New Roman" panose="02020603050405020304" pitchFamily="18" charset="0"/>
              </a:rPr>
              <a:t>=100Ω</a:t>
            </a:r>
            <a:r>
              <a:rPr lang="zh-CN" altLang="en-US" sz="2000" dirty="0">
                <a:solidFill>
                  <a:schemeClr val="accent2"/>
                </a:solidFill>
                <a:latin typeface="楷体_GB2312" pitchFamily="49" charset="-122"/>
              </a:rPr>
              <a:t>，且随</a:t>
            </a:r>
            <a:r>
              <a:rPr lang="en-US" altLang="zh-CN" sz="2000" dirty="0">
                <a:solidFill>
                  <a:srgbClr val="FF0000"/>
                </a:solidFill>
                <a:latin typeface="Times New Roman" panose="02020603050405020304" pitchFamily="18" charset="0"/>
              </a:rPr>
              <a:t>V</a:t>
            </a:r>
            <a:r>
              <a:rPr lang="en-US" altLang="zh-CN" sz="2000" i="1" baseline="-25000" dirty="0">
                <a:solidFill>
                  <a:srgbClr val="FF0000"/>
                </a:solidFill>
                <a:latin typeface="Times New Roman" panose="02020603050405020304" pitchFamily="18" charset="0"/>
              </a:rPr>
              <a:t>i</a:t>
            </a:r>
            <a:r>
              <a:rPr lang="zh-CN" altLang="en-US" sz="2000" dirty="0">
                <a:solidFill>
                  <a:schemeClr val="accent2"/>
                </a:solidFill>
                <a:latin typeface="楷体_GB2312" pitchFamily="49" charset="-122"/>
              </a:rPr>
              <a:t>的变化缓变。可见，适当提高</a:t>
            </a:r>
            <a:r>
              <a:rPr lang="en-US" altLang="zh-CN" sz="2000" dirty="0">
                <a:solidFill>
                  <a:srgbClr val="FF0000"/>
                </a:solidFill>
                <a:latin typeface="Times New Roman" panose="02020603050405020304" pitchFamily="18" charset="0"/>
              </a:rPr>
              <a:t>CD4051</a:t>
            </a:r>
            <a:r>
              <a:rPr lang="zh-CN" altLang="en-US" sz="2000" dirty="0">
                <a:solidFill>
                  <a:schemeClr val="accent2"/>
                </a:solidFill>
                <a:latin typeface="楷体_GB2312" pitchFamily="49" charset="-122"/>
              </a:rPr>
              <a:t>的</a:t>
            </a:r>
            <a:r>
              <a:rPr lang="en-US" altLang="zh-CN" sz="2000" dirty="0">
                <a:solidFill>
                  <a:srgbClr val="FF0000"/>
                </a:solidFill>
                <a:latin typeface="Times New Roman" panose="02020603050405020304" pitchFamily="18" charset="0"/>
              </a:rPr>
              <a:t>VDD</a:t>
            </a:r>
            <a:r>
              <a:rPr lang="zh-CN" altLang="en-US" sz="2000" dirty="0">
                <a:solidFill>
                  <a:schemeClr val="accent2"/>
                </a:solidFill>
                <a:latin typeface="楷体_GB2312" pitchFamily="49" charset="-122"/>
              </a:rPr>
              <a:t>有利于减小</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a:t>
            </a:r>
            <a:r>
              <a:rPr lang="zh-CN" altLang="en-US" sz="2000" dirty="0">
                <a:solidFill>
                  <a:schemeClr val="accent2"/>
                </a:solidFill>
                <a:latin typeface="楷体_GB2312" pitchFamily="49" charset="-122"/>
              </a:rPr>
              <a:t>的影响。</a:t>
            </a:r>
            <a:endParaRPr lang="zh-CN" altLang="en-US" sz="2000" dirty="0">
              <a:solidFill>
                <a:schemeClr val="accent2"/>
              </a:solidFill>
              <a:latin typeface="楷体_GB2312" pitchFamily="49" charset="-122"/>
            </a:endParaRPr>
          </a:p>
        </p:txBody>
      </p:sp>
      <p:sp>
        <p:nvSpPr>
          <p:cNvPr id="2252831" name="Text Box 31"/>
          <p:cNvSpPr txBox="1"/>
          <p:nvPr/>
        </p:nvSpPr>
        <p:spPr>
          <a:xfrm>
            <a:off x="887413" y="1947863"/>
            <a:ext cx="5302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52832" name="Text Box 32"/>
          <p:cNvSpPr txBox="1"/>
          <p:nvPr/>
        </p:nvSpPr>
        <p:spPr>
          <a:xfrm>
            <a:off x="920750" y="3525838"/>
            <a:ext cx="5302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52833" name="Text Box 33"/>
          <p:cNvSpPr txBox="1"/>
          <p:nvPr/>
        </p:nvSpPr>
        <p:spPr>
          <a:xfrm>
            <a:off x="919163" y="4356100"/>
            <a:ext cx="53022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2822">
                                            <p:txEl>
                                              <p:charRg st="0" end="11"/>
                                            </p:txEl>
                                          </p:spTgt>
                                        </p:tgtEl>
                                        <p:attrNameLst>
                                          <p:attrName>style.visibility</p:attrName>
                                        </p:attrNameLst>
                                      </p:cBhvr>
                                      <p:to>
                                        <p:strVal val="visible"/>
                                      </p:to>
                                    </p:set>
                                    <p:animEffect transition="in" filter="dissolve">
                                      <p:cBhvr>
                                        <p:cTn id="7" dur="500"/>
                                        <p:tgtEl>
                                          <p:spTgt spid="2252822">
                                            <p:txEl>
                                              <p:charRg st="0" end="1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2831">
                                            <p:txEl>
                                              <p:charRg st="0" end="2"/>
                                            </p:txEl>
                                          </p:spTgt>
                                        </p:tgtEl>
                                        <p:attrNameLst>
                                          <p:attrName>style.visibility</p:attrName>
                                        </p:attrNameLst>
                                      </p:cBhvr>
                                      <p:to>
                                        <p:strVal val="visible"/>
                                      </p:to>
                                    </p:set>
                                    <p:animEffect transition="in" filter="dissolve">
                                      <p:cBhvr>
                                        <p:cTn id="12" dur="500"/>
                                        <p:tgtEl>
                                          <p:spTgt spid="2252831">
                                            <p:txEl>
                                              <p:charRg st="0"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252829">
                                            <p:txEl>
                                              <p:charRg st="0" end="82"/>
                                            </p:txEl>
                                          </p:spTgt>
                                        </p:tgtEl>
                                        <p:attrNameLst>
                                          <p:attrName>style.visibility</p:attrName>
                                        </p:attrNameLst>
                                      </p:cBhvr>
                                      <p:to>
                                        <p:strVal val="visible"/>
                                      </p:to>
                                    </p:set>
                                    <p:animEffect transition="in" filter="dissolve">
                                      <p:cBhvr>
                                        <p:cTn id="15" dur="500"/>
                                        <p:tgtEl>
                                          <p:spTgt spid="2252829">
                                            <p:txEl>
                                              <p:charRg st="0" end="8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252832"/>
                                        </p:tgtEl>
                                        <p:attrNameLst>
                                          <p:attrName>style.visibility</p:attrName>
                                        </p:attrNameLst>
                                      </p:cBhvr>
                                      <p:to>
                                        <p:strVal val="visible"/>
                                      </p:to>
                                    </p:set>
                                    <p:animEffect transition="in" filter="dissolve">
                                      <p:cBhvr>
                                        <p:cTn id="20" dur="500"/>
                                        <p:tgtEl>
                                          <p:spTgt spid="2252832"/>
                                        </p:tgtEl>
                                      </p:cBhvr>
                                    </p:animEffect>
                                  </p:childTnLst>
                                </p:cTn>
                              </p:par>
                              <p:par>
                                <p:cTn id="21" presetID="9" presetClass="entr" presetSubtype="0" fill="hold" nodeType="withEffect">
                                  <p:stCondLst>
                                    <p:cond delay="0"/>
                                  </p:stCondLst>
                                  <p:childTnLst>
                                    <p:set>
                                      <p:cBhvr>
                                        <p:cTn id="22" dur="1" fill="hold">
                                          <p:stCondLst>
                                            <p:cond delay="0"/>
                                          </p:stCondLst>
                                        </p:cTn>
                                        <p:tgtEl>
                                          <p:spTgt spid="2252829">
                                            <p:txEl>
                                              <p:charRg st="82" end="125"/>
                                            </p:txEl>
                                          </p:spTgt>
                                        </p:tgtEl>
                                        <p:attrNameLst>
                                          <p:attrName>style.visibility</p:attrName>
                                        </p:attrNameLst>
                                      </p:cBhvr>
                                      <p:to>
                                        <p:strVal val="visible"/>
                                      </p:to>
                                    </p:set>
                                    <p:animEffect transition="in" filter="dissolve">
                                      <p:cBhvr>
                                        <p:cTn id="23" dur="500"/>
                                        <p:tgtEl>
                                          <p:spTgt spid="2252829">
                                            <p:txEl>
                                              <p:charRg st="82" end="12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252833">
                                            <p:txEl>
                                              <p:charRg st="0" end="2"/>
                                            </p:txEl>
                                          </p:spTgt>
                                        </p:tgtEl>
                                        <p:attrNameLst>
                                          <p:attrName>style.visibility</p:attrName>
                                        </p:attrNameLst>
                                      </p:cBhvr>
                                      <p:to>
                                        <p:strVal val="visible"/>
                                      </p:to>
                                    </p:set>
                                    <p:animEffect transition="in" filter="dissolve">
                                      <p:cBhvr>
                                        <p:cTn id="28" dur="500"/>
                                        <p:tgtEl>
                                          <p:spTgt spid="2252833">
                                            <p:txEl>
                                              <p:charRg st="0" end="2"/>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2252829">
                                            <p:txEl>
                                              <p:charRg st="125" end="146"/>
                                            </p:txEl>
                                          </p:spTgt>
                                        </p:tgtEl>
                                        <p:attrNameLst>
                                          <p:attrName>style.visibility</p:attrName>
                                        </p:attrNameLst>
                                      </p:cBhvr>
                                      <p:to>
                                        <p:strVal val="visible"/>
                                      </p:to>
                                    </p:set>
                                    <p:animEffect transition="in" filter="dissolve">
                                      <p:cBhvr>
                                        <p:cTn id="31" dur="500"/>
                                        <p:tgtEl>
                                          <p:spTgt spid="2252829">
                                            <p:txEl>
                                              <p:charRg st="125" end="14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52830"/>
                                        </p:tgtEl>
                                        <p:attrNameLst>
                                          <p:attrName>style.visibility</p:attrName>
                                        </p:attrNameLst>
                                      </p:cBhvr>
                                      <p:to>
                                        <p:strVal val="visible"/>
                                      </p:to>
                                    </p:set>
                                    <p:animEffect transition="in" filter="dissolve">
                                      <p:cBhvr>
                                        <p:cTn id="36" dur="500"/>
                                        <p:tgtEl>
                                          <p:spTgt spid="22528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0" grpId="0" animBg="1"/>
      <p:bldP spid="2252832"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9898" name="Text Box 170"/>
          <p:cNvSpPr txBox="1"/>
          <p:nvPr/>
        </p:nvSpPr>
        <p:spPr>
          <a:xfrm>
            <a:off x="203200" y="738188"/>
            <a:ext cx="54006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3.3.1 </a:t>
            </a:r>
            <a:r>
              <a:rPr lang="zh-CN" altLang="en-US" dirty="0">
                <a:latin typeface="Times New Roman" panose="02020603050405020304" pitchFamily="18" charset="0"/>
              </a:rPr>
              <a:t>无译码器的多路开关 </a:t>
            </a:r>
            <a:endParaRPr lang="zh-CN" altLang="en-US" dirty="0">
              <a:latin typeface="Times New Roman" panose="02020603050405020304" pitchFamily="18" charset="0"/>
            </a:endParaRPr>
          </a:p>
        </p:txBody>
      </p:sp>
      <p:sp>
        <p:nvSpPr>
          <p:cNvPr id="2249751" name="Text Box 23"/>
          <p:cNvSpPr txBox="1"/>
          <p:nvPr/>
        </p:nvSpPr>
        <p:spPr>
          <a:xfrm>
            <a:off x="369888" y="2078038"/>
            <a:ext cx="4321175" cy="946150"/>
          </a:xfrm>
          <a:prstGeom prst="rect">
            <a:avLst/>
          </a:prstGeom>
          <a:solidFill>
            <a:srgbClr val="CCFFFF"/>
          </a:solidFill>
          <a:ln w="9525">
            <a:noFill/>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芯片中无译码器，四个通道开关都有各自的控制端。</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249891" name="Rectangle 163"/>
          <p:cNvSpPr/>
          <p:nvPr/>
        </p:nvSpPr>
        <p:spPr>
          <a:xfrm>
            <a:off x="384175" y="1543050"/>
            <a:ext cx="2586038" cy="438150"/>
          </a:xfrm>
          <a:prstGeom prst="rect">
            <a:avLst/>
          </a:prstGeom>
          <a:noFill/>
          <a:ln w="9525">
            <a:noFill/>
          </a:ln>
        </p:spPr>
        <p:txBody>
          <a:bodyPr lIns="0" tIns="0" rIns="0" bIns="0">
            <a:spAutoFit/>
          </a:bodyPr>
          <a:p>
            <a:pPr eaLnBrk="1" hangingPunct="1">
              <a:lnSpc>
                <a:spcPct val="90000"/>
              </a:lnSpc>
            </a:pPr>
            <a:r>
              <a:rPr lang="en-US" altLang="zh-CN" sz="3200" dirty="0">
                <a:solidFill>
                  <a:srgbClr val="FF0000"/>
                </a:solidFill>
                <a:latin typeface="Times New Roman" panose="02020603050405020304" pitchFamily="18" charset="0"/>
              </a:rPr>
              <a:t>AD7510</a:t>
            </a:r>
            <a:r>
              <a:rPr lang="zh-CN" altLang="en-US" sz="3200" dirty="0">
                <a:solidFill>
                  <a:srgbClr val="FF0000"/>
                </a:solidFill>
                <a:latin typeface="楷体_GB2312" pitchFamily="49" charset="-122"/>
              </a:rPr>
              <a:t>芯片</a:t>
            </a:r>
            <a:r>
              <a:rPr lang="en-US" altLang="zh-CN" sz="3200" dirty="0">
                <a:solidFill>
                  <a:srgbClr val="FF0000"/>
                </a:solidFill>
                <a:latin typeface="楷体_GB2312" pitchFamily="49" charset="-122"/>
              </a:rPr>
              <a:t>:</a:t>
            </a:r>
            <a:endParaRPr lang="en-US" altLang="zh-CN" sz="3200" dirty="0">
              <a:solidFill>
                <a:srgbClr val="FF0000"/>
              </a:solidFill>
              <a:latin typeface="Times New Roman" panose="02020603050405020304" pitchFamily="18" charset="0"/>
            </a:endParaRPr>
          </a:p>
        </p:txBody>
      </p:sp>
      <p:sp>
        <p:nvSpPr>
          <p:cNvPr id="2249897" name="Text Box 169"/>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249900" name="Group 172"/>
          <p:cNvGrpSpPr/>
          <p:nvPr/>
        </p:nvGrpSpPr>
        <p:grpSpPr>
          <a:xfrm>
            <a:off x="4873625" y="1279525"/>
            <a:ext cx="4110038" cy="4752975"/>
            <a:chOff x="3009" y="890"/>
            <a:chExt cx="2589" cy="2994"/>
          </a:xfrm>
        </p:grpSpPr>
        <p:sp>
          <p:nvSpPr>
            <p:cNvPr id="27662" name="AutoShape 24"/>
            <p:cNvSpPr>
              <a:spLocks noChangeAspect="1" noTextEdit="1"/>
            </p:cNvSpPr>
            <p:nvPr/>
          </p:nvSpPr>
          <p:spPr>
            <a:xfrm>
              <a:off x="3009" y="998"/>
              <a:ext cx="2589" cy="2886"/>
            </a:xfrm>
            <a:prstGeom prst="rect">
              <a:avLst/>
            </a:prstGeom>
            <a:solidFill>
              <a:srgbClr val="FFFF99"/>
            </a:solidFill>
            <a:ln w="9525">
              <a:noFill/>
            </a:ln>
          </p:spPr>
          <p:txBody>
            <a:bodyPr/>
            <a:p>
              <a:endParaRPr lang="zh-CN" altLang="en-US"/>
            </a:p>
          </p:txBody>
        </p:sp>
        <p:sp>
          <p:nvSpPr>
            <p:cNvPr id="27663" name="Rectangle 26"/>
            <p:cNvSpPr/>
            <p:nvPr/>
          </p:nvSpPr>
          <p:spPr>
            <a:xfrm>
              <a:off x="3767" y="1048"/>
              <a:ext cx="1232" cy="277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664" name="Line 27"/>
            <p:cNvSpPr/>
            <p:nvPr/>
          </p:nvSpPr>
          <p:spPr>
            <a:xfrm>
              <a:off x="4037" y="1310"/>
              <a:ext cx="1" cy="263"/>
            </a:xfrm>
            <a:prstGeom prst="line">
              <a:avLst/>
            </a:prstGeom>
            <a:ln w="0" cap="flat" cmpd="sng">
              <a:solidFill>
                <a:srgbClr val="FF0000"/>
              </a:solidFill>
              <a:prstDash val="solid"/>
              <a:headEnd type="none" w="med" len="med"/>
              <a:tailEnd type="none" w="med" len="med"/>
            </a:ln>
          </p:spPr>
        </p:sp>
        <p:sp>
          <p:nvSpPr>
            <p:cNvPr id="27665" name="Line 28"/>
            <p:cNvSpPr/>
            <p:nvPr/>
          </p:nvSpPr>
          <p:spPr>
            <a:xfrm flipV="1">
              <a:off x="4037" y="1442"/>
              <a:ext cx="280" cy="131"/>
            </a:xfrm>
            <a:prstGeom prst="line">
              <a:avLst/>
            </a:prstGeom>
            <a:ln w="0" cap="flat" cmpd="sng">
              <a:solidFill>
                <a:srgbClr val="FF0000"/>
              </a:solidFill>
              <a:prstDash val="solid"/>
              <a:headEnd type="none" w="med" len="med"/>
              <a:tailEnd type="none" w="med" len="med"/>
            </a:ln>
          </p:spPr>
        </p:sp>
        <p:sp>
          <p:nvSpPr>
            <p:cNvPr id="27666" name="Line 29"/>
            <p:cNvSpPr/>
            <p:nvPr/>
          </p:nvSpPr>
          <p:spPr>
            <a:xfrm flipH="1" flipV="1">
              <a:off x="4037" y="1310"/>
              <a:ext cx="280" cy="132"/>
            </a:xfrm>
            <a:prstGeom prst="line">
              <a:avLst/>
            </a:prstGeom>
            <a:ln w="0" cap="flat" cmpd="sng">
              <a:solidFill>
                <a:srgbClr val="FF0000"/>
              </a:solidFill>
              <a:prstDash val="solid"/>
              <a:headEnd type="none" w="med" len="med"/>
              <a:tailEnd type="none" w="med" len="med"/>
            </a:ln>
          </p:spPr>
        </p:sp>
        <p:sp>
          <p:nvSpPr>
            <p:cNvPr id="27667" name="Oval 30"/>
            <p:cNvSpPr/>
            <p:nvPr/>
          </p:nvSpPr>
          <p:spPr>
            <a:xfrm>
              <a:off x="4317" y="1409"/>
              <a:ext cx="69" cy="66"/>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668" name="Line 31"/>
            <p:cNvSpPr/>
            <p:nvPr/>
          </p:nvSpPr>
          <p:spPr>
            <a:xfrm>
              <a:off x="4389" y="1442"/>
              <a:ext cx="158" cy="1"/>
            </a:xfrm>
            <a:prstGeom prst="line">
              <a:avLst/>
            </a:prstGeom>
            <a:ln w="0" cap="flat" cmpd="sng">
              <a:solidFill>
                <a:srgbClr val="FF0000"/>
              </a:solidFill>
              <a:prstDash val="solid"/>
              <a:headEnd type="none" w="med" len="med"/>
              <a:tailEnd type="none" w="med" len="med"/>
            </a:ln>
          </p:spPr>
        </p:sp>
        <p:sp>
          <p:nvSpPr>
            <p:cNvPr id="27669" name="Line 32"/>
            <p:cNvSpPr/>
            <p:nvPr/>
          </p:nvSpPr>
          <p:spPr>
            <a:xfrm>
              <a:off x="3897" y="1442"/>
              <a:ext cx="140" cy="1"/>
            </a:xfrm>
            <a:prstGeom prst="line">
              <a:avLst/>
            </a:prstGeom>
            <a:ln w="0" cap="flat" cmpd="sng">
              <a:solidFill>
                <a:srgbClr val="FF0000"/>
              </a:solidFill>
              <a:prstDash val="solid"/>
              <a:headEnd type="none" w="med" len="med"/>
              <a:tailEnd type="none" w="med" len="med"/>
            </a:ln>
          </p:spPr>
        </p:sp>
        <p:grpSp>
          <p:nvGrpSpPr>
            <p:cNvPr id="27670" name="Group 41"/>
            <p:cNvGrpSpPr/>
            <p:nvPr/>
          </p:nvGrpSpPr>
          <p:grpSpPr>
            <a:xfrm>
              <a:off x="3469" y="1179"/>
              <a:ext cx="297" cy="2509"/>
              <a:chOff x="613" y="765"/>
              <a:chExt cx="297" cy="2509"/>
            </a:xfrm>
          </p:grpSpPr>
          <p:sp>
            <p:nvSpPr>
              <p:cNvPr id="27796" name="Rectangle 33"/>
              <p:cNvSpPr/>
              <p:nvPr/>
            </p:nvSpPr>
            <p:spPr>
              <a:xfrm>
                <a:off x="613" y="765"/>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7" name="Rectangle 34"/>
              <p:cNvSpPr/>
              <p:nvPr/>
            </p:nvSpPr>
            <p:spPr>
              <a:xfrm>
                <a:off x="613" y="1093"/>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8" name="Rectangle 35"/>
              <p:cNvSpPr/>
              <p:nvPr/>
            </p:nvSpPr>
            <p:spPr>
              <a:xfrm>
                <a:off x="613" y="1422"/>
                <a:ext cx="297"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9" name="Rectangle 36"/>
              <p:cNvSpPr/>
              <p:nvPr/>
            </p:nvSpPr>
            <p:spPr>
              <a:xfrm>
                <a:off x="613" y="1750"/>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800" name="Rectangle 37"/>
              <p:cNvSpPr/>
              <p:nvPr/>
            </p:nvSpPr>
            <p:spPr>
              <a:xfrm>
                <a:off x="613" y="2078"/>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801" name="Rectangle 38"/>
              <p:cNvSpPr/>
              <p:nvPr/>
            </p:nvSpPr>
            <p:spPr>
              <a:xfrm>
                <a:off x="613" y="2407"/>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802" name="Rectangle 39"/>
              <p:cNvSpPr/>
              <p:nvPr/>
            </p:nvSpPr>
            <p:spPr>
              <a:xfrm>
                <a:off x="613" y="2735"/>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803" name="Rectangle 40"/>
              <p:cNvSpPr/>
              <p:nvPr/>
            </p:nvSpPr>
            <p:spPr>
              <a:xfrm>
                <a:off x="613" y="3064"/>
                <a:ext cx="297"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grpSp>
          <p:nvGrpSpPr>
            <p:cNvPr id="27671" name="Group 50"/>
            <p:cNvGrpSpPr/>
            <p:nvPr/>
          </p:nvGrpSpPr>
          <p:grpSpPr>
            <a:xfrm>
              <a:off x="4999" y="1179"/>
              <a:ext cx="297" cy="2509"/>
              <a:chOff x="2133" y="765"/>
              <a:chExt cx="297" cy="2509"/>
            </a:xfrm>
          </p:grpSpPr>
          <p:sp>
            <p:nvSpPr>
              <p:cNvPr id="27788" name="Rectangle 42"/>
              <p:cNvSpPr/>
              <p:nvPr/>
            </p:nvSpPr>
            <p:spPr>
              <a:xfrm>
                <a:off x="2133" y="765"/>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89" name="Rectangle 43"/>
              <p:cNvSpPr/>
              <p:nvPr/>
            </p:nvSpPr>
            <p:spPr>
              <a:xfrm>
                <a:off x="2133" y="1093"/>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0" name="Rectangle 44"/>
              <p:cNvSpPr/>
              <p:nvPr/>
            </p:nvSpPr>
            <p:spPr>
              <a:xfrm>
                <a:off x="2133" y="1422"/>
                <a:ext cx="297"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1" name="Rectangle 45"/>
              <p:cNvSpPr/>
              <p:nvPr/>
            </p:nvSpPr>
            <p:spPr>
              <a:xfrm>
                <a:off x="2133" y="1750"/>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2" name="Rectangle 46"/>
              <p:cNvSpPr/>
              <p:nvPr/>
            </p:nvSpPr>
            <p:spPr>
              <a:xfrm>
                <a:off x="2133" y="2078"/>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3" name="Rectangle 47"/>
              <p:cNvSpPr/>
              <p:nvPr/>
            </p:nvSpPr>
            <p:spPr>
              <a:xfrm>
                <a:off x="2133" y="2407"/>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4" name="Rectangle 48"/>
              <p:cNvSpPr/>
              <p:nvPr/>
            </p:nvSpPr>
            <p:spPr>
              <a:xfrm>
                <a:off x="2133" y="2735"/>
                <a:ext cx="297" cy="21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95" name="Rectangle 49"/>
              <p:cNvSpPr/>
              <p:nvPr/>
            </p:nvSpPr>
            <p:spPr>
              <a:xfrm>
                <a:off x="2133" y="3064"/>
                <a:ext cx="297"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sp>
          <p:nvSpPr>
            <p:cNvPr id="27672" name="Line 51"/>
            <p:cNvSpPr/>
            <p:nvPr/>
          </p:nvSpPr>
          <p:spPr>
            <a:xfrm>
              <a:off x="3897" y="1442"/>
              <a:ext cx="1" cy="492"/>
            </a:xfrm>
            <a:prstGeom prst="line">
              <a:avLst/>
            </a:prstGeom>
            <a:ln w="0" cap="flat" cmpd="sng">
              <a:solidFill>
                <a:srgbClr val="FF0000"/>
              </a:solidFill>
              <a:prstDash val="solid"/>
              <a:headEnd type="none" w="med" len="med"/>
              <a:tailEnd type="none" w="med" len="med"/>
            </a:ln>
          </p:spPr>
        </p:sp>
        <p:sp>
          <p:nvSpPr>
            <p:cNvPr id="27673" name="Line 52"/>
            <p:cNvSpPr/>
            <p:nvPr/>
          </p:nvSpPr>
          <p:spPr>
            <a:xfrm flipH="1">
              <a:off x="3757" y="1934"/>
              <a:ext cx="140" cy="1"/>
            </a:xfrm>
            <a:prstGeom prst="line">
              <a:avLst/>
            </a:prstGeom>
            <a:ln w="0" cap="flat" cmpd="sng">
              <a:solidFill>
                <a:srgbClr val="FF0000"/>
              </a:solidFill>
              <a:prstDash val="solid"/>
              <a:headEnd type="none" w="med" len="med"/>
              <a:tailEnd type="none" w="med" len="med"/>
            </a:ln>
          </p:spPr>
        </p:sp>
        <p:sp>
          <p:nvSpPr>
            <p:cNvPr id="27674" name="Line 53"/>
            <p:cNvSpPr/>
            <p:nvPr/>
          </p:nvSpPr>
          <p:spPr>
            <a:xfrm>
              <a:off x="4043" y="1967"/>
              <a:ext cx="1" cy="263"/>
            </a:xfrm>
            <a:prstGeom prst="line">
              <a:avLst/>
            </a:prstGeom>
            <a:ln w="0" cap="flat" cmpd="sng">
              <a:solidFill>
                <a:srgbClr val="FF0000"/>
              </a:solidFill>
              <a:prstDash val="solid"/>
              <a:headEnd type="none" w="med" len="med"/>
              <a:tailEnd type="none" w="med" len="med"/>
            </a:ln>
          </p:spPr>
        </p:sp>
        <p:sp>
          <p:nvSpPr>
            <p:cNvPr id="27675" name="Line 54"/>
            <p:cNvSpPr/>
            <p:nvPr/>
          </p:nvSpPr>
          <p:spPr>
            <a:xfrm flipV="1">
              <a:off x="4043" y="2098"/>
              <a:ext cx="279" cy="132"/>
            </a:xfrm>
            <a:prstGeom prst="line">
              <a:avLst/>
            </a:prstGeom>
            <a:ln w="0" cap="flat" cmpd="sng">
              <a:solidFill>
                <a:srgbClr val="FF0000"/>
              </a:solidFill>
              <a:prstDash val="solid"/>
              <a:headEnd type="none" w="med" len="med"/>
              <a:tailEnd type="none" w="med" len="med"/>
            </a:ln>
          </p:spPr>
        </p:sp>
        <p:sp>
          <p:nvSpPr>
            <p:cNvPr id="27676" name="Line 55"/>
            <p:cNvSpPr/>
            <p:nvPr/>
          </p:nvSpPr>
          <p:spPr>
            <a:xfrm flipH="1" flipV="1">
              <a:off x="4043" y="1967"/>
              <a:ext cx="279" cy="131"/>
            </a:xfrm>
            <a:prstGeom prst="line">
              <a:avLst/>
            </a:prstGeom>
            <a:ln w="0" cap="flat" cmpd="sng">
              <a:solidFill>
                <a:srgbClr val="FF0000"/>
              </a:solidFill>
              <a:prstDash val="solid"/>
              <a:headEnd type="none" w="med" len="med"/>
              <a:tailEnd type="none" w="med" len="med"/>
            </a:ln>
          </p:spPr>
        </p:sp>
        <p:sp>
          <p:nvSpPr>
            <p:cNvPr id="27677" name="Oval 56"/>
            <p:cNvSpPr/>
            <p:nvPr/>
          </p:nvSpPr>
          <p:spPr>
            <a:xfrm>
              <a:off x="4322" y="2066"/>
              <a:ext cx="70" cy="65"/>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678" name="Line 57"/>
            <p:cNvSpPr/>
            <p:nvPr/>
          </p:nvSpPr>
          <p:spPr>
            <a:xfrm>
              <a:off x="4392" y="2098"/>
              <a:ext cx="158" cy="1"/>
            </a:xfrm>
            <a:prstGeom prst="line">
              <a:avLst/>
            </a:prstGeom>
            <a:ln w="0" cap="flat" cmpd="sng">
              <a:solidFill>
                <a:srgbClr val="FF0000"/>
              </a:solidFill>
              <a:prstDash val="solid"/>
              <a:headEnd type="none" w="med" len="med"/>
              <a:tailEnd type="none" w="med" len="med"/>
            </a:ln>
          </p:spPr>
        </p:sp>
        <p:sp>
          <p:nvSpPr>
            <p:cNvPr id="27679" name="Line 58"/>
            <p:cNvSpPr/>
            <p:nvPr/>
          </p:nvSpPr>
          <p:spPr>
            <a:xfrm>
              <a:off x="3903" y="2098"/>
              <a:ext cx="140" cy="1"/>
            </a:xfrm>
            <a:prstGeom prst="line">
              <a:avLst/>
            </a:prstGeom>
            <a:ln w="0" cap="flat" cmpd="sng">
              <a:solidFill>
                <a:srgbClr val="FF0000"/>
              </a:solidFill>
              <a:prstDash val="solid"/>
              <a:headEnd type="none" w="med" len="med"/>
              <a:tailEnd type="none" w="med" len="med"/>
            </a:ln>
          </p:spPr>
        </p:sp>
        <p:sp>
          <p:nvSpPr>
            <p:cNvPr id="27680" name="Line 59"/>
            <p:cNvSpPr/>
            <p:nvPr/>
          </p:nvSpPr>
          <p:spPr>
            <a:xfrm>
              <a:off x="3897" y="2098"/>
              <a:ext cx="1" cy="181"/>
            </a:xfrm>
            <a:prstGeom prst="line">
              <a:avLst/>
            </a:prstGeom>
            <a:ln w="0" cap="flat" cmpd="sng">
              <a:solidFill>
                <a:srgbClr val="FF0000"/>
              </a:solidFill>
              <a:prstDash val="solid"/>
              <a:headEnd type="none" w="med" len="med"/>
              <a:tailEnd type="none" w="med" len="med"/>
            </a:ln>
          </p:spPr>
        </p:sp>
        <p:sp>
          <p:nvSpPr>
            <p:cNvPr id="27681" name="Line 60"/>
            <p:cNvSpPr/>
            <p:nvPr/>
          </p:nvSpPr>
          <p:spPr>
            <a:xfrm flipH="1">
              <a:off x="3757" y="2279"/>
              <a:ext cx="140" cy="1"/>
            </a:xfrm>
            <a:prstGeom prst="line">
              <a:avLst/>
            </a:prstGeom>
            <a:ln w="0" cap="flat" cmpd="sng">
              <a:solidFill>
                <a:srgbClr val="0000FF"/>
              </a:solidFill>
              <a:prstDash val="solid"/>
              <a:headEnd type="none" w="med" len="med"/>
              <a:tailEnd type="none" w="med" len="med"/>
            </a:ln>
          </p:spPr>
        </p:sp>
        <p:sp>
          <p:nvSpPr>
            <p:cNvPr id="27682" name="Line 61"/>
            <p:cNvSpPr/>
            <p:nvPr/>
          </p:nvSpPr>
          <p:spPr>
            <a:xfrm>
              <a:off x="4043" y="2624"/>
              <a:ext cx="1" cy="262"/>
            </a:xfrm>
            <a:prstGeom prst="line">
              <a:avLst/>
            </a:prstGeom>
            <a:ln w="0" cap="flat" cmpd="sng">
              <a:solidFill>
                <a:srgbClr val="FF0000"/>
              </a:solidFill>
              <a:prstDash val="solid"/>
              <a:headEnd type="none" w="med" len="med"/>
              <a:tailEnd type="none" w="med" len="med"/>
            </a:ln>
          </p:spPr>
        </p:sp>
        <p:sp>
          <p:nvSpPr>
            <p:cNvPr id="27683" name="Line 62"/>
            <p:cNvSpPr/>
            <p:nvPr/>
          </p:nvSpPr>
          <p:spPr>
            <a:xfrm flipV="1">
              <a:off x="4043" y="2755"/>
              <a:ext cx="279" cy="131"/>
            </a:xfrm>
            <a:prstGeom prst="line">
              <a:avLst/>
            </a:prstGeom>
            <a:ln w="0" cap="flat" cmpd="sng">
              <a:solidFill>
                <a:srgbClr val="FF0000"/>
              </a:solidFill>
              <a:prstDash val="solid"/>
              <a:headEnd type="none" w="med" len="med"/>
              <a:tailEnd type="none" w="med" len="med"/>
            </a:ln>
          </p:spPr>
        </p:sp>
        <p:sp>
          <p:nvSpPr>
            <p:cNvPr id="27684" name="Line 63"/>
            <p:cNvSpPr/>
            <p:nvPr/>
          </p:nvSpPr>
          <p:spPr>
            <a:xfrm flipH="1" flipV="1">
              <a:off x="4043" y="2624"/>
              <a:ext cx="279" cy="131"/>
            </a:xfrm>
            <a:prstGeom prst="line">
              <a:avLst/>
            </a:prstGeom>
            <a:ln w="0" cap="flat" cmpd="sng">
              <a:solidFill>
                <a:srgbClr val="FF0000"/>
              </a:solidFill>
              <a:prstDash val="solid"/>
              <a:headEnd type="none" w="med" len="med"/>
              <a:tailEnd type="none" w="med" len="med"/>
            </a:ln>
          </p:spPr>
        </p:sp>
        <p:sp>
          <p:nvSpPr>
            <p:cNvPr id="27685" name="Oval 64"/>
            <p:cNvSpPr/>
            <p:nvPr/>
          </p:nvSpPr>
          <p:spPr>
            <a:xfrm>
              <a:off x="4322" y="2722"/>
              <a:ext cx="70" cy="66"/>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686" name="Line 65"/>
            <p:cNvSpPr/>
            <p:nvPr/>
          </p:nvSpPr>
          <p:spPr>
            <a:xfrm>
              <a:off x="4386" y="2755"/>
              <a:ext cx="158" cy="1"/>
            </a:xfrm>
            <a:prstGeom prst="line">
              <a:avLst/>
            </a:prstGeom>
            <a:ln w="0" cap="flat" cmpd="sng">
              <a:solidFill>
                <a:srgbClr val="FF0000"/>
              </a:solidFill>
              <a:prstDash val="solid"/>
              <a:headEnd type="none" w="med" len="med"/>
              <a:tailEnd type="none" w="med" len="med"/>
            </a:ln>
          </p:spPr>
        </p:sp>
        <p:sp>
          <p:nvSpPr>
            <p:cNvPr id="27687" name="Line 66"/>
            <p:cNvSpPr/>
            <p:nvPr/>
          </p:nvSpPr>
          <p:spPr>
            <a:xfrm>
              <a:off x="3903" y="2755"/>
              <a:ext cx="140" cy="1"/>
            </a:xfrm>
            <a:prstGeom prst="line">
              <a:avLst/>
            </a:prstGeom>
            <a:ln w="0" cap="flat" cmpd="sng">
              <a:solidFill>
                <a:srgbClr val="FF0000"/>
              </a:solidFill>
              <a:prstDash val="solid"/>
              <a:headEnd type="none" w="med" len="med"/>
              <a:tailEnd type="none" w="med" len="med"/>
            </a:ln>
          </p:spPr>
        </p:sp>
        <p:sp>
          <p:nvSpPr>
            <p:cNvPr id="27688" name="Line 67"/>
            <p:cNvSpPr/>
            <p:nvPr/>
          </p:nvSpPr>
          <p:spPr>
            <a:xfrm flipV="1">
              <a:off x="3897" y="2591"/>
              <a:ext cx="1" cy="164"/>
            </a:xfrm>
            <a:prstGeom prst="line">
              <a:avLst/>
            </a:prstGeom>
            <a:ln w="0" cap="flat" cmpd="sng">
              <a:solidFill>
                <a:srgbClr val="FF0000"/>
              </a:solidFill>
              <a:prstDash val="solid"/>
              <a:headEnd type="none" w="med" len="med"/>
              <a:tailEnd type="none" w="med" len="med"/>
            </a:ln>
          </p:spPr>
        </p:sp>
        <p:sp>
          <p:nvSpPr>
            <p:cNvPr id="27689" name="Line 68"/>
            <p:cNvSpPr/>
            <p:nvPr/>
          </p:nvSpPr>
          <p:spPr>
            <a:xfrm flipH="1">
              <a:off x="3757" y="2591"/>
              <a:ext cx="140" cy="1"/>
            </a:xfrm>
            <a:prstGeom prst="line">
              <a:avLst/>
            </a:prstGeom>
            <a:ln w="0" cap="flat" cmpd="sng">
              <a:solidFill>
                <a:srgbClr val="FF0000"/>
              </a:solidFill>
              <a:prstDash val="solid"/>
              <a:headEnd type="none" w="med" len="med"/>
              <a:tailEnd type="none" w="med" len="med"/>
            </a:ln>
          </p:spPr>
        </p:sp>
        <p:sp>
          <p:nvSpPr>
            <p:cNvPr id="27690" name="Line 69"/>
            <p:cNvSpPr/>
            <p:nvPr/>
          </p:nvSpPr>
          <p:spPr>
            <a:xfrm>
              <a:off x="4037" y="3281"/>
              <a:ext cx="1" cy="262"/>
            </a:xfrm>
            <a:prstGeom prst="line">
              <a:avLst/>
            </a:prstGeom>
            <a:ln w="0" cap="flat" cmpd="sng">
              <a:solidFill>
                <a:srgbClr val="FF0000"/>
              </a:solidFill>
              <a:prstDash val="solid"/>
              <a:headEnd type="none" w="med" len="med"/>
              <a:tailEnd type="none" w="med" len="med"/>
            </a:ln>
          </p:spPr>
        </p:sp>
        <p:sp>
          <p:nvSpPr>
            <p:cNvPr id="27691" name="Line 70"/>
            <p:cNvSpPr/>
            <p:nvPr/>
          </p:nvSpPr>
          <p:spPr>
            <a:xfrm flipV="1">
              <a:off x="4037" y="3412"/>
              <a:ext cx="280" cy="131"/>
            </a:xfrm>
            <a:prstGeom prst="line">
              <a:avLst/>
            </a:prstGeom>
            <a:ln w="0" cap="flat" cmpd="sng">
              <a:solidFill>
                <a:srgbClr val="FF0000"/>
              </a:solidFill>
              <a:prstDash val="solid"/>
              <a:headEnd type="none" w="med" len="med"/>
              <a:tailEnd type="none" w="med" len="med"/>
            </a:ln>
          </p:spPr>
        </p:sp>
        <p:sp>
          <p:nvSpPr>
            <p:cNvPr id="27692" name="Line 71"/>
            <p:cNvSpPr/>
            <p:nvPr/>
          </p:nvSpPr>
          <p:spPr>
            <a:xfrm flipH="1" flipV="1">
              <a:off x="4037" y="3281"/>
              <a:ext cx="280" cy="131"/>
            </a:xfrm>
            <a:prstGeom prst="line">
              <a:avLst/>
            </a:prstGeom>
            <a:ln w="0" cap="flat" cmpd="sng">
              <a:solidFill>
                <a:srgbClr val="FF0000"/>
              </a:solidFill>
              <a:prstDash val="solid"/>
              <a:headEnd type="none" w="med" len="med"/>
              <a:tailEnd type="none" w="med" len="med"/>
            </a:ln>
          </p:spPr>
        </p:sp>
        <p:sp>
          <p:nvSpPr>
            <p:cNvPr id="27693" name="Oval 72"/>
            <p:cNvSpPr/>
            <p:nvPr/>
          </p:nvSpPr>
          <p:spPr>
            <a:xfrm>
              <a:off x="4317" y="3379"/>
              <a:ext cx="69" cy="66"/>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694" name="Line 73"/>
            <p:cNvSpPr/>
            <p:nvPr/>
          </p:nvSpPr>
          <p:spPr>
            <a:xfrm>
              <a:off x="4389" y="3412"/>
              <a:ext cx="137" cy="1"/>
            </a:xfrm>
            <a:prstGeom prst="line">
              <a:avLst/>
            </a:prstGeom>
            <a:ln w="0" cap="flat" cmpd="sng">
              <a:solidFill>
                <a:srgbClr val="FF0000"/>
              </a:solidFill>
              <a:prstDash val="solid"/>
              <a:headEnd type="none" w="med" len="med"/>
              <a:tailEnd type="none" w="med" len="med"/>
            </a:ln>
          </p:spPr>
        </p:sp>
        <p:sp>
          <p:nvSpPr>
            <p:cNvPr id="27695" name="Line 74"/>
            <p:cNvSpPr/>
            <p:nvPr/>
          </p:nvSpPr>
          <p:spPr>
            <a:xfrm>
              <a:off x="3897" y="3412"/>
              <a:ext cx="140" cy="1"/>
            </a:xfrm>
            <a:prstGeom prst="line">
              <a:avLst/>
            </a:prstGeom>
            <a:ln w="0" cap="flat" cmpd="sng">
              <a:solidFill>
                <a:srgbClr val="FF0000"/>
              </a:solidFill>
              <a:prstDash val="solid"/>
              <a:headEnd type="none" w="med" len="med"/>
              <a:tailEnd type="none" w="med" len="med"/>
            </a:ln>
          </p:spPr>
        </p:sp>
        <p:sp>
          <p:nvSpPr>
            <p:cNvPr id="27696" name="Line 75"/>
            <p:cNvSpPr/>
            <p:nvPr/>
          </p:nvSpPr>
          <p:spPr>
            <a:xfrm flipV="1">
              <a:off x="3897" y="2919"/>
              <a:ext cx="1" cy="493"/>
            </a:xfrm>
            <a:prstGeom prst="line">
              <a:avLst/>
            </a:prstGeom>
            <a:ln w="0" cap="flat" cmpd="sng">
              <a:solidFill>
                <a:srgbClr val="FF0000"/>
              </a:solidFill>
              <a:prstDash val="solid"/>
              <a:headEnd type="none" w="med" len="med"/>
              <a:tailEnd type="none" w="med" len="med"/>
            </a:ln>
          </p:spPr>
        </p:sp>
        <p:sp>
          <p:nvSpPr>
            <p:cNvPr id="27697" name="Line 76"/>
            <p:cNvSpPr/>
            <p:nvPr/>
          </p:nvSpPr>
          <p:spPr>
            <a:xfrm flipH="1">
              <a:off x="3757" y="2919"/>
              <a:ext cx="140" cy="1"/>
            </a:xfrm>
            <a:prstGeom prst="line">
              <a:avLst/>
            </a:prstGeom>
            <a:ln w="0" cap="flat" cmpd="sng">
              <a:solidFill>
                <a:srgbClr val="FF0000"/>
              </a:solidFill>
              <a:prstDash val="solid"/>
              <a:headEnd type="none" w="med" len="med"/>
              <a:tailEnd type="none" w="med" len="med"/>
            </a:ln>
          </p:spPr>
        </p:sp>
        <p:sp>
          <p:nvSpPr>
            <p:cNvPr id="27698" name="Line 77"/>
            <p:cNvSpPr/>
            <p:nvPr/>
          </p:nvSpPr>
          <p:spPr>
            <a:xfrm>
              <a:off x="4841" y="1261"/>
              <a:ext cx="154" cy="1"/>
            </a:xfrm>
            <a:prstGeom prst="line">
              <a:avLst/>
            </a:prstGeom>
            <a:ln w="0" cap="flat" cmpd="sng">
              <a:solidFill>
                <a:srgbClr val="0000FF"/>
              </a:solidFill>
              <a:prstDash val="solid"/>
              <a:headEnd type="none" w="med" len="med"/>
              <a:tailEnd type="none" w="med" len="med"/>
            </a:ln>
          </p:spPr>
        </p:sp>
        <p:sp>
          <p:nvSpPr>
            <p:cNvPr id="27699" name="Line 78"/>
            <p:cNvSpPr/>
            <p:nvPr/>
          </p:nvSpPr>
          <p:spPr>
            <a:xfrm>
              <a:off x="4841" y="1589"/>
              <a:ext cx="154" cy="1"/>
            </a:xfrm>
            <a:prstGeom prst="line">
              <a:avLst/>
            </a:prstGeom>
            <a:ln w="0" cap="flat" cmpd="sng">
              <a:solidFill>
                <a:srgbClr val="FF0000"/>
              </a:solidFill>
              <a:prstDash val="solid"/>
              <a:headEnd type="none" w="med" len="med"/>
              <a:tailEnd type="none" w="med" len="med"/>
            </a:ln>
          </p:spPr>
        </p:sp>
        <p:sp>
          <p:nvSpPr>
            <p:cNvPr id="27700" name="Line 79"/>
            <p:cNvSpPr/>
            <p:nvPr/>
          </p:nvSpPr>
          <p:spPr>
            <a:xfrm>
              <a:off x="4858" y="1934"/>
              <a:ext cx="137" cy="1"/>
            </a:xfrm>
            <a:prstGeom prst="line">
              <a:avLst/>
            </a:prstGeom>
            <a:ln w="0" cap="flat" cmpd="sng">
              <a:solidFill>
                <a:srgbClr val="0000FF"/>
              </a:solidFill>
              <a:prstDash val="solid"/>
              <a:headEnd type="none" w="med" len="med"/>
              <a:tailEnd type="none" w="med" len="med"/>
            </a:ln>
          </p:spPr>
        </p:sp>
        <p:sp>
          <p:nvSpPr>
            <p:cNvPr id="27701" name="Line 80"/>
            <p:cNvSpPr/>
            <p:nvPr/>
          </p:nvSpPr>
          <p:spPr>
            <a:xfrm>
              <a:off x="4858" y="2263"/>
              <a:ext cx="137" cy="1"/>
            </a:xfrm>
            <a:prstGeom prst="line">
              <a:avLst/>
            </a:prstGeom>
            <a:ln w="0" cap="flat" cmpd="sng">
              <a:solidFill>
                <a:srgbClr val="FF0000"/>
              </a:solidFill>
              <a:prstDash val="solid"/>
              <a:headEnd type="none" w="med" len="med"/>
              <a:tailEnd type="none" w="med" len="med"/>
            </a:ln>
          </p:spPr>
        </p:sp>
        <p:sp>
          <p:nvSpPr>
            <p:cNvPr id="27702" name="Line 81"/>
            <p:cNvSpPr/>
            <p:nvPr/>
          </p:nvSpPr>
          <p:spPr>
            <a:xfrm>
              <a:off x="4841" y="2585"/>
              <a:ext cx="154" cy="1"/>
            </a:xfrm>
            <a:prstGeom prst="line">
              <a:avLst/>
            </a:prstGeom>
            <a:ln w="0" cap="flat" cmpd="sng">
              <a:solidFill>
                <a:srgbClr val="0000FF"/>
              </a:solidFill>
              <a:prstDash val="solid"/>
              <a:headEnd type="none" w="med" len="med"/>
              <a:tailEnd type="none" w="med" len="med"/>
            </a:ln>
          </p:spPr>
        </p:sp>
        <p:sp>
          <p:nvSpPr>
            <p:cNvPr id="27703" name="Line 82"/>
            <p:cNvSpPr/>
            <p:nvPr/>
          </p:nvSpPr>
          <p:spPr>
            <a:xfrm>
              <a:off x="4858" y="2919"/>
              <a:ext cx="134" cy="1"/>
            </a:xfrm>
            <a:prstGeom prst="line">
              <a:avLst/>
            </a:prstGeom>
            <a:ln w="0" cap="flat" cmpd="sng">
              <a:solidFill>
                <a:srgbClr val="FF0000"/>
              </a:solidFill>
              <a:prstDash val="solid"/>
              <a:headEnd type="none" w="med" len="med"/>
              <a:tailEnd type="none" w="med" len="med"/>
            </a:ln>
          </p:spPr>
        </p:sp>
        <p:sp>
          <p:nvSpPr>
            <p:cNvPr id="27704" name="Line 83"/>
            <p:cNvSpPr/>
            <p:nvPr/>
          </p:nvSpPr>
          <p:spPr>
            <a:xfrm>
              <a:off x="4858" y="3254"/>
              <a:ext cx="134" cy="1"/>
            </a:xfrm>
            <a:prstGeom prst="line">
              <a:avLst/>
            </a:prstGeom>
            <a:ln w="0" cap="flat" cmpd="sng">
              <a:solidFill>
                <a:srgbClr val="0000FF"/>
              </a:solidFill>
              <a:prstDash val="solid"/>
              <a:headEnd type="none" w="med" len="med"/>
              <a:tailEnd type="none" w="med" len="med"/>
            </a:ln>
          </p:spPr>
        </p:sp>
        <p:sp>
          <p:nvSpPr>
            <p:cNvPr id="27705" name="Line 84"/>
            <p:cNvSpPr/>
            <p:nvPr/>
          </p:nvSpPr>
          <p:spPr>
            <a:xfrm>
              <a:off x="4858" y="3592"/>
              <a:ext cx="134" cy="1"/>
            </a:xfrm>
            <a:prstGeom prst="line">
              <a:avLst/>
            </a:prstGeom>
            <a:ln w="0" cap="flat" cmpd="sng">
              <a:solidFill>
                <a:srgbClr val="FF0000"/>
              </a:solidFill>
              <a:prstDash val="solid"/>
              <a:headEnd type="none" w="med" len="med"/>
              <a:tailEnd type="none" w="med" len="med"/>
            </a:ln>
          </p:spPr>
        </p:sp>
        <p:sp>
          <p:nvSpPr>
            <p:cNvPr id="27706" name="Oval 85"/>
            <p:cNvSpPr/>
            <p:nvPr/>
          </p:nvSpPr>
          <p:spPr>
            <a:xfrm>
              <a:off x="4771" y="1228"/>
              <a:ext cx="70"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07" name="Oval 86"/>
            <p:cNvSpPr/>
            <p:nvPr/>
          </p:nvSpPr>
          <p:spPr>
            <a:xfrm>
              <a:off x="4771" y="1557"/>
              <a:ext cx="70" cy="65"/>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08" name="Oval 87"/>
            <p:cNvSpPr/>
            <p:nvPr/>
          </p:nvSpPr>
          <p:spPr>
            <a:xfrm>
              <a:off x="4788" y="1901"/>
              <a:ext cx="70"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09" name="Oval 88"/>
            <p:cNvSpPr/>
            <p:nvPr/>
          </p:nvSpPr>
          <p:spPr>
            <a:xfrm>
              <a:off x="4788" y="2230"/>
              <a:ext cx="70" cy="65"/>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10" name="Oval 89"/>
            <p:cNvSpPr/>
            <p:nvPr/>
          </p:nvSpPr>
          <p:spPr>
            <a:xfrm>
              <a:off x="4771" y="2552"/>
              <a:ext cx="70"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11" name="Oval 90"/>
            <p:cNvSpPr/>
            <p:nvPr/>
          </p:nvSpPr>
          <p:spPr>
            <a:xfrm>
              <a:off x="4788" y="2886"/>
              <a:ext cx="70" cy="66"/>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12" name="Oval 91"/>
            <p:cNvSpPr/>
            <p:nvPr/>
          </p:nvSpPr>
          <p:spPr>
            <a:xfrm>
              <a:off x="4788" y="3221"/>
              <a:ext cx="70" cy="6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13" name="Oval 92"/>
            <p:cNvSpPr/>
            <p:nvPr/>
          </p:nvSpPr>
          <p:spPr>
            <a:xfrm>
              <a:off x="4788" y="3560"/>
              <a:ext cx="70" cy="65"/>
            </a:xfrm>
            <a:prstGeom prst="ellipse">
              <a:avLst/>
            </a:prstGeom>
            <a:noFill/>
            <a:ln w="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14" name="Line 93"/>
            <p:cNvSpPr/>
            <p:nvPr/>
          </p:nvSpPr>
          <p:spPr>
            <a:xfrm flipH="1" flipV="1">
              <a:off x="4439" y="1376"/>
              <a:ext cx="332" cy="197"/>
            </a:xfrm>
            <a:prstGeom prst="line">
              <a:avLst/>
            </a:prstGeom>
            <a:ln w="0" cap="flat" cmpd="sng">
              <a:solidFill>
                <a:srgbClr val="FF0000"/>
              </a:solidFill>
              <a:prstDash val="solid"/>
              <a:headEnd type="none" w="med" len="med"/>
              <a:tailEnd type="none" w="med" len="med"/>
            </a:ln>
          </p:spPr>
        </p:sp>
        <p:sp>
          <p:nvSpPr>
            <p:cNvPr id="27715" name="Line 94"/>
            <p:cNvSpPr/>
            <p:nvPr/>
          </p:nvSpPr>
          <p:spPr>
            <a:xfrm flipH="1" flipV="1">
              <a:off x="4456" y="2049"/>
              <a:ext cx="332" cy="197"/>
            </a:xfrm>
            <a:prstGeom prst="line">
              <a:avLst/>
            </a:prstGeom>
            <a:ln w="0" cap="flat" cmpd="sng">
              <a:solidFill>
                <a:srgbClr val="FF0000"/>
              </a:solidFill>
              <a:prstDash val="solid"/>
              <a:headEnd type="none" w="med" len="med"/>
              <a:tailEnd type="none" w="med" len="med"/>
            </a:ln>
          </p:spPr>
        </p:sp>
        <p:sp>
          <p:nvSpPr>
            <p:cNvPr id="27716" name="Line 95"/>
            <p:cNvSpPr/>
            <p:nvPr/>
          </p:nvSpPr>
          <p:spPr>
            <a:xfrm flipH="1" flipV="1">
              <a:off x="4437" y="2693"/>
              <a:ext cx="355" cy="211"/>
            </a:xfrm>
            <a:prstGeom prst="line">
              <a:avLst/>
            </a:prstGeom>
            <a:ln w="0" cap="flat" cmpd="sng">
              <a:solidFill>
                <a:srgbClr val="FF0000"/>
              </a:solidFill>
              <a:prstDash val="solid"/>
              <a:headEnd type="none" w="med" len="med"/>
              <a:tailEnd type="none" w="med" len="med"/>
            </a:ln>
          </p:spPr>
        </p:sp>
        <p:sp>
          <p:nvSpPr>
            <p:cNvPr id="27717" name="Line 96"/>
            <p:cNvSpPr/>
            <p:nvPr/>
          </p:nvSpPr>
          <p:spPr>
            <a:xfrm flipH="1" flipV="1">
              <a:off x="4421" y="3346"/>
              <a:ext cx="370" cy="227"/>
            </a:xfrm>
            <a:prstGeom prst="line">
              <a:avLst/>
            </a:prstGeom>
            <a:ln w="0" cap="flat" cmpd="sng">
              <a:solidFill>
                <a:srgbClr val="FF0000"/>
              </a:solidFill>
              <a:prstDash val="solid"/>
              <a:headEnd type="none" w="med" len="med"/>
              <a:tailEnd type="none" w="med" len="med"/>
            </a:ln>
          </p:spPr>
        </p:sp>
        <p:sp>
          <p:nvSpPr>
            <p:cNvPr id="27718" name="Rectangle 97"/>
            <p:cNvSpPr/>
            <p:nvPr/>
          </p:nvSpPr>
          <p:spPr>
            <a:xfrm>
              <a:off x="3591" y="1212"/>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7719" name="Rectangle 98"/>
            <p:cNvSpPr/>
            <p:nvPr/>
          </p:nvSpPr>
          <p:spPr>
            <a:xfrm>
              <a:off x="3574" y="1524"/>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7720" name="Rectangle 99"/>
            <p:cNvSpPr/>
            <p:nvPr/>
          </p:nvSpPr>
          <p:spPr>
            <a:xfrm>
              <a:off x="3574" y="1869"/>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27721" name="Rectangle 100"/>
            <p:cNvSpPr/>
            <p:nvPr/>
          </p:nvSpPr>
          <p:spPr>
            <a:xfrm>
              <a:off x="3574" y="2197"/>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27722" name="Rectangle 101"/>
            <p:cNvSpPr/>
            <p:nvPr/>
          </p:nvSpPr>
          <p:spPr>
            <a:xfrm>
              <a:off x="3591" y="2525"/>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27723" name="Rectangle 102"/>
            <p:cNvSpPr/>
            <p:nvPr/>
          </p:nvSpPr>
          <p:spPr>
            <a:xfrm>
              <a:off x="3574" y="2854"/>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27724" name="Rectangle 103"/>
            <p:cNvSpPr/>
            <p:nvPr/>
          </p:nvSpPr>
          <p:spPr>
            <a:xfrm>
              <a:off x="3574" y="3182"/>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27725" name="Rectangle 104"/>
            <p:cNvSpPr/>
            <p:nvPr/>
          </p:nvSpPr>
          <p:spPr>
            <a:xfrm>
              <a:off x="3574" y="3510"/>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27726" name="Rectangle 105"/>
            <p:cNvSpPr/>
            <p:nvPr/>
          </p:nvSpPr>
          <p:spPr>
            <a:xfrm>
              <a:off x="5095" y="3510"/>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27727" name="Rectangle 106"/>
            <p:cNvSpPr/>
            <p:nvPr/>
          </p:nvSpPr>
          <p:spPr>
            <a:xfrm>
              <a:off x="5060" y="3166"/>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27728" name="Rectangle 107"/>
            <p:cNvSpPr/>
            <p:nvPr/>
          </p:nvSpPr>
          <p:spPr>
            <a:xfrm>
              <a:off x="5078" y="2854"/>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7729" name="Rectangle 108"/>
            <p:cNvSpPr/>
            <p:nvPr/>
          </p:nvSpPr>
          <p:spPr>
            <a:xfrm>
              <a:off x="5078" y="2525"/>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27730" name="Rectangle 109"/>
            <p:cNvSpPr/>
            <p:nvPr/>
          </p:nvSpPr>
          <p:spPr>
            <a:xfrm>
              <a:off x="5078" y="2197"/>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27731" name="Rectangle 110"/>
            <p:cNvSpPr/>
            <p:nvPr/>
          </p:nvSpPr>
          <p:spPr>
            <a:xfrm>
              <a:off x="5078" y="1852"/>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27732" name="Rectangle 111"/>
            <p:cNvSpPr/>
            <p:nvPr/>
          </p:nvSpPr>
          <p:spPr>
            <a:xfrm>
              <a:off x="5095" y="1540"/>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27733" name="Rectangle 112"/>
            <p:cNvSpPr/>
            <p:nvPr/>
          </p:nvSpPr>
          <p:spPr>
            <a:xfrm>
              <a:off x="5078" y="1212"/>
              <a:ext cx="128"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grpSp>
          <p:nvGrpSpPr>
            <p:cNvPr id="27734" name="Group 115"/>
            <p:cNvGrpSpPr/>
            <p:nvPr/>
          </p:nvGrpSpPr>
          <p:grpSpPr>
            <a:xfrm>
              <a:off x="5358" y="1179"/>
              <a:ext cx="186" cy="190"/>
              <a:chOff x="2492" y="765"/>
              <a:chExt cx="186" cy="190"/>
            </a:xfrm>
          </p:grpSpPr>
          <p:sp>
            <p:nvSpPr>
              <p:cNvPr id="27786" name="Rectangle 113"/>
              <p:cNvSpPr/>
              <p:nvPr/>
            </p:nvSpPr>
            <p:spPr>
              <a:xfrm>
                <a:off x="2492" y="765"/>
                <a:ext cx="98"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7787" name="Rectangle 114"/>
              <p:cNvSpPr/>
              <p:nvPr/>
            </p:nvSpPr>
            <p:spPr>
              <a:xfrm>
                <a:off x="2614" y="814"/>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grpSp>
          <p:nvGrpSpPr>
            <p:cNvPr id="27735" name="Group 118"/>
            <p:cNvGrpSpPr/>
            <p:nvPr/>
          </p:nvGrpSpPr>
          <p:grpSpPr>
            <a:xfrm>
              <a:off x="5358" y="1819"/>
              <a:ext cx="186" cy="190"/>
              <a:chOff x="2492" y="1405"/>
              <a:chExt cx="186" cy="190"/>
            </a:xfrm>
          </p:grpSpPr>
          <p:sp>
            <p:nvSpPr>
              <p:cNvPr id="27784" name="Rectangle 116"/>
              <p:cNvSpPr/>
              <p:nvPr/>
            </p:nvSpPr>
            <p:spPr>
              <a:xfrm>
                <a:off x="2492" y="1405"/>
                <a:ext cx="98"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7785" name="Rectangle 117"/>
              <p:cNvSpPr/>
              <p:nvPr/>
            </p:nvSpPr>
            <p:spPr>
              <a:xfrm>
                <a:off x="2614" y="1455"/>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grpSp>
        <p:grpSp>
          <p:nvGrpSpPr>
            <p:cNvPr id="27736" name="Group 121"/>
            <p:cNvGrpSpPr/>
            <p:nvPr/>
          </p:nvGrpSpPr>
          <p:grpSpPr>
            <a:xfrm>
              <a:off x="5375" y="2476"/>
              <a:ext cx="186" cy="190"/>
              <a:chOff x="2509" y="2062"/>
              <a:chExt cx="186" cy="190"/>
            </a:xfrm>
          </p:grpSpPr>
          <p:sp>
            <p:nvSpPr>
              <p:cNvPr id="27782" name="Rectangle 119"/>
              <p:cNvSpPr/>
              <p:nvPr/>
            </p:nvSpPr>
            <p:spPr>
              <a:xfrm>
                <a:off x="2509" y="2062"/>
                <a:ext cx="98"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7783" name="Rectangle 120"/>
              <p:cNvSpPr/>
              <p:nvPr/>
            </p:nvSpPr>
            <p:spPr>
              <a:xfrm>
                <a:off x="2631" y="211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grpSp>
        <p:grpSp>
          <p:nvGrpSpPr>
            <p:cNvPr id="27737" name="Group 124"/>
            <p:cNvGrpSpPr/>
            <p:nvPr/>
          </p:nvGrpSpPr>
          <p:grpSpPr>
            <a:xfrm>
              <a:off x="5375" y="3133"/>
              <a:ext cx="186" cy="190"/>
              <a:chOff x="2509" y="2719"/>
              <a:chExt cx="186" cy="190"/>
            </a:xfrm>
          </p:grpSpPr>
          <p:sp>
            <p:nvSpPr>
              <p:cNvPr id="27780" name="Rectangle 122"/>
              <p:cNvSpPr/>
              <p:nvPr/>
            </p:nvSpPr>
            <p:spPr>
              <a:xfrm>
                <a:off x="2509" y="2719"/>
                <a:ext cx="98"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7781" name="Rectangle 123"/>
              <p:cNvSpPr/>
              <p:nvPr/>
            </p:nvSpPr>
            <p:spPr>
              <a:xfrm>
                <a:off x="2631" y="2768"/>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grpSp>
        <p:grpSp>
          <p:nvGrpSpPr>
            <p:cNvPr id="27738" name="Group 127"/>
            <p:cNvGrpSpPr/>
            <p:nvPr/>
          </p:nvGrpSpPr>
          <p:grpSpPr>
            <a:xfrm>
              <a:off x="5358" y="1491"/>
              <a:ext cx="203" cy="190"/>
              <a:chOff x="2492" y="1077"/>
              <a:chExt cx="203" cy="190"/>
            </a:xfrm>
          </p:grpSpPr>
          <p:sp>
            <p:nvSpPr>
              <p:cNvPr id="27778" name="Rectangle 125"/>
              <p:cNvSpPr/>
              <p:nvPr/>
            </p:nvSpPr>
            <p:spPr>
              <a:xfrm>
                <a:off x="2492" y="1077"/>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D</a:t>
                </a:r>
                <a:endParaRPr lang="en-US" altLang="zh-CN" dirty="0">
                  <a:solidFill>
                    <a:srgbClr val="FF0000"/>
                  </a:solidFill>
                  <a:latin typeface="Times New Roman" panose="02020603050405020304" pitchFamily="18" charset="0"/>
                </a:endParaRPr>
              </a:p>
            </p:txBody>
          </p:sp>
          <p:sp>
            <p:nvSpPr>
              <p:cNvPr id="27779" name="Rectangle 126"/>
              <p:cNvSpPr/>
              <p:nvPr/>
            </p:nvSpPr>
            <p:spPr>
              <a:xfrm>
                <a:off x="2631" y="1126"/>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grpSp>
        <p:grpSp>
          <p:nvGrpSpPr>
            <p:cNvPr id="27739" name="Group 130"/>
            <p:cNvGrpSpPr/>
            <p:nvPr/>
          </p:nvGrpSpPr>
          <p:grpSpPr>
            <a:xfrm>
              <a:off x="3172" y="1803"/>
              <a:ext cx="204" cy="190"/>
              <a:chOff x="316" y="1389"/>
              <a:chExt cx="204" cy="190"/>
            </a:xfrm>
          </p:grpSpPr>
          <p:sp>
            <p:nvSpPr>
              <p:cNvPr id="27776" name="Rectangle 128"/>
              <p:cNvSpPr/>
              <p:nvPr/>
            </p:nvSpPr>
            <p:spPr>
              <a:xfrm>
                <a:off x="316" y="1389"/>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7777" name="Rectangle 129"/>
              <p:cNvSpPr/>
              <p:nvPr/>
            </p:nvSpPr>
            <p:spPr>
              <a:xfrm>
                <a:off x="456" y="1438"/>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a:t>
                </a:r>
                <a:endParaRPr lang="en-US" altLang="zh-CN" dirty="0">
                  <a:solidFill>
                    <a:srgbClr val="FF0000"/>
                  </a:solidFill>
                  <a:latin typeface="Times New Roman" panose="02020603050405020304" pitchFamily="18" charset="0"/>
                </a:endParaRPr>
              </a:p>
            </p:txBody>
          </p:sp>
        </p:grpSp>
        <p:grpSp>
          <p:nvGrpSpPr>
            <p:cNvPr id="27740" name="Group 133"/>
            <p:cNvGrpSpPr/>
            <p:nvPr/>
          </p:nvGrpSpPr>
          <p:grpSpPr>
            <a:xfrm>
              <a:off x="3155" y="2148"/>
              <a:ext cx="203" cy="190"/>
              <a:chOff x="299" y="1734"/>
              <a:chExt cx="203" cy="190"/>
            </a:xfrm>
          </p:grpSpPr>
          <p:sp>
            <p:nvSpPr>
              <p:cNvPr id="27774" name="Rectangle 131"/>
              <p:cNvSpPr/>
              <p:nvPr/>
            </p:nvSpPr>
            <p:spPr>
              <a:xfrm>
                <a:off x="299" y="1734"/>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7775" name="Rectangle 132"/>
              <p:cNvSpPr/>
              <p:nvPr/>
            </p:nvSpPr>
            <p:spPr>
              <a:xfrm>
                <a:off x="438" y="1783"/>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2</a:t>
                </a:r>
                <a:endParaRPr lang="en-US" altLang="zh-CN" dirty="0">
                  <a:solidFill>
                    <a:srgbClr val="FF0000"/>
                  </a:solidFill>
                  <a:latin typeface="Times New Roman" panose="02020603050405020304" pitchFamily="18" charset="0"/>
                </a:endParaRPr>
              </a:p>
            </p:txBody>
          </p:sp>
        </p:grpSp>
        <p:grpSp>
          <p:nvGrpSpPr>
            <p:cNvPr id="27741" name="Group 136"/>
            <p:cNvGrpSpPr/>
            <p:nvPr/>
          </p:nvGrpSpPr>
          <p:grpSpPr>
            <a:xfrm>
              <a:off x="5358" y="2148"/>
              <a:ext cx="203" cy="190"/>
              <a:chOff x="2492" y="1734"/>
              <a:chExt cx="203" cy="190"/>
            </a:xfrm>
          </p:grpSpPr>
          <p:sp>
            <p:nvSpPr>
              <p:cNvPr id="27772" name="Rectangle 134"/>
              <p:cNvSpPr/>
              <p:nvPr/>
            </p:nvSpPr>
            <p:spPr>
              <a:xfrm>
                <a:off x="2492" y="1734"/>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D</a:t>
                </a:r>
                <a:endParaRPr lang="en-US" altLang="zh-CN" dirty="0">
                  <a:solidFill>
                    <a:srgbClr val="FF0000"/>
                  </a:solidFill>
                  <a:latin typeface="Times New Roman" panose="02020603050405020304" pitchFamily="18" charset="0"/>
                </a:endParaRPr>
              </a:p>
            </p:txBody>
          </p:sp>
          <p:sp>
            <p:nvSpPr>
              <p:cNvPr id="27773" name="Rectangle 135"/>
              <p:cNvSpPr/>
              <p:nvPr/>
            </p:nvSpPr>
            <p:spPr>
              <a:xfrm>
                <a:off x="2631" y="1783"/>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2</a:t>
                </a:r>
                <a:endParaRPr lang="en-US" altLang="zh-CN" dirty="0">
                  <a:solidFill>
                    <a:srgbClr val="FF0000"/>
                  </a:solidFill>
                  <a:latin typeface="Times New Roman" panose="02020603050405020304" pitchFamily="18" charset="0"/>
                </a:endParaRPr>
              </a:p>
            </p:txBody>
          </p:sp>
        </p:grpSp>
        <p:grpSp>
          <p:nvGrpSpPr>
            <p:cNvPr id="27742" name="Group 139"/>
            <p:cNvGrpSpPr/>
            <p:nvPr/>
          </p:nvGrpSpPr>
          <p:grpSpPr>
            <a:xfrm>
              <a:off x="5375" y="2804"/>
              <a:ext cx="204" cy="205"/>
              <a:chOff x="2509" y="2390"/>
              <a:chExt cx="204" cy="205"/>
            </a:xfrm>
          </p:grpSpPr>
          <p:sp>
            <p:nvSpPr>
              <p:cNvPr id="27770" name="Rectangle 137"/>
              <p:cNvSpPr/>
              <p:nvPr/>
            </p:nvSpPr>
            <p:spPr>
              <a:xfrm>
                <a:off x="2509" y="2390"/>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D</a:t>
                </a:r>
                <a:endParaRPr lang="en-US" altLang="zh-CN" dirty="0">
                  <a:solidFill>
                    <a:srgbClr val="FF0000"/>
                  </a:solidFill>
                  <a:latin typeface="Times New Roman" panose="02020603050405020304" pitchFamily="18" charset="0"/>
                </a:endParaRPr>
              </a:p>
            </p:txBody>
          </p:sp>
          <p:sp>
            <p:nvSpPr>
              <p:cNvPr id="27771" name="Rectangle 138"/>
              <p:cNvSpPr/>
              <p:nvPr/>
            </p:nvSpPr>
            <p:spPr>
              <a:xfrm>
                <a:off x="2649" y="2456"/>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3</a:t>
                </a:r>
                <a:endParaRPr lang="en-US" altLang="zh-CN" dirty="0">
                  <a:solidFill>
                    <a:srgbClr val="FF0000"/>
                  </a:solidFill>
                  <a:latin typeface="Times New Roman" panose="02020603050405020304" pitchFamily="18" charset="0"/>
                </a:endParaRPr>
              </a:p>
            </p:txBody>
          </p:sp>
        </p:grpSp>
        <p:grpSp>
          <p:nvGrpSpPr>
            <p:cNvPr id="27743" name="Group 142"/>
            <p:cNvGrpSpPr/>
            <p:nvPr/>
          </p:nvGrpSpPr>
          <p:grpSpPr>
            <a:xfrm>
              <a:off x="3155" y="2476"/>
              <a:ext cx="203" cy="190"/>
              <a:chOff x="299" y="2062"/>
              <a:chExt cx="203" cy="190"/>
            </a:xfrm>
          </p:grpSpPr>
          <p:sp>
            <p:nvSpPr>
              <p:cNvPr id="27768" name="Rectangle 140"/>
              <p:cNvSpPr/>
              <p:nvPr/>
            </p:nvSpPr>
            <p:spPr>
              <a:xfrm>
                <a:off x="299" y="2062"/>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7769" name="Rectangle 141"/>
              <p:cNvSpPr/>
              <p:nvPr/>
            </p:nvSpPr>
            <p:spPr>
              <a:xfrm>
                <a:off x="438" y="2111"/>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3</a:t>
                </a:r>
                <a:endParaRPr lang="en-US" altLang="zh-CN" dirty="0">
                  <a:solidFill>
                    <a:srgbClr val="FF0000"/>
                  </a:solidFill>
                  <a:latin typeface="Times New Roman" panose="02020603050405020304" pitchFamily="18" charset="0"/>
                </a:endParaRPr>
              </a:p>
            </p:txBody>
          </p:sp>
        </p:grpSp>
        <p:grpSp>
          <p:nvGrpSpPr>
            <p:cNvPr id="27744" name="Group 145"/>
            <p:cNvGrpSpPr/>
            <p:nvPr/>
          </p:nvGrpSpPr>
          <p:grpSpPr>
            <a:xfrm>
              <a:off x="5358" y="3461"/>
              <a:ext cx="203" cy="190"/>
              <a:chOff x="2492" y="3047"/>
              <a:chExt cx="203" cy="190"/>
            </a:xfrm>
          </p:grpSpPr>
          <p:sp>
            <p:nvSpPr>
              <p:cNvPr id="27766" name="Rectangle 143"/>
              <p:cNvSpPr/>
              <p:nvPr/>
            </p:nvSpPr>
            <p:spPr>
              <a:xfrm>
                <a:off x="2492" y="3047"/>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D</a:t>
                </a:r>
                <a:endParaRPr lang="en-US" altLang="zh-CN" dirty="0">
                  <a:solidFill>
                    <a:srgbClr val="FF0000"/>
                  </a:solidFill>
                  <a:latin typeface="Times New Roman" panose="02020603050405020304" pitchFamily="18" charset="0"/>
                </a:endParaRPr>
              </a:p>
            </p:txBody>
          </p:sp>
          <p:sp>
            <p:nvSpPr>
              <p:cNvPr id="27767" name="Rectangle 144"/>
              <p:cNvSpPr/>
              <p:nvPr/>
            </p:nvSpPr>
            <p:spPr>
              <a:xfrm>
                <a:off x="2631" y="3096"/>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4</a:t>
                </a:r>
                <a:endParaRPr lang="en-US" altLang="zh-CN" dirty="0">
                  <a:solidFill>
                    <a:srgbClr val="FF0000"/>
                  </a:solidFill>
                  <a:latin typeface="Times New Roman" panose="02020603050405020304" pitchFamily="18" charset="0"/>
                </a:endParaRPr>
              </a:p>
            </p:txBody>
          </p:sp>
        </p:grpSp>
        <p:grpSp>
          <p:nvGrpSpPr>
            <p:cNvPr id="27745" name="Group 148"/>
            <p:cNvGrpSpPr/>
            <p:nvPr/>
          </p:nvGrpSpPr>
          <p:grpSpPr>
            <a:xfrm>
              <a:off x="3172" y="2788"/>
              <a:ext cx="186" cy="190"/>
              <a:chOff x="316" y="2374"/>
              <a:chExt cx="186" cy="190"/>
            </a:xfrm>
          </p:grpSpPr>
          <p:sp>
            <p:nvSpPr>
              <p:cNvPr id="27764" name="Rectangle 146"/>
              <p:cNvSpPr/>
              <p:nvPr/>
            </p:nvSpPr>
            <p:spPr>
              <a:xfrm>
                <a:off x="316" y="2374"/>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7765" name="Rectangle 147"/>
              <p:cNvSpPr/>
              <p:nvPr/>
            </p:nvSpPr>
            <p:spPr>
              <a:xfrm>
                <a:off x="438" y="2423"/>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4</a:t>
                </a:r>
                <a:endParaRPr lang="en-US" altLang="zh-CN" dirty="0">
                  <a:solidFill>
                    <a:srgbClr val="FF0000"/>
                  </a:solidFill>
                  <a:latin typeface="Times New Roman" panose="02020603050405020304" pitchFamily="18" charset="0"/>
                </a:endParaRPr>
              </a:p>
            </p:txBody>
          </p:sp>
        </p:grpSp>
        <p:grpSp>
          <p:nvGrpSpPr>
            <p:cNvPr id="27746" name="Group 151"/>
            <p:cNvGrpSpPr/>
            <p:nvPr/>
          </p:nvGrpSpPr>
          <p:grpSpPr>
            <a:xfrm>
              <a:off x="3067" y="1146"/>
              <a:ext cx="282" cy="205"/>
              <a:chOff x="211" y="732"/>
              <a:chExt cx="282" cy="205"/>
            </a:xfrm>
          </p:grpSpPr>
          <p:sp>
            <p:nvSpPr>
              <p:cNvPr id="27762" name="Rectangle 149"/>
              <p:cNvSpPr/>
              <p:nvPr/>
            </p:nvSpPr>
            <p:spPr>
              <a:xfrm>
                <a:off x="211" y="732"/>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7763" name="Rectangle 150"/>
              <p:cNvSpPr/>
              <p:nvPr/>
            </p:nvSpPr>
            <p:spPr>
              <a:xfrm>
                <a:off x="351" y="798"/>
                <a:ext cx="14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SS</a:t>
                </a:r>
                <a:endParaRPr lang="en-US" altLang="zh-CN" dirty="0">
                  <a:latin typeface="Times New Roman" panose="02020603050405020304" pitchFamily="18" charset="0"/>
                </a:endParaRPr>
              </a:p>
            </p:txBody>
          </p:sp>
        </p:grpSp>
        <p:grpSp>
          <p:nvGrpSpPr>
            <p:cNvPr id="27747" name="Group 154"/>
            <p:cNvGrpSpPr/>
            <p:nvPr/>
          </p:nvGrpSpPr>
          <p:grpSpPr>
            <a:xfrm>
              <a:off x="3050" y="3445"/>
              <a:ext cx="306" cy="190"/>
              <a:chOff x="194" y="3031"/>
              <a:chExt cx="306" cy="190"/>
            </a:xfrm>
          </p:grpSpPr>
          <p:sp>
            <p:nvSpPr>
              <p:cNvPr id="27760" name="Rectangle 152"/>
              <p:cNvSpPr/>
              <p:nvPr/>
            </p:nvSpPr>
            <p:spPr>
              <a:xfrm>
                <a:off x="194" y="3031"/>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7761" name="Rectangle 153"/>
              <p:cNvSpPr/>
              <p:nvPr/>
            </p:nvSpPr>
            <p:spPr>
              <a:xfrm>
                <a:off x="316" y="3080"/>
                <a:ext cx="18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sp>
          <p:nvSpPr>
            <p:cNvPr id="27748" name="Rectangle 155"/>
            <p:cNvSpPr/>
            <p:nvPr/>
          </p:nvSpPr>
          <p:spPr>
            <a:xfrm>
              <a:off x="3032" y="1491"/>
              <a:ext cx="381"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GND</a:t>
              </a:r>
              <a:endParaRPr lang="en-US" altLang="zh-CN" dirty="0">
                <a:latin typeface="Times New Roman" panose="02020603050405020304" pitchFamily="18" charset="0"/>
              </a:endParaRPr>
            </a:p>
          </p:txBody>
        </p:sp>
        <p:grpSp>
          <p:nvGrpSpPr>
            <p:cNvPr id="27749" name="Group 158"/>
            <p:cNvGrpSpPr/>
            <p:nvPr/>
          </p:nvGrpSpPr>
          <p:grpSpPr>
            <a:xfrm>
              <a:off x="3137" y="3149"/>
              <a:ext cx="225" cy="205"/>
              <a:chOff x="281" y="2735"/>
              <a:chExt cx="225" cy="205"/>
            </a:xfrm>
          </p:grpSpPr>
          <p:sp>
            <p:nvSpPr>
              <p:cNvPr id="27758" name="Rectangle 156"/>
              <p:cNvSpPr/>
              <p:nvPr/>
            </p:nvSpPr>
            <p:spPr>
              <a:xfrm>
                <a:off x="281" y="2735"/>
                <a:ext cx="127"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N</a:t>
                </a:r>
                <a:endParaRPr lang="en-US" altLang="zh-CN" dirty="0">
                  <a:latin typeface="Times New Roman" panose="02020603050405020304" pitchFamily="18" charset="0"/>
                </a:endParaRPr>
              </a:p>
            </p:txBody>
          </p:sp>
          <p:sp>
            <p:nvSpPr>
              <p:cNvPr id="27759" name="Rectangle 157"/>
              <p:cNvSpPr/>
              <p:nvPr/>
            </p:nvSpPr>
            <p:spPr>
              <a:xfrm>
                <a:off x="421" y="2801"/>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grpSp>
        <p:sp>
          <p:nvSpPr>
            <p:cNvPr id="27750" name="Oval 159"/>
            <p:cNvSpPr/>
            <p:nvPr/>
          </p:nvSpPr>
          <p:spPr>
            <a:xfrm>
              <a:off x="4209" y="910"/>
              <a:ext cx="315" cy="27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7751" name="Rectangle 160"/>
            <p:cNvSpPr/>
            <p:nvPr/>
          </p:nvSpPr>
          <p:spPr>
            <a:xfrm>
              <a:off x="4177" y="890"/>
              <a:ext cx="384" cy="148"/>
            </a:xfrm>
            <a:prstGeom prst="rect">
              <a:avLst/>
            </a:prstGeom>
            <a:solidFill>
              <a:schemeClr val="bg1"/>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27752" name="Rectangle 161"/>
            <p:cNvSpPr/>
            <p:nvPr/>
          </p:nvSpPr>
          <p:spPr>
            <a:xfrm>
              <a:off x="4209" y="999"/>
              <a:ext cx="316" cy="53"/>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27753" name="Line 164"/>
            <p:cNvSpPr/>
            <p:nvPr/>
          </p:nvSpPr>
          <p:spPr>
            <a:xfrm flipH="1">
              <a:off x="4644" y="1290"/>
              <a:ext cx="140" cy="208"/>
            </a:xfrm>
            <a:prstGeom prst="line">
              <a:avLst/>
            </a:prstGeom>
            <a:ln w="6350" cap="flat" cmpd="sng">
              <a:solidFill>
                <a:schemeClr val="accent2"/>
              </a:solidFill>
              <a:prstDash val="lgDash"/>
              <a:headEnd type="none" w="med" len="med"/>
              <a:tailEnd type="none" w="med" len="med"/>
            </a:ln>
          </p:spPr>
        </p:sp>
        <p:sp>
          <p:nvSpPr>
            <p:cNvPr id="27754" name="Line 165"/>
            <p:cNvSpPr/>
            <p:nvPr/>
          </p:nvSpPr>
          <p:spPr>
            <a:xfrm flipH="1">
              <a:off x="4660" y="1963"/>
              <a:ext cx="140" cy="208"/>
            </a:xfrm>
            <a:prstGeom prst="line">
              <a:avLst/>
            </a:prstGeom>
            <a:ln w="6350" cap="flat" cmpd="sng">
              <a:solidFill>
                <a:schemeClr val="accent2"/>
              </a:solidFill>
              <a:prstDash val="lgDash"/>
              <a:headEnd type="none" w="med" len="med"/>
              <a:tailEnd type="none" w="med" len="med"/>
            </a:ln>
          </p:spPr>
        </p:sp>
        <p:sp>
          <p:nvSpPr>
            <p:cNvPr id="27755" name="Line 166"/>
            <p:cNvSpPr/>
            <p:nvPr/>
          </p:nvSpPr>
          <p:spPr>
            <a:xfrm flipH="1">
              <a:off x="4647" y="2612"/>
              <a:ext cx="140" cy="208"/>
            </a:xfrm>
            <a:prstGeom prst="line">
              <a:avLst/>
            </a:prstGeom>
            <a:ln w="6350" cap="flat" cmpd="sng">
              <a:solidFill>
                <a:schemeClr val="accent2"/>
              </a:solidFill>
              <a:prstDash val="lgDash"/>
              <a:headEnd type="none" w="med" len="med"/>
              <a:tailEnd type="none" w="med" len="med"/>
            </a:ln>
          </p:spPr>
        </p:sp>
        <p:sp>
          <p:nvSpPr>
            <p:cNvPr id="27756" name="Line 167"/>
            <p:cNvSpPr/>
            <p:nvPr/>
          </p:nvSpPr>
          <p:spPr>
            <a:xfrm flipH="1">
              <a:off x="4657" y="3280"/>
              <a:ext cx="140" cy="208"/>
            </a:xfrm>
            <a:prstGeom prst="line">
              <a:avLst/>
            </a:prstGeom>
            <a:ln w="6350" cap="flat" cmpd="sng">
              <a:solidFill>
                <a:schemeClr val="accent2"/>
              </a:solidFill>
              <a:prstDash val="lgDash"/>
              <a:headEnd type="none" w="med" len="med"/>
              <a:tailEnd type="none" w="med" len="med"/>
            </a:ln>
          </p:spPr>
        </p:sp>
        <p:sp>
          <p:nvSpPr>
            <p:cNvPr id="27757" name="Rectangle 171"/>
            <p:cNvSpPr/>
            <p:nvPr/>
          </p:nvSpPr>
          <p:spPr>
            <a:xfrm>
              <a:off x="4122" y="999"/>
              <a:ext cx="492" cy="44"/>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249901" name="Text Box 173"/>
          <p:cNvSpPr txBox="1"/>
          <p:nvPr/>
        </p:nvSpPr>
        <p:spPr>
          <a:xfrm>
            <a:off x="282575" y="3159125"/>
            <a:ext cx="1103313" cy="457200"/>
          </a:xfrm>
          <a:prstGeom prst="rect">
            <a:avLst/>
          </a:prstGeom>
          <a:noFill/>
          <a:ln w="9525">
            <a:noFill/>
          </a:ln>
        </p:spPr>
        <p:txBody>
          <a:bodyPr wrap="none">
            <a:spAutoFit/>
          </a:bodyPr>
          <a:p>
            <a:pPr eaLnBrk="1" hangingPunct="1"/>
            <a:r>
              <a:rPr lang="zh-CN" altLang="en-US" sz="2400" dirty="0">
                <a:solidFill>
                  <a:srgbClr val="FF0000"/>
                </a:solidFill>
                <a:latin typeface="Times New Roman" panose="02020603050405020304" pitchFamily="18" charset="0"/>
              </a:rPr>
              <a:t>优点：</a:t>
            </a:r>
            <a:endParaRPr lang="zh-CN" altLang="en-US" sz="2400" dirty="0">
              <a:solidFill>
                <a:srgbClr val="FF0000"/>
              </a:solidFill>
              <a:latin typeface="Times New Roman" panose="02020603050405020304" pitchFamily="18" charset="0"/>
            </a:endParaRPr>
          </a:p>
        </p:txBody>
      </p:sp>
      <p:sp>
        <p:nvSpPr>
          <p:cNvPr id="2249902" name="Text Box 174"/>
          <p:cNvSpPr txBox="1"/>
          <p:nvPr/>
        </p:nvSpPr>
        <p:spPr>
          <a:xfrm>
            <a:off x="1171575" y="3157538"/>
            <a:ext cx="3619500" cy="1187450"/>
          </a:xfrm>
          <a:prstGeom prst="rect">
            <a:avLst/>
          </a:prstGeom>
          <a:noFill/>
          <a:ln w="9525">
            <a:noFill/>
          </a:ln>
        </p:spPr>
        <p:txBody>
          <a:bodyPr>
            <a:spAutoFit/>
          </a:bodyPr>
          <a:p>
            <a:pPr eaLnBrk="1" hangingPunct="1"/>
            <a:r>
              <a:rPr lang="zh-CN" altLang="en-US" sz="2400" dirty="0">
                <a:solidFill>
                  <a:srgbClr val="3333FF"/>
                </a:solidFill>
                <a:latin typeface="楷体_GB2312" pitchFamily="49" charset="-122"/>
              </a:rPr>
              <a:t>每一个开关可单独通断，也可同时通断，使用方式比较灵活。 </a:t>
            </a:r>
            <a:endParaRPr lang="zh-CN" altLang="en-US" sz="2400" dirty="0">
              <a:solidFill>
                <a:srgbClr val="3333FF"/>
              </a:solidFill>
              <a:latin typeface="楷体_GB2312" pitchFamily="49" charset="-122"/>
            </a:endParaRPr>
          </a:p>
        </p:txBody>
      </p:sp>
      <p:sp>
        <p:nvSpPr>
          <p:cNvPr id="2249903" name="Text Box 175"/>
          <p:cNvSpPr txBox="1"/>
          <p:nvPr/>
        </p:nvSpPr>
        <p:spPr>
          <a:xfrm>
            <a:off x="255588" y="4429125"/>
            <a:ext cx="1103312" cy="457200"/>
          </a:xfrm>
          <a:prstGeom prst="rect">
            <a:avLst/>
          </a:prstGeom>
          <a:noFill/>
          <a:ln w="9525">
            <a:noFill/>
          </a:ln>
        </p:spPr>
        <p:txBody>
          <a:bodyPr wrap="none">
            <a:spAutoFit/>
          </a:bodyPr>
          <a:p>
            <a:pPr eaLnBrk="1" hangingPunct="1"/>
            <a:r>
              <a:rPr lang="zh-CN" altLang="en-US" sz="2400" dirty="0">
                <a:solidFill>
                  <a:srgbClr val="FF0000"/>
                </a:solidFill>
                <a:latin typeface="Times New Roman" panose="02020603050405020304" pitchFamily="18" charset="0"/>
              </a:rPr>
              <a:t>缺点：</a:t>
            </a:r>
            <a:endParaRPr lang="zh-CN" altLang="en-US" sz="2400" dirty="0">
              <a:solidFill>
                <a:srgbClr val="FF0000"/>
              </a:solidFill>
              <a:latin typeface="Times New Roman" panose="02020603050405020304" pitchFamily="18" charset="0"/>
            </a:endParaRPr>
          </a:p>
        </p:txBody>
      </p:sp>
      <p:sp>
        <p:nvSpPr>
          <p:cNvPr id="2249904" name="Text Box 176"/>
          <p:cNvSpPr txBox="1"/>
          <p:nvPr/>
        </p:nvSpPr>
        <p:spPr>
          <a:xfrm>
            <a:off x="1479550" y="4424363"/>
            <a:ext cx="3340100" cy="822325"/>
          </a:xfrm>
          <a:prstGeom prst="rect">
            <a:avLst/>
          </a:prstGeom>
          <a:noFill/>
          <a:ln w="9525">
            <a:noFill/>
          </a:ln>
        </p:spPr>
        <p:txBody>
          <a:bodyPr>
            <a:spAutoFit/>
          </a:bodyPr>
          <a:p>
            <a:pPr eaLnBrk="1" hangingPunct="1"/>
            <a:r>
              <a:rPr lang="zh-CN" altLang="en-US" sz="2400" dirty="0">
                <a:solidFill>
                  <a:srgbClr val="3333FF"/>
                </a:solidFill>
                <a:latin typeface="楷体_GB2312" pitchFamily="49" charset="-122"/>
              </a:rPr>
              <a:t>引脚较多，使得片内所集成的开关较少。</a:t>
            </a:r>
            <a:endParaRPr lang="zh-CN" altLang="en-US" sz="2400" dirty="0">
              <a:solidFill>
                <a:srgbClr val="3333FF"/>
              </a:solidFill>
              <a:latin typeface="Times New Roman" panose="02020603050405020304" pitchFamily="18" charset="0"/>
            </a:endParaRPr>
          </a:p>
        </p:txBody>
      </p:sp>
      <p:pic>
        <p:nvPicPr>
          <p:cNvPr id="2249905" name="Picture 177" descr="kugel_blau"/>
          <p:cNvPicPr>
            <a:picLocks noChangeAspect="1"/>
          </p:cNvPicPr>
          <p:nvPr/>
        </p:nvPicPr>
        <p:blipFill>
          <a:blip r:embed="rId1"/>
          <a:stretch>
            <a:fillRect/>
          </a:stretch>
        </p:blipFill>
        <p:spPr>
          <a:xfrm>
            <a:off x="1257300" y="4570413"/>
            <a:ext cx="333375" cy="223837"/>
          </a:xfrm>
          <a:prstGeom prst="rect">
            <a:avLst/>
          </a:prstGeom>
          <a:noFill/>
          <a:ln w="9525">
            <a:noFill/>
          </a:ln>
        </p:spPr>
      </p:pic>
      <p:sp>
        <p:nvSpPr>
          <p:cNvPr id="2249907" name="Text Box 179"/>
          <p:cNvSpPr txBox="1"/>
          <p:nvPr/>
        </p:nvSpPr>
        <p:spPr>
          <a:xfrm>
            <a:off x="1468438" y="5237163"/>
            <a:ext cx="3305175" cy="822325"/>
          </a:xfrm>
          <a:prstGeom prst="rect">
            <a:avLst/>
          </a:prstGeom>
          <a:noFill/>
          <a:ln w="9525">
            <a:noFill/>
          </a:ln>
        </p:spPr>
        <p:txBody>
          <a:bodyPr>
            <a:spAutoFit/>
          </a:bodyPr>
          <a:p>
            <a:pPr eaLnBrk="1" hangingPunct="1"/>
            <a:r>
              <a:rPr lang="zh-CN" altLang="en-US" sz="2400" dirty="0">
                <a:solidFill>
                  <a:srgbClr val="3333FF"/>
                </a:solidFill>
                <a:latin typeface="楷体_GB2312" pitchFamily="49" charset="-122"/>
              </a:rPr>
              <a:t>当巡回检测点较多时，控制复杂。 </a:t>
            </a:r>
            <a:endParaRPr lang="zh-CN" altLang="en-US" sz="2400" dirty="0">
              <a:solidFill>
                <a:srgbClr val="3333FF"/>
              </a:solidFill>
              <a:latin typeface="楷体_GB2312" pitchFamily="49" charset="-122"/>
            </a:endParaRPr>
          </a:p>
        </p:txBody>
      </p:sp>
      <p:pic>
        <p:nvPicPr>
          <p:cNvPr id="2249908" name="Picture 180" descr="kugel_blau"/>
          <p:cNvPicPr>
            <a:picLocks noChangeAspect="1"/>
          </p:cNvPicPr>
          <p:nvPr/>
        </p:nvPicPr>
        <p:blipFill>
          <a:blip r:embed="rId1"/>
          <a:stretch>
            <a:fillRect/>
          </a:stretch>
        </p:blipFill>
        <p:spPr>
          <a:xfrm>
            <a:off x="1254125" y="5386388"/>
            <a:ext cx="333375" cy="223837"/>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9898"/>
                                        </p:tgtEl>
                                        <p:attrNameLst>
                                          <p:attrName>style.visibility</p:attrName>
                                        </p:attrNameLst>
                                      </p:cBhvr>
                                      <p:to>
                                        <p:strVal val="visible"/>
                                      </p:to>
                                    </p:set>
                                    <p:animEffect transition="in" filter="dissolve">
                                      <p:cBhvr>
                                        <p:cTn id="7" dur="500"/>
                                        <p:tgtEl>
                                          <p:spTgt spid="224989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9891"/>
                                        </p:tgtEl>
                                        <p:attrNameLst>
                                          <p:attrName>style.visibility</p:attrName>
                                        </p:attrNameLst>
                                      </p:cBhvr>
                                      <p:to>
                                        <p:strVal val="visible"/>
                                      </p:to>
                                    </p:set>
                                    <p:animEffect transition="in" filter="dissolve">
                                      <p:cBhvr>
                                        <p:cTn id="12" dur="500"/>
                                        <p:tgtEl>
                                          <p:spTgt spid="22498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9900"/>
                                        </p:tgtEl>
                                        <p:attrNameLst>
                                          <p:attrName>style.visibility</p:attrName>
                                        </p:attrNameLst>
                                      </p:cBhvr>
                                      <p:to>
                                        <p:strVal val="visible"/>
                                      </p:to>
                                    </p:set>
                                    <p:animEffect transition="in" filter="dissolve">
                                      <p:cBhvr>
                                        <p:cTn id="17" dur="500"/>
                                        <p:tgtEl>
                                          <p:spTgt spid="224990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49751"/>
                                        </p:tgtEl>
                                        <p:attrNameLst>
                                          <p:attrName>style.visibility</p:attrName>
                                        </p:attrNameLst>
                                      </p:cBhvr>
                                      <p:to>
                                        <p:strVal val="visible"/>
                                      </p:to>
                                    </p:set>
                                    <p:animEffect transition="in" filter="dissolve">
                                      <p:cBhvr>
                                        <p:cTn id="22" dur="500"/>
                                        <p:tgtEl>
                                          <p:spTgt spid="224975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49901"/>
                                        </p:tgtEl>
                                        <p:attrNameLst>
                                          <p:attrName>style.visibility</p:attrName>
                                        </p:attrNameLst>
                                      </p:cBhvr>
                                      <p:to>
                                        <p:strVal val="visible"/>
                                      </p:to>
                                    </p:set>
                                    <p:animEffect transition="in" filter="dissolve">
                                      <p:cBhvr>
                                        <p:cTn id="27" dur="500"/>
                                        <p:tgtEl>
                                          <p:spTgt spid="2249901"/>
                                        </p:tgtEl>
                                      </p:cBhvr>
                                    </p:animEffect>
                                  </p:childTnLst>
                                </p:cTn>
                              </p:par>
                              <p:par>
                                <p:cTn id="28" presetID="9" presetClass="entr" presetSubtype="0" fill="hold" nodeType="withEffect">
                                  <p:stCondLst>
                                    <p:cond delay="0"/>
                                  </p:stCondLst>
                                  <p:childTnLst>
                                    <p:set>
                                      <p:cBhvr>
                                        <p:cTn id="29" dur="1" fill="hold">
                                          <p:stCondLst>
                                            <p:cond delay="0"/>
                                          </p:stCondLst>
                                        </p:cTn>
                                        <p:tgtEl>
                                          <p:spTgt spid="2249902"/>
                                        </p:tgtEl>
                                        <p:attrNameLst>
                                          <p:attrName>style.visibility</p:attrName>
                                        </p:attrNameLst>
                                      </p:cBhvr>
                                      <p:to>
                                        <p:strVal val="visible"/>
                                      </p:to>
                                    </p:set>
                                    <p:animEffect transition="in" filter="dissolve">
                                      <p:cBhvr>
                                        <p:cTn id="30" dur="500"/>
                                        <p:tgtEl>
                                          <p:spTgt spid="2249902"/>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49903"/>
                                        </p:tgtEl>
                                        <p:attrNameLst>
                                          <p:attrName>style.visibility</p:attrName>
                                        </p:attrNameLst>
                                      </p:cBhvr>
                                      <p:to>
                                        <p:strVal val="visible"/>
                                      </p:to>
                                    </p:set>
                                    <p:animEffect transition="in" filter="dissolve">
                                      <p:cBhvr>
                                        <p:cTn id="35" dur="500"/>
                                        <p:tgtEl>
                                          <p:spTgt spid="2249903"/>
                                        </p:tgtEl>
                                      </p:cBhvr>
                                    </p:animEffect>
                                  </p:childTnLst>
                                </p:cTn>
                              </p:par>
                              <p:par>
                                <p:cTn id="36" presetID="9" presetClass="entr" presetSubtype="0" fill="hold" nodeType="withEffect">
                                  <p:stCondLst>
                                    <p:cond delay="0"/>
                                  </p:stCondLst>
                                  <p:childTnLst>
                                    <p:set>
                                      <p:cBhvr>
                                        <p:cTn id="37" dur="1" fill="hold">
                                          <p:stCondLst>
                                            <p:cond delay="0"/>
                                          </p:stCondLst>
                                        </p:cTn>
                                        <p:tgtEl>
                                          <p:spTgt spid="2249905"/>
                                        </p:tgtEl>
                                        <p:attrNameLst>
                                          <p:attrName>style.visibility</p:attrName>
                                        </p:attrNameLst>
                                      </p:cBhvr>
                                      <p:to>
                                        <p:strVal val="visible"/>
                                      </p:to>
                                    </p:set>
                                    <p:animEffect transition="in" filter="dissolve">
                                      <p:cBhvr>
                                        <p:cTn id="38" dur="500"/>
                                        <p:tgtEl>
                                          <p:spTgt spid="2249905"/>
                                        </p:tgtEl>
                                      </p:cBhvr>
                                    </p:animEffect>
                                  </p:childTnLst>
                                </p:cTn>
                              </p:par>
                              <p:par>
                                <p:cTn id="39" presetID="9" presetClass="entr" presetSubtype="0" fill="hold" nodeType="withEffect">
                                  <p:stCondLst>
                                    <p:cond delay="0"/>
                                  </p:stCondLst>
                                  <p:childTnLst>
                                    <p:set>
                                      <p:cBhvr>
                                        <p:cTn id="40" dur="1" fill="hold">
                                          <p:stCondLst>
                                            <p:cond delay="0"/>
                                          </p:stCondLst>
                                        </p:cTn>
                                        <p:tgtEl>
                                          <p:spTgt spid="2249904"/>
                                        </p:tgtEl>
                                        <p:attrNameLst>
                                          <p:attrName>style.visibility</p:attrName>
                                        </p:attrNameLst>
                                      </p:cBhvr>
                                      <p:to>
                                        <p:strVal val="visible"/>
                                      </p:to>
                                    </p:set>
                                    <p:animEffect transition="in" filter="dissolve">
                                      <p:cBhvr>
                                        <p:cTn id="41" dur="500"/>
                                        <p:tgtEl>
                                          <p:spTgt spid="2249904"/>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2249908"/>
                                        </p:tgtEl>
                                        <p:attrNameLst>
                                          <p:attrName>style.visibility</p:attrName>
                                        </p:attrNameLst>
                                      </p:cBhvr>
                                      <p:to>
                                        <p:strVal val="visible"/>
                                      </p:to>
                                    </p:set>
                                    <p:animEffect transition="in" filter="dissolve">
                                      <p:cBhvr>
                                        <p:cTn id="46" dur="500"/>
                                        <p:tgtEl>
                                          <p:spTgt spid="2249908"/>
                                        </p:tgtEl>
                                      </p:cBhvr>
                                    </p:animEffect>
                                  </p:childTnLst>
                                </p:cTn>
                              </p:par>
                              <p:par>
                                <p:cTn id="47" presetID="9" presetClass="entr" presetSubtype="0" fill="hold" nodeType="withEffect">
                                  <p:stCondLst>
                                    <p:cond delay="0"/>
                                  </p:stCondLst>
                                  <p:childTnLst>
                                    <p:set>
                                      <p:cBhvr>
                                        <p:cTn id="48" dur="1" fill="hold">
                                          <p:stCondLst>
                                            <p:cond delay="0"/>
                                          </p:stCondLst>
                                        </p:cTn>
                                        <p:tgtEl>
                                          <p:spTgt spid="2249907"/>
                                        </p:tgtEl>
                                        <p:attrNameLst>
                                          <p:attrName>style.visibility</p:attrName>
                                        </p:attrNameLst>
                                      </p:cBhvr>
                                      <p:to>
                                        <p:strVal val="visible"/>
                                      </p:to>
                                    </p:set>
                                    <p:animEffect transition="in" filter="dissolve">
                                      <p:cBhvr>
                                        <p:cTn id="49" dur="500"/>
                                        <p:tgtEl>
                                          <p:spTgt spid="22499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9898" grpId="0" animBg="1"/>
      <p:bldP spid="2249751" grpId="0" animBg="1"/>
      <p:bldP spid="2249891" grpId="0"/>
      <p:bldP spid="2249901" grpId="0"/>
      <p:bldP spid="2249902" grpId="0"/>
      <p:bldP spid="2249903" grpId="0"/>
      <p:bldP spid="2249904" grpId="0"/>
      <p:bldP spid="2249907"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994" name="Rectangle 170"/>
          <p:cNvSpPr/>
          <p:nvPr/>
        </p:nvSpPr>
        <p:spPr>
          <a:xfrm>
            <a:off x="466725" y="2514600"/>
            <a:ext cx="4038600" cy="3648075"/>
          </a:xfrm>
          <a:prstGeom prst="rect">
            <a:avLst/>
          </a:prstGeom>
          <a:no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45" name="Text Box 21"/>
          <p:cNvSpPr txBox="1"/>
          <p:nvPr/>
        </p:nvSpPr>
        <p:spPr>
          <a:xfrm>
            <a:off x="627063" y="1506538"/>
            <a:ext cx="8137525" cy="946150"/>
          </a:xfrm>
          <a:prstGeom prst="rect">
            <a:avLst/>
          </a:prstGeom>
          <a:solidFill>
            <a:srgbClr val="CCFFFF"/>
          </a:solidFill>
          <a:ln w="9525">
            <a:noFill/>
          </a:ln>
        </p:spPr>
        <p:txBody>
          <a:bodyPr>
            <a:spAutoFit/>
          </a:bodyPr>
          <a:p>
            <a:pPr eaLnBrk="1" hangingPunct="1"/>
            <a:r>
              <a:rPr lang="en-US" altLang="zh-CN" sz="2800" dirty="0">
                <a:latin typeface="Times New Roman" panose="02020603050405020304" pitchFamily="18" charset="0"/>
                <a:ea typeface="黑体" panose="02010609060101010101" pitchFamily="49" charset="-122"/>
              </a:rPr>
              <a:t>TL182C</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AD7510</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AD7511</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AD7512</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CD4066</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TS12A44513</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TS3A4741</a:t>
            </a:r>
            <a:r>
              <a:rPr lang="zh-CN" altLang="en-US" sz="2800" dirty="0">
                <a:latin typeface="Times New Roman" panose="02020603050405020304" pitchFamily="18" charset="0"/>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TS3A24159</a:t>
            </a:r>
            <a:r>
              <a:rPr lang="zh-CN" altLang="en-US" sz="2800" dirty="0">
                <a:latin typeface="黑体" panose="02010609060101010101" pitchFamily="49" charset="-122"/>
                <a:ea typeface="黑体" panose="02010609060101010101" pitchFamily="49" charset="-122"/>
              </a:rPr>
              <a:t>，</a:t>
            </a:r>
            <a:r>
              <a:rPr lang="en-US" altLang="zh-CN" sz="2800" dirty="0">
                <a:latin typeface="Times New Roman" panose="02020603050405020304" pitchFamily="18" charset="0"/>
                <a:ea typeface="黑体" panose="02010609060101010101" pitchFamily="49" charset="-122"/>
              </a:rPr>
              <a:t>…</a:t>
            </a:r>
            <a:r>
              <a:rPr lang="en-US" altLang="zh-CN" sz="2800" dirty="0">
                <a:latin typeface="黑体" panose="02010609060101010101" pitchFamily="49" charset="-122"/>
                <a:ea typeface="黑体" panose="02010609060101010101" pitchFamily="49" charset="-122"/>
              </a:rPr>
              <a:t> </a:t>
            </a:r>
            <a:r>
              <a:rPr lang="en-US" altLang="zh-CN" sz="2800" dirty="0">
                <a:latin typeface="Times New Roman" panose="02020603050405020304" pitchFamily="18" charset="0"/>
                <a:ea typeface="黑体" panose="02010609060101010101" pitchFamily="49" charset="-122"/>
              </a:rPr>
              <a:t>…</a:t>
            </a:r>
            <a:r>
              <a:rPr lang="en-US" altLang="zh-CN" sz="2800" dirty="0">
                <a:latin typeface="黑体" panose="02010609060101010101" pitchFamily="49" charset="-122"/>
                <a:ea typeface="黑体" panose="02010609060101010101" pitchFamily="49" charset="-122"/>
              </a:rPr>
              <a:t> </a:t>
            </a:r>
            <a:endParaRPr lang="en-US" altLang="zh-CN" sz="2800" dirty="0">
              <a:latin typeface="黑体" panose="02010609060101010101" pitchFamily="49" charset="-122"/>
              <a:ea typeface="黑体" panose="02010609060101010101" pitchFamily="49" charset="-122"/>
            </a:endParaRPr>
          </a:p>
        </p:txBody>
      </p:sp>
      <p:sp>
        <p:nvSpPr>
          <p:cNvPr id="2253847" name="AutoShape 23"/>
          <p:cNvSpPr/>
          <p:nvPr/>
        </p:nvSpPr>
        <p:spPr>
          <a:xfrm>
            <a:off x="5661025" y="2547938"/>
            <a:ext cx="2014538" cy="582612"/>
          </a:xfrm>
          <a:prstGeom prst="wedgeRoundRectCallout">
            <a:avLst>
              <a:gd name="adj1" fmla="val -25255"/>
              <a:gd name="adj2" fmla="val -7969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253842" name="Text Box 18"/>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8678" name="Text Box 19"/>
          <p:cNvSpPr txBox="1"/>
          <p:nvPr/>
        </p:nvSpPr>
        <p:spPr>
          <a:xfrm>
            <a:off x="317500" y="738188"/>
            <a:ext cx="547052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3.3.1 </a:t>
            </a:r>
            <a:r>
              <a:rPr lang="zh-CN" altLang="en-US" dirty="0">
                <a:latin typeface="Times New Roman" panose="02020603050405020304" pitchFamily="18" charset="0"/>
              </a:rPr>
              <a:t>无译码器的多路开关 </a:t>
            </a:r>
            <a:endParaRPr lang="zh-CN" altLang="en-US" dirty="0">
              <a:latin typeface="Times New Roman" panose="02020603050405020304" pitchFamily="18" charset="0"/>
            </a:endParaRPr>
          </a:p>
        </p:txBody>
      </p:sp>
      <p:sp>
        <p:nvSpPr>
          <p:cNvPr id="2253846" name="Text Box 22"/>
          <p:cNvSpPr txBox="1"/>
          <p:nvPr/>
        </p:nvSpPr>
        <p:spPr>
          <a:xfrm>
            <a:off x="5703888" y="2597150"/>
            <a:ext cx="2108200" cy="476250"/>
          </a:xfrm>
          <a:prstGeom prst="rect">
            <a:avLst/>
          </a:prstGeom>
          <a:noFill/>
          <a:ln w="9525">
            <a:noFill/>
          </a:ln>
        </p:spPr>
        <p:txBody>
          <a:bodyPr>
            <a:spAutoFit/>
          </a:bodyPr>
          <a:p>
            <a:pPr eaLnBrk="1" hangingPunct="1">
              <a:lnSpc>
                <a:spcPct val="90000"/>
              </a:lnSpc>
              <a:spcBef>
                <a:spcPct val="50000"/>
              </a:spcBef>
            </a:pPr>
            <a:r>
              <a:rPr lang="en-US" altLang="zh-CN" sz="2800" i="1" dirty="0">
                <a:solidFill>
                  <a:srgbClr val="FF0000"/>
                </a:solidFill>
                <a:latin typeface="Times New Roman" panose="02020603050405020304" pitchFamily="18" charset="0"/>
              </a:rPr>
              <a:t>R</a:t>
            </a:r>
            <a:r>
              <a:rPr lang="en-US" altLang="zh-CN" sz="2800" baseline="-25000" dirty="0">
                <a:solidFill>
                  <a:srgbClr val="FF0000"/>
                </a:solidFill>
                <a:latin typeface="Times New Roman" panose="02020603050405020304" pitchFamily="18" charset="0"/>
              </a:rPr>
              <a:t>ON</a:t>
            </a:r>
            <a:r>
              <a:rPr lang="en-US" altLang="zh-CN" sz="2800" dirty="0">
                <a:solidFill>
                  <a:srgbClr val="FF0000"/>
                </a:solidFill>
                <a:latin typeface="Times New Roman" panose="02020603050405020304" pitchFamily="18" charset="0"/>
              </a:rPr>
              <a:t> &lt; 0.3Ω</a:t>
            </a:r>
            <a:endParaRPr lang="en-US" altLang="zh-CN" sz="2800" dirty="0">
              <a:solidFill>
                <a:srgbClr val="FF0000"/>
              </a:solidFill>
              <a:latin typeface="Times New Roman" panose="02020603050405020304" pitchFamily="18" charset="0"/>
            </a:endParaRPr>
          </a:p>
        </p:txBody>
      </p:sp>
      <p:pic>
        <p:nvPicPr>
          <p:cNvPr id="2253991" name="Picture 167"/>
          <p:cNvPicPr>
            <a:picLocks noChangeAspect="1"/>
          </p:cNvPicPr>
          <p:nvPr/>
        </p:nvPicPr>
        <p:blipFill>
          <a:blip r:embed="rId1"/>
          <a:stretch>
            <a:fillRect/>
          </a:stretch>
        </p:blipFill>
        <p:spPr>
          <a:xfrm>
            <a:off x="558800" y="2566988"/>
            <a:ext cx="3884613" cy="3111500"/>
          </a:xfrm>
          <a:prstGeom prst="rect">
            <a:avLst/>
          </a:prstGeom>
          <a:solidFill>
            <a:schemeClr val="accent1"/>
          </a:solidFill>
          <a:ln w="9525">
            <a:noFill/>
          </a:ln>
        </p:spPr>
      </p:pic>
      <p:sp>
        <p:nvSpPr>
          <p:cNvPr id="2253992" name="Text Box 168"/>
          <p:cNvSpPr txBox="1"/>
          <p:nvPr/>
        </p:nvSpPr>
        <p:spPr>
          <a:xfrm>
            <a:off x="1304925" y="5734050"/>
            <a:ext cx="2733675" cy="420688"/>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TS12A44513</a:t>
            </a:r>
            <a:r>
              <a:rPr lang="zh-CN" altLang="en-US" sz="2400" dirty="0">
                <a:latin typeface="Times New Roman" panose="02020603050405020304" pitchFamily="18" charset="0"/>
              </a:rPr>
              <a:t>芯片</a:t>
            </a:r>
            <a:endParaRPr lang="zh-CN" altLang="en-US" sz="2400" dirty="0">
              <a:latin typeface="Times New Roman" panose="02020603050405020304" pitchFamily="18" charset="0"/>
            </a:endParaRPr>
          </a:p>
        </p:txBody>
      </p:sp>
      <p:pic>
        <p:nvPicPr>
          <p:cNvPr id="2253993" name="Picture 169"/>
          <p:cNvPicPr>
            <a:picLocks noChangeAspect="1"/>
          </p:cNvPicPr>
          <p:nvPr/>
        </p:nvPicPr>
        <p:blipFill>
          <a:blip r:embed="rId2"/>
          <a:stretch>
            <a:fillRect/>
          </a:stretch>
        </p:blipFill>
        <p:spPr>
          <a:xfrm>
            <a:off x="4743450" y="2543175"/>
            <a:ext cx="3849688" cy="3148013"/>
          </a:xfrm>
          <a:prstGeom prst="rect">
            <a:avLst/>
          </a:prstGeom>
          <a:noFill/>
          <a:ln w="9525">
            <a:noFill/>
          </a:ln>
        </p:spPr>
      </p:pic>
      <p:sp>
        <p:nvSpPr>
          <p:cNvPr id="2253995" name="Text Box 171"/>
          <p:cNvSpPr txBox="1"/>
          <p:nvPr/>
        </p:nvSpPr>
        <p:spPr>
          <a:xfrm>
            <a:off x="5788025" y="5721350"/>
            <a:ext cx="2009775" cy="420688"/>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CD4066</a:t>
            </a:r>
            <a:r>
              <a:rPr lang="zh-CN" altLang="en-US" sz="2400" dirty="0">
                <a:latin typeface="Times New Roman" panose="02020603050405020304" pitchFamily="18" charset="0"/>
              </a:rPr>
              <a:t>芯片</a:t>
            </a:r>
            <a:endParaRPr lang="zh-CN" altLang="en-US" sz="2400" dirty="0">
              <a:latin typeface="Times New Roman" panose="02020603050405020304" pitchFamily="18" charset="0"/>
            </a:endParaRPr>
          </a:p>
        </p:txBody>
      </p:sp>
      <p:sp>
        <p:nvSpPr>
          <p:cNvPr id="2253996" name="Rectangle 172"/>
          <p:cNvSpPr/>
          <p:nvPr/>
        </p:nvSpPr>
        <p:spPr>
          <a:xfrm>
            <a:off x="4702175" y="2520950"/>
            <a:ext cx="3952875" cy="3648075"/>
          </a:xfrm>
          <a:prstGeom prst="rect">
            <a:avLst/>
          </a:prstGeom>
          <a:no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3845"/>
                                        </p:tgtEl>
                                        <p:attrNameLst>
                                          <p:attrName>style.visibility</p:attrName>
                                        </p:attrNameLst>
                                      </p:cBhvr>
                                      <p:to>
                                        <p:strVal val="visible"/>
                                      </p:to>
                                    </p:set>
                                    <p:animEffect transition="in" filter="dissolve">
                                      <p:cBhvr>
                                        <p:cTn id="7" dur="500"/>
                                        <p:tgtEl>
                                          <p:spTgt spid="225384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3847"/>
                                        </p:tgtEl>
                                        <p:attrNameLst>
                                          <p:attrName>style.visibility</p:attrName>
                                        </p:attrNameLst>
                                      </p:cBhvr>
                                      <p:to>
                                        <p:strVal val="visible"/>
                                      </p:to>
                                    </p:set>
                                    <p:animEffect transition="in" filter="dissolve">
                                      <p:cBhvr>
                                        <p:cTn id="12" dur="500"/>
                                        <p:tgtEl>
                                          <p:spTgt spid="2253847"/>
                                        </p:tgtEl>
                                      </p:cBhvr>
                                    </p:animEffect>
                                  </p:childTnLst>
                                </p:cTn>
                              </p:par>
                              <p:par>
                                <p:cTn id="13" presetID="9" presetClass="entr" presetSubtype="0" fill="hold" nodeType="withEffect">
                                  <p:stCondLst>
                                    <p:cond delay="0"/>
                                  </p:stCondLst>
                                  <p:childTnLst>
                                    <p:set>
                                      <p:cBhvr>
                                        <p:cTn id="14" dur="1" fill="hold">
                                          <p:stCondLst>
                                            <p:cond delay="0"/>
                                          </p:stCondLst>
                                        </p:cTn>
                                        <p:tgtEl>
                                          <p:spTgt spid="2253846"/>
                                        </p:tgtEl>
                                        <p:attrNameLst>
                                          <p:attrName>style.visibility</p:attrName>
                                        </p:attrNameLst>
                                      </p:cBhvr>
                                      <p:to>
                                        <p:strVal val="visible"/>
                                      </p:to>
                                    </p:set>
                                    <p:animEffect transition="in" filter="dissolve">
                                      <p:cBhvr>
                                        <p:cTn id="15" dur="500"/>
                                        <p:tgtEl>
                                          <p:spTgt spid="2253846"/>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xit" presetSubtype="10" fill="hold" nodeType="clickEffect">
                                  <p:stCondLst>
                                    <p:cond delay="0"/>
                                  </p:stCondLst>
                                  <p:childTnLst>
                                    <p:animEffect transition="out" filter="blinds(horizontal)">
                                      <p:cBhvr>
                                        <p:cTn id="19" dur="500"/>
                                        <p:tgtEl>
                                          <p:spTgt spid="2253847"/>
                                        </p:tgtEl>
                                      </p:cBhvr>
                                    </p:animEffect>
                                    <p:set>
                                      <p:cBhvr>
                                        <p:cTn id="20" dur="1" fill="hold">
                                          <p:stCondLst>
                                            <p:cond delay="499"/>
                                          </p:stCondLst>
                                        </p:cTn>
                                        <p:tgtEl>
                                          <p:spTgt spid="2253847"/>
                                        </p:tgtEl>
                                        <p:attrNameLst>
                                          <p:attrName>style.visibility</p:attrName>
                                        </p:attrNameLst>
                                      </p:cBhvr>
                                      <p:to>
                                        <p:strVal val="hidden"/>
                                      </p:to>
                                    </p:set>
                                  </p:childTnLst>
                                </p:cTn>
                              </p:par>
                              <p:par>
                                <p:cTn id="21" presetID="3" presetClass="exit" presetSubtype="10" fill="hold" nodeType="withEffect">
                                  <p:stCondLst>
                                    <p:cond delay="0"/>
                                  </p:stCondLst>
                                  <p:childTnLst>
                                    <p:animEffect transition="out" filter="blinds(horizontal)">
                                      <p:cBhvr>
                                        <p:cTn id="22" dur="500"/>
                                        <p:tgtEl>
                                          <p:spTgt spid="2253846"/>
                                        </p:tgtEl>
                                      </p:cBhvr>
                                    </p:animEffect>
                                    <p:set>
                                      <p:cBhvr>
                                        <p:cTn id="23" dur="1" fill="hold">
                                          <p:stCondLst>
                                            <p:cond delay="499"/>
                                          </p:stCondLst>
                                        </p:cTn>
                                        <p:tgtEl>
                                          <p:spTgt spid="2253846"/>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253994"/>
                                        </p:tgtEl>
                                        <p:attrNameLst>
                                          <p:attrName>style.visibility</p:attrName>
                                        </p:attrNameLst>
                                      </p:cBhvr>
                                      <p:to>
                                        <p:strVal val="visible"/>
                                      </p:to>
                                    </p:set>
                                    <p:animEffect transition="in" filter="dissolve">
                                      <p:cBhvr>
                                        <p:cTn id="28" dur="500"/>
                                        <p:tgtEl>
                                          <p:spTgt spid="2253994"/>
                                        </p:tgtEl>
                                      </p:cBhvr>
                                    </p:animEffect>
                                  </p:childTnLst>
                                </p:cTn>
                              </p:par>
                              <p:par>
                                <p:cTn id="29" presetID="9" presetClass="entr" presetSubtype="0" fill="hold" nodeType="withEffect">
                                  <p:stCondLst>
                                    <p:cond delay="0"/>
                                  </p:stCondLst>
                                  <p:childTnLst>
                                    <p:set>
                                      <p:cBhvr>
                                        <p:cTn id="30" dur="1" fill="hold">
                                          <p:stCondLst>
                                            <p:cond delay="0"/>
                                          </p:stCondLst>
                                        </p:cTn>
                                        <p:tgtEl>
                                          <p:spTgt spid="2253991"/>
                                        </p:tgtEl>
                                        <p:attrNameLst>
                                          <p:attrName>style.visibility</p:attrName>
                                        </p:attrNameLst>
                                      </p:cBhvr>
                                      <p:to>
                                        <p:strVal val="visible"/>
                                      </p:to>
                                    </p:set>
                                    <p:animEffect transition="in" filter="dissolve">
                                      <p:cBhvr>
                                        <p:cTn id="31" dur="500"/>
                                        <p:tgtEl>
                                          <p:spTgt spid="2253991"/>
                                        </p:tgtEl>
                                      </p:cBhvr>
                                    </p:animEffect>
                                  </p:childTnLst>
                                </p:cTn>
                              </p:par>
                              <p:par>
                                <p:cTn id="32" presetID="9" presetClass="entr" presetSubtype="0" fill="hold" nodeType="withEffect">
                                  <p:stCondLst>
                                    <p:cond delay="0"/>
                                  </p:stCondLst>
                                  <p:childTnLst>
                                    <p:set>
                                      <p:cBhvr>
                                        <p:cTn id="33" dur="1" fill="hold">
                                          <p:stCondLst>
                                            <p:cond delay="0"/>
                                          </p:stCondLst>
                                        </p:cTn>
                                        <p:tgtEl>
                                          <p:spTgt spid="2253992"/>
                                        </p:tgtEl>
                                        <p:attrNameLst>
                                          <p:attrName>style.visibility</p:attrName>
                                        </p:attrNameLst>
                                      </p:cBhvr>
                                      <p:to>
                                        <p:strVal val="visible"/>
                                      </p:to>
                                    </p:set>
                                    <p:animEffect transition="in" filter="dissolve">
                                      <p:cBhvr>
                                        <p:cTn id="34" dur="500"/>
                                        <p:tgtEl>
                                          <p:spTgt spid="225399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2253995"/>
                                        </p:tgtEl>
                                        <p:attrNameLst>
                                          <p:attrName>style.visibility</p:attrName>
                                        </p:attrNameLst>
                                      </p:cBhvr>
                                      <p:to>
                                        <p:strVal val="visible"/>
                                      </p:to>
                                    </p:set>
                                    <p:animEffect transition="in" filter="dissolve">
                                      <p:cBhvr>
                                        <p:cTn id="39" dur="500"/>
                                        <p:tgtEl>
                                          <p:spTgt spid="2253995"/>
                                        </p:tgtEl>
                                      </p:cBhvr>
                                    </p:animEffect>
                                  </p:childTnLst>
                                </p:cTn>
                              </p:par>
                              <p:par>
                                <p:cTn id="40" presetID="9" presetClass="entr" presetSubtype="0" fill="hold" nodeType="withEffect">
                                  <p:stCondLst>
                                    <p:cond delay="0"/>
                                  </p:stCondLst>
                                  <p:childTnLst>
                                    <p:set>
                                      <p:cBhvr>
                                        <p:cTn id="41" dur="1" fill="hold">
                                          <p:stCondLst>
                                            <p:cond delay="0"/>
                                          </p:stCondLst>
                                        </p:cTn>
                                        <p:tgtEl>
                                          <p:spTgt spid="2253996"/>
                                        </p:tgtEl>
                                        <p:attrNameLst>
                                          <p:attrName>style.visibility</p:attrName>
                                        </p:attrNameLst>
                                      </p:cBhvr>
                                      <p:to>
                                        <p:strVal val="visible"/>
                                      </p:to>
                                    </p:set>
                                    <p:animEffect transition="in" filter="dissolve">
                                      <p:cBhvr>
                                        <p:cTn id="42" dur="500"/>
                                        <p:tgtEl>
                                          <p:spTgt spid="2253996"/>
                                        </p:tgtEl>
                                      </p:cBhvr>
                                    </p:animEffect>
                                  </p:childTnLst>
                                </p:cTn>
                              </p:par>
                              <p:par>
                                <p:cTn id="43" presetID="9" presetClass="entr" presetSubtype="0" fill="hold" nodeType="withEffect">
                                  <p:stCondLst>
                                    <p:cond delay="0"/>
                                  </p:stCondLst>
                                  <p:childTnLst>
                                    <p:set>
                                      <p:cBhvr>
                                        <p:cTn id="44" dur="1" fill="hold">
                                          <p:stCondLst>
                                            <p:cond delay="0"/>
                                          </p:stCondLst>
                                        </p:cTn>
                                        <p:tgtEl>
                                          <p:spTgt spid="2253993"/>
                                        </p:tgtEl>
                                        <p:attrNameLst>
                                          <p:attrName>style.visibility</p:attrName>
                                        </p:attrNameLst>
                                      </p:cBhvr>
                                      <p:to>
                                        <p:strVal val="visible"/>
                                      </p:to>
                                    </p:set>
                                    <p:animEffect transition="in" filter="dissolve">
                                      <p:cBhvr>
                                        <p:cTn id="45" dur="500"/>
                                        <p:tgtEl>
                                          <p:spTgt spid="22539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994" grpId="0" animBg="1"/>
      <p:bldP spid="2253845" grpId="0" animBg="1"/>
      <p:bldP spid="2253847" grpId="0" animBg="1"/>
      <p:bldP spid="2253847" grpId="1" animBg="1"/>
      <p:bldP spid="2253846" grpId="0"/>
      <p:bldP spid="2253846" grpId="1"/>
      <p:bldP spid="2253992" grpId="0"/>
      <p:bldP spid="2253995" grpId="0"/>
      <p:bldP spid="2253996"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0779" name="Text Box 27"/>
          <p:cNvSpPr txBox="1"/>
          <p:nvPr/>
        </p:nvSpPr>
        <p:spPr>
          <a:xfrm>
            <a:off x="350838" y="652463"/>
            <a:ext cx="4899025"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 </a:t>
            </a:r>
            <a:endParaRPr lang="zh-CN" altLang="en-US" sz="3200" dirty="0">
              <a:latin typeface="Times New Roman" panose="02020603050405020304" pitchFamily="18" charset="0"/>
            </a:endParaRPr>
          </a:p>
        </p:txBody>
      </p:sp>
      <p:sp>
        <p:nvSpPr>
          <p:cNvPr id="2250780" name="Text Box 28"/>
          <p:cNvSpPr txBox="1"/>
          <p:nvPr/>
        </p:nvSpPr>
        <p:spPr>
          <a:xfrm>
            <a:off x="730250" y="1339850"/>
            <a:ext cx="4308475" cy="579438"/>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1. AD7501</a:t>
            </a:r>
            <a:r>
              <a:rPr lang="zh-CN" altLang="en-US" sz="3200" dirty="0">
                <a:solidFill>
                  <a:schemeClr val="tx2"/>
                </a:solidFill>
                <a:latin typeface="Times New Roman" panose="02020603050405020304" pitchFamily="18" charset="0"/>
                <a:ea typeface="宋体" panose="02010600030101010101" pitchFamily="2" charset="-122"/>
              </a:rPr>
              <a:t>（</a:t>
            </a:r>
            <a:r>
              <a:rPr lang="en-US" altLang="zh-CN" sz="3200" dirty="0">
                <a:solidFill>
                  <a:schemeClr val="tx2"/>
                </a:solidFill>
                <a:latin typeface="Times New Roman" panose="02020603050405020304" pitchFamily="18" charset="0"/>
                <a:ea typeface="宋体" panose="02010600030101010101" pitchFamily="2" charset="-122"/>
              </a:rPr>
              <a:t>AD7503</a:t>
            </a:r>
            <a:r>
              <a:rPr lang="zh-CN" altLang="en-US" sz="3200" dirty="0">
                <a:solidFill>
                  <a:schemeClr val="tx2"/>
                </a:solidFill>
                <a:latin typeface="Times New Roman" panose="02020603050405020304" pitchFamily="18" charset="0"/>
                <a:ea typeface="宋体" panose="02010600030101010101" pitchFamily="2" charset="-122"/>
              </a:rPr>
              <a:t>） </a:t>
            </a:r>
            <a:endParaRPr lang="zh-CN" altLang="en-US" sz="3200" dirty="0">
              <a:solidFill>
                <a:schemeClr val="tx2"/>
              </a:solidFill>
              <a:latin typeface="Times New Roman" panose="02020603050405020304" pitchFamily="18" charset="0"/>
              <a:ea typeface="宋体" panose="02010600030101010101" pitchFamily="2" charset="-122"/>
            </a:endParaRPr>
          </a:p>
        </p:txBody>
      </p:sp>
      <p:sp>
        <p:nvSpPr>
          <p:cNvPr id="2250781" name="Text Box 29"/>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0915" name="Rectangle 163"/>
          <p:cNvSpPr/>
          <p:nvPr/>
        </p:nvSpPr>
        <p:spPr>
          <a:xfrm>
            <a:off x="1700213" y="5894388"/>
            <a:ext cx="5716587" cy="342900"/>
          </a:xfrm>
          <a:prstGeom prst="rect">
            <a:avLst/>
          </a:prstGeom>
          <a:solidFill>
            <a:srgbClr val="CCFFFF"/>
          </a:solidFill>
          <a:ln w="9525">
            <a:noFill/>
          </a:ln>
        </p:spPr>
        <p:txBody>
          <a:bodyPr lIns="0" tIns="0" rIns="0" bIns="0">
            <a:spAutoFit/>
          </a:bodyPr>
          <a:p>
            <a:pPr algn="ctr" eaLnBrk="1" hangingPunct="1">
              <a:lnSpc>
                <a:spcPct val="90000"/>
              </a:lnSpc>
            </a:pPr>
            <a:r>
              <a:rPr lang="en-US" altLang="zh-CN" sz="2500" dirty="0">
                <a:solidFill>
                  <a:srgbClr val="000080"/>
                </a:solidFill>
                <a:latin typeface="楷体_GB2312" pitchFamily="49" charset="-122"/>
              </a:rPr>
              <a:t>AD7501</a:t>
            </a:r>
            <a:r>
              <a:rPr lang="zh-CN" altLang="en-US" sz="2500" dirty="0">
                <a:solidFill>
                  <a:srgbClr val="000080"/>
                </a:solidFill>
                <a:latin typeface="楷体_GB2312" pitchFamily="49" charset="-122"/>
              </a:rPr>
              <a:t>（</a:t>
            </a:r>
            <a:r>
              <a:rPr lang="en-US" altLang="zh-CN" sz="2500" dirty="0">
                <a:solidFill>
                  <a:srgbClr val="000080"/>
                </a:solidFill>
                <a:latin typeface="楷体_GB2312" pitchFamily="49" charset="-122"/>
              </a:rPr>
              <a:t>AD7503</a:t>
            </a:r>
            <a:r>
              <a:rPr lang="zh-CN" altLang="en-US" sz="2500" dirty="0">
                <a:solidFill>
                  <a:srgbClr val="000080"/>
                </a:solidFill>
                <a:latin typeface="楷体_GB2312" pitchFamily="49" charset="-122"/>
              </a:rPr>
              <a:t>）芯片结构及引脚功能</a:t>
            </a:r>
            <a:endParaRPr lang="zh-CN" altLang="en-US" dirty="0">
              <a:latin typeface="Times New Roman" panose="02020603050405020304" pitchFamily="18" charset="0"/>
            </a:endParaRPr>
          </a:p>
        </p:txBody>
      </p:sp>
      <p:grpSp>
        <p:nvGrpSpPr>
          <p:cNvPr id="2250926" name="Group 174"/>
          <p:cNvGrpSpPr/>
          <p:nvPr/>
        </p:nvGrpSpPr>
        <p:grpSpPr>
          <a:xfrm>
            <a:off x="222250" y="1944688"/>
            <a:ext cx="8667750" cy="3968750"/>
            <a:chOff x="140" y="1227"/>
            <a:chExt cx="5460" cy="2500"/>
          </a:xfrm>
        </p:grpSpPr>
        <p:sp>
          <p:nvSpPr>
            <p:cNvPr id="29704" name="AutoShape 31"/>
            <p:cNvSpPr>
              <a:spLocks noChangeAspect="1" noTextEdit="1"/>
            </p:cNvSpPr>
            <p:nvPr/>
          </p:nvSpPr>
          <p:spPr>
            <a:xfrm>
              <a:off x="140" y="1227"/>
              <a:ext cx="5460" cy="2500"/>
            </a:xfrm>
            <a:prstGeom prst="rect">
              <a:avLst/>
            </a:prstGeom>
            <a:solidFill>
              <a:srgbClr val="FFFF99"/>
            </a:solidFill>
            <a:ln w="9525">
              <a:noFill/>
            </a:ln>
          </p:spPr>
          <p:txBody>
            <a:bodyPr/>
            <a:p>
              <a:endParaRPr lang="zh-CN" altLang="en-US"/>
            </a:p>
          </p:txBody>
        </p:sp>
        <p:sp>
          <p:nvSpPr>
            <p:cNvPr id="29705" name="Rectangle 33"/>
            <p:cNvSpPr/>
            <p:nvPr/>
          </p:nvSpPr>
          <p:spPr>
            <a:xfrm>
              <a:off x="1038" y="1773"/>
              <a:ext cx="1266" cy="33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06" name="Rectangle 34"/>
            <p:cNvSpPr/>
            <p:nvPr/>
          </p:nvSpPr>
          <p:spPr>
            <a:xfrm>
              <a:off x="1038" y="2254"/>
              <a:ext cx="1266" cy="314"/>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07" name="Line 35"/>
            <p:cNvSpPr/>
            <p:nvPr/>
          </p:nvSpPr>
          <p:spPr>
            <a:xfrm flipH="1">
              <a:off x="1288" y="2570"/>
              <a:ext cx="3" cy="542"/>
            </a:xfrm>
            <a:prstGeom prst="line">
              <a:avLst/>
            </a:prstGeom>
            <a:ln w="0" cap="flat" cmpd="sng">
              <a:solidFill>
                <a:srgbClr val="0000FF"/>
              </a:solidFill>
              <a:prstDash val="sysDot"/>
              <a:headEnd type="none" w="med" len="med"/>
              <a:tailEnd type="none" w="med" len="med"/>
            </a:ln>
          </p:spPr>
        </p:sp>
        <p:sp>
          <p:nvSpPr>
            <p:cNvPr id="29708" name="Line 36"/>
            <p:cNvSpPr/>
            <p:nvPr/>
          </p:nvSpPr>
          <p:spPr>
            <a:xfrm>
              <a:off x="2040" y="2568"/>
              <a:ext cx="1" cy="541"/>
            </a:xfrm>
            <a:prstGeom prst="line">
              <a:avLst/>
            </a:prstGeom>
            <a:ln w="0" cap="flat" cmpd="sng">
              <a:solidFill>
                <a:srgbClr val="0000FF"/>
              </a:solidFill>
              <a:prstDash val="sysDot"/>
              <a:headEnd type="none" w="med" len="med"/>
              <a:tailEnd type="none" w="med" len="med"/>
            </a:ln>
          </p:spPr>
        </p:sp>
        <p:sp>
          <p:nvSpPr>
            <p:cNvPr id="29709" name="Oval 37"/>
            <p:cNvSpPr/>
            <p:nvPr/>
          </p:nvSpPr>
          <p:spPr>
            <a:xfrm>
              <a:off x="1069" y="2916"/>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0" name="Line 38"/>
            <p:cNvSpPr/>
            <p:nvPr/>
          </p:nvSpPr>
          <p:spPr>
            <a:xfrm>
              <a:off x="1142" y="2969"/>
              <a:ext cx="209" cy="203"/>
            </a:xfrm>
            <a:prstGeom prst="line">
              <a:avLst/>
            </a:prstGeom>
            <a:ln w="0" cap="flat" cmpd="sng">
              <a:solidFill>
                <a:srgbClr val="0000FF"/>
              </a:solidFill>
              <a:prstDash val="solid"/>
              <a:headEnd type="none" w="med" len="med"/>
              <a:tailEnd type="none" w="med" len="med"/>
            </a:ln>
          </p:spPr>
        </p:sp>
        <p:sp>
          <p:nvSpPr>
            <p:cNvPr id="29711" name="Oval 39"/>
            <p:cNvSpPr/>
            <p:nvPr/>
          </p:nvSpPr>
          <p:spPr>
            <a:xfrm>
              <a:off x="1821" y="2931"/>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2" name="Line 40"/>
            <p:cNvSpPr/>
            <p:nvPr/>
          </p:nvSpPr>
          <p:spPr>
            <a:xfrm>
              <a:off x="1894" y="2974"/>
              <a:ext cx="203" cy="198"/>
            </a:xfrm>
            <a:prstGeom prst="line">
              <a:avLst/>
            </a:prstGeom>
            <a:ln w="0" cap="flat" cmpd="sng">
              <a:solidFill>
                <a:srgbClr val="0000FF"/>
              </a:solidFill>
              <a:prstDash val="solid"/>
              <a:headEnd type="none" w="med" len="med"/>
              <a:tailEnd type="none" w="med" len="med"/>
            </a:ln>
          </p:spPr>
        </p:sp>
        <p:sp>
          <p:nvSpPr>
            <p:cNvPr id="29713" name="Line 41"/>
            <p:cNvSpPr/>
            <p:nvPr/>
          </p:nvSpPr>
          <p:spPr>
            <a:xfrm>
              <a:off x="1852" y="2691"/>
              <a:ext cx="1" cy="240"/>
            </a:xfrm>
            <a:prstGeom prst="line">
              <a:avLst/>
            </a:prstGeom>
            <a:ln w="0" cap="flat" cmpd="sng">
              <a:solidFill>
                <a:srgbClr val="0000FF"/>
              </a:solidFill>
              <a:prstDash val="solid"/>
              <a:headEnd type="none" w="med" len="med"/>
              <a:tailEnd type="none" w="med" len="med"/>
            </a:ln>
          </p:spPr>
        </p:sp>
        <p:sp>
          <p:nvSpPr>
            <p:cNvPr id="29714" name="Oval 42"/>
            <p:cNvSpPr/>
            <p:nvPr/>
          </p:nvSpPr>
          <p:spPr>
            <a:xfrm>
              <a:off x="1069" y="3202"/>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5" name="Oval 43"/>
            <p:cNvSpPr/>
            <p:nvPr/>
          </p:nvSpPr>
          <p:spPr>
            <a:xfrm>
              <a:off x="1821" y="3202"/>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6" name="Oval 44"/>
            <p:cNvSpPr/>
            <p:nvPr/>
          </p:nvSpPr>
          <p:spPr>
            <a:xfrm>
              <a:off x="1069" y="3457"/>
              <a:ext cx="78" cy="7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7" name="Oval 45"/>
            <p:cNvSpPr/>
            <p:nvPr/>
          </p:nvSpPr>
          <p:spPr>
            <a:xfrm>
              <a:off x="1821" y="3457"/>
              <a:ext cx="78" cy="7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18" name="Rectangle 46"/>
            <p:cNvSpPr/>
            <p:nvPr/>
          </p:nvSpPr>
          <p:spPr>
            <a:xfrm>
              <a:off x="1351" y="3081"/>
              <a:ext cx="300" cy="216"/>
            </a:xfrm>
            <a:prstGeom prst="rect">
              <a:avLst/>
            </a:prstGeom>
            <a:noFill/>
            <a:ln w="9525">
              <a:noFill/>
            </a:ln>
          </p:spPr>
          <p:txBody>
            <a:bodyPr wrap="none" lIns="0" tIns="0" rIns="0" bIns="0">
              <a:spAutoFit/>
            </a:bodyPr>
            <a:p>
              <a:pPr eaLnBrk="1" hangingPunct="1">
                <a:lnSpc>
                  <a:spcPct val="90000"/>
                </a:lnSpc>
              </a:pPr>
              <a:r>
                <a:rPr lang="en-US" altLang="zh-CN" sz="25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9719" name="Rectangle 47"/>
            <p:cNvSpPr/>
            <p:nvPr/>
          </p:nvSpPr>
          <p:spPr>
            <a:xfrm>
              <a:off x="850" y="1668"/>
              <a:ext cx="1644" cy="1677"/>
            </a:xfrm>
            <a:prstGeom prst="rect">
              <a:avLst/>
            </a:prstGeom>
            <a:noFill/>
            <a:ln w="0" cap="flat" cmpd="sng">
              <a:solidFill>
                <a:srgbClr val="0000FF"/>
              </a:solidFill>
              <a:prstDash val="sysDot"/>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0" name="Oval 48"/>
            <p:cNvSpPr/>
            <p:nvPr/>
          </p:nvSpPr>
          <p:spPr>
            <a:xfrm>
              <a:off x="1257" y="1458"/>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1" name="Oval 49"/>
            <p:cNvSpPr/>
            <p:nvPr/>
          </p:nvSpPr>
          <p:spPr>
            <a:xfrm>
              <a:off x="1508" y="1458"/>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2" name="Oval 50"/>
            <p:cNvSpPr/>
            <p:nvPr/>
          </p:nvSpPr>
          <p:spPr>
            <a:xfrm>
              <a:off x="1758" y="1458"/>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3" name="Oval 51"/>
            <p:cNvSpPr/>
            <p:nvPr/>
          </p:nvSpPr>
          <p:spPr>
            <a:xfrm>
              <a:off x="2009" y="1458"/>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4" name="Oval 52"/>
            <p:cNvSpPr/>
            <p:nvPr/>
          </p:nvSpPr>
          <p:spPr>
            <a:xfrm>
              <a:off x="2635" y="2660"/>
              <a:ext cx="78" cy="76"/>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5" name="Line 53"/>
            <p:cNvSpPr/>
            <p:nvPr/>
          </p:nvSpPr>
          <p:spPr>
            <a:xfrm>
              <a:off x="615" y="1954"/>
              <a:ext cx="240" cy="1"/>
            </a:xfrm>
            <a:prstGeom prst="line">
              <a:avLst/>
            </a:prstGeom>
            <a:ln w="0" cap="flat" cmpd="sng">
              <a:solidFill>
                <a:srgbClr val="0000FF"/>
              </a:solidFill>
              <a:prstDash val="solid"/>
              <a:headEnd type="none" w="med" len="med"/>
              <a:tailEnd type="none" w="med" len="med"/>
            </a:ln>
          </p:spPr>
        </p:sp>
        <p:sp>
          <p:nvSpPr>
            <p:cNvPr id="29726" name="Line 54"/>
            <p:cNvSpPr/>
            <p:nvPr/>
          </p:nvSpPr>
          <p:spPr>
            <a:xfrm>
              <a:off x="615" y="2465"/>
              <a:ext cx="240" cy="1"/>
            </a:xfrm>
            <a:prstGeom prst="line">
              <a:avLst/>
            </a:prstGeom>
            <a:ln w="0" cap="flat" cmpd="sng">
              <a:solidFill>
                <a:srgbClr val="0000FF"/>
              </a:solidFill>
              <a:prstDash val="solid"/>
              <a:headEnd type="none" w="med" len="med"/>
              <a:tailEnd type="none" w="med" len="med"/>
            </a:ln>
          </p:spPr>
        </p:sp>
        <p:sp>
          <p:nvSpPr>
            <p:cNvPr id="29727" name="Line 55"/>
            <p:cNvSpPr/>
            <p:nvPr/>
          </p:nvSpPr>
          <p:spPr>
            <a:xfrm>
              <a:off x="615" y="2961"/>
              <a:ext cx="238" cy="1"/>
            </a:xfrm>
            <a:prstGeom prst="line">
              <a:avLst/>
            </a:prstGeom>
            <a:ln w="0" cap="flat" cmpd="sng">
              <a:solidFill>
                <a:srgbClr val="0000FF"/>
              </a:solidFill>
              <a:prstDash val="solid"/>
              <a:headEnd type="none" w="med" len="med"/>
              <a:tailEnd type="none" w="med" len="med"/>
            </a:ln>
          </p:spPr>
        </p:sp>
        <p:sp>
          <p:nvSpPr>
            <p:cNvPr id="29728" name="Oval 56"/>
            <p:cNvSpPr/>
            <p:nvPr/>
          </p:nvSpPr>
          <p:spPr>
            <a:xfrm>
              <a:off x="537" y="1924"/>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29" name="Oval 57"/>
            <p:cNvSpPr/>
            <p:nvPr/>
          </p:nvSpPr>
          <p:spPr>
            <a:xfrm>
              <a:off x="537" y="2435"/>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30" name="Oval 58"/>
            <p:cNvSpPr/>
            <p:nvPr/>
          </p:nvSpPr>
          <p:spPr>
            <a:xfrm>
              <a:off x="537" y="2931"/>
              <a:ext cx="78" cy="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31" name="Rectangle 59"/>
            <p:cNvSpPr/>
            <p:nvPr/>
          </p:nvSpPr>
          <p:spPr>
            <a:xfrm>
              <a:off x="1320" y="1848"/>
              <a:ext cx="640" cy="173"/>
            </a:xfrm>
            <a:prstGeom prst="rect">
              <a:avLst/>
            </a:prstGeom>
            <a:noFill/>
            <a:ln w="9525">
              <a:noFill/>
            </a:ln>
          </p:spPr>
          <p:txBody>
            <a:bodyPr wrap="none" lIns="0" tIns="0" rIns="0" bIns="0">
              <a:spAutoFit/>
            </a:bodyPr>
            <a:p>
              <a:pPr eaLnBrk="1" hangingPunct="1">
                <a:lnSpc>
                  <a:spcPct val="90000"/>
                </a:lnSpc>
              </a:pPr>
              <a:r>
                <a:rPr lang="zh-CN" altLang="en-US" sz="2000" b="0" dirty="0">
                  <a:solidFill>
                    <a:srgbClr val="0000FF"/>
                  </a:solidFill>
                  <a:latin typeface="宋体" panose="02010600030101010101" pitchFamily="2" charset="-122"/>
                  <a:ea typeface="宋体" panose="02010600030101010101" pitchFamily="2" charset="-122"/>
                </a:rPr>
                <a:t>电平转换</a:t>
              </a:r>
              <a:endParaRPr lang="zh-CN" altLang="en-US" dirty="0">
                <a:latin typeface="Times New Roman" panose="02020603050405020304" pitchFamily="18" charset="0"/>
              </a:endParaRPr>
            </a:p>
          </p:txBody>
        </p:sp>
        <p:sp>
          <p:nvSpPr>
            <p:cNvPr id="29732" name="Rectangle 60"/>
            <p:cNvSpPr/>
            <p:nvPr/>
          </p:nvSpPr>
          <p:spPr>
            <a:xfrm>
              <a:off x="1341" y="2330"/>
              <a:ext cx="640" cy="173"/>
            </a:xfrm>
            <a:prstGeom prst="rect">
              <a:avLst/>
            </a:prstGeom>
            <a:noFill/>
            <a:ln w="9525">
              <a:noFill/>
            </a:ln>
          </p:spPr>
          <p:txBody>
            <a:bodyPr wrap="none" lIns="0" tIns="0" rIns="0" bIns="0">
              <a:spAutoFit/>
            </a:bodyPr>
            <a:p>
              <a:pPr eaLnBrk="1" hangingPunct="1">
                <a:lnSpc>
                  <a:spcPct val="90000"/>
                </a:lnSpc>
              </a:pPr>
              <a:r>
                <a:rPr lang="zh-CN" altLang="en-US" sz="2000" b="0" dirty="0">
                  <a:solidFill>
                    <a:srgbClr val="0000FF"/>
                  </a:solidFill>
                  <a:latin typeface="宋体" panose="02010600030101010101" pitchFamily="2" charset="-122"/>
                  <a:ea typeface="宋体" panose="02010600030101010101" pitchFamily="2" charset="-122"/>
                </a:rPr>
                <a:t>译码驱动</a:t>
              </a:r>
              <a:endParaRPr lang="zh-CN" altLang="en-US" dirty="0">
                <a:latin typeface="Times New Roman" panose="02020603050405020304" pitchFamily="18" charset="0"/>
              </a:endParaRPr>
            </a:p>
          </p:txBody>
        </p:sp>
        <p:sp>
          <p:nvSpPr>
            <p:cNvPr id="29733" name="Rectangle 61"/>
            <p:cNvSpPr/>
            <p:nvPr/>
          </p:nvSpPr>
          <p:spPr>
            <a:xfrm>
              <a:off x="2760" y="2600"/>
              <a:ext cx="330"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sp>
          <p:nvSpPr>
            <p:cNvPr id="29734" name="Rectangle 62"/>
            <p:cNvSpPr/>
            <p:nvPr/>
          </p:nvSpPr>
          <p:spPr>
            <a:xfrm>
              <a:off x="1179" y="1247"/>
              <a:ext cx="214"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EN</a:t>
              </a:r>
              <a:endParaRPr lang="en-US" altLang="zh-CN" dirty="0">
                <a:latin typeface="Times New Roman" panose="02020603050405020304" pitchFamily="18" charset="0"/>
              </a:endParaRPr>
            </a:p>
          </p:txBody>
        </p:sp>
        <p:grpSp>
          <p:nvGrpSpPr>
            <p:cNvPr id="29735" name="Group 65"/>
            <p:cNvGrpSpPr/>
            <p:nvPr/>
          </p:nvGrpSpPr>
          <p:grpSpPr>
            <a:xfrm>
              <a:off x="1711" y="1247"/>
              <a:ext cx="185" cy="175"/>
              <a:chOff x="1705" y="1211"/>
              <a:chExt cx="185" cy="175"/>
            </a:xfrm>
          </p:grpSpPr>
          <p:sp>
            <p:nvSpPr>
              <p:cNvPr id="29843" name="Rectangle 63"/>
              <p:cNvSpPr/>
              <p:nvPr/>
            </p:nvSpPr>
            <p:spPr>
              <a:xfrm>
                <a:off x="1705" y="1211"/>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844" name="Rectangle 64"/>
              <p:cNvSpPr/>
              <p:nvPr/>
            </p:nvSpPr>
            <p:spPr>
              <a:xfrm>
                <a:off x="1830" y="1256"/>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grpSp>
          <p:nvGrpSpPr>
            <p:cNvPr id="29736" name="Group 68"/>
            <p:cNvGrpSpPr/>
            <p:nvPr/>
          </p:nvGrpSpPr>
          <p:grpSpPr>
            <a:xfrm>
              <a:off x="1461" y="1247"/>
              <a:ext cx="169" cy="175"/>
              <a:chOff x="1455" y="1211"/>
              <a:chExt cx="169" cy="175"/>
            </a:xfrm>
          </p:grpSpPr>
          <p:sp>
            <p:nvSpPr>
              <p:cNvPr id="29841" name="Rectangle 66"/>
              <p:cNvSpPr/>
              <p:nvPr/>
            </p:nvSpPr>
            <p:spPr>
              <a:xfrm>
                <a:off x="1455" y="1211"/>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842" name="Rectangle 67"/>
              <p:cNvSpPr/>
              <p:nvPr/>
            </p:nvSpPr>
            <p:spPr>
              <a:xfrm>
                <a:off x="1564" y="1256"/>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grpSp>
        <p:grpSp>
          <p:nvGrpSpPr>
            <p:cNvPr id="29737" name="Group 71"/>
            <p:cNvGrpSpPr/>
            <p:nvPr/>
          </p:nvGrpSpPr>
          <p:grpSpPr>
            <a:xfrm>
              <a:off x="1946" y="1247"/>
              <a:ext cx="185" cy="175"/>
              <a:chOff x="1940" y="1211"/>
              <a:chExt cx="185" cy="175"/>
            </a:xfrm>
          </p:grpSpPr>
          <p:sp>
            <p:nvSpPr>
              <p:cNvPr id="29839" name="Rectangle 69"/>
              <p:cNvSpPr/>
              <p:nvPr/>
            </p:nvSpPr>
            <p:spPr>
              <a:xfrm>
                <a:off x="1940" y="1211"/>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840" name="Rectangle 70"/>
              <p:cNvSpPr/>
              <p:nvPr/>
            </p:nvSpPr>
            <p:spPr>
              <a:xfrm>
                <a:off x="2065" y="1256"/>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grpSp>
          <p:nvGrpSpPr>
            <p:cNvPr id="29738" name="Group 74"/>
            <p:cNvGrpSpPr/>
            <p:nvPr/>
          </p:nvGrpSpPr>
          <p:grpSpPr>
            <a:xfrm>
              <a:off x="1782" y="3518"/>
              <a:ext cx="146" cy="190"/>
              <a:chOff x="1776" y="3482"/>
              <a:chExt cx="146" cy="190"/>
            </a:xfrm>
          </p:grpSpPr>
          <p:sp>
            <p:nvSpPr>
              <p:cNvPr id="29837" name="Rectangle 72"/>
              <p:cNvSpPr/>
              <p:nvPr/>
            </p:nvSpPr>
            <p:spPr>
              <a:xfrm>
                <a:off x="1776" y="3482"/>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838" name="Rectangle 73"/>
              <p:cNvSpPr/>
              <p:nvPr/>
            </p:nvSpPr>
            <p:spPr>
              <a:xfrm>
                <a:off x="1862" y="354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grpSp>
        <p:grpSp>
          <p:nvGrpSpPr>
            <p:cNvPr id="29739" name="Group 77"/>
            <p:cNvGrpSpPr/>
            <p:nvPr/>
          </p:nvGrpSpPr>
          <p:grpSpPr>
            <a:xfrm>
              <a:off x="1046" y="3510"/>
              <a:ext cx="146" cy="183"/>
              <a:chOff x="1040" y="3474"/>
              <a:chExt cx="146" cy="183"/>
            </a:xfrm>
          </p:grpSpPr>
          <p:sp>
            <p:nvSpPr>
              <p:cNvPr id="29835" name="Rectangle 75"/>
              <p:cNvSpPr/>
              <p:nvPr/>
            </p:nvSpPr>
            <p:spPr>
              <a:xfrm>
                <a:off x="1040" y="3474"/>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836" name="Rectangle 76"/>
              <p:cNvSpPr/>
              <p:nvPr/>
            </p:nvSpPr>
            <p:spPr>
              <a:xfrm>
                <a:off x="1126" y="3527"/>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grpSp>
          <p:nvGrpSpPr>
            <p:cNvPr id="29740" name="Group 80"/>
            <p:cNvGrpSpPr/>
            <p:nvPr/>
          </p:nvGrpSpPr>
          <p:grpSpPr>
            <a:xfrm>
              <a:off x="255" y="2751"/>
              <a:ext cx="243" cy="190"/>
              <a:chOff x="249" y="2715"/>
              <a:chExt cx="243" cy="190"/>
            </a:xfrm>
          </p:grpSpPr>
          <p:sp>
            <p:nvSpPr>
              <p:cNvPr id="29833" name="Rectangle 78"/>
              <p:cNvSpPr/>
              <p:nvPr/>
            </p:nvSpPr>
            <p:spPr>
              <a:xfrm>
                <a:off x="249" y="2715"/>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9834" name="Rectangle 79"/>
              <p:cNvSpPr/>
              <p:nvPr/>
            </p:nvSpPr>
            <p:spPr>
              <a:xfrm>
                <a:off x="358" y="2775"/>
                <a:ext cx="134"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SS</a:t>
                </a:r>
                <a:endParaRPr lang="en-US" altLang="zh-CN" dirty="0">
                  <a:latin typeface="Times New Roman" panose="02020603050405020304" pitchFamily="18" charset="0"/>
                </a:endParaRPr>
              </a:p>
            </p:txBody>
          </p:sp>
        </p:grpSp>
        <p:grpSp>
          <p:nvGrpSpPr>
            <p:cNvPr id="29741" name="Group 83"/>
            <p:cNvGrpSpPr/>
            <p:nvPr/>
          </p:nvGrpSpPr>
          <p:grpSpPr>
            <a:xfrm>
              <a:off x="224" y="1728"/>
              <a:ext cx="283" cy="175"/>
              <a:chOff x="218" y="1692"/>
              <a:chExt cx="283" cy="175"/>
            </a:xfrm>
          </p:grpSpPr>
          <p:sp>
            <p:nvSpPr>
              <p:cNvPr id="29831" name="Rectangle 81"/>
              <p:cNvSpPr/>
              <p:nvPr/>
            </p:nvSpPr>
            <p:spPr>
              <a:xfrm>
                <a:off x="218" y="1692"/>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9832" name="Rectangle 82"/>
              <p:cNvSpPr/>
              <p:nvPr/>
            </p:nvSpPr>
            <p:spPr>
              <a:xfrm>
                <a:off x="327" y="1737"/>
                <a:ext cx="174"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sp>
          <p:nvSpPr>
            <p:cNvPr id="29742" name="Rectangle 84"/>
            <p:cNvSpPr/>
            <p:nvPr/>
          </p:nvSpPr>
          <p:spPr>
            <a:xfrm>
              <a:off x="192" y="3021"/>
              <a:ext cx="327"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29743" name="Rectangle 85"/>
            <p:cNvSpPr/>
            <p:nvPr/>
          </p:nvSpPr>
          <p:spPr>
            <a:xfrm>
              <a:off x="161" y="1999"/>
              <a:ext cx="355"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29744" name="Rectangle 86"/>
            <p:cNvSpPr/>
            <p:nvPr/>
          </p:nvSpPr>
          <p:spPr>
            <a:xfrm>
              <a:off x="302" y="2390"/>
              <a:ext cx="160" cy="173"/>
            </a:xfrm>
            <a:prstGeom prst="rect">
              <a:avLst/>
            </a:prstGeom>
            <a:noFill/>
            <a:ln w="9525">
              <a:noFill/>
            </a:ln>
          </p:spPr>
          <p:txBody>
            <a:bodyPr wrap="none" lIns="0" tIns="0" rIns="0" bIns="0">
              <a:spAutoFit/>
            </a:bodyPr>
            <a:p>
              <a:pPr eaLnBrk="1" hangingPunct="1">
                <a:lnSpc>
                  <a:spcPct val="90000"/>
                </a:lnSpc>
              </a:pPr>
              <a:r>
                <a:rPr lang="zh-CN" altLang="en-US" sz="2000" b="0" dirty="0">
                  <a:solidFill>
                    <a:srgbClr val="0000FF"/>
                  </a:solidFill>
                  <a:latin typeface="宋体" panose="02010600030101010101" pitchFamily="2" charset="-122"/>
                  <a:ea typeface="宋体" panose="02010600030101010101" pitchFamily="2" charset="-122"/>
                </a:rPr>
                <a:t>地</a:t>
              </a:r>
              <a:endParaRPr lang="zh-CN" altLang="en-US" dirty="0">
                <a:latin typeface="Times New Roman" panose="02020603050405020304" pitchFamily="18" charset="0"/>
              </a:endParaRPr>
            </a:p>
          </p:txBody>
        </p:sp>
        <p:sp>
          <p:nvSpPr>
            <p:cNvPr id="29745" name="Rectangle 87"/>
            <p:cNvSpPr/>
            <p:nvPr/>
          </p:nvSpPr>
          <p:spPr>
            <a:xfrm>
              <a:off x="3904" y="1412"/>
              <a:ext cx="1017" cy="207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746" name="Line 88"/>
            <p:cNvSpPr/>
            <p:nvPr/>
          </p:nvSpPr>
          <p:spPr>
            <a:xfrm>
              <a:off x="3653" y="1593"/>
              <a:ext cx="251" cy="1"/>
            </a:xfrm>
            <a:prstGeom prst="line">
              <a:avLst/>
            </a:prstGeom>
            <a:ln w="0" cap="flat" cmpd="sng">
              <a:solidFill>
                <a:srgbClr val="0000FF"/>
              </a:solidFill>
              <a:prstDash val="solid"/>
              <a:headEnd type="none" w="med" len="med"/>
              <a:tailEnd type="none" w="med" len="med"/>
            </a:ln>
          </p:spPr>
        </p:sp>
        <p:sp>
          <p:nvSpPr>
            <p:cNvPr id="29747" name="Line 89"/>
            <p:cNvSpPr/>
            <p:nvPr/>
          </p:nvSpPr>
          <p:spPr>
            <a:xfrm>
              <a:off x="3669" y="1833"/>
              <a:ext cx="237" cy="1"/>
            </a:xfrm>
            <a:prstGeom prst="line">
              <a:avLst/>
            </a:prstGeom>
            <a:ln w="0" cap="flat" cmpd="sng">
              <a:solidFill>
                <a:srgbClr val="0000FF"/>
              </a:solidFill>
              <a:prstDash val="solid"/>
              <a:headEnd type="none" w="med" len="med"/>
              <a:tailEnd type="none" w="med" len="med"/>
            </a:ln>
          </p:spPr>
        </p:sp>
        <p:sp>
          <p:nvSpPr>
            <p:cNvPr id="29748" name="Line 90"/>
            <p:cNvSpPr/>
            <p:nvPr/>
          </p:nvSpPr>
          <p:spPr>
            <a:xfrm>
              <a:off x="3669" y="2074"/>
              <a:ext cx="237" cy="1"/>
            </a:xfrm>
            <a:prstGeom prst="line">
              <a:avLst/>
            </a:prstGeom>
            <a:ln w="0" cap="flat" cmpd="sng">
              <a:solidFill>
                <a:srgbClr val="0000FF"/>
              </a:solidFill>
              <a:prstDash val="solid"/>
              <a:headEnd type="none" w="med" len="med"/>
              <a:tailEnd type="none" w="med" len="med"/>
            </a:ln>
          </p:spPr>
        </p:sp>
        <p:sp>
          <p:nvSpPr>
            <p:cNvPr id="29749" name="Line 91"/>
            <p:cNvSpPr/>
            <p:nvPr/>
          </p:nvSpPr>
          <p:spPr>
            <a:xfrm>
              <a:off x="3669" y="2315"/>
              <a:ext cx="237" cy="1"/>
            </a:xfrm>
            <a:prstGeom prst="line">
              <a:avLst/>
            </a:prstGeom>
            <a:ln w="0" cap="flat" cmpd="sng">
              <a:solidFill>
                <a:srgbClr val="0000FF"/>
              </a:solidFill>
              <a:prstDash val="solid"/>
              <a:headEnd type="none" w="med" len="med"/>
              <a:tailEnd type="none" w="med" len="med"/>
            </a:ln>
          </p:spPr>
        </p:sp>
        <p:sp>
          <p:nvSpPr>
            <p:cNvPr id="29750" name="Line 92"/>
            <p:cNvSpPr/>
            <p:nvPr/>
          </p:nvSpPr>
          <p:spPr>
            <a:xfrm>
              <a:off x="3653" y="2555"/>
              <a:ext cx="251" cy="1"/>
            </a:xfrm>
            <a:prstGeom prst="line">
              <a:avLst/>
            </a:prstGeom>
            <a:ln w="0" cap="flat" cmpd="sng">
              <a:solidFill>
                <a:srgbClr val="0000FF"/>
              </a:solidFill>
              <a:prstDash val="solid"/>
              <a:headEnd type="none" w="med" len="med"/>
              <a:tailEnd type="none" w="med" len="med"/>
            </a:ln>
          </p:spPr>
        </p:sp>
        <p:sp>
          <p:nvSpPr>
            <p:cNvPr id="29751" name="Line 93"/>
            <p:cNvSpPr/>
            <p:nvPr/>
          </p:nvSpPr>
          <p:spPr>
            <a:xfrm>
              <a:off x="3669" y="2796"/>
              <a:ext cx="237" cy="1"/>
            </a:xfrm>
            <a:prstGeom prst="line">
              <a:avLst/>
            </a:prstGeom>
            <a:ln w="0" cap="flat" cmpd="sng">
              <a:solidFill>
                <a:srgbClr val="0000FF"/>
              </a:solidFill>
              <a:prstDash val="solid"/>
              <a:headEnd type="none" w="med" len="med"/>
              <a:tailEnd type="none" w="med" len="med"/>
            </a:ln>
          </p:spPr>
        </p:sp>
        <p:sp>
          <p:nvSpPr>
            <p:cNvPr id="29752" name="Line 94"/>
            <p:cNvSpPr/>
            <p:nvPr/>
          </p:nvSpPr>
          <p:spPr>
            <a:xfrm>
              <a:off x="3653" y="3036"/>
              <a:ext cx="251" cy="1"/>
            </a:xfrm>
            <a:prstGeom prst="line">
              <a:avLst/>
            </a:prstGeom>
            <a:ln w="0" cap="flat" cmpd="sng">
              <a:solidFill>
                <a:srgbClr val="0000FF"/>
              </a:solidFill>
              <a:prstDash val="solid"/>
              <a:headEnd type="none" w="med" len="med"/>
              <a:tailEnd type="none" w="med" len="med"/>
            </a:ln>
          </p:spPr>
        </p:sp>
        <p:sp>
          <p:nvSpPr>
            <p:cNvPr id="29753" name="Line 95"/>
            <p:cNvSpPr/>
            <p:nvPr/>
          </p:nvSpPr>
          <p:spPr>
            <a:xfrm>
              <a:off x="3669" y="3277"/>
              <a:ext cx="237" cy="1"/>
            </a:xfrm>
            <a:prstGeom prst="line">
              <a:avLst/>
            </a:prstGeom>
            <a:ln w="0" cap="flat" cmpd="sng">
              <a:solidFill>
                <a:srgbClr val="0000FF"/>
              </a:solidFill>
              <a:prstDash val="solid"/>
              <a:headEnd type="none" w="med" len="med"/>
              <a:tailEnd type="none" w="med" len="med"/>
            </a:ln>
          </p:spPr>
        </p:sp>
        <p:sp>
          <p:nvSpPr>
            <p:cNvPr id="29754" name="Line 96"/>
            <p:cNvSpPr/>
            <p:nvPr/>
          </p:nvSpPr>
          <p:spPr>
            <a:xfrm>
              <a:off x="4919" y="1593"/>
              <a:ext cx="237" cy="1"/>
            </a:xfrm>
            <a:prstGeom prst="line">
              <a:avLst/>
            </a:prstGeom>
            <a:ln w="0" cap="flat" cmpd="sng">
              <a:solidFill>
                <a:srgbClr val="0000FF"/>
              </a:solidFill>
              <a:prstDash val="solid"/>
              <a:headEnd type="none" w="med" len="med"/>
              <a:tailEnd type="none" w="med" len="med"/>
            </a:ln>
          </p:spPr>
        </p:sp>
        <p:sp>
          <p:nvSpPr>
            <p:cNvPr id="29755" name="Line 97"/>
            <p:cNvSpPr/>
            <p:nvPr/>
          </p:nvSpPr>
          <p:spPr>
            <a:xfrm>
              <a:off x="4921" y="1833"/>
              <a:ext cx="251" cy="1"/>
            </a:xfrm>
            <a:prstGeom prst="line">
              <a:avLst/>
            </a:prstGeom>
            <a:ln w="0" cap="flat" cmpd="sng">
              <a:solidFill>
                <a:srgbClr val="0000FF"/>
              </a:solidFill>
              <a:prstDash val="solid"/>
              <a:headEnd type="none" w="med" len="med"/>
              <a:tailEnd type="none" w="med" len="med"/>
            </a:ln>
          </p:spPr>
        </p:sp>
        <p:sp>
          <p:nvSpPr>
            <p:cNvPr id="29756" name="Line 98"/>
            <p:cNvSpPr/>
            <p:nvPr/>
          </p:nvSpPr>
          <p:spPr>
            <a:xfrm>
              <a:off x="4921" y="2074"/>
              <a:ext cx="251" cy="1"/>
            </a:xfrm>
            <a:prstGeom prst="line">
              <a:avLst/>
            </a:prstGeom>
            <a:ln w="0" cap="flat" cmpd="sng">
              <a:solidFill>
                <a:srgbClr val="0000FF"/>
              </a:solidFill>
              <a:prstDash val="solid"/>
              <a:headEnd type="none" w="med" len="med"/>
              <a:tailEnd type="none" w="med" len="med"/>
            </a:ln>
          </p:spPr>
        </p:sp>
        <p:sp>
          <p:nvSpPr>
            <p:cNvPr id="29757" name="Line 99"/>
            <p:cNvSpPr/>
            <p:nvPr/>
          </p:nvSpPr>
          <p:spPr>
            <a:xfrm>
              <a:off x="4921" y="2315"/>
              <a:ext cx="251" cy="1"/>
            </a:xfrm>
            <a:prstGeom prst="line">
              <a:avLst/>
            </a:prstGeom>
            <a:ln w="0" cap="flat" cmpd="sng">
              <a:solidFill>
                <a:srgbClr val="0000FF"/>
              </a:solidFill>
              <a:prstDash val="solid"/>
              <a:headEnd type="none" w="med" len="med"/>
              <a:tailEnd type="none" w="med" len="med"/>
            </a:ln>
          </p:spPr>
        </p:sp>
        <p:sp>
          <p:nvSpPr>
            <p:cNvPr id="29758" name="Line 100"/>
            <p:cNvSpPr/>
            <p:nvPr/>
          </p:nvSpPr>
          <p:spPr>
            <a:xfrm>
              <a:off x="4919" y="2555"/>
              <a:ext cx="237" cy="1"/>
            </a:xfrm>
            <a:prstGeom prst="line">
              <a:avLst/>
            </a:prstGeom>
            <a:ln w="0" cap="flat" cmpd="sng">
              <a:solidFill>
                <a:srgbClr val="0000FF"/>
              </a:solidFill>
              <a:prstDash val="solid"/>
              <a:headEnd type="none" w="med" len="med"/>
              <a:tailEnd type="none" w="med" len="med"/>
            </a:ln>
          </p:spPr>
        </p:sp>
        <p:sp>
          <p:nvSpPr>
            <p:cNvPr id="29759" name="Line 101"/>
            <p:cNvSpPr/>
            <p:nvPr/>
          </p:nvSpPr>
          <p:spPr>
            <a:xfrm>
              <a:off x="4921" y="2796"/>
              <a:ext cx="251" cy="1"/>
            </a:xfrm>
            <a:prstGeom prst="line">
              <a:avLst/>
            </a:prstGeom>
            <a:ln w="0" cap="flat" cmpd="sng">
              <a:solidFill>
                <a:srgbClr val="0000FF"/>
              </a:solidFill>
              <a:prstDash val="solid"/>
              <a:headEnd type="none" w="med" len="med"/>
              <a:tailEnd type="none" w="med" len="med"/>
            </a:ln>
          </p:spPr>
        </p:sp>
        <p:sp>
          <p:nvSpPr>
            <p:cNvPr id="29760" name="Line 102"/>
            <p:cNvSpPr/>
            <p:nvPr/>
          </p:nvSpPr>
          <p:spPr>
            <a:xfrm>
              <a:off x="4919" y="3036"/>
              <a:ext cx="237" cy="1"/>
            </a:xfrm>
            <a:prstGeom prst="line">
              <a:avLst/>
            </a:prstGeom>
            <a:ln w="0" cap="flat" cmpd="sng">
              <a:solidFill>
                <a:srgbClr val="0000FF"/>
              </a:solidFill>
              <a:prstDash val="solid"/>
              <a:headEnd type="none" w="med" len="med"/>
              <a:tailEnd type="none" w="med" len="med"/>
            </a:ln>
          </p:spPr>
        </p:sp>
        <p:sp>
          <p:nvSpPr>
            <p:cNvPr id="29761" name="Line 103"/>
            <p:cNvSpPr/>
            <p:nvPr/>
          </p:nvSpPr>
          <p:spPr>
            <a:xfrm>
              <a:off x="4921" y="3277"/>
              <a:ext cx="251" cy="1"/>
            </a:xfrm>
            <a:prstGeom prst="line">
              <a:avLst/>
            </a:prstGeom>
            <a:ln w="0" cap="flat" cmpd="sng">
              <a:solidFill>
                <a:srgbClr val="0000FF"/>
              </a:solidFill>
              <a:prstDash val="solid"/>
              <a:headEnd type="none" w="med" len="med"/>
              <a:tailEnd type="none" w="med" len="med"/>
            </a:ln>
          </p:spPr>
        </p:sp>
        <p:sp>
          <p:nvSpPr>
            <p:cNvPr id="29762" name="Rectangle 104"/>
            <p:cNvSpPr/>
            <p:nvPr/>
          </p:nvSpPr>
          <p:spPr>
            <a:xfrm>
              <a:off x="3997" y="1533"/>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9763" name="Rectangle 105"/>
            <p:cNvSpPr/>
            <p:nvPr/>
          </p:nvSpPr>
          <p:spPr>
            <a:xfrm>
              <a:off x="3982" y="1773"/>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9764" name="Rectangle 106"/>
            <p:cNvSpPr/>
            <p:nvPr/>
          </p:nvSpPr>
          <p:spPr>
            <a:xfrm>
              <a:off x="3997" y="1999"/>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29765" name="Rectangle 107"/>
            <p:cNvSpPr/>
            <p:nvPr/>
          </p:nvSpPr>
          <p:spPr>
            <a:xfrm>
              <a:off x="3997" y="2254"/>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29766" name="Rectangle 108"/>
            <p:cNvSpPr/>
            <p:nvPr/>
          </p:nvSpPr>
          <p:spPr>
            <a:xfrm>
              <a:off x="3997" y="2480"/>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29767" name="Rectangle 109"/>
            <p:cNvSpPr/>
            <p:nvPr/>
          </p:nvSpPr>
          <p:spPr>
            <a:xfrm>
              <a:off x="3997" y="2721"/>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29768" name="Rectangle 110"/>
            <p:cNvSpPr/>
            <p:nvPr/>
          </p:nvSpPr>
          <p:spPr>
            <a:xfrm>
              <a:off x="3997" y="2961"/>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29769" name="Rectangle 111"/>
            <p:cNvSpPr/>
            <p:nvPr/>
          </p:nvSpPr>
          <p:spPr>
            <a:xfrm>
              <a:off x="3997" y="3217"/>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29770" name="Rectangle 112"/>
            <p:cNvSpPr/>
            <p:nvPr/>
          </p:nvSpPr>
          <p:spPr>
            <a:xfrm>
              <a:off x="4749" y="320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29771" name="Rectangle 113"/>
            <p:cNvSpPr/>
            <p:nvPr/>
          </p:nvSpPr>
          <p:spPr>
            <a:xfrm>
              <a:off x="4702" y="2976"/>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29772" name="Rectangle 114"/>
            <p:cNvSpPr/>
            <p:nvPr/>
          </p:nvSpPr>
          <p:spPr>
            <a:xfrm>
              <a:off x="4718" y="2736"/>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29773" name="Rectangle 115"/>
            <p:cNvSpPr/>
            <p:nvPr/>
          </p:nvSpPr>
          <p:spPr>
            <a:xfrm>
              <a:off x="4718" y="2495"/>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29774" name="Rectangle 116"/>
            <p:cNvSpPr/>
            <p:nvPr/>
          </p:nvSpPr>
          <p:spPr>
            <a:xfrm>
              <a:off x="4702" y="2239"/>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29775" name="Rectangle 117"/>
            <p:cNvSpPr/>
            <p:nvPr/>
          </p:nvSpPr>
          <p:spPr>
            <a:xfrm>
              <a:off x="4718" y="1984"/>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29776" name="Rectangle 118"/>
            <p:cNvSpPr/>
            <p:nvPr/>
          </p:nvSpPr>
          <p:spPr>
            <a:xfrm>
              <a:off x="4733" y="1758"/>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29777" name="Rectangle 119"/>
            <p:cNvSpPr/>
            <p:nvPr/>
          </p:nvSpPr>
          <p:spPr>
            <a:xfrm>
              <a:off x="4718" y="1518"/>
              <a:ext cx="12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grpSp>
          <p:nvGrpSpPr>
            <p:cNvPr id="29778" name="Group 122"/>
            <p:cNvGrpSpPr/>
            <p:nvPr/>
          </p:nvGrpSpPr>
          <p:grpSpPr>
            <a:xfrm>
              <a:off x="3418" y="1503"/>
              <a:ext cx="185" cy="175"/>
              <a:chOff x="3412" y="1467"/>
              <a:chExt cx="185" cy="175"/>
            </a:xfrm>
          </p:grpSpPr>
          <p:sp>
            <p:nvSpPr>
              <p:cNvPr id="29829" name="Rectangle 120"/>
              <p:cNvSpPr/>
              <p:nvPr/>
            </p:nvSpPr>
            <p:spPr>
              <a:xfrm>
                <a:off x="3412" y="1467"/>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830" name="Rectangle 121"/>
              <p:cNvSpPr/>
              <p:nvPr/>
            </p:nvSpPr>
            <p:spPr>
              <a:xfrm>
                <a:off x="3537" y="151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sp>
          <p:nvSpPr>
            <p:cNvPr id="29779" name="Rectangle 123"/>
            <p:cNvSpPr/>
            <p:nvPr/>
          </p:nvSpPr>
          <p:spPr>
            <a:xfrm>
              <a:off x="3277" y="1743"/>
              <a:ext cx="348"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GND</a:t>
              </a:r>
              <a:endParaRPr lang="en-US" altLang="zh-CN" dirty="0">
                <a:latin typeface="Times New Roman" panose="02020603050405020304" pitchFamily="18" charset="0"/>
              </a:endParaRPr>
            </a:p>
          </p:txBody>
        </p:sp>
        <p:sp>
          <p:nvSpPr>
            <p:cNvPr id="29780" name="Rectangle 124"/>
            <p:cNvSpPr/>
            <p:nvPr/>
          </p:nvSpPr>
          <p:spPr>
            <a:xfrm>
              <a:off x="3402" y="1984"/>
              <a:ext cx="214"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EN</a:t>
              </a:r>
              <a:endParaRPr lang="en-US" altLang="zh-CN" dirty="0">
                <a:latin typeface="Times New Roman" panose="02020603050405020304" pitchFamily="18" charset="0"/>
              </a:endParaRPr>
            </a:p>
          </p:txBody>
        </p:sp>
        <p:sp>
          <p:nvSpPr>
            <p:cNvPr id="29781" name="Rectangle 125"/>
            <p:cNvSpPr/>
            <p:nvPr/>
          </p:nvSpPr>
          <p:spPr>
            <a:xfrm>
              <a:off x="3410" y="2209"/>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782" name="Rectangle 126"/>
            <p:cNvSpPr/>
            <p:nvPr/>
          </p:nvSpPr>
          <p:spPr>
            <a:xfrm>
              <a:off x="3528" y="2254"/>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9783" name="Rectangle 127"/>
            <p:cNvSpPr/>
            <p:nvPr/>
          </p:nvSpPr>
          <p:spPr>
            <a:xfrm>
              <a:off x="3434" y="2435"/>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84" name="Rectangle 128"/>
            <p:cNvSpPr/>
            <p:nvPr/>
          </p:nvSpPr>
          <p:spPr>
            <a:xfrm>
              <a:off x="3528" y="2480"/>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29785" name="Rectangle 129"/>
            <p:cNvSpPr/>
            <p:nvPr/>
          </p:nvSpPr>
          <p:spPr>
            <a:xfrm>
              <a:off x="5250" y="2209"/>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86" name="Rectangle 130"/>
            <p:cNvSpPr/>
            <p:nvPr/>
          </p:nvSpPr>
          <p:spPr>
            <a:xfrm>
              <a:off x="5329" y="2254"/>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9787" name="Rectangle 131"/>
            <p:cNvSpPr/>
            <p:nvPr/>
          </p:nvSpPr>
          <p:spPr>
            <a:xfrm>
              <a:off x="5250" y="2691"/>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88" name="Rectangle 132"/>
            <p:cNvSpPr/>
            <p:nvPr/>
          </p:nvSpPr>
          <p:spPr>
            <a:xfrm>
              <a:off x="5344" y="2751"/>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9789" name="Rectangle 133"/>
            <p:cNvSpPr/>
            <p:nvPr/>
          </p:nvSpPr>
          <p:spPr>
            <a:xfrm>
              <a:off x="5344" y="2991"/>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29790" name="Rectangle 134"/>
            <p:cNvSpPr/>
            <p:nvPr/>
          </p:nvSpPr>
          <p:spPr>
            <a:xfrm>
              <a:off x="5250" y="2931"/>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91" name="Rectangle 135"/>
            <p:cNvSpPr/>
            <p:nvPr/>
          </p:nvSpPr>
          <p:spPr>
            <a:xfrm>
              <a:off x="3528" y="320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29792" name="Rectangle 136"/>
            <p:cNvSpPr/>
            <p:nvPr/>
          </p:nvSpPr>
          <p:spPr>
            <a:xfrm>
              <a:off x="3442" y="3157"/>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93" name="Rectangle 137"/>
            <p:cNvSpPr/>
            <p:nvPr/>
          </p:nvSpPr>
          <p:spPr>
            <a:xfrm>
              <a:off x="3536" y="2991"/>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29794" name="Rectangle 138"/>
            <p:cNvSpPr/>
            <p:nvPr/>
          </p:nvSpPr>
          <p:spPr>
            <a:xfrm>
              <a:off x="3442" y="2931"/>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95" name="Rectangle 139"/>
            <p:cNvSpPr/>
            <p:nvPr/>
          </p:nvSpPr>
          <p:spPr>
            <a:xfrm>
              <a:off x="5344" y="320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29796" name="Rectangle 140"/>
            <p:cNvSpPr/>
            <p:nvPr/>
          </p:nvSpPr>
          <p:spPr>
            <a:xfrm>
              <a:off x="5250" y="3157"/>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97" name="Rectangle 141"/>
            <p:cNvSpPr/>
            <p:nvPr/>
          </p:nvSpPr>
          <p:spPr>
            <a:xfrm>
              <a:off x="3543" y="2736"/>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29798" name="Rectangle 142"/>
            <p:cNvSpPr/>
            <p:nvPr/>
          </p:nvSpPr>
          <p:spPr>
            <a:xfrm>
              <a:off x="3442" y="2691"/>
              <a:ext cx="89"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9799" name="Rectangle 143"/>
            <p:cNvSpPr/>
            <p:nvPr/>
          </p:nvSpPr>
          <p:spPr>
            <a:xfrm>
              <a:off x="5203" y="2435"/>
              <a:ext cx="330"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grpSp>
          <p:nvGrpSpPr>
            <p:cNvPr id="29800" name="Group 146"/>
            <p:cNvGrpSpPr/>
            <p:nvPr/>
          </p:nvGrpSpPr>
          <p:grpSpPr>
            <a:xfrm>
              <a:off x="5219" y="1969"/>
              <a:ext cx="284" cy="175"/>
              <a:chOff x="5213" y="1933"/>
              <a:chExt cx="284" cy="175"/>
            </a:xfrm>
          </p:grpSpPr>
          <p:sp>
            <p:nvSpPr>
              <p:cNvPr id="29827" name="Rectangle 144"/>
              <p:cNvSpPr/>
              <p:nvPr/>
            </p:nvSpPr>
            <p:spPr>
              <a:xfrm>
                <a:off x="5213" y="1933"/>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9828" name="Rectangle 145"/>
              <p:cNvSpPr/>
              <p:nvPr/>
            </p:nvSpPr>
            <p:spPr>
              <a:xfrm>
                <a:off x="5323" y="1978"/>
                <a:ext cx="174"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grpSp>
          <p:nvGrpSpPr>
            <p:cNvPr id="29801" name="Group 149"/>
            <p:cNvGrpSpPr/>
            <p:nvPr/>
          </p:nvGrpSpPr>
          <p:grpSpPr>
            <a:xfrm>
              <a:off x="5219" y="1728"/>
              <a:ext cx="244" cy="190"/>
              <a:chOff x="5213" y="1692"/>
              <a:chExt cx="244" cy="190"/>
            </a:xfrm>
          </p:grpSpPr>
          <p:sp>
            <p:nvSpPr>
              <p:cNvPr id="29825" name="Rectangle 147"/>
              <p:cNvSpPr/>
              <p:nvPr/>
            </p:nvSpPr>
            <p:spPr>
              <a:xfrm>
                <a:off x="5213" y="1692"/>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9826" name="Rectangle 148"/>
              <p:cNvSpPr/>
              <p:nvPr/>
            </p:nvSpPr>
            <p:spPr>
              <a:xfrm>
                <a:off x="5323" y="1752"/>
                <a:ext cx="134"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SS</a:t>
                </a:r>
                <a:endParaRPr lang="en-US" altLang="zh-CN" dirty="0">
                  <a:latin typeface="Times New Roman" panose="02020603050405020304" pitchFamily="18" charset="0"/>
                </a:endParaRPr>
              </a:p>
            </p:txBody>
          </p:sp>
        </p:grpSp>
        <p:grpSp>
          <p:nvGrpSpPr>
            <p:cNvPr id="29802" name="Group 152"/>
            <p:cNvGrpSpPr/>
            <p:nvPr/>
          </p:nvGrpSpPr>
          <p:grpSpPr>
            <a:xfrm>
              <a:off x="5219" y="1473"/>
              <a:ext cx="185" cy="175"/>
              <a:chOff x="5213" y="1437"/>
              <a:chExt cx="185" cy="175"/>
            </a:xfrm>
          </p:grpSpPr>
          <p:sp>
            <p:nvSpPr>
              <p:cNvPr id="29823" name="Rectangle 150"/>
              <p:cNvSpPr/>
              <p:nvPr/>
            </p:nvSpPr>
            <p:spPr>
              <a:xfrm>
                <a:off x="5213" y="1437"/>
                <a:ext cx="116"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29824" name="Rectangle 151"/>
              <p:cNvSpPr/>
              <p:nvPr/>
            </p:nvSpPr>
            <p:spPr>
              <a:xfrm>
                <a:off x="5338" y="1482"/>
                <a:ext cx="60"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grpSp>
          <p:nvGrpSpPr>
            <p:cNvPr id="29803" name="Group 155"/>
            <p:cNvGrpSpPr/>
            <p:nvPr/>
          </p:nvGrpSpPr>
          <p:grpSpPr>
            <a:xfrm>
              <a:off x="4232" y="2059"/>
              <a:ext cx="320" cy="338"/>
              <a:chOff x="4226" y="2023"/>
              <a:chExt cx="320" cy="338"/>
            </a:xfrm>
          </p:grpSpPr>
          <p:sp>
            <p:nvSpPr>
              <p:cNvPr id="29821" name="Rectangle 153"/>
              <p:cNvSpPr/>
              <p:nvPr/>
            </p:nvSpPr>
            <p:spPr>
              <a:xfrm>
                <a:off x="4289" y="2023"/>
                <a:ext cx="232"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AD</a:t>
                </a:r>
                <a:endParaRPr lang="en-US" altLang="zh-CN" dirty="0">
                  <a:latin typeface="Times New Roman" panose="02020603050405020304" pitchFamily="18" charset="0"/>
                </a:endParaRPr>
              </a:p>
            </p:txBody>
          </p:sp>
          <p:sp>
            <p:nvSpPr>
              <p:cNvPr id="29822" name="Rectangle 154"/>
              <p:cNvSpPr/>
              <p:nvPr/>
            </p:nvSpPr>
            <p:spPr>
              <a:xfrm>
                <a:off x="4226" y="2188"/>
                <a:ext cx="320" cy="173"/>
              </a:xfrm>
              <a:prstGeom prst="rect">
                <a:avLst/>
              </a:prstGeom>
              <a:noFill/>
              <a:ln w="9525">
                <a:noFill/>
              </a:ln>
            </p:spPr>
            <p:txBody>
              <a:bodyPr wrap="none" lIns="0" tIns="0" rIns="0" bIns="0">
                <a:spAutoFit/>
              </a:bodyPr>
              <a:p>
                <a:pPr eaLnBrk="1" hangingPunct="1">
                  <a:lnSpc>
                    <a:spcPct val="90000"/>
                  </a:lnSpc>
                </a:pPr>
                <a:r>
                  <a:rPr lang="en-US" altLang="zh-CN" sz="2000" b="0" dirty="0">
                    <a:solidFill>
                      <a:srgbClr val="0000FF"/>
                    </a:solidFill>
                    <a:latin typeface="Times New Roman" panose="02020603050405020304" pitchFamily="18" charset="0"/>
                  </a:rPr>
                  <a:t>7501</a:t>
                </a:r>
                <a:endParaRPr lang="en-US" altLang="zh-CN" dirty="0">
                  <a:latin typeface="Times New Roman" panose="02020603050405020304" pitchFamily="18" charset="0"/>
                </a:endParaRPr>
              </a:p>
            </p:txBody>
          </p:sp>
        </p:grpSp>
        <p:sp>
          <p:nvSpPr>
            <p:cNvPr id="29804" name="Rectangle 156"/>
            <p:cNvSpPr/>
            <p:nvPr/>
          </p:nvSpPr>
          <p:spPr>
            <a:xfrm>
              <a:off x="1382" y="2811"/>
              <a:ext cx="300" cy="216"/>
            </a:xfrm>
            <a:prstGeom prst="rect">
              <a:avLst/>
            </a:prstGeom>
            <a:noFill/>
            <a:ln w="9525">
              <a:noFill/>
            </a:ln>
          </p:spPr>
          <p:txBody>
            <a:bodyPr wrap="none" lIns="0" tIns="0" rIns="0" bIns="0">
              <a:spAutoFit/>
            </a:bodyPr>
            <a:p>
              <a:pPr eaLnBrk="1" hangingPunct="1">
                <a:lnSpc>
                  <a:spcPct val="90000"/>
                </a:lnSpc>
              </a:pPr>
              <a:r>
                <a:rPr lang="en-US" altLang="zh-CN" sz="25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9805" name="Oval 157"/>
            <p:cNvSpPr/>
            <p:nvPr/>
          </p:nvSpPr>
          <p:spPr>
            <a:xfrm>
              <a:off x="4248" y="1285"/>
              <a:ext cx="298" cy="25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9806" name="Rectangle 158"/>
            <p:cNvSpPr/>
            <p:nvPr/>
          </p:nvSpPr>
          <p:spPr>
            <a:xfrm>
              <a:off x="4138" y="1271"/>
              <a:ext cx="470" cy="135"/>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29807" name="Rectangle 159"/>
            <p:cNvSpPr/>
            <p:nvPr/>
          </p:nvSpPr>
          <p:spPr>
            <a:xfrm>
              <a:off x="4253" y="1367"/>
              <a:ext cx="287" cy="50"/>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29808" name="Rectangle 160"/>
            <p:cNvSpPr/>
            <p:nvPr/>
          </p:nvSpPr>
          <p:spPr>
            <a:xfrm>
              <a:off x="4519" y="1385"/>
              <a:ext cx="24" cy="30"/>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29809" name="Line 161"/>
            <p:cNvSpPr/>
            <p:nvPr/>
          </p:nvSpPr>
          <p:spPr>
            <a:xfrm>
              <a:off x="1103" y="2691"/>
              <a:ext cx="1537" cy="1"/>
            </a:xfrm>
            <a:prstGeom prst="line">
              <a:avLst/>
            </a:prstGeom>
            <a:ln w="0" cap="flat" cmpd="sng">
              <a:solidFill>
                <a:srgbClr val="0000FF"/>
              </a:solidFill>
              <a:prstDash val="solid"/>
              <a:headEnd type="none" w="med" len="med"/>
              <a:tailEnd type="none" w="med" len="med"/>
            </a:ln>
          </p:spPr>
        </p:sp>
        <p:sp>
          <p:nvSpPr>
            <p:cNvPr id="29810" name="Line 162"/>
            <p:cNvSpPr/>
            <p:nvPr/>
          </p:nvSpPr>
          <p:spPr>
            <a:xfrm>
              <a:off x="2040" y="2099"/>
              <a:ext cx="1" cy="155"/>
            </a:xfrm>
            <a:prstGeom prst="line">
              <a:avLst/>
            </a:prstGeom>
            <a:ln w="0" cap="flat" cmpd="sng">
              <a:solidFill>
                <a:srgbClr val="0000FF"/>
              </a:solidFill>
              <a:prstDash val="solid"/>
              <a:headEnd type="none" w="med" len="med"/>
              <a:tailEnd type="none" w="med" len="med"/>
            </a:ln>
          </p:spPr>
        </p:sp>
        <p:sp>
          <p:nvSpPr>
            <p:cNvPr id="29811" name="Line 164"/>
            <p:cNvSpPr/>
            <p:nvPr/>
          </p:nvSpPr>
          <p:spPr>
            <a:xfrm flipV="1">
              <a:off x="1855" y="3272"/>
              <a:ext cx="1" cy="185"/>
            </a:xfrm>
            <a:prstGeom prst="line">
              <a:avLst/>
            </a:prstGeom>
            <a:ln w="0" cap="flat" cmpd="sng">
              <a:solidFill>
                <a:srgbClr val="0000FF"/>
              </a:solidFill>
              <a:prstDash val="solid"/>
              <a:headEnd type="none" w="med" len="med"/>
              <a:tailEnd type="none" w="med" len="med"/>
            </a:ln>
          </p:spPr>
        </p:sp>
        <p:sp>
          <p:nvSpPr>
            <p:cNvPr id="29812" name="Line 165"/>
            <p:cNvSpPr/>
            <p:nvPr/>
          </p:nvSpPr>
          <p:spPr>
            <a:xfrm flipV="1">
              <a:off x="1100" y="3272"/>
              <a:ext cx="1" cy="185"/>
            </a:xfrm>
            <a:prstGeom prst="line">
              <a:avLst/>
            </a:prstGeom>
            <a:ln w="0" cap="flat" cmpd="sng">
              <a:solidFill>
                <a:srgbClr val="0000FF"/>
              </a:solidFill>
              <a:prstDash val="solid"/>
              <a:headEnd type="none" w="med" len="med"/>
              <a:tailEnd type="none" w="med" len="med"/>
            </a:ln>
          </p:spPr>
        </p:sp>
        <p:sp>
          <p:nvSpPr>
            <p:cNvPr id="29813" name="Line 166"/>
            <p:cNvSpPr/>
            <p:nvPr/>
          </p:nvSpPr>
          <p:spPr>
            <a:xfrm>
              <a:off x="1103" y="2691"/>
              <a:ext cx="1" cy="225"/>
            </a:xfrm>
            <a:prstGeom prst="line">
              <a:avLst/>
            </a:prstGeom>
            <a:ln w="0" cap="flat" cmpd="sng">
              <a:solidFill>
                <a:srgbClr val="0000FF"/>
              </a:solidFill>
              <a:prstDash val="solid"/>
              <a:headEnd type="none" w="med" len="med"/>
              <a:tailEnd type="none" w="med" len="med"/>
            </a:ln>
          </p:spPr>
        </p:sp>
        <p:sp>
          <p:nvSpPr>
            <p:cNvPr id="29814" name="Line 167"/>
            <p:cNvSpPr/>
            <p:nvPr/>
          </p:nvSpPr>
          <p:spPr>
            <a:xfrm>
              <a:off x="1789" y="2099"/>
              <a:ext cx="1" cy="155"/>
            </a:xfrm>
            <a:prstGeom prst="line">
              <a:avLst/>
            </a:prstGeom>
            <a:ln w="0" cap="flat" cmpd="sng">
              <a:solidFill>
                <a:srgbClr val="0000FF"/>
              </a:solidFill>
              <a:prstDash val="solid"/>
              <a:headEnd type="none" w="med" len="med"/>
              <a:tailEnd type="none" w="med" len="med"/>
            </a:ln>
          </p:spPr>
        </p:sp>
        <p:sp>
          <p:nvSpPr>
            <p:cNvPr id="29815" name="Line 168"/>
            <p:cNvSpPr/>
            <p:nvPr/>
          </p:nvSpPr>
          <p:spPr>
            <a:xfrm>
              <a:off x="1547" y="2099"/>
              <a:ext cx="1" cy="155"/>
            </a:xfrm>
            <a:prstGeom prst="line">
              <a:avLst/>
            </a:prstGeom>
            <a:ln w="0" cap="flat" cmpd="sng">
              <a:solidFill>
                <a:srgbClr val="0000FF"/>
              </a:solidFill>
              <a:prstDash val="solid"/>
              <a:headEnd type="none" w="med" len="med"/>
              <a:tailEnd type="none" w="med" len="med"/>
            </a:ln>
          </p:spPr>
        </p:sp>
        <p:sp>
          <p:nvSpPr>
            <p:cNvPr id="29816" name="Line 169"/>
            <p:cNvSpPr/>
            <p:nvPr/>
          </p:nvSpPr>
          <p:spPr>
            <a:xfrm>
              <a:off x="1294" y="2099"/>
              <a:ext cx="1" cy="155"/>
            </a:xfrm>
            <a:prstGeom prst="line">
              <a:avLst/>
            </a:prstGeom>
            <a:ln w="0" cap="flat" cmpd="sng">
              <a:solidFill>
                <a:srgbClr val="0000FF"/>
              </a:solidFill>
              <a:prstDash val="solid"/>
              <a:headEnd type="none" w="med" len="med"/>
              <a:tailEnd type="none" w="med" len="med"/>
            </a:ln>
          </p:spPr>
        </p:sp>
        <p:sp>
          <p:nvSpPr>
            <p:cNvPr id="29817" name="Line 170"/>
            <p:cNvSpPr/>
            <p:nvPr/>
          </p:nvSpPr>
          <p:spPr>
            <a:xfrm>
              <a:off x="1542" y="1533"/>
              <a:ext cx="1" cy="240"/>
            </a:xfrm>
            <a:prstGeom prst="line">
              <a:avLst/>
            </a:prstGeom>
            <a:ln w="0" cap="flat" cmpd="sng">
              <a:solidFill>
                <a:srgbClr val="0000FF"/>
              </a:solidFill>
              <a:prstDash val="solid"/>
              <a:headEnd type="none" w="med" len="med"/>
              <a:tailEnd type="none" w="med" len="med"/>
            </a:ln>
          </p:spPr>
        </p:sp>
        <p:sp>
          <p:nvSpPr>
            <p:cNvPr id="29818" name="Line 171"/>
            <p:cNvSpPr/>
            <p:nvPr/>
          </p:nvSpPr>
          <p:spPr>
            <a:xfrm>
              <a:off x="1792" y="1528"/>
              <a:ext cx="1" cy="245"/>
            </a:xfrm>
            <a:prstGeom prst="line">
              <a:avLst/>
            </a:prstGeom>
            <a:ln w="0" cap="flat" cmpd="sng">
              <a:solidFill>
                <a:srgbClr val="0000FF"/>
              </a:solidFill>
              <a:prstDash val="solid"/>
              <a:headEnd type="none" w="med" len="med"/>
              <a:tailEnd type="none" w="med" len="med"/>
            </a:ln>
          </p:spPr>
        </p:sp>
        <p:sp>
          <p:nvSpPr>
            <p:cNvPr id="29819" name="Line 172"/>
            <p:cNvSpPr/>
            <p:nvPr/>
          </p:nvSpPr>
          <p:spPr>
            <a:xfrm>
              <a:off x="2043" y="1528"/>
              <a:ext cx="1" cy="245"/>
            </a:xfrm>
            <a:prstGeom prst="line">
              <a:avLst/>
            </a:prstGeom>
            <a:ln w="0" cap="flat" cmpd="sng">
              <a:solidFill>
                <a:srgbClr val="0000FF"/>
              </a:solidFill>
              <a:prstDash val="solid"/>
              <a:headEnd type="none" w="med" len="med"/>
              <a:tailEnd type="none" w="med" len="med"/>
            </a:ln>
          </p:spPr>
        </p:sp>
        <p:sp>
          <p:nvSpPr>
            <p:cNvPr id="29820" name="Line 173"/>
            <p:cNvSpPr/>
            <p:nvPr/>
          </p:nvSpPr>
          <p:spPr>
            <a:xfrm>
              <a:off x="1296" y="1528"/>
              <a:ext cx="1" cy="245"/>
            </a:xfrm>
            <a:prstGeom prst="line">
              <a:avLst/>
            </a:prstGeom>
            <a:ln w="0" cap="flat" cmpd="sng">
              <a:solidFill>
                <a:srgbClr val="0000FF"/>
              </a:solidFill>
              <a:prstDash val="solid"/>
              <a:headEnd type="none" w="med" len="med"/>
              <a:tailEnd type="none" w="med" len="med"/>
            </a:ln>
          </p:spPr>
        </p:sp>
      </p:grpSp>
      <p:pic>
        <p:nvPicPr>
          <p:cNvPr id="21654" name="Picture 150" descr="AD7501x"/>
          <p:cNvPicPr>
            <a:picLocks noChangeAspect="1"/>
          </p:cNvPicPr>
          <p:nvPr/>
        </p:nvPicPr>
        <p:blipFill>
          <a:blip r:embed="rId1"/>
          <a:stretch>
            <a:fillRect/>
          </a:stretch>
        </p:blipFill>
        <p:spPr>
          <a:xfrm>
            <a:off x="5616575" y="693738"/>
            <a:ext cx="2808288" cy="151130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0779"/>
                                        </p:tgtEl>
                                        <p:attrNameLst>
                                          <p:attrName>style.visibility</p:attrName>
                                        </p:attrNameLst>
                                      </p:cBhvr>
                                      <p:to>
                                        <p:strVal val="visible"/>
                                      </p:to>
                                    </p:set>
                                    <p:animEffect transition="in" filter="dissolve">
                                      <p:cBhvr>
                                        <p:cTn id="7" dur="500"/>
                                        <p:tgtEl>
                                          <p:spTgt spid="225077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0780"/>
                                        </p:tgtEl>
                                        <p:attrNameLst>
                                          <p:attrName>style.visibility</p:attrName>
                                        </p:attrNameLst>
                                      </p:cBhvr>
                                      <p:to>
                                        <p:strVal val="visible"/>
                                      </p:to>
                                    </p:set>
                                    <p:animEffect transition="in" filter="dissolve">
                                      <p:cBhvr>
                                        <p:cTn id="12" dur="500"/>
                                        <p:tgtEl>
                                          <p:spTgt spid="225078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0926"/>
                                        </p:tgtEl>
                                        <p:attrNameLst>
                                          <p:attrName>style.visibility</p:attrName>
                                        </p:attrNameLst>
                                      </p:cBhvr>
                                      <p:to>
                                        <p:strVal val="visible"/>
                                      </p:to>
                                    </p:set>
                                    <p:animEffect transition="in" filter="dissolve">
                                      <p:cBhvr>
                                        <p:cTn id="17" dur="500"/>
                                        <p:tgtEl>
                                          <p:spTgt spid="2250926"/>
                                        </p:tgtEl>
                                      </p:cBhvr>
                                    </p:animEffect>
                                  </p:childTnLst>
                                </p:cTn>
                              </p:par>
                              <p:par>
                                <p:cTn id="18" presetID="9" presetClass="entr" presetSubtype="0" fill="hold" nodeType="withEffect">
                                  <p:stCondLst>
                                    <p:cond delay="0"/>
                                  </p:stCondLst>
                                  <p:childTnLst>
                                    <p:set>
                                      <p:cBhvr>
                                        <p:cTn id="19" dur="1" fill="hold">
                                          <p:stCondLst>
                                            <p:cond delay="0"/>
                                          </p:stCondLst>
                                        </p:cTn>
                                        <p:tgtEl>
                                          <p:spTgt spid="2250915"/>
                                        </p:tgtEl>
                                        <p:attrNameLst>
                                          <p:attrName>style.visibility</p:attrName>
                                        </p:attrNameLst>
                                      </p:cBhvr>
                                      <p:to>
                                        <p:strVal val="visible"/>
                                      </p:to>
                                    </p:set>
                                    <p:animEffect transition="in" filter="dissolve">
                                      <p:cBhvr>
                                        <p:cTn id="20" dur="500"/>
                                        <p:tgtEl>
                                          <p:spTgt spid="2250915"/>
                                        </p:tgtEl>
                                      </p:cBhvr>
                                    </p:animEffect>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nodeType="clickEffect">
                                  <p:stCondLst>
                                    <p:cond delay="0"/>
                                  </p:stCondLst>
                                  <p:iterate type="lt">
                                    <p:tmPct val="5000"/>
                                  </p:iterate>
                                  <p:childTnLst>
                                    <p:set>
                                      <p:cBhvr>
                                        <p:cTn id="24" dur="1" fill="hold">
                                          <p:stCondLst>
                                            <p:cond delay="0"/>
                                          </p:stCondLst>
                                        </p:cTn>
                                        <p:tgtEl>
                                          <p:spTgt spid="21654"/>
                                        </p:tgtEl>
                                        <p:attrNameLst>
                                          <p:attrName>style.visibility</p:attrName>
                                        </p:attrNameLst>
                                      </p:cBhvr>
                                      <p:to>
                                        <p:strVal val="visible"/>
                                      </p:to>
                                    </p:set>
                                    <p:anim calcmode="lin" valueType="num">
                                      <p:cBhvr>
                                        <p:cTn id="25" dur="1000" fill="hold"/>
                                        <p:tgtEl>
                                          <p:spTgt spid="21654"/>
                                        </p:tgtEl>
                                        <p:attrNameLst>
                                          <p:attrName>ppt_w</p:attrName>
                                        </p:attrNameLst>
                                      </p:cBhvr>
                                      <p:tavLst>
                                        <p:tav tm="0">
                                          <p:val>
                                            <p:fltVal val="0.000000"/>
                                          </p:val>
                                        </p:tav>
                                        <p:tav tm="100000">
                                          <p:val>
                                            <p:strVal val="#ppt_w"/>
                                          </p:val>
                                        </p:tav>
                                      </p:tavLst>
                                    </p:anim>
                                    <p:anim calcmode="lin" valueType="num">
                                      <p:cBhvr>
                                        <p:cTn id="26" dur="1000" fill="hold"/>
                                        <p:tgtEl>
                                          <p:spTgt spid="21654"/>
                                        </p:tgtEl>
                                        <p:attrNameLst>
                                          <p:attrName>ppt_h</p:attrName>
                                        </p:attrNameLst>
                                      </p:cBhvr>
                                      <p:tavLst>
                                        <p:tav tm="0">
                                          <p:val>
                                            <p:fltVal val="0.000000"/>
                                          </p:val>
                                        </p:tav>
                                        <p:tav tm="100000">
                                          <p:val>
                                            <p:strVal val="#ppt_h"/>
                                          </p:val>
                                        </p:tav>
                                      </p:tavLst>
                                    </p:anim>
                                    <p:anim calcmode="lin" valueType="num">
                                      <p:cBhvr>
                                        <p:cTn id="27" dur="1000" fill="hold"/>
                                        <p:tgtEl>
                                          <p:spTgt spid="21654"/>
                                        </p:tgtEl>
                                        <p:attrNameLst>
                                          <p:attrName>style.rotation</p:attrName>
                                        </p:attrNameLst>
                                      </p:cBhvr>
                                      <p:tavLst>
                                        <p:tav tm="0">
                                          <p:val>
                                            <p:fltVal val="90.000000"/>
                                          </p:val>
                                        </p:tav>
                                        <p:tav tm="100000">
                                          <p:val>
                                            <p:fltVal val="0.000000"/>
                                          </p:val>
                                        </p:tav>
                                      </p:tavLst>
                                    </p:anim>
                                    <p:animEffect transition="in" filter="fade">
                                      <p:cBhvr>
                                        <p:cTn id="28" dur="1000"/>
                                        <p:tgtEl>
                                          <p:spTgt spid="216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0779" grpId="0" animBg="1"/>
      <p:bldP spid="2250780" grpId="0"/>
      <p:bldP spid="2250915"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886" name="Text Box 1038"/>
          <p:cNvSpPr txBox="1"/>
          <p:nvPr/>
        </p:nvSpPr>
        <p:spPr>
          <a:xfrm>
            <a:off x="5775325" y="1354138"/>
            <a:ext cx="2570163" cy="519112"/>
          </a:xfrm>
          <a:prstGeom prst="rect">
            <a:avLst/>
          </a:prstGeom>
          <a:solidFill>
            <a:srgbClr val="CCFFCC"/>
          </a:solidFill>
          <a:ln w="9525">
            <a:noFill/>
          </a:ln>
        </p:spPr>
        <p:txBody>
          <a:bodyPr wrap="none">
            <a:spAutoFit/>
          </a:bodyPr>
          <a:p>
            <a:pPr eaLnBrk="1" hangingPunct="1"/>
            <a:r>
              <a:rPr lang="en-US" altLang="zh-CN" sz="2800" dirty="0">
                <a:solidFill>
                  <a:srgbClr val="FF0000"/>
                </a:solidFill>
                <a:latin typeface="Times New Roman" panose="02020603050405020304" pitchFamily="18" charset="0"/>
                <a:ea typeface="宋体" panose="02010600030101010101" pitchFamily="2" charset="-122"/>
              </a:rPr>
              <a:t>AD7501</a:t>
            </a:r>
            <a:r>
              <a:rPr lang="zh-CN" altLang="en-US" sz="2800" dirty="0">
                <a:solidFill>
                  <a:srgbClr val="FF0000"/>
                </a:solidFill>
                <a:latin typeface="Times New Roman" panose="02020603050405020304" pitchFamily="18" charset="0"/>
              </a:rPr>
              <a:t>真值表</a:t>
            </a:r>
            <a:r>
              <a:rPr lang="zh-CN" altLang="en-US" sz="2800" dirty="0">
                <a:latin typeface="Times New Roman" panose="02020603050405020304" pitchFamily="18" charset="0"/>
                <a:ea typeface="宋体" panose="02010600030101010101" pitchFamily="2" charset="-122"/>
              </a:rPr>
              <a:t> </a:t>
            </a:r>
            <a:endParaRPr lang="zh-CN" altLang="en-US" sz="2800" dirty="0">
              <a:latin typeface="Times New Roman" panose="02020603050405020304" pitchFamily="18" charset="0"/>
              <a:ea typeface="宋体" panose="02010600030101010101" pitchFamily="2" charset="-122"/>
            </a:endParaRPr>
          </a:p>
        </p:txBody>
      </p:sp>
      <p:sp>
        <p:nvSpPr>
          <p:cNvPr id="30723" name="Text Box 1077"/>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
        <p:nvSpPr>
          <p:cNvPr id="30724" name="Text Box 1078"/>
          <p:cNvSpPr txBox="1"/>
          <p:nvPr/>
        </p:nvSpPr>
        <p:spPr>
          <a:xfrm>
            <a:off x="730250" y="1339850"/>
            <a:ext cx="4308475" cy="579438"/>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1. AD7501</a:t>
            </a:r>
            <a:r>
              <a:rPr lang="zh-CN" altLang="en-US" sz="3200" dirty="0">
                <a:solidFill>
                  <a:schemeClr val="tx2"/>
                </a:solidFill>
                <a:latin typeface="Times New Roman" panose="02020603050405020304" pitchFamily="18" charset="0"/>
                <a:ea typeface="宋体" panose="02010600030101010101" pitchFamily="2" charset="-122"/>
              </a:rPr>
              <a:t>（</a:t>
            </a:r>
            <a:r>
              <a:rPr lang="en-US" altLang="zh-CN" sz="3200" dirty="0">
                <a:solidFill>
                  <a:schemeClr val="tx2"/>
                </a:solidFill>
                <a:latin typeface="Times New Roman" panose="02020603050405020304" pitchFamily="18" charset="0"/>
                <a:ea typeface="宋体" panose="02010600030101010101" pitchFamily="2" charset="-122"/>
              </a:rPr>
              <a:t>AD7503</a:t>
            </a:r>
            <a:r>
              <a:rPr lang="zh-CN" altLang="en-US" sz="3200" dirty="0">
                <a:solidFill>
                  <a:schemeClr val="tx2"/>
                </a:solidFill>
                <a:latin typeface="Times New Roman" panose="02020603050405020304" pitchFamily="18" charset="0"/>
                <a:ea typeface="宋体" panose="02010600030101010101" pitchFamily="2" charset="-122"/>
              </a:rPr>
              <a:t>） </a:t>
            </a:r>
            <a:endParaRPr lang="zh-CN" altLang="en-US" sz="3200" dirty="0">
              <a:solidFill>
                <a:schemeClr val="tx2"/>
              </a:solidFill>
              <a:latin typeface="Times New Roman" panose="02020603050405020304" pitchFamily="18" charset="0"/>
              <a:ea typeface="宋体" panose="02010600030101010101" pitchFamily="2" charset="-122"/>
            </a:endParaRPr>
          </a:p>
        </p:txBody>
      </p:sp>
      <p:sp>
        <p:nvSpPr>
          <p:cNvPr id="2255927" name="Text Box 1079"/>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2255961" name="Group 1113"/>
          <p:cNvGraphicFramePr>
            <a:graphicFrameLocks noGrp="1"/>
          </p:cNvGraphicFramePr>
          <p:nvPr/>
        </p:nvGraphicFramePr>
        <p:xfrm>
          <a:off x="647700" y="2000250"/>
          <a:ext cx="7962900" cy="3248025"/>
        </p:xfrm>
        <a:graphic>
          <a:graphicData uri="http://schemas.openxmlformats.org/drawingml/2006/table">
            <a:tbl>
              <a:tblPr/>
              <a:tblGrid>
                <a:gridCol w="1592263"/>
                <a:gridCol w="1592262"/>
                <a:gridCol w="1593850"/>
                <a:gridCol w="1592263"/>
                <a:gridCol w="1592262"/>
              </a:tblGrid>
              <a:tr h="468274">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EN</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导通</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779751">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marT="45717" marB="4571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4</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6</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7</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8</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无</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255959" name="Rectangle 1111"/>
          <p:cNvSpPr/>
          <p:nvPr/>
        </p:nvSpPr>
        <p:spPr>
          <a:xfrm>
            <a:off x="1581150" y="5338763"/>
            <a:ext cx="6029325" cy="860425"/>
          </a:xfrm>
          <a:prstGeom prst="rect">
            <a:avLst/>
          </a:prstGeom>
          <a:solidFill>
            <a:srgbClr val="FFFF99"/>
          </a:solidFill>
          <a:ln w="9525">
            <a:noFill/>
          </a:ln>
        </p:spPr>
        <p:txBody>
          <a:bodyPr>
            <a:spAutoFit/>
          </a:bodyPr>
          <a:p>
            <a:pPr eaLnBrk="1" hangingPunct="1">
              <a:lnSpc>
                <a:spcPct val="90000"/>
              </a:lnSpc>
            </a:pPr>
            <a:r>
              <a:rPr lang="en-US" altLang="zh-CN" sz="2800" dirty="0">
                <a:solidFill>
                  <a:schemeClr val="tx1"/>
                </a:solidFill>
                <a:latin typeface="Times New Roman" panose="02020603050405020304" pitchFamily="18" charset="0"/>
              </a:rPr>
              <a:t>AD7503 </a:t>
            </a:r>
            <a:r>
              <a:rPr lang="zh-CN" altLang="en-US" sz="2800" dirty="0">
                <a:solidFill>
                  <a:schemeClr val="tx1"/>
                </a:solidFill>
                <a:latin typeface="Times New Roman" panose="02020603050405020304" pitchFamily="18" charset="0"/>
              </a:rPr>
              <a:t>除</a:t>
            </a:r>
            <a:r>
              <a:rPr lang="en-US" altLang="zh-CN" sz="2800" dirty="0">
                <a:solidFill>
                  <a:schemeClr val="tx1"/>
                </a:solidFill>
                <a:latin typeface="Times New Roman" panose="02020603050405020304" pitchFamily="18" charset="0"/>
              </a:rPr>
              <a:t>EN </a:t>
            </a:r>
            <a:r>
              <a:rPr lang="zh-CN" altLang="en-US" sz="2800" dirty="0">
                <a:solidFill>
                  <a:schemeClr val="tx1"/>
                </a:solidFill>
                <a:latin typeface="Times New Roman" panose="02020603050405020304" pitchFamily="18" charset="0"/>
              </a:rPr>
              <a:t>端的控制逻辑电平相反外</a:t>
            </a:r>
            <a:r>
              <a:rPr lang="en-US" altLang="zh-CN" sz="2800" dirty="0">
                <a:solidFill>
                  <a:schemeClr val="tx1"/>
                </a:solidFill>
                <a:latin typeface="Times New Roman" panose="02020603050405020304" pitchFamily="18" charset="0"/>
              </a:rPr>
              <a:t>, </a:t>
            </a:r>
            <a:r>
              <a:rPr lang="zh-CN" altLang="en-US" sz="2800" dirty="0">
                <a:solidFill>
                  <a:schemeClr val="tx1"/>
                </a:solidFill>
                <a:latin typeface="Times New Roman" panose="02020603050405020304" pitchFamily="18" charset="0"/>
              </a:rPr>
              <a:t>其它与</a:t>
            </a:r>
            <a:r>
              <a:rPr lang="en-US" altLang="zh-CN" sz="2800" dirty="0">
                <a:solidFill>
                  <a:schemeClr val="tx1"/>
                </a:solidFill>
                <a:latin typeface="Times New Roman" panose="02020603050405020304" pitchFamily="18" charset="0"/>
              </a:rPr>
              <a:t>AD7501</a:t>
            </a:r>
            <a:r>
              <a:rPr lang="zh-CN" altLang="en-US" sz="2800" dirty="0">
                <a:solidFill>
                  <a:schemeClr val="tx1"/>
                </a:solidFill>
                <a:latin typeface="Times New Roman" panose="02020603050405020304" pitchFamily="18" charset="0"/>
              </a:rPr>
              <a:t>相同。</a:t>
            </a:r>
            <a:endParaRPr lang="zh-CN" altLang="en-US" sz="28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5886"/>
                                        </p:tgtEl>
                                        <p:attrNameLst>
                                          <p:attrName>style.visibility</p:attrName>
                                        </p:attrNameLst>
                                      </p:cBhvr>
                                      <p:to>
                                        <p:strVal val="visible"/>
                                      </p:to>
                                    </p:set>
                                    <p:animEffect transition="in" filter="dissolve">
                                      <p:cBhvr>
                                        <p:cTn id="7" dur="500"/>
                                        <p:tgtEl>
                                          <p:spTgt spid="22558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5961"/>
                                        </p:tgtEl>
                                        <p:attrNameLst>
                                          <p:attrName>style.visibility</p:attrName>
                                        </p:attrNameLst>
                                      </p:cBhvr>
                                      <p:to>
                                        <p:strVal val="visible"/>
                                      </p:to>
                                    </p:set>
                                    <p:animEffect transition="in" filter="dissolve">
                                      <p:cBhvr>
                                        <p:cTn id="12" dur="500"/>
                                        <p:tgtEl>
                                          <p:spTgt spid="225596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5959"/>
                                        </p:tgtEl>
                                        <p:attrNameLst>
                                          <p:attrName>style.visibility</p:attrName>
                                        </p:attrNameLst>
                                      </p:cBhvr>
                                      <p:to>
                                        <p:strVal val="visible"/>
                                      </p:to>
                                    </p:set>
                                    <p:animEffect transition="in" filter="dissolve">
                                      <p:cBhvr>
                                        <p:cTn id="17" dur="500"/>
                                        <p:tgtEl>
                                          <p:spTgt spid="22559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886" grpId="0" animBg="1"/>
      <p:bldP spid="225595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746" name="Text Box 1044"/>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
        <p:nvSpPr>
          <p:cNvPr id="2256917" name="Text Box 1045"/>
          <p:cNvSpPr txBox="1"/>
          <p:nvPr/>
        </p:nvSpPr>
        <p:spPr>
          <a:xfrm>
            <a:off x="730250" y="1409700"/>
            <a:ext cx="1990725" cy="579438"/>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2. AD7502</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256918" name="Text Box 1046"/>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257080" name="Group 1208"/>
          <p:cNvGrpSpPr/>
          <p:nvPr/>
        </p:nvGrpSpPr>
        <p:grpSpPr>
          <a:xfrm>
            <a:off x="469900" y="2090738"/>
            <a:ext cx="8339138" cy="3859212"/>
            <a:chOff x="296" y="1239"/>
            <a:chExt cx="5253" cy="2431"/>
          </a:xfrm>
        </p:grpSpPr>
        <p:sp>
          <p:nvSpPr>
            <p:cNvPr id="31751" name="AutoShape 1047"/>
            <p:cNvSpPr>
              <a:spLocks noChangeAspect="1" noTextEdit="1"/>
            </p:cNvSpPr>
            <p:nvPr/>
          </p:nvSpPr>
          <p:spPr>
            <a:xfrm>
              <a:off x="296" y="1239"/>
              <a:ext cx="5253" cy="2431"/>
            </a:xfrm>
            <a:prstGeom prst="rect">
              <a:avLst/>
            </a:prstGeom>
            <a:solidFill>
              <a:srgbClr val="FFFF99"/>
            </a:solidFill>
            <a:ln w="9525">
              <a:noFill/>
            </a:ln>
          </p:spPr>
          <p:txBody>
            <a:bodyPr/>
            <a:p>
              <a:endParaRPr lang="zh-CN" altLang="en-US"/>
            </a:p>
          </p:txBody>
        </p:sp>
        <p:sp>
          <p:nvSpPr>
            <p:cNvPr id="31752" name="Rectangle 1049"/>
            <p:cNvSpPr/>
            <p:nvPr/>
          </p:nvSpPr>
          <p:spPr>
            <a:xfrm>
              <a:off x="1219" y="1686"/>
              <a:ext cx="1326" cy="271"/>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753" name="Line 1050"/>
            <p:cNvSpPr/>
            <p:nvPr/>
          </p:nvSpPr>
          <p:spPr>
            <a:xfrm>
              <a:off x="1874" y="1957"/>
              <a:ext cx="1" cy="111"/>
            </a:xfrm>
            <a:prstGeom prst="line">
              <a:avLst/>
            </a:prstGeom>
            <a:ln w="0" cap="flat" cmpd="sng">
              <a:solidFill>
                <a:srgbClr val="0000FF"/>
              </a:solidFill>
              <a:prstDash val="solid"/>
              <a:headEnd type="none" w="med" len="med"/>
              <a:tailEnd type="none" w="med" len="med"/>
            </a:ln>
          </p:spPr>
        </p:sp>
        <p:sp>
          <p:nvSpPr>
            <p:cNvPr id="31754" name="Line 1051"/>
            <p:cNvSpPr/>
            <p:nvPr/>
          </p:nvSpPr>
          <p:spPr>
            <a:xfrm>
              <a:off x="2228" y="1957"/>
              <a:ext cx="1" cy="111"/>
            </a:xfrm>
            <a:prstGeom prst="line">
              <a:avLst/>
            </a:prstGeom>
            <a:ln w="0" cap="flat" cmpd="sng">
              <a:solidFill>
                <a:srgbClr val="0000FF"/>
              </a:solidFill>
              <a:prstDash val="solid"/>
              <a:headEnd type="none" w="med" len="med"/>
              <a:tailEnd type="none" w="med" len="med"/>
            </a:ln>
          </p:spPr>
        </p:sp>
        <p:sp>
          <p:nvSpPr>
            <p:cNvPr id="31755" name="Rectangle 1052"/>
            <p:cNvSpPr/>
            <p:nvPr/>
          </p:nvSpPr>
          <p:spPr>
            <a:xfrm>
              <a:off x="916" y="1588"/>
              <a:ext cx="1927" cy="1413"/>
            </a:xfrm>
            <a:prstGeom prst="rect">
              <a:avLst/>
            </a:prstGeom>
            <a:noFill/>
            <a:ln w="0" cap="flat" cmpd="sng">
              <a:solidFill>
                <a:srgbClr val="0000FF"/>
              </a:solidFill>
              <a:prstDash val="sysDot"/>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756" name="Oval 1053"/>
            <p:cNvSpPr/>
            <p:nvPr/>
          </p:nvSpPr>
          <p:spPr>
            <a:xfrm>
              <a:off x="1496" y="1428"/>
              <a:ext cx="63" cy="6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757" name="Rectangle 1054"/>
            <p:cNvSpPr/>
            <p:nvPr/>
          </p:nvSpPr>
          <p:spPr>
            <a:xfrm>
              <a:off x="1610" y="1748"/>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电平转换</a:t>
              </a:r>
              <a:endParaRPr lang="zh-CN" altLang="en-US" dirty="0">
                <a:latin typeface="Times New Roman" panose="02020603050405020304" pitchFamily="18" charset="0"/>
              </a:endParaRPr>
            </a:p>
          </p:txBody>
        </p:sp>
        <p:sp>
          <p:nvSpPr>
            <p:cNvPr id="31758" name="Rectangle 1055"/>
            <p:cNvSpPr/>
            <p:nvPr/>
          </p:nvSpPr>
          <p:spPr>
            <a:xfrm>
              <a:off x="1433" y="1268"/>
              <a:ext cx="170"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EN</a:t>
              </a:r>
              <a:endParaRPr lang="en-US" altLang="zh-CN" dirty="0">
                <a:latin typeface="Times New Roman" panose="02020603050405020304" pitchFamily="18" charset="0"/>
              </a:endParaRPr>
            </a:p>
          </p:txBody>
        </p:sp>
        <p:grpSp>
          <p:nvGrpSpPr>
            <p:cNvPr id="31759" name="Group 1060"/>
            <p:cNvGrpSpPr/>
            <p:nvPr/>
          </p:nvGrpSpPr>
          <p:grpSpPr>
            <a:xfrm>
              <a:off x="1811" y="1255"/>
              <a:ext cx="149" cy="234"/>
              <a:chOff x="1811" y="1255"/>
              <a:chExt cx="149" cy="234"/>
            </a:xfrm>
          </p:grpSpPr>
          <p:sp>
            <p:nvSpPr>
              <p:cNvPr id="31907" name="Oval 1056"/>
              <p:cNvSpPr/>
              <p:nvPr/>
            </p:nvSpPr>
            <p:spPr>
              <a:xfrm>
                <a:off x="1849" y="1428"/>
                <a:ext cx="63" cy="6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1908" name="Group 1059"/>
              <p:cNvGrpSpPr/>
              <p:nvPr/>
            </p:nvGrpSpPr>
            <p:grpSpPr>
              <a:xfrm>
                <a:off x="1811" y="1255"/>
                <a:ext cx="149" cy="141"/>
                <a:chOff x="1811" y="1255"/>
                <a:chExt cx="149" cy="141"/>
              </a:xfrm>
            </p:grpSpPr>
            <p:sp>
              <p:nvSpPr>
                <p:cNvPr id="31909" name="Rectangle 1057"/>
                <p:cNvSpPr/>
                <p:nvPr/>
              </p:nvSpPr>
              <p:spPr>
                <a:xfrm>
                  <a:off x="1811" y="125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1910" name="Rectangle 1058"/>
                <p:cNvSpPr/>
                <p:nvPr/>
              </p:nvSpPr>
              <p:spPr>
                <a:xfrm>
                  <a:off x="1912" y="12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grpSp>
        <p:sp>
          <p:nvSpPr>
            <p:cNvPr id="31760" name="Oval 1061"/>
            <p:cNvSpPr/>
            <p:nvPr/>
          </p:nvSpPr>
          <p:spPr>
            <a:xfrm>
              <a:off x="2202" y="1428"/>
              <a:ext cx="63" cy="6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1761" name="Group 1064"/>
            <p:cNvGrpSpPr/>
            <p:nvPr/>
          </p:nvGrpSpPr>
          <p:grpSpPr>
            <a:xfrm>
              <a:off x="2152" y="1255"/>
              <a:ext cx="149" cy="141"/>
              <a:chOff x="2152" y="1255"/>
              <a:chExt cx="149" cy="141"/>
            </a:xfrm>
          </p:grpSpPr>
          <p:sp>
            <p:nvSpPr>
              <p:cNvPr id="31905" name="Rectangle 1062"/>
              <p:cNvSpPr/>
              <p:nvPr/>
            </p:nvSpPr>
            <p:spPr>
              <a:xfrm>
                <a:off x="2152" y="125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1906" name="Rectangle 1063"/>
              <p:cNvSpPr/>
              <p:nvPr/>
            </p:nvSpPr>
            <p:spPr>
              <a:xfrm>
                <a:off x="2253" y="12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sp>
          <p:nvSpPr>
            <p:cNvPr id="31762" name="Oval 1065"/>
            <p:cNvSpPr/>
            <p:nvPr/>
          </p:nvSpPr>
          <p:spPr>
            <a:xfrm>
              <a:off x="664" y="1797"/>
              <a:ext cx="63" cy="6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1763" name="Group 1068"/>
            <p:cNvGrpSpPr/>
            <p:nvPr/>
          </p:nvGrpSpPr>
          <p:grpSpPr>
            <a:xfrm>
              <a:off x="411" y="1637"/>
              <a:ext cx="227" cy="141"/>
              <a:chOff x="411" y="1637"/>
              <a:chExt cx="227" cy="141"/>
            </a:xfrm>
          </p:grpSpPr>
          <p:sp>
            <p:nvSpPr>
              <p:cNvPr id="31903" name="Rectangle 1066"/>
              <p:cNvSpPr/>
              <p:nvPr/>
            </p:nvSpPr>
            <p:spPr>
              <a:xfrm>
                <a:off x="411" y="1637"/>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1904" name="Rectangle 1067"/>
              <p:cNvSpPr/>
              <p:nvPr/>
            </p:nvSpPr>
            <p:spPr>
              <a:xfrm>
                <a:off x="500" y="1674"/>
                <a:ext cx="13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sp>
          <p:nvSpPr>
            <p:cNvPr id="31764" name="Rectangle 1069"/>
            <p:cNvSpPr/>
            <p:nvPr/>
          </p:nvSpPr>
          <p:spPr>
            <a:xfrm>
              <a:off x="361" y="1858"/>
              <a:ext cx="28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1765" name="Line 1070"/>
            <p:cNvSpPr/>
            <p:nvPr/>
          </p:nvSpPr>
          <p:spPr>
            <a:xfrm>
              <a:off x="3739" y="1686"/>
              <a:ext cx="202" cy="1"/>
            </a:xfrm>
            <a:prstGeom prst="line">
              <a:avLst/>
            </a:prstGeom>
            <a:ln w="0" cap="flat" cmpd="sng">
              <a:solidFill>
                <a:srgbClr val="0000FF"/>
              </a:solidFill>
              <a:prstDash val="solid"/>
              <a:headEnd type="none" w="med" len="med"/>
              <a:tailEnd type="none" w="med" len="med"/>
            </a:ln>
          </p:spPr>
        </p:sp>
        <p:sp>
          <p:nvSpPr>
            <p:cNvPr id="31766" name="Line 1071"/>
            <p:cNvSpPr/>
            <p:nvPr/>
          </p:nvSpPr>
          <p:spPr>
            <a:xfrm>
              <a:off x="3741" y="1883"/>
              <a:ext cx="202" cy="1"/>
            </a:xfrm>
            <a:prstGeom prst="line">
              <a:avLst/>
            </a:prstGeom>
            <a:ln w="0" cap="flat" cmpd="sng">
              <a:solidFill>
                <a:srgbClr val="0000FF"/>
              </a:solidFill>
              <a:prstDash val="solid"/>
              <a:headEnd type="none" w="med" len="med"/>
              <a:tailEnd type="none" w="med" len="med"/>
            </a:ln>
          </p:spPr>
        </p:sp>
        <p:sp>
          <p:nvSpPr>
            <p:cNvPr id="31767" name="Line 1072"/>
            <p:cNvSpPr/>
            <p:nvPr/>
          </p:nvSpPr>
          <p:spPr>
            <a:xfrm>
              <a:off x="3741" y="2080"/>
              <a:ext cx="202" cy="1"/>
            </a:xfrm>
            <a:prstGeom prst="line">
              <a:avLst/>
            </a:prstGeom>
            <a:ln w="0" cap="flat" cmpd="sng">
              <a:solidFill>
                <a:srgbClr val="0000FF"/>
              </a:solidFill>
              <a:prstDash val="solid"/>
              <a:headEnd type="none" w="med" len="med"/>
              <a:tailEnd type="none" w="med" len="med"/>
            </a:ln>
          </p:spPr>
        </p:sp>
        <p:sp>
          <p:nvSpPr>
            <p:cNvPr id="31768" name="Line 1073"/>
            <p:cNvSpPr/>
            <p:nvPr/>
          </p:nvSpPr>
          <p:spPr>
            <a:xfrm>
              <a:off x="3739" y="2474"/>
              <a:ext cx="202" cy="1"/>
            </a:xfrm>
            <a:prstGeom prst="line">
              <a:avLst/>
            </a:prstGeom>
            <a:ln w="0" cap="flat" cmpd="sng">
              <a:solidFill>
                <a:srgbClr val="0000FF"/>
              </a:solidFill>
              <a:prstDash val="solid"/>
              <a:headEnd type="none" w="med" len="med"/>
              <a:tailEnd type="none" w="med" len="med"/>
            </a:ln>
          </p:spPr>
        </p:sp>
        <p:sp>
          <p:nvSpPr>
            <p:cNvPr id="31769" name="Line 1074"/>
            <p:cNvSpPr/>
            <p:nvPr/>
          </p:nvSpPr>
          <p:spPr>
            <a:xfrm>
              <a:off x="3741" y="2671"/>
              <a:ext cx="204" cy="1"/>
            </a:xfrm>
            <a:prstGeom prst="line">
              <a:avLst/>
            </a:prstGeom>
            <a:ln w="0" cap="flat" cmpd="sng">
              <a:solidFill>
                <a:srgbClr val="0000FF"/>
              </a:solidFill>
              <a:prstDash val="solid"/>
              <a:headEnd type="none" w="med" len="med"/>
              <a:tailEnd type="none" w="med" len="med"/>
            </a:ln>
          </p:spPr>
        </p:sp>
        <p:sp>
          <p:nvSpPr>
            <p:cNvPr id="31770" name="Line 1075"/>
            <p:cNvSpPr/>
            <p:nvPr/>
          </p:nvSpPr>
          <p:spPr>
            <a:xfrm>
              <a:off x="3741" y="2868"/>
              <a:ext cx="204" cy="1"/>
            </a:xfrm>
            <a:prstGeom prst="line">
              <a:avLst/>
            </a:prstGeom>
            <a:ln w="0" cap="flat" cmpd="sng">
              <a:solidFill>
                <a:srgbClr val="0000FF"/>
              </a:solidFill>
              <a:prstDash val="solid"/>
              <a:headEnd type="none" w="med" len="med"/>
              <a:tailEnd type="none" w="med" len="med"/>
            </a:ln>
          </p:spPr>
        </p:sp>
        <p:sp>
          <p:nvSpPr>
            <p:cNvPr id="31771" name="Line 1076"/>
            <p:cNvSpPr/>
            <p:nvPr/>
          </p:nvSpPr>
          <p:spPr>
            <a:xfrm>
              <a:off x="3743" y="3064"/>
              <a:ext cx="196" cy="1"/>
            </a:xfrm>
            <a:prstGeom prst="line">
              <a:avLst/>
            </a:prstGeom>
            <a:ln w="0" cap="flat" cmpd="sng">
              <a:solidFill>
                <a:srgbClr val="0000FF"/>
              </a:solidFill>
              <a:prstDash val="solid"/>
              <a:headEnd type="none" w="med" len="med"/>
              <a:tailEnd type="none" w="med" len="med"/>
            </a:ln>
          </p:spPr>
        </p:sp>
        <p:sp>
          <p:nvSpPr>
            <p:cNvPr id="31772" name="Line 1077"/>
            <p:cNvSpPr/>
            <p:nvPr/>
          </p:nvSpPr>
          <p:spPr>
            <a:xfrm>
              <a:off x="4738" y="1686"/>
              <a:ext cx="201" cy="1"/>
            </a:xfrm>
            <a:prstGeom prst="line">
              <a:avLst/>
            </a:prstGeom>
            <a:ln w="0" cap="flat" cmpd="sng">
              <a:solidFill>
                <a:srgbClr val="0000FF"/>
              </a:solidFill>
              <a:prstDash val="solid"/>
              <a:headEnd type="none" w="med" len="med"/>
              <a:tailEnd type="none" w="med" len="med"/>
            </a:ln>
          </p:spPr>
        </p:sp>
        <p:sp>
          <p:nvSpPr>
            <p:cNvPr id="31773" name="Line 1078"/>
            <p:cNvSpPr/>
            <p:nvPr/>
          </p:nvSpPr>
          <p:spPr>
            <a:xfrm>
              <a:off x="4740" y="1883"/>
              <a:ext cx="201" cy="1"/>
            </a:xfrm>
            <a:prstGeom prst="line">
              <a:avLst/>
            </a:prstGeom>
            <a:ln w="0" cap="flat" cmpd="sng">
              <a:solidFill>
                <a:srgbClr val="0000FF"/>
              </a:solidFill>
              <a:prstDash val="solid"/>
              <a:headEnd type="none" w="med" len="med"/>
              <a:tailEnd type="none" w="med" len="med"/>
            </a:ln>
          </p:spPr>
        </p:sp>
        <p:sp>
          <p:nvSpPr>
            <p:cNvPr id="31774" name="Line 1079"/>
            <p:cNvSpPr/>
            <p:nvPr/>
          </p:nvSpPr>
          <p:spPr>
            <a:xfrm>
              <a:off x="4738" y="2080"/>
              <a:ext cx="201" cy="1"/>
            </a:xfrm>
            <a:prstGeom prst="line">
              <a:avLst/>
            </a:prstGeom>
            <a:ln w="0" cap="flat" cmpd="sng">
              <a:solidFill>
                <a:srgbClr val="0000FF"/>
              </a:solidFill>
              <a:prstDash val="solid"/>
              <a:headEnd type="none" w="med" len="med"/>
              <a:tailEnd type="none" w="med" len="med"/>
            </a:ln>
          </p:spPr>
        </p:sp>
        <p:sp>
          <p:nvSpPr>
            <p:cNvPr id="31775" name="Line 1080"/>
            <p:cNvSpPr/>
            <p:nvPr/>
          </p:nvSpPr>
          <p:spPr>
            <a:xfrm>
              <a:off x="4738" y="2277"/>
              <a:ext cx="201" cy="1"/>
            </a:xfrm>
            <a:prstGeom prst="line">
              <a:avLst/>
            </a:prstGeom>
            <a:ln w="0" cap="flat" cmpd="sng">
              <a:solidFill>
                <a:srgbClr val="0000FF"/>
              </a:solidFill>
              <a:prstDash val="solid"/>
              <a:headEnd type="none" w="med" len="med"/>
              <a:tailEnd type="none" w="med" len="med"/>
            </a:ln>
          </p:spPr>
        </p:sp>
        <p:sp>
          <p:nvSpPr>
            <p:cNvPr id="31776" name="Line 1081"/>
            <p:cNvSpPr/>
            <p:nvPr/>
          </p:nvSpPr>
          <p:spPr>
            <a:xfrm>
              <a:off x="4738" y="2474"/>
              <a:ext cx="201" cy="1"/>
            </a:xfrm>
            <a:prstGeom prst="line">
              <a:avLst/>
            </a:prstGeom>
            <a:ln w="0" cap="flat" cmpd="sng">
              <a:solidFill>
                <a:srgbClr val="0000FF"/>
              </a:solidFill>
              <a:prstDash val="solid"/>
              <a:headEnd type="none" w="med" len="med"/>
              <a:tailEnd type="none" w="med" len="med"/>
            </a:ln>
          </p:spPr>
        </p:sp>
        <p:sp>
          <p:nvSpPr>
            <p:cNvPr id="31777" name="Line 1082"/>
            <p:cNvSpPr/>
            <p:nvPr/>
          </p:nvSpPr>
          <p:spPr>
            <a:xfrm>
              <a:off x="4738" y="2671"/>
              <a:ext cx="201" cy="1"/>
            </a:xfrm>
            <a:prstGeom prst="line">
              <a:avLst/>
            </a:prstGeom>
            <a:ln w="0" cap="flat" cmpd="sng">
              <a:solidFill>
                <a:srgbClr val="0000FF"/>
              </a:solidFill>
              <a:prstDash val="solid"/>
              <a:headEnd type="none" w="med" len="med"/>
              <a:tailEnd type="none" w="med" len="med"/>
            </a:ln>
          </p:spPr>
        </p:sp>
        <p:sp>
          <p:nvSpPr>
            <p:cNvPr id="31778" name="Line 1083"/>
            <p:cNvSpPr/>
            <p:nvPr/>
          </p:nvSpPr>
          <p:spPr>
            <a:xfrm>
              <a:off x="4738" y="2868"/>
              <a:ext cx="201" cy="1"/>
            </a:xfrm>
            <a:prstGeom prst="line">
              <a:avLst/>
            </a:prstGeom>
            <a:ln w="0" cap="flat" cmpd="sng">
              <a:solidFill>
                <a:srgbClr val="0000FF"/>
              </a:solidFill>
              <a:prstDash val="solid"/>
              <a:headEnd type="none" w="med" len="med"/>
              <a:tailEnd type="none" w="med" len="med"/>
            </a:ln>
          </p:spPr>
        </p:sp>
        <p:sp>
          <p:nvSpPr>
            <p:cNvPr id="31779" name="Line 1084"/>
            <p:cNvSpPr/>
            <p:nvPr/>
          </p:nvSpPr>
          <p:spPr>
            <a:xfrm>
              <a:off x="4738" y="3064"/>
              <a:ext cx="201" cy="1"/>
            </a:xfrm>
            <a:prstGeom prst="line">
              <a:avLst/>
            </a:prstGeom>
            <a:ln w="0" cap="flat" cmpd="sng">
              <a:solidFill>
                <a:srgbClr val="0000FF"/>
              </a:solidFill>
              <a:prstDash val="solid"/>
              <a:headEnd type="none" w="med" len="med"/>
              <a:tailEnd type="none" w="med" len="med"/>
            </a:ln>
          </p:spPr>
        </p:sp>
        <p:sp>
          <p:nvSpPr>
            <p:cNvPr id="31780" name="Rectangle 1085"/>
            <p:cNvSpPr/>
            <p:nvPr/>
          </p:nvSpPr>
          <p:spPr>
            <a:xfrm>
              <a:off x="4006" y="1637"/>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1781" name="Rectangle 1086"/>
            <p:cNvSpPr/>
            <p:nvPr/>
          </p:nvSpPr>
          <p:spPr>
            <a:xfrm>
              <a:off x="3993" y="183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1782" name="Rectangle 1087"/>
            <p:cNvSpPr/>
            <p:nvPr/>
          </p:nvSpPr>
          <p:spPr>
            <a:xfrm>
              <a:off x="4006" y="201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1783" name="Rectangle 1088"/>
            <p:cNvSpPr/>
            <p:nvPr/>
          </p:nvSpPr>
          <p:spPr>
            <a:xfrm>
              <a:off x="4006" y="222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1784" name="Rectangle 1089"/>
            <p:cNvSpPr/>
            <p:nvPr/>
          </p:nvSpPr>
          <p:spPr>
            <a:xfrm>
              <a:off x="4006" y="241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1785" name="Rectangle 1090"/>
            <p:cNvSpPr/>
            <p:nvPr/>
          </p:nvSpPr>
          <p:spPr>
            <a:xfrm>
              <a:off x="4006" y="260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1786" name="Rectangle 1091"/>
            <p:cNvSpPr/>
            <p:nvPr/>
          </p:nvSpPr>
          <p:spPr>
            <a:xfrm>
              <a:off x="4006" y="280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1787" name="Rectangle 1092"/>
            <p:cNvSpPr/>
            <p:nvPr/>
          </p:nvSpPr>
          <p:spPr>
            <a:xfrm>
              <a:off x="4006" y="301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1788" name="Rectangle 1093"/>
            <p:cNvSpPr/>
            <p:nvPr/>
          </p:nvSpPr>
          <p:spPr>
            <a:xfrm>
              <a:off x="4611" y="300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31789" name="Rectangle 1094"/>
            <p:cNvSpPr/>
            <p:nvPr/>
          </p:nvSpPr>
          <p:spPr>
            <a:xfrm>
              <a:off x="4574" y="2818"/>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31790" name="Rectangle 1095"/>
            <p:cNvSpPr/>
            <p:nvPr/>
          </p:nvSpPr>
          <p:spPr>
            <a:xfrm>
              <a:off x="4586" y="262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31791" name="Rectangle 1096"/>
            <p:cNvSpPr/>
            <p:nvPr/>
          </p:nvSpPr>
          <p:spPr>
            <a:xfrm>
              <a:off x="4586" y="242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31792" name="Rectangle 1097"/>
            <p:cNvSpPr/>
            <p:nvPr/>
          </p:nvSpPr>
          <p:spPr>
            <a:xfrm>
              <a:off x="4574" y="221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31793" name="Rectangle 1098"/>
            <p:cNvSpPr/>
            <p:nvPr/>
          </p:nvSpPr>
          <p:spPr>
            <a:xfrm>
              <a:off x="4586" y="200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1794" name="Rectangle 1099"/>
            <p:cNvSpPr/>
            <p:nvPr/>
          </p:nvSpPr>
          <p:spPr>
            <a:xfrm>
              <a:off x="4599" y="1822"/>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31795" name="Rectangle 1100"/>
            <p:cNvSpPr/>
            <p:nvPr/>
          </p:nvSpPr>
          <p:spPr>
            <a:xfrm>
              <a:off x="4586" y="162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grpSp>
          <p:nvGrpSpPr>
            <p:cNvPr id="31796" name="Group 1103"/>
            <p:cNvGrpSpPr/>
            <p:nvPr/>
          </p:nvGrpSpPr>
          <p:grpSpPr>
            <a:xfrm>
              <a:off x="3539" y="1612"/>
              <a:ext cx="149" cy="141"/>
              <a:chOff x="3539" y="1612"/>
              <a:chExt cx="149" cy="141"/>
            </a:xfrm>
          </p:grpSpPr>
          <p:sp>
            <p:nvSpPr>
              <p:cNvPr id="31901" name="Rectangle 1101"/>
              <p:cNvSpPr/>
              <p:nvPr/>
            </p:nvSpPr>
            <p:spPr>
              <a:xfrm>
                <a:off x="3539" y="1612"/>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1902" name="Rectangle 1102"/>
              <p:cNvSpPr/>
              <p:nvPr/>
            </p:nvSpPr>
            <p:spPr>
              <a:xfrm>
                <a:off x="3640" y="164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grpSp>
        <p:sp>
          <p:nvSpPr>
            <p:cNvPr id="31797" name="Rectangle 1104"/>
            <p:cNvSpPr/>
            <p:nvPr/>
          </p:nvSpPr>
          <p:spPr>
            <a:xfrm>
              <a:off x="3438" y="1809"/>
              <a:ext cx="27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GND</a:t>
              </a:r>
              <a:endParaRPr lang="en-US" altLang="zh-CN" dirty="0">
                <a:latin typeface="Times New Roman" panose="02020603050405020304" pitchFamily="18" charset="0"/>
              </a:endParaRPr>
            </a:p>
          </p:txBody>
        </p:sp>
        <p:sp>
          <p:nvSpPr>
            <p:cNvPr id="31798" name="Rectangle 1105"/>
            <p:cNvSpPr/>
            <p:nvPr/>
          </p:nvSpPr>
          <p:spPr>
            <a:xfrm>
              <a:off x="3527" y="2006"/>
              <a:ext cx="170"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EN</a:t>
              </a:r>
              <a:endParaRPr lang="en-US" altLang="zh-CN" dirty="0">
                <a:latin typeface="Times New Roman" panose="02020603050405020304" pitchFamily="18" charset="0"/>
              </a:endParaRPr>
            </a:p>
          </p:txBody>
        </p:sp>
        <p:sp>
          <p:nvSpPr>
            <p:cNvPr id="31799" name="Rectangle 1106"/>
            <p:cNvSpPr/>
            <p:nvPr/>
          </p:nvSpPr>
          <p:spPr>
            <a:xfrm>
              <a:off x="3546" y="2375"/>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00" name="Rectangle 1107"/>
            <p:cNvSpPr/>
            <p:nvPr/>
          </p:nvSpPr>
          <p:spPr>
            <a:xfrm>
              <a:off x="3628" y="241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1801" name="Rectangle 1108"/>
            <p:cNvSpPr/>
            <p:nvPr/>
          </p:nvSpPr>
          <p:spPr>
            <a:xfrm>
              <a:off x="5002" y="2191"/>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02" name="Rectangle 1109"/>
            <p:cNvSpPr/>
            <p:nvPr/>
          </p:nvSpPr>
          <p:spPr>
            <a:xfrm>
              <a:off x="5078" y="222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1803" name="Rectangle 1110"/>
            <p:cNvSpPr/>
            <p:nvPr/>
          </p:nvSpPr>
          <p:spPr>
            <a:xfrm>
              <a:off x="4990" y="2585"/>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04" name="Rectangle 1111"/>
            <p:cNvSpPr/>
            <p:nvPr/>
          </p:nvSpPr>
          <p:spPr>
            <a:xfrm>
              <a:off x="5065" y="263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1805" name="Rectangle 1112"/>
            <p:cNvSpPr/>
            <p:nvPr/>
          </p:nvSpPr>
          <p:spPr>
            <a:xfrm>
              <a:off x="5065" y="283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1806" name="Rectangle 1113"/>
            <p:cNvSpPr/>
            <p:nvPr/>
          </p:nvSpPr>
          <p:spPr>
            <a:xfrm>
              <a:off x="4990" y="2781"/>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07" name="Rectangle 1114"/>
            <p:cNvSpPr/>
            <p:nvPr/>
          </p:nvSpPr>
          <p:spPr>
            <a:xfrm>
              <a:off x="3628" y="300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1808" name="Rectangle 1115"/>
            <p:cNvSpPr/>
            <p:nvPr/>
          </p:nvSpPr>
          <p:spPr>
            <a:xfrm>
              <a:off x="3552" y="2960"/>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09" name="Rectangle 1116"/>
            <p:cNvSpPr/>
            <p:nvPr/>
          </p:nvSpPr>
          <p:spPr>
            <a:xfrm>
              <a:off x="3628" y="283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1810" name="Rectangle 1117"/>
            <p:cNvSpPr/>
            <p:nvPr/>
          </p:nvSpPr>
          <p:spPr>
            <a:xfrm>
              <a:off x="3552" y="2788"/>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11" name="Rectangle 1118"/>
            <p:cNvSpPr/>
            <p:nvPr/>
          </p:nvSpPr>
          <p:spPr>
            <a:xfrm>
              <a:off x="5053" y="300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1812" name="Rectangle 1119"/>
            <p:cNvSpPr/>
            <p:nvPr/>
          </p:nvSpPr>
          <p:spPr>
            <a:xfrm>
              <a:off x="4977" y="296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13" name="Rectangle 1120"/>
            <p:cNvSpPr/>
            <p:nvPr/>
          </p:nvSpPr>
          <p:spPr>
            <a:xfrm>
              <a:off x="3628" y="262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1814" name="Rectangle 1121"/>
            <p:cNvSpPr/>
            <p:nvPr/>
          </p:nvSpPr>
          <p:spPr>
            <a:xfrm>
              <a:off x="3552" y="2585"/>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15" name="Rectangle 1122"/>
            <p:cNvSpPr/>
            <p:nvPr/>
          </p:nvSpPr>
          <p:spPr>
            <a:xfrm>
              <a:off x="4977" y="2375"/>
              <a:ext cx="26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grpSp>
          <p:nvGrpSpPr>
            <p:cNvPr id="31816" name="Group 1125"/>
            <p:cNvGrpSpPr/>
            <p:nvPr/>
          </p:nvGrpSpPr>
          <p:grpSpPr>
            <a:xfrm>
              <a:off x="4990" y="1994"/>
              <a:ext cx="226" cy="141"/>
              <a:chOff x="4990" y="1994"/>
              <a:chExt cx="226" cy="141"/>
            </a:xfrm>
          </p:grpSpPr>
          <p:sp>
            <p:nvSpPr>
              <p:cNvPr id="31899" name="Rectangle 1123"/>
              <p:cNvSpPr/>
              <p:nvPr/>
            </p:nvSpPr>
            <p:spPr>
              <a:xfrm>
                <a:off x="4990" y="1994"/>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1900" name="Rectangle 1124"/>
              <p:cNvSpPr/>
              <p:nvPr/>
            </p:nvSpPr>
            <p:spPr>
              <a:xfrm>
                <a:off x="5078" y="2031"/>
                <a:ext cx="13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grpSp>
          <p:nvGrpSpPr>
            <p:cNvPr id="31817" name="Group 1128"/>
            <p:cNvGrpSpPr/>
            <p:nvPr/>
          </p:nvGrpSpPr>
          <p:grpSpPr>
            <a:xfrm>
              <a:off x="4990" y="1797"/>
              <a:ext cx="194" cy="153"/>
              <a:chOff x="4990" y="1797"/>
              <a:chExt cx="194" cy="153"/>
            </a:xfrm>
          </p:grpSpPr>
          <p:sp>
            <p:nvSpPr>
              <p:cNvPr id="31897" name="Rectangle 1126"/>
              <p:cNvSpPr/>
              <p:nvPr/>
            </p:nvSpPr>
            <p:spPr>
              <a:xfrm>
                <a:off x="4990" y="1797"/>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1898" name="Rectangle 1127"/>
              <p:cNvSpPr/>
              <p:nvPr/>
            </p:nvSpPr>
            <p:spPr>
              <a:xfrm>
                <a:off x="5078" y="1846"/>
                <a:ext cx="10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SS</a:t>
                </a:r>
                <a:endParaRPr lang="en-US" altLang="zh-CN" dirty="0">
                  <a:latin typeface="Times New Roman" panose="02020603050405020304" pitchFamily="18" charset="0"/>
                </a:endParaRPr>
              </a:p>
            </p:txBody>
          </p:sp>
        </p:grpSp>
        <p:grpSp>
          <p:nvGrpSpPr>
            <p:cNvPr id="31818" name="Group 1131"/>
            <p:cNvGrpSpPr/>
            <p:nvPr/>
          </p:nvGrpSpPr>
          <p:grpSpPr>
            <a:xfrm>
              <a:off x="4990" y="1588"/>
              <a:ext cx="149" cy="141"/>
              <a:chOff x="4990" y="1588"/>
              <a:chExt cx="149" cy="141"/>
            </a:xfrm>
          </p:grpSpPr>
          <p:sp>
            <p:nvSpPr>
              <p:cNvPr id="31895" name="Rectangle 1129"/>
              <p:cNvSpPr/>
              <p:nvPr/>
            </p:nvSpPr>
            <p:spPr>
              <a:xfrm>
                <a:off x="4990" y="1588"/>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1896" name="Rectangle 1130"/>
              <p:cNvSpPr/>
              <p:nvPr/>
            </p:nvSpPr>
            <p:spPr>
              <a:xfrm>
                <a:off x="5091" y="162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sp>
          <p:nvSpPr>
            <p:cNvPr id="31819" name="Rectangle 1132"/>
            <p:cNvSpPr/>
            <p:nvPr/>
          </p:nvSpPr>
          <p:spPr>
            <a:xfrm>
              <a:off x="4233" y="2178"/>
              <a:ext cx="18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AD</a:t>
              </a:r>
              <a:endParaRPr lang="en-US" altLang="zh-CN" dirty="0">
                <a:latin typeface="Times New Roman" panose="02020603050405020304" pitchFamily="18" charset="0"/>
              </a:endParaRPr>
            </a:p>
          </p:txBody>
        </p:sp>
        <p:sp>
          <p:nvSpPr>
            <p:cNvPr id="31820" name="Rectangle 1133"/>
            <p:cNvSpPr/>
            <p:nvPr/>
          </p:nvSpPr>
          <p:spPr>
            <a:xfrm>
              <a:off x="4183" y="2326"/>
              <a:ext cx="25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7502</a:t>
              </a:r>
              <a:endParaRPr lang="en-US" altLang="zh-CN" dirty="0">
                <a:latin typeface="Times New Roman" panose="02020603050405020304" pitchFamily="18" charset="0"/>
              </a:endParaRPr>
            </a:p>
          </p:txBody>
        </p:sp>
        <p:sp>
          <p:nvSpPr>
            <p:cNvPr id="31821" name="Rectangle 1134"/>
            <p:cNvSpPr/>
            <p:nvPr/>
          </p:nvSpPr>
          <p:spPr>
            <a:xfrm>
              <a:off x="3451" y="2191"/>
              <a:ext cx="26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sp>
          <p:nvSpPr>
            <p:cNvPr id="31822" name="Rectangle 1135"/>
            <p:cNvSpPr/>
            <p:nvPr/>
          </p:nvSpPr>
          <p:spPr>
            <a:xfrm>
              <a:off x="5255" y="2381"/>
              <a:ext cx="212"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1823" name="Rectangle 1136"/>
            <p:cNvSpPr/>
            <p:nvPr/>
          </p:nvSpPr>
          <p:spPr>
            <a:xfrm>
              <a:off x="3157" y="2211"/>
              <a:ext cx="212"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(5~8)</a:t>
              </a:r>
              <a:endParaRPr lang="en-US" altLang="zh-CN" dirty="0">
                <a:latin typeface="Times New Roman" panose="02020603050405020304" pitchFamily="18" charset="0"/>
              </a:endParaRPr>
            </a:p>
          </p:txBody>
        </p:sp>
        <p:sp>
          <p:nvSpPr>
            <p:cNvPr id="31824" name="Rectangle 1137"/>
            <p:cNvSpPr/>
            <p:nvPr/>
          </p:nvSpPr>
          <p:spPr>
            <a:xfrm>
              <a:off x="1219" y="2068"/>
              <a:ext cx="1324" cy="27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25" name="Line 1138"/>
            <p:cNvSpPr/>
            <p:nvPr/>
          </p:nvSpPr>
          <p:spPr>
            <a:xfrm>
              <a:off x="1509" y="2336"/>
              <a:ext cx="1" cy="408"/>
            </a:xfrm>
            <a:prstGeom prst="line">
              <a:avLst/>
            </a:prstGeom>
            <a:ln w="0" cap="flat" cmpd="sng">
              <a:solidFill>
                <a:srgbClr val="0000FF"/>
              </a:solidFill>
              <a:prstDash val="sysDot"/>
              <a:headEnd type="none" w="med" len="med"/>
              <a:tailEnd type="none" w="med" len="med"/>
            </a:ln>
          </p:spPr>
        </p:sp>
        <p:sp>
          <p:nvSpPr>
            <p:cNvPr id="31826" name="Line 1139"/>
            <p:cNvSpPr/>
            <p:nvPr/>
          </p:nvSpPr>
          <p:spPr>
            <a:xfrm>
              <a:off x="2114" y="2338"/>
              <a:ext cx="2" cy="433"/>
            </a:xfrm>
            <a:prstGeom prst="line">
              <a:avLst/>
            </a:prstGeom>
            <a:ln w="0" cap="flat" cmpd="sng">
              <a:solidFill>
                <a:srgbClr val="0000FF"/>
              </a:solidFill>
              <a:prstDash val="sysDot"/>
              <a:headEnd type="none" w="med" len="med"/>
              <a:tailEnd type="none" w="med" len="med"/>
            </a:ln>
          </p:spPr>
        </p:sp>
        <p:sp>
          <p:nvSpPr>
            <p:cNvPr id="31827" name="Rectangle 1140"/>
            <p:cNvSpPr/>
            <p:nvPr/>
          </p:nvSpPr>
          <p:spPr>
            <a:xfrm>
              <a:off x="2133" y="3046"/>
              <a:ext cx="9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1828" name="Rectangle 1141"/>
            <p:cNvSpPr/>
            <p:nvPr/>
          </p:nvSpPr>
          <p:spPr>
            <a:xfrm>
              <a:off x="1528" y="3046"/>
              <a:ext cx="9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1829" name="Oval 1142"/>
            <p:cNvSpPr/>
            <p:nvPr/>
          </p:nvSpPr>
          <p:spPr>
            <a:xfrm>
              <a:off x="2606" y="3138"/>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30" name="Rectangle 1143"/>
            <p:cNvSpPr/>
            <p:nvPr/>
          </p:nvSpPr>
          <p:spPr>
            <a:xfrm>
              <a:off x="1584" y="2129"/>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译码驱动</a:t>
              </a:r>
              <a:endParaRPr lang="zh-CN" altLang="en-US" dirty="0">
                <a:latin typeface="Times New Roman" panose="02020603050405020304" pitchFamily="18" charset="0"/>
              </a:endParaRPr>
            </a:p>
          </p:txBody>
        </p:sp>
        <p:sp>
          <p:nvSpPr>
            <p:cNvPr id="31831" name="Rectangle 1144"/>
            <p:cNvSpPr/>
            <p:nvPr/>
          </p:nvSpPr>
          <p:spPr>
            <a:xfrm>
              <a:off x="2530" y="3212"/>
              <a:ext cx="26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sp>
          <p:nvSpPr>
            <p:cNvPr id="31832" name="Oval 1145"/>
            <p:cNvSpPr/>
            <p:nvPr/>
          </p:nvSpPr>
          <p:spPr>
            <a:xfrm>
              <a:off x="2303" y="2855"/>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33" name="Oval 1146"/>
            <p:cNvSpPr/>
            <p:nvPr/>
          </p:nvSpPr>
          <p:spPr>
            <a:xfrm>
              <a:off x="2303" y="3138"/>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34" name="Line 1147"/>
            <p:cNvSpPr/>
            <p:nvPr/>
          </p:nvSpPr>
          <p:spPr>
            <a:xfrm>
              <a:off x="2328" y="2917"/>
              <a:ext cx="1" cy="221"/>
            </a:xfrm>
            <a:prstGeom prst="line">
              <a:avLst/>
            </a:prstGeom>
            <a:ln w="0" cap="flat" cmpd="sng">
              <a:solidFill>
                <a:srgbClr val="0000FF"/>
              </a:solidFill>
              <a:prstDash val="solid"/>
              <a:headEnd type="none" w="med" len="med"/>
              <a:tailEnd type="none" w="med" len="med"/>
            </a:ln>
          </p:spPr>
        </p:sp>
        <p:sp>
          <p:nvSpPr>
            <p:cNvPr id="31835" name="Rectangle 1148"/>
            <p:cNvSpPr/>
            <p:nvPr/>
          </p:nvSpPr>
          <p:spPr>
            <a:xfrm>
              <a:off x="2265" y="321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36" name="Rectangle 1149"/>
            <p:cNvSpPr/>
            <p:nvPr/>
          </p:nvSpPr>
          <p:spPr>
            <a:xfrm>
              <a:off x="2341" y="324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1837" name="Oval 1150"/>
            <p:cNvSpPr/>
            <p:nvPr/>
          </p:nvSpPr>
          <p:spPr>
            <a:xfrm>
              <a:off x="1395" y="2855"/>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38" name="Oval 1151"/>
            <p:cNvSpPr/>
            <p:nvPr/>
          </p:nvSpPr>
          <p:spPr>
            <a:xfrm>
              <a:off x="1395" y="312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39" name="Line 1152"/>
            <p:cNvSpPr/>
            <p:nvPr/>
          </p:nvSpPr>
          <p:spPr>
            <a:xfrm>
              <a:off x="1420" y="2917"/>
              <a:ext cx="1" cy="209"/>
            </a:xfrm>
            <a:prstGeom prst="line">
              <a:avLst/>
            </a:prstGeom>
            <a:ln w="0" cap="flat" cmpd="sng">
              <a:solidFill>
                <a:srgbClr val="0000FF"/>
              </a:solidFill>
              <a:prstDash val="solid"/>
              <a:headEnd type="none" w="med" len="med"/>
              <a:tailEnd type="none" w="med" len="med"/>
            </a:ln>
          </p:spPr>
        </p:sp>
        <p:sp>
          <p:nvSpPr>
            <p:cNvPr id="31840" name="Rectangle 1153"/>
            <p:cNvSpPr/>
            <p:nvPr/>
          </p:nvSpPr>
          <p:spPr>
            <a:xfrm>
              <a:off x="1382" y="321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41" name="Rectangle 1154"/>
            <p:cNvSpPr/>
            <p:nvPr/>
          </p:nvSpPr>
          <p:spPr>
            <a:xfrm>
              <a:off x="1458" y="324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1842" name="Oval 1155"/>
            <p:cNvSpPr/>
            <p:nvPr/>
          </p:nvSpPr>
          <p:spPr>
            <a:xfrm>
              <a:off x="664" y="2203"/>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43" name="Oval 1156"/>
            <p:cNvSpPr/>
            <p:nvPr/>
          </p:nvSpPr>
          <p:spPr>
            <a:xfrm>
              <a:off x="664" y="264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1844" name="Group 1159"/>
            <p:cNvGrpSpPr/>
            <p:nvPr/>
          </p:nvGrpSpPr>
          <p:grpSpPr>
            <a:xfrm>
              <a:off x="436" y="2498"/>
              <a:ext cx="195" cy="154"/>
              <a:chOff x="436" y="2498"/>
              <a:chExt cx="195" cy="154"/>
            </a:xfrm>
          </p:grpSpPr>
          <p:sp>
            <p:nvSpPr>
              <p:cNvPr id="31893" name="Rectangle 1157"/>
              <p:cNvSpPr/>
              <p:nvPr/>
            </p:nvSpPr>
            <p:spPr>
              <a:xfrm>
                <a:off x="436" y="2498"/>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1894" name="Rectangle 1158"/>
              <p:cNvSpPr/>
              <p:nvPr/>
            </p:nvSpPr>
            <p:spPr>
              <a:xfrm>
                <a:off x="525" y="2548"/>
                <a:ext cx="10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SS</a:t>
                </a:r>
                <a:endParaRPr lang="en-US" altLang="zh-CN" dirty="0">
                  <a:latin typeface="Times New Roman" panose="02020603050405020304" pitchFamily="18" charset="0"/>
                </a:endParaRPr>
              </a:p>
            </p:txBody>
          </p:sp>
        </p:grpSp>
        <p:sp>
          <p:nvSpPr>
            <p:cNvPr id="31845" name="Rectangle 1160"/>
            <p:cNvSpPr/>
            <p:nvPr/>
          </p:nvSpPr>
          <p:spPr>
            <a:xfrm>
              <a:off x="386" y="2720"/>
              <a:ext cx="261"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1846" name="Rectangle 1161"/>
            <p:cNvSpPr/>
            <p:nvPr/>
          </p:nvSpPr>
          <p:spPr>
            <a:xfrm>
              <a:off x="474" y="2166"/>
              <a:ext cx="128"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地</a:t>
              </a:r>
              <a:endParaRPr lang="zh-CN" altLang="en-US" dirty="0">
                <a:latin typeface="Times New Roman" panose="02020603050405020304" pitchFamily="18" charset="0"/>
              </a:endParaRPr>
            </a:p>
          </p:txBody>
        </p:sp>
        <p:sp>
          <p:nvSpPr>
            <p:cNvPr id="31847" name="Line 1162"/>
            <p:cNvSpPr/>
            <p:nvPr/>
          </p:nvSpPr>
          <p:spPr>
            <a:xfrm>
              <a:off x="1422" y="2461"/>
              <a:ext cx="1" cy="189"/>
            </a:xfrm>
            <a:prstGeom prst="line">
              <a:avLst/>
            </a:prstGeom>
            <a:ln w="0" cap="flat" cmpd="sng">
              <a:solidFill>
                <a:srgbClr val="0000FF"/>
              </a:solidFill>
              <a:prstDash val="solid"/>
              <a:headEnd type="none" w="med" len="med"/>
              <a:tailEnd type="none" w="med" len="med"/>
            </a:ln>
          </p:spPr>
        </p:sp>
        <p:sp>
          <p:nvSpPr>
            <p:cNvPr id="31848" name="Oval 1163"/>
            <p:cNvSpPr/>
            <p:nvPr/>
          </p:nvSpPr>
          <p:spPr>
            <a:xfrm>
              <a:off x="1397" y="264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49" name="Line 1164"/>
            <p:cNvSpPr/>
            <p:nvPr/>
          </p:nvSpPr>
          <p:spPr>
            <a:xfrm>
              <a:off x="1441" y="2703"/>
              <a:ext cx="101" cy="99"/>
            </a:xfrm>
            <a:prstGeom prst="line">
              <a:avLst/>
            </a:prstGeom>
            <a:ln w="0" cap="flat" cmpd="sng">
              <a:solidFill>
                <a:srgbClr val="0000FF"/>
              </a:solidFill>
              <a:prstDash val="solid"/>
              <a:headEnd type="none" w="med" len="med"/>
              <a:tailEnd type="none" w="med" len="med"/>
            </a:ln>
          </p:spPr>
        </p:sp>
        <p:sp>
          <p:nvSpPr>
            <p:cNvPr id="31850" name="Oval 1165"/>
            <p:cNvSpPr/>
            <p:nvPr/>
          </p:nvSpPr>
          <p:spPr>
            <a:xfrm>
              <a:off x="1698" y="264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51" name="Line 1166"/>
            <p:cNvSpPr/>
            <p:nvPr/>
          </p:nvSpPr>
          <p:spPr>
            <a:xfrm>
              <a:off x="1744" y="2703"/>
              <a:ext cx="97" cy="95"/>
            </a:xfrm>
            <a:prstGeom prst="line">
              <a:avLst/>
            </a:prstGeom>
            <a:ln w="0" cap="flat" cmpd="sng">
              <a:solidFill>
                <a:srgbClr val="0000FF"/>
              </a:solidFill>
              <a:prstDash val="solid"/>
              <a:headEnd type="none" w="med" len="med"/>
              <a:tailEnd type="none" w="med" len="med"/>
            </a:ln>
          </p:spPr>
        </p:sp>
        <p:sp>
          <p:nvSpPr>
            <p:cNvPr id="31852" name="Line 1167"/>
            <p:cNvSpPr/>
            <p:nvPr/>
          </p:nvSpPr>
          <p:spPr>
            <a:xfrm>
              <a:off x="2026" y="2461"/>
              <a:ext cx="1" cy="193"/>
            </a:xfrm>
            <a:prstGeom prst="line">
              <a:avLst/>
            </a:prstGeom>
            <a:ln w="0" cap="flat" cmpd="sng">
              <a:solidFill>
                <a:srgbClr val="0000FF"/>
              </a:solidFill>
              <a:prstDash val="solid"/>
              <a:headEnd type="none" w="med" len="med"/>
              <a:tailEnd type="none" w="med" len="med"/>
            </a:ln>
          </p:spPr>
        </p:sp>
        <p:sp>
          <p:nvSpPr>
            <p:cNvPr id="31853" name="Oval 1168"/>
            <p:cNvSpPr/>
            <p:nvPr/>
          </p:nvSpPr>
          <p:spPr>
            <a:xfrm>
              <a:off x="2001" y="264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54" name="Line 1169"/>
            <p:cNvSpPr/>
            <p:nvPr/>
          </p:nvSpPr>
          <p:spPr>
            <a:xfrm>
              <a:off x="2045" y="2701"/>
              <a:ext cx="101" cy="99"/>
            </a:xfrm>
            <a:prstGeom prst="line">
              <a:avLst/>
            </a:prstGeom>
            <a:ln w="0" cap="flat" cmpd="sng">
              <a:solidFill>
                <a:srgbClr val="0000FF"/>
              </a:solidFill>
              <a:prstDash val="solid"/>
              <a:headEnd type="none" w="med" len="med"/>
              <a:tailEnd type="none" w="med" len="med"/>
            </a:ln>
          </p:spPr>
        </p:sp>
        <p:sp>
          <p:nvSpPr>
            <p:cNvPr id="31855" name="Line 1170"/>
            <p:cNvSpPr/>
            <p:nvPr/>
          </p:nvSpPr>
          <p:spPr>
            <a:xfrm>
              <a:off x="2331" y="2466"/>
              <a:ext cx="1" cy="194"/>
            </a:xfrm>
            <a:prstGeom prst="line">
              <a:avLst/>
            </a:prstGeom>
            <a:ln w="0" cap="flat" cmpd="sng">
              <a:solidFill>
                <a:srgbClr val="0000FF"/>
              </a:solidFill>
              <a:prstDash val="solid"/>
              <a:headEnd type="none" w="med" len="med"/>
              <a:tailEnd type="none" w="med" len="med"/>
            </a:ln>
          </p:spPr>
        </p:sp>
        <p:sp>
          <p:nvSpPr>
            <p:cNvPr id="31856" name="Oval 1171"/>
            <p:cNvSpPr/>
            <p:nvPr/>
          </p:nvSpPr>
          <p:spPr>
            <a:xfrm>
              <a:off x="2303" y="2658"/>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57" name="Line 1172"/>
            <p:cNvSpPr/>
            <p:nvPr/>
          </p:nvSpPr>
          <p:spPr>
            <a:xfrm>
              <a:off x="1118" y="2461"/>
              <a:ext cx="605" cy="1"/>
            </a:xfrm>
            <a:prstGeom prst="line">
              <a:avLst/>
            </a:prstGeom>
            <a:ln w="0" cap="flat" cmpd="sng">
              <a:solidFill>
                <a:srgbClr val="0000FF"/>
              </a:solidFill>
              <a:prstDash val="solid"/>
              <a:headEnd type="none" w="med" len="med"/>
              <a:tailEnd type="none" w="med" len="med"/>
            </a:ln>
          </p:spPr>
        </p:sp>
        <p:sp>
          <p:nvSpPr>
            <p:cNvPr id="31858" name="Line 1173"/>
            <p:cNvSpPr/>
            <p:nvPr/>
          </p:nvSpPr>
          <p:spPr>
            <a:xfrm>
              <a:off x="1118" y="2466"/>
              <a:ext cx="1" cy="672"/>
            </a:xfrm>
            <a:prstGeom prst="line">
              <a:avLst/>
            </a:prstGeom>
            <a:ln w="0" cap="flat" cmpd="sng">
              <a:solidFill>
                <a:srgbClr val="0000FF"/>
              </a:solidFill>
              <a:prstDash val="solid"/>
              <a:headEnd type="none" w="med" len="med"/>
              <a:tailEnd type="none" w="med" len="med"/>
            </a:ln>
          </p:spPr>
        </p:sp>
        <p:sp>
          <p:nvSpPr>
            <p:cNvPr id="31859" name="Oval 1174"/>
            <p:cNvSpPr/>
            <p:nvPr/>
          </p:nvSpPr>
          <p:spPr>
            <a:xfrm>
              <a:off x="1092" y="3138"/>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60" name="Oval 1175"/>
            <p:cNvSpPr/>
            <p:nvPr/>
          </p:nvSpPr>
          <p:spPr>
            <a:xfrm>
              <a:off x="1698" y="2855"/>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61" name="Oval 1176"/>
            <p:cNvSpPr/>
            <p:nvPr/>
          </p:nvSpPr>
          <p:spPr>
            <a:xfrm>
              <a:off x="1698" y="3126"/>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62" name="Line 1177"/>
            <p:cNvSpPr/>
            <p:nvPr/>
          </p:nvSpPr>
          <p:spPr>
            <a:xfrm>
              <a:off x="1723" y="2917"/>
              <a:ext cx="1" cy="209"/>
            </a:xfrm>
            <a:prstGeom prst="line">
              <a:avLst/>
            </a:prstGeom>
            <a:ln w="0" cap="flat" cmpd="sng">
              <a:solidFill>
                <a:srgbClr val="0000FF"/>
              </a:solidFill>
              <a:prstDash val="solid"/>
              <a:headEnd type="none" w="med" len="med"/>
              <a:tailEnd type="none" w="med" len="med"/>
            </a:ln>
          </p:spPr>
        </p:sp>
        <p:sp>
          <p:nvSpPr>
            <p:cNvPr id="31863" name="Rectangle 1178"/>
            <p:cNvSpPr/>
            <p:nvPr/>
          </p:nvSpPr>
          <p:spPr>
            <a:xfrm>
              <a:off x="1673" y="321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64" name="Oval 1179"/>
            <p:cNvSpPr/>
            <p:nvPr/>
          </p:nvSpPr>
          <p:spPr>
            <a:xfrm>
              <a:off x="2001" y="2868"/>
              <a:ext cx="63" cy="6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65" name="Oval 1180"/>
            <p:cNvSpPr/>
            <p:nvPr/>
          </p:nvSpPr>
          <p:spPr>
            <a:xfrm>
              <a:off x="2001" y="3138"/>
              <a:ext cx="63"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66" name="Line 1181"/>
            <p:cNvSpPr/>
            <p:nvPr/>
          </p:nvSpPr>
          <p:spPr>
            <a:xfrm>
              <a:off x="2026" y="2929"/>
              <a:ext cx="1" cy="209"/>
            </a:xfrm>
            <a:prstGeom prst="line">
              <a:avLst/>
            </a:prstGeom>
            <a:ln w="0" cap="flat" cmpd="sng">
              <a:solidFill>
                <a:srgbClr val="0000FF"/>
              </a:solidFill>
              <a:prstDash val="solid"/>
              <a:headEnd type="none" w="med" len="med"/>
              <a:tailEnd type="none" w="med" len="med"/>
            </a:ln>
          </p:spPr>
        </p:sp>
        <p:sp>
          <p:nvSpPr>
            <p:cNvPr id="31867" name="Rectangle 1182"/>
            <p:cNvSpPr/>
            <p:nvPr/>
          </p:nvSpPr>
          <p:spPr>
            <a:xfrm>
              <a:off x="1975" y="321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1868" name="Rectangle 1183"/>
            <p:cNvSpPr/>
            <p:nvPr/>
          </p:nvSpPr>
          <p:spPr>
            <a:xfrm>
              <a:off x="1748" y="324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1869" name="Rectangle 1184"/>
            <p:cNvSpPr/>
            <p:nvPr/>
          </p:nvSpPr>
          <p:spPr>
            <a:xfrm>
              <a:off x="2051" y="324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1870" name="Line 1185"/>
            <p:cNvSpPr/>
            <p:nvPr/>
          </p:nvSpPr>
          <p:spPr>
            <a:xfrm>
              <a:off x="2631" y="2461"/>
              <a:ext cx="1" cy="677"/>
            </a:xfrm>
            <a:prstGeom prst="line">
              <a:avLst/>
            </a:prstGeom>
            <a:ln w="0" cap="flat" cmpd="sng">
              <a:solidFill>
                <a:srgbClr val="0000FF"/>
              </a:solidFill>
              <a:prstDash val="solid"/>
              <a:headEnd type="none" w="med" len="med"/>
              <a:tailEnd type="none" w="med" len="med"/>
            </a:ln>
          </p:spPr>
        </p:sp>
        <p:sp>
          <p:nvSpPr>
            <p:cNvPr id="31871" name="Rectangle 1186"/>
            <p:cNvSpPr/>
            <p:nvPr/>
          </p:nvSpPr>
          <p:spPr>
            <a:xfrm>
              <a:off x="991" y="3212"/>
              <a:ext cx="26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OUT</a:t>
              </a:r>
              <a:endParaRPr lang="en-US" altLang="zh-CN" dirty="0">
                <a:latin typeface="Times New Roman" panose="02020603050405020304" pitchFamily="18" charset="0"/>
              </a:endParaRPr>
            </a:p>
          </p:txBody>
        </p:sp>
        <p:sp>
          <p:nvSpPr>
            <p:cNvPr id="31872" name="Line 1187"/>
            <p:cNvSpPr/>
            <p:nvPr/>
          </p:nvSpPr>
          <p:spPr>
            <a:xfrm>
              <a:off x="2417" y="2338"/>
              <a:ext cx="1" cy="443"/>
            </a:xfrm>
            <a:prstGeom prst="line">
              <a:avLst/>
            </a:prstGeom>
            <a:ln w="0" cap="flat" cmpd="sng">
              <a:solidFill>
                <a:srgbClr val="0000FF"/>
              </a:solidFill>
              <a:prstDash val="sysDot"/>
              <a:headEnd type="none" w="med" len="med"/>
              <a:tailEnd type="none" w="med" len="med"/>
            </a:ln>
          </p:spPr>
        </p:sp>
        <p:sp>
          <p:nvSpPr>
            <p:cNvPr id="31873" name="Line 1188"/>
            <p:cNvSpPr/>
            <p:nvPr/>
          </p:nvSpPr>
          <p:spPr>
            <a:xfrm>
              <a:off x="1811" y="2338"/>
              <a:ext cx="2" cy="435"/>
            </a:xfrm>
            <a:prstGeom prst="line">
              <a:avLst/>
            </a:prstGeom>
            <a:ln w="0" cap="flat" cmpd="sng">
              <a:solidFill>
                <a:srgbClr val="0000FF"/>
              </a:solidFill>
              <a:prstDash val="sysDot"/>
              <a:headEnd type="none" w="med" len="med"/>
              <a:tailEnd type="none" w="med" len="med"/>
            </a:ln>
          </p:spPr>
        </p:sp>
        <p:sp>
          <p:nvSpPr>
            <p:cNvPr id="31874" name="Oval 1189"/>
            <p:cNvSpPr/>
            <p:nvPr/>
          </p:nvSpPr>
          <p:spPr>
            <a:xfrm>
              <a:off x="4233" y="1428"/>
              <a:ext cx="227" cy="20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1875" name="Rectangle 1190"/>
            <p:cNvSpPr/>
            <p:nvPr/>
          </p:nvSpPr>
          <p:spPr>
            <a:xfrm>
              <a:off x="4170" y="1391"/>
              <a:ext cx="315" cy="145"/>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31876" name="Line 1191"/>
            <p:cNvSpPr/>
            <p:nvPr/>
          </p:nvSpPr>
          <p:spPr>
            <a:xfrm>
              <a:off x="2028" y="2464"/>
              <a:ext cx="605" cy="1"/>
            </a:xfrm>
            <a:prstGeom prst="line">
              <a:avLst/>
            </a:prstGeom>
            <a:ln w="0" cap="flat" cmpd="sng">
              <a:solidFill>
                <a:srgbClr val="0000FF"/>
              </a:solidFill>
              <a:prstDash val="solid"/>
              <a:headEnd type="none" w="med" len="med"/>
              <a:tailEnd type="none" w="med" len="med"/>
            </a:ln>
          </p:spPr>
        </p:sp>
        <p:sp>
          <p:nvSpPr>
            <p:cNvPr id="31877" name="Line 1192"/>
            <p:cNvSpPr/>
            <p:nvPr/>
          </p:nvSpPr>
          <p:spPr>
            <a:xfrm>
              <a:off x="2228" y="1491"/>
              <a:ext cx="1" cy="197"/>
            </a:xfrm>
            <a:prstGeom prst="line">
              <a:avLst/>
            </a:prstGeom>
            <a:ln w="0" cap="flat" cmpd="sng">
              <a:solidFill>
                <a:srgbClr val="0000FF"/>
              </a:solidFill>
              <a:prstDash val="solid"/>
              <a:headEnd type="none" w="med" len="med"/>
              <a:tailEnd type="none" w="med" len="med"/>
            </a:ln>
          </p:spPr>
        </p:sp>
        <p:sp>
          <p:nvSpPr>
            <p:cNvPr id="31878" name="Line 1193"/>
            <p:cNvSpPr/>
            <p:nvPr/>
          </p:nvSpPr>
          <p:spPr>
            <a:xfrm>
              <a:off x="3741" y="2279"/>
              <a:ext cx="202" cy="1"/>
            </a:xfrm>
            <a:prstGeom prst="line">
              <a:avLst/>
            </a:prstGeom>
            <a:ln w="0" cap="flat" cmpd="sng">
              <a:solidFill>
                <a:srgbClr val="0000FF"/>
              </a:solidFill>
              <a:prstDash val="solid"/>
              <a:headEnd type="none" w="med" len="med"/>
              <a:tailEnd type="none" w="med" len="med"/>
            </a:ln>
          </p:spPr>
        </p:sp>
        <p:sp>
          <p:nvSpPr>
            <p:cNvPr id="31879" name="Line 1194"/>
            <p:cNvSpPr/>
            <p:nvPr/>
          </p:nvSpPr>
          <p:spPr>
            <a:xfrm>
              <a:off x="2352" y="2712"/>
              <a:ext cx="100" cy="98"/>
            </a:xfrm>
            <a:prstGeom prst="line">
              <a:avLst/>
            </a:prstGeom>
            <a:ln w="0" cap="flat" cmpd="sng">
              <a:solidFill>
                <a:srgbClr val="0000FF"/>
              </a:solidFill>
              <a:prstDash val="solid"/>
              <a:headEnd type="none" w="med" len="med"/>
              <a:tailEnd type="none" w="med" len="med"/>
            </a:ln>
          </p:spPr>
        </p:sp>
        <p:sp>
          <p:nvSpPr>
            <p:cNvPr id="31880" name="Line 1195"/>
            <p:cNvSpPr/>
            <p:nvPr/>
          </p:nvSpPr>
          <p:spPr>
            <a:xfrm flipH="1">
              <a:off x="3939" y="1536"/>
              <a:ext cx="294" cy="2"/>
            </a:xfrm>
            <a:prstGeom prst="line">
              <a:avLst/>
            </a:prstGeom>
            <a:ln w="0" cap="flat" cmpd="sng">
              <a:solidFill>
                <a:srgbClr val="0000FF"/>
              </a:solidFill>
              <a:prstDash val="solid"/>
              <a:headEnd type="none" w="med" len="med"/>
              <a:tailEnd type="none" w="med" len="med"/>
            </a:ln>
          </p:spPr>
        </p:sp>
        <p:sp>
          <p:nvSpPr>
            <p:cNvPr id="31881" name="Line 1196"/>
            <p:cNvSpPr/>
            <p:nvPr/>
          </p:nvSpPr>
          <p:spPr>
            <a:xfrm>
              <a:off x="4458" y="1536"/>
              <a:ext cx="282" cy="2"/>
            </a:xfrm>
            <a:prstGeom prst="line">
              <a:avLst/>
            </a:prstGeom>
            <a:ln w="0" cap="flat" cmpd="sng">
              <a:solidFill>
                <a:srgbClr val="0000FF"/>
              </a:solidFill>
              <a:prstDash val="solid"/>
              <a:headEnd type="none" w="med" len="med"/>
              <a:tailEnd type="none" w="med" len="med"/>
            </a:ln>
          </p:spPr>
        </p:sp>
        <p:sp>
          <p:nvSpPr>
            <p:cNvPr id="31882" name="Line 1197"/>
            <p:cNvSpPr/>
            <p:nvPr/>
          </p:nvSpPr>
          <p:spPr>
            <a:xfrm>
              <a:off x="3941" y="1538"/>
              <a:ext cx="1" cy="1686"/>
            </a:xfrm>
            <a:prstGeom prst="line">
              <a:avLst/>
            </a:prstGeom>
            <a:ln w="0" cap="flat" cmpd="sng">
              <a:solidFill>
                <a:srgbClr val="0000FF"/>
              </a:solidFill>
              <a:prstDash val="solid"/>
              <a:headEnd type="none" w="med" len="med"/>
              <a:tailEnd type="none" w="med" len="med"/>
            </a:ln>
          </p:spPr>
        </p:sp>
        <p:sp>
          <p:nvSpPr>
            <p:cNvPr id="31883" name="Line 1198"/>
            <p:cNvSpPr/>
            <p:nvPr/>
          </p:nvSpPr>
          <p:spPr>
            <a:xfrm>
              <a:off x="3941" y="3224"/>
              <a:ext cx="794" cy="1"/>
            </a:xfrm>
            <a:prstGeom prst="line">
              <a:avLst/>
            </a:prstGeom>
            <a:ln w="0" cap="flat" cmpd="sng">
              <a:solidFill>
                <a:srgbClr val="0000FF"/>
              </a:solidFill>
              <a:prstDash val="solid"/>
              <a:headEnd type="none" w="med" len="med"/>
              <a:tailEnd type="none" w="med" len="med"/>
            </a:ln>
          </p:spPr>
        </p:sp>
        <p:sp>
          <p:nvSpPr>
            <p:cNvPr id="31884" name="Line 1199"/>
            <p:cNvSpPr/>
            <p:nvPr/>
          </p:nvSpPr>
          <p:spPr>
            <a:xfrm flipV="1">
              <a:off x="4735" y="1538"/>
              <a:ext cx="1" cy="1686"/>
            </a:xfrm>
            <a:prstGeom prst="line">
              <a:avLst/>
            </a:prstGeom>
            <a:ln w="0" cap="flat" cmpd="sng">
              <a:solidFill>
                <a:srgbClr val="0000FF"/>
              </a:solidFill>
              <a:prstDash val="solid"/>
              <a:headEnd type="none" w="med" len="med"/>
              <a:tailEnd type="none" w="med" len="med"/>
            </a:ln>
          </p:spPr>
        </p:sp>
        <p:sp>
          <p:nvSpPr>
            <p:cNvPr id="31885" name="Line 1200"/>
            <p:cNvSpPr/>
            <p:nvPr/>
          </p:nvSpPr>
          <p:spPr>
            <a:xfrm>
              <a:off x="724" y="1828"/>
              <a:ext cx="192" cy="1"/>
            </a:xfrm>
            <a:prstGeom prst="line">
              <a:avLst/>
            </a:prstGeom>
            <a:ln w="0" cap="flat" cmpd="sng">
              <a:solidFill>
                <a:srgbClr val="0000FF"/>
              </a:solidFill>
              <a:prstDash val="solid"/>
              <a:headEnd type="none" w="med" len="med"/>
              <a:tailEnd type="none" w="med" len="med"/>
            </a:ln>
          </p:spPr>
        </p:sp>
        <p:sp>
          <p:nvSpPr>
            <p:cNvPr id="31886" name="Line 1201"/>
            <p:cNvSpPr/>
            <p:nvPr/>
          </p:nvSpPr>
          <p:spPr>
            <a:xfrm>
              <a:off x="724" y="2236"/>
              <a:ext cx="192" cy="1"/>
            </a:xfrm>
            <a:prstGeom prst="line">
              <a:avLst/>
            </a:prstGeom>
            <a:ln w="0" cap="flat" cmpd="sng">
              <a:solidFill>
                <a:srgbClr val="0000FF"/>
              </a:solidFill>
              <a:prstDash val="solid"/>
              <a:headEnd type="none" w="med" len="med"/>
              <a:tailEnd type="none" w="med" len="med"/>
            </a:ln>
          </p:spPr>
        </p:sp>
        <p:sp>
          <p:nvSpPr>
            <p:cNvPr id="31887" name="Line 1202"/>
            <p:cNvSpPr/>
            <p:nvPr/>
          </p:nvSpPr>
          <p:spPr>
            <a:xfrm>
              <a:off x="724" y="2673"/>
              <a:ext cx="192" cy="1"/>
            </a:xfrm>
            <a:prstGeom prst="line">
              <a:avLst/>
            </a:prstGeom>
            <a:ln w="0" cap="flat" cmpd="sng">
              <a:solidFill>
                <a:srgbClr val="0000FF"/>
              </a:solidFill>
              <a:prstDash val="solid"/>
              <a:headEnd type="none" w="med" len="med"/>
              <a:tailEnd type="none" w="med" len="med"/>
            </a:ln>
          </p:spPr>
        </p:sp>
        <p:sp>
          <p:nvSpPr>
            <p:cNvPr id="31888" name="Line 1203"/>
            <p:cNvSpPr/>
            <p:nvPr/>
          </p:nvSpPr>
          <p:spPr>
            <a:xfrm>
              <a:off x="1525" y="1489"/>
              <a:ext cx="1" cy="197"/>
            </a:xfrm>
            <a:prstGeom prst="line">
              <a:avLst/>
            </a:prstGeom>
            <a:ln w="0" cap="flat" cmpd="sng">
              <a:solidFill>
                <a:srgbClr val="0000FF"/>
              </a:solidFill>
              <a:prstDash val="solid"/>
              <a:headEnd type="none" w="med" len="med"/>
              <a:tailEnd type="none" w="med" len="med"/>
            </a:ln>
          </p:spPr>
        </p:sp>
        <p:sp>
          <p:nvSpPr>
            <p:cNvPr id="31889" name="Line 1204"/>
            <p:cNvSpPr/>
            <p:nvPr/>
          </p:nvSpPr>
          <p:spPr>
            <a:xfrm>
              <a:off x="1881" y="1489"/>
              <a:ext cx="1" cy="197"/>
            </a:xfrm>
            <a:prstGeom prst="line">
              <a:avLst/>
            </a:prstGeom>
            <a:ln w="0" cap="flat" cmpd="sng">
              <a:solidFill>
                <a:srgbClr val="0000FF"/>
              </a:solidFill>
              <a:prstDash val="solid"/>
              <a:headEnd type="none" w="med" len="med"/>
              <a:tailEnd type="none" w="med" len="med"/>
            </a:ln>
          </p:spPr>
        </p:sp>
        <p:sp>
          <p:nvSpPr>
            <p:cNvPr id="31890" name="Line 1205"/>
            <p:cNvSpPr/>
            <p:nvPr/>
          </p:nvSpPr>
          <p:spPr>
            <a:xfrm>
              <a:off x="1521" y="1953"/>
              <a:ext cx="1" cy="115"/>
            </a:xfrm>
            <a:prstGeom prst="line">
              <a:avLst/>
            </a:prstGeom>
            <a:ln w="0" cap="flat" cmpd="sng">
              <a:solidFill>
                <a:srgbClr val="0000FF"/>
              </a:solidFill>
              <a:prstDash val="solid"/>
              <a:headEnd type="none" w="med" len="med"/>
              <a:tailEnd type="none" w="med" len="med"/>
            </a:ln>
          </p:spPr>
        </p:sp>
        <p:sp>
          <p:nvSpPr>
            <p:cNvPr id="31891" name="Line 1206"/>
            <p:cNvSpPr/>
            <p:nvPr/>
          </p:nvSpPr>
          <p:spPr>
            <a:xfrm>
              <a:off x="1723" y="2461"/>
              <a:ext cx="1" cy="185"/>
            </a:xfrm>
            <a:prstGeom prst="line">
              <a:avLst/>
            </a:prstGeom>
            <a:ln w="0" cap="flat" cmpd="sng">
              <a:solidFill>
                <a:srgbClr val="0000FF"/>
              </a:solidFill>
              <a:prstDash val="solid"/>
              <a:headEnd type="none" w="med" len="med"/>
              <a:tailEnd type="none" w="med" len="med"/>
            </a:ln>
          </p:spPr>
        </p:sp>
        <p:sp>
          <p:nvSpPr>
            <p:cNvPr id="31892" name="Rectangle 1207"/>
            <p:cNvSpPr/>
            <p:nvPr/>
          </p:nvSpPr>
          <p:spPr>
            <a:xfrm>
              <a:off x="1956" y="3453"/>
              <a:ext cx="2016" cy="182"/>
            </a:xfrm>
            <a:prstGeom prst="rect">
              <a:avLst/>
            </a:prstGeom>
            <a:noFill/>
            <a:ln w="9525">
              <a:noFill/>
            </a:ln>
          </p:spPr>
          <p:txBody>
            <a:bodyPr wrap="none" lIns="0" tIns="0" rIns="0" bIns="0">
              <a:spAutoFit/>
            </a:bodyPr>
            <a:p>
              <a:pPr eaLnBrk="1" hangingPunct="1">
                <a:lnSpc>
                  <a:spcPct val="90000"/>
                </a:lnSpc>
              </a:pPr>
              <a:r>
                <a:rPr lang="en-US" altLang="zh-CN" sz="2100" dirty="0">
                  <a:solidFill>
                    <a:srgbClr val="000080"/>
                  </a:solidFill>
                  <a:latin typeface="楷体_GB2312" pitchFamily="49" charset="-122"/>
                </a:rPr>
                <a:t>AD7502</a:t>
              </a:r>
              <a:r>
                <a:rPr lang="zh-CN" altLang="en-US" sz="2100" dirty="0">
                  <a:solidFill>
                    <a:srgbClr val="000080"/>
                  </a:solidFill>
                  <a:latin typeface="楷体_GB2312" pitchFamily="49" charset="-122"/>
                </a:rPr>
                <a:t>芯片结构及引脚功能</a:t>
              </a:r>
              <a:endParaRPr lang="zh-CN" altLang="en-US" dirty="0">
                <a:latin typeface="Times New Roman" panose="02020603050405020304" pitchFamily="18" charset="0"/>
              </a:endParaRPr>
            </a:p>
          </p:txBody>
        </p:sp>
      </p:grpSp>
      <p:pic>
        <p:nvPicPr>
          <p:cNvPr id="23719" name="Picture 167" descr="AD7502"/>
          <p:cNvPicPr>
            <a:picLocks noChangeAspect="1"/>
          </p:cNvPicPr>
          <p:nvPr/>
        </p:nvPicPr>
        <p:blipFill>
          <a:blip r:embed="rId1">
            <a:lum contrast="18000"/>
          </a:blip>
          <a:stretch>
            <a:fillRect/>
          </a:stretch>
        </p:blipFill>
        <p:spPr>
          <a:xfrm>
            <a:off x="5795963" y="836613"/>
            <a:ext cx="2771775" cy="1501775"/>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6917"/>
                                        </p:tgtEl>
                                        <p:attrNameLst>
                                          <p:attrName>style.visibility</p:attrName>
                                        </p:attrNameLst>
                                      </p:cBhvr>
                                      <p:to>
                                        <p:strVal val="visible"/>
                                      </p:to>
                                    </p:set>
                                    <p:animEffect transition="in" filter="dissolve">
                                      <p:cBhvr>
                                        <p:cTn id="7" dur="500"/>
                                        <p:tgtEl>
                                          <p:spTgt spid="22569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7080"/>
                                        </p:tgtEl>
                                        <p:attrNameLst>
                                          <p:attrName>style.visibility</p:attrName>
                                        </p:attrNameLst>
                                      </p:cBhvr>
                                      <p:to>
                                        <p:strVal val="visible"/>
                                      </p:to>
                                    </p:set>
                                    <p:animEffect transition="in" filter="dissolve">
                                      <p:cBhvr>
                                        <p:cTn id="12" dur="500"/>
                                        <p:tgtEl>
                                          <p:spTgt spid="2257080"/>
                                        </p:tgtEl>
                                      </p:cBhvr>
                                    </p:animEffect>
                                  </p:childTnLst>
                                </p:cTn>
                              </p:par>
                            </p:childTnLst>
                          </p:cTn>
                        </p:par>
                      </p:childTnLst>
                    </p:cTn>
                  </p:par>
                  <p:par>
                    <p:cTn id="13" fill="hold">
                      <p:stCondLst>
                        <p:cond delay="indefinite"/>
                      </p:stCondLst>
                      <p:childTnLst>
                        <p:par>
                          <p:cTn id="14" fill="hold">
                            <p:stCondLst>
                              <p:cond delay="0"/>
                            </p:stCondLst>
                            <p:childTnLst>
                              <p:par>
                                <p:cTn id="15" presetID="31" presetClass="entr" presetSubtype="0" fill="hold" nodeType="clickEffect">
                                  <p:stCondLst>
                                    <p:cond delay="0"/>
                                  </p:stCondLst>
                                  <p:iterate type="lt">
                                    <p:tmPct val="5000"/>
                                  </p:iterate>
                                  <p:childTnLst>
                                    <p:set>
                                      <p:cBhvr>
                                        <p:cTn id="16" dur="1" fill="hold">
                                          <p:stCondLst>
                                            <p:cond delay="0"/>
                                          </p:stCondLst>
                                        </p:cTn>
                                        <p:tgtEl>
                                          <p:spTgt spid="23719"/>
                                        </p:tgtEl>
                                        <p:attrNameLst>
                                          <p:attrName>style.visibility</p:attrName>
                                        </p:attrNameLst>
                                      </p:cBhvr>
                                      <p:to>
                                        <p:strVal val="visible"/>
                                      </p:to>
                                    </p:set>
                                    <p:anim calcmode="lin" valueType="num">
                                      <p:cBhvr>
                                        <p:cTn id="17" dur="1000" fill="hold"/>
                                        <p:tgtEl>
                                          <p:spTgt spid="23719"/>
                                        </p:tgtEl>
                                        <p:attrNameLst>
                                          <p:attrName>ppt_w</p:attrName>
                                        </p:attrNameLst>
                                      </p:cBhvr>
                                      <p:tavLst>
                                        <p:tav tm="0">
                                          <p:val>
                                            <p:fltVal val="0.000000"/>
                                          </p:val>
                                        </p:tav>
                                        <p:tav tm="100000">
                                          <p:val>
                                            <p:strVal val="#ppt_w"/>
                                          </p:val>
                                        </p:tav>
                                      </p:tavLst>
                                    </p:anim>
                                    <p:anim calcmode="lin" valueType="num">
                                      <p:cBhvr>
                                        <p:cTn id="18" dur="1000" fill="hold"/>
                                        <p:tgtEl>
                                          <p:spTgt spid="23719"/>
                                        </p:tgtEl>
                                        <p:attrNameLst>
                                          <p:attrName>ppt_h</p:attrName>
                                        </p:attrNameLst>
                                      </p:cBhvr>
                                      <p:tavLst>
                                        <p:tav tm="0">
                                          <p:val>
                                            <p:fltVal val="0.000000"/>
                                          </p:val>
                                        </p:tav>
                                        <p:tav tm="100000">
                                          <p:val>
                                            <p:strVal val="#ppt_h"/>
                                          </p:val>
                                        </p:tav>
                                      </p:tavLst>
                                    </p:anim>
                                    <p:anim calcmode="lin" valueType="num">
                                      <p:cBhvr>
                                        <p:cTn id="19" dur="1000" fill="hold"/>
                                        <p:tgtEl>
                                          <p:spTgt spid="23719"/>
                                        </p:tgtEl>
                                        <p:attrNameLst>
                                          <p:attrName>style.rotation</p:attrName>
                                        </p:attrNameLst>
                                      </p:cBhvr>
                                      <p:tavLst>
                                        <p:tav tm="0">
                                          <p:val>
                                            <p:fltVal val="90.000000"/>
                                          </p:val>
                                        </p:tav>
                                        <p:tav tm="100000">
                                          <p:val>
                                            <p:fltVal val="0.000000"/>
                                          </p:val>
                                        </p:tav>
                                      </p:tavLst>
                                    </p:anim>
                                    <p:animEffect transition="in" filter="fade">
                                      <p:cBhvr>
                                        <p:cTn id="20" dur="1000"/>
                                        <p:tgtEl>
                                          <p:spTgt spid="237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6917"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7936" name="Text Box 16"/>
          <p:cNvSpPr txBox="1"/>
          <p:nvPr/>
        </p:nvSpPr>
        <p:spPr>
          <a:xfrm>
            <a:off x="4435475" y="1363663"/>
            <a:ext cx="2909888" cy="579437"/>
          </a:xfrm>
          <a:prstGeom prst="rect">
            <a:avLst/>
          </a:prstGeom>
          <a:solidFill>
            <a:srgbClr val="CCFFFF"/>
          </a:solidFill>
          <a:ln w="9525">
            <a:noFill/>
          </a:ln>
        </p:spPr>
        <p:txBody>
          <a:bodyPr wrap="none">
            <a:spAutoFit/>
          </a:bodyPr>
          <a:p>
            <a:pPr eaLnBrk="1" hangingPunct="1"/>
            <a:r>
              <a:rPr lang="en-US" altLang="zh-CN" sz="3200" dirty="0">
                <a:solidFill>
                  <a:srgbClr val="FF0000"/>
                </a:solidFill>
                <a:latin typeface="Times New Roman" panose="02020603050405020304" pitchFamily="18" charset="0"/>
                <a:ea typeface="宋体" panose="02010600030101010101" pitchFamily="2" charset="-122"/>
              </a:rPr>
              <a:t>AD7502</a:t>
            </a:r>
            <a:r>
              <a:rPr lang="zh-CN" altLang="en-US" sz="3200" dirty="0">
                <a:solidFill>
                  <a:srgbClr val="FF0000"/>
                </a:solidFill>
                <a:latin typeface="Times New Roman" panose="02020603050405020304" pitchFamily="18" charset="0"/>
              </a:rPr>
              <a:t>真值表</a:t>
            </a:r>
            <a:r>
              <a:rPr lang="zh-CN" altLang="en-US" sz="3200" dirty="0">
                <a:solidFill>
                  <a:srgbClr val="FF0000"/>
                </a:solidFill>
                <a:latin typeface="Times New Roman" panose="02020603050405020304" pitchFamily="18" charset="0"/>
                <a:ea typeface="宋体" panose="02010600030101010101" pitchFamily="2" charset="-122"/>
              </a:rPr>
              <a:t> </a:t>
            </a:r>
            <a:endParaRPr lang="zh-CN" altLang="en-US" sz="3200" dirty="0">
              <a:solidFill>
                <a:srgbClr val="FF0000"/>
              </a:solidFill>
              <a:latin typeface="Times New Roman" panose="02020603050405020304" pitchFamily="18" charset="0"/>
              <a:ea typeface="宋体" panose="02010600030101010101" pitchFamily="2" charset="-122"/>
            </a:endParaRPr>
          </a:p>
        </p:txBody>
      </p:sp>
      <p:sp>
        <p:nvSpPr>
          <p:cNvPr id="32771"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
        <p:nvSpPr>
          <p:cNvPr id="32772" name="Text Box 51"/>
          <p:cNvSpPr txBox="1"/>
          <p:nvPr/>
        </p:nvSpPr>
        <p:spPr>
          <a:xfrm>
            <a:off x="730250" y="1339850"/>
            <a:ext cx="1990725" cy="579438"/>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2. AD7502</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257972" name="Text Box 52"/>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2257992" name="Group 72"/>
          <p:cNvGraphicFramePr>
            <a:graphicFrameLocks noGrp="1"/>
          </p:cNvGraphicFramePr>
          <p:nvPr/>
        </p:nvGraphicFramePr>
        <p:xfrm>
          <a:off x="819150" y="2006600"/>
          <a:ext cx="7639050" cy="2568575"/>
        </p:xfrm>
        <a:graphic>
          <a:graphicData uri="http://schemas.openxmlformats.org/drawingml/2006/table">
            <a:tbl>
              <a:tblPr/>
              <a:tblGrid>
                <a:gridCol w="1909763"/>
                <a:gridCol w="1909762"/>
                <a:gridCol w="1909763"/>
                <a:gridCol w="1909762"/>
              </a:tblGrid>
              <a:tr h="536575">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EN</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导通</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032000">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和</a:t>
                      </a: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和</a:t>
                      </a: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6</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和</a:t>
                      </a: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7</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4</a:t>
                      </a: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和</a:t>
                      </a: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8</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无</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257993" name="Text Box 73"/>
          <p:cNvSpPr txBox="1"/>
          <p:nvPr/>
        </p:nvSpPr>
        <p:spPr>
          <a:xfrm>
            <a:off x="803275" y="4692650"/>
            <a:ext cx="7650163" cy="1373188"/>
          </a:xfrm>
          <a:prstGeom prst="rect">
            <a:avLst/>
          </a:prstGeom>
          <a:solidFill>
            <a:srgbClr val="FFFF99"/>
          </a:solidFill>
          <a:ln w="9525">
            <a:noFill/>
          </a:ln>
        </p:spPr>
        <p:txBody>
          <a:bodyPr>
            <a:spAutoFit/>
          </a:bodyPr>
          <a:p>
            <a:pPr eaLnBrk="1" hangingPunct="1"/>
            <a:r>
              <a:rPr lang="zh-CN" altLang="en-US" sz="2800" dirty="0">
                <a:solidFill>
                  <a:schemeClr val="tx1"/>
                </a:solidFill>
                <a:latin typeface="Times New Roman" panose="02020603050405020304" pitchFamily="18" charset="0"/>
                <a:ea typeface="宋体" panose="02010600030101010101" pitchFamily="2" charset="-122"/>
              </a:rPr>
              <a:t>注意：</a:t>
            </a:r>
            <a:r>
              <a:rPr lang="en-US" altLang="zh-CN" sz="2800" dirty="0">
                <a:solidFill>
                  <a:schemeClr val="tx1"/>
                </a:solidFill>
                <a:latin typeface="Times New Roman" panose="02020603050405020304" pitchFamily="18" charset="0"/>
                <a:ea typeface="宋体" panose="02010600030101010101" pitchFamily="2" charset="-122"/>
              </a:rPr>
              <a:t>AD7501</a:t>
            </a:r>
            <a:r>
              <a:rPr lang="zh-CN" altLang="en-US" sz="2800" dirty="0">
                <a:solidFill>
                  <a:schemeClr val="tx1"/>
                </a:solidFill>
                <a:latin typeface="Times New Roman" panose="02020603050405020304" pitchFamily="18" charset="0"/>
                <a:ea typeface="宋体" panose="02010600030101010101" pitchFamily="2" charset="-122"/>
              </a:rPr>
              <a:t>，</a:t>
            </a:r>
            <a:r>
              <a:rPr lang="en-US" altLang="zh-CN" sz="2800" dirty="0">
                <a:solidFill>
                  <a:schemeClr val="tx1"/>
                </a:solidFill>
                <a:latin typeface="Times New Roman" panose="02020603050405020304" pitchFamily="18" charset="0"/>
                <a:ea typeface="宋体" panose="02010600030101010101" pitchFamily="2" charset="-122"/>
              </a:rPr>
              <a:t>AD7502</a:t>
            </a:r>
            <a:r>
              <a:rPr lang="zh-CN" altLang="en-US" sz="2800" dirty="0">
                <a:solidFill>
                  <a:schemeClr val="tx1"/>
                </a:solidFill>
                <a:latin typeface="Times New Roman" panose="02020603050405020304" pitchFamily="18" charset="0"/>
                <a:ea typeface="宋体" panose="02010600030101010101" pitchFamily="2" charset="-122"/>
              </a:rPr>
              <a:t>，</a:t>
            </a:r>
            <a:r>
              <a:rPr lang="en-US" altLang="zh-CN" sz="2800" dirty="0">
                <a:solidFill>
                  <a:schemeClr val="tx1"/>
                </a:solidFill>
                <a:latin typeface="Times New Roman" panose="02020603050405020304" pitchFamily="18" charset="0"/>
                <a:ea typeface="宋体" panose="02010600030101010101" pitchFamily="2" charset="-122"/>
              </a:rPr>
              <a:t>AD7503 </a:t>
            </a:r>
            <a:r>
              <a:rPr lang="zh-CN" altLang="en-US" sz="2800" dirty="0">
                <a:solidFill>
                  <a:schemeClr val="tx1"/>
                </a:solidFill>
                <a:latin typeface="Times New Roman" panose="02020603050405020304" pitchFamily="18" charset="0"/>
              </a:rPr>
              <a:t>芯片都是单向多到一的多路开关，即信号只允许从多个</a:t>
            </a:r>
            <a:r>
              <a:rPr lang="zh-CN" altLang="en-US" sz="2800" dirty="0">
                <a:solidFill>
                  <a:schemeClr val="tx1"/>
                </a:solidFill>
                <a:latin typeface="Times New Roman" panose="02020603050405020304" pitchFamily="18" charset="0"/>
                <a:ea typeface="宋体" panose="02010600030101010101" pitchFamily="2" charset="-122"/>
              </a:rPr>
              <a:t> </a:t>
            </a:r>
            <a:r>
              <a:rPr lang="en-US" altLang="zh-CN" sz="2800" dirty="0">
                <a:solidFill>
                  <a:schemeClr val="tx1"/>
                </a:solidFill>
                <a:latin typeface="Times New Roman" panose="02020603050405020304" pitchFamily="18" charset="0"/>
                <a:ea typeface="宋体" panose="02010600030101010101" pitchFamily="2" charset="-122"/>
              </a:rPr>
              <a:t>(8</a:t>
            </a:r>
            <a:r>
              <a:rPr lang="zh-CN" altLang="en-US" sz="2800" dirty="0">
                <a:solidFill>
                  <a:schemeClr val="tx1"/>
                </a:solidFill>
                <a:latin typeface="Times New Roman" panose="02020603050405020304" pitchFamily="18" charset="0"/>
              </a:rPr>
              <a:t>个</a:t>
            </a:r>
            <a:r>
              <a:rPr lang="en-US" altLang="zh-CN" sz="2800" dirty="0">
                <a:solidFill>
                  <a:schemeClr val="tx1"/>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rPr>
              <a:t>输入端向一个输出端传送。</a:t>
            </a:r>
            <a:endParaRPr lang="zh-CN" altLang="en-US" sz="28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7936"/>
                                        </p:tgtEl>
                                        <p:attrNameLst>
                                          <p:attrName>style.visibility</p:attrName>
                                        </p:attrNameLst>
                                      </p:cBhvr>
                                      <p:to>
                                        <p:strVal val="visible"/>
                                      </p:to>
                                    </p:set>
                                    <p:animEffect transition="in" filter="dissolve">
                                      <p:cBhvr>
                                        <p:cTn id="7" dur="500"/>
                                        <p:tgtEl>
                                          <p:spTgt spid="22579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7992"/>
                                        </p:tgtEl>
                                        <p:attrNameLst>
                                          <p:attrName>style.visibility</p:attrName>
                                        </p:attrNameLst>
                                      </p:cBhvr>
                                      <p:to>
                                        <p:strVal val="visible"/>
                                      </p:to>
                                    </p:set>
                                    <p:animEffect transition="in" filter="dissolve">
                                      <p:cBhvr>
                                        <p:cTn id="12" dur="500"/>
                                        <p:tgtEl>
                                          <p:spTgt spid="225799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7993"/>
                                        </p:tgtEl>
                                        <p:attrNameLst>
                                          <p:attrName>style.visibility</p:attrName>
                                        </p:attrNameLst>
                                      </p:cBhvr>
                                      <p:to>
                                        <p:strVal val="visible"/>
                                      </p:to>
                                    </p:set>
                                    <p:animEffect transition="in" filter="dissolve">
                                      <p:cBhvr>
                                        <p:cTn id="17" dur="500"/>
                                        <p:tgtEl>
                                          <p:spTgt spid="22579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7936" grpId="0" animBg="1"/>
      <p:bldP spid="2257993"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1656" name="Text Box 8"/>
          <p:cNvSpPr txBox="1"/>
          <p:nvPr/>
        </p:nvSpPr>
        <p:spPr>
          <a:xfrm>
            <a:off x="785813" y="1403350"/>
            <a:ext cx="7615237" cy="830263"/>
          </a:xfrm>
          <a:prstGeom prst="rect">
            <a:avLst/>
          </a:prstGeom>
          <a:solidFill>
            <a:srgbClr val="CCFFFF"/>
          </a:solidFill>
          <a:ln w="9525">
            <a:noFill/>
          </a:ln>
        </p:spPr>
        <p:txBody>
          <a:bodyPr>
            <a:spAutoFit/>
          </a:bodyPr>
          <a:p>
            <a:pPr eaLnBrk="1" hangingPunct="1"/>
            <a:r>
              <a:rPr lang="en-US" altLang="zh-CN" sz="2400" dirty="0">
                <a:solidFill>
                  <a:schemeClr val="tx1"/>
                </a:solidFill>
                <a:latin typeface="Times New Roman" panose="02020603050405020304" pitchFamily="18" charset="0"/>
                <a:ea typeface="黑体" panose="02010609060101010101" pitchFamily="49" charset="-122"/>
              </a:rPr>
              <a:t>CD4051</a:t>
            </a:r>
            <a:r>
              <a:rPr lang="zh-CN" altLang="en-US" sz="2400" dirty="0">
                <a:solidFill>
                  <a:schemeClr val="tx1"/>
                </a:solidFill>
                <a:latin typeface="黑体" panose="02010609060101010101" pitchFamily="49" charset="-122"/>
                <a:ea typeface="黑体" panose="02010609060101010101" pitchFamily="49" charset="-122"/>
              </a:rPr>
              <a:t>为</a:t>
            </a:r>
            <a:r>
              <a:rPr lang="en-US" altLang="zh-CN" sz="2400" dirty="0">
                <a:solidFill>
                  <a:schemeClr val="tx1"/>
                </a:solidFill>
                <a:latin typeface="Times New Roman" panose="02020603050405020304" pitchFamily="18" charset="0"/>
                <a:ea typeface="黑体" panose="02010609060101010101" pitchFamily="49" charset="-122"/>
              </a:rPr>
              <a:t>8</a:t>
            </a:r>
            <a:r>
              <a:rPr lang="zh-CN" altLang="en-US" sz="2400" dirty="0">
                <a:solidFill>
                  <a:schemeClr val="tx1"/>
                </a:solidFill>
                <a:latin typeface="黑体" panose="02010609060101010101" pitchFamily="49" charset="-122"/>
                <a:ea typeface="黑体" panose="02010609060101010101" pitchFamily="49" charset="-122"/>
              </a:rPr>
              <a:t>通道单刀结构形式，它允许双向使用，即可用于多到一的切换输出，也可用于一到多的输出切换。</a:t>
            </a:r>
            <a:endParaRPr lang="zh-CN" altLang="en-US" sz="2400" dirty="0">
              <a:solidFill>
                <a:schemeClr val="tx1"/>
              </a:solidFill>
              <a:latin typeface="黑体" panose="02010609060101010101" pitchFamily="49" charset="-122"/>
              <a:ea typeface="黑体" panose="02010609060101010101" pitchFamily="49" charset="-122"/>
            </a:endParaRPr>
          </a:p>
        </p:txBody>
      </p:sp>
      <p:grpSp>
        <p:nvGrpSpPr>
          <p:cNvPr id="2331881" name="Group 233"/>
          <p:cNvGrpSpPr/>
          <p:nvPr/>
        </p:nvGrpSpPr>
        <p:grpSpPr>
          <a:xfrm>
            <a:off x="152400" y="2362200"/>
            <a:ext cx="8839200" cy="3822700"/>
            <a:chOff x="102" y="1332"/>
            <a:chExt cx="5568" cy="2408"/>
          </a:xfrm>
        </p:grpSpPr>
        <p:sp>
          <p:nvSpPr>
            <p:cNvPr id="33800" name="AutoShape 9"/>
            <p:cNvSpPr>
              <a:spLocks noChangeAspect="1" noTextEdit="1"/>
            </p:cNvSpPr>
            <p:nvPr/>
          </p:nvSpPr>
          <p:spPr>
            <a:xfrm>
              <a:off x="102" y="1332"/>
              <a:ext cx="5568" cy="2408"/>
            </a:xfrm>
            <a:prstGeom prst="rect">
              <a:avLst/>
            </a:prstGeom>
            <a:solidFill>
              <a:srgbClr val="FFFF99"/>
            </a:solidFill>
            <a:ln w="9525">
              <a:noFill/>
            </a:ln>
          </p:spPr>
          <p:txBody>
            <a:bodyPr/>
            <a:p>
              <a:endParaRPr lang="zh-CN" altLang="en-US"/>
            </a:p>
          </p:txBody>
        </p:sp>
        <p:sp>
          <p:nvSpPr>
            <p:cNvPr id="33801" name="Rectangle 11"/>
            <p:cNvSpPr/>
            <p:nvPr/>
          </p:nvSpPr>
          <p:spPr>
            <a:xfrm>
              <a:off x="781" y="1766"/>
              <a:ext cx="1677" cy="287"/>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02" name="Rectangle 12"/>
            <p:cNvSpPr/>
            <p:nvPr/>
          </p:nvSpPr>
          <p:spPr>
            <a:xfrm>
              <a:off x="781" y="2244"/>
              <a:ext cx="1677" cy="27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03" name="Rectangle 13"/>
            <p:cNvSpPr/>
            <p:nvPr/>
          </p:nvSpPr>
          <p:spPr>
            <a:xfrm>
              <a:off x="649" y="1659"/>
              <a:ext cx="1942" cy="1528"/>
            </a:xfrm>
            <a:prstGeom prst="rect">
              <a:avLst/>
            </a:prstGeom>
            <a:noFill/>
            <a:ln w="0" cap="flat" cmpd="sng">
              <a:solidFill>
                <a:srgbClr val="0000FF"/>
              </a:solidFill>
              <a:prstDash val="sysDot"/>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04" name="Rectangle 14"/>
            <p:cNvSpPr/>
            <p:nvPr/>
          </p:nvSpPr>
          <p:spPr>
            <a:xfrm>
              <a:off x="1336" y="1838"/>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电平转换</a:t>
              </a:r>
              <a:endParaRPr lang="zh-CN" altLang="en-US" dirty="0">
                <a:latin typeface="Times New Roman" panose="02020603050405020304" pitchFamily="18" charset="0"/>
              </a:endParaRPr>
            </a:p>
          </p:txBody>
        </p:sp>
        <p:sp>
          <p:nvSpPr>
            <p:cNvPr id="33805" name="Rectangle 15"/>
            <p:cNvSpPr/>
            <p:nvPr/>
          </p:nvSpPr>
          <p:spPr>
            <a:xfrm>
              <a:off x="1336" y="2304"/>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译码驱动</a:t>
              </a:r>
              <a:endParaRPr lang="zh-CN" altLang="en-US" dirty="0">
                <a:latin typeface="Times New Roman" panose="02020603050405020304" pitchFamily="18" charset="0"/>
              </a:endParaRPr>
            </a:p>
          </p:txBody>
        </p:sp>
        <p:sp>
          <p:nvSpPr>
            <p:cNvPr id="33806" name="Line 16"/>
            <p:cNvSpPr/>
            <p:nvPr/>
          </p:nvSpPr>
          <p:spPr>
            <a:xfrm flipV="1">
              <a:off x="1035" y="1569"/>
              <a:ext cx="1" cy="197"/>
            </a:xfrm>
            <a:prstGeom prst="line">
              <a:avLst/>
            </a:prstGeom>
            <a:ln w="0" cap="flat" cmpd="sng">
              <a:solidFill>
                <a:srgbClr val="0000FF"/>
              </a:solidFill>
              <a:prstDash val="solid"/>
              <a:headEnd type="none" w="med" len="med"/>
              <a:tailEnd type="none" w="med" len="med"/>
            </a:ln>
          </p:spPr>
        </p:sp>
        <p:sp>
          <p:nvSpPr>
            <p:cNvPr id="33807" name="Oval 17"/>
            <p:cNvSpPr/>
            <p:nvPr/>
          </p:nvSpPr>
          <p:spPr>
            <a:xfrm>
              <a:off x="1011" y="1515"/>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08" name="Oval 18"/>
            <p:cNvSpPr/>
            <p:nvPr/>
          </p:nvSpPr>
          <p:spPr>
            <a:xfrm>
              <a:off x="1782" y="1503"/>
              <a:ext cx="61"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09" name="Oval 19"/>
            <p:cNvSpPr/>
            <p:nvPr/>
          </p:nvSpPr>
          <p:spPr>
            <a:xfrm>
              <a:off x="2168" y="1515"/>
              <a:ext cx="61"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10" name="Oval 20"/>
            <p:cNvSpPr/>
            <p:nvPr/>
          </p:nvSpPr>
          <p:spPr>
            <a:xfrm>
              <a:off x="926" y="3009"/>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11" name="Oval 21"/>
            <p:cNvSpPr/>
            <p:nvPr/>
          </p:nvSpPr>
          <p:spPr>
            <a:xfrm>
              <a:off x="926" y="328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12" name="Line 22"/>
            <p:cNvSpPr/>
            <p:nvPr/>
          </p:nvSpPr>
          <p:spPr>
            <a:xfrm>
              <a:off x="950" y="3069"/>
              <a:ext cx="1" cy="215"/>
            </a:xfrm>
            <a:prstGeom prst="line">
              <a:avLst/>
            </a:prstGeom>
            <a:ln w="0" cap="flat" cmpd="sng">
              <a:solidFill>
                <a:srgbClr val="0000FF"/>
              </a:solidFill>
              <a:prstDash val="solid"/>
              <a:headEnd type="none" w="med" len="med"/>
              <a:tailEnd type="none" w="med" len="med"/>
            </a:ln>
          </p:spPr>
        </p:sp>
        <p:sp>
          <p:nvSpPr>
            <p:cNvPr id="33813" name="Oval 23"/>
            <p:cNvSpPr/>
            <p:nvPr/>
          </p:nvSpPr>
          <p:spPr>
            <a:xfrm>
              <a:off x="2072" y="3009"/>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14" name="Oval 24"/>
            <p:cNvSpPr/>
            <p:nvPr/>
          </p:nvSpPr>
          <p:spPr>
            <a:xfrm>
              <a:off x="2072" y="3272"/>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15" name="Line 25"/>
            <p:cNvSpPr/>
            <p:nvPr/>
          </p:nvSpPr>
          <p:spPr>
            <a:xfrm>
              <a:off x="2096" y="3069"/>
              <a:ext cx="1" cy="203"/>
            </a:xfrm>
            <a:prstGeom prst="line">
              <a:avLst/>
            </a:prstGeom>
            <a:ln w="0" cap="flat" cmpd="sng">
              <a:solidFill>
                <a:srgbClr val="0000FF"/>
              </a:solidFill>
              <a:prstDash val="solid"/>
              <a:headEnd type="none" w="med" len="med"/>
              <a:tailEnd type="none" w="med" len="med"/>
            </a:ln>
          </p:spPr>
        </p:sp>
        <p:sp>
          <p:nvSpPr>
            <p:cNvPr id="33816" name="Rectangle 26"/>
            <p:cNvSpPr/>
            <p:nvPr/>
          </p:nvSpPr>
          <p:spPr>
            <a:xfrm>
              <a:off x="2036"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17" name="Rectangle 27"/>
            <p:cNvSpPr/>
            <p:nvPr/>
          </p:nvSpPr>
          <p:spPr>
            <a:xfrm>
              <a:off x="2108"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3818" name="Line 28"/>
            <p:cNvSpPr/>
            <p:nvPr/>
          </p:nvSpPr>
          <p:spPr>
            <a:xfrm>
              <a:off x="468" y="1898"/>
              <a:ext cx="187" cy="1"/>
            </a:xfrm>
            <a:prstGeom prst="line">
              <a:avLst/>
            </a:prstGeom>
            <a:ln w="0" cap="flat" cmpd="sng">
              <a:solidFill>
                <a:srgbClr val="0000FF"/>
              </a:solidFill>
              <a:prstDash val="solid"/>
              <a:headEnd type="none" w="med" len="med"/>
              <a:tailEnd type="none" w="med" len="med"/>
            </a:ln>
          </p:spPr>
        </p:sp>
        <p:sp>
          <p:nvSpPr>
            <p:cNvPr id="33819" name="Line 29"/>
            <p:cNvSpPr/>
            <p:nvPr/>
          </p:nvSpPr>
          <p:spPr>
            <a:xfrm>
              <a:off x="468" y="2400"/>
              <a:ext cx="187" cy="1"/>
            </a:xfrm>
            <a:prstGeom prst="line">
              <a:avLst/>
            </a:prstGeom>
            <a:ln w="0" cap="flat" cmpd="sng">
              <a:solidFill>
                <a:srgbClr val="0000FF"/>
              </a:solidFill>
              <a:prstDash val="solid"/>
              <a:headEnd type="none" w="med" len="med"/>
              <a:tailEnd type="none" w="med" len="med"/>
            </a:ln>
          </p:spPr>
        </p:sp>
        <p:sp>
          <p:nvSpPr>
            <p:cNvPr id="33820" name="Line 30"/>
            <p:cNvSpPr/>
            <p:nvPr/>
          </p:nvSpPr>
          <p:spPr>
            <a:xfrm>
              <a:off x="468" y="2830"/>
              <a:ext cx="187" cy="1"/>
            </a:xfrm>
            <a:prstGeom prst="line">
              <a:avLst/>
            </a:prstGeom>
            <a:ln w="0" cap="flat" cmpd="sng">
              <a:solidFill>
                <a:srgbClr val="0000FF"/>
              </a:solidFill>
              <a:prstDash val="solid"/>
              <a:headEnd type="none" w="med" len="med"/>
              <a:tailEnd type="none" w="med" len="med"/>
            </a:ln>
          </p:spPr>
        </p:sp>
        <p:sp>
          <p:nvSpPr>
            <p:cNvPr id="33821" name="Oval 31"/>
            <p:cNvSpPr/>
            <p:nvPr/>
          </p:nvSpPr>
          <p:spPr>
            <a:xfrm>
              <a:off x="408" y="187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22" name="Oval 32"/>
            <p:cNvSpPr/>
            <p:nvPr/>
          </p:nvSpPr>
          <p:spPr>
            <a:xfrm>
              <a:off x="408" y="2376"/>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23" name="Oval 33"/>
            <p:cNvSpPr/>
            <p:nvPr/>
          </p:nvSpPr>
          <p:spPr>
            <a:xfrm>
              <a:off x="408" y="2806"/>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24" name="Rectangle 34"/>
            <p:cNvSpPr/>
            <p:nvPr/>
          </p:nvSpPr>
          <p:spPr>
            <a:xfrm>
              <a:off x="166" y="1718"/>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3825" name="Rectangle 35"/>
            <p:cNvSpPr/>
            <p:nvPr/>
          </p:nvSpPr>
          <p:spPr>
            <a:xfrm>
              <a:off x="251" y="1766"/>
              <a:ext cx="13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sp>
          <p:nvSpPr>
            <p:cNvPr id="33826" name="Rectangle 36"/>
            <p:cNvSpPr/>
            <p:nvPr/>
          </p:nvSpPr>
          <p:spPr>
            <a:xfrm>
              <a:off x="142" y="2878"/>
              <a:ext cx="261"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3827" name="Rectangle 37"/>
            <p:cNvSpPr/>
            <p:nvPr/>
          </p:nvSpPr>
          <p:spPr>
            <a:xfrm>
              <a:off x="118" y="1934"/>
              <a:ext cx="28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3828" name="Rectangle 38"/>
            <p:cNvSpPr/>
            <p:nvPr/>
          </p:nvSpPr>
          <p:spPr>
            <a:xfrm>
              <a:off x="227" y="2340"/>
              <a:ext cx="128"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地</a:t>
              </a:r>
              <a:endParaRPr lang="zh-CN" altLang="en-US" dirty="0">
                <a:latin typeface="Times New Roman" panose="02020603050405020304" pitchFamily="18" charset="0"/>
              </a:endParaRPr>
            </a:p>
          </p:txBody>
        </p:sp>
        <p:sp>
          <p:nvSpPr>
            <p:cNvPr id="33829" name="Line 39"/>
            <p:cNvSpPr/>
            <p:nvPr/>
          </p:nvSpPr>
          <p:spPr>
            <a:xfrm>
              <a:off x="938" y="2627"/>
              <a:ext cx="1" cy="191"/>
            </a:xfrm>
            <a:prstGeom prst="line">
              <a:avLst/>
            </a:prstGeom>
            <a:ln w="0" cap="flat" cmpd="sng">
              <a:solidFill>
                <a:srgbClr val="0000FF"/>
              </a:solidFill>
              <a:prstDash val="solid"/>
              <a:headEnd type="none" w="med" len="med"/>
              <a:tailEnd type="none" w="med" len="med"/>
            </a:ln>
          </p:spPr>
        </p:sp>
        <p:sp>
          <p:nvSpPr>
            <p:cNvPr id="33830" name="Oval 40"/>
            <p:cNvSpPr/>
            <p:nvPr/>
          </p:nvSpPr>
          <p:spPr>
            <a:xfrm>
              <a:off x="914" y="2818"/>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31" name="Line 41"/>
            <p:cNvSpPr/>
            <p:nvPr/>
          </p:nvSpPr>
          <p:spPr>
            <a:xfrm>
              <a:off x="962" y="2866"/>
              <a:ext cx="97" cy="96"/>
            </a:xfrm>
            <a:prstGeom prst="line">
              <a:avLst/>
            </a:prstGeom>
            <a:ln w="0" cap="flat" cmpd="sng">
              <a:solidFill>
                <a:srgbClr val="0000FF"/>
              </a:solidFill>
              <a:prstDash val="solid"/>
              <a:headEnd type="none" w="med" len="med"/>
              <a:tailEnd type="none" w="med" len="med"/>
            </a:ln>
          </p:spPr>
        </p:sp>
        <p:sp>
          <p:nvSpPr>
            <p:cNvPr id="33832" name="Line 42"/>
            <p:cNvSpPr/>
            <p:nvPr/>
          </p:nvSpPr>
          <p:spPr>
            <a:xfrm>
              <a:off x="1131" y="2627"/>
              <a:ext cx="1" cy="191"/>
            </a:xfrm>
            <a:prstGeom prst="line">
              <a:avLst/>
            </a:prstGeom>
            <a:ln w="0" cap="flat" cmpd="sng">
              <a:solidFill>
                <a:srgbClr val="0000FF"/>
              </a:solidFill>
              <a:prstDash val="solid"/>
              <a:headEnd type="none" w="med" len="med"/>
              <a:tailEnd type="none" w="med" len="med"/>
            </a:ln>
          </p:spPr>
        </p:sp>
        <p:sp>
          <p:nvSpPr>
            <p:cNvPr id="33833" name="Oval 43"/>
            <p:cNvSpPr/>
            <p:nvPr/>
          </p:nvSpPr>
          <p:spPr>
            <a:xfrm>
              <a:off x="1107" y="281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34" name="Line 44"/>
            <p:cNvSpPr/>
            <p:nvPr/>
          </p:nvSpPr>
          <p:spPr>
            <a:xfrm>
              <a:off x="1159" y="2868"/>
              <a:ext cx="97" cy="96"/>
            </a:xfrm>
            <a:prstGeom prst="line">
              <a:avLst/>
            </a:prstGeom>
            <a:ln w="0" cap="flat" cmpd="sng">
              <a:solidFill>
                <a:srgbClr val="0000FF"/>
              </a:solidFill>
              <a:prstDash val="solid"/>
              <a:headEnd type="none" w="med" len="med"/>
              <a:tailEnd type="none" w="med" len="med"/>
            </a:ln>
          </p:spPr>
        </p:sp>
        <p:sp>
          <p:nvSpPr>
            <p:cNvPr id="33835" name="Line 45"/>
            <p:cNvSpPr/>
            <p:nvPr/>
          </p:nvSpPr>
          <p:spPr>
            <a:xfrm>
              <a:off x="1710" y="2627"/>
              <a:ext cx="1" cy="191"/>
            </a:xfrm>
            <a:prstGeom prst="line">
              <a:avLst/>
            </a:prstGeom>
            <a:ln w="0" cap="flat" cmpd="sng">
              <a:solidFill>
                <a:srgbClr val="0000FF"/>
              </a:solidFill>
              <a:prstDash val="solid"/>
              <a:headEnd type="none" w="med" len="med"/>
              <a:tailEnd type="none" w="med" len="med"/>
            </a:ln>
          </p:spPr>
        </p:sp>
        <p:sp>
          <p:nvSpPr>
            <p:cNvPr id="33836" name="Oval 46"/>
            <p:cNvSpPr/>
            <p:nvPr/>
          </p:nvSpPr>
          <p:spPr>
            <a:xfrm>
              <a:off x="1686" y="281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37" name="Line 47"/>
            <p:cNvSpPr/>
            <p:nvPr/>
          </p:nvSpPr>
          <p:spPr>
            <a:xfrm>
              <a:off x="1736" y="2864"/>
              <a:ext cx="97" cy="96"/>
            </a:xfrm>
            <a:prstGeom prst="line">
              <a:avLst/>
            </a:prstGeom>
            <a:ln w="0" cap="flat" cmpd="sng">
              <a:solidFill>
                <a:srgbClr val="0000FF"/>
              </a:solidFill>
              <a:prstDash val="solid"/>
              <a:headEnd type="none" w="med" len="med"/>
              <a:tailEnd type="none" w="med" len="med"/>
            </a:ln>
          </p:spPr>
        </p:sp>
        <p:sp>
          <p:nvSpPr>
            <p:cNvPr id="33838" name="Line 48"/>
            <p:cNvSpPr/>
            <p:nvPr/>
          </p:nvSpPr>
          <p:spPr>
            <a:xfrm>
              <a:off x="1903" y="2627"/>
              <a:ext cx="1" cy="191"/>
            </a:xfrm>
            <a:prstGeom prst="line">
              <a:avLst/>
            </a:prstGeom>
            <a:ln w="0" cap="flat" cmpd="sng">
              <a:solidFill>
                <a:srgbClr val="0000FF"/>
              </a:solidFill>
              <a:prstDash val="solid"/>
              <a:headEnd type="none" w="med" len="med"/>
              <a:tailEnd type="none" w="med" len="med"/>
            </a:ln>
          </p:spPr>
        </p:sp>
        <p:sp>
          <p:nvSpPr>
            <p:cNvPr id="33839" name="Oval 49"/>
            <p:cNvSpPr/>
            <p:nvPr/>
          </p:nvSpPr>
          <p:spPr>
            <a:xfrm>
              <a:off x="1879" y="2818"/>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40" name="Line 50"/>
            <p:cNvSpPr/>
            <p:nvPr/>
          </p:nvSpPr>
          <p:spPr>
            <a:xfrm>
              <a:off x="1927" y="2866"/>
              <a:ext cx="97" cy="96"/>
            </a:xfrm>
            <a:prstGeom prst="line">
              <a:avLst/>
            </a:prstGeom>
            <a:ln w="0" cap="flat" cmpd="sng">
              <a:solidFill>
                <a:srgbClr val="0000FF"/>
              </a:solidFill>
              <a:prstDash val="solid"/>
              <a:headEnd type="none" w="med" len="med"/>
              <a:tailEnd type="none" w="med" len="med"/>
            </a:ln>
          </p:spPr>
        </p:sp>
        <p:sp>
          <p:nvSpPr>
            <p:cNvPr id="33841" name="Line 51"/>
            <p:cNvSpPr/>
            <p:nvPr/>
          </p:nvSpPr>
          <p:spPr>
            <a:xfrm>
              <a:off x="745" y="2627"/>
              <a:ext cx="1548" cy="1"/>
            </a:xfrm>
            <a:prstGeom prst="line">
              <a:avLst/>
            </a:prstGeom>
            <a:ln w="0" cap="flat" cmpd="sng">
              <a:solidFill>
                <a:srgbClr val="0000FF"/>
              </a:solidFill>
              <a:prstDash val="solid"/>
              <a:headEnd type="none" w="med" len="med"/>
              <a:tailEnd type="none" w="med" len="med"/>
            </a:ln>
          </p:spPr>
        </p:sp>
        <p:sp>
          <p:nvSpPr>
            <p:cNvPr id="33842" name="Line 52"/>
            <p:cNvSpPr/>
            <p:nvPr/>
          </p:nvSpPr>
          <p:spPr>
            <a:xfrm>
              <a:off x="745" y="2633"/>
              <a:ext cx="1" cy="645"/>
            </a:xfrm>
            <a:prstGeom prst="line">
              <a:avLst/>
            </a:prstGeom>
            <a:ln w="0" cap="flat" cmpd="sng">
              <a:solidFill>
                <a:srgbClr val="0000FF"/>
              </a:solidFill>
              <a:prstDash val="solid"/>
              <a:headEnd type="none" w="med" len="med"/>
              <a:tailEnd type="none" w="med" len="med"/>
            </a:ln>
          </p:spPr>
        </p:sp>
        <p:sp>
          <p:nvSpPr>
            <p:cNvPr id="33843" name="Oval 53"/>
            <p:cNvSpPr/>
            <p:nvPr/>
          </p:nvSpPr>
          <p:spPr>
            <a:xfrm>
              <a:off x="721" y="328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3844" name="Group 57"/>
            <p:cNvGrpSpPr/>
            <p:nvPr/>
          </p:nvGrpSpPr>
          <p:grpSpPr>
            <a:xfrm>
              <a:off x="1493" y="3009"/>
              <a:ext cx="60" cy="323"/>
              <a:chOff x="1493" y="2061"/>
              <a:chExt cx="60" cy="323"/>
            </a:xfrm>
          </p:grpSpPr>
          <p:sp>
            <p:nvSpPr>
              <p:cNvPr id="34014" name="Oval 54"/>
              <p:cNvSpPr/>
              <p:nvPr/>
            </p:nvSpPr>
            <p:spPr>
              <a:xfrm>
                <a:off x="1493" y="2061"/>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15" name="Oval 55"/>
              <p:cNvSpPr/>
              <p:nvPr/>
            </p:nvSpPr>
            <p:spPr>
              <a:xfrm>
                <a:off x="1493" y="232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16" name="Line 56"/>
              <p:cNvSpPr/>
              <p:nvPr/>
            </p:nvSpPr>
            <p:spPr>
              <a:xfrm>
                <a:off x="1517" y="2121"/>
                <a:ext cx="1" cy="203"/>
              </a:xfrm>
              <a:prstGeom prst="line">
                <a:avLst/>
              </a:prstGeom>
              <a:ln w="0" cap="flat" cmpd="sng">
                <a:solidFill>
                  <a:srgbClr val="0000FF"/>
                </a:solidFill>
                <a:prstDash val="solid"/>
                <a:headEnd type="none" w="med" len="med"/>
                <a:tailEnd type="none" w="med" len="med"/>
              </a:ln>
            </p:spPr>
          </p:sp>
        </p:grpSp>
        <p:sp>
          <p:nvSpPr>
            <p:cNvPr id="33845" name="Rectangle 58"/>
            <p:cNvSpPr/>
            <p:nvPr/>
          </p:nvSpPr>
          <p:spPr>
            <a:xfrm>
              <a:off x="1463" y="336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46" name="Rectangle 59"/>
            <p:cNvSpPr/>
            <p:nvPr/>
          </p:nvSpPr>
          <p:spPr>
            <a:xfrm>
              <a:off x="1529"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3847" name="Oval 60"/>
            <p:cNvSpPr/>
            <p:nvPr/>
          </p:nvSpPr>
          <p:spPr>
            <a:xfrm>
              <a:off x="1686" y="3009"/>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48" name="Oval 61"/>
            <p:cNvSpPr/>
            <p:nvPr/>
          </p:nvSpPr>
          <p:spPr>
            <a:xfrm>
              <a:off x="1686" y="3272"/>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49" name="Line 62"/>
            <p:cNvSpPr/>
            <p:nvPr/>
          </p:nvSpPr>
          <p:spPr>
            <a:xfrm>
              <a:off x="1710" y="3069"/>
              <a:ext cx="1" cy="203"/>
            </a:xfrm>
            <a:prstGeom prst="line">
              <a:avLst/>
            </a:prstGeom>
            <a:ln w="0" cap="flat" cmpd="sng">
              <a:solidFill>
                <a:srgbClr val="0000FF"/>
              </a:solidFill>
              <a:prstDash val="solid"/>
              <a:headEnd type="none" w="med" len="med"/>
              <a:tailEnd type="none" w="med" len="med"/>
            </a:ln>
          </p:spPr>
        </p:sp>
        <p:sp>
          <p:nvSpPr>
            <p:cNvPr id="33850" name="Rectangle 63"/>
            <p:cNvSpPr/>
            <p:nvPr/>
          </p:nvSpPr>
          <p:spPr>
            <a:xfrm>
              <a:off x="1264"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51" name="Rectangle 64"/>
            <p:cNvSpPr/>
            <p:nvPr/>
          </p:nvSpPr>
          <p:spPr>
            <a:xfrm>
              <a:off x="1336"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3852" name="Line 65"/>
            <p:cNvSpPr/>
            <p:nvPr/>
          </p:nvSpPr>
          <p:spPr>
            <a:xfrm>
              <a:off x="1011" y="2513"/>
              <a:ext cx="1" cy="389"/>
            </a:xfrm>
            <a:prstGeom prst="line">
              <a:avLst/>
            </a:prstGeom>
            <a:ln w="0" cap="flat" cmpd="sng">
              <a:solidFill>
                <a:srgbClr val="0000FF"/>
              </a:solidFill>
              <a:prstDash val="sysDot"/>
              <a:headEnd type="none" w="med" len="med"/>
              <a:tailEnd type="none" w="med" len="med"/>
            </a:ln>
          </p:spPr>
        </p:sp>
        <p:sp>
          <p:nvSpPr>
            <p:cNvPr id="33853" name="Line 66"/>
            <p:cNvSpPr/>
            <p:nvPr/>
          </p:nvSpPr>
          <p:spPr>
            <a:xfrm>
              <a:off x="1324" y="2627"/>
              <a:ext cx="1" cy="191"/>
            </a:xfrm>
            <a:prstGeom prst="line">
              <a:avLst/>
            </a:prstGeom>
            <a:ln w="0" cap="flat" cmpd="sng">
              <a:solidFill>
                <a:srgbClr val="0000FF"/>
              </a:solidFill>
              <a:prstDash val="solid"/>
              <a:headEnd type="none" w="med" len="med"/>
              <a:tailEnd type="none" w="med" len="med"/>
            </a:ln>
          </p:spPr>
        </p:sp>
        <p:sp>
          <p:nvSpPr>
            <p:cNvPr id="33854" name="Oval 67"/>
            <p:cNvSpPr/>
            <p:nvPr/>
          </p:nvSpPr>
          <p:spPr>
            <a:xfrm>
              <a:off x="1300" y="2818"/>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55" name="Line 68"/>
            <p:cNvSpPr/>
            <p:nvPr/>
          </p:nvSpPr>
          <p:spPr>
            <a:xfrm>
              <a:off x="1350" y="2866"/>
              <a:ext cx="97" cy="96"/>
            </a:xfrm>
            <a:prstGeom prst="line">
              <a:avLst/>
            </a:prstGeom>
            <a:ln w="0" cap="flat" cmpd="sng">
              <a:solidFill>
                <a:srgbClr val="0000FF"/>
              </a:solidFill>
              <a:prstDash val="solid"/>
              <a:headEnd type="none" w="med" len="med"/>
              <a:tailEnd type="none" w="med" len="med"/>
            </a:ln>
          </p:spPr>
        </p:sp>
        <p:sp>
          <p:nvSpPr>
            <p:cNvPr id="33856" name="Line 69"/>
            <p:cNvSpPr/>
            <p:nvPr/>
          </p:nvSpPr>
          <p:spPr>
            <a:xfrm>
              <a:off x="1519" y="2627"/>
              <a:ext cx="1" cy="191"/>
            </a:xfrm>
            <a:prstGeom prst="line">
              <a:avLst/>
            </a:prstGeom>
            <a:ln w="0" cap="flat" cmpd="sng">
              <a:solidFill>
                <a:srgbClr val="0000FF"/>
              </a:solidFill>
              <a:prstDash val="solid"/>
              <a:headEnd type="none" w="med" len="med"/>
              <a:tailEnd type="none" w="med" len="med"/>
            </a:ln>
          </p:spPr>
        </p:sp>
        <p:sp>
          <p:nvSpPr>
            <p:cNvPr id="33857" name="Oval 70"/>
            <p:cNvSpPr/>
            <p:nvPr/>
          </p:nvSpPr>
          <p:spPr>
            <a:xfrm>
              <a:off x="1495" y="2816"/>
              <a:ext cx="64"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58" name="Line 71"/>
            <p:cNvSpPr/>
            <p:nvPr/>
          </p:nvSpPr>
          <p:spPr>
            <a:xfrm>
              <a:off x="1549" y="2866"/>
              <a:ext cx="109" cy="107"/>
            </a:xfrm>
            <a:prstGeom prst="line">
              <a:avLst/>
            </a:prstGeom>
            <a:ln w="0" cap="flat" cmpd="sng">
              <a:solidFill>
                <a:srgbClr val="0000FF"/>
              </a:solidFill>
              <a:prstDash val="solid"/>
              <a:headEnd type="none" w="med" len="med"/>
              <a:tailEnd type="none" w="med" len="med"/>
            </a:ln>
          </p:spPr>
        </p:sp>
        <p:sp>
          <p:nvSpPr>
            <p:cNvPr id="33859" name="Line 72"/>
            <p:cNvSpPr/>
            <p:nvPr/>
          </p:nvSpPr>
          <p:spPr>
            <a:xfrm>
              <a:off x="2096" y="2627"/>
              <a:ext cx="1" cy="191"/>
            </a:xfrm>
            <a:prstGeom prst="line">
              <a:avLst/>
            </a:prstGeom>
            <a:ln w="0" cap="flat" cmpd="sng">
              <a:solidFill>
                <a:srgbClr val="0000FF"/>
              </a:solidFill>
              <a:prstDash val="solid"/>
              <a:headEnd type="none" w="med" len="med"/>
              <a:tailEnd type="none" w="med" len="med"/>
            </a:ln>
          </p:spPr>
        </p:sp>
        <p:sp>
          <p:nvSpPr>
            <p:cNvPr id="33860" name="Oval 73"/>
            <p:cNvSpPr/>
            <p:nvPr/>
          </p:nvSpPr>
          <p:spPr>
            <a:xfrm>
              <a:off x="2072" y="2816"/>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61" name="Line 74"/>
            <p:cNvSpPr/>
            <p:nvPr/>
          </p:nvSpPr>
          <p:spPr>
            <a:xfrm>
              <a:off x="2120" y="2866"/>
              <a:ext cx="97" cy="96"/>
            </a:xfrm>
            <a:prstGeom prst="line">
              <a:avLst/>
            </a:prstGeom>
            <a:ln w="0" cap="flat" cmpd="sng">
              <a:solidFill>
                <a:srgbClr val="0000FF"/>
              </a:solidFill>
              <a:prstDash val="solid"/>
              <a:headEnd type="none" w="med" len="med"/>
              <a:tailEnd type="none" w="med" len="med"/>
            </a:ln>
          </p:spPr>
        </p:sp>
        <p:sp>
          <p:nvSpPr>
            <p:cNvPr id="33862" name="Line 75"/>
            <p:cNvSpPr/>
            <p:nvPr/>
          </p:nvSpPr>
          <p:spPr>
            <a:xfrm>
              <a:off x="2289" y="2627"/>
              <a:ext cx="1" cy="191"/>
            </a:xfrm>
            <a:prstGeom prst="line">
              <a:avLst/>
            </a:prstGeom>
            <a:ln w="0" cap="flat" cmpd="sng">
              <a:solidFill>
                <a:srgbClr val="0000FF"/>
              </a:solidFill>
              <a:prstDash val="solid"/>
              <a:headEnd type="none" w="med" len="med"/>
              <a:tailEnd type="none" w="med" len="med"/>
            </a:ln>
          </p:spPr>
        </p:sp>
        <p:sp>
          <p:nvSpPr>
            <p:cNvPr id="33863" name="Oval 76"/>
            <p:cNvSpPr/>
            <p:nvPr/>
          </p:nvSpPr>
          <p:spPr>
            <a:xfrm>
              <a:off x="2265" y="2818"/>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64" name="Line 77"/>
            <p:cNvSpPr/>
            <p:nvPr/>
          </p:nvSpPr>
          <p:spPr>
            <a:xfrm>
              <a:off x="2315" y="2866"/>
              <a:ext cx="97" cy="96"/>
            </a:xfrm>
            <a:prstGeom prst="line">
              <a:avLst/>
            </a:prstGeom>
            <a:ln w="0" cap="flat" cmpd="sng">
              <a:solidFill>
                <a:srgbClr val="0000FF"/>
              </a:solidFill>
              <a:prstDash val="solid"/>
              <a:headEnd type="none" w="med" len="med"/>
              <a:tailEnd type="none" w="med" len="med"/>
            </a:ln>
          </p:spPr>
        </p:sp>
        <p:grpSp>
          <p:nvGrpSpPr>
            <p:cNvPr id="33865" name="Group 81"/>
            <p:cNvGrpSpPr/>
            <p:nvPr/>
          </p:nvGrpSpPr>
          <p:grpSpPr>
            <a:xfrm>
              <a:off x="1107" y="3009"/>
              <a:ext cx="60" cy="323"/>
              <a:chOff x="1107" y="2061"/>
              <a:chExt cx="60" cy="323"/>
            </a:xfrm>
          </p:grpSpPr>
          <p:sp>
            <p:nvSpPr>
              <p:cNvPr id="34011" name="Oval 78"/>
              <p:cNvSpPr/>
              <p:nvPr/>
            </p:nvSpPr>
            <p:spPr>
              <a:xfrm>
                <a:off x="1107" y="2061"/>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12" name="Oval 79"/>
              <p:cNvSpPr/>
              <p:nvPr/>
            </p:nvSpPr>
            <p:spPr>
              <a:xfrm>
                <a:off x="1107" y="232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13" name="Line 80"/>
              <p:cNvSpPr/>
              <p:nvPr/>
            </p:nvSpPr>
            <p:spPr>
              <a:xfrm>
                <a:off x="1131" y="2121"/>
                <a:ext cx="1" cy="203"/>
              </a:xfrm>
              <a:prstGeom prst="line">
                <a:avLst/>
              </a:prstGeom>
              <a:ln w="0" cap="flat" cmpd="sng">
                <a:solidFill>
                  <a:srgbClr val="0000FF"/>
                </a:solidFill>
                <a:prstDash val="solid"/>
                <a:headEnd type="none" w="med" len="med"/>
                <a:tailEnd type="none" w="med" len="med"/>
              </a:ln>
            </p:spPr>
          </p:sp>
        </p:grpSp>
        <p:grpSp>
          <p:nvGrpSpPr>
            <p:cNvPr id="33866" name="Group 85"/>
            <p:cNvGrpSpPr/>
            <p:nvPr/>
          </p:nvGrpSpPr>
          <p:grpSpPr>
            <a:xfrm>
              <a:off x="1300" y="3009"/>
              <a:ext cx="60" cy="333"/>
              <a:chOff x="1300" y="2061"/>
              <a:chExt cx="60" cy="333"/>
            </a:xfrm>
          </p:grpSpPr>
          <p:sp>
            <p:nvSpPr>
              <p:cNvPr id="34008" name="Oval 82"/>
              <p:cNvSpPr/>
              <p:nvPr/>
            </p:nvSpPr>
            <p:spPr>
              <a:xfrm>
                <a:off x="1300" y="2061"/>
                <a:ext cx="60"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09" name="Oval 83"/>
              <p:cNvSpPr/>
              <p:nvPr/>
            </p:nvSpPr>
            <p:spPr>
              <a:xfrm>
                <a:off x="1300" y="2332"/>
                <a:ext cx="60" cy="6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10" name="Line 84"/>
              <p:cNvSpPr/>
              <p:nvPr/>
            </p:nvSpPr>
            <p:spPr>
              <a:xfrm>
                <a:off x="1324" y="2123"/>
                <a:ext cx="1" cy="209"/>
              </a:xfrm>
              <a:prstGeom prst="line">
                <a:avLst/>
              </a:prstGeom>
              <a:ln w="0" cap="flat" cmpd="sng">
                <a:solidFill>
                  <a:srgbClr val="0000FF"/>
                </a:solidFill>
                <a:prstDash val="solid"/>
                <a:headEnd type="none" w="med" len="med"/>
                <a:tailEnd type="none" w="med" len="med"/>
              </a:ln>
            </p:spPr>
          </p:sp>
        </p:grpSp>
        <p:grpSp>
          <p:nvGrpSpPr>
            <p:cNvPr id="33867" name="Group 89"/>
            <p:cNvGrpSpPr/>
            <p:nvPr/>
          </p:nvGrpSpPr>
          <p:grpSpPr>
            <a:xfrm>
              <a:off x="1879" y="3021"/>
              <a:ext cx="60" cy="323"/>
              <a:chOff x="1879" y="2073"/>
              <a:chExt cx="60" cy="323"/>
            </a:xfrm>
          </p:grpSpPr>
          <p:sp>
            <p:nvSpPr>
              <p:cNvPr id="34005" name="Oval 86"/>
              <p:cNvSpPr/>
              <p:nvPr/>
            </p:nvSpPr>
            <p:spPr>
              <a:xfrm>
                <a:off x="1879" y="2073"/>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06" name="Oval 87"/>
              <p:cNvSpPr/>
              <p:nvPr/>
            </p:nvSpPr>
            <p:spPr>
              <a:xfrm>
                <a:off x="1879" y="2336"/>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07" name="Line 88"/>
              <p:cNvSpPr/>
              <p:nvPr/>
            </p:nvSpPr>
            <p:spPr>
              <a:xfrm>
                <a:off x="1903" y="2133"/>
                <a:ext cx="1" cy="203"/>
              </a:xfrm>
              <a:prstGeom prst="line">
                <a:avLst/>
              </a:prstGeom>
              <a:ln w="0" cap="flat" cmpd="sng">
                <a:solidFill>
                  <a:srgbClr val="0000FF"/>
                </a:solidFill>
                <a:prstDash val="solid"/>
                <a:headEnd type="none" w="med" len="med"/>
                <a:tailEnd type="none" w="med" len="med"/>
              </a:ln>
            </p:spPr>
          </p:sp>
        </p:grpSp>
        <p:grpSp>
          <p:nvGrpSpPr>
            <p:cNvPr id="33868" name="Group 93"/>
            <p:cNvGrpSpPr/>
            <p:nvPr/>
          </p:nvGrpSpPr>
          <p:grpSpPr>
            <a:xfrm>
              <a:off x="2265" y="3009"/>
              <a:ext cx="60" cy="323"/>
              <a:chOff x="2265" y="2061"/>
              <a:chExt cx="60" cy="323"/>
            </a:xfrm>
          </p:grpSpPr>
          <p:sp>
            <p:nvSpPr>
              <p:cNvPr id="34002" name="Oval 90"/>
              <p:cNvSpPr/>
              <p:nvPr/>
            </p:nvSpPr>
            <p:spPr>
              <a:xfrm>
                <a:off x="2265" y="2061"/>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03" name="Oval 91"/>
              <p:cNvSpPr/>
              <p:nvPr/>
            </p:nvSpPr>
            <p:spPr>
              <a:xfrm>
                <a:off x="2265" y="2324"/>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4004" name="Line 92"/>
              <p:cNvSpPr/>
              <p:nvPr/>
            </p:nvSpPr>
            <p:spPr>
              <a:xfrm>
                <a:off x="2289" y="2121"/>
                <a:ext cx="1" cy="203"/>
              </a:xfrm>
              <a:prstGeom prst="line">
                <a:avLst/>
              </a:prstGeom>
              <a:ln w="0" cap="flat" cmpd="sng">
                <a:solidFill>
                  <a:srgbClr val="0000FF"/>
                </a:solidFill>
                <a:prstDash val="solid"/>
                <a:headEnd type="none" w="med" len="med"/>
                <a:tailEnd type="none" w="med" len="med"/>
              </a:ln>
            </p:spPr>
          </p:sp>
        </p:grpSp>
        <p:grpSp>
          <p:nvGrpSpPr>
            <p:cNvPr id="33869" name="Group 96"/>
            <p:cNvGrpSpPr/>
            <p:nvPr/>
          </p:nvGrpSpPr>
          <p:grpSpPr>
            <a:xfrm>
              <a:off x="2229" y="3356"/>
              <a:ext cx="120" cy="140"/>
              <a:chOff x="2229" y="2408"/>
              <a:chExt cx="120" cy="140"/>
            </a:xfrm>
          </p:grpSpPr>
          <p:sp>
            <p:nvSpPr>
              <p:cNvPr id="34000" name="Rectangle 94"/>
              <p:cNvSpPr/>
              <p:nvPr/>
            </p:nvSpPr>
            <p:spPr>
              <a:xfrm>
                <a:off x="2229" y="2408"/>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4001" name="Rectangle 95"/>
              <p:cNvSpPr/>
              <p:nvPr/>
            </p:nvSpPr>
            <p:spPr>
              <a:xfrm>
                <a:off x="2301" y="244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grpSp>
        <p:sp>
          <p:nvSpPr>
            <p:cNvPr id="33870" name="Rectangle 97"/>
            <p:cNvSpPr/>
            <p:nvPr/>
          </p:nvSpPr>
          <p:spPr>
            <a:xfrm>
              <a:off x="1831"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71" name="Rectangle 98"/>
            <p:cNvSpPr/>
            <p:nvPr/>
          </p:nvSpPr>
          <p:spPr>
            <a:xfrm>
              <a:off x="1891"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3872" name="Rectangle 99"/>
            <p:cNvSpPr/>
            <p:nvPr/>
          </p:nvSpPr>
          <p:spPr>
            <a:xfrm>
              <a:off x="1065"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73" name="Rectangle 100"/>
            <p:cNvSpPr/>
            <p:nvPr/>
          </p:nvSpPr>
          <p:spPr>
            <a:xfrm>
              <a:off x="1131"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3874" name="Rectangle 101"/>
            <p:cNvSpPr/>
            <p:nvPr/>
          </p:nvSpPr>
          <p:spPr>
            <a:xfrm>
              <a:off x="890"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75" name="Rectangle 102"/>
            <p:cNvSpPr/>
            <p:nvPr/>
          </p:nvSpPr>
          <p:spPr>
            <a:xfrm>
              <a:off x="950" y="33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3876" name="Rectangle 103"/>
            <p:cNvSpPr/>
            <p:nvPr/>
          </p:nvSpPr>
          <p:spPr>
            <a:xfrm>
              <a:off x="1650" y="33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877" name="Rectangle 104"/>
            <p:cNvSpPr/>
            <p:nvPr/>
          </p:nvSpPr>
          <p:spPr>
            <a:xfrm>
              <a:off x="1708" y="338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3878" name="Line 105"/>
            <p:cNvSpPr/>
            <p:nvPr/>
          </p:nvSpPr>
          <p:spPr>
            <a:xfrm>
              <a:off x="1204" y="2519"/>
              <a:ext cx="1" cy="395"/>
            </a:xfrm>
            <a:prstGeom prst="line">
              <a:avLst/>
            </a:prstGeom>
            <a:ln w="0" cap="flat" cmpd="sng">
              <a:solidFill>
                <a:srgbClr val="0000FF"/>
              </a:solidFill>
              <a:prstDash val="sysDot"/>
              <a:headEnd type="none" w="med" len="med"/>
              <a:tailEnd type="none" w="med" len="med"/>
            </a:ln>
          </p:spPr>
        </p:sp>
        <p:sp>
          <p:nvSpPr>
            <p:cNvPr id="33879" name="Line 106"/>
            <p:cNvSpPr/>
            <p:nvPr/>
          </p:nvSpPr>
          <p:spPr>
            <a:xfrm>
              <a:off x="1397" y="2519"/>
              <a:ext cx="1" cy="395"/>
            </a:xfrm>
            <a:prstGeom prst="line">
              <a:avLst/>
            </a:prstGeom>
            <a:ln w="0" cap="flat" cmpd="sng">
              <a:solidFill>
                <a:srgbClr val="0000FF"/>
              </a:solidFill>
              <a:prstDash val="sysDot"/>
              <a:headEnd type="none" w="med" len="med"/>
              <a:tailEnd type="none" w="med" len="med"/>
            </a:ln>
          </p:spPr>
        </p:sp>
        <p:sp>
          <p:nvSpPr>
            <p:cNvPr id="33880" name="Line 107"/>
            <p:cNvSpPr/>
            <p:nvPr/>
          </p:nvSpPr>
          <p:spPr>
            <a:xfrm>
              <a:off x="1602" y="2519"/>
              <a:ext cx="1" cy="395"/>
            </a:xfrm>
            <a:prstGeom prst="line">
              <a:avLst/>
            </a:prstGeom>
            <a:ln w="0" cap="flat" cmpd="sng">
              <a:solidFill>
                <a:srgbClr val="0000FF"/>
              </a:solidFill>
              <a:prstDash val="sysDot"/>
              <a:headEnd type="none" w="med" len="med"/>
              <a:tailEnd type="none" w="med" len="med"/>
            </a:ln>
          </p:spPr>
        </p:sp>
        <p:sp>
          <p:nvSpPr>
            <p:cNvPr id="33881" name="Line 108"/>
            <p:cNvSpPr/>
            <p:nvPr/>
          </p:nvSpPr>
          <p:spPr>
            <a:xfrm>
              <a:off x="1782" y="2519"/>
              <a:ext cx="1" cy="395"/>
            </a:xfrm>
            <a:prstGeom prst="line">
              <a:avLst/>
            </a:prstGeom>
            <a:ln w="0" cap="flat" cmpd="sng">
              <a:solidFill>
                <a:srgbClr val="0000FF"/>
              </a:solidFill>
              <a:prstDash val="sysDot"/>
              <a:headEnd type="none" w="med" len="med"/>
              <a:tailEnd type="none" w="med" len="med"/>
            </a:ln>
          </p:spPr>
        </p:sp>
        <p:sp>
          <p:nvSpPr>
            <p:cNvPr id="33882" name="Line 109"/>
            <p:cNvSpPr/>
            <p:nvPr/>
          </p:nvSpPr>
          <p:spPr>
            <a:xfrm>
              <a:off x="1987" y="2519"/>
              <a:ext cx="1" cy="395"/>
            </a:xfrm>
            <a:prstGeom prst="line">
              <a:avLst/>
            </a:prstGeom>
            <a:ln w="0" cap="flat" cmpd="sng">
              <a:solidFill>
                <a:srgbClr val="0000FF"/>
              </a:solidFill>
              <a:prstDash val="sysDot"/>
              <a:headEnd type="none" w="med" len="med"/>
              <a:tailEnd type="none" w="med" len="med"/>
            </a:ln>
          </p:spPr>
        </p:sp>
        <p:sp>
          <p:nvSpPr>
            <p:cNvPr id="33883" name="Line 110"/>
            <p:cNvSpPr/>
            <p:nvPr/>
          </p:nvSpPr>
          <p:spPr>
            <a:xfrm>
              <a:off x="2168" y="2519"/>
              <a:ext cx="1" cy="395"/>
            </a:xfrm>
            <a:prstGeom prst="line">
              <a:avLst/>
            </a:prstGeom>
            <a:ln w="0" cap="flat" cmpd="sng">
              <a:solidFill>
                <a:srgbClr val="0000FF"/>
              </a:solidFill>
              <a:prstDash val="sysDot"/>
              <a:headEnd type="none" w="med" len="med"/>
              <a:tailEnd type="none" w="med" len="med"/>
            </a:ln>
          </p:spPr>
        </p:sp>
        <p:sp>
          <p:nvSpPr>
            <p:cNvPr id="33884" name="Line 111"/>
            <p:cNvSpPr/>
            <p:nvPr/>
          </p:nvSpPr>
          <p:spPr>
            <a:xfrm>
              <a:off x="2361" y="2515"/>
              <a:ext cx="1" cy="389"/>
            </a:xfrm>
            <a:prstGeom prst="line">
              <a:avLst/>
            </a:prstGeom>
            <a:ln w="0" cap="flat" cmpd="sng">
              <a:solidFill>
                <a:srgbClr val="0000FF"/>
              </a:solidFill>
              <a:prstDash val="sysDot"/>
              <a:headEnd type="none" w="med" len="med"/>
              <a:tailEnd type="none" w="med" len="med"/>
            </a:ln>
          </p:spPr>
        </p:sp>
        <p:sp>
          <p:nvSpPr>
            <p:cNvPr id="33885" name="Oval 112"/>
            <p:cNvSpPr/>
            <p:nvPr/>
          </p:nvSpPr>
          <p:spPr>
            <a:xfrm>
              <a:off x="1397" y="1515"/>
              <a:ext cx="60" cy="6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886" name="Line 113"/>
            <p:cNvSpPr/>
            <p:nvPr/>
          </p:nvSpPr>
          <p:spPr>
            <a:xfrm>
              <a:off x="1602" y="2049"/>
              <a:ext cx="1" cy="197"/>
            </a:xfrm>
            <a:prstGeom prst="line">
              <a:avLst/>
            </a:prstGeom>
            <a:ln w="0" cap="flat" cmpd="sng">
              <a:solidFill>
                <a:srgbClr val="0000FF"/>
              </a:solidFill>
              <a:prstDash val="solid"/>
              <a:headEnd type="none" w="med" len="med"/>
              <a:tailEnd type="none" w="med" len="med"/>
            </a:ln>
          </p:spPr>
        </p:sp>
        <p:sp>
          <p:nvSpPr>
            <p:cNvPr id="33887" name="Rectangle 114"/>
            <p:cNvSpPr/>
            <p:nvPr/>
          </p:nvSpPr>
          <p:spPr>
            <a:xfrm>
              <a:off x="926" y="1348"/>
              <a:ext cx="22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INH</a:t>
              </a:r>
              <a:endParaRPr lang="en-US" altLang="zh-CN" dirty="0">
                <a:latin typeface="Times New Roman" panose="02020603050405020304" pitchFamily="18" charset="0"/>
              </a:endParaRPr>
            </a:p>
          </p:txBody>
        </p:sp>
        <p:sp>
          <p:nvSpPr>
            <p:cNvPr id="33888" name="Rectangle 115"/>
            <p:cNvSpPr/>
            <p:nvPr/>
          </p:nvSpPr>
          <p:spPr>
            <a:xfrm>
              <a:off x="1384" y="1348"/>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33889" name="Rectangle 116"/>
            <p:cNvSpPr/>
            <p:nvPr/>
          </p:nvSpPr>
          <p:spPr>
            <a:xfrm>
              <a:off x="1774" y="1348"/>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B</a:t>
              </a:r>
              <a:endParaRPr lang="en-US" altLang="zh-CN" dirty="0">
                <a:latin typeface="Times New Roman" panose="02020603050405020304" pitchFamily="18" charset="0"/>
              </a:endParaRPr>
            </a:p>
          </p:txBody>
        </p:sp>
        <p:sp>
          <p:nvSpPr>
            <p:cNvPr id="33890" name="Rectangle 117"/>
            <p:cNvSpPr/>
            <p:nvPr/>
          </p:nvSpPr>
          <p:spPr>
            <a:xfrm>
              <a:off x="2156" y="1348"/>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3891" name="Rectangle 118"/>
            <p:cNvSpPr/>
            <p:nvPr/>
          </p:nvSpPr>
          <p:spPr>
            <a:xfrm>
              <a:off x="166" y="267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3892" name="Rectangle 119"/>
            <p:cNvSpPr/>
            <p:nvPr/>
          </p:nvSpPr>
          <p:spPr>
            <a:xfrm>
              <a:off x="251" y="2722"/>
              <a:ext cx="11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EE</a:t>
              </a:r>
              <a:endParaRPr lang="en-US" altLang="zh-CN" dirty="0">
                <a:latin typeface="Times New Roman" panose="02020603050405020304" pitchFamily="18" charset="0"/>
              </a:endParaRPr>
            </a:p>
          </p:txBody>
        </p:sp>
        <p:sp>
          <p:nvSpPr>
            <p:cNvPr id="33893" name="Rectangle 120"/>
            <p:cNvSpPr/>
            <p:nvPr/>
          </p:nvSpPr>
          <p:spPr>
            <a:xfrm>
              <a:off x="1433" y="32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3894" name="Rectangle 121"/>
            <p:cNvSpPr/>
            <p:nvPr/>
          </p:nvSpPr>
          <p:spPr>
            <a:xfrm>
              <a:off x="1035" y="32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3895" name="Rectangle 122"/>
            <p:cNvSpPr/>
            <p:nvPr/>
          </p:nvSpPr>
          <p:spPr>
            <a:xfrm>
              <a:off x="649" y="32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3896" name="Rectangle 123"/>
            <p:cNvSpPr/>
            <p:nvPr/>
          </p:nvSpPr>
          <p:spPr>
            <a:xfrm>
              <a:off x="866" y="32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3897" name="Rectangle 124"/>
            <p:cNvSpPr/>
            <p:nvPr/>
          </p:nvSpPr>
          <p:spPr>
            <a:xfrm>
              <a:off x="1240" y="32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3898" name="Rectangle 125"/>
            <p:cNvSpPr/>
            <p:nvPr/>
          </p:nvSpPr>
          <p:spPr>
            <a:xfrm>
              <a:off x="1071" y="155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3899" name="Rectangle 126"/>
            <p:cNvSpPr/>
            <p:nvPr/>
          </p:nvSpPr>
          <p:spPr>
            <a:xfrm>
              <a:off x="528" y="269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3900" name="Rectangle 127"/>
            <p:cNvSpPr/>
            <p:nvPr/>
          </p:nvSpPr>
          <p:spPr>
            <a:xfrm>
              <a:off x="528" y="228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3901" name="Rectangle 128"/>
            <p:cNvSpPr/>
            <p:nvPr/>
          </p:nvSpPr>
          <p:spPr>
            <a:xfrm>
              <a:off x="1469" y="155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33902" name="Rectangle 129"/>
            <p:cNvSpPr/>
            <p:nvPr/>
          </p:nvSpPr>
          <p:spPr>
            <a:xfrm>
              <a:off x="1843" y="153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33903" name="Rectangle 130"/>
            <p:cNvSpPr/>
            <p:nvPr/>
          </p:nvSpPr>
          <p:spPr>
            <a:xfrm>
              <a:off x="2241" y="153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33904" name="Rectangle 131"/>
            <p:cNvSpPr/>
            <p:nvPr/>
          </p:nvSpPr>
          <p:spPr>
            <a:xfrm>
              <a:off x="1577" y="320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33905" name="Rectangle 132"/>
            <p:cNvSpPr/>
            <p:nvPr/>
          </p:nvSpPr>
          <p:spPr>
            <a:xfrm>
              <a:off x="2168" y="320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33906" name="Rectangle 133"/>
            <p:cNvSpPr/>
            <p:nvPr/>
          </p:nvSpPr>
          <p:spPr>
            <a:xfrm>
              <a:off x="1963" y="320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3907" name="Rectangle 134"/>
            <p:cNvSpPr/>
            <p:nvPr/>
          </p:nvSpPr>
          <p:spPr>
            <a:xfrm>
              <a:off x="1782" y="320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33908" name="Rectangle 135"/>
            <p:cNvSpPr/>
            <p:nvPr/>
          </p:nvSpPr>
          <p:spPr>
            <a:xfrm>
              <a:off x="504" y="1778"/>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sp>
          <p:nvSpPr>
            <p:cNvPr id="33909" name="Rectangle 136"/>
            <p:cNvSpPr/>
            <p:nvPr/>
          </p:nvSpPr>
          <p:spPr>
            <a:xfrm>
              <a:off x="673" y="3356"/>
              <a:ext cx="1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Sm</a:t>
              </a:r>
              <a:endParaRPr lang="en-US" altLang="zh-CN" dirty="0">
                <a:solidFill>
                  <a:srgbClr val="FF0000"/>
                </a:solidFill>
                <a:latin typeface="Times New Roman" panose="02020603050405020304" pitchFamily="18" charset="0"/>
              </a:endParaRPr>
            </a:p>
          </p:txBody>
        </p:sp>
        <p:sp>
          <p:nvSpPr>
            <p:cNvPr id="33910" name="Rectangle 137"/>
            <p:cNvSpPr/>
            <p:nvPr/>
          </p:nvSpPr>
          <p:spPr>
            <a:xfrm>
              <a:off x="3929" y="1623"/>
              <a:ext cx="784" cy="164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911" name="Line 138"/>
            <p:cNvSpPr/>
            <p:nvPr/>
          </p:nvSpPr>
          <p:spPr>
            <a:xfrm>
              <a:off x="3736" y="1766"/>
              <a:ext cx="193" cy="1"/>
            </a:xfrm>
            <a:prstGeom prst="line">
              <a:avLst/>
            </a:prstGeom>
            <a:ln w="0" cap="flat" cmpd="sng">
              <a:solidFill>
                <a:srgbClr val="0000FF"/>
              </a:solidFill>
              <a:prstDash val="solid"/>
              <a:headEnd type="none" w="med" len="med"/>
              <a:tailEnd type="none" w="med" len="med"/>
            </a:ln>
          </p:spPr>
        </p:sp>
        <p:sp>
          <p:nvSpPr>
            <p:cNvPr id="33912" name="Line 139"/>
            <p:cNvSpPr/>
            <p:nvPr/>
          </p:nvSpPr>
          <p:spPr>
            <a:xfrm>
              <a:off x="3736" y="1958"/>
              <a:ext cx="195" cy="1"/>
            </a:xfrm>
            <a:prstGeom prst="line">
              <a:avLst/>
            </a:prstGeom>
            <a:ln w="0" cap="flat" cmpd="sng">
              <a:solidFill>
                <a:srgbClr val="0000FF"/>
              </a:solidFill>
              <a:prstDash val="solid"/>
              <a:headEnd type="none" w="med" len="med"/>
              <a:tailEnd type="none" w="med" len="med"/>
            </a:ln>
          </p:spPr>
        </p:sp>
        <p:sp>
          <p:nvSpPr>
            <p:cNvPr id="33913" name="Line 140"/>
            <p:cNvSpPr/>
            <p:nvPr/>
          </p:nvSpPr>
          <p:spPr>
            <a:xfrm>
              <a:off x="3740" y="2149"/>
              <a:ext cx="193" cy="1"/>
            </a:xfrm>
            <a:prstGeom prst="line">
              <a:avLst/>
            </a:prstGeom>
            <a:ln w="0" cap="flat" cmpd="sng">
              <a:solidFill>
                <a:srgbClr val="0000FF"/>
              </a:solidFill>
              <a:prstDash val="solid"/>
              <a:headEnd type="none" w="med" len="med"/>
              <a:tailEnd type="none" w="med" len="med"/>
            </a:ln>
          </p:spPr>
        </p:sp>
        <p:sp>
          <p:nvSpPr>
            <p:cNvPr id="33914" name="Line 141"/>
            <p:cNvSpPr/>
            <p:nvPr/>
          </p:nvSpPr>
          <p:spPr>
            <a:xfrm>
              <a:off x="3736" y="2340"/>
              <a:ext cx="193" cy="1"/>
            </a:xfrm>
            <a:prstGeom prst="line">
              <a:avLst/>
            </a:prstGeom>
            <a:ln w="0" cap="flat" cmpd="sng">
              <a:solidFill>
                <a:srgbClr val="0000FF"/>
              </a:solidFill>
              <a:prstDash val="solid"/>
              <a:headEnd type="none" w="med" len="med"/>
              <a:tailEnd type="none" w="med" len="med"/>
            </a:ln>
          </p:spPr>
        </p:sp>
        <p:sp>
          <p:nvSpPr>
            <p:cNvPr id="33915" name="Line 142"/>
            <p:cNvSpPr/>
            <p:nvPr/>
          </p:nvSpPr>
          <p:spPr>
            <a:xfrm>
              <a:off x="3736" y="2531"/>
              <a:ext cx="193" cy="1"/>
            </a:xfrm>
            <a:prstGeom prst="line">
              <a:avLst/>
            </a:prstGeom>
            <a:ln w="0" cap="flat" cmpd="sng">
              <a:solidFill>
                <a:srgbClr val="0000FF"/>
              </a:solidFill>
              <a:prstDash val="solid"/>
              <a:headEnd type="none" w="med" len="med"/>
              <a:tailEnd type="none" w="med" len="med"/>
            </a:ln>
          </p:spPr>
        </p:sp>
        <p:sp>
          <p:nvSpPr>
            <p:cNvPr id="33916" name="Line 143"/>
            <p:cNvSpPr/>
            <p:nvPr/>
          </p:nvSpPr>
          <p:spPr>
            <a:xfrm>
              <a:off x="3736" y="2722"/>
              <a:ext cx="193" cy="1"/>
            </a:xfrm>
            <a:prstGeom prst="line">
              <a:avLst/>
            </a:prstGeom>
            <a:ln w="0" cap="flat" cmpd="sng">
              <a:solidFill>
                <a:srgbClr val="0000FF"/>
              </a:solidFill>
              <a:prstDash val="solid"/>
              <a:headEnd type="none" w="med" len="med"/>
              <a:tailEnd type="none" w="med" len="med"/>
            </a:ln>
          </p:spPr>
        </p:sp>
        <p:sp>
          <p:nvSpPr>
            <p:cNvPr id="33917" name="Line 144"/>
            <p:cNvSpPr/>
            <p:nvPr/>
          </p:nvSpPr>
          <p:spPr>
            <a:xfrm>
              <a:off x="3736" y="2914"/>
              <a:ext cx="193" cy="1"/>
            </a:xfrm>
            <a:prstGeom prst="line">
              <a:avLst/>
            </a:prstGeom>
            <a:ln w="0" cap="flat" cmpd="sng">
              <a:solidFill>
                <a:srgbClr val="0000FF"/>
              </a:solidFill>
              <a:prstDash val="solid"/>
              <a:headEnd type="none" w="med" len="med"/>
              <a:tailEnd type="none" w="med" len="med"/>
            </a:ln>
          </p:spPr>
        </p:sp>
        <p:sp>
          <p:nvSpPr>
            <p:cNvPr id="33918" name="Line 145"/>
            <p:cNvSpPr/>
            <p:nvPr/>
          </p:nvSpPr>
          <p:spPr>
            <a:xfrm>
              <a:off x="3738" y="3105"/>
              <a:ext cx="193" cy="1"/>
            </a:xfrm>
            <a:prstGeom prst="line">
              <a:avLst/>
            </a:prstGeom>
            <a:ln w="0" cap="flat" cmpd="sng">
              <a:solidFill>
                <a:srgbClr val="0000FF"/>
              </a:solidFill>
              <a:prstDash val="solid"/>
              <a:headEnd type="none" w="med" len="med"/>
              <a:tailEnd type="none" w="med" len="med"/>
            </a:ln>
          </p:spPr>
        </p:sp>
        <p:sp>
          <p:nvSpPr>
            <p:cNvPr id="33919" name="Line 146"/>
            <p:cNvSpPr/>
            <p:nvPr/>
          </p:nvSpPr>
          <p:spPr>
            <a:xfrm>
              <a:off x="4711" y="1766"/>
              <a:ext cx="193" cy="1"/>
            </a:xfrm>
            <a:prstGeom prst="line">
              <a:avLst/>
            </a:prstGeom>
            <a:ln w="0" cap="flat" cmpd="sng">
              <a:solidFill>
                <a:srgbClr val="0000FF"/>
              </a:solidFill>
              <a:prstDash val="solid"/>
              <a:headEnd type="none" w="med" len="med"/>
              <a:tailEnd type="none" w="med" len="med"/>
            </a:ln>
          </p:spPr>
        </p:sp>
        <p:sp>
          <p:nvSpPr>
            <p:cNvPr id="33920" name="Line 147"/>
            <p:cNvSpPr/>
            <p:nvPr/>
          </p:nvSpPr>
          <p:spPr>
            <a:xfrm>
              <a:off x="4713" y="1958"/>
              <a:ext cx="193" cy="1"/>
            </a:xfrm>
            <a:prstGeom prst="line">
              <a:avLst/>
            </a:prstGeom>
            <a:ln w="0" cap="flat" cmpd="sng">
              <a:solidFill>
                <a:srgbClr val="0000FF"/>
              </a:solidFill>
              <a:prstDash val="solid"/>
              <a:headEnd type="none" w="med" len="med"/>
              <a:tailEnd type="none" w="med" len="med"/>
            </a:ln>
          </p:spPr>
        </p:sp>
        <p:sp>
          <p:nvSpPr>
            <p:cNvPr id="33921" name="Line 148"/>
            <p:cNvSpPr/>
            <p:nvPr/>
          </p:nvSpPr>
          <p:spPr>
            <a:xfrm>
              <a:off x="4713" y="2149"/>
              <a:ext cx="193" cy="1"/>
            </a:xfrm>
            <a:prstGeom prst="line">
              <a:avLst/>
            </a:prstGeom>
            <a:ln w="0" cap="flat" cmpd="sng">
              <a:solidFill>
                <a:srgbClr val="0000FF"/>
              </a:solidFill>
              <a:prstDash val="solid"/>
              <a:headEnd type="none" w="med" len="med"/>
              <a:tailEnd type="none" w="med" len="med"/>
            </a:ln>
          </p:spPr>
        </p:sp>
        <p:sp>
          <p:nvSpPr>
            <p:cNvPr id="33922" name="Line 149"/>
            <p:cNvSpPr/>
            <p:nvPr/>
          </p:nvSpPr>
          <p:spPr>
            <a:xfrm>
              <a:off x="4713" y="2340"/>
              <a:ext cx="193" cy="1"/>
            </a:xfrm>
            <a:prstGeom prst="line">
              <a:avLst/>
            </a:prstGeom>
            <a:ln w="0" cap="flat" cmpd="sng">
              <a:solidFill>
                <a:srgbClr val="0000FF"/>
              </a:solidFill>
              <a:prstDash val="solid"/>
              <a:headEnd type="none" w="med" len="med"/>
              <a:tailEnd type="none" w="med" len="med"/>
            </a:ln>
          </p:spPr>
        </p:sp>
        <p:sp>
          <p:nvSpPr>
            <p:cNvPr id="33923" name="Line 150"/>
            <p:cNvSpPr/>
            <p:nvPr/>
          </p:nvSpPr>
          <p:spPr>
            <a:xfrm>
              <a:off x="4711" y="2531"/>
              <a:ext cx="193" cy="1"/>
            </a:xfrm>
            <a:prstGeom prst="line">
              <a:avLst/>
            </a:prstGeom>
            <a:ln w="0" cap="flat" cmpd="sng">
              <a:solidFill>
                <a:srgbClr val="0000FF"/>
              </a:solidFill>
              <a:prstDash val="solid"/>
              <a:headEnd type="none" w="med" len="med"/>
              <a:tailEnd type="none" w="med" len="med"/>
            </a:ln>
          </p:spPr>
        </p:sp>
        <p:sp>
          <p:nvSpPr>
            <p:cNvPr id="33924" name="Line 151"/>
            <p:cNvSpPr/>
            <p:nvPr/>
          </p:nvSpPr>
          <p:spPr>
            <a:xfrm>
              <a:off x="4713" y="2722"/>
              <a:ext cx="193" cy="1"/>
            </a:xfrm>
            <a:prstGeom prst="line">
              <a:avLst/>
            </a:prstGeom>
            <a:ln w="0" cap="flat" cmpd="sng">
              <a:solidFill>
                <a:srgbClr val="0000FF"/>
              </a:solidFill>
              <a:prstDash val="solid"/>
              <a:headEnd type="none" w="med" len="med"/>
              <a:tailEnd type="none" w="med" len="med"/>
            </a:ln>
          </p:spPr>
        </p:sp>
        <p:sp>
          <p:nvSpPr>
            <p:cNvPr id="33925" name="Line 152"/>
            <p:cNvSpPr/>
            <p:nvPr/>
          </p:nvSpPr>
          <p:spPr>
            <a:xfrm>
              <a:off x="4713" y="2914"/>
              <a:ext cx="193" cy="1"/>
            </a:xfrm>
            <a:prstGeom prst="line">
              <a:avLst/>
            </a:prstGeom>
            <a:ln w="0" cap="flat" cmpd="sng">
              <a:solidFill>
                <a:srgbClr val="0000FF"/>
              </a:solidFill>
              <a:prstDash val="solid"/>
              <a:headEnd type="none" w="med" len="med"/>
              <a:tailEnd type="none" w="med" len="med"/>
            </a:ln>
          </p:spPr>
        </p:sp>
        <p:sp>
          <p:nvSpPr>
            <p:cNvPr id="33926" name="Line 153"/>
            <p:cNvSpPr/>
            <p:nvPr/>
          </p:nvSpPr>
          <p:spPr>
            <a:xfrm>
              <a:off x="4713" y="3105"/>
              <a:ext cx="193" cy="1"/>
            </a:xfrm>
            <a:prstGeom prst="line">
              <a:avLst/>
            </a:prstGeom>
            <a:ln w="0" cap="flat" cmpd="sng">
              <a:solidFill>
                <a:srgbClr val="0000FF"/>
              </a:solidFill>
              <a:prstDash val="solid"/>
              <a:headEnd type="none" w="med" len="med"/>
              <a:tailEnd type="none" w="med" len="med"/>
            </a:ln>
          </p:spPr>
        </p:sp>
        <p:sp>
          <p:nvSpPr>
            <p:cNvPr id="33927" name="Rectangle 154"/>
            <p:cNvSpPr/>
            <p:nvPr/>
          </p:nvSpPr>
          <p:spPr>
            <a:xfrm>
              <a:off x="4002" y="171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3928" name="Rectangle 155"/>
            <p:cNvSpPr/>
            <p:nvPr/>
          </p:nvSpPr>
          <p:spPr>
            <a:xfrm>
              <a:off x="3990" y="191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3929" name="Rectangle 156"/>
            <p:cNvSpPr/>
            <p:nvPr/>
          </p:nvSpPr>
          <p:spPr>
            <a:xfrm>
              <a:off x="4002" y="208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3930" name="Rectangle 157"/>
            <p:cNvSpPr/>
            <p:nvPr/>
          </p:nvSpPr>
          <p:spPr>
            <a:xfrm>
              <a:off x="4002" y="22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3931" name="Rectangle 158"/>
            <p:cNvSpPr/>
            <p:nvPr/>
          </p:nvSpPr>
          <p:spPr>
            <a:xfrm>
              <a:off x="4002" y="247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3932" name="Rectangle 159"/>
            <p:cNvSpPr/>
            <p:nvPr/>
          </p:nvSpPr>
          <p:spPr>
            <a:xfrm>
              <a:off x="4002" y="266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3933" name="Rectangle 160"/>
            <p:cNvSpPr/>
            <p:nvPr/>
          </p:nvSpPr>
          <p:spPr>
            <a:xfrm>
              <a:off x="4002" y="285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3934" name="Rectangle 161"/>
            <p:cNvSpPr/>
            <p:nvPr/>
          </p:nvSpPr>
          <p:spPr>
            <a:xfrm>
              <a:off x="4002" y="3057"/>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3935" name="Rectangle 162"/>
            <p:cNvSpPr/>
            <p:nvPr/>
          </p:nvSpPr>
          <p:spPr>
            <a:xfrm>
              <a:off x="4581" y="304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33936" name="Rectangle 163"/>
            <p:cNvSpPr/>
            <p:nvPr/>
          </p:nvSpPr>
          <p:spPr>
            <a:xfrm>
              <a:off x="4544" y="286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33937" name="Rectangle 164"/>
            <p:cNvSpPr/>
            <p:nvPr/>
          </p:nvSpPr>
          <p:spPr>
            <a:xfrm>
              <a:off x="4556" y="267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33938" name="Rectangle 165"/>
            <p:cNvSpPr/>
            <p:nvPr/>
          </p:nvSpPr>
          <p:spPr>
            <a:xfrm>
              <a:off x="4556" y="248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33939" name="Rectangle 166"/>
            <p:cNvSpPr/>
            <p:nvPr/>
          </p:nvSpPr>
          <p:spPr>
            <a:xfrm>
              <a:off x="4544" y="228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33940" name="Rectangle 167"/>
            <p:cNvSpPr/>
            <p:nvPr/>
          </p:nvSpPr>
          <p:spPr>
            <a:xfrm>
              <a:off x="4556" y="2077"/>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3941" name="Rectangle 168"/>
            <p:cNvSpPr/>
            <p:nvPr/>
          </p:nvSpPr>
          <p:spPr>
            <a:xfrm>
              <a:off x="4568" y="1898"/>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33942" name="Rectangle 169"/>
            <p:cNvSpPr/>
            <p:nvPr/>
          </p:nvSpPr>
          <p:spPr>
            <a:xfrm>
              <a:off x="4556" y="1707"/>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sp>
          <p:nvSpPr>
            <p:cNvPr id="33943" name="Rectangle 170"/>
            <p:cNvSpPr/>
            <p:nvPr/>
          </p:nvSpPr>
          <p:spPr>
            <a:xfrm>
              <a:off x="3441" y="3033"/>
              <a:ext cx="27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GND</a:t>
              </a:r>
              <a:endParaRPr lang="en-US" altLang="zh-CN" dirty="0">
                <a:latin typeface="Times New Roman" panose="02020603050405020304" pitchFamily="18" charset="0"/>
              </a:endParaRPr>
            </a:p>
          </p:txBody>
        </p:sp>
        <p:sp>
          <p:nvSpPr>
            <p:cNvPr id="33944" name="Rectangle 171"/>
            <p:cNvSpPr/>
            <p:nvPr/>
          </p:nvSpPr>
          <p:spPr>
            <a:xfrm>
              <a:off x="4930" y="2065"/>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45" name="Rectangle 172"/>
            <p:cNvSpPr/>
            <p:nvPr/>
          </p:nvSpPr>
          <p:spPr>
            <a:xfrm>
              <a:off x="5015" y="210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3946" name="Rectangle 173"/>
            <p:cNvSpPr/>
            <p:nvPr/>
          </p:nvSpPr>
          <p:spPr>
            <a:xfrm>
              <a:off x="4930" y="1874"/>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47" name="Rectangle 174"/>
            <p:cNvSpPr/>
            <p:nvPr/>
          </p:nvSpPr>
          <p:spPr>
            <a:xfrm>
              <a:off x="5003" y="192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3948" name="Rectangle 175"/>
            <p:cNvSpPr/>
            <p:nvPr/>
          </p:nvSpPr>
          <p:spPr>
            <a:xfrm>
              <a:off x="5003" y="249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3949" name="Rectangle 176"/>
            <p:cNvSpPr/>
            <p:nvPr/>
          </p:nvSpPr>
          <p:spPr>
            <a:xfrm>
              <a:off x="4942" y="2448"/>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50" name="Rectangle 177"/>
            <p:cNvSpPr/>
            <p:nvPr/>
          </p:nvSpPr>
          <p:spPr>
            <a:xfrm>
              <a:off x="3664" y="248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3951" name="Rectangle 178"/>
            <p:cNvSpPr/>
            <p:nvPr/>
          </p:nvSpPr>
          <p:spPr>
            <a:xfrm>
              <a:off x="3592" y="2448"/>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52" name="Rectangle 179"/>
            <p:cNvSpPr/>
            <p:nvPr/>
          </p:nvSpPr>
          <p:spPr>
            <a:xfrm>
              <a:off x="3664" y="191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3953" name="Rectangle 180"/>
            <p:cNvSpPr/>
            <p:nvPr/>
          </p:nvSpPr>
          <p:spPr>
            <a:xfrm>
              <a:off x="3592" y="1862"/>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54" name="Rectangle 181"/>
            <p:cNvSpPr/>
            <p:nvPr/>
          </p:nvSpPr>
          <p:spPr>
            <a:xfrm>
              <a:off x="3648" y="172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3955" name="Rectangle 182"/>
            <p:cNvSpPr/>
            <p:nvPr/>
          </p:nvSpPr>
          <p:spPr>
            <a:xfrm>
              <a:off x="3592" y="1683"/>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56" name="Rectangle 183"/>
            <p:cNvSpPr/>
            <p:nvPr/>
          </p:nvSpPr>
          <p:spPr>
            <a:xfrm>
              <a:off x="3664" y="228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3957" name="Rectangle 184"/>
            <p:cNvSpPr/>
            <p:nvPr/>
          </p:nvSpPr>
          <p:spPr>
            <a:xfrm>
              <a:off x="3592" y="2244"/>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grpSp>
          <p:nvGrpSpPr>
            <p:cNvPr id="33958" name="Group 187"/>
            <p:cNvGrpSpPr/>
            <p:nvPr/>
          </p:nvGrpSpPr>
          <p:grpSpPr>
            <a:xfrm>
              <a:off x="4918" y="1683"/>
              <a:ext cx="223" cy="139"/>
              <a:chOff x="4918" y="735"/>
              <a:chExt cx="223" cy="139"/>
            </a:xfrm>
          </p:grpSpPr>
          <p:sp>
            <p:nvSpPr>
              <p:cNvPr id="33998" name="Rectangle 185"/>
              <p:cNvSpPr/>
              <p:nvPr/>
            </p:nvSpPr>
            <p:spPr>
              <a:xfrm>
                <a:off x="4918" y="73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3999" name="Rectangle 186"/>
              <p:cNvSpPr/>
              <p:nvPr/>
            </p:nvSpPr>
            <p:spPr>
              <a:xfrm>
                <a:off x="5003" y="770"/>
                <a:ext cx="13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grpSp>
        <p:sp>
          <p:nvSpPr>
            <p:cNvPr id="33959" name="Rectangle 188"/>
            <p:cNvSpPr/>
            <p:nvPr/>
          </p:nvSpPr>
          <p:spPr>
            <a:xfrm>
              <a:off x="4219" y="2232"/>
              <a:ext cx="17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CD</a:t>
              </a:r>
              <a:endParaRPr lang="en-US" altLang="zh-CN" dirty="0">
                <a:latin typeface="Times New Roman" panose="02020603050405020304" pitchFamily="18" charset="0"/>
              </a:endParaRPr>
            </a:p>
          </p:txBody>
        </p:sp>
        <p:sp>
          <p:nvSpPr>
            <p:cNvPr id="33960" name="Rectangle 189"/>
            <p:cNvSpPr/>
            <p:nvPr/>
          </p:nvSpPr>
          <p:spPr>
            <a:xfrm>
              <a:off x="4170" y="2376"/>
              <a:ext cx="25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4501</a:t>
              </a:r>
              <a:endParaRPr lang="en-US" altLang="zh-CN" dirty="0">
                <a:latin typeface="Times New Roman" panose="02020603050405020304" pitchFamily="18" charset="0"/>
              </a:endParaRPr>
            </a:p>
          </p:txBody>
        </p:sp>
        <p:sp>
          <p:nvSpPr>
            <p:cNvPr id="33961" name="Rectangle 190"/>
            <p:cNvSpPr/>
            <p:nvPr/>
          </p:nvSpPr>
          <p:spPr>
            <a:xfrm>
              <a:off x="4942" y="2256"/>
              <a:ext cx="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3962" name="Rectangle 191"/>
            <p:cNvSpPr/>
            <p:nvPr/>
          </p:nvSpPr>
          <p:spPr>
            <a:xfrm>
              <a:off x="5003" y="229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0</a:t>
              </a:r>
              <a:endParaRPr lang="en-US" altLang="zh-CN" dirty="0">
                <a:latin typeface="Times New Roman" panose="02020603050405020304" pitchFamily="18" charset="0"/>
              </a:endParaRPr>
            </a:p>
          </p:txBody>
        </p:sp>
        <p:sp>
          <p:nvSpPr>
            <p:cNvPr id="33963" name="Rectangle 192"/>
            <p:cNvSpPr/>
            <p:nvPr/>
          </p:nvSpPr>
          <p:spPr>
            <a:xfrm>
              <a:off x="4979" y="2639"/>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3964" name="Rectangle 193"/>
            <p:cNvSpPr/>
            <p:nvPr/>
          </p:nvSpPr>
          <p:spPr>
            <a:xfrm>
              <a:off x="4975" y="2846"/>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B</a:t>
              </a:r>
              <a:endParaRPr lang="en-US" altLang="zh-CN" dirty="0">
                <a:latin typeface="Times New Roman" panose="02020603050405020304" pitchFamily="18" charset="0"/>
              </a:endParaRPr>
            </a:p>
          </p:txBody>
        </p:sp>
        <p:sp>
          <p:nvSpPr>
            <p:cNvPr id="33965" name="Rectangle 194"/>
            <p:cNvSpPr/>
            <p:nvPr/>
          </p:nvSpPr>
          <p:spPr>
            <a:xfrm>
              <a:off x="4975" y="3021"/>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33966" name="Rectangle 195"/>
            <p:cNvSpPr/>
            <p:nvPr/>
          </p:nvSpPr>
          <p:spPr>
            <a:xfrm>
              <a:off x="3555" y="2053"/>
              <a:ext cx="17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Sm</a:t>
              </a:r>
              <a:endParaRPr lang="en-US" altLang="zh-CN" dirty="0">
                <a:latin typeface="Times New Roman" panose="02020603050405020304" pitchFamily="18" charset="0"/>
              </a:endParaRPr>
            </a:p>
          </p:txBody>
        </p:sp>
        <p:sp>
          <p:nvSpPr>
            <p:cNvPr id="33967" name="Rectangle 196"/>
            <p:cNvSpPr/>
            <p:nvPr/>
          </p:nvSpPr>
          <p:spPr>
            <a:xfrm>
              <a:off x="3483" y="2627"/>
              <a:ext cx="22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INH</a:t>
              </a:r>
              <a:endParaRPr lang="en-US" altLang="zh-CN" dirty="0">
                <a:latin typeface="Times New Roman" panose="02020603050405020304" pitchFamily="18" charset="0"/>
              </a:endParaRPr>
            </a:p>
          </p:txBody>
        </p:sp>
        <p:sp>
          <p:nvSpPr>
            <p:cNvPr id="33968" name="Rectangle 197"/>
            <p:cNvSpPr/>
            <p:nvPr/>
          </p:nvSpPr>
          <p:spPr>
            <a:xfrm>
              <a:off x="3507" y="2806"/>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3969" name="Rectangle 198"/>
            <p:cNvSpPr/>
            <p:nvPr/>
          </p:nvSpPr>
          <p:spPr>
            <a:xfrm>
              <a:off x="3592" y="2854"/>
              <a:ext cx="11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EE</a:t>
              </a:r>
              <a:endParaRPr lang="en-US" altLang="zh-CN" dirty="0">
                <a:latin typeface="Times New Roman" panose="02020603050405020304" pitchFamily="18" charset="0"/>
              </a:endParaRPr>
            </a:p>
          </p:txBody>
        </p:sp>
        <p:sp>
          <p:nvSpPr>
            <p:cNvPr id="33970" name="Rectangle 199"/>
            <p:cNvSpPr/>
            <p:nvPr/>
          </p:nvSpPr>
          <p:spPr>
            <a:xfrm>
              <a:off x="3121" y="2376"/>
              <a:ext cx="32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3971" name="Rectangle 200"/>
            <p:cNvSpPr/>
            <p:nvPr/>
          </p:nvSpPr>
          <p:spPr>
            <a:xfrm>
              <a:off x="3109" y="2089"/>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(OUT/IN)</a:t>
              </a:r>
              <a:endParaRPr lang="en-US" altLang="zh-CN" dirty="0">
                <a:latin typeface="Times New Roman" panose="02020603050405020304" pitchFamily="18" charset="0"/>
              </a:endParaRPr>
            </a:p>
          </p:txBody>
        </p:sp>
        <p:sp>
          <p:nvSpPr>
            <p:cNvPr id="33972" name="Rectangle 201"/>
            <p:cNvSpPr/>
            <p:nvPr/>
          </p:nvSpPr>
          <p:spPr>
            <a:xfrm>
              <a:off x="3121" y="1802"/>
              <a:ext cx="32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3973" name="Rectangle 202"/>
            <p:cNvSpPr/>
            <p:nvPr/>
          </p:nvSpPr>
          <p:spPr>
            <a:xfrm>
              <a:off x="5316" y="2197"/>
              <a:ext cx="325"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3974" name="Line 203"/>
            <p:cNvSpPr/>
            <p:nvPr/>
          </p:nvSpPr>
          <p:spPr>
            <a:xfrm>
              <a:off x="5220" y="2005"/>
              <a:ext cx="2" cy="221"/>
            </a:xfrm>
            <a:prstGeom prst="line">
              <a:avLst/>
            </a:prstGeom>
            <a:ln w="0" cap="flat" cmpd="sng">
              <a:solidFill>
                <a:srgbClr val="0000FF"/>
              </a:solidFill>
              <a:prstDash val="solid"/>
              <a:headEnd type="none" w="med" len="med"/>
              <a:tailEnd type="none" w="med" len="med"/>
            </a:ln>
          </p:spPr>
        </p:sp>
        <p:sp>
          <p:nvSpPr>
            <p:cNvPr id="33975" name="Line 204"/>
            <p:cNvSpPr/>
            <p:nvPr/>
          </p:nvSpPr>
          <p:spPr>
            <a:xfrm>
              <a:off x="5220" y="2268"/>
              <a:ext cx="2" cy="203"/>
            </a:xfrm>
            <a:prstGeom prst="line">
              <a:avLst/>
            </a:prstGeom>
            <a:ln w="0" cap="flat" cmpd="sng">
              <a:solidFill>
                <a:srgbClr val="0000FF"/>
              </a:solidFill>
              <a:prstDash val="solid"/>
              <a:headEnd type="none" w="med" len="med"/>
              <a:tailEnd type="none" w="med" len="med"/>
            </a:ln>
          </p:spPr>
        </p:sp>
        <p:sp>
          <p:nvSpPr>
            <p:cNvPr id="33976" name="Line 205"/>
            <p:cNvSpPr/>
            <p:nvPr/>
          </p:nvSpPr>
          <p:spPr>
            <a:xfrm flipH="1" flipV="1">
              <a:off x="5220" y="2220"/>
              <a:ext cx="36" cy="24"/>
            </a:xfrm>
            <a:prstGeom prst="line">
              <a:avLst/>
            </a:prstGeom>
            <a:ln w="0" cap="flat" cmpd="sng">
              <a:solidFill>
                <a:srgbClr val="0000FF"/>
              </a:solidFill>
              <a:prstDash val="solid"/>
              <a:headEnd type="none" w="med" len="med"/>
              <a:tailEnd type="none" w="med" len="med"/>
            </a:ln>
          </p:spPr>
        </p:sp>
        <p:sp>
          <p:nvSpPr>
            <p:cNvPr id="33977" name="Line 206"/>
            <p:cNvSpPr/>
            <p:nvPr/>
          </p:nvSpPr>
          <p:spPr>
            <a:xfrm flipH="1">
              <a:off x="5220" y="2246"/>
              <a:ext cx="44" cy="22"/>
            </a:xfrm>
            <a:prstGeom prst="line">
              <a:avLst/>
            </a:prstGeom>
            <a:ln w="0" cap="flat" cmpd="sng">
              <a:solidFill>
                <a:srgbClr val="0000FF"/>
              </a:solidFill>
              <a:prstDash val="solid"/>
              <a:headEnd type="none" w="med" len="med"/>
              <a:tailEnd type="none" w="med" len="med"/>
            </a:ln>
          </p:spPr>
        </p:sp>
        <p:sp>
          <p:nvSpPr>
            <p:cNvPr id="33978" name="Arc 207"/>
            <p:cNvSpPr/>
            <p:nvPr/>
          </p:nvSpPr>
          <p:spPr>
            <a:xfrm>
              <a:off x="5149" y="1934"/>
              <a:ext cx="75" cy="72"/>
            </a:xfrm>
            <a:custGeom>
              <a:avLst/>
              <a:gdLst/>
              <a:ahLst/>
              <a:cxnLst>
                <a:cxn ang="0">
                  <a:pos x="0" y="0"/>
                </a:cxn>
                <a:cxn ang="0">
                  <a:pos x="0" y="0"/>
                </a:cxn>
                <a:cxn ang="0">
                  <a:pos x="0" y="0"/>
                </a:cxn>
              </a:cxnLst>
              <a:pathLst>
                <a:path w="21886" h="21600" fill="none">
                  <a:moveTo>
                    <a:pt x="-1" y="1"/>
                  </a:moveTo>
                  <a:cubicBezTo>
                    <a:pt x="95" y="0"/>
                    <a:pt x="191" y="-1"/>
                    <a:pt x="288" y="0"/>
                  </a:cubicBezTo>
                  <a:cubicBezTo>
                    <a:pt x="12098" y="0"/>
                    <a:pt x="21719" y="9486"/>
                    <a:pt x="21885" y="21296"/>
                  </a:cubicBezTo>
                </a:path>
                <a:path w="21886" h="21600" stroke="0">
                  <a:moveTo>
                    <a:pt x="-1" y="1"/>
                  </a:moveTo>
                  <a:cubicBezTo>
                    <a:pt x="95" y="0"/>
                    <a:pt x="191" y="-1"/>
                    <a:pt x="288" y="0"/>
                  </a:cubicBezTo>
                  <a:cubicBezTo>
                    <a:pt x="12098" y="0"/>
                    <a:pt x="21719" y="9486"/>
                    <a:pt x="21885" y="21296"/>
                  </a:cubicBezTo>
                  <a:lnTo>
                    <a:pt x="288" y="21600"/>
                  </a:lnTo>
                  <a:lnTo>
                    <a:pt x="-1" y="1"/>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33979" name="Arc 208"/>
            <p:cNvSpPr/>
            <p:nvPr/>
          </p:nvSpPr>
          <p:spPr>
            <a:xfrm>
              <a:off x="5176" y="2460"/>
              <a:ext cx="49" cy="96"/>
            </a:xfrm>
            <a:custGeom>
              <a:avLst/>
              <a:gdLst/>
              <a:ahLst/>
              <a:cxnLst>
                <a:cxn ang="0">
                  <a:pos x="0" y="0"/>
                </a:cxn>
                <a:cxn ang="0">
                  <a:pos x="0" y="0"/>
                </a:cxn>
                <a:cxn ang="0">
                  <a:pos x="0" y="0"/>
                </a:cxn>
              </a:cxnLst>
              <a:pathLst>
                <a:path w="21600" h="21600" fill="none">
                  <a:moveTo>
                    <a:pt x="21600" y="0"/>
                  </a:moveTo>
                  <a:cubicBezTo>
                    <a:pt x="21600" y="11929"/>
                    <a:pt x="11929" y="21599"/>
                    <a:pt x="0" y="21600"/>
                  </a:cubicBezTo>
                </a:path>
                <a:path w="21600" h="21600" stroke="0">
                  <a:moveTo>
                    <a:pt x="21600" y="0"/>
                  </a:moveTo>
                  <a:cubicBezTo>
                    <a:pt x="21600" y="11929"/>
                    <a:pt x="11929" y="21599"/>
                    <a:pt x="0" y="21600"/>
                  </a:cubicBezTo>
                  <a:lnTo>
                    <a:pt x="0" y="0"/>
                  </a:lnTo>
                  <a:lnTo>
                    <a:pt x="21600" y="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33980" name="Oval 209"/>
            <p:cNvSpPr/>
            <p:nvPr/>
          </p:nvSpPr>
          <p:spPr>
            <a:xfrm>
              <a:off x="4215" y="1495"/>
              <a:ext cx="217" cy="204"/>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3981" name="Rectangle 210"/>
            <p:cNvSpPr/>
            <p:nvPr/>
          </p:nvSpPr>
          <p:spPr>
            <a:xfrm>
              <a:off x="4207" y="1485"/>
              <a:ext cx="241" cy="130"/>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33982" name="Rectangle 211"/>
            <p:cNvSpPr/>
            <p:nvPr/>
          </p:nvSpPr>
          <p:spPr>
            <a:xfrm>
              <a:off x="4223" y="1611"/>
              <a:ext cx="201" cy="16"/>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33983" name="Rectangle 212"/>
            <p:cNvSpPr/>
            <p:nvPr/>
          </p:nvSpPr>
          <p:spPr>
            <a:xfrm>
              <a:off x="3483" y="2304"/>
              <a:ext cx="92" cy="207"/>
            </a:xfrm>
            <a:prstGeom prst="rect">
              <a:avLst/>
            </a:prstGeom>
            <a:noFill/>
            <a:ln w="9525">
              <a:noFill/>
            </a:ln>
          </p:spPr>
          <p:txBody>
            <a:bodyPr wrap="none" lIns="0" tIns="0" rIns="0" bIns="0">
              <a:spAutoFit/>
            </a:bodyPr>
            <a:p>
              <a:pPr eaLnBrk="1" hangingPunct="1">
                <a:lnSpc>
                  <a:spcPct val="90000"/>
                </a:lnSpc>
              </a:pPr>
              <a:r>
                <a:rPr lang="en-US" altLang="zh-CN" sz="24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3984" name="Rectangle 213"/>
            <p:cNvSpPr/>
            <p:nvPr/>
          </p:nvSpPr>
          <p:spPr>
            <a:xfrm>
              <a:off x="3483" y="1724"/>
              <a:ext cx="92" cy="207"/>
            </a:xfrm>
            <a:prstGeom prst="rect">
              <a:avLst/>
            </a:prstGeom>
            <a:noFill/>
            <a:ln w="9525">
              <a:noFill/>
            </a:ln>
          </p:spPr>
          <p:txBody>
            <a:bodyPr wrap="none" lIns="0" tIns="0" rIns="0" bIns="0">
              <a:spAutoFit/>
            </a:bodyPr>
            <a:p>
              <a:pPr eaLnBrk="1" hangingPunct="1">
                <a:lnSpc>
                  <a:spcPct val="90000"/>
                </a:lnSpc>
              </a:pPr>
              <a:r>
                <a:rPr lang="en-US" altLang="zh-CN" sz="24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3985" name="Line 214"/>
            <p:cNvSpPr/>
            <p:nvPr/>
          </p:nvSpPr>
          <p:spPr>
            <a:xfrm>
              <a:off x="930" y="1356"/>
              <a:ext cx="219" cy="1"/>
            </a:xfrm>
            <a:prstGeom prst="line">
              <a:avLst/>
            </a:prstGeom>
            <a:ln w="0" cap="flat" cmpd="sng">
              <a:solidFill>
                <a:srgbClr val="0000FF"/>
              </a:solidFill>
              <a:prstDash val="solid"/>
              <a:headEnd type="none" w="med" len="med"/>
              <a:tailEnd type="none" w="med" len="med"/>
            </a:ln>
          </p:spPr>
        </p:sp>
        <p:sp>
          <p:nvSpPr>
            <p:cNvPr id="33986" name="Line 215"/>
            <p:cNvSpPr/>
            <p:nvPr/>
          </p:nvSpPr>
          <p:spPr>
            <a:xfrm>
              <a:off x="3483" y="2635"/>
              <a:ext cx="233" cy="1"/>
            </a:xfrm>
            <a:prstGeom prst="line">
              <a:avLst/>
            </a:prstGeom>
            <a:ln w="0" cap="flat" cmpd="sng">
              <a:solidFill>
                <a:srgbClr val="0000FF"/>
              </a:solidFill>
              <a:prstDash val="solid"/>
              <a:headEnd type="none" w="med" len="med"/>
              <a:tailEnd type="none" w="med" len="med"/>
            </a:ln>
          </p:spPr>
        </p:sp>
        <p:sp>
          <p:nvSpPr>
            <p:cNvPr id="33987" name="Line 216"/>
            <p:cNvSpPr/>
            <p:nvPr/>
          </p:nvSpPr>
          <p:spPr>
            <a:xfrm>
              <a:off x="1425" y="1571"/>
              <a:ext cx="1" cy="195"/>
            </a:xfrm>
            <a:prstGeom prst="line">
              <a:avLst/>
            </a:prstGeom>
            <a:ln w="0" cap="flat" cmpd="sng">
              <a:solidFill>
                <a:srgbClr val="0000FF"/>
              </a:solidFill>
              <a:prstDash val="solid"/>
              <a:headEnd type="none" w="med" len="med"/>
              <a:tailEnd type="none" w="med" len="med"/>
            </a:ln>
          </p:spPr>
        </p:sp>
        <p:sp>
          <p:nvSpPr>
            <p:cNvPr id="33988" name="Line 217"/>
            <p:cNvSpPr/>
            <p:nvPr/>
          </p:nvSpPr>
          <p:spPr>
            <a:xfrm>
              <a:off x="2197" y="1575"/>
              <a:ext cx="1" cy="191"/>
            </a:xfrm>
            <a:prstGeom prst="line">
              <a:avLst/>
            </a:prstGeom>
            <a:ln w="0" cap="flat" cmpd="sng">
              <a:solidFill>
                <a:srgbClr val="0000FF"/>
              </a:solidFill>
              <a:prstDash val="solid"/>
              <a:headEnd type="none" w="med" len="med"/>
              <a:tailEnd type="none" w="med" len="med"/>
            </a:ln>
          </p:spPr>
        </p:sp>
        <p:sp>
          <p:nvSpPr>
            <p:cNvPr id="33989" name="Line 218"/>
            <p:cNvSpPr/>
            <p:nvPr/>
          </p:nvSpPr>
          <p:spPr>
            <a:xfrm>
              <a:off x="1813" y="1559"/>
              <a:ext cx="1" cy="207"/>
            </a:xfrm>
            <a:prstGeom prst="line">
              <a:avLst/>
            </a:prstGeom>
            <a:ln w="0" cap="flat" cmpd="sng">
              <a:solidFill>
                <a:srgbClr val="0000FF"/>
              </a:solidFill>
              <a:prstDash val="solid"/>
              <a:headEnd type="none" w="med" len="med"/>
              <a:tailEnd type="none" w="med" len="med"/>
            </a:ln>
          </p:spPr>
        </p:sp>
        <p:sp>
          <p:nvSpPr>
            <p:cNvPr id="33990" name="Line 219"/>
            <p:cNvSpPr/>
            <p:nvPr/>
          </p:nvSpPr>
          <p:spPr>
            <a:xfrm>
              <a:off x="1033" y="2049"/>
              <a:ext cx="1" cy="195"/>
            </a:xfrm>
            <a:prstGeom prst="line">
              <a:avLst/>
            </a:prstGeom>
            <a:ln w="0" cap="flat" cmpd="sng">
              <a:solidFill>
                <a:srgbClr val="0000FF"/>
              </a:solidFill>
              <a:prstDash val="solid"/>
              <a:headEnd type="none" w="med" len="med"/>
              <a:tailEnd type="none" w="med" len="med"/>
            </a:ln>
          </p:spPr>
        </p:sp>
        <p:sp>
          <p:nvSpPr>
            <p:cNvPr id="33991" name="Line 220"/>
            <p:cNvSpPr/>
            <p:nvPr/>
          </p:nvSpPr>
          <p:spPr>
            <a:xfrm>
              <a:off x="1220" y="2049"/>
              <a:ext cx="1" cy="195"/>
            </a:xfrm>
            <a:prstGeom prst="line">
              <a:avLst/>
            </a:prstGeom>
            <a:ln w="0" cap="flat" cmpd="sng">
              <a:solidFill>
                <a:srgbClr val="0000FF"/>
              </a:solidFill>
              <a:prstDash val="solid"/>
              <a:headEnd type="none" w="med" len="med"/>
              <a:tailEnd type="none" w="med" len="med"/>
            </a:ln>
          </p:spPr>
        </p:sp>
        <p:sp>
          <p:nvSpPr>
            <p:cNvPr id="33992" name="Line 221"/>
            <p:cNvSpPr/>
            <p:nvPr/>
          </p:nvSpPr>
          <p:spPr>
            <a:xfrm>
              <a:off x="1419" y="2049"/>
              <a:ext cx="1" cy="191"/>
            </a:xfrm>
            <a:prstGeom prst="line">
              <a:avLst/>
            </a:prstGeom>
            <a:ln w="0" cap="flat" cmpd="sng">
              <a:solidFill>
                <a:srgbClr val="0000FF"/>
              </a:solidFill>
              <a:prstDash val="solid"/>
              <a:headEnd type="none" w="med" len="med"/>
              <a:tailEnd type="none" w="med" len="med"/>
            </a:ln>
          </p:spPr>
        </p:sp>
        <p:sp>
          <p:nvSpPr>
            <p:cNvPr id="33993" name="Line 222"/>
            <p:cNvSpPr/>
            <p:nvPr/>
          </p:nvSpPr>
          <p:spPr>
            <a:xfrm>
              <a:off x="1801" y="2049"/>
              <a:ext cx="1" cy="195"/>
            </a:xfrm>
            <a:prstGeom prst="line">
              <a:avLst/>
            </a:prstGeom>
            <a:ln w="0" cap="flat" cmpd="sng">
              <a:solidFill>
                <a:srgbClr val="0000FF"/>
              </a:solidFill>
              <a:prstDash val="solid"/>
              <a:headEnd type="none" w="med" len="med"/>
              <a:tailEnd type="none" w="med" len="med"/>
            </a:ln>
          </p:spPr>
        </p:sp>
        <p:sp>
          <p:nvSpPr>
            <p:cNvPr id="33994" name="Line 223"/>
            <p:cNvSpPr/>
            <p:nvPr/>
          </p:nvSpPr>
          <p:spPr>
            <a:xfrm>
              <a:off x="1998" y="2049"/>
              <a:ext cx="1" cy="195"/>
            </a:xfrm>
            <a:prstGeom prst="line">
              <a:avLst/>
            </a:prstGeom>
            <a:ln w="0" cap="flat" cmpd="sng">
              <a:solidFill>
                <a:srgbClr val="0000FF"/>
              </a:solidFill>
              <a:prstDash val="solid"/>
              <a:headEnd type="none" w="med" len="med"/>
              <a:tailEnd type="none" w="med" len="med"/>
            </a:ln>
          </p:spPr>
        </p:sp>
        <p:sp>
          <p:nvSpPr>
            <p:cNvPr id="33995" name="Line 224"/>
            <p:cNvSpPr/>
            <p:nvPr/>
          </p:nvSpPr>
          <p:spPr>
            <a:xfrm>
              <a:off x="2172" y="2049"/>
              <a:ext cx="1" cy="195"/>
            </a:xfrm>
            <a:prstGeom prst="line">
              <a:avLst/>
            </a:prstGeom>
            <a:ln w="0" cap="flat" cmpd="sng">
              <a:solidFill>
                <a:srgbClr val="0000FF"/>
              </a:solidFill>
              <a:prstDash val="solid"/>
              <a:headEnd type="none" w="med" len="med"/>
              <a:tailEnd type="none" w="med" len="med"/>
            </a:ln>
          </p:spPr>
        </p:sp>
        <p:sp>
          <p:nvSpPr>
            <p:cNvPr id="33996" name="Line 225"/>
            <p:cNvSpPr/>
            <p:nvPr/>
          </p:nvSpPr>
          <p:spPr>
            <a:xfrm>
              <a:off x="2349" y="2049"/>
              <a:ext cx="1" cy="195"/>
            </a:xfrm>
            <a:prstGeom prst="line">
              <a:avLst/>
            </a:prstGeom>
            <a:ln w="0" cap="flat" cmpd="sng">
              <a:solidFill>
                <a:srgbClr val="0000FF"/>
              </a:solidFill>
              <a:prstDash val="solid"/>
              <a:headEnd type="none" w="med" len="med"/>
              <a:tailEnd type="none" w="med" len="med"/>
            </a:ln>
          </p:spPr>
        </p:sp>
        <p:sp>
          <p:nvSpPr>
            <p:cNvPr id="33997" name="Rectangle 226"/>
            <p:cNvSpPr/>
            <p:nvPr/>
          </p:nvSpPr>
          <p:spPr>
            <a:xfrm>
              <a:off x="2009" y="3553"/>
              <a:ext cx="2091" cy="174"/>
            </a:xfrm>
            <a:prstGeom prst="rect">
              <a:avLst/>
            </a:prstGeom>
            <a:noFill/>
            <a:ln w="9525">
              <a:noFill/>
            </a:ln>
          </p:spPr>
          <p:txBody>
            <a:bodyPr wrap="none" lIns="0" tIns="0" rIns="0" bIns="0">
              <a:spAutoFit/>
            </a:bodyPr>
            <a:p>
              <a:pPr eaLnBrk="1" hangingPunct="1">
                <a:lnSpc>
                  <a:spcPct val="90000"/>
                </a:lnSpc>
              </a:pPr>
              <a:r>
                <a:rPr lang="en-US" altLang="zh-CN" sz="2000" dirty="0">
                  <a:solidFill>
                    <a:srgbClr val="000080"/>
                  </a:solidFill>
                  <a:latin typeface="楷体_GB2312" pitchFamily="49" charset="-122"/>
                </a:rPr>
                <a:t>CD4051</a:t>
              </a:r>
              <a:r>
                <a:rPr lang="zh-CN" altLang="en-US" sz="2000" dirty="0">
                  <a:solidFill>
                    <a:srgbClr val="000080"/>
                  </a:solidFill>
                  <a:latin typeface="楷体_GB2312" pitchFamily="49" charset="-122"/>
                </a:rPr>
                <a:t>芯片结构及引脚功能</a:t>
              </a:r>
              <a:endParaRPr lang="zh-CN" altLang="en-US" dirty="0">
                <a:latin typeface="Times New Roman" panose="02020603050405020304" pitchFamily="18" charset="0"/>
              </a:endParaRPr>
            </a:p>
          </p:txBody>
        </p:sp>
      </p:grpSp>
      <p:sp>
        <p:nvSpPr>
          <p:cNvPr id="2331879" name="Text Box 231"/>
          <p:cNvSpPr txBox="1"/>
          <p:nvPr/>
        </p:nvSpPr>
        <p:spPr>
          <a:xfrm>
            <a:off x="5426075" y="777875"/>
            <a:ext cx="2008188" cy="584200"/>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3. CD4051</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331880" name="Text Box 232"/>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3798"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pic>
        <p:nvPicPr>
          <p:cNvPr id="25826" name="Picture 226" descr="CD4051BCH"/>
          <p:cNvPicPr>
            <a:picLocks noChangeAspect="1"/>
          </p:cNvPicPr>
          <p:nvPr/>
        </p:nvPicPr>
        <p:blipFill>
          <a:blip r:embed="rId1">
            <a:lum contrast="18000"/>
          </a:blip>
          <a:stretch>
            <a:fillRect/>
          </a:stretch>
        </p:blipFill>
        <p:spPr>
          <a:xfrm>
            <a:off x="5249863" y="2560638"/>
            <a:ext cx="3024187" cy="2941637"/>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1879"/>
                                        </p:tgtEl>
                                        <p:attrNameLst>
                                          <p:attrName>style.visibility</p:attrName>
                                        </p:attrNameLst>
                                      </p:cBhvr>
                                      <p:to>
                                        <p:strVal val="visible"/>
                                      </p:to>
                                    </p:set>
                                    <p:animEffect transition="in" filter="dissolve">
                                      <p:cBhvr>
                                        <p:cTn id="7" dur="500"/>
                                        <p:tgtEl>
                                          <p:spTgt spid="233187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1656"/>
                                        </p:tgtEl>
                                        <p:attrNameLst>
                                          <p:attrName>style.visibility</p:attrName>
                                        </p:attrNameLst>
                                      </p:cBhvr>
                                      <p:to>
                                        <p:strVal val="visible"/>
                                      </p:to>
                                    </p:set>
                                    <p:animEffect transition="in" filter="dissolve">
                                      <p:cBhvr>
                                        <p:cTn id="12" dur="500"/>
                                        <p:tgtEl>
                                          <p:spTgt spid="23316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1881"/>
                                        </p:tgtEl>
                                        <p:attrNameLst>
                                          <p:attrName>style.visibility</p:attrName>
                                        </p:attrNameLst>
                                      </p:cBhvr>
                                      <p:to>
                                        <p:strVal val="visible"/>
                                      </p:to>
                                    </p:set>
                                    <p:animEffect transition="in" filter="dissolve">
                                      <p:cBhvr>
                                        <p:cTn id="17" dur="500"/>
                                        <p:tgtEl>
                                          <p:spTgt spid="2331881"/>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nodeType="clickEffect">
                                  <p:stCondLst>
                                    <p:cond delay="0"/>
                                  </p:stCondLst>
                                  <p:iterate type="lt">
                                    <p:tmPct val="5000"/>
                                  </p:iterate>
                                  <p:childTnLst>
                                    <p:set>
                                      <p:cBhvr>
                                        <p:cTn id="21" dur="1" fill="hold">
                                          <p:stCondLst>
                                            <p:cond delay="0"/>
                                          </p:stCondLst>
                                        </p:cTn>
                                        <p:tgtEl>
                                          <p:spTgt spid="25826"/>
                                        </p:tgtEl>
                                        <p:attrNameLst>
                                          <p:attrName>style.visibility</p:attrName>
                                        </p:attrNameLst>
                                      </p:cBhvr>
                                      <p:to>
                                        <p:strVal val="visible"/>
                                      </p:to>
                                    </p:set>
                                    <p:anim calcmode="lin" valueType="num">
                                      <p:cBhvr>
                                        <p:cTn id="22" dur="1000" fill="hold"/>
                                        <p:tgtEl>
                                          <p:spTgt spid="25826"/>
                                        </p:tgtEl>
                                        <p:attrNameLst>
                                          <p:attrName>ppt_w</p:attrName>
                                        </p:attrNameLst>
                                      </p:cBhvr>
                                      <p:tavLst>
                                        <p:tav tm="0">
                                          <p:val>
                                            <p:fltVal val="0.000000"/>
                                          </p:val>
                                        </p:tav>
                                        <p:tav tm="100000">
                                          <p:val>
                                            <p:strVal val="#ppt_w"/>
                                          </p:val>
                                        </p:tav>
                                      </p:tavLst>
                                    </p:anim>
                                    <p:anim calcmode="lin" valueType="num">
                                      <p:cBhvr>
                                        <p:cTn id="23" dur="1000" fill="hold"/>
                                        <p:tgtEl>
                                          <p:spTgt spid="25826"/>
                                        </p:tgtEl>
                                        <p:attrNameLst>
                                          <p:attrName>ppt_h</p:attrName>
                                        </p:attrNameLst>
                                      </p:cBhvr>
                                      <p:tavLst>
                                        <p:tav tm="0">
                                          <p:val>
                                            <p:fltVal val="0.000000"/>
                                          </p:val>
                                        </p:tav>
                                        <p:tav tm="100000">
                                          <p:val>
                                            <p:strVal val="#ppt_h"/>
                                          </p:val>
                                        </p:tav>
                                      </p:tavLst>
                                    </p:anim>
                                    <p:anim calcmode="lin" valueType="num">
                                      <p:cBhvr>
                                        <p:cTn id="24" dur="1000" fill="hold"/>
                                        <p:tgtEl>
                                          <p:spTgt spid="25826"/>
                                        </p:tgtEl>
                                        <p:attrNameLst>
                                          <p:attrName>style.rotation</p:attrName>
                                        </p:attrNameLst>
                                      </p:cBhvr>
                                      <p:tavLst>
                                        <p:tav tm="0">
                                          <p:val>
                                            <p:fltVal val="90.000000"/>
                                          </p:val>
                                        </p:tav>
                                        <p:tav tm="100000">
                                          <p:val>
                                            <p:fltVal val="0.000000"/>
                                          </p:val>
                                        </p:tav>
                                      </p:tavLst>
                                    </p:anim>
                                    <p:animEffect transition="in" filter="fade">
                                      <p:cBhvr>
                                        <p:cTn id="25" dur="1000"/>
                                        <p:tgtEl>
                                          <p:spTgt spid="258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1656" grpId="0" animBg="1"/>
      <p:bldP spid="2331879"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2682" name="Text Box 10"/>
          <p:cNvSpPr txBox="1"/>
          <p:nvPr/>
        </p:nvSpPr>
        <p:spPr>
          <a:xfrm>
            <a:off x="3314700" y="5327650"/>
            <a:ext cx="2589213" cy="523875"/>
          </a:xfrm>
          <a:prstGeom prst="rect">
            <a:avLst/>
          </a:prstGeom>
          <a:noFill/>
          <a:ln w="9525">
            <a:noFill/>
          </a:ln>
        </p:spPr>
        <p:txBody>
          <a:bodyPr wrap="none">
            <a:spAutoFit/>
          </a:bodyPr>
          <a:p>
            <a:pPr eaLnBrk="1" hangingPunct="1"/>
            <a:r>
              <a:rPr lang="en-US" altLang="zh-CN" sz="2800" dirty="0">
                <a:latin typeface="Times New Roman" panose="02020603050405020304" pitchFamily="18" charset="0"/>
                <a:ea typeface="宋体" panose="02010600030101010101" pitchFamily="2" charset="-122"/>
              </a:rPr>
              <a:t>CD4051</a:t>
            </a:r>
            <a:r>
              <a:rPr lang="zh-CN" altLang="en-US" sz="2800" dirty="0">
                <a:latin typeface="Times New Roman" panose="02020603050405020304" pitchFamily="18" charset="0"/>
              </a:rPr>
              <a:t>真值表</a:t>
            </a:r>
            <a:r>
              <a:rPr lang="zh-CN" altLang="en-US" sz="2800" dirty="0">
                <a:latin typeface="Times New Roman" panose="02020603050405020304" pitchFamily="18" charset="0"/>
                <a:ea typeface="宋体" panose="02010600030101010101" pitchFamily="2" charset="-122"/>
              </a:rPr>
              <a:t> </a:t>
            </a:r>
            <a:endParaRPr lang="zh-CN" altLang="en-US" sz="2800" dirty="0">
              <a:latin typeface="Times New Roman" panose="02020603050405020304" pitchFamily="18" charset="0"/>
              <a:ea typeface="宋体" panose="02010600030101010101" pitchFamily="2" charset="-122"/>
            </a:endParaRPr>
          </a:p>
        </p:txBody>
      </p:sp>
      <p:graphicFrame>
        <p:nvGraphicFramePr>
          <p:cNvPr id="2348052" name="Group 1044"/>
          <p:cNvGraphicFramePr>
            <a:graphicFrameLocks noGrp="1"/>
          </p:cNvGraphicFramePr>
          <p:nvPr/>
        </p:nvGraphicFramePr>
        <p:xfrm>
          <a:off x="584200" y="1979613"/>
          <a:ext cx="7996238" cy="3248025"/>
        </p:xfrm>
        <a:graphic>
          <a:graphicData uri="http://schemas.openxmlformats.org/drawingml/2006/table">
            <a:tbl>
              <a:tblPr/>
              <a:tblGrid>
                <a:gridCol w="1598613"/>
                <a:gridCol w="1598612"/>
                <a:gridCol w="1601788"/>
                <a:gridCol w="1598612"/>
                <a:gridCol w="1598613"/>
              </a:tblGrid>
              <a:tr h="468274">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C</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B</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INH</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导通</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779751">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4</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6</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7</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S</a:t>
                      </a:r>
                      <a:r>
                        <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8</a:t>
                      </a:r>
                      <a:endParaRPr kumimoji="0" lang="en-US" altLang="zh-CN" sz="18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无</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17" marB="4571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348072" name="Line 1064"/>
          <p:cNvSpPr/>
          <p:nvPr/>
        </p:nvSpPr>
        <p:spPr>
          <a:xfrm>
            <a:off x="5989638" y="2084388"/>
            <a:ext cx="371475" cy="0"/>
          </a:xfrm>
          <a:prstGeom prst="line">
            <a:avLst/>
          </a:prstGeom>
          <a:ln w="28575" cap="flat" cmpd="sng">
            <a:solidFill>
              <a:srgbClr val="003366"/>
            </a:solidFill>
            <a:prstDash val="solid"/>
            <a:headEnd type="none" w="med" len="med"/>
            <a:tailEnd type="none" w="med" len="med"/>
          </a:ln>
        </p:spPr>
      </p:sp>
      <p:sp>
        <p:nvSpPr>
          <p:cNvPr id="34840" name="Text Box 1066"/>
          <p:cNvSpPr txBox="1"/>
          <p:nvPr/>
        </p:nvSpPr>
        <p:spPr>
          <a:xfrm>
            <a:off x="854075" y="1330325"/>
            <a:ext cx="2008188" cy="584200"/>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3. CD4051</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348075" name="Text Box 1067"/>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4842"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2682"/>
                                        </p:tgtEl>
                                        <p:attrNameLst>
                                          <p:attrName>style.visibility</p:attrName>
                                        </p:attrNameLst>
                                      </p:cBhvr>
                                      <p:to>
                                        <p:strVal val="visible"/>
                                      </p:to>
                                    </p:set>
                                    <p:animEffect transition="in" filter="dissolve">
                                      <p:cBhvr>
                                        <p:cTn id="7" dur="500"/>
                                        <p:tgtEl>
                                          <p:spTgt spid="2332682"/>
                                        </p:tgtEl>
                                      </p:cBhvr>
                                    </p:animEffect>
                                  </p:childTnLst>
                                </p:cTn>
                              </p:par>
                              <p:par>
                                <p:cTn id="8" presetID="9" presetClass="entr" presetSubtype="0" fill="hold" nodeType="withEffect">
                                  <p:stCondLst>
                                    <p:cond delay="0"/>
                                  </p:stCondLst>
                                  <p:childTnLst>
                                    <p:set>
                                      <p:cBhvr>
                                        <p:cTn id="9" dur="1" fill="hold">
                                          <p:stCondLst>
                                            <p:cond delay="0"/>
                                          </p:stCondLst>
                                        </p:cTn>
                                        <p:tgtEl>
                                          <p:spTgt spid="2348052"/>
                                        </p:tgtEl>
                                        <p:attrNameLst>
                                          <p:attrName>style.visibility</p:attrName>
                                        </p:attrNameLst>
                                      </p:cBhvr>
                                      <p:to>
                                        <p:strVal val="visible"/>
                                      </p:to>
                                    </p:set>
                                    <p:animEffect transition="in" filter="dissolve">
                                      <p:cBhvr>
                                        <p:cTn id="10" dur="500"/>
                                        <p:tgtEl>
                                          <p:spTgt spid="2348052"/>
                                        </p:tgtEl>
                                      </p:cBhvr>
                                    </p:animEffect>
                                  </p:childTnLst>
                                </p:cTn>
                              </p:par>
                              <p:par>
                                <p:cTn id="11" presetID="9" presetClass="entr" presetSubtype="0" fill="hold" nodeType="withEffect">
                                  <p:stCondLst>
                                    <p:cond delay="0"/>
                                  </p:stCondLst>
                                  <p:childTnLst>
                                    <p:set>
                                      <p:cBhvr>
                                        <p:cTn id="12" dur="1" fill="hold">
                                          <p:stCondLst>
                                            <p:cond delay="0"/>
                                          </p:stCondLst>
                                        </p:cTn>
                                        <p:tgtEl>
                                          <p:spTgt spid="2348072"/>
                                        </p:tgtEl>
                                        <p:attrNameLst>
                                          <p:attrName>style.visibility</p:attrName>
                                        </p:attrNameLst>
                                      </p:cBhvr>
                                      <p:to>
                                        <p:strVal val="visible"/>
                                      </p:to>
                                    </p:set>
                                    <p:animEffect transition="in" filter="dissolve">
                                      <p:cBhvr>
                                        <p:cTn id="13" dur="500"/>
                                        <p:tgtEl>
                                          <p:spTgt spid="23480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2682"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5759" name="Text Box 1039"/>
          <p:cNvSpPr txBox="1"/>
          <p:nvPr/>
        </p:nvSpPr>
        <p:spPr>
          <a:xfrm>
            <a:off x="854075" y="1274763"/>
            <a:ext cx="2008188" cy="584200"/>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4. CD4052</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335760" name="Text Box 1040"/>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35966" name="Group 1246"/>
          <p:cNvGrpSpPr/>
          <p:nvPr/>
        </p:nvGrpSpPr>
        <p:grpSpPr>
          <a:xfrm>
            <a:off x="234950" y="1830388"/>
            <a:ext cx="8661400" cy="4375150"/>
            <a:chOff x="148" y="1153"/>
            <a:chExt cx="5456" cy="2756"/>
          </a:xfrm>
        </p:grpSpPr>
        <p:sp>
          <p:nvSpPr>
            <p:cNvPr id="35848" name="AutoShape 1041"/>
            <p:cNvSpPr>
              <a:spLocks noChangeAspect="1" noTextEdit="1"/>
            </p:cNvSpPr>
            <p:nvPr/>
          </p:nvSpPr>
          <p:spPr>
            <a:xfrm>
              <a:off x="148" y="1153"/>
              <a:ext cx="5456" cy="2756"/>
            </a:xfrm>
            <a:prstGeom prst="rect">
              <a:avLst/>
            </a:prstGeom>
            <a:solidFill>
              <a:srgbClr val="FFFF99"/>
            </a:solidFill>
            <a:ln w="9525">
              <a:noFill/>
            </a:ln>
          </p:spPr>
          <p:txBody>
            <a:bodyPr/>
            <a:p>
              <a:endParaRPr lang="zh-CN" altLang="en-US"/>
            </a:p>
          </p:txBody>
        </p:sp>
        <p:sp>
          <p:nvSpPr>
            <p:cNvPr id="35849" name="Rectangle 1043"/>
            <p:cNvSpPr/>
            <p:nvPr/>
          </p:nvSpPr>
          <p:spPr>
            <a:xfrm>
              <a:off x="649" y="1519"/>
              <a:ext cx="2442" cy="1960"/>
            </a:xfrm>
            <a:prstGeom prst="rect">
              <a:avLst/>
            </a:prstGeom>
            <a:noFill/>
            <a:ln w="0" cap="flat" cmpd="sng">
              <a:solidFill>
                <a:srgbClr val="0000FF"/>
              </a:solidFill>
              <a:prstDash val="sysDot"/>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50" name="Line 1044"/>
            <p:cNvSpPr/>
            <p:nvPr/>
          </p:nvSpPr>
          <p:spPr>
            <a:xfrm>
              <a:off x="483" y="1706"/>
              <a:ext cx="166" cy="1"/>
            </a:xfrm>
            <a:prstGeom prst="line">
              <a:avLst/>
            </a:prstGeom>
            <a:ln w="0" cap="flat" cmpd="sng">
              <a:solidFill>
                <a:srgbClr val="0000FF"/>
              </a:solidFill>
              <a:prstDash val="solid"/>
              <a:headEnd type="none" w="med" len="med"/>
              <a:tailEnd type="none" w="med" len="med"/>
            </a:ln>
          </p:spPr>
        </p:sp>
        <p:sp>
          <p:nvSpPr>
            <p:cNvPr id="35851" name="Line 1045"/>
            <p:cNvSpPr/>
            <p:nvPr/>
          </p:nvSpPr>
          <p:spPr>
            <a:xfrm>
              <a:off x="483" y="2196"/>
              <a:ext cx="166" cy="1"/>
            </a:xfrm>
            <a:prstGeom prst="line">
              <a:avLst/>
            </a:prstGeom>
            <a:ln w="0" cap="flat" cmpd="sng">
              <a:solidFill>
                <a:srgbClr val="0000FF"/>
              </a:solidFill>
              <a:prstDash val="solid"/>
              <a:headEnd type="none" w="med" len="med"/>
              <a:tailEnd type="none" w="med" len="med"/>
            </a:ln>
          </p:spPr>
        </p:sp>
        <p:sp>
          <p:nvSpPr>
            <p:cNvPr id="35852" name="Oval 1046"/>
            <p:cNvSpPr/>
            <p:nvPr/>
          </p:nvSpPr>
          <p:spPr>
            <a:xfrm>
              <a:off x="428" y="1682"/>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53" name="Oval 1047"/>
            <p:cNvSpPr/>
            <p:nvPr/>
          </p:nvSpPr>
          <p:spPr>
            <a:xfrm>
              <a:off x="428" y="217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54" name="Oval 1048"/>
            <p:cNvSpPr/>
            <p:nvPr/>
          </p:nvSpPr>
          <p:spPr>
            <a:xfrm>
              <a:off x="428" y="259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55" name="Rectangle 1049"/>
            <p:cNvSpPr/>
            <p:nvPr/>
          </p:nvSpPr>
          <p:spPr>
            <a:xfrm>
              <a:off x="207" y="1531"/>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5856" name="Rectangle 1050"/>
            <p:cNvSpPr/>
            <p:nvPr/>
          </p:nvSpPr>
          <p:spPr>
            <a:xfrm>
              <a:off x="284" y="1577"/>
              <a:ext cx="13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sp>
          <p:nvSpPr>
            <p:cNvPr id="35857" name="Rectangle 1051"/>
            <p:cNvSpPr/>
            <p:nvPr/>
          </p:nvSpPr>
          <p:spPr>
            <a:xfrm>
              <a:off x="185" y="2664"/>
              <a:ext cx="261"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5858" name="Rectangle 1052"/>
            <p:cNvSpPr/>
            <p:nvPr/>
          </p:nvSpPr>
          <p:spPr>
            <a:xfrm>
              <a:off x="163" y="1741"/>
              <a:ext cx="28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(+15V)</a:t>
              </a:r>
              <a:endParaRPr lang="en-US" altLang="zh-CN" dirty="0">
                <a:latin typeface="Times New Roman" panose="02020603050405020304" pitchFamily="18" charset="0"/>
              </a:endParaRPr>
            </a:p>
          </p:txBody>
        </p:sp>
        <p:sp>
          <p:nvSpPr>
            <p:cNvPr id="35859" name="Rectangle 1053"/>
            <p:cNvSpPr/>
            <p:nvPr/>
          </p:nvSpPr>
          <p:spPr>
            <a:xfrm>
              <a:off x="262" y="2138"/>
              <a:ext cx="128"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地</a:t>
              </a:r>
              <a:endParaRPr lang="zh-CN" altLang="en-US" dirty="0">
                <a:latin typeface="Times New Roman" panose="02020603050405020304" pitchFamily="18" charset="0"/>
              </a:endParaRPr>
            </a:p>
          </p:txBody>
        </p:sp>
        <p:grpSp>
          <p:nvGrpSpPr>
            <p:cNvPr id="35860" name="Group 1056"/>
            <p:cNvGrpSpPr/>
            <p:nvPr/>
          </p:nvGrpSpPr>
          <p:grpSpPr>
            <a:xfrm>
              <a:off x="207" y="2465"/>
              <a:ext cx="195" cy="151"/>
              <a:chOff x="217" y="2360"/>
              <a:chExt cx="195" cy="151"/>
            </a:xfrm>
          </p:grpSpPr>
          <p:sp>
            <p:nvSpPr>
              <p:cNvPr id="36049" name="Rectangle 1054"/>
              <p:cNvSpPr/>
              <p:nvPr/>
            </p:nvSpPr>
            <p:spPr>
              <a:xfrm>
                <a:off x="217" y="2360"/>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6050" name="Rectangle 1055"/>
              <p:cNvSpPr/>
              <p:nvPr/>
            </p:nvSpPr>
            <p:spPr>
              <a:xfrm>
                <a:off x="294" y="2407"/>
                <a:ext cx="11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EE</a:t>
                </a:r>
                <a:endParaRPr lang="en-US" altLang="zh-CN" dirty="0">
                  <a:latin typeface="Times New Roman" panose="02020603050405020304" pitchFamily="18" charset="0"/>
                </a:endParaRPr>
              </a:p>
            </p:txBody>
          </p:sp>
        </p:grpSp>
        <p:sp>
          <p:nvSpPr>
            <p:cNvPr id="35861" name="Rectangle 1057"/>
            <p:cNvSpPr/>
            <p:nvPr/>
          </p:nvSpPr>
          <p:spPr>
            <a:xfrm>
              <a:off x="538" y="208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5862" name="Rectangle 1058"/>
            <p:cNvSpPr/>
            <p:nvPr/>
          </p:nvSpPr>
          <p:spPr>
            <a:xfrm>
              <a:off x="1610" y="351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35863" name="Rectangle 1059"/>
            <p:cNvSpPr/>
            <p:nvPr/>
          </p:nvSpPr>
          <p:spPr>
            <a:xfrm>
              <a:off x="516" y="158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sp>
          <p:nvSpPr>
            <p:cNvPr id="35864" name="Rectangle 1060"/>
            <p:cNvSpPr/>
            <p:nvPr/>
          </p:nvSpPr>
          <p:spPr>
            <a:xfrm>
              <a:off x="1897" y="351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5865" name="Rectangle 1061"/>
            <p:cNvSpPr/>
            <p:nvPr/>
          </p:nvSpPr>
          <p:spPr>
            <a:xfrm>
              <a:off x="2428" y="351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5866" name="Rectangle 1062"/>
            <p:cNvSpPr/>
            <p:nvPr/>
          </p:nvSpPr>
          <p:spPr>
            <a:xfrm>
              <a:off x="2626" y="137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5867" name="Rectangle 1063"/>
            <p:cNvSpPr/>
            <p:nvPr/>
          </p:nvSpPr>
          <p:spPr>
            <a:xfrm>
              <a:off x="2682" y="351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5868" name="Rectangle 1064"/>
            <p:cNvSpPr/>
            <p:nvPr/>
          </p:nvSpPr>
          <p:spPr>
            <a:xfrm>
              <a:off x="2162" y="351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5869" name="Rectangle 1065"/>
            <p:cNvSpPr/>
            <p:nvPr/>
          </p:nvSpPr>
          <p:spPr>
            <a:xfrm>
              <a:off x="549" y="248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5870" name="Rectangle 1066"/>
            <p:cNvSpPr/>
            <p:nvPr/>
          </p:nvSpPr>
          <p:spPr>
            <a:xfrm>
              <a:off x="792" y="351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35871" name="Rectangle 1067"/>
            <p:cNvSpPr/>
            <p:nvPr/>
          </p:nvSpPr>
          <p:spPr>
            <a:xfrm>
              <a:off x="1113" y="139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35872" name="Rectangle 1068"/>
            <p:cNvSpPr/>
            <p:nvPr/>
          </p:nvSpPr>
          <p:spPr>
            <a:xfrm>
              <a:off x="1058" y="351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5873" name="Rectangle 1069"/>
            <p:cNvSpPr/>
            <p:nvPr/>
          </p:nvSpPr>
          <p:spPr>
            <a:xfrm>
              <a:off x="1334" y="351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35874" name="Rectangle 1070"/>
            <p:cNvSpPr/>
            <p:nvPr/>
          </p:nvSpPr>
          <p:spPr>
            <a:xfrm>
              <a:off x="1444" y="1589"/>
              <a:ext cx="805" cy="2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75" name="Rectangle 1071"/>
            <p:cNvSpPr/>
            <p:nvPr/>
          </p:nvSpPr>
          <p:spPr>
            <a:xfrm>
              <a:off x="1444" y="2056"/>
              <a:ext cx="805" cy="26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76" name="Rectangle 1072"/>
            <p:cNvSpPr/>
            <p:nvPr/>
          </p:nvSpPr>
          <p:spPr>
            <a:xfrm>
              <a:off x="1599" y="1659"/>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电平转换</a:t>
              </a:r>
              <a:endParaRPr lang="zh-CN" altLang="en-US" dirty="0">
                <a:latin typeface="Times New Roman" panose="02020603050405020304" pitchFamily="18" charset="0"/>
              </a:endParaRPr>
            </a:p>
          </p:txBody>
        </p:sp>
        <p:sp>
          <p:nvSpPr>
            <p:cNvPr id="35877" name="Rectangle 1073"/>
            <p:cNvSpPr/>
            <p:nvPr/>
          </p:nvSpPr>
          <p:spPr>
            <a:xfrm>
              <a:off x="1610" y="2126"/>
              <a:ext cx="512"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0000FF"/>
                  </a:solidFill>
                  <a:latin typeface="宋体" panose="02010600030101010101" pitchFamily="2" charset="-122"/>
                  <a:ea typeface="宋体" panose="02010600030101010101" pitchFamily="2" charset="-122"/>
                </a:rPr>
                <a:t>译码驱动</a:t>
              </a:r>
              <a:endParaRPr lang="zh-CN" altLang="en-US" dirty="0">
                <a:latin typeface="Times New Roman" panose="02020603050405020304" pitchFamily="18" charset="0"/>
              </a:endParaRPr>
            </a:p>
          </p:txBody>
        </p:sp>
        <p:sp>
          <p:nvSpPr>
            <p:cNvPr id="35878" name="Oval 1074"/>
            <p:cNvSpPr/>
            <p:nvPr/>
          </p:nvSpPr>
          <p:spPr>
            <a:xfrm>
              <a:off x="1566" y="134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79" name="Rectangle 1075"/>
            <p:cNvSpPr/>
            <p:nvPr/>
          </p:nvSpPr>
          <p:spPr>
            <a:xfrm>
              <a:off x="1489" y="1192"/>
              <a:ext cx="22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INH</a:t>
              </a:r>
              <a:endParaRPr lang="en-US" altLang="zh-CN" dirty="0">
                <a:latin typeface="Times New Roman" panose="02020603050405020304" pitchFamily="18" charset="0"/>
              </a:endParaRPr>
            </a:p>
          </p:txBody>
        </p:sp>
        <p:sp>
          <p:nvSpPr>
            <p:cNvPr id="35880" name="Rectangle 1076"/>
            <p:cNvSpPr/>
            <p:nvPr/>
          </p:nvSpPr>
          <p:spPr>
            <a:xfrm>
              <a:off x="1621" y="139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5881" name="Oval 1077"/>
            <p:cNvSpPr/>
            <p:nvPr/>
          </p:nvSpPr>
          <p:spPr>
            <a:xfrm>
              <a:off x="1820" y="134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82" name="Rectangle 1078"/>
            <p:cNvSpPr/>
            <p:nvPr/>
          </p:nvSpPr>
          <p:spPr>
            <a:xfrm>
              <a:off x="1820" y="1192"/>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B</a:t>
              </a:r>
              <a:endParaRPr lang="en-US" altLang="zh-CN" dirty="0">
                <a:latin typeface="Times New Roman" panose="02020603050405020304" pitchFamily="18" charset="0"/>
              </a:endParaRPr>
            </a:p>
          </p:txBody>
        </p:sp>
        <p:sp>
          <p:nvSpPr>
            <p:cNvPr id="35883" name="Rectangle 1079"/>
            <p:cNvSpPr/>
            <p:nvPr/>
          </p:nvSpPr>
          <p:spPr>
            <a:xfrm>
              <a:off x="1886" y="139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35884" name="Oval 1080"/>
            <p:cNvSpPr/>
            <p:nvPr/>
          </p:nvSpPr>
          <p:spPr>
            <a:xfrm>
              <a:off x="2074" y="1346"/>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85" name="Rectangle 1081"/>
            <p:cNvSpPr/>
            <p:nvPr/>
          </p:nvSpPr>
          <p:spPr>
            <a:xfrm>
              <a:off x="2063" y="1192"/>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5886" name="Rectangle 1082"/>
            <p:cNvSpPr/>
            <p:nvPr/>
          </p:nvSpPr>
          <p:spPr>
            <a:xfrm>
              <a:off x="2140" y="139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grpSp>
          <p:nvGrpSpPr>
            <p:cNvPr id="35887" name="Group 1088"/>
            <p:cNvGrpSpPr/>
            <p:nvPr/>
          </p:nvGrpSpPr>
          <p:grpSpPr>
            <a:xfrm>
              <a:off x="2328" y="1928"/>
              <a:ext cx="532" cy="969"/>
              <a:chOff x="2338" y="1823"/>
              <a:chExt cx="532" cy="969"/>
            </a:xfrm>
          </p:grpSpPr>
          <p:sp>
            <p:nvSpPr>
              <p:cNvPr id="36044" name="Line 1083"/>
              <p:cNvSpPr/>
              <p:nvPr/>
            </p:nvSpPr>
            <p:spPr>
              <a:xfrm>
                <a:off x="2338" y="1823"/>
                <a:ext cx="531" cy="1"/>
              </a:xfrm>
              <a:prstGeom prst="line">
                <a:avLst/>
              </a:prstGeom>
              <a:ln w="0" cap="flat" cmpd="sng">
                <a:solidFill>
                  <a:srgbClr val="0000FF"/>
                </a:solidFill>
                <a:prstDash val="solid"/>
                <a:headEnd type="none" w="med" len="med"/>
                <a:tailEnd type="none" w="med" len="med"/>
              </a:ln>
            </p:spPr>
          </p:sp>
          <p:sp>
            <p:nvSpPr>
              <p:cNvPr id="36045" name="Line 1084"/>
              <p:cNvSpPr/>
              <p:nvPr/>
            </p:nvSpPr>
            <p:spPr>
              <a:xfrm>
                <a:off x="2338" y="1823"/>
                <a:ext cx="1" cy="969"/>
              </a:xfrm>
              <a:prstGeom prst="line">
                <a:avLst/>
              </a:prstGeom>
              <a:ln w="0" cap="flat" cmpd="sng">
                <a:solidFill>
                  <a:srgbClr val="0000FF"/>
                </a:solidFill>
                <a:prstDash val="solid"/>
                <a:headEnd type="none" w="med" len="med"/>
                <a:tailEnd type="none" w="med" len="med"/>
              </a:ln>
            </p:spPr>
          </p:sp>
          <p:sp>
            <p:nvSpPr>
              <p:cNvPr id="36046" name="Line 1085"/>
              <p:cNvSpPr/>
              <p:nvPr/>
            </p:nvSpPr>
            <p:spPr>
              <a:xfrm>
                <a:off x="2515" y="1823"/>
                <a:ext cx="1" cy="782"/>
              </a:xfrm>
              <a:prstGeom prst="line">
                <a:avLst/>
              </a:prstGeom>
              <a:ln w="0" cap="flat" cmpd="sng">
                <a:solidFill>
                  <a:srgbClr val="0000FF"/>
                </a:solidFill>
                <a:prstDash val="solid"/>
                <a:headEnd type="none" w="med" len="med"/>
                <a:tailEnd type="none" w="med" len="med"/>
              </a:ln>
            </p:spPr>
          </p:sp>
          <p:sp>
            <p:nvSpPr>
              <p:cNvPr id="36047" name="Line 1086"/>
              <p:cNvSpPr/>
              <p:nvPr/>
            </p:nvSpPr>
            <p:spPr>
              <a:xfrm>
                <a:off x="2692" y="1823"/>
                <a:ext cx="1" cy="595"/>
              </a:xfrm>
              <a:prstGeom prst="line">
                <a:avLst/>
              </a:prstGeom>
              <a:ln w="0" cap="flat" cmpd="sng">
                <a:solidFill>
                  <a:srgbClr val="0000FF"/>
                </a:solidFill>
                <a:prstDash val="solid"/>
                <a:headEnd type="none" w="med" len="med"/>
                <a:tailEnd type="none" w="med" len="med"/>
              </a:ln>
            </p:spPr>
          </p:sp>
          <p:sp>
            <p:nvSpPr>
              <p:cNvPr id="36048" name="Line 1087"/>
              <p:cNvSpPr/>
              <p:nvPr/>
            </p:nvSpPr>
            <p:spPr>
              <a:xfrm>
                <a:off x="2869" y="1823"/>
                <a:ext cx="1" cy="409"/>
              </a:xfrm>
              <a:prstGeom prst="line">
                <a:avLst/>
              </a:prstGeom>
              <a:ln w="0" cap="flat" cmpd="sng">
                <a:solidFill>
                  <a:srgbClr val="0000FF"/>
                </a:solidFill>
                <a:prstDash val="solid"/>
                <a:headEnd type="none" w="med" len="med"/>
                <a:tailEnd type="none" w="med" len="med"/>
              </a:ln>
            </p:spPr>
          </p:sp>
        </p:grpSp>
        <p:sp>
          <p:nvSpPr>
            <p:cNvPr id="35888" name="Line 1089"/>
            <p:cNvSpPr/>
            <p:nvPr/>
          </p:nvSpPr>
          <p:spPr>
            <a:xfrm>
              <a:off x="1179" y="1928"/>
              <a:ext cx="1" cy="595"/>
            </a:xfrm>
            <a:prstGeom prst="line">
              <a:avLst/>
            </a:prstGeom>
            <a:ln w="0" cap="flat" cmpd="sng">
              <a:solidFill>
                <a:srgbClr val="0000FF"/>
              </a:solidFill>
              <a:prstDash val="solid"/>
              <a:headEnd type="none" w="med" len="med"/>
              <a:tailEnd type="none" w="med" len="med"/>
            </a:ln>
          </p:spPr>
        </p:sp>
        <p:sp>
          <p:nvSpPr>
            <p:cNvPr id="35889" name="Line 1090"/>
            <p:cNvSpPr/>
            <p:nvPr/>
          </p:nvSpPr>
          <p:spPr>
            <a:xfrm>
              <a:off x="1356" y="1928"/>
              <a:ext cx="1" cy="409"/>
            </a:xfrm>
            <a:prstGeom prst="line">
              <a:avLst/>
            </a:prstGeom>
            <a:ln w="0" cap="flat" cmpd="sng">
              <a:solidFill>
                <a:srgbClr val="0000FF"/>
              </a:solidFill>
              <a:prstDash val="solid"/>
              <a:headEnd type="none" w="med" len="med"/>
              <a:tailEnd type="none" w="med" len="med"/>
            </a:ln>
          </p:spPr>
        </p:sp>
        <p:sp>
          <p:nvSpPr>
            <p:cNvPr id="35890" name="Oval 1091"/>
            <p:cNvSpPr/>
            <p:nvPr/>
          </p:nvSpPr>
          <p:spPr>
            <a:xfrm>
              <a:off x="2483" y="2699"/>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1" name="Oval 1092"/>
            <p:cNvSpPr/>
            <p:nvPr/>
          </p:nvSpPr>
          <p:spPr>
            <a:xfrm>
              <a:off x="2836" y="2337"/>
              <a:ext cx="56"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2" name="Oval 1093"/>
            <p:cNvSpPr/>
            <p:nvPr/>
          </p:nvSpPr>
          <p:spPr>
            <a:xfrm>
              <a:off x="2660" y="2523"/>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3" name="Oval 1094"/>
            <p:cNvSpPr/>
            <p:nvPr/>
          </p:nvSpPr>
          <p:spPr>
            <a:xfrm>
              <a:off x="1334" y="2337"/>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4" name="Oval 1095"/>
            <p:cNvSpPr/>
            <p:nvPr/>
          </p:nvSpPr>
          <p:spPr>
            <a:xfrm>
              <a:off x="804" y="2886"/>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5" name="Oval 1096"/>
            <p:cNvSpPr/>
            <p:nvPr/>
          </p:nvSpPr>
          <p:spPr>
            <a:xfrm>
              <a:off x="1157" y="2523"/>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6" name="Oval 1097"/>
            <p:cNvSpPr/>
            <p:nvPr/>
          </p:nvSpPr>
          <p:spPr>
            <a:xfrm>
              <a:off x="980" y="2699"/>
              <a:ext cx="56"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7" name="Oval 1098"/>
            <p:cNvSpPr/>
            <p:nvPr/>
          </p:nvSpPr>
          <p:spPr>
            <a:xfrm>
              <a:off x="2836" y="2488"/>
              <a:ext cx="56"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8" name="Oval 1099"/>
            <p:cNvSpPr/>
            <p:nvPr/>
          </p:nvSpPr>
          <p:spPr>
            <a:xfrm>
              <a:off x="2660" y="2675"/>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899" name="Oval 1100"/>
            <p:cNvSpPr/>
            <p:nvPr/>
          </p:nvSpPr>
          <p:spPr>
            <a:xfrm>
              <a:off x="2483" y="2862"/>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00" name="Oval 1101"/>
            <p:cNvSpPr/>
            <p:nvPr/>
          </p:nvSpPr>
          <p:spPr>
            <a:xfrm>
              <a:off x="2306" y="2897"/>
              <a:ext cx="55" cy="5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01" name="Line 1102"/>
            <p:cNvSpPr/>
            <p:nvPr/>
          </p:nvSpPr>
          <p:spPr>
            <a:xfrm>
              <a:off x="2859" y="2547"/>
              <a:ext cx="1" cy="864"/>
            </a:xfrm>
            <a:prstGeom prst="line">
              <a:avLst/>
            </a:prstGeom>
            <a:ln w="0" cap="flat" cmpd="sng">
              <a:solidFill>
                <a:srgbClr val="0000FF"/>
              </a:solidFill>
              <a:prstDash val="solid"/>
              <a:headEnd type="none" w="med" len="med"/>
              <a:tailEnd type="none" w="med" len="med"/>
            </a:ln>
          </p:spPr>
        </p:sp>
        <p:sp>
          <p:nvSpPr>
            <p:cNvPr id="35902" name="Line 1103"/>
            <p:cNvSpPr/>
            <p:nvPr/>
          </p:nvSpPr>
          <p:spPr>
            <a:xfrm>
              <a:off x="2505" y="2921"/>
              <a:ext cx="1" cy="373"/>
            </a:xfrm>
            <a:prstGeom prst="line">
              <a:avLst/>
            </a:prstGeom>
            <a:ln w="0" cap="flat" cmpd="sng">
              <a:solidFill>
                <a:srgbClr val="0000FF"/>
              </a:solidFill>
              <a:prstDash val="solid"/>
              <a:headEnd type="none" w="med" len="med"/>
              <a:tailEnd type="none" w="med" len="med"/>
            </a:ln>
          </p:spPr>
        </p:sp>
        <p:grpSp>
          <p:nvGrpSpPr>
            <p:cNvPr id="35903" name="Group 1106"/>
            <p:cNvGrpSpPr/>
            <p:nvPr/>
          </p:nvGrpSpPr>
          <p:grpSpPr>
            <a:xfrm>
              <a:off x="2306" y="3049"/>
              <a:ext cx="55" cy="210"/>
              <a:chOff x="2316" y="2944"/>
              <a:chExt cx="55" cy="210"/>
            </a:xfrm>
          </p:grpSpPr>
          <p:sp>
            <p:nvSpPr>
              <p:cNvPr id="36042" name="Oval 1104"/>
              <p:cNvSpPr/>
              <p:nvPr/>
            </p:nvSpPr>
            <p:spPr>
              <a:xfrm>
                <a:off x="2316" y="294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6043" name="Line 1105"/>
              <p:cNvSpPr/>
              <p:nvPr/>
            </p:nvSpPr>
            <p:spPr>
              <a:xfrm>
                <a:off x="2338" y="3002"/>
                <a:ext cx="1" cy="152"/>
              </a:xfrm>
              <a:prstGeom prst="line">
                <a:avLst/>
              </a:prstGeom>
              <a:ln w="0" cap="flat" cmpd="sng">
                <a:solidFill>
                  <a:srgbClr val="0000FF"/>
                </a:solidFill>
                <a:prstDash val="solid"/>
                <a:headEnd type="none" w="med" len="med"/>
                <a:tailEnd type="none" w="med" len="med"/>
              </a:ln>
            </p:spPr>
          </p:sp>
        </p:grpSp>
        <p:sp>
          <p:nvSpPr>
            <p:cNvPr id="35904" name="Line 1107"/>
            <p:cNvSpPr/>
            <p:nvPr/>
          </p:nvSpPr>
          <p:spPr>
            <a:xfrm>
              <a:off x="2505" y="3353"/>
              <a:ext cx="1" cy="280"/>
            </a:xfrm>
            <a:prstGeom prst="line">
              <a:avLst/>
            </a:prstGeom>
            <a:ln w="0" cap="flat" cmpd="sng">
              <a:solidFill>
                <a:srgbClr val="0000FF"/>
              </a:solidFill>
              <a:prstDash val="solid"/>
              <a:headEnd type="none" w="med" len="med"/>
              <a:tailEnd type="none" w="med" len="med"/>
            </a:ln>
          </p:spPr>
        </p:sp>
        <p:sp>
          <p:nvSpPr>
            <p:cNvPr id="35905" name="Line 1108"/>
            <p:cNvSpPr/>
            <p:nvPr/>
          </p:nvSpPr>
          <p:spPr>
            <a:xfrm>
              <a:off x="2770" y="3415"/>
              <a:ext cx="1" cy="222"/>
            </a:xfrm>
            <a:prstGeom prst="line">
              <a:avLst/>
            </a:prstGeom>
            <a:ln w="0" cap="flat" cmpd="sng">
              <a:solidFill>
                <a:srgbClr val="0000FF"/>
              </a:solidFill>
              <a:prstDash val="solid"/>
              <a:headEnd type="none" w="med" len="med"/>
              <a:tailEnd type="none" w="med" len="med"/>
            </a:ln>
          </p:spPr>
        </p:sp>
        <p:sp>
          <p:nvSpPr>
            <p:cNvPr id="35906" name="Line 1109"/>
            <p:cNvSpPr/>
            <p:nvPr/>
          </p:nvSpPr>
          <p:spPr>
            <a:xfrm>
              <a:off x="1709" y="3259"/>
              <a:ext cx="1" cy="374"/>
            </a:xfrm>
            <a:prstGeom prst="line">
              <a:avLst/>
            </a:prstGeom>
            <a:ln w="0" cap="flat" cmpd="sng">
              <a:solidFill>
                <a:srgbClr val="0000FF"/>
              </a:solidFill>
              <a:prstDash val="solid"/>
              <a:headEnd type="none" w="med" len="med"/>
              <a:tailEnd type="none" w="med" len="med"/>
            </a:ln>
          </p:spPr>
        </p:sp>
        <p:sp>
          <p:nvSpPr>
            <p:cNvPr id="35907" name="Line 1110"/>
            <p:cNvSpPr/>
            <p:nvPr/>
          </p:nvSpPr>
          <p:spPr>
            <a:xfrm>
              <a:off x="1444" y="3306"/>
              <a:ext cx="1" cy="333"/>
            </a:xfrm>
            <a:prstGeom prst="line">
              <a:avLst/>
            </a:prstGeom>
            <a:ln w="0" cap="flat" cmpd="sng">
              <a:solidFill>
                <a:srgbClr val="0000FF"/>
              </a:solidFill>
              <a:prstDash val="solid"/>
              <a:headEnd type="none" w="med" len="med"/>
              <a:tailEnd type="none" w="med" len="med"/>
            </a:ln>
          </p:spPr>
        </p:sp>
        <p:sp>
          <p:nvSpPr>
            <p:cNvPr id="35908" name="Line 1111"/>
            <p:cNvSpPr/>
            <p:nvPr/>
          </p:nvSpPr>
          <p:spPr>
            <a:xfrm>
              <a:off x="1179" y="3353"/>
              <a:ext cx="1" cy="286"/>
            </a:xfrm>
            <a:prstGeom prst="line">
              <a:avLst/>
            </a:prstGeom>
            <a:ln w="0" cap="flat" cmpd="sng">
              <a:solidFill>
                <a:srgbClr val="0000FF"/>
              </a:solidFill>
              <a:prstDash val="solid"/>
              <a:headEnd type="none" w="med" len="med"/>
              <a:tailEnd type="none" w="med" len="med"/>
            </a:ln>
          </p:spPr>
        </p:sp>
        <p:sp>
          <p:nvSpPr>
            <p:cNvPr id="35909" name="Line 1112"/>
            <p:cNvSpPr/>
            <p:nvPr/>
          </p:nvSpPr>
          <p:spPr>
            <a:xfrm>
              <a:off x="914" y="3411"/>
              <a:ext cx="1" cy="222"/>
            </a:xfrm>
            <a:prstGeom prst="line">
              <a:avLst/>
            </a:prstGeom>
            <a:ln w="0" cap="flat" cmpd="sng">
              <a:solidFill>
                <a:srgbClr val="0000FF"/>
              </a:solidFill>
              <a:prstDash val="solid"/>
              <a:headEnd type="none" w="med" len="med"/>
              <a:tailEnd type="none" w="med" len="med"/>
            </a:ln>
          </p:spPr>
        </p:sp>
        <p:sp>
          <p:nvSpPr>
            <p:cNvPr id="35910" name="Oval 1113"/>
            <p:cNvSpPr/>
            <p:nvPr/>
          </p:nvSpPr>
          <p:spPr>
            <a:xfrm>
              <a:off x="804" y="3061"/>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11" name="Line 1114"/>
            <p:cNvSpPr/>
            <p:nvPr/>
          </p:nvSpPr>
          <p:spPr>
            <a:xfrm>
              <a:off x="826" y="3119"/>
              <a:ext cx="1" cy="292"/>
            </a:xfrm>
            <a:prstGeom prst="line">
              <a:avLst/>
            </a:prstGeom>
            <a:ln w="0" cap="flat" cmpd="sng">
              <a:solidFill>
                <a:srgbClr val="0000FF"/>
              </a:solidFill>
              <a:prstDash val="solid"/>
              <a:headEnd type="none" w="med" len="med"/>
              <a:tailEnd type="none" w="med" len="med"/>
            </a:ln>
          </p:spPr>
        </p:sp>
        <p:sp>
          <p:nvSpPr>
            <p:cNvPr id="35912" name="Oval 1115"/>
            <p:cNvSpPr/>
            <p:nvPr/>
          </p:nvSpPr>
          <p:spPr>
            <a:xfrm>
              <a:off x="980" y="2874"/>
              <a:ext cx="54" cy="5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13" name="Line 1116"/>
            <p:cNvSpPr/>
            <p:nvPr/>
          </p:nvSpPr>
          <p:spPr>
            <a:xfrm>
              <a:off x="1006" y="2928"/>
              <a:ext cx="1" cy="427"/>
            </a:xfrm>
            <a:prstGeom prst="line">
              <a:avLst/>
            </a:prstGeom>
            <a:ln w="0" cap="flat" cmpd="sng">
              <a:solidFill>
                <a:srgbClr val="0000FF"/>
              </a:solidFill>
              <a:prstDash val="solid"/>
              <a:headEnd type="none" w="med" len="med"/>
              <a:tailEnd type="none" w="med" len="med"/>
            </a:ln>
          </p:spPr>
        </p:sp>
        <p:sp>
          <p:nvSpPr>
            <p:cNvPr id="35914" name="Oval 1117"/>
            <p:cNvSpPr/>
            <p:nvPr/>
          </p:nvSpPr>
          <p:spPr>
            <a:xfrm>
              <a:off x="1157" y="2675"/>
              <a:ext cx="55" cy="5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15" name="Line 1118"/>
            <p:cNvSpPr/>
            <p:nvPr/>
          </p:nvSpPr>
          <p:spPr>
            <a:xfrm>
              <a:off x="1181" y="2726"/>
              <a:ext cx="1" cy="584"/>
            </a:xfrm>
            <a:prstGeom prst="line">
              <a:avLst/>
            </a:prstGeom>
            <a:ln w="0" cap="flat" cmpd="sng">
              <a:solidFill>
                <a:srgbClr val="0000FF"/>
              </a:solidFill>
              <a:prstDash val="solid"/>
              <a:headEnd type="none" w="med" len="med"/>
              <a:tailEnd type="none" w="med" len="med"/>
            </a:ln>
          </p:spPr>
        </p:sp>
        <p:sp>
          <p:nvSpPr>
            <p:cNvPr id="35916" name="Oval 1119"/>
            <p:cNvSpPr/>
            <p:nvPr/>
          </p:nvSpPr>
          <p:spPr>
            <a:xfrm>
              <a:off x="1334" y="2488"/>
              <a:ext cx="55" cy="5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17" name="Line 1120"/>
            <p:cNvSpPr/>
            <p:nvPr/>
          </p:nvSpPr>
          <p:spPr>
            <a:xfrm>
              <a:off x="1356" y="2543"/>
              <a:ext cx="1" cy="716"/>
            </a:xfrm>
            <a:prstGeom prst="line">
              <a:avLst/>
            </a:prstGeom>
            <a:ln w="0" cap="flat" cmpd="sng">
              <a:solidFill>
                <a:srgbClr val="0000FF"/>
              </a:solidFill>
              <a:prstDash val="solid"/>
              <a:headEnd type="none" w="med" len="med"/>
              <a:tailEnd type="none" w="med" len="med"/>
            </a:ln>
          </p:spPr>
        </p:sp>
        <p:sp>
          <p:nvSpPr>
            <p:cNvPr id="35918" name="Line 1121"/>
            <p:cNvSpPr/>
            <p:nvPr/>
          </p:nvSpPr>
          <p:spPr>
            <a:xfrm flipV="1">
              <a:off x="1367" y="2383"/>
              <a:ext cx="99" cy="105"/>
            </a:xfrm>
            <a:prstGeom prst="line">
              <a:avLst/>
            </a:prstGeom>
            <a:ln w="0" cap="flat" cmpd="sng">
              <a:solidFill>
                <a:srgbClr val="0000FF"/>
              </a:solidFill>
              <a:prstDash val="solid"/>
              <a:headEnd type="none" w="med" len="med"/>
              <a:tailEnd type="none" w="med" len="med"/>
            </a:ln>
          </p:spPr>
        </p:sp>
        <p:sp>
          <p:nvSpPr>
            <p:cNvPr id="35919" name="Line 1122"/>
            <p:cNvSpPr/>
            <p:nvPr/>
          </p:nvSpPr>
          <p:spPr>
            <a:xfrm flipV="1">
              <a:off x="1201" y="2570"/>
              <a:ext cx="100" cy="105"/>
            </a:xfrm>
            <a:prstGeom prst="line">
              <a:avLst/>
            </a:prstGeom>
            <a:ln w="0" cap="flat" cmpd="sng">
              <a:solidFill>
                <a:srgbClr val="0000FF"/>
              </a:solidFill>
              <a:prstDash val="solid"/>
              <a:headEnd type="none" w="med" len="med"/>
              <a:tailEnd type="none" w="med" len="med"/>
            </a:ln>
          </p:spPr>
        </p:sp>
        <p:sp>
          <p:nvSpPr>
            <p:cNvPr id="35920" name="Line 1123"/>
            <p:cNvSpPr/>
            <p:nvPr/>
          </p:nvSpPr>
          <p:spPr>
            <a:xfrm flipV="1">
              <a:off x="1023" y="2773"/>
              <a:ext cx="99" cy="105"/>
            </a:xfrm>
            <a:prstGeom prst="line">
              <a:avLst/>
            </a:prstGeom>
            <a:ln w="0" cap="flat" cmpd="sng">
              <a:solidFill>
                <a:srgbClr val="0000FF"/>
              </a:solidFill>
              <a:prstDash val="solid"/>
              <a:headEnd type="none" w="med" len="med"/>
              <a:tailEnd type="none" w="med" len="med"/>
            </a:ln>
          </p:spPr>
        </p:sp>
        <p:sp>
          <p:nvSpPr>
            <p:cNvPr id="35921" name="Line 1124"/>
            <p:cNvSpPr/>
            <p:nvPr/>
          </p:nvSpPr>
          <p:spPr>
            <a:xfrm flipV="1">
              <a:off x="2702" y="2576"/>
              <a:ext cx="99" cy="105"/>
            </a:xfrm>
            <a:prstGeom prst="line">
              <a:avLst/>
            </a:prstGeom>
            <a:ln w="0" cap="flat" cmpd="sng">
              <a:solidFill>
                <a:srgbClr val="0000FF"/>
              </a:solidFill>
              <a:prstDash val="solid"/>
              <a:headEnd type="none" w="med" len="med"/>
              <a:tailEnd type="none" w="med" len="med"/>
            </a:ln>
          </p:spPr>
        </p:sp>
        <p:sp>
          <p:nvSpPr>
            <p:cNvPr id="35922" name="Line 1125"/>
            <p:cNvSpPr/>
            <p:nvPr/>
          </p:nvSpPr>
          <p:spPr>
            <a:xfrm flipV="1">
              <a:off x="844" y="2960"/>
              <a:ext cx="99" cy="105"/>
            </a:xfrm>
            <a:prstGeom prst="line">
              <a:avLst/>
            </a:prstGeom>
            <a:ln w="0" cap="flat" cmpd="sng">
              <a:solidFill>
                <a:srgbClr val="0000FF"/>
              </a:solidFill>
              <a:prstDash val="solid"/>
              <a:headEnd type="none" w="med" len="med"/>
              <a:tailEnd type="none" w="med" len="med"/>
            </a:ln>
          </p:spPr>
        </p:sp>
        <p:sp>
          <p:nvSpPr>
            <p:cNvPr id="35923" name="Line 1126"/>
            <p:cNvSpPr/>
            <p:nvPr/>
          </p:nvSpPr>
          <p:spPr>
            <a:xfrm flipV="1">
              <a:off x="2879" y="2387"/>
              <a:ext cx="99" cy="105"/>
            </a:xfrm>
            <a:prstGeom prst="line">
              <a:avLst/>
            </a:prstGeom>
            <a:ln w="0" cap="flat" cmpd="sng">
              <a:solidFill>
                <a:srgbClr val="0000FF"/>
              </a:solidFill>
              <a:prstDash val="solid"/>
              <a:headEnd type="none" w="med" len="med"/>
              <a:tailEnd type="none" w="med" len="med"/>
            </a:ln>
          </p:spPr>
        </p:sp>
        <p:sp>
          <p:nvSpPr>
            <p:cNvPr id="35924" name="Line 1127"/>
            <p:cNvSpPr/>
            <p:nvPr/>
          </p:nvSpPr>
          <p:spPr>
            <a:xfrm flipV="1">
              <a:off x="2347" y="2950"/>
              <a:ext cx="99" cy="105"/>
            </a:xfrm>
            <a:prstGeom prst="line">
              <a:avLst/>
            </a:prstGeom>
            <a:ln w="0" cap="flat" cmpd="sng">
              <a:solidFill>
                <a:srgbClr val="0000FF"/>
              </a:solidFill>
              <a:prstDash val="solid"/>
              <a:headEnd type="none" w="med" len="med"/>
              <a:tailEnd type="none" w="med" len="med"/>
            </a:ln>
          </p:spPr>
        </p:sp>
        <p:sp>
          <p:nvSpPr>
            <p:cNvPr id="35925" name="Line 1128"/>
            <p:cNvSpPr/>
            <p:nvPr/>
          </p:nvSpPr>
          <p:spPr>
            <a:xfrm flipV="1">
              <a:off x="2523" y="2763"/>
              <a:ext cx="100" cy="105"/>
            </a:xfrm>
            <a:prstGeom prst="line">
              <a:avLst/>
            </a:prstGeom>
            <a:ln w="0" cap="flat" cmpd="sng">
              <a:solidFill>
                <a:srgbClr val="0000FF"/>
              </a:solidFill>
              <a:prstDash val="solid"/>
              <a:headEnd type="none" w="med" len="med"/>
              <a:tailEnd type="none" w="med" len="med"/>
            </a:ln>
          </p:spPr>
        </p:sp>
        <p:sp>
          <p:nvSpPr>
            <p:cNvPr id="35926" name="Line 1129"/>
            <p:cNvSpPr/>
            <p:nvPr/>
          </p:nvSpPr>
          <p:spPr>
            <a:xfrm>
              <a:off x="1411" y="2442"/>
              <a:ext cx="1525" cy="1"/>
            </a:xfrm>
            <a:prstGeom prst="line">
              <a:avLst/>
            </a:prstGeom>
            <a:ln w="0" cap="flat" cmpd="sng">
              <a:solidFill>
                <a:srgbClr val="0000FF"/>
              </a:solidFill>
              <a:prstDash val="sysDot"/>
              <a:headEnd type="none" w="med" len="med"/>
              <a:tailEnd type="none" w="med" len="med"/>
            </a:ln>
          </p:spPr>
        </p:sp>
        <p:sp>
          <p:nvSpPr>
            <p:cNvPr id="35927" name="Line 1130"/>
            <p:cNvSpPr/>
            <p:nvPr/>
          </p:nvSpPr>
          <p:spPr>
            <a:xfrm>
              <a:off x="1245" y="2629"/>
              <a:ext cx="1503" cy="1"/>
            </a:xfrm>
            <a:prstGeom prst="line">
              <a:avLst/>
            </a:prstGeom>
            <a:ln w="0" cap="flat" cmpd="sng">
              <a:solidFill>
                <a:srgbClr val="0000FF"/>
              </a:solidFill>
              <a:prstDash val="sysDot"/>
              <a:headEnd type="none" w="med" len="med"/>
              <a:tailEnd type="none" w="med" len="med"/>
            </a:ln>
          </p:spPr>
        </p:sp>
        <p:sp>
          <p:nvSpPr>
            <p:cNvPr id="35928" name="Line 1131"/>
            <p:cNvSpPr/>
            <p:nvPr/>
          </p:nvSpPr>
          <p:spPr>
            <a:xfrm>
              <a:off x="1080" y="2815"/>
              <a:ext cx="1502" cy="1"/>
            </a:xfrm>
            <a:prstGeom prst="line">
              <a:avLst/>
            </a:prstGeom>
            <a:ln w="0" cap="flat" cmpd="sng">
              <a:solidFill>
                <a:srgbClr val="0000FF"/>
              </a:solidFill>
              <a:prstDash val="sysDot"/>
              <a:headEnd type="none" w="med" len="med"/>
              <a:tailEnd type="none" w="med" len="med"/>
            </a:ln>
          </p:spPr>
        </p:sp>
        <p:sp>
          <p:nvSpPr>
            <p:cNvPr id="35929" name="Line 1132"/>
            <p:cNvSpPr/>
            <p:nvPr/>
          </p:nvSpPr>
          <p:spPr>
            <a:xfrm>
              <a:off x="903" y="3002"/>
              <a:ext cx="1503" cy="1"/>
            </a:xfrm>
            <a:prstGeom prst="line">
              <a:avLst/>
            </a:prstGeom>
            <a:ln w="0" cap="flat" cmpd="sng">
              <a:solidFill>
                <a:srgbClr val="0000FF"/>
              </a:solidFill>
              <a:prstDash val="sysDot"/>
              <a:headEnd type="none" w="med" len="med"/>
              <a:tailEnd type="none" w="med" len="med"/>
            </a:ln>
          </p:spPr>
        </p:sp>
        <p:sp>
          <p:nvSpPr>
            <p:cNvPr id="35930" name="Line 1133"/>
            <p:cNvSpPr/>
            <p:nvPr/>
          </p:nvSpPr>
          <p:spPr>
            <a:xfrm>
              <a:off x="2140" y="2325"/>
              <a:ext cx="1" cy="117"/>
            </a:xfrm>
            <a:prstGeom prst="line">
              <a:avLst/>
            </a:prstGeom>
            <a:ln w="0" cap="flat" cmpd="sng">
              <a:solidFill>
                <a:srgbClr val="0000FF"/>
              </a:solidFill>
              <a:prstDash val="solid"/>
              <a:headEnd type="none" w="med" len="med"/>
              <a:tailEnd type="none" w="med" len="med"/>
            </a:ln>
          </p:spPr>
        </p:sp>
        <p:sp>
          <p:nvSpPr>
            <p:cNvPr id="35931" name="Line 1134"/>
            <p:cNvSpPr/>
            <p:nvPr/>
          </p:nvSpPr>
          <p:spPr>
            <a:xfrm>
              <a:off x="1953" y="2325"/>
              <a:ext cx="1" cy="304"/>
            </a:xfrm>
            <a:prstGeom prst="line">
              <a:avLst/>
            </a:prstGeom>
            <a:ln w="0" cap="flat" cmpd="sng">
              <a:solidFill>
                <a:srgbClr val="0000FF"/>
              </a:solidFill>
              <a:prstDash val="solid"/>
              <a:headEnd type="none" w="med" len="med"/>
              <a:tailEnd type="none" w="med" len="med"/>
            </a:ln>
          </p:spPr>
        </p:sp>
        <p:sp>
          <p:nvSpPr>
            <p:cNvPr id="35932" name="Line 1135"/>
            <p:cNvSpPr/>
            <p:nvPr/>
          </p:nvSpPr>
          <p:spPr>
            <a:xfrm>
              <a:off x="2593" y="1396"/>
              <a:ext cx="1" cy="532"/>
            </a:xfrm>
            <a:prstGeom prst="line">
              <a:avLst/>
            </a:prstGeom>
            <a:ln w="0" cap="flat" cmpd="sng">
              <a:solidFill>
                <a:srgbClr val="0000FF"/>
              </a:solidFill>
              <a:prstDash val="solid"/>
              <a:headEnd type="none" w="med" len="med"/>
              <a:tailEnd type="none" w="med" len="med"/>
            </a:ln>
          </p:spPr>
        </p:sp>
        <p:sp>
          <p:nvSpPr>
            <p:cNvPr id="35933" name="Oval 1136"/>
            <p:cNvSpPr/>
            <p:nvPr/>
          </p:nvSpPr>
          <p:spPr>
            <a:xfrm>
              <a:off x="1069" y="134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4" name="Oval 1137"/>
            <p:cNvSpPr/>
            <p:nvPr/>
          </p:nvSpPr>
          <p:spPr>
            <a:xfrm>
              <a:off x="2571" y="1344"/>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5" name="Oval 1138"/>
            <p:cNvSpPr/>
            <p:nvPr/>
          </p:nvSpPr>
          <p:spPr>
            <a:xfrm>
              <a:off x="1157"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6" name="Oval 1139"/>
            <p:cNvSpPr/>
            <p:nvPr/>
          </p:nvSpPr>
          <p:spPr>
            <a:xfrm>
              <a:off x="1422"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7" name="Oval 1140"/>
            <p:cNvSpPr/>
            <p:nvPr/>
          </p:nvSpPr>
          <p:spPr>
            <a:xfrm>
              <a:off x="1687" y="3633"/>
              <a:ext cx="56"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8" name="Oval 1141"/>
            <p:cNvSpPr/>
            <p:nvPr/>
          </p:nvSpPr>
          <p:spPr>
            <a:xfrm>
              <a:off x="2218" y="3633"/>
              <a:ext cx="55" cy="5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39" name="Oval 1142"/>
            <p:cNvSpPr/>
            <p:nvPr/>
          </p:nvSpPr>
          <p:spPr>
            <a:xfrm>
              <a:off x="1953"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40" name="Oval 1143"/>
            <p:cNvSpPr/>
            <p:nvPr/>
          </p:nvSpPr>
          <p:spPr>
            <a:xfrm>
              <a:off x="2748"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41" name="Oval 1144"/>
            <p:cNvSpPr/>
            <p:nvPr/>
          </p:nvSpPr>
          <p:spPr>
            <a:xfrm>
              <a:off x="2483"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5942" name="Oval 1145"/>
            <p:cNvSpPr/>
            <p:nvPr/>
          </p:nvSpPr>
          <p:spPr>
            <a:xfrm>
              <a:off x="892" y="3633"/>
              <a:ext cx="55" cy="5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nvGrpSpPr>
            <p:cNvPr id="35943" name="Group 1148"/>
            <p:cNvGrpSpPr/>
            <p:nvPr/>
          </p:nvGrpSpPr>
          <p:grpSpPr>
            <a:xfrm>
              <a:off x="2417" y="1180"/>
              <a:ext cx="477" cy="139"/>
              <a:chOff x="2427" y="1075"/>
              <a:chExt cx="477" cy="139"/>
            </a:xfrm>
          </p:grpSpPr>
          <p:sp>
            <p:nvSpPr>
              <p:cNvPr id="36040" name="Rectangle 1146"/>
              <p:cNvSpPr/>
              <p:nvPr/>
            </p:nvSpPr>
            <p:spPr>
              <a:xfrm>
                <a:off x="2427" y="107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Y</a:t>
                </a:r>
                <a:endParaRPr lang="en-US" altLang="zh-CN" dirty="0">
                  <a:latin typeface="Times New Roman" panose="02020603050405020304" pitchFamily="18" charset="0"/>
                </a:endParaRPr>
              </a:p>
            </p:txBody>
          </p:sp>
          <p:sp>
            <p:nvSpPr>
              <p:cNvPr id="36041" name="Rectangle 1147"/>
              <p:cNvSpPr/>
              <p:nvPr/>
            </p:nvSpPr>
            <p:spPr>
              <a:xfrm>
                <a:off x="2515" y="1099"/>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(OUT/IN)</a:t>
                </a:r>
                <a:endParaRPr lang="en-US" altLang="zh-CN" dirty="0">
                  <a:latin typeface="Times New Roman" panose="02020603050405020304" pitchFamily="18" charset="0"/>
                </a:endParaRPr>
              </a:p>
            </p:txBody>
          </p:sp>
        </p:grpSp>
        <p:grpSp>
          <p:nvGrpSpPr>
            <p:cNvPr id="35944" name="Group 1151"/>
            <p:cNvGrpSpPr/>
            <p:nvPr/>
          </p:nvGrpSpPr>
          <p:grpSpPr>
            <a:xfrm>
              <a:off x="881" y="1169"/>
              <a:ext cx="466" cy="139"/>
              <a:chOff x="891" y="1064"/>
              <a:chExt cx="466" cy="139"/>
            </a:xfrm>
          </p:grpSpPr>
          <p:sp>
            <p:nvSpPr>
              <p:cNvPr id="36038" name="Rectangle 1149"/>
              <p:cNvSpPr/>
              <p:nvPr/>
            </p:nvSpPr>
            <p:spPr>
              <a:xfrm>
                <a:off x="891" y="1064"/>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X</a:t>
                </a:r>
                <a:endParaRPr lang="en-US" altLang="zh-CN" dirty="0">
                  <a:latin typeface="Times New Roman" panose="02020603050405020304" pitchFamily="18" charset="0"/>
                </a:endParaRPr>
              </a:p>
            </p:txBody>
          </p:sp>
          <p:sp>
            <p:nvSpPr>
              <p:cNvPr id="36039" name="Rectangle 1150"/>
              <p:cNvSpPr/>
              <p:nvPr/>
            </p:nvSpPr>
            <p:spPr>
              <a:xfrm>
                <a:off x="968" y="1087"/>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(OUT/IN)</a:t>
                </a:r>
                <a:endParaRPr lang="en-US" altLang="zh-CN" dirty="0">
                  <a:latin typeface="Times New Roman" panose="02020603050405020304" pitchFamily="18" charset="0"/>
                </a:endParaRPr>
              </a:p>
            </p:txBody>
          </p:sp>
        </p:grpSp>
        <p:sp>
          <p:nvSpPr>
            <p:cNvPr id="35945" name="Rectangle 1152"/>
            <p:cNvSpPr/>
            <p:nvPr/>
          </p:nvSpPr>
          <p:spPr>
            <a:xfrm>
              <a:off x="1002" y="3750"/>
              <a:ext cx="61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X(IN/OUT)</a:t>
              </a:r>
              <a:endParaRPr lang="en-US" altLang="zh-CN" dirty="0">
                <a:latin typeface="Times New Roman" panose="02020603050405020304" pitchFamily="18" charset="0"/>
              </a:endParaRPr>
            </a:p>
          </p:txBody>
        </p:sp>
        <p:sp>
          <p:nvSpPr>
            <p:cNvPr id="35946" name="Rectangle 1153"/>
            <p:cNvSpPr/>
            <p:nvPr/>
          </p:nvSpPr>
          <p:spPr>
            <a:xfrm>
              <a:off x="2030" y="3750"/>
              <a:ext cx="611"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Y(IN/OUT)</a:t>
              </a:r>
              <a:endParaRPr lang="en-US" altLang="zh-CN" dirty="0">
                <a:latin typeface="Times New Roman" panose="02020603050405020304" pitchFamily="18" charset="0"/>
              </a:endParaRPr>
            </a:p>
          </p:txBody>
        </p:sp>
        <p:sp>
          <p:nvSpPr>
            <p:cNvPr id="35947" name="Line 1154"/>
            <p:cNvSpPr/>
            <p:nvPr/>
          </p:nvSpPr>
          <p:spPr>
            <a:xfrm>
              <a:off x="1494" y="1192"/>
              <a:ext cx="199" cy="1"/>
            </a:xfrm>
            <a:prstGeom prst="line">
              <a:avLst/>
            </a:prstGeom>
            <a:ln w="0" cap="flat" cmpd="sng">
              <a:solidFill>
                <a:srgbClr val="0000FF"/>
              </a:solidFill>
              <a:prstDash val="solid"/>
              <a:headEnd type="none" w="med" len="med"/>
              <a:tailEnd type="none" w="med" len="med"/>
            </a:ln>
          </p:spPr>
        </p:sp>
        <p:sp>
          <p:nvSpPr>
            <p:cNvPr id="35948" name="Line 1155"/>
            <p:cNvSpPr/>
            <p:nvPr/>
          </p:nvSpPr>
          <p:spPr>
            <a:xfrm>
              <a:off x="3919" y="1811"/>
              <a:ext cx="177" cy="1"/>
            </a:xfrm>
            <a:prstGeom prst="line">
              <a:avLst/>
            </a:prstGeom>
            <a:ln w="0" cap="flat" cmpd="sng">
              <a:solidFill>
                <a:srgbClr val="0000FF"/>
              </a:solidFill>
              <a:prstDash val="solid"/>
              <a:headEnd type="none" w="med" len="med"/>
              <a:tailEnd type="none" w="med" len="med"/>
            </a:ln>
          </p:spPr>
        </p:sp>
        <p:sp>
          <p:nvSpPr>
            <p:cNvPr id="35949" name="Line 1156"/>
            <p:cNvSpPr/>
            <p:nvPr/>
          </p:nvSpPr>
          <p:spPr>
            <a:xfrm>
              <a:off x="3928" y="1996"/>
              <a:ext cx="170" cy="1"/>
            </a:xfrm>
            <a:prstGeom prst="line">
              <a:avLst/>
            </a:prstGeom>
            <a:ln w="0" cap="flat" cmpd="sng">
              <a:solidFill>
                <a:srgbClr val="0000FF"/>
              </a:solidFill>
              <a:prstDash val="solid"/>
              <a:headEnd type="none" w="med" len="med"/>
              <a:tailEnd type="none" w="med" len="med"/>
            </a:ln>
          </p:spPr>
        </p:sp>
        <p:sp>
          <p:nvSpPr>
            <p:cNvPr id="35950" name="Line 1157"/>
            <p:cNvSpPr/>
            <p:nvPr/>
          </p:nvSpPr>
          <p:spPr>
            <a:xfrm>
              <a:off x="3927" y="2183"/>
              <a:ext cx="169" cy="1"/>
            </a:xfrm>
            <a:prstGeom prst="line">
              <a:avLst/>
            </a:prstGeom>
            <a:ln w="0" cap="flat" cmpd="sng">
              <a:solidFill>
                <a:srgbClr val="0000FF"/>
              </a:solidFill>
              <a:prstDash val="solid"/>
              <a:headEnd type="none" w="med" len="med"/>
              <a:tailEnd type="none" w="med" len="med"/>
            </a:ln>
          </p:spPr>
        </p:sp>
        <p:sp>
          <p:nvSpPr>
            <p:cNvPr id="35951" name="Line 1158"/>
            <p:cNvSpPr/>
            <p:nvPr/>
          </p:nvSpPr>
          <p:spPr>
            <a:xfrm>
              <a:off x="3927" y="2370"/>
              <a:ext cx="173" cy="1"/>
            </a:xfrm>
            <a:prstGeom prst="line">
              <a:avLst/>
            </a:prstGeom>
            <a:ln w="0" cap="flat" cmpd="sng">
              <a:solidFill>
                <a:srgbClr val="0000FF"/>
              </a:solidFill>
              <a:prstDash val="solid"/>
              <a:headEnd type="none" w="med" len="med"/>
              <a:tailEnd type="none" w="med" len="med"/>
            </a:ln>
          </p:spPr>
        </p:sp>
        <p:sp>
          <p:nvSpPr>
            <p:cNvPr id="35952" name="Line 1159"/>
            <p:cNvSpPr/>
            <p:nvPr/>
          </p:nvSpPr>
          <p:spPr>
            <a:xfrm>
              <a:off x="3919" y="2558"/>
              <a:ext cx="177" cy="1"/>
            </a:xfrm>
            <a:prstGeom prst="line">
              <a:avLst/>
            </a:prstGeom>
            <a:ln w="0" cap="flat" cmpd="sng">
              <a:solidFill>
                <a:srgbClr val="0000FF"/>
              </a:solidFill>
              <a:prstDash val="solid"/>
              <a:headEnd type="none" w="med" len="med"/>
              <a:tailEnd type="none" w="med" len="med"/>
            </a:ln>
          </p:spPr>
        </p:sp>
        <p:sp>
          <p:nvSpPr>
            <p:cNvPr id="35953" name="Line 1160"/>
            <p:cNvSpPr/>
            <p:nvPr/>
          </p:nvSpPr>
          <p:spPr>
            <a:xfrm>
              <a:off x="3919" y="2932"/>
              <a:ext cx="177" cy="1"/>
            </a:xfrm>
            <a:prstGeom prst="line">
              <a:avLst/>
            </a:prstGeom>
            <a:ln w="0" cap="flat" cmpd="sng">
              <a:solidFill>
                <a:srgbClr val="0000FF"/>
              </a:solidFill>
              <a:prstDash val="solid"/>
              <a:headEnd type="none" w="med" len="med"/>
              <a:tailEnd type="none" w="med" len="med"/>
            </a:ln>
          </p:spPr>
        </p:sp>
        <p:sp>
          <p:nvSpPr>
            <p:cNvPr id="35954" name="Line 1161"/>
            <p:cNvSpPr/>
            <p:nvPr/>
          </p:nvSpPr>
          <p:spPr>
            <a:xfrm>
              <a:off x="4803" y="1811"/>
              <a:ext cx="177" cy="1"/>
            </a:xfrm>
            <a:prstGeom prst="line">
              <a:avLst/>
            </a:prstGeom>
            <a:ln w="0" cap="flat" cmpd="sng">
              <a:solidFill>
                <a:srgbClr val="0000FF"/>
              </a:solidFill>
              <a:prstDash val="solid"/>
              <a:headEnd type="none" w="med" len="med"/>
              <a:tailEnd type="none" w="med" len="med"/>
            </a:ln>
          </p:spPr>
        </p:sp>
        <p:sp>
          <p:nvSpPr>
            <p:cNvPr id="35955" name="Line 1162"/>
            <p:cNvSpPr/>
            <p:nvPr/>
          </p:nvSpPr>
          <p:spPr>
            <a:xfrm>
              <a:off x="4803" y="1996"/>
              <a:ext cx="182" cy="1"/>
            </a:xfrm>
            <a:prstGeom prst="line">
              <a:avLst/>
            </a:prstGeom>
            <a:ln w="0" cap="flat" cmpd="sng">
              <a:solidFill>
                <a:srgbClr val="0000FF"/>
              </a:solidFill>
              <a:prstDash val="solid"/>
              <a:headEnd type="none" w="med" len="med"/>
              <a:tailEnd type="none" w="med" len="med"/>
            </a:ln>
          </p:spPr>
        </p:sp>
        <p:sp>
          <p:nvSpPr>
            <p:cNvPr id="35956" name="Line 1163"/>
            <p:cNvSpPr/>
            <p:nvPr/>
          </p:nvSpPr>
          <p:spPr>
            <a:xfrm>
              <a:off x="4803" y="2183"/>
              <a:ext cx="182" cy="1"/>
            </a:xfrm>
            <a:prstGeom prst="line">
              <a:avLst/>
            </a:prstGeom>
            <a:ln w="0" cap="flat" cmpd="sng">
              <a:solidFill>
                <a:srgbClr val="0000FF"/>
              </a:solidFill>
              <a:prstDash val="solid"/>
              <a:headEnd type="none" w="med" len="med"/>
              <a:tailEnd type="none" w="med" len="med"/>
            </a:ln>
          </p:spPr>
        </p:sp>
        <p:sp>
          <p:nvSpPr>
            <p:cNvPr id="35957" name="Line 1164"/>
            <p:cNvSpPr/>
            <p:nvPr/>
          </p:nvSpPr>
          <p:spPr>
            <a:xfrm>
              <a:off x="4803" y="2370"/>
              <a:ext cx="182" cy="1"/>
            </a:xfrm>
            <a:prstGeom prst="line">
              <a:avLst/>
            </a:prstGeom>
            <a:ln w="0" cap="flat" cmpd="sng">
              <a:solidFill>
                <a:srgbClr val="0000FF"/>
              </a:solidFill>
              <a:prstDash val="solid"/>
              <a:headEnd type="none" w="med" len="med"/>
              <a:tailEnd type="none" w="med" len="med"/>
            </a:ln>
          </p:spPr>
        </p:sp>
        <p:sp>
          <p:nvSpPr>
            <p:cNvPr id="35958" name="Line 1165"/>
            <p:cNvSpPr/>
            <p:nvPr/>
          </p:nvSpPr>
          <p:spPr>
            <a:xfrm>
              <a:off x="4803" y="2557"/>
              <a:ext cx="177" cy="1"/>
            </a:xfrm>
            <a:prstGeom prst="line">
              <a:avLst/>
            </a:prstGeom>
            <a:ln w="0" cap="flat" cmpd="sng">
              <a:solidFill>
                <a:srgbClr val="0000FF"/>
              </a:solidFill>
              <a:prstDash val="solid"/>
              <a:headEnd type="none" w="med" len="med"/>
              <a:tailEnd type="none" w="med" len="med"/>
            </a:ln>
          </p:spPr>
        </p:sp>
        <p:sp>
          <p:nvSpPr>
            <p:cNvPr id="35959" name="Line 1166"/>
            <p:cNvSpPr/>
            <p:nvPr/>
          </p:nvSpPr>
          <p:spPr>
            <a:xfrm>
              <a:off x="4807" y="2743"/>
              <a:ext cx="176" cy="1"/>
            </a:xfrm>
            <a:prstGeom prst="line">
              <a:avLst/>
            </a:prstGeom>
            <a:ln w="0" cap="flat" cmpd="sng">
              <a:solidFill>
                <a:srgbClr val="0000FF"/>
              </a:solidFill>
              <a:prstDash val="solid"/>
              <a:headEnd type="none" w="med" len="med"/>
              <a:tailEnd type="none" w="med" len="med"/>
            </a:ln>
          </p:spPr>
        </p:sp>
        <p:sp>
          <p:nvSpPr>
            <p:cNvPr id="35960" name="Line 1167"/>
            <p:cNvSpPr/>
            <p:nvPr/>
          </p:nvSpPr>
          <p:spPr>
            <a:xfrm>
              <a:off x="4803" y="2930"/>
              <a:ext cx="177" cy="1"/>
            </a:xfrm>
            <a:prstGeom prst="line">
              <a:avLst/>
            </a:prstGeom>
            <a:ln w="0" cap="flat" cmpd="sng">
              <a:solidFill>
                <a:srgbClr val="0000FF"/>
              </a:solidFill>
              <a:prstDash val="solid"/>
              <a:headEnd type="none" w="med" len="med"/>
              <a:tailEnd type="none" w="med" len="med"/>
            </a:ln>
          </p:spPr>
        </p:sp>
        <p:sp>
          <p:nvSpPr>
            <p:cNvPr id="35961" name="Line 1168"/>
            <p:cNvSpPr/>
            <p:nvPr/>
          </p:nvSpPr>
          <p:spPr>
            <a:xfrm>
              <a:off x="4803" y="3115"/>
              <a:ext cx="177" cy="1"/>
            </a:xfrm>
            <a:prstGeom prst="line">
              <a:avLst/>
            </a:prstGeom>
            <a:ln w="0" cap="flat" cmpd="sng">
              <a:solidFill>
                <a:srgbClr val="0000FF"/>
              </a:solidFill>
              <a:prstDash val="solid"/>
              <a:headEnd type="none" w="med" len="med"/>
              <a:tailEnd type="none" w="med" len="med"/>
            </a:ln>
          </p:spPr>
        </p:sp>
        <p:sp>
          <p:nvSpPr>
            <p:cNvPr id="35962" name="Rectangle 1169"/>
            <p:cNvSpPr/>
            <p:nvPr/>
          </p:nvSpPr>
          <p:spPr>
            <a:xfrm>
              <a:off x="4162" y="176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35963" name="Rectangle 1170"/>
            <p:cNvSpPr/>
            <p:nvPr/>
          </p:nvSpPr>
          <p:spPr>
            <a:xfrm>
              <a:off x="4151" y="195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35964" name="Rectangle 1171"/>
            <p:cNvSpPr/>
            <p:nvPr/>
          </p:nvSpPr>
          <p:spPr>
            <a:xfrm>
              <a:off x="4162" y="212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3</a:t>
              </a:r>
              <a:endParaRPr lang="en-US" altLang="zh-CN" dirty="0">
                <a:latin typeface="Times New Roman" panose="02020603050405020304" pitchFamily="18" charset="0"/>
              </a:endParaRPr>
            </a:p>
          </p:txBody>
        </p:sp>
        <p:sp>
          <p:nvSpPr>
            <p:cNvPr id="35965" name="Rectangle 1172"/>
            <p:cNvSpPr/>
            <p:nvPr/>
          </p:nvSpPr>
          <p:spPr>
            <a:xfrm>
              <a:off x="4162" y="2325"/>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4</a:t>
              </a:r>
              <a:endParaRPr lang="en-US" altLang="zh-CN" dirty="0">
                <a:latin typeface="Times New Roman" panose="02020603050405020304" pitchFamily="18" charset="0"/>
              </a:endParaRPr>
            </a:p>
          </p:txBody>
        </p:sp>
        <p:sp>
          <p:nvSpPr>
            <p:cNvPr id="35966" name="Rectangle 1173"/>
            <p:cNvSpPr/>
            <p:nvPr/>
          </p:nvSpPr>
          <p:spPr>
            <a:xfrm>
              <a:off x="4162" y="250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5</a:t>
              </a:r>
              <a:endParaRPr lang="en-US" altLang="zh-CN" dirty="0">
                <a:latin typeface="Times New Roman" panose="02020603050405020304" pitchFamily="18" charset="0"/>
              </a:endParaRPr>
            </a:p>
          </p:txBody>
        </p:sp>
        <p:sp>
          <p:nvSpPr>
            <p:cNvPr id="35967" name="Rectangle 1174"/>
            <p:cNvSpPr/>
            <p:nvPr/>
          </p:nvSpPr>
          <p:spPr>
            <a:xfrm>
              <a:off x="4162" y="2687"/>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6</a:t>
              </a:r>
              <a:endParaRPr lang="en-US" altLang="zh-CN" dirty="0">
                <a:latin typeface="Times New Roman" panose="02020603050405020304" pitchFamily="18" charset="0"/>
              </a:endParaRPr>
            </a:p>
          </p:txBody>
        </p:sp>
        <p:sp>
          <p:nvSpPr>
            <p:cNvPr id="35968" name="Rectangle 1175"/>
            <p:cNvSpPr/>
            <p:nvPr/>
          </p:nvSpPr>
          <p:spPr>
            <a:xfrm>
              <a:off x="4162" y="287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7</a:t>
              </a:r>
              <a:endParaRPr lang="en-US" altLang="zh-CN" dirty="0">
                <a:latin typeface="Times New Roman" panose="02020603050405020304" pitchFamily="18" charset="0"/>
              </a:endParaRPr>
            </a:p>
          </p:txBody>
        </p:sp>
        <p:sp>
          <p:nvSpPr>
            <p:cNvPr id="35969" name="Rectangle 1176"/>
            <p:cNvSpPr/>
            <p:nvPr/>
          </p:nvSpPr>
          <p:spPr>
            <a:xfrm>
              <a:off x="4162" y="307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8</a:t>
              </a:r>
              <a:endParaRPr lang="en-US" altLang="zh-CN" dirty="0">
                <a:latin typeface="Times New Roman" panose="02020603050405020304" pitchFamily="18" charset="0"/>
              </a:endParaRPr>
            </a:p>
          </p:txBody>
        </p:sp>
        <p:sp>
          <p:nvSpPr>
            <p:cNvPr id="35970" name="Rectangle 1177"/>
            <p:cNvSpPr/>
            <p:nvPr/>
          </p:nvSpPr>
          <p:spPr>
            <a:xfrm>
              <a:off x="4693" y="306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9</a:t>
              </a:r>
              <a:endParaRPr lang="en-US" altLang="zh-CN" dirty="0">
                <a:latin typeface="Times New Roman" panose="02020603050405020304" pitchFamily="18" charset="0"/>
              </a:endParaRPr>
            </a:p>
          </p:txBody>
        </p:sp>
        <p:sp>
          <p:nvSpPr>
            <p:cNvPr id="35971" name="Rectangle 1178"/>
            <p:cNvSpPr/>
            <p:nvPr/>
          </p:nvSpPr>
          <p:spPr>
            <a:xfrm>
              <a:off x="4659" y="288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35972" name="Rectangle 1179"/>
            <p:cNvSpPr/>
            <p:nvPr/>
          </p:nvSpPr>
          <p:spPr>
            <a:xfrm>
              <a:off x="4670" y="269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11</a:t>
              </a:r>
              <a:endParaRPr lang="en-US" altLang="zh-CN" dirty="0">
                <a:latin typeface="Times New Roman" panose="02020603050405020304" pitchFamily="18" charset="0"/>
              </a:endParaRPr>
            </a:p>
          </p:txBody>
        </p:sp>
        <p:sp>
          <p:nvSpPr>
            <p:cNvPr id="35973" name="Rectangle 1180"/>
            <p:cNvSpPr/>
            <p:nvPr/>
          </p:nvSpPr>
          <p:spPr>
            <a:xfrm>
              <a:off x="4670" y="2512"/>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12</a:t>
              </a:r>
              <a:endParaRPr lang="en-US" altLang="zh-CN" dirty="0">
                <a:latin typeface="Times New Roman" panose="02020603050405020304" pitchFamily="18" charset="0"/>
              </a:endParaRPr>
            </a:p>
          </p:txBody>
        </p:sp>
        <p:sp>
          <p:nvSpPr>
            <p:cNvPr id="35974" name="Rectangle 1181"/>
            <p:cNvSpPr/>
            <p:nvPr/>
          </p:nvSpPr>
          <p:spPr>
            <a:xfrm>
              <a:off x="4659" y="231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13</a:t>
              </a:r>
              <a:endParaRPr lang="en-US" altLang="zh-CN" dirty="0">
                <a:latin typeface="Times New Roman" panose="02020603050405020304" pitchFamily="18" charset="0"/>
              </a:endParaRPr>
            </a:p>
          </p:txBody>
        </p:sp>
        <p:sp>
          <p:nvSpPr>
            <p:cNvPr id="35975" name="Rectangle 1182"/>
            <p:cNvSpPr/>
            <p:nvPr/>
          </p:nvSpPr>
          <p:spPr>
            <a:xfrm>
              <a:off x="4670" y="211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14</a:t>
              </a:r>
              <a:endParaRPr lang="en-US" altLang="zh-CN" dirty="0">
                <a:latin typeface="Times New Roman" panose="02020603050405020304" pitchFamily="18" charset="0"/>
              </a:endParaRPr>
            </a:p>
          </p:txBody>
        </p:sp>
        <p:sp>
          <p:nvSpPr>
            <p:cNvPr id="35976" name="Rectangle 1183"/>
            <p:cNvSpPr/>
            <p:nvPr/>
          </p:nvSpPr>
          <p:spPr>
            <a:xfrm>
              <a:off x="4681" y="193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15</a:t>
              </a:r>
              <a:endParaRPr lang="en-US" altLang="zh-CN" dirty="0">
                <a:latin typeface="Times New Roman" panose="02020603050405020304" pitchFamily="18" charset="0"/>
              </a:endParaRPr>
            </a:p>
          </p:txBody>
        </p:sp>
        <p:sp>
          <p:nvSpPr>
            <p:cNvPr id="35977" name="Rectangle 1184"/>
            <p:cNvSpPr/>
            <p:nvPr/>
          </p:nvSpPr>
          <p:spPr>
            <a:xfrm>
              <a:off x="4670" y="175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16</a:t>
              </a:r>
              <a:endParaRPr lang="en-US" altLang="zh-CN" dirty="0">
                <a:latin typeface="Times New Roman" panose="02020603050405020304" pitchFamily="18" charset="0"/>
              </a:endParaRPr>
            </a:p>
          </p:txBody>
        </p:sp>
        <p:sp>
          <p:nvSpPr>
            <p:cNvPr id="35978" name="Rectangle 1185"/>
            <p:cNvSpPr/>
            <p:nvPr/>
          </p:nvSpPr>
          <p:spPr>
            <a:xfrm>
              <a:off x="3643" y="3043"/>
              <a:ext cx="27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GND</a:t>
              </a:r>
              <a:endParaRPr lang="en-US" altLang="zh-CN" dirty="0">
                <a:latin typeface="Times New Roman" panose="02020603050405020304" pitchFamily="18" charset="0"/>
              </a:endParaRPr>
            </a:p>
          </p:txBody>
        </p:sp>
        <p:sp>
          <p:nvSpPr>
            <p:cNvPr id="35979" name="Rectangle 1186"/>
            <p:cNvSpPr/>
            <p:nvPr/>
          </p:nvSpPr>
          <p:spPr>
            <a:xfrm>
              <a:off x="5002" y="1729"/>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5980" name="Rectangle 1187"/>
            <p:cNvSpPr/>
            <p:nvPr/>
          </p:nvSpPr>
          <p:spPr>
            <a:xfrm>
              <a:off x="5085" y="1776"/>
              <a:ext cx="116"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FF"/>
                  </a:solidFill>
                  <a:latin typeface="Times New Roman" panose="02020603050405020304" pitchFamily="18" charset="0"/>
                </a:rPr>
                <a:t>DD</a:t>
              </a:r>
              <a:endParaRPr lang="en-US" altLang="zh-CN" dirty="0">
                <a:latin typeface="Times New Roman" panose="02020603050405020304" pitchFamily="18" charset="0"/>
              </a:endParaRPr>
            </a:p>
          </p:txBody>
        </p:sp>
        <p:sp>
          <p:nvSpPr>
            <p:cNvPr id="35981" name="Rectangle 1188"/>
            <p:cNvSpPr/>
            <p:nvPr/>
          </p:nvSpPr>
          <p:spPr>
            <a:xfrm>
              <a:off x="4383" y="2266"/>
              <a:ext cx="17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CD</a:t>
              </a:r>
              <a:endParaRPr lang="en-US" altLang="zh-CN" dirty="0">
                <a:latin typeface="Times New Roman" panose="02020603050405020304" pitchFamily="18" charset="0"/>
              </a:endParaRPr>
            </a:p>
          </p:txBody>
        </p:sp>
        <p:sp>
          <p:nvSpPr>
            <p:cNvPr id="35982" name="Rectangle 1189"/>
            <p:cNvSpPr/>
            <p:nvPr/>
          </p:nvSpPr>
          <p:spPr>
            <a:xfrm>
              <a:off x="4317" y="2407"/>
              <a:ext cx="256"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4502</a:t>
              </a:r>
              <a:endParaRPr lang="en-US" altLang="zh-CN" dirty="0">
                <a:latin typeface="Times New Roman" panose="02020603050405020304" pitchFamily="18" charset="0"/>
              </a:endParaRPr>
            </a:p>
          </p:txBody>
        </p:sp>
        <p:sp>
          <p:nvSpPr>
            <p:cNvPr id="35983" name="Rectangle 1190"/>
            <p:cNvSpPr/>
            <p:nvPr/>
          </p:nvSpPr>
          <p:spPr>
            <a:xfrm>
              <a:off x="5046" y="3026"/>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A</a:t>
              </a:r>
              <a:endParaRPr lang="en-US" altLang="zh-CN" dirty="0">
                <a:latin typeface="Times New Roman" panose="02020603050405020304" pitchFamily="18" charset="0"/>
              </a:endParaRPr>
            </a:p>
          </p:txBody>
        </p:sp>
        <p:sp>
          <p:nvSpPr>
            <p:cNvPr id="35984" name="Rectangle 1191"/>
            <p:cNvSpPr/>
            <p:nvPr/>
          </p:nvSpPr>
          <p:spPr>
            <a:xfrm>
              <a:off x="5046" y="2862"/>
              <a:ext cx="85"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B</a:t>
              </a:r>
              <a:endParaRPr lang="en-US" altLang="zh-CN" dirty="0">
                <a:latin typeface="Times New Roman" panose="02020603050405020304" pitchFamily="18" charset="0"/>
              </a:endParaRPr>
            </a:p>
          </p:txBody>
        </p:sp>
        <p:sp>
          <p:nvSpPr>
            <p:cNvPr id="35985" name="Rectangle 1192"/>
            <p:cNvSpPr/>
            <p:nvPr/>
          </p:nvSpPr>
          <p:spPr>
            <a:xfrm>
              <a:off x="3687" y="2669"/>
              <a:ext cx="227"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INH</a:t>
              </a:r>
              <a:endParaRPr lang="en-US" altLang="zh-CN" dirty="0">
                <a:latin typeface="Times New Roman" panose="02020603050405020304" pitchFamily="18" charset="0"/>
              </a:endParaRPr>
            </a:p>
          </p:txBody>
        </p:sp>
        <p:sp>
          <p:nvSpPr>
            <p:cNvPr id="35986" name="Rectangle 1193"/>
            <p:cNvSpPr/>
            <p:nvPr/>
          </p:nvSpPr>
          <p:spPr>
            <a:xfrm>
              <a:off x="3709" y="2839"/>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5987" name="Rectangle 1194"/>
            <p:cNvSpPr/>
            <p:nvPr/>
          </p:nvSpPr>
          <p:spPr>
            <a:xfrm>
              <a:off x="3798" y="2886"/>
              <a:ext cx="98"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FF"/>
                  </a:solidFill>
                  <a:latin typeface="Times New Roman" panose="02020603050405020304" pitchFamily="18" charset="0"/>
                </a:rPr>
                <a:t>EE</a:t>
              </a:r>
              <a:endParaRPr lang="en-US" altLang="zh-CN" dirty="0">
                <a:latin typeface="Times New Roman" panose="02020603050405020304" pitchFamily="18" charset="0"/>
              </a:endParaRPr>
            </a:p>
          </p:txBody>
        </p:sp>
        <p:sp>
          <p:nvSpPr>
            <p:cNvPr id="35988" name="Line 1195"/>
            <p:cNvSpPr/>
            <p:nvPr/>
          </p:nvSpPr>
          <p:spPr>
            <a:xfrm>
              <a:off x="3687" y="2669"/>
              <a:ext cx="199" cy="1"/>
            </a:xfrm>
            <a:prstGeom prst="line">
              <a:avLst/>
            </a:prstGeom>
            <a:ln w="0" cap="flat" cmpd="sng">
              <a:solidFill>
                <a:srgbClr val="0000FF"/>
              </a:solidFill>
              <a:prstDash val="solid"/>
              <a:headEnd type="none" w="med" len="med"/>
              <a:tailEnd type="none" w="med" len="med"/>
            </a:ln>
          </p:spPr>
        </p:sp>
        <p:sp>
          <p:nvSpPr>
            <p:cNvPr id="35989" name="Rectangle 1196"/>
            <p:cNvSpPr/>
            <p:nvPr/>
          </p:nvSpPr>
          <p:spPr>
            <a:xfrm>
              <a:off x="3416" y="1834"/>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5990" name="Rectangle 1197"/>
            <p:cNvSpPr/>
            <p:nvPr/>
          </p:nvSpPr>
          <p:spPr>
            <a:xfrm>
              <a:off x="3323" y="1823"/>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Y</a:t>
              </a:r>
              <a:endParaRPr lang="en-US" altLang="zh-CN" dirty="0">
                <a:latin typeface="Times New Roman" panose="02020603050405020304" pitchFamily="18" charset="0"/>
              </a:endParaRPr>
            </a:p>
          </p:txBody>
        </p:sp>
        <p:sp>
          <p:nvSpPr>
            <p:cNvPr id="35991" name="Rectangle 1198"/>
            <p:cNvSpPr/>
            <p:nvPr/>
          </p:nvSpPr>
          <p:spPr>
            <a:xfrm>
              <a:off x="3488" y="2126"/>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(OUT/IN)</a:t>
              </a:r>
              <a:endParaRPr lang="en-US" altLang="zh-CN" dirty="0">
                <a:latin typeface="Times New Roman" panose="02020603050405020304" pitchFamily="18" charset="0"/>
              </a:endParaRPr>
            </a:p>
          </p:txBody>
        </p:sp>
        <p:sp>
          <p:nvSpPr>
            <p:cNvPr id="35992" name="Rectangle 1199"/>
            <p:cNvSpPr/>
            <p:nvPr/>
          </p:nvSpPr>
          <p:spPr>
            <a:xfrm>
              <a:off x="3400" y="2120"/>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Y</a:t>
              </a:r>
              <a:endParaRPr lang="en-US" altLang="zh-CN" dirty="0">
                <a:latin typeface="Times New Roman" panose="02020603050405020304" pitchFamily="18" charset="0"/>
              </a:endParaRPr>
            </a:p>
          </p:txBody>
        </p:sp>
        <p:sp>
          <p:nvSpPr>
            <p:cNvPr id="35993" name="Rectangle 1200"/>
            <p:cNvSpPr/>
            <p:nvPr/>
          </p:nvSpPr>
          <p:spPr>
            <a:xfrm>
              <a:off x="3328" y="239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Y</a:t>
              </a:r>
              <a:endParaRPr lang="en-US" altLang="zh-CN" dirty="0">
                <a:latin typeface="Times New Roman" panose="02020603050405020304" pitchFamily="18" charset="0"/>
              </a:endParaRPr>
            </a:p>
          </p:txBody>
        </p:sp>
        <p:sp>
          <p:nvSpPr>
            <p:cNvPr id="35994" name="Rectangle 1201"/>
            <p:cNvSpPr/>
            <p:nvPr/>
          </p:nvSpPr>
          <p:spPr>
            <a:xfrm>
              <a:off x="3416" y="2401"/>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5995" name="Rectangle 1202"/>
            <p:cNvSpPr/>
            <p:nvPr/>
          </p:nvSpPr>
          <p:spPr>
            <a:xfrm>
              <a:off x="5206" y="2576"/>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5996" name="Rectangle 1203"/>
            <p:cNvSpPr/>
            <p:nvPr/>
          </p:nvSpPr>
          <p:spPr>
            <a:xfrm>
              <a:off x="5112" y="2570"/>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X</a:t>
              </a:r>
              <a:endParaRPr lang="en-US" altLang="zh-CN" dirty="0">
                <a:latin typeface="Times New Roman" panose="02020603050405020304" pitchFamily="18" charset="0"/>
              </a:endParaRPr>
            </a:p>
          </p:txBody>
        </p:sp>
        <p:sp>
          <p:nvSpPr>
            <p:cNvPr id="35997" name="Rectangle 1204"/>
            <p:cNvSpPr/>
            <p:nvPr/>
          </p:nvSpPr>
          <p:spPr>
            <a:xfrm>
              <a:off x="5118" y="2313"/>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(OUT/IN)</a:t>
              </a:r>
              <a:endParaRPr lang="en-US" altLang="zh-CN" dirty="0">
                <a:latin typeface="Times New Roman" panose="02020603050405020304" pitchFamily="18" charset="0"/>
              </a:endParaRPr>
            </a:p>
          </p:txBody>
        </p:sp>
        <p:sp>
          <p:nvSpPr>
            <p:cNvPr id="35998" name="Rectangle 1205"/>
            <p:cNvSpPr/>
            <p:nvPr/>
          </p:nvSpPr>
          <p:spPr>
            <a:xfrm>
              <a:off x="5013" y="2307"/>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X</a:t>
              </a:r>
              <a:endParaRPr lang="en-US" altLang="zh-CN" dirty="0">
                <a:latin typeface="Times New Roman" panose="02020603050405020304" pitchFamily="18" charset="0"/>
              </a:endParaRPr>
            </a:p>
          </p:txBody>
        </p:sp>
        <p:sp>
          <p:nvSpPr>
            <p:cNvPr id="35999" name="Rectangle 1206"/>
            <p:cNvSpPr/>
            <p:nvPr/>
          </p:nvSpPr>
          <p:spPr>
            <a:xfrm>
              <a:off x="5101" y="2010"/>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FF"/>
                  </a:solidFill>
                  <a:latin typeface="Times New Roman" panose="02020603050405020304" pitchFamily="18" charset="0"/>
                </a:rPr>
                <a:t>X</a:t>
              </a:r>
              <a:endParaRPr lang="en-US" altLang="zh-CN" dirty="0">
                <a:latin typeface="Times New Roman" panose="02020603050405020304" pitchFamily="18" charset="0"/>
              </a:endParaRPr>
            </a:p>
          </p:txBody>
        </p:sp>
        <p:sp>
          <p:nvSpPr>
            <p:cNvPr id="36000" name="Rectangle 1207"/>
            <p:cNvSpPr/>
            <p:nvPr/>
          </p:nvSpPr>
          <p:spPr>
            <a:xfrm>
              <a:off x="5190" y="2015"/>
              <a:ext cx="38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FF"/>
                  </a:solidFill>
                  <a:latin typeface="Times New Roman" panose="02020603050405020304" pitchFamily="18" charset="0"/>
                </a:rPr>
                <a:t>(IN/OUT)</a:t>
              </a:r>
              <a:endParaRPr lang="en-US" altLang="zh-CN" dirty="0">
                <a:latin typeface="Times New Roman" panose="02020603050405020304" pitchFamily="18" charset="0"/>
              </a:endParaRPr>
            </a:p>
          </p:txBody>
        </p:sp>
        <p:sp>
          <p:nvSpPr>
            <p:cNvPr id="36001" name="Rectangle 1208"/>
            <p:cNvSpPr/>
            <p:nvPr/>
          </p:nvSpPr>
          <p:spPr>
            <a:xfrm>
              <a:off x="3820" y="1788"/>
              <a:ext cx="88"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6002" name="Rectangle 1209"/>
            <p:cNvSpPr/>
            <p:nvPr/>
          </p:nvSpPr>
          <p:spPr>
            <a:xfrm>
              <a:off x="3831" y="2348"/>
              <a:ext cx="88"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6003" name="Rectangle 1210"/>
            <p:cNvSpPr/>
            <p:nvPr/>
          </p:nvSpPr>
          <p:spPr>
            <a:xfrm>
              <a:off x="5013" y="2535"/>
              <a:ext cx="88"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6004" name="Rectangle 1211"/>
            <p:cNvSpPr/>
            <p:nvPr/>
          </p:nvSpPr>
          <p:spPr>
            <a:xfrm>
              <a:off x="5013" y="1974"/>
              <a:ext cx="88" cy="199"/>
            </a:xfrm>
            <a:prstGeom prst="rect">
              <a:avLst/>
            </a:prstGeom>
            <a:noFill/>
            <a:ln w="9525">
              <a:noFill/>
            </a:ln>
          </p:spPr>
          <p:txBody>
            <a:bodyPr wrap="none" lIns="0" tIns="0" rIns="0" bIns="0">
              <a:spAutoFit/>
            </a:bodyPr>
            <a:p>
              <a:pPr eaLnBrk="1" hangingPunct="1">
                <a:lnSpc>
                  <a:spcPct val="90000"/>
                </a:lnSpc>
              </a:pPr>
              <a:r>
                <a:rPr lang="en-US" altLang="zh-CN" sz="23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6005" name="Oval 1212"/>
            <p:cNvSpPr/>
            <p:nvPr/>
          </p:nvSpPr>
          <p:spPr>
            <a:xfrm>
              <a:off x="4356" y="1542"/>
              <a:ext cx="184" cy="201"/>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6006" name="Rectangle 1213"/>
            <p:cNvSpPr/>
            <p:nvPr/>
          </p:nvSpPr>
          <p:spPr>
            <a:xfrm>
              <a:off x="4251" y="1507"/>
              <a:ext cx="375" cy="164"/>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36007" name="Line 1214"/>
            <p:cNvSpPr/>
            <p:nvPr/>
          </p:nvSpPr>
          <p:spPr>
            <a:xfrm flipH="1">
              <a:off x="4096" y="1671"/>
              <a:ext cx="265" cy="1"/>
            </a:xfrm>
            <a:prstGeom prst="line">
              <a:avLst/>
            </a:prstGeom>
            <a:ln w="0" cap="flat" cmpd="sng">
              <a:solidFill>
                <a:srgbClr val="0000FF"/>
              </a:solidFill>
              <a:prstDash val="solid"/>
              <a:headEnd type="none" w="med" len="med"/>
              <a:tailEnd type="none" w="med" len="med"/>
            </a:ln>
          </p:spPr>
        </p:sp>
        <p:sp>
          <p:nvSpPr>
            <p:cNvPr id="36008" name="Line 1215"/>
            <p:cNvSpPr/>
            <p:nvPr/>
          </p:nvSpPr>
          <p:spPr>
            <a:xfrm>
              <a:off x="4096" y="1671"/>
              <a:ext cx="1" cy="1592"/>
            </a:xfrm>
            <a:prstGeom prst="line">
              <a:avLst/>
            </a:prstGeom>
            <a:ln w="0" cap="flat" cmpd="sng">
              <a:solidFill>
                <a:srgbClr val="0000FF"/>
              </a:solidFill>
              <a:prstDash val="solid"/>
              <a:headEnd type="none" w="med" len="med"/>
              <a:tailEnd type="none" w="med" len="med"/>
            </a:ln>
          </p:spPr>
        </p:sp>
        <p:sp>
          <p:nvSpPr>
            <p:cNvPr id="36009" name="Line 1216"/>
            <p:cNvSpPr/>
            <p:nvPr/>
          </p:nvSpPr>
          <p:spPr>
            <a:xfrm flipV="1">
              <a:off x="4803" y="1671"/>
              <a:ext cx="1" cy="1588"/>
            </a:xfrm>
            <a:prstGeom prst="line">
              <a:avLst/>
            </a:prstGeom>
            <a:ln w="0" cap="flat" cmpd="sng">
              <a:solidFill>
                <a:srgbClr val="0000FF"/>
              </a:solidFill>
              <a:prstDash val="solid"/>
              <a:headEnd type="none" w="med" len="med"/>
              <a:tailEnd type="none" w="med" len="med"/>
            </a:ln>
          </p:spPr>
        </p:sp>
        <p:sp>
          <p:nvSpPr>
            <p:cNvPr id="36010" name="Line 1217"/>
            <p:cNvSpPr/>
            <p:nvPr/>
          </p:nvSpPr>
          <p:spPr>
            <a:xfrm flipH="1">
              <a:off x="4527" y="1671"/>
              <a:ext cx="276" cy="1"/>
            </a:xfrm>
            <a:prstGeom prst="line">
              <a:avLst/>
            </a:prstGeom>
            <a:ln w="0" cap="flat" cmpd="sng">
              <a:solidFill>
                <a:srgbClr val="0000FF"/>
              </a:solidFill>
              <a:prstDash val="solid"/>
              <a:headEnd type="none" w="med" len="med"/>
              <a:tailEnd type="none" w="med" len="med"/>
            </a:ln>
          </p:spPr>
        </p:sp>
        <p:sp>
          <p:nvSpPr>
            <p:cNvPr id="36011" name="Line 1218"/>
            <p:cNvSpPr/>
            <p:nvPr/>
          </p:nvSpPr>
          <p:spPr>
            <a:xfrm>
              <a:off x="4096" y="3259"/>
              <a:ext cx="707" cy="1"/>
            </a:xfrm>
            <a:prstGeom prst="line">
              <a:avLst/>
            </a:prstGeom>
            <a:ln w="0" cap="flat" cmpd="sng">
              <a:solidFill>
                <a:srgbClr val="0000FF"/>
              </a:solidFill>
              <a:prstDash val="solid"/>
              <a:headEnd type="none" w="med" len="med"/>
              <a:tailEnd type="none" w="med" len="med"/>
            </a:ln>
          </p:spPr>
        </p:sp>
        <p:sp>
          <p:nvSpPr>
            <p:cNvPr id="36012" name="Line 1219"/>
            <p:cNvSpPr/>
            <p:nvPr/>
          </p:nvSpPr>
          <p:spPr>
            <a:xfrm>
              <a:off x="3919" y="3111"/>
              <a:ext cx="177" cy="1"/>
            </a:xfrm>
            <a:prstGeom prst="line">
              <a:avLst/>
            </a:prstGeom>
            <a:ln w="0" cap="flat" cmpd="sng">
              <a:solidFill>
                <a:srgbClr val="0000FF"/>
              </a:solidFill>
              <a:prstDash val="solid"/>
              <a:headEnd type="none" w="med" len="med"/>
              <a:tailEnd type="none" w="med" len="med"/>
            </a:ln>
          </p:spPr>
        </p:sp>
        <p:sp>
          <p:nvSpPr>
            <p:cNvPr id="36013" name="Line 1220"/>
            <p:cNvSpPr/>
            <p:nvPr/>
          </p:nvSpPr>
          <p:spPr>
            <a:xfrm>
              <a:off x="3919" y="2732"/>
              <a:ext cx="177" cy="1"/>
            </a:xfrm>
            <a:prstGeom prst="line">
              <a:avLst/>
            </a:prstGeom>
            <a:ln w="0" cap="flat" cmpd="sng">
              <a:solidFill>
                <a:srgbClr val="0000FF"/>
              </a:solidFill>
              <a:prstDash val="solid"/>
              <a:headEnd type="none" w="med" len="med"/>
              <a:tailEnd type="none" w="med" len="med"/>
            </a:ln>
          </p:spPr>
        </p:sp>
        <p:sp>
          <p:nvSpPr>
            <p:cNvPr id="36014" name="Line 1221"/>
            <p:cNvSpPr/>
            <p:nvPr/>
          </p:nvSpPr>
          <p:spPr>
            <a:xfrm>
              <a:off x="827" y="1930"/>
              <a:ext cx="1" cy="957"/>
            </a:xfrm>
            <a:prstGeom prst="line">
              <a:avLst/>
            </a:prstGeom>
            <a:ln w="0" cap="flat" cmpd="sng">
              <a:solidFill>
                <a:srgbClr val="0000FF"/>
              </a:solidFill>
              <a:prstDash val="solid"/>
              <a:headEnd type="none" w="med" len="med"/>
              <a:tailEnd type="none" w="med" len="med"/>
            </a:ln>
          </p:spPr>
        </p:sp>
        <p:sp>
          <p:nvSpPr>
            <p:cNvPr id="36015" name="Line 1222"/>
            <p:cNvSpPr/>
            <p:nvPr/>
          </p:nvSpPr>
          <p:spPr>
            <a:xfrm>
              <a:off x="2243" y="3296"/>
              <a:ext cx="1" cy="339"/>
            </a:xfrm>
            <a:prstGeom prst="line">
              <a:avLst/>
            </a:prstGeom>
            <a:ln w="0" cap="flat" cmpd="sng">
              <a:solidFill>
                <a:srgbClr val="0000FF"/>
              </a:solidFill>
              <a:prstDash val="solid"/>
              <a:headEnd type="none" w="med" len="med"/>
              <a:tailEnd type="none" w="med" len="med"/>
            </a:ln>
          </p:spPr>
        </p:sp>
        <p:sp>
          <p:nvSpPr>
            <p:cNvPr id="36016" name="Line 1223"/>
            <p:cNvSpPr/>
            <p:nvPr/>
          </p:nvSpPr>
          <p:spPr>
            <a:xfrm>
              <a:off x="1975" y="3261"/>
              <a:ext cx="1" cy="374"/>
            </a:xfrm>
            <a:prstGeom prst="line">
              <a:avLst/>
            </a:prstGeom>
            <a:ln w="0" cap="flat" cmpd="sng">
              <a:solidFill>
                <a:srgbClr val="0000FF"/>
              </a:solidFill>
              <a:prstDash val="solid"/>
              <a:headEnd type="none" w="med" len="med"/>
              <a:tailEnd type="none" w="med" len="med"/>
            </a:ln>
          </p:spPr>
        </p:sp>
        <p:sp>
          <p:nvSpPr>
            <p:cNvPr id="36017" name="Line 1224"/>
            <p:cNvSpPr/>
            <p:nvPr/>
          </p:nvSpPr>
          <p:spPr>
            <a:xfrm>
              <a:off x="1746" y="2323"/>
              <a:ext cx="1" cy="494"/>
            </a:xfrm>
            <a:prstGeom prst="line">
              <a:avLst/>
            </a:prstGeom>
            <a:ln w="0" cap="flat" cmpd="sng">
              <a:solidFill>
                <a:srgbClr val="0000FF"/>
              </a:solidFill>
              <a:prstDash val="solid"/>
              <a:headEnd type="none" w="med" len="med"/>
              <a:tailEnd type="none" w="med" len="med"/>
            </a:ln>
          </p:spPr>
        </p:sp>
        <p:sp>
          <p:nvSpPr>
            <p:cNvPr id="36018" name="Line 1225"/>
            <p:cNvSpPr/>
            <p:nvPr/>
          </p:nvSpPr>
          <p:spPr>
            <a:xfrm>
              <a:off x="1549" y="2323"/>
              <a:ext cx="1" cy="681"/>
            </a:xfrm>
            <a:prstGeom prst="line">
              <a:avLst/>
            </a:prstGeom>
            <a:ln w="0" cap="flat" cmpd="sng">
              <a:solidFill>
                <a:srgbClr val="0000FF"/>
              </a:solidFill>
              <a:prstDash val="solid"/>
              <a:headEnd type="none" w="med" len="med"/>
              <a:tailEnd type="none" w="med" len="med"/>
            </a:ln>
          </p:spPr>
        </p:sp>
        <p:sp>
          <p:nvSpPr>
            <p:cNvPr id="36019" name="Line 1226"/>
            <p:cNvSpPr/>
            <p:nvPr/>
          </p:nvSpPr>
          <p:spPr>
            <a:xfrm>
              <a:off x="1008" y="1930"/>
              <a:ext cx="1" cy="771"/>
            </a:xfrm>
            <a:prstGeom prst="line">
              <a:avLst/>
            </a:prstGeom>
            <a:ln w="0" cap="flat" cmpd="sng">
              <a:solidFill>
                <a:srgbClr val="0000FF"/>
              </a:solidFill>
              <a:prstDash val="solid"/>
              <a:headEnd type="none" w="med" len="med"/>
              <a:tailEnd type="none" w="med" len="med"/>
            </a:ln>
          </p:spPr>
        </p:sp>
        <p:sp>
          <p:nvSpPr>
            <p:cNvPr id="36020" name="Line 1227"/>
            <p:cNvSpPr/>
            <p:nvPr/>
          </p:nvSpPr>
          <p:spPr>
            <a:xfrm>
              <a:off x="1855" y="1856"/>
              <a:ext cx="1" cy="202"/>
            </a:xfrm>
            <a:prstGeom prst="line">
              <a:avLst/>
            </a:prstGeom>
            <a:ln w="0" cap="flat" cmpd="sng">
              <a:solidFill>
                <a:srgbClr val="0000FF"/>
              </a:solidFill>
              <a:prstDash val="solid"/>
              <a:headEnd type="none" w="med" len="med"/>
              <a:tailEnd type="none" w="med" len="med"/>
            </a:ln>
          </p:spPr>
        </p:sp>
        <p:sp>
          <p:nvSpPr>
            <p:cNvPr id="36021" name="Line 1228"/>
            <p:cNvSpPr/>
            <p:nvPr/>
          </p:nvSpPr>
          <p:spPr>
            <a:xfrm>
              <a:off x="1614" y="1856"/>
              <a:ext cx="1" cy="202"/>
            </a:xfrm>
            <a:prstGeom prst="line">
              <a:avLst/>
            </a:prstGeom>
            <a:ln w="0" cap="flat" cmpd="sng">
              <a:solidFill>
                <a:srgbClr val="0000FF"/>
              </a:solidFill>
              <a:prstDash val="solid"/>
              <a:headEnd type="none" w="med" len="med"/>
              <a:tailEnd type="none" w="med" len="med"/>
            </a:ln>
          </p:spPr>
        </p:sp>
        <p:sp>
          <p:nvSpPr>
            <p:cNvPr id="36022" name="Line 1229"/>
            <p:cNvSpPr/>
            <p:nvPr/>
          </p:nvSpPr>
          <p:spPr>
            <a:xfrm>
              <a:off x="2074" y="1856"/>
              <a:ext cx="1" cy="202"/>
            </a:xfrm>
            <a:prstGeom prst="line">
              <a:avLst/>
            </a:prstGeom>
            <a:ln w="0" cap="flat" cmpd="sng">
              <a:solidFill>
                <a:srgbClr val="0000FF"/>
              </a:solidFill>
              <a:prstDash val="solid"/>
              <a:headEnd type="none" w="med" len="med"/>
              <a:tailEnd type="none" w="med" len="med"/>
            </a:ln>
          </p:spPr>
        </p:sp>
        <p:sp>
          <p:nvSpPr>
            <p:cNvPr id="36023" name="Line 1230"/>
            <p:cNvSpPr/>
            <p:nvPr/>
          </p:nvSpPr>
          <p:spPr>
            <a:xfrm>
              <a:off x="1094" y="1404"/>
              <a:ext cx="1" cy="526"/>
            </a:xfrm>
            <a:prstGeom prst="line">
              <a:avLst/>
            </a:prstGeom>
            <a:ln w="0" cap="flat" cmpd="sng">
              <a:solidFill>
                <a:srgbClr val="0000FF"/>
              </a:solidFill>
              <a:prstDash val="solid"/>
              <a:headEnd type="none" w="med" len="med"/>
              <a:tailEnd type="none" w="med" len="med"/>
            </a:ln>
          </p:spPr>
        </p:sp>
        <p:sp>
          <p:nvSpPr>
            <p:cNvPr id="36024" name="Line 1231"/>
            <p:cNvSpPr/>
            <p:nvPr/>
          </p:nvSpPr>
          <p:spPr>
            <a:xfrm>
              <a:off x="1592" y="1400"/>
              <a:ext cx="1" cy="191"/>
            </a:xfrm>
            <a:prstGeom prst="line">
              <a:avLst/>
            </a:prstGeom>
            <a:ln w="0" cap="flat" cmpd="sng">
              <a:solidFill>
                <a:srgbClr val="0000FF"/>
              </a:solidFill>
              <a:prstDash val="solid"/>
              <a:headEnd type="none" w="med" len="med"/>
              <a:tailEnd type="none" w="med" len="med"/>
            </a:ln>
          </p:spPr>
        </p:sp>
        <p:sp>
          <p:nvSpPr>
            <p:cNvPr id="36025" name="Line 1232"/>
            <p:cNvSpPr/>
            <p:nvPr/>
          </p:nvSpPr>
          <p:spPr>
            <a:xfrm>
              <a:off x="1846" y="1404"/>
              <a:ext cx="1" cy="187"/>
            </a:xfrm>
            <a:prstGeom prst="line">
              <a:avLst/>
            </a:prstGeom>
            <a:ln w="0" cap="flat" cmpd="sng">
              <a:solidFill>
                <a:srgbClr val="0000FF"/>
              </a:solidFill>
              <a:prstDash val="solid"/>
              <a:headEnd type="none" w="med" len="med"/>
              <a:tailEnd type="none" w="med" len="med"/>
            </a:ln>
          </p:spPr>
        </p:sp>
        <p:sp>
          <p:nvSpPr>
            <p:cNvPr id="36026" name="Line 1233"/>
            <p:cNvSpPr/>
            <p:nvPr/>
          </p:nvSpPr>
          <p:spPr>
            <a:xfrm>
              <a:off x="2102" y="1404"/>
              <a:ext cx="1" cy="187"/>
            </a:xfrm>
            <a:prstGeom prst="line">
              <a:avLst/>
            </a:prstGeom>
            <a:ln w="0" cap="flat" cmpd="sng">
              <a:solidFill>
                <a:srgbClr val="0000FF"/>
              </a:solidFill>
              <a:prstDash val="solid"/>
              <a:headEnd type="none" w="med" len="med"/>
              <a:tailEnd type="none" w="med" len="med"/>
            </a:ln>
          </p:spPr>
        </p:sp>
        <p:sp>
          <p:nvSpPr>
            <p:cNvPr id="36027" name="Line 1234"/>
            <p:cNvSpPr/>
            <p:nvPr/>
          </p:nvSpPr>
          <p:spPr>
            <a:xfrm>
              <a:off x="2685" y="2736"/>
              <a:ext cx="1" cy="619"/>
            </a:xfrm>
            <a:prstGeom prst="line">
              <a:avLst/>
            </a:prstGeom>
            <a:ln w="0" cap="flat" cmpd="sng">
              <a:solidFill>
                <a:srgbClr val="0000FF"/>
              </a:solidFill>
              <a:prstDash val="solid"/>
              <a:headEnd type="none" w="med" len="med"/>
              <a:tailEnd type="none" w="med" len="med"/>
            </a:ln>
          </p:spPr>
        </p:sp>
        <p:sp>
          <p:nvSpPr>
            <p:cNvPr id="36028" name="Line 1235"/>
            <p:cNvSpPr/>
            <p:nvPr/>
          </p:nvSpPr>
          <p:spPr>
            <a:xfrm>
              <a:off x="826" y="3409"/>
              <a:ext cx="88" cy="1"/>
            </a:xfrm>
            <a:prstGeom prst="line">
              <a:avLst/>
            </a:prstGeom>
            <a:ln w="0" cap="flat" cmpd="sng">
              <a:solidFill>
                <a:srgbClr val="0000FF"/>
              </a:solidFill>
              <a:prstDash val="solid"/>
              <a:headEnd type="none" w="med" len="med"/>
              <a:tailEnd type="none" w="med" len="med"/>
            </a:ln>
          </p:spPr>
        </p:sp>
        <p:sp>
          <p:nvSpPr>
            <p:cNvPr id="36029" name="Line 1236"/>
            <p:cNvSpPr/>
            <p:nvPr/>
          </p:nvSpPr>
          <p:spPr>
            <a:xfrm>
              <a:off x="1006" y="3355"/>
              <a:ext cx="173" cy="1"/>
            </a:xfrm>
            <a:prstGeom prst="line">
              <a:avLst/>
            </a:prstGeom>
            <a:ln w="0" cap="flat" cmpd="sng">
              <a:solidFill>
                <a:srgbClr val="0000FF"/>
              </a:solidFill>
              <a:prstDash val="solid"/>
              <a:headEnd type="none" w="med" len="med"/>
              <a:tailEnd type="none" w="med" len="med"/>
            </a:ln>
          </p:spPr>
        </p:sp>
        <p:sp>
          <p:nvSpPr>
            <p:cNvPr id="36030" name="Line 1237"/>
            <p:cNvSpPr/>
            <p:nvPr/>
          </p:nvSpPr>
          <p:spPr>
            <a:xfrm>
              <a:off x="481" y="2625"/>
              <a:ext cx="168" cy="1"/>
            </a:xfrm>
            <a:prstGeom prst="line">
              <a:avLst/>
            </a:prstGeom>
            <a:ln w="0" cap="flat" cmpd="sng">
              <a:solidFill>
                <a:srgbClr val="0000FF"/>
              </a:solidFill>
              <a:prstDash val="solid"/>
              <a:headEnd type="none" w="med" len="med"/>
              <a:tailEnd type="none" w="med" len="med"/>
            </a:ln>
          </p:spPr>
        </p:sp>
        <p:sp>
          <p:nvSpPr>
            <p:cNvPr id="36031" name="Line 1238"/>
            <p:cNvSpPr/>
            <p:nvPr/>
          </p:nvSpPr>
          <p:spPr>
            <a:xfrm>
              <a:off x="1356" y="3261"/>
              <a:ext cx="353" cy="1"/>
            </a:xfrm>
            <a:prstGeom prst="line">
              <a:avLst/>
            </a:prstGeom>
            <a:ln w="0" cap="flat" cmpd="sng">
              <a:solidFill>
                <a:srgbClr val="0000FF"/>
              </a:solidFill>
              <a:prstDash val="solid"/>
              <a:headEnd type="none" w="med" len="med"/>
              <a:tailEnd type="none" w="med" len="med"/>
            </a:ln>
          </p:spPr>
        </p:sp>
        <p:sp>
          <p:nvSpPr>
            <p:cNvPr id="36032" name="Line 1239"/>
            <p:cNvSpPr/>
            <p:nvPr/>
          </p:nvSpPr>
          <p:spPr>
            <a:xfrm>
              <a:off x="1975" y="3261"/>
              <a:ext cx="353" cy="1"/>
            </a:xfrm>
            <a:prstGeom prst="line">
              <a:avLst/>
            </a:prstGeom>
            <a:ln w="0" cap="flat" cmpd="sng">
              <a:solidFill>
                <a:srgbClr val="0000FF"/>
              </a:solidFill>
              <a:prstDash val="solid"/>
              <a:headEnd type="none" w="med" len="med"/>
              <a:tailEnd type="none" w="med" len="med"/>
            </a:ln>
          </p:spPr>
        </p:sp>
        <p:sp>
          <p:nvSpPr>
            <p:cNvPr id="36033" name="Line 1240"/>
            <p:cNvSpPr/>
            <p:nvPr/>
          </p:nvSpPr>
          <p:spPr>
            <a:xfrm>
              <a:off x="2243" y="3296"/>
              <a:ext cx="262" cy="1"/>
            </a:xfrm>
            <a:prstGeom prst="line">
              <a:avLst/>
            </a:prstGeom>
            <a:ln w="0" cap="flat" cmpd="sng">
              <a:solidFill>
                <a:srgbClr val="0000FF"/>
              </a:solidFill>
              <a:prstDash val="solid"/>
              <a:headEnd type="none" w="med" len="med"/>
              <a:tailEnd type="none" w="med" len="med"/>
            </a:ln>
          </p:spPr>
        </p:sp>
        <p:sp>
          <p:nvSpPr>
            <p:cNvPr id="36034" name="Line 1241"/>
            <p:cNvSpPr/>
            <p:nvPr/>
          </p:nvSpPr>
          <p:spPr>
            <a:xfrm>
              <a:off x="2505" y="3355"/>
              <a:ext cx="180" cy="1"/>
            </a:xfrm>
            <a:prstGeom prst="line">
              <a:avLst/>
            </a:prstGeom>
            <a:ln w="0" cap="flat" cmpd="sng">
              <a:solidFill>
                <a:srgbClr val="0000FF"/>
              </a:solidFill>
              <a:prstDash val="solid"/>
              <a:headEnd type="none" w="med" len="med"/>
              <a:tailEnd type="none" w="med" len="med"/>
            </a:ln>
          </p:spPr>
        </p:sp>
        <p:sp>
          <p:nvSpPr>
            <p:cNvPr id="36035" name="Line 1242"/>
            <p:cNvSpPr/>
            <p:nvPr/>
          </p:nvSpPr>
          <p:spPr>
            <a:xfrm>
              <a:off x="2770" y="3415"/>
              <a:ext cx="89" cy="1"/>
            </a:xfrm>
            <a:prstGeom prst="line">
              <a:avLst/>
            </a:prstGeom>
            <a:ln w="0" cap="flat" cmpd="sng">
              <a:solidFill>
                <a:srgbClr val="0000FF"/>
              </a:solidFill>
              <a:prstDash val="solid"/>
              <a:headEnd type="none" w="med" len="med"/>
              <a:tailEnd type="none" w="med" len="med"/>
            </a:ln>
          </p:spPr>
        </p:sp>
        <p:sp>
          <p:nvSpPr>
            <p:cNvPr id="36036" name="Line 1243"/>
            <p:cNvSpPr/>
            <p:nvPr/>
          </p:nvSpPr>
          <p:spPr>
            <a:xfrm>
              <a:off x="1183" y="3306"/>
              <a:ext cx="261" cy="1"/>
            </a:xfrm>
            <a:prstGeom prst="line">
              <a:avLst/>
            </a:prstGeom>
            <a:ln w="0" cap="flat" cmpd="sng">
              <a:solidFill>
                <a:srgbClr val="0000FF"/>
              </a:solidFill>
              <a:prstDash val="solid"/>
              <a:headEnd type="none" w="med" len="med"/>
              <a:tailEnd type="none" w="med" len="med"/>
            </a:ln>
          </p:spPr>
        </p:sp>
        <p:sp>
          <p:nvSpPr>
            <p:cNvPr id="36037" name="Line 1244"/>
            <p:cNvSpPr/>
            <p:nvPr/>
          </p:nvSpPr>
          <p:spPr>
            <a:xfrm>
              <a:off x="829" y="1926"/>
              <a:ext cx="527" cy="1"/>
            </a:xfrm>
            <a:prstGeom prst="line">
              <a:avLst/>
            </a:prstGeom>
            <a:ln w="0" cap="flat" cmpd="sng">
              <a:solidFill>
                <a:srgbClr val="0000FF"/>
              </a:solidFill>
              <a:prstDash val="solid"/>
              <a:headEnd type="none" w="med" len="med"/>
              <a:tailEnd type="none" w="med" len="med"/>
            </a:ln>
          </p:spPr>
        </p:sp>
      </p:grpSp>
      <p:sp>
        <p:nvSpPr>
          <p:cNvPr id="2335965" name="Rectangle 1245"/>
          <p:cNvSpPr/>
          <p:nvPr/>
        </p:nvSpPr>
        <p:spPr>
          <a:xfrm>
            <a:off x="4384675" y="1392238"/>
            <a:ext cx="4641850" cy="387350"/>
          </a:xfrm>
          <a:prstGeom prst="rect">
            <a:avLst/>
          </a:prstGeom>
          <a:solidFill>
            <a:srgbClr val="CCFFFF"/>
          </a:solidFill>
          <a:ln w="9525">
            <a:noFill/>
          </a:ln>
        </p:spPr>
        <p:txBody>
          <a:bodyPr wrap="none" lIns="0" tIns="0" rIns="0" bIns="0">
            <a:spAutoFit/>
          </a:bodyPr>
          <a:p>
            <a:pPr eaLnBrk="1" hangingPunct="1">
              <a:lnSpc>
                <a:spcPct val="90000"/>
              </a:lnSpc>
            </a:pPr>
            <a:r>
              <a:rPr lang="en-US" altLang="zh-CN" sz="2800" dirty="0">
                <a:solidFill>
                  <a:srgbClr val="000080"/>
                </a:solidFill>
                <a:latin typeface="楷体_GB2312" pitchFamily="49" charset="-122"/>
              </a:rPr>
              <a:t>CD4052</a:t>
            </a:r>
            <a:r>
              <a:rPr lang="zh-CN" altLang="en-US" sz="2800" dirty="0">
                <a:solidFill>
                  <a:srgbClr val="000080"/>
                </a:solidFill>
                <a:latin typeface="楷体_GB2312" pitchFamily="49" charset="-122"/>
              </a:rPr>
              <a:t>芯片结构及引脚功能</a:t>
            </a:r>
            <a:endParaRPr lang="zh-CN" altLang="en-US" sz="4000" dirty="0">
              <a:latin typeface="Times New Roman" panose="02020603050405020304" pitchFamily="18" charset="0"/>
            </a:endParaRPr>
          </a:p>
        </p:txBody>
      </p:sp>
      <p:sp>
        <p:nvSpPr>
          <p:cNvPr id="35846"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pic>
        <p:nvPicPr>
          <p:cNvPr id="27860" name="Picture 212" descr="CD4052BD"/>
          <p:cNvPicPr>
            <a:picLocks noChangeAspect="1"/>
          </p:cNvPicPr>
          <p:nvPr/>
        </p:nvPicPr>
        <p:blipFill>
          <a:blip r:embed="rId1"/>
          <a:stretch>
            <a:fillRect/>
          </a:stretch>
        </p:blipFill>
        <p:spPr>
          <a:xfrm>
            <a:off x="5953125" y="938213"/>
            <a:ext cx="2171700" cy="167640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5759"/>
                                        </p:tgtEl>
                                        <p:attrNameLst>
                                          <p:attrName>style.visibility</p:attrName>
                                        </p:attrNameLst>
                                      </p:cBhvr>
                                      <p:to>
                                        <p:strVal val="visible"/>
                                      </p:to>
                                    </p:set>
                                    <p:animEffect transition="in" filter="dissolve">
                                      <p:cBhvr>
                                        <p:cTn id="7" dur="500"/>
                                        <p:tgtEl>
                                          <p:spTgt spid="23357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5965"/>
                                        </p:tgtEl>
                                        <p:attrNameLst>
                                          <p:attrName>style.visibility</p:attrName>
                                        </p:attrNameLst>
                                      </p:cBhvr>
                                      <p:to>
                                        <p:strVal val="visible"/>
                                      </p:to>
                                    </p:set>
                                    <p:animEffect transition="in" filter="dissolve">
                                      <p:cBhvr>
                                        <p:cTn id="12" dur="500"/>
                                        <p:tgtEl>
                                          <p:spTgt spid="233596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5966"/>
                                        </p:tgtEl>
                                        <p:attrNameLst>
                                          <p:attrName>style.visibility</p:attrName>
                                        </p:attrNameLst>
                                      </p:cBhvr>
                                      <p:to>
                                        <p:strVal val="visible"/>
                                      </p:to>
                                    </p:set>
                                    <p:animEffect transition="in" filter="dissolve">
                                      <p:cBhvr>
                                        <p:cTn id="17" dur="500"/>
                                        <p:tgtEl>
                                          <p:spTgt spid="2335966"/>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nodeType="clickEffect">
                                  <p:stCondLst>
                                    <p:cond delay="0"/>
                                  </p:stCondLst>
                                  <p:iterate type="lt">
                                    <p:tmPct val="5000"/>
                                  </p:iterate>
                                  <p:childTnLst>
                                    <p:set>
                                      <p:cBhvr>
                                        <p:cTn id="21" dur="1" fill="hold">
                                          <p:stCondLst>
                                            <p:cond delay="0"/>
                                          </p:stCondLst>
                                        </p:cTn>
                                        <p:tgtEl>
                                          <p:spTgt spid="27860"/>
                                        </p:tgtEl>
                                        <p:attrNameLst>
                                          <p:attrName>style.visibility</p:attrName>
                                        </p:attrNameLst>
                                      </p:cBhvr>
                                      <p:to>
                                        <p:strVal val="visible"/>
                                      </p:to>
                                    </p:set>
                                    <p:anim calcmode="lin" valueType="num">
                                      <p:cBhvr>
                                        <p:cTn id="22" dur="1000" fill="hold"/>
                                        <p:tgtEl>
                                          <p:spTgt spid="27860"/>
                                        </p:tgtEl>
                                        <p:attrNameLst>
                                          <p:attrName>ppt_w</p:attrName>
                                        </p:attrNameLst>
                                      </p:cBhvr>
                                      <p:tavLst>
                                        <p:tav tm="0">
                                          <p:val>
                                            <p:fltVal val="0.000000"/>
                                          </p:val>
                                        </p:tav>
                                        <p:tav tm="100000">
                                          <p:val>
                                            <p:strVal val="#ppt_w"/>
                                          </p:val>
                                        </p:tav>
                                      </p:tavLst>
                                    </p:anim>
                                    <p:anim calcmode="lin" valueType="num">
                                      <p:cBhvr>
                                        <p:cTn id="23" dur="1000" fill="hold"/>
                                        <p:tgtEl>
                                          <p:spTgt spid="27860"/>
                                        </p:tgtEl>
                                        <p:attrNameLst>
                                          <p:attrName>ppt_h</p:attrName>
                                        </p:attrNameLst>
                                      </p:cBhvr>
                                      <p:tavLst>
                                        <p:tav tm="0">
                                          <p:val>
                                            <p:fltVal val="0.000000"/>
                                          </p:val>
                                        </p:tav>
                                        <p:tav tm="100000">
                                          <p:val>
                                            <p:strVal val="#ppt_h"/>
                                          </p:val>
                                        </p:tav>
                                      </p:tavLst>
                                    </p:anim>
                                    <p:anim calcmode="lin" valueType="num">
                                      <p:cBhvr>
                                        <p:cTn id="24" dur="1000" fill="hold"/>
                                        <p:tgtEl>
                                          <p:spTgt spid="27860"/>
                                        </p:tgtEl>
                                        <p:attrNameLst>
                                          <p:attrName>style.rotation</p:attrName>
                                        </p:attrNameLst>
                                      </p:cBhvr>
                                      <p:tavLst>
                                        <p:tav tm="0">
                                          <p:val>
                                            <p:fltVal val="90.000000"/>
                                          </p:val>
                                        </p:tav>
                                        <p:tav tm="100000">
                                          <p:val>
                                            <p:fltVal val="0.000000"/>
                                          </p:val>
                                        </p:tav>
                                      </p:tavLst>
                                    </p:anim>
                                    <p:animEffect transition="in" filter="fade">
                                      <p:cBhvr>
                                        <p:cTn id="25" dur="1000"/>
                                        <p:tgtEl>
                                          <p:spTgt spid="278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759" grpId="0"/>
      <p:bldP spid="2335965"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4735" name="Text Box 1039"/>
          <p:cNvSpPr txBox="1"/>
          <p:nvPr/>
        </p:nvSpPr>
        <p:spPr>
          <a:xfrm>
            <a:off x="2439988" y="1925638"/>
            <a:ext cx="2498725" cy="523875"/>
          </a:xfrm>
          <a:prstGeom prst="rect">
            <a:avLst/>
          </a:prstGeom>
          <a:noFill/>
          <a:ln w="9525">
            <a:noFill/>
          </a:ln>
        </p:spPr>
        <p:txBody>
          <a:bodyPr wrap="none">
            <a:spAutoFit/>
          </a:bodyPr>
          <a:p>
            <a:pPr eaLnBrk="1" hangingPunct="1"/>
            <a:r>
              <a:rPr lang="en-US" altLang="zh-CN" sz="2800" dirty="0">
                <a:latin typeface="Times New Roman" panose="02020603050405020304" pitchFamily="18" charset="0"/>
                <a:ea typeface="宋体" panose="02010600030101010101" pitchFamily="2" charset="-122"/>
              </a:rPr>
              <a:t>CD4052</a:t>
            </a:r>
            <a:r>
              <a:rPr lang="zh-CN" altLang="en-US" sz="2800" dirty="0">
                <a:latin typeface="Times New Roman" panose="02020603050405020304" pitchFamily="18" charset="0"/>
              </a:rPr>
              <a:t>真值表</a:t>
            </a:r>
            <a:endParaRPr lang="zh-CN" altLang="en-US" sz="2800" dirty="0">
              <a:latin typeface="Times New Roman" panose="02020603050405020304" pitchFamily="18" charset="0"/>
            </a:endParaRPr>
          </a:p>
        </p:txBody>
      </p:sp>
      <p:sp>
        <p:nvSpPr>
          <p:cNvPr id="36867" name="Text Box 1064"/>
          <p:cNvSpPr txBox="1"/>
          <p:nvPr/>
        </p:nvSpPr>
        <p:spPr>
          <a:xfrm>
            <a:off x="854075" y="1274763"/>
            <a:ext cx="2008188" cy="584200"/>
          </a:xfrm>
          <a:prstGeom prst="rect">
            <a:avLst/>
          </a:prstGeom>
          <a:noFill/>
          <a:ln w="9525">
            <a:noFill/>
          </a:ln>
        </p:spPr>
        <p:txBody>
          <a:bodyPr wrap="none">
            <a:spAutoFit/>
          </a:bodyPr>
          <a:p>
            <a:pPr eaLnBrk="1" hangingPunct="1">
              <a:buClr>
                <a:srgbClr val="FF0000"/>
              </a:buClr>
              <a:buFont typeface="Wingdings" panose="05000000000000000000" pitchFamily="2" charset="2"/>
            </a:pPr>
            <a:r>
              <a:rPr lang="en-US" altLang="zh-CN" sz="3200" dirty="0">
                <a:solidFill>
                  <a:schemeClr val="tx2"/>
                </a:solidFill>
                <a:latin typeface="Times New Roman" panose="02020603050405020304" pitchFamily="18" charset="0"/>
                <a:ea typeface="宋体" panose="02010600030101010101" pitchFamily="2" charset="-122"/>
              </a:rPr>
              <a:t>4. CD4052</a:t>
            </a:r>
            <a:endParaRPr lang="en-US" altLang="zh-CN" sz="3200" dirty="0">
              <a:solidFill>
                <a:schemeClr val="tx2"/>
              </a:solidFill>
              <a:latin typeface="Times New Roman" panose="02020603050405020304" pitchFamily="18" charset="0"/>
              <a:ea typeface="宋体" panose="02010600030101010101" pitchFamily="2" charset="-122"/>
            </a:endParaRPr>
          </a:p>
        </p:txBody>
      </p:sp>
      <p:sp>
        <p:nvSpPr>
          <p:cNvPr id="2334761" name="Text Box 1065"/>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2334806" name="Group 1110"/>
          <p:cNvGraphicFramePr>
            <a:graphicFrameLocks noGrp="1"/>
          </p:cNvGraphicFramePr>
          <p:nvPr/>
        </p:nvGraphicFramePr>
        <p:xfrm>
          <a:off x="714375" y="2490788"/>
          <a:ext cx="7605713" cy="2919413"/>
        </p:xfrm>
        <a:graphic>
          <a:graphicData uri="http://schemas.openxmlformats.org/drawingml/2006/table">
            <a:tbl>
              <a:tblPr/>
              <a:tblGrid>
                <a:gridCol w="1520825"/>
                <a:gridCol w="1520825"/>
                <a:gridCol w="1522413"/>
                <a:gridCol w="1520825"/>
                <a:gridCol w="1520825"/>
              </a:tblGrid>
              <a:tr h="491977">
                <a:tc gridSpan="3">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输入</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cPr/>
                </a:tc>
                <a:tc hMerge="1">
                  <a:tcPr/>
                </a:tc>
                <a:tc gridSpan="2">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接通通道</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cPr/>
                </a:tc>
              </a:tr>
              <a:tr h="415798">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INH</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B</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X</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Y</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011637">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无</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rPr>
                        <a:t>无</a:t>
                      </a:r>
                      <a:endParaRPr kumimoji="0" lang="zh-CN" altLang="en-US"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07" marB="4570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334804" name="Text Box 1108"/>
          <p:cNvSpPr txBox="1"/>
          <p:nvPr/>
        </p:nvSpPr>
        <p:spPr>
          <a:xfrm>
            <a:off x="1268413" y="5562600"/>
            <a:ext cx="6461125" cy="476250"/>
          </a:xfrm>
          <a:prstGeom prst="rect">
            <a:avLst/>
          </a:prstGeom>
          <a:solidFill>
            <a:srgbClr val="CCFFCC"/>
          </a:solidFill>
          <a:ln w="9525">
            <a:noFill/>
          </a:ln>
        </p:spPr>
        <p:txBody>
          <a:bodyPr>
            <a:spAutoFit/>
          </a:bodyPr>
          <a:p>
            <a:pPr eaLnBrk="1" hangingPunct="1">
              <a:lnSpc>
                <a:spcPct val="90000"/>
              </a:lnSpc>
              <a:spcBef>
                <a:spcPct val="50000"/>
              </a:spcBef>
            </a:pPr>
            <a:r>
              <a:rPr lang="en-US" altLang="zh-CN" sz="2800" dirty="0">
                <a:solidFill>
                  <a:schemeClr val="tx1"/>
                </a:solidFill>
                <a:latin typeface="Times New Roman" panose="02020603050405020304" pitchFamily="18" charset="0"/>
                <a:ea typeface="黑体" panose="02010609060101010101" pitchFamily="49" charset="-122"/>
              </a:rPr>
              <a:t>CD4052</a:t>
            </a:r>
            <a:r>
              <a:rPr lang="zh-CN" altLang="en-US" sz="2800" dirty="0">
                <a:solidFill>
                  <a:schemeClr val="tx1"/>
                </a:solidFill>
                <a:latin typeface="黑体" panose="02010609060101010101" pitchFamily="49" charset="-122"/>
                <a:ea typeface="黑体" panose="02010609060101010101" pitchFamily="49" charset="-122"/>
              </a:rPr>
              <a:t>和</a:t>
            </a:r>
            <a:r>
              <a:rPr lang="en-US" altLang="zh-CN" sz="2800" dirty="0">
                <a:solidFill>
                  <a:schemeClr val="tx1"/>
                </a:solidFill>
                <a:latin typeface="Times New Roman" panose="02020603050405020304" pitchFamily="18" charset="0"/>
                <a:ea typeface="黑体" panose="02010609060101010101" pitchFamily="49" charset="-122"/>
              </a:rPr>
              <a:t>CD4051</a:t>
            </a:r>
            <a:r>
              <a:rPr lang="zh-CN" altLang="en-US" sz="2800" dirty="0">
                <a:solidFill>
                  <a:schemeClr val="tx1"/>
                </a:solidFill>
                <a:latin typeface="黑体" panose="02010609060101010101" pitchFamily="49" charset="-122"/>
                <a:ea typeface="黑体" panose="02010609060101010101" pitchFamily="49" charset="-122"/>
              </a:rPr>
              <a:t>一样，允许双向使用。</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36893"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4735"/>
                                        </p:tgtEl>
                                        <p:attrNameLst>
                                          <p:attrName>style.visibility</p:attrName>
                                        </p:attrNameLst>
                                      </p:cBhvr>
                                      <p:to>
                                        <p:strVal val="visible"/>
                                      </p:to>
                                    </p:set>
                                    <p:animEffect transition="in" filter="dissolve">
                                      <p:cBhvr>
                                        <p:cTn id="7" dur="500"/>
                                        <p:tgtEl>
                                          <p:spTgt spid="233473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4806"/>
                                        </p:tgtEl>
                                        <p:attrNameLst>
                                          <p:attrName>style.visibility</p:attrName>
                                        </p:attrNameLst>
                                      </p:cBhvr>
                                      <p:to>
                                        <p:strVal val="visible"/>
                                      </p:to>
                                    </p:set>
                                    <p:animEffect transition="in" filter="dissolve">
                                      <p:cBhvr>
                                        <p:cTn id="12" dur="500"/>
                                        <p:tgtEl>
                                          <p:spTgt spid="233480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4804"/>
                                        </p:tgtEl>
                                        <p:attrNameLst>
                                          <p:attrName>style.visibility</p:attrName>
                                        </p:attrNameLst>
                                      </p:cBhvr>
                                      <p:to>
                                        <p:strVal val="visible"/>
                                      </p:to>
                                    </p:set>
                                    <p:animEffect transition="in" filter="dissolve">
                                      <p:cBhvr>
                                        <p:cTn id="17" dur="500"/>
                                        <p:tgtEl>
                                          <p:spTgt spid="23348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735" grpId="0"/>
      <p:bldP spid="2334804"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6404" name="Text Box 4"/>
          <p:cNvSpPr txBox="1">
            <a:spLocks noChangeArrowheads="1"/>
          </p:cNvSpPr>
          <p:nvPr/>
        </p:nvSpPr>
        <p:spPr bwMode="auto">
          <a:xfrm>
            <a:off x="2020888" y="92075"/>
            <a:ext cx="5302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多路开关集成芯片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6408" name="Text Box 8"/>
          <p:cNvSpPr txBox="1"/>
          <p:nvPr/>
        </p:nvSpPr>
        <p:spPr>
          <a:xfrm>
            <a:off x="752475" y="1390650"/>
            <a:ext cx="4870450" cy="579438"/>
          </a:xfrm>
          <a:prstGeom prst="rect">
            <a:avLst/>
          </a:prstGeom>
          <a:noFill/>
          <a:ln w="9525">
            <a:noFill/>
          </a:ln>
        </p:spPr>
        <p:txBody>
          <a:bodyPr wrap="none">
            <a:spAutoFit/>
          </a:bodyPr>
          <a:p>
            <a:pPr eaLnBrk="1" hangingPunct="1">
              <a:buClr>
                <a:srgbClr val="FF0000"/>
              </a:buClr>
              <a:buFont typeface="Wingdings" panose="05000000000000000000" pitchFamily="2" charset="2"/>
              <a:buChar char="u"/>
            </a:pPr>
            <a:r>
              <a:rPr lang="en-US" altLang="zh-CN" sz="3200" dirty="0">
                <a:solidFill>
                  <a:schemeClr val="tx2"/>
                </a:solidFill>
                <a:latin typeface="黑体" panose="02010609060101010101" pitchFamily="49" charset="-122"/>
                <a:ea typeface="黑体" panose="02010609060101010101" pitchFamily="49" charset="-122"/>
              </a:rPr>
              <a:t> </a:t>
            </a:r>
            <a:r>
              <a:rPr lang="zh-CN" altLang="en-US" sz="3200" dirty="0">
                <a:solidFill>
                  <a:schemeClr val="tx2"/>
                </a:solidFill>
                <a:latin typeface="黑体" panose="02010609060101010101" pitchFamily="49" charset="-122"/>
                <a:ea typeface="黑体" panose="02010609060101010101" pitchFamily="49" charset="-122"/>
              </a:rPr>
              <a:t>部分多路开关性能参数</a:t>
            </a:r>
            <a:endParaRPr lang="zh-CN" altLang="en-US" sz="3200" dirty="0">
              <a:solidFill>
                <a:schemeClr val="tx2"/>
              </a:solidFill>
              <a:latin typeface="黑体" panose="02010609060101010101" pitchFamily="49" charset="-122"/>
              <a:ea typeface="黑体" panose="02010609060101010101" pitchFamily="49" charset="-122"/>
            </a:endParaRPr>
          </a:p>
        </p:txBody>
      </p:sp>
      <p:graphicFrame>
        <p:nvGraphicFramePr>
          <p:cNvPr id="2406520" name="Group 120"/>
          <p:cNvGraphicFramePr>
            <a:graphicFrameLocks noGrp="1"/>
          </p:cNvGraphicFramePr>
          <p:nvPr/>
        </p:nvGraphicFramePr>
        <p:xfrm>
          <a:off x="142875" y="1990725"/>
          <a:ext cx="8848725" cy="2054225"/>
        </p:xfrm>
        <a:graphic>
          <a:graphicData uri="http://schemas.openxmlformats.org/drawingml/2006/table">
            <a:tbl>
              <a:tblPr/>
              <a:tblGrid>
                <a:gridCol w="1265238"/>
                <a:gridCol w="1262062"/>
                <a:gridCol w="1265238"/>
                <a:gridCol w="1263650"/>
                <a:gridCol w="1265237"/>
                <a:gridCol w="1262063"/>
                <a:gridCol w="1265237"/>
              </a:tblGrid>
              <a:tr h="590733">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34" marB="4573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R</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ON</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(Ω)</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R</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ONVS</a:t>
                      </a:r>
                      <a:endPar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I</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S</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(nA)</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I</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C</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(nA)</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t</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ON</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(us)</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t</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OFF</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(us)</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34" marB="4573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1463492">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AD7501</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AD7503</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AD7502</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AD7506</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CD4051</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txBody>
                  <a:tcPr marT="45734" marB="4573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170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300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300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400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270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0.2~2</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0.2~2</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0.2~2</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0.05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0.6~5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0.03</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±0.08</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0.8</a:t>
                      </a: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txBody>
                  <a:tcPr marT="45734" marB="4573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06483" name="Text Box 83"/>
          <p:cNvSpPr txBox="1"/>
          <p:nvPr/>
        </p:nvSpPr>
        <p:spPr>
          <a:xfrm>
            <a:off x="771525" y="2019300"/>
            <a:ext cx="657225" cy="339725"/>
          </a:xfrm>
          <a:prstGeom prst="rect">
            <a:avLst/>
          </a:prstGeom>
          <a:noFill/>
          <a:ln w="9525">
            <a:noFill/>
          </a:ln>
        </p:spPr>
        <p:txBody>
          <a:bodyPr>
            <a:spAutoFit/>
          </a:bodyPr>
          <a:p>
            <a:pPr eaLnBrk="1" hangingPunct="1">
              <a:lnSpc>
                <a:spcPct val="90000"/>
              </a:lnSpc>
              <a:spcBef>
                <a:spcPct val="50000"/>
              </a:spcBef>
            </a:pPr>
            <a:r>
              <a:rPr lang="zh-CN" altLang="en-US" sz="1800" dirty="0">
                <a:solidFill>
                  <a:srgbClr val="000066"/>
                </a:solidFill>
                <a:latin typeface="Arial" panose="020B0604020202020204" pitchFamily="34" charset="0"/>
                <a:ea typeface="黑体" panose="02010609060101010101" pitchFamily="49" charset="-122"/>
              </a:rPr>
              <a:t>特性</a:t>
            </a:r>
            <a:endParaRPr lang="zh-CN" altLang="en-US" sz="1800" dirty="0">
              <a:solidFill>
                <a:srgbClr val="000066"/>
              </a:solidFill>
              <a:latin typeface="Arial" panose="020B0604020202020204" pitchFamily="34" charset="0"/>
              <a:ea typeface="黑体" panose="02010609060101010101" pitchFamily="49" charset="-122"/>
            </a:endParaRPr>
          </a:p>
        </p:txBody>
      </p:sp>
      <p:sp>
        <p:nvSpPr>
          <p:cNvPr id="2406484" name="Text Box 84"/>
          <p:cNvSpPr txBox="1"/>
          <p:nvPr/>
        </p:nvSpPr>
        <p:spPr>
          <a:xfrm>
            <a:off x="168275" y="2244725"/>
            <a:ext cx="657225" cy="339725"/>
          </a:xfrm>
          <a:prstGeom prst="rect">
            <a:avLst/>
          </a:prstGeom>
          <a:noFill/>
          <a:ln w="9525">
            <a:noFill/>
          </a:ln>
        </p:spPr>
        <p:txBody>
          <a:bodyPr>
            <a:spAutoFit/>
          </a:bodyPr>
          <a:p>
            <a:pPr eaLnBrk="1" hangingPunct="1">
              <a:lnSpc>
                <a:spcPct val="90000"/>
              </a:lnSpc>
              <a:spcBef>
                <a:spcPct val="50000"/>
              </a:spcBef>
            </a:pPr>
            <a:r>
              <a:rPr lang="zh-CN" altLang="en-US" sz="1800" dirty="0">
                <a:solidFill>
                  <a:srgbClr val="000066"/>
                </a:solidFill>
                <a:latin typeface="Arial" panose="020B0604020202020204" pitchFamily="34" charset="0"/>
                <a:ea typeface="黑体" panose="02010609060101010101" pitchFamily="49" charset="-122"/>
              </a:rPr>
              <a:t>型号</a:t>
            </a:r>
            <a:endParaRPr lang="zh-CN" altLang="en-US" sz="1800" dirty="0">
              <a:solidFill>
                <a:srgbClr val="000066"/>
              </a:solidFill>
              <a:latin typeface="Arial" panose="020B0604020202020204" pitchFamily="34" charset="0"/>
              <a:ea typeface="黑体" panose="02010609060101010101" pitchFamily="49" charset="-122"/>
            </a:endParaRPr>
          </a:p>
        </p:txBody>
      </p:sp>
      <p:graphicFrame>
        <p:nvGraphicFramePr>
          <p:cNvPr id="2406550" name="Group 150"/>
          <p:cNvGraphicFramePr>
            <a:graphicFrameLocks noGrp="1"/>
          </p:cNvGraphicFramePr>
          <p:nvPr/>
        </p:nvGraphicFramePr>
        <p:xfrm>
          <a:off x="139700" y="4102100"/>
          <a:ext cx="8848725" cy="2103438"/>
        </p:xfrm>
        <a:graphic>
          <a:graphicData uri="http://schemas.openxmlformats.org/drawingml/2006/table">
            <a:tbl>
              <a:tblPr/>
              <a:tblGrid>
                <a:gridCol w="1265238"/>
                <a:gridCol w="995362"/>
                <a:gridCol w="1133475"/>
                <a:gridCol w="1362075"/>
                <a:gridCol w="1638300"/>
                <a:gridCol w="1189038"/>
                <a:gridCol w="1265237"/>
              </a:tblGrid>
              <a:tr h="640177">
                <a:tc>
                  <a:txBody>
                    <a:bodyPr/>
                    <a:lstStyle/>
                    <a:p>
                      <a:pPr marL="0" marR="0" lvl="0" indent="0" algn="l"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zh-CN"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C</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S</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(pF)</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27" marB="457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000066"/>
                          </a:solidFill>
                          <a:effectLst/>
                          <a:latin typeface="Times New Roman" panose="02020603050405020304" pitchFamily="18" charset="0"/>
                          <a:ea typeface="宋体" panose="02010600030101010101" pitchFamily="2" charset="-122"/>
                        </a:rPr>
                        <a:t>C</a:t>
                      </a:r>
                      <a:r>
                        <a:rPr kumimoji="0" lang="en-US" altLang="zh-CN" sz="1800" b="1" i="0" u="none" strike="noStrike" cap="none" normalizeH="0" baseline="-25000">
                          <a:ln>
                            <a:noFill/>
                          </a:ln>
                          <a:solidFill>
                            <a:srgbClr val="000066"/>
                          </a:solidFill>
                          <a:effectLst/>
                          <a:latin typeface="Times New Roman" panose="02020603050405020304" pitchFamily="18" charset="0"/>
                          <a:ea typeface="宋体" panose="02010600030101010101" pitchFamily="2" charset="-122"/>
                        </a:rPr>
                        <a:t>OUT</a:t>
                      </a:r>
                      <a:r>
                        <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rPr>
                        <a:t>(pF)</a:t>
                      </a:r>
                      <a:endParaRPr kumimoji="0" lang="en-US" altLang="zh-CN" sz="18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endParaRPr>
                    </a:p>
                  </a:txBody>
                  <a:tcPr marT="45727" marB="457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逻辑电平</a:t>
                      </a:r>
                      <a:r>
                        <a:rPr kumimoji="0" lang="en-US" altLang="zh-CN"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(V)</a:t>
                      </a:r>
                      <a:endParaRPr kumimoji="0" lang="en-US" altLang="zh-CN"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7" marB="457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电源</a:t>
                      </a:r>
                      <a:endPar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7" marB="457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输入方式</a:t>
                      </a:r>
                      <a:endPar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7" marB="45727"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输入电流、电压</a:t>
                      </a:r>
                      <a:endParaRPr kumimoji="0" lang="zh-CN" altLang="en-US" sz="18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7" marB="4572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1463261">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AD7501</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AD7503</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AD7502</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AD7506</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rPr>
                        <a:t>CD4051</a:t>
                      </a:r>
                      <a:endParaRPr kumimoji="0" lang="en-US" altLang="zh-CN" sz="1800" b="1" i="0" u="none" strike="noStrike" cap="none" normalizeH="0" baseline="0" dirty="0">
                        <a:ln>
                          <a:noFill/>
                        </a:ln>
                        <a:solidFill>
                          <a:srgbClr val="000066"/>
                        </a:solidFill>
                        <a:effectLst/>
                        <a:latin typeface="Arial" panose="020B0604020202020204" pitchFamily="34" charset="0"/>
                        <a:ea typeface="宋体" panose="02010600030101010101" pitchFamily="2" charset="-122"/>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30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30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40</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0.8~3</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0.8~3</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0.8~3</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0.8~3</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1.5~3.5</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Tx/>
                        <a:buFontTx/>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±15V,800uA</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Tx/>
                        <a:buFontTx/>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±15V,800uA</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Tx/>
                        <a:buFontTx/>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±15V,800uA</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Tx/>
                        <a:buFontTx/>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±15V,1mA</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Tx/>
                        <a:buFontTx/>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+5V~+15V</a:t>
                      </a:r>
                      <a:endPar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8</a:t>
                      </a: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路</a:t>
                      </a:r>
                      <a:endPar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8</a:t>
                      </a: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路</a:t>
                      </a:r>
                      <a:endPar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双</a:t>
                      </a: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4</a:t>
                      </a: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路</a:t>
                      </a:r>
                      <a:endPar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16</a:t>
                      </a: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路</a:t>
                      </a:r>
                      <a:endPar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8</a:t>
                      </a:r>
                      <a:r>
                        <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rPr>
                        <a:t>路双向</a:t>
                      </a:r>
                      <a:endParaRPr kumimoji="0" lang="zh-CN" altLang="en-US" sz="1800" b="1" i="0" u="none" strike="noStrike" cap="none" normalizeH="0" baseline="0">
                        <a:ln>
                          <a:noFill/>
                        </a:ln>
                        <a:solidFill>
                          <a:srgbClr val="CC00CC"/>
                        </a:solidFill>
                        <a:effectLst/>
                        <a:latin typeface="Arial" panose="020B0604020202020204" pitchFamily="34" charset="0"/>
                        <a:ea typeface="宋体" panose="02010600030101010101" pitchFamily="2" charset="-122"/>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00000"/>
                        </a:lnSpc>
                        <a:spcBef>
                          <a:spcPct val="0"/>
                        </a:spcBef>
                        <a:spcAft>
                          <a:spcPct val="0"/>
                        </a:spcAft>
                        <a:buClrTx/>
                        <a:buSzPct val="75000"/>
                        <a:buFont typeface="Wingdings" panose="05000000000000000000" pitchFamily="2" charset="2"/>
                        <a:buNone/>
                      </a:pP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35mA</a:t>
                      </a:r>
                      <a:r>
                        <a:rPr kumimoji="0" lang="zh-CN" altLang="en-US"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，两开关间电压</a:t>
                      </a:r>
                      <a:r>
                        <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rPr>
                        <a:t>25V</a:t>
                      </a:r>
                      <a:endParaRPr kumimoji="0" lang="en-US" altLang="zh-CN" sz="1800" b="1" i="0" u="none" strike="noStrike" cap="none" normalizeH="0" baseline="0" dirty="0">
                        <a:ln>
                          <a:noFill/>
                        </a:ln>
                        <a:solidFill>
                          <a:srgbClr val="CC00CC"/>
                        </a:solidFill>
                        <a:effectLst/>
                        <a:latin typeface="Arial" panose="020B0604020202020204" pitchFamily="34" charset="0"/>
                        <a:ea typeface="宋体" panose="02010600030101010101" pitchFamily="2" charset="-122"/>
                      </a:endParaRPr>
                    </a:p>
                  </a:txBody>
                  <a:tcPr marT="45727" marB="45727"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06518" name="Text Box 118"/>
          <p:cNvSpPr txBox="1"/>
          <p:nvPr/>
        </p:nvSpPr>
        <p:spPr>
          <a:xfrm>
            <a:off x="768350" y="4121150"/>
            <a:ext cx="657225" cy="339725"/>
          </a:xfrm>
          <a:prstGeom prst="rect">
            <a:avLst/>
          </a:prstGeom>
          <a:noFill/>
          <a:ln w="9525">
            <a:noFill/>
          </a:ln>
        </p:spPr>
        <p:txBody>
          <a:bodyPr>
            <a:spAutoFit/>
          </a:bodyPr>
          <a:p>
            <a:pPr eaLnBrk="1" hangingPunct="1">
              <a:lnSpc>
                <a:spcPct val="90000"/>
              </a:lnSpc>
              <a:spcBef>
                <a:spcPct val="50000"/>
              </a:spcBef>
            </a:pPr>
            <a:r>
              <a:rPr lang="zh-CN" altLang="en-US" sz="1800" dirty="0">
                <a:solidFill>
                  <a:srgbClr val="000066"/>
                </a:solidFill>
                <a:latin typeface="Arial" panose="020B0604020202020204" pitchFamily="34" charset="0"/>
                <a:ea typeface="黑体" panose="02010609060101010101" pitchFamily="49" charset="-122"/>
              </a:rPr>
              <a:t>特性</a:t>
            </a:r>
            <a:endParaRPr lang="zh-CN" altLang="en-US" sz="1800" dirty="0">
              <a:solidFill>
                <a:srgbClr val="000066"/>
              </a:solidFill>
              <a:latin typeface="Arial" panose="020B0604020202020204" pitchFamily="34" charset="0"/>
              <a:ea typeface="黑体" panose="02010609060101010101" pitchFamily="49" charset="-122"/>
            </a:endParaRPr>
          </a:p>
        </p:txBody>
      </p:sp>
      <p:sp>
        <p:nvSpPr>
          <p:cNvPr id="2406519" name="Text Box 119"/>
          <p:cNvSpPr txBox="1"/>
          <p:nvPr/>
        </p:nvSpPr>
        <p:spPr>
          <a:xfrm>
            <a:off x="165100" y="4346575"/>
            <a:ext cx="657225" cy="339725"/>
          </a:xfrm>
          <a:prstGeom prst="rect">
            <a:avLst/>
          </a:prstGeom>
          <a:noFill/>
          <a:ln w="9525">
            <a:noFill/>
          </a:ln>
        </p:spPr>
        <p:txBody>
          <a:bodyPr>
            <a:spAutoFit/>
          </a:bodyPr>
          <a:p>
            <a:pPr eaLnBrk="1" hangingPunct="1">
              <a:lnSpc>
                <a:spcPct val="90000"/>
              </a:lnSpc>
              <a:spcBef>
                <a:spcPct val="50000"/>
              </a:spcBef>
            </a:pPr>
            <a:r>
              <a:rPr lang="zh-CN" altLang="en-US" sz="1800" dirty="0">
                <a:solidFill>
                  <a:srgbClr val="000066"/>
                </a:solidFill>
                <a:latin typeface="Arial" panose="020B0604020202020204" pitchFamily="34" charset="0"/>
                <a:ea typeface="黑体" panose="02010609060101010101" pitchFamily="49" charset="-122"/>
              </a:rPr>
              <a:t>型号</a:t>
            </a:r>
            <a:endParaRPr lang="zh-CN" altLang="en-US" sz="1800" dirty="0">
              <a:solidFill>
                <a:srgbClr val="000066"/>
              </a:solidFill>
              <a:latin typeface="Arial" panose="020B0604020202020204" pitchFamily="34" charset="0"/>
              <a:ea typeface="黑体" panose="02010609060101010101" pitchFamily="49" charset="-122"/>
            </a:endParaRPr>
          </a:p>
        </p:txBody>
      </p:sp>
      <p:sp>
        <p:nvSpPr>
          <p:cNvPr id="37950" name="Text Box 50"/>
          <p:cNvSpPr txBox="1"/>
          <p:nvPr/>
        </p:nvSpPr>
        <p:spPr>
          <a:xfrm>
            <a:off x="350838" y="652463"/>
            <a:ext cx="4899025" cy="641350"/>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3.3.2 </a:t>
            </a:r>
            <a:r>
              <a:rPr lang="zh-CN" altLang="en-US" sz="3200" dirty="0">
                <a:latin typeface="Times New Roman" panose="02020603050405020304" pitchFamily="18" charset="0"/>
              </a:rPr>
              <a:t>有译码器的多路开关</a:t>
            </a:r>
            <a:r>
              <a:rPr lang="zh-CN" altLang="en-US" dirty="0">
                <a:latin typeface="Times New Roman" panose="02020603050405020304" pitchFamily="18" charset="0"/>
              </a:rPr>
              <a:t> </a:t>
            </a:r>
            <a:endParaRPr lang="zh-CN" altLang="en-US"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6408"/>
                                        </p:tgtEl>
                                        <p:attrNameLst>
                                          <p:attrName>style.visibility</p:attrName>
                                        </p:attrNameLst>
                                      </p:cBhvr>
                                      <p:to>
                                        <p:strVal val="visible"/>
                                      </p:to>
                                    </p:set>
                                    <p:animEffect transition="in" filter="dissolve">
                                      <p:cBhvr>
                                        <p:cTn id="7" dur="500"/>
                                        <p:tgtEl>
                                          <p:spTgt spid="24064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6520"/>
                                        </p:tgtEl>
                                        <p:attrNameLst>
                                          <p:attrName>style.visibility</p:attrName>
                                        </p:attrNameLst>
                                      </p:cBhvr>
                                      <p:to>
                                        <p:strVal val="visible"/>
                                      </p:to>
                                    </p:set>
                                    <p:animEffect transition="in" filter="dissolve">
                                      <p:cBhvr>
                                        <p:cTn id="12" dur="500"/>
                                        <p:tgtEl>
                                          <p:spTgt spid="2406520"/>
                                        </p:tgtEl>
                                      </p:cBhvr>
                                    </p:animEffect>
                                  </p:childTnLst>
                                </p:cTn>
                              </p:par>
                              <p:par>
                                <p:cTn id="13" presetID="9" presetClass="entr" presetSubtype="0" fill="hold" nodeType="withEffect">
                                  <p:stCondLst>
                                    <p:cond delay="0"/>
                                  </p:stCondLst>
                                  <p:childTnLst>
                                    <p:set>
                                      <p:cBhvr>
                                        <p:cTn id="14" dur="1" fill="hold">
                                          <p:stCondLst>
                                            <p:cond delay="0"/>
                                          </p:stCondLst>
                                        </p:cTn>
                                        <p:tgtEl>
                                          <p:spTgt spid="2406483"/>
                                        </p:tgtEl>
                                        <p:attrNameLst>
                                          <p:attrName>style.visibility</p:attrName>
                                        </p:attrNameLst>
                                      </p:cBhvr>
                                      <p:to>
                                        <p:strVal val="visible"/>
                                      </p:to>
                                    </p:set>
                                    <p:animEffect transition="in" filter="dissolve">
                                      <p:cBhvr>
                                        <p:cTn id="15" dur="500"/>
                                        <p:tgtEl>
                                          <p:spTgt spid="2406483"/>
                                        </p:tgtEl>
                                      </p:cBhvr>
                                    </p:animEffect>
                                  </p:childTnLst>
                                </p:cTn>
                              </p:par>
                              <p:par>
                                <p:cTn id="16" presetID="9" presetClass="entr" presetSubtype="0" fill="hold" nodeType="withEffect">
                                  <p:stCondLst>
                                    <p:cond delay="0"/>
                                  </p:stCondLst>
                                  <p:childTnLst>
                                    <p:set>
                                      <p:cBhvr>
                                        <p:cTn id="17" dur="1" fill="hold">
                                          <p:stCondLst>
                                            <p:cond delay="0"/>
                                          </p:stCondLst>
                                        </p:cTn>
                                        <p:tgtEl>
                                          <p:spTgt spid="2406484"/>
                                        </p:tgtEl>
                                        <p:attrNameLst>
                                          <p:attrName>style.visibility</p:attrName>
                                        </p:attrNameLst>
                                      </p:cBhvr>
                                      <p:to>
                                        <p:strVal val="visible"/>
                                      </p:to>
                                    </p:set>
                                    <p:animEffect transition="in" filter="dissolve">
                                      <p:cBhvr>
                                        <p:cTn id="18" dur="500"/>
                                        <p:tgtEl>
                                          <p:spTgt spid="2406484"/>
                                        </p:tgtEl>
                                      </p:cBhvr>
                                    </p:animEffect>
                                  </p:childTnLst>
                                </p:cTn>
                              </p:par>
                              <p:par>
                                <p:cTn id="19" presetID="9" presetClass="entr" presetSubtype="0" fill="hold" nodeType="withEffect">
                                  <p:stCondLst>
                                    <p:cond delay="0"/>
                                  </p:stCondLst>
                                  <p:childTnLst>
                                    <p:set>
                                      <p:cBhvr>
                                        <p:cTn id="20" dur="1" fill="hold">
                                          <p:stCondLst>
                                            <p:cond delay="0"/>
                                          </p:stCondLst>
                                        </p:cTn>
                                        <p:tgtEl>
                                          <p:spTgt spid="2406550"/>
                                        </p:tgtEl>
                                        <p:attrNameLst>
                                          <p:attrName>style.visibility</p:attrName>
                                        </p:attrNameLst>
                                      </p:cBhvr>
                                      <p:to>
                                        <p:strVal val="visible"/>
                                      </p:to>
                                    </p:set>
                                    <p:animEffect transition="in" filter="dissolve">
                                      <p:cBhvr>
                                        <p:cTn id="21" dur="500"/>
                                        <p:tgtEl>
                                          <p:spTgt spid="2406550"/>
                                        </p:tgtEl>
                                      </p:cBhvr>
                                    </p:animEffect>
                                  </p:childTnLst>
                                </p:cTn>
                              </p:par>
                              <p:par>
                                <p:cTn id="22" presetID="9" presetClass="entr" presetSubtype="0" fill="hold" nodeType="withEffect">
                                  <p:stCondLst>
                                    <p:cond delay="0"/>
                                  </p:stCondLst>
                                  <p:childTnLst>
                                    <p:set>
                                      <p:cBhvr>
                                        <p:cTn id="23" dur="1" fill="hold">
                                          <p:stCondLst>
                                            <p:cond delay="0"/>
                                          </p:stCondLst>
                                        </p:cTn>
                                        <p:tgtEl>
                                          <p:spTgt spid="2406518"/>
                                        </p:tgtEl>
                                        <p:attrNameLst>
                                          <p:attrName>style.visibility</p:attrName>
                                        </p:attrNameLst>
                                      </p:cBhvr>
                                      <p:to>
                                        <p:strVal val="visible"/>
                                      </p:to>
                                    </p:set>
                                    <p:animEffect transition="in" filter="dissolve">
                                      <p:cBhvr>
                                        <p:cTn id="24" dur="500"/>
                                        <p:tgtEl>
                                          <p:spTgt spid="2406518"/>
                                        </p:tgtEl>
                                      </p:cBhvr>
                                    </p:animEffect>
                                  </p:childTnLst>
                                </p:cTn>
                              </p:par>
                              <p:par>
                                <p:cTn id="25" presetID="9" presetClass="entr" presetSubtype="0" fill="hold" nodeType="withEffect">
                                  <p:stCondLst>
                                    <p:cond delay="0"/>
                                  </p:stCondLst>
                                  <p:childTnLst>
                                    <p:set>
                                      <p:cBhvr>
                                        <p:cTn id="26" dur="1" fill="hold">
                                          <p:stCondLst>
                                            <p:cond delay="0"/>
                                          </p:stCondLst>
                                        </p:cTn>
                                        <p:tgtEl>
                                          <p:spTgt spid="2406519"/>
                                        </p:tgtEl>
                                        <p:attrNameLst>
                                          <p:attrName>style.visibility</p:attrName>
                                        </p:attrNameLst>
                                      </p:cBhvr>
                                      <p:to>
                                        <p:strVal val="visible"/>
                                      </p:to>
                                    </p:set>
                                    <p:animEffect transition="in" filter="dissolve">
                                      <p:cBhvr>
                                        <p:cTn id="27" dur="500"/>
                                        <p:tgtEl>
                                          <p:spTgt spid="24065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408" grpId="0"/>
      <p:bldP spid="2406483" grpId="0"/>
      <p:bldP spid="2406484" grpId="0"/>
      <p:bldP spid="2406518" grpId="0"/>
      <p:bldP spid="240651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5753" name="Text Box 9"/>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35754" name="Text Box 10"/>
          <p:cNvSpPr txBox="1"/>
          <p:nvPr/>
        </p:nvSpPr>
        <p:spPr>
          <a:xfrm>
            <a:off x="673100" y="692150"/>
            <a:ext cx="7366000" cy="946150"/>
          </a:xfrm>
          <a:prstGeom prst="rect">
            <a:avLst/>
          </a:prstGeom>
          <a:solidFill>
            <a:srgbClr val="99CCFF"/>
          </a:solidFill>
          <a:ln w="9525">
            <a:noFill/>
          </a:ln>
        </p:spPr>
        <p:txBody>
          <a:bodyPr>
            <a:spAutoFit/>
          </a:bodyPr>
          <a:p>
            <a:pPr eaLnBrk="1" hangingPunct="1"/>
            <a:r>
              <a:rPr lang="zh-CN" altLang="en-US" sz="2800" dirty="0">
                <a:latin typeface="Times New Roman" panose="02020603050405020304" pitchFamily="18" charset="0"/>
                <a:ea typeface="黑体" panose="02010609060101010101" pitchFamily="49" charset="-122"/>
              </a:rPr>
              <a:t>为了便于讨论，模拟多路开关中的一个开关用下图</a:t>
            </a:r>
            <a:r>
              <a:rPr lang="zh-CN" altLang="en-US" sz="2800" dirty="0">
                <a:latin typeface="楷体_GB2312" pitchFamily="49" charset="-122"/>
                <a:ea typeface="黑体" panose="02010609060101010101" pitchFamily="49" charset="-122"/>
              </a:rPr>
              <a:t>所示的</a:t>
            </a:r>
            <a:r>
              <a:rPr lang="zh-CN" altLang="en-US" sz="2800" dirty="0">
                <a:solidFill>
                  <a:srgbClr val="FF0000"/>
                </a:solidFill>
                <a:latin typeface="楷体_GB2312" pitchFamily="49" charset="-122"/>
                <a:ea typeface="黑体" panose="02010609060101010101" pitchFamily="49" charset="-122"/>
              </a:rPr>
              <a:t>等效电路</a:t>
            </a:r>
            <a:r>
              <a:rPr lang="zh-CN" altLang="en-US" sz="2800" dirty="0">
                <a:latin typeface="楷体_GB2312" pitchFamily="49" charset="-122"/>
                <a:ea typeface="黑体" panose="02010609060101010101" pitchFamily="49" charset="-122"/>
              </a:rPr>
              <a:t>来表示。</a:t>
            </a:r>
            <a:endParaRPr lang="zh-CN" altLang="en-US" sz="2800" dirty="0">
              <a:latin typeface="楷体_GB2312" pitchFamily="49" charset="-122"/>
              <a:ea typeface="黑体" panose="02010609060101010101" pitchFamily="49" charset="-122"/>
            </a:endParaRPr>
          </a:p>
        </p:txBody>
      </p:sp>
      <p:grpSp>
        <p:nvGrpSpPr>
          <p:cNvPr id="2387016" name="Group 72"/>
          <p:cNvGrpSpPr/>
          <p:nvPr/>
        </p:nvGrpSpPr>
        <p:grpSpPr>
          <a:xfrm>
            <a:off x="325438" y="1774825"/>
            <a:ext cx="8428037" cy="2593975"/>
            <a:chOff x="205" y="1118"/>
            <a:chExt cx="5309" cy="1634"/>
          </a:xfrm>
        </p:grpSpPr>
        <p:sp>
          <p:nvSpPr>
            <p:cNvPr id="38918" name="AutoShape 3"/>
            <p:cNvSpPr>
              <a:spLocks noChangeAspect="1" noTextEdit="1"/>
            </p:cNvSpPr>
            <p:nvPr/>
          </p:nvSpPr>
          <p:spPr>
            <a:xfrm>
              <a:off x="205" y="1118"/>
              <a:ext cx="4176" cy="1634"/>
            </a:xfrm>
            <a:prstGeom prst="rect">
              <a:avLst/>
            </a:prstGeom>
            <a:solidFill>
              <a:srgbClr val="FFFF99"/>
            </a:solidFill>
            <a:ln w="9525">
              <a:noFill/>
            </a:ln>
          </p:spPr>
          <p:txBody>
            <a:bodyPr/>
            <a:p>
              <a:endParaRPr lang="zh-CN" altLang="en-US"/>
            </a:p>
          </p:txBody>
        </p:sp>
        <p:sp>
          <p:nvSpPr>
            <p:cNvPr id="38919" name="Line 5"/>
            <p:cNvSpPr/>
            <p:nvPr/>
          </p:nvSpPr>
          <p:spPr>
            <a:xfrm>
              <a:off x="559" y="1722"/>
              <a:ext cx="206" cy="1"/>
            </a:xfrm>
            <a:prstGeom prst="line">
              <a:avLst/>
            </a:prstGeom>
            <a:ln w="0" cap="flat" cmpd="sng">
              <a:solidFill>
                <a:srgbClr val="0000FF"/>
              </a:solidFill>
              <a:prstDash val="solid"/>
              <a:headEnd type="none" w="med" len="med"/>
              <a:tailEnd type="none" w="med" len="med"/>
            </a:ln>
          </p:spPr>
        </p:sp>
        <p:sp>
          <p:nvSpPr>
            <p:cNvPr id="38920" name="Rectangle 6"/>
            <p:cNvSpPr/>
            <p:nvPr/>
          </p:nvSpPr>
          <p:spPr>
            <a:xfrm>
              <a:off x="763" y="1695"/>
              <a:ext cx="231" cy="66"/>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21" name="Oval 7"/>
            <p:cNvSpPr/>
            <p:nvPr/>
          </p:nvSpPr>
          <p:spPr>
            <a:xfrm>
              <a:off x="2052" y="1695"/>
              <a:ext cx="68"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22" name="Oval 9"/>
            <p:cNvSpPr/>
            <p:nvPr/>
          </p:nvSpPr>
          <p:spPr>
            <a:xfrm>
              <a:off x="2269" y="1695"/>
              <a:ext cx="68" cy="68"/>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23" name="Rectangle 10"/>
            <p:cNvSpPr/>
            <p:nvPr/>
          </p:nvSpPr>
          <p:spPr>
            <a:xfrm>
              <a:off x="2514" y="1695"/>
              <a:ext cx="231" cy="66"/>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24" name="Line 11"/>
            <p:cNvSpPr/>
            <p:nvPr/>
          </p:nvSpPr>
          <p:spPr>
            <a:xfrm>
              <a:off x="2337" y="1722"/>
              <a:ext cx="177" cy="1"/>
            </a:xfrm>
            <a:prstGeom prst="line">
              <a:avLst/>
            </a:prstGeom>
            <a:ln w="0" cap="flat" cmpd="sng">
              <a:solidFill>
                <a:srgbClr val="0000FF"/>
              </a:solidFill>
              <a:prstDash val="solid"/>
              <a:headEnd type="none" w="med" len="med"/>
              <a:tailEnd type="none" w="med" len="med"/>
            </a:ln>
          </p:spPr>
        </p:sp>
        <p:sp>
          <p:nvSpPr>
            <p:cNvPr id="38925" name="Line 12"/>
            <p:cNvSpPr/>
            <p:nvPr/>
          </p:nvSpPr>
          <p:spPr>
            <a:xfrm>
              <a:off x="2747" y="1720"/>
              <a:ext cx="188" cy="2"/>
            </a:xfrm>
            <a:prstGeom prst="line">
              <a:avLst/>
            </a:prstGeom>
            <a:ln w="0" cap="flat" cmpd="sng">
              <a:solidFill>
                <a:srgbClr val="0000FF"/>
              </a:solidFill>
              <a:prstDash val="solid"/>
              <a:headEnd type="none" w="med" len="med"/>
              <a:tailEnd type="none" w="med" len="med"/>
            </a:ln>
          </p:spPr>
        </p:sp>
        <p:sp>
          <p:nvSpPr>
            <p:cNvPr id="38926" name="Oval 13"/>
            <p:cNvSpPr/>
            <p:nvPr/>
          </p:nvSpPr>
          <p:spPr>
            <a:xfrm>
              <a:off x="2929" y="1695"/>
              <a:ext cx="67" cy="6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27" name="Line 14"/>
            <p:cNvSpPr/>
            <p:nvPr/>
          </p:nvSpPr>
          <p:spPr>
            <a:xfrm flipV="1">
              <a:off x="2113" y="1600"/>
              <a:ext cx="204" cy="109"/>
            </a:xfrm>
            <a:prstGeom prst="line">
              <a:avLst/>
            </a:prstGeom>
            <a:ln w="0" cap="flat" cmpd="sng">
              <a:solidFill>
                <a:srgbClr val="0000FF"/>
              </a:solidFill>
              <a:prstDash val="solid"/>
              <a:headEnd type="none" w="med" len="med"/>
              <a:tailEnd type="none" w="med" len="med"/>
            </a:ln>
          </p:spPr>
        </p:sp>
        <p:sp>
          <p:nvSpPr>
            <p:cNvPr id="38928" name="Line 15"/>
            <p:cNvSpPr/>
            <p:nvPr/>
          </p:nvSpPr>
          <p:spPr>
            <a:xfrm>
              <a:off x="1862" y="1722"/>
              <a:ext cx="1" cy="218"/>
            </a:xfrm>
            <a:prstGeom prst="line">
              <a:avLst/>
            </a:prstGeom>
            <a:ln w="0" cap="flat" cmpd="sng">
              <a:solidFill>
                <a:srgbClr val="0000FF"/>
              </a:solidFill>
              <a:prstDash val="solid"/>
              <a:headEnd type="none" w="med" len="med"/>
              <a:tailEnd type="none" w="med" len="med"/>
            </a:ln>
          </p:spPr>
        </p:sp>
        <p:sp>
          <p:nvSpPr>
            <p:cNvPr id="38929" name="Line 16"/>
            <p:cNvSpPr/>
            <p:nvPr/>
          </p:nvSpPr>
          <p:spPr>
            <a:xfrm>
              <a:off x="1862" y="1940"/>
              <a:ext cx="217" cy="1"/>
            </a:xfrm>
            <a:prstGeom prst="line">
              <a:avLst/>
            </a:prstGeom>
            <a:ln w="0" cap="flat" cmpd="sng">
              <a:solidFill>
                <a:srgbClr val="0000FF"/>
              </a:solidFill>
              <a:prstDash val="solid"/>
              <a:headEnd type="none" w="med" len="med"/>
              <a:tailEnd type="none" w="med" len="med"/>
            </a:ln>
          </p:spPr>
        </p:sp>
        <p:sp>
          <p:nvSpPr>
            <p:cNvPr id="38930" name="Rectangle 17"/>
            <p:cNvSpPr/>
            <p:nvPr/>
          </p:nvSpPr>
          <p:spPr>
            <a:xfrm>
              <a:off x="2079" y="1913"/>
              <a:ext cx="231" cy="7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31" name="Line 18"/>
            <p:cNvSpPr/>
            <p:nvPr/>
          </p:nvSpPr>
          <p:spPr>
            <a:xfrm>
              <a:off x="2840" y="1722"/>
              <a:ext cx="1" cy="218"/>
            </a:xfrm>
            <a:prstGeom prst="line">
              <a:avLst/>
            </a:prstGeom>
            <a:ln w="0" cap="flat" cmpd="sng">
              <a:solidFill>
                <a:srgbClr val="0000FF"/>
              </a:solidFill>
              <a:prstDash val="solid"/>
              <a:headEnd type="none" w="med" len="med"/>
              <a:tailEnd type="none" w="med" len="med"/>
            </a:ln>
          </p:spPr>
        </p:sp>
        <p:sp>
          <p:nvSpPr>
            <p:cNvPr id="38932" name="Line 19"/>
            <p:cNvSpPr/>
            <p:nvPr/>
          </p:nvSpPr>
          <p:spPr>
            <a:xfrm flipV="1">
              <a:off x="1645" y="1395"/>
              <a:ext cx="1" cy="327"/>
            </a:xfrm>
            <a:prstGeom prst="line">
              <a:avLst/>
            </a:prstGeom>
            <a:ln w="0" cap="flat" cmpd="sng">
              <a:solidFill>
                <a:srgbClr val="0000FF"/>
              </a:solidFill>
              <a:prstDash val="solid"/>
              <a:headEnd type="none" w="med" len="med"/>
              <a:tailEnd type="none" w="med" len="med"/>
            </a:ln>
          </p:spPr>
        </p:sp>
        <p:sp>
          <p:nvSpPr>
            <p:cNvPr id="38933" name="Line 20"/>
            <p:cNvSpPr/>
            <p:nvPr/>
          </p:nvSpPr>
          <p:spPr>
            <a:xfrm>
              <a:off x="1645" y="1395"/>
              <a:ext cx="543" cy="1"/>
            </a:xfrm>
            <a:prstGeom prst="line">
              <a:avLst/>
            </a:prstGeom>
            <a:ln w="0" cap="flat" cmpd="sng">
              <a:solidFill>
                <a:srgbClr val="0000FF"/>
              </a:solidFill>
              <a:prstDash val="solid"/>
              <a:headEnd type="none" w="med" len="med"/>
              <a:tailEnd type="none" w="med" len="med"/>
            </a:ln>
          </p:spPr>
        </p:sp>
        <p:sp>
          <p:nvSpPr>
            <p:cNvPr id="38934" name="Line 21"/>
            <p:cNvSpPr/>
            <p:nvPr/>
          </p:nvSpPr>
          <p:spPr>
            <a:xfrm>
              <a:off x="2188" y="1313"/>
              <a:ext cx="1" cy="164"/>
            </a:xfrm>
            <a:prstGeom prst="line">
              <a:avLst/>
            </a:prstGeom>
            <a:ln w="0" cap="flat" cmpd="sng">
              <a:solidFill>
                <a:srgbClr val="0000FF"/>
              </a:solidFill>
              <a:prstDash val="solid"/>
              <a:headEnd type="none" w="med" len="med"/>
              <a:tailEnd type="none" w="med" len="med"/>
            </a:ln>
          </p:spPr>
        </p:sp>
        <p:sp>
          <p:nvSpPr>
            <p:cNvPr id="38935" name="Line 22"/>
            <p:cNvSpPr/>
            <p:nvPr/>
          </p:nvSpPr>
          <p:spPr>
            <a:xfrm>
              <a:off x="2242" y="1313"/>
              <a:ext cx="1" cy="164"/>
            </a:xfrm>
            <a:prstGeom prst="line">
              <a:avLst/>
            </a:prstGeom>
            <a:ln w="0" cap="flat" cmpd="sng">
              <a:solidFill>
                <a:srgbClr val="0000FF"/>
              </a:solidFill>
              <a:prstDash val="solid"/>
              <a:headEnd type="none" w="med" len="med"/>
              <a:tailEnd type="none" w="med" len="med"/>
            </a:ln>
          </p:spPr>
        </p:sp>
        <p:sp>
          <p:nvSpPr>
            <p:cNvPr id="38936" name="Line 23"/>
            <p:cNvSpPr/>
            <p:nvPr/>
          </p:nvSpPr>
          <p:spPr>
            <a:xfrm>
              <a:off x="2242" y="1395"/>
              <a:ext cx="722" cy="1"/>
            </a:xfrm>
            <a:prstGeom prst="line">
              <a:avLst/>
            </a:prstGeom>
            <a:ln w="0" cap="flat" cmpd="sng">
              <a:solidFill>
                <a:srgbClr val="0000FF"/>
              </a:solidFill>
              <a:prstDash val="solid"/>
              <a:headEnd type="none" w="med" len="med"/>
              <a:tailEnd type="none" w="med" len="med"/>
            </a:ln>
          </p:spPr>
        </p:sp>
        <p:sp>
          <p:nvSpPr>
            <p:cNvPr id="38937" name="Line 24"/>
            <p:cNvSpPr/>
            <p:nvPr/>
          </p:nvSpPr>
          <p:spPr>
            <a:xfrm flipH="1">
              <a:off x="2962" y="1400"/>
              <a:ext cx="2" cy="309"/>
            </a:xfrm>
            <a:prstGeom prst="line">
              <a:avLst/>
            </a:prstGeom>
            <a:ln w="0" cap="flat" cmpd="sng">
              <a:solidFill>
                <a:srgbClr val="0000FF"/>
              </a:solidFill>
              <a:prstDash val="solid"/>
              <a:headEnd type="none" w="med" len="med"/>
              <a:tailEnd type="none" w="med" len="med"/>
            </a:ln>
          </p:spPr>
        </p:sp>
        <p:sp>
          <p:nvSpPr>
            <p:cNvPr id="38938" name="Line 25"/>
            <p:cNvSpPr/>
            <p:nvPr/>
          </p:nvSpPr>
          <p:spPr>
            <a:xfrm>
              <a:off x="2962" y="1763"/>
              <a:ext cx="1" cy="504"/>
            </a:xfrm>
            <a:prstGeom prst="line">
              <a:avLst/>
            </a:prstGeom>
            <a:ln w="0" cap="flat" cmpd="sng">
              <a:solidFill>
                <a:srgbClr val="0000FF"/>
              </a:solidFill>
              <a:prstDash val="solid"/>
              <a:headEnd type="none" w="med" len="med"/>
              <a:tailEnd type="none" w="med" len="med"/>
            </a:ln>
          </p:spPr>
        </p:sp>
        <p:grpSp>
          <p:nvGrpSpPr>
            <p:cNvPr id="38939" name="Group 28"/>
            <p:cNvGrpSpPr/>
            <p:nvPr/>
          </p:nvGrpSpPr>
          <p:grpSpPr>
            <a:xfrm>
              <a:off x="2894" y="2267"/>
              <a:ext cx="149" cy="56"/>
              <a:chOff x="3500" y="2267"/>
              <a:chExt cx="149" cy="56"/>
            </a:xfrm>
          </p:grpSpPr>
          <p:sp>
            <p:nvSpPr>
              <p:cNvPr id="38984" name="Line 26"/>
              <p:cNvSpPr/>
              <p:nvPr/>
            </p:nvSpPr>
            <p:spPr>
              <a:xfrm>
                <a:off x="3500" y="2267"/>
                <a:ext cx="149" cy="1"/>
              </a:xfrm>
              <a:prstGeom prst="line">
                <a:avLst/>
              </a:prstGeom>
              <a:ln w="0" cap="flat" cmpd="sng">
                <a:solidFill>
                  <a:srgbClr val="0000FF"/>
                </a:solidFill>
                <a:prstDash val="solid"/>
                <a:headEnd type="none" w="med" len="med"/>
                <a:tailEnd type="none" w="med" len="med"/>
              </a:ln>
            </p:spPr>
          </p:sp>
          <p:sp>
            <p:nvSpPr>
              <p:cNvPr id="38985" name="Line 27"/>
              <p:cNvSpPr/>
              <p:nvPr/>
            </p:nvSpPr>
            <p:spPr>
              <a:xfrm>
                <a:off x="3500" y="2322"/>
                <a:ext cx="149" cy="1"/>
              </a:xfrm>
              <a:prstGeom prst="line">
                <a:avLst/>
              </a:prstGeom>
              <a:ln w="0" cap="flat" cmpd="sng">
                <a:solidFill>
                  <a:srgbClr val="0000FF"/>
                </a:solidFill>
                <a:prstDash val="solid"/>
                <a:headEnd type="none" w="med" len="med"/>
                <a:tailEnd type="none" w="med" len="med"/>
              </a:ln>
            </p:spPr>
          </p:sp>
        </p:grpSp>
        <p:sp>
          <p:nvSpPr>
            <p:cNvPr id="38940" name="Line 29"/>
            <p:cNvSpPr/>
            <p:nvPr/>
          </p:nvSpPr>
          <p:spPr>
            <a:xfrm>
              <a:off x="2962" y="2322"/>
              <a:ext cx="1" cy="381"/>
            </a:xfrm>
            <a:prstGeom prst="line">
              <a:avLst/>
            </a:prstGeom>
            <a:ln w="0" cap="flat" cmpd="sng">
              <a:solidFill>
                <a:srgbClr val="0000FF"/>
              </a:solidFill>
              <a:prstDash val="solid"/>
              <a:headEnd type="none" w="med" len="med"/>
              <a:tailEnd type="none" w="med" len="med"/>
            </a:ln>
          </p:spPr>
        </p:sp>
        <p:grpSp>
          <p:nvGrpSpPr>
            <p:cNvPr id="38941" name="Group 32"/>
            <p:cNvGrpSpPr/>
            <p:nvPr/>
          </p:nvGrpSpPr>
          <p:grpSpPr>
            <a:xfrm>
              <a:off x="1577" y="2267"/>
              <a:ext cx="150" cy="56"/>
              <a:chOff x="2183" y="2267"/>
              <a:chExt cx="150" cy="56"/>
            </a:xfrm>
          </p:grpSpPr>
          <p:sp>
            <p:nvSpPr>
              <p:cNvPr id="38982" name="Line 30"/>
              <p:cNvSpPr/>
              <p:nvPr/>
            </p:nvSpPr>
            <p:spPr>
              <a:xfrm>
                <a:off x="2183" y="2267"/>
                <a:ext cx="150" cy="1"/>
              </a:xfrm>
              <a:prstGeom prst="line">
                <a:avLst/>
              </a:prstGeom>
              <a:ln w="0" cap="flat" cmpd="sng">
                <a:solidFill>
                  <a:srgbClr val="0000FF"/>
                </a:solidFill>
                <a:prstDash val="solid"/>
                <a:headEnd type="none" w="med" len="med"/>
                <a:tailEnd type="none" w="med" len="med"/>
              </a:ln>
            </p:spPr>
          </p:sp>
          <p:sp>
            <p:nvSpPr>
              <p:cNvPr id="38983" name="Line 31"/>
              <p:cNvSpPr/>
              <p:nvPr/>
            </p:nvSpPr>
            <p:spPr>
              <a:xfrm>
                <a:off x="2183" y="2322"/>
                <a:ext cx="150" cy="1"/>
              </a:xfrm>
              <a:prstGeom prst="line">
                <a:avLst/>
              </a:prstGeom>
              <a:ln w="0" cap="flat" cmpd="sng">
                <a:solidFill>
                  <a:srgbClr val="0000FF"/>
                </a:solidFill>
                <a:prstDash val="solid"/>
                <a:headEnd type="none" w="med" len="med"/>
                <a:tailEnd type="none" w="med" len="med"/>
              </a:ln>
            </p:spPr>
          </p:sp>
        </p:grpSp>
        <p:sp>
          <p:nvSpPr>
            <p:cNvPr id="38942" name="Line 33"/>
            <p:cNvSpPr/>
            <p:nvPr/>
          </p:nvSpPr>
          <p:spPr>
            <a:xfrm>
              <a:off x="1645" y="1736"/>
              <a:ext cx="1" cy="531"/>
            </a:xfrm>
            <a:prstGeom prst="line">
              <a:avLst/>
            </a:prstGeom>
            <a:ln w="0" cap="flat" cmpd="sng">
              <a:solidFill>
                <a:srgbClr val="0000FF"/>
              </a:solidFill>
              <a:prstDash val="solid"/>
              <a:headEnd type="none" w="med" len="med"/>
              <a:tailEnd type="none" w="med" len="med"/>
            </a:ln>
          </p:spPr>
        </p:sp>
        <p:sp>
          <p:nvSpPr>
            <p:cNvPr id="38943" name="Line 34"/>
            <p:cNvSpPr/>
            <p:nvPr/>
          </p:nvSpPr>
          <p:spPr>
            <a:xfrm>
              <a:off x="1645" y="2322"/>
              <a:ext cx="1" cy="381"/>
            </a:xfrm>
            <a:prstGeom prst="line">
              <a:avLst/>
            </a:prstGeom>
            <a:ln w="0" cap="flat" cmpd="sng">
              <a:solidFill>
                <a:srgbClr val="0000FF"/>
              </a:solidFill>
              <a:prstDash val="solid"/>
              <a:headEnd type="none" w="med" len="med"/>
              <a:tailEnd type="none" w="med" len="med"/>
            </a:ln>
          </p:spPr>
        </p:sp>
        <p:sp>
          <p:nvSpPr>
            <p:cNvPr id="38944" name="Line 35"/>
            <p:cNvSpPr/>
            <p:nvPr/>
          </p:nvSpPr>
          <p:spPr>
            <a:xfrm>
              <a:off x="559" y="1722"/>
              <a:ext cx="1" cy="345"/>
            </a:xfrm>
            <a:prstGeom prst="line">
              <a:avLst/>
            </a:prstGeom>
            <a:ln w="0" cap="flat" cmpd="sng">
              <a:solidFill>
                <a:srgbClr val="0000FF"/>
              </a:solidFill>
              <a:prstDash val="solid"/>
              <a:headEnd type="none" w="med" len="med"/>
              <a:tailEnd type="none" w="med" len="med"/>
            </a:ln>
          </p:spPr>
        </p:sp>
        <p:sp>
          <p:nvSpPr>
            <p:cNvPr id="38945" name="Oval 36"/>
            <p:cNvSpPr/>
            <p:nvPr/>
          </p:nvSpPr>
          <p:spPr>
            <a:xfrm>
              <a:off x="451" y="2063"/>
              <a:ext cx="217" cy="2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46" name="Rectangle 37"/>
            <p:cNvSpPr/>
            <p:nvPr/>
          </p:nvSpPr>
          <p:spPr>
            <a:xfrm>
              <a:off x="505" y="2015"/>
              <a:ext cx="117" cy="233"/>
            </a:xfrm>
            <a:prstGeom prst="rect">
              <a:avLst/>
            </a:prstGeom>
            <a:noFill/>
            <a:ln w="9525">
              <a:noFill/>
            </a:ln>
          </p:spPr>
          <p:txBody>
            <a:bodyPr wrap="none" lIns="0" tIns="0" rIns="0" bIns="0">
              <a:spAutoFit/>
            </a:bodyPr>
            <a:p>
              <a:pPr eaLnBrk="1" hangingPunct="1">
                <a:lnSpc>
                  <a:spcPct val="90000"/>
                </a:lnSpc>
              </a:pPr>
              <a:r>
                <a:rPr lang="en-US" altLang="zh-CN" sz="27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38947" name="Line 38"/>
            <p:cNvSpPr/>
            <p:nvPr/>
          </p:nvSpPr>
          <p:spPr>
            <a:xfrm>
              <a:off x="559" y="2703"/>
              <a:ext cx="3477" cy="1"/>
            </a:xfrm>
            <a:prstGeom prst="line">
              <a:avLst/>
            </a:prstGeom>
            <a:ln w="0" cap="flat" cmpd="sng">
              <a:solidFill>
                <a:srgbClr val="0000FF"/>
              </a:solidFill>
              <a:prstDash val="solid"/>
              <a:headEnd type="none" w="med" len="med"/>
              <a:tailEnd type="none" w="med" len="med"/>
            </a:ln>
          </p:spPr>
        </p:sp>
        <p:sp>
          <p:nvSpPr>
            <p:cNvPr id="38948" name="Line 39"/>
            <p:cNvSpPr/>
            <p:nvPr/>
          </p:nvSpPr>
          <p:spPr>
            <a:xfrm>
              <a:off x="3002" y="1722"/>
              <a:ext cx="1032" cy="1"/>
            </a:xfrm>
            <a:prstGeom prst="line">
              <a:avLst/>
            </a:prstGeom>
            <a:ln w="0" cap="flat" cmpd="sng">
              <a:solidFill>
                <a:srgbClr val="0000FF"/>
              </a:solidFill>
              <a:prstDash val="solid"/>
              <a:headEnd type="none" w="med" len="med"/>
              <a:tailEnd type="none" w="med" len="med"/>
            </a:ln>
          </p:spPr>
        </p:sp>
        <p:sp>
          <p:nvSpPr>
            <p:cNvPr id="38949" name="Rectangle 40"/>
            <p:cNvSpPr/>
            <p:nvPr/>
          </p:nvSpPr>
          <p:spPr>
            <a:xfrm>
              <a:off x="3464" y="2158"/>
              <a:ext cx="68" cy="218"/>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50" name="Line 41"/>
            <p:cNvSpPr/>
            <p:nvPr/>
          </p:nvSpPr>
          <p:spPr>
            <a:xfrm>
              <a:off x="3491" y="1722"/>
              <a:ext cx="1" cy="436"/>
            </a:xfrm>
            <a:prstGeom prst="line">
              <a:avLst/>
            </a:prstGeom>
            <a:ln w="0" cap="flat" cmpd="sng">
              <a:solidFill>
                <a:srgbClr val="0000FF"/>
              </a:solidFill>
              <a:prstDash val="solid"/>
              <a:headEnd type="none" w="med" len="med"/>
              <a:tailEnd type="none" w="med" len="med"/>
            </a:ln>
          </p:spPr>
        </p:sp>
        <p:sp>
          <p:nvSpPr>
            <p:cNvPr id="38951" name="Line 42"/>
            <p:cNvSpPr/>
            <p:nvPr/>
          </p:nvSpPr>
          <p:spPr>
            <a:xfrm>
              <a:off x="3491" y="2376"/>
              <a:ext cx="1" cy="327"/>
            </a:xfrm>
            <a:prstGeom prst="line">
              <a:avLst/>
            </a:prstGeom>
            <a:ln w="0" cap="flat" cmpd="sng">
              <a:solidFill>
                <a:srgbClr val="0000FF"/>
              </a:solidFill>
              <a:prstDash val="solid"/>
              <a:headEnd type="none" w="med" len="med"/>
              <a:tailEnd type="none" w="med" len="med"/>
            </a:ln>
          </p:spPr>
        </p:sp>
        <p:sp>
          <p:nvSpPr>
            <p:cNvPr id="38952" name="Line 43"/>
            <p:cNvSpPr/>
            <p:nvPr/>
          </p:nvSpPr>
          <p:spPr>
            <a:xfrm>
              <a:off x="3966" y="2265"/>
              <a:ext cx="156" cy="1"/>
            </a:xfrm>
            <a:prstGeom prst="line">
              <a:avLst/>
            </a:prstGeom>
            <a:ln w="0" cap="flat" cmpd="sng">
              <a:solidFill>
                <a:srgbClr val="0000FF"/>
              </a:solidFill>
              <a:prstDash val="solid"/>
              <a:headEnd type="none" w="med" len="med"/>
              <a:tailEnd type="none" w="med" len="med"/>
            </a:ln>
          </p:spPr>
        </p:sp>
        <p:sp>
          <p:nvSpPr>
            <p:cNvPr id="38953" name="Line 44"/>
            <p:cNvSpPr/>
            <p:nvPr/>
          </p:nvSpPr>
          <p:spPr>
            <a:xfrm>
              <a:off x="3966" y="2319"/>
              <a:ext cx="156" cy="1"/>
            </a:xfrm>
            <a:prstGeom prst="line">
              <a:avLst/>
            </a:prstGeom>
            <a:ln w="0" cap="flat" cmpd="sng">
              <a:solidFill>
                <a:srgbClr val="0000FF"/>
              </a:solidFill>
              <a:prstDash val="solid"/>
              <a:headEnd type="none" w="med" len="med"/>
              <a:tailEnd type="none" w="med" len="med"/>
            </a:ln>
          </p:spPr>
        </p:sp>
        <p:sp>
          <p:nvSpPr>
            <p:cNvPr id="38954" name="Line 45"/>
            <p:cNvSpPr/>
            <p:nvPr/>
          </p:nvSpPr>
          <p:spPr>
            <a:xfrm>
              <a:off x="4034" y="1722"/>
              <a:ext cx="1" cy="545"/>
            </a:xfrm>
            <a:prstGeom prst="line">
              <a:avLst/>
            </a:prstGeom>
            <a:ln w="0" cap="flat" cmpd="sng">
              <a:solidFill>
                <a:srgbClr val="0000FF"/>
              </a:solidFill>
              <a:prstDash val="solid"/>
              <a:headEnd type="none" w="med" len="med"/>
              <a:tailEnd type="none" w="med" len="med"/>
            </a:ln>
          </p:spPr>
        </p:sp>
        <p:sp>
          <p:nvSpPr>
            <p:cNvPr id="38955" name="Line 46"/>
            <p:cNvSpPr/>
            <p:nvPr/>
          </p:nvSpPr>
          <p:spPr>
            <a:xfrm>
              <a:off x="4034" y="2322"/>
              <a:ext cx="1" cy="381"/>
            </a:xfrm>
            <a:prstGeom prst="line">
              <a:avLst/>
            </a:prstGeom>
            <a:ln w="0" cap="flat" cmpd="sng">
              <a:solidFill>
                <a:srgbClr val="0000FF"/>
              </a:solidFill>
              <a:prstDash val="solid"/>
              <a:headEnd type="none" w="med" len="med"/>
              <a:tailEnd type="none" w="med" len="med"/>
            </a:ln>
          </p:spPr>
        </p:sp>
        <p:sp>
          <p:nvSpPr>
            <p:cNvPr id="38956" name="Oval 47"/>
            <p:cNvSpPr/>
            <p:nvPr/>
          </p:nvSpPr>
          <p:spPr>
            <a:xfrm>
              <a:off x="3464" y="1695"/>
              <a:ext cx="68" cy="6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57" name="Oval 48"/>
            <p:cNvSpPr/>
            <p:nvPr/>
          </p:nvSpPr>
          <p:spPr>
            <a:xfrm>
              <a:off x="2812" y="1695"/>
              <a:ext cx="68" cy="6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58" name="Rectangle 50"/>
            <p:cNvSpPr/>
            <p:nvPr/>
          </p:nvSpPr>
          <p:spPr>
            <a:xfrm>
              <a:off x="247" y="2049"/>
              <a:ext cx="104"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8959" name="Rectangle 51"/>
            <p:cNvSpPr/>
            <p:nvPr/>
          </p:nvSpPr>
          <p:spPr>
            <a:xfrm>
              <a:off x="356" y="2090"/>
              <a:ext cx="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8960" name="Rectangle 52"/>
            <p:cNvSpPr/>
            <p:nvPr/>
          </p:nvSpPr>
          <p:spPr>
            <a:xfrm>
              <a:off x="797" y="1518"/>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8961" name="Rectangle 53"/>
            <p:cNvSpPr/>
            <p:nvPr/>
          </p:nvSpPr>
          <p:spPr>
            <a:xfrm>
              <a:off x="892" y="1570"/>
              <a:ext cx="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8962" name="Rectangle 54"/>
            <p:cNvSpPr/>
            <p:nvPr/>
          </p:nvSpPr>
          <p:spPr>
            <a:xfrm>
              <a:off x="1374" y="2199"/>
              <a:ext cx="9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38963" name="Rectangle 55"/>
            <p:cNvSpPr/>
            <p:nvPr/>
          </p:nvSpPr>
          <p:spPr>
            <a:xfrm>
              <a:off x="1482" y="2254"/>
              <a:ext cx="37"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38964" name="Rectangle 56"/>
            <p:cNvSpPr/>
            <p:nvPr/>
          </p:nvSpPr>
          <p:spPr>
            <a:xfrm>
              <a:off x="2120" y="1136"/>
              <a:ext cx="9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C</a:t>
              </a:r>
              <a:endParaRPr lang="en-US" altLang="zh-CN" sz="1800" b="0" i="1" dirty="0">
                <a:solidFill>
                  <a:srgbClr val="0000FF"/>
                </a:solidFill>
                <a:latin typeface="Times New Roman" panose="02020603050405020304" pitchFamily="18" charset="0"/>
              </a:endParaRPr>
            </a:p>
          </p:txBody>
        </p:sp>
        <p:sp>
          <p:nvSpPr>
            <p:cNvPr id="38965" name="Rectangle 57"/>
            <p:cNvSpPr/>
            <p:nvPr/>
          </p:nvSpPr>
          <p:spPr>
            <a:xfrm>
              <a:off x="2229" y="1186"/>
              <a:ext cx="11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IO</a:t>
              </a:r>
              <a:endParaRPr lang="en-US" altLang="zh-CN" dirty="0">
                <a:latin typeface="Times New Roman" panose="02020603050405020304" pitchFamily="18" charset="0"/>
              </a:endParaRPr>
            </a:p>
          </p:txBody>
        </p:sp>
        <p:sp>
          <p:nvSpPr>
            <p:cNvPr id="38966" name="Rectangle 58"/>
            <p:cNvSpPr/>
            <p:nvPr/>
          </p:nvSpPr>
          <p:spPr>
            <a:xfrm>
              <a:off x="2514" y="1518"/>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8967" name="Rectangle 59"/>
            <p:cNvSpPr/>
            <p:nvPr/>
          </p:nvSpPr>
          <p:spPr>
            <a:xfrm>
              <a:off x="2609" y="1572"/>
              <a:ext cx="1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38968" name="Rectangle 60"/>
            <p:cNvSpPr/>
            <p:nvPr/>
          </p:nvSpPr>
          <p:spPr>
            <a:xfrm>
              <a:off x="2066" y="2017"/>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8969" name="Rectangle 61"/>
            <p:cNvSpPr/>
            <p:nvPr/>
          </p:nvSpPr>
          <p:spPr>
            <a:xfrm>
              <a:off x="2161" y="2063"/>
              <a:ext cx="205"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OFF</a:t>
              </a:r>
              <a:endParaRPr lang="en-US" altLang="zh-CN" dirty="0">
                <a:latin typeface="Times New Roman" panose="02020603050405020304" pitchFamily="18" charset="0"/>
              </a:endParaRPr>
            </a:p>
          </p:txBody>
        </p:sp>
        <p:sp>
          <p:nvSpPr>
            <p:cNvPr id="38970" name="Rectangle 62"/>
            <p:cNvSpPr/>
            <p:nvPr/>
          </p:nvSpPr>
          <p:spPr>
            <a:xfrm>
              <a:off x="2677" y="2213"/>
              <a:ext cx="9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38971" name="Rectangle 63"/>
            <p:cNvSpPr/>
            <p:nvPr/>
          </p:nvSpPr>
          <p:spPr>
            <a:xfrm>
              <a:off x="2778" y="2267"/>
              <a:ext cx="81"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O</a:t>
              </a:r>
              <a:endParaRPr lang="en-US" altLang="zh-CN" dirty="0">
                <a:latin typeface="Times New Roman" panose="02020603050405020304" pitchFamily="18" charset="0"/>
              </a:endParaRPr>
            </a:p>
          </p:txBody>
        </p:sp>
        <p:sp>
          <p:nvSpPr>
            <p:cNvPr id="38972" name="Rectangle 64"/>
            <p:cNvSpPr/>
            <p:nvPr/>
          </p:nvSpPr>
          <p:spPr>
            <a:xfrm>
              <a:off x="4170" y="2185"/>
              <a:ext cx="96"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38973" name="Rectangle 65"/>
            <p:cNvSpPr/>
            <p:nvPr/>
          </p:nvSpPr>
          <p:spPr>
            <a:xfrm>
              <a:off x="4278" y="2238"/>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38974" name="Rectangle 66"/>
            <p:cNvSpPr/>
            <p:nvPr/>
          </p:nvSpPr>
          <p:spPr>
            <a:xfrm>
              <a:off x="3559" y="2179"/>
              <a:ext cx="88" cy="156"/>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8975" name="Rectangle 67"/>
            <p:cNvSpPr/>
            <p:nvPr/>
          </p:nvSpPr>
          <p:spPr>
            <a:xfrm>
              <a:off x="3668" y="2226"/>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38976" name="Line 68"/>
            <p:cNvSpPr/>
            <p:nvPr/>
          </p:nvSpPr>
          <p:spPr>
            <a:xfrm>
              <a:off x="2308" y="1940"/>
              <a:ext cx="538" cy="1"/>
            </a:xfrm>
            <a:prstGeom prst="line">
              <a:avLst/>
            </a:prstGeom>
            <a:ln w="0" cap="flat" cmpd="sng">
              <a:solidFill>
                <a:srgbClr val="0000FF"/>
              </a:solidFill>
              <a:prstDash val="solid"/>
              <a:headEnd type="none" w="med" len="med"/>
              <a:tailEnd type="none" w="med" len="med"/>
            </a:ln>
          </p:spPr>
        </p:sp>
        <p:sp>
          <p:nvSpPr>
            <p:cNvPr id="38977" name="Line 69"/>
            <p:cNvSpPr/>
            <p:nvPr/>
          </p:nvSpPr>
          <p:spPr>
            <a:xfrm>
              <a:off x="991" y="1724"/>
              <a:ext cx="1064" cy="1"/>
            </a:xfrm>
            <a:prstGeom prst="line">
              <a:avLst/>
            </a:prstGeom>
            <a:ln w="0" cap="flat" cmpd="sng">
              <a:solidFill>
                <a:srgbClr val="0000FF"/>
              </a:solidFill>
              <a:prstDash val="solid"/>
              <a:headEnd type="none" w="med" len="med"/>
              <a:tailEnd type="none" w="med" len="med"/>
            </a:ln>
          </p:spPr>
        </p:sp>
        <p:sp>
          <p:nvSpPr>
            <p:cNvPr id="38978" name="Line 70"/>
            <p:cNvSpPr/>
            <p:nvPr/>
          </p:nvSpPr>
          <p:spPr>
            <a:xfrm>
              <a:off x="557" y="2260"/>
              <a:ext cx="1" cy="443"/>
            </a:xfrm>
            <a:prstGeom prst="line">
              <a:avLst/>
            </a:prstGeom>
            <a:ln w="0" cap="flat" cmpd="sng">
              <a:solidFill>
                <a:srgbClr val="0000FF"/>
              </a:solidFill>
              <a:prstDash val="solid"/>
              <a:headEnd type="none" w="med" len="med"/>
              <a:tailEnd type="none" w="med" len="med"/>
            </a:ln>
          </p:spPr>
        </p:sp>
        <p:sp>
          <p:nvSpPr>
            <p:cNvPr id="38979" name="Rectangle 71"/>
            <p:cNvSpPr/>
            <p:nvPr/>
          </p:nvSpPr>
          <p:spPr>
            <a:xfrm>
              <a:off x="4378" y="1121"/>
              <a:ext cx="1136" cy="597"/>
            </a:xfrm>
            <a:prstGeom prst="rect">
              <a:avLst/>
            </a:prstGeom>
            <a:solidFill>
              <a:srgbClr val="FFFF99"/>
            </a:solidFill>
            <a:ln w="9525">
              <a:noFill/>
            </a:ln>
          </p:spPr>
          <p:txBody>
            <a:bodyPr lIns="0" tIns="0" rIns="0" bIns="0">
              <a:spAutoFit/>
            </a:bodyPr>
            <a:p>
              <a:pPr eaLnBrk="1" hangingPunct="1">
                <a:lnSpc>
                  <a:spcPct val="90000"/>
                </a:lnSpc>
              </a:pPr>
              <a:r>
                <a:rPr lang="zh-CN" altLang="en-US" sz="2300" dirty="0">
                  <a:solidFill>
                    <a:srgbClr val="000080"/>
                  </a:solidFill>
                  <a:latin typeface="楷体_GB2312" pitchFamily="49" charset="-122"/>
                </a:rPr>
                <a:t>模拟多路开关中一个开关的等效电路</a:t>
              </a:r>
              <a:endParaRPr lang="zh-CN" altLang="en-US" dirty="0">
                <a:latin typeface="Times New Roman" panose="02020603050405020304" pitchFamily="18" charset="0"/>
              </a:endParaRPr>
            </a:p>
          </p:txBody>
        </p:sp>
        <p:sp>
          <p:nvSpPr>
            <p:cNvPr id="38980" name="Oval 8"/>
            <p:cNvSpPr/>
            <p:nvPr/>
          </p:nvSpPr>
          <p:spPr>
            <a:xfrm>
              <a:off x="1612" y="1695"/>
              <a:ext cx="68" cy="6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8981" name="Oval 49"/>
            <p:cNvSpPr/>
            <p:nvPr/>
          </p:nvSpPr>
          <p:spPr>
            <a:xfrm>
              <a:off x="1835" y="1695"/>
              <a:ext cx="68" cy="6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sp>
        <p:nvSpPr>
          <p:cNvPr id="2387017" name="Text Box 73"/>
          <p:cNvSpPr txBox="1"/>
          <p:nvPr/>
        </p:nvSpPr>
        <p:spPr>
          <a:xfrm>
            <a:off x="809625" y="4545013"/>
            <a:ext cx="7440613" cy="1552575"/>
          </a:xfrm>
          <a:prstGeom prst="rect">
            <a:avLst/>
          </a:prstGeom>
          <a:solidFill>
            <a:srgbClr val="CCFFFF"/>
          </a:solidFill>
          <a:ln w="9525">
            <a:noFill/>
          </a:ln>
        </p:spPr>
        <p:txBody>
          <a:bodyPr>
            <a:spAutoFit/>
          </a:bodyPr>
          <a:p>
            <a:pPr eaLnBrk="1" hangingPunct="1"/>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S</a:t>
            </a:r>
            <a:r>
              <a:rPr lang="zh-CN" altLang="en-US" sz="2400" dirty="0">
                <a:solidFill>
                  <a:schemeClr val="tx1"/>
                </a:solidFill>
                <a:latin typeface="Times New Roman" panose="02020603050405020304" pitchFamily="18" charset="0"/>
              </a:rPr>
              <a:t>为信号源内阻</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I</a:t>
            </a:r>
            <a:r>
              <a:rPr lang="zh-CN" altLang="en-US" sz="2400" dirty="0">
                <a:solidFill>
                  <a:schemeClr val="tx1"/>
                </a:solidFill>
                <a:latin typeface="Times New Roman" panose="02020603050405020304" pitchFamily="18" charset="0"/>
              </a:rPr>
              <a:t>为开关的输入电容</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ON</a:t>
            </a:r>
            <a:r>
              <a:rPr lang="zh-CN" altLang="en-US" sz="2400" dirty="0">
                <a:solidFill>
                  <a:schemeClr val="tx1"/>
                </a:solidFill>
                <a:latin typeface="Times New Roman" panose="02020603050405020304" pitchFamily="18" charset="0"/>
              </a:rPr>
              <a:t>是开关的导通电阻，</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OFF</a:t>
            </a:r>
            <a:r>
              <a:rPr lang="zh-CN" altLang="en-US" sz="2400" dirty="0">
                <a:solidFill>
                  <a:schemeClr val="tx1"/>
                </a:solidFill>
                <a:latin typeface="Times New Roman" panose="02020603050405020304" pitchFamily="18" charset="0"/>
              </a:rPr>
              <a:t>是开关断开时的电阻</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IO</a:t>
            </a:r>
            <a:r>
              <a:rPr lang="zh-CN" altLang="en-US" sz="2400" dirty="0">
                <a:solidFill>
                  <a:schemeClr val="tx1"/>
                </a:solidFill>
                <a:latin typeface="Times New Roman" panose="02020603050405020304" pitchFamily="18" charset="0"/>
              </a:rPr>
              <a:t>是跨接在开关输入与输出端上的电容</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O</a:t>
            </a:r>
            <a:r>
              <a:rPr lang="zh-CN" altLang="en-US" sz="2400" dirty="0">
                <a:solidFill>
                  <a:schemeClr val="tx1"/>
                </a:solidFill>
                <a:latin typeface="Times New Roman" panose="02020603050405020304" pitchFamily="18" charset="0"/>
              </a:rPr>
              <a:t>是输出电容</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zh-CN" altLang="en-US" sz="2400" dirty="0">
                <a:solidFill>
                  <a:schemeClr val="tx1"/>
                </a:solidFill>
                <a:latin typeface="Times New Roman" panose="02020603050405020304" pitchFamily="18" charset="0"/>
              </a:rPr>
              <a:t>和</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zh-CN" altLang="en-US" sz="2400" dirty="0">
                <a:solidFill>
                  <a:schemeClr val="tx1"/>
                </a:solidFill>
                <a:latin typeface="Times New Roman" panose="02020603050405020304" pitchFamily="18" charset="0"/>
              </a:rPr>
              <a:t>为负载的电阻和电容。</a:t>
            </a:r>
            <a:endParaRPr lang="zh-CN" altLang="en-US" sz="24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5754"/>
                                        </p:tgtEl>
                                        <p:attrNameLst>
                                          <p:attrName>style.visibility</p:attrName>
                                        </p:attrNameLst>
                                      </p:cBhvr>
                                      <p:to>
                                        <p:strVal val="visible"/>
                                      </p:to>
                                    </p:set>
                                    <p:animEffect transition="in" filter="dissolve">
                                      <p:cBhvr>
                                        <p:cTn id="7" dur="500"/>
                                        <p:tgtEl>
                                          <p:spTgt spid="23357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7016"/>
                                        </p:tgtEl>
                                        <p:attrNameLst>
                                          <p:attrName>style.visibility</p:attrName>
                                        </p:attrNameLst>
                                      </p:cBhvr>
                                      <p:to>
                                        <p:strVal val="visible"/>
                                      </p:to>
                                    </p:set>
                                    <p:animEffect transition="in" filter="dissolve">
                                      <p:cBhvr>
                                        <p:cTn id="12" dur="500"/>
                                        <p:tgtEl>
                                          <p:spTgt spid="23870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87017"/>
                                        </p:tgtEl>
                                        <p:attrNameLst>
                                          <p:attrName>style.visibility</p:attrName>
                                        </p:attrNameLst>
                                      </p:cBhvr>
                                      <p:to>
                                        <p:strVal val="visible"/>
                                      </p:to>
                                    </p:set>
                                    <p:animEffect transition="in" filter="dissolve">
                                      <p:cBhvr>
                                        <p:cTn id="17" dur="500"/>
                                        <p:tgtEl>
                                          <p:spTgt spid="23870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754" grpId="0" animBg="1"/>
      <p:bldP spid="2387017"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7809" name="Rectangle 1041"/>
          <p:cNvSpPr/>
          <p:nvPr/>
        </p:nvSpPr>
        <p:spPr>
          <a:xfrm>
            <a:off x="114300" y="2019300"/>
            <a:ext cx="3762375" cy="3981450"/>
          </a:xfrm>
          <a:prstGeom prst="rect">
            <a:avLst/>
          </a:prstGeom>
          <a:solidFill>
            <a:srgbClr val="CCFF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37801" name="Text Box 1033"/>
          <p:cNvSpPr txBox="1"/>
          <p:nvPr/>
        </p:nvSpPr>
        <p:spPr>
          <a:xfrm>
            <a:off x="415925" y="646113"/>
            <a:ext cx="25654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漏电流</a:t>
            </a:r>
            <a:endParaRPr lang="zh-CN" altLang="en-US" dirty="0">
              <a:latin typeface="Times New Roman" panose="02020603050405020304" pitchFamily="18" charset="0"/>
            </a:endParaRPr>
          </a:p>
        </p:txBody>
      </p:sp>
      <p:sp>
        <p:nvSpPr>
          <p:cNvPr id="2337802" name="Text Box 1034"/>
          <p:cNvSpPr txBox="1"/>
          <p:nvPr/>
        </p:nvSpPr>
        <p:spPr>
          <a:xfrm>
            <a:off x="781050" y="1377950"/>
            <a:ext cx="7764463" cy="519113"/>
          </a:xfrm>
          <a:prstGeom prst="rect">
            <a:avLst/>
          </a:prstGeom>
          <a:noFill/>
          <a:ln w="9525">
            <a:noFill/>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漏电流</a:t>
            </a:r>
            <a:r>
              <a:rPr lang="en-US" altLang="zh-CN" sz="2800" dirty="0">
                <a:solidFill>
                  <a:srgbClr val="FF0000"/>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通过断开的模拟开关的电流，用</a:t>
            </a:r>
            <a:r>
              <a:rPr lang="en-US" altLang="zh-CN" sz="2800" i="1" dirty="0">
                <a:solidFill>
                  <a:srgbClr val="FF0000"/>
                </a:solidFill>
                <a:latin typeface="Times New Roman" panose="02020603050405020304" pitchFamily="18" charset="0"/>
                <a:ea typeface="黑体" panose="02010609060101010101" pitchFamily="49" charset="-122"/>
              </a:rPr>
              <a:t>I</a:t>
            </a:r>
            <a:r>
              <a:rPr lang="en-US" altLang="zh-CN" sz="2800" i="1" baseline="-25000" dirty="0">
                <a:solidFill>
                  <a:srgbClr val="FF0000"/>
                </a:solidFill>
                <a:latin typeface="Times New Roman" panose="02020603050405020304" pitchFamily="18" charset="0"/>
                <a:ea typeface="黑体" panose="02010609060101010101" pitchFamily="49" charset="-122"/>
              </a:rPr>
              <a:t>S</a:t>
            </a:r>
            <a:r>
              <a:rPr lang="zh-CN" altLang="en-US" sz="2800" dirty="0">
                <a:solidFill>
                  <a:schemeClr val="tx1"/>
                </a:solidFill>
                <a:latin typeface="黑体" panose="02010609060101010101" pitchFamily="49" charset="-122"/>
                <a:ea typeface="黑体" panose="02010609060101010101" pitchFamily="49" charset="-122"/>
              </a:rPr>
              <a:t>表示。 </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37804" name="Text Box 1036"/>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37805" name="Text Box 1037"/>
          <p:cNvSpPr txBox="1"/>
          <p:nvPr/>
        </p:nvSpPr>
        <p:spPr>
          <a:xfrm>
            <a:off x="444500" y="2020888"/>
            <a:ext cx="3425825" cy="3935412"/>
          </a:xfrm>
          <a:prstGeom prst="rect">
            <a:avLst/>
          </a:prstGeom>
          <a:noFill/>
          <a:ln w="9525">
            <a:noFill/>
          </a:ln>
        </p:spPr>
        <p:txBody>
          <a:bodyPr>
            <a:spAutoFit/>
          </a:bodyPr>
          <a:p>
            <a:pPr eaLnBrk="1" hangingPunct="1"/>
            <a:r>
              <a:rPr lang="zh-CN" altLang="en-US" sz="2800" dirty="0">
                <a:latin typeface="Times New Roman" panose="02020603050405020304" pitchFamily="18" charset="0"/>
              </a:rPr>
              <a:t>在</a:t>
            </a:r>
            <a:r>
              <a:rPr lang="en-US" altLang="zh-CN" sz="2800" i="1" dirty="0">
                <a:solidFill>
                  <a:srgbClr val="CC00CC"/>
                </a:solidFill>
                <a:latin typeface="Times New Roman" panose="02020603050405020304" pitchFamily="18" charset="0"/>
                <a:ea typeface="宋体" panose="02010600030101010101" pitchFamily="2" charset="-122"/>
              </a:rPr>
              <a:t>n</a:t>
            </a:r>
            <a:r>
              <a:rPr lang="zh-CN" altLang="en-US" sz="2800" dirty="0">
                <a:latin typeface="Times New Roman" panose="02020603050405020304" pitchFamily="18" charset="0"/>
              </a:rPr>
              <a:t>个模拟开关的并联组合中，当一个开关导通时，其它</a:t>
            </a:r>
            <a:r>
              <a:rPr lang="en-US" altLang="zh-CN" sz="2800" i="1" dirty="0">
                <a:solidFill>
                  <a:srgbClr val="CC00CC"/>
                </a:solidFill>
                <a:latin typeface="Times New Roman" panose="02020603050405020304" pitchFamily="18" charset="0"/>
                <a:ea typeface="宋体" panose="02010600030101010101" pitchFamily="2" charset="-122"/>
              </a:rPr>
              <a:t>n</a:t>
            </a:r>
            <a:r>
              <a:rPr lang="zh-CN" altLang="en-US" sz="2800" dirty="0">
                <a:solidFill>
                  <a:srgbClr val="CC00CC"/>
                </a:solidFill>
                <a:latin typeface="Times New Roman" panose="02020603050405020304" pitchFamily="18" charset="0"/>
                <a:ea typeface="宋体" panose="02010600030101010101" pitchFamily="2" charset="-122"/>
              </a:rPr>
              <a:t>－</a:t>
            </a:r>
            <a:r>
              <a:rPr lang="en-US" altLang="zh-CN" sz="2800" dirty="0">
                <a:solidFill>
                  <a:srgbClr val="CC00CC"/>
                </a:solidFill>
                <a:latin typeface="Times New Roman" panose="02020603050405020304" pitchFamily="18" charset="0"/>
                <a:ea typeface="宋体" panose="02010600030101010101" pitchFamily="2" charset="-122"/>
              </a:rPr>
              <a:t>1</a:t>
            </a:r>
            <a:r>
              <a:rPr lang="zh-CN" altLang="en-US" sz="2800" dirty="0">
                <a:latin typeface="Times New Roman" panose="02020603050405020304" pitchFamily="18" charset="0"/>
              </a:rPr>
              <a:t>个开关是断开的，未导通开关的漏电流将通过导通的开关流经信号源。</a:t>
            </a:r>
            <a:endParaRPr lang="zh-CN" altLang="en-US" sz="2800" dirty="0">
              <a:latin typeface="Times New Roman" panose="02020603050405020304" pitchFamily="18" charset="0"/>
            </a:endParaRPr>
          </a:p>
          <a:p>
            <a:pPr eaLnBrk="1" hangingPunct="1"/>
            <a:r>
              <a:rPr lang="zh-CN" altLang="en-US" sz="2800" dirty="0">
                <a:latin typeface="Times New Roman" panose="02020603050405020304" pitchFamily="18" charset="0"/>
              </a:rPr>
              <a:t>这样，将在输出端形成一个误差电压</a:t>
            </a:r>
            <a:r>
              <a:rPr lang="en-US" altLang="zh-CN" sz="2800" i="1" dirty="0">
                <a:solidFill>
                  <a:srgbClr val="CC00CC"/>
                </a:solidFill>
                <a:latin typeface="Times New Roman" panose="02020603050405020304" pitchFamily="18" charset="0"/>
              </a:rPr>
              <a:t>U</a:t>
            </a:r>
            <a:r>
              <a:rPr lang="en-US" altLang="zh-CN" sz="2800" i="1" baseline="-25000" dirty="0">
                <a:solidFill>
                  <a:srgbClr val="CC00CC"/>
                </a:solidFill>
                <a:latin typeface="Times New Roman" panose="02020603050405020304" pitchFamily="18" charset="0"/>
              </a:rPr>
              <a:t>OE</a:t>
            </a:r>
            <a:r>
              <a:rPr lang="zh-CN" altLang="en-US" sz="2800" dirty="0">
                <a:latin typeface="Times New Roman" panose="02020603050405020304" pitchFamily="18" charset="0"/>
              </a:rPr>
              <a:t>。</a:t>
            </a:r>
            <a:endParaRPr lang="zh-CN" altLang="en-US" sz="2800" dirty="0">
              <a:latin typeface="Times New Roman" panose="02020603050405020304" pitchFamily="18" charset="0"/>
            </a:endParaRPr>
          </a:p>
        </p:txBody>
      </p:sp>
      <p:sp>
        <p:nvSpPr>
          <p:cNvPr id="2337807" name="Text Box 1039"/>
          <p:cNvSpPr txBox="1"/>
          <p:nvPr/>
        </p:nvSpPr>
        <p:spPr>
          <a:xfrm>
            <a:off x="57150" y="2057400"/>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
        <p:nvSpPr>
          <p:cNvPr id="2337808" name="Text Box 1040"/>
          <p:cNvSpPr txBox="1"/>
          <p:nvPr/>
        </p:nvSpPr>
        <p:spPr>
          <a:xfrm>
            <a:off x="63500" y="5083175"/>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grpSp>
        <p:nvGrpSpPr>
          <p:cNvPr id="2337901" name="Group 1133"/>
          <p:cNvGrpSpPr/>
          <p:nvPr/>
        </p:nvGrpSpPr>
        <p:grpSpPr>
          <a:xfrm>
            <a:off x="4429125" y="1893888"/>
            <a:ext cx="4437063" cy="4246562"/>
            <a:chOff x="2790" y="1193"/>
            <a:chExt cx="2795" cy="2585"/>
          </a:xfrm>
        </p:grpSpPr>
        <p:sp>
          <p:nvSpPr>
            <p:cNvPr id="39946" name="AutoShape 1043"/>
            <p:cNvSpPr>
              <a:spLocks noChangeAspect="1" noTextEdit="1"/>
            </p:cNvSpPr>
            <p:nvPr/>
          </p:nvSpPr>
          <p:spPr>
            <a:xfrm>
              <a:off x="2790" y="1193"/>
              <a:ext cx="2795" cy="2585"/>
            </a:xfrm>
            <a:prstGeom prst="rect">
              <a:avLst/>
            </a:prstGeom>
            <a:solidFill>
              <a:srgbClr val="FFFF99"/>
            </a:solidFill>
            <a:ln w="9525">
              <a:noFill/>
            </a:ln>
          </p:spPr>
          <p:txBody>
            <a:bodyPr/>
            <a:p>
              <a:endParaRPr lang="zh-CN" altLang="en-US"/>
            </a:p>
          </p:txBody>
        </p:sp>
        <p:sp>
          <p:nvSpPr>
            <p:cNvPr id="39947" name="Line 1045"/>
            <p:cNvSpPr/>
            <p:nvPr/>
          </p:nvSpPr>
          <p:spPr>
            <a:xfrm>
              <a:off x="3237" y="1427"/>
              <a:ext cx="881" cy="1"/>
            </a:xfrm>
            <a:prstGeom prst="line">
              <a:avLst/>
            </a:prstGeom>
            <a:ln w="0" cap="flat" cmpd="sng">
              <a:solidFill>
                <a:srgbClr val="0000FF"/>
              </a:solidFill>
              <a:prstDash val="solid"/>
              <a:headEnd type="none" w="med" len="med"/>
              <a:tailEnd type="none" w="med" len="med"/>
            </a:ln>
          </p:spPr>
        </p:sp>
        <p:sp>
          <p:nvSpPr>
            <p:cNvPr id="39948" name="Line 1046"/>
            <p:cNvSpPr/>
            <p:nvPr/>
          </p:nvSpPr>
          <p:spPr>
            <a:xfrm>
              <a:off x="4118" y="1427"/>
              <a:ext cx="1" cy="1051"/>
            </a:xfrm>
            <a:prstGeom prst="line">
              <a:avLst/>
            </a:prstGeom>
            <a:ln w="0" cap="flat" cmpd="sng">
              <a:solidFill>
                <a:srgbClr val="0000FF"/>
              </a:solidFill>
              <a:prstDash val="solid"/>
              <a:headEnd type="none" w="med" len="med"/>
              <a:tailEnd type="none" w="med" len="med"/>
            </a:ln>
          </p:spPr>
        </p:sp>
        <p:sp>
          <p:nvSpPr>
            <p:cNvPr id="39949" name="Line 1047"/>
            <p:cNvSpPr/>
            <p:nvPr/>
          </p:nvSpPr>
          <p:spPr>
            <a:xfrm>
              <a:off x="3237" y="1743"/>
              <a:ext cx="881" cy="1"/>
            </a:xfrm>
            <a:prstGeom prst="line">
              <a:avLst/>
            </a:prstGeom>
            <a:ln w="0" cap="flat" cmpd="sng">
              <a:solidFill>
                <a:srgbClr val="0000FF"/>
              </a:solidFill>
              <a:prstDash val="solid"/>
              <a:headEnd type="none" w="med" len="med"/>
              <a:tailEnd type="none" w="med" len="med"/>
            </a:ln>
          </p:spPr>
        </p:sp>
        <p:sp>
          <p:nvSpPr>
            <p:cNvPr id="39950" name="Line 1048"/>
            <p:cNvSpPr/>
            <p:nvPr/>
          </p:nvSpPr>
          <p:spPr>
            <a:xfrm>
              <a:off x="3237" y="2058"/>
              <a:ext cx="881" cy="1"/>
            </a:xfrm>
            <a:prstGeom prst="line">
              <a:avLst/>
            </a:prstGeom>
            <a:ln w="0" cap="flat" cmpd="sng">
              <a:solidFill>
                <a:srgbClr val="0000FF"/>
              </a:solidFill>
              <a:prstDash val="solid"/>
              <a:headEnd type="none" w="med" len="med"/>
              <a:tailEnd type="none" w="med" len="med"/>
            </a:ln>
          </p:spPr>
        </p:sp>
        <p:sp>
          <p:nvSpPr>
            <p:cNvPr id="39951" name="Line 1049"/>
            <p:cNvSpPr/>
            <p:nvPr/>
          </p:nvSpPr>
          <p:spPr>
            <a:xfrm>
              <a:off x="3237" y="2478"/>
              <a:ext cx="1983" cy="1"/>
            </a:xfrm>
            <a:prstGeom prst="line">
              <a:avLst/>
            </a:prstGeom>
            <a:ln w="0" cap="flat" cmpd="sng">
              <a:solidFill>
                <a:srgbClr val="0000FF"/>
              </a:solidFill>
              <a:prstDash val="solid"/>
              <a:headEnd type="none" w="med" len="med"/>
              <a:tailEnd type="none" w="med" len="med"/>
            </a:ln>
          </p:spPr>
        </p:sp>
        <p:sp>
          <p:nvSpPr>
            <p:cNvPr id="39952" name="Rectangle 1050"/>
            <p:cNvSpPr/>
            <p:nvPr/>
          </p:nvSpPr>
          <p:spPr>
            <a:xfrm>
              <a:off x="4087" y="2689"/>
              <a:ext cx="79"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53" name="Line 1051"/>
            <p:cNvSpPr/>
            <p:nvPr/>
          </p:nvSpPr>
          <p:spPr>
            <a:xfrm>
              <a:off x="4118" y="2478"/>
              <a:ext cx="1" cy="211"/>
            </a:xfrm>
            <a:prstGeom prst="line">
              <a:avLst/>
            </a:prstGeom>
            <a:ln w="0" cap="flat" cmpd="sng">
              <a:solidFill>
                <a:srgbClr val="0000FF"/>
              </a:solidFill>
              <a:prstDash val="solid"/>
              <a:headEnd type="none" w="med" len="med"/>
              <a:tailEnd type="none" w="med" len="med"/>
            </a:ln>
          </p:spPr>
        </p:sp>
        <p:sp>
          <p:nvSpPr>
            <p:cNvPr id="39954" name="Rectangle 1052"/>
            <p:cNvSpPr/>
            <p:nvPr/>
          </p:nvSpPr>
          <p:spPr>
            <a:xfrm>
              <a:off x="4087" y="3122"/>
              <a:ext cx="79"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55" name="Line 1053"/>
            <p:cNvSpPr/>
            <p:nvPr/>
          </p:nvSpPr>
          <p:spPr>
            <a:xfrm>
              <a:off x="4118" y="2897"/>
              <a:ext cx="1" cy="225"/>
            </a:xfrm>
            <a:prstGeom prst="line">
              <a:avLst/>
            </a:prstGeom>
            <a:ln w="0" cap="flat" cmpd="sng">
              <a:solidFill>
                <a:srgbClr val="0000FF"/>
              </a:solidFill>
              <a:prstDash val="solid"/>
              <a:headEnd type="none" w="med" len="med"/>
              <a:tailEnd type="none" w="med" len="med"/>
            </a:ln>
          </p:spPr>
        </p:sp>
        <p:sp>
          <p:nvSpPr>
            <p:cNvPr id="39956" name="Rectangle 1054"/>
            <p:cNvSpPr/>
            <p:nvPr/>
          </p:nvSpPr>
          <p:spPr>
            <a:xfrm>
              <a:off x="4591" y="2899"/>
              <a:ext cx="78"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57" name="Line 1055"/>
            <p:cNvSpPr/>
            <p:nvPr/>
          </p:nvSpPr>
          <p:spPr>
            <a:xfrm>
              <a:off x="4622" y="2478"/>
              <a:ext cx="1" cy="421"/>
            </a:xfrm>
            <a:prstGeom prst="line">
              <a:avLst/>
            </a:prstGeom>
            <a:ln w="0" cap="flat" cmpd="sng">
              <a:solidFill>
                <a:srgbClr val="0000FF"/>
              </a:solidFill>
              <a:prstDash val="solid"/>
              <a:headEnd type="none" w="med" len="med"/>
              <a:tailEnd type="none" w="med" len="med"/>
            </a:ln>
          </p:spPr>
        </p:sp>
        <p:sp>
          <p:nvSpPr>
            <p:cNvPr id="39958" name="Line 1056"/>
            <p:cNvSpPr/>
            <p:nvPr/>
          </p:nvSpPr>
          <p:spPr>
            <a:xfrm>
              <a:off x="4622" y="3107"/>
              <a:ext cx="1" cy="422"/>
            </a:xfrm>
            <a:prstGeom prst="line">
              <a:avLst/>
            </a:prstGeom>
            <a:ln w="0" cap="flat" cmpd="sng">
              <a:solidFill>
                <a:srgbClr val="0000FF"/>
              </a:solidFill>
              <a:prstDash val="solid"/>
              <a:headEnd type="none" w="med" len="med"/>
              <a:tailEnd type="none" w="med" len="med"/>
            </a:ln>
          </p:spPr>
        </p:sp>
        <p:sp>
          <p:nvSpPr>
            <p:cNvPr id="39959" name="Line 1057"/>
            <p:cNvSpPr/>
            <p:nvPr/>
          </p:nvSpPr>
          <p:spPr>
            <a:xfrm>
              <a:off x="4118" y="3330"/>
              <a:ext cx="1" cy="414"/>
            </a:xfrm>
            <a:prstGeom prst="line">
              <a:avLst/>
            </a:prstGeom>
            <a:ln w="0" cap="flat" cmpd="sng">
              <a:solidFill>
                <a:srgbClr val="0000FF"/>
              </a:solidFill>
              <a:prstDash val="solid"/>
              <a:headEnd type="none" w="med" len="med"/>
              <a:tailEnd type="none" w="med" len="med"/>
            </a:ln>
          </p:spPr>
        </p:sp>
        <p:sp>
          <p:nvSpPr>
            <p:cNvPr id="39960" name="Line 1058"/>
            <p:cNvSpPr/>
            <p:nvPr/>
          </p:nvSpPr>
          <p:spPr>
            <a:xfrm>
              <a:off x="4008" y="3740"/>
              <a:ext cx="236" cy="1"/>
            </a:xfrm>
            <a:prstGeom prst="line">
              <a:avLst/>
            </a:prstGeom>
            <a:ln w="0" cap="flat" cmpd="sng">
              <a:solidFill>
                <a:srgbClr val="0000FF"/>
              </a:solidFill>
              <a:prstDash val="solid"/>
              <a:headEnd type="none" w="med" len="med"/>
              <a:tailEnd type="none" w="med" len="med"/>
            </a:ln>
          </p:spPr>
        </p:sp>
        <p:sp>
          <p:nvSpPr>
            <p:cNvPr id="39961" name="Line 1059"/>
            <p:cNvSpPr/>
            <p:nvPr/>
          </p:nvSpPr>
          <p:spPr>
            <a:xfrm>
              <a:off x="4118" y="3529"/>
              <a:ext cx="1087" cy="1"/>
            </a:xfrm>
            <a:prstGeom prst="line">
              <a:avLst/>
            </a:prstGeom>
            <a:ln w="0" cap="flat" cmpd="sng">
              <a:solidFill>
                <a:srgbClr val="0000FF"/>
              </a:solidFill>
              <a:prstDash val="solid"/>
              <a:headEnd type="none" w="med" len="med"/>
              <a:tailEnd type="none" w="med" len="med"/>
            </a:ln>
          </p:spPr>
        </p:sp>
        <p:sp>
          <p:nvSpPr>
            <p:cNvPr id="39962" name="Line 1060"/>
            <p:cNvSpPr/>
            <p:nvPr/>
          </p:nvSpPr>
          <p:spPr>
            <a:xfrm>
              <a:off x="5126" y="2478"/>
              <a:ext cx="1" cy="1051"/>
            </a:xfrm>
            <a:prstGeom prst="line">
              <a:avLst/>
            </a:prstGeom>
            <a:ln w="0" cap="flat" cmpd="sng">
              <a:solidFill>
                <a:srgbClr val="0000FF"/>
              </a:solidFill>
              <a:prstDash val="solid"/>
              <a:headEnd type="none" w="med" len="med"/>
              <a:tailEnd type="none" w="med" len="med"/>
            </a:ln>
          </p:spPr>
        </p:sp>
        <p:sp>
          <p:nvSpPr>
            <p:cNvPr id="39963" name="Oval 1061"/>
            <p:cNvSpPr/>
            <p:nvPr/>
          </p:nvSpPr>
          <p:spPr>
            <a:xfrm>
              <a:off x="4087" y="1716"/>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4" name="Oval 1062"/>
            <p:cNvSpPr/>
            <p:nvPr/>
          </p:nvSpPr>
          <p:spPr>
            <a:xfrm>
              <a:off x="4087" y="2032"/>
              <a:ext cx="79" cy="6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5" name="Oval 1063"/>
            <p:cNvSpPr/>
            <p:nvPr/>
          </p:nvSpPr>
          <p:spPr>
            <a:xfrm>
              <a:off x="4591" y="2452"/>
              <a:ext cx="78"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6" name="Oval 1064"/>
            <p:cNvSpPr/>
            <p:nvPr/>
          </p:nvSpPr>
          <p:spPr>
            <a:xfrm>
              <a:off x="4591" y="3503"/>
              <a:ext cx="78"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7" name="Oval 1065"/>
            <p:cNvSpPr/>
            <p:nvPr/>
          </p:nvSpPr>
          <p:spPr>
            <a:xfrm>
              <a:off x="4087" y="3503"/>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8" name="Oval 1066"/>
            <p:cNvSpPr/>
            <p:nvPr/>
          </p:nvSpPr>
          <p:spPr>
            <a:xfrm>
              <a:off x="4087" y="2452"/>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39969" name="Rectangle 1067"/>
            <p:cNvSpPr/>
            <p:nvPr/>
          </p:nvSpPr>
          <p:spPr>
            <a:xfrm>
              <a:off x="3622" y="2544"/>
              <a:ext cx="4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39970" name="Rectangle 1068"/>
            <p:cNvSpPr/>
            <p:nvPr/>
          </p:nvSpPr>
          <p:spPr>
            <a:xfrm>
              <a:off x="3646" y="282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导</a:t>
              </a:r>
              <a:endParaRPr lang="zh-CN" altLang="en-US" dirty="0">
                <a:latin typeface="Times New Roman" panose="02020603050405020304" pitchFamily="18" charset="0"/>
              </a:endParaRPr>
            </a:p>
          </p:txBody>
        </p:sp>
        <p:sp>
          <p:nvSpPr>
            <p:cNvPr id="39971" name="Rectangle 1069"/>
            <p:cNvSpPr/>
            <p:nvPr/>
          </p:nvSpPr>
          <p:spPr>
            <a:xfrm>
              <a:off x="3646" y="296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通</a:t>
              </a:r>
              <a:endParaRPr lang="zh-CN" altLang="en-US" dirty="0">
                <a:latin typeface="Times New Roman" panose="02020603050405020304" pitchFamily="18" charset="0"/>
              </a:endParaRPr>
            </a:p>
          </p:txBody>
        </p:sp>
        <p:sp>
          <p:nvSpPr>
            <p:cNvPr id="39972" name="Rectangle 1070"/>
            <p:cNvSpPr/>
            <p:nvPr/>
          </p:nvSpPr>
          <p:spPr>
            <a:xfrm>
              <a:off x="3646" y="310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39973" name="Rectangle 1071"/>
            <p:cNvSpPr/>
            <p:nvPr/>
          </p:nvSpPr>
          <p:spPr>
            <a:xfrm>
              <a:off x="3646" y="324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关</a:t>
              </a:r>
              <a:endParaRPr lang="zh-CN" altLang="en-US" dirty="0">
                <a:latin typeface="Times New Roman" panose="02020603050405020304" pitchFamily="18" charset="0"/>
              </a:endParaRPr>
            </a:p>
          </p:txBody>
        </p:sp>
        <p:grpSp>
          <p:nvGrpSpPr>
            <p:cNvPr id="39974" name="Group 1075"/>
            <p:cNvGrpSpPr/>
            <p:nvPr/>
          </p:nvGrpSpPr>
          <p:grpSpPr>
            <a:xfrm>
              <a:off x="4181" y="2229"/>
              <a:ext cx="252" cy="210"/>
              <a:chOff x="4097" y="2193"/>
              <a:chExt cx="252" cy="210"/>
            </a:xfrm>
          </p:grpSpPr>
          <p:sp>
            <p:nvSpPr>
              <p:cNvPr id="40031" name="Line 1072"/>
              <p:cNvSpPr/>
              <p:nvPr/>
            </p:nvSpPr>
            <p:spPr>
              <a:xfrm flipH="1">
                <a:off x="4097" y="2193"/>
                <a:ext cx="252" cy="210"/>
              </a:xfrm>
              <a:prstGeom prst="line">
                <a:avLst/>
              </a:prstGeom>
              <a:ln w="0" cap="flat" cmpd="sng">
                <a:solidFill>
                  <a:srgbClr val="0000FF"/>
                </a:solidFill>
                <a:prstDash val="solid"/>
                <a:headEnd type="none" w="med" len="med"/>
                <a:tailEnd type="none" w="med" len="med"/>
              </a:ln>
            </p:spPr>
          </p:sp>
          <p:sp>
            <p:nvSpPr>
              <p:cNvPr id="40032" name="Line 1073"/>
              <p:cNvSpPr/>
              <p:nvPr/>
            </p:nvSpPr>
            <p:spPr>
              <a:xfrm flipV="1">
                <a:off x="4097" y="2311"/>
                <a:ext cx="142" cy="92"/>
              </a:xfrm>
              <a:prstGeom prst="line">
                <a:avLst/>
              </a:prstGeom>
              <a:ln w="0" cap="flat" cmpd="sng">
                <a:solidFill>
                  <a:srgbClr val="0000FF"/>
                </a:solidFill>
                <a:prstDash val="solid"/>
                <a:headEnd type="none" w="med" len="med"/>
                <a:tailEnd type="none" w="med" len="med"/>
              </a:ln>
            </p:spPr>
          </p:sp>
          <p:sp>
            <p:nvSpPr>
              <p:cNvPr id="40033" name="Line 1074"/>
              <p:cNvSpPr/>
              <p:nvPr/>
            </p:nvSpPr>
            <p:spPr>
              <a:xfrm flipV="1">
                <a:off x="4097" y="2298"/>
                <a:ext cx="95" cy="105"/>
              </a:xfrm>
              <a:prstGeom prst="line">
                <a:avLst/>
              </a:prstGeom>
              <a:ln w="0" cap="flat" cmpd="sng">
                <a:solidFill>
                  <a:srgbClr val="0000FF"/>
                </a:solidFill>
                <a:prstDash val="solid"/>
                <a:headEnd type="none" w="med" len="med"/>
                <a:tailEnd type="none" w="med" len="med"/>
              </a:ln>
            </p:spPr>
          </p:sp>
        </p:grpSp>
        <p:sp>
          <p:nvSpPr>
            <p:cNvPr id="39975" name="Rectangle 1076"/>
            <p:cNvSpPr/>
            <p:nvPr/>
          </p:nvSpPr>
          <p:spPr>
            <a:xfrm>
              <a:off x="4465" y="2071"/>
              <a:ext cx="43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测量点</a:t>
              </a:r>
              <a:endParaRPr lang="zh-CN" altLang="en-US" dirty="0">
                <a:latin typeface="Times New Roman" panose="02020603050405020304" pitchFamily="18" charset="0"/>
              </a:endParaRPr>
            </a:p>
          </p:txBody>
        </p:sp>
        <p:sp>
          <p:nvSpPr>
            <p:cNvPr id="39976" name="Rectangle 1077"/>
            <p:cNvSpPr/>
            <p:nvPr/>
          </p:nvSpPr>
          <p:spPr>
            <a:xfrm>
              <a:off x="5220" y="2951"/>
              <a:ext cx="104"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39977" name="Rectangle 1078"/>
            <p:cNvSpPr/>
            <p:nvPr/>
          </p:nvSpPr>
          <p:spPr>
            <a:xfrm>
              <a:off x="5338" y="3010"/>
              <a:ext cx="118"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39978" name="Rectangle 1079"/>
            <p:cNvSpPr/>
            <p:nvPr/>
          </p:nvSpPr>
          <p:spPr>
            <a:xfrm>
              <a:off x="4717" y="2936"/>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9979" name="Rectangle 1080"/>
            <p:cNvSpPr/>
            <p:nvPr/>
          </p:nvSpPr>
          <p:spPr>
            <a:xfrm>
              <a:off x="4842" y="2991"/>
              <a:ext cx="54"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39980" name="Rectangle 1081"/>
            <p:cNvSpPr/>
            <p:nvPr/>
          </p:nvSpPr>
          <p:spPr>
            <a:xfrm>
              <a:off x="4205" y="2715"/>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9981" name="Rectangle 1082"/>
            <p:cNvSpPr/>
            <p:nvPr/>
          </p:nvSpPr>
          <p:spPr>
            <a:xfrm>
              <a:off x="4315" y="2774"/>
              <a:ext cx="128"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39982" name="Rectangle 1083"/>
            <p:cNvSpPr/>
            <p:nvPr/>
          </p:nvSpPr>
          <p:spPr>
            <a:xfrm>
              <a:off x="4205" y="3148"/>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39983" name="Rectangle 1084"/>
            <p:cNvSpPr/>
            <p:nvPr/>
          </p:nvSpPr>
          <p:spPr>
            <a:xfrm>
              <a:off x="4323" y="3208"/>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39984" name="Line 1085"/>
            <p:cNvSpPr/>
            <p:nvPr/>
          </p:nvSpPr>
          <p:spPr>
            <a:xfrm>
              <a:off x="3741" y="2124"/>
              <a:ext cx="1" cy="302"/>
            </a:xfrm>
            <a:prstGeom prst="line">
              <a:avLst/>
            </a:prstGeom>
            <a:ln w="0" cap="flat" cmpd="sng">
              <a:solidFill>
                <a:srgbClr val="0000FF"/>
              </a:solidFill>
              <a:prstDash val="sysDot"/>
              <a:headEnd type="none" w="med" len="med"/>
              <a:tailEnd type="none" w="med" len="med"/>
            </a:ln>
          </p:spPr>
        </p:sp>
        <p:sp>
          <p:nvSpPr>
            <p:cNvPr id="39985" name="Line 1086"/>
            <p:cNvSpPr/>
            <p:nvPr/>
          </p:nvSpPr>
          <p:spPr>
            <a:xfrm flipV="1">
              <a:off x="3741" y="2308"/>
              <a:ext cx="31" cy="118"/>
            </a:xfrm>
            <a:prstGeom prst="line">
              <a:avLst/>
            </a:prstGeom>
            <a:ln w="0" cap="flat" cmpd="sng">
              <a:solidFill>
                <a:srgbClr val="0000FF"/>
              </a:solidFill>
              <a:prstDash val="solid"/>
              <a:headEnd type="none" w="med" len="med"/>
              <a:tailEnd type="none" w="med" len="med"/>
            </a:ln>
          </p:spPr>
        </p:sp>
        <p:sp>
          <p:nvSpPr>
            <p:cNvPr id="39986" name="Line 1087"/>
            <p:cNvSpPr/>
            <p:nvPr/>
          </p:nvSpPr>
          <p:spPr>
            <a:xfrm flipH="1" flipV="1">
              <a:off x="3709" y="2308"/>
              <a:ext cx="32" cy="118"/>
            </a:xfrm>
            <a:prstGeom prst="line">
              <a:avLst/>
            </a:prstGeom>
            <a:ln w="0" cap="flat" cmpd="sng">
              <a:solidFill>
                <a:srgbClr val="0000FF"/>
              </a:solidFill>
              <a:prstDash val="solid"/>
              <a:headEnd type="none" w="med" len="med"/>
              <a:tailEnd type="none" w="med" len="med"/>
            </a:ln>
          </p:spPr>
        </p:sp>
        <p:sp>
          <p:nvSpPr>
            <p:cNvPr id="39987" name="Line 1088"/>
            <p:cNvSpPr/>
            <p:nvPr/>
          </p:nvSpPr>
          <p:spPr>
            <a:xfrm>
              <a:off x="3929" y="2794"/>
              <a:ext cx="1" cy="254"/>
            </a:xfrm>
            <a:prstGeom prst="line">
              <a:avLst/>
            </a:prstGeom>
            <a:ln w="0" cap="flat" cmpd="sng">
              <a:solidFill>
                <a:srgbClr val="0000FF"/>
              </a:solidFill>
              <a:prstDash val="solid"/>
              <a:headEnd type="none" w="med" len="med"/>
              <a:tailEnd type="none" w="med" len="med"/>
            </a:ln>
          </p:spPr>
        </p:sp>
        <p:sp>
          <p:nvSpPr>
            <p:cNvPr id="39988" name="Line 1089"/>
            <p:cNvSpPr/>
            <p:nvPr/>
          </p:nvSpPr>
          <p:spPr>
            <a:xfrm>
              <a:off x="3929" y="3074"/>
              <a:ext cx="1" cy="245"/>
            </a:xfrm>
            <a:prstGeom prst="line">
              <a:avLst/>
            </a:prstGeom>
            <a:ln w="0" cap="flat" cmpd="sng">
              <a:solidFill>
                <a:srgbClr val="0000FF"/>
              </a:solidFill>
              <a:prstDash val="solid"/>
              <a:headEnd type="none" w="med" len="med"/>
              <a:tailEnd type="none" w="med" len="med"/>
            </a:ln>
          </p:spPr>
        </p:sp>
        <p:sp>
          <p:nvSpPr>
            <p:cNvPr id="39989" name="Arc 1090"/>
            <p:cNvSpPr/>
            <p:nvPr/>
          </p:nvSpPr>
          <p:spPr>
            <a:xfrm>
              <a:off x="3929" y="2728"/>
              <a:ext cx="63" cy="79"/>
            </a:xfrm>
            <a:custGeom>
              <a:avLst/>
              <a:gdLst/>
              <a:ahLst/>
              <a:cxnLst>
                <a:cxn ang="0">
                  <a:pos x="0" y="0"/>
                </a:cxn>
                <a:cxn ang="0">
                  <a:pos x="0" y="0"/>
                </a:cxn>
                <a:cxn ang="0">
                  <a:pos x="0" y="0"/>
                </a:cxn>
              </a:cxnLst>
              <a:pathLst>
                <a:path w="21600" h="21600" fill="none">
                  <a:moveTo>
                    <a:pt x="0" y="21600"/>
                  </a:moveTo>
                  <a:cubicBezTo>
                    <a:pt x="0" y="9670"/>
                    <a:pt x="9670" y="0"/>
                    <a:pt x="21599" y="0"/>
                  </a:cubicBezTo>
                </a:path>
                <a:path w="21600" h="21600" stroke="0">
                  <a:moveTo>
                    <a:pt x="0" y="21600"/>
                  </a:moveTo>
                  <a:cubicBezTo>
                    <a:pt x="0" y="9670"/>
                    <a:pt x="9670" y="0"/>
                    <a:pt x="21599" y="0"/>
                  </a:cubicBezTo>
                  <a:lnTo>
                    <a:pt x="21600" y="21600"/>
                  </a:lnTo>
                  <a:lnTo>
                    <a:pt x="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39990" name="Arc 1091"/>
            <p:cNvSpPr/>
            <p:nvPr/>
          </p:nvSpPr>
          <p:spPr>
            <a:xfrm>
              <a:off x="3929" y="3293"/>
              <a:ext cx="63" cy="92"/>
            </a:xfrm>
            <a:custGeom>
              <a:avLst/>
              <a:gdLst/>
              <a:ahLst/>
              <a:cxnLst>
                <a:cxn ang="0">
                  <a:pos x="0" y="0"/>
                </a:cxn>
                <a:cxn ang="0">
                  <a:pos x="0" y="0"/>
                </a:cxn>
                <a:cxn ang="0">
                  <a:pos x="0" y="0"/>
                </a:cxn>
              </a:cxnLst>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39991" name="Line 1092"/>
            <p:cNvSpPr/>
            <p:nvPr/>
          </p:nvSpPr>
          <p:spPr>
            <a:xfrm flipV="1">
              <a:off x="3898" y="3041"/>
              <a:ext cx="31" cy="20"/>
            </a:xfrm>
            <a:prstGeom prst="line">
              <a:avLst/>
            </a:prstGeom>
            <a:ln w="0" cap="flat" cmpd="sng">
              <a:solidFill>
                <a:srgbClr val="0000FF"/>
              </a:solidFill>
              <a:prstDash val="solid"/>
              <a:headEnd type="none" w="med" len="med"/>
              <a:tailEnd type="none" w="med" len="med"/>
            </a:ln>
          </p:spPr>
        </p:sp>
        <p:sp>
          <p:nvSpPr>
            <p:cNvPr id="39992" name="Line 1093"/>
            <p:cNvSpPr/>
            <p:nvPr/>
          </p:nvSpPr>
          <p:spPr>
            <a:xfrm>
              <a:off x="3898" y="3061"/>
              <a:ext cx="31" cy="13"/>
            </a:xfrm>
            <a:prstGeom prst="line">
              <a:avLst/>
            </a:prstGeom>
            <a:ln w="0" cap="flat" cmpd="sng">
              <a:solidFill>
                <a:srgbClr val="0000FF"/>
              </a:solidFill>
              <a:prstDash val="solid"/>
              <a:headEnd type="none" w="med" len="med"/>
              <a:tailEnd type="none" w="med" len="med"/>
            </a:ln>
          </p:spPr>
        </p:sp>
        <p:grpSp>
          <p:nvGrpSpPr>
            <p:cNvPr id="39993" name="Group 1097"/>
            <p:cNvGrpSpPr/>
            <p:nvPr/>
          </p:nvGrpSpPr>
          <p:grpSpPr>
            <a:xfrm>
              <a:off x="3520" y="1348"/>
              <a:ext cx="378" cy="53"/>
              <a:chOff x="3436" y="1312"/>
              <a:chExt cx="378" cy="53"/>
            </a:xfrm>
          </p:grpSpPr>
          <p:sp>
            <p:nvSpPr>
              <p:cNvPr id="40028" name="Line 1094"/>
              <p:cNvSpPr/>
              <p:nvPr/>
            </p:nvSpPr>
            <p:spPr>
              <a:xfrm>
                <a:off x="3436" y="1339"/>
                <a:ext cx="378" cy="1"/>
              </a:xfrm>
              <a:prstGeom prst="line">
                <a:avLst/>
              </a:prstGeom>
              <a:ln w="0" cap="flat" cmpd="sng">
                <a:solidFill>
                  <a:srgbClr val="0000FF"/>
                </a:solidFill>
                <a:prstDash val="solid"/>
                <a:headEnd type="none" w="med" len="med"/>
                <a:tailEnd type="none" w="med" len="med"/>
              </a:ln>
            </p:spPr>
          </p:sp>
          <p:sp>
            <p:nvSpPr>
              <p:cNvPr id="40029" name="Line 1095"/>
              <p:cNvSpPr/>
              <p:nvPr/>
            </p:nvSpPr>
            <p:spPr>
              <a:xfrm flipH="1" flipV="1">
                <a:off x="3720" y="1312"/>
                <a:ext cx="94" cy="27"/>
              </a:xfrm>
              <a:prstGeom prst="line">
                <a:avLst/>
              </a:prstGeom>
              <a:ln w="0" cap="flat" cmpd="sng">
                <a:solidFill>
                  <a:srgbClr val="0000FF"/>
                </a:solidFill>
                <a:prstDash val="solid"/>
                <a:headEnd type="none" w="med" len="med"/>
                <a:tailEnd type="none" w="med" len="med"/>
              </a:ln>
            </p:spPr>
          </p:sp>
          <p:sp>
            <p:nvSpPr>
              <p:cNvPr id="40030" name="Line 1096"/>
              <p:cNvSpPr/>
              <p:nvPr/>
            </p:nvSpPr>
            <p:spPr>
              <a:xfrm flipH="1">
                <a:off x="3720" y="1339"/>
                <a:ext cx="94" cy="26"/>
              </a:xfrm>
              <a:prstGeom prst="line">
                <a:avLst/>
              </a:prstGeom>
              <a:ln w="0" cap="flat" cmpd="sng">
                <a:solidFill>
                  <a:srgbClr val="0000FF"/>
                </a:solidFill>
                <a:prstDash val="solid"/>
                <a:headEnd type="none" w="med" len="med"/>
                <a:tailEnd type="none" w="med" len="med"/>
              </a:ln>
            </p:spPr>
          </p:sp>
        </p:grpSp>
        <p:grpSp>
          <p:nvGrpSpPr>
            <p:cNvPr id="39994" name="Group 1101"/>
            <p:cNvGrpSpPr/>
            <p:nvPr/>
          </p:nvGrpSpPr>
          <p:grpSpPr>
            <a:xfrm>
              <a:off x="3520" y="1664"/>
              <a:ext cx="378" cy="52"/>
              <a:chOff x="3436" y="1628"/>
              <a:chExt cx="378" cy="52"/>
            </a:xfrm>
          </p:grpSpPr>
          <p:sp>
            <p:nvSpPr>
              <p:cNvPr id="40025" name="Line 1098"/>
              <p:cNvSpPr/>
              <p:nvPr/>
            </p:nvSpPr>
            <p:spPr>
              <a:xfrm>
                <a:off x="3436" y="1654"/>
                <a:ext cx="378" cy="1"/>
              </a:xfrm>
              <a:prstGeom prst="line">
                <a:avLst/>
              </a:prstGeom>
              <a:ln w="0" cap="flat" cmpd="sng">
                <a:solidFill>
                  <a:srgbClr val="0000FF"/>
                </a:solidFill>
                <a:prstDash val="solid"/>
                <a:headEnd type="none" w="med" len="med"/>
                <a:tailEnd type="none" w="med" len="med"/>
              </a:ln>
            </p:spPr>
          </p:sp>
          <p:sp>
            <p:nvSpPr>
              <p:cNvPr id="40026" name="Line 1099"/>
              <p:cNvSpPr/>
              <p:nvPr/>
            </p:nvSpPr>
            <p:spPr>
              <a:xfrm flipH="1" flipV="1">
                <a:off x="3720" y="1628"/>
                <a:ext cx="94" cy="26"/>
              </a:xfrm>
              <a:prstGeom prst="line">
                <a:avLst/>
              </a:prstGeom>
              <a:ln w="0" cap="flat" cmpd="sng">
                <a:solidFill>
                  <a:srgbClr val="0000FF"/>
                </a:solidFill>
                <a:prstDash val="solid"/>
                <a:headEnd type="none" w="med" len="med"/>
                <a:tailEnd type="none" w="med" len="med"/>
              </a:ln>
            </p:spPr>
          </p:sp>
          <p:sp>
            <p:nvSpPr>
              <p:cNvPr id="40027" name="Line 1100"/>
              <p:cNvSpPr/>
              <p:nvPr/>
            </p:nvSpPr>
            <p:spPr>
              <a:xfrm flipH="1">
                <a:off x="3720" y="1654"/>
                <a:ext cx="94" cy="26"/>
              </a:xfrm>
              <a:prstGeom prst="line">
                <a:avLst/>
              </a:prstGeom>
              <a:ln w="0" cap="flat" cmpd="sng">
                <a:solidFill>
                  <a:srgbClr val="0000FF"/>
                </a:solidFill>
                <a:prstDash val="solid"/>
                <a:headEnd type="none" w="med" len="med"/>
                <a:tailEnd type="none" w="med" len="med"/>
              </a:ln>
            </p:spPr>
          </p:sp>
        </p:grpSp>
        <p:grpSp>
          <p:nvGrpSpPr>
            <p:cNvPr id="39995" name="Group 1105"/>
            <p:cNvGrpSpPr/>
            <p:nvPr/>
          </p:nvGrpSpPr>
          <p:grpSpPr>
            <a:xfrm>
              <a:off x="3520" y="1979"/>
              <a:ext cx="378" cy="53"/>
              <a:chOff x="3436" y="1943"/>
              <a:chExt cx="378" cy="53"/>
            </a:xfrm>
          </p:grpSpPr>
          <p:sp>
            <p:nvSpPr>
              <p:cNvPr id="40022" name="Line 1102"/>
              <p:cNvSpPr/>
              <p:nvPr/>
            </p:nvSpPr>
            <p:spPr>
              <a:xfrm>
                <a:off x="3436" y="1969"/>
                <a:ext cx="378" cy="1"/>
              </a:xfrm>
              <a:prstGeom prst="line">
                <a:avLst/>
              </a:prstGeom>
              <a:ln w="0" cap="flat" cmpd="sng">
                <a:solidFill>
                  <a:srgbClr val="0000FF"/>
                </a:solidFill>
                <a:prstDash val="solid"/>
                <a:headEnd type="none" w="med" len="med"/>
                <a:tailEnd type="none" w="med" len="med"/>
              </a:ln>
            </p:spPr>
          </p:sp>
          <p:sp>
            <p:nvSpPr>
              <p:cNvPr id="40023" name="Line 1103"/>
              <p:cNvSpPr/>
              <p:nvPr/>
            </p:nvSpPr>
            <p:spPr>
              <a:xfrm flipH="1" flipV="1">
                <a:off x="3720" y="1943"/>
                <a:ext cx="94" cy="26"/>
              </a:xfrm>
              <a:prstGeom prst="line">
                <a:avLst/>
              </a:prstGeom>
              <a:ln w="0" cap="flat" cmpd="sng">
                <a:solidFill>
                  <a:srgbClr val="0000FF"/>
                </a:solidFill>
                <a:prstDash val="solid"/>
                <a:headEnd type="none" w="med" len="med"/>
                <a:tailEnd type="none" w="med" len="med"/>
              </a:ln>
            </p:spPr>
          </p:sp>
          <p:sp>
            <p:nvSpPr>
              <p:cNvPr id="40024" name="Line 1104"/>
              <p:cNvSpPr/>
              <p:nvPr/>
            </p:nvSpPr>
            <p:spPr>
              <a:xfrm flipH="1">
                <a:off x="3720" y="1969"/>
                <a:ext cx="94" cy="27"/>
              </a:xfrm>
              <a:prstGeom prst="line">
                <a:avLst/>
              </a:prstGeom>
              <a:ln w="0" cap="flat" cmpd="sng">
                <a:solidFill>
                  <a:srgbClr val="0000FF"/>
                </a:solidFill>
                <a:prstDash val="solid"/>
                <a:headEnd type="none" w="med" len="med"/>
                <a:tailEnd type="none" w="med" len="med"/>
              </a:ln>
            </p:spPr>
          </p:sp>
        </p:grpSp>
        <p:grpSp>
          <p:nvGrpSpPr>
            <p:cNvPr id="39996" name="Group 1109"/>
            <p:cNvGrpSpPr/>
            <p:nvPr/>
          </p:nvGrpSpPr>
          <p:grpSpPr>
            <a:xfrm>
              <a:off x="3520" y="2505"/>
              <a:ext cx="378" cy="52"/>
              <a:chOff x="3436" y="2469"/>
              <a:chExt cx="378" cy="52"/>
            </a:xfrm>
          </p:grpSpPr>
          <p:sp>
            <p:nvSpPr>
              <p:cNvPr id="40019" name="Line 1106"/>
              <p:cNvSpPr/>
              <p:nvPr/>
            </p:nvSpPr>
            <p:spPr>
              <a:xfrm>
                <a:off x="3436" y="2495"/>
                <a:ext cx="378" cy="1"/>
              </a:xfrm>
              <a:prstGeom prst="line">
                <a:avLst/>
              </a:prstGeom>
              <a:ln w="0" cap="flat" cmpd="sng">
                <a:solidFill>
                  <a:srgbClr val="0000FF"/>
                </a:solidFill>
                <a:prstDash val="solid"/>
                <a:headEnd type="none" w="med" len="med"/>
                <a:tailEnd type="none" w="med" len="med"/>
              </a:ln>
            </p:spPr>
          </p:sp>
          <p:sp>
            <p:nvSpPr>
              <p:cNvPr id="40020" name="Line 1107"/>
              <p:cNvSpPr/>
              <p:nvPr/>
            </p:nvSpPr>
            <p:spPr>
              <a:xfrm flipH="1" flipV="1">
                <a:off x="3720" y="2469"/>
                <a:ext cx="94" cy="26"/>
              </a:xfrm>
              <a:prstGeom prst="line">
                <a:avLst/>
              </a:prstGeom>
              <a:ln w="0" cap="flat" cmpd="sng">
                <a:solidFill>
                  <a:srgbClr val="0000FF"/>
                </a:solidFill>
                <a:prstDash val="solid"/>
                <a:headEnd type="none" w="med" len="med"/>
                <a:tailEnd type="none" w="med" len="med"/>
              </a:ln>
            </p:spPr>
          </p:sp>
          <p:sp>
            <p:nvSpPr>
              <p:cNvPr id="40021" name="Line 1108"/>
              <p:cNvSpPr/>
              <p:nvPr/>
            </p:nvSpPr>
            <p:spPr>
              <a:xfrm flipH="1">
                <a:off x="3720" y="2495"/>
                <a:ext cx="94" cy="26"/>
              </a:xfrm>
              <a:prstGeom prst="line">
                <a:avLst/>
              </a:prstGeom>
              <a:ln w="0" cap="flat" cmpd="sng">
                <a:solidFill>
                  <a:srgbClr val="0000FF"/>
                </a:solidFill>
                <a:prstDash val="solid"/>
                <a:headEnd type="none" w="med" len="med"/>
                <a:tailEnd type="none" w="med" len="med"/>
              </a:ln>
            </p:spPr>
          </p:sp>
        </p:grpSp>
        <p:sp>
          <p:nvSpPr>
            <p:cNvPr id="39997" name="Rectangle 1110"/>
            <p:cNvSpPr/>
            <p:nvPr/>
          </p:nvSpPr>
          <p:spPr>
            <a:xfrm>
              <a:off x="3622" y="1211"/>
              <a:ext cx="4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39998" name="Rectangle 1111"/>
            <p:cNvSpPr/>
            <p:nvPr/>
          </p:nvSpPr>
          <p:spPr>
            <a:xfrm>
              <a:off x="3615" y="1519"/>
              <a:ext cx="48" cy="1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39999" name="Rectangle 1112"/>
            <p:cNvSpPr/>
            <p:nvPr/>
          </p:nvSpPr>
          <p:spPr>
            <a:xfrm>
              <a:off x="3622" y="1835"/>
              <a:ext cx="48" cy="1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0000" name="Line 1113"/>
            <p:cNvSpPr/>
            <p:nvPr/>
          </p:nvSpPr>
          <p:spPr>
            <a:xfrm flipH="1">
              <a:off x="5094" y="2478"/>
              <a:ext cx="32" cy="79"/>
            </a:xfrm>
            <a:prstGeom prst="line">
              <a:avLst/>
            </a:prstGeom>
            <a:ln w="0" cap="flat" cmpd="sng">
              <a:solidFill>
                <a:srgbClr val="0000FF"/>
              </a:solidFill>
              <a:prstDash val="solid"/>
              <a:headEnd type="none" w="med" len="med"/>
              <a:tailEnd type="none" w="med" len="med"/>
            </a:ln>
          </p:spPr>
        </p:sp>
        <p:sp>
          <p:nvSpPr>
            <p:cNvPr id="40001" name="Line 1114"/>
            <p:cNvSpPr/>
            <p:nvPr/>
          </p:nvSpPr>
          <p:spPr>
            <a:xfrm>
              <a:off x="5126" y="2478"/>
              <a:ext cx="31" cy="79"/>
            </a:xfrm>
            <a:prstGeom prst="line">
              <a:avLst/>
            </a:prstGeom>
            <a:ln w="0" cap="flat" cmpd="sng">
              <a:solidFill>
                <a:srgbClr val="0000FF"/>
              </a:solidFill>
              <a:prstDash val="solid"/>
              <a:headEnd type="none" w="med" len="med"/>
              <a:tailEnd type="none" w="med" len="med"/>
            </a:ln>
          </p:spPr>
        </p:sp>
        <p:sp>
          <p:nvSpPr>
            <p:cNvPr id="40002" name="Line 1115"/>
            <p:cNvSpPr/>
            <p:nvPr/>
          </p:nvSpPr>
          <p:spPr>
            <a:xfrm flipH="1" flipV="1">
              <a:off x="5094" y="3464"/>
              <a:ext cx="32" cy="65"/>
            </a:xfrm>
            <a:prstGeom prst="line">
              <a:avLst/>
            </a:prstGeom>
            <a:ln w="0" cap="flat" cmpd="sng">
              <a:solidFill>
                <a:srgbClr val="0000FF"/>
              </a:solidFill>
              <a:prstDash val="solid"/>
              <a:headEnd type="none" w="med" len="med"/>
              <a:tailEnd type="none" w="med" len="med"/>
            </a:ln>
          </p:spPr>
        </p:sp>
        <p:sp>
          <p:nvSpPr>
            <p:cNvPr id="40003" name="Line 1116"/>
            <p:cNvSpPr/>
            <p:nvPr/>
          </p:nvSpPr>
          <p:spPr>
            <a:xfrm flipV="1">
              <a:off x="5126" y="3464"/>
              <a:ext cx="31" cy="65"/>
            </a:xfrm>
            <a:prstGeom prst="line">
              <a:avLst/>
            </a:prstGeom>
            <a:ln w="0" cap="flat" cmpd="sng">
              <a:solidFill>
                <a:srgbClr val="0000FF"/>
              </a:solidFill>
              <a:prstDash val="solid"/>
              <a:headEnd type="none" w="med" len="med"/>
              <a:tailEnd type="none" w="med" len="med"/>
            </a:ln>
          </p:spPr>
        </p:sp>
        <p:sp>
          <p:nvSpPr>
            <p:cNvPr id="40004" name="Rectangle 1117"/>
            <p:cNvSpPr/>
            <p:nvPr/>
          </p:nvSpPr>
          <p:spPr>
            <a:xfrm>
              <a:off x="3683" y="2603"/>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0005" name="Rectangle 1118"/>
            <p:cNvSpPr/>
            <p:nvPr/>
          </p:nvSpPr>
          <p:spPr>
            <a:xfrm>
              <a:off x="3680" y="1889"/>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0006" name="Rectangle 1119"/>
            <p:cNvSpPr/>
            <p:nvPr/>
          </p:nvSpPr>
          <p:spPr>
            <a:xfrm>
              <a:off x="3675" y="1574"/>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0007" name="Rectangle 1120"/>
            <p:cNvSpPr/>
            <p:nvPr/>
          </p:nvSpPr>
          <p:spPr>
            <a:xfrm>
              <a:off x="3675" y="1265"/>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0008" name="Rectangle 1121"/>
            <p:cNvSpPr/>
            <p:nvPr/>
          </p:nvSpPr>
          <p:spPr>
            <a:xfrm>
              <a:off x="2859" y="163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断</a:t>
              </a:r>
              <a:endParaRPr lang="zh-CN" altLang="en-US" dirty="0">
                <a:latin typeface="Times New Roman" panose="02020603050405020304" pitchFamily="18" charset="0"/>
              </a:endParaRPr>
            </a:p>
          </p:txBody>
        </p:sp>
        <p:sp>
          <p:nvSpPr>
            <p:cNvPr id="40009" name="Rectangle 1122"/>
            <p:cNvSpPr/>
            <p:nvPr/>
          </p:nvSpPr>
          <p:spPr>
            <a:xfrm>
              <a:off x="2859" y="177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40010" name="Rectangle 1123"/>
            <p:cNvSpPr/>
            <p:nvPr/>
          </p:nvSpPr>
          <p:spPr>
            <a:xfrm>
              <a:off x="2859" y="191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40011" name="Rectangle 1124"/>
            <p:cNvSpPr/>
            <p:nvPr/>
          </p:nvSpPr>
          <p:spPr>
            <a:xfrm>
              <a:off x="2859" y="205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关</a:t>
              </a:r>
              <a:endParaRPr lang="zh-CN" altLang="en-US" dirty="0">
                <a:latin typeface="Times New Roman" panose="02020603050405020304" pitchFamily="18" charset="0"/>
              </a:endParaRPr>
            </a:p>
          </p:txBody>
        </p:sp>
        <p:sp>
          <p:nvSpPr>
            <p:cNvPr id="40012" name="Line 1125"/>
            <p:cNvSpPr/>
            <p:nvPr/>
          </p:nvSpPr>
          <p:spPr>
            <a:xfrm flipH="1">
              <a:off x="3111" y="1506"/>
              <a:ext cx="2" cy="392"/>
            </a:xfrm>
            <a:prstGeom prst="line">
              <a:avLst/>
            </a:prstGeom>
            <a:ln w="0" cap="flat" cmpd="sng">
              <a:solidFill>
                <a:srgbClr val="0000FF"/>
              </a:solidFill>
              <a:prstDash val="solid"/>
              <a:headEnd type="none" w="med" len="med"/>
              <a:tailEnd type="none" w="med" len="med"/>
            </a:ln>
          </p:spPr>
        </p:sp>
        <p:sp>
          <p:nvSpPr>
            <p:cNvPr id="40013" name="Line 1126"/>
            <p:cNvSpPr/>
            <p:nvPr/>
          </p:nvSpPr>
          <p:spPr>
            <a:xfrm>
              <a:off x="3111" y="1924"/>
              <a:ext cx="2" cy="469"/>
            </a:xfrm>
            <a:prstGeom prst="line">
              <a:avLst/>
            </a:prstGeom>
            <a:ln w="0" cap="flat" cmpd="sng">
              <a:solidFill>
                <a:srgbClr val="0000FF"/>
              </a:solidFill>
              <a:prstDash val="solid"/>
              <a:headEnd type="none" w="med" len="med"/>
              <a:tailEnd type="none" w="med" len="med"/>
            </a:ln>
          </p:spPr>
        </p:sp>
        <p:sp>
          <p:nvSpPr>
            <p:cNvPr id="40014" name="Arc 1127"/>
            <p:cNvSpPr/>
            <p:nvPr/>
          </p:nvSpPr>
          <p:spPr>
            <a:xfrm>
              <a:off x="3111" y="1425"/>
              <a:ext cx="63" cy="79"/>
            </a:xfrm>
            <a:custGeom>
              <a:avLst/>
              <a:gdLst/>
              <a:ahLst/>
              <a:cxnLst>
                <a:cxn ang="0">
                  <a:pos x="0" y="0"/>
                </a:cxn>
                <a:cxn ang="0">
                  <a:pos x="0" y="0"/>
                </a:cxn>
                <a:cxn ang="0">
                  <a:pos x="0" y="0"/>
                </a:cxn>
              </a:cxnLst>
              <a:pathLst>
                <a:path w="21600" h="21600" fill="none">
                  <a:moveTo>
                    <a:pt x="0" y="21600"/>
                  </a:moveTo>
                  <a:cubicBezTo>
                    <a:pt x="0" y="9670"/>
                    <a:pt x="9670" y="0"/>
                    <a:pt x="21599" y="0"/>
                  </a:cubicBezTo>
                </a:path>
                <a:path w="21600" h="21600" stroke="0">
                  <a:moveTo>
                    <a:pt x="0" y="21600"/>
                  </a:moveTo>
                  <a:cubicBezTo>
                    <a:pt x="0" y="9670"/>
                    <a:pt x="9670" y="0"/>
                    <a:pt x="21599" y="0"/>
                  </a:cubicBezTo>
                  <a:lnTo>
                    <a:pt x="21600" y="21600"/>
                  </a:lnTo>
                  <a:lnTo>
                    <a:pt x="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0015" name="Arc 1128"/>
            <p:cNvSpPr/>
            <p:nvPr/>
          </p:nvSpPr>
          <p:spPr>
            <a:xfrm>
              <a:off x="3111" y="2389"/>
              <a:ext cx="63" cy="92"/>
            </a:xfrm>
            <a:custGeom>
              <a:avLst/>
              <a:gdLst/>
              <a:ahLst/>
              <a:cxnLst>
                <a:cxn ang="0">
                  <a:pos x="0" y="0"/>
                </a:cxn>
                <a:cxn ang="0">
                  <a:pos x="0" y="0"/>
                </a:cxn>
                <a:cxn ang="0">
                  <a:pos x="0" y="0"/>
                </a:cxn>
              </a:cxnLst>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0016" name="Line 1129"/>
            <p:cNvSpPr/>
            <p:nvPr/>
          </p:nvSpPr>
          <p:spPr>
            <a:xfrm flipV="1">
              <a:off x="3079" y="1892"/>
              <a:ext cx="32" cy="19"/>
            </a:xfrm>
            <a:prstGeom prst="line">
              <a:avLst/>
            </a:prstGeom>
            <a:ln w="0" cap="flat" cmpd="sng">
              <a:solidFill>
                <a:srgbClr val="0000FF"/>
              </a:solidFill>
              <a:prstDash val="solid"/>
              <a:headEnd type="none" w="med" len="med"/>
              <a:tailEnd type="none" w="med" len="med"/>
            </a:ln>
          </p:spPr>
        </p:sp>
        <p:sp>
          <p:nvSpPr>
            <p:cNvPr id="40017" name="Line 1130"/>
            <p:cNvSpPr/>
            <p:nvPr/>
          </p:nvSpPr>
          <p:spPr>
            <a:xfrm>
              <a:off x="3079" y="1911"/>
              <a:ext cx="32" cy="13"/>
            </a:xfrm>
            <a:prstGeom prst="line">
              <a:avLst/>
            </a:prstGeom>
            <a:ln w="0" cap="flat" cmpd="sng">
              <a:solidFill>
                <a:srgbClr val="0000FF"/>
              </a:solidFill>
              <a:prstDash val="solid"/>
              <a:headEnd type="none" w="med" len="med"/>
              <a:tailEnd type="none" w="med" len="med"/>
            </a:ln>
          </p:spPr>
        </p:sp>
        <p:sp>
          <p:nvSpPr>
            <p:cNvPr id="40018" name="Rectangle 1131"/>
            <p:cNvSpPr/>
            <p:nvPr/>
          </p:nvSpPr>
          <p:spPr>
            <a:xfrm>
              <a:off x="4603" y="1297"/>
              <a:ext cx="885" cy="184"/>
            </a:xfrm>
            <a:prstGeom prst="rect">
              <a:avLst/>
            </a:prstGeom>
            <a:noFill/>
            <a:ln w="9525">
              <a:noFill/>
            </a:ln>
          </p:spPr>
          <p:txBody>
            <a:bodyPr wrap="none" lIns="0" tIns="0" rIns="0" bIns="0">
              <a:spAutoFit/>
            </a:bodyPr>
            <a:p>
              <a:pPr eaLnBrk="1" hangingPunct="1">
                <a:lnSpc>
                  <a:spcPct val="90000"/>
                </a:lnSpc>
              </a:pPr>
              <a:r>
                <a:rPr lang="zh-CN" altLang="en-US" sz="2200" dirty="0">
                  <a:solidFill>
                    <a:srgbClr val="FF0000"/>
                  </a:solidFill>
                  <a:latin typeface="楷体_GB2312" pitchFamily="49" charset="-122"/>
                </a:rPr>
                <a:t>漏电流电路</a:t>
              </a:r>
              <a:endParaRPr lang="zh-CN" altLang="en-US" dirty="0">
                <a:solidFill>
                  <a:srgbClr val="FF0000"/>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7801"/>
                                        </p:tgtEl>
                                        <p:attrNameLst>
                                          <p:attrName>style.visibility</p:attrName>
                                        </p:attrNameLst>
                                      </p:cBhvr>
                                      <p:to>
                                        <p:strVal val="visible"/>
                                      </p:to>
                                    </p:set>
                                    <p:animEffect transition="in" filter="dissolve">
                                      <p:cBhvr>
                                        <p:cTn id="7" dur="500"/>
                                        <p:tgtEl>
                                          <p:spTgt spid="23378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7802"/>
                                        </p:tgtEl>
                                        <p:attrNameLst>
                                          <p:attrName>style.visibility</p:attrName>
                                        </p:attrNameLst>
                                      </p:cBhvr>
                                      <p:to>
                                        <p:strVal val="visible"/>
                                      </p:to>
                                    </p:set>
                                    <p:animEffect transition="in" filter="dissolve">
                                      <p:cBhvr>
                                        <p:cTn id="12" dur="500"/>
                                        <p:tgtEl>
                                          <p:spTgt spid="23378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7809"/>
                                        </p:tgtEl>
                                        <p:attrNameLst>
                                          <p:attrName>style.visibility</p:attrName>
                                        </p:attrNameLst>
                                      </p:cBhvr>
                                      <p:to>
                                        <p:strVal val="visible"/>
                                      </p:to>
                                    </p:set>
                                    <p:animEffect transition="in" filter="dissolve">
                                      <p:cBhvr>
                                        <p:cTn id="17" dur="500"/>
                                        <p:tgtEl>
                                          <p:spTgt spid="233780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37805">
                                            <p:txEl>
                                              <p:charRg st="0" end="60"/>
                                            </p:txEl>
                                          </p:spTgt>
                                        </p:tgtEl>
                                        <p:attrNameLst>
                                          <p:attrName>style.visibility</p:attrName>
                                        </p:attrNameLst>
                                      </p:cBhvr>
                                      <p:to>
                                        <p:strVal val="visible"/>
                                      </p:to>
                                    </p:set>
                                    <p:animEffect transition="in" filter="dissolve">
                                      <p:cBhvr>
                                        <p:cTn id="22" dur="500"/>
                                        <p:tgtEl>
                                          <p:spTgt spid="2337805">
                                            <p:txEl>
                                              <p:charRg st="0" end="60"/>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2337807">
                                            <p:txEl>
                                              <p:charRg st="0" end="2"/>
                                            </p:txEl>
                                          </p:spTgt>
                                        </p:tgtEl>
                                        <p:attrNameLst>
                                          <p:attrName>style.visibility</p:attrName>
                                        </p:attrNameLst>
                                      </p:cBhvr>
                                      <p:to>
                                        <p:strVal val="visible"/>
                                      </p:to>
                                    </p:set>
                                    <p:animEffect transition="in" filter="dissolve">
                                      <p:cBhvr>
                                        <p:cTn id="25" dur="500"/>
                                        <p:tgtEl>
                                          <p:spTgt spid="2337807">
                                            <p:txEl>
                                              <p:charRg st="0"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37901"/>
                                        </p:tgtEl>
                                        <p:attrNameLst>
                                          <p:attrName>style.visibility</p:attrName>
                                        </p:attrNameLst>
                                      </p:cBhvr>
                                      <p:to>
                                        <p:strVal val="visible"/>
                                      </p:to>
                                    </p:set>
                                    <p:animEffect transition="in" filter="dissolve">
                                      <p:cBhvr>
                                        <p:cTn id="30" dur="500"/>
                                        <p:tgtEl>
                                          <p:spTgt spid="233790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337805">
                                            <p:txEl>
                                              <p:charRg st="60" end="81"/>
                                            </p:txEl>
                                          </p:spTgt>
                                        </p:tgtEl>
                                        <p:attrNameLst>
                                          <p:attrName>style.visibility</p:attrName>
                                        </p:attrNameLst>
                                      </p:cBhvr>
                                      <p:to>
                                        <p:strVal val="visible"/>
                                      </p:to>
                                    </p:set>
                                    <p:animEffect transition="in" filter="dissolve">
                                      <p:cBhvr>
                                        <p:cTn id="35" dur="500"/>
                                        <p:tgtEl>
                                          <p:spTgt spid="2337805">
                                            <p:txEl>
                                              <p:charRg st="60" end="81"/>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2337808">
                                            <p:txEl>
                                              <p:charRg st="0" end="2"/>
                                            </p:txEl>
                                          </p:spTgt>
                                        </p:tgtEl>
                                        <p:attrNameLst>
                                          <p:attrName>style.visibility</p:attrName>
                                        </p:attrNameLst>
                                      </p:cBhvr>
                                      <p:to>
                                        <p:strVal val="visible"/>
                                      </p:to>
                                    </p:set>
                                    <p:animEffect transition="in" filter="dissolve">
                                      <p:cBhvr>
                                        <p:cTn id="38" dur="500"/>
                                        <p:tgtEl>
                                          <p:spTgt spid="2337808">
                                            <p:txEl>
                                              <p:charRg st="0"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7809" grpId="0" animBg="1"/>
      <p:bldP spid="2337801" grpId="0" animBg="1"/>
      <p:bldP spid="233780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0962" name="Rectangle 100"/>
          <p:cNvSpPr/>
          <p:nvPr/>
        </p:nvSpPr>
        <p:spPr>
          <a:xfrm>
            <a:off x="190500" y="1914525"/>
            <a:ext cx="4038600" cy="4181475"/>
          </a:xfrm>
          <a:prstGeom prst="rect">
            <a:avLst/>
          </a:prstGeom>
          <a:solidFill>
            <a:srgbClr val="CCFF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63" name="Text Box 3"/>
          <p:cNvSpPr txBox="1"/>
          <p:nvPr/>
        </p:nvSpPr>
        <p:spPr>
          <a:xfrm>
            <a:off x="415925" y="646113"/>
            <a:ext cx="25654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漏电流</a:t>
            </a:r>
            <a:endParaRPr lang="zh-CN" altLang="en-US" dirty="0">
              <a:latin typeface="Times New Roman" panose="02020603050405020304" pitchFamily="18" charset="0"/>
            </a:endParaRPr>
          </a:p>
        </p:txBody>
      </p:sp>
      <p:sp>
        <p:nvSpPr>
          <p:cNvPr id="40964" name="Text Box 4"/>
          <p:cNvSpPr txBox="1"/>
          <p:nvPr/>
        </p:nvSpPr>
        <p:spPr>
          <a:xfrm>
            <a:off x="781050" y="1377950"/>
            <a:ext cx="7764463" cy="519113"/>
          </a:xfrm>
          <a:prstGeom prst="rect">
            <a:avLst/>
          </a:prstGeom>
          <a:noFill/>
          <a:ln w="9525">
            <a:noFill/>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漏电流</a:t>
            </a:r>
            <a:r>
              <a:rPr lang="en-US" altLang="zh-CN" sz="2800" dirty="0">
                <a:solidFill>
                  <a:srgbClr val="FF0000"/>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通过断开的模拟开关的电流，用</a:t>
            </a:r>
            <a:r>
              <a:rPr lang="en-US" altLang="zh-CN" sz="2800" i="1" dirty="0">
                <a:solidFill>
                  <a:srgbClr val="FF0000"/>
                </a:solidFill>
                <a:latin typeface="Times New Roman" panose="02020603050405020304" pitchFamily="18" charset="0"/>
                <a:ea typeface="黑体" panose="02010609060101010101" pitchFamily="49" charset="-122"/>
              </a:rPr>
              <a:t>I</a:t>
            </a:r>
            <a:r>
              <a:rPr lang="en-US" altLang="zh-CN" sz="2800" i="1" baseline="-25000" dirty="0">
                <a:solidFill>
                  <a:srgbClr val="FF0000"/>
                </a:solidFill>
                <a:latin typeface="Times New Roman" panose="02020603050405020304" pitchFamily="18" charset="0"/>
                <a:ea typeface="黑体" panose="02010609060101010101" pitchFamily="49" charset="-122"/>
              </a:rPr>
              <a:t>S</a:t>
            </a:r>
            <a:r>
              <a:rPr lang="zh-CN" altLang="en-US" sz="2800" dirty="0">
                <a:solidFill>
                  <a:schemeClr val="tx1"/>
                </a:solidFill>
                <a:latin typeface="黑体" panose="02010609060101010101" pitchFamily="49" charset="-122"/>
                <a:ea typeface="黑体" panose="02010609060101010101" pitchFamily="49" charset="-122"/>
              </a:rPr>
              <a:t>表示。 </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07429" name="Text Box 5"/>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40966" name="Group 9"/>
          <p:cNvGrpSpPr/>
          <p:nvPr/>
        </p:nvGrpSpPr>
        <p:grpSpPr>
          <a:xfrm>
            <a:off x="4429125" y="1893888"/>
            <a:ext cx="4437063" cy="4246562"/>
            <a:chOff x="2790" y="1193"/>
            <a:chExt cx="2795" cy="2585"/>
          </a:xfrm>
        </p:grpSpPr>
        <p:sp>
          <p:nvSpPr>
            <p:cNvPr id="40972" name="AutoShape 10"/>
            <p:cNvSpPr>
              <a:spLocks noChangeAspect="1" noTextEdit="1"/>
            </p:cNvSpPr>
            <p:nvPr/>
          </p:nvSpPr>
          <p:spPr>
            <a:xfrm>
              <a:off x="2790" y="1193"/>
              <a:ext cx="2795" cy="2585"/>
            </a:xfrm>
            <a:prstGeom prst="rect">
              <a:avLst/>
            </a:prstGeom>
            <a:solidFill>
              <a:srgbClr val="FFFF99"/>
            </a:solidFill>
            <a:ln w="9525">
              <a:noFill/>
            </a:ln>
          </p:spPr>
          <p:txBody>
            <a:bodyPr/>
            <a:p>
              <a:endParaRPr lang="zh-CN" altLang="en-US"/>
            </a:p>
          </p:txBody>
        </p:sp>
        <p:sp>
          <p:nvSpPr>
            <p:cNvPr id="40973" name="Line 11"/>
            <p:cNvSpPr/>
            <p:nvPr/>
          </p:nvSpPr>
          <p:spPr>
            <a:xfrm>
              <a:off x="3237" y="1427"/>
              <a:ext cx="881" cy="1"/>
            </a:xfrm>
            <a:prstGeom prst="line">
              <a:avLst/>
            </a:prstGeom>
            <a:ln w="0" cap="flat" cmpd="sng">
              <a:solidFill>
                <a:srgbClr val="0000FF"/>
              </a:solidFill>
              <a:prstDash val="solid"/>
              <a:headEnd type="none" w="med" len="med"/>
              <a:tailEnd type="none" w="med" len="med"/>
            </a:ln>
          </p:spPr>
        </p:sp>
        <p:sp>
          <p:nvSpPr>
            <p:cNvPr id="40974" name="Line 12"/>
            <p:cNvSpPr/>
            <p:nvPr/>
          </p:nvSpPr>
          <p:spPr>
            <a:xfrm>
              <a:off x="4118" y="1427"/>
              <a:ext cx="1" cy="1051"/>
            </a:xfrm>
            <a:prstGeom prst="line">
              <a:avLst/>
            </a:prstGeom>
            <a:ln w="0" cap="flat" cmpd="sng">
              <a:solidFill>
                <a:srgbClr val="0000FF"/>
              </a:solidFill>
              <a:prstDash val="solid"/>
              <a:headEnd type="none" w="med" len="med"/>
              <a:tailEnd type="none" w="med" len="med"/>
            </a:ln>
          </p:spPr>
        </p:sp>
        <p:sp>
          <p:nvSpPr>
            <p:cNvPr id="40975" name="Line 13"/>
            <p:cNvSpPr/>
            <p:nvPr/>
          </p:nvSpPr>
          <p:spPr>
            <a:xfrm>
              <a:off x="3237" y="1743"/>
              <a:ext cx="881" cy="1"/>
            </a:xfrm>
            <a:prstGeom prst="line">
              <a:avLst/>
            </a:prstGeom>
            <a:ln w="0" cap="flat" cmpd="sng">
              <a:solidFill>
                <a:srgbClr val="0000FF"/>
              </a:solidFill>
              <a:prstDash val="solid"/>
              <a:headEnd type="none" w="med" len="med"/>
              <a:tailEnd type="none" w="med" len="med"/>
            </a:ln>
          </p:spPr>
        </p:sp>
        <p:sp>
          <p:nvSpPr>
            <p:cNvPr id="40976" name="Line 14"/>
            <p:cNvSpPr/>
            <p:nvPr/>
          </p:nvSpPr>
          <p:spPr>
            <a:xfrm>
              <a:off x="3237" y="2058"/>
              <a:ext cx="881" cy="1"/>
            </a:xfrm>
            <a:prstGeom prst="line">
              <a:avLst/>
            </a:prstGeom>
            <a:ln w="0" cap="flat" cmpd="sng">
              <a:solidFill>
                <a:srgbClr val="0000FF"/>
              </a:solidFill>
              <a:prstDash val="solid"/>
              <a:headEnd type="none" w="med" len="med"/>
              <a:tailEnd type="none" w="med" len="med"/>
            </a:ln>
          </p:spPr>
        </p:sp>
        <p:sp>
          <p:nvSpPr>
            <p:cNvPr id="40977" name="Line 15"/>
            <p:cNvSpPr/>
            <p:nvPr/>
          </p:nvSpPr>
          <p:spPr>
            <a:xfrm>
              <a:off x="3237" y="2478"/>
              <a:ext cx="1983" cy="1"/>
            </a:xfrm>
            <a:prstGeom prst="line">
              <a:avLst/>
            </a:prstGeom>
            <a:ln w="0" cap="flat" cmpd="sng">
              <a:solidFill>
                <a:srgbClr val="0000FF"/>
              </a:solidFill>
              <a:prstDash val="solid"/>
              <a:headEnd type="none" w="med" len="med"/>
              <a:tailEnd type="none" w="med" len="med"/>
            </a:ln>
          </p:spPr>
        </p:sp>
        <p:sp>
          <p:nvSpPr>
            <p:cNvPr id="40978" name="Rectangle 16"/>
            <p:cNvSpPr/>
            <p:nvPr/>
          </p:nvSpPr>
          <p:spPr>
            <a:xfrm>
              <a:off x="4087" y="2689"/>
              <a:ext cx="79"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79" name="Line 17"/>
            <p:cNvSpPr/>
            <p:nvPr/>
          </p:nvSpPr>
          <p:spPr>
            <a:xfrm>
              <a:off x="4118" y="2478"/>
              <a:ext cx="1" cy="211"/>
            </a:xfrm>
            <a:prstGeom prst="line">
              <a:avLst/>
            </a:prstGeom>
            <a:ln w="0" cap="flat" cmpd="sng">
              <a:solidFill>
                <a:srgbClr val="0000FF"/>
              </a:solidFill>
              <a:prstDash val="solid"/>
              <a:headEnd type="none" w="med" len="med"/>
              <a:tailEnd type="none" w="med" len="med"/>
            </a:ln>
          </p:spPr>
        </p:sp>
        <p:sp>
          <p:nvSpPr>
            <p:cNvPr id="40980" name="Rectangle 18"/>
            <p:cNvSpPr/>
            <p:nvPr/>
          </p:nvSpPr>
          <p:spPr>
            <a:xfrm>
              <a:off x="4087" y="3122"/>
              <a:ext cx="79"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81" name="Line 19"/>
            <p:cNvSpPr/>
            <p:nvPr/>
          </p:nvSpPr>
          <p:spPr>
            <a:xfrm>
              <a:off x="4118" y="2897"/>
              <a:ext cx="1" cy="225"/>
            </a:xfrm>
            <a:prstGeom prst="line">
              <a:avLst/>
            </a:prstGeom>
            <a:ln w="0" cap="flat" cmpd="sng">
              <a:solidFill>
                <a:srgbClr val="0000FF"/>
              </a:solidFill>
              <a:prstDash val="solid"/>
              <a:headEnd type="none" w="med" len="med"/>
              <a:tailEnd type="none" w="med" len="med"/>
            </a:ln>
          </p:spPr>
        </p:sp>
        <p:sp>
          <p:nvSpPr>
            <p:cNvPr id="40982" name="Rectangle 20"/>
            <p:cNvSpPr/>
            <p:nvPr/>
          </p:nvSpPr>
          <p:spPr>
            <a:xfrm>
              <a:off x="4591" y="2899"/>
              <a:ext cx="78" cy="21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83" name="Line 21"/>
            <p:cNvSpPr/>
            <p:nvPr/>
          </p:nvSpPr>
          <p:spPr>
            <a:xfrm>
              <a:off x="4622" y="2478"/>
              <a:ext cx="1" cy="421"/>
            </a:xfrm>
            <a:prstGeom prst="line">
              <a:avLst/>
            </a:prstGeom>
            <a:ln w="0" cap="flat" cmpd="sng">
              <a:solidFill>
                <a:srgbClr val="0000FF"/>
              </a:solidFill>
              <a:prstDash val="solid"/>
              <a:headEnd type="none" w="med" len="med"/>
              <a:tailEnd type="none" w="med" len="med"/>
            </a:ln>
          </p:spPr>
        </p:sp>
        <p:sp>
          <p:nvSpPr>
            <p:cNvPr id="40984" name="Line 22"/>
            <p:cNvSpPr/>
            <p:nvPr/>
          </p:nvSpPr>
          <p:spPr>
            <a:xfrm>
              <a:off x="4622" y="3107"/>
              <a:ext cx="1" cy="422"/>
            </a:xfrm>
            <a:prstGeom prst="line">
              <a:avLst/>
            </a:prstGeom>
            <a:ln w="0" cap="flat" cmpd="sng">
              <a:solidFill>
                <a:srgbClr val="0000FF"/>
              </a:solidFill>
              <a:prstDash val="solid"/>
              <a:headEnd type="none" w="med" len="med"/>
              <a:tailEnd type="none" w="med" len="med"/>
            </a:ln>
          </p:spPr>
        </p:sp>
        <p:sp>
          <p:nvSpPr>
            <p:cNvPr id="40985" name="Line 23"/>
            <p:cNvSpPr/>
            <p:nvPr/>
          </p:nvSpPr>
          <p:spPr>
            <a:xfrm>
              <a:off x="4118" y="3330"/>
              <a:ext cx="1" cy="414"/>
            </a:xfrm>
            <a:prstGeom prst="line">
              <a:avLst/>
            </a:prstGeom>
            <a:ln w="0" cap="flat" cmpd="sng">
              <a:solidFill>
                <a:srgbClr val="0000FF"/>
              </a:solidFill>
              <a:prstDash val="solid"/>
              <a:headEnd type="none" w="med" len="med"/>
              <a:tailEnd type="none" w="med" len="med"/>
            </a:ln>
          </p:spPr>
        </p:sp>
        <p:sp>
          <p:nvSpPr>
            <p:cNvPr id="40986" name="Line 24"/>
            <p:cNvSpPr/>
            <p:nvPr/>
          </p:nvSpPr>
          <p:spPr>
            <a:xfrm>
              <a:off x="4008" y="3740"/>
              <a:ext cx="236" cy="1"/>
            </a:xfrm>
            <a:prstGeom prst="line">
              <a:avLst/>
            </a:prstGeom>
            <a:ln w="0" cap="flat" cmpd="sng">
              <a:solidFill>
                <a:srgbClr val="0000FF"/>
              </a:solidFill>
              <a:prstDash val="solid"/>
              <a:headEnd type="none" w="med" len="med"/>
              <a:tailEnd type="none" w="med" len="med"/>
            </a:ln>
          </p:spPr>
        </p:sp>
        <p:sp>
          <p:nvSpPr>
            <p:cNvPr id="40987" name="Line 25"/>
            <p:cNvSpPr/>
            <p:nvPr/>
          </p:nvSpPr>
          <p:spPr>
            <a:xfrm>
              <a:off x="4118" y="3529"/>
              <a:ext cx="1087" cy="1"/>
            </a:xfrm>
            <a:prstGeom prst="line">
              <a:avLst/>
            </a:prstGeom>
            <a:ln w="0" cap="flat" cmpd="sng">
              <a:solidFill>
                <a:srgbClr val="0000FF"/>
              </a:solidFill>
              <a:prstDash val="solid"/>
              <a:headEnd type="none" w="med" len="med"/>
              <a:tailEnd type="none" w="med" len="med"/>
            </a:ln>
          </p:spPr>
        </p:sp>
        <p:sp>
          <p:nvSpPr>
            <p:cNvPr id="40988" name="Line 26"/>
            <p:cNvSpPr/>
            <p:nvPr/>
          </p:nvSpPr>
          <p:spPr>
            <a:xfrm>
              <a:off x="5126" y="2478"/>
              <a:ext cx="1" cy="1051"/>
            </a:xfrm>
            <a:prstGeom prst="line">
              <a:avLst/>
            </a:prstGeom>
            <a:ln w="0" cap="flat" cmpd="sng">
              <a:solidFill>
                <a:srgbClr val="0000FF"/>
              </a:solidFill>
              <a:prstDash val="solid"/>
              <a:headEnd type="none" w="med" len="med"/>
              <a:tailEnd type="none" w="med" len="med"/>
            </a:ln>
          </p:spPr>
        </p:sp>
        <p:sp>
          <p:nvSpPr>
            <p:cNvPr id="40989" name="Oval 27"/>
            <p:cNvSpPr/>
            <p:nvPr/>
          </p:nvSpPr>
          <p:spPr>
            <a:xfrm>
              <a:off x="4087" y="1716"/>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0" name="Oval 28"/>
            <p:cNvSpPr/>
            <p:nvPr/>
          </p:nvSpPr>
          <p:spPr>
            <a:xfrm>
              <a:off x="4087" y="2032"/>
              <a:ext cx="79" cy="6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1" name="Oval 29"/>
            <p:cNvSpPr/>
            <p:nvPr/>
          </p:nvSpPr>
          <p:spPr>
            <a:xfrm>
              <a:off x="4591" y="2452"/>
              <a:ext cx="78"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2" name="Oval 30"/>
            <p:cNvSpPr/>
            <p:nvPr/>
          </p:nvSpPr>
          <p:spPr>
            <a:xfrm>
              <a:off x="4591" y="3503"/>
              <a:ext cx="78"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3" name="Oval 31"/>
            <p:cNvSpPr/>
            <p:nvPr/>
          </p:nvSpPr>
          <p:spPr>
            <a:xfrm>
              <a:off x="4087" y="3503"/>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4" name="Oval 32"/>
            <p:cNvSpPr/>
            <p:nvPr/>
          </p:nvSpPr>
          <p:spPr>
            <a:xfrm>
              <a:off x="4087" y="2452"/>
              <a:ext cx="79" cy="66"/>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95" name="Rectangle 33"/>
            <p:cNvSpPr/>
            <p:nvPr/>
          </p:nvSpPr>
          <p:spPr>
            <a:xfrm>
              <a:off x="3622" y="2544"/>
              <a:ext cx="4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0996" name="Rectangle 34"/>
            <p:cNvSpPr/>
            <p:nvPr/>
          </p:nvSpPr>
          <p:spPr>
            <a:xfrm>
              <a:off x="3646" y="282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导</a:t>
              </a:r>
              <a:endParaRPr lang="zh-CN" altLang="en-US" dirty="0">
                <a:latin typeface="Times New Roman" panose="02020603050405020304" pitchFamily="18" charset="0"/>
              </a:endParaRPr>
            </a:p>
          </p:txBody>
        </p:sp>
        <p:sp>
          <p:nvSpPr>
            <p:cNvPr id="40997" name="Rectangle 35"/>
            <p:cNvSpPr/>
            <p:nvPr/>
          </p:nvSpPr>
          <p:spPr>
            <a:xfrm>
              <a:off x="3646" y="296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通</a:t>
              </a:r>
              <a:endParaRPr lang="zh-CN" altLang="en-US" dirty="0">
                <a:latin typeface="Times New Roman" panose="02020603050405020304" pitchFamily="18" charset="0"/>
              </a:endParaRPr>
            </a:p>
          </p:txBody>
        </p:sp>
        <p:sp>
          <p:nvSpPr>
            <p:cNvPr id="40998" name="Rectangle 36"/>
            <p:cNvSpPr/>
            <p:nvPr/>
          </p:nvSpPr>
          <p:spPr>
            <a:xfrm>
              <a:off x="3646" y="310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40999" name="Rectangle 37"/>
            <p:cNvSpPr/>
            <p:nvPr/>
          </p:nvSpPr>
          <p:spPr>
            <a:xfrm>
              <a:off x="3646" y="3247"/>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关</a:t>
              </a:r>
              <a:endParaRPr lang="zh-CN" altLang="en-US" dirty="0">
                <a:latin typeface="Times New Roman" panose="02020603050405020304" pitchFamily="18" charset="0"/>
              </a:endParaRPr>
            </a:p>
          </p:txBody>
        </p:sp>
        <p:grpSp>
          <p:nvGrpSpPr>
            <p:cNvPr id="41000" name="Group 38"/>
            <p:cNvGrpSpPr/>
            <p:nvPr/>
          </p:nvGrpSpPr>
          <p:grpSpPr>
            <a:xfrm>
              <a:off x="4181" y="2229"/>
              <a:ext cx="252" cy="210"/>
              <a:chOff x="4097" y="2193"/>
              <a:chExt cx="252" cy="210"/>
            </a:xfrm>
          </p:grpSpPr>
          <p:sp>
            <p:nvSpPr>
              <p:cNvPr id="41057" name="Line 39"/>
              <p:cNvSpPr/>
              <p:nvPr/>
            </p:nvSpPr>
            <p:spPr>
              <a:xfrm flipH="1">
                <a:off x="4097" y="2193"/>
                <a:ext cx="252" cy="210"/>
              </a:xfrm>
              <a:prstGeom prst="line">
                <a:avLst/>
              </a:prstGeom>
              <a:ln w="0" cap="flat" cmpd="sng">
                <a:solidFill>
                  <a:srgbClr val="0000FF"/>
                </a:solidFill>
                <a:prstDash val="solid"/>
                <a:headEnd type="none" w="med" len="med"/>
                <a:tailEnd type="none" w="med" len="med"/>
              </a:ln>
            </p:spPr>
          </p:sp>
          <p:sp>
            <p:nvSpPr>
              <p:cNvPr id="41058" name="Line 40"/>
              <p:cNvSpPr/>
              <p:nvPr/>
            </p:nvSpPr>
            <p:spPr>
              <a:xfrm flipV="1">
                <a:off x="4097" y="2311"/>
                <a:ext cx="142" cy="92"/>
              </a:xfrm>
              <a:prstGeom prst="line">
                <a:avLst/>
              </a:prstGeom>
              <a:ln w="0" cap="flat" cmpd="sng">
                <a:solidFill>
                  <a:srgbClr val="0000FF"/>
                </a:solidFill>
                <a:prstDash val="solid"/>
                <a:headEnd type="none" w="med" len="med"/>
                <a:tailEnd type="none" w="med" len="med"/>
              </a:ln>
            </p:spPr>
          </p:sp>
          <p:sp>
            <p:nvSpPr>
              <p:cNvPr id="41059" name="Line 41"/>
              <p:cNvSpPr/>
              <p:nvPr/>
            </p:nvSpPr>
            <p:spPr>
              <a:xfrm flipV="1">
                <a:off x="4097" y="2298"/>
                <a:ext cx="95" cy="105"/>
              </a:xfrm>
              <a:prstGeom prst="line">
                <a:avLst/>
              </a:prstGeom>
              <a:ln w="0" cap="flat" cmpd="sng">
                <a:solidFill>
                  <a:srgbClr val="0000FF"/>
                </a:solidFill>
                <a:prstDash val="solid"/>
                <a:headEnd type="none" w="med" len="med"/>
                <a:tailEnd type="none" w="med" len="med"/>
              </a:ln>
            </p:spPr>
          </p:sp>
        </p:grpSp>
        <p:sp>
          <p:nvSpPr>
            <p:cNvPr id="41001" name="Rectangle 42"/>
            <p:cNvSpPr/>
            <p:nvPr/>
          </p:nvSpPr>
          <p:spPr>
            <a:xfrm>
              <a:off x="4465" y="2071"/>
              <a:ext cx="43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测量点</a:t>
              </a:r>
              <a:endParaRPr lang="zh-CN" altLang="en-US" dirty="0">
                <a:latin typeface="Times New Roman" panose="02020603050405020304" pitchFamily="18" charset="0"/>
              </a:endParaRPr>
            </a:p>
          </p:txBody>
        </p:sp>
        <p:sp>
          <p:nvSpPr>
            <p:cNvPr id="41002" name="Rectangle 43"/>
            <p:cNvSpPr/>
            <p:nvPr/>
          </p:nvSpPr>
          <p:spPr>
            <a:xfrm>
              <a:off x="5220" y="2951"/>
              <a:ext cx="104"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41003" name="Rectangle 44"/>
            <p:cNvSpPr/>
            <p:nvPr/>
          </p:nvSpPr>
          <p:spPr>
            <a:xfrm>
              <a:off x="5338" y="3010"/>
              <a:ext cx="118"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41004" name="Rectangle 45"/>
            <p:cNvSpPr/>
            <p:nvPr/>
          </p:nvSpPr>
          <p:spPr>
            <a:xfrm>
              <a:off x="4717" y="2936"/>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1005" name="Rectangle 46"/>
            <p:cNvSpPr/>
            <p:nvPr/>
          </p:nvSpPr>
          <p:spPr>
            <a:xfrm>
              <a:off x="4842" y="2991"/>
              <a:ext cx="54"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41006" name="Rectangle 47"/>
            <p:cNvSpPr/>
            <p:nvPr/>
          </p:nvSpPr>
          <p:spPr>
            <a:xfrm>
              <a:off x="4205" y="2715"/>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1007" name="Rectangle 48"/>
            <p:cNvSpPr/>
            <p:nvPr/>
          </p:nvSpPr>
          <p:spPr>
            <a:xfrm>
              <a:off x="4315" y="2774"/>
              <a:ext cx="128"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41008" name="Rectangle 49"/>
            <p:cNvSpPr/>
            <p:nvPr/>
          </p:nvSpPr>
          <p:spPr>
            <a:xfrm>
              <a:off x="4205" y="3148"/>
              <a:ext cx="8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1009" name="Rectangle 50"/>
            <p:cNvSpPr/>
            <p:nvPr/>
          </p:nvSpPr>
          <p:spPr>
            <a:xfrm>
              <a:off x="4323" y="3208"/>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1010" name="Line 51"/>
            <p:cNvSpPr/>
            <p:nvPr/>
          </p:nvSpPr>
          <p:spPr>
            <a:xfrm>
              <a:off x="3741" y="2124"/>
              <a:ext cx="1" cy="302"/>
            </a:xfrm>
            <a:prstGeom prst="line">
              <a:avLst/>
            </a:prstGeom>
            <a:ln w="0" cap="flat" cmpd="sng">
              <a:solidFill>
                <a:srgbClr val="0000FF"/>
              </a:solidFill>
              <a:prstDash val="sysDot"/>
              <a:headEnd type="none" w="med" len="med"/>
              <a:tailEnd type="none" w="med" len="med"/>
            </a:ln>
          </p:spPr>
        </p:sp>
        <p:sp>
          <p:nvSpPr>
            <p:cNvPr id="41011" name="Line 52"/>
            <p:cNvSpPr/>
            <p:nvPr/>
          </p:nvSpPr>
          <p:spPr>
            <a:xfrm flipV="1">
              <a:off x="3741" y="2308"/>
              <a:ext cx="31" cy="118"/>
            </a:xfrm>
            <a:prstGeom prst="line">
              <a:avLst/>
            </a:prstGeom>
            <a:ln w="0" cap="flat" cmpd="sng">
              <a:solidFill>
                <a:srgbClr val="0000FF"/>
              </a:solidFill>
              <a:prstDash val="solid"/>
              <a:headEnd type="none" w="med" len="med"/>
              <a:tailEnd type="none" w="med" len="med"/>
            </a:ln>
          </p:spPr>
        </p:sp>
        <p:sp>
          <p:nvSpPr>
            <p:cNvPr id="41012" name="Line 53"/>
            <p:cNvSpPr/>
            <p:nvPr/>
          </p:nvSpPr>
          <p:spPr>
            <a:xfrm flipH="1" flipV="1">
              <a:off x="3709" y="2308"/>
              <a:ext cx="32" cy="118"/>
            </a:xfrm>
            <a:prstGeom prst="line">
              <a:avLst/>
            </a:prstGeom>
            <a:ln w="0" cap="flat" cmpd="sng">
              <a:solidFill>
                <a:srgbClr val="0000FF"/>
              </a:solidFill>
              <a:prstDash val="solid"/>
              <a:headEnd type="none" w="med" len="med"/>
              <a:tailEnd type="none" w="med" len="med"/>
            </a:ln>
          </p:spPr>
        </p:sp>
        <p:sp>
          <p:nvSpPr>
            <p:cNvPr id="41013" name="Line 54"/>
            <p:cNvSpPr/>
            <p:nvPr/>
          </p:nvSpPr>
          <p:spPr>
            <a:xfrm>
              <a:off x="3929" y="2794"/>
              <a:ext cx="1" cy="254"/>
            </a:xfrm>
            <a:prstGeom prst="line">
              <a:avLst/>
            </a:prstGeom>
            <a:ln w="0" cap="flat" cmpd="sng">
              <a:solidFill>
                <a:srgbClr val="0000FF"/>
              </a:solidFill>
              <a:prstDash val="solid"/>
              <a:headEnd type="none" w="med" len="med"/>
              <a:tailEnd type="none" w="med" len="med"/>
            </a:ln>
          </p:spPr>
        </p:sp>
        <p:sp>
          <p:nvSpPr>
            <p:cNvPr id="41014" name="Line 55"/>
            <p:cNvSpPr/>
            <p:nvPr/>
          </p:nvSpPr>
          <p:spPr>
            <a:xfrm>
              <a:off x="3929" y="3074"/>
              <a:ext cx="1" cy="245"/>
            </a:xfrm>
            <a:prstGeom prst="line">
              <a:avLst/>
            </a:prstGeom>
            <a:ln w="0" cap="flat" cmpd="sng">
              <a:solidFill>
                <a:srgbClr val="0000FF"/>
              </a:solidFill>
              <a:prstDash val="solid"/>
              <a:headEnd type="none" w="med" len="med"/>
              <a:tailEnd type="none" w="med" len="med"/>
            </a:ln>
          </p:spPr>
        </p:sp>
        <p:sp>
          <p:nvSpPr>
            <p:cNvPr id="41015" name="Arc 56"/>
            <p:cNvSpPr/>
            <p:nvPr/>
          </p:nvSpPr>
          <p:spPr>
            <a:xfrm>
              <a:off x="3929" y="2728"/>
              <a:ext cx="63" cy="79"/>
            </a:xfrm>
            <a:custGeom>
              <a:avLst/>
              <a:gdLst/>
              <a:ahLst/>
              <a:cxnLst>
                <a:cxn ang="0">
                  <a:pos x="0" y="0"/>
                </a:cxn>
                <a:cxn ang="0">
                  <a:pos x="0" y="0"/>
                </a:cxn>
                <a:cxn ang="0">
                  <a:pos x="0" y="0"/>
                </a:cxn>
              </a:cxnLst>
              <a:pathLst>
                <a:path w="21600" h="21600" fill="none">
                  <a:moveTo>
                    <a:pt x="0" y="21600"/>
                  </a:moveTo>
                  <a:cubicBezTo>
                    <a:pt x="0" y="9670"/>
                    <a:pt x="9670" y="0"/>
                    <a:pt x="21599" y="0"/>
                  </a:cubicBezTo>
                </a:path>
                <a:path w="21600" h="21600" stroke="0">
                  <a:moveTo>
                    <a:pt x="0" y="21600"/>
                  </a:moveTo>
                  <a:cubicBezTo>
                    <a:pt x="0" y="9670"/>
                    <a:pt x="9670" y="0"/>
                    <a:pt x="21599" y="0"/>
                  </a:cubicBezTo>
                  <a:lnTo>
                    <a:pt x="21600" y="21600"/>
                  </a:lnTo>
                  <a:lnTo>
                    <a:pt x="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1016" name="Arc 57"/>
            <p:cNvSpPr/>
            <p:nvPr/>
          </p:nvSpPr>
          <p:spPr>
            <a:xfrm>
              <a:off x="3929" y="3293"/>
              <a:ext cx="63" cy="92"/>
            </a:xfrm>
            <a:custGeom>
              <a:avLst/>
              <a:gdLst/>
              <a:ahLst/>
              <a:cxnLst>
                <a:cxn ang="0">
                  <a:pos x="0" y="0"/>
                </a:cxn>
                <a:cxn ang="0">
                  <a:pos x="0" y="0"/>
                </a:cxn>
                <a:cxn ang="0">
                  <a:pos x="0" y="0"/>
                </a:cxn>
              </a:cxnLst>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1017" name="Line 58"/>
            <p:cNvSpPr/>
            <p:nvPr/>
          </p:nvSpPr>
          <p:spPr>
            <a:xfrm flipV="1">
              <a:off x="3898" y="3041"/>
              <a:ext cx="31" cy="20"/>
            </a:xfrm>
            <a:prstGeom prst="line">
              <a:avLst/>
            </a:prstGeom>
            <a:ln w="0" cap="flat" cmpd="sng">
              <a:solidFill>
                <a:srgbClr val="0000FF"/>
              </a:solidFill>
              <a:prstDash val="solid"/>
              <a:headEnd type="none" w="med" len="med"/>
              <a:tailEnd type="none" w="med" len="med"/>
            </a:ln>
          </p:spPr>
        </p:sp>
        <p:sp>
          <p:nvSpPr>
            <p:cNvPr id="41018" name="Line 59"/>
            <p:cNvSpPr/>
            <p:nvPr/>
          </p:nvSpPr>
          <p:spPr>
            <a:xfrm>
              <a:off x="3898" y="3061"/>
              <a:ext cx="31" cy="13"/>
            </a:xfrm>
            <a:prstGeom prst="line">
              <a:avLst/>
            </a:prstGeom>
            <a:ln w="0" cap="flat" cmpd="sng">
              <a:solidFill>
                <a:srgbClr val="0000FF"/>
              </a:solidFill>
              <a:prstDash val="solid"/>
              <a:headEnd type="none" w="med" len="med"/>
              <a:tailEnd type="none" w="med" len="med"/>
            </a:ln>
          </p:spPr>
        </p:sp>
        <p:grpSp>
          <p:nvGrpSpPr>
            <p:cNvPr id="41019" name="Group 60"/>
            <p:cNvGrpSpPr/>
            <p:nvPr/>
          </p:nvGrpSpPr>
          <p:grpSpPr>
            <a:xfrm>
              <a:off x="3520" y="1348"/>
              <a:ext cx="378" cy="53"/>
              <a:chOff x="3436" y="1312"/>
              <a:chExt cx="378" cy="53"/>
            </a:xfrm>
          </p:grpSpPr>
          <p:sp>
            <p:nvSpPr>
              <p:cNvPr id="41054" name="Line 61"/>
              <p:cNvSpPr/>
              <p:nvPr/>
            </p:nvSpPr>
            <p:spPr>
              <a:xfrm>
                <a:off x="3436" y="1339"/>
                <a:ext cx="378" cy="1"/>
              </a:xfrm>
              <a:prstGeom prst="line">
                <a:avLst/>
              </a:prstGeom>
              <a:ln w="0" cap="flat" cmpd="sng">
                <a:solidFill>
                  <a:srgbClr val="0000FF"/>
                </a:solidFill>
                <a:prstDash val="solid"/>
                <a:headEnd type="none" w="med" len="med"/>
                <a:tailEnd type="none" w="med" len="med"/>
              </a:ln>
            </p:spPr>
          </p:sp>
          <p:sp>
            <p:nvSpPr>
              <p:cNvPr id="41055" name="Line 62"/>
              <p:cNvSpPr/>
              <p:nvPr/>
            </p:nvSpPr>
            <p:spPr>
              <a:xfrm flipH="1" flipV="1">
                <a:off x="3720" y="1312"/>
                <a:ext cx="94" cy="27"/>
              </a:xfrm>
              <a:prstGeom prst="line">
                <a:avLst/>
              </a:prstGeom>
              <a:ln w="0" cap="flat" cmpd="sng">
                <a:solidFill>
                  <a:srgbClr val="0000FF"/>
                </a:solidFill>
                <a:prstDash val="solid"/>
                <a:headEnd type="none" w="med" len="med"/>
                <a:tailEnd type="none" w="med" len="med"/>
              </a:ln>
            </p:spPr>
          </p:sp>
          <p:sp>
            <p:nvSpPr>
              <p:cNvPr id="41056" name="Line 63"/>
              <p:cNvSpPr/>
              <p:nvPr/>
            </p:nvSpPr>
            <p:spPr>
              <a:xfrm flipH="1">
                <a:off x="3720" y="1339"/>
                <a:ext cx="94" cy="26"/>
              </a:xfrm>
              <a:prstGeom prst="line">
                <a:avLst/>
              </a:prstGeom>
              <a:ln w="0" cap="flat" cmpd="sng">
                <a:solidFill>
                  <a:srgbClr val="0000FF"/>
                </a:solidFill>
                <a:prstDash val="solid"/>
                <a:headEnd type="none" w="med" len="med"/>
                <a:tailEnd type="none" w="med" len="med"/>
              </a:ln>
            </p:spPr>
          </p:sp>
        </p:grpSp>
        <p:grpSp>
          <p:nvGrpSpPr>
            <p:cNvPr id="41020" name="Group 64"/>
            <p:cNvGrpSpPr/>
            <p:nvPr/>
          </p:nvGrpSpPr>
          <p:grpSpPr>
            <a:xfrm>
              <a:off x="3520" y="1664"/>
              <a:ext cx="378" cy="52"/>
              <a:chOff x="3436" y="1628"/>
              <a:chExt cx="378" cy="52"/>
            </a:xfrm>
          </p:grpSpPr>
          <p:sp>
            <p:nvSpPr>
              <p:cNvPr id="41051" name="Line 65"/>
              <p:cNvSpPr/>
              <p:nvPr/>
            </p:nvSpPr>
            <p:spPr>
              <a:xfrm>
                <a:off x="3436" y="1654"/>
                <a:ext cx="378" cy="1"/>
              </a:xfrm>
              <a:prstGeom prst="line">
                <a:avLst/>
              </a:prstGeom>
              <a:ln w="0" cap="flat" cmpd="sng">
                <a:solidFill>
                  <a:srgbClr val="0000FF"/>
                </a:solidFill>
                <a:prstDash val="solid"/>
                <a:headEnd type="none" w="med" len="med"/>
                <a:tailEnd type="none" w="med" len="med"/>
              </a:ln>
            </p:spPr>
          </p:sp>
          <p:sp>
            <p:nvSpPr>
              <p:cNvPr id="41052" name="Line 66"/>
              <p:cNvSpPr/>
              <p:nvPr/>
            </p:nvSpPr>
            <p:spPr>
              <a:xfrm flipH="1" flipV="1">
                <a:off x="3720" y="1628"/>
                <a:ext cx="94" cy="26"/>
              </a:xfrm>
              <a:prstGeom prst="line">
                <a:avLst/>
              </a:prstGeom>
              <a:ln w="0" cap="flat" cmpd="sng">
                <a:solidFill>
                  <a:srgbClr val="0000FF"/>
                </a:solidFill>
                <a:prstDash val="solid"/>
                <a:headEnd type="none" w="med" len="med"/>
                <a:tailEnd type="none" w="med" len="med"/>
              </a:ln>
            </p:spPr>
          </p:sp>
          <p:sp>
            <p:nvSpPr>
              <p:cNvPr id="41053" name="Line 67"/>
              <p:cNvSpPr/>
              <p:nvPr/>
            </p:nvSpPr>
            <p:spPr>
              <a:xfrm flipH="1">
                <a:off x="3720" y="1654"/>
                <a:ext cx="94" cy="26"/>
              </a:xfrm>
              <a:prstGeom prst="line">
                <a:avLst/>
              </a:prstGeom>
              <a:ln w="0" cap="flat" cmpd="sng">
                <a:solidFill>
                  <a:srgbClr val="0000FF"/>
                </a:solidFill>
                <a:prstDash val="solid"/>
                <a:headEnd type="none" w="med" len="med"/>
                <a:tailEnd type="none" w="med" len="med"/>
              </a:ln>
            </p:spPr>
          </p:sp>
        </p:grpSp>
        <p:grpSp>
          <p:nvGrpSpPr>
            <p:cNvPr id="41021" name="Group 68"/>
            <p:cNvGrpSpPr/>
            <p:nvPr/>
          </p:nvGrpSpPr>
          <p:grpSpPr>
            <a:xfrm>
              <a:off x="3520" y="1979"/>
              <a:ext cx="378" cy="53"/>
              <a:chOff x="3436" y="1943"/>
              <a:chExt cx="378" cy="53"/>
            </a:xfrm>
          </p:grpSpPr>
          <p:sp>
            <p:nvSpPr>
              <p:cNvPr id="41048" name="Line 69"/>
              <p:cNvSpPr/>
              <p:nvPr/>
            </p:nvSpPr>
            <p:spPr>
              <a:xfrm>
                <a:off x="3436" y="1969"/>
                <a:ext cx="378" cy="1"/>
              </a:xfrm>
              <a:prstGeom prst="line">
                <a:avLst/>
              </a:prstGeom>
              <a:ln w="0" cap="flat" cmpd="sng">
                <a:solidFill>
                  <a:srgbClr val="0000FF"/>
                </a:solidFill>
                <a:prstDash val="solid"/>
                <a:headEnd type="none" w="med" len="med"/>
                <a:tailEnd type="none" w="med" len="med"/>
              </a:ln>
            </p:spPr>
          </p:sp>
          <p:sp>
            <p:nvSpPr>
              <p:cNvPr id="41049" name="Line 70"/>
              <p:cNvSpPr/>
              <p:nvPr/>
            </p:nvSpPr>
            <p:spPr>
              <a:xfrm flipH="1" flipV="1">
                <a:off x="3720" y="1943"/>
                <a:ext cx="94" cy="26"/>
              </a:xfrm>
              <a:prstGeom prst="line">
                <a:avLst/>
              </a:prstGeom>
              <a:ln w="0" cap="flat" cmpd="sng">
                <a:solidFill>
                  <a:srgbClr val="0000FF"/>
                </a:solidFill>
                <a:prstDash val="solid"/>
                <a:headEnd type="none" w="med" len="med"/>
                <a:tailEnd type="none" w="med" len="med"/>
              </a:ln>
            </p:spPr>
          </p:sp>
          <p:sp>
            <p:nvSpPr>
              <p:cNvPr id="41050" name="Line 71"/>
              <p:cNvSpPr/>
              <p:nvPr/>
            </p:nvSpPr>
            <p:spPr>
              <a:xfrm flipH="1">
                <a:off x="3720" y="1969"/>
                <a:ext cx="94" cy="27"/>
              </a:xfrm>
              <a:prstGeom prst="line">
                <a:avLst/>
              </a:prstGeom>
              <a:ln w="0" cap="flat" cmpd="sng">
                <a:solidFill>
                  <a:srgbClr val="0000FF"/>
                </a:solidFill>
                <a:prstDash val="solid"/>
                <a:headEnd type="none" w="med" len="med"/>
                <a:tailEnd type="none" w="med" len="med"/>
              </a:ln>
            </p:spPr>
          </p:sp>
        </p:grpSp>
        <p:grpSp>
          <p:nvGrpSpPr>
            <p:cNvPr id="41022" name="Group 72"/>
            <p:cNvGrpSpPr/>
            <p:nvPr/>
          </p:nvGrpSpPr>
          <p:grpSpPr>
            <a:xfrm>
              <a:off x="3520" y="2505"/>
              <a:ext cx="378" cy="52"/>
              <a:chOff x="3436" y="2469"/>
              <a:chExt cx="378" cy="52"/>
            </a:xfrm>
          </p:grpSpPr>
          <p:sp>
            <p:nvSpPr>
              <p:cNvPr id="41045" name="Line 73"/>
              <p:cNvSpPr/>
              <p:nvPr/>
            </p:nvSpPr>
            <p:spPr>
              <a:xfrm>
                <a:off x="3436" y="2495"/>
                <a:ext cx="378" cy="1"/>
              </a:xfrm>
              <a:prstGeom prst="line">
                <a:avLst/>
              </a:prstGeom>
              <a:ln w="0" cap="flat" cmpd="sng">
                <a:solidFill>
                  <a:srgbClr val="0000FF"/>
                </a:solidFill>
                <a:prstDash val="solid"/>
                <a:headEnd type="none" w="med" len="med"/>
                <a:tailEnd type="none" w="med" len="med"/>
              </a:ln>
            </p:spPr>
          </p:sp>
          <p:sp>
            <p:nvSpPr>
              <p:cNvPr id="41046" name="Line 74"/>
              <p:cNvSpPr/>
              <p:nvPr/>
            </p:nvSpPr>
            <p:spPr>
              <a:xfrm flipH="1" flipV="1">
                <a:off x="3720" y="2469"/>
                <a:ext cx="94" cy="26"/>
              </a:xfrm>
              <a:prstGeom prst="line">
                <a:avLst/>
              </a:prstGeom>
              <a:ln w="0" cap="flat" cmpd="sng">
                <a:solidFill>
                  <a:srgbClr val="0000FF"/>
                </a:solidFill>
                <a:prstDash val="solid"/>
                <a:headEnd type="none" w="med" len="med"/>
                <a:tailEnd type="none" w="med" len="med"/>
              </a:ln>
            </p:spPr>
          </p:sp>
          <p:sp>
            <p:nvSpPr>
              <p:cNvPr id="41047" name="Line 75"/>
              <p:cNvSpPr/>
              <p:nvPr/>
            </p:nvSpPr>
            <p:spPr>
              <a:xfrm flipH="1">
                <a:off x="3720" y="2495"/>
                <a:ext cx="94" cy="26"/>
              </a:xfrm>
              <a:prstGeom prst="line">
                <a:avLst/>
              </a:prstGeom>
              <a:ln w="0" cap="flat" cmpd="sng">
                <a:solidFill>
                  <a:srgbClr val="0000FF"/>
                </a:solidFill>
                <a:prstDash val="solid"/>
                <a:headEnd type="none" w="med" len="med"/>
                <a:tailEnd type="none" w="med" len="med"/>
              </a:ln>
            </p:spPr>
          </p:sp>
        </p:grpSp>
        <p:sp>
          <p:nvSpPr>
            <p:cNvPr id="41023" name="Rectangle 76"/>
            <p:cNvSpPr/>
            <p:nvPr/>
          </p:nvSpPr>
          <p:spPr>
            <a:xfrm>
              <a:off x="3622" y="1211"/>
              <a:ext cx="48" cy="151"/>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1024" name="Rectangle 77"/>
            <p:cNvSpPr/>
            <p:nvPr/>
          </p:nvSpPr>
          <p:spPr>
            <a:xfrm>
              <a:off x="3615" y="1519"/>
              <a:ext cx="48" cy="1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1025" name="Rectangle 78"/>
            <p:cNvSpPr/>
            <p:nvPr/>
          </p:nvSpPr>
          <p:spPr>
            <a:xfrm>
              <a:off x="3622" y="1835"/>
              <a:ext cx="48" cy="1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1026" name="Line 79"/>
            <p:cNvSpPr/>
            <p:nvPr/>
          </p:nvSpPr>
          <p:spPr>
            <a:xfrm flipH="1">
              <a:off x="5094" y="2478"/>
              <a:ext cx="32" cy="79"/>
            </a:xfrm>
            <a:prstGeom prst="line">
              <a:avLst/>
            </a:prstGeom>
            <a:ln w="0" cap="flat" cmpd="sng">
              <a:solidFill>
                <a:srgbClr val="0000FF"/>
              </a:solidFill>
              <a:prstDash val="solid"/>
              <a:headEnd type="none" w="med" len="med"/>
              <a:tailEnd type="none" w="med" len="med"/>
            </a:ln>
          </p:spPr>
        </p:sp>
        <p:sp>
          <p:nvSpPr>
            <p:cNvPr id="41027" name="Line 80"/>
            <p:cNvSpPr/>
            <p:nvPr/>
          </p:nvSpPr>
          <p:spPr>
            <a:xfrm>
              <a:off x="5126" y="2478"/>
              <a:ext cx="31" cy="79"/>
            </a:xfrm>
            <a:prstGeom prst="line">
              <a:avLst/>
            </a:prstGeom>
            <a:ln w="0" cap="flat" cmpd="sng">
              <a:solidFill>
                <a:srgbClr val="0000FF"/>
              </a:solidFill>
              <a:prstDash val="solid"/>
              <a:headEnd type="none" w="med" len="med"/>
              <a:tailEnd type="none" w="med" len="med"/>
            </a:ln>
          </p:spPr>
        </p:sp>
        <p:sp>
          <p:nvSpPr>
            <p:cNvPr id="41028" name="Line 81"/>
            <p:cNvSpPr/>
            <p:nvPr/>
          </p:nvSpPr>
          <p:spPr>
            <a:xfrm flipH="1" flipV="1">
              <a:off x="5094" y="3464"/>
              <a:ext cx="32" cy="65"/>
            </a:xfrm>
            <a:prstGeom prst="line">
              <a:avLst/>
            </a:prstGeom>
            <a:ln w="0" cap="flat" cmpd="sng">
              <a:solidFill>
                <a:srgbClr val="0000FF"/>
              </a:solidFill>
              <a:prstDash val="solid"/>
              <a:headEnd type="none" w="med" len="med"/>
              <a:tailEnd type="none" w="med" len="med"/>
            </a:ln>
          </p:spPr>
        </p:sp>
        <p:sp>
          <p:nvSpPr>
            <p:cNvPr id="41029" name="Line 82"/>
            <p:cNvSpPr/>
            <p:nvPr/>
          </p:nvSpPr>
          <p:spPr>
            <a:xfrm flipV="1">
              <a:off x="5126" y="3464"/>
              <a:ext cx="31" cy="65"/>
            </a:xfrm>
            <a:prstGeom prst="line">
              <a:avLst/>
            </a:prstGeom>
            <a:ln w="0" cap="flat" cmpd="sng">
              <a:solidFill>
                <a:srgbClr val="0000FF"/>
              </a:solidFill>
              <a:prstDash val="solid"/>
              <a:headEnd type="none" w="med" len="med"/>
              <a:tailEnd type="none" w="med" len="med"/>
            </a:ln>
          </p:spPr>
        </p:sp>
        <p:sp>
          <p:nvSpPr>
            <p:cNvPr id="41030" name="Rectangle 83"/>
            <p:cNvSpPr/>
            <p:nvPr/>
          </p:nvSpPr>
          <p:spPr>
            <a:xfrm>
              <a:off x="3683" y="2603"/>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1031" name="Rectangle 84"/>
            <p:cNvSpPr/>
            <p:nvPr/>
          </p:nvSpPr>
          <p:spPr>
            <a:xfrm>
              <a:off x="3680" y="1889"/>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1032" name="Rectangle 85"/>
            <p:cNvSpPr/>
            <p:nvPr/>
          </p:nvSpPr>
          <p:spPr>
            <a:xfrm>
              <a:off x="3675" y="1574"/>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1033" name="Rectangle 86"/>
            <p:cNvSpPr/>
            <p:nvPr/>
          </p:nvSpPr>
          <p:spPr>
            <a:xfrm>
              <a:off x="3675" y="1265"/>
              <a:ext cx="49" cy="9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1034" name="Rectangle 87"/>
            <p:cNvSpPr/>
            <p:nvPr/>
          </p:nvSpPr>
          <p:spPr>
            <a:xfrm>
              <a:off x="2859" y="163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断</a:t>
              </a:r>
              <a:endParaRPr lang="zh-CN" altLang="en-US" dirty="0">
                <a:latin typeface="Times New Roman" panose="02020603050405020304" pitchFamily="18" charset="0"/>
              </a:endParaRPr>
            </a:p>
          </p:txBody>
        </p:sp>
        <p:sp>
          <p:nvSpPr>
            <p:cNvPr id="41035" name="Rectangle 88"/>
            <p:cNvSpPr/>
            <p:nvPr/>
          </p:nvSpPr>
          <p:spPr>
            <a:xfrm>
              <a:off x="2859" y="177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41036" name="Rectangle 89"/>
            <p:cNvSpPr/>
            <p:nvPr/>
          </p:nvSpPr>
          <p:spPr>
            <a:xfrm>
              <a:off x="2859" y="191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开</a:t>
              </a:r>
              <a:endParaRPr lang="zh-CN" altLang="en-US" dirty="0">
                <a:latin typeface="Times New Roman" panose="02020603050405020304" pitchFamily="18" charset="0"/>
              </a:endParaRPr>
            </a:p>
          </p:txBody>
        </p:sp>
        <p:sp>
          <p:nvSpPr>
            <p:cNvPr id="41037" name="Rectangle 90"/>
            <p:cNvSpPr/>
            <p:nvPr/>
          </p:nvSpPr>
          <p:spPr>
            <a:xfrm>
              <a:off x="2859" y="2051"/>
              <a:ext cx="145" cy="151"/>
            </a:xfrm>
            <a:prstGeom prst="rect">
              <a:avLst/>
            </a:prstGeom>
            <a:noFill/>
            <a:ln w="9525">
              <a:noFill/>
            </a:ln>
          </p:spPr>
          <p:txBody>
            <a:bodyPr wrap="none" lIns="0" tIns="0" rIns="0" bIns="0">
              <a:spAutoFit/>
            </a:bodyPr>
            <a:p>
              <a:pPr eaLnBrk="1" hangingPunct="1">
                <a:lnSpc>
                  <a:spcPct val="90000"/>
                </a:lnSpc>
              </a:pPr>
              <a:r>
                <a:rPr lang="zh-CN" altLang="en-US" sz="1800" dirty="0">
                  <a:solidFill>
                    <a:srgbClr val="0000FF"/>
                  </a:solidFill>
                  <a:latin typeface="楷体_GB2312" pitchFamily="49" charset="-122"/>
                </a:rPr>
                <a:t>关</a:t>
              </a:r>
              <a:endParaRPr lang="zh-CN" altLang="en-US" dirty="0">
                <a:latin typeface="Times New Roman" panose="02020603050405020304" pitchFamily="18" charset="0"/>
              </a:endParaRPr>
            </a:p>
          </p:txBody>
        </p:sp>
        <p:sp>
          <p:nvSpPr>
            <p:cNvPr id="41038" name="Line 91"/>
            <p:cNvSpPr/>
            <p:nvPr/>
          </p:nvSpPr>
          <p:spPr>
            <a:xfrm flipH="1">
              <a:off x="3111" y="1506"/>
              <a:ext cx="2" cy="392"/>
            </a:xfrm>
            <a:prstGeom prst="line">
              <a:avLst/>
            </a:prstGeom>
            <a:ln w="0" cap="flat" cmpd="sng">
              <a:solidFill>
                <a:srgbClr val="0000FF"/>
              </a:solidFill>
              <a:prstDash val="solid"/>
              <a:headEnd type="none" w="med" len="med"/>
              <a:tailEnd type="none" w="med" len="med"/>
            </a:ln>
          </p:spPr>
        </p:sp>
        <p:sp>
          <p:nvSpPr>
            <p:cNvPr id="41039" name="Line 92"/>
            <p:cNvSpPr/>
            <p:nvPr/>
          </p:nvSpPr>
          <p:spPr>
            <a:xfrm>
              <a:off x="3111" y="1924"/>
              <a:ext cx="2" cy="469"/>
            </a:xfrm>
            <a:prstGeom prst="line">
              <a:avLst/>
            </a:prstGeom>
            <a:ln w="0" cap="flat" cmpd="sng">
              <a:solidFill>
                <a:srgbClr val="0000FF"/>
              </a:solidFill>
              <a:prstDash val="solid"/>
              <a:headEnd type="none" w="med" len="med"/>
              <a:tailEnd type="none" w="med" len="med"/>
            </a:ln>
          </p:spPr>
        </p:sp>
        <p:sp>
          <p:nvSpPr>
            <p:cNvPr id="41040" name="Arc 93"/>
            <p:cNvSpPr/>
            <p:nvPr/>
          </p:nvSpPr>
          <p:spPr>
            <a:xfrm>
              <a:off x="3111" y="1425"/>
              <a:ext cx="63" cy="79"/>
            </a:xfrm>
            <a:custGeom>
              <a:avLst/>
              <a:gdLst/>
              <a:ahLst/>
              <a:cxnLst>
                <a:cxn ang="0">
                  <a:pos x="0" y="0"/>
                </a:cxn>
                <a:cxn ang="0">
                  <a:pos x="0" y="0"/>
                </a:cxn>
                <a:cxn ang="0">
                  <a:pos x="0" y="0"/>
                </a:cxn>
              </a:cxnLst>
              <a:pathLst>
                <a:path w="21600" h="21600" fill="none">
                  <a:moveTo>
                    <a:pt x="0" y="21600"/>
                  </a:moveTo>
                  <a:cubicBezTo>
                    <a:pt x="0" y="9670"/>
                    <a:pt x="9670" y="0"/>
                    <a:pt x="21599" y="0"/>
                  </a:cubicBezTo>
                </a:path>
                <a:path w="21600" h="21600" stroke="0">
                  <a:moveTo>
                    <a:pt x="0" y="21600"/>
                  </a:moveTo>
                  <a:cubicBezTo>
                    <a:pt x="0" y="9670"/>
                    <a:pt x="9670" y="0"/>
                    <a:pt x="21599" y="0"/>
                  </a:cubicBezTo>
                  <a:lnTo>
                    <a:pt x="21600" y="21600"/>
                  </a:lnTo>
                  <a:lnTo>
                    <a:pt x="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1041" name="Arc 94"/>
            <p:cNvSpPr/>
            <p:nvPr/>
          </p:nvSpPr>
          <p:spPr>
            <a:xfrm>
              <a:off x="3111" y="2389"/>
              <a:ext cx="63" cy="92"/>
            </a:xfrm>
            <a:custGeom>
              <a:avLst/>
              <a:gdLst/>
              <a:ahLst/>
              <a:cxnLst>
                <a:cxn ang="0">
                  <a:pos x="0" y="0"/>
                </a:cxn>
                <a:cxn ang="0">
                  <a:pos x="0" y="0"/>
                </a:cxn>
                <a:cxn ang="0">
                  <a:pos x="0" y="0"/>
                </a:cxn>
              </a:cxnLst>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0" cap="flat" cmpd="sng">
              <a:solidFill>
                <a:srgbClr val="0000FF">
                  <a:alpha val="100000"/>
                </a:srgbClr>
              </a:solidFill>
              <a:prstDash val="solid"/>
              <a:round/>
              <a:headEnd type="none" w="med" len="med"/>
              <a:tailEnd type="none" w="med" len="med"/>
            </a:ln>
          </p:spPr>
          <p:txBody>
            <a:bodyPr/>
            <a:p>
              <a:endParaRPr lang="zh-CN" altLang="en-US"/>
            </a:p>
          </p:txBody>
        </p:sp>
        <p:sp>
          <p:nvSpPr>
            <p:cNvPr id="41042" name="Line 95"/>
            <p:cNvSpPr/>
            <p:nvPr/>
          </p:nvSpPr>
          <p:spPr>
            <a:xfrm flipV="1">
              <a:off x="3079" y="1892"/>
              <a:ext cx="32" cy="19"/>
            </a:xfrm>
            <a:prstGeom prst="line">
              <a:avLst/>
            </a:prstGeom>
            <a:ln w="0" cap="flat" cmpd="sng">
              <a:solidFill>
                <a:srgbClr val="0000FF"/>
              </a:solidFill>
              <a:prstDash val="solid"/>
              <a:headEnd type="none" w="med" len="med"/>
              <a:tailEnd type="none" w="med" len="med"/>
            </a:ln>
          </p:spPr>
        </p:sp>
        <p:sp>
          <p:nvSpPr>
            <p:cNvPr id="41043" name="Line 96"/>
            <p:cNvSpPr/>
            <p:nvPr/>
          </p:nvSpPr>
          <p:spPr>
            <a:xfrm>
              <a:off x="3079" y="1911"/>
              <a:ext cx="32" cy="13"/>
            </a:xfrm>
            <a:prstGeom prst="line">
              <a:avLst/>
            </a:prstGeom>
            <a:ln w="0" cap="flat" cmpd="sng">
              <a:solidFill>
                <a:srgbClr val="0000FF"/>
              </a:solidFill>
              <a:prstDash val="solid"/>
              <a:headEnd type="none" w="med" len="med"/>
              <a:tailEnd type="none" w="med" len="med"/>
            </a:ln>
          </p:spPr>
        </p:sp>
        <p:sp>
          <p:nvSpPr>
            <p:cNvPr id="41044" name="Rectangle 97"/>
            <p:cNvSpPr/>
            <p:nvPr/>
          </p:nvSpPr>
          <p:spPr>
            <a:xfrm>
              <a:off x="4603" y="1297"/>
              <a:ext cx="885" cy="184"/>
            </a:xfrm>
            <a:prstGeom prst="rect">
              <a:avLst/>
            </a:prstGeom>
            <a:noFill/>
            <a:ln w="9525">
              <a:noFill/>
            </a:ln>
          </p:spPr>
          <p:txBody>
            <a:bodyPr wrap="none" lIns="0" tIns="0" rIns="0" bIns="0">
              <a:spAutoFit/>
            </a:bodyPr>
            <a:p>
              <a:pPr eaLnBrk="1" hangingPunct="1">
                <a:lnSpc>
                  <a:spcPct val="90000"/>
                </a:lnSpc>
              </a:pPr>
              <a:r>
                <a:rPr lang="zh-CN" altLang="en-US" sz="2200" dirty="0">
                  <a:solidFill>
                    <a:srgbClr val="FF0000"/>
                  </a:solidFill>
                  <a:latin typeface="楷体_GB2312" pitchFamily="49" charset="-122"/>
                </a:rPr>
                <a:t>漏电流电路</a:t>
              </a:r>
              <a:endParaRPr lang="zh-CN" altLang="en-US" dirty="0">
                <a:solidFill>
                  <a:srgbClr val="FF0000"/>
                </a:solidFill>
                <a:latin typeface="Times New Roman" panose="02020603050405020304" pitchFamily="18" charset="0"/>
              </a:endParaRPr>
            </a:p>
          </p:txBody>
        </p:sp>
      </p:grpSp>
      <p:sp>
        <p:nvSpPr>
          <p:cNvPr id="2407522" name="Text Box 98"/>
          <p:cNvSpPr txBox="1"/>
          <p:nvPr/>
        </p:nvSpPr>
        <p:spPr>
          <a:xfrm>
            <a:off x="238125" y="3355975"/>
            <a:ext cx="3578225" cy="519113"/>
          </a:xfrm>
          <a:prstGeom prst="rect">
            <a:avLst/>
          </a:prstGeom>
          <a:noFill/>
          <a:ln w="9525">
            <a:noFill/>
          </a:ln>
        </p:spPr>
        <p:txBody>
          <a:bodyPr wrap="none">
            <a:spAutoFit/>
          </a:bodyPr>
          <a:p>
            <a:pPr eaLnBrk="1" hangingPunct="1"/>
            <a:r>
              <a:rPr lang="zh-CN" altLang="en-US" sz="2800" dirty="0">
                <a:latin typeface="楷体_GB2312" pitchFamily="49" charset="-122"/>
              </a:rPr>
              <a:t>输出端的误差电压： </a:t>
            </a:r>
            <a:endParaRPr lang="zh-CN" altLang="en-US" sz="2800" dirty="0">
              <a:latin typeface="楷体_GB2312" pitchFamily="49" charset="-122"/>
            </a:endParaRPr>
          </a:p>
        </p:txBody>
      </p:sp>
      <p:sp>
        <p:nvSpPr>
          <p:cNvPr id="2407523" name="Text Box 99"/>
          <p:cNvSpPr txBox="1"/>
          <p:nvPr/>
        </p:nvSpPr>
        <p:spPr>
          <a:xfrm>
            <a:off x="247650" y="2047875"/>
            <a:ext cx="2327275" cy="519113"/>
          </a:xfrm>
          <a:prstGeom prst="rect">
            <a:avLst/>
          </a:prstGeom>
          <a:noFill/>
          <a:ln w="9525">
            <a:noFill/>
          </a:ln>
        </p:spPr>
        <p:txBody>
          <a:bodyPr wrap="none">
            <a:spAutoFit/>
          </a:bodyPr>
          <a:p>
            <a:pPr eaLnBrk="1" hangingPunct="1"/>
            <a:r>
              <a:rPr lang="zh-CN" altLang="en-US" sz="2800" dirty="0">
                <a:latin typeface="楷体_GB2312" pitchFamily="49" charset="-122"/>
              </a:rPr>
              <a:t>一般情况下：</a:t>
            </a:r>
            <a:endParaRPr lang="zh-CN" altLang="en-US" sz="2800" dirty="0">
              <a:latin typeface="楷体_GB2312" pitchFamily="49" charset="-122"/>
            </a:endParaRPr>
          </a:p>
        </p:txBody>
      </p:sp>
      <p:graphicFrame>
        <p:nvGraphicFramePr>
          <p:cNvPr id="2407525" name="Object 101"/>
          <p:cNvGraphicFramePr>
            <a:graphicFrameLocks noChangeAspect="1"/>
          </p:cNvGraphicFramePr>
          <p:nvPr/>
        </p:nvGraphicFramePr>
        <p:xfrm>
          <a:off x="325438" y="3941763"/>
          <a:ext cx="3770312" cy="563562"/>
        </p:xfrm>
        <a:graphic>
          <a:graphicData uri="http://schemas.openxmlformats.org/presentationml/2006/ole">
            <mc:AlternateContent xmlns:mc="http://schemas.openxmlformats.org/markup-compatibility/2006">
              <mc:Choice xmlns:v="urn:schemas-microsoft-com:vml" Requires="v">
                <p:oleObj spid="_x0000_s3076" name="" r:id="rId1" imgW="1600200" imgH="228600" progId="Equation.3">
                  <p:embed/>
                </p:oleObj>
              </mc:Choice>
              <mc:Fallback>
                <p:oleObj name="" r:id="rId1" imgW="1600200" imgH="228600" progId="Equation.3">
                  <p:embed/>
                  <p:pic>
                    <p:nvPicPr>
                      <p:cNvPr id="0" name="图片 3075"/>
                      <p:cNvPicPr/>
                      <p:nvPr/>
                    </p:nvPicPr>
                    <p:blipFill>
                      <a:blip r:embed="rId2"/>
                      <a:stretch>
                        <a:fillRect/>
                      </a:stretch>
                    </p:blipFill>
                    <p:spPr>
                      <a:xfrm>
                        <a:off x="325438" y="3941763"/>
                        <a:ext cx="3770312" cy="563562"/>
                      </a:xfrm>
                      <a:prstGeom prst="rect">
                        <a:avLst/>
                      </a:prstGeom>
                      <a:solidFill>
                        <a:srgbClr val="CCFFFF"/>
                      </a:solidFill>
                      <a:ln w="38100">
                        <a:noFill/>
                        <a:miter/>
                      </a:ln>
                    </p:spPr>
                  </p:pic>
                </p:oleObj>
              </mc:Fallback>
            </mc:AlternateContent>
          </a:graphicData>
        </a:graphic>
      </p:graphicFrame>
      <p:graphicFrame>
        <p:nvGraphicFramePr>
          <p:cNvPr id="2407526" name="Object 102"/>
          <p:cNvGraphicFramePr>
            <a:graphicFrameLocks noChangeAspect="1"/>
          </p:cNvGraphicFramePr>
          <p:nvPr/>
        </p:nvGraphicFramePr>
        <p:xfrm>
          <a:off x="1093788" y="2662238"/>
          <a:ext cx="2303462" cy="563562"/>
        </p:xfrm>
        <a:graphic>
          <a:graphicData uri="http://schemas.openxmlformats.org/presentationml/2006/ole">
            <mc:AlternateContent xmlns:mc="http://schemas.openxmlformats.org/markup-compatibility/2006">
              <mc:Choice xmlns:v="urn:schemas-microsoft-com:vml" Requires="v">
                <p:oleObj spid="_x0000_s3078" name="" r:id="rId3" imgW="977900" imgH="228600" progId="Equation.3">
                  <p:embed/>
                </p:oleObj>
              </mc:Choice>
              <mc:Fallback>
                <p:oleObj name="" r:id="rId3" imgW="977900" imgH="228600" progId="Equation.3">
                  <p:embed/>
                  <p:pic>
                    <p:nvPicPr>
                      <p:cNvPr id="0" name="图片 3077"/>
                      <p:cNvPicPr/>
                      <p:nvPr/>
                    </p:nvPicPr>
                    <p:blipFill>
                      <a:blip r:embed="rId4"/>
                      <a:stretch>
                        <a:fillRect/>
                      </a:stretch>
                    </p:blipFill>
                    <p:spPr>
                      <a:xfrm>
                        <a:off x="1093788" y="2662238"/>
                        <a:ext cx="2303462" cy="563562"/>
                      </a:xfrm>
                      <a:prstGeom prst="rect">
                        <a:avLst/>
                      </a:prstGeom>
                      <a:solidFill>
                        <a:srgbClr val="CCFFFF"/>
                      </a:solidFill>
                      <a:ln w="38100">
                        <a:noFill/>
                        <a:miter/>
                      </a:ln>
                    </p:spPr>
                  </p:pic>
                </p:oleObj>
              </mc:Fallback>
            </mc:AlternateContent>
          </a:graphicData>
        </a:graphic>
      </p:graphicFrame>
      <p:sp>
        <p:nvSpPr>
          <p:cNvPr id="2407527" name="Text Box 103"/>
          <p:cNvSpPr txBox="1"/>
          <p:nvPr/>
        </p:nvSpPr>
        <p:spPr>
          <a:xfrm>
            <a:off x="247650" y="4552950"/>
            <a:ext cx="3851275" cy="1552575"/>
          </a:xfrm>
          <a:prstGeom prst="rect">
            <a:avLst/>
          </a:prstGeom>
          <a:noFill/>
          <a:ln w="9525">
            <a:noFill/>
          </a:ln>
        </p:spPr>
        <p:txBody>
          <a:bodyPr>
            <a:spAutoFit/>
          </a:bodyPr>
          <a:p>
            <a:pPr eaLnBrk="1" hangingPunct="1"/>
            <a:r>
              <a:rPr lang="zh-CN" altLang="en-US" sz="2400" dirty="0">
                <a:latin typeface="楷体_GB2312" pitchFamily="49" charset="-122"/>
              </a:rPr>
              <a:t>式中 </a:t>
            </a:r>
            <a:endParaRPr lang="zh-CN" altLang="en-US" sz="2400" dirty="0">
              <a:latin typeface="楷体_GB2312" pitchFamily="49" charset="-122"/>
            </a:endParaRPr>
          </a:p>
          <a:p>
            <a:pPr eaLnBrk="1" hangingPunct="1"/>
            <a:r>
              <a:rPr lang="zh-CN" altLang="en-US" sz="2400" dirty="0">
                <a:latin typeface="楷体_GB2312" pitchFamily="49" charset="-122"/>
              </a:rPr>
              <a:t>  </a:t>
            </a:r>
            <a:r>
              <a:rPr lang="en-US" altLang="zh-CN" sz="2400" i="1" dirty="0">
                <a:solidFill>
                  <a:srgbClr val="FF0000"/>
                </a:solidFill>
                <a:latin typeface="Times New Roman" panose="02020603050405020304" pitchFamily="18" charset="0"/>
              </a:rPr>
              <a:t>n</a:t>
            </a:r>
            <a:r>
              <a:rPr lang="zh-CN" altLang="en-US" sz="2400" dirty="0">
                <a:latin typeface="Times New Roman" panose="02020603050405020304" pitchFamily="18" charset="0"/>
              </a:rPr>
              <a:t>：</a:t>
            </a:r>
            <a:r>
              <a:rPr lang="zh-CN" altLang="en-US" sz="2400" dirty="0">
                <a:latin typeface="楷体_GB2312" pitchFamily="49" charset="-122"/>
              </a:rPr>
              <a:t>并联的模拟开关数；</a:t>
            </a:r>
            <a:endParaRPr lang="zh-CN" altLang="en-US" sz="2400" dirty="0">
              <a:latin typeface="楷体_GB2312" pitchFamily="49" charset="-122"/>
            </a:endParaRPr>
          </a:p>
          <a:p>
            <a:pPr eaLnBrk="1" hangingPunct="1"/>
            <a:r>
              <a:rPr lang="zh-CN" altLang="en-US" sz="1800" dirty="0">
                <a:latin typeface="楷体_GB2312" pitchFamily="49" charset="-122"/>
              </a:rPr>
              <a:t>  </a:t>
            </a:r>
            <a:r>
              <a:rPr lang="en-US" altLang="zh-CN" sz="2400" i="1" dirty="0">
                <a:solidFill>
                  <a:srgbClr val="FF0000"/>
                </a:solidFill>
                <a:latin typeface="Times New Roman" panose="02020603050405020304" pitchFamily="18" charset="0"/>
              </a:rPr>
              <a:t>I</a:t>
            </a:r>
            <a:r>
              <a:rPr lang="en-US" altLang="zh-CN" sz="2400" i="1" baseline="-25000" dirty="0">
                <a:solidFill>
                  <a:srgbClr val="FF0000"/>
                </a:solidFill>
                <a:latin typeface="Times New Roman" panose="02020603050405020304" pitchFamily="18" charset="0"/>
              </a:rPr>
              <a:t>S</a:t>
            </a:r>
            <a:r>
              <a:rPr lang="zh-CN" altLang="en-US" sz="2400" dirty="0">
                <a:latin typeface="Times New Roman" panose="02020603050405020304" pitchFamily="18" charset="0"/>
              </a:rPr>
              <a:t>：</a:t>
            </a:r>
            <a:r>
              <a:rPr lang="zh-CN" altLang="en-US" sz="2400" dirty="0">
                <a:latin typeface="楷体_GB2312" pitchFamily="49" charset="-122"/>
              </a:rPr>
              <a:t>单个开关断开时的漏</a:t>
            </a:r>
            <a:endParaRPr lang="zh-CN" altLang="en-US" sz="2400" dirty="0">
              <a:latin typeface="楷体_GB2312" pitchFamily="49" charset="-122"/>
            </a:endParaRPr>
          </a:p>
          <a:p>
            <a:pPr eaLnBrk="1" hangingPunct="1"/>
            <a:r>
              <a:rPr lang="zh-CN" altLang="en-US" sz="2400" dirty="0">
                <a:latin typeface="楷体_GB2312" pitchFamily="49" charset="-122"/>
              </a:rPr>
              <a:t>     电流。</a:t>
            </a:r>
            <a:endParaRPr lang="zh-CN" altLang="en-US" sz="2400" dirty="0">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7523"/>
                                        </p:tgtEl>
                                        <p:attrNameLst>
                                          <p:attrName>style.visibility</p:attrName>
                                        </p:attrNameLst>
                                      </p:cBhvr>
                                      <p:to>
                                        <p:strVal val="visible"/>
                                      </p:to>
                                    </p:set>
                                    <p:animEffect transition="in" filter="dissolve">
                                      <p:cBhvr>
                                        <p:cTn id="7" dur="500"/>
                                        <p:tgtEl>
                                          <p:spTgt spid="2407523"/>
                                        </p:tgtEl>
                                      </p:cBhvr>
                                    </p:animEffect>
                                  </p:childTnLst>
                                </p:cTn>
                              </p:par>
                              <p:par>
                                <p:cTn id="8" presetID="9" presetClass="entr" presetSubtype="0" fill="hold" nodeType="withEffect">
                                  <p:stCondLst>
                                    <p:cond delay="0"/>
                                  </p:stCondLst>
                                  <p:childTnLst>
                                    <p:set>
                                      <p:cBhvr>
                                        <p:cTn id="9" dur="1" fill="hold">
                                          <p:stCondLst>
                                            <p:cond delay="0"/>
                                          </p:stCondLst>
                                        </p:cTn>
                                        <p:tgtEl>
                                          <p:spTgt spid="2407526"/>
                                        </p:tgtEl>
                                        <p:attrNameLst>
                                          <p:attrName>style.visibility</p:attrName>
                                        </p:attrNameLst>
                                      </p:cBhvr>
                                      <p:to>
                                        <p:strVal val="visible"/>
                                      </p:to>
                                    </p:set>
                                    <p:animEffect transition="in" filter="dissolve">
                                      <p:cBhvr>
                                        <p:cTn id="10" dur="500"/>
                                        <p:tgtEl>
                                          <p:spTgt spid="24075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07522"/>
                                        </p:tgtEl>
                                        <p:attrNameLst>
                                          <p:attrName>style.visibility</p:attrName>
                                        </p:attrNameLst>
                                      </p:cBhvr>
                                      <p:to>
                                        <p:strVal val="visible"/>
                                      </p:to>
                                    </p:set>
                                    <p:animEffect transition="in" filter="dissolve">
                                      <p:cBhvr>
                                        <p:cTn id="15" dur="500"/>
                                        <p:tgtEl>
                                          <p:spTgt spid="2407522"/>
                                        </p:tgtEl>
                                      </p:cBhvr>
                                    </p:animEffect>
                                  </p:childTnLst>
                                </p:cTn>
                              </p:par>
                              <p:par>
                                <p:cTn id="16" presetID="9" presetClass="entr" presetSubtype="0" fill="hold" nodeType="withEffect">
                                  <p:stCondLst>
                                    <p:cond delay="0"/>
                                  </p:stCondLst>
                                  <p:childTnLst>
                                    <p:set>
                                      <p:cBhvr>
                                        <p:cTn id="17" dur="1" fill="hold">
                                          <p:stCondLst>
                                            <p:cond delay="0"/>
                                          </p:stCondLst>
                                        </p:cTn>
                                        <p:tgtEl>
                                          <p:spTgt spid="2407525"/>
                                        </p:tgtEl>
                                        <p:attrNameLst>
                                          <p:attrName>style.visibility</p:attrName>
                                        </p:attrNameLst>
                                      </p:cBhvr>
                                      <p:to>
                                        <p:strVal val="visible"/>
                                      </p:to>
                                    </p:set>
                                    <p:animEffect transition="in" filter="dissolve">
                                      <p:cBhvr>
                                        <p:cTn id="18" dur="500"/>
                                        <p:tgtEl>
                                          <p:spTgt spid="2407525"/>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407527"/>
                                        </p:tgtEl>
                                        <p:attrNameLst>
                                          <p:attrName>style.visibility</p:attrName>
                                        </p:attrNameLst>
                                      </p:cBhvr>
                                      <p:to>
                                        <p:strVal val="visible"/>
                                      </p:to>
                                    </p:set>
                                    <p:animEffect transition="in" filter="dissolve">
                                      <p:cBhvr>
                                        <p:cTn id="23" dur="500"/>
                                        <p:tgtEl>
                                          <p:spTgt spid="24075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7522" grpId="0"/>
      <p:bldP spid="2407523" grpId="0"/>
      <p:bldP spid="2407527"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9857" name="Rectangle 1041"/>
          <p:cNvSpPr/>
          <p:nvPr/>
        </p:nvSpPr>
        <p:spPr>
          <a:xfrm>
            <a:off x="561975" y="4457700"/>
            <a:ext cx="7924800" cy="1495425"/>
          </a:xfrm>
          <a:prstGeom prst="rect">
            <a:avLst/>
          </a:prstGeom>
          <a:solidFill>
            <a:srgbClr val="FFCC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339850" name="Text Box 1034"/>
          <p:cNvSpPr txBox="1"/>
          <p:nvPr/>
        </p:nvSpPr>
        <p:spPr>
          <a:xfrm>
            <a:off x="468313" y="1468438"/>
            <a:ext cx="8313737" cy="1800225"/>
          </a:xfrm>
          <a:prstGeom prst="rect">
            <a:avLst/>
          </a:prstGeom>
          <a:noFill/>
          <a:ln w="9525">
            <a:noFill/>
          </a:ln>
        </p:spPr>
        <p:txBody>
          <a:bodyPr>
            <a:spAutoFit/>
          </a:bodyPr>
          <a:p>
            <a:pPr eaLnBrk="1" hangingPunct="1"/>
            <a:r>
              <a:rPr lang="zh-CN" altLang="en-US" sz="2800" dirty="0">
                <a:latin typeface="Times New Roman" panose="02020603050405020304" pitchFamily="18" charset="0"/>
              </a:rPr>
              <a:t>如用两个</a:t>
            </a:r>
            <a:r>
              <a:rPr lang="en-US" altLang="zh-CN" sz="2800" dirty="0">
                <a:latin typeface="Times New Roman" panose="02020603050405020304" pitchFamily="18" charset="0"/>
                <a:ea typeface="宋体" panose="02010600030101010101" pitchFamily="2" charset="-122"/>
              </a:rPr>
              <a:t>AD7503</a:t>
            </a:r>
            <a:r>
              <a:rPr lang="zh-CN" altLang="en-US" sz="2800" dirty="0">
                <a:latin typeface="Times New Roman" panose="02020603050405020304" pitchFamily="18" charset="0"/>
              </a:rPr>
              <a:t>构成</a:t>
            </a:r>
            <a:r>
              <a:rPr lang="en-US" altLang="zh-CN" sz="2800" dirty="0">
                <a:latin typeface="Times New Roman" panose="02020603050405020304" pitchFamily="18" charset="0"/>
                <a:ea typeface="宋体" panose="02010600030101010101" pitchFamily="2" charset="-122"/>
              </a:rPr>
              <a:t>16</a:t>
            </a:r>
            <a:r>
              <a:rPr lang="zh-CN" altLang="en-US" sz="2800" dirty="0">
                <a:latin typeface="Times New Roman" panose="02020603050405020304" pitchFamily="18" charset="0"/>
              </a:rPr>
              <a:t>路输入通道。</a:t>
            </a:r>
            <a:r>
              <a:rPr lang="en-US" altLang="zh-CN" sz="2800" dirty="0">
                <a:latin typeface="Times New Roman" panose="02020603050405020304" pitchFamily="18" charset="0"/>
                <a:ea typeface="宋体" panose="02010600030101010101" pitchFamily="2" charset="-122"/>
              </a:rPr>
              <a:t>AD7503</a:t>
            </a:r>
            <a:r>
              <a:rPr lang="zh-CN" altLang="en-US" sz="2800" dirty="0">
                <a:latin typeface="Times New Roman" panose="02020603050405020304" pitchFamily="18" charset="0"/>
              </a:rPr>
              <a:t>每个通道断开时的漏电流</a:t>
            </a:r>
            <a:r>
              <a:rPr lang="en-US" altLang="zh-CN" sz="2800" i="1" dirty="0">
                <a:solidFill>
                  <a:srgbClr val="CC00CC"/>
                </a:solidFill>
                <a:latin typeface="Times New Roman" panose="02020603050405020304" pitchFamily="18" charset="0"/>
                <a:ea typeface="宋体" panose="02010600030101010101" pitchFamily="2" charset="-122"/>
              </a:rPr>
              <a:t>I</a:t>
            </a:r>
            <a:r>
              <a:rPr lang="en-US" altLang="zh-CN" sz="2800" i="1" baseline="-25000" dirty="0">
                <a:solidFill>
                  <a:srgbClr val="CC00CC"/>
                </a:solidFill>
                <a:latin typeface="Times New Roman" panose="02020603050405020304" pitchFamily="18" charset="0"/>
                <a:ea typeface="宋体" panose="02010600030101010101" pitchFamily="2" charset="-122"/>
              </a:rPr>
              <a:t>S</a:t>
            </a:r>
            <a:r>
              <a:rPr lang="en-US" altLang="zh-CN" sz="2800" dirty="0">
                <a:solidFill>
                  <a:srgbClr val="CC00CC"/>
                </a:solidFill>
                <a:latin typeface="Times New Roman" panose="02020603050405020304" pitchFamily="18" charset="0"/>
                <a:ea typeface="宋体" panose="02010600030101010101" pitchFamily="2" charset="-122"/>
              </a:rPr>
              <a:t>=2</a:t>
            </a:r>
            <a:r>
              <a:rPr lang="en-US" altLang="zh-CN" sz="2800" i="1" dirty="0">
                <a:solidFill>
                  <a:srgbClr val="CC00CC"/>
                </a:solidFill>
                <a:latin typeface="Times New Roman" panose="02020603050405020304" pitchFamily="18" charset="0"/>
                <a:ea typeface="宋体" panose="02010600030101010101" pitchFamily="2" charset="-122"/>
              </a:rPr>
              <a:t>n</a:t>
            </a:r>
            <a:r>
              <a:rPr lang="en-US" altLang="zh-CN" sz="2800" dirty="0">
                <a:solidFill>
                  <a:srgbClr val="CC00CC"/>
                </a:solidFill>
                <a:latin typeface="Times New Roman" panose="02020603050405020304" pitchFamily="18" charset="0"/>
                <a:ea typeface="宋体" panose="02010600030101010101" pitchFamily="2" charset="-122"/>
              </a:rPr>
              <a:t>A</a:t>
            </a:r>
            <a:r>
              <a:rPr lang="zh-CN" altLang="en-US" sz="2800" dirty="0">
                <a:latin typeface="Times New Roman" panose="02020603050405020304" pitchFamily="18" charset="0"/>
                <a:ea typeface="宋体" panose="02010600030101010101" pitchFamily="2" charset="-122"/>
              </a:rPr>
              <a:t>（</a:t>
            </a:r>
            <a:r>
              <a:rPr lang="en-US" altLang="zh-CN" sz="2800" dirty="0">
                <a:latin typeface="Times New Roman" panose="02020603050405020304" pitchFamily="18" charset="0"/>
                <a:ea typeface="宋体" panose="02010600030101010101" pitchFamily="2" charset="-122"/>
              </a:rPr>
              <a:t>25℃</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其导通电阻</a:t>
            </a:r>
            <a:r>
              <a:rPr lang="en-US" altLang="zh-CN" sz="2800" i="1" dirty="0">
                <a:solidFill>
                  <a:srgbClr val="CC00CC"/>
                </a:solidFill>
                <a:latin typeface="Times New Roman" panose="02020603050405020304" pitchFamily="18" charset="0"/>
                <a:ea typeface="宋体" panose="02010600030101010101" pitchFamily="2" charset="-122"/>
              </a:rPr>
              <a:t>R</a:t>
            </a:r>
            <a:r>
              <a:rPr lang="en-US" altLang="zh-CN" sz="2800" i="1" baseline="-25000" dirty="0">
                <a:solidFill>
                  <a:srgbClr val="CC00CC"/>
                </a:solidFill>
                <a:latin typeface="Times New Roman" panose="02020603050405020304" pitchFamily="18" charset="0"/>
                <a:ea typeface="宋体" panose="02010600030101010101" pitchFamily="2" charset="-122"/>
              </a:rPr>
              <a:t>ON</a:t>
            </a:r>
            <a:r>
              <a:rPr lang="en-US" altLang="zh-CN" sz="2800" dirty="0">
                <a:solidFill>
                  <a:srgbClr val="CC00CC"/>
                </a:solidFill>
                <a:latin typeface="Times New Roman" panose="02020603050405020304" pitchFamily="18" charset="0"/>
                <a:ea typeface="宋体" panose="02010600030101010101" pitchFamily="2" charset="-122"/>
              </a:rPr>
              <a:t>=300Ω</a:t>
            </a:r>
            <a:r>
              <a:rPr lang="zh-CN" altLang="en-US" sz="2800" dirty="0">
                <a:latin typeface="Times New Roman" panose="02020603050405020304" pitchFamily="18" charset="0"/>
                <a:ea typeface="宋体" panose="02010600030101010101" pitchFamily="2" charset="-122"/>
              </a:rPr>
              <a:t>，</a:t>
            </a:r>
            <a:r>
              <a:rPr lang="zh-CN" altLang="en-US" sz="2800" dirty="0">
                <a:latin typeface="楷体_GB2312" pitchFamily="49" charset="-122"/>
              </a:rPr>
              <a:t>设</a:t>
            </a:r>
            <a:r>
              <a:rPr lang="en-US" altLang="zh-CN" sz="2800" i="1" dirty="0">
                <a:solidFill>
                  <a:srgbClr val="CC00CC"/>
                </a:solidFill>
                <a:latin typeface="Times New Roman" panose="02020603050405020304" pitchFamily="18" charset="0"/>
                <a:ea typeface="宋体" panose="02010600030101010101" pitchFamily="2" charset="-122"/>
              </a:rPr>
              <a:t>R</a:t>
            </a:r>
            <a:r>
              <a:rPr lang="en-US" altLang="zh-CN" sz="2800" i="1" baseline="-25000" dirty="0">
                <a:solidFill>
                  <a:srgbClr val="CC00CC"/>
                </a:solidFill>
                <a:latin typeface="Times New Roman" panose="02020603050405020304" pitchFamily="18" charset="0"/>
                <a:ea typeface="宋体" panose="02010600030101010101" pitchFamily="2" charset="-122"/>
              </a:rPr>
              <a:t>S</a:t>
            </a:r>
            <a:r>
              <a:rPr lang="en-US" altLang="zh-CN" sz="2800" dirty="0">
                <a:solidFill>
                  <a:srgbClr val="CC00CC"/>
                </a:solidFill>
                <a:latin typeface="Times New Roman" panose="02020603050405020304" pitchFamily="18" charset="0"/>
                <a:ea typeface="宋体" panose="02010600030101010101" pitchFamily="2" charset="-122"/>
              </a:rPr>
              <a:t>=1000Ω</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则可以算出漏电流引起的输出误差电压为：</a:t>
            </a:r>
            <a:endParaRPr lang="zh-CN" altLang="en-US" sz="2800" dirty="0">
              <a:latin typeface="Times New Roman" panose="02020603050405020304" pitchFamily="18" charset="0"/>
            </a:endParaRPr>
          </a:p>
        </p:txBody>
      </p:sp>
      <p:sp>
        <p:nvSpPr>
          <p:cNvPr id="41988" name="Text Box 1035"/>
          <p:cNvSpPr txBox="1"/>
          <p:nvPr/>
        </p:nvSpPr>
        <p:spPr>
          <a:xfrm>
            <a:off x="415925" y="646113"/>
            <a:ext cx="25654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漏电流</a:t>
            </a:r>
            <a:endParaRPr lang="zh-CN" altLang="en-US" dirty="0">
              <a:latin typeface="Times New Roman" panose="02020603050405020304" pitchFamily="18" charset="0"/>
            </a:endParaRPr>
          </a:p>
        </p:txBody>
      </p:sp>
      <p:sp>
        <p:nvSpPr>
          <p:cNvPr id="2339852" name="Text Box 1036"/>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39853" name="Text Box 1037"/>
          <p:cNvSpPr txBox="1"/>
          <p:nvPr/>
        </p:nvSpPr>
        <p:spPr>
          <a:xfrm>
            <a:off x="4524375" y="723900"/>
            <a:ext cx="1590675"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例子：</a:t>
            </a:r>
            <a:endParaRPr lang="zh-CN" altLang="en-US" dirty="0">
              <a:solidFill>
                <a:schemeClr val="tx1"/>
              </a:solidFill>
              <a:latin typeface="Times New Roman" panose="02020603050405020304" pitchFamily="18" charset="0"/>
              <a:ea typeface="黑体" panose="02010609060101010101" pitchFamily="49" charset="-122"/>
            </a:endParaRPr>
          </a:p>
        </p:txBody>
      </p:sp>
      <p:graphicFrame>
        <p:nvGraphicFramePr>
          <p:cNvPr id="2339854" name="Object 1038"/>
          <p:cNvGraphicFramePr>
            <a:graphicFrameLocks noChangeAspect="1"/>
          </p:cNvGraphicFramePr>
          <p:nvPr/>
        </p:nvGraphicFramePr>
        <p:xfrm>
          <a:off x="660400" y="3416300"/>
          <a:ext cx="7805738" cy="714375"/>
        </p:xfrm>
        <a:graphic>
          <a:graphicData uri="http://schemas.openxmlformats.org/presentationml/2006/ole">
            <mc:AlternateContent xmlns:mc="http://schemas.openxmlformats.org/markup-compatibility/2006">
              <mc:Choice xmlns:v="urn:schemas-microsoft-com:vml" Requires="v">
                <p:oleObj spid="_x0000_s3077" name="" r:id="rId1" imgW="3073400" imgH="241300" progId="Equation.3">
                  <p:embed/>
                </p:oleObj>
              </mc:Choice>
              <mc:Fallback>
                <p:oleObj name="" r:id="rId1" imgW="3073400" imgH="241300" progId="Equation.3">
                  <p:embed/>
                  <p:pic>
                    <p:nvPicPr>
                      <p:cNvPr id="0" name="图片 3076"/>
                      <p:cNvPicPr/>
                      <p:nvPr/>
                    </p:nvPicPr>
                    <p:blipFill>
                      <a:blip r:embed="rId2"/>
                      <a:stretch>
                        <a:fillRect/>
                      </a:stretch>
                    </p:blipFill>
                    <p:spPr>
                      <a:xfrm>
                        <a:off x="660400" y="3416300"/>
                        <a:ext cx="7805738" cy="714375"/>
                      </a:xfrm>
                      <a:prstGeom prst="rect">
                        <a:avLst/>
                      </a:prstGeom>
                      <a:solidFill>
                        <a:srgbClr val="CCFFCC"/>
                      </a:solidFill>
                      <a:ln w="38100">
                        <a:noFill/>
                        <a:miter/>
                      </a:ln>
                    </p:spPr>
                  </p:pic>
                </p:oleObj>
              </mc:Fallback>
            </mc:AlternateContent>
          </a:graphicData>
        </a:graphic>
      </p:graphicFrame>
      <p:sp>
        <p:nvSpPr>
          <p:cNvPr id="2339855" name="Text Box 1039"/>
          <p:cNvSpPr txBox="1"/>
          <p:nvPr/>
        </p:nvSpPr>
        <p:spPr>
          <a:xfrm>
            <a:off x="1776413" y="4508500"/>
            <a:ext cx="6948487" cy="1373188"/>
          </a:xfrm>
          <a:prstGeom prst="rect">
            <a:avLst/>
          </a:prstGeom>
          <a:no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设该系统的满量程输入电压为</a:t>
            </a:r>
            <a:r>
              <a:rPr lang="en-US" altLang="zh-CN" sz="2800" dirty="0">
                <a:solidFill>
                  <a:srgbClr val="CC00CC"/>
                </a:solidFill>
                <a:latin typeface="Times New Roman" panose="02020603050405020304" pitchFamily="18" charset="0"/>
                <a:ea typeface="黑体" panose="02010609060101010101" pitchFamily="49" charset="-122"/>
              </a:rPr>
              <a:t>100mV</a:t>
            </a:r>
            <a:r>
              <a:rPr lang="zh-CN" altLang="en-US" sz="2800" dirty="0">
                <a:latin typeface="黑体" panose="02010609060101010101" pitchFamily="49" charset="-122"/>
                <a:ea typeface="黑体" panose="02010609060101010101" pitchFamily="49" charset="-122"/>
              </a:rPr>
              <a:t>，采用</a:t>
            </a:r>
            <a:r>
              <a:rPr lang="en-US" altLang="zh-CN" sz="2800" dirty="0">
                <a:latin typeface="黑体" panose="02010609060101010101" pitchFamily="49" charset="-122"/>
                <a:ea typeface="黑体" panose="02010609060101010101" pitchFamily="49" charset="-122"/>
              </a:rPr>
              <a:t>12</a:t>
            </a:r>
            <a:r>
              <a:rPr lang="zh-CN" altLang="en-US" sz="2800" dirty="0">
                <a:latin typeface="黑体" panose="02010609060101010101" pitchFamily="49" charset="-122"/>
                <a:ea typeface="黑体" panose="02010609060101010101" pitchFamily="49" charset="-122"/>
              </a:rPr>
              <a:t>位</a:t>
            </a:r>
            <a:r>
              <a:rPr lang="en-US" altLang="zh-CN" sz="2800" dirty="0">
                <a:latin typeface="黑体" panose="02010609060101010101" pitchFamily="49" charset="-122"/>
                <a:ea typeface="黑体" panose="02010609060101010101" pitchFamily="49" charset="-122"/>
              </a:rPr>
              <a:t>A/D</a:t>
            </a:r>
            <a:r>
              <a:rPr lang="zh-CN" altLang="en-US" sz="2800" dirty="0">
                <a:latin typeface="黑体" panose="02010609060101010101" pitchFamily="49" charset="-122"/>
                <a:ea typeface="黑体" panose="02010609060101010101" pitchFamily="49" charset="-122"/>
              </a:rPr>
              <a:t>转换器，每个量化级是</a:t>
            </a:r>
            <a:r>
              <a:rPr lang="en-US" altLang="zh-CN" sz="2800" dirty="0">
                <a:solidFill>
                  <a:srgbClr val="CC00CC"/>
                </a:solidFill>
                <a:latin typeface="Times New Roman" panose="02020603050405020304" pitchFamily="18" charset="0"/>
                <a:ea typeface="黑体" panose="02010609060101010101" pitchFamily="49" charset="-122"/>
              </a:rPr>
              <a:t>24.4</a:t>
            </a:r>
            <a:r>
              <a:rPr lang="en-US" altLang="zh-CN" sz="2800" i="1" dirty="0">
                <a:solidFill>
                  <a:srgbClr val="CC00CC"/>
                </a:solidFill>
                <a:latin typeface="Times New Roman" panose="02020603050405020304" pitchFamily="18" charset="0"/>
                <a:ea typeface="黑体" panose="02010609060101010101" pitchFamily="49" charset="-122"/>
                <a:sym typeface="Symbol" panose="05050102010706020507" pitchFamily="18" charset="2"/>
              </a:rPr>
              <a:t></a:t>
            </a:r>
            <a:r>
              <a:rPr lang="en-US" altLang="zh-CN" sz="2800" dirty="0">
                <a:solidFill>
                  <a:srgbClr val="CC00CC"/>
                </a:solidFill>
                <a:latin typeface="Times New Roman" panose="02020603050405020304" pitchFamily="18" charset="0"/>
                <a:ea typeface="黑体" panose="02010609060101010101" pitchFamily="49" charset="-122"/>
              </a:rPr>
              <a:t>V</a:t>
            </a:r>
            <a:r>
              <a:rPr lang="zh-CN" altLang="en-US" sz="2800" dirty="0">
                <a:latin typeface="黑体" panose="02010609060101010101" pitchFamily="49" charset="-122"/>
                <a:ea typeface="黑体" panose="02010609060101010101" pitchFamily="49" charset="-122"/>
              </a:rPr>
              <a:t>，则误差电压大于系统的量化单位。</a:t>
            </a:r>
            <a:endParaRPr lang="zh-CN" altLang="en-US" sz="2800" dirty="0">
              <a:latin typeface="黑体" panose="02010609060101010101" pitchFamily="49" charset="-122"/>
              <a:ea typeface="黑体" panose="02010609060101010101" pitchFamily="49" charset="-122"/>
            </a:endParaRPr>
          </a:p>
        </p:txBody>
      </p:sp>
      <p:sp>
        <p:nvSpPr>
          <p:cNvPr id="2339856" name="Text Box 1040"/>
          <p:cNvSpPr txBox="1"/>
          <p:nvPr/>
        </p:nvSpPr>
        <p:spPr>
          <a:xfrm>
            <a:off x="590550" y="4533900"/>
            <a:ext cx="1276350" cy="530225"/>
          </a:xfrm>
          <a:prstGeom prst="rect">
            <a:avLst/>
          </a:prstGeom>
          <a:noFill/>
          <a:ln w="9525">
            <a:noFill/>
          </a:ln>
        </p:spPr>
        <p:txBody>
          <a:bodyPr>
            <a:spAutoFit/>
          </a:bodyPr>
          <a:p>
            <a:pPr eaLnBrk="1" hangingPunct="1">
              <a:lnSpc>
                <a:spcPct val="90000"/>
              </a:lnSpc>
              <a:spcBef>
                <a:spcPct val="50000"/>
              </a:spcBef>
            </a:pPr>
            <a:r>
              <a:rPr lang="zh-CN" altLang="en-US" sz="3200" dirty="0">
                <a:solidFill>
                  <a:srgbClr val="FF0000"/>
                </a:solidFill>
                <a:latin typeface="Times New Roman" panose="02020603050405020304" pitchFamily="18" charset="0"/>
                <a:ea typeface="黑体" panose="02010609060101010101" pitchFamily="49" charset="-122"/>
              </a:rPr>
              <a:t>讨论：</a:t>
            </a:r>
            <a:endParaRPr lang="zh-CN" altLang="en-US" sz="3200" dirty="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9853"/>
                                        </p:tgtEl>
                                        <p:attrNameLst>
                                          <p:attrName>style.visibility</p:attrName>
                                        </p:attrNameLst>
                                      </p:cBhvr>
                                      <p:to>
                                        <p:strVal val="visible"/>
                                      </p:to>
                                    </p:set>
                                    <p:animEffect transition="in" filter="dissolve">
                                      <p:cBhvr>
                                        <p:cTn id="7" dur="500"/>
                                        <p:tgtEl>
                                          <p:spTgt spid="23398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9850"/>
                                        </p:tgtEl>
                                        <p:attrNameLst>
                                          <p:attrName>style.visibility</p:attrName>
                                        </p:attrNameLst>
                                      </p:cBhvr>
                                      <p:to>
                                        <p:strVal val="visible"/>
                                      </p:to>
                                    </p:set>
                                    <p:animEffect transition="in" filter="dissolve">
                                      <p:cBhvr>
                                        <p:cTn id="12" dur="500"/>
                                        <p:tgtEl>
                                          <p:spTgt spid="233985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9854"/>
                                        </p:tgtEl>
                                        <p:attrNameLst>
                                          <p:attrName>style.visibility</p:attrName>
                                        </p:attrNameLst>
                                      </p:cBhvr>
                                      <p:to>
                                        <p:strVal val="visible"/>
                                      </p:to>
                                    </p:set>
                                    <p:animEffect transition="in" filter="dissolve">
                                      <p:cBhvr>
                                        <p:cTn id="17" dur="500"/>
                                        <p:tgtEl>
                                          <p:spTgt spid="233985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39857"/>
                                        </p:tgtEl>
                                        <p:attrNameLst>
                                          <p:attrName>style.visibility</p:attrName>
                                        </p:attrNameLst>
                                      </p:cBhvr>
                                      <p:to>
                                        <p:strVal val="visible"/>
                                      </p:to>
                                    </p:set>
                                    <p:animEffect transition="in" filter="dissolve">
                                      <p:cBhvr>
                                        <p:cTn id="22" dur="500"/>
                                        <p:tgtEl>
                                          <p:spTgt spid="2339857"/>
                                        </p:tgtEl>
                                      </p:cBhvr>
                                    </p:animEffect>
                                  </p:childTnLst>
                                </p:cTn>
                              </p:par>
                              <p:par>
                                <p:cTn id="23" presetID="9" presetClass="entr" presetSubtype="0" fill="hold" nodeType="withEffect">
                                  <p:stCondLst>
                                    <p:cond delay="0"/>
                                  </p:stCondLst>
                                  <p:childTnLst>
                                    <p:set>
                                      <p:cBhvr>
                                        <p:cTn id="24" dur="1" fill="hold">
                                          <p:stCondLst>
                                            <p:cond delay="0"/>
                                          </p:stCondLst>
                                        </p:cTn>
                                        <p:tgtEl>
                                          <p:spTgt spid="2339855"/>
                                        </p:tgtEl>
                                        <p:attrNameLst>
                                          <p:attrName>style.visibility</p:attrName>
                                        </p:attrNameLst>
                                      </p:cBhvr>
                                      <p:to>
                                        <p:strVal val="visible"/>
                                      </p:to>
                                    </p:set>
                                    <p:animEffect transition="in" filter="dissolve">
                                      <p:cBhvr>
                                        <p:cTn id="25" dur="500"/>
                                        <p:tgtEl>
                                          <p:spTgt spid="2339855"/>
                                        </p:tgtEl>
                                      </p:cBhvr>
                                    </p:animEffect>
                                  </p:childTnLst>
                                </p:cTn>
                              </p:par>
                              <p:par>
                                <p:cTn id="26" presetID="9" presetClass="entr" presetSubtype="0" fill="hold" nodeType="withEffect">
                                  <p:stCondLst>
                                    <p:cond delay="0"/>
                                  </p:stCondLst>
                                  <p:childTnLst>
                                    <p:set>
                                      <p:cBhvr>
                                        <p:cTn id="27" dur="1" fill="hold">
                                          <p:stCondLst>
                                            <p:cond delay="0"/>
                                          </p:stCondLst>
                                        </p:cTn>
                                        <p:tgtEl>
                                          <p:spTgt spid="2339856"/>
                                        </p:tgtEl>
                                        <p:attrNameLst>
                                          <p:attrName>style.visibility</p:attrName>
                                        </p:attrNameLst>
                                      </p:cBhvr>
                                      <p:to>
                                        <p:strVal val="visible"/>
                                      </p:to>
                                    </p:set>
                                    <p:animEffect transition="in" filter="dissolve">
                                      <p:cBhvr>
                                        <p:cTn id="28" dur="500"/>
                                        <p:tgtEl>
                                          <p:spTgt spid="23398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9857" grpId="0" animBg="1"/>
      <p:bldP spid="2339850" grpId="0"/>
      <p:bldP spid="2339853" grpId="0" animBg="1"/>
      <p:bldP spid="2339855" grpId="0"/>
      <p:bldP spid="233985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0875" name="Text Box 1035"/>
          <p:cNvSpPr txBox="1"/>
          <p:nvPr/>
        </p:nvSpPr>
        <p:spPr>
          <a:xfrm>
            <a:off x="169863" y="1350963"/>
            <a:ext cx="4673600" cy="946150"/>
          </a:xfrm>
          <a:prstGeom prst="rect">
            <a:avLst/>
          </a:prstGeom>
          <a:noFill/>
          <a:ln w="9525">
            <a:noFill/>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如果通道数增加或信号源内阻很大时，情况还要严重。 </a:t>
            </a:r>
            <a:endParaRPr lang="zh-CN" altLang="en-US" sz="2800" dirty="0">
              <a:solidFill>
                <a:schemeClr val="tx1"/>
              </a:solidFill>
              <a:latin typeface="黑体" panose="02010609060101010101" pitchFamily="49" charset="-122"/>
              <a:ea typeface="黑体" panose="02010609060101010101" pitchFamily="49" charset="-122"/>
            </a:endParaRPr>
          </a:p>
        </p:txBody>
      </p:sp>
      <p:grpSp>
        <p:nvGrpSpPr>
          <p:cNvPr id="2340987" name="Group 1147"/>
          <p:cNvGrpSpPr/>
          <p:nvPr/>
        </p:nvGrpSpPr>
        <p:grpSpPr>
          <a:xfrm>
            <a:off x="547688" y="2390775"/>
            <a:ext cx="3779837" cy="1171575"/>
            <a:chOff x="207" y="1518"/>
            <a:chExt cx="2381" cy="738"/>
          </a:xfrm>
        </p:grpSpPr>
        <p:sp>
          <p:nvSpPr>
            <p:cNvPr id="43138" name="Rectangle 1145"/>
            <p:cNvSpPr/>
            <p:nvPr/>
          </p:nvSpPr>
          <p:spPr>
            <a:xfrm>
              <a:off x="228" y="1518"/>
              <a:ext cx="2244" cy="738"/>
            </a:xfrm>
            <a:prstGeom prst="rect">
              <a:avLst/>
            </a:prstGeom>
            <a:solidFill>
              <a:srgbClr val="CCFF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139" name="Text Box 1036"/>
            <p:cNvSpPr txBox="1"/>
            <p:nvPr/>
          </p:nvSpPr>
          <p:spPr>
            <a:xfrm>
              <a:off x="207" y="1544"/>
              <a:ext cx="1466" cy="327"/>
            </a:xfrm>
            <a:prstGeom prst="rect">
              <a:avLst/>
            </a:prstGeom>
            <a:noFill/>
            <a:ln w="9525">
              <a:noFill/>
            </a:ln>
          </p:spPr>
          <p:txBody>
            <a:bodyPr wrap="none">
              <a:spAutoFit/>
            </a:bodyPr>
            <a:p>
              <a:pPr eaLnBrk="1" hangingPunct="1"/>
              <a:r>
                <a:rPr lang="zh-CN" altLang="en-US" sz="2800" dirty="0">
                  <a:latin typeface="Times New Roman" panose="02020603050405020304" pitchFamily="18" charset="0"/>
                </a:rPr>
                <a:t>改进的方法：</a:t>
              </a:r>
              <a:endParaRPr lang="zh-CN" altLang="en-US" sz="2800" dirty="0">
                <a:latin typeface="Times New Roman" panose="02020603050405020304" pitchFamily="18" charset="0"/>
              </a:endParaRPr>
            </a:p>
          </p:txBody>
        </p:sp>
        <p:sp>
          <p:nvSpPr>
            <p:cNvPr id="43140" name="Text Box 1037"/>
            <p:cNvSpPr txBox="1"/>
            <p:nvPr/>
          </p:nvSpPr>
          <p:spPr>
            <a:xfrm>
              <a:off x="447" y="1877"/>
              <a:ext cx="2141" cy="327"/>
            </a:xfrm>
            <a:prstGeom prst="rect">
              <a:avLst/>
            </a:prstGeom>
            <a:noFill/>
            <a:ln w="9525">
              <a:noFill/>
            </a:ln>
          </p:spPr>
          <p:txBody>
            <a:bodyPr wrap="none">
              <a:spAutoFit/>
            </a:bodyPr>
            <a:p>
              <a:pPr eaLnBrk="1" hangingPunct="1"/>
              <a:r>
                <a:rPr lang="zh-CN" altLang="en-US" sz="2800" dirty="0">
                  <a:solidFill>
                    <a:srgbClr val="FF0000"/>
                  </a:solidFill>
                  <a:latin typeface="Times New Roman" panose="02020603050405020304" pitchFamily="18" charset="0"/>
                </a:rPr>
                <a:t>采用分级结合电路。</a:t>
              </a:r>
              <a:endParaRPr lang="zh-CN" altLang="en-US" sz="2800" dirty="0">
                <a:solidFill>
                  <a:srgbClr val="FF0000"/>
                </a:solidFill>
                <a:latin typeface="Times New Roman" panose="02020603050405020304" pitchFamily="18" charset="0"/>
              </a:endParaRPr>
            </a:p>
          </p:txBody>
        </p:sp>
      </p:grpSp>
      <p:sp>
        <p:nvSpPr>
          <p:cNvPr id="43012" name="Text Box 1038"/>
          <p:cNvSpPr txBox="1"/>
          <p:nvPr/>
        </p:nvSpPr>
        <p:spPr>
          <a:xfrm>
            <a:off x="415925" y="646113"/>
            <a:ext cx="25654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漏电流</a:t>
            </a:r>
            <a:endParaRPr lang="zh-CN" altLang="en-US" dirty="0">
              <a:latin typeface="Times New Roman" panose="02020603050405020304" pitchFamily="18" charset="0"/>
            </a:endParaRPr>
          </a:p>
        </p:txBody>
      </p:sp>
      <p:sp>
        <p:nvSpPr>
          <p:cNvPr id="2340879" name="Text Box 1039"/>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40881" name="AutoShape 1041"/>
          <p:cNvSpPr>
            <a:spLocks noChangeAspect="1" noTextEdit="1"/>
          </p:cNvSpPr>
          <p:nvPr/>
        </p:nvSpPr>
        <p:spPr>
          <a:xfrm>
            <a:off x="4765675" y="646113"/>
            <a:ext cx="4232275" cy="5473700"/>
          </a:xfrm>
          <a:prstGeom prst="rect">
            <a:avLst/>
          </a:prstGeom>
          <a:solidFill>
            <a:srgbClr val="FFFF99"/>
          </a:solidFill>
          <a:ln w="9525">
            <a:noFill/>
          </a:ln>
        </p:spPr>
        <p:txBody>
          <a:bodyPr/>
          <a:p>
            <a:endParaRPr lang="zh-CN" altLang="en-US"/>
          </a:p>
        </p:txBody>
      </p:sp>
      <p:sp>
        <p:nvSpPr>
          <p:cNvPr id="2340883" name="Line 1043"/>
          <p:cNvSpPr/>
          <p:nvPr/>
        </p:nvSpPr>
        <p:spPr>
          <a:xfrm>
            <a:off x="5278438" y="906463"/>
            <a:ext cx="487362" cy="1587"/>
          </a:xfrm>
          <a:prstGeom prst="line">
            <a:avLst/>
          </a:prstGeom>
          <a:ln w="0" cap="flat" cmpd="sng">
            <a:solidFill>
              <a:srgbClr val="0000FF"/>
            </a:solidFill>
            <a:prstDash val="solid"/>
            <a:headEnd type="none" w="med" len="med"/>
            <a:tailEnd type="none" w="med" len="med"/>
          </a:ln>
        </p:spPr>
      </p:sp>
      <p:sp>
        <p:nvSpPr>
          <p:cNvPr id="2340887" name="Line 1047"/>
          <p:cNvSpPr/>
          <p:nvPr/>
        </p:nvSpPr>
        <p:spPr>
          <a:xfrm>
            <a:off x="5278438" y="1333500"/>
            <a:ext cx="487362" cy="1588"/>
          </a:xfrm>
          <a:prstGeom prst="line">
            <a:avLst/>
          </a:prstGeom>
          <a:ln w="0" cap="flat" cmpd="sng">
            <a:solidFill>
              <a:srgbClr val="0000FF"/>
            </a:solidFill>
            <a:prstDash val="solid"/>
            <a:headEnd type="none" w="med" len="med"/>
            <a:tailEnd type="none" w="med" len="med"/>
          </a:ln>
        </p:spPr>
      </p:sp>
      <p:sp>
        <p:nvSpPr>
          <p:cNvPr id="2340888" name="Oval 1048"/>
          <p:cNvSpPr/>
          <p:nvPr/>
        </p:nvSpPr>
        <p:spPr>
          <a:xfrm>
            <a:off x="5765800" y="12827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889" name="Oval 1049"/>
          <p:cNvSpPr/>
          <p:nvPr/>
        </p:nvSpPr>
        <p:spPr>
          <a:xfrm>
            <a:off x="6253163" y="1282700"/>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890" name="Line 1050"/>
          <p:cNvSpPr/>
          <p:nvPr/>
        </p:nvSpPr>
        <p:spPr>
          <a:xfrm flipV="1">
            <a:off x="5875338" y="1116013"/>
            <a:ext cx="488950" cy="200025"/>
          </a:xfrm>
          <a:prstGeom prst="line">
            <a:avLst/>
          </a:prstGeom>
          <a:ln w="0" cap="flat" cmpd="sng">
            <a:solidFill>
              <a:srgbClr val="0000FF"/>
            </a:solidFill>
            <a:prstDash val="solid"/>
            <a:headEnd type="none" w="med" len="med"/>
            <a:tailEnd type="none" w="med" len="med"/>
          </a:ln>
        </p:spPr>
      </p:sp>
      <p:sp>
        <p:nvSpPr>
          <p:cNvPr id="2340891" name="Line 1051"/>
          <p:cNvSpPr/>
          <p:nvPr/>
        </p:nvSpPr>
        <p:spPr>
          <a:xfrm>
            <a:off x="5278438" y="2036763"/>
            <a:ext cx="487362" cy="1587"/>
          </a:xfrm>
          <a:prstGeom prst="line">
            <a:avLst/>
          </a:prstGeom>
          <a:ln w="0" cap="flat" cmpd="sng">
            <a:solidFill>
              <a:srgbClr val="0000FF"/>
            </a:solidFill>
            <a:prstDash val="solid"/>
            <a:headEnd type="none" w="med" len="med"/>
            <a:tailEnd type="none" w="med" len="med"/>
          </a:ln>
        </p:spPr>
      </p:sp>
      <p:sp>
        <p:nvSpPr>
          <p:cNvPr id="2340892" name="Oval 1052"/>
          <p:cNvSpPr/>
          <p:nvPr/>
        </p:nvSpPr>
        <p:spPr>
          <a:xfrm>
            <a:off x="5765800" y="198755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893" name="Oval 1053"/>
          <p:cNvSpPr/>
          <p:nvPr/>
        </p:nvSpPr>
        <p:spPr>
          <a:xfrm>
            <a:off x="6253163" y="1987550"/>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894" name="Line 1054"/>
          <p:cNvSpPr/>
          <p:nvPr/>
        </p:nvSpPr>
        <p:spPr>
          <a:xfrm flipV="1">
            <a:off x="5875338" y="1814513"/>
            <a:ext cx="488950" cy="201612"/>
          </a:xfrm>
          <a:prstGeom prst="line">
            <a:avLst/>
          </a:prstGeom>
          <a:ln w="0" cap="flat" cmpd="sng">
            <a:solidFill>
              <a:srgbClr val="0000FF"/>
            </a:solidFill>
            <a:prstDash val="solid"/>
            <a:headEnd type="none" w="med" len="med"/>
            <a:tailEnd type="none" w="med" len="med"/>
          </a:ln>
        </p:spPr>
      </p:sp>
      <p:sp>
        <p:nvSpPr>
          <p:cNvPr id="2340895" name="Line 1055"/>
          <p:cNvSpPr/>
          <p:nvPr/>
        </p:nvSpPr>
        <p:spPr>
          <a:xfrm>
            <a:off x="6935788" y="1458913"/>
            <a:ext cx="403225" cy="1587"/>
          </a:xfrm>
          <a:prstGeom prst="line">
            <a:avLst/>
          </a:prstGeom>
          <a:ln w="0" cap="flat" cmpd="sng">
            <a:solidFill>
              <a:srgbClr val="0000FF"/>
            </a:solidFill>
            <a:prstDash val="solid"/>
            <a:headEnd type="none" w="med" len="med"/>
            <a:tailEnd type="none" w="med" len="med"/>
          </a:ln>
        </p:spPr>
      </p:sp>
      <p:grpSp>
        <p:nvGrpSpPr>
          <p:cNvPr id="2340997" name="Group 1157"/>
          <p:cNvGrpSpPr/>
          <p:nvPr/>
        </p:nvGrpSpPr>
        <p:grpSpPr>
          <a:xfrm>
            <a:off x="5765800" y="679450"/>
            <a:ext cx="2170113" cy="855663"/>
            <a:chOff x="3632" y="428"/>
            <a:chExt cx="1367" cy="539"/>
          </a:xfrm>
        </p:grpSpPr>
        <p:sp>
          <p:nvSpPr>
            <p:cNvPr id="43132" name="Oval 1044"/>
            <p:cNvSpPr/>
            <p:nvPr/>
          </p:nvSpPr>
          <p:spPr>
            <a:xfrm>
              <a:off x="3632" y="539"/>
              <a:ext cx="77" cy="7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3" name="Oval 1045"/>
            <p:cNvSpPr/>
            <p:nvPr/>
          </p:nvSpPr>
          <p:spPr>
            <a:xfrm>
              <a:off x="3939" y="539"/>
              <a:ext cx="77" cy="79"/>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4" name="Line 1046"/>
            <p:cNvSpPr/>
            <p:nvPr/>
          </p:nvSpPr>
          <p:spPr>
            <a:xfrm flipV="1">
              <a:off x="3701" y="428"/>
              <a:ext cx="308" cy="127"/>
            </a:xfrm>
            <a:prstGeom prst="line">
              <a:avLst/>
            </a:prstGeom>
            <a:ln w="0" cap="flat" cmpd="sng">
              <a:solidFill>
                <a:srgbClr val="0000FF"/>
              </a:solidFill>
              <a:prstDash val="solid"/>
              <a:headEnd type="none" w="med" len="med"/>
              <a:tailEnd type="none" w="med" len="med"/>
            </a:ln>
          </p:spPr>
        </p:sp>
        <p:sp>
          <p:nvSpPr>
            <p:cNvPr id="43135" name="Oval 1056"/>
            <p:cNvSpPr/>
            <p:nvPr/>
          </p:nvSpPr>
          <p:spPr>
            <a:xfrm>
              <a:off x="4615" y="887"/>
              <a:ext cx="77" cy="8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6" name="Oval 1057"/>
            <p:cNvSpPr/>
            <p:nvPr/>
          </p:nvSpPr>
          <p:spPr>
            <a:xfrm>
              <a:off x="4922" y="887"/>
              <a:ext cx="77" cy="8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7" name="Line 1058"/>
            <p:cNvSpPr/>
            <p:nvPr/>
          </p:nvSpPr>
          <p:spPr>
            <a:xfrm flipV="1">
              <a:off x="4687" y="824"/>
              <a:ext cx="276" cy="79"/>
            </a:xfrm>
            <a:prstGeom prst="line">
              <a:avLst/>
            </a:prstGeom>
            <a:ln w="0" cap="flat" cmpd="sng">
              <a:solidFill>
                <a:srgbClr val="0000FF"/>
              </a:solidFill>
              <a:prstDash val="solid"/>
              <a:headEnd type="none" w="med" len="med"/>
              <a:tailEnd type="none" w="med" len="med"/>
            </a:ln>
          </p:spPr>
        </p:sp>
      </p:grpSp>
      <p:sp>
        <p:nvSpPr>
          <p:cNvPr id="2340899" name="Line 1059"/>
          <p:cNvSpPr/>
          <p:nvPr/>
        </p:nvSpPr>
        <p:spPr>
          <a:xfrm>
            <a:off x="5278438" y="2640013"/>
            <a:ext cx="487362" cy="1587"/>
          </a:xfrm>
          <a:prstGeom prst="line">
            <a:avLst/>
          </a:prstGeom>
          <a:ln w="0" cap="flat" cmpd="sng">
            <a:solidFill>
              <a:srgbClr val="0000FF"/>
            </a:solidFill>
            <a:prstDash val="solid"/>
            <a:headEnd type="none" w="med" len="med"/>
            <a:tailEnd type="none" w="med" len="med"/>
          </a:ln>
        </p:spPr>
      </p:sp>
      <p:sp>
        <p:nvSpPr>
          <p:cNvPr id="2340900" name="Oval 1060"/>
          <p:cNvSpPr/>
          <p:nvPr/>
        </p:nvSpPr>
        <p:spPr>
          <a:xfrm>
            <a:off x="5765800" y="25908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01" name="Oval 1061"/>
          <p:cNvSpPr/>
          <p:nvPr/>
        </p:nvSpPr>
        <p:spPr>
          <a:xfrm>
            <a:off x="6253163" y="2590800"/>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02" name="Line 1062"/>
          <p:cNvSpPr/>
          <p:nvPr/>
        </p:nvSpPr>
        <p:spPr>
          <a:xfrm>
            <a:off x="6364288" y="2636838"/>
            <a:ext cx="576262" cy="1587"/>
          </a:xfrm>
          <a:prstGeom prst="line">
            <a:avLst/>
          </a:prstGeom>
          <a:ln w="0" cap="flat" cmpd="sng">
            <a:solidFill>
              <a:srgbClr val="0000FF"/>
            </a:solidFill>
            <a:prstDash val="solid"/>
            <a:headEnd type="none" w="med" len="med"/>
            <a:tailEnd type="none" w="med" len="med"/>
          </a:ln>
        </p:spPr>
      </p:sp>
      <p:sp>
        <p:nvSpPr>
          <p:cNvPr id="2340903" name="Line 1063"/>
          <p:cNvSpPr/>
          <p:nvPr/>
        </p:nvSpPr>
        <p:spPr>
          <a:xfrm flipV="1">
            <a:off x="5880100" y="2427288"/>
            <a:ext cx="487363" cy="200025"/>
          </a:xfrm>
          <a:prstGeom prst="line">
            <a:avLst/>
          </a:prstGeom>
          <a:ln w="0" cap="flat" cmpd="sng">
            <a:solidFill>
              <a:srgbClr val="0000FF"/>
            </a:solidFill>
            <a:prstDash val="solid"/>
            <a:headEnd type="none" w="med" len="med"/>
            <a:tailEnd type="none" w="med" len="med"/>
          </a:ln>
        </p:spPr>
      </p:sp>
      <p:sp>
        <p:nvSpPr>
          <p:cNvPr id="2340904" name="Line 1064"/>
          <p:cNvSpPr/>
          <p:nvPr/>
        </p:nvSpPr>
        <p:spPr>
          <a:xfrm>
            <a:off x="5278438" y="3043238"/>
            <a:ext cx="487362" cy="1587"/>
          </a:xfrm>
          <a:prstGeom prst="line">
            <a:avLst/>
          </a:prstGeom>
          <a:ln w="0" cap="flat" cmpd="sng">
            <a:solidFill>
              <a:srgbClr val="0000FF"/>
            </a:solidFill>
            <a:prstDash val="solid"/>
            <a:headEnd type="none" w="med" len="med"/>
            <a:tailEnd type="none" w="med" len="med"/>
          </a:ln>
        </p:spPr>
      </p:sp>
      <p:sp>
        <p:nvSpPr>
          <p:cNvPr id="2340905" name="Oval 1065"/>
          <p:cNvSpPr/>
          <p:nvPr/>
        </p:nvSpPr>
        <p:spPr>
          <a:xfrm>
            <a:off x="5765800" y="2992438"/>
            <a:ext cx="122238"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06" name="Oval 1066"/>
          <p:cNvSpPr/>
          <p:nvPr/>
        </p:nvSpPr>
        <p:spPr>
          <a:xfrm>
            <a:off x="6253163" y="2992438"/>
            <a:ext cx="122237"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07" name="Line 1067"/>
          <p:cNvSpPr/>
          <p:nvPr/>
        </p:nvSpPr>
        <p:spPr>
          <a:xfrm>
            <a:off x="6364288" y="3038475"/>
            <a:ext cx="576262" cy="1588"/>
          </a:xfrm>
          <a:prstGeom prst="line">
            <a:avLst/>
          </a:prstGeom>
          <a:ln w="0" cap="flat" cmpd="sng">
            <a:solidFill>
              <a:srgbClr val="0000FF"/>
            </a:solidFill>
            <a:prstDash val="solid"/>
            <a:headEnd type="none" w="med" len="med"/>
            <a:tailEnd type="none" w="med" len="med"/>
          </a:ln>
        </p:spPr>
      </p:sp>
      <p:sp>
        <p:nvSpPr>
          <p:cNvPr id="2340908" name="Line 1068"/>
          <p:cNvSpPr/>
          <p:nvPr/>
        </p:nvSpPr>
        <p:spPr>
          <a:xfrm flipV="1">
            <a:off x="5875338" y="2828925"/>
            <a:ext cx="488950" cy="201613"/>
          </a:xfrm>
          <a:prstGeom prst="line">
            <a:avLst/>
          </a:prstGeom>
          <a:ln w="0" cap="flat" cmpd="sng">
            <a:solidFill>
              <a:srgbClr val="0000FF"/>
            </a:solidFill>
            <a:prstDash val="solid"/>
            <a:headEnd type="none" w="med" len="med"/>
            <a:tailEnd type="none" w="med" len="med"/>
          </a:ln>
        </p:spPr>
      </p:sp>
      <p:sp>
        <p:nvSpPr>
          <p:cNvPr id="2340909" name="Oval 1069"/>
          <p:cNvSpPr/>
          <p:nvPr/>
        </p:nvSpPr>
        <p:spPr>
          <a:xfrm>
            <a:off x="5765800" y="37973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10" name="Oval 1070"/>
          <p:cNvSpPr/>
          <p:nvPr/>
        </p:nvSpPr>
        <p:spPr>
          <a:xfrm>
            <a:off x="6253163" y="3797300"/>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11" name="Line 1071"/>
          <p:cNvSpPr/>
          <p:nvPr/>
        </p:nvSpPr>
        <p:spPr>
          <a:xfrm flipV="1">
            <a:off x="5875338" y="3629025"/>
            <a:ext cx="488950" cy="201613"/>
          </a:xfrm>
          <a:prstGeom prst="line">
            <a:avLst/>
          </a:prstGeom>
          <a:ln w="0" cap="flat" cmpd="sng">
            <a:solidFill>
              <a:srgbClr val="0000FF"/>
            </a:solidFill>
            <a:prstDash val="solid"/>
            <a:headEnd type="none" w="med" len="med"/>
            <a:tailEnd type="none" w="med" len="med"/>
          </a:ln>
        </p:spPr>
      </p:sp>
      <p:sp>
        <p:nvSpPr>
          <p:cNvPr id="2340912" name="Line 1072"/>
          <p:cNvSpPr/>
          <p:nvPr/>
        </p:nvSpPr>
        <p:spPr>
          <a:xfrm>
            <a:off x="6935788" y="2636838"/>
            <a:ext cx="1587" cy="1214437"/>
          </a:xfrm>
          <a:prstGeom prst="line">
            <a:avLst/>
          </a:prstGeom>
          <a:ln w="0" cap="flat" cmpd="sng">
            <a:solidFill>
              <a:srgbClr val="0000FF"/>
            </a:solidFill>
            <a:prstDash val="solid"/>
            <a:headEnd type="none" w="med" len="med"/>
            <a:tailEnd type="none" w="med" len="med"/>
          </a:ln>
        </p:spPr>
      </p:sp>
      <p:sp>
        <p:nvSpPr>
          <p:cNvPr id="2340913" name="Line 1073"/>
          <p:cNvSpPr/>
          <p:nvPr/>
        </p:nvSpPr>
        <p:spPr>
          <a:xfrm>
            <a:off x="6935788" y="3344863"/>
            <a:ext cx="403225" cy="1587"/>
          </a:xfrm>
          <a:prstGeom prst="line">
            <a:avLst/>
          </a:prstGeom>
          <a:ln w="0" cap="flat" cmpd="sng">
            <a:solidFill>
              <a:srgbClr val="0000FF"/>
            </a:solidFill>
            <a:prstDash val="solid"/>
            <a:headEnd type="none" w="med" len="med"/>
            <a:tailEnd type="none" w="med" len="med"/>
          </a:ln>
        </p:spPr>
      </p:sp>
      <p:sp>
        <p:nvSpPr>
          <p:cNvPr id="2340914" name="Oval 1074"/>
          <p:cNvSpPr/>
          <p:nvPr/>
        </p:nvSpPr>
        <p:spPr>
          <a:xfrm>
            <a:off x="7326313" y="3294063"/>
            <a:ext cx="122237"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15" name="Oval 1075"/>
          <p:cNvSpPr/>
          <p:nvPr/>
        </p:nvSpPr>
        <p:spPr>
          <a:xfrm>
            <a:off x="7813675" y="3294063"/>
            <a:ext cx="122238"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16" name="Line 1076"/>
          <p:cNvSpPr/>
          <p:nvPr/>
        </p:nvSpPr>
        <p:spPr>
          <a:xfrm>
            <a:off x="7923213" y="3344863"/>
            <a:ext cx="695325" cy="1587"/>
          </a:xfrm>
          <a:prstGeom prst="line">
            <a:avLst/>
          </a:prstGeom>
          <a:ln w="0" cap="flat" cmpd="sng">
            <a:solidFill>
              <a:srgbClr val="0000FF"/>
            </a:solidFill>
            <a:prstDash val="solid"/>
            <a:headEnd type="none" w="med" len="med"/>
            <a:tailEnd type="none" w="med" len="med"/>
          </a:ln>
        </p:spPr>
      </p:sp>
      <p:sp>
        <p:nvSpPr>
          <p:cNvPr id="2340917" name="Line 1077"/>
          <p:cNvSpPr/>
          <p:nvPr/>
        </p:nvSpPr>
        <p:spPr>
          <a:xfrm flipV="1">
            <a:off x="7440613" y="3201988"/>
            <a:ext cx="438150" cy="125412"/>
          </a:xfrm>
          <a:prstGeom prst="line">
            <a:avLst/>
          </a:prstGeom>
          <a:ln w="0" cap="flat" cmpd="sng">
            <a:solidFill>
              <a:srgbClr val="0000FF"/>
            </a:solidFill>
            <a:prstDash val="solid"/>
            <a:headEnd type="none" w="med" len="med"/>
            <a:tailEnd type="none" w="med" len="med"/>
          </a:ln>
        </p:spPr>
      </p:sp>
      <p:sp>
        <p:nvSpPr>
          <p:cNvPr id="2340918" name="Line 1078"/>
          <p:cNvSpPr/>
          <p:nvPr/>
        </p:nvSpPr>
        <p:spPr>
          <a:xfrm>
            <a:off x="5278438" y="4349750"/>
            <a:ext cx="487362" cy="1588"/>
          </a:xfrm>
          <a:prstGeom prst="line">
            <a:avLst/>
          </a:prstGeom>
          <a:ln w="0" cap="flat" cmpd="sng">
            <a:solidFill>
              <a:srgbClr val="0000FF"/>
            </a:solidFill>
            <a:prstDash val="solid"/>
            <a:headEnd type="none" w="med" len="med"/>
            <a:tailEnd type="none" w="med" len="med"/>
          </a:ln>
        </p:spPr>
      </p:sp>
      <p:sp>
        <p:nvSpPr>
          <p:cNvPr id="2340919" name="Oval 1079"/>
          <p:cNvSpPr/>
          <p:nvPr/>
        </p:nvSpPr>
        <p:spPr>
          <a:xfrm>
            <a:off x="5765800" y="4298950"/>
            <a:ext cx="122238"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20" name="Oval 1080"/>
          <p:cNvSpPr/>
          <p:nvPr/>
        </p:nvSpPr>
        <p:spPr>
          <a:xfrm>
            <a:off x="6253163" y="4298950"/>
            <a:ext cx="122237"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21" name="Line 1081"/>
          <p:cNvSpPr/>
          <p:nvPr/>
        </p:nvSpPr>
        <p:spPr>
          <a:xfrm flipV="1">
            <a:off x="5875338" y="4127500"/>
            <a:ext cx="488950" cy="201613"/>
          </a:xfrm>
          <a:prstGeom prst="line">
            <a:avLst/>
          </a:prstGeom>
          <a:ln w="0" cap="flat" cmpd="sng">
            <a:solidFill>
              <a:srgbClr val="0000FF"/>
            </a:solidFill>
            <a:prstDash val="solid"/>
            <a:headEnd type="none" w="med" len="med"/>
            <a:tailEnd type="none" w="med" len="med"/>
          </a:ln>
        </p:spPr>
      </p:sp>
      <p:sp>
        <p:nvSpPr>
          <p:cNvPr id="2340922" name="Line 1082"/>
          <p:cNvSpPr/>
          <p:nvPr/>
        </p:nvSpPr>
        <p:spPr>
          <a:xfrm>
            <a:off x="5278438" y="4776788"/>
            <a:ext cx="487362" cy="1587"/>
          </a:xfrm>
          <a:prstGeom prst="line">
            <a:avLst/>
          </a:prstGeom>
          <a:ln w="0" cap="flat" cmpd="sng">
            <a:solidFill>
              <a:srgbClr val="0000FF"/>
            </a:solidFill>
            <a:prstDash val="solid"/>
            <a:headEnd type="none" w="med" len="med"/>
            <a:tailEnd type="none" w="med" len="med"/>
          </a:ln>
        </p:spPr>
      </p:sp>
      <p:sp>
        <p:nvSpPr>
          <p:cNvPr id="2340923" name="Oval 1083"/>
          <p:cNvSpPr/>
          <p:nvPr/>
        </p:nvSpPr>
        <p:spPr>
          <a:xfrm>
            <a:off x="5765800" y="4727575"/>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24" name="Oval 1084"/>
          <p:cNvSpPr/>
          <p:nvPr/>
        </p:nvSpPr>
        <p:spPr>
          <a:xfrm>
            <a:off x="6253163" y="4727575"/>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25" name="Line 1085"/>
          <p:cNvSpPr/>
          <p:nvPr/>
        </p:nvSpPr>
        <p:spPr>
          <a:xfrm>
            <a:off x="6364288" y="4773613"/>
            <a:ext cx="576262" cy="1587"/>
          </a:xfrm>
          <a:prstGeom prst="line">
            <a:avLst/>
          </a:prstGeom>
          <a:ln w="0" cap="flat" cmpd="sng">
            <a:solidFill>
              <a:srgbClr val="0000FF"/>
            </a:solidFill>
            <a:prstDash val="solid"/>
            <a:headEnd type="none" w="med" len="med"/>
            <a:tailEnd type="none" w="med" len="med"/>
          </a:ln>
        </p:spPr>
      </p:sp>
      <p:sp>
        <p:nvSpPr>
          <p:cNvPr id="2340926" name="Line 1086"/>
          <p:cNvSpPr/>
          <p:nvPr/>
        </p:nvSpPr>
        <p:spPr>
          <a:xfrm flipV="1">
            <a:off x="5888038" y="4564063"/>
            <a:ext cx="487362" cy="200025"/>
          </a:xfrm>
          <a:prstGeom prst="line">
            <a:avLst/>
          </a:prstGeom>
          <a:ln w="0" cap="flat" cmpd="sng">
            <a:solidFill>
              <a:srgbClr val="0000FF"/>
            </a:solidFill>
            <a:prstDash val="solid"/>
            <a:headEnd type="none" w="med" len="med"/>
            <a:tailEnd type="none" w="med" len="med"/>
          </a:ln>
        </p:spPr>
      </p:sp>
      <p:sp>
        <p:nvSpPr>
          <p:cNvPr id="2340927" name="Line 1087"/>
          <p:cNvSpPr/>
          <p:nvPr/>
        </p:nvSpPr>
        <p:spPr>
          <a:xfrm>
            <a:off x="5278438" y="5581650"/>
            <a:ext cx="487362" cy="1588"/>
          </a:xfrm>
          <a:prstGeom prst="line">
            <a:avLst/>
          </a:prstGeom>
          <a:ln w="0" cap="flat" cmpd="sng">
            <a:solidFill>
              <a:srgbClr val="0000FF"/>
            </a:solidFill>
            <a:prstDash val="solid"/>
            <a:headEnd type="none" w="med" len="med"/>
            <a:tailEnd type="none" w="med" len="med"/>
          </a:ln>
        </p:spPr>
      </p:sp>
      <p:sp>
        <p:nvSpPr>
          <p:cNvPr id="2340928" name="Oval 1088"/>
          <p:cNvSpPr/>
          <p:nvPr/>
        </p:nvSpPr>
        <p:spPr>
          <a:xfrm>
            <a:off x="5765800" y="5530850"/>
            <a:ext cx="122238"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29" name="Oval 1089"/>
          <p:cNvSpPr/>
          <p:nvPr/>
        </p:nvSpPr>
        <p:spPr>
          <a:xfrm>
            <a:off x="6253163" y="5530850"/>
            <a:ext cx="122237"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30" name="Line 1090"/>
          <p:cNvSpPr/>
          <p:nvPr/>
        </p:nvSpPr>
        <p:spPr>
          <a:xfrm flipV="1">
            <a:off x="5880100" y="5376863"/>
            <a:ext cx="487363" cy="200025"/>
          </a:xfrm>
          <a:prstGeom prst="line">
            <a:avLst/>
          </a:prstGeom>
          <a:ln w="0" cap="flat" cmpd="sng">
            <a:solidFill>
              <a:srgbClr val="0000FF"/>
            </a:solidFill>
            <a:prstDash val="solid"/>
            <a:headEnd type="none" w="med" len="med"/>
            <a:tailEnd type="none" w="med" len="med"/>
          </a:ln>
        </p:spPr>
      </p:sp>
      <p:sp>
        <p:nvSpPr>
          <p:cNvPr id="2340931" name="Oval 1091"/>
          <p:cNvSpPr/>
          <p:nvPr/>
        </p:nvSpPr>
        <p:spPr>
          <a:xfrm>
            <a:off x="7326313" y="4978400"/>
            <a:ext cx="122237"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32" name="Oval 1092"/>
          <p:cNvSpPr/>
          <p:nvPr/>
        </p:nvSpPr>
        <p:spPr>
          <a:xfrm>
            <a:off x="7813675" y="49784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33" name="Line 1093"/>
          <p:cNvSpPr/>
          <p:nvPr/>
        </p:nvSpPr>
        <p:spPr>
          <a:xfrm>
            <a:off x="7923213" y="5024438"/>
            <a:ext cx="333375" cy="1587"/>
          </a:xfrm>
          <a:prstGeom prst="line">
            <a:avLst/>
          </a:prstGeom>
          <a:ln w="0" cap="flat" cmpd="sng">
            <a:solidFill>
              <a:srgbClr val="0000FF"/>
            </a:solidFill>
            <a:prstDash val="solid"/>
            <a:headEnd type="none" w="med" len="med"/>
            <a:tailEnd type="none" w="med" len="med"/>
          </a:ln>
        </p:spPr>
      </p:sp>
      <p:sp>
        <p:nvSpPr>
          <p:cNvPr id="2340934" name="Line 1094"/>
          <p:cNvSpPr/>
          <p:nvPr/>
        </p:nvSpPr>
        <p:spPr>
          <a:xfrm flipV="1">
            <a:off x="7448550" y="4878388"/>
            <a:ext cx="438150" cy="125412"/>
          </a:xfrm>
          <a:prstGeom prst="line">
            <a:avLst/>
          </a:prstGeom>
          <a:ln w="0" cap="flat" cmpd="sng">
            <a:solidFill>
              <a:srgbClr val="0000FF"/>
            </a:solidFill>
            <a:prstDash val="solid"/>
            <a:headEnd type="none" w="med" len="med"/>
            <a:tailEnd type="none" w="med" len="med"/>
          </a:ln>
        </p:spPr>
      </p:sp>
      <p:sp>
        <p:nvSpPr>
          <p:cNvPr id="2340935" name="Rectangle 1095"/>
          <p:cNvSpPr/>
          <p:nvPr/>
        </p:nvSpPr>
        <p:spPr>
          <a:xfrm>
            <a:off x="5449888" y="1182688"/>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36" name="Rectangle 1096"/>
          <p:cNvSpPr/>
          <p:nvPr/>
        </p:nvSpPr>
        <p:spPr>
          <a:xfrm>
            <a:off x="5449888" y="1450975"/>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37" name="Rectangle 1097"/>
          <p:cNvSpPr/>
          <p:nvPr/>
        </p:nvSpPr>
        <p:spPr>
          <a:xfrm>
            <a:off x="5449888" y="1719263"/>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38" name="Rectangle 1098"/>
          <p:cNvSpPr/>
          <p:nvPr/>
        </p:nvSpPr>
        <p:spPr>
          <a:xfrm>
            <a:off x="5449888" y="2992438"/>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39" name="Rectangle 1099"/>
          <p:cNvSpPr/>
          <p:nvPr/>
        </p:nvSpPr>
        <p:spPr>
          <a:xfrm>
            <a:off x="5449888" y="3260725"/>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40" name="Rectangle 1100"/>
          <p:cNvSpPr/>
          <p:nvPr/>
        </p:nvSpPr>
        <p:spPr>
          <a:xfrm>
            <a:off x="5449888" y="3529013"/>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41" name="Rectangle 1101"/>
          <p:cNvSpPr/>
          <p:nvPr/>
        </p:nvSpPr>
        <p:spPr>
          <a:xfrm>
            <a:off x="5449888" y="4702175"/>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42" name="Rectangle 1102"/>
          <p:cNvSpPr/>
          <p:nvPr/>
        </p:nvSpPr>
        <p:spPr>
          <a:xfrm>
            <a:off x="5449888" y="4970463"/>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43" name="Rectangle 1103"/>
          <p:cNvSpPr/>
          <p:nvPr/>
        </p:nvSpPr>
        <p:spPr>
          <a:xfrm>
            <a:off x="5449888" y="5238750"/>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2340944" name="Oval 1104"/>
          <p:cNvSpPr/>
          <p:nvPr/>
        </p:nvSpPr>
        <p:spPr>
          <a:xfrm>
            <a:off x="8618538" y="3294063"/>
            <a:ext cx="122237"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45" name="Rectangle 1105"/>
          <p:cNvSpPr/>
          <p:nvPr/>
        </p:nvSpPr>
        <p:spPr>
          <a:xfrm>
            <a:off x="7545388" y="955675"/>
            <a:ext cx="192087"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340946" name="Rectangle 1106"/>
          <p:cNvSpPr/>
          <p:nvPr/>
        </p:nvSpPr>
        <p:spPr>
          <a:xfrm>
            <a:off x="7545388" y="2841625"/>
            <a:ext cx="17780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FF0000"/>
                </a:solidFill>
                <a:latin typeface="Times New Roman" panose="02020603050405020304" pitchFamily="18" charset="0"/>
              </a:rPr>
              <a:t>B</a:t>
            </a:r>
            <a:endParaRPr lang="en-US" altLang="zh-CN" dirty="0">
              <a:solidFill>
                <a:srgbClr val="FF0000"/>
              </a:solidFill>
              <a:latin typeface="Times New Roman" panose="02020603050405020304" pitchFamily="18" charset="0"/>
            </a:endParaRPr>
          </a:p>
        </p:txBody>
      </p:sp>
      <p:sp>
        <p:nvSpPr>
          <p:cNvPr id="2340947" name="Rectangle 1107"/>
          <p:cNvSpPr/>
          <p:nvPr/>
        </p:nvSpPr>
        <p:spPr>
          <a:xfrm>
            <a:off x="7545388" y="4500563"/>
            <a:ext cx="17780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FF0000"/>
                </a:solidFill>
                <a:latin typeface="Times New Roman" panose="02020603050405020304" pitchFamily="18" charset="0"/>
              </a:rPr>
              <a:t>C</a:t>
            </a:r>
            <a:endParaRPr lang="en-US" altLang="zh-CN" dirty="0">
              <a:solidFill>
                <a:srgbClr val="FF0000"/>
              </a:solidFill>
              <a:latin typeface="Times New Roman" panose="02020603050405020304" pitchFamily="18" charset="0"/>
            </a:endParaRPr>
          </a:p>
        </p:txBody>
      </p:sp>
      <p:sp>
        <p:nvSpPr>
          <p:cNvPr id="2340948" name="Rectangle 1108"/>
          <p:cNvSpPr/>
          <p:nvPr/>
        </p:nvSpPr>
        <p:spPr>
          <a:xfrm>
            <a:off x="8440738" y="2949575"/>
            <a:ext cx="536575" cy="288925"/>
          </a:xfrm>
          <a:prstGeom prst="rect">
            <a:avLst/>
          </a:prstGeom>
          <a:noFill/>
          <a:ln w="9525">
            <a:noFill/>
          </a:ln>
        </p:spPr>
        <p:txBody>
          <a:bodyPr wrap="none" lIns="0" tIns="0" rIns="0" bIns="0">
            <a:spAutoFit/>
          </a:bodyPr>
          <a:p>
            <a:pPr eaLnBrk="1" hangingPunct="1">
              <a:lnSpc>
                <a:spcPct val="90000"/>
              </a:lnSpc>
            </a:pPr>
            <a:r>
              <a:rPr lang="zh-CN" altLang="en-US" sz="2100" dirty="0">
                <a:solidFill>
                  <a:srgbClr val="000080"/>
                </a:solidFill>
                <a:latin typeface="楷体_GB2312" pitchFamily="49" charset="-122"/>
              </a:rPr>
              <a:t>输出</a:t>
            </a:r>
            <a:endParaRPr lang="zh-CN" altLang="en-US" dirty="0">
              <a:latin typeface="Times New Roman" panose="02020603050405020304" pitchFamily="18" charset="0"/>
            </a:endParaRPr>
          </a:p>
        </p:txBody>
      </p:sp>
      <p:sp>
        <p:nvSpPr>
          <p:cNvPr id="2340949" name="Oval 1109"/>
          <p:cNvSpPr/>
          <p:nvPr/>
        </p:nvSpPr>
        <p:spPr>
          <a:xfrm>
            <a:off x="5156200" y="855663"/>
            <a:ext cx="122238"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0" name="Oval 1110"/>
          <p:cNvSpPr/>
          <p:nvPr/>
        </p:nvSpPr>
        <p:spPr>
          <a:xfrm>
            <a:off x="5156200" y="12827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1" name="Oval 1111"/>
          <p:cNvSpPr/>
          <p:nvPr/>
        </p:nvSpPr>
        <p:spPr>
          <a:xfrm>
            <a:off x="5156200" y="198755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2" name="Oval 1112"/>
          <p:cNvSpPr/>
          <p:nvPr/>
        </p:nvSpPr>
        <p:spPr>
          <a:xfrm>
            <a:off x="5156200" y="2590800"/>
            <a:ext cx="122238" cy="125413"/>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3" name="Oval 1113"/>
          <p:cNvSpPr/>
          <p:nvPr/>
        </p:nvSpPr>
        <p:spPr>
          <a:xfrm>
            <a:off x="5156200" y="2992438"/>
            <a:ext cx="122238" cy="125412"/>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4" name="Oval 1114"/>
          <p:cNvSpPr/>
          <p:nvPr/>
        </p:nvSpPr>
        <p:spPr>
          <a:xfrm>
            <a:off x="5156200" y="3797300"/>
            <a:ext cx="119063" cy="1174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5" name="Oval 1115"/>
          <p:cNvSpPr/>
          <p:nvPr/>
        </p:nvSpPr>
        <p:spPr>
          <a:xfrm>
            <a:off x="5156200" y="4298950"/>
            <a:ext cx="122238"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6" name="Oval 1116"/>
          <p:cNvSpPr/>
          <p:nvPr/>
        </p:nvSpPr>
        <p:spPr>
          <a:xfrm>
            <a:off x="5156200" y="4727575"/>
            <a:ext cx="122238" cy="12065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7" name="Oval 1117"/>
          <p:cNvSpPr/>
          <p:nvPr/>
        </p:nvSpPr>
        <p:spPr>
          <a:xfrm>
            <a:off x="5156200" y="5530850"/>
            <a:ext cx="122238" cy="1270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58" name="Rectangle 1118"/>
          <p:cNvSpPr/>
          <p:nvPr/>
        </p:nvSpPr>
        <p:spPr>
          <a:xfrm>
            <a:off x="4937125" y="730250"/>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340959" name="Rectangle 1119"/>
          <p:cNvSpPr/>
          <p:nvPr/>
        </p:nvSpPr>
        <p:spPr>
          <a:xfrm>
            <a:off x="4889500" y="1208088"/>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340960" name="Rectangle 1120"/>
          <p:cNvSpPr/>
          <p:nvPr/>
        </p:nvSpPr>
        <p:spPr>
          <a:xfrm>
            <a:off x="4897438" y="1878013"/>
            <a:ext cx="133350"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n</a:t>
            </a:r>
            <a:endParaRPr lang="en-US" altLang="zh-CN" dirty="0">
              <a:latin typeface="Times New Roman" panose="02020603050405020304" pitchFamily="18" charset="0"/>
            </a:endParaRPr>
          </a:p>
        </p:txBody>
      </p:sp>
      <p:sp>
        <p:nvSpPr>
          <p:cNvPr id="2340961" name="Rectangle 1121"/>
          <p:cNvSpPr/>
          <p:nvPr/>
        </p:nvSpPr>
        <p:spPr>
          <a:xfrm>
            <a:off x="4937125" y="2463800"/>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340962" name="Rectangle 1122"/>
          <p:cNvSpPr/>
          <p:nvPr/>
        </p:nvSpPr>
        <p:spPr>
          <a:xfrm>
            <a:off x="4905375" y="2887663"/>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340963" name="Rectangle 1123"/>
          <p:cNvSpPr/>
          <p:nvPr/>
        </p:nvSpPr>
        <p:spPr>
          <a:xfrm>
            <a:off x="4913313" y="3687763"/>
            <a:ext cx="133350"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n</a:t>
            </a:r>
            <a:endParaRPr lang="en-US" altLang="zh-CN" dirty="0">
              <a:latin typeface="Times New Roman" panose="02020603050405020304" pitchFamily="18" charset="0"/>
            </a:endParaRPr>
          </a:p>
        </p:txBody>
      </p:sp>
      <p:sp>
        <p:nvSpPr>
          <p:cNvPr id="2340964" name="Rectangle 1124"/>
          <p:cNvSpPr/>
          <p:nvPr/>
        </p:nvSpPr>
        <p:spPr>
          <a:xfrm>
            <a:off x="4937125" y="4173538"/>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1</a:t>
            </a:r>
            <a:endParaRPr lang="en-US" altLang="zh-CN" dirty="0">
              <a:latin typeface="Times New Roman" panose="02020603050405020304" pitchFamily="18" charset="0"/>
            </a:endParaRPr>
          </a:p>
        </p:txBody>
      </p:sp>
      <p:sp>
        <p:nvSpPr>
          <p:cNvPr id="2340965" name="Rectangle 1125"/>
          <p:cNvSpPr/>
          <p:nvPr/>
        </p:nvSpPr>
        <p:spPr>
          <a:xfrm>
            <a:off x="4913313" y="4630738"/>
            <a:ext cx="13335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Times New Roman" panose="02020603050405020304" pitchFamily="18" charset="0"/>
              </a:rPr>
              <a:t>2</a:t>
            </a:r>
            <a:endParaRPr lang="en-US" altLang="zh-CN" dirty="0">
              <a:latin typeface="Times New Roman" panose="02020603050405020304" pitchFamily="18" charset="0"/>
            </a:endParaRPr>
          </a:p>
        </p:txBody>
      </p:sp>
      <p:sp>
        <p:nvSpPr>
          <p:cNvPr id="2340966" name="Rectangle 1126"/>
          <p:cNvSpPr/>
          <p:nvPr/>
        </p:nvSpPr>
        <p:spPr>
          <a:xfrm>
            <a:off x="4937125" y="5405438"/>
            <a:ext cx="133350"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n</a:t>
            </a:r>
            <a:endParaRPr lang="en-US" altLang="zh-CN" dirty="0">
              <a:latin typeface="Times New Roman" panose="02020603050405020304" pitchFamily="18" charset="0"/>
            </a:endParaRPr>
          </a:p>
        </p:txBody>
      </p:sp>
      <p:sp>
        <p:nvSpPr>
          <p:cNvPr id="2340967" name="Rectangle 1127"/>
          <p:cNvSpPr/>
          <p:nvPr/>
        </p:nvSpPr>
        <p:spPr>
          <a:xfrm>
            <a:off x="6473825" y="1509713"/>
            <a:ext cx="26670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①</a:t>
            </a:r>
            <a:endParaRPr lang="en-US" altLang="zh-CN" dirty="0">
              <a:latin typeface="Times New Roman" panose="02020603050405020304" pitchFamily="18" charset="0"/>
            </a:endParaRPr>
          </a:p>
        </p:txBody>
      </p:sp>
      <p:sp>
        <p:nvSpPr>
          <p:cNvPr id="2340968" name="Rectangle 1128"/>
          <p:cNvSpPr/>
          <p:nvPr/>
        </p:nvSpPr>
        <p:spPr>
          <a:xfrm>
            <a:off x="6521450" y="3294063"/>
            <a:ext cx="26670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②</a:t>
            </a:r>
            <a:endParaRPr lang="en-US" altLang="zh-CN" dirty="0">
              <a:latin typeface="Times New Roman" panose="02020603050405020304" pitchFamily="18" charset="0"/>
            </a:endParaRPr>
          </a:p>
        </p:txBody>
      </p:sp>
      <p:sp>
        <p:nvSpPr>
          <p:cNvPr id="2340969" name="Rectangle 1129"/>
          <p:cNvSpPr/>
          <p:nvPr/>
        </p:nvSpPr>
        <p:spPr>
          <a:xfrm>
            <a:off x="6546850" y="5029200"/>
            <a:ext cx="266700" cy="288925"/>
          </a:xfrm>
          <a:prstGeom prst="rect">
            <a:avLst/>
          </a:prstGeom>
          <a:noFill/>
          <a:ln w="9525">
            <a:noFill/>
          </a:ln>
        </p:spPr>
        <p:txBody>
          <a:bodyPr wrap="none" lIns="0" tIns="0" rIns="0" bIns="0">
            <a:spAutoFit/>
          </a:bodyPr>
          <a:p>
            <a:pPr eaLnBrk="1" hangingPunct="1">
              <a:lnSpc>
                <a:spcPct val="90000"/>
              </a:lnSpc>
            </a:pPr>
            <a:r>
              <a:rPr lang="en-US" altLang="zh-CN" sz="2100" b="0" dirty="0">
                <a:solidFill>
                  <a:srgbClr val="0000FF"/>
                </a:solidFill>
                <a:latin typeface="宋体" panose="02010600030101010101" pitchFamily="2" charset="-122"/>
                <a:ea typeface="宋体" panose="02010600030101010101" pitchFamily="2" charset="-122"/>
              </a:rPr>
              <a:t>③</a:t>
            </a:r>
            <a:endParaRPr lang="en-US" altLang="zh-CN" dirty="0">
              <a:latin typeface="Times New Roman" panose="02020603050405020304" pitchFamily="18" charset="0"/>
            </a:endParaRPr>
          </a:p>
        </p:txBody>
      </p:sp>
      <p:sp>
        <p:nvSpPr>
          <p:cNvPr id="2340971" name="Line 1131"/>
          <p:cNvSpPr/>
          <p:nvPr/>
        </p:nvSpPr>
        <p:spPr>
          <a:xfrm flipH="1">
            <a:off x="6372225" y="909638"/>
            <a:ext cx="568325" cy="1587"/>
          </a:xfrm>
          <a:prstGeom prst="line">
            <a:avLst/>
          </a:prstGeom>
          <a:ln w="0" cap="flat" cmpd="sng">
            <a:solidFill>
              <a:srgbClr val="0000FF"/>
            </a:solidFill>
            <a:prstDash val="solid"/>
            <a:headEnd type="none" w="med" len="med"/>
            <a:tailEnd type="none" w="med" len="med"/>
          </a:ln>
        </p:spPr>
      </p:sp>
      <p:sp>
        <p:nvSpPr>
          <p:cNvPr id="2340972" name="Line 1132"/>
          <p:cNvSpPr/>
          <p:nvPr/>
        </p:nvSpPr>
        <p:spPr>
          <a:xfrm>
            <a:off x="6372225" y="1341438"/>
            <a:ext cx="568325" cy="1587"/>
          </a:xfrm>
          <a:prstGeom prst="line">
            <a:avLst/>
          </a:prstGeom>
          <a:ln w="0" cap="flat" cmpd="sng">
            <a:solidFill>
              <a:srgbClr val="0000FF"/>
            </a:solidFill>
            <a:prstDash val="solid"/>
            <a:headEnd type="none" w="med" len="med"/>
            <a:tailEnd type="none" w="med" len="med"/>
          </a:ln>
        </p:spPr>
      </p:sp>
      <p:sp>
        <p:nvSpPr>
          <p:cNvPr id="2340973" name="Line 1133"/>
          <p:cNvSpPr/>
          <p:nvPr/>
        </p:nvSpPr>
        <p:spPr>
          <a:xfrm flipH="1">
            <a:off x="6367463" y="2041525"/>
            <a:ext cx="573087" cy="1588"/>
          </a:xfrm>
          <a:prstGeom prst="line">
            <a:avLst/>
          </a:prstGeom>
          <a:ln w="0" cap="flat" cmpd="sng">
            <a:solidFill>
              <a:srgbClr val="0000FF"/>
            </a:solidFill>
            <a:prstDash val="solid"/>
            <a:headEnd type="none" w="med" len="med"/>
            <a:tailEnd type="none" w="med" len="med"/>
          </a:ln>
        </p:spPr>
      </p:sp>
      <p:sp>
        <p:nvSpPr>
          <p:cNvPr id="2340974" name="Line 1134"/>
          <p:cNvSpPr/>
          <p:nvPr/>
        </p:nvSpPr>
        <p:spPr>
          <a:xfrm flipH="1">
            <a:off x="7931150" y="1463675"/>
            <a:ext cx="325438" cy="1588"/>
          </a:xfrm>
          <a:prstGeom prst="line">
            <a:avLst/>
          </a:prstGeom>
          <a:ln w="0" cap="flat" cmpd="sng">
            <a:solidFill>
              <a:srgbClr val="0000FF"/>
            </a:solidFill>
            <a:prstDash val="solid"/>
            <a:headEnd type="none" w="med" len="med"/>
            <a:tailEnd type="none" w="med" len="med"/>
          </a:ln>
        </p:spPr>
      </p:sp>
      <p:sp>
        <p:nvSpPr>
          <p:cNvPr id="2340975" name="Line 1135"/>
          <p:cNvSpPr/>
          <p:nvPr/>
        </p:nvSpPr>
        <p:spPr>
          <a:xfrm>
            <a:off x="6940550" y="5032375"/>
            <a:ext cx="393700" cy="1588"/>
          </a:xfrm>
          <a:prstGeom prst="line">
            <a:avLst/>
          </a:prstGeom>
          <a:ln w="0" cap="flat" cmpd="sng">
            <a:solidFill>
              <a:srgbClr val="0000FF"/>
            </a:solidFill>
            <a:prstDash val="solid"/>
            <a:headEnd type="none" w="med" len="med"/>
            <a:tailEnd type="none" w="med" len="med"/>
          </a:ln>
        </p:spPr>
      </p:sp>
      <p:sp>
        <p:nvSpPr>
          <p:cNvPr id="2340976" name="Line 1136"/>
          <p:cNvSpPr/>
          <p:nvPr/>
        </p:nvSpPr>
        <p:spPr>
          <a:xfrm>
            <a:off x="5270500" y="3856038"/>
            <a:ext cx="500063" cy="1587"/>
          </a:xfrm>
          <a:prstGeom prst="line">
            <a:avLst/>
          </a:prstGeom>
          <a:ln w="0" cap="flat" cmpd="sng">
            <a:solidFill>
              <a:srgbClr val="0000FF"/>
            </a:solidFill>
            <a:prstDash val="solid"/>
            <a:headEnd type="none" w="med" len="med"/>
            <a:tailEnd type="none" w="med" len="med"/>
          </a:ln>
        </p:spPr>
      </p:sp>
      <p:sp>
        <p:nvSpPr>
          <p:cNvPr id="2340977" name="Line 1137"/>
          <p:cNvSpPr/>
          <p:nvPr/>
        </p:nvSpPr>
        <p:spPr>
          <a:xfrm>
            <a:off x="6372225" y="4354513"/>
            <a:ext cx="568325" cy="1587"/>
          </a:xfrm>
          <a:prstGeom prst="line">
            <a:avLst/>
          </a:prstGeom>
          <a:ln w="0" cap="flat" cmpd="sng">
            <a:solidFill>
              <a:srgbClr val="0000FF"/>
            </a:solidFill>
            <a:prstDash val="solid"/>
            <a:headEnd type="none" w="med" len="med"/>
            <a:tailEnd type="none" w="med" len="med"/>
          </a:ln>
        </p:spPr>
      </p:sp>
      <p:sp>
        <p:nvSpPr>
          <p:cNvPr id="2340978" name="Line 1138"/>
          <p:cNvSpPr/>
          <p:nvPr/>
        </p:nvSpPr>
        <p:spPr>
          <a:xfrm>
            <a:off x="6362700" y="5589588"/>
            <a:ext cx="573088" cy="1587"/>
          </a:xfrm>
          <a:prstGeom prst="line">
            <a:avLst/>
          </a:prstGeom>
          <a:ln w="0" cap="flat" cmpd="sng">
            <a:solidFill>
              <a:srgbClr val="0000FF"/>
            </a:solidFill>
            <a:prstDash val="solid"/>
            <a:headEnd type="none" w="med" len="med"/>
            <a:tailEnd type="none" w="med" len="med"/>
          </a:ln>
        </p:spPr>
      </p:sp>
      <p:sp>
        <p:nvSpPr>
          <p:cNvPr id="2340979" name="Line 1139"/>
          <p:cNvSpPr/>
          <p:nvPr/>
        </p:nvSpPr>
        <p:spPr>
          <a:xfrm flipH="1">
            <a:off x="6372225" y="3851275"/>
            <a:ext cx="563563" cy="1588"/>
          </a:xfrm>
          <a:prstGeom prst="line">
            <a:avLst/>
          </a:prstGeom>
          <a:ln w="0" cap="flat" cmpd="sng">
            <a:solidFill>
              <a:srgbClr val="0000FF"/>
            </a:solidFill>
            <a:prstDash val="solid"/>
            <a:headEnd type="none" w="med" len="med"/>
            <a:tailEnd type="none" w="med" len="med"/>
          </a:ln>
        </p:spPr>
      </p:sp>
      <p:sp>
        <p:nvSpPr>
          <p:cNvPr id="2340980" name="Line 1140"/>
          <p:cNvSpPr/>
          <p:nvPr/>
        </p:nvSpPr>
        <p:spPr>
          <a:xfrm>
            <a:off x="6935788" y="4354513"/>
            <a:ext cx="1587" cy="1235075"/>
          </a:xfrm>
          <a:prstGeom prst="line">
            <a:avLst/>
          </a:prstGeom>
          <a:ln w="0" cap="flat" cmpd="sng">
            <a:solidFill>
              <a:srgbClr val="0000FF"/>
            </a:solidFill>
            <a:prstDash val="solid"/>
            <a:headEnd type="none" w="med" len="med"/>
            <a:tailEnd type="none" w="med" len="med"/>
          </a:ln>
        </p:spPr>
      </p:sp>
      <p:sp>
        <p:nvSpPr>
          <p:cNvPr id="2340981" name="Line 1141"/>
          <p:cNvSpPr/>
          <p:nvPr/>
        </p:nvSpPr>
        <p:spPr>
          <a:xfrm flipV="1">
            <a:off x="8261350" y="1463675"/>
            <a:ext cx="1588" cy="3560763"/>
          </a:xfrm>
          <a:prstGeom prst="line">
            <a:avLst/>
          </a:prstGeom>
          <a:ln w="0" cap="flat" cmpd="sng">
            <a:solidFill>
              <a:srgbClr val="0000FF"/>
            </a:solidFill>
            <a:prstDash val="solid"/>
            <a:headEnd type="none" w="med" len="med"/>
            <a:tailEnd type="none" w="med" len="med"/>
          </a:ln>
        </p:spPr>
      </p:sp>
      <p:sp>
        <p:nvSpPr>
          <p:cNvPr id="2340982" name="Line 1142"/>
          <p:cNvSpPr/>
          <p:nvPr/>
        </p:nvSpPr>
        <p:spPr>
          <a:xfrm>
            <a:off x="6935788" y="909638"/>
            <a:ext cx="1587" cy="1136650"/>
          </a:xfrm>
          <a:prstGeom prst="line">
            <a:avLst/>
          </a:prstGeom>
          <a:ln w="0" cap="flat" cmpd="sng">
            <a:solidFill>
              <a:srgbClr val="0000FF"/>
            </a:solidFill>
            <a:prstDash val="solid"/>
            <a:headEnd type="none" w="med" len="med"/>
            <a:tailEnd type="none" w="med" len="med"/>
          </a:ln>
        </p:spPr>
      </p:sp>
      <p:sp>
        <p:nvSpPr>
          <p:cNvPr id="2340983" name="Rectangle 1143"/>
          <p:cNvSpPr/>
          <p:nvPr/>
        </p:nvSpPr>
        <p:spPr>
          <a:xfrm>
            <a:off x="5683250" y="5791200"/>
            <a:ext cx="2528888" cy="301625"/>
          </a:xfrm>
          <a:prstGeom prst="rect">
            <a:avLst/>
          </a:prstGeom>
          <a:noFill/>
          <a:ln w="9525">
            <a:noFill/>
          </a:ln>
        </p:spPr>
        <p:txBody>
          <a:bodyPr wrap="none" lIns="0" tIns="0" rIns="0" bIns="0">
            <a:spAutoFit/>
          </a:bodyPr>
          <a:p>
            <a:pPr eaLnBrk="1" hangingPunct="1">
              <a:lnSpc>
                <a:spcPct val="90000"/>
              </a:lnSpc>
            </a:pPr>
            <a:r>
              <a:rPr lang="zh-CN" altLang="en-US" sz="2200" dirty="0">
                <a:solidFill>
                  <a:srgbClr val="000080"/>
                </a:solidFill>
                <a:latin typeface="楷体_GB2312" pitchFamily="49" charset="-122"/>
              </a:rPr>
              <a:t>多路开关的分级组合</a:t>
            </a:r>
            <a:endParaRPr lang="zh-CN" altLang="en-US" sz="3200" dirty="0">
              <a:latin typeface="Times New Roman" panose="02020603050405020304" pitchFamily="18" charset="0"/>
            </a:endParaRPr>
          </a:p>
        </p:txBody>
      </p:sp>
      <p:sp>
        <p:nvSpPr>
          <p:cNvPr id="2340970" name="Oval 1130"/>
          <p:cNvSpPr/>
          <p:nvPr/>
        </p:nvSpPr>
        <p:spPr>
          <a:xfrm>
            <a:off x="8204200" y="3294063"/>
            <a:ext cx="122238" cy="1254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0989" name="Text Box 1149"/>
          <p:cNvSpPr txBox="1"/>
          <p:nvPr/>
        </p:nvSpPr>
        <p:spPr>
          <a:xfrm>
            <a:off x="228600" y="3816350"/>
            <a:ext cx="4352925" cy="2227263"/>
          </a:xfrm>
          <a:prstGeom prst="rect">
            <a:avLst/>
          </a:prstGeom>
          <a:no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将</a:t>
            </a:r>
            <a:r>
              <a:rPr lang="en-US" altLang="zh-CN" sz="2800" dirty="0">
                <a:solidFill>
                  <a:srgbClr val="CC00CC"/>
                </a:solidFill>
                <a:latin typeface="Times New Roman" panose="02020603050405020304" pitchFamily="18" charset="0"/>
                <a:ea typeface="黑体" panose="02010609060101010101" pitchFamily="49" charset="-122"/>
              </a:rPr>
              <a:t>3</a:t>
            </a:r>
            <a:r>
              <a:rPr lang="en-US" altLang="zh-CN" sz="2800" i="1" dirty="0">
                <a:solidFill>
                  <a:srgbClr val="CC00CC"/>
                </a:solidFill>
                <a:latin typeface="Times New Roman" panose="02020603050405020304" pitchFamily="18" charset="0"/>
                <a:ea typeface="黑体" panose="02010609060101010101" pitchFamily="49" charset="-122"/>
              </a:rPr>
              <a:t>n</a:t>
            </a:r>
            <a:r>
              <a:rPr lang="zh-CN" altLang="en-US" sz="2800" dirty="0">
                <a:latin typeface="黑体" panose="02010609060101010101" pitchFamily="49" charset="-122"/>
                <a:ea typeface="黑体" panose="02010609060101010101" pitchFamily="49" charset="-122"/>
              </a:rPr>
              <a:t>个通道分成</a:t>
            </a:r>
            <a:r>
              <a:rPr lang="en-US" altLang="zh-CN" sz="2800" dirty="0">
                <a:solidFill>
                  <a:srgbClr val="CC00CC"/>
                </a:solidFill>
                <a:latin typeface="Times New Roman" panose="02020603050405020304" pitchFamily="18" charset="0"/>
                <a:ea typeface="黑体" panose="02010609060101010101" pitchFamily="49" charset="-122"/>
              </a:rPr>
              <a:t>3</a:t>
            </a:r>
            <a:r>
              <a:rPr lang="zh-CN" altLang="en-US" sz="2800" dirty="0">
                <a:latin typeface="黑体" panose="02010609060101010101" pitchFamily="49" charset="-122"/>
                <a:ea typeface="黑体" panose="02010609060101010101" pitchFamily="49" charset="-122"/>
              </a:rPr>
              <a:t>组，再用</a:t>
            </a:r>
            <a:r>
              <a:rPr lang="en-US" altLang="zh-CN" sz="2800" dirty="0">
                <a:solidFill>
                  <a:srgbClr val="CC00CC"/>
                </a:solidFill>
                <a:latin typeface="Times New Roman" panose="02020603050405020304" pitchFamily="18" charset="0"/>
                <a:ea typeface="黑体" panose="02010609060101010101" pitchFamily="49" charset="-122"/>
              </a:rPr>
              <a:t>3</a:t>
            </a:r>
            <a:r>
              <a:rPr lang="zh-CN" altLang="en-US" sz="2800" dirty="0">
                <a:latin typeface="黑体" panose="02010609060101010101" pitchFamily="49" charset="-122"/>
                <a:ea typeface="黑体" panose="02010609060101010101" pitchFamily="49" charset="-122"/>
              </a:rPr>
              <a:t>个第二级的开关接到输出端。这样将使流到输出端的漏电流由</a:t>
            </a:r>
            <a:r>
              <a:rPr lang="en-US" altLang="zh-CN" sz="2800" dirty="0">
                <a:solidFill>
                  <a:srgbClr val="CC00CC"/>
                </a:solidFill>
                <a:latin typeface="Times New Roman" panose="02020603050405020304" pitchFamily="18" charset="0"/>
                <a:ea typeface="黑体" panose="02010609060101010101" pitchFamily="49" charset="-122"/>
              </a:rPr>
              <a:t>(3n</a:t>
            </a:r>
            <a:r>
              <a:rPr lang="zh-CN" altLang="en-US" sz="2800" dirty="0">
                <a:solidFill>
                  <a:srgbClr val="CC00CC"/>
                </a:solidFill>
                <a:latin typeface="Times New Roman" panose="02020603050405020304" pitchFamily="18" charset="0"/>
                <a:ea typeface="黑体" panose="02010609060101010101" pitchFamily="49" charset="-122"/>
              </a:rPr>
              <a:t>－</a:t>
            </a:r>
            <a:r>
              <a:rPr lang="en-US" altLang="zh-CN" sz="2800" dirty="0">
                <a:solidFill>
                  <a:srgbClr val="CC00CC"/>
                </a:solidFill>
                <a:latin typeface="Times New Roman" panose="02020603050405020304" pitchFamily="18" charset="0"/>
                <a:ea typeface="黑体" panose="02010609060101010101" pitchFamily="49" charset="-122"/>
              </a:rPr>
              <a:t>1)</a:t>
            </a:r>
            <a:r>
              <a:rPr lang="en-US" altLang="zh-CN" sz="2800" i="1" dirty="0">
                <a:solidFill>
                  <a:srgbClr val="CC00CC"/>
                </a:solidFill>
                <a:latin typeface="Times New Roman" panose="02020603050405020304" pitchFamily="18" charset="0"/>
                <a:ea typeface="黑体" panose="02010609060101010101" pitchFamily="49" charset="-122"/>
              </a:rPr>
              <a:t>I</a:t>
            </a:r>
            <a:r>
              <a:rPr lang="en-US" altLang="zh-CN" sz="2800" baseline="-25000" dirty="0">
                <a:solidFill>
                  <a:srgbClr val="CC00CC"/>
                </a:solidFill>
                <a:latin typeface="Times New Roman" panose="02020603050405020304" pitchFamily="18" charset="0"/>
                <a:ea typeface="黑体" panose="02010609060101010101" pitchFamily="49" charset="-122"/>
              </a:rPr>
              <a:t>S</a:t>
            </a:r>
            <a:r>
              <a:rPr lang="zh-CN" altLang="en-US" sz="2800" dirty="0">
                <a:latin typeface="黑体" panose="02010609060101010101" pitchFamily="49" charset="-122"/>
                <a:ea typeface="黑体" panose="02010609060101010101" pitchFamily="49" charset="-122"/>
              </a:rPr>
              <a:t>降到</a:t>
            </a:r>
            <a:r>
              <a:rPr lang="en-US" altLang="zh-CN" sz="2800" dirty="0">
                <a:solidFill>
                  <a:srgbClr val="CC00CC"/>
                </a:solidFill>
                <a:latin typeface="Times New Roman" panose="02020603050405020304" pitchFamily="18" charset="0"/>
                <a:ea typeface="黑体" panose="02010609060101010101" pitchFamily="49" charset="-122"/>
              </a:rPr>
              <a:t>(n-1)</a:t>
            </a:r>
            <a:r>
              <a:rPr lang="en-US" altLang="zh-CN" sz="2800" i="1" dirty="0">
                <a:solidFill>
                  <a:srgbClr val="CC00CC"/>
                </a:solidFill>
                <a:latin typeface="Times New Roman" panose="02020603050405020304" pitchFamily="18" charset="0"/>
                <a:ea typeface="黑体" panose="02010609060101010101" pitchFamily="49" charset="-122"/>
              </a:rPr>
              <a:t>I</a:t>
            </a:r>
            <a:r>
              <a:rPr lang="en-US" altLang="zh-CN" sz="2800" baseline="-25000" dirty="0">
                <a:solidFill>
                  <a:srgbClr val="CC00CC"/>
                </a:solidFill>
                <a:latin typeface="Times New Roman" panose="02020603050405020304" pitchFamily="18" charset="0"/>
                <a:ea typeface="黑体" panose="02010609060101010101" pitchFamily="49" charset="-122"/>
              </a:rPr>
              <a:t>S</a:t>
            </a:r>
            <a:r>
              <a:rPr lang="zh-CN" altLang="en-US" sz="2800" dirty="0">
                <a:latin typeface="黑体" panose="02010609060101010101" pitchFamily="49" charset="-122"/>
                <a:ea typeface="黑体" panose="02010609060101010101" pitchFamily="49" charset="-122"/>
              </a:rPr>
              <a:t>，差不多减至</a:t>
            </a:r>
            <a:r>
              <a:rPr lang="en-US" altLang="zh-CN" sz="2800" dirty="0">
                <a:solidFill>
                  <a:srgbClr val="CC00CC"/>
                </a:solidFill>
                <a:latin typeface="Times New Roman" panose="02020603050405020304" pitchFamily="18" charset="0"/>
                <a:ea typeface="黑体" panose="02010609060101010101" pitchFamily="49" charset="-122"/>
              </a:rPr>
              <a:t>1/3</a:t>
            </a:r>
            <a:r>
              <a:rPr lang="zh-CN" altLang="en-US" sz="2800" dirty="0">
                <a:latin typeface="黑体" panose="02010609060101010101" pitchFamily="49" charset="-122"/>
                <a:ea typeface="黑体" panose="02010609060101010101" pitchFamily="49" charset="-122"/>
              </a:rPr>
              <a:t>。</a:t>
            </a:r>
            <a:endParaRPr lang="zh-CN" altLang="en-US" sz="2800" dirty="0">
              <a:latin typeface="黑体" panose="02010609060101010101" pitchFamily="49" charset="-122"/>
              <a:ea typeface="黑体" panose="02010609060101010101" pitchFamily="49" charset="-122"/>
            </a:endParaRPr>
          </a:p>
        </p:txBody>
      </p:sp>
      <p:grpSp>
        <p:nvGrpSpPr>
          <p:cNvPr id="2340996" name="Group 1156"/>
          <p:cNvGrpSpPr/>
          <p:nvPr/>
        </p:nvGrpSpPr>
        <p:grpSpPr>
          <a:xfrm>
            <a:off x="5762625" y="838200"/>
            <a:ext cx="2170113" cy="693738"/>
            <a:chOff x="3624" y="72"/>
            <a:chExt cx="1367" cy="437"/>
          </a:xfrm>
        </p:grpSpPr>
        <p:sp>
          <p:nvSpPr>
            <p:cNvPr id="43126" name="Oval 1150"/>
            <p:cNvSpPr/>
            <p:nvPr/>
          </p:nvSpPr>
          <p:spPr>
            <a:xfrm>
              <a:off x="3624" y="81"/>
              <a:ext cx="77" cy="79"/>
            </a:xfrm>
            <a:prstGeom prst="ellipse">
              <a:avLst/>
            </a:prstGeom>
            <a:noFill/>
            <a:ln w="1905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7" name="Oval 1151"/>
            <p:cNvSpPr/>
            <p:nvPr/>
          </p:nvSpPr>
          <p:spPr>
            <a:xfrm>
              <a:off x="3931" y="81"/>
              <a:ext cx="77" cy="79"/>
            </a:xfrm>
            <a:prstGeom prst="ellipse">
              <a:avLst/>
            </a:prstGeom>
            <a:noFill/>
            <a:ln w="1905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8" name="Line 1152"/>
            <p:cNvSpPr/>
            <p:nvPr/>
          </p:nvSpPr>
          <p:spPr>
            <a:xfrm flipV="1">
              <a:off x="3693" y="72"/>
              <a:ext cx="308" cy="25"/>
            </a:xfrm>
            <a:prstGeom prst="line">
              <a:avLst/>
            </a:prstGeom>
            <a:ln w="19050" cap="flat" cmpd="sng">
              <a:solidFill>
                <a:srgbClr val="FF0000"/>
              </a:solidFill>
              <a:prstDash val="solid"/>
              <a:headEnd type="none" w="med" len="med"/>
              <a:tailEnd type="none" w="med" len="med"/>
            </a:ln>
          </p:spPr>
        </p:sp>
        <p:sp>
          <p:nvSpPr>
            <p:cNvPr id="43129" name="Oval 1153"/>
            <p:cNvSpPr/>
            <p:nvPr/>
          </p:nvSpPr>
          <p:spPr>
            <a:xfrm>
              <a:off x="4607" y="429"/>
              <a:ext cx="77" cy="80"/>
            </a:xfrm>
            <a:prstGeom prst="ellipse">
              <a:avLst/>
            </a:prstGeom>
            <a:noFill/>
            <a:ln w="1905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0" name="Oval 1154"/>
            <p:cNvSpPr/>
            <p:nvPr/>
          </p:nvSpPr>
          <p:spPr>
            <a:xfrm>
              <a:off x="4914" y="429"/>
              <a:ext cx="77" cy="80"/>
            </a:xfrm>
            <a:prstGeom prst="ellipse">
              <a:avLst/>
            </a:prstGeom>
            <a:noFill/>
            <a:ln w="19050" cap="flat" cmpd="sng">
              <a:solidFill>
                <a:srgbClr val="FF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31" name="Line 1155"/>
            <p:cNvSpPr/>
            <p:nvPr/>
          </p:nvSpPr>
          <p:spPr>
            <a:xfrm flipV="1">
              <a:off x="4679" y="420"/>
              <a:ext cx="306" cy="25"/>
            </a:xfrm>
            <a:prstGeom prst="line">
              <a:avLst/>
            </a:prstGeom>
            <a:ln w="19050" cap="flat" cmpd="sng">
              <a:solidFill>
                <a:srgbClr val="FF0000"/>
              </a:solidFill>
              <a:prstDash val="solid"/>
              <a:headEnd type="none" w="med" len="med"/>
              <a:tailEnd type="none" w="med" len="med"/>
            </a:ln>
          </p:spPr>
        </p:sp>
      </p:grpSp>
      <p:grpSp>
        <p:nvGrpSpPr>
          <p:cNvPr id="2341011" name="Group 1171"/>
          <p:cNvGrpSpPr/>
          <p:nvPr/>
        </p:nvGrpSpPr>
        <p:grpSpPr>
          <a:xfrm>
            <a:off x="5762625" y="1112838"/>
            <a:ext cx="2170113" cy="3987800"/>
            <a:chOff x="3768" y="839"/>
            <a:chExt cx="1367" cy="2512"/>
          </a:xfrm>
        </p:grpSpPr>
        <p:sp>
          <p:nvSpPr>
            <p:cNvPr id="43114" name="Oval 1159"/>
            <p:cNvSpPr/>
            <p:nvPr/>
          </p:nvSpPr>
          <p:spPr>
            <a:xfrm>
              <a:off x="3768" y="944"/>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15" name="Oval 1160"/>
            <p:cNvSpPr/>
            <p:nvPr/>
          </p:nvSpPr>
          <p:spPr>
            <a:xfrm>
              <a:off x="4075" y="944"/>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16" name="Line 1161"/>
            <p:cNvSpPr/>
            <p:nvPr/>
          </p:nvSpPr>
          <p:spPr>
            <a:xfrm flipV="1">
              <a:off x="3837" y="839"/>
              <a:ext cx="308" cy="126"/>
            </a:xfrm>
            <a:prstGeom prst="line">
              <a:avLst/>
            </a:prstGeom>
            <a:ln w="19050" cap="flat" cmpd="sng">
              <a:solidFill>
                <a:srgbClr val="CC00CC"/>
              </a:solidFill>
              <a:prstDash val="solid"/>
              <a:headEnd type="none" w="med" len="med"/>
              <a:tailEnd type="none" w="med" len="med"/>
            </a:ln>
          </p:spPr>
        </p:sp>
        <p:sp>
          <p:nvSpPr>
            <p:cNvPr id="43117" name="Oval 1162"/>
            <p:cNvSpPr/>
            <p:nvPr/>
          </p:nvSpPr>
          <p:spPr>
            <a:xfrm>
              <a:off x="3768" y="1388"/>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18" name="Oval 1163"/>
            <p:cNvSpPr/>
            <p:nvPr/>
          </p:nvSpPr>
          <p:spPr>
            <a:xfrm>
              <a:off x="4075" y="1388"/>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19" name="Line 1164"/>
            <p:cNvSpPr/>
            <p:nvPr/>
          </p:nvSpPr>
          <p:spPr>
            <a:xfrm flipV="1">
              <a:off x="3837" y="1279"/>
              <a:ext cx="308" cy="127"/>
            </a:xfrm>
            <a:prstGeom prst="line">
              <a:avLst/>
            </a:prstGeom>
            <a:ln w="19050" cap="flat" cmpd="sng">
              <a:solidFill>
                <a:srgbClr val="CC00CC"/>
              </a:solidFill>
              <a:prstDash val="solid"/>
              <a:headEnd type="none" w="med" len="med"/>
              <a:tailEnd type="none" w="med" len="med"/>
            </a:ln>
          </p:spPr>
        </p:sp>
        <p:sp>
          <p:nvSpPr>
            <p:cNvPr id="43120" name="Oval 1165"/>
            <p:cNvSpPr/>
            <p:nvPr/>
          </p:nvSpPr>
          <p:spPr>
            <a:xfrm>
              <a:off x="4751" y="2211"/>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1" name="Oval 1166"/>
            <p:cNvSpPr/>
            <p:nvPr/>
          </p:nvSpPr>
          <p:spPr>
            <a:xfrm>
              <a:off x="5058" y="2211"/>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2" name="Line 1167"/>
            <p:cNvSpPr/>
            <p:nvPr/>
          </p:nvSpPr>
          <p:spPr>
            <a:xfrm flipV="1">
              <a:off x="4823" y="2153"/>
              <a:ext cx="276" cy="79"/>
            </a:xfrm>
            <a:prstGeom prst="line">
              <a:avLst/>
            </a:prstGeom>
            <a:ln w="19050" cap="flat" cmpd="sng">
              <a:solidFill>
                <a:srgbClr val="CC00CC"/>
              </a:solidFill>
              <a:prstDash val="solid"/>
              <a:headEnd type="none" w="med" len="med"/>
              <a:tailEnd type="none" w="med" len="med"/>
            </a:ln>
          </p:spPr>
        </p:sp>
        <p:sp>
          <p:nvSpPr>
            <p:cNvPr id="43123" name="Oval 1168"/>
            <p:cNvSpPr/>
            <p:nvPr/>
          </p:nvSpPr>
          <p:spPr>
            <a:xfrm>
              <a:off x="4751" y="3272"/>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4" name="Oval 1169"/>
            <p:cNvSpPr/>
            <p:nvPr/>
          </p:nvSpPr>
          <p:spPr>
            <a:xfrm>
              <a:off x="5058" y="3272"/>
              <a:ext cx="77" cy="79"/>
            </a:xfrm>
            <a:prstGeom prst="ellipse">
              <a:avLst/>
            </a:prstGeom>
            <a:noFill/>
            <a:ln w="19050" cap="flat" cmpd="sng">
              <a:solidFill>
                <a:srgbClr val="CC00CC"/>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25" name="Line 1170"/>
            <p:cNvSpPr/>
            <p:nvPr/>
          </p:nvSpPr>
          <p:spPr>
            <a:xfrm flipV="1">
              <a:off x="4828" y="3209"/>
              <a:ext cx="276" cy="79"/>
            </a:xfrm>
            <a:prstGeom prst="line">
              <a:avLst/>
            </a:prstGeom>
            <a:ln w="19050" cap="flat" cmpd="sng">
              <a:solidFill>
                <a:srgbClr val="CC00CC"/>
              </a:solidFill>
              <a:prstDash val="solid"/>
              <a:headEnd type="none" w="med" len="med"/>
              <a:tailEnd type="none" w="med" len="med"/>
            </a:ln>
          </p:spPr>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40875"/>
                                        </p:tgtEl>
                                        <p:attrNameLst>
                                          <p:attrName>style.visibility</p:attrName>
                                        </p:attrNameLst>
                                      </p:cBhvr>
                                      <p:to>
                                        <p:strVal val="visible"/>
                                      </p:to>
                                    </p:set>
                                    <p:animEffect transition="in" filter="dissolve">
                                      <p:cBhvr>
                                        <p:cTn id="7" dur="500"/>
                                        <p:tgtEl>
                                          <p:spTgt spid="234087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0987"/>
                                        </p:tgtEl>
                                        <p:attrNameLst>
                                          <p:attrName>style.visibility</p:attrName>
                                        </p:attrNameLst>
                                      </p:cBhvr>
                                      <p:to>
                                        <p:strVal val="visible"/>
                                      </p:to>
                                    </p:set>
                                    <p:animEffect transition="in" filter="dissolve">
                                      <p:cBhvr>
                                        <p:cTn id="12" dur="500"/>
                                        <p:tgtEl>
                                          <p:spTgt spid="23409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40881"/>
                                        </p:tgtEl>
                                        <p:attrNameLst>
                                          <p:attrName>style.visibility</p:attrName>
                                        </p:attrNameLst>
                                      </p:cBhvr>
                                      <p:to>
                                        <p:strVal val="visible"/>
                                      </p:to>
                                    </p:set>
                                    <p:animEffect transition="in" filter="dissolve">
                                      <p:cBhvr>
                                        <p:cTn id="17" dur="500"/>
                                        <p:tgtEl>
                                          <p:spTgt spid="2340881"/>
                                        </p:tgtEl>
                                      </p:cBhvr>
                                    </p:animEffect>
                                  </p:childTnLst>
                                </p:cTn>
                              </p:par>
                              <p:par>
                                <p:cTn id="18" presetID="9" presetClass="entr" presetSubtype="0" fill="hold" nodeType="withEffect">
                                  <p:stCondLst>
                                    <p:cond delay="0"/>
                                  </p:stCondLst>
                                  <p:childTnLst>
                                    <p:set>
                                      <p:cBhvr>
                                        <p:cTn id="19" dur="1" fill="hold">
                                          <p:stCondLst>
                                            <p:cond delay="0"/>
                                          </p:stCondLst>
                                        </p:cTn>
                                        <p:tgtEl>
                                          <p:spTgt spid="2340883"/>
                                        </p:tgtEl>
                                        <p:attrNameLst>
                                          <p:attrName>style.visibility</p:attrName>
                                        </p:attrNameLst>
                                      </p:cBhvr>
                                      <p:to>
                                        <p:strVal val="visible"/>
                                      </p:to>
                                    </p:set>
                                    <p:animEffect transition="in" filter="dissolve">
                                      <p:cBhvr>
                                        <p:cTn id="20" dur="500"/>
                                        <p:tgtEl>
                                          <p:spTgt spid="2340883"/>
                                        </p:tgtEl>
                                      </p:cBhvr>
                                    </p:animEffect>
                                  </p:childTnLst>
                                </p:cTn>
                              </p:par>
                              <p:par>
                                <p:cTn id="21" presetID="9" presetClass="entr" presetSubtype="0" fill="hold" nodeType="withEffect">
                                  <p:stCondLst>
                                    <p:cond delay="0"/>
                                  </p:stCondLst>
                                  <p:childTnLst>
                                    <p:set>
                                      <p:cBhvr>
                                        <p:cTn id="22" dur="1" fill="hold">
                                          <p:stCondLst>
                                            <p:cond delay="0"/>
                                          </p:stCondLst>
                                        </p:cTn>
                                        <p:tgtEl>
                                          <p:spTgt spid="2340887"/>
                                        </p:tgtEl>
                                        <p:attrNameLst>
                                          <p:attrName>style.visibility</p:attrName>
                                        </p:attrNameLst>
                                      </p:cBhvr>
                                      <p:to>
                                        <p:strVal val="visible"/>
                                      </p:to>
                                    </p:set>
                                    <p:animEffect transition="in" filter="dissolve">
                                      <p:cBhvr>
                                        <p:cTn id="23" dur="500"/>
                                        <p:tgtEl>
                                          <p:spTgt spid="2340887"/>
                                        </p:tgtEl>
                                      </p:cBhvr>
                                    </p:animEffect>
                                  </p:childTnLst>
                                </p:cTn>
                              </p:par>
                              <p:par>
                                <p:cTn id="24" presetID="9" presetClass="entr" presetSubtype="0" fill="hold" nodeType="withEffect">
                                  <p:stCondLst>
                                    <p:cond delay="0"/>
                                  </p:stCondLst>
                                  <p:childTnLst>
                                    <p:set>
                                      <p:cBhvr>
                                        <p:cTn id="25" dur="1" fill="hold">
                                          <p:stCondLst>
                                            <p:cond delay="0"/>
                                          </p:stCondLst>
                                        </p:cTn>
                                        <p:tgtEl>
                                          <p:spTgt spid="2340888"/>
                                        </p:tgtEl>
                                        <p:attrNameLst>
                                          <p:attrName>style.visibility</p:attrName>
                                        </p:attrNameLst>
                                      </p:cBhvr>
                                      <p:to>
                                        <p:strVal val="visible"/>
                                      </p:to>
                                    </p:set>
                                    <p:animEffect transition="in" filter="dissolve">
                                      <p:cBhvr>
                                        <p:cTn id="26" dur="500"/>
                                        <p:tgtEl>
                                          <p:spTgt spid="2340888"/>
                                        </p:tgtEl>
                                      </p:cBhvr>
                                    </p:animEffect>
                                  </p:childTnLst>
                                </p:cTn>
                              </p:par>
                              <p:par>
                                <p:cTn id="27" presetID="9" presetClass="entr" presetSubtype="0" fill="hold" nodeType="withEffect">
                                  <p:stCondLst>
                                    <p:cond delay="0"/>
                                  </p:stCondLst>
                                  <p:childTnLst>
                                    <p:set>
                                      <p:cBhvr>
                                        <p:cTn id="28" dur="1" fill="hold">
                                          <p:stCondLst>
                                            <p:cond delay="0"/>
                                          </p:stCondLst>
                                        </p:cTn>
                                        <p:tgtEl>
                                          <p:spTgt spid="2340889"/>
                                        </p:tgtEl>
                                        <p:attrNameLst>
                                          <p:attrName>style.visibility</p:attrName>
                                        </p:attrNameLst>
                                      </p:cBhvr>
                                      <p:to>
                                        <p:strVal val="visible"/>
                                      </p:to>
                                    </p:set>
                                    <p:animEffect transition="in" filter="dissolve">
                                      <p:cBhvr>
                                        <p:cTn id="29" dur="500"/>
                                        <p:tgtEl>
                                          <p:spTgt spid="2340889"/>
                                        </p:tgtEl>
                                      </p:cBhvr>
                                    </p:animEffect>
                                  </p:childTnLst>
                                </p:cTn>
                              </p:par>
                              <p:par>
                                <p:cTn id="30" presetID="9" presetClass="entr" presetSubtype="0" fill="hold" nodeType="withEffect">
                                  <p:stCondLst>
                                    <p:cond delay="0"/>
                                  </p:stCondLst>
                                  <p:childTnLst>
                                    <p:set>
                                      <p:cBhvr>
                                        <p:cTn id="31" dur="1" fill="hold">
                                          <p:stCondLst>
                                            <p:cond delay="0"/>
                                          </p:stCondLst>
                                        </p:cTn>
                                        <p:tgtEl>
                                          <p:spTgt spid="2340890"/>
                                        </p:tgtEl>
                                        <p:attrNameLst>
                                          <p:attrName>style.visibility</p:attrName>
                                        </p:attrNameLst>
                                      </p:cBhvr>
                                      <p:to>
                                        <p:strVal val="visible"/>
                                      </p:to>
                                    </p:set>
                                    <p:animEffect transition="in" filter="dissolve">
                                      <p:cBhvr>
                                        <p:cTn id="32" dur="500"/>
                                        <p:tgtEl>
                                          <p:spTgt spid="2340890"/>
                                        </p:tgtEl>
                                      </p:cBhvr>
                                    </p:animEffect>
                                  </p:childTnLst>
                                </p:cTn>
                              </p:par>
                              <p:par>
                                <p:cTn id="33" presetID="9" presetClass="entr" presetSubtype="0" fill="hold" nodeType="withEffect">
                                  <p:stCondLst>
                                    <p:cond delay="0"/>
                                  </p:stCondLst>
                                  <p:childTnLst>
                                    <p:set>
                                      <p:cBhvr>
                                        <p:cTn id="34" dur="1" fill="hold">
                                          <p:stCondLst>
                                            <p:cond delay="0"/>
                                          </p:stCondLst>
                                        </p:cTn>
                                        <p:tgtEl>
                                          <p:spTgt spid="2340891"/>
                                        </p:tgtEl>
                                        <p:attrNameLst>
                                          <p:attrName>style.visibility</p:attrName>
                                        </p:attrNameLst>
                                      </p:cBhvr>
                                      <p:to>
                                        <p:strVal val="visible"/>
                                      </p:to>
                                    </p:set>
                                    <p:animEffect transition="in" filter="dissolve">
                                      <p:cBhvr>
                                        <p:cTn id="35" dur="500"/>
                                        <p:tgtEl>
                                          <p:spTgt spid="2340891"/>
                                        </p:tgtEl>
                                      </p:cBhvr>
                                    </p:animEffect>
                                  </p:childTnLst>
                                </p:cTn>
                              </p:par>
                              <p:par>
                                <p:cTn id="36" presetID="9" presetClass="entr" presetSubtype="0" fill="hold" nodeType="withEffect">
                                  <p:stCondLst>
                                    <p:cond delay="0"/>
                                  </p:stCondLst>
                                  <p:childTnLst>
                                    <p:set>
                                      <p:cBhvr>
                                        <p:cTn id="37" dur="1" fill="hold">
                                          <p:stCondLst>
                                            <p:cond delay="0"/>
                                          </p:stCondLst>
                                        </p:cTn>
                                        <p:tgtEl>
                                          <p:spTgt spid="2340892"/>
                                        </p:tgtEl>
                                        <p:attrNameLst>
                                          <p:attrName>style.visibility</p:attrName>
                                        </p:attrNameLst>
                                      </p:cBhvr>
                                      <p:to>
                                        <p:strVal val="visible"/>
                                      </p:to>
                                    </p:set>
                                    <p:animEffect transition="in" filter="dissolve">
                                      <p:cBhvr>
                                        <p:cTn id="38" dur="500"/>
                                        <p:tgtEl>
                                          <p:spTgt spid="2340892"/>
                                        </p:tgtEl>
                                      </p:cBhvr>
                                    </p:animEffect>
                                  </p:childTnLst>
                                </p:cTn>
                              </p:par>
                              <p:par>
                                <p:cTn id="39" presetID="9" presetClass="entr" presetSubtype="0" fill="hold" nodeType="withEffect">
                                  <p:stCondLst>
                                    <p:cond delay="0"/>
                                  </p:stCondLst>
                                  <p:childTnLst>
                                    <p:set>
                                      <p:cBhvr>
                                        <p:cTn id="40" dur="1" fill="hold">
                                          <p:stCondLst>
                                            <p:cond delay="0"/>
                                          </p:stCondLst>
                                        </p:cTn>
                                        <p:tgtEl>
                                          <p:spTgt spid="2340893"/>
                                        </p:tgtEl>
                                        <p:attrNameLst>
                                          <p:attrName>style.visibility</p:attrName>
                                        </p:attrNameLst>
                                      </p:cBhvr>
                                      <p:to>
                                        <p:strVal val="visible"/>
                                      </p:to>
                                    </p:set>
                                    <p:animEffect transition="in" filter="dissolve">
                                      <p:cBhvr>
                                        <p:cTn id="41" dur="500"/>
                                        <p:tgtEl>
                                          <p:spTgt spid="2340893"/>
                                        </p:tgtEl>
                                      </p:cBhvr>
                                    </p:animEffect>
                                  </p:childTnLst>
                                </p:cTn>
                              </p:par>
                              <p:par>
                                <p:cTn id="42" presetID="9" presetClass="entr" presetSubtype="0" fill="hold" nodeType="withEffect">
                                  <p:stCondLst>
                                    <p:cond delay="0"/>
                                  </p:stCondLst>
                                  <p:childTnLst>
                                    <p:set>
                                      <p:cBhvr>
                                        <p:cTn id="43" dur="1" fill="hold">
                                          <p:stCondLst>
                                            <p:cond delay="0"/>
                                          </p:stCondLst>
                                        </p:cTn>
                                        <p:tgtEl>
                                          <p:spTgt spid="2340894"/>
                                        </p:tgtEl>
                                        <p:attrNameLst>
                                          <p:attrName>style.visibility</p:attrName>
                                        </p:attrNameLst>
                                      </p:cBhvr>
                                      <p:to>
                                        <p:strVal val="visible"/>
                                      </p:to>
                                    </p:set>
                                    <p:animEffect transition="in" filter="dissolve">
                                      <p:cBhvr>
                                        <p:cTn id="44" dur="500"/>
                                        <p:tgtEl>
                                          <p:spTgt spid="2340894"/>
                                        </p:tgtEl>
                                      </p:cBhvr>
                                    </p:animEffect>
                                  </p:childTnLst>
                                </p:cTn>
                              </p:par>
                              <p:par>
                                <p:cTn id="45" presetID="9" presetClass="entr" presetSubtype="0" fill="hold" nodeType="withEffect">
                                  <p:stCondLst>
                                    <p:cond delay="0"/>
                                  </p:stCondLst>
                                  <p:childTnLst>
                                    <p:set>
                                      <p:cBhvr>
                                        <p:cTn id="46" dur="1" fill="hold">
                                          <p:stCondLst>
                                            <p:cond delay="0"/>
                                          </p:stCondLst>
                                        </p:cTn>
                                        <p:tgtEl>
                                          <p:spTgt spid="2340895"/>
                                        </p:tgtEl>
                                        <p:attrNameLst>
                                          <p:attrName>style.visibility</p:attrName>
                                        </p:attrNameLst>
                                      </p:cBhvr>
                                      <p:to>
                                        <p:strVal val="visible"/>
                                      </p:to>
                                    </p:set>
                                    <p:animEffect transition="in" filter="dissolve">
                                      <p:cBhvr>
                                        <p:cTn id="47" dur="500"/>
                                        <p:tgtEl>
                                          <p:spTgt spid="2340895"/>
                                        </p:tgtEl>
                                      </p:cBhvr>
                                    </p:animEffect>
                                  </p:childTnLst>
                                </p:cTn>
                              </p:par>
                              <p:par>
                                <p:cTn id="48" presetID="9" presetClass="entr" presetSubtype="0" fill="hold" nodeType="withEffect">
                                  <p:stCondLst>
                                    <p:cond delay="0"/>
                                  </p:stCondLst>
                                  <p:childTnLst>
                                    <p:set>
                                      <p:cBhvr>
                                        <p:cTn id="49" dur="1" fill="hold">
                                          <p:stCondLst>
                                            <p:cond delay="0"/>
                                          </p:stCondLst>
                                        </p:cTn>
                                        <p:tgtEl>
                                          <p:spTgt spid="2340997"/>
                                        </p:tgtEl>
                                        <p:attrNameLst>
                                          <p:attrName>style.visibility</p:attrName>
                                        </p:attrNameLst>
                                      </p:cBhvr>
                                      <p:to>
                                        <p:strVal val="visible"/>
                                      </p:to>
                                    </p:set>
                                    <p:animEffect transition="in" filter="dissolve">
                                      <p:cBhvr>
                                        <p:cTn id="50" dur="500"/>
                                        <p:tgtEl>
                                          <p:spTgt spid="2340997"/>
                                        </p:tgtEl>
                                      </p:cBhvr>
                                    </p:animEffect>
                                  </p:childTnLst>
                                </p:cTn>
                              </p:par>
                              <p:par>
                                <p:cTn id="51" presetID="9" presetClass="entr" presetSubtype="0" fill="hold" nodeType="withEffect">
                                  <p:stCondLst>
                                    <p:cond delay="0"/>
                                  </p:stCondLst>
                                  <p:childTnLst>
                                    <p:set>
                                      <p:cBhvr>
                                        <p:cTn id="52" dur="1" fill="hold">
                                          <p:stCondLst>
                                            <p:cond delay="0"/>
                                          </p:stCondLst>
                                        </p:cTn>
                                        <p:tgtEl>
                                          <p:spTgt spid="2340899"/>
                                        </p:tgtEl>
                                        <p:attrNameLst>
                                          <p:attrName>style.visibility</p:attrName>
                                        </p:attrNameLst>
                                      </p:cBhvr>
                                      <p:to>
                                        <p:strVal val="visible"/>
                                      </p:to>
                                    </p:set>
                                    <p:animEffect transition="in" filter="dissolve">
                                      <p:cBhvr>
                                        <p:cTn id="53" dur="500"/>
                                        <p:tgtEl>
                                          <p:spTgt spid="2340899"/>
                                        </p:tgtEl>
                                      </p:cBhvr>
                                    </p:animEffect>
                                  </p:childTnLst>
                                </p:cTn>
                              </p:par>
                              <p:par>
                                <p:cTn id="54" presetID="9" presetClass="entr" presetSubtype="0" fill="hold" nodeType="withEffect">
                                  <p:stCondLst>
                                    <p:cond delay="0"/>
                                  </p:stCondLst>
                                  <p:childTnLst>
                                    <p:set>
                                      <p:cBhvr>
                                        <p:cTn id="55" dur="1" fill="hold">
                                          <p:stCondLst>
                                            <p:cond delay="0"/>
                                          </p:stCondLst>
                                        </p:cTn>
                                        <p:tgtEl>
                                          <p:spTgt spid="2340900"/>
                                        </p:tgtEl>
                                        <p:attrNameLst>
                                          <p:attrName>style.visibility</p:attrName>
                                        </p:attrNameLst>
                                      </p:cBhvr>
                                      <p:to>
                                        <p:strVal val="visible"/>
                                      </p:to>
                                    </p:set>
                                    <p:animEffect transition="in" filter="dissolve">
                                      <p:cBhvr>
                                        <p:cTn id="56" dur="500"/>
                                        <p:tgtEl>
                                          <p:spTgt spid="2340900"/>
                                        </p:tgtEl>
                                      </p:cBhvr>
                                    </p:animEffect>
                                  </p:childTnLst>
                                </p:cTn>
                              </p:par>
                              <p:par>
                                <p:cTn id="57" presetID="9" presetClass="entr" presetSubtype="0" fill="hold" nodeType="withEffect">
                                  <p:stCondLst>
                                    <p:cond delay="0"/>
                                  </p:stCondLst>
                                  <p:childTnLst>
                                    <p:set>
                                      <p:cBhvr>
                                        <p:cTn id="58" dur="1" fill="hold">
                                          <p:stCondLst>
                                            <p:cond delay="0"/>
                                          </p:stCondLst>
                                        </p:cTn>
                                        <p:tgtEl>
                                          <p:spTgt spid="2340901"/>
                                        </p:tgtEl>
                                        <p:attrNameLst>
                                          <p:attrName>style.visibility</p:attrName>
                                        </p:attrNameLst>
                                      </p:cBhvr>
                                      <p:to>
                                        <p:strVal val="visible"/>
                                      </p:to>
                                    </p:set>
                                    <p:animEffect transition="in" filter="dissolve">
                                      <p:cBhvr>
                                        <p:cTn id="59" dur="500"/>
                                        <p:tgtEl>
                                          <p:spTgt spid="2340901"/>
                                        </p:tgtEl>
                                      </p:cBhvr>
                                    </p:animEffect>
                                  </p:childTnLst>
                                </p:cTn>
                              </p:par>
                              <p:par>
                                <p:cTn id="60" presetID="9" presetClass="entr" presetSubtype="0" fill="hold" nodeType="withEffect">
                                  <p:stCondLst>
                                    <p:cond delay="0"/>
                                  </p:stCondLst>
                                  <p:childTnLst>
                                    <p:set>
                                      <p:cBhvr>
                                        <p:cTn id="61" dur="1" fill="hold">
                                          <p:stCondLst>
                                            <p:cond delay="0"/>
                                          </p:stCondLst>
                                        </p:cTn>
                                        <p:tgtEl>
                                          <p:spTgt spid="2340902"/>
                                        </p:tgtEl>
                                        <p:attrNameLst>
                                          <p:attrName>style.visibility</p:attrName>
                                        </p:attrNameLst>
                                      </p:cBhvr>
                                      <p:to>
                                        <p:strVal val="visible"/>
                                      </p:to>
                                    </p:set>
                                    <p:animEffect transition="in" filter="dissolve">
                                      <p:cBhvr>
                                        <p:cTn id="62" dur="500"/>
                                        <p:tgtEl>
                                          <p:spTgt spid="2340902"/>
                                        </p:tgtEl>
                                      </p:cBhvr>
                                    </p:animEffect>
                                  </p:childTnLst>
                                </p:cTn>
                              </p:par>
                              <p:par>
                                <p:cTn id="63" presetID="9" presetClass="entr" presetSubtype="0" fill="hold" nodeType="withEffect">
                                  <p:stCondLst>
                                    <p:cond delay="0"/>
                                  </p:stCondLst>
                                  <p:childTnLst>
                                    <p:set>
                                      <p:cBhvr>
                                        <p:cTn id="64" dur="1" fill="hold">
                                          <p:stCondLst>
                                            <p:cond delay="0"/>
                                          </p:stCondLst>
                                        </p:cTn>
                                        <p:tgtEl>
                                          <p:spTgt spid="2340903"/>
                                        </p:tgtEl>
                                        <p:attrNameLst>
                                          <p:attrName>style.visibility</p:attrName>
                                        </p:attrNameLst>
                                      </p:cBhvr>
                                      <p:to>
                                        <p:strVal val="visible"/>
                                      </p:to>
                                    </p:set>
                                    <p:animEffect transition="in" filter="dissolve">
                                      <p:cBhvr>
                                        <p:cTn id="65" dur="500"/>
                                        <p:tgtEl>
                                          <p:spTgt spid="2340903"/>
                                        </p:tgtEl>
                                      </p:cBhvr>
                                    </p:animEffect>
                                  </p:childTnLst>
                                </p:cTn>
                              </p:par>
                              <p:par>
                                <p:cTn id="66" presetID="9" presetClass="entr" presetSubtype="0" fill="hold" nodeType="withEffect">
                                  <p:stCondLst>
                                    <p:cond delay="0"/>
                                  </p:stCondLst>
                                  <p:childTnLst>
                                    <p:set>
                                      <p:cBhvr>
                                        <p:cTn id="67" dur="1" fill="hold">
                                          <p:stCondLst>
                                            <p:cond delay="0"/>
                                          </p:stCondLst>
                                        </p:cTn>
                                        <p:tgtEl>
                                          <p:spTgt spid="2340904"/>
                                        </p:tgtEl>
                                        <p:attrNameLst>
                                          <p:attrName>style.visibility</p:attrName>
                                        </p:attrNameLst>
                                      </p:cBhvr>
                                      <p:to>
                                        <p:strVal val="visible"/>
                                      </p:to>
                                    </p:set>
                                    <p:animEffect transition="in" filter="dissolve">
                                      <p:cBhvr>
                                        <p:cTn id="68" dur="500"/>
                                        <p:tgtEl>
                                          <p:spTgt spid="2340904"/>
                                        </p:tgtEl>
                                      </p:cBhvr>
                                    </p:animEffect>
                                  </p:childTnLst>
                                </p:cTn>
                              </p:par>
                              <p:par>
                                <p:cTn id="69" presetID="9" presetClass="entr" presetSubtype="0" fill="hold" nodeType="withEffect">
                                  <p:stCondLst>
                                    <p:cond delay="0"/>
                                  </p:stCondLst>
                                  <p:childTnLst>
                                    <p:set>
                                      <p:cBhvr>
                                        <p:cTn id="70" dur="1" fill="hold">
                                          <p:stCondLst>
                                            <p:cond delay="0"/>
                                          </p:stCondLst>
                                        </p:cTn>
                                        <p:tgtEl>
                                          <p:spTgt spid="2340905"/>
                                        </p:tgtEl>
                                        <p:attrNameLst>
                                          <p:attrName>style.visibility</p:attrName>
                                        </p:attrNameLst>
                                      </p:cBhvr>
                                      <p:to>
                                        <p:strVal val="visible"/>
                                      </p:to>
                                    </p:set>
                                    <p:animEffect transition="in" filter="dissolve">
                                      <p:cBhvr>
                                        <p:cTn id="71" dur="500"/>
                                        <p:tgtEl>
                                          <p:spTgt spid="2340905"/>
                                        </p:tgtEl>
                                      </p:cBhvr>
                                    </p:animEffect>
                                  </p:childTnLst>
                                </p:cTn>
                              </p:par>
                              <p:par>
                                <p:cTn id="72" presetID="9" presetClass="entr" presetSubtype="0" fill="hold" nodeType="withEffect">
                                  <p:stCondLst>
                                    <p:cond delay="0"/>
                                  </p:stCondLst>
                                  <p:childTnLst>
                                    <p:set>
                                      <p:cBhvr>
                                        <p:cTn id="73" dur="1" fill="hold">
                                          <p:stCondLst>
                                            <p:cond delay="0"/>
                                          </p:stCondLst>
                                        </p:cTn>
                                        <p:tgtEl>
                                          <p:spTgt spid="2340906"/>
                                        </p:tgtEl>
                                        <p:attrNameLst>
                                          <p:attrName>style.visibility</p:attrName>
                                        </p:attrNameLst>
                                      </p:cBhvr>
                                      <p:to>
                                        <p:strVal val="visible"/>
                                      </p:to>
                                    </p:set>
                                    <p:animEffect transition="in" filter="dissolve">
                                      <p:cBhvr>
                                        <p:cTn id="74" dur="500"/>
                                        <p:tgtEl>
                                          <p:spTgt spid="2340906"/>
                                        </p:tgtEl>
                                      </p:cBhvr>
                                    </p:animEffect>
                                  </p:childTnLst>
                                </p:cTn>
                              </p:par>
                              <p:par>
                                <p:cTn id="75" presetID="9" presetClass="entr" presetSubtype="0" fill="hold" nodeType="withEffect">
                                  <p:stCondLst>
                                    <p:cond delay="0"/>
                                  </p:stCondLst>
                                  <p:childTnLst>
                                    <p:set>
                                      <p:cBhvr>
                                        <p:cTn id="76" dur="1" fill="hold">
                                          <p:stCondLst>
                                            <p:cond delay="0"/>
                                          </p:stCondLst>
                                        </p:cTn>
                                        <p:tgtEl>
                                          <p:spTgt spid="2340907"/>
                                        </p:tgtEl>
                                        <p:attrNameLst>
                                          <p:attrName>style.visibility</p:attrName>
                                        </p:attrNameLst>
                                      </p:cBhvr>
                                      <p:to>
                                        <p:strVal val="visible"/>
                                      </p:to>
                                    </p:set>
                                    <p:animEffect transition="in" filter="dissolve">
                                      <p:cBhvr>
                                        <p:cTn id="77" dur="500"/>
                                        <p:tgtEl>
                                          <p:spTgt spid="2340907"/>
                                        </p:tgtEl>
                                      </p:cBhvr>
                                    </p:animEffect>
                                  </p:childTnLst>
                                </p:cTn>
                              </p:par>
                              <p:par>
                                <p:cTn id="78" presetID="9" presetClass="entr" presetSubtype="0" fill="hold" nodeType="withEffect">
                                  <p:stCondLst>
                                    <p:cond delay="0"/>
                                  </p:stCondLst>
                                  <p:childTnLst>
                                    <p:set>
                                      <p:cBhvr>
                                        <p:cTn id="79" dur="1" fill="hold">
                                          <p:stCondLst>
                                            <p:cond delay="0"/>
                                          </p:stCondLst>
                                        </p:cTn>
                                        <p:tgtEl>
                                          <p:spTgt spid="2340908"/>
                                        </p:tgtEl>
                                        <p:attrNameLst>
                                          <p:attrName>style.visibility</p:attrName>
                                        </p:attrNameLst>
                                      </p:cBhvr>
                                      <p:to>
                                        <p:strVal val="visible"/>
                                      </p:to>
                                    </p:set>
                                    <p:animEffect transition="in" filter="dissolve">
                                      <p:cBhvr>
                                        <p:cTn id="80" dur="500"/>
                                        <p:tgtEl>
                                          <p:spTgt spid="2340908"/>
                                        </p:tgtEl>
                                      </p:cBhvr>
                                    </p:animEffect>
                                  </p:childTnLst>
                                </p:cTn>
                              </p:par>
                              <p:par>
                                <p:cTn id="81" presetID="9" presetClass="entr" presetSubtype="0" fill="hold" nodeType="withEffect">
                                  <p:stCondLst>
                                    <p:cond delay="0"/>
                                  </p:stCondLst>
                                  <p:childTnLst>
                                    <p:set>
                                      <p:cBhvr>
                                        <p:cTn id="82" dur="1" fill="hold">
                                          <p:stCondLst>
                                            <p:cond delay="0"/>
                                          </p:stCondLst>
                                        </p:cTn>
                                        <p:tgtEl>
                                          <p:spTgt spid="2340909"/>
                                        </p:tgtEl>
                                        <p:attrNameLst>
                                          <p:attrName>style.visibility</p:attrName>
                                        </p:attrNameLst>
                                      </p:cBhvr>
                                      <p:to>
                                        <p:strVal val="visible"/>
                                      </p:to>
                                    </p:set>
                                    <p:animEffect transition="in" filter="dissolve">
                                      <p:cBhvr>
                                        <p:cTn id="83" dur="500"/>
                                        <p:tgtEl>
                                          <p:spTgt spid="2340909"/>
                                        </p:tgtEl>
                                      </p:cBhvr>
                                    </p:animEffect>
                                  </p:childTnLst>
                                </p:cTn>
                              </p:par>
                              <p:par>
                                <p:cTn id="84" presetID="9" presetClass="entr" presetSubtype="0" fill="hold" nodeType="withEffect">
                                  <p:stCondLst>
                                    <p:cond delay="0"/>
                                  </p:stCondLst>
                                  <p:childTnLst>
                                    <p:set>
                                      <p:cBhvr>
                                        <p:cTn id="85" dur="1" fill="hold">
                                          <p:stCondLst>
                                            <p:cond delay="0"/>
                                          </p:stCondLst>
                                        </p:cTn>
                                        <p:tgtEl>
                                          <p:spTgt spid="2340910"/>
                                        </p:tgtEl>
                                        <p:attrNameLst>
                                          <p:attrName>style.visibility</p:attrName>
                                        </p:attrNameLst>
                                      </p:cBhvr>
                                      <p:to>
                                        <p:strVal val="visible"/>
                                      </p:to>
                                    </p:set>
                                    <p:animEffect transition="in" filter="dissolve">
                                      <p:cBhvr>
                                        <p:cTn id="86" dur="500"/>
                                        <p:tgtEl>
                                          <p:spTgt spid="2340910"/>
                                        </p:tgtEl>
                                      </p:cBhvr>
                                    </p:animEffect>
                                  </p:childTnLst>
                                </p:cTn>
                              </p:par>
                              <p:par>
                                <p:cTn id="87" presetID="9" presetClass="entr" presetSubtype="0" fill="hold" nodeType="withEffect">
                                  <p:stCondLst>
                                    <p:cond delay="0"/>
                                  </p:stCondLst>
                                  <p:childTnLst>
                                    <p:set>
                                      <p:cBhvr>
                                        <p:cTn id="88" dur="1" fill="hold">
                                          <p:stCondLst>
                                            <p:cond delay="0"/>
                                          </p:stCondLst>
                                        </p:cTn>
                                        <p:tgtEl>
                                          <p:spTgt spid="2340911"/>
                                        </p:tgtEl>
                                        <p:attrNameLst>
                                          <p:attrName>style.visibility</p:attrName>
                                        </p:attrNameLst>
                                      </p:cBhvr>
                                      <p:to>
                                        <p:strVal val="visible"/>
                                      </p:to>
                                    </p:set>
                                    <p:animEffect transition="in" filter="dissolve">
                                      <p:cBhvr>
                                        <p:cTn id="89" dur="500"/>
                                        <p:tgtEl>
                                          <p:spTgt spid="2340911"/>
                                        </p:tgtEl>
                                      </p:cBhvr>
                                    </p:animEffect>
                                  </p:childTnLst>
                                </p:cTn>
                              </p:par>
                              <p:par>
                                <p:cTn id="90" presetID="9" presetClass="entr" presetSubtype="0" fill="hold" nodeType="withEffect">
                                  <p:stCondLst>
                                    <p:cond delay="0"/>
                                  </p:stCondLst>
                                  <p:childTnLst>
                                    <p:set>
                                      <p:cBhvr>
                                        <p:cTn id="91" dur="1" fill="hold">
                                          <p:stCondLst>
                                            <p:cond delay="0"/>
                                          </p:stCondLst>
                                        </p:cTn>
                                        <p:tgtEl>
                                          <p:spTgt spid="2340912"/>
                                        </p:tgtEl>
                                        <p:attrNameLst>
                                          <p:attrName>style.visibility</p:attrName>
                                        </p:attrNameLst>
                                      </p:cBhvr>
                                      <p:to>
                                        <p:strVal val="visible"/>
                                      </p:to>
                                    </p:set>
                                    <p:animEffect transition="in" filter="dissolve">
                                      <p:cBhvr>
                                        <p:cTn id="92" dur="500"/>
                                        <p:tgtEl>
                                          <p:spTgt spid="2340912"/>
                                        </p:tgtEl>
                                      </p:cBhvr>
                                    </p:animEffect>
                                  </p:childTnLst>
                                </p:cTn>
                              </p:par>
                              <p:par>
                                <p:cTn id="93" presetID="9" presetClass="entr" presetSubtype="0" fill="hold" nodeType="withEffect">
                                  <p:stCondLst>
                                    <p:cond delay="0"/>
                                  </p:stCondLst>
                                  <p:childTnLst>
                                    <p:set>
                                      <p:cBhvr>
                                        <p:cTn id="94" dur="1" fill="hold">
                                          <p:stCondLst>
                                            <p:cond delay="0"/>
                                          </p:stCondLst>
                                        </p:cTn>
                                        <p:tgtEl>
                                          <p:spTgt spid="2340913"/>
                                        </p:tgtEl>
                                        <p:attrNameLst>
                                          <p:attrName>style.visibility</p:attrName>
                                        </p:attrNameLst>
                                      </p:cBhvr>
                                      <p:to>
                                        <p:strVal val="visible"/>
                                      </p:to>
                                    </p:set>
                                    <p:animEffect transition="in" filter="dissolve">
                                      <p:cBhvr>
                                        <p:cTn id="95" dur="500"/>
                                        <p:tgtEl>
                                          <p:spTgt spid="2340913"/>
                                        </p:tgtEl>
                                      </p:cBhvr>
                                    </p:animEffect>
                                  </p:childTnLst>
                                </p:cTn>
                              </p:par>
                              <p:par>
                                <p:cTn id="96" presetID="9" presetClass="entr" presetSubtype="0" fill="hold" nodeType="withEffect">
                                  <p:stCondLst>
                                    <p:cond delay="0"/>
                                  </p:stCondLst>
                                  <p:childTnLst>
                                    <p:set>
                                      <p:cBhvr>
                                        <p:cTn id="97" dur="1" fill="hold">
                                          <p:stCondLst>
                                            <p:cond delay="0"/>
                                          </p:stCondLst>
                                        </p:cTn>
                                        <p:tgtEl>
                                          <p:spTgt spid="2340914"/>
                                        </p:tgtEl>
                                        <p:attrNameLst>
                                          <p:attrName>style.visibility</p:attrName>
                                        </p:attrNameLst>
                                      </p:cBhvr>
                                      <p:to>
                                        <p:strVal val="visible"/>
                                      </p:to>
                                    </p:set>
                                    <p:animEffect transition="in" filter="dissolve">
                                      <p:cBhvr>
                                        <p:cTn id="98" dur="500"/>
                                        <p:tgtEl>
                                          <p:spTgt spid="2340914"/>
                                        </p:tgtEl>
                                      </p:cBhvr>
                                    </p:animEffect>
                                  </p:childTnLst>
                                </p:cTn>
                              </p:par>
                              <p:par>
                                <p:cTn id="99" presetID="9" presetClass="entr" presetSubtype="0" fill="hold" nodeType="withEffect">
                                  <p:stCondLst>
                                    <p:cond delay="0"/>
                                  </p:stCondLst>
                                  <p:childTnLst>
                                    <p:set>
                                      <p:cBhvr>
                                        <p:cTn id="100" dur="1" fill="hold">
                                          <p:stCondLst>
                                            <p:cond delay="0"/>
                                          </p:stCondLst>
                                        </p:cTn>
                                        <p:tgtEl>
                                          <p:spTgt spid="2340915"/>
                                        </p:tgtEl>
                                        <p:attrNameLst>
                                          <p:attrName>style.visibility</p:attrName>
                                        </p:attrNameLst>
                                      </p:cBhvr>
                                      <p:to>
                                        <p:strVal val="visible"/>
                                      </p:to>
                                    </p:set>
                                    <p:animEffect transition="in" filter="dissolve">
                                      <p:cBhvr>
                                        <p:cTn id="101" dur="500"/>
                                        <p:tgtEl>
                                          <p:spTgt spid="2340915"/>
                                        </p:tgtEl>
                                      </p:cBhvr>
                                    </p:animEffect>
                                  </p:childTnLst>
                                </p:cTn>
                              </p:par>
                              <p:par>
                                <p:cTn id="102" presetID="9" presetClass="entr" presetSubtype="0" fill="hold" nodeType="withEffect">
                                  <p:stCondLst>
                                    <p:cond delay="0"/>
                                  </p:stCondLst>
                                  <p:childTnLst>
                                    <p:set>
                                      <p:cBhvr>
                                        <p:cTn id="103" dur="1" fill="hold">
                                          <p:stCondLst>
                                            <p:cond delay="0"/>
                                          </p:stCondLst>
                                        </p:cTn>
                                        <p:tgtEl>
                                          <p:spTgt spid="2340916"/>
                                        </p:tgtEl>
                                        <p:attrNameLst>
                                          <p:attrName>style.visibility</p:attrName>
                                        </p:attrNameLst>
                                      </p:cBhvr>
                                      <p:to>
                                        <p:strVal val="visible"/>
                                      </p:to>
                                    </p:set>
                                    <p:animEffect transition="in" filter="dissolve">
                                      <p:cBhvr>
                                        <p:cTn id="104" dur="500"/>
                                        <p:tgtEl>
                                          <p:spTgt spid="2340916"/>
                                        </p:tgtEl>
                                      </p:cBhvr>
                                    </p:animEffect>
                                  </p:childTnLst>
                                </p:cTn>
                              </p:par>
                              <p:par>
                                <p:cTn id="105" presetID="9" presetClass="entr" presetSubtype="0" fill="hold" nodeType="withEffect">
                                  <p:stCondLst>
                                    <p:cond delay="0"/>
                                  </p:stCondLst>
                                  <p:childTnLst>
                                    <p:set>
                                      <p:cBhvr>
                                        <p:cTn id="106" dur="1" fill="hold">
                                          <p:stCondLst>
                                            <p:cond delay="0"/>
                                          </p:stCondLst>
                                        </p:cTn>
                                        <p:tgtEl>
                                          <p:spTgt spid="2340917"/>
                                        </p:tgtEl>
                                        <p:attrNameLst>
                                          <p:attrName>style.visibility</p:attrName>
                                        </p:attrNameLst>
                                      </p:cBhvr>
                                      <p:to>
                                        <p:strVal val="visible"/>
                                      </p:to>
                                    </p:set>
                                    <p:animEffect transition="in" filter="dissolve">
                                      <p:cBhvr>
                                        <p:cTn id="107" dur="500"/>
                                        <p:tgtEl>
                                          <p:spTgt spid="2340917"/>
                                        </p:tgtEl>
                                      </p:cBhvr>
                                    </p:animEffect>
                                  </p:childTnLst>
                                </p:cTn>
                              </p:par>
                              <p:par>
                                <p:cTn id="108" presetID="9" presetClass="entr" presetSubtype="0" fill="hold" nodeType="withEffect">
                                  <p:stCondLst>
                                    <p:cond delay="0"/>
                                  </p:stCondLst>
                                  <p:childTnLst>
                                    <p:set>
                                      <p:cBhvr>
                                        <p:cTn id="109" dur="1" fill="hold">
                                          <p:stCondLst>
                                            <p:cond delay="0"/>
                                          </p:stCondLst>
                                        </p:cTn>
                                        <p:tgtEl>
                                          <p:spTgt spid="2340918"/>
                                        </p:tgtEl>
                                        <p:attrNameLst>
                                          <p:attrName>style.visibility</p:attrName>
                                        </p:attrNameLst>
                                      </p:cBhvr>
                                      <p:to>
                                        <p:strVal val="visible"/>
                                      </p:to>
                                    </p:set>
                                    <p:animEffect transition="in" filter="dissolve">
                                      <p:cBhvr>
                                        <p:cTn id="110" dur="500"/>
                                        <p:tgtEl>
                                          <p:spTgt spid="2340918"/>
                                        </p:tgtEl>
                                      </p:cBhvr>
                                    </p:animEffect>
                                  </p:childTnLst>
                                </p:cTn>
                              </p:par>
                              <p:par>
                                <p:cTn id="111" presetID="9" presetClass="entr" presetSubtype="0" fill="hold" nodeType="withEffect">
                                  <p:stCondLst>
                                    <p:cond delay="0"/>
                                  </p:stCondLst>
                                  <p:childTnLst>
                                    <p:set>
                                      <p:cBhvr>
                                        <p:cTn id="112" dur="1" fill="hold">
                                          <p:stCondLst>
                                            <p:cond delay="0"/>
                                          </p:stCondLst>
                                        </p:cTn>
                                        <p:tgtEl>
                                          <p:spTgt spid="2340919"/>
                                        </p:tgtEl>
                                        <p:attrNameLst>
                                          <p:attrName>style.visibility</p:attrName>
                                        </p:attrNameLst>
                                      </p:cBhvr>
                                      <p:to>
                                        <p:strVal val="visible"/>
                                      </p:to>
                                    </p:set>
                                    <p:animEffect transition="in" filter="dissolve">
                                      <p:cBhvr>
                                        <p:cTn id="113" dur="500"/>
                                        <p:tgtEl>
                                          <p:spTgt spid="2340919"/>
                                        </p:tgtEl>
                                      </p:cBhvr>
                                    </p:animEffect>
                                  </p:childTnLst>
                                </p:cTn>
                              </p:par>
                              <p:par>
                                <p:cTn id="114" presetID="9" presetClass="entr" presetSubtype="0" fill="hold" nodeType="withEffect">
                                  <p:stCondLst>
                                    <p:cond delay="0"/>
                                  </p:stCondLst>
                                  <p:childTnLst>
                                    <p:set>
                                      <p:cBhvr>
                                        <p:cTn id="115" dur="1" fill="hold">
                                          <p:stCondLst>
                                            <p:cond delay="0"/>
                                          </p:stCondLst>
                                        </p:cTn>
                                        <p:tgtEl>
                                          <p:spTgt spid="2340920"/>
                                        </p:tgtEl>
                                        <p:attrNameLst>
                                          <p:attrName>style.visibility</p:attrName>
                                        </p:attrNameLst>
                                      </p:cBhvr>
                                      <p:to>
                                        <p:strVal val="visible"/>
                                      </p:to>
                                    </p:set>
                                    <p:animEffect transition="in" filter="dissolve">
                                      <p:cBhvr>
                                        <p:cTn id="116" dur="500"/>
                                        <p:tgtEl>
                                          <p:spTgt spid="2340920"/>
                                        </p:tgtEl>
                                      </p:cBhvr>
                                    </p:animEffect>
                                  </p:childTnLst>
                                </p:cTn>
                              </p:par>
                              <p:par>
                                <p:cTn id="117" presetID="9" presetClass="entr" presetSubtype="0" fill="hold" nodeType="withEffect">
                                  <p:stCondLst>
                                    <p:cond delay="0"/>
                                  </p:stCondLst>
                                  <p:childTnLst>
                                    <p:set>
                                      <p:cBhvr>
                                        <p:cTn id="118" dur="1" fill="hold">
                                          <p:stCondLst>
                                            <p:cond delay="0"/>
                                          </p:stCondLst>
                                        </p:cTn>
                                        <p:tgtEl>
                                          <p:spTgt spid="2340921"/>
                                        </p:tgtEl>
                                        <p:attrNameLst>
                                          <p:attrName>style.visibility</p:attrName>
                                        </p:attrNameLst>
                                      </p:cBhvr>
                                      <p:to>
                                        <p:strVal val="visible"/>
                                      </p:to>
                                    </p:set>
                                    <p:animEffect transition="in" filter="dissolve">
                                      <p:cBhvr>
                                        <p:cTn id="119" dur="500"/>
                                        <p:tgtEl>
                                          <p:spTgt spid="2340921"/>
                                        </p:tgtEl>
                                      </p:cBhvr>
                                    </p:animEffect>
                                  </p:childTnLst>
                                </p:cTn>
                              </p:par>
                              <p:par>
                                <p:cTn id="120" presetID="9" presetClass="entr" presetSubtype="0" fill="hold" nodeType="withEffect">
                                  <p:stCondLst>
                                    <p:cond delay="0"/>
                                  </p:stCondLst>
                                  <p:childTnLst>
                                    <p:set>
                                      <p:cBhvr>
                                        <p:cTn id="121" dur="1" fill="hold">
                                          <p:stCondLst>
                                            <p:cond delay="0"/>
                                          </p:stCondLst>
                                        </p:cTn>
                                        <p:tgtEl>
                                          <p:spTgt spid="2340922"/>
                                        </p:tgtEl>
                                        <p:attrNameLst>
                                          <p:attrName>style.visibility</p:attrName>
                                        </p:attrNameLst>
                                      </p:cBhvr>
                                      <p:to>
                                        <p:strVal val="visible"/>
                                      </p:to>
                                    </p:set>
                                    <p:animEffect transition="in" filter="dissolve">
                                      <p:cBhvr>
                                        <p:cTn id="122" dur="500"/>
                                        <p:tgtEl>
                                          <p:spTgt spid="2340922"/>
                                        </p:tgtEl>
                                      </p:cBhvr>
                                    </p:animEffect>
                                  </p:childTnLst>
                                </p:cTn>
                              </p:par>
                              <p:par>
                                <p:cTn id="123" presetID="9" presetClass="entr" presetSubtype="0" fill="hold" nodeType="withEffect">
                                  <p:stCondLst>
                                    <p:cond delay="0"/>
                                  </p:stCondLst>
                                  <p:childTnLst>
                                    <p:set>
                                      <p:cBhvr>
                                        <p:cTn id="124" dur="1" fill="hold">
                                          <p:stCondLst>
                                            <p:cond delay="0"/>
                                          </p:stCondLst>
                                        </p:cTn>
                                        <p:tgtEl>
                                          <p:spTgt spid="2340923"/>
                                        </p:tgtEl>
                                        <p:attrNameLst>
                                          <p:attrName>style.visibility</p:attrName>
                                        </p:attrNameLst>
                                      </p:cBhvr>
                                      <p:to>
                                        <p:strVal val="visible"/>
                                      </p:to>
                                    </p:set>
                                    <p:animEffect transition="in" filter="dissolve">
                                      <p:cBhvr>
                                        <p:cTn id="125" dur="500"/>
                                        <p:tgtEl>
                                          <p:spTgt spid="2340923"/>
                                        </p:tgtEl>
                                      </p:cBhvr>
                                    </p:animEffect>
                                  </p:childTnLst>
                                </p:cTn>
                              </p:par>
                              <p:par>
                                <p:cTn id="126" presetID="9" presetClass="entr" presetSubtype="0" fill="hold" nodeType="withEffect">
                                  <p:stCondLst>
                                    <p:cond delay="0"/>
                                  </p:stCondLst>
                                  <p:childTnLst>
                                    <p:set>
                                      <p:cBhvr>
                                        <p:cTn id="127" dur="1" fill="hold">
                                          <p:stCondLst>
                                            <p:cond delay="0"/>
                                          </p:stCondLst>
                                        </p:cTn>
                                        <p:tgtEl>
                                          <p:spTgt spid="2340924"/>
                                        </p:tgtEl>
                                        <p:attrNameLst>
                                          <p:attrName>style.visibility</p:attrName>
                                        </p:attrNameLst>
                                      </p:cBhvr>
                                      <p:to>
                                        <p:strVal val="visible"/>
                                      </p:to>
                                    </p:set>
                                    <p:animEffect transition="in" filter="dissolve">
                                      <p:cBhvr>
                                        <p:cTn id="128" dur="500"/>
                                        <p:tgtEl>
                                          <p:spTgt spid="2340924"/>
                                        </p:tgtEl>
                                      </p:cBhvr>
                                    </p:animEffect>
                                  </p:childTnLst>
                                </p:cTn>
                              </p:par>
                              <p:par>
                                <p:cTn id="129" presetID="9" presetClass="entr" presetSubtype="0" fill="hold" nodeType="withEffect">
                                  <p:stCondLst>
                                    <p:cond delay="0"/>
                                  </p:stCondLst>
                                  <p:childTnLst>
                                    <p:set>
                                      <p:cBhvr>
                                        <p:cTn id="130" dur="1" fill="hold">
                                          <p:stCondLst>
                                            <p:cond delay="0"/>
                                          </p:stCondLst>
                                        </p:cTn>
                                        <p:tgtEl>
                                          <p:spTgt spid="2340925"/>
                                        </p:tgtEl>
                                        <p:attrNameLst>
                                          <p:attrName>style.visibility</p:attrName>
                                        </p:attrNameLst>
                                      </p:cBhvr>
                                      <p:to>
                                        <p:strVal val="visible"/>
                                      </p:to>
                                    </p:set>
                                    <p:animEffect transition="in" filter="dissolve">
                                      <p:cBhvr>
                                        <p:cTn id="131" dur="500"/>
                                        <p:tgtEl>
                                          <p:spTgt spid="2340925"/>
                                        </p:tgtEl>
                                      </p:cBhvr>
                                    </p:animEffect>
                                  </p:childTnLst>
                                </p:cTn>
                              </p:par>
                              <p:par>
                                <p:cTn id="132" presetID="9" presetClass="entr" presetSubtype="0" fill="hold" nodeType="withEffect">
                                  <p:stCondLst>
                                    <p:cond delay="0"/>
                                  </p:stCondLst>
                                  <p:childTnLst>
                                    <p:set>
                                      <p:cBhvr>
                                        <p:cTn id="133" dur="1" fill="hold">
                                          <p:stCondLst>
                                            <p:cond delay="0"/>
                                          </p:stCondLst>
                                        </p:cTn>
                                        <p:tgtEl>
                                          <p:spTgt spid="2340926"/>
                                        </p:tgtEl>
                                        <p:attrNameLst>
                                          <p:attrName>style.visibility</p:attrName>
                                        </p:attrNameLst>
                                      </p:cBhvr>
                                      <p:to>
                                        <p:strVal val="visible"/>
                                      </p:to>
                                    </p:set>
                                    <p:animEffect transition="in" filter="dissolve">
                                      <p:cBhvr>
                                        <p:cTn id="134" dur="500"/>
                                        <p:tgtEl>
                                          <p:spTgt spid="2340926"/>
                                        </p:tgtEl>
                                      </p:cBhvr>
                                    </p:animEffect>
                                  </p:childTnLst>
                                </p:cTn>
                              </p:par>
                              <p:par>
                                <p:cTn id="135" presetID="9" presetClass="entr" presetSubtype="0" fill="hold" nodeType="withEffect">
                                  <p:stCondLst>
                                    <p:cond delay="0"/>
                                  </p:stCondLst>
                                  <p:childTnLst>
                                    <p:set>
                                      <p:cBhvr>
                                        <p:cTn id="136" dur="1" fill="hold">
                                          <p:stCondLst>
                                            <p:cond delay="0"/>
                                          </p:stCondLst>
                                        </p:cTn>
                                        <p:tgtEl>
                                          <p:spTgt spid="2340927"/>
                                        </p:tgtEl>
                                        <p:attrNameLst>
                                          <p:attrName>style.visibility</p:attrName>
                                        </p:attrNameLst>
                                      </p:cBhvr>
                                      <p:to>
                                        <p:strVal val="visible"/>
                                      </p:to>
                                    </p:set>
                                    <p:animEffect transition="in" filter="dissolve">
                                      <p:cBhvr>
                                        <p:cTn id="137" dur="500"/>
                                        <p:tgtEl>
                                          <p:spTgt spid="2340927"/>
                                        </p:tgtEl>
                                      </p:cBhvr>
                                    </p:animEffect>
                                  </p:childTnLst>
                                </p:cTn>
                              </p:par>
                              <p:par>
                                <p:cTn id="138" presetID="9" presetClass="entr" presetSubtype="0" fill="hold" nodeType="withEffect">
                                  <p:stCondLst>
                                    <p:cond delay="0"/>
                                  </p:stCondLst>
                                  <p:childTnLst>
                                    <p:set>
                                      <p:cBhvr>
                                        <p:cTn id="139" dur="1" fill="hold">
                                          <p:stCondLst>
                                            <p:cond delay="0"/>
                                          </p:stCondLst>
                                        </p:cTn>
                                        <p:tgtEl>
                                          <p:spTgt spid="2340928"/>
                                        </p:tgtEl>
                                        <p:attrNameLst>
                                          <p:attrName>style.visibility</p:attrName>
                                        </p:attrNameLst>
                                      </p:cBhvr>
                                      <p:to>
                                        <p:strVal val="visible"/>
                                      </p:to>
                                    </p:set>
                                    <p:animEffect transition="in" filter="dissolve">
                                      <p:cBhvr>
                                        <p:cTn id="140" dur="500"/>
                                        <p:tgtEl>
                                          <p:spTgt spid="2340928"/>
                                        </p:tgtEl>
                                      </p:cBhvr>
                                    </p:animEffect>
                                  </p:childTnLst>
                                </p:cTn>
                              </p:par>
                              <p:par>
                                <p:cTn id="141" presetID="9" presetClass="entr" presetSubtype="0" fill="hold" nodeType="withEffect">
                                  <p:stCondLst>
                                    <p:cond delay="0"/>
                                  </p:stCondLst>
                                  <p:childTnLst>
                                    <p:set>
                                      <p:cBhvr>
                                        <p:cTn id="142" dur="1" fill="hold">
                                          <p:stCondLst>
                                            <p:cond delay="0"/>
                                          </p:stCondLst>
                                        </p:cTn>
                                        <p:tgtEl>
                                          <p:spTgt spid="2340929"/>
                                        </p:tgtEl>
                                        <p:attrNameLst>
                                          <p:attrName>style.visibility</p:attrName>
                                        </p:attrNameLst>
                                      </p:cBhvr>
                                      <p:to>
                                        <p:strVal val="visible"/>
                                      </p:to>
                                    </p:set>
                                    <p:animEffect transition="in" filter="dissolve">
                                      <p:cBhvr>
                                        <p:cTn id="143" dur="500"/>
                                        <p:tgtEl>
                                          <p:spTgt spid="2340929"/>
                                        </p:tgtEl>
                                      </p:cBhvr>
                                    </p:animEffect>
                                  </p:childTnLst>
                                </p:cTn>
                              </p:par>
                              <p:par>
                                <p:cTn id="144" presetID="9" presetClass="entr" presetSubtype="0" fill="hold" nodeType="withEffect">
                                  <p:stCondLst>
                                    <p:cond delay="0"/>
                                  </p:stCondLst>
                                  <p:childTnLst>
                                    <p:set>
                                      <p:cBhvr>
                                        <p:cTn id="145" dur="1" fill="hold">
                                          <p:stCondLst>
                                            <p:cond delay="0"/>
                                          </p:stCondLst>
                                        </p:cTn>
                                        <p:tgtEl>
                                          <p:spTgt spid="2340930"/>
                                        </p:tgtEl>
                                        <p:attrNameLst>
                                          <p:attrName>style.visibility</p:attrName>
                                        </p:attrNameLst>
                                      </p:cBhvr>
                                      <p:to>
                                        <p:strVal val="visible"/>
                                      </p:to>
                                    </p:set>
                                    <p:animEffect transition="in" filter="dissolve">
                                      <p:cBhvr>
                                        <p:cTn id="146" dur="500"/>
                                        <p:tgtEl>
                                          <p:spTgt spid="2340930"/>
                                        </p:tgtEl>
                                      </p:cBhvr>
                                    </p:animEffect>
                                  </p:childTnLst>
                                </p:cTn>
                              </p:par>
                              <p:par>
                                <p:cTn id="147" presetID="9" presetClass="entr" presetSubtype="0" fill="hold" nodeType="withEffect">
                                  <p:stCondLst>
                                    <p:cond delay="0"/>
                                  </p:stCondLst>
                                  <p:childTnLst>
                                    <p:set>
                                      <p:cBhvr>
                                        <p:cTn id="148" dur="1" fill="hold">
                                          <p:stCondLst>
                                            <p:cond delay="0"/>
                                          </p:stCondLst>
                                        </p:cTn>
                                        <p:tgtEl>
                                          <p:spTgt spid="2340931"/>
                                        </p:tgtEl>
                                        <p:attrNameLst>
                                          <p:attrName>style.visibility</p:attrName>
                                        </p:attrNameLst>
                                      </p:cBhvr>
                                      <p:to>
                                        <p:strVal val="visible"/>
                                      </p:to>
                                    </p:set>
                                    <p:animEffect transition="in" filter="dissolve">
                                      <p:cBhvr>
                                        <p:cTn id="149" dur="500"/>
                                        <p:tgtEl>
                                          <p:spTgt spid="2340931"/>
                                        </p:tgtEl>
                                      </p:cBhvr>
                                    </p:animEffect>
                                  </p:childTnLst>
                                </p:cTn>
                              </p:par>
                              <p:par>
                                <p:cTn id="150" presetID="9" presetClass="entr" presetSubtype="0" fill="hold" nodeType="withEffect">
                                  <p:stCondLst>
                                    <p:cond delay="0"/>
                                  </p:stCondLst>
                                  <p:childTnLst>
                                    <p:set>
                                      <p:cBhvr>
                                        <p:cTn id="151" dur="1" fill="hold">
                                          <p:stCondLst>
                                            <p:cond delay="0"/>
                                          </p:stCondLst>
                                        </p:cTn>
                                        <p:tgtEl>
                                          <p:spTgt spid="2340932"/>
                                        </p:tgtEl>
                                        <p:attrNameLst>
                                          <p:attrName>style.visibility</p:attrName>
                                        </p:attrNameLst>
                                      </p:cBhvr>
                                      <p:to>
                                        <p:strVal val="visible"/>
                                      </p:to>
                                    </p:set>
                                    <p:animEffect transition="in" filter="dissolve">
                                      <p:cBhvr>
                                        <p:cTn id="152" dur="500"/>
                                        <p:tgtEl>
                                          <p:spTgt spid="2340932"/>
                                        </p:tgtEl>
                                      </p:cBhvr>
                                    </p:animEffect>
                                  </p:childTnLst>
                                </p:cTn>
                              </p:par>
                              <p:par>
                                <p:cTn id="153" presetID="9" presetClass="entr" presetSubtype="0" fill="hold" nodeType="withEffect">
                                  <p:stCondLst>
                                    <p:cond delay="0"/>
                                  </p:stCondLst>
                                  <p:childTnLst>
                                    <p:set>
                                      <p:cBhvr>
                                        <p:cTn id="154" dur="1" fill="hold">
                                          <p:stCondLst>
                                            <p:cond delay="0"/>
                                          </p:stCondLst>
                                        </p:cTn>
                                        <p:tgtEl>
                                          <p:spTgt spid="2340933"/>
                                        </p:tgtEl>
                                        <p:attrNameLst>
                                          <p:attrName>style.visibility</p:attrName>
                                        </p:attrNameLst>
                                      </p:cBhvr>
                                      <p:to>
                                        <p:strVal val="visible"/>
                                      </p:to>
                                    </p:set>
                                    <p:animEffect transition="in" filter="dissolve">
                                      <p:cBhvr>
                                        <p:cTn id="155" dur="500"/>
                                        <p:tgtEl>
                                          <p:spTgt spid="2340933"/>
                                        </p:tgtEl>
                                      </p:cBhvr>
                                    </p:animEffect>
                                  </p:childTnLst>
                                </p:cTn>
                              </p:par>
                              <p:par>
                                <p:cTn id="156" presetID="9" presetClass="entr" presetSubtype="0" fill="hold" nodeType="withEffect">
                                  <p:stCondLst>
                                    <p:cond delay="0"/>
                                  </p:stCondLst>
                                  <p:childTnLst>
                                    <p:set>
                                      <p:cBhvr>
                                        <p:cTn id="157" dur="1" fill="hold">
                                          <p:stCondLst>
                                            <p:cond delay="0"/>
                                          </p:stCondLst>
                                        </p:cTn>
                                        <p:tgtEl>
                                          <p:spTgt spid="2340934"/>
                                        </p:tgtEl>
                                        <p:attrNameLst>
                                          <p:attrName>style.visibility</p:attrName>
                                        </p:attrNameLst>
                                      </p:cBhvr>
                                      <p:to>
                                        <p:strVal val="visible"/>
                                      </p:to>
                                    </p:set>
                                    <p:animEffect transition="in" filter="dissolve">
                                      <p:cBhvr>
                                        <p:cTn id="158" dur="500"/>
                                        <p:tgtEl>
                                          <p:spTgt spid="2340934"/>
                                        </p:tgtEl>
                                      </p:cBhvr>
                                    </p:animEffect>
                                  </p:childTnLst>
                                </p:cTn>
                              </p:par>
                              <p:par>
                                <p:cTn id="159" presetID="9" presetClass="entr" presetSubtype="0" fill="hold" nodeType="withEffect">
                                  <p:stCondLst>
                                    <p:cond delay="0"/>
                                  </p:stCondLst>
                                  <p:childTnLst>
                                    <p:set>
                                      <p:cBhvr>
                                        <p:cTn id="160" dur="1" fill="hold">
                                          <p:stCondLst>
                                            <p:cond delay="0"/>
                                          </p:stCondLst>
                                        </p:cTn>
                                        <p:tgtEl>
                                          <p:spTgt spid="2340935"/>
                                        </p:tgtEl>
                                        <p:attrNameLst>
                                          <p:attrName>style.visibility</p:attrName>
                                        </p:attrNameLst>
                                      </p:cBhvr>
                                      <p:to>
                                        <p:strVal val="visible"/>
                                      </p:to>
                                    </p:set>
                                    <p:animEffect transition="in" filter="dissolve">
                                      <p:cBhvr>
                                        <p:cTn id="161" dur="500"/>
                                        <p:tgtEl>
                                          <p:spTgt spid="2340935"/>
                                        </p:tgtEl>
                                      </p:cBhvr>
                                    </p:animEffect>
                                  </p:childTnLst>
                                </p:cTn>
                              </p:par>
                              <p:par>
                                <p:cTn id="162" presetID="9" presetClass="entr" presetSubtype="0" fill="hold" nodeType="withEffect">
                                  <p:stCondLst>
                                    <p:cond delay="0"/>
                                  </p:stCondLst>
                                  <p:childTnLst>
                                    <p:set>
                                      <p:cBhvr>
                                        <p:cTn id="163" dur="1" fill="hold">
                                          <p:stCondLst>
                                            <p:cond delay="0"/>
                                          </p:stCondLst>
                                        </p:cTn>
                                        <p:tgtEl>
                                          <p:spTgt spid="2340936"/>
                                        </p:tgtEl>
                                        <p:attrNameLst>
                                          <p:attrName>style.visibility</p:attrName>
                                        </p:attrNameLst>
                                      </p:cBhvr>
                                      <p:to>
                                        <p:strVal val="visible"/>
                                      </p:to>
                                    </p:set>
                                    <p:animEffect transition="in" filter="dissolve">
                                      <p:cBhvr>
                                        <p:cTn id="164" dur="500"/>
                                        <p:tgtEl>
                                          <p:spTgt spid="2340936"/>
                                        </p:tgtEl>
                                      </p:cBhvr>
                                    </p:animEffect>
                                  </p:childTnLst>
                                </p:cTn>
                              </p:par>
                              <p:par>
                                <p:cTn id="165" presetID="9" presetClass="entr" presetSubtype="0" fill="hold" nodeType="withEffect">
                                  <p:stCondLst>
                                    <p:cond delay="0"/>
                                  </p:stCondLst>
                                  <p:childTnLst>
                                    <p:set>
                                      <p:cBhvr>
                                        <p:cTn id="166" dur="1" fill="hold">
                                          <p:stCondLst>
                                            <p:cond delay="0"/>
                                          </p:stCondLst>
                                        </p:cTn>
                                        <p:tgtEl>
                                          <p:spTgt spid="2340937"/>
                                        </p:tgtEl>
                                        <p:attrNameLst>
                                          <p:attrName>style.visibility</p:attrName>
                                        </p:attrNameLst>
                                      </p:cBhvr>
                                      <p:to>
                                        <p:strVal val="visible"/>
                                      </p:to>
                                    </p:set>
                                    <p:animEffect transition="in" filter="dissolve">
                                      <p:cBhvr>
                                        <p:cTn id="167" dur="500"/>
                                        <p:tgtEl>
                                          <p:spTgt spid="2340937"/>
                                        </p:tgtEl>
                                      </p:cBhvr>
                                    </p:animEffect>
                                  </p:childTnLst>
                                </p:cTn>
                              </p:par>
                              <p:par>
                                <p:cTn id="168" presetID="9" presetClass="entr" presetSubtype="0" fill="hold" nodeType="withEffect">
                                  <p:stCondLst>
                                    <p:cond delay="0"/>
                                  </p:stCondLst>
                                  <p:childTnLst>
                                    <p:set>
                                      <p:cBhvr>
                                        <p:cTn id="169" dur="1" fill="hold">
                                          <p:stCondLst>
                                            <p:cond delay="0"/>
                                          </p:stCondLst>
                                        </p:cTn>
                                        <p:tgtEl>
                                          <p:spTgt spid="2340938"/>
                                        </p:tgtEl>
                                        <p:attrNameLst>
                                          <p:attrName>style.visibility</p:attrName>
                                        </p:attrNameLst>
                                      </p:cBhvr>
                                      <p:to>
                                        <p:strVal val="visible"/>
                                      </p:to>
                                    </p:set>
                                    <p:animEffect transition="in" filter="dissolve">
                                      <p:cBhvr>
                                        <p:cTn id="170" dur="500"/>
                                        <p:tgtEl>
                                          <p:spTgt spid="2340938"/>
                                        </p:tgtEl>
                                      </p:cBhvr>
                                    </p:animEffect>
                                  </p:childTnLst>
                                </p:cTn>
                              </p:par>
                              <p:par>
                                <p:cTn id="171" presetID="9" presetClass="entr" presetSubtype="0" fill="hold" nodeType="withEffect">
                                  <p:stCondLst>
                                    <p:cond delay="0"/>
                                  </p:stCondLst>
                                  <p:childTnLst>
                                    <p:set>
                                      <p:cBhvr>
                                        <p:cTn id="172" dur="1" fill="hold">
                                          <p:stCondLst>
                                            <p:cond delay="0"/>
                                          </p:stCondLst>
                                        </p:cTn>
                                        <p:tgtEl>
                                          <p:spTgt spid="2340939"/>
                                        </p:tgtEl>
                                        <p:attrNameLst>
                                          <p:attrName>style.visibility</p:attrName>
                                        </p:attrNameLst>
                                      </p:cBhvr>
                                      <p:to>
                                        <p:strVal val="visible"/>
                                      </p:to>
                                    </p:set>
                                    <p:animEffect transition="in" filter="dissolve">
                                      <p:cBhvr>
                                        <p:cTn id="173" dur="500"/>
                                        <p:tgtEl>
                                          <p:spTgt spid="2340939"/>
                                        </p:tgtEl>
                                      </p:cBhvr>
                                    </p:animEffect>
                                  </p:childTnLst>
                                </p:cTn>
                              </p:par>
                              <p:par>
                                <p:cTn id="174" presetID="9" presetClass="entr" presetSubtype="0" fill="hold" nodeType="withEffect">
                                  <p:stCondLst>
                                    <p:cond delay="0"/>
                                  </p:stCondLst>
                                  <p:childTnLst>
                                    <p:set>
                                      <p:cBhvr>
                                        <p:cTn id="175" dur="1" fill="hold">
                                          <p:stCondLst>
                                            <p:cond delay="0"/>
                                          </p:stCondLst>
                                        </p:cTn>
                                        <p:tgtEl>
                                          <p:spTgt spid="2340940"/>
                                        </p:tgtEl>
                                        <p:attrNameLst>
                                          <p:attrName>style.visibility</p:attrName>
                                        </p:attrNameLst>
                                      </p:cBhvr>
                                      <p:to>
                                        <p:strVal val="visible"/>
                                      </p:to>
                                    </p:set>
                                    <p:animEffect transition="in" filter="dissolve">
                                      <p:cBhvr>
                                        <p:cTn id="176" dur="500"/>
                                        <p:tgtEl>
                                          <p:spTgt spid="2340940"/>
                                        </p:tgtEl>
                                      </p:cBhvr>
                                    </p:animEffect>
                                  </p:childTnLst>
                                </p:cTn>
                              </p:par>
                              <p:par>
                                <p:cTn id="177" presetID="9" presetClass="entr" presetSubtype="0" fill="hold" nodeType="withEffect">
                                  <p:stCondLst>
                                    <p:cond delay="0"/>
                                  </p:stCondLst>
                                  <p:childTnLst>
                                    <p:set>
                                      <p:cBhvr>
                                        <p:cTn id="178" dur="1" fill="hold">
                                          <p:stCondLst>
                                            <p:cond delay="0"/>
                                          </p:stCondLst>
                                        </p:cTn>
                                        <p:tgtEl>
                                          <p:spTgt spid="2340941"/>
                                        </p:tgtEl>
                                        <p:attrNameLst>
                                          <p:attrName>style.visibility</p:attrName>
                                        </p:attrNameLst>
                                      </p:cBhvr>
                                      <p:to>
                                        <p:strVal val="visible"/>
                                      </p:to>
                                    </p:set>
                                    <p:animEffect transition="in" filter="dissolve">
                                      <p:cBhvr>
                                        <p:cTn id="179" dur="500"/>
                                        <p:tgtEl>
                                          <p:spTgt spid="2340941"/>
                                        </p:tgtEl>
                                      </p:cBhvr>
                                    </p:animEffect>
                                  </p:childTnLst>
                                </p:cTn>
                              </p:par>
                              <p:par>
                                <p:cTn id="180" presetID="9" presetClass="entr" presetSubtype="0" fill="hold" nodeType="withEffect">
                                  <p:stCondLst>
                                    <p:cond delay="0"/>
                                  </p:stCondLst>
                                  <p:childTnLst>
                                    <p:set>
                                      <p:cBhvr>
                                        <p:cTn id="181" dur="1" fill="hold">
                                          <p:stCondLst>
                                            <p:cond delay="0"/>
                                          </p:stCondLst>
                                        </p:cTn>
                                        <p:tgtEl>
                                          <p:spTgt spid="2340942"/>
                                        </p:tgtEl>
                                        <p:attrNameLst>
                                          <p:attrName>style.visibility</p:attrName>
                                        </p:attrNameLst>
                                      </p:cBhvr>
                                      <p:to>
                                        <p:strVal val="visible"/>
                                      </p:to>
                                    </p:set>
                                    <p:animEffect transition="in" filter="dissolve">
                                      <p:cBhvr>
                                        <p:cTn id="182" dur="500"/>
                                        <p:tgtEl>
                                          <p:spTgt spid="2340942"/>
                                        </p:tgtEl>
                                      </p:cBhvr>
                                    </p:animEffect>
                                  </p:childTnLst>
                                </p:cTn>
                              </p:par>
                              <p:par>
                                <p:cTn id="183" presetID="9" presetClass="entr" presetSubtype="0" fill="hold" nodeType="withEffect">
                                  <p:stCondLst>
                                    <p:cond delay="0"/>
                                  </p:stCondLst>
                                  <p:childTnLst>
                                    <p:set>
                                      <p:cBhvr>
                                        <p:cTn id="184" dur="1" fill="hold">
                                          <p:stCondLst>
                                            <p:cond delay="0"/>
                                          </p:stCondLst>
                                        </p:cTn>
                                        <p:tgtEl>
                                          <p:spTgt spid="2340943"/>
                                        </p:tgtEl>
                                        <p:attrNameLst>
                                          <p:attrName>style.visibility</p:attrName>
                                        </p:attrNameLst>
                                      </p:cBhvr>
                                      <p:to>
                                        <p:strVal val="visible"/>
                                      </p:to>
                                    </p:set>
                                    <p:animEffect transition="in" filter="dissolve">
                                      <p:cBhvr>
                                        <p:cTn id="185" dur="500"/>
                                        <p:tgtEl>
                                          <p:spTgt spid="2340943"/>
                                        </p:tgtEl>
                                      </p:cBhvr>
                                    </p:animEffect>
                                  </p:childTnLst>
                                </p:cTn>
                              </p:par>
                              <p:par>
                                <p:cTn id="186" presetID="9" presetClass="entr" presetSubtype="0" fill="hold" nodeType="withEffect">
                                  <p:stCondLst>
                                    <p:cond delay="0"/>
                                  </p:stCondLst>
                                  <p:childTnLst>
                                    <p:set>
                                      <p:cBhvr>
                                        <p:cTn id="187" dur="1" fill="hold">
                                          <p:stCondLst>
                                            <p:cond delay="0"/>
                                          </p:stCondLst>
                                        </p:cTn>
                                        <p:tgtEl>
                                          <p:spTgt spid="2340944"/>
                                        </p:tgtEl>
                                        <p:attrNameLst>
                                          <p:attrName>style.visibility</p:attrName>
                                        </p:attrNameLst>
                                      </p:cBhvr>
                                      <p:to>
                                        <p:strVal val="visible"/>
                                      </p:to>
                                    </p:set>
                                    <p:animEffect transition="in" filter="dissolve">
                                      <p:cBhvr>
                                        <p:cTn id="188" dur="500"/>
                                        <p:tgtEl>
                                          <p:spTgt spid="2340944"/>
                                        </p:tgtEl>
                                      </p:cBhvr>
                                    </p:animEffect>
                                  </p:childTnLst>
                                </p:cTn>
                              </p:par>
                              <p:par>
                                <p:cTn id="189" presetID="9" presetClass="entr" presetSubtype="0" fill="hold" nodeType="withEffect">
                                  <p:stCondLst>
                                    <p:cond delay="0"/>
                                  </p:stCondLst>
                                  <p:childTnLst>
                                    <p:set>
                                      <p:cBhvr>
                                        <p:cTn id="190" dur="1" fill="hold">
                                          <p:stCondLst>
                                            <p:cond delay="0"/>
                                          </p:stCondLst>
                                        </p:cTn>
                                        <p:tgtEl>
                                          <p:spTgt spid="2340945"/>
                                        </p:tgtEl>
                                        <p:attrNameLst>
                                          <p:attrName>style.visibility</p:attrName>
                                        </p:attrNameLst>
                                      </p:cBhvr>
                                      <p:to>
                                        <p:strVal val="visible"/>
                                      </p:to>
                                    </p:set>
                                    <p:animEffect transition="in" filter="dissolve">
                                      <p:cBhvr>
                                        <p:cTn id="191" dur="500"/>
                                        <p:tgtEl>
                                          <p:spTgt spid="2340945"/>
                                        </p:tgtEl>
                                      </p:cBhvr>
                                    </p:animEffect>
                                  </p:childTnLst>
                                </p:cTn>
                              </p:par>
                              <p:par>
                                <p:cTn id="192" presetID="9" presetClass="entr" presetSubtype="0" fill="hold" nodeType="withEffect">
                                  <p:stCondLst>
                                    <p:cond delay="0"/>
                                  </p:stCondLst>
                                  <p:childTnLst>
                                    <p:set>
                                      <p:cBhvr>
                                        <p:cTn id="193" dur="1" fill="hold">
                                          <p:stCondLst>
                                            <p:cond delay="0"/>
                                          </p:stCondLst>
                                        </p:cTn>
                                        <p:tgtEl>
                                          <p:spTgt spid="2340946"/>
                                        </p:tgtEl>
                                        <p:attrNameLst>
                                          <p:attrName>style.visibility</p:attrName>
                                        </p:attrNameLst>
                                      </p:cBhvr>
                                      <p:to>
                                        <p:strVal val="visible"/>
                                      </p:to>
                                    </p:set>
                                    <p:animEffect transition="in" filter="dissolve">
                                      <p:cBhvr>
                                        <p:cTn id="194" dur="500"/>
                                        <p:tgtEl>
                                          <p:spTgt spid="2340946"/>
                                        </p:tgtEl>
                                      </p:cBhvr>
                                    </p:animEffect>
                                  </p:childTnLst>
                                </p:cTn>
                              </p:par>
                              <p:par>
                                <p:cTn id="195" presetID="9" presetClass="entr" presetSubtype="0" fill="hold" nodeType="withEffect">
                                  <p:stCondLst>
                                    <p:cond delay="0"/>
                                  </p:stCondLst>
                                  <p:childTnLst>
                                    <p:set>
                                      <p:cBhvr>
                                        <p:cTn id="196" dur="1" fill="hold">
                                          <p:stCondLst>
                                            <p:cond delay="0"/>
                                          </p:stCondLst>
                                        </p:cTn>
                                        <p:tgtEl>
                                          <p:spTgt spid="2340947"/>
                                        </p:tgtEl>
                                        <p:attrNameLst>
                                          <p:attrName>style.visibility</p:attrName>
                                        </p:attrNameLst>
                                      </p:cBhvr>
                                      <p:to>
                                        <p:strVal val="visible"/>
                                      </p:to>
                                    </p:set>
                                    <p:animEffect transition="in" filter="dissolve">
                                      <p:cBhvr>
                                        <p:cTn id="197" dur="500"/>
                                        <p:tgtEl>
                                          <p:spTgt spid="2340947"/>
                                        </p:tgtEl>
                                      </p:cBhvr>
                                    </p:animEffect>
                                  </p:childTnLst>
                                </p:cTn>
                              </p:par>
                              <p:par>
                                <p:cTn id="198" presetID="9" presetClass="entr" presetSubtype="0" fill="hold" nodeType="withEffect">
                                  <p:stCondLst>
                                    <p:cond delay="0"/>
                                  </p:stCondLst>
                                  <p:childTnLst>
                                    <p:set>
                                      <p:cBhvr>
                                        <p:cTn id="199" dur="1" fill="hold">
                                          <p:stCondLst>
                                            <p:cond delay="0"/>
                                          </p:stCondLst>
                                        </p:cTn>
                                        <p:tgtEl>
                                          <p:spTgt spid="2340948"/>
                                        </p:tgtEl>
                                        <p:attrNameLst>
                                          <p:attrName>style.visibility</p:attrName>
                                        </p:attrNameLst>
                                      </p:cBhvr>
                                      <p:to>
                                        <p:strVal val="visible"/>
                                      </p:to>
                                    </p:set>
                                    <p:animEffect transition="in" filter="dissolve">
                                      <p:cBhvr>
                                        <p:cTn id="200" dur="500"/>
                                        <p:tgtEl>
                                          <p:spTgt spid="2340948"/>
                                        </p:tgtEl>
                                      </p:cBhvr>
                                    </p:animEffect>
                                  </p:childTnLst>
                                </p:cTn>
                              </p:par>
                              <p:par>
                                <p:cTn id="201" presetID="9" presetClass="entr" presetSubtype="0" fill="hold" nodeType="withEffect">
                                  <p:stCondLst>
                                    <p:cond delay="0"/>
                                  </p:stCondLst>
                                  <p:childTnLst>
                                    <p:set>
                                      <p:cBhvr>
                                        <p:cTn id="202" dur="1" fill="hold">
                                          <p:stCondLst>
                                            <p:cond delay="0"/>
                                          </p:stCondLst>
                                        </p:cTn>
                                        <p:tgtEl>
                                          <p:spTgt spid="2340949"/>
                                        </p:tgtEl>
                                        <p:attrNameLst>
                                          <p:attrName>style.visibility</p:attrName>
                                        </p:attrNameLst>
                                      </p:cBhvr>
                                      <p:to>
                                        <p:strVal val="visible"/>
                                      </p:to>
                                    </p:set>
                                    <p:animEffect transition="in" filter="dissolve">
                                      <p:cBhvr>
                                        <p:cTn id="203" dur="500"/>
                                        <p:tgtEl>
                                          <p:spTgt spid="2340949"/>
                                        </p:tgtEl>
                                      </p:cBhvr>
                                    </p:animEffect>
                                  </p:childTnLst>
                                </p:cTn>
                              </p:par>
                              <p:par>
                                <p:cTn id="204" presetID="9" presetClass="entr" presetSubtype="0" fill="hold" nodeType="withEffect">
                                  <p:stCondLst>
                                    <p:cond delay="0"/>
                                  </p:stCondLst>
                                  <p:childTnLst>
                                    <p:set>
                                      <p:cBhvr>
                                        <p:cTn id="205" dur="1" fill="hold">
                                          <p:stCondLst>
                                            <p:cond delay="0"/>
                                          </p:stCondLst>
                                        </p:cTn>
                                        <p:tgtEl>
                                          <p:spTgt spid="2340950"/>
                                        </p:tgtEl>
                                        <p:attrNameLst>
                                          <p:attrName>style.visibility</p:attrName>
                                        </p:attrNameLst>
                                      </p:cBhvr>
                                      <p:to>
                                        <p:strVal val="visible"/>
                                      </p:to>
                                    </p:set>
                                    <p:animEffect transition="in" filter="dissolve">
                                      <p:cBhvr>
                                        <p:cTn id="206" dur="500"/>
                                        <p:tgtEl>
                                          <p:spTgt spid="2340950"/>
                                        </p:tgtEl>
                                      </p:cBhvr>
                                    </p:animEffect>
                                  </p:childTnLst>
                                </p:cTn>
                              </p:par>
                              <p:par>
                                <p:cTn id="207" presetID="9" presetClass="entr" presetSubtype="0" fill="hold" nodeType="withEffect">
                                  <p:stCondLst>
                                    <p:cond delay="0"/>
                                  </p:stCondLst>
                                  <p:childTnLst>
                                    <p:set>
                                      <p:cBhvr>
                                        <p:cTn id="208" dur="1" fill="hold">
                                          <p:stCondLst>
                                            <p:cond delay="0"/>
                                          </p:stCondLst>
                                        </p:cTn>
                                        <p:tgtEl>
                                          <p:spTgt spid="2340951"/>
                                        </p:tgtEl>
                                        <p:attrNameLst>
                                          <p:attrName>style.visibility</p:attrName>
                                        </p:attrNameLst>
                                      </p:cBhvr>
                                      <p:to>
                                        <p:strVal val="visible"/>
                                      </p:to>
                                    </p:set>
                                    <p:animEffect transition="in" filter="dissolve">
                                      <p:cBhvr>
                                        <p:cTn id="209" dur="500"/>
                                        <p:tgtEl>
                                          <p:spTgt spid="2340951"/>
                                        </p:tgtEl>
                                      </p:cBhvr>
                                    </p:animEffect>
                                  </p:childTnLst>
                                </p:cTn>
                              </p:par>
                              <p:par>
                                <p:cTn id="210" presetID="9" presetClass="entr" presetSubtype="0" fill="hold" nodeType="withEffect">
                                  <p:stCondLst>
                                    <p:cond delay="0"/>
                                  </p:stCondLst>
                                  <p:childTnLst>
                                    <p:set>
                                      <p:cBhvr>
                                        <p:cTn id="211" dur="1" fill="hold">
                                          <p:stCondLst>
                                            <p:cond delay="0"/>
                                          </p:stCondLst>
                                        </p:cTn>
                                        <p:tgtEl>
                                          <p:spTgt spid="2340952"/>
                                        </p:tgtEl>
                                        <p:attrNameLst>
                                          <p:attrName>style.visibility</p:attrName>
                                        </p:attrNameLst>
                                      </p:cBhvr>
                                      <p:to>
                                        <p:strVal val="visible"/>
                                      </p:to>
                                    </p:set>
                                    <p:animEffect transition="in" filter="dissolve">
                                      <p:cBhvr>
                                        <p:cTn id="212" dur="500"/>
                                        <p:tgtEl>
                                          <p:spTgt spid="2340952"/>
                                        </p:tgtEl>
                                      </p:cBhvr>
                                    </p:animEffect>
                                  </p:childTnLst>
                                </p:cTn>
                              </p:par>
                              <p:par>
                                <p:cTn id="213" presetID="9" presetClass="entr" presetSubtype="0" fill="hold" nodeType="withEffect">
                                  <p:stCondLst>
                                    <p:cond delay="0"/>
                                  </p:stCondLst>
                                  <p:childTnLst>
                                    <p:set>
                                      <p:cBhvr>
                                        <p:cTn id="214" dur="1" fill="hold">
                                          <p:stCondLst>
                                            <p:cond delay="0"/>
                                          </p:stCondLst>
                                        </p:cTn>
                                        <p:tgtEl>
                                          <p:spTgt spid="2340953"/>
                                        </p:tgtEl>
                                        <p:attrNameLst>
                                          <p:attrName>style.visibility</p:attrName>
                                        </p:attrNameLst>
                                      </p:cBhvr>
                                      <p:to>
                                        <p:strVal val="visible"/>
                                      </p:to>
                                    </p:set>
                                    <p:animEffect transition="in" filter="dissolve">
                                      <p:cBhvr>
                                        <p:cTn id="215" dur="500"/>
                                        <p:tgtEl>
                                          <p:spTgt spid="2340953"/>
                                        </p:tgtEl>
                                      </p:cBhvr>
                                    </p:animEffect>
                                  </p:childTnLst>
                                </p:cTn>
                              </p:par>
                              <p:par>
                                <p:cTn id="216" presetID="9" presetClass="entr" presetSubtype="0" fill="hold" nodeType="withEffect">
                                  <p:stCondLst>
                                    <p:cond delay="0"/>
                                  </p:stCondLst>
                                  <p:childTnLst>
                                    <p:set>
                                      <p:cBhvr>
                                        <p:cTn id="217" dur="1" fill="hold">
                                          <p:stCondLst>
                                            <p:cond delay="0"/>
                                          </p:stCondLst>
                                        </p:cTn>
                                        <p:tgtEl>
                                          <p:spTgt spid="2340954"/>
                                        </p:tgtEl>
                                        <p:attrNameLst>
                                          <p:attrName>style.visibility</p:attrName>
                                        </p:attrNameLst>
                                      </p:cBhvr>
                                      <p:to>
                                        <p:strVal val="visible"/>
                                      </p:to>
                                    </p:set>
                                    <p:animEffect transition="in" filter="dissolve">
                                      <p:cBhvr>
                                        <p:cTn id="218" dur="500"/>
                                        <p:tgtEl>
                                          <p:spTgt spid="2340954"/>
                                        </p:tgtEl>
                                      </p:cBhvr>
                                    </p:animEffect>
                                  </p:childTnLst>
                                </p:cTn>
                              </p:par>
                              <p:par>
                                <p:cTn id="219" presetID="9" presetClass="entr" presetSubtype="0" fill="hold" nodeType="withEffect">
                                  <p:stCondLst>
                                    <p:cond delay="0"/>
                                  </p:stCondLst>
                                  <p:childTnLst>
                                    <p:set>
                                      <p:cBhvr>
                                        <p:cTn id="220" dur="1" fill="hold">
                                          <p:stCondLst>
                                            <p:cond delay="0"/>
                                          </p:stCondLst>
                                        </p:cTn>
                                        <p:tgtEl>
                                          <p:spTgt spid="2340955"/>
                                        </p:tgtEl>
                                        <p:attrNameLst>
                                          <p:attrName>style.visibility</p:attrName>
                                        </p:attrNameLst>
                                      </p:cBhvr>
                                      <p:to>
                                        <p:strVal val="visible"/>
                                      </p:to>
                                    </p:set>
                                    <p:animEffect transition="in" filter="dissolve">
                                      <p:cBhvr>
                                        <p:cTn id="221" dur="500"/>
                                        <p:tgtEl>
                                          <p:spTgt spid="2340955"/>
                                        </p:tgtEl>
                                      </p:cBhvr>
                                    </p:animEffect>
                                  </p:childTnLst>
                                </p:cTn>
                              </p:par>
                              <p:par>
                                <p:cTn id="222" presetID="9" presetClass="entr" presetSubtype="0" fill="hold" nodeType="withEffect">
                                  <p:stCondLst>
                                    <p:cond delay="0"/>
                                  </p:stCondLst>
                                  <p:childTnLst>
                                    <p:set>
                                      <p:cBhvr>
                                        <p:cTn id="223" dur="1" fill="hold">
                                          <p:stCondLst>
                                            <p:cond delay="0"/>
                                          </p:stCondLst>
                                        </p:cTn>
                                        <p:tgtEl>
                                          <p:spTgt spid="2340956"/>
                                        </p:tgtEl>
                                        <p:attrNameLst>
                                          <p:attrName>style.visibility</p:attrName>
                                        </p:attrNameLst>
                                      </p:cBhvr>
                                      <p:to>
                                        <p:strVal val="visible"/>
                                      </p:to>
                                    </p:set>
                                    <p:animEffect transition="in" filter="dissolve">
                                      <p:cBhvr>
                                        <p:cTn id="224" dur="500"/>
                                        <p:tgtEl>
                                          <p:spTgt spid="2340956"/>
                                        </p:tgtEl>
                                      </p:cBhvr>
                                    </p:animEffect>
                                  </p:childTnLst>
                                </p:cTn>
                              </p:par>
                              <p:par>
                                <p:cTn id="225" presetID="9" presetClass="entr" presetSubtype="0" fill="hold" nodeType="withEffect">
                                  <p:stCondLst>
                                    <p:cond delay="0"/>
                                  </p:stCondLst>
                                  <p:childTnLst>
                                    <p:set>
                                      <p:cBhvr>
                                        <p:cTn id="226" dur="1" fill="hold">
                                          <p:stCondLst>
                                            <p:cond delay="0"/>
                                          </p:stCondLst>
                                        </p:cTn>
                                        <p:tgtEl>
                                          <p:spTgt spid="2340957"/>
                                        </p:tgtEl>
                                        <p:attrNameLst>
                                          <p:attrName>style.visibility</p:attrName>
                                        </p:attrNameLst>
                                      </p:cBhvr>
                                      <p:to>
                                        <p:strVal val="visible"/>
                                      </p:to>
                                    </p:set>
                                    <p:animEffect transition="in" filter="dissolve">
                                      <p:cBhvr>
                                        <p:cTn id="227" dur="500"/>
                                        <p:tgtEl>
                                          <p:spTgt spid="2340957"/>
                                        </p:tgtEl>
                                      </p:cBhvr>
                                    </p:animEffect>
                                  </p:childTnLst>
                                </p:cTn>
                              </p:par>
                              <p:par>
                                <p:cTn id="228" presetID="9" presetClass="entr" presetSubtype="0" fill="hold" nodeType="withEffect">
                                  <p:stCondLst>
                                    <p:cond delay="0"/>
                                  </p:stCondLst>
                                  <p:childTnLst>
                                    <p:set>
                                      <p:cBhvr>
                                        <p:cTn id="229" dur="1" fill="hold">
                                          <p:stCondLst>
                                            <p:cond delay="0"/>
                                          </p:stCondLst>
                                        </p:cTn>
                                        <p:tgtEl>
                                          <p:spTgt spid="2340958"/>
                                        </p:tgtEl>
                                        <p:attrNameLst>
                                          <p:attrName>style.visibility</p:attrName>
                                        </p:attrNameLst>
                                      </p:cBhvr>
                                      <p:to>
                                        <p:strVal val="visible"/>
                                      </p:to>
                                    </p:set>
                                    <p:animEffect transition="in" filter="dissolve">
                                      <p:cBhvr>
                                        <p:cTn id="230" dur="500"/>
                                        <p:tgtEl>
                                          <p:spTgt spid="2340958"/>
                                        </p:tgtEl>
                                      </p:cBhvr>
                                    </p:animEffect>
                                  </p:childTnLst>
                                </p:cTn>
                              </p:par>
                              <p:par>
                                <p:cTn id="231" presetID="9" presetClass="entr" presetSubtype="0" fill="hold" nodeType="withEffect">
                                  <p:stCondLst>
                                    <p:cond delay="0"/>
                                  </p:stCondLst>
                                  <p:childTnLst>
                                    <p:set>
                                      <p:cBhvr>
                                        <p:cTn id="232" dur="1" fill="hold">
                                          <p:stCondLst>
                                            <p:cond delay="0"/>
                                          </p:stCondLst>
                                        </p:cTn>
                                        <p:tgtEl>
                                          <p:spTgt spid="2340959"/>
                                        </p:tgtEl>
                                        <p:attrNameLst>
                                          <p:attrName>style.visibility</p:attrName>
                                        </p:attrNameLst>
                                      </p:cBhvr>
                                      <p:to>
                                        <p:strVal val="visible"/>
                                      </p:to>
                                    </p:set>
                                    <p:animEffect transition="in" filter="dissolve">
                                      <p:cBhvr>
                                        <p:cTn id="233" dur="500"/>
                                        <p:tgtEl>
                                          <p:spTgt spid="2340959"/>
                                        </p:tgtEl>
                                      </p:cBhvr>
                                    </p:animEffect>
                                  </p:childTnLst>
                                </p:cTn>
                              </p:par>
                              <p:par>
                                <p:cTn id="234" presetID="9" presetClass="entr" presetSubtype="0" fill="hold" nodeType="withEffect">
                                  <p:stCondLst>
                                    <p:cond delay="0"/>
                                  </p:stCondLst>
                                  <p:childTnLst>
                                    <p:set>
                                      <p:cBhvr>
                                        <p:cTn id="235" dur="1" fill="hold">
                                          <p:stCondLst>
                                            <p:cond delay="0"/>
                                          </p:stCondLst>
                                        </p:cTn>
                                        <p:tgtEl>
                                          <p:spTgt spid="2340960"/>
                                        </p:tgtEl>
                                        <p:attrNameLst>
                                          <p:attrName>style.visibility</p:attrName>
                                        </p:attrNameLst>
                                      </p:cBhvr>
                                      <p:to>
                                        <p:strVal val="visible"/>
                                      </p:to>
                                    </p:set>
                                    <p:animEffect transition="in" filter="dissolve">
                                      <p:cBhvr>
                                        <p:cTn id="236" dur="500"/>
                                        <p:tgtEl>
                                          <p:spTgt spid="2340960"/>
                                        </p:tgtEl>
                                      </p:cBhvr>
                                    </p:animEffect>
                                  </p:childTnLst>
                                </p:cTn>
                              </p:par>
                              <p:par>
                                <p:cTn id="237" presetID="9" presetClass="entr" presetSubtype="0" fill="hold" nodeType="withEffect">
                                  <p:stCondLst>
                                    <p:cond delay="0"/>
                                  </p:stCondLst>
                                  <p:childTnLst>
                                    <p:set>
                                      <p:cBhvr>
                                        <p:cTn id="238" dur="1" fill="hold">
                                          <p:stCondLst>
                                            <p:cond delay="0"/>
                                          </p:stCondLst>
                                        </p:cTn>
                                        <p:tgtEl>
                                          <p:spTgt spid="2340961"/>
                                        </p:tgtEl>
                                        <p:attrNameLst>
                                          <p:attrName>style.visibility</p:attrName>
                                        </p:attrNameLst>
                                      </p:cBhvr>
                                      <p:to>
                                        <p:strVal val="visible"/>
                                      </p:to>
                                    </p:set>
                                    <p:animEffect transition="in" filter="dissolve">
                                      <p:cBhvr>
                                        <p:cTn id="239" dur="500"/>
                                        <p:tgtEl>
                                          <p:spTgt spid="2340961"/>
                                        </p:tgtEl>
                                      </p:cBhvr>
                                    </p:animEffect>
                                  </p:childTnLst>
                                </p:cTn>
                              </p:par>
                              <p:par>
                                <p:cTn id="240" presetID="9" presetClass="entr" presetSubtype="0" fill="hold" nodeType="withEffect">
                                  <p:stCondLst>
                                    <p:cond delay="0"/>
                                  </p:stCondLst>
                                  <p:childTnLst>
                                    <p:set>
                                      <p:cBhvr>
                                        <p:cTn id="241" dur="1" fill="hold">
                                          <p:stCondLst>
                                            <p:cond delay="0"/>
                                          </p:stCondLst>
                                        </p:cTn>
                                        <p:tgtEl>
                                          <p:spTgt spid="2340962"/>
                                        </p:tgtEl>
                                        <p:attrNameLst>
                                          <p:attrName>style.visibility</p:attrName>
                                        </p:attrNameLst>
                                      </p:cBhvr>
                                      <p:to>
                                        <p:strVal val="visible"/>
                                      </p:to>
                                    </p:set>
                                    <p:animEffect transition="in" filter="dissolve">
                                      <p:cBhvr>
                                        <p:cTn id="242" dur="500"/>
                                        <p:tgtEl>
                                          <p:spTgt spid="2340962"/>
                                        </p:tgtEl>
                                      </p:cBhvr>
                                    </p:animEffect>
                                  </p:childTnLst>
                                </p:cTn>
                              </p:par>
                              <p:par>
                                <p:cTn id="243" presetID="9" presetClass="entr" presetSubtype="0" fill="hold" nodeType="withEffect">
                                  <p:stCondLst>
                                    <p:cond delay="0"/>
                                  </p:stCondLst>
                                  <p:childTnLst>
                                    <p:set>
                                      <p:cBhvr>
                                        <p:cTn id="244" dur="1" fill="hold">
                                          <p:stCondLst>
                                            <p:cond delay="0"/>
                                          </p:stCondLst>
                                        </p:cTn>
                                        <p:tgtEl>
                                          <p:spTgt spid="2340963"/>
                                        </p:tgtEl>
                                        <p:attrNameLst>
                                          <p:attrName>style.visibility</p:attrName>
                                        </p:attrNameLst>
                                      </p:cBhvr>
                                      <p:to>
                                        <p:strVal val="visible"/>
                                      </p:to>
                                    </p:set>
                                    <p:animEffect transition="in" filter="dissolve">
                                      <p:cBhvr>
                                        <p:cTn id="245" dur="500"/>
                                        <p:tgtEl>
                                          <p:spTgt spid="2340963"/>
                                        </p:tgtEl>
                                      </p:cBhvr>
                                    </p:animEffect>
                                  </p:childTnLst>
                                </p:cTn>
                              </p:par>
                              <p:par>
                                <p:cTn id="246" presetID="9" presetClass="entr" presetSubtype="0" fill="hold" nodeType="withEffect">
                                  <p:stCondLst>
                                    <p:cond delay="0"/>
                                  </p:stCondLst>
                                  <p:childTnLst>
                                    <p:set>
                                      <p:cBhvr>
                                        <p:cTn id="247" dur="1" fill="hold">
                                          <p:stCondLst>
                                            <p:cond delay="0"/>
                                          </p:stCondLst>
                                        </p:cTn>
                                        <p:tgtEl>
                                          <p:spTgt spid="2340964"/>
                                        </p:tgtEl>
                                        <p:attrNameLst>
                                          <p:attrName>style.visibility</p:attrName>
                                        </p:attrNameLst>
                                      </p:cBhvr>
                                      <p:to>
                                        <p:strVal val="visible"/>
                                      </p:to>
                                    </p:set>
                                    <p:animEffect transition="in" filter="dissolve">
                                      <p:cBhvr>
                                        <p:cTn id="248" dur="500"/>
                                        <p:tgtEl>
                                          <p:spTgt spid="2340964"/>
                                        </p:tgtEl>
                                      </p:cBhvr>
                                    </p:animEffect>
                                  </p:childTnLst>
                                </p:cTn>
                              </p:par>
                              <p:par>
                                <p:cTn id="249" presetID="9" presetClass="entr" presetSubtype="0" fill="hold" nodeType="withEffect">
                                  <p:stCondLst>
                                    <p:cond delay="0"/>
                                  </p:stCondLst>
                                  <p:childTnLst>
                                    <p:set>
                                      <p:cBhvr>
                                        <p:cTn id="250" dur="1" fill="hold">
                                          <p:stCondLst>
                                            <p:cond delay="0"/>
                                          </p:stCondLst>
                                        </p:cTn>
                                        <p:tgtEl>
                                          <p:spTgt spid="2340965"/>
                                        </p:tgtEl>
                                        <p:attrNameLst>
                                          <p:attrName>style.visibility</p:attrName>
                                        </p:attrNameLst>
                                      </p:cBhvr>
                                      <p:to>
                                        <p:strVal val="visible"/>
                                      </p:to>
                                    </p:set>
                                    <p:animEffect transition="in" filter="dissolve">
                                      <p:cBhvr>
                                        <p:cTn id="251" dur="500"/>
                                        <p:tgtEl>
                                          <p:spTgt spid="2340965"/>
                                        </p:tgtEl>
                                      </p:cBhvr>
                                    </p:animEffect>
                                  </p:childTnLst>
                                </p:cTn>
                              </p:par>
                              <p:par>
                                <p:cTn id="252" presetID="9" presetClass="entr" presetSubtype="0" fill="hold" nodeType="withEffect">
                                  <p:stCondLst>
                                    <p:cond delay="0"/>
                                  </p:stCondLst>
                                  <p:childTnLst>
                                    <p:set>
                                      <p:cBhvr>
                                        <p:cTn id="253" dur="1" fill="hold">
                                          <p:stCondLst>
                                            <p:cond delay="0"/>
                                          </p:stCondLst>
                                        </p:cTn>
                                        <p:tgtEl>
                                          <p:spTgt spid="2340966"/>
                                        </p:tgtEl>
                                        <p:attrNameLst>
                                          <p:attrName>style.visibility</p:attrName>
                                        </p:attrNameLst>
                                      </p:cBhvr>
                                      <p:to>
                                        <p:strVal val="visible"/>
                                      </p:to>
                                    </p:set>
                                    <p:animEffect transition="in" filter="dissolve">
                                      <p:cBhvr>
                                        <p:cTn id="254" dur="500"/>
                                        <p:tgtEl>
                                          <p:spTgt spid="2340966"/>
                                        </p:tgtEl>
                                      </p:cBhvr>
                                    </p:animEffect>
                                  </p:childTnLst>
                                </p:cTn>
                              </p:par>
                              <p:par>
                                <p:cTn id="255" presetID="9" presetClass="entr" presetSubtype="0" fill="hold" nodeType="withEffect">
                                  <p:stCondLst>
                                    <p:cond delay="0"/>
                                  </p:stCondLst>
                                  <p:childTnLst>
                                    <p:set>
                                      <p:cBhvr>
                                        <p:cTn id="256" dur="1" fill="hold">
                                          <p:stCondLst>
                                            <p:cond delay="0"/>
                                          </p:stCondLst>
                                        </p:cTn>
                                        <p:tgtEl>
                                          <p:spTgt spid="2340967"/>
                                        </p:tgtEl>
                                        <p:attrNameLst>
                                          <p:attrName>style.visibility</p:attrName>
                                        </p:attrNameLst>
                                      </p:cBhvr>
                                      <p:to>
                                        <p:strVal val="visible"/>
                                      </p:to>
                                    </p:set>
                                    <p:animEffect transition="in" filter="dissolve">
                                      <p:cBhvr>
                                        <p:cTn id="257" dur="500"/>
                                        <p:tgtEl>
                                          <p:spTgt spid="2340967"/>
                                        </p:tgtEl>
                                      </p:cBhvr>
                                    </p:animEffect>
                                  </p:childTnLst>
                                </p:cTn>
                              </p:par>
                              <p:par>
                                <p:cTn id="258" presetID="9" presetClass="entr" presetSubtype="0" fill="hold" nodeType="withEffect">
                                  <p:stCondLst>
                                    <p:cond delay="0"/>
                                  </p:stCondLst>
                                  <p:childTnLst>
                                    <p:set>
                                      <p:cBhvr>
                                        <p:cTn id="259" dur="1" fill="hold">
                                          <p:stCondLst>
                                            <p:cond delay="0"/>
                                          </p:stCondLst>
                                        </p:cTn>
                                        <p:tgtEl>
                                          <p:spTgt spid="2340968"/>
                                        </p:tgtEl>
                                        <p:attrNameLst>
                                          <p:attrName>style.visibility</p:attrName>
                                        </p:attrNameLst>
                                      </p:cBhvr>
                                      <p:to>
                                        <p:strVal val="visible"/>
                                      </p:to>
                                    </p:set>
                                    <p:animEffect transition="in" filter="dissolve">
                                      <p:cBhvr>
                                        <p:cTn id="260" dur="500"/>
                                        <p:tgtEl>
                                          <p:spTgt spid="2340968"/>
                                        </p:tgtEl>
                                      </p:cBhvr>
                                    </p:animEffect>
                                  </p:childTnLst>
                                </p:cTn>
                              </p:par>
                              <p:par>
                                <p:cTn id="261" presetID="9" presetClass="entr" presetSubtype="0" fill="hold" nodeType="withEffect">
                                  <p:stCondLst>
                                    <p:cond delay="0"/>
                                  </p:stCondLst>
                                  <p:childTnLst>
                                    <p:set>
                                      <p:cBhvr>
                                        <p:cTn id="262" dur="1" fill="hold">
                                          <p:stCondLst>
                                            <p:cond delay="0"/>
                                          </p:stCondLst>
                                        </p:cTn>
                                        <p:tgtEl>
                                          <p:spTgt spid="2340969"/>
                                        </p:tgtEl>
                                        <p:attrNameLst>
                                          <p:attrName>style.visibility</p:attrName>
                                        </p:attrNameLst>
                                      </p:cBhvr>
                                      <p:to>
                                        <p:strVal val="visible"/>
                                      </p:to>
                                    </p:set>
                                    <p:animEffect transition="in" filter="dissolve">
                                      <p:cBhvr>
                                        <p:cTn id="263" dur="500"/>
                                        <p:tgtEl>
                                          <p:spTgt spid="2340969"/>
                                        </p:tgtEl>
                                      </p:cBhvr>
                                    </p:animEffect>
                                  </p:childTnLst>
                                </p:cTn>
                              </p:par>
                              <p:par>
                                <p:cTn id="264" presetID="9" presetClass="entr" presetSubtype="0" fill="hold" nodeType="withEffect">
                                  <p:stCondLst>
                                    <p:cond delay="0"/>
                                  </p:stCondLst>
                                  <p:childTnLst>
                                    <p:set>
                                      <p:cBhvr>
                                        <p:cTn id="265" dur="1" fill="hold">
                                          <p:stCondLst>
                                            <p:cond delay="0"/>
                                          </p:stCondLst>
                                        </p:cTn>
                                        <p:tgtEl>
                                          <p:spTgt spid="2340971"/>
                                        </p:tgtEl>
                                        <p:attrNameLst>
                                          <p:attrName>style.visibility</p:attrName>
                                        </p:attrNameLst>
                                      </p:cBhvr>
                                      <p:to>
                                        <p:strVal val="visible"/>
                                      </p:to>
                                    </p:set>
                                    <p:animEffect transition="in" filter="dissolve">
                                      <p:cBhvr>
                                        <p:cTn id="266" dur="500"/>
                                        <p:tgtEl>
                                          <p:spTgt spid="2340971"/>
                                        </p:tgtEl>
                                      </p:cBhvr>
                                    </p:animEffect>
                                  </p:childTnLst>
                                </p:cTn>
                              </p:par>
                              <p:par>
                                <p:cTn id="267" presetID="9" presetClass="entr" presetSubtype="0" fill="hold" nodeType="withEffect">
                                  <p:stCondLst>
                                    <p:cond delay="0"/>
                                  </p:stCondLst>
                                  <p:childTnLst>
                                    <p:set>
                                      <p:cBhvr>
                                        <p:cTn id="268" dur="1" fill="hold">
                                          <p:stCondLst>
                                            <p:cond delay="0"/>
                                          </p:stCondLst>
                                        </p:cTn>
                                        <p:tgtEl>
                                          <p:spTgt spid="2340972"/>
                                        </p:tgtEl>
                                        <p:attrNameLst>
                                          <p:attrName>style.visibility</p:attrName>
                                        </p:attrNameLst>
                                      </p:cBhvr>
                                      <p:to>
                                        <p:strVal val="visible"/>
                                      </p:to>
                                    </p:set>
                                    <p:animEffect transition="in" filter="dissolve">
                                      <p:cBhvr>
                                        <p:cTn id="269" dur="500"/>
                                        <p:tgtEl>
                                          <p:spTgt spid="2340972"/>
                                        </p:tgtEl>
                                      </p:cBhvr>
                                    </p:animEffect>
                                  </p:childTnLst>
                                </p:cTn>
                              </p:par>
                              <p:par>
                                <p:cTn id="270" presetID="9" presetClass="entr" presetSubtype="0" fill="hold" nodeType="withEffect">
                                  <p:stCondLst>
                                    <p:cond delay="0"/>
                                  </p:stCondLst>
                                  <p:childTnLst>
                                    <p:set>
                                      <p:cBhvr>
                                        <p:cTn id="271" dur="1" fill="hold">
                                          <p:stCondLst>
                                            <p:cond delay="0"/>
                                          </p:stCondLst>
                                        </p:cTn>
                                        <p:tgtEl>
                                          <p:spTgt spid="2340973"/>
                                        </p:tgtEl>
                                        <p:attrNameLst>
                                          <p:attrName>style.visibility</p:attrName>
                                        </p:attrNameLst>
                                      </p:cBhvr>
                                      <p:to>
                                        <p:strVal val="visible"/>
                                      </p:to>
                                    </p:set>
                                    <p:animEffect transition="in" filter="dissolve">
                                      <p:cBhvr>
                                        <p:cTn id="272" dur="500"/>
                                        <p:tgtEl>
                                          <p:spTgt spid="2340973"/>
                                        </p:tgtEl>
                                      </p:cBhvr>
                                    </p:animEffect>
                                  </p:childTnLst>
                                </p:cTn>
                              </p:par>
                              <p:par>
                                <p:cTn id="273" presetID="9" presetClass="entr" presetSubtype="0" fill="hold" nodeType="withEffect">
                                  <p:stCondLst>
                                    <p:cond delay="0"/>
                                  </p:stCondLst>
                                  <p:childTnLst>
                                    <p:set>
                                      <p:cBhvr>
                                        <p:cTn id="274" dur="1" fill="hold">
                                          <p:stCondLst>
                                            <p:cond delay="0"/>
                                          </p:stCondLst>
                                        </p:cTn>
                                        <p:tgtEl>
                                          <p:spTgt spid="2340974"/>
                                        </p:tgtEl>
                                        <p:attrNameLst>
                                          <p:attrName>style.visibility</p:attrName>
                                        </p:attrNameLst>
                                      </p:cBhvr>
                                      <p:to>
                                        <p:strVal val="visible"/>
                                      </p:to>
                                    </p:set>
                                    <p:animEffect transition="in" filter="dissolve">
                                      <p:cBhvr>
                                        <p:cTn id="275" dur="500"/>
                                        <p:tgtEl>
                                          <p:spTgt spid="2340974"/>
                                        </p:tgtEl>
                                      </p:cBhvr>
                                    </p:animEffect>
                                  </p:childTnLst>
                                </p:cTn>
                              </p:par>
                              <p:par>
                                <p:cTn id="276" presetID="9" presetClass="entr" presetSubtype="0" fill="hold" nodeType="withEffect">
                                  <p:stCondLst>
                                    <p:cond delay="0"/>
                                  </p:stCondLst>
                                  <p:childTnLst>
                                    <p:set>
                                      <p:cBhvr>
                                        <p:cTn id="277" dur="1" fill="hold">
                                          <p:stCondLst>
                                            <p:cond delay="0"/>
                                          </p:stCondLst>
                                        </p:cTn>
                                        <p:tgtEl>
                                          <p:spTgt spid="2340975"/>
                                        </p:tgtEl>
                                        <p:attrNameLst>
                                          <p:attrName>style.visibility</p:attrName>
                                        </p:attrNameLst>
                                      </p:cBhvr>
                                      <p:to>
                                        <p:strVal val="visible"/>
                                      </p:to>
                                    </p:set>
                                    <p:animEffect transition="in" filter="dissolve">
                                      <p:cBhvr>
                                        <p:cTn id="278" dur="500"/>
                                        <p:tgtEl>
                                          <p:spTgt spid="2340975"/>
                                        </p:tgtEl>
                                      </p:cBhvr>
                                    </p:animEffect>
                                  </p:childTnLst>
                                </p:cTn>
                              </p:par>
                              <p:par>
                                <p:cTn id="279" presetID="9" presetClass="entr" presetSubtype="0" fill="hold" nodeType="withEffect">
                                  <p:stCondLst>
                                    <p:cond delay="0"/>
                                  </p:stCondLst>
                                  <p:childTnLst>
                                    <p:set>
                                      <p:cBhvr>
                                        <p:cTn id="280" dur="1" fill="hold">
                                          <p:stCondLst>
                                            <p:cond delay="0"/>
                                          </p:stCondLst>
                                        </p:cTn>
                                        <p:tgtEl>
                                          <p:spTgt spid="2340976"/>
                                        </p:tgtEl>
                                        <p:attrNameLst>
                                          <p:attrName>style.visibility</p:attrName>
                                        </p:attrNameLst>
                                      </p:cBhvr>
                                      <p:to>
                                        <p:strVal val="visible"/>
                                      </p:to>
                                    </p:set>
                                    <p:animEffect transition="in" filter="dissolve">
                                      <p:cBhvr>
                                        <p:cTn id="281" dur="500"/>
                                        <p:tgtEl>
                                          <p:spTgt spid="2340976"/>
                                        </p:tgtEl>
                                      </p:cBhvr>
                                    </p:animEffect>
                                  </p:childTnLst>
                                </p:cTn>
                              </p:par>
                              <p:par>
                                <p:cTn id="282" presetID="9" presetClass="entr" presetSubtype="0" fill="hold" nodeType="withEffect">
                                  <p:stCondLst>
                                    <p:cond delay="0"/>
                                  </p:stCondLst>
                                  <p:childTnLst>
                                    <p:set>
                                      <p:cBhvr>
                                        <p:cTn id="283" dur="1" fill="hold">
                                          <p:stCondLst>
                                            <p:cond delay="0"/>
                                          </p:stCondLst>
                                        </p:cTn>
                                        <p:tgtEl>
                                          <p:spTgt spid="2340977"/>
                                        </p:tgtEl>
                                        <p:attrNameLst>
                                          <p:attrName>style.visibility</p:attrName>
                                        </p:attrNameLst>
                                      </p:cBhvr>
                                      <p:to>
                                        <p:strVal val="visible"/>
                                      </p:to>
                                    </p:set>
                                    <p:animEffect transition="in" filter="dissolve">
                                      <p:cBhvr>
                                        <p:cTn id="284" dur="500"/>
                                        <p:tgtEl>
                                          <p:spTgt spid="2340977"/>
                                        </p:tgtEl>
                                      </p:cBhvr>
                                    </p:animEffect>
                                  </p:childTnLst>
                                </p:cTn>
                              </p:par>
                              <p:par>
                                <p:cTn id="285" presetID="9" presetClass="entr" presetSubtype="0" fill="hold" nodeType="withEffect">
                                  <p:stCondLst>
                                    <p:cond delay="0"/>
                                  </p:stCondLst>
                                  <p:childTnLst>
                                    <p:set>
                                      <p:cBhvr>
                                        <p:cTn id="286" dur="1" fill="hold">
                                          <p:stCondLst>
                                            <p:cond delay="0"/>
                                          </p:stCondLst>
                                        </p:cTn>
                                        <p:tgtEl>
                                          <p:spTgt spid="2340978"/>
                                        </p:tgtEl>
                                        <p:attrNameLst>
                                          <p:attrName>style.visibility</p:attrName>
                                        </p:attrNameLst>
                                      </p:cBhvr>
                                      <p:to>
                                        <p:strVal val="visible"/>
                                      </p:to>
                                    </p:set>
                                    <p:animEffect transition="in" filter="dissolve">
                                      <p:cBhvr>
                                        <p:cTn id="287" dur="500"/>
                                        <p:tgtEl>
                                          <p:spTgt spid="2340978"/>
                                        </p:tgtEl>
                                      </p:cBhvr>
                                    </p:animEffect>
                                  </p:childTnLst>
                                </p:cTn>
                              </p:par>
                              <p:par>
                                <p:cTn id="288" presetID="9" presetClass="entr" presetSubtype="0" fill="hold" nodeType="withEffect">
                                  <p:stCondLst>
                                    <p:cond delay="0"/>
                                  </p:stCondLst>
                                  <p:childTnLst>
                                    <p:set>
                                      <p:cBhvr>
                                        <p:cTn id="289" dur="1" fill="hold">
                                          <p:stCondLst>
                                            <p:cond delay="0"/>
                                          </p:stCondLst>
                                        </p:cTn>
                                        <p:tgtEl>
                                          <p:spTgt spid="2340979"/>
                                        </p:tgtEl>
                                        <p:attrNameLst>
                                          <p:attrName>style.visibility</p:attrName>
                                        </p:attrNameLst>
                                      </p:cBhvr>
                                      <p:to>
                                        <p:strVal val="visible"/>
                                      </p:to>
                                    </p:set>
                                    <p:animEffect transition="in" filter="dissolve">
                                      <p:cBhvr>
                                        <p:cTn id="290" dur="500"/>
                                        <p:tgtEl>
                                          <p:spTgt spid="2340979"/>
                                        </p:tgtEl>
                                      </p:cBhvr>
                                    </p:animEffect>
                                  </p:childTnLst>
                                </p:cTn>
                              </p:par>
                              <p:par>
                                <p:cTn id="291" presetID="9" presetClass="entr" presetSubtype="0" fill="hold" nodeType="withEffect">
                                  <p:stCondLst>
                                    <p:cond delay="0"/>
                                  </p:stCondLst>
                                  <p:childTnLst>
                                    <p:set>
                                      <p:cBhvr>
                                        <p:cTn id="292" dur="1" fill="hold">
                                          <p:stCondLst>
                                            <p:cond delay="0"/>
                                          </p:stCondLst>
                                        </p:cTn>
                                        <p:tgtEl>
                                          <p:spTgt spid="2340980"/>
                                        </p:tgtEl>
                                        <p:attrNameLst>
                                          <p:attrName>style.visibility</p:attrName>
                                        </p:attrNameLst>
                                      </p:cBhvr>
                                      <p:to>
                                        <p:strVal val="visible"/>
                                      </p:to>
                                    </p:set>
                                    <p:animEffect transition="in" filter="dissolve">
                                      <p:cBhvr>
                                        <p:cTn id="293" dur="500"/>
                                        <p:tgtEl>
                                          <p:spTgt spid="2340980"/>
                                        </p:tgtEl>
                                      </p:cBhvr>
                                    </p:animEffect>
                                  </p:childTnLst>
                                </p:cTn>
                              </p:par>
                              <p:par>
                                <p:cTn id="294" presetID="9" presetClass="entr" presetSubtype="0" fill="hold" nodeType="withEffect">
                                  <p:stCondLst>
                                    <p:cond delay="0"/>
                                  </p:stCondLst>
                                  <p:childTnLst>
                                    <p:set>
                                      <p:cBhvr>
                                        <p:cTn id="295" dur="1" fill="hold">
                                          <p:stCondLst>
                                            <p:cond delay="0"/>
                                          </p:stCondLst>
                                        </p:cTn>
                                        <p:tgtEl>
                                          <p:spTgt spid="2340981"/>
                                        </p:tgtEl>
                                        <p:attrNameLst>
                                          <p:attrName>style.visibility</p:attrName>
                                        </p:attrNameLst>
                                      </p:cBhvr>
                                      <p:to>
                                        <p:strVal val="visible"/>
                                      </p:to>
                                    </p:set>
                                    <p:animEffect transition="in" filter="dissolve">
                                      <p:cBhvr>
                                        <p:cTn id="296" dur="500"/>
                                        <p:tgtEl>
                                          <p:spTgt spid="2340981"/>
                                        </p:tgtEl>
                                      </p:cBhvr>
                                    </p:animEffect>
                                  </p:childTnLst>
                                </p:cTn>
                              </p:par>
                              <p:par>
                                <p:cTn id="297" presetID="9" presetClass="entr" presetSubtype="0" fill="hold" nodeType="withEffect">
                                  <p:stCondLst>
                                    <p:cond delay="0"/>
                                  </p:stCondLst>
                                  <p:childTnLst>
                                    <p:set>
                                      <p:cBhvr>
                                        <p:cTn id="298" dur="1" fill="hold">
                                          <p:stCondLst>
                                            <p:cond delay="0"/>
                                          </p:stCondLst>
                                        </p:cTn>
                                        <p:tgtEl>
                                          <p:spTgt spid="2340982"/>
                                        </p:tgtEl>
                                        <p:attrNameLst>
                                          <p:attrName>style.visibility</p:attrName>
                                        </p:attrNameLst>
                                      </p:cBhvr>
                                      <p:to>
                                        <p:strVal val="visible"/>
                                      </p:to>
                                    </p:set>
                                    <p:animEffect transition="in" filter="dissolve">
                                      <p:cBhvr>
                                        <p:cTn id="299" dur="500"/>
                                        <p:tgtEl>
                                          <p:spTgt spid="2340982"/>
                                        </p:tgtEl>
                                      </p:cBhvr>
                                    </p:animEffect>
                                  </p:childTnLst>
                                </p:cTn>
                              </p:par>
                              <p:par>
                                <p:cTn id="300" presetID="9" presetClass="entr" presetSubtype="0" fill="hold" nodeType="withEffect">
                                  <p:stCondLst>
                                    <p:cond delay="0"/>
                                  </p:stCondLst>
                                  <p:childTnLst>
                                    <p:set>
                                      <p:cBhvr>
                                        <p:cTn id="301" dur="1" fill="hold">
                                          <p:stCondLst>
                                            <p:cond delay="0"/>
                                          </p:stCondLst>
                                        </p:cTn>
                                        <p:tgtEl>
                                          <p:spTgt spid="2340983"/>
                                        </p:tgtEl>
                                        <p:attrNameLst>
                                          <p:attrName>style.visibility</p:attrName>
                                        </p:attrNameLst>
                                      </p:cBhvr>
                                      <p:to>
                                        <p:strVal val="visible"/>
                                      </p:to>
                                    </p:set>
                                    <p:animEffect transition="in" filter="dissolve">
                                      <p:cBhvr>
                                        <p:cTn id="302" dur="500"/>
                                        <p:tgtEl>
                                          <p:spTgt spid="2340983"/>
                                        </p:tgtEl>
                                      </p:cBhvr>
                                    </p:animEffect>
                                  </p:childTnLst>
                                </p:cTn>
                              </p:par>
                              <p:par>
                                <p:cTn id="303" presetID="9" presetClass="entr" presetSubtype="0" fill="hold" nodeType="withEffect">
                                  <p:stCondLst>
                                    <p:cond delay="0"/>
                                  </p:stCondLst>
                                  <p:childTnLst>
                                    <p:set>
                                      <p:cBhvr>
                                        <p:cTn id="304" dur="1" fill="hold">
                                          <p:stCondLst>
                                            <p:cond delay="0"/>
                                          </p:stCondLst>
                                        </p:cTn>
                                        <p:tgtEl>
                                          <p:spTgt spid="2340970"/>
                                        </p:tgtEl>
                                        <p:attrNameLst>
                                          <p:attrName>style.visibility</p:attrName>
                                        </p:attrNameLst>
                                      </p:cBhvr>
                                      <p:to>
                                        <p:strVal val="visible"/>
                                      </p:to>
                                    </p:set>
                                    <p:animEffect transition="in" filter="dissolve">
                                      <p:cBhvr>
                                        <p:cTn id="305" dur="500"/>
                                        <p:tgtEl>
                                          <p:spTgt spid="2340970"/>
                                        </p:tgtEl>
                                      </p:cBhvr>
                                    </p:animEffect>
                                  </p:childTnLst>
                                </p:cTn>
                              </p:par>
                            </p:childTnLst>
                          </p:cTn>
                        </p:par>
                      </p:childTnLst>
                    </p:cTn>
                  </p:par>
                  <p:par>
                    <p:cTn id="306" fill="hold">
                      <p:stCondLst>
                        <p:cond delay="indefinite"/>
                      </p:stCondLst>
                      <p:childTnLst>
                        <p:par>
                          <p:cTn id="307" fill="hold">
                            <p:stCondLst>
                              <p:cond delay="0"/>
                            </p:stCondLst>
                            <p:childTnLst>
                              <p:par>
                                <p:cTn id="308" presetID="9" presetClass="entr" presetSubtype="0" fill="hold" nodeType="clickEffect">
                                  <p:stCondLst>
                                    <p:cond delay="0"/>
                                  </p:stCondLst>
                                  <p:childTnLst>
                                    <p:set>
                                      <p:cBhvr>
                                        <p:cTn id="309" dur="1" fill="hold">
                                          <p:stCondLst>
                                            <p:cond delay="0"/>
                                          </p:stCondLst>
                                        </p:cTn>
                                        <p:tgtEl>
                                          <p:spTgt spid="2340989"/>
                                        </p:tgtEl>
                                        <p:attrNameLst>
                                          <p:attrName>style.visibility</p:attrName>
                                        </p:attrNameLst>
                                      </p:cBhvr>
                                      <p:to>
                                        <p:strVal val="visible"/>
                                      </p:to>
                                    </p:set>
                                    <p:animEffect transition="in" filter="dissolve">
                                      <p:cBhvr>
                                        <p:cTn id="310" dur="500"/>
                                        <p:tgtEl>
                                          <p:spTgt spid="2340989"/>
                                        </p:tgtEl>
                                      </p:cBhvr>
                                    </p:animEffect>
                                  </p:childTnLst>
                                </p:cTn>
                              </p:par>
                            </p:childTnLst>
                          </p:cTn>
                        </p:par>
                      </p:childTnLst>
                    </p:cTn>
                  </p:par>
                  <p:par>
                    <p:cTn id="311" fill="hold">
                      <p:stCondLst>
                        <p:cond delay="indefinite"/>
                      </p:stCondLst>
                      <p:childTnLst>
                        <p:par>
                          <p:cTn id="312" fill="hold">
                            <p:stCondLst>
                              <p:cond delay="0"/>
                            </p:stCondLst>
                            <p:childTnLst>
                              <p:par>
                                <p:cTn id="313" presetID="1" presetClass="exit" presetSubtype="0" fill="hold" nodeType="clickEffect">
                                  <p:stCondLst>
                                    <p:cond delay="0"/>
                                  </p:stCondLst>
                                  <p:childTnLst>
                                    <p:set>
                                      <p:cBhvr>
                                        <p:cTn id="314" dur="1" fill="hold">
                                          <p:stCondLst>
                                            <p:cond delay="0"/>
                                          </p:stCondLst>
                                        </p:cTn>
                                        <p:tgtEl>
                                          <p:spTgt spid="2340997"/>
                                        </p:tgtEl>
                                        <p:attrNameLst>
                                          <p:attrName>style.visibility</p:attrName>
                                        </p:attrNameLst>
                                      </p:cBhvr>
                                      <p:to>
                                        <p:strVal val="hidden"/>
                                      </p:to>
                                    </p:set>
                                  </p:childTnLst>
                                </p:cTn>
                              </p:par>
                              <p:par>
                                <p:cTn id="315" presetID="1" presetClass="entr" presetSubtype="0" fill="hold" nodeType="withEffect">
                                  <p:stCondLst>
                                    <p:cond delay="0"/>
                                  </p:stCondLst>
                                  <p:childTnLst>
                                    <p:set>
                                      <p:cBhvr>
                                        <p:cTn id="316" dur="1" fill="hold">
                                          <p:stCondLst>
                                            <p:cond delay="0"/>
                                          </p:stCondLst>
                                        </p:cTn>
                                        <p:tgtEl>
                                          <p:spTgt spid="2340996"/>
                                        </p:tgtEl>
                                        <p:attrNameLst>
                                          <p:attrName>style.visibility</p:attrName>
                                        </p:attrNameLst>
                                      </p:cBhvr>
                                      <p:to>
                                        <p:strVal val="visible"/>
                                      </p:to>
                                    </p:set>
                                  </p:childTnLst>
                                </p:cTn>
                              </p:par>
                            </p:childTnLst>
                          </p:cTn>
                        </p:par>
                      </p:childTnLst>
                    </p:cTn>
                  </p:par>
                  <p:par>
                    <p:cTn id="317" fill="hold">
                      <p:stCondLst>
                        <p:cond delay="indefinite"/>
                      </p:stCondLst>
                      <p:childTnLst>
                        <p:par>
                          <p:cTn id="318" fill="hold">
                            <p:stCondLst>
                              <p:cond delay="0"/>
                            </p:stCondLst>
                            <p:childTnLst>
                              <p:par>
                                <p:cTn id="319" presetID="1" presetClass="exit" presetSubtype="0" fill="hold" nodeType="clickEffect">
                                  <p:stCondLst>
                                    <p:cond delay="0"/>
                                  </p:stCondLst>
                                  <p:childTnLst>
                                    <p:set>
                                      <p:cBhvr>
                                        <p:cTn id="320" dur="1" fill="hold">
                                          <p:stCondLst>
                                            <p:cond delay="0"/>
                                          </p:stCondLst>
                                        </p:cTn>
                                        <p:tgtEl>
                                          <p:spTgt spid="2340888"/>
                                        </p:tgtEl>
                                        <p:attrNameLst>
                                          <p:attrName>style.visibility</p:attrName>
                                        </p:attrNameLst>
                                      </p:cBhvr>
                                      <p:to>
                                        <p:strVal val="hidden"/>
                                      </p:to>
                                    </p:set>
                                  </p:childTnLst>
                                </p:cTn>
                              </p:par>
                              <p:par>
                                <p:cTn id="321" presetID="1" presetClass="exit" presetSubtype="0" fill="hold" nodeType="withEffect">
                                  <p:stCondLst>
                                    <p:cond delay="0"/>
                                  </p:stCondLst>
                                  <p:childTnLst>
                                    <p:set>
                                      <p:cBhvr>
                                        <p:cTn id="322" dur="1" fill="hold">
                                          <p:stCondLst>
                                            <p:cond delay="0"/>
                                          </p:stCondLst>
                                        </p:cTn>
                                        <p:tgtEl>
                                          <p:spTgt spid="2340890"/>
                                        </p:tgtEl>
                                        <p:attrNameLst>
                                          <p:attrName>style.visibility</p:attrName>
                                        </p:attrNameLst>
                                      </p:cBhvr>
                                      <p:to>
                                        <p:strVal val="hidden"/>
                                      </p:to>
                                    </p:set>
                                  </p:childTnLst>
                                </p:cTn>
                              </p:par>
                              <p:par>
                                <p:cTn id="323" presetID="1" presetClass="exit" presetSubtype="0" fill="hold" nodeType="withEffect">
                                  <p:stCondLst>
                                    <p:cond delay="0"/>
                                  </p:stCondLst>
                                  <p:childTnLst>
                                    <p:set>
                                      <p:cBhvr>
                                        <p:cTn id="324" dur="1" fill="hold">
                                          <p:stCondLst>
                                            <p:cond delay="0"/>
                                          </p:stCondLst>
                                        </p:cTn>
                                        <p:tgtEl>
                                          <p:spTgt spid="2340889"/>
                                        </p:tgtEl>
                                        <p:attrNameLst>
                                          <p:attrName>style.visibility</p:attrName>
                                        </p:attrNameLst>
                                      </p:cBhvr>
                                      <p:to>
                                        <p:strVal val="hidden"/>
                                      </p:to>
                                    </p:set>
                                  </p:childTnLst>
                                </p:cTn>
                              </p:par>
                              <p:par>
                                <p:cTn id="325" presetID="1" presetClass="exit" presetSubtype="0" fill="hold" nodeType="withEffect">
                                  <p:stCondLst>
                                    <p:cond delay="0"/>
                                  </p:stCondLst>
                                  <p:childTnLst>
                                    <p:set>
                                      <p:cBhvr>
                                        <p:cTn id="326" dur="1" fill="hold">
                                          <p:stCondLst>
                                            <p:cond delay="0"/>
                                          </p:stCondLst>
                                        </p:cTn>
                                        <p:tgtEl>
                                          <p:spTgt spid="2340894"/>
                                        </p:tgtEl>
                                        <p:attrNameLst>
                                          <p:attrName>style.visibility</p:attrName>
                                        </p:attrNameLst>
                                      </p:cBhvr>
                                      <p:to>
                                        <p:strVal val="hidden"/>
                                      </p:to>
                                    </p:set>
                                  </p:childTnLst>
                                </p:cTn>
                              </p:par>
                              <p:par>
                                <p:cTn id="327" presetID="1" presetClass="exit" presetSubtype="0" fill="hold" nodeType="withEffect">
                                  <p:stCondLst>
                                    <p:cond delay="0"/>
                                  </p:stCondLst>
                                  <p:childTnLst>
                                    <p:set>
                                      <p:cBhvr>
                                        <p:cTn id="328" dur="1" fill="hold">
                                          <p:stCondLst>
                                            <p:cond delay="0"/>
                                          </p:stCondLst>
                                        </p:cTn>
                                        <p:tgtEl>
                                          <p:spTgt spid="2340892"/>
                                        </p:tgtEl>
                                        <p:attrNameLst>
                                          <p:attrName>style.visibility</p:attrName>
                                        </p:attrNameLst>
                                      </p:cBhvr>
                                      <p:to>
                                        <p:strVal val="hidden"/>
                                      </p:to>
                                    </p:set>
                                  </p:childTnLst>
                                </p:cTn>
                              </p:par>
                              <p:par>
                                <p:cTn id="329" presetID="1" presetClass="exit" presetSubtype="0" fill="hold" nodeType="withEffect">
                                  <p:stCondLst>
                                    <p:cond delay="0"/>
                                  </p:stCondLst>
                                  <p:childTnLst>
                                    <p:set>
                                      <p:cBhvr>
                                        <p:cTn id="330" dur="1" fill="hold">
                                          <p:stCondLst>
                                            <p:cond delay="0"/>
                                          </p:stCondLst>
                                        </p:cTn>
                                        <p:tgtEl>
                                          <p:spTgt spid="2340893"/>
                                        </p:tgtEl>
                                        <p:attrNameLst>
                                          <p:attrName>style.visibility</p:attrName>
                                        </p:attrNameLst>
                                      </p:cBhvr>
                                      <p:to>
                                        <p:strVal val="hidden"/>
                                      </p:to>
                                    </p:set>
                                  </p:childTnLst>
                                </p:cTn>
                              </p:par>
                              <p:par>
                                <p:cTn id="331" presetID="1" presetClass="exit" presetSubtype="0" fill="hold" nodeType="withEffect">
                                  <p:stCondLst>
                                    <p:cond delay="0"/>
                                  </p:stCondLst>
                                  <p:childTnLst>
                                    <p:set>
                                      <p:cBhvr>
                                        <p:cTn id="332" dur="1" fill="hold">
                                          <p:stCondLst>
                                            <p:cond delay="0"/>
                                          </p:stCondLst>
                                        </p:cTn>
                                        <p:tgtEl>
                                          <p:spTgt spid="2340914"/>
                                        </p:tgtEl>
                                        <p:attrNameLst>
                                          <p:attrName>style.visibility</p:attrName>
                                        </p:attrNameLst>
                                      </p:cBhvr>
                                      <p:to>
                                        <p:strVal val="hidden"/>
                                      </p:to>
                                    </p:set>
                                  </p:childTnLst>
                                </p:cTn>
                              </p:par>
                              <p:par>
                                <p:cTn id="333" presetID="1" presetClass="exit" presetSubtype="0" fill="hold" nodeType="withEffect">
                                  <p:stCondLst>
                                    <p:cond delay="0"/>
                                  </p:stCondLst>
                                  <p:childTnLst>
                                    <p:set>
                                      <p:cBhvr>
                                        <p:cTn id="334" dur="1" fill="hold">
                                          <p:stCondLst>
                                            <p:cond delay="0"/>
                                          </p:stCondLst>
                                        </p:cTn>
                                        <p:tgtEl>
                                          <p:spTgt spid="2340917"/>
                                        </p:tgtEl>
                                        <p:attrNameLst>
                                          <p:attrName>style.visibility</p:attrName>
                                        </p:attrNameLst>
                                      </p:cBhvr>
                                      <p:to>
                                        <p:strVal val="hidden"/>
                                      </p:to>
                                    </p:set>
                                  </p:childTnLst>
                                </p:cTn>
                              </p:par>
                              <p:par>
                                <p:cTn id="335" presetID="1" presetClass="exit" presetSubtype="0" fill="hold" nodeType="withEffect">
                                  <p:stCondLst>
                                    <p:cond delay="0"/>
                                  </p:stCondLst>
                                  <p:childTnLst>
                                    <p:set>
                                      <p:cBhvr>
                                        <p:cTn id="336" dur="1" fill="hold">
                                          <p:stCondLst>
                                            <p:cond delay="0"/>
                                          </p:stCondLst>
                                        </p:cTn>
                                        <p:tgtEl>
                                          <p:spTgt spid="2340915"/>
                                        </p:tgtEl>
                                        <p:attrNameLst>
                                          <p:attrName>style.visibility</p:attrName>
                                        </p:attrNameLst>
                                      </p:cBhvr>
                                      <p:to>
                                        <p:strVal val="hidden"/>
                                      </p:to>
                                    </p:set>
                                  </p:childTnLst>
                                </p:cTn>
                              </p:par>
                              <p:par>
                                <p:cTn id="337" presetID="1" presetClass="exit" presetSubtype="0" fill="hold" nodeType="withEffect">
                                  <p:stCondLst>
                                    <p:cond delay="0"/>
                                  </p:stCondLst>
                                  <p:childTnLst>
                                    <p:set>
                                      <p:cBhvr>
                                        <p:cTn id="338" dur="1" fill="hold">
                                          <p:stCondLst>
                                            <p:cond delay="0"/>
                                          </p:stCondLst>
                                        </p:cTn>
                                        <p:tgtEl>
                                          <p:spTgt spid="2340934"/>
                                        </p:tgtEl>
                                        <p:attrNameLst>
                                          <p:attrName>style.visibility</p:attrName>
                                        </p:attrNameLst>
                                      </p:cBhvr>
                                      <p:to>
                                        <p:strVal val="hidden"/>
                                      </p:to>
                                    </p:set>
                                  </p:childTnLst>
                                </p:cTn>
                              </p:par>
                              <p:par>
                                <p:cTn id="339" presetID="1" presetClass="exit" presetSubtype="0" fill="hold" nodeType="withEffect">
                                  <p:stCondLst>
                                    <p:cond delay="0"/>
                                  </p:stCondLst>
                                  <p:childTnLst>
                                    <p:set>
                                      <p:cBhvr>
                                        <p:cTn id="340" dur="1" fill="hold">
                                          <p:stCondLst>
                                            <p:cond delay="0"/>
                                          </p:stCondLst>
                                        </p:cTn>
                                        <p:tgtEl>
                                          <p:spTgt spid="2340931"/>
                                        </p:tgtEl>
                                        <p:attrNameLst>
                                          <p:attrName>style.visibility</p:attrName>
                                        </p:attrNameLst>
                                      </p:cBhvr>
                                      <p:to>
                                        <p:strVal val="hidden"/>
                                      </p:to>
                                    </p:set>
                                  </p:childTnLst>
                                </p:cTn>
                              </p:par>
                              <p:par>
                                <p:cTn id="341" presetID="1" presetClass="exit" presetSubtype="0" fill="hold" nodeType="withEffect">
                                  <p:stCondLst>
                                    <p:cond delay="0"/>
                                  </p:stCondLst>
                                  <p:childTnLst>
                                    <p:set>
                                      <p:cBhvr>
                                        <p:cTn id="342" dur="1" fill="hold">
                                          <p:stCondLst>
                                            <p:cond delay="0"/>
                                          </p:stCondLst>
                                        </p:cTn>
                                        <p:tgtEl>
                                          <p:spTgt spid="2340932"/>
                                        </p:tgtEl>
                                        <p:attrNameLst>
                                          <p:attrName>style.visibility</p:attrName>
                                        </p:attrNameLst>
                                      </p:cBhvr>
                                      <p:to>
                                        <p:strVal val="hidden"/>
                                      </p:to>
                                    </p:set>
                                  </p:childTnLst>
                                </p:cTn>
                              </p:par>
                              <p:par>
                                <p:cTn id="343" presetID="1" presetClass="entr" presetSubtype="0" fill="hold" nodeType="withEffect">
                                  <p:stCondLst>
                                    <p:cond delay="0"/>
                                  </p:stCondLst>
                                  <p:childTnLst>
                                    <p:set>
                                      <p:cBhvr>
                                        <p:cTn id="344" dur="1" fill="hold">
                                          <p:stCondLst>
                                            <p:cond delay="0"/>
                                          </p:stCondLst>
                                        </p:cTn>
                                        <p:tgtEl>
                                          <p:spTgt spid="23410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0875" grpId="0"/>
      <p:bldP spid="2340888" grpId="0" animBg="1"/>
      <p:bldP spid="2340888" grpId="1" animBg="1"/>
      <p:bldP spid="2340889" grpId="0" animBg="1"/>
      <p:bldP spid="2340889" grpId="1" animBg="1"/>
      <p:bldP spid="2340892" grpId="0" animBg="1"/>
      <p:bldP spid="2340892" grpId="1" animBg="1"/>
      <p:bldP spid="2340893" grpId="0" animBg="1"/>
      <p:bldP spid="2340893" grpId="1" animBg="1"/>
      <p:bldP spid="2340900" grpId="0" animBg="1"/>
      <p:bldP spid="2340901" grpId="0" animBg="1"/>
      <p:bldP spid="2340905" grpId="0" animBg="1"/>
      <p:bldP spid="2340906" grpId="0" animBg="1"/>
      <p:bldP spid="2340909" grpId="0" animBg="1"/>
      <p:bldP spid="2340910" grpId="0" animBg="1"/>
      <p:bldP spid="2340914" grpId="0" animBg="1"/>
      <p:bldP spid="2340914" grpId="1" animBg="1"/>
      <p:bldP spid="2340915" grpId="0" animBg="1"/>
      <p:bldP spid="2340915" grpId="1" animBg="1"/>
      <p:bldP spid="2340919" grpId="0" animBg="1"/>
      <p:bldP spid="2340920" grpId="0" animBg="1"/>
      <p:bldP spid="2340923" grpId="0" animBg="1"/>
      <p:bldP spid="2340924" grpId="0" animBg="1"/>
      <p:bldP spid="2340928" grpId="0" animBg="1"/>
      <p:bldP spid="2340929" grpId="0" animBg="1"/>
      <p:bldP spid="2340931" grpId="0" animBg="1"/>
      <p:bldP spid="2340931" grpId="1" animBg="1"/>
      <p:bldP spid="2340932" grpId="0" animBg="1"/>
      <p:bldP spid="2340932" grpId="1" animBg="1"/>
      <p:bldP spid="2340935" grpId="0"/>
      <p:bldP spid="2340936" grpId="0"/>
      <p:bldP spid="2340937" grpId="0"/>
      <p:bldP spid="2340938" grpId="0"/>
      <p:bldP spid="2340939" grpId="0"/>
      <p:bldP spid="2340940" grpId="0"/>
      <p:bldP spid="2340941" grpId="0"/>
      <p:bldP spid="2340942" grpId="0"/>
      <p:bldP spid="2340943" grpId="0"/>
      <p:bldP spid="2340944" grpId="0" animBg="1"/>
      <p:bldP spid="2340945" grpId="0"/>
      <p:bldP spid="2340946" grpId="0"/>
      <p:bldP spid="2340947" grpId="0"/>
      <p:bldP spid="2340948" grpId="0"/>
      <p:bldP spid="2340949" grpId="0" animBg="1"/>
      <p:bldP spid="2340950" grpId="0" animBg="1"/>
      <p:bldP spid="2340951" grpId="0" animBg="1"/>
      <p:bldP spid="2340952" grpId="0" animBg="1"/>
      <p:bldP spid="2340953" grpId="0" animBg="1"/>
      <p:bldP spid="2340954" grpId="0" animBg="1"/>
      <p:bldP spid="2340955" grpId="0" animBg="1"/>
      <p:bldP spid="2340956" grpId="0" animBg="1"/>
      <p:bldP spid="2340957" grpId="0" animBg="1"/>
      <p:bldP spid="2340958" grpId="0"/>
      <p:bldP spid="2340959" grpId="0"/>
      <p:bldP spid="2340960" grpId="0"/>
      <p:bldP spid="2340961" grpId="0"/>
      <p:bldP spid="2340962" grpId="0"/>
      <p:bldP spid="2340963" grpId="0"/>
      <p:bldP spid="2340964" grpId="0"/>
      <p:bldP spid="2340965" grpId="0"/>
      <p:bldP spid="2340966" grpId="0"/>
      <p:bldP spid="2340967" grpId="0"/>
      <p:bldP spid="2340968" grpId="0"/>
      <p:bldP spid="2340969" grpId="0"/>
      <p:bldP spid="2340983" grpId="0"/>
      <p:bldP spid="2340970" grpId="0" animBg="1"/>
      <p:bldP spid="2340989"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2921" name="Text Box 1033"/>
          <p:cNvSpPr txBox="1"/>
          <p:nvPr/>
        </p:nvSpPr>
        <p:spPr>
          <a:xfrm>
            <a:off x="573088" y="684213"/>
            <a:ext cx="27971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2. </a:t>
            </a:r>
            <a:r>
              <a:rPr lang="zh-CN" altLang="en-US" dirty="0">
                <a:latin typeface="Times New Roman" panose="02020603050405020304" pitchFamily="18" charset="0"/>
              </a:rPr>
              <a:t>动态响应</a:t>
            </a:r>
            <a:endParaRPr lang="zh-CN" altLang="en-US" dirty="0">
              <a:latin typeface="Times New Roman" panose="02020603050405020304" pitchFamily="18" charset="0"/>
            </a:endParaRPr>
          </a:p>
        </p:txBody>
      </p:sp>
      <p:sp>
        <p:nvSpPr>
          <p:cNvPr id="2342923" name="Text Box 1035"/>
          <p:cNvSpPr txBox="1"/>
          <p:nvPr/>
        </p:nvSpPr>
        <p:spPr>
          <a:xfrm>
            <a:off x="468313" y="1411288"/>
            <a:ext cx="4064000" cy="476250"/>
          </a:xfrm>
          <a:prstGeom prst="rect">
            <a:avLst/>
          </a:prstGeom>
          <a:noFill/>
          <a:ln w="9525">
            <a:noFill/>
          </a:ln>
        </p:spPr>
        <p:txBody>
          <a:bodyPr>
            <a:spAutoFit/>
          </a:bodyPr>
          <a:p>
            <a:pPr eaLnBrk="1" hangingPunct="1">
              <a:lnSpc>
                <a:spcPct val="90000"/>
              </a:lnSpc>
            </a:pPr>
            <a:r>
              <a:rPr lang="zh-CN" altLang="en-US" sz="2800" dirty="0">
                <a:solidFill>
                  <a:schemeClr val="tx1"/>
                </a:solidFill>
                <a:latin typeface="Times New Roman" panose="02020603050405020304" pitchFamily="18" charset="0"/>
                <a:ea typeface="黑体" panose="02010609060101010101" pitchFamily="49" charset="-122"/>
              </a:rPr>
              <a:t>与动态响应有关的参数：</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342925" name="Text Box 1037"/>
          <p:cNvSpPr txBox="1"/>
          <p:nvPr/>
        </p:nvSpPr>
        <p:spPr>
          <a:xfrm>
            <a:off x="673100" y="1911350"/>
            <a:ext cx="4999038" cy="476250"/>
          </a:xfrm>
          <a:prstGeom prst="rect">
            <a:avLst/>
          </a:prstGeom>
          <a:noFill/>
          <a:ln w="9525">
            <a:noFill/>
          </a:ln>
        </p:spPr>
        <p:txBody>
          <a:bodyPr wrap="none">
            <a:spAutoFit/>
          </a:bodyPr>
          <a:p>
            <a:pPr eaLnBrk="1" hangingPunct="1">
              <a:lnSpc>
                <a:spcPct val="90000"/>
              </a:lnSpc>
              <a:buClr>
                <a:srgbClr val="FF0000"/>
              </a:buClr>
              <a:buFont typeface="Wingdings" panose="05000000000000000000" pitchFamily="2" charset="2"/>
              <a:buChar char="u"/>
            </a:pPr>
            <a:r>
              <a:rPr lang="en-US" altLang="zh-CN" sz="2800" dirty="0">
                <a:solidFill>
                  <a:srgbClr val="3333FF"/>
                </a:solidFill>
                <a:latin typeface="Times New Roman" panose="02020603050405020304" pitchFamily="18" charset="0"/>
              </a:rPr>
              <a:t>  </a:t>
            </a:r>
            <a:r>
              <a:rPr lang="zh-CN" altLang="en-US" sz="2800" dirty="0">
                <a:solidFill>
                  <a:srgbClr val="3333FF"/>
                </a:solidFill>
                <a:latin typeface="Times New Roman" panose="02020603050405020304" pitchFamily="18" charset="0"/>
              </a:rPr>
              <a:t>开关切换时间（设定时间）</a:t>
            </a:r>
            <a:endParaRPr lang="zh-CN" altLang="en-US" sz="2800" dirty="0">
              <a:solidFill>
                <a:srgbClr val="3333FF"/>
              </a:solidFill>
              <a:latin typeface="Times New Roman" panose="02020603050405020304" pitchFamily="18" charset="0"/>
            </a:endParaRPr>
          </a:p>
        </p:txBody>
      </p:sp>
      <p:sp>
        <p:nvSpPr>
          <p:cNvPr id="2342926" name="Text Box 1038"/>
          <p:cNvSpPr txBox="1"/>
          <p:nvPr/>
        </p:nvSpPr>
        <p:spPr>
          <a:xfrm>
            <a:off x="668338" y="2379663"/>
            <a:ext cx="4670425" cy="476250"/>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sz="2800" dirty="0">
                <a:solidFill>
                  <a:srgbClr val="3333FF"/>
                </a:solidFill>
                <a:latin typeface="Times New Roman" panose="02020603050405020304" pitchFamily="18" charset="0"/>
              </a:rPr>
              <a:t>  </a:t>
            </a:r>
            <a:r>
              <a:rPr lang="zh-CN" altLang="en-US" sz="2800" dirty="0">
                <a:solidFill>
                  <a:srgbClr val="3333FF"/>
                </a:solidFill>
                <a:latin typeface="Times New Roman" panose="02020603050405020304" pitchFamily="18" charset="0"/>
              </a:rPr>
              <a:t>开关闭合后系统的带宽</a:t>
            </a:r>
            <a:endParaRPr lang="zh-CN" altLang="en-US" sz="2800" dirty="0">
              <a:solidFill>
                <a:srgbClr val="3333FF"/>
              </a:solidFill>
              <a:latin typeface="Times New Roman" panose="02020603050405020304" pitchFamily="18" charset="0"/>
            </a:endParaRPr>
          </a:p>
        </p:txBody>
      </p:sp>
      <p:sp>
        <p:nvSpPr>
          <p:cNvPr id="2342928" name="Text Box 1040"/>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42972" name="Group 1084"/>
          <p:cNvGrpSpPr/>
          <p:nvPr/>
        </p:nvGrpSpPr>
        <p:grpSpPr>
          <a:xfrm>
            <a:off x="176213" y="2881313"/>
            <a:ext cx="5942012" cy="3140075"/>
            <a:chOff x="1065" y="1815"/>
            <a:chExt cx="3743" cy="1978"/>
          </a:xfrm>
        </p:grpSpPr>
        <p:sp>
          <p:nvSpPr>
            <p:cNvPr id="44042" name="AutoShape 1041"/>
            <p:cNvSpPr>
              <a:spLocks noChangeAspect="1" noTextEdit="1"/>
            </p:cNvSpPr>
            <p:nvPr/>
          </p:nvSpPr>
          <p:spPr>
            <a:xfrm>
              <a:off x="1065" y="1815"/>
              <a:ext cx="3743" cy="1978"/>
            </a:xfrm>
            <a:prstGeom prst="rect">
              <a:avLst/>
            </a:prstGeom>
            <a:solidFill>
              <a:srgbClr val="FFFF99"/>
            </a:solidFill>
            <a:ln w="9525">
              <a:noFill/>
            </a:ln>
          </p:spPr>
          <p:txBody>
            <a:bodyPr/>
            <a:p>
              <a:endParaRPr lang="zh-CN" altLang="en-US"/>
            </a:p>
          </p:txBody>
        </p:sp>
        <p:sp>
          <p:nvSpPr>
            <p:cNvPr id="44043" name="Oval 1043"/>
            <p:cNvSpPr/>
            <p:nvPr/>
          </p:nvSpPr>
          <p:spPr>
            <a:xfrm>
              <a:off x="1366" y="2433"/>
              <a:ext cx="284" cy="264"/>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4" name="Line 1044"/>
            <p:cNvSpPr/>
            <p:nvPr/>
          </p:nvSpPr>
          <p:spPr>
            <a:xfrm flipV="1">
              <a:off x="1499" y="2061"/>
              <a:ext cx="1" cy="372"/>
            </a:xfrm>
            <a:prstGeom prst="line">
              <a:avLst/>
            </a:prstGeom>
            <a:ln w="0" cap="flat" cmpd="sng">
              <a:solidFill>
                <a:srgbClr val="0000FF"/>
              </a:solidFill>
              <a:prstDash val="solid"/>
              <a:headEnd type="none" w="med" len="med"/>
              <a:tailEnd type="none" w="med" len="med"/>
            </a:ln>
          </p:spPr>
        </p:sp>
        <p:sp>
          <p:nvSpPr>
            <p:cNvPr id="44045" name="Line 1045"/>
            <p:cNvSpPr/>
            <p:nvPr/>
          </p:nvSpPr>
          <p:spPr>
            <a:xfrm>
              <a:off x="1499" y="2061"/>
              <a:ext cx="401" cy="1"/>
            </a:xfrm>
            <a:prstGeom prst="line">
              <a:avLst/>
            </a:prstGeom>
            <a:ln w="0" cap="flat" cmpd="sng">
              <a:solidFill>
                <a:srgbClr val="0000FF"/>
              </a:solidFill>
              <a:prstDash val="solid"/>
              <a:headEnd type="none" w="med" len="med"/>
              <a:tailEnd type="none" w="med" len="med"/>
            </a:ln>
          </p:spPr>
        </p:sp>
        <p:sp>
          <p:nvSpPr>
            <p:cNvPr id="44046" name="Line 1046"/>
            <p:cNvSpPr/>
            <p:nvPr/>
          </p:nvSpPr>
          <p:spPr>
            <a:xfrm>
              <a:off x="1499" y="3054"/>
              <a:ext cx="3225" cy="1"/>
            </a:xfrm>
            <a:prstGeom prst="line">
              <a:avLst/>
            </a:prstGeom>
            <a:ln w="0" cap="flat" cmpd="sng">
              <a:solidFill>
                <a:srgbClr val="0000FF"/>
              </a:solidFill>
              <a:prstDash val="solid"/>
              <a:headEnd type="none" w="med" len="med"/>
              <a:tailEnd type="none" w="med" len="med"/>
            </a:ln>
          </p:spPr>
        </p:sp>
        <p:sp>
          <p:nvSpPr>
            <p:cNvPr id="44047" name="Rectangle 1047"/>
            <p:cNvSpPr/>
            <p:nvPr/>
          </p:nvSpPr>
          <p:spPr>
            <a:xfrm>
              <a:off x="1900" y="2030"/>
              <a:ext cx="284" cy="77"/>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8" name="Rectangle 1048"/>
            <p:cNvSpPr/>
            <p:nvPr/>
          </p:nvSpPr>
          <p:spPr>
            <a:xfrm>
              <a:off x="2702" y="2030"/>
              <a:ext cx="284" cy="77"/>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9" name="Line 1049"/>
            <p:cNvSpPr/>
            <p:nvPr/>
          </p:nvSpPr>
          <p:spPr>
            <a:xfrm>
              <a:off x="2435" y="2061"/>
              <a:ext cx="1" cy="434"/>
            </a:xfrm>
            <a:prstGeom prst="line">
              <a:avLst/>
            </a:prstGeom>
            <a:ln w="0" cap="flat" cmpd="sng">
              <a:solidFill>
                <a:srgbClr val="0000FF"/>
              </a:solidFill>
              <a:prstDash val="solid"/>
              <a:headEnd type="none" w="med" len="med"/>
              <a:tailEnd type="none" w="med" len="med"/>
            </a:ln>
          </p:spPr>
        </p:sp>
        <p:sp>
          <p:nvSpPr>
            <p:cNvPr id="44050" name="Line 1050"/>
            <p:cNvSpPr/>
            <p:nvPr/>
          </p:nvSpPr>
          <p:spPr>
            <a:xfrm>
              <a:off x="2351" y="2495"/>
              <a:ext cx="184" cy="1"/>
            </a:xfrm>
            <a:prstGeom prst="line">
              <a:avLst/>
            </a:prstGeom>
            <a:ln w="0" cap="flat" cmpd="sng">
              <a:solidFill>
                <a:srgbClr val="0000FF"/>
              </a:solidFill>
              <a:prstDash val="solid"/>
              <a:headEnd type="none" w="med" len="med"/>
              <a:tailEnd type="none" w="med" len="med"/>
            </a:ln>
          </p:spPr>
        </p:sp>
        <p:sp>
          <p:nvSpPr>
            <p:cNvPr id="44051" name="Line 1051"/>
            <p:cNvSpPr/>
            <p:nvPr/>
          </p:nvSpPr>
          <p:spPr>
            <a:xfrm>
              <a:off x="2351" y="2557"/>
              <a:ext cx="184" cy="1"/>
            </a:xfrm>
            <a:prstGeom prst="line">
              <a:avLst/>
            </a:prstGeom>
            <a:ln w="0" cap="flat" cmpd="sng">
              <a:solidFill>
                <a:srgbClr val="0000FF"/>
              </a:solidFill>
              <a:prstDash val="solid"/>
              <a:headEnd type="none" w="med" len="med"/>
              <a:tailEnd type="none" w="med" len="med"/>
            </a:ln>
          </p:spPr>
        </p:sp>
        <p:sp>
          <p:nvSpPr>
            <p:cNvPr id="44052" name="Line 1052"/>
            <p:cNvSpPr/>
            <p:nvPr/>
          </p:nvSpPr>
          <p:spPr>
            <a:xfrm>
              <a:off x="2435" y="2557"/>
              <a:ext cx="1" cy="497"/>
            </a:xfrm>
            <a:prstGeom prst="line">
              <a:avLst/>
            </a:prstGeom>
            <a:ln w="0" cap="flat" cmpd="sng">
              <a:solidFill>
                <a:srgbClr val="0000FF"/>
              </a:solidFill>
              <a:prstDash val="solid"/>
              <a:headEnd type="none" w="med" len="med"/>
              <a:tailEnd type="none" w="med" len="med"/>
            </a:ln>
          </p:spPr>
        </p:sp>
        <p:sp>
          <p:nvSpPr>
            <p:cNvPr id="44053" name="Line 1053"/>
            <p:cNvSpPr/>
            <p:nvPr/>
          </p:nvSpPr>
          <p:spPr>
            <a:xfrm>
              <a:off x="3371" y="2061"/>
              <a:ext cx="1" cy="434"/>
            </a:xfrm>
            <a:prstGeom prst="line">
              <a:avLst/>
            </a:prstGeom>
            <a:ln w="0" cap="flat" cmpd="sng">
              <a:solidFill>
                <a:srgbClr val="0000FF"/>
              </a:solidFill>
              <a:prstDash val="solid"/>
              <a:headEnd type="none" w="med" len="med"/>
              <a:tailEnd type="none" w="med" len="med"/>
            </a:ln>
          </p:spPr>
        </p:sp>
        <p:sp>
          <p:nvSpPr>
            <p:cNvPr id="44054" name="Line 1054"/>
            <p:cNvSpPr/>
            <p:nvPr/>
          </p:nvSpPr>
          <p:spPr>
            <a:xfrm>
              <a:off x="3287" y="2495"/>
              <a:ext cx="184" cy="1"/>
            </a:xfrm>
            <a:prstGeom prst="line">
              <a:avLst/>
            </a:prstGeom>
            <a:ln w="0" cap="flat" cmpd="sng">
              <a:solidFill>
                <a:srgbClr val="0000FF"/>
              </a:solidFill>
              <a:prstDash val="solid"/>
              <a:headEnd type="none" w="med" len="med"/>
              <a:tailEnd type="none" w="med" len="med"/>
            </a:ln>
          </p:spPr>
        </p:sp>
        <p:sp>
          <p:nvSpPr>
            <p:cNvPr id="44055" name="Line 1055"/>
            <p:cNvSpPr/>
            <p:nvPr/>
          </p:nvSpPr>
          <p:spPr>
            <a:xfrm>
              <a:off x="3287" y="2557"/>
              <a:ext cx="184" cy="1"/>
            </a:xfrm>
            <a:prstGeom prst="line">
              <a:avLst/>
            </a:prstGeom>
            <a:ln w="0" cap="flat" cmpd="sng">
              <a:solidFill>
                <a:srgbClr val="0000FF"/>
              </a:solidFill>
              <a:prstDash val="solid"/>
              <a:headEnd type="none" w="med" len="med"/>
              <a:tailEnd type="none" w="med" len="med"/>
            </a:ln>
          </p:spPr>
        </p:sp>
        <p:sp>
          <p:nvSpPr>
            <p:cNvPr id="44056" name="Line 1056"/>
            <p:cNvSpPr/>
            <p:nvPr/>
          </p:nvSpPr>
          <p:spPr>
            <a:xfrm>
              <a:off x="3371" y="2557"/>
              <a:ext cx="1" cy="745"/>
            </a:xfrm>
            <a:prstGeom prst="line">
              <a:avLst/>
            </a:prstGeom>
            <a:ln w="0" cap="flat" cmpd="sng">
              <a:solidFill>
                <a:srgbClr val="0000FF"/>
              </a:solidFill>
              <a:prstDash val="solid"/>
              <a:headEnd type="none" w="med" len="med"/>
              <a:tailEnd type="none" w="med" len="med"/>
            </a:ln>
          </p:spPr>
        </p:sp>
        <p:sp>
          <p:nvSpPr>
            <p:cNvPr id="44057" name="Line 1057"/>
            <p:cNvSpPr/>
            <p:nvPr/>
          </p:nvSpPr>
          <p:spPr>
            <a:xfrm>
              <a:off x="4173" y="2061"/>
              <a:ext cx="1" cy="372"/>
            </a:xfrm>
            <a:prstGeom prst="line">
              <a:avLst/>
            </a:prstGeom>
            <a:ln w="0" cap="flat" cmpd="sng">
              <a:solidFill>
                <a:srgbClr val="0000FF"/>
              </a:solidFill>
              <a:prstDash val="solid"/>
              <a:headEnd type="none" w="med" len="med"/>
              <a:tailEnd type="none" w="med" len="med"/>
            </a:ln>
          </p:spPr>
        </p:sp>
        <p:sp>
          <p:nvSpPr>
            <p:cNvPr id="44058" name="Rectangle 1058"/>
            <p:cNvSpPr/>
            <p:nvPr/>
          </p:nvSpPr>
          <p:spPr>
            <a:xfrm>
              <a:off x="4139" y="2433"/>
              <a:ext cx="84" cy="264"/>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9" name="Line 1059"/>
            <p:cNvSpPr/>
            <p:nvPr/>
          </p:nvSpPr>
          <p:spPr>
            <a:xfrm>
              <a:off x="4173" y="2697"/>
              <a:ext cx="1" cy="357"/>
            </a:xfrm>
            <a:prstGeom prst="line">
              <a:avLst/>
            </a:prstGeom>
            <a:ln w="0" cap="flat" cmpd="sng">
              <a:solidFill>
                <a:srgbClr val="0000FF"/>
              </a:solidFill>
              <a:prstDash val="solid"/>
              <a:headEnd type="none" w="med" len="med"/>
              <a:tailEnd type="none" w="med" len="med"/>
            </a:ln>
          </p:spPr>
        </p:sp>
        <p:sp>
          <p:nvSpPr>
            <p:cNvPr id="44060" name="Rectangle 1060"/>
            <p:cNvSpPr/>
            <p:nvPr/>
          </p:nvSpPr>
          <p:spPr>
            <a:xfrm>
              <a:off x="1123" y="2464"/>
              <a:ext cx="121"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44061" name="Rectangle 1061"/>
            <p:cNvSpPr/>
            <p:nvPr/>
          </p:nvSpPr>
          <p:spPr>
            <a:xfrm>
              <a:off x="1249" y="2534"/>
              <a:ext cx="58"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4062" name="Rectangle 1062"/>
            <p:cNvSpPr/>
            <p:nvPr/>
          </p:nvSpPr>
          <p:spPr>
            <a:xfrm>
              <a:off x="1950" y="1836"/>
              <a:ext cx="103"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4063" name="Rectangle 1063"/>
            <p:cNvSpPr/>
            <p:nvPr/>
          </p:nvSpPr>
          <p:spPr>
            <a:xfrm>
              <a:off x="2084" y="1905"/>
              <a:ext cx="58"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4064" name="Rectangle 1064"/>
            <p:cNvSpPr/>
            <p:nvPr/>
          </p:nvSpPr>
          <p:spPr>
            <a:xfrm>
              <a:off x="2727" y="1843"/>
              <a:ext cx="103"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4065" name="Rectangle 1065"/>
            <p:cNvSpPr/>
            <p:nvPr/>
          </p:nvSpPr>
          <p:spPr>
            <a:xfrm>
              <a:off x="2847" y="1905"/>
              <a:ext cx="150"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44066" name="Rectangle 1066"/>
            <p:cNvSpPr/>
            <p:nvPr/>
          </p:nvSpPr>
          <p:spPr>
            <a:xfrm>
              <a:off x="2585" y="2433"/>
              <a:ext cx="112"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44067" name="Rectangle 1067"/>
            <p:cNvSpPr/>
            <p:nvPr/>
          </p:nvSpPr>
          <p:spPr>
            <a:xfrm>
              <a:off x="2719" y="2495"/>
              <a:ext cx="35"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44068" name="Rectangle 1068"/>
            <p:cNvSpPr/>
            <p:nvPr/>
          </p:nvSpPr>
          <p:spPr>
            <a:xfrm>
              <a:off x="3513" y="2433"/>
              <a:ext cx="112"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44069" name="Rectangle 1069"/>
            <p:cNvSpPr/>
            <p:nvPr/>
          </p:nvSpPr>
          <p:spPr>
            <a:xfrm>
              <a:off x="3638" y="2487"/>
              <a:ext cx="64"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44070" name="Rectangle 1070"/>
            <p:cNvSpPr/>
            <p:nvPr/>
          </p:nvSpPr>
          <p:spPr>
            <a:xfrm>
              <a:off x="4281" y="2464"/>
              <a:ext cx="103" cy="182"/>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4071" name="Rectangle 1071"/>
            <p:cNvSpPr/>
            <p:nvPr/>
          </p:nvSpPr>
          <p:spPr>
            <a:xfrm>
              <a:off x="4407" y="2534"/>
              <a:ext cx="64" cy="113"/>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44072" name="Line 1072"/>
            <p:cNvSpPr/>
            <p:nvPr/>
          </p:nvSpPr>
          <p:spPr>
            <a:xfrm>
              <a:off x="3254" y="3302"/>
              <a:ext cx="234" cy="1"/>
            </a:xfrm>
            <a:prstGeom prst="line">
              <a:avLst/>
            </a:prstGeom>
            <a:ln w="0" cap="flat" cmpd="sng">
              <a:solidFill>
                <a:srgbClr val="0000FF"/>
              </a:solidFill>
              <a:prstDash val="solid"/>
              <a:headEnd type="none" w="med" len="med"/>
              <a:tailEnd type="none" w="med" len="med"/>
            </a:ln>
          </p:spPr>
        </p:sp>
        <p:sp>
          <p:nvSpPr>
            <p:cNvPr id="44073" name="Oval 1073"/>
            <p:cNvSpPr/>
            <p:nvPr/>
          </p:nvSpPr>
          <p:spPr>
            <a:xfrm>
              <a:off x="2402" y="3022"/>
              <a:ext cx="83" cy="7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74" name="Oval 1074"/>
            <p:cNvSpPr/>
            <p:nvPr/>
          </p:nvSpPr>
          <p:spPr>
            <a:xfrm>
              <a:off x="3337" y="3022"/>
              <a:ext cx="84" cy="7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75" name="Oval 1077"/>
            <p:cNvSpPr/>
            <p:nvPr/>
          </p:nvSpPr>
          <p:spPr>
            <a:xfrm>
              <a:off x="4139" y="3022"/>
              <a:ext cx="84" cy="78"/>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76" name="Rectangle 1079"/>
            <p:cNvSpPr/>
            <p:nvPr/>
          </p:nvSpPr>
          <p:spPr>
            <a:xfrm>
              <a:off x="1449" y="2443"/>
              <a:ext cx="113" cy="225"/>
            </a:xfrm>
            <a:prstGeom prst="rect">
              <a:avLst/>
            </a:prstGeom>
            <a:noFill/>
            <a:ln w="9525">
              <a:noFill/>
            </a:ln>
          </p:spPr>
          <p:txBody>
            <a:bodyPr wrap="none" lIns="0" tIns="0" rIns="0" bIns="0">
              <a:spAutoFit/>
            </a:bodyPr>
            <a:p>
              <a:pPr eaLnBrk="1" hangingPunct="1">
                <a:lnSpc>
                  <a:spcPct val="90000"/>
                </a:lnSpc>
              </a:pPr>
              <a:r>
                <a:rPr lang="en-US" altLang="zh-CN" sz="2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44077" name="Line 1080"/>
            <p:cNvSpPr/>
            <p:nvPr/>
          </p:nvSpPr>
          <p:spPr>
            <a:xfrm>
              <a:off x="1499" y="2694"/>
              <a:ext cx="1" cy="362"/>
            </a:xfrm>
            <a:prstGeom prst="line">
              <a:avLst/>
            </a:prstGeom>
            <a:ln w="0" cap="flat" cmpd="sng">
              <a:solidFill>
                <a:srgbClr val="0000FF"/>
              </a:solidFill>
              <a:prstDash val="solid"/>
              <a:headEnd type="none" w="med" len="med"/>
              <a:tailEnd type="none" w="med" len="med"/>
            </a:ln>
          </p:spPr>
        </p:sp>
        <p:sp>
          <p:nvSpPr>
            <p:cNvPr id="44078" name="Line 1082"/>
            <p:cNvSpPr/>
            <p:nvPr/>
          </p:nvSpPr>
          <p:spPr>
            <a:xfrm>
              <a:off x="2981" y="2061"/>
              <a:ext cx="1743" cy="1"/>
            </a:xfrm>
            <a:prstGeom prst="line">
              <a:avLst/>
            </a:prstGeom>
            <a:ln w="0" cap="flat" cmpd="sng">
              <a:solidFill>
                <a:srgbClr val="0000FF"/>
              </a:solidFill>
              <a:prstDash val="solid"/>
              <a:headEnd type="none" w="med" len="med"/>
              <a:tailEnd type="none" w="med" len="med"/>
            </a:ln>
          </p:spPr>
        </p:sp>
        <p:sp>
          <p:nvSpPr>
            <p:cNvPr id="44079" name="Rectangle 1081"/>
            <p:cNvSpPr/>
            <p:nvPr/>
          </p:nvSpPr>
          <p:spPr>
            <a:xfrm>
              <a:off x="1612" y="3438"/>
              <a:ext cx="2717" cy="225"/>
            </a:xfrm>
            <a:prstGeom prst="rect">
              <a:avLst/>
            </a:prstGeom>
            <a:noFill/>
            <a:ln w="9525">
              <a:noFill/>
            </a:ln>
          </p:spPr>
          <p:txBody>
            <a:bodyPr wrap="none" lIns="0" tIns="0" rIns="0" bIns="0">
              <a:spAutoFit/>
            </a:bodyPr>
            <a:p>
              <a:pPr eaLnBrk="1" hangingPunct="1">
                <a:lnSpc>
                  <a:spcPct val="90000"/>
                </a:lnSpc>
              </a:pPr>
              <a:r>
                <a:rPr lang="zh-CN" altLang="en-US" sz="2600" dirty="0">
                  <a:solidFill>
                    <a:srgbClr val="000080"/>
                  </a:solidFill>
                  <a:latin typeface="楷体_GB2312" pitchFamily="49" charset="-122"/>
                </a:rPr>
                <a:t>多路开关的动态响应等效电路</a:t>
              </a:r>
              <a:endParaRPr lang="zh-CN" altLang="en-US" dirty="0">
                <a:latin typeface="Times New Roman" panose="02020603050405020304" pitchFamily="18" charset="0"/>
              </a:endParaRPr>
            </a:p>
          </p:txBody>
        </p:sp>
        <p:sp>
          <p:nvSpPr>
            <p:cNvPr id="44080" name="Line 1083"/>
            <p:cNvSpPr/>
            <p:nvPr/>
          </p:nvSpPr>
          <p:spPr>
            <a:xfrm>
              <a:off x="2182" y="2061"/>
              <a:ext cx="520" cy="1"/>
            </a:xfrm>
            <a:prstGeom prst="line">
              <a:avLst/>
            </a:prstGeom>
            <a:ln w="0" cap="flat" cmpd="sng">
              <a:solidFill>
                <a:srgbClr val="0000FF"/>
              </a:solidFill>
              <a:prstDash val="solid"/>
              <a:headEnd type="none" w="med" len="med"/>
              <a:tailEnd type="none" w="med" len="med"/>
            </a:ln>
          </p:spPr>
        </p:sp>
        <p:sp>
          <p:nvSpPr>
            <p:cNvPr id="44081" name="Oval 1075"/>
            <p:cNvSpPr/>
            <p:nvPr/>
          </p:nvSpPr>
          <p:spPr>
            <a:xfrm>
              <a:off x="4139" y="2030"/>
              <a:ext cx="84" cy="77"/>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82" name="Oval 1078"/>
            <p:cNvSpPr/>
            <p:nvPr/>
          </p:nvSpPr>
          <p:spPr>
            <a:xfrm>
              <a:off x="3337" y="2030"/>
              <a:ext cx="84" cy="77"/>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83" name="Oval 1076"/>
            <p:cNvSpPr/>
            <p:nvPr/>
          </p:nvSpPr>
          <p:spPr>
            <a:xfrm>
              <a:off x="2402" y="2030"/>
              <a:ext cx="83" cy="77"/>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sp>
        <p:nvSpPr>
          <p:cNvPr id="2342973" name="Text Box 1085"/>
          <p:cNvSpPr txBox="1"/>
          <p:nvPr/>
        </p:nvSpPr>
        <p:spPr>
          <a:xfrm>
            <a:off x="6276975" y="4902200"/>
            <a:ext cx="2667000" cy="1077913"/>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其中</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T</a:t>
            </a:r>
            <a:r>
              <a:rPr lang="zh-CN" altLang="en-US" sz="2400" dirty="0">
                <a:solidFill>
                  <a:schemeClr val="tx1"/>
                </a:solidFill>
                <a:latin typeface="Times New Roman" panose="02020603050405020304" pitchFamily="18" charset="0"/>
                <a:ea typeface="黑体" panose="02010609060101010101" pitchFamily="49" charset="-122"/>
              </a:rPr>
              <a:t>表示所有开关输出电容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OT</a:t>
            </a:r>
            <a:r>
              <a:rPr lang="zh-CN" altLang="en-US" sz="2400" dirty="0">
                <a:solidFill>
                  <a:schemeClr val="tx1"/>
                </a:solidFill>
                <a:latin typeface="Times New Roman" panose="02020603050405020304" pitchFamily="18" charset="0"/>
                <a:ea typeface="黑体" panose="02010609060101010101" pitchFamily="49" charset="-122"/>
              </a:rPr>
              <a:t>与负载电容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L</a:t>
            </a:r>
            <a:r>
              <a:rPr lang="zh-CN" altLang="en-US" sz="2400" dirty="0">
                <a:solidFill>
                  <a:schemeClr val="tx1"/>
                </a:solidFill>
                <a:latin typeface="Times New Roman" panose="02020603050405020304" pitchFamily="18" charset="0"/>
                <a:ea typeface="黑体" panose="02010609060101010101" pitchFamily="49" charset="-122"/>
              </a:rPr>
              <a:t>之和。</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342974" name="Text Box 1086"/>
          <p:cNvSpPr txBox="1"/>
          <p:nvPr/>
        </p:nvSpPr>
        <p:spPr>
          <a:xfrm>
            <a:off x="6296025" y="800100"/>
            <a:ext cx="2667000" cy="3706813"/>
          </a:xfrm>
          <a:prstGeom prst="rect">
            <a:avLst/>
          </a:prstGeom>
          <a:solidFill>
            <a:srgbClr val="FFCC99"/>
          </a:solid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该等效电路不是很精确，但可以用来进行估算，如果估算出的值是实际需要值的</a:t>
            </a:r>
            <a:r>
              <a:rPr lang="en-US" altLang="zh-CN" sz="2400" dirty="0">
                <a:solidFill>
                  <a:srgbClr val="FF0000"/>
                </a:solidFill>
                <a:latin typeface="Times New Roman" panose="02020603050405020304" pitchFamily="18" charset="0"/>
              </a:rPr>
              <a:t>2~5</a:t>
            </a:r>
            <a:r>
              <a:rPr lang="zh-CN" altLang="en-US" sz="2400" dirty="0">
                <a:latin typeface="Times New Roman" panose="02020603050405020304" pitchFamily="18" charset="0"/>
              </a:rPr>
              <a:t>倍，则相应系统多数能满足要求。反之，如果估算出来的值比需要的值差</a:t>
            </a:r>
            <a:r>
              <a:rPr lang="en-US" altLang="zh-CN" sz="2400" dirty="0">
                <a:solidFill>
                  <a:srgbClr val="FF0000"/>
                </a:solidFill>
                <a:latin typeface="Times New Roman" panose="02020603050405020304" pitchFamily="18" charset="0"/>
              </a:rPr>
              <a:t>1~2</a:t>
            </a:r>
            <a:r>
              <a:rPr lang="zh-CN" altLang="en-US" sz="2400" dirty="0">
                <a:latin typeface="Times New Roman" panose="02020603050405020304" pitchFamily="18" charset="0"/>
              </a:rPr>
              <a:t>倍，那就必须做更详细的分析。</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42921"/>
                                        </p:tgtEl>
                                        <p:attrNameLst>
                                          <p:attrName>style.visibility</p:attrName>
                                        </p:attrNameLst>
                                      </p:cBhvr>
                                      <p:to>
                                        <p:strVal val="visible"/>
                                      </p:to>
                                    </p:set>
                                    <p:animEffect transition="in" filter="dissolve">
                                      <p:cBhvr>
                                        <p:cTn id="7" dur="500"/>
                                        <p:tgtEl>
                                          <p:spTgt spid="23429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2923"/>
                                        </p:tgtEl>
                                        <p:attrNameLst>
                                          <p:attrName>style.visibility</p:attrName>
                                        </p:attrNameLst>
                                      </p:cBhvr>
                                      <p:to>
                                        <p:strVal val="visible"/>
                                      </p:to>
                                    </p:set>
                                    <p:animEffect transition="in" filter="dissolve">
                                      <p:cBhvr>
                                        <p:cTn id="12" dur="500"/>
                                        <p:tgtEl>
                                          <p:spTgt spid="234292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42925"/>
                                        </p:tgtEl>
                                        <p:attrNameLst>
                                          <p:attrName>style.visibility</p:attrName>
                                        </p:attrNameLst>
                                      </p:cBhvr>
                                      <p:to>
                                        <p:strVal val="visible"/>
                                      </p:to>
                                    </p:set>
                                    <p:animEffect transition="in" filter="dissolve">
                                      <p:cBhvr>
                                        <p:cTn id="17" dur="500"/>
                                        <p:tgtEl>
                                          <p:spTgt spid="234292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42926"/>
                                        </p:tgtEl>
                                        <p:attrNameLst>
                                          <p:attrName>style.visibility</p:attrName>
                                        </p:attrNameLst>
                                      </p:cBhvr>
                                      <p:to>
                                        <p:strVal val="visible"/>
                                      </p:to>
                                    </p:set>
                                    <p:animEffect transition="in" filter="dissolve">
                                      <p:cBhvr>
                                        <p:cTn id="22" dur="500"/>
                                        <p:tgtEl>
                                          <p:spTgt spid="234292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42972"/>
                                        </p:tgtEl>
                                        <p:attrNameLst>
                                          <p:attrName>style.visibility</p:attrName>
                                        </p:attrNameLst>
                                      </p:cBhvr>
                                      <p:to>
                                        <p:strVal val="visible"/>
                                      </p:to>
                                    </p:set>
                                    <p:animEffect transition="in" filter="dissolve">
                                      <p:cBhvr>
                                        <p:cTn id="27" dur="500"/>
                                        <p:tgtEl>
                                          <p:spTgt spid="234297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42973"/>
                                        </p:tgtEl>
                                        <p:attrNameLst>
                                          <p:attrName>style.visibility</p:attrName>
                                        </p:attrNameLst>
                                      </p:cBhvr>
                                      <p:to>
                                        <p:strVal val="visible"/>
                                      </p:to>
                                    </p:set>
                                    <p:animEffect transition="in" filter="dissolve">
                                      <p:cBhvr>
                                        <p:cTn id="32" dur="500"/>
                                        <p:tgtEl>
                                          <p:spTgt spid="234297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342974"/>
                                        </p:tgtEl>
                                        <p:attrNameLst>
                                          <p:attrName>style.visibility</p:attrName>
                                        </p:attrNameLst>
                                      </p:cBhvr>
                                      <p:to>
                                        <p:strVal val="visible"/>
                                      </p:to>
                                    </p:set>
                                    <p:animEffect transition="in" filter="dissolve">
                                      <p:cBhvr>
                                        <p:cTn id="37" dur="500"/>
                                        <p:tgtEl>
                                          <p:spTgt spid="23429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2921" grpId="0" animBg="1"/>
      <p:bldP spid="2342923" grpId="0"/>
      <p:bldP spid="2342925" grpId="0"/>
      <p:bldP spid="2342926" grpId="0"/>
      <p:bldP spid="2342973" grpId="0" animBg="1"/>
      <p:bldP spid="2342974"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343947" name="Object 11"/>
          <p:cNvGraphicFramePr>
            <a:graphicFrameLocks noChangeAspect="1"/>
          </p:cNvGraphicFramePr>
          <p:nvPr/>
        </p:nvGraphicFramePr>
        <p:xfrm>
          <a:off x="920750" y="4672013"/>
          <a:ext cx="2484438" cy="1074737"/>
        </p:xfrm>
        <a:graphic>
          <a:graphicData uri="http://schemas.openxmlformats.org/presentationml/2006/ole">
            <mc:AlternateContent xmlns:mc="http://schemas.openxmlformats.org/markup-compatibility/2006">
              <mc:Choice xmlns:v="urn:schemas-microsoft-com:vml" Requires="v">
                <p:oleObj spid="_x0000_s3080" name="" r:id="rId1" imgW="939165" imgH="406400" progId="Equation.3">
                  <p:embed/>
                </p:oleObj>
              </mc:Choice>
              <mc:Fallback>
                <p:oleObj name="" r:id="rId1" imgW="939165" imgH="406400" progId="Equation.3">
                  <p:embed/>
                  <p:pic>
                    <p:nvPicPr>
                      <p:cNvPr id="0" name="图片 3079"/>
                      <p:cNvPicPr/>
                      <p:nvPr/>
                    </p:nvPicPr>
                    <p:blipFill>
                      <a:blip r:embed="rId2"/>
                      <a:stretch>
                        <a:fillRect/>
                      </a:stretch>
                    </p:blipFill>
                    <p:spPr>
                      <a:xfrm>
                        <a:off x="920750" y="4672013"/>
                        <a:ext cx="2484438" cy="1074737"/>
                      </a:xfrm>
                      <a:prstGeom prst="rect">
                        <a:avLst/>
                      </a:prstGeom>
                      <a:solidFill>
                        <a:srgbClr val="CCFFFF"/>
                      </a:solidFill>
                      <a:ln w="38100">
                        <a:noFill/>
                        <a:miter/>
                      </a:ln>
                    </p:spPr>
                  </p:pic>
                </p:oleObj>
              </mc:Fallback>
            </mc:AlternateContent>
          </a:graphicData>
        </a:graphic>
      </p:graphicFrame>
      <p:sp>
        <p:nvSpPr>
          <p:cNvPr id="2343996" name="AutoShape 60"/>
          <p:cNvSpPr/>
          <p:nvPr/>
        </p:nvSpPr>
        <p:spPr>
          <a:xfrm>
            <a:off x="3905250" y="5133975"/>
            <a:ext cx="4019550" cy="895350"/>
          </a:xfrm>
          <a:prstGeom prst="wedgeRoundRectCallout">
            <a:avLst>
              <a:gd name="adj1" fmla="val -63269"/>
              <a:gd name="adj2" fmla="val -1613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43943" name="Text Box 7"/>
          <p:cNvSpPr txBox="1"/>
          <p:nvPr/>
        </p:nvSpPr>
        <p:spPr>
          <a:xfrm>
            <a:off x="415925" y="1312863"/>
            <a:ext cx="5232400" cy="519112"/>
          </a:xfrm>
          <a:prstGeom prst="rect">
            <a:avLst/>
          </a:prstGeom>
          <a:noFill/>
          <a:ln w="9525">
            <a:noFill/>
          </a:ln>
        </p:spPr>
        <p:txBody>
          <a:bodyPr wrap="none">
            <a:spAutoFit/>
          </a:bodyPr>
          <a:p>
            <a:pPr eaLnBrk="1" hangingPunct="1">
              <a:buClr>
                <a:srgbClr val="FF0000"/>
              </a:buClr>
              <a:buFont typeface="Wingdings" panose="05000000000000000000" pitchFamily="2" charset="2"/>
              <a:buChar char="u"/>
            </a:pPr>
            <a:r>
              <a:rPr lang="en-US" altLang="zh-CN" sz="2800" dirty="0">
                <a:solidFill>
                  <a:schemeClr val="tx1"/>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ea typeface="黑体" panose="02010609060101010101" pitchFamily="49" charset="-122"/>
              </a:rPr>
              <a:t>开关切换时间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i="1" baseline="-25000" dirty="0">
                <a:solidFill>
                  <a:srgbClr val="FF0000"/>
                </a:solidFill>
                <a:latin typeface="Times New Roman" panose="02020603050405020304" pitchFamily="18" charset="0"/>
                <a:ea typeface="宋体" panose="02010600030101010101" pitchFamily="2" charset="-122"/>
              </a:rPr>
              <a:t>S</a:t>
            </a:r>
            <a:r>
              <a:rPr lang="en-US" altLang="zh-CN" sz="2800" i="1" dirty="0">
                <a:solidFill>
                  <a:srgbClr val="FF0000"/>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ea typeface="黑体" panose="02010609060101010101" pitchFamily="49" charset="-122"/>
              </a:rPr>
              <a:t>（设定时间）</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343944" name="Text Box 8"/>
          <p:cNvSpPr txBox="1"/>
          <p:nvPr/>
        </p:nvSpPr>
        <p:spPr>
          <a:xfrm>
            <a:off x="339725" y="2192338"/>
            <a:ext cx="4208463" cy="931862"/>
          </a:xfrm>
          <a:prstGeom prst="rect">
            <a:avLst/>
          </a:prstGeom>
          <a:noFill/>
          <a:ln w="9525">
            <a:noFill/>
          </a:ln>
        </p:spPr>
        <p:txBody>
          <a:bodyPr>
            <a:spAutoFit/>
          </a:bodyPr>
          <a:p>
            <a:pPr eaLnBrk="1" hangingPunct="1"/>
            <a:r>
              <a:rPr lang="zh-CN" altLang="en-US" sz="2400" dirty="0">
                <a:latin typeface="Times New Roman" panose="02020603050405020304" pitchFamily="18" charset="0"/>
              </a:rPr>
              <a:t>设</a:t>
            </a:r>
            <a:r>
              <a:rPr lang="zh-CN" altLang="en-US" sz="2400" dirty="0">
                <a:latin typeface="Times New Roman" panose="02020603050405020304" pitchFamily="18" charset="0"/>
                <a:ea typeface="宋体" panose="02010600030101010101" pitchFamily="2" charset="-122"/>
              </a:rPr>
              <a:t> </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I </a:t>
            </a:r>
            <a:r>
              <a:rPr lang="en-US" altLang="zh-CN" sz="2400" dirty="0">
                <a:solidFill>
                  <a:srgbClr val="FF0000"/>
                </a:solidFill>
                <a:latin typeface="Times New Roman" panose="02020603050405020304" pitchFamily="18" charset="0"/>
                <a:ea typeface="宋体" panose="02010600030101010101" pitchFamily="2" charset="-122"/>
              </a:rPr>
              <a:t>&lt;&lt; </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T</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en-US" altLang="zh-CN" sz="2400" i="1" dirty="0">
                <a:solidFill>
                  <a:srgbClr val="FF0000"/>
                </a:solidFill>
                <a:latin typeface="Times New Roman" panose="02020603050405020304" pitchFamily="18" charset="0"/>
                <a:ea typeface="宋体" panose="02010600030101010101" pitchFamily="2" charset="-122"/>
              </a:rPr>
              <a:t>&gt;&gt;R</a:t>
            </a:r>
            <a:r>
              <a:rPr lang="en-US" altLang="zh-CN" sz="2400" i="1" baseline="-25000" dirty="0">
                <a:solidFill>
                  <a:srgbClr val="FF0000"/>
                </a:solidFill>
                <a:latin typeface="Times New Roman" panose="02020603050405020304" pitchFamily="18" charset="0"/>
                <a:ea typeface="宋体" panose="02010600030101010101" pitchFamily="2" charset="-122"/>
              </a:rPr>
              <a:t>ON</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S</a:t>
            </a:r>
            <a:r>
              <a:rPr lang="zh-CN" altLang="en-US" sz="2400" dirty="0">
                <a:latin typeface="Times New Roman" panose="02020603050405020304" pitchFamily="18" charset="0"/>
                <a:ea typeface="宋体" panose="02010600030101010101" pitchFamily="2" charset="-122"/>
              </a:rPr>
              <a:t>，</a:t>
            </a:r>
            <a:endParaRPr lang="zh-CN" altLang="en-US" sz="2400" dirty="0">
              <a:latin typeface="Times New Roman" panose="02020603050405020304" pitchFamily="18" charset="0"/>
              <a:ea typeface="宋体" panose="02010600030101010101" pitchFamily="2" charset="-122"/>
            </a:endParaRPr>
          </a:p>
          <a:p>
            <a:pPr eaLnBrk="1" hangingPunct="1">
              <a:lnSpc>
                <a:spcPct val="130000"/>
              </a:lnSpc>
            </a:pPr>
            <a:r>
              <a:rPr lang="zh-CN" altLang="en-US" sz="2400" dirty="0">
                <a:latin typeface="Times New Roman" panose="02020603050405020304" pitchFamily="18" charset="0"/>
              </a:rPr>
              <a:t>则得时间常数</a:t>
            </a: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graphicFrame>
        <p:nvGraphicFramePr>
          <p:cNvPr id="2343945" name="Object 9"/>
          <p:cNvGraphicFramePr>
            <a:graphicFrameLocks noChangeAspect="1"/>
          </p:cNvGraphicFramePr>
          <p:nvPr/>
        </p:nvGraphicFramePr>
        <p:xfrm>
          <a:off x="436563" y="3221038"/>
          <a:ext cx="3619500" cy="639762"/>
        </p:xfrm>
        <a:graphic>
          <a:graphicData uri="http://schemas.openxmlformats.org/presentationml/2006/ole">
            <mc:AlternateContent xmlns:mc="http://schemas.openxmlformats.org/markup-compatibility/2006">
              <mc:Choice xmlns:v="urn:schemas-microsoft-com:vml" Requires="v">
                <p:oleObj spid="_x0000_s3079" name="" r:id="rId3" imgW="1270000" imgH="228600" progId="Equation.3">
                  <p:embed/>
                </p:oleObj>
              </mc:Choice>
              <mc:Fallback>
                <p:oleObj name="" r:id="rId3" imgW="1270000" imgH="228600" progId="Equation.3">
                  <p:embed/>
                  <p:pic>
                    <p:nvPicPr>
                      <p:cNvPr id="0" name="图片 3078"/>
                      <p:cNvPicPr/>
                      <p:nvPr/>
                    </p:nvPicPr>
                    <p:blipFill>
                      <a:blip r:embed="rId4"/>
                      <a:stretch>
                        <a:fillRect/>
                      </a:stretch>
                    </p:blipFill>
                    <p:spPr>
                      <a:xfrm>
                        <a:off x="436563" y="3221038"/>
                        <a:ext cx="3619500" cy="639762"/>
                      </a:xfrm>
                      <a:prstGeom prst="rect">
                        <a:avLst/>
                      </a:prstGeom>
                      <a:solidFill>
                        <a:srgbClr val="CCFFFF"/>
                      </a:solidFill>
                      <a:ln w="38100">
                        <a:noFill/>
                        <a:miter/>
                      </a:ln>
                    </p:spPr>
                  </p:pic>
                </p:oleObj>
              </mc:Fallback>
            </mc:AlternateContent>
          </a:graphicData>
        </a:graphic>
      </p:graphicFrame>
      <p:sp>
        <p:nvSpPr>
          <p:cNvPr id="2343946" name="Text Box 10"/>
          <p:cNvSpPr txBox="1"/>
          <p:nvPr/>
        </p:nvSpPr>
        <p:spPr>
          <a:xfrm>
            <a:off x="358775" y="4154488"/>
            <a:ext cx="566738" cy="457200"/>
          </a:xfrm>
          <a:prstGeom prst="rect">
            <a:avLst/>
          </a:prstGeom>
          <a:noFill/>
          <a:ln w="9525">
            <a:noFill/>
          </a:ln>
        </p:spPr>
        <p:txBody>
          <a:bodyPr wrap="none">
            <a:spAutoFit/>
          </a:bodyPr>
          <a:p>
            <a:pPr eaLnBrk="1" hangingPunct="1"/>
            <a:r>
              <a:rPr lang="zh-CN" altLang="en-US" sz="2400" dirty="0">
                <a:latin typeface="Times New Roman" panose="02020603050405020304" pitchFamily="18" charset="0"/>
              </a:rPr>
              <a:t>则 </a:t>
            </a:r>
            <a:endParaRPr lang="zh-CN" altLang="en-US" sz="2400" dirty="0">
              <a:latin typeface="Times New Roman" panose="02020603050405020304" pitchFamily="18" charset="0"/>
            </a:endParaRPr>
          </a:p>
        </p:txBody>
      </p:sp>
      <p:sp>
        <p:nvSpPr>
          <p:cNvPr id="2343949" name="Text Box 13"/>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5065" name="Text Box 14"/>
          <p:cNvSpPr txBox="1"/>
          <p:nvPr/>
        </p:nvSpPr>
        <p:spPr>
          <a:xfrm>
            <a:off x="534988" y="646113"/>
            <a:ext cx="27971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2. </a:t>
            </a:r>
            <a:r>
              <a:rPr lang="zh-CN" altLang="en-US" dirty="0">
                <a:latin typeface="Times New Roman" panose="02020603050405020304" pitchFamily="18" charset="0"/>
              </a:rPr>
              <a:t>动态响应</a:t>
            </a:r>
            <a:endParaRPr lang="zh-CN" altLang="en-US" dirty="0">
              <a:latin typeface="Times New Roman" panose="02020603050405020304" pitchFamily="18" charset="0"/>
            </a:endParaRPr>
          </a:p>
        </p:txBody>
      </p:sp>
      <p:sp>
        <p:nvSpPr>
          <p:cNvPr id="2343952" name="AutoShape 16"/>
          <p:cNvSpPr>
            <a:spLocks noChangeAspect="1" noTextEdit="1"/>
          </p:cNvSpPr>
          <p:nvPr/>
        </p:nvSpPr>
        <p:spPr>
          <a:xfrm>
            <a:off x="4424363" y="2119313"/>
            <a:ext cx="4606925" cy="2663825"/>
          </a:xfrm>
          <a:prstGeom prst="rect">
            <a:avLst/>
          </a:prstGeom>
          <a:solidFill>
            <a:srgbClr val="FFFF99"/>
          </a:solidFill>
          <a:ln w="9525">
            <a:noFill/>
          </a:ln>
        </p:spPr>
        <p:txBody>
          <a:bodyPr/>
          <a:p>
            <a:endParaRPr lang="zh-CN" altLang="en-US"/>
          </a:p>
        </p:txBody>
      </p:sp>
      <p:sp>
        <p:nvSpPr>
          <p:cNvPr id="2343953" name="Oval 17"/>
          <p:cNvSpPr/>
          <p:nvPr/>
        </p:nvSpPr>
        <p:spPr>
          <a:xfrm>
            <a:off x="4794250" y="2951163"/>
            <a:ext cx="350838" cy="355600"/>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54" name="Line 18"/>
          <p:cNvSpPr/>
          <p:nvPr/>
        </p:nvSpPr>
        <p:spPr>
          <a:xfrm flipV="1">
            <a:off x="4959350" y="2451100"/>
            <a:ext cx="0" cy="500063"/>
          </a:xfrm>
          <a:prstGeom prst="line">
            <a:avLst/>
          </a:prstGeom>
          <a:ln w="0" cap="flat" cmpd="sng">
            <a:solidFill>
              <a:srgbClr val="0000FF"/>
            </a:solidFill>
            <a:prstDash val="solid"/>
            <a:headEnd type="none" w="med" len="med"/>
            <a:tailEnd type="none" w="med" len="med"/>
          </a:ln>
        </p:spPr>
      </p:sp>
      <p:sp>
        <p:nvSpPr>
          <p:cNvPr id="2343955" name="Line 19"/>
          <p:cNvSpPr/>
          <p:nvPr/>
        </p:nvSpPr>
        <p:spPr>
          <a:xfrm>
            <a:off x="4959350" y="2451100"/>
            <a:ext cx="492125" cy="1588"/>
          </a:xfrm>
          <a:prstGeom prst="line">
            <a:avLst/>
          </a:prstGeom>
          <a:ln w="0" cap="flat" cmpd="sng">
            <a:solidFill>
              <a:srgbClr val="0000FF"/>
            </a:solidFill>
            <a:prstDash val="solid"/>
            <a:headEnd type="none" w="med" len="med"/>
            <a:tailEnd type="none" w="med" len="med"/>
          </a:ln>
        </p:spPr>
      </p:sp>
      <p:sp>
        <p:nvSpPr>
          <p:cNvPr id="2343956" name="Line 20"/>
          <p:cNvSpPr/>
          <p:nvPr/>
        </p:nvSpPr>
        <p:spPr>
          <a:xfrm>
            <a:off x="4959350" y="3787775"/>
            <a:ext cx="3968750" cy="1588"/>
          </a:xfrm>
          <a:prstGeom prst="line">
            <a:avLst/>
          </a:prstGeom>
          <a:ln w="0" cap="flat" cmpd="sng">
            <a:solidFill>
              <a:srgbClr val="0000FF"/>
            </a:solidFill>
            <a:prstDash val="solid"/>
            <a:headEnd type="none" w="med" len="med"/>
            <a:tailEnd type="none" w="med" len="med"/>
          </a:ln>
        </p:spPr>
      </p:sp>
      <p:sp>
        <p:nvSpPr>
          <p:cNvPr id="2343957" name="Rectangle 21"/>
          <p:cNvSpPr/>
          <p:nvPr/>
        </p:nvSpPr>
        <p:spPr>
          <a:xfrm>
            <a:off x="5451475" y="2408238"/>
            <a:ext cx="350838" cy="10477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58" name="Rectangle 22"/>
          <p:cNvSpPr/>
          <p:nvPr/>
        </p:nvSpPr>
        <p:spPr>
          <a:xfrm>
            <a:off x="6438900" y="2408238"/>
            <a:ext cx="349250" cy="104775"/>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59" name="Line 23"/>
          <p:cNvSpPr/>
          <p:nvPr/>
        </p:nvSpPr>
        <p:spPr>
          <a:xfrm>
            <a:off x="6110288" y="2451100"/>
            <a:ext cx="1587" cy="584200"/>
          </a:xfrm>
          <a:prstGeom prst="line">
            <a:avLst/>
          </a:prstGeom>
          <a:ln w="0" cap="flat" cmpd="sng">
            <a:solidFill>
              <a:srgbClr val="0000FF"/>
            </a:solidFill>
            <a:prstDash val="solid"/>
            <a:headEnd type="none" w="med" len="med"/>
            <a:tailEnd type="none" w="med" len="med"/>
          </a:ln>
        </p:spPr>
      </p:sp>
      <p:sp>
        <p:nvSpPr>
          <p:cNvPr id="2343960" name="Line 24"/>
          <p:cNvSpPr/>
          <p:nvPr/>
        </p:nvSpPr>
        <p:spPr>
          <a:xfrm>
            <a:off x="6007100" y="3035300"/>
            <a:ext cx="227013" cy="1588"/>
          </a:xfrm>
          <a:prstGeom prst="line">
            <a:avLst/>
          </a:prstGeom>
          <a:ln w="0" cap="flat" cmpd="sng">
            <a:solidFill>
              <a:srgbClr val="0000FF"/>
            </a:solidFill>
            <a:prstDash val="solid"/>
            <a:headEnd type="none" w="med" len="med"/>
            <a:tailEnd type="none" w="med" len="med"/>
          </a:ln>
        </p:spPr>
      </p:sp>
      <p:sp>
        <p:nvSpPr>
          <p:cNvPr id="2343961" name="Line 25"/>
          <p:cNvSpPr/>
          <p:nvPr/>
        </p:nvSpPr>
        <p:spPr>
          <a:xfrm>
            <a:off x="6007100" y="3117850"/>
            <a:ext cx="227013" cy="1588"/>
          </a:xfrm>
          <a:prstGeom prst="line">
            <a:avLst/>
          </a:prstGeom>
          <a:ln w="0" cap="flat" cmpd="sng">
            <a:solidFill>
              <a:srgbClr val="0000FF"/>
            </a:solidFill>
            <a:prstDash val="solid"/>
            <a:headEnd type="none" w="med" len="med"/>
            <a:tailEnd type="none" w="med" len="med"/>
          </a:ln>
        </p:spPr>
      </p:sp>
      <p:sp>
        <p:nvSpPr>
          <p:cNvPr id="2343962" name="Line 26"/>
          <p:cNvSpPr/>
          <p:nvPr/>
        </p:nvSpPr>
        <p:spPr>
          <a:xfrm>
            <a:off x="6110288" y="3117850"/>
            <a:ext cx="1587" cy="669925"/>
          </a:xfrm>
          <a:prstGeom prst="line">
            <a:avLst/>
          </a:prstGeom>
          <a:ln w="0" cap="flat" cmpd="sng">
            <a:solidFill>
              <a:srgbClr val="0000FF"/>
            </a:solidFill>
            <a:prstDash val="solid"/>
            <a:headEnd type="none" w="med" len="med"/>
            <a:tailEnd type="none" w="med" len="med"/>
          </a:ln>
        </p:spPr>
      </p:sp>
      <p:sp>
        <p:nvSpPr>
          <p:cNvPr id="2343963" name="Line 27"/>
          <p:cNvSpPr/>
          <p:nvPr/>
        </p:nvSpPr>
        <p:spPr>
          <a:xfrm>
            <a:off x="7262813" y="2451100"/>
            <a:ext cx="1587" cy="584200"/>
          </a:xfrm>
          <a:prstGeom prst="line">
            <a:avLst/>
          </a:prstGeom>
          <a:ln w="0" cap="flat" cmpd="sng">
            <a:solidFill>
              <a:srgbClr val="0000FF"/>
            </a:solidFill>
            <a:prstDash val="solid"/>
            <a:headEnd type="none" w="med" len="med"/>
            <a:tailEnd type="none" w="med" len="med"/>
          </a:ln>
        </p:spPr>
      </p:sp>
      <p:sp>
        <p:nvSpPr>
          <p:cNvPr id="2343964" name="Line 28"/>
          <p:cNvSpPr/>
          <p:nvPr/>
        </p:nvSpPr>
        <p:spPr>
          <a:xfrm>
            <a:off x="7159625" y="3035300"/>
            <a:ext cx="227013" cy="1588"/>
          </a:xfrm>
          <a:prstGeom prst="line">
            <a:avLst/>
          </a:prstGeom>
          <a:ln w="0" cap="flat" cmpd="sng">
            <a:solidFill>
              <a:srgbClr val="0000FF"/>
            </a:solidFill>
            <a:prstDash val="solid"/>
            <a:headEnd type="none" w="med" len="med"/>
            <a:tailEnd type="none" w="med" len="med"/>
          </a:ln>
        </p:spPr>
      </p:sp>
      <p:sp>
        <p:nvSpPr>
          <p:cNvPr id="2343965" name="Line 29"/>
          <p:cNvSpPr/>
          <p:nvPr/>
        </p:nvSpPr>
        <p:spPr>
          <a:xfrm>
            <a:off x="7159625" y="3117850"/>
            <a:ext cx="227013" cy="1588"/>
          </a:xfrm>
          <a:prstGeom prst="line">
            <a:avLst/>
          </a:prstGeom>
          <a:ln w="0" cap="flat" cmpd="sng">
            <a:solidFill>
              <a:srgbClr val="0000FF"/>
            </a:solidFill>
            <a:prstDash val="solid"/>
            <a:headEnd type="none" w="med" len="med"/>
            <a:tailEnd type="none" w="med" len="med"/>
          </a:ln>
        </p:spPr>
      </p:sp>
      <p:sp>
        <p:nvSpPr>
          <p:cNvPr id="2343966" name="Line 30"/>
          <p:cNvSpPr/>
          <p:nvPr/>
        </p:nvSpPr>
        <p:spPr>
          <a:xfrm>
            <a:off x="7262813" y="3117850"/>
            <a:ext cx="1587" cy="1003300"/>
          </a:xfrm>
          <a:prstGeom prst="line">
            <a:avLst/>
          </a:prstGeom>
          <a:ln w="0" cap="flat" cmpd="sng">
            <a:solidFill>
              <a:srgbClr val="0000FF"/>
            </a:solidFill>
            <a:prstDash val="solid"/>
            <a:headEnd type="none" w="med" len="med"/>
            <a:tailEnd type="none" w="med" len="med"/>
          </a:ln>
        </p:spPr>
      </p:sp>
      <p:sp>
        <p:nvSpPr>
          <p:cNvPr id="2343967" name="Line 31"/>
          <p:cNvSpPr/>
          <p:nvPr/>
        </p:nvSpPr>
        <p:spPr>
          <a:xfrm>
            <a:off x="8250238" y="2451100"/>
            <a:ext cx="1587" cy="500063"/>
          </a:xfrm>
          <a:prstGeom prst="line">
            <a:avLst/>
          </a:prstGeom>
          <a:ln w="0" cap="flat" cmpd="sng">
            <a:solidFill>
              <a:srgbClr val="0000FF"/>
            </a:solidFill>
            <a:prstDash val="solid"/>
            <a:headEnd type="none" w="med" len="med"/>
            <a:tailEnd type="none" w="med" len="med"/>
          </a:ln>
        </p:spPr>
      </p:sp>
      <p:sp>
        <p:nvSpPr>
          <p:cNvPr id="2343968" name="Rectangle 32"/>
          <p:cNvSpPr/>
          <p:nvPr/>
        </p:nvSpPr>
        <p:spPr>
          <a:xfrm>
            <a:off x="8207375" y="2951163"/>
            <a:ext cx="104775" cy="35560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69" name="Line 33"/>
          <p:cNvSpPr/>
          <p:nvPr/>
        </p:nvSpPr>
        <p:spPr>
          <a:xfrm>
            <a:off x="8250238" y="3306763"/>
            <a:ext cx="1587" cy="481012"/>
          </a:xfrm>
          <a:prstGeom prst="line">
            <a:avLst/>
          </a:prstGeom>
          <a:ln w="0" cap="flat" cmpd="sng">
            <a:solidFill>
              <a:srgbClr val="0000FF"/>
            </a:solidFill>
            <a:prstDash val="solid"/>
            <a:headEnd type="none" w="med" len="med"/>
            <a:tailEnd type="none" w="med" len="med"/>
          </a:ln>
        </p:spPr>
      </p:sp>
      <p:sp>
        <p:nvSpPr>
          <p:cNvPr id="2343970" name="Rectangle 34"/>
          <p:cNvSpPr/>
          <p:nvPr/>
        </p:nvSpPr>
        <p:spPr>
          <a:xfrm>
            <a:off x="4497388" y="2994025"/>
            <a:ext cx="192087"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343971" name="Rectangle 35"/>
          <p:cNvSpPr/>
          <p:nvPr/>
        </p:nvSpPr>
        <p:spPr>
          <a:xfrm>
            <a:off x="4651375" y="3087688"/>
            <a:ext cx="92075" cy="179387"/>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343972" name="Rectangle 36"/>
          <p:cNvSpPr/>
          <p:nvPr/>
        </p:nvSpPr>
        <p:spPr>
          <a:xfrm>
            <a:off x="5514975" y="2147888"/>
            <a:ext cx="163513"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43973" name="Rectangle 37"/>
          <p:cNvSpPr/>
          <p:nvPr/>
        </p:nvSpPr>
        <p:spPr>
          <a:xfrm>
            <a:off x="5678488" y="2239963"/>
            <a:ext cx="92075" cy="179387"/>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2343974" name="Rectangle 38"/>
          <p:cNvSpPr/>
          <p:nvPr/>
        </p:nvSpPr>
        <p:spPr>
          <a:xfrm>
            <a:off x="6470650" y="2157413"/>
            <a:ext cx="163513"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43975" name="Rectangle 39"/>
          <p:cNvSpPr/>
          <p:nvPr/>
        </p:nvSpPr>
        <p:spPr>
          <a:xfrm>
            <a:off x="6618288" y="2239963"/>
            <a:ext cx="238125" cy="179387"/>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2343976" name="Rectangle 40"/>
          <p:cNvSpPr/>
          <p:nvPr/>
        </p:nvSpPr>
        <p:spPr>
          <a:xfrm>
            <a:off x="6296025" y="2951163"/>
            <a:ext cx="177800"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43977" name="Rectangle 41"/>
          <p:cNvSpPr/>
          <p:nvPr/>
        </p:nvSpPr>
        <p:spPr>
          <a:xfrm>
            <a:off x="6459538" y="3035300"/>
            <a:ext cx="55562" cy="179388"/>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I</a:t>
            </a:r>
            <a:endParaRPr lang="en-US" altLang="zh-CN" dirty="0">
              <a:latin typeface="Times New Roman" panose="02020603050405020304" pitchFamily="18" charset="0"/>
            </a:endParaRPr>
          </a:p>
        </p:txBody>
      </p:sp>
      <p:sp>
        <p:nvSpPr>
          <p:cNvPr id="2343978" name="Rectangle 42"/>
          <p:cNvSpPr/>
          <p:nvPr/>
        </p:nvSpPr>
        <p:spPr>
          <a:xfrm>
            <a:off x="7437438" y="2951163"/>
            <a:ext cx="177800"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43979" name="Rectangle 43"/>
          <p:cNvSpPr/>
          <p:nvPr/>
        </p:nvSpPr>
        <p:spPr>
          <a:xfrm>
            <a:off x="7591425" y="3024188"/>
            <a:ext cx="101600" cy="179387"/>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T</a:t>
            </a:r>
            <a:endParaRPr lang="en-US" altLang="zh-CN" dirty="0">
              <a:latin typeface="Times New Roman" panose="02020603050405020304" pitchFamily="18" charset="0"/>
            </a:endParaRPr>
          </a:p>
        </p:txBody>
      </p:sp>
      <p:sp>
        <p:nvSpPr>
          <p:cNvPr id="2343980" name="Rectangle 44"/>
          <p:cNvSpPr/>
          <p:nvPr/>
        </p:nvSpPr>
        <p:spPr>
          <a:xfrm>
            <a:off x="8383588" y="2994025"/>
            <a:ext cx="163512" cy="288925"/>
          </a:xfrm>
          <a:prstGeom prst="rect">
            <a:avLst/>
          </a:prstGeom>
          <a:noFill/>
          <a:ln w="9525">
            <a:noFill/>
          </a:ln>
        </p:spPr>
        <p:txBody>
          <a:bodyPr wrap="none" lIns="0" tIns="0" rIns="0" bIns="0">
            <a:spAutoFit/>
          </a:bodyPr>
          <a:p>
            <a:pPr eaLnBrk="1" hangingPunct="1">
              <a:lnSpc>
                <a:spcPct val="90000"/>
              </a:lnSpc>
            </a:pPr>
            <a:r>
              <a:rPr lang="en-US" altLang="zh-CN" sz="21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43981" name="Rectangle 45"/>
          <p:cNvSpPr/>
          <p:nvPr/>
        </p:nvSpPr>
        <p:spPr>
          <a:xfrm>
            <a:off x="8537575" y="3087688"/>
            <a:ext cx="101600" cy="179387"/>
          </a:xfrm>
          <a:prstGeom prst="rect">
            <a:avLst/>
          </a:prstGeom>
          <a:noFill/>
          <a:ln w="9525">
            <a:noFill/>
          </a:ln>
        </p:spPr>
        <p:txBody>
          <a:bodyPr wrap="none" lIns="0" tIns="0" rIns="0" bIns="0">
            <a:spAutoFit/>
          </a:bodyPr>
          <a:p>
            <a:pPr eaLnBrk="1" hangingPunct="1">
              <a:lnSpc>
                <a:spcPct val="90000"/>
              </a:lnSpc>
            </a:pPr>
            <a:r>
              <a:rPr lang="en-US" altLang="zh-CN" sz="13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2343982" name="Line 46"/>
          <p:cNvSpPr/>
          <p:nvPr/>
        </p:nvSpPr>
        <p:spPr>
          <a:xfrm>
            <a:off x="7118350" y="4121150"/>
            <a:ext cx="288925" cy="1588"/>
          </a:xfrm>
          <a:prstGeom prst="line">
            <a:avLst/>
          </a:prstGeom>
          <a:ln w="0" cap="flat" cmpd="sng">
            <a:solidFill>
              <a:srgbClr val="0000FF"/>
            </a:solidFill>
            <a:prstDash val="solid"/>
            <a:headEnd type="none" w="med" len="med"/>
            <a:tailEnd type="none" w="med" len="med"/>
          </a:ln>
        </p:spPr>
      </p:sp>
      <p:sp>
        <p:nvSpPr>
          <p:cNvPr id="2343983" name="Oval 47"/>
          <p:cNvSpPr/>
          <p:nvPr/>
        </p:nvSpPr>
        <p:spPr>
          <a:xfrm>
            <a:off x="6070600" y="3744913"/>
            <a:ext cx="101600"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84" name="Oval 48"/>
          <p:cNvSpPr/>
          <p:nvPr/>
        </p:nvSpPr>
        <p:spPr>
          <a:xfrm>
            <a:off x="7221538" y="3744913"/>
            <a:ext cx="103187"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85" name="Oval 49"/>
          <p:cNvSpPr/>
          <p:nvPr/>
        </p:nvSpPr>
        <p:spPr>
          <a:xfrm>
            <a:off x="8207375" y="3744913"/>
            <a:ext cx="104775"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86" name="Rectangle 50"/>
          <p:cNvSpPr/>
          <p:nvPr/>
        </p:nvSpPr>
        <p:spPr>
          <a:xfrm>
            <a:off x="4897438" y="2965450"/>
            <a:ext cx="179387" cy="357188"/>
          </a:xfrm>
          <a:prstGeom prst="rect">
            <a:avLst/>
          </a:prstGeom>
          <a:noFill/>
          <a:ln w="9525">
            <a:noFill/>
          </a:ln>
        </p:spPr>
        <p:txBody>
          <a:bodyPr wrap="none" lIns="0" tIns="0" rIns="0" bIns="0">
            <a:spAutoFit/>
          </a:bodyPr>
          <a:p>
            <a:pPr eaLnBrk="1" hangingPunct="1">
              <a:lnSpc>
                <a:spcPct val="90000"/>
              </a:lnSpc>
            </a:pPr>
            <a:r>
              <a:rPr lang="en-US" altLang="zh-CN" sz="26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343987" name="Line 51"/>
          <p:cNvSpPr/>
          <p:nvPr/>
        </p:nvSpPr>
        <p:spPr>
          <a:xfrm>
            <a:off x="4959350" y="3303588"/>
            <a:ext cx="0" cy="487362"/>
          </a:xfrm>
          <a:prstGeom prst="line">
            <a:avLst/>
          </a:prstGeom>
          <a:ln w="0" cap="flat" cmpd="sng">
            <a:solidFill>
              <a:srgbClr val="0000FF"/>
            </a:solidFill>
            <a:prstDash val="solid"/>
            <a:headEnd type="none" w="med" len="med"/>
            <a:tailEnd type="none" w="med" len="med"/>
          </a:ln>
        </p:spPr>
      </p:sp>
      <p:sp>
        <p:nvSpPr>
          <p:cNvPr id="2343988" name="Line 52"/>
          <p:cNvSpPr/>
          <p:nvPr/>
        </p:nvSpPr>
        <p:spPr>
          <a:xfrm>
            <a:off x="6783388" y="2451100"/>
            <a:ext cx="2144712" cy="1588"/>
          </a:xfrm>
          <a:prstGeom prst="line">
            <a:avLst/>
          </a:prstGeom>
          <a:ln w="0" cap="flat" cmpd="sng">
            <a:solidFill>
              <a:srgbClr val="0000FF"/>
            </a:solidFill>
            <a:prstDash val="solid"/>
            <a:headEnd type="none" w="med" len="med"/>
            <a:tailEnd type="none" w="med" len="med"/>
          </a:ln>
        </p:spPr>
      </p:sp>
      <p:sp>
        <p:nvSpPr>
          <p:cNvPr id="2343989" name="Rectangle 53"/>
          <p:cNvSpPr/>
          <p:nvPr/>
        </p:nvSpPr>
        <p:spPr>
          <a:xfrm>
            <a:off x="5011738" y="4333875"/>
            <a:ext cx="3652837" cy="301625"/>
          </a:xfrm>
          <a:prstGeom prst="rect">
            <a:avLst/>
          </a:prstGeom>
          <a:noFill/>
          <a:ln w="9525">
            <a:noFill/>
          </a:ln>
        </p:spPr>
        <p:txBody>
          <a:bodyPr wrap="none" lIns="0" tIns="0" rIns="0" bIns="0">
            <a:spAutoFit/>
          </a:bodyPr>
          <a:p>
            <a:pPr eaLnBrk="1" hangingPunct="1">
              <a:lnSpc>
                <a:spcPct val="90000"/>
              </a:lnSpc>
            </a:pPr>
            <a:r>
              <a:rPr lang="zh-CN" altLang="en-US" sz="2200" dirty="0">
                <a:solidFill>
                  <a:srgbClr val="000080"/>
                </a:solidFill>
                <a:latin typeface="楷体_GB2312" pitchFamily="49" charset="-122"/>
              </a:rPr>
              <a:t>多路开关的动态响应等效电路</a:t>
            </a:r>
            <a:endParaRPr lang="zh-CN" altLang="en-US" sz="3200" dirty="0">
              <a:latin typeface="Times New Roman" panose="02020603050405020304" pitchFamily="18" charset="0"/>
            </a:endParaRPr>
          </a:p>
        </p:txBody>
      </p:sp>
      <p:sp>
        <p:nvSpPr>
          <p:cNvPr id="2343990" name="Line 54"/>
          <p:cNvSpPr/>
          <p:nvPr/>
        </p:nvSpPr>
        <p:spPr>
          <a:xfrm>
            <a:off x="5799138" y="2451100"/>
            <a:ext cx="639762" cy="1588"/>
          </a:xfrm>
          <a:prstGeom prst="line">
            <a:avLst/>
          </a:prstGeom>
          <a:ln w="0" cap="flat" cmpd="sng">
            <a:solidFill>
              <a:srgbClr val="0000FF"/>
            </a:solidFill>
            <a:prstDash val="solid"/>
            <a:headEnd type="none" w="med" len="med"/>
            <a:tailEnd type="none" w="med" len="med"/>
          </a:ln>
        </p:spPr>
      </p:sp>
      <p:sp>
        <p:nvSpPr>
          <p:cNvPr id="2343991" name="Oval 55"/>
          <p:cNvSpPr/>
          <p:nvPr/>
        </p:nvSpPr>
        <p:spPr>
          <a:xfrm>
            <a:off x="8207375" y="2408238"/>
            <a:ext cx="104775"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92" name="Oval 56"/>
          <p:cNvSpPr/>
          <p:nvPr/>
        </p:nvSpPr>
        <p:spPr>
          <a:xfrm>
            <a:off x="7221538" y="2408238"/>
            <a:ext cx="103187"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93" name="Oval 57"/>
          <p:cNvSpPr/>
          <p:nvPr/>
        </p:nvSpPr>
        <p:spPr>
          <a:xfrm>
            <a:off x="6070600" y="2408238"/>
            <a:ext cx="101600" cy="10477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43995" name="Text Box 59"/>
          <p:cNvSpPr txBox="1"/>
          <p:nvPr/>
        </p:nvSpPr>
        <p:spPr>
          <a:xfrm>
            <a:off x="4114800" y="5219700"/>
            <a:ext cx="3819525" cy="74930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ea typeface="黑体" panose="02010609060101010101" pitchFamily="49" charset="-122"/>
              </a:rPr>
              <a:t>误差</a:t>
            </a:r>
            <a:r>
              <a:rPr lang="zh-CN" altLang="en-US" sz="2400" dirty="0">
                <a:latin typeface="Times New Roman" panose="02020603050405020304" pitchFamily="18" charset="0"/>
                <a:ea typeface="黑体" panose="02010609060101010101" pitchFamily="49" charset="-122"/>
              </a:rPr>
              <a:t>：以百分数表示的误差数值中百分号前的数字。</a:t>
            </a:r>
            <a:endParaRPr lang="zh-CN" altLang="en-US" sz="2400" dirty="0">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43943"/>
                                        </p:tgtEl>
                                        <p:attrNameLst>
                                          <p:attrName>style.visibility</p:attrName>
                                        </p:attrNameLst>
                                      </p:cBhvr>
                                      <p:to>
                                        <p:strVal val="visible"/>
                                      </p:to>
                                    </p:set>
                                    <p:animEffect transition="in" filter="dissolve">
                                      <p:cBhvr>
                                        <p:cTn id="7" dur="500"/>
                                        <p:tgtEl>
                                          <p:spTgt spid="234394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3952"/>
                                        </p:tgtEl>
                                        <p:attrNameLst>
                                          <p:attrName>style.visibility</p:attrName>
                                        </p:attrNameLst>
                                      </p:cBhvr>
                                      <p:to>
                                        <p:strVal val="visible"/>
                                      </p:to>
                                    </p:set>
                                    <p:animEffect transition="in" filter="dissolve">
                                      <p:cBhvr>
                                        <p:cTn id="12" dur="500"/>
                                        <p:tgtEl>
                                          <p:spTgt spid="2343952"/>
                                        </p:tgtEl>
                                      </p:cBhvr>
                                    </p:animEffect>
                                  </p:childTnLst>
                                </p:cTn>
                              </p:par>
                              <p:par>
                                <p:cTn id="13" presetID="9" presetClass="entr" presetSubtype="0" fill="hold" nodeType="withEffect">
                                  <p:stCondLst>
                                    <p:cond delay="0"/>
                                  </p:stCondLst>
                                  <p:childTnLst>
                                    <p:set>
                                      <p:cBhvr>
                                        <p:cTn id="14" dur="1" fill="hold">
                                          <p:stCondLst>
                                            <p:cond delay="0"/>
                                          </p:stCondLst>
                                        </p:cTn>
                                        <p:tgtEl>
                                          <p:spTgt spid="2343953"/>
                                        </p:tgtEl>
                                        <p:attrNameLst>
                                          <p:attrName>style.visibility</p:attrName>
                                        </p:attrNameLst>
                                      </p:cBhvr>
                                      <p:to>
                                        <p:strVal val="visible"/>
                                      </p:to>
                                    </p:set>
                                    <p:animEffect transition="in" filter="dissolve">
                                      <p:cBhvr>
                                        <p:cTn id="15" dur="500"/>
                                        <p:tgtEl>
                                          <p:spTgt spid="2343953"/>
                                        </p:tgtEl>
                                      </p:cBhvr>
                                    </p:animEffect>
                                  </p:childTnLst>
                                </p:cTn>
                              </p:par>
                              <p:par>
                                <p:cTn id="16" presetID="9" presetClass="entr" presetSubtype="0" fill="hold" nodeType="withEffect">
                                  <p:stCondLst>
                                    <p:cond delay="0"/>
                                  </p:stCondLst>
                                  <p:childTnLst>
                                    <p:set>
                                      <p:cBhvr>
                                        <p:cTn id="17" dur="1" fill="hold">
                                          <p:stCondLst>
                                            <p:cond delay="0"/>
                                          </p:stCondLst>
                                        </p:cTn>
                                        <p:tgtEl>
                                          <p:spTgt spid="2343954"/>
                                        </p:tgtEl>
                                        <p:attrNameLst>
                                          <p:attrName>style.visibility</p:attrName>
                                        </p:attrNameLst>
                                      </p:cBhvr>
                                      <p:to>
                                        <p:strVal val="visible"/>
                                      </p:to>
                                    </p:set>
                                    <p:animEffect transition="in" filter="dissolve">
                                      <p:cBhvr>
                                        <p:cTn id="18" dur="500"/>
                                        <p:tgtEl>
                                          <p:spTgt spid="2343954"/>
                                        </p:tgtEl>
                                      </p:cBhvr>
                                    </p:animEffect>
                                  </p:childTnLst>
                                </p:cTn>
                              </p:par>
                              <p:par>
                                <p:cTn id="19" presetID="9" presetClass="entr" presetSubtype="0" fill="hold" nodeType="withEffect">
                                  <p:stCondLst>
                                    <p:cond delay="0"/>
                                  </p:stCondLst>
                                  <p:childTnLst>
                                    <p:set>
                                      <p:cBhvr>
                                        <p:cTn id="20" dur="1" fill="hold">
                                          <p:stCondLst>
                                            <p:cond delay="0"/>
                                          </p:stCondLst>
                                        </p:cTn>
                                        <p:tgtEl>
                                          <p:spTgt spid="2343955"/>
                                        </p:tgtEl>
                                        <p:attrNameLst>
                                          <p:attrName>style.visibility</p:attrName>
                                        </p:attrNameLst>
                                      </p:cBhvr>
                                      <p:to>
                                        <p:strVal val="visible"/>
                                      </p:to>
                                    </p:set>
                                    <p:animEffect transition="in" filter="dissolve">
                                      <p:cBhvr>
                                        <p:cTn id="21" dur="500"/>
                                        <p:tgtEl>
                                          <p:spTgt spid="2343955"/>
                                        </p:tgtEl>
                                      </p:cBhvr>
                                    </p:animEffect>
                                  </p:childTnLst>
                                </p:cTn>
                              </p:par>
                              <p:par>
                                <p:cTn id="22" presetID="9" presetClass="entr" presetSubtype="0" fill="hold" nodeType="withEffect">
                                  <p:stCondLst>
                                    <p:cond delay="0"/>
                                  </p:stCondLst>
                                  <p:childTnLst>
                                    <p:set>
                                      <p:cBhvr>
                                        <p:cTn id="23" dur="1" fill="hold">
                                          <p:stCondLst>
                                            <p:cond delay="0"/>
                                          </p:stCondLst>
                                        </p:cTn>
                                        <p:tgtEl>
                                          <p:spTgt spid="2343956"/>
                                        </p:tgtEl>
                                        <p:attrNameLst>
                                          <p:attrName>style.visibility</p:attrName>
                                        </p:attrNameLst>
                                      </p:cBhvr>
                                      <p:to>
                                        <p:strVal val="visible"/>
                                      </p:to>
                                    </p:set>
                                    <p:animEffect transition="in" filter="dissolve">
                                      <p:cBhvr>
                                        <p:cTn id="24" dur="500"/>
                                        <p:tgtEl>
                                          <p:spTgt spid="2343956"/>
                                        </p:tgtEl>
                                      </p:cBhvr>
                                    </p:animEffect>
                                  </p:childTnLst>
                                </p:cTn>
                              </p:par>
                              <p:par>
                                <p:cTn id="25" presetID="9" presetClass="entr" presetSubtype="0" fill="hold" nodeType="withEffect">
                                  <p:stCondLst>
                                    <p:cond delay="0"/>
                                  </p:stCondLst>
                                  <p:childTnLst>
                                    <p:set>
                                      <p:cBhvr>
                                        <p:cTn id="26" dur="1" fill="hold">
                                          <p:stCondLst>
                                            <p:cond delay="0"/>
                                          </p:stCondLst>
                                        </p:cTn>
                                        <p:tgtEl>
                                          <p:spTgt spid="2343957"/>
                                        </p:tgtEl>
                                        <p:attrNameLst>
                                          <p:attrName>style.visibility</p:attrName>
                                        </p:attrNameLst>
                                      </p:cBhvr>
                                      <p:to>
                                        <p:strVal val="visible"/>
                                      </p:to>
                                    </p:set>
                                    <p:animEffect transition="in" filter="dissolve">
                                      <p:cBhvr>
                                        <p:cTn id="27" dur="500"/>
                                        <p:tgtEl>
                                          <p:spTgt spid="2343957"/>
                                        </p:tgtEl>
                                      </p:cBhvr>
                                    </p:animEffect>
                                  </p:childTnLst>
                                </p:cTn>
                              </p:par>
                              <p:par>
                                <p:cTn id="28" presetID="9" presetClass="entr" presetSubtype="0" fill="hold" nodeType="withEffect">
                                  <p:stCondLst>
                                    <p:cond delay="0"/>
                                  </p:stCondLst>
                                  <p:childTnLst>
                                    <p:set>
                                      <p:cBhvr>
                                        <p:cTn id="29" dur="1" fill="hold">
                                          <p:stCondLst>
                                            <p:cond delay="0"/>
                                          </p:stCondLst>
                                        </p:cTn>
                                        <p:tgtEl>
                                          <p:spTgt spid="2343958"/>
                                        </p:tgtEl>
                                        <p:attrNameLst>
                                          <p:attrName>style.visibility</p:attrName>
                                        </p:attrNameLst>
                                      </p:cBhvr>
                                      <p:to>
                                        <p:strVal val="visible"/>
                                      </p:to>
                                    </p:set>
                                    <p:animEffect transition="in" filter="dissolve">
                                      <p:cBhvr>
                                        <p:cTn id="30" dur="500"/>
                                        <p:tgtEl>
                                          <p:spTgt spid="2343958"/>
                                        </p:tgtEl>
                                      </p:cBhvr>
                                    </p:animEffect>
                                  </p:childTnLst>
                                </p:cTn>
                              </p:par>
                              <p:par>
                                <p:cTn id="31" presetID="9" presetClass="entr" presetSubtype="0" fill="hold" nodeType="withEffect">
                                  <p:stCondLst>
                                    <p:cond delay="0"/>
                                  </p:stCondLst>
                                  <p:childTnLst>
                                    <p:set>
                                      <p:cBhvr>
                                        <p:cTn id="32" dur="1" fill="hold">
                                          <p:stCondLst>
                                            <p:cond delay="0"/>
                                          </p:stCondLst>
                                        </p:cTn>
                                        <p:tgtEl>
                                          <p:spTgt spid="2343959"/>
                                        </p:tgtEl>
                                        <p:attrNameLst>
                                          <p:attrName>style.visibility</p:attrName>
                                        </p:attrNameLst>
                                      </p:cBhvr>
                                      <p:to>
                                        <p:strVal val="visible"/>
                                      </p:to>
                                    </p:set>
                                    <p:animEffect transition="in" filter="dissolve">
                                      <p:cBhvr>
                                        <p:cTn id="33" dur="500"/>
                                        <p:tgtEl>
                                          <p:spTgt spid="2343959"/>
                                        </p:tgtEl>
                                      </p:cBhvr>
                                    </p:animEffect>
                                  </p:childTnLst>
                                </p:cTn>
                              </p:par>
                              <p:par>
                                <p:cTn id="34" presetID="9" presetClass="entr" presetSubtype="0" fill="hold" nodeType="withEffect">
                                  <p:stCondLst>
                                    <p:cond delay="0"/>
                                  </p:stCondLst>
                                  <p:childTnLst>
                                    <p:set>
                                      <p:cBhvr>
                                        <p:cTn id="35" dur="1" fill="hold">
                                          <p:stCondLst>
                                            <p:cond delay="0"/>
                                          </p:stCondLst>
                                        </p:cTn>
                                        <p:tgtEl>
                                          <p:spTgt spid="2343960"/>
                                        </p:tgtEl>
                                        <p:attrNameLst>
                                          <p:attrName>style.visibility</p:attrName>
                                        </p:attrNameLst>
                                      </p:cBhvr>
                                      <p:to>
                                        <p:strVal val="visible"/>
                                      </p:to>
                                    </p:set>
                                    <p:animEffect transition="in" filter="dissolve">
                                      <p:cBhvr>
                                        <p:cTn id="36" dur="500"/>
                                        <p:tgtEl>
                                          <p:spTgt spid="2343960"/>
                                        </p:tgtEl>
                                      </p:cBhvr>
                                    </p:animEffect>
                                  </p:childTnLst>
                                </p:cTn>
                              </p:par>
                              <p:par>
                                <p:cTn id="37" presetID="9" presetClass="entr" presetSubtype="0" fill="hold" nodeType="withEffect">
                                  <p:stCondLst>
                                    <p:cond delay="0"/>
                                  </p:stCondLst>
                                  <p:childTnLst>
                                    <p:set>
                                      <p:cBhvr>
                                        <p:cTn id="38" dur="1" fill="hold">
                                          <p:stCondLst>
                                            <p:cond delay="0"/>
                                          </p:stCondLst>
                                        </p:cTn>
                                        <p:tgtEl>
                                          <p:spTgt spid="2343961"/>
                                        </p:tgtEl>
                                        <p:attrNameLst>
                                          <p:attrName>style.visibility</p:attrName>
                                        </p:attrNameLst>
                                      </p:cBhvr>
                                      <p:to>
                                        <p:strVal val="visible"/>
                                      </p:to>
                                    </p:set>
                                    <p:animEffect transition="in" filter="dissolve">
                                      <p:cBhvr>
                                        <p:cTn id="39" dur="500"/>
                                        <p:tgtEl>
                                          <p:spTgt spid="2343961"/>
                                        </p:tgtEl>
                                      </p:cBhvr>
                                    </p:animEffect>
                                  </p:childTnLst>
                                </p:cTn>
                              </p:par>
                              <p:par>
                                <p:cTn id="40" presetID="9" presetClass="entr" presetSubtype="0" fill="hold" nodeType="withEffect">
                                  <p:stCondLst>
                                    <p:cond delay="0"/>
                                  </p:stCondLst>
                                  <p:childTnLst>
                                    <p:set>
                                      <p:cBhvr>
                                        <p:cTn id="41" dur="1" fill="hold">
                                          <p:stCondLst>
                                            <p:cond delay="0"/>
                                          </p:stCondLst>
                                        </p:cTn>
                                        <p:tgtEl>
                                          <p:spTgt spid="2343962"/>
                                        </p:tgtEl>
                                        <p:attrNameLst>
                                          <p:attrName>style.visibility</p:attrName>
                                        </p:attrNameLst>
                                      </p:cBhvr>
                                      <p:to>
                                        <p:strVal val="visible"/>
                                      </p:to>
                                    </p:set>
                                    <p:animEffect transition="in" filter="dissolve">
                                      <p:cBhvr>
                                        <p:cTn id="42" dur="500"/>
                                        <p:tgtEl>
                                          <p:spTgt spid="2343962"/>
                                        </p:tgtEl>
                                      </p:cBhvr>
                                    </p:animEffect>
                                  </p:childTnLst>
                                </p:cTn>
                              </p:par>
                              <p:par>
                                <p:cTn id="43" presetID="9" presetClass="entr" presetSubtype="0" fill="hold" nodeType="withEffect">
                                  <p:stCondLst>
                                    <p:cond delay="0"/>
                                  </p:stCondLst>
                                  <p:childTnLst>
                                    <p:set>
                                      <p:cBhvr>
                                        <p:cTn id="44" dur="1" fill="hold">
                                          <p:stCondLst>
                                            <p:cond delay="0"/>
                                          </p:stCondLst>
                                        </p:cTn>
                                        <p:tgtEl>
                                          <p:spTgt spid="2343963"/>
                                        </p:tgtEl>
                                        <p:attrNameLst>
                                          <p:attrName>style.visibility</p:attrName>
                                        </p:attrNameLst>
                                      </p:cBhvr>
                                      <p:to>
                                        <p:strVal val="visible"/>
                                      </p:to>
                                    </p:set>
                                    <p:animEffect transition="in" filter="dissolve">
                                      <p:cBhvr>
                                        <p:cTn id="45" dur="500"/>
                                        <p:tgtEl>
                                          <p:spTgt spid="2343963"/>
                                        </p:tgtEl>
                                      </p:cBhvr>
                                    </p:animEffect>
                                  </p:childTnLst>
                                </p:cTn>
                              </p:par>
                              <p:par>
                                <p:cTn id="46" presetID="9" presetClass="entr" presetSubtype="0" fill="hold" nodeType="withEffect">
                                  <p:stCondLst>
                                    <p:cond delay="0"/>
                                  </p:stCondLst>
                                  <p:childTnLst>
                                    <p:set>
                                      <p:cBhvr>
                                        <p:cTn id="47" dur="1" fill="hold">
                                          <p:stCondLst>
                                            <p:cond delay="0"/>
                                          </p:stCondLst>
                                        </p:cTn>
                                        <p:tgtEl>
                                          <p:spTgt spid="2343964"/>
                                        </p:tgtEl>
                                        <p:attrNameLst>
                                          <p:attrName>style.visibility</p:attrName>
                                        </p:attrNameLst>
                                      </p:cBhvr>
                                      <p:to>
                                        <p:strVal val="visible"/>
                                      </p:to>
                                    </p:set>
                                    <p:animEffect transition="in" filter="dissolve">
                                      <p:cBhvr>
                                        <p:cTn id="48" dur="500"/>
                                        <p:tgtEl>
                                          <p:spTgt spid="2343964"/>
                                        </p:tgtEl>
                                      </p:cBhvr>
                                    </p:animEffect>
                                  </p:childTnLst>
                                </p:cTn>
                              </p:par>
                              <p:par>
                                <p:cTn id="49" presetID="9" presetClass="entr" presetSubtype="0" fill="hold" nodeType="withEffect">
                                  <p:stCondLst>
                                    <p:cond delay="0"/>
                                  </p:stCondLst>
                                  <p:childTnLst>
                                    <p:set>
                                      <p:cBhvr>
                                        <p:cTn id="50" dur="1" fill="hold">
                                          <p:stCondLst>
                                            <p:cond delay="0"/>
                                          </p:stCondLst>
                                        </p:cTn>
                                        <p:tgtEl>
                                          <p:spTgt spid="2343965"/>
                                        </p:tgtEl>
                                        <p:attrNameLst>
                                          <p:attrName>style.visibility</p:attrName>
                                        </p:attrNameLst>
                                      </p:cBhvr>
                                      <p:to>
                                        <p:strVal val="visible"/>
                                      </p:to>
                                    </p:set>
                                    <p:animEffect transition="in" filter="dissolve">
                                      <p:cBhvr>
                                        <p:cTn id="51" dur="500"/>
                                        <p:tgtEl>
                                          <p:spTgt spid="2343965"/>
                                        </p:tgtEl>
                                      </p:cBhvr>
                                    </p:animEffect>
                                  </p:childTnLst>
                                </p:cTn>
                              </p:par>
                              <p:par>
                                <p:cTn id="52" presetID="9" presetClass="entr" presetSubtype="0" fill="hold" nodeType="withEffect">
                                  <p:stCondLst>
                                    <p:cond delay="0"/>
                                  </p:stCondLst>
                                  <p:childTnLst>
                                    <p:set>
                                      <p:cBhvr>
                                        <p:cTn id="53" dur="1" fill="hold">
                                          <p:stCondLst>
                                            <p:cond delay="0"/>
                                          </p:stCondLst>
                                        </p:cTn>
                                        <p:tgtEl>
                                          <p:spTgt spid="2343966"/>
                                        </p:tgtEl>
                                        <p:attrNameLst>
                                          <p:attrName>style.visibility</p:attrName>
                                        </p:attrNameLst>
                                      </p:cBhvr>
                                      <p:to>
                                        <p:strVal val="visible"/>
                                      </p:to>
                                    </p:set>
                                    <p:animEffect transition="in" filter="dissolve">
                                      <p:cBhvr>
                                        <p:cTn id="54" dur="500"/>
                                        <p:tgtEl>
                                          <p:spTgt spid="2343966"/>
                                        </p:tgtEl>
                                      </p:cBhvr>
                                    </p:animEffect>
                                  </p:childTnLst>
                                </p:cTn>
                              </p:par>
                              <p:par>
                                <p:cTn id="55" presetID="9" presetClass="entr" presetSubtype="0" fill="hold" nodeType="withEffect">
                                  <p:stCondLst>
                                    <p:cond delay="0"/>
                                  </p:stCondLst>
                                  <p:childTnLst>
                                    <p:set>
                                      <p:cBhvr>
                                        <p:cTn id="56" dur="1" fill="hold">
                                          <p:stCondLst>
                                            <p:cond delay="0"/>
                                          </p:stCondLst>
                                        </p:cTn>
                                        <p:tgtEl>
                                          <p:spTgt spid="2343967"/>
                                        </p:tgtEl>
                                        <p:attrNameLst>
                                          <p:attrName>style.visibility</p:attrName>
                                        </p:attrNameLst>
                                      </p:cBhvr>
                                      <p:to>
                                        <p:strVal val="visible"/>
                                      </p:to>
                                    </p:set>
                                    <p:animEffect transition="in" filter="dissolve">
                                      <p:cBhvr>
                                        <p:cTn id="57" dur="500"/>
                                        <p:tgtEl>
                                          <p:spTgt spid="2343967"/>
                                        </p:tgtEl>
                                      </p:cBhvr>
                                    </p:animEffect>
                                  </p:childTnLst>
                                </p:cTn>
                              </p:par>
                              <p:par>
                                <p:cTn id="58" presetID="9" presetClass="entr" presetSubtype="0" fill="hold" nodeType="withEffect">
                                  <p:stCondLst>
                                    <p:cond delay="0"/>
                                  </p:stCondLst>
                                  <p:childTnLst>
                                    <p:set>
                                      <p:cBhvr>
                                        <p:cTn id="59" dur="1" fill="hold">
                                          <p:stCondLst>
                                            <p:cond delay="0"/>
                                          </p:stCondLst>
                                        </p:cTn>
                                        <p:tgtEl>
                                          <p:spTgt spid="2343968"/>
                                        </p:tgtEl>
                                        <p:attrNameLst>
                                          <p:attrName>style.visibility</p:attrName>
                                        </p:attrNameLst>
                                      </p:cBhvr>
                                      <p:to>
                                        <p:strVal val="visible"/>
                                      </p:to>
                                    </p:set>
                                    <p:animEffect transition="in" filter="dissolve">
                                      <p:cBhvr>
                                        <p:cTn id="60" dur="500"/>
                                        <p:tgtEl>
                                          <p:spTgt spid="2343968"/>
                                        </p:tgtEl>
                                      </p:cBhvr>
                                    </p:animEffect>
                                  </p:childTnLst>
                                </p:cTn>
                              </p:par>
                              <p:par>
                                <p:cTn id="61" presetID="9" presetClass="entr" presetSubtype="0" fill="hold" nodeType="withEffect">
                                  <p:stCondLst>
                                    <p:cond delay="0"/>
                                  </p:stCondLst>
                                  <p:childTnLst>
                                    <p:set>
                                      <p:cBhvr>
                                        <p:cTn id="62" dur="1" fill="hold">
                                          <p:stCondLst>
                                            <p:cond delay="0"/>
                                          </p:stCondLst>
                                        </p:cTn>
                                        <p:tgtEl>
                                          <p:spTgt spid="2343969"/>
                                        </p:tgtEl>
                                        <p:attrNameLst>
                                          <p:attrName>style.visibility</p:attrName>
                                        </p:attrNameLst>
                                      </p:cBhvr>
                                      <p:to>
                                        <p:strVal val="visible"/>
                                      </p:to>
                                    </p:set>
                                    <p:animEffect transition="in" filter="dissolve">
                                      <p:cBhvr>
                                        <p:cTn id="63" dur="500"/>
                                        <p:tgtEl>
                                          <p:spTgt spid="2343969"/>
                                        </p:tgtEl>
                                      </p:cBhvr>
                                    </p:animEffect>
                                  </p:childTnLst>
                                </p:cTn>
                              </p:par>
                              <p:par>
                                <p:cTn id="64" presetID="9" presetClass="entr" presetSubtype="0" fill="hold" nodeType="withEffect">
                                  <p:stCondLst>
                                    <p:cond delay="0"/>
                                  </p:stCondLst>
                                  <p:childTnLst>
                                    <p:set>
                                      <p:cBhvr>
                                        <p:cTn id="65" dur="1" fill="hold">
                                          <p:stCondLst>
                                            <p:cond delay="0"/>
                                          </p:stCondLst>
                                        </p:cTn>
                                        <p:tgtEl>
                                          <p:spTgt spid="2343970"/>
                                        </p:tgtEl>
                                        <p:attrNameLst>
                                          <p:attrName>style.visibility</p:attrName>
                                        </p:attrNameLst>
                                      </p:cBhvr>
                                      <p:to>
                                        <p:strVal val="visible"/>
                                      </p:to>
                                    </p:set>
                                    <p:animEffect transition="in" filter="dissolve">
                                      <p:cBhvr>
                                        <p:cTn id="66" dur="500"/>
                                        <p:tgtEl>
                                          <p:spTgt spid="2343970"/>
                                        </p:tgtEl>
                                      </p:cBhvr>
                                    </p:animEffect>
                                  </p:childTnLst>
                                </p:cTn>
                              </p:par>
                              <p:par>
                                <p:cTn id="67" presetID="9" presetClass="entr" presetSubtype="0" fill="hold" nodeType="withEffect">
                                  <p:stCondLst>
                                    <p:cond delay="0"/>
                                  </p:stCondLst>
                                  <p:childTnLst>
                                    <p:set>
                                      <p:cBhvr>
                                        <p:cTn id="68" dur="1" fill="hold">
                                          <p:stCondLst>
                                            <p:cond delay="0"/>
                                          </p:stCondLst>
                                        </p:cTn>
                                        <p:tgtEl>
                                          <p:spTgt spid="2343971"/>
                                        </p:tgtEl>
                                        <p:attrNameLst>
                                          <p:attrName>style.visibility</p:attrName>
                                        </p:attrNameLst>
                                      </p:cBhvr>
                                      <p:to>
                                        <p:strVal val="visible"/>
                                      </p:to>
                                    </p:set>
                                    <p:animEffect transition="in" filter="dissolve">
                                      <p:cBhvr>
                                        <p:cTn id="69" dur="500"/>
                                        <p:tgtEl>
                                          <p:spTgt spid="2343971"/>
                                        </p:tgtEl>
                                      </p:cBhvr>
                                    </p:animEffect>
                                  </p:childTnLst>
                                </p:cTn>
                              </p:par>
                              <p:par>
                                <p:cTn id="70" presetID="9" presetClass="entr" presetSubtype="0" fill="hold" nodeType="withEffect">
                                  <p:stCondLst>
                                    <p:cond delay="0"/>
                                  </p:stCondLst>
                                  <p:childTnLst>
                                    <p:set>
                                      <p:cBhvr>
                                        <p:cTn id="71" dur="1" fill="hold">
                                          <p:stCondLst>
                                            <p:cond delay="0"/>
                                          </p:stCondLst>
                                        </p:cTn>
                                        <p:tgtEl>
                                          <p:spTgt spid="2343972"/>
                                        </p:tgtEl>
                                        <p:attrNameLst>
                                          <p:attrName>style.visibility</p:attrName>
                                        </p:attrNameLst>
                                      </p:cBhvr>
                                      <p:to>
                                        <p:strVal val="visible"/>
                                      </p:to>
                                    </p:set>
                                    <p:animEffect transition="in" filter="dissolve">
                                      <p:cBhvr>
                                        <p:cTn id="72" dur="500"/>
                                        <p:tgtEl>
                                          <p:spTgt spid="2343972"/>
                                        </p:tgtEl>
                                      </p:cBhvr>
                                    </p:animEffect>
                                  </p:childTnLst>
                                </p:cTn>
                              </p:par>
                              <p:par>
                                <p:cTn id="73" presetID="9" presetClass="entr" presetSubtype="0" fill="hold" nodeType="withEffect">
                                  <p:stCondLst>
                                    <p:cond delay="0"/>
                                  </p:stCondLst>
                                  <p:childTnLst>
                                    <p:set>
                                      <p:cBhvr>
                                        <p:cTn id="74" dur="1" fill="hold">
                                          <p:stCondLst>
                                            <p:cond delay="0"/>
                                          </p:stCondLst>
                                        </p:cTn>
                                        <p:tgtEl>
                                          <p:spTgt spid="2343973"/>
                                        </p:tgtEl>
                                        <p:attrNameLst>
                                          <p:attrName>style.visibility</p:attrName>
                                        </p:attrNameLst>
                                      </p:cBhvr>
                                      <p:to>
                                        <p:strVal val="visible"/>
                                      </p:to>
                                    </p:set>
                                    <p:animEffect transition="in" filter="dissolve">
                                      <p:cBhvr>
                                        <p:cTn id="75" dur="500"/>
                                        <p:tgtEl>
                                          <p:spTgt spid="2343973"/>
                                        </p:tgtEl>
                                      </p:cBhvr>
                                    </p:animEffect>
                                  </p:childTnLst>
                                </p:cTn>
                              </p:par>
                              <p:par>
                                <p:cTn id="76" presetID="9" presetClass="entr" presetSubtype="0" fill="hold" nodeType="withEffect">
                                  <p:stCondLst>
                                    <p:cond delay="0"/>
                                  </p:stCondLst>
                                  <p:childTnLst>
                                    <p:set>
                                      <p:cBhvr>
                                        <p:cTn id="77" dur="1" fill="hold">
                                          <p:stCondLst>
                                            <p:cond delay="0"/>
                                          </p:stCondLst>
                                        </p:cTn>
                                        <p:tgtEl>
                                          <p:spTgt spid="2343974"/>
                                        </p:tgtEl>
                                        <p:attrNameLst>
                                          <p:attrName>style.visibility</p:attrName>
                                        </p:attrNameLst>
                                      </p:cBhvr>
                                      <p:to>
                                        <p:strVal val="visible"/>
                                      </p:to>
                                    </p:set>
                                    <p:animEffect transition="in" filter="dissolve">
                                      <p:cBhvr>
                                        <p:cTn id="78" dur="500"/>
                                        <p:tgtEl>
                                          <p:spTgt spid="2343974"/>
                                        </p:tgtEl>
                                      </p:cBhvr>
                                    </p:animEffect>
                                  </p:childTnLst>
                                </p:cTn>
                              </p:par>
                              <p:par>
                                <p:cTn id="79" presetID="9" presetClass="entr" presetSubtype="0" fill="hold" nodeType="withEffect">
                                  <p:stCondLst>
                                    <p:cond delay="0"/>
                                  </p:stCondLst>
                                  <p:childTnLst>
                                    <p:set>
                                      <p:cBhvr>
                                        <p:cTn id="80" dur="1" fill="hold">
                                          <p:stCondLst>
                                            <p:cond delay="0"/>
                                          </p:stCondLst>
                                        </p:cTn>
                                        <p:tgtEl>
                                          <p:spTgt spid="2343975"/>
                                        </p:tgtEl>
                                        <p:attrNameLst>
                                          <p:attrName>style.visibility</p:attrName>
                                        </p:attrNameLst>
                                      </p:cBhvr>
                                      <p:to>
                                        <p:strVal val="visible"/>
                                      </p:to>
                                    </p:set>
                                    <p:animEffect transition="in" filter="dissolve">
                                      <p:cBhvr>
                                        <p:cTn id="81" dur="500"/>
                                        <p:tgtEl>
                                          <p:spTgt spid="2343975"/>
                                        </p:tgtEl>
                                      </p:cBhvr>
                                    </p:animEffect>
                                  </p:childTnLst>
                                </p:cTn>
                              </p:par>
                              <p:par>
                                <p:cTn id="82" presetID="9" presetClass="entr" presetSubtype="0" fill="hold" nodeType="withEffect">
                                  <p:stCondLst>
                                    <p:cond delay="0"/>
                                  </p:stCondLst>
                                  <p:childTnLst>
                                    <p:set>
                                      <p:cBhvr>
                                        <p:cTn id="83" dur="1" fill="hold">
                                          <p:stCondLst>
                                            <p:cond delay="0"/>
                                          </p:stCondLst>
                                        </p:cTn>
                                        <p:tgtEl>
                                          <p:spTgt spid="2343976"/>
                                        </p:tgtEl>
                                        <p:attrNameLst>
                                          <p:attrName>style.visibility</p:attrName>
                                        </p:attrNameLst>
                                      </p:cBhvr>
                                      <p:to>
                                        <p:strVal val="visible"/>
                                      </p:to>
                                    </p:set>
                                    <p:animEffect transition="in" filter="dissolve">
                                      <p:cBhvr>
                                        <p:cTn id="84" dur="500"/>
                                        <p:tgtEl>
                                          <p:spTgt spid="2343976"/>
                                        </p:tgtEl>
                                      </p:cBhvr>
                                    </p:animEffect>
                                  </p:childTnLst>
                                </p:cTn>
                              </p:par>
                              <p:par>
                                <p:cTn id="85" presetID="9" presetClass="entr" presetSubtype="0" fill="hold" nodeType="withEffect">
                                  <p:stCondLst>
                                    <p:cond delay="0"/>
                                  </p:stCondLst>
                                  <p:childTnLst>
                                    <p:set>
                                      <p:cBhvr>
                                        <p:cTn id="86" dur="1" fill="hold">
                                          <p:stCondLst>
                                            <p:cond delay="0"/>
                                          </p:stCondLst>
                                        </p:cTn>
                                        <p:tgtEl>
                                          <p:spTgt spid="2343977"/>
                                        </p:tgtEl>
                                        <p:attrNameLst>
                                          <p:attrName>style.visibility</p:attrName>
                                        </p:attrNameLst>
                                      </p:cBhvr>
                                      <p:to>
                                        <p:strVal val="visible"/>
                                      </p:to>
                                    </p:set>
                                    <p:animEffect transition="in" filter="dissolve">
                                      <p:cBhvr>
                                        <p:cTn id="87" dur="500"/>
                                        <p:tgtEl>
                                          <p:spTgt spid="2343977"/>
                                        </p:tgtEl>
                                      </p:cBhvr>
                                    </p:animEffect>
                                  </p:childTnLst>
                                </p:cTn>
                              </p:par>
                              <p:par>
                                <p:cTn id="88" presetID="9" presetClass="entr" presetSubtype="0" fill="hold" nodeType="withEffect">
                                  <p:stCondLst>
                                    <p:cond delay="0"/>
                                  </p:stCondLst>
                                  <p:childTnLst>
                                    <p:set>
                                      <p:cBhvr>
                                        <p:cTn id="89" dur="1" fill="hold">
                                          <p:stCondLst>
                                            <p:cond delay="0"/>
                                          </p:stCondLst>
                                        </p:cTn>
                                        <p:tgtEl>
                                          <p:spTgt spid="2343978"/>
                                        </p:tgtEl>
                                        <p:attrNameLst>
                                          <p:attrName>style.visibility</p:attrName>
                                        </p:attrNameLst>
                                      </p:cBhvr>
                                      <p:to>
                                        <p:strVal val="visible"/>
                                      </p:to>
                                    </p:set>
                                    <p:animEffect transition="in" filter="dissolve">
                                      <p:cBhvr>
                                        <p:cTn id="90" dur="500"/>
                                        <p:tgtEl>
                                          <p:spTgt spid="2343978"/>
                                        </p:tgtEl>
                                      </p:cBhvr>
                                    </p:animEffect>
                                  </p:childTnLst>
                                </p:cTn>
                              </p:par>
                              <p:par>
                                <p:cTn id="91" presetID="9" presetClass="entr" presetSubtype="0" fill="hold" nodeType="withEffect">
                                  <p:stCondLst>
                                    <p:cond delay="0"/>
                                  </p:stCondLst>
                                  <p:childTnLst>
                                    <p:set>
                                      <p:cBhvr>
                                        <p:cTn id="92" dur="1" fill="hold">
                                          <p:stCondLst>
                                            <p:cond delay="0"/>
                                          </p:stCondLst>
                                        </p:cTn>
                                        <p:tgtEl>
                                          <p:spTgt spid="2343979"/>
                                        </p:tgtEl>
                                        <p:attrNameLst>
                                          <p:attrName>style.visibility</p:attrName>
                                        </p:attrNameLst>
                                      </p:cBhvr>
                                      <p:to>
                                        <p:strVal val="visible"/>
                                      </p:to>
                                    </p:set>
                                    <p:animEffect transition="in" filter="dissolve">
                                      <p:cBhvr>
                                        <p:cTn id="93" dur="500"/>
                                        <p:tgtEl>
                                          <p:spTgt spid="2343979"/>
                                        </p:tgtEl>
                                      </p:cBhvr>
                                    </p:animEffect>
                                  </p:childTnLst>
                                </p:cTn>
                              </p:par>
                              <p:par>
                                <p:cTn id="94" presetID="9" presetClass="entr" presetSubtype="0" fill="hold" nodeType="withEffect">
                                  <p:stCondLst>
                                    <p:cond delay="0"/>
                                  </p:stCondLst>
                                  <p:childTnLst>
                                    <p:set>
                                      <p:cBhvr>
                                        <p:cTn id="95" dur="1" fill="hold">
                                          <p:stCondLst>
                                            <p:cond delay="0"/>
                                          </p:stCondLst>
                                        </p:cTn>
                                        <p:tgtEl>
                                          <p:spTgt spid="2343980"/>
                                        </p:tgtEl>
                                        <p:attrNameLst>
                                          <p:attrName>style.visibility</p:attrName>
                                        </p:attrNameLst>
                                      </p:cBhvr>
                                      <p:to>
                                        <p:strVal val="visible"/>
                                      </p:to>
                                    </p:set>
                                    <p:animEffect transition="in" filter="dissolve">
                                      <p:cBhvr>
                                        <p:cTn id="96" dur="500"/>
                                        <p:tgtEl>
                                          <p:spTgt spid="2343980"/>
                                        </p:tgtEl>
                                      </p:cBhvr>
                                    </p:animEffect>
                                  </p:childTnLst>
                                </p:cTn>
                              </p:par>
                              <p:par>
                                <p:cTn id="97" presetID="9" presetClass="entr" presetSubtype="0" fill="hold" nodeType="withEffect">
                                  <p:stCondLst>
                                    <p:cond delay="0"/>
                                  </p:stCondLst>
                                  <p:childTnLst>
                                    <p:set>
                                      <p:cBhvr>
                                        <p:cTn id="98" dur="1" fill="hold">
                                          <p:stCondLst>
                                            <p:cond delay="0"/>
                                          </p:stCondLst>
                                        </p:cTn>
                                        <p:tgtEl>
                                          <p:spTgt spid="2343981"/>
                                        </p:tgtEl>
                                        <p:attrNameLst>
                                          <p:attrName>style.visibility</p:attrName>
                                        </p:attrNameLst>
                                      </p:cBhvr>
                                      <p:to>
                                        <p:strVal val="visible"/>
                                      </p:to>
                                    </p:set>
                                    <p:animEffect transition="in" filter="dissolve">
                                      <p:cBhvr>
                                        <p:cTn id="99" dur="500"/>
                                        <p:tgtEl>
                                          <p:spTgt spid="2343981"/>
                                        </p:tgtEl>
                                      </p:cBhvr>
                                    </p:animEffect>
                                  </p:childTnLst>
                                </p:cTn>
                              </p:par>
                              <p:par>
                                <p:cTn id="100" presetID="9" presetClass="entr" presetSubtype="0" fill="hold" nodeType="withEffect">
                                  <p:stCondLst>
                                    <p:cond delay="0"/>
                                  </p:stCondLst>
                                  <p:childTnLst>
                                    <p:set>
                                      <p:cBhvr>
                                        <p:cTn id="101" dur="1" fill="hold">
                                          <p:stCondLst>
                                            <p:cond delay="0"/>
                                          </p:stCondLst>
                                        </p:cTn>
                                        <p:tgtEl>
                                          <p:spTgt spid="2343982"/>
                                        </p:tgtEl>
                                        <p:attrNameLst>
                                          <p:attrName>style.visibility</p:attrName>
                                        </p:attrNameLst>
                                      </p:cBhvr>
                                      <p:to>
                                        <p:strVal val="visible"/>
                                      </p:to>
                                    </p:set>
                                    <p:animEffect transition="in" filter="dissolve">
                                      <p:cBhvr>
                                        <p:cTn id="102" dur="500"/>
                                        <p:tgtEl>
                                          <p:spTgt spid="2343982"/>
                                        </p:tgtEl>
                                      </p:cBhvr>
                                    </p:animEffect>
                                  </p:childTnLst>
                                </p:cTn>
                              </p:par>
                              <p:par>
                                <p:cTn id="103" presetID="9" presetClass="entr" presetSubtype="0" fill="hold" nodeType="withEffect">
                                  <p:stCondLst>
                                    <p:cond delay="0"/>
                                  </p:stCondLst>
                                  <p:childTnLst>
                                    <p:set>
                                      <p:cBhvr>
                                        <p:cTn id="104" dur="1" fill="hold">
                                          <p:stCondLst>
                                            <p:cond delay="0"/>
                                          </p:stCondLst>
                                        </p:cTn>
                                        <p:tgtEl>
                                          <p:spTgt spid="2343983"/>
                                        </p:tgtEl>
                                        <p:attrNameLst>
                                          <p:attrName>style.visibility</p:attrName>
                                        </p:attrNameLst>
                                      </p:cBhvr>
                                      <p:to>
                                        <p:strVal val="visible"/>
                                      </p:to>
                                    </p:set>
                                    <p:animEffect transition="in" filter="dissolve">
                                      <p:cBhvr>
                                        <p:cTn id="105" dur="500"/>
                                        <p:tgtEl>
                                          <p:spTgt spid="2343983"/>
                                        </p:tgtEl>
                                      </p:cBhvr>
                                    </p:animEffect>
                                  </p:childTnLst>
                                </p:cTn>
                              </p:par>
                              <p:par>
                                <p:cTn id="106" presetID="9" presetClass="entr" presetSubtype="0" fill="hold" nodeType="withEffect">
                                  <p:stCondLst>
                                    <p:cond delay="0"/>
                                  </p:stCondLst>
                                  <p:childTnLst>
                                    <p:set>
                                      <p:cBhvr>
                                        <p:cTn id="107" dur="1" fill="hold">
                                          <p:stCondLst>
                                            <p:cond delay="0"/>
                                          </p:stCondLst>
                                        </p:cTn>
                                        <p:tgtEl>
                                          <p:spTgt spid="2343984"/>
                                        </p:tgtEl>
                                        <p:attrNameLst>
                                          <p:attrName>style.visibility</p:attrName>
                                        </p:attrNameLst>
                                      </p:cBhvr>
                                      <p:to>
                                        <p:strVal val="visible"/>
                                      </p:to>
                                    </p:set>
                                    <p:animEffect transition="in" filter="dissolve">
                                      <p:cBhvr>
                                        <p:cTn id="108" dur="500"/>
                                        <p:tgtEl>
                                          <p:spTgt spid="2343984"/>
                                        </p:tgtEl>
                                      </p:cBhvr>
                                    </p:animEffect>
                                  </p:childTnLst>
                                </p:cTn>
                              </p:par>
                              <p:par>
                                <p:cTn id="109" presetID="9" presetClass="entr" presetSubtype="0" fill="hold" nodeType="withEffect">
                                  <p:stCondLst>
                                    <p:cond delay="0"/>
                                  </p:stCondLst>
                                  <p:childTnLst>
                                    <p:set>
                                      <p:cBhvr>
                                        <p:cTn id="110" dur="1" fill="hold">
                                          <p:stCondLst>
                                            <p:cond delay="0"/>
                                          </p:stCondLst>
                                        </p:cTn>
                                        <p:tgtEl>
                                          <p:spTgt spid="2343985"/>
                                        </p:tgtEl>
                                        <p:attrNameLst>
                                          <p:attrName>style.visibility</p:attrName>
                                        </p:attrNameLst>
                                      </p:cBhvr>
                                      <p:to>
                                        <p:strVal val="visible"/>
                                      </p:to>
                                    </p:set>
                                    <p:animEffect transition="in" filter="dissolve">
                                      <p:cBhvr>
                                        <p:cTn id="111" dur="500"/>
                                        <p:tgtEl>
                                          <p:spTgt spid="2343985"/>
                                        </p:tgtEl>
                                      </p:cBhvr>
                                    </p:animEffect>
                                  </p:childTnLst>
                                </p:cTn>
                              </p:par>
                              <p:par>
                                <p:cTn id="112" presetID="9" presetClass="entr" presetSubtype="0" fill="hold" nodeType="withEffect">
                                  <p:stCondLst>
                                    <p:cond delay="0"/>
                                  </p:stCondLst>
                                  <p:childTnLst>
                                    <p:set>
                                      <p:cBhvr>
                                        <p:cTn id="113" dur="1" fill="hold">
                                          <p:stCondLst>
                                            <p:cond delay="0"/>
                                          </p:stCondLst>
                                        </p:cTn>
                                        <p:tgtEl>
                                          <p:spTgt spid="2343986"/>
                                        </p:tgtEl>
                                        <p:attrNameLst>
                                          <p:attrName>style.visibility</p:attrName>
                                        </p:attrNameLst>
                                      </p:cBhvr>
                                      <p:to>
                                        <p:strVal val="visible"/>
                                      </p:to>
                                    </p:set>
                                    <p:animEffect transition="in" filter="dissolve">
                                      <p:cBhvr>
                                        <p:cTn id="114" dur="500"/>
                                        <p:tgtEl>
                                          <p:spTgt spid="2343986"/>
                                        </p:tgtEl>
                                      </p:cBhvr>
                                    </p:animEffect>
                                  </p:childTnLst>
                                </p:cTn>
                              </p:par>
                              <p:par>
                                <p:cTn id="115" presetID="9" presetClass="entr" presetSubtype="0" fill="hold" nodeType="withEffect">
                                  <p:stCondLst>
                                    <p:cond delay="0"/>
                                  </p:stCondLst>
                                  <p:childTnLst>
                                    <p:set>
                                      <p:cBhvr>
                                        <p:cTn id="116" dur="1" fill="hold">
                                          <p:stCondLst>
                                            <p:cond delay="0"/>
                                          </p:stCondLst>
                                        </p:cTn>
                                        <p:tgtEl>
                                          <p:spTgt spid="2343987"/>
                                        </p:tgtEl>
                                        <p:attrNameLst>
                                          <p:attrName>style.visibility</p:attrName>
                                        </p:attrNameLst>
                                      </p:cBhvr>
                                      <p:to>
                                        <p:strVal val="visible"/>
                                      </p:to>
                                    </p:set>
                                    <p:animEffect transition="in" filter="dissolve">
                                      <p:cBhvr>
                                        <p:cTn id="117" dur="500"/>
                                        <p:tgtEl>
                                          <p:spTgt spid="2343987"/>
                                        </p:tgtEl>
                                      </p:cBhvr>
                                    </p:animEffect>
                                  </p:childTnLst>
                                </p:cTn>
                              </p:par>
                              <p:par>
                                <p:cTn id="118" presetID="9" presetClass="entr" presetSubtype="0" fill="hold" nodeType="withEffect">
                                  <p:stCondLst>
                                    <p:cond delay="0"/>
                                  </p:stCondLst>
                                  <p:childTnLst>
                                    <p:set>
                                      <p:cBhvr>
                                        <p:cTn id="119" dur="1" fill="hold">
                                          <p:stCondLst>
                                            <p:cond delay="0"/>
                                          </p:stCondLst>
                                        </p:cTn>
                                        <p:tgtEl>
                                          <p:spTgt spid="2343988"/>
                                        </p:tgtEl>
                                        <p:attrNameLst>
                                          <p:attrName>style.visibility</p:attrName>
                                        </p:attrNameLst>
                                      </p:cBhvr>
                                      <p:to>
                                        <p:strVal val="visible"/>
                                      </p:to>
                                    </p:set>
                                    <p:animEffect transition="in" filter="dissolve">
                                      <p:cBhvr>
                                        <p:cTn id="120" dur="500"/>
                                        <p:tgtEl>
                                          <p:spTgt spid="2343988"/>
                                        </p:tgtEl>
                                      </p:cBhvr>
                                    </p:animEffect>
                                  </p:childTnLst>
                                </p:cTn>
                              </p:par>
                              <p:par>
                                <p:cTn id="121" presetID="9" presetClass="entr" presetSubtype="0" fill="hold" nodeType="withEffect">
                                  <p:stCondLst>
                                    <p:cond delay="0"/>
                                  </p:stCondLst>
                                  <p:childTnLst>
                                    <p:set>
                                      <p:cBhvr>
                                        <p:cTn id="122" dur="1" fill="hold">
                                          <p:stCondLst>
                                            <p:cond delay="0"/>
                                          </p:stCondLst>
                                        </p:cTn>
                                        <p:tgtEl>
                                          <p:spTgt spid="2343989"/>
                                        </p:tgtEl>
                                        <p:attrNameLst>
                                          <p:attrName>style.visibility</p:attrName>
                                        </p:attrNameLst>
                                      </p:cBhvr>
                                      <p:to>
                                        <p:strVal val="visible"/>
                                      </p:to>
                                    </p:set>
                                    <p:animEffect transition="in" filter="dissolve">
                                      <p:cBhvr>
                                        <p:cTn id="123" dur="500"/>
                                        <p:tgtEl>
                                          <p:spTgt spid="2343989"/>
                                        </p:tgtEl>
                                      </p:cBhvr>
                                    </p:animEffect>
                                  </p:childTnLst>
                                </p:cTn>
                              </p:par>
                              <p:par>
                                <p:cTn id="124" presetID="9" presetClass="entr" presetSubtype="0" fill="hold" nodeType="withEffect">
                                  <p:stCondLst>
                                    <p:cond delay="0"/>
                                  </p:stCondLst>
                                  <p:childTnLst>
                                    <p:set>
                                      <p:cBhvr>
                                        <p:cTn id="125" dur="1" fill="hold">
                                          <p:stCondLst>
                                            <p:cond delay="0"/>
                                          </p:stCondLst>
                                        </p:cTn>
                                        <p:tgtEl>
                                          <p:spTgt spid="2343990"/>
                                        </p:tgtEl>
                                        <p:attrNameLst>
                                          <p:attrName>style.visibility</p:attrName>
                                        </p:attrNameLst>
                                      </p:cBhvr>
                                      <p:to>
                                        <p:strVal val="visible"/>
                                      </p:to>
                                    </p:set>
                                    <p:animEffect transition="in" filter="dissolve">
                                      <p:cBhvr>
                                        <p:cTn id="126" dur="500"/>
                                        <p:tgtEl>
                                          <p:spTgt spid="2343990"/>
                                        </p:tgtEl>
                                      </p:cBhvr>
                                    </p:animEffect>
                                  </p:childTnLst>
                                </p:cTn>
                              </p:par>
                              <p:par>
                                <p:cTn id="127" presetID="9" presetClass="entr" presetSubtype="0" fill="hold" nodeType="withEffect">
                                  <p:stCondLst>
                                    <p:cond delay="0"/>
                                  </p:stCondLst>
                                  <p:childTnLst>
                                    <p:set>
                                      <p:cBhvr>
                                        <p:cTn id="128" dur="1" fill="hold">
                                          <p:stCondLst>
                                            <p:cond delay="0"/>
                                          </p:stCondLst>
                                        </p:cTn>
                                        <p:tgtEl>
                                          <p:spTgt spid="2343991"/>
                                        </p:tgtEl>
                                        <p:attrNameLst>
                                          <p:attrName>style.visibility</p:attrName>
                                        </p:attrNameLst>
                                      </p:cBhvr>
                                      <p:to>
                                        <p:strVal val="visible"/>
                                      </p:to>
                                    </p:set>
                                    <p:animEffect transition="in" filter="dissolve">
                                      <p:cBhvr>
                                        <p:cTn id="129" dur="500"/>
                                        <p:tgtEl>
                                          <p:spTgt spid="2343991"/>
                                        </p:tgtEl>
                                      </p:cBhvr>
                                    </p:animEffect>
                                  </p:childTnLst>
                                </p:cTn>
                              </p:par>
                              <p:par>
                                <p:cTn id="130" presetID="9" presetClass="entr" presetSubtype="0" fill="hold" nodeType="withEffect">
                                  <p:stCondLst>
                                    <p:cond delay="0"/>
                                  </p:stCondLst>
                                  <p:childTnLst>
                                    <p:set>
                                      <p:cBhvr>
                                        <p:cTn id="131" dur="1" fill="hold">
                                          <p:stCondLst>
                                            <p:cond delay="0"/>
                                          </p:stCondLst>
                                        </p:cTn>
                                        <p:tgtEl>
                                          <p:spTgt spid="2343992"/>
                                        </p:tgtEl>
                                        <p:attrNameLst>
                                          <p:attrName>style.visibility</p:attrName>
                                        </p:attrNameLst>
                                      </p:cBhvr>
                                      <p:to>
                                        <p:strVal val="visible"/>
                                      </p:to>
                                    </p:set>
                                    <p:animEffect transition="in" filter="dissolve">
                                      <p:cBhvr>
                                        <p:cTn id="132" dur="500"/>
                                        <p:tgtEl>
                                          <p:spTgt spid="2343992"/>
                                        </p:tgtEl>
                                      </p:cBhvr>
                                    </p:animEffect>
                                  </p:childTnLst>
                                </p:cTn>
                              </p:par>
                              <p:par>
                                <p:cTn id="133" presetID="9" presetClass="entr" presetSubtype="0" fill="hold" nodeType="withEffect">
                                  <p:stCondLst>
                                    <p:cond delay="0"/>
                                  </p:stCondLst>
                                  <p:childTnLst>
                                    <p:set>
                                      <p:cBhvr>
                                        <p:cTn id="134" dur="1" fill="hold">
                                          <p:stCondLst>
                                            <p:cond delay="0"/>
                                          </p:stCondLst>
                                        </p:cTn>
                                        <p:tgtEl>
                                          <p:spTgt spid="2343993"/>
                                        </p:tgtEl>
                                        <p:attrNameLst>
                                          <p:attrName>style.visibility</p:attrName>
                                        </p:attrNameLst>
                                      </p:cBhvr>
                                      <p:to>
                                        <p:strVal val="visible"/>
                                      </p:to>
                                    </p:set>
                                    <p:animEffect transition="in" filter="dissolve">
                                      <p:cBhvr>
                                        <p:cTn id="135" dur="500"/>
                                        <p:tgtEl>
                                          <p:spTgt spid="2343993"/>
                                        </p:tgtEl>
                                      </p:cBhvr>
                                    </p:animEffect>
                                  </p:childTnLst>
                                </p:cTn>
                              </p:par>
                            </p:childTnLst>
                          </p:cTn>
                        </p:par>
                      </p:childTnLst>
                    </p:cTn>
                  </p:par>
                  <p:par>
                    <p:cTn id="136" fill="hold">
                      <p:stCondLst>
                        <p:cond delay="indefinite"/>
                      </p:stCondLst>
                      <p:childTnLst>
                        <p:par>
                          <p:cTn id="137" fill="hold">
                            <p:stCondLst>
                              <p:cond delay="0"/>
                            </p:stCondLst>
                            <p:childTnLst>
                              <p:par>
                                <p:cTn id="138" presetID="9" presetClass="entr" presetSubtype="0" fill="hold" nodeType="clickEffect">
                                  <p:stCondLst>
                                    <p:cond delay="0"/>
                                  </p:stCondLst>
                                  <p:childTnLst>
                                    <p:set>
                                      <p:cBhvr>
                                        <p:cTn id="139" dur="1" fill="hold">
                                          <p:stCondLst>
                                            <p:cond delay="0"/>
                                          </p:stCondLst>
                                        </p:cTn>
                                        <p:tgtEl>
                                          <p:spTgt spid="2343944">
                                            <p:txEl>
                                              <p:charRg st="0" end="24"/>
                                            </p:txEl>
                                          </p:spTgt>
                                        </p:tgtEl>
                                        <p:attrNameLst>
                                          <p:attrName>style.visibility</p:attrName>
                                        </p:attrNameLst>
                                      </p:cBhvr>
                                      <p:to>
                                        <p:strVal val="visible"/>
                                      </p:to>
                                    </p:set>
                                    <p:animEffect transition="in" filter="dissolve">
                                      <p:cBhvr>
                                        <p:cTn id="140" dur="500"/>
                                        <p:tgtEl>
                                          <p:spTgt spid="2343944">
                                            <p:txEl>
                                              <p:charRg st="0" end="24"/>
                                            </p:txEl>
                                          </p:spTgt>
                                        </p:tgtEl>
                                      </p:cBhvr>
                                    </p:animEffect>
                                  </p:childTnLst>
                                </p:cTn>
                              </p:par>
                            </p:childTnLst>
                          </p:cTn>
                        </p:par>
                      </p:childTnLst>
                    </p:cTn>
                  </p:par>
                  <p:par>
                    <p:cTn id="141" fill="hold">
                      <p:stCondLst>
                        <p:cond delay="indefinite"/>
                      </p:stCondLst>
                      <p:childTnLst>
                        <p:par>
                          <p:cTn id="142" fill="hold">
                            <p:stCondLst>
                              <p:cond delay="0"/>
                            </p:stCondLst>
                            <p:childTnLst>
                              <p:par>
                                <p:cTn id="143" presetID="1" presetClass="exit" presetSubtype="0" fill="hold" nodeType="clickEffect">
                                  <p:stCondLst>
                                    <p:cond delay="0"/>
                                  </p:stCondLst>
                                  <p:childTnLst>
                                    <p:set>
                                      <p:cBhvr>
                                        <p:cTn id="144" dur="1" fill="hold">
                                          <p:stCondLst>
                                            <p:cond delay="0"/>
                                          </p:stCondLst>
                                        </p:cTn>
                                        <p:tgtEl>
                                          <p:spTgt spid="2343961"/>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3439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343976"/>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343959"/>
                                        </p:tgtEl>
                                        <p:attrNameLst>
                                          <p:attrName>style.visibility</p:attrName>
                                        </p:attrNameLst>
                                      </p:cBhvr>
                                      <p:to>
                                        <p:strVal val="hidden"/>
                                      </p:to>
                                    </p:set>
                                  </p:childTnLst>
                                </p:cTn>
                              </p:par>
                              <p:par>
                                <p:cTn id="151" presetID="1" presetClass="exit" presetSubtype="0" fill="hold" nodeType="withEffect">
                                  <p:stCondLst>
                                    <p:cond delay="0"/>
                                  </p:stCondLst>
                                  <p:childTnLst>
                                    <p:set>
                                      <p:cBhvr>
                                        <p:cTn id="152" dur="1" fill="hold">
                                          <p:stCondLst>
                                            <p:cond delay="0"/>
                                          </p:stCondLst>
                                        </p:cTn>
                                        <p:tgtEl>
                                          <p:spTgt spid="2343962"/>
                                        </p:tgtEl>
                                        <p:attrNameLst>
                                          <p:attrName>style.visibility</p:attrName>
                                        </p:attrNameLst>
                                      </p:cBhvr>
                                      <p:to>
                                        <p:strVal val="hidden"/>
                                      </p:to>
                                    </p:set>
                                  </p:childTnLst>
                                </p:cTn>
                              </p:par>
                              <p:par>
                                <p:cTn id="153" presetID="1" presetClass="exit" presetSubtype="0" fill="hold" nodeType="withEffect">
                                  <p:stCondLst>
                                    <p:cond delay="0"/>
                                  </p:stCondLst>
                                  <p:childTnLst>
                                    <p:set>
                                      <p:cBhvr>
                                        <p:cTn id="154" dur="1" fill="hold">
                                          <p:stCondLst>
                                            <p:cond delay="0"/>
                                          </p:stCondLst>
                                        </p:cTn>
                                        <p:tgtEl>
                                          <p:spTgt spid="2343993"/>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2343983"/>
                                        </p:tgtEl>
                                        <p:attrNameLst>
                                          <p:attrName>style.visibility</p:attrName>
                                        </p:attrNameLst>
                                      </p:cBhvr>
                                      <p:to>
                                        <p:strVal val="hidden"/>
                                      </p:to>
                                    </p:set>
                                  </p:childTnLst>
                                </p:cTn>
                              </p:par>
                              <p:par>
                                <p:cTn id="157" presetID="1" presetClass="exit" presetSubtype="0" fill="hold" nodeType="withEffect">
                                  <p:stCondLst>
                                    <p:cond delay="0"/>
                                  </p:stCondLst>
                                  <p:childTnLst>
                                    <p:set>
                                      <p:cBhvr>
                                        <p:cTn id="158" dur="1" fill="hold">
                                          <p:stCondLst>
                                            <p:cond delay="0"/>
                                          </p:stCondLst>
                                        </p:cTn>
                                        <p:tgtEl>
                                          <p:spTgt spid="2343977"/>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1" presetClass="exit" presetSubtype="0" fill="hold" nodeType="clickEffect">
                                  <p:stCondLst>
                                    <p:cond delay="0"/>
                                  </p:stCondLst>
                                  <p:childTnLst>
                                    <p:set>
                                      <p:cBhvr>
                                        <p:cTn id="162" dur="1" fill="hold">
                                          <p:stCondLst>
                                            <p:cond delay="0"/>
                                          </p:stCondLst>
                                        </p:cTn>
                                        <p:tgtEl>
                                          <p:spTgt spid="2343981"/>
                                        </p:tgtEl>
                                        <p:attrNameLst>
                                          <p:attrName>style.visibility</p:attrName>
                                        </p:attrNameLst>
                                      </p:cBhvr>
                                      <p:to>
                                        <p:strVal val="hidden"/>
                                      </p:to>
                                    </p:set>
                                  </p:childTnLst>
                                </p:cTn>
                              </p:par>
                              <p:par>
                                <p:cTn id="163" presetID="1" presetClass="exit" presetSubtype="0" fill="hold" nodeType="withEffect">
                                  <p:stCondLst>
                                    <p:cond delay="0"/>
                                  </p:stCondLst>
                                  <p:childTnLst>
                                    <p:set>
                                      <p:cBhvr>
                                        <p:cTn id="164" dur="1" fill="hold">
                                          <p:stCondLst>
                                            <p:cond delay="0"/>
                                          </p:stCondLst>
                                        </p:cTn>
                                        <p:tgtEl>
                                          <p:spTgt spid="2343980"/>
                                        </p:tgtEl>
                                        <p:attrNameLst>
                                          <p:attrName>style.visibility</p:attrName>
                                        </p:attrNameLst>
                                      </p:cBhvr>
                                      <p:to>
                                        <p:strVal val="hidden"/>
                                      </p:to>
                                    </p:set>
                                  </p:childTnLst>
                                </p:cTn>
                              </p:par>
                              <p:par>
                                <p:cTn id="165" presetID="1" presetClass="exit" presetSubtype="0" fill="hold" nodeType="withEffect">
                                  <p:stCondLst>
                                    <p:cond delay="0"/>
                                  </p:stCondLst>
                                  <p:childTnLst>
                                    <p:set>
                                      <p:cBhvr>
                                        <p:cTn id="166" dur="1" fill="hold">
                                          <p:stCondLst>
                                            <p:cond delay="0"/>
                                          </p:stCondLst>
                                        </p:cTn>
                                        <p:tgtEl>
                                          <p:spTgt spid="2343968"/>
                                        </p:tgtEl>
                                        <p:attrNameLst>
                                          <p:attrName>style.visibility</p:attrName>
                                        </p:attrNameLst>
                                      </p:cBhvr>
                                      <p:to>
                                        <p:strVal val="hidden"/>
                                      </p:to>
                                    </p:set>
                                  </p:childTnLst>
                                </p:cTn>
                              </p:par>
                              <p:par>
                                <p:cTn id="167" presetID="1" presetClass="exit" presetSubtype="0" fill="hold" nodeType="withEffect">
                                  <p:stCondLst>
                                    <p:cond delay="0"/>
                                  </p:stCondLst>
                                  <p:childTnLst>
                                    <p:set>
                                      <p:cBhvr>
                                        <p:cTn id="168" dur="1" fill="hold">
                                          <p:stCondLst>
                                            <p:cond delay="0"/>
                                          </p:stCondLst>
                                        </p:cTn>
                                        <p:tgtEl>
                                          <p:spTgt spid="2343967"/>
                                        </p:tgtEl>
                                        <p:attrNameLst>
                                          <p:attrName>style.visibility</p:attrName>
                                        </p:attrNameLst>
                                      </p:cBhvr>
                                      <p:to>
                                        <p:strVal val="hidden"/>
                                      </p:to>
                                    </p:set>
                                  </p:childTnLst>
                                </p:cTn>
                              </p:par>
                              <p:par>
                                <p:cTn id="169" presetID="1" presetClass="exit" presetSubtype="0" fill="hold" nodeType="withEffect">
                                  <p:stCondLst>
                                    <p:cond delay="0"/>
                                  </p:stCondLst>
                                  <p:childTnLst>
                                    <p:set>
                                      <p:cBhvr>
                                        <p:cTn id="170" dur="1" fill="hold">
                                          <p:stCondLst>
                                            <p:cond delay="0"/>
                                          </p:stCondLst>
                                        </p:cTn>
                                        <p:tgtEl>
                                          <p:spTgt spid="2343969"/>
                                        </p:tgtEl>
                                        <p:attrNameLst>
                                          <p:attrName>style.visibility</p:attrName>
                                        </p:attrNameLst>
                                      </p:cBhvr>
                                      <p:to>
                                        <p:strVal val="hidden"/>
                                      </p:to>
                                    </p:set>
                                  </p:childTnLst>
                                </p:cTn>
                              </p:par>
                              <p:par>
                                <p:cTn id="171" presetID="1" presetClass="exit" presetSubtype="0" fill="hold" nodeType="withEffect">
                                  <p:stCondLst>
                                    <p:cond delay="0"/>
                                  </p:stCondLst>
                                  <p:childTnLst>
                                    <p:set>
                                      <p:cBhvr>
                                        <p:cTn id="172" dur="1" fill="hold">
                                          <p:stCondLst>
                                            <p:cond delay="0"/>
                                          </p:stCondLst>
                                        </p:cTn>
                                        <p:tgtEl>
                                          <p:spTgt spid="2343985"/>
                                        </p:tgtEl>
                                        <p:attrNameLst>
                                          <p:attrName>style.visibility</p:attrName>
                                        </p:attrNameLst>
                                      </p:cBhvr>
                                      <p:to>
                                        <p:strVal val="hidden"/>
                                      </p:to>
                                    </p:set>
                                  </p:childTnLst>
                                </p:cTn>
                              </p:par>
                              <p:par>
                                <p:cTn id="173" presetID="1" presetClass="exit" presetSubtype="0" fill="hold" nodeType="withEffect">
                                  <p:stCondLst>
                                    <p:cond delay="0"/>
                                  </p:stCondLst>
                                  <p:childTnLst>
                                    <p:set>
                                      <p:cBhvr>
                                        <p:cTn id="174" dur="1" fill="hold">
                                          <p:stCondLst>
                                            <p:cond delay="0"/>
                                          </p:stCondLst>
                                        </p:cTn>
                                        <p:tgtEl>
                                          <p:spTgt spid="2343991"/>
                                        </p:tgtEl>
                                        <p:attrNameLst>
                                          <p:attrName>style.visibility</p:attrName>
                                        </p:attrNameLst>
                                      </p:cBhvr>
                                      <p:to>
                                        <p:strVal val="hidden"/>
                                      </p:to>
                                    </p:set>
                                  </p:childTnLst>
                                </p:cTn>
                              </p:par>
                            </p:childTnLst>
                          </p:cTn>
                        </p:par>
                      </p:childTnLst>
                    </p:cTn>
                  </p:par>
                  <p:par>
                    <p:cTn id="175" fill="hold">
                      <p:stCondLst>
                        <p:cond delay="indefinite"/>
                      </p:stCondLst>
                      <p:childTnLst>
                        <p:par>
                          <p:cTn id="176" fill="hold">
                            <p:stCondLst>
                              <p:cond delay="0"/>
                            </p:stCondLst>
                            <p:childTnLst>
                              <p:par>
                                <p:cTn id="177" presetID="9" presetClass="entr" presetSubtype="0" fill="hold" nodeType="clickEffect">
                                  <p:stCondLst>
                                    <p:cond delay="0"/>
                                  </p:stCondLst>
                                  <p:childTnLst>
                                    <p:set>
                                      <p:cBhvr>
                                        <p:cTn id="178" dur="1" fill="hold">
                                          <p:stCondLst>
                                            <p:cond delay="0"/>
                                          </p:stCondLst>
                                        </p:cTn>
                                        <p:tgtEl>
                                          <p:spTgt spid="2343944">
                                            <p:txEl>
                                              <p:charRg st="24" end="32"/>
                                            </p:txEl>
                                          </p:spTgt>
                                        </p:tgtEl>
                                        <p:attrNameLst>
                                          <p:attrName>style.visibility</p:attrName>
                                        </p:attrNameLst>
                                      </p:cBhvr>
                                      <p:to>
                                        <p:strVal val="visible"/>
                                      </p:to>
                                    </p:set>
                                    <p:animEffect transition="in" filter="dissolve">
                                      <p:cBhvr>
                                        <p:cTn id="179" dur="500"/>
                                        <p:tgtEl>
                                          <p:spTgt spid="2343944">
                                            <p:txEl>
                                              <p:charRg st="24" end="32"/>
                                            </p:txEl>
                                          </p:spTgt>
                                        </p:tgtEl>
                                      </p:cBhvr>
                                    </p:animEffect>
                                  </p:childTnLst>
                                </p:cTn>
                              </p:par>
                              <p:par>
                                <p:cTn id="180" presetID="9" presetClass="entr" presetSubtype="0" fill="hold" nodeType="withEffect">
                                  <p:stCondLst>
                                    <p:cond delay="0"/>
                                  </p:stCondLst>
                                  <p:childTnLst>
                                    <p:set>
                                      <p:cBhvr>
                                        <p:cTn id="181" dur="1" fill="hold">
                                          <p:stCondLst>
                                            <p:cond delay="0"/>
                                          </p:stCondLst>
                                        </p:cTn>
                                        <p:tgtEl>
                                          <p:spTgt spid="2343945"/>
                                        </p:tgtEl>
                                        <p:attrNameLst>
                                          <p:attrName>style.visibility</p:attrName>
                                        </p:attrNameLst>
                                      </p:cBhvr>
                                      <p:to>
                                        <p:strVal val="visible"/>
                                      </p:to>
                                    </p:set>
                                    <p:animEffect transition="in" filter="dissolve">
                                      <p:cBhvr>
                                        <p:cTn id="182" dur="500"/>
                                        <p:tgtEl>
                                          <p:spTgt spid="2343945"/>
                                        </p:tgtEl>
                                      </p:cBhvr>
                                    </p:animEffect>
                                  </p:childTnLst>
                                </p:cTn>
                              </p:par>
                            </p:childTnLst>
                          </p:cTn>
                        </p:par>
                      </p:childTnLst>
                    </p:cTn>
                  </p:par>
                  <p:par>
                    <p:cTn id="183" fill="hold">
                      <p:stCondLst>
                        <p:cond delay="indefinite"/>
                      </p:stCondLst>
                      <p:childTnLst>
                        <p:par>
                          <p:cTn id="184" fill="hold">
                            <p:stCondLst>
                              <p:cond delay="0"/>
                            </p:stCondLst>
                            <p:childTnLst>
                              <p:par>
                                <p:cTn id="185" presetID="9" presetClass="entr" presetSubtype="0" fill="hold" nodeType="clickEffect">
                                  <p:stCondLst>
                                    <p:cond delay="0"/>
                                  </p:stCondLst>
                                  <p:childTnLst>
                                    <p:set>
                                      <p:cBhvr>
                                        <p:cTn id="186" dur="1" fill="hold">
                                          <p:stCondLst>
                                            <p:cond delay="0"/>
                                          </p:stCondLst>
                                        </p:cTn>
                                        <p:tgtEl>
                                          <p:spTgt spid="2343946"/>
                                        </p:tgtEl>
                                        <p:attrNameLst>
                                          <p:attrName>style.visibility</p:attrName>
                                        </p:attrNameLst>
                                      </p:cBhvr>
                                      <p:to>
                                        <p:strVal val="visible"/>
                                      </p:to>
                                    </p:set>
                                    <p:animEffect transition="in" filter="dissolve">
                                      <p:cBhvr>
                                        <p:cTn id="187" dur="500"/>
                                        <p:tgtEl>
                                          <p:spTgt spid="2343946"/>
                                        </p:tgtEl>
                                      </p:cBhvr>
                                    </p:animEffect>
                                  </p:childTnLst>
                                </p:cTn>
                              </p:par>
                              <p:par>
                                <p:cTn id="188" presetID="9" presetClass="entr" presetSubtype="0" fill="hold" nodeType="withEffect">
                                  <p:stCondLst>
                                    <p:cond delay="0"/>
                                  </p:stCondLst>
                                  <p:childTnLst>
                                    <p:set>
                                      <p:cBhvr>
                                        <p:cTn id="189" dur="1" fill="hold">
                                          <p:stCondLst>
                                            <p:cond delay="0"/>
                                          </p:stCondLst>
                                        </p:cTn>
                                        <p:tgtEl>
                                          <p:spTgt spid="2343947"/>
                                        </p:tgtEl>
                                        <p:attrNameLst>
                                          <p:attrName>style.visibility</p:attrName>
                                        </p:attrNameLst>
                                      </p:cBhvr>
                                      <p:to>
                                        <p:strVal val="visible"/>
                                      </p:to>
                                    </p:set>
                                    <p:animEffect transition="in" filter="dissolve">
                                      <p:cBhvr>
                                        <p:cTn id="190" dur="500"/>
                                        <p:tgtEl>
                                          <p:spTgt spid="2343947"/>
                                        </p:tgtEl>
                                      </p:cBhvr>
                                    </p:animEffect>
                                  </p:childTnLst>
                                </p:cTn>
                              </p:par>
                            </p:childTnLst>
                          </p:cTn>
                        </p:par>
                      </p:childTnLst>
                    </p:cTn>
                  </p:par>
                  <p:par>
                    <p:cTn id="191" fill="hold">
                      <p:stCondLst>
                        <p:cond delay="indefinite"/>
                      </p:stCondLst>
                      <p:childTnLst>
                        <p:par>
                          <p:cTn id="192" fill="hold">
                            <p:stCondLst>
                              <p:cond delay="0"/>
                            </p:stCondLst>
                            <p:childTnLst>
                              <p:par>
                                <p:cTn id="193" presetID="9" presetClass="entr" presetSubtype="0" fill="hold" nodeType="clickEffect">
                                  <p:stCondLst>
                                    <p:cond delay="0"/>
                                  </p:stCondLst>
                                  <p:childTnLst>
                                    <p:set>
                                      <p:cBhvr>
                                        <p:cTn id="194" dur="1" fill="hold">
                                          <p:stCondLst>
                                            <p:cond delay="0"/>
                                          </p:stCondLst>
                                        </p:cTn>
                                        <p:tgtEl>
                                          <p:spTgt spid="2343995"/>
                                        </p:tgtEl>
                                        <p:attrNameLst>
                                          <p:attrName>style.visibility</p:attrName>
                                        </p:attrNameLst>
                                      </p:cBhvr>
                                      <p:to>
                                        <p:strVal val="visible"/>
                                      </p:to>
                                    </p:set>
                                    <p:animEffect transition="in" filter="dissolve">
                                      <p:cBhvr>
                                        <p:cTn id="195" dur="500"/>
                                        <p:tgtEl>
                                          <p:spTgt spid="2343995"/>
                                        </p:tgtEl>
                                      </p:cBhvr>
                                    </p:animEffect>
                                  </p:childTnLst>
                                </p:cTn>
                              </p:par>
                              <p:par>
                                <p:cTn id="196" presetID="9" presetClass="entr" presetSubtype="0" fill="hold" nodeType="withEffect">
                                  <p:stCondLst>
                                    <p:cond delay="0"/>
                                  </p:stCondLst>
                                  <p:childTnLst>
                                    <p:set>
                                      <p:cBhvr>
                                        <p:cTn id="197" dur="1" fill="hold">
                                          <p:stCondLst>
                                            <p:cond delay="0"/>
                                          </p:stCondLst>
                                        </p:cTn>
                                        <p:tgtEl>
                                          <p:spTgt spid="2343996"/>
                                        </p:tgtEl>
                                        <p:attrNameLst>
                                          <p:attrName>style.visibility</p:attrName>
                                        </p:attrNameLst>
                                      </p:cBhvr>
                                      <p:to>
                                        <p:strVal val="visible"/>
                                      </p:to>
                                    </p:set>
                                    <p:animEffect transition="in" filter="dissolve">
                                      <p:cBhvr>
                                        <p:cTn id="198" dur="500"/>
                                        <p:tgtEl>
                                          <p:spTgt spid="23439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3996" grpId="0" animBg="1"/>
      <p:bldP spid="2343943" grpId="0"/>
      <p:bldP spid="2343946" grpId="0"/>
      <p:bldP spid="2343953" grpId="0" animBg="1"/>
      <p:bldP spid="2343957" grpId="0" animBg="1"/>
      <p:bldP spid="2343958" grpId="0" animBg="1"/>
      <p:bldP spid="2343968" grpId="0" animBg="1"/>
      <p:bldP spid="2343968" grpId="1" animBg="1"/>
      <p:bldP spid="2343970" grpId="0"/>
      <p:bldP spid="2343971" grpId="0"/>
      <p:bldP spid="2343972" grpId="0"/>
      <p:bldP spid="2343973" grpId="0"/>
      <p:bldP spid="2343974" grpId="0"/>
      <p:bldP spid="2343975" grpId="0"/>
      <p:bldP spid="2343976" grpId="0"/>
      <p:bldP spid="2343976" grpId="1"/>
      <p:bldP spid="2343977" grpId="0"/>
      <p:bldP spid="2343977" grpId="1"/>
      <p:bldP spid="2343978" grpId="0"/>
      <p:bldP spid="2343979" grpId="0"/>
      <p:bldP spid="2343980" grpId="0"/>
      <p:bldP spid="2343980" grpId="1"/>
      <p:bldP spid="2343981" grpId="0"/>
      <p:bldP spid="2343981" grpId="1"/>
      <p:bldP spid="2343983" grpId="0" animBg="1"/>
      <p:bldP spid="2343983" grpId="1" animBg="1"/>
      <p:bldP spid="2343984" grpId="0" animBg="1"/>
      <p:bldP spid="2343985" grpId="0" animBg="1"/>
      <p:bldP spid="2343985" grpId="1" animBg="1"/>
      <p:bldP spid="2343986" grpId="0"/>
      <p:bldP spid="2343989" grpId="0"/>
      <p:bldP spid="2343991" grpId="0" animBg="1"/>
      <p:bldP spid="2343991" grpId="1" animBg="1"/>
      <p:bldP spid="2343992" grpId="0" animBg="1"/>
      <p:bldP spid="2343993" grpId="0" animBg="1"/>
      <p:bldP spid="2343993" grpId="1" animBg="1"/>
      <p:bldP spid="2343995"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408505" name="Object 57"/>
          <p:cNvGraphicFramePr>
            <a:graphicFrameLocks noChangeAspect="1"/>
          </p:cNvGraphicFramePr>
          <p:nvPr/>
        </p:nvGraphicFramePr>
        <p:xfrm>
          <a:off x="1866900" y="3213100"/>
          <a:ext cx="6615113" cy="1277938"/>
        </p:xfrm>
        <a:graphic>
          <a:graphicData uri="http://schemas.openxmlformats.org/presentationml/2006/ole">
            <mc:AlternateContent xmlns:mc="http://schemas.openxmlformats.org/markup-compatibility/2006">
              <mc:Choice xmlns:v="urn:schemas-microsoft-com:vml" Requires="v">
                <p:oleObj spid="_x0000_s3081" name="" r:id="rId1" imgW="3416300" imgH="660400" progId="Equation.3">
                  <p:embed/>
                </p:oleObj>
              </mc:Choice>
              <mc:Fallback>
                <p:oleObj name="" r:id="rId1" imgW="3416300" imgH="660400" progId="Equation.3">
                  <p:embed/>
                  <p:pic>
                    <p:nvPicPr>
                      <p:cNvPr id="0" name="图片 3080"/>
                      <p:cNvPicPr/>
                      <p:nvPr/>
                    </p:nvPicPr>
                    <p:blipFill>
                      <a:blip r:embed="rId2"/>
                      <a:stretch>
                        <a:fillRect/>
                      </a:stretch>
                    </p:blipFill>
                    <p:spPr>
                      <a:xfrm>
                        <a:off x="1866900" y="3213100"/>
                        <a:ext cx="6615113" cy="1277938"/>
                      </a:xfrm>
                      <a:prstGeom prst="rect">
                        <a:avLst/>
                      </a:prstGeom>
                      <a:solidFill>
                        <a:schemeClr val="bg1"/>
                      </a:solidFill>
                      <a:ln w="38100">
                        <a:noFill/>
                        <a:miter/>
                      </a:ln>
                    </p:spPr>
                  </p:pic>
                </p:oleObj>
              </mc:Fallback>
            </mc:AlternateContent>
          </a:graphicData>
        </a:graphic>
      </p:graphicFrame>
      <p:sp>
        <p:nvSpPr>
          <p:cNvPr id="46083" name="Text Box 2"/>
          <p:cNvSpPr txBox="1"/>
          <p:nvPr/>
        </p:nvSpPr>
        <p:spPr>
          <a:xfrm>
            <a:off x="415925" y="1312863"/>
            <a:ext cx="5232400" cy="519112"/>
          </a:xfrm>
          <a:prstGeom prst="rect">
            <a:avLst/>
          </a:prstGeom>
          <a:noFill/>
          <a:ln w="9525">
            <a:noFill/>
          </a:ln>
        </p:spPr>
        <p:txBody>
          <a:bodyPr wrap="none">
            <a:spAutoFit/>
          </a:bodyPr>
          <a:p>
            <a:pPr eaLnBrk="1" hangingPunct="1">
              <a:buClr>
                <a:srgbClr val="FF0000"/>
              </a:buClr>
              <a:buFont typeface="Wingdings" panose="05000000000000000000" pitchFamily="2" charset="2"/>
              <a:buChar char="u"/>
            </a:pPr>
            <a:r>
              <a:rPr lang="en-US" altLang="zh-CN" sz="2800" dirty="0">
                <a:solidFill>
                  <a:schemeClr val="tx1"/>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ea typeface="黑体" panose="02010609060101010101" pitchFamily="49" charset="-122"/>
              </a:rPr>
              <a:t>开关切换时间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i="1" baseline="-25000" dirty="0">
                <a:solidFill>
                  <a:srgbClr val="FF0000"/>
                </a:solidFill>
                <a:latin typeface="Times New Roman" panose="02020603050405020304" pitchFamily="18" charset="0"/>
                <a:ea typeface="宋体" panose="02010600030101010101" pitchFamily="2" charset="-122"/>
              </a:rPr>
              <a:t>S</a:t>
            </a:r>
            <a:r>
              <a:rPr lang="en-US" altLang="zh-CN" sz="2800" i="1" dirty="0">
                <a:solidFill>
                  <a:srgbClr val="FF0000"/>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ea typeface="黑体" panose="02010609060101010101" pitchFamily="49" charset="-122"/>
              </a:rPr>
              <a:t>（设定时间）</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408455" name="Text Box 7"/>
          <p:cNvSpPr txBox="1"/>
          <p:nvPr/>
        </p:nvSpPr>
        <p:spPr>
          <a:xfrm>
            <a:off x="1685925" y="1917700"/>
            <a:ext cx="7219950" cy="822325"/>
          </a:xfrm>
          <a:prstGeom prst="rect">
            <a:avLst/>
          </a:prstGeom>
          <a:solidFill>
            <a:srgbClr val="CCFFFF"/>
          </a:solidFill>
          <a:ln w="9525">
            <a:noFill/>
          </a:ln>
        </p:spPr>
        <p:txBody>
          <a:bodyPr>
            <a:spAutoFit/>
          </a:bodyPr>
          <a:p>
            <a:pPr eaLnBrk="1" hangingPunct="1">
              <a:buNone/>
            </a:pPr>
            <a:r>
              <a:rPr lang="zh-CN" altLang="en-US" sz="2400" dirty="0">
                <a:latin typeface="Times New Roman" panose="02020603050405020304" pitchFamily="18" charset="0"/>
              </a:rPr>
              <a:t>设</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ON</a:t>
            </a:r>
            <a:r>
              <a:rPr lang="en-US" altLang="zh-CN" sz="2400" dirty="0">
                <a:latin typeface="Times New Roman" panose="02020603050405020304" pitchFamily="18" charset="0"/>
                <a:ea typeface="宋体" panose="02010600030101010101" pitchFamily="2" charset="-122"/>
              </a:rPr>
              <a:t>=100Ω</a:t>
            </a:r>
            <a:r>
              <a:rPr lang="zh-CN" altLang="en-US" sz="2400" dirty="0">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OT</a:t>
            </a:r>
            <a:r>
              <a:rPr lang="en-US" altLang="zh-CN" sz="2400" dirty="0">
                <a:latin typeface="Times New Roman" panose="02020603050405020304" pitchFamily="18" charset="0"/>
                <a:ea typeface="宋体" panose="02010600030101010101" pitchFamily="2" charset="-122"/>
              </a:rPr>
              <a:t>=100pF</a:t>
            </a:r>
            <a:r>
              <a:rPr lang="zh-CN" altLang="en-US" sz="2400" dirty="0">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en-US" altLang="zh-CN" sz="2400" dirty="0">
                <a:latin typeface="Times New Roman" panose="02020603050405020304" pitchFamily="18" charset="0"/>
                <a:ea typeface="宋体" panose="02010600030101010101" pitchFamily="2" charset="-122"/>
              </a:rPr>
              <a:t>=20pF</a:t>
            </a:r>
            <a:r>
              <a:rPr lang="zh-CN" altLang="en-US" sz="2400" dirty="0">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en-US" altLang="zh-CN" sz="2400" dirty="0">
                <a:latin typeface="Times New Roman" panose="02020603050405020304" pitchFamily="18" charset="0"/>
                <a:ea typeface="宋体" panose="02010600030101010101" pitchFamily="2" charset="-122"/>
              </a:rPr>
              <a:t>=10MΩ</a:t>
            </a:r>
            <a:r>
              <a:rPr lang="zh-CN" altLang="en-US" sz="2400" dirty="0">
                <a:latin typeface="Times New Roman" panose="02020603050405020304" pitchFamily="18" charset="0"/>
                <a:ea typeface="宋体" panose="02010600030101010101" pitchFamily="2" charset="-122"/>
              </a:rPr>
              <a:t>， </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I</a:t>
            </a:r>
            <a:r>
              <a:rPr lang="en-US" altLang="zh-CN" sz="2400" dirty="0">
                <a:latin typeface="Times New Roman" panose="02020603050405020304" pitchFamily="18" charset="0"/>
                <a:ea typeface="宋体" panose="02010600030101010101" pitchFamily="2" charset="-122"/>
              </a:rPr>
              <a:t>=5pF</a:t>
            </a:r>
            <a:r>
              <a:rPr lang="zh-CN" altLang="en-US"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rPr>
              <a:t>精度</a:t>
            </a:r>
            <a:r>
              <a:rPr lang="en-US" altLang="zh-CN" sz="2400" dirty="0">
                <a:solidFill>
                  <a:srgbClr val="FF0000"/>
                </a:solidFill>
                <a:latin typeface="Times New Roman" panose="02020603050405020304" pitchFamily="18" charset="0"/>
                <a:ea typeface="宋体" panose="02010600030101010101" pitchFamily="2" charset="-122"/>
              </a:rPr>
              <a:t>0.1%</a:t>
            </a:r>
            <a:r>
              <a:rPr lang="zh-CN" altLang="en-US" sz="2400" dirty="0">
                <a:latin typeface="Times New Roman" panose="02020603050405020304" pitchFamily="18" charset="0"/>
                <a:ea typeface="宋体" panose="02010600030101010101" pitchFamily="2" charset="-122"/>
              </a:rPr>
              <a:t>，</a:t>
            </a:r>
            <a:r>
              <a:rPr lang="zh-CN" altLang="en-US" sz="2400" dirty="0">
                <a:latin typeface="楷体_GB2312" pitchFamily="49" charset="-122"/>
              </a:rPr>
              <a:t>求设定时间。</a:t>
            </a:r>
            <a:endParaRPr lang="zh-CN" altLang="en-US" sz="2400" dirty="0">
              <a:latin typeface="楷体_GB2312" pitchFamily="49" charset="-122"/>
            </a:endParaRPr>
          </a:p>
        </p:txBody>
      </p:sp>
      <p:sp>
        <p:nvSpPr>
          <p:cNvPr id="2408456" name="Text Box 8"/>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6086" name="Text Box 9"/>
          <p:cNvSpPr txBox="1"/>
          <p:nvPr/>
        </p:nvSpPr>
        <p:spPr>
          <a:xfrm>
            <a:off x="534988" y="646113"/>
            <a:ext cx="27971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2. </a:t>
            </a:r>
            <a:r>
              <a:rPr lang="zh-CN" altLang="en-US" dirty="0">
                <a:latin typeface="Times New Roman" panose="02020603050405020304" pitchFamily="18" charset="0"/>
              </a:rPr>
              <a:t>动态响应</a:t>
            </a:r>
            <a:endParaRPr lang="zh-CN" altLang="en-US" dirty="0">
              <a:latin typeface="Times New Roman" panose="02020603050405020304" pitchFamily="18" charset="0"/>
            </a:endParaRPr>
          </a:p>
        </p:txBody>
      </p:sp>
      <p:sp>
        <p:nvSpPr>
          <p:cNvPr id="2408501" name="Text Box 53"/>
          <p:cNvSpPr txBox="1"/>
          <p:nvPr/>
        </p:nvSpPr>
        <p:spPr>
          <a:xfrm>
            <a:off x="247650" y="1971675"/>
            <a:ext cx="1362075"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例子：</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408503" name="Text Box 55"/>
          <p:cNvSpPr txBox="1"/>
          <p:nvPr/>
        </p:nvSpPr>
        <p:spPr>
          <a:xfrm>
            <a:off x="285750" y="2847975"/>
            <a:ext cx="914400" cy="476250"/>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解：</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08504" name="Rectangle 56"/>
          <p:cNvSpPr/>
          <p:nvPr/>
        </p:nvSpPr>
        <p:spPr>
          <a:xfrm>
            <a:off x="1268413" y="2863850"/>
            <a:ext cx="1917700" cy="476250"/>
          </a:xfrm>
          <a:prstGeom prst="rect">
            <a:avLst/>
          </a:prstGeom>
          <a:noFill/>
          <a:ln w="9525">
            <a:noFill/>
          </a:ln>
        </p:spPr>
        <p:txBody>
          <a:bodyPr wrap="none">
            <a:spAutoFit/>
          </a:bodyPr>
          <a:p>
            <a:pPr eaLnBrk="1" hangingPunct="1">
              <a:lnSpc>
                <a:spcPct val="90000"/>
              </a:lnSpc>
            </a:pPr>
            <a:r>
              <a:rPr lang="zh-CN" altLang="en-US" sz="2800" dirty="0">
                <a:solidFill>
                  <a:srgbClr val="FF0000"/>
                </a:solidFill>
                <a:latin typeface="Times New Roman" panose="02020603050405020304" pitchFamily="18" charset="0"/>
              </a:rPr>
              <a:t>当</a:t>
            </a:r>
            <a:r>
              <a:rPr lang="en-US" altLang="zh-CN" sz="2800" i="1" dirty="0">
                <a:solidFill>
                  <a:srgbClr val="FF0000"/>
                </a:solidFill>
                <a:latin typeface="Times New Roman" panose="02020603050405020304" pitchFamily="18" charset="0"/>
              </a:rPr>
              <a:t>R</a:t>
            </a:r>
            <a:r>
              <a:rPr lang="en-US" altLang="zh-CN" sz="2800" i="1" baseline="-25000" dirty="0">
                <a:solidFill>
                  <a:srgbClr val="FF0000"/>
                </a:solidFill>
                <a:latin typeface="Times New Roman" panose="02020603050405020304" pitchFamily="18" charset="0"/>
              </a:rPr>
              <a:t>S</a:t>
            </a:r>
            <a:r>
              <a:rPr lang="en-US" altLang="zh-CN" sz="2800" i="1" dirty="0">
                <a:solidFill>
                  <a:srgbClr val="FF0000"/>
                </a:solidFill>
                <a:latin typeface="Times New Roman" panose="02020603050405020304" pitchFamily="18" charset="0"/>
              </a:rPr>
              <a:t> </a:t>
            </a:r>
            <a:r>
              <a:rPr lang="en-US" altLang="zh-CN" sz="2800" dirty="0">
                <a:solidFill>
                  <a:srgbClr val="FF0000"/>
                </a:solidFill>
                <a:latin typeface="Times New Roman" panose="02020603050405020304" pitchFamily="18" charset="0"/>
              </a:rPr>
              <a:t>= 0 </a:t>
            </a:r>
            <a:r>
              <a:rPr lang="zh-CN" altLang="en-US" sz="2800" dirty="0">
                <a:solidFill>
                  <a:srgbClr val="FF0000"/>
                </a:solidFill>
                <a:latin typeface="Times New Roman" panose="02020603050405020304" pitchFamily="18" charset="0"/>
              </a:rPr>
              <a:t>时</a:t>
            </a:r>
            <a:endParaRPr lang="zh-CN" altLang="en-US" sz="2800" dirty="0">
              <a:solidFill>
                <a:srgbClr val="FF0000"/>
              </a:solidFill>
              <a:latin typeface="Times New Roman" panose="02020603050405020304" pitchFamily="18" charset="0"/>
            </a:endParaRPr>
          </a:p>
        </p:txBody>
      </p:sp>
      <p:graphicFrame>
        <p:nvGraphicFramePr>
          <p:cNvPr id="2408507" name="Object 59"/>
          <p:cNvGraphicFramePr>
            <a:graphicFrameLocks noChangeAspect="1"/>
          </p:cNvGraphicFramePr>
          <p:nvPr/>
        </p:nvGraphicFramePr>
        <p:xfrm>
          <a:off x="1931988" y="4953000"/>
          <a:ext cx="6402387" cy="1211263"/>
        </p:xfrm>
        <a:graphic>
          <a:graphicData uri="http://schemas.openxmlformats.org/presentationml/2006/ole">
            <mc:AlternateContent xmlns:mc="http://schemas.openxmlformats.org/markup-compatibility/2006">
              <mc:Choice xmlns:v="urn:schemas-microsoft-com:vml" Requires="v">
                <p:oleObj spid="_x0000_s3082" name="" r:id="rId3" imgW="3187700" imgH="635000" progId="Equation.3">
                  <p:embed/>
                </p:oleObj>
              </mc:Choice>
              <mc:Fallback>
                <p:oleObj name="" r:id="rId3" imgW="3187700" imgH="635000" progId="Equation.3">
                  <p:embed/>
                  <p:pic>
                    <p:nvPicPr>
                      <p:cNvPr id="0" name="图片 3081"/>
                      <p:cNvPicPr/>
                      <p:nvPr/>
                    </p:nvPicPr>
                    <p:blipFill>
                      <a:blip r:embed="rId4"/>
                      <a:stretch>
                        <a:fillRect/>
                      </a:stretch>
                    </p:blipFill>
                    <p:spPr>
                      <a:xfrm>
                        <a:off x="1931988" y="4953000"/>
                        <a:ext cx="6402387" cy="1211263"/>
                      </a:xfrm>
                      <a:prstGeom prst="rect">
                        <a:avLst/>
                      </a:prstGeom>
                      <a:solidFill>
                        <a:schemeClr val="bg1"/>
                      </a:solidFill>
                      <a:ln w="38100">
                        <a:noFill/>
                        <a:miter/>
                      </a:ln>
                    </p:spPr>
                  </p:pic>
                </p:oleObj>
              </mc:Fallback>
            </mc:AlternateContent>
          </a:graphicData>
        </a:graphic>
      </p:graphicFrame>
      <p:sp>
        <p:nvSpPr>
          <p:cNvPr id="2408506" name="Rectangle 58"/>
          <p:cNvSpPr/>
          <p:nvPr/>
        </p:nvSpPr>
        <p:spPr>
          <a:xfrm>
            <a:off x="1255713" y="4594225"/>
            <a:ext cx="2719387" cy="476250"/>
          </a:xfrm>
          <a:prstGeom prst="rect">
            <a:avLst/>
          </a:prstGeom>
          <a:noFill/>
          <a:ln w="9525">
            <a:noFill/>
          </a:ln>
        </p:spPr>
        <p:txBody>
          <a:bodyPr wrap="none">
            <a:spAutoFit/>
          </a:bodyPr>
          <a:p>
            <a:pPr eaLnBrk="1" hangingPunct="1">
              <a:lnSpc>
                <a:spcPct val="90000"/>
              </a:lnSpc>
            </a:pPr>
            <a:r>
              <a:rPr lang="zh-CN" altLang="en-US" sz="2800" dirty="0">
                <a:solidFill>
                  <a:srgbClr val="FF0000"/>
                </a:solidFill>
                <a:latin typeface="Times New Roman" panose="02020603050405020304" pitchFamily="18" charset="0"/>
              </a:rPr>
              <a:t>当</a:t>
            </a:r>
            <a:r>
              <a:rPr lang="en-US" altLang="zh-CN" sz="2800" i="1" dirty="0">
                <a:solidFill>
                  <a:srgbClr val="FF0000"/>
                </a:solidFill>
                <a:latin typeface="Times New Roman" panose="02020603050405020304" pitchFamily="18" charset="0"/>
              </a:rPr>
              <a:t>R</a:t>
            </a:r>
            <a:r>
              <a:rPr lang="en-US" altLang="zh-CN" sz="2800" i="1" baseline="-25000" dirty="0">
                <a:solidFill>
                  <a:srgbClr val="FF0000"/>
                </a:solidFill>
                <a:latin typeface="Times New Roman" panose="02020603050405020304" pitchFamily="18" charset="0"/>
              </a:rPr>
              <a:t>S</a:t>
            </a:r>
            <a:r>
              <a:rPr lang="en-US" altLang="zh-CN" sz="2800" i="1" dirty="0">
                <a:solidFill>
                  <a:srgbClr val="FF0000"/>
                </a:solidFill>
                <a:latin typeface="Times New Roman" panose="02020603050405020304" pitchFamily="18" charset="0"/>
              </a:rPr>
              <a:t> </a:t>
            </a:r>
            <a:r>
              <a:rPr lang="en-US" altLang="zh-CN" sz="2800" dirty="0">
                <a:solidFill>
                  <a:srgbClr val="FF0000"/>
                </a:solidFill>
                <a:latin typeface="Times New Roman" panose="02020603050405020304" pitchFamily="18" charset="0"/>
              </a:rPr>
              <a:t>= 2000Ω</a:t>
            </a:r>
            <a:r>
              <a:rPr lang="zh-CN" altLang="en-US" sz="2800" dirty="0">
                <a:solidFill>
                  <a:srgbClr val="FF0000"/>
                </a:solidFill>
                <a:latin typeface="Times New Roman" panose="02020603050405020304" pitchFamily="18" charset="0"/>
              </a:rPr>
              <a:t>时</a:t>
            </a:r>
            <a:endParaRPr lang="zh-CN" altLang="en-US" sz="28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8501"/>
                                        </p:tgtEl>
                                        <p:attrNameLst>
                                          <p:attrName>style.visibility</p:attrName>
                                        </p:attrNameLst>
                                      </p:cBhvr>
                                      <p:to>
                                        <p:strVal val="visible"/>
                                      </p:to>
                                    </p:set>
                                    <p:animEffect transition="in" filter="dissolve">
                                      <p:cBhvr>
                                        <p:cTn id="7" dur="500"/>
                                        <p:tgtEl>
                                          <p:spTgt spid="24085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8455"/>
                                        </p:tgtEl>
                                        <p:attrNameLst>
                                          <p:attrName>style.visibility</p:attrName>
                                        </p:attrNameLst>
                                      </p:cBhvr>
                                      <p:to>
                                        <p:strVal val="visible"/>
                                      </p:to>
                                    </p:set>
                                    <p:animEffect transition="in" filter="dissolve">
                                      <p:cBhvr>
                                        <p:cTn id="12" dur="500"/>
                                        <p:tgtEl>
                                          <p:spTgt spid="24084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8503"/>
                                        </p:tgtEl>
                                        <p:attrNameLst>
                                          <p:attrName>style.visibility</p:attrName>
                                        </p:attrNameLst>
                                      </p:cBhvr>
                                      <p:to>
                                        <p:strVal val="visible"/>
                                      </p:to>
                                    </p:set>
                                    <p:animEffect transition="in" filter="dissolve">
                                      <p:cBhvr>
                                        <p:cTn id="17" dur="500"/>
                                        <p:tgtEl>
                                          <p:spTgt spid="240850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8504"/>
                                        </p:tgtEl>
                                        <p:attrNameLst>
                                          <p:attrName>style.visibility</p:attrName>
                                        </p:attrNameLst>
                                      </p:cBhvr>
                                      <p:to>
                                        <p:strVal val="visible"/>
                                      </p:to>
                                    </p:set>
                                    <p:animEffect transition="in" filter="dissolve">
                                      <p:cBhvr>
                                        <p:cTn id="22" dur="500"/>
                                        <p:tgtEl>
                                          <p:spTgt spid="240850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8505"/>
                                        </p:tgtEl>
                                        <p:attrNameLst>
                                          <p:attrName>style.visibility</p:attrName>
                                        </p:attrNameLst>
                                      </p:cBhvr>
                                      <p:to>
                                        <p:strVal val="visible"/>
                                      </p:to>
                                    </p:set>
                                    <p:animEffect transition="in" filter="dissolve">
                                      <p:cBhvr>
                                        <p:cTn id="27" dur="500"/>
                                        <p:tgtEl>
                                          <p:spTgt spid="240850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08506"/>
                                        </p:tgtEl>
                                        <p:attrNameLst>
                                          <p:attrName>style.visibility</p:attrName>
                                        </p:attrNameLst>
                                      </p:cBhvr>
                                      <p:to>
                                        <p:strVal val="visible"/>
                                      </p:to>
                                    </p:set>
                                    <p:animEffect transition="in" filter="dissolve">
                                      <p:cBhvr>
                                        <p:cTn id="32" dur="500"/>
                                        <p:tgtEl>
                                          <p:spTgt spid="240850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08507"/>
                                        </p:tgtEl>
                                        <p:attrNameLst>
                                          <p:attrName>style.visibility</p:attrName>
                                        </p:attrNameLst>
                                      </p:cBhvr>
                                      <p:to>
                                        <p:strVal val="visible"/>
                                      </p:to>
                                    </p:set>
                                    <p:animEffect transition="in" filter="dissolve">
                                      <p:cBhvr>
                                        <p:cTn id="37" dur="500"/>
                                        <p:tgtEl>
                                          <p:spTgt spid="24085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8455" grpId="0" animBg="1"/>
      <p:bldP spid="2408501" grpId="0" animBg="1"/>
      <p:bldP spid="2408503" grpId="0" animBg="1"/>
      <p:bldP spid="2408504" grpId="0"/>
      <p:bldP spid="2408506"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5998" name="Text Box 14"/>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7107" name="Text Box 15"/>
          <p:cNvSpPr txBox="1"/>
          <p:nvPr/>
        </p:nvSpPr>
        <p:spPr>
          <a:xfrm>
            <a:off x="415925" y="1312863"/>
            <a:ext cx="4179888" cy="519112"/>
          </a:xfrm>
          <a:prstGeom prst="rect">
            <a:avLst/>
          </a:prstGeom>
          <a:noFill/>
          <a:ln w="9525">
            <a:noFill/>
          </a:ln>
        </p:spPr>
        <p:txBody>
          <a:bodyPr wrap="none">
            <a:spAutoFit/>
          </a:bodyPr>
          <a:p>
            <a:pPr eaLnBrk="1" hangingPunct="1">
              <a:buClr>
                <a:srgbClr val="FF0000"/>
              </a:buClr>
              <a:buFont typeface="Wingdings" panose="05000000000000000000" pitchFamily="2" charset="2"/>
              <a:buChar char="u"/>
            </a:pPr>
            <a:r>
              <a:rPr lang="en-US" altLang="zh-CN" sz="2800" dirty="0">
                <a:solidFill>
                  <a:schemeClr val="tx1"/>
                </a:solidFill>
                <a:latin typeface="Times New Roman" panose="02020603050405020304" pitchFamily="18" charset="0"/>
                <a:ea typeface="宋体" panose="02010600030101010101" pitchFamily="2" charset="-122"/>
              </a:rPr>
              <a:t> </a:t>
            </a:r>
            <a:r>
              <a:rPr lang="zh-CN" altLang="en-US" sz="2800" dirty="0">
                <a:solidFill>
                  <a:schemeClr val="tx1"/>
                </a:solidFill>
                <a:latin typeface="Times New Roman" panose="02020603050405020304" pitchFamily="18" charset="0"/>
                <a:ea typeface="黑体" panose="02010609060101010101" pitchFamily="49" charset="-122"/>
              </a:rPr>
              <a:t>开关闭合时系统的带宽</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47108" name="Text Box 16"/>
          <p:cNvSpPr txBox="1"/>
          <p:nvPr/>
        </p:nvSpPr>
        <p:spPr>
          <a:xfrm>
            <a:off x="534988" y="646113"/>
            <a:ext cx="27971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2. </a:t>
            </a:r>
            <a:r>
              <a:rPr lang="zh-CN" altLang="en-US" dirty="0">
                <a:latin typeface="Times New Roman" panose="02020603050405020304" pitchFamily="18" charset="0"/>
              </a:rPr>
              <a:t>动态响应</a:t>
            </a:r>
            <a:endParaRPr lang="zh-CN" altLang="en-US" dirty="0">
              <a:latin typeface="Times New Roman" panose="02020603050405020304" pitchFamily="18" charset="0"/>
            </a:endParaRPr>
          </a:p>
        </p:txBody>
      </p:sp>
      <p:sp>
        <p:nvSpPr>
          <p:cNvPr id="2346001" name="Text Box 17"/>
          <p:cNvSpPr txBox="1"/>
          <p:nvPr/>
        </p:nvSpPr>
        <p:spPr>
          <a:xfrm>
            <a:off x="257175" y="2619375"/>
            <a:ext cx="1314450" cy="530225"/>
          </a:xfrm>
          <a:prstGeom prst="rect">
            <a:avLst/>
          </a:prstGeom>
          <a:solidFill>
            <a:srgbClr val="FFCC99"/>
          </a:solidFill>
          <a:ln w="9525">
            <a:noFill/>
          </a:ln>
        </p:spPr>
        <p:txBody>
          <a:bodyPr>
            <a:spAutoFit/>
          </a:bodyPr>
          <a:p>
            <a:pPr eaLnBrk="1" hangingPunct="1">
              <a:lnSpc>
                <a:spcPct val="90000"/>
              </a:lnSpc>
              <a:spcBef>
                <a:spcPct val="50000"/>
              </a:spcBef>
            </a:pPr>
            <a:r>
              <a:rPr lang="zh-CN" altLang="en-US" sz="3200" dirty="0">
                <a:solidFill>
                  <a:srgbClr val="FF0000"/>
                </a:solidFill>
                <a:latin typeface="Times New Roman" panose="02020603050405020304" pitchFamily="18" charset="0"/>
                <a:ea typeface="黑体" panose="02010609060101010101" pitchFamily="49" charset="-122"/>
              </a:rPr>
              <a:t>讨论：</a:t>
            </a:r>
            <a:endParaRPr lang="zh-CN" altLang="en-US" sz="3200" dirty="0">
              <a:solidFill>
                <a:srgbClr val="FF0000"/>
              </a:solidFill>
              <a:latin typeface="Times New Roman" panose="02020603050405020304" pitchFamily="18" charset="0"/>
              <a:ea typeface="黑体" panose="02010609060101010101" pitchFamily="49" charset="-122"/>
            </a:endParaRPr>
          </a:p>
        </p:txBody>
      </p:sp>
      <p:sp>
        <p:nvSpPr>
          <p:cNvPr id="2346002" name="Text Box 18"/>
          <p:cNvSpPr txBox="1"/>
          <p:nvPr/>
        </p:nvSpPr>
        <p:spPr>
          <a:xfrm>
            <a:off x="1495425" y="1993900"/>
            <a:ext cx="3076575" cy="519113"/>
          </a:xfrm>
          <a:prstGeom prst="rect">
            <a:avLst/>
          </a:prstGeom>
          <a:noFill/>
          <a:ln w="9525">
            <a:noFill/>
          </a:ln>
        </p:spPr>
        <p:txBody>
          <a:bodyPr>
            <a:spAutoFit/>
          </a:bodyPr>
          <a:p>
            <a:pPr eaLnBrk="1" hangingPunct="1"/>
            <a:r>
              <a:rPr lang="zh-CN" altLang="en-US" sz="2800" dirty="0">
                <a:latin typeface="Times New Roman" panose="02020603050405020304" pitchFamily="18" charset="0"/>
                <a:ea typeface="黑体" panose="02010609060101010101" pitchFamily="49" charset="-122"/>
              </a:rPr>
              <a:t>等效电路的带宽：</a:t>
            </a:r>
            <a:endParaRPr lang="zh-CN" altLang="en-US" sz="2800" dirty="0">
              <a:latin typeface="Times New Roman" panose="02020603050405020304" pitchFamily="18" charset="0"/>
              <a:ea typeface="黑体" panose="02010609060101010101" pitchFamily="49" charset="-122"/>
            </a:endParaRPr>
          </a:p>
        </p:txBody>
      </p:sp>
      <p:graphicFrame>
        <p:nvGraphicFramePr>
          <p:cNvPr id="2346003" name="Object 19"/>
          <p:cNvGraphicFramePr>
            <a:graphicFrameLocks noChangeAspect="1"/>
          </p:cNvGraphicFramePr>
          <p:nvPr/>
        </p:nvGraphicFramePr>
        <p:xfrm>
          <a:off x="4510088" y="1822450"/>
          <a:ext cx="3241675" cy="944563"/>
        </p:xfrm>
        <a:graphic>
          <a:graphicData uri="http://schemas.openxmlformats.org/presentationml/2006/ole">
            <mc:AlternateContent xmlns:mc="http://schemas.openxmlformats.org/markup-compatibility/2006">
              <mc:Choice xmlns:v="urn:schemas-microsoft-com:vml" Requires="v">
                <p:oleObj spid="_x0000_s3083" name="" r:id="rId1" imgW="1473200" imgH="431800" progId="Equation.3">
                  <p:embed/>
                </p:oleObj>
              </mc:Choice>
              <mc:Fallback>
                <p:oleObj name="" r:id="rId1" imgW="1473200" imgH="431800" progId="Equation.3">
                  <p:embed/>
                  <p:pic>
                    <p:nvPicPr>
                      <p:cNvPr id="0" name="图片 3082"/>
                      <p:cNvPicPr/>
                      <p:nvPr/>
                    </p:nvPicPr>
                    <p:blipFill>
                      <a:blip r:embed="rId2"/>
                      <a:stretch>
                        <a:fillRect/>
                      </a:stretch>
                    </p:blipFill>
                    <p:spPr>
                      <a:xfrm>
                        <a:off x="4510088" y="1822450"/>
                        <a:ext cx="3241675" cy="944563"/>
                      </a:xfrm>
                      <a:prstGeom prst="rect">
                        <a:avLst/>
                      </a:prstGeom>
                      <a:solidFill>
                        <a:srgbClr val="CCFFFF"/>
                      </a:solidFill>
                      <a:ln w="38100">
                        <a:noFill/>
                        <a:miter/>
                      </a:ln>
                    </p:spPr>
                  </p:pic>
                </p:oleObj>
              </mc:Fallback>
            </mc:AlternateContent>
          </a:graphicData>
        </a:graphic>
      </p:graphicFrame>
      <p:sp>
        <p:nvSpPr>
          <p:cNvPr id="2346004" name="Text Box 20"/>
          <p:cNvSpPr txBox="1"/>
          <p:nvPr/>
        </p:nvSpPr>
        <p:spPr>
          <a:xfrm>
            <a:off x="981075" y="3295650"/>
            <a:ext cx="7753350" cy="1077913"/>
          </a:xfrm>
          <a:prstGeom prst="rect">
            <a:avLst/>
          </a:prstGeom>
          <a:noFill/>
          <a:ln w="9525">
            <a:noFill/>
          </a:ln>
        </p:spPr>
        <p:txBody>
          <a:bodyPr>
            <a:spAutoFit/>
          </a:bodyPr>
          <a:p>
            <a:pPr eaLnBrk="1" hangingPunct="1">
              <a:lnSpc>
                <a:spcPct val="90000"/>
              </a:lnSpc>
              <a:spcBef>
                <a:spcPct val="50000"/>
              </a:spcBef>
            </a:pP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i="1" baseline="-25000" dirty="0">
                <a:solidFill>
                  <a:srgbClr val="FF0000"/>
                </a:solidFill>
                <a:latin typeface="Times New Roman" panose="02020603050405020304" pitchFamily="18" charset="0"/>
                <a:ea typeface="黑体" panose="02010609060101010101" pitchFamily="49" charset="-122"/>
              </a:rPr>
              <a:t>S</a:t>
            </a:r>
            <a:r>
              <a:rPr lang="zh-CN" altLang="en-US" sz="2400" dirty="0">
                <a:latin typeface="Times New Roman" panose="02020603050405020304" pitchFamily="18" charset="0"/>
                <a:ea typeface="黑体" panose="02010609060101010101" pitchFamily="49" charset="-122"/>
              </a:rPr>
              <a:t>对多路开关的切换时间有重要影响，</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i="1" baseline="-25000" dirty="0">
                <a:solidFill>
                  <a:srgbClr val="FF0000"/>
                </a:solidFill>
                <a:latin typeface="Times New Roman" panose="02020603050405020304" pitchFamily="18" charset="0"/>
                <a:ea typeface="黑体" panose="02010609060101010101" pitchFamily="49" charset="-122"/>
              </a:rPr>
              <a:t>S</a:t>
            </a:r>
            <a:r>
              <a:rPr lang="zh-CN" altLang="en-US" sz="2400" dirty="0">
                <a:latin typeface="Times New Roman" panose="02020603050405020304" pitchFamily="18" charset="0"/>
                <a:ea typeface="黑体" panose="02010609060101010101" pitchFamily="49" charset="-122"/>
              </a:rPr>
              <a:t>越小，开关的动作就越快；对于高内阻的信号源，可用阻抗变换器</a:t>
            </a:r>
            <a:r>
              <a:rPr lang="en-US" altLang="zh-CN" sz="2400" dirty="0">
                <a:latin typeface="Times New Roman" panose="02020603050405020304" pitchFamily="18" charset="0"/>
                <a:ea typeface="黑体" panose="02010609060101010101" pitchFamily="49" charset="-122"/>
              </a:rPr>
              <a:t>(</a:t>
            </a:r>
            <a:r>
              <a:rPr lang="zh-CN" altLang="en-US" sz="2400" dirty="0">
                <a:latin typeface="Times New Roman" panose="02020603050405020304" pitchFamily="18" charset="0"/>
                <a:ea typeface="黑体" panose="02010609060101010101" pitchFamily="49" charset="-122"/>
              </a:rPr>
              <a:t>如跟随器</a:t>
            </a:r>
            <a:r>
              <a:rPr lang="en-US" altLang="zh-CN" sz="2400" dirty="0">
                <a:latin typeface="Times New Roman" panose="02020603050405020304" pitchFamily="18" charset="0"/>
                <a:ea typeface="黑体" panose="02010609060101010101" pitchFamily="49" charset="-122"/>
              </a:rPr>
              <a:t>)</a:t>
            </a:r>
            <a:r>
              <a:rPr lang="zh-CN" altLang="en-US" sz="2400" dirty="0">
                <a:latin typeface="Times New Roman" panose="02020603050405020304" pitchFamily="18" charset="0"/>
                <a:ea typeface="黑体" panose="02010609060101010101" pitchFamily="49" charset="-122"/>
              </a:rPr>
              <a:t>，将阻抗变低再接多路开关。</a:t>
            </a:r>
            <a:endParaRPr lang="zh-CN" altLang="en-US" sz="2400" dirty="0">
              <a:latin typeface="Times New Roman" panose="02020603050405020304" pitchFamily="18" charset="0"/>
              <a:ea typeface="黑体" panose="02010609060101010101" pitchFamily="49" charset="-122"/>
            </a:endParaRPr>
          </a:p>
        </p:txBody>
      </p:sp>
      <p:sp>
        <p:nvSpPr>
          <p:cNvPr id="2346006" name="Text Box 22"/>
          <p:cNvSpPr txBox="1"/>
          <p:nvPr/>
        </p:nvSpPr>
        <p:spPr>
          <a:xfrm>
            <a:off x="968375" y="4425950"/>
            <a:ext cx="7753350" cy="749300"/>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ea typeface="黑体" panose="02010609060101010101" pitchFamily="49" charset="-122"/>
              </a:rPr>
              <a:t>同样，</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i="1" baseline="-25000" dirty="0">
                <a:solidFill>
                  <a:srgbClr val="FF0000"/>
                </a:solidFill>
                <a:latin typeface="Times New Roman" panose="02020603050405020304" pitchFamily="18" charset="0"/>
                <a:ea typeface="黑体" panose="02010609060101010101" pitchFamily="49" charset="-122"/>
              </a:rPr>
              <a:t>ON</a:t>
            </a:r>
            <a:r>
              <a:rPr lang="zh-CN" altLang="en-US" sz="2400" dirty="0">
                <a:latin typeface="Times New Roman" panose="02020603050405020304" pitchFamily="18" charset="0"/>
                <a:ea typeface="黑体" panose="02010609060101010101" pitchFamily="49" charset="-122"/>
              </a:rPr>
              <a:t>越小，开关的动作就越快；通常可以通过提高多路开关的电源电平，来减少</a:t>
            </a:r>
            <a:r>
              <a:rPr lang="en-US" altLang="zh-CN" sz="2400" i="1" dirty="0">
                <a:solidFill>
                  <a:srgbClr val="FF0000"/>
                </a:solidFill>
                <a:latin typeface="Times New Roman" panose="02020603050405020304" pitchFamily="18" charset="0"/>
                <a:ea typeface="黑体" panose="02010609060101010101" pitchFamily="49" charset="-122"/>
              </a:rPr>
              <a:t>R</a:t>
            </a:r>
            <a:r>
              <a:rPr lang="en-US" altLang="zh-CN" sz="2400" i="1" baseline="-25000" dirty="0">
                <a:solidFill>
                  <a:srgbClr val="FF0000"/>
                </a:solidFill>
                <a:latin typeface="Times New Roman" panose="02020603050405020304" pitchFamily="18" charset="0"/>
                <a:ea typeface="黑体" panose="02010609060101010101" pitchFamily="49" charset="-122"/>
              </a:rPr>
              <a:t>ON</a:t>
            </a:r>
            <a:r>
              <a:rPr lang="zh-CN" altLang="en-US" sz="2400" dirty="0">
                <a:latin typeface="Times New Roman" panose="02020603050405020304" pitchFamily="18" charset="0"/>
                <a:ea typeface="黑体" panose="02010609060101010101" pitchFamily="49" charset="-122"/>
              </a:rPr>
              <a:t>，从而加快开关动作。</a:t>
            </a:r>
            <a:endParaRPr lang="zh-CN" altLang="en-US" sz="2400" dirty="0">
              <a:latin typeface="Times New Roman" panose="02020603050405020304" pitchFamily="18" charset="0"/>
              <a:ea typeface="黑体" panose="02010609060101010101" pitchFamily="49" charset="-122"/>
            </a:endParaRPr>
          </a:p>
        </p:txBody>
      </p:sp>
      <p:sp>
        <p:nvSpPr>
          <p:cNvPr id="2346008" name="Text Box 24"/>
          <p:cNvSpPr txBox="1"/>
          <p:nvPr/>
        </p:nvSpPr>
        <p:spPr>
          <a:xfrm>
            <a:off x="974725" y="5280025"/>
            <a:ext cx="7753350" cy="749300"/>
          </a:xfrm>
          <a:prstGeom prst="rect">
            <a:avLst/>
          </a:prstGeom>
          <a:noFill/>
          <a:ln w="9525">
            <a:noFill/>
          </a:ln>
        </p:spPr>
        <p:txBody>
          <a:bodyPr>
            <a:spAutoFit/>
          </a:bodyPr>
          <a:p>
            <a:pPr eaLnBrk="1" hangingPunct="1">
              <a:lnSpc>
                <a:spcPct val="90000"/>
              </a:lnSpc>
              <a:spcBef>
                <a:spcPct val="50000"/>
              </a:spcBef>
            </a:pP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i="1" baseline="-25000" dirty="0">
                <a:solidFill>
                  <a:srgbClr val="FF0000"/>
                </a:solidFill>
                <a:latin typeface="Times New Roman" panose="02020603050405020304" pitchFamily="18" charset="0"/>
                <a:ea typeface="黑体" panose="02010609060101010101" pitchFamily="49" charset="-122"/>
              </a:rPr>
              <a:t>OT</a:t>
            </a:r>
            <a:r>
              <a:rPr lang="zh-CN" altLang="en-US" sz="2400" dirty="0">
                <a:latin typeface="Times New Roman" panose="02020603050405020304" pitchFamily="18" charset="0"/>
                <a:ea typeface="黑体" panose="02010609060101010101" pitchFamily="49" charset="-122"/>
              </a:rPr>
              <a:t>越小，开关的动作就越快；可以采用开关分级组合结构，将使输出总电容由</a:t>
            </a:r>
            <a:r>
              <a:rPr lang="en-US" altLang="zh-CN" sz="2400" dirty="0">
                <a:solidFill>
                  <a:srgbClr val="FF0000"/>
                </a:solidFill>
                <a:latin typeface="Times New Roman" panose="02020603050405020304" pitchFamily="18" charset="0"/>
                <a:ea typeface="黑体" panose="02010609060101010101" pitchFamily="49" charset="-122"/>
              </a:rPr>
              <a:t>3</a:t>
            </a:r>
            <a:r>
              <a:rPr lang="en-US" altLang="zh-CN" sz="2400" i="1" dirty="0">
                <a:solidFill>
                  <a:srgbClr val="FF0000"/>
                </a:solidFill>
                <a:latin typeface="Times New Roman" panose="02020603050405020304" pitchFamily="18" charset="0"/>
                <a:ea typeface="黑体" panose="02010609060101010101" pitchFamily="49" charset="-122"/>
              </a:rPr>
              <a:t>nC</a:t>
            </a:r>
            <a:r>
              <a:rPr lang="en-US" altLang="zh-CN" sz="2400" i="1" baseline="-25000" dirty="0">
                <a:solidFill>
                  <a:srgbClr val="FF0000"/>
                </a:solidFill>
                <a:latin typeface="Times New Roman" panose="02020603050405020304" pitchFamily="18" charset="0"/>
                <a:ea typeface="黑体" panose="02010609060101010101" pitchFamily="49" charset="-122"/>
              </a:rPr>
              <a:t>O</a:t>
            </a:r>
            <a:r>
              <a:rPr lang="zh-CN" altLang="en-US" sz="2400" dirty="0">
                <a:latin typeface="Times New Roman" panose="02020603050405020304" pitchFamily="18" charset="0"/>
                <a:ea typeface="黑体" panose="02010609060101010101" pitchFamily="49" charset="-122"/>
              </a:rPr>
              <a:t>降至</a:t>
            </a:r>
            <a:r>
              <a:rPr lang="en-US" altLang="zh-CN" sz="2400" dirty="0">
                <a:solidFill>
                  <a:srgbClr val="FF0000"/>
                </a:solidFill>
                <a:latin typeface="Times New Roman" panose="02020603050405020304" pitchFamily="18" charset="0"/>
                <a:ea typeface="黑体" panose="02010609060101010101" pitchFamily="49" charset="-122"/>
              </a:rPr>
              <a:t>(</a:t>
            </a:r>
            <a:r>
              <a:rPr lang="en-US" altLang="zh-CN" sz="2400" i="1" dirty="0">
                <a:solidFill>
                  <a:srgbClr val="FF0000"/>
                </a:solidFill>
                <a:latin typeface="Times New Roman" panose="02020603050405020304" pitchFamily="18" charset="0"/>
                <a:ea typeface="黑体" panose="02010609060101010101" pitchFamily="49" charset="-122"/>
              </a:rPr>
              <a:t>n</a:t>
            </a:r>
            <a:r>
              <a:rPr lang="en-US" altLang="zh-CN" sz="2400" dirty="0">
                <a:solidFill>
                  <a:srgbClr val="FF0000"/>
                </a:solidFill>
                <a:latin typeface="Times New Roman" panose="02020603050405020304" pitchFamily="18" charset="0"/>
                <a:ea typeface="黑体" panose="02010609060101010101" pitchFamily="49" charset="-122"/>
              </a:rPr>
              <a:t>+3)</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i="1" baseline="-25000" dirty="0">
                <a:solidFill>
                  <a:srgbClr val="FF0000"/>
                </a:solidFill>
                <a:latin typeface="Times New Roman" panose="02020603050405020304" pitchFamily="18" charset="0"/>
                <a:ea typeface="黑体" panose="02010609060101010101" pitchFamily="49" charset="-122"/>
              </a:rPr>
              <a:t>O</a:t>
            </a:r>
            <a:r>
              <a:rPr lang="zh-CN" altLang="en-US" sz="2400" dirty="0">
                <a:latin typeface="Times New Roman" panose="02020603050405020304" pitchFamily="18" charset="0"/>
                <a:ea typeface="黑体" panose="02010609060101010101" pitchFamily="49" charset="-122"/>
              </a:rPr>
              <a:t>。</a:t>
            </a:r>
            <a:endParaRPr lang="zh-CN" altLang="en-US" sz="2400" dirty="0">
              <a:latin typeface="Times New Roman" panose="02020603050405020304" pitchFamily="18" charset="0"/>
              <a:ea typeface="黑体" panose="02010609060101010101" pitchFamily="49" charset="-122"/>
            </a:endParaRPr>
          </a:p>
        </p:txBody>
      </p:sp>
      <p:sp>
        <p:nvSpPr>
          <p:cNvPr id="2346009" name="Text Box 25"/>
          <p:cNvSpPr txBox="1"/>
          <p:nvPr/>
        </p:nvSpPr>
        <p:spPr>
          <a:xfrm>
            <a:off x="381000" y="3314700"/>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
        <p:nvSpPr>
          <p:cNvPr id="2346010" name="Text Box 26"/>
          <p:cNvSpPr txBox="1"/>
          <p:nvPr/>
        </p:nvSpPr>
        <p:spPr>
          <a:xfrm>
            <a:off x="381000" y="4419600"/>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
        <p:nvSpPr>
          <p:cNvPr id="2346011" name="Text Box 27"/>
          <p:cNvSpPr txBox="1"/>
          <p:nvPr/>
        </p:nvSpPr>
        <p:spPr>
          <a:xfrm>
            <a:off x="381000" y="5295900"/>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46002"/>
                                        </p:tgtEl>
                                        <p:attrNameLst>
                                          <p:attrName>style.visibility</p:attrName>
                                        </p:attrNameLst>
                                      </p:cBhvr>
                                      <p:to>
                                        <p:strVal val="visible"/>
                                      </p:to>
                                    </p:set>
                                    <p:animEffect transition="in" filter="dissolve">
                                      <p:cBhvr>
                                        <p:cTn id="7" dur="500"/>
                                        <p:tgtEl>
                                          <p:spTgt spid="2346002"/>
                                        </p:tgtEl>
                                      </p:cBhvr>
                                    </p:animEffect>
                                  </p:childTnLst>
                                </p:cTn>
                              </p:par>
                              <p:par>
                                <p:cTn id="8" presetID="9" presetClass="entr" presetSubtype="0" fill="hold" nodeType="withEffect">
                                  <p:stCondLst>
                                    <p:cond delay="0"/>
                                  </p:stCondLst>
                                  <p:childTnLst>
                                    <p:set>
                                      <p:cBhvr>
                                        <p:cTn id="9" dur="1" fill="hold">
                                          <p:stCondLst>
                                            <p:cond delay="0"/>
                                          </p:stCondLst>
                                        </p:cTn>
                                        <p:tgtEl>
                                          <p:spTgt spid="2346003"/>
                                        </p:tgtEl>
                                        <p:attrNameLst>
                                          <p:attrName>style.visibility</p:attrName>
                                        </p:attrNameLst>
                                      </p:cBhvr>
                                      <p:to>
                                        <p:strVal val="visible"/>
                                      </p:to>
                                    </p:set>
                                    <p:animEffect transition="in" filter="dissolve">
                                      <p:cBhvr>
                                        <p:cTn id="10" dur="500"/>
                                        <p:tgtEl>
                                          <p:spTgt spid="2346003"/>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346001"/>
                                        </p:tgtEl>
                                        <p:attrNameLst>
                                          <p:attrName>style.visibility</p:attrName>
                                        </p:attrNameLst>
                                      </p:cBhvr>
                                      <p:to>
                                        <p:strVal val="visible"/>
                                      </p:to>
                                    </p:set>
                                    <p:animEffect transition="in" filter="dissolve">
                                      <p:cBhvr>
                                        <p:cTn id="15" dur="500"/>
                                        <p:tgtEl>
                                          <p:spTgt spid="234600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46009"/>
                                        </p:tgtEl>
                                        <p:attrNameLst>
                                          <p:attrName>style.visibility</p:attrName>
                                        </p:attrNameLst>
                                      </p:cBhvr>
                                      <p:to>
                                        <p:strVal val="visible"/>
                                      </p:to>
                                    </p:set>
                                    <p:animEffect transition="in" filter="dissolve">
                                      <p:cBhvr>
                                        <p:cTn id="20" dur="500"/>
                                        <p:tgtEl>
                                          <p:spTgt spid="2346009"/>
                                        </p:tgtEl>
                                      </p:cBhvr>
                                    </p:animEffect>
                                  </p:childTnLst>
                                </p:cTn>
                              </p:par>
                              <p:par>
                                <p:cTn id="21" presetID="9" presetClass="entr" presetSubtype="0" fill="hold" nodeType="withEffect">
                                  <p:stCondLst>
                                    <p:cond delay="0"/>
                                  </p:stCondLst>
                                  <p:childTnLst>
                                    <p:set>
                                      <p:cBhvr>
                                        <p:cTn id="22" dur="1" fill="hold">
                                          <p:stCondLst>
                                            <p:cond delay="0"/>
                                          </p:stCondLst>
                                        </p:cTn>
                                        <p:tgtEl>
                                          <p:spTgt spid="2346004"/>
                                        </p:tgtEl>
                                        <p:attrNameLst>
                                          <p:attrName>style.visibility</p:attrName>
                                        </p:attrNameLst>
                                      </p:cBhvr>
                                      <p:to>
                                        <p:strVal val="visible"/>
                                      </p:to>
                                    </p:set>
                                    <p:animEffect transition="in" filter="dissolve">
                                      <p:cBhvr>
                                        <p:cTn id="23" dur="500"/>
                                        <p:tgtEl>
                                          <p:spTgt spid="2346004"/>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46010"/>
                                        </p:tgtEl>
                                        <p:attrNameLst>
                                          <p:attrName>style.visibility</p:attrName>
                                        </p:attrNameLst>
                                      </p:cBhvr>
                                      <p:to>
                                        <p:strVal val="visible"/>
                                      </p:to>
                                    </p:set>
                                    <p:animEffect transition="in" filter="dissolve">
                                      <p:cBhvr>
                                        <p:cTn id="28" dur="500"/>
                                        <p:tgtEl>
                                          <p:spTgt spid="2346010"/>
                                        </p:tgtEl>
                                      </p:cBhvr>
                                    </p:animEffect>
                                  </p:childTnLst>
                                </p:cTn>
                              </p:par>
                              <p:par>
                                <p:cTn id="29" presetID="9" presetClass="entr" presetSubtype="0" fill="hold" nodeType="withEffect">
                                  <p:stCondLst>
                                    <p:cond delay="0"/>
                                  </p:stCondLst>
                                  <p:childTnLst>
                                    <p:set>
                                      <p:cBhvr>
                                        <p:cTn id="30" dur="1" fill="hold">
                                          <p:stCondLst>
                                            <p:cond delay="0"/>
                                          </p:stCondLst>
                                        </p:cTn>
                                        <p:tgtEl>
                                          <p:spTgt spid="2346006"/>
                                        </p:tgtEl>
                                        <p:attrNameLst>
                                          <p:attrName>style.visibility</p:attrName>
                                        </p:attrNameLst>
                                      </p:cBhvr>
                                      <p:to>
                                        <p:strVal val="visible"/>
                                      </p:to>
                                    </p:set>
                                    <p:animEffect transition="in" filter="dissolve">
                                      <p:cBhvr>
                                        <p:cTn id="31" dur="500"/>
                                        <p:tgtEl>
                                          <p:spTgt spid="2346006"/>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346011"/>
                                        </p:tgtEl>
                                        <p:attrNameLst>
                                          <p:attrName>style.visibility</p:attrName>
                                        </p:attrNameLst>
                                      </p:cBhvr>
                                      <p:to>
                                        <p:strVal val="visible"/>
                                      </p:to>
                                    </p:set>
                                    <p:animEffect transition="in" filter="dissolve">
                                      <p:cBhvr>
                                        <p:cTn id="36" dur="500"/>
                                        <p:tgtEl>
                                          <p:spTgt spid="2346011"/>
                                        </p:tgtEl>
                                      </p:cBhvr>
                                    </p:animEffect>
                                  </p:childTnLst>
                                </p:cTn>
                              </p:par>
                              <p:par>
                                <p:cTn id="37" presetID="9" presetClass="entr" presetSubtype="0" fill="hold" nodeType="withEffect">
                                  <p:stCondLst>
                                    <p:cond delay="0"/>
                                  </p:stCondLst>
                                  <p:childTnLst>
                                    <p:set>
                                      <p:cBhvr>
                                        <p:cTn id="38" dur="1" fill="hold">
                                          <p:stCondLst>
                                            <p:cond delay="0"/>
                                          </p:stCondLst>
                                        </p:cTn>
                                        <p:tgtEl>
                                          <p:spTgt spid="2346008"/>
                                        </p:tgtEl>
                                        <p:attrNameLst>
                                          <p:attrName>style.visibility</p:attrName>
                                        </p:attrNameLst>
                                      </p:cBhvr>
                                      <p:to>
                                        <p:strVal val="visible"/>
                                      </p:to>
                                    </p:set>
                                    <p:animEffect transition="in" filter="dissolve">
                                      <p:cBhvr>
                                        <p:cTn id="39" dur="500"/>
                                        <p:tgtEl>
                                          <p:spTgt spid="23460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6001" grpId="0" animBg="1"/>
      <p:bldP spid="2346002" grpId="0"/>
      <p:bldP spid="2346004" grpId="0"/>
      <p:bldP spid="2346006" grpId="0"/>
      <p:bldP spid="2346008" grpId="0"/>
      <p:bldP spid="2346009" grpId="0"/>
      <p:bldP spid="2346010" grpId="0"/>
      <p:bldP spid="2346011"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47021" name="Text Box 13"/>
          <p:cNvSpPr txBox="1"/>
          <p:nvPr/>
        </p:nvSpPr>
        <p:spPr>
          <a:xfrm>
            <a:off x="444500" y="666750"/>
            <a:ext cx="38639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 </a:t>
            </a:r>
            <a:r>
              <a:rPr lang="zh-CN" altLang="en-US" dirty="0">
                <a:latin typeface="Times New Roman" panose="02020603050405020304" pitchFamily="18" charset="0"/>
              </a:rPr>
              <a:t>源负载效应误差</a:t>
            </a:r>
            <a:endParaRPr lang="zh-CN" altLang="en-US" dirty="0">
              <a:latin typeface="Times New Roman" panose="02020603050405020304" pitchFamily="18" charset="0"/>
            </a:endParaRPr>
          </a:p>
        </p:txBody>
      </p:sp>
      <p:sp>
        <p:nvSpPr>
          <p:cNvPr id="2347023" name="Text Box 15"/>
          <p:cNvSpPr txBox="1"/>
          <p:nvPr/>
        </p:nvSpPr>
        <p:spPr>
          <a:xfrm>
            <a:off x="414338" y="1460500"/>
            <a:ext cx="8331200" cy="1382713"/>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源负载效应误差：</a:t>
            </a:r>
            <a:r>
              <a:rPr lang="zh-CN" altLang="en-US" sz="2800" dirty="0">
                <a:solidFill>
                  <a:schemeClr val="tx1"/>
                </a:solidFill>
                <a:latin typeface="黑体" panose="02010609060101010101" pitchFamily="49" charset="-122"/>
                <a:ea typeface="黑体" panose="02010609060101010101" pitchFamily="49" charset="-122"/>
              </a:rPr>
              <a:t>信号源电阻</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i="1" baseline="-25000" dirty="0">
                <a:solidFill>
                  <a:srgbClr val="FF0000"/>
                </a:solidFill>
                <a:latin typeface="Times New Roman" panose="02020603050405020304" pitchFamily="18" charset="0"/>
                <a:ea typeface="黑体" panose="02010609060101010101" pitchFamily="49" charset="-122"/>
              </a:rPr>
              <a:t>S</a:t>
            </a:r>
            <a:r>
              <a:rPr lang="zh-CN" altLang="en-US" sz="2800" dirty="0">
                <a:solidFill>
                  <a:schemeClr val="tx1"/>
                </a:solidFill>
                <a:latin typeface="黑体" panose="02010609060101010101" pitchFamily="49" charset="-122"/>
                <a:ea typeface="黑体" panose="02010609060101010101" pitchFamily="49" charset="-122"/>
              </a:rPr>
              <a:t>和开关导通电阻</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i="1" baseline="-25000" dirty="0">
                <a:solidFill>
                  <a:srgbClr val="FF0000"/>
                </a:solidFill>
                <a:latin typeface="Times New Roman" panose="02020603050405020304" pitchFamily="18" charset="0"/>
                <a:ea typeface="黑体" panose="02010609060101010101" pitchFamily="49" charset="-122"/>
              </a:rPr>
              <a:t>ON</a:t>
            </a:r>
            <a:endParaRPr lang="en-US" altLang="zh-CN" sz="2800" i="1" baseline="-25000" dirty="0">
              <a:solidFill>
                <a:srgbClr val="FF0000"/>
              </a:solidFill>
              <a:latin typeface="Times New Roman" panose="02020603050405020304" pitchFamily="18" charset="0"/>
              <a:ea typeface="黑体" panose="02010609060101010101" pitchFamily="49" charset="-122"/>
            </a:endParaRPr>
          </a:p>
          <a:p>
            <a:pPr eaLnBrk="1" hangingPunct="1"/>
            <a:r>
              <a:rPr lang="en-US" altLang="zh-CN" sz="2800" i="1" baseline="-25000" dirty="0">
                <a:solidFill>
                  <a:srgbClr val="FF0000"/>
                </a:solidFill>
                <a:latin typeface="Times New Roman" panose="02020603050405020304" pitchFamily="18" charset="0"/>
                <a:ea typeface="黑体" panose="02010609060101010101" pitchFamily="49" charset="-122"/>
              </a:rPr>
              <a:t>                                               </a:t>
            </a:r>
            <a:r>
              <a:rPr lang="zh-CN" altLang="en-US" sz="2800" dirty="0">
                <a:solidFill>
                  <a:schemeClr val="tx1"/>
                </a:solidFill>
                <a:latin typeface="黑体" panose="02010609060101010101" pitchFamily="49" charset="-122"/>
                <a:ea typeface="黑体" panose="02010609060101010101" pitchFamily="49" charset="-122"/>
              </a:rPr>
              <a:t>与多路开关所接器件的等效电阻</a:t>
            </a:r>
            <a:endParaRPr lang="zh-CN" altLang="en-US" sz="2800" dirty="0">
              <a:solidFill>
                <a:schemeClr val="tx1"/>
              </a:solidFill>
              <a:latin typeface="黑体" panose="02010609060101010101" pitchFamily="49" charset="-122"/>
              <a:ea typeface="黑体" panose="02010609060101010101" pitchFamily="49" charset="-122"/>
            </a:endParaRPr>
          </a:p>
          <a:p>
            <a:pPr eaLnBrk="1" hangingPunct="1"/>
            <a:r>
              <a:rPr lang="zh-CN" altLang="en-US" sz="2800" dirty="0">
                <a:solidFill>
                  <a:schemeClr val="tx1"/>
                </a:solidFill>
                <a:latin typeface="黑体" panose="02010609060101010101" pitchFamily="49" charset="-122"/>
                <a:ea typeface="黑体" panose="02010609060101010101" pitchFamily="49" charset="-122"/>
              </a:rPr>
              <a:t>                </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i="1" baseline="-25000" dirty="0">
                <a:solidFill>
                  <a:srgbClr val="FF0000"/>
                </a:solidFill>
                <a:latin typeface="Times New Roman" panose="02020603050405020304" pitchFamily="18" charset="0"/>
                <a:ea typeface="黑体" panose="02010609060101010101" pitchFamily="49" charset="-122"/>
              </a:rPr>
              <a:t>L</a:t>
            </a:r>
            <a:r>
              <a:rPr lang="zh-CN" altLang="en-US" sz="2800" dirty="0">
                <a:solidFill>
                  <a:schemeClr val="tx1"/>
                </a:solidFill>
                <a:latin typeface="黑体" panose="02010609060101010101" pitchFamily="49" charset="-122"/>
                <a:ea typeface="黑体" panose="02010609060101010101" pitchFamily="49" charset="-122"/>
              </a:rPr>
              <a:t>分压而引起的误差。</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47027" name="Text Box 19"/>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47028" name="Group 20"/>
          <p:cNvGrpSpPr/>
          <p:nvPr/>
        </p:nvGrpSpPr>
        <p:grpSpPr>
          <a:xfrm>
            <a:off x="398463" y="3036888"/>
            <a:ext cx="4248150" cy="2854325"/>
            <a:chOff x="762" y="709"/>
            <a:chExt cx="2676" cy="1798"/>
          </a:xfrm>
        </p:grpSpPr>
        <p:sp>
          <p:nvSpPr>
            <p:cNvPr id="48138" name="AutoShape 21"/>
            <p:cNvSpPr>
              <a:spLocks noChangeAspect="1" noTextEdit="1"/>
            </p:cNvSpPr>
            <p:nvPr/>
          </p:nvSpPr>
          <p:spPr>
            <a:xfrm>
              <a:off x="762" y="716"/>
              <a:ext cx="2676" cy="1791"/>
            </a:xfrm>
            <a:prstGeom prst="rect">
              <a:avLst/>
            </a:prstGeom>
            <a:solidFill>
              <a:srgbClr val="FFCC99"/>
            </a:solidFill>
            <a:ln w="9525">
              <a:noFill/>
            </a:ln>
          </p:spPr>
          <p:txBody>
            <a:bodyPr/>
            <a:p>
              <a:endParaRPr lang="zh-CN" altLang="en-US"/>
            </a:p>
          </p:txBody>
        </p:sp>
        <p:sp>
          <p:nvSpPr>
            <p:cNvPr id="48139" name="Oval 22"/>
            <p:cNvSpPr/>
            <p:nvPr/>
          </p:nvSpPr>
          <p:spPr>
            <a:xfrm>
              <a:off x="973" y="1326"/>
              <a:ext cx="221" cy="221"/>
            </a:xfrm>
            <a:prstGeom prst="ellipse">
              <a:avLst/>
            </a:prstGeom>
            <a:noFill/>
            <a:ln w="1905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8140" name="Line 23"/>
            <p:cNvSpPr/>
            <p:nvPr/>
          </p:nvSpPr>
          <p:spPr>
            <a:xfrm flipV="1">
              <a:off x="1077" y="909"/>
              <a:ext cx="1" cy="417"/>
            </a:xfrm>
            <a:prstGeom prst="line">
              <a:avLst/>
            </a:prstGeom>
            <a:ln w="19050" cap="flat" cmpd="sng">
              <a:solidFill>
                <a:srgbClr val="0000FF"/>
              </a:solidFill>
              <a:prstDash val="solid"/>
              <a:headEnd type="none" w="med" len="med"/>
              <a:tailEnd type="none" w="med" len="med"/>
            </a:ln>
          </p:spPr>
        </p:sp>
        <p:sp>
          <p:nvSpPr>
            <p:cNvPr id="48141" name="Line 24"/>
            <p:cNvSpPr/>
            <p:nvPr/>
          </p:nvSpPr>
          <p:spPr>
            <a:xfrm>
              <a:off x="1077" y="909"/>
              <a:ext cx="416" cy="1"/>
            </a:xfrm>
            <a:prstGeom prst="line">
              <a:avLst/>
            </a:prstGeom>
            <a:ln w="19050" cap="flat" cmpd="sng">
              <a:solidFill>
                <a:srgbClr val="0000FF"/>
              </a:solidFill>
              <a:prstDash val="solid"/>
              <a:headEnd type="none" w="med" len="med"/>
              <a:tailEnd type="none" w="med" len="med"/>
            </a:ln>
          </p:spPr>
        </p:sp>
        <p:sp>
          <p:nvSpPr>
            <p:cNvPr id="48142" name="Line 25"/>
            <p:cNvSpPr/>
            <p:nvPr/>
          </p:nvSpPr>
          <p:spPr>
            <a:xfrm flipH="1">
              <a:off x="1077" y="1547"/>
              <a:ext cx="2" cy="404"/>
            </a:xfrm>
            <a:prstGeom prst="line">
              <a:avLst/>
            </a:prstGeom>
            <a:ln w="19050" cap="flat" cmpd="sng">
              <a:solidFill>
                <a:srgbClr val="0000FF"/>
              </a:solidFill>
              <a:prstDash val="solid"/>
              <a:headEnd type="none" w="med" len="med"/>
              <a:tailEnd type="none" w="med" len="med"/>
            </a:ln>
          </p:spPr>
        </p:sp>
        <p:sp>
          <p:nvSpPr>
            <p:cNvPr id="48143" name="Line 26"/>
            <p:cNvSpPr/>
            <p:nvPr/>
          </p:nvSpPr>
          <p:spPr>
            <a:xfrm flipV="1">
              <a:off x="1079" y="1949"/>
              <a:ext cx="2078" cy="2"/>
            </a:xfrm>
            <a:prstGeom prst="line">
              <a:avLst/>
            </a:prstGeom>
            <a:ln w="19050" cap="flat" cmpd="sng">
              <a:solidFill>
                <a:srgbClr val="0000FF"/>
              </a:solidFill>
              <a:prstDash val="solid"/>
              <a:headEnd type="none" w="med" len="med"/>
              <a:tailEnd type="none" w="med" len="med"/>
            </a:ln>
          </p:spPr>
        </p:sp>
        <p:sp>
          <p:nvSpPr>
            <p:cNvPr id="48144" name="Rectangle 27"/>
            <p:cNvSpPr/>
            <p:nvPr/>
          </p:nvSpPr>
          <p:spPr>
            <a:xfrm>
              <a:off x="1493" y="883"/>
              <a:ext cx="221" cy="65"/>
            </a:xfrm>
            <a:prstGeom prst="rect">
              <a:avLst/>
            </a:prstGeom>
            <a:noFill/>
            <a:ln w="1905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8145" name="Rectangle 28"/>
            <p:cNvSpPr/>
            <p:nvPr/>
          </p:nvSpPr>
          <p:spPr>
            <a:xfrm>
              <a:off x="2220" y="883"/>
              <a:ext cx="221" cy="65"/>
            </a:xfrm>
            <a:prstGeom prst="rect">
              <a:avLst/>
            </a:prstGeom>
            <a:noFill/>
            <a:ln w="1905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8146" name="Line 29"/>
            <p:cNvSpPr/>
            <p:nvPr/>
          </p:nvSpPr>
          <p:spPr>
            <a:xfrm>
              <a:off x="1711" y="909"/>
              <a:ext cx="509" cy="1"/>
            </a:xfrm>
            <a:prstGeom prst="line">
              <a:avLst/>
            </a:prstGeom>
            <a:ln w="19050" cap="flat" cmpd="sng">
              <a:solidFill>
                <a:srgbClr val="0000FF"/>
              </a:solidFill>
              <a:prstDash val="solid"/>
              <a:headEnd type="none" w="med" len="med"/>
              <a:tailEnd type="none" w="med" len="med"/>
            </a:ln>
          </p:spPr>
        </p:sp>
        <p:sp>
          <p:nvSpPr>
            <p:cNvPr id="48147" name="Line 30"/>
            <p:cNvSpPr/>
            <p:nvPr/>
          </p:nvSpPr>
          <p:spPr>
            <a:xfrm>
              <a:off x="2438" y="909"/>
              <a:ext cx="718" cy="1"/>
            </a:xfrm>
            <a:prstGeom prst="line">
              <a:avLst/>
            </a:prstGeom>
            <a:ln w="19050" cap="flat" cmpd="sng">
              <a:solidFill>
                <a:srgbClr val="0000FF"/>
              </a:solidFill>
              <a:prstDash val="solid"/>
              <a:headEnd type="none" w="med" len="med"/>
              <a:tailEnd type="none" w="med" len="med"/>
            </a:ln>
          </p:spPr>
        </p:sp>
        <p:sp>
          <p:nvSpPr>
            <p:cNvPr id="48148" name="Line 31"/>
            <p:cNvSpPr/>
            <p:nvPr/>
          </p:nvSpPr>
          <p:spPr>
            <a:xfrm>
              <a:off x="3156" y="909"/>
              <a:ext cx="0" cy="417"/>
            </a:xfrm>
            <a:prstGeom prst="line">
              <a:avLst/>
            </a:prstGeom>
            <a:ln w="19050" cap="flat" cmpd="sng">
              <a:solidFill>
                <a:srgbClr val="0000FF"/>
              </a:solidFill>
              <a:prstDash val="solid"/>
              <a:headEnd type="none" w="med" len="med"/>
              <a:tailEnd type="none" w="med" len="med"/>
            </a:ln>
          </p:spPr>
        </p:sp>
        <p:sp>
          <p:nvSpPr>
            <p:cNvPr id="48149" name="Rectangle 32"/>
            <p:cNvSpPr/>
            <p:nvPr/>
          </p:nvSpPr>
          <p:spPr>
            <a:xfrm>
              <a:off x="3129" y="1326"/>
              <a:ext cx="65" cy="208"/>
            </a:xfrm>
            <a:prstGeom prst="rect">
              <a:avLst/>
            </a:prstGeom>
            <a:noFill/>
            <a:ln w="1905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8150" name="Line 33"/>
            <p:cNvSpPr/>
            <p:nvPr/>
          </p:nvSpPr>
          <p:spPr>
            <a:xfrm>
              <a:off x="3156" y="1532"/>
              <a:ext cx="0" cy="419"/>
            </a:xfrm>
            <a:prstGeom prst="line">
              <a:avLst/>
            </a:prstGeom>
            <a:ln w="19050" cap="flat" cmpd="sng">
              <a:solidFill>
                <a:srgbClr val="0000FF"/>
              </a:solidFill>
              <a:prstDash val="solid"/>
              <a:headEnd type="none" w="med" len="med"/>
              <a:tailEnd type="none" w="med" len="med"/>
            </a:ln>
          </p:spPr>
        </p:sp>
        <p:sp>
          <p:nvSpPr>
            <p:cNvPr id="48151" name="Line 34"/>
            <p:cNvSpPr/>
            <p:nvPr/>
          </p:nvSpPr>
          <p:spPr>
            <a:xfrm>
              <a:off x="2105" y="1951"/>
              <a:ext cx="0" cy="234"/>
            </a:xfrm>
            <a:prstGeom prst="line">
              <a:avLst/>
            </a:prstGeom>
            <a:ln w="19050" cap="flat" cmpd="sng">
              <a:solidFill>
                <a:srgbClr val="0000FF"/>
              </a:solidFill>
              <a:prstDash val="solid"/>
              <a:headEnd type="none" w="med" len="med"/>
              <a:tailEnd type="none" w="med" len="med"/>
            </a:ln>
          </p:spPr>
        </p:sp>
        <p:sp>
          <p:nvSpPr>
            <p:cNvPr id="48152" name="Line 35"/>
            <p:cNvSpPr/>
            <p:nvPr/>
          </p:nvSpPr>
          <p:spPr>
            <a:xfrm>
              <a:off x="2027" y="2185"/>
              <a:ext cx="169" cy="1"/>
            </a:xfrm>
            <a:prstGeom prst="line">
              <a:avLst/>
            </a:prstGeom>
            <a:ln w="19050" cap="flat" cmpd="sng">
              <a:solidFill>
                <a:srgbClr val="0000FF"/>
              </a:solidFill>
              <a:prstDash val="solid"/>
              <a:headEnd type="none" w="med" len="med"/>
              <a:tailEnd type="none" w="med" len="med"/>
            </a:ln>
          </p:spPr>
        </p:sp>
        <p:sp>
          <p:nvSpPr>
            <p:cNvPr id="48153" name="Rectangle 36"/>
            <p:cNvSpPr/>
            <p:nvPr/>
          </p:nvSpPr>
          <p:spPr>
            <a:xfrm>
              <a:off x="1519" y="709"/>
              <a:ext cx="112" cy="199"/>
            </a:xfrm>
            <a:prstGeom prst="rect">
              <a:avLst/>
            </a:prstGeom>
            <a:noFill/>
            <a:ln w="9525">
              <a:noFill/>
            </a:ln>
          </p:spPr>
          <p:txBody>
            <a:bodyPr wrap="none" lIns="0" tIns="0" rIns="0" bIns="0">
              <a:spAutoFit/>
            </a:bodyPr>
            <a:p>
              <a:pPr eaLnBrk="1" hangingPunct="1">
                <a:lnSpc>
                  <a:spcPct val="90000"/>
                </a:lnSpc>
              </a:pPr>
              <a:r>
                <a:rPr lang="en-US" altLang="zh-CN" sz="23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8154" name="Rectangle 37"/>
            <p:cNvSpPr/>
            <p:nvPr/>
          </p:nvSpPr>
          <p:spPr>
            <a:xfrm>
              <a:off x="1631" y="761"/>
              <a:ext cx="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8155" name="Rectangle 38"/>
            <p:cNvSpPr/>
            <p:nvPr/>
          </p:nvSpPr>
          <p:spPr>
            <a:xfrm>
              <a:off x="2220" y="709"/>
              <a:ext cx="112" cy="199"/>
            </a:xfrm>
            <a:prstGeom prst="rect">
              <a:avLst/>
            </a:prstGeom>
            <a:noFill/>
            <a:ln w="9525">
              <a:noFill/>
            </a:ln>
          </p:spPr>
          <p:txBody>
            <a:bodyPr wrap="none" lIns="0" tIns="0" rIns="0" bIns="0">
              <a:spAutoFit/>
            </a:bodyPr>
            <a:p>
              <a:pPr eaLnBrk="1" hangingPunct="1">
                <a:lnSpc>
                  <a:spcPct val="90000"/>
                </a:lnSpc>
              </a:pPr>
              <a:r>
                <a:rPr lang="en-US" altLang="zh-CN" sz="23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8156" name="Rectangle 39"/>
            <p:cNvSpPr/>
            <p:nvPr/>
          </p:nvSpPr>
          <p:spPr>
            <a:xfrm>
              <a:off x="2329" y="761"/>
              <a:ext cx="1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48157" name="Rectangle 40"/>
            <p:cNvSpPr/>
            <p:nvPr/>
          </p:nvSpPr>
          <p:spPr>
            <a:xfrm>
              <a:off x="3222" y="1365"/>
              <a:ext cx="112" cy="199"/>
            </a:xfrm>
            <a:prstGeom prst="rect">
              <a:avLst/>
            </a:prstGeom>
            <a:noFill/>
            <a:ln w="9525">
              <a:noFill/>
            </a:ln>
          </p:spPr>
          <p:txBody>
            <a:bodyPr wrap="none" lIns="0" tIns="0" rIns="0" bIns="0">
              <a:spAutoFit/>
            </a:bodyPr>
            <a:p>
              <a:pPr eaLnBrk="1" hangingPunct="1">
                <a:lnSpc>
                  <a:spcPct val="90000"/>
                </a:lnSpc>
              </a:pPr>
              <a:r>
                <a:rPr lang="en-US" altLang="zh-CN" sz="23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48158" name="Rectangle 41"/>
            <p:cNvSpPr/>
            <p:nvPr/>
          </p:nvSpPr>
          <p:spPr>
            <a:xfrm>
              <a:off x="3345" y="1424"/>
              <a:ext cx="68"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48159" name="Rectangle 42"/>
            <p:cNvSpPr/>
            <p:nvPr/>
          </p:nvSpPr>
          <p:spPr>
            <a:xfrm>
              <a:off x="778" y="1320"/>
              <a:ext cx="133" cy="199"/>
            </a:xfrm>
            <a:prstGeom prst="rect">
              <a:avLst/>
            </a:prstGeom>
            <a:noFill/>
            <a:ln w="9525">
              <a:noFill/>
            </a:ln>
          </p:spPr>
          <p:txBody>
            <a:bodyPr wrap="none" lIns="0" tIns="0" rIns="0" bIns="0">
              <a:spAutoFit/>
            </a:bodyPr>
            <a:p>
              <a:pPr eaLnBrk="1" hangingPunct="1">
                <a:lnSpc>
                  <a:spcPct val="90000"/>
                </a:lnSpc>
              </a:pPr>
              <a:r>
                <a:rPr lang="en-US" altLang="zh-CN" sz="23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48160" name="Rectangle 43"/>
            <p:cNvSpPr/>
            <p:nvPr/>
          </p:nvSpPr>
          <p:spPr>
            <a:xfrm>
              <a:off x="900" y="1389"/>
              <a:ext cx="6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FF"/>
                  </a:solidFill>
                  <a:latin typeface="Times New Roman" panose="02020603050405020304" pitchFamily="18" charset="0"/>
                </a:rPr>
                <a:t>S</a:t>
              </a:r>
              <a:endParaRPr lang="en-US" altLang="zh-CN" dirty="0">
                <a:latin typeface="Times New Roman" panose="02020603050405020304" pitchFamily="18" charset="0"/>
              </a:endParaRPr>
            </a:p>
          </p:txBody>
        </p:sp>
        <p:sp>
          <p:nvSpPr>
            <p:cNvPr id="48161" name="Rectangle 44"/>
            <p:cNvSpPr/>
            <p:nvPr/>
          </p:nvSpPr>
          <p:spPr>
            <a:xfrm>
              <a:off x="1025" y="1299"/>
              <a:ext cx="147" cy="293"/>
            </a:xfrm>
            <a:prstGeom prst="rect">
              <a:avLst/>
            </a:prstGeom>
            <a:noFill/>
            <a:ln w="9525">
              <a:noFill/>
            </a:ln>
          </p:spPr>
          <p:txBody>
            <a:bodyPr wrap="none" lIns="0" tIns="0" rIns="0" bIns="0">
              <a:spAutoFit/>
            </a:bodyPr>
            <a:p>
              <a:pPr eaLnBrk="1" hangingPunct="1">
                <a:lnSpc>
                  <a:spcPct val="90000"/>
                </a:lnSpc>
              </a:pPr>
              <a:r>
                <a:rPr lang="en-US" altLang="zh-CN" sz="34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48162" name="Oval 45"/>
            <p:cNvSpPr/>
            <p:nvPr/>
          </p:nvSpPr>
          <p:spPr>
            <a:xfrm>
              <a:off x="2071" y="1925"/>
              <a:ext cx="65" cy="65"/>
            </a:xfrm>
            <a:prstGeom prst="ellipse">
              <a:avLst/>
            </a:prstGeom>
            <a:solidFill>
              <a:srgbClr val="0000FF"/>
            </a:solidFill>
            <a:ln w="1905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8163" name="Rectangle 46"/>
            <p:cNvSpPr/>
            <p:nvPr/>
          </p:nvSpPr>
          <p:spPr>
            <a:xfrm>
              <a:off x="1151" y="2259"/>
              <a:ext cx="1930" cy="207"/>
            </a:xfrm>
            <a:prstGeom prst="rect">
              <a:avLst/>
            </a:prstGeom>
            <a:noFill/>
            <a:ln w="9525">
              <a:noFill/>
            </a:ln>
          </p:spPr>
          <p:txBody>
            <a:bodyPr wrap="none" lIns="0" tIns="0" rIns="0" bIns="0">
              <a:spAutoFit/>
            </a:bodyPr>
            <a:p>
              <a:pPr eaLnBrk="1" hangingPunct="1">
                <a:lnSpc>
                  <a:spcPct val="90000"/>
                </a:lnSpc>
              </a:pPr>
              <a:r>
                <a:rPr lang="zh-CN" altLang="en-US" sz="2400" dirty="0">
                  <a:solidFill>
                    <a:srgbClr val="000080"/>
                  </a:solidFill>
                  <a:latin typeface="楷体_GB2312" pitchFamily="49" charset="-122"/>
                </a:rPr>
                <a:t>源负载效应的等效电路</a:t>
              </a:r>
              <a:endParaRPr lang="zh-CN" altLang="en-US" sz="2400" dirty="0">
                <a:latin typeface="Times New Roman" panose="02020603050405020304" pitchFamily="18" charset="0"/>
              </a:endParaRPr>
            </a:p>
          </p:txBody>
        </p:sp>
      </p:grpSp>
      <p:grpSp>
        <p:nvGrpSpPr>
          <p:cNvPr id="2347058" name="Group 50"/>
          <p:cNvGrpSpPr/>
          <p:nvPr/>
        </p:nvGrpSpPr>
        <p:grpSpPr>
          <a:xfrm>
            <a:off x="4960938" y="3536950"/>
            <a:ext cx="3703637" cy="1830388"/>
            <a:chOff x="3125" y="2199"/>
            <a:chExt cx="2333" cy="1153"/>
          </a:xfrm>
        </p:grpSpPr>
        <p:sp>
          <p:nvSpPr>
            <p:cNvPr id="48135" name="Rectangle 49"/>
            <p:cNvSpPr/>
            <p:nvPr/>
          </p:nvSpPr>
          <p:spPr>
            <a:xfrm>
              <a:off x="3125" y="2199"/>
              <a:ext cx="2333" cy="1153"/>
            </a:xfrm>
            <a:prstGeom prst="rect">
              <a:avLst/>
            </a:prstGeom>
            <a:solidFill>
              <a:srgbClr val="99CC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48136" name="Object 47"/>
            <p:cNvGraphicFramePr>
              <a:graphicFrameLocks noChangeAspect="1"/>
            </p:cNvGraphicFramePr>
            <p:nvPr/>
          </p:nvGraphicFramePr>
          <p:xfrm>
            <a:off x="3244" y="2614"/>
            <a:ext cx="2101" cy="650"/>
          </p:xfrm>
          <a:graphic>
            <a:graphicData uri="http://schemas.openxmlformats.org/presentationml/2006/ole">
              <mc:AlternateContent xmlns:mc="http://schemas.openxmlformats.org/markup-compatibility/2006">
                <mc:Choice xmlns:v="urn:schemas-microsoft-com:vml" Requires="v">
                  <p:oleObj spid="_x0000_s3084" name="" r:id="rId1" imgW="1384300" imgH="431800" progId="Equation.3">
                    <p:embed/>
                  </p:oleObj>
                </mc:Choice>
                <mc:Fallback>
                  <p:oleObj name="" r:id="rId1" imgW="1384300" imgH="431800" progId="Equation.3">
                    <p:embed/>
                    <p:pic>
                      <p:nvPicPr>
                        <p:cNvPr id="0" name="图片 3083"/>
                        <p:cNvPicPr/>
                        <p:nvPr/>
                      </p:nvPicPr>
                      <p:blipFill>
                        <a:blip r:embed="rId2"/>
                        <a:stretch>
                          <a:fillRect/>
                        </a:stretch>
                      </p:blipFill>
                      <p:spPr>
                        <a:xfrm>
                          <a:off x="3244" y="2614"/>
                          <a:ext cx="2101" cy="650"/>
                        </a:xfrm>
                        <a:prstGeom prst="rect">
                          <a:avLst/>
                        </a:prstGeom>
                        <a:solidFill>
                          <a:srgbClr val="99CCFF"/>
                        </a:solidFill>
                        <a:ln w="38100">
                          <a:noFill/>
                          <a:miter/>
                        </a:ln>
                      </p:spPr>
                    </p:pic>
                  </p:oleObj>
                </mc:Fallback>
              </mc:AlternateContent>
            </a:graphicData>
          </a:graphic>
        </p:graphicFrame>
        <p:sp>
          <p:nvSpPr>
            <p:cNvPr id="48137" name="Text Box 48"/>
            <p:cNvSpPr txBox="1"/>
            <p:nvPr/>
          </p:nvSpPr>
          <p:spPr>
            <a:xfrm>
              <a:off x="3232" y="2250"/>
              <a:ext cx="1907" cy="327"/>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源负载效应误差</a:t>
              </a:r>
              <a:r>
                <a:rPr lang="en-US" altLang="zh-CN" sz="2800" dirty="0">
                  <a:solidFill>
                    <a:srgbClr val="FF0000"/>
                  </a:solidFill>
                  <a:latin typeface="Times New Roman" panose="02020603050405020304" pitchFamily="18" charset="0"/>
                </a:rPr>
                <a:t>=</a:t>
              </a:r>
              <a:r>
                <a:rPr lang="en-US" altLang="zh-CN" sz="2800" dirty="0">
                  <a:solidFill>
                    <a:srgbClr val="FF0000"/>
                  </a:solidFill>
                  <a:latin typeface="Times New Roman" panose="02020603050405020304" pitchFamily="18" charset="0"/>
                  <a:ea typeface="宋体" panose="02010600030101010101" pitchFamily="2" charset="-122"/>
                </a:rPr>
                <a:t> </a:t>
              </a:r>
              <a:endParaRPr lang="en-US" altLang="zh-CN" sz="2800" dirty="0">
                <a:solidFill>
                  <a:srgbClr val="FF0000"/>
                </a:solidFill>
                <a:latin typeface="Times New Roman" panose="02020603050405020304" pitchFamily="18" charset="0"/>
                <a:ea typeface="宋体" panose="02010600030101010101" pitchFamily="2" charset="-122"/>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47021"/>
                                        </p:tgtEl>
                                        <p:attrNameLst>
                                          <p:attrName>style.visibility</p:attrName>
                                        </p:attrNameLst>
                                      </p:cBhvr>
                                      <p:to>
                                        <p:strVal val="visible"/>
                                      </p:to>
                                    </p:set>
                                    <p:animEffect transition="in" filter="dissolve">
                                      <p:cBhvr>
                                        <p:cTn id="7" dur="500"/>
                                        <p:tgtEl>
                                          <p:spTgt spid="23470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47023"/>
                                        </p:tgtEl>
                                        <p:attrNameLst>
                                          <p:attrName>style.visibility</p:attrName>
                                        </p:attrNameLst>
                                      </p:cBhvr>
                                      <p:to>
                                        <p:strVal val="visible"/>
                                      </p:to>
                                    </p:set>
                                    <p:animEffect transition="in" filter="dissolve">
                                      <p:cBhvr>
                                        <p:cTn id="12" dur="500"/>
                                        <p:tgtEl>
                                          <p:spTgt spid="234702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47028"/>
                                        </p:tgtEl>
                                        <p:attrNameLst>
                                          <p:attrName>style.visibility</p:attrName>
                                        </p:attrNameLst>
                                      </p:cBhvr>
                                      <p:to>
                                        <p:strVal val="visible"/>
                                      </p:to>
                                    </p:set>
                                    <p:animEffect transition="in" filter="dissolve">
                                      <p:cBhvr>
                                        <p:cTn id="17" dur="500"/>
                                        <p:tgtEl>
                                          <p:spTgt spid="23470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47058"/>
                                        </p:tgtEl>
                                        <p:attrNameLst>
                                          <p:attrName>style.visibility</p:attrName>
                                        </p:attrNameLst>
                                      </p:cBhvr>
                                      <p:to>
                                        <p:strVal val="visible"/>
                                      </p:to>
                                    </p:set>
                                    <p:animEffect transition="in" filter="dissolve">
                                      <p:cBhvr>
                                        <p:cTn id="22" dur="500"/>
                                        <p:tgtEl>
                                          <p:spTgt spid="23470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7021" grpId="0" animBg="1"/>
      <p:bldP spid="2347023"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409515" name="Object 43"/>
          <p:cNvGraphicFramePr>
            <a:graphicFrameLocks noChangeAspect="1"/>
          </p:cNvGraphicFramePr>
          <p:nvPr/>
        </p:nvGraphicFramePr>
        <p:xfrm>
          <a:off x="3646488" y="4621213"/>
          <a:ext cx="4487862" cy="1554162"/>
        </p:xfrm>
        <a:graphic>
          <a:graphicData uri="http://schemas.openxmlformats.org/presentationml/2006/ole">
            <mc:AlternateContent xmlns:mc="http://schemas.openxmlformats.org/markup-compatibility/2006">
              <mc:Choice xmlns:v="urn:schemas-microsoft-com:vml" Requires="v">
                <p:oleObj spid="_x0000_s3085" name="" r:id="rId1" imgW="2387600" imgH="838200" progId="Equation.3">
                  <p:embed/>
                </p:oleObj>
              </mc:Choice>
              <mc:Fallback>
                <p:oleObj name="" r:id="rId1" imgW="2387600" imgH="838200" progId="Equation.3">
                  <p:embed/>
                  <p:pic>
                    <p:nvPicPr>
                      <p:cNvPr id="0" name="图片 3084"/>
                      <p:cNvPicPr/>
                      <p:nvPr/>
                    </p:nvPicPr>
                    <p:blipFill>
                      <a:blip r:embed="rId2"/>
                      <a:stretch>
                        <a:fillRect/>
                      </a:stretch>
                    </p:blipFill>
                    <p:spPr>
                      <a:xfrm>
                        <a:off x="3646488" y="4621213"/>
                        <a:ext cx="4487862" cy="1554162"/>
                      </a:xfrm>
                      <a:prstGeom prst="rect">
                        <a:avLst/>
                      </a:prstGeom>
                      <a:solidFill>
                        <a:schemeClr val="bg1"/>
                      </a:solidFill>
                      <a:ln w="38100">
                        <a:noFill/>
                        <a:miter/>
                      </a:ln>
                    </p:spPr>
                  </p:pic>
                </p:oleObj>
              </mc:Fallback>
            </mc:AlternateContent>
          </a:graphicData>
        </a:graphic>
      </p:graphicFrame>
      <p:sp>
        <p:nvSpPr>
          <p:cNvPr id="49155" name="Text Box 2"/>
          <p:cNvSpPr txBox="1"/>
          <p:nvPr/>
        </p:nvSpPr>
        <p:spPr>
          <a:xfrm>
            <a:off x="444500" y="666750"/>
            <a:ext cx="38639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 </a:t>
            </a:r>
            <a:r>
              <a:rPr lang="zh-CN" altLang="en-US" dirty="0">
                <a:latin typeface="Times New Roman" panose="02020603050405020304" pitchFamily="18" charset="0"/>
              </a:rPr>
              <a:t>源负载效应误差</a:t>
            </a:r>
            <a:endParaRPr lang="zh-CN" altLang="en-US" dirty="0">
              <a:latin typeface="Times New Roman" panose="02020603050405020304" pitchFamily="18" charset="0"/>
            </a:endParaRPr>
          </a:p>
        </p:txBody>
      </p:sp>
      <p:sp>
        <p:nvSpPr>
          <p:cNvPr id="2409476" name="Text Box 4"/>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9508" name="Text Box 36"/>
          <p:cNvSpPr txBox="1"/>
          <p:nvPr/>
        </p:nvSpPr>
        <p:spPr>
          <a:xfrm>
            <a:off x="523875" y="1390650"/>
            <a:ext cx="8297863" cy="946150"/>
          </a:xfrm>
          <a:prstGeom prst="rect">
            <a:avLst/>
          </a:prstGeom>
          <a:noFill/>
          <a:ln w="9525">
            <a:noFill/>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由于负载效应是一种分压作用，它使输出到</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baseline="-25000" dirty="0">
                <a:solidFill>
                  <a:srgbClr val="FF0000"/>
                </a:solidFill>
                <a:latin typeface="Times New Roman" panose="02020603050405020304" pitchFamily="18" charset="0"/>
                <a:ea typeface="黑体" panose="02010609060101010101" pitchFamily="49" charset="-122"/>
              </a:rPr>
              <a:t>L</a:t>
            </a:r>
            <a:r>
              <a:rPr lang="zh-CN" altLang="en-US" sz="2800" dirty="0">
                <a:solidFill>
                  <a:schemeClr val="tx1"/>
                </a:solidFill>
                <a:latin typeface="黑体" panose="02010609060101010101" pitchFamily="49" charset="-122"/>
                <a:ea typeface="黑体" panose="02010609060101010101" pitchFamily="49" charset="-122"/>
              </a:rPr>
              <a:t>上的信号减小，因此应合理设计：</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09509" name="Text Box 37"/>
          <p:cNvSpPr txBox="1"/>
          <p:nvPr/>
        </p:nvSpPr>
        <p:spPr>
          <a:xfrm>
            <a:off x="1260475" y="2416175"/>
            <a:ext cx="6994525" cy="1416050"/>
          </a:xfrm>
          <a:prstGeom prst="rect">
            <a:avLst/>
          </a:prstGeom>
          <a:solidFill>
            <a:srgbClr val="FFFF99"/>
          </a:solid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sz="2800" dirty="0">
                <a:solidFill>
                  <a:srgbClr val="3333FF"/>
                </a:solidFill>
                <a:latin typeface="Times New Roman" panose="02020603050405020304" pitchFamily="18" charset="0"/>
              </a:rPr>
              <a:t>  </a:t>
            </a:r>
            <a:r>
              <a:rPr lang="zh-CN" altLang="en-US" sz="2800" dirty="0">
                <a:solidFill>
                  <a:srgbClr val="3333FF"/>
                </a:solidFill>
                <a:latin typeface="Times New Roman" panose="02020603050405020304" pitchFamily="18" charset="0"/>
                <a:ea typeface="黑体" panose="02010609060101010101" pitchFamily="49" charset="-122"/>
              </a:rPr>
              <a:t>提高负载内阻，使 </a:t>
            </a:r>
            <a:r>
              <a:rPr lang="en-US" altLang="zh-CN" sz="2800" i="1" dirty="0">
                <a:solidFill>
                  <a:srgbClr val="FF0000"/>
                </a:solidFill>
                <a:latin typeface="Times New Roman" panose="02020603050405020304" pitchFamily="18" charset="0"/>
              </a:rPr>
              <a:t>R</a:t>
            </a:r>
            <a:r>
              <a:rPr lang="en-US" altLang="zh-CN" sz="2800" i="1" baseline="-25000" dirty="0">
                <a:solidFill>
                  <a:srgbClr val="FF0000"/>
                </a:solidFill>
                <a:latin typeface="Times New Roman" panose="02020603050405020304" pitchFamily="18" charset="0"/>
              </a:rPr>
              <a:t>L </a:t>
            </a:r>
            <a:r>
              <a:rPr lang="en-US" altLang="zh-CN" sz="2800" dirty="0">
                <a:solidFill>
                  <a:srgbClr val="FF0000"/>
                </a:solidFill>
                <a:latin typeface="Times New Roman" panose="02020603050405020304" pitchFamily="18" charset="0"/>
              </a:rPr>
              <a:t>&gt;&gt; </a:t>
            </a:r>
            <a:r>
              <a:rPr lang="en-US" altLang="zh-CN" sz="2800" i="1" dirty="0">
                <a:solidFill>
                  <a:srgbClr val="FF0000"/>
                </a:solidFill>
                <a:latin typeface="Times New Roman" panose="02020603050405020304" pitchFamily="18" charset="0"/>
              </a:rPr>
              <a:t>R</a:t>
            </a:r>
            <a:r>
              <a:rPr lang="en-US" altLang="zh-CN" sz="2800" i="1" baseline="-25000" dirty="0">
                <a:solidFill>
                  <a:srgbClr val="FF0000"/>
                </a:solidFill>
                <a:latin typeface="Times New Roman" panose="02020603050405020304" pitchFamily="18" charset="0"/>
              </a:rPr>
              <a:t>S</a:t>
            </a:r>
            <a:r>
              <a:rPr lang="en-US" altLang="zh-CN" sz="2800" dirty="0">
                <a:solidFill>
                  <a:srgbClr val="FF0000"/>
                </a:solidFill>
                <a:latin typeface="Times New Roman" panose="02020603050405020304" pitchFamily="18" charset="0"/>
              </a:rPr>
              <a:t>+</a:t>
            </a:r>
            <a:r>
              <a:rPr lang="en-US" altLang="zh-CN" sz="2800" i="1" dirty="0">
                <a:solidFill>
                  <a:srgbClr val="FF0000"/>
                </a:solidFill>
                <a:latin typeface="Times New Roman" panose="02020603050405020304" pitchFamily="18" charset="0"/>
              </a:rPr>
              <a:t>R</a:t>
            </a:r>
            <a:r>
              <a:rPr lang="en-US" altLang="zh-CN" sz="2800" i="1" baseline="-25000" dirty="0">
                <a:solidFill>
                  <a:srgbClr val="FF0000"/>
                </a:solidFill>
                <a:latin typeface="Times New Roman" panose="02020603050405020304" pitchFamily="18" charset="0"/>
              </a:rPr>
              <a:t>ON </a:t>
            </a:r>
            <a:r>
              <a:rPr lang="zh-CN" altLang="en-US" sz="2800" dirty="0">
                <a:solidFill>
                  <a:srgbClr val="3333FF"/>
                </a:solidFill>
                <a:latin typeface="Times New Roman" panose="02020603050405020304" pitchFamily="18" charset="0"/>
                <a:ea typeface="黑体" panose="02010609060101010101" pitchFamily="49" charset="-122"/>
              </a:rPr>
              <a:t>；</a:t>
            </a:r>
            <a:endParaRPr lang="zh-CN" altLang="en-US" sz="2800" dirty="0">
              <a:solidFill>
                <a:srgbClr val="3333FF"/>
              </a:solidFill>
              <a:latin typeface="Times New Roman" panose="02020603050405020304" pitchFamily="18" charset="0"/>
              <a:ea typeface="黑体" panose="02010609060101010101" pitchFamily="49" charset="-122"/>
            </a:endParaRPr>
          </a:p>
          <a:p>
            <a:pPr eaLnBrk="1" hangingPunct="1">
              <a:lnSpc>
                <a:spcPct val="130000"/>
              </a:lnSpc>
              <a:buClr>
                <a:srgbClr val="FF0000"/>
              </a:buClr>
              <a:buFont typeface="Wingdings" panose="05000000000000000000" pitchFamily="2" charset="2"/>
              <a:buChar char="u"/>
            </a:pPr>
            <a:r>
              <a:rPr lang="zh-CN" altLang="en-US" sz="2800" dirty="0">
                <a:solidFill>
                  <a:srgbClr val="3333FF"/>
                </a:solidFill>
                <a:latin typeface="Times New Roman" panose="02020603050405020304" pitchFamily="18" charset="0"/>
                <a:ea typeface="黑体" panose="02010609060101010101" pitchFamily="49" charset="-122"/>
              </a:rPr>
              <a:t>  根据负载效应误差，计算出由此引起的</a:t>
            </a:r>
            <a:endParaRPr lang="zh-CN" altLang="en-US" sz="2800" dirty="0">
              <a:solidFill>
                <a:srgbClr val="3333FF"/>
              </a:solidFill>
              <a:latin typeface="Times New Roman" panose="02020603050405020304" pitchFamily="18" charset="0"/>
              <a:ea typeface="黑体" panose="02010609060101010101" pitchFamily="49" charset="-122"/>
            </a:endParaRPr>
          </a:p>
          <a:p>
            <a:pPr eaLnBrk="1" hangingPunct="1">
              <a:lnSpc>
                <a:spcPct val="90000"/>
              </a:lnSpc>
              <a:buClr>
                <a:srgbClr val="FF0000"/>
              </a:buClr>
              <a:buFont typeface="Wingdings" panose="05000000000000000000" pitchFamily="2" charset="2"/>
            </a:pPr>
            <a:r>
              <a:rPr lang="zh-CN" altLang="en-US" sz="2800" dirty="0">
                <a:solidFill>
                  <a:srgbClr val="3333FF"/>
                </a:solidFill>
                <a:latin typeface="Times New Roman" panose="02020603050405020304" pitchFamily="18" charset="0"/>
                <a:ea typeface="黑体" panose="02010609060101010101" pitchFamily="49" charset="-122"/>
              </a:rPr>
              <a:t>      衰减，然后在下级提高增益加以补偿。</a:t>
            </a:r>
            <a:endParaRPr lang="zh-CN" altLang="en-US" sz="2800" dirty="0">
              <a:solidFill>
                <a:srgbClr val="3333FF"/>
              </a:solidFill>
              <a:latin typeface="Times New Roman" panose="02020603050405020304" pitchFamily="18" charset="0"/>
              <a:ea typeface="黑体" panose="02010609060101010101" pitchFamily="49" charset="-122"/>
            </a:endParaRPr>
          </a:p>
        </p:txBody>
      </p:sp>
      <p:sp>
        <p:nvSpPr>
          <p:cNvPr id="2409511" name="Text Box 39"/>
          <p:cNvSpPr txBox="1"/>
          <p:nvPr/>
        </p:nvSpPr>
        <p:spPr>
          <a:xfrm>
            <a:off x="1479550" y="3960813"/>
            <a:ext cx="7286625" cy="822325"/>
          </a:xfrm>
          <a:prstGeom prst="rect">
            <a:avLst/>
          </a:prstGeom>
          <a:noFill/>
          <a:ln w="9525">
            <a:noFill/>
          </a:ln>
        </p:spPr>
        <p:txBody>
          <a:bodyPr>
            <a:spAutoFit/>
          </a:bodyPr>
          <a:p>
            <a:pPr eaLnBrk="1" hangingPunct="1">
              <a:buNone/>
            </a:pPr>
            <a:r>
              <a:rPr lang="zh-CN" altLang="en-US" sz="2400" dirty="0">
                <a:solidFill>
                  <a:srgbClr val="3333FF"/>
                </a:solidFill>
                <a:latin typeface="Times New Roman" panose="02020603050405020304" pitchFamily="18" charset="0"/>
              </a:rPr>
              <a:t>设某通道</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S</a:t>
            </a:r>
            <a:r>
              <a:rPr lang="en-US" altLang="zh-CN" sz="2400" dirty="0">
                <a:solidFill>
                  <a:srgbClr val="FF0000"/>
                </a:solidFill>
                <a:latin typeface="Times New Roman" panose="02020603050405020304" pitchFamily="18" charset="0"/>
                <a:ea typeface="宋体" panose="02010600030101010101" pitchFamily="2" charset="-122"/>
              </a:rPr>
              <a:t>=300Ω</a:t>
            </a:r>
            <a:r>
              <a:rPr lang="zh-CN" altLang="en-US" sz="2400" dirty="0">
                <a:solidFill>
                  <a:srgbClr val="3333FF"/>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ON</a:t>
            </a:r>
            <a:r>
              <a:rPr lang="en-US" altLang="zh-CN" sz="2400" dirty="0">
                <a:solidFill>
                  <a:srgbClr val="FF0000"/>
                </a:solidFill>
                <a:latin typeface="Times New Roman" panose="02020603050405020304" pitchFamily="18" charset="0"/>
                <a:ea typeface="宋体" panose="02010600030101010101" pitchFamily="2" charset="-122"/>
              </a:rPr>
              <a:t>=200Ω</a:t>
            </a:r>
            <a:r>
              <a:rPr lang="zh-CN" altLang="en-US" sz="2400" dirty="0">
                <a:solidFill>
                  <a:srgbClr val="3333FF"/>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baseline="-25000" dirty="0">
                <a:solidFill>
                  <a:srgbClr val="FF0000"/>
                </a:solidFill>
                <a:latin typeface="Times New Roman" panose="02020603050405020304" pitchFamily="18" charset="0"/>
                <a:ea typeface="宋体" panose="02010600030101010101" pitchFamily="2" charset="-122"/>
              </a:rPr>
              <a:t>L</a:t>
            </a:r>
            <a:r>
              <a:rPr lang="en-US" altLang="zh-CN" sz="2400" dirty="0">
                <a:solidFill>
                  <a:srgbClr val="FF0000"/>
                </a:solidFill>
                <a:latin typeface="Times New Roman" panose="02020603050405020304" pitchFamily="18" charset="0"/>
                <a:ea typeface="宋体" panose="02010600030101010101" pitchFamily="2" charset="-122"/>
              </a:rPr>
              <a:t>=5MΩ</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Times New Roman" panose="02020603050405020304" pitchFamily="18" charset="0"/>
              </a:rPr>
              <a:t>求负载效应误差</a:t>
            </a:r>
            <a:r>
              <a:rPr lang="zh-CN" altLang="en-US" sz="2400" dirty="0">
                <a:solidFill>
                  <a:srgbClr val="3333FF"/>
                </a:solidFill>
                <a:latin typeface="Times New Roman" panose="02020603050405020304" pitchFamily="18" charset="0"/>
                <a:ea typeface="宋体" panose="02010600030101010101" pitchFamily="2" charset="-122"/>
              </a:rPr>
              <a:t>。</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2409512" name="Text Box 40"/>
          <p:cNvSpPr txBox="1"/>
          <p:nvPr/>
        </p:nvSpPr>
        <p:spPr>
          <a:xfrm>
            <a:off x="285750" y="4054475"/>
            <a:ext cx="1155700" cy="476250"/>
          </a:xfrm>
          <a:prstGeom prst="rect">
            <a:avLst/>
          </a:prstGeom>
          <a:solidFill>
            <a:srgbClr val="FF99CC"/>
          </a:solid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例子：</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09513" name="Text Box 41"/>
          <p:cNvSpPr txBox="1"/>
          <p:nvPr/>
        </p:nvSpPr>
        <p:spPr>
          <a:xfrm>
            <a:off x="503238" y="4795838"/>
            <a:ext cx="914400" cy="476250"/>
          </a:xfrm>
          <a:prstGeom prst="rect">
            <a:avLst/>
          </a:prstGeom>
          <a:solidFill>
            <a:srgbClr val="CCFFFF"/>
          </a:solidFill>
          <a:ln w="9525">
            <a:noFill/>
          </a:ln>
        </p:spPr>
        <p:txBody>
          <a:bodyPr>
            <a:spAutoFit/>
          </a:bodyPr>
          <a:p>
            <a:pPr algn="ct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解：</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09514" name="Text Box 42"/>
          <p:cNvSpPr txBox="1"/>
          <p:nvPr/>
        </p:nvSpPr>
        <p:spPr>
          <a:xfrm>
            <a:off x="1601788" y="4768850"/>
            <a:ext cx="2374900" cy="457200"/>
          </a:xfrm>
          <a:prstGeom prst="rect">
            <a:avLst/>
          </a:prstGeom>
          <a:noFill/>
          <a:ln w="9525">
            <a:noFill/>
          </a:ln>
        </p:spPr>
        <p:txBody>
          <a:bodyPr>
            <a:spAutoFit/>
          </a:bodyPr>
          <a:p>
            <a:pPr eaLnBrk="1" hangingPunct="1"/>
            <a:r>
              <a:rPr lang="zh-CN" altLang="en-US" sz="2400" dirty="0">
                <a:solidFill>
                  <a:schemeClr val="tx1"/>
                </a:solidFill>
                <a:latin typeface="楷体_GB2312" pitchFamily="49" charset="-122"/>
              </a:rPr>
              <a:t>负载效应误差 </a:t>
            </a:r>
            <a:r>
              <a:rPr lang="en-US" altLang="zh-CN" sz="2400" dirty="0">
                <a:solidFill>
                  <a:schemeClr val="tx1"/>
                </a:solidFill>
                <a:latin typeface="宋体" panose="02010600030101010101" pitchFamily="2" charset="-122"/>
                <a:ea typeface="宋体" panose="02010600030101010101" pitchFamily="2" charset="-122"/>
              </a:rPr>
              <a:t>=</a:t>
            </a:r>
            <a:r>
              <a:rPr lang="en-US" altLang="zh-CN" sz="2400" dirty="0">
                <a:solidFill>
                  <a:schemeClr val="tx1"/>
                </a:solidFill>
                <a:latin typeface="楷体_GB2312" pitchFamily="49" charset="-122"/>
              </a:rPr>
              <a:t> </a:t>
            </a:r>
            <a:endParaRPr lang="en-US" altLang="zh-CN" sz="2400" dirty="0">
              <a:solidFill>
                <a:schemeClr val="tx1"/>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9508"/>
                                        </p:tgtEl>
                                        <p:attrNameLst>
                                          <p:attrName>style.visibility</p:attrName>
                                        </p:attrNameLst>
                                      </p:cBhvr>
                                      <p:to>
                                        <p:strVal val="visible"/>
                                      </p:to>
                                    </p:set>
                                    <p:animEffect transition="in" filter="dissolve">
                                      <p:cBhvr>
                                        <p:cTn id="7" dur="500"/>
                                        <p:tgtEl>
                                          <p:spTgt spid="24095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9509"/>
                                        </p:tgtEl>
                                        <p:attrNameLst>
                                          <p:attrName>style.visibility</p:attrName>
                                        </p:attrNameLst>
                                      </p:cBhvr>
                                      <p:to>
                                        <p:strVal val="visible"/>
                                      </p:to>
                                    </p:set>
                                    <p:animEffect transition="in" filter="dissolve">
                                      <p:cBhvr>
                                        <p:cTn id="12" dur="500"/>
                                        <p:tgtEl>
                                          <p:spTgt spid="240950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9512"/>
                                        </p:tgtEl>
                                        <p:attrNameLst>
                                          <p:attrName>style.visibility</p:attrName>
                                        </p:attrNameLst>
                                      </p:cBhvr>
                                      <p:to>
                                        <p:strVal val="visible"/>
                                      </p:to>
                                    </p:set>
                                    <p:animEffect transition="in" filter="dissolve">
                                      <p:cBhvr>
                                        <p:cTn id="17" dur="500"/>
                                        <p:tgtEl>
                                          <p:spTgt spid="24095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9511"/>
                                        </p:tgtEl>
                                        <p:attrNameLst>
                                          <p:attrName>style.visibility</p:attrName>
                                        </p:attrNameLst>
                                      </p:cBhvr>
                                      <p:to>
                                        <p:strVal val="visible"/>
                                      </p:to>
                                    </p:set>
                                    <p:animEffect transition="in" filter="dissolve">
                                      <p:cBhvr>
                                        <p:cTn id="22" dur="500"/>
                                        <p:tgtEl>
                                          <p:spTgt spid="24095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9513"/>
                                        </p:tgtEl>
                                        <p:attrNameLst>
                                          <p:attrName>style.visibility</p:attrName>
                                        </p:attrNameLst>
                                      </p:cBhvr>
                                      <p:to>
                                        <p:strVal val="visible"/>
                                      </p:to>
                                    </p:set>
                                    <p:animEffect transition="in" filter="dissolve">
                                      <p:cBhvr>
                                        <p:cTn id="27" dur="500"/>
                                        <p:tgtEl>
                                          <p:spTgt spid="24095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09514"/>
                                        </p:tgtEl>
                                        <p:attrNameLst>
                                          <p:attrName>style.visibility</p:attrName>
                                        </p:attrNameLst>
                                      </p:cBhvr>
                                      <p:to>
                                        <p:strVal val="visible"/>
                                      </p:to>
                                    </p:set>
                                    <p:animEffect transition="in" filter="dissolve">
                                      <p:cBhvr>
                                        <p:cTn id="32" dur="500"/>
                                        <p:tgtEl>
                                          <p:spTgt spid="2409514"/>
                                        </p:tgtEl>
                                      </p:cBhvr>
                                    </p:animEffect>
                                  </p:childTnLst>
                                </p:cTn>
                              </p:par>
                              <p:par>
                                <p:cTn id="33" presetID="9" presetClass="entr" presetSubtype="0" fill="hold" nodeType="withEffect">
                                  <p:stCondLst>
                                    <p:cond delay="0"/>
                                  </p:stCondLst>
                                  <p:childTnLst>
                                    <p:set>
                                      <p:cBhvr>
                                        <p:cTn id="34" dur="1" fill="hold">
                                          <p:stCondLst>
                                            <p:cond delay="0"/>
                                          </p:stCondLst>
                                        </p:cTn>
                                        <p:tgtEl>
                                          <p:spTgt spid="2409515"/>
                                        </p:tgtEl>
                                        <p:attrNameLst>
                                          <p:attrName>style.visibility</p:attrName>
                                        </p:attrNameLst>
                                      </p:cBhvr>
                                      <p:to>
                                        <p:strVal val="visible"/>
                                      </p:to>
                                    </p:set>
                                    <p:animEffect transition="in" filter="dissolve">
                                      <p:cBhvr>
                                        <p:cTn id="35" dur="500"/>
                                        <p:tgtEl>
                                          <p:spTgt spid="24095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9508" grpId="0"/>
      <p:bldP spid="2409509" grpId="0" animBg="1"/>
      <p:bldP spid="2409511" grpId="0"/>
      <p:bldP spid="2409512" grpId="0" animBg="1"/>
      <p:bldP spid="2409513" grpId="0" animBg="1"/>
      <p:bldP spid="2409514"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50099" name="Text Box 19"/>
          <p:cNvSpPr txBox="1"/>
          <p:nvPr/>
        </p:nvSpPr>
        <p:spPr>
          <a:xfrm>
            <a:off x="474663" y="631825"/>
            <a:ext cx="15621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4.</a:t>
            </a:r>
            <a:r>
              <a:rPr lang="zh-CN" altLang="en-US" dirty="0">
                <a:latin typeface="Times New Roman" panose="02020603050405020304" pitchFamily="18" charset="0"/>
              </a:rPr>
              <a:t>串扰 </a:t>
            </a:r>
            <a:endParaRPr lang="zh-CN" altLang="en-US" dirty="0">
              <a:latin typeface="Times New Roman" panose="02020603050405020304" pitchFamily="18" charset="0"/>
            </a:endParaRPr>
          </a:p>
        </p:txBody>
      </p:sp>
      <p:sp>
        <p:nvSpPr>
          <p:cNvPr id="2350101" name="Text Box 21"/>
          <p:cNvSpPr txBox="1"/>
          <p:nvPr/>
        </p:nvSpPr>
        <p:spPr>
          <a:xfrm>
            <a:off x="873125" y="1363663"/>
            <a:ext cx="7710488"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串扰：</a:t>
            </a:r>
            <a:r>
              <a:rPr lang="zh-CN" altLang="en-US" sz="2800" dirty="0">
                <a:solidFill>
                  <a:schemeClr val="tx1"/>
                </a:solidFill>
                <a:latin typeface="黑体" panose="02010609060101010101" pitchFamily="49" charset="-122"/>
                <a:ea typeface="黑体" panose="02010609060101010101" pitchFamily="49" charset="-122"/>
              </a:rPr>
              <a:t>断开通道的信号电压耦合到接收通道引起</a:t>
            </a:r>
            <a:endParaRPr lang="zh-CN" altLang="en-US" sz="2800" dirty="0">
              <a:solidFill>
                <a:schemeClr val="tx1"/>
              </a:solidFill>
              <a:latin typeface="黑体" panose="02010609060101010101" pitchFamily="49" charset="-122"/>
              <a:ea typeface="黑体" panose="02010609060101010101" pitchFamily="49" charset="-122"/>
            </a:endParaRPr>
          </a:p>
          <a:p>
            <a:pPr eaLnBrk="1" hangingPunct="1"/>
            <a:r>
              <a:rPr lang="zh-CN" altLang="en-US" sz="2800" dirty="0">
                <a:solidFill>
                  <a:schemeClr val="tx1"/>
                </a:solidFill>
                <a:latin typeface="黑体" panose="02010609060101010101" pitchFamily="49" charset="-122"/>
                <a:ea typeface="黑体" panose="02010609060101010101" pitchFamily="49" charset="-122"/>
              </a:rPr>
              <a:t>      的干扰。</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350103" name="Text Box 23"/>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50174" name="Rectangle 94"/>
          <p:cNvSpPr/>
          <p:nvPr/>
        </p:nvSpPr>
        <p:spPr>
          <a:xfrm>
            <a:off x="155575" y="2428875"/>
            <a:ext cx="3749675" cy="374967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350104" name="Line 24"/>
          <p:cNvSpPr/>
          <p:nvPr/>
        </p:nvSpPr>
        <p:spPr>
          <a:xfrm flipV="1">
            <a:off x="681038" y="2708275"/>
            <a:ext cx="1587" cy="422275"/>
          </a:xfrm>
          <a:prstGeom prst="line">
            <a:avLst/>
          </a:prstGeom>
          <a:ln w="0" cap="flat" cmpd="sng">
            <a:solidFill>
              <a:srgbClr val="0000FF"/>
            </a:solidFill>
            <a:prstDash val="solid"/>
            <a:headEnd type="none" w="med" len="med"/>
            <a:tailEnd type="none" w="med" len="med"/>
          </a:ln>
        </p:spPr>
      </p:sp>
      <p:sp>
        <p:nvSpPr>
          <p:cNvPr id="2350105" name="Line 25"/>
          <p:cNvSpPr/>
          <p:nvPr/>
        </p:nvSpPr>
        <p:spPr>
          <a:xfrm>
            <a:off x="681038" y="2708275"/>
            <a:ext cx="984250" cy="0"/>
          </a:xfrm>
          <a:prstGeom prst="line">
            <a:avLst/>
          </a:prstGeom>
          <a:ln w="0" cap="flat" cmpd="sng">
            <a:solidFill>
              <a:srgbClr val="0000FF"/>
            </a:solidFill>
            <a:prstDash val="solid"/>
            <a:headEnd type="none" w="med" len="med"/>
            <a:tailEnd type="none" w="med" len="med"/>
          </a:ln>
        </p:spPr>
      </p:sp>
      <p:sp>
        <p:nvSpPr>
          <p:cNvPr id="2350106" name="Rectangle 26"/>
          <p:cNvSpPr/>
          <p:nvPr/>
        </p:nvSpPr>
        <p:spPr>
          <a:xfrm>
            <a:off x="1366838" y="2673350"/>
            <a:ext cx="292100" cy="88900"/>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07" name="Line 27"/>
          <p:cNvSpPr/>
          <p:nvPr/>
        </p:nvSpPr>
        <p:spPr>
          <a:xfrm>
            <a:off x="1658938" y="2708275"/>
            <a:ext cx="531812" cy="1588"/>
          </a:xfrm>
          <a:prstGeom prst="line">
            <a:avLst/>
          </a:prstGeom>
          <a:ln w="0" cap="flat" cmpd="sng">
            <a:solidFill>
              <a:srgbClr val="0000FF"/>
            </a:solidFill>
            <a:prstDash val="solid"/>
            <a:headEnd type="none" w="med" len="med"/>
            <a:tailEnd type="none" w="med" len="med"/>
          </a:ln>
        </p:spPr>
      </p:sp>
      <p:sp>
        <p:nvSpPr>
          <p:cNvPr id="2350108" name="Line 28"/>
          <p:cNvSpPr/>
          <p:nvPr/>
        </p:nvSpPr>
        <p:spPr>
          <a:xfrm>
            <a:off x="2190750" y="2620963"/>
            <a:ext cx="1588" cy="193675"/>
          </a:xfrm>
          <a:prstGeom prst="line">
            <a:avLst/>
          </a:prstGeom>
          <a:ln w="0" cap="flat" cmpd="sng">
            <a:solidFill>
              <a:srgbClr val="0000FF"/>
            </a:solidFill>
            <a:prstDash val="solid"/>
            <a:headEnd type="none" w="med" len="med"/>
            <a:tailEnd type="none" w="med" len="med"/>
          </a:ln>
        </p:spPr>
      </p:sp>
      <p:sp>
        <p:nvSpPr>
          <p:cNvPr id="2350109" name="Line 29"/>
          <p:cNvSpPr/>
          <p:nvPr/>
        </p:nvSpPr>
        <p:spPr>
          <a:xfrm>
            <a:off x="2259013" y="2620963"/>
            <a:ext cx="1587" cy="193675"/>
          </a:xfrm>
          <a:prstGeom prst="line">
            <a:avLst/>
          </a:prstGeom>
          <a:ln w="0" cap="flat" cmpd="sng">
            <a:solidFill>
              <a:srgbClr val="0000FF"/>
            </a:solidFill>
            <a:prstDash val="solid"/>
            <a:headEnd type="none" w="med" len="med"/>
            <a:tailEnd type="none" w="med" len="med"/>
          </a:ln>
        </p:spPr>
      </p:sp>
      <p:sp>
        <p:nvSpPr>
          <p:cNvPr id="2350110" name="Line 30"/>
          <p:cNvSpPr/>
          <p:nvPr/>
        </p:nvSpPr>
        <p:spPr>
          <a:xfrm>
            <a:off x="2259013" y="2708275"/>
            <a:ext cx="481012" cy="1588"/>
          </a:xfrm>
          <a:prstGeom prst="line">
            <a:avLst/>
          </a:prstGeom>
          <a:ln w="0" cap="flat" cmpd="sng">
            <a:solidFill>
              <a:srgbClr val="0000FF"/>
            </a:solidFill>
            <a:prstDash val="solid"/>
            <a:headEnd type="none" w="med" len="med"/>
            <a:tailEnd type="none" w="med" len="med"/>
          </a:ln>
        </p:spPr>
      </p:sp>
      <p:sp>
        <p:nvSpPr>
          <p:cNvPr id="2350111" name="Line 31"/>
          <p:cNvSpPr/>
          <p:nvPr/>
        </p:nvSpPr>
        <p:spPr>
          <a:xfrm>
            <a:off x="2740025" y="2708275"/>
            <a:ext cx="1588" cy="1865313"/>
          </a:xfrm>
          <a:prstGeom prst="line">
            <a:avLst/>
          </a:prstGeom>
          <a:ln w="0" cap="flat" cmpd="sng">
            <a:solidFill>
              <a:srgbClr val="0000FF"/>
            </a:solidFill>
            <a:prstDash val="solid"/>
            <a:headEnd type="none" w="med" len="med"/>
            <a:tailEnd type="none" w="med" len="med"/>
          </a:ln>
        </p:spPr>
      </p:sp>
      <p:sp>
        <p:nvSpPr>
          <p:cNvPr id="2350112" name="Line 32"/>
          <p:cNvSpPr/>
          <p:nvPr/>
        </p:nvSpPr>
        <p:spPr>
          <a:xfrm>
            <a:off x="1916113" y="2708275"/>
            <a:ext cx="1587" cy="369888"/>
          </a:xfrm>
          <a:prstGeom prst="line">
            <a:avLst/>
          </a:prstGeom>
          <a:ln w="0" cap="flat" cmpd="sng">
            <a:solidFill>
              <a:srgbClr val="0000FF"/>
            </a:solidFill>
            <a:prstDash val="solid"/>
            <a:headEnd type="none" w="med" len="med"/>
            <a:tailEnd type="none" w="med" len="med"/>
          </a:ln>
        </p:spPr>
      </p:sp>
      <p:sp>
        <p:nvSpPr>
          <p:cNvPr id="2350113" name="Line 33"/>
          <p:cNvSpPr/>
          <p:nvPr/>
        </p:nvSpPr>
        <p:spPr>
          <a:xfrm>
            <a:off x="1830388" y="3078163"/>
            <a:ext cx="188912" cy="1587"/>
          </a:xfrm>
          <a:prstGeom prst="line">
            <a:avLst/>
          </a:prstGeom>
          <a:ln w="0" cap="flat" cmpd="sng">
            <a:solidFill>
              <a:srgbClr val="0000FF"/>
            </a:solidFill>
            <a:prstDash val="solid"/>
            <a:headEnd type="none" w="med" len="med"/>
            <a:tailEnd type="none" w="med" len="med"/>
          </a:ln>
        </p:spPr>
      </p:sp>
      <p:sp>
        <p:nvSpPr>
          <p:cNvPr id="2350114" name="Line 34"/>
          <p:cNvSpPr/>
          <p:nvPr/>
        </p:nvSpPr>
        <p:spPr>
          <a:xfrm>
            <a:off x="1830388" y="3130550"/>
            <a:ext cx="188912" cy="1588"/>
          </a:xfrm>
          <a:prstGeom prst="line">
            <a:avLst/>
          </a:prstGeom>
          <a:ln w="0" cap="flat" cmpd="sng">
            <a:solidFill>
              <a:srgbClr val="0000FF"/>
            </a:solidFill>
            <a:prstDash val="solid"/>
            <a:headEnd type="none" w="med" len="med"/>
            <a:tailEnd type="none" w="med" len="med"/>
          </a:ln>
        </p:spPr>
      </p:sp>
      <p:sp>
        <p:nvSpPr>
          <p:cNvPr id="2350115" name="Line 35"/>
          <p:cNvSpPr/>
          <p:nvPr/>
        </p:nvSpPr>
        <p:spPr>
          <a:xfrm>
            <a:off x="1916113" y="3130550"/>
            <a:ext cx="1587" cy="211138"/>
          </a:xfrm>
          <a:prstGeom prst="line">
            <a:avLst/>
          </a:prstGeom>
          <a:ln w="0" cap="flat" cmpd="sng">
            <a:solidFill>
              <a:srgbClr val="0000FF"/>
            </a:solidFill>
            <a:prstDash val="solid"/>
            <a:headEnd type="none" w="med" len="med"/>
            <a:tailEnd type="none" w="med" len="med"/>
          </a:ln>
        </p:spPr>
      </p:sp>
      <p:sp>
        <p:nvSpPr>
          <p:cNvPr id="2350116" name="Line 36"/>
          <p:cNvSpPr/>
          <p:nvPr/>
        </p:nvSpPr>
        <p:spPr>
          <a:xfrm>
            <a:off x="1797050" y="3341688"/>
            <a:ext cx="239713" cy="1587"/>
          </a:xfrm>
          <a:prstGeom prst="line">
            <a:avLst/>
          </a:prstGeom>
          <a:ln w="0" cap="flat" cmpd="sng">
            <a:solidFill>
              <a:srgbClr val="0000FF"/>
            </a:solidFill>
            <a:prstDash val="solid"/>
            <a:headEnd type="none" w="med" len="med"/>
            <a:tailEnd type="none" w="med" len="med"/>
          </a:ln>
        </p:spPr>
      </p:sp>
      <p:sp>
        <p:nvSpPr>
          <p:cNvPr id="2350117" name="Line 37"/>
          <p:cNvSpPr/>
          <p:nvPr/>
        </p:nvSpPr>
        <p:spPr>
          <a:xfrm>
            <a:off x="681038" y="3406775"/>
            <a:ext cx="1587" cy="287338"/>
          </a:xfrm>
          <a:prstGeom prst="line">
            <a:avLst/>
          </a:prstGeom>
          <a:ln w="0" cap="flat" cmpd="sng">
            <a:solidFill>
              <a:srgbClr val="0000FF"/>
            </a:solidFill>
            <a:prstDash val="solid"/>
            <a:headEnd type="none" w="med" len="med"/>
            <a:tailEnd type="none" w="med" len="med"/>
          </a:ln>
        </p:spPr>
      </p:sp>
      <p:sp>
        <p:nvSpPr>
          <p:cNvPr id="2350118" name="Line 38"/>
          <p:cNvSpPr/>
          <p:nvPr/>
        </p:nvSpPr>
        <p:spPr>
          <a:xfrm>
            <a:off x="577850" y="3694113"/>
            <a:ext cx="223838" cy="1587"/>
          </a:xfrm>
          <a:prstGeom prst="line">
            <a:avLst/>
          </a:prstGeom>
          <a:ln w="0" cap="flat" cmpd="sng">
            <a:solidFill>
              <a:srgbClr val="0000FF"/>
            </a:solidFill>
            <a:prstDash val="solid"/>
            <a:headEnd type="none" w="med" len="med"/>
            <a:tailEnd type="none" w="med" len="med"/>
          </a:ln>
        </p:spPr>
      </p:sp>
      <p:sp>
        <p:nvSpPr>
          <p:cNvPr id="2350119" name="Line 39"/>
          <p:cNvSpPr/>
          <p:nvPr/>
        </p:nvSpPr>
        <p:spPr>
          <a:xfrm>
            <a:off x="817563" y="4151313"/>
            <a:ext cx="1090612" cy="1587"/>
          </a:xfrm>
          <a:prstGeom prst="line">
            <a:avLst/>
          </a:prstGeom>
          <a:ln w="0" cap="flat" cmpd="sng">
            <a:solidFill>
              <a:srgbClr val="0000FF"/>
            </a:solidFill>
            <a:prstDash val="solid"/>
            <a:headEnd type="none" w="med" len="med"/>
            <a:tailEnd type="none" w="med" len="med"/>
          </a:ln>
        </p:spPr>
      </p:sp>
      <p:sp>
        <p:nvSpPr>
          <p:cNvPr id="2350120" name="Line 40"/>
          <p:cNvSpPr/>
          <p:nvPr/>
        </p:nvSpPr>
        <p:spPr>
          <a:xfrm>
            <a:off x="817563" y="4151313"/>
            <a:ext cx="0" cy="587375"/>
          </a:xfrm>
          <a:prstGeom prst="line">
            <a:avLst/>
          </a:prstGeom>
          <a:ln w="0" cap="flat" cmpd="sng">
            <a:solidFill>
              <a:srgbClr val="0000FF"/>
            </a:solidFill>
            <a:prstDash val="solid"/>
            <a:headEnd type="none" w="med" len="med"/>
            <a:tailEnd type="none" w="med" len="med"/>
          </a:ln>
        </p:spPr>
      </p:sp>
      <p:sp>
        <p:nvSpPr>
          <p:cNvPr id="2350121" name="Rectangle 41"/>
          <p:cNvSpPr/>
          <p:nvPr/>
        </p:nvSpPr>
        <p:spPr>
          <a:xfrm>
            <a:off x="784225" y="4432300"/>
            <a:ext cx="82550" cy="300038"/>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22" name="Line 42"/>
          <p:cNvSpPr/>
          <p:nvPr/>
        </p:nvSpPr>
        <p:spPr>
          <a:xfrm>
            <a:off x="817563" y="4725988"/>
            <a:ext cx="1587" cy="409575"/>
          </a:xfrm>
          <a:prstGeom prst="line">
            <a:avLst/>
          </a:prstGeom>
          <a:ln w="0" cap="flat" cmpd="sng">
            <a:solidFill>
              <a:srgbClr val="0000FF"/>
            </a:solidFill>
            <a:prstDash val="solid"/>
            <a:headEnd type="none" w="med" len="med"/>
            <a:tailEnd type="none" w="med" len="med"/>
          </a:ln>
        </p:spPr>
      </p:sp>
      <p:sp>
        <p:nvSpPr>
          <p:cNvPr id="2350123" name="Line 43"/>
          <p:cNvSpPr/>
          <p:nvPr/>
        </p:nvSpPr>
        <p:spPr>
          <a:xfrm>
            <a:off x="817563" y="5135563"/>
            <a:ext cx="2746375" cy="1587"/>
          </a:xfrm>
          <a:prstGeom prst="line">
            <a:avLst/>
          </a:prstGeom>
          <a:ln w="0" cap="flat" cmpd="sng">
            <a:solidFill>
              <a:srgbClr val="0000FF"/>
            </a:solidFill>
            <a:prstDash val="solid"/>
            <a:headEnd type="none" w="med" len="med"/>
            <a:tailEnd type="none" w="med" len="med"/>
          </a:ln>
        </p:spPr>
      </p:sp>
      <p:sp>
        <p:nvSpPr>
          <p:cNvPr id="2350124" name="Line 44"/>
          <p:cNvSpPr/>
          <p:nvPr/>
        </p:nvSpPr>
        <p:spPr>
          <a:xfrm>
            <a:off x="1481138" y="4151313"/>
            <a:ext cx="1587" cy="422275"/>
          </a:xfrm>
          <a:prstGeom prst="line">
            <a:avLst/>
          </a:prstGeom>
          <a:ln w="0" cap="flat" cmpd="sng">
            <a:solidFill>
              <a:srgbClr val="0000FF"/>
            </a:solidFill>
            <a:prstDash val="solid"/>
            <a:headEnd type="none" w="med" len="med"/>
            <a:tailEnd type="none" w="med" len="med"/>
          </a:ln>
        </p:spPr>
      </p:sp>
      <p:sp>
        <p:nvSpPr>
          <p:cNvPr id="2350125" name="Line 45"/>
          <p:cNvSpPr/>
          <p:nvPr/>
        </p:nvSpPr>
        <p:spPr>
          <a:xfrm>
            <a:off x="1387475" y="4573588"/>
            <a:ext cx="214313" cy="1587"/>
          </a:xfrm>
          <a:prstGeom prst="line">
            <a:avLst/>
          </a:prstGeom>
          <a:ln w="0" cap="flat" cmpd="sng">
            <a:solidFill>
              <a:srgbClr val="0000FF"/>
            </a:solidFill>
            <a:prstDash val="solid"/>
            <a:headEnd type="none" w="med" len="med"/>
            <a:tailEnd type="none" w="med" len="med"/>
          </a:ln>
        </p:spPr>
      </p:sp>
      <p:sp>
        <p:nvSpPr>
          <p:cNvPr id="2350126" name="Line 46"/>
          <p:cNvSpPr/>
          <p:nvPr/>
        </p:nvSpPr>
        <p:spPr>
          <a:xfrm>
            <a:off x="1387475" y="4643438"/>
            <a:ext cx="214313" cy="1587"/>
          </a:xfrm>
          <a:prstGeom prst="line">
            <a:avLst/>
          </a:prstGeom>
          <a:ln w="0" cap="flat" cmpd="sng">
            <a:solidFill>
              <a:srgbClr val="0000FF"/>
            </a:solidFill>
            <a:prstDash val="solid"/>
            <a:headEnd type="none" w="med" len="med"/>
            <a:tailEnd type="none" w="med" len="med"/>
          </a:ln>
        </p:spPr>
      </p:sp>
      <p:sp>
        <p:nvSpPr>
          <p:cNvPr id="2350127" name="Line 47"/>
          <p:cNvSpPr/>
          <p:nvPr/>
        </p:nvSpPr>
        <p:spPr>
          <a:xfrm>
            <a:off x="1481138" y="4643438"/>
            <a:ext cx="1587" cy="492125"/>
          </a:xfrm>
          <a:prstGeom prst="line">
            <a:avLst/>
          </a:prstGeom>
          <a:ln w="0" cap="flat" cmpd="sng">
            <a:solidFill>
              <a:srgbClr val="0000FF"/>
            </a:solidFill>
            <a:prstDash val="solid"/>
            <a:headEnd type="none" w="med" len="med"/>
            <a:tailEnd type="none" w="med" len="med"/>
          </a:ln>
        </p:spPr>
      </p:sp>
      <p:sp>
        <p:nvSpPr>
          <p:cNvPr id="2350128" name="Rectangle 48"/>
          <p:cNvSpPr/>
          <p:nvPr/>
        </p:nvSpPr>
        <p:spPr>
          <a:xfrm>
            <a:off x="1898650" y="4116388"/>
            <a:ext cx="309563" cy="87312"/>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29" name="Line 49"/>
          <p:cNvSpPr/>
          <p:nvPr/>
        </p:nvSpPr>
        <p:spPr>
          <a:xfrm>
            <a:off x="2200275" y="4151313"/>
            <a:ext cx="1363663" cy="1587"/>
          </a:xfrm>
          <a:prstGeom prst="line">
            <a:avLst/>
          </a:prstGeom>
          <a:ln w="0" cap="flat" cmpd="sng">
            <a:solidFill>
              <a:srgbClr val="0000FF"/>
            </a:solidFill>
            <a:prstDash val="solid"/>
            <a:headEnd type="none" w="med" len="med"/>
            <a:tailEnd type="none" w="med" len="med"/>
          </a:ln>
        </p:spPr>
      </p:sp>
      <p:sp>
        <p:nvSpPr>
          <p:cNvPr id="2350130" name="Line 50"/>
          <p:cNvSpPr/>
          <p:nvPr/>
        </p:nvSpPr>
        <p:spPr>
          <a:xfrm>
            <a:off x="2636838" y="4573588"/>
            <a:ext cx="206375" cy="1587"/>
          </a:xfrm>
          <a:prstGeom prst="line">
            <a:avLst/>
          </a:prstGeom>
          <a:ln w="0" cap="flat" cmpd="sng">
            <a:solidFill>
              <a:srgbClr val="0000FF"/>
            </a:solidFill>
            <a:prstDash val="solid"/>
            <a:headEnd type="none" w="med" len="med"/>
            <a:tailEnd type="none" w="med" len="med"/>
          </a:ln>
        </p:spPr>
      </p:sp>
      <p:sp>
        <p:nvSpPr>
          <p:cNvPr id="2350131" name="Line 51"/>
          <p:cNvSpPr/>
          <p:nvPr/>
        </p:nvSpPr>
        <p:spPr>
          <a:xfrm>
            <a:off x="2636838" y="4643438"/>
            <a:ext cx="206375" cy="1587"/>
          </a:xfrm>
          <a:prstGeom prst="line">
            <a:avLst/>
          </a:prstGeom>
          <a:ln w="0" cap="flat" cmpd="sng">
            <a:solidFill>
              <a:srgbClr val="0000FF"/>
            </a:solidFill>
            <a:prstDash val="solid"/>
            <a:headEnd type="none" w="med" len="med"/>
            <a:tailEnd type="none" w="med" len="med"/>
          </a:ln>
        </p:spPr>
      </p:sp>
      <p:sp>
        <p:nvSpPr>
          <p:cNvPr id="2350132" name="Line 52"/>
          <p:cNvSpPr/>
          <p:nvPr/>
        </p:nvSpPr>
        <p:spPr>
          <a:xfrm>
            <a:off x="2740025" y="4643438"/>
            <a:ext cx="1588" cy="774700"/>
          </a:xfrm>
          <a:prstGeom prst="line">
            <a:avLst/>
          </a:prstGeom>
          <a:ln w="0" cap="flat" cmpd="sng">
            <a:solidFill>
              <a:srgbClr val="0000FF"/>
            </a:solidFill>
            <a:prstDash val="solid"/>
            <a:headEnd type="none" w="med" len="med"/>
            <a:tailEnd type="none" w="med" len="med"/>
          </a:ln>
        </p:spPr>
      </p:sp>
      <p:sp>
        <p:nvSpPr>
          <p:cNvPr id="2350133" name="Line 53"/>
          <p:cNvSpPr/>
          <p:nvPr/>
        </p:nvSpPr>
        <p:spPr>
          <a:xfrm>
            <a:off x="2620963" y="5418138"/>
            <a:ext cx="257175" cy="1587"/>
          </a:xfrm>
          <a:prstGeom prst="line">
            <a:avLst/>
          </a:prstGeom>
          <a:ln w="0" cap="flat" cmpd="sng">
            <a:solidFill>
              <a:srgbClr val="0000FF"/>
            </a:solidFill>
            <a:prstDash val="solid"/>
            <a:headEnd type="none" w="med" len="med"/>
            <a:tailEnd type="none" w="med" len="med"/>
          </a:ln>
        </p:spPr>
      </p:sp>
      <p:sp>
        <p:nvSpPr>
          <p:cNvPr id="2350134" name="Line 54"/>
          <p:cNvSpPr/>
          <p:nvPr/>
        </p:nvSpPr>
        <p:spPr>
          <a:xfrm>
            <a:off x="3478213" y="4151313"/>
            <a:ext cx="1587" cy="984250"/>
          </a:xfrm>
          <a:prstGeom prst="line">
            <a:avLst/>
          </a:prstGeom>
          <a:ln w="0" cap="flat" cmpd="sng">
            <a:solidFill>
              <a:srgbClr val="0000FF"/>
            </a:solidFill>
            <a:prstDash val="solid"/>
            <a:headEnd type="none" w="med" len="med"/>
            <a:tailEnd type="none" w="med" len="med"/>
          </a:ln>
        </p:spPr>
      </p:sp>
      <p:sp>
        <p:nvSpPr>
          <p:cNvPr id="2350135" name="Rectangle 55"/>
          <p:cNvSpPr/>
          <p:nvPr/>
        </p:nvSpPr>
        <p:spPr>
          <a:xfrm>
            <a:off x="206375" y="3128963"/>
            <a:ext cx="138113"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350136" name="Rectangle 56"/>
          <p:cNvSpPr/>
          <p:nvPr/>
        </p:nvSpPr>
        <p:spPr>
          <a:xfrm>
            <a:off x="354013" y="3219450"/>
            <a:ext cx="12065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2350137" name="Rectangle 57"/>
          <p:cNvSpPr/>
          <p:nvPr/>
        </p:nvSpPr>
        <p:spPr>
          <a:xfrm>
            <a:off x="1414463" y="2443163"/>
            <a:ext cx="115887"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50138" name="Rectangle 58"/>
          <p:cNvSpPr/>
          <p:nvPr/>
        </p:nvSpPr>
        <p:spPr>
          <a:xfrm>
            <a:off x="1547813" y="25320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2350139" name="Rectangle 59"/>
          <p:cNvSpPr/>
          <p:nvPr/>
        </p:nvSpPr>
        <p:spPr>
          <a:xfrm>
            <a:off x="1911350" y="3876675"/>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50140" name="Rectangle 60"/>
          <p:cNvSpPr/>
          <p:nvPr/>
        </p:nvSpPr>
        <p:spPr>
          <a:xfrm>
            <a:off x="2036763" y="3967163"/>
            <a:ext cx="2222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ON2</a:t>
            </a:r>
            <a:endParaRPr lang="en-US" altLang="zh-CN" dirty="0">
              <a:latin typeface="Times New Roman" panose="02020603050405020304" pitchFamily="18" charset="0"/>
            </a:endParaRPr>
          </a:p>
        </p:txBody>
      </p:sp>
      <p:sp>
        <p:nvSpPr>
          <p:cNvPr id="2350141" name="Rectangle 61"/>
          <p:cNvSpPr/>
          <p:nvPr/>
        </p:nvSpPr>
        <p:spPr>
          <a:xfrm>
            <a:off x="457200" y="4449763"/>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350142" name="Rectangle 62"/>
          <p:cNvSpPr/>
          <p:nvPr/>
        </p:nvSpPr>
        <p:spPr>
          <a:xfrm>
            <a:off x="595313" y="45386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S2</a:t>
            </a:r>
            <a:endParaRPr lang="en-US" altLang="zh-CN" dirty="0">
              <a:latin typeface="Times New Roman" panose="02020603050405020304" pitchFamily="18" charset="0"/>
            </a:endParaRPr>
          </a:p>
        </p:txBody>
      </p:sp>
      <p:sp>
        <p:nvSpPr>
          <p:cNvPr id="2350143" name="Rectangle 63"/>
          <p:cNvSpPr/>
          <p:nvPr/>
        </p:nvSpPr>
        <p:spPr>
          <a:xfrm>
            <a:off x="1039813" y="4465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50145" name="Rectangle 65"/>
          <p:cNvSpPr/>
          <p:nvPr/>
        </p:nvSpPr>
        <p:spPr>
          <a:xfrm>
            <a:off x="1187450" y="4533900"/>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in2</a:t>
            </a:r>
            <a:endParaRPr lang="en-US" altLang="zh-CN" dirty="0">
              <a:latin typeface="Times New Roman" panose="02020603050405020304" pitchFamily="18" charset="0"/>
            </a:endParaRPr>
          </a:p>
        </p:txBody>
      </p:sp>
      <p:sp>
        <p:nvSpPr>
          <p:cNvPr id="2350147" name="Rectangle 67"/>
          <p:cNvSpPr/>
          <p:nvPr/>
        </p:nvSpPr>
        <p:spPr>
          <a:xfrm>
            <a:off x="2062163" y="3016250"/>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50149" name="Rectangle 69"/>
          <p:cNvSpPr/>
          <p:nvPr/>
        </p:nvSpPr>
        <p:spPr>
          <a:xfrm>
            <a:off x="2206625" y="3082925"/>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in1</a:t>
            </a:r>
            <a:endParaRPr lang="en-US" altLang="zh-CN" dirty="0">
              <a:latin typeface="Times New Roman" panose="02020603050405020304" pitchFamily="18" charset="0"/>
            </a:endParaRPr>
          </a:p>
        </p:txBody>
      </p:sp>
      <p:sp>
        <p:nvSpPr>
          <p:cNvPr id="2350151" name="Rectangle 71"/>
          <p:cNvSpPr/>
          <p:nvPr/>
        </p:nvSpPr>
        <p:spPr>
          <a:xfrm>
            <a:off x="2139950" y="242728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50152" name="Rectangle 72"/>
          <p:cNvSpPr/>
          <p:nvPr/>
        </p:nvSpPr>
        <p:spPr>
          <a:xfrm>
            <a:off x="2278063" y="2508250"/>
            <a:ext cx="1143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2350153" name="Rectangle 73"/>
          <p:cNvSpPr/>
          <p:nvPr/>
        </p:nvSpPr>
        <p:spPr>
          <a:xfrm>
            <a:off x="1968500"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50154" name="Rectangle 74"/>
          <p:cNvSpPr/>
          <p:nvPr/>
        </p:nvSpPr>
        <p:spPr>
          <a:xfrm>
            <a:off x="2395538"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350155" name="Rectangle 75"/>
          <p:cNvSpPr/>
          <p:nvPr/>
        </p:nvSpPr>
        <p:spPr>
          <a:xfrm>
            <a:off x="2105025" y="4573588"/>
            <a:ext cx="15240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OT</a:t>
            </a:r>
            <a:endParaRPr lang="en-US" altLang="zh-CN" dirty="0">
              <a:latin typeface="Times New Roman" panose="02020603050405020304" pitchFamily="18" charset="0"/>
            </a:endParaRPr>
          </a:p>
        </p:txBody>
      </p:sp>
      <p:sp>
        <p:nvSpPr>
          <p:cNvPr id="2350156" name="Rectangle 76"/>
          <p:cNvSpPr/>
          <p:nvPr/>
        </p:nvSpPr>
        <p:spPr>
          <a:xfrm>
            <a:off x="2276475" y="4494213"/>
            <a:ext cx="107950" cy="206375"/>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350157" name="Rectangle 77"/>
          <p:cNvSpPr/>
          <p:nvPr/>
        </p:nvSpPr>
        <p:spPr>
          <a:xfrm>
            <a:off x="2551113" y="4573588"/>
            <a:ext cx="698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2350158" name="Rectangle 78"/>
          <p:cNvSpPr/>
          <p:nvPr/>
        </p:nvSpPr>
        <p:spPr>
          <a:xfrm>
            <a:off x="3554413" y="4492625"/>
            <a:ext cx="138112"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350159" name="Rectangle 79"/>
          <p:cNvSpPr/>
          <p:nvPr/>
        </p:nvSpPr>
        <p:spPr>
          <a:xfrm>
            <a:off x="3692525" y="4594225"/>
            <a:ext cx="1524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2350160" name="Oval 80"/>
          <p:cNvSpPr/>
          <p:nvPr/>
        </p:nvSpPr>
        <p:spPr>
          <a:xfrm>
            <a:off x="1438275" y="5091113"/>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1" name="Oval 81"/>
          <p:cNvSpPr/>
          <p:nvPr/>
        </p:nvSpPr>
        <p:spPr>
          <a:xfrm>
            <a:off x="1438275"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2" name="Oval 82"/>
          <p:cNvSpPr/>
          <p:nvPr/>
        </p:nvSpPr>
        <p:spPr>
          <a:xfrm>
            <a:off x="2697163" y="5100638"/>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3" name="Oval 83"/>
          <p:cNvSpPr/>
          <p:nvPr/>
        </p:nvSpPr>
        <p:spPr>
          <a:xfrm>
            <a:off x="2697163"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4" name="Oval 84"/>
          <p:cNvSpPr/>
          <p:nvPr/>
        </p:nvSpPr>
        <p:spPr>
          <a:xfrm>
            <a:off x="1873250" y="2673350"/>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5" name="Rectangle 85"/>
          <p:cNvSpPr/>
          <p:nvPr/>
        </p:nvSpPr>
        <p:spPr>
          <a:xfrm>
            <a:off x="1901825" y="5519738"/>
            <a:ext cx="268288" cy="260350"/>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2350166" name="Oval 86"/>
          <p:cNvSpPr/>
          <p:nvPr/>
        </p:nvSpPr>
        <p:spPr>
          <a:xfrm>
            <a:off x="542925" y="3130550"/>
            <a:ext cx="292100" cy="2825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350167" name="Rectangle 87"/>
          <p:cNvSpPr/>
          <p:nvPr/>
        </p:nvSpPr>
        <p:spPr>
          <a:xfrm>
            <a:off x="612775" y="3081338"/>
            <a:ext cx="150813" cy="301625"/>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350168" name="Line 88"/>
          <p:cNvSpPr/>
          <p:nvPr/>
        </p:nvSpPr>
        <p:spPr>
          <a:xfrm flipH="1">
            <a:off x="3443288" y="4151313"/>
            <a:ext cx="34925" cy="122237"/>
          </a:xfrm>
          <a:prstGeom prst="line">
            <a:avLst/>
          </a:prstGeom>
          <a:ln w="0" cap="flat" cmpd="sng">
            <a:solidFill>
              <a:srgbClr val="0000FF"/>
            </a:solidFill>
            <a:prstDash val="solid"/>
            <a:headEnd type="none" w="med" len="med"/>
            <a:tailEnd type="none" w="med" len="med"/>
          </a:ln>
        </p:spPr>
      </p:sp>
      <p:sp>
        <p:nvSpPr>
          <p:cNvPr id="2350169" name="Line 89"/>
          <p:cNvSpPr/>
          <p:nvPr/>
        </p:nvSpPr>
        <p:spPr>
          <a:xfrm>
            <a:off x="3478213" y="4151313"/>
            <a:ext cx="34925" cy="122237"/>
          </a:xfrm>
          <a:prstGeom prst="line">
            <a:avLst/>
          </a:prstGeom>
          <a:ln w="0" cap="flat" cmpd="sng">
            <a:solidFill>
              <a:srgbClr val="0000FF"/>
            </a:solidFill>
            <a:prstDash val="solid"/>
            <a:headEnd type="none" w="med" len="med"/>
            <a:tailEnd type="none" w="med" len="med"/>
          </a:ln>
        </p:spPr>
      </p:sp>
      <p:sp>
        <p:nvSpPr>
          <p:cNvPr id="2350170" name="Line 90"/>
          <p:cNvSpPr/>
          <p:nvPr/>
        </p:nvSpPr>
        <p:spPr>
          <a:xfrm flipH="1" flipV="1">
            <a:off x="3443288" y="5030788"/>
            <a:ext cx="34925" cy="104775"/>
          </a:xfrm>
          <a:prstGeom prst="line">
            <a:avLst/>
          </a:prstGeom>
          <a:ln w="0" cap="flat" cmpd="sng">
            <a:solidFill>
              <a:srgbClr val="0000FF"/>
            </a:solidFill>
            <a:prstDash val="solid"/>
            <a:headEnd type="none" w="med" len="med"/>
            <a:tailEnd type="none" w="med" len="med"/>
          </a:ln>
        </p:spPr>
      </p:sp>
      <p:sp>
        <p:nvSpPr>
          <p:cNvPr id="2350171" name="Line 91"/>
          <p:cNvSpPr/>
          <p:nvPr/>
        </p:nvSpPr>
        <p:spPr>
          <a:xfrm flipV="1">
            <a:off x="3478213" y="5030788"/>
            <a:ext cx="34925" cy="104775"/>
          </a:xfrm>
          <a:prstGeom prst="line">
            <a:avLst/>
          </a:prstGeom>
          <a:ln w="0" cap="flat" cmpd="sng">
            <a:solidFill>
              <a:srgbClr val="0000FF"/>
            </a:solidFill>
            <a:prstDash val="solid"/>
            <a:headEnd type="none" w="med" len="med"/>
            <a:tailEnd type="none" w="med" len="med"/>
          </a:ln>
        </p:spPr>
      </p:sp>
      <p:sp>
        <p:nvSpPr>
          <p:cNvPr id="2350172" name="Rectangle 92"/>
          <p:cNvSpPr/>
          <p:nvPr/>
        </p:nvSpPr>
        <p:spPr>
          <a:xfrm>
            <a:off x="949325" y="5851525"/>
            <a:ext cx="2185988" cy="260350"/>
          </a:xfrm>
          <a:prstGeom prst="rect">
            <a:avLst/>
          </a:prstGeom>
          <a:noFill/>
          <a:ln w="9525">
            <a:noFill/>
          </a:ln>
        </p:spPr>
        <p:txBody>
          <a:bodyPr wrap="none" lIns="0" tIns="0" rIns="0" bIns="0">
            <a:spAutoFit/>
          </a:bodyPr>
          <a:p>
            <a:pPr eaLnBrk="1" hangingPunct="1">
              <a:lnSpc>
                <a:spcPct val="90000"/>
              </a:lnSpc>
            </a:pPr>
            <a:r>
              <a:rPr lang="zh-CN" altLang="en-US" sz="1900" dirty="0">
                <a:solidFill>
                  <a:srgbClr val="000080"/>
                </a:solidFill>
                <a:latin typeface="楷体_GB2312" pitchFamily="49" charset="-122"/>
              </a:rPr>
              <a:t>计算串扰的等效电路</a:t>
            </a:r>
            <a:endParaRPr lang="zh-CN" altLang="en-US" dirty="0">
              <a:latin typeface="Times New Roman" panose="02020603050405020304" pitchFamily="18" charset="0"/>
            </a:endParaRPr>
          </a:p>
        </p:txBody>
      </p:sp>
      <p:sp>
        <p:nvSpPr>
          <p:cNvPr id="2350173" name="Text Box 93"/>
          <p:cNvSpPr txBox="1"/>
          <p:nvPr/>
        </p:nvSpPr>
        <p:spPr>
          <a:xfrm>
            <a:off x="4029075" y="2400300"/>
            <a:ext cx="4552950" cy="749300"/>
          </a:xfrm>
          <a:prstGeom prst="rect">
            <a:avLst/>
          </a:prstGeom>
          <a:solidFill>
            <a:srgbClr val="CC99FF"/>
          </a:solid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在多路开关系统中，串扰是通过断开开关之间的</a:t>
            </a:r>
            <a:r>
              <a:rPr lang="zh-CN" altLang="en-US" sz="2400" dirty="0">
                <a:solidFill>
                  <a:srgbClr val="FF0000"/>
                </a:solidFill>
                <a:latin typeface="Times New Roman" panose="02020603050405020304" pitchFamily="18" charset="0"/>
              </a:rPr>
              <a:t>分布电容</a:t>
            </a:r>
            <a:r>
              <a:rPr lang="zh-CN" altLang="en-US" sz="2400" dirty="0">
                <a:latin typeface="Times New Roman" panose="02020603050405020304" pitchFamily="18" charset="0"/>
              </a:rPr>
              <a:t>进入的。</a:t>
            </a:r>
            <a:endParaRPr lang="zh-CN" altLang="en-US" sz="2400" dirty="0">
              <a:latin typeface="Times New Roman" panose="02020603050405020304" pitchFamily="18" charset="0"/>
            </a:endParaRPr>
          </a:p>
        </p:txBody>
      </p:sp>
      <p:sp>
        <p:nvSpPr>
          <p:cNvPr id="2350176" name="AutoShape 96"/>
          <p:cNvSpPr/>
          <p:nvPr/>
        </p:nvSpPr>
        <p:spPr>
          <a:xfrm>
            <a:off x="4010025" y="4838700"/>
            <a:ext cx="822325" cy="193675"/>
          </a:xfrm>
          <a:prstGeom prst="rightArrow">
            <a:avLst>
              <a:gd name="adj1" fmla="val 50000"/>
              <a:gd name="adj2" fmla="val 106147"/>
            </a:avLst>
          </a:prstGeom>
          <a:solidFill>
            <a:schemeClr val="accent1"/>
          </a:solidFill>
          <a:ln w="9525" cap="flat" cmpd="sng">
            <a:solidFill>
              <a:schemeClr val="tx1"/>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350177" name="Text Box 97"/>
          <p:cNvSpPr txBox="1"/>
          <p:nvPr/>
        </p:nvSpPr>
        <p:spPr>
          <a:xfrm>
            <a:off x="3865563" y="3470275"/>
            <a:ext cx="2789237" cy="366713"/>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accent2"/>
                </a:solidFill>
                <a:latin typeface="Times New Roman" panose="02020603050405020304" pitchFamily="18" charset="0"/>
              </a:rPr>
              <a:t>如果</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ON2</a:t>
            </a:r>
            <a:r>
              <a:rPr lang="en-US" altLang="zh-CN" sz="2000" dirty="0">
                <a:solidFill>
                  <a:srgbClr val="FF0000"/>
                </a:solidFill>
                <a:latin typeface="Times New Roman" panose="02020603050405020304" pitchFamily="18" charset="0"/>
              </a:rPr>
              <a:t>&gt;&gt;</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S1</a:t>
            </a:r>
            <a:r>
              <a:rPr lang="zh-CN" altLang="en-US" sz="2000" dirty="0">
                <a:latin typeface="Times New Roman" panose="02020603050405020304" pitchFamily="18" charset="0"/>
              </a:rPr>
              <a:t>和</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S2</a:t>
            </a:r>
            <a:endParaRPr lang="en-US" altLang="zh-CN" sz="2000" baseline="-25000" dirty="0">
              <a:solidFill>
                <a:srgbClr val="FF0000"/>
              </a:solidFill>
              <a:latin typeface="Times New Roman" panose="02020603050405020304" pitchFamily="18" charset="0"/>
            </a:endParaRPr>
          </a:p>
        </p:txBody>
      </p:sp>
      <p:grpSp>
        <p:nvGrpSpPr>
          <p:cNvPr id="2350286" name="Group 206"/>
          <p:cNvGrpSpPr/>
          <p:nvPr/>
        </p:nvGrpSpPr>
        <p:grpSpPr>
          <a:xfrm>
            <a:off x="4924425" y="3863975"/>
            <a:ext cx="3981450" cy="2271713"/>
            <a:chOff x="3102" y="2434"/>
            <a:chExt cx="2508" cy="1431"/>
          </a:xfrm>
        </p:grpSpPr>
        <p:sp>
          <p:nvSpPr>
            <p:cNvPr id="50251" name="Rectangle 205"/>
            <p:cNvSpPr/>
            <p:nvPr/>
          </p:nvSpPr>
          <p:spPr>
            <a:xfrm>
              <a:off x="3102" y="2434"/>
              <a:ext cx="2508" cy="1431"/>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0252" name="Line 98"/>
            <p:cNvSpPr/>
            <p:nvPr/>
          </p:nvSpPr>
          <p:spPr>
            <a:xfrm flipV="1">
              <a:off x="3477" y="2667"/>
              <a:ext cx="1" cy="277"/>
            </a:xfrm>
            <a:prstGeom prst="line">
              <a:avLst/>
            </a:prstGeom>
            <a:ln w="0" cap="flat" cmpd="sng">
              <a:solidFill>
                <a:srgbClr val="0000FF"/>
              </a:solidFill>
              <a:prstDash val="solid"/>
              <a:headEnd type="none" w="med" len="med"/>
              <a:tailEnd type="none" w="med" len="med"/>
            </a:ln>
          </p:spPr>
        </p:sp>
        <p:sp>
          <p:nvSpPr>
            <p:cNvPr id="50253" name="Line 99"/>
            <p:cNvSpPr/>
            <p:nvPr/>
          </p:nvSpPr>
          <p:spPr>
            <a:xfrm>
              <a:off x="3477" y="2667"/>
              <a:ext cx="433" cy="1"/>
            </a:xfrm>
            <a:prstGeom prst="line">
              <a:avLst/>
            </a:prstGeom>
            <a:ln w="0" cap="flat" cmpd="sng">
              <a:solidFill>
                <a:srgbClr val="0000FF"/>
              </a:solidFill>
              <a:prstDash val="solid"/>
              <a:headEnd type="none" w="med" len="med"/>
              <a:tailEnd type="none" w="med" len="med"/>
            </a:ln>
          </p:spPr>
        </p:sp>
        <p:sp>
          <p:nvSpPr>
            <p:cNvPr id="50254" name="Line 100"/>
            <p:cNvSpPr/>
            <p:nvPr/>
          </p:nvSpPr>
          <p:spPr>
            <a:xfrm>
              <a:off x="3953" y="2667"/>
              <a:ext cx="1373" cy="1"/>
            </a:xfrm>
            <a:prstGeom prst="line">
              <a:avLst/>
            </a:prstGeom>
            <a:ln w="0" cap="flat" cmpd="sng">
              <a:solidFill>
                <a:srgbClr val="0000FF"/>
              </a:solidFill>
              <a:prstDash val="solid"/>
              <a:headEnd type="none" w="med" len="med"/>
              <a:tailEnd type="none" w="med" len="med"/>
            </a:ln>
          </p:spPr>
        </p:sp>
        <p:sp>
          <p:nvSpPr>
            <p:cNvPr id="50255" name="Line 101"/>
            <p:cNvSpPr/>
            <p:nvPr/>
          </p:nvSpPr>
          <p:spPr>
            <a:xfrm>
              <a:off x="3910" y="2611"/>
              <a:ext cx="1" cy="133"/>
            </a:xfrm>
            <a:prstGeom prst="line">
              <a:avLst/>
            </a:prstGeom>
            <a:ln w="0" cap="flat" cmpd="sng">
              <a:solidFill>
                <a:srgbClr val="0000FF"/>
              </a:solidFill>
              <a:prstDash val="solid"/>
              <a:headEnd type="none" w="med" len="med"/>
              <a:tailEnd type="none" w="med" len="med"/>
            </a:ln>
          </p:spPr>
        </p:sp>
        <p:sp>
          <p:nvSpPr>
            <p:cNvPr id="50256" name="Line 102"/>
            <p:cNvSpPr/>
            <p:nvPr/>
          </p:nvSpPr>
          <p:spPr>
            <a:xfrm>
              <a:off x="3953" y="2611"/>
              <a:ext cx="1" cy="133"/>
            </a:xfrm>
            <a:prstGeom prst="line">
              <a:avLst/>
            </a:prstGeom>
            <a:ln w="0" cap="flat" cmpd="sng">
              <a:solidFill>
                <a:srgbClr val="0000FF"/>
              </a:solidFill>
              <a:prstDash val="solid"/>
              <a:headEnd type="none" w="med" len="med"/>
              <a:tailEnd type="none" w="med" len="med"/>
            </a:ln>
          </p:spPr>
        </p:sp>
        <p:sp>
          <p:nvSpPr>
            <p:cNvPr id="50257" name="Line 103"/>
            <p:cNvSpPr/>
            <p:nvPr/>
          </p:nvSpPr>
          <p:spPr>
            <a:xfrm>
              <a:off x="4256" y="2667"/>
              <a:ext cx="1" cy="256"/>
            </a:xfrm>
            <a:prstGeom prst="line">
              <a:avLst/>
            </a:prstGeom>
            <a:ln w="0" cap="flat" cmpd="sng">
              <a:solidFill>
                <a:srgbClr val="0000FF"/>
              </a:solidFill>
              <a:prstDash val="solid"/>
              <a:headEnd type="none" w="med" len="med"/>
              <a:tailEnd type="none" w="med" len="med"/>
            </a:ln>
          </p:spPr>
        </p:sp>
        <p:sp>
          <p:nvSpPr>
            <p:cNvPr id="50258" name="Line 104"/>
            <p:cNvSpPr/>
            <p:nvPr/>
          </p:nvSpPr>
          <p:spPr>
            <a:xfrm>
              <a:off x="4256" y="3121"/>
              <a:ext cx="1" cy="432"/>
            </a:xfrm>
            <a:prstGeom prst="line">
              <a:avLst/>
            </a:prstGeom>
            <a:ln w="0" cap="flat" cmpd="sng">
              <a:solidFill>
                <a:srgbClr val="0000FF"/>
              </a:solidFill>
              <a:prstDash val="solid"/>
              <a:headEnd type="none" w="med" len="med"/>
              <a:tailEnd type="none" w="med" len="med"/>
            </a:ln>
          </p:spPr>
        </p:sp>
        <p:sp>
          <p:nvSpPr>
            <p:cNvPr id="50259" name="Line 105"/>
            <p:cNvSpPr/>
            <p:nvPr/>
          </p:nvSpPr>
          <p:spPr>
            <a:xfrm>
              <a:off x="3477" y="3121"/>
              <a:ext cx="1" cy="257"/>
            </a:xfrm>
            <a:prstGeom prst="line">
              <a:avLst/>
            </a:prstGeom>
            <a:ln w="0" cap="flat" cmpd="sng">
              <a:solidFill>
                <a:srgbClr val="0000FF"/>
              </a:solidFill>
              <a:prstDash val="solid"/>
              <a:headEnd type="none" w="med" len="med"/>
              <a:tailEnd type="none" w="med" len="med"/>
            </a:ln>
          </p:spPr>
        </p:sp>
        <p:sp>
          <p:nvSpPr>
            <p:cNvPr id="50260" name="Line 106"/>
            <p:cNvSpPr/>
            <p:nvPr/>
          </p:nvSpPr>
          <p:spPr>
            <a:xfrm>
              <a:off x="3477" y="3376"/>
              <a:ext cx="1870" cy="1"/>
            </a:xfrm>
            <a:prstGeom prst="line">
              <a:avLst/>
            </a:prstGeom>
            <a:ln w="0" cap="flat" cmpd="sng">
              <a:solidFill>
                <a:srgbClr val="0000FF"/>
              </a:solidFill>
              <a:prstDash val="solid"/>
              <a:headEnd type="none" w="med" len="med"/>
              <a:tailEnd type="none" w="med" len="med"/>
            </a:ln>
          </p:spPr>
        </p:sp>
        <p:sp>
          <p:nvSpPr>
            <p:cNvPr id="50261" name="Rectangle 107"/>
            <p:cNvSpPr/>
            <p:nvPr/>
          </p:nvSpPr>
          <p:spPr>
            <a:xfrm>
              <a:off x="4234" y="2922"/>
              <a:ext cx="54" cy="199"/>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62" name="Line 108"/>
            <p:cNvSpPr/>
            <p:nvPr/>
          </p:nvSpPr>
          <p:spPr>
            <a:xfrm>
              <a:off x="4601" y="2667"/>
              <a:ext cx="1" cy="310"/>
            </a:xfrm>
            <a:prstGeom prst="line">
              <a:avLst/>
            </a:prstGeom>
            <a:ln w="0" cap="flat" cmpd="sng">
              <a:solidFill>
                <a:srgbClr val="0000FF"/>
              </a:solidFill>
              <a:prstDash val="solid"/>
              <a:headEnd type="none" w="med" len="med"/>
              <a:tailEnd type="none" w="med" len="med"/>
            </a:ln>
          </p:spPr>
        </p:sp>
        <p:sp>
          <p:nvSpPr>
            <p:cNvPr id="50263" name="Line 109"/>
            <p:cNvSpPr/>
            <p:nvPr/>
          </p:nvSpPr>
          <p:spPr>
            <a:xfrm>
              <a:off x="4547" y="2977"/>
              <a:ext cx="119" cy="1"/>
            </a:xfrm>
            <a:prstGeom prst="line">
              <a:avLst/>
            </a:prstGeom>
            <a:ln w="0" cap="flat" cmpd="sng">
              <a:solidFill>
                <a:srgbClr val="0000FF"/>
              </a:solidFill>
              <a:prstDash val="solid"/>
              <a:headEnd type="none" w="med" len="med"/>
              <a:tailEnd type="none" w="med" len="med"/>
            </a:ln>
          </p:spPr>
        </p:sp>
        <p:sp>
          <p:nvSpPr>
            <p:cNvPr id="50264" name="Line 110"/>
            <p:cNvSpPr/>
            <p:nvPr/>
          </p:nvSpPr>
          <p:spPr>
            <a:xfrm>
              <a:off x="4547" y="3021"/>
              <a:ext cx="119" cy="1"/>
            </a:xfrm>
            <a:prstGeom prst="line">
              <a:avLst/>
            </a:prstGeom>
            <a:ln w="0" cap="flat" cmpd="sng">
              <a:solidFill>
                <a:srgbClr val="0000FF"/>
              </a:solidFill>
              <a:prstDash val="solid"/>
              <a:headEnd type="none" w="med" len="med"/>
              <a:tailEnd type="none" w="med" len="med"/>
            </a:ln>
          </p:spPr>
        </p:sp>
        <p:sp>
          <p:nvSpPr>
            <p:cNvPr id="50265" name="Line 111"/>
            <p:cNvSpPr/>
            <p:nvPr/>
          </p:nvSpPr>
          <p:spPr>
            <a:xfrm>
              <a:off x="4601" y="3021"/>
              <a:ext cx="1" cy="355"/>
            </a:xfrm>
            <a:prstGeom prst="line">
              <a:avLst/>
            </a:prstGeom>
            <a:ln w="0" cap="flat" cmpd="sng">
              <a:solidFill>
                <a:srgbClr val="0000FF"/>
              </a:solidFill>
              <a:prstDash val="solid"/>
              <a:headEnd type="none" w="med" len="med"/>
              <a:tailEnd type="none" w="med" len="med"/>
            </a:ln>
          </p:spPr>
        </p:sp>
        <p:sp>
          <p:nvSpPr>
            <p:cNvPr id="50266" name="Line 112"/>
            <p:cNvSpPr/>
            <p:nvPr/>
          </p:nvSpPr>
          <p:spPr>
            <a:xfrm>
              <a:off x="4180" y="3553"/>
              <a:ext cx="162" cy="1"/>
            </a:xfrm>
            <a:prstGeom prst="line">
              <a:avLst/>
            </a:prstGeom>
            <a:ln w="0" cap="flat" cmpd="sng">
              <a:solidFill>
                <a:srgbClr val="0000FF"/>
              </a:solidFill>
              <a:prstDash val="solid"/>
              <a:headEnd type="none" w="med" len="med"/>
              <a:tailEnd type="none" w="med" len="med"/>
            </a:ln>
          </p:spPr>
        </p:sp>
        <p:sp>
          <p:nvSpPr>
            <p:cNvPr id="50267" name="Rectangle 113"/>
            <p:cNvSpPr/>
            <p:nvPr/>
          </p:nvSpPr>
          <p:spPr>
            <a:xfrm>
              <a:off x="3195" y="2948"/>
              <a:ext cx="87"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0268" name="Rectangle 114"/>
            <p:cNvSpPr/>
            <p:nvPr/>
          </p:nvSpPr>
          <p:spPr>
            <a:xfrm>
              <a:off x="3288" y="3010"/>
              <a:ext cx="76"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50269" name="Rectangle 115"/>
            <p:cNvSpPr/>
            <p:nvPr/>
          </p:nvSpPr>
          <p:spPr>
            <a:xfrm>
              <a:off x="3855" y="2455"/>
              <a:ext cx="80"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0270" name="Rectangle 116"/>
            <p:cNvSpPr/>
            <p:nvPr/>
          </p:nvSpPr>
          <p:spPr>
            <a:xfrm>
              <a:off x="3942" y="2512"/>
              <a:ext cx="72"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50271" name="Line 117"/>
            <p:cNvSpPr/>
            <p:nvPr/>
          </p:nvSpPr>
          <p:spPr>
            <a:xfrm>
              <a:off x="5293" y="2667"/>
              <a:ext cx="1" cy="709"/>
            </a:xfrm>
            <a:prstGeom prst="line">
              <a:avLst/>
            </a:prstGeom>
            <a:ln w="0" cap="flat" cmpd="sng">
              <a:solidFill>
                <a:srgbClr val="0000FF"/>
              </a:solidFill>
              <a:prstDash val="solid"/>
              <a:headEnd type="none" w="med" len="med"/>
              <a:tailEnd type="none" w="med" len="med"/>
            </a:ln>
          </p:spPr>
        </p:sp>
        <p:sp>
          <p:nvSpPr>
            <p:cNvPr id="50272" name="Rectangle 118"/>
            <p:cNvSpPr/>
            <p:nvPr/>
          </p:nvSpPr>
          <p:spPr>
            <a:xfrm>
              <a:off x="5346" y="2965"/>
              <a:ext cx="87"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0273" name="Rectangle 119"/>
            <p:cNvSpPr/>
            <p:nvPr/>
          </p:nvSpPr>
          <p:spPr>
            <a:xfrm>
              <a:off x="5439" y="3021"/>
              <a:ext cx="96"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50274" name="Rectangle 120"/>
            <p:cNvSpPr/>
            <p:nvPr/>
          </p:nvSpPr>
          <p:spPr>
            <a:xfrm>
              <a:off x="4704" y="2915"/>
              <a:ext cx="80"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0275" name="Rectangle 121"/>
            <p:cNvSpPr/>
            <p:nvPr/>
          </p:nvSpPr>
          <p:spPr>
            <a:xfrm>
              <a:off x="4979" y="2915"/>
              <a:ext cx="80"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0276" name="Rectangle 122"/>
            <p:cNvSpPr/>
            <p:nvPr/>
          </p:nvSpPr>
          <p:spPr>
            <a:xfrm>
              <a:off x="4791" y="2977"/>
              <a:ext cx="96"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OT</a:t>
              </a:r>
              <a:endParaRPr lang="en-US" altLang="zh-CN" dirty="0">
                <a:latin typeface="Times New Roman" panose="02020603050405020304" pitchFamily="18" charset="0"/>
              </a:endParaRPr>
            </a:p>
          </p:txBody>
        </p:sp>
        <p:sp>
          <p:nvSpPr>
            <p:cNvPr id="50277" name="Rectangle 123"/>
            <p:cNvSpPr/>
            <p:nvPr/>
          </p:nvSpPr>
          <p:spPr>
            <a:xfrm>
              <a:off x="4899" y="2927"/>
              <a:ext cx="68" cy="130"/>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0278" name="Rectangle 124"/>
            <p:cNvSpPr/>
            <p:nvPr/>
          </p:nvSpPr>
          <p:spPr>
            <a:xfrm>
              <a:off x="5072" y="2971"/>
              <a:ext cx="44"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50279" name="Rectangle 125"/>
            <p:cNvSpPr/>
            <p:nvPr/>
          </p:nvSpPr>
          <p:spPr>
            <a:xfrm>
              <a:off x="4006" y="2937"/>
              <a:ext cx="73" cy="130"/>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0280" name="Rectangle 126"/>
            <p:cNvSpPr/>
            <p:nvPr/>
          </p:nvSpPr>
          <p:spPr>
            <a:xfrm>
              <a:off x="4090" y="2997"/>
              <a:ext cx="104" cy="7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ON</a:t>
              </a:r>
              <a:endParaRPr lang="en-US" altLang="zh-CN" dirty="0">
                <a:latin typeface="Times New Roman" panose="02020603050405020304" pitchFamily="18" charset="0"/>
              </a:endParaRPr>
            </a:p>
          </p:txBody>
        </p:sp>
        <p:sp>
          <p:nvSpPr>
            <p:cNvPr id="50281" name="Oval 127"/>
            <p:cNvSpPr/>
            <p:nvPr/>
          </p:nvSpPr>
          <p:spPr>
            <a:xfrm>
              <a:off x="4228" y="3348"/>
              <a:ext cx="52" cy="5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82" name="Oval 128"/>
            <p:cNvSpPr/>
            <p:nvPr/>
          </p:nvSpPr>
          <p:spPr>
            <a:xfrm>
              <a:off x="4228" y="2639"/>
              <a:ext cx="52" cy="5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83" name="Oval 129"/>
            <p:cNvSpPr/>
            <p:nvPr/>
          </p:nvSpPr>
          <p:spPr>
            <a:xfrm>
              <a:off x="4574" y="3348"/>
              <a:ext cx="52" cy="5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84" name="Oval 130"/>
            <p:cNvSpPr/>
            <p:nvPr/>
          </p:nvSpPr>
          <p:spPr>
            <a:xfrm>
              <a:off x="4574" y="2645"/>
              <a:ext cx="52" cy="55"/>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85" name="Oval 131"/>
            <p:cNvSpPr/>
            <p:nvPr/>
          </p:nvSpPr>
          <p:spPr>
            <a:xfrm>
              <a:off x="3391" y="2944"/>
              <a:ext cx="183" cy="177"/>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0286" name="Rectangle 132"/>
            <p:cNvSpPr/>
            <p:nvPr/>
          </p:nvSpPr>
          <p:spPr>
            <a:xfrm>
              <a:off x="3434" y="2922"/>
              <a:ext cx="95" cy="190"/>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0287" name="Line 133"/>
            <p:cNvSpPr/>
            <p:nvPr/>
          </p:nvSpPr>
          <p:spPr>
            <a:xfrm flipH="1">
              <a:off x="5272" y="2667"/>
              <a:ext cx="21" cy="77"/>
            </a:xfrm>
            <a:prstGeom prst="line">
              <a:avLst/>
            </a:prstGeom>
            <a:ln w="0" cap="flat" cmpd="sng">
              <a:solidFill>
                <a:srgbClr val="0000FF"/>
              </a:solidFill>
              <a:prstDash val="solid"/>
              <a:headEnd type="none" w="med" len="med"/>
              <a:tailEnd type="none" w="med" len="med"/>
            </a:ln>
          </p:spPr>
        </p:sp>
        <p:sp>
          <p:nvSpPr>
            <p:cNvPr id="50288" name="Line 134"/>
            <p:cNvSpPr/>
            <p:nvPr/>
          </p:nvSpPr>
          <p:spPr>
            <a:xfrm>
              <a:off x="5293" y="2667"/>
              <a:ext cx="22" cy="77"/>
            </a:xfrm>
            <a:prstGeom prst="line">
              <a:avLst/>
            </a:prstGeom>
            <a:ln w="0" cap="flat" cmpd="sng">
              <a:solidFill>
                <a:srgbClr val="0000FF"/>
              </a:solidFill>
              <a:prstDash val="solid"/>
              <a:headEnd type="none" w="med" len="med"/>
              <a:tailEnd type="none" w="med" len="med"/>
            </a:ln>
          </p:spPr>
        </p:sp>
        <p:sp>
          <p:nvSpPr>
            <p:cNvPr id="50289" name="Line 135"/>
            <p:cNvSpPr/>
            <p:nvPr/>
          </p:nvSpPr>
          <p:spPr>
            <a:xfrm flipH="1" flipV="1">
              <a:off x="5272" y="3287"/>
              <a:ext cx="21" cy="89"/>
            </a:xfrm>
            <a:prstGeom prst="line">
              <a:avLst/>
            </a:prstGeom>
            <a:ln w="0" cap="flat" cmpd="sng">
              <a:solidFill>
                <a:srgbClr val="0000FF"/>
              </a:solidFill>
              <a:prstDash val="solid"/>
              <a:headEnd type="none" w="med" len="med"/>
              <a:tailEnd type="none" w="med" len="med"/>
            </a:ln>
          </p:spPr>
        </p:sp>
        <p:sp>
          <p:nvSpPr>
            <p:cNvPr id="50290" name="Line 136"/>
            <p:cNvSpPr/>
            <p:nvPr/>
          </p:nvSpPr>
          <p:spPr>
            <a:xfrm flipV="1">
              <a:off x="5293" y="3287"/>
              <a:ext cx="22" cy="89"/>
            </a:xfrm>
            <a:prstGeom prst="line">
              <a:avLst/>
            </a:prstGeom>
            <a:ln w="0" cap="flat" cmpd="sng">
              <a:solidFill>
                <a:srgbClr val="0000FF"/>
              </a:solidFill>
              <a:prstDash val="solid"/>
              <a:headEnd type="none" w="med" len="med"/>
              <a:tailEnd type="none" w="med" len="med"/>
            </a:ln>
          </p:spPr>
        </p:sp>
        <p:sp>
          <p:nvSpPr>
            <p:cNvPr id="50291" name="Rectangle 204"/>
            <p:cNvSpPr/>
            <p:nvPr/>
          </p:nvSpPr>
          <p:spPr>
            <a:xfrm>
              <a:off x="4301" y="3637"/>
              <a:ext cx="178"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FF0000"/>
                  </a:solidFill>
                  <a:latin typeface="Times New Roman" panose="02020603050405020304" pitchFamily="18" charset="0"/>
                </a:rPr>
                <a:t>(b)</a:t>
              </a:r>
              <a:endParaRPr lang="en-US" altLang="zh-CN" dirty="0">
                <a:solidFill>
                  <a:srgbClr val="FF0000"/>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50099"/>
                                        </p:tgtEl>
                                        <p:attrNameLst>
                                          <p:attrName>style.visibility</p:attrName>
                                        </p:attrNameLst>
                                      </p:cBhvr>
                                      <p:to>
                                        <p:strVal val="visible"/>
                                      </p:to>
                                    </p:set>
                                    <p:animEffect transition="in" filter="dissolve">
                                      <p:cBhvr>
                                        <p:cTn id="7" dur="500"/>
                                        <p:tgtEl>
                                          <p:spTgt spid="23500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50101"/>
                                        </p:tgtEl>
                                        <p:attrNameLst>
                                          <p:attrName>style.visibility</p:attrName>
                                        </p:attrNameLst>
                                      </p:cBhvr>
                                      <p:to>
                                        <p:strVal val="visible"/>
                                      </p:to>
                                    </p:set>
                                    <p:animEffect transition="in" filter="dissolve">
                                      <p:cBhvr>
                                        <p:cTn id="12" dur="500"/>
                                        <p:tgtEl>
                                          <p:spTgt spid="235010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50173"/>
                                        </p:tgtEl>
                                        <p:attrNameLst>
                                          <p:attrName>style.visibility</p:attrName>
                                        </p:attrNameLst>
                                      </p:cBhvr>
                                      <p:to>
                                        <p:strVal val="visible"/>
                                      </p:to>
                                    </p:set>
                                    <p:animEffect transition="in" filter="dissolve">
                                      <p:cBhvr>
                                        <p:cTn id="17" dur="500"/>
                                        <p:tgtEl>
                                          <p:spTgt spid="235017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50174"/>
                                        </p:tgtEl>
                                        <p:attrNameLst>
                                          <p:attrName>style.visibility</p:attrName>
                                        </p:attrNameLst>
                                      </p:cBhvr>
                                      <p:to>
                                        <p:strVal val="visible"/>
                                      </p:to>
                                    </p:set>
                                    <p:animEffect transition="in" filter="dissolve">
                                      <p:cBhvr>
                                        <p:cTn id="22" dur="500"/>
                                        <p:tgtEl>
                                          <p:spTgt spid="2350174"/>
                                        </p:tgtEl>
                                      </p:cBhvr>
                                    </p:animEffect>
                                  </p:childTnLst>
                                </p:cTn>
                              </p:par>
                              <p:par>
                                <p:cTn id="23" presetID="9" presetClass="entr" presetSubtype="0" fill="hold" nodeType="withEffect">
                                  <p:stCondLst>
                                    <p:cond delay="0"/>
                                  </p:stCondLst>
                                  <p:childTnLst>
                                    <p:set>
                                      <p:cBhvr>
                                        <p:cTn id="24" dur="1" fill="hold">
                                          <p:stCondLst>
                                            <p:cond delay="0"/>
                                          </p:stCondLst>
                                        </p:cTn>
                                        <p:tgtEl>
                                          <p:spTgt spid="2350104"/>
                                        </p:tgtEl>
                                        <p:attrNameLst>
                                          <p:attrName>style.visibility</p:attrName>
                                        </p:attrNameLst>
                                      </p:cBhvr>
                                      <p:to>
                                        <p:strVal val="visible"/>
                                      </p:to>
                                    </p:set>
                                    <p:animEffect transition="in" filter="dissolve">
                                      <p:cBhvr>
                                        <p:cTn id="25" dur="500"/>
                                        <p:tgtEl>
                                          <p:spTgt spid="2350104"/>
                                        </p:tgtEl>
                                      </p:cBhvr>
                                    </p:animEffect>
                                  </p:childTnLst>
                                </p:cTn>
                              </p:par>
                              <p:par>
                                <p:cTn id="26" presetID="9" presetClass="entr" presetSubtype="0" fill="hold" nodeType="withEffect">
                                  <p:stCondLst>
                                    <p:cond delay="0"/>
                                  </p:stCondLst>
                                  <p:childTnLst>
                                    <p:set>
                                      <p:cBhvr>
                                        <p:cTn id="27" dur="1" fill="hold">
                                          <p:stCondLst>
                                            <p:cond delay="0"/>
                                          </p:stCondLst>
                                        </p:cTn>
                                        <p:tgtEl>
                                          <p:spTgt spid="2350105"/>
                                        </p:tgtEl>
                                        <p:attrNameLst>
                                          <p:attrName>style.visibility</p:attrName>
                                        </p:attrNameLst>
                                      </p:cBhvr>
                                      <p:to>
                                        <p:strVal val="visible"/>
                                      </p:to>
                                    </p:set>
                                    <p:animEffect transition="in" filter="dissolve">
                                      <p:cBhvr>
                                        <p:cTn id="28" dur="500"/>
                                        <p:tgtEl>
                                          <p:spTgt spid="2350105"/>
                                        </p:tgtEl>
                                      </p:cBhvr>
                                    </p:animEffect>
                                  </p:childTnLst>
                                </p:cTn>
                              </p:par>
                              <p:par>
                                <p:cTn id="29" presetID="9" presetClass="entr" presetSubtype="0" fill="hold" nodeType="withEffect">
                                  <p:stCondLst>
                                    <p:cond delay="0"/>
                                  </p:stCondLst>
                                  <p:childTnLst>
                                    <p:set>
                                      <p:cBhvr>
                                        <p:cTn id="30" dur="1" fill="hold">
                                          <p:stCondLst>
                                            <p:cond delay="0"/>
                                          </p:stCondLst>
                                        </p:cTn>
                                        <p:tgtEl>
                                          <p:spTgt spid="2350106"/>
                                        </p:tgtEl>
                                        <p:attrNameLst>
                                          <p:attrName>style.visibility</p:attrName>
                                        </p:attrNameLst>
                                      </p:cBhvr>
                                      <p:to>
                                        <p:strVal val="visible"/>
                                      </p:to>
                                    </p:set>
                                    <p:animEffect transition="in" filter="dissolve">
                                      <p:cBhvr>
                                        <p:cTn id="31" dur="500"/>
                                        <p:tgtEl>
                                          <p:spTgt spid="2350106"/>
                                        </p:tgtEl>
                                      </p:cBhvr>
                                    </p:animEffect>
                                  </p:childTnLst>
                                </p:cTn>
                              </p:par>
                              <p:par>
                                <p:cTn id="32" presetID="9" presetClass="entr" presetSubtype="0" fill="hold" nodeType="withEffect">
                                  <p:stCondLst>
                                    <p:cond delay="0"/>
                                  </p:stCondLst>
                                  <p:childTnLst>
                                    <p:set>
                                      <p:cBhvr>
                                        <p:cTn id="33" dur="1" fill="hold">
                                          <p:stCondLst>
                                            <p:cond delay="0"/>
                                          </p:stCondLst>
                                        </p:cTn>
                                        <p:tgtEl>
                                          <p:spTgt spid="2350107"/>
                                        </p:tgtEl>
                                        <p:attrNameLst>
                                          <p:attrName>style.visibility</p:attrName>
                                        </p:attrNameLst>
                                      </p:cBhvr>
                                      <p:to>
                                        <p:strVal val="visible"/>
                                      </p:to>
                                    </p:set>
                                    <p:animEffect transition="in" filter="dissolve">
                                      <p:cBhvr>
                                        <p:cTn id="34" dur="500"/>
                                        <p:tgtEl>
                                          <p:spTgt spid="2350107"/>
                                        </p:tgtEl>
                                      </p:cBhvr>
                                    </p:animEffect>
                                  </p:childTnLst>
                                </p:cTn>
                              </p:par>
                              <p:par>
                                <p:cTn id="35" presetID="9" presetClass="entr" presetSubtype="0" fill="hold" nodeType="withEffect">
                                  <p:stCondLst>
                                    <p:cond delay="0"/>
                                  </p:stCondLst>
                                  <p:childTnLst>
                                    <p:set>
                                      <p:cBhvr>
                                        <p:cTn id="36" dur="1" fill="hold">
                                          <p:stCondLst>
                                            <p:cond delay="0"/>
                                          </p:stCondLst>
                                        </p:cTn>
                                        <p:tgtEl>
                                          <p:spTgt spid="2350108"/>
                                        </p:tgtEl>
                                        <p:attrNameLst>
                                          <p:attrName>style.visibility</p:attrName>
                                        </p:attrNameLst>
                                      </p:cBhvr>
                                      <p:to>
                                        <p:strVal val="visible"/>
                                      </p:to>
                                    </p:set>
                                    <p:animEffect transition="in" filter="dissolve">
                                      <p:cBhvr>
                                        <p:cTn id="37" dur="500"/>
                                        <p:tgtEl>
                                          <p:spTgt spid="2350108"/>
                                        </p:tgtEl>
                                      </p:cBhvr>
                                    </p:animEffect>
                                  </p:childTnLst>
                                </p:cTn>
                              </p:par>
                              <p:par>
                                <p:cTn id="38" presetID="9" presetClass="entr" presetSubtype="0" fill="hold" nodeType="withEffect">
                                  <p:stCondLst>
                                    <p:cond delay="0"/>
                                  </p:stCondLst>
                                  <p:childTnLst>
                                    <p:set>
                                      <p:cBhvr>
                                        <p:cTn id="39" dur="1" fill="hold">
                                          <p:stCondLst>
                                            <p:cond delay="0"/>
                                          </p:stCondLst>
                                        </p:cTn>
                                        <p:tgtEl>
                                          <p:spTgt spid="2350109"/>
                                        </p:tgtEl>
                                        <p:attrNameLst>
                                          <p:attrName>style.visibility</p:attrName>
                                        </p:attrNameLst>
                                      </p:cBhvr>
                                      <p:to>
                                        <p:strVal val="visible"/>
                                      </p:to>
                                    </p:set>
                                    <p:animEffect transition="in" filter="dissolve">
                                      <p:cBhvr>
                                        <p:cTn id="40" dur="500"/>
                                        <p:tgtEl>
                                          <p:spTgt spid="2350109"/>
                                        </p:tgtEl>
                                      </p:cBhvr>
                                    </p:animEffect>
                                  </p:childTnLst>
                                </p:cTn>
                              </p:par>
                              <p:par>
                                <p:cTn id="41" presetID="9" presetClass="entr" presetSubtype="0" fill="hold" nodeType="withEffect">
                                  <p:stCondLst>
                                    <p:cond delay="0"/>
                                  </p:stCondLst>
                                  <p:childTnLst>
                                    <p:set>
                                      <p:cBhvr>
                                        <p:cTn id="42" dur="1" fill="hold">
                                          <p:stCondLst>
                                            <p:cond delay="0"/>
                                          </p:stCondLst>
                                        </p:cTn>
                                        <p:tgtEl>
                                          <p:spTgt spid="2350110"/>
                                        </p:tgtEl>
                                        <p:attrNameLst>
                                          <p:attrName>style.visibility</p:attrName>
                                        </p:attrNameLst>
                                      </p:cBhvr>
                                      <p:to>
                                        <p:strVal val="visible"/>
                                      </p:to>
                                    </p:set>
                                    <p:animEffect transition="in" filter="dissolve">
                                      <p:cBhvr>
                                        <p:cTn id="43" dur="500"/>
                                        <p:tgtEl>
                                          <p:spTgt spid="2350110"/>
                                        </p:tgtEl>
                                      </p:cBhvr>
                                    </p:animEffect>
                                  </p:childTnLst>
                                </p:cTn>
                              </p:par>
                              <p:par>
                                <p:cTn id="44" presetID="9" presetClass="entr" presetSubtype="0" fill="hold" nodeType="withEffect">
                                  <p:stCondLst>
                                    <p:cond delay="0"/>
                                  </p:stCondLst>
                                  <p:childTnLst>
                                    <p:set>
                                      <p:cBhvr>
                                        <p:cTn id="45" dur="1" fill="hold">
                                          <p:stCondLst>
                                            <p:cond delay="0"/>
                                          </p:stCondLst>
                                        </p:cTn>
                                        <p:tgtEl>
                                          <p:spTgt spid="2350111"/>
                                        </p:tgtEl>
                                        <p:attrNameLst>
                                          <p:attrName>style.visibility</p:attrName>
                                        </p:attrNameLst>
                                      </p:cBhvr>
                                      <p:to>
                                        <p:strVal val="visible"/>
                                      </p:to>
                                    </p:set>
                                    <p:animEffect transition="in" filter="dissolve">
                                      <p:cBhvr>
                                        <p:cTn id="46" dur="500"/>
                                        <p:tgtEl>
                                          <p:spTgt spid="2350111"/>
                                        </p:tgtEl>
                                      </p:cBhvr>
                                    </p:animEffect>
                                  </p:childTnLst>
                                </p:cTn>
                              </p:par>
                              <p:par>
                                <p:cTn id="47" presetID="9" presetClass="entr" presetSubtype="0" fill="hold" nodeType="withEffect">
                                  <p:stCondLst>
                                    <p:cond delay="0"/>
                                  </p:stCondLst>
                                  <p:childTnLst>
                                    <p:set>
                                      <p:cBhvr>
                                        <p:cTn id="48" dur="1" fill="hold">
                                          <p:stCondLst>
                                            <p:cond delay="0"/>
                                          </p:stCondLst>
                                        </p:cTn>
                                        <p:tgtEl>
                                          <p:spTgt spid="2350112"/>
                                        </p:tgtEl>
                                        <p:attrNameLst>
                                          <p:attrName>style.visibility</p:attrName>
                                        </p:attrNameLst>
                                      </p:cBhvr>
                                      <p:to>
                                        <p:strVal val="visible"/>
                                      </p:to>
                                    </p:set>
                                    <p:animEffect transition="in" filter="dissolve">
                                      <p:cBhvr>
                                        <p:cTn id="49" dur="500"/>
                                        <p:tgtEl>
                                          <p:spTgt spid="2350112"/>
                                        </p:tgtEl>
                                      </p:cBhvr>
                                    </p:animEffect>
                                  </p:childTnLst>
                                </p:cTn>
                              </p:par>
                              <p:par>
                                <p:cTn id="50" presetID="9" presetClass="entr" presetSubtype="0" fill="hold" nodeType="withEffect">
                                  <p:stCondLst>
                                    <p:cond delay="0"/>
                                  </p:stCondLst>
                                  <p:childTnLst>
                                    <p:set>
                                      <p:cBhvr>
                                        <p:cTn id="51" dur="1" fill="hold">
                                          <p:stCondLst>
                                            <p:cond delay="0"/>
                                          </p:stCondLst>
                                        </p:cTn>
                                        <p:tgtEl>
                                          <p:spTgt spid="2350113"/>
                                        </p:tgtEl>
                                        <p:attrNameLst>
                                          <p:attrName>style.visibility</p:attrName>
                                        </p:attrNameLst>
                                      </p:cBhvr>
                                      <p:to>
                                        <p:strVal val="visible"/>
                                      </p:to>
                                    </p:set>
                                    <p:animEffect transition="in" filter="dissolve">
                                      <p:cBhvr>
                                        <p:cTn id="52" dur="500"/>
                                        <p:tgtEl>
                                          <p:spTgt spid="2350113"/>
                                        </p:tgtEl>
                                      </p:cBhvr>
                                    </p:animEffect>
                                  </p:childTnLst>
                                </p:cTn>
                              </p:par>
                              <p:par>
                                <p:cTn id="53" presetID="9" presetClass="entr" presetSubtype="0" fill="hold" nodeType="withEffect">
                                  <p:stCondLst>
                                    <p:cond delay="0"/>
                                  </p:stCondLst>
                                  <p:childTnLst>
                                    <p:set>
                                      <p:cBhvr>
                                        <p:cTn id="54" dur="1" fill="hold">
                                          <p:stCondLst>
                                            <p:cond delay="0"/>
                                          </p:stCondLst>
                                        </p:cTn>
                                        <p:tgtEl>
                                          <p:spTgt spid="2350114"/>
                                        </p:tgtEl>
                                        <p:attrNameLst>
                                          <p:attrName>style.visibility</p:attrName>
                                        </p:attrNameLst>
                                      </p:cBhvr>
                                      <p:to>
                                        <p:strVal val="visible"/>
                                      </p:to>
                                    </p:set>
                                    <p:animEffect transition="in" filter="dissolve">
                                      <p:cBhvr>
                                        <p:cTn id="55" dur="500"/>
                                        <p:tgtEl>
                                          <p:spTgt spid="2350114"/>
                                        </p:tgtEl>
                                      </p:cBhvr>
                                    </p:animEffect>
                                  </p:childTnLst>
                                </p:cTn>
                              </p:par>
                              <p:par>
                                <p:cTn id="56" presetID="9" presetClass="entr" presetSubtype="0" fill="hold" nodeType="withEffect">
                                  <p:stCondLst>
                                    <p:cond delay="0"/>
                                  </p:stCondLst>
                                  <p:childTnLst>
                                    <p:set>
                                      <p:cBhvr>
                                        <p:cTn id="57" dur="1" fill="hold">
                                          <p:stCondLst>
                                            <p:cond delay="0"/>
                                          </p:stCondLst>
                                        </p:cTn>
                                        <p:tgtEl>
                                          <p:spTgt spid="2350115"/>
                                        </p:tgtEl>
                                        <p:attrNameLst>
                                          <p:attrName>style.visibility</p:attrName>
                                        </p:attrNameLst>
                                      </p:cBhvr>
                                      <p:to>
                                        <p:strVal val="visible"/>
                                      </p:to>
                                    </p:set>
                                    <p:animEffect transition="in" filter="dissolve">
                                      <p:cBhvr>
                                        <p:cTn id="58" dur="500"/>
                                        <p:tgtEl>
                                          <p:spTgt spid="2350115"/>
                                        </p:tgtEl>
                                      </p:cBhvr>
                                    </p:animEffect>
                                  </p:childTnLst>
                                </p:cTn>
                              </p:par>
                              <p:par>
                                <p:cTn id="59" presetID="9" presetClass="entr" presetSubtype="0" fill="hold" nodeType="withEffect">
                                  <p:stCondLst>
                                    <p:cond delay="0"/>
                                  </p:stCondLst>
                                  <p:childTnLst>
                                    <p:set>
                                      <p:cBhvr>
                                        <p:cTn id="60" dur="1" fill="hold">
                                          <p:stCondLst>
                                            <p:cond delay="0"/>
                                          </p:stCondLst>
                                        </p:cTn>
                                        <p:tgtEl>
                                          <p:spTgt spid="2350116"/>
                                        </p:tgtEl>
                                        <p:attrNameLst>
                                          <p:attrName>style.visibility</p:attrName>
                                        </p:attrNameLst>
                                      </p:cBhvr>
                                      <p:to>
                                        <p:strVal val="visible"/>
                                      </p:to>
                                    </p:set>
                                    <p:animEffect transition="in" filter="dissolve">
                                      <p:cBhvr>
                                        <p:cTn id="61" dur="500"/>
                                        <p:tgtEl>
                                          <p:spTgt spid="2350116"/>
                                        </p:tgtEl>
                                      </p:cBhvr>
                                    </p:animEffect>
                                  </p:childTnLst>
                                </p:cTn>
                              </p:par>
                              <p:par>
                                <p:cTn id="62" presetID="9" presetClass="entr" presetSubtype="0" fill="hold" nodeType="withEffect">
                                  <p:stCondLst>
                                    <p:cond delay="0"/>
                                  </p:stCondLst>
                                  <p:childTnLst>
                                    <p:set>
                                      <p:cBhvr>
                                        <p:cTn id="63" dur="1" fill="hold">
                                          <p:stCondLst>
                                            <p:cond delay="0"/>
                                          </p:stCondLst>
                                        </p:cTn>
                                        <p:tgtEl>
                                          <p:spTgt spid="2350117"/>
                                        </p:tgtEl>
                                        <p:attrNameLst>
                                          <p:attrName>style.visibility</p:attrName>
                                        </p:attrNameLst>
                                      </p:cBhvr>
                                      <p:to>
                                        <p:strVal val="visible"/>
                                      </p:to>
                                    </p:set>
                                    <p:animEffect transition="in" filter="dissolve">
                                      <p:cBhvr>
                                        <p:cTn id="64" dur="500"/>
                                        <p:tgtEl>
                                          <p:spTgt spid="2350117"/>
                                        </p:tgtEl>
                                      </p:cBhvr>
                                    </p:animEffect>
                                  </p:childTnLst>
                                </p:cTn>
                              </p:par>
                              <p:par>
                                <p:cTn id="65" presetID="9" presetClass="entr" presetSubtype="0" fill="hold" nodeType="withEffect">
                                  <p:stCondLst>
                                    <p:cond delay="0"/>
                                  </p:stCondLst>
                                  <p:childTnLst>
                                    <p:set>
                                      <p:cBhvr>
                                        <p:cTn id="66" dur="1" fill="hold">
                                          <p:stCondLst>
                                            <p:cond delay="0"/>
                                          </p:stCondLst>
                                        </p:cTn>
                                        <p:tgtEl>
                                          <p:spTgt spid="2350118"/>
                                        </p:tgtEl>
                                        <p:attrNameLst>
                                          <p:attrName>style.visibility</p:attrName>
                                        </p:attrNameLst>
                                      </p:cBhvr>
                                      <p:to>
                                        <p:strVal val="visible"/>
                                      </p:to>
                                    </p:set>
                                    <p:animEffect transition="in" filter="dissolve">
                                      <p:cBhvr>
                                        <p:cTn id="67" dur="500"/>
                                        <p:tgtEl>
                                          <p:spTgt spid="2350118"/>
                                        </p:tgtEl>
                                      </p:cBhvr>
                                    </p:animEffect>
                                  </p:childTnLst>
                                </p:cTn>
                              </p:par>
                              <p:par>
                                <p:cTn id="68" presetID="9" presetClass="entr" presetSubtype="0" fill="hold" nodeType="withEffect">
                                  <p:stCondLst>
                                    <p:cond delay="0"/>
                                  </p:stCondLst>
                                  <p:childTnLst>
                                    <p:set>
                                      <p:cBhvr>
                                        <p:cTn id="69" dur="1" fill="hold">
                                          <p:stCondLst>
                                            <p:cond delay="0"/>
                                          </p:stCondLst>
                                        </p:cTn>
                                        <p:tgtEl>
                                          <p:spTgt spid="2350119"/>
                                        </p:tgtEl>
                                        <p:attrNameLst>
                                          <p:attrName>style.visibility</p:attrName>
                                        </p:attrNameLst>
                                      </p:cBhvr>
                                      <p:to>
                                        <p:strVal val="visible"/>
                                      </p:to>
                                    </p:set>
                                    <p:animEffect transition="in" filter="dissolve">
                                      <p:cBhvr>
                                        <p:cTn id="70" dur="500"/>
                                        <p:tgtEl>
                                          <p:spTgt spid="2350119"/>
                                        </p:tgtEl>
                                      </p:cBhvr>
                                    </p:animEffect>
                                  </p:childTnLst>
                                </p:cTn>
                              </p:par>
                              <p:par>
                                <p:cTn id="71" presetID="9" presetClass="entr" presetSubtype="0" fill="hold" nodeType="withEffect">
                                  <p:stCondLst>
                                    <p:cond delay="0"/>
                                  </p:stCondLst>
                                  <p:childTnLst>
                                    <p:set>
                                      <p:cBhvr>
                                        <p:cTn id="72" dur="1" fill="hold">
                                          <p:stCondLst>
                                            <p:cond delay="0"/>
                                          </p:stCondLst>
                                        </p:cTn>
                                        <p:tgtEl>
                                          <p:spTgt spid="2350120"/>
                                        </p:tgtEl>
                                        <p:attrNameLst>
                                          <p:attrName>style.visibility</p:attrName>
                                        </p:attrNameLst>
                                      </p:cBhvr>
                                      <p:to>
                                        <p:strVal val="visible"/>
                                      </p:to>
                                    </p:set>
                                    <p:animEffect transition="in" filter="dissolve">
                                      <p:cBhvr>
                                        <p:cTn id="73" dur="500"/>
                                        <p:tgtEl>
                                          <p:spTgt spid="2350120"/>
                                        </p:tgtEl>
                                      </p:cBhvr>
                                    </p:animEffect>
                                  </p:childTnLst>
                                </p:cTn>
                              </p:par>
                              <p:par>
                                <p:cTn id="74" presetID="9" presetClass="entr" presetSubtype="0" fill="hold" nodeType="withEffect">
                                  <p:stCondLst>
                                    <p:cond delay="0"/>
                                  </p:stCondLst>
                                  <p:childTnLst>
                                    <p:set>
                                      <p:cBhvr>
                                        <p:cTn id="75" dur="1" fill="hold">
                                          <p:stCondLst>
                                            <p:cond delay="0"/>
                                          </p:stCondLst>
                                        </p:cTn>
                                        <p:tgtEl>
                                          <p:spTgt spid="2350121"/>
                                        </p:tgtEl>
                                        <p:attrNameLst>
                                          <p:attrName>style.visibility</p:attrName>
                                        </p:attrNameLst>
                                      </p:cBhvr>
                                      <p:to>
                                        <p:strVal val="visible"/>
                                      </p:to>
                                    </p:set>
                                    <p:animEffect transition="in" filter="dissolve">
                                      <p:cBhvr>
                                        <p:cTn id="76" dur="500"/>
                                        <p:tgtEl>
                                          <p:spTgt spid="2350121"/>
                                        </p:tgtEl>
                                      </p:cBhvr>
                                    </p:animEffect>
                                  </p:childTnLst>
                                </p:cTn>
                              </p:par>
                              <p:par>
                                <p:cTn id="77" presetID="9" presetClass="entr" presetSubtype="0" fill="hold" nodeType="withEffect">
                                  <p:stCondLst>
                                    <p:cond delay="0"/>
                                  </p:stCondLst>
                                  <p:childTnLst>
                                    <p:set>
                                      <p:cBhvr>
                                        <p:cTn id="78" dur="1" fill="hold">
                                          <p:stCondLst>
                                            <p:cond delay="0"/>
                                          </p:stCondLst>
                                        </p:cTn>
                                        <p:tgtEl>
                                          <p:spTgt spid="2350122"/>
                                        </p:tgtEl>
                                        <p:attrNameLst>
                                          <p:attrName>style.visibility</p:attrName>
                                        </p:attrNameLst>
                                      </p:cBhvr>
                                      <p:to>
                                        <p:strVal val="visible"/>
                                      </p:to>
                                    </p:set>
                                    <p:animEffect transition="in" filter="dissolve">
                                      <p:cBhvr>
                                        <p:cTn id="79" dur="500"/>
                                        <p:tgtEl>
                                          <p:spTgt spid="2350122"/>
                                        </p:tgtEl>
                                      </p:cBhvr>
                                    </p:animEffect>
                                  </p:childTnLst>
                                </p:cTn>
                              </p:par>
                              <p:par>
                                <p:cTn id="80" presetID="9" presetClass="entr" presetSubtype="0" fill="hold" nodeType="withEffect">
                                  <p:stCondLst>
                                    <p:cond delay="0"/>
                                  </p:stCondLst>
                                  <p:childTnLst>
                                    <p:set>
                                      <p:cBhvr>
                                        <p:cTn id="81" dur="1" fill="hold">
                                          <p:stCondLst>
                                            <p:cond delay="0"/>
                                          </p:stCondLst>
                                        </p:cTn>
                                        <p:tgtEl>
                                          <p:spTgt spid="2350123"/>
                                        </p:tgtEl>
                                        <p:attrNameLst>
                                          <p:attrName>style.visibility</p:attrName>
                                        </p:attrNameLst>
                                      </p:cBhvr>
                                      <p:to>
                                        <p:strVal val="visible"/>
                                      </p:to>
                                    </p:set>
                                    <p:animEffect transition="in" filter="dissolve">
                                      <p:cBhvr>
                                        <p:cTn id="82" dur="500"/>
                                        <p:tgtEl>
                                          <p:spTgt spid="2350123"/>
                                        </p:tgtEl>
                                      </p:cBhvr>
                                    </p:animEffect>
                                  </p:childTnLst>
                                </p:cTn>
                              </p:par>
                              <p:par>
                                <p:cTn id="83" presetID="9" presetClass="entr" presetSubtype="0" fill="hold" nodeType="withEffect">
                                  <p:stCondLst>
                                    <p:cond delay="0"/>
                                  </p:stCondLst>
                                  <p:childTnLst>
                                    <p:set>
                                      <p:cBhvr>
                                        <p:cTn id="84" dur="1" fill="hold">
                                          <p:stCondLst>
                                            <p:cond delay="0"/>
                                          </p:stCondLst>
                                        </p:cTn>
                                        <p:tgtEl>
                                          <p:spTgt spid="2350124"/>
                                        </p:tgtEl>
                                        <p:attrNameLst>
                                          <p:attrName>style.visibility</p:attrName>
                                        </p:attrNameLst>
                                      </p:cBhvr>
                                      <p:to>
                                        <p:strVal val="visible"/>
                                      </p:to>
                                    </p:set>
                                    <p:animEffect transition="in" filter="dissolve">
                                      <p:cBhvr>
                                        <p:cTn id="85" dur="500"/>
                                        <p:tgtEl>
                                          <p:spTgt spid="2350124"/>
                                        </p:tgtEl>
                                      </p:cBhvr>
                                    </p:animEffect>
                                  </p:childTnLst>
                                </p:cTn>
                              </p:par>
                              <p:par>
                                <p:cTn id="86" presetID="9" presetClass="entr" presetSubtype="0" fill="hold" nodeType="withEffect">
                                  <p:stCondLst>
                                    <p:cond delay="0"/>
                                  </p:stCondLst>
                                  <p:childTnLst>
                                    <p:set>
                                      <p:cBhvr>
                                        <p:cTn id="87" dur="1" fill="hold">
                                          <p:stCondLst>
                                            <p:cond delay="0"/>
                                          </p:stCondLst>
                                        </p:cTn>
                                        <p:tgtEl>
                                          <p:spTgt spid="2350125"/>
                                        </p:tgtEl>
                                        <p:attrNameLst>
                                          <p:attrName>style.visibility</p:attrName>
                                        </p:attrNameLst>
                                      </p:cBhvr>
                                      <p:to>
                                        <p:strVal val="visible"/>
                                      </p:to>
                                    </p:set>
                                    <p:animEffect transition="in" filter="dissolve">
                                      <p:cBhvr>
                                        <p:cTn id="88" dur="500"/>
                                        <p:tgtEl>
                                          <p:spTgt spid="2350125"/>
                                        </p:tgtEl>
                                      </p:cBhvr>
                                    </p:animEffect>
                                  </p:childTnLst>
                                </p:cTn>
                              </p:par>
                              <p:par>
                                <p:cTn id="89" presetID="9" presetClass="entr" presetSubtype="0" fill="hold" nodeType="withEffect">
                                  <p:stCondLst>
                                    <p:cond delay="0"/>
                                  </p:stCondLst>
                                  <p:childTnLst>
                                    <p:set>
                                      <p:cBhvr>
                                        <p:cTn id="90" dur="1" fill="hold">
                                          <p:stCondLst>
                                            <p:cond delay="0"/>
                                          </p:stCondLst>
                                        </p:cTn>
                                        <p:tgtEl>
                                          <p:spTgt spid="2350126"/>
                                        </p:tgtEl>
                                        <p:attrNameLst>
                                          <p:attrName>style.visibility</p:attrName>
                                        </p:attrNameLst>
                                      </p:cBhvr>
                                      <p:to>
                                        <p:strVal val="visible"/>
                                      </p:to>
                                    </p:set>
                                    <p:animEffect transition="in" filter="dissolve">
                                      <p:cBhvr>
                                        <p:cTn id="91" dur="500"/>
                                        <p:tgtEl>
                                          <p:spTgt spid="2350126"/>
                                        </p:tgtEl>
                                      </p:cBhvr>
                                    </p:animEffect>
                                  </p:childTnLst>
                                </p:cTn>
                              </p:par>
                              <p:par>
                                <p:cTn id="92" presetID="9" presetClass="entr" presetSubtype="0" fill="hold" nodeType="withEffect">
                                  <p:stCondLst>
                                    <p:cond delay="0"/>
                                  </p:stCondLst>
                                  <p:childTnLst>
                                    <p:set>
                                      <p:cBhvr>
                                        <p:cTn id="93" dur="1" fill="hold">
                                          <p:stCondLst>
                                            <p:cond delay="0"/>
                                          </p:stCondLst>
                                        </p:cTn>
                                        <p:tgtEl>
                                          <p:spTgt spid="2350127"/>
                                        </p:tgtEl>
                                        <p:attrNameLst>
                                          <p:attrName>style.visibility</p:attrName>
                                        </p:attrNameLst>
                                      </p:cBhvr>
                                      <p:to>
                                        <p:strVal val="visible"/>
                                      </p:to>
                                    </p:set>
                                    <p:animEffect transition="in" filter="dissolve">
                                      <p:cBhvr>
                                        <p:cTn id="94" dur="500"/>
                                        <p:tgtEl>
                                          <p:spTgt spid="2350127"/>
                                        </p:tgtEl>
                                      </p:cBhvr>
                                    </p:animEffect>
                                  </p:childTnLst>
                                </p:cTn>
                              </p:par>
                              <p:par>
                                <p:cTn id="95" presetID="9" presetClass="entr" presetSubtype="0" fill="hold" nodeType="withEffect">
                                  <p:stCondLst>
                                    <p:cond delay="0"/>
                                  </p:stCondLst>
                                  <p:childTnLst>
                                    <p:set>
                                      <p:cBhvr>
                                        <p:cTn id="96" dur="1" fill="hold">
                                          <p:stCondLst>
                                            <p:cond delay="0"/>
                                          </p:stCondLst>
                                        </p:cTn>
                                        <p:tgtEl>
                                          <p:spTgt spid="2350128"/>
                                        </p:tgtEl>
                                        <p:attrNameLst>
                                          <p:attrName>style.visibility</p:attrName>
                                        </p:attrNameLst>
                                      </p:cBhvr>
                                      <p:to>
                                        <p:strVal val="visible"/>
                                      </p:to>
                                    </p:set>
                                    <p:animEffect transition="in" filter="dissolve">
                                      <p:cBhvr>
                                        <p:cTn id="97" dur="500"/>
                                        <p:tgtEl>
                                          <p:spTgt spid="2350128"/>
                                        </p:tgtEl>
                                      </p:cBhvr>
                                    </p:animEffect>
                                  </p:childTnLst>
                                </p:cTn>
                              </p:par>
                              <p:par>
                                <p:cTn id="98" presetID="9" presetClass="entr" presetSubtype="0" fill="hold" nodeType="withEffect">
                                  <p:stCondLst>
                                    <p:cond delay="0"/>
                                  </p:stCondLst>
                                  <p:childTnLst>
                                    <p:set>
                                      <p:cBhvr>
                                        <p:cTn id="99" dur="1" fill="hold">
                                          <p:stCondLst>
                                            <p:cond delay="0"/>
                                          </p:stCondLst>
                                        </p:cTn>
                                        <p:tgtEl>
                                          <p:spTgt spid="2350129"/>
                                        </p:tgtEl>
                                        <p:attrNameLst>
                                          <p:attrName>style.visibility</p:attrName>
                                        </p:attrNameLst>
                                      </p:cBhvr>
                                      <p:to>
                                        <p:strVal val="visible"/>
                                      </p:to>
                                    </p:set>
                                    <p:animEffect transition="in" filter="dissolve">
                                      <p:cBhvr>
                                        <p:cTn id="100" dur="500"/>
                                        <p:tgtEl>
                                          <p:spTgt spid="2350129"/>
                                        </p:tgtEl>
                                      </p:cBhvr>
                                    </p:animEffect>
                                  </p:childTnLst>
                                </p:cTn>
                              </p:par>
                              <p:par>
                                <p:cTn id="101" presetID="9" presetClass="entr" presetSubtype="0" fill="hold" nodeType="withEffect">
                                  <p:stCondLst>
                                    <p:cond delay="0"/>
                                  </p:stCondLst>
                                  <p:childTnLst>
                                    <p:set>
                                      <p:cBhvr>
                                        <p:cTn id="102" dur="1" fill="hold">
                                          <p:stCondLst>
                                            <p:cond delay="0"/>
                                          </p:stCondLst>
                                        </p:cTn>
                                        <p:tgtEl>
                                          <p:spTgt spid="2350130"/>
                                        </p:tgtEl>
                                        <p:attrNameLst>
                                          <p:attrName>style.visibility</p:attrName>
                                        </p:attrNameLst>
                                      </p:cBhvr>
                                      <p:to>
                                        <p:strVal val="visible"/>
                                      </p:to>
                                    </p:set>
                                    <p:animEffect transition="in" filter="dissolve">
                                      <p:cBhvr>
                                        <p:cTn id="103" dur="500"/>
                                        <p:tgtEl>
                                          <p:spTgt spid="2350130"/>
                                        </p:tgtEl>
                                      </p:cBhvr>
                                    </p:animEffect>
                                  </p:childTnLst>
                                </p:cTn>
                              </p:par>
                              <p:par>
                                <p:cTn id="104" presetID="9" presetClass="entr" presetSubtype="0" fill="hold" nodeType="withEffect">
                                  <p:stCondLst>
                                    <p:cond delay="0"/>
                                  </p:stCondLst>
                                  <p:childTnLst>
                                    <p:set>
                                      <p:cBhvr>
                                        <p:cTn id="105" dur="1" fill="hold">
                                          <p:stCondLst>
                                            <p:cond delay="0"/>
                                          </p:stCondLst>
                                        </p:cTn>
                                        <p:tgtEl>
                                          <p:spTgt spid="2350131"/>
                                        </p:tgtEl>
                                        <p:attrNameLst>
                                          <p:attrName>style.visibility</p:attrName>
                                        </p:attrNameLst>
                                      </p:cBhvr>
                                      <p:to>
                                        <p:strVal val="visible"/>
                                      </p:to>
                                    </p:set>
                                    <p:animEffect transition="in" filter="dissolve">
                                      <p:cBhvr>
                                        <p:cTn id="106" dur="500"/>
                                        <p:tgtEl>
                                          <p:spTgt spid="2350131"/>
                                        </p:tgtEl>
                                      </p:cBhvr>
                                    </p:animEffect>
                                  </p:childTnLst>
                                </p:cTn>
                              </p:par>
                              <p:par>
                                <p:cTn id="107" presetID="9" presetClass="entr" presetSubtype="0" fill="hold" nodeType="withEffect">
                                  <p:stCondLst>
                                    <p:cond delay="0"/>
                                  </p:stCondLst>
                                  <p:childTnLst>
                                    <p:set>
                                      <p:cBhvr>
                                        <p:cTn id="108" dur="1" fill="hold">
                                          <p:stCondLst>
                                            <p:cond delay="0"/>
                                          </p:stCondLst>
                                        </p:cTn>
                                        <p:tgtEl>
                                          <p:spTgt spid="2350132"/>
                                        </p:tgtEl>
                                        <p:attrNameLst>
                                          <p:attrName>style.visibility</p:attrName>
                                        </p:attrNameLst>
                                      </p:cBhvr>
                                      <p:to>
                                        <p:strVal val="visible"/>
                                      </p:to>
                                    </p:set>
                                    <p:animEffect transition="in" filter="dissolve">
                                      <p:cBhvr>
                                        <p:cTn id="109" dur="500"/>
                                        <p:tgtEl>
                                          <p:spTgt spid="2350132"/>
                                        </p:tgtEl>
                                      </p:cBhvr>
                                    </p:animEffect>
                                  </p:childTnLst>
                                </p:cTn>
                              </p:par>
                              <p:par>
                                <p:cTn id="110" presetID="9" presetClass="entr" presetSubtype="0" fill="hold" nodeType="withEffect">
                                  <p:stCondLst>
                                    <p:cond delay="0"/>
                                  </p:stCondLst>
                                  <p:childTnLst>
                                    <p:set>
                                      <p:cBhvr>
                                        <p:cTn id="111" dur="1" fill="hold">
                                          <p:stCondLst>
                                            <p:cond delay="0"/>
                                          </p:stCondLst>
                                        </p:cTn>
                                        <p:tgtEl>
                                          <p:spTgt spid="2350133"/>
                                        </p:tgtEl>
                                        <p:attrNameLst>
                                          <p:attrName>style.visibility</p:attrName>
                                        </p:attrNameLst>
                                      </p:cBhvr>
                                      <p:to>
                                        <p:strVal val="visible"/>
                                      </p:to>
                                    </p:set>
                                    <p:animEffect transition="in" filter="dissolve">
                                      <p:cBhvr>
                                        <p:cTn id="112" dur="500"/>
                                        <p:tgtEl>
                                          <p:spTgt spid="2350133"/>
                                        </p:tgtEl>
                                      </p:cBhvr>
                                    </p:animEffect>
                                  </p:childTnLst>
                                </p:cTn>
                              </p:par>
                              <p:par>
                                <p:cTn id="113" presetID="9" presetClass="entr" presetSubtype="0" fill="hold" nodeType="withEffect">
                                  <p:stCondLst>
                                    <p:cond delay="0"/>
                                  </p:stCondLst>
                                  <p:childTnLst>
                                    <p:set>
                                      <p:cBhvr>
                                        <p:cTn id="114" dur="1" fill="hold">
                                          <p:stCondLst>
                                            <p:cond delay="0"/>
                                          </p:stCondLst>
                                        </p:cTn>
                                        <p:tgtEl>
                                          <p:spTgt spid="2350134"/>
                                        </p:tgtEl>
                                        <p:attrNameLst>
                                          <p:attrName>style.visibility</p:attrName>
                                        </p:attrNameLst>
                                      </p:cBhvr>
                                      <p:to>
                                        <p:strVal val="visible"/>
                                      </p:to>
                                    </p:set>
                                    <p:animEffect transition="in" filter="dissolve">
                                      <p:cBhvr>
                                        <p:cTn id="115" dur="500"/>
                                        <p:tgtEl>
                                          <p:spTgt spid="2350134"/>
                                        </p:tgtEl>
                                      </p:cBhvr>
                                    </p:animEffect>
                                  </p:childTnLst>
                                </p:cTn>
                              </p:par>
                              <p:par>
                                <p:cTn id="116" presetID="9" presetClass="entr" presetSubtype="0" fill="hold" nodeType="withEffect">
                                  <p:stCondLst>
                                    <p:cond delay="0"/>
                                  </p:stCondLst>
                                  <p:childTnLst>
                                    <p:set>
                                      <p:cBhvr>
                                        <p:cTn id="117" dur="1" fill="hold">
                                          <p:stCondLst>
                                            <p:cond delay="0"/>
                                          </p:stCondLst>
                                        </p:cTn>
                                        <p:tgtEl>
                                          <p:spTgt spid="2350135"/>
                                        </p:tgtEl>
                                        <p:attrNameLst>
                                          <p:attrName>style.visibility</p:attrName>
                                        </p:attrNameLst>
                                      </p:cBhvr>
                                      <p:to>
                                        <p:strVal val="visible"/>
                                      </p:to>
                                    </p:set>
                                    <p:animEffect transition="in" filter="dissolve">
                                      <p:cBhvr>
                                        <p:cTn id="118" dur="500"/>
                                        <p:tgtEl>
                                          <p:spTgt spid="2350135"/>
                                        </p:tgtEl>
                                      </p:cBhvr>
                                    </p:animEffect>
                                  </p:childTnLst>
                                </p:cTn>
                              </p:par>
                              <p:par>
                                <p:cTn id="119" presetID="9" presetClass="entr" presetSubtype="0" fill="hold" nodeType="withEffect">
                                  <p:stCondLst>
                                    <p:cond delay="0"/>
                                  </p:stCondLst>
                                  <p:childTnLst>
                                    <p:set>
                                      <p:cBhvr>
                                        <p:cTn id="120" dur="1" fill="hold">
                                          <p:stCondLst>
                                            <p:cond delay="0"/>
                                          </p:stCondLst>
                                        </p:cTn>
                                        <p:tgtEl>
                                          <p:spTgt spid="2350136"/>
                                        </p:tgtEl>
                                        <p:attrNameLst>
                                          <p:attrName>style.visibility</p:attrName>
                                        </p:attrNameLst>
                                      </p:cBhvr>
                                      <p:to>
                                        <p:strVal val="visible"/>
                                      </p:to>
                                    </p:set>
                                    <p:animEffect transition="in" filter="dissolve">
                                      <p:cBhvr>
                                        <p:cTn id="121" dur="500"/>
                                        <p:tgtEl>
                                          <p:spTgt spid="2350136"/>
                                        </p:tgtEl>
                                      </p:cBhvr>
                                    </p:animEffect>
                                  </p:childTnLst>
                                </p:cTn>
                              </p:par>
                              <p:par>
                                <p:cTn id="122" presetID="9" presetClass="entr" presetSubtype="0" fill="hold" nodeType="withEffect">
                                  <p:stCondLst>
                                    <p:cond delay="0"/>
                                  </p:stCondLst>
                                  <p:childTnLst>
                                    <p:set>
                                      <p:cBhvr>
                                        <p:cTn id="123" dur="1" fill="hold">
                                          <p:stCondLst>
                                            <p:cond delay="0"/>
                                          </p:stCondLst>
                                        </p:cTn>
                                        <p:tgtEl>
                                          <p:spTgt spid="2350137"/>
                                        </p:tgtEl>
                                        <p:attrNameLst>
                                          <p:attrName>style.visibility</p:attrName>
                                        </p:attrNameLst>
                                      </p:cBhvr>
                                      <p:to>
                                        <p:strVal val="visible"/>
                                      </p:to>
                                    </p:set>
                                    <p:animEffect transition="in" filter="dissolve">
                                      <p:cBhvr>
                                        <p:cTn id="124" dur="500"/>
                                        <p:tgtEl>
                                          <p:spTgt spid="2350137"/>
                                        </p:tgtEl>
                                      </p:cBhvr>
                                    </p:animEffect>
                                  </p:childTnLst>
                                </p:cTn>
                              </p:par>
                              <p:par>
                                <p:cTn id="125" presetID="9" presetClass="entr" presetSubtype="0" fill="hold" nodeType="withEffect">
                                  <p:stCondLst>
                                    <p:cond delay="0"/>
                                  </p:stCondLst>
                                  <p:childTnLst>
                                    <p:set>
                                      <p:cBhvr>
                                        <p:cTn id="126" dur="1" fill="hold">
                                          <p:stCondLst>
                                            <p:cond delay="0"/>
                                          </p:stCondLst>
                                        </p:cTn>
                                        <p:tgtEl>
                                          <p:spTgt spid="2350138"/>
                                        </p:tgtEl>
                                        <p:attrNameLst>
                                          <p:attrName>style.visibility</p:attrName>
                                        </p:attrNameLst>
                                      </p:cBhvr>
                                      <p:to>
                                        <p:strVal val="visible"/>
                                      </p:to>
                                    </p:set>
                                    <p:animEffect transition="in" filter="dissolve">
                                      <p:cBhvr>
                                        <p:cTn id="127" dur="500"/>
                                        <p:tgtEl>
                                          <p:spTgt spid="2350138"/>
                                        </p:tgtEl>
                                      </p:cBhvr>
                                    </p:animEffect>
                                  </p:childTnLst>
                                </p:cTn>
                              </p:par>
                              <p:par>
                                <p:cTn id="128" presetID="9" presetClass="entr" presetSubtype="0" fill="hold" nodeType="withEffect">
                                  <p:stCondLst>
                                    <p:cond delay="0"/>
                                  </p:stCondLst>
                                  <p:childTnLst>
                                    <p:set>
                                      <p:cBhvr>
                                        <p:cTn id="129" dur="1" fill="hold">
                                          <p:stCondLst>
                                            <p:cond delay="0"/>
                                          </p:stCondLst>
                                        </p:cTn>
                                        <p:tgtEl>
                                          <p:spTgt spid="2350139"/>
                                        </p:tgtEl>
                                        <p:attrNameLst>
                                          <p:attrName>style.visibility</p:attrName>
                                        </p:attrNameLst>
                                      </p:cBhvr>
                                      <p:to>
                                        <p:strVal val="visible"/>
                                      </p:to>
                                    </p:set>
                                    <p:animEffect transition="in" filter="dissolve">
                                      <p:cBhvr>
                                        <p:cTn id="130" dur="500"/>
                                        <p:tgtEl>
                                          <p:spTgt spid="2350139"/>
                                        </p:tgtEl>
                                      </p:cBhvr>
                                    </p:animEffect>
                                  </p:childTnLst>
                                </p:cTn>
                              </p:par>
                              <p:par>
                                <p:cTn id="131" presetID="9" presetClass="entr" presetSubtype="0" fill="hold" nodeType="withEffect">
                                  <p:stCondLst>
                                    <p:cond delay="0"/>
                                  </p:stCondLst>
                                  <p:childTnLst>
                                    <p:set>
                                      <p:cBhvr>
                                        <p:cTn id="132" dur="1" fill="hold">
                                          <p:stCondLst>
                                            <p:cond delay="0"/>
                                          </p:stCondLst>
                                        </p:cTn>
                                        <p:tgtEl>
                                          <p:spTgt spid="2350140"/>
                                        </p:tgtEl>
                                        <p:attrNameLst>
                                          <p:attrName>style.visibility</p:attrName>
                                        </p:attrNameLst>
                                      </p:cBhvr>
                                      <p:to>
                                        <p:strVal val="visible"/>
                                      </p:to>
                                    </p:set>
                                    <p:animEffect transition="in" filter="dissolve">
                                      <p:cBhvr>
                                        <p:cTn id="133" dur="500"/>
                                        <p:tgtEl>
                                          <p:spTgt spid="2350140"/>
                                        </p:tgtEl>
                                      </p:cBhvr>
                                    </p:animEffect>
                                  </p:childTnLst>
                                </p:cTn>
                              </p:par>
                              <p:par>
                                <p:cTn id="134" presetID="9" presetClass="entr" presetSubtype="0" fill="hold" nodeType="withEffect">
                                  <p:stCondLst>
                                    <p:cond delay="0"/>
                                  </p:stCondLst>
                                  <p:childTnLst>
                                    <p:set>
                                      <p:cBhvr>
                                        <p:cTn id="135" dur="1" fill="hold">
                                          <p:stCondLst>
                                            <p:cond delay="0"/>
                                          </p:stCondLst>
                                        </p:cTn>
                                        <p:tgtEl>
                                          <p:spTgt spid="2350141"/>
                                        </p:tgtEl>
                                        <p:attrNameLst>
                                          <p:attrName>style.visibility</p:attrName>
                                        </p:attrNameLst>
                                      </p:cBhvr>
                                      <p:to>
                                        <p:strVal val="visible"/>
                                      </p:to>
                                    </p:set>
                                    <p:animEffect transition="in" filter="dissolve">
                                      <p:cBhvr>
                                        <p:cTn id="136" dur="500"/>
                                        <p:tgtEl>
                                          <p:spTgt spid="2350141"/>
                                        </p:tgtEl>
                                      </p:cBhvr>
                                    </p:animEffect>
                                  </p:childTnLst>
                                </p:cTn>
                              </p:par>
                              <p:par>
                                <p:cTn id="137" presetID="9" presetClass="entr" presetSubtype="0" fill="hold" nodeType="withEffect">
                                  <p:stCondLst>
                                    <p:cond delay="0"/>
                                  </p:stCondLst>
                                  <p:childTnLst>
                                    <p:set>
                                      <p:cBhvr>
                                        <p:cTn id="138" dur="1" fill="hold">
                                          <p:stCondLst>
                                            <p:cond delay="0"/>
                                          </p:stCondLst>
                                        </p:cTn>
                                        <p:tgtEl>
                                          <p:spTgt spid="2350142"/>
                                        </p:tgtEl>
                                        <p:attrNameLst>
                                          <p:attrName>style.visibility</p:attrName>
                                        </p:attrNameLst>
                                      </p:cBhvr>
                                      <p:to>
                                        <p:strVal val="visible"/>
                                      </p:to>
                                    </p:set>
                                    <p:animEffect transition="in" filter="dissolve">
                                      <p:cBhvr>
                                        <p:cTn id="139" dur="500"/>
                                        <p:tgtEl>
                                          <p:spTgt spid="2350142"/>
                                        </p:tgtEl>
                                      </p:cBhvr>
                                    </p:animEffect>
                                  </p:childTnLst>
                                </p:cTn>
                              </p:par>
                              <p:par>
                                <p:cTn id="140" presetID="9" presetClass="entr" presetSubtype="0" fill="hold" nodeType="withEffect">
                                  <p:stCondLst>
                                    <p:cond delay="0"/>
                                  </p:stCondLst>
                                  <p:childTnLst>
                                    <p:set>
                                      <p:cBhvr>
                                        <p:cTn id="141" dur="1" fill="hold">
                                          <p:stCondLst>
                                            <p:cond delay="0"/>
                                          </p:stCondLst>
                                        </p:cTn>
                                        <p:tgtEl>
                                          <p:spTgt spid="2350143"/>
                                        </p:tgtEl>
                                        <p:attrNameLst>
                                          <p:attrName>style.visibility</p:attrName>
                                        </p:attrNameLst>
                                      </p:cBhvr>
                                      <p:to>
                                        <p:strVal val="visible"/>
                                      </p:to>
                                    </p:set>
                                    <p:animEffect transition="in" filter="dissolve">
                                      <p:cBhvr>
                                        <p:cTn id="142" dur="500"/>
                                        <p:tgtEl>
                                          <p:spTgt spid="2350143"/>
                                        </p:tgtEl>
                                      </p:cBhvr>
                                    </p:animEffect>
                                  </p:childTnLst>
                                </p:cTn>
                              </p:par>
                              <p:par>
                                <p:cTn id="143" presetID="9" presetClass="entr" presetSubtype="0" fill="hold" nodeType="withEffect">
                                  <p:stCondLst>
                                    <p:cond delay="0"/>
                                  </p:stCondLst>
                                  <p:childTnLst>
                                    <p:set>
                                      <p:cBhvr>
                                        <p:cTn id="144" dur="1" fill="hold">
                                          <p:stCondLst>
                                            <p:cond delay="0"/>
                                          </p:stCondLst>
                                        </p:cTn>
                                        <p:tgtEl>
                                          <p:spTgt spid="2350145"/>
                                        </p:tgtEl>
                                        <p:attrNameLst>
                                          <p:attrName>style.visibility</p:attrName>
                                        </p:attrNameLst>
                                      </p:cBhvr>
                                      <p:to>
                                        <p:strVal val="visible"/>
                                      </p:to>
                                    </p:set>
                                    <p:animEffect transition="in" filter="dissolve">
                                      <p:cBhvr>
                                        <p:cTn id="145" dur="500"/>
                                        <p:tgtEl>
                                          <p:spTgt spid="2350145"/>
                                        </p:tgtEl>
                                      </p:cBhvr>
                                    </p:animEffect>
                                  </p:childTnLst>
                                </p:cTn>
                              </p:par>
                              <p:par>
                                <p:cTn id="146" presetID="9" presetClass="entr" presetSubtype="0" fill="hold" nodeType="withEffect">
                                  <p:stCondLst>
                                    <p:cond delay="0"/>
                                  </p:stCondLst>
                                  <p:childTnLst>
                                    <p:set>
                                      <p:cBhvr>
                                        <p:cTn id="147" dur="1" fill="hold">
                                          <p:stCondLst>
                                            <p:cond delay="0"/>
                                          </p:stCondLst>
                                        </p:cTn>
                                        <p:tgtEl>
                                          <p:spTgt spid="2350147"/>
                                        </p:tgtEl>
                                        <p:attrNameLst>
                                          <p:attrName>style.visibility</p:attrName>
                                        </p:attrNameLst>
                                      </p:cBhvr>
                                      <p:to>
                                        <p:strVal val="visible"/>
                                      </p:to>
                                    </p:set>
                                    <p:animEffect transition="in" filter="dissolve">
                                      <p:cBhvr>
                                        <p:cTn id="148" dur="500"/>
                                        <p:tgtEl>
                                          <p:spTgt spid="2350147"/>
                                        </p:tgtEl>
                                      </p:cBhvr>
                                    </p:animEffect>
                                  </p:childTnLst>
                                </p:cTn>
                              </p:par>
                              <p:par>
                                <p:cTn id="149" presetID="9" presetClass="entr" presetSubtype="0" fill="hold" nodeType="withEffect">
                                  <p:stCondLst>
                                    <p:cond delay="0"/>
                                  </p:stCondLst>
                                  <p:childTnLst>
                                    <p:set>
                                      <p:cBhvr>
                                        <p:cTn id="150" dur="1" fill="hold">
                                          <p:stCondLst>
                                            <p:cond delay="0"/>
                                          </p:stCondLst>
                                        </p:cTn>
                                        <p:tgtEl>
                                          <p:spTgt spid="2350149"/>
                                        </p:tgtEl>
                                        <p:attrNameLst>
                                          <p:attrName>style.visibility</p:attrName>
                                        </p:attrNameLst>
                                      </p:cBhvr>
                                      <p:to>
                                        <p:strVal val="visible"/>
                                      </p:to>
                                    </p:set>
                                    <p:animEffect transition="in" filter="dissolve">
                                      <p:cBhvr>
                                        <p:cTn id="151" dur="500"/>
                                        <p:tgtEl>
                                          <p:spTgt spid="2350149"/>
                                        </p:tgtEl>
                                      </p:cBhvr>
                                    </p:animEffect>
                                  </p:childTnLst>
                                </p:cTn>
                              </p:par>
                              <p:par>
                                <p:cTn id="152" presetID="9" presetClass="entr" presetSubtype="0" fill="hold" nodeType="withEffect">
                                  <p:stCondLst>
                                    <p:cond delay="0"/>
                                  </p:stCondLst>
                                  <p:childTnLst>
                                    <p:set>
                                      <p:cBhvr>
                                        <p:cTn id="153" dur="1" fill="hold">
                                          <p:stCondLst>
                                            <p:cond delay="0"/>
                                          </p:stCondLst>
                                        </p:cTn>
                                        <p:tgtEl>
                                          <p:spTgt spid="2350151"/>
                                        </p:tgtEl>
                                        <p:attrNameLst>
                                          <p:attrName>style.visibility</p:attrName>
                                        </p:attrNameLst>
                                      </p:cBhvr>
                                      <p:to>
                                        <p:strVal val="visible"/>
                                      </p:to>
                                    </p:set>
                                    <p:animEffect transition="in" filter="dissolve">
                                      <p:cBhvr>
                                        <p:cTn id="154" dur="500"/>
                                        <p:tgtEl>
                                          <p:spTgt spid="2350151"/>
                                        </p:tgtEl>
                                      </p:cBhvr>
                                    </p:animEffect>
                                  </p:childTnLst>
                                </p:cTn>
                              </p:par>
                              <p:par>
                                <p:cTn id="155" presetID="9" presetClass="entr" presetSubtype="0" fill="hold" nodeType="withEffect">
                                  <p:stCondLst>
                                    <p:cond delay="0"/>
                                  </p:stCondLst>
                                  <p:childTnLst>
                                    <p:set>
                                      <p:cBhvr>
                                        <p:cTn id="156" dur="1" fill="hold">
                                          <p:stCondLst>
                                            <p:cond delay="0"/>
                                          </p:stCondLst>
                                        </p:cTn>
                                        <p:tgtEl>
                                          <p:spTgt spid="2350152"/>
                                        </p:tgtEl>
                                        <p:attrNameLst>
                                          <p:attrName>style.visibility</p:attrName>
                                        </p:attrNameLst>
                                      </p:cBhvr>
                                      <p:to>
                                        <p:strVal val="visible"/>
                                      </p:to>
                                    </p:set>
                                    <p:animEffect transition="in" filter="dissolve">
                                      <p:cBhvr>
                                        <p:cTn id="157" dur="500"/>
                                        <p:tgtEl>
                                          <p:spTgt spid="2350152"/>
                                        </p:tgtEl>
                                      </p:cBhvr>
                                    </p:animEffect>
                                  </p:childTnLst>
                                </p:cTn>
                              </p:par>
                              <p:par>
                                <p:cTn id="158" presetID="9" presetClass="entr" presetSubtype="0" fill="hold" nodeType="withEffect">
                                  <p:stCondLst>
                                    <p:cond delay="0"/>
                                  </p:stCondLst>
                                  <p:childTnLst>
                                    <p:set>
                                      <p:cBhvr>
                                        <p:cTn id="159" dur="1" fill="hold">
                                          <p:stCondLst>
                                            <p:cond delay="0"/>
                                          </p:stCondLst>
                                        </p:cTn>
                                        <p:tgtEl>
                                          <p:spTgt spid="2350153"/>
                                        </p:tgtEl>
                                        <p:attrNameLst>
                                          <p:attrName>style.visibility</p:attrName>
                                        </p:attrNameLst>
                                      </p:cBhvr>
                                      <p:to>
                                        <p:strVal val="visible"/>
                                      </p:to>
                                    </p:set>
                                    <p:animEffect transition="in" filter="dissolve">
                                      <p:cBhvr>
                                        <p:cTn id="160" dur="500"/>
                                        <p:tgtEl>
                                          <p:spTgt spid="2350153"/>
                                        </p:tgtEl>
                                      </p:cBhvr>
                                    </p:animEffect>
                                  </p:childTnLst>
                                </p:cTn>
                              </p:par>
                              <p:par>
                                <p:cTn id="161" presetID="9" presetClass="entr" presetSubtype="0" fill="hold" nodeType="withEffect">
                                  <p:stCondLst>
                                    <p:cond delay="0"/>
                                  </p:stCondLst>
                                  <p:childTnLst>
                                    <p:set>
                                      <p:cBhvr>
                                        <p:cTn id="162" dur="1" fill="hold">
                                          <p:stCondLst>
                                            <p:cond delay="0"/>
                                          </p:stCondLst>
                                        </p:cTn>
                                        <p:tgtEl>
                                          <p:spTgt spid="2350154"/>
                                        </p:tgtEl>
                                        <p:attrNameLst>
                                          <p:attrName>style.visibility</p:attrName>
                                        </p:attrNameLst>
                                      </p:cBhvr>
                                      <p:to>
                                        <p:strVal val="visible"/>
                                      </p:to>
                                    </p:set>
                                    <p:animEffect transition="in" filter="dissolve">
                                      <p:cBhvr>
                                        <p:cTn id="163" dur="500"/>
                                        <p:tgtEl>
                                          <p:spTgt spid="2350154"/>
                                        </p:tgtEl>
                                      </p:cBhvr>
                                    </p:animEffect>
                                  </p:childTnLst>
                                </p:cTn>
                              </p:par>
                              <p:par>
                                <p:cTn id="164" presetID="9" presetClass="entr" presetSubtype="0" fill="hold" nodeType="withEffect">
                                  <p:stCondLst>
                                    <p:cond delay="0"/>
                                  </p:stCondLst>
                                  <p:childTnLst>
                                    <p:set>
                                      <p:cBhvr>
                                        <p:cTn id="165" dur="1" fill="hold">
                                          <p:stCondLst>
                                            <p:cond delay="0"/>
                                          </p:stCondLst>
                                        </p:cTn>
                                        <p:tgtEl>
                                          <p:spTgt spid="2350155"/>
                                        </p:tgtEl>
                                        <p:attrNameLst>
                                          <p:attrName>style.visibility</p:attrName>
                                        </p:attrNameLst>
                                      </p:cBhvr>
                                      <p:to>
                                        <p:strVal val="visible"/>
                                      </p:to>
                                    </p:set>
                                    <p:animEffect transition="in" filter="dissolve">
                                      <p:cBhvr>
                                        <p:cTn id="166" dur="500"/>
                                        <p:tgtEl>
                                          <p:spTgt spid="2350155"/>
                                        </p:tgtEl>
                                      </p:cBhvr>
                                    </p:animEffect>
                                  </p:childTnLst>
                                </p:cTn>
                              </p:par>
                              <p:par>
                                <p:cTn id="167" presetID="9" presetClass="entr" presetSubtype="0" fill="hold" nodeType="withEffect">
                                  <p:stCondLst>
                                    <p:cond delay="0"/>
                                  </p:stCondLst>
                                  <p:childTnLst>
                                    <p:set>
                                      <p:cBhvr>
                                        <p:cTn id="168" dur="1" fill="hold">
                                          <p:stCondLst>
                                            <p:cond delay="0"/>
                                          </p:stCondLst>
                                        </p:cTn>
                                        <p:tgtEl>
                                          <p:spTgt spid="2350156"/>
                                        </p:tgtEl>
                                        <p:attrNameLst>
                                          <p:attrName>style.visibility</p:attrName>
                                        </p:attrNameLst>
                                      </p:cBhvr>
                                      <p:to>
                                        <p:strVal val="visible"/>
                                      </p:to>
                                    </p:set>
                                    <p:animEffect transition="in" filter="dissolve">
                                      <p:cBhvr>
                                        <p:cTn id="169" dur="500"/>
                                        <p:tgtEl>
                                          <p:spTgt spid="2350156"/>
                                        </p:tgtEl>
                                      </p:cBhvr>
                                    </p:animEffect>
                                  </p:childTnLst>
                                </p:cTn>
                              </p:par>
                              <p:par>
                                <p:cTn id="170" presetID="9" presetClass="entr" presetSubtype="0" fill="hold" nodeType="withEffect">
                                  <p:stCondLst>
                                    <p:cond delay="0"/>
                                  </p:stCondLst>
                                  <p:childTnLst>
                                    <p:set>
                                      <p:cBhvr>
                                        <p:cTn id="171" dur="1" fill="hold">
                                          <p:stCondLst>
                                            <p:cond delay="0"/>
                                          </p:stCondLst>
                                        </p:cTn>
                                        <p:tgtEl>
                                          <p:spTgt spid="2350157"/>
                                        </p:tgtEl>
                                        <p:attrNameLst>
                                          <p:attrName>style.visibility</p:attrName>
                                        </p:attrNameLst>
                                      </p:cBhvr>
                                      <p:to>
                                        <p:strVal val="visible"/>
                                      </p:to>
                                    </p:set>
                                    <p:animEffect transition="in" filter="dissolve">
                                      <p:cBhvr>
                                        <p:cTn id="172" dur="500"/>
                                        <p:tgtEl>
                                          <p:spTgt spid="2350157"/>
                                        </p:tgtEl>
                                      </p:cBhvr>
                                    </p:animEffect>
                                  </p:childTnLst>
                                </p:cTn>
                              </p:par>
                              <p:par>
                                <p:cTn id="173" presetID="9" presetClass="entr" presetSubtype="0" fill="hold" nodeType="withEffect">
                                  <p:stCondLst>
                                    <p:cond delay="0"/>
                                  </p:stCondLst>
                                  <p:childTnLst>
                                    <p:set>
                                      <p:cBhvr>
                                        <p:cTn id="174" dur="1" fill="hold">
                                          <p:stCondLst>
                                            <p:cond delay="0"/>
                                          </p:stCondLst>
                                        </p:cTn>
                                        <p:tgtEl>
                                          <p:spTgt spid="2350158"/>
                                        </p:tgtEl>
                                        <p:attrNameLst>
                                          <p:attrName>style.visibility</p:attrName>
                                        </p:attrNameLst>
                                      </p:cBhvr>
                                      <p:to>
                                        <p:strVal val="visible"/>
                                      </p:to>
                                    </p:set>
                                    <p:animEffect transition="in" filter="dissolve">
                                      <p:cBhvr>
                                        <p:cTn id="175" dur="500"/>
                                        <p:tgtEl>
                                          <p:spTgt spid="2350158"/>
                                        </p:tgtEl>
                                      </p:cBhvr>
                                    </p:animEffect>
                                  </p:childTnLst>
                                </p:cTn>
                              </p:par>
                              <p:par>
                                <p:cTn id="176" presetID="9" presetClass="entr" presetSubtype="0" fill="hold" nodeType="withEffect">
                                  <p:stCondLst>
                                    <p:cond delay="0"/>
                                  </p:stCondLst>
                                  <p:childTnLst>
                                    <p:set>
                                      <p:cBhvr>
                                        <p:cTn id="177" dur="1" fill="hold">
                                          <p:stCondLst>
                                            <p:cond delay="0"/>
                                          </p:stCondLst>
                                        </p:cTn>
                                        <p:tgtEl>
                                          <p:spTgt spid="2350159"/>
                                        </p:tgtEl>
                                        <p:attrNameLst>
                                          <p:attrName>style.visibility</p:attrName>
                                        </p:attrNameLst>
                                      </p:cBhvr>
                                      <p:to>
                                        <p:strVal val="visible"/>
                                      </p:to>
                                    </p:set>
                                    <p:animEffect transition="in" filter="dissolve">
                                      <p:cBhvr>
                                        <p:cTn id="178" dur="500"/>
                                        <p:tgtEl>
                                          <p:spTgt spid="2350159"/>
                                        </p:tgtEl>
                                      </p:cBhvr>
                                    </p:animEffect>
                                  </p:childTnLst>
                                </p:cTn>
                              </p:par>
                              <p:par>
                                <p:cTn id="179" presetID="9" presetClass="entr" presetSubtype="0" fill="hold" nodeType="withEffect">
                                  <p:stCondLst>
                                    <p:cond delay="0"/>
                                  </p:stCondLst>
                                  <p:childTnLst>
                                    <p:set>
                                      <p:cBhvr>
                                        <p:cTn id="180" dur="1" fill="hold">
                                          <p:stCondLst>
                                            <p:cond delay="0"/>
                                          </p:stCondLst>
                                        </p:cTn>
                                        <p:tgtEl>
                                          <p:spTgt spid="2350160"/>
                                        </p:tgtEl>
                                        <p:attrNameLst>
                                          <p:attrName>style.visibility</p:attrName>
                                        </p:attrNameLst>
                                      </p:cBhvr>
                                      <p:to>
                                        <p:strVal val="visible"/>
                                      </p:to>
                                    </p:set>
                                    <p:animEffect transition="in" filter="dissolve">
                                      <p:cBhvr>
                                        <p:cTn id="181" dur="500"/>
                                        <p:tgtEl>
                                          <p:spTgt spid="2350160"/>
                                        </p:tgtEl>
                                      </p:cBhvr>
                                    </p:animEffect>
                                  </p:childTnLst>
                                </p:cTn>
                              </p:par>
                              <p:par>
                                <p:cTn id="182" presetID="9" presetClass="entr" presetSubtype="0" fill="hold" nodeType="withEffect">
                                  <p:stCondLst>
                                    <p:cond delay="0"/>
                                  </p:stCondLst>
                                  <p:childTnLst>
                                    <p:set>
                                      <p:cBhvr>
                                        <p:cTn id="183" dur="1" fill="hold">
                                          <p:stCondLst>
                                            <p:cond delay="0"/>
                                          </p:stCondLst>
                                        </p:cTn>
                                        <p:tgtEl>
                                          <p:spTgt spid="2350161"/>
                                        </p:tgtEl>
                                        <p:attrNameLst>
                                          <p:attrName>style.visibility</p:attrName>
                                        </p:attrNameLst>
                                      </p:cBhvr>
                                      <p:to>
                                        <p:strVal val="visible"/>
                                      </p:to>
                                    </p:set>
                                    <p:animEffect transition="in" filter="dissolve">
                                      <p:cBhvr>
                                        <p:cTn id="184" dur="500"/>
                                        <p:tgtEl>
                                          <p:spTgt spid="2350161"/>
                                        </p:tgtEl>
                                      </p:cBhvr>
                                    </p:animEffect>
                                  </p:childTnLst>
                                </p:cTn>
                              </p:par>
                              <p:par>
                                <p:cTn id="185" presetID="9" presetClass="entr" presetSubtype="0" fill="hold" nodeType="withEffect">
                                  <p:stCondLst>
                                    <p:cond delay="0"/>
                                  </p:stCondLst>
                                  <p:childTnLst>
                                    <p:set>
                                      <p:cBhvr>
                                        <p:cTn id="186" dur="1" fill="hold">
                                          <p:stCondLst>
                                            <p:cond delay="0"/>
                                          </p:stCondLst>
                                        </p:cTn>
                                        <p:tgtEl>
                                          <p:spTgt spid="2350162"/>
                                        </p:tgtEl>
                                        <p:attrNameLst>
                                          <p:attrName>style.visibility</p:attrName>
                                        </p:attrNameLst>
                                      </p:cBhvr>
                                      <p:to>
                                        <p:strVal val="visible"/>
                                      </p:to>
                                    </p:set>
                                    <p:animEffect transition="in" filter="dissolve">
                                      <p:cBhvr>
                                        <p:cTn id="187" dur="500"/>
                                        <p:tgtEl>
                                          <p:spTgt spid="2350162"/>
                                        </p:tgtEl>
                                      </p:cBhvr>
                                    </p:animEffect>
                                  </p:childTnLst>
                                </p:cTn>
                              </p:par>
                              <p:par>
                                <p:cTn id="188" presetID="9" presetClass="entr" presetSubtype="0" fill="hold" nodeType="withEffect">
                                  <p:stCondLst>
                                    <p:cond delay="0"/>
                                  </p:stCondLst>
                                  <p:childTnLst>
                                    <p:set>
                                      <p:cBhvr>
                                        <p:cTn id="189" dur="1" fill="hold">
                                          <p:stCondLst>
                                            <p:cond delay="0"/>
                                          </p:stCondLst>
                                        </p:cTn>
                                        <p:tgtEl>
                                          <p:spTgt spid="2350163"/>
                                        </p:tgtEl>
                                        <p:attrNameLst>
                                          <p:attrName>style.visibility</p:attrName>
                                        </p:attrNameLst>
                                      </p:cBhvr>
                                      <p:to>
                                        <p:strVal val="visible"/>
                                      </p:to>
                                    </p:set>
                                    <p:animEffect transition="in" filter="dissolve">
                                      <p:cBhvr>
                                        <p:cTn id="190" dur="500"/>
                                        <p:tgtEl>
                                          <p:spTgt spid="2350163"/>
                                        </p:tgtEl>
                                      </p:cBhvr>
                                    </p:animEffect>
                                  </p:childTnLst>
                                </p:cTn>
                              </p:par>
                              <p:par>
                                <p:cTn id="191" presetID="9" presetClass="entr" presetSubtype="0" fill="hold" nodeType="withEffect">
                                  <p:stCondLst>
                                    <p:cond delay="0"/>
                                  </p:stCondLst>
                                  <p:childTnLst>
                                    <p:set>
                                      <p:cBhvr>
                                        <p:cTn id="192" dur="1" fill="hold">
                                          <p:stCondLst>
                                            <p:cond delay="0"/>
                                          </p:stCondLst>
                                        </p:cTn>
                                        <p:tgtEl>
                                          <p:spTgt spid="2350164"/>
                                        </p:tgtEl>
                                        <p:attrNameLst>
                                          <p:attrName>style.visibility</p:attrName>
                                        </p:attrNameLst>
                                      </p:cBhvr>
                                      <p:to>
                                        <p:strVal val="visible"/>
                                      </p:to>
                                    </p:set>
                                    <p:animEffect transition="in" filter="dissolve">
                                      <p:cBhvr>
                                        <p:cTn id="193" dur="500"/>
                                        <p:tgtEl>
                                          <p:spTgt spid="2350164"/>
                                        </p:tgtEl>
                                      </p:cBhvr>
                                    </p:animEffect>
                                  </p:childTnLst>
                                </p:cTn>
                              </p:par>
                              <p:par>
                                <p:cTn id="194" presetID="9" presetClass="entr" presetSubtype="0" fill="hold" nodeType="withEffect">
                                  <p:stCondLst>
                                    <p:cond delay="0"/>
                                  </p:stCondLst>
                                  <p:childTnLst>
                                    <p:set>
                                      <p:cBhvr>
                                        <p:cTn id="195" dur="1" fill="hold">
                                          <p:stCondLst>
                                            <p:cond delay="0"/>
                                          </p:stCondLst>
                                        </p:cTn>
                                        <p:tgtEl>
                                          <p:spTgt spid="2350165"/>
                                        </p:tgtEl>
                                        <p:attrNameLst>
                                          <p:attrName>style.visibility</p:attrName>
                                        </p:attrNameLst>
                                      </p:cBhvr>
                                      <p:to>
                                        <p:strVal val="visible"/>
                                      </p:to>
                                    </p:set>
                                    <p:animEffect transition="in" filter="dissolve">
                                      <p:cBhvr>
                                        <p:cTn id="196" dur="500"/>
                                        <p:tgtEl>
                                          <p:spTgt spid="2350165"/>
                                        </p:tgtEl>
                                      </p:cBhvr>
                                    </p:animEffect>
                                  </p:childTnLst>
                                </p:cTn>
                              </p:par>
                              <p:par>
                                <p:cTn id="197" presetID="9" presetClass="entr" presetSubtype="0" fill="hold" nodeType="withEffect">
                                  <p:stCondLst>
                                    <p:cond delay="0"/>
                                  </p:stCondLst>
                                  <p:childTnLst>
                                    <p:set>
                                      <p:cBhvr>
                                        <p:cTn id="198" dur="1" fill="hold">
                                          <p:stCondLst>
                                            <p:cond delay="0"/>
                                          </p:stCondLst>
                                        </p:cTn>
                                        <p:tgtEl>
                                          <p:spTgt spid="2350166"/>
                                        </p:tgtEl>
                                        <p:attrNameLst>
                                          <p:attrName>style.visibility</p:attrName>
                                        </p:attrNameLst>
                                      </p:cBhvr>
                                      <p:to>
                                        <p:strVal val="visible"/>
                                      </p:to>
                                    </p:set>
                                    <p:animEffect transition="in" filter="dissolve">
                                      <p:cBhvr>
                                        <p:cTn id="199" dur="500"/>
                                        <p:tgtEl>
                                          <p:spTgt spid="2350166"/>
                                        </p:tgtEl>
                                      </p:cBhvr>
                                    </p:animEffect>
                                  </p:childTnLst>
                                </p:cTn>
                              </p:par>
                              <p:par>
                                <p:cTn id="200" presetID="9" presetClass="entr" presetSubtype="0" fill="hold" nodeType="withEffect">
                                  <p:stCondLst>
                                    <p:cond delay="0"/>
                                  </p:stCondLst>
                                  <p:childTnLst>
                                    <p:set>
                                      <p:cBhvr>
                                        <p:cTn id="201" dur="1" fill="hold">
                                          <p:stCondLst>
                                            <p:cond delay="0"/>
                                          </p:stCondLst>
                                        </p:cTn>
                                        <p:tgtEl>
                                          <p:spTgt spid="2350167"/>
                                        </p:tgtEl>
                                        <p:attrNameLst>
                                          <p:attrName>style.visibility</p:attrName>
                                        </p:attrNameLst>
                                      </p:cBhvr>
                                      <p:to>
                                        <p:strVal val="visible"/>
                                      </p:to>
                                    </p:set>
                                    <p:animEffect transition="in" filter="dissolve">
                                      <p:cBhvr>
                                        <p:cTn id="202" dur="500"/>
                                        <p:tgtEl>
                                          <p:spTgt spid="2350167"/>
                                        </p:tgtEl>
                                      </p:cBhvr>
                                    </p:animEffect>
                                  </p:childTnLst>
                                </p:cTn>
                              </p:par>
                              <p:par>
                                <p:cTn id="203" presetID="9" presetClass="entr" presetSubtype="0" fill="hold" nodeType="withEffect">
                                  <p:stCondLst>
                                    <p:cond delay="0"/>
                                  </p:stCondLst>
                                  <p:childTnLst>
                                    <p:set>
                                      <p:cBhvr>
                                        <p:cTn id="204" dur="1" fill="hold">
                                          <p:stCondLst>
                                            <p:cond delay="0"/>
                                          </p:stCondLst>
                                        </p:cTn>
                                        <p:tgtEl>
                                          <p:spTgt spid="2350168"/>
                                        </p:tgtEl>
                                        <p:attrNameLst>
                                          <p:attrName>style.visibility</p:attrName>
                                        </p:attrNameLst>
                                      </p:cBhvr>
                                      <p:to>
                                        <p:strVal val="visible"/>
                                      </p:to>
                                    </p:set>
                                    <p:animEffect transition="in" filter="dissolve">
                                      <p:cBhvr>
                                        <p:cTn id="205" dur="500"/>
                                        <p:tgtEl>
                                          <p:spTgt spid="2350168"/>
                                        </p:tgtEl>
                                      </p:cBhvr>
                                    </p:animEffect>
                                  </p:childTnLst>
                                </p:cTn>
                              </p:par>
                              <p:par>
                                <p:cTn id="206" presetID="9" presetClass="entr" presetSubtype="0" fill="hold" nodeType="withEffect">
                                  <p:stCondLst>
                                    <p:cond delay="0"/>
                                  </p:stCondLst>
                                  <p:childTnLst>
                                    <p:set>
                                      <p:cBhvr>
                                        <p:cTn id="207" dur="1" fill="hold">
                                          <p:stCondLst>
                                            <p:cond delay="0"/>
                                          </p:stCondLst>
                                        </p:cTn>
                                        <p:tgtEl>
                                          <p:spTgt spid="2350169"/>
                                        </p:tgtEl>
                                        <p:attrNameLst>
                                          <p:attrName>style.visibility</p:attrName>
                                        </p:attrNameLst>
                                      </p:cBhvr>
                                      <p:to>
                                        <p:strVal val="visible"/>
                                      </p:to>
                                    </p:set>
                                    <p:animEffect transition="in" filter="dissolve">
                                      <p:cBhvr>
                                        <p:cTn id="208" dur="500"/>
                                        <p:tgtEl>
                                          <p:spTgt spid="2350169"/>
                                        </p:tgtEl>
                                      </p:cBhvr>
                                    </p:animEffect>
                                  </p:childTnLst>
                                </p:cTn>
                              </p:par>
                              <p:par>
                                <p:cTn id="209" presetID="9" presetClass="entr" presetSubtype="0" fill="hold" nodeType="withEffect">
                                  <p:stCondLst>
                                    <p:cond delay="0"/>
                                  </p:stCondLst>
                                  <p:childTnLst>
                                    <p:set>
                                      <p:cBhvr>
                                        <p:cTn id="210" dur="1" fill="hold">
                                          <p:stCondLst>
                                            <p:cond delay="0"/>
                                          </p:stCondLst>
                                        </p:cTn>
                                        <p:tgtEl>
                                          <p:spTgt spid="2350170"/>
                                        </p:tgtEl>
                                        <p:attrNameLst>
                                          <p:attrName>style.visibility</p:attrName>
                                        </p:attrNameLst>
                                      </p:cBhvr>
                                      <p:to>
                                        <p:strVal val="visible"/>
                                      </p:to>
                                    </p:set>
                                    <p:animEffect transition="in" filter="dissolve">
                                      <p:cBhvr>
                                        <p:cTn id="211" dur="500"/>
                                        <p:tgtEl>
                                          <p:spTgt spid="2350170"/>
                                        </p:tgtEl>
                                      </p:cBhvr>
                                    </p:animEffect>
                                  </p:childTnLst>
                                </p:cTn>
                              </p:par>
                              <p:par>
                                <p:cTn id="212" presetID="9" presetClass="entr" presetSubtype="0" fill="hold" nodeType="withEffect">
                                  <p:stCondLst>
                                    <p:cond delay="0"/>
                                  </p:stCondLst>
                                  <p:childTnLst>
                                    <p:set>
                                      <p:cBhvr>
                                        <p:cTn id="213" dur="1" fill="hold">
                                          <p:stCondLst>
                                            <p:cond delay="0"/>
                                          </p:stCondLst>
                                        </p:cTn>
                                        <p:tgtEl>
                                          <p:spTgt spid="2350171"/>
                                        </p:tgtEl>
                                        <p:attrNameLst>
                                          <p:attrName>style.visibility</p:attrName>
                                        </p:attrNameLst>
                                      </p:cBhvr>
                                      <p:to>
                                        <p:strVal val="visible"/>
                                      </p:to>
                                    </p:set>
                                    <p:animEffect transition="in" filter="dissolve">
                                      <p:cBhvr>
                                        <p:cTn id="214" dur="500"/>
                                        <p:tgtEl>
                                          <p:spTgt spid="2350171"/>
                                        </p:tgtEl>
                                      </p:cBhvr>
                                    </p:animEffect>
                                  </p:childTnLst>
                                </p:cTn>
                              </p:par>
                              <p:par>
                                <p:cTn id="215" presetID="9" presetClass="entr" presetSubtype="0" fill="hold" nodeType="withEffect">
                                  <p:stCondLst>
                                    <p:cond delay="0"/>
                                  </p:stCondLst>
                                  <p:childTnLst>
                                    <p:set>
                                      <p:cBhvr>
                                        <p:cTn id="216" dur="1" fill="hold">
                                          <p:stCondLst>
                                            <p:cond delay="0"/>
                                          </p:stCondLst>
                                        </p:cTn>
                                        <p:tgtEl>
                                          <p:spTgt spid="2350172"/>
                                        </p:tgtEl>
                                        <p:attrNameLst>
                                          <p:attrName>style.visibility</p:attrName>
                                        </p:attrNameLst>
                                      </p:cBhvr>
                                      <p:to>
                                        <p:strVal val="visible"/>
                                      </p:to>
                                    </p:set>
                                    <p:animEffect transition="in" filter="dissolve">
                                      <p:cBhvr>
                                        <p:cTn id="217" dur="500"/>
                                        <p:tgtEl>
                                          <p:spTgt spid="2350172"/>
                                        </p:tgtEl>
                                      </p:cBhvr>
                                    </p:animEffect>
                                  </p:childTnLst>
                                </p:cTn>
                              </p:par>
                            </p:childTnLst>
                          </p:cTn>
                        </p:par>
                      </p:childTnLst>
                    </p:cTn>
                  </p:par>
                  <p:par>
                    <p:cTn id="218" fill="hold">
                      <p:stCondLst>
                        <p:cond delay="indefinite"/>
                      </p:stCondLst>
                      <p:childTnLst>
                        <p:par>
                          <p:cTn id="219" fill="hold">
                            <p:stCondLst>
                              <p:cond delay="0"/>
                            </p:stCondLst>
                            <p:childTnLst>
                              <p:par>
                                <p:cTn id="220" presetID="9" presetClass="entr" presetSubtype="0" fill="hold" nodeType="clickEffect">
                                  <p:stCondLst>
                                    <p:cond delay="0"/>
                                  </p:stCondLst>
                                  <p:childTnLst>
                                    <p:set>
                                      <p:cBhvr>
                                        <p:cTn id="221" dur="1" fill="hold">
                                          <p:stCondLst>
                                            <p:cond delay="0"/>
                                          </p:stCondLst>
                                        </p:cTn>
                                        <p:tgtEl>
                                          <p:spTgt spid="2350177"/>
                                        </p:tgtEl>
                                        <p:attrNameLst>
                                          <p:attrName>style.visibility</p:attrName>
                                        </p:attrNameLst>
                                      </p:cBhvr>
                                      <p:to>
                                        <p:strVal val="visible"/>
                                      </p:to>
                                    </p:set>
                                    <p:animEffect transition="in" filter="dissolve">
                                      <p:cBhvr>
                                        <p:cTn id="222" dur="500"/>
                                        <p:tgtEl>
                                          <p:spTgt spid="2350177"/>
                                        </p:tgtEl>
                                      </p:cBhvr>
                                    </p:animEffect>
                                  </p:childTnLst>
                                </p:cTn>
                              </p:par>
                            </p:childTnLst>
                          </p:cTn>
                        </p:par>
                      </p:childTnLst>
                    </p:cTn>
                  </p:par>
                  <p:par>
                    <p:cTn id="223" fill="hold">
                      <p:stCondLst>
                        <p:cond delay="indefinite"/>
                      </p:stCondLst>
                      <p:childTnLst>
                        <p:par>
                          <p:cTn id="224" fill="hold">
                            <p:stCondLst>
                              <p:cond delay="0"/>
                            </p:stCondLst>
                            <p:childTnLst>
                              <p:par>
                                <p:cTn id="225" presetID="1" presetClass="exit" presetSubtype="0" fill="hold" nodeType="clickEffect">
                                  <p:stCondLst>
                                    <p:cond delay="0"/>
                                  </p:stCondLst>
                                  <p:childTnLst>
                                    <p:set>
                                      <p:cBhvr>
                                        <p:cTn id="226" dur="1" fill="hold">
                                          <p:stCondLst>
                                            <p:cond delay="0"/>
                                          </p:stCondLst>
                                        </p:cTn>
                                        <p:tgtEl>
                                          <p:spTgt spid="2350106"/>
                                        </p:tgtEl>
                                        <p:attrNameLst>
                                          <p:attrName>style.visibility</p:attrName>
                                        </p:attrNameLst>
                                      </p:cBhvr>
                                      <p:to>
                                        <p:strVal val="hidden"/>
                                      </p:to>
                                    </p:set>
                                  </p:childTnLst>
                                </p:cTn>
                              </p:par>
                              <p:par>
                                <p:cTn id="227" presetID="1" presetClass="exit" presetSubtype="0" fill="hold" nodeType="withEffect">
                                  <p:stCondLst>
                                    <p:cond delay="0"/>
                                  </p:stCondLst>
                                  <p:childTnLst>
                                    <p:set>
                                      <p:cBhvr>
                                        <p:cTn id="228" dur="1" fill="hold">
                                          <p:stCondLst>
                                            <p:cond delay="0"/>
                                          </p:stCondLst>
                                        </p:cTn>
                                        <p:tgtEl>
                                          <p:spTgt spid="2350137"/>
                                        </p:tgtEl>
                                        <p:attrNameLst>
                                          <p:attrName>style.visibility</p:attrName>
                                        </p:attrNameLst>
                                      </p:cBhvr>
                                      <p:to>
                                        <p:strVal val="hidden"/>
                                      </p:to>
                                    </p:set>
                                  </p:childTnLst>
                                </p:cTn>
                              </p:par>
                              <p:par>
                                <p:cTn id="229" presetID="1" presetClass="exit" presetSubtype="0" fill="hold" nodeType="withEffect">
                                  <p:stCondLst>
                                    <p:cond delay="0"/>
                                  </p:stCondLst>
                                  <p:childTnLst>
                                    <p:set>
                                      <p:cBhvr>
                                        <p:cTn id="230" dur="1" fill="hold">
                                          <p:stCondLst>
                                            <p:cond delay="0"/>
                                          </p:stCondLst>
                                        </p:cTn>
                                        <p:tgtEl>
                                          <p:spTgt spid="2350138"/>
                                        </p:tgtEl>
                                        <p:attrNameLst>
                                          <p:attrName>style.visibility</p:attrName>
                                        </p:attrNameLst>
                                      </p:cBhvr>
                                      <p:to>
                                        <p:strVal val="hidden"/>
                                      </p:to>
                                    </p:set>
                                  </p:childTnLst>
                                </p:cTn>
                              </p:par>
                            </p:childTnLst>
                          </p:cTn>
                        </p:par>
                      </p:childTnLst>
                    </p:cTn>
                  </p:par>
                  <p:par>
                    <p:cTn id="231" fill="hold">
                      <p:stCondLst>
                        <p:cond delay="indefinite"/>
                      </p:stCondLst>
                      <p:childTnLst>
                        <p:par>
                          <p:cTn id="232" fill="hold">
                            <p:stCondLst>
                              <p:cond delay="0"/>
                            </p:stCondLst>
                            <p:childTnLst>
                              <p:par>
                                <p:cTn id="233" presetID="1" presetClass="exit" presetSubtype="0" fill="hold" nodeType="clickEffect">
                                  <p:stCondLst>
                                    <p:cond delay="0"/>
                                  </p:stCondLst>
                                  <p:childTnLst>
                                    <p:set>
                                      <p:cBhvr>
                                        <p:cTn id="234" dur="1" fill="hold">
                                          <p:stCondLst>
                                            <p:cond delay="0"/>
                                          </p:stCondLst>
                                        </p:cTn>
                                        <p:tgtEl>
                                          <p:spTgt spid="2350164"/>
                                        </p:tgtEl>
                                        <p:attrNameLst>
                                          <p:attrName>style.visibility</p:attrName>
                                        </p:attrNameLst>
                                      </p:cBhvr>
                                      <p:to>
                                        <p:strVal val="hidden"/>
                                      </p:to>
                                    </p:set>
                                  </p:childTnLst>
                                </p:cTn>
                              </p:par>
                              <p:par>
                                <p:cTn id="235" presetID="1" presetClass="exit" presetSubtype="0" fill="hold" nodeType="withEffect">
                                  <p:stCondLst>
                                    <p:cond delay="0"/>
                                  </p:stCondLst>
                                  <p:childTnLst>
                                    <p:set>
                                      <p:cBhvr>
                                        <p:cTn id="236" dur="1" fill="hold">
                                          <p:stCondLst>
                                            <p:cond delay="0"/>
                                          </p:stCondLst>
                                        </p:cTn>
                                        <p:tgtEl>
                                          <p:spTgt spid="2350112"/>
                                        </p:tgtEl>
                                        <p:attrNameLst>
                                          <p:attrName>style.visibility</p:attrName>
                                        </p:attrNameLst>
                                      </p:cBhvr>
                                      <p:to>
                                        <p:strVal val="hidden"/>
                                      </p:to>
                                    </p:set>
                                  </p:childTnLst>
                                </p:cTn>
                              </p:par>
                              <p:par>
                                <p:cTn id="237" presetID="1" presetClass="exit" presetSubtype="0" fill="hold" nodeType="withEffect">
                                  <p:stCondLst>
                                    <p:cond delay="0"/>
                                  </p:stCondLst>
                                  <p:childTnLst>
                                    <p:set>
                                      <p:cBhvr>
                                        <p:cTn id="238" dur="1" fill="hold">
                                          <p:stCondLst>
                                            <p:cond delay="0"/>
                                          </p:stCondLst>
                                        </p:cTn>
                                        <p:tgtEl>
                                          <p:spTgt spid="2350113"/>
                                        </p:tgtEl>
                                        <p:attrNameLst>
                                          <p:attrName>style.visibility</p:attrName>
                                        </p:attrNameLst>
                                      </p:cBhvr>
                                      <p:to>
                                        <p:strVal val="hidden"/>
                                      </p:to>
                                    </p:set>
                                  </p:childTnLst>
                                </p:cTn>
                              </p:par>
                              <p:par>
                                <p:cTn id="239" presetID="1" presetClass="exit" presetSubtype="0" fill="hold" nodeType="withEffect">
                                  <p:stCondLst>
                                    <p:cond delay="0"/>
                                  </p:stCondLst>
                                  <p:childTnLst>
                                    <p:set>
                                      <p:cBhvr>
                                        <p:cTn id="240" dur="1" fill="hold">
                                          <p:stCondLst>
                                            <p:cond delay="0"/>
                                          </p:stCondLst>
                                        </p:cTn>
                                        <p:tgtEl>
                                          <p:spTgt spid="2350114"/>
                                        </p:tgtEl>
                                        <p:attrNameLst>
                                          <p:attrName>style.visibility</p:attrName>
                                        </p:attrNameLst>
                                      </p:cBhvr>
                                      <p:to>
                                        <p:strVal val="hidden"/>
                                      </p:to>
                                    </p:set>
                                  </p:childTnLst>
                                </p:cTn>
                              </p:par>
                              <p:par>
                                <p:cTn id="241" presetID="1" presetClass="exit" presetSubtype="0" fill="hold" nodeType="withEffect">
                                  <p:stCondLst>
                                    <p:cond delay="0"/>
                                  </p:stCondLst>
                                  <p:childTnLst>
                                    <p:set>
                                      <p:cBhvr>
                                        <p:cTn id="242" dur="1" fill="hold">
                                          <p:stCondLst>
                                            <p:cond delay="0"/>
                                          </p:stCondLst>
                                        </p:cTn>
                                        <p:tgtEl>
                                          <p:spTgt spid="2350115"/>
                                        </p:tgtEl>
                                        <p:attrNameLst>
                                          <p:attrName>style.visibility</p:attrName>
                                        </p:attrNameLst>
                                      </p:cBhvr>
                                      <p:to>
                                        <p:strVal val="hidden"/>
                                      </p:to>
                                    </p:set>
                                  </p:childTnLst>
                                </p:cTn>
                              </p:par>
                              <p:par>
                                <p:cTn id="243" presetID="1" presetClass="exit" presetSubtype="0" fill="hold" nodeType="withEffect">
                                  <p:stCondLst>
                                    <p:cond delay="0"/>
                                  </p:stCondLst>
                                  <p:childTnLst>
                                    <p:set>
                                      <p:cBhvr>
                                        <p:cTn id="244" dur="1" fill="hold">
                                          <p:stCondLst>
                                            <p:cond delay="0"/>
                                          </p:stCondLst>
                                        </p:cTn>
                                        <p:tgtEl>
                                          <p:spTgt spid="2350116"/>
                                        </p:tgtEl>
                                        <p:attrNameLst>
                                          <p:attrName>style.visibility</p:attrName>
                                        </p:attrNameLst>
                                      </p:cBhvr>
                                      <p:to>
                                        <p:strVal val="hidden"/>
                                      </p:to>
                                    </p:set>
                                  </p:childTnLst>
                                </p:cTn>
                              </p:par>
                              <p:par>
                                <p:cTn id="245" presetID="1" presetClass="exit" presetSubtype="0" fill="hold" nodeType="withEffect">
                                  <p:stCondLst>
                                    <p:cond delay="0"/>
                                  </p:stCondLst>
                                  <p:childTnLst>
                                    <p:set>
                                      <p:cBhvr>
                                        <p:cTn id="246" dur="1" fill="hold">
                                          <p:stCondLst>
                                            <p:cond delay="0"/>
                                          </p:stCondLst>
                                        </p:cTn>
                                        <p:tgtEl>
                                          <p:spTgt spid="2350147"/>
                                        </p:tgtEl>
                                        <p:attrNameLst>
                                          <p:attrName>style.visibility</p:attrName>
                                        </p:attrNameLst>
                                      </p:cBhvr>
                                      <p:to>
                                        <p:strVal val="hidden"/>
                                      </p:to>
                                    </p:set>
                                  </p:childTnLst>
                                </p:cTn>
                              </p:par>
                              <p:par>
                                <p:cTn id="247" presetID="1" presetClass="exit" presetSubtype="0" fill="hold" nodeType="withEffect">
                                  <p:stCondLst>
                                    <p:cond delay="0"/>
                                  </p:stCondLst>
                                  <p:childTnLst>
                                    <p:set>
                                      <p:cBhvr>
                                        <p:cTn id="248" dur="1" fill="hold">
                                          <p:stCondLst>
                                            <p:cond delay="0"/>
                                          </p:stCondLst>
                                        </p:cTn>
                                        <p:tgtEl>
                                          <p:spTgt spid="2350149"/>
                                        </p:tgtEl>
                                        <p:attrNameLst>
                                          <p:attrName>style.visibility</p:attrName>
                                        </p:attrNameLst>
                                      </p:cBhvr>
                                      <p:to>
                                        <p:strVal val="hidden"/>
                                      </p:to>
                                    </p:set>
                                  </p:childTnLst>
                                </p:cTn>
                              </p:par>
                            </p:childTnLst>
                          </p:cTn>
                        </p:par>
                      </p:childTnLst>
                    </p:cTn>
                  </p:par>
                  <p:par>
                    <p:cTn id="249" fill="hold">
                      <p:stCondLst>
                        <p:cond delay="indefinite"/>
                      </p:stCondLst>
                      <p:childTnLst>
                        <p:par>
                          <p:cTn id="250" fill="hold">
                            <p:stCondLst>
                              <p:cond delay="0"/>
                            </p:stCondLst>
                            <p:childTnLst>
                              <p:par>
                                <p:cTn id="251" presetID="1" presetClass="exit" presetSubtype="0" fill="hold" nodeType="clickEffect">
                                  <p:stCondLst>
                                    <p:cond delay="0"/>
                                  </p:stCondLst>
                                  <p:childTnLst>
                                    <p:set>
                                      <p:cBhvr>
                                        <p:cTn id="252" dur="1" fill="hold">
                                          <p:stCondLst>
                                            <p:cond delay="0"/>
                                          </p:stCondLst>
                                        </p:cTn>
                                        <p:tgtEl>
                                          <p:spTgt spid="2350121"/>
                                        </p:tgtEl>
                                        <p:attrNameLst>
                                          <p:attrName>style.visibility</p:attrName>
                                        </p:attrNameLst>
                                      </p:cBhvr>
                                      <p:to>
                                        <p:strVal val="hidden"/>
                                      </p:to>
                                    </p:set>
                                  </p:childTnLst>
                                </p:cTn>
                              </p:par>
                              <p:par>
                                <p:cTn id="253" presetID="1" presetClass="exit" presetSubtype="0" fill="hold" nodeType="withEffect">
                                  <p:stCondLst>
                                    <p:cond delay="0"/>
                                  </p:stCondLst>
                                  <p:childTnLst>
                                    <p:set>
                                      <p:cBhvr>
                                        <p:cTn id="254" dur="1" fill="hold">
                                          <p:stCondLst>
                                            <p:cond delay="0"/>
                                          </p:stCondLst>
                                        </p:cTn>
                                        <p:tgtEl>
                                          <p:spTgt spid="2350141"/>
                                        </p:tgtEl>
                                        <p:attrNameLst>
                                          <p:attrName>style.visibility</p:attrName>
                                        </p:attrNameLst>
                                      </p:cBhvr>
                                      <p:to>
                                        <p:strVal val="hidden"/>
                                      </p:to>
                                    </p:set>
                                  </p:childTnLst>
                                </p:cTn>
                              </p:par>
                              <p:par>
                                <p:cTn id="255" presetID="1" presetClass="exit" presetSubtype="0" fill="hold" nodeType="withEffect">
                                  <p:stCondLst>
                                    <p:cond delay="0"/>
                                  </p:stCondLst>
                                  <p:childTnLst>
                                    <p:set>
                                      <p:cBhvr>
                                        <p:cTn id="256" dur="1" fill="hold">
                                          <p:stCondLst>
                                            <p:cond delay="0"/>
                                          </p:stCondLst>
                                        </p:cTn>
                                        <p:tgtEl>
                                          <p:spTgt spid="2350142"/>
                                        </p:tgtEl>
                                        <p:attrNameLst>
                                          <p:attrName>style.visibility</p:attrName>
                                        </p:attrNameLst>
                                      </p:cBhvr>
                                      <p:to>
                                        <p:strVal val="hidden"/>
                                      </p:to>
                                    </p:set>
                                  </p:childTnLst>
                                </p:cTn>
                              </p:par>
                            </p:childTnLst>
                          </p:cTn>
                        </p:par>
                      </p:childTnLst>
                    </p:cTn>
                  </p:par>
                  <p:par>
                    <p:cTn id="257" fill="hold">
                      <p:stCondLst>
                        <p:cond delay="indefinite"/>
                      </p:stCondLst>
                      <p:childTnLst>
                        <p:par>
                          <p:cTn id="258" fill="hold">
                            <p:stCondLst>
                              <p:cond delay="0"/>
                            </p:stCondLst>
                            <p:childTnLst>
                              <p:par>
                                <p:cTn id="259" presetID="1" presetClass="exit" presetSubtype="0" fill="hold" nodeType="clickEffect">
                                  <p:stCondLst>
                                    <p:cond delay="0"/>
                                  </p:stCondLst>
                                  <p:childTnLst>
                                    <p:set>
                                      <p:cBhvr>
                                        <p:cTn id="260" dur="1" fill="hold">
                                          <p:stCondLst>
                                            <p:cond delay="0"/>
                                          </p:stCondLst>
                                        </p:cTn>
                                        <p:tgtEl>
                                          <p:spTgt spid="2350124"/>
                                        </p:tgtEl>
                                        <p:attrNameLst>
                                          <p:attrName>style.visibility</p:attrName>
                                        </p:attrNameLst>
                                      </p:cBhvr>
                                      <p:to>
                                        <p:strVal val="hidden"/>
                                      </p:to>
                                    </p:set>
                                  </p:childTnLst>
                                </p:cTn>
                              </p:par>
                              <p:par>
                                <p:cTn id="261" presetID="1" presetClass="exit" presetSubtype="0" fill="hold" nodeType="withEffect">
                                  <p:stCondLst>
                                    <p:cond delay="0"/>
                                  </p:stCondLst>
                                  <p:childTnLst>
                                    <p:set>
                                      <p:cBhvr>
                                        <p:cTn id="262" dur="1" fill="hold">
                                          <p:stCondLst>
                                            <p:cond delay="0"/>
                                          </p:stCondLst>
                                        </p:cTn>
                                        <p:tgtEl>
                                          <p:spTgt spid="2350125"/>
                                        </p:tgtEl>
                                        <p:attrNameLst>
                                          <p:attrName>style.visibility</p:attrName>
                                        </p:attrNameLst>
                                      </p:cBhvr>
                                      <p:to>
                                        <p:strVal val="hidden"/>
                                      </p:to>
                                    </p:set>
                                  </p:childTnLst>
                                </p:cTn>
                              </p:par>
                              <p:par>
                                <p:cTn id="263" presetID="1" presetClass="exit" presetSubtype="0" fill="hold" nodeType="withEffect">
                                  <p:stCondLst>
                                    <p:cond delay="0"/>
                                  </p:stCondLst>
                                  <p:childTnLst>
                                    <p:set>
                                      <p:cBhvr>
                                        <p:cTn id="264" dur="1" fill="hold">
                                          <p:stCondLst>
                                            <p:cond delay="0"/>
                                          </p:stCondLst>
                                        </p:cTn>
                                        <p:tgtEl>
                                          <p:spTgt spid="2350126"/>
                                        </p:tgtEl>
                                        <p:attrNameLst>
                                          <p:attrName>style.visibility</p:attrName>
                                        </p:attrNameLst>
                                      </p:cBhvr>
                                      <p:to>
                                        <p:strVal val="hidden"/>
                                      </p:to>
                                    </p:set>
                                  </p:childTnLst>
                                </p:cTn>
                              </p:par>
                              <p:par>
                                <p:cTn id="265" presetID="1" presetClass="exit" presetSubtype="0" fill="hold" nodeType="withEffect">
                                  <p:stCondLst>
                                    <p:cond delay="0"/>
                                  </p:stCondLst>
                                  <p:childTnLst>
                                    <p:set>
                                      <p:cBhvr>
                                        <p:cTn id="266" dur="1" fill="hold">
                                          <p:stCondLst>
                                            <p:cond delay="0"/>
                                          </p:stCondLst>
                                        </p:cTn>
                                        <p:tgtEl>
                                          <p:spTgt spid="2350127"/>
                                        </p:tgtEl>
                                        <p:attrNameLst>
                                          <p:attrName>style.visibility</p:attrName>
                                        </p:attrNameLst>
                                      </p:cBhvr>
                                      <p:to>
                                        <p:strVal val="hidden"/>
                                      </p:to>
                                    </p:set>
                                  </p:childTnLst>
                                </p:cTn>
                              </p:par>
                              <p:par>
                                <p:cTn id="267" presetID="1" presetClass="exit" presetSubtype="0" fill="hold" nodeType="withEffect">
                                  <p:stCondLst>
                                    <p:cond delay="0"/>
                                  </p:stCondLst>
                                  <p:childTnLst>
                                    <p:set>
                                      <p:cBhvr>
                                        <p:cTn id="268" dur="1" fill="hold">
                                          <p:stCondLst>
                                            <p:cond delay="0"/>
                                          </p:stCondLst>
                                        </p:cTn>
                                        <p:tgtEl>
                                          <p:spTgt spid="2350160"/>
                                        </p:tgtEl>
                                        <p:attrNameLst>
                                          <p:attrName>style.visibility</p:attrName>
                                        </p:attrNameLst>
                                      </p:cBhvr>
                                      <p:to>
                                        <p:strVal val="hidden"/>
                                      </p:to>
                                    </p:set>
                                  </p:childTnLst>
                                </p:cTn>
                              </p:par>
                              <p:par>
                                <p:cTn id="269" presetID="1" presetClass="exit" presetSubtype="0" fill="hold" nodeType="withEffect">
                                  <p:stCondLst>
                                    <p:cond delay="0"/>
                                  </p:stCondLst>
                                  <p:childTnLst>
                                    <p:set>
                                      <p:cBhvr>
                                        <p:cTn id="270" dur="1" fill="hold">
                                          <p:stCondLst>
                                            <p:cond delay="0"/>
                                          </p:stCondLst>
                                        </p:cTn>
                                        <p:tgtEl>
                                          <p:spTgt spid="2350145"/>
                                        </p:tgtEl>
                                        <p:attrNameLst>
                                          <p:attrName>style.visibility</p:attrName>
                                        </p:attrNameLst>
                                      </p:cBhvr>
                                      <p:to>
                                        <p:strVal val="hidden"/>
                                      </p:to>
                                    </p:set>
                                  </p:childTnLst>
                                </p:cTn>
                              </p:par>
                              <p:par>
                                <p:cTn id="271" presetID="1" presetClass="exit" presetSubtype="0" fill="hold" nodeType="withEffect">
                                  <p:stCondLst>
                                    <p:cond delay="0"/>
                                  </p:stCondLst>
                                  <p:childTnLst>
                                    <p:set>
                                      <p:cBhvr>
                                        <p:cTn id="272" dur="1" fill="hold">
                                          <p:stCondLst>
                                            <p:cond delay="0"/>
                                          </p:stCondLst>
                                        </p:cTn>
                                        <p:tgtEl>
                                          <p:spTgt spid="2350143"/>
                                        </p:tgtEl>
                                        <p:attrNameLst>
                                          <p:attrName>style.visibility</p:attrName>
                                        </p:attrNameLst>
                                      </p:cBhvr>
                                      <p:to>
                                        <p:strVal val="hidden"/>
                                      </p:to>
                                    </p:set>
                                  </p:childTnLst>
                                </p:cTn>
                              </p:par>
                              <p:par>
                                <p:cTn id="273" presetID="1" presetClass="exit" presetSubtype="0" fill="hold" nodeType="withEffect">
                                  <p:stCondLst>
                                    <p:cond delay="0"/>
                                  </p:stCondLst>
                                  <p:childTnLst>
                                    <p:set>
                                      <p:cBhvr>
                                        <p:cTn id="274" dur="1" fill="hold">
                                          <p:stCondLst>
                                            <p:cond delay="0"/>
                                          </p:stCondLst>
                                        </p:cTn>
                                        <p:tgtEl>
                                          <p:spTgt spid="2350161"/>
                                        </p:tgtEl>
                                        <p:attrNameLst>
                                          <p:attrName>style.visibility</p:attrName>
                                        </p:attrNameLst>
                                      </p:cBhvr>
                                      <p:to>
                                        <p:strVal val="hidden"/>
                                      </p:to>
                                    </p:set>
                                  </p:childTnLst>
                                </p:cTn>
                              </p:par>
                            </p:childTnLst>
                          </p:cTn>
                        </p:par>
                      </p:childTnLst>
                    </p:cTn>
                  </p:par>
                  <p:par>
                    <p:cTn id="275" fill="hold">
                      <p:stCondLst>
                        <p:cond delay="indefinite"/>
                      </p:stCondLst>
                      <p:childTnLst>
                        <p:par>
                          <p:cTn id="276" fill="hold">
                            <p:stCondLst>
                              <p:cond delay="0"/>
                            </p:stCondLst>
                            <p:childTnLst>
                              <p:par>
                                <p:cTn id="277" presetID="22" presetClass="entr" presetSubtype="8" fill="hold" nodeType="clickEffect">
                                  <p:stCondLst>
                                    <p:cond delay="0"/>
                                  </p:stCondLst>
                                  <p:childTnLst>
                                    <p:set>
                                      <p:cBhvr>
                                        <p:cTn id="278" dur="1" fill="hold">
                                          <p:stCondLst>
                                            <p:cond delay="0"/>
                                          </p:stCondLst>
                                        </p:cTn>
                                        <p:tgtEl>
                                          <p:spTgt spid="2350176"/>
                                        </p:tgtEl>
                                        <p:attrNameLst>
                                          <p:attrName>style.visibility</p:attrName>
                                        </p:attrNameLst>
                                      </p:cBhvr>
                                      <p:to>
                                        <p:strVal val="visible"/>
                                      </p:to>
                                    </p:set>
                                    <p:animEffect transition="in" filter="wipe(left)">
                                      <p:cBhvr>
                                        <p:cTn id="279" dur="500"/>
                                        <p:tgtEl>
                                          <p:spTgt spid="2350176"/>
                                        </p:tgtEl>
                                      </p:cBhvr>
                                    </p:animEffect>
                                  </p:childTnLst>
                                </p:cTn>
                              </p:par>
                            </p:childTnLst>
                          </p:cTn>
                        </p:par>
                      </p:childTnLst>
                    </p:cTn>
                  </p:par>
                  <p:par>
                    <p:cTn id="280" fill="hold">
                      <p:stCondLst>
                        <p:cond delay="indefinite"/>
                      </p:stCondLst>
                      <p:childTnLst>
                        <p:par>
                          <p:cTn id="281" fill="hold">
                            <p:stCondLst>
                              <p:cond delay="0"/>
                            </p:stCondLst>
                            <p:childTnLst>
                              <p:par>
                                <p:cTn id="282" presetID="9" presetClass="entr" presetSubtype="0" fill="hold" nodeType="clickEffect">
                                  <p:stCondLst>
                                    <p:cond delay="0"/>
                                  </p:stCondLst>
                                  <p:childTnLst>
                                    <p:set>
                                      <p:cBhvr>
                                        <p:cTn id="283" dur="1" fill="hold">
                                          <p:stCondLst>
                                            <p:cond delay="0"/>
                                          </p:stCondLst>
                                        </p:cTn>
                                        <p:tgtEl>
                                          <p:spTgt spid="2350286"/>
                                        </p:tgtEl>
                                        <p:attrNameLst>
                                          <p:attrName>style.visibility</p:attrName>
                                        </p:attrNameLst>
                                      </p:cBhvr>
                                      <p:to>
                                        <p:strVal val="visible"/>
                                      </p:to>
                                    </p:set>
                                    <p:animEffect transition="in" filter="dissolve">
                                      <p:cBhvr>
                                        <p:cTn id="284" dur="500"/>
                                        <p:tgtEl>
                                          <p:spTgt spid="23502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0099" grpId="0" animBg="1"/>
      <p:bldP spid="2350101" grpId="0" animBg="1"/>
      <p:bldP spid="2350174" grpId="0" animBg="1"/>
      <p:bldP spid="2350106" grpId="0" animBg="1"/>
      <p:bldP spid="2350106" grpId="1" animBg="1"/>
      <p:bldP spid="2350121" grpId="0" animBg="1"/>
      <p:bldP spid="2350121" grpId="1" animBg="1"/>
      <p:bldP spid="2350128" grpId="0" animBg="1"/>
      <p:bldP spid="2350135" grpId="0"/>
      <p:bldP spid="2350136" grpId="0"/>
      <p:bldP spid="2350137" grpId="0"/>
      <p:bldP spid="2350137" grpId="1"/>
      <p:bldP spid="2350138" grpId="0"/>
      <p:bldP spid="2350138" grpId="1"/>
      <p:bldP spid="2350139" grpId="0"/>
      <p:bldP spid="2350140" grpId="0"/>
      <p:bldP spid="2350141" grpId="0"/>
      <p:bldP spid="2350141" grpId="1"/>
      <p:bldP spid="2350142" grpId="0"/>
      <p:bldP spid="2350142" grpId="1"/>
      <p:bldP spid="2350143" grpId="0"/>
      <p:bldP spid="2350143" grpId="1"/>
      <p:bldP spid="2350145" grpId="0"/>
      <p:bldP spid="2350145" grpId="1"/>
      <p:bldP spid="2350147" grpId="0"/>
      <p:bldP spid="2350147" grpId="1"/>
      <p:bldP spid="2350149" grpId="0"/>
      <p:bldP spid="2350149" grpId="1"/>
      <p:bldP spid="2350151" grpId="0"/>
      <p:bldP spid="2350152" grpId="0"/>
      <p:bldP spid="2350153" grpId="0"/>
      <p:bldP spid="2350154" grpId="0"/>
      <p:bldP spid="2350155" grpId="0"/>
      <p:bldP spid="2350156" grpId="0"/>
      <p:bldP spid="2350157" grpId="0"/>
      <p:bldP spid="2350158" grpId="0"/>
      <p:bldP spid="2350159" grpId="0"/>
      <p:bldP spid="2350160" grpId="0" animBg="1"/>
      <p:bldP spid="2350160" grpId="1" animBg="1"/>
      <p:bldP spid="2350161" grpId="0" animBg="1"/>
      <p:bldP spid="2350161" grpId="1" animBg="1"/>
      <p:bldP spid="2350162" grpId="0" animBg="1"/>
      <p:bldP spid="2350163" grpId="0" animBg="1"/>
      <p:bldP spid="2350164" grpId="0" animBg="1"/>
      <p:bldP spid="2350164" grpId="1" animBg="1"/>
      <p:bldP spid="2350165" grpId="0"/>
      <p:bldP spid="2350166" grpId="0" animBg="1"/>
      <p:bldP spid="2350167" grpId="0"/>
      <p:bldP spid="2350172" grpId="0"/>
      <p:bldP spid="2350173" grpId="0" animBg="1"/>
      <p:bldP spid="2350176" grpId="0" animBg="1"/>
      <p:bldP spid="235017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1202" name="Text Box 2"/>
          <p:cNvSpPr txBox="1"/>
          <p:nvPr/>
        </p:nvSpPr>
        <p:spPr>
          <a:xfrm>
            <a:off x="474663" y="631825"/>
            <a:ext cx="15621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4.</a:t>
            </a:r>
            <a:r>
              <a:rPr lang="zh-CN" altLang="en-US" dirty="0">
                <a:latin typeface="Times New Roman" panose="02020603050405020304" pitchFamily="18" charset="0"/>
              </a:rPr>
              <a:t>串扰 </a:t>
            </a:r>
            <a:endParaRPr lang="zh-CN" altLang="en-US" dirty="0">
              <a:latin typeface="Times New Roman" panose="02020603050405020304" pitchFamily="18" charset="0"/>
            </a:endParaRPr>
          </a:p>
        </p:txBody>
      </p:sp>
      <p:sp>
        <p:nvSpPr>
          <p:cNvPr id="51203" name="Text Box 3"/>
          <p:cNvSpPr txBox="1"/>
          <p:nvPr/>
        </p:nvSpPr>
        <p:spPr>
          <a:xfrm>
            <a:off x="873125" y="1363663"/>
            <a:ext cx="7710488"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串扰：</a:t>
            </a:r>
            <a:r>
              <a:rPr lang="zh-CN" altLang="en-US" sz="2800" dirty="0">
                <a:solidFill>
                  <a:schemeClr val="tx1"/>
                </a:solidFill>
                <a:latin typeface="黑体" panose="02010609060101010101" pitchFamily="49" charset="-122"/>
                <a:ea typeface="黑体" panose="02010609060101010101" pitchFamily="49" charset="-122"/>
              </a:rPr>
              <a:t>断开通道的信号电压耦合到接收通道引起</a:t>
            </a:r>
            <a:endParaRPr lang="zh-CN" altLang="en-US" sz="2800" dirty="0">
              <a:solidFill>
                <a:schemeClr val="tx1"/>
              </a:solidFill>
              <a:latin typeface="黑体" panose="02010609060101010101" pitchFamily="49" charset="-122"/>
              <a:ea typeface="黑体" panose="02010609060101010101" pitchFamily="49" charset="-122"/>
            </a:endParaRPr>
          </a:p>
          <a:p>
            <a:pPr eaLnBrk="1" hangingPunct="1"/>
            <a:r>
              <a:rPr lang="zh-CN" altLang="en-US" sz="2800" dirty="0">
                <a:solidFill>
                  <a:schemeClr val="tx1"/>
                </a:solidFill>
                <a:latin typeface="黑体" panose="02010609060101010101" pitchFamily="49" charset="-122"/>
                <a:ea typeface="黑体" panose="02010609060101010101" pitchFamily="49" charset="-122"/>
              </a:rPr>
              <a:t>      的干扰。</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410500" name="Text Box 4"/>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51205" name="Rectangle 5"/>
          <p:cNvSpPr/>
          <p:nvPr/>
        </p:nvSpPr>
        <p:spPr>
          <a:xfrm>
            <a:off x="155575" y="2428875"/>
            <a:ext cx="3749675" cy="374967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1206" name="Line 6"/>
          <p:cNvSpPr/>
          <p:nvPr/>
        </p:nvSpPr>
        <p:spPr>
          <a:xfrm flipV="1">
            <a:off x="681038" y="2708275"/>
            <a:ext cx="1587" cy="422275"/>
          </a:xfrm>
          <a:prstGeom prst="line">
            <a:avLst/>
          </a:prstGeom>
          <a:ln w="0" cap="flat" cmpd="sng">
            <a:solidFill>
              <a:srgbClr val="0000FF"/>
            </a:solidFill>
            <a:prstDash val="solid"/>
            <a:headEnd type="none" w="med" len="med"/>
            <a:tailEnd type="none" w="med" len="med"/>
          </a:ln>
        </p:spPr>
      </p:sp>
      <p:sp>
        <p:nvSpPr>
          <p:cNvPr id="51207" name="Line 7"/>
          <p:cNvSpPr/>
          <p:nvPr/>
        </p:nvSpPr>
        <p:spPr>
          <a:xfrm>
            <a:off x="681038" y="2708275"/>
            <a:ext cx="984250" cy="0"/>
          </a:xfrm>
          <a:prstGeom prst="line">
            <a:avLst/>
          </a:prstGeom>
          <a:ln w="0" cap="flat" cmpd="sng">
            <a:solidFill>
              <a:srgbClr val="0000FF"/>
            </a:solidFill>
            <a:prstDash val="solid"/>
            <a:headEnd type="none" w="med" len="med"/>
            <a:tailEnd type="none" w="med" len="med"/>
          </a:ln>
        </p:spPr>
      </p:sp>
      <p:sp>
        <p:nvSpPr>
          <p:cNvPr id="51208" name="Rectangle 8"/>
          <p:cNvSpPr/>
          <p:nvPr/>
        </p:nvSpPr>
        <p:spPr>
          <a:xfrm>
            <a:off x="1366838" y="2673350"/>
            <a:ext cx="292100" cy="88900"/>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09" name="Line 9"/>
          <p:cNvSpPr/>
          <p:nvPr/>
        </p:nvSpPr>
        <p:spPr>
          <a:xfrm>
            <a:off x="1658938" y="2708275"/>
            <a:ext cx="531812" cy="1588"/>
          </a:xfrm>
          <a:prstGeom prst="line">
            <a:avLst/>
          </a:prstGeom>
          <a:ln w="0" cap="flat" cmpd="sng">
            <a:solidFill>
              <a:srgbClr val="0000FF"/>
            </a:solidFill>
            <a:prstDash val="solid"/>
            <a:headEnd type="none" w="med" len="med"/>
            <a:tailEnd type="none" w="med" len="med"/>
          </a:ln>
        </p:spPr>
      </p:sp>
      <p:sp>
        <p:nvSpPr>
          <p:cNvPr id="51210" name="Line 10"/>
          <p:cNvSpPr/>
          <p:nvPr/>
        </p:nvSpPr>
        <p:spPr>
          <a:xfrm>
            <a:off x="2190750" y="2620963"/>
            <a:ext cx="1588" cy="193675"/>
          </a:xfrm>
          <a:prstGeom prst="line">
            <a:avLst/>
          </a:prstGeom>
          <a:ln w="0" cap="flat" cmpd="sng">
            <a:solidFill>
              <a:srgbClr val="0000FF"/>
            </a:solidFill>
            <a:prstDash val="solid"/>
            <a:headEnd type="none" w="med" len="med"/>
            <a:tailEnd type="none" w="med" len="med"/>
          </a:ln>
        </p:spPr>
      </p:sp>
      <p:sp>
        <p:nvSpPr>
          <p:cNvPr id="51211" name="Line 11"/>
          <p:cNvSpPr/>
          <p:nvPr/>
        </p:nvSpPr>
        <p:spPr>
          <a:xfrm>
            <a:off x="2259013" y="2620963"/>
            <a:ext cx="1587" cy="193675"/>
          </a:xfrm>
          <a:prstGeom prst="line">
            <a:avLst/>
          </a:prstGeom>
          <a:ln w="0" cap="flat" cmpd="sng">
            <a:solidFill>
              <a:srgbClr val="0000FF"/>
            </a:solidFill>
            <a:prstDash val="solid"/>
            <a:headEnd type="none" w="med" len="med"/>
            <a:tailEnd type="none" w="med" len="med"/>
          </a:ln>
        </p:spPr>
      </p:sp>
      <p:sp>
        <p:nvSpPr>
          <p:cNvPr id="51212" name="Line 12"/>
          <p:cNvSpPr/>
          <p:nvPr/>
        </p:nvSpPr>
        <p:spPr>
          <a:xfrm>
            <a:off x="2259013" y="2708275"/>
            <a:ext cx="481012" cy="1588"/>
          </a:xfrm>
          <a:prstGeom prst="line">
            <a:avLst/>
          </a:prstGeom>
          <a:ln w="0" cap="flat" cmpd="sng">
            <a:solidFill>
              <a:srgbClr val="0000FF"/>
            </a:solidFill>
            <a:prstDash val="solid"/>
            <a:headEnd type="none" w="med" len="med"/>
            <a:tailEnd type="none" w="med" len="med"/>
          </a:ln>
        </p:spPr>
      </p:sp>
      <p:sp>
        <p:nvSpPr>
          <p:cNvPr id="51213" name="Line 13"/>
          <p:cNvSpPr/>
          <p:nvPr/>
        </p:nvSpPr>
        <p:spPr>
          <a:xfrm>
            <a:off x="2740025" y="2708275"/>
            <a:ext cx="1588" cy="1865313"/>
          </a:xfrm>
          <a:prstGeom prst="line">
            <a:avLst/>
          </a:prstGeom>
          <a:ln w="0" cap="flat" cmpd="sng">
            <a:solidFill>
              <a:srgbClr val="0000FF"/>
            </a:solidFill>
            <a:prstDash val="solid"/>
            <a:headEnd type="none" w="med" len="med"/>
            <a:tailEnd type="none" w="med" len="med"/>
          </a:ln>
        </p:spPr>
      </p:sp>
      <p:sp>
        <p:nvSpPr>
          <p:cNvPr id="51214" name="Line 14"/>
          <p:cNvSpPr/>
          <p:nvPr/>
        </p:nvSpPr>
        <p:spPr>
          <a:xfrm>
            <a:off x="1916113" y="2708275"/>
            <a:ext cx="1587" cy="369888"/>
          </a:xfrm>
          <a:prstGeom prst="line">
            <a:avLst/>
          </a:prstGeom>
          <a:ln w="0" cap="flat" cmpd="sng">
            <a:solidFill>
              <a:srgbClr val="0000FF"/>
            </a:solidFill>
            <a:prstDash val="solid"/>
            <a:headEnd type="none" w="med" len="med"/>
            <a:tailEnd type="none" w="med" len="med"/>
          </a:ln>
        </p:spPr>
      </p:sp>
      <p:sp>
        <p:nvSpPr>
          <p:cNvPr id="51215" name="Line 15"/>
          <p:cNvSpPr/>
          <p:nvPr/>
        </p:nvSpPr>
        <p:spPr>
          <a:xfrm>
            <a:off x="1830388" y="3078163"/>
            <a:ext cx="188912" cy="1587"/>
          </a:xfrm>
          <a:prstGeom prst="line">
            <a:avLst/>
          </a:prstGeom>
          <a:ln w="0" cap="flat" cmpd="sng">
            <a:solidFill>
              <a:srgbClr val="0000FF"/>
            </a:solidFill>
            <a:prstDash val="solid"/>
            <a:headEnd type="none" w="med" len="med"/>
            <a:tailEnd type="none" w="med" len="med"/>
          </a:ln>
        </p:spPr>
      </p:sp>
      <p:sp>
        <p:nvSpPr>
          <p:cNvPr id="51216" name="Line 16"/>
          <p:cNvSpPr/>
          <p:nvPr/>
        </p:nvSpPr>
        <p:spPr>
          <a:xfrm>
            <a:off x="1830388" y="3130550"/>
            <a:ext cx="188912" cy="1588"/>
          </a:xfrm>
          <a:prstGeom prst="line">
            <a:avLst/>
          </a:prstGeom>
          <a:ln w="0" cap="flat" cmpd="sng">
            <a:solidFill>
              <a:srgbClr val="0000FF"/>
            </a:solidFill>
            <a:prstDash val="solid"/>
            <a:headEnd type="none" w="med" len="med"/>
            <a:tailEnd type="none" w="med" len="med"/>
          </a:ln>
        </p:spPr>
      </p:sp>
      <p:sp>
        <p:nvSpPr>
          <p:cNvPr id="51217" name="Line 17"/>
          <p:cNvSpPr/>
          <p:nvPr/>
        </p:nvSpPr>
        <p:spPr>
          <a:xfrm>
            <a:off x="1916113" y="3130550"/>
            <a:ext cx="1587" cy="211138"/>
          </a:xfrm>
          <a:prstGeom prst="line">
            <a:avLst/>
          </a:prstGeom>
          <a:ln w="0" cap="flat" cmpd="sng">
            <a:solidFill>
              <a:srgbClr val="0000FF"/>
            </a:solidFill>
            <a:prstDash val="solid"/>
            <a:headEnd type="none" w="med" len="med"/>
            <a:tailEnd type="none" w="med" len="med"/>
          </a:ln>
        </p:spPr>
      </p:sp>
      <p:sp>
        <p:nvSpPr>
          <p:cNvPr id="51218" name="Line 18"/>
          <p:cNvSpPr/>
          <p:nvPr/>
        </p:nvSpPr>
        <p:spPr>
          <a:xfrm>
            <a:off x="1797050" y="3341688"/>
            <a:ext cx="239713" cy="1587"/>
          </a:xfrm>
          <a:prstGeom prst="line">
            <a:avLst/>
          </a:prstGeom>
          <a:ln w="0" cap="flat" cmpd="sng">
            <a:solidFill>
              <a:srgbClr val="0000FF"/>
            </a:solidFill>
            <a:prstDash val="solid"/>
            <a:headEnd type="none" w="med" len="med"/>
            <a:tailEnd type="none" w="med" len="med"/>
          </a:ln>
        </p:spPr>
      </p:sp>
      <p:sp>
        <p:nvSpPr>
          <p:cNvPr id="51219" name="Line 19"/>
          <p:cNvSpPr/>
          <p:nvPr/>
        </p:nvSpPr>
        <p:spPr>
          <a:xfrm>
            <a:off x="681038" y="3406775"/>
            <a:ext cx="1587" cy="287338"/>
          </a:xfrm>
          <a:prstGeom prst="line">
            <a:avLst/>
          </a:prstGeom>
          <a:ln w="0" cap="flat" cmpd="sng">
            <a:solidFill>
              <a:srgbClr val="0000FF"/>
            </a:solidFill>
            <a:prstDash val="solid"/>
            <a:headEnd type="none" w="med" len="med"/>
            <a:tailEnd type="none" w="med" len="med"/>
          </a:ln>
        </p:spPr>
      </p:sp>
      <p:sp>
        <p:nvSpPr>
          <p:cNvPr id="51220" name="Line 20"/>
          <p:cNvSpPr/>
          <p:nvPr/>
        </p:nvSpPr>
        <p:spPr>
          <a:xfrm>
            <a:off x="577850" y="3694113"/>
            <a:ext cx="223838" cy="1587"/>
          </a:xfrm>
          <a:prstGeom prst="line">
            <a:avLst/>
          </a:prstGeom>
          <a:ln w="0" cap="flat" cmpd="sng">
            <a:solidFill>
              <a:srgbClr val="0000FF"/>
            </a:solidFill>
            <a:prstDash val="solid"/>
            <a:headEnd type="none" w="med" len="med"/>
            <a:tailEnd type="none" w="med" len="med"/>
          </a:ln>
        </p:spPr>
      </p:sp>
      <p:sp>
        <p:nvSpPr>
          <p:cNvPr id="51221" name="Line 21"/>
          <p:cNvSpPr/>
          <p:nvPr/>
        </p:nvSpPr>
        <p:spPr>
          <a:xfrm flipV="1">
            <a:off x="817563" y="4149725"/>
            <a:ext cx="1408112" cy="1588"/>
          </a:xfrm>
          <a:prstGeom prst="line">
            <a:avLst/>
          </a:prstGeom>
          <a:ln w="0" cap="flat" cmpd="sng">
            <a:solidFill>
              <a:srgbClr val="0000FF"/>
            </a:solidFill>
            <a:prstDash val="solid"/>
            <a:headEnd type="none" w="med" len="med"/>
            <a:tailEnd type="none" w="med" len="med"/>
          </a:ln>
        </p:spPr>
      </p:sp>
      <p:sp>
        <p:nvSpPr>
          <p:cNvPr id="51222" name="Line 22"/>
          <p:cNvSpPr/>
          <p:nvPr/>
        </p:nvSpPr>
        <p:spPr>
          <a:xfrm>
            <a:off x="817563" y="4151313"/>
            <a:ext cx="0" cy="587375"/>
          </a:xfrm>
          <a:prstGeom prst="line">
            <a:avLst/>
          </a:prstGeom>
          <a:ln w="0" cap="flat" cmpd="sng">
            <a:solidFill>
              <a:srgbClr val="0000FF"/>
            </a:solidFill>
            <a:prstDash val="solid"/>
            <a:headEnd type="none" w="med" len="med"/>
            <a:tailEnd type="none" w="med" len="med"/>
          </a:ln>
        </p:spPr>
      </p:sp>
      <p:sp>
        <p:nvSpPr>
          <p:cNvPr id="51223" name="Rectangle 23"/>
          <p:cNvSpPr/>
          <p:nvPr/>
        </p:nvSpPr>
        <p:spPr>
          <a:xfrm>
            <a:off x="784225" y="4432300"/>
            <a:ext cx="82550" cy="300038"/>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24" name="Line 24"/>
          <p:cNvSpPr/>
          <p:nvPr/>
        </p:nvSpPr>
        <p:spPr>
          <a:xfrm>
            <a:off x="817563" y="4725988"/>
            <a:ext cx="1587" cy="409575"/>
          </a:xfrm>
          <a:prstGeom prst="line">
            <a:avLst/>
          </a:prstGeom>
          <a:ln w="0" cap="flat" cmpd="sng">
            <a:solidFill>
              <a:srgbClr val="0000FF"/>
            </a:solidFill>
            <a:prstDash val="solid"/>
            <a:headEnd type="none" w="med" len="med"/>
            <a:tailEnd type="none" w="med" len="med"/>
          </a:ln>
        </p:spPr>
      </p:sp>
      <p:sp>
        <p:nvSpPr>
          <p:cNvPr id="51225" name="Line 25"/>
          <p:cNvSpPr/>
          <p:nvPr/>
        </p:nvSpPr>
        <p:spPr>
          <a:xfrm>
            <a:off x="817563" y="5135563"/>
            <a:ext cx="2746375" cy="1587"/>
          </a:xfrm>
          <a:prstGeom prst="line">
            <a:avLst/>
          </a:prstGeom>
          <a:ln w="0" cap="flat" cmpd="sng">
            <a:solidFill>
              <a:srgbClr val="0000FF"/>
            </a:solidFill>
            <a:prstDash val="solid"/>
            <a:headEnd type="none" w="med" len="med"/>
            <a:tailEnd type="none" w="med" len="med"/>
          </a:ln>
        </p:spPr>
      </p:sp>
      <p:sp>
        <p:nvSpPr>
          <p:cNvPr id="51226" name="Line 26"/>
          <p:cNvSpPr/>
          <p:nvPr/>
        </p:nvSpPr>
        <p:spPr>
          <a:xfrm>
            <a:off x="1481138" y="4151313"/>
            <a:ext cx="1587" cy="422275"/>
          </a:xfrm>
          <a:prstGeom prst="line">
            <a:avLst/>
          </a:prstGeom>
          <a:ln w="0" cap="flat" cmpd="sng">
            <a:solidFill>
              <a:srgbClr val="0000FF"/>
            </a:solidFill>
            <a:prstDash val="solid"/>
            <a:headEnd type="none" w="med" len="med"/>
            <a:tailEnd type="none" w="med" len="med"/>
          </a:ln>
        </p:spPr>
      </p:sp>
      <p:sp>
        <p:nvSpPr>
          <p:cNvPr id="51227" name="Line 27"/>
          <p:cNvSpPr/>
          <p:nvPr/>
        </p:nvSpPr>
        <p:spPr>
          <a:xfrm>
            <a:off x="1387475" y="4573588"/>
            <a:ext cx="214313" cy="1587"/>
          </a:xfrm>
          <a:prstGeom prst="line">
            <a:avLst/>
          </a:prstGeom>
          <a:ln w="0" cap="flat" cmpd="sng">
            <a:solidFill>
              <a:srgbClr val="0000FF"/>
            </a:solidFill>
            <a:prstDash val="solid"/>
            <a:headEnd type="none" w="med" len="med"/>
            <a:tailEnd type="none" w="med" len="med"/>
          </a:ln>
        </p:spPr>
      </p:sp>
      <p:sp>
        <p:nvSpPr>
          <p:cNvPr id="51228" name="Line 28"/>
          <p:cNvSpPr/>
          <p:nvPr/>
        </p:nvSpPr>
        <p:spPr>
          <a:xfrm>
            <a:off x="1387475" y="4643438"/>
            <a:ext cx="214313" cy="1587"/>
          </a:xfrm>
          <a:prstGeom prst="line">
            <a:avLst/>
          </a:prstGeom>
          <a:ln w="0" cap="flat" cmpd="sng">
            <a:solidFill>
              <a:srgbClr val="0000FF"/>
            </a:solidFill>
            <a:prstDash val="solid"/>
            <a:headEnd type="none" w="med" len="med"/>
            <a:tailEnd type="none" w="med" len="med"/>
          </a:ln>
        </p:spPr>
      </p:sp>
      <p:sp>
        <p:nvSpPr>
          <p:cNvPr id="51229" name="Line 29"/>
          <p:cNvSpPr/>
          <p:nvPr/>
        </p:nvSpPr>
        <p:spPr>
          <a:xfrm>
            <a:off x="1481138" y="4643438"/>
            <a:ext cx="1587" cy="492125"/>
          </a:xfrm>
          <a:prstGeom prst="line">
            <a:avLst/>
          </a:prstGeom>
          <a:ln w="0" cap="flat" cmpd="sng">
            <a:solidFill>
              <a:srgbClr val="0000FF"/>
            </a:solidFill>
            <a:prstDash val="solid"/>
            <a:headEnd type="none" w="med" len="med"/>
            <a:tailEnd type="none" w="med" len="med"/>
          </a:ln>
        </p:spPr>
      </p:sp>
      <p:sp>
        <p:nvSpPr>
          <p:cNvPr id="2410526" name="Rectangle 30"/>
          <p:cNvSpPr/>
          <p:nvPr/>
        </p:nvSpPr>
        <p:spPr>
          <a:xfrm>
            <a:off x="1898650" y="4116388"/>
            <a:ext cx="309563" cy="87312"/>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31" name="Line 31"/>
          <p:cNvSpPr/>
          <p:nvPr/>
        </p:nvSpPr>
        <p:spPr>
          <a:xfrm>
            <a:off x="2200275" y="4151313"/>
            <a:ext cx="1363663" cy="1587"/>
          </a:xfrm>
          <a:prstGeom prst="line">
            <a:avLst/>
          </a:prstGeom>
          <a:ln w="0" cap="flat" cmpd="sng">
            <a:solidFill>
              <a:srgbClr val="0000FF"/>
            </a:solidFill>
            <a:prstDash val="solid"/>
            <a:headEnd type="none" w="med" len="med"/>
            <a:tailEnd type="none" w="med" len="med"/>
          </a:ln>
        </p:spPr>
      </p:sp>
      <p:sp>
        <p:nvSpPr>
          <p:cNvPr id="51232" name="Line 32"/>
          <p:cNvSpPr/>
          <p:nvPr/>
        </p:nvSpPr>
        <p:spPr>
          <a:xfrm>
            <a:off x="2636838" y="4573588"/>
            <a:ext cx="206375" cy="1587"/>
          </a:xfrm>
          <a:prstGeom prst="line">
            <a:avLst/>
          </a:prstGeom>
          <a:ln w="0" cap="flat" cmpd="sng">
            <a:solidFill>
              <a:srgbClr val="0000FF"/>
            </a:solidFill>
            <a:prstDash val="solid"/>
            <a:headEnd type="none" w="med" len="med"/>
            <a:tailEnd type="none" w="med" len="med"/>
          </a:ln>
        </p:spPr>
      </p:sp>
      <p:sp>
        <p:nvSpPr>
          <p:cNvPr id="51233" name="Line 33"/>
          <p:cNvSpPr/>
          <p:nvPr/>
        </p:nvSpPr>
        <p:spPr>
          <a:xfrm>
            <a:off x="2636838" y="4643438"/>
            <a:ext cx="206375" cy="1587"/>
          </a:xfrm>
          <a:prstGeom prst="line">
            <a:avLst/>
          </a:prstGeom>
          <a:ln w="0" cap="flat" cmpd="sng">
            <a:solidFill>
              <a:srgbClr val="0000FF"/>
            </a:solidFill>
            <a:prstDash val="solid"/>
            <a:headEnd type="none" w="med" len="med"/>
            <a:tailEnd type="none" w="med" len="med"/>
          </a:ln>
        </p:spPr>
      </p:sp>
      <p:sp>
        <p:nvSpPr>
          <p:cNvPr id="51234" name="Line 34"/>
          <p:cNvSpPr/>
          <p:nvPr/>
        </p:nvSpPr>
        <p:spPr>
          <a:xfrm>
            <a:off x="2740025" y="4643438"/>
            <a:ext cx="1588" cy="774700"/>
          </a:xfrm>
          <a:prstGeom prst="line">
            <a:avLst/>
          </a:prstGeom>
          <a:ln w="0" cap="flat" cmpd="sng">
            <a:solidFill>
              <a:srgbClr val="0000FF"/>
            </a:solidFill>
            <a:prstDash val="solid"/>
            <a:headEnd type="none" w="med" len="med"/>
            <a:tailEnd type="none" w="med" len="med"/>
          </a:ln>
        </p:spPr>
      </p:sp>
      <p:sp>
        <p:nvSpPr>
          <p:cNvPr id="51235" name="Line 35"/>
          <p:cNvSpPr/>
          <p:nvPr/>
        </p:nvSpPr>
        <p:spPr>
          <a:xfrm>
            <a:off x="2620963" y="5418138"/>
            <a:ext cx="257175" cy="1587"/>
          </a:xfrm>
          <a:prstGeom prst="line">
            <a:avLst/>
          </a:prstGeom>
          <a:ln w="0" cap="flat" cmpd="sng">
            <a:solidFill>
              <a:srgbClr val="0000FF"/>
            </a:solidFill>
            <a:prstDash val="solid"/>
            <a:headEnd type="none" w="med" len="med"/>
            <a:tailEnd type="none" w="med" len="med"/>
          </a:ln>
        </p:spPr>
      </p:sp>
      <p:sp>
        <p:nvSpPr>
          <p:cNvPr id="51236" name="Line 36"/>
          <p:cNvSpPr/>
          <p:nvPr/>
        </p:nvSpPr>
        <p:spPr>
          <a:xfrm>
            <a:off x="3478213" y="4151313"/>
            <a:ext cx="1587" cy="984250"/>
          </a:xfrm>
          <a:prstGeom prst="line">
            <a:avLst/>
          </a:prstGeom>
          <a:ln w="0" cap="flat" cmpd="sng">
            <a:solidFill>
              <a:srgbClr val="0000FF"/>
            </a:solidFill>
            <a:prstDash val="solid"/>
            <a:headEnd type="none" w="med" len="med"/>
            <a:tailEnd type="none" w="med" len="med"/>
          </a:ln>
        </p:spPr>
      </p:sp>
      <p:sp>
        <p:nvSpPr>
          <p:cNvPr id="51237" name="Rectangle 37"/>
          <p:cNvSpPr/>
          <p:nvPr/>
        </p:nvSpPr>
        <p:spPr>
          <a:xfrm>
            <a:off x="206375" y="3128963"/>
            <a:ext cx="138113"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1238" name="Rectangle 38"/>
          <p:cNvSpPr/>
          <p:nvPr/>
        </p:nvSpPr>
        <p:spPr>
          <a:xfrm>
            <a:off x="354013" y="3219450"/>
            <a:ext cx="12065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51239" name="Rectangle 39"/>
          <p:cNvSpPr/>
          <p:nvPr/>
        </p:nvSpPr>
        <p:spPr>
          <a:xfrm>
            <a:off x="1414463" y="2443163"/>
            <a:ext cx="115887"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1240" name="Rectangle 40"/>
          <p:cNvSpPr/>
          <p:nvPr/>
        </p:nvSpPr>
        <p:spPr>
          <a:xfrm>
            <a:off x="1547813" y="25320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2410537" name="Rectangle 41"/>
          <p:cNvSpPr/>
          <p:nvPr/>
        </p:nvSpPr>
        <p:spPr>
          <a:xfrm>
            <a:off x="1911350" y="3876675"/>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410538" name="Rectangle 42"/>
          <p:cNvSpPr/>
          <p:nvPr/>
        </p:nvSpPr>
        <p:spPr>
          <a:xfrm>
            <a:off x="2036763" y="3967163"/>
            <a:ext cx="2222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ON2</a:t>
            </a:r>
            <a:endParaRPr lang="en-US" altLang="zh-CN" dirty="0">
              <a:latin typeface="Times New Roman" panose="02020603050405020304" pitchFamily="18" charset="0"/>
            </a:endParaRPr>
          </a:p>
        </p:txBody>
      </p:sp>
      <p:sp>
        <p:nvSpPr>
          <p:cNvPr id="51243" name="Rectangle 43"/>
          <p:cNvSpPr/>
          <p:nvPr/>
        </p:nvSpPr>
        <p:spPr>
          <a:xfrm>
            <a:off x="457200" y="4449763"/>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1244" name="Rectangle 44"/>
          <p:cNvSpPr/>
          <p:nvPr/>
        </p:nvSpPr>
        <p:spPr>
          <a:xfrm>
            <a:off x="595313" y="45386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S2</a:t>
            </a:r>
            <a:endParaRPr lang="en-US" altLang="zh-CN" dirty="0">
              <a:latin typeface="Times New Roman" panose="02020603050405020304" pitchFamily="18" charset="0"/>
            </a:endParaRPr>
          </a:p>
        </p:txBody>
      </p:sp>
      <p:sp>
        <p:nvSpPr>
          <p:cNvPr id="51245" name="Rectangle 45"/>
          <p:cNvSpPr/>
          <p:nvPr/>
        </p:nvSpPr>
        <p:spPr>
          <a:xfrm>
            <a:off x="1039813" y="4465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1246" name="Rectangle 46"/>
          <p:cNvSpPr/>
          <p:nvPr/>
        </p:nvSpPr>
        <p:spPr>
          <a:xfrm>
            <a:off x="1187450" y="4533900"/>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in2</a:t>
            </a:r>
            <a:endParaRPr lang="en-US" altLang="zh-CN" dirty="0">
              <a:latin typeface="Times New Roman" panose="02020603050405020304" pitchFamily="18" charset="0"/>
            </a:endParaRPr>
          </a:p>
        </p:txBody>
      </p:sp>
      <p:sp>
        <p:nvSpPr>
          <p:cNvPr id="51247" name="Rectangle 47"/>
          <p:cNvSpPr/>
          <p:nvPr/>
        </p:nvSpPr>
        <p:spPr>
          <a:xfrm>
            <a:off x="2062163" y="3016250"/>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1248" name="Rectangle 48"/>
          <p:cNvSpPr/>
          <p:nvPr/>
        </p:nvSpPr>
        <p:spPr>
          <a:xfrm>
            <a:off x="2206625" y="3082925"/>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in1</a:t>
            </a:r>
            <a:endParaRPr lang="en-US" altLang="zh-CN" dirty="0">
              <a:latin typeface="Times New Roman" panose="02020603050405020304" pitchFamily="18" charset="0"/>
            </a:endParaRPr>
          </a:p>
        </p:txBody>
      </p:sp>
      <p:sp>
        <p:nvSpPr>
          <p:cNvPr id="51249" name="Rectangle 49"/>
          <p:cNvSpPr/>
          <p:nvPr/>
        </p:nvSpPr>
        <p:spPr>
          <a:xfrm>
            <a:off x="2139950" y="242728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1250" name="Rectangle 50"/>
          <p:cNvSpPr/>
          <p:nvPr/>
        </p:nvSpPr>
        <p:spPr>
          <a:xfrm>
            <a:off x="2278063" y="2508250"/>
            <a:ext cx="1143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51251" name="Rectangle 51"/>
          <p:cNvSpPr/>
          <p:nvPr/>
        </p:nvSpPr>
        <p:spPr>
          <a:xfrm>
            <a:off x="1968500"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1252" name="Rectangle 52"/>
          <p:cNvSpPr/>
          <p:nvPr/>
        </p:nvSpPr>
        <p:spPr>
          <a:xfrm>
            <a:off x="2395538"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1253" name="Rectangle 53"/>
          <p:cNvSpPr/>
          <p:nvPr/>
        </p:nvSpPr>
        <p:spPr>
          <a:xfrm>
            <a:off x="2105025" y="4573588"/>
            <a:ext cx="15240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OT</a:t>
            </a:r>
            <a:endParaRPr lang="en-US" altLang="zh-CN" dirty="0">
              <a:latin typeface="Times New Roman" panose="02020603050405020304" pitchFamily="18" charset="0"/>
            </a:endParaRPr>
          </a:p>
        </p:txBody>
      </p:sp>
      <p:sp>
        <p:nvSpPr>
          <p:cNvPr id="51254" name="Rectangle 54"/>
          <p:cNvSpPr/>
          <p:nvPr/>
        </p:nvSpPr>
        <p:spPr>
          <a:xfrm>
            <a:off x="2276475" y="4494213"/>
            <a:ext cx="107950" cy="206375"/>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1255" name="Rectangle 55"/>
          <p:cNvSpPr/>
          <p:nvPr/>
        </p:nvSpPr>
        <p:spPr>
          <a:xfrm>
            <a:off x="2551113" y="4573588"/>
            <a:ext cx="698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51256" name="Rectangle 56"/>
          <p:cNvSpPr/>
          <p:nvPr/>
        </p:nvSpPr>
        <p:spPr>
          <a:xfrm>
            <a:off x="3554413" y="4492625"/>
            <a:ext cx="138112"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1257" name="Rectangle 57"/>
          <p:cNvSpPr/>
          <p:nvPr/>
        </p:nvSpPr>
        <p:spPr>
          <a:xfrm>
            <a:off x="3692525" y="4594225"/>
            <a:ext cx="1524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51258" name="Oval 58"/>
          <p:cNvSpPr/>
          <p:nvPr/>
        </p:nvSpPr>
        <p:spPr>
          <a:xfrm>
            <a:off x="1438275" y="5091113"/>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59" name="Oval 59"/>
          <p:cNvSpPr/>
          <p:nvPr/>
        </p:nvSpPr>
        <p:spPr>
          <a:xfrm>
            <a:off x="1438275"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60" name="Oval 60"/>
          <p:cNvSpPr/>
          <p:nvPr/>
        </p:nvSpPr>
        <p:spPr>
          <a:xfrm>
            <a:off x="2697163" y="5100638"/>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61" name="Oval 61"/>
          <p:cNvSpPr/>
          <p:nvPr/>
        </p:nvSpPr>
        <p:spPr>
          <a:xfrm>
            <a:off x="2697163"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62" name="Oval 62"/>
          <p:cNvSpPr/>
          <p:nvPr/>
        </p:nvSpPr>
        <p:spPr>
          <a:xfrm>
            <a:off x="1873250" y="2673350"/>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63" name="Rectangle 63"/>
          <p:cNvSpPr/>
          <p:nvPr/>
        </p:nvSpPr>
        <p:spPr>
          <a:xfrm>
            <a:off x="1901825" y="5519738"/>
            <a:ext cx="268288" cy="260350"/>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51264" name="Oval 64"/>
          <p:cNvSpPr/>
          <p:nvPr/>
        </p:nvSpPr>
        <p:spPr>
          <a:xfrm>
            <a:off x="542925" y="3130550"/>
            <a:ext cx="292100" cy="2825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1265" name="Rectangle 65"/>
          <p:cNvSpPr/>
          <p:nvPr/>
        </p:nvSpPr>
        <p:spPr>
          <a:xfrm>
            <a:off x="612775" y="3081338"/>
            <a:ext cx="150813" cy="301625"/>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1266" name="Line 66"/>
          <p:cNvSpPr/>
          <p:nvPr/>
        </p:nvSpPr>
        <p:spPr>
          <a:xfrm flipH="1">
            <a:off x="3443288" y="4151313"/>
            <a:ext cx="34925" cy="122237"/>
          </a:xfrm>
          <a:prstGeom prst="line">
            <a:avLst/>
          </a:prstGeom>
          <a:ln w="0" cap="flat" cmpd="sng">
            <a:solidFill>
              <a:srgbClr val="0000FF"/>
            </a:solidFill>
            <a:prstDash val="solid"/>
            <a:headEnd type="none" w="med" len="med"/>
            <a:tailEnd type="none" w="med" len="med"/>
          </a:ln>
        </p:spPr>
      </p:sp>
      <p:sp>
        <p:nvSpPr>
          <p:cNvPr id="51267" name="Line 67"/>
          <p:cNvSpPr/>
          <p:nvPr/>
        </p:nvSpPr>
        <p:spPr>
          <a:xfrm>
            <a:off x="3478213" y="4151313"/>
            <a:ext cx="34925" cy="122237"/>
          </a:xfrm>
          <a:prstGeom prst="line">
            <a:avLst/>
          </a:prstGeom>
          <a:ln w="0" cap="flat" cmpd="sng">
            <a:solidFill>
              <a:srgbClr val="0000FF"/>
            </a:solidFill>
            <a:prstDash val="solid"/>
            <a:headEnd type="none" w="med" len="med"/>
            <a:tailEnd type="none" w="med" len="med"/>
          </a:ln>
        </p:spPr>
      </p:sp>
      <p:sp>
        <p:nvSpPr>
          <p:cNvPr id="51268" name="Line 68"/>
          <p:cNvSpPr/>
          <p:nvPr/>
        </p:nvSpPr>
        <p:spPr>
          <a:xfrm flipH="1" flipV="1">
            <a:off x="3443288" y="5030788"/>
            <a:ext cx="34925" cy="104775"/>
          </a:xfrm>
          <a:prstGeom prst="line">
            <a:avLst/>
          </a:prstGeom>
          <a:ln w="0" cap="flat" cmpd="sng">
            <a:solidFill>
              <a:srgbClr val="0000FF"/>
            </a:solidFill>
            <a:prstDash val="solid"/>
            <a:headEnd type="none" w="med" len="med"/>
            <a:tailEnd type="none" w="med" len="med"/>
          </a:ln>
        </p:spPr>
      </p:sp>
      <p:sp>
        <p:nvSpPr>
          <p:cNvPr id="51269" name="Line 69"/>
          <p:cNvSpPr/>
          <p:nvPr/>
        </p:nvSpPr>
        <p:spPr>
          <a:xfrm flipV="1">
            <a:off x="3478213" y="5030788"/>
            <a:ext cx="34925" cy="104775"/>
          </a:xfrm>
          <a:prstGeom prst="line">
            <a:avLst/>
          </a:prstGeom>
          <a:ln w="0" cap="flat" cmpd="sng">
            <a:solidFill>
              <a:srgbClr val="0000FF"/>
            </a:solidFill>
            <a:prstDash val="solid"/>
            <a:headEnd type="none" w="med" len="med"/>
            <a:tailEnd type="none" w="med" len="med"/>
          </a:ln>
        </p:spPr>
      </p:sp>
      <p:sp>
        <p:nvSpPr>
          <p:cNvPr id="51270" name="Rectangle 70"/>
          <p:cNvSpPr/>
          <p:nvPr/>
        </p:nvSpPr>
        <p:spPr>
          <a:xfrm>
            <a:off x="949325" y="5851525"/>
            <a:ext cx="2185988" cy="260350"/>
          </a:xfrm>
          <a:prstGeom prst="rect">
            <a:avLst/>
          </a:prstGeom>
          <a:noFill/>
          <a:ln w="9525">
            <a:noFill/>
          </a:ln>
        </p:spPr>
        <p:txBody>
          <a:bodyPr wrap="none" lIns="0" tIns="0" rIns="0" bIns="0">
            <a:spAutoFit/>
          </a:bodyPr>
          <a:p>
            <a:pPr eaLnBrk="1" hangingPunct="1">
              <a:lnSpc>
                <a:spcPct val="90000"/>
              </a:lnSpc>
            </a:pPr>
            <a:r>
              <a:rPr lang="zh-CN" altLang="en-US" sz="1900" dirty="0">
                <a:solidFill>
                  <a:srgbClr val="000080"/>
                </a:solidFill>
                <a:latin typeface="楷体_GB2312" pitchFamily="49" charset="-122"/>
              </a:rPr>
              <a:t>计算串扰的等效电路</a:t>
            </a:r>
            <a:endParaRPr lang="zh-CN" altLang="en-US" dirty="0">
              <a:latin typeface="Times New Roman" panose="02020603050405020304" pitchFamily="18" charset="0"/>
            </a:endParaRPr>
          </a:p>
        </p:txBody>
      </p:sp>
      <p:sp>
        <p:nvSpPr>
          <p:cNvPr id="51271" name="Text Box 71"/>
          <p:cNvSpPr txBox="1"/>
          <p:nvPr/>
        </p:nvSpPr>
        <p:spPr>
          <a:xfrm>
            <a:off x="4029075" y="2400300"/>
            <a:ext cx="4552950" cy="749300"/>
          </a:xfrm>
          <a:prstGeom prst="rect">
            <a:avLst/>
          </a:prstGeom>
          <a:solidFill>
            <a:srgbClr val="CC99FF"/>
          </a:solid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在多路开关系统中，串扰是通过断开开关之间的</a:t>
            </a:r>
            <a:r>
              <a:rPr lang="zh-CN" altLang="en-US" sz="2400" dirty="0">
                <a:solidFill>
                  <a:srgbClr val="FF0000"/>
                </a:solidFill>
                <a:latin typeface="Times New Roman" panose="02020603050405020304" pitchFamily="18" charset="0"/>
              </a:rPr>
              <a:t>分布电容</a:t>
            </a:r>
            <a:r>
              <a:rPr lang="zh-CN" altLang="en-US" sz="2400" dirty="0">
                <a:latin typeface="Times New Roman" panose="02020603050405020304" pitchFamily="18" charset="0"/>
              </a:rPr>
              <a:t>进入的。</a:t>
            </a:r>
            <a:endParaRPr lang="zh-CN" altLang="en-US" sz="2400" dirty="0">
              <a:latin typeface="Times New Roman" panose="02020603050405020304" pitchFamily="18" charset="0"/>
            </a:endParaRPr>
          </a:p>
        </p:txBody>
      </p:sp>
      <p:sp>
        <p:nvSpPr>
          <p:cNvPr id="2410568" name="AutoShape 72"/>
          <p:cNvSpPr/>
          <p:nvPr/>
        </p:nvSpPr>
        <p:spPr>
          <a:xfrm>
            <a:off x="3962400" y="4906963"/>
            <a:ext cx="822325" cy="193675"/>
          </a:xfrm>
          <a:prstGeom prst="rightArrow">
            <a:avLst>
              <a:gd name="adj1" fmla="val 50000"/>
              <a:gd name="adj2" fmla="val 106147"/>
            </a:avLst>
          </a:prstGeom>
          <a:solidFill>
            <a:schemeClr val="accent1"/>
          </a:solidFill>
          <a:ln w="9525" cap="flat" cmpd="sng">
            <a:solidFill>
              <a:schemeClr val="tx1"/>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0569" name="Text Box 73"/>
          <p:cNvSpPr txBox="1"/>
          <p:nvPr/>
        </p:nvSpPr>
        <p:spPr>
          <a:xfrm>
            <a:off x="3865563" y="3470275"/>
            <a:ext cx="2789237" cy="366713"/>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accent2"/>
                </a:solidFill>
                <a:latin typeface="Times New Roman" panose="02020603050405020304" pitchFamily="18" charset="0"/>
              </a:rPr>
              <a:t>如果</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ON2</a:t>
            </a:r>
            <a:r>
              <a:rPr lang="en-US" altLang="zh-CN" sz="2000" dirty="0">
                <a:solidFill>
                  <a:srgbClr val="FF0000"/>
                </a:solidFill>
                <a:latin typeface="Times New Roman" panose="02020603050405020304" pitchFamily="18" charset="0"/>
              </a:rPr>
              <a:t>&lt;&lt;</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S1</a:t>
            </a:r>
            <a:r>
              <a:rPr lang="zh-CN" altLang="en-US" sz="2000" dirty="0">
                <a:latin typeface="Times New Roman" panose="02020603050405020304" pitchFamily="18" charset="0"/>
              </a:rPr>
              <a:t>和</a:t>
            </a: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S2</a:t>
            </a:r>
            <a:endParaRPr lang="en-US" altLang="zh-CN" sz="2000" baseline="-25000" dirty="0">
              <a:solidFill>
                <a:srgbClr val="FF0000"/>
              </a:solidFill>
              <a:latin typeface="Times New Roman" panose="02020603050405020304" pitchFamily="18" charset="0"/>
            </a:endParaRPr>
          </a:p>
        </p:txBody>
      </p:sp>
      <p:sp>
        <p:nvSpPr>
          <p:cNvPr id="2410571" name="Rectangle 75"/>
          <p:cNvSpPr/>
          <p:nvPr/>
        </p:nvSpPr>
        <p:spPr>
          <a:xfrm>
            <a:off x="4832350" y="3863975"/>
            <a:ext cx="4156075" cy="2271713"/>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0611" name="Rectangle 115"/>
          <p:cNvSpPr/>
          <p:nvPr/>
        </p:nvSpPr>
        <p:spPr>
          <a:xfrm>
            <a:off x="6799263" y="5773738"/>
            <a:ext cx="268287" cy="260350"/>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FF0000"/>
                </a:solidFill>
                <a:latin typeface="Times New Roman" panose="02020603050405020304" pitchFamily="18" charset="0"/>
              </a:rPr>
              <a:t>(c)</a:t>
            </a:r>
            <a:endParaRPr lang="en-US" altLang="zh-CN" dirty="0">
              <a:solidFill>
                <a:srgbClr val="FF0000"/>
              </a:solidFill>
              <a:latin typeface="Times New Roman" panose="02020603050405020304" pitchFamily="18" charset="0"/>
            </a:endParaRPr>
          </a:p>
        </p:txBody>
      </p:sp>
      <p:sp>
        <p:nvSpPr>
          <p:cNvPr id="2410612" name="Rectangle 116"/>
          <p:cNvSpPr/>
          <p:nvPr/>
        </p:nvSpPr>
        <p:spPr>
          <a:xfrm>
            <a:off x="5645150" y="4068763"/>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410613" name="Rectangle 117"/>
          <p:cNvSpPr/>
          <p:nvPr/>
        </p:nvSpPr>
        <p:spPr>
          <a:xfrm>
            <a:off x="5762625" y="4154488"/>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2410614" name="Line 118"/>
          <p:cNvSpPr/>
          <p:nvPr/>
        </p:nvSpPr>
        <p:spPr>
          <a:xfrm>
            <a:off x="5345113" y="4318000"/>
            <a:ext cx="261937" cy="1588"/>
          </a:xfrm>
          <a:prstGeom prst="line">
            <a:avLst/>
          </a:prstGeom>
          <a:ln w="0" cap="flat" cmpd="sng">
            <a:solidFill>
              <a:srgbClr val="0000FF"/>
            </a:solidFill>
            <a:prstDash val="solid"/>
            <a:headEnd type="none" w="med" len="med"/>
            <a:tailEnd type="none" w="med" len="med"/>
          </a:ln>
        </p:spPr>
      </p:sp>
      <p:sp>
        <p:nvSpPr>
          <p:cNvPr id="2410615" name="Rectangle 119"/>
          <p:cNvSpPr/>
          <p:nvPr/>
        </p:nvSpPr>
        <p:spPr>
          <a:xfrm>
            <a:off x="5607050" y="4283075"/>
            <a:ext cx="292100" cy="88900"/>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16" name="Line 120"/>
          <p:cNvSpPr/>
          <p:nvPr/>
        </p:nvSpPr>
        <p:spPr>
          <a:xfrm>
            <a:off x="5899150" y="4318000"/>
            <a:ext cx="531813" cy="1588"/>
          </a:xfrm>
          <a:prstGeom prst="line">
            <a:avLst/>
          </a:prstGeom>
          <a:ln w="0" cap="flat" cmpd="sng">
            <a:solidFill>
              <a:srgbClr val="0000FF"/>
            </a:solidFill>
            <a:prstDash val="solid"/>
            <a:headEnd type="none" w="med" len="med"/>
            <a:tailEnd type="none" w="med" len="med"/>
          </a:ln>
        </p:spPr>
      </p:sp>
      <p:sp>
        <p:nvSpPr>
          <p:cNvPr id="2410617" name="Line 121"/>
          <p:cNvSpPr/>
          <p:nvPr/>
        </p:nvSpPr>
        <p:spPr>
          <a:xfrm>
            <a:off x="6430963" y="4230688"/>
            <a:ext cx="1587" cy="193675"/>
          </a:xfrm>
          <a:prstGeom prst="line">
            <a:avLst/>
          </a:prstGeom>
          <a:ln w="0" cap="flat" cmpd="sng">
            <a:solidFill>
              <a:srgbClr val="0000FF"/>
            </a:solidFill>
            <a:prstDash val="solid"/>
            <a:headEnd type="none" w="med" len="med"/>
            <a:tailEnd type="none" w="med" len="med"/>
          </a:ln>
        </p:spPr>
      </p:sp>
      <p:sp>
        <p:nvSpPr>
          <p:cNvPr id="2410618" name="Line 122"/>
          <p:cNvSpPr/>
          <p:nvPr/>
        </p:nvSpPr>
        <p:spPr>
          <a:xfrm>
            <a:off x="6500813" y="4230688"/>
            <a:ext cx="1587" cy="193675"/>
          </a:xfrm>
          <a:prstGeom prst="line">
            <a:avLst/>
          </a:prstGeom>
          <a:ln w="0" cap="flat" cmpd="sng">
            <a:solidFill>
              <a:srgbClr val="0000FF"/>
            </a:solidFill>
            <a:prstDash val="solid"/>
            <a:headEnd type="none" w="med" len="med"/>
            <a:tailEnd type="none" w="med" len="med"/>
          </a:ln>
        </p:spPr>
      </p:sp>
      <p:sp>
        <p:nvSpPr>
          <p:cNvPr id="2410619" name="Line 123"/>
          <p:cNvSpPr/>
          <p:nvPr/>
        </p:nvSpPr>
        <p:spPr>
          <a:xfrm>
            <a:off x="6500813" y="4318000"/>
            <a:ext cx="2170112" cy="1588"/>
          </a:xfrm>
          <a:prstGeom prst="line">
            <a:avLst/>
          </a:prstGeom>
          <a:ln w="0" cap="flat" cmpd="sng">
            <a:solidFill>
              <a:srgbClr val="0000FF"/>
            </a:solidFill>
            <a:prstDash val="solid"/>
            <a:headEnd type="none" w="med" len="med"/>
            <a:tailEnd type="none" w="med" len="med"/>
          </a:ln>
        </p:spPr>
      </p:sp>
      <p:sp>
        <p:nvSpPr>
          <p:cNvPr id="2410620" name="Line 124"/>
          <p:cNvSpPr/>
          <p:nvPr/>
        </p:nvSpPr>
        <p:spPr>
          <a:xfrm>
            <a:off x="6156325" y="4318000"/>
            <a:ext cx="1588" cy="457200"/>
          </a:xfrm>
          <a:prstGeom prst="line">
            <a:avLst/>
          </a:prstGeom>
          <a:ln w="0" cap="flat" cmpd="sng">
            <a:solidFill>
              <a:srgbClr val="0000FF"/>
            </a:solidFill>
            <a:prstDash val="solid"/>
            <a:headEnd type="none" w="med" len="med"/>
            <a:tailEnd type="none" w="med" len="med"/>
          </a:ln>
        </p:spPr>
      </p:sp>
      <p:grpSp>
        <p:nvGrpSpPr>
          <p:cNvPr id="2410621" name="Group 125"/>
          <p:cNvGrpSpPr/>
          <p:nvPr/>
        </p:nvGrpSpPr>
        <p:grpSpPr>
          <a:xfrm>
            <a:off x="6070600" y="4775200"/>
            <a:ext cx="188913" cy="55563"/>
            <a:chOff x="3602" y="2888"/>
            <a:chExt cx="119" cy="35"/>
          </a:xfrm>
        </p:grpSpPr>
        <p:sp>
          <p:nvSpPr>
            <p:cNvPr id="51330" name="Line 126"/>
            <p:cNvSpPr/>
            <p:nvPr/>
          </p:nvSpPr>
          <p:spPr>
            <a:xfrm>
              <a:off x="3602" y="2888"/>
              <a:ext cx="119" cy="1"/>
            </a:xfrm>
            <a:prstGeom prst="line">
              <a:avLst/>
            </a:prstGeom>
            <a:ln w="0" cap="flat" cmpd="sng">
              <a:solidFill>
                <a:srgbClr val="0000FF"/>
              </a:solidFill>
              <a:prstDash val="solid"/>
              <a:headEnd type="none" w="med" len="med"/>
              <a:tailEnd type="none" w="med" len="med"/>
            </a:ln>
          </p:spPr>
        </p:sp>
        <p:sp>
          <p:nvSpPr>
            <p:cNvPr id="51331" name="Line 127"/>
            <p:cNvSpPr/>
            <p:nvPr/>
          </p:nvSpPr>
          <p:spPr>
            <a:xfrm>
              <a:off x="3602" y="2922"/>
              <a:ext cx="119" cy="1"/>
            </a:xfrm>
            <a:prstGeom prst="line">
              <a:avLst/>
            </a:prstGeom>
            <a:ln w="0" cap="flat" cmpd="sng">
              <a:solidFill>
                <a:srgbClr val="0000FF"/>
              </a:solidFill>
              <a:prstDash val="solid"/>
              <a:headEnd type="none" w="med" len="med"/>
              <a:tailEnd type="none" w="med" len="med"/>
            </a:ln>
          </p:spPr>
        </p:sp>
      </p:grpSp>
      <p:sp>
        <p:nvSpPr>
          <p:cNvPr id="2410624" name="Line 128"/>
          <p:cNvSpPr/>
          <p:nvPr/>
        </p:nvSpPr>
        <p:spPr>
          <a:xfrm>
            <a:off x="6156325" y="4829175"/>
            <a:ext cx="1588" cy="544513"/>
          </a:xfrm>
          <a:prstGeom prst="line">
            <a:avLst/>
          </a:prstGeom>
          <a:ln w="0" cap="flat" cmpd="sng">
            <a:solidFill>
              <a:srgbClr val="0000FF"/>
            </a:solidFill>
            <a:prstDash val="solid"/>
            <a:headEnd type="none" w="med" len="med"/>
            <a:tailEnd type="none" w="med" len="med"/>
          </a:ln>
        </p:spPr>
      </p:sp>
      <p:sp>
        <p:nvSpPr>
          <p:cNvPr id="2410625" name="Line 129"/>
          <p:cNvSpPr/>
          <p:nvPr/>
        </p:nvSpPr>
        <p:spPr>
          <a:xfrm flipV="1">
            <a:off x="5341938" y="4318000"/>
            <a:ext cx="1587" cy="439738"/>
          </a:xfrm>
          <a:prstGeom prst="line">
            <a:avLst/>
          </a:prstGeom>
          <a:ln w="0" cap="flat" cmpd="sng">
            <a:solidFill>
              <a:srgbClr val="0000FF"/>
            </a:solidFill>
            <a:prstDash val="solid"/>
            <a:headEnd type="none" w="med" len="med"/>
            <a:tailEnd type="none" w="med" len="med"/>
          </a:ln>
        </p:spPr>
      </p:sp>
      <p:sp>
        <p:nvSpPr>
          <p:cNvPr id="2410626" name="Line 130"/>
          <p:cNvSpPr/>
          <p:nvPr/>
        </p:nvSpPr>
        <p:spPr>
          <a:xfrm>
            <a:off x="5341938" y="5040313"/>
            <a:ext cx="1587" cy="319087"/>
          </a:xfrm>
          <a:prstGeom prst="line">
            <a:avLst/>
          </a:prstGeom>
          <a:ln w="0" cap="flat" cmpd="sng">
            <a:solidFill>
              <a:srgbClr val="0000FF"/>
            </a:solidFill>
            <a:prstDash val="solid"/>
            <a:headEnd type="none" w="med" len="med"/>
            <a:tailEnd type="none" w="med" len="med"/>
          </a:ln>
        </p:spPr>
      </p:sp>
      <p:sp>
        <p:nvSpPr>
          <p:cNvPr id="2410627" name="Line 131"/>
          <p:cNvSpPr/>
          <p:nvPr/>
        </p:nvSpPr>
        <p:spPr>
          <a:xfrm>
            <a:off x="5348288" y="5356225"/>
            <a:ext cx="3302000" cy="1588"/>
          </a:xfrm>
          <a:prstGeom prst="line">
            <a:avLst/>
          </a:prstGeom>
          <a:ln w="0" cap="flat" cmpd="sng">
            <a:solidFill>
              <a:srgbClr val="0000FF"/>
            </a:solidFill>
            <a:prstDash val="solid"/>
            <a:headEnd type="none" w="med" len="med"/>
            <a:tailEnd type="none" w="med" len="med"/>
          </a:ln>
        </p:spPr>
      </p:sp>
      <p:sp>
        <p:nvSpPr>
          <p:cNvPr id="2410628" name="Rectangle 132"/>
          <p:cNvSpPr/>
          <p:nvPr/>
        </p:nvSpPr>
        <p:spPr>
          <a:xfrm>
            <a:off x="6769100" y="4722813"/>
            <a:ext cx="87313" cy="261937"/>
          </a:xfrm>
          <a:prstGeom prst="rect">
            <a:avLst/>
          </a:prstGeom>
          <a:no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29" name="Line 133"/>
          <p:cNvSpPr/>
          <p:nvPr/>
        </p:nvSpPr>
        <p:spPr>
          <a:xfrm>
            <a:off x="6804025" y="4318000"/>
            <a:ext cx="1588" cy="404813"/>
          </a:xfrm>
          <a:prstGeom prst="line">
            <a:avLst/>
          </a:prstGeom>
          <a:ln w="0" cap="flat" cmpd="sng">
            <a:solidFill>
              <a:srgbClr val="0000FF"/>
            </a:solidFill>
            <a:prstDash val="solid"/>
            <a:headEnd type="none" w="med" len="med"/>
            <a:tailEnd type="none" w="med" len="med"/>
          </a:ln>
        </p:spPr>
      </p:sp>
      <p:sp>
        <p:nvSpPr>
          <p:cNvPr id="2410630" name="Line 134"/>
          <p:cNvSpPr/>
          <p:nvPr/>
        </p:nvSpPr>
        <p:spPr>
          <a:xfrm>
            <a:off x="6804025" y="4986338"/>
            <a:ext cx="1588" cy="615950"/>
          </a:xfrm>
          <a:prstGeom prst="line">
            <a:avLst/>
          </a:prstGeom>
          <a:ln w="0" cap="flat" cmpd="sng">
            <a:solidFill>
              <a:srgbClr val="0000FF"/>
            </a:solidFill>
            <a:prstDash val="solid"/>
            <a:headEnd type="none" w="med" len="med"/>
            <a:tailEnd type="none" w="med" len="med"/>
          </a:ln>
        </p:spPr>
      </p:sp>
      <p:sp>
        <p:nvSpPr>
          <p:cNvPr id="2410631" name="Line 135"/>
          <p:cNvSpPr/>
          <p:nvPr/>
        </p:nvSpPr>
        <p:spPr>
          <a:xfrm>
            <a:off x="7250113" y="4318000"/>
            <a:ext cx="1587" cy="477838"/>
          </a:xfrm>
          <a:prstGeom prst="line">
            <a:avLst/>
          </a:prstGeom>
          <a:ln w="0" cap="flat" cmpd="sng">
            <a:solidFill>
              <a:srgbClr val="0000FF"/>
            </a:solidFill>
            <a:prstDash val="solid"/>
            <a:headEnd type="none" w="med" len="med"/>
            <a:tailEnd type="none" w="med" len="med"/>
          </a:ln>
        </p:spPr>
      </p:sp>
      <p:grpSp>
        <p:nvGrpSpPr>
          <p:cNvPr id="2410632" name="Group 136"/>
          <p:cNvGrpSpPr/>
          <p:nvPr/>
        </p:nvGrpSpPr>
        <p:grpSpPr>
          <a:xfrm>
            <a:off x="7164388" y="4792663"/>
            <a:ext cx="188912" cy="55562"/>
            <a:chOff x="4467" y="2899"/>
            <a:chExt cx="119" cy="35"/>
          </a:xfrm>
        </p:grpSpPr>
        <p:sp>
          <p:nvSpPr>
            <p:cNvPr id="51328" name="Line 137"/>
            <p:cNvSpPr/>
            <p:nvPr/>
          </p:nvSpPr>
          <p:spPr>
            <a:xfrm>
              <a:off x="4467" y="2899"/>
              <a:ext cx="119" cy="1"/>
            </a:xfrm>
            <a:prstGeom prst="line">
              <a:avLst/>
            </a:prstGeom>
            <a:ln w="0" cap="flat" cmpd="sng">
              <a:solidFill>
                <a:srgbClr val="0000FF"/>
              </a:solidFill>
              <a:prstDash val="solid"/>
              <a:headEnd type="none" w="med" len="med"/>
              <a:tailEnd type="none" w="med" len="med"/>
            </a:ln>
          </p:spPr>
        </p:sp>
        <p:sp>
          <p:nvSpPr>
            <p:cNvPr id="51329" name="Line 138"/>
            <p:cNvSpPr/>
            <p:nvPr/>
          </p:nvSpPr>
          <p:spPr>
            <a:xfrm>
              <a:off x="4467" y="2933"/>
              <a:ext cx="119" cy="1"/>
            </a:xfrm>
            <a:prstGeom prst="line">
              <a:avLst/>
            </a:prstGeom>
            <a:ln w="0" cap="flat" cmpd="sng">
              <a:solidFill>
                <a:srgbClr val="0000FF"/>
              </a:solidFill>
              <a:prstDash val="solid"/>
              <a:headEnd type="none" w="med" len="med"/>
              <a:tailEnd type="none" w="med" len="med"/>
            </a:ln>
          </p:spPr>
        </p:sp>
      </p:grpSp>
      <p:sp>
        <p:nvSpPr>
          <p:cNvPr id="2410635" name="Line 139"/>
          <p:cNvSpPr/>
          <p:nvPr/>
        </p:nvSpPr>
        <p:spPr>
          <a:xfrm>
            <a:off x="7250113" y="4846638"/>
            <a:ext cx="1587" cy="509587"/>
          </a:xfrm>
          <a:prstGeom prst="line">
            <a:avLst/>
          </a:prstGeom>
          <a:ln w="0" cap="flat" cmpd="sng">
            <a:solidFill>
              <a:srgbClr val="0000FF"/>
            </a:solidFill>
            <a:prstDash val="solid"/>
            <a:headEnd type="none" w="med" len="med"/>
            <a:tailEnd type="none" w="med" len="med"/>
          </a:ln>
        </p:spPr>
      </p:sp>
      <p:sp>
        <p:nvSpPr>
          <p:cNvPr id="2410636" name="Line 140"/>
          <p:cNvSpPr/>
          <p:nvPr/>
        </p:nvSpPr>
        <p:spPr>
          <a:xfrm>
            <a:off x="8569325" y="4318000"/>
            <a:ext cx="1588" cy="1041400"/>
          </a:xfrm>
          <a:prstGeom prst="line">
            <a:avLst/>
          </a:prstGeom>
          <a:ln w="0" cap="flat" cmpd="sng">
            <a:solidFill>
              <a:srgbClr val="0000FF"/>
            </a:solidFill>
            <a:prstDash val="solid"/>
            <a:headEnd type="none" w="med" len="med"/>
            <a:tailEnd type="none" w="med" len="med"/>
          </a:ln>
        </p:spPr>
      </p:sp>
      <p:sp>
        <p:nvSpPr>
          <p:cNvPr id="2410637" name="Line 141"/>
          <p:cNvSpPr/>
          <p:nvPr/>
        </p:nvSpPr>
        <p:spPr>
          <a:xfrm>
            <a:off x="6683375" y="5602288"/>
            <a:ext cx="258763" cy="1587"/>
          </a:xfrm>
          <a:prstGeom prst="line">
            <a:avLst/>
          </a:prstGeom>
          <a:ln w="0" cap="flat" cmpd="sng">
            <a:solidFill>
              <a:srgbClr val="0000FF"/>
            </a:solidFill>
            <a:prstDash val="solid"/>
            <a:headEnd type="none" w="med" len="med"/>
            <a:tailEnd type="none" w="med" len="med"/>
          </a:ln>
        </p:spPr>
      </p:sp>
      <p:sp>
        <p:nvSpPr>
          <p:cNvPr id="2410638" name="Oval 142"/>
          <p:cNvSpPr/>
          <p:nvPr/>
        </p:nvSpPr>
        <p:spPr>
          <a:xfrm>
            <a:off x="6116638" y="5314950"/>
            <a:ext cx="82550" cy="8731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39" name="Oval 143"/>
          <p:cNvSpPr/>
          <p:nvPr/>
        </p:nvSpPr>
        <p:spPr>
          <a:xfrm>
            <a:off x="6116638" y="4276725"/>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0" name="Oval 144"/>
          <p:cNvSpPr/>
          <p:nvPr/>
        </p:nvSpPr>
        <p:spPr>
          <a:xfrm>
            <a:off x="6762750" y="5314950"/>
            <a:ext cx="84138" cy="8731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1" name="Oval 145"/>
          <p:cNvSpPr/>
          <p:nvPr/>
        </p:nvSpPr>
        <p:spPr>
          <a:xfrm>
            <a:off x="6762750" y="4276725"/>
            <a:ext cx="84138"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2" name="Oval 146"/>
          <p:cNvSpPr/>
          <p:nvPr/>
        </p:nvSpPr>
        <p:spPr>
          <a:xfrm>
            <a:off x="7210425" y="4276725"/>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3" name="Oval 147"/>
          <p:cNvSpPr/>
          <p:nvPr/>
        </p:nvSpPr>
        <p:spPr>
          <a:xfrm>
            <a:off x="7210425" y="5314950"/>
            <a:ext cx="82550" cy="87313"/>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4" name="Oval 148"/>
          <p:cNvSpPr/>
          <p:nvPr/>
        </p:nvSpPr>
        <p:spPr>
          <a:xfrm>
            <a:off x="5205413" y="4757738"/>
            <a:ext cx="290512" cy="2825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2410645" name="Rectangle 149"/>
          <p:cNvSpPr/>
          <p:nvPr/>
        </p:nvSpPr>
        <p:spPr>
          <a:xfrm>
            <a:off x="5273675" y="4716463"/>
            <a:ext cx="150813" cy="301625"/>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410646" name="Rectangle 150"/>
          <p:cNvSpPr/>
          <p:nvPr/>
        </p:nvSpPr>
        <p:spPr>
          <a:xfrm>
            <a:off x="6362700" y="401478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410647" name="Rectangle 151"/>
          <p:cNvSpPr/>
          <p:nvPr/>
        </p:nvSpPr>
        <p:spPr>
          <a:xfrm>
            <a:off x="6491288" y="4095750"/>
            <a:ext cx="1143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2410648" name="Rectangle 152"/>
          <p:cNvSpPr/>
          <p:nvPr/>
        </p:nvSpPr>
        <p:spPr>
          <a:xfrm>
            <a:off x="7808913" y="4719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410649" name="Rectangle 153"/>
          <p:cNvSpPr/>
          <p:nvPr/>
        </p:nvSpPr>
        <p:spPr>
          <a:xfrm>
            <a:off x="7932738" y="4808538"/>
            <a:ext cx="15240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OT</a:t>
            </a:r>
            <a:endParaRPr lang="en-US" altLang="zh-CN" dirty="0">
              <a:latin typeface="Times New Roman" panose="02020603050405020304" pitchFamily="18" charset="0"/>
            </a:endParaRPr>
          </a:p>
        </p:txBody>
      </p:sp>
      <p:sp>
        <p:nvSpPr>
          <p:cNvPr id="2410650" name="Rectangle 154"/>
          <p:cNvSpPr/>
          <p:nvPr/>
        </p:nvSpPr>
        <p:spPr>
          <a:xfrm>
            <a:off x="8105775" y="4740275"/>
            <a:ext cx="107950" cy="206375"/>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410651" name="Rectangle 155"/>
          <p:cNvSpPr/>
          <p:nvPr/>
        </p:nvSpPr>
        <p:spPr>
          <a:xfrm>
            <a:off x="8226425" y="4719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410652" name="Rectangle 156"/>
          <p:cNvSpPr/>
          <p:nvPr/>
        </p:nvSpPr>
        <p:spPr>
          <a:xfrm>
            <a:off x="8359775" y="4811713"/>
            <a:ext cx="698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2410653" name="Rectangle 157"/>
          <p:cNvSpPr/>
          <p:nvPr/>
        </p:nvSpPr>
        <p:spPr>
          <a:xfrm>
            <a:off x="7383463" y="4719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410654" name="Rectangle 158"/>
          <p:cNvSpPr/>
          <p:nvPr/>
        </p:nvSpPr>
        <p:spPr>
          <a:xfrm>
            <a:off x="7505700" y="4791075"/>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in2</a:t>
            </a:r>
            <a:endParaRPr lang="en-US" altLang="zh-CN" dirty="0">
              <a:latin typeface="Times New Roman" panose="02020603050405020304" pitchFamily="18" charset="0"/>
            </a:endParaRPr>
          </a:p>
        </p:txBody>
      </p:sp>
      <p:sp>
        <p:nvSpPr>
          <p:cNvPr id="2410655" name="Rectangle 159"/>
          <p:cNvSpPr/>
          <p:nvPr/>
        </p:nvSpPr>
        <p:spPr>
          <a:xfrm>
            <a:off x="7688263" y="4740275"/>
            <a:ext cx="107950" cy="206375"/>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2410656" name="Rectangle 160"/>
          <p:cNvSpPr/>
          <p:nvPr/>
        </p:nvSpPr>
        <p:spPr>
          <a:xfrm>
            <a:off x="8599488" y="4737100"/>
            <a:ext cx="138112"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410657" name="Rectangle 161"/>
          <p:cNvSpPr/>
          <p:nvPr/>
        </p:nvSpPr>
        <p:spPr>
          <a:xfrm>
            <a:off x="8747125" y="4819650"/>
            <a:ext cx="1524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2410658" name="Rectangle 162"/>
          <p:cNvSpPr/>
          <p:nvPr/>
        </p:nvSpPr>
        <p:spPr>
          <a:xfrm>
            <a:off x="6489700" y="4727575"/>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2410659" name="Rectangle 163"/>
          <p:cNvSpPr/>
          <p:nvPr/>
        </p:nvSpPr>
        <p:spPr>
          <a:xfrm>
            <a:off x="6613525" y="4819650"/>
            <a:ext cx="12065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S2</a:t>
            </a:r>
            <a:endParaRPr lang="en-US" altLang="zh-CN" dirty="0">
              <a:latin typeface="Times New Roman" panose="02020603050405020304" pitchFamily="18" charset="0"/>
            </a:endParaRPr>
          </a:p>
        </p:txBody>
      </p:sp>
      <p:sp>
        <p:nvSpPr>
          <p:cNvPr id="2410660" name="Rectangle 164"/>
          <p:cNvSpPr/>
          <p:nvPr/>
        </p:nvSpPr>
        <p:spPr>
          <a:xfrm>
            <a:off x="5756275" y="467201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2410661" name="Rectangle 165"/>
          <p:cNvSpPr/>
          <p:nvPr/>
        </p:nvSpPr>
        <p:spPr>
          <a:xfrm>
            <a:off x="5892800" y="4729163"/>
            <a:ext cx="177800" cy="150812"/>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in1</a:t>
            </a:r>
            <a:endParaRPr lang="en-US" altLang="zh-CN" dirty="0">
              <a:latin typeface="Times New Roman" panose="02020603050405020304" pitchFamily="18" charset="0"/>
            </a:endParaRPr>
          </a:p>
        </p:txBody>
      </p:sp>
      <p:sp>
        <p:nvSpPr>
          <p:cNvPr id="2410662" name="Rectangle 166"/>
          <p:cNvSpPr/>
          <p:nvPr/>
        </p:nvSpPr>
        <p:spPr>
          <a:xfrm>
            <a:off x="4913313" y="4762500"/>
            <a:ext cx="138112"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2410663" name="Rectangle 167"/>
          <p:cNvSpPr/>
          <p:nvPr/>
        </p:nvSpPr>
        <p:spPr>
          <a:xfrm>
            <a:off x="5041900" y="4846638"/>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2410664" name="Line 168"/>
          <p:cNvSpPr/>
          <p:nvPr/>
        </p:nvSpPr>
        <p:spPr>
          <a:xfrm flipH="1">
            <a:off x="8534400" y="4318000"/>
            <a:ext cx="34925" cy="123825"/>
          </a:xfrm>
          <a:prstGeom prst="line">
            <a:avLst/>
          </a:prstGeom>
          <a:ln w="0" cap="flat" cmpd="sng">
            <a:solidFill>
              <a:srgbClr val="0000FF"/>
            </a:solidFill>
            <a:prstDash val="solid"/>
            <a:headEnd type="none" w="med" len="med"/>
            <a:tailEnd type="none" w="med" len="med"/>
          </a:ln>
        </p:spPr>
      </p:sp>
      <p:sp>
        <p:nvSpPr>
          <p:cNvPr id="2410665" name="Line 169"/>
          <p:cNvSpPr/>
          <p:nvPr/>
        </p:nvSpPr>
        <p:spPr>
          <a:xfrm>
            <a:off x="8569325" y="4318000"/>
            <a:ext cx="33338" cy="123825"/>
          </a:xfrm>
          <a:prstGeom prst="line">
            <a:avLst/>
          </a:prstGeom>
          <a:ln w="0" cap="flat" cmpd="sng">
            <a:solidFill>
              <a:srgbClr val="0000FF"/>
            </a:solidFill>
            <a:prstDash val="solid"/>
            <a:headEnd type="none" w="med" len="med"/>
            <a:tailEnd type="none" w="med" len="med"/>
          </a:ln>
        </p:spPr>
      </p:sp>
      <p:sp>
        <p:nvSpPr>
          <p:cNvPr id="2410666" name="Line 170"/>
          <p:cNvSpPr/>
          <p:nvPr/>
        </p:nvSpPr>
        <p:spPr>
          <a:xfrm flipH="1" flipV="1">
            <a:off x="8534400" y="5251450"/>
            <a:ext cx="34925" cy="104775"/>
          </a:xfrm>
          <a:prstGeom prst="line">
            <a:avLst/>
          </a:prstGeom>
          <a:ln w="0" cap="flat" cmpd="sng">
            <a:solidFill>
              <a:srgbClr val="0000FF"/>
            </a:solidFill>
            <a:prstDash val="solid"/>
            <a:headEnd type="none" w="med" len="med"/>
            <a:tailEnd type="none" w="med" len="med"/>
          </a:ln>
        </p:spPr>
      </p:sp>
      <p:sp>
        <p:nvSpPr>
          <p:cNvPr id="2410667" name="Line 171"/>
          <p:cNvSpPr/>
          <p:nvPr/>
        </p:nvSpPr>
        <p:spPr>
          <a:xfrm flipV="1">
            <a:off x="8569325" y="5251450"/>
            <a:ext cx="33338" cy="104775"/>
          </a:xfrm>
          <a:prstGeom prst="line">
            <a:avLst/>
          </a:prstGeom>
          <a:ln w="0" cap="flat" cmpd="sng">
            <a:solidFill>
              <a:srgbClr val="0000FF"/>
            </a:solidFill>
            <a:prstDash val="solid"/>
            <a:headEnd type="none" w="med" len="med"/>
            <a:tailEnd type="none" w="med" len="med"/>
          </a:ln>
        </p:spPr>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0569"/>
                                        </p:tgtEl>
                                        <p:attrNameLst>
                                          <p:attrName>style.visibility</p:attrName>
                                        </p:attrNameLst>
                                      </p:cBhvr>
                                      <p:to>
                                        <p:strVal val="visible"/>
                                      </p:to>
                                    </p:set>
                                    <p:animEffect transition="in" filter="dissolve">
                                      <p:cBhvr>
                                        <p:cTn id="7" dur="500"/>
                                        <p:tgtEl>
                                          <p:spTgt spid="241056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nodeType="clickEffect">
                                  <p:stCondLst>
                                    <p:cond delay="0"/>
                                  </p:stCondLst>
                                  <p:childTnLst>
                                    <p:set>
                                      <p:cBhvr>
                                        <p:cTn id="11" dur="1" fill="hold">
                                          <p:stCondLst>
                                            <p:cond delay="0"/>
                                          </p:stCondLst>
                                        </p:cTn>
                                        <p:tgtEl>
                                          <p:spTgt spid="2410538"/>
                                        </p:tgtEl>
                                        <p:attrNameLst>
                                          <p:attrName>style.visibility</p:attrName>
                                        </p:attrNameLst>
                                      </p:cBhvr>
                                      <p:to>
                                        <p:strVal val="hidden"/>
                                      </p:to>
                                    </p:set>
                                  </p:childTnLst>
                                </p:cTn>
                              </p:par>
                              <p:par>
                                <p:cTn id="12" presetID="1" presetClass="exit" presetSubtype="0" fill="hold" nodeType="withEffect">
                                  <p:stCondLst>
                                    <p:cond delay="0"/>
                                  </p:stCondLst>
                                  <p:childTnLst>
                                    <p:set>
                                      <p:cBhvr>
                                        <p:cTn id="13" dur="1" fill="hold">
                                          <p:stCondLst>
                                            <p:cond delay="0"/>
                                          </p:stCondLst>
                                        </p:cTn>
                                        <p:tgtEl>
                                          <p:spTgt spid="2410537"/>
                                        </p:tgtEl>
                                        <p:attrNameLst>
                                          <p:attrName>style.visibility</p:attrName>
                                        </p:attrNameLst>
                                      </p:cBhvr>
                                      <p:to>
                                        <p:strVal val="hidden"/>
                                      </p:to>
                                    </p:set>
                                  </p:childTnLst>
                                </p:cTn>
                              </p:par>
                              <p:par>
                                <p:cTn id="14" presetID="1" presetClass="exit" presetSubtype="0" fill="hold" nodeType="withEffect">
                                  <p:stCondLst>
                                    <p:cond delay="0"/>
                                  </p:stCondLst>
                                  <p:childTnLst>
                                    <p:set>
                                      <p:cBhvr>
                                        <p:cTn id="15" dur="1" fill="hold">
                                          <p:stCondLst>
                                            <p:cond delay="0"/>
                                          </p:stCondLst>
                                        </p:cTn>
                                        <p:tgtEl>
                                          <p:spTgt spid="241052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410568"/>
                                        </p:tgtEl>
                                        <p:attrNameLst>
                                          <p:attrName>style.visibility</p:attrName>
                                        </p:attrNameLst>
                                      </p:cBhvr>
                                      <p:to>
                                        <p:strVal val="visible"/>
                                      </p:to>
                                    </p:set>
                                    <p:animEffect transition="in" filter="wipe(left)">
                                      <p:cBhvr>
                                        <p:cTn id="20" dur="500"/>
                                        <p:tgtEl>
                                          <p:spTgt spid="241056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410571"/>
                                        </p:tgtEl>
                                        <p:attrNameLst>
                                          <p:attrName>style.visibility</p:attrName>
                                        </p:attrNameLst>
                                      </p:cBhvr>
                                      <p:to>
                                        <p:strVal val="visible"/>
                                      </p:to>
                                    </p:set>
                                    <p:animEffect transition="in" filter="dissolve">
                                      <p:cBhvr>
                                        <p:cTn id="25" dur="500"/>
                                        <p:tgtEl>
                                          <p:spTgt spid="2410571"/>
                                        </p:tgtEl>
                                      </p:cBhvr>
                                    </p:animEffect>
                                  </p:childTnLst>
                                </p:cTn>
                              </p:par>
                              <p:par>
                                <p:cTn id="26" presetID="9" presetClass="entr" presetSubtype="0" fill="hold" nodeType="withEffect">
                                  <p:stCondLst>
                                    <p:cond delay="0"/>
                                  </p:stCondLst>
                                  <p:childTnLst>
                                    <p:set>
                                      <p:cBhvr>
                                        <p:cTn id="27" dur="1" fill="hold">
                                          <p:stCondLst>
                                            <p:cond delay="0"/>
                                          </p:stCondLst>
                                        </p:cTn>
                                        <p:tgtEl>
                                          <p:spTgt spid="2410611"/>
                                        </p:tgtEl>
                                        <p:attrNameLst>
                                          <p:attrName>style.visibility</p:attrName>
                                        </p:attrNameLst>
                                      </p:cBhvr>
                                      <p:to>
                                        <p:strVal val="visible"/>
                                      </p:to>
                                    </p:set>
                                    <p:animEffect transition="in" filter="dissolve">
                                      <p:cBhvr>
                                        <p:cTn id="28" dur="500"/>
                                        <p:tgtEl>
                                          <p:spTgt spid="2410611"/>
                                        </p:tgtEl>
                                      </p:cBhvr>
                                    </p:animEffect>
                                  </p:childTnLst>
                                </p:cTn>
                              </p:par>
                              <p:par>
                                <p:cTn id="29" presetID="9" presetClass="entr" presetSubtype="0" fill="hold" nodeType="withEffect">
                                  <p:stCondLst>
                                    <p:cond delay="0"/>
                                  </p:stCondLst>
                                  <p:childTnLst>
                                    <p:set>
                                      <p:cBhvr>
                                        <p:cTn id="30" dur="1" fill="hold">
                                          <p:stCondLst>
                                            <p:cond delay="0"/>
                                          </p:stCondLst>
                                        </p:cTn>
                                        <p:tgtEl>
                                          <p:spTgt spid="2410612"/>
                                        </p:tgtEl>
                                        <p:attrNameLst>
                                          <p:attrName>style.visibility</p:attrName>
                                        </p:attrNameLst>
                                      </p:cBhvr>
                                      <p:to>
                                        <p:strVal val="visible"/>
                                      </p:to>
                                    </p:set>
                                    <p:animEffect transition="in" filter="dissolve">
                                      <p:cBhvr>
                                        <p:cTn id="31" dur="500"/>
                                        <p:tgtEl>
                                          <p:spTgt spid="2410612"/>
                                        </p:tgtEl>
                                      </p:cBhvr>
                                    </p:animEffect>
                                  </p:childTnLst>
                                </p:cTn>
                              </p:par>
                              <p:par>
                                <p:cTn id="32" presetID="9" presetClass="entr" presetSubtype="0" fill="hold" nodeType="withEffect">
                                  <p:stCondLst>
                                    <p:cond delay="0"/>
                                  </p:stCondLst>
                                  <p:childTnLst>
                                    <p:set>
                                      <p:cBhvr>
                                        <p:cTn id="33" dur="1" fill="hold">
                                          <p:stCondLst>
                                            <p:cond delay="0"/>
                                          </p:stCondLst>
                                        </p:cTn>
                                        <p:tgtEl>
                                          <p:spTgt spid="2410613"/>
                                        </p:tgtEl>
                                        <p:attrNameLst>
                                          <p:attrName>style.visibility</p:attrName>
                                        </p:attrNameLst>
                                      </p:cBhvr>
                                      <p:to>
                                        <p:strVal val="visible"/>
                                      </p:to>
                                    </p:set>
                                    <p:animEffect transition="in" filter="dissolve">
                                      <p:cBhvr>
                                        <p:cTn id="34" dur="500"/>
                                        <p:tgtEl>
                                          <p:spTgt spid="2410613"/>
                                        </p:tgtEl>
                                      </p:cBhvr>
                                    </p:animEffect>
                                  </p:childTnLst>
                                </p:cTn>
                              </p:par>
                              <p:par>
                                <p:cTn id="35" presetID="9" presetClass="entr" presetSubtype="0" fill="hold" nodeType="withEffect">
                                  <p:stCondLst>
                                    <p:cond delay="0"/>
                                  </p:stCondLst>
                                  <p:childTnLst>
                                    <p:set>
                                      <p:cBhvr>
                                        <p:cTn id="36" dur="1" fill="hold">
                                          <p:stCondLst>
                                            <p:cond delay="0"/>
                                          </p:stCondLst>
                                        </p:cTn>
                                        <p:tgtEl>
                                          <p:spTgt spid="2410614"/>
                                        </p:tgtEl>
                                        <p:attrNameLst>
                                          <p:attrName>style.visibility</p:attrName>
                                        </p:attrNameLst>
                                      </p:cBhvr>
                                      <p:to>
                                        <p:strVal val="visible"/>
                                      </p:to>
                                    </p:set>
                                    <p:animEffect transition="in" filter="dissolve">
                                      <p:cBhvr>
                                        <p:cTn id="37" dur="500"/>
                                        <p:tgtEl>
                                          <p:spTgt spid="2410614"/>
                                        </p:tgtEl>
                                      </p:cBhvr>
                                    </p:animEffect>
                                  </p:childTnLst>
                                </p:cTn>
                              </p:par>
                              <p:par>
                                <p:cTn id="38" presetID="9" presetClass="entr" presetSubtype="0" fill="hold" nodeType="withEffect">
                                  <p:stCondLst>
                                    <p:cond delay="0"/>
                                  </p:stCondLst>
                                  <p:childTnLst>
                                    <p:set>
                                      <p:cBhvr>
                                        <p:cTn id="39" dur="1" fill="hold">
                                          <p:stCondLst>
                                            <p:cond delay="0"/>
                                          </p:stCondLst>
                                        </p:cTn>
                                        <p:tgtEl>
                                          <p:spTgt spid="2410615"/>
                                        </p:tgtEl>
                                        <p:attrNameLst>
                                          <p:attrName>style.visibility</p:attrName>
                                        </p:attrNameLst>
                                      </p:cBhvr>
                                      <p:to>
                                        <p:strVal val="visible"/>
                                      </p:to>
                                    </p:set>
                                    <p:animEffect transition="in" filter="dissolve">
                                      <p:cBhvr>
                                        <p:cTn id="40" dur="500"/>
                                        <p:tgtEl>
                                          <p:spTgt spid="2410615"/>
                                        </p:tgtEl>
                                      </p:cBhvr>
                                    </p:animEffect>
                                  </p:childTnLst>
                                </p:cTn>
                              </p:par>
                              <p:par>
                                <p:cTn id="41" presetID="9" presetClass="entr" presetSubtype="0" fill="hold" nodeType="withEffect">
                                  <p:stCondLst>
                                    <p:cond delay="0"/>
                                  </p:stCondLst>
                                  <p:childTnLst>
                                    <p:set>
                                      <p:cBhvr>
                                        <p:cTn id="42" dur="1" fill="hold">
                                          <p:stCondLst>
                                            <p:cond delay="0"/>
                                          </p:stCondLst>
                                        </p:cTn>
                                        <p:tgtEl>
                                          <p:spTgt spid="2410616"/>
                                        </p:tgtEl>
                                        <p:attrNameLst>
                                          <p:attrName>style.visibility</p:attrName>
                                        </p:attrNameLst>
                                      </p:cBhvr>
                                      <p:to>
                                        <p:strVal val="visible"/>
                                      </p:to>
                                    </p:set>
                                    <p:animEffect transition="in" filter="dissolve">
                                      <p:cBhvr>
                                        <p:cTn id="43" dur="500"/>
                                        <p:tgtEl>
                                          <p:spTgt spid="2410616"/>
                                        </p:tgtEl>
                                      </p:cBhvr>
                                    </p:animEffect>
                                  </p:childTnLst>
                                </p:cTn>
                              </p:par>
                              <p:par>
                                <p:cTn id="44" presetID="9" presetClass="entr" presetSubtype="0" fill="hold" nodeType="withEffect">
                                  <p:stCondLst>
                                    <p:cond delay="0"/>
                                  </p:stCondLst>
                                  <p:childTnLst>
                                    <p:set>
                                      <p:cBhvr>
                                        <p:cTn id="45" dur="1" fill="hold">
                                          <p:stCondLst>
                                            <p:cond delay="0"/>
                                          </p:stCondLst>
                                        </p:cTn>
                                        <p:tgtEl>
                                          <p:spTgt spid="2410617"/>
                                        </p:tgtEl>
                                        <p:attrNameLst>
                                          <p:attrName>style.visibility</p:attrName>
                                        </p:attrNameLst>
                                      </p:cBhvr>
                                      <p:to>
                                        <p:strVal val="visible"/>
                                      </p:to>
                                    </p:set>
                                    <p:animEffect transition="in" filter="dissolve">
                                      <p:cBhvr>
                                        <p:cTn id="46" dur="500"/>
                                        <p:tgtEl>
                                          <p:spTgt spid="2410617"/>
                                        </p:tgtEl>
                                      </p:cBhvr>
                                    </p:animEffect>
                                  </p:childTnLst>
                                </p:cTn>
                              </p:par>
                              <p:par>
                                <p:cTn id="47" presetID="9" presetClass="entr" presetSubtype="0" fill="hold" nodeType="withEffect">
                                  <p:stCondLst>
                                    <p:cond delay="0"/>
                                  </p:stCondLst>
                                  <p:childTnLst>
                                    <p:set>
                                      <p:cBhvr>
                                        <p:cTn id="48" dur="1" fill="hold">
                                          <p:stCondLst>
                                            <p:cond delay="0"/>
                                          </p:stCondLst>
                                        </p:cTn>
                                        <p:tgtEl>
                                          <p:spTgt spid="2410618"/>
                                        </p:tgtEl>
                                        <p:attrNameLst>
                                          <p:attrName>style.visibility</p:attrName>
                                        </p:attrNameLst>
                                      </p:cBhvr>
                                      <p:to>
                                        <p:strVal val="visible"/>
                                      </p:to>
                                    </p:set>
                                    <p:animEffect transition="in" filter="dissolve">
                                      <p:cBhvr>
                                        <p:cTn id="49" dur="500"/>
                                        <p:tgtEl>
                                          <p:spTgt spid="2410618"/>
                                        </p:tgtEl>
                                      </p:cBhvr>
                                    </p:animEffect>
                                  </p:childTnLst>
                                </p:cTn>
                              </p:par>
                              <p:par>
                                <p:cTn id="50" presetID="9" presetClass="entr" presetSubtype="0" fill="hold" nodeType="withEffect">
                                  <p:stCondLst>
                                    <p:cond delay="0"/>
                                  </p:stCondLst>
                                  <p:childTnLst>
                                    <p:set>
                                      <p:cBhvr>
                                        <p:cTn id="51" dur="1" fill="hold">
                                          <p:stCondLst>
                                            <p:cond delay="0"/>
                                          </p:stCondLst>
                                        </p:cTn>
                                        <p:tgtEl>
                                          <p:spTgt spid="2410619"/>
                                        </p:tgtEl>
                                        <p:attrNameLst>
                                          <p:attrName>style.visibility</p:attrName>
                                        </p:attrNameLst>
                                      </p:cBhvr>
                                      <p:to>
                                        <p:strVal val="visible"/>
                                      </p:to>
                                    </p:set>
                                    <p:animEffect transition="in" filter="dissolve">
                                      <p:cBhvr>
                                        <p:cTn id="52" dur="500"/>
                                        <p:tgtEl>
                                          <p:spTgt spid="2410619"/>
                                        </p:tgtEl>
                                      </p:cBhvr>
                                    </p:animEffect>
                                  </p:childTnLst>
                                </p:cTn>
                              </p:par>
                              <p:par>
                                <p:cTn id="53" presetID="9" presetClass="entr" presetSubtype="0" fill="hold" nodeType="withEffect">
                                  <p:stCondLst>
                                    <p:cond delay="0"/>
                                  </p:stCondLst>
                                  <p:childTnLst>
                                    <p:set>
                                      <p:cBhvr>
                                        <p:cTn id="54" dur="1" fill="hold">
                                          <p:stCondLst>
                                            <p:cond delay="0"/>
                                          </p:stCondLst>
                                        </p:cTn>
                                        <p:tgtEl>
                                          <p:spTgt spid="2410620"/>
                                        </p:tgtEl>
                                        <p:attrNameLst>
                                          <p:attrName>style.visibility</p:attrName>
                                        </p:attrNameLst>
                                      </p:cBhvr>
                                      <p:to>
                                        <p:strVal val="visible"/>
                                      </p:to>
                                    </p:set>
                                    <p:animEffect transition="in" filter="dissolve">
                                      <p:cBhvr>
                                        <p:cTn id="55" dur="500"/>
                                        <p:tgtEl>
                                          <p:spTgt spid="2410620"/>
                                        </p:tgtEl>
                                      </p:cBhvr>
                                    </p:animEffect>
                                  </p:childTnLst>
                                </p:cTn>
                              </p:par>
                              <p:par>
                                <p:cTn id="56" presetID="9" presetClass="entr" presetSubtype="0" fill="hold" nodeType="withEffect">
                                  <p:stCondLst>
                                    <p:cond delay="0"/>
                                  </p:stCondLst>
                                  <p:childTnLst>
                                    <p:set>
                                      <p:cBhvr>
                                        <p:cTn id="57" dur="1" fill="hold">
                                          <p:stCondLst>
                                            <p:cond delay="0"/>
                                          </p:stCondLst>
                                        </p:cTn>
                                        <p:tgtEl>
                                          <p:spTgt spid="2410621"/>
                                        </p:tgtEl>
                                        <p:attrNameLst>
                                          <p:attrName>style.visibility</p:attrName>
                                        </p:attrNameLst>
                                      </p:cBhvr>
                                      <p:to>
                                        <p:strVal val="visible"/>
                                      </p:to>
                                    </p:set>
                                    <p:animEffect transition="in" filter="dissolve">
                                      <p:cBhvr>
                                        <p:cTn id="58" dur="500"/>
                                        <p:tgtEl>
                                          <p:spTgt spid="2410621"/>
                                        </p:tgtEl>
                                      </p:cBhvr>
                                    </p:animEffect>
                                  </p:childTnLst>
                                </p:cTn>
                              </p:par>
                              <p:par>
                                <p:cTn id="59" presetID="9" presetClass="entr" presetSubtype="0" fill="hold" nodeType="withEffect">
                                  <p:stCondLst>
                                    <p:cond delay="0"/>
                                  </p:stCondLst>
                                  <p:childTnLst>
                                    <p:set>
                                      <p:cBhvr>
                                        <p:cTn id="60" dur="1" fill="hold">
                                          <p:stCondLst>
                                            <p:cond delay="0"/>
                                          </p:stCondLst>
                                        </p:cTn>
                                        <p:tgtEl>
                                          <p:spTgt spid="2410624"/>
                                        </p:tgtEl>
                                        <p:attrNameLst>
                                          <p:attrName>style.visibility</p:attrName>
                                        </p:attrNameLst>
                                      </p:cBhvr>
                                      <p:to>
                                        <p:strVal val="visible"/>
                                      </p:to>
                                    </p:set>
                                    <p:animEffect transition="in" filter="dissolve">
                                      <p:cBhvr>
                                        <p:cTn id="61" dur="500"/>
                                        <p:tgtEl>
                                          <p:spTgt spid="2410624"/>
                                        </p:tgtEl>
                                      </p:cBhvr>
                                    </p:animEffect>
                                  </p:childTnLst>
                                </p:cTn>
                              </p:par>
                              <p:par>
                                <p:cTn id="62" presetID="9" presetClass="entr" presetSubtype="0" fill="hold" nodeType="withEffect">
                                  <p:stCondLst>
                                    <p:cond delay="0"/>
                                  </p:stCondLst>
                                  <p:childTnLst>
                                    <p:set>
                                      <p:cBhvr>
                                        <p:cTn id="63" dur="1" fill="hold">
                                          <p:stCondLst>
                                            <p:cond delay="0"/>
                                          </p:stCondLst>
                                        </p:cTn>
                                        <p:tgtEl>
                                          <p:spTgt spid="2410625"/>
                                        </p:tgtEl>
                                        <p:attrNameLst>
                                          <p:attrName>style.visibility</p:attrName>
                                        </p:attrNameLst>
                                      </p:cBhvr>
                                      <p:to>
                                        <p:strVal val="visible"/>
                                      </p:to>
                                    </p:set>
                                    <p:animEffect transition="in" filter="dissolve">
                                      <p:cBhvr>
                                        <p:cTn id="64" dur="500"/>
                                        <p:tgtEl>
                                          <p:spTgt spid="2410625"/>
                                        </p:tgtEl>
                                      </p:cBhvr>
                                    </p:animEffect>
                                  </p:childTnLst>
                                </p:cTn>
                              </p:par>
                              <p:par>
                                <p:cTn id="65" presetID="9" presetClass="entr" presetSubtype="0" fill="hold" nodeType="withEffect">
                                  <p:stCondLst>
                                    <p:cond delay="0"/>
                                  </p:stCondLst>
                                  <p:childTnLst>
                                    <p:set>
                                      <p:cBhvr>
                                        <p:cTn id="66" dur="1" fill="hold">
                                          <p:stCondLst>
                                            <p:cond delay="0"/>
                                          </p:stCondLst>
                                        </p:cTn>
                                        <p:tgtEl>
                                          <p:spTgt spid="2410626"/>
                                        </p:tgtEl>
                                        <p:attrNameLst>
                                          <p:attrName>style.visibility</p:attrName>
                                        </p:attrNameLst>
                                      </p:cBhvr>
                                      <p:to>
                                        <p:strVal val="visible"/>
                                      </p:to>
                                    </p:set>
                                    <p:animEffect transition="in" filter="dissolve">
                                      <p:cBhvr>
                                        <p:cTn id="67" dur="500"/>
                                        <p:tgtEl>
                                          <p:spTgt spid="2410626"/>
                                        </p:tgtEl>
                                      </p:cBhvr>
                                    </p:animEffect>
                                  </p:childTnLst>
                                </p:cTn>
                              </p:par>
                              <p:par>
                                <p:cTn id="68" presetID="9" presetClass="entr" presetSubtype="0" fill="hold" nodeType="withEffect">
                                  <p:stCondLst>
                                    <p:cond delay="0"/>
                                  </p:stCondLst>
                                  <p:childTnLst>
                                    <p:set>
                                      <p:cBhvr>
                                        <p:cTn id="69" dur="1" fill="hold">
                                          <p:stCondLst>
                                            <p:cond delay="0"/>
                                          </p:stCondLst>
                                        </p:cTn>
                                        <p:tgtEl>
                                          <p:spTgt spid="2410627"/>
                                        </p:tgtEl>
                                        <p:attrNameLst>
                                          <p:attrName>style.visibility</p:attrName>
                                        </p:attrNameLst>
                                      </p:cBhvr>
                                      <p:to>
                                        <p:strVal val="visible"/>
                                      </p:to>
                                    </p:set>
                                    <p:animEffect transition="in" filter="dissolve">
                                      <p:cBhvr>
                                        <p:cTn id="70" dur="500"/>
                                        <p:tgtEl>
                                          <p:spTgt spid="2410627"/>
                                        </p:tgtEl>
                                      </p:cBhvr>
                                    </p:animEffect>
                                  </p:childTnLst>
                                </p:cTn>
                              </p:par>
                              <p:par>
                                <p:cTn id="71" presetID="9" presetClass="entr" presetSubtype="0" fill="hold" nodeType="withEffect">
                                  <p:stCondLst>
                                    <p:cond delay="0"/>
                                  </p:stCondLst>
                                  <p:childTnLst>
                                    <p:set>
                                      <p:cBhvr>
                                        <p:cTn id="72" dur="1" fill="hold">
                                          <p:stCondLst>
                                            <p:cond delay="0"/>
                                          </p:stCondLst>
                                        </p:cTn>
                                        <p:tgtEl>
                                          <p:spTgt spid="2410628"/>
                                        </p:tgtEl>
                                        <p:attrNameLst>
                                          <p:attrName>style.visibility</p:attrName>
                                        </p:attrNameLst>
                                      </p:cBhvr>
                                      <p:to>
                                        <p:strVal val="visible"/>
                                      </p:to>
                                    </p:set>
                                    <p:animEffect transition="in" filter="dissolve">
                                      <p:cBhvr>
                                        <p:cTn id="73" dur="500"/>
                                        <p:tgtEl>
                                          <p:spTgt spid="2410628"/>
                                        </p:tgtEl>
                                      </p:cBhvr>
                                    </p:animEffect>
                                  </p:childTnLst>
                                </p:cTn>
                              </p:par>
                              <p:par>
                                <p:cTn id="74" presetID="9" presetClass="entr" presetSubtype="0" fill="hold" nodeType="withEffect">
                                  <p:stCondLst>
                                    <p:cond delay="0"/>
                                  </p:stCondLst>
                                  <p:childTnLst>
                                    <p:set>
                                      <p:cBhvr>
                                        <p:cTn id="75" dur="1" fill="hold">
                                          <p:stCondLst>
                                            <p:cond delay="0"/>
                                          </p:stCondLst>
                                        </p:cTn>
                                        <p:tgtEl>
                                          <p:spTgt spid="2410629"/>
                                        </p:tgtEl>
                                        <p:attrNameLst>
                                          <p:attrName>style.visibility</p:attrName>
                                        </p:attrNameLst>
                                      </p:cBhvr>
                                      <p:to>
                                        <p:strVal val="visible"/>
                                      </p:to>
                                    </p:set>
                                    <p:animEffect transition="in" filter="dissolve">
                                      <p:cBhvr>
                                        <p:cTn id="76" dur="500"/>
                                        <p:tgtEl>
                                          <p:spTgt spid="2410629"/>
                                        </p:tgtEl>
                                      </p:cBhvr>
                                    </p:animEffect>
                                  </p:childTnLst>
                                </p:cTn>
                              </p:par>
                              <p:par>
                                <p:cTn id="77" presetID="9" presetClass="entr" presetSubtype="0" fill="hold" nodeType="withEffect">
                                  <p:stCondLst>
                                    <p:cond delay="0"/>
                                  </p:stCondLst>
                                  <p:childTnLst>
                                    <p:set>
                                      <p:cBhvr>
                                        <p:cTn id="78" dur="1" fill="hold">
                                          <p:stCondLst>
                                            <p:cond delay="0"/>
                                          </p:stCondLst>
                                        </p:cTn>
                                        <p:tgtEl>
                                          <p:spTgt spid="2410630"/>
                                        </p:tgtEl>
                                        <p:attrNameLst>
                                          <p:attrName>style.visibility</p:attrName>
                                        </p:attrNameLst>
                                      </p:cBhvr>
                                      <p:to>
                                        <p:strVal val="visible"/>
                                      </p:to>
                                    </p:set>
                                    <p:animEffect transition="in" filter="dissolve">
                                      <p:cBhvr>
                                        <p:cTn id="79" dur="500"/>
                                        <p:tgtEl>
                                          <p:spTgt spid="2410630"/>
                                        </p:tgtEl>
                                      </p:cBhvr>
                                    </p:animEffect>
                                  </p:childTnLst>
                                </p:cTn>
                              </p:par>
                              <p:par>
                                <p:cTn id="80" presetID="9" presetClass="entr" presetSubtype="0" fill="hold" nodeType="withEffect">
                                  <p:stCondLst>
                                    <p:cond delay="0"/>
                                  </p:stCondLst>
                                  <p:childTnLst>
                                    <p:set>
                                      <p:cBhvr>
                                        <p:cTn id="81" dur="1" fill="hold">
                                          <p:stCondLst>
                                            <p:cond delay="0"/>
                                          </p:stCondLst>
                                        </p:cTn>
                                        <p:tgtEl>
                                          <p:spTgt spid="2410631"/>
                                        </p:tgtEl>
                                        <p:attrNameLst>
                                          <p:attrName>style.visibility</p:attrName>
                                        </p:attrNameLst>
                                      </p:cBhvr>
                                      <p:to>
                                        <p:strVal val="visible"/>
                                      </p:to>
                                    </p:set>
                                    <p:animEffect transition="in" filter="dissolve">
                                      <p:cBhvr>
                                        <p:cTn id="82" dur="500"/>
                                        <p:tgtEl>
                                          <p:spTgt spid="2410631"/>
                                        </p:tgtEl>
                                      </p:cBhvr>
                                    </p:animEffect>
                                  </p:childTnLst>
                                </p:cTn>
                              </p:par>
                              <p:par>
                                <p:cTn id="83" presetID="9" presetClass="entr" presetSubtype="0" fill="hold" nodeType="withEffect">
                                  <p:stCondLst>
                                    <p:cond delay="0"/>
                                  </p:stCondLst>
                                  <p:childTnLst>
                                    <p:set>
                                      <p:cBhvr>
                                        <p:cTn id="84" dur="1" fill="hold">
                                          <p:stCondLst>
                                            <p:cond delay="0"/>
                                          </p:stCondLst>
                                        </p:cTn>
                                        <p:tgtEl>
                                          <p:spTgt spid="2410632"/>
                                        </p:tgtEl>
                                        <p:attrNameLst>
                                          <p:attrName>style.visibility</p:attrName>
                                        </p:attrNameLst>
                                      </p:cBhvr>
                                      <p:to>
                                        <p:strVal val="visible"/>
                                      </p:to>
                                    </p:set>
                                    <p:animEffect transition="in" filter="dissolve">
                                      <p:cBhvr>
                                        <p:cTn id="85" dur="500"/>
                                        <p:tgtEl>
                                          <p:spTgt spid="2410632"/>
                                        </p:tgtEl>
                                      </p:cBhvr>
                                    </p:animEffect>
                                  </p:childTnLst>
                                </p:cTn>
                              </p:par>
                              <p:par>
                                <p:cTn id="86" presetID="9" presetClass="entr" presetSubtype="0" fill="hold" nodeType="withEffect">
                                  <p:stCondLst>
                                    <p:cond delay="0"/>
                                  </p:stCondLst>
                                  <p:childTnLst>
                                    <p:set>
                                      <p:cBhvr>
                                        <p:cTn id="87" dur="1" fill="hold">
                                          <p:stCondLst>
                                            <p:cond delay="0"/>
                                          </p:stCondLst>
                                        </p:cTn>
                                        <p:tgtEl>
                                          <p:spTgt spid="2410635"/>
                                        </p:tgtEl>
                                        <p:attrNameLst>
                                          <p:attrName>style.visibility</p:attrName>
                                        </p:attrNameLst>
                                      </p:cBhvr>
                                      <p:to>
                                        <p:strVal val="visible"/>
                                      </p:to>
                                    </p:set>
                                    <p:animEffect transition="in" filter="dissolve">
                                      <p:cBhvr>
                                        <p:cTn id="88" dur="500"/>
                                        <p:tgtEl>
                                          <p:spTgt spid="2410635"/>
                                        </p:tgtEl>
                                      </p:cBhvr>
                                    </p:animEffect>
                                  </p:childTnLst>
                                </p:cTn>
                              </p:par>
                              <p:par>
                                <p:cTn id="89" presetID="9" presetClass="entr" presetSubtype="0" fill="hold" nodeType="withEffect">
                                  <p:stCondLst>
                                    <p:cond delay="0"/>
                                  </p:stCondLst>
                                  <p:childTnLst>
                                    <p:set>
                                      <p:cBhvr>
                                        <p:cTn id="90" dur="1" fill="hold">
                                          <p:stCondLst>
                                            <p:cond delay="0"/>
                                          </p:stCondLst>
                                        </p:cTn>
                                        <p:tgtEl>
                                          <p:spTgt spid="2410636"/>
                                        </p:tgtEl>
                                        <p:attrNameLst>
                                          <p:attrName>style.visibility</p:attrName>
                                        </p:attrNameLst>
                                      </p:cBhvr>
                                      <p:to>
                                        <p:strVal val="visible"/>
                                      </p:to>
                                    </p:set>
                                    <p:animEffect transition="in" filter="dissolve">
                                      <p:cBhvr>
                                        <p:cTn id="91" dur="500"/>
                                        <p:tgtEl>
                                          <p:spTgt spid="2410636"/>
                                        </p:tgtEl>
                                      </p:cBhvr>
                                    </p:animEffect>
                                  </p:childTnLst>
                                </p:cTn>
                              </p:par>
                              <p:par>
                                <p:cTn id="92" presetID="9" presetClass="entr" presetSubtype="0" fill="hold" nodeType="withEffect">
                                  <p:stCondLst>
                                    <p:cond delay="0"/>
                                  </p:stCondLst>
                                  <p:childTnLst>
                                    <p:set>
                                      <p:cBhvr>
                                        <p:cTn id="93" dur="1" fill="hold">
                                          <p:stCondLst>
                                            <p:cond delay="0"/>
                                          </p:stCondLst>
                                        </p:cTn>
                                        <p:tgtEl>
                                          <p:spTgt spid="2410637"/>
                                        </p:tgtEl>
                                        <p:attrNameLst>
                                          <p:attrName>style.visibility</p:attrName>
                                        </p:attrNameLst>
                                      </p:cBhvr>
                                      <p:to>
                                        <p:strVal val="visible"/>
                                      </p:to>
                                    </p:set>
                                    <p:animEffect transition="in" filter="dissolve">
                                      <p:cBhvr>
                                        <p:cTn id="94" dur="500"/>
                                        <p:tgtEl>
                                          <p:spTgt spid="2410637"/>
                                        </p:tgtEl>
                                      </p:cBhvr>
                                    </p:animEffect>
                                  </p:childTnLst>
                                </p:cTn>
                              </p:par>
                              <p:par>
                                <p:cTn id="95" presetID="9" presetClass="entr" presetSubtype="0" fill="hold" nodeType="withEffect">
                                  <p:stCondLst>
                                    <p:cond delay="0"/>
                                  </p:stCondLst>
                                  <p:childTnLst>
                                    <p:set>
                                      <p:cBhvr>
                                        <p:cTn id="96" dur="1" fill="hold">
                                          <p:stCondLst>
                                            <p:cond delay="0"/>
                                          </p:stCondLst>
                                        </p:cTn>
                                        <p:tgtEl>
                                          <p:spTgt spid="2410638"/>
                                        </p:tgtEl>
                                        <p:attrNameLst>
                                          <p:attrName>style.visibility</p:attrName>
                                        </p:attrNameLst>
                                      </p:cBhvr>
                                      <p:to>
                                        <p:strVal val="visible"/>
                                      </p:to>
                                    </p:set>
                                    <p:animEffect transition="in" filter="dissolve">
                                      <p:cBhvr>
                                        <p:cTn id="97" dur="500"/>
                                        <p:tgtEl>
                                          <p:spTgt spid="2410638"/>
                                        </p:tgtEl>
                                      </p:cBhvr>
                                    </p:animEffect>
                                  </p:childTnLst>
                                </p:cTn>
                              </p:par>
                              <p:par>
                                <p:cTn id="98" presetID="9" presetClass="entr" presetSubtype="0" fill="hold" nodeType="withEffect">
                                  <p:stCondLst>
                                    <p:cond delay="0"/>
                                  </p:stCondLst>
                                  <p:childTnLst>
                                    <p:set>
                                      <p:cBhvr>
                                        <p:cTn id="99" dur="1" fill="hold">
                                          <p:stCondLst>
                                            <p:cond delay="0"/>
                                          </p:stCondLst>
                                        </p:cTn>
                                        <p:tgtEl>
                                          <p:spTgt spid="2410639"/>
                                        </p:tgtEl>
                                        <p:attrNameLst>
                                          <p:attrName>style.visibility</p:attrName>
                                        </p:attrNameLst>
                                      </p:cBhvr>
                                      <p:to>
                                        <p:strVal val="visible"/>
                                      </p:to>
                                    </p:set>
                                    <p:animEffect transition="in" filter="dissolve">
                                      <p:cBhvr>
                                        <p:cTn id="100" dur="500"/>
                                        <p:tgtEl>
                                          <p:spTgt spid="2410639"/>
                                        </p:tgtEl>
                                      </p:cBhvr>
                                    </p:animEffect>
                                  </p:childTnLst>
                                </p:cTn>
                              </p:par>
                              <p:par>
                                <p:cTn id="101" presetID="9" presetClass="entr" presetSubtype="0" fill="hold" nodeType="withEffect">
                                  <p:stCondLst>
                                    <p:cond delay="0"/>
                                  </p:stCondLst>
                                  <p:childTnLst>
                                    <p:set>
                                      <p:cBhvr>
                                        <p:cTn id="102" dur="1" fill="hold">
                                          <p:stCondLst>
                                            <p:cond delay="0"/>
                                          </p:stCondLst>
                                        </p:cTn>
                                        <p:tgtEl>
                                          <p:spTgt spid="2410640"/>
                                        </p:tgtEl>
                                        <p:attrNameLst>
                                          <p:attrName>style.visibility</p:attrName>
                                        </p:attrNameLst>
                                      </p:cBhvr>
                                      <p:to>
                                        <p:strVal val="visible"/>
                                      </p:to>
                                    </p:set>
                                    <p:animEffect transition="in" filter="dissolve">
                                      <p:cBhvr>
                                        <p:cTn id="103" dur="500"/>
                                        <p:tgtEl>
                                          <p:spTgt spid="2410640"/>
                                        </p:tgtEl>
                                      </p:cBhvr>
                                    </p:animEffect>
                                  </p:childTnLst>
                                </p:cTn>
                              </p:par>
                              <p:par>
                                <p:cTn id="104" presetID="9" presetClass="entr" presetSubtype="0" fill="hold" nodeType="withEffect">
                                  <p:stCondLst>
                                    <p:cond delay="0"/>
                                  </p:stCondLst>
                                  <p:childTnLst>
                                    <p:set>
                                      <p:cBhvr>
                                        <p:cTn id="105" dur="1" fill="hold">
                                          <p:stCondLst>
                                            <p:cond delay="0"/>
                                          </p:stCondLst>
                                        </p:cTn>
                                        <p:tgtEl>
                                          <p:spTgt spid="2410641"/>
                                        </p:tgtEl>
                                        <p:attrNameLst>
                                          <p:attrName>style.visibility</p:attrName>
                                        </p:attrNameLst>
                                      </p:cBhvr>
                                      <p:to>
                                        <p:strVal val="visible"/>
                                      </p:to>
                                    </p:set>
                                    <p:animEffect transition="in" filter="dissolve">
                                      <p:cBhvr>
                                        <p:cTn id="106" dur="500"/>
                                        <p:tgtEl>
                                          <p:spTgt spid="2410641"/>
                                        </p:tgtEl>
                                      </p:cBhvr>
                                    </p:animEffect>
                                  </p:childTnLst>
                                </p:cTn>
                              </p:par>
                              <p:par>
                                <p:cTn id="107" presetID="9" presetClass="entr" presetSubtype="0" fill="hold" nodeType="withEffect">
                                  <p:stCondLst>
                                    <p:cond delay="0"/>
                                  </p:stCondLst>
                                  <p:childTnLst>
                                    <p:set>
                                      <p:cBhvr>
                                        <p:cTn id="108" dur="1" fill="hold">
                                          <p:stCondLst>
                                            <p:cond delay="0"/>
                                          </p:stCondLst>
                                        </p:cTn>
                                        <p:tgtEl>
                                          <p:spTgt spid="2410642"/>
                                        </p:tgtEl>
                                        <p:attrNameLst>
                                          <p:attrName>style.visibility</p:attrName>
                                        </p:attrNameLst>
                                      </p:cBhvr>
                                      <p:to>
                                        <p:strVal val="visible"/>
                                      </p:to>
                                    </p:set>
                                    <p:animEffect transition="in" filter="dissolve">
                                      <p:cBhvr>
                                        <p:cTn id="109" dur="500"/>
                                        <p:tgtEl>
                                          <p:spTgt spid="2410642"/>
                                        </p:tgtEl>
                                      </p:cBhvr>
                                    </p:animEffect>
                                  </p:childTnLst>
                                </p:cTn>
                              </p:par>
                              <p:par>
                                <p:cTn id="110" presetID="9" presetClass="entr" presetSubtype="0" fill="hold" nodeType="withEffect">
                                  <p:stCondLst>
                                    <p:cond delay="0"/>
                                  </p:stCondLst>
                                  <p:childTnLst>
                                    <p:set>
                                      <p:cBhvr>
                                        <p:cTn id="111" dur="1" fill="hold">
                                          <p:stCondLst>
                                            <p:cond delay="0"/>
                                          </p:stCondLst>
                                        </p:cTn>
                                        <p:tgtEl>
                                          <p:spTgt spid="2410643"/>
                                        </p:tgtEl>
                                        <p:attrNameLst>
                                          <p:attrName>style.visibility</p:attrName>
                                        </p:attrNameLst>
                                      </p:cBhvr>
                                      <p:to>
                                        <p:strVal val="visible"/>
                                      </p:to>
                                    </p:set>
                                    <p:animEffect transition="in" filter="dissolve">
                                      <p:cBhvr>
                                        <p:cTn id="112" dur="500"/>
                                        <p:tgtEl>
                                          <p:spTgt spid="2410643"/>
                                        </p:tgtEl>
                                      </p:cBhvr>
                                    </p:animEffect>
                                  </p:childTnLst>
                                </p:cTn>
                              </p:par>
                              <p:par>
                                <p:cTn id="113" presetID="9" presetClass="entr" presetSubtype="0" fill="hold" nodeType="withEffect">
                                  <p:stCondLst>
                                    <p:cond delay="0"/>
                                  </p:stCondLst>
                                  <p:childTnLst>
                                    <p:set>
                                      <p:cBhvr>
                                        <p:cTn id="114" dur="1" fill="hold">
                                          <p:stCondLst>
                                            <p:cond delay="0"/>
                                          </p:stCondLst>
                                        </p:cTn>
                                        <p:tgtEl>
                                          <p:spTgt spid="2410644"/>
                                        </p:tgtEl>
                                        <p:attrNameLst>
                                          <p:attrName>style.visibility</p:attrName>
                                        </p:attrNameLst>
                                      </p:cBhvr>
                                      <p:to>
                                        <p:strVal val="visible"/>
                                      </p:to>
                                    </p:set>
                                    <p:animEffect transition="in" filter="dissolve">
                                      <p:cBhvr>
                                        <p:cTn id="115" dur="500"/>
                                        <p:tgtEl>
                                          <p:spTgt spid="2410644"/>
                                        </p:tgtEl>
                                      </p:cBhvr>
                                    </p:animEffect>
                                  </p:childTnLst>
                                </p:cTn>
                              </p:par>
                              <p:par>
                                <p:cTn id="116" presetID="9" presetClass="entr" presetSubtype="0" fill="hold" nodeType="withEffect">
                                  <p:stCondLst>
                                    <p:cond delay="0"/>
                                  </p:stCondLst>
                                  <p:childTnLst>
                                    <p:set>
                                      <p:cBhvr>
                                        <p:cTn id="117" dur="1" fill="hold">
                                          <p:stCondLst>
                                            <p:cond delay="0"/>
                                          </p:stCondLst>
                                        </p:cTn>
                                        <p:tgtEl>
                                          <p:spTgt spid="2410645"/>
                                        </p:tgtEl>
                                        <p:attrNameLst>
                                          <p:attrName>style.visibility</p:attrName>
                                        </p:attrNameLst>
                                      </p:cBhvr>
                                      <p:to>
                                        <p:strVal val="visible"/>
                                      </p:to>
                                    </p:set>
                                    <p:animEffect transition="in" filter="dissolve">
                                      <p:cBhvr>
                                        <p:cTn id="118" dur="500"/>
                                        <p:tgtEl>
                                          <p:spTgt spid="2410645"/>
                                        </p:tgtEl>
                                      </p:cBhvr>
                                    </p:animEffect>
                                  </p:childTnLst>
                                </p:cTn>
                              </p:par>
                              <p:par>
                                <p:cTn id="119" presetID="9" presetClass="entr" presetSubtype="0" fill="hold" nodeType="withEffect">
                                  <p:stCondLst>
                                    <p:cond delay="0"/>
                                  </p:stCondLst>
                                  <p:childTnLst>
                                    <p:set>
                                      <p:cBhvr>
                                        <p:cTn id="120" dur="1" fill="hold">
                                          <p:stCondLst>
                                            <p:cond delay="0"/>
                                          </p:stCondLst>
                                        </p:cTn>
                                        <p:tgtEl>
                                          <p:spTgt spid="2410646"/>
                                        </p:tgtEl>
                                        <p:attrNameLst>
                                          <p:attrName>style.visibility</p:attrName>
                                        </p:attrNameLst>
                                      </p:cBhvr>
                                      <p:to>
                                        <p:strVal val="visible"/>
                                      </p:to>
                                    </p:set>
                                    <p:animEffect transition="in" filter="dissolve">
                                      <p:cBhvr>
                                        <p:cTn id="121" dur="500"/>
                                        <p:tgtEl>
                                          <p:spTgt spid="2410646"/>
                                        </p:tgtEl>
                                      </p:cBhvr>
                                    </p:animEffect>
                                  </p:childTnLst>
                                </p:cTn>
                              </p:par>
                              <p:par>
                                <p:cTn id="122" presetID="9" presetClass="entr" presetSubtype="0" fill="hold" nodeType="withEffect">
                                  <p:stCondLst>
                                    <p:cond delay="0"/>
                                  </p:stCondLst>
                                  <p:childTnLst>
                                    <p:set>
                                      <p:cBhvr>
                                        <p:cTn id="123" dur="1" fill="hold">
                                          <p:stCondLst>
                                            <p:cond delay="0"/>
                                          </p:stCondLst>
                                        </p:cTn>
                                        <p:tgtEl>
                                          <p:spTgt spid="2410647"/>
                                        </p:tgtEl>
                                        <p:attrNameLst>
                                          <p:attrName>style.visibility</p:attrName>
                                        </p:attrNameLst>
                                      </p:cBhvr>
                                      <p:to>
                                        <p:strVal val="visible"/>
                                      </p:to>
                                    </p:set>
                                    <p:animEffect transition="in" filter="dissolve">
                                      <p:cBhvr>
                                        <p:cTn id="124" dur="500"/>
                                        <p:tgtEl>
                                          <p:spTgt spid="2410647"/>
                                        </p:tgtEl>
                                      </p:cBhvr>
                                    </p:animEffect>
                                  </p:childTnLst>
                                </p:cTn>
                              </p:par>
                              <p:par>
                                <p:cTn id="125" presetID="9" presetClass="entr" presetSubtype="0" fill="hold" nodeType="withEffect">
                                  <p:stCondLst>
                                    <p:cond delay="0"/>
                                  </p:stCondLst>
                                  <p:childTnLst>
                                    <p:set>
                                      <p:cBhvr>
                                        <p:cTn id="126" dur="1" fill="hold">
                                          <p:stCondLst>
                                            <p:cond delay="0"/>
                                          </p:stCondLst>
                                        </p:cTn>
                                        <p:tgtEl>
                                          <p:spTgt spid="2410648"/>
                                        </p:tgtEl>
                                        <p:attrNameLst>
                                          <p:attrName>style.visibility</p:attrName>
                                        </p:attrNameLst>
                                      </p:cBhvr>
                                      <p:to>
                                        <p:strVal val="visible"/>
                                      </p:to>
                                    </p:set>
                                    <p:animEffect transition="in" filter="dissolve">
                                      <p:cBhvr>
                                        <p:cTn id="127" dur="500"/>
                                        <p:tgtEl>
                                          <p:spTgt spid="2410648"/>
                                        </p:tgtEl>
                                      </p:cBhvr>
                                    </p:animEffect>
                                  </p:childTnLst>
                                </p:cTn>
                              </p:par>
                              <p:par>
                                <p:cTn id="128" presetID="9" presetClass="entr" presetSubtype="0" fill="hold" nodeType="withEffect">
                                  <p:stCondLst>
                                    <p:cond delay="0"/>
                                  </p:stCondLst>
                                  <p:childTnLst>
                                    <p:set>
                                      <p:cBhvr>
                                        <p:cTn id="129" dur="1" fill="hold">
                                          <p:stCondLst>
                                            <p:cond delay="0"/>
                                          </p:stCondLst>
                                        </p:cTn>
                                        <p:tgtEl>
                                          <p:spTgt spid="2410649"/>
                                        </p:tgtEl>
                                        <p:attrNameLst>
                                          <p:attrName>style.visibility</p:attrName>
                                        </p:attrNameLst>
                                      </p:cBhvr>
                                      <p:to>
                                        <p:strVal val="visible"/>
                                      </p:to>
                                    </p:set>
                                    <p:animEffect transition="in" filter="dissolve">
                                      <p:cBhvr>
                                        <p:cTn id="130" dur="500"/>
                                        <p:tgtEl>
                                          <p:spTgt spid="2410649"/>
                                        </p:tgtEl>
                                      </p:cBhvr>
                                    </p:animEffect>
                                  </p:childTnLst>
                                </p:cTn>
                              </p:par>
                              <p:par>
                                <p:cTn id="131" presetID="9" presetClass="entr" presetSubtype="0" fill="hold" nodeType="withEffect">
                                  <p:stCondLst>
                                    <p:cond delay="0"/>
                                  </p:stCondLst>
                                  <p:childTnLst>
                                    <p:set>
                                      <p:cBhvr>
                                        <p:cTn id="132" dur="1" fill="hold">
                                          <p:stCondLst>
                                            <p:cond delay="0"/>
                                          </p:stCondLst>
                                        </p:cTn>
                                        <p:tgtEl>
                                          <p:spTgt spid="2410650"/>
                                        </p:tgtEl>
                                        <p:attrNameLst>
                                          <p:attrName>style.visibility</p:attrName>
                                        </p:attrNameLst>
                                      </p:cBhvr>
                                      <p:to>
                                        <p:strVal val="visible"/>
                                      </p:to>
                                    </p:set>
                                    <p:animEffect transition="in" filter="dissolve">
                                      <p:cBhvr>
                                        <p:cTn id="133" dur="500"/>
                                        <p:tgtEl>
                                          <p:spTgt spid="2410650"/>
                                        </p:tgtEl>
                                      </p:cBhvr>
                                    </p:animEffect>
                                  </p:childTnLst>
                                </p:cTn>
                              </p:par>
                              <p:par>
                                <p:cTn id="134" presetID="9" presetClass="entr" presetSubtype="0" fill="hold" nodeType="withEffect">
                                  <p:stCondLst>
                                    <p:cond delay="0"/>
                                  </p:stCondLst>
                                  <p:childTnLst>
                                    <p:set>
                                      <p:cBhvr>
                                        <p:cTn id="135" dur="1" fill="hold">
                                          <p:stCondLst>
                                            <p:cond delay="0"/>
                                          </p:stCondLst>
                                        </p:cTn>
                                        <p:tgtEl>
                                          <p:spTgt spid="2410651"/>
                                        </p:tgtEl>
                                        <p:attrNameLst>
                                          <p:attrName>style.visibility</p:attrName>
                                        </p:attrNameLst>
                                      </p:cBhvr>
                                      <p:to>
                                        <p:strVal val="visible"/>
                                      </p:to>
                                    </p:set>
                                    <p:animEffect transition="in" filter="dissolve">
                                      <p:cBhvr>
                                        <p:cTn id="136" dur="500"/>
                                        <p:tgtEl>
                                          <p:spTgt spid="2410651"/>
                                        </p:tgtEl>
                                      </p:cBhvr>
                                    </p:animEffect>
                                  </p:childTnLst>
                                </p:cTn>
                              </p:par>
                              <p:par>
                                <p:cTn id="137" presetID="9" presetClass="entr" presetSubtype="0" fill="hold" nodeType="withEffect">
                                  <p:stCondLst>
                                    <p:cond delay="0"/>
                                  </p:stCondLst>
                                  <p:childTnLst>
                                    <p:set>
                                      <p:cBhvr>
                                        <p:cTn id="138" dur="1" fill="hold">
                                          <p:stCondLst>
                                            <p:cond delay="0"/>
                                          </p:stCondLst>
                                        </p:cTn>
                                        <p:tgtEl>
                                          <p:spTgt spid="2410652"/>
                                        </p:tgtEl>
                                        <p:attrNameLst>
                                          <p:attrName>style.visibility</p:attrName>
                                        </p:attrNameLst>
                                      </p:cBhvr>
                                      <p:to>
                                        <p:strVal val="visible"/>
                                      </p:to>
                                    </p:set>
                                    <p:animEffect transition="in" filter="dissolve">
                                      <p:cBhvr>
                                        <p:cTn id="139" dur="500"/>
                                        <p:tgtEl>
                                          <p:spTgt spid="2410652"/>
                                        </p:tgtEl>
                                      </p:cBhvr>
                                    </p:animEffect>
                                  </p:childTnLst>
                                </p:cTn>
                              </p:par>
                              <p:par>
                                <p:cTn id="140" presetID="9" presetClass="entr" presetSubtype="0" fill="hold" nodeType="withEffect">
                                  <p:stCondLst>
                                    <p:cond delay="0"/>
                                  </p:stCondLst>
                                  <p:childTnLst>
                                    <p:set>
                                      <p:cBhvr>
                                        <p:cTn id="141" dur="1" fill="hold">
                                          <p:stCondLst>
                                            <p:cond delay="0"/>
                                          </p:stCondLst>
                                        </p:cTn>
                                        <p:tgtEl>
                                          <p:spTgt spid="2410653"/>
                                        </p:tgtEl>
                                        <p:attrNameLst>
                                          <p:attrName>style.visibility</p:attrName>
                                        </p:attrNameLst>
                                      </p:cBhvr>
                                      <p:to>
                                        <p:strVal val="visible"/>
                                      </p:to>
                                    </p:set>
                                    <p:animEffect transition="in" filter="dissolve">
                                      <p:cBhvr>
                                        <p:cTn id="142" dur="500"/>
                                        <p:tgtEl>
                                          <p:spTgt spid="2410653"/>
                                        </p:tgtEl>
                                      </p:cBhvr>
                                    </p:animEffect>
                                  </p:childTnLst>
                                </p:cTn>
                              </p:par>
                              <p:par>
                                <p:cTn id="143" presetID="9" presetClass="entr" presetSubtype="0" fill="hold" nodeType="withEffect">
                                  <p:stCondLst>
                                    <p:cond delay="0"/>
                                  </p:stCondLst>
                                  <p:childTnLst>
                                    <p:set>
                                      <p:cBhvr>
                                        <p:cTn id="144" dur="1" fill="hold">
                                          <p:stCondLst>
                                            <p:cond delay="0"/>
                                          </p:stCondLst>
                                        </p:cTn>
                                        <p:tgtEl>
                                          <p:spTgt spid="2410654"/>
                                        </p:tgtEl>
                                        <p:attrNameLst>
                                          <p:attrName>style.visibility</p:attrName>
                                        </p:attrNameLst>
                                      </p:cBhvr>
                                      <p:to>
                                        <p:strVal val="visible"/>
                                      </p:to>
                                    </p:set>
                                    <p:animEffect transition="in" filter="dissolve">
                                      <p:cBhvr>
                                        <p:cTn id="145" dur="500"/>
                                        <p:tgtEl>
                                          <p:spTgt spid="2410654"/>
                                        </p:tgtEl>
                                      </p:cBhvr>
                                    </p:animEffect>
                                  </p:childTnLst>
                                </p:cTn>
                              </p:par>
                              <p:par>
                                <p:cTn id="146" presetID="9" presetClass="entr" presetSubtype="0" fill="hold" nodeType="withEffect">
                                  <p:stCondLst>
                                    <p:cond delay="0"/>
                                  </p:stCondLst>
                                  <p:childTnLst>
                                    <p:set>
                                      <p:cBhvr>
                                        <p:cTn id="147" dur="1" fill="hold">
                                          <p:stCondLst>
                                            <p:cond delay="0"/>
                                          </p:stCondLst>
                                        </p:cTn>
                                        <p:tgtEl>
                                          <p:spTgt spid="2410655"/>
                                        </p:tgtEl>
                                        <p:attrNameLst>
                                          <p:attrName>style.visibility</p:attrName>
                                        </p:attrNameLst>
                                      </p:cBhvr>
                                      <p:to>
                                        <p:strVal val="visible"/>
                                      </p:to>
                                    </p:set>
                                    <p:animEffect transition="in" filter="dissolve">
                                      <p:cBhvr>
                                        <p:cTn id="148" dur="500"/>
                                        <p:tgtEl>
                                          <p:spTgt spid="2410655"/>
                                        </p:tgtEl>
                                      </p:cBhvr>
                                    </p:animEffect>
                                  </p:childTnLst>
                                </p:cTn>
                              </p:par>
                              <p:par>
                                <p:cTn id="149" presetID="9" presetClass="entr" presetSubtype="0" fill="hold" nodeType="withEffect">
                                  <p:stCondLst>
                                    <p:cond delay="0"/>
                                  </p:stCondLst>
                                  <p:childTnLst>
                                    <p:set>
                                      <p:cBhvr>
                                        <p:cTn id="150" dur="1" fill="hold">
                                          <p:stCondLst>
                                            <p:cond delay="0"/>
                                          </p:stCondLst>
                                        </p:cTn>
                                        <p:tgtEl>
                                          <p:spTgt spid="2410656"/>
                                        </p:tgtEl>
                                        <p:attrNameLst>
                                          <p:attrName>style.visibility</p:attrName>
                                        </p:attrNameLst>
                                      </p:cBhvr>
                                      <p:to>
                                        <p:strVal val="visible"/>
                                      </p:to>
                                    </p:set>
                                    <p:animEffect transition="in" filter="dissolve">
                                      <p:cBhvr>
                                        <p:cTn id="151" dur="500"/>
                                        <p:tgtEl>
                                          <p:spTgt spid="2410656"/>
                                        </p:tgtEl>
                                      </p:cBhvr>
                                    </p:animEffect>
                                  </p:childTnLst>
                                </p:cTn>
                              </p:par>
                              <p:par>
                                <p:cTn id="152" presetID="9" presetClass="entr" presetSubtype="0" fill="hold" nodeType="withEffect">
                                  <p:stCondLst>
                                    <p:cond delay="0"/>
                                  </p:stCondLst>
                                  <p:childTnLst>
                                    <p:set>
                                      <p:cBhvr>
                                        <p:cTn id="153" dur="1" fill="hold">
                                          <p:stCondLst>
                                            <p:cond delay="0"/>
                                          </p:stCondLst>
                                        </p:cTn>
                                        <p:tgtEl>
                                          <p:spTgt spid="2410657"/>
                                        </p:tgtEl>
                                        <p:attrNameLst>
                                          <p:attrName>style.visibility</p:attrName>
                                        </p:attrNameLst>
                                      </p:cBhvr>
                                      <p:to>
                                        <p:strVal val="visible"/>
                                      </p:to>
                                    </p:set>
                                    <p:animEffect transition="in" filter="dissolve">
                                      <p:cBhvr>
                                        <p:cTn id="154" dur="500"/>
                                        <p:tgtEl>
                                          <p:spTgt spid="2410657"/>
                                        </p:tgtEl>
                                      </p:cBhvr>
                                    </p:animEffect>
                                  </p:childTnLst>
                                </p:cTn>
                              </p:par>
                              <p:par>
                                <p:cTn id="155" presetID="9" presetClass="entr" presetSubtype="0" fill="hold" nodeType="withEffect">
                                  <p:stCondLst>
                                    <p:cond delay="0"/>
                                  </p:stCondLst>
                                  <p:childTnLst>
                                    <p:set>
                                      <p:cBhvr>
                                        <p:cTn id="156" dur="1" fill="hold">
                                          <p:stCondLst>
                                            <p:cond delay="0"/>
                                          </p:stCondLst>
                                        </p:cTn>
                                        <p:tgtEl>
                                          <p:spTgt spid="2410658"/>
                                        </p:tgtEl>
                                        <p:attrNameLst>
                                          <p:attrName>style.visibility</p:attrName>
                                        </p:attrNameLst>
                                      </p:cBhvr>
                                      <p:to>
                                        <p:strVal val="visible"/>
                                      </p:to>
                                    </p:set>
                                    <p:animEffect transition="in" filter="dissolve">
                                      <p:cBhvr>
                                        <p:cTn id="157" dur="500"/>
                                        <p:tgtEl>
                                          <p:spTgt spid="2410658"/>
                                        </p:tgtEl>
                                      </p:cBhvr>
                                    </p:animEffect>
                                  </p:childTnLst>
                                </p:cTn>
                              </p:par>
                              <p:par>
                                <p:cTn id="158" presetID="9" presetClass="entr" presetSubtype="0" fill="hold" nodeType="withEffect">
                                  <p:stCondLst>
                                    <p:cond delay="0"/>
                                  </p:stCondLst>
                                  <p:childTnLst>
                                    <p:set>
                                      <p:cBhvr>
                                        <p:cTn id="159" dur="1" fill="hold">
                                          <p:stCondLst>
                                            <p:cond delay="0"/>
                                          </p:stCondLst>
                                        </p:cTn>
                                        <p:tgtEl>
                                          <p:spTgt spid="2410659"/>
                                        </p:tgtEl>
                                        <p:attrNameLst>
                                          <p:attrName>style.visibility</p:attrName>
                                        </p:attrNameLst>
                                      </p:cBhvr>
                                      <p:to>
                                        <p:strVal val="visible"/>
                                      </p:to>
                                    </p:set>
                                    <p:animEffect transition="in" filter="dissolve">
                                      <p:cBhvr>
                                        <p:cTn id="160" dur="500"/>
                                        <p:tgtEl>
                                          <p:spTgt spid="2410659"/>
                                        </p:tgtEl>
                                      </p:cBhvr>
                                    </p:animEffect>
                                  </p:childTnLst>
                                </p:cTn>
                              </p:par>
                              <p:par>
                                <p:cTn id="161" presetID="9" presetClass="entr" presetSubtype="0" fill="hold" nodeType="withEffect">
                                  <p:stCondLst>
                                    <p:cond delay="0"/>
                                  </p:stCondLst>
                                  <p:childTnLst>
                                    <p:set>
                                      <p:cBhvr>
                                        <p:cTn id="162" dur="1" fill="hold">
                                          <p:stCondLst>
                                            <p:cond delay="0"/>
                                          </p:stCondLst>
                                        </p:cTn>
                                        <p:tgtEl>
                                          <p:spTgt spid="2410660"/>
                                        </p:tgtEl>
                                        <p:attrNameLst>
                                          <p:attrName>style.visibility</p:attrName>
                                        </p:attrNameLst>
                                      </p:cBhvr>
                                      <p:to>
                                        <p:strVal val="visible"/>
                                      </p:to>
                                    </p:set>
                                    <p:animEffect transition="in" filter="dissolve">
                                      <p:cBhvr>
                                        <p:cTn id="163" dur="500"/>
                                        <p:tgtEl>
                                          <p:spTgt spid="2410660"/>
                                        </p:tgtEl>
                                      </p:cBhvr>
                                    </p:animEffect>
                                  </p:childTnLst>
                                </p:cTn>
                              </p:par>
                              <p:par>
                                <p:cTn id="164" presetID="9" presetClass="entr" presetSubtype="0" fill="hold" nodeType="withEffect">
                                  <p:stCondLst>
                                    <p:cond delay="0"/>
                                  </p:stCondLst>
                                  <p:childTnLst>
                                    <p:set>
                                      <p:cBhvr>
                                        <p:cTn id="165" dur="1" fill="hold">
                                          <p:stCondLst>
                                            <p:cond delay="0"/>
                                          </p:stCondLst>
                                        </p:cTn>
                                        <p:tgtEl>
                                          <p:spTgt spid="2410661"/>
                                        </p:tgtEl>
                                        <p:attrNameLst>
                                          <p:attrName>style.visibility</p:attrName>
                                        </p:attrNameLst>
                                      </p:cBhvr>
                                      <p:to>
                                        <p:strVal val="visible"/>
                                      </p:to>
                                    </p:set>
                                    <p:animEffect transition="in" filter="dissolve">
                                      <p:cBhvr>
                                        <p:cTn id="166" dur="500"/>
                                        <p:tgtEl>
                                          <p:spTgt spid="2410661"/>
                                        </p:tgtEl>
                                      </p:cBhvr>
                                    </p:animEffect>
                                  </p:childTnLst>
                                </p:cTn>
                              </p:par>
                              <p:par>
                                <p:cTn id="167" presetID="9" presetClass="entr" presetSubtype="0" fill="hold" nodeType="withEffect">
                                  <p:stCondLst>
                                    <p:cond delay="0"/>
                                  </p:stCondLst>
                                  <p:childTnLst>
                                    <p:set>
                                      <p:cBhvr>
                                        <p:cTn id="168" dur="1" fill="hold">
                                          <p:stCondLst>
                                            <p:cond delay="0"/>
                                          </p:stCondLst>
                                        </p:cTn>
                                        <p:tgtEl>
                                          <p:spTgt spid="2410662"/>
                                        </p:tgtEl>
                                        <p:attrNameLst>
                                          <p:attrName>style.visibility</p:attrName>
                                        </p:attrNameLst>
                                      </p:cBhvr>
                                      <p:to>
                                        <p:strVal val="visible"/>
                                      </p:to>
                                    </p:set>
                                    <p:animEffect transition="in" filter="dissolve">
                                      <p:cBhvr>
                                        <p:cTn id="169" dur="500"/>
                                        <p:tgtEl>
                                          <p:spTgt spid="2410662"/>
                                        </p:tgtEl>
                                      </p:cBhvr>
                                    </p:animEffect>
                                  </p:childTnLst>
                                </p:cTn>
                              </p:par>
                              <p:par>
                                <p:cTn id="170" presetID="9" presetClass="entr" presetSubtype="0" fill="hold" nodeType="withEffect">
                                  <p:stCondLst>
                                    <p:cond delay="0"/>
                                  </p:stCondLst>
                                  <p:childTnLst>
                                    <p:set>
                                      <p:cBhvr>
                                        <p:cTn id="171" dur="1" fill="hold">
                                          <p:stCondLst>
                                            <p:cond delay="0"/>
                                          </p:stCondLst>
                                        </p:cTn>
                                        <p:tgtEl>
                                          <p:spTgt spid="2410663"/>
                                        </p:tgtEl>
                                        <p:attrNameLst>
                                          <p:attrName>style.visibility</p:attrName>
                                        </p:attrNameLst>
                                      </p:cBhvr>
                                      <p:to>
                                        <p:strVal val="visible"/>
                                      </p:to>
                                    </p:set>
                                    <p:animEffect transition="in" filter="dissolve">
                                      <p:cBhvr>
                                        <p:cTn id="172" dur="500"/>
                                        <p:tgtEl>
                                          <p:spTgt spid="2410663"/>
                                        </p:tgtEl>
                                      </p:cBhvr>
                                    </p:animEffect>
                                  </p:childTnLst>
                                </p:cTn>
                              </p:par>
                              <p:par>
                                <p:cTn id="173" presetID="9" presetClass="entr" presetSubtype="0" fill="hold" nodeType="withEffect">
                                  <p:stCondLst>
                                    <p:cond delay="0"/>
                                  </p:stCondLst>
                                  <p:childTnLst>
                                    <p:set>
                                      <p:cBhvr>
                                        <p:cTn id="174" dur="1" fill="hold">
                                          <p:stCondLst>
                                            <p:cond delay="0"/>
                                          </p:stCondLst>
                                        </p:cTn>
                                        <p:tgtEl>
                                          <p:spTgt spid="2410664"/>
                                        </p:tgtEl>
                                        <p:attrNameLst>
                                          <p:attrName>style.visibility</p:attrName>
                                        </p:attrNameLst>
                                      </p:cBhvr>
                                      <p:to>
                                        <p:strVal val="visible"/>
                                      </p:to>
                                    </p:set>
                                    <p:animEffect transition="in" filter="dissolve">
                                      <p:cBhvr>
                                        <p:cTn id="175" dur="500"/>
                                        <p:tgtEl>
                                          <p:spTgt spid="2410664"/>
                                        </p:tgtEl>
                                      </p:cBhvr>
                                    </p:animEffect>
                                  </p:childTnLst>
                                </p:cTn>
                              </p:par>
                              <p:par>
                                <p:cTn id="176" presetID="9" presetClass="entr" presetSubtype="0" fill="hold" nodeType="withEffect">
                                  <p:stCondLst>
                                    <p:cond delay="0"/>
                                  </p:stCondLst>
                                  <p:childTnLst>
                                    <p:set>
                                      <p:cBhvr>
                                        <p:cTn id="177" dur="1" fill="hold">
                                          <p:stCondLst>
                                            <p:cond delay="0"/>
                                          </p:stCondLst>
                                        </p:cTn>
                                        <p:tgtEl>
                                          <p:spTgt spid="2410665"/>
                                        </p:tgtEl>
                                        <p:attrNameLst>
                                          <p:attrName>style.visibility</p:attrName>
                                        </p:attrNameLst>
                                      </p:cBhvr>
                                      <p:to>
                                        <p:strVal val="visible"/>
                                      </p:to>
                                    </p:set>
                                    <p:animEffect transition="in" filter="dissolve">
                                      <p:cBhvr>
                                        <p:cTn id="178" dur="500"/>
                                        <p:tgtEl>
                                          <p:spTgt spid="2410665"/>
                                        </p:tgtEl>
                                      </p:cBhvr>
                                    </p:animEffect>
                                  </p:childTnLst>
                                </p:cTn>
                              </p:par>
                              <p:par>
                                <p:cTn id="179" presetID="9" presetClass="entr" presetSubtype="0" fill="hold" nodeType="withEffect">
                                  <p:stCondLst>
                                    <p:cond delay="0"/>
                                  </p:stCondLst>
                                  <p:childTnLst>
                                    <p:set>
                                      <p:cBhvr>
                                        <p:cTn id="180" dur="1" fill="hold">
                                          <p:stCondLst>
                                            <p:cond delay="0"/>
                                          </p:stCondLst>
                                        </p:cTn>
                                        <p:tgtEl>
                                          <p:spTgt spid="2410666"/>
                                        </p:tgtEl>
                                        <p:attrNameLst>
                                          <p:attrName>style.visibility</p:attrName>
                                        </p:attrNameLst>
                                      </p:cBhvr>
                                      <p:to>
                                        <p:strVal val="visible"/>
                                      </p:to>
                                    </p:set>
                                    <p:animEffect transition="in" filter="dissolve">
                                      <p:cBhvr>
                                        <p:cTn id="181" dur="500"/>
                                        <p:tgtEl>
                                          <p:spTgt spid="2410666"/>
                                        </p:tgtEl>
                                      </p:cBhvr>
                                    </p:animEffect>
                                  </p:childTnLst>
                                </p:cTn>
                              </p:par>
                              <p:par>
                                <p:cTn id="182" presetID="9" presetClass="entr" presetSubtype="0" fill="hold" nodeType="withEffect">
                                  <p:stCondLst>
                                    <p:cond delay="0"/>
                                  </p:stCondLst>
                                  <p:childTnLst>
                                    <p:set>
                                      <p:cBhvr>
                                        <p:cTn id="183" dur="1" fill="hold">
                                          <p:stCondLst>
                                            <p:cond delay="0"/>
                                          </p:stCondLst>
                                        </p:cTn>
                                        <p:tgtEl>
                                          <p:spTgt spid="2410667"/>
                                        </p:tgtEl>
                                        <p:attrNameLst>
                                          <p:attrName>style.visibility</p:attrName>
                                        </p:attrNameLst>
                                      </p:cBhvr>
                                      <p:to>
                                        <p:strVal val="visible"/>
                                      </p:to>
                                    </p:set>
                                    <p:animEffect transition="in" filter="dissolve">
                                      <p:cBhvr>
                                        <p:cTn id="184" dur="500"/>
                                        <p:tgtEl>
                                          <p:spTgt spid="24106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0526" grpId="0" animBg="1"/>
      <p:bldP spid="2410537" grpId="0"/>
      <p:bldP spid="2410538" grpId="0"/>
      <p:bldP spid="2410568" grpId="0" animBg="1"/>
      <p:bldP spid="2410569" grpId="0"/>
      <p:bldP spid="2410571" grpId="0" animBg="1"/>
      <p:bldP spid="2410611" grpId="0"/>
      <p:bldP spid="2410612" grpId="0"/>
      <p:bldP spid="2410613" grpId="0"/>
      <p:bldP spid="2410615" grpId="0" animBg="1"/>
      <p:bldP spid="2410628" grpId="0" animBg="1"/>
      <p:bldP spid="2410638" grpId="0" animBg="1"/>
      <p:bldP spid="2410639" grpId="0" animBg="1"/>
      <p:bldP spid="2410640" grpId="0" animBg="1"/>
      <p:bldP spid="2410641" grpId="0" animBg="1"/>
      <p:bldP spid="2410642" grpId="0" animBg="1"/>
      <p:bldP spid="2410643" grpId="0" animBg="1"/>
      <p:bldP spid="2410644" grpId="0" animBg="1"/>
      <p:bldP spid="2410645" grpId="0"/>
      <p:bldP spid="2410646" grpId="0"/>
      <p:bldP spid="2410647" grpId="0"/>
      <p:bldP spid="2410648" grpId="0"/>
      <p:bldP spid="2410649" grpId="0"/>
      <p:bldP spid="2410650" grpId="0"/>
      <p:bldP spid="2410651" grpId="0"/>
      <p:bldP spid="2410652" grpId="0"/>
      <p:bldP spid="2410653" grpId="0"/>
      <p:bldP spid="2410654" grpId="0"/>
      <p:bldP spid="2410655" grpId="0"/>
      <p:bldP spid="2410656" grpId="0"/>
      <p:bldP spid="2410657" grpId="0"/>
      <p:bldP spid="2410658" grpId="0"/>
      <p:bldP spid="2410659" grpId="0"/>
      <p:bldP spid="2410660" grpId="0"/>
      <p:bldP spid="2410661" grpId="0"/>
      <p:bldP spid="2410662" grpId="0"/>
      <p:bldP spid="2410663"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2226" name="Text Box 2"/>
          <p:cNvSpPr txBox="1"/>
          <p:nvPr/>
        </p:nvSpPr>
        <p:spPr>
          <a:xfrm>
            <a:off x="474663" y="631825"/>
            <a:ext cx="15621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4.</a:t>
            </a:r>
            <a:r>
              <a:rPr lang="zh-CN" altLang="en-US" dirty="0">
                <a:latin typeface="Times New Roman" panose="02020603050405020304" pitchFamily="18" charset="0"/>
              </a:rPr>
              <a:t>串扰 </a:t>
            </a:r>
            <a:endParaRPr lang="zh-CN" altLang="en-US" dirty="0">
              <a:latin typeface="Times New Roman" panose="02020603050405020304" pitchFamily="18" charset="0"/>
            </a:endParaRPr>
          </a:p>
        </p:txBody>
      </p:sp>
      <p:sp>
        <p:nvSpPr>
          <p:cNvPr id="52227" name="Text Box 3"/>
          <p:cNvSpPr txBox="1"/>
          <p:nvPr/>
        </p:nvSpPr>
        <p:spPr>
          <a:xfrm>
            <a:off x="873125" y="1363663"/>
            <a:ext cx="7710488"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串扰：</a:t>
            </a:r>
            <a:r>
              <a:rPr lang="zh-CN" altLang="en-US" sz="2800" dirty="0">
                <a:solidFill>
                  <a:schemeClr val="tx1"/>
                </a:solidFill>
                <a:latin typeface="黑体" panose="02010609060101010101" pitchFamily="49" charset="-122"/>
                <a:ea typeface="黑体" panose="02010609060101010101" pitchFamily="49" charset="-122"/>
              </a:rPr>
              <a:t>断开通道的信号电压耦合到接收通道引起</a:t>
            </a:r>
            <a:endParaRPr lang="zh-CN" altLang="en-US" sz="2800" dirty="0">
              <a:solidFill>
                <a:schemeClr val="tx1"/>
              </a:solidFill>
              <a:latin typeface="黑体" panose="02010609060101010101" pitchFamily="49" charset="-122"/>
              <a:ea typeface="黑体" panose="02010609060101010101" pitchFamily="49" charset="-122"/>
            </a:endParaRPr>
          </a:p>
          <a:p>
            <a:pPr eaLnBrk="1" hangingPunct="1"/>
            <a:r>
              <a:rPr lang="zh-CN" altLang="en-US" sz="2800" dirty="0">
                <a:solidFill>
                  <a:schemeClr val="tx1"/>
                </a:solidFill>
                <a:latin typeface="黑体" panose="02010609060101010101" pitchFamily="49" charset="-122"/>
                <a:ea typeface="黑体" panose="02010609060101010101" pitchFamily="49" charset="-122"/>
              </a:rPr>
              <a:t>      的干扰。</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411524" name="Text Box 4"/>
          <p:cNvSpPr txBox="1">
            <a:spLocks noChangeArrowheads="1"/>
          </p:cNvSpPr>
          <p:nvPr/>
        </p:nvSpPr>
        <p:spPr bwMode="auto">
          <a:xfrm>
            <a:off x="1854200" y="4762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52229" name="Rectangle 5"/>
          <p:cNvSpPr/>
          <p:nvPr/>
        </p:nvSpPr>
        <p:spPr>
          <a:xfrm>
            <a:off x="155575" y="2428875"/>
            <a:ext cx="3749675" cy="374967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2230" name="Line 6"/>
          <p:cNvSpPr/>
          <p:nvPr/>
        </p:nvSpPr>
        <p:spPr>
          <a:xfrm flipV="1">
            <a:off x="681038" y="2708275"/>
            <a:ext cx="1587" cy="422275"/>
          </a:xfrm>
          <a:prstGeom prst="line">
            <a:avLst/>
          </a:prstGeom>
          <a:ln w="0" cap="flat" cmpd="sng">
            <a:solidFill>
              <a:srgbClr val="0000FF"/>
            </a:solidFill>
            <a:prstDash val="solid"/>
            <a:headEnd type="none" w="med" len="med"/>
            <a:tailEnd type="none" w="med" len="med"/>
          </a:ln>
        </p:spPr>
      </p:sp>
      <p:sp>
        <p:nvSpPr>
          <p:cNvPr id="52231" name="Line 7"/>
          <p:cNvSpPr/>
          <p:nvPr/>
        </p:nvSpPr>
        <p:spPr>
          <a:xfrm>
            <a:off x="681038" y="2708275"/>
            <a:ext cx="984250" cy="0"/>
          </a:xfrm>
          <a:prstGeom prst="line">
            <a:avLst/>
          </a:prstGeom>
          <a:ln w="0" cap="flat" cmpd="sng">
            <a:solidFill>
              <a:srgbClr val="0000FF"/>
            </a:solidFill>
            <a:prstDash val="solid"/>
            <a:headEnd type="none" w="med" len="med"/>
            <a:tailEnd type="none" w="med" len="med"/>
          </a:ln>
        </p:spPr>
      </p:sp>
      <p:sp>
        <p:nvSpPr>
          <p:cNvPr id="52232" name="Rectangle 8"/>
          <p:cNvSpPr/>
          <p:nvPr/>
        </p:nvSpPr>
        <p:spPr>
          <a:xfrm>
            <a:off x="1366838" y="2673350"/>
            <a:ext cx="292100" cy="88900"/>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33" name="Line 9"/>
          <p:cNvSpPr/>
          <p:nvPr/>
        </p:nvSpPr>
        <p:spPr>
          <a:xfrm>
            <a:off x="1658938" y="2708275"/>
            <a:ext cx="531812" cy="1588"/>
          </a:xfrm>
          <a:prstGeom prst="line">
            <a:avLst/>
          </a:prstGeom>
          <a:ln w="0" cap="flat" cmpd="sng">
            <a:solidFill>
              <a:srgbClr val="0000FF"/>
            </a:solidFill>
            <a:prstDash val="solid"/>
            <a:headEnd type="none" w="med" len="med"/>
            <a:tailEnd type="none" w="med" len="med"/>
          </a:ln>
        </p:spPr>
      </p:sp>
      <p:sp>
        <p:nvSpPr>
          <p:cNvPr id="52234" name="Line 10"/>
          <p:cNvSpPr/>
          <p:nvPr/>
        </p:nvSpPr>
        <p:spPr>
          <a:xfrm>
            <a:off x="2190750" y="2620963"/>
            <a:ext cx="1588" cy="193675"/>
          </a:xfrm>
          <a:prstGeom prst="line">
            <a:avLst/>
          </a:prstGeom>
          <a:ln w="0" cap="flat" cmpd="sng">
            <a:solidFill>
              <a:srgbClr val="0000FF"/>
            </a:solidFill>
            <a:prstDash val="solid"/>
            <a:headEnd type="none" w="med" len="med"/>
            <a:tailEnd type="none" w="med" len="med"/>
          </a:ln>
        </p:spPr>
      </p:sp>
      <p:sp>
        <p:nvSpPr>
          <p:cNvPr id="52235" name="Line 11"/>
          <p:cNvSpPr/>
          <p:nvPr/>
        </p:nvSpPr>
        <p:spPr>
          <a:xfrm>
            <a:off x="2259013" y="2620963"/>
            <a:ext cx="1587" cy="193675"/>
          </a:xfrm>
          <a:prstGeom prst="line">
            <a:avLst/>
          </a:prstGeom>
          <a:ln w="0" cap="flat" cmpd="sng">
            <a:solidFill>
              <a:srgbClr val="0000FF"/>
            </a:solidFill>
            <a:prstDash val="solid"/>
            <a:headEnd type="none" w="med" len="med"/>
            <a:tailEnd type="none" w="med" len="med"/>
          </a:ln>
        </p:spPr>
      </p:sp>
      <p:sp>
        <p:nvSpPr>
          <p:cNvPr id="52236" name="Line 12"/>
          <p:cNvSpPr/>
          <p:nvPr/>
        </p:nvSpPr>
        <p:spPr>
          <a:xfrm>
            <a:off x="2259013" y="2708275"/>
            <a:ext cx="481012" cy="1588"/>
          </a:xfrm>
          <a:prstGeom prst="line">
            <a:avLst/>
          </a:prstGeom>
          <a:ln w="0" cap="flat" cmpd="sng">
            <a:solidFill>
              <a:srgbClr val="0000FF"/>
            </a:solidFill>
            <a:prstDash val="solid"/>
            <a:headEnd type="none" w="med" len="med"/>
            <a:tailEnd type="none" w="med" len="med"/>
          </a:ln>
        </p:spPr>
      </p:sp>
      <p:sp>
        <p:nvSpPr>
          <p:cNvPr id="52237" name="Line 13"/>
          <p:cNvSpPr/>
          <p:nvPr/>
        </p:nvSpPr>
        <p:spPr>
          <a:xfrm>
            <a:off x="2740025" y="2708275"/>
            <a:ext cx="1588" cy="1865313"/>
          </a:xfrm>
          <a:prstGeom prst="line">
            <a:avLst/>
          </a:prstGeom>
          <a:ln w="0" cap="flat" cmpd="sng">
            <a:solidFill>
              <a:srgbClr val="0000FF"/>
            </a:solidFill>
            <a:prstDash val="solid"/>
            <a:headEnd type="none" w="med" len="med"/>
            <a:tailEnd type="none" w="med" len="med"/>
          </a:ln>
        </p:spPr>
      </p:sp>
      <p:sp>
        <p:nvSpPr>
          <p:cNvPr id="52238" name="Line 14"/>
          <p:cNvSpPr/>
          <p:nvPr/>
        </p:nvSpPr>
        <p:spPr>
          <a:xfrm>
            <a:off x="1916113" y="2708275"/>
            <a:ext cx="1587" cy="369888"/>
          </a:xfrm>
          <a:prstGeom prst="line">
            <a:avLst/>
          </a:prstGeom>
          <a:ln w="0" cap="flat" cmpd="sng">
            <a:solidFill>
              <a:srgbClr val="0000FF"/>
            </a:solidFill>
            <a:prstDash val="solid"/>
            <a:headEnd type="none" w="med" len="med"/>
            <a:tailEnd type="none" w="med" len="med"/>
          </a:ln>
        </p:spPr>
      </p:sp>
      <p:sp>
        <p:nvSpPr>
          <p:cNvPr id="52239" name="Line 15"/>
          <p:cNvSpPr/>
          <p:nvPr/>
        </p:nvSpPr>
        <p:spPr>
          <a:xfrm>
            <a:off x="1830388" y="3078163"/>
            <a:ext cx="188912" cy="1587"/>
          </a:xfrm>
          <a:prstGeom prst="line">
            <a:avLst/>
          </a:prstGeom>
          <a:ln w="0" cap="flat" cmpd="sng">
            <a:solidFill>
              <a:srgbClr val="0000FF"/>
            </a:solidFill>
            <a:prstDash val="solid"/>
            <a:headEnd type="none" w="med" len="med"/>
            <a:tailEnd type="none" w="med" len="med"/>
          </a:ln>
        </p:spPr>
      </p:sp>
      <p:sp>
        <p:nvSpPr>
          <p:cNvPr id="52240" name="Line 16"/>
          <p:cNvSpPr/>
          <p:nvPr/>
        </p:nvSpPr>
        <p:spPr>
          <a:xfrm>
            <a:off x="1830388" y="3130550"/>
            <a:ext cx="188912" cy="1588"/>
          </a:xfrm>
          <a:prstGeom prst="line">
            <a:avLst/>
          </a:prstGeom>
          <a:ln w="0" cap="flat" cmpd="sng">
            <a:solidFill>
              <a:srgbClr val="0000FF"/>
            </a:solidFill>
            <a:prstDash val="solid"/>
            <a:headEnd type="none" w="med" len="med"/>
            <a:tailEnd type="none" w="med" len="med"/>
          </a:ln>
        </p:spPr>
      </p:sp>
      <p:sp>
        <p:nvSpPr>
          <p:cNvPr id="52241" name="Line 17"/>
          <p:cNvSpPr/>
          <p:nvPr/>
        </p:nvSpPr>
        <p:spPr>
          <a:xfrm>
            <a:off x="1916113" y="3130550"/>
            <a:ext cx="1587" cy="211138"/>
          </a:xfrm>
          <a:prstGeom prst="line">
            <a:avLst/>
          </a:prstGeom>
          <a:ln w="0" cap="flat" cmpd="sng">
            <a:solidFill>
              <a:srgbClr val="0000FF"/>
            </a:solidFill>
            <a:prstDash val="solid"/>
            <a:headEnd type="none" w="med" len="med"/>
            <a:tailEnd type="none" w="med" len="med"/>
          </a:ln>
        </p:spPr>
      </p:sp>
      <p:sp>
        <p:nvSpPr>
          <p:cNvPr id="52242" name="Line 18"/>
          <p:cNvSpPr/>
          <p:nvPr/>
        </p:nvSpPr>
        <p:spPr>
          <a:xfrm>
            <a:off x="1797050" y="3341688"/>
            <a:ext cx="239713" cy="1587"/>
          </a:xfrm>
          <a:prstGeom prst="line">
            <a:avLst/>
          </a:prstGeom>
          <a:ln w="0" cap="flat" cmpd="sng">
            <a:solidFill>
              <a:srgbClr val="0000FF"/>
            </a:solidFill>
            <a:prstDash val="solid"/>
            <a:headEnd type="none" w="med" len="med"/>
            <a:tailEnd type="none" w="med" len="med"/>
          </a:ln>
        </p:spPr>
      </p:sp>
      <p:sp>
        <p:nvSpPr>
          <p:cNvPr id="52243" name="Line 19"/>
          <p:cNvSpPr/>
          <p:nvPr/>
        </p:nvSpPr>
        <p:spPr>
          <a:xfrm>
            <a:off x="681038" y="3406775"/>
            <a:ext cx="1587" cy="287338"/>
          </a:xfrm>
          <a:prstGeom prst="line">
            <a:avLst/>
          </a:prstGeom>
          <a:ln w="0" cap="flat" cmpd="sng">
            <a:solidFill>
              <a:srgbClr val="0000FF"/>
            </a:solidFill>
            <a:prstDash val="solid"/>
            <a:headEnd type="none" w="med" len="med"/>
            <a:tailEnd type="none" w="med" len="med"/>
          </a:ln>
        </p:spPr>
      </p:sp>
      <p:sp>
        <p:nvSpPr>
          <p:cNvPr id="52244" name="Line 20"/>
          <p:cNvSpPr/>
          <p:nvPr/>
        </p:nvSpPr>
        <p:spPr>
          <a:xfrm>
            <a:off x="577850" y="3694113"/>
            <a:ext cx="223838" cy="1587"/>
          </a:xfrm>
          <a:prstGeom prst="line">
            <a:avLst/>
          </a:prstGeom>
          <a:ln w="0" cap="flat" cmpd="sng">
            <a:solidFill>
              <a:srgbClr val="0000FF"/>
            </a:solidFill>
            <a:prstDash val="solid"/>
            <a:headEnd type="none" w="med" len="med"/>
            <a:tailEnd type="none" w="med" len="med"/>
          </a:ln>
        </p:spPr>
      </p:sp>
      <p:sp>
        <p:nvSpPr>
          <p:cNvPr id="52245" name="Line 21"/>
          <p:cNvSpPr/>
          <p:nvPr/>
        </p:nvSpPr>
        <p:spPr>
          <a:xfrm flipV="1">
            <a:off x="817563" y="4149725"/>
            <a:ext cx="1408112" cy="1588"/>
          </a:xfrm>
          <a:prstGeom prst="line">
            <a:avLst/>
          </a:prstGeom>
          <a:ln w="0" cap="flat" cmpd="sng">
            <a:solidFill>
              <a:srgbClr val="0000FF"/>
            </a:solidFill>
            <a:prstDash val="solid"/>
            <a:headEnd type="none" w="med" len="med"/>
            <a:tailEnd type="none" w="med" len="med"/>
          </a:ln>
        </p:spPr>
      </p:sp>
      <p:sp>
        <p:nvSpPr>
          <p:cNvPr id="52246" name="Line 22"/>
          <p:cNvSpPr/>
          <p:nvPr/>
        </p:nvSpPr>
        <p:spPr>
          <a:xfrm>
            <a:off x="817563" y="4151313"/>
            <a:ext cx="0" cy="587375"/>
          </a:xfrm>
          <a:prstGeom prst="line">
            <a:avLst/>
          </a:prstGeom>
          <a:ln w="0" cap="flat" cmpd="sng">
            <a:solidFill>
              <a:srgbClr val="0000FF"/>
            </a:solidFill>
            <a:prstDash val="solid"/>
            <a:headEnd type="none" w="med" len="med"/>
            <a:tailEnd type="none" w="med" len="med"/>
          </a:ln>
        </p:spPr>
      </p:sp>
      <p:sp>
        <p:nvSpPr>
          <p:cNvPr id="52247" name="Rectangle 23"/>
          <p:cNvSpPr/>
          <p:nvPr/>
        </p:nvSpPr>
        <p:spPr>
          <a:xfrm>
            <a:off x="784225" y="4432300"/>
            <a:ext cx="82550" cy="300038"/>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48" name="Line 24"/>
          <p:cNvSpPr/>
          <p:nvPr/>
        </p:nvSpPr>
        <p:spPr>
          <a:xfrm>
            <a:off x="817563" y="4725988"/>
            <a:ext cx="1587" cy="409575"/>
          </a:xfrm>
          <a:prstGeom prst="line">
            <a:avLst/>
          </a:prstGeom>
          <a:ln w="0" cap="flat" cmpd="sng">
            <a:solidFill>
              <a:srgbClr val="0000FF"/>
            </a:solidFill>
            <a:prstDash val="solid"/>
            <a:headEnd type="none" w="med" len="med"/>
            <a:tailEnd type="none" w="med" len="med"/>
          </a:ln>
        </p:spPr>
      </p:sp>
      <p:sp>
        <p:nvSpPr>
          <p:cNvPr id="52249" name="Line 25"/>
          <p:cNvSpPr/>
          <p:nvPr/>
        </p:nvSpPr>
        <p:spPr>
          <a:xfrm>
            <a:off x="817563" y="5135563"/>
            <a:ext cx="2746375" cy="1587"/>
          </a:xfrm>
          <a:prstGeom prst="line">
            <a:avLst/>
          </a:prstGeom>
          <a:ln w="0" cap="flat" cmpd="sng">
            <a:solidFill>
              <a:srgbClr val="0000FF"/>
            </a:solidFill>
            <a:prstDash val="solid"/>
            <a:headEnd type="none" w="med" len="med"/>
            <a:tailEnd type="none" w="med" len="med"/>
          </a:ln>
        </p:spPr>
      </p:sp>
      <p:sp>
        <p:nvSpPr>
          <p:cNvPr id="52250" name="Line 26"/>
          <p:cNvSpPr/>
          <p:nvPr/>
        </p:nvSpPr>
        <p:spPr>
          <a:xfrm>
            <a:off x="1481138" y="4151313"/>
            <a:ext cx="1587" cy="422275"/>
          </a:xfrm>
          <a:prstGeom prst="line">
            <a:avLst/>
          </a:prstGeom>
          <a:ln w="0" cap="flat" cmpd="sng">
            <a:solidFill>
              <a:srgbClr val="0000FF"/>
            </a:solidFill>
            <a:prstDash val="solid"/>
            <a:headEnd type="none" w="med" len="med"/>
            <a:tailEnd type="none" w="med" len="med"/>
          </a:ln>
        </p:spPr>
      </p:sp>
      <p:sp>
        <p:nvSpPr>
          <p:cNvPr id="52251" name="Line 27"/>
          <p:cNvSpPr/>
          <p:nvPr/>
        </p:nvSpPr>
        <p:spPr>
          <a:xfrm>
            <a:off x="1387475" y="4573588"/>
            <a:ext cx="214313" cy="1587"/>
          </a:xfrm>
          <a:prstGeom prst="line">
            <a:avLst/>
          </a:prstGeom>
          <a:ln w="0" cap="flat" cmpd="sng">
            <a:solidFill>
              <a:srgbClr val="0000FF"/>
            </a:solidFill>
            <a:prstDash val="solid"/>
            <a:headEnd type="none" w="med" len="med"/>
            <a:tailEnd type="none" w="med" len="med"/>
          </a:ln>
        </p:spPr>
      </p:sp>
      <p:sp>
        <p:nvSpPr>
          <p:cNvPr id="52252" name="Line 28"/>
          <p:cNvSpPr/>
          <p:nvPr/>
        </p:nvSpPr>
        <p:spPr>
          <a:xfrm>
            <a:off x="1387475" y="4643438"/>
            <a:ext cx="214313" cy="1587"/>
          </a:xfrm>
          <a:prstGeom prst="line">
            <a:avLst/>
          </a:prstGeom>
          <a:ln w="0" cap="flat" cmpd="sng">
            <a:solidFill>
              <a:srgbClr val="0000FF"/>
            </a:solidFill>
            <a:prstDash val="solid"/>
            <a:headEnd type="none" w="med" len="med"/>
            <a:tailEnd type="none" w="med" len="med"/>
          </a:ln>
        </p:spPr>
      </p:sp>
      <p:sp>
        <p:nvSpPr>
          <p:cNvPr id="52253" name="Line 29"/>
          <p:cNvSpPr/>
          <p:nvPr/>
        </p:nvSpPr>
        <p:spPr>
          <a:xfrm>
            <a:off x="1481138" y="4643438"/>
            <a:ext cx="1587" cy="492125"/>
          </a:xfrm>
          <a:prstGeom prst="line">
            <a:avLst/>
          </a:prstGeom>
          <a:ln w="0" cap="flat" cmpd="sng">
            <a:solidFill>
              <a:srgbClr val="0000FF"/>
            </a:solidFill>
            <a:prstDash val="solid"/>
            <a:headEnd type="none" w="med" len="med"/>
            <a:tailEnd type="none" w="med" len="med"/>
          </a:ln>
        </p:spPr>
      </p:sp>
      <p:sp>
        <p:nvSpPr>
          <p:cNvPr id="52254" name="Rectangle 30"/>
          <p:cNvSpPr/>
          <p:nvPr/>
        </p:nvSpPr>
        <p:spPr>
          <a:xfrm>
            <a:off x="1898650" y="4116388"/>
            <a:ext cx="309563" cy="87312"/>
          </a:xfrm>
          <a:prstGeom prst="rect">
            <a:avLst/>
          </a:prstGeom>
          <a:solidFill>
            <a:srgbClr val="FFFF99"/>
          </a:solidFill>
          <a:ln w="0" cap="flat" cmpd="sng">
            <a:solidFill>
              <a:srgbClr val="0000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55" name="Line 31"/>
          <p:cNvSpPr/>
          <p:nvPr/>
        </p:nvSpPr>
        <p:spPr>
          <a:xfrm>
            <a:off x="2200275" y="4151313"/>
            <a:ext cx="1363663" cy="1587"/>
          </a:xfrm>
          <a:prstGeom prst="line">
            <a:avLst/>
          </a:prstGeom>
          <a:ln w="0" cap="flat" cmpd="sng">
            <a:solidFill>
              <a:srgbClr val="0000FF"/>
            </a:solidFill>
            <a:prstDash val="solid"/>
            <a:headEnd type="none" w="med" len="med"/>
            <a:tailEnd type="none" w="med" len="med"/>
          </a:ln>
        </p:spPr>
      </p:sp>
      <p:sp>
        <p:nvSpPr>
          <p:cNvPr id="52256" name="Line 32"/>
          <p:cNvSpPr/>
          <p:nvPr/>
        </p:nvSpPr>
        <p:spPr>
          <a:xfrm>
            <a:off x="2636838" y="4573588"/>
            <a:ext cx="206375" cy="1587"/>
          </a:xfrm>
          <a:prstGeom prst="line">
            <a:avLst/>
          </a:prstGeom>
          <a:ln w="0" cap="flat" cmpd="sng">
            <a:solidFill>
              <a:srgbClr val="0000FF"/>
            </a:solidFill>
            <a:prstDash val="solid"/>
            <a:headEnd type="none" w="med" len="med"/>
            <a:tailEnd type="none" w="med" len="med"/>
          </a:ln>
        </p:spPr>
      </p:sp>
      <p:sp>
        <p:nvSpPr>
          <p:cNvPr id="52257" name="Line 33"/>
          <p:cNvSpPr/>
          <p:nvPr/>
        </p:nvSpPr>
        <p:spPr>
          <a:xfrm>
            <a:off x="2636838" y="4643438"/>
            <a:ext cx="206375" cy="1587"/>
          </a:xfrm>
          <a:prstGeom prst="line">
            <a:avLst/>
          </a:prstGeom>
          <a:ln w="0" cap="flat" cmpd="sng">
            <a:solidFill>
              <a:srgbClr val="0000FF"/>
            </a:solidFill>
            <a:prstDash val="solid"/>
            <a:headEnd type="none" w="med" len="med"/>
            <a:tailEnd type="none" w="med" len="med"/>
          </a:ln>
        </p:spPr>
      </p:sp>
      <p:sp>
        <p:nvSpPr>
          <p:cNvPr id="52258" name="Line 34"/>
          <p:cNvSpPr/>
          <p:nvPr/>
        </p:nvSpPr>
        <p:spPr>
          <a:xfrm>
            <a:off x="2740025" y="4643438"/>
            <a:ext cx="1588" cy="774700"/>
          </a:xfrm>
          <a:prstGeom prst="line">
            <a:avLst/>
          </a:prstGeom>
          <a:ln w="0" cap="flat" cmpd="sng">
            <a:solidFill>
              <a:srgbClr val="0000FF"/>
            </a:solidFill>
            <a:prstDash val="solid"/>
            <a:headEnd type="none" w="med" len="med"/>
            <a:tailEnd type="none" w="med" len="med"/>
          </a:ln>
        </p:spPr>
      </p:sp>
      <p:sp>
        <p:nvSpPr>
          <p:cNvPr id="52259" name="Line 35"/>
          <p:cNvSpPr/>
          <p:nvPr/>
        </p:nvSpPr>
        <p:spPr>
          <a:xfrm>
            <a:off x="2620963" y="5418138"/>
            <a:ext cx="257175" cy="1587"/>
          </a:xfrm>
          <a:prstGeom prst="line">
            <a:avLst/>
          </a:prstGeom>
          <a:ln w="0" cap="flat" cmpd="sng">
            <a:solidFill>
              <a:srgbClr val="0000FF"/>
            </a:solidFill>
            <a:prstDash val="solid"/>
            <a:headEnd type="none" w="med" len="med"/>
            <a:tailEnd type="none" w="med" len="med"/>
          </a:ln>
        </p:spPr>
      </p:sp>
      <p:sp>
        <p:nvSpPr>
          <p:cNvPr id="52260" name="Line 36"/>
          <p:cNvSpPr/>
          <p:nvPr/>
        </p:nvSpPr>
        <p:spPr>
          <a:xfrm>
            <a:off x="3478213" y="4151313"/>
            <a:ext cx="1587" cy="984250"/>
          </a:xfrm>
          <a:prstGeom prst="line">
            <a:avLst/>
          </a:prstGeom>
          <a:ln w="0" cap="flat" cmpd="sng">
            <a:solidFill>
              <a:srgbClr val="0000FF"/>
            </a:solidFill>
            <a:prstDash val="solid"/>
            <a:headEnd type="none" w="med" len="med"/>
            <a:tailEnd type="none" w="med" len="med"/>
          </a:ln>
        </p:spPr>
      </p:sp>
      <p:sp>
        <p:nvSpPr>
          <p:cNvPr id="52261" name="Rectangle 37"/>
          <p:cNvSpPr/>
          <p:nvPr/>
        </p:nvSpPr>
        <p:spPr>
          <a:xfrm>
            <a:off x="206375" y="3128963"/>
            <a:ext cx="138113"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2262" name="Rectangle 38"/>
          <p:cNvSpPr/>
          <p:nvPr/>
        </p:nvSpPr>
        <p:spPr>
          <a:xfrm>
            <a:off x="354013" y="3219450"/>
            <a:ext cx="12065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52263" name="Rectangle 39"/>
          <p:cNvSpPr/>
          <p:nvPr/>
        </p:nvSpPr>
        <p:spPr>
          <a:xfrm>
            <a:off x="1414463" y="2443163"/>
            <a:ext cx="115887"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2264" name="Rectangle 40"/>
          <p:cNvSpPr/>
          <p:nvPr/>
        </p:nvSpPr>
        <p:spPr>
          <a:xfrm>
            <a:off x="1547813" y="25320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S1</a:t>
            </a:r>
            <a:endParaRPr lang="en-US" altLang="zh-CN" dirty="0">
              <a:latin typeface="Times New Roman" panose="02020603050405020304" pitchFamily="18" charset="0"/>
            </a:endParaRPr>
          </a:p>
        </p:txBody>
      </p:sp>
      <p:sp>
        <p:nvSpPr>
          <p:cNvPr id="52265" name="Rectangle 41"/>
          <p:cNvSpPr/>
          <p:nvPr/>
        </p:nvSpPr>
        <p:spPr>
          <a:xfrm>
            <a:off x="1911350" y="3876675"/>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2266" name="Rectangle 42"/>
          <p:cNvSpPr/>
          <p:nvPr/>
        </p:nvSpPr>
        <p:spPr>
          <a:xfrm>
            <a:off x="2036763" y="3967163"/>
            <a:ext cx="2222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ON2</a:t>
            </a:r>
            <a:endParaRPr lang="en-US" altLang="zh-CN" dirty="0">
              <a:latin typeface="Times New Roman" panose="02020603050405020304" pitchFamily="18" charset="0"/>
            </a:endParaRPr>
          </a:p>
        </p:txBody>
      </p:sp>
      <p:sp>
        <p:nvSpPr>
          <p:cNvPr id="52267" name="Rectangle 43"/>
          <p:cNvSpPr/>
          <p:nvPr/>
        </p:nvSpPr>
        <p:spPr>
          <a:xfrm>
            <a:off x="457200" y="4449763"/>
            <a:ext cx="115888"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R</a:t>
            </a:r>
            <a:endParaRPr lang="en-US" altLang="zh-CN" dirty="0">
              <a:latin typeface="Times New Roman" panose="02020603050405020304" pitchFamily="18" charset="0"/>
            </a:endParaRPr>
          </a:p>
        </p:txBody>
      </p:sp>
      <p:sp>
        <p:nvSpPr>
          <p:cNvPr id="52268" name="Rectangle 44"/>
          <p:cNvSpPr/>
          <p:nvPr/>
        </p:nvSpPr>
        <p:spPr>
          <a:xfrm>
            <a:off x="595313" y="4538663"/>
            <a:ext cx="1206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S2</a:t>
            </a:r>
            <a:endParaRPr lang="en-US" altLang="zh-CN" dirty="0">
              <a:latin typeface="Times New Roman" panose="02020603050405020304" pitchFamily="18" charset="0"/>
            </a:endParaRPr>
          </a:p>
        </p:txBody>
      </p:sp>
      <p:sp>
        <p:nvSpPr>
          <p:cNvPr id="52269" name="Rectangle 45"/>
          <p:cNvSpPr/>
          <p:nvPr/>
        </p:nvSpPr>
        <p:spPr>
          <a:xfrm>
            <a:off x="1039813" y="446563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2270" name="Rectangle 46"/>
          <p:cNvSpPr/>
          <p:nvPr/>
        </p:nvSpPr>
        <p:spPr>
          <a:xfrm>
            <a:off x="1187450" y="4533900"/>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in2</a:t>
            </a:r>
            <a:endParaRPr lang="en-US" altLang="zh-CN" dirty="0">
              <a:latin typeface="Times New Roman" panose="02020603050405020304" pitchFamily="18" charset="0"/>
            </a:endParaRPr>
          </a:p>
        </p:txBody>
      </p:sp>
      <p:sp>
        <p:nvSpPr>
          <p:cNvPr id="52271" name="Rectangle 47"/>
          <p:cNvSpPr/>
          <p:nvPr/>
        </p:nvSpPr>
        <p:spPr>
          <a:xfrm>
            <a:off x="2062163" y="3016250"/>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2272" name="Rectangle 48"/>
          <p:cNvSpPr/>
          <p:nvPr/>
        </p:nvSpPr>
        <p:spPr>
          <a:xfrm>
            <a:off x="2206625" y="3082925"/>
            <a:ext cx="177800" cy="150813"/>
          </a:xfrm>
          <a:prstGeom prst="rect">
            <a:avLst/>
          </a:prstGeom>
          <a:noFill/>
          <a:ln w="9525">
            <a:noFill/>
          </a:ln>
        </p:spPr>
        <p:txBody>
          <a:bodyPr wrap="none" lIns="0" tIns="0" rIns="0" bIns="0">
            <a:spAutoFit/>
          </a:bodyPr>
          <a:p>
            <a:pPr eaLnBrk="1" hangingPunct="1">
              <a:lnSpc>
                <a:spcPct val="90000"/>
              </a:lnSpc>
            </a:pPr>
            <a:r>
              <a:rPr lang="en-US" altLang="zh-CN" sz="1100" b="0" dirty="0">
                <a:solidFill>
                  <a:srgbClr val="0000FF"/>
                </a:solidFill>
                <a:latin typeface="Times New Roman" panose="02020603050405020304" pitchFamily="18" charset="0"/>
              </a:rPr>
              <a:t>in1</a:t>
            </a:r>
            <a:endParaRPr lang="en-US" altLang="zh-CN" dirty="0">
              <a:latin typeface="Times New Roman" panose="02020603050405020304" pitchFamily="18" charset="0"/>
            </a:endParaRPr>
          </a:p>
        </p:txBody>
      </p:sp>
      <p:sp>
        <p:nvSpPr>
          <p:cNvPr id="52273" name="Rectangle 49"/>
          <p:cNvSpPr/>
          <p:nvPr/>
        </p:nvSpPr>
        <p:spPr>
          <a:xfrm>
            <a:off x="2139950" y="2427288"/>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2274" name="Rectangle 50"/>
          <p:cNvSpPr/>
          <p:nvPr/>
        </p:nvSpPr>
        <p:spPr>
          <a:xfrm>
            <a:off x="2278063" y="2508250"/>
            <a:ext cx="1143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10</a:t>
            </a:r>
            <a:endParaRPr lang="en-US" altLang="zh-CN" dirty="0">
              <a:latin typeface="Times New Roman" panose="02020603050405020304" pitchFamily="18" charset="0"/>
            </a:endParaRPr>
          </a:p>
        </p:txBody>
      </p:sp>
      <p:sp>
        <p:nvSpPr>
          <p:cNvPr id="52275" name="Rectangle 51"/>
          <p:cNvSpPr/>
          <p:nvPr/>
        </p:nvSpPr>
        <p:spPr>
          <a:xfrm>
            <a:off x="1968500"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2276" name="Rectangle 52"/>
          <p:cNvSpPr/>
          <p:nvPr/>
        </p:nvSpPr>
        <p:spPr>
          <a:xfrm>
            <a:off x="2395538" y="4475163"/>
            <a:ext cx="127000"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C</a:t>
            </a:r>
            <a:endParaRPr lang="en-US" altLang="zh-CN" dirty="0">
              <a:latin typeface="Times New Roman" panose="02020603050405020304" pitchFamily="18" charset="0"/>
            </a:endParaRPr>
          </a:p>
        </p:txBody>
      </p:sp>
      <p:sp>
        <p:nvSpPr>
          <p:cNvPr id="52277" name="Rectangle 53"/>
          <p:cNvSpPr/>
          <p:nvPr/>
        </p:nvSpPr>
        <p:spPr>
          <a:xfrm>
            <a:off x="2105025" y="4573588"/>
            <a:ext cx="15240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OT</a:t>
            </a:r>
            <a:endParaRPr lang="en-US" altLang="zh-CN" dirty="0">
              <a:latin typeface="Times New Roman" panose="02020603050405020304" pitchFamily="18" charset="0"/>
            </a:endParaRPr>
          </a:p>
        </p:txBody>
      </p:sp>
      <p:sp>
        <p:nvSpPr>
          <p:cNvPr id="52278" name="Rectangle 54"/>
          <p:cNvSpPr/>
          <p:nvPr/>
        </p:nvSpPr>
        <p:spPr>
          <a:xfrm>
            <a:off x="2276475" y="4494213"/>
            <a:ext cx="107950" cy="206375"/>
          </a:xfrm>
          <a:prstGeom prst="rect">
            <a:avLst/>
          </a:prstGeom>
          <a:noFill/>
          <a:ln w="9525">
            <a:noFill/>
          </a:ln>
        </p:spPr>
        <p:txBody>
          <a:bodyPr wrap="none" lIns="0" tIns="0" rIns="0" bIns="0">
            <a:spAutoFit/>
          </a:bodyPr>
          <a:p>
            <a:pPr eaLnBrk="1" hangingPunct="1">
              <a:lnSpc>
                <a:spcPct val="90000"/>
              </a:lnSpc>
            </a:pPr>
            <a:r>
              <a:rPr lang="en-US" altLang="zh-CN" sz="15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2279" name="Rectangle 55"/>
          <p:cNvSpPr/>
          <p:nvPr/>
        </p:nvSpPr>
        <p:spPr>
          <a:xfrm>
            <a:off x="2551113" y="4573588"/>
            <a:ext cx="69850" cy="122237"/>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L</a:t>
            </a:r>
            <a:endParaRPr lang="en-US" altLang="zh-CN" dirty="0">
              <a:latin typeface="Times New Roman" panose="02020603050405020304" pitchFamily="18" charset="0"/>
            </a:endParaRPr>
          </a:p>
        </p:txBody>
      </p:sp>
      <p:sp>
        <p:nvSpPr>
          <p:cNvPr id="52280" name="Rectangle 56"/>
          <p:cNvSpPr/>
          <p:nvPr/>
        </p:nvSpPr>
        <p:spPr>
          <a:xfrm>
            <a:off x="3554413" y="4492625"/>
            <a:ext cx="138112" cy="206375"/>
          </a:xfrm>
          <a:prstGeom prst="rect">
            <a:avLst/>
          </a:prstGeom>
          <a:noFill/>
          <a:ln w="9525">
            <a:noFill/>
          </a:ln>
        </p:spPr>
        <p:txBody>
          <a:bodyPr wrap="none" lIns="0" tIns="0" rIns="0" bIns="0">
            <a:spAutoFit/>
          </a:bodyPr>
          <a:p>
            <a:pPr eaLnBrk="1" hangingPunct="1">
              <a:lnSpc>
                <a:spcPct val="90000"/>
              </a:lnSpc>
            </a:pPr>
            <a:r>
              <a:rPr lang="en-US" altLang="zh-CN" sz="1500" b="0" i="1" dirty="0">
                <a:solidFill>
                  <a:srgbClr val="0000FF"/>
                </a:solidFill>
                <a:latin typeface="Times New Roman" panose="02020603050405020304" pitchFamily="18" charset="0"/>
              </a:rPr>
              <a:t>U</a:t>
            </a:r>
            <a:endParaRPr lang="en-US" altLang="zh-CN" dirty="0">
              <a:latin typeface="Times New Roman" panose="02020603050405020304" pitchFamily="18" charset="0"/>
            </a:endParaRPr>
          </a:p>
        </p:txBody>
      </p:sp>
      <p:sp>
        <p:nvSpPr>
          <p:cNvPr id="52281" name="Rectangle 57"/>
          <p:cNvSpPr/>
          <p:nvPr/>
        </p:nvSpPr>
        <p:spPr>
          <a:xfrm>
            <a:off x="3692525" y="4594225"/>
            <a:ext cx="152400" cy="122238"/>
          </a:xfrm>
          <a:prstGeom prst="rect">
            <a:avLst/>
          </a:prstGeom>
          <a:noFill/>
          <a:ln w="9525">
            <a:noFill/>
          </a:ln>
        </p:spPr>
        <p:txBody>
          <a:bodyPr wrap="none" lIns="0" tIns="0" rIns="0" bIns="0">
            <a:spAutoFit/>
          </a:bodyPr>
          <a:p>
            <a:pPr eaLnBrk="1" hangingPunct="1">
              <a:lnSpc>
                <a:spcPct val="90000"/>
              </a:lnSpc>
            </a:pPr>
            <a:r>
              <a:rPr lang="en-US" altLang="zh-CN" sz="900" b="0" dirty="0">
                <a:solidFill>
                  <a:srgbClr val="0000FF"/>
                </a:solidFill>
                <a:latin typeface="Times New Roman" panose="02020603050405020304" pitchFamily="18" charset="0"/>
              </a:rPr>
              <a:t>OE</a:t>
            </a:r>
            <a:endParaRPr lang="en-US" altLang="zh-CN" dirty="0">
              <a:latin typeface="Times New Roman" panose="02020603050405020304" pitchFamily="18" charset="0"/>
            </a:endParaRPr>
          </a:p>
        </p:txBody>
      </p:sp>
      <p:sp>
        <p:nvSpPr>
          <p:cNvPr id="52282" name="Oval 58"/>
          <p:cNvSpPr/>
          <p:nvPr/>
        </p:nvSpPr>
        <p:spPr>
          <a:xfrm>
            <a:off x="1438275" y="5091113"/>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3" name="Oval 59"/>
          <p:cNvSpPr/>
          <p:nvPr/>
        </p:nvSpPr>
        <p:spPr>
          <a:xfrm>
            <a:off x="1438275"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4" name="Oval 60"/>
          <p:cNvSpPr/>
          <p:nvPr/>
        </p:nvSpPr>
        <p:spPr>
          <a:xfrm>
            <a:off x="2697163" y="5100638"/>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5" name="Oval 61"/>
          <p:cNvSpPr/>
          <p:nvPr/>
        </p:nvSpPr>
        <p:spPr>
          <a:xfrm>
            <a:off x="2697163" y="4106863"/>
            <a:ext cx="82550" cy="87312"/>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6" name="Oval 62"/>
          <p:cNvSpPr/>
          <p:nvPr/>
        </p:nvSpPr>
        <p:spPr>
          <a:xfrm>
            <a:off x="1873250" y="2673350"/>
            <a:ext cx="82550" cy="88900"/>
          </a:xfrm>
          <a:prstGeom prst="ellipse">
            <a:avLst/>
          </a:prstGeom>
          <a:solidFill>
            <a:srgbClr val="000000"/>
          </a:solid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7" name="Rectangle 63"/>
          <p:cNvSpPr/>
          <p:nvPr/>
        </p:nvSpPr>
        <p:spPr>
          <a:xfrm>
            <a:off x="1901825" y="5519738"/>
            <a:ext cx="268288" cy="260350"/>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52288" name="Oval 64"/>
          <p:cNvSpPr/>
          <p:nvPr/>
        </p:nvSpPr>
        <p:spPr>
          <a:xfrm>
            <a:off x="542925" y="3130550"/>
            <a:ext cx="292100" cy="282575"/>
          </a:xfrm>
          <a:prstGeom prst="ellipse">
            <a:avLst/>
          </a:prstGeom>
          <a:noFill/>
          <a:ln w="0" cap="flat" cmpd="sng">
            <a:solidFill>
              <a:srgbClr val="0000FF"/>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52289" name="Rectangle 65"/>
          <p:cNvSpPr/>
          <p:nvPr/>
        </p:nvSpPr>
        <p:spPr>
          <a:xfrm>
            <a:off x="612775" y="3081338"/>
            <a:ext cx="150813" cy="301625"/>
          </a:xfrm>
          <a:prstGeom prst="rect">
            <a:avLst/>
          </a:prstGeom>
          <a:noFill/>
          <a:ln w="9525">
            <a:noFill/>
          </a:ln>
        </p:spPr>
        <p:txBody>
          <a:bodyPr wrap="none" lIns="0" tIns="0" rIns="0" bIns="0">
            <a:spAutoFit/>
          </a:bodyPr>
          <a:p>
            <a:pPr eaLnBrk="1" hangingPunct="1">
              <a:lnSpc>
                <a:spcPct val="90000"/>
              </a:lnSpc>
            </a:pPr>
            <a:r>
              <a:rPr lang="en-US" altLang="zh-CN" sz="2200" b="0" dirty="0">
                <a:solidFill>
                  <a:srgbClr val="0000FF"/>
                </a:solidFill>
                <a:latin typeface="Times New Roman" panose="02020603050405020304" pitchFamily="18" charset="0"/>
              </a:rPr>
              <a:t>~</a:t>
            </a:r>
            <a:endParaRPr lang="en-US" altLang="zh-CN" dirty="0">
              <a:latin typeface="Times New Roman" panose="02020603050405020304" pitchFamily="18" charset="0"/>
            </a:endParaRPr>
          </a:p>
        </p:txBody>
      </p:sp>
      <p:sp>
        <p:nvSpPr>
          <p:cNvPr id="52290" name="Line 66"/>
          <p:cNvSpPr/>
          <p:nvPr/>
        </p:nvSpPr>
        <p:spPr>
          <a:xfrm flipH="1">
            <a:off x="3443288" y="4151313"/>
            <a:ext cx="34925" cy="122237"/>
          </a:xfrm>
          <a:prstGeom prst="line">
            <a:avLst/>
          </a:prstGeom>
          <a:ln w="0" cap="flat" cmpd="sng">
            <a:solidFill>
              <a:srgbClr val="0000FF"/>
            </a:solidFill>
            <a:prstDash val="solid"/>
            <a:headEnd type="none" w="med" len="med"/>
            <a:tailEnd type="none" w="med" len="med"/>
          </a:ln>
        </p:spPr>
      </p:sp>
      <p:sp>
        <p:nvSpPr>
          <p:cNvPr id="52291" name="Line 67"/>
          <p:cNvSpPr/>
          <p:nvPr/>
        </p:nvSpPr>
        <p:spPr>
          <a:xfrm>
            <a:off x="3478213" y="4151313"/>
            <a:ext cx="34925" cy="122237"/>
          </a:xfrm>
          <a:prstGeom prst="line">
            <a:avLst/>
          </a:prstGeom>
          <a:ln w="0" cap="flat" cmpd="sng">
            <a:solidFill>
              <a:srgbClr val="0000FF"/>
            </a:solidFill>
            <a:prstDash val="solid"/>
            <a:headEnd type="none" w="med" len="med"/>
            <a:tailEnd type="none" w="med" len="med"/>
          </a:ln>
        </p:spPr>
      </p:sp>
      <p:sp>
        <p:nvSpPr>
          <p:cNvPr id="52292" name="Line 68"/>
          <p:cNvSpPr/>
          <p:nvPr/>
        </p:nvSpPr>
        <p:spPr>
          <a:xfrm flipH="1" flipV="1">
            <a:off x="3443288" y="5030788"/>
            <a:ext cx="34925" cy="104775"/>
          </a:xfrm>
          <a:prstGeom prst="line">
            <a:avLst/>
          </a:prstGeom>
          <a:ln w="0" cap="flat" cmpd="sng">
            <a:solidFill>
              <a:srgbClr val="0000FF"/>
            </a:solidFill>
            <a:prstDash val="solid"/>
            <a:headEnd type="none" w="med" len="med"/>
            <a:tailEnd type="none" w="med" len="med"/>
          </a:ln>
        </p:spPr>
      </p:sp>
      <p:sp>
        <p:nvSpPr>
          <p:cNvPr id="52293" name="Line 69"/>
          <p:cNvSpPr/>
          <p:nvPr/>
        </p:nvSpPr>
        <p:spPr>
          <a:xfrm flipV="1">
            <a:off x="3478213" y="5030788"/>
            <a:ext cx="34925" cy="104775"/>
          </a:xfrm>
          <a:prstGeom prst="line">
            <a:avLst/>
          </a:prstGeom>
          <a:ln w="0" cap="flat" cmpd="sng">
            <a:solidFill>
              <a:srgbClr val="0000FF"/>
            </a:solidFill>
            <a:prstDash val="solid"/>
            <a:headEnd type="none" w="med" len="med"/>
            <a:tailEnd type="none" w="med" len="med"/>
          </a:ln>
        </p:spPr>
      </p:sp>
      <p:sp>
        <p:nvSpPr>
          <p:cNvPr id="52294" name="Rectangle 70"/>
          <p:cNvSpPr/>
          <p:nvPr/>
        </p:nvSpPr>
        <p:spPr>
          <a:xfrm>
            <a:off x="949325" y="5851525"/>
            <a:ext cx="2185988" cy="260350"/>
          </a:xfrm>
          <a:prstGeom prst="rect">
            <a:avLst/>
          </a:prstGeom>
          <a:noFill/>
          <a:ln w="9525">
            <a:noFill/>
          </a:ln>
        </p:spPr>
        <p:txBody>
          <a:bodyPr wrap="none" lIns="0" tIns="0" rIns="0" bIns="0">
            <a:spAutoFit/>
          </a:bodyPr>
          <a:p>
            <a:pPr eaLnBrk="1" hangingPunct="1">
              <a:lnSpc>
                <a:spcPct val="90000"/>
              </a:lnSpc>
            </a:pPr>
            <a:r>
              <a:rPr lang="zh-CN" altLang="en-US" sz="1900" dirty="0">
                <a:solidFill>
                  <a:srgbClr val="000080"/>
                </a:solidFill>
                <a:latin typeface="楷体_GB2312" pitchFamily="49" charset="-122"/>
              </a:rPr>
              <a:t>计算串扰的等效电路</a:t>
            </a:r>
            <a:endParaRPr lang="zh-CN" altLang="en-US" dirty="0">
              <a:latin typeface="Times New Roman" panose="02020603050405020304" pitchFamily="18" charset="0"/>
            </a:endParaRPr>
          </a:p>
        </p:txBody>
      </p:sp>
      <p:sp>
        <p:nvSpPr>
          <p:cNvPr id="52295" name="Text Box 71"/>
          <p:cNvSpPr txBox="1"/>
          <p:nvPr/>
        </p:nvSpPr>
        <p:spPr>
          <a:xfrm>
            <a:off x="4029075" y="2400300"/>
            <a:ext cx="4552950" cy="749300"/>
          </a:xfrm>
          <a:prstGeom prst="rect">
            <a:avLst/>
          </a:prstGeom>
          <a:solidFill>
            <a:srgbClr val="CC99FF"/>
          </a:solid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在多路开关系统中，串扰是通过断开开关之间的</a:t>
            </a:r>
            <a:r>
              <a:rPr lang="zh-CN" altLang="en-US" sz="2400" dirty="0">
                <a:solidFill>
                  <a:srgbClr val="FF0000"/>
                </a:solidFill>
                <a:latin typeface="Times New Roman" panose="02020603050405020304" pitchFamily="18" charset="0"/>
              </a:rPr>
              <a:t>分布电容</a:t>
            </a:r>
            <a:r>
              <a:rPr lang="zh-CN" altLang="en-US" sz="2400" dirty="0">
                <a:latin typeface="Times New Roman" panose="02020603050405020304" pitchFamily="18" charset="0"/>
              </a:rPr>
              <a:t>进入的。</a:t>
            </a:r>
            <a:endParaRPr lang="zh-CN" altLang="en-US" sz="2400" dirty="0">
              <a:latin typeface="Times New Roman" panose="02020603050405020304" pitchFamily="18" charset="0"/>
            </a:endParaRPr>
          </a:p>
        </p:txBody>
      </p:sp>
      <p:sp>
        <p:nvSpPr>
          <p:cNvPr id="2411652" name="Rectangle 132"/>
          <p:cNvSpPr/>
          <p:nvPr/>
        </p:nvSpPr>
        <p:spPr>
          <a:xfrm>
            <a:off x="4498975" y="4124325"/>
            <a:ext cx="4178300" cy="1800225"/>
          </a:xfrm>
          <a:prstGeom prst="rect">
            <a:avLst/>
          </a:prstGeom>
          <a:noFill/>
          <a:ln w="9525">
            <a:noFill/>
          </a:ln>
        </p:spPr>
        <p:txBody>
          <a:bodyPr>
            <a:spAutoFit/>
          </a:bodyPr>
          <a:p>
            <a:pPr eaLnBrk="1" hangingPunct="1">
              <a:lnSpc>
                <a:spcPct val="90000"/>
              </a:lnSpc>
            </a:pPr>
            <a:r>
              <a:rPr lang="zh-CN" altLang="en-US" sz="2800" dirty="0">
                <a:solidFill>
                  <a:schemeClr val="tx1"/>
                </a:solidFill>
                <a:latin typeface="Times New Roman" panose="02020603050405020304" pitchFamily="18" charset="0"/>
              </a:rPr>
              <a:t>减小导通通道的</a:t>
            </a:r>
            <a:r>
              <a:rPr lang="en-US" altLang="zh-CN" sz="2800" i="1" dirty="0">
                <a:solidFill>
                  <a:srgbClr val="FF0000"/>
                </a:solidFill>
                <a:latin typeface="Times New Roman" panose="02020603050405020304" pitchFamily="18" charset="0"/>
              </a:rPr>
              <a:t>R</a:t>
            </a:r>
            <a:r>
              <a:rPr lang="en-US" altLang="zh-CN" sz="2800" baseline="-25000" dirty="0">
                <a:solidFill>
                  <a:srgbClr val="FF0000"/>
                </a:solidFill>
                <a:latin typeface="Times New Roman" panose="02020603050405020304" pitchFamily="18" charset="0"/>
              </a:rPr>
              <a:t>S2</a:t>
            </a:r>
            <a:r>
              <a:rPr lang="zh-CN" altLang="en-US" sz="2800" dirty="0">
                <a:solidFill>
                  <a:schemeClr val="tx1"/>
                </a:solidFill>
                <a:latin typeface="Times New Roman" panose="02020603050405020304" pitchFamily="18" charset="0"/>
              </a:rPr>
              <a:t>与</a:t>
            </a:r>
            <a:r>
              <a:rPr lang="en-US" altLang="zh-CN" sz="2800" i="1" dirty="0">
                <a:solidFill>
                  <a:srgbClr val="FF0000"/>
                </a:solidFill>
                <a:latin typeface="Times New Roman" panose="02020603050405020304" pitchFamily="18" charset="0"/>
              </a:rPr>
              <a:t>R</a:t>
            </a:r>
            <a:r>
              <a:rPr lang="en-US" altLang="zh-CN" sz="2800" baseline="-25000" dirty="0">
                <a:solidFill>
                  <a:srgbClr val="FF0000"/>
                </a:solidFill>
                <a:latin typeface="Times New Roman" panose="02020603050405020304" pitchFamily="18" charset="0"/>
              </a:rPr>
              <a:t>ON</a:t>
            </a:r>
            <a:r>
              <a:rPr lang="zh-CN" altLang="en-US" sz="2800" dirty="0">
                <a:solidFill>
                  <a:schemeClr val="tx1"/>
                </a:solidFill>
                <a:latin typeface="Times New Roman" panose="02020603050405020304" pitchFamily="18" charset="0"/>
              </a:rPr>
              <a:t>，有利于减小串扰。</a:t>
            </a:r>
            <a:endParaRPr lang="zh-CN" altLang="en-US" sz="2800" dirty="0">
              <a:solidFill>
                <a:schemeClr val="tx1"/>
              </a:solidFill>
              <a:latin typeface="Times New Roman" panose="02020603050405020304" pitchFamily="18" charset="0"/>
            </a:endParaRPr>
          </a:p>
          <a:p>
            <a:pPr eaLnBrk="1" hangingPunct="1">
              <a:lnSpc>
                <a:spcPct val="90000"/>
              </a:lnSpc>
              <a:spcBef>
                <a:spcPct val="40000"/>
              </a:spcBef>
            </a:pPr>
            <a:r>
              <a:rPr lang="zh-CN" altLang="en-US" sz="2800" dirty="0">
                <a:solidFill>
                  <a:schemeClr val="tx1"/>
                </a:solidFill>
                <a:latin typeface="Times New Roman" panose="02020603050405020304" pitchFamily="18" charset="0"/>
              </a:rPr>
              <a:t>加大</a:t>
            </a:r>
            <a:r>
              <a:rPr lang="en-US" altLang="zh-CN" sz="2800" i="1" dirty="0">
                <a:solidFill>
                  <a:srgbClr val="FF0000"/>
                </a:solidFill>
                <a:latin typeface="Times New Roman" panose="02020603050405020304" pitchFamily="18" charset="0"/>
              </a:rPr>
              <a:t>C</a:t>
            </a:r>
            <a:r>
              <a:rPr lang="en-US" altLang="zh-CN" sz="2800" baseline="-25000" dirty="0">
                <a:solidFill>
                  <a:srgbClr val="FF0000"/>
                </a:solidFill>
                <a:latin typeface="Times New Roman" panose="02020603050405020304" pitchFamily="18" charset="0"/>
              </a:rPr>
              <a:t>L</a:t>
            </a:r>
            <a:r>
              <a:rPr lang="zh-CN" altLang="en-US" sz="2800" dirty="0">
                <a:solidFill>
                  <a:schemeClr val="tx1"/>
                </a:solidFill>
                <a:latin typeface="Times New Roman" panose="02020603050405020304" pitchFamily="18" charset="0"/>
              </a:rPr>
              <a:t>也能减小串扰，但不利于动态响应。</a:t>
            </a:r>
            <a:endParaRPr lang="zh-CN" altLang="en-US" sz="2800" dirty="0">
              <a:solidFill>
                <a:schemeClr val="tx1"/>
              </a:solidFill>
              <a:latin typeface="Times New Roman" panose="02020603050405020304" pitchFamily="18" charset="0"/>
            </a:endParaRPr>
          </a:p>
        </p:txBody>
      </p:sp>
      <p:sp>
        <p:nvSpPr>
          <p:cNvPr id="2411653" name="Text Box 133"/>
          <p:cNvSpPr txBox="1"/>
          <p:nvPr/>
        </p:nvSpPr>
        <p:spPr>
          <a:xfrm>
            <a:off x="4249738" y="3451225"/>
            <a:ext cx="1338262" cy="530225"/>
          </a:xfrm>
          <a:prstGeom prst="rect">
            <a:avLst/>
          </a:prstGeom>
          <a:solidFill>
            <a:srgbClr val="FFCC99"/>
          </a:solidFill>
          <a:ln w="9525">
            <a:noFill/>
          </a:ln>
        </p:spPr>
        <p:txBody>
          <a:bodyPr>
            <a:spAutoFit/>
          </a:bodyPr>
          <a:p>
            <a:pPr eaLnBrk="1" hangingPunct="1">
              <a:lnSpc>
                <a:spcPct val="90000"/>
              </a:lnSpc>
              <a:spcBef>
                <a:spcPct val="50000"/>
              </a:spcBef>
            </a:pPr>
            <a:r>
              <a:rPr lang="zh-CN" altLang="en-US" sz="3200" dirty="0">
                <a:solidFill>
                  <a:srgbClr val="FF0000"/>
                </a:solidFill>
                <a:latin typeface="Times New Roman" panose="02020603050405020304" pitchFamily="18" charset="0"/>
                <a:ea typeface="黑体" panose="02010609060101010101" pitchFamily="49" charset="-122"/>
              </a:rPr>
              <a:t>讨论：</a:t>
            </a:r>
            <a:endParaRPr lang="zh-CN" altLang="en-US" sz="3200" dirty="0">
              <a:solidFill>
                <a:srgbClr val="FF0000"/>
              </a:solidFill>
              <a:latin typeface="Times New Roman" panose="02020603050405020304" pitchFamily="18" charset="0"/>
              <a:ea typeface="黑体" panose="02010609060101010101" pitchFamily="49" charset="-122"/>
            </a:endParaRPr>
          </a:p>
        </p:txBody>
      </p:sp>
      <p:sp>
        <p:nvSpPr>
          <p:cNvPr id="2411654" name="Text Box 134"/>
          <p:cNvSpPr txBox="1"/>
          <p:nvPr/>
        </p:nvSpPr>
        <p:spPr>
          <a:xfrm>
            <a:off x="4176713" y="4143375"/>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
        <p:nvSpPr>
          <p:cNvPr id="2411655" name="Text Box 135"/>
          <p:cNvSpPr txBox="1"/>
          <p:nvPr/>
        </p:nvSpPr>
        <p:spPr>
          <a:xfrm>
            <a:off x="4179888" y="5068888"/>
            <a:ext cx="514350" cy="476250"/>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Ø"/>
            </a:pPr>
            <a:r>
              <a:rPr lang="en-US" altLang="zh-CN" sz="2800" dirty="0">
                <a:solidFill>
                  <a:srgbClr val="FF0000"/>
                </a:solidFill>
                <a:latin typeface="Times New Roman" panose="02020603050405020304" pitchFamily="18" charset="0"/>
              </a:rPr>
              <a:t> </a:t>
            </a:r>
            <a:endParaRPr lang="en-US" altLang="zh-CN" sz="2800" dirty="0">
              <a:solidFill>
                <a:srgbClr val="FF0000"/>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1653"/>
                                        </p:tgtEl>
                                        <p:attrNameLst>
                                          <p:attrName>style.visibility</p:attrName>
                                        </p:attrNameLst>
                                      </p:cBhvr>
                                      <p:to>
                                        <p:strVal val="visible"/>
                                      </p:to>
                                    </p:set>
                                    <p:animEffect transition="in" filter="dissolve">
                                      <p:cBhvr>
                                        <p:cTn id="7" dur="500"/>
                                        <p:tgtEl>
                                          <p:spTgt spid="24116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1652">
                                            <p:txEl>
                                              <p:charRg st="0" end="24"/>
                                            </p:txEl>
                                          </p:spTgt>
                                        </p:tgtEl>
                                        <p:attrNameLst>
                                          <p:attrName>style.visibility</p:attrName>
                                        </p:attrNameLst>
                                      </p:cBhvr>
                                      <p:to>
                                        <p:strVal val="visible"/>
                                      </p:to>
                                    </p:set>
                                    <p:animEffect transition="in" filter="dissolve">
                                      <p:cBhvr>
                                        <p:cTn id="12" dur="500"/>
                                        <p:tgtEl>
                                          <p:spTgt spid="2411652">
                                            <p:txEl>
                                              <p:charRg st="0" end="2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411654">
                                            <p:txEl>
                                              <p:charRg st="0" end="2"/>
                                            </p:txEl>
                                          </p:spTgt>
                                        </p:tgtEl>
                                        <p:attrNameLst>
                                          <p:attrName>style.visibility</p:attrName>
                                        </p:attrNameLst>
                                      </p:cBhvr>
                                      <p:to>
                                        <p:strVal val="visible"/>
                                      </p:to>
                                    </p:set>
                                    <p:animEffect transition="in" filter="dissolve">
                                      <p:cBhvr>
                                        <p:cTn id="15" dur="500"/>
                                        <p:tgtEl>
                                          <p:spTgt spid="2411654">
                                            <p:txEl>
                                              <p:charRg st="0"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411655"/>
                                        </p:tgtEl>
                                        <p:attrNameLst>
                                          <p:attrName>style.visibility</p:attrName>
                                        </p:attrNameLst>
                                      </p:cBhvr>
                                      <p:to>
                                        <p:strVal val="visible"/>
                                      </p:to>
                                    </p:set>
                                    <p:animEffect transition="in" filter="dissolve">
                                      <p:cBhvr>
                                        <p:cTn id="20" dur="500"/>
                                        <p:tgtEl>
                                          <p:spTgt spid="2411655"/>
                                        </p:tgtEl>
                                      </p:cBhvr>
                                    </p:animEffect>
                                  </p:childTnLst>
                                </p:cTn>
                              </p:par>
                              <p:par>
                                <p:cTn id="21" presetID="9" presetClass="entr" presetSubtype="0" fill="hold" nodeType="withEffect">
                                  <p:stCondLst>
                                    <p:cond delay="0"/>
                                  </p:stCondLst>
                                  <p:childTnLst>
                                    <p:set>
                                      <p:cBhvr>
                                        <p:cTn id="22" dur="1" fill="hold">
                                          <p:stCondLst>
                                            <p:cond delay="0"/>
                                          </p:stCondLst>
                                        </p:cTn>
                                        <p:tgtEl>
                                          <p:spTgt spid="2411652">
                                            <p:txEl>
                                              <p:charRg st="24" end="45"/>
                                            </p:txEl>
                                          </p:spTgt>
                                        </p:tgtEl>
                                        <p:attrNameLst>
                                          <p:attrName>style.visibility</p:attrName>
                                        </p:attrNameLst>
                                      </p:cBhvr>
                                      <p:to>
                                        <p:strVal val="visible"/>
                                      </p:to>
                                    </p:set>
                                    <p:animEffect transition="in" filter="dissolve">
                                      <p:cBhvr>
                                        <p:cTn id="23" dur="500"/>
                                        <p:tgtEl>
                                          <p:spTgt spid="2411652">
                                            <p:txEl>
                                              <p:charRg st="24" end="4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1653" grpId="0" animBg="1"/>
      <p:bldP spid="2411655"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52144" name="Text Box 16"/>
          <p:cNvSpPr txBox="1"/>
          <p:nvPr/>
        </p:nvSpPr>
        <p:spPr>
          <a:xfrm>
            <a:off x="474663" y="584200"/>
            <a:ext cx="3787775"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5.</a:t>
            </a:r>
            <a:r>
              <a:rPr lang="zh-CN" altLang="en-US" dirty="0">
                <a:latin typeface="Times New Roman" panose="02020603050405020304" pitchFamily="18" charset="0"/>
              </a:rPr>
              <a:t>其他特性与问题 </a:t>
            </a:r>
            <a:endParaRPr lang="zh-CN" altLang="en-US" dirty="0">
              <a:latin typeface="Times New Roman" panose="02020603050405020304" pitchFamily="18" charset="0"/>
            </a:endParaRPr>
          </a:p>
        </p:txBody>
      </p:sp>
      <p:sp>
        <p:nvSpPr>
          <p:cNvPr id="2352145" name="Text Box 17"/>
          <p:cNvSpPr txBox="1">
            <a:spLocks noChangeArrowheads="1"/>
          </p:cNvSpPr>
          <p:nvPr/>
        </p:nvSpPr>
        <p:spPr bwMode="auto">
          <a:xfrm>
            <a:off x="1854200" y="28575"/>
            <a:ext cx="581501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多路开关的电路特性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52146" name="Text Box 18"/>
          <p:cNvSpPr txBox="1"/>
          <p:nvPr/>
        </p:nvSpPr>
        <p:spPr>
          <a:xfrm>
            <a:off x="817563" y="1268413"/>
            <a:ext cx="4914900" cy="420687"/>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了解所给出的导通电阻值</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52147" name="Text Box 19"/>
          <p:cNvSpPr txBox="1"/>
          <p:nvPr/>
        </p:nvSpPr>
        <p:spPr>
          <a:xfrm>
            <a:off x="1373188" y="1660525"/>
            <a:ext cx="7415212" cy="749300"/>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手册中给出的导通电阻值是对应某一温度的值，而导通电阻值是随温度变化的。</a:t>
            </a:r>
            <a:endParaRPr lang="zh-CN" altLang="en-US" sz="2400" dirty="0">
              <a:latin typeface="Times New Roman" panose="02020603050405020304" pitchFamily="18" charset="0"/>
            </a:endParaRPr>
          </a:p>
        </p:txBody>
      </p:sp>
      <p:sp>
        <p:nvSpPr>
          <p:cNvPr id="2352148" name="Text Box 20"/>
          <p:cNvSpPr txBox="1"/>
          <p:nvPr/>
        </p:nvSpPr>
        <p:spPr>
          <a:xfrm>
            <a:off x="817563" y="2397125"/>
            <a:ext cx="4914900" cy="420688"/>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开关是否有死区</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52149" name="Text Box 21"/>
          <p:cNvSpPr txBox="1"/>
          <p:nvPr/>
        </p:nvSpPr>
        <p:spPr>
          <a:xfrm>
            <a:off x="1374775" y="2792413"/>
            <a:ext cx="7050088" cy="749300"/>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某些</a:t>
            </a:r>
            <a:r>
              <a:rPr lang="en-US" altLang="zh-CN" sz="2400" dirty="0">
                <a:latin typeface="Times New Roman" panose="02020603050405020304" pitchFamily="18" charset="0"/>
              </a:rPr>
              <a:t>COMS</a:t>
            </a:r>
            <a:r>
              <a:rPr lang="zh-CN" altLang="en-US" sz="2400" dirty="0">
                <a:latin typeface="Times New Roman" panose="02020603050405020304" pitchFamily="18" charset="0"/>
              </a:rPr>
              <a:t>器件在输入范围中间有中断点（开关断开），死区一般发生在栅极电压不够高的情况下。</a:t>
            </a:r>
            <a:endParaRPr lang="zh-CN" altLang="en-US" sz="2400" dirty="0">
              <a:latin typeface="Times New Roman" panose="02020603050405020304" pitchFamily="18" charset="0"/>
            </a:endParaRPr>
          </a:p>
        </p:txBody>
      </p:sp>
      <p:sp>
        <p:nvSpPr>
          <p:cNvPr id="2352150" name="Text Box 22"/>
          <p:cNvSpPr txBox="1"/>
          <p:nvPr/>
        </p:nvSpPr>
        <p:spPr>
          <a:xfrm>
            <a:off x="814388" y="3508375"/>
            <a:ext cx="4914900" cy="420688"/>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开关动作是否“先断后合”</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52151" name="Text Box 23"/>
          <p:cNvSpPr txBox="1"/>
          <p:nvPr/>
        </p:nvSpPr>
        <p:spPr>
          <a:xfrm>
            <a:off x="1371600" y="3903663"/>
            <a:ext cx="7416800" cy="749300"/>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如果“先合后断”，会发生两个通道短接，严重时将损坏信号源或开关本身。</a:t>
            </a:r>
            <a:endParaRPr lang="zh-CN" altLang="en-US" sz="2400" dirty="0">
              <a:latin typeface="Times New Roman" panose="02020603050405020304" pitchFamily="18" charset="0"/>
            </a:endParaRPr>
          </a:p>
        </p:txBody>
      </p:sp>
      <p:sp>
        <p:nvSpPr>
          <p:cNvPr id="2352152" name="Text Box 24"/>
          <p:cNvSpPr txBox="1"/>
          <p:nvPr/>
        </p:nvSpPr>
        <p:spPr>
          <a:xfrm>
            <a:off x="823913" y="4643438"/>
            <a:ext cx="4914900" cy="420687"/>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开关速度和功耗的关系</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52153" name="Text Box 25"/>
          <p:cNvSpPr txBox="1"/>
          <p:nvPr/>
        </p:nvSpPr>
        <p:spPr>
          <a:xfrm>
            <a:off x="1362075" y="5038725"/>
            <a:ext cx="7388225" cy="420688"/>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多路开关的功耗是其速度的函数，须按工作频率估算。</a:t>
            </a:r>
            <a:endParaRPr lang="zh-CN" altLang="en-US" sz="2400" dirty="0">
              <a:latin typeface="Times New Roman" panose="02020603050405020304" pitchFamily="18" charset="0"/>
            </a:endParaRPr>
          </a:p>
        </p:txBody>
      </p:sp>
      <p:sp>
        <p:nvSpPr>
          <p:cNvPr id="2352154" name="Text Box 26"/>
          <p:cNvSpPr txBox="1"/>
          <p:nvPr/>
        </p:nvSpPr>
        <p:spPr>
          <a:xfrm>
            <a:off x="830263" y="5440363"/>
            <a:ext cx="6334125" cy="420687"/>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了解开关噪声（热噪声，</a:t>
            </a:r>
            <a:r>
              <a:rPr lang="en-US" altLang="zh-CN" sz="2400" dirty="0">
                <a:solidFill>
                  <a:srgbClr val="FF0000"/>
                </a:solidFill>
                <a:latin typeface="Times New Roman" panose="02020603050405020304" pitchFamily="18" charset="0"/>
                <a:ea typeface="黑体" panose="02010609060101010101" pitchFamily="49" charset="-122"/>
              </a:rPr>
              <a:t>1/</a:t>
            </a:r>
            <a:r>
              <a:rPr lang="en-US" altLang="zh-CN" sz="2400" i="1" dirty="0">
                <a:solidFill>
                  <a:srgbClr val="FF0000"/>
                </a:solidFill>
                <a:latin typeface="Times New Roman" panose="02020603050405020304" pitchFamily="18" charset="0"/>
                <a:ea typeface="黑体" panose="02010609060101010101" pitchFamily="49" charset="-122"/>
              </a:rPr>
              <a:t>f </a:t>
            </a:r>
            <a:r>
              <a:rPr lang="zh-CN" altLang="en-US" sz="2400" dirty="0">
                <a:solidFill>
                  <a:srgbClr val="FF0000"/>
                </a:solidFill>
                <a:latin typeface="Times New Roman" panose="02020603050405020304" pitchFamily="18" charset="0"/>
                <a:ea typeface="黑体" panose="02010609060101010101" pitchFamily="49" charset="-122"/>
              </a:rPr>
              <a:t>噪声等）</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52155" name="Text Box 27"/>
          <p:cNvSpPr txBox="1"/>
          <p:nvPr/>
        </p:nvSpPr>
        <p:spPr>
          <a:xfrm>
            <a:off x="1368425" y="5826125"/>
            <a:ext cx="7381875" cy="420688"/>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因为能够采集的最低信号电平受噪声大小的限制。</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52144"/>
                                        </p:tgtEl>
                                        <p:attrNameLst>
                                          <p:attrName>style.visibility</p:attrName>
                                        </p:attrNameLst>
                                      </p:cBhvr>
                                      <p:to>
                                        <p:strVal val="visible"/>
                                      </p:to>
                                    </p:set>
                                    <p:animEffect transition="in" filter="dissolve">
                                      <p:cBhvr>
                                        <p:cTn id="7" dur="500"/>
                                        <p:tgtEl>
                                          <p:spTgt spid="23521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52146"/>
                                        </p:tgtEl>
                                        <p:attrNameLst>
                                          <p:attrName>style.visibility</p:attrName>
                                        </p:attrNameLst>
                                      </p:cBhvr>
                                      <p:to>
                                        <p:strVal val="visible"/>
                                      </p:to>
                                    </p:set>
                                    <p:animEffect transition="in" filter="dissolve">
                                      <p:cBhvr>
                                        <p:cTn id="12" dur="500"/>
                                        <p:tgtEl>
                                          <p:spTgt spid="2352146"/>
                                        </p:tgtEl>
                                      </p:cBhvr>
                                    </p:animEffect>
                                  </p:childTnLst>
                                </p:cTn>
                              </p:par>
                              <p:par>
                                <p:cTn id="13" presetID="9" presetClass="entr" presetSubtype="0" fill="hold" nodeType="withEffect">
                                  <p:stCondLst>
                                    <p:cond delay="0"/>
                                  </p:stCondLst>
                                  <p:childTnLst>
                                    <p:set>
                                      <p:cBhvr>
                                        <p:cTn id="14" dur="1" fill="hold">
                                          <p:stCondLst>
                                            <p:cond delay="0"/>
                                          </p:stCondLst>
                                        </p:cTn>
                                        <p:tgtEl>
                                          <p:spTgt spid="2352147"/>
                                        </p:tgtEl>
                                        <p:attrNameLst>
                                          <p:attrName>style.visibility</p:attrName>
                                        </p:attrNameLst>
                                      </p:cBhvr>
                                      <p:to>
                                        <p:strVal val="visible"/>
                                      </p:to>
                                    </p:set>
                                    <p:animEffect transition="in" filter="dissolve">
                                      <p:cBhvr>
                                        <p:cTn id="15" dur="500"/>
                                        <p:tgtEl>
                                          <p:spTgt spid="235214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52148"/>
                                        </p:tgtEl>
                                        <p:attrNameLst>
                                          <p:attrName>style.visibility</p:attrName>
                                        </p:attrNameLst>
                                      </p:cBhvr>
                                      <p:to>
                                        <p:strVal val="visible"/>
                                      </p:to>
                                    </p:set>
                                    <p:animEffect transition="in" filter="dissolve">
                                      <p:cBhvr>
                                        <p:cTn id="20" dur="500"/>
                                        <p:tgtEl>
                                          <p:spTgt spid="2352148"/>
                                        </p:tgtEl>
                                      </p:cBhvr>
                                    </p:animEffect>
                                  </p:childTnLst>
                                </p:cTn>
                              </p:par>
                              <p:par>
                                <p:cTn id="21" presetID="9" presetClass="entr" presetSubtype="0" fill="hold" nodeType="withEffect">
                                  <p:stCondLst>
                                    <p:cond delay="0"/>
                                  </p:stCondLst>
                                  <p:childTnLst>
                                    <p:set>
                                      <p:cBhvr>
                                        <p:cTn id="22" dur="1" fill="hold">
                                          <p:stCondLst>
                                            <p:cond delay="0"/>
                                          </p:stCondLst>
                                        </p:cTn>
                                        <p:tgtEl>
                                          <p:spTgt spid="2352149"/>
                                        </p:tgtEl>
                                        <p:attrNameLst>
                                          <p:attrName>style.visibility</p:attrName>
                                        </p:attrNameLst>
                                      </p:cBhvr>
                                      <p:to>
                                        <p:strVal val="visible"/>
                                      </p:to>
                                    </p:set>
                                    <p:animEffect transition="in" filter="dissolve">
                                      <p:cBhvr>
                                        <p:cTn id="23" dur="500"/>
                                        <p:tgtEl>
                                          <p:spTgt spid="235214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52150"/>
                                        </p:tgtEl>
                                        <p:attrNameLst>
                                          <p:attrName>style.visibility</p:attrName>
                                        </p:attrNameLst>
                                      </p:cBhvr>
                                      <p:to>
                                        <p:strVal val="visible"/>
                                      </p:to>
                                    </p:set>
                                    <p:animEffect transition="in" filter="dissolve">
                                      <p:cBhvr>
                                        <p:cTn id="28" dur="500"/>
                                        <p:tgtEl>
                                          <p:spTgt spid="2352150"/>
                                        </p:tgtEl>
                                      </p:cBhvr>
                                    </p:animEffect>
                                  </p:childTnLst>
                                </p:cTn>
                              </p:par>
                              <p:par>
                                <p:cTn id="29" presetID="9" presetClass="entr" presetSubtype="0" fill="hold" nodeType="withEffect">
                                  <p:stCondLst>
                                    <p:cond delay="0"/>
                                  </p:stCondLst>
                                  <p:childTnLst>
                                    <p:set>
                                      <p:cBhvr>
                                        <p:cTn id="30" dur="1" fill="hold">
                                          <p:stCondLst>
                                            <p:cond delay="0"/>
                                          </p:stCondLst>
                                        </p:cTn>
                                        <p:tgtEl>
                                          <p:spTgt spid="2352151"/>
                                        </p:tgtEl>
                                        <p:attrNameLst>
                                          <p:attrName>style.visibility</p:attrName>
                                        </p:attrNameLst>
                                      </p:cBhvr>
                                      <p:to>
                                        <p:strVal val="visible"/>
                                      </p:to>
                                    </p:set>
                                    <p:animEffect transition="in" filter="dissolve">
                                      <p:cBhvr>
                                        <p:cTn id="31" dur="500"/>
                                        <p:tgtEl>
                                          <p:spTgt spid="235215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352152"/>
                                        </p:tgtEl>
                                        <p:attrNameLst>
                                          <p:attrName>style.visibility</p:attrName>
                                        </p:attrNameLst>
                                      </p:cBhvr>
                                      <p:to>
                                        <p:strVal val="visible"/>
                                      </p:to>
                                    </p:set>
                                    <p:animEffect transition="in" filter="dissolve">
                                      <p:cBhvr>
                                        <p:cTn id="36" dur="500"/>
                                        <p:tgtEl>
                                          <p:spTgt spid="2352152"/>
                                        </p:tgtEl>
                                      </p:cBhvr>
                                    </p:animEffect>
                                  </p:childTnLst>
                                </p:cTn>
                              </p:par>
                              <p:par>
                                <p:cTn id="37" presetID="9" presetClass="entr" presetSubtype="0" fill="hold" nodeType="withEffect">
                                  <p:stCondLst>
                                    <p:cond delay="0"/>
                                  </p:stCondLst>
                                  <p:childTnLst>
                                    <p:set>
                                      <p:cBhvr>
                                        <p:cTn id="38" dur="1" fill="hold">
                                          <p:stCondLst>
                                            <p:cond delay="0"/>
                                          </p:stCondLst>
                                        </p:cTn>
                                        <p:tgtEl>
                                          <p:spTgt spid="2352153"/>
                                        </p:tgtEl>
                                        <p:attrNameLst>
                                          <p:attrName>style.visibility</p:attrName>
                                        </p:attrNameLst>
                                      </p:cBhvr>
                                      <p:to>
                                        <p:strVal val="visible"/>
                                      </p:to>
                                    </p:set>
                                    <p:animEffect transition="in" filter="dissolve">
                                      <p:cBhvr>
                                        <p:cTn id="39" dur="500"/>
                                        <p:tgtEl>
                                          <p:spTgt spid="2352153"/>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nodeType="clickEffect">
                                  <p:stCondLst>
                                    <p:cond delay="0"/>
                                  </p:stCondLst>
                                  <p:childTnLst>
                                    <p:set>
                                      <p:cBhvr>
                                        <p:cTn id="43" dur="1" fill="hold">
                                          <p:stCondLst>
                                            <p:cond delay="0"/>
                                          </p:stCondLst>
                                        </p:cTn>
                                        <p:tgtEl>
                                          <p:spTgt spid="2352154"/>
                                        </p:tgtEl>
                                        <p:attrNameLst>
                                          <p:attrName>style.visibility</p:attrName>
                                        </p:attrNameLst>
                                      </p:cBhvr>
                                      <p:to>
                                        <p:strVal val="visible"/>
                                      </p:to>
                                    </p:set>
                                    <p:animEffect transition="in" filter="dissolve">
                                      <p:cBhvr>
                                        <p:cTn id="44" dur="500"/>
                                        <p:tgtEl>
                                          <p:spTgt spid="2352154"/>
                                        </p:tgtEl>
                                      </p:cBhvr>
                                    </p:animEffect>
                                  </p:childTnLst>
                                </p:cTn>
                              </p:par>
                              <p:par>
                                <p:cTn id="45" presetID="9" presetClass="entr" presetSubtype="0" fill="hold" nodeType="withEffect">
                                  <p:stCondLst>
                                    <p:cond delay="0"/>
                                  </p:stCondLst>
                                  <p:childTnLst>
                                    <p:set>
                                      <p:cBhvr>
                                        <p:cTn id="46" dur="1" fill="hold">
                                          <p:stCondLst>
                                            <p:cond delay="0"/>
                                          </p:stCondLst>
                                        </p:cTn>
                                        <p:tgtEl>
                                          <p:spTgt spid="2352155"/>
                                        </p:tgtEl>
                                        <p:attrNameLst>
                                          <p:attrName>style.visibility</p:attrName>
                                        </p:attrNameLst>
                                      </p:cBhvr>
                                      <p:to>
                                        <p:strVal val="visible"/>
                                      </p:to>
                                    </p:set>
                                    <p:animEffect transition="in" filter="dissolve">
                                      <p:cBhvr>
                                        <p:cTn id="47" dur="500"/>
                                        <p:tgtEl>
                                          <p:spTgt spid="2352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2144" grpId="0" animBg="1"/>
      <p:bldP spid="2352146" grpId="0"/>
      <p:bldP spid="2352147" grpId="0"/>
      <p:bldP spid="2352148" grpId="0"/>
      <p:bldP spid="2352149" grpId="0"/>
      <p:bldP spid="2352150" grpId="0"/>
      <p:bldP spid="2352151" grpId="0"/>
      <p:bldP spid="2352152" grpId="0"/>
      <p:bldP spid="2352153" grpId="0"/>
      <p:bldP spid="2352154" grpId="0"/>
      <p:bldP spid="2352155"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353254" name="Group 102"/>
          <p:cNvGrpSpPr/>
          <p:nvPr/>
        </p:nvGrpSpPr>
        <p:grpSpPr>
          <a:xfrm>
            <a:off x="120650" y="2244725"/>
            <a:ext cx="3694113" cy="3814763"/>
            <a:chOff x="76" y="1414"/>
            <a:chExt cx="2327" cy="2403"/>
          </a:xfrm>
        </p:grpSpPr>
        <p:sp>
          <p:nvSpPr>
            <p:cNvPr id="54285" name="Rectangle 93"/>
            <p:cNvSpPr/>
            <p:nvPr/>
          </p:nvSpPr>
          <p:spPr>
            <a:xfrm>
              <a:off x="76" y="1414"/>
              <a:ext cx="2327" cy="2403"/>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86" name="Rectangle 15"/>
            <p:cNvSpPr/>
            <p:nvPr/>
          </p:nvSpPr>
          <p:spPr>
            <a:xfrm>
              <a:off x="1018" y="1520"/>
              <a:ext cx="393" cy="1218"/>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87" name="Oval 16"/>
            <p:cNvSpPr/>
            <p:nvPr/>
          </p:nvSpPr>
          <p:spPr>
            <a:xfrm>
              <a:off x="1069" y="1703"/>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88" name="Oval 17"/>
            <p:cNvSpPr/>
            <p:nvPr/>
          </p:nvSpPr>
          <p:spPr>
            <a:xfrm>
              <a:off x="1073" y="2050"/>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89" name="Oval 18"/>
            <p:cNvSpPr/>
            <p:nvPr/>
          </p:nvSpPr>
          <p:spPr>
            <a:xfrm>
              <a:off x="1073" y="2558"/>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90" name="Oval 19"/>
            <p:cNvSpPr/>
            <p:nvPr/>
          </p:nvSpPr>
          <p:spPr>
            <a:xfrm>
              <a:off x="1240" y="1708"/>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91" name="Oval 20"/>
            <p:cNvSpPr/>
            <p:nvPr/>
          </p:nvSpPr>
          <p:spPr>
            <a:xfrm>
              <a:off x="1240" y="2049"/>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92" name="Oval 21"/>
            <p:cNvSpPr/>
            <p:nvPr/>
          </p:nvSpPr>
          <p:spPr>
            <a:xfrm>
              <a:off x="1240" y="2558"/>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293" name="Line 22"/>
            <p:cNvSpPr/>
            <p:nvPr/>
          </p:nvSpPr>
          <p:spPr>
            <a:xfrm flipH="1" flipV="1">
              <a:off x="1085" y="1636"/>
              <a:ext cx="150" cy="84"/>
            </a:xfrm>
            <a:prstGeom prst="line">
              <a:avLst/>
            </a:prstGeom>
            <a:ln w="9525" cap="flat" cmpd="sng">
              <a:solidFill>
                <a:schemeClr val="accent2"/>
              </a:solidFill>
              <a:prstDash val="solid"/>
              <a:headEnd type="none" w="med" len="med"/>
              <a:tailEnd type="none" w="med" len="med"/>
            </a:ln>
          </p:spPr>
        </p:sp>
        <p:sp>
          <p:nvSpPr>
            <p:cNvPr id="54294" name="Line 23"/>
            <p:cNvSpPr/>
            <p:nvPr/>
          </p:nvSpPr>
          <p:spPr>
            <a:xfrm flipH="1" flipV="1">
              <a:off x="1089" y="1974"/>
              <a:ext cx="150" cy="84"/>
            </a:xfrm>
            <a:prstGeom prst="line">
              <a:avLst/>
            </a:prstGeom>
            <a:ln w="9525" cap="flat" cmpd="sng">
              <a:solidFill>
                <a:schemeClr val="accent2"/>
              </a:solidFill>
              <a:prstDash val="solid"/>
              <a:headEnd type="none" w="med" len="med"/>
              <a:tailEnd type="none" w="med" len="med"/>
            </a:ln>
          </p:spPr>
        </p:sp>
        <p:sp>
          <p:nvSpPr>
            <p:cNvPr id="54295" name="Line 24"/>
            <p:cNvSpPr/>
            <p:nvPr/>
          </p:nvSpPr>
          <p:spPr>
            <a:xfrm flipH="1" flipV="1">
              <a:off x="1089" y="2491"/>
              <a:ext cx="150" cy="84"/>
            </a:xfrm>
            <a:prstGeom prst="line">
              <a:avLst/>
            </a:prstGeom>
            <a:ln w="9525" cap="flat" cmpd="sng">
              <a:solidFill>
                <a:schemeClr val="accent2"/>
              </a:solidFill>
              <a:prstDash val="solid"/>
              <a:headEnd type="none" w="med" len="med"/>
              <a:tailEnd type="none" w="med" len="med"/>
            </a:ln>
          </p:spPr>
        </p:sp>
        <p:sp>
          <p:nvSpPr>
            <p:cNvPr id="54296" name="Line 25"/>
            <p:cNvSpPr/>
            <p:nvPr/>
          </p:nvSpPr>
          <p:spPr>
            <a:xfrm>
              <a:off x="1294" y="1728"/>
              <a:ext cx="58" cy="0"/>
            </a:xfrm>
            <a:prstGeom prst="line">
              <a:avLst/>
            </a:prstGeom>
            <a:ln w="9525" cap="flat" cmpd="sng">
              <a:solidFill>
                <a:schemeClr val="accent2"/>
              </a:solidFill>
              <a:prstDash val="solid"/>
              <a:headEnd type="none" w="med" len="med"/>
              <a:tailEnd type="none" w="med" len="med"/>
            </a:ln>
          </p:spPr>
        </p:sp>
        <p:sp>
          <p:nvSpPr>
            <p:cNvPr id="54297" name="Line 26"/>
            <p:cNvSpPr/>
            <p:nvPr/>
          </p:nvSpPr>
          <p:spPr>
            <a:xfrm>
              <a:off x="1352" y="1728"/>
              <a:ext cx="0" cy="852"/>
            </a:xfrm>
            <a:prstGeom prst="line">
              <a:avLst/>
            </a:prstGeom>
            <a:ln w="9525" cap="flat" cmpd="sng">
              <a:solidFill>
                <a:schemeClr val="accent2"/>
              </a:solidFill>
              <a:prstDash val="solid"/>
              <a:headEnd type="none" w="med" len="med"/>
              <a:tailEnd type="none" w="med" len="med"/>
            </a:ln>
          </p:spPr>
        </p:sp>
        <p:sp>
          <p:nvSpPr>
            <p:cNvPr id="54298" name="Line 27"/>
            <p:cNvSpPr/>
            <p:nvPr/>
          </p:nvSpPr>
          <p:spPr>
            <a:xfrm>
              <a:off x="1286" y="2071"/>
              <a:ext cx="66" cy="0"/>
            </a:xfrm>
            <a:prstGeom prst="line">
              <a:avLst/>
            </a:prstGeom>
            <a:ln w="9525" cap="flat" cmpd="sng">
              <a:solidFill>
                <a:schemeClr val="accent2"/>
              </a:solidFill>
              <a:prstDash val="solid"/>
              <a:headEnd type="none" w="med" len="med"/>
              <a:tailEnd type="none" w="med" len="med"/>
            </a:ln>
          </p:spPr>
        </p:sp>
        <p:sp>
          <p:nvSpPr>
            <p:cNvPr id="54299" name="Line 28"/>
            <p:cNvSpPr/>
            <p:nvPr/>
          </p:nvSpPr>
          <p:spPr>
            <a:xfrm>
              <a:off x="1286" y="2580"/>
              <a:ext cx="66" cy="0"/>
            </a:xfrm>
            <a:prstGeom prst="line">
              <a:avLst/>
            </a:prstGeom>
            <a:ln w="9525" cap="flat" cmpd="sng">
              <a:solidFill>
                <a:schemeClr val="accent2"/>
              </a:solidFill>
              <a:prstDash val="solid"/>
              <a:headEnd type="none" w="med" len="med"/>
              <a:tailEnd type="none" w="med" len="med"/>
            </a:ln>
          </p:spPr>
        </p:sp>
        <p:sp>
          <p:nvSpPr>
            <p:cNvPr id="54300" name="Line 29"/>
            <p:cNvSpPr/>
            <p:nvPr/>
          </p:nvSpPr>
          <p:spPr>
            <a:xfrm>
              <a:off x="1352" y="2129"/>
              <a:ext cx="334" cy="0"/>
            </a:xfrm>
            <a:prstGeom prst="line">
              <a:avLst/>
            </a:prstGeom>
            <a:ln w="9525" cap="flat" cmpd="sng">
              <a:solidFill>
                <a:schemeClr val="accent2"/>
              </a:solidFill>
              <a:prstDash val="solid"/>
              <a:headEnd type="none" w="med" len="med"/>
              <a:tailEnd type="none" w="med" len="med"/>
            </a:ln>
          </p:spPr>
        </p:sp>
        <p:grpSp>
          <p:nvGrpSpPr>
            <p:cNvPr id="54301" name="Group 30"/>
            <p:cNvGrpSpPr/>
            <p:nvPr/>
          </p:nvGrpSpPr>
          <p:grpSpPr>
            <a:xfrm>
              <a:off x="1662" y="2001"/>
              <a:ext cx="454" cy="465"/>
              <a:chOff x="1662" y="999"/>
              <a:chExt cx="454" cy="465"/>
            </a:xfrm>
          </p:grpSpPr>
          <p:sp>
            <p:nvSpPr>
              <p:cNvPr id="54360" name="AutoShape 31"/>
              <p:cNvSpPr/>
              <p:nvPr/>
            </p:nvSpPr>
            <p:spPr>
              <a:xfrm rot="5400000">
                <a:off x="1678" y="1026"/>
                <a:ext cx="442" cy="433"/>
              </a:xfrm>
              <a:prstGeom prst="triangle">
                <a:avLst>
                  <a:gd name="adj" fmla="val 49894"/>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61" name="Text Box 32"/>
              <p:cNvSpPr txBox="1"/>
              <p:nvPr/>
            </p:nvSpPr>
            <p:spPr>
              <a:xfrm>
                <a:off x="1662" y="999"/>
                <a:ext cx="189" cy="457"/>
              </a:xfrm>
              <a:prstGeom prst="rect">
                <a:avLst/>
              </a:prstGeom>
              <a:noFill/>
              <a:ln w="9525">
                <a:noFill/>
              </a:ln>
            </p:spPr>
            <p:txBody>
              <a:bodyPr wrap="none">
                <a:spAutoFit/>
              </a:bodyPr>
              <a:p>
                <a:pPr eaLnBrk="1" hangingPunct="1">
                  <a:lnSpc>
                    <a:spcPct val="90000"/>
                  </a:lnSpc>
                </a:pPr>
                <a:r>
                  <a:rPr lang="en-US" altLang="zh-CN" sz="12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200" dirty="0">
                  <a:latin typeface="Times New Roman" panose="02020603050405020304" pitchFamily="18" charset="0"/>
                </a:endParaRPr>
              </a:p>
              <a:p>
                <a:pPr eaLnBrk="1" hangingPunct="1">
                  <a:lnSpc>
                    <a:spcPct val="90000"/>
                  </a:lnSpc>
                </a:pP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grpSp>
        <p:sp>
          <p:nvSpPr>
            <p:cNvPr id="54302" name="Line 33"/>
            <p:cNvSpPr/>
            <p:nvPr/>
          </p:nvSpPr>
          <p:spPr>
            <a:xfrm>
              <a:off x="2104" y="2246"/>
              <a:ext cx="175" cy="0"/>
            </a:xfrm>
            <a:prstGeom prst="line">
              <a:avLst/>
            </a:prstGeom>
            <a:ln w="9525" cap="flat" cmpd="sng">
              <a:solidFill>
                <a:schemeClr val="accent2"/>
              </a:solidFill>
              <a:prstDash val="solid"/>
              <a:headEnd type="none" w="med" len="med"/>
              <a:tailEnd type="none" w="med" len="med"/>
            </a:ln>
          </p:spPr>
        </p:sp>
        <p:sp>
          <p:nvSpPr>
            <p:cNvPr id="54303" name="Oval 34"/>
            <p:cNvSpPr/>
            <p:nvPr/>
          </p:nvSpPr>
          <p:spPr>
            <a:xfrm>
              <a:off x="2280" y="2221"/>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04" name="Line 35"/>
            <p:cNvSpPr/>
            <p:nvPr/>
          </p:nvSpPr>
          <p:spPr>
            <a:xfrm flipV="1">
              <a:off x="2170" y="1904"/>
              <a:ext cx="0" cy="342"/>
            </a:xfrm>
            <a:prstGeom prst="line">
              <a:avLst/>
            </a:prstGeom>
            <a:ln w="9525" cap="flat" cmpd="sng">
              <a:solidFill>
                <a:schemeClr val="accent2"/>
              </a:solidFill>
              <a:prstDash val="solid"/>
              <a:headEnd type="none" w="med" len="med"/>
              <a:tailEnd type="none" w="med" len="med"/>
            </a:ln>
          </p:spPr>
        </p:sp>
        <p:sp>
          <p:nvSpPr>
            <p:cNvPr id="54305" name="Oval 36"/>
            <p:cNvSpPr/>
            <p:nvPr/>
          </p:nvSpPr>
          <p:spPr>
            <a:xfrm>
              <a:off x="2146" y="2229"/>
              <a:ext cx="48" cy="40"/>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06" name="Line 37"/>
            <p:cNvSpPr/>
            <p:nvPr/>
          </p:nvSpPr>
          <p:spPr>
            <a:xfrm flipH="1">
              <a:off x="1896" y="1904"/>
              <a:ext cx="274" cy="0"/>
            </a:xfrm>
            <a:prstGeom prst="line">
              <a:avLst/>
            </a:prstGeom>
            <a:ln w="9525" cap="flat" cmpd="sng">
              <a:solidFill>
                <a:schemeClr val="accent2"/>
              </a:solidFill>
              <a:prstDash val="solid"/>
              <a:headEnd type="none" w="med" len="med"/>
              <a:tailEnd type="none" w="med" len="med"/>
            </a:ln>
          </p:spPr>
        </p:sp>
        <p:sp>
          <p:nvSpPr>
            <p:cNvPr id="54307" name="Line 38"/>
            <p:cNvSpPr/>
            <p:nvPr/>
          </p:nvSpPr>
          <p:spPr>
            <a:xfrm flipH="1">
              <a:off x="1519" y="1904"/>
              <a:ext cx="201" cy="0"/>
            </a:xfrm>
            <a:prstGeom prst="line">
              <a:avLst/>
            </a:prstGeom>
            <a:ln w="9525" cap="flat" cmpd="sng">
              <a:solidFill>
                <a:schemeClr val="accent2"/>
              </a:solidFill>
              <a:prstDash val="solid"/>
              <a:headEnd type="none" w="med" len="med"/>
              <a:tailEnd type="none" w="med" len="med"/>
            </a:ln>
          </p:spPr>
        </p:sp>
        <p:sp>
          <p:nvSpPr>
            <p:cNvPr id="54308" name="Line 39"/>
            <p:cNvSpPr/>
            <p:nvPr/>
          </p:nvSpPr>
          <p:spPr>
            <a:xfrm>
              <a:off x="1519" y="1904"/>
              <a:ext cx="0" cy="225"/>
            </a:xfrm>
            <a:prstGeom prst="line">
              <a:avLst/>
            </a:prstGeom>
            <a:ln w="9525" cap="flat" cmpd="sng">
              <a:solidFill>
                <a:schemeClr val="accent2"/>
              </a:solidFill>
              <a:prstDash val="solid"/>
              <a:headEnd type="none" w="med" len="med"/>
              <a:tailEnd type="none" w="med" len="med"/>
            </a:ln>
          </p:spPr>
        </p:sp>
        <p:sp>
          <p:nvSpPr>
            <p:cNvPr id="54309" name="Oval 40"/>
            <p:cNvSpPr/>
            <p:nvPr/>
          </p:nvSpPr>
          <p:spPr>
            <a:xfrm>
              <a:off x="1491" y="2109"/>
              <a:ext cx="56" cy="4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10" name="Line 41"/>
            <p:cNvSpPr/>
            <p:nvPr/>
          </p:nvSpPr>
          <p:spPr>
            <a:xfrm flipH="1">
              <a:off x="1519" y="2371"/>
              <a:ext cx="159" cy="0"/>
            </a:xfrm>
            <a:prstGeom prst="line">
              <a:avLst/>
            </a:prstGeom>
            <a:ln w="9525" cap="flat" cmpd="sng">
              <a:solidFill>
                <a:schemeClr val="accent2"/>
              </a:solidFill>
              <a:prstDash val="solid"/>
              <a:headEnd type="none" w="med" len="med"/>
              <a:tailEnd type="none" w="med" len="med"/>
            </a:ln>
          </p:spPr>
        </p:sp>
        <p:sp>
          <p:nvSpPr>
            <p:cNvPr id="54311" name="Line 42"/>
            <p:cNvSpPr/>
            <p:nvPr/>
          </p:nvSpPr>
          <p:spPr>
            <a:xfrm>
              <a:off x="1519" y="2371"/>
              <a:ext cx="0" cy="810"/>
            </a:xfrm>
            <a:prstGeom prst="line">
              <a:avLst/>
            </a:prstGeom>
            <a:ln w="9525" cap="flat" cmpd="sng">
              <a:solidFill>
                <a:schemeClr val="accent2"/>
              </a:solidFill>
              <a:prstDash val="solid"/>
              <a:headEnd type="none" w="med" len="med"/>
              <a:tailEnd type="none" w="med" len="med"/>
            </a:ln>
          </p:spPr>
        </p:sp>
        <p:sp>
          <p:nvSpPr>
            <p:cNvPr id="54312" name="AutoShape 43"/>
            <p:cNvSpPr/>
            <p:nvPr/>
          </p:nvSpPr>
          <p:spPr>
            <a:xfrm rot="10800000">
              <a:off x="1444" y="3173"/>
              <a:ext cx="158" cy="98"/>
            </a:xfrm>
            <a:prstGeom prst="triangle">
              <a:avLst>
                <a:gd name="adj" fmla="val 49699"/>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13" name="Line 44"/>
            <p:cNvSpPr/>
            <p:nvPr/>
          </p:nvSpPr>
          <p:spPr>
            <a:xfrm>
              <a:off x="560" y="1734"/>
              <a:ext cx="208" cy="0"/>
            </a:xfrm>
            <a:prstGeom prst="line">
              <a:avLst/>
            </a:prstGeom>
            <a:ln w="9525" cap="flat" cmpd="sng">
              <a:solidFill>
                <a:schemeClr val="accent2"/>
              </a:solidFill>
              <a:prstDash val="solid"/>
              <a:headEnd type="none" w="med" len="med"/>
              <a:tailEnd type="none" w="med" len="med"/>
            </a:ln>
          </p:spPr>
        </p:sp>
        <p:sp>
          <p:nvSpPr>
            <p:cNvPr id="54314" name="Line 45"/>
            <p:cNvSpPr/>
            <p:nvPr/>
          </p:nvSpPr>
          <p:spPr>
            <a:xfrm>
              <a:off x="927" y="1734"/>
              <a:ext cx="142" cy="0"/>
            </a:xfrm>
            <a:prstGeom prst="line">
              <a:avLst/>
            </a:prstGeom>
            <a:ln w="9525" cap="flat" cmpd="sng">
              <a:solidFill>
                <a:schemeClr val="accent2"/>
              </a:solidFill>
              <a:prstDash val="solid"/>
              <a:headEnd type="none" w="med" len="med"/>
              <a:tailEnd type="none" w="med" len="med"/>
            </a:ln>
          </p:spPr>
        </p:sp>
        <p:sp>
          <p:nvSpPr>
            <p:cNvPr id="54315" name="Line 46"/>
            <p:cNvSpPr/>
            <p:nvPr/>
          </p:nvSpPr>
          <p:spPr>
            <a:xfrm>
              <a:off x="555" y="2075"/>
              <a:ext cx="217" cy="0"/>
            </a:xfrm>
            <a:prstGeom prst="line">
              <a:avLst/>
            </a:prstGeom>
            <a:ln w="9525" cap="flat" cmpd="sng">
              <a:solidFill>
                <a:schemeClr val="accent2"/>
              </a:solidFill>
              <a:prstDash val="solid"/>
              <a:headEnd type="none" w="med" len="med"/>
              <a:tailEnd type="none" w="med" len="med"/>
            </a:ln>
          </p:spPr>
        </p:sp>
        <p:sp>
          <p:nvSpPr>
            <p:cNvPr id="54316" name="Line 47"/>
            <p:cNvSpPr/>
            <p:nvPr/>
          </p:nvSpPr>
          <p:spPr>
            <a:xfrm>
              <a:off x="939" y="2074"/>
              <a:ext cx="142" cy="0"/>
            </a:xfrm>
            <a:prstGeom prst="line">
              <a:avLst/>
            </a:prstGeom>
            <a:ln w="9525" cap="flat" cmpd="sng">
              <a:solidFill>
                <a:schemeClr val="accent2"/>
              </a:solidFill>
              <a:prstDash val="solid"/>
              <a:headEnd type="none" w="med" len="med"/>
              <a:tailEnd type="none" w="med" len="med"/>
            </a:ln>
          </p:spPr>
        </p:sp>
        <p:sp>
          <p:nvSpPr>
            <p:cNvPr id="54317" name="Text Box 48"/>
            <p:cNvSpPr txBox="1"/>
            <p:nvPr/>
          </p:nvSpPr>
          <p:spPr>
            <a:xfrm>
              <a:off x="543" y="2091"/>
              <a:ext cx="152" cy="422"/>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54318" name="Line 49"/>
            <p:cNvSpPr/>
            <p:nvPr/>
          </p:nvSpPr>
          <p:spPr>
            <a:xfrm>
              <a:off x="551" y="2581"/>
              <a:ext cx="209" cy="0"/>
            </a:xfrm>
            <a:prstGeom prst="line">
              <a:avLst/>
            </a:prstGeom>
            <a:ln w="9525" cap="flat" cmpd="sng">
              <a:solidFill>
                <a:schemeClr val="accent2"/>
              </a:solidFill>
              <a:prstDash val="solid"/>
              <a:headEnd type="none" w="med" len="med"/>
              <a:tailEnd type="none" w="med" len="med"/>
            </a:ln>
          </p:spPr>
        </p:sp>
        <p:sp>
          <p:nvSpPr>
            <p:cNvPr id="54319" name="Line 50"/>
            <p:cNvSpPr/>
            <p:nvPr/>
          </p:nvSpPr>
          <p:spPr>
            <a:xfrm flipH="1">
              <a:off x="184" y="1728"/>
              <a:ext cx="117" cy="0"/>
            </a:xfrm>
            <a:prstGeom prst="line">
              <a:avLst/>
            </a:prstGeom>
            <a:ln w="9525" cap="flat" cmpd="sng">
              <a:solidFill>
                <a:schemeClr val="accent2"/>
              </a:solidFill>
              <a:prstDash val="solid"/>
              <a:headEnd type="none" w="med" len="med"/>
              <a:tailEnd type="none" w="med" len="med"/>
            </a:ln>
          </p:spPr>
        </p:sp>
        <p:sp>
          <p:nvSpPr>
            <p:cNvPr id="54320" name="Line 51"/>
            <p:cNvSpPr/>
            <p:nvPr/>
          </p:nvSpPr>
          <p:spPr>
            <a:xfrm flipH="1">
              <a:off x="184" y="2071"/>
              <a:ext cx="117" cy="0"/>
            </a:xfrm>
            <a:prstGeom prst="line">
              <a:avLst/>
            </a:prstGeom>
            <a:ln w="9525" cap="flat" cmpd="sng">
              <a:solidFill>
                <a:schemeClr val="accent2"/>
              </a:solidFill>
              <a:prstDash val="solid"/>
              <a:headEnd type="none" w="med" len="med"/>
              <a:tailEnd type="none" w="med" len="med"/>
            </a:ln>
          </p:spPr>
        </p:sp>
        <p:sp>
          <p:nvSpPr>
            <p:cNvPr id="54321" name="Line 52"/>
            <p:cNvSpPr/>
            <p:nvPr/>
          </p:nvSpPr>
          <p:spPr>
            <a:xfrm flipH="1">
              <a:off x="184" y="2580"/>
              <a:ext cx="108" cy="0"/>
            </a:xfrm>
            <a:prstGeom prst="line">
              <a:avLst/>
            </a:prstGeom>
            <a:ln w="9525" cap="flat" cmpd="sng">
              <a:solidFill>
                <a:schemeClr val="accent2"/>
              </a:solidFill>
              <a:prstDash val="solid"/>
              <a:headEnd type="none" w="med" len="med"/>
              <a:tailEnd type="none" w="med" len="med"/>
            </a:ln>
          </p:spPr>
        </p:sp>
        <p:sp>
          <p:nvSpPr>
            <p:cNvPr id="54322" name="Line 53"/>
            <p:cNvSpPr/>
            <p:nvPr/>
          </p:nvSpPr>
          <p:spPr>
            <a:xfrm>
              <a:off x="184" y="1728"/>
              <a:ext cx="0" cy="368"/>
            </a:xfrm>
            <a:prstGeom prst="line">
              <a:avLst/>
            </a:prstGeom>
            <a:ln w="9525" cap="flat" cmpd="sng">
              <a:solidFill>
                <a:schemeClr val="accent2"/>
              </a:solidFill>
              <a:prstDash val="solid"/>
              <a:headEnd type="none" w="med" len="med"/>
              <a:tailEnd type="none" w="med" len="med"/>
            </a:ln>
          </p:spPr>
        </p:sp>
        <p:sp>
          <p:nvSpPr>
            <p:cNvPr id="54323" name="Line 54"/>
            <p:cNvSpPr/>
            <p:nvPr/>
          </p:nvSpPr>
          <p:spPr>
            <a:xfrm>
              <a:off x="184" y="2071"/>
              <a:ext cx="0" cy="509"/>
            </a:xfrm>
            <a:prstGeom prst="line">
              <a:avLst/>
            </a:prstGeom>
            <a:ln w="9525" cap="flat" cmpd="sng">
              <a:solidFill>
                <a:schemeClr val="accent2"/>
              </a:solidFill>
              <a:prstDash val="sysDot"/>
              <a:headEnd type="none" w="med" len="med"/>
              <a:tailEnd type="none" w="med" len="med"/>
            </a:ln>
          </p:spPr>
        </p:sp>
        <p:sp>
          <p:nvSpPr>
            <p:cNvPr id="54324" name="Line 55"/>
            <p:cNvSpPr/>
            <p:nvPr/>
          </p:nvSpPr>
          <p:spPr>
            <a:xfrm>
              <a:off x="184" y="2580"/>
              <a:ext cx="0" cy="425"/>
            </a:xfrm>
            <a:prstGeom prst="line">
              <a:avLst/>
            </a:prstGeom>
            <a:ln w="9525" cap="flat" cmpd="sng">
              <a:solidFill>
                <a:schemeClr val="accent2"/>
              </a:solidFill>
              <a:prstDash val="solid"/>
              <a:headEnd type="none" w="med" len="med"/>
              <a:tailEnd type="none" w="med" len="med"/>
            </a:ln>
          </p:spPr>
        </p:sp>
        <p:sp>
          <p:nvSpPr>
            <p:cNvPr id="54325" name="Line 56"/>
            <p:cNvSpPr/>
            <p:nvPr/>
          </p:nvSpPr>
          <p:spPr>
            <a:xfrm>
              <a:off x="184" y="3005"/>
              <a:ext cx="1336" cy="1"/>
            </a:xfrm>
            <a:prstGeom prst="line">
              <a:avLst/>
            </a:prstGeom>
            <a:ln w="9525" cap="flat" cmpd="sng">
              <a:solidFill>
                <a:schemeClr val="accent2"/>
              </a:solidFill>
              <a:prstDash val="solid"/>
              <a:headEnd type="none" w="med" len="med"/>
              <a:tailEnd type="none" w="med" len="med"/>
            </a:ln>
          </p:spPr>
        </p:sp>
        <p:sp>
          <p:nvSpPr>
            <p:cNvPr id="54326" name="Line 57"/>
            <p:cNvSpPr/>
            <p:nvPr/>
          </p:nvSpPr>
          <p:spPr>
            <a:xfrm>
              <a:off x="1185" y="3005"/>
              <a:ext cx="0" cy="176"/>
            </a:xfrm>
            <a:prstGeom prst="line">
              <a:avLst/>
            </a:prstGeom>
            <a:ln w="9525" cap="flat" cmpd="sng">
              <a:solidFill>
                <a:schemeClr val="accent2"/>
              </a:solidFill>
              <a:prstDash val="solid"/>
              <a:headEnd type="none" w="med" len="med"/>
              <a:tailEnd type="none" w="med" len="med"/>
            </a:ln>
          </p:spPr>
        </p:sp>
        <p:grpSp>
          <p:nvGrpSpPr>
            <p:cNvPr id="54327" name="Group 58"/>
            <p:cNvGrpSpPr/>
            <p:nvPr/>
          </p:nvGrpSpPr>
          <p:grpSpPr>
            <a:xfrm>
              <a:off x="1069" y="3181"/>
              <a:ext cx="242" cy="88"/>
              <a:chOff x="1069" y="2179"/>
              <a:chExt cx="242" cy="88"/>
            </a:xfrm>
          </p:grpSpPr>
          <p:sp>
            <p:nvSpPr>
              <p:cNvPr id="54355" name="Line 59"/>
              <p:cNvSpPr/>
              <p:nvPr/>
            </p:nvSpPr>
            <p:spPr>
              <a:xfrm>
                <a:off x="1077" y="2179"/>
                <a:ext cx="234" cy="0"/>
              </a:xfrm>
              <a:prstGeom prst="line">
                <a:avLst/>
              </a:prstGeom>
              <a:ln w="9525" cap="flat" cmpd="sng">
                <a:solidFill>
                  <a:schemeClr val="accent2"/>
                </a:solidFill>
                <a:prstDash val="solid"/>
                <a:headEnd type="none" w="med" len="med"/>
                <a:tailEnd type="none" w="med" len="med"/>
              </a:ln>
            </p:spPr>
          </p:sp>
          <p:sp>
            <p:nvSpPr>
              <p:cNvPr id="54356" name="Line 60"/>
              <p:cNvSpPr/>
              <p:nvPr/>
            </p:nvSpPr>
            <p:spPr>
              <a:xfrm flipH="1">
                <a:off x="1069" y="2179"/>
                <a:ext cx="50" cy="83"/>
              </a:xfrm>
              <a:prstGeom prst="line">
                <a:avLst/>
              </a:prstGeom>
              <a:ln w="9525" cap="flat" cmpd="sng">
                <a:solidFill>
                  <a:schemeClr val="accent2"/>
                </a:solidFill>
                <a:prstDash val="solid"/>
                <a:headEnd type="none" w="med" len="med"/>
                <a:tailEnd type="none" w="med" len="med"/>
              </a:ln>
            </p:spPr>
          </p:sp>
          <p:sp>
            <p:nvSpPr>
              <p:cNvPr id="54357" name="Line 61"/>
              <p:cNvSpPr/>
              <p:nvPr/>
            </p:nvSpPr>
            <p:spPr>
              <a:xfrm flipH="1">
                <a:off x="1123" y="2182"/>
                <a:ext cx="50" cy="83"/>
              </a:xfrm>
              <a:prstGeom prst="line">
                <a:avLst/>
              </a:prstGeom>
              <a:ln w="9525" cap="flat" cmpd="sng">
                <a:solidFill>
                  <a:schemeClr val="accent2"/>
                </a:solidFill>
                <a:prstDash val="solid"/>
                <a:headEnd type="none" w="med" len="med"/>
                <a:tailEnd type="none" w="med" len="med"/>
              </a:ln>
            </p:spPr>
          </p:sp>
          <p:sp>
            <p:nvSpPr>
              <p:cNvPr id="54358" name="Line 62"/>
              <p:cNvSpPr/>
              <p:nvPr/>
            </p:nvSpPr>
            <p:spPr>
              <a:xfrm flipH="1">
                <a:off x="1173" y="2182"/>
                <a:ext cx="50" cy="83"/>
              </a:xfrm>
              <a:prstGeom prst="line">
                <a:avLst/>
              </a:prstGeom>
              <a:ln w="9525" cap="flat" cmpd="sng">
                <a:solidFill>
                  <a:schemeClr val="accent2"/>
                </a:solidFill>
                <a:prstDash val="solid"/>
                <a:headEnd type="none" w="med" len="med"/>
                <a:tailEnd type="none" w="med" len="med"/>
              </a:ln>
            </p:spPr>
          </p:sp>
          <p:sp>
            <p:nvSpPr>
              <p:cNvPr id="54359" name="Line 63"/>
              <p:cNvSpPr/>
              <p:nvPr/>
            </p:nvSpPr>
            <p:spPr>
              <a:xfrm flipH="1">
                <a:off x="1232" y="2184"/>
                <a:ext cx="50" cy="83"/>
              </a:xfrm>
              <a:prstGeom prst="line">
                <a:avLst/>
              </a:prstGeom>
              <a:ln w="9525" cap="flat" cmpd="sng">
                <a:solidFill>
                  <a:schemeClr val="accent2"/>
                </a:solidFill>
                <a:prstDash val="solid"/>
                <a:headEnd type="none" w="med" len="med"/>
                <a:tailEnd type="none" w="med" len="med"/>
              </a:ln>
            </p:spPr>
          </p:sp>
        </p:grpSp>
        <p:sp>
          <p:nvSpPr>
            <p:cNvPr id="54328" name="Text Box 64"/>
            <p:cNvSpPr txBox="1"/>
            <p:nvPr/>
          </p:nvSpPr>
          <p:spPr>
            <a:xfrm>
              <a:off x="1107" y="2086"/>
              <a:ext cx="152" cy="422"/>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54329" name="Text Box 65"/>
            <p:cNvSpPr txBox="1"/>
            <p:nvPr/>
          </p:nvSpPr>
          <p:spPr>
            <a:xfrm>
              <a:off x="1587" y="3100"/>
              <a:ext cx="503" cy="197"/>
            </a:xfrm>
            <a:prstGeom prst="rect">
              <a:avLst/>
            </a:prstGeom>
            <a:noFill/>
            <a:ln w="9525">
              <a:noFill/>
            </a:ln>
          </p:spPr>
          <p:txBody>
            <a:bodyPr wrap="none">
              <a:spAutoFit/>
            </a:bodyPr>
            <a:p>
              <a:pPr eaLnBrk="1" hangingPunct="1">
                <a:lnSpc>
                  <a:spcPct val="90000"/>
                </a:lnSpc>
              </a:pPr>
              <a:r>
                <a:rPr lang="zh-CN" altLang="en-US" sz="1600" dirty="0">
                  <a:latin typeface="Times New Roman" panose="02020603050405020304" pitchFamily="18" charset="0"/>
                </a:rPr>
                <a:t>模拟地</a:t>
              </a:r>
              <a:endParaRPr lang="zh-CN" altLang="en-US" sz="1600" dirty="0">
                <a:latin typeface="Times New Roman" panose="02020603050405020304" pitchFamily="18" charset="0"/>
              </a:endParaRPr>
            </a:p>
          </p:txBody>
        </p:sp>
        <p:grpSp>
          <p:nvGrpSpPr>
            <p:cNvPr id="54330" name="Group 66"/>
            <p:cNvGrpSpPr/>
            <p:nvPr/>
          </p:nvGrpSpPr>
          <p:grpSpPr>
            <a:xfrm>
              <a:off x="291" y="1611"/>
              <a:ext cx="301" cy="250"/>
              <a:chOff x="291" y="609"/>
              <a:chExt cx="301" cy="250"/>
            </a:xfrm>
          </p:grpSpPr>
          <p:sp>
            <p:nvSpPr>
              <p:cNvPr id="54353" name="Oval 67"/>
              <p:cNvSpPr/>
              <p:nvPr/>
            </p:nvSpPr>
            <p:spPr>
              <a:xfrm>
                <a:off x="309" y="609"/>
                <a:ext cx="250"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54" name="Text Box 68"/>
              <p:cNvSpPr txBox="1"/>
              <p:nvPr/>
            </p:nvSpPr>
            <p:spPr>
              <a:xfrm>
                <a:off x="291" y="618"/>
                <a:ext cx="301"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S1</a:t>
                </a:r>
                <a:endParaRPr lang="en-US" altLang="zh-CN" sz="1600" baseline="-25000" dirty="0">
                  <a:latin typeface="Times New Roman" panose="02020603050405020304" pitchFamily="18" charset="0"/>
                </a:endParaRPr>
              </a:p>
            </p:txBody>
          </p:sp>
        </p:grpSp>
        <p:grpSp>
          <p:nvGrpSpPr>
            <p:cNvPr id="54331" name="Group 69"/>
            <p:cNvGrpSpPr/>
            <p:nvPr/>
          </p:nvGrpSpPr>
          <p:grpSpPr>
            <a:xfrm>
              <a:off x="713" y="1507"/>
              <a:ext cx="294" cy="250"/>
              <a:chOff x="713" y="505"/>
              <a:chExt cx="294" cy="250"/>
            </a:xfrm>
          </p:grpSpPr>
          <p:sp>
            <p:nvSpPr>
              <p:cNvPr id="54351" name="Rectangle 70"/>
              <p:cNvSpPr/>
              <p:nvPr/>
            </p:nvSpPr>
            <p:spPr>
              <a:xfrm>
                <a:off x="768" y="710"/>
                <a:ext cx="159" cy="45"/>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52" name="Text Box 71"/>
              <p:cNvSpPr txBox="1"/>
              <p:nvPr/>
            </p:nvSpPr>
            <p:spPr>
              <a:xfrm>
                <a:off x="713" y="505"/>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S1</a:t>
                </a:r>
                <a:endParaRPr lang="en-US" altLang="zh-CN" sz="1600" baseline="-25000" dirty="0">
                  <a:latin typeface="Times New Roman" panose="02020603050405020304" pitchFamily="18" charset="0"/>
                </a:endParaRPr>
              </a:p>
            </p:txBody>
          </p:sp>
        </p:grpSp>
        <p:grpSp>
          <p:nvGrpSpPr>
            <p:cNvPr id="54332" name="Group 72"/>
            <p:cNvGrpSpPr/>
            <p:nvPr/>
          </p:nvGrpSpPr>
          <p:grpSpPr>
            <a:xfrm>
              <a:off x="287" y="1949"/>
              <a:ext cx="301" cy="250"/>
              <a:chOff x="287" y="947"/>
              <a:chExt cx="301" cy="250"/>
            </a:xfrm>
          </p:grpSpPr>
          <p:sp>
            <p:nvSpPr>
              <p:cNvPr id="54349" name="Oval 73"/>
              <p:cNvSpPr/>
              <p:nvPr/>
            </p:nvSpPr>
            <p:spPr>
              <a:xfrm>
                <a:off x="305" y="947"/>
                <a:ext cx="250"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50" name="Text Box 74"/>
              <p:cNvSpPr txBox="1"/>
              <p:nvPr/>
            </p:nvSpPr>
            <p:spPr>
              <a:xfrm>
                <a:off x="287" y="956"/>
                <a:ext cx="301"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S2</a:t>
                </a:r>
                <a:endParaRPr lang="en-US" altLang="zh-CN" sz="1600" baseline="-25000" dirty="0">
                  <a:latin typeface="Times New Roman" panose="02020603050405020304" pitchFamily="18" charset="0"/>
                </a:endParaRPr>
              </a:p>
            </p:txBody>
          </p:sp>
        </p:grpSp>
        <p:grpSp>
          <p:nvGrpSpPr>
            <p:cNvPr id="54333" name="Group 75"/>
            <p:cNvGrpSpPr/>
            <p:nvPr/>
          </p:nvGrpSpPr>
          <p:grpSpPr>
            <a:xfrm>
              <a:off x="726" y="1853"/>
              <a:ext cx="294" cy="244"/>
              <a:chOff x="726" y="851"/>
              <a:chExt cx="294" cy="244"/>
            </a:xfrm>
          </p:grpSpPr>
          <p:sp>
            <p:nvSpPr>
              <p:cNvPr id="54347" name="Rectangle 76"/>
              <p:cNvSpPr/>
              <p:nvPr/>
            </p:nvSpPr>
            <p:spPr>
              <a:xfrm>
                <a:off x="764" y="1051"/>
                <a:ext cx="168" cy="44"/>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48" name="Text Box 77"/>
              <p:cNvSpPr txBox="1"/>
              <p:nvPr/>
            </p:nvSpPr>
            <p:spPr>
              <a:xfrm>
                <a:off x="726" y="851"/>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S2</a:t>
                </a:r>
                <a:endParaRPr lang="en-US" altLang="zh-CN" sz="1600" baseline="-25000" dirty="0">
                  <a:latin typeface="Times New Roman" panose="02020603050405020304" pitchFamily="18" charset="0"/>
                </a:endParaRPr>
              </a:p>
            </p:txBody>
          </p:sp>
        </p:grpSp>
        <p:grpSp>
          <p:nvGrpSpPr>
            <p:cNvPr id="54334" name="Group 78"/>
            <p:cNvGrpSpPr/>
            <p:nvPr/>
          </p:nvGrpSpPr>
          <p:grpSpPr>
            <a:xfrm>
              <a:off x="275" y="2454"/>
              <a:ext cx="306" cy="250"/>
              <a:chOff x="275" y="1452"/>
              <a:chExt cx="306" cy="250"/>
            </a:xfrm>
          </p:grpSpPr>
          <p:sp>
            <p:nvSpPr>
              <p:cNvPr id="54345" name="Oval 79"/>
              <p:cNvSpPr/>
              <p:nvPr/>
            </p:nvSpPr>
            <p:spPr>
              <a:xfrm>
                <a:off x="301" y="1452"/>
                <a:ext cx="250"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46" name="Text Box 80"/>
              <p:cNvSpPr txBox="1"/>
              <p:nvPr/>
            </p:nvSpPr>
            <p:spPr>
              <a:xfrm>
                <a:off x="275" y="1470"/>
                <a:ext cx="306"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a:t>
                </a:r>
                <a:r>
                  <a:rPr lang="en-US" altLang="zh-CN" sz="1600" i="1" baseline="-25000" dirty="0">
                    <a:latin typeface="Times New Roman" panose="02020603050405020304" pitchFamily="18" charset="0"/>
                  </a:rPr>
                  <a:t>n</a:t>
                </a:r>
                <a:endParaRPr lang="en-US" altLang="zh-CN" sz="1600" i="1" baseline="-25000" dirty="0">
                  <a:latin typeface="Times New Roman" panose="02020603050405020304" pitchFamily="18" charset="0"/>
                </a:endParaRPr>
              </a:p>
            </p:txBody>
          </p:sp>
        </p:grpSp>
        <p:sp>
          <p:nvSpPr>
            <p:cNvPr id="54335" name="Line 81"/>
            <p:cNvSpPr/>
            <p:nvPr/>
          </p:nvSpPr>
          <p:spPr>
            <a:xfrm>
              <a:off x="918" y="2584"/>
              <a:ext cx="158" cy="0"/>
            </a:xfrm>
            <a:prstGeom prst="line">
              <a:avLst/>
            </a:prstGeom>
            <a:ln w="9525" cap="flat" cmpd="sng">
              <a:solidFill>
                <a:schemeClr val="accent2"/>
              </a:solidFill>
              <a:prstDash val="solid"/>
              <a:headEnd type="none" w="med" len="med"/>
              <a:tailEnd type="none" w="med" len="med"/>
            </a:ln>
          </p:spPr>
        </p:sp>
        <p:grpSp>
          <p:nvGrpSpPr>
            <p:cNvPr id="54336" name="Group 82"/>
            <p:cNvGrpSpPr/>
            <p:nvPr/>
          </p:nvGrpSpPr>
          <p:grpSpPr>
            <a:xfrm>
              <a:off x="713" y="2375"/>
              <a:ext cx="299" cy="231"/>
              <a:chOff x="713" y="1373"/>
              <a:chExt cx="299" cy="231"/>
            </a:xfrm>
          </p:grpSpPr>
          <p:sp>
            <p:nvSpPr>
              <p:cNvPr id="54343" name="Rectangle 83"/>
              <p:cNvSpPr/>
              <p:nvPr/>
            </p:nvSpPr>
            <p:spPr>
              <a:xfrm>
                <a:off x="761" y="1552"/>
                <a:ext cx="151" cy="52"/>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44" name="Text Box 84"/>
              <p:cNvSpPr txBox="1"/>
              <p:nvPr/>
            </p:nvSpPr>
            <p:spPr>
              <a:xfrm>
                <a:off x="713" y="1373"/>
                <a:ext cx="299"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a:t>
                </a:r>
                <a:r>
                  <a:rPr lang="en-US" altLang="zh-CN" sz="1600" i="1" baseline="-25000" dirty="0">
                    <a:latin typeface="Times New Roman" panose="02020603050405020304" pitchFamily="18" charset="0"/>
                  </a:rPr>
                  <a:t>n</a:t>
                </a:r>
                <a:endParaRPr lang="en-US" altLang="zh-CN" sz="1600" i="1" baseline="-25000" dirty="0">
                  <a:latin typeface="Times New Roman" panose="02020603050405020304" pitchFamily="18" charset="0"/>
                </a:endParaRPr>
              </a:p>
            </p:txBody>
          </p:sp>
        </p:grpSp>
        <p:grpSp>
          <p:nvGrpSpPr>
            <p:cNvPr id="54337" name="Group 85"/>
            <p:cNvGrpSpPr/>
            <p:nvPr/>
          </p:nvGrpSpPr>
          <p:grpSpPr>
            <a:xfrm>
              <a:off x="1702" y="1647"/>
              <a:ext cx="244" cy="275"/>
              <a:chOff x="1702" y="645"/>
              <a:chExt cx="244" cy="275"/>
            </a:xfrm>
          </p:grpSpPr>
          <p:sp>
            <p:nvSpPr>
              <p:cNvPr id="54341" name="Rectangle 86"/>
              <p:cNvSpPr/>
              <p:nvPr/>
            </p:nvSpPr>
            <p:spPr>
              <a:xfrm flipV="1">
                <a:off x="1728" y="877"/>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42" name="Text Box 87"/>
              <p:cNvSpPr txBox="1"/>
              <p:nvPr/>
            </p:nvSpPr>
            <p:spPr>
              <a:xfrm>
                <a:off x="1702" y="645"/>
                <a:ext cx="244"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R</a:t>
                </a:r>
                <a:r>
                  <a:rPr lang="en-US" altLang="zh-CN" sz="1800" i="1" baseline="-25000" dirty="0">
                    <a:latin typeface="Times New Roman" panose="02020603050405020304" pitchFamily="18" charset="0"/>
                  </a:rPr>
                  <a:t>f</a:t>
                </a:r>
                <a:endParaRPr lang="en-US" altLang="zh-CN" sz="1800" i="1" baseline="-25000" dirty="0">
                  <a:latin typeface="Times New Roman" panose="02020603050405020304" pitchFamily="18" charset="0"/>
                </a:endParaRPr>
              </a:p>
            </p:txBody>
          </p:sp>
        </p:grpSp>
        <p:sp>
          <p:nvSpPr>
            <p:cNvPr id="54338" name="Oval 90"/>
            <p:cNvSpPr/>
            <p:nvPr/>
          </p:nvSpPr>
          <p:spPr>
            <a:xfrm>
              <a:off x="689" y="2893"/>
              <a:ext cx="267" cy="259"/>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4339" name="Text Box 91"/>
            <p:cNvSpPr txBox="1"/>
            <p:nvPr/>
          </p:nvSpPr>
          <p:spPr>
            <a:xfrm>
              <a:off x="664" y="2910"/>
              <a:ext cx="315"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c</a:t>
              </a:r>
              <a:r>
                <a:rPr lang="en-US" altLang="zh-CN" sz="1600" i="1" baseline="-25000" dirty="0">
                  <a:latin typeface="Times New Roman" panose="02020603050405020304" pitchFamily="18" charset="0"/>
                </a:rPr>
                <a:t>m</a:t>
              </a:r>
              <a:endParaRPr lang="en-US" altLang="zh-CN" sz="1600" i="1" baseline="-25000" dirty="0">
                <a:latin typeface="Times New Roman" panose="02020603050405020304" pitchFamily="18" charset="0"/>
              </a:endParaRPr>
            </a:p>
          </p:txBody>
        </p:sp>
        <p:sp>
          <p:nvSpPr>
            <p:cNvPr id="54340" name="Rectangle 92"/>
            <p:cNvSpPr/>
            <p:nvPr/>
          </p:nvSpPr>
          <p:spPr>
            <a:xfrm>
              <a:off x="627" y="3489"/>
              <a:ext cx="1160" cy="265"/>
            </a:xfrm>
            <a:prstGeom prst="rect">
              <a:avLst/>
            </a:prstGeom>
            <a:noFill/>
            <a:ln w="9525">
              <a:noFill/>
            </a:ln>
          </p:spPr>
          <p:txBody>
            <a:bodyPr wrap="none">
              <a:spAutoFit/>
            </a:bodyPr>
            <a:p>
              <a:pPr eaLnBrk="1" hangingPunct="1">
                <a:lnSpc>
                  <a:spcPct val="90000"/>
                </a:lnSpc>
              </a:pPr>
              <a:r>
                <a:rPr lang="zh-CN" altLang="en-US" sz="2400" dirty="0">
                  <a:solidFill>
                    <a:srgbClr val="FF0000"/>
                  </a:solidFill>
                  <a:latin typeface="Times New Roman" panose="02020603050405020304" pitchFamily="18" charset="0"/>
                </a:rPr>
                <a:t>单端接法 </a:t>
              </a:r>
              <a:r>
                <a:rPr lang="en-US" altLang="zh-CN" sz="2400" dirty="0">
                  <a:solidFill>
                    <a:srgbClr val="FF0000"/>
                  </a:solidFill>
                  <a:latin typeface="Times New Roman" panose="02020603050405020304" pitchFamily="18" charset="0"/>
                </a:rPr>
                <a:t>(a)</a:t>
              </a:r>
              <a:endParaRPr lang="en-US" altLang="zh-CN" sz="2400" dirty="0">
                <a:solidFill>
                  <a:srgbClr val="FF0000"/>
                </a:solidFill>
                <a:latin typeface="Times New Roman" panose="02020603050405020304" pitchFamily="18" charset="0"/>
              </a:endParaRPr>
            </a:p>
          </p:txBody>
        </p:sp>
      </p:grpSp>
      <p:sp>
        <p:nvSpPr>
          <p:cNvPr id="2353253" name="AutoShape 101"/>
          <p:cNvSpPr/>
          <p:nvPr/>
        </p:nvSpPr>
        <p:spPr>
          <a:xfrm>
            <a:off x="4349750" y="4786313"/>
            <a:ext cx="3778250" cy="1238250"/>
          </a:xfrm>
          <a:prstGeom prst="wedgeRoundRectCallout">
            <a:avLst>
              <a:gd name="adj1" fmla="val -72019"/>
              <a:gd name="adj2" fmla="val 576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53161" name="Text Box 9"/>
          <p:cNvSpPr txBox="1">
            <a:spLocks noChangeArrowheads="1"/>
          </p:cNvSpPr>
          <p:nvPr/>
        </p:nvSpPr>
        <p:spPr bwMode="auto">
          <a:xfrm>
            <a:off x="2286000" y="0"/>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53162" name="Text Box 10"/>
          <p:cNvSpPr txBox="1"/>
          <p:nvPr/>
        </p:nvSpPr>
        <p:spPr>
          <a:xfrm>
            <a:off x="471488" y="587375"/>
            <a:ext cx="24765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单端接法 </a:t>
            </a:r>
            <a:endParaRPr lang="zh-CN" altLang="en-US" dirty="0">
              <a:latin typeface="Times New Roman" panose="02020603050405020304" pitchFamily="18" charset="0"/>
            </a:endParaRPr>
          </a:p>
        </p:txBody>
      </p:sp>
      <p:sp>
        <p:nvSpPr>
          <p:cNvPr id="2353164" name="Text Box 12"/>
          <p:cNvSpPr txBox="1"/>
          <p:nvPr/>
        </p:nvSpPr>
        <p:spPr>
          <a:xfrm>
            <a:off x="858838" y="1344613"/>
            <a:ext cx="7626350" cy="822325"/>
          </a:xfrm>
          <a:prstGeom prst="rect">
            <a:avLst/>
          </a:prstGeom>
          <a:solidFill>
            <a:srgbClr val="CCFFFF"/>
          </a:solidFill>
          <a:ln w="9525">
            <a:noFill/>
          </a:ln>
        </p:spPr>
        <p:txBody>
          <a:bodyPr>
            <a:spAutoFit/>
          </a:bodyPr>
          <a:p>
            <a:pPr eaLnBrk="1" hangingPunct="1"/>
            <a:r>
              <a:rPr lang="zh-CN" altLang="en-US" sz="2400" dirty="0">
                <a:solidFill>
                  <a:srgbClr val="FF0000"/>
                </a:solidFill>
                <a:latin typeface="Times New Roman" panose="02020603050405020304" pitchFamily="18" charset="0"/>
                <a:ea typeface="黑体" panose="02010609060101010101" pitchFamily="49" charset="-122"/>
              </a:rPr>
              <a:t>单端接法：</a:t>
            </a:r>
            <a:r>
              <a:rPr lang="zh-CN" altLang="en-US" sz="2400" dirty="0">
                <a:solidFill>
                  <a:schemeClr val="tx2"/>
                </a:solidFill>
                <a:latin typeface="Times New Roman" panose="02020603050405020304" pitchFamily="18" charset="0"/>
                <a:ea typeface="黑体" panose="02010609060101010101" pitchFamily="49" charset="-122"/>
              </a:rPr>
              <a:t>把所有输入信号源的一端接至同一信号地，</a:t>
            </a:r>
            <a:endParaRPr lang="zh-CN" altLang="en-US" sz="2400" dirty="0">
              <a:solidFill>
                <a:schemeClr val="tx2"/>
              </a:solidFill>
              <a:latin typeface="Times New Roman" panose="02020603050405020304" pitchFamily="18" charset="0"/>
              <a:ea typeface="黑体" panose="02010609060101010101" pitchFamily="49" charset="-122"/>
            </a:endParaRPr>
          </a:p>
          <a:p>
            <a:pPr eaLnBrk="1" hangingPunct="1"/>
            <a:r>
              <a:rPr lang="zh-CN" altLang="en-US" sz="2400" dirty="0">
                <a:solidFill>
                  <a:schemeClr val="tx2"/>
                </a:solidFill>
                <a:latin typeface="Times New Roman" panose="02020603050405020304" pitchFamily="18" charset="0"/>
                <a:ea typeface="黑体" panose="02010609060101010101" pitchFamily="49" charset="-122"/>
              </a:rPr>
              <a:t>                    另一端各自接至多路开关的相应输入端。</a:t>
            </a:r>
            <a:endParaRPr lang="zh-CN" altLang="en-US" sz="2400" dirty="0">
              <a:solidFill>
                <a:schemeClr val="tx2"/>
              </a:solidFill>
              <a:latin typeface="Times New Roman" panose="02020603050405020304" pitchFamily="18" charset="0"/>
              <a:ea typeface="黑体" panose="02010609060101010101" pitchFamily="49" charset="-122"/>
            </a:endParaRPr>
          </a:p>
        </p:txBody>
      </p:sp>
      <p:sp>
        <p:nvSpPr>
          <p:cNvPr id="2353246" name="Rectangle 94"/>
          <p:cNvSpPr/>
          <p:nvPr/>
        </p:nvSpPr>
        <p:spPr>
          <a:xfrm>
            <a:off x="4449763" y="4881563"/>
            <a:ext cx="3652837" cy="1036637"/>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zh-CN" altLang="en-US" sz="2000" dirty="0">
                <a:solidFill>
                  <a:schemeClr val="tx1"/>
                </a:solidFill>
                <a:latin typeface="Times New Roman" panose="02020603050405020304" pitchFamily="18" charset="0"/>
              </a:rPr>
              <a:t>信号地与模拟地很接近；</a:t>
            </a:r>
            <a:endParaRPr lang="zh-CN" altLang="en-US" sz="2000" dirty="0">
              <a:solidFill>
                <a:schemeClr val="tx1"/>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000" dirty="0">
                <a:solidFill>
                  <a:schemeClr val="tx1"/>
                </a:solidFill>
                <a:latin typeface="Times New Roman" panose="02020603050405020304" pitchFamily="18" charset="0"/>
              </a:rPr>
              <a:t>较好的共模抑制能力；</a:t>
            </a:r>
            <a:endParaRPr lang="zh-CN" altLang="en-US" sz="2000" dirty="0">
              <a:solidFill>
                <a:schemeClr val="tx1"/>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000" dirty="0">
                <a:solidFill>
                  <a:schemeClr val="tx1"/>
                </a:solidFill>
                <a:latin typeface="Times New Roman" panose="02020603050405020304" pitchFamily="18" charset="0"/>
              </a:rPr>
              <a:t>无需减少一半通道数。</a:t>
            </a:r>
            <a:endParaRPr lang="zh-CN" altLang="en-US" sz="2000" dirty="0">
              <a:solidFill>
                <a:schemeClr val="tx1"/>
              </a:solidFill>
              <a:latin typeface="Times New Roman" panose="02020603050405020304" pitchFamily="18" charset="0"/>
            </a:endParaRPr>
          </a:p>
        </p:txBody>
      </p:sp>
      <p:sp>
        <p:nvSpPr>
          <p:cNvPr id="2353247" name="Text Box 95"/>
          <p:cNvSpPr txBox="1"/>
          <p:nvPr/>
        </p:nvSpPr>
        <p:spPr>
          <a:xfrm>
            <a:off x="4606925" y="2767013"/>
            <a:ext cx="4116388" cy="1495425"/>
          </a:xfrm>
          <a:prstGeom prst="rect">
            <a:avLst/>
          </a:prstGeom>
          <a:noFill/>
          <a:ln w="9525">
            <a:noFill/>
          </a:ln>
        </p:spPr>
        <p:txBody>
          <a:bodyPr>
            <a:spAutoFit/>
          </a:bodyPr>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仅适用于所有输入信号均参考一个公共电位的情况；</a:t>
            </a:r>
            <a:endParaRPr lang="zh-CN" altLang="en-US" sz="2000" dirty="0">
              <a:latin typeface="Times New Roman" panose="02020603050405020304" pitchFamily="18" charset="0"/>
              <a:ea typeface="黑体" panose="02010609060101010101" pitchFamily="49" charset="-122"/>
            </a:endParaRPr>
          </a:p>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各信号源需置于同样的噪声环境；</a:t>
            </a:r>
            <a:endParaRPr lang="zh-CN" altLang="en-US" sz="2000" dirty="0">
              <a:latin typeface="Times New Roman" panose="02020603050405020304" pitchFamily="18" charset="0"/>
              <a:ea typeface="黑体" panose="02010609060101010101" pitchFamily="49" charset="-122"/>
            </a:endParaRPr>
          </a:p>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比较难实现，应用范围窄。</a:t>
            </a:r>
            <a:endParaRPr lang="zh-CN" altLang="en-US" sz="2000" dirty="0">
              <a:latin typeface="Times New Roman" panose="02020603050405020304" pitchFamily="18" charset="0"/>
              <a:ea typeface="黑体" panose="02010609060101010101" pitchFamily="49" charset="-122"/>
            </a:endParaRPr>
          </a:p>
        </p:txBody>
      </p:sp>
      <p:sp>
        <p:nvSpPr>
          <p:cNvPr id="2353248" name="Text Box 96"/>
          <p:cNvSpPr txBox="1"/>
          <p:nvPr/>
        </p:nvSpPr>
        <p:spPr>
          <a:xfrm>
            <a:off x="4092575" y="2247900"/>
            <a:ext cx="1460500" cy="476250"/>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缺点：</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353249" name="Text Box 97"/>
          <p:cNvSpPr txBox="1"/>
          <p:nvPr/>
        </p:nvSpPr>
        <p:spPr>
          <a:xfrm>
            <a:off x="4252913" y="2787650"/>
            <a:ext cx="800100" cy="366713"/>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
        <p:nvSpPr>
          <p:cNvPr id="2353250" name="Text Box 98"/>
          <p:cNvSpPr txBox="1"/>
          <p:nvPr/>
        </p:nvSpPr>
        <p:spPr>
          <a:xfrm>
            <a:off x="4259263" y="3457575"/>
            <a:ext cx="800100" cy="366713"/>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
        <p:nvSpPr>
          <p:cNvPr id="2353251" name="Text Box 99"/>
          <p:cNvSpPr txBox="1"/>
          <p:nvPr/>
        </p:nvSpPr>
        <p:spPr>
          <a:xfrm>
            <a:off x="4254500" y="3890963"/>
            <a:ext cx="800100" cy="3667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53162"/>
                                        </p:tgtEl>
                                        <p:attrNameLst>
                                          <p:attrName>style.visibility</p:attrName>
                                        </p:attrNameLst>
                                      </p:cBhvr>
                                      <p:to>
                                        <p:strVal val="visible"/>
                                      </p:to>
                                    </p:set>
                                    <p:animEffect transition="in" filter="dissolve">
                                      <p:cBhvr>
                                        <p:cTn id="7" dur="500"/>
                                        <p:tgtEl>
                                          <p:spTgt spid="23531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53164"/>
                                        </p:tgtEl>
                                        <p:attrNameLst>
                                          <p:attrName>style.visibility</p:attrName>
                                        </p:attrNameLst>
                                      </p:cBhvr>
                                      <p:to>
                                        <p:strVal val="visible"/>
                                      </p:to>
                                    </p:set>
                                    <p:animEffect transition="in" filter="dissolve">
                                      <p:cBhvr>
                                        <p:cTn id="12" dur="500"/>
                                        <p:tgtEl>
                                          <p:spTgt spid="235316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53254"/>
                                        </p:tgtEl>
                                        <p:attrNameLst>
                                          <p:attrName>style.visibility</p:attrName>
                                        </p:attrNameLst>
                                      </p:cBhvr>
                                      <p:to>
                                        <p:strVal val="visible"/>
                                      </p:to>
                                    </p:set>
                                    <p:animEffect transition="in" filter="dissolve">
                                      <p:cBhvr>
                                        <p:cTn id="17" dur="500"/>
                                        <p:tgtEl>
                                          <p:spTgt spid="235325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53253"/>
                                        </p:tgtEl>
                                        <p:attrNameLst>
                                          <p:attrName>style.visibility</p:attrName>
                                        </p:attrNameLst>
                                      </p:cBhvr>
                                      <p:to>
                                        <p:strVal val="visible"/>
                                      </p:to>
                                    </p:set>
                                    <p:animEffect transition="in" filter="dissolve">
                                      <p:cBhvr>
                                        <p:cTn id="22" dur="500"/>
                                        <p:tgtEl>
                                          <p:spTgt spid="235325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53246">
                                            <p:txEl>
                                              <p:charRg st="0" end="12"/>
                                            </p:txEl>
                                          </p:spTgt>
                                        </p:tgtEl>
                                        <p:attrNameLst>
                                          <p:attrName>style.visibility</p:attrName>
                                        </p:attrNameLst>
                                      </p:cBhvr>
                                      <p:to>
                                        <p:strVal val="visible"/>
                                      </p:to>
                                    </p:set>
                                    <p:animEffect transition="in" filter="dissolve">
                                      <p:cBhvr>
                                        <p:cTn id="27" dur="500"/>
                                        <p:tgtEl>
                                          <p:spTgt spid="2353246">
                                            <p:txEl>
                                              <p:charRg st="0" end="1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53246">
                                            <p:txEl>
                                              <p:charRg st="12" end="23"/>
                                            </p:txEl>
                                          </p:spTgt>
                                        </p:tgtEl>
                                        <p:attrNameLst>
                                          <p:attrName>style.visibility</p:attrName>
                                        </p:attrNameLst>
                                      </p:cBhvr>
                                      <p:to>
                                        <p:strVal val="visible"/>
                                      </p:to>
                                    </p:set>
                                    <p:animEffect transition="in" filter="dissolve">
                                      <p:cBhvr>
                                        <p:cTn id="32" dur="500"/>
                                        <p:tgtEl>
                                          <p:spTgt spid="2353246">
                                            <p:txEl>
                                              <p:charRg st="12" end="23"/>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353246">
                                            <p:txEl>
                                              <p:charRg st="23" end="34"/>
                                            </p:txEl>
                                          </p:spTgt>
                                        </p:tgtEl>
                                        <p:attrNameLst>
                                          <p:attrName>style.visibility</p:attrName>
                                        </p:attrNameLst>
                                      </p:cBhvr>
                                      <p:to>
                                        <p:strVal val="visible"/>
                                      </p:to>
                                    </p:set>
                                    <p:animEffect transition="in" filter="dissolve">
                                      <p:cBhvr>
                                        <p:cTn id="37" dur="500"/>
                                        <p:tgtEl>
                                          <p:spTgt spid="2353246">
                                            <p:txEl>
                                              <p:charRg st="23" end="34"/>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353248"/>
                                        </p:tgtEl>
                                        <p:attrNameLst>
                                          <p:attrName>style.visibility</p:attrName>
                                        </p:attrNameLst>
                                      </p:cBhvr>
                                      <p:to>
                                        <p:strVal val="visible"/>
                                      </p:to>
                                    </p:set>
                                    <p:animEffect transition="in" filter="dissolve">
                                      <p:cBhvr>
                                        <p:cTn id="42" dur="500"/>
                                        <p:tgtEl>
                                          <p:spTgt spid="235324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2353247">
                                            <p:txEl>
                                              <p:charRg st="0" end="24"/>
                                            </p:txEl>
                                          </p:spTgt>
                                        </p:tgtEl>
                                        <p:attrNameLst>
                                          <p:attrName>style.visibility</p:attrName>
                                        </p:attrNameLst>
                                      </p:cBhvr>
                                      <p:to>
                                        <p:strVal val="visible"/>
                                      </p:to>
                                    </p:set>
                                    <p:animEffect transition="in" filter="dissolve">
                                      <p:cBhvr>
                                        <p:cTn id="47" dur="500"/>
                                        <p:tgtEl>
                                          <p:spTgt spid="2353247">
                                            <p:txEl>
                                              <p:charRg st="0" end="24"/>
                                            </p:txEl>
                                          </p:spTgt>
                                        </p:tgtEl>
                                      </p:cBhvr>
                                    </p:animEffect>
                                  </p:childTnLst>
                                </p:cTn>
                              </p:par>
                              <p:par>
                                <p:cTn id="48" presetID="9" presetClass="entr" presetSubtype="0" fill="hold" nodeType="withEffect">
                                  <p:stCondLst>
                                    <p:cond delay="0"/>
                                  </p:stCondLst>
                                  <p:childTnLst>
                                    <p:set>
                                      <p:cBhvr>
                                        <p:cTn id="49" dur="1" fill="hold">
                                          <p:stCondLst>
                                            <p:cond delay="0"/>
                                          </p:stCondLst>
                                        </p:cTn>
                                        <p:tgtEl>
                                          <p:spTgt spid="2353249">
                                            <p:txEl>
                                              <p:charRg st="0" end="2"/>
                                            </p:txEl>
                                          </p:spTgt>
                                        </p:tgtEl>
                                        <p:attrNameLst>
                                          <p:attrName>style.visibility</p:attrName>
                                        </p:attrNameLst>
                                      </p:cBhvr>
                                      <p:to>
                                        <p:strVal val="visible"/>
                                      </p:to>
                                    </p:set>
                                    <p:animEffect transition="in" filter="dissolve">
                                      <p:cBhvr>
                                        <p:cTn id="50" dur="500"/>
                                        <p:tgtEl>
                                          <p:spTgt spid="2353249">
                                            <p:txEl>
                                              <p:charRg st="0" end="2"/>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2353250">
                                            <p:txEl>
                                              <p:charRg st="0" end="2"/>
                                            </p:txEl>
                                          </p:spTgt>
                                        </p:tgtEl>
                                        <p:attrNameLst>
                                          <p:attrName>style.visibility</p:attrName>
                                        </p:attrNameLst>
                                      </p:cBhvr>
                                      <p:to>
                                        <p:strVal val="visible"/>
                                      </p:to>
                                    </p:set>
                                    <p:animEffect transition="in" filter="dissolve">
                                      <p:cBhvr>
                                        <p:cTn id="55" dur="500"/>
                                        <p:tgtEl>
                                          <p:spTgt spid="2353250">
                                            <p:txEl>
                                              <p:charRg st="0" end="2"/>
                                            </p:txEl>
                                          </p:spTgt>
                                        </p:tgtEl>
                                      </p:cBhvr>
                                    </p:animEffect>
                                  </p:childTnLst>
                                </p:cTn>
                              </p:par>
                              <p:par>
                                <p:cTn id="56" presetID="9" presetClass="entr" presetSubtype="0" fill="hold" nodeType="withEffect">
                                  <p:stCondLst>
                                    <p:cond delay="0"/>
                                  </p:stCondLst>
                                  <p:childTnLst>
                                    <p:set>
                                      <p:cBhvr>
                                        <p:cTn id="57" dur="1" fill="hold">
                                          <p:stCondLst>
                                            <p:cond delay="0"/>
                                          </p:stCondLst>
                                        </p:cTn>
                                        <p:tgtEl>
                                          <p:spTgt spid="2353247">
                                            <p:txEl>
                                              <p:charRg st="24" end="40"/>
                                            </p:txEl>
                                          </p:spTgt>
                                        </p:tgtEl>
                                        <p:attrNameLst>
                                          <p:attrName>style.visibility</p:attrName>
                                        </p:attrNameLst>
                                      </p:cBhvr>
                                      <p:to>
                                        <p:strVal val="visible"/>
                                      </p:to>
                                    </p:set>
                                    <p:animEffect transition="in" filter="dissolve">
                                      <p:cBhvr>
                                        <p:cTn id="58" dur="500"/>
                                        <p:tgtEl>
                                          <p:spTgt spid="2353247">
                                            <p:txEl>
                                              <p:charRg st="24" end="40"/>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2353251">
                                            <p:txEl>
                                              <p:charRg st="0" end="2"/>
                                            </p:txEl>
                                          </p:spTgt>
                                        </p:tgtEl>
                                        <p:attrNameLst>
                                          <p:attrName>style.visibility</p:attrName>
                                        </p:attrNameLst>
                                      </p:cBhvr>
                                      <p:to>
                                        <p:strVal val="visible"/>
                                      </p:to>
                                    </p:set>
                                    <p:animEffect transition="in" filter="dissolve">
                                      <p:cBhvr>
                                        <p:cTn id="63" dur="500"/>
                                        <p:tgtEl>
                                          <p:spTgt spid="2353251">
                                            <p:txEl>
                                              <p:charRg st="0" end="2"/>
                                            </p:txEl>
                                          </p:spTgt>
                                        </p:tgtEl>
                                      </p:cBhvr>
                                    </p:animEffect>
                                  </p:childTnLst>
                                </p:cTn>
                              </p:par>
                              <p:par>
                                <p:cTn id="64" presetID="9" presetClass="entr" presetSubtype="0" fill="hold" nodeType="withEffect">
                                  <p:stCondLst>
                                    <p:cond delay="0"/>
                                  </p:stCondLst>
                                  <p:childTnLst>
                                    <p:set>
                                      <p:cBhvr>
                                        <p:cTn id="65" dur="1" fill="hold">
                                          <p:stCondLst>
                                            <p:cond delay="0"/>
                                          </p:stCondLst>
                                        </p:cTn>
                                        <p:tgtEl>
                                          <p:spTgt spid="2353247">
                                            <p:txEl>
                                              <p:charRg st="40" end="53"/>
                                            </p:txEl>
                                          </p:spTgt>
                                        </p:tgtEl>
                                        <p:attrNameLst>
                                          <p:attrName>style.visibility</p:attrName>
                                        </p:attrNameLst>
                                      </p:cBhvr>
                                      <p:to>
                                        <p:strVal val="visible"/>
                                      </p:to>
                                    </p:set>
                                    <p:animEffect transition="in" filter="dissolve">
                                      <p:cBhvr>
                                        <p:cTn id="66" dur="500"/>
                                        <p:tgtEl>
                                          <p:spTgt spid="2353247">
                                            <p:txEl>
                                              <p:charRg st="40" end="5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3253" grpId="0" animBg="1"/>
      <p:bldP spid="2353162" grpId="0" animBg="1"/>
      <p:bldP spid="2353164" grpId="0" animBg="1"/>
      <p:bldP spid="235324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412719" name="Group 175"/>
          <p:cNvGrpSpPr/>
          <p:nvPr/>
        </p:nvGrpSpPr>
        <p:grpSpPr>
          <a:xfrm>
            <a:off x="157163" y="2244725"/>
            <a:ext cx="5329237" cy="3814763"/>
            <a:chOff x="99" y="1414"/>
            <a:chExt cx="3357" cy="2403"/>
          </a:xfrm>
        </p:grpSpPr>
        <p:sp>
          <p:nvSpPr>
            <p:cNvPr id="55309" name="Rectangle 3"/>
            <p:cNvSpPr/>
            <p:nvPr/>
          </p:nvSpPr>
          <p:spPr>
            <a:xfrm>
              <a:off x="99" y="1414"/>
              <a:ext cx="3357" cy="2403"/>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10" name="Rectangle 79"/>
            <p:cNvSpPr/>
            <p:nvPr/>
          </p:nvSpPr>
          <p:spPr>
            <a:xfrm>
              <a:off x="1142" y="3488"/>
              <a:ext cx="1171" cy="265"/>
            </a:xfrm>
            <a:prstGeom prst="rect">
              <a:avLst/>
            </a:prstGeom>
            <a:noFill/>
            <a:ln w="9525">
              <a:noFill/>
            </a:ln>
          </p:spPr>
          <p:txBody>
            <a:bodyPr wrap="none">
              <a:spAutoFit/>
            </a:bodyPr>
            <a:p>
              <a:pPr eaLnBrk="1" hangingPunct="1">
                <a:lnSpc>
                  <a:spcPct val="90000"/>
                </a:lnSpc>
              </a:pPr>
              <a:r>
                <a:rPr lang="zh-CN" altLang="en-US" sz="2400" dirty="0">
                  <a:solidFill>
                    <a:srgbClr val="FF0000"/>
                  </a:solidFill>
                  <a:latin typeface="Times New Roman" panose="02020603050405020304" pitchFamily="18" charset="0"/>
                </a:rPr>
                <a:t>单端接法 </a:t>
              </a:r>
              <a:r>
                <a:rPr lang="en-US" altLang="zh-CN" sz="2400" dirty="0">
                  <a:solidFill>
                    <a:srgbClr val="FF0000"/>
                  </a:solidFill>
                  <a:latin typeface="Times New Roman" panose="02020603050405020304" pitchFamily="18" charset="0"/>
                </a:rPr>
                <a:t>(b)</a:t>
              </a:r>
              <a:endParaRPr lang="en-US" altLang="zh-CN" sz="2400" dirty="0">
                <a:solidFill>
                  <a:srgbClr val="FF0000"/>
                </a:solidFill>
                <a:latin typeface="Times New Roman" panose="02020603050405020304" pitchFamily="18" charset="0"/>
              </a:endParaRPr>
            </a:p>
          </p:txBody>
        </p:sp>
        <p:sp>
          <p:nvSpPr>
            <p:cNvPr id="55311" name="Rectangle 92"/>
            <p:cNvSpPr/>
            <p:nvPr/>
          </p:nvSpPr>
          <p:spPr>
            <a:xfrm>
              <a:off x="1695" y="1587"/>
              <a:ext cx="468" cy="1227"/>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12" name="Oval 93"/>
            <p:cNvSpPr/>
            <p:nvPr/>
          </p:nvSpPr>
          <p:spPr>
            <a:xfrm>
              <a:off x="1759" y="1733"/>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13" name="Oval 94"/>
            <p:cNvSpPr/>
            <p:nvPr/>
          </p:nvSpPr>
          <p:spPr>
            <a:xfrm>
              <a:off x="1767" y="2067"/>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14" name="Text Box 95"/>
            <p:cNvSpPr txBox="1"/>
            <p:nvPr/>
          </p:nvSpPr>
          <p:spPr>
            <a:xfrm>
              <a:off x="1813" y="2141"/>
              <a:ext cx="152" cy="422"/>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55315" name="Oval 96"/>
            <p:cNvSpPr/>
            <p:nvPr/>
          </p:nvSpPr>
          <p:spPr>
            <a:xfrm>
              <a:off x="1775" y="2634"/>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16" name="Line 97"/>
            <p:cNvSpPr/>
            <p:nvPr/>
          </p:nvSpPr>
          <p:spPr>
            <a:xfrm>
              <a:off x="1770" y="1654"/>
              <a:ext cx="175" cy="92"/>
            </a:xfrm>
            <a:prstGeom prst="line">
              <a:avLst/>
            </a:prstGeom>
            <a:ln w="9525" cap="flat" cmpd="sng">
              <a:solidFill>
                <a:schemeClr val="accent2"/>
              </a:solidFill>
              <a:prstDash val="solid"/>
              <a:headEnd type="none" w="med" len="med"/>
              <a:tailEnd type="none" w="med" len="med"/>
            </a:ln>
          </p:spPr>
        </p:sp>
        <p:sp>
          <p:nvSpPr>
            <p:cNvPr id="55317" name="Line 98"/>
            <p:cNvSpPr/>
            <p:nvPr/>
          </p:nvSpPr>
          <p:spPr>
            <a:xfrm>
              <a:off x="1775" y="1991"/>
              <a:ext cx="175" cy="92"/>
            </a:xfrm>
            <a:prstGeom prst="line">
              <a:avLst/>
            </a:prstGeom>
            <a:ln w="9525" cap="flat" cmpd="sng">
              <a:solidFill>
                <a:schemeClr val="accent2"/>
              </a:solidFill>
              <a:prstDash val="solid"/>
              <a:headEnd type="none" w="med" len="med"/>
              <a:tailEnd type="none" w="med" len="med"/>
            </a:ln>
          </p:spPr>
        </p:sp>
        <p:sp>
          <p:nvSpPr>
            <p:cNvPr id="55318" name="Line 99"/>
            <p:cNvSpPr/>
            <p:nvPr/>
          </p:nvSpPr>
          <p:spPr>
            <a:xfrm>
              <a:off x="1758" y="2550"/>
              <a:ext cx="175" cy="92"/>
            </a:xfrm>
            <a:prstGeom prst="line">
              <a:avLst/>
            </a:prstGeom>
            <a:ln w="9525" cap="flat" cmpd="sng">
              <a:solidFill>
                <a:schemeClr val="accent2"/>
              </a:solidFill>
              <a:prstDash val="solid"/>
              <a:headEnd type="none" w="med" len="med"/>
              <a:tailEnd type="none" w="med" len="med"/>
            </a:ln>
          </p:spPr>
        </p:sp>
        <p:sp>
          <p:nvSpPr>
            <p:cNvPr id="55319" name="Oval 100"/>
            <p:cNvSpPr/>
            <p:nvPr/>
          </p:nvSpPr>
          <p:spPr>
            <a:xfrm>
              <a:off x="1938" y="1729"/>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20" name="Oval 101"/>
            <p:cNvSpPr/>
            <p:nvPr/>
          </p:nvSpPr>
          <p:spPr>
            <a:xfrm>
              <a:off x="1946" y="2062"/>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21" name="Oval 102"/>
            <p:cNvSpPr/>
            <p:nvPr/>
          </p:nvSpPr>
          <p:spPr>
            <a:xfrm>
              <a:off x="1930" y="2622"/>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22" name="Line 103"/>
            <p:cNvSpPr/>
            <p:nvPr/>
          </p:nvSpPr>
          <p:spPr>
            <a:xfrm>
              <a:off x="1996" y="1754"/>
              <a:ext cx="108" cy="0"/>
            </a:xfrm>
            <a:prstGeom prst="line">
              <a:avLst/>
            </a:prstGeom>
            <a:ln w="9525" cap="flat" cmpd="sng">
              <a:solidFill>
                <a:schemeClr val="accent2"/>
              </a:solidFill>
              <a:prstDash val="solid"/>
              <a:headEnd type="none" w="med" len="med"/>
              <a:tailEnd type="none" w="med" len="med"/>
            </a:ln>
          </p:spPr>
        </p:sp>
        <p:sp>
          <p:nvSpPr>
            <p:cNvPr id="55323" name="Line 104"/>
            <p:cNvSpPr/>
            <p:nvPr/>
          </p:nvSpPr>
          <p:spPr>
            <a:xfrm>
              <a:off x="2104" y="1754"/>
              <a:ext cx="0" cy="893"/>
            </a:xfrm>
            <a:prstGeom prst="line">
              <a:avLst/>
            </a:prstGeom>
            <a:ln w="9525" cap="flat" cmpd="sng">
              <a:solidFill>
                <a:schemeClr val="accent2"/>
              </a:solidFill>
              <a:prstDash val="solid"/>
              <a:headEnd type="none" w="med" len="med"/>
              <a:tailEnd type="none" w="med" len="med"/>
            </a:ln>
          </p:spPr>
        </p:sp>
        <p:sp>
          <p:nvSpPr>
            <p:cNvPr id="55324" name="Line 105"/>
            <p:cNvSpPr/>
            <p:nvPr/>
          </p:nvSpPr>
          <p:spPr>
            <a:xfrm flipH="1">
              <a:off x="1978" y="2647"/>
              <a:ext cx="126" cy="0"/>
            </a:xfrm>
            <a:prstGeom prst="line">
              <a:avLst/>
            </a:prstGeom>
            <a:ln w="9525" cap="flat" cmpd="sng">
              <a:solidFill>
                <a:schemeClr val="accent2"/>
              </a:solidFill>
              <a:prstDash val="solid"/>
              <a:headEnd type="none" w="med" len="med"/>
              <a:tailEnd type="none" w="med" len="med"/>
            </a:ln>
          </p:spPr>
        </p:sp>
        <p:sp>
          <p:nvSpPr>
            <p:cNvPr id="55325" name="Line 106"/>
            <p:cNvSpPr/>
            <p:nvPr/>
          </p:nvSpPr>
          <p:spPr>
            <a:xfrm>
              <a:off x="2104" y="2180"/>
              <a:ext cx="384" cy="0"/>
            </a:xfrm>
            <a:prstGeom prst="line">
              <a:avLst/>
            </a:prstGeom>
            <a:ln w="9525" cap="flat" cmpd="sng">
              <a:solidFill>
                <a:schemeClr val="accent2"/>
              </a:solidFill>
              <a:prstDash val="solid"/>
              <a:headEnd type="none" w="med" len="med"/>
              <a:tailEnd type="none" w="med" len="med"/>
            </a:ln>
          </p:spPr>
        </p:sp>
        <p:grpSp>
          <p:nvGrpSpPr>
            <p:cNvPr id="55326" name="Group 107"/>
            <p:cNvGrpSpPr/>
            <p:nvPr/>
          </p:nvGrpSpPr>
          <p:grpSpPr>
            <a:xfrm>
              <a:off x="2460" y="2056"/>
              <a:ext cx="454" cy="457"/>
              <a:chOff x="4780" y="945"/>
              <a:chExt cx="454" cy="457"/>
            </a:xfrm>
          </p:grpSpPr>
          <p:sp>
            <p:nvSpPr>
              <p:cNvPr id="55389" name="AutoShape 108"/>
              <p:cNvSpPr/>
              <p:nvPr/>
            </p:nvSpPr>
            <p:spPr>
              <a:xfrm rot="5400000">
                <a:off x="4796" y="964"/>
                <a:ext cx="442" cy="433"/>
              </a:xfrm>
              <a:prstGeom prst="triangle">
                <a:avLst>
                  <a:gd name="adj" fmla="val 49894"/>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90" name="Text Box 109"/>
              <p:cNvSpPr txBox="1"/>
              <p:nvPr/>
            </p:nvSpPr>
            <p:spPr>
              <a:xfrm>
                <a:off x="4780" y="945"/>
                <a:ext cx="189" cy="457"/>
              </a:xfrm>
              <a:prstGeom prst="rect">
                <a:avLst/>
              </a:prstGeom>
              <a:noFill/>
              <a:ln w="9525">
                <a:noFill/>
              </a:ln>
            </p:spPr>
            <p:txBody>
              <a:bodyPr wrap="none">
                <a:spAutoFit/>
              </a:bodyPr>
              <a:p>
                <a:pPr eaLnBrk="1" hangingPunct="1">
                  <a:lnSpc>
                    <a:spcPct val="90000"/>
                  </a:lnSpc>
                </a:pPr>
                <a:r>
                  <a:rPr lang="en-US" altLang="zh-CN" sz="12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200" dirty="0">
                  <a:latin typeface="Times New Roman" panose="02020603050405020304" pitchFamily="18" charset="0"/>
                </a:endParaRPr>
              </a:p>
              <a:p>
                <a:pPr eaLnBrk="1" hangingPunct="1">
                  <a:lnSpc>
                    <a:spcPct val="90000"/>
                  </a:lnSpc>
                </a:pP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grpSp>
        <p:sp>
          <p:nvSpPr>
            <p:cNvPr id="55327" name="Line 110"/>
            <p:cNvSpPr/>
            <p:nvPr/>
          </p:nvSpPr>
          <p:spPr>
            <a:xfrm>
              <a:off x="2914" y="2292"/>
              <a:ext cx="176" cy="0"/>
            </a:xfrm>
            <a:prstGeom prst="line">
              <a:avLst/>
            </a:prstGeom>
            <a:ln w="9525" cap="flat" cmpd="sng">
              <a:solidFill>
                <a:schemeClr val="accent2"/>
              </a:solidFill>
              <a:prstDash val="solid"/>
              <a:headEnd type="none" w="med" len="med"/>
              <a:tailEnd type="none" w="med" len="med"/>
            </a:ln>
          </p:spPr>
        </p:sp>
        <p:sp>
          <p:nvSpPr>
            <p:cNvPr id="55328" name="Oval 111"/>
            <p:cNvSpPr/>
            <p:nvPr/>
          </p:nvSpPr>
          <p:spPr>
            <a:xfrm>
              <a:off x="3094" y="2259"/>
              <a:ext cx="48" cy="48"/>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29" name="Text Box 112"/>
            <p:cNvSpPr txBox="1"/>
            <p:nvPr/>
          </p:nvSpPr>
          <p:spPr>
            <a:xfrm>
              <a:off x="3164" y="2160"/>
              <a:ext cx="276"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O</a:t>
              </a:r>
              <a:endParaRPr lang="en-US" altLang="zh-CN" sz="1600" baseline="-25000" dirty="0">
                <a:latin typeface="Times New Roman" panose="02020603050405020304" pitchFamily="18" charset="0"/>
              </a:endParaRPr>
            </a:p>
          </p:txBody>
        </p:sp>
        <p:sp>
          <p:nvSpPr>
            <p:cNvPr id="55330" name="Oval 113"/>
            <p:cNvSpPr/>
            <p:nvPr/>
          </p:nvSpPr>
          <p:spPr>
            <a:xfrm>
              <a:off x="2944" y="2267"/>
              <a:ext cx="48" cy="4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31" name="Line 114"/>
            <p:cNvSpPr/>
            <p:nvPr/>
          </p:nvSpPr>
          <p:spPr>
            <a:xfrm flipV="1">
              <a:off x="2973" y="1937"/>
              <a:ext cx="0" cy="351"/>
            </a:xfrm>
            <a:prstGeom prst="line">
              <a:avLst/>
            </a:prstGeom>
            <a:ln w="9525" cap="flat" cmpd="sng">
              <a:solidFill>
                <a:schemeClr val="accent2"/>
              </a:solidFill>
              <a:prstDash val="solid"/>
              <a:headEnd type="none" w="med" len="med"/>
              <a:tailEnd type="none" w="med" len="med"/>
            </a:ln>
          </p:spPr>
        </p:sp>
        <p:sp>
          <p:nvSpPr>
            <p:cNvPr id="55332" name="Line 115"/>
            <p:cNvSpPr/>
            <p:nvPr/>
          </p:nvSpPr>
          <p:spPr>
            <a:xfrm flipH="1">
              <a:off x="2697" y="1937"/>
              <a:ext cx="276" cy="0"/>
            </a:xfrm>
            <a:prstGeom prst="line">
              <a:avLst/>
            </a:prstGeom>
            <a:ln w="9525" cap="flat" cmpd="sng">
              <a:solidFill>
                <a:schemeClr val="accent2"/>
              </a:solidFill>
              <a:prstDash val="solid"/>
              <a:headEnd type="none" w="med" len="med"/>
              <a:tailEnd type="none" w="med" len="med"/>
            </a:ln>
          </p:spPr>
        </p:sp>
        <p:sp>
          <p:nvSpPr>
            <p:cNvPr id="55333" name="Line 116"/>
            <p:cNvSpPr/>
            <p:nvPr/>
          </p:nvSpPr>
          <p:spPr>
            <a:xfrm flipH="1">
              <a:off x="2321" y="1937"/>
              <a:ext cx="201" cy="0"/>
            </a:xfrm>
            <a:prstGeom prst="line">
              <a:avLst/>
            </a:prstGeom>
            <a:ln w="9525" cap="flat" cmpd="sng">
              <a:solidFill>
                <a:schemeClr val="accent2"/>
              </a:solidFill>
              <a:prstDash val="solid"/>
              <a:headEnd type="none" w="med" len="med"/>
              <a:tailEnd type="none" w="med" len="med"/>
            </a:ln>
          </p:spPr>
        </p:sp>
        <p:sp>
          <p:nvSpPr>
            <p:cNvPr id="55334" name="Line 117"/>
            <p:cNvSpPr/>
            <p:nvPr/>
          </p:nvSpPr>
          <p:spPr>
            <a:xfrm>
              <a:off x="2321" y="1937"/>
              <a:ext cx="0" cy="243"/>
            </a:xfrm>
            <a:prstGeom prst="line">
              <a:avLst/>
            </a:prstGeom>
            <a:ln w="9525" cap="flat" cmpd="sng">
              <a:solidFill>
                <a:schemeClr val="accent2"/>
              </a:solidFill>
              <a:prstDash val="solid"/>
              <a:headEnd type="none" w="med" len="med"/>
              <a:tailEnd type="none" w="med" len="med"/>
            </a:ln>
          </p:spPr>
        </p:sp>
        <p:sp>
          <p:nvSpPr>
            <p:cNvPr id="55335" name="Oval 118"/>
            <p:cNvSpPr/>
            <p:nvPr/>
          </p:nvSpPr>
          <p:spPr>
            <a:xfrm>
              <a:off x="2297" y="2163"/>
              <a:ext cx="48" cy="39"/>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36" name="Line 119"/>
            <p:cNvSpPr/>
            <p:nvPr/>
          </p:nvSpPr>
          <p:spPr>
            <a:xfrm flipH="1">
              <a:off x="2321" y="2405"/>
              <a:ext cx="159" cy="0"/>
            </a:xfrm>
            <a:prstGeom prst="line">
              <a:avLst/>
            </a:prstGeom>
            <a:ln w="9525" cap="flat" cmpd="sng">
              <a:solidFill>
                <a:schemeClr val="accent2"/>
              </a:solidFill>
              <a:prstDash val="solid"/>
              <a:headEnd type="none" w="med" len="med"/>
              <a:tailEnd type="none" w="med" len="med"/>
            </a:ln>
          </p:spPr>
        </p:sp>
        <p:sp>
          <p:nvSpPr>
            <p:cNvPr id="55337" name="Line 120"/>
            <p:cNvSpPr/>
            <p:nvPr/>
          </p:nvSpPr>
          <p:spPr>
            <a:xfrm>
              <a:off x="2321" y="2405"/>
              <a:ext cx="0" cy="885"/>
            </a:xfrm>
            <a:prstGeom prst="line">
              <a:avLst/>
            </a:prstGeom>
            <a:ln w="9525" cap="flat" cmpd="sng">
              <a:solidFill>
                <a:schemeClr val="accent2"/>
              </a:solidFill>
              <a:prstDash val="solid"/>
              <a:headEnd type="none" w="med" len="med"/>
              <a:tailEnd type="none" w="med" len="med"/>
            </a:ln>
          </p:spPr>
        </p:sp>
        <p:sp>
          <p:nvSpPr>
            <p:cNvPr id="55338" name="AutoShape 121"/>
            <p:cNvSpPr/>
            <p:nvPr/>
          </p:nvSpPr>
          <p:spPr>
            <a:xfrm rot="10800000">
              <a:off x="2242" y="3287"/>
              <a:ext cx="158" cy="98"/>
            </a:xfrm>
            <a:prstGeom prst="triangle">
              <a:avLst>
                <a:gd name="adj" fmla="val 49699"/>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39" name="Line 122"/>
            <p:cNvSpPr/>
            <p:nvPr/>
          </p:nvSpPr>
          <p:spPr>
            <a:xfrm>
              <a:off x="1202" y="1762"/>
              <a:ext cx="159" cy="0"/>
            </a:xfrm>
            <a:prstGeom prst="line">
              <a:avLst/>
            </a:prstGeom>
            <a:ln w="9525" cap="flat" cmpd="sng">
              <a:solidFill>
                <a:schemeClr val="accent2"/>
              </a:solidFill>
              <a:prstDash val="solid"/>
              <a:headEnd type="none" w="med" len="med"/>
              <a:tailEnd type="none" w="med" len="med"/>
            </a:ln>
          </p:spPr>
        </p:sp>
        <p:sp>
          <p:nvSpPr>
            <p:cNvPr id="55340" name="Line 123"/>
            <p:cNvSpPr/>
            <p:nvPr/>
          </p:nvSpPr>
          <p:spPr>
            <a:xfrm>
              <a:off x="1528" y="1762"/>
              <a:ext cx="234" cy="0"/>
            </a:xfrm>
            <a:prstGeom prst="line">
              <a:avLst/>
            </a:prstGeom>
            <a:ln w="9525" cap="flat" cmpd="sng">
              <a:solidFill>
                <a:schemeClr val="accent2"/>
              </a:solidFill>
              <a:prstDash val="solid"/>
              <a:headEnd type="none" w="med" len="med"/>
              <a:tailEnd type="none" w="med" len="med"/>
            </a:ln>
          </p:spPr>
        </p:sp>
        <p:sp>
          <p:nvSpPr>
            <p:cNvPr id="55341" name="Line 124"/>
            <p:cNvSpPr/>
            <p:nvPr/>
          </p:nvSpPr>
          <p:spPr>
            <a:xfrm>
              <a:off x="1203" y="2096"/>
              <a:ext cx="150" cy="0"/>
            </a:xfrm>
            <a:prstGeom prst="line">
              <a:avLst/>
            </a:prstGeom>
            <a:ln w="9525" cap="flat" cmpd="sng">
              <a:solidFill>
                <a:schemeClr val="accent2"/>
              </a:solidFill>
              <a:prstDash val="solid"/>
              <a:headEnd type="none" w="med" len="med"/>
              <a:tailEnd type="none" w="med" len="med"/>
            </a:ln>
          </p:spPr>
        </p:sp>
        <p:sp>
          <p:nvSpPr>
            <p:cNvPr id="55342" name="Line 125"/>
            <p:cNvSpPr/>
            <p:nvPr/>
          </p:nvSpPr>
          <p:spPr>
            <a:xfrm>
              <a:off x="1529" y="2096"/>
              <a:ext cx="241" cy="0"/>
            </a:xfrm>
            <a:prstGeom prst="line">
              <a:avLst/>
            </a:prstGeom>
            <a:ln w="9525" cap="flat" cmpd="sng">
              <a:solidFill>
                <a:schemeClr val="accent2"/>
              </a:solidFill>
              <a:prstDash val="solid"/>
              <a:headEnd type="none" w="med" len="med"/>
              <a:tailEnd type="none" w="med" len="med"/>
            </a:ln>
          </p:spPr>
        </p:sp>
        <p:sp>
          <p:nvSpPr>
            <p:cNvPr id="55343" name="Line 126"/>
            <p:cNvSpPr/>
            <p:nvPr/>
          </p:nvSpPr>
          <p:spPr>
            <a:xfrm>
              <a:off x="1520" y="2655"/>
              <a:ext cx="267" cy="0"/>
            </a:xfrm>
            <a:prstGeom prst="line">
              <a:avLst/>
            </a:prstGeom>
            <a:ln w="9525" cap="flat" cmpd="sng">
              <a:solidFill>
                <a:schemeClr val="accent2"/>
              </a:solidFill>
              <a:prstDash val="solid"/>
              <a:headEnd type="none" w="med" len="med"/>
              <a:tailEnd type="none" w="med" len="med"/>
            </a:ln>
          </p:spPr>
        </p:sp>
        <p:sp>
          <p:nvSpPr>
            <p:cNvPr id="55344" name="Text Box 127"/>
            <p:cNvSpPr txBox="1"/>
            <p:nvPr/>
          </p:nvSpPr>
          <p:spPr>
            <a:xfrm>
              <a:off x="798" y="2153"/>
              <a:ext cx="152" cy="422"/>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6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55345" name="Line 128"/>
            <p:cNvSpPr/>
            <p:nvPr/>
          </p:nvSpPr>
          <p:spPr>
            <a:xfrm flipH="1" flipV="1">
              <a:off x="276" y="1754"/>
              <a:ext cx="660" cy="0"/>
            </a:xfrm>
            <a:prstGeom prst="line">
              <a:avLst/>
            </a:prstGeom>
            <a:ln w="9525" cap="flat" cmpd="sng">
              <a:solidFill>
                <a:schemeClr val="accent2"/>
              </a:solidFill>
              <a:prstDash val="solid"/>
              <a:headEnd type="none" w="med" len="med"/>
              <a:tailEnd type="none" w="med" len="med"/>
            </a:ln>
          </p:spPr>
        </p:sp>
        <p:sp>
          <p:nvSpPr>
            <p:cNvPr id="55346" name="Line 129"/>
            <p:cNvSpPr/>
            <p:nvPr/>
          </p:nvSpPr>
          <p:spPr>
            <a:xfrm flipH="1">
              <a:off x="276" y="2647"/>
              <a:ext cx="660" cy="0"/>
            </a:xfrm>
            <a:prstGeom prst="line">
              <a:avLst/>
            </a:prstGeom>
            <a:ln w="9525" cap="flat" cmpd="sng">
              <a:solidFill>
                <a:schemeClr val="accent2"/>
              </a:solidFill>
              <a:prstDash val="solid"/>
              <a:headEnd type="none" w="med" len="med"/>
              <a:tailEnd type="none" w="med" len="med"/>
            </a:ln>
          </p:spPr>
        </p:sp>
        <p:sp>
          <p:nvSpPr>
            <p:cNvPr id="55347" name="Line 130"/>
            <p:cNvSpPr/>
            <p:nvPr/>
          </p:nvSpPr>
          <p:spPr>
            <a:xfrm>
              <a:off x="276" y="1754"/>
              <a:ext cx="0" cy="342"/>
            </a:xfrm>
            <a:prstGeom prst="line">
              <a:avLst/>
            </a:prstGeom>
            <a:ln w="9525" cap="flat" cmpd="sng">
              <a:solidFill>
                <a:schemeClr val="accent2"/>
              </a:solidFill>
              <a:prstDash val="solid"/>
              <a:headEnd type="none" w="med" len="med"/>
              <a:tailEnd type="none" w="med" len="med"/>
            </a:ln>
          </p:spPr>
        </p:sp>
        <p:sp>
          <p:nvSpPr>
            <p:cNvPr id="55348" name="Line 131"/>
            <p:cNvSpPr/>
            <p:nvPr/>
          </p:nvSpPr>
          <p:spPr>
            <a:xfrm>
              <a:off x="276" y="2096"/>
              <a:ext cx="0" cy="568"/>
            </a:xfrm>
            <a:prstGeom prst="line">
              <a:avLst/>
            </a:prstGeom>
            <a:ln w="9525" cap="flat" cmpd="sng">
              <a:solidFill>
                <a:schemeClr val="accent2"/>
              </a:solidFill>
              <a:prstDash val="sysDot"/>
              <a:headEnd type="none" w="med" len="med"/>
              <a:tailEnd type="none" w="med" len="med"/>
            </a:ln>
          </p:spPr>
        </p:sp>
        <p:sp>
          <p:nvSpPr>
            <p:cNvPr id="55349" name="Line 132"/>
            <p:cNvSpPr/>
            <p:nvPr/>
          </p:nvSpPr>
          <p:spPr>
            <a:xfrm>
              <a:off x="276" y="2664"/>
              <a:ext cx="0" cy="601"/>
            </a:xfrm>
            <a:prstGeom prst="line">
              <a:avLst/>
            </a:prstGeom>
            <a:ln w="9525" cap="flat" cmpd="sng">
              <a:solidFill>
                <a:schemeClr val="accent2"/>
              </a:solidFill>
              <a:prstDash val="solid"/>
              <a:headEnd type="none" w="med" len="med"/>
              <a:tailEnd type="none" w="med" len="med"/>
            </a:ln>
          </p:spPr>
        </p:sp>
        <p:grpSp>
          <p:nvGrpSpPr>
            <p:cNvPr id="55350" name="Group 133"/>
            <p:cNvGrpSpPr/>
            <p:nvPr/>
          </p:nvGrpSpPr>
          <p:grpSpPr>
            <a:xfrm>
              <a:off x="173" y="3265"/>
              <a:ext cx="245" cy="87"/>
              <a:chOff x="2493" y="2154"/>
              <a:chExt cx="245" cy="87"/>
            </a:xfrm>
          </p:grpSpPr>
          <p:sp>
            <p:nvSpPr>
              <p:cNvPr id="55384" name="Line 134"/>
              <p:cNvSpPr/>
              <p:nvPr/>
            </p:nvSpPr>
            <p:spPr>
              <a:xfrm>
                <a:off x="2513" y="2154"/>
                <a:ext cx="225" cy="0"/>
              </a:xfrm>
              <a:prstGeom prst="line">
                <a:avLst/>
              </a:prstGeom>
              <a:ln w="9525" cap="flat" cmpd="sng">
                <a:solidFill>
                  <a:schemeClr val="accent2"/>
                </a:solidFill>
                <a:prstDash val="solid"/>
                <a:headEnd type="none" w="med" len="med"/>
                <a:tailEnd type="none" w="med" len="med"/>
              </a:ln>
            </p:spPr>
          </p:sp>
          <p:sp>
            <p:nvSpPr>
              <p:cNvPr id="55385" name="Line 135"/>
              <p:cNvSpPr/>
              <p:nvPr/>
            </p:nvSpPr>
            <p:spPr>
              <a:xfrm flipH="1">
                <a:off x="2493" y="2158"/>
                <a:ext cx="50" cy="83"/>
              </a:xfrm>
              <a:prstGeom prst="line">
                <a:avLst/>
              </a:prstGeom>
              <a:ln w="9525" cap="flat" cmpd="sng">
                <a:solidFill>
                  <a:schemeClr val="accent2"/>
                </a:solidFill>
                <a:prstDash val="solid"/>
                <a:headEnd type="none" w="med" len="med"/>
                <a:tailEnd type="none" w="med" len="med"/>
              </a:ln>
            </p:spPr>
          </p:sp>
          <p:sp>
            <p:nvSpPr>
              <p:cNvPr id="55386" name="Line 136"/>
              <p:cNvSpPr/>
              <p:nvPr/>
            </p:nvSpPr>
            <p:spPr>
              <a:xfrm flipH="1">
                <a:off x="2550" y="2158"/>
                <a:ext cx="50" cy="83"/>
              </a:xfrm>
              <a:prstGeom prst="line">
                <a:avLst/>
              </a:prstGeom>
              <a:ln w="9525" cap="flat" cmpd="sng">
                <a:solidFill>
                  <a:schemeClr val="accent2"/>
                </a:solidFill>
                <a:prstDash val="solid"/>
                <a:headEnd type="none" w="med" len="med"/>
                <a:tailEnd type="none" w="med" len="med"/>
              </a:ln>
            </p:spPr>
          </p:sp>
          <p:sp>
            <p:nvSpPr>
              <p:cNvPr id="55387" name="Line 137"/>
              <p:cNvSpPr/>
              <p:nvPr/>
            </p:nvSpPr>
            <p:spPr>
              <a:xfrm flipH="1">
                <a:off x="2601" y="2158"/>
                <a:ext cx="50" cy="83"/>
              </a:xfrm>
              <a:prstGeom prst="line">
                <a:avLst/>
              </a:prstGeom>
              <a:ln w="9525" cap="flat" cmpd="sng">
                <a:solidFill>
                  <a:schemeClr val="accent2"/>
                </a:solidFill>
                <a:prstDash val="solid"/>
                <a:headEnd type="none" w="med" len="med"/>
                <a:tailEnd type="none" w="med" len="med"/>
              </a:ln>
            </p:spPr>
          </p:sp>
          <p:sp>
            <p:nvSpPr>
              <p:cNvPr id="55388" name="Line 138"/>
              <p:cNvSpPr/>
              <p:nvPr/>
            </p:nvSpPr>
            <p:spPr>
              <a:xfrm flipH="1">
                <a:off x="2668" y="2158"/>
                <a:ext cx="50" cy="83"/>
              </a:xfrm>
              <a:prstGeom prst="line">
                <a:avLst/>
              </a:prstGeom>
              <a:ln w="9525" cap="flat" cmpd="sng">
                <a:solidFill>
                  <a:schemeClr val="accent2"/>
                </a:solidFill>
                <a:prstDash val="solid"/>
                <a:headEnd type="none" w="med" len="med"/>
                <a:tailEnd type="none" w="med" len="med"/>
              </a:ln>
            </p:spPr>
          </p:sp>
        </p:grpSp>
        <p:sp>
          <p:nvSpPr>
            <p:cNvPr id="55351" name="Line 139"/>
            <p:cNvSpPr/>
            <p:nvPr/>
          </p:nvSpPr>
          <p:spPr>
            <a:xfrm>
              <a:off x="276" y="3114"/>
              <a:ext cx="2045" cy="0"/>
            </a:xfrm>
            <a:prstGeom prst="line">
              <a:avLst/>
            </a:prstGeom>
            <a:ln w="9525" cap="flat" cmpd="sng">
              <a:solidFill>
                <a:schemeClr val="accent2"/>
              </a:solidFill>
              <a:prstDash val="solid"/>
              <a:headEnd type="none" w="med" len="med"/>
              <a:tailEnd type="none" w="med" len="med"/>
            </a:ln>
          </p:spPr>
        </p:sp>
        <p:sp>
          <p:nvSpPr>
            <p:cNvPr id="55352" name="Text Box 140"/>
            <p:cNvSpPr txBox="1"/>
            <p:nvPr/>
          </p:nvSpPr>
          <p:spPr>
            <a:xfrm>
              <a:off x="2360" y="3205"/>
              <a:ext cx="503" cy="197"/>
            </a:xfrm>
            <a:prstGeom prst="rect">
              <a:avLst/>
            </a:prstGeom>
            <a:noFill/>
            <a:ln w="9525">
              <a:noFill/>
            </a:ln>
          </p:spPr>
          <p:txBody>
            <a:bodyPr wrap="none">
              <a:spAutoFit/>
            </a:bodyPr>
            <a:p>
              <a:pPr eaLnBrk="1" hangingPunct="1">
                <a:lnSpc>
                  <a:spcPct val="90000"/>
                </a:lnSpc>
              </a:pPr>
              <a:r>
                <a:rPr lang="zh-CN" altLang="en-US" sz="1600" dirty="0">
                  <a:latin typeface="Times New Roman" panose="02020603050405020304" pitchFamily="18" charset="0"/>
                </a:rPr>
                <a:t>模拟地</a:t>
              </a:r>
              <a:endParaRPr lang="zh-CN" altLang="en-US" sz="1600" dirty="0">
                <a:latin typeface="Times New Roman" panose="02020603050405020304" pitchFamily="18" charset="0"/>
              </a:endParaRPr>
            </a:p>
          </p:txBody>
        </p:sp>
        <p:sp>
          <p:nvSpPr>
            <p:cNvPr id="55353" name="Text Box 141"/>
            <p:cNvSpPr txBox="1"/>
            <p:nvPr/>
          </p:nvSpPr>
          <p:spPr>
            <a:xfrm>
              <a:off x="399" y="3172"/>
              <a:ext cx="503" cy="197"/>
            </a:xfrm>
            <a:prstGeom prst="rect">
              <a:avLst/>
            </a:prstGeom>
            <a:noFill/>
            <a:ln w="9525">
              <a:noFill/>
            </a:ln>
          </p:spPr>
          <p:txBody>
            <a:bodyPr wrap="none">
              <a:spAutoFit/>
            </a:bodyPr>
            <a:p>
              <a:pPr eaLnBrk="1" hangingPunct="1">
                <a:lnSpc>
                  <a:spcPct val="90000"/>
                </a:lnSpc>
              </a:pPr>
              <a:r>
                <a:rPr lang="zh-CN" altLang="en-US" sz="1600" dirty="0">
                  <a:latin typeface="Times New Roman" panose="02020603050405020304" pitchFamily="18" charset="0"/>
                </a:rPr>
                <a:t>信号地</a:t>
              </a:r>
              <a:endParaRPr lang="zh-CN" altLang="en-US" sz="1600" dirty="0">
                <a:latin typeface="Times New Roman" panose="02020603050405020304" pitchFamily="18" charset="0"/>
              </a:endParaRPr>
            </a:p>
          </p:txBody>
        </p:sp>
        <p:grpSp>
          <p:nvGrpSpPr>
            <p:cNvPr id="55354" name="Group 142"/>
            <p:cNvGrpSpPr/>
            <p:nvPr/>
          </p:nvGrpSpPr>
          <p:grpSpPr>
            <a:xfrm>
              <a:off x="922" y="1632"/>
              <a:ext cx="309" cy="250"/>
              <a:chOff x="3242" y="521"/>
              <a:chExt cx="309" cy="250"/>
            </a:xfrm>
          </p:grpSpPr>
          <p:sp>
            <p:nvSpPr>
              <p:cNvPr id="55382" name="Oval 143"/>
              <p:cNvSpPr/>
              <p:nvPr/>
            </p:nvSpPr>
            <p:spPr>
              <a:xfrm>
                <a:off x="3260" y="521"/>
                <a:ext cx="259"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83" name="Text Box 144"/>
              <p:cNvSpPr txBox="1"/>
              <p:nvPr/>
            </p:nvSpPr>
            <p:spPr>
              <a:xfrm>
                <a:off x="3242" y="539"/>
                <a:ext cx="309" cy="197"/>
              </a:xfrm>
              <a:prstGeom prst="rect">
                <a:avLst/>
              </a:prstGeom>
              <a:noFill/>
              <a:ln w="9525">
                <a:noFill/>
              </a:ln>
            </p:spPr>
            <p:txBody>
              <a:bodyPr>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S1</a:t>
                </a:r>
                <a:endParaRPr lang="en-US" altLang="zh-CN" sz="1600" baseline="-25000" dirty="0">
                  <a:latin typeface="Times New Roman" panose="02020603050405020304" pitchFamily="18" charset="0"/>
                </a:endParaRPr>
              </a:p>
            </p:txBody>
          </p:sp>
        </p:grpSp>
        <p:grpSp>
          <p:nvGrpSpPr>
            <p:cNvPr id="55355" name="Group 145"/>
            <p:cNvGrpSpPr/>
            <p:nvPr/>
          </p:nvGrpSpPr>
          <p:grpSpPr>
            <a:xfrm>
              <a:off x="1311" y="1553"/>
              <a:ext cx="294" cy="232"/>
              <a:chOff x="3631" y="442"/>
              <a:chExt cx="294" cy="232"/>
            </a:xfrm>
          </p:grpSpPr>
          <p:sp>
            <p:nvSpPr>
              <p:cNvPr id="55380" name="Rectangle 146"/>
              <p:cNvSpPr/>
              <p:nvPr/>
            </p:nvSpPr>
            <p:spPr>
              <a:xfrm flipV="1">
                <a:off x="3677" y="631"/>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81" name="Text Box 147"/>
              <p:cNvSpPr txBox="1"/>
              <p:nvPr/>
            </p:nvSpPr>
            <p:spPr>
              <a:xfrm>
                <a:off x="3631" y="442"/>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S1</a:t>
                </a:r>
                <a:endParaRPr lang="en-US" altLang="zh-CN" sz="1600" baseline="-25000" dirty="0">
                  <a:latin typeface="Times New Roman" panose="02020603050405020304" pitchFamily="18" charset="0"/>
                </a:endParaRPr>
              </a:p>
            </p:txBody>
          </p:sp>
        </p:grpSp>
        <p:grpSp>
          <p:nvGrpSpPr>
            <p:cNvPr id="55356" name="Group 148"/>
            <p:cNvGrpSpPr/>
            <p:nvPr/>
          </p:nvGrpSpPr>
          <p:grpSpPr>
            <a:xfrm>
              <a:off x="910" y="1970"/>
              <a:ext cx="301" cy="250"/>
              <a:chOff x="3230" y="859"/>
              <a:chExt cx="301" cy="250"/>
            </a:xfrm>
          </p:grpSpPr>
          <p:sp>
            <p:nvSpPr>
              <p:cNvPr id="55378" name="Oval 149"/>
              <p:cNvSpPr/>
              <p:nvPr/>
            </p:nvSpPr>
            <p:spPr>
              <a:xfrm>
                <a:off x="3256" y="859"/>
                <a:ext cx="258"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79" name="Text Box 150"/>
              <p:cNvSpPr txBox="1"/>
              <p:nvPr/>
            </p:nvSpPr>
            <p:spPr>
              <a:xfrm>
                <a:off x="3230" y="876"/>
                <a:ext cx="301" cy="197"/>
              </a:xfrm>
              <a:prstGeom prst="rect">
                <a:avLst/>
              </a:prstGeom>
              <a:noFill/>
              <a:ln w="9525">
                <a:noFill/>
              </a:ln>
            </p:spPr>
            <p:txBody>
              <a:bodyPr>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S2</a:t>
                </a:r>
                <a:endParaRPr lang="en-US" altLang="zh-CN" sz="1600" baseline="-25000" dirty="0">
                  <a:latin typeface="Times New Roman" panose="02020603050405020304" pitchFamily="18" charset="0"/>
                </a:endParaRPr>
              </a:p>
            </p:txBody>
          </p:sp>
        </p:grpSp>
        <p:grpSp>
          <p:nvGrpSpPr>
            <p:cNvPr id="55357" name="Group 151"/>
            <p:cNvGrpSpPr/>
            <p:nvPr/>
          </p:nvGrpSpPr>
          <p:grpSpPr>
            <a:xfrm>
              <a:off x="1299" y="1883"/>
              <a:ext cx="294" cy="231"/>
              <a:chOff x="3619" y="772"/>
              <a:chExt cx="294" cy="231"/>
            </a:xfrm>
          </p:grpSpPr>
          <p:sp>
            <p:nvSpPr>
              <p:cNvPr id="55376" name="Rectangle 152"/>
              <p:cNvSpPr/>
              <p:nvPr/>
            </p:nvSpPr>
            <p:spPr>
              <a:xfrm flipV="1">
                <a:off x="3673" y="960"/>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77" name="Text Box 153"/>
              <p:cNvSpPr txBox="1"/>
              <p:nvPr/>
            </p:nvSpPr>
            <p:spPr>
              <a:xfrm>
                <a:off x="3619" y="772"/>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S2</a:t>
                </a:r>
                <a:endParaRPr lang="en-US" altLang="zh-CN" sz="1600" baseline="-25000" dirty="0">
                  <a:latin typeface="Times New Roman" panose="02020603050405020304" pitchFamily="18" charset="0"/>
                </a:endParaRPr>
              </a:p>
            </p:txBody>
          </p:sp>
        </p:grpSp>
        <p:grpSp>
          <p:nvGrpSpPr>
            <p:cNvPr id="55358" name="Group 154"/>
            <p:cNvGrpSpPr/>
            <p:nvPr/>
          </p:nvGrpSpPr>
          <p:grpSpPr>
            <a:xfrm>
              <a:off x="923" y="2525"/>
              <a:ext cx="306" cy="250"/>
              <a:chOff x="3243" y="1414"/>
              <a:chExt cx="306" cy="250"/>
            </a:xfrm>
          </p:grpSpPr>
          <p:sp>
            <p:nvSpPr>
              <p:cNvPr id="55374" name="Oval 155"/>
              <p:cNvSpPr/>
              <p:nvPr/>
            </p:nvSpPr>
            <p:spPr>
              <a:xfrm>
                <a:off x="3260" y="1414"/>
                <a:ext cx="259" cy="250"/>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75" name="Text Box 156"/>
              <p:cNvSpPr txBox="1"/>
              <p:nvPr/>
            </p:nvSpPr>
            <p:spPr>
              <a:xfrm>
                <a:off x="3243" y="1425"/>
                <a:ext cx="306"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S</a:t>
                </a:r>
                <a:r>
                  <a:rPr lang="en-US" altLang="zh-CN" sz="1600" i="1" baseline="-25000" dirty="0">
                    <a:latin typeface="Times New Roman" panose="02020603050405020304" pitchFamily="18" charset="0"/>
                  </a:rPr>
                  <a:t>n</a:t>
                </a:r>
                <a:endParaRPr lang="en-US" altLang="zh-CN" sz="1600" i="1" baseline="-25000" dirty="0">
                  <a:latin typeface="Times New Roman" panose="02020603050405020304" pitchFamily="18" charset="0"/>
                </a:endParaRPr>
              </a:p>
            </p:txBody>
          </p:sp>
        </p:grpSp>
        <p:sp>
          <p:nvSpPr>
            <p:cNvPr id="55359" name="Line 157"/>
            <p:cNvSpPr/>
            <p:nvPr/>
          </p:nvSpPr>
          <p:spPr>
            <a:xfrm>
              <a:off x="1203" y="2656"/>
              <a:ext cx="158" cy="0"/>
            </a:xfrm>
            <a:prstGeom prst="line">
              <a:avLst/>
            </a:prstGeom>
            <a:ln w="9525" cap="flat" cmpd="sng">
              <a:solidFill>
                <a:schemeClr val="accent2"/>
              </a:solidFill>
              <a:prstDash val="solid"/>
              <a:headEnd type="none" w="med" len="med"/>
              <a:tailEnd type="none" w="med" len="med"/>
            </a:ln>
          </p:spPr>
        </p:sp>
        <p:grpSp>
          <p:nvGrpSpPr>
            <p:cNvPr id="55360" name="Group 158"/>
            <p:cNvGrpSpPr/>
            <p:nvPr/>
          </p:nvGrpSpPr>
          <p:grpSpPr>
            <a:xfrm>
              <a:off x="1294" y="2438"/>
              <a:ext cx="299" cy="239"/>
              <a:chOff x="3614" y="1327"/>
              <a:chExt cx="299" cy="239"/>
            </a:xfrm>
          </p:grpSpPr>
          <p:sp>
            <p:nvSpPr>
              <p:cNvPr id="55372" name="Rectangle 159"/>
              <p:cNvSpPr/>
              <p:nvPr/>
            </p:nvSpPr>
            <p:spPr>
              <a:xfrm flipV="1">
                <a:off x="3677" y="1523"/>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73" name="Text Box 160"/>
              <p:cNvSpPr txBox="1"/>
              <p:nvPr/>
            </p:nvSpPr>
            <p:spPr>
              <a:xfrm>
                <a:off x="3614" y="1327"/>
                <a:ext cx="299"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a:t>
                </a:r>
                <a:r>
                  <a:rPr lang="en-US" altLang="zh-CN" sz="1600" i="1" baseline="-25000" dirty="0">
                    <a:latin typeface="Times New Roman" panose="02020603050405020304" pitchFamily="18" charset="0"/>
                  </a:rPr>
                  <a:t>n</a:t>
                </a:r>
                <a:endParaRPr lang="en-US" altLang="zh-CN" sz="1600" i="1" baseline="-25000" dirty="0">
                  <a:latin typeface="Times New Roman" panose="02020603050405020304" pitchFamily="18" charset="0"/>
                </a:endParaRPr>
              </a:p>
            </p:txBody>
          </p:sp>
        </p:grpSp>
        <p:sp>
          <p:nvSpPr>
            <p:cNvPr id="55361" name="Oval 162"/>
            <p:cNvSpPr/>
            <p:nvPr/>
          </p:nvSpPr>
          <p:spPr>
            <a:xfrm>
              <a:off x="502" y="1603"/>
              <a:ext cx="291" cy="292"/>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62" name="Text Box 163"/>
            <p:cNvSpPr txBox="1"/>
            <p:nvPr/>
          </p:nvSpPr>
          <p:spPr>
            <a:xfrm>
              <a:off x="465" y="1638"/>
              <a:ext cx="359"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c</a:t>
              </a:r>
              <a:r>
                <a:rPr lang="en-US" altLang="zh-CN" sz="1600" i="1" baseline="-25000" dirty="0">
                  <a:latin typeface="Times New Roman" panose="02020603050405020304" pitchFamily="18" charset="0"/>
                </a:rPr>
                <a:t>m</a:t>
              </a:r>
              <a:r>
                <a:rPr lang="en-US" altLang="zh-CN" sz="1600" baseline="-25000" dirty="0">
                  <a:latin typeface="Times New Roman" panose="02020603050405020304" pitchFamily="18" charset="0"/>
                </a:rPr>
                <a:t>1</a:t>
              </a:r>
              <a:endParaRPr lang="en-US" altLang="zh-CN" sz="1600" baseline="-25000" dirty="0">
                <a:latin typeface="Times New Roman" panose="02020603050405020304" pitchFamily="18" charset="0"/>
              </a:endParaRPr>
            </a:p>
          </p:txBody>
        </p:sp>
        <p:grpSp>
          <p:nvGrpSpPr>
            <p:cNvPr id="55363" name="Group 164"/>
            <p:cNvGrpSpPr/>
            <p:nvPr/>
          </p:nvGrpSpPr>
          <p:grpSpPr>
            <a:xfrm>
              <a:off x="2500" y="1686"/>
              <a:ext cx="244" cy="274"/>
              <a:chOff x="4820" y="575"/>
              <a:chExt cx="244" cy="274"/>
            </a:xfrm>
          </p:grpSpPr>
          <p:sp>
            <p:nvSpPr>
              <p:cNvPr id="55370" name="Rectangle 165"/>
              <p:cNvSpPr/>
              <p:nvPr/>
            </p:nvSpPr>
            <p:spPr>
              <a:xfrm flipV="1">
                <a:off x="4854" y="806"/>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71" name="Text Box 166"/>
              <p:cNvSpPr txBox="1"/>
              <p:nvPr/>
            </p:nvSpPr>
            <p:spPr>
              <a:xfrm>
                <a:off x="4820" y="575"/>
                <a:ext cx="244"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R</a:t>
                </a:r>
                <a:r>
                  <a:rPr lang="en-US" altLang="zh-CN" sz="1800" i="1" baseline="-25000" dirty="0">
                    <a:latin typeface="Times New Roman" panose="02020603050405020304" pitchFamily="18" charset="0"/>
                  </a:rPr>
                  <a:t>f</a:t>
                </a:r>
                <a:endParaRPr lang="en-US" altLang="zh-CN" sz="1800" i="1" baseline="-25000" dirty="0">
                  <a:latin typeface="Times New Roman" panose="02020603050405020304" pitchFamily="18" charset="0"/>
                </a:endParaRPr>
              </a:p>
            </p:txBody>
          </p:sp>
        </p:grpSp>
        <p:sp>
          <p:nvSpPr>
            <p:cNvPr id="55364" name="Line 167"/>
            <p:cNvSpPr/>
            <p:nvPr/>
          </p:nvSpPr>
          <p:spPr>
            <a:xfrm>
              <a:off x="1996" y="2088"/>
              <a:ext cx="108" cy="0"/>
            </a:xfrm>
            <a:prstGeom prst="line">
              <a:avLst/>
            </a:prstGeom>
            <a:ln w="9525" cap="flat" cmpd="sng">
              <a:solidFill>
                <a:schemeClr val="accent2"/>
              </a:solidFill>
              <a:prstDash val="solid"/>
              <a:headEnd type="none" w="med" len="med"/>
              <a:tailEnd type="none" w="med" len="med"/>
            </a:ln>
          </p:spPr>
        </p:sp>
        <p:sp>
          <p:nvSpPr>
            <p:cNvPr id="55365" name="Line 168"/>
            <p:cNvSpPr/>
            <p:nvPr/>
          </p:nvSpPr>
          <p:spPr>
            <a:xfrm flipH="1">
              <a:off x="276" y="2096"/>
              <a:ext cx="651" cy="0"/>
            </a:xfrm>
            <a:prstGeom prst="line">
              <a:avLst/>
            </a:prstGeom>
            <a:ln w="9525" cap="flat" cmpd="sng">
              <a:solidFill>
                <a:schemeClr val="accent2"/>
              </a:solidFill>
              <a:prstDash val="solid"/>
              <a:headEnd type="none" w="med" len="med"/>
              <a:tailEnd type="none" w="med" len="med"/>
            </a:ln>
          </p:spPr>
        </p:sp>
        <p:sp>
          <p:nvSpPr>
            <p:cNvPr id="55366" name="Oval 170"/>
            <p:cNvSpPr/>
            <p:nvPr/>
          </p:nvSpPr>
          <p:spPr>
            <a:xfrm>
              <a:off x="498" y="1950"/>
              <a:ext cx="291" cy="292"/>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67" name="Text Box 171"/>
            <p:cNvSpPr txBox="1"/>
            <p:nvPr/>
          </p:nvSpPr>
          <p:spPr>
            <a:xfrm>
              <a:off x="461" y="1985"/>
              <a:ext cx="359"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c</a:t>
              </a:r>
              <a:r>
                <a:rPr lang="en-US" altLang="zh-CN" sz="1600" i="1" baseline="-25000" dirty="0">
                  <a:latin typeface="Times New Roman" panose="02020603050405020304" pitchFamily="18" charset="0"/>
                </a:rPr>
                <a:t>m</a:t>
              </a:r>
              <a:r>
                <a:rPr lang="en-US" altLang="zh-CN" sz="1600" baseline="-25000" dirty="0">
                  <a:latin typeface="Times New Roman" panose="02020603050405020304" pitchFamily="18" charset="0"/>
                </a:rPr>
                <a:t>2</a:t>
              </a:r>
              <a:endParaRPr lang="en-US" altLang="zh-CN" sz="1600" baseline="-25000" dirty="0">
                <a:latin typeface="Times New Roman" panose="02020603050405020304" pitchFamily="18" charset="0"/>
              </a:endParaRPr>
            </a:p>
          </p:txBody>
        </p:sp>
        <p:sp>
          <p:nvSpPr>
            <p:cNvPr id="55368" name="Oval 173"/>
            <p:cNvSpPr/>
            <p:nvPr/>
          </p:nvSpPr>
          <p:spPr>
            <a:xfrm>
              <a:off x="515" y="2485"/>
              <a:ext cx="291" cy="292"/>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5369" name="Text Box 174"/>
            <p:cNvSpPr txBox="1"/>
            <p:nvPr/>
          </p:nvSpPr>
          <p:spPr>
            <a:xfrm>
              <a:off x="473" y="2534"/>
              <a:ext cx="36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c</a:t>
              </a:r>
              <a:r>
                <a:rPr lang="en-US" altLang="zh-CN" sz="1600" i="1" baseline="-25000" dirty="0">
                  <a:latin typeface="Times New Roman" panose="02020603050405020304" pitchFamily="18" charset="0"/>
                </a:rPr>
                <a:t>mn</a:t>
              </a:r>
              <a:endParaRPr lang="en-US" altLang="zh-CN" sz="1600" i="1" baseline="-25000" dirty="0">
                <a:latin typeface="Times New Roman" panose="02020603050405020304" pitchFamily="18" charset="0"/>
              </a:endParaRPr>
            </a:p>
          </p:txBody>
        </p:sp>
      </p:grpSp>
      <p:sp>
        <p:nvSpPr>
          <p:cNvPr id="2412624" name="AutoShape 80"/>
          <p:cNvSpPr/>
          <p:nvPr/>
        </p:nvSpPr>
        <p:spPr>
          <a:xfrm>
            <a:off x="5616575" y="4351338"/>
            <a:ext cx="3316288" cy="1238250"/>
          </a:xfrm>
          <a:prstGeom prst="wedgeRoundRectCallout">
            <a:avLst>
              <a:gd name="adj1" fmla="val -66468"/>
              <a:gd name="adj2" fmla="val 1179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12625" name="Text Box 81"/>
          <p:cNvSpPr txBox="1">
            <a:spLocks noChangeArrowheads="1"/>
          </p:cNvSpPr>
          <p:nvPr/>
        </p:nvSpPr>
        <p:spPr bwMode="auto">
          <a:xfrm>
            <a:off x="2286000" y="0"/>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55301" name="Text Box 82"/>
          <p:cNvSpPr txBox="1"/>
          <p:nvPr/>
        </p:nvSpPr>
        <p:spPr>
          <a:xfrm>
            <a:off x="471488" y="587375"/>
            <a:ext cx="24765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1. </a:t>
            </a:r>
            <a:r>
              <a:rPr lang="zh-CN" altLang="en-US" dirty="0">
                <a:latin typeface="Times New Roman" panose="02020603050405020304" pitchFamily="18" charset="0"/>
              </a:rPr>
              <a:t>单端接法 </a:t>
            </a:r>
            <a:endParaRPr lang="zh-CN" altLang="en-US" dirty="0">
              <a:latin typeface="Times New Roman" panose="02020603050405020304" pitchFamily="18" charset="0"/>
            </a:endParaRPr>
          </a:p>
        </p:txBody>
      </p:sp>
      <p:sp>
        <p:nvSpPr>
          <p:cNvPr id="55302" name="Text Box 83"/>
          <p:cNvSpPr txBox="1"/>
          <p:nvPr/>
        </p:nvSpPr>
        <p:spPr>
          <a:xfrm>
            <a:off x="858838" y="1344613"/>
            <a:ext cx="7626350" cy="822325"/>
          </a:xfrm>
          <a:prstGeom prst="rect">
            <a:avLst/>
          </a:prstGeom>
          <a:solidFill>
            <a:srgbClr val="CCFFFF"/>
          </a:solidFill>
          <a:ln w="9525">
            <a:noFill/>
          </a:ln>
        </p:spPr>
        <p:txBody>
          <a:bodyPr>
            <a:spAutoFit/>
          </a:bodyPr>
          <a:p>
            <a:pPr eaLnBrk="1" hangingPunct="1"/>
            <a:r>
              <a:rPr lang="zh-CN" altLang="en-US" sz="2400" dirty="0">
                <a:solidFill>
                  <a:srgbClr val="FF0000"/>
                </a:solidFill>
                <a:latin typeface="Times New Roman" panose="02020603050405020304" pitchFamily="18" charset="0"/>
                <a:ea typeface="黑体" panose="02010609060101010101" pitchFamily="49" charset="-122"/>
              </a:rPr>
              <a:t>单端接法：</a:t>
            </a:r>
            <a:r>
              <a:rPr lang="zh-CN" altLang="en-US" sz="2400" dirty="0">
                <a:solidFill>
                  <a:schemeClr val="tx2"/>
                </a:solidFill>
                <a:latin typeface="Times New Roman" panose="02020603050405020304" pitchFamily="18" charset="0"/>
                <a:ea typeface="黑体" panose="02010609060101010101" pitchFamily="49" charset="-122"/>
              </a:rPr>
              <a:t>把所有输入信号源的一端接至同一信号地，</a:t>
            </a:r>
            <a:endParaRPr lang="zh-CN" altLang="en-US" sz="2400" dirty="0">
              <a:solidFill>
                <a:schemeClr val="tx2"/>
              </a:solidFill>
              <a:latin typeface="Times New Roman" panose="02020603050405020304" pitchFamily="18" charset="0"/>
              <a:ea typeface="黑体" panose="02010609060101010101" pitchFamily="49" charset="-122"/>
            </a:endParaRPr>
          </a:p>
          <a:p>
            <a:pPr eaLnBrk="1" hangingPunct="1"/>
            <a:r>
              <a:rPr lang="zh-CN" altLang="en-US" sz="2400" dirty="0">
                <a:solidFill>
                  <a:schemeClr val="tx2"/>
                </a:solidFill>
                <a:latin typeface="Times New Roman" panose="02020603050405020304" pitchFamily="18" charset="0"/>
                <a:ea typeface="黑体" panose="02010609060101010101" pitchFamily="49" charset="-122"/>
              </a:rPr>
              <a:t>                    另一端各自接至多路开关的相应输入端。</a:t>
            </a:r>
            <a:endParaRPr lang="zh-CN" altLang="en-US" sz="2400" dirty="0">
              <a:solidFill>
                <a:schemeClr val="tx2"/>
              </a:solidFill>
              <a:latin typeface="Times New Roman" panose="02020603050405020304" pitchFamily="18" charset="0"/>
              <a:ea typeface="黑体" panose="02010609060101010101" pitchFamily="49" charset="-122"/>
            </a:endParaRPr>
          </a:p>
        </p:txBody>
      </p:sp>
      <p:sp>
        <p:nvSpPr>
          <p:cNvPr id="2412628" name="Rectangle 84"/>
          <p:cNvSpPr/>
          <p:nvPr/>
        </p:nvSpPr>
        <p:spPr>
          <a:xfrm>
            <a:off x="5611813" y="4635500"/>
            <a:ext cx="3532187" cy="701675"/>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buChar char="Ø"/>
            </a:pPr>
            <a:r>
              <a:rPr lang="zh-CN" altLang="en-US" sz="2000" dirty="0">
                <a:solidFill>
                  <a:srgbClr val="000099"/>
                </a:solidFill>
                <a:latin typeface="Times New Roman" panose="02020603050405020304" pitchFamily="18" charset="0"/>
              </a:rPr>
              <a:t>系统可得到最大的通道数；</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buChar char="Ø"/>
            </a:pPr>
            <a:r>
              <a:rPr lang="zh-CN" altLang="en-US" sz="2000" dirty="0">
                <a:solidFill>
                  <a:srgbClr val="000099"/>
                </a:solidFill>
                <a:latin typeface="Times New Roman" panose="02020603050405020304" pitchFamily="18" charset="0"/>
              </a:rPr>
              <a:t>比较容易实现。</a:t>
            </a:r>
            <a:endParaRPr lang="zh-CN" altLang="en-US" sz="2000" dirty="0">
              <a:solidFill>
                <a:srgbClr val="000099"/>
              </a:solidFill>
              <a:latin typeface="Times New Roman" panose="02020603050405020304" pitchFamily="18" charset="0"/>
            </a:endParaRPr>
          </a:p>
        </p:txBody>
      </p:sp>
      <p:sp>
        <p:nvSpPr>
          <p:cNvPr id="2353247" name="Text Box 95"/>
          <p:cNvSpPr txBox="1"/>
          <p:nvPr/>
        </p:nvSpPr>
        <p:spPr>
          <a:xfrm>
            <a:off x="5856288" y="2651125"/>
            <a:ext cx="3287712" cy="1495425"/>
          </a:xfrm>
          <a:prstGeom prst="rect">
            <a:avLst/>
          </a:prstGeom>
          <a:noFill/>
          <a:ln w="9525">
            <a:noFill/>
          </a:ln>
        </p:spPr>
        <p:txBody>
          <a:bodyPr>
            <a:spAutoFit/>
          </a:bodyPr>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信号地与模拟地相离较远；</a:t>
            </a:r>
            <a:endParaRPr lang="zh-CN" altLang="en-US" sz="2000" dirty="0">
              <a:latin typeface="Times New Roman" panose="02020603050405020304" pitchFamily="18" charset="0"/>
              <a:ea typeface="黑体" panose="02010609060101010101" pitchFamily="49" charset="-122"/>
            </a:endParaRPr>
          </a:p>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所有输入信号相对于系统模拟公共地；</a:t>
            </a:r>
            <a:endParaRPr lang="zh-CN" altLang="en-US" sz="2000" dirty="0">
              <a:latin typeface="Times New Roman" panose="02020603050405020304" pitchFamily="18" charset="0"/>
              <a:ea typeface="黑体" panose="02010609060101010101" pitchFamily="49" charset="-122"/>
            </a:endParaRPr>
          </a:p>
          <a:p>
            <a:pPr eaLnBrk="1" hangingPunct="1">
              <a:lnSpc>
                <a:spcPct val="90000"/>
              </a:lnSpc>
              <a:spcBef>
                <a:spcPct val="25000"/>
              </a:spcBef>
              <a:spcAft>
                <a:spcPct val="25000"/>
              </a:spcAft>
            </a:pPr>
            <a:r>
              <a:rPr lang="zh-CN" altLang="en-US" sz="2000" dirty="0">
                <a:latin typeface="Times New Roman" panose="02020603050405020304" pitchFamily="18" charset="0"/>
                <a:ea typeface="黑体" panose="02010609060101010101" pitchFamily="49" charset="-122"/>
              </a:rPr>
              <a:t>抗共模干扰能力差；</a:t>
            </a:r>
            <a:endParaRPr lang="zh-CN" altLang="en-US" sz="2000" dirty="0">
              <a:latin typeface="Times New Roman" panose="02020603050405020304" pitchFamily="18" charset="0"/>
              <a:ea typeface="黑体" panose="02010609060101010101" pitchFamily="49" charset="-122"/>
            </a:endParaRPr>
          </a:p>
        </p:txBody>
      </p:sp>
      <p:sp>
        <p:nvSpPr>
          <p:cNvPr id="2353248" name="Text Box 96"/>
          <p:cNvSpPr txBox="1"/>
          <p:nvPr/>
        </p:nvSpPr>
        <p:spPr>
          <a:xfrm>
            <a:off x="5595938" y="2133600"/>
            <a:ext cx="1460500" cy="476250"/>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缺点：</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353249" name="Text Box 97"/>
          <p:cNvSpPr txBox="1"/>
          <p:nvPr/>
        </p:nvSpPr>
        <p:spPr>
          <a:xfrm>
            <a:off x="5502275" y="2646363"/>
            <a:ext cx="800100" cy="3667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
        <p:nvSpPr>
          <p:cNvPr id="2353250" name="Text Box 98"/>
          <p:cNvSpPr txBox="1"/>
          <p:nvPr/>
        </p:nvSpPr>
        <p:spPr>
          <a:xfrm>
            <a:off x="5508625" y="3078163"/>
            <a:ext cx="800100" cy="3667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
        <p:nvSpPr>
          <p:cNvPr id="2" name="Text Box 98"/>
          <p:cNvSpPr txBox="1"/>
          <p:nvPr/>
        </p:nvSpPr>
        <p:spPr>
          <a:xfrm>
            <a:off x="5508625" y="3789363"/>
            <a:ext cx="800100" cy="3667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rPr>
              <a:t> </a:t>
            </a:r>
            <a:endParaRPr lang="en-US" altLang="zh-CN" sz="20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2719"/>
                                        </p:tgtEl>
                                        <p:attrNameLst>
                                          <p:attrName>style.visibility</p:attrName>
                                        </p:attrNameLst>
                                      </p:cBhvr>
                                      <p:to>
                                        <p:strVal val="visible"/>
                                      </p:to>
                                    </p:set>
                                    <p:animEffect transition="in" filter="dissolve">
                                      <p:cBhvr>
                                        <p:cTn id="7" dur="500"/>
                                        <p:tgtEl>
                                          <p:spTgt spid="24127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2624"/>
                                        </p:tgtEl>
                                        <p:attrNameLst>
                                          <p:attrName>style.visibility</p:attrName>
                                        </p:attrNameLst>
                                      </p:cBhvr>
                                      <p:to>
                                        <p:strVal val="visible"/>
                                      </p:to>
                                    </p:set>
                                    <p:animEffect transition="in" filter="dissolve">
                                      <p:cBhvr>
                                        <p:cTn id="12" dur="500"/>
                                        <p:tgtEl>
                                          <p:spTgt spid="24126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2628">
                                            <p:txEl>
                                              <p:charRg st="0" end="13"/>
                                            </p:txEl>
                                          </p:spTgt>
                                        </p:tgtEl>
                                        <p:attrNameLst>
                                          <p:attrName>style.visibility</p:attrName>
                                        </p:attrNameLst>
                                      </p:cBhvr>
                                      <p:to>
                                        <p:strVal val="visible"/>
                                      </p:to>
                                    </p:set>
                                    <p:animEffect transition="in" filter="dissolve">
                                      <p:cBhvr>
                                        <p:cTn id="17" dur="500"/>
                                        <p:tgtEl>
                                          <p:spTgt spid="2412628">
                                            <p:txEl>
                                              <p:charRg st="0" end="1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12628">
                                            <p:txEl>
                                              <p:charRg st="13" end="21"/>
                                            </p:txEl>
                                          </p:spTgt>
                                        </p:tgtEl>
                                        <p:attrNameLst>
                                          <p:attrName>style.visibility</p:attrName>
                                        </p:attrNameLst>
                                      </p:cBhvr>
                                      <p:to>
                                        <p:strVal val="visible"/>
                                      </p:to>
                                    </p:set>
                                    <p:animEffect transition="in" filter="dissolve">
                                      <p:cBhvr>
                                        <p:cTn id="22" dur="500"/>
                                        <p:tgtEl>
                                          <p:spTgt spid="2412628">
                                            <p:txEl>
                                              <p:charRg st="13" end="2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53248"/>
                                        </p:tgtEl>
                                        <p:attrNameLst>
                                          <p:attrName>style.visibility</p:attrName>
                                        </p:attrNameLst>
                                      </p:cBhvr>
                                      <p:to>
                                        <p:strVal val="visible"/>
                                      </p:to>
                                    </p:set>
                                    <p:animEffect transition="in" filter="dissolve">
                                      <p:cBhvr>
                                        <p:cTn id="27" dur="500"/>
                                        <p:tgtEl>
                                          <p:spTgt spid="235324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53247">
                                            <p:txEl>
                                              <p:charRg st="0" end="13"/>
                                            </p:txEl>
                                          </p:spTgt>
                                        </p:tgtEl>
                                        <p:attrNameLst>
                                          <p:attrName>style.visibility</p:attrName>
                                        </p:attrNameLst>
                                      </p:cBhvr>
                                      <p:to>
                                        <p:strVal val="visible"/>
                                      </p:to>
                                    </p:set>
                                    <p:animEffect transition="in" filter="dissolve">
                                      <p:cBhvr>
                                        <p:cTn id="32" dur="500"/>
                                        <p:tgtEl>
                                          <p:spTgt spid="2353247">
                                            <p:txEl>
                                              <p:charRg st="0" end="13"/>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353247">
                                            <p:txEl>
                                              <p:charRg st="13" end="31"/>
                                            </p:txEl>
                                          </p:spTgt>
                                        </p:tgtEl>
                                        <p:attrNameLst>
                                          <p:attrName>style.visibility</p:attrName>
                                        </p:attrNameLst>
                                      </p:cBhvr>
                                      <p:to>
                                        <p:strVal val="visible"/>
                                      </p:to>
                                    </p:set>
                                    <p:animEffect transition="in" filter="dissolve">
                                      <p:cBhvr>
                                        <p:cTn id="37" dur="500"/>
                                        <p:tgtEl>
                                          <p:spTgt spid="2353247">
                                            <p:txEl>
                                              <p:charRg st="13" end="31"/>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2353249">
                                            <p:txEl>
                                              <p:charRg st="0" end="2"/>
                                            </p:txEl>
                                          </p:spTgt>
                                        </p:tgtEl>
                                        <p:attrNameLst>
                                          <p:attrName>style.visibility</p:attrName>
                                        </p:attrNameLst>
                                      </p:cBhvr>
                                      <p:to>
                                        <p:strVal val="visible"/>
                                      </p:to>
                                    </p:set>
                                    <p:animEffect transition="in" filter="dissolve">
                                      <p:cBhvr>
                                        <p:cTn id="40" dur="500"/>
                                        <p:tgtEl>
                                          <p:spTgt spid="2353249">
                                            <p:txEl>
                                              <p:charRg st="0"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2353250">
                                            <p:txEl>
                                              <p:charRg st="0" end="2"/>
                                            </p:txEl>
                                          </p:spTgt>
                                        </p:tgtEl>
                                        <p:attrNameLst>
                                          <p:attrName>style.visibility</p:attrName>
                                        </p:attrNameLst>
                                      </p:cBhvr>
                                      <p:to>
                                        <p:strVal val="visible"/>
                                      </p:to>
                                    </p:set>
                                    <p:animEffect transition="in" filter="dissolve">
                                      <p:cBhvr>
                                        <p:cTn id="45" dur="500"/>
                                        <p:tgtEl>
                                          <p:spTgt spid="2353250">
                                            <p:txEl>
                                              <p:charRg st="0" end="2"/>
                                            </p:txEl>
                                          </p:spTgt>
                                        </p:tgtEl>
                                      </p:cBhvr>
                                    </p:animEffect>
                                  </p:childTnLst>
                                </p:cTn>
                              </p:par>
                              <p:par>
                                <p:cTn id="46" presetID="9" presetClass="entr" presetSubtype="0" fill="hold" nodeType="withEffect">
                                  <p:stCondLst>
                                    <p:cond delay="0"/>
                                  </p:stCondLst>
                                  <p:childTnLst>
                                    <p:set>
                                      <p:cBhvr>
                                        <p:cTn id="47" dur="1" fill="hold">
                                          <p:stCondLst>
                                            <p:cond delay="0"/>
                                          </p:stCondLst>
                                        </p:cTn>
                                        <p:tgtEl>
                                          <p:spTgt spid="2353247">
                                            <p:txEl>
                                              <p:charRg st="31" end="41"/>
                                            </p:txEl>
                                          </p:spTgt>
                                        </p:tgtEl>
                                        <p:attrNameLst>
                                          <p:attrName>style.visibility</p:attrName>
                                        </p:attrNameLst>
                                      </p:cBhvr>
                                      <p:to>
                                        <p:strVal val="visible"/>
                                      </p:to>
                                    </p:set>
                                    <p:animEffect transition="in" filter="dissolve">
                                      <p:cBhvr>
                                        <p:cTn id="48" dur="500"/>
                                        <p:tgtEl>
                                          <p:spTgt spid="2353247">
                                            <p:txEl>
                                              <p:charRg st="31" end="41"/>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nodeType="clickEffect">
                                  <p:stCondLst>
                                    <p:cond delay="0"/>
                                  </p:stCondLst>
                                  <p:childTnLst>
                                    <p:set>
                                      <p:cBhvr>
                                        <p:cTn id="52" dur="1" fill="hold">
                                          <p:stCondLst>
                                            <p:cond delay="0"/>
                                          </p:stCondLst>
                                        </p:cTn>
                                        <p:tgtEl>
                                          <p:spTgt spid="2">
                                            <p:txEl>
                                              <p:charRg st="0" end="2"/>
                                            </p:txEl>
                                          </p:spTgt>
                                        </p:tgtEl>
                                        <p:attrNameLst>
                                          <p:attrName>style.visibility</p:attrName>
                                        </p:attrNameLst>
                                      </p:cBhvr>
                                      <p:to>
                                        <p:strVal val="visible"/>
                                      </p:to>
                                    </p:set>
                                    <p:animEffect transition="in" filter="dissolve">
                                      <p:cBhvr>
                                        <p:cTn id="53" dur="500"/>
                                        <p:tgtEl>
                                          <p:spTgt spid="2">
                                            <p:txEl>
                                              <p:charRg st="0"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2624" grpId="0" animBg="1"/>
      <p:bldP spid="2353248"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55223" name="Text Box 23"/>
          <p:cNvSpPr txBox="1">
            <a:spLocks noChangeArrowheads="1"/>
          </p:cNvSpPr>
          <p:nvPr/>
        </p:nvSpPr>
        <p:spPr bwMode="auto">
          <a:xfrm>
            <a:off x="2286000" y="0"/>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55224" name="Text Box 24"/>
          <p:cNvSpPr txBox="1"/>
          <p:nvPr/>
        </p:nvSpPr>
        <p:spPr>
          <a:xfrm>
            <a:off x="471488" y="587375"/>
            <a:ext cx="2476500"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2. </a:t>
            </a:r>
            <a:r>
              <a:rPr lang="zh-CN" altLang="en-US" dirty="0">
                <a:latin typeface="Times New Roman" panose="02020603050405020304" pitchFamily="18" charset="0"/>
              </a:rPr>
              <a:t>双端接法 </a:t>
            </a:r>
            <a:endParaRPr lang="zh-CN" altLang="en-US" dirty="0">
              <a:latin typeface="Times New Roman" panose="02020603050405020304" pitchFamily="18" charset="0"/>
            </a:endParaRPr>
          </a:p>
        </p:txBody>
      </p:sp>
      <p:sp>
        <p:nvSpPr>
          <p:cNvPr id="2355225" name="Text Box 25"/>
          <p:cNvSpPr txBox="1"/>
          <p:nvPr/>
        </p:nvSpPr>
        <p:spPr>
          <a:xfrm>
            <a:off x="3176588" y="758825"/>
            <a:ext cx="5740400" cy="749300"/>
          </a:xfrm>
          <a:prstGeom prst="rect">
            <a:avLst/>
          </a:prstGeom>
          <a:solidFill>
            <a:srgbClr val="CCFFFF"/>
          </a:solidFill>
          <a:ln w="9525">
            <a:noFill/>
          </a:ln>
        </p:spPr>
        <p:txBody>
          <a:bodyPr>
            <a:spAutoFit/>
          </a:bodyPr>
          <a:p>
            <a:pPr eaLnBrk="1" hangingPunct="1">
              <a:lnSpc>
                <a:spcPct val="90000"/>
              </a:lnSpc>
            </a:pPr>
            <a:r>
              <a:rPr lang="zh-CN" altLang="en-US" sz="2400" dirty="0">
                <a:solidFill>
                  <a:srgbClr val="FF0000"/>
                </a:solidFill>
                <a:latin typeface="Times New Roman" panose="02020603050405020304" pitchFamily="18" charset="0"/>
                <a:ea typeface="黑体" panose="02010609060101010101" pitchFamily="49" charset="-122"/>
              </a:rPr>
              <a:t>双端接法：</a:t>
            </a:r>
            <a:r>
              <a:rPr lang="zh-CN" altLang="en-US" sz="2400" dirty="0">
                <a:solidFill>
                  <a:schemeClr val="tx2"/>
                </a:solidFill>
                <a:latin typeface="Times New Roman" panose="02020603050405020304" pitchFamily="18" charset="0"/>
                <a:ea typeface="黑体" panose="02010609060101010101" pitchFamily="49" charset="-122"/>
              </a:rPr>
              <a:t>把所有输入信号源的两端各自</a:t>
            </a:r>
            <a:endParaRPr lang="zh-CN" altLang="en-US" sz="2400" dirty="0">
              <a:solidFill>
                <a:schemeClr val="tx2"/>
              </a:solidFill>
              <a:latin typeface="Times New Roman" panose="02020603050405020304" pitchFamily="18" charset="0"/>
              <a:ea typeface="黑体" panose="02010609060101010101" pitchFamily="49" charset="-122"/>
            </a:endParaRPr>
          </a:p>
          <a:p>
            <a:pPr eaLnBrk="1" hangingPunct="1">
              <a:lnSpc>
                <a:spcPct val="90000"/>
              </a:lnSpc>
            </a:pPr>
            <a:r>
              <a:rPr lang="zh-CN" altLang="en-US" sz="2400" dirty="0">
                <a:solidFill>
                  <a:schemeClr val="tx2"/>
                </a:solidFill>
                <a:latin typeface="Times New Roman" panose="02020603050405020304" pitchFamily="18" charset="0"/>
                <a:ea typeface="黑体" panose="02010609060101010101" pitchFamily="49" charset="-122"/>
              </a:rPr>
              <a:t>                    分别接至多路开关的输入端。 </a:t>
            </a:r>
            <a:endParaRPr lang="zh-CN" altLang="en-US" sz="2400" dirty="0">
              <a:solidFill>
                <a:schemeClr val="tx2"/>
              </a:solidFill>
              <a:latin typeface="Times New Roman" panose="02020603050405020304" pitchFamily="18" charset="0"/>
              <a:ea typeface="黑体" panose="02010609060101010101" pitchFamily="49" charset="-122"/>
            </a:endParaRPr>
          </a:p>
        </p:txBody>
      </p:sp>
      <p:grpSp>
        <p:nvGrpSpPr>
          <p:cNvPr id="2355329" name="Group 129"/>
          <p:cNvGrpSpPr/>
          <p:nvPr/>
        </p:nvGrpSpPr>
        <p:grpSpPr>
          <a:xfrm>
            <a:off x="100013" y="1625600"/>
            <a:ext cx="6376987" cy="4562475"/>
            <a:chOff x="63" y="1024"/>
            <a:chExt cx="4017" cy="2874"/>
          </a:xfrm>
        </p:grpSpPr>
        <p:sp>
          <p:nvSpPr>
            <p:cNvPr id="56328" name="Rectangle 125"/>
            <p:cNvSpPr/>
            <p:nvPr/>
          </p:nvSpPr>
          <p:spPr>
            <a:xfrm>
              <a:off x="63" y="1024"/>
              <a:ext cx="4002" cy="2874"/>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29" name="Rectangle 26"/>
            <p:cNvSpPr/>
            <p:nvPr/>
          </p:nvSpPr>
          <p:spPr>
            <a:xfrm>
              <a:off x="1894" y="1110"/>
              <a:ext cx="634" cy="2438"/>
            </a:xfrm>
            <a:prstGeom prst="rect">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30" name="Oval 27"/>
            <p:cNvSpPr/>
            <p:nvPr/>
          </p:nvSpPr>
          <p:spPr>
            <a:xfrm>
              <a:off x="1977" y="1302"/>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31" name="Line 28"/>
            <p:cNvSpPr/>
            <p:nvPr/>
          </p:nvSpPr>
          <p:spPr>
            <a:xfrm>
              <a:off x="1977" y="1219"/>
              <a:ext cx="200" cy="83"/>
            </a:xfrm>
            <a:prstGeom prst="line">
              <a:avLst/>
            </a:prstGeom>
            <a:ln w="9525" cap="flat" cmpd="sng">
              <a:solidFill>
                <a:schemeClr val="accent2"/>
              </a:solidFill>
              <a:prstDash val="solid"/>
              <a:headEnd type="none" w="med" len="med"/>
              <a:tailEnd type="none" w="med" len="med"/>
            </a:ln>
          </p:spPr>
        </p:sp>
        <p:sp>
          <p:nvSpPr>
            <p:cNvPr id="56332" name="Oval 29"/>
            <p:cNvSpPr/>
            <p:nvPr/>
          </p:nvSpPr>
          <p:spPr>
            <a:xfrm>
              <a:off x="2173" y="1290"/>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33" name="Line 30"/>
            <p:cNvSpPr/>
            <p:nvPr/>
          </p:nvSpPr>
          <p:spPr>
            <a:xfrm>
              <a:off x="2219" y="1311"/>
              <a:ext cx="84" cy="0"/>
            </a:xfrm>
            <a:prstGeom prst="line">
              <a:avLst/>
            </a:prstGeom>
            <a:ln w="9525" cap="flat" cmpd="sng">
              <a:solidFill>
                <a:schemeClr val="accent2"/>
              </a:solidFill>
              <a:prstDash val="solid"/>
              <a:headEnd type="none" w="med" len="med"/>
              <a:tailEnd type="none" w="med" len="med"/>
            </a:ln>
          </p:spPr>
        </p:sp>
        <p:sp>
          <p:nvSpPr>
            <p:cNvPr id="56334" name="Oval 31"/>
            <p:cNvSpPr/>
            <p:nvPr/>
          </p:nvSpPr>
          <p:spPr>
            <a:xfrm>
              <a:off x="1973" y="1816"/>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35" name="Line 32"/>
            <p:cNvSpPr/>
            <p:nvPr/>
          </p:nvSpPr>
          <p:spPr>
            <a:xfrm>
              <a:off x="1985" y="1728"/>
              <a:ext cx="201" cy="92"/>
            </a:xfrm>
            <a:prstGeom prst="line">
              <a:avLst/>
            </a:prstGeom>
            <a:ln w="9525" cap="flat" cmpd="sng">
              <a:solidFill>
                <a:schemeClr val="accent2"/>
              </a:solidFill>
              <a:prstDash val="solid"/>
              <a:headEnd type="none" w="med" len="med"/>
              <a:tailEnd type="none" w="med" len="med"/>
            </a:ln>
          </p:spPr>
        </p:sp>
        <p:sp>
          <p:nvSpPr>
            <p:cNvPr id="56336" name="Oval 33"/>
            <p:cNvSpPr/>
            <p:nvPr/>
          </p:nvSpPr>
          <p:spPr>
            <a:xfrm>
              <a:off x="2186" y="1820"/>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37" name="Line 34"/>
            <p:cNvSpPr/>
            <p:nvPr/>
          </p:nvSpPr>
          <p:spPr>
            <a:xfrm>
              <a:off x="2228" y="1836"/>
              <a:ext cx="175" cy="0"/>
            </a:xfrm>
            <a:prstGeom prst="line">
              <a:avLst/>
            </a:prstGeom>
            <a:ln w="9525" cap="flat" cmpd="sng">
              <a:solidFill>
                <a:schemeClr val="accent2"/>
              </a:solidFill>
              <a:prstDash val="solid"/>
              <a:headEnd type="none" w="med" len="med"/>
              <a:tailEnd type="none" w="med" len="med"/>
            </a:ln>
          </p:spPr>
        </p:sp>
        <p:sp>
          <p:nvSpPr>
            <p:cNvPr id="56338" name="Line 35"/>
            <p:cNvSpPr/>
            <p:nvPr/>
          </p:nvSpPr>
          <p:spPr>
            <a:xfrm>
              <a:off x="2303" y="1311"/>
              <a:ext cx="0" cy="1519"/>
            </a:xfrm>
            <a:prstGeom prst="line">
              <a:avLst/>
            </a:prstGeom>
            <a:ln w="9525" cap="flat" cmpd="sng">
              <a:solidFill>
                <a:schemeClr val="accent2"/>
              </a:solidFill>
              <a:prstDash val="solid"/>
              <a:headEnd type="none" w="med" len="med"/>
              <a:tailEnd type="none" w="med" len="med"/>
            </a:ln>
          </p:spPr>
        </p:sp>
        <p:sp>
          <p:nvSpPr>
            <p:cNvPr id="56339" name="Oval 36"/>
            <p:cNvSpPr/>
            <p:nvPr/>
          </p:nvSpPr>
          <p:spPr>
            <a:xfrm>
              <a:off x="2274" y="2175"/>
              <a:ext cx="49"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40" name="Line 37"/>
            <p:cNvSpPr/>
            <p:nvPr/>
          </p:nvSpPr>
          <p:spPr>
            <a:xfrm>
              <a:off x="2303" y="2196"/>
              <a:ext cx="709" cy="0"/>
            </a:xfrm>
            <a:prstGeom prst="line">
              <a:avLst/>
            </a:prstGeom>
            <a:ln w="9525" cap="flat" cmpd="sng">
              <a:solidFill>
                <a:schemeClr val="accent2"/>
              </a:solidFill>
              <a:prstDash val="solid"/>
              <a:headEnd type="none" w="med" len="med"/>
              <a:tailEnd type="none" w="med" len="med"/>
            </a:ln>
          </p:spPr>
        </p:sp>
        <p:grpSp>
          <p:nvGrpSpPr>
            <p:cNvPr id="56341" name="Group 38"/>
            <p:cNvGrpSpPr/>
            <p:nvPr/>
          </p:nvGrpSpPr>
          <p:grpSpPr>
            <a:xfrm>
              <a:off x="2988" y="2037"/>
              <a:ext cx="529" cy="564"/>
              <a:chOff x="4083" y="1778"/>
              <a:chExt cx="529" cy="564"/>
            </a:xfrm>
          </p:grpSpPr>
          <p:sp>
            <p:nvSpPr>
              <p:cNvPr id="56424" name="AutoShape 39"/>
              <p:cNvSpPr/>
              <p:nvPr/>
            </p:nvSpPr>
            <p:spPr>
              <a:xfrm rot="5400000">
                <a:off x="4082" y="1812"/>
                <a:ext cx="551" cy="509"/>
              </a:xfrm>
              <a:prstGeom prst="triangle">
                <a:avLst>
                  <a:gd name="adj" fmla="val 50000"/>
                </a:avLst>
              </a:prstGeom>
              <a:solidFill>
                <a:schemeClr val="bg1"/>
              </a:solidFill>
              <a:ln w="9525" cap="flat" cmpd="sng">
                <a:solidFill>
                  <a:schemeClr val="accent2"/>
                </a:solidFill>
                <a:prstDash val="solid"/>
                <a:miter/>
                <a:headEnd type="none" w="med" len="med"/>
                <a:tailEnd type="none" w="med" len="med"/>
              </a:ln>
              <a:effectLst>
                <a:outerShdw dist="107763" dir="13499999" algn="ctr" rotWithShape="0">
                  <a:schemeClr val="bg2"/>
                </a:outerShdw>
              </a:effectLst>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25" name="Text Box 40"/>
              <p:cNvSpPr txBox="1"/>
              <p:nvPr/>
            </p:nvSpPr>
            <p:spPr>
              <a:xfrm>
                <a:off x="4083" y="1778"/>
                <a:ext cx="189" cy="526"/>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grpSp>
        <p:sp>
          <p:nvSpPr>
            <p:cNvPr id="56342" name="Line 41"/>
            <p:cNvSpPr/>
            <p:nvPr/>
          </p:nvSpPr>
          <p:spPr>
            <a:xfrm>
              <a:off x="2403" y="1837"/>
              <a:ext cx="0" cy="1536"/>
            </a:xfrm>
            <a:prstGeom prst="line">
              <a:avLst/>
            </a:prstGeom>
            <a:ln w="9525" cap="flat" cmpd="sng">
              <a:solidFill>
                <a:schemeClr val="accent2"/>
              </a:solidFill>
              <a:prstDash val="solid"/>
              <a:headEnd type="none" w="med" len="med"/>
              <a:tailEnd type="none" w="med" len="med"/>
            </a:ln>
          </p:spPr>
        </p:sp>
        <p:sp>
          <p:nvSpPr>
            <p:cNvPr id="56343" name="Oval 42"/>
            <p:cNvSpPr/>
            <p:nvPr/>
          </p:nvSpPr>
          <p:spPr>
            <a:xfrm>
              <a:off x="2381" y="2451"/>
              <a:ext cx="48"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44" name="Line 43"/>
            <p:cNvSpPr/>
            <p:nvPr/>
          </p:nvSpPr>
          <p:spPr>
            <a:xfrm>
              <a:off x="2403" y="2471"/>
              <a:ext cx="609" cy="0"/>
            </a:xfrm>
            <a:prstGeom prst="line">
              <a:avLst/>
            </a:prstGeom>
            <a:ln w="9525" cap="flat" cmpd="sng">
              <a:solidFill>
                <a:schemeClr val="accent2"/>
              </a:solidFill>
              <a:prstDash val="solid"/>
              <a:headEnd type="none" w="med" len="med"/>
              <a:tailEnd type="none" w="med" len="med"/>
            </a:ln>
          </p:spPr>
        </p:sp>
        <p:sp>
          <p:nvSpPr>
            <p:cNvPr id="56345" name="Oval 44"/>
            <p:cNvSpPr/>
            <p:nvPr/>
          </p:nvSpPr>
          <p:spPr>
            <a:xfrm>
              <a:off x="1978" y="2004"/>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46" name="Line 45"/>
            <p:cNvSpPr/>
            <p:nvPr/>
          </p:nvSpPr>
          <p:spPr>
            <a:xfrm>
              <a:off x="1981" y="1916"/>
              <a:ext cx="201" cy="92"/>
            </a:xfrm>
            <a:prstGeom prst="line">
              <a:avLst/>
            </a:prstGeom>
            <a:ln w="9525" cap="flat" cmpd="sng">
              <a:solidFill>
                <a:schemeClr val="accent2"/>
              </a:solidFill>
              <a:prstDash val="solid"/>
              <a:headEnd type="none" w="med" len="med"/>
              <a:tailEnd type="none" w="med" len="med"/>
            </a:ln>
          </p:spPr>
        </p:sp>
        <p:sp>
          <p:nvSpPr>
            <p:cNvPr id="56347" name="Oval 46"/>
            <p:cNvSpPr/>
            <p:nvPr/>
          </p:nvSpPr>
          <p:spPr>
            <a:xfrm>
              <a:off x="2183" y="2000"/>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48" name="Line 47"/>
            <p:cNvSpPr/>
            <p:nvPr/>
          </p:nvSpPr>
          <p:spPr>
            <a:xfrm>
              <a:off x="2227" y="2020"/>
              <a:ext cx="75" cy="0"/>
            </a:xfrm>
            <a:prstGeom prst="line">
              <a:avLst/>
            </a:prstGeom>
            <a:ln w="9525" cap="flat" cmpd="sng">
              <a:solidFill>
                <a:schemeClr val="accent2"/>
              </a:solidFill>
              <a:prstDash val="solid"/>
              <a:headEnd type="none" w="med" len="med"/>
              <a:tailEnd type="none" w="med" len="med"/>
            </a:ln>
          </p:spPr>
        </p:sp>
        <p:sp>
          <p:nvSpPr>
            <p:cNvPr id="56349" name="Line 48"/>
            <p:cNvSpPr/>
            <p:nvPr/>
          </p:nvSpPr>
          <p:spPr>
            <a:xfrm>
              <a:off x="1993" y="2546"/>
              <a:ext cx="201" cy="92"/>
            </a:xfrm>
            <a:prstGeom prst="line">
              <a:avLst/>
            </a:prstGeom>
            <a:ln w="9525" cap="flat" cmpd="sng">
              <a:solidFill>
                <a:schemeClr val="accent2"/>
              </a:solidFill>
              <a:prstDash val="solid"/>
              <a:headEnd type="none" w="med" len="med"/>
              <a:tailEnd type="none" w="med" len="med"/>
            </a:ln>
          </p:spPr>
        </p:sp>
        <p:sp>
          <p:nvSpPr>
            <p:cNvPr id="56350" name="Line 49"/>
            <p:cNvSpPr/>
            <p:nvPr/>
          </p:nvSpPr>
          <p:spPr>
            <a:xfrm>
              <a:off x="2227" y="2646"/>
              <a:ext cx="176" cy="0"/>
            </a:xfrm>
            <a:prstGeom prst="line">
              <a:avLst/>
            </a:prstGeom>
            <a:ln w="9525" cap="flat" cmpd="sng">
              <a:solidFill>
                <a:schemeClr val="accent2"/>
              </a:solidFill>
              <a:prstDash val="solid"/>
              <a:headEnd type="none" w="med" len="med"/>
              <a:tailEnd type="none" w="med" len="med"/>
            </a:ln>
          </p:spPr>
        </p:sp>
        <p:sp>
          <p:nvSpPr>
            <p:cNvPr id="56351" name="Line 50"/>
            <p:cNvSpPr/>
            <p:nvPr/>
          </p:nvSpPr>
          <p:spPr>
            <a:xfrm>
              <a:off x="2005" y="2742"/>
              <a:ext cx="193" cy="84"/>
            </a:xfrm>
            <a:prstGeom prst="line">
              <a:avLst/>
            </a:prstGeom>
            <a:ln w="9525" cap="flat" cmpd="sng">
              <a:solidFill>
                <a:schemeClr val="accent2"/>
              </a:solidFill>
              <a:prstDash val="solid"/>
              <a:headEnd type="none" w="med" len="med"/>
              <a:tailEnd type="none" w="med" len="med"/>
            </a:ln>
          </p:spPr>
        </p:sp>
        <p:sp>
          <p:nvSpPr>
            <p:cNvPr id="56352" name="Line 51"/>
            <p:cNvSpPr/>
            <p:nvPr/>
          </p:nvSpPr>
          <p:spPr>
            <a:xfrm>
              <a:off x="2235" y="2830"/>
              <a:ext cx="68" cy="0"/>
            </a:xfrm>
            <a:prstGeom prst="line">
              <a:avLst/>
            </a:prstGeom>
            <a:ln w="9525" cap="flat" cmpd="sng">
              <a:solidFill>
                <a:schemeClr val="accent2"/>
              </a:solidFill>
              <a:prstDash val="solid"/>
              <a:headEnd type="none" w="med" len="med"/>
              <a:tailEnd type="none" w="med" len="med"/>
            </a:ln>
          </p:spPr>
        </p:sp>
        <p:sp>
          <p:nvSpPr>
            <p:cNvPr id="56353" name="Line 52"/>
            <p:cNvSpPr/>
            <p:nvPr/>
          </p:nvSpPr>
          <p:spPr>
            <a:xfrm>
              <a:off x="1983" y="3273"/>
              <a:ext cx="201" cy="92"/>
            </a:xfrm>
            <a:prstGeom prst="line">
              <a:avLst/>
            </a:prstGeom>
            <a:ln w="9525" cap="flat" cmpd="sng">
              <a:solidFill>
                <a:schemeClr val="accent2"/>
              </a:solidFill>
              <a:prstDash val="solid"/>
              <a:headEnd type="none" w="med" len="med"/>
              <a:tailEnd type="none" w="med" len="med"/>
            </a:ln>
          </p:spPr>
        </p:sp>
        <p:sp>
          <p:nvSpPr>
            <p:cNvPr id="56354" name="Line 53"/>
            <p:cNvSpPr/>
            <p:nvPr/>
          </p:nvSpPr>
          <p:spPr>
            <a:xfrm>
              <a:off x="2228" y="3373"/>
              <a:ext cx="175" cy="0"/>
            </a:xfrm>
            <a:prstGeom prst="line">
              <a:avLst/>
            </a:prstGeom>
            <a:ln w="9525" cap="flat" cmpd="sng">
              <a:solidFill>
                <a:schemeClr val="accent2"/>
              </a:solidFill>
              <a:prstDash val="solid"/>
              <a:headEnd type="none" w="med" len="med"/>
              <a:tailEnd type="none" w="med" len="med"/>
            </a:ln>
          </p:spPr>
        </p:sp>
        <p:sp>
          <p:nvSpPr>
            <p:cNvPr id="56355" name="Line 54"/>
            <p:cNvSpPr/>
            <p:nvPr/>
          </p:nvSpPr>
          <p:spPr>
            <a:xfrm>
              <a:off x="2102" y="1286"/>
              <a:ext cx="0" cy="492"/>
            </a:xfrm>
            <a:prstGeom prst="line">
              <a:avLst/>
            </a:prstGeom>
            <a:ln w="9525" cap="flat" cmpd="sng">
              <a:solidFill>
                <a:schemeClr val="accent2"/>
              </a:solidFill>
              <a:prstDash val="sysDot"/>
              <a:headEnd type="none" w="med" len="med"/>
              <a:tailEnd type="none" w="med" len="med"/>
            </a:ln>
          </p:spPr>
        </p:sp>
        <p:sp>
          <p:nvSpPr>
            <p:cNvPr id="56356" name="Line 55"/>
            <p:cNvSpPr/>
            <p:nvPr/>
          </p:nvSpPr>
          <p:spPr>
            <a:xfrm>
              <a:off x="2102" y="1979"/>
              <a:ext cx="0" cy="626"/>
            </a:xfrm>
            <a:prstGeom prst="line">
              <a:avLst/>
            </a:prstGeom>
            <a:ln w="9525" cap="flat" cmpd="sng">
              <a:solidFill>
                <a:schemeClr val="accent2"/>
              </a:solidFill>
              <a:prstDash val="sysDot"/>
              <a:headEnd type="none" w="med" len="med"/>
              <a:tailEnd type="none" w="med" len="med"/>
            </a:ln>
          </p:spPr>
        </p:sp>
        <p:sp>
          <p:nvSpPr>
            <p:cNvPr id="56357" name="Line 56"/>
            <p:cNvSpPr/>
            <p:nvPr/>
          </p:nvSpPr>
          <p:spPr>
            <a:xfrm>
              <a:off x="2102" y="2805"/>
              <a:ext cx="0" cy="518"/>
            </a:xfrm>
            <a:prstGeom prst="line">
              <a:avLst/>
            </a:prstGeom>
            <a:ln w="9525" cap="flat" cmpd="sng">
              <a:solidFill>
                <a:schemeClr val="accent2"/>
              </a:solidFill>
              <a:prstDash val="sysDot"/>
              <a:headEnd type="none" w="med" len="med"/>
              <a:tailEnd type="none" w="med" len="med"/>
            </a:ln>
          </p:spPr>
        </p:sp>
        <p:grpSp>
          <p:nvGrpSpPr>
            <p:cNvPr id="56358" name="Group 57"/>
            <p:cNvGrpSpPr/>
            <p:nvPr/>
          </p:nvGrpSpPr>
          <p:grpSpPr>
            <a:xfrm>
              <a:off x="868" y="1427"/>
              <a:ext cx="321" cy="284"/>
              <a:chOff x="1963" y="1168"/>
              <a:chExt cx="321" cy="284"/>
            </a:xfrm>
          </p:grpSpPr>
          <p:sp>
            <p:nvSpPr>
              <p:cNvPr id="56422" name="Oval 58"/>
              <p:cNvSpPr/>
              <p:nvPr/>
            </p:nvSpPr>
            <p:spPr>
              <a:xfrm>
                <a:off x="1978" y="1168"/>
                <a:ext cx="301" cy="284"/>
              </a:xfrm>
              <a:prstGeom prst="ellipse">
                <a:avLst/>
              </a:prstGeom>
              <a:no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23" name="Text Box 59"/>
              <p:cNvSpPr txBox="1"/>
              <p:nvPr/>
            </p:nvSpPr>
            <p:spPr>
              <a:xfrm>
                <a:off x="1963" y="1191"/>
                <a:ext cx="321"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S1</a:t>
                </a:r>
                <a:endParaRPr lang="en-US" altLang="zh-CN" sz="1800" baseline="-25000" dirty="0">
                  <a:latin typeface="Times New Roman" panose="02020603050405020304" pitchFamily="18" charset="0"/>
                </a:endParaRPr>
              </a:p>
            </p:txBody>
          </p:sp>
        </p:grpSp>
        <p:sp>
          <p:nvSpPr>
            <p:cNvPr id="56359" name="Line 60"/>
            <p:cNvSpPr/>
            <p:nvPr/>
          </p:nvSpPr>
          <p:spPr>
            <a:xfrm flipV="1">
              <a:off x="1025" y="1319"/>
              <a:ext cx="0" cy="109"/>
            </a:xfrm>
            <a:prstGeom prst="line">
              <a:avLst/>
            </a:prstGeom>
            <a:ln w="9525" cap="flat" cmpd="sng">
              <a:solidFill>
                <a:schemeClr val="accent2"/>
              </a:solidFill>
              <a:prstDash val="solid"/>
              <a:headEnd type="none" w="med" len="med"/>
              <a:tailEnd type="none" w="med" len="med"/>
            </a:ln>
          </p:spPr>
        </p:sp>
        <p:sp>
          <p:nvSpPr>
            <p:cNvPr id="56360" name="Line 61"/>
            <p:cNvSpPr/>
            <p:nvPr/>
          </p:nvSpPr>
          <p:spPr>
            <a:xfrm>
              <a:off x="1025" y="1319"/>
              <a:ext cx="477" cy="0"/>
            </a:xfrm>
            <a:prstGeom prst="line">
              <a:avLst/>
            </a:prstGeom>
            <a:ln w="9525" cap="flat" cmpd="sng">
              <a:solidFill>
                <a:schemeClr val="accent2"/>
              </a:solidFill>
              <a:prstDash val="solid"/>
              <a:headEnd type="none" w="med" len="med"/>
              <a:tailEnd type="none" w="med" len="med"/>
            </a:ln>
          </p:spPr>
        </p:sp>
        <p:grpSp>
          <p:nvGrpSpPr>
            <p:cNvPr id="56361" name="Group 62"/>
            <p:cNvGrpSpPr/>
            <p:nvPr/>
          </p:nvGrpSpPr>
          <p:grpSpPr>
            <a:xfrm>
              <a:off x="1452" y="1110"/>
              <a:ext cx="294" cy="232"/>
              <a:chOff x="3631" y="442"/>
              <a:chExt cx="294" cy="232"/>
            </a:xfrm>
          </p:grpSpPr>
          <p:sp>
            <p:nvSpPr>
              <p:cNvPr id="56420" name="Rectangle 63"/>
              <p:cNvSpPr/>
              <p:nvPr/>
            </p:nvSpPr>
            <p:spPr>
              <a:xfrm flipV="1">
                <a:off x="3677" y="631"/>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21" name="Text Box 64"/>
              <p:cNvSpPr txBox="1"/>
              <p:nvPr/>
            </p:nvSpPr>
            <p:spPr>
              <a:xfrm>
                <a:off x="3631" y="442"/>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S1</a:t>
                </a:r>
                <a:endParaRPr lang="en-US" altLang="zh-CN" sz="1600" baseline="-25000" dirty="0">
                  <a:latin typeface="Times New Roman" panose="02020603050405020304" pitchFamily="18" charset="0"/>
                </a:endParaRPr>
              </a:p>
            </p:txBody>
          </p:sp>
        </p:grpSp>
        <p:sp>
          <p:nvSpPr>
            <p:cNvPr id="56362" name="Line 65"/>
            <p:cNvSpPr/>
            <p:nvPr/>
          </p:nvSpPr>
          <p:spPr>
            <a:xfrm>
              <a:off x="1668" y="1328"/>
              <a:ext cx="309" cy="0"/>
            </a:xfrm>
            <a:prstGeom prst="line">
              <a:avLst/>
            </a:prstGeom>
            <a:ln w="9525" cap="flat" cmpd="sng">
              <a:solidFill>
                <a:schemeClr val="accent2"/>
              </a:solidFill>
              <a:prstDash val="solid"/>
              <a:headEnd type="none" w="med" len="med"/>
              <a:tailEnd type="none" w="med" len="med"/>
            </a:ln>
          </p:spPr>
        </p:sp>
        <p:sp>
          <p:nvSpPr>
            <p:cNvPr id="56363" name="Line 66"/>
            <p:cNvSpPr/>
            <p:nvPr/>
          </p:nvSpPr>
          <p:spPr>
            <a:xfrm>
              <a:off x="1034" y="1711"/>
              <a:ext cx="0" cy="126"/>
            </a:xfrm>
            <a:prstGeom prst="line">
              <a:avLst/>
            </a:prstGeom>
            <a:ln w="9525" cap="flat" cmpd="sng">
              <a:solidFill>
                <a:schemeClr val="accent2"/>
              </a:solidFill>
              <a:prstDash val="solid"/>
              <a:headEnd type="none" w="med" len="med"/>
              <a:tailEnd type="none" w="med" len="med"/>
            </a:ln>
          </p:spPr>
        </p:sp>
        <p:sp>
          <p:nvSpPr>
            <p:cNvPr id="56364" name="Line 67"/>
            <p:cNvSpPr/>
            <p:nvPr/>
          </p:nvSpPr>
          <p:spPr>
            <a:xfrm>
              <a:off x="1034" y="1837"/>
              <a:ext cx="935" cy="0"/>
            </a:xfrm>
            <a:prstGeom prst="line">
              <a:avLst/>
            </a:prstGeom>
            <a:ln w="9525" cap="flat" cmpd="sng">
              <a:solidFill>
                <a:schemeClr val="accent2"/>
              </a:solidFill>
              <a:prstDash val="solid"/>
              <a:headEnd type="none" w="med" len="med"/>
              <a:tailEnd type="none" w="med" len="med"/>
            </a:ln>
          </p:spPr>
        </p:sp>
        <p:sp>
          <p:nvSpPr>
            <p:cNvPr id="56365" name="Line 68"/>
            <p:cNvSpPr/>
            <p:nvPr/>
          </p:nvSpPr>
          <p:spPr>
            <a:xfrm flipH="1">
              <a:off x="266" y="1837"/>
              <a:ext cx="768" cy="0"/>
            </a:xfrm>
            <a:prstGeom prst="line">
              <a:avLst/>
            </a:prstGeom>
            <a:ln w="9525" cap="flat" cmpd="sng">
              <a:solidFill>
                <a:srgbClr val="FF0000"/>
              </a:solidFill>
              <a:prstDash val="dash"/>
              <a:headEnd type="none" w="med" len="med"/>
              <a:tailEnd type="none" w="med" len="med"/>
            </a:ln>
          </p:spPr>
        </p:sp>
        <p:sp>
          <p:nvSpPr>
            <p:cNvPr id="56366" name="Line 69"/>
            <p:cNvSpPr/>
            <p:nvPr/>
          </p:nvSpPr>
          <p:spPr>
            <a:xfrm>
              <a:off x="266" y="3840"/>
              <a:ext cx="2504" cy="0"/>
            </a:xfrm>
            <a:prstGeom prst="line">
              <a:avLst/>
            </a:prstGeom>
            <a:ln w="9525" cap="flat" cmpd="sng">
              <a:solidFill>
                <a:srgbClr val="FF0000"/>
              </a:solidFill>
              <a:prstDash val="dash"/>
              <a:headEnd type="none" w="med" len="med"/>
              <a:tailEnd type="none" w="med" len="med"/>
            </a:ln>
          </p:spPr>
        </p:sp>
        <p:grpSp>
          <p:nvGrpSpPr>
            <p:cNvPr id="56367" name="Group 70"/>
            <p:cNvGrpSpPr/>
            <p:nvPr/>
          </p:nvGrpSpPr>
          <p:grpSpPr>
            <a:xfrm>
              <a:off x="864" y="2191"/>
              <a:ext cx="321" cy="284"/>
              <a:chOff x="1959" y="1932"/>
              <a:chExt cx="321" cy="284"/>
            </a:xfrm>
          </p:grpSpPr>
          <p:sp>
            <p:nvSpPr>
              <p:cNvPr id="56418" name="Oval 71"/>
              <p:cNvSpPr/>
              <p:nvPr/>
            </p:nvSpPr>
            <p:spPr>
              <a:xfrm>
                <a:off x="1966" y="1932"/>
                <a:ext cx="301" cy="284"/>
              </a:xfrm>
              <a:prstGeom prst="ellipse">
                <a:avLst/>
              </a:prstGeom>
              <a:no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19" name="Text Box 72"/>
              <p:cNvSpPr txBox="1"/>
              <p:nvPr/>
            </p:nvSpPr>
            <p:spPr>
              <a:xfrm>
                <a:off x="1959" y="1963"/>
                <a:ext cx="321"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S2</a:t>
                </a:r>
                <a:endParaRPr lang="en-US" altLang="zh-CN" sz="1800" baseline="-25000" dirty="0">
                  <a:latin typeface="Times New Roman" panose="02020603050405020304" pitchFamily="18" charset="0"/>
                </a:endParaRPr>
              </a:p>
            </p:txBody>
          </p:sp>
        </p:grpSp>
        <p:sp>
          <p:nvSpPr>
            <p:cNvPr id="56368" name="Line 73"/>
            <p:cNvSpPr/>
            <p:nvPr/>
          </p:nvSpPr>
          <p:spPr>
            <a:xfrm flipV="1">
              <a:off x="1034" y="2020"/>
              <a:ext cx="0" cy="167"/>
            </a:xfrm>
            <a:prstGeom prst="line">
              <a:avLst/>
            </a:prstGeom>
            <a:ln w="9525" cap="flat" cmpd="sng">
              <a:solidFill>
                <a:schemeClr val="accent2"/>
              </a:solidFill>
              <a:prstDash val="solid"/>
              <a:headEnd type="none" w="med" len="med"/>
              <a:tailEnd type="none" w="med" len="med"/>
            </a:ln>
          </p:spPr>
        </p:sp>
        <p:sp>
          <p:nvSpPr>
            <p:cNvPr id="56369" name="Line 74"/>
            <p:cNvSpPr/>
            <p:nvPr/>
          </p:nvSpPr>
          <p:spPr>
            <a:xfrm>
              <a:off x="1034" y="2020"/>
              <a:ext cx="459" cy="0"/>
            </a:xfrm>
            <a:prstGeom prst="line">
              <a:avLst/>
            </a:prstGeom>
            <a:ln w="9525" cap="flat" cmpd="sng">
              <a:solidFill>
                <a:schemeClr val="accent2"/>
              </a:solidFill>
              <a:prstDash val="solid"/>
              <a:headEnd type="none" w="med" len="med"/>
              <a:tailEnd type="none" w="med" len="med"/>
            </a:ln>
          </p:spPr>
        </p:sp>
        <p:grpSp>
          <p:nvGrpSpPr>
            <p:cNvPr id="56370" name="Group 75"/>
            <p:cNvGrpSpPr/>
            <p:nvPr/>
          </p:nvGrpSpPr>
          <p:grpSpPr>
            <a:xfrm>
              <a:off x="1448" y="1807"/>
              <a:ext cx="294" cy="232"/>
              <a:chOff x="3631" y="442"/>
              <a:chExt cx="294" cy="232"/>
            </a:xfrm>
          </p:grpSpPr>
          <p:sp>
            <p:nvSpPr>
              <p:cNvPr id="56416" name="Rectangle 76"/>
              <p:cNvSpPr/>
              <p:nvPr/>
            </p:nvSpPr>
            <p:spPr>
              <a:xfrm flipV="1">
                <a:off x="3677" y="631"/>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17" name="Text Box 77"/>
              <p:cNvSpPr txBox="1"/>
              <p:nvPr/>
            </p:nvSpPr>
            <p:spPr>
              <a:xfrm>
                <a:off x="3631" y="442"/>
                <a:ext cx="294"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S2</a:t>
                </a:r>
                <a:endParaRPr lang="en-US" altLang="zh-CN" sz="1600" baseline="-25000" dirty="0">
                  <a:latin typeface="Times New Roman" panose="02020603050405020304" pitchFamily="18" charset="0"/>
                </a:endParaRPr>
              </a:p>
            </p:txBody>
          </p:sp>
        </p:grpSp>
        <p:sp>
          <p:nvSpPr>
            <p:cNvPr id="56371" name="Line 78"/>
            <p:cNvSpPr/>
            <p:nvPr/>
          </p:nvSpPr>
          <p:spPr>
            <a:xfrm>
              <a:off x="1668" y="2020"/>
              <a:ext cx="301" cy="0"/>
            </a:xfrm>
            <a:prstGeom prst="line">
              <a:avLst/>
            </a:prstGeom>
            <a:ln w="9525" cap="flat" cmpd="sng">
              <a:solidFill>
                <a:schemeClr val="accent2"/>
              </a:solidFill>
              <a:prstDash val="solid"/>
              <a:headEnd type="none" w="med" len="med"/>
              <a:tailEnd type="none" w="med" len="med"/>
            </a:ln>
          </p:spPr>
        </p:sp>
        <p:sp>
          <p:nvSpPr>
            <p:cNvPr id="56372" name="Line 79"/>
            <p:cNvSpPr/>
            <p:nvPr/>
          </p:nvSpPr>
          <p:spPr>
            <a:xfrm flipH="1">
              <a:off x="1033" y="2479"/>
              <a:ext cx="1" cy="167"/>
            </a:xfrm>
            <a:prstGeom prst="line">
              <a:avLst/>
            </a:prstGeom>
            <a:ln w="9525" cap="flat" cmpd="sng">
              <a:solidFill>
                <a:schemeClr val="accent2"/>
              </a:solidFill>
              <a:prstDash val="solid"/>
              <a:headEnd type="none" w="med" len="med"/>
              <a:tailEnd type="none" w="med" len="med"/>
            </a:ln>
          </p:spPr>
        </p:sp>
        <p:sp>
          <p:nvSpPr>
            <p:cNvPr id="56373" name="Line 80"/>
            <p:cNvSpPr/>
            <p:nvPr/>
          </p:nvSpPr>
          <p:spPr>
            <a:xfrm>
              <a:off x="1034" y="2646"/>
              <a:ext cx="943" cy="0"/>
            </a:xfrm>
            <a:prstGeom prst="line">
              <a:avLst/>
            </a:prstGeom>
            <a:ln w="9525" cap="flat" cmpd="sng">
              <a:solidFill>
                <a:schemeClr val="accent2"/>
              </a:solidFill>
              <a:prstDash val="solid"/>
              <a:headEnd type="none" w="med" len="med"/>
              <a:tailEnd type="none" w="med" len="med"/>
            </a:ln>
          </p:spPr>
        </p:sp>
        <p:sp>
          <p:nvSpPr>
            <p:cNvPr id="56374" name="Line 81"/>
            <p:cNvSpPr/>
            <p:nvPr/>
          </p:nvSpPr>
          <p:spPr>
            <a:xfrm flipV="1">
              <a:off x="1034" y="2830"/>
              <a:ext cx="0" cy="175"/>
            </a:xfrm>
            <a:prstGeom prst="line">
              <a:avLst/>
            </a:prstGeom>
            <a:ln w="9525" cap="flat" cmpd="sng">
              <a:solidFill>
                <a:schemeClr val="accent2"/>
              </a:solidFill>
              <a:prstDash val="solid"/>
              <a:headEnd type="none" w="med" len="med"/>
              <a:tailEnd type="none" w="med" len="med"/>
            </a:ln>
          </p:spPr>
        </p:sp>
        <p:sp>
          <p:nvSpPr>
            <p:cNvPr id="56375" name="Line 82"/>
            <p:cNvSpPr/>
            <p:nvPr/>
          </p:nvSpPr>
          <p:spPr>
            <a:xfrm>
              <a:off x="1034" y="2830"/>
              <a:ext cx="467" cy="0"/>
            </a:xfrm>
            <a:prstGeom prst="line">
              <a:avLst/>
            </a:prstGeom>
            <a:ln w="9525" cap="flat" cmpd="sng">
              <a:solidFill>
                <a:schemeClr val="accent2"/>
              </a:solidFill>
              <a:prstDash val="solid"/>
              <a:headEnd type="none" w="med" len="med"/>
              <a:tailEnd type="none" w="med" len="med"/>
            </a:ln>
          </p:spPr>
        </p:sp>
        <p:grpSp>
          <p:nvGrpSpPr>
            <p:cNvPr id="56376" name="Group 83"/>
            <p:cNvGrpSpPr/>
            <p:nvPr/>
          </p:nvGrpSpPr>
          <p:grpSpPr>
            <a:xfrm>
              <a:off x="1453" y="2612"/>
              <a:ext cx="299" cy="232"/>
              <a:chOff x="3631" y="442"/>
              <a:chExt cx="299" cy="232"/>
            </a:xfrm>
          </p:grpSpPr>
          <p:sp>
            <p:nvSpPr>
              <p:cNvPr id="56414" name="Rectangle 84"/>
              <p:cNvSpPr/>
              <p:nvPr/>
            </p:nvSpPr>
            <p:spPr>
              <a:xfrm flipV="1">
                <a:off x="3677" y="631"/>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15" name="Text Box 85"/>
              <p:cNvSpPr txBox="1"/>
              <p:nvPr/>
            </p:nvSpPr>
            <p:spPr>
              <a:xfrm>
                <a:off x="3631" y="442"/>
                <a:ext cx="299"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R</a:t>
                </a:r>
                <a:r>
                  <a:rPr lang="en-US" altLang="zh-CN" sz="1600" baseline="-25000" dirty="0">
                    <a:latin typeface="Times New Roman" panose="02020603050405020304" pitchFamily="18" charset="0"/>
                  </a:rPr>
                  <a:t>Sn</a:t>
                </a:r>
                <a:endParaRPr lang="en-US" altLang="zh-CN" sz="1600" baseline="-25000" dirty="0">
                  <a:latin typeface="Times New Roman" panose="02020603050405020304" pitchFamily="18" charset="0"/>
                </a:endParaRPr>
              </a:p>
            </p:txBody>
          </p:sp>
        </p:grpSp>
        <p:sp>
          <p:nvSpPr>
            <p:cNvPr id="56377" name="Line 86"/>
            <p:cNvSpPr/>
            <p:nvPr/>
          </p:nvSpPr>
          <p:spPr>
            <a:xfrm>
              <a:off x="1677" y="2830"/>
              <a:ext cx="283" cy="0"/>
            </a:xfrm>
            <a:prstGeom prst="line">
              <a:avLst/>
            </a:prstGeom>
            <a:ln w="9525" cap="flat" cmpd="sng">
              <a:solidFill>
                <a:schemeClr val="accent2"/>
              </a:solidFill>
              <a:prstDash val="solid"/>
              <a:headEnd type="none" w="med" len="med"/>
              <a:tailEnd type="none" w="med" len="med"/>
            </a:ln>
          </p:spPr>
        </p:sp>
        <p:grpSp>
          <p:nvGrpSpPr>
            <p:cNvPr id="56378" name="Group 87"/>
            <p:cNvGrpSpPr/>
            <p:nvPr/>
          </p:nvGrpSpPr>
          <p:grpSpPr>
            <a:xfrm>
              <a:off x="869" y="3005"/>
              <a:ext cx="326" cy="284"/>
              <a:chOff x="1964" y="2746"/>
              <a:chExt cx="326" cy="284"/>
            </a:xfrm>
          </p:grpSpPr>
          <p:sp>
            <p:nvSpPr>
              <p:cNvPr id="56412" name="Oval 88"/>
              <p:cNvSpPr/>
              <p:nvPr/>
            </p:nvSpPr>
            <p:spPr>
              <a:xfrm>
                <a:off x="1978" y="2746"/>
                <a:ext cx="301" cy="284"/>
              </a:xfrm>
              <a:prstGeom prst="ellipse">
                <a:avLst/>
              </a:prstGeom>
              <a:no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13" name="Text Box 89"/>
              <p:cNvSpPr txBox="1"/>
              <p:nvPr/>
            </p:nvSpPr>
            <p:spPr>
              <a:xfrm>
                <a:off x="1964" y="2785"/>
                <a:ext cx="326"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S</a:t>
                </a:r>
                <a:r>
                  <a:rPr lang="en-US" altLang="zh-CN" sz="1800" i="1" baseline="-25000" dirty="0">
                    <a:latin typeface="Times New Roman" panose="02020603050405020304" pitchFamily="18" charset="0"/>
                  </a:rPr>
                  <a:t>n</a:t>
                </a:r>
                <a:endParaRPr lang="en-US" altLang="zh-CN" sz="1800" i="1" baseline="-25000" dirty="0">
                  <a:latin typeface="Times New Roman" panose="02020603050405020304" pitchFamily="18" charset="0"/>
                </a:endParaRPr>
              </a:p>
            </p:txBody>
          </p:sp>
        </p:grpSp>
        <p:sp>
          <p:nvSpPr>
            <p:cNvPr id="56379" name="Line 90"/>
            <p:cNvSpPr/>
            <p:nvPr/>
          </p:nvSpPr>
          <p:spPr>
            <a:xfrm>
              <a:off x="1034" y="3289"/>
              <a:ext cx="0" cy="84"/>
            </a:xfrm>
            <a:prstGeom prst="line">
              <a:avLst/>
            </a:prstGeom>
            <a:ln w="9525" cap="flat" cmpd="sng">
              <a:solidFill>
                <a:schemeClr val="accent2"/>
              </a:solidFill>
              <a:prstDash val="solid"/>
              <a:headEnd type="none" w="med" len="med"/>
              <a:tailEnd type="none" w="med" len="med"/>
            </a:ln>
          </p:spPr>
        </p:sp>
        <p:sp>
          <p:nvSpPr>
            <p:cNvPr id="56380" name="Line 91"/>
            <p:cNvSpPr/>
            <p:nvPr/>
          </p:nvSpPr>
          <p:spPr>
            <a:xfrm>
              <a:off x="1034" y="3373"/>
              <a:ext cx="935" cy="0"/>
            </a:xfrm>
            <a:prstGeom prst="line">
              <a:avLst/>
            </a:prstGeom>
            <a:ln w="9525" cap="flat" cmpd="sng">
              <a:solidFill>
                <a:schemeClr val="accent2"/>
              </a:solidFill>
              <a:prstDash val="solid"/>
              <a:headEnd type="none" w="med" len="med"/>
              <a:tailEnd type="none" w="med" len="med"/>
            </a:ln>
          </p:spPr>
        </p:sp>
        <p:sp>
          <p:nvSpPr>
            <p:cNvPr id="56381" name="Line 92"/>
            <p:cNvSpPr/>
            <p:nvPr/>
          </p:nvSpPr>
          <p:spPr>
            <a:xfrm>
              <a:off x="266" y="1837"/>
              <a:ext cx="0" cy="2003"/>
            </a:xfrm>
            <a:prstGeom prst="line">
              <a:avLst/>
            </a:prstGeom>
            <a:ln w="9525" cap="flat" cmpd="sng">
              <a:solidFill>
                <a:srgbClr val="FF0000"/>
              </a:solidFill>
              <a:prstDash val="dash"/>
              <a:headEnd type="none" w="med" len="med"/>
              <a:tailEnd type="none" w="med" len="med"/>
            </a:ln>
          </p:spPr>
        </p:sp>
        <p:sp>
          <p:nvSpPr>
            <p:cNvPr id="56382" name="Line 93"/>
            <p:cNvSpPr/>
            <p:nvPr/>
          </p:nvSpPr>
          <p:spPr>
            <a:xfrm flipV="1">
              <a:off x="2770" y="2471"/>
              <a:ext cx="0" cy="1369"/>
            </a:xfrm>
            <a:prstGeom prst="line">
              <a:avLst/>
            </a:prstGeom>
            <a:ln w="9525" cap="flat" cmpd="sng">
              <a:solidFill>
                <a:srgbClr val="FF0000"/>
              </a:solidFill>
              <a:prstDash val="dash"/>
              <a:headEnd type="none" w="med" len="med"/>
              <a:tailEnd type="none" w="med" len="med"/>
            </a:ln>
          </p:spPr>
        </p:sp>
        <p:sp>
          <p:nvSpPr>
            <p:cNvPr id="56383" name="Line 94"/>
            <p:cNvSpPr/>
            <p:nvPr/>
          </p:nvSpPr>
          <p:spPr>
            <a:xfrm flipH="1">
              <a:off x="608" y="2646"/>
              <a:ext cx="426" cy="0"/>
            </a:xfrm>
            <a:prstGeom prst="line">
              <a:avLst/>
            </a:prstGeom>
            <a:ln w="9525" cap="flat" cmpd="sng">
              <a:solidFill>
                <a:srgbClr val="FF0000"/>
              </a:solidFill>
              <a:prstDash val="dash"/>
              <a:headEnd type="none" w="med" len="med"/>
              <a:tailEnd type="none" w="med" len="med"/>
            </a:ln>
          </p:spPr>
        </p:sp>
        <p:sp>
          <p:nvSpPr>
            <p:cNvPr id="56384" name="Line 95"/>
            <p:cNvSpPr/>
            <p:nvPr/>
          </p:nvSpPr>
          <p:spPr>
            <a:xfrm>
              <a:off x="608" y="2646"/>
              <a:ext cx="0" cy="1194"/>
            </a:xfrm>
            <a:prstGeom prst="line">
              <a:avLst/>
            </a:prstGeom>
            <a:ln w="9525" cap="flat" cmpd="sng">
              <a:solidFill>
                <a:srgbClr val="FF0000"/>
              </a:solidFill>
              <a:prstDash val="dash"/>
              <a:headEnd type="none" w="med" len="med"/>
              <a:tailEnd type="none" w="med" len="med"/>
            </a:ln>
          </p:spPr>
        </p:sp>
        <p:sp>
          <p:nvSpPr>
            <p:cNvPr id="56385" name="Line 96"/>
            <p:cNvSpPr/>
            <p:nvPr/>
          </p:nvSpPr>
          <p:spPr>
            <a:xfrm>
              <a:off x="1034" y="3373"/>
              <a:ext cx="0" cy="476"/>
            </a:xfrm>
            <a:prstGeom prst="line">
              <a:avLst/>
            </a:prstGeom>
            <a:ln w="9525" cap="flat" cmpd="sng">
              <a:solidFill>
                <a:srgbClr val="FF0000"/>
              </a:solidFill>
              <a:prstDash val="dash"/>
              <a:headEnd type="none" w="med" len="med"/>
              <a:tailEnd type="none" w="med" len="med"/>
            </a:ln>
          </p:spPr>
        </p:sp>
        <p:sp>
          <p:nvSpPr>
            <p:cNvPr id="56386" name="Oval 98"/>
            <p:cNvSpPr/>
            <p:nvPr/>
          </p:nvSpPr>
          <p:spPr>
            <a:xfrm>
              <a:off x="108" y="2003"/>
              <a:ext cx="326" cy="317"/>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87" name="Text Box 99"/>
            <p:cNvSpPr txBox="1"/>
            <p:nvPr/>
          </p:nvSpPr>
          <p:spPr>
            <a:xfrm>
              <a:off x="67" y="2033"/>
              <a:ext cx="391"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cm1</a:t>
              </a:r>
              <a:endParaRPr lang="en-US" altLang="zh-CN" sz="1800" baseline="-25000" dirty="0">
                <a:latin typeface="Times New Roman" panose="02020603050405020304" pitchFamily="18" charset="0"/>
              </a:endParaRPr>
            </a:p>
          </p:txBody>
        </p:sp>
        <p:sp>
          <p:nvSpPr>
            <p:cNvPr id="56388" name="Oval 101"/>
            <p:cNvSpPr/>
            <p:nvPr/>
          </p:nvSpPr>
          <p:spPr>
            <a:xfrm>
              <a:off x="446" y="2817"/>
              <a:ext cx="326" cy="317"/>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89" name="Text Box 102"/>
            <p:cNvSpPr txBox="1"/>
            <p:nvPr/>
          </p:nvSpPr>
          <p:spPr>
            <a:xfrm>
              <a:off x="405" y="2847"/>
              <a:ext cx="391"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cm2</a:t>
              </a:r>
              <a:endParaRPr lang="en-US" altLang="zh-CN" sz="1800" baseline="-25000" dirty="0">
                <a:latin typeface="Times New Roman" panose="02020603050405020304" pitchFamily="18" charset="0"/>
              </a:endParaRPr>
            </a:p>
          </p:txBody>
        </p:sp>
        <p:sp>
          <p:nvSpPr>
            <p:cNvPr id="56390" name="Oval 104"/>
            <p:cNvSpPr/>
            <p:nvPr/>
          </p:nvSpPr>
          <p:spPr>
            <a:xfrm>
              <a:off x="863" y="3452"/>
              <a:ext cx="326" cy="317"/>
            </a:xfrm>
            <a:prstGeom prst="ellipse">
              <a:avLst/>
            </a:prstGeom>
            <a:solidFill>
              <a:srgbClr val="FFCC00"/>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91" name="Text Box 105"/>
            <p:cNvSpPr txBox="1"/>
            <p:nvPr/>
          </p:nvSpPr>
          <p:spPr>
            <a:xfrm>
              <a:off x="822" y="3482"/>
              <a:ext cx="396"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r>
                <a:rPr lang="en-US" altLang="zh-CN" sz="1800" baseline="-25000" dirty="0">
                  <a:latin typeface="Times New Roman" panose="02020603050405020304" pitchFamily="18" charset="0"/>
                </a:rPr>
                <a:t>cmn</a:t>
              </a:r>
              <a:endParaRPr lang="en-US" altLang="zh-CN" sz="1800" baseline="-25000" dirty="0">
                <a:latin typeface="Times New Roman" panose="02020603050405020304" pitchFamily="18" charset="0"/>
              </a:endParaRPr>
            </a:p>
          </p:txBody>
        </p:sp>
        <p:sp>
          <p:nvSpPr>
            <p:cNvPr id="56392" name="Line 106"/>
            <p:cNvSpPr/>
            <p:nvPr/>
          </p:nvSpPr>
          <p:spPr>
            <a:xfrm flipV="1">
              <a:off x="3521" y="2324"/>
              <a:ext cx="366" cy="0"/>
            </a:xfrm>
            <a:prstGeom prst="line">
              <a:avLst/>
            </a:prstGeom>
            <a:ln w="9525" cap="flat" cmpd="sng">
              <a:solidFill>
                <a:schemeClr val="accent2"/>
              </a:solidFill>
              <a:prstDash val="solid"/>
              <a:headEnd type="none" w="med" len="med"/>
              <a:tailEnd type="none" w="med" len="med"/>
            </a:ln>
          </p:spPr>
        </p:sp>
        <p:sp>
          <p:nvSpPr>
            <p:cNvPr id="56393" name="Text Box 107"/>
            <p:cNvSpPr txBox="1"/>
            <p:nvPr/>
          </p:nvSpPr>
          <p:spPr>
            <a:xfrm>
              <a:off x="3804" y="2319"/>
              <a:ext cx="276" cy="197"/>
            </a:xfrm>
            <a:prstGeom prst="rect">
              <a:avLst/>
            </a:prstGeom>
            <a:noFill/>
            <a:ln w="9525">
              <a:noFill/>
            </a:ln>
          </p:spPr>
          <p:txBody>
            <a:bodyPr wrap="none">
              <a:spAutoFit/>
            </a:bodyPr>
            <a:p>
              <a:pPr eaLnBrk="1" hangingPunct="1">
                <a:lnSpc>
                  <a:spcPct val="90000"/>
                </a:lnSpc>
              </a:pPr>
              <a:r>
                <a:rPr lang="en-US" altLang="zh-CN" sz="1600" i="1" dirty="0">
                  <a:latin typeface="Times New Roman" panose="02020603050405020304" pitchFamily="18" charset="0"/>
                </a:rPr>
                <a:t>U</a:t>
              </a:r>
              <a:r>
                <a:rPr lang="en-US" altLang="zh-CN" sz="1600" baseline="-25000" dirty="0">
                  <a:latin typeface="Times New Roman" panose="02020603050405020304" pitchFamily="18" charset="0"/>
                </a:rPr>
                <a:t>O</a:t>
              </a:r>
              <a:endParaRPr lang="en-US" altLang="zh-CN" sz="1600" baseline="-25000" dirty="0">
                <a:latin typeface="Times New Roman" panose="02020603050405020304" pitchFamily="18" charset="0"/>
              </a:endParaRPr>
            </a:p>
          </p:txBody>
        </p:sp>
        <p:sp>
          <p:nvSpPr>
            <p:cNvPr id="56394" name="Oval 108"/>
            <p:cNvSpPr/>
            <p:nvPr/>
          </p:nvSpPr>
          <p:spPr>
            <a:xfrm>
              <a:off x="3706" y="2304"/>
              <a:ext cx="40" cy="39"/>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395" name="Line 109"/>
            <p:cNvSpPr/>
            <p:nvPr/>
          </p:nvSpPr>
          <p:spPr>
            <a:xfrm flipV="1">
              <a:off x="3730" y="1970"/>
              <a:ext cx="0" cy="368"/>
            </a:xfrm>
            <a:prstGeom prst="line">
              <a:avLst/>
            </a:prstGeom>
            <a:ln w="9525" cap="flat" cmpd="sng">
              <a:solidFill>
                <a:schemeClr val="accent2"/>
              </a:solidFill>
              <a:prstDash val="solid"/>
              <a:headEnd type="none" w="med" len="med"/>
              <a:tailEnd type="none" w="med" len="med"/>
            </a:ln>
          </p:spPr>
        </p:sp>
        <p:sp>
          <p:nvSpPr>
            <p:cNvPr id="56396" name="Line 110"/>
            <p:cNvSpPr/>
            <p:nvPr/>
          </p:nvSpPr>
          <p:spPr>
            <a:xfrm flipH="1">
              <a:off x="3488" y="1970"/>
              <a:ext cx="242" cy="0"/>
            </a:xfrm>
            <a:prstGeom prst="line">
              <a:avLst/>
            </a:prstGeom>
            <a:ln w="9525" cap="flat" cmpd="sng">
              <a:solidFill>
                <a:schemeClr val="accent2"/>
              </a:solidFill>
              <a:prstDash val="solid"/>
              <a:headEnd type="none" w="med" len="med"/>
              <a:tailEnd type="none" w="med" len="med"/>
            </a:ln>
          </p:spPr>
        </p:sp>
        <p:grpSp>
          <p:nvGrpSpPr>
            <p:cNvPr id="56397" name="Group 111"/>
            <p:cNvGrpSpPr/>
            <p:nvPr/>
          </p:nvGrpSpPr>
          <p:grpSpPr>
            <a:xfrm>
              <a:off x="3296" y="1718"/>
              <a:ext cx="244" cy="274"/>
              <a:chOff x="4820" y="575"/>
              <a:chExt cx="244" cy="274"/>
            </a:xfrm>
          </p:grpSpPr>
          <p:sp>
            <p:nvSpPr>
              <p:cNvPr id="56410" name="Rectangle 112"/>
              <p:cNvSpPr/>
              <p:nvPr/>
            </p:nvSpPr>
            <p:spPr>
              <a:xfrm flipV="1">
                <a:off x="4854" y="806"/>
                <a:ext cx="167" cy="43"/>
              </a:xfrm>
              <a:prstGeom prst="rect">
                <a:avLst/>
              </a:prstGeom>
              <a:noFill/>
              <a:ln w="9525" cap="flat" cmpd="sng">
                <a:solidFill>
                  <a:schemeClr val="accent2"/>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11" name="Text Box 113"/>
              <p:cNvSpPr txBox="1"/>
              <p:nvPr/>
            </p:nvSpPr>
            <p:spPr>
              <a:xfrm>
                <a:off x="4820" y="575"/>
                <a:ext cx="244" cy="214"/>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R</a:t>
                </a:r>
                <a:r>
                  <a:rPr lang="en-US" altLang="zh-CN" sz="1800" i="1" baseline="-25000" dirty="0">
                    <a:latin typeface="Times New Roman" panose="02020603050405020304" pitchFamily="18" charset="0"/>
                  </a:rPr>
                  <a:t>f</a:t>
                </a:r>
                <a:endParaRPr lang="en-US" altLang="zh-CN" sz="1800" i="1" baseline="-25000" dirty="0">
                  <a:latin typeface="Times New Roman" panose="02020603050405020304" pitchFamily="18" charset="0"/>
                </a:endParaRPr>
              </a:p>
            </p:txBody>
          </p:sp>
        </p:grpSp>
        <p:sp>
          <p:nvSpPr>
            <p:cNvPr id="56398" name="Line 114"/>
            <p:cNvSpPr/>
            <p:nvPr/>
          </p:nvSpPr>
          <p:spPr>
            <a:xfrm flipH="1">
              <a:off x="2762" y="1970"/>
              <a:ext cx="559" cy="0"/>
            </a:xfrm>
            <a:prstGeom prst="line">
              <a:avLst/>
            </a:prstGeom>
            <a:ln w="9525" cap="flat" cmpd="sng">
              <a:solidFill>
                <a:schemeClr val="accent2"/>
              </a:solidFill>
              <a:prstDash val="solid"/>
              <a:headEnd type="none" w="med" len="med"/>
              <a:tailEnd type="none" w="med" len="med"/>
            </a:ln>
          </p:spPr>
        </p:sp>
        <p:sp>
          <p:nvSpPr>
            <p:cNvPr id="56399" name="Line 115"/>
            <p:cNvSpPr/>
            <p:nvPr/>
          </p:nvSpPr>
          <p:spPr>
            <a:xfrm>
              <a:off x="2762" y="1970"/>
              <a:ext cx="0" cy="226"/>
            </a:xfrm>
            <a:prstGeom prst="line">
              <a:avLst/>
            </a:prstGeom>
            <a:ln w="9525" cap="flat" cmpd="sng">
              <a:solidFill>
                <a:schemeClr val="accent2"/>
              </a:solidFill>
              <a:prstDash val="solid"/>
              <a:headEnd type="none" w="med" len="med"/>
              <a:tailEnd type="none" w="med" len="med"/>
            </a:ln>
          </p:spPr>
        </p:sp>
        <p:sp>
          <p:nvSpPr>
            <p:cNvPr id="56400" name="Oval 116"/>
            <p:cNvSpPr/>
            <p:nvPr/>
          </p:nvSpPr>
          <p:spPr>
            <a:xfrm>
              <a:off x="2734" y="2175"/>
              <a:ext cx="49" cy="4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1" name="Oval 117"/>
            <p:cNvSpPr/>
            <p:nvPr/>
          </p:nvSpPr>
          <p:spPr>
            <a:xfrm>
              <a:off x="2742" y="2450"/>
              <a:ext cx="5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2" name="Oval 118"/>
            <p:cNvSpPr/>
            <p:nvPr/>
          </p:nvSpPr>
          <p:spPr>
            <a:xfrm>
              <a:off x="3886" y="2304"/>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3" name="Oval 119"/>
            <p:cNvSpPr/>
            <p:nvPr/>
          </p:nvSpPr>
          <p:spPr>
            <a:xfrm>
              <a:off x="1973" y="2626"/>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4" name="Oval 120"/>
            <p:cNvSpPr/>
            <p:nvPr/>
          </p:nvSpPr>
          <p:spPr>
            <a:xfrm>
              <a:off x="2191" y="2626"/>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5" name="Oval 121"/>
            <p:cNvSpPr/>
            <p:nvPr/>
          </p:nvSpPr>
          <p:spPr>
            <a:xfrm>
              <a:off x="1956" y="2809"/>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6" name="Oval 122"/>
            <p:cNvSpPr/>
            <p:nvPr/>
          </p:nvSpPr>
          <p:spPr>
            <a:xfrm>
              <a:off x="2190" y="2818"/>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7" name="Oval 123"/>
            <p:cNvSpPr/>
            <p:nvPr/>
          </p:nvSpPr>
          <p:spPr>
            <a:xfrm>
              <a:off x="1974" y="3352"/>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8" name="Oval 124"/>
            <p:cNvSpPr/>
            <p:nvPr/>
          </p:nvSpPr>
          <p:spPr>
            <a:xfrm>
              <a:off x="2182" y="3360"/>
              <a:ext cx="40" cy="39"/>
            </a:xfrm>
            <a:prstGeom prst="ellipse">
              <a:avLst/>
            </a:prstGeom>
            <a:no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6409" name="Rectangle 126"/>
            <p:cNvSpPr/>
            <p:nvPr/>
          </p:nvSpPr>
          <p:spPr>
            <a:xfrm>
              <a:off x="3041" y="3633"/>
              <a:ext cx="888" cy="265"/>
            </a:xfrm>
            <a:prstGeom prst="rect">
              <a:avLst/>
            </a:prstGeom>
            <a:noFill/>
            <a:ln w="9525">
              <a:noFill/>
            </a:ln>
          </p:spPr>
          <p:txBody>
            <a:bodyPr wrap="none">
              <a:spAutoFit/>
            </a:bodyPr>
            <a:p>
              <a:pPr eaLnBrk="1" hangingPunct="1">
                <a:lnSpc>
                  <a:spcPct val="90000"/>
                </a:lnSpc>
              </a:pPr>
              <a:r>
                <a:rPr lang="zh-CN" altLang="en-US" sz="2400" dirty="0">
                  <a:solidFill>
                    <a:srgbClr val="FF0000"/>
                  </a:solidFill>
                  <a:latin typeface="Times New Roman" panose="02020603050405020304" pitchFamily="18" charset="0"/>
                </a:rPr>
                <a:t>双端接法</a:t>
              </a:r>
              <a:endParaRPr lang="zh-CN" altLang="en-US" sz="2400" dirty="0">
                <a:solidFill>
                  <a:srgbClr val="FF0000"/>
                </a:solidFill>
                <a:latin typeface="Times New Roman" panose="02020603050405020304" pitchFamily="18" charset="0"/>
              </a:endParaRPr>
            </a:p>
          </p:txBody>
        </p:sp>
      </p:grpSp>
      <p:sp>
        <p:nvSpPr>
          <p:cNvPr id="2355327" name="AutoShape 127"/>
          <p:cNvSpPr/>
          <p:nvPr/>
        </p:nvSpPr>
        <p:spPr>
          <a:xfrm>
            <a:off x="6502400" y="2811463"/>
            <a:ext cx="2530475" cy="2881312"/>
          </a:xfrm>
          <a:prstGeom prst="wedgeRoundRectCallout">
            <a:avLst>
              <a:gd name="adj1" fmla="val -69009"/>
              <a:gd name="adj2" fmla="val 1237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55328" name="Rectangle 128"/>
          <p:cNvSpPr/>
          <p:nvPr/>
        </p:nvSpPr>
        <p:spPr>
          <a:xfrm>
            <a:off x="6505575" y="2919413"/>
            <a:ext cx="2609850" cy="2711450"/>
          </a:xfrm>
          <a:prstGeom prst="rect">
            <a:avLst/>
          </a:prstGeom>
          <a:noFill/>
          <a:ln w="9525">
            <a:noFill/>
          </a:ln>
        </p:spPr>
        <p:txBody>
          <a:bodyPr>
            <a:spAutoFit/>
          </a:bodyPr>
          <a:p>
            <a:pPr eaLnBrk="1" hangingPunct="1">
              <a:lnSpc>
                <a:spcPct val="90000"/>
              </a:lnSpc>
              <a:spcBef>
                <a:spcPct val="20000"/>
              </a:spcBef>
              <a:buClr>
                <a:srgbClr val="FF0000"/>
              </a:buClr>
              <a:buFont typeface="Wingdings" panose="05000000000000000000" pitchFamily="2" charset="2"/>
            </a:pPr>
            <a:r>
              <a:rPr lang="zh-CN" altLang="en-US" sz="2000" dirty="0">
                <a:solidFill>
                  <a:srgbClr val="FF0000"/>
                </a:solidFill>
                <a:latin typeface="Times New Roman" panose="02020603050405020304" pitchFamily="18" charset="0"/>
              </a:rPr>
              <a:t>优点：</a:t>
            </a:r>
            <a:r>
              <a:rPr lang="zh-CN" altLang="en-US" sz="2000" dirty="0">
                <a:solidFill>
                  <a:srgbClr val="000099"/>
                </a:solidFill>
                <a:latin typeface="Times New Roman" panose="02020603050405020304" pitchFamily="18" charset="0"/>
              </a:rPr>
              <a:t>抗共模干扰能</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000099"/>
                </a:solidFill>
                <a:latin typeface="Times New Roman" panose="02020603050405020304" pitchFamily="18" charset="0"/>
              </a:rPr>
              <a:t>            力强。</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FF0000"/>
                </a:solidFill>
                <a:latin typeface="Times New Roman" panose="02020603050405020304" pitchFamily="18" charset="0"/>
              </a:rPr>
              <a:t>缺点：</a:t>
            </a:r>
            <a:r>
              <a:rPr lang="zh-CN" altLang="en-US" sz="2000" dirty="0">
                <a:solidFill>
                  <a:srgbClr val="000099"/>
                </a:solidFill>
                <a:latin typeface="Times New Roman" panose="02020603050405020304" pitchFamily="18" charset="0"/>
              </a:rPr>
              <a:t>只能使用系统</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000099"/>
                </a:solidFill>
                <a:latin typeface="Times New Roman" panose="02020603050405020304" pitchFamily="18" charset="0"/>
              </a:rPr>
              <a:t>            的一半通道。</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FF0000"/>
                </a:solidFill>
                <a:latin typeface="Times New Roman" panose="02020603050405020304" pitchFamily="18" charset="0"/>
              </a:rPr>
              <a:t>注意：</a:t>
            </a:r>
            <a:r>
              <a:rPr lang="zh-CN" altLang="en-US" sz="2000" dirty="0">
                <a:solidFill>
                  <a:srgbClr val="000099"/>
                </a:solidFill>
                <a:latin typeface="Times New Roman" panose="02020603050405020304" pitchFamily="18" charset="0"/>
              </a:rPr>
              <a:t>当信号源的信</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000099"/>
                </a:solidFill>
                <a:latin typeface="Times New Roman" panose="02020603050405020304" pitchFamily="18" charset="0"/>
              </a:rPr>
              <a:t>            噪比较小时，</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000099"/>
                </a:solidFill>
                <a:latin typeface="Times New Roman" panose="02020603050405020304" pitchFamily="18" charset="0"/>
              </a:rPr>
              <a:t>            必须使用此接</a:t>
            </a:r>
            <a:endParaRPr lang="zh-CN" altLang="en-US" sz="2000" dirty="0">
              <a:solidFill>
                <a:srgbClr val="000099"/>
              </a:solidFill>
              <a:latin typeface="Times New Roman" panose="02020603050405020304" pitchFamily="18" charset="0"/>
            </a:endParaRPr>
          </a:p>
          <a:p>
            <a:pPr eaLnBrk="1" hangingPunct="1">
              <a:lnSpc>
                <a:spcPct val="90000"/>
              </a:lnSpc>
              <a:spcBef>
                <a:spcPct val="20000"/>
              </a:spcBef>
              <a:buClr>
                <a:srgbClr val="FF0000"/>
              </a:buClr>
              <a:buFont typeface="Wingdings" panose="05000000000000000000" pitchFamily="2" charset="2"/>
            </a:pPr>
            <a:r>
              <a:rPr lang="zh-CN" altLang="en-US" sz="2000" dirty="0">
                <a:solidFill>
                  <a:srgbClr val="000099"/>
                </a:solidFill>
                <a:latin typeface="Times New Roman" panose="02020603050405020304" pitchFamily="18" charset="0"/>
              </a:rPr>
              <a:t>            法。</a:t>
            </a:r>
            <a:endParaRPr lang="zh-CN" altLang="en-US" sz="2000" dirty="0">
              <a:solidFill>
                <a:srgbClr val="0000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55224"/>
                                        </p:tgtEl>
                                        <p:attrNameLst>
                                          <p:attrName>style.visibility</p:attrName>
                                        </p:attrNameLst>
                                      </p:cBhvr>
                                      <p:to>
                                        <p:strVal val="visible"/>
                                      </p:to>
                                    </p:set>
                                    <p:animEffect transition="in" filter="dissolve">
                                      <p:cBhvr>
                                        <p:cTn id="7" dur="500"/>
                                        <p:tgtEl>
                                          <p:spTgt spid="23552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55225"/>
                                        </p:tgtEl>
                                        <p:attrNameLst>
                                          <p:attrName>style.visibility</p:attrName>
                                        </p:attrNameLst>
                                      </p:cBhvr>
                                      <p:to>
                                        <p:strVal val="visible"/>
                                      </p:to>
                                    </p:set>
                                    <p:animEffect transition="in" filter="dissolve">
                                      <p:cBhvr>
                                        <p:cTn id="12" dur="500"/>
                                        <p:tgtEl>
                                          <p:spTgt spid="23552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55329"/>
                                        </p:tgtEl>
                                        <p:attrNameLst>
                                          <p:attrName>style.visibility</p:attrName>
                                        </p:attrNameLst>
                                      </p:cBhvr>
                                      <p:to>
                                        <p:strVal val="visible"/>
                                      </p:to>
                                    </p:set>
                                    <p:animEffect transition="in" filter="dissolve">
                                      <p:cBhvr>
                                        <p:cTn id="17" dur="500"/>
                                        <p:tgtEl>
                                          <p:spTgt spid="235532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55327"/>
                                        </p:tgtEl>
                                        <p:attrNameLst>
                                          <p:attrName>style.visibility</p:attrName>
                                        </p:attrNameLst>
                                      </p:cBhvr>
                                      <p:to>
                                        <p:strVal val="visible"/>
                                      </p:to>
                                    </p:set>
                                    <p:animEffect transition="in" filter="dissolve">
                                      <p:cBhvr>
                                        <p:cTn id="22" dur="500"/>
                                        <p:tgtEl>
                                          <p:spTgt spid="235532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55328">
                                            <p:txEl>
                                              <p:charRg st="0" end="10"/>
                                            </p:txEl>
                                          </p:spTgt>
                                        </p:tgtEl>
                                        <p:attrNameLst>
                                          <p:attrName>style.visibility</p:attrName>
                                        </p:attrNameLst>
                                      </p:cBhvr>
                                      <p:to>
                                        <p:strVal val="visible"/>
                                      </p:to>
                                    </p:set>
                                    <p:animEffect transition="in" filter="dissolve">
                                      <p:cBhvr>
                                        <p:cTn id="27" dur="500"/>
                                        <p:tgtEl>
                                          <p:spTgt spid="2355328">
                                            <p:txEl>
                                              <p:charRg st="0" end="1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355328">
                                            <p:txEl>
                                              <p:charRg st="10" end="26"/>
                                            </p:txEl>
                                          </p:spTgt>
                                        </p:tgtEl>
                                        <p:attrNameLst>
                                          <p:attrName>style.visibility</p:attrName>
                                        </p:attrNameLst>
                                      </p:cBhvr>
                                      <p:to>
                                        <p:strVal val="visible"/>
                                      </p:to>
                                    </p:set>
                                    <p:animEffect transition="in" filter="dissolve">
                                      <p:cBhvr>
                                        <p:cTn id="30" dur="500"/>
                                        <p:tgtEl>
                                          <p:spTgt spid="2355328">
                                            <p:txEl>
                                              <p:charRg st="10" end="26"/>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355328">
                                            <p:txEl>
                                              <p:charRg st="26" end="36"/>
                                            </p:txEl>
                                          </p:spTgt>
                                        </p:tgtEl>
                                        <p:attrNameLst>
                                          <p:attrName>style.visibility</p:attrName>
                                        </p:attrNameLst>
                                      </p:cBhvr>
                                      <p:to>
                                        <p:strVal val="visible"/>
                                      </p:to>
                                    </p:set>
                                    <p:animEffect transition="in" filter="dissolve">
                                      <p:cBhvr>
                                        <p:cTn id="35" dur="500"/>
                                        <p:tgtEl>
                                          <p:spTgt spid="2355328">
                                            <p:txEl>
                                              <p:charRg st="26" end="36"/>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2355328">
                                            <p:txEl>
                                              <p:charRg st="36" end="55"/>
                                            </p:txEl>
                                          </p:spTgt>
                                        </p:tgtEl>
                                        <p:attrNameLst>
                                          <p:attrName>style.visibility</p:attrName>
                                        </p:attrNameLst>
                                      </p:cBhvr>
                                      <p:to>
                                        <p:strVal val="visible"/>
                                      </p:to>
                                    </p:set>
                                    <p:animEffect transition="in" filter="dissolve">
                                      <p:cBhvr>
                                        <p:cTn id="38" dur="500"/>
                                        <p:tgtEl>
                                          <p:spTgt spid="2355328">
                                            <p:txEl>
                                              <p:charRg st="36" end="55"/>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2355328">
                                            <p:txEl>
                                              <p:charRg st="55" end="65"/>
                                            </p:txEl>
                                          </p:spTgt>
                                        </p:tgtEl>
                                        <p:attrNameLst>
                                          <p:attrName>style.visibility</p:attrName>
                                        </p:attrNameLst>
                                      </p:cBhvr>
                                      <p:to>
                                        <p:strVal val="visible"/>
                                      </p:to>
                                    </p:set>
                                    <p:animEffect transition="in" filter="dissolve">
                                      <p:cBhvr>
                                        <p:cTn id="43" dur="500"/>
                                        <p:tgtEl>
                                          <p:spTgt spid="2355328">
                                            <p:txEl>
                                              <p:charRg st="55" end="6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2355328">
                                            <p:txEl>
                                              <p:charRg st="65" end="84"/>
                                            </p:txEl>
                                          </p:spTgt>
                                        </p:tgtEl>
                                        <p:attrNameLst>
                                          <p:attrName>style.visibility</p:attrName>
                                        </p:attrNameLst>
                                      </p:cBhvr>
                                      <p:to>
                                        <p:strVal val="visible"/>
                                      </p:to>
                                    </p:set>
                                    <p:animEffect transition="in" filter="dissolve">
                                      <p:cBhvr>
                                        <p:cTn id="46" dur="500"/>
                                        <p:tgtEl>
                                          <p:spTgt spid="2355328">
                                            <p:txEl>
                                              <p:charRg st="65" end="84"/>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2355328">
                                            <p:txEl>
                                              <p:charRg st="84" end="103"/>
                                            </p:txEl>
                                          </p:spTgt>
                                        </p:tgtEl>
                                        <p:attrNameLst>
                                          <p:attrName>style.visibility</p:attrName>
                                        </p:attrNameLst>
                                      </p:cBhvr>
                                      <p:to>
                                        <p:strVal val="visible"/>
                                      </p:to>
                                    </p:set>
                                    <p:animEffect transition="in" filter="dissolve">
                                      <p:cBhvr>
                                        <p:cTn id="49" dur="500"/>
                                        <p:tgtEl>
                                          <p:spTgt spid="2355328">
                                            <p:txEl>
                                              <p:charRg st="84" end="103"/>
                                            </p:txEl>
                                          </p:spTgt>
                                        </p:tgtEl>
                                      </p:cBhvr>
                                    </p:animEffect>
                                  </p:childTnLst>
                                </p:cTn>
                              </p:par>
                              <p:par>
                                <p:cTn id="50" presetID="9" presetClass="entr" presetSubtype="0" fill="hold" nodeType="withEffect">
                                  <p:stCondLst>
                                    <p:cond delay="0"/>
                                  </p:stCondLst>
                                  <p:childTnLst>
                                    <p:set>
                                      <p:cBhvr>
                                        <p:cTn id="51" dur="1" fill="hold">
                                          <p:stCondLst>
                                            <p:cond delay="0"/>
                                          </p:stCondLst>
                                        </p:cTn>
                                        <p:tgtEl>
                                          <p:spTgt spid="2355328">
                                            <p:txEl>
                                              <p:charRg st="103" end="118"/>
                                            </p:txEl>
                                          </p:spTgt>
                                        </p:tgtEl>
                                        <p:attrNameLst>
                                          <p:attrName>style.visibility</p:attrName>
                                        </p:attrNameLst>
                                      </p:cBhvr>
                                      <p:to>
                                        <p:strVal val="visible"/>
                                      </p:to>
                                    </p:set>
                                    <p:animEffect transition="in" filter="dissolve">
                                      <p:cBhvr>
                                        <p:cTn id="52" dur="500"/>
                                        <p:tgtEl>
                                          <p:spTgt spid="2355328">
                                            <p:txEl>
                                              <p:charRg st="103" end="1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24" grpId="0" animBg="1"/>
      <p:bldP spid="2355225" grpId="0" animBg="1"/>
      <p:bldP spid="2355327"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4656" name="Text Box 64"/>
          <p:cNvSpPr txBox="1">
            <a:spLocks noChangeArrowheads="1"/>
          </p:cNvSpPr>
          <p:nvPr/>
        </p:nvSpPr>
        <p:spPr bwMode="auto">
          <a:xfrm>
            <a:off x="2286000" y="39688"/>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14863" name="Text Box 271"/>
          <p:cNvSpPr txBox="1"/>
          <p:nvPr/>
        </p:nvSpPr>
        <p:spPr>
          <a:xfrm>
            <a:off x="471488" y="627063"/>
            <a:ext cx="4316412" cy="641350"/>
          </a:xfrm>
          <a:prstGeom prst="rect">
            <a:avLst/>
          </a:prstGeom>
          <a:solidFill>
            <a:srgbClr val="99CCFF"/>
          </a:solidFill>
          <a:ln w="9525">
            <a:noFill/>
          </a:ln>
        </p:spPr>
        <p:txBody>
          <a:bodyPr>
            <a:spAutoFit/>
          </a:bodyPr>
          <a:p>
            <a:pPr eaLnBrk="1" hangingPunct="1"/>
            <a:r>
              <a:rPr lang="zh-CN" altLang="en-US" dirty="0">
                <a:latin typeface="Times New Roman" panose="02020603050405020304" pitchFamily="18" charset="0"/>
              </a:rPr>
              <a:t>消除抖动引起的误差 </a:t>
            </a:r>
            <a:endParaRPr lang="zh-CN" altLang="en-US" dirty="0">
              <a:latin typeface="Times New Roman" panose="02020603050405020304" pitchFamily="18" charset="0"/>
            </a:endParaRPr>
          </a:p>
        </p:txBody>
      </p:sp>
      <p:sp>
        <p:nvSpPr>
          <p:cNvPr id="2414864" name="Rectangle 272"/>
          <p:cNvSpPr/>
          <p:nvPr/>
        </p:nvSpPr>
        <p:spPr>
          <a:xfrm>
            <a:off x="647700" y="1365250"/>
            <a:ext cx="8064500" cy="1800225"/>
          </a:xfrm>
          <a:prstGeom prst="rect">
            <a:avLst/>
          </a:prstGeom>
          <a:solidFill>
            <a:srgbClr val="CCFFFF"/>
          </a:solidFill>
          <a:ln w="9525">
            <a:noFill/>
          </a:ln>
        </p:spPr>
        <p:txBody>
          <a:bodyPr anchor="ctr" anchorCtr="0">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和机械开关类似，多路开关在通道切换时也存在抖动过程，会出现</a:t>
            </a:r>
            <a:r>
              <a:rPr lang="zh-CN" altLang="en-US" sz="2800" dirty="0">
                <a:solidFill>
                  <a:srgbClr val="FF0000"/>
                </a:solidFill>
                <a:latin typeface="黑体" panose="02010609060101010101" pitchFamily="49" charset="-122"/>
                <a:ea typeface="黑体" panose="02010609060101010101" pitchFamily="49" charset="-122"/>
              </a:rPr>
              <a:t>瞬变现象</a:t>
            </a:r>
            <a:r>
              <a:rPr lang="zh-CN" altLang="en-US" sz="2800" dirty="0">
                <a:solidFill>
                  <a:schemeClr val="tx1"/>
                </a:solidFill>
                <a:latin typeface="黑体" panose="02010609060101010101" pitchFamily="49" charset="-122"/>
                <a:ea typeface="黑体" panose="02010609060101010101" pitchFamily="49" charset="-122"/>
              </a:rPr>
              <a:t>，使输出产生短暂的尖峰电压。若此时采集多路开关的输出信号，就可能引入很大的误差。 </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14865" name="Rectangle 273"/>
          <p:cNvSpPr/>
          <p:nvPr/>
        </p:nvSpPr>
        <p:spPr>
          <a:xfrm>
            <a:off x="1547813" y="3871913"/>
            <a:ext cx="6588125" cy="1501775"/>
          </a:xfrm>
          <a:prstGeom prst="rect">
            <a:avLst/>
          </a:prstGeom>
          <a:noFill/>
          <a:ln w="9525">
            <a:noFill/>
          </a:ln>
        </p:spPr>
        <p:txBody>
          <a:bodyPr anchor="ctr" anchorCtr="0">
            <a:spAutoFit/>
          </a:bodyPr>
          <a:p>
            <a:pPr eaLnBrk="1" hangingPunct="1">
              <a:buClr>
                <a:srgbClr val="FF0000"/>
              </a:buClr>
              <a:buFont typeface="Wingdings" panose="05000000000000000000" pitchFamily="2" charset="2"/>
              <a:buChar char="u"/>
            </a:pPr>
            <a:r>
              <a:rPr lang="zh-CN" altLang="en-US" sz="2800" dirty="0">
                <a:solidFill>
                  <a:srgbClr val="FF0000"/>
                </a:solidFill>
                <a:latin typeface="楷体_GB2312" pitchFamily="49" charset="-122"/>
              </a:rPr>
              <a:t>硬件方法</a:t>
            </a:r>
            <a:r>
              <a:rPr lang="zh-CN" altLang="en-US" sz="2800" dirty="0">
                <a:latin typeface="楷体_GB2312" pitchFamily="49" charset="-122"/>
              </a:rPr>
              <a:t>：用硬件电路来实现，即用</a:t>
            </a:r>
            <a:endParaRPr lang="zh-CN" altLang="en-US" sz="2800" dirty="0">
              <a:latin typeface="楷体_GB2312" pitchFamily="49" charset="-122"/>
            </a:endParaRPr>
          </a:p>
          <a:p>
            <a:pPr eaLnBrk="1" hangingPunct="1">
              <a:buClr>
                <a:srgbClr val="FF0000"/>
              </a:buClr>
              <a:buFont typeface="Wingdings" panose="05000000000000000000" pitchFamily="2" charset="2"/>
            </a:pPr>
            <a:r>
              <a:rPr lang="zh-CN" altLang="en-US" sz="2800" dirty="0">
                <a:latin typeface="楷体_GB2312" pitchFamily="49" charset="-122"/>
              </a:rPr>
              <a:t>            </a:t>
            </a:r>
            <a:r>
              <a:rPr lang="en-US" altLang="zh-CN" sz="2800" dirty="0">
                <a:latin typeface="Times New Roman" panose="02020603050405020304" pitchFamily="18" charset="0"/>
              </a:rPr>
              <a:t>RC</a:t>
            </a:r>
            <a:r>
              <a:rPr lang="zh-CN" altLang="en-US" sz="2800" dirty="0">
                <a:latin typeface="楷体_GB2312" pitchFamily="49" charset="-122"/>
              </a:rPr>
              <a:t>滤波器消除抖动；</a:t>
            </a:r>
            <a:endParaRPr lang="zh-CN" altLang="en-US" sz="2800" dirty="0">
              <a:latin typeface="楷体_GB2312" pitchFamily="49" charset="-122"/>
            </a:endParaRPr>
          </a:p>
          <a:p>
            <a:pPr eaLnBrk="1" hangingPunct="1">
              <a:spcBef>
                <a:spcPct val="30000"/>
              </a:spcBef>
              <a:buClr>
                <a:srgbClr val="FF0000"/>
              </a:buClr>
              <a:buFont typeface="Wingdings" panose="05000000000000000000" pitchFamily="2" charset="2"/>
              <a:buChar char="u"/>
            </a:pPr>
            <a:r>
              <a:rPr lang="zh-CN" altLang="en-US" sz="2800" dirty="0">
                <a:solidFill>
                  <a:srgbClr val="FF0000"/>
                </a:solidFill>
                <a:latin typeface="楷体_GB2312" pitchFamily="49" charset="-122"/>
              </a:rPr>
              <a:t>软件方法</a:t>
            </a:r>
            <a:r>
              <a:rPr lang="zh-CN" altLang="en-US" sz="2800" dirty="0">
                <a:latin typeface="楷体_GB2312" pitchFamily="49" charset="-122"/>
              </a:rPr>
              <a:t>：用软件延时的方法来解决。 </a:t>
            </a:r>
            <a:endParaRPr lang="zh-CN" altLang="en-US" sz="2800" dirty="0">
              <a:latin typeface="楷体_GB2312" pitchFamily="49" charset="-122"/>
            </a:endParaRPr>
          </a:p>
        </p:txBody>
      </p:sp>
      <p:sp>
        <p:nvSpPr>
          <p:cNvPr id="2414866" name="Rectangle 274"/>
          <p:cNvSpPr/>
          <p:nvPr/>
        </p:nvSpPr>
        <p:spPr>
          <a:xfrm>
            <a:off x="1008063" y="3322638"/>
            <a:ext cx="3756025" cy="476250"/>
          </a:xfrm>
          <a:prstGeom prst="rect">
            <a:avLst/>
          </a:prstGeom>
          <a:noFill/>
          <a:ln w="9525">
            <a:noFill/>
          </a:ln>
        </p:spPr>
        <p:txBody>
          <a:bodyPr wrap="none">
            <a:spAutoFit/>
          </a:bodyPr>
          <a:p>
            <a:pPr eaLnBrk="1" hangingPunct="1">
              <a:lnSpc>
                <a:spcPct val="90000"/>
              </a:lnSpc>
            </a:pPr>
            <a:r>
              <a:rPr lang="zh-CN" altLang="en-US" sz="2800" dirty="0">
                <a:solidFill>
                  <a:srgbClr val="FF0000"/>
                </a:solidFill>
                <a:latin typeface="Times New Roman" panose="02020603050405020304" pitchFamily="18" charset="0"/>
                <a:ea typeface="黑体" panose="02010609060101010101" pitchFamily="49" charset="-122"/>
              </a:rPr>
              <a:t>消除抖动的常用方法：</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14867" name="Text Box 275"/>
          <p:cNvSpPr txBox="1"/>
          <p:nvPr/>
        </p:nvSpPr>
        <p:spPr>
          <a:xfrm>
            <a:off x="1547813" y="5553075"/>
            <a:ext cx="6408737" cy="476250"/>
          </a:xfrm>
          <a:prstGeom prst="rect">
            <a:avLst/>
          </a:prstGeom>
          <a:solidFill>
            <a:srgbClr val="FFFF99"/>
          </a:solidFill>
          <a:ln w="9525">
            <a:noFill/>
          </a:ln>
        </p:spPr>
        <p:txBody>
          <a:bodyPr>
            <a:spAutoFit/>
          </a:bodyPr>
          <a:p>
            <a:pPr algn="ct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通常，软件方法较硬件方法更有优势。</a:t>
            </a:r>
            <a:endParaRPr lang="zh-CN" altLang="en-US" sz="28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4863"/>
                                        </p:tgtEl>
                                        <p:attrNameLst>
                                          <p:attrName>style.visibility</p:attrName>
                                        </p:attrNameLst>
                                      </p:cBhvr>
                                      <p:to>
                                        <p:strVal val="visible"/>
                                      </p:to>
                                    </p:set>
                                    <p:animEffect transition="in" filter="dissolve">
                                      <p:cBhvr>
                                        <p:cTn id="7" dur="500"/>
                                        <p:tgtEl>
                                          <p:spTgt spid="24148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4864"/>
                                        </p:tgtEl>
                                        <p:attrNameLst>
                                          <p:attrName>style.visibility</p:attrName>
                                        </p:attrNameLst>
                                      </p:cBhvr>
                                      <p:to>
                                        <p:strVal val="visible"/>
                                      </p:to>
                                    </p:set>
                                    <p:animEffect transition="in" filter="dissolve">
                                      <p:cBhvr>
                                        <p:cTn id="12" dur="500"/>
                                        <p:tgtEl>
                                          <p:spTgt spid="241486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4866"/>
                                        </p:tgtEl>
                                        <p:attrNameLst>
                                          <p:attrName>style.visibility</p:attrName>
                                        </p:attrNameLst>
                                      </p:cBhvr>
                                      <p:to>
                                        <p:strVal val="visible"/>
                                      </p:to>
                                    </p:set>
                                    <p:animEffect transition="in" filter="dissolve">
                                      <p:cBhvr>
                                        <p:cTn id="17" dur="500"/>
                                        <p:tgtEl>
                                          <p:spTgt spid="241486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14865">
                                            <p:txEl>
                                              <p:charRg st="0" end="17"/>
                                            </p:txEl>
                                          </p:spTgt>
                                        </p:tgtEl>
                                        <p:attrNameLst>
                                          <p:attrName>style.visibility</p:attrName>
                                        </p:attrNameLst>
                                      </p:cBhvr>
                                      <p:to>
                                        <p:strVal val="visible"/>
                                      </p:to>
                                    </p:set>
                                    <p:animEffect transition="in" filter="dissolve">
                                      <p:cBhvr>
                                        <p:cTn id="22" dur="500"/>
                                        <p:tgtEl>
                                          <p:spTgt spid="2414865">
                                            <p:txEl>
                                              <p:charRg st="0" end="17"/>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2414865">
                                            <p:txEl>
                                              <p:charRg st="17" end="40"/>
                                            </p:txEl>
                                          </p:spTgt>
                                        </p:tgtEl>
                                        <p:attrNameLst>
                                          <p:attrName>style.visibility</p:attrName>
                                        </p:attrNameLst>
                                      </p:cBhvr>
                                      <p:to>
                                        <p:strVal val="visible"/>
                                      </p:to>
                                    </p:set>
                                    <p:animEffect transition="in" filter="dissolve">
                                      <p:cBhvr>
                                        <p:cTn id="25" dur="500"/>
                                        <p:tgtEl>
                                          <p:spTgt spid="2414865">
                                            <p:txEl>
                                              <p:charRg st="17" end="4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414865">
                                            <p:txEl>
                                              <p:charRg st="40" end="59"/>
                                            </p:txEl>
                                          </p:spTgt>
                                        </p:tgtEl>
                                        <p:attrNameLst>
                                          <p:attrName>style.visibility</p:attrName>
                                        </p:attrNameLst>
                                      </p:cBhvr>
                                      <p:to>
                                        <p:strVal val="visible"/>
                                      </p:to>
                                    </p:set>
                                    <p:animEffect transition="in" filter="dissolve">
                                      <p:cBhvr>
                                        <p:cTn id="30" dur="500"/>
                                        <p:tgtEl>
                                          <p:spTgt spid="2414865">
                                            <p:txEl>
                                              <p:charRg st="40" end="59"/>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14867"/>
                                        </p:tgtEl>
                                        <p:attrNameLst>
                                          <p:attrName>style.visibility</p:attrName>
                                        </p:attrNameLst>
                                      </p:cBhvr>
                                      <p:to>
                                        <p:strVal val="visible"/>
                                      </p:to>
                                    </p:set>
                                    <p:animEffect transition="in" filter="dissolve">
                                      <p:cBhvr>
                                        <p:cTn id="35" dur="500"/>
                                        <p:tgtEl>
                                          <p:spTgt spid="24148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4863" grpId="0" animBg="1"/>
      <p:bldP spid="2414864" grpId="0" animBg="1"/>
      <p:bldP spid="2414866" grpId="0"/>
      <p:bldP spid="241486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2216" name="Rectangle 392"/>
          <p:cNvSpPr/>
          <p:nvPr/>
        </p:nvSpPr>
        <p:spPr>
          <a:xfrm>
            <a:off x="71438" y="1312863"/>
            <a:ext cx="6802437" cy="490696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122" name="Rectangle 298"/>
          <p:cNvSpPr/>
          <p:nvPr/>
        </p:nvSpPr>
        <p:spPr>
          <a:xfrm>
            <a:off x="3421063" y="1622425"/>
            <a:ext cx="766762" cy="733425"/>
          </a:xfrm>
          <a:prstGeom prst="rect">
            <a:avLst/>
          </a:prstGeom>
          <a:solidFill>
            <a:srgbClr val="99CCFF"/>
          </a:solidFill>
          <a:ln w="9525" cap="flat" cmpd="sng">
            <a:solidFill>
              <a:srgbClr val="FF99CC"/>
            </a:solidFill>
            <a:prstDash val="dash"/>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121" name="Rectangle 297"/>
          <p:cNvSpPr/>
          <p:nvPr/>
        </p:nvSpPr>
        <p:spPr>
          <a:xfrm>
            <a:off x="3128963" y="3101975"/>
            <a:ext cx="2220912" cy="377825"/>
          </a:xfrm>
          <a:prstGeom prst="rect">
            <a:avLst/>
          </a:prstGeom>
          <a:solidFill>
            <a:srgbClr val="99CCFF"/>
          </a:solidFill>
          <a:ln w="9525" cap="flat" cmpd="sng">
            <a:solidFill>
              <a:srgbClr val="FF00FF"/>
            </a:solidFill>
            <a:prstDash val="dash"/>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8373" name="AutoShape 11"/>
          <p:cNvSpPr/>
          <p:nvPr/>
        </p:nvSpPr>
        <p:spPr>
          <a:xfrm rot="5400000">
            <a:off x="4676775" y="1355725"/>
            <a:ext cx="744538" cy="803275"/>
          </a:xfrm>
          <a:prstGeom prst="triangle">
            <a:avLst>
              <a:gd name="adj" fmla="val 50000"/>
            </a:avLst>
          </a:prstGeom>
          <a:solidFill>
            <a:srgbClr val="FFCC99"/>
          </a:solidFill>
          <a:ln w="19050" cap="flat" cmpd="sng">
            <a:solidFill>
              <a:srgbClr val="000099"/>
            </a:solidFill>
            <a:prstDash val="solid"/>
            <a:miter/>
            <a:headEnd type="none" w="med" len="med"/>
            <a:tailEnd type="none" w="med" len="med"/>
          </a:ln>
        </p:spPr>
        <p:txBody>
          <a:bodyPr rot="10800000" vert="eaVert" anchor="ctr" anchorCtr="0">
            <a:spAutoFit/>
          </a:bodyPr>
          <a:p>
            <a:pPr algn="ctr" eaLnBrk="1" hangingPunct="1">
              <a:lnSpc>
                <a:spcPct val="90000"/>
              </a:lnSpc>
            </a:pPr>
            <a:r>
              <a:rPr lang="en-US" altLang="zh-CN" sz="2000" dirty="0">
                <a:latin typeface="Times New Roman" panose="02020603050405020304" pitchFamily="18" charset="0"/>
              </a:rPr>
              <a:t>A</a:t>
            </a:r>
            <a:endParaRPr lang="en-US" altLang="zh-CN" sz="2000" dirty="0">
              <a:latin typeface="Times New Roman" panose="02020603050405020304" pitchFamily="18" charset="0"/>
            </a:endParaRPr>
          </a:p>
        </p:txBody>
      </p:sp>
      <p:sp>
        <p:nvSpPr>
          <p:cNvPr id="2381836" name="Text Box 12"/>
          <p:cNvSpPr txBox="1"/>
          <p:nvPr/>
        </p:nvSpPr>
        <p:spPr>
          <a:xfrm>
            <a:off x="4572000" y="1362075"/>
            <a:ext cx="325438" cy="754063"/>
          </a:xfrm>
          <a:prstGeom prst="rect">
            <a:avLst/>
          </a:prstGeom>
          <a:noFill/>
          <a:ln w="12700">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a:p>
            <a:pPr eaLnBrk="1" hangingPunct="1">
              <a:lnSpc>
                <a:spcPct val="90000"/>
              </a:lnSpc>
            </a:pPr>
            <a:endParaRPr lang="en-US" altLang="zh-CN" sz="1600" dirty="0">
              <a:latin typeface="Times New Roman" panose="02020603050405020304" pitchFamily="18" charset="0"/>
            </a:endParaRPr>
          </a:p>
          <a:p>
            <a:pPr eaLnBrk="1" hangingPunct="1">
              <a:lnSpc>
                <a:spcPct val="90000"/>
              </a:lnSpc>
            </a:pPr>
            <a:r>
              <a:rPr lang="en-US" altLang="zh-CN" sz="700" dirty="0">
                <a:latin typeface="Times New Roman" panose="02020603050405020304" pitchFamily="18" charset="0"/>
              </a:rPr>
              <a:t> </a:t>
            </a: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sp>
        <p:nvSpPr>
          <p:cNvPr id="2381848" name="Rectangle 24"/>
          <p:cNvSpPr/>
          <p:nvPr/>
        </p:nvSpPr>
        <p:spPr>
          <a:xfrm>
            <a:off x="1300163" y="140335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2381849" name="Line 25"/>
          <p:cNvSpPr/>
          <p:nvPr/>
        </p:nvSpPr>
        <p:spPr>
          <a:xfrm flipV="1">
            <a:off x="1560513" y="1708150"/>
            <a:ext cx="236537" cy="0"/>
          </a:xfrm>
          <a:prstGeom prst="line">
            <a:avLst/>
          </a:prstGeom>
          <a:ln w="9525" cap="flat" cmpd="sng">
            <a:solidFill>
              <a:srgbClr val="FF0000"/>
            </a:solidFill>
            <a:prstDash val="solid"/>
            <a:headEnd type="none" w="med" len="med"/>
            <a:tailEnd type="none" w="med" len="med"/>
          </a:ln>
        </p:spPr>
      </p:sp>
      <p:sp>
        <p:nvSpPr>
          <p:cNvPr id="2381850" name="Line 26"/>
          <p:cNvSpPr/>
          <p:nvPr/>
        </p:nvSpPr>
        <p:spPr>
          <a:xfrm>
            <a:off x="1120775" y="1549400"/>
            <a:ext cx="179388" cy="0"/>
          </a:xfrm>
          <a:prstGeom prst="line">
            <a:avLst/>
          </a:prstGeom>
          <a:ln w="12700" cap="flat" cmpd="sng">
            <a:solidFill>
              <a:srgbClr val="000099"/>
            </a:solidFill>
            <a:prstDash val="solid"/>
            <a:headEnd type="none" w="med" len="med"/>
            <a:tailEnd type="none" w="med" len="med"/>
          </a:ln>
        </p:spPr>
      </p:sp>
      <p:sp>
        <p:nvSpPr>
          <p:cNvPr id="2381851" name="Line 27"/>
          <p:cNvSpPr/>
          <p:nvPr/>
        </p:nvSpPr>
        <p:spPr>
          <a:xfrm>
            <a:off x="1120775" y="1649413"/>
            <a:ext cx="179388" cy="0"/>
          </a:xfrm>
          <a:prstGeom prst="line">
            <a:avLst/>
          </a:prstGeom>
          <a:ln w="12700" cap="flat" cmpd="sng">
            <a:solidFill>
              <a:srgbClr val="000099"/>
            </a:solidFill>
            <a:prstDash val="solid"/>
            <a:headEnd type="none" w="med" len="med"/>
            <a:tailEnd type="none" w="med" len="med"/>
          </a:ln>
        </p:spPr>
      </p:sp>
      <p:sp>
        <p:nvSpPr>
          <p:cNvPr id="2381852" name="Line 28"/>
          <p:cNvSpPr/>
          <p:nvPr/>
        </p:nvSpPr>
        <p:spPr>
          <a:xfrm>
            <a:off x="1120775" y="1771650"/>
            <a:ext cx="179388" cy="0"/>
          </a:xfrm>
          <a:prstGeom prst="line">
            <a:avLst/>
          </a:prstGeom>
          <a:ln w="12700" cap="flat" cmpd="sng">
            <a:solidFill>
              <a:srgbClr val="000099"/>
            </a:solidFill>
            <a:prstDash val="solid"/>
            <a:headEnd type="none" w="med" len="med"/>
            <a:tailEnd type="none" w="med" len="med"/>
          </a:ln>
        </p:spPr>
      </p:sp>
      <p:sp>
        <p:nvSpPr>
          <p:cNvPr id="2381853" name="Line 29"/>
          <p:cNvSpPr/>
          <p:nvPr/>
        </p:nvSpPr>
        <p:spPr>
          <a:xfrm>
            <a:off x="1120775" y="1878013"/>
            <a:ext cx="179388" cy="0"/>
          </a:xfrm>
          <a:prstGeom prst="line">
            <a:avLst/>
          </a:prstGeom>
          <a:ln w="12700" cap="flat" cmpd="sng">
            <a:solidFill>
              <a:srgbClr val="000099"/>
            </a:solidFill>
            <a:prstDash val="solid"/>
            <a:headEnd type="none" w="med" len="med"/>
            <a:tailEnd type="none" w="med" len="med"/>
          </a:ln>
        </p:spPr>
      </p:sp>
      <p:sp>
        <p:nvSpPr>
          <p:cNvPr id="2381854" name="Line 30"/>
          <p:cNvSpPr/>
          <p:nvPr/>
        </p:nvSpPr>
        <p:spPr>
          <a:xfrm>
            <a:off x="1120775" y="2106613"/>
            <a:ext cx="179388" cy="0"/>
          </a:xfrm>
          <a:prstGeom prst="line">
            <a:avLst/>
          </a:prstGeom>
          <a:ln w="12700" cap="flat" cmpd="sng">
            <a:solidFill>
              <a:srgbClr val="000099"/>
            </a:solidFill>
            <a:prstDash val="solid"/>
            <a:headEnd type="none" w="med" len="med"/>
            <a:tailEnd type="none" w="med" len="med"/>
          </a:ln>
        </p:spPr>
      </p:sp>
      <p:sp>
        <p:nvSpPr>
          <p:cNvPr id="2381855" name="Line 31"/>
          <p:cNvSpPr/>
          <p:nvPr/>
        </p:nvSpPr>
        <p:spPr>
          <a:xfrm>
            <a:off x="1120775" y="2220913"/>
            <a:ext cx="179388" cy="0"/>
          </a:xfrm>
          <a:prstGeom prst="line">
            <a:avLst/>
          </a:prstGeom>
          <a:ln w="12700" cap="flat" cmpd="sng">
            <a:solidFill>
              <a:srgbClr val="000099"/>
            </a:solidFill>
            <a:prstDash val="solid"/>
            <a:headEnd type="none" w="med" len="med"/>
            <a:tailEnd type="none" w="med" len="med"/>
          </a:ln>
        </p:spPr>
      </p:sp>
      <p:sp>
        <p:nvSpPr>
          <p:cNvPr id="2381856" name="Line 32"/>
          <p:cNvSpPr/>
          <p:nvPr/>
        </p:nvSpPr>
        <p:spPr>
          <a:xfrm>
            <a:off x="1120775" y="2335213"/>
            <a:ext cx="179388" cy="0"/>
          </a:xfrm>
          <a:prstGeom prst="line">
            <a:avLst/>
          </a:prstGeom>
          <a:ln w="12700" cap="flat" cmpd="sng">
            <a:solidFill>
              <a:srgbClr val="000099"/>
            </a:solidFill>
            <a:prstDash val="solid"/>
            <a:headEnd type="none" w="med" len="med"/>
            <a:tailEnd type="none" w="med" len="med"/>
          </a:ln>
        </p:spPr>
      </p:sp>
      <p:sp>
        <p:nvSpPr>
          <p:cNvPr id="2381857" name="Line 33"/>
          <p:cNvSpPr/>
          <p:nvPr/>
        </p:nvSpPr>
        <p:spPr>
          <a:xfrm>
            <a:off x="1120775" y="1992313"/>
            <a:ext cx="179388" cy="0"/>
          </a:xfrm>
          <a:prstGeom prst="line">
            <a:avLst/>
          </a:prstGeom>
          <a:ln w="12700" cap="flat" cmpd="sng">
            <a:solidFill>
              <a:srgbClr val="000099"/>
            </a:solidFill>
            <a:prstDash val="solid"/>
            <a:headEnd type="none" w="med" len="med"/>
            <a:tailEnd type="none" w="med" len="med"/>
          </a:ln>
        </p:spPr>
      </p:sp>
      <p:sp>
        <p:nvSpPr>
          <p:cNvPr id="2381858" name="Rectangle 34"/>
          <p:cNvSpPr/>
          <p:nvPr/>
        </p:nvSpPr>
        <p:spPr>
          <a:xfrm>
            <a:off x="1301750" y="262890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2381860" name="Line 36"/>
          <p:cNvSpPr/>
          <p:nvPr/>
        </p:nvSpPr>
        <p:spPr>
          <a:xfrm>
            <a:off x="1122363" y="2774950"/>
            <a:ext cx="179387" cy="0"/>
          </a:xfrm>
          <a:prstGeom prst="line">
            <a:avLst/>
          </a:prstGeom>
          <a:ln w="12700" cap="flat" cmpd="sng">
            <a:solidFill>
              <a:srgbClr val="000099"/>
            </a:solidFill>
            <a:prstDash val="solid"/>
            <a:headEnd type="none" w="med" len="med"/>
            <a:tailEnd type="none" w="med" len="med"/>
          </a:ln>
        </p:spPr>
      </p:sp>
      <p:sp>
        <p:nvSpPr>
          <p:cNvPr id="2381861" name="Line 37"/>
          <p:cNvSpPr/>
          <p:nvPr/>
        </p:nvSpPr>
        <p:spPr>
          <a:xfrm>
            <a:off x="1122363" y="2873375"/>
            <a:ext cx="179387" cy="0"/>
          </a:xfrm>
          <a:prstGeom prst="line">
            <a:avLst/>
          </a:prstGeom>
          <a:ln w="12700" cap="flat" cmpd="sng">
            <a:solidFill>
              <a:srgbClr val="000099"/>
            </a:solidFill>
            <a:prstDash val="solid"/>
            <a:headEnd type="none" w="med" len="med"/>
            <a:tailEnd type="none" w="med" len="med"/>
          </a:ln>
        </p:spPr>
      </p:sp>
      <p:sp>
        <p:nvSpPr>
          <p:cNvPr id="2381862" name="Line 38"/>
          <p:cNvSpPr/>
          <p:nvPr/>
        </p:nvSpPr>
        <p:spPr>
          <a:xfrm>
            <a:off x="1122363" y="2995613"/>
            <a:ext cx="179387" cy="0"/>
          </a:xfrm>
          <a:prstGeom prst="line">
            <a:avLst/>
          </a:prstGeom>
          <a:ln w="12700" cap="flat" cmpd="sng">
            <a:solidFill>
              <a:srgbClr val="000099"/>
            </a:solidFill>
            <a:prstDash val="solid"/>
            <a:headEnd type="none" w="med" len="med"/>
            <a:tailEnd type="none" w="med" len="med"/>
          </a:ln>
        </p:spPr>
      </p:sp>
      <p:sp>
        <p:nvSpPr>
          <p:cNvPr id="2381863" name="Line 39"/>
          <p:cNvSpPr/>
          <p:nvPr/>
        </p:nvSpPr>
        <p:spPr>
          <a:xfrm>
            <a:off x="1122363" y="3101975"/>
            <a:ext cx="179387" cy="0"/>
          </a:xfrm>
          <a:prstGeom prst="line">
            <a:avLst/>
          </a:prstGeom>
          <a:ln w="12700" cap="flat" cmpd="sng">
            <a:solidFill>
              <a:srgbClr val="000099"/>
            </a:solidFill>
            <a:prstDash val="solid"/>
            <a:headEnd type="none" w="med" len="med"/>
            <a:tailEnd type="none" w="med" len="med"/>
          </a:ln>
        </p:spPr>
      </p:sp>
      <p:sp>
        <p:nvSpPr>
          <p:cNvPr id="2381864" name="Line 40"/>
          <p:cNvSpPr/>
          <p:nvPr/>
        </p:nvSpPr>
        <p:spPr>
          <a:xfrm>
            <a:off x="1122363" y="3330575"/>
            <a:ext cx="179387" cy="0"/>
          </a:xfrm>
          <a:prstGeom prst="line">
            <a:avLst/>
          </a:prstGeom>
          <a:ln w="12700" cap="flat" cmpd="sng">
            <a:solidFill>
              <a:srgbClr val="000099"/>
            </a:solidFill>
            <a:prstDash val="solid"/>
            <a:headEnd type="none" w="med" len="med"/>
            <a:tailEnd type="none" w="med" len="med"/>
          </a:ln>
        </p:spPr>
      </p:sp>
      <p:sp>
        <p:nvSpPr>
          <p:cNvPr id="2381865" name="Line 41"/>
          <p:cNvSpPr/>
          <p:nvPr/>
        </p:nvSpPr>
        <p:spPr>
          <a:xfrm>
            <a:off x="1122363" y="3444875"/>
            <a:ext cx="179387" cy="0"/>
          </a:xfrm>
          <a:prstGeom prst="line">
            <a:avLst/>
          </a:prstGeom>
          <a:ln w="12700" cap="flat" cmpd="sng">
            <a:solidFill>
              <a:srgbClr val="000099"/>
            </a:solidFill>
            <a:prstDash val="solid"/>
            <a:headEnd type="none" w="med" len="med"/>
            <a:tailEnd type="none" w="med" len="med"/>
          </a:ln>
        </p:spPr>
      </p:sp>
      <p:sp>
        <p:nvSpPr>
          <p:cNvPr id="2381866" name="Line 42"/>
          <p:cNvSpPr/>
          <p:nvPr/>
        </p:nvSpPr>
        <p:spPr>
          <a:xfrm>
            <a:off x="1122363" y="3559175"/>
            <a:ext cx="179387" cy="0"/>
          </a:xfrm>
          <a:prstGeom prst="line">
            <a:avLst/>
          </a:prstGeom>
          <a:ln w="12700" cap="flat" cmpd="sng">
            <a:solidFill>
              <a:srgbClr val="000099"/>
            </a:solidFill>
            <a:prstDash val="solid"/>
            <a:headEnd type="none" w="med" len="med"/>
            <a:tailEnd type="none" w="med" len="med"/>
          </a:ln>
        </p:spPr>
      </p:sp>
      <p:sp>
        <p:nvSpPr>
          <p:cNvPr id="2381867" name="Line 43"/>
          <p:cNvSpPr/>
          <p:nvPr/>
        </p:nvSpPr>
        <p:spPr>
          <a:xfrm>
            <a:off x="1122363" y="3216275"/>
            <a:ext cx="179387" cy="0"/>
          </a:xfrm>
          <a:prstGeom prst="line">
            <a:avLst/>
          </a:prstGeom>
          <a:ln w="12700" cap="flat" cmpd="sng">
            <a:solidFill>
              <a:srgbClr val="000099"/>
            </a:solidFill>
            <a:prstDash val="solid"/>
            <a:headEnd type="none" w="med" len="med"/>
            <a:tailEnd type="none" w="med" len="med"/>
          </a:ln>
        </p:spPr>
      </p:sp>
      <p:sp>
        <p:nvSpPr>
          <p:cNvPr id="2381868" name="Rectangle 44"/>
          <p:cNvSpPr/>
          <p:nvPr/>
        </p:nvSpPr>
        <p:spPr>
          <a:xfrm>
            <a:off x="1301750" y="386715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2381870" name="Line 46"/>
          <p:cNvSpPr/>
          <p:nvPr/>
        </p:nvSpPr>
        <p:spPr>
          <a:xfrm>
            <a:off x="1122363" y="4013200"/>
            <a:ext cx="179387" cy="0"/>
          </a:xfrm>
          <a:prstGeom prst="line">
            <a:avLst/>
          </a:prstGeom>
          <a:ln w="12700" cap="flat" cmpd="sng">
            <a:solidFill>
              <a:srgbClr val="000099"/>
            </a:solidFill>
            <a:prstDash val="solid"/>
            <a:headEnd type="none" w="med" len="med"/>
            <a:tailEnd type="none" w="med" len="med"/>
          </a:ln>
        </p:spPr>
      </p:sp>
      <p:sp>
        <p:nvSpPr>
          <p:cNvPr id="2381871" name="Line 47"/>
          <p:cNvSpPr/>
          <p:nvPr/>
        </p:nvSpPr>
        <p:spPr>
          <a:xfrm>
            <a:off x="1122363" y="4111625"/>
            <a:ext cx="179387" cy="0"/>
          </a:xfrm>
          <a:prstGeom prst="line">
            <a:avLst/>
          </a:prstGeom>
          <a:ln w="12700" cap="flat" cmpd="sng">
            <a:solidFill>
              <a:srgbClr val="000099"/>
            </a:solidFill>
            <a:prstDash val="solid"/>
            <a:headEnd type="none" w="med" len="med"/>
            <a:tailEnd type="none" w="med" len="med"/>
          </a:ln>
        </p:spPr>
      </p:sp>
      <p:sp>
        <p:nvSpPr>
          <p:cNvPr id="2381872" name="Line 48"/>
          <p:cNvSpPr/>
          <p:nvPr/>
        </p:nvSpPr>
        <p:spPr>
          <a:xfrm>
            <a:off x="1122363" y="4233863"/>
            <a:ext cx="179387" cy="0"/>
          </a:xfrm>
          <a:prstGeom prst="line">
            <a:avLst/>
          </a:prstGeom>
          <a:ln w="12700" cap="flat" cmpd="sng">
            <a:solidFill>
              <a:srgbClr val="000099"/>
            </a:solidFill>
            <a:prstDash val="solid"/>
            <a:headEnd type="none" w="med" len="med"/>
            <a:tailEnd type="none" w="med" len="med"/>
          </a:ln>
        </p:spPr>
      </p:sp>
      <p:sp>
        <p:nvSpPr>
          <p:cNvPr id="2381873" name="Line 49"/>
          <p:cNvSpPr/>
          <p:nvPr/>
        </p:nvSpPr>
        <p:spPr>
          <a:xfrm>
            <a:off x="1122363" y="4340225"/>
            <a:ext cx="179387" cy="0"/>
          </a:xfrm>
          <a:prstGeom prst="line">
            <a:avLst/>
          </a:prstGeom>
          <a:ln w="12700" cap="flat" cmpd="sng">
            <a:solidFill>
              <a:srgbClr val="000099"/>
            </a:solidFill>
            <a:prstDash val="solid"/>
            <a:headEnd type="none" w="med" len="med"/>
            <a:tailEnd type="none" w="med" len="med"/>
          </a:ln>
        </p:spPr>
      </p:sp>
      <p:sp>
        <p:nvSpPr>
          <p:cNvPr id="2381874" name="Line 50"/>
          <p:cNvSpPr/>
          <p:nvPr/>
        </p:nvSpPr>
        <p:spPr>
          <a:xfrm>
            <a:off x="1122363" y="4568825"/>
            <a:ext cx="179387" cy="0"/>
          </a:xfrm>
          <a:prstGeom prst="line">
            <a:avLst/>
          </a:prstGeom>
          <a:ln w="12700" cap="flat" cmpd="sng">
            <a:solidFill>
              <a:srgbClr val="000099"/>
            </a:solidFill>
            <a:prstDash val="solid"/>
            <a:headEnd type="none" w="med" len="med"/>
            <a:tailEnd type="none" w="med" len="med"/>
          </a:ln>
        </p:spPr>
      </p:sp>
      <p:sp>
        <p:nvSpPr>
          <p:cNvPr id="2381875" name="Line 51"/>
          <p:cNvSpPr/>
          <p:nvPr/>
        </p:nvSpPr>
        <p:spPr>
          <a:xfrm>
            <a:off x="1122363" y="4683125"/>
            <a:ext cx="179387" cy="0"/>
          </a:xfrm>
          <a:prstGeom prst="line">
            <a:avLst/>
          </a:prstGeom>
          <a:ln w="12700" cap="flat" cmpd="sng">
            <a:solidFill>
              <a:srgbClr val="000099"/>
            </a:solidFill>
            <a:prstDash val="solid"/>
            <a:headEnd type="none" w="med" len="med"/>
            <a:tailEnd type="none" w="med" len="med"/>
          </a:ln>
        </p:spPr>
      </p:sp>
      <p:sp>
        <p:nvSpPr>
          <p:cNvPr id="2381876" name="Line 52"/>
          <p:cNvSpPr/>
          <p:nvPr/>
        </p:nvSpPr>
        <p:spPr>
          <a:xfrm>
            <a:off x="1122363" y="4797425"/>
            <a:ext cx="179387" cy="0"/>
          </a:xfrm>
          <a:prstGeom prst="line">
            <a:avLst/>
          </a:prstGeom>
          <a:ln w="12700" cap="flat" cmpd="sng">
            <a:solidFill>
              <a:srgbClr val="000099"/>
            </a:solidFill>
            <a:prstDash val="solid"/>
            <a:headEnd type="none" w="med" len="med"/>
            <a:tailEnd type="none" w="med" len="med"/>
          </a:ln>
        </p:spPr>
      </p:sp>
      <p:sp>
        <p:nvSpPr>
          <p:cNvPr id="2381877" name="Line 53"/>
          <p:cNvSpPr/>
          <p:nvPr/>
        </p:nvSpPr>
        <p:spPr>
          <a:xfrm>
            <a:off x="1122363" y="4454525"/>
            <a:ext cx="179387" cy="0"/>
          </a:xfrm>
          <a:prstGeom prst="line">
            <a:avLst/>
          </a:prstGeom>
          <a:ln w="12700" cap="flat" cmpd="sng">
            <a:solidFill>
              <a:srgbClr val="000099"/>
            </a:solidFill>
            <a:prstDash val="solid"/>
            <a:headEnd type="none" w="med" len="med"/>
            <a:tailEnd type="none" w="med" len="med"/>
          </a:ln>
        </p:spPr>
      </p:sp>
      <p:sp>
        <p:nvSpPr>
          <p:cNvPr id="2381878" name="Rectangle 54"/>
          <p:cNvSpPr/>
          <p:nvPr/>
        </p:nvSpPr>
        <p:spPr>
          <a:xfrm>
            <a:off x="1301750" y="5114925"/>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2381880" name="Line 56"/>
          <p:cNvSpPr/>
          <p:nvPr/>
        </p:nvSpPr>
        <p:spPr>
          <a:xfrm>
            <a:off x="1122363" y="5260975"/>
            <a:ext cx="179387" cy="0"/>
          </a:xfrm>
          <a:prstGeom prst="line">
            <a:avLst/>
          </a:prstGeom>
          <a:ln w="12700" cap="flat" cmpd="sng">
            <a:solidFill>
              <a:srgbClr val="000099"/>
            </a:solidFill>
            <a:prstDash val="solid"/>
            <a:headEnd type="none" w="med" len="med"/>
            <a:tailEnd type="none" w="med" len="med"/>
          </a:ln>
        </p:spPr>
      </p:sp>
      <p:sp>
        <p:nvSpPr>
          <p:cNvPr id="2381881" name="Line 57"/>
          <p:cNvSpPr/>
          <p:nvPr/>
        </p:nvSpPr>
        <p:spPr>
          <a:xfrm>
            <a:off x="1122363" y="5359400"/>
            <a:ext cx="179387" cy="0"/>
          </a:xfrm>
          <a:prstGeom prst="line">
            <a:avLst/>
          </a:prstGeom>
          <a:ln w="12700" cap="flat" cmpd="sng">
            <a:solidFill>
              <a:srgbClr val="000099"/>
            </a:solidFill>
            <a:prstDash val="solid"/>
            <a:headEnd type="none" w="med" len="med"/>
            <a:tailEnd type="none" w="med" len="med"/>
          </a:ln>
        </p:spPr>
      </p:sp>
      <p:sp>
        <p:nvSpPr>
          <p:cNvPr id="2381882" name="Line 58"/>
          <p:cNvSpPr/>
          <p:nvPr/>
        </p:nvSpPr>
        <p:spPr>
          <a:xfrm>
            <a:off x="1122363" y="5481638"/>
            <a:ext cx="179387" cy="0"/>
          </a:xfrm>
          <a:prstGeom prst="line">
            <a:avLst/>
          </a:prstGeom>
          <a:ln w="12700" cap="flat" cmpd="sng">
            <a:solidFill>
              <a:srgbClr val="000099"/>
            </a:solidFill>
            <a:prstDash val="solid"/>
            <a:headEnd type="none" w="med" len="med"/>
            <a:tailEnd type="none" w="med" len="med"/>
          </a:ln>
        </p:spPr>
      </p:sp>
      <p:sp>
        <p:nvSpPr>
          <p:cNvPr id="2381883" name="Line 59"/>
          <p:cNvSpPr/>
          <p:nvPr/>
        </p:nvSpPr>
        <p:spPr>
          <a:xfrm>
            <a:off x="1122363" y="5588000"/>
            <a:ext cx="179387" cy="0"/>
          </a:xfrm>
          <a:prstGeom prst="line">
            <a:avLst/>
          </a:prstGeom>
          <a:ln w="12700" cap="flat" cmpd="sng">
            <a:solidFill>
              <a:srgbClr val="000099"/>
            </a:solidFill>
            <a:prstDash val="solid"/>
            <a:headEnd type="none" w="med" len="med"/>
            <a:tailEnd type="none" w="med" len="med"/>
          </a:ln>
        </p:spPr>
      </p:sp>
      <p:sp>
        <p:nvSpPr>
          <p:cNvPr id="2381884" name="Line 60"/>
          <p:cNvSpPr/>
          <p:nvPr/>
        </p:nvSpPr>
        <p:spPr>
          <a:xfrm>
            <a:off x="1122363" y="5816600"/>
            <a:ext cx="179387" cy="0"/>
          </a:xfrm>
          <a:prstGeom prst="line">
            <a:avLst/>
          </a:prstGeom>
          <a:ln w="12700" cap="flat" cmpd="sng">
            <a:solidFill>
              <a:srgbClr val="000099"/>
            </a:solidFill>
            <a:prstDash val="solid"/>
            <a:headEnd type="none" w="med" len="med"/>
            <a:tailEnd type="none" w="med" len="med"/>
          </a:ln>
        </p:spPr>
      </p:sp>
      <p:sp>
        <p:nvSpPr>
          <p:cNvPr id="2381885" name="Line 61"/>
          <p:cNvSpPr/>
          <p:nvPr/>
        </p:nvSpPr>
        <p:spPr>
          <a:xfrm>
            <a:off x="1122363" y="5930900"/>
            <a:ext cx="179387" cy="0"/>
          </a:xfrm>
          <a:prstGeom prst="line">
            <a:avLst/>
          </a:prstGeom>
          <a:ln w="12700" cap="flat" cmpd="sng">
            <a:solidFill>
              <a:srgbClr val="000099"/>
            </a:solidFill>
            <a:prstDash val="solid"/>
            <a:headEnd type="none" w="med" len="med"/>
            <a:tailEnd type="none" w="med" len="med"/>
          </a:ln>
        </p:spPr>
      </p:sp>
      <p:sp>
        <p:nvSpPr>
          <p:cNvPr id="2381886" name="Line 62"/>
          <p:cNvSpPr/>
          <p:nvPr/>
        </p:nvSpPr>
        <p:spPr>
          <a:xfrm>
            <a:off x="1122363" y="6045200"/>
            <a:ext cx="179387" cy="0"/>
          </a:xfrm>
          <a:prstGeom prst="line">
            <a:avLst/>
          </a:prstGeom>
          <a:ln w="12700" cap="flat" cmpd="sng">
            <a:solidFill>
              <a:srgbClr val="000099"/>
            </a:solidFill>
            <a:prstDash val="solid"/>
            <a:headEnd type="none" w="med" len="med"/>
            <a:tailEnd type="none" w="med" len="med"/>
          </a:ln>
        </p:spPr>
      </p:sp>
      <p:sp>
        <p:nvSpPr>
          <p:cNvPr id="2381887" name="Line 63"/>
          <p:cNvSpPr/>
          <p:nvPr/>
        </p:nvSpPr>
        <p:spPr>
          <a:xfrm>
            <a:off x="1122363" y="5702300"/>
            <a:ext cx="179387" cy="0"/>
          </a:xfrm>
          <a:prstGeom prst="line">
            <a:avLst/>
          </a:prstGeom>
          <a:ln w="12700" cap="flat" cmpd="sng">
            <a:solidFill>
              <a:srgbClr val="000099"/>
            </a:solidFill>
            <a:prstDash val="solid"/>
            <a:headEnd type="none" w="med" len="med"/>
            <a:tailEnd type="none" w="med" len="med"/>
          </a:ln>
        </p:spPr>
      </p:sp>
      <p:sp>
        <p:nvSpPr>
          <p:cNvPr id="2381891" name="Line 67"/>
          <p:cNvSpPr/>
          <p:nvPr/>
        </p:nvSpPr>
        <p:spPr>
          <a:xfrm>
            <a:off x="1844675" y="2355850"/>
            <a:ext cx="266700" cy="0"/>
          </a:xfrm>
          <a:prstGeom prst="line">
            <a:avLst/>
          </a:prstGeom>
          <a:ln w="12700" cap="flat" cmpd="sng">
            <a:solidFill>
              <a:srgbClr val="000099"/>
            </a:solidFill>
            <a:prstDash val="solid"/>
            <a:headEnd type="none" w="med" len="med"/>
            <a:tailEnd type="none" w="med" len="med"/>
          </a:ln>
        </p:spPr>
      </p:sp>
      <p:sp>
        <p:nvSpPr>
          <p:cNvPr id="2381892" name="Line 68"/>
          <p:cNvSpPr/>
          <p:nvPr/>
        </p:nvSpPr>
        <p:spPr>
          <a:xfrm>
            <a:off x="2106613" y="2355850"/>
            <a:ext cx="0" cy="3724275"/>
          </a:xfrm>
          <a:prstGeom prst="line">
            <a:avLst/>
          </a:prstGeom>
          <a:ln w="12700" cap="flat" cmpd="sng">
            <a:solidFill>
              <a:srgbClr val="000099"/>
            </a:solidFill>
            <a:prstDash val="solid"/>
            <a:headEnd type="none" w="med" len="med"/>
            <a:tailEnd type="none" w="med" len="med"/>
          </a:ln>
        </p:spPr>
      </p:sp>
      <p:sp>
        <p:nvSpPr>
          <p:cNvPr id="2381896" name="Line 72"/>
          <p:cNvSpPr/>
          <p:nvPr/>
        </p:nvSpPr>
        <p:spPr>
          <a:xfrm flipV="1">
            <a:off x="1846263" y="2189163"/>
            <a:ext cx="433387" cy="0"/>
          </a:xfrm>
          <a:prstGeom prst="line">
            <a:avLst/>
          </a:prstGeom>
          <a:ln w="12700" cap="flat" cmpd="sng">
            <a:solidFill>
              <a:srgbClr val="000099"/>
            </a:solidFill>
            <a:prstDash val="solid"/>
            <a:headEnd type="none" w="med" len="med"/>
            <a:tailEnd type="none" w="med" len="med"/>
          </a:ln>
        </p:spPr>
      </p:sp>
      <p:sp>
        <p:nvSpPr>
          <p:cNvPr id="2381898" name="Line 74"/>
          <p:cNvSpPr/>
          <p:nvPr/>
        </p:nvSpPr>
        <p:spPr>
          <a:xfrm flipH="1">
            <a:off x="2271713" y="2189163"/>
            <a:ext cx="3175" cy="3721100"/>
          </a:xfrm>
          <a:prstGeom prst="line">
            <a:avLst/>
          </a:prstGeom>
          <a:ln w="12700" cap="flat" cmpd="sng">
            <a:solidFill>
              <a:srgbClr val="000099"/>
            </a:solidFill>
            <a:prstDash val="solid"/>
            <a:headEnd type="none" w="med" len="med"/>
            <a:tailEnd type="none" w="med" len="med"/>
          </a:ln>
        </p:spPr>
      </p:sp>
      <p:sp>
        <p:nvSpPr>
          <p:cNvPr id="2381901" name="Oval 77"/>
          <p:cNvSpPr/>
          <p:nvPr/>
        </p:nvSpPr>
        <p:spPr>
          <a:xfrm>
            <a:off x="1914525" y="149066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03" name="Line 79"/>
          <p:cNvSpPr/>
          <p:nvPr/>
        </p:nvSpPr>
        <p:spPr>
          <a:xfrm>
            <a:off x="1846263" y="2008188"/>
            <a:ext cx="611187" cy="0"/>
          </a:xfrm>
          <a:prstGeom prst="line">
            <a:avLst/>
          </a:prstGeom>
          <a:ln w="12700" cap="flat" cmpd="sng">
            <a:solidFill>
              <a:srgbClr val="000099"/>
            </a:solidFill>
            <a:prstDash val="solid"/>
            <a:headEnd type="none" w="med" len="med"/>
            <a:tailEnd type="none" w="med" len="med"/>
          </a:ln>
        </p:spPr>
      </p:sp>
      <p:sp>
        <p:nvSpPr>
          <p:cNvPr id="2381907" name="Line 83"/>
          <p:cNvSpPr/>
          <p:nvPr/>
        </p:nvSpPr>
        <p:spPr>
          <a:xfrm flipH="1">
            <a:off x="2452688" y="2009775"/>
            <a:ext cx="3175" cy="3717925"/>
          </a:xfrm>
          <a:prstGeom prst="line">
            <a:avLst/>
          </a:prstGeom>
          <a:ln w="12700" cap="flat" cmpd="sng">
            <a:solidFill>
              <a:srgbClr val="000099"/>
            </a:solidFill>
            <a:prstDash val="solid"/>
            <a:headEnd type="none" w="med" len="med"/>
            <a:tailEnd type="none" w="med" len="med"/>
          </a:ln>
        </p:spPr>
      </p:sp>
      <p:sp>
        <p:nvSpPr>
          <p:cNvPr id="2381909" name="Line 85"/>
          <p:cNvSpPr/>
          <p:nvPr/>
        </p:nvSpPr>
        <p:spPr>
          <a:xfrm>
            <a:off x="1847850" y="1525588"/>
            <a:ext cx="2794000" cy="0"/>
          </a:xfrm>
          <a:prstGeom prst="line">
            <a:avLst/>
          </a:prstGeom>
          <a:ln w="12700" cap="flat" cmpd="sng">
            <a:solidFill>
              <a:srgbClr val="000099"/>
            </a:solidFill>
            <a:prstDash val="solid"/>
            <a:headEnd type="none" w="med" len="med"/>
            <a:tailEnd type="none" w="med" len="med"/>
          </a:ln>
        </p:spPr>
      </p:sp>
      <p:sp>
        <p:nvSpPr>
          <p:cNvPr id="2381910" name="Line 86"/>
          <p:cNvSpPr/>
          <p:nvPr/>
        </p:nvSpPr>
        <p:spPr>
          <a:xfrm>
            <a:off x="1841500" y="2763838"/>
            <a:ext cx="107950" cy="0"/>
          </a:xfrm>
          <a:prstGeom prst="line">
            <a:avLst/>
          </a:prstGeom>
          <a:ln w="12700" cap="flat" cmpd="sng">
            <a:solidFill>
              <a:srgbClr val="000099"/>
            </a:solidFill>
            <a:prstDash val="solid"/>
            <a:headEnd type="none" w="med" len="med"/>
            <a:tailEnd type="none" w="med" len="med"/>
          </a:ln>
        </p:spPr>
      </p:sp>
      <p:sp>
        <p:nvSpPr>
          <p:cNvPr id="2381911" name="Line 87"/>
          <p:cNvSpPr/>
          <p:nvPr/>
        </p:nvSpPr>
        <p:spPr>
          <a:xfrm flipV="1">
            <a:off x="1947863" y="1531938"/>
            <a:ext cx="3175" cy="1233487"/>
          </a:xfrm>
          <a:prstGeom prst="line">
            <a:avLst/>
          </a:prstGeom>
          <a:ln w="12700" cap="flat" cmpd="sng">
            <a:solidFill>
              <a:srgbClr val="000099"/>
            </a:solidFill>
            <a:prstDash val="solid"/>
            <a:headEnd type="none" w="med" len="med"/>
            <a:tailEnd type="none" w="med" len="med"/>
          </a:ln>
        </p:spPr>
      </p:sp>
      <p:sp>
        <p:nvSpPr>
          <p:cNvPr id="2381912" name="Line 88"/>
          <p:cNvSpPr/>
          <p:nvPr/>
        </p:nvSpPr>
        <p:spPr>
          <a:xfrm>
            <a:off x="1846263" y="3994150"/>
            <a:ext cx="1019175" cy="0"/>
          </a:xfrm>
          <a:prstGeom prst="line">
            <a:avLst/>
          </a:prstGeom>
          <a:ln w="12700" cap="flat" cmpd="sng">
            <a:solidFill>
              <a:srgbClr val="000099"/>
            </a:solidFill>
            <a:prstDash val="solid"/>
            <a:headEnd type="none" w="med" len="med"/>
            <a:tailEnd type="none" w="med" len="med"/>
          </a:ln>
        </p:spPr>
      </p:sp>
      <p:sp>
        <p:nvSpPr>
          <p:cNvPr id="2381914" name="Rectangle 90"/>
          <p:cNvSpPr/>
          <p:nvPr/>
        </p:nvSpPr>
        <p:spPr>
          <a:xfrm>
            <a:off x="3848100" y="5102225"/>
            <a:ext cx="2354263" cy="5842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r>
              <a:rPr lang="en-US" altLang="zh-CN" sz="1000" b="0" dirty="0">
                <a:solidFill>
                  <a:srgbClr val="FF0000"/>
                </a:solidFill>
                <a:latin typeface="Times New Roman" panose="02020603050405020304" pitchFamily="18" charset="0"/>
                <a:ea typeface="宋体" panose="02010600030101010101" pitchFamily="2" charset="-122"/>
              </a:rPr>
              <a:t>Q                                                             Q</a:t>
            </a:r>
            <a:endParaRPr lang="en-US" altLang="zh-CN" sz="1000" b="0" dirty="0">
              <a:solidFill>
                <a:srgbClr val="FF0000"/>
              </a:solidFill>
              <a:latin typeface="Times New Roman" panose="02020603050405020304" pitchFamily="18" charset="0"/>
              <a:ea typeface="宋体" panose="02010600030101010101" pitchFamily="2" charset="-122"/>
            </a:endParaRPr>
          </a:p>
          <a:p>
            <a:pPr algn="just"/>
            <a:r>
              <a:rPr lang="en-US" altLang="zh-CN" sz="1000" b="0" dirty="0">
                <a:solidFill>
                  <a:srgbClr val="FF0000"/>
                </a:solidFill>
                <a:latin typeface="Times New Roman" panose="02020603050405020304" pitchFamily="18" charset="0"/>
                <a:ea typeface="宋体" panose="02010600030101010101" pitchFamily="2" charset="-122"/>
              </a:rPr>
              <a:t>                          </a:t>
            </a:r>
            <a:r>
              <a:rPr lang="en-US" altLang="zh-CN" sz="1200" dirty="0">
                <a:solidFill>
                  <a:srgbClr val="000099"/>
                </a:solidFill>
                <a:latin typeface="Times New Roman" panose="02020603050405020304" pitchFamily="18" charset="0"/>
                <a:ea typeface="宋体" panose="02010600030101010101" pitchFamily="2" charset="-122"/>
              </a:rPr>
              <a:t>74LS273</a:t>
            </a:r>
            <a:endParaRPr lang="en-US" altLang="zh-CN" sz="1200" dirty="0">
              <a:solidFill>
                <a:srgbClr val="000099"/>
              </a:solidFill>
              <a:latin typeface="Times New Roman" panose="02020603050405020304" pitchFamily="18" charset="0"/>
              <a:ea typeface="宋体" panose="02010600030101010101" pitchFamily="2" charset="-122"/>
            </a:endParaRPr>
          </a:p>
          <a:p>
            <a:pPr algn="just"/>
            <a:r>
              <a:rPr lang="en-US" altLang="zh-CN" sz="1000" b="0" dirty="0">
                <a:solidFill>
                  <a:srgbClr val="FF0000"/>
                </a:solidFill>
                <a:latin typeface="Times New Roman" panose="02020603050405020304" pitchFamily="18" charset="0"/>
                <a:ea typeface="宋体" panose="02010600030101010101" pitchFamily="2" charset="-122"/>
              </a:rPr>
              <a:t>D                                                             D</a:t>
            </a:r>
            <a:endParaRPr lang="en-US" altLang="zh-CN" sz="1000" b="0" dirty="0">
              <a:solidFill>
                <a:srgbClr val="FF0000"/>
              </a:solidFill>
              <a:latin typeface="Times New Roman" panose="02020603050405020304" pitchFamily="18" charset="0"/>
              <a:ea typeface="宋体" panose="02010600030101010101" pitchFamily="2" charset="-122"/>
            </a:endParaRPr>
          </a:p>
        </p:txBody>
      </p:sp>
      <p:sp>
        <p:nvSpPr>
          <p:cNvPr id="2381915" name="Line 91"/>
          <p:cNvSpPr/>
          <p:nvPr/>
        </p:nvSpPr>
        <p:spPr>
          <a:xfrm flipH="1" flipV="1">
            <a:off x="2863850" y="1981200"/>
            <a:ext cx="0" cy="2012950"/>
          </a:xfrm>
          <a:prstGeom prst="line">
            <a:avLst/>
          </a:prstGeom>
          <a:ln w="12700" cap="flat" cmpd="sng">
            <a:solidFill>
              <a:srgbClr val="000099"/>
            </a:solidFill>
            <a:prstDash val="solid"/>
            <a:headEnd type="none" w="med" len="med"/>
            <a:tailEnd type="none" w="med" len="med"/>
          </a:ln>
        </p:spPr>
      </p:sp>
      <p:sp>
        <p:nvSpPr>
          <p:cNvPr id="2381916" name="Oval 92"/>
          <p:cNvSpPr/>
          <p:nvPr/>
        </p:nvSpPr>
        <p:spPr>
          <a:xfrm>
            <a:off x="3576638" y="1681163"/>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17" name="Oval 93"/>
          <p:cNvSpPr/>
          <p:nvPr/>
        </p:nvSpPr>
        <p:spPr>
          <a:xfrm>
            <a:off x="3578225" y="195580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18" name="Oval 94"/>
          <p:cNvSpPr/>
          <p:nvPr/>
        </p:nvSpPr>
        <p:spPr>
          <a:xfrm>
            <a:off x="3992563" y="223678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19" name="Oval 95"/>
          <p:cNvSpPr/>
          <p:nvPr/>
        </p:nvSpPr>
        <p:spPr>
          <a:xfrm>
            <a:off x="3994150" y="195580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20" name="Line 96"/>
          <p:cNvSpPr/>
          <p:nvPr/>
        </p:nvSpPr>
        <p:spPr>
          <a:xfrm>
            <a:off x="2863850" y="1987550"/>
            <a:ext cx="711200" cy="0"/>
          </a:xfrm>
          <a:prstGeom prst="line">
            <a:avLst/>
          </a:prstGeom>
          <a:ln w="12700" cap="flat" cmpd="sng">
            <a:solidFill>
              <a:srgbClr val="000099"/>
            </a:solidFill>
            <a:prstDash val="solid"/>
            <a:headEnd type="none" w="med" len="med"/>
            <a:tailEnd type="none" w="med" len="med"/>
          </a:ln>
        </p:spPr>
      </p:sp>
      <p:sp>
        <p:nvSpPr>
          <p:cNvPr id="2381922" name="Line 98"/>
          <p:cNvSpPr/>
          <p:nvPr/>
        </p:nvSpPr>
        <p:spPr>
          <a:xfrm>
            <a:off x="1847850" y="5240338"/>
            <a:ext cx="107950" cy="0"/>
          </a:xfrm>
          <a:prstGeom prst="line">
            <a:avLst/>
          </a:prstGeom>
          <a:ln w="12700" cap="flat" cmpd="sng">
            <a:solidFill>
              <a:srgbClr val="000099"/>
            </a:solidFill>
            <a:prstDash val="solid"/>
            <a:headEnd type="none" w="med" len="med"/>
            <a:tailEnd type="none" w="med" len="med"/>
          </a:ln>
        </p:spPr>
      </p:sp>
      <p:sp>
        <p:nvSpPr>
          <p:cNvPr id="2381923" name="Line 99"/>
          <p:cNvSpPr/>
          <p:nvPr/>
        </p:nvSpPr>
        <p:spPr>
          <a:xfrm flipV="1">
            <a:off x="1949450" y="3987800"/>
            <a:ext cx="0" cy="1250950"/>
          </a:xfrm>
          <a:prstGeom prst="line">
            <a:avLst/>
          </a:prstGeom>
          <a:ln w="12700" cap="flat" cmpd="sng">
            <a:solidFill>
              <a:srgbClr val="000099"/>
            </a:solidFill>
            <a:prstDash val="solid"/>
            <a:headEnd type="none" w="med" len="med"/>
            <a:tailEnd type="none" w="med" len="med"/>
          </a:ln>
        </p:spPr>
      </p:sp>
      <p:sp>
        <p:nvSpPr>
          <p:cNvPr id="2381933" name="Text Box 109"/>
          <p:cNvSpPr txBox="1">
            <a:spLocks noChangeArrowheads="1"/>
          </p:cNvSpPr>
          <p:nvPr/>
        </p:nvSpPr>
        <p:spPr bwMode="auto">
          <a:xfrm>
            <a:off x="2286000" y="0"/>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1934" name="Text Box 110"/>
          <p:cNvSpPr txBox="1"/>
          <p:nvPr/>
        </p:nvSpPr>
        <p:spPr>
          <a:xfrm>
            <a:off x="434975" y="577850"/>
            <a:ext cx="8220075" cy="76835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例子：</a:t>
            </a:r>
            <a:r>
              <a:rPr lang="zh-CN" altLang="en-US" sz="2400" dirty="0">
                <a:solidFill>
                  <a:schemeClr val="tx1"/>
                </a:solidFill>
                <a:latin typeface="黑体" panose="02010609060101010101" pitchFamily="49" charset="-122"/>
                <a:ea typeface="黑体" panose="02010609060101010101" pitchFamily="49" charset="-122"/>
              </a:rPr>
              <a:t>设计一个数据采集传输通道，要求单端接法时能提供</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5000"/>
              </a:lnSpc>
            </a:pPr>
            <a:r>
              <a:rPr lang="zh-CN" altLang="en-US"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tx1"/>
                </a:solidFill>
                <a:latin typeface="黑体" panose="02010609060101010101" pitchFamily="49" charset="-122"/>
                <a:ea typeface="黑体" panose="02010609060101010101" pitchFamily="49" charset="-122"/>
              </a:rPr>
              <a:t>32</a:t>
            </a:r>
            <a:r>
              <a:rPr lang="zh-CN" altLang="en-US" sz="2400" dirty="0">
                <a:solidFill>
                  <a:schemeClr val="tx1"/>
                </a:solidFill>
                <a:latin typeface="黑体" panose="02010609060101010101" pitchFamily="49" charset="-122"/>
                <a:ea typeface="黑体" panose="02010609060101010101" pitchFamily="49" charset="-122"/>
              </a:rPr>
              <a:t>条通道，双端接法时提供</a:t>
            </a:r>
            <a:r>
              <a:rPr lang="en-US" altLang="zh-CN" sz="2400" dirty="0">
                <a:solidFill>
                  <a:schemeClr val="tx1"/>
                </a:solidFill>
                <a:latin typeface="黑体" panose="02010609060101010101" pitchFamily="49" charset="-122"/>
                <a:ea typeface="黑体" panose="02010609060101010101" pitchFamily="49" charset="-122"/>
              </a:rPr>
              <a:t>16</a:t>
            </a:r>
            <a:r>
              <a:rPr lang="zh-CN" altLang="en-US" sz="2400" dirty="0">
                <a:solidFill>
                  <a:schemeClr val="tx1"/>
                </a:solidFill>
                <a:latin typeface="黑体" panose="02010609060101010101" pitchFamily="49" charset="-122"/>
                <a:ea typeface="黑体" panose="02010609060101010101" pitchFamily="49" charset="-122"/>
              </a:rPr>
              <a:t>条通道。</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381935" name="Text Box 111"/>
          <p:cNvSpPr txBox="1"/>
          <p:nvPr/>
        </p:nvSpPr>
        <p:spPr>
          <a:xfrm>
            <a:off x="1236663" y="14144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1936" name="Text Box 112"/>
          <p:cNvSpPr txBox="1"/>
          <p:nvPr/>
        </p:nvSpPr>
        <p:spPr>
          <a:xfrm>
            <a:off x="1233488" y="22209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1937" name="Text Box 113"/>
          <p:cNvSpPr txBox="1"/>
          <p:nvPr/>
        </p:nvSpPr>
        <p:spPr>
          <a:xfrm>
            <a:off x="757238" y="141128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1938" name="Text Box 114"/>
          <p:cNvSpPr txBox="1"/>
          <p:nvPr/>
        </p:nvSpPr>
        <p:spPr>
          <a:xfrm>
            <a:off x="758825" y="22177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1939" name="Text Box 115"/>
          <p:cNvSpPr txBox="1"/>
          <p:nvPr/>
        </p:nvSpPr>
        <p:spPr>
          <a:xfrm>
            <a:off x="1585913" y="14065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2381940" name="Text Box 116"/>
          <p:cNvSpPr txBox="1"/>
          <p:nvPr/>
        </p:nvSpPr>
        <p:spPr>
          <a:xfrm>
            <a:off x="1466850" y="16637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2381941" name="Text Box 117"/>
          <p:cNvSpPr txBox="1"/>
          <p:nvPr/>
        </p:nvSpPr>
        <p:spPr>
          <a:xfrm>
            <a:off x="1620838" y="22415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381942" name="Text Box 118"/>
          <p:cNvSpPr txBox="1"/>
          <p:nvPr/>
        </p:nvSpPr>
        <p:spPr>
          <a:xfrm>
            <a:off x="1617663" y="18954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381943" name="Text Box 119"/>
          <p:cNvSpPr txBox="1"/>
          <p:nvPr/>
        </p:nvSpPr>
        <p:spPr>
          <a:xfrm>
            <a:off x="1619250" y="20732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381944" name="Line 120"/>
          <p:cNvSpPr/>
          <p:nvPr/>
        </p:nvSpPr>
        <p:spPr>
          <a:xfrm>
            <a:off x="1846263" y="1771650"/>
            <a:ext cx="1430337" cy="0"/>
          </a:xfrm>
          <a:prstGeom prst="line">
            <a:avLst/>
          </a:prstGeom>
          <a:ln w="12700" cap="flat" cmpd="sng">
            <a:solidFill>
              <a:srgbClr val="000099"/>
            </a:solidFill>
            <a:prstDash val="solid"/>
            <a:headEnd type="none" w="med" len="med"/>
            <a:tailEnd type="none" w="med" len="med"/>
          </a:ln>
        </p:spPr>
      </p:sp>
      <p:sp>
        <p:nvSpPr>
          <p:cNvPr id="2381945" name="Text Box 121"/>
          <p:cNvSpPr txBox="1"/>
          <p:nvPr/>
        </p:nvSpPr>
        <p:spPr>
          <a:xfrm>
            <a:off x="1404938" y="18748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1</a:t>
            </a:r>
            <a:endParaRPr lang="en-US" altLang="zh-CN" sz="1000" baseline="-25000" dirty="0">
              <a:solidFill>
                <a:srgbClr val="3333FF"/>
              </a:solidFill>
              <a:latin typeface="Times New Roman" panose="02020603050405020304" pitchFamily="18" charset="0"/>
            </a:endParaRPr>
          </a:p>
        </p:txBody>
      </p:sp>
      <p:sp>
        <p:nvSpPr>
          <p:cNvPr id="2381946" name="Line 122"/>
          <p:cNvSpPr/>
          <p:nvPr/>
        </p:nvSpPr>
        <p:spPr>
          <a:xfrm>
            <a:off x="1844675" y="3594100"/>
            <a:ext cx="257175" cy="0"/>
          </a:xfrm>
          <a:prstGeom prst="line">
            <a:avLst/>
          </a:prstGeom>
          <a:ln w="12700" cap="flat" cmpd="sng">
            <a:solidFill>
              <a:srgbClr val="000099"/>
            </a:solidFill>
            <a:prstDash val="solid"/>
            <a:headEnd type="none" w="med" len="med"/>
            <a:tailEnd type="none" w="med" len="med"/>
          </a:ln>
        </p:spPr>
      </p:sp>
      <p:sp>
        <p:nvSpPr>
          <p:cNvPr id="2381947" name="Line 123"/>
          <p:cNvSpPr/>
          <p:nvPr/>
        </p:nvSpPr>
        <p:spPr>
          <a:xfrm flipV="1">
            <a:off x="1836738" y="3427413"/>
            <a:ext cx="433387" cy="0"/>
          </a:xfrm>
          <a:prstGeom prst="line">
            <a:avLst/>
          </a:prstGeom>
          <a:ln w="12700" cap="flat" cmpd="sng">
            <a:solidFill>
              <a:srgbClr val="000099"/>
            </a:solidFill>
            <a:prstDash val="solid"/>
            <a:headEnd type="none" w="med" len="med"/>
            <a:tailEnd type="none" w="med" len="med"/>
          </a:ln>
        </p:spPr>
      </p:sp>
      <p:sp>
        <p:nvSpPr>
          <p:cNvPr id="2381948" name="Line 124"/>
          <p:cNvSpPr/>
          <p:nvPr/>
        </p:nvSpPr>
        <p:spPr>
          <a:xfrm>
            <a:off x="1839913" y="3246438"/>
            <a:ext cx="611187" cy="0"/>
          </a:xfrm>
          <a:prstGeom prst="line">
            <a:avLst/>
          </a:prstGeom>
          <a:ln w="12700" cap="flat" cmpd="sng">
            <a:solidFill>
              <a:srgbClr val="000099"/>
            </a:solidFill>
            <a:prstDash val="solid"/>
            <a:headEnd type="none" w="med" len="med"/>
            <a:tailEnd type="none" w="med" len="med"/>
          </a:ln>
        </p:spPr>
      </p:sp>
      <p:sp>
        <p:nvSpPr>
          <p:cNvPr id="2381949" name="Text Box 125"/>
          <p:cNvSpPr txBox="1"/>
          <p:nvPr/>
        </p:nvSpPr>
        <p:spPr>
          <a:xfrm>
            <a:off x="1230313" y="26527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1950" name="Text Box 126"/>
          <p:cNvSpPr txBox="1"/>
          <p:nvPr/>
        </p:nvSpPr>
        <p:spPr>
          <a:xfrm>
            <a:off x="1227138" y="3459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1951" name="Text Box 127"/>
          <p:cNvSpPr txBox="1"/>
          <p:nvPr/>
        </p:nvSpPr>
        <p:spPr>
          <a:xfrm>
            <a:off x="750888" y="26495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8</a:t>
            </a:r>
            <a:endParaRPr lang="en-US" altLang="zh-CN" sz="1000" baseline="-25000" dirty="0">
              <a:solidFill>
                <a:srgbClr val="FF0000"/>
              </a:solidFill>
              <a:latin typeface="Times New Roman" panose="02020603050405020304" pitchFamily="18" charset="0"/>
            </a:endParaRPr>
          </a:p>
        </p:txBody>
      </p:sp>
      <p:sp>
        <p:nvSpPr>
          <p:cNvPr id="2381952" name="Text Box 128"/>
          <p:cNvSpPr txBox="1"/>
          <p:nvPr/>
        </p:nvSpPr>
        <p:spPr>
          <a:xfrm>
            <a:off x="752475" y="345598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15</a:t>
            </a:r>
            <a:endParaRPr lang="en-US" altLang="zh-CN" sz="1000" baseline="-25000" dirty="0">
              <a:solidFill>
                <a:srgbClr val="FF0000"/>
              </a:solidFill>
              <a:latin typeface="Times New Roman" panose="02020603050405020304" pitchFamily="18" charset="0"/>
            </a:endParaRPr>
          </a:p>
        </p:txBody>
      </p:sp>
      <p:sp>
        <p:nvSpPr>
          <p:cNvPr id="2381953" name="Text Box 129"/>
          <p:cNvSpPr txBox="1"/>
          <p:nvPr/>
        </p:nvSpPr>
        <p:spPr>
          <a:xfrm>
            <a:off x="1579563" y="264477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2381954" name="Text Box 130"/>
          <p:cNvSpPr txBox="1"/>
          <p:nvPr/>
        </p:nvSpPr>
        <p:spPr>
          <a:xfrm>
            <a:off x="1460500" y="290195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2381955" name="Text Box 131"/>
          <p:cNvSpPr txBox="1"/>
          <p:nvPr/>
        </p:nvSpPr>
        <p:spPr>
          <a:xfrm>
            <a:off x="1614488" y="347980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381956" name="Text Box 132"/>
          <p:cNvSpPr txBox="1"/>
          <p:nvPr/>
        </p:nvSpPr>
        <p:spPr>
          <a:xfrm>
            <a:off x="1611313" y="313372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381957" name="Text Box 133"/>
          <p:cNvSpPr txBox="1"/>
          <p:nvPr/>
        </p:nvSpPr>
        <p:spPr>
          <a:xfrm>
            <a:off x="1612900" y="331152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381958" name="Line 134"/>
          <p:cNvSpPr/>
          <p:nvPr/>
        </p:nvSpPr>
        <p:spPr>
          <a:xfrm>
            <a:off x="1843088" y="3009900"/>
            <a:ext cx="2543175" cy="0"/>
          </a:xfrm>
          <a:prstGeom prst="line">
            <a:avLst/>
          </a:prstGeom>
          <a:ln w="12700" cap="flat" cmpd="sng">
            <a:solidFill>
              <a:srgbClr val="000099"/>
            </a:solidFill>
            <a:prstDash val="solid"/>
            <a:headEnd type="none" w="med" len="med"/>
            <a:tailEnd type="none" w="med" len="med"/>
          </a:ln>
        </p:spPr>
      </p:sp>
      <p:sp>
        <p:nvSpPr>
          <p:cNvPr id="2381959" name="Text Box 135"/>
          <p:cNvSpPr txBox="1"/>
          <p:nvPr/>
        </p:nvSpPr>
        <p:spPr>
          <a:xfrm>
            <a:off x="1398588" y="311308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2</a:t>
            </a:r>
            <a:endParaRPr lang="en-US" altLang="zh-CN" sz="1000" baseline="-25000" dirty="0">
              <a:solidFill>
                <a:srgbClr val="3333FF"/>
              </a:solidFill>
              <a:latin typeface="Times New Roman" panose="02020603050405020304" pitchFamily="18" charset="0"/>
            </a:endParaRPr>
          </a:p>
        </p:txBody>
      </p:sp>
      <p:sp>
        <p:nvSpPr>
          <p:cNvPr id="2381960" name="Line 136"/>
          <p:cNvSpPr/>
          <p:nvPr/>
        </p:nvSpPr>
        <p:spPr>
          <a:xfrm>
            <a:off x="1844675" y="4832350"/>
            <a:ext cx="2146300" cy="0"/>
          </a:xfrm>
          <a:prstGeom prst="line">
            <a:avLst/>
          </a:prstGeom>
          <a:ln w="12700" cap="flat" cmpd="sng">
            <a:solidFill>
              <a:srgbClr val="000099"/>
            </a:solidFill>
            <a:prstDash val="solid"/>
            <a:headEnd type="none" w="med" len="med"/>
            <a:tailEnd type="none" w="med" len="med"/>
          </a:ln>
        </p:spPr>
      </p:sp>
      <p:sp>
        <p:nvSpPr>
          <p:cNvPr id="2381961" name="Line 137"/>
          <p:cNvSpPr/>
          <p:nvPr/>
        </p:nvSpPr>
        <p:spPr>
          <a:xfrm flipV="1">
            <a:off x="1836738" y="4665663"/>
            <a:ext cx="2446337" cy="0"/>
          </a:xfrm>
          <a:prstGeom prst="line">
            <a:avLst/>
          </a:prstGeom>
          <a:ln w="12700" cap="flat" cmpd="sng">
            <a:solidFill>
              <a:srgbClr val="000099"/>
            </a:solidFill>
            <a:prstDash val="solid"/>
            <a:headEnd type="none" w="med" len="med"/>
            <a:tailEnd type="none" w="med" len="med"/>
          </a:ln>
        </p:spPr>
      </p:sp>
      <p:sp>
        <p:nvSpPr>
          <p:cNvPr id="2381962" name="Line 138"/>
          <p:cNvSpPr/>
          <p:nvPr/>
        </p:nvSpPr>
        <p:spPr>
          <a:xfrm>
            <a:off x="1839913" y="4484688"/>
            <a:ext cx="2732087" cy="0"/>
          </a:xfrm>
          <a:prstGeom prst="line">
            <a:avLst/>
          </a:prstGeom>
          <a:ln w="12700" cap="flat" cmpd="sng">
            <a:solidFill>
              <a:srgbClr val="000099"/>
            </a:solidFill>
            <a:prstDash val="solid"/>
            <a:headEnd type="none" w="med" len="med"/>
            <a:tailEnd type="none" w="med" len="med"/>
          </a:ln>
        </p:spPr>
      </p:sp>
      <p:sp>
        <p:nvSpPr>
          <p:cNvPr id="2381963" name="Text Box 139"/>
          <p:cNvSpPr txBox="1"/>
          <p:nvPr/>
        </p:nvSpPr>
        <p:spPr>
          <a:xfrm>
            <a:off x="1230313" y="3890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1964" name="Text Box 140"/>
          <p:cNvSpPr txBox="1"/>
          <p:nvPr/>
        </p:nvSpPr>
        <p:spPr>
          <a:xfrm>
            <a:off x="1227138" y="46974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1965" name="Text Box 141"/>
          <p:cNvSpPr txBox="1"/>
          <p:nvPr/>
        </p:nvSpPr>
        <p:spPr>
          <a:xfrm>
            <a:off x="731838" y="3887788"/>
            <a:ext cx="4968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16</a:t>
            </a:r>
            <a:endParaRPr lang="en-US" altLang="zh-CN" sz="1000" baseline="-25000" dirty="0">
              <a:solidFill>
                <a:srgbClr val="FF0000"/>
              </a:solidFill>
              <a:latin typeface="Times New Roman" panose="02020603050405020304" pitchFamily="18" charset="0"/>
            </a:endParaRPr>
          </a:p>
        </p:txBody>
      </p:sp>
      <p:sp>
        <p:nvSpPr>
          <p:cNvPr id="2381966" name="Text Box 142"/>
          <p:cNvSpPr txBox="1"/>
          <p:nvPr/>
        </p:nvSpPr>
        <p:spPr>
          <a:xfrm>
            <a:off x="752475" y="46942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23</a:t>
            </a:r>
            <a:endParaRPr lang="en-US" altLang="zh-CN" sz="1000" baseline="-25000" dirty="0">
              <a:solidFill>
                <a:srgbClr val="FF0000"/>
              </a:solidFill>
              <a:latin typeface="Times New Roman" panose="02020603050405020304" pitchFamily="18" charset="0"/>
            </a:endParaRPr>
          </a:p>
        </p:txBody>
      </p:sp>
      <p:sp>
        <p:nvSpPr>
          <p:cNvPr id="2381967" name="Text Box 143"/>
          <p:cNvSpPr txBox="1"/>
          <p:nvPr/>
        </p:nvSpPr>
        <p:spPr>
          <a:xfrm>
            <a:off x="1579563" y="38830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2381968" name="Text Box 144"/>
          <p:cNvSpPr txBox="1"/>
          <p:nvPr/>
        </p:nvSpPr>
        <p:spPr>
          <a:xfrm>
            <a:off x="1460500" y="41402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2381969" name="Text Box 145"/>
          <p:cNvSpPr txBox="1"/>
          <p:nvPr/>
        </p:nvSpPr>
        <p:spPr>
          <a:xfrm>
            <a:off x="1614488" y="47180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381970" name="Text Box 146"/>
          <p:cNvSpPr txBox="1"/>
          <p:nvPr/>
        </p:nvSpPr>
        <p:spPr>
          <a:xfrm>
            <a:off x="1611313" y="43719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381971" name="Text Box 147"/>
          <p:cNvSpPr txBox="1"/>
          <p:nvPr/>
        </p:nvSpPr>
        <p:spPr>
          <a:xfrm>
            <a:off x="1612900" y="45497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381972" name="Line 148"/>
          <p:cNvSpPr/>
          <p:nvPr/>
        </p:nvSpPr>
        <p:spPr>
          <a:xfrm>
            <a:off x="1839913" y="4248150"/>
            <a:ext cx="1806575" cy="0"/>
          </a:xfrm>
          <a:prstGeom prst="line">
            <a:avLst/>
          </a:prstGeom>
          <a:ln w="12700" cap="flat" cmpd="sng">
            <a:solidFill>
              <a:srgbClr val="000099"/>
            </a:solidFill>
            <a:prstDash val="solid"/>
            <a:headEnd type="none" w="med" len="med"/>
            <a:tailEnd type="none" w="med" len="med"/>
          </a:ln>
        </p:spPr>
      </p:sp>
      <p:sp>
        <p:nvSpPr>
          <p:cNvPr id="2381973" name="Text Box 149"/>
          <p:cNvSpPr txBox="1"/>
          <p:nvPr/>
        </p:nvSpPr>
        <p:spPr>
          <a:xfrm>
            <a:off x="1398588" y="43513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3</a:t>
            </a:r>
            <a:endParaRPr lang="en-US" altLang="zh-CN" sz="1000" baseline="-25000" dirty="0">
              <a:solidFill>
                <a:srgbClr val="3333FF"/>
              </a:solidFill>
              <a:latin typeface="Times New Roman" panose="02020603050405020304" pitchFamily="18" charset="0"/>
            </a:endParaRPr>
          </a:p>
        </p:txBody>
      </p:sp>
      <p:sp>
        <p:nvSpPr>
          <p:cNvPr id="2381974" name="Line 150"/>
          <p:cNvSpPr/>
          <p:nvPr/>
        </p:nvSpPr>
        <p:spPr>
          <a:xfrm>
            <a:off x="1844675" y="6076950"/>
            <a:ext cx="263525" cy="0"/>
          </a:xfrm>
          <a:prstGeom prst="line">
            <a:avLst/>
          </a:prstGeom>
          <a:ln w="12700" cap="flat" cmpd="sng">
            <a:solidFill>
              <a:srgbClr val="000099"/>
            </a:solidFill>
            <a:prstDash val="solid"/>
            <a:headEnd type="none" w="med" len="med"/>
            <a:tailEnd type="none" w="med" len="med"/>
          </a:ln>
        </p:spPr>
      </p:sp>
      <p:sp>
        <p:nvSpPr>
          <p:cNvPr id="2381975" name="Line 151"/>
          <p:cNvSpPr/>
          <p:nvPr/>
        </p:nvSpPr>
        <p:spPr>
          <a:xfrm flipV="1">
            <a:off x="1843088" y="5910263"/>
            <a:ext cx="433387" cy="0"/>
          </a:xfrm>
          <a:prstGeom prst="line">
            <a:avLst/>
          </a:prstGeom>
          <a:ln w="12700" cap="flat" cmpd="sng">
            <a:solidFill>
              <a:srgbClr val="000099"/>
            </a:solidFill>
            <a:prstDash val="solid"/>
            <a:headEnd type="none" w="med" len="med"/>
            <a:tailEnd type="none" w="med" len="med"/>
          </a:ln>
        </p:spPr>
      </p:sp>
      <p:sp>
        <p:nvSpPr>
          <p:cNvPr id="2381976" name="Line 152"/>
          <p:cNvSpPr/>
          <p:nvPr/>
        </p:nvSpPr>
        <p:spPr>
          <a:xfrm>
            <a:off x="1843088" y="5729288"/>
            <a:ext cx="611187" cy="0"/>
          </a:xfrm>
          <a:prstGeom prst="line">
            <a:avLst/>
          </a:prstGeom>
          <a:ln w="12700" cap="flat" cmpd="sng">
            <a:solidFill>
              <a:srgbClr val="000099"/>
            </a:solidFill>
            <a:prstDash val="solid"/>
            <a:headEnd type="none" w="med" len="med"/>
            <a:tailEnd type="none" w="med" len="med"/>
          </a:ln>
        </p:spPr>
      </p:sp>
      <p:sp>
        <p:nvSpPr>
          <p:cNvPr id="2381977" name="Text Box 153"/>
          <p:cNvSpPr txBox="1"/>
          <p:nvPr/>
        </p:nvSpPr>
        <p:spPr>
          <a:xfrm>
            <a:off x="1230313" y="51355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1978" name="Text Box 154"/>
          <p:cNvSpPr txBox="1"/>
          <p:nvPr/>
        </p:nvSpPr>
        <p:spPr>
          <a:xfrm>
            <a:off x="1227138" y="59420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1979" name="Text Box 155"/>
          <p:cNvSpPr txBox="1"/>
          <p:nvPr/>
        </p:nvSpPr>
        <p:spPr>
          <a:xfrm>
            <a:off x="744538" y="5132388"/>
            <a:ext cx="4841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24</a:t>
            </a:r>
            <a:endParaRPr lang="en-US" altLang="zh-CN" sz="1000" baseline="-25000" dirty="0">
              <a:solidFill>
                <a:srgbClr val="FF0000"/>
              </a:solidFill>
              <a:latin typeface="Times New Roman" panose="02020603050405020304" pitchFamily="18" charset="0"/>
            </a:endParaRPr>
          </a:p>
        </p:txBody>
      </p:sp>
      <p:sp>
        <p:nvSpPr>
          <p:cNvPr id="2381980" name="Text Box 156"/>
          <p:cNvSpPr txBox="1"/>
          <p:nvPr/>
        </p:nvSpPr>
        <p:spPr>
          <a:xfrm>
            <a:off x="752475" y="59388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31</a:t>
            </a:r>
            <a:endParaRPr lang="en-US" altLang="zh-CN" sz="1000" baseline="-25000" dirty="0">
              <a:solidFill>
                <a:srgbClr val="FF0000"/>
              </a:solidFill>
              <a:latin typeface="Times New Roman" panose="02020603050405020304" pitchFamily="18" charset="0"/>
            </a:endParaRPr>
          </a:p>
        </p:txBody>
      </p:sp>
      <p:sp>
        <p:nvSpPr>
          <p:cNvPr id="2381981" name="Text Box 157"/>
          <p:cNvSpPr txBox="1"/>
          <p:nvPr/>
        </p:nvSpPr>
        <p:spPr>
          <a:xfrm>
            <a:off x="1579563" y="51276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2381982" name="Text Box 158"/>
          <p:cNvSpPr txBox="1"/>
          <p:nvPr/>
        </p:nvSpPr>
        <p:spPr>
          <a:xfrm>
            <a:off x="1460500" y="53848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2381983" name="Text Box 159"/>
          <p:cNvSpPr txBox="1"/>
          <p:nvPr/>
        </p:nvSpPr>
        <p:spPr>
          <a:xfrm>
            <a:off x="1614488" y="59626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381984" name="Text Box 160"/>
          <p:cNvSpPr txBox="1"/>
          <p:nvPr/>
        </p:nvSpPr>
        <p:spPr>
          <a:xfrm>
            <a:off x="1611313" y="56165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381985" name="Text Box 161"/>
          <p:cNvSpPr txBox="1"/>
          <p:nvPr/>
        </p:nvSpPr>
        <p:spPr>
          <a:xfrm>
            <a:off x="1612900" y="57943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381986" name="Line 162"/>
          <p:cNvSpPr/>
          <p:nvPr/>
        </p:nvSpPr>
        <p:spPr>
          <a:xfrm flipV="1">
            <a:off x="1839913" y="5492750"/>
            <a:ext cx="1292225" cy="0"/>
          </a:xfrm>
          <a:prstGeom prst="line">
            <a:avLst/>
          </a:prstGeom>
          <a:ln w="12700" cap="flat" cmpd="sng">
            <a:solidFill>
              <a:srgbClr val="000099"/>
            </a:solidFill>
            <a:prstDash val="solid"/>
            <a:headEnd type="none" w="med" len="med"/>
            <a:tailEnd type="none" w="med" len="med"/>
          </a:ln>
        </p:spPr>
      </p:sp>
      <p:sp>
        <p:nvSpPr>
          <p:cNvPr id="2381987" name="Text Box 163"/>
          <p:cNvSpPr txBox="1"/>
          <p:nvPr/>
        </p:nvSpPr>
        <p:spPr>
          <a:xfrm>
            <a:off x="1398588" y="55959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4</a:t>
            </a:r>
            <a:endParaRPr lang="en-US" altLang="zh-CN" sz="1000" baseline="-25000" dirty="0">
              <a:solidFill>
                <a:srgbClr val="3333FF"/>
              </a:solidFill>
              <a:latin typeface="Times New Roman" panose="02020603050405020304" pitchFamily="18" charset="0"/>
            </a:endParaRPr>
          </a:p>
        </p:txBody>
      </p:sp>
      <p:sp>
        <p:nvSpPr>
          <p:cNvPr id="2381988" name="Line 164"/>
          <p:cNvSpPr/>
          <p:nvPr/>
        </p:nvSpPr>
        <p:spPr>
          <a:xfrm flipV="1">
            <a:off x="1554163" y="2946400"/>
            <a:ext cx="236537" cy="0"/>
          </a:xfrm>
          <a:prstGeom prst="line">
            <a:avLst/>
          </a:prstGeom>
          <a:ln w="9525" cap="flat" cmpd="sng">
            <a:solidFill>
              <a:srgbClr val="FF0000"/>
            </a:solidFill>
            <a:prstDash val="solid"/>
            <a:headEnd type="none" w="med" len="med"/>
            <a:tailEnd type="none" w="med" len="med"/>
          </a:ln>
        </p:spPr>
      </p:sp>
      <p:sp>
        <p:nvSpPr>
          <p:cNvPr id="2381989" name="Line 165"/>
          <p:cNvSpPr/>
          <p:nvPr/>
        </p:nvSpPr>
        <p:spPr>
          <a:xfrm flipV="1">
            <a:off x="1554163" y="4184650"/>
            <a:ext cx="236537" cy="0"/>
          </a:xfrm>
          <a:prstGeom prst="line">
            <a:avLst/>
          </a:prstGeom>
          <a:ln w="9525" cap="flat" cmpd="sng">
            <a:solidFill>
              <a:srgbClr val="FF0000"/>
            </a:solidFill>
            <a:prstDash val="solid"/>
            <a:headEnd type="none" w="med" len="med"/>
            <a:tailEnd type="none" w="med" len="med"/>
          </a:ln>
        </p:spPr>
      </p:sp>
      <p:sp>
        <p:nvSpPr>
          <p:cNvPr id="2381990" name="Line 166"/>
          <p:cNvSpPr/>
          <p:nvPr/>
        </p:nvSpPr>
        <p:spPr>
          <a:xfrm flipV="1">
            <a:off x="1547813" y="5429250"/>
            <a:ext cx="236537" cy="0"/>
          </a:xfrm>
          <a:prstGeom prst="line">
            <a:avLst/>
          </a:prstGeom>
          <a:ln w="9525" cap="flat" cmpd="sng">
            <a:solidFill>
              <a:srgbClr val="FF0000"/>
            </a:solidFill>
            <a:prstDash val="solid"/>
            <a:headEnd type="none" w="med" len="med"/>
            <a:tailEnd type="none" w="med" len="med"/>
          </a:ln>
        </p:spPr>
      </p:sp>
      <p:sp>
        <p:nvSpPr>
          <p:cNvPr id="2381991" name="Oval 167"/>
          <p:cNvSpPr/>
          <p:nvPr/>
        </p:nvSpPr>
        <p:spPr>
          <a:xfrm>
            <a:off x="2070100" y="35575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2" name="Oval 168"/>
          <p:cNvSpPr/>
          <p:nvPr/>
        </p:nvSpPr>
        <p:spPr>
          <a:xfrm>
            <a:off x="2235200" y="338931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3" name="Oval 169"/>
          <p:cNvSpPr/>
          <p:nvPr/>
        </p:nvSpPr>
        <p:spPr>
          <a:xfrm>
            <a:off x="2416175" y="32083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4" name="Oval 170"/>
          <p:cNvSpPr/>
          <p:nvPr/>
        </p:nvSpPr>
        <p:spPr>
          <a:xfrm>
            <a:off x="2070100" y="47958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5" name="Oval 171"/>
          <p:cNvSpPr/>
          <p:nvPr/>
        </p:nvSpPr>
        <p:spPr>
          <a:xfrm>
            <a:off x="2235200" y="462756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6" name="Oval 172"/>
          <p:cNvSpPr/>
          <p:nvPr/>
        </p:nvSpPr>
        <p:spPr>
          <a:xfrm>
            <a:off x="2416175" y="44465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1997" name="Line 173"/>
          <p:cNvSpPr/>
          <p:nvPr/>
        </p:nvSpPr>
        <p:spPr>
          <a:xfrm flipV="1">
            <a:off x="5453063" y="1757363"/>
            <a:ext cx="433387" cy="0"/>
          </a:xfrm>
          <a:prstGeom prst="line">
            <a:avLst/>
          </a:prstGeom>
          <a:ln w="12700" cap="flat" cmpd="sng">
            <a:solidFill>
              <a:srgbClr val="000099"/>
            </a:solidFill>
            <a:prstDash val="solid"/>
            <a:headEnd type="none" w="med" len="med"/>
            <a:tailEnd type="none" w="med" len="med"/>
          </a:ln>
        </p:spPr>
      </p:sp>
      <p:sp>
        <p:nvSpPr>
          <p:cNvPr id="2381998" name="Rectangle 174"/>
          <p:cNvSpPr/>
          <p:nvPr/>
        </p:nvSpPr>
        <p:spPr>
          <a:xfrm>
            <a:off x="5889625" y="1622425"/>
            <a:ext cx="882650" cy="269875"/>
          </a:xfrm>
          <a:prstGeom prst="rect">
            <a:avLst/>
          </a:prstGeom>
          <a:solidFill>
            <a:srgbClr val="FFCC99"/>
          </a:solidFill>
          <a:ln w="12700" cap="flat" cmpd="sng">
            <a:solidFill>
              <a:srgbClr val="000099"/>
            </a:solidFill>
            <a:prstDash val="solid"/>
            <a:miter/>
            <a:headEnd type="none" w="med" len="med"/>
            <a:tailEnd type="none" w="med" len="med"/>
          </a:ln>
        </p:spPr>
        <p:txBody>
          <a:bodyPr wrap="none" anchor="ctr" anchorCtr="0">
            <a:spAutoFit/>
          </a:bodyPr>
          <a:p>
            <a:pPr algn="ctr" eaLnBrk="1" hangingPunct="1">
              <a:lnSpc>
                <a:spcPct val="90000"/>
              </a:lnSpc>
            </a:pPr>
            <a:r>
              <a:rPr lang="zh-CN" altLang="en-US" sz="1200" dirty="0">
                <a:latin typeface="黑体" panose="02010609060101010101" pitchFamily="49" charset="-122"/>
                <a:ea typeface="黑体" panose="02010609060101010101" pitchFamily="49" charset="-122"/>
              </a:rPr>
              <a:t>采样</a:t>
            </a:r>
            <a:r>
              <a:rPr lang="en-US" altLang="zh-CN" sz="1200" dirty="0">
                <a:latin typeface="黑体" panose="02010609060101010101" pitchFamily="49" charset="-122"/>
                <a:ea typeface="黑体" panose="02010609060101010101" pitchFamily="49" charset="-122"/>
              </a:rPr>
              <a:t>/</a:t>
            </a:r>
            <a:r>
              <a:rPr lang="zh-CN" altLang="en-US" sz="1200" dirty="0">
                <a:latin typeface="黑体" panose="02010609060101010101" pitchFamily="49" charset="-122"/>
                <a:ea typeface="黑体" panose="02010609060101010101" pitchFamily="49" charset="-122"/>
              </a:rPr>
              <a:t>保持</a:t>
            </a:r>
            <a:endParaRPr lang="zh-CN" altLang="en-US" sz="1200" dirty="0">
              <a:latin typeface="黑体" panose="02010609060101010101" pitchFamily="49" charset="-122"/>
              <a:ea typeface="黑体" panose="02010609060101010101" pitchFamily="49" charset="-122"/>
            </a:endParaRPr>
          </a:p>
        </p:txBody>
      </p:sp>
      <p:sp>
        <p:nvSpPr>
          <p:cNvPr id="2381999" name="Oval 175"/>
          <p:cNvSpPr/>
          <p:nvPr/>
        </p:nvSpPr>
        <p:spPr>
          <a:xfrm>
            <a:off x="1917700" y="39576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00" name="Line 176"/>
          <p:cNvSpPr/>
          <p:nvPr/>
        </p:nvSpPr>
        <p:spPr>
          <a:xfrm>
            <a:off x="4054475" y="1987550"/>
            <a:ext cx="596900" cy="0"/>
          </a:xfrm>
          <a:prstGeom prst="line">
            <a:avLst/>
          </a:prstGeom>
          <a:ln w="12700" cap="flat" cmpd="sng">
            <a:solidFill>
              <a:srgbClr val="000099"/>
            </a:solidFill>
            <a:prstDash val="solid"/>
            <a:headEnd type="none" w="med" len="med"/>
            <a:tailEnd type="none" w="med" len="med"/>
          </a:ln>
        </p:spPr>
      </p:sp>
      <p:sp>
        <p:nvSpPr>
          <p:cNvPr id="2382001" name="Rectangle 177"/>
          <p:cNvSpPr/>
          <p:nvPr/>
        </p:nvSpPr>
        <p:spPr>
          <a:xfrm>
            <a:off x="4721225" y="2265363"/>
            <a:ext cx="463550" cy="120650"/>
          </a:xfrm>
          <a:prstGeom prst="rect">
            <a:avLst/>
          </a:prstGeom>
          <a:solidFill>
            <a:srgbClr val="FFCC99"/>
          </a:solidFill>
          <a:ln w="12700" cap="flat" cmpd="sng">
            <a:solidFill>
              <a:srgbClr val="000099"/>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02" name="Line 178"/>
          <p:cNvSpPr/>
          <p:nvPr/>
        </p:nvSpPr>
        <p:spPr>
          <a:xfrm flipH="1">
            <a:off x="4403725" y="2322513"/>
            <a:ext cx="317500" cy="0"/>
          </a:xfrm>
          <a:prstGeom prst="line">
            <a:avLst/>
          </a:prstGeom>
          <a:ln w="12700" cap="flat" cmpd="sng">
            <a:solidFill>
              <a:srgbClr val="000099"/>
            </a:solidFill>
            <a:prstDash val="solid"/>
            <a:headEnd type="none" w="med" len="med"/>
            <a:tailEnd type="none" w="med" len="med"/>
          </a:ln>
        </p:spPr>
      </p:sp>
      <p:sp>
        <p:nvSpPr>
          <p:cNvPr id="2382003" name="Line 179"/>
          <p:cNvSpPr/>
          <p:nvPr/>
        </p:nvSpPr>
        <p:spPr>
          <a:xfrm flipH="1">
            <a:off x="5184775" y="2322513"/>
            <a:ext cx="425450" cy="0"/>
          </a:xfrm>
          <a:prstGeom prst="line">
            <a:avLst/>
          </a:prstGeom>
          <a:ln w="12700" cap="flat" cmpd="sng">
            <a:solidFill>
              <a:srgbClr val="000099"/>
            </a:solidFill>
            <a:prstDash val="solid"/>
            <a:headEnd type="none" w="med" len="med"/>
            <a:tailEnd type="none" w="med" len="med"/>
          </a:ln>
        </p:spPr>
      </p:sp>
      <p:sp>
        <p:nvSpPr>
          <p:cNvPr id="2382004" name="Line 180"/>
          <p:cNvSpPr/>
          <p:nvPr/>
        </p:nvSpPr>
        <p:spPr>
          <a:xfrm flipV="1">
            <a:off x="4403725" y="1989138"/>
            <a:ext cx="0" cy="336550"/>
          </a:xfrm>
          <a:prstGeom prst="line">
            <a:avLst/>
          </a:prstGeom>
          <a:ln w="12700" cap="flat" cmpd="sng">
            <a:solidFill>
              <a:srgbClr val="000099"/>
            </a:solidFill>
            <a:prstDash val="solid"/>
            <a:headEnd type="none" w="med" len="med"/>
            <a:tailEnd type="none" w="med" len="med"/>
          </a:ln>
        </p:spPr>
      </p:sp>
      <p:sp>
        <p:nvSpPr>
          <p:cNvPr id="2382005" name="Line 181"/>
          <p:cNvSpPr/>
          <p:nvPr/>
        </p:nvSpPr>
        <p:spPr>
          <a:xfrm flipV="1">
            <a:off x="5603875" y="1757363"/>
            <a:ext cx="0" cy="558800"/>
          </a:xfrm>
          <a:prstGeom prst="line">
            <a:avLst/>
          </a:prstGeom>
          <a:ln w="12700" cap="flat" cmpd="sng">
            <a:solidFill>
              <a:srgbClr val="000099"/>
            </a:solidFill>
            <a:prstDash val="solid"/>
            <a:headEnd type="none" w="med" len="med"/>
            <a:tailEnd type="none" w="med" len="med"/>
          </a:ln>
        </p:spPr>
      </p:sp>
      <p:sp>
        <p:nvSpPr>
          <p:cNvPr id="2382006" name="Line 182"/>
          <p:cNvSpPr/>
          <p:nvPr/>
        </p:nvSpPr>
        <p:spPr>
          <a:xfrm flipV="1">
            <a:off x="4025900" y="2293938"/>
            <a:ext cx="0" cy="254000"/>
          </a:xfrm>
          <a:prstGeom prst="line">
            <a:avLst/>
          </a:prstGeom>
          <a:ln w="12700" cap="flat" cmpd="sng">
            <a:solidFill>
              <a:srgbClr val="000099"/>
            </a:solidFill>
            <a:prstDash val="solid"/>
            <a:headEnd type="none" w="med" len="med"/>
            <a:tailEnd type="none" w="med" len="med"/>
          </a:ln>
        </p:spPr>
      </p:sp>
      <p:sp>
        <p:nvSpPr>
          <p:cNvPr id="2382007" name="Line 183"/>
          <p:cNvSpPr/>
          <p:nvPr/>
        </p:nvSpPr>
        <p:spPr>
          <a:xfrm flipH="1">
            <a:off x="3867150" y="2544763"/>
            <a:ext cx="317500" cy="0"/>
          </a:xfrm>
          <a:prstGeom prst="line">
            <a:avLst/>
          </a:prstGeom>
          <a:ln w="12700" cap="flat" cmpd="sng">
            <a:solidFill>
              <a:srgbClr val="000099"/>
            </a:solidFill>
            <a:prstDash val="solid"/>
            <a:headEnd type="none" w="med" len="med"/>
            <a:tailEnd type="none" w="med" len="med"/>
          </a:ln>
        </p:spPr>
      </p:sp>
      <p:sp>
        <p:nvSpPr>
          <p:cNvPr id="2382008" name="Oval 184"/>
          <p:cNvSpPr/>
          <p:nvPr/>
        </p:nvSpPr>
        <p:spPr>
          <a:xfrm>
            <a:off x="4368800" y="19510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09" name="Oval 185"/>
          <p:cNvSpPr/>
          <p:nvPr/>
        </p:nvSpPr>
        <p:spPr>
          <a:xfrm>
            <a:off x="5568950" y="17224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10" name="Line 186"/>
          <p:cNvSpPr/>
          <p:nvPr/>
        </p:nvSpPr>
        <p:spPr>
          <a:xfrm flipV="1">
            <a:off x="3609975" y="1522413"/>
            <a:ext cx="0" cy="155575"/>
          </a:xfrm>
          <a:prstGeom prst="line">
            <a:avLst/>
          </a:prstGeom>
          <a:ln w="12700" cap="flat" cmpd="sng">
            <a:solidFill>
              <a:srgbClr val="000099"/>
            </a:solidFill>
            <a:prstDash val="solid"/>
            <a:headEnd type="none" w="med" len="med"/>
            <a:tailEnd type="none" w="med" len="med"/>
          </a:ln>
        </p:spPr>
      </p:sp>
      <p:sp>
        <p:nvSpPr>
          <p:cNvPr id="2382011" name="Oval 187"/>
          <p:cNvSpPr/>
          <p:nvPr/>
        </p:nvSpPr>
        <p:spPr>
          <a:xfrm>
            <a:off x="3575050" y="14874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12" name="Oval 188"/>
          <p:cNvSpPr/>
          <p:nvPr/>
        </p:nvSpPr>
        <p:spPr>
          <a:xfrm>
            <a:off x="3244850" y="318928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14" name="Line 190"/>
          <p:cNvSpPr/>
          <p:nvPr/>
        </p:nvSpPr>
        <p:spPr>
          <a:xfrm flipV="1">
            <a:off x="4283075" y="5686425"/>
            <a:ext cx="0" cy="168275"/>
          </a:xfrm>
          <a:prstGeom prst="line">
            <a:avLst/>
          </a:prstGeom>
          <a:ln w="12700" cap="flat" cmpd="sng">
            <a:solidFill>
              <a:srgbClr val="000099"/>
            </a:solidFill>
            <a:prstDash val="solid"/>
            <a:headEnd type="none" w="med" len="med"/>
            <a:tailEnd type="none" w="med" len="med"/>
          </a:ln>
        </p:spPr>
      </p:sp>
      <p:sp>
        <p:nvSpPr>
          <p:cNvPr id="2382019" name="Line 195"/>
          <p:cNvSpPr/>
          <p:nvPr/>
        </p:nvSpPr>
        <p:spPr>
          <a:xfrm flipV="1">
            <a:off x="5156200" y="5691188"/>
            <a:ext cx="0" cy="168275"/>
          </a:xfrm>
          <a:prstGeom prst="line">
            <a:avLst/>
          </a:prstGeom>
          <a:ln w="12700" cap="flat" cmpd="sng">
            <a:solidFill>
              <a:srgbClr val="000099"/>
            </a:solidFill>
            <a:prstDash val="solid"/>
            <a:headEnd type="none" w="med" len="med"/>
            <a:tailEnd type="none" w="med" len="med"/>
          </a:ln>
        </p:spPr>
      </p:sp>
      <p:sp>
        <p:nvSpPr>
          <p:cNvPr id="2382023" name="Line 199"/>
          <p:cNvSpPr/>
          <p:nvPr/>
        </p:nvSpPr>
        <p:spPr>
          <a:xfrm flipV="1">
            <a:off x="6029325" y="5689600"/>
            <a:ext cx="0" cy="168275"/>
          </a:xfrm>
          <a:prstGeom prst="line">
            <a:avLst/>
          </a:prstGeom>
          <a:ln w="12700" cap="flat" cmpd="sng">
            <a:solidFill>
              <a:srgbClr val="000099"/>
            </a:solidFill>
            <a:prstDash val="solid"/>
            <a:headEnd type="none" w="med" len="med"/>
            <a:tailEnd type="none" w="med" len="med"/>
          </a:ln>
        </p:spPr>
      </p:sp>
      <p:sp>
        <p:nvSpPr>
          <p:cNvPr id="2382031" name="Line 207"/>
          <p:cNvSpPr/>
          <p:nvPr/>
        </p:nvSpPr>
        <p:spPr>
          <a:xfrm flipV="1">
            <a:off x="6029325" y="4929188"/>
            <a:ext cx="0" cy="168275"/>
          </a:xfrm>
          <a:prstGeom prst="line">
            <a:avLst/>
          </a:prstGeom>
          <a:ln w="12700" cap="flat" cmpd="sng">
            <a:solidFill>
              <a:srgbClr val="000099"/>
            </a:solidFill>
            <a:prstDash val="solid"/>
            <a:headEnd type="none" w="med" len="med"/>
            <a:tailEnd type="none" w="med" len="med"/>
          </a:ln>
        </p:spPr>
      </p:sp>
      <p:sp>
        <p:nvSpPr>
          <p:cNvPr id="2382032" name="Text Box 208"/>
          <p:cNvSpPr txBox="1"/>
          <p:nvPr/>
        </p:nvSpPr>
        <p:spPr>
          <a:xfrm>
            <a:off x="37925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2382033" name="Text Box 209"/>
          <p:cNvSpPr txBox="1"/>
          <p:nvPr/>
        </p:nvSpPr>
        <p:spPr>
          <a:xfrm>
            <a:off x="40846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2382034" name="Text Box 210"/>
          <p:cNvSpPr txBox="1"/>
          <p:nvPr/>
        </p:nvSpPr>
        <p:spPr>
          <a:xfrm>
            <a:off x="43767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2035" name="Text Box 211"/>
          <p:cNvSpPr txBox="1"/>
          <p:nvPr/>
        </p:nvSpPr>
        <p:spPr>
          <a:xfrm>
            <a:off x="46624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8</a:t>
            </a:r>
            <a:endParaRPr lang="en-US" altLang="zh-CN" sz="1000" baseline="-25000" dirty="0">
              <a:solidFill>
                <a:srgbClr val="FF0000"/>
              </a:solidFill>
              <a:latin typeface="Times New Roman" panose="02020603050405020304" pitchFamily="18" charset="0"/>
            </a:endParaRPr>
          </a:p>
        </p:txBody>
      </p:sp>
      <p:sp>
        <p:nvSpPr>
          <p:cNvPr id="2382036" name="Text Box 212"/>
          <p:cNvSpPr txBox="1"/>
          <p:nvPr/>
        </p:nvSpPr>
        <p:spPr>
          <a:xfrm>
            <a:off x="48974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13</a:t>
            </a:r>
            <a:endParaRPr lang="en-US" altLang="zh-CN" sz="1000" baseline="-25000" dirty="0">
              <a:solidFill>
                <a:srgbClr val="FF0000"/>
              </a:solidFill>
              <a:latin typeface="Times New Roman" panose="02020603050405020304" pitchFamily="18" charset="0"/>
            </a:endParaRPr>
          </a:p>
        </p:txBody>
      </p:sp>
      <p:sp>
        <p:nvSpPr>
          <p:cNvPr id="2382037" name="Text Box 213"/>
          <p:cNvSpPr txBox="1"/>
          <p:nvPr/>
        </p:nvSpPr>
        <p:spPr>
          <a:xfrm>
            <a:off x="51958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14</a:t>
            </a:r>
            <a:endParaRPr lang="en-US" altLang="zh-CN" sz="1000" baseline="-25000" dirty="0">
              <a:solidFill>
                <a:srgbClr val="FF0000"/>
              </a:solidFill>
              <a:latin typeface="Times New Roman" panose="02020603050405020304" pitchFamily="18" charset="0"/>
            </a:endParaRPr>
          </a:p>
        </p:txBody>
      </p:sp>
      <p:sp>
        <p:nvSpPr>
          <p:cNvPr id="2382039" name="Text Box 215"/>
          <p:cNvSpPr txBox="1"/>
          <p:nvPr/>
        </p:nvSpPr>
        <p:spPr>
          <a:xfrm>
            <a:off x="54879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17</a:t>
            </a:r>
            <a:endParaRPr lang="en-US" altLang="zh-CN" sz="1000" baseline="-25000" dirty="0">
              <a:solidFill>
                <a:srgbClr val="FF0000"/>
              </a:solidFill>
              <a:latin typeface="Times New Roman" panose="02020603050405020304" pitchFamily="18" charset="0"/>
            </a:endParaRPr>
          </a:p>
        </p:txBody>
      </p:sp>
      <p:sp>
        <p:nvSpPr>
          <p:cNvPr id="2382040" name="Text Box 216"/>
          <p:cNvSpPr txBox="1"/>
          <p:nvPr/>
        </p:nvSpPr>
        <p:spPr>
          <a:xfrm>
            <a:off x="57800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18</a:t>
            </a:r>
            <a:endParaRPr lang="en-US" altLang="zh-CN" sz="1000" baseline="-25000" dirty="0">
              <a:solidFill>
                <a:srgbClr val="FF0000"/>
              </a:solidFill>
              <a:latin typeface="Times New Roman" panose="02020603050405020304" pitchFamily="18" charset="0"/>
            </a:endParaRPr>
          </a:p>
        </p:txBody>
      </p:sp>
      <p:sp>
        <p:nvSpPr>
          <p:cNvPr id="2382041" name="Text Box 217"/>
          <p:cNvSpPr txBox="1"/>
          <p:nvPr/>
        </p:nvSpPr>
        <p:spPr>
          <a:xfrm>
            <a:off x="37988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2382042" name="Text Box 218"/>
          <p:cNvSpPr txBox="1"/>
          <p:nvPr/>
        </p:nvSpPr>
        <p:spPr>
          <a:xfrm>
            <a:off x="40909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2382043" name="Text Box 219"/>
          <p:cNvSpPr txBox="1"/>
          <p:nvPr/>
        </p:nvSpPr>
        <p:spPr>
          <a:xfrm>
            <a:off x="43830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2382044" name="Text Box 220"/>
          <p:cNvSpPr txBox="1"/>
          <p:nvPr/>
        </p:nvSpPr>
        <p:spPr>
          <a:xfrm>
            <a:off x="46688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9</a:t>
            </a:r>
            <a:endParaRPr lang="en-US" altLang="zh-CN" sz="1000" baseline="-25000" dirty="0">
              <a:solidFill>
                <a:srgbClr val="FF0000"/>
              </a:solidFill>
              <a:latin typeface="Times New Roman" panose="02020603050405020304" pitchFamily="18" charset="0"/>
            </a:endParaRPr>
          </a:p>
        </p:txBody>
      </p:sp>
      <p:sp>
        <p:nvSpPr>
          <p:cNvPr id="2382045" name="Text Box 221"/>
          <p:cNvSpPr txBox="1"/>
          <p:nvPr/>
        </p:nvSpPr>
        <p:spPr>
          <a:xfrm>
            <a:off x="49037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12</a:t>
            </a:r>
            <a:endParaRPr lang="en-US" altLang="zh-CN" sz="1000" baseline="-25000" dirty="0">
              <a:solidFill>
                <a:srgbClr val="FF0000"/>
              </a:solidFill>
              <a:latin typeface="Times New Roman" panose="02020603050405020304" pitchFamily="18" charset="0"/>
            </a:endParaRPr>
          </a:p>
        </p:txBody>
      </p:sp>
      <p:sp>
        <p:nvSpPr>
          <p:cNvPr id="2382046" name="Text Box 222"/>
          <p:cNvSpPr txBox="1"/>
          <p:nvPr/>
        </p:nvSpPr>
        <p:spPr>
          <a:xfrm>
            <a:off x="52022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15</a:t>
            </a:r>
            <a:endParaRPr lang="en-US" altLang="zh-CN" sz="1000" baseline="-25000" dirty="0">
              <a:solidFill>
                <a:srgbClr val="FF0000"/>
              </a:solidFill>
              <a:latin typeface="Times New Roman" panose="02020603050405020304" pitchFamily="18" charset="0"/>
            </a:endParaRPr>
          </a:p>
        </p:txBody>
      </p:sp>
      <p:sp>
        <p:nvSpPr>
          <p:cNvPr id="2382047" name="Text Box 223"/>
          <p:cNvSpPr txBox="1"/>
          <p:nvPr/>
        </p:nvSpPr>
        <p:spPr>
          <a:xfrm>
            <a:off x="54943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16</a:t>
            </a:r>
            <a:endParaRPr lang="en-US" altLang="zh-CN" sz="1000" baseline="-25000" dirty="0">
              <a:solidFill>
                <a:srgbClr val="FF0000"/>
              </a:solidFill>
              <a:latin typeface="Times New Roman" panose="02020603050405020304" pitchFamily="18" charset="0"/>
            </a:endParaRPr>
          </a:p>
        </p:txBody>
      </p:sp>
      <p:sp>
        <p:nvSpPr>
          <p:cNvPr id="2382048" name="Text Box 224"/>
          <p:cNvSpPr txBox="1"/>
          <p:nvPr/>
        </p:nvSpPr>
        <p:spPr>
          <a:xfrm>
            <a:off x="57864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19</a:t>
            </a:r>
            <a:endParaRPr lang="en-US" altLang="zh-CN" sz="1000" baseline="-25000" dirty="0">
              <a:solidFill>
                <a:srgbClr val="FF0000"/>
              </a:solidFill>
              <a:latin typeface="Times New Roman" panose="02020603050405020304" pitchFamily="18" charset="0"/>
            </a:endParaRPr>
          </a:p>
        </p:txBody>
      </p:sp>
      <p:sp>
        <p:nvSpPr>
          <p:cNvPr id="2382051" name="Line 227"/>
          <p:cNvSpPr/>
          <p:nvPr/>
        </p:nvSpPr>
        <p:spPr>
          <a:xfrm flipV="1">
            <a:off x="4283075" y="5845175"/>
            <a:ext cx="0" cy="168275"/>
          </a:xfrm>
          <a:prstGeom prst="line">
            <a:avLst/>
          </a:prstGeom>
          <a:ln w="12700" cap="flat" cmpd="sng">
            <a:solidFill>
              <a:srgbClr val="000099"/>
            </a:solidFill>
            <a:prstDash val="solid"/>
            <a:headEnd type="none" w="med" len="med"/>
            <a:tailEnd type="none" w="med" len="med"/>
          </a:ln>
        </p:spPr>
      </p:sp>
      <p:sp>
        <p:nvSpPr>
          <p:cNvPr id="2382052" name="Line 228"/>
          <p:cNvSpPr/>
          <p:nvPr/>
        </p:nvSpPr>
        <p:spPr>
          <a:xfrm flipV="1">
            <a:off x="3990975" y="5842000"/>
            <a:ext cx="0" cy="168275"/>
          </a:xfrm>
          <a:prstGeom prst="line">
            <a:avLst/>
          </a:prstGeom>
          <a:ln w="12700" cap="flat" cmpd="sng">
            <a:solidFill>
              <a:srgbClr val="000099"/>
            </a:solidFill>
            <a:prstDash val="solid"/>
            <a:headEnd type="none" w="med" len="med"/>
            <a:tailEnd type="none" w="med" len="med"/>
          </a:ln>
        </p:spPr>
      </p:sp>
      <p:sp>
        <p:nvSpPr>
          <p:cNvPr id="2382053" name="Line 229"/>
          <p:cNvSpPr/>
          <p:nvPr/>
        </p:nvSpPr>
        <p:spPr>
          <a:xfrm flipV="1">
            <a:off x="3990975" y="5680075"/>
            <a:ext cx="0" cy="168275"/>
          </a:xfrm>
          <a:prstGeom prst="line">
            <a:avLst/>
          </a:prstGeom>
          <a:ln w="12700" cap="flat" cmpd="sng">
            <a:solidFill>
              <a:srgbClr val="000099"/>
            </a:solidFill>
            <a:prstDash val="solid"/>
            <a:headEnd type="none" w="med" len="med"/>
            <a:tailEnd type="none" w="med" len="med"/>
          </a:ln>
        </p:spPr>
      </p:sp>
      <p:sp>
        <p:nvSpPr>
          <p:cNvPr id="2382054" name="Line 230"/>
          <p:cNvSpPr/>
          <p:nvPr/>
        </p:nvSpPr>
        <p:spPr>
          <a:xfrm flipV="1">
            <a:off x="4568825" y="5686425"/>
            <a:ext cx="0" cy="168275"/>
          </a:xfrm>
          <a:prstGeom prst="line">
            <a:avLst/>
          </a:prstGeom>
          <a:ln w="12700" cap="flat" cmpd="sng">
            <a:solidFill>
              <a:srgbClr val="000099"/>
            </a:solidFill>
            <a:prstDash val="solid"/>
            <a:headEnd type="none" w="med" len="med"/>
            <a:tailEnd type="none" w="med" len="med"/>
          </a:ln>
        </p:spPr>
      </p:sp>
      <p:sp>
        <p:nvSpPr>
          <p:cNvPr id="2382055" name="Line 231"/>
          <p:cNvSpPr/>
          <p:nvPr/>
        </p:nvSpPr>
        <p:spPr>
          <a:xfrm flipV="1">
            <a:off x="4568825" y="5845175"/>
            <a:ext cx="0" cy="168275"/>
          </a:xfrm>
          <a:prstGeom prst="line">
            <a:avLst/>
          </a:prstGeom>
          <a:ln w="12700" cap="flat" cmpd="sng">
            <a:solidFill>
              <a:srgbClr val="000099"/>
            </a:solidFill>
            <a:prstDash val="solid"/>
            <a:headEnd type="none" w="med" len="med"/>
            <a:tailEnd type="none" w="med" len="med"/>
          </a:ln>
        </p:spPr>
      </p:sp>
      <p:sp>
        <p:nvSpPr>
          <p:cNvPr id="2382056" name="Line 232"/>
          <p:cNvSpPr/>
          <p:nvPr/>
        </p:nvSpPr>
        <p:spPr>
          <a:xfrm flipV="1">
            <a:off x="5156200" y="5851525"/>
            <a:ext cx="0" cy="168275"/>
          </a:xfrm>
          <a:prstGeom prst="line">
            <a:avLst/>
          </a:prstGeom>
          <a:ln w="12700" cap="flat" cmpd="sng">
            <a:solidFill>
              <a:srgbClr val="000099"/>
            </a:solidFill>
            <a:prstDash val="solid"/>
            <a:headEnd type="none" w="med" len="med"/>
            <a:tailEnd type="none" w="med" len="med"/>
          </a:ln>
        </p:spPr>
      </p:sp>
      <p:sp>
        <p:nvSpPr>
          <p:cNvPr id="2382057" name="Line 233"/>
          <p:cNvSpPr/>
          <p:nvPr/>
        </p:nvSpPr>
        <p:spPr>
          <a:xfrm flipV="1">
            <a:off x="4864100" y="5845175"/>
            <a:ext cx="0" cy="168275"/>
          </a:xfrm>
          <a:prstGeom prst="line">
            <a:avLst/>
          </a:prstGeom>
          <a:ln w="12700" cap="flat" cmpd="sng">
            <a:solidFill>
              <a:srgbClr val="000099"/>
            </a:solidFill>
            <a:prstDash val="solid"/>
            <a:headEnd type="none" w="med" len="med"/>
            <a:tailEnd type="none" w="med" len="med"/>
          </a:ln>
        </p:spPr>
      </p:sp>
      <p:sp>
        <p:nvSpPr>
          <p:cNvPr id="2382058" name="Line 234"/>
          <p:cNvSpPr/>
          <p:nvPr/>
        </p:nvSpPr>
        <p:spPr>
          <a:xfrm flipV="1">
            <a:off x="5441950" y="5851525"/>
            <a:ext cx="0" cy="168275"/>
          </a:xfrm>
          <a:prstGeom prst="line">
            <a:avLst/>
          </a:prstGeom>
          <a:ln w="12700" cap="flat" cmpd="sng">
            <a:solidFill>
              <a:srgbClr val="000099"/>
            </a:solidFill>
            <a:prstDash val="solid"/>
            <a:headEnd type="none" w="med" len="med"/>
            <a:tailEnd type="none" w="med" len="med"/>
          </a:ln>
        </p:spPr>
      </p:sp>
      <p:sp>
        <p:nvSpPr>
          <p:cNvPr id="2382059" name="Line 235"/>
          <p:cNvSpPr/>
          <p:nvPr/>
        </p:nvSpPr>
        <p:spPr>
          <a:xfrm flipV="1">
            <a:off x="4864100" y="5678488"/>
            <a:ext cx="0" cy="168275"/>
          </a:xfrm>
          <a:prstGeom prst="line">
            <a:avLst/>
          </a:prstGeom>
          <a:ln w="12700" cap="flat" cmpd="sng">
            <a:solidFill>
              <a:srgbClr val="000099"/>
            </a:solidFill>
            <a:prstDash val="solid"/>
            <a:headEnd type="none" w="med" len="med"/>
            <a:tailEnd type="none" w="med" len="med"/>
          </a:ln>
        </p:spPr>
      </p:sp>
      <p:sp>
        <p:nvSpPr>
          <p:cNvPr id="2382060" name="Line 236"/>
          <p:cNvSpPr/>
          <p:nvPr/>
        </p:nvSpPr>
        <p:spPr>
          <a:xfrm flipV="1">
            <a:off x="5441950" y="5684838"/>
            <a:ext cx="0" cy="168275"/>
          </a:xfrm>
          <a:prstGeom prst="line">
            <a:avLst/>
          </a:prstGeom>
          <a:ln w="12700" cap="flat" cmpd="sng">
            <a:solidFill>
              <a:srgbClr val="000099"/>
            </a:solidFill>
            <a:prstDash val="solid"/>
            <a:headEnd type="none" w="med" len="med"/>
            <a:tailEnd type="none" w="med" len="med"/>
          </a:ln>
        </p:spPr>
      </p:sp>
      <p:sp>
        <p:nvSpPr>
          <p:cNvPr id="2382061" name="Line 237"/>
          <p:cNvSpPr/>
          <p:nvPr/>
        </p:nvSpPr>
        <p:spPr>
          <a:xfrm flipV="1">
            <a:off x="5743575" y="5684838"/>
            <a:ext cx="0" cy="168275"/>
          </a:xfrm>
          <a:prstGeom prst="line">
            <a:avLst/>
          </a:prstGeom>
          <a:ln w="12700" cap="flat" cmpd="sng">
            <a:solidFill>
              <a:srgbClr val="000099"/>
            </a:solidFill>
            <a:prstDash val="solid"/>
            <a:headEnd type="none" w="med" len="med"/>
            <a:tailEnd type="none" w="med" len="med"/>
          </a:ln>
        </p:spPr>
      </p:sp>
      <p:sp>
        <p:nvSpPr>
          <p:cNvPr id="2382062" name="Line 238"/>
          <p:cNvSpPr/>
          <p:nvPr/>
        </p:nvSpPr>
        <p:spPr>
          <a:xfrm flipV="1">
            <a:off x="5743575" y="5845175"/>
            <a:ext cx="0" cy="168275"/>
          </a:xfrm>
          <a:prstGeom prst="line">
            <a:avLst/>
          </a:prstGeom>
          <a:ln w="12700" cap="flat" cmpd="sng">
            <a:solidFill>
              <a:srgbClr val="000099"/>
            </a:solidFill>
            <a:prstDash val="solid"/>
            <a:headEnd type="none" w="med" len="med"/>
            <a:tailEnd type="none" w="med" len="med"/>
          </a:ln>
        </p:spPr>
      </p:sp>
      <p:sp>
        <p:nvSpPr>
          <p:cNvPr id="2382063" name="Line 239"/>
          <p:cNvSpPr/>
          <p:nvPr/>
        </p:nvSpPr>
        <p:spPr>
          <a:xfrm flipV="1">
            <a:off x="6029325" y="5845175"/>
            <a:ext cx="0" cy="168275"/>
          </a:xfrm>
          <a:prstGeom prst="line">
            <a:avLst/>
          </a:prstGeom>
          <a:ln w="12700" cap="flat" cmpd="sng">
            <a:solidFill>
              <a:srgbClr val="000099"/>
            </a:solidFill>
            <a:prstDash val="solid"/>
            <a:headEnd type="none" w="med" len="med"/>
            <a:tailEnd type="none" w="med" len="med"/>
          </a:ln>
        </p:spPr>
      </p:sp>
      <p:sp>
        <p:nvSpPr>
          <p:cNvPr id="2382064" name="Line 240"/>
          <p:cNvSpPr/>
          <p:nvPr/>
        </p:nvSpPr>
        <p:spPr>
          <a:xfrm flipV="1">
            <a:off x="4283075" y="4665663"/>
            <a:ext cx="0" cy="274637"/>
          </a:xfrm>
          <a:prstGeom prst="line">
            <a:avLst/>
          </a:prstGeom>
          <a:ln w="12700" cap="flat" cmpd="sng">
            <a:solidFill>
              <a:srgbClr val="000099"/>
            </a:solidFill>
            <a:prstDash val="solid"/>
            <a:headEnd type="none" w="med" len="med"/>
            <a:tailEnd type="none" w="med" len="med"/>
          </a:ln>
        </p:spPr>
      </p:sp>
      <p:sp>
        <p:nvSpPr>
          <p:cNvPr id="2382065" name="Line 241"/>
          <p:cNvSpPr/>
          <p:nvPr/>
        </p:nvSpPr>
        <p:spPr>
          <a:xfrm flipH="1" flipV="1">
            <a:off x="5153025" y="3883025"/>
            <a:ext cx="3175" cy="1062038"/>
          </a:xfrm>
          <a:prstGeom prst="line">
            <a:avLst/>
          </a:prstGeom>
          <a:ln w="12700" cap="flat" cmpd="sng">
            <a:solidFill>
              <a:srgbClr val="000099"/>
            </a:solidFill>
            <a:prstDash val="solid"/>
            <a:headEnd type="none" w="med" len="med"/>
            <a:tailEnd type="none" w="med" len="med"/>
          </a:ln>
        </p:spPr>
      </p:sp>
      <p:sp>
        <p:nvSpPr>
          <p:cNvPr id="2382066" name="Line 242"/>
          <p:cNvSpPr/>
          <p:nvPr/>
        </p:nvSpPr>
        <p:spPr>
          <a:xfrm flipV="1">
            <a:off x="6029325" y="4775200"/>
            <a:ext cx="0" cy="168275"/>
          </a:xfrm>
          <a:prstGeom prst="line">
            <a:avLst/>
          </a:prstGeom>
          <a:ln w="12700" cap="flat" cmpd="sng">
            <a:solidFill>
              <a:srgbClr val="000099"/>
            </a:solidFill>
            <a:prstDash val="solid"/>
            <a:headEnd type="none" w="med" len="med"/>
            <a:tailEnd type="none" w="med" len="med"/>
          </a:ln>
        </p:spPr>
      </p:sp>
      <p:sp>
        <p:nvSpPr>
          <p:cNvPr id="2382067" name="Line 243"/>
          <p:cNvSpPr/>
          <p:nvPr/>
        </p:nvSpPr>
        <p:spPr>
          <a:xfrm flipV="1">
            <a:off x="4283075" y="4930775"/>
            <a:ext cx="0" cy="168275"/>
          </a:xfrm>
          <a:prstGeom prst="line">
            <a:avLst/>
          </a:prstGeom>
          <a:ln w="12700" cap="flat" cmpd="sng">
            <a:solidFill>
              <a:srgbClr val="000099"/>
            </a:solidFill>
            <a:prstDash val="solid"/>
            <a:headEnd type="none" w="med" len="med"/>
            <a:tailEnd type="none" w="med" len="med"/>
          </a:ln>
        </p:spPr>
      </p:sp>
      <p:sp>
        <p:nvSpPr>
          <p:cNvPr id="2382068" name="Line 244"/>
          <p:cNvSpPr/>
          <p:nvPr/>
        </p:nvSpPr>
        <p:spPr>
          <a:xfrm flipV="1">
            <a:off x="3990975" y="4927600"/>
            <a:ext cx="0" cy="168275"/>
          </a:xfrm>
          <a:prstGeom prst="line">
            <a:avLst/>
          </a:prstGeom>
          <a:ln w="12700" cap="flat" cmpd="sng">
            <a:solidFill>
              <a:srgbClr val="000099"/>
            </a:solidFill>
            <a:prstDash val="solid"/>
            <a:headEnd type="none" w="med" len="med"/>
            <a:tailEnd type="none" w="med" len="med"/>
          </a:ln>
        </p:spPr>
      </p:sp>
      <p:sp>
        <p:nvSpPr>
          <p:cNvPr id="2382069" name="Line 245"/>
          <p:cNvSpPr/>
          <p:nvPr/>
        </p:nvSpPr>
        <p:spPr>
          <a:xfrm flipV="1">
            <a:off x="3990975" y="4829175"/>
            <a:ext cx="0" cy="168275"/>
          </a:xfrm>
          <a:prstGeom prst="line">
            <a:avLst/>
          </a:prstGeom>
          <a:ln w="12700" cap="flat" cmpd="sng">
            <a:solidFill>
              <a:srgbClr val="000099"/>
            </a:solidFill>
            <a:prstDash val="solid"/>
            <a:headEnd type="none" w="med" len="med"/>
            <a:tailEnd type="none" w="med" len="med"/>
          </a:ln>
        </p:spPr>
      </p:sp>
      <p:sp>
        <p:nvSpPr>
          <p:cNvPr id="2382070" name="Line 246"/>
          <p:cNvSpPr/>
          <p:nvPr/>
        </p:nvSpPr>
        <p:spPr>
          <a:xfrm flipV="1">
            <a:off x="4568825" y="4484688"/>
            <a:ext cx="0" cy="455612"/>
          </a:xfrm>
          <a:prstGeom prst="line">
            <a:avLst/>
          </a:prstGeom>
          <a:ln w="12700" cap="flat" cmpd="sng">
            <a:solidFill>
              <a:srgbClr val="000099"/>
            </a:solidFill>
            <a:prstDash val="solid"/>
            <a:headEnd type="none" w="med" len="med"/>
            <a:tailEnd type="none" w="med" len="med"/>
          </a:ln>
        </p:spPr>
      </p:sp>
      <p:sp>
        <p:nvSpPr>
          <p:cNvPr id="2382071" name="Line 247"/>
          <p:cNvSpPr/>
          <p:nvPr/>
        </p:nvSpPr>
        <p:spPr>
          <a:xfrm flipV="1">
            <a:off x="4568825" y="4930775"/>
            <a:ext cx="0" cy="168275"/>
          </a:xfrm>
          <a:prstGeom prst="line">
            <a:avLst/>
          </a:prstGeom>
          <a:ln w="12700" cap="flat" cmpd="sng">
            <a:solidFill>
              <a:srgbClr val="000099"/>
            </a:solidFill>
            <a:prstDash val="solid"/>
            <a:headEnd type="none" w="med" len="med"/>
            <a:tailEnd type="none" w="med" len="med"/>
          </a:ln>
        </p:spPr>
      </p:sp>
      <p:sp>
        <p:nvSpPr>
          <p:cNvPr id="2382072" name="Line 248"/>
          <p:cNvSpPr/>
          <p:nvPr/>
        </p:nvSpPr>
        <p:spPr>
          <a:xfrm flipV="1">
            <a:off x="5156200" y="4937125"/>
            <a:ext cx="0" cy="168275"/>
          </a:xfrm>
          <a:prstGeom prst="line">
            <a:avLst/>
          </a:prstGeom>
          <a:ln w="12700" cap="flat" cmpd="sng">
            <a:solidFill>
              <a:srgbClr val="000099"/>
            </a:solidFill>
            <a:prstDash val="solid"/>
            <a:headEnd type="none" w="med" len="med"/>
            <a:tailEnd type="none" w="med" len="med"/>
          </a:ln>
        </p:spPr>
      </p:sp>
      <p:sp>
        <p:nvSpPr>
          <p:cNvPr id="2382073" name="Line 249"/>
          <p:cNvSpPr/>
          <p:nvPr/>
        </p:nvSpPr>
        <p:spPr>
          <a:xfrm flipV="1">
            <a:off x="4864100" y="4930775"/>
            <a:ext cx="0" cy="168275"/>
          </a:xfrm>
          <a:prstGeom prst="line">
            <a:avLst/>
          </a:prstGeom>
          <a:ln w="12700" cap="flat" cmpd="sng">
            <a:solidFill>
              <a:srgbClr val="000099"/>
            </a:solidFill>
            <a:prstDash val="solid"/>
            <a:headEnd type="none" w="med" len="med"/>
            <a:tailEnd type="none" w="med" len="med"/>
          </a:ln>
        </p:spPr>
      </p:sp>
      <p:sp>
        <p:nvSpPr>
          <p:cNvPr id="2382074" name="Line 250"/>
          <p:cNvSpPr/>
          <p:nvPr/>
        </p:nvSpPr>
        <p:spPr>
          <a:xfrm flipV="1">
            <a:off x="5441950" y="4937125"/>
            <a:ext cx="0" cy="168275"/>
          </a:xfrm>
          <a:prstGeom prst="line">
            <a:avLst/>
          </a:prstGeom>
          <a:ln w="12700" cap="flat" cmpd="sng">
            <a:solidFill>
              <a:srgbClr val="000099"/>
            </a:solidFill>
            <a:prstDash val="solid"/>
            <a:headEnd type="none" w="med" len="med"/>
            <a:tailEnd type="none" w="med" len="med"/>
          </a:ln>
        </p:spPr>
      </p:sp>
      <p:sp>
        <p:nvSpPr>
          <p:cNvPr id="2382075" name="Line 251"/>
          <p:cNvSpPr/>
          <p:nvPr/>
        </p:nvSpPr>
        <p:spPr>
          <a:xfrm flipV="1">
            <a:off x="4864100" y="4484688"/>
            <a:ext cx="0" cy="447675"/>
          </a:xfrm>
          <a:prstGeom prst="line">
            <a:avLst/>
          </a:prstGeom>
          <a:ln w="12700" cap="flat" cmpd="sng">
            <a:solidFill>
              <a:srgbClr val="000099"/>
            </a:solidFill>
            <a:prstDash val="solid"/>
            <a:headEnd type="none" w="med" len="med"/>
            <a:tailEnd type="none" w="med" len="med"/>
          </a:ln>
        </p:spPr>
      </p:sp>
      <p:sp>
        <p:nvSpPr>
          <p:cNvPr id="2382076" name="Line 252"/>
          <p:cNvSpPr/>
          <p:nvPr/>
        </p:nvSpPr>
        <p:spPr>
          <a:xfrm flipV="1">
            <a:off x="5441950" y="4233863"/>
            <a:ext cx="0" cy="704850"/>
          </a:xfrm>
          <a:prstGeom prst="line">
            <a:avLst/>
          </a:prstGeom>
          <a:ln w="12700" cap="flat" cmpd="sng">
            <a:solidFill>
              <a:srgbClr val="000099"/>
            </a:solidFill>
            <a:prstDash val="solid"/>
            <a:headEnd type="none" w="med" len="med"/>
            <a:tailEnd type="none" w="med" len="med"/>
          </a:ln>
        </p:spPr>
      </p:sp>
      <p:sp>
        <p:nvSpPr>
          <p:cNvPr id="2382077" name="Line 253"/>
          <p:cNvSpPr/>
          <p:nvPr/>
        </p:nvSpPr>
        <p:spPr>
          <a:xfrm flipV="1">
            <a:off x="5743575" y="3586163"/>
            <a:ext cx="0" cy="1352550"/>
          </a:xfrm>
          <a:prstGeom prst="line">
            <a:avLst/>
          </a:prstGeom>
          <a:ln w="12700" cap="flat" cmpd="sng">
            <a:solidFill>
              <a:srgbClr val="000099"/>
            </a:solidFill>
            <a:prstDash val="solid"/>
            <a:headEnd type="none" w="med" len="med"/>
            <a:tailEnd type="none" w="med" len="med"/>
          </a:ln>
        </p:spPr>
      </p:sp>
      <p:sp>
        <p:nvSpPr>
          <p:cNvPr id="2382078" name="Line 254"/>
          <p:cNvSpPr/>
          <p:nvPr/>
        </p:nvSpPr>
        <p:spPr>
          <a:xfrm flipV="1">
            <a:off x="5743575" y="4930775"/>
            <a:ext cx="0" cy="168275"/>
          </a:xfrm>
          <a:prstGeom prst="line">
            <a:avLst/>
          </a:prstGeom>
          <a:ln w="12700" cap="flat" cmpd="sng">
            <a:solidFill>
              <a:srgbClr val="000099"/>
            </a:solidFill>
            <a:prstDash val="solid"/>
            <a:headEnd type="none" w="med" len="med"/>
            <a:tailEnd type="none" w="med" len="med"/>
          </a:ln>
        </p:spPr>
      </p:sp>
      <p:sp>
        <p:nvSpPr>
          <p:cNvPr id="2382079" name="Line 255"/>
          <p:cNvSpPr/>
          <p:nvPr/>
        </p:nvSpPr>
        <p:spPr>
          <a:xfrm flipV="1">
            <a:off x="6029325" y="4930775"/>
            <a:ext cx="0" cy="168275"/>
          </a:xfrm>
          <a:prstGeom prst="line">
            <a:avLst/>
          </a:prstGeom>
          <a:ln w="12700" cap="flat" cmpd="sng">
            <a:solidFill>
              <a:srgbClr val="000099"/>
            </a:solidFill>
            <a:prstDash val="solid"/>
            <a:headEnd type="none" w="med" len="med"/>
            <a:tailEnd type="none" w="med" len="med"/>
          </a:ln>
        </p:spPr>
      </p:sp>
      <p:sp>
        <p:nvSpPr>
          <p:cNvPr id="2382080" name="Text Box 256"/>
          <p:cNvSpPr txBox="1"/>
          <p:nvPr/>
        </p:nvSpPr>
        <p:spPr>
          <a:xfrm>
            <a:off x="3838575" y="59658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382081" name="Text Box 257"/>
          <p:cNvSpPr txBox="1"/>
          <p:nvPr/>
        </p:nvSpPr>
        <p:spPr>
          <a:xfrm>
            <a:off x="4130675" y="59721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2382082" name="Text Box 258"/>
          <p:cNvSpPr txBox="1"/>
          <p:nvPr/>
        </p:nvSpPr>
        <p:spPr>
          <a:xfrm>
            <a:off x="4429125" y="59721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2382083" name="Text Box 259"/>
          <p:cNvSpPr txBox="1"/>
          <p:nvPr/>
        </p:nvSpPr>
        <p:spPr>
          <a:xfrm>
            <a:off x="4721225" y="59785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2382084" name="Text Box 260"/>
          <p:cNvSpPr txBox="1"/>
          <p:nvPr/>
        </p:nvSpPr>
        <p:spPr>
          <a:xfrm>
            <a:off x="5006975" y="59785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2382085" name="Text Box 261"/>
          <p:cNvSpPr txBox="1"/>
          <p:nvPr/>
        </p:nvSpPr>
        <p:spPr>
          <a:xfrm>
            <a:off x="5299075" y="59848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2382086" name="Text Box 262"/>
          <p:cNvSpPr txBox="1"/>
          <p:nvPr/>
        </p:nvSpPr>
        <p:spPr>
          <a:xfrm>
            <a:off x="5597525" y="59848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2382087" name="Text Box 263"/>
          <p:cNvSpPr txBox="1"/>
          <p:nvPr/>
        </p:nvSpPr>
        <p:spPr>
          <a:xfrm>
            <a:off x="5889625" y="59912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2382088" name="Line 264"/>
          <p:cNvSpPr/>
          <p:nvPr/>
        </p:nvSpPr>
        <p:spPr>
          <a:xfrm flipV="1">
            <a:off x="6205538" y="5400675"/>
            <a:ext cx="433387" cy="0"/>
          </a:xfrm>
          <a:prstGeom prst="line">
            <a:avLst/>
          </a:prstGeom>
          <a:ln w="12700" cap="flat" cmpd="sng">
            <a:solidFill>
              <a:srgbClr val="000099"/>
            </a:solidFill>
            <a:prstDash val="solid"/>
            <a:headEnd type="none" w="med" len="med"/>
            <a:tailEnd type="none" w="med" len="med"/>
          </a:ln>
        </p:spPr>
      </p:sp>
      <p:sp>
        <p:nvSpPr>
          <p:cNvPr id="2382089" name="Text Box 265"/>
          <p:cNvSpPr txBox="1"/>
          <p:nvPr/>
        </p:nvSpPr>
        <p:spPr>
          <a:xfrm>
            <a:off x="6154738" y="52054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11</a:t>
            </a:r>
            <a:endParaRPr lang="en-US" altLang="zh-CN" sz="1000" baseline="-25000" dirty="0">
              <a:solidFill>
                <a:srgbClr val="FF0000"/>
              </a:solidFill>
              <a:latin typeface="Times New Roman" panose="02020603050405020304" pitchFamily="18" charset="0"/>
            </a:endParaRPr>
          </a:p>
        </p:txBody>
      </p:sp>
      <p:sp>
        <p:nvSpPr>
          <p:cNvPr id="2382090" name="Text Box 266"/>
          <p:cNvSpPr txBox="1"/>
          <p:nvPr/>
        </p:nvSpPr>
        <p:spPr>
          <a:xfrm>
            <a:off x="6554788" y="5281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W</a:t>
            </a:r>
            <a:endParaRPr lang="en-US" altLang="zh-CN" sz="1000" baseline="-25000" dirty="0">
              <a:solidFill>
                <a:srgbClr val="FF0000"/>
              </a:solidFill>
              <a:latin typeface="Times New Roman" panose="02020603050405020304" pitchFamily="18" charset="0"/>
            </a:endParaRPr>
          </a:p>
        </p:txBody>
      </p:sp>
      <p:sp>
        <p:nvSpPr>
          <p:cNvPr id="2382091" name="Line 267"/>
          <p:cNvSpPr/>
          <p:nvPr/>
        </p:nvSpPr>
        <p:spPr>
          <a:xfrm>
            <a:off x="3276600" y="1771650"/>
            <a:ext cx="0" cy="1414463"/>
          </a:xfrm>
          <a:prstGeom prst="line">
            <a:avLst/>
          </a:prstGeom>
          <a:ln w="12700" cap="flat" cmpd="sng">
            <a:solidFill>
              <a:srgbClr val="000099"/>
            </a:solidFill>
            <a:prstDash val="solid"/>
            <a:headEnd type="none" w="med" len="med"/>
            <a:tailEnd type="none" w="med" len="med"/>
          </a:ln>
        </p:spPr>
      </p:sp>
      <p:sp>
        <p:nvSpPr>
          <p:cNvPr id="2382092" name="Oval 268"/>
          <p:cNvSpPr/>
          <p:nvPr/>
        </p:nvSpPr>
        <p:spPr>
          <a:xfrm>
            <a:off x="3614738" y="3186113"/>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94" name="Oval 270"/>
          <p:cNvSpPr/>
          <p:nvPr/>
        </p:nvSpPr>
        <p:spPr>
          <a:xfrm>
            <a:off x="3986213" y="318293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96" name="Oval 272"/>
          <p:cNvSpPr/>
          <p:nvPr/>
        </p:nvSpPr>
        <p:spPr>
          <a:xfrm>
            <a:off x="4352925" y="318135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97" name="Oval 273"/>
          <p:cNvSpPr/>
          <p:nvPr/>
        </p:nvSpPr>
        <p:spPr>
          <a:xfrm>
            <a:off x="4724400" y="3178175"/>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099" name="Oval 275"/>
          <p:cNvSpPr/>
          <p:nvPr/>
        </p:nvSpPr>
        <p:spPr>
          <a:xfrm>
            <a:off x="5089525" y="3178175"/>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100" name="Line 276"/>
          <p:cNvSpPr/>
          <p:nvPr/>
        </p:nvSpPr>
        <p:spPr>
          <a:xfrm>
            <a:off x="4383088" y="3009900"/>
            <a:ext cx="0" cy="168275"/>
          </a:xfrm>
          <a:prstGeom prst="line">
            <a:avLst/>
          </a:prstGeom>
          <a:ln w="12700" cap="flat" cmpd="sng">
            <a:solidFill>
              <a:srgbClr val="000099"/>
            </a:solidFill>
            <a:prstDash val="solid"/>
            <a:headEnd type="none" w="med" len="med"/>
            <a:tailEnd type="none" w="med" len="med"/>
          </a:ln>
        </p:spPr>
      </p:sp>
      <p:sp>
        <p:nvSpPr>
          <p:cNvPr id="2382101" name="Line 277"/>
          <p:cNvSpPr/>
          <p:nvPr/>
        </p:nvSpPr>
        <p:spPr>
          <a:xfrm flipH="1">
            <a:off x="3644900" y="3243263"/>
            <a:ext cx="1588" cy="1004887"/>
          </a:xfrm>
          <a:prstGeom prst="line">
            <a:avLst/>
          </a:prstGeom>
          <a:ln w="12700" cap="flat" cmpd="sng">
            <a:solidFill>
              <a:srgbClr val="000099"/>
            </a:solidFill>
            <a:prstDash val="solid"/>
            <a:headEnd type="none" w="med" len="med"/>
            <a:tailEnd type="none" w="med" len="med"/>
          </a:ln>
        </p:spPr>
      </p:sp>
      <p:sp>
        <p:nvSpPr>
          <p:cNvPr id="2382102" name="Line 278"/>
          <p:cNvSpPr/>
          <p:nvPr/>
        </p:nvSpPr>
        <p:spPr>
          <a:xfrm>
            <a:off x="4383088" y="3243263"/>
            <a:ext cx="0" cy="647700"/>
          </a:xfrm>
          <a:prstGeom prst="line">
            <a:avLst/>
          </a:prstGeom>
          <a:ln w="12700" cap="flat" cmpd="sng">
            <a:solidFill>
              <a:srgbClr val="000099"/>
            </a:solidFill>
            <a:prstDash val="solid"/>
            <a:headEnd type="none" w="med" len="med"/>
            <a:tailEnd type="none" w="med" len="med"/>
          </a:ln>
        </p:spPr>
      </p:sp>
      <p:sp>
        <p:nvSpPr>
          <p:cNvPr id="2382103" name="Line 279"/>
          <p:cNvSpPr/>
          <p:nvPr/>
        </p:nvSpPr>
        <p:spPr>
          <a:xfrm flipV="1">
            <a:off x="3132138" y="3594100"/>
            <a:ext cx="0" cy="1898650"/>
          </a:xfrm>
          <a:prstGeom prst="line">
            <a:avLst/>
          </a:prstGeom>
          <a:ln w="12700" cap="flat" cmpd="sng">
            <a:solidFill>
              <a:srgbClr val="000099"/>
            </a:solidFill>
            <a:prstDash val="solid"/>
            <a:headEnd type="none" w="med" len="med"/>
            <a:tailEnd type="none" w="med" len="med"/>
          </a:ln>
        </p:spPr>
      </p:sp>
      <p:sp>
        <p:nvSpPr>
          <p:cNvPr id="2382104" name="Line 280"/>
          <p:cNvSpPr/>
          <p:nvPr/>
        </p:nvSpPr>
        <p:spPr>
          <a:xfrm flipV="1">
            <a:off x="3128963" y="3594100"/>
            <a:ext cx="1630362" cy="0"/>
          </a:xfrm>
          <a:prstGeom prst="line">
            <a:avLst/>
          </a:prstGeom>
          <a:ln w="12700" cap="flat" cmpd="sng">
            <a:solidFill>
              <a:srgbClr val="000099"/>
            </a:solidFill>
            <a:prstDash val="solid"/>
            <a:headEnd type="none" w="med" len="med"/>
            <a:tailEnd type="none" w="med" len="med"/>
          </a:ln>
        </p:spPr>
      </p:sp>
      <p:sp>
        <p:nvSpPr>
          <p:cNvPr id="2382105" name="Line 281"/>
          <p:cNvSpPr/>
          <p:nvPr/>
        </p:nvSpPr>
        <p:spPr>
          <a:xfrm>
            <a:off x="4756150" y="3248025"/>
            <a:ext cx="0" cy="342900"/>
          </a:xfrm>
          <a:prstGeom prst="line">
            <a:avLst/>
          </a:prstGeom>
          <a:ln w="12700" cap="flat" cmpd="sng">
            <a:solidFill>
              <a:srgbClr val="000099"/>
            </a:solidFill>
            <a:prstDash val="solid"/>
            <a:headEnd type="none" w="med" len="med"/>
            <a:tailEnd type="none" w="med" len="med"/>
          </a:ln>
        </p:spPr>
      </p:sp>
      <p:sp>
        <p:nvSpPr>
          <p:cNvPr id="2382106" name="Line 282"/>
          <p:cNvSpPr/>
          <p:nvPr/>
        </p:nvSpPr>
        <p:spPr>
          <a:xfrm>
            <a:off x="4016375" y="3251200"/>
            <a:ext cx="0" cy="982663"/>
          </a:xfrm>
          <a:prstGeom prst="line">
            <a:avLst/>
          </a:prstGeom>
          <a:ln w="12700" cap="flat" cmpd="sng">
            <a:solidFill>
              <a:srgbClr val="000099"/>
            </a:solidFill>
            <a:prstDash val="solid"/>
            <a:headEnd type="none" w="med" len="med"/>
            <a:tailEnd type="none" w="med" len="med"/>
          </a:ln>
        </p:spPr>
      </p:sp>
      <p:sp>
        <p:nvSpPr>
          <p:cNvPr id="2382107" name="Line 283"/>
          <p:cNvSpPr/>
          <p:nvPr/>
        </p:nvSpPr>
        <p:spPr>
          <a:xfrm>
            <a:off x="4016375" y="4233863"/>
            <a:ext cx="1425575" cy="0"/>
          </a:xfrm>
          <a:prstGeom prst="line">
            <a:avLst/>
          </a:prstGeom>
          <a:ln w="12700" cap="flat" cmpd="sng">
            <a:solidFill>
              <a:srgbClr val="000099"/>
            </a:solidFill>
            <a:prstDash val="solid"/>
            <a:headEnd type="none" w="med" len="med"/>
            <a:tailEnd type="none" w="med" len="med"/>
          </a:ln>
        </p:spPr>
      </p:sp>
      <p:sp>
        <p:nvSpPr>
          <p:cNvPr id="2382108" name="Line 284"/>
          <p:cNvSpPr/>
          <p:nvPr/>
        </p:nvSpPr>
        <p:spPr>
          <a:xfrm>
            <a:off x="4383088" y="3883025"/>
            <a:ext cx="769937" cy="0"/>
          </a:xfrm>
          <a:prstGeom prst="line">
            <a:avLst/>
          </a:prstGeom>
          <a:ln w="12700" cap="flat" cmpd="sng">
            <a:solidFill>
              <a:srgbClr val="000099"/>
            </a:solidFill>
            <a:prstDash val="solid"/>
            <a:headEnd type="none" w="med" len="med"/>
            <a:tailEnd type="none" w="med" len="med"/>
          </a:ln>
        </p:spPr>
      </p:sp>
      <p:sp>
        <p:nvSpPr>
          <p:cNvPr id="2382109" name="Line 285"/>
          <p:cNvSpPr/>
          <p:nvPr/>
        </p:nvSpPr>
        <p:spPr>
          <a:xfrm>
            <a:off x="5119688" y="3243263"/>
            <a:ext cx="0" cy="342900"/>
          </a:xfrm>
          <a:prstGeom prst="line">
            <a:avLst/>
          </a:prstGeom>
          <a:ln w="12700" cap="flat" cmpd="sng">
            <a:solidFill>
              <a:srgbClr val="000099"/>
            </a:solidFill>
            <a:prstDash val="solid"/>
            <a:headEnd type="none" w="med" len="med"/>
            <a:tailEnd type="none" w="med" len="med"/>
          </a:ln>
        </p:spPr>
      </p:sp>
      <p:sp>
        <p:nvSpPr>
          <p:cNvPr id="2382110" name="Line 286"/>
          <p:cNvSpPr/>
          <p:nvPr/>
        </p:nvSpPr>
        <p:spPr>
          <a:xfrm>
            <a:off x="5116513" y="3586163"/>
            <a:ext cx="627062" cy="0"/>
          </a:xfrm>
          <a:prstGeom prst="line">
            <a:avLst/>
          </a:prstGeom>
          <a:ln w="12700" cap="flat" cmpd="sng">
            <a:solidFill>
              <a:srgbClr val="000099"/>
            </a:solidFill>
            <a:prstDash val="solid"/>
            <a:headEnd type="none" w="med" len="med"/>
            <a:tailEnd type="none" w="med" len="med"/>
          </a:ln>
        </p:spPr>
      </p:sp>
      <p:sp>
        <p:nvSpPr>
          <p:cNvPr id="2382111" name="Line 287"/>
          <p:cNvSpPr/>
          <p:nvPr/>
        </p:nvSpPr>
        <p:spPr>
          <a:xfrm>
            <a:off x="4862513" y="4484688"/>
            <a:ext cx="1166812" cy="0"/>
          </a:xfrm>
          <a:prstGeom prst="line">
            <a:avLst/>
          </a:prstGeom>
          <a:ln w="12700" cap="flat" cmpd="sng">
            <a:solidFill>
              <a:srgbClr val="000099"/>
            </a:solidFill>
            <a:prstDash val="solid"/>
            <a:headEnd type="none" w="med" len="med"/>
            <a:tailEnd type="none" w="med" len="med"/>
          </a:ln>
        </p:spPr>
      </p:sp>
      <p:sp>
        <p:nvSpPr>
          <p:cNvPr id="2382112" name="Line 288"/>
          <p:cNvSpPr/>
          <p:nvPr/>
        </p:nvSpPr>
        <p:spPr>
          <a:xfrm>
            <a:off x="6022975" y="2763838"/>
            <a:ext cx="0" cy="1717675"/>
          </a:xfrm>
          <a:prstGeom prst="line">
            <a:avLst/>
          </a:prstGeom>
          <a:ln w="12700" cap="flat" cmpd="sng">
            <a:solidFill>
              <a:srgbClr val="000099"/>
            </a:solidFill>
            <a:prstDash val="solid"/>
            <a:headEnd type="none" w="med" len="med"/>
            <a:tailEnd type="none" w="med" len="med"/>
          </a:ln>
        </p:spPr>
      </p:sp>
      <p:sp>
        <p:nvSpPr>
          <p:cNvPr id="2382113" name="Line 289"/>
          <p:cNvSpPr/>
          <p:nvPr/>
        </p:nvSpPr>
        <p:spPr>
          <a:xfrm>
            <a:off x="3276600" y="2763838"/>
            <a:ext cx="2752725" cy="0"/>
          </a:xfrm>
          <a:prstGeom prst="line">
            <a:avLst/>
          </a:prstGeom>
          <a:ln w="12700" cap="flat" cmpd="sng">
            <a:solidFill>
              <a:srgbClr val="000099"/>
            </a:solidFill>
            <a:prstDash val="solid"/>
            <a:headEnd type="none" w="med" len="med"/>
            <a:tailEnd type="none" w="med" len="med"/>
          </a:ln>
        </p:spPr>
      </p:sp>
      <p:sp>
        <p:nvSpPr>
          <p:cNvPr id="2382114" name="Oval 290"/>
          <p:cNvSpPr/>
          <p:nvPr/>
        </p:nvSpPr>
        <p:spPr>
          <a:xfrm>
            <a:off x="3244850" y="2727325"/>
            <a:ext cx="71438" cy="71438"/>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115" name="Text Box 291"/>
          <p:cNvSpPr txBox="1"/>
          <p:nvPr/>
        </p:nvSpPr>
        <p:spPr>
          <a:xfrm>
            <a:off x="3600450"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2382116" name="Text Box 292"/>
          <p:cNvSpPr txBox="1"/>
          <p:nvPr/>
        </p:nvSpPr>
        <p:spPr>
          <a:xfrm>
            <a:off x="3971925"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2382117" name="Text Box 293"/>
          <p:cNvSpPr txBox="1"/>
          <p:nvPr/>
        </p:nvSpPr>
        <p:spPr>
          <a:xfrm>
            <a:off x="4333875"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2382118" name="Text Box 294"/>
          <p:cNvSpPr txBox="1"/>
          <p:nvPr/>
        </p:nvSpPr>
        <p:spPr>
          <a:xfrm>
            <a:off x="4722813" y="3205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2382119" name="Text Box 295"/>
          <p:cNvSpPr txBox="1"/>
          <p:nvPr/>
        </p:nvSpPr>
        <p:spPr>
          <a:xfrm>
            <a:off x="5081588" y="3205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2382120" name="Text Box 296"/>
          <p:cNvSpPr txBox="1"/>
          <p:nvPr/>
        </p:nvSpPr>
        <p:spPr>
          <a:xfrm>
            <a:off x="3222625" y="32083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2382123" name="Text Box 299"/>
          <p:cNvSpPr txBox="1"/>
          <p:nvPr/>
        </p:nvSpPr>
        <p:spPr>
          <a:xfrm>
            <a:off x="3600450" y="15954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2382124" name="Text Box 300"/>
          <p:cNvSpPr txBox="1"/>
          <p:nvPr/>
        </p:nvSpPr>
        <p:spPr>
          <a:xfrm>
            <a:off x="3492500" y="20097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2382125" name="Text Box 301"/>
          <p:cNvSpPr txBox="1"/>
          <p:nvPr/>
        </p:nvSpPr>
        <p:spPr>
          <a:xfrm>
            <a:off x="3930650" y="176212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2382126" name="Text Box 302"/>
          <p:cNvSpPr txBox="1"/>
          <p:nvPr/>
        </p:nvSpPr>
        <p:spPr>
          <a:xfrm>
            <a:off x="3798888" y="21510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2382127" name="Text Box 303"/>
          <p:cNvSpPr txBox="1"/>
          <p:nvPr/>
        </p:nvSpPr>
        <p:spPr>
          <a:xfrm>
            <a:off x="3351213" y="2338388"/>
            <a:ext cx="430212"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KA</a:t>
            </a:r>
            <a:endParaRPr lang="en-US" altLang="zh-CN" sz="1000" baseline="-25000" dirty="0">
              <a:solidFill>
                <a:srgbClr val="FF0000"/>
              </a:solidFill>
              <a:latin typeface="Times New Roman" panose="02020603050405020304" pitchFamily="18" charset="0"/>
            </a:endParaRPr>
          </a:p>
        </p:txBody>
      </p:sp>
      <p:sp>
        <p:nvSpPr>
          <p:cNvPr id="2382128" name="Text Box 304"/>
          <p:cNvSpPr txBox="1"/>
          <p:nvPr/>
        </p:nvSpPr>
        <p:spPr>
          <a:xfrm>
            <a:off x="5307013" y="3287713"/>
            <a:ext cx="430212"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KB</a:t>
            </a:r>
            <a:endParaRPr lang="en-US" altLang="zh-CN" sz="1000" baseline="-25000" dirty="0">
              <a:solidFill>
                <a:srgbClr val="FF0000"/>
              </a:solidFill>
              <a:latin typeface="Times New Roman" panose="02020603050405020304" pitchFamily="18" charset="0"/>
            </a:endParaRPr>
          </a:p>
        </p:txBody>
      </p:sp>
      <p:sp>
        <p:nvSpPr>
          <p:cNvPr id="2382129" name="Line 305"/>
          <p:cNvSpPr/>
          <p:nvPr/>
        </p:nvSpPr>
        <p:spPr>
          <a:xfrm flipH="1">
            <a:off x="3609975" y="1708150"/>
            <a:ext cx="1588" cy="273050"/>
          </a:xfrm>
          <a:prstGeom prst="line">
            <a:avLst/>
          </a:prstGeom>
          <a:ln w="50800" cap="flat" cmpd="sng">
            <a:solidFill>
              <a:srgbClr val="FF0000"/>
            </a:solidFill>
            <a:prstDash val="solid"/>
            <a:headEnd type="none" w="med" len="med"/>
            <a:tailEnd type="none" w="med" len="med"/>
          </a:ln>
        </p:spPr>
      </p:sp>
      <p:sp>
        <p:nvSpPr>
          <p:cNvPr id="2382130" name="Line 306"/>
          <p:cNvSpPr/>
          <p:nvPr/>
        </p:nvSpPr>
        <p:spPr>
          <a:xfrm flipH="1">
            <a:off x="4024313" y="1989138"/>
            <a:ext cx="1587" cy="273050"/>
          </a:xfrm>
          <a:prstGeom prst="line">
            <a:avLst/>
          </a:prstGeom>
          <a:ln w="50800" cap="flat" cmpd="sng">
            <a:solidFill>
              <a:srgbClr val="FF0000"/>
            </a:solidFill>
            <a:prstDash val="solid"/>
            <a:headEnd type="none" w="med" len="med"/>
            <a:tailEnd type="none" w="med" len="med"/>
          </a:ln>
        </p:spPr>
      </p:sp>
      <p:sp>
        <p:nvSpPr>
          <p:cNvPr id="2382131" name="Line 307"/>
          <p:cNvSpPr/>
          <p:nvPr/>
        </p:nvSpPr>
        <p:spPr>
          <a:xfrm flipH="1">
            <a:off x="3643313" y="3216275"/>
            <a:ext cx="377825" cy="0"/>
          </a:xfrm>
          <a:prstGeom prst="line">
            <a:avLst/>
          </a:prstGeom>
          <a:ln w="50800" cap="flat" cmpd="sng">
            <a:solidFill>
              <a:srgbClr val="FF0000"/>
            </a:solidFill>
            <a:prstDash val="solid"/>
            <a:headEnd type="none" w="med" len="med"/>
            <a:tailEnd type="none" w="med" len="med"/>
          </a:ln>
        </p:spPr>
      </p:sp>
      <p:sp>
        <p:nvSpPr>
          <p:cNvPr id="2382132" name="Line 308"/>
          <p:cNvSpPr/>
          <p:nvPr/>
        </p:nvSpPr>
        <p:spPr>
          <a:xfrm flipH="1">
            <a:off x="4749800" y="3208338"/>
            <a:ext cx="377825" cy="0"/>
          </a:xfrm>
          <a:prstGeom prst="line">
            <a:avLst/>
          </a:prstGeom>
          <a:ln w="50800" cap="flat" cmpd="sng">
            <a:solidFill>
              <a:srgbClr val="FF0000"/>
            </a:solidFill>
            <a:prstDash val="solid"/>
            <a:headEnd type="none" w="med" len="med"/>
            <a:tailEnd type="none" w="med" len="med"/>
          </a:ln>
        </p:spPr>
      </p:sp>
      <p:sp>
        <p:nvSpPr>
          <p:cNvPr id="2382133" name="Text Box 309"/>
          <p:cNvSpPr txBox="1"/>
          <p:nvPr/>
        </p:nvSpPr>
        <p:spPr>
          <a:xfrm>
            <a:off x="144463" y="1714500"/>
            <a:ext cx="939800" cy="284163"/>
          </a:xfrm>
          <a:prstGeom prst="rect">
            <a:avLst/>
          </a:prstGeom>
          <a:noFill/>
          <a:ln w="9525">
            <a:noFill/>
          </a:ln>
        </p:spPr>
        <p:txBody>
          <a:bodyPr>
            <a:spAutoFit/>
          </a:bodyPr>
          <a:p>
            <a:pPr eaLnBrk="1" hangingPunct="1">
              <a:lnSpc>
                <a:spcPct val="90000"/>
              </a:lnSpc>
              <a:spcBef>
                <a:spcPct val="50000"/>
              </a:spcBef>
            </a:pPr>
            <a:r>
              <a:rPr lang="en-US" altLang="zh-CN" sz="1400" dirty="0">
                <a:solidFill>
                  <a:srgbClr val="3333FF"/>
                </a:solidFill>
                <a:latin typeface="Times New Roman" panose="02020603050405020304" pitchFamily="18" charset="0"/>
              </a:rPr>
              <a:t>CD4051</a:t>
            </a:r>
            <a:endParaRPr lang="en-US" altLang="zh-CN" sz="1400" dirty="0">
              <a:solidFill>
                <a:srgbClr val="3333FF"/>
              </a:solidFill>
              <a:latin typeface="Times New Roman" panose="02020603050405020304" pitchFamily="18" charset="0"/>
            </a:endParaRPr>
          </a:p>
        </p:txBody>
      </p:sp>
      <p:sp>
        <p:nvSpPr>
          <p:cNvPr id="2382134" name="Line 310"/>
          <p:cNvSpPr/>
          <p:nvPr/>
        </p:nvSpPr>
        <p:spPr>
          <a:xfrm flipH="1">
            <a:off x="400050" y="3101975"/>
            <a:ext cx="900113" cy="0"/>
          </a:xfrm>
          <a:prstGeom prst="line">
            <a:avLst/>
          </a:prstGeom>
          <a:ln w="19050" cap="flat" cmpd="sng">
            <a:solidFill>
              <a:srgbClr val="00FF00"/>
            </a:solidFill>
            <a:prstDash val="dash"/>
            <a:headEnd type="none" w="med" len="med"/>
            <a:tailEnd type="none" w="med" len="med"/>
          </a:ln>
        </p:spPr>
      </p:sp>
      <p:sp>
        <p:nvSpPr>
          <p:cNvPr id="2382195" name="Oval 371"/>
          <p:cNvSpPr/>
          <p:nvPr/>
        </p:nvSpPr>
        <p:spPr>
          <a:xfrm>
            <a:off x="207963" y="3436938"/>
            <a:ext cx="396875" cy="396875"/>
          </a:xfrm>
          <a:prstGeom prst="ellipse">
            <a:avLst/>
          </a:prstGeom>
          <a:noFill/>
          <a:ln w="12700"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196" name="Text Box 372"/>
          <p:cNvSpPr txBox="1"/>
          <p:nvPr/>
        </p:nvSpPr>
        <p:spPr>
          <a:xfrm>
            <a:off x="149225" y="3479800"/>
            <a:ext cx="490538" cy="284163"/>
          </a:xfrm>
          <a:prstGeom prst="rect">
            <a:avLst/>
          </a:prstGeom>
          <a:noFill/>
          <a:ln w="9525">
            <a:noFill/>
          </a:ln>
        </p:spPr>
        <p:txBody>
          <a:bodyPr wrap="none">
            <a:spAutoFit/>
          </a:bodyPr>
          <a:p>
            <a:pPr eaLnBrk="1" hangingPunct="1">
              <a:lnSpc>
                <a:spcPct val="90000"/>
              </a:lnSpc>
            </a:pPr>
            <a:r>
              <a:rPr lang="en-US" altLang="zh-CN" sz="1400" i="1" dirty="0">
                <a:solidFill>
                  <a:srgbClr val="00FF00"/>
                </a:solidFill>
                <a:latin typeface="Times New Roman" panose="02020603050405020304" pitchFamily="18" charset="0"/>
              </a:rPr>
              <a:t>U</a:t>
            </a:r>
            <a:r>
              <a:rPr lang="en-US" altLang="zh-CN" sz="1400" baseline="-25000" dirty="0">
                <a:solidFill>
                  <a:srgbClr val="00FF00"/>
                </a:solidFill>
                <a:latin typeface="Times New Roman" panose="02020603050405020304" pitchFamily="18" charset="0"/>
              </a:rPr>
              <a:t>S11</a:t>
            </a:r>
            <a:endParaRPr lang="en-US" altLang="zh-CN" sz="1400" baseline="-25000" dirty="0">
              <a:solidFill>
                <a:srgbClr val="00FF00"/>
              </a:solidFill>
              <a:latin typeface="Times New Roman" panose="02020603050405020304" pitchFamily="18" charset="0"/>
            </a:endParaRPr>
          </a:p>
        </p:txBody>
      </p:sp>
      <p:sp>
        <p:nvSpPr>
          <p:cNvPr id="2382213" name="Line 389"/>
          <p:cNvSpPr/>
          <p:nvPr/>
        </p:nvSpPr>
        <p:spPr>
          <a:xfrm flipV="1">
            <a:off x="400050" y="3097213"/>
            <a:ext cx="0" cy="330200"/>
          </a:xfrm>
          <a:prstGeom prst="line">
            <a:avLst/>
          </a:prstGeom>
          <a:ln w="19050" cap="flat" cmpd="sng">
            <a:solidFill>
              <a:srgbClr val="00FF00"/>
            </a:solidFill>
            <a:prstDash val="dash"/>
            <a:headEnd type="none" w="med" len="med"/>
            <a:tailEnd type="none" w="med" len="med"/>
          </a:ln>
        </p:spPr>
      </p:sp>
      <p:sp>
        <p:nvSpPr>
          <p:cNvPr id="2382214" name="Line 390"/>
          <p:cNvSpPr/>
          <p:nvPr/>
        </p:nvSpPr>
        <p:spPr>
          <a:xfrm flipV="1">
            <a:off x="403225" y="3830638"/>
            <a:ext cx="0" cy="254000"/>
          </a:xfrm>
          <a:prstGeom prst="line">
            <a:avLst/>
          </a:prstGeom>
          <a:ln w="19050" cap="flat" cmpd="sng">
            <a:solidFill>
              <a:srgbClr val="00FF00"/>
            </a:solidFill>
            <a:prstDash val="dash"/>
            <a:headEnd type="none" w="med" len="med"/>
            <a:tailEnd type="none" w="med" len="med"/>
          </a:ln>
        </p:spPr>
      </p:sp>
      <p:sp>
        <p:nvSpPr>
          <p:cNvPr id="2382215" name="Line 391"/>
          <p:cNvSpPr/>
          <p:nvPr/>
        </p:nvSpPr>
        <p:spPr>
          <a:xfrm flipH="1">
            <a:off x="244475" y="4081463"/>
            <a:ext cx="317500" cy="0"/>
          </a:xfrm>
          <a:prstGeom prst="line">
            <a:avLst/>
          </a:prstGeom>
          <a:ln w="19050" cap="flat" cmpd="sng">
            <a:solidFill>
              <a:srgbClr val="00FF00"/>
            </a:solidFill>
            <a:prstDash val="solid"/>
            <a:headEnd type="none" w="med" len="med"/>
            <a:tailEnd type="none" w="med" len="med"/>
          </a:ln>
        </p:spPr>
      </p:sp>
      <p:sp>
        <p:nvSpPr>
          <p:cNvPr id="2382217" name="Line 393"/>
          <p:cNvSpPr/>
          <p:nvPr/>
        </p:nvSpPr>
        <p:spPr>
          <a:xfrm>
            <a:off x="1841500" y="2763838"/>
            <a:ext cx="107950" cy="0"/>
          </a:xfrm>
          <a:prstGeom prst="line">
            <a:avLst/>
          </a:prstGeom>
          <a:ln w="19050" cap="flat" cmpd="sng">
            <a:solidFill>
              <a:srgbClr val="00FF00"/>
            </a:solidFill>
            <a:prstDash val="solid"/>
            <a:headEnd type="none" w="med" len="med"/>
            <a:tailEnd type="none" w="med" len="med"/>
          </a:ln>
        </p:spPr>
      </p:sp>
      <p:sp>
        <p:nvSpPr>
          <p:cNvPr id="2382218" name="Line 394"/>
          <p:cNvSpPr/>
          <p:nvPr/>
        </p:nvSpPr>
        <p:spPr>
          <a:xfrm flipV="1">
            <a:off x="1946275" y="1524000"/>
            <a:ext cx="3175" cy="1233488"/>
          </a:xfrm>
          <a:prstGeom prst="line">
            <a:avLst/>
          </a:prstGeom>
          <a:ln w="19050" cap="flat" cmpd="sng">
            <a:solidFill>
              <a:srgbClr val="00FF00"/>
            </a:solidFill>
            <a:prstDash val="solid"/>
            <a:headEnd type="none" w="med" len="med"/>
            <a:tailEnd type="none" w="med" len="med"/>
          </a:ln>
        </p:spPr>
      </p:sp>
      <p:sp>
        <p:nvSpPr>
          <p:cNvPr id="2382219" name="Line 395"/>
          <p:cNvSpPr/>
          <p:nvPr/>
        </p:nvSpPr>
        <p:spPr>
          <a:xfrm flipV="1">
            <a:off x="1944688" y="1522413"/>
            <a:ext cx="2697162" cy="1587"/>
          </a:xfrm>
          <a:prstGeom prst="line">
            <a:avLst/>
          </a:prstGeom>
          <a:ln w="19050" cap="flat" cmpd="sng">
            <a:solidFill>
              <a:srgbClr val="00FF00"/>
            </a:solidFill>
            <a:prstDash val="solid"/>
            <a:headEnd type="none" w="med" len="med"/>
            <a:tailEnd type="none" w="med" len="med"/>
          </a:ln>
        </p:spPr>
      </p:sp>
      <p:sp>
        <p:nvSpPr>
          <p:cNvPr id="2382220" name="Line 396"/>
          <p:cNvSpPr/>
          <p:nvPr/>
        </p:nvSpPr>
        <p:spPr>
          <a:xfrm>
            <a:off x="4016375" y="1987550"/>
            <a:ext cx="630238" cy="3175"/>
          </a:xfrm>
          <a:prstGeom prst="line">
            <a:avLst/>
          </a:prstGeom>
          <a:ln w="19050" cap="flat" cmpd="sng">
            <a:solidFill>
              <a:srgbClr val="00FF00"/>
            </a:solidFill>
            <a:prstDash val="solid"/>
            <a:headEnd type="none" w="med" len="med"/>
            <a:tailEnd type="none" w="med" len="med"/>
          </a:ln>
        </p:spPr>
      </p:sp>
      <p:sp>
        <p:nvSpPr>
          <p:cNvPr id="2382221" name="Line 397"/>
          <p:cNvSpPr/>
          <p:nvPr/>
        </p:nvSpPr>
        <p:spPr>
          <a:xfrm flipV="1">
            <a:off x="4025900" y="1981200"/>
            <a:ext cx="0" cy="565150"/>
          </a:xfrm>
          <a:prstGeom prst="line">
            <a:avLst/>
          </a:prstGeom>
          <a:ln w="19050" cap="flat" cmpd="sng">
            <a:solidFill>
              <a:srgbClr val="00FF00"/>
            </a:solidFill>
            <a:prstDash val="solid"/>
            <a:headEnd type="none" w="med" len="med"/>
            <a:tailEnd type="none" w="med" len="med"/>
          </a:ln>
        </p:spPr>
      </p:sp>
      <p:sp>
        <p:nvSpPr>
          <p:cNvPr id="2382222" name="Line 398"/>
          <p:cNvSpPr/>
          <p:nvPr/>
        </p:nvSpPr>
        <p:spPr>
          <a:xfrm flipH="1">
            <a:off x="3867150" y="2543175"/>
            <a:ext cx="317500" cy="0"/>
          </a:xfrm>
          <a:prstGeom prst="line">
            <a:avLst/>
          </a:prstGeom>
          <a:ln w="19050" cap="flat" cmpd="sng">
            <a:solidFill>
              <a:srgbClr val="00FF00"/>
            </a:solidFill>
            <a:prstDash val="solid"/>
            <a:headEnd type="none" w="med" len="med"/>
            <a:tailEnd type="none" w="med" len="med"/>
          </a:ln>
        </p:spPr>
      </p:sp>
      <p:sp>
        <p:nvSpPr>
          <p:cNvPr id="2382223" name="Line 399"/>
          <p:cNvSpPr/>
          <p:nvPr/>
        </p:nvSpPr>
        <p:spPr>
          <a:xfrm flipH="1">
            <a:off x="1300163" y="2765425"/>
            <a:ext cx="547687" cy="339725"/>
          </a:xfrm>
          <a:prstGeom prst="line">
            <a:avLst/>
          </a:prstGeom>
          <a:ln w="19050" cap="flat" cmpd="sng">
            <a:solidFill>
              <a:srgbClr val="00FF00"/>
            </a:solidFill>
            <a:prstDash val="dash"/>
            <a:headEnd type="none" w="med" len="med"/>
            <a:tailEnd type="none" w="med" len="med"/>
          </a:ln>
        </p:spPr>
      </p:sp>
      <p:sp>
        <p:nvSpPr>
          <p:cNvPr id="2382224" name="Line 400"/>
          <p:cNvSpPr/>
          <p:nvPr/>
        </p:nvSpPr>
        <p:spPr>
          <a:xfrm flipH="1">
            <a:off x="396875" y="4340225"/>
            <a:ext cx="900113" cy="0"/>
          </a:xfrm>
          <a:prstGeom prst="line">
            <a:avLst/>
          </a:prstGeom>
          <a:ln w="19050" cap="flat" cmpd="sng">
            <a:solidFill>
              <a:srgbClr val="00FF00"/>
            </a:solidFill>
            <a:prstDash val="dash"/>
            <a:headEnd type="none" w="med" len="med"/>
            <a:tailEnd type="none" w="med" len="med"/>
          </a:ln>
        </p:spPr>
      </p:sp>
      <p:sp>
        <p:nvSpPr>
          <p:cNvPr id="2382225" name="Oval 401"/>
          <p:cNvSpPr/>
          <p:nvPr/>
        </p:nvSpPr>
        <p:spPr>
          <a:xfrm>
            <a:off x="204788" y="4675188"/>
            <a:ext cx="396875" cy="396875"/>
          </a:xfrm>
          <a:prstGeom prst="ellipse">
            <a:avLst/>
          </a:prstGeom>
          <a:noFill/>
          <a:ln w="12700"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382226" name="Text Box 402"/>
          <p:cNvSpPr txBox="1"/>
          <p:nvPr/>
        </p:nvSpPr>
        <p:spPr>
          <a:xfrm>
            <a:off x="153988" y="4722813"/>
            <a:ext cx="490537" cy="284162"/>
          </a:xfrm>
          <a:prstGeom prst="rect">
            <a:avLst/>
          </a:prstGeom>
          <a:noFill/>
          <a:ln w="9525">
            <a:noFill/>
          </a:ln>
        </p:spPr>
        <p:txBody>
          <a:bodyPr wrap="none">
            <a:spAutoFit/>
          </a:bodyPr>
          <a:p>
            <a:pPr eaLnBrk="1" hangingPunct="1">
              <a:lnSpc>
                <a:spcPct val="90000"/>
              </a:lnSpc>
            </a:pPr>
            <a:r>
              <a:rPr lang="en-US" altLang="zh-CN" sz="1400" i="1" dirty="0">
                <a:solidFill>
                  <a:srgbClr val="00FF00"/>
                </a:solidFill>
                <a:latin typeface="Times New Roman" panose="02020603050405020304" pitchFamily="18" charset="0"/>
              </a:rPr>
              <a:t>U</a:t>
            </a:r>
            <a:r>
              <a:rPr lang="en-US" altLang="zh-CN" sz="1400" baseline="-25000" dirty="0">
                <a:solidFill>
                  <a:srgbClr val="00FF00"/>
                </a:solidFill>
                <a:latin typeface="Times New Roman" panose="02020603050405020304" pitchFamily="18" charset="0"/>
              </a:rPr>
              <a:t>S19</a:t>
            </a:r>
            <a:endParaRPr lang="en-US" altLang="zh-CN" sz="1400" baseline="-25000" dirty="0">
              <a:solidFill>
                <a:srgbClr val="00FF00"/>
              </a:solidFill>
              <a:latin typeface="Times New Roman" panose="02020603050405020304" pitchFamily="18" charset="0"/>
            </a:endParaRPr>
          </a:p>
        </p:txBody>
      </p:sp>
      <p:sp>
        <p:nvSpPr>
          <p:cNvPr id="2382227" name="Line 403"/>
          <p:cNvSpPr/>
          <p:nvPr/>
        </p:nvSpPr>
        <p:spPr>
          <a:xfrm flipV="1">
            <a:off x="396875" y="4335463"/>
            <a:ext cx="0" cy="330200"/>
          </a:xfrm>
          <a:prstGeom prst="line">
            <a:avLst/>
          </a:prstGeom>
          <a:ln w="19050" cap="flat" cmpd="sng">
            <a:solidFill>
              <a:srgbClr val="00FF00"/>
            </a:solidFill>
            <a:prstDash val="dash"/>
            <a:headEnd type="none" w="med" len="med"/>
            <a:tailEnd type="none" w="med" len="med"/>
          </a:ln>
        </p:spPr>
      </p:sp>
      <p:sp>
        <p:nvSpPr>
          <p:cNvPr id="2382228" name="Line 404"/>
          <p:cNvSpPr/>
          <p:nvPr/>
        </p:nvSpPr>
        <p:spPr>
          <a:xfrm flipV="1">
            <a:off x="400050" y="5068888"/>
            <a:ext cx="0" cy="254000"/>
          </a:xfrm>
          <a:prstGeom prst="line">
            <a:avLst/>
          </a:prstGeom>
          <a:ln w="19050" cap="flat" cmpd="sng">
            <a:solidFill>
              <a:srgbClr val="00FF00"/>
            </a:solidFill>
            <a:prstDash val="dash"/>
            <a:headEnd type="none" w="med" len="med"/>
            <a:tailEnd type="none" w="med" len="med"/>
          </a:ln>
        </p:spPr>
      </p:sp>
      <p:sp>
        <p:nvSpPr>
          <p:cNvPr id="2382229" name="Line 405"/>
          <p:cNvSpPr/>
          <p:nvPr/>
        </p:nvSpPr>
        <p:spPr>
          <a:xfrm flipH="1">
            <a:off x="241300" y="5319713"/>
            <a:ext cx="317500" cy="0"/>
          </a:xfrm>
          <a:prstGeom prst="line">
            <a:avLst/>
          </a:prstGeom>
          <a:ln w="19050" cap="flat" cmpd="sng">
            <a:solidFill>
              <a:srgbClr val="00FF00"/>
            </a:solidFill>
            <a:prstDash val="solid"/>
            <a:headEnd type="none" w="med" len="med"/>
            <a:tailEnd type="none" w="med" len="med"/>
          </a:ln>
        </p:spPr>
      </p:sp>
      <p:sp>
        <p:nvSpPr>
          <p:cNvPr id="2382230" name="Line 406"/>
          <p:cNvSpPr/>
          <p:nvPr/>
        </p:nvSpPr>
        <p:spPr>
          <a:xfrm flipH="1">
            <a:off x="1296988" y="3987800"/>
            <a:ext cx="552450" cy="355600"/>
          </a:xfrm>
          <a:prstGeom prst="line">
            <a:avLst/>
          </a:prstGeom>
          <a:ln w="19050" cap="flat" cmpd="sng">
            <a:solidFill>
              <a:srgbClr val="00FF00"/>
            </a:solidFill>
            <a:prstDash val="dash"/>
            <a:headEnd type="none" w="med" len="med"/>
            <a:tailEnd type="none" w="med" len="med"/>
          </a:ln>
        </p:spPr>
      </p:sp>
      <p:sp>
        <p:nvSpPr>
          <p:cNvPr id="2382231" name="Line 407"/>
          <p:cNvSpPr/>
          <p:nvPr/>
        </p:nvSpPr>
        <p:spPr>
          <a:xfrm>
            <a:off x="1849438" y="3994150"/>
            <a:ext cx="1019175" cy="0"/>
          </a:xfrm>
          <a:prstGeom prst="line">
            <a:avLst/>
          </a:prstGeom>
          <a:ln w="19050" cap="flat" cmpd="sng">
            <a:solidFill>
              <a:srgbClr val="00FF00"/>
            </a:solidFill>
            <a:prstDash val="solid"/>
            <a:headEnd type="none" w="med" len="med"/>
            <a:tailEnd type="none" w="med" len="med"/>
          </a:ln>
        </p:spPr>
      </p:sp>
      <p:sp>
        <p:nvSpPr>
          <p:cNvPr id="2382232" name="Line 408"/>
          <p:cNvSpPr/>
          <p:nvPr/>
        </p:nvSpPr>
        <p:spPr>
          <a:xfrm flipH="1" flipV="1">
            <a:off x="2863850" y="1981200"/>
            <a:ext cx="0" cy="2012950"/>
          </a:xfrm>
          <a:prstGeom prst="line">
            <a:avLst/>
          </a:prstGeom>
          <a:ln w="19050" cap="flat" cmpd="sng">
            <a:solidFill>
              <a:srgbClr val="00FF00"/>
            </a:solidFill>
            <a:prstDash val="solid"/>
            <a:headEnd type="none" w="med" len="med"/>
            <a:tailEnd type="none" w="med" len="med"/>
          </a:ln>
        </p:spPr>
      </p:sp>
      <p:sp>
        <p:nvSpPr>
          <p:cNvPr id="2382233" name="Line 409"/>
          <p:cNvSpPr/>
          <p:nvPr/>
        </p:nvSpPr>
        <p:spPr>
          <a:xfrm flipV="1">
            <a:off x="2859088" y="1989138"/>
            <a:ext cx="755650" cy="1587"/>
          </a:xfrm>
          <a:prstGeom prst="line">
            <a:avLst/>
          </a:prstGeom>
          <a:ln w="19050" cap="flat" cmpd="sng">
            <a:solidFill>
              <a:srgbClr val="00FF00"/>
            </a:solidFill>
            <a:prstDash val="solid"/>
            <a:headEnd type="none" w="med" len="med"/>
            <a:tailEnd type="none" w="med" len="med"/>
          </a:ln>
        </p:spPr>
      </p:sp>
      <p:sp>
        <p:nvSpPr>
          <p:cNvPr id="2382234" name="Line 410"/>
          <p:cNvSpPr/>
          <p:nvPr/>
        </p:nvSpPr>
        <p:spPr>
          <a:xfrm flipH="1" flipV="1">
            <a:off x="3609975" y="1520825"/>
            <a:ext cx="4763" cy="477838"/>
          </a:xfrm>
          <a:prstGeom prst="line">
            <a:avLst/>
          </a:prstGeom>
          <a:ln w="19050" cap="flat" cmpd="sng">
            <a:solidFill>
              <a:srgbClr val="00FF00"/>
            </a:solidFill>
            <a:prstDash val="solid"/>
            <a:headEnd type="none" w="med" len="med"/>
            <a:tailEnd type="none" w="med" len="med"/>
          </a:ln>
        </p:spPr>
      </p:sp>
      <p:sp>
        <p:nvSpPr>
          <p:cNvPr id="2382235" name="Line 411"/>
          <p:cNvSpPr/>
          <p:nvPr/>
        </p:nvSpPr>
        <p:spPr>
          <a:xfrm>
            <a:off x="3609975" y="1525588"/>
            <a:ext cx="1030288" cy="3175"/>
          </a:xfrm>
          <a:prstGeom prst="line">
            <a:avLst/>
          </a:prstGeom>
          <a:ln w="19050" cap="flat" cmpd="sng">
            <a:solidFill>
              <a:srgbClr val="00FF00"/>
            </a:solidFill>
            <a:prstDash val="solid"/>
            <a:headEnd type="none" w="med" len="med"/>
            <a:tailEnd type="none" w="med" len="med"/>
          </a:ln>
        </p:spPr>
      </p:sp>
      <p:grpSp>
        <p:nvGrpSpPr>
          <p:cNvPr id="2382238" name="Group 414"/>
          <p:cNvGrpSpPr/>
          <p:nvPr/>
        </p:nvGrpSpPr>
        <p:grpSpPr>
          <a:xfrm>
            <a:off x="6985000" y="1346200"/>
            <a:ext cx="2068513" cy="2436813"/>
            <a:chOff x="4400" y="848"/>
            <a:chExt cx="1303" cy="1535"/>
          </a:xfrm>
        </p:grpSpPr>
        <p:sp>
          <p:nvSpPr>
            <p:cNvPr id="58637" name="Text Box 412"/>
            <p:cNvSpPr txBox="1"/>
            <p:nvPr/>
          </p:nvSpPr>
          <p:spPr>
            <a:xfrm>
              <a:off x="4400" y="848"/>
              <a:ext cx="1303" cy="1535"/>
            </a:xfrm>
            <a:prstGeom prst="rect">
              <a:avLst/>
            </a:prstGeom>
            <a:solidFill>
              <a:srgbClr val="CCFFFF"/>
            </a:solidFill>
            <a:ln w="9525">
              <a:noFill/>
            </a:ln>
          </p:spPr>
          <p:txBody>
            <a:bodyPr>
              <a:spAutoFit/>
            </a:bodyPr>
            <a:p>
              <a:pPr eaLnBrk="1" hangingPunct="1">
                <a:lnSpc>
                  <a:spcPct val="110000"/>
                </a:lnSpc>
                <a:spcBef>
                  <a:spcPct val="50000"/>
                </a:spcBef>
              </a:pP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0</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7</a:t>
              </a:r>
              <a:r>
                <a:rPr lang="zh-CN" altLang="en-US" sz="2000" dirty="0">
                  <a:latin typeface="Times New Roman" panose="02020603050405020304" pitchFamily="18" charset="0"/>
                </a:rPr>
                <a:t>与</a:t>
              </a:r>
              <a:r>
                <a:rPr lang="en-US" altLang="zh-CN" sz="2000" dirty="0">
                  <a:solidFill>
                    <a:srgbClr val="FF0000"/>
                  </a:solidFill>
                  <a:latin typeface="Times New Roman" panose="02020603050405020304" pitchFamily="18" charset="0"/>
                </a:rPr>
                <a:t>CPU</a:t>
              </a:r>
              <a:r>
                <a:rPr lang="zh-CN" altLang="en-US" sz="2000" dirty="0">
                  <a:latin typeface="Times New Roman" panose="02020603050405020304" pitchFamily="18" charset="0"/>
                </a:rPr>
                <a:t>相连，</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0</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分别作为多路开关地址线</a:t>
              </a:r>
              <a:r>
                <a:rPr lang="en-US" altLang="zh-CN" sz="2000" dirty="0">
                  <a:solidFill>
                    <a:srgbClr val="FF0000"/>
                  </a:solidFill>
                  <a:latin typeface="Times New Roman" panose="02020603050405020304" pitchFamily="18" charset="0"/>
                </a:rPr>
                <a:t>A</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B</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C</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3</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6</a:t>
              </a:r>
              <a:r>
                <a:rPr lang="zh-CN" altLang="en-US" sz="2000" dirty="0">
                  <a:latin typeface="Times New Roman" panose="02020603050405020304" pitchFamily="18" charset="0"/>
                </a:rPr>
                <a:t>分别作为</a:t>
              </a:r>
              <a:r>
                <a:rPr lang="en-US" altLang="zh-CN" sz="2000"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4</a:t>
              </a:r>
              <a:r>
                <a:rPr lang="zh-CN" altLang="en-US" sz="2000" dirty="0">
                  <a:latin typeface="Times New Roman" panose="02020603050405020304" pitchFamily="18" charset="0"/>
                </a:rPr>
                <a:t>的控制信号</a:t>
              </a:r>
              <a:r>
                <a:rPr lang="en-US" altLang="zh-CN" sz="2000" dirty="0">
                  <a:solidFill>
                    <a:srgbClr val="FF0000"/>
                  </a:solidFill>
                  <a:latin typeface="Times New Roman" panose="02020603050405020304" pitchFamily="18" charset="0"/>
                </a:rPr>
                <a:t>INH</a:t>
              </a:r>
              <a:endParaRPr lang="en-US" altLang="zh-CN" sz="2000" dirty="0">
                <a:solidFill>
                  <a:srgbClr val="FF0000"/>
                </a:solidFill>
                <a:latin typeface="Times New Roman" panose="02020603050405020304" pitchFamily="18" charset="0"/>
              </a:endParaRPr>
            </a:p>
          </p:txBody>
        </p:sp>
        <p:sp>
          <p:nvSpPr>
            <p:cNvPr id="58638" name="Line 413"/>
            <p:cNvSpPr/>
            <p:nvPr/>
          </p:nvSpPr>
          <p:spPr>
            <a:xfrm flipV="1">
              <a:off x="4626" y="2177"/>
              <a:ext cx="324" cy="0"/>
            </a:xfrm>
            <a:prstGeom prst="line">
              <a:avLst/>
            </a:prstGeom>
            <a:ln w="15875" cap="flat" cmpd="sng">
              <a:solidFill>
                <a:srgbClr val="FF0000"/>
              </a:solidFill>
              <a:prstDash val="solid"/>
              <a:headEnd type="none" w="med" len="med"/>
              <a:tailEnd type="none" w="med" len="med"/>
            </a:ln>
          </p:spPr>
        </p:sp>
      </p:grpSp>
      <p:sp>
        <p:nvSpPr>
          <p:cNvPr id="2382239" name="Text Box 415"/>
          <p:cNvSpPr txBox="1"/>
          <p:nvPr/>
        </p:nvSpPr>
        <p:spPr>
          <a:xfrm>
            <a:off x="7019925" y="4922838"/>
            <a:ext cx="1978025" cy="530225"/>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3200" dirty="0">
                <a:solidFill>
                  <a:schemeClr val="tx1"/>
                </a:solidFill>
                <a:latin typeface="Times New Roman" panose="02020603050405020304" pitchFamily="18" charset="0"/>
                <a:ea typeface="黑体" panose="02010609060101010101" pitchFamily="49" charset="-122"/>
              </a:rPr>
              <a:t>单端接法</a:t>
            </a:r>
            <a:endParaRPr lang="zh-CN" altLang="en-US" sz="32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81934"/>
                                        </p:tgtEl>
                                        <p:attrNameLst>
                                          <p:attrName>style.visibility</p:attrName>
                                        </p:attrNameLst>
                                      </p:cBhvr>
                                      <p:to>
                                        <p:strVal val="visible"/>
                                      </p:to>
                                    </p:set>
                                    <p:animEffect transition="in" filter="dissolve">
                                      <p:cBhvr>
                                        <p:cTn id="7" dur="500"/>
                                        <p:tgtEl>
                                          <p:spTgt spid="23819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2216"/>
                                        </p:tgtEl>
                                        <p:attrNameLst>
                                          <p:attrName>style.visibility</p:attrName>
                                        </p:attrNameLst>
                                      </p:cBhvr>
                                      <p:to>
                                        <p:strVal val="visible"/>
                                      </p:to>
                                    </p:set>
                                    <p:animEffect transition="in" filter="dissolve">
                                      <p:cBhvr>
                                        <p:cTn id="12" dur="500"/>
                                        <p:tgtEl>
                                          <p:spTgt spid="2382216"/>
                                        </p:tgtEl>
                                      </p:cBhvr>
                                    </p:animEffect>
                                  </p:childTnLst>
                                </p:cTn>
                              </p:par>
                              <p:par>
                                <p:cTn id="13" presetID="9" presetClass="entr" presetSubtype="0" fill="hold" nodeType="withEffect">
                                  <p:stCondLst>
                                    <p:cond delay="0"/>
                                  </p:stCondLst>
                                  <p:childTnLst>
                                    <p:set>
                                      <p:cBhvr>
                                        <p:cTn id="14" dur="1" fill="hold">
                                          <p:stCondLst>
                                            <p:cond delay="0"/>
                                          </p:stCondLst>
                                        </p:cTn>
                                        <p:tgtEl>
                                          <p:spTgt spid="2382122"/>
                                        </p:tgtEl>
                                        <p:attrNameLst>
                                          <p:attrName>style.visibility</p:attrName>
                                        </p:attrNameLst>
                                      </p:cBhvr>
                                      <p:to>
                                        <p:strVal val="visible"/>
                                      </p:to>
                                    </p:set>
                                    <p:animEffect transition="in" filter="dissolve">
                                      <p:cBhvr>
                                        <p:cTn id="15" dur="500"/>
                                        <p:tgtEl>
                                          <p:spTgt spid="2382122"/>
                                        </p:tgtEl>
                                      </p:cBhvr>
                                    </p:animEffect>
                                  </p:childTnLst>
                                </p:cTn>
                              </p:par>
                              <p:par>
                                <p:cTn id="16" presetID="9" presetClass="entr" presetSubtype="0" fill="hold" nodeType="withEffect">
                                  <p:stCondLst>
                                    <p:cond delay="0"/>
                                  </p:stCondLst>
                                  <p:childTnLst>
                                    <p:set>
                                      <p:cBhvr>
                                        <p:cTn id="17" dur="1" fill="hold">
                                          <p:stCondLst>
                                            <p:cond delay="0"/>
                                          </p:stCondLst>
                                        </p:cTn>
                                        <p:tgtEl>
                                          <p:spTgt spid="2382121"/>
                                        </p:tgtEl>
                                        <p:attrNameLst>
                                          <p:attrName>style.visibility</p:attrName>
                                        </p:attrNameLst>
                                      </p:cBhvr>
                                      <p:to>
                                        <p:strVal val="visible"/>
                                      </p:to>
                                    </p:set>
                                    <p:animEffect transition="in" filter="dissolve">
                                      <p:cBhvr>
                                        <p:cTn id="18" dur="500"/>
                                        <p:tgtEl>
                                          <p:spTgt spid="2382121"/>
                                        </p:tgtEl>
                                      </p:cBhvr>
                                    </p:animEffect>
                                  </p:childTnLst>
                                </p:cTn>
                              </p:par>
                              <p:par>
                                <p:cTn id="19" presetID="9" presetClass="entr" presetSubtype="0" fill="hold" nodeType="withEffect">
                                  <p:stCondLst>
                                    <p:cond delay="0"/>
                                  </p:stCondLst>
                                  <p:childTnLst>
                                    <p:set>
                                      <p:cBhvr>
                                        <p:cTn id="20" dur="1" fill="hold">
                                          <p:stCondLst>
                                            <p:cond delay="0"/>
                                          </p:stCondLst>
                                        </p:cTn>
                                        <p:tgtEl>
                                          <p:spTgt spid="58373"/>
                                        </p:tgtEl>
                                        <p:attrNameLst>
                                          <p:attrName>style.visibility</p:attrName>
                                        </p:attrNameLst>
                                      </p:cBhvr>
                                      <p:to>
                                        <p:strVal val="visible"/>
                                      </p:to>
                                    </p:set>
                                    <p:animEffect transition="in" filter="dissolve">
                                      <p:cBhvr>
                                        <p:cTn id="21" dur="500"/>
                                        <p:tgtEl>
                                          <p:spTgt spid="58373"/>
                                        </p:tgtEl>
                                      </p:cBhvr>
                                    </p:animEffect>
                                  </p:childTnLst>
                                </p:cTn>
                              </p:par>
                              <p:par>
                                <p:cTn id="22" presetID="9" presetClass="entr" presetSubtype="0" fill="hold" nodeType="withEffect">
                                  <p:stCondLst>
                                    <p:cond delay="0"/>
                                  </p:stCondLst>
                                  <p:childTnLst>
                                    <p:set>
                                      <p:cBhvr>
                                        <p:cTn id="23" dur="1" fill="hold">
                                          <p:stCondLst>
                                            <p:cond delay="0"/>
                                          </p:stCondLst>
                                        </p:cTn>
                                        <p:tgtEl>
                                          <p:spTgt spid="2381836"/>
                                        </p:tgtEl>
                                        <p:attrNameLst>
                                          <p:attrName>style.visibility</p:attrName>
                                        </p:attrNameLst>
                                      </p:cBhvr>
                                      <p:to>
                                        <p:strVal val="visible"/>
                                      </p:to>
                                    </p:set>
                                    <p:animEffect transition="in" filter="dissolve">
                                      <p:cBhvr>
                                        <p:cTn id="24" dur="500"/>
                                        <p:tgtEl>
                                          <p:spTgt spid="2381836"/>
                                        </p:tgtEl>
                                      </p:cBhvr>
                                    </p:animEffect>
                                  </p:childTnLst>
                                </p:cTn>
                              </p:par>
                              <p:par>
                                <p:cTn id="25" presetID="9" presetClass="entr" presetSubtype="0" fill="hold" nodeType="withEffect">
                                  <p:stCondLst>
                                    <p:cond delay="0"/>
                                  </p:stCondLst>
                                  <p:childTnLst>
                                    <p:set>
                                      <p:cBhvr>
                                        <p:cTn id="26" dur="1" fill="hold">
                                          <p:stCondLst>
                                            <p:cond delay="0"/>
                                          </p:stCondLst>
                                        </p:cTn>
                                        <p:tgtEl>
                                          <p:spTgt spid="2381848"/>
                                        </p:tgtEl>
                                        <p:attrNameLst>
                                          <p:attrName>style.visibility</p:attrName>
                                        </p:attrNameLst>
                                      </p:cBhvr>
                                      <p:to>
                                        <p:strVal val="visible"/>
                                      </p:to>
                                    </p:set>
                                    <p:animEffect transition="in" filter="dissolve">
                                      <p:cBhvr>
                                        <p:cTn id="27" dur="500"/>
                                        <p:tgtEl>
                                          <p:spTgt spid="2381848"/>
                                        </p:tgtEl>
                                      </p:cBhvr>
                                    </p:animEffect>
                                  </p:childTnLst>
                                </p:cTn>
                              </p:par>
                              <p:par>
                                <p:cTn id="28" presetID="9" presetClass="entr" presetSubtype="0" fill="hold" nodeType="withEffect">
                                  <p:stCondLst>
                                    <p:cond delay="0"/>
                                  </p:stCondLst>
                                  <p:childTnLst>
                                    <p:set>
                                      <p:cBhvr>
                                        <p:cTn id="29" dur="1" fill="hold">
                                          <p:stCondLst>
                                            <p:cond delay="0"/>
                                          </p:stCondLst>
                                        </p:cTn>
                                        <p:tgtEl>
                                          <p:spTgt spid="2381849"/>
                                        </p:tgtEl>
                                        <p:attrNameLst>
                                          <p:attrName>style.visibility</p:attrName>
                                        </p:attrNameLst>
                                      </p:cBhvr>
                                      <p:to>
                                        <p:strVal val="visible"/>
                                      </p:to>
                                    </p:set>
                                    <p:animEffect transition="in" filter="dissolve">
                                      <p:cBhvr>
                                        <p:cTn id="30" dur="500"/>
                                        <p:tgtEl>
                                          <p:spTgt spid="2381849"/>
                                        </p:tgtEl>
                                      </p:cBhvr>
                                    </p:animEffect>
                                  </p:childTnLst>
                                </p:cTn>
                              </p:par>
                              <p:par>
                                <p:cTn id="31" presetID="9" presetClass="entr" presetSubtype="0" fill="hold" nodeType="withEffect">
                                  <p:stCondLst>
                                    <p:cond delay="0"/>
                                  </p:stCondLst>
                                  <p:childTnLst>
                                    <p:set>
                                      <p:cBhvr>
                                        <p:cTn id="32" dur="1" fill="hold">
                                          <p:stCondLst>
                                            <p:cond delay="0"/>
                                          </p:stCondLst>
                                        </p:cTn>
                                        <p:tgtEl>
                                          <p:spTgt spid="2381850"/>
                                        </p:tgtEl>
                                        <p:attrNameLst>
                                          <p:attrName>style.visibility</p:attrName>
                                        </p:attrNameLst>
                                      </p:cBhvr>
                                      <p:to>
                                        <p:strVal val="visible"/>
                                      </p:to>
                                    </p:set>
                                    <p:animEffect transition="in" filter="dissolve">
                                      <p:cBhvr>
                                        <p:cTn id="33" dur="500"/>
                                        <p:tgtEl>
                                          <p:spTgt spid="2381850"/>
                                        </p:tgtEl>
                                      </p:cBhvr>
                                    </p:animEffect>
                                  </p:childTnLst>
                                </p:cTn>
                              </p:par>
                              <p:par>
                                <p:cTn id="34" presetID="9" presetClass="entr" presetSubtype="0" fill="hold" nodeType="withEffect">
                                  <p:stCondLst>
                                    <p:cond delay="0"/>
                                  </p:stCondLst>
                                  <p:childTnLst>
                                    <p:set>
                                      <p:cBhvr>
                                        <p:cTn id="35" dur="1" fill="hold">
                                          <p:stCondLst>
                                            <p:cond delay="0"/>
                                          </p:stCondLst>
                                        </p:cTn>
                                        <p:tgtEl>
                                          <p:spTgt spid="2381851"/>
                                        </p:tgtEl>
                                        <p:attrNameLst>
                                          <p:attrName>style.visibility</p:attrName>
                                        </p:attrNameLst>
                                      </p:cBhvr>
                                      <p:to>
                                        <p:strVal val="visible"/>
                                      </p:to>
                                    </p:set>
                                    <p:animEffect transition="in" filter="dissolve">
                                      <p:cBhvr>
                                        <p:cTn id="36" dur="500"/>
                                        <p:tgtEl>
                                          <p:spTgt spid="2381851"/>
                                        </p:tgtEl>
                                      </p:cBhvr>
                                    </p:animEffect>
                                  </p:childTnLst>
                                </p:cTn>
                              </p:par>
                              <p:par>
                                <p:cTn id="37" presetID="9" presetClass="entr" presetSubtype="0" fill="hold" nodeType="withEffect">
                                  <p:stCondLst>
                                    <p:cond delay="0"/>
                                  </p:stCondLst>
                                  <p:childTnLst>
                                    <p:set>
                                      <p:cBhvr>
                                        <p:cTn id="38" dur="1" fill="hold">
                                          <p:stCondLst>
                                            <p:cond delay="0"/>
                                          </p:stCondLst>
                                        </p:cTn>
                                        <p:tgtEl>
                                          <p:spTgt spid="2381852"/>
                                        </p:tgtEl>
                                        <p:attrNameLst>
                                          <p:attrName>style.visibility</p:attrName>
                                        </p:attrNameLst>
                                      </p:cBhvr>
                                      <p:to>
                                        <p:strVal val="visible"/>
                                      </p:to>
                                    </p:set>
                                    <p:animEffect transition="in" filter="dissolve">
                                      <p:cBhvr>
                                        <p:cTn id="39" dur="500"/>
                                        <p:tgtEl>
                                          <p:spTgt spid="2381852"/>
                                        </p:tgtEl>
                                      </p:cBhvr>
                                    </p:animEffect>
                                  </p:childTnLst>
                                </p:cTn>
                              </p:par>
                              <p:par>
                                <p:cTn id="40" presetID="9" presetClass="entr" presetSubtype="0" fill="hold" nodeType="withEffect">
                                  <p:stCondLst>
                                    <p:cond delay="0"/>
                                  </p:stCondLst>
                                  <p:childTnLst>
                                    <p:set>
                                      <p:cBhvr>
                                        <p:cTn id="41" dur="1" fill="hold">
                                          <p:stCondLst>
                                            <p:cond delay="0"/>
                                          </p:stCondLst>
                                        </p:cTn>
                                        <p:tgtEl>
                                          <p:spTgt spid="2381853"/>
                                        </p:tgtEl>
                                        <p:attrNameLst>
                                          <p:attrName>style.visibility</p:attrName>
                                        </p:attrNameLst>
                                      </p:cBhvr>
                                      <p:to>
                                        <p:strVal val="visible"/>
                                      </p:to>
                                    </p:set>
                                    <p:animEffect transition="in" filter="dissolve">
                                      <p:cBhvr>
                                        <p:cTn id="42" dur="500"/>
                                        <p:tgtEl>
                                          <p:spTgt spid="2381853"/>
                                        </p:tgtEl>
                                      </p:cBhvr>
                                    </p:animEffect>
                                  </p:childTnLst>
                                </p:cTn>
                              </p:par>
                              <p:par>
                                <p:cTn id="43" presetID="9" presetClass="entr" presetSubtype="0" fill="hold" nodeType="withEffect">
                                  <p:stCondLst>
                                    <p:cond delay="0"/>
                                  </p:stCondLst>
                                  <p:childTnLst>
                                    <p:set>
                                      <p:cBhvr>
                                        <p:cTn id="44" dur="1" fill="hold">
                                          <p:stCondLst>
                                            <p:cond delay="0"/>
                                          </p:stCondLst>
                                        </p:cTn>
                                        <p:tgtEl>
                                          <p:spTgt spid="2381854"/>
                                        </p:tgtEl>
                                        <p:attrNameLst>
                                          <p:attrName>style.visibility</p:attrName>
                                        </p:attrNameLst>
                                      </p:cBhvr>
                                      <p:to>
                                        <p:strVal val="visible"/>
                                      </p:to>
                                    </p:set>
                                    <p:animEffect transition="in" filter="dissolve">
                                      <p:cBhvr>
                                        <p:cTn id="45" dur="500"/>
                                        <p:tgtEl>
                                          <p:spTgt spid="2381854"/>
                                        </p:tgtEl>
                                      </p:cBhvr>
                                    </p:animEffect>
                                  </p:childTnLst>
                                </p:cTn>
                              </p:par>
                              <p:par>
                                <p:cTn id="46" presetID="9" presetClass="entr" presetSubtype="0" fill="hold" nodeType="withEffect">
                                  <p:stCondLst>
                                    <p:cond delay="0"/>
                                  </p:stCondLst>
                                  <p:childTnLst>
                                    <p:set>
                                      <p:cBhvr>
                                        <p:cTn id="47" dur="1" fill="hold">
                                          <p:stCondLst>
                                            <p:cond delay="0"/>
                                          </p:stCondLst>
                                        </p:cTn>
                                        <p:tgtEl>
                                          <p:spTgt spid="2381855"/>
                                        </p:tgtEl>
                                        <p:attrNameLst>
                                          <p:attrName>style.visibility</p:attrName>
                                        </p:attrNameLst>
                                      </p:cBhvr>
                                      <p:to>
                                        <p:strVal val="visible"/>
                                      </p:to>
                                    </p:set>
                                    <p:animEffect transition="in" filter="dissolve">
                                      <p:cBhvr>
                                        <p:cTn id="48" dur="500"/>
                                        <p:tgtEl>
                                          <p:spTgt spid="2381855"/>
                                        </p:tgtEl>
                                      </p:cBhvr>
                                    </p:animEffect>
                                  </p:childTnLst>
                                </p:cTn>
                              </p:par>
                              <p:par>
                                <p:cTn id="49" presetID="9" presetClass="entr" presetSubtype="0" fill="hold" nodeType="withEffect">
                                  <p:stCondLst>
                                    <p:cond delay="0"/>
                                  </p:stCondLst>
                                  <p:childTnLst>
                                    <p:set>
                                      <p:cBhvr>
                                        <p:cTn id="50" dur="1" fill="hold">
                                          <p:stCondLst>
                                            <p:cond delay="0"/>
                                          </p:stCondLst>
                                        </p:cTn>
                                        <p:tgtEl>
                                          <p:spTgt spid="2381856"/>
                                        </p:tgtEl>
                                        <p:attrNameLst>
                                          <p:attrName>style.visibility</p:attrName>
                                        </p:attrNameLst>
                                      </p:cBhvr>
                                      <p:to>
                                        <p:strVal val="visible"/>
                                      </p:to>
                                    </p:set>
                                    <p:animEffect transition="in" filter="dissolve">
                                      <p:cBhvr>
                                        <p:cTn id="51" dur="500"/>
                                        <p:tgtEl>
                                          <p:spTgt spid="2381856"/>
                                        </p:tgtEl>
                                      </p:cBhvr>
                                    </p:animEffect>
                                  </p:childTnLst>
                                </p:cTn>
                              </p:par>
                              <p:par>
                                <p:cTn id="52" presetID="9" presetClass="entr" presetSubtype="0" fill="hold" nodeType="withEffect">
                                  <p:stCondLst>
                                    <p:cond delay="0"/>
                                  </p:stCondLst>
                                  <p:childTnLst>
                                    <p:set>
                                      <p:cBhvr>
                                        <p:cTn id="53" dur="1" fill="hold">
                                          <p:stCondLst>
                                            <p:cond delay="0"/>
                                          </p:stCondLst>
                                        </p:cTn>
                                        <p:tgtEl>
                                          <p:spTgt spid="2381857"/>
                                        </p:tgtEl>
                                        <p:attrNameLst>
                                          <p:attrName>style.visibility</p:attrName>
                                        </p:attrNameLst>
                                      </p:cBhvr>
                                      <p:to>
                                        <p:strVal val="visible"/>
                                      </p:to>
                                    </p:set>
                                    <p:animEffect transition="in" filter="dissolve">
                                      <p:cBhvr>
                                        <p:cTn id="54" dur="500"/>
                                        <p:tgtEl>
                                          <p:spTgt spid="2381857"/>
                                        </p:tgtEl>
                                      </p:cBhvr>
                                    </p:animEffect>
                                  </p:childTnLst>
                                </p:cTn>
                              </p:par>
                              <p:par>
                                <p:cTn id="55" presetID="9" presetClass="entr" presetSubtype="0" fill="hold" nodeType="withEffect">
                                  <p:stCondLst>
                                    <p:cond delay="0"/>
                                  </p:stCondLst>
                                  <p:childTnLst>
                                    <p:set>
                                      <p:cBhvr>
                                        <p:cTn id="56" dur="1" fill="hold">
                                          <p:stCondLst>
                                            <p:cond delay="0"/>
                                          </p:stCondLst>
                                        </p:cTn>
                                        <p:tgtEl>
                                          <p:spTgt spid="2381858"/>
                                        </p:tgtEl>
                                        <p:attrNameLst>
                                          <p:attrName>style.visibility</p:attrName>
                                        </p:attrNameLst>
                                      </p:cBhvr>
                                      <p:to>
                                        <p:strVal val="visible"/>
                                      </p:to>
                                    </p:set>
                                    <p:animEffect transition="in" filter="dissolve">
                                      <p:cBhvr>
                                        <p:cTn id="57" dur="500"/>
                                        <p:tgtEl>
                                          <p:spTgt spid="2381858"/>
                                        </p:tgtEl>
                                      </p:cBhvr>
                                    </p:animEffect>
                                  </p:childTnLst>
                                </p:cTn>
                              </p:par>
                              <p:par>
                                <p:cTn id="58" presetID="9" presetClass="entr" presetSubtype="0" fill="hold" nodeType="withEffect">
                                  <p:stCondLst>
                                    <p:cond delay="0"/>
                                  </p:stCondLst>
                                  <p:childTnLst>
                                    <p:set>
                                      <p:cBhvr>
                                        <p:cTn id="59" dur="1" fill="hold">
                                          <p:stCondLst>
                                            <p:cond delay="0"/>
                                          </p:stCondLst>
                                        </p:cTn>
                                        <p:tgtEl>
                                          <p:spTgt spid="2381860"/>
                                        </p:tgtEl>
                                        <p:attrNameLst>
                                          <p:attrName>style.visibility</p:attrName>
                                        </p:attrNameLst>
                                      </p:cBhvr>
                                      <p:to>
                                        <p:strVal val="visible"/>
                                      </p:to>
                                    </p:set>
                                    <p:animEffect transition="in" filter="dissolve">
                                      <p:cBhvr>
                                        <p:cTn id="60" dur="500"/>
                                        <p:tgtEl>
                                          <p:spTgt spid="2381860"/>
                                        </p:tgtEl>
                                      </p:cBhvr>
                                    </p:animEffect>
                                  </p:childTnLst>
                                </p:cTn>
                              </p:par>
                              <p:par>
                                <p:cTn id="61" presetID="9" presetClass="entr" presetSubtype="0" fill="hold" nodeType="withEffect">
                                  <p:stCondLst>
                                    <p:cond delay="0"/>
                                  </p:stCondLst>
                                  <p:childTnLst>
                                    <p:set>
                                      <p:cBhvr>
                                        <p:cTn id="62" dur="1" fill="hold">
                                          <p:stCondLst>
                                            <p:cond delay="0"/>
                                          </p:stCondLst>
                                        </p:cTn>
                                        <p:tgtEl>
                                          <p:spTgt spid="2381861"/>
                                        </p:tgtEl>
                                        <p:attrNameLst>
                                          <p:attrName>style.visibility</p:attrName>
                                        </p:attrNameLst>
                                      </p:cBhvr>
                                      <p:to>
                                        <p:strVal val="visible"/>
                                      </p:to>
                                    </p:set>
                                    <p:animEffect transition="in" filter="dissolve">
                                      <p:cBhvr>
                                        <p:cTn id="63" dur="500"/>
                                        <p:tgtEl>
                                          <p:spTgt spid="2381861"/>
                                        </p:tgtEl>
                                      </p:cBhvr>
                                    </p:animEffect>
                                  </p:childTnLst>
                                </p:cTn>
                              </p:par>
                              <p:par>
                                <p:cTn id="64" presetID="9" presetClass="entr" presetSubtype="0" fill="hold" nodeType="withEffect">
                                  <p:stCondLst>
                                    <p:cond delay="0"/>
                                  </p:stCondLst>
                                  <p:childTnLst>
                                    <p:set>
                                      <p:cBhvr>
                                        <p:cTn id="65" dur="1" fill="hold">
                                          <p:stCondLst>
                                            <p:cond delay="0"/>
                                          </p:stCondLst>
                                        </p:cTn>
                                        <p:tgtEl>
                                          <p:spTgt spid="2381862"/>
                                        </p:tgtEl>
                                        <p:attrNameLst>
                                          <p:attrName>style.visibility</p:attrName>
                                        </p:attrNameLst>
                                      </p:cBhvr>
                                      <p:to>
                                        <p:strVal val="visible"/>
                                      </p:to>
                                    </p:set>
                                    <p:animEffect transition="in" filter="dissolve">
                                      <p:cBhvr>
                                        <p:cTn id="66" dur="500"/>
                                        <p:tgtEl>
                                          <p:spTgt spid="2381862"/>
                                        </p:tgtEl>
                                      </p:cBhvr>
                                    </p:animEffect>
                                  </p:childTnLst>
                                </p:cTn>
                              </p:par>
                              <p:par>
                                <p:cTn id="67" presetID="9" presetClass="entr" presetSubtype="0" fill="hold" nodeType="withEffect">
                                  <p:stCondLst>
                                    <p:cond delay="0"/>
                                  </p:stCondLst>
                                  <p:childTnLst>
                                    <p:set>
                                      <p:cBhvr>
                                        <p:cTn id="68" dur="1" fill="hold">
                                          <p:stCondLst>
                                            <p:cond delay="0"/>
                                          </p:stCondLst>
                                        </p:cTn>
                                        <p:tgtEl>
                                          <p:spTgt spid="2381863"/>
                                        </p:tgtEl>
                                        <p:attrNameLst>
                                          <p:attrName>style.visibility</p:attrName>
                                        </p:attrNameLst>
                                      </p:cBhvr>
                                      <p:to>
                                        <p:strVal val="visible"/>
                                      </p:to>
                                    </p:set>
                                    <p:animEffect transition="in" filter="dissolve">
                                      <p:cBhvr>
                                        <p:cTn id="69" dur="500"/>
                                        <p:tgtEl>
                                          <p:spTgt spid="2381863"/>
                                        </p:tgtEl>
                                      </p:cBhvr>
                                    </p:animEffect>
                                  </p:childTnLst>
                                </p:cTn>
                              </p:par>
                              <p:par>
                                <p:cTn id="70" presetID="9" presetClass="entr" presetSubtype="0" fill="hold" nodeType="withEffect">
                                  <p:stCondLst>
                                    <p:cond delay="0"/>
                                  </p:stCondLst>
                                  <p:childTnLst>
                                    <p:set>
                                      <p:cBhvr>
                                        <p:cTn id="71" dur="1" fill="hold">
                                          <p:stCondLst>
                                            <p:cond delay="0"/>
                                          </p:stCondLst>
                                        </p:cTn>
                                        <p:tgtEl>
                                          <p:spTgt spid="2381864"/>
                                        </p:tgtEl>
                                        <p:attrNameLst>
                                          <p:attrName>style.visibility</p:attrName>
                                        </p:attrNameLst>
                                      </p:cBhvr>
                                      <p:to>
                                        <p:strVal val="visible"/>
                                      </p:to>
                                    </p:set>
                                    <p:animEffect transition="in" filter="dissolve">
                                      <p:cBhvr>
                                        <p:cTn id="72" dur="500"/>
                                        <p:tgtEl>
                                          <p:spTgt spid="2381864"/>
                                        </p:tgtEl>
                                      </p:cBhvr>
                                    </p:animEffect>
                                  </p:childTnLst>
                                </p:cTn>
                              </p:par>
                              <p:par>
                                <p:cTn id="73" presetID="9" presetClass="entr" presetSubtype="0" fill="hold" nodeType="withEffect">
                                  <p:stCondLst>
                                    <p:cond delay="0"/>
                                  </p:stCondLst>
                                  <p:childTnLst>
                                    <p:set>
                                      <p:cBhvr>
                                        <p:cTn id="74" dur="1" fill="hold">
                                          <p:stCondLst>
                                            <p:cond delay="0"/>
                                          </p:stCondLst>
                                        </p:cTn>
                                        <p:tgtEl>
                                          <p:spTgt spid="2381865"/>
                                        </p:tgtEl>
                                        <p:attrNameLst>
                                          <p:attrName>style.visibility</p:attrName>
                                        </p:attrNameLst>
                                      </p:cBhvr>
                                      <p:to>
                                        <p:strVal val="visible"/>
                                      </p:to>
                                    </p:set>
                                    <p:animEffect transition="in" filter="dissolve">
                                      <p:cBhvr>
                                        <p:cTn id="75" dur="500"/>
                                        <p:tgtEl>
                                          <p:spTgt spid="2381865"/>
                                        </p:tgtEl>
                                      </p:cBhvr>
                                    </p:animEffect>
                                  </p:childTnLst>
                                </p:cTn>
                              </p:par>
                              <p:par>
                                <p:cTn id="76" presetID="9" presetClass="entr" presetSubtype="0" fill="hold" nodeType="withEffect">
                                  <p:stCondLst>
                                    <p:cond delay="0"/>
                                  </p:stCondLst>
                                  <p:childTnLst>
                                    <p:set>
                                      <p:cBhvr>
                                        <p:cTn id="77" dur="1" fill="hold">
                                          <p:stCondLst>
                                            <p:cond delay="0"/>
                                          </p:stCondLst>
                                        </p:cTn>
                                        <p:tgtEl>
                                          <p:spTgt spid="2381866"/>
                                        </p:tgtEl>
                                        <p:attrNameLst>
                                          <p:attrName>style.visibility</p:attrName>
                                        </p:attrNameLst>
                                      </p:cBhvr>
                                      <p:to>
                                        <p:strVal val="visible"/>
                                      </p:to>
                                    </p:set>
                                    <p:animEffect transition="in" filter="dissolve">
                                      <p:cBhvr>
                                        <p:cTn id="78" dur="500"/>
                                        <p:tgtEl>
                                          <p:spTgt spid="2381866"/>
                                        </p:tgtEl>
                                      </p:cBhvr>
                                    </p:animEffect>
                                  </p:childTnLst>
                                </p:cTn>
                              </p:par>
                              <p:par>
                                <p:cTn id="79" presetID="9" presetClass="entr" presetSubtype="0" fill="hold" nodeType="withEffect">
                                  <p:stCondLst>
                                    <p:cond delay="0"/>
                                  </p:stCondLst>
                                  <p:childTnLst>
                                    <p:set>
                                      <p:cBhvr>
                                        <p:cTn id="80" dur="1" fill="hold">
                                          <p:stCondLst>
                                            <p:cond delay="0"/>
                                          </p:stCondLst>
                                        </p:cTn>
                                        <p:tgtEl>
                                          <p:spTgt spid="2381867"/>
                                        </p:tgtEl>
                                        <p:attrNameLst>
                                          <p:attrName>style.visibility</p:attrName>
                                        </p:attrNameLst>
                                      </p:cBhvr>
                                      <p:to>
                                        <p:strVal val="visible"/>
                                      </p:to>
                                    </p:set>
                                    <p:animEffect transition="in" filter="dissolve">
                                      <p:cBhvr>
                                        <p:cTn id="81" dur="500"/>
                                        <p:tgtEl>
                                          <p:spTgt spid="2381867"/>
                                        </p:tgtEl>
                                      </p:cBhvr>
                                    </p:animEffect>
                                  </p:childTnLst>
                                </p:cTn>
                              </p:par>
                              <p:par>
                                <p:cTn id="82" presetID="9" presetClass="entr" presetSubtype="0" fill="hold" nodeType="withEffect">
                                  <p:stCondLst>
                                    <p:cond delay="0"/>
                                  </p:stCondLst>
                                  <p:childTnLst>
                                    <p:set>
                                      <p:cBhvr>
                                        <p:cTn id="83" dur="1" fill="hold">
                                          <p:stCondLst>
                                            <p:cond delay="0"/>
                                          </p:stCondLst>
                                        </p:cTn>
                                        <p:tgtEl>
                                          <p:spTgt spid="2381868"/>
                                        </p:tgtEl>
                                        <p:attrNameLst>
                                          <p:attrName>style.visibility</p:attrName>
                                        </p:attrNameLst>
                                      </p:cBhvr>
                                      <p:to>
                                        <p:strVal val="visible"/>
                                      </p:to>
                                    </p:set>
                                    <p:animEffect transition="in" filter="dissolve">
                                      <p:cBhvr>
                                        <p:cTn id="84" dur="500"/>
                                        <p:tgtEl>
                                          <p:spTgt spid="2381868"/>
                                        </p:tgtEl>
                                      </p:cBhvr>
                                    </p:animEffect>
                                  </p:childTnLst>
                                </p:cTn>
                              </p:par>
                              <p:par>
                                <p:cTn id="85" presetID="9" presetClass="entr" presetSubtype="0" fill="hold" nodeType="withEffect">
                                  <p:stCondLst>
                                    <p:cond delay="0"/>
                                  </p:stCondLst>
                                  <p:childTnLst>
                                    <p:set>
                                      <p:cBhvr>
                                        <p:cTn id="86" dur="1" fill="hold">
                                          <p:stCondLst>
                                            <p:cond delay="0"/>
                                          </p:stCondLst>
                                        </p:cTn>
                                        <p:tgtEl>
                                          <p:spTgt spid="2381870"/>
                                        </p:tgtEl>
                                        <p:attrNameLst>
                                          <p:attrName>style.visibility</p:attrName>
                                        </p:attrNameLst>
                                      </p:cBhvr>
                                      <p:to>
                                        <p:strVal val="visible"/>
                                      </p:to>
                                    </p:set>
                                    <p:animEffect transition="in" filter="dissolve">
                                      <p:cBhvr>
                                        <p:cTn id="87" dur="500"/>
                                        <p:tgtEl>
                                          <p:spTgt spid="2381870"/>
                                        </p:tgtEl>
                                      </p:cBhvr>
                                    </p:animEffect>
                                  </p:childTnLst>
                                </p:cTn>
                              </p:par>
                              <p:par>
                                <p:cTn id="88" presetID="9" presetClass="entr" presetSubtype="0" fill="hold" nodeType="withEffect">
                                  <p:stCondLst>
                                    <p:cond delay="0"/>
                                  </p:stCondLst>
                                  <p:childTnLst>
                                    <p:set>
                                      <p:cBhvr>
                                        <p:cTn id="89" dur="1" fill="hold">
                                          <p:stCondLst>
                                            <p:cond delay="0"/>
                                          </p:stCondLst>
                                        </p:cTn>
                                        <p:tgtEl>
                                          <p:spTgt spid="2381871"/>
                                        </p:tgtEl>
                                        <p:attrNameLst>
                                          <p:attrName>style.visibility</p:attrName>
                                        </p:attrNameLst>
                                      </p:cBhvr>
                                      <p:to>
                                        <p:strVal val="visible"/>
                                      </p:to>
                                    </p:set>
                                    <p:animEffect transition="in" filter="dissolve">
                                      <p:cBhvr>
                                        <p:cTn id="90" dur="500"/>
                                        <p:tgtEl>
                                          <p:spTgt spid="2381871"/>
                                        </p:tgtEl>
                                      </p:cBhvr>
                                    </p:animEffect>
                                  </p:childTnLst>
                                </p:cTn>
                              </p:par>
                              <p:par>
                                <p:cTn id="91" presetID="9" presetClass="entr" presetSubtype="0" fill="hold" nodeType="withEffect">
                                  <p:stCondLst>
                                    <p:cond delay="0"/>
                                  </p:stCondLst>
                                  <p:childTnLst>
                                    <p:set>
                                      <p:cBhvr>
                                        <p:cTn id="92" dur="1" fill="hold">
                                          <p:stCondLst>
                                            <p:cond delay="0"/>
                                          </p:stCondLst>
                                        </p:cTn>
                                        <p:tgtEl>
                                          <p:spTgt spid="2381872"/>
                                        </p:tgtEl>
                                        <p:attrNameLst>
                                          <p:attrName>style.visibility</p:attrName>
                                        </p:attrNameLst>
                                      </p:cBhvr>
                                      <p:to>
                                        <p:strVal val="visible"/>
                                      </p:to>
                                    </p:set>
                                    <p:animEffect transition="in" filter="dissolve">
                                      <p:cBhvr>
                                        <p:cTn id="93" dur="500"/>
                                        <p:tgtEl>
                                          <p:spTgt spid="2381872"/>
                                        </p:tgtEl>
                                      </p:cBhvr>
                                    </p:animEffect>
                                  </p:childTnLst>
                                </p:cTn>
                              </p:par>
                              <p:par>
                                <p:cTn id="94" presetID="9" presetClass="entr" presetSubtype="0" fill="hold" nodeType="withEffect">
                                  <p:stCondLst>
                                    <p:cond delay="0"/>
                                  </p:stCondLst>
                                  <p:childTnLst>
                                    <p:set>
                                      <p:cBhvr>
                                        <p:cTn id="95" dur="1" fill="hold">
                                          <p:stCondLst>
                                            <p:cond delay="0"/>
                                          </p:stCondLst>
                                        </p:cTn>
                                        <p:tgtEl>
                                          <p:spTgt spid="2381873"/>
                                        </p:tgtEl>
                                        <p:attrNameLst>
                                          <p:attrName>style.visibility</p:attrName>
                                        </p:attrNameLst>
                                      </p:cBhvr>
                                      <p:to>
                                        <p:strVal val="visible"/>
                                      </p:to>
                                    </p:set>
                                    <p:animEffect transition="in" filter="dissolve">
                                      <p:cBhvr>
                                        <p:cTn id="96" dur="500"/>
                                        <p:tgtEl>
                                          <p:spTgt spid="2381873"/>
                                        </p:tgtEl>
                                      </p:cBhvr>
                                    </p:animEffect>
                                  </p:childTnLst>
                                </p:cTn>
                              </p:par>
                              <p:par>
                                <p:cTn id="97" presetID="9" presetClass="entr" presetSubtype="0" fill="hold" nodeType="withEffect">
                                  <p:stCondLst>
                                    <p:cond delay="0"/>
                                  </p:stCondLst>
                                  <p:childTnLst>
                                    <p:set>
                                      <p:cBhvr>
                                        <p:cTn id="98" dur="1" fill="hold">
                                          <p:stCondLst>
                                            <p:cond delay="0"/>
                                          </p:stCondLst>
                                        </p:cTn>
                                        <p:tgtEl>
                                          <p:spTgt spid="2381874"/>
                                        </p:tgtEl>
                                        <p:attrNameLst>
                                          <p:attrName>style.visibility</p:attrName>
                                        </p:attrNameLst>
                                      </p:cBhvr>
                                      <p:to>
                                        <p:strVal val="visible"/>
                                      </p:to>
                                    </p:set>
                                    <p:animEffect transition="in" filter="dissolve">
                                      <p:cBhvr>
                                        <p:cTn id="99" dur="500"/>
                                        <p:tgtEl>
                                          <p:spTgt spid="2381874"/>
                                        </p:tgtEl>
                                      </p:cBhvr>
                                    </p:animEffect>
                                  </p:childTnLst>
                                </p:cTn>
                              </p:par>
                              <p:par>
                                <p:cTn id="100" presetID="9" presetClass="entr" presetSubtype="0" fill="hold" nodeType="withEffect">
                                  <p:stCondLst>
                                    <p:cond delay="0"/>
                                  </p:stCondLst>
                                  <p:childTnLst>
                                    <p:set>
                                      <p:cBhvr>
                                        <p:cTn id="101" dur="1" fill="hold">
                                          <p:stCondLst>
                                            <p:cond delay="0"/>
                                          </p:stCondLst>
                                        </p:cTn>
                                        <p:tgtEl>
                                          <p:spTgt spid="2381875"/>
                                        </p:tgtEl>
                                        <p:attrNameLst>
                                          <p:attrName>style.visibility</p:attrName>
                                        </p:attrNameLst>
                                      </p:cBhvr>
                                      <p:to>
                                        <p:strVal val="visible"/>
                                      </p:to>
                                    </p:set>
                                    <p:animEffect transition="in" filter="dissolve">
                                      <p:cBhvr>
                                        <p:cTn id="102" dur="500"/>
                                        <p:tgtEl>
                                          <p:spTgt spid="2381875"/>
                                        </p:tgtEl>
                                      </p:cBhvr>
                                    </p:animEffect>
                                  </p:childTnLst>
                                </p:cTn>
                              </p:par>
                              <p:par>
                                <p:cTn id="103" presetID="9" presetClass="entr" presetSubtype="0" fill="hold" nodeType="withEffect">
                                  <p:stCondLst>
                                    <p:cond delay="0"/>
                                  </p:stCondLst>
                                  <p:childTnLst>
                                    <p:set>
                                      <p:cBhvr>
                                        <p:cTn id="104" dur="1" fill="hold">
                                          <p:stCondLst>
                                            <p:cond delay="0"/>
                                          </p:stCondLst>
                                        </p:cTn>
                                        <p:tgtEl>
                                          <p:spTgt spid="2381876"/>
                                        </p:tgtEl>
                                        <p:attrNameLst>
                                          <p:attrName>style.visibility</p:attrName>
                                        </p:attrNameLst>
                                      </p:cBhvr>
                                      <p:to>
                                        <p:strVal val="visible"/>
                                      </p:to>
                                    </p:set>
                                    <p:animEffect transition="in" filter="dissolve">
                                      <p:cBhvr>
                                        <p:cTn id="105" dur="500"/>
                                        <p:tgtEl>
                                          <p:spTgt spid="2381876"/>
                                        </p:tgtEl>
                                      </p:cBhvr>
                                    </p:animEffect>
                                  </p:childTnLst>
                                </p:cTn>
                              </p:par>
                              <p:par>
                                <p:cTn id="106" presetID="9" presetClass="entr" presetSubtype="0" fill="hold" nodeType="withEffect">
                                  <p:stCondLst>
                                    <p:cond delay="0"/>
                                  </p:stCondLst>
                                  <p:childTnLst>
                                    <p:set>
                                      <p:cBhvr>
                                        <p:cTn id="107" dur="1" fill="hold">
                                          <p:stCondLst>
                                            <p:cond delay="0"/>
                                          </p:stCondLst>
                                        </p:cTn>
                                        <p:tgtEl>
                                          <p:spTgt spid="2381877"/>
                                        </p:tgtEl>
                                        <p:attrNameLst>
                                          <p:attrName>style.visibility</p:attrName>
                                        </p:attrNameLst>
                                      </p:cBhvr>
                                      <p:to>
                                        <p:strVal val="visible"/>
                                      </p:to>
                                    </p:set>
                                    <p:animEffect transition="in" filter="dissolve">
                                      <p:cBhvr>
                                        <p:cTn id="108" dur="500"/>
                                        <p:tgtEl>
                                          <p:spTgt spid="2381877"/>
                                        </p:tgtEl>
                                      </p:cBhvr>
                                    </p:animEffect>
                                  </p:childTnLst>
                                </p:cTn>
                              </p:par>
                              <p:par>
                                <p:cTn id="109" presetID="9" presetClass="entr" presetSubtype="0" fill="hold" nodeType="withEffect">
                                  <p:stCondLst>
                                    <p:cond delay="0"/>
                                  </p:stCondLst>
                                  <p:childTnLst>
                                    <p:set>
                                      <p:cBhvr>
                                        <p:cTn id="110" dur="1" fill="hold">
                                          <p:stCondLst>
                                            <p:cond delay="0"/>
                                          </p:stCondLst>
                                        </p:cTn>
                                        <p:tgtEl>
                                          <p:spTgt spid="2381878"/>
                                        </p:tgtEl>
                                        <p:attrNameLst>
                                          <p:attrName>style.visibility</p:attrName>
                                        </p:attrNameLst>
                                      </p:cBhvr>
                                      <p:to>
                                        <p:strVal val="visible"/>
                                      </p:to>
                                    </p:set>
                                    <p:animEffect transition="in" filter="dissolve">
                                      <p:cBhvr>
                                        <p:cTn id="111" dur="500"/>
                                        <p:tgtEl>
                                          <p:spTgt spid="2381878"/>
                                        </p:tgtEl>
                                      </p:cBhvr>
                                    </p:animEffect>
                                  </p:childTnLst>
                                </p:cTn>
                              </p:par>
                              <p:par>
                                <p:cTn id="112" presetID="9" presetClass="entr" presetSubtype="0" fill="hold" nodeType="withEffect">
                                  <p:stCondLst>
                                    <p:cond delay="0"/>
                                  </p:stCondLst>
                                  <p:childTnLst>
                                    <p:set>
                                      <p:cBhvr>
                                        <p:cTn id="113" dur="1" fill="hold">
                                          <p:stCondLst>
                                            <p:cond delay="0"/>
                                          </p:stCondLst>
                                        </p:cTn>
                                        <p:tgtEl>
                                          <p:spTgt spid="2381880"/>
                                        </p:tgtEl>
                                        <p:attrNameLst>
                                          <p:attrName>style.visibility</p:attrName>
                                        </p:attrNameLst>
                                      </p:cBhvr>
                                      <p:to>
                                        <p:strVal val="visible"/>
                                      </p:to>
                                    </p:set>
                                    <p:animEffect transition="in" filter="dissolve">
                                      <p:cBhvr>
                                        <p:cTn id="114" dur="500"/>
                                        <p:tgtEl>
                                          <p:spTgt spid="2381880"/>
                                        </p:tgtEl>
                                      </p:cBhvr>
                                    </p:animEffect>
                                  </p:childTnLst>
                                </p:cTn>
                              </p:par>
                              <p:par>
                                <p:cTn id="115" presetID="9" presetClass="entr" presetSubtype="0" fill="hold" nodeType="withEffect">
                                  <p:stCondLst>
                                    <p:cond delay="0"/>
                                  </p:stCondLst>
                                  <p:childTnLst>
                                    <p:set>
                                      <p:cBhvr>
                                        <p:cTn id="116" dur="1" fill="hold">
                                          <p:stCondLst>
                                            <p:cond delay="0"/>
                                          </p:stCondLst>
                                        </p:cTn>
                                        <p:tgtEl>
                                          <p:spTgt spid="2381881"/>
                                        </p:tgtEl>
                                        <p:attrNameLst>
                                          <p:attrName>style.visibility</p:attrName>
                                        </p:attrNameLst>
                                      </p:cBhvr>
                                      <p:to>
                                        <p:strVal val="visible"/>
                                      </p:to>
                                    </p:set>
                                    <p:animEffect transition="in" filter="dissolve">
                                      <p:cBhvr>
                                        <p:cTn id="117" dur="500"/>
                                        <p:tgtEl>
                                          <p:spTgt spid="2381881"/>
                                        </p:tgtEl>
                                      </p:cBhvr>
                                    </p:animEffect>
                                  </p:childTnLst>
                                </p:cTn>
                              </p:par>
                              <p:par>
                                <p:cTn id="118" presetID="9" presetClass="entr" presetSubtype="0" fill="hold" nodeType="withEffect">
                                  <p:stCondLst>
                                    <p:cond delay="0"/>
                                  </p:stCondLst>
                                  <p:childTnLst>
                                    <p:set>
                                      <p:cBhvr>
                                        <p:cTn id="119" dur="1" fill="hold">
                                          <p:stCondLst>
                                            <p:cond delay="0"/>
                                          </p:stCondLst>
                                        </p:cTn>
                                        <p:tgtEl>
                                          <p:spTgt spid="2381882"/>
                                        </p:tgtEl>
                                        <p:attrNameLst>
                                          <p:attrName>style.visibility</p:attrName>
                                        </p:attrNameLst>
                                      </p:cBhvr>
                                      <p:to>
                                        <p:strVal val="visible"/>
                                      </p:to>
                                    </p:set>
                                    <p:animEffect transition="in" filter="dissolve">
                                      <p:cBhvr>
                                        <p:cTn id="120" dur="500"/>
                                        <p:tgtEl>
                                          <p:spTgt spid="2381882"/>
                                        </p:tgtEl>
                                      </p:cBhvr>
                                    </p:animEffect>
                                  </p:childTnLst>
                                </p:cTn>
                              </p:par>
                              <p:par>
                                <p:cTn id="121" presetID="9" presetClass="entr" presetSubtype="0" fill="hold" nodeType="withEffect">
                                  <p:stCondLst>
                                    <p:cond delay="0"/>
                                  </p:stCondLst>
                                  <p:childTnLst>
                                    <p:set>
                                      <p:cBhvr>
                                        <p:cTn id="122" dur="1" fill="hold">
                                          <p:stCondLst>
                                            <p:cond delay="0"/>
                                          </p:stCondLst>
                                        </p:cTn>
                                        <p:tgtEl>
                                          <p:spTgt spid="2381883"/>
                                        </p:tgtEl>
                                        <p:attrNameLst>
                                          <p:attrName>style.visibility</p:attrName>
                                        </p:attrNameLst>
                                      </p:cBhvr>
                                      <p:to>
                                        <p:strVal val="visible"/>
                                      </p:to>
                                    </p:set>
                                    <p:animEffect transition="in" filter="dissolve">
                                      <p:cBhvr>
                                        <p:cTn id="123" dur="500"/>
                                        <p:tgtEl>
                                          <p:spTgt spid="2381883"/>
                                        </p:tgtEl>
                                      </p:cBhvr>
                                    </p:animEffect>
                                  </p:childTnLst>
                                </p:cTn>
                              </p:par>
                              <p:par>
                                <p:cTn id="124" presetID="9" presetClass="entr" presetSubtype="0" fill="hold" nodeType="withEffect">
                                  <p:stCondLst>
                                    <p:cond delay="0"/>
                                  </p:stCondLst>
                                  <p:childTnLst>
                                    <p:set>
                                      <p:cBhvr>
                                        <p:cTn id="125" dur="1" fill="hold">
                                          <p:stCondLst>
                                            <p:cond delay="0"/>
                                          </p:stCondLst>
                                        </p:cTn>
                                        <p:tgtEl>
                                          <p:spTgt spid="2381884"/>
                                        </p:tgtEl>
                                        <p:attrNameLst>
                                          <p:attrName>style.visibility</p:attrName>
                                        </p:attrNameLst>
                                      </p:cBhvr>
                                      <p:to>
                                        <p:strVal val="visible"/>
                                      </p:to>
                                    </p:set>
                                    <p:animEffect transition="in" filter="dissolve">
                                      <p:cBhvr>
                                        <p:cTn id="126" dur="500"/>
                                        <p:tgtEl>
                                          <p:spTgt spid="2381884"/>
                                        </p:tgtEl>
                                      </p:cBhvr>
                                    </p:animEffect>
                                  </p:childTnLst>
                                </p:cTn>
                              </p:par>
                              <p:par>
                                <p:cTn id="127" presetID="9" presetClass="entr" presetSubtype="0" fill="hold" nodeType="withEffect">
                                  <p:stCondLst>
                                    <p:cond delay="0"/>
                                  </p:stCondLst>
                                  <p:childTnLst>
                                    <p:set>
                                      <p:cBhvr>
                                        <p:cTn id="128" dur="1" fill="hold">
                                          <p:stCondLst>
                                            <p:cond delay="0"/>
                                          </p:stCondLst>
                                        </p:cTn>
                                        <p:tgtEl>
                                          <p:spTgt spid="2381885"/>
                                        </p:tgtEl>
                                        <p:attrNameLst>
                                          <p:attrName>style.visibility</p:attrName>
                                        </p:attrNameLst>
                                      </p:cBhvr>
                                      <p:to>
                                        <p:strVal val="visible"/>
                                      </p:to>
                                    </p:set>
                                    <p:animEffect transition="in" filter="dissolve">
                                      <p:cBhvr>
                                        <p:cTn id="129" dur="500"/>
                                        <p:tgtEl>
                                          <p:spTgt spid="2381885"/>
                                        </p:tgtEl>
                                      </p:cBhvr>
                                    </p:animEffect>
                                  </p:childTnLst>
                                </p:cTn>
                              </p:par>
                              <p:par>
                                <p:cTn id="130" presetID="9" presetClass="entr" presetSubtype="0" fill="hold" nodeType="withEffect">
                                  <p:stCondLst>
                                    <p:cond delay="0"/>
                                  </p:stCondLst>
                                  <p:childTnLst>
                                    <p:set>
                                      <p:cBhvr>
                                        <p:cTn id="131" dur="1" fill="hold">
                                          <p:stCondLst>
                                            <p:cond delay="0"/>
                                          </p:stCondLst>
                                        </p:cTn>
                                        <p:tgtEl>
                                          <p:spTgt spid="2381886"/>
                                        </p:tgtEl>
                                        <p:attrNameLst>
                                          <p:attrName>style.visibility</p:attrName>
                                        </p:attrNameLst>
                                      </p:cBhvr>
                                      <p:to>
                                        <p:strVal val="visible"/>
                                      </p:to>
                                    </p:set>
                                    <p:animEffect transition="in" filter="dissolve">
                                      <p:cBhvr>
                                        <p:cTn id="132" dur="500"/>
                                        <p:tgtEl>
                                          <p:spTgt spid="2381886"/>
                                        </p:tgtEl>
                                      </p:cBhvr>
                                    </p:animEffect>
                                  </p:childTnLst>
                                </p:cTn>
                              </p:par>
                              <p:par>
                                <p:cTn id="133" presetID="9" presetClass="entr" presetSubtype="0" fill="hold" nodeType="withEffect">
                                  <p:stCondLst>
                                    <p:cond delay="0"/>
                                  </p:stCondLst>
                                  <p:childTnLst>
                                    <p:set>
                                      <p:cBhvr>
                                        <p:cTn id="134" dur="1" fill="hold">
                                          <p:stCondLst>
                                            <p:cond delay="0"/>
                                          </p:stCondLst>
                                        </p:cTn>
                                        <p:tgtEl>
                                          <p:spTgt spid="2381887"/>
                                        </p:tgtEl>
                                        <p:attrNameLst>
                                          <p:attrName>style.visibility</p:attrName>
                                        </p:attrNameLst>
                                      </p:cBhvr>
                                      <p:to>
                                        <p:strVal val="visible"/>
                                      </p:to>
                                    </p:set>
                                    <p:animEffect transition="in" filter="dissolve">
                                      <p:cBhvr>
                                        <p:cTn id="135" dur="500"/>
                                        <p:tgtEl>
                                          <p:spTgt spid="2381887"/>
                                        </p:tgtEl>
                                      </p:cBhvr>
                                    </p:animEffect>
                                  </p:childTnLst>
                                </p:cTn>
                              </p:par>
                              <p:par>
                                <p:cTn id="136" presetID="9" presetClass="entr" presetSubtype="0" fill="hold" nodeType="withEffect">
                                  <p:stCondLst>
                                    <p:cond delay="0"/>
                                  </p:stCondLst>
                                  <p:childTnLst>
                                    <p:set>
                                      <p:cBhvr>
                                        <p:cTn id="137" dur="1" fill="hold">
                                          <p:stCondLst>
                                            <p:cond delay="0"/>
                                          </p:stCondLst>
                                        </p:cTn>
                                        <p:tgtEl>
                                          <p:spTgt spid="2381891"/>
                                        </p:tgtEl>
                                        <p:attrNameLst>
                                          <p:attrName>style.visibility</p:attrName>
                                        </p:attrNameLst>
                                      </p:cBhvr>
                                      <p:to>
                                        <p:strVal val="visible"/>
                                      </p:to>
                                    </p:set>
                                    <p:animEffect transition="in" filter="dissolve">
                                      <p:cBhvr>
                                        <p:cTn id="138" dur="500"/>
                                        <p:tgtEl>
                                          <p:spTgt spid="2381891"/>
                                        </p:tgtEl>
                                      </p:cBhvr>
                                    </p:animEffect>
                                  </p:childTnLst>
                                </p:cTn>
                              </p:par>
                              <p:par>
                                <p:cTn id="139" presetID="9" presetClass="entr" presetSubtype="0" fill="hold" nodeType="withEffect">
                                  <p:stCondLst>
                                    <p:cond delay="0"/>
                                  </p:stCondLst>
                                  <p:childTnLst>
                                    <p:set>
                                      <p:cBhvr>
                                        <p:cTn id="140" dur="1" fill="hold">
                                          <p:stCondLst>
                                            <p:cond delay="0"/>
                                          </p:stCondLst>
                                        </p:cTn>
                                        <p:tgtEl>
                                          <p:spTgt spid="2381892"/>
                                        </p:tgtEl>
                                        <p:attrNameLst>
                                          <p:attrName>style.visibility</p:attrName>
                                        </p:attrNameLst>
                                      </p:cBhvr>
                                      <p:to>
                                        <p:strVal val="visible"/>
                                      </p:to>
                                    </p:set>
                                    <p:animEffect transition="in" filter="dissolve">
                                      <p:cBhvr>
                                        <p:cTn id="141" dur="500"/>
                                        <p:tgtEl>
                                          <p:spTgt spid="2381892"/>
                                        </p:tgtEl>
                                      </p:cBhvr>
                                    </p:animEffect>
                                  </p:childTnLst>
                                </p:cTn>
                              </p:par>
                              <p:par>
                                <p:cTn id="142" presetID="9" presetClass="entr" presetSubtype="0" fill="hold" nodeType="withEffect">
                                  <p:stCondLst>
                                    <p:cond delay="0"/>
                                  </p:stCondLst>
                                  <p:childTnLst>
                                    <p:set>
                                      <p:cBhvr>
                                        <p:cTn id="143" dur="1" fill="hold">
                                          <p:stCondLst>
                                            <p:cond delay="0"/>
                                          </p:stCondLst>
                                        </p:cTn>
                                        <p:tgtEl>
                                          <p:spTgt spid="2381896"/>
                                        </p:tgtEl>
                                        <p:attrNameLst>
                                          <p:attrName>style.visibility</p:attrName>
                                        </p:attrNameLst>
                                      </p:cBhvr>
                                      <p:to>
                                        <p:strVal val="visible"/>
                                      </p:to>
                                    </p:set>
                                    <p:animEffect transition="in" filter="dissolve">
                                      <p:cBhvr>
                                        <p:cTn id="144" dur="500"/>
                                        <p:tgtEl>
                                          <p:spTgt spid="2381896"/>
                                        </p:tgtEl>
                                      </p:cBhvr>
                                    </p:animEffect>
                                  </p:childTnLst>
                                </p:cTn>
                              </p:par>
                              <p:par>
                                <p:cTn id="145" presetID="9" presetClass="entr" presetSubtype="0" fill="hold" nodeType="withEffect">
                                  <p:stCondLst>
                                    <p:cond delay="0"/>
                                  </p:stCondLst>
                                  <p:childTnLst>
                                    <p:set>
                                      <p:cBhvr>
                                        <p:cTn id="146" dur="1" fill="hold">
                                          <p:stCondLst>
                                            <p:cond delay="0"/>
                                          </p:stCondLst>
                                        </p:cTn>
                                        <p:tgtEl>
                                          <p:spTgt spid="2381898"/>
                                        </p:tgtEl>
                                        <p:attrNameLst>
                                          <p:attrName>style.visibility</p:attrName>
                                        </p:attrNameLst>
                                      </p:cBhvr>
                                      <p:to>
                                        <p:strVal val="visible"/>
                                      </p:to>
                                    </p:set>
                                    <p:animEffect transition="in" filter="dissolve">
                                      <p:cBhvr>
                                        <p:cTn id="147" dur="500"/>
                                        <p:tgtEl>
                                          <p:spTgt spid="2381898"/>
                                        </p:tgtEl>
                                      </p:cBhvr>
                                    </p:animEffect>
                                  </p:childTnLst>
                                </p:cTn>
                              </p:par>
                              <p:par>
                                <p:cTn id="148" presetID="9" presetClass="entr" presetSubtype="0" fill="hold" nodeType="withEffect">
                                  <p:stCondLst>
                                    <p:cond delay="0"/>
                                  </p:stCondLst>
                                  <p:childTnLst>
                                    <p:set>
                                      <p:cBhvr>
                                        <p:cTn id="149" dur="1" fill="hold">
                                          <p:stCondLst>
                                            <p:cond delay="0"/>
                                          </p:stCondLst>
                                        </p:cTn>
                                        <p:tgtEl>
                                          <p:spTgt spid="2381901"/>
                                        </p:tgtEl>
                                        <p:attrNameLst>
                                          <p:attrName>style.visibility</p:attrName>
                                        </p:attrNameLst>
                                      </p:cBhvr>
                                      <p:to>
                                        <p:strVal val="visible"/>
                                      </p:to>
                                    </p:set>
                                    <p:animEffect transition="in" filter="dissolve">
                                      <p:cBhvr>
                                        <p:cTn id="150" dur="500"/>
                                        <p:tgtEl>
                                          <p:spTgt spid="2381901"/>
                                        </p:tgtEl>
                                      </p:cBhvr>
                                    </p:animEffect>
                                  </p:childTnLst>
                                </p:cTn>
                              </p:par>
                              <p:par>
                                <p:cTn id="151" presetID="9" presetClass="entr" presetSubtype="0" fill="hold" nodeType="withEffect">
                                  <p:stCondLst>
                                    <p:cond delay="0"/>
                                  </p:stCondLst>
                                  <p:childTnLst>
                                    <p:set>
                                      <p:cBhvr>
                                        <p:cTn id="152" dur="1" fill="hold">
                                          <p:stCondLst>
                                            <p:cond delay="0"/>
                                          </p:stCondLst>
                                        </p:cTn>
                                        <p:tgtEl>
                                          <p:spTgt spid="2381903"/>
                                        </p:tgtEl>
                                        <p:attrNameLst>
                                          <p:attrName>style.visibility</p:attrName>
                                        </p:attrNameLst>
                                      </p:cBhvr>
                                      <p:to>
                                        <p:strVal val="visible"/>
                                      </p:to>
                                    </p:set>
                                    <p:animEffect transition="in" filter="dissolve">
                                      <p:cBhvr>
                                        <p:cTn id="153" dur="500"/>
                                        <p:tgtEl>
                                          <p:spTgt spid="2381903"/>
                                        </p:tgtEl>
                                      </p:cBhvr>
                                    </p:animEffect>
                                  </p:childTnLst>
                                </p:cTn>
                              </p:par>
                              <p:par>
                                <p:cTn id="154" presetID="9" presetClass="entr" presetSubtype="0" fill="hold" nodeType="withEffect">
                                  <p:stCondLst>
                                    <p:cond delay="0"/>
                                  </p:stCondLst>
                                  <p:childTnLst>
                                    <p:set>
                                      <p:cBhvr>
                                        <p:cTn id="155" dur="1" fill="hold">
                                          <p:stCondLst>
                                            <p:cond delay="0"/>
                                          </p:stCondLst>
                                        </p:cTn>
                                        <p:tgtEl>
                                          <p:spTgt spid="2381907"/>
                                        </p:tgtEl>
                                        <p:attrNameLst>
                                          <p:attrName>style.visibility</p:attrName>
                                        </p:attrNameLst>
                                      </p:cBhvr>
                                      <p:to>
                                        <p:strVal val="visible"/>
                                      </p:to>
                                    </p:set>
                                    <p:animEffect transition="in" filter="dissolve">
                                      <p:cBhvr>
                                        <p:cTn id="156" dur="500"/>
                                        <p:tgtEl>
                                          <p:spTgt spid="2381907"/>
                                        </p:tgtEl>
                                      </p:cBhvr>
                                    </p:animEffect>
                                  </p:childTnLst>
                                </p:cTn>
                              </p:par>
                              <p:par>
                                <p:cTn id="157" presetID="9" presetClass="entr" presetSubtype="0" fill="hold" nodeType="withEffect">
                                  <p:stCondLst>
                                    <p:cond delay="0"/>
                                  </p:stCondLst>
                                  <p:childTnLst>
                                    <p:set>
                                      <p:cBhvr>
                                        <p:cTn id="158" dur="1" fill="hold">
                                          <p:stCondLst>
                                            <p:cond delay="0"/>
                                          </p:stCondLst>
                                        </p:cTn>
                                        <p:tgtEl>
                                          <p:spTgt spid="2381909"/>
                                        </p:tgtEl>
                                        <p:attrNameLst>
                                          <p:attrName>style.visibility</p:attrName>
                                        </p:attrNameLst>
                                      </p:cBhvr>
                                      <p:to>
                                        <p:strVal val="visible"/>
                                      </p:to>
                                    </p:set>
                                    <p:animEffect transition="in" filter="dissolve">
                                      <p:cBhvr>
                                        <p:cTn id="159" dur="500"/>
                                        <p:tgtEl>
                                          <p:spTgt spid="2381909"/>
                                        </p:tgtEl>
                                      </p:cBhvr>
                                    </p:animEffect>
                                  </p:childTnLst>
                                </p:cTn>
                              </p:par>
                              <p:par>
                                <p:cTn id="160" presetID="9" presetClass="entr" presetSubtype="0" fill="hold" nodeType="withEffect">
                                  <p:stCondLst>
                                    <p:cond delay="0"/>
                                  </p:stCondLst>
                                  <p:childTnLst>
                                    <p:set>
                                      <p:cBhvr>
                                        <p:cTn id="161" dur="1" fill="hold">
                                          <p:stCondLst>
                                            <p:cond delay="0"/>
                                          </p:stCondLst>
                                        </p:cTn>
                                        <p:tgtEl>
                                          <p:spTgt spid="2381910"/>
                                        </p:tgtEl>
                                        <p:attrNameLst>
                                          <p:attrName>style.visibility</p:attrName>
                                        </p:attrNameLst>
                                      </p:cBhvr>
                                      <p:to>
                                        <p:strVal val="visible"/>
                                      </p:to>
                                    </p:set>
                                    <p:animEffect transition="in" filter="dissolve">
                                      <p:cBhvr>
                                        <p:cTn id="162" dur="500"/>
                                        <p:tgtEl>
                                          <p:spTgt spid="2381910"/>
                                        </p:tgtEl>
                                      </p:cBhvr>
                                    </p:animEffect>
                                  </p:childTnLst>
                                </p:cTn>
                              </p:par>
                              <p:par>
                                <p:cTn id="163" presetID="9" presetClass="entr" presetSubtype="0" fill="hold" nodeType="withEffect">
                                  <p:stCondLst>
                                    <p:cond delay="0"/>
                                  </p:stCondLst>
                                  <p:childTnLst>
                                    <p:set>
                                      <p:cBhvr>
                                        <p:cTn id="164" dur="1" fill="hold">
                                          <p:stCondLst>
                                            <p:cond delay="0"/>
                                          </p:stCondLst>
                                        </p:cTn>
                                        <p:tgtEl>
                                          <p:spTgt spid="2381911"/>
                                        </p:tgtEl>
                                        <p:attrNameLst>
                                          <p:attrName>style.visibility</p:attrName>
                                        </p:attrNameLst>
                                      </p:cBhvr>
                                      <p:to>
                                        <p:strVal val="visible"/>
                                      </p:to>
                                    </p:set>
                                    <p:animEffect transition="in" filter="dissolve">
                                      <p:cBhvr>
                                        <p:cTn id="165" dur="500"/>
                                        <p:tgtEl>
                                          <p:spTgt spid="2381911"/>
                                        </p:tgtEl>
                                      </p:cBhvr>
                                    </p:animEffect>
                                  </p:childTnLst>
                                </p:cTn>
                              </p:par>
                              <p:par>
                                <p:cTn id="166" presetID="9" presetClass="entr" presetSubtype="0" fill="hold" nodeType="withEffect">
                                  <p:stCondLst>
                                    <p:cond delay="0"/>
                                  </p:stCondLst>
                                  <p:childTnLst>
                                    <p:set>
                                      <p:cBhvr>
                                        <p:cTn id="167" dur="1" fill="hold">
                                          <p:stCondLst>
                                            <p:cond delay="0"/>
                                          </p:stCondLst>
                                        </p:cTn>
                                        <p:tgtEl>
                                          <p:spTgt spid="2381912"/>
                                        </p:tgtEl>
                                        <p:attrNameLst>
                                          <p:attrName>style.visibility</p:attrName>
                                        </p:attrNameLst>
                                      </p:cBhvr>
                                      <p:to>
                                        <p:strVal val="visible"/>
                                      </p:to>
                                    </p:set>
                                    <p:animEffect transition="in" filter="dissolve">
                                      <p:cBhvr>
                                        <p:cTn id="168" dur="500"/>
                                        <p:tgtEl>
                                          <p:spTgt spid="2381912"/>
                                        </p:tgtEl>
                                      </p:cBhvr>
                                    </p:animEffect>
                                  </p:childTnLst>
                                </p:cTn>
                              </p:par>
                              <p:par>
                                <p:cTn id="169" presetID="9" presetClass="entr" presetSubtype="0" fill="hold" nodeType="withEffect">
                                  <p:stCondLst>
                                    <p:cond delay="0"/>
                                  </p:stCondLst>
                                  <p:childTnLst>
                                    <p:set>
                                      <p:cBhvr>
                                        <p:cTn id="170" dur="1" fill="hold">
                                          <p:stCondLst>
                                            <p:cond delay="0"/>
                                          </p:stCondLst>
                                        </p:cTn>
                                        <p:tgtEl>
                                          <p:spTgt spid="2381914"/>
                                        </p:tgtEl>
                                        <p:attrNameLst>
                                          <p:attrName>style.visibility</p:attrName>
                                        </p:attrNameLst>
                                      </p:cBhvr>
                                      <p:to>
                                        <p:strVal val="visible"/>
                                      </p:to>
                                    </p:set>
                                    <p:animEffect transition="in" filter="dissolve">
                                      <p:cBhvr>
                                        <p:cTn id="171" dur="500"/>
                                        <p:tgtEl>
                                          <p:spTgt spid="2381914"/>
                                        </p:tgtEl>
                                      </p:cBhvr>
                                    </p:animEffect>
                                  </p:childTnLst>
                                </p:cTn>
                              </p:par>
                              <p:par>
                                <p:cTn id="172" presetID="9" presetClass="entr" presetSubtype="0" fill="hold" nodeType="withEffect">
                                  <p:stCondLst>
                                    <p:cond delay="0"/>
                                  </p:stCondLst>
                                  <p:childTnLst>
                                    <p:set>
                                      <p:cBhvr>
                                        <p:cTn id="173" dur="1" fill="hold">
                                          <p:stCondLst>
                                            <p:cond delay="0"/>
                                          </p:stCondLst>
                                        </p:cTn>
                                        <p:tgtEl>
                                          <p:spTgt spid="2381915"/>
                                        </p:tgtEl>
                                        <p:attrNameLst>
                                          <p:attrName>style.visibility</p:attrName>
                                        </p:attrNameLst>
                                      </p:cBhvr>
                                      <p:to>
                                        <p:strVal val="visible"/>
                                      </p:to>
                                    </p:set>
                                    <p:animEffect transition="in" filter="dissolve">
                                      <p:cBhvr>
                                        <p:cTn id="174" dur="500"/>
                                        <p:tgtEl>
                                          <p:spTgt spid="2381915"/>
                                        </p:tgtEl>
                                      </p:cBhvr>
                                    </p:animEffect>
                                  </p:childTnLst>
                                </p:cTn>
                              </p:par>
                              <p:par>
                                <p:cTn id="175" presetID="9" presetClass="entr" presetSubtype="0" fill="hold" nodeType="withEffect">
                                  <p:stCondLst>
                                    <p:cond delay="0"/>
                                  </p:stCondLst>
                                  <p:childTnLst>
                                    <p:set>
                                      <p:cBhvr>
                                        <p:cTn id="176" dur="1" fill="hold">
                                          <p:stCondLst>
                                            <p:cond delay="0"/>
                                          </p:stCondLst>
                                        </p:cTn>
                                        <p:tgtEl>
                                          <p:spTgt spid="2381916"/>
                                        </p:tgtEl>
                                        <p:attrNameLst>
                                          <p:attrName>style.visibility</p:attrName>
                                        </p:attrNameLst>
                                      </p:cBhvr>
                                      <p:to>
                                        <p:strVal val="visible"/>
                                      </p:to>
                                    </p:set>
                                    <p:animEffect transition="in" filter="dissolve">
                                      <p:cBhvr>
                                        <p:cTn id="177" dur="500"/>
                                        <p:tgtEl>
                                          <p:spTgt spid="2381916"/>
                                        </p:tgtEl>
                                      </p:cBhvr>
                                    </p:animEffect>
                                  </p:childTnLst>
                                </p:cTn>
                              </p:par>
                              <p:par>
                                <p:cTn id="178" presetID="9" presetClass="entr" presetSubtype="0" fill="hold" nodeType="withEffect">
                                  <p:stCondLst>
                                    <p:cond delay="0"/>
                                  </p:stCondLst>
                                  <p:childTnLst>
                                    <p:set>
                                      <p:cBhvr>
                                        <p:cTn id="179" dur="1" fill="hold">
                                          <p:stCondLst>
                                            <p:cond delay="0"/>
                                          </p:stCondLst>
                                        </p:cTn>
                                        <p:tgtEl>
                                          <p:spTgt spid="2381917"/>
                                        </p:tgtEl>
                                        <p:attrNameLst>
                                          <p:attrName>style.visibility</p:attrName>
                                        </p:attrNameLst>
                                      </p:cBhvr>
                                      <p:to>
                                        <p:strVal val="visible"/>
                                      </p:to>
                                    </p:set>
                                    <p:animEffect transition="in" filter="dissolve">
                                      <p:cBhvr>
                                        <p:cTn id="180" dur="500"/>
                                        <p:tgtEl>
                                          <p:spTgt spid="2381917"/>
                                        </p:tgtEl>
                                      </p:cBhvr>
                                    </p:animEffect>
                                  </p:childTnLst>
                                </p:cTn>
                              </p:par>
                              <p:par>
                                <p:cTn id="181" presetID="9" presetClass="entr" presetSubtype="0" fill="hold" nodeType="withEffect">
                                  <p:stCondLst>
                                    <p:cond delay="0"/>
                                  </p:stCondLst>
                                  <p:childTnLst>
                                    <p:set>
                                      <p:cBhvr>
                                        <p:cTn id="182" dur="1" fill="hold">
                                          <p:stCondLst>
                                            <p:cond delay="0"/>
                                          </p:stCondLst>
                                        </p:cTn>
                                        <p:tgtEl>
                                          <p:spTgt spid="2381918"/>
                                        </p:tgtEl>
                                        <p:attrNameLst>
                                          <p:attrName>style.visibility</p:attrName>
                                        </p:attrNameLst>
                                      </p:cBhvr>
                                      <p:to>
                                        <p:strVal val="visible"/>
                                      </p:to>
                                    </p:set>
                                    <p:animEffect transition="in" filter="dissolve">
                                      <p:cBhvr>
                                        <p:cTn id="183" dur="500"/>
                                        <p:tgtEl>
                                          <p:spTgt spid="2381918"/>
                                        </p:tgtEl>
                                      </p:cBhvr>
                                    </p:animEffect>
                                  </p:childTnLst>
                                </p:cTn>
                              </p:par>
                              <p:par>
                                <p:cTn id="184" presetID="9" presetClass="entr" presetSubtype="0" fill="hold" nodeType="withEffect">
                                  <p:stCondLst>
                                    <p:cond delay="0"/>
                                  </p:stCondLst>
                                  <p:childTnLst>
                                    <p:set>
                                      <p:cBhvr>
                                        <p:cTn id="185" dur="1" fill="hold">
                                          <p:stCondLst>
                                            <p:cond delay="0"/>
                                          </p:stCondLst>
                                        </p:cTn>
                                        <p:tgtEl>
                                          <p:spTgt spid="2381919"/>
                                        </p:tgtEl>
                                        <p:attrNameLst>
                                          <p:attrName>style.visibility</p:attrName>
                                        </p:attrNameLst>
                                      </p:cBhvr>
                                      <p:to>
                                        <p:strVal val="visible"/>
                                      </p:to>
                                    </p:set>
                                    <p:animEffect transition="in" filter="dissolve">
                                      <p:cBhvr>
                                        <p:cTn id="186" dur="500"/>
                                        <p:tgtEl>
                                          <p:spTgt spid="2381919"/>
                                        </p:tgtEl>
                                      </p:cBhvr>
                                    </p:animEffect>
                                  </p:childTnLst>
                                </p:cTn>
                              </p:par>
                              <p:par>
                                <p:cTn id="187" presetID="9" presetClass="entr" presetSubtype="0" fill="hold" nodeType="withEffect">
                                  <p:stCondLst>
                                    <p:cond delay="0"/>
                                  </p:stCondLst>
                                  <p:childTnLst>
                                    <p:set>
                                      <p:cBhvr>
                                        <p:cTn id="188" dur="1" fill="hold">
                                          <p:stCondLst>
                                            <p:cond delay="0"/>
                                          </p:stCondLst>
                                        </p:cTn>
                                        <p:tgtEl>
                                          <p:spTgt spid="2381920"/>
                                        </p:tgtEl>
                                        <p:attrNameLst>
                                          <p:attrName>style.visibility</p:attrName>
                                        </p:attrNameLst>
                                      </p:cBhvr>
                                      <p:to>
                                        <p:strVal val="visible"/>
                                      </p:to>
                                    </p:set>
                                    <p:animEffect transition="in" filter="dissolve">
                                      <p:cBhvr>
                                        <p:cTn id="189" dur="500"/>
                                        <p:tgtEl>
                                          <p:spTgt spid="2381920"/>
                                        </p:tgtEl>
                                      </p:cBhvr>
                                    </p:animEffect>
                                  </p:childTnLst>
                                </p:cTn>
                              </p:par>
                              <p:par>
                                <p:cTn id="190" presetID="9" presetClass="entr" presetSubtype="0" fill="hold" nodeType="withEffect">
                                  <p:stCondLst>
                                    <p:cond delay="0"/>
                                  </p:stCondLst>
                                  <p:childTnLst>
                                    <p:set>
                                      <p:cBhvr>
                                        <p:cTn id="191" dur="1" fill="hold">
                                          <p:stCondLst>
                                            <p:cond delay="0"/>
                                          </p:stCondLst>
                                        </p:cTn>
                                        <p:tgtEl>
                                          <p:spTgt spid="2381922"/>
                                        </p:tgtEl>
                                        <p:attrNameLst>
                                          <p:attrName>style.visibility</p:attrName>
                                        </p:attrNameLst>
                                      </p:cBhvr>
                                      <p:to>
                                        <p:strVal val="visible"/>
                                      </p:to>
                                    </p:set>
                                    <p:animEffect transition="in" filter="dissolve">
                                      <p:cBhvr>
                                        <p:cTn id="192" dur="500"/>
                                        <p:tgtEl>
                                          <p:spTgt spid="2381922"/>
                                        </p:tgtEl>
                                      </p:cBhvr>
                                    </p:animEffect>
                                  </p:childTnLst>
                                </p:cTn>
                              </p:par>
                              <p:par>
                                <p:cTn id="193" presetID="9" presetClass="entr" presetSubtype="0" fill="hold" nodeType="withEffect">
                                  <p:stCondLst>
                                    <p:cond delay="0"/>
                                  </p:stCondLst>
                                  <p:childTnLst>
                                    <p:set>
                                      <p:cBhvr>
                                        <p:cTn id="194" dur="1" fill="hold">
                                          <p:stCondLst>
                                            <p:cond delay="0"/>
                                          </p:stCondLst>
                                        </p:cTn>
                                        <p:tgtEl>
                                          <p:spTgt spid="2381923"/>
                                        </p:tgtEl>
                                        <p:attrNameLst>
                                          <p:attrName>style.visibility</p:attrName>
                                        </p:attrNameLst>
                                      </p:cBhvr>
                                      <p:to>
                                        <p:strVal val="visible"/>
                                      </p:to>
                                    </p:set>
                                    <p:animEffect transition="in" filter="dissolve">
                                      <p:cBhvr>
                                        <p:cTn id="195" dur="500"/>
                                        <p:tgtEl>
                                          <p:spTgt spid="2381923"/>
                                        </p:tgtEl>
                                      </p:cBhvr>
                                    </p:animEffect>
                                  </p:childTnLst>
                                </p:cTn>
                              </p:par>
                              <p:par>
                                <p:cTn id="196" presetID="9" presetClass="entr" presetSubtype="0" fill="hold" nodeType="withEffect">
                                  <p:stCondLst>
                                    <p:cond delay="0"/>
                                  </p:stCondLst>
                                  <p:childTnLst>
                                    <p:set>
                                      <p:cBhvr>
                                        <p:cTn id="197" dur="1" fill="hold">
                                          <p:stCondLst>
                                            <p:cond delay="0"/>
                                          </p:stCondLst>
                                        </p:cTn>
                                        <p:tgtEl>
                                          <p:spTgt spid="2381935"/>
                                        </p:tgtEl>
                                        <p:attrNameLst>
                                          <p:attrName>style.visibility</p:attrName>
                                        </p:attrNameLst>
                                      </p:cBhvr>
                                      <p:to>
                                        <p:strVal val="visible"/>
                                      </p:to>
                                    </p:set>
                                    <p:animEffect transition="in" filter="dissolve">
                                      <p:cBhvr>
                                        <p:cTn id="198" dur="500"/>
                                        <p:tgtEl>
                                          <p:spTgt spid="2381935"/>
                                        </p:tgtEl>
                                      </p:cBhvr>
                                    </p:animEffect>
                                  </p:childTnLst>
                                </p:cTn>
                              </p:par>
                              <p:par>
                                <p:cTn id="199" presetID="9" presetClass="entr" presetSubtype="0" fill="hold" nodeType="withEffect">
                                  <p:stCondLst>
                                    <p:cond delay="0"/>
                                  </p:stCondLst>
                                  <p:childTnLst>
                                    <p:set>
                                      <p:cBhvr>
                                        <p:cTn id="200" dur="1" fill="hold">
                                          <p:stCondLst>
                                            <p:cond delay="0"/>
                                          </p:stCondLst>
                                        </p:cTn>
                                        <p:tgtEl>
                                          <p:spTgt spid="2381936"/>
                                        </p:tgtEl>
                                        <p:attrNameLst>
                                          <p:attrName>style.visibility</p:attrName>
                                        </p:attrNameLst>
                                      </p:cBhvr>
                                      <p:to>
                                        <p:strVal val="visible"/>
                                      </p:to>
                                    </p:set>
                                    <p:animEffect transition="in" filter="dissolve">
                                      <p:cBhvr>
                                        <p:cTn id="201" dur="500"/>
                                        <p:tgtEl>
                                          <p:spTgt spid="2381936"/>
                                        </p:tgtEl>
                                      </p:cBhvr>
                                    </p:animEffect>
                                  </p:childTnLst>
                                </p:cTn>
                              </p:par>
                              <p:par>
                                <p:cTn id="202" presetID="9" presetClass="entr" presetSubtype="0" fill="hold" nodeType="withEffect">
                                  <p:stCondLst>
                                    <p:cond delay="0"/>
                                  </p:stCondLst>
                                  <p:childTnLst>
                                    <p:set>
                                      <p:cBhvr>
                                        <p:cTn id="203" dur="1" fill="hold">
                                          <p:stCondLst>
                                            <p:cond delay="0"/>
                                          </p:stCondLst>
                                        </p:cTn>
                                        <p:tgtEl>
                                          <p:spTgt spid="2381937"/>
                                        </p:tgtEl>
                                        <p:attrNameLst>
                                          <p:attrName>style.visibility</p:attrName>
                                        </p:attrNameLst>
                                      </p:cBhvr>
                                      <p:to>
                                        <p:strVal val="visible"/>
                                      </p:to>
                                    </p:set>
                                    <p:animEffect transition="in" filter="dissolve">
                                      <p:cBhvr>
                                        <p:cTn id="204" dur="500"/>
                                        <p:tgtEl>
                                          <p:spTgt spid="2381937"/>
                                        </p:tgtEl>
                                      </p:cBhvr>
                                    </p:animEffect>
                                  </p:childTnLst>
                                </p:cTn>
                              </p:par>
                              <p:par>
                                <p:cTn id="205" presetID="9" presetClass="entr" presetSubtype="0" fill="hold" nodeType="withEffect">
                                  <p:stCondLst>
                                    <p:cond delay="0"/>
                                  </p:stCondLst>
                                  <p:childTnLst>
                                    <p:set>
                                      <p:cBhvr>
                                        <p:cTn id="206" dur="1" fill="hold">
                                          <p:stCondLst>
                                            <p:cond delay="0"/>
                                          </p:stCondLst>
                                        </p:cTn>
                                        <p:tgtEl>
                                          <p:spTgt spid="2381938"/>
                                        </p:tgtEl>
                                        <p:attrNameLst>
                                          <p:attrName>style.visibility</p:attrName>
                                        </p:attrNameLst>
                                      </p:cBhvr>
                                      <p:to>
                                        <p:strVal val="visible"/>
                                      </p:to>
                                    </p:set>
                                    <p:animEffect transition="in" filter="dissolve">
                                      <p:cBhvr>
                                        <p:cTn id="207" dur="500"/>
                                        <p:tgtEl>
                                          <p:spTgt spid="2381938"/>
                                        </p:tgtEl>
                                      </p:cBhvr>
                                    </p:animEffect>
                                  </p:childTnLst>
                                </p:cTn>
                              </p:par>
                              <p:par>
                                <p:cTn id="208" presetID="9" presetClass="entr" presetSubtype="0" fill="hold" nodeType="withEffect">
                                  <p:stCondLst>
                                    <p:cond delay="0"/>
                                  </p:stCondLst>
                                  <p:childTnLst>
                                    <p:set>
                                      <p:cBhvr>
                                        <p:cTn id="209" dur="1" fill="hold">
                                          <p:stCondLst>
                                            <p:cond delay="0"/>
                                          </p:stCondLst>
                                        </p:cTn>
                                        <p:tgtEl>
                                          <p:spTgt spid="2381939"/>
                                        </p:tgtEl>
                                        <p:attrNameLst>
                                          <p:attrName>style.visibility</p:attrName>
                                        </p:attrNameLst>
                                      </p:cBhvr>
                                      <p:to>
                                        <p:strVal val="visible"/>
                                      </p:to>
                                    </p:set>
                                    <p:animEffect transition="in" filter="dissolve">
                                      <p:cBhvr>
                                        <p:cTn id="210" dur="500"/>
                                        <p:tgtEl>
                                          <p:spTgt spid="2381939"/>
                                        </p:tgtEl>
                                      </p:cBhvr>
                                    </p:animEffect>
                                  </p:childTnLst>
                                </p:cTn>
                              </p:par>
                              <p:par>
                                <p:cTn id="211" presetID="9" presetClass="entr" presetSubtype="0" fill="hold" nodeType="withEffect">
                                  <p:stCondLst>
                                    <p:cond delay="0"/>
                                  </p:stCondLst>
                                  <p:childTnLst>
                                    <p:set>
                                      <p:cBhvr>
                                        <p:cTn id="212" dur="1" fill="hold">
                                          <p:stCondLst>
                                            <p:cond delay="0"/>
                                          </p:stCondLst>
                                        </p:cTn>
                                        <p:tgtEl>
                                          <p:spTgt spid="2381940"/>
                                        </p:tgtEl>
                                        <p:attrNameLst>
                                          <p:attrName>style.visibility</p:attrName>
                                        </p:attrNameLst>
                                      </p:cBhvr>
                                      <p:to>
                                        <p:strVal val="visible"/>
                                      </p:to>
                                    </p:set>
                                    <p:animEffect transition="in" filter="dissolve">
                                      <p:cBhvr>
                                        <p:cTn id="213" dur="500"/>
                                        <p:tgtEl>
                                          <p:spTgt spid="2381940"/>
                                        </p:tgtEl>
                                      </p:cBhvr>
                                    </p:animEffect>
                                  </p:childTnLst>
                                </p:cTn>
                              </p:par>
                              <p:par>
                                <p:cTn id="214" presetID="9" presetClass="entr" presetSubtype="0" fill="hold" nodeType="withEffect">
                                  <p:stCondLst>
                                    <p:cond delay="0"/>
                                  </p:stCondLst>
                                  <p:childTnLst>
                                    <p:set>
                                      <p:cBhvr>
                                        <p:cTn id="215" dur="1" fill="hold">
                                          <p:stCondLst>
                                            <p:cond delay="0"/>
                                          </p:stCondLst>
                                        </p:cTn>
                                        <p:tgtEl>
                                          <p:spTgt spid="2381941"/>
                                        </p:tgtEl>
                                        <p:attrNameLst>
                                          <p:attrName>style.visibility</p:attrName>
                                        </p:attrNameLst>
                                      </p:cBhvr>
                                      <p:to>
                                        <p:strVal val="visible"/>
                                      </p:to>
                                    </p:set>
                                    <p:animEffect transition="in" filter="dissolve">
                                      <p:cBhvr>
                                        <p:cTn id="216" dur="500"/>
                                        <p:tgtEl>
                                          <p:spTgt spid="2381941"/>
                                        </p:tgtEl>
                                      </p:cBhvr>
                                    </p:animEffect>
                                  </p:childTnLst>
                                </p:cTn>
                              </p:par>
                              <p:par>
                                <p:cTn id="217" presetID="9" presetClass="entr" presetSubtype="0" fill="hold" nodeType="withEffect">
                                  <p:stCondLst>
                                    <p:cond delay="0"/>
                                  </p:stCondLst>
                                  <p:childTnLst>
                                    <p:set>
                                      <p:cBhvr>
                                        <p:cTn id="218" dur="1" fill="hold">
                                          <p:stCondLst>
                                            <p:cond delay="0"/>
                                          </p:stCondLst>
                                        </p:cTn>
                                        <p:tgtEl>
                                          <p:spTgt spid="2381942"/>
                                        </p:tgtEl>
                                        <p:attrNameLst>
                                          <p:attrName>style.visibility</p:attrName>
                                        </p:attrNameLst>
                                      </p:cBhvr>
                                      <p:to>
                                        <p:strVal val="visible"/>
                                      </p:to>
                                    </p:set>
                                    <p:animEffect transition="in" filter="dissolve">
                                      <p:cBhvr>
                                        <p:cTn id="219" dur="500"/>
                                        <p:tgtEl>
                                          <p:spTgt spid="2381942"/>
                                        </p:tgtEl>
                                      </p:cBhvr>
                                    </p:animEffect>
                                  </p:childTnLst>
                                </p:cTn>
                              </p:par>
                              <p:par>
                                <p:cTn id="220" presetID="9" presetClass="entr" presetSubtype="0" fill="hold" nodeType="withEffect">
                                  <p:stCondLst>
                                    <p:cond delay="0"/>
                                  </p:stCondLst>
                                  <p:childTnLst>
                                    <p:set>
                                      <p:cBhvr>
                                        <p:cTn id="221" dur="1" fill="hold">
                                          <p:stCondLst>
                                            <p:cond delay="0"/>
                                          </p:stCondLst>
                                        </p:cTn>
                                        <p:tgtEl>
                                          <p:spTgt spid="2381943"/>
                                        </p:tgtEl>
                                        <p:attrNameLst>
                                          <p:attrName>style.visibility</p:attrName>
                                        </p:attrNameLst>
                                      </p:cBhvr>
                                      <p:to>
                                        <p:strVal val="visible"/>
                                      </p:to>
                                    </p:set>
                                    <p:animEffect transition="in" filter="dissolve">
                                      <p:cBhvr>
                                        <p:cTn id="222" dur="500"/>
                                        <p:tgtEl>
                                          <p:spTgt spid="2381943"/>
                                        </p:tgtEl>
                                      </p:cBhvr>
                                    </p:animEffect>
                                  </p:childTnLst>
                                </p:cTn>
                              </p:par>
                              <p:par>
                                <p:cTn id="223" presetID="9" presetClass="entr" presetSubtype="0" fill="hold" nodeType="withEffect">
                                  <p:stCondLst>
                                    <p:cond delay="0"/>
                                  </p:stCondLst>
                                  <p:childTnLst>
                                    <p:set>
                                      <p:cBhvr>
                                        <p:cTn id="224" dur="1" fill="hold">
                                          <p:stCondLst>
                                            <p:cond delay="0"/>
                                          </p:stCondLst>
                                        </p:cTn>
                                        <p:tgtEl>
                                          <p:spTgt spid="2381944"/>
                                        </p:tgtEl>
                                        <p:attrNameLst>
                                          <p:attrName>style.visibility</p:attrName>
                                        </p:attrNameLst>
                                      </p:cBhvr>
                                      <p:to>
                                        <p:strVal val="visible"/>
                                      </p:to>
                                    </p:set>
                                    <p:animEffect transition="in" filter="dissolve">
                                      <p:cBhvr>
                                        <p:cTn id="225" dur="500"/>
                                        <p:tgtEl>
                                          <p:spTgt spid="2381944"/>
                                        </p:tgtEl>
                                      </p:cBhvr>
                                    </p:animEffect>
                                  </p:childTnLst>
                                </p:cTn>
                              </p:par>
                              <p:par>
                                <p:cTn id="226" presetID="9" presetClass="entr" presetSubtype="0" fill="hold" nodeType="withEffect">
                                  <p:stCondLst>
                                    <p:cond delay="0"/>
                                  </p:stCondLst>
                                  <p:childTnLst>
                                    <p:set>
                                      <p:cBhvr>
                                        <p:cTn id="227" dur="1" fill="hold">
                                          <p:stCondLst>
                                            <p:cond delay="0"/>
                                          </p:stCondLst>
                                        </p:cTn>
                                        <p:tgtEl>
                                          <p:spTgt spid="2381945"/>
                                        </p:tgtEl>
                                        <p:attrNameLst>
                                          <p:attrName>style.visibility</p:attrName>
                                        </p:attrNameLst>
                                      </p:cBhvr>
                                      <p:to>
                                        <p:strVal val="visible"/>
                                      </p:to>
                                    </p:set>
                                    <p:animEffect transition="in" filter="dissolve">
                                      <p:cBhvr>
                                        <p:cTn id="228" dur="500"/>
                                        <p:tgtEl>
                                          <p:spTgt spid="2381945"/>
                                        </p:tgtEl>
                                      </p:cBhvr>
                                    </p:animEffect>
                                  </p:childTnLst>
                                </p:cTn>
                              </p:par>
                              <p:par>
                                <p:cTn id="229" presetID="9" presetClass="entr" presetSubtype="0" fill="hold" nodeType="withEffect">
                                  <p:stCondLst>
                                    <p:cond delay="0"/>
                                  </p:stCondLst>
                                  <p:childTnLst>
                                    <p:set>
                                      <p:cBhvr>
                                        <p:cTn id="230" dur="1" fill="hold">
                                          <p:stCondLst>
                                            <p:cond delay="0"/>
                                          </p:stCondLst>
                                        </p:cTn>
                                        <p:tgtEl>
                                          <p:spTgt spid="2381946"/>
                                        </p:tgtEl>
                                        <p:attrNameLst>
                                          <p:attrName>style.visibility</p:attrName>
                                        </p:attrNameLst>
                                      </p:cBhvr>
                                      <p:to>
                                        <p:strVal val="visible"/>
                                      </p:to>
                                    </p:set>
                                    <p:animEffect transition="in" filter="dissolve">
                                      <p:cBhvr>
                                        <p:cTn id="231" dur="500"/>
                                        <p:tgtEl>
                                          <p:spTgt spid="2381946"/>
                                        </p:tgtEl>
                                      </p:cBhvr>
                                    </p:animEffect>
                                  </p:childTnLst>
                                </p:cTn>
                              </p:par>
                              <p:par>
                                <p:cTn id="232" presetID="9" presetClass="entr" presetSubtype="0" fill="hold" nodeType="withEffect">
                                  <p:stCondLst>
                                    <p:cond delay="0"/>
                                  </p:stCondLst>
                                  <p:childTnLst>
                                    <p:set>
                                      <p:cBhvr>
                                        <p:cTn id="233" dur="1" fill="hold">
                                          <p:stCondLst>
                                            <p:cond delay="0"/>
                                          </p:stCondLst>
                                        </p:cTn>
                                        <p:tgtEl>
                                          <p:spTgt spid="2381947"/>
                                        </p:tgtEl>
                                        <p:attrNameLst>
                                          <p:attrName>style.visibility</p:attrName>
                                        </p:attrNameLst>
                                      </p:cBhvr>
                                      <p:to>
                                        <p:strVal val="visible"/>
                                      </p:to>
                                    </p:set>
                                    <p:animEffect transition="in" filter="dissolve">
                                      <p:cBhvr>
                                        <p:cTn id="234" dur="500"/>
                                        <p:tgtEl>
                                          <p:spTgt spid="2381947"/>
                                        </p:tgtEl>
                                      </p:cBhvr>
                                    </p:animEffect>
                                  </p:childTnLst>
                                </p:cTn>
                              </p:par>
                              <p:par>
                                <p:cTn id="235" presetID="9" presetClass="entr" presetSubtype="0" fill="hold" nodeType="withEffect">
                                  <p:stCondLst>
                                    <p:cond delay="0"/>
                                  </p:stCondLst>
                                  <p:childTnLst>
                                    <p:set>
                                      <p:cBhvr>
                                        <p:cTn id="236" dur="1" fill="hold">
                                          <p:stCondLst>
                                            <p:cond delay="0"/>
                                          </p:stCondLst>
                                        </p:cTn>
                                        <p:tgtEl>
                                          <p:spTgt spid="2381948"/>
                                        </p:tgtEl>
                                        <p:attrNameLst>
                                          <p:attrName>style.visibility</p:attrName>
                                        </p:attrNameLst>
                                      </p:cBhvr>
                                      <p:to>
                                        <p:strVal val="visible"/>
                                      </p:to>
                                    </p:set>
                                    <p:animEffect transition="in" filter="dissolve">
                                      <p:cBhvr>
                                        <p:cTn id="237" dur="500"/>
                                        <p:tgtEl>
                                          <p:spTgt spid="2381948"/>
                                        </p:tgtEl>
                                      </p:cBhvr>
                                    </p:animEffect>
                                  </p:childTnLst>
                                </p:cTn>
                              </p:par>
                              <p:par>
                                <p:cTn id="238" presetID="9" presetClass="entr" presetSubtype="0" fill="hold" nodeType="withEffect">
                                  <p:stCondLst>
                                    <p:cond delay="0"/>
                                  </p:stCondLst>
                                  <p:childTnLst>
                                    <p:set>
                                      <p:cBhvr>
                                        <p:cTn id="239" dur="1" fill="hold">
                                          <p:stCondLst>
                                            <p:cond delay="0"/>
                                          </p:stCondLst>
                                        </p:cTn>
                                        <p:tgtEl>
                                          <p:spTgt spid="2381949"/>
                                        </p:tgtEl>
                                        <p:attrNameLst>
                                          <p:attrName>style.visibility</p:attrName>
                                        </p:attrNameLst>
                                      </p:cBhvr>
                                      <p:to>
                                        <p:strVal val="visible"/>
                                      </p:to>
                                    </p:set>
                                    <p:animEffect transition="in" filter="dissolve">
                                      <p:cBhvr>
                                        <p:cTn id="240" dur="500"/>
                                        <p:tgtEl>
                                          <p:spTgt spid="2381949"/>
                                        </p:tgtEl>
                                      </p:cBhvr>
                                    </p:animEffect>
                                  </p:childTnLst>
                                </p:cTn>
                              </p:par>
                              <p:par>
                                <p:cTn id="241" presetID="9" presetClass="entr" presetSubtype="0" fill="hold" nodeType="withEffect">
                                  <p:stCondLst>
                                    <p:cond delay="0"/>
                                  </p:stCondLst>
                                  <p:childTnLst>
                                    <p:set>
                                      <p:cBhvr>
                                        <p:cTn id="242" dur="1" fill="hold">
                                          <p:stCondLst>
                                            <p:cond delay="0"/>
                                          </p:stCondLst>
                                        </p:cTn>
                                        <p:tgtEl>
                                          <p:spTgt spid="2381950"/>
                                        </p:tgtEl>
                                        <p:attrNameLst>
                                          <p:attrName>style.visibility</p:attrName>
                                        </p:attrNameLst>
                                      </p:cBhvr>
                                      <p:to>
                                        <p:strVal val="visible"/>
                                      </p:to>
                                    </p:set>
                                    <p:animEffect transition="in" filter="dissolve">
                                      <p:cBhvr>
                                        <p:cTn id="243" dur="500"/>
                                        <p:tgtEl>
                                          <p:spTgt spid="2381950"/>
                                        </p:tgtEl>
                                      </p:cBhvr>
                                    </p:animEffect>
                                  </p:childTnLst>
                                </p:cTn>
                              </p:par>
                              <p:par>
                                <p:cTn id="244" presetID="9" presetClass="entr" presetSubtype="0" fill="hold" nodeType="withEffect">
                                  <p:stCondLst>
                                    <p:cond delay="0"/>
                                  </p:stCondLst>
                                  <p:childTnLst>
                                    <p:set>
                                      <p:cBhvr>
                                        <p:cTn id="245" dur="1" fill="hold">
                                          <p:stCondLst>
                                            <p:cond delay="0"/>
                                          </p:stCondLst>
                                        </p:cTn>
                                        <p:tgtEl>
                                          <p:spTgt spid="2381951"/>
                                        </p:tgtEl>
                                        <p:attrNameLst>
                                          <p:attrName>style.visibility</p:attrName>
                                        </p:attrNameLst>
                                      </p:cBhvr>
                                      <p:to>
                                        <p:strVal val="visible"/>
                                      </p:to>
                                    </p:set>
                                    <p:animEffect transition="in" filter="dissolve">
                                      <p:cBhvr>
                                        <p:cTn id="246" dur="500"/>
                                        <p:tgtEl>
                                          <p:spTgt spid="2381951"/>
                                        </p:tgtEl>
                                      </p:cBhvr>
                                    </p:animEffect>
                                  </p:childTnLst>
                                </p:cTn>
                              </p:par>
                              <p:par>
                                <p:cTn id="247" presetID="9" presetClass="entr" presetSubtype="0" fill="hold" nodeType="withEffect">
                                  <p:stCondLst>
                                    <p:cond delay="0"/>
                                  </p:stCondLst>
                                  <p:childTnLst>
                                    <p:set>
                                      <p:cBhvr>
                                        <p:cTn id="248" dur="1" fill="hold">
                                          <p:stCondLst>
                                            <p:cond delay="0"/>
                                          </p:stCondLst>
                                        </p:cTn>
                                        <p:tgtEl>
                                          <p:spTgt spid="2381952"/>
                                        </p:tgtEl>
                                        <p:attrNameLst>
                                          <p:attrName>style.visibility</p:attrName>
                                        </p:attrNameLst>
                                      </p:cBhvr>
                                      <p:to>
                                        <p:strVal val="visible"/>
                                      </p:to>
                                    </p:set>
                                    <p:animEffect transition="in" filter="dissolve">
                                      <p:cBhvr>
                                        <p:cTn id="249" dur="500"/>
                                        <p:tgtEl>
                                          <p:spTgt spid="2381952"/>
                                        </p:tgtEl>
                                      </p:cBhvr>
                                    </p:animEffect>
                                  </p:childTnLst>
                                </p:cTn>
                              </p:par>
                              <p:par>
                                <p:cTn id="250" presetID="9" presetClass="entr" presetSubtype="0" fill="hold" nodeType="withEffect">
                                  <p:stCondLst>
                                    <p:cond delay="0"/>
                                  </p:stCondLst>
                                  <p:childTnLst>
                                    <p:set>
                                      <p:cBhvr>
                                        <p:cTn id="251" dur="1" fill="hold">
                                          <p:stCondLst>
                                            <p:cond delay="0"/>
                                          </p:stCondLst>
                                        </p:cTn>
                                        <p:tgtEl>
                                          <p:spTgt spid="2381953"/>
                                        </p:tgtEl>
                                        <p:attrNameLst>
                                          <p:attrName>style.visibility</p:attrName>
                                        </p:attrNameLst>
                                      </p:cBhvr>
                                      <p:to>
                                        <p:strVal val="visible"/>
                                      </p:to>
                                    </p:set>
                                    <p:animEffect transition="in" filter="dissolve">
                                      <p:cBhvr>
                                        <p:cTn id="252" dur="500"/>
                                        <p:tgtEl>
                                          <p:spTgt spid="2381953"/>
                                        </p:tgtEl>
                                      </p:cBhvr>
                                    </p:animEffect>
                                  </p:childTnLst>
                                </p:cTn>
                              </p:par>
                              <p:par>
                                <p:cTn id="253" presetID="9" presetClass="entr" presetSubtype="0" fill="hold" nodeType="withEffect">
                                  <p:stCondLst>
                                    <p:cond delay="0"/>
                                  </p:stCondLst>
                                  <p:childTnLst>
                                    <p:set>
                                      <p:cBhvr>
                                        <p:cTn id="254" dur="1" fill="hold">
                                          <p:stCondLst>
                                            <p:cond delay="0"/>
                                          </p:stCondLst>
                                        </p:cTn>
                                        <p:tgtEl>
                                          <p:spTgt spid="2381954"/>
                                        </p:tgtEl>
                                        <p:attrNameLst>
                                          <p:attrName>style.visibility</p:attrName>
                                        </p:attrNameLst>
                                      </p:cBhvr>
                                      <p:to>
                                        <p:strVal val="visible"/>
                                      </p:to>
                                    </p:set>
                                    <p:animEffect transition="in" filter="dissolve">
                                      <p:cBhvr>
                                        <p:cTn id="255" dur="500"/>
                                        <p:tgtEl>
                                          <p:spTgt spid="2381954"/>
                                        </p:tgtEl>
                                      </p:cBhvr>
                                    </p:animEffect>
                                  </p:childTnLst>
                                </p:cTn>
                              </p:par>
                              <p:par>
                                <p:cTn id="256" presetID="9" presetClass="entr" presetSubtype="0" fill="hold" nodeType="withEffect">
                                  <p:stCondLst>
                                    <p:cond delay="0"/>
                                  </p:stCondLst>
                                  <p:childTnLst>
                                    <p:set>
                                      <p:cBhvr>
                                        <p:cTn id="257" dur="1" fill="hold">
                                          <p:stCondLst>
                                            <p:cond delay="0"/>
                                          </p:stCondLst>
                                        </p:cTn>
                                        <p:tgtEl>
                                          <p:spTgt spid="2381955"/>
                                        </p:tgtEl>
                                        <p:attrNameLst>
                                          <p:attrName>style.visibility</p:attrName>
                                        </p:attrNameLst>
                                      </p:cBhvr>
                                      <p:to>
                                        <p:strVal val="visible"/>
                                      </p:to>
                                    </p:set>
                                    <p:animEffect transition="in" filter="dissolve">
                                      <p:cBhvr>
                                        <p:cTn id="258" dur="500"/>
                                        <p:tgtEl>
                                          <p:spTgt spid="2381955"/>
                                        </p:tgtEl>
                                      </p:cBhvr>
                                    </p:animEffect>
                                  </p:childTnLst>
                                </p:cTn>
                              </p:par>
                              <p:par>
                                <p:cTn id="259" presetID="9" presetClass="entr" presetSubtype="0" fill="hold" nodeType="withEffect">
                                  <p:stCondLst>
                                    <p:cond delay="0"/>
                                  </p:stCondLst>
                                  <p:childTnLst>
                                    <p:set>
                                      <p:cBhvr>
                                        <p:cTn id="260" dur="1" fill="hold">
                                          <p:stCondLst>
                                            <p:cond delay="0"/>
                                          </p:stCondLst>
                                        </p:cTn>
                                        <p:tgtEl>
                                          <p:spTgt spid="2381956"/>
                                        </p:tgtEl>
                                        <p:attrNameLst>
                                          <p:attrName>style.visibility</p:attrName>
                                        </p:attrNameLst>
                                      </p:cBhvr>
                                      <p:to>
                                        <p:strVal val="visible"/>
                                      </p:to>
                                    </p:set>
                                    <p:animEffect transition="in" filter="dissolve">
                                      <p:cBhvr>
                                        <p:cTn id="261" dur="500"/>
                                        <p:tgtEl>
                                          <p:spTgt spid="2381956"/>
                                        </p:tgtEl>
                                      </p:cBhvr>
                                    </p:animEffect>
                                  </p:childTnLst>
                                </p:cTn>
                              </p:par>
                              <p:par>
                                <p:cTn id="262" presetID="9" presetClass="entr" presetSubtype="0" fill="hold" nodeType="withEffect">
                                  <p:stCondLst>
                                    <p:cond delay="0"/>
                                  </p:stCondLst>
                                  <p:childTnLst>
                                    <p:set>
                                      <p:cBhvr>
                                        <p:cTn id="263" dur="1" fill="hold">
                                          <p:stCondLst>
                                            <p:cond delay="0"/>
                                          </p:stCondLst>
                                        </p:cTn>
                                        <p:tgtEl>
                                          <p:spTgt spid="2381957"/>
                                        </p:tgtEl>
                                        <p:attrNameLst>
                                          <p:attrName>style.visibility</p:attrName>
                                        </p:attrNameLst>
                                      </p:cBhvr>
                                      <p:to>
                                        <p:strVal val="visible"/>
                                      </p:to>
                                    </p:set>
                                    <p:animEffect transition="in" filter="dissolve">
                                      <p:cBhvr>
                                        <p:cTn id="264" dur="500"/>
                                        <p:tgtEl>
                                          <p:spTgt spid="2381957"/>
                                        </p:tgtEl>
                                      </p:cBhvr>
                                    </p:animEffect>
                                  </p:childTnLst>
                                </p:cTn>
                              </p:par>
                              <p:par>
                                <p:cTn id="265" presetID="9" presetClass="entr" presetSubtype="0" fill="hold" nodeType="withEffect">
                                  <p:stCondLst>
                                    <p:cond delay="0"/>
                                  </p:stCondLst>
                                  <p:childTnLst>
                                    <p:set>
                                      <p:cBhvr>
                                        <p:cTn id="266" dur="1" fill="hold">
                                          <p:stCondLst>
                                            <p:cond delay="0"/>
                                          </p:stCondLst>
                                        </p:cTn>
                                        <p:tgtEl>
                                          <p:spTgt spid="2381958"/>
                                        </p:tgtEl>
                                        <p:attrNameLst>
                                          <p:attrName>style.visibility</p:attrName>
                                        </p:attrNameLst>
                                      </p:cBhvr>
                                      <p:to>
                                        <p:strVal val="visible"/>
                                      </p:to>
                                    </p:set>
                                    <p:animEffect transition="in" filter="dissolve">
                                      <p:cBhvr>
                                        <p:cTn id="267" dur="500"/>
                                        <p:tgtEl>
                                          <p:spTgt spid="2381958"/>
                                        </p:tgtEl>
                                      </p:cBhvr>
                                    </p:animEffect>
                                  </p:childTnLst>
                                </p:cTn>
                              </p:par>
                              <p:par>
                                <p:cTn id="268" presetID="9" presetClass="entr" presetSubtype="0" fill="hold" nodeType="withEffect">
                                  <p:stCondLst>
                                    <p:cond delay="0"/>
                                  </p:stCondLst>
                                  <p:childTnLst>
                                    <p:set>
                                      <p:cBhvr>
                                        <p:cTn id="269" dur="1" fill="hold">
                                          <p:stCondLst>
                                            <p:cond delay="0"/>
                                          </p:stCondLst>
                                        </p:cTn>
                                        <p:tgtEl>
                                          <p:spTgt spid="2381959"/>
                                        </p:tgtEl>
                                        <p:attrNameLst>
                                          <p:attrName>style.visibility</p:attrName>
                                        </p:attrNameLst>
                                      </p:cBhvr>
                                      <p:to>
                                        <p:strVal val="visible"/>
                                      </p:to>
                                    </p:set>
                                    <p:animEffect transition="in" filter="dissolve">
                                      <p:cBhvr>
                                        <p:cTn id="270" dur="500"/>
                                        <p:tgtEl>
                                          <p:spTgt spid="2381959"/>
                                        </p:tgtEl>
                                      </p:cBhvr>
                                    </p:animEffect>
                                  </p:childTnLst>
                                </p:cTn>
                              </p:par>
                              <p:par>
                                <p:cTn id="271" presetID="9" presetClass="entr" presetSubtype="0" fill="hold" nodeType="withEffect">
                                  <p:stCondLst>
                                    <p:cond delay="0"/>
                                  </p:stCondLst>
                                  <p:childTnLst>
                                    <p:set>
                                      <p:cBhvr>
                                        <p:cTn id="272" dur="1" fill="hold">
                                          <p:stCondLst>
                                            <p:cond delay="0"/>
                                          </p:stCondLst>
                                        </p:cTn>
                                        <p:tgtEl>
                                          <p:spTgt spid="2381960"/>
                                        </p:tgtEl>
                                        <p:attrNameLst>
                                          <p:attrName>style.visibility</p:attrName>
                                        </p:attrNameLst>
                                      </p:cBhvr>
                                      <p:to>
                                        <p:strVal val="visible"/>
                                      </p:to>
                                    </p:set>
                                    <p:animEffect transition="in" filter="dissolve">
                                      <p:cBhvr>
                                        <p:cTn id="273" dur="500"/>
                                        <p:tgtEl>
                                          <p:spTgt spid="2381960"/>
                                        </p:tgtEl>
                                      </p:cBhvr>
                                    </p:animEffect>
                                  </p:childTnLst>
                                </p:cTn>
                              </p:par>
                              <p:par>
                                <p:cTn id="274" presetID="9" presetClass="entr" presetSubtype="0" fill="hold" nodeType="withEffect">
                                  <p:stCondLst>
                                    <p:cond delay="0"/>
                                  </p:stCondLst>
                                  <p:childTnLst>
                                    <p:set>
                                      <p:cBhvr>
                                        <p:cTn id="275" dur="1" fill="hold">
                                          <p:stCondLst>
                                            <p:cond delay="0"/>
                                          </p:stCondLst>
                                        </p:cTn>
                                        <p:tgtEl>
                                          <p:spTgt spid="2381961"/>
                                        </p:tgtEl>
                                        <p:attrNameLst>
                                          <p:attrName>style.visibility</p:attrName>
                                        </p:attrNameLst>
                                      </p:cBhvr>
                                      <p:to>
                                        <p:strVal val="visible"/>
                                      </p:to>
                                    </p:set>
                                    <p:animEffect transition="in" filter="dissolve">
                                      <p:cBhvr>
                                        <p:cTn id="276" dur="500"/>
                                        <p:tgtEl>
                                          <p:spTgt spid="2381961"/>
                                        </p:tgtEl>
                                      </p:cBhvr>
                                    </p:animEffect>
                                  </p:childTnLst>
                                </p:cTn>
                              </p:par>
                              <p:par>
                                <p:cTn id="277" presetID="9" presetClass="entr" presetSubtype="0" fill="hold" nodeType="withEffect">
                                  <p:stCondLst>
                                    <p:cond delay="0"/>
                                  </p:stCondLst>
                                  <p:childTnLst>
                                    <p:set>
                                      <p:cBhvr>
                                        <p:cTn id="278" dur="1" fill="hold">
                                          <p:stCondLst>
                                            <p:cond delay="0"/>
                                          </p:stCondLst>
                                        </p:cTn>
                                        <p:tgtEl>
                                          <p:spTgt spid="2381962"/>
                                        </p:tgtEl>
                                        <p:attrNameLst>
                                          <p:attrName>style.visibility</p:attrName>
                                        </p:attrNameLst>
                                      </p:cBhvr>
                                      <p:to>
                                        <p:strVal val="visible"/>
                                      </p:to>
                                    </p:set>
                                    <p:animEffect transition="in" filter="dissolve">
                                      <p:cBhvr>
                                        <p:cTn id="279" dur="500"/>
                                        <p:tgtEl>
                                          <p:spTgt spid="2381962"/>
                                        </p:tgtEl>
                                      </p:cBhvr>
                                    </p:animEffect>
                                  </p:childTnLst>
                                </p:cTn>
                              </p:par>
                              <p:par>
                                <p:cTn id="280" presetID="9" presetClass="entr" presetSubtype="0" fill="hold" nodeType="withEffect">
                                  <p:stCondLst>
                                    <p:cond delay="0"/>
                                  </p:stCondLst>
                                  <p:childTnLst>
                                    <p:set>
                                      <p:cBhvr>
                                        <p:cTn id="281" dur="1" fill="hold">
                                          <p:stCondLst>
                                            <p:cond delay="0"/>
                                          </p:stCondLst>
                                        </p:cTn>
                                        <p:tgtEl>
                                          <p:spTgt spid="2381963"/>
                                        </p:tgtEl>
                                        <p:attrNameLst>
                                          <p:attrName>style.visibility</p:attrName>
                                        </p:attrNameLst>
                                      </p:cBhvr>
                                      <p:to>
                                        <p:strVal val="visible"/>
                                      </p:to>
                                    </p:set>
                                    <p:animEffect transition="in" filter="dissolve">
                                      <p:cBhvr>
                                        <p:cTn id="282" dur="500"/>
                                        <p:tgtEl>
                                          <p:spTgt spid="2381963"/>
                                        </p:tgtEl>
                                      </p:cBhvr>
                                    </p:animEffect>
                                  </p:childTnLst>
                                </p:cTn>
                              </p:par>
                              <p:par>
                                <p:cTn id="283" presetID="9" presetClass="entr" presetSubtype="0" fill="hold" nodeType="withEffect">
                                  <p:stCondLst>
                                    <p:cond delay="0"/>
                                  </p:stCondLst>
                                  <p:childTnLst>
                                    <p:set>
                                      <p:cBhvr>
                                        <p:cTn id="284" dur="1" fill="hold">
                                          <p:stCondLst>
                                            <p:cond delay="0"/>
                                          </p:stCondLst>
                                        </p:cTn>
                                        <p:tgtEl>
                                          <p:spTgt spid="2381964"/>
                                        </p:tgtEl>
                                        <p:attrNameLst>
                                          <p:attrName>style.visibility</p:attrName>
                                        </p:attrNameLst>
                                      </p:cBhvr>
                                      <p:to>
                                        <p:strVal val="visible"/>
                                      </p:to>
                                    </p:set>
                                    <p:animEffect transition="in" filter="dissolve">
                                      <p:cBhvr>
                                        <p:cTn id="285" dur="500"/>
                                        <p:tgtEl>
                                          <p:spTgt spid="2381964"/>
                                        </p:tgtEl>
                                      </p:cBhvr>
                                    </p:animEffect>
                                  </p:childTnLst>
                                </p:cTn>
                              </p:par>
                              <p:par>
                                <p:cTn id="286" presetID="9" presetClass="entr" presetSubtype="0" fill="hold" nodeType="withEffect">
                                  <p:stCondLst>
                                    <p:cond delay="0"/>
                                  </p:stCondLst>
                                  <p:childTnLst>
                                    <p:set>
                                      <p:cBhvr>
                                        <p:cTn id="287" dur="1" fill="hold">
                                          <p:stCondLst>
                                            <p:cond delay="0"/>
                                          </p:stCondLst>
                                        </p:cTn>
                                        <p:tgtEl>
                                          <p:spTgt spid="2381965"/>
                                        </p:tgtEl>
                                        <p:attrNameLst>
                                          <p:attrName>style.visibility</p:attrName>
                                        </p:attrNameLst>
                                      </p:cBhvr>
                                      <p:to>
                                        <p:strVal val="visible"/>
                                      </p:to>
                                    </p:set>
                                    <p:animEffect transition="in" filter="dissolve">
                                      <p:cBhvr>
                                        <p:cTn id="288" dur="500"/>
                                        <p:tgtEl>
                                          <p:spTgt spid="2381965"/>
                                        </p:tgtEl>
                                      </p:cBhvr>
                                    </p:animEffect>
                                  </p:childTnLst>
                                </p:cTn>
                              </p:par>
                              <p:par>
                                <p:cTn id="289" presetID="9" presetClass="entr" presetSubtype="0" fill="hold" nodeType="withEffect">
                                  <p:stCondLst>
                                    <p:cond delay="0"/>
                                  </p:stCondLst>
                                  <p:childTnLst>
                                    <p:set>
                                      <p:cBhvr>
                                        <p:cTn id="290" dur="1" fill="hold">
                                          <p:stCondLst>
                                            <p:cond delay="0"/>
                                          </p:stCondLst>
                                        </p:cTn>
                                        <p:tgtEl>
                                          <p:spTgt spid="2381966"/>
                                        </p:tgtEl>
                                        <p:attrNameLst>
                                          <p:attrName>style.visibility</p:attrName>
                                        </p:attrNameLst>
                                      </p:cBhvr>
                                      <p:to>
                                        <p:strVal val="visible"/>
                                      </p:to>
                                    </p:set>
                                    <p:animEffect transition="in" filter="dissolve">
                                      <p:cBhvr>
                                        <p:cTn id="291" dur="500"/>
                                        <p:tgtEl>
                                          <p:spTgt spid="2381966"/>
                                        </p:tgtEl>
                                      </p:cBhvr>
                                    </p:animEffect>
                                  </p:childTnLst>
                                </p:cTn>
                              </p:par>
                              <p:par>
                                <p:cTn id="292" presetID="9" presetClass="entr" presetSubtype="0" fill="hold" nodeType="withEffect">
                                  <p:stCondLst>
                                    <p:cond delay="0"/>
                                  </p:stCondLst>
                                  <p:childTnLst>
                                    <p:set>
                                      <p:cBhvr>
                                        <p:cTn id="293" dur="1" fill="hold">
                                          <p:stCondLst>
                                            <p:cond delay="0"/>
                                          </p:stCondLst>
                                        </p:cTn>
                                        <p:tgtEl>
                                          <p:spTgt spid="2381967"/>
                                        </p:tgtEl>
                                        <p:attrNameLst>
                                          <p:attrName>style.visibility</p:attrName>
                                        </p:attrNameLst>
                                      </p:cBhvr>
                                      <p:to>
                                        <p:strVal val="visible"/>
                                      </p:to>
                                    </p:set>
                                    <p:animEffect transition="in" filter="dissolve">
                                      <p:cBhvr>
                                        <p:cTn id="294" dur="500"/>
                                        <p:tgtEl>
                                          <p:spTgt spid="2381967"/>
                                        </p:tgtEl>
                                      </p:cBhvr>
                                    </p:animEffect>
                                  </p:childTnLst>
                                </p:cTn>
                              </p:par>
                              <p:par>
                                <p:cTn id="295" presetID="9" presetClass="entr" presetSubtype="0" fill="hold" nodeType="withEffect">
                                  <p:stCondLst>
                                    <p:cond delay="0"/>
                                  </p:stCondLst>
                                  <p:childTnLst>
                                    <p:set>
                                      <p:cBhvr>
                                        <p:cTn id="296" dur="1" fill="hold">
                                          <p:stCondLst>
                                            <p:cond delay="0"/>
                                          </p:stCondLst>
                                        </p:cTn>
                                        <p:tgtEl>
                                          <p:spTgt spid="2381968"/>
                                        </p:tgtEl>
                                        <p:attrNameLst>
                                          <p:attrName>style.visibility</p:attrName>
                                        </p:attrNameLst>
                                      </p:cBhvr>
                                      <p:to>
                                        <p:strVal val="visible"/>
                                      </p:to>
                                    </p:set>
                                    <p:animEffect transition="in" filter="dissolve">
                                      <p:cBhvr>
                                        <p:cTn id="297" dur="500"/>
                                        <p:tgtEl>
                                          <p:spTgt spid="2381968"/>
                                        </p:tgtEl>
                                      </p:cBhvr>
                                    </p:animEffect>
                                  </p:childTnLst>
                                </p:cTn>
                              </p:par>
                              <p:par>
                                <p:cTn id="298" presetID="9" presetClass="entr" presetSubtype="0" fill="hold" nodeType="withEffect">
                                  <p:stCondLst>
                                    <p:cond delay="0"/>
                                  </p:stCondLst>
                                  <p:childTnLst>
                                    <p:set>
                                      <p:cBhvr>
                                        <p:cTn id="299" dur="1" fill="hold">
                                          <p:stCondLst>
                                            <p:cond delay="0"/>
                                          </p:stCondLst>
                                        </p:cTn>
                                        <p:tgtEl>
                                          <p:spTgt spid="2381969"/>
                                        </p:tgtEl>
                                        <p:attrNameLst>
                                          <p:attrName>style.visibility</p:attrName>
                                        </p:attrNameLst>
                                      </p:cBhvr>
                                      <p:to>
                                        <p:strVal val="visible"/>
                                      </p:to>
                                    </p:set>
                                    <p:animEffect transition="in" filter="dissolve">
                                      <p:cBhvr>
                                        <p:cTn id="300" dur="500"/>
                                        <p:tgtEl>
                                          <p:spTgt spid="2381969"/>
                                        </p:tgtEl>
                                      </p:cBhvr>
                                    </p:animEffect>
                                  </p:childTnLst>
                                </p:cTn>
                              </p:par>
                              <p:par>
                                <p:cTn id="301" presetID="9" presetClass="entr" presetSubtype="0" fill="hold" nodeType="withEffect">
                                  <p:stCondLst>
                                    <p:cond delay="0"/>
                                  </p:stCondLst>
                                  <p:childTnLst>
                                    <p:set>
                                      <p:cBhvr>
                                        <p:cTn id="302" dur="1" fill="hold">
                                          <p:stCondLst>
                                            <p:cond delay="0"/>
                                          </p:stCondLst>
                                        </p:cTn>
                                        <p:tgtEl>
                                          <p:spTgt spid="2381970"/>
                                        </p:tgtEl>
                                        <p:attrNameLst>
                                          <p:attrName>style.visibility</p:attrName>
                                        </p:attrNameLst>
                                      </p:cBhvr>
                                      <p:to>
                                        <p:strVal val="visible"/>
                                      </p:to>
                                    </p:set>
                                    <p:animEffect transition="in" filter="dissolve">
                                      <p:cBhvr>
                                        <p:cTn id="303" dur="500"/>
                                        <p:tgtEl>
                                          <p:spTgt spid="2381970"/>
                                        </p:tgtEl>
                                      </p:cBhvr>
                                    </p:animEffect>
                                  </p:childTnLst>
                                </p:cTn>
                              </p:par>
                              <p:par>
                                <p:cTn id="304" presetID="9" presetClass="entr" presetSubtype="0" fill="hold" nodeType="withEffect">
                                  <p:stCondLst>
                                    <p:cond delay="0"/>
                                  </p:stCondLst>
                                  <p:childTnLst>
                                    <p:set>
                                      <p:cBhvr>
                                        <p:cTn id="305" dur="1" fill="hold">
                                          <p:stCondLst>
                                            <p:cond delay="0"/>
                                          </p:stCondLst>
                                        </p:cTn>
                                        <p:tgtEl>
                                          <p:spTgt spid="2381971"/>
                                        </p:tgtEl>
                                        <p:attrNameLst>
                                          <p:attrName>style.visibility</p:attrName>
                                        </p:attrNameLst>
                                      </p:cBhvr>
                                      <p:to>
                                        <p:strVal val="visible"/>
                                      </p:to>
                                    </p:set>
                                    <p:animEffect transition="in" filter="dissolve">
                                      <p:cBhvr>
                                        <p:cTn id="306" dur="500"/>
                                        <p:tgtEl>
                                          <p:spTgt spid="2381971"/>
                                        </p:tgtEl>
                                      </p:cBhvr>
                                    </p:animEffect>
                                  </p:childTnLst>
                                </p:cTn>
                              </p:par>
                              <p:par>
                                <p:cTn id="307" presetID="9" presetClass="entr" presetSubtype="0" fill="hold" nodeType="withEffect">
                                  <p:stCondLst>
                                    <p:cond delay="0"/>
                                  </p:stCondLst>
                                  <p:childTnLst>
                                    <p:set>
                                      <p:cBhvr>
                                        <p:cTn id="308" dur="1" fill="hold">
                                          <p:stCondLst>
                                            <p:cond delay="0"/>
                                          </p:stCondLst>
                                        </p:cTn>
                                        <p:tgtEl>
                                          <p:spTgt spid="2381972"/>
                                        </p:tgtEl>
                                        <p:attrNameLst>
                                          <p:attrName>style.visibility</p:attrName>
                                        </p:attrNameLst>
                                      </p:cBhvr>
                                      <p:to>
                                        <p:strVal val="visible"/>
                                      </p:to>
                                    </p:set>
                                    <p:animEffect transition="in" filter="dissolve">
                                      <p:cBhvr>
                                        <p:cTn id="309" dur="500"/>
                                        <p:tgtEl>
                                          <p:spTgt spid="2381972"/>
                                        </p:tgtEl>
                                      </p:cBhvr>
                                    </p:animEffect>
                                  </p:childTnLst>
                                </p:cTn>
                              </p:par>
                              <p:par>
                                <p:cTn id="310" presetID="9" presetClass="entr" presetSubtype="0" fill="hold" nodeType="withEffect">
                                  <p:stCondLst>
                                    <p:cond delay="0"/>
                                  </p:stCondLst>
                                  <p:childTnLst>
                                    <p:set>
                                      <p:cBhvr>
                                        <p:cTn id="311" dur="1" fill="hold">
                                          <p:stCondLst>
                                            <p:cond delay="0"/>
                                          </p:stCondLst>
                                        </p:cTn>
                                        <p:tgtEl>
                                          <p:spTgt spid="2381973"/>
                                        </p:tgtEl>
                                        <p:attrNameLst>
                                          <p:attrName>style.visibility</p:attrName>
                                        </p:attrNameLst>
                                      </p:cBhvr>
                                      <p:to>
                                        <p:strVal val="visible"/>
                                      </p:to>
                                    </p:set>
                                    <p:animEffect transition="in" filter="dissolve">
                                      <p:cBhvr>
                                        <p:cTn id="312" dur="500"/>
                                        <p:tgtEl>
                                          <p:spTgt spid="2381973"/>
                                        </p:tgtEl>
                                      </p:cBhvr>
                                    </p:animEffect>
                                  </p:childTnLst>
                                </p:cTn>
                              </p:par>
                              <p:par>
                                <p:cTn id="313" presetID="9" presetClass="entr" presetSubtype="0" fill="hold" nodeType="withEffect">
                                  <p:stCondLst>
                                    <p:cond delay="0"/>
                                  </p:stCondLst>
                                  <p:childTnLst>
                                    <p:set>
                                      <p:cBhvr>
                                        <p:cTn id="314" dur="1" fill="hold">
                                          <p:stCondLst>
                                            <p:cond delay="0"/>
                                          </p:stCondLst>
                                        </p:cTn>
                                        <p:tgtEl>
                                          <p:spTgt spid="2381974"/>
                                        </p:tgtEl>
                                        <p:attrNameLst>
                                          <p:attrName>style.visibility</p:attrName>
                                        </p:attrNameLst>
                                      </p:cBhvr>
                                      <p:to>
                                        <p:strVal val="visible"/>
                                      </p:to>
                                    </p:set>
                                    <p:animEffect transition="in" filter="dissolve">
                                      <p:cBhvr>
                                        <p:cTn id="315" dur="500"/>
                                        <p:tgtEl>
                                          <p:spTgt spid="2381974"/>
                                        </p:tgtEl>
                                      </p:cBhvr>
                                    </p:animEffect>
                                  </p:childTnLst>
                                </p:cTn>
                              </p:par>
                              <p:par>
                                <p:cTn id="316" presetID="9" presetClass="entr" presetSubtype="0" fill="hold" nodeType="withEffect">
                                  <p:stCondLst>
                                    <p:cond delay="0"/>
                                  </p:stCondLst>
                                  <p:childTnLst>
                                    <p:set>
                                      <p:cBhvr>
                                        <p:cTn id="317" dur="1" fill="hold">
                                          <p:stCondLst>
                                            <p:cond delay="0"/>
                                          </p:stCondLst>
                                        </p:cTn>
                                        <p:tgtEl>
                                          <p:spTgt spid="2381975"/>
                                        </p:tgtEl>
                                        <p:attrNameLst>
                                          <p:attrName>style.visibility</p:attrName>
                                        </p:attrNameLst>
                                      </p:cBhvr>
                                      <p:to>
                                        <p:strVal val="visible"/>
                                      </p:to>
                                    </p:set>
                                    <p:animEffect transition="in" filter="dissolve">
                                      <p:cBhvr>
                                        <p:cTn id="318" dur="500"/>
                                        <p:tgtEl>
                                          <p:spTgt spid="2381975"/>
                                        </p:tgtEl>
                                      </p:cBhvr>
                                    </p:animEffect>
                                  </p:childTnLst>
                                </p:cTn>
                              </p:par>
                              <p:par>
                                <p:cTn id="319" presetID="9" presetClass="entr" presetSubtype="0" fill="hold" nodeType="withEffect">
                                  <p:stCondLst>
                                    <p:cond delay="0"/>
                                  </p:stCondLst>
                                  <p:childTnLst>
                                    <p:set>
                                      <p:cBhvr>
                                        <p:cTn id="320" dur="1" fill="hold">
                                          <p:stCondLst>
                                            <p:cond delay="0"/>
                                          </p:stCondLst>
                                        </p:cTn>
                                        <p:tgtEl>
                                          <p:spTgt spid="2381976"/>
                                        </p:tgtEl>
                                        <p:attrNameLst>
                                          <p:attrName>style.visibility</p:attrName>
                                        </p:attrNameLst>
                                      </p:cBhvr>
                                      <p:to>
                                        <p:strVal val="visible"/>
                                      </p:to>
                                    </p:set>
                                    <p:animEffect transition="in" filter="dissolve">
                                      <p:cBhvr>
                                        <p:cTn id="321" dur="500"/>
                                        <p:tgtEl>
                                          <p:spTgt spid="2381976"/>
                                        </p:tgtEl>
                                      </p:cBhvr>
                                    </p:animEffect>
                                  </p:childTnLst>
                                </p:cTn>
                              </p:par>
                              <p:par>
                                <p:cTn id="322" presetID="9" presetClass="entr" presetSubtype="0" fill="hold" nodeType="withEffect">
                                  <p:stCondLst>
                                    <p:cond delay="0"/>
                                  </p:stCondLst>
                                  <p:childTnLst>
                                    <p:set>
                                      <p:cBhvr>
                                        <p:cTn id="323" dur="1" fill="hold">
                                          <p:stCondLst>
                                            <p:cond delay="0"/>
                                          </p:stCondLst>
                                        </p:cTn>
                                        <p:tgtEl>
                                          <p:spTgt spid="2381977"/>
                                        </p:tgtEl>
                                        <p:attrNameLst>
                                          <p:attrName>style.visibility</p:attrName>
                                        </p:attrNameLst>
                                      </p:cBhvr>
                                      <p:to>
                                        <p:strVal val="visible"/>
                                      </p:to>
                                    </p:set>
                                    <p:animEffect transition="in" filter="dissolve">
                                      <p:cBhvr>
                                        <p:cTn id="324" dur="500"/>
                                        <p:tgtEl>
                                          <p:spTgt spid="2381977"/>
                                        </p:tgtEl>
                                      </p:cBhvr>
                                    </p:animEffect>
                                  </p:childTnLst>
                                </p:cTn>
                              </p:par>
                              <p:par>
                                <p:cTn id="325" presetID="9" presetClass="entr" presetSubtype="0" fill="hold" nodeType="withEffect">
                                  <p:stCondLst>
                                    <p:cond delay="0"/>
                                  </p:stCondLst>
                                  <p:childTnLst>
                                    <p:set>
                                      <p:cBhvr>
                                        <p:cTn id="326" dur="1" fill="hold">
                                          <p:stCondLst>
                                            <p:cond delay="0"/>
                                          </p:stCondLst>
                                        </p:cTn>
                                        <p:tgtEl>
                                          <p:spTgt spid="2381978"/>
                                        </p:tgtEl>
                                        <p:attrNameLst>
                                          <p:attrName>style.visibility</p:attrName>
                                        </p:attrNameLst>
                                      </p:cBhvr>
                                      <p:to>
                                        <p:strVal val="visible"/>
                                      </p:to>
                                    </p:set>
                                    <p:animEffect transition="in" filter="dissolve">
                                      <p:cBhvr>
                                        <p:cTn id="327" dur="500"/>
                                        <p:tgtEl>
                                          <p:spTgt spid="2381978"/>
                                        </p:tgtEl>
                                      </p:cBhvr>
                                    </p:animEffect>
                                  </p:childTnLst>
                                </p:cTn>
                              </p:par>
                              <p:par>
                                <p:cTn id="328" presetID="9" presetClass="entr" presetSubtype="0" fill="hold" nodeType="withEffect">
                                  <p:stCondLst>
                                    <p:cond delay="0"/>
                                  </p:stCondLst>
                                  <p:childTnLst>
                                    <p:set>
                                      <p:cBhvr>
                                        <p:cTn id="329" dur="1" fill="hold">
                                          <p:stCondLst>
                                            <p:cond delay="0"/>
                                          </p:stCondLst>
                                        </p:cTn>
                                        <p:tgtEl>
                                          <p:spTgt spid="2381979"/>
                                        </p:tgtEl>
                                        <p:attrNameLst>
                                          <p:attrName>style.visibility</p:attrName>
                                        </p:attrNameLst>
                                      </p:cBhvr>
                                      <p:to>
                                        <p:strVal val="visible"/>
                                      </p:to>
                                    </p:set>
                                    <p:animEffect transition="in" filter="dissolve">
                                      <p:cBhvr>
                                        <p:cTn id="330" dur="500"/>
                                        <p:tgtEl>
                                          <p:spTgt spid="2381979"/>
                                        </p:tgtEl>
                                      </p:cBhvr>
                                    </p:animEffect>
                                  </p:childTnLst>
                                </p:cTn>
                              </p:par>
                              <p:par>
                                <p:cTn id="331" presetID="9" presetClass="entr" presetSubtype="0" fill="hold" nodeType="withEffect">
                                  <p:stCondLst>
                                    <p:cond delay="0"/>
                                  </p:stCondLst>
                                  <p:childTnLst>
                                    <p:set>
                                      <p:cBhvr>
                                        <p:cTn id="332" dur="1" fill="hold">
                                          <p:stCondLst>
                                            <p:cond delay="0"/>
                                          </p:stCondLst>
                                        </p:cTn>
                                        <p:tgtEl>
                                          <p:spTgt spid="2381980"/>
                                        </p:tgtEl>
                                        <p:attrNameLst>
                                          <p:attrName>style.visibility</p:attrName>
                                        </p:attrNameLst>
                                      </p:cBhvr>
                                      <p:to>
                                        <p:strVal val="visible"/>
                                      </p:to>
                                    </p:set>
                                    <p:animEffect transition="in" filter="dissolve">
                                      <p:cBhvr>
                                        <p:cTn id="333" dur="500"/>
                                        <p:tgtEl>
                                          <p:spTgt spid="2381980"/>
                                        </p:tgtEl>
                                      </p:cBhvr>
                                    </p:animEffect>
                                  </p:childTnLst>
                                </p:cTn>
                              </p:par>
                              <p:par>
                                <p:cTn id="334" presetID="9" presetClass="entr" presetSubtype="0" fill="hold" nodeType="withEffect">
                                  <p:stCondLst>
                                    <p:cond delay="0"/>
                                  </p:stCondLst>
                                  <p:childTnLst>
                                    <p:set>
                                      <p:cBhvr>
                                        <p:cTn id="335" dur="1" fill="hold">
                                          <p:stCondLst>
                                            <p:cond delay="0"/>
                                          </p:stCondLst>
                                        </p:cTn>
                                        <p:tgtEl>
                                          <p:spTgt spid="2381981"/>
                                        </p:tgtEl>
                                        <p:attrNameLst>
                                          <p:attrName>style.visibility</p:attrName>
                                        </p:attrNameLst>
                                      </p:cBhvr>
                                      <p:to>
                                        <p:strVal val="visible"/>
                                      </p:to>
                                    </p:set>
                                    <p:animEffect transition="in" filter="dissolve">
                                      <p:cBhvr>
                                        <p:cTn id="336" dur="500"/>
                                        <p:tgtEl>
                                          <p:spTgt spid="2381981"/>
                                        </p:tgtEl>
                                      </p:cBhvr>
                                    </p:animEffect>
                                  </p:childTnLst>
                                </p:cTn>
                              </p:par>
                              <p:par>
                                <p:cTn id="337" presetID="9" presetClass="entr" presetSubtype="0" fill="hold" nodeType="withEffect">
                                  <p:stCondLst>
                                    <p:cond delay="0"/>
                                  </p:stCondLst>
                                  <p:childTnLst>
                                    <p:set>
                                      <p:cBhvr>
                                        <p:cTn id="338" dur="1" fill="hold">
                                          <p:stCondLst>
                                            <p:cond delay="0"/>
                                          </p:stCondLst>
                                        </p:cTn>
                                        <p:tgtEl>
                                          <p:spTgt spid="2381982"/>
                                        </p:tgtEl>
                                        <p:attrNameLst>
                                          <p:attrName>style.visibility</p:attrName>
                                        </p:attrNameLst>
                                      </p:cBhvr>
                                      <p:to>
                                        <p:strVal val="visible"/>
                                      </p:to>
                                    </p:set>
                                    <p:animEffect transition="in" filter="dissolve">
                                      <p:cBhvr>
                                        <p:cTn id="339" dur="500"/>
                                        <p:tgtEl>
                                          <p:spTgt spid="2381982"/>
                                        </p:tgtEl>
                                      </p:cBhvr>
                                    </p:animEffect>
                                  </p:childTnLst>
                                </p:cTn>
                              </p:par>
                              <p:par>
                                <p:cTn id="340" presetID="9" presetClass="entr" presetSubtype="0" fill="hold" nodeType="withEffect">
                                  <p:stCondLst>
                                    <p:cond delay="0"/>
                                  </p:stCondLst>
                                  <p:childTnLst>
                                    <p:set>
                                      <p:cBhvr>
                                        <p:cTn id="341" dur="1" fill="hold">
                                          <p:stCondLst>
                                            <p:cond delay="0"/>
                                          </p:stCondLst>
                                        </p:cTn>
                                        <p:tgtEl>
                                          <p:spTgt spid="2381983"/>
                                        </p:tgtEl>
                                        <p:attrNameLst>
                                          <p:attrName>style.visibility</p:attrName>
                                        </p:attrNameLst>
                                      </p:cBhvr>
                                      <p:to>
                                        <p:strVal val="visible"/>
                                      </p:to>
                                    </p:set>
                                    <p:animEffect transition="in" filter="dissolve">
                                      <p:cBhvr>
                                        <p:cTn id="342" dur="500"/>
                                        <p:tgtEl>
                                          <p:spTgt spid="2381983"/>
                                        </p:tgtEl>
                                      </p:cBhvr>
                                    </p:animEffect>
                                  </p:childTnLst>
                                </p:cTn>
                              </p:par>
                              <p:par>
                                <p:cTn id="343" presetID="9" presetClass="entr" presetSubtype="0" fill="hold" nodeType="withEffect">
                                  <p:stCondLst>
                                    <p:cond delay="0"/>
                                  </p:stCondLst>
                                  <p:childTnLst>
                                    <p:set>
                                      <p:cBhvr>
                                        <p:cTn id="344" dur="1" fill="hold">
                                          <p:stCondLst>
                                            <p:cond delay="0"/>
                                          </p:stCondLst>
                                        </p:cTn>
                                        <p:tgtEl>
                                          <p:spTgt spid="2381984"/>
                                        </p:tgtEl>
                                        <p:attrNameLst>
                                          <p:attrName>style.visibility</p:attrName>
                                        </p:attrNameLst>
                                      </p:cBhvr>
                                      <p:to>
                                        <p:strVal val="visible"/>
                                      </p:to>
                                    </p:set>
                                    <p:animEffect transition="in" filter="dissolve">
                                      <p:cBhvr>
                                        <p:cTn id="345" dur="500"/>
                                        <p:tgtEl>
                                          <p:spTgt spid="2381984"/>
                                        </p:tgtEl>
                                      </p:cBhvr>
                                    </p:animEffect>
                                  </p:childTnLst>
                                </p:cTn>
                              </p:par>
                              <p:par>
                                <p:cTn id="346" presetID="9" presetClass="entr" presetSubtype="0" fill="hold" nodeType="withEffect">
                                  <p:stCondLst>
                                    <p:cond delay="0"/>
                                  </p:stCondLst>
                                  <p:childTnLst>
                                    <p:set>
                                      <p:cBhvr>
                                        <p:cTn id="347" dur="1" fill="hold">
                                          <p:stCondLst>
                                            <p:cond delay="0"/>
                                          </p:stCondLst>
                                        </p:cTn>
                                        <p:tgtEl>
                                          <p:spTgt spid="2381985"/>
                                        </p:tgtEl>
                                        <p:attrNameLst>
                                          <p:attrName>style.visibility</p:attrName>
                                        </p:attrNameLst>
                                      </p:cBhvr>
                                      <p:to>
                                        <p:strVal val="visible"/>
                                      </p:to>
                                    </p:set>
                                    <p:animEffect transition="in" filter="dissolve">
                                      <p:cBhvr>
                                        <p:cTn id="348" dur="500"/>
                                        <p:tgtEl>
                                          <p:spTgt spid="2381985"/>
                                        </p:tgtEl>
                                      </p:cBhvr>
                                    </p:animEffect>
                                  </p:childTnLst>
                                </p:cTn>
                              </p:par>
                              <p:par>
                                <p:cTn id="349" presetID="9" presetClass="entr" presetSubtype="0" fill="hold" nodeType="withEffect">
                                  <p:stCondLst>
                                    <p:cond delay="0"/>
                                  </p:stCondLst>
                                  <p:childTnLst>
                                    <p:set>
                                      <p:cBhvr>
                                        <p:cTn id="350" dur="1" fill="hold">
                                          <p:stCondLst>
                                            <p:cond delay="0"/>
                                          </p:stCondLst>
                                        </p:cTn>
                                        <p:tgtEl>
                                          <p:spTgt spid="2381986"/>
                                        </p:tgtEl>
                                        <p:attrNameLst>
                                          <p:attrName>style.visibility</p:attrName>
                                        </p:attrNameLst>
                                      </p:cBhvr>
                                      <p:to>
                                        <p:strVal val="visible"/>
                                      </p:to>
                                    </p:set>
                                    <p:animEffect transition="in" filter="dissolve">
                                      <p:cBhvr>
                                        <p:cTn id="351" dur="500"/>
                                        <p:tgtEl>
                                          <p:spTgt spid="2381986"/>
                                        </p:tgtEl>
                                      </p:cBhvr>
                                    </p:animEffect>
                                  </p:childTnLst>
                                </p:cTn>
                              </p:par>
                              <p:par>
                                <p:cTn id="352" presetID="9" presetClass="entr" presetSubtype="0" fill="hold" nodeType="withEffect">
                                  <p:stCondLst>
                                    <p:cond delay="0"/>
                                  </p:stCondLst>
                                  <p:childTnLst>
                                    <p:set>
                                      <p:cBhvr>
                                        <p:cTn id="353" dur="1" fill="hold">
                                          <p:stCondLst>
                                            <p:cond delay="0"/>
                                          </p:stCondLst>
                                        </p:cTn>
                                        <p:tgtEl>
                                          <p:spTgt spid="2381987"/>
                                        </p:tgtEl>
                                        <p:attrNameLst>
                                          <p:attrName>style.visibility</p:attrName>
                                        </p:attrNameLst>
                                      </p:cBhvr>
                                      <p:to>
                                        <p:strVal val="visible"/>
                                      </p:to>
                                    </p:set>
                                    <p:animEffect transition="in" filter="dissolve">
                                      <p:cBhvr>
                                        <p:cTn id="354" dur="500"/>
                                        <p:tgtEl>
                                          <p:spTgt spid="2381987"/>
                                        </p:tgtEl>
                                      </p:cBhvr>
                                    </p:animEffect>
                                  </p:childTnLst>
                                </p:cTn>
                              </p:par>
                              <p:par>
                                <p:cTn id="355" presetID="9" presetClass="entr" presetSubtype="0" fill="hold" nodeType="withEffect">
                                  <p:stCondLst>
                                    <p:cond delay="0"/>
                                  </p:stCondLst>
                                  <p:childTnLst>
                                    <p:set>
                                      <p:cBhvr>
                                        <p:cTn id="356" dur="1" fill="hold">
                                          <p:stCondLst>
                                            <p:cond delay="0"/>
                                          </p:stCondLst>
                                        </p:cTn>
                                        <p:tgtEl>
                                          <p:spTgt spid="2381988"/>
                                        </p:tgtEl>
                                        <p:attrNameLst>
                                          <p:attrName>style.visibility</p:attrName>
                                        </p:attrNameLst>
                                      </p:cBhvr>
                                      <p:to>
                                        <p:strVal val="visible"/>
                                      </p:to>
                                    </p:set>
                                    <p:animEffect transition="in" filter="dissolve">
                                      <p:cBhvr>
                                        <p:cTn id="357" dur="500"/>
                                        <p:tgtEl>
                                          <p:spTgt spid="2381988"/>
                                        </p:tgtEl>
                                      </p:cBhvr>
                                    </p:animEffect>
                                  </p:childTnLst>
                                </p:cTn>
                              </p:par>
                              <p:par>
                                <p:cTn id="358" presetID="9" presetClass="entr" presetSubtype="0" fill="hold" nodeType="withEffect">
                                  <p:stCondLst>
                                    <p:cond delay="0"/>
                                  </p:stCondLst>
                                  <p:childTnLst>
                                    <p:set>
                                      <p:cBhvr>
                                        <p:cTn id="359" dur="1" fill="hold">
                                          <p:stCondLst>
                                            <p:cond delay="0"/>
                                          </p:stCondLst>
                                        </p:cTn>
                                        <p:tgtEl>
                                          <p:spTgt spid="2381989"/>
                                        </p:tgtEl>
                                        <p:attrNameLst>
                                          <p:attrName>style.visibility</p:attrName>
                                        </p:attrNameLst>
                                      </p:cBhvr>
                                      <p:to>
                                        <p:strVal val="visible"/>
                                      </p:to>
                                    </p:set>
                                    <p:animEffect transition="in" filter="dissolve">
                                      <p:cBhvr>
                                        <p:cTn id="360" dur="500"/>
                                        <p:tgtEl>
                                          <p:spTgt spid="2381989"/>
                                        </p:tgtEl>
                                      </p:cBhvr>
                                    </p:animEffect>
                                  </p:childTnLst>
                                </p:cTn>
                              </p:par>
                              <p:par>
                                <p:cTn id="361" presetID="9" presetClass="entr" presetSubtype="0" fill="hold" nodeType="withEffect">
                                  <p:stCondLst>
                                    <p:cond delay="0"/>
                                  </p:stCondLst>
                                  <p:childTnLst>
                                    <p:set>
                                      <p:cBhvr>
                                        <p:cTn id="362" dur="1" fill="hold">
                                          <p:stCondLst>
                                            <p:cond delay="0"/>
                                          </p:stCondLst>
                                        </p:cTn>
                                        <p:tgtEl>
                                          <p:spTgt spid="2381990"/>
                                        </p:tgtEl>
                                        <p:attrNameLst>
                                          <p:attrName>style.visibility</p:attrName>
                                        </p:attrNameLst>
                                      </p:cBhvr>
                                      <p:to>
                                        <p:strVal val="visible"/>
                                      </p:to>
                                    </p:set>
                                    <p:animEffect transition="in" filter="dissolve">
                                      <p:cBhvr>
                                        <p:cTn id="363" dur="500"/>
                                        <p:tgtEl>
                                          <p:spTgt spid="2381990"/>
                                        </p:tgtEl>
                                      </p:cBhvr>
                                    </p:animEffect>
                                  </p:childTnLst>
                                </p:cTn>
                              </p:par>
                              <p:par>
                                <p:cTn id="364" presetID="9" presetClass="entr" presetSubtype="0" fill="hold" nodeType="withEffect">
                                  <p:stCondLst>
                                    <p:cond delay="0"/>
                                  </p:stCondLst>
                                  <p:childTnLst>
                                    <p:set>
                                      <p:cBhvr>
                                        <p:cTn id="365" dur="1" fill="hold">
                                          <p:stCondLst>
                                            <p:cond delay="0"/>
                                          </p:stCondLst>
                                        </p:cTn>
                                        <p:tgtEl>
                                          <p:spTgt spid="2381991"/>
                                        </p:tgtEl>
                                        <p:attrNameLst>
                                          <p:attrName>style.visibility</p:attrName>
                                        </p:attrNameLst>
                                      </p:cBhvr>
                                      <p:to>
                                        <p:strVal val="visible"/>
                                      </p:to>
                                    </p:set>
                                    <p:animEffect transition="in" filter="dissolve">
                                      <p:cBhvr>
                                        <p:cTn id="366" dur="500"/>
                                        <p:tgtEl>
                                          <p:spTgt spid="2381991"/>
                                        </p:tgtEl>
                                      </p:cBhvr>
                                    </p:animEffect>
                                  </p:childTnLst>
                                </p:cTn>
                              </p:par>
                              <p:par>
                                <p:cTn id="367" presetID="9" presetClass="entr" presetSubtype="0" fill="hold" nodeType="withEffect">
                                  <p:stCondLst>
                                    <p:cond delay="0"/>
                                  </p:stCondLst>
                                  <p:childTnLst>
                                    <p:set>
                                      <p:cBhvr>
                                        <p:cTn id="368" dur="1" fill="hold">
                                          <p:stCondLst>
                                            <p:cond delay="0"/>
                                          </p:stCondLst>
                                        </p:cTn>
                                        <p:tgtEl>
                                          <p:spTgt spid="2381992"/>
                                        </p:tgtEl>
                                        <p:attrNameLst>
                                          <p:attrName>style.visibility</p:attrName>
                                        </p:attrNameLst>
                                      </p:cBhvr>
                                      <p:to>
                                        <p:strVal val="visible"/>
                                      </p:to>
                                    </p:set>
                                    <p:animEffect transition="in" filter="dissolve">
                                      <p:cBhvr>
                                        <p:cTn id="369" dur="500"/>
                                        <p:tgtEl>
                                          <p:spTgt spid="2381992"/>
                                        </p:tgtEl>
                                      </p:cBhvr>
                                    </p:animEffect>
                                  </p:childTnLst>
                                </p:cTn>
                              </p:par>
                              <p:par>
                                <p:cTn id="370" presetID="9" presetClass="entr" presetSubtype="0" fill="hold" nodeType="withEffect">
                                  <p:stCondLst>
                                    <p:cond delay="0"/>
                                  </p:stCondLst>
                                  <p:childTnLst>
                                    <p:set>
                                      <p:cBhvr>
                                        <p:cTn id="371" dur="1" fill="hold">
                                          <p:stCondLst>
                                            <p:cond delay="0"/>
                                          </p:stCondLst>
                                        </p:cTn>
                                        <p:tgtEl>
                                          <p:spTgt spid="2381993"/>
                                        </p:tgtEl>
                                        <p:attrNameLst>
                                          <p:attrName>style.visibility</p:attrName>
                                        </p:attrNameLst>
                                      </p:cBhvr>
                                      <p:to>
                                        <p:strVal val="visible"/>
                                      </p:to>
                                    </p:set>
                                    <p:animEffect transition="in" filter="dissolve">
                                      <p:cBhvr>
                                        <p:cTn id="372" dur="500"/>
                                        <p:tgtEl>
                                          <p:spTgt spid="2381993"/>
                                        </p:tgtEl>
                                      </p:cBhvr>
                                    </p:animEffect>
                                  </p:childTnLst>
                                </p:cTn>
                              </p:par>
                              <p:par>
                                <p:cTn id="373" presetID="9" presetClass="entr" presetSubtype="0" fill="hold" nodeType="withEffect">
                                  <p:stCondLst>
                                    <p:cond delay="0"/>
                                  </p:stCondLst>
                                  <p:childTnLst>
                                    <p:set>
                                      <p:cBhvr>
                                        <p:cTn id="374" dur="1" fill="hold">
                                          <p:stCondLst>
                                            <p:cond delay="0"/>
                                          </p:stCondLst>
                                        </p:cTn>
                                        <p:tgtEl>
                                          <p:spTgt spid="2381994"/>
                                        </p:tgtEl>
                                        <p:attrNameLst>
                                          <p:attrName>style.visibility</p:attrName>
                                        </p:attrNameLst>
                                      </p:cBhvr>
                                      <p:to>
                                        <p:strVal val="visible"/>
                                      </p:to>
                                    </p:set>
                                    <p:animEffect transition="in" filter="dissolve">
                                      <p:cBhvr>
                                        <p:cTn id="375" dur="500"/>
                                        <p:tgtEl>
                                          <p:spTgt spid="2381994"/>
                                        </p:tgtEl>
                                      </p:cBhvr>
                                    </p:animEffect>
                                  </p:childTnLst>
                                </p:cTn>
                              </p:par>
                              <p:par>
                                <p:cTn id="376" presetID="9" presetClass="entr" presetSubtype="0" fill="hold" nodeType="withEffect">
                                  <p:stCondLst>
                                    <p:cond delay="0"/>
                                  </p:stCondLst>
                                  <p:childTnLst>
                                    <p:set>
                                      <p:cBhvr>
                                        <p:cTn id="377" dur="1" fill="hold">
                                          <p:stCondLst>
                                            <p:cond delay="0"/>
                                          </p:stCondLst>
                                        </p:cTn>
                                        <p:tgtEl>
                                          <p:spTgt spid="2381995"/>
                                        </p:tgtEl>
                                        <p:attrNameLst>
                                          <p:attrName>style.visibility</p:attrName>
                                        </p:attrNameLst>
                                      </p:cBhvr>
                                      <p:to>
                                        <p:strVal val="visible"/>
                                      </p:to>
                                    </p:set>
                                    <p:animEffect transition="in" filter="dissolve">
                                      <p:cBhvr>
                                        <p:cTn id="378" dur="500"/>
                                        <p:tgtEl>
                                          <p:spTgt spid="2381995"/>
                                        </p:tgtEl>
                                      </p:cBhvr>
                                    </p:animEffect>
                                  </p:childTnLst>
                                </p:cTn>
                              </p:par>
                              <p:par>
                                <p:cTn id="379" presetID="9" presetClass="entr" presetSubtype="0" fill="hold" nodeType="withEffect">
                                  <p:stCondLst>
                                    <p:cond delay="0"/>
                                  </p:stCondLst>
                                  <p:childTnLst>
                                    <p:set>
                                      <p:cBhvr>
                                        <p:cTn id="380" dur="1" fill="hold">
                                          <p:stCondLst>
                                            <p:cond delay="0"/>
                                          </p:stCondLst>
                                        </p:cTn>
                                        <p:tgtEl>
                                          <p:spTgt spid="2381996"/>
                                        </p:tgtEl>
                                        <p:attrNameLst>
                                          <p:attrName>style.visibility</p:attrName>
                                        </p:attrNameLst>
                                      </p:cBhvr>
                                      <p:to>
                                        <p:strVal val="visible"/>
                                      </p:to>
                                    </p:set>
                                    <p:animEffect transition="in" filter="dissolve">
                                      <p:cBhvr>
                                        <p:cTn id="381" dur="500"/>
                                        <p:tgtEl>
                                          <p:spTgt spid="2381996"/>
                                        </p:tgtEl>
                                      </p:cBhvr>
                                    </p:animEffect>
                                  </p:childTnLst>
                                </p:cTn>
                              </p:par>
                              <p:par>
                                <p:cTn id="382" presetID="9" presetClass="entr" presetSubtype="0" fill="hold" nodeType="withEffect">
                                  <p:stCondLst>
                                    <p:cond delay="0"/>
                                  </p:stCondLst>
                                  <p:childTnLst>
                                    <p:set>
                                      <p:cBhvr>
                                        <p:cTn id="383" dur="1" fill="hold">
                                          <p:stCondLst>
                                            <p:cond delay="0"/>
                                          </p:stCondLst>
                                        </p:cTn>
                                        <p:tgtEl>
                                          <p:spTgt spid="2381997"/>
                                        </p:tgtEl>
                                        <p:attrNameLst>
                                          <p:attrName>style.visibility</p:attrName>
                                        </p:attrNameLst>
                                      </p:cBhvr>
                                      <p:to>
                                        <p:strVal val="visible"/>
                                      </p:to>
                                    </p:set>
                                    <p:animEffect transition="in" filter="dissolve">
                                      <p:cBhvr>
                                        <p:cTn id="384" dur="500"/>
                                        <p:tgtEl>
                                          <p:spTgt spid="2381997"/>
                                        </p:tgtEl>
                                      </p:cBhvr>
                                    </p:animEffect>
                                  </p:childTnLst>
                                </p:cTn>
                              </p:par>
                              <p:par>
                                <p:cTn id="385" presetID="9" presetClass="entr" presetSubtype="0" fill="hold" nodeType="withEffect">
                                  <p:stCondLst>
                                    <p:cond delay="0"/>
                                  </p:stCondLst>
                                  <p:childTnLst>
                                    <p:set>
                                      <p:cBhvr>
                                        <p:cTn id="386" dur="1" fill="hold">
                                          <p:stCondLst>
                                            <p:cond delay="0"/>
                                          </p:stCondLst>
                                        </p:cTn>
                                        <p:tgtEl>
                                          <p:spTgt spid="2381998"/>
                                        </p:tgtEl>
                                        <p:attrNameLst>
                                          <p:attrName>style.visibility</p:attrName>
                                        </p:attrNameLst>
                                      </p:cBhvr>
                                      <p:to>
                                        <p:strVal val="visible"/>
                                      </p:to>
                                    </p:set>
                                    <p:animEffect transition="in" filter="dissolve">
                                      <p:cBhvr>
                                        <p:cTn id="387" dur="500"/>
                                        <p:tgtEl>
                                          <p:spTgt spid="2381998"/>
                                        </p:tgtEl>
                                      </p:cBhvr>
                                    </p:animEffect>
                                  </p:childTnLst>
                                </p:cTn>
                              </p:par>
                              <p:par>
                                <p:cTn id="388" presetID="9" presetClass="entr" presetSubtype="0" fill="hold" nodeType="withEffect">
                                  <p:stCondLst>
                                    <p:cond delay="0"/>
                                  </p:stCondLst>
                                  <p:childTnLst>
                                    <p:set>
                                      <p:cBhvr>
                                        <p:cTn id="389" dur="1" fill="hold">
                                          <p:stCondLst>
                                            <p:cond delay="0"/>
                                          </p:stCondLst>
                                        </p:cTn>
                                        <p:tgtEl>
                                          <p:spTgt spid="2381999"/>
                                        </p:tgtEl>
                                        <p:attrNameLst>
                                          <p:attrName>style.visibility</p:attrName>
                                        </p:attrNameLst>
                                      </p:cBhvr>
                                      <p:to>
                                        <p:strVal val="visible"/>
                                      </p:to>
                                    </p:set>
                                    <p:animEffect transition="in" filter="dissolve">
                                      <p:cBhvr>
                                        <p:cTn id="390" dur="500"/>
                                        <p:tgtEl>
                                          <p:spTgt spid="2381999"/>
                                        </p:tgtEl>
                                      </p:cBhvr>
                                    </p:animEffect>
                                  </p:childTnLst>
                                </p:cTn>
                              </p:par>
                              <p:par>
                                <p:cTn id="391" presetID="9" presetClass="entr" presetSubtype="0" fill="hold" nodeType="withEffect">
                                  <p:stCondLst>
                                    <p:cond delay="0"/>
                                  </p:stCondLst>
                                  <p:childTnLst>
                                    <p:set>
                                      <p:cBhvr>
                                        <p:cTn id="392" dur="1" fill="hold">
                                          <p:stCondLst>
                                            <p:cond delay="0"/>
                                          </p:stCondLst>
                                        </p:cTn>
                                        <p:tgtEl>
                                          <p:spTgt spid="2382000"/>
                                        </p:tgtEl>
                                        <p:attrNameLst>
                                          <p:attrName>style.visibility</p:attrName>
                                        </p:attrNameLst>
                                      </p:cBhvr>
                                      <p:to>
                                        <p:strVal val="visible"/>
                                      </p:to>
                                    </p:set>
                                    <p:animEffect transition="in" filter="dissolve">
                                      <p:cBhvr>
                                        <p:cTn id="393" dur="500"/>
                                        <p:tgtEl>
                                          <p:spTgt spid="2382000"/>
                                        </p:tgtEl>
                                      </p:cBhvr>
                                    </p:animEffect>
                                  </p:childTnLst>
                                </p:cTn>
                              </p:par>
                              <p:par>
                                <p:cTn id="394" presetID="9" presetClass="entr" presetSubtype="0" fill="hold" nodeType="withEffect">
                                  <p:stCondLst>
                                    <p:cond delay="0"/>
                                  </p:stCondLst>
                                  <p:childTnLst>
                                    <p:set>
                                      <p:cBhvr>
                                        <p:cTn id="395" dur="1" fill="hold">
                                          <p:stCondLst>
                                            <p:cond delay="0"/>
                                          </p:stCondLst>
                                        </p:cTn>
                                        <p:tgtEl>
                                          <p:spTgt spid="2382001"/>
                                        </p:tgtEl>
                                        <p:attrNameLst>
                                          <p:attrName>style.visibility</p:attrName>
                                        </p:attrNameLst>
                                      </p:cBhvr>
                                      <p:to>
                                        <p:strVal val="visible"/>
                                      </p:to>
                                    </p:set>
                                    <p:animEffect transition="in" filter="dissolve">
                                      <p:cBhvr>
                                        <p:cTn id="396" dur="500"/>
                                        <p:tgtEl>
                                          <p:spTgt spid="2382001"/>
                                        </p:tgtEl>
                                      </p:cBhvr>
                                    </p:animEffect>
                                  </p:childTnLst>
                                </p:cTn>
                              </p:par>
                              <p:par>
                                <p:cTn id="397" presetID="9" presetClass="entr" presetSubtype="0" fill="hold" nodeType="withEffect">
                                  <p:stCondLst>
                                    <p:cond delay="0"/>
                                  </p:stCondLst>
                                  <p:childTnLst>
                                    <p:set>
                                      <p:cBhvr>
                                        <p:cTn id="398" dur="1" fill="hold">
                                          <p:stCondLst>
                                            <p:cond delay="0"/>
                                          </p:stCondLst>
                                        </p:cTn>
                                        <p:tgtEl>
                                          <p:spTgt spid="2382002"/>
                                        </p:tgtEl>
                                        <p:attrNameLst>
                                          <p:attrName>style.visibility</p:attrName>
                                        </p:attrNameLst>
                                      </p:cBhvr>
                                      <p:to>
                                        <p:strVal val="visible"/>
                                      </p:to>
                                    </p:set>
                                    <p:animEffect transition="in" filter="dissolve">
                                      <p:cBhvr>
                                        <p:cTn id="399" dur="500"/>
                                        <p:tgtEl>
                                          <p:spTgt spid="2382002"/>
                                        </p:tgtEl>
                                      </p:cBhvr>
                                    </p:animEffect>
                                  </p:childTnLst>
                                </p:cTn>
                              </p:par>
                              <p:par>
                                <p:cTn id="400" presetID="9" presetClass="entr" presetSubtype="0" fill="hold" nodeType="withEffect">
                                  <p:stCondLst>
                                    <p:cond delay="0"/>
                                  </p:stCondLst>
                                  <p:childTnLst>
                                    <p:set>
                                      <p:cBhvr>
                                        <p:cTn id="401" dur="1" fill="hold">
                                          <p:stCondLst>
                                            <p:cond delay="0"/>
                                          </p:stCondLst>
                                        </p:cTn>
                                        <p:tgtEl>
                                          <p:spTgt spid="2382003"/>
                                        </p:tgtEl>
                                        <p:attrNameLst>
                                          <p:attrName>style.visibility</p:attrName>
                                        </p:attrNameLst>
                                      </p:cBhvr>
                                      <p:to>
                                        <p:strVal val="visible"/>
                                      </p:to>
                                    </p:set>
                                    <p:animEffect transition="in" filter="dissolve">
                                      <p:cBhvr>
                                        <p:cTn id="402" dur="500"/>
                                        <p:tgtEl>
                                          <p:spTgt spid="2382003"/>
                                        </p:tgtEl>
                                      </p:cBhvr>
                                    </p:animEffect>
                                  </p:childTnLst>
                                </p:cTn>
                              </p:par>
                              <p:par>
                                <p:cTn id="403" presetID="9" presetClass="entr" presetSubtype="0" fill="hold" nodeType="withEffect">
                                  <p:stCondLst>
                                    <p:cond delay="0"/>
                                  </p:stCondLst>
                                  <p:childTnLst>
                                    <p:set>
                                      <p:cBhvr>
                                        <p:cTn id="404" dur="1" fill="hold">
                                          <p:stCondLst>
                                            <p:cond delay="0"/>
                                          </p:stCondLst>
                                        </p:cTn>
                                        <p:tgtEl>
                                          <p:spTgt spid="2382004"/>
                                        </p:tgtEl>
                                        <p:attrNameLst>
                                          <p:attrName>style.visibility</p:attrName>
                                        </p:attrNameLst>
                                      </p:cBhvr>
                                      <p:to>
                                        <p:strVal val="visible"/>
                                      </p:to>
                                    </p:set>
                                    <p:animEffect transition="in" filter="dissolve">
                                      <p:cBhvr>
                                        <p:cTn id="405" dur="500"/>
                                        <p:tgtEl>
                                          <p:spTgt spid="2382004"/>
                                        </p:tgtEl>
                                      </p:cBhvr>
                                    </p:animEffect>
                                  </p:childTnLst>
                                </p:cTn>
                              </p:par>
                              <p:par>
                                <p:cTn id="406" presetID="9" presetClass="entr" presetSubtype="0" fill="hold" nodeType="withEffect">
                                  <p:stCondLst>
                                    <p:cond delay="0"/>
                                  </p:stCondLst>
                                  <p:childTnLst>
                                    <p:set>
                                      <p:cBhvr>
                                        <p:cTn id="407" dur="1" fill="hold">
                                          <p:stCondLst>
                                            <p:cond delay="0"/>
                                          </p:stCondLst>
                                        </p:cTn>
                                        <p:tgtEl>
                                          <p:spTgt spid="2382005"/>
                                        </p:tgtEl>
                                        <p:attrNameLst>
                                          <p:attrName>style.visibility</p:attrName>
                                        </p:attrNameLst>
                                      </p:cBhvr>
                                      <p:to>
                                        <p:strVal val="visible"/>
                                      </p:to>
                                    </p:set>
                                    <p:animEffect transition="in" filter="dissolve">
                                      <p:cBhvr>
                                        <p:cTn id="408" dur="500"/>
                                        <p:tgtEl>
                                          <p:spTgt spid="2382005"/>
                                        </p:tgtEl>
                                      </p:cBhvr>
                                    </p:animEffect>
                                  </p:childTnLst>
                                </p:cTn>
                              </p:par>
                              <p:par>
                                <p:cTn id="409" presetID="9" presetClass="entr" presetSubtype="0" fill="hold" nodeType="withEffect">
                                  <p:stCondLst>
                                    <p:cond delay="0"/>
                                  </p:stCondLst>
                                  <p:childTnLst>
                                    <p:set>
                                      <p:cBhvr>
                                        <p:cTn id="410" dur="1" fill="hold">
                                          <p:stCondLst>
                                            <p:cond delay="0"/>
                                          </p:stCondLst>
                                        </p:cTn>
                                        <p:tgtEl>
                                          <p:spTgt spid="2382006"/>
                                        </p:tgtEl>
                                        <p:attrNameLst>
                                          <p:attrName>style.visibility</p:attrName>
                                        </p:attrNameLst>
                                      </p:cBhvr>
                                      <p:to>
                                        <p:strVal val="visible"/>
                                      </p:to>
                                    </p:set>
                                    <p:animEffect transition="in" filter="dissolve">
                                      <p:cBhvr>
                                        <p:cTn id="411" dur="500"/>
                                        <p:tgtEl>
                                          <p:spTgt spid="2382006"/>
                                        </p:tgtEl>
                                      </p:cBhvr>
                                    </p:animEffect>
                                  </p:childTnLst>
                                </p:cTn>
                              </p:par>
                              <p:par>
                                <p:cTn id="412" presetID="9" presetClass="entr" presetSubtype="0" fill="hold" nodeType="withEffect">
                                  <p:stCondLst>
                                    <p:cond delay="0"/>
                                  </p:stCondLst>
                                  <p:childTnLst>
                                    <p:set>
                                      <p:cBhvr>
                                        <p:cTn id="413" dur="1" fill="hold">
                                          <p:stCondLst>
                                            <p:cond delay="0"/>
                                          </p:stCondLst>
                                        </p:cTn>
                                        <p:tgtEl>
                                          <p:spTgt spid="2382007"/>
                                        </p:tgtEl>
                                        <p:attrNameLst>
                                          <p:attrName>style.visibility</p:attrName>
                                        </p:attrNameLst>
                                      </p:cBhvr>
                                      <p:to>
                                        <p:strVal val="visible"/>
                                      </p:to>
                                    </p:set>
                                    <p:animEffect transition="in" filter="dissolve">
                                      <p:cBhvr>
                                        <p:cTn id="414" dur="500"/>
                                        <p:tgtEl>
                                          <p:spTgt spid="2382007"/>
                                        </p:tgtEl>
                                      </p:cBhvr>
                                    </p:animEffect>
                                  </p:childTnLst>
                                </p:cTn>
                              </p:par>
                              <p:par>
                                <p:cTn id="415" presetID="9" presetClass="entr" presetSubtype="0" fill="hold" nodeType="withEffect">
                                  <p:stCondLst>
                                    <p:cond delay="0"/>
                                  </p:stCondLst>
                                  <p:childTnLst>
                                    <p:set>
                                      <p:cBhvr>
                                        <p:cTn id="416" dur="1" fill="hold">
                                          <p:stCondLst>
                                            <p:cond delay="0"/>
                                          </p:stCondLst>
                                        </p:cTn>
                                        <p:tgtEl>
                                          <p:spTgt spid="2382008"/>
                                        </p:tgtEl>
                                        <p:attrNameLst>
                                          <p:attrName>style.visibility</p:attrName>
                                        </p:attrNameLst>
                                      </p:cBhvr>
                                      <p:to>
                                        <p:strVal val="visible"/>
                                      </p:to>
                                    </p:set>
                                    <p:animEffect transition="in" filter="dissolve">
                                      <p:cBhvr>
                                        <p:cTn id="417" dur="500"/>
                                        <p:tgtEl>
                                          <p:spTgt spid="2382008"/>
                                        </p:tgtEl>
                                      </p:cBhvr>
                                    </p:animEffect>
                                  </p:childTnLst>
                                </p:cTn>
                              </p:par>
                              <p:par>
                                <p:cTn id="418" presetID="9" presetClass="entr" presetSubtype="0" fill="hold" nodeType="withEffect">
                                  <p:stCondLst>
                                    <p:cond delay="0"/>
                                  </p:stCondLst>
                                  <p:childTnLst>
                                    <p:set>
                                      <p:cBhvr>
                                        <p:cTn id="419" dur="1" fill="hold">
                                          <p:stCondLst>
                                            <p:cond delay="0"/>
                                          </p:stCondLst>
                                        </p:cTn>
                                        <p:tgtEl>
                                          <p:spTgt spid="2382009"/>
                                        </p:tgtEl>
                                        <p:attrNameLst>
                                          <p:attrName>style.visibility</p:attrName>
                                        </p:attrNameLst>
                                      </p:cBhvr>
                                      <p:to>
                                        <p:strVal val="visible"/>
                                      </p:to>
                                    </p:set>
                                    <p:animEffect transition="in" filter="dissolve">
                                      <p:cBhvr>
                                        <p:cTn id="420" dur="500"/>
                                        <p:tgtEl>
                                          <p:spTgt spid="2382009"/>
                                        </p:tgtEl>
                                      </p:cBhvr>
                                    </p:animEffect>
                                  </p:childTnLst>
                                </p:cTn>
                              </p:par>
                              <p:par>
                                <p:cTn id="421" presetID="9" presetClass="entr" presetSubtype="0" fill="hold" nodeType="withEffect">
                                  <p:stCondLst>
                                    <p:cond delay="0"/>
                                  </p:stCondLst>
                                  <p:childTnLst>
                                    <p:set>
                                      <p:cBhvr>
                                        <p:cTn id="422" dur="1" fill="hold">
                                          <p:stCondLst>
                                            <p:cond delay="0"/>
                                          </p:stCondLst>
                                        </p:cTn>
                                        <p:tgtEl>
                                          <p:spTgt spid="2382010"/>
                                        </p:tgtEl>
                                        <p:attrNameLst>
                                          <p:attrName>style.visibility</p:attrName>
                                        </p:attrNameLst>
                                      </p:cBhvr>
                                      <p:to>
                                        <p:strVal val="visible"/>
                                      </p:to>
                                    </p:set>
                                    <p:animEffect transition="in" filter="dissolve">
                                      <p:cBhvr>
                                        <p:cTn id="423" dur="500"/>
                                        <p:tgtEl>
                                          <p:spTgt spid="2382010"/>
                                        </p:tgtEl>
                                      </p:cBhvr>
                                    </p:animEffect>
                                  </p:childTnLst>
                                </p:cTn>
                              </p:par>
                              <p:par>
                                <p:cTn id="424" presetID="9" presetClass="entr" presetSubtype="0" fill="hold" nodeType="withEffect">
                                  <p:stCondLst>
                                    <p:cond delay="0"/>
                                  </p:stCondLst>
                                  <p:childTnLst>
                                    <p:set>
                                      <p:cBhvr>
                                        <p:cTn id="425" dur="1" fill="hold">
                                          <p:stCondLst>
                                            <p:cond delay="0"/>
                                          </p:stCondLst>
                                        </p:cTn>
                                        <p:tgtEl>
                                          <p:spTgt spid="2382011"/>
                                        </p:tgtEl>
                                        <p:attrNameLst>
                                          <p:attrName>style.visibility</p:attrName>
                                        </p:attrNameLst>
                                      </p:cBhvr>
                                      <p:to>
                                        <p:strVal val="visible"/>
                                      </p:to>
                                    </p:set>
                                    <p:animEffect transition="in" filter="dissolve">
                                      <p:cBhvr>
                                        <p:cTn id="426" dur="500"/>
                                        <p:tgtEl>
                                          <p:spTgt spid="2382011"/>
                                        </p:tgtEl>
                                      </p:cBhvr>
                                    </p:animEffect>
                                  </p:childTnLst>
                                </p:cTn>
                              </p:par>
                              <p:par>
                                <p:cTn id="427" presetID="9" presetClass="entr" presetSubtype="0" fill="hold" nodeType="withEffect">
                                  <p:stCondLst>
                                    <p:cond delay="0"/>
                                  </p:stCondLst>
                                  <p:childTnLst>
                                    <p:set>
                                      <p:cBhvr>
                                        <p:cTn id="428" dur="1" fill="hold">
                                          <p:stCondLst>
                                            <p:cond delay="0"/>
                                          </p:stCondLst>
                                        </p:cTn>
                                        <p:tgtEl>
                                          <p:spTgt spid="2382012"/>
                                        </p:tgtEl>
                                        <p:attrNameLst>
                                          <p:attrName>style.visibility</p:attrName>
                                        </p:attrNameLst>
                                      </p:cBhvr>
                                      <p:to>
                                        <p:strVal val="visible"/>
                                      </p:to>
                                    </p:set>
                                    <p:animEffect transition="in" filter="dissolve">
                                      <p:cBhvr>
                                        <p:cTn id="429" dur="500"/>
                                        <p:tgtEl>
                                          <p:spTgt spid="2382012"/>
                                        </p:tgtEl>
                                      </p:cBhvr>
                                    </p:animEffect>
                                  </p:childTnLst>
                                </p:cTn>
                              </p:par>
                              <p:par>
                                <p:cTn id="430" presetID="9" presetClass="entr" presetSubtype="0" fill="hold" nodeType="withEffect">
                                  <p:stCondLst>
                                    <p:cond delay="0"/>
                                  </p:stCondLst>
                                  <p:childTnLst>
                                    <p:set>
                                      <p:cBhvr>
                                        <p:cTn id="431" dur="1" fill="hold">
                                          <p:stCondLst>
                                            <p:cond delay="0"/>
                                          </p:stCondLst>
                                        </p:cTn>
                                        <p:tgtEl>
                                          <p:spTgt spid="2382014"/>
                                        </p:tgtEl>
                                        <p:attrNameLst>
                                          <p:attrName>style.visibility</p:attrName>
                                        </p:attrNameLst>
                                      </p:cBhvr>
                                      <p:to>
                                        <p:strVal val="visible"/>
                                      </p:to>
                                    </p:set>
                                    <p:animEffect transition="in" filter="dissolve">
                                      <p:cBhvr>
                                        <p:cTn id="432" dur="500"/>
                                        <p:tgtEl>
                                          <p:spTgt spid="2382014"/>
                                        </p:tgtEl>
                                      </p:cBhvr>
                                    </p:animEffect>
                                  </p:childTnLst>
                                </p:cTn>
                              </p:par>
                              <p:par>
                                <p:cTn id="433" presetID="9" presetClass="entr" presetSubtype="0" fill="hold" nodeType="withEffect">
                                  <p:stCondLst>
                                    <p:cond delay="0"/>
                                  </p:stCondLst>
                                  <p:childTnLst>
                                    <p:set>
                                      <p:cBhvr>
                                        <p:cTn id="434" dur="1" fill="hold">
                                          <p:stCondLst>
                                            <p:cond delay="0"/>
                                          </p:stCondLst>
                                        </p:cTn>
                                        <p:tgtEl>
                                          <p:spTgt spid="2382019"/>
                                        </p:tgtEl>
                                        <p:attrNameLst>
                                          <p:attrName>style.visibility</p:attrName>
                                        </p:attrNameLst>
                                      </p:cBhvr>
                                      <p:to>
                                        <p:strVal val="visible"/>
                                      </p:to>
                                    </p:set>
                                    <p:animEffect transition="in" filter="dissolve">
                                      <p:cBhvr>
                                        <p:cTn id="435" dur="500"/>
                                        <p:tgtEl>
                                          <p:spTgt spid="2382019"/>
                                        </p:tgtEl>
                                      </p:cBhvr>
                                    </p:animEffect>
                                  </p:childTnLst>
                                </p:cTn>
                              </p:par>
                              <p:par>
                                <p:cTn id="436" presetID="9" presetClass="entr" presetSubtype="0" fill="hold" nodeType="withEffect">
                                  <p:stCondLst>
                                    <p:cond delay="0"/>
                                  </p:stCondLst>
                                  <p:childTnLst>
                                    <p:set>
                                      <p:cBhvr>
                                        <p:cTn id="437" dur="1" fill="hold">
                                          <p:stCondLst>
                                            <p:cond delay="0"/>
                                          </p:stCondLst>
                                        </p:cTn>
                                        <p:tgtEl>
                                          <p:spTgt spid="2382023"/>
                                        </p:tgtEl>
                                        <p:attrNameLst>
                                          <p:attrName>style.visibility</p:attrName>
                                        </p:attrNameLst>
                                      </p:cBhvr>
                                      <p:to>
                                        <p:strVal val="visible"/>
                                      </p:to>
                                    </p:set>
                                    <p:animEffect transition="in" filter="dissolve">
                                      <p:cBhvr>
                                        <p:cTn id="438" dur="500"/>
                                        <p:tgtEl>
                                          <p:spTgt spid="2382023"/>
                                        </p:tgtEl>
                                      </p:cBhvr>
                                    </p:animEffect>
                                  </p:childTnLst>
                                </p:cTn>
                              </p:par>
                              <p:par>
                                <p:cTn id="439" presetID="9" presetClass="entr" presetSubtype="0" fill="hold" nodeType="withEffect">
                                  <p:stCondLst>
                                    <p:cond delay="0"/>
                                  </p:stCondLst>
                                  <p:childTnLst>
                                    <p:set>
                                      <p:cBhvr>
                                        <p:cTn id="440" dur="1" fill="hold">
                                          <p:stCondLst>
                                            <p:cond delay="0"/>
                                          </p:stCondLst>
                                        </p:cTn>
                                        <p:tgtEl>
                                          <p:spTgt spid="2382031"/>
                                        </p:tgtEl>
                                        <p:attrNameLst>
                                          <p:attrName>style.visibility</p:attrName>
                                        </p:attrNameLst>
                                      </p:cBhvr>
                                      <p:to>
                                        <p:strVal val="visible"/>
                                      </p:to>
                                    </p:set>
                                    <p:animEffect transition="in" filter="dissolve">
                                      <p:cBhvr>
                                        <p:cTn id="441" dur="500"/>
                                        <p:tgtEl>
                                          <p:spTgt spid="2382031"/>
                                        </p:tgtEl>
                                      </p:cBhvr>
                                    </p:animEffect>
                                  </p:childTnLst>
                                </p:cTn>
                              </p:par>
                              <p:par>
                                <p:cTn id="442" presetID="9" presetClass="entr" presetSubtype="0" fill="hold" nodeType="withEffect">
                                  <p:stCondLst>
                                    <p:cond delay="0"/>
                                  </p:stCondLst>
                                  <p:childTnLst>
                                    <p:set>
                                      <p:cBhvr>
                                        <p:cTn id="443" dur="1" fill="hold">
                                          <p:stCondLst>
                                            <p:cond delay="0"/>
                                          </p:stCondLst>
                                        </p:cTn>
                                        <p:tgtEl>
                                          <p:spTgt spid="2382032"/>
                                        </p:tgtEl>
                                        <p:attrNameLst>
                                          <p:attrName>style.visibility</p:attrName>
                                        </p:attrNameLst>
                                      </p:cBhvr>
                                      <p:to>
                                        <p:strVal val="visible"/>
                                      </p:to>
                                    </p:set>
                                    <p:animEffect transition="in" filter="dissolve">
                                      <p:cBhvr>
                                        <p:cTn id="444" dur="500"/>
                                        <p:tgtEl>
                                          <p:spTgt spid="2382032"/>
                                        </p:tgtEl>
                                      </p:cBhvr>
                                    </p:animEffect>
                                  </p:childTnLst>
                                </p:cTn>
                              </p:par>
                              <p:par>
                                <p:cTn id="445" presetID="9" presetClass="entr" presetSubtype="0" fill="hold" nodeType="withEffect">
                                  <p:stCondLst>
                                    <p:cond delay="0"/>
                                  </p:stCondLst>
                                  <p:childTnLst>
                                    <p:set>
                                      <p:cBhvr>
                                        <p:cTn id="446" dur="1" fill="hold">
                                          <p:stCondLst>
                                            <p:cond delay="0"/>
                                          </p:stCondLst>
                                        </p:cTn>
                                        <p:tgtEl>
                                          <p:spTgt spid="2382033"/>
                                        </p:tgtEl>
                                        <p:attrNameLst>
                                          <p:attrName>style.visibility</p:attrName>
                                        </p:attrNameLst>
                                      </p:cBhvr>
                                      <p:to>
                                        <p:strVal val="visible"/>
                                      </p:to>
                                    </p:set>
                                    <p:animEffect transition="in" filter="dissolve">
                                      <p:cBhvr>
                                        <p:cTn id="447" dur="500"/>
                                        <p:tgtEl>
                                          <p:spTgt spid="2382033"/>
                                        </p:tgtEl>
                                      </p:cBhvr>
                                    </p:animEffect>
                                  </p:childTnLst>
                                </p:cTn>
                              </p:par>
                              <p:par>
                                <p:cTn id="448" presetID="9" presetClass="entr" presetSubtype="0" fill="hold" nodeType="withEffect">
                                  <p:stCondLst>
                                    <p:cond delay="0"/>
                                  </p:stCondLst>
                                  <p:childTnLst>
                                    <p:set>
                                      <p:cBhvr>
                                        <p:cTn id="449" dur="1" fill="hold">
                                          <p:stCondLst>
                                            <p:cond delay="0"/>
                                          </p:stCondLst>
                                        </p:cTn>
                                        <p:tgtEl>
                                          <p:spTgt spid="2382034"/>
                                        </p:tgtEl>
                                        <p:attrNameLst>
                                          <p:attrName>style.visibility</p:attrName>
                                        </p:attrNameLst>
                                      </p:cBhvr>
                                      <p:to>
                                        <p:strVal val="visible"/>
                                      </p:to>
                                    </p:set>
                                    <p:animEffect transition="in" filter="dissolve">
                                      <p:cBhvr>
                                        <p:cTn id="450" dur="500"/>
                                        <p:tgtEl>
                                          <p:spTgt spid="2382034"/>
                                        </p:tgtEl>
                                      </p:cBhvr>
                                    </p:animEffect>
                                  </p:childTnLst>
                                </p:cTn>
                              </p:par>
                              <p:par>
                                <p:cTn id="451" presetID="9" presetClass="entr" presetSubtype="0" fill="hold" nodeType="withEffect">
                                  <p:stCondLst>
                                    <p:cond delay="0"/>
                                  </p:stCondLst>
                                  <p:childTnLst>
                                    <p:set>
                                      <p:cBhvr>
                                        <p:cTn id="452" dur="1" fill="hold">
                                          <p:stCondLst>
                                            <p:cond delay="0"/>
                                          </p:stCondLst>
                                        </p:cTn>
                                        <p:tgtEl>
                                          <p:spTgt spid="2382035"/>
                                        </p:tgtEl>
                                        <p:attrNameLst>
                                          <p:attrName>style.visibility</p:attrName>
                                        </p:attrNameLst>
                                      </p:cBhvr>
                                      <p:to>
                                        <p:strVal val="visible"/>
                                      </p:to>
                                    </p:set>
                                    <p:animEffect transition="in" filter="dissolve">
                                      <p:cBhvr>
                                        <p:cTn id="453" dur="500"/>
                                        <p:tgtEl>
                                          <p:spTgt spid="2382035"/>
                                        </p:tgtEl>
                                      </p:cBhvr>
                                    </p:animEffect>
                                  </p:childTnLst>
                                </p:cTn>
                              </p:par>
                              <p:par>
                                <p:cTn id="454" presetID="9" presetClass="entr" presetSubtype="0" fill="hold" nodeType="withEffect">
                                  <p:stCondLst>
                                    <p:cond delay="0"/>
                                  </p:stCondLst>
                                  <p:childTnLst>
                                    <p:set>
                                      <p:cBhvr>
                                        <p:cTn id="455" dur="1" fill="hold">
                                          <p:stCondLst>
                                            <p:cond delay="0"/>
                                          </p:stCondLst>
                                        </p:cTn>
                                        <p:tgtEl>
                                          <p:spTgt spid="2382036"/>
                                        </p:tgtEl>
                                        <p:attrNameLst>
                                          <p:attrName>style.visibility</p:attrName>
                                        </p:attrNameLst>
                                      </p:cBhvr>
                                      <p:to>
                                        <p:strVal val="visible"/>
                                      </p:to>
                                    </p:set>
                                    <p:animEffect transition="in" filter="dissolve">
                                      <p:cBhvr>
                                        <p:cTn id="456" dur="500"/>
                                        <p:tgtEl>
                                          <p:spTgt spid="2382036"/>
                                        </p:tgtEl>
                                      </p:cBhvr>
                                    </p:animEffect>
                                  </p:childTnLst>
                                </p:cTn>
                              </p:par>
                              <p:par>
                                <p:cTn id="457" presetID="9" presetClass="entr" presetSubtype="0" fill="hold" nodeType="withEffect">
                                  <p:stCondLst>
                                    <p:cond delay="0"/>
                                  </p:stCondLst>
                                  <p:childTnLst>
                                    <p:set>
                                      <p:cBhvr>
                                        <p:cTn id="458" dur="1" fill="hold">
                                          <p:stCondLst>
                                            <p:cond delay="0"/>
                                          </p:stCondLst>
                                        </p:cTn>
                                        <p:tgtEl>
                                          <p:spTgt spid="2382037"/>
                                        </p:tgtEl>
                                        <p:attrNameLst>
                                          <p:attrName>style.visibility</p:attrName>
                                        </p:attrNameLst>
                                      </p:cBhvr>
                                      <p:to>
                                        <p:strVal val="visible"/>
                                      </p:to>
                                    </p:set>
                                    <p:animEffect transition="in" filter="dissolve">
                                      <p:cBhvr>
                                        <p:cTn id="459" dur="500"/>
                                        <p:tgtEl>
                                          <p:spTgt spid="2382037"/>
                                        </p:tgtEl>
                                      </p:cBhvr>
                                    </p:animEffect>
                                  </p:childTnLst>
                                </p:cTn>
                              </p:par>
                              <p:par>
                                <p:cTn id="460" presetID="9" presetClass="entr" presetSubtype="0" fill="hold" nodeType="withEffect">
                                  <p:stCondLst>
                                    <p:cond delay="0"/>
                                  </p:stCondLst>
                                  <p:childTnLst>
                                    <p:set>
                                      <p:cBhvr>
                                        <p:cTn id="461" dur="1" fill="hold">
                                          <p:stCondLst>
                                            <p:cond delay="0"/>
                                          </p:stCondLst>
                                        </p:cTn>
                                        <p:tgtEl>
                                          <p:spTgt spid="2382039"/>
                                        </p:tgtEl>
                                        <p:attrNameLst>
                                          <p:attrName>style.visibility</p:attrName>
                                        </p:attrNameLst>
                                      </p:cBhvr>
                                      <p:to>
                                        <p:strVal val="visible"/>
                                      </p:to>
                                    </p:set>
                                    <p:animEffect transition="in" filter="dissolve">
                                      <p:cBhvr>
                                        <p:cTn id="462" dur="500"/>
                                        <p:tgtEl>
                                          <p:spTgt spid="2382039"/>
                                        </p:tgtEl>
                                      </p:cBhvr>
                                    </p:animEffect>
                                  </p:childTnLst>
                                </p:cTn>
                              </p:par>
                              <p:par>
                                <p:cTn id="463" presetID="9" presetClass="entr" presetSubtype="0" fill="hold" nodeType="withEffect">
                                  <p:stCondLst>
                                    <p:cond delay="0"/>
                                  </p:stCondLst>
                                  <p:childTnLst>
                                    <p:set>
                                      <p:cBhvr>
                                        <p:cTn id="464" dur="1" fill="hold">
                                          <p:stCondLst>
                                            <p:cond delay="0"/>
                                          </p:stCondLst>
                                        </p:cTn>
                                        <p:tgtEl>
                                          <p:spTgt spid="2382040"/>
                                        </p:tgtEl>
                                        <p:attrNameLst>
                                          <p:attrName>style.visibility</p:attrName>
                                        </p:attrNameLst>
                                      </p:cBhvr>
                                      <p:to>
                                        <p:strVal val="visible"/>
                                      </p:to>
                                    </p:set>
                                    <p:animEffect transition="in" filter="dissolve">
                                      <p:cBhvr>
                                        <p:cTn id="465" dur="500"/>
                                        <p:tgtEl>
                                          <p:spTgt spid="2382040"/>
                                        </p:tgtEl>
                                      </p:cBhvr>
                                    </p:animEffect>
                                  </p:childTnLst>
                                </p:cTn>
                              </p:par>
                              <p:par>
                                <p:cTn id="466" presetID="9" presetClass="entr" presetSubtype="0" fill="hold" nodeType="withEffect">
                                  <p:stCondLst>
                                    <p:cond delay="0"/>
                                  </p:stCondLst>
                                  <p:childTnLst>
                                    <p:set>
                                      <p:cBhvr>
                                        <p:cTn id="467" dur="1" fill="hold">
                                          <p:stCondLst>
                                            <p:cond delay="0"/>
                                          </p:stCondLst>
                                        </p:cTn>
                                        <p:tgtEl>
                                          <p:spTgt spid="2382041"/>
                                        </p:tgtEl>
                                        <p:attrNameLst>
                                          <p:attrName>style.visibility</p:attrName>
                                        </p:attrNameLst>
                                      </p:cBhvr>
                                      <p:to>
                                        <p:strVal val="visible"/>
                                      </p:to>
                                    </p:set>
                                    <p:animEffect transition="in" filter="dissolve">
                                      <p:cBhvr>
                                        <p:cTn id="468" dur="500"/>
                                        <p:tgtEl>
                                          <p:spTgt spid="2382041"/>
                                        </p:tgtEl>
                                      </p:cBhvr>
                                    </p:animEffect>
                                  </p:childTnLst>
                                </p:cTn>
                              </p:par>
                              <p:par>
                                <p:cTn id="469" presetID="9" presetClass="entr" presetSubtype="0" fill="hold" nodeType="withEffect">
                                  <p:stCondLst>
                                    <p:cond delay="0"/>
                                  </p:stCondLst>
                                  <p:childTnLst>
                                    <p:set>
                                      <p:cBhvr>
                                        <p:cTn id="470" dur="1" fill="hold">
                                          <p:stCondLst>
                                            <p:cond delay="0"/>
                                          </p:stCondLst>
                                        </p:cTn>
                                        <p:tgtEl>
                                          <p:spTgt spid="2382042"/>
                                        </p:tgtEl>
                                        <p:attrNameLst>
                                          <p:attrName>style.visibility</p:attrName>
                                        </p:attrNameLst>
                                      </p:cBhvr>
                                      <p:to>
                                        <p:strVal val="visible"/>
                                      </p:to>
                                    </p:set>
                                    <p:animEffect transition="in" filter="dissolve">
                                      <p:cBhvr>
                                        <p:cTn id="471" dur="500"/>
                                        <p:tgtEl>
                                          <p:spTgt spid="2382042"/>
                                        </p:tgtEl>
                                      </p:cBhvr>
                                    </p:animEffect>
                                  </p:childTnLst>
                                </p:cTn>
                              </p:par>
                              <p:par>
                                <p:cTn id="472" presetID="9" presetClass="entr" presetSubtype="0" fill="hold" nodeType="withEffect">
                                  <p:stCondLst>
                                    <p:cond delay="0"/>
                                  </p:stCondLst>
                                  <p:childTnLst>
                                    <p:set>
                                      <p:cBhvr>
                                        <p:cTn id="473" dur="1" fill="hold">
                                          <p:stCondLst>
                                            <p:cond delay="0"/>
                                          </p:stCondLst>
                                        </p:cTn>
                                        <p:tgtEl>
                                          <p:spTgt spid="2382043"/>
                                        </p:tgtEl>
                                        <p:attrNameLst>
                                          <p:attrName>style.visibility</p:attrName>
                                        </p:attrNameLst>
                                      </p:cBhvr>
                                      <p:to>
                                        <p:strVal val="visible"/>
                                      </p:to>
                                    </p:set>
                                    <p:animEffect transition="in" filter="dissolve">
                                      <p:cBhvr>
                                        <p:cTn id="474" dur="500"/>
                                        <p:tgtEl>
                                          <p:spTgt spid="2382043"/>
                                        </p:tgtEl>
                                      </p:cBhvr>
                                    </p:animEffect>
                                  </p:childTnLst>
                                </p:cTn>
                              </p:par>
                              <p:par>
                                <p:cTn id="475" presetID="9" presetClass="entr" presetSubtype="0" fill="hold" nodeType="withEffect">
                                  <p:stCondLst>
                                    <p:cond delay="0"/>
                                  </p:stCondLst>
                                  <p:childTnLst>
                                    <p:set>
                                      <p:cBhvr>
                                        <p:cTn id="476" dur="1" fill="hold">
                                          <p:stCondLst>
                                            <p:cond delay="0"/>
                                          </p:stCondLst>
                                        </p:cTn>
                                        <p:tgtEl>
                                          <p:spTgt spid="2382044"/>
                                        </p:tgtEl>
                                        <p:attrNameLst>
                                          <p:attrName>style.visibility</p:attrName>
                                        </p:attrNameLst>
                                      </p:cBhvr>
                                      <p:to>
                                        <p:strVal val="visible"/>
                                      </p:to>
                                    </p:set>
                                    <p:animEffect transition="in" filter="dissolve">
                                      <p:cBhvr>
                                        <p:cTn id="477" dur="500"/>
                                        <p:tgtEl>
                                          <p:spTgt spid="2382044"/>
                                        </p:tgtEl>
                                      </p:cBhvr>
                                    </p:animEffect>
                                  </p:childTnLst>
                                </p:cTn>
                              </p:par>
                              <p:par>
                                <p:cTn id="478" presetID="9" presetClass="entr" presetSubtype="0" fill="hold" nodeType="withEffect">
                                  <p:stCondLst>
                                    <p:cond delay="0"/>
                                  </p:stCondLst>
                                  <p:childTnLst>
                                    <p:set>
                                      <p:cBhvr>
                                        <p:cTn id="479" dur="1" fill="hold">
                                          <p:stCondLst>
                                            <p:cond delay="0"/>
                                          </p:stCondLst>
                                        </p:cTn>
                                        <p:tgtEl>
                                          <p:spTgt spid="2382045"/>
                                        </p:tgtEl>
                                        <p:attrNameLst>
                                          <p:attrName>style.visibility</p:attrName>
                                        </p:attrNameLst>
                                      </p:cBhvr>
                                      <p:to>
                                        <p:strVal val="visible"/>
                                      </p:to>
                                    </p:set>
                                    <p:animEffect transition="in" filter="dissolve">
                                      <p:cBhvr>
                                        <p:cTn id="480" dur="500"/>
                                        <p:tgtEl>
                                          <p:spTgt spid="2382045"/>
                                        </p:tgtEl>
                                      </p:cBhvr>
                                    </p:animEffect>
                                  </p:childTnLst>
                                </p:cTn>
                              </p:par>
                              <p:par>
                                <p:cTn id="481" presetID="9" presetClass="entr" presetSubtype="0" fill="hold" nodeType="withEffect">
                                  <p:stCondLst>
                                    <p:cond delay="0"/>
                                  </p:stCondLst>
                                  <p:childTnLst>
                                    <p:set>
                                      <p:cBhvr>
                                        <p:cTn id="482" dur="1" fill="hold">
                                          <p:stCondLst>
                                            <p:cond delay="0"/>
                                          </p:stCondLst>
                                        </p:cTn>
                                        <p:tgtEl>
                                          <p:spTgt spid="2382046"/>
                                        </p:tgtEl>
                                        <p:attrNameLst>
                                          <p:attrName>style.visibility</p:attrName>
                                        </p:attrNameLst>
                                      </p:cBhvr>
                                      <p:to>
                                        <p:strVal val="visible"/>
                                      </p:to>
                                    </p:set>
                                    <p:animEffect transition="in" filter="dissolve">
                                      <p:cBhvr>
                                        <p:cTn id="483" dur="500"/>
                                        <p:tgtEl>
                                          <p:spTgt spid="2382046"/>
                                        </p:tgtEl>
                                      </p:cBhvr>
                                    </p:animEffect>
                                  </p:childTnLst>
                                </p:cTn>
                              </p:par>
                              <p:par>
                                <p:cTn id="484" presetID="9" presetClass="entr" presetSubtype="0" fill="hold" nodeType="withEffect">
                                  <p:stCondLst>
                                    <p:cond delay="0"/>
                                  </p:stCondLst>
                                  <p:childTnLst>
                                    <p:set>
                                      <p:cBhvr>
                                        <p:cTn id="485" dur="1" fill="hold">
                                          <p:stCondLst>
                                            <p:cond delay="0"/>
                                          </p:stCondLst>
                                        </p:cTn>
                                        <p:tgtEl>
                                          <p:spTgt spid="2382047"/>
                                        </p:tgtEl>
                                        <p:attrNameLst>
                                          <p:attrName>style.visibility</p:attrName>
                                        </p:attrNameLst>
                                      </p:cBhvr>
                                      <p:to>
                                        <p:strVal val="visible"/>
                                      </p:to>
                                    </p:set>
                                    <p:animEffect transition="in" filter="dissolve">
                                      <p:cBhvr>
                                        <p:cTn id="486" dur="500"/>
                                        <p:tgtEl>
                                          <p:spTgt spid="2382047"/>
                                        </p:tgtEl>
                                      </p:cBhvr>
                                    </p:animEffect>
                                  </p:childTnLst>
                                </p:cTn>
                              </p:par>
                              <p:par>
                                <p:cTn id="487" presetID="9" presetClass="entr" presetSubtype="0" fill="hold" nodeType="withEffect">
                                  <p:stCondLst>
                                    <p:cond delay="0"/>
                                  </p:stCondLst>
                                  <p:childTnLst>
                                    <p:set>
                                      <p:cBhvr>
                                        <p:cTn id="488" dur="1" fill="hold">
                                          <p:stCondLst>
                                            <p:cond delay="0"/>
                                          </p:stCondLst>
                                        </p:cTn>
                                        <p:tgtEl>
                                          <p:spTgt spid="2382048"/>
                                        </p:tgtEl>
                                        <p:attrNameLst>
                                          <p:attrName>style.visibility</p:attrName>
                                        </p:attrNameLst>
                                      </p:cBhvr>
                                      <p:to>
                                        <p:strVal val="visible"/>
                                      </p:to>
                                    </p:set>
                                    <p:animEffect transition="in" filter="dissolve">
                                      <p:cBhvr>
                                        <p:cTn id="489" dur="500"/>
                                        <p:tgtEl>
                                          <p:spTgt spid="2382048"/>
                                        </p:tgtEl>
                                      </p:cBhvr>
                                    </p:animEffect>
                                  </p:childTnLst>
                                </p:cTn>
                              </p:par>
                              <p:par>
                                <p:cTn id="490" presetID="9" presetClass="entr" presetSubtype="0" fill="hold" nodeType="withEffect">
                                  <p:stCondLst>
                                    <p:cond delay="0"/>
                                  </p:stCondLst>
                                  <p:childTnLst>
                                    <p:set>
                                      <p:cBhvr>
                                        <p:cTn id="491" dur="1" fill="hold">
                                          <p:stCondLst>
                                            <p:cond delay="0"/>
                                          </p:stCondLst>
                                        </p:cTn>
                                        <p:tgtEl>
                                          <p:spTgt spid="2382051"/>
                                        </p:tgtEl>
                                        <p:attrNameLst>
                                          <p:attrName>style.visibility</p:attrName>
                                        </p:attrNameLst>
                                      </p:cBhvr>
                                      <p:to>
                                        <p:strVal val="visible"/>
                                      </p:to>
                                    </p:set>
                                    <p:animEffect transition="in" filter="dissolve">
                                      <p:cBhvr>
                                        <p:cTn id="492" dur="500"/>
                                        <p:tgtEl>
                                          <p:spTgt spid="2382051"/>
                                        </p:tgtEl>
                                      </p:cBhvr>
                                    </p:animEffect>
                                  </p:childTnLst>
                                </p:cTn>
                              </p:par>
                              <p:par>
                                <p:cTn id="493" presetID="9" presetClass="entr" presetSubtype="0" fill="hold" nodeType="withEffect">
                                  <p:stCondLst>
                                    <p:cond delay="0"/>
                                  </p:stCondLst>
                                  <p:childTnLst>
                                    <p:set>
                                      <p:cBhvr>
                                        <p:cTn id="494" dur="1" fill="hold">
                                          <p:stCondLst>
                                            <p:cond delay="0"/>
                                          </p:stCondLst>
                                        </p:cTn>
                                        <p:tgtEl>
                                          <p:spTgt spid="2382052"/>
                                        </p:tgtEl>
                                        <p:attrNameLst>
                                          <p:attrName>style.visibility</p:attrName>
                                        </p:attrNameLst>
                                      </p:cBhvr>
                                      <p:to>
                                        <p:strVal val="visible"/>
                                      </p:to>
                                    </p:set>
                                    <p:animEffect transition="in" filter="dissolve">
                                      <p:cBhvr>
                                        <p:cTn id="495" dur="500"/>
                                        <p:tgtEl>
                                          <p:spTgt spid="2382052"/>
                                        </p:tgtEl>
                                      </p:cBhvr>
                                    </p:animEffect>
                                  </p:childTnLst>
                                </p:cTn>
                              </p:par>
                              <p:par>
                                <p:cTn id="496" presetID="9" presetClass="entr" presetSubtype="0" fill="hold" nodeType="withEffect">
                                  <p:stCondLst>
                                    <p:cond delay="0"/>
                                  </p:stCondLst>
                                  <p:childTnLst>
                                    <p:set>
                                      <p:cBhvr>
                                        <p:cTn id="497" dur="1" fill="hold">
                                          <p:stCondLst>
                                            <p:cond delay="0"/>
                                          </p:stCondLst>
                                        </p:cTn>
                                        <p:tgtEl>
                                          <p:spTgt spid="2382053"/>
                                        </p:tgtEl>
                                        <p:attrNameLst>
                                          <p:attrName>style.visibility</p:attrName>
                                        </p:attrNameLst>
                                      </p:cBhvr>
                                      <p:to>
                                        <p:strVal val="visible"/>
                                      </p:to>
                                    </p:set>
                                    <p:animEffect transition="in" filter="dissolve">
                                      <p:cBhvr>
                                        <p:cTn id="498" dur="500"/>
                                        <p:tgtEl>
                                          <p:spTgt spid="2382053"/>
                                        </p:tgtEl>
                                      </p:cBhvr>
                                    </p:animEffect>
                                  </p:childTnLst>
                                </p:cTn>
                              </p:par>
                              <p:par>
                                <p:cTn id="499" presetID="9" presetClass="entr" presetSubtype="0" fill="hold" nodeType="withEffect">
                                  <p:stCondLst>
                                    <p:cond delay="0"/>
                                  </p:stCondLst>
                                  <p:childTnLst>
                                    <p:set>
                                      <p:cBhvr>
                                        <p:cTn id="500" dur="1" fill="hold">
                                          <p:stCondLst>
                                            <p:cond delay="0"/>
                                          </p:stCondLst>
                                        </p:cTn>
                                        <p:tgtEl>
                                          <p:spTgt spid="2382054"/>
                                        </p:tgtEl>
                                        <p:attrNameLst>
                                          <p:attrName>style.visibility</p:attrName>
                                        </p:attrNameLst>
                                      </p:cBhvr>
                                      <p:to>
                                        <p:strVal val="visible"/>
                                      </p:to>
                                    </p:set>
                                    <p:animEffect transition="in" filter="dissolve">
                                      <p:cBhvr>
                                        <p:cTn id="501" dur="500"/>
                                        <p:tgtEl>
                                          <p:spTgt spid="2382054"/>
                                        </p:tgtEl>
                                      </p:cBhvr>
                                    </p:animEffect>
                                  </p:childTnLst>
                                </p:cTn>
                              </p:par>
                              <p:par>
                                <p:cTn id="502" presetID="9" presetClass="entr" presetSubtype="0" fill="hold" nodeType="withEffect">
                                  <p:stCondLst>
                                    <p:cond delay="0"/>
                                  </p:stCondLst>
                                  <p:childTnLst>
                                    <p:set>
                                      <p:cBhvr>
                                        <p:cTn id="503" dur="1" fill="hold">
                                          <p:stCondLst>
                                            <p:cond delay="0"/>
                                          </p:stCondLst>
                                        </p:cTn>
                                        <p:tgtEl>
                                          <p:spTgt spid="2382055"/>
                                        </p:tgtEl>
                                        <p:attrNameLst>
                                          <p:attrName>style.visibility</p:attrName>
                                        </p:attrNameLst>
                                      </p:cBhvr>
                                      <p:to>
                                        <p:strVal val="visible"/>
                                      </p:to>
                                    </p:set>
                                    <p:animEffect transition="in" filter="dissolve">
                                      <p:cBhvr>
                                        <p:cTn id="504" dur="500"/>
                                        <p:tgtEl>
                                          <p:spTgt spid="2382055"/>
                                        </p:tgtEl>
                                      </p:cBhvr>
                                    </p:animEffect>
                                  </p:childTnLst>
                                </p:cTn>
                              </p:par>
                              <p:par>
                                <p:cTn id="505" presetID="9" presetClass="entr" presetSubtype="0" fill="hold" nodeType="withEffect">
                                  <p:stCondLst>
                                    <p:cond delay="0"/>
                                  </p:stCondLst>
                                  <p:childTnLst>
                                    <p:set>
                                      <p:cBhvr>
                                        <p:cTn id="506" dur="1" fill="hold">
                                          <p:stCondLst>
                                            <p:cond delay="0"/>
                                          </p:stCondLst>
                                        </p:cTn>
                                        <p:tgtEl>
                                          <p:spTgt spid="2382056"/>
                                        </p:tgtEl>
                                        <p:attrNameLst>
                                          <p:attrName>style.visibility</p:attrName>
                                        </p:attrNameLst>
                                      </p:cBhvr>
                                      <p:to>
                                        <p:strVal val="visible"/>
                                      </p:to>
                                    </p:set>
                                    <p:animEffect transition="in" filter="dissolve">
                                      <p:cBhvr>
                                        <p:cTn id="507" dur="500"/>
                                        <p:tgtEl>
                                          <p:spTgt spid="2382056"/>
                                        </p:tgtEl>
                                      </p:cBhvr>
                                    </p:animEffect>
                                  </p:childTnLst>
                                </p:cTn>
                              </p:par>
                              <p:par>
                                <p:cTn id="508" presetID="9" presetClass="entr" presetSubtype="0" fill="hold" nodeType="withEffect">
                                  <p:stCondLst>
                                    <p:cond delay="0"/>
                                  </p:stCondLst>
                                  <p:childTnLst>
                                    <p:set>
                                      <p:cBhvr>
                                        <p:cTn id="509" dur="1" fill="hold">
                                          <p:stCondLst>
                                            <p:cond delay="0"/>
                                          </p:stCondLst>
                                        </p:cTn>
                                        <p:tgtEl>
                                          <p:spTgt spid="2382057"/>
                                        </p:tgtEl>
                                        <p:attrNameLst>
                                          <p:attrName>style.visibility</p:attrName>
                                        </p:attrNameLst>
                                      </p:cBhvr>
                                      <p:to>
                                        <p:strVal val="visible"/>
                                      </p:to>
                                    </p:set>
                                    <p:animEffect transition="in" filter="dissolve">
                                      <p:cBhvr>
                                        <p:cTn id="510" dur="500"/>
                                        <p:tgtEl>
                                          <p:spTgt spid="2382057"/>
                                        </p:tgtEl>
                                      </p:cBhvr>
                                    </p:animEffect>
                                  </p:childTnLst>
                                </p:cTn>
                              </p:par>
                              <p:par>
                                <p:cTn id="511" presetID="9" presetClass="entr" presetSubtype="0" fill="hold" nodeType="withEffect">
                                  <p:stCondLst>
                                    <p:cond delay="0"/>
                                  </p:stCondLst>
                                  <p:childTnLst>
                                    <p:set>
                                      <p:cBhvr>
                                        <p:cTn id="512" dur="1" fill="hold">
                                          <p:stCondLst>
                                            <p:cond delay="0"/>
                                          </p:stCondLst>
                                        </p:cTn>
                                        <p:tgtEl>
                                          <p:spTgt spid="2382058"/>
                                        </p:tgtEl>
                                        <p:attrNameLst>
                                          <p:attrName>style.visibility</p:attrName>
                                        </p:attrNameLst>
                                      </p:cBhvr>
                                      <p:to>
                                        <p:strVal val="visible"/>
                                      </p:to>
                                    </p:set>
                                    <p:animEffect transition="in" filter="dissolve">
                                      <p:cBhvr>
                                        <p:cTn id="513" dur="500"/>
                                        <p:tgtEl>
                                          <p:spTgt spid="2382058"/>
                                        </p:tgtEl>
                                      </p:cBhvr>
                                    </p:animEffect>
                                  </p:childTnLst>
                                </p:cTn>
                              </p:par>
                              <p:par>
                                <p:cTn id="514" presetID="9" presetClass="entr" presetSubtype="0" fill="hold" nodeType="withEffect">
                                  <p:stCondLst>
                                    <p:cond delay="0"/>
                                  </p:stCondLst>
                                  <p:childTnLst>
                                    <p:set>
                                      <p:cBhvr>
                                        <p:cTn id="515" dur="1" fill="hold">
                                          <p:stCondLst>
                                            <p:cond delay="0"/>
                                          </p:stCondLst>
                                        </p:cTn>
                                        <p:tgtEl>
                                          <p:spTgt spid="2382059"/>
                                        </p:tgtEl>
                                        <p:attrNameLst>
                                          <p:attrName>style.visibility</p:attrName>
                                        </p:attrNameLst>
                                      </p:cBhvr>
                                      <p:to>
                                        <p:strVal val="visible"/>
                                      </p:to>
                                    </p:set>
                                    <p:animEffect transition="in" filter="dissolve">
                                      <p:cBhvr>
                                        <p:cTn id="516" dur="500"/>
                                        <p:tgtEl>
                                          <p:spTgt spid="2382059"/>
                                        </p:tgtEl>
                                      </p:cBhvr>
                                    </p:animEffect>
                                  </p:childTnLst>
                                </p:cTn>
                              </p:par>
                              <p:par>
                                <p:cTn id="517" presetID="9" presetClass="entr" presetSubtype="0" fill="hold" nodeType="withEffect">
                                  <p:stCondLst>
                                    <p:cond delay="0"/>
                                  </p:stCondLst>
                                  <p:childTnLst>
                                    <p:set>
                                      <p:cBhvr>
                                        <p:cTn id="518" dur="1" fill="hold">
                                          <p:stCondLst>
                                            <p:cond delay="0"/>
                                          </p:stCondLst>
                                        </p:cTn>
                                        <p:tgtEl>
                                          <p:spTgt spid="2382060"/>
                                        </p:tgtEl>
                                        <p:attrNameLst>
                                          <p:attrName>style.visibility</p:attrName>
                                        </p:attrNameLst>
                                      </p:cBhvr>
                                      <p:to>
                                        <p:strVal val="visible"/>
                                      </p:to>
                                    </p:set>
                                    <p:animEffect transition="in" filter="dissolve">
                                      <p:cBhvr>
                                        <p:cTn id="519" dur="500"/>
                                        <p:tgtEl>
                                          <p:spTgt spid="2382060"/>
                                        </p:tgtEl>
                                      </p:cBhvr>
                                    </p:animEffect>
                                  </p:childTnLst>
                                </p:cTn>
                              </p:par>
                              <p:par>
                                <p:cTn id="520" presetID="9" presetClass="entr" presetSubtype="0" fill="hold" nodeType="withEffect">
                                  <p:stCondLst>
                                    <p:cond delay="0"/>
                                  </p:stCondLst>
                                  <p:childTnLst>
                                    <p:set>
                                      <p:cBhvr>
                                        <p:cTn id="521" dur="1" fill="hold">
                                          <p:stCondLst>
                                            <p:cond delay="0"/>
                                          </p:stCondLst>
                                        </p:cTn>
                                        <p:tgtEl>
                                          <p:spTgt spid="2382061"/>
                                        </p:tgtEl>
                                        <p:attrNameLst>
                                          <p:attrName>style.visibility</p:attrName>
                                        </p:attrNameLst>
                                      </p:cBhvr>
                                      <p:to>
                                        <p:strVal val="visible"/>
                                      </p:to>
                                    </p:set>
                                    <p:animEffect transition="in" filter="dissolve">
                                      <p:cBhvr>
                                        <p:cTn id="522" dur="500"/>
                                        <p:tgtEl>
                                          <p:spTgt spid="2382061"/>
                                        </p:tgtEl>
                                      </p:cBhvr>
                                    </p:animEffect>
                                  </p:childTnLst>
                                </p:cTn>
                              </p:par>
                              <p:par>
                                <p:cTn id="523" presetID="9" presetClass="entr" presetSubtype="0" fill="hold" nodeType="withEffect">
                                  <p:stCondLst>
                                    <p:cond delay="0"/>
                                  </p:stCondLst>
                                  <p:childTnLst>
                                    <p:set>
                                      <p:cBhvr>
                                        <p:cTn id="524" dur="1" fill="hold">
                                          <p:stCondLst>
                                            <p:cond delay="0"/>
                                          </p:stCondLst>
                                        </p:cTn>
                                        <p:tgtEl>
                                          <p:spTgt spid="2382062"/>
                                        </p:tgtEl>
                                        <p:attrNameLst>
                                          <p:attrName>style.visibility</p:attrName>
                                        </p:attrNameLst>
                                      </p:cBhvr>
                                      <p:to>
                                        <p:strVal val="visible"/>
                                      </p:to>
                                    </p:set>
                                    <p:animEffect transition="in" filter="dissolve">
                                      <p:cBhvr>
                                        <p:cTn id="525" dur="500"/>
                                        <p:tgtEl>
                                          <p:spTgt spid="2382062"/>
                                        </p:tgtEl>
                                      </p:cBhvr>
                                    </p:animEffect>
                                  </p:childTnLst>
                                </p:cTn>
                              </p:par>
                              <p:par>
                                <p:cTn id="526" presetID="9" presetClass="entr" presetSubtype="0" fill="hold" nodeType="withEffect">
                                  <p:stCondLst>
                                    <p:cond delay="0"/>
                                  </p:stCondLst>
                                  <p:childTnLst>
                                    <p:set>
                                      <p:cBhvr>
                                        <p:cTn id="527" dur="1" fill="hold">
                                          <p:stCondLst>
                                            <p:cond delay="0"/>
                                          </p:stCondLst>
                                        </p:cTn>
                                        <p:tgtEl>
                                          <p:spTgt spid="2382063"/>
                                        </p:tgtEl>
                                        <p:attrNameLst>
                                          <p:attrName>style.visibility</p:attrName>
                                        </p:attrNameLst>
                                      </p:cBhvr>
                                      <p:to>
                                        <p:strVal val="visible"/>
                                      </p:to>
                                    </p:set>
                                    <p:animEffect transition="in" filter="dissolve">
                                      <p:cBhvr>
                                        <p:cTn id="528" dur="500"/>
                                        <p:tgtEl>
                                          <p:spTgt spid="2382063"/>
                                        </p:tgtEl>
                                      </p:cBhvr>
                                    </p:animEffect>
                                  </p:childTnLst>
                                </p:cTn>
                              </p:par>
                              <p:par>
                                <p:cTn id="529" presetID="9" presetClass="entr" presetSubtype="0" fill="hold" nodeType="withEffect">
                                  <p:stCondLst>
                                    <p:cond delay="0"/>
                                  </p:stCondLst>
                                  <p:childTnLst>
                                    <p:set>
                                      <p:cBhvr>
                                        <p:cTn id="530" dur="1" fill="hold">
                                          <p:stCondLst>
                                            <p:cond delay="0"/>
                                          </p:stCondLst>
                                        </p:cTn>
                                        <p:tgtEl>
                                          <p:spTgt spid="2382064"/>
                                        </p:tgtEl>
                                        <p:attrNameLst>
                                          <p:attrName>style.visibility</p:attrName>
                                        </p:attrNameLst>
                                      </p:cBhvr>
                                      <p:to>
                                        <p:strVal val="visible"/>
                                      </p:to>
                                    </p:set>
                                    <p:animEffect transition="in" filter="dissolve">
                                      <p:cBhvr>
                                        <p:cTn id="531" dur="500"/>
                                        <p:tgtEl>
                                          <p:spTgt spid="2382064"/>
                                        </p:tgtEl>
                                      </p:cBhvr>
                                    </p:animEffect>
                                  </p:childTnLst>
                                </p:cTn>
                              </p:par>
                              <p:par>
                                <p:cTn id="532" presetID="9" presetClass="entr" presetSubtype="0" fill="hold" nodeType="withEffect">
                                  <p:stCondLst>
                                    <p:cond delay="0"/>
                                  </p:stCondLst>
                                  <p:childTnLst>
                                    <p:set>
                                      <p:cBhvr>
                                        <p:cTn id="533" dur="1" fill="hold">
                                          <p:stCondLst>
                                            <p:cond delay="0"/>
                                          </p:stCondLst>
                                        </p:cTn>
                                        <p:tgtEl>
                                          <p:spTgt spid="2382065"/>
                                        </p:tgtEl>
                                        <p:attrNameLst>
                                          <p:attrName>style.visibility</p:attrName>
                                        </p:attrNameLst>
                                      </p:cBhvr>
                                      <p:to>
                                        <p:strVal val="visible"/>
                                      </p:to>
                                    </p:set>
                                    <p:animEffect transition="in" filter="dissolve">
                                      <p:cBhvr>
                                        <p:cTn id="534" dur="500"/>
                                        <p:tgtEl>
                                          <p:spTgt spid="2382065"/>
                                        </p:tgtEl>
                                      </p:cBhvr>
                                    </p:animEffect>
                                  </p:childTnLst>
                                </p:cTn>
                              </p:par>
                              <p:par>
                                <p:cTn id="535" presetID="9" presetClass="entr" presetSubtype="0" fill="hold" nodeType="withEffect">
                                  <p:stCondLst>
                                    <p:cond delay="0"/>
                                  </p:stCondLst>
                                  <p:childTnLst>
                                    <p:set>
                                      <p:cBhvr>
                                        <p:cTn id="536" dur="1" fill="hold">
                                          <p:stCondLst>
                                            <p:cond delay="0"/>
                                          </p:stCondLst>
                                        </p:cTn>
                                        <p:tgtEl>
                                          <p:spTgt spid="2382066"/>
                                        </p:tgtEl>
                                        <p:attrNameLst>
                                          <p:attrName>style.visibility</p:attrName>
                                        </p:attrNameLst>
                                      </p:cBhvr>
                                      <p:to>
                                        <p:strVal val="visible"/>
                                      </p:to>
                                    </p:set>
                                    <p:animEffect transition="in" filter="dissolve">
                                      <p:cBhvr>
                                        <p:cTn id="537" dur="500"/>
                                        <p:tgtEl>
                                          <p:spTgt spid="2382066"/>
                                        </p:tgtEl>
                                      </p:cBhvr>
                                    </p:animEffect>
                                  </p:childTnLst>
                                </p:cTn>
                              </p:par>
                              <p:par>
                                <p:cTn id="538" presetID="9" presetClass="entr" presetSubtype="0" fill="hold" nodeType="withEffect">
                                  <p:stCondLst>
                                    <p:cond delay="0"/>
                                  </p:stCondLst>
                                  <p:childTnLst>
                                    <p:set>
                                      <p:cBhvr>
                                        <p:cTn id="539" dur="1" fill="hold">
                                          <p:stCondLst>
                                            <p:cond delay="0"/>
                                          </p:stCondLst>
                                        </p:cTn>
                                        <p:tgtEl>
                                          <p:spTgt spid="2382067"/>
                                        </p:tgtEl>
                                        <p:attrNameLst>
                                          <p:attrName>style.visibility</p:attrName>
                                        </p:attrNameLst>
                                      </p:cBhvr>
                                      <p:to>
                                        <p:strVal val="visible"/>
                                      </p:to>
                                    </p:set>
                                    <p:animEffect transition="in" filter="dissolve">
                                      <p:cBhvr>
                                        <p:cTn id="540" dur="500"/>
                                        <p:tgtEl>
                                          <p:spTgt spid="2382067"/>
                                        </p:tgtEl>
                                      </p:cBhvr>
                                    </p:animEffect>
                                  </p:childTnLst>
                                </p:cTn>
                              </p:par>
                              <p:par>
                                <p:cTn id="541" presetID="9" presetClass="entr" presetSubtype="0" fill="hold" nodeType="withEffect">
                                  <p:stCondLst>
                                    <p:cond delay="0"/>
                                  </p:stCondLst>
                                  <p:childTnLst>
                                    <p:set>
                                      <p:cBhvr>
                                        <p:cTn id="542" dur="1" fill="hold">
                                          <p:stCondLst>
                                            <p:cond delay="0"/>
                                          </p:stCondLst>
                                        </p:cTn>
                                        <p:tgtEl>
                                          <p:spTgt spid="2382068"/>
                                        </p:tgtEl>
                                        <p:attrNameLst>
                                          <p:attrName>style.visibility</p:attrName>
                                        </p:attrNameLst>
                                      </p:cBhvr>
                                      <p:to>
                                        <p:strVal val="visible"/>
                                      </p:to>
                                    </p:set>
                                    <p:animEffect transition="in" filter="dissolve">
                                      <p:cBhvr>
                                        <p:cTn id="543" dur="500"/>
                                        <p:tgtEl>
                                          <p:spTgt spid="2382068"/>
                                        </p:tgtEl>
                                      </p:cBhvr>
                                    </p:animEffect>
                                  </p:childTnLst>
                                </p:cTn>
                              </p:par>
                              <p:par>
                                <p:cTn id="544" presetID="9" presetClass="entr" presetSubtype="0" fill="hold" nodeType="withEffect">
                                  <p:stCondLst>
                                    <p:cond delay="0"/>
                                  </p:stCondLst>
                                  <p:childTnLst>
                                    <p:set>
                                      <p:cBhvr>
                                        <p:cTn id="545" dur="1" fill="hold">
                                          <p:stCondLst>
                                            <p:cond delay="0"/>
                                          </p:stCondLst>
                                        </p:cTn>
                                        <p:tgtEl>
                                          <p:spTgt spid="2382069"/>
                                        </p:tgtEl>
                                        <p:attrNameLst>
                                          <p:attrName>style.visibility</p:attrName>
                                        </p:attrNameLst>
                                      </p:cBhvr>
                                      <p:to>
                                        <p:strVal val="visible"/>
                                      </p:to>
                                    </p:set>
                                    <p:animEffect transition="in" filter="dissolve">
                                      <p:cBhvr>
                                        <p:cTn id="546" dur="500"/>
                                        <p:tgtEl>
                                          <p:spTgt spid="2382069"/>
                                        </p:tgtEl>
                                      </p:cBhvr>
                                    </p:animEffect>
                                  </p:childTnLst>
                                </p:cTn>
                              </p:par>
                              <p:par>
                                <p:cTn id="547" presetID="9" presetClass="entr" presetSubtype="0" fill="hold" nodeType="withEffect">
                                  <p:stCondLst>
                                    <p:cond delay="0"/>
                                  </p:stCondLst>
                                  <p:childTnLst>
                                    <p:set>
                                      <p:cBhvr>
                                        <p:cTn id="548" dur="1" fill="hold">
                                          <p:stCondLst>
                                            <p:cond delay="0"/>
                                          </p:stCondLst>
                                        </p:cTn>
                                        <p:tgtEl>
                                          <p:spTgt spid="2382070"/>
                                        </p:tgtEl>
                                        <p:attrNameLst>
                                          <p:attrName>style.visibility</p:attrName>
                                        </p:attrNameLst>
                                      </p:cBhvr>
                                      <p:to>
                                        <p:strVal val="visible"/>
                                      </p:to>
                                    </p:set>
                                    <p:animEffect transition="in" filter="dissolve">
                                      <p:cBhvr>
                                        <p:cTn id="549" dur="500"/>
                                        <p:tgtEl>
                                          <p:spTgt spid="2382070"/>
                                        </p:tgtEl>
                                      </p:cBhvr>
                                    </p:animEffect>
                                  </p:childTnLst>
                                </p:cTn>
                              </p:par>
                              <p:par>
                                <p:cTn id="550" presetID="9" presetClass="entr" presetSubtype="0" fill="hold" nodeType="withEffect">
                                  <p:stCondLst>
                                    <p:cond delay="0"/>
                                  </p:stCondLst>
                                  <p:childTnLst>
                                    <p:set>
                                      <p:cBhvr>
                                        <p:cTn id="551" dur="1" fill="hold">
                                          <p:stCondLst>
                                            <p:cond delay="0"/>
                                          </p:stCondLst>
                                        </p:cTn>
                                        <p:tgtEl>
                                          <p:spTgt spid="2382071"/>
                                        </p:tgtEl>
                                        <p:attrNameLst>
                                          <p:attrName>style.visibility</p:attrName>
                                        </p:attrNameLst>
                                      </p:cBhvr>
                                      <p:to>
                                        <p:strVal val="visible"/>
                                      </p:to>
                                    </p:set>
                                    <p:animEffect transition="in" filter="dissolve">
                                      <p:cBhvr>
                                        <p:cTn id="552" dur="500"/>
                                        <p:tgtEl>
                                          <p:spTgt spid="2382071"/>
                                        </p:tgtEl>
                                      </p:cBhvr>
                                    </p:animEffect>
                                  </p:childTnLst>
                                </p:cTn>
                              </p:par>
                              <p:par>
                                <p:cTn id="553" presetID="9" presetClass="entr" presetSubtype="0" fill="hold" nodeType="withEffect">
                                  <p:stCondLst>
                                    <p:cond delay="0"/>
                                  </p:stCondLst>
                                  <p:childTnLst>
                                    <p:set>
                                      <p:cBhvr>
                                        <p:cTn id="554" dur="1" fill="hold">
                                          <p:stCondLst>
                                            <p:cond delay="0"/>
                                          </p:stCondLst>
                                        </p:cTn>
                                        <p:tgtEl>
                                          <p:spTgt spid="2382072"/>
                                        </p:tgtEl>
                                        <p:attrNameLst>
                                          <p:attrName>style.visibility</p:attrName>
                                        </p:attrNameLst>
                                      </p:cBhvr>
                                      <p:to>
                                        <p:strVal val="visible"/>
                                      </p:to>
                                    </p:set>
                                    <p:animEffect transition="in" filter="dissolve">
                                      <p:cBhvr>
                                        <p:cTn id="555" dur="500"/>
                                        <p:tgtEl>
                                          <p:spTgt spid="2382072"/>
                                        </p:tgtEl>
                                      </p:cBhvr>
                                    </p:animEffect>
                                  </p:childTnLst>
                                </p:cTn>
                              </p:par>
                              <p:par>
                                <p:cTn id="556" presetID="9" presetClass="entr" presetSubtype="0" fill="hold" nodeType="withEffect">
                                  <p:stCondLst>
                                    <p:cond delay="0"/>
                                  </p:stCondLst>
                                  <p:childTnLst>
                                    <p:set>
                                      <p:cBhvr>
                                        <p:cTn id="557" dur="1" fill="hold">
                                          <p:stCondLst>
                                            <p:cond delay="0"/>
                                          </p:stCondLst>
                                        </p:cTn>
                                        <p:tgtEl>
                                          <p:spTgt spid="2382073"/>
                                        </p:tgtEl>
                                        <p:attrNameLst>
                                          <p:attrName>style.visibility</p:attrName>
                                        </p:attrNameLst>
                                      </p:cBhvr>
                                      <p:to>
                                        <p:strVal val="visible"/>
                                      </p:to>
                                    </p:set>
                                    <p:animEffect transition="in" filter="dissolve">
                                      <p:cBhvr>
                                        <p:cTn id="558" dur="500"/>
                                        <p:tgtEl>
                                          <p:spTgt spid="2382073"/>
                                        </p:tgtEl>
                                      </p:cBhvr>
                                    </p:animEffect>
                                  </p:childTnLst>
                                </p:cTn>
                              </p:par>
                              <p:par>
                                <p:cTn id="559" presetID="9" presetClass="entr" presetSubtype="0" fill="hold" nodeType="withEffect">
                                  <p:stCondLst>
                                    <p:cond delay="0"/>
                                  </p:stCondLst>
                                  <p:childTnLst>
                                    <p:set>
                                      <p:cBhvr>
                                        <p:cTn id="560" dur="1" fill="hold">
                                          <p:stCondLst>
                                            <p:cond delay="0"/>
                                          </p:stCondLst>
                                        </p:cTn>
                                        <p:tgtEl>
                                          <p:spTgt spid="2382074"/>
                                        </p:tgtEl>
                                        <p:attrNameLst>
                                          <p:attrName>style.visibility</p:attrName>
                                        </p:attrNameLst>
                                      </p:cBhvr>
                                      <p:to>
                                        <p:strVal val="visible"/>
                                      </p:to>
                                    </p:set>
                                    <p:animEffect transition="in" filter="dissolve">
                                      <p:cBhvr>
                                        <p:cTn id="561" dur="500"/>
                                        <p:tgtEl>
                                          <p:spTgt spid="2382074"/>
                                        </p:tgtEl>
                                      </p:cBhvr>
                                    </p:animEffect>
                                  </p:childTnLst>
                                </p:cTn>
                              </p:par>
                              <p:par>
                                <p:cTn id="562" presetID="9" presetClass="entr" presetSubtype="0" fill="hold" nodeType="withEffect">
                                  <p:stCondLst>
                                    <p:cond delay="0"/>
                                  </p:stCondLst>
                                  <p:childTnLst>
                                    <p:set>
                                      <p:cBhvr>
                                        <p:cTn id="563" dur="1" fill="hold">
                                          <p:stCondLst>
                                            <p:cond delay="0"/>
                                          </p:stCondLst>
                                        </p:cTn>
                                        <p:tgtEl>
                                          <p:spTgt spid="2382075"/>
                                        </p:tgtEl>
                                        <p:attrNameLst>
                                          <p:attrName>style.visibility</p:attrName>
                                        </p:attrNameLst>
                                      </p:cBhvr>
                                      <p:to>
                                        <p:strVal val="visible"/>
                                      </p:to>
                                    </p:set>
                                    <p:animEffect transition="in" filter="dissolve">
                                      <p:cBhvr>
                                        <p:cTn id="564" dur="500"/>
                                        <p:tgtEl>
                                          <p:spTgt spid="2382075"/>
                                        </p:tgtEl>
                                      </p:cBhvr>
                                    </p:animEffect>
                                  </p:childTnLst>
                                </p:cTn>
                              </p:par>
                              <p:par>
                                <p:cTn id="565" presetID="9" presetClass="entr" presetSubtype="0" fill="hold" nodeType="withEffect">
                                  <p:stCondLst>
                                    <p:cond delay="0"/>
                                  </p:stCondLst>
                                  <p:childTnLst>
                                    <p:set>
                                      <p:cBhvr>
                                        <p:cTn id="566" dur="1" fill="hold">
                                          <p:stCondLst>
                                            <p:cond delay="0"/>
                                          </p:stCondLst>
                                        </p:cTn>
                                        <p:tgtEl>
                                          <p:spTgt spid="2382076"/>
                                        </p:tgtEl>
                                        <p:attrNameLst>
                                          <p:attrName>style.visibility</p:attrName>
                                        </p:attrNameLst>
                                      </p:cBhvr>
                                      <p:to>
                                        <p:strVal val="visible"/>
                                      </p:to>
                                    </p:set>
                                    <p:animEffect transition="in" filter="dissolve">
                                      <p:cBhvr>
                                        <p:cTn id="567" dur="500"/>
                                        <p:tgtEl>
                                          <p:spTgt spid="2382076"/>
                                        </p:tgtEl>
                                      </p:cBhvr>
                                    </p:animEffect>
                                  </p:childTnLst>
                                </p:cTn>
                              </p:par>
                              <p:par>
                                <p:cTn id="568" presetID="9" presetClass="entr" presetSubtype="0" fill="hold" nodeType="withEffect">
                                  <p:stCondLst>
                                    <p:cond delay="0"/>
                                  </p:stCondLst>
                                  <p:childTnLst>
                                    <p:set>
                                      <p:cBhvr>
                                        <p:cTn id="569" dur="1" fill="hold">
                                          <p:stCondLst>
                                            <p:cond delay="0"/>
                                          </p:stCondLst>
                                        </p:cTn>
                                        <p:tgtEl>
                                          <p:spTgt spid="2382077"/>
                                        </p:tgtEl>
                                        <p:attrNameLst>
                                          <p:attrName>style.visibility</p:attrName>
                                        </p:attrNameLst>
                                      </p:cBhvr>
                                      <p:to>
                                        <p:strVal val="visible"/>
                                      </p:to>
                                    </p:set>
                                    <p:animEffect transition="in" filter="dissolve">
                                      <p:cBhvr>
                                        <p:cTn id="570" dur="500"/>
                                        <p:tgtEl>
                                          <p:spTgt spid="2382077"/>
                                        </p:tgtEl>
                                      </p:cBhvr>
                                    </p:animEffect>
                                  </p:childTnLst>
                                </p:cTn>
                              </p:par>
                              <p:par>
                                <p:cTn id="571" presetID="9" presetClass="entr" presetSubtype="0" fill="hold" nodeType="withEffect">
                                  <p:stCondLst>
                                    <p:cond delay="0"/>
                                  </p:stCondLst>
                                  <p:childTnLst>
                                    <p:set>
                                      <p:cBhvr>
                                        <p:cTn id="572" dur="1" fill="hold">
                                          <p:stCondLst>
                                            <p:cond delay="0"/>
                                          </p:stCondLst>
                                        </p:cTn>
                                        <p:tgtEl>
                                          <p:spTgt spid="2382078"/>
                                        </p:tgtEl>
                                        <p:attrNameLst>
                                          <p:attrName>style.visibility</p:attrName>
                                        </p:attrNameLst>
                                      </p:cBhvr>
                                      <p:to>
                                        <p:strVal val="visible"/>
                                      </p:to>
                                    </p:set>
                                    <p:animEffect transition="in" filter="dissolve">
                                      <p:cBhvr>
                                        <p:cTn id="573" dur="500"/>
                                        <p:tgtEl>
                                          <p:spTgt spid="2382078"/>
                                        </p:tgtEl>
                                      </p:cBhvr>
                                    </p:animEffect>
                                  </p:childTnLst>
                                </p:cTn>
                              </p:par>
                              <p:par>
                                <p:cTn id="574" presetID="9" presetClass="entr" presetSubtype="0" fill="hold" nodeType="withEffect">
                                  <p:stCondLst>
                                    <p:cond delay="0"/>
                                  </p:stCondLst>
                                  <p:childTnLst>
                                    <p:set>
                                      <p:cBhvr>
                                        <p:cTn id="575" dur="1" fill="hold">
                                          <p:stCondLst>
                                            <p:cond delay="0"/>
                                          </p:stCondLst>
                                        </p:cTn>
                                        <p:tgtEl>
                                          <p:spTgt spid="2382079"/>
                                        </p:tgtEl>
                                        <p:attrNameLst>
                                          <p:attrName>style.visibility</p:attrName>
                                        </p:attrNameLst>
                                      </p:cBhvr>
                                      <p:to>
                                        <p:strVal val="visible"/>
                                      </p:to>
                                    </p:set>
                                    <p:animEffect transition="in" filter="dissolve">
                                      <p:cBhvr>
                                        <p:cTn id="576" dur="500"/>
                                        <p:tgtEl>
                                          <p:spTgt spid="2382079"/>
                                        </p:tgtEl>
                                      </p:cBhvr>
                                    </p:animEffect>
                                  </p:childTnLst>
                                </p:cTn>
                              </p:par>
                              <p:par>
                                <p:cTn id="577" presetID="9" presetClass="entr" presetSubtype="0" fill="hold" nodeType="withEffect">
                                  <p:stCondLst>
                                    <p:cond delay="0"/>
                                  </p:stCondLst>
                                  <p:childTnLst>
                                    <p:set>
                                      <p:cBhvr>
                                        <p:cTn id="578" dur="1" fill="hold">
                                          <p:stCondLst>
                                            <p:cond delay="0"/>
                                          </p:stCondLst>
                                        </p:cTn>
                                        <p:tgtEl>
                                          <p:spTgt spid="2382080"/>
                                        </p:tgtEl>
                                        <p:attrNameLst>
                                          <p:attrName>style.visibility</p:attrName>
                                        </p:attrNameLst>
                                      </p:cBhvr>
                                      <p:to>
                                        <p:strVal val="visible"/>
                                      </p:to>
                                    </p:set>
                                    <p:animEffect transition="in" filter="dissolve">
                                      <p:cBhvr>
                                        <p:cTn id="579" dur="500"/>
                                        <p:tgtEl>
                                          <p:spTgt spid="2382080"/>
                                        </p:tgtEl>
                                      </p:cBhvr>
                                    </p:animEffect>
                                  </p:childTnLst>
                                </p:cTn>
                              </p:par>
                              <p:par>
                                <p:cTn id="580" presetID="9" presetClass="entr" presetSubtype="0" fill="hold" nodeType="withEffect">
                                  <p:stCondLst>
                                    <p:cond delay="0"/>
                                  </p:stCondLst>
                                  <p:childTnLst>
                                    <p:set>
                                      <p:cBhvr>
                                        <p:cTn id="581" dur="1" fill="hold">
                                          <p:stCondLst>
                                            <p:cond delay="0"/>
                                          </p:stCondLst>
                                        </p:cTn>
                                        <p:tgtEl>
                                          <p:spTgt spid="2382081"/>
                                        </p:tgtEl>
                                        <p:attrNameLst>
                                          <p:attrName>style.visibility</p:attrName>
                                        </p:attrNameLst>
                                      </p:cBhvr>
                                      <p:to>
                                        <p:strVal val="visible"/>
                                      </p:to>
                                    </p:set>
                                    <p:animEffect transition="in" filter="dissolve">
                                      <p:cBhvr>
                                        <p:cTn id="582" dur="500"/>
                                        <p:tgtEl>
                                          <p:spTgt spid="2382081"/>
                                        </p:tgtEl>
                                      </p:cBhvr>
                                    </p:animEffect>
                                  </p:childTnLst>
                                </p:cTn>
                              </p:par>
                              <p:par>
                                <p:cTn id="583" presetID="9" presetClass="entr" presetSubtype="0" fill="hold" nodeType="withEffect">
                                  <p:stCondLst>
                                    <p:cond delay="0"/>
                                  </p:stCondLst>
                                  <p:childTnLst>
                                    <p:set>
                                      <p:cBhvr>
                                        <p:cTn id="584" dur="1" fill="hold">
                                          <p:stCondLst>
                                            <p:cond delay="0"/>
                                          </p:stCondLst>
                                        </p:cTn>
                                        <p:tgtEl>
                                          <p:spTgt spid="2382082"/>
                                        </p:tgtEl>
                                        <p:attrNameLst>
                                          <p:attrName>style.visibility</p:attrName>
                                        </p:attrNameLst>
                                      </p:cBhvr>
                                      <p:to>
                                        <p:strVal val="visible"/>
                                      </p:to>
                                    </p:set>
                                    <p:animEffect transition="in" filter="dissolve">
                                      <p:cBhvr>
                                        <p:cTn id="585" dur="500"/>
                                        <p:tgtEl>
                                          <p:spTgt spid="2382082"/>
                                        </p:tgtEl>
                                      </p:cBhvr>
                                    </p:animEffect>
                                  </p:childTnLst>
                                </p:cTn>
                              </p:par>
                              <p:par>
                                <p:cTn id="586" presetID="9" presetClass="entr" presetSubtype="0" fill="hold" nodeType="withEffect">
                                  <p:stCondLst>
                                    <p:cond delay="0"/>
                                  </p:stCondLst>
                                  <p:childTnLst>
                                    <p:set>
                                      <p:cBhvr>
                                        <p:cTn id="587" dur="1" fill="hold">
                                          <p:stCondLst>
                                            <p:cond delay="0"/>
                                          </p:stCondLst>
                                        </p:cTn>
                                        <p:tgtEl>
                                          <p:spTgt spid="2382083"/>
                                        </p:tgtEl>
                                        <p:attrNameLst>
                                          <p:attrName>style.visibility</p:attrName>
                                        </p:attrNameLst>
                                      </p:cBhvr>
                                      <p:to>
                                        <p:strVal val="visible"/>
                                      </p:to>
                                    </p:set>
                                    <p:animEffect transition="in" filter="dissolve">
                                      <p:cBhvr>
                                        <p:cTn id="588" dur="500"/>
                                        <p:tgtEl>
                                          <p:spTgt spid="2382083"/>
                                        </p:tgtEl>
                                      </p:cBhvr>
                                    </p:animEffect>
                                  </p:childTnLst>
                                </p:cTn>
                              </p:par>
                              <p:par>
                                <p:cTn id="589" presetID="9" presetClass="entr" presetSubtype="0" fill="hold" nodeType="withEffect">
                                  <p:stCondLst>
                                    <p:cond delay="0"/>
                                  </p:stCondLst>
                                  <p:childTnLst>
                                    <p:set>
                                      <p:cBhvr>
                                        <p:cTn id="590" dur="1" fill="hold">
                                          <p:stCondLst>
                                            <p:cond delay="0"/>
                                          </p:stCondLst>
                                        </p:cTn>
                                        <p:tgtEl>
                                          <p:spTgt spid="2382084"/>
                                        </p:tgtEl>
                                        <p:attrNameLst>
                                          <p:attrName>style.visibility</p:attrName>
                                        </p:attrNameLst>
                                      </p:cBhvr>
                                      <p:to>
                                        <p:strVal val="visible"/>
                                      </p:to>
                                    </p:set>
                                    <p:animEffect transition="in" filter="dissolve">
                                      <p:cBhvr>
                                        <p:cTn id="591" dur="500"/>
                                        <p:tgtEl>
                                          <p:spTgt spid="2382084"/>
                                        </p:tgtEl>
                                      </p:cBhvr>
                                    </p:animEffect>
                                  </p:childTnLst>
                                </p:cTn>
                              </p:par>
                              <p:par>
                                <p:cTn id="592" presetID="9" presetClass="entr" presetSubtype="0" fill="hold" nodeType="withEffect">
                                  <p:stCondLst>
                                    <p:cond delay="0"/>
                                  </p:stCondLst>
                                  <p:childTnLst>
                                    <p:set>
                                      <p:cBhvr>
                                        <p:cTn id="593" dur="1" fill="hold">
                                          <p:stCondLst>
                                            <p:cond delay="0"/>
                                          </p:stCondLst>
                                        </p:cTn>
                                        <p:tgtEl>
                                          <p:spTgt spid="2382085"/>
                                        </p:tgtEl>
                                        <p:attrNameLst>
                                          <p:attrName>style.visibility</p:attrName>
                                        </p:attrNameLst>
                                      </p:cBhvr>
                                      <p:to>
                                        <p:strVal val="visible"/>
                                      </p:to>
                                    </p:set>
                                    <p:animEffect transition="in" filter="dissolve">
                                      <p:cBhvr>
                                        <p:cTn id="594" dur="500"/>
                                        <p:tgtEl>
                                          <p:spTgt spid="2382085"/>
                                        </p:tgtEl>
                                      </p:cBhvr>
                                    </p:animEffect>
                                  </p:childTnLst>
                                </p:cTn>
                              </p:par>
                              <p:par>
                                <p:cTn id="595" presetID="9" presetClass="entr" presetSubtype="0" fill="hold" nodeType="withEffect">
                                  <p:stCondLst>
                                    <p:cond delay="0"/>
                                  </p:stCondLst>
                                  <p:childTnLst>
                                    <p:set>
                                      <p:cBhvr>
                                        <p:cTn id="596" dur="1" fill="hold">
                                          <p:stCondLst>
                                            <p:cond delay="0"/>
                                          </p:stCondLst>
                                        </p:cTn>
                                        <p:tgtEl>
                                          <p:spTgt spid="2382086"/>
                                        </p:tgtEl>
                                        <p:attrNameLst>
                                          <p:attrName>style.visibility</p:attrName>
                                        </p:attrNameLst>
                                      </p:cBhvr>
                                      <p:to>
                                        <p:strVal val="visible"/>
                                      </p:to>
                                    </p:set>
                                    <p:animEffect transition="in" filter="dissolve">
                                      <p:cBhvr>
                                        <p:cTn id="597" dur="500"/>
                                        <p:tgtEl>
                                          <p:spTgt spid="2382086"/>
                                        </p:tgtEl>
                                      </p:cBhvr>
                                    </p:animEffect>
                                  </p:childTnLst>
                                </p:cTn>
                              </p:par>
                              <p:par>
                                <p:cTn id="598" presetID="9" presetClass="entr" presetSubtype="0" fill="hold" nodeType="withEffect">
                                  <p:stCondLst>
                                    <p:cond delay="0"/>
                                  </p:stCondLst>
                                  <p:childTnLst>
                                    <p:set>
                                      <p:cBhvr>
                                        <p:cTn id="599" dur="1" fill="hold">
                                          <p:stCondLst>
                                            <p:cond delay="0"/>
                                          </p:stCondLst>
                                        </p:cTn>
                                        <p:tgtEl>
                                          <p:spTgt spid="2382087"/>
                                        </p:tgtEl>
                                        <p:attrNameLst>
                                          <p:attrName>style.visibility</p:attrName>
                                        </p:attrNameLst>
                                      </p:cBhvr>
                                      <p:to>
                                        <p:strVal val="visible"/>
                                      </p:to>
                                    </p:set>
                                    <p:animEffect transition="in" filter="dissolve">
                                      <p:cBhvr>
                                        <p:cTn id="600" dur="500"/>
                                        <p:tgtEl>
                                          <p:spTgt spid="2382087"/>
                                        </p:tgtEl>
                                      </p:cBhvr>
                                    </p:animEffect>
                                  </p:childTnLst>
                                </p:cTn>
                              </p:par>
                              <p:par>
                                <p:cTn id="601" presetID="9" presetClass="entr" presetSubtype="0" fill="hold" nodeType="withEffect">
                                  <p:stCondLst>
                                    <p:cond delay="0"/>
                                  </p:stCondLst>
                                  <p:childTnLst>
                                    <p:set>
                                      <p:cBhvr>
                                        <p:cTn id="602" dur="1" fill="hold">
                                          <p:stCondLst>
                                            <p:cond delay="0"/>
                                          </p:stCondLst>
                                        </p:cTn>
                                        <p:tgtEl>
                                          <p:spTgt spid="2382088"/>
                                        </p:tgtEl>
                                        <p:attrNameLst>
                                          <p:attrName>style.visibility</p:attrName>
                                        </p:attrNameLst>
                                      </p:cBhvr>
                                      <p:to>
                                        <p:strVal val="visible"/>
                                      </p:to>
                                    </p:set>
                                    <p:animEffect transition="in" filter="dissolve">
                                      <p:cBhvr>
                                        <p:cTn id="603" dur="500"/>
                                        <p:tgtEl>
                                          <p:spTgt spid="2382088"/>
                                        </p:tgtEl>
                                      </p:cBhvr>
                                    </p:animEffect>
                                  </p:childTnLst>
                                </p:cTn>
                              </p:par>
                              <p:par>
                                <p:cTn id="604" presetID="9" presetClass="entr" presetSubtype="0" fill="hold" nodeType="withEffect">
                                  <p:stCondLst>
                                    <p:cond delay="0"/>
                                  </p:stCondLst>
                                  <p:childTnLst>
                                    <p:set>
                                      <p:cBhvr>
                                        <p:cTn id="605" dur="1" fill="hold">
                                          <p:stCondLst>
                                            <p:cond delay="0"/>
                                          </p:stCondLst>
                                        </p:cTn>
                                        <p:tgtEl>
                                          <p:spTgt spid="2382089"/>
                                        </p:tgtEl>
                                        <p:attrNameLst>
                                          <p:attrName>style.visibility</p:attrName>
                                        </p:attrNameLst>
                                      </p:cBhvr>
                                      <p:to>
                                        <p:strVal val="visible"/>
                                      </p:to>
                                    </p:set>
                                    <p:animEffect transition="in" filter="dissolve">
                                      <p:cBhvr>
                                        <p:cTn id="606" dur="500"/>
                                        <p:tgtEl>
                                          <p:spTgt spid="2382089"/>
                                        </p:tgtEl>
                                      </p:cBhvr>
                                    </p:animEffect>
                                  </p:childTnLst>
                                </p:cTn>
                              </p:par>
                              <p:par>
                                <p:cTn id="607" presetID="9" presetClass="entr" presetSubtype="0" fill="hold" nodeType="withEffect">
                                  <p:stCondLst>
                                    <p:cond delay="0"/>
                                  </p:stCondLst>
                                  <p:childTnLst>
                                    <p:set>
                                      <p:cBhvr>
                                        <p:cTn id="608" dur="1" fill="hold">
                                          <p:stCondLst>
                                            <p:cond delay="0"/>
                                          </p:stCondLst>
                                        </p:cTn>
                                        <p:tgtEl>
                                          <p:spTgt spid="2382090"/>
                                        </p:tgtEl>
                                        <p:attrNameLst>
                                          <p:attrName>style.visibility</p:attrName>
                                        </p:attrNameLst>
                                      </p:cBhvr>
                                      <p:to>
                                        <p:strVal val="visible"/>
                                      </p:to>
                                    </p:set>
                                    <p:animEffect transition="in" filter="dissolve">
                                      <p:cBhvr>
                                        <p:cTn id="609" dur="500"/>
                                        <p:tgtEl>
                                          <p:spTgt spid="2382090"/>
                                        </p:tgtEl>
                                      </p:cBhvr>
                                    </p:animEffect>
                                  </p:childTnLst>
                                </p:cTn>
                              </p:par>
                              <p:par>
                                <p:cTn id="610" presetID="9" presetClass="entr" presetSubtype="0" fill="hold" nodeType="withEffect">
                                  <p:stCondLst>
                                    <p:cond delay="0"/>
                                  </p:stCondLst>
                                  <p:childTnLst>
                                    <p:set>
                                      <p:cBhvr>
                                        <p:cTn id="611" dur="1" fill="hold">
                                          <p:stCondLst>
                                            <p:cond delay="0"/>
                                          </p:stCondLst>
                                        </p:cTn>
                                        <p:tgtEl>
                                          <p:spTgt spid="2382091"/>
                                        </p:tgtEl>
                                        <p:attrNameLst>
                                          <p:attrName>style.visibility</p:attrName>
                                        </p:attrNameLst>
                                      </p:cBhvr>
                                      <p:to>
                                        <p:strVal val="visible"/>
                                      </p:to>
                                    </p:set>
                                    <p:animEffect transition="in" filter="dissolve">
                                      <p:cBhvr>
                                        <p:cTn id="612" dur="500"/>
                                        <p:tgtEl>
                                          <p:spTgt spid="2382091"/>
                                        </p:tgtEl>
                                      </p:cBhvr>
                                    </p:animEffect>
                                  </p:childTnLst>
                                </p:cTn>
                              </p:par>
                              <p:par>
                                <p:cTn id="613" presetID="9" presetClass="entr" presetSubtype="0" fill="hold" nodeType="withEffect">
                                  <p:stCondLst>
                                    <p:cond delay="0"/>
                                  </p:stCondLst>
                                  <p:childTnLst>
                                    <p:set>
                                      <p:cBhvr>
                                        <p:cTn id="614" dur="1" fill="hold">
                                          <p:stCondLst>
                                            <p:cond delay="0"/>
                                          </p:stCondLst>
                                        </p:cTn>
                                        <p:tgtEl>
                                          <p:spTgt spid="2382092"/>
                                        </p:tgtEl>
                                        <p:attrNameLst>
                                          <p:attrName>style.visibility</p:attrName>
                                        </p:attrNameLst>
                                      </p:cBhvr>
                                      <p:to>
                                        <p:strVal val="visible"/>
                                      </p:to>
                                    </p:set>
                                    <p:animEffect transition="in" filter="dissolve">
                                      <p:cBhvr>
                                        <p:cTn id="615" dur="500"/>
                                        <p:tgtEl>
                                          <p:spTgt spid="2382092"/>
                                        </p:tgtEl>
                                      </p:cBhvr>
                                    </p:animEffect>
                                  </p:childTnLst>
                                </p:cTn>
                              </p:par>
                              <p:par>
                                <p:cTn id="616" presetID="9" presetClass="entr" presetSubtype="0" fill="hold" nodeType="withEffect">
                                  <p:stCondLst>
                                    <p:cond delay="0"/>
                                  </p:stCondLst>
                                  <p:childTnLst>
                                    <p:set>
                                      <p:cBhvr>
                                        <p:cTn id="617" dur="1" fill="hold">
                                          <p:stCondLst>
                                            <p:cond delay="0"/>
                                          </p:stCondLst>
                                        </p:cTn>
                                        <p:tgtEl>
                                          <p:spTgt spid="2382094"/>
                                        </p:tgtEl>
                                        <p:attrNameLst>
                                          <p:attrName>style.visibility</p:attrName>
                                        </p:attrNameLst>
                                      </p:cBhvr>
                                      <p:to>
                                        <p:strVal val="visible"/>
                                      </p:to>
                                    </p:set>
                                    <p:animEffect transition="in" filter="dissolve">
                                      <p:cBhvr>
                                        <p:cTn id="618" dur="500"/>
                                        <p:tgtEl>
                                          <p:spTgt spid="2382094"/>
                                        </p:tgtEl>
                                      </p:cBhvr>
                                    </p:animEffect>
                                  </p:childTnLst>
                                </p:cTn>
                              </p:par>
                              <p:par>
                                <p:cTn id="619" presetID="9" presetClass="entr" presetSubtype="0" fill="hold" nodeType="withEffect">
                                  <p:stCondLst>
                                    <p:cond delay="0"/>
                                  </p:stCondLst>
                                  <p:childTnLst>
                                    <p:set>
                                      <p:cBhvr>
                                        <p:cTn id="620" dur="1" fill="hold">
                                          <p:stCondLst>
                                            <p:cond delay="0"/>
                                          </p:stCondLst>
                                        </p:cTn>
                                        <p:tgtEl>
                                          <p:spTgt spid="2382096"/>
                                        </p:tgtEl>
                                        <p:attrNameLst>
                                          <p:attrName>style.visibility</p:attrName>
                                        </p:attrNameLst>
                                      </p:cBhvr>
                                      <p:to>
                                        <p:strVal val="visible"/>
                                      </p:to>
                                    </p:set>
                                    <p:animEffect transition="in" filter="dissolve">
                                      <p:cBhvr>
                                        <p:cTn id="621" dur="500"/>
                                        <p:tgtEl>
                                          <p:spTgt spid="2382096"/>
                                        </p:tgtEl>
                                      </p:cBhvr>
                                    </p:animEffect>
                                  </p:childTnLst>
                                </p:cTn>
                              </p:par>
                              <p:par>
                                <p:cTn id="622" presetID="9" presetClass="entr" presetSubtype="0" fill="hold" nodeType="withEffect">
                                  <p:stCondLst>
                                    <p:cond delay="0"/>
                                  </p:stCondLst>
                                  <p:childTnLst>
                                    <p:set>
                                      <p:cBhvr>
                                        <p:cTn id="623" dur="1" fill="hold">
                                          <p:stCondLst>
                                            <p:cond delay="0"/>
                                          </p:stCondLst>
                                        </p:cTn>
                                        <p:tgtEl>
                                          <p:spTgt spid="2382097"/>
                                        </p:tgtEl>
                                        <p:attrNameLst>
                                          <p:attrName>style.visibility</p:attrName>
                                        </p:attrNameLst>
                                      </p:cBhvr>
                                      <p:to>
                                        <p:strVal val="visible"/>
                                      </p:to>
                                    </p:set>
                                    <p:animEffect transition="in" filter="dissolve">
                                      <p:cBhvr>
                                        <p:cTn id="624" dur="500"/>
                                        <p:tgtEl>
                                          <p:spTgt spid="2382097"/>
                                        </p:tgtEl>
                                      </p:cBhvr>
                                    </p:animEffect>
                                  </p:childTnLst>
                                </p:cTn>
                              </p:par>
                              <p:par>
                                <p:cTn id="625" presetID="9" presetClass="entr" presetSubtype="0" fill="hold" nodeType="withEffect">
                                  <p:stCondLst>
                                    <p:cond delay="0"/>
                                  </p:stCondLst>
                                  <p:childTnLst>
                                    <p:set>
                                      <p:cBhvr>
                                        <p:cTn id="626" dur="1" fill="hold">
                                          <p:stCondLst>
                                            <p:cond delay="0"/>
                                          </p:stCondLst>
                                        </p:cTn>
                                        <p:tgtEl>
                                          <p:spTgt spid="2382099"/>
                                        </p:tgtEl>
                                        <p:attrNameLst>
                                          <p:attrName>style.visibility</p:attrName>
                                        </p:attrNameLst>
                                      </p:cBhvr>
                                      <p:to>
                                        <p:strVal val="visible"/>
                                      </p:to>
                                    </p:set>
                                    <p:animEffect transition="in" filter="dissolve">
                                      <p:cBhvr>
                                        <p:cTn id="627" dur="500"/>
                                        <p:tgtEl>
                                          <p:spTgt spid="2382099"/>
                                        </p:tgtEl>
                                      </p:cBhvr>
                                    </p:animEffect>
                                  </p:childTnLst>
                                </p:cTn>
                              </p:par>
                              <p:par>
                                <p:cTn id="628" presetID="9" presetClass="entr" presetSubtype="0" fill="hold" nodeType="withEffect">
                                  <p:stCondLst>
                                    <p:cond delay="0"/>
                                  </p:stCondLst>
                                  <p:childTnLst>
                                    <p:set>
                                      <p:cBhvr>
                                        <p:cTn id="629" dur="1" fill="hold">
                                          <p:stCondLst>
                                            <p:cond delay="0"/>
                                          </p:stCondLst>
                                        </p:cTn>
                                        <p:tgtEl>
                                          <p:spTgt spid="2382100"/>
                                        </p:tgtEl>
                                        <p:attrNameLst>
                                          <p:attrName>style.visibility</p:attrName>
                                        </p:attrNameLst>
                                      </p:cBhvr>
                                      <p:to>
                                        <p:strVal val="visible"/>
                                      </p:to>
                                    </p:set>
                                    <p:animEffect transition="in" filter="dissolve">
                                      <p:cBhvr>
                                        <p:cTn id="630" dur="500"/>
                                        <p:tgtEl>
                                          <p:spTgt spid="2382100"/>
                                        </p:tgtEl>
                                      </p:cBhvr>
                                    </p:animEffect>
                                  </p:childTnLst>
                                </p:cTn>
                              </p:par>
                              <p:par>
                                <p:cTn id="631" presetID="9" presetClass="entr" presetSubtype="0" fill="hold" nodeType="withEffect">
                                  <p:stCondLst>
                                    <p:cond delay="0"/>
                                  </p:stCondLst>
                                  <p:childTnLst>
                                    <p:set>
                                      <p:cBhvr>
                                        <p:cTn id="632" dur="1" fill="hold">
                                          <p:stCondLst>
                                            <p:cond delay="0"/>
                                          </p:stCondLst>
                                        </p:cTn>
                                        <p:tgtEl>
                                          <p:spTgt spid="2382101"/>
                                        </p:tgtEl>
                                        <p:attrNameLst>
                                          <p:attrName>style.visibility</p:attrName>
                                        </p:attrNameLst>
                                      </p:cBhvr>
                                      <p:to>
                                        <p:strVal val="visible"/>
                                      </p:to>
                                    </p:set>
                                    <p:animEffect transition="in" filter="dissolve">
                                      <p:cBhvr>
                                        <p:cTn id="633" dur="500"/>
                                        <p:tgtEl>
                                          <p:spTgt spid="2382101"/>
                                        </p:tgtEl>
                                      </p:cBhvr>
                                    </p:animEffect>
                                  </p:childTnLst>
                                </p:cTn>
                              </p:par>
                              <p:par>
                                <p:cTn id="634" presetID="9" presetClass="entr" presetSubtype="0" fill="hold" nodeType="withEffect">
                                  <p:stCondLst>
                                    <p:cond delay="0"/>
                                  </p:stCondLst>
                                  <p:childTnLst>
                                    <p:set>
                                      <p:cBhvr>
                                        <p:cTn id="635" dur="1" fill="hold">
                                          <p:stCondLst>
                                            <p:cond delay="0"/>
                                          </p:stCondLst>
                                        </p:cTn>
                                        <p:tgtEl>
                                          <p:spTgt spid="2382102"/>
                                        </p:tgtEl>
                                        <p:attrNameLst>
                                          <p:attrName>style.visibility</p:attrName>
                                        </p:attrNameLst>
                                      </p:cBhvr>
                                      <p:to>
                                        <p:strVal val="visible"/>
                                      </p:to>
                                    </p:set>
                                    <p:animEffect transition="in" filter="dissolve">
                                      <p:cBhvr>
                                        <p:cTn id="636" dur="500"/>
                                        <p:tgtEl>
                                          <p:spTgt spid="2382102"/>
                                        </p:tgtEl>
                                      </p:cBhvr>
                                    </p:animEffect>
                                  </p:childTnLst>
                                </p:cTn>
                              </p:par>
                              <p:par>
                                <p:cTn id="637" presetID="9" presetClass="entr" presetSubtype="0" fill="hold" nodeType="withEffect">
                                  <p:stCondLst>
                                    <p:cond delay="0"/>
                                  </p:stCondLst>
                                  <p:childTnLst>
                                    <p:set>
                                      <p:cBhvr>
                                        <p:cTn id="638" dur="1" fill="hold">
                                          <p:stCondLst>
                                            <p:cond delay="0"/>
                                          </p:stCondLst>
                                        </p:cTn>
                                        <p:tgtEl>
                                          <p:spTgt spid="2382103"/>
                                        </p:tgtEl>
                                        <p:attrNameLst>
                                          <p:attrName>style.visibility</p:attrName>
                                        </p:attrNameLst>
                                      </p:cBhvr>
                                      <p:to>
                                        <p:strVal val="visible"/>
                                      </p:to>
                                    </p:set>
                                    <p:animEffect transition="in" filter="dissolve">
                                      <p:cBhvr>
                                        <p:cTn id="639" dur="500"/>
                                        <p:tgtEl>
                                          <p:spTgt spid="2382103"/>
                                        </p:tgtEl>
                                      </p:cBhvr>
                                    </p:animEffect>
                                  </p:childTnLst>
                                </p:cTn>
                              </p:par>
                              <p:par>
                                <p:cTn id="640" presetID="9" presetClass="entr" presetSubtype="0" fill="hold" nodeType="withEffect">
                                  <p:stCondLst>
                                    <p:cond delay="0"/>
                                  </p:stCondLst>
                                  <p:childTnLst>
                                    <p:set>
                                      <p:cBhvr>
                                        <p:cTn id="641" dur="1" fill="hold">
                                          <p:stCondLst>
                                            <p:cond delay="0"/>
                                          </p:stCondLst>
                                        </p:cTn>
                                        <p:tgtEl>
                                          <p:spTgt spid="2382104"/>
                                        </p:tgtEl>
                                        <p:attrNameLst>
                                          <p:attrName>style.visibility</p:attrName>
                                        </p:attrNameLst>
                                      </p:cBhvr>
                                      <p:to>
                                        <p:strVal val="visible"/>
                                      </p:to>
                                    </p:set>
                                    <p:animEffect transition="in" filter="dissolve">
                                      <p:cBhvr>
                                        <p:cTn id="642" dur="500"/>
                                        <p:tgtEl>
                                          <p:spTgt spid="2382104"/>
                                        </p:tgtEl>
                                      </p:cBhvr>
                                    </p:animEffect>
                                  </p:childTnLst>
                                </p:cTn>
                              </p:par>
                              <p:par>
                                <p:cTn id="643" presetID="9" presetClass="entr" presetSubtype="0" fill="hold" nodeType="withEffect">
                                  <p:stCondLst>
                                    <p:cond delay="0"/>
                                  </p:stCondLst>
                                  <p:childTnLst>
                                    <p:set>
                                      <p:cBhvr>
                                        <p:cTn id="644" dur="1" fill="hold">
                                          <p:stCondLst>
                                            <p:cond delay="0"/>
                                          </p:stCondLst>
                                        </p:cTn>
                                        <p:tgtEl>
                                          <p:spTgt spid="2382105"/>
                                        </p:tgtEl>
                                        <p:attrNameLst>
                                          <p:attrName>style.visibility</p:attrName>
                                        </p:attrNameLst>
                                      </p:cBhvr>
                                      <p:to>
                                        <p:strVal val="visible"/>
                                      </p:to>
                                    </p:set>
                                    <p:animEffect transition="in" filter="dissolve">
                                      <p:cBhvr>
                                        <p:cTn id="645" dur="500"/>
                                        <p:tgtEl>
                                          <p:spTgt spid="2382105"/>
                                        </p:tgtEl>
                                      </p:cBhvr>
                                    </p:animEffect>
                                  </p:childTnLst>
                                </p:cTn>
                              </p:par>
                              <p:par>
                                <p:cTn id="646" presetID="9" presetClass="entr" presetSubtype="0" fill="hold" nodeType="withEffect">
                                  <p:stCondLst>
                                    <p:cond delay="0"/>
                                  </p:stCondLst>
                                  <p:childTnLst>
                                    <p:set>
                                      <p:cBhvr>
                                        <p:cTn id="647" dur="1" fill="hold">
                                          <p:stCondLst>
                                            <p:cond delay="0"/>
                                          </p:stCondLst>
                                        </p:cTn>
                                        <p:tgtEl>
                                          <p:spTgt spid="2382106"/>
                                        </p:tgtEl>
                                        <p:attrNameLst>
                                          <p:attrName>style.visibility</p:attrName>
                                        </p:attrNameLst>
                                      </p:cBhvr>
                                      <p:to>
                                        <p:strVal val="visible"/>
                                      </p:to>
                                    </p:set>
                                    <p:animEffect transition="in" filter="dissolve">
                                      <p:cBhvr>
                                        <p:cTn id="648" dur="500"/>
                                        <p:tgtEl>
                                          <p:spTgt spid="2382106"/>
                                        </p:tgtEl>
                                      </p:cBhvr>
                                    </p:animEffect>
                                  </p:childTnLst>
                                </p:cTn>
                              </p:par>
                              <p:par>
                                <p:cTn id="649" presetID="9" presetClass="entr" presetSubtype="0" fill="hold" nodeType="withEffect">
                                  <p:stCondLst>
                                    <p:cond delay="0"/>
                                  </p:stCondLst>
                                  <p:childTnLst>
                                    <p:set>
                                      <p:cBhvr>
                                        <p:cTn id="650" dur="1" fill="hold">
                                          <p:stCondLst>
                                            <p:cond delay="0"/>
                                          </p:stCondLst>
                                        </p:cTn>
                                        <p:tgtEl>
                                          <p:spTgt spid="2382107"/>
                                        </p:tgtEl>
                                        <p:attrNameLst>
                                          <p:attrName>style.visibility</p:attrName>
                                        </p:attrNameLst>
                                      </p:cBhvr>
                                      <p:to>
                                        <p:strVal val="visible"/>
                                      </p:to>
                                    </p:set>
                                    <p:animEffect transition="in" filter="dissolve">
                                      <p:cBhvr>
                                        <p:cTn id="651" dur="500"/>
                                        <p:tgtEl>
                                          <p:spTgt spid="2382107"/>
                                        </p:tgtEl>
                                      </p:cBhvr>
                                    </p:animEffect>
                                  </p:childTnLst>
                                </p:cTn>
                              </p:par>
                              <p:par>
                                <p:cTn id="652" presetID="9" presetClass="entr" presetSubtype="0" fill="hold" nodeType="withEffect">
                                  <p:stCondLst>
                                    <p:cond delay="0"/>
                                  </p:stCondLst>
                                  <p:childTnLst>
                                    <p:set>
                                      <p:cBhvr>
                                        <p:cTn id="653" dur="1" fill="hold">
                                          <p:stCondLst>
                                            <p:cond delay="0"/>
                                          </p:stCondLst>
                                        </p:cTn>
                                        <p:tgtEl>
                                          <p:spTgt spid="2382108"/>
                                        </p:tgtEl>
                                        <p:attrNameLst>
                                          <p:attrName>style.visibility</p:attrName>
                                        </p:attrNameLst>
                                      </p:cBhvr>
                                      <p:to>
                                        <p:strVal val="visible"/>
                                      </p:to>
                                    </p:set>
                                    <p:animEffect transition="in" filter="dissolve">
                                      <p:cBhvr>
                                        <p:cTn id="654" dur="500"/>
                                        <p:tgtEl>
                                          <p:spTgt spid="2382108"/>
                                        </p:tgtEl>
                                      </p:cBhvr>
                                    </p:animEffect>
                                  </p:childTnLst>
                                </p:cTn>
                              </p:par>
                              <p:par>
                                <p:cTn id="655" presetID="9" presetClass="entr" presetSubtype="0" fill="hold" nodeType="withEffect">
                                  <p:stCondLst>
                                    <p:cond delay="0"/>
                                  </p:stCondLst>
                                  <p:childTnLst>
                                    <p:set>
                                      <p:cBhvr>
                                        <p:cTn id="656" dur="1" fill="hold">
                                          <p:stCondLst>
                                            <p:cond delay="0"/>
                                          </p:stCondLst>
                                        </p:cTn>
                                        <p:tgtEl>
                                          <p:spTgt spid="2382109"/>
                                        </p:tgtEl>
                                        <p:attrNameLst>
                                          <p:attrName>style.visibility</p:attrName>
                                        </p:attrNameLst>
                                      </p:cBhvr>
                                      <p:to>
                                        <p:strVal val="visible"/>
                                      </p:to>
                                    </p:set>
                                    <p:animEffect transition="in" filter="dissolve">
                                      <p:cBhvr>
                                        <p:cTn id="657" dur="500"/>
                                        <p:tgtEl>
                                          <p:spTgt spid="2382109"/>
                                        </p:tgtEl>
                                      </p:cBhvr>
                                    </p:animEffect>
                                  </p:childTnLst>
                                </p:cTn>
                              </p:par>
                              <p:par>
                                <p:cTn id="658" presetID="9" presetClass="entr" presetSubtype="0" fill="hold" nodeType="withEffect">
                                  <p:stCondLst>
                                    <p:cond delay="0"/>
                                  </p:stCondLst>
                                  <p:childTnLst>
                                    <p:set>
                                      <p:cBhvr>
                                        <p:cTn id="659" dur="1" fill="hold">
                                          <p:stCondLst>
                                            <p:cond delay="0"/>
                                          </p:stCondLst>
                                        </p:cTn>
                                        <p:tgtEl>
                                          <p:spTgt spid="2382110"/>
                                        </p:tgtEl>
                                        <p:attrNameLst>
                                          <p:attrName>style.visibility</p:attrName>
                                        </p:attrNameLst>
                                      </p:cBhvr>
                                      <p:to>
                                        <p:strVal val="visible"/>
                                      </p:to>
                                    </p:set>
                                    <p:animEffect transition="in" filter="dissolve">
                                      <p:cBhvr>
                                        <p:cTn id="660" dur="500"/>
                                        <p:tgtEl>
                                          <p:spTgt spid="2382110"/>
                                        </p:tgtEl>
                                      </p:cBhvr>
                                    </p:animEffect>
                                  </p:childTnLst>
                                </p:cTn>
                              </p:par>
                              <p:par>
                                <p:cTn id="661" presetID="9" presetClass="entr" presetSubtype="0" fill="hold" nodeType="withEffect">
                                  <p:stCondLst>
                                    <p:cond delay="0"/>
                                  </p:stCondLst>
                                  <p:childTnLst>
                                    <p:set>
                                      <p:cBhvr>
                                        <p:cTn id="662" dur="1" fill="hold">
                                          <p:stCondLst>
                                            <p:cond delay="0"/>
                                          </p:stCondLst>
                                        </p:cTn>
                                        <p:tgtEl>
                                          <p:spTgt spid="2382111"/>
                                        </p:tgtEl>
                                        <p:attrNameLst>
                                          <p:attrName>style.visibility</p:attrName>
                                        </p:attrNameLst>
                                      </p:cBhvr>
                                      <p:to>
                                        <p:strVal val="visible"/>
                                      </p:to>
                                    </p:set>
                                    <p:animEffect transition="in" filter="dissolve">
                                      <p:cBhvr>
                                        <p:cTn id="663" dur="500"/>
                                        <p:tgtEl>
                                          <p:spTgt spid="2382111"/>
                                        </p:tgtEl>
                                      </p:cBhvr>
                                    </p:animEffect>
                                  </p:childTnLst>
                                </p:cTn>
                              </p:par>
                              <p:par>
                                <p:cTn id="664" presetID="9" presetClass="entr" presetSubtype="0" fill="hold" nodeType="withEffect">
                                  <p:stCondLst>
                                    <p:cond delay="0"/>
                                  </p:stCondLst>
                                  <p:childTnLst>
                                    <p:set>
                                      <p:cBhvr>
                                        <p:cTn id="665" dur="1" fill="hold">
                                          <p:stCondLst>
                                            <p:cond delay="0"/>
                                          </p:stCondLst>
                                        </p:cTn>
                                        <p:tgtEl>
                                          <p:spTgt spid="2382112"/>
                                        </p:tgtEl>
                                        <p:attrNameLst>
                                          <p:attrName>style.visibility</p:attrName>
                                        </p:attrNameLst>
                                      </p:cBhvr>
                                      <p:to>
                                        <p:strVal val="visible"/>
                                      </p:to>
                                    </p:set>
                                    <p:animEffect transition="in" filter="dissolve">
                                      <p:cBhvr>
                                        <p:cTn id="666" dur="500"/>
                                        <p:tgtEl>
                                          <p:spTgt spid="2382112"/>
                                        </p:tgtEl>
                                      </p:cBhvr>
                                    </p:animEffect>
                                  </p:childTnLst>
                                </p:cTn>
                              </p:par>
                              <p:par>
                                <p:cTn id="667" presetID="9" presetClass="entr" presetSubtype="0" fill="hold" nodeType="withEffect">
                                  <p:stCondLst>
                                    <p:cond delay="0"/>
                                  </p:stCondLst>
                                  <p:childTnLst>
                                    <p:set>
                                      <p:cBhvr>
                                        <p:cTn id="668" dur="1" fill="hold">
                                          <p:stCondLst>
                                            <p:cond delay="0"/>
                                          </p:stCondLst>
                                        </p:cTn>
                                        <p:tgtEl>
                                          <p:spTgt spid="2382113"/>
                                        </p:tgtEl>
                                        <p:attrNameLst>
                                          <p:attrName>style.visibility</p:attrName>
                                        </p:attrNameLst>
                                      </p:cBhvr>
                                      <p:to>
                                        <p:strVal val="visible"/>
                                      </p:to>
                                    </p:set>
                                    <p:animEffect transition="in" filter="dissolve">
                                      <p:cBhvr>
                                        <p:cTn id="669" dur="500"/>
                                        <p:tgtEl>
                                          <p:spTgt spid="2382113"/>
                                        </p:tgtEl>
                                      </p:cBhvr>
                                    </p:animEffect>
                                  </p:childTnLst>
                                </p:cTn>
                              </p:par>
                              <p:par>
                                <p:cTn id="670" presetID="9" presetClass="entr" presetSubtype="0" fill="hold" nodeType="withEffect">
                                  <p:stCondLst>
                                    <p:cond delay="0"/>
                                  </p:stCondLst>
                                  <p:childTnLst>
                                    <p:set>
                                      <p:cBhvr>
                                        <p:cTn id="671" dur="1" fill="hold">
                                          <p:stCondLst>
                                            <p:cond delay="0"/>
                                          </p:stCondLst>
                                        </p:cTn>
                                        <p:tgtEl>
                                          <p:spTgt spid="2382114"/>
                                        </p:tgtEl>
                                        <p:attrNameLst>
                                          <p:attrName>style.visibility</p:attrName>
                                        </p:attrNameLst>
                                      </p:cBhvr>
                                      <p:to>
                                        <p:strVal val="visible"/>
                                      </p:to>
                                    </p:set>
                                    <p:animEffect transition="in" filter="dissolve">
                                      <p:cBhvr>
                                        <p:cTn id="672" dur="500"/>
                                        <p:tgtEl>
                                          <p:spTgt spid="2382114"/>
                                        </p:tgtEl>
                                      </p:cBhvr>
                                    </p:animEffect>
                                  </p:childTnLst>
                                </p:cTn>
                              </p:par>
                              <p:par>
                                <p:cTn id="673" presetID="9" presetClass="entr" presetSubtype="0" fill="hold" nodeType="withEffect">
                                  <p:stCondLst>
                                    <p:cond delay="0"/>
                                  </p:stCondLst>
                                  <p:childTnLst>
                                    <p:set>
                                      <p:cBhvr>
                                        <p:cTn id="674" dur="1" fill="hold">
                                          <p:stCondLst>
                                            <p:cond delay="0"/>
                                          </p:stCondLst>
                                        </p:cTn>
                                        <p:tgtEl>
                                          <p:spTgt spid="2382115"/>
                                        </p:tgtEl>
                                        <p:attrNameLst>
                                          <p:attrName>style.visibility</p:attrName>
                                        </p:attrNameLst>
                                      </p:cBhvr>
                                      <p:to>
                                        <p:strVal val="visible"/>
                                      </p:to>
                                    </p:set>
                                    <p:animEffect transition="in" filter="dissolve">
                                      <p:cBhvr>
                                        <p:cTn id="675" dur="500"/>
                                        <p:tgtEl>
                                          <p:spTgt spid="2382115"/>
                                        </p:tgtEl>
                                      </p:cBhvr>
                                    </p:animEffect>
                                  </p:childTnLst>
                                </p:cTn>
                              </p:par>
                              <p:par>
                                <p:cTn id="676" presetID="9" presetClass="entr" presetSubtype="0" fill="hold" nodeType="withEffect">
                                  <p:stCondLst>
                                    <p:cond delay="0"/>
                                  </p:stCondLst>
                                  <p:childTnLst>
                                    <p:set>
                                      <p:cBhvr>
                                        <p:cTn id="677" dur="1" fill="hold">
                                          <p:stCondLst>
                                            <p:cond delay="0"/>
                                          </p:stCondLst>
                                        </p:cTn>
                                        <p:tgtEl>
                                          <p:spTgt spid="2382116"/>
                                        </p:tgtEl>
                                        <p:attrNameLst>
                                          <p:attrName>style.visibility</p:attrName>
                                        </p:attrNameLst>
                                      </p:cBhvr>
                                      <p:to>
                                        <p:strVal val="visible"/>
                                      </p:to>
                                    </p:set>
                                    <p:animEffect transition="in" filter="dissolve">
                                      <p:cBhvr>
                                        <p:cTn id="678" dur="500"/>
                                        <p:tgtEl>
                                          <p:spTgt spid="2382116"/>
                                        </p:tgtEl>
                                      </p:cBhvr>
                                    </p:animEffect>
                                  </p:childTnLst>
                                </p:cTn>
                              </p:par>
                              <p:par>
                                <p:cTn id="679" presetID="9" presetClass="entr" presetSubtype="0" fill="hold" nodeType="withEffect">
                                  <p:stCondLst>
                                    <p:cond delay="0"/>
                                  </p:stCondLst>
                                  <p:childTnLst>
                                    <p:set>
                                      <p:cBhvr>
                                        <p:cTn id="680" dur="1" fill="hold">
                                          <p:stCondLst>
                                            <p:cond delay="0"/>
                                          </p:stCondLst>
                                        </p:cTn>
                                        <p:tgtEl>
                                          <p:spTgt spid="2382117"/>
                                        </p:tgtEl>
                                        <p:attrNameLst>
                                          <p:attrName>style.visibility</p:attrName>
                                        </p:attrNameLst>
                                      </p:cBhvr>
                                      <p:to>
                                        <p:strVal val="visible"/>
                                      </p:to>
                                    </p:set>
                                    <p:animEffect transition="in" filter="dissolve">
                                      <p:cBhvr>
                                        <p:cTn id="681" dur="500"/>
                                        <p:tgtEl>
                                          <p:spTgt spid="2382117"/>
                                        </p:tgtEl>
                                      </p:cBhvr>
                                    </p:animEffect>
                                  </p:childTnLst>
                                </p:cTn>
                              </p:par>
                              <p:par>
                                <p:cTn id="682" presetID="9" presetClass="entr" presetSubtype="0" fill="hold" nodeType="withEffect">
                                  <p:stCondLst>
                                    <p:cond delay="0"/>
                                  </p:stCondLst>
                                  <p:childTnLst>
                                    <p:set>
                                      <p:cBhvr>
                                        <p:cTn id="683" dur="1" fill="hold">
                                          <p:stCondLst>
                                            <p:cond delay="0"/>
                                          </p:stCondLst>
                                        </p:cTn>
                                        <p:tgtEl>
                                          <p:spTgt spid="2382118"/>
                                        </p:tgtEl>
                                        <p:attrNameLst>
                                          <p:attrName>style.visibility</p:attrName>
                                        </p:attrNameLst>
                                      </p:cBhvr>
                                      <p:to>
                                        <p:strVal val="visible"/>
                                      </p:to>
                                    </p:set>
                                    <p:animEffect transition="in" filter="dissolve">
                                      <p:cBhvr>
                                        <p:cTn id="684" dur="500"/>
                                        <p:tgtEl>
                                          <p:spTgt spid="2382118"/>
                                        </p:tgtEl>
                                      </p:cBhvr>
                                    </p:animEffect>
                                  </p:childTnLst>
                                </p:cTn>
                              </p:par>
                              <p:par>
                                <p:cTn id="685" presetID="9" presetClass="entr" presetSubtype="0" fill="hold" nodeType="withEffect">
                                  <p:stCondLst>
                                    <p:cond delay="0"/>
                                  </p:stCondLst>
                                  <p:childTnLst>
                                    <p:set>
                                      <p:cBhvr>
                                        <p:cTn id="686" dur="1" fill="hold">
                                          <p:stCondLst>
                                            <p:cond delay="0"/>
                                          </p:stCondLst>
                                        </p:cTn>
                                        <p:tgtEl>
                                          <p:spTgt spid="2382119"/>
                                        </p:tgtEl>
                                        <p:attrNameLst>
                                          <p:attrName>style.visibility</p:attrName>
                                        </p:attrNameLst>
                                      </p:cBhvr>
                                      <p:to>
                                        <p:strVal val="visible"/>
                                      </p:to>
                                    </p:set>
                                    <p:animEffect transition="in" filter="dissolve">
                                      <p:cBhvr>
                                        <p:cTn id="687" dur="500"/>
                                        <p:tgtEl>
                                          <p:spTgt spid="2382119"/>
                                        </p:tgtEl>
                                      </p:cBhvr>
                                    </p:animEffect>
                                  </p:childTnLst>
                                </p:cTn>
                              </p:par>
                              <p:par>
                                <p:cTn id="688" presetID="9" presetClass="entr" presetSubtype="0" fill="hold" nodeType="withEffect">
                                  <p:stCondLst>
                                    <p:cond delay="0"/>
                                  </p:stCondLst>
                                  <p:childTnLst>
                                    <p:set>
                                      <p:cBhvr>
                                        <p:cTn id="689" dur="1" fill="hold">
                                          <p:stCondLst>
                                            <p:cond delay="0"/>
                                          </p:stCondLst>
                                        </p:cTn>
                                        <p:tgtEl>
                                          <p:spTgt spid="2382120"/>
                                        </p:tgtEl>
                                        <p:attrNameLst>
                                          <p:attrName>style.visibility</p:attrName>
                                        </p:attrNameLst>
                                      </p:cBhvr>
                                      <p:to>
                                        <p:strVal val="visible"/>
                                      </p:to>
                                    </p:set>
                                    <p:animEffect transition="in" filter="dissolve">
                                      <p:cBhvr>
                                        <p:cTn id="690" dur="500"/>
                                        <p:tgtEl>
                                          <p:spTgt spid="2382120"/>
                                        </p:tgtEl>
                                      </p:cBhvr>
                                    </p:animEffect>
                                  </p:childTnLst>
                                </p:cTn>
                              </p:par>
                              <p:par>
                                <p:cTn id="691" presetID="9" presetClass="entr" presetSubtype="0" fill="hold" nodeType="withEffect">
                                  <p:stCondLst>
                                    <p:cond delay="0"/>
                                  </p:stCondLst>
                                  <p:childTnLst>
                                    <p:set>
                                      <p:cBhvr>
                                        <p:cTn id="692" dur="1" fill="hold">
                                          <p:stCondLst>
                                            <p:cond delay="0"/>
                                          </p:stCondLst>
                                        </p:cTn>
                                        <p:tgtEl>
                                          <p:spTgt spid="2382123"/>
                                        </p:tgtEl>
                                        <p:attrNameLst>
                                          <p:attrName>style.visibility</p:attrName>
                                        </p:attrNameLst>
                                      </p:cBhvr>
                                      <p:to>
                                        <p:strVal val="visible"/>
                                      </p:to>
                                    </p:set>
                                    <p:animEffect transition="in" filter="dissolve">
                                      <p:cBhvr>
                                        <p:cTn id="693" dur="500"/>
                                        <p:tgtEl>
                                          <p:spTgt spid="2382123"/>
                                        </p:tgtEl>
                                      </p:cBhvr>
                                    </p:animEffect>
                                  </p:childTnLst>
                                </p:cTn>
                              </p:par>
                              <p:par>
                                <p:cTn id="694" presetID="9" presetClass="entr" presetSubtype="0" fill="hold" nodeType="withEffect">
                                  <p:stCondLst>
                                    <p:cond delay="0"/>
                                  </p:stCondLst>
                                  <p:childTnLst>
                                    <p:set>
                                      <p:cBhvr>
                                        <p:cTn id="695" dur="1" fill="hold">
                                          <p:stCondLst>
                                            <p:cond delay="0"/>
                                          </p:stCondLst>
                                        </p:cTn>
                                        <p:tgtEl>
                                          <p:spTgt spid="2382124"/>
                                        </p:tgtEl>
                                        <p:attrNameLst>
                                          <p:attrName>style.visibility</p:attrName>
                                        </p:attrNameLst>
                                      </p:cBhvr>
                                      <p:to>
                                        <p:strVal val="visible"/>
                                      </p:to>
                                    </p:set>
                                    <p:animEffect transition="in" filter="dissolve">
                                      <p:cBhvr>
                                        <p:cTn id="696" dur="500"/>
                                        <p:tgtEl>
                                          <p:spTgt spid="2382124"/>
                                        </p:tgtEl>
                                      </p:cBhvr>
                                    </p:animEffect>
                                  </p:childTnLst>
                                </p:cTn>
                              </p:par>
                              <p:par>
                                <p:cTn id="697" presetID="9" presetClass="entr" presetSubtype="0" fill="hold" nodeType="withEffect">
                                  <p:stCondLst>
                                    <p:cond delay="0"/>
                                  </p:stCondLst>
                                  <p:childTnLst>
                                    <p:set>
                                      <p:cBhvr>
                                        <p:cTn id="698" dur="1" fill="hold">
                                          <p:stCondLst>
                                            <p:cond delay="0"/>
                                          </p:stCondLst>
                                        </p:cTn>
                                        <p:tgtEl>
                                          <p:spTgt spid="2382125"/>
                                        </p:tgtEl>
                                        <p:attrNameLst>
                                          <p:attrName>style.visibility</p:attrName>
                                        </p:attrNameLst>
                                      </p:cBhvr>
                                      <p:to>
                                        <p:strVal val="visible"/>
                                      </p:to>
                                    </p:set>
                                    <p:animEffect transition="in" filter="dissolve">
                                      <p:cBhvr>
                                        <p:cTn id="699" dur="500"/>
                                        <p:tgtEl>
                                          <p:spTgt spid="2382125"/>
                                        </p:tgtEl>
                                      </p:cBhvr>
                                    </p:animEffect>
                                  </p:childTnLst>
                                </p:cTn>
                              </p:par>
                              <p:par>
                                <p:cTn id="700" presetID="9" presetClass="entr" presetSubtype="0" fill="hold" nodeType="withEffect">
                                  <p:stCondLst>
                                    <p:cond delay="0"/>
                                  </p:stCondLst>
                                  <p:childTnLst>
                                    <p:set>
                                      <p:cBhvr>
                                        <p:cTn id="701" dur="1" fill="hold">
                                          <p:stCondLst>
                                            <p:cond delay="0"/>
                                          </p:stCondLst>
                                        </p:cTn>
                                        <p:tgtEl>
                                          <p:spTgt spid="2382126"/>
                                        </p:tgtEl>
                                        <p:attrNameLst>
                                          <p:attrName>style.visibility</p:attrName>
                                        </p:attrNameLst>
                                      </p:cBhvr>
                                      <p:to>
                                        <p:strVal val="visible"/>
                                      </p:to>
                                    </p:set>
                                    <p:animEffect transition="in" filter="dissolve">
                                      <p:cBhvr>
                                        <p:cTn id="702" dur="500"/>
                                        <p:tgtEl>
                                          <p:spTgt spid="2382126"/>
                                        </p:tgtEl>
                                      </p:cBhvr>
                                    </p:animEffect>
                                  </p:childTnLst>
                                </p:cTn>
                              </p:par>
                              <p:par>
                                <p:cTn id="703" presetID="9" presetClass="entr" presetSubtype="0" fill="hold" nodeType="withEffect">
                                  <p:stCondLst>
                                    <p:cond delay="0"/>
                                  </p:stCondLst>
                                  <p:childTnLst>
                                    <p:set>
                                      <p:cBhvr>
                                        <p:cTn id="704" dur="1" fill="hold">
                                          <p:stCondLst>
                                            <p:cond delay="0"/>
                                          </p:stCondLst>
                                        </p:cTn>
                                        <p:tgtEl>
                                          <p:spTgt spid="2382127"/>
                                        </p:tgtEl>
                                        <p:attrNameLst>
                                          <p:attrName>style.visibility</p:attrName>
                                        </p:attrNameLst>
                                      </p:cBhvr>
                                      <p:to>
                                        <p:strVal val="visible"/>
                                      </p:to>
                                    </p:set>
                                    <p:animEffect transition="in" filter="dissolve">
                                      <p:cBhvr>
                                        <p:cTn id="705" dur="500"/>
                                        <p:tgtEl>
                                          <p:spTgt spid="2382127"/>
                                        </p:tgtEl>
                                      </p:cBhvr>
                                    </p:animEffect>
                                  </p:childTnLst>
                                </p:cTn>
                              </p:par>
                              <p:par>
                                <p:cTn id="706" presetID="9" presetClass="entr" presetSubtype="0" fill="hold" nodeType="withEffect">
                                  <p:stCondLst>
                                    <p:cond delay="0"/>
                                  </p:stCondLst>
                                  <p:childTnLst>
                                    <p:set>
                                      <p:cBhvr>
                                        <p:cTn id="707" dur="1" fill="hold">
                                          <p:stCondLst>
                                            <p:cond delay="0"/>
                                          </p:stCondLst>
                                        </p:cTn>
                                        <p:tgtEl>
                                          <p:spTgt spid="2382128"/>
                                        </p:tgtEl>
                                        <p:attrNameLst>
                                          <p:attrName>style.visibility</p:attrName>
                                        </p:attrNameLst>
                                      </p:cBhvr>
                                      <p:to>
                                        <p:strVal val="visible"/>
                                      </p:to>
                                    </p:set>
                                    <p:animEffect transition="in" filter="dissolve">
                                      <p:cBhvr>
                                        <p:cTn id="708" dur="500"/>
                                        <p:tgtEl>
                                          <p:spTgt spid="2382128"/>
                                        </p:tgtEl>
                                      </p:cBhvr>
                                    </p:animEffect>
                                  </p:childTnLst>
                                </p:cTn>
                              </p:par>
                              <p:par>
                                <p:cTn id="709" presetID="9" presetClass="entr" presetSubtype="0" fill="hold" nodeType="withEffect">
                                  <p:stCondLst>
                                    <p:cond delay="0"/>
                                  </p:stCondLst>
                                  <p:childTnLst>
                                    <p:set>
                                      <p:cBhvr>
                                        <p:cTn id="710" dur="1" fill="hold">
                                          <p:stCondLst>
                                            <p:cond delay="0"/>
                                          </p:stCondLst>
                                        </p:cTn>
                                        <p:tgtEl>
                                          <p:spTgt spid="2382133"/>
                                        </p:tgtEl>
                                        <p:attrNameLst>
                                          <p:attrName>style.visibility</p:attrName>
                                        </p:attrNameLst>
                                      </p:cBhvr>
                                      <p:to>
                                        <p:strVal val="visible"/>
                                      </p:to>
                                    </p:set>
                                    <p:animEffect transition="in" filter="dissolve">
                                      <p:cBhvr>
                                        <p:cTn id="711" dur="500"/>
                                        <p:tgtEl>
                                          <p:spTgt spid="2382133"/>
                                        </p:tgtEl>
                                      </p:cBhvr>
                                    </p:animEffect>
                                  </p:childTnLst>
                                </p:cTn>
                              </p:par>
                            </p:childTnLst>
                          </p:cTn>
                        </p:par>
                      </p:childTnLst>
                    </p:cTn>
                  </p:par>
                  <p:par>
                    <p:cTn id="712" fill="hold">
                      <p:stCondLst>
                        <p:cond delay="indefinite"/>
                      </p:stCondLst>
                      <p:childTnLst>
                        <p:par>
                          <p:cTn id="713" fill="hold">
                            <p:stCondLst>
                              <p:cond delay="0"/>
                            </p:stCondLst>
                            <p:childTnLst>
                              <p:par>
                                <p:cTn id="714" presetID="9" presetClass="entr" presetSubtype="0" fill="hold" nodeType="clickEffect">
                                  <p:stCondLst>
                                    <p:cond delay="0"/>
                                  </p:stCondLst>
                                  <p:childTnLst>
                                    <p:set>
                                      <p:cBhvr>
                                        <p:cTn id="715" dur="1" fill="hold">
                                          <p:stCondLst>
                                            <p:cond delay="0"/>
                                          </p:stCondLst>
                                        </p:cTn>
                                        <p:tgtEl>
                                          <p:spTgt spid="2382238"/>
                                        </p:tgtEl>
                                        <p:attrNameLst>
                                          <p:attrName>style.visibility</p:attrName>
                                        </p:attrNameLst>
                                      </p:cBhvr>
                                      <p:to>
                                        <p:strVal val="visible"/>
                                      </p:to>
                                    </p:set>
                                    <p:animEffect transition="in" filter="dissolve">
                                      <p:cBhvr>
                                        <p:cTn id="716" dur="500"/>
                                        <p:tgtEl>
                                          <p:spTgt spid="2382238"/>
                                        </p:tgtEl>
                                      </p:cBhvr>
                                    </p:animEffect>
                                  </p:childTnLst>
                                </p:cTn>
                              </p:par>
                            </p:childTnLst>
                          </p:cTn>
                        </p:par>
                      </p:childTnLst>
                    </p:cTn>
                  </p:par>
                  <p:par>
                    <p:cTn id="717" fill="hold">
                      <p:stCondLst>
                        <p:cond delay="indefinite"/>
                      </p:stCondLst>
                      <p:childTnLst>
                        <p:par>
                          <p:cTn id="718" fill="hold">
                            <p:stCondLst>
                              <p:cond delay="0"/>
                            </p:stCondLst>
                            <p:childTnLst>
                              <p:par>
                                <p:cTn id="719" presetID="9" presetClass="entr" presetSubtype="0" fill="hold" nodeType="clickEffect">
                                  <p:stCondLst>
                                    <p:cond delay="0"/>
                                  </p:stCondLst>
                                  <p:childTnLst>
                                    <p:set>
                                      <p:cBhvr>
                                        <p:cTn id="720" dur="1" fill="hold">
                                          <p:stCondLst>
                                            <p:cond delay="0"/>
                                          </p:stCondLst>
                                        </p:cTn>
                                        <p:tgtEl>
                                          <p:spTgt spid="2382239"/>
                                        </p:tgtEl>
                                        <p:attrNameLst>
                                          <p:attrName>style.visibility</p:attrName>
                                        </p:attrNameLst>
                                      </p:cBhvr>
                                      <p:to>
                                        <p:strVal val="visible"/>
                                      </p:to>
                                    </p:set>
                                    <p:animEffect transition="in" filter="dissolve">
                                      <p:cBhvr>
                                        <p:cTn id="721" dur="500"/>
                                        <p:tgtEl>
                                          <p:spTgt spid="2382239"/>
                                        </p:tgtEl>
                                      </p:cBhvr>
                                    </p:animEffect>
                                  </p:childTnLst>
                                </p:cTn>
                              </p:par>
                            </p:childTnLst>
                          </p:cTn>
                        </p:par>
                      </p:childTnLst>
                    </p:cTn>
                  </p:par>
                  <p:par>
                    <p:cTn id="722" fill="hold">
                      <p:stCondLst>
                        <p:cond delay="indefinite"/>
                      </p:stCondLst>
                      <p:childTnLst>
                        <p:par>
                          <p:cTn id="723" fill="hold">
                            <p:stCondLst>
                              <p:cond delay="0"/>
                            </p:stCondLst>
                            <p:childTnLst>
                              <p:par>
                                <p:cTn id="724" presetID="22" presetClass="entr" presetSubtype="1" fill="hold" nodeType="clickEffect">
                                  <p:stCondLst>
                                    <p:cond delay="0"/>
                                  </p:stCondLst>
                                  <p:childTnLst>
                                    <p:set>
                                      <p:cBhvr>
                                        <p:cTn id="725" dur="1" fill="hold">
                                          <p:stCondLst>
                                            <p:cond delay="0"/>
                                          </p:stCondLst>
                                        </p:cTn>
                                        <p:tgtEl>
                                          <p:spTgt spid="2382129"/>
                                        </p:tgtEl>
                                        <p:attrNameLst>
                                          <p:attrName>style.visibility</p:attrName>
                                        </p:attrNameLst>
                                      </p:cBhvr>
                                      <p:to>
                                        <p:strVal val="visible"/>
                                      </p:to>
                                    </p:set>
                                    <p:animEffect transition="in" filter="wipe(up)">
                                      <p:cBhvr>
                                        <p:cTn id="726" dur="500"/>
                                        <p:tgtEl>
                                          <p:spTgt spid="2382129"/>
                                        </p:tgtEl>
                                      </p:cBhvr>
                                    </p:animEffect>
                                  </p:childTnLst>
                                </p:cTn>
                              </p:par>
                            </p:childTnLst>
                          </p:cTn>
                        </p:par>
                      </p:childTnLst>
                    </p:cTn>
                  </p:par>
                  <p:par>
                    <p:cTn id="727" fill="hold">
                      <p:stCondLst>
                        <p:cond delay="indefinite"/>
                      </p:stCondLst>
                      <p:childTnLst>
                        <p:par>
                          <p:cTn id="728" fill="hold">
                            <p:stCondLst>
                              <p:cond delay="0"/>
                            </p:stCondLst>
                            <p:childTnLst>
                              <p:par>
                                <p:cTn id="729" presetID="22" presetClass="entr" presetSubtype="1" fill="hold" nodeType="clickEffect">
                                  <p:stCondLst>
                                    <p:cond delay="0"/>
                                  </p:stCondLst>
                                  <p:childTnLst>
                                    <p:set>
                                      <p:cBhvr>
                                        <p:cTn id="730" dur="1" fill="hold">
                                          <p:stCondLst>
                                            <p:cond delay="0"/>
                                          </p:stCondLst>
                                        </p:cTn>
                                        <p:tgtEl>
                                          <p:spTgt spid="2382130"/>
                                        </p:tgtEl>
                                        <p:attrNameLst>
                                          <p:attrName>style.visibility</p:attrName>
                                        </p:attrNameLst>
                                      </p:cBhvr>
                                      <p:to>
                                        <p:strVal val="visible"/>
                                      </p:to>
                                    </p:set>
                                    <p:animEffect transition="in" filter="wipe(up)">
                                      <p:cBhvr>
                                        <p:cTn id="731" dur="500"/>
                                        <p:tgtEl>
                                          <p:spTgt spid="2382130"/>
                                        </p:tgtEl>
                                      </p:cBhvr>
                                    </p:animEffect>
                                  </p:childTnLst>
                                </p:cTn>
                              </p:par>
                            </p:childTnLst>
                          </p:cTn>
                        </p:par>
                      </p:childTnLst>
                    </p:cTn>
                  </p:par>
                  <p:par>
                    <p:cTn id="732" fill="hold">
                      <p:stCondLst>
                        <p:cond delay="indefinite"/>
                      </p:stCondLst>
                      <p:childTnLst>
                        <p:par>
                          <p:cTn id="733" fill="hold">
                            <p:stCondLst>
                              <p:cond delay="0"/>
                            </p:stCondLst>
                            <p:childTnLst>
                              <p:par>
                                <p:cTn id="734" presetID="22" presetClass="entr" presetSubtype="8" fill="hold" nodeType="clickEffect">
                                  <p:stCondLst>
                                    <p:cond delay="0"/>
                                  </p:stCondLst>
                                  <p:childTnLst>
                                    <p:set>
                                      <p:cBhvr>
                                        <p:cTn id="735" dur="1" fill="hold">
                                          <p:stCondLst>
                                            <p:cond delay="0"/>
                                          </p:stCondLst>
                                        </p:cTn>
                                        <p:tgtEl>
                                          <p:spTgt spid="2382131"/>
                                        </p:tgtEl>
                                        <p:attrNameLst>
                                          <p:attrName>style.visibility</p:attrName>
                                        </p:attrNameLst>
                                      </p:cBhvr>
                                      <p:to>
                                        <p:strVal val="visible"/>
                                      </p:to>
                                    </p:set>
                                    <p:animEffect transition="in" filter="wipe(left)">
                                      <p:cBhvr>
                                        <p:cTn id="736" dur="500"/>
                                        <p:tgtEl>
                                          <p:spTgt spid="2382131"/>
                                        </p:tgtEl>
                                      </p:cBhvr>
                                    </p:animEffect>
                                  </p:childTnLst>
                                </p:cTn>
                              </p:par>
                            </p:childTnLst>
                          </p:cTn>
                        </p:par>
                      </p:childTnLst>
                    </p:cTn>
                  </p:par>
                  <p:par>
                    <p:cTn id="737" fill="hold">
                      <p:stCondLst>
                        <p:cond delay="indefinite"/>
                      </p:stCondLst>
                      <p:childTnLst>
                        <p:par>
                          <p:cTn id="738" fill="hold">
                            <p:stCondLst>
                              <p:cond delay="0"/>
                            </p:stCondLst>
                            <p:childTnLst>
                              <p:par>
                                <p:cTn id="739" presetID="22" presetClass="entr" presetSubtype="8" fill="hold" nodeType="clickEffect">
                                  <p:stCondLst>
                                    <p:cond delay="0"/>
                                  </p:stCondLst>
                                  <p:childTnLst>
                                    <p:set>
                                      <p:cBhvr>
                                        <p:cTn id="740" dur="1" fill="hold">
                                          <p:stCondLst>
                                            <p:cond delay="0"/>
                                          </p:stCondLst>
                                        </p:cTn>
                                        <p:tgtEl>
                                          <p:spTgt spid="2382132"/>
                                        </p:tgtEl>
                                        <p:attrNameLst>
                                          <p:attrName>style.visibility</p:attrName>
                                        </p:attrNameLst>
                                      </p:cBhvr>
                                      <p:to>
                                        <p:strVal val="visible"/>
                                      </p:to>
                                    </p:set>
                                    <p:animEffect transition="in" filter="wipe(left)">
                                      <p:cBhvr>
                                        <p:cTn id="741" dur="500"/>
                                        <p:tgtEl>
                                          <p:spTgt spid="2382132"/>
                                        </p:tgtEl>
                                      </p:cBhvr>
                                    </p:animEffect>
                                  </p:childTnLst>
                                </p:cTn>
                              </p:par>
                            </p:childTnLst>
                          </p:cTn>
                        </p:par>
                      </p:childTnLst>
                    </p:cTn>
                  </p:par>
                  <p:par>
                    <p:cTn id="742" fill="hold">
                      <p:stCondLst>
                        <p:cond delay="indefinite"/>
                      </p:stCondLst>
                      <p:childTnLst>
                        <p:par>
                          <p:cTn id="743" fill="hold">
                            <p:stCondLst>
                              <p:cond delay="0"/>
                            </p:stCondLst>
                            <p:childTnLst>
                              <p:par>
                                <p:cTn id="744" presetID="9" presetClass="entr" presetSubtype="0" fill="hold" nodeType="clickEffect">
                                  <p:stCondLst>
                                    <p:cond delay="0"/>
                                  </p:stCondLst>
                                  <p:childTnLst>
                                    <p:set>
                                      <p:cBhvr>
                                        <p:cTn id="745" dur="1" fill="hold">
                                          <p:stCondLst>
                                            <p:cond delay="0"/>
                                          </p:stCondLst>
                                        </p:cTn>
                                        <p:tgtEl>
                                          <p:spTgt spid="2382214"/>
                                        </p:tgtEl>
                                        <p:attrNameLst>
                                          <p:attrName>style.visibility</p:attrName>
                                        </p:attrNameLst>
                                      </p:cBhvr>
                                      <p:to>
                                        <p:strVal val="visible"/>
                                      </p:to>
                                    </p:set>
                                    <p:animEffect transition="in" filter="dissolve">
                                      <p:cBhvr>
                                        <p:cTn id="746" dur="500"/>
                                        <p:tgtEl>
                                          <p:spTgt spid="2382214"/>
                                        </p:tgtEl>
                                      </p:cBhvr>
                                    </p:animEffect>
                                  </p:childTnLst>
                                </p:cTn>
                              </p:par>
                              <p:par>
                                <p:cTn id="747" presetID="9" presetClass="entr" presetSubtype="0" fill="hold" nodeType="withEffect">
                                  <p:stCondLst>
                                    <p:cond delay="0"/>
                                  </p:stCondLst>
                                  <p:childTnLst>
                                    <p:set>
                                      <p:cBhvr>
                                        <p:cTn id="748" dur="1" fill="hold">
                                          <p:stCondLst>
                                            <p:cond delay="0"/>
                                          </p:stCondLst>
                                        </p:cTn>
                                        <p:tgtEl>
                                          <p:spTgt spid="2382215"/>
                                        </p:tgtEl>
                                        <p:attrNameLst>
                                          <p:attrName>style.visibility</p:attrName>
                                        </p:attrNameLst>
                                      </p:cBhvr>
                                      <p:to>
                                        <p:strVal val="visible"/>
                                      </p:to>
                                    </p:set>
                                    <p:animEffect transition="in" filter="dissolve">
                                      <p:cBhvr>
                                        <p:cTn id="749" dur="500"/>
                                        <p:tgtEl>
                                          <p:spTgt spid="2382215"/>
                                        </p:tgtEl>
                                      </p:cBhvr>
                                    </p:animEffect>
                                  </p:childTnLst>
                                </p:cTn>
                              </p:par>
                              <p:par>
                                <p:cTn id="750" presetID="9" presetClass="entr" presetSubtype="0" fill="hold" nodeType="withEffect">
                                  <p:stCondLst>
                                    <p:cond delay="0"/>
                                  </p:stCondLst>
                                  <p:childTnLst>
                                    <p:set>
                                      <p:cBhvr>
                                        <p:cTn id="751" dur="1" fill="hold">
                                          <p:stCondLst>
                                            <p:cond delay="0"/>
                                          </p:stCondLst>
                                        </p:cTn>
                                        <p:tgtEl>
                                          <p:spTgt spid="2382195"/>
                                        </p:tgtEl>
                                        <p:attrNameLst>
                                          <p:attrName>style.visibility</p:attrName>
                                        </p:attrNameLst>
                                      </p:cBhvr>
                                      <p:to>
                                        <p:strVal val="visible"/>
                                      </p:to>
                                    </p:set>
                                    <p:animEffect transition="in" filter="dissolve">
                                      <p:cBhvr>
                                        <p:cTn id="752" dur="500"/>
                                        <p:tgtEl>
                                          <p:spTgt spid="2382195"/>
                                        </p:tgtEl>
                                      </p:cBhvr>
                                    </p:animEffect>
                                  </p:childTnLst>
                                </p:cTn>
                              </p:par>
                              <p:par>
                                <p:cTn id="753" presetID="9" presetClass="entr" presetSubtype="0" fill="hold" nodeType="withEffect">
                                  <p:stCondLst>
                                    <p:cond delay="0"/>
                                  </p:stCondLst>
                                  <p:childTnLst>
                                    <p:set>
                                      <p:cBhvr>
                                        <p:cTn id="754" dur="1" fill="hold">
                                          <p:stCondLst>
                                            <p:cond delay="0"/>
                                          </p:stCondLst>
                                        </p:cTn>
                                        <p:tgtEl>
                                          <p:spTgt spid="2382196"/>
                                        </p:tgtEl>
                                        <p:attrNameLst>
                                          <p:attrName>style.visibility</p:attrName>
                                        </p:attrNameLst>
                                      </p:cBhvr>
                                      <p:to>
                                        <p:strVal val="visible"/>
                                      </p:to>
                                    </p:set>
                                    <p:animEffect transition="in" filter="dissolve">
                                      <p:cBhvr>
                                        <p:cTn id="755" dur="500"/>
                                        <p:tgtEl>
                                          <p:spTgt spid="2382196"/>
                                        </p:tgtEl>
                                      </p:cBhvr>
                                    </p:animEffect>
                                  </p:childTnLst>
                                </p:cTn>
                              </p:par>
                              <p:par>
                                <p:cTn id="756" presetID="9" presetClass="entr" presetSubtype="0" fill="hold" nodeType="withEffect">
                                  <p:stCondLst>
                                    <p:cond delay="0"/>
                                  </p:stCondLst>
                                  <p:childTnLst>
                                    <p:set>
                                      <p:cBhvr>
                                        <p:cTn id="757" dur="1" fill="hold">
                                          <p:stCondLst>
                                            <p:cond delay="0"/>
                                          </p:stCondLst>
                                        </p:cTn>
                                        <p:tgtEl>
                                          <p:spTgt spid="2382213"/>
                                        </p:tgtEl>
                                        <p:attrNameLst>
                                          <p:attrName>style.visibility</p:attrName>
                                        </p:attrNameLst>
                                      </p:cBhvr>
                                      <p:to>
                                        <p:strVal val="visible"/>
                                      </p:to>
                                    </p:set>
                                    <p:animEffect transition="in" filter="dissolve">
                                      <p:cBhvr>
                                        <p:cTn id="758" dur="500"/>
                                        <p:tgtEl>
                                          <p:spTgt spid="2382213"/>
                                        </p:tgtEl>
                                      </p:cBhvr>
                                    </p:animEffect>
                                  </p:childTnLst>
                                </p:cTn>
                              </p:par>
                              <p:par>
                                <p:cTn id="759" presetID="9" presetClass="entr" presetSubtype="0" fill="hold" nodeType="withEffect">
                                  <p:stCondLst>
                                    <p:cond delay="0"/>
                                  </p:stCondLst>
                                  <p:childTnLst>
                                    <p:set>
                                      <p:cBhvr>
                                        <p:cTn id="760" dur="1" fill="hold">
                                          <p:stCondLst>
                                            <p:cond delay="0"/>
                                          </p:stCondLst>
                                        </p:cTn>
                                        <p:tgtEl>
                                          <p:spTgt spid="2382134"/>
                                        </p:tgtEl>
                                        <p:attrNameLst>
                                          <p:attrName>style.visibility</p:attrName>
                                        </p:attrNameLst>
                                      </p:cBhvr>
                                      <p:to>
                                        <p:strVal val="visible"/>
                                      </p:to>
                                    </p:set>
                                    <p:animEffect transition="in" filter="dissolve">
                                      <p:cBhvr>
                                        <p:cTn id="761" dur="500"/>
                                        <p:tgtEl>
                                          <p:spTgt spid="2382134"/>
                                        </p:tgtEl>
                                      </p:cBhvr>
                                    </p:animEffect>
                                  </p:childTnLst>
                                </p:cTn>
                              </p:par>
                            </p:childTnLst>
                          </p:cTn>
                        </p:par>
                      </p:childTnLst>
                    </p:cTn>
                  </p:par>
                  <p:par>
                    <p:cTn id="762" fill="hold">
                      <p:stCondLst>
                        <p:cond delay="indefinite"/>
                      </p:stCondLst>
                      <p:childTnLst>
                        <p:par>
                          <p:cTn id="763" fill="hold">
                            <p:stCondLst>
                              <p:cond delay="0"/>
                            </p:stCondLst>
                            <p:childTnLst>
                              <p:par>
                                <p:cTn id="764" presetID="22" presetClass="entr" presetSubtype="8" fill="hold" nodeType="clickEffect">
                                  <p:stCondLst>
                                    <p:cond delay="0"/>
                                  </p:stCondLst>
                                  <p:childTnLst>
                                    <p:set>
                                      <p:cBhvr>
                                        <p:cTn id="765" dur="1" fill="hold">
                                          <p:stCondLst>
                                            <p:cond delay="0"/>
                                          </p:stCondLst>
                                        </p:cTn>
                                        <p:tgtEl>
                                          <p:spTgt spid="2382223"/>
                                        </p:tgtEl>
                                        <p:attrNameLst>
                                          <p:attrName>style.visibility</p:attrName>
                                        </p:attrNameLst>
                                      </p:cBhvr>
                                      <p:to>
                                        <p:strVal val="visible"/>
                                      </p:to>
                                    </p:set>
                                    <p:animEffect transition="in" filter="wipe(left)">
                                      <p:cBhvr>
                                        <p:cTn id="766" dur="500"/>
                                        <p:tgtEl>
                                          <p:spTgt spid="2382223"/>
                                        </p:tgtEl>
                                      </p:cBhvr>
                                    </p:animEffect>
                                  </p:childTnLst>
                                </p:cTn>
                              </p:par>
                            </p:childTnLst>
                          </p:cTn>
                        </p:par>
                        <p:par>
                          <p:cTn id="767" fill="hold">
                            <p:stCondLst>
                              <p:cond delay="500"/>
                            </p:stCondLst>
                            <p:childTnLst>
                              <p:par>
                                <p:cTn id="768" presetID="22" presetClass="entr" presetSubtype="8" fill="hold" nodeType="afterEffect">
                                  <p:stCondLst>
                                    <p:cond delay="0"/>
                                  </p:stCondLst>
                                  <p:childTnLst>
                                    <p:set>
                                      <p:cBhvr>
                                        <p:cTn id="769" dur="1" fill="hold">
                                          <p:stCondLst>
                                            <p:cond delay="0"/>
                                          </p:stCondLst>
                                        </p:cTn>
                                        <p:tgtEl>
                                          <p:spTgt spid="2382217"/>
                                        </p:tgtEl>
                                        <p:attrNameLst>
                                          <p:attrName>style.visibility</p:attrName>
                                        </p:attrNameLst>
                                      </p:cBhvr>
                                      <p:to>
                                        <p:strVal val="visible"/>
                                      </p:to>
                                    </p:set>
                                    <p:animEffect transition="in" filter="wipe(left)">
                                      <p:cBhvr>
                                        <p:cTn id="770" dur="500"/>
                                        <p:tgtEl>
                                          <p:spTgt spid="2382217"/>
                                        </p:tgtEl>
                                      </p:cBhvr>
                                    </p:animEffect>
                                  </p:childTnLst>
                                </p:cTn>
                              </p:par>
                            </p:childTnLst>
                          </p:cTn>
                        </p:par>
                        <p:par>
                          <p:cTn id="771" fill="hold">
                            <p:stCondLst>
                              <p:cond delay="1000"/>
                            </p:stCondLst>
                            <p:childTnLst>
                              <p:par>
                                <p:cTn id="772" presetID="22" presetClass="entr" presetSubtype="4" fill="hold" nodeType="afterEffect">
                                  <p:stCondLst>
                                    <p:cond delay="0"/>
                                  </p:stCondLst>
                                  <p:childTnLst>
                                    <p:set>
                                      <p:cBhvr>
                                        <p:cTn id="773" dur="1" fill="hold">
                                          <p:stCondLst>
                                            <p:cond delay="0"/>
                                          </p:stCondLst>
                                        </p:cTn>
                                        <p:tgtEl>
                                          <p:spTgt spid="2382218"/>
                                        </p:tgtEl>
                                        <p:attrNameLst>
                                          <p:attrName>style.visibility</p:attrName>
                                        </p:attrNameLst>
                                      </p:cBhvr>
                                      <p:to>
                                        <p:strVal val="visible"/>
                                      </p:to>
                                    </p:set>
                                    <p:animEffect transition="in" filter="wipe(down)">
                                      <p:cBhvr>
                                        <p:cTn id="774" dur="500"/>
                                        <p:tgtEl>
                                          <p:spTgt spid="2382218"/>
                                        </p:tgtEl>
                                      </p:cBhvr>
                                    </p:animEffect>
                                  </p:childTnLst>
                                </p:cTn>
                              </p:par>
                            </p:childTnLst>
                          </p:cTn>
                        </p:par>
                        <p:par>
                          <p:cTn id="775" fill="hold">
                            <p:stCondLst>
                              <p:cond delay="1500"/>
                            </p:stCondLst>
                            <p:childTnLst>
                              <p:par>
                                <p:cTn id="776" presetID="22" presetClass="entr" presetSubtype="8" fill="hold" nodeType="afterEffect">
                                  <p:stCondLst>
                                    <p:cond delay="0"/>
                                  </p:stCondLst>
                                  <p:childTnLst>
                                    <p:set>
                                      <p:cBhvr>
                                        <p:cTn id="777" dur="1" fill="hold">
                                          <p:stCondLst>
                                            <p:cond delay="0"/>
                                          </p:stCondLst>
                                        </p:cTn>
                                        <p:tgtEl>
                                          <p:spTgt spid="2382219"/>
                                        </p:tgtEl>
                                        <p:attrNameLst>
                                          <p:attrName>style.visibility</p:attrName>
                                        </p:attrNameLst>
                                      </p:cBhvr>
                                      <p:to>
                                        <p:strVal val="visible"/>
                                      </p:to>
                                    </p:set>
                                    <p:animEffect transition="in" filter="wipe(left)">
                                      <p:cBhvr>
                                        <p:cTn id="778" dur="500"/>
                                        <p:tgtEl>
                                          <p:spTgt spid="2382219"/>
                                        </p:tgtEl>
                                      </p:cBhvr>
                                    </p:animEffect>
                                  </p:childTnLst>
                                </p:cTn>
                              </p:par>
                            </p:childTnLst>
                          </p:cTn>
                        </p:par>
                        <p:par>
                          <p:cTn id="779" fill="hold">
                            <p:stCondLst>
                              <p:cond delay="2000"/>
                            </p:stCondLst>
                            <p:childTnLst>
                              <p:par>
                                <p:cTn id="780" presetID="22" presetClass="entr" presetSubtype="2" fill="hold" nodeType="afterEffect">
                                  <p:stCondLst>
                                    <p:cond delay="0"/>
                                  </p:stCondLst>
                                  <p:childTnLst>
                                    <p:set>
                                      <p:cBhvr>
                                        <p:cTn id="781" dur="1" fill="hold">
                                          <p:stCondLst>
                                            <p:cond delay="0"/>
                                          </p:stCondLst>
                                        </p:cTn>
                                        <p:tgtEl>
                                          <p:spTgt spid="2382220"/>
                                        </p:tgtEl>
                                        <p:attrNameLst>
                                          <p:attrName>style.visibility</p:attrName>
                                        </p:attrNameLst>
                                      </p:cBhvr>
                                      <p:to>
                                        <p:strVal val="visible"/>
                                      </p:to>
                                    </p:set>
                                    <p:animEffect transition="in" filter="wipe(right)">
                                      <p:cBhvr>
                                        <p:cTn id="782" dur="500"/>
                                        <p:tgtEl>
                                          <p:spTgt spid="2382220"/>
                                        </p:tgtEl>
                                      </p:cBhvr>
                                    </p:animEffect>
                                  </p:childTnLst>
                                </p:cTn>
                              </p:par>
                            </p:childTnLst>
                          </p:cTn>
                        </p:par>
                        <p:par>
                          <p:cTn id="783" fill="hold">
                            <p:stCondLst>
                              <p:cond delay="2500"/>
                            </p:stCondLst>
                            <p:childTnLst>
                              <p:par>
                                <p:cTn id="784" presetID="22" presetClass="entr" presetSubtype="1" fill="hold" nodeType="afterEffect">
                                  <p:stCondLst>
                                    <p:cond delay="0"/>
                                  </p:stCondLst>
                                  <p:childTnLst>
                                    <p:set>
                                      <p:cBhvr>
                                        <p:cTn id="785" dur="1" fill="hold">
                                          <p:stCondLst>
                                            <p:cond delay="0"/>
                                          </p:stCondLst>
                                        </p:cTn>
                                        <p:tgtEl>
                                          <p:spTgt spid="2382221"/>
                                        </p:tgtEl>
                                        <p:attrNameLst>
                                          <p:attrName>style.visibility</p:attrName>
                                        </p:attrNameLst>
                                      </p:cBhvr>
                                      <p:to>
                                        <p:strVal val="visible"/>
                                      </p:to>
                                    </p:set>
                                    <p:animEffect transition="in" filter="wipe(up)">
                                      <p:cBhvr>
                                        <p:cTn id="786" dur="500"/>
                                        <p:tgtEl>
                                          <p:spTgt spid="2382221"/>
                                        </p:tgtEl>
                                      </p:cBhvr>
                                    </p:animEffect>
                                  </p:childTnLst>
                                </p:cTn>
                              </p:par>
                            </p:childTnLst>
                          </p:cTn>
                        </p:par>
                        <p:par>
                          <p:cTn id="787" fill="hold">
                            <p:stCondLst>
                              <p:cond delay="3000"/>
                            </p:stCondLst>
                            <p:childTnLst>
                              <p:par>
                                <p:cTn id="788" presetID="22" presetClass="entr" presetSubtype="1" fill="hold" nodeType="afterEffect">
                                  <p:stCondLst>
                                    <p:cond delay="0"/>
                                  </p:stCondLst>
                                  <p:childTnLst>
                                    <p:set>
                                      <p:cBhvr>
                                        <p:cTn id="789" dur="1" fill="hold">
                                          <p:stCondLst>
                                            <p:cond delay="0"/>
                                          </p:stCondLst>
                                        </p:cTn>
                                        <p:tgtEl>
                                          <p:spTgt spid="2382222"/>
                                        </p:tgtEl>
                                        <p:attrNameLst>
                                          <p:attrName>style.visibility</p:attrName>
                                        </p:attrNameLst>
                                      </p:cBhvr>
                                      <p:to>
                                        <p:strVal val="visible"/>
                                      </p:to>
                                    </p:set>
                                    <p:animEffect transition="in" filter="wipe(up)">
                                      <p:cBhvr>
                                        <p:cTn id="790" dur="500"/>
                                        <p:tgtEl>
                                          <p:spTgt spid="2382222"/>
                                        </p:tgtEl>
                                      </p:cBhvr>
                                    </p:animEffect>
                                  </p:childTnLst>
                                </p:cTn>
                              </p:par>
                            </p:childTnLst>
                          </p:cTn>
                        </p:par>
                      </p:childTnLst>
                    </p:cTn>
                  </p:par>
                  <p:par>
                    <p:cTn id="791" fill="hold">
                      <p:stCondLst>
                        <p:cond delay="indefinite"/>
                      </p:stCondLst>
                      <p:childTnLst>
                        <p:par>
                          <p:cTn id="792" fill="hold">
                            <p:stCondLst>
                              <p:cond delay="0"/>
                            </p:stCondLst>
                            <p:childTnLst>
                              <p:par>
                                <p:cTn id="793" presetID="1" presetClass="exit" presetSubtype="0" fill="hold" nodeType="clickEffect">
                                  <p:stCondLst>
                                    <p:cond delay="0"/>
                                  </p:stCondLst>
                                  <p:childTnLst>
                                    <p:set>
                                      <p:cBhvr>
                                        <p:cTn id="794" dur="1" fill="hold">
                                          <p:stCondLst>
                                            <p:cond delay="0"/>
                                          </p:stCondLst>
                                        </p:cTn>
                                        <p:tgtEl>
                                          <p:spTgt spid="2382215"/>
                                        </p:tgtEl>
                                        <p:attrNameLst>
                                          <p:attrName>style.visibility</p:attrName>
                                        </p:attrNameLst>
                                      </p:cBhvr>
                                      <p:to>
                                        <p:strVal val="hidden"/>
                                      </p:to>
                                    </p:set>
                                  </p:childTnLst>
                                </p:cTn>
                              </p:par>
                              <p:par>
                                <p:cTn id="795" presetID="1" presetClass="exit" presetSubtype="0" fill="hold" nodeType="withEffect">
                                  <p:stCondLst>
                                    <p:cond delay="0"/>
                                  </p:stCondLst>
                                  <p:childTnLst>
                                    <p:set>
                                      <p:cBhvr>
                                        <p:cTn id="796" dur="1" fill="hold">
                                          <p:stCondLst>
                                            <p:cond delay="0"/>
                                          </p:stCondLst>
                                        </p:cTn>
                                        <p:tgtEl>
                                          <p:spTgt spid="2382214"/>
                                        </p:tgtEl>
                                        <p:attrNameLst>
                                          <p:attrName>style.visibility</p:attrName>
                                        </p:attrNameLst>
                                      </p:cBhvr>
                                      <p:to>
                                        <p:strVal val="hidden"/>
                                      </p:to>
                                    </p:set>
                                  </p:childTnLst>
                                </p:cTn>
                              </p:par>
                              <p:par>
                                <p:cTn id="797" presetID="1" presetClass="exit" presetSubtype="0" fill="hold" nodeType="withEffect">
                                  <p:stCondLst>
                                    <p:cond delay="0"/>
                                  </p:stCondLst>
                                  <p:childTnLst>
                                    <p:set>
                                      <p:cBhvr>
                                        <p:cTn id="798" dur="1" fill="hold">
                                          <p:stCondLst>
                                            <p:cond delay="0"/>
                                          </p:stCondLst>
                                        </p:cTn>
                                        <p:tgtEl>
                                          <p:spTgt spid="2382195"/>
                                        </p:tgtEl>
                                        <p:attrNameLst>
                                          <p:attrName>style.visibility</p:attrName>
                                        </p:attrNameLst>
                                      </p:cBhvr>
                                      <p:to>
                                        <p:strVal val="hidden"/>
                                      </p:to>
                                    </p:set>
                                  </p:childTnLst>
                                </p:cTn>
                              </p:par>
                              <p:par>
                                <p:cTn id="799" presetID="1" presetClass="exit" presetSubtype="0" fill="hold" nodeType="withEffect">
                                  <p:stCondLst>
                                    <p:cond delay="0"/>
                                  </p:stCondLst>
                                  <p:childTnLst>
                                    <p:set>
                                      <p:cBhvr>
                                        <p:cTn id="800" dur="1" fill="hold">
                                          <p:stCondLst>
                                            <p:cond delay="0"/>
                                          </p:stCondLst>
                                        </p:cTn>
                                        <p:tgtEl>
                                          <p:spTgt spid="2382196"/>
                                        </p:tgtEl>
                                        <p:attrNameLst>
                                          <p:attrName>style.visibility</p:attrName>
                                        </p:attrNameLst>
                                      </p:cBhvr>
                                      <p:to>
                                        <p:strVal val="hidden"/>
                                      </p:to>
                                    </p:set>
                                  </p:childTnLst>
                                </p:cTn>
                              </p:par>
                              <p:par>
                                <p:cTn id="801" presetID="1" presetClass="exit" presetSubtype="0" fill="hold" nodeType="withEffect">
                                  <p:stCondLst>
                                    <p:cond delay="0"/>
                                  </p:stCondLst>
                                  <p:childTnLst>
                                    <p:set>
                                      <p:cBhvr>
                                        <p:cTn id="802" dur="1" fill="hold">
                                          <p:stCondLst>
                                            <p:cond delay="0"/>
                                          </p:stCondLst>
                                        </p:cTn>
                                        <p:tgtEl>
                                          <p:spTgt spid="2382213"/>
                                        </p:tgtEl>
                                        <p:attrNameLst>
                                          <p:attrName>style.visibility</p:attrName>
                                        </p:attrNameLst>
                                      </p:cBhvr>
                                      <p:to>
                                        <p:strVal val="hidden"/>
                                      </p:to>
                                    </p:set>
                                  </p:childTnLst>
                                </p:cTn>
                              </p:par>
                              <p:par>
                                <p:cTn id="803" presetID="1" presetClass="exit" presetSubtype="0" fill="hold" nodeType="withEffect">
                                  <p:stCondLst>
                                    <p:cond delay="0"/>
                                  </p:stCondLst>
                                  <p:childTnLst>
                                    <p:set>
                                      <p:cBhvr>
                                        <p:cTn id="804" dur="1" fill="hold">
                                          <p:stCondLst>
                                            <p:cond delay="0"/>
                                          </p:stCondLst>
                                        </p:cTn>
                                        <p:tgtEl>
                                          <p:spTgt spid="2382134"/>
                                        </p:tgtEl>
                                        <p:attrNameLst>
                                          <p:attrName>style.visibility</p:attrName>
                                        </p:attrNameLst>
                                      </p:cBhvr>
                                      <p:to>
                                        <p:strVal val="hidden"/>
                                      </p:to>
                                    </p:set>
                                  </p:childTnLst>
                                </p:cTn>
                              </p:par>
                              <p:par>
                                <p:cTn id="805" presetID="1" presetClass="exit" presetSubtype="0" fill="hold" nodeType="withEffect">
                                  <p:stCondLst>
                                    <p:cond delay="0"/>
                                  </p:stCondLst>
                                  <p:childTnLst>
                                    <p:set>
                                      <p:cBhvr>
                                        <p:cTn id="806" dur="1" fill="hold">
                                          <p:stCondLst>
                                            <p:cond delay="0"/>
                                          </p:stCondLst>
                                        </p:cTn>
                                        <p:tgtEl>
                                          <p:spTgt spid="2382223"/>
                                        </p:tgtEl>
                                        <p:attrNameLst>
                                          <p:attrName>style.visibility</p:attrName>
                                        </p:attrNameLst>
                                      </p:cBhvr>
                                      <p:to>
                                        <p:strVal val="hidden"/>
                                      </p:to>
                                    </p:set>
                                  </p:childTnLst>
                                </p:cTn>
                              </p:par>
                              <p:par>
                                <p:cTn id="807" presetID="1" presetClass="exit" presetSubtype="0" fill="hold" nodeType="withEffect">
                                  <p:stCondLst>
                                    <p:cond delay="0"/>
                                  </p:stCondLst>
                                  <p:childTnLst>
                                    <p:set>
                                      <p:cBhvr>
                                        <p:cTn id="808" dur="1" fill="hold">
                                          <p:stCondLst>
                                            <p:cond delay="0"/>
                                          </p:stCondLst>
                                        </p:cTn>
                                        <p:tgtEl>
                                          <p:spTgt spid="2382217"/>
                                        </p:tgtEl>
                                        <p:attrNameLst>
                                          <p:attrName>style.visibility</p:attrName>
                                        </p:attrNameLst>
                                      </p:cBhvr>
                                      <p:to>
                                        <p:strVal val="hidden"/>
                                      </p:to>
                                    </p:set>
                                  </p:childTnLst>
                                </p:cTn>
                              </p:par>
                              <p:par>
                                <p:cTn id="809" presetID="1" presetClass="exit" presetSubtype="0" fill="hold" nodeType="withEffect">
                                  <p:stCondLst>
                                    <p:cond delay="0"/>
                                  </p:stCondLst>
                                  <p:childTnLst>
                                    <p:set>
                                      <p:cBhvr>
                                        <p:cTn id="810" dur="1" fill="hold">
                                          <p:stCondLst>
                                            <p:cond delay="0"/>
                                          </p:stCondLst>
                                        </p:cTn>
                                        <p:tgtEl>
                                          <p:spTgt spid="2382218"/>
                                        </p:tgtEl>
                                        <p:attrNameLst>
                                          <p:attrName>style.visibility</p:attrName>
                                        </p:attrNameLst>
                                      </p:cBhvr>
                                      <p:to>
                                        <p:strVal val="hidden"/>
                                      </p:to>
                                    </p:set>
                                  </p:childTnLst>
                                </p:cTn>
                              </p:par>
                              <p:par>
                                <p:cTn id="811" presetID="1" presetClass="exit" presetSubtype="0" fill="hold" nodeType="withEffect">
                                  <p:stCondLst>
                                    <p:cond delay="0"/>
                                  </p:stCondLst>
                                  <p:childTnLst>
                                    <p:set>
                                      <p:cBhvr>
                                        <p:cTn id="812" dur="1" fill="hold">
                                          <p:stCondLst>
                                            <p:cond delay="0"/>
                                          </p:stCondLst>
                                        </p:cTn>
                                        <p:tgtEl>
                                          <p:spTgt spid="2382219"/>
                                        </p:tgtEl>
                                        <p:attrNameLst>
                                          <p:attrName>style.visibility</p:attrName>
                                        </p:attrNameLst>
                                      </p:cBhvr>
                                      <p:to>
                                        <p:strVal val="hidden"/>
                                      </p:to>
                                    </p:set>
                                  </p:childTnLst>
                                </p:cTn>
                              </p:par>
                              <p:par>
                                <p:cTn id="813" presetID="1" presetClass="exit" presetSubtype="0" fill="hold" nodeType="withEffect">
                                  <p:stCondLst>
                                    <p:cond delay="0"/>
                                  </p:stCondLst>
                                  <p:childTnLst>
                                    <p:set>
                                      <p:cBhvr>
                                        <p:cTn id="814" dur="1" fill="hold">
                                          <p:stCondLst>
                                            <p:cond delay="0"/>
                                          </p:stCondLst>
                                        </p:cTn>
                                        <p:tgtEl>
                                          <p:spTgt spid="2382220"/>
                                        </p:tgtEl>
                                        <p:attrNameLst>
                                          <p:attrName>style.visibility</p:attrName>
                                        </p:attrNameLst>
                                      </p:cBhvr>
                                      <p:to>
                                        <p:strVal val="hidden"/>
                                      </p:to>
                                    </p:set>
                                  </p:childTnLst>
                                </p:cTn>
                              </p:par>
                              <p:par>
                                <p:cTn id="815" presetID="1" presetClass="exit" presetSubtype="0" fill="hold" nodeType="withEffect">
                                  <p:stCondLst>
                                    <p:cond delay="0"/>
                                  </p:stCondLst>
                                  <p:childTnLst>
                                    <p:set>
                                      <p:cBhvr>
                                        <p:cTn id="816" dur="1" fill="hold">
                                          <p:stCondLst>
                                            <p:cond delay="0"/>
                                          </p:stCondLst>
                                        </p:cTn>
                                        <p:tgtEl>
                                          <p:spTgt spid="2382221"/>
                                        </p:tgtEl>
                                        <p:attrNameLst>
                                          <p:attrName>style.visibility</p:attrName>
                                        </p:attrNameLst>
                                      </p:cBhvr>
                                      <p:to>
                                        <p:strVal val="hidden"/>
                                      </p:to>
                                    </p:set>
                                  </p:childTnLst>
                                </p:cTn>
                              </p:par>
                              <p:par>
                                <p:cTn id="817" presetID="1" presetClass="exit" presetSubtype="0" fill="hold" nodeType="withEffect">
                                  <p:stCondLst>
                                    <p:cond delay="0"/>
                                  </p:stCondLst>
                                  <p:childTnLst>
                                    <p:set>
                                      <p:cBhvr>
                                        <p:cTn id="818" dur="1" fill="hold">
                                          <p:stCondLst>
                                            <p:cond delay="0"/>
                                          </p:stCondLst>
                                        </p:cTn>
                                        <p:tgtEl>
                                          <p:spTgt spid="2382222"/>
                                        </p:tgtEl>
                                        <p:attrNameLst>
                                          <p:attrName>style.visibility</p:attrName>
                                        </p:attrNameLst>
                                      </p:cBhvr>
                                      <p:to>
                                        <p:strVal val="hidden"/>
                                      </p:to>
                                    </p:set>
                                  </p:childTnLst>
                                </p:cTn>
                              </p:par>
                            </p:childTnLst>
                          </p:cTn>
                        </p:par>
                      </p:childTnLst>
                    </p:cTn>
                  </p:par>
                  <p:par>
                    <p:cTn id="819" fill="hold">
                      <p:stCondLst>
                        <p:cond delay="indefinite"/>
                      </p:stCondLst>
                      <p:childTnLst>
                        <p:par>
                          <p:cTn id="820" fill="hold">
                            <p:stCondLst>
                              <p:cond delay="0"/>
                            </p:stCondLst>
                            <p:childTnLst>
                              <p:par>
                                <p:cTn id="821" presetID="9" presetClass="entr" presetSubtype="0" fill="hold" nodeType="clickEffect">
                                  <p:stCondLst>
                                    <p:cond delay="0"/>
                                  </p:stCondLst>
                                  <p:childTnLst>
                                    <p:set>
                                      <p:cBhvr>
                                        <p:cTn id="822" dur="1" fill="hold">
                                          <p:stCondLst>
                                            <p:cond delay="0"/>
                                          </p:stCondLst>
                                        </p:cTn>
                                        <p:tgtEl>
                                          <p:spTgt spid="2382228"/>
                                        </p:tgtEl>
                                        <p:attrNameLst>
                                          <p:attrName>style.visibility</p:attrName>
                                        </p:attrNameLst>
                                      </p:cBhvr>
                                      <p:to>
                                        <p:strVal val="visible"/>
                                      </p:to>
                                    </p:set>
                                    <p:animEffect transition="in" filter="dissolve">
                                      <p:cBhvr>
                                        <p:cTn id="823" dur="500"/>
                                        <p:tgtEl>
                                          <p:spTgt spid="2382228"/>
                                        </p:tgtEl>
                                      </p:cBhvr>
                                    </p:animEffect>
                                  </p:childTnLst>
                                </p:cTn>
                              </p:par>
                              <p:par>
                                <p:cTn id="824" presetID="9" presetClass="entr" presetSubtype="0" fill="hold" nodeType="withEffect">
                                  <p:stCondLst>
                                    <p:cond delay="0"/>
                                  </p:stCondLst>
                                  <p:childTnLst>
                                    <p:set>
                                      <p:cBhvr>
                                        <p:cTn id="825" dur="1" fill="hold">
                                          <p:stCondLst>
                                            <p:cond delay="0"/>
                                          </p:stCondLst>
                                        </p:cTn>
                                        <p:tgtEl>
                                          <p:spTgt spid="2382229"/>
                                        </p:tgtEl>
                                        <p:attrNameLst>
                                          <p:attrName>style.visibility</p:attrName>
                                        </p:attrNameLst>
                                      </p:cBhvr>
                                      <p:to>
                                        <p:strVal val="visible"/>
                                      </p:to>
                                    </p:set>
                                    <p:animEffect transition="in" filter="dissolve">
                                      <p:cBhvr>
                                        <p:cTn id="826" dur="500"/>
                                        <p:tgtEl>
                                          <p:spTgt spid="2382229"/>
                                        </p:tgtEl>
                                      </p:cBhvr>
                                    </p:animEffect>
                                  </p:childTnLst>
                                </p:cTn>
                              </p:par>
                              <p:par>
                                <p:cTn id="827" presetID="9" presetClass="entr" presetSubtype="0" fill="hold" nodeType="withEffect">
                                  <p:stCondLst>
                                    <p:cond delay="0"/>
                                  </p:stCondLst>
                                  <p:childTnLst>
                                    <p:set>
                                      <p:cBhvr>
                                        <p:cTn id="828" dur="1" fill="hold">
                                          <p:stCondLst>
                                            <p:cond delay="0"/>
                                          </p:stCondLst>
                                        </p:cTn>
                                        <p:tgtEl>
                                          <p:spTgt spid="2382225"/>
                                        </p:tgtEl>
                                        <p:attrNameLst>
                                          <p:attrName>style.visibility</p:attrName>
                                        </p:attrNameLst>
                                      </p:cBhvr>
                                      <p:to>
                                        <p:strVal val="visible"/>
                                      </p:to>
                                    </p:set>
                                    <p:animEffect transition="in" filter="dissolve">
                                      <p:cBhvr>
                                        <p:cTn id="829" dur="500"/>
                                        <p:tgtEl>
                                          <p:spTgt spid="2382225"/>
                                        </p:tgtEl>
                                      </p:cBhvr>
                                    </p:animEffect>
                                  </p:childTnLst>
                                </p:cTn>
                              </p:par>
                              <p:par>
                                <p:cTn id="830" presetID="9" presetClass="entr" presetSubtype="0" fill="hold" nodeType="withEffect">
                                  <p:stCondLst>
                                    <p:cond delay="0"/>
                                  </p:stCondLst>
                                  <p:childTnLst>
                                    <p:set>
                                      <p:cBhvr>
                                        <p:cTn id="831" dur="1" fill="hold">
                                          <p:stCondLst>
                                            <p:cond delay="0"/>
                                          </p:stCondLst>
                                        </p:cTn>
                                        <p:tgtEl>
                                          <p:spTgt spid="2382226"/>
                                        </p:tgtEl>
                                        <p:attrNameLst>
                                          <p:attrName>style.visibility</p:attrName>
                                        </p:attrNameLst>
                                      </p:cBhvr>
                                      <p:to>
                                        <p:strVal val="visible"/>
                                      </p:to>
                                    </p:set>
                                    <p:animEffect transition="in" filter="dissolve">
                                      <p:cBhvr>
                                        <p:cTn id="832" dur="500"/>
                                        <p:tgtEl>
                                          <p:spTgt spid="2382226"/>
                                        </p:tgtEl>
                                      </p:cBhvr>
                                    </p:animEffect>
                                  </p:childTnLst>
                                </p:cTn>
                              </p:par>
                              <p:par>
                                <p:cTn id="833" presetID="9" presetClass="entr" presetSubtype="0" fill="hold" nodeType="withEffect">
                                  <p:stCondLst>
                                    <p:cond delay="0"/>
                                  </p:stCondLst>
                                  <p:childTnLst>
                                    <p:set>
                                      <p:cBhvr>
                                        <p:cTn id="834" dur="1" fill="hold">
                                          <p:stCondLst>
                                            <p:cond delay="0"/>
                                          </p:stCondLst>
                                        </p:cTn>
                                        <p:tgtEl>
                                          <p:spTgt spid="2382227"/>
                                        </p:tgtEl>
                                        <p:attrNameLst>
                                          <p:attrName>style.visibility</p:attrName>
                                        </p:attrNameLst>
                                      </p:cBhvr>
                                      <p:to>
                                        <p:strVal val="visible"/>
                                      </p:to>
                                    </p:set>
                                    <p:animEffect transition="in" filter="dissolve">
                                      <p:cBhvr>
                                        <p:cTn id="835" dur="500"/>
                                        <p:tgtEl>
                                          <p:spTgt spid="2382227"/>
                                        </p:tgtEl>
                                      </p:cBhvr>
                                    </p:animEffect>
                                  </p:childTnLst>
                                </p:cTn>
                              </p:par>
                              <p:par>
                                <p:cTn id="836" presetID="9" presetClass="entr" presetSubtype="0" fill="hold" nodeType="withEffect">
                                  <p:stCondLst>
                                    <p:cond delay="0"/>
                                  </p:stCondLst>
                                  <p:childTnLst>
                                    <p:set>
                                      <p:cBhvr>
                                        <p:cTn id="837" dur="1" fill="hold">
                                          <p:stCondLst>
                                            <p:cond delay="0"/>
                                          </p:stCondLst>
                                        </p:cTn>
                                        <p:tgtEl>
                                          <p:spTgt spid="2382224"/>
                                        </p:tgtEl>
                                        <p:attrNameLst>
                                          <p:attrName>style.visibility</p:attrName>
                                        </p:attrNameLst>
                                      </p:cBhvr>
                                      <p:to>
                                        <p:strVal val="visible"/>
                                      </p:to>
                                    </p:set>
                                    <p:animEffect transition="in" filter="dissolve">
                                      <p:cBhvr>
                                        <p:cTn id="838" dur="500"/>
                                        <p:tgtEl>
                                          <p:spTgt spid="2382224"/>
                                        </p:tgtEl>
                                      </p:cBhvr>
                                    </p:animEffect>
                                  </p:childTnLst>
                                </p:cTn>
                              </p:par>
                            </p:childTnLst>
                          </p:cTn>
                        </p:par>
                      </p:childTnLst>
                    </p:cTn>
                  </p:par>
                  <p:par>
                    <p:cTn id="839" fill="hold">
                      <p:stCondLst>
                        <p:cond delay="indefinite"/>
                      </p:stCondLst>
                      <p:childTnLst>
                        <p:par>
                          <p:cTn id="840" fill="hold">
                            <p:stCondLst>
                              <p:cond delay="0"/>
                            </p:stCondLst>
                            <p:childTnLst>
                              <p:par>
                                <p:cTn id="841" presetID="22" presetClass="entr" presetSubtype="8" fill="hold" nodeType="clickEffect">
                                  <p:stCondLst>
                                    <p:cond delay="0"/>
                                  </p:stCondLst>
                                  <p:childTnLst>
                                    <p:set>
                                      <p:cBhvr>
                                        <p:cTn id="842" dur="1" fill="hold">
                                          <p:stCondLst>
                                            <p:cond delay="0"/>
                                          </p:stCondLst>
                                        </p:cTn>
                                        <p:tgtEl>
                                          <p:spTgt spid="2382230"/>
                                        </p:tgtEl>
                                        <p:attrNameLst>
                                          <p:attrName>style.visibility</p:attrName>
                                        </p:attrNameLst>
                                      </p:cBhvr>
                                      <p:to>
                                        <p:strVal val="visible"/>
                                      </p:to>
                                    </p:set>
                                    <p:animEffect transition="in" filter="wipe(left)">
                                      <p:cBhvr>
                                        <p:cTn id="843" dur="500"/>
                                        <p:tgtEl>
                                          <p:spTgt spid="2382230"/>
                                        </p:tgtEl>
                                      </p:cBhvr>
                                    </p:animEffect>
                                  </p:childTnLst>
                                </p:cTn>
                              </p:par>
                            </p:childTnLst>
                          </p:cTn>
                        </p:par>
                        <p:par>
                          <p:cTn id="844" fill="hold">
                            <p:stCondLst>
                              <p:cond delay="500"/>
                            </p:stCondLst>
                            <p:childTnLst>
                              <p:par>
                                <p:cTn id="845" presetID="22" presetClass="entr" presetSubtype="8" fill="hold" nodeType="afterEffect">
                                  <p:stCondLst>
                                    <p:cond delay="0"/>
                                  </p:stCondLst>
                                  <p:childTnLst>
                                    <p:set>
                                      <p:cBhvr>
                                        <p:cTn id="846" dur="1" fill="hold">
                                          <p:stCondLst>
                                            <p:cond delay="0"/>
                                          </p:stCondLst>
                                        </p:cTn>
                                        <p:tgtEl>
                                          <p:spTgt spid="2382231"/>
                                        </p:tgtEl>
                                        <p:attrNameLst>
                                          <p:attrName>style.visibility</p:attrName>
                                        </p:attrNameLst>
                                      </p:cBhvr>
                                      <p:to>
                                        <p:strVal val="visible"/>
                                      </p:to>
                                    </p:set>
                                    <p:animEffect transition="in" filter="wipe(left)">
                                      <p:cBhvr>
                                        <p:cTn id="847" dur="500"/>
                                        <p:tgtEl>
                                          <p:spTgt spid="2382231"/>
                                        </p:tgtEl>
                                      </p:cBhvr>
                                    </p:animEffect>
                                  </p:childTnLst>
                                </p:cTn>
                              </p:par>
                            </p:childTnLst>
                          </p:cTn>
                        </p:par>
                        <p:par>
                          <p:cTn id="848" fill="hold">
                            <p:stCondLst>
                              <p:cond delay="1000"/>
                            </p:stCondLst>
                            <p:childTnLst>
                              <p:par>
                                <p:cTn id="849" presetID="22" presetClass="entr" presetSubtype="4" fill="hold" nodeType="afterEffect">
                                  <p:stCondLst>
                                    <p:cond delay="0"/>
                                  </p:stCondLst>
                                  <p:childTnLst>
                                    <p:set>
                                      <p:cBhvr>
                                        <p:cTn id="850" dur="1" fill="hold">
                                          <p:stCondLst>
                                            <p:cond delay="0"/>
                                          </p:stCondLst>
                                        </p:cTn>
                                        <p:tgtEl>
                                          <p:spTgt spid="2382232"/>
                                        </p:tgtEl>
                                        <p:attrNameLst>
                                          <p:attrName>style.visibility</p:attrName>
                                        </p:attrNameLst>
                                      </p:cBhvr>
                                      <p:to>
                                        <p:strVal val="visible"/>
                                      </p:to>
                                    </p:set>
                                    <p:animEffect transition="in" filter="wipe(down)">
                                      <p:cBhvr>
                                        <p:cTn id="851" dur="500"/>
                                        <p:tgtEl>
                                          <p:spTgt spid="2382232"/>
                                        </p:tgtEl>
                                      </p:cBhvr>
                                    </p:animEffect>
                                  </p:childTnLst>
                                </p:cTn>
                              </p:par>
                            </p:childTnLst>
                          </p:cTn>
                        </p:par>
                        <p:par>
                          <p:cTn id="852" fill="hold">
                            <p:stCondLst>
                              <p:cond delay="1500"/>
                            </p:stCondLst>
                            <p:childTnLst>
                              <p:par>
                                <p:cTn id="853" presetID="22" presetClass="entr" presetSubtype="8" fill="hold" nodeType="afterEffect">
                                  <p:stCondLst>
                                    <p:cond delay="0"/>
                                  </p:stCondLst>
                                  <p:childTnLst>
                                    <p:set>
                                      <p:cBhvr>
                                        <p:cTn id="854" dur="1" fill="hold">
                                          <p:stCondLst>
                                            <p:cond delay="0"/>
                                          </p:stCondLst>
                                        </p:cTn>
                                        <p:tgtEl>
                                          <p:spTgt spid="2382233"/>
                                        </p:tgtEl>
                                        <p:attrNameLst>
                                          <p:attrName>style.visibility</p:attrName>
                                        </p:attrNameLst>
                                      </p:cBhvr>
                                      <p:to>
                                        <p:strVal val="visible"/>
                                      </p:to>
                                    </p:set>
                                    <p:animEffect transition="in" filter="wipe(left)">
                                      <p:cBhvr>
                                        <p:cTn id="855" dur="500"/>
                                        <p:tgtEl>
                                          <p:spTgt spid="2382233"/>
                                        </p:tgtEl>
                                      </p:cBhvr>
                                    </p:animEffect>
                                  </p:childTnLst>
                                </p:cTn>
                              </p:par>
                            </p:childTnLst>
                          </p:cTn>
                        </p:par>
                        <p:par>
                          <p:cTn id="856" fill="hold">
                            <p:stCondLst>
                              <p:cond delay="2000"/>
                            </p:stCondLst>
                            <p:childTnLst>
                              <p:par>
                                <p:cTn id="857" presetID="22" presetClass="entr" presetSubtype="4" fill="hold" nodeType="afterEffect">
                                  <p:stCondLst>
                                    <p:cond delay="0"/>
                                  </p:stCondLst>
                                  <p:childTnLst>
                                    <p:set>
                                      <p:cBhvr>
                                        <p:cTn id="858" dur="1" fill="hold">
                                          <p:stCondLst>
                                            <p:cond delay="0"/>
                                          </p:stCondLst>
                                        </p:cTn>
                                        <p:tgtEl>
                                          <p:spTgt spid="2382234"/>
                                        </p:tgtEl>
                                        <p:attrNameLst>
                                          <p:attrName>style.visibility</p:attrName>
                                        </p:attrNameLst>
                                      </p:cBhvr>
                                      <p:to>
                                        <p:strVal val="visible"/>
                                      </p:to>
                                    </p:set>
                                    <p:animEffect transition="in" filter="wipe(down)">
                                      <p:cBhvr>
                                        <p:cTn id="859" dur="500"/>
                                        <p:tgtEl>
                                          <p:spTgt spid="2382234"/>
                                        </p:tgtEl>
                                      </p:cBhvr>
                                    </p:animEffect>
                                  </p:childTnLst>
                                </p:cTn>
                              </p:par>
                            </p:childTnLst>
                          </p:cTn>
                        </p:par>
                        <p:par>
                          <p:cTn id="860" fill="hold">
                            <p:stCondLst>
                              <p:cond delay="2500"/>
                            </p:stCondLst>
                            <p:childTnLst>
                              <p:par>
                                <p:cTn id="861" presetID="22" presetClass="entr" presetSubtype="8" fill="hold" nodeType="afterEffect">
                                  <p:stCondLst>
                                    <p:cond delay="0"/>
                                  </p:stCondLst>
                                  <p:childTnLst>
                                    <p:set>
                                      <p:cBhvr>
                                        <p:cTn id="862" dur="1" fill="hold">
                                          <p:stCondLst>
                                            <p:cond delay="0"/>
                                          </p:stCondLst>
                                        </p:cTn>
                                        <p:tgtEl>
                                          <p:spTgt spid="2382235"/>
                                        </p:tgtEl>
                                        <p:attrNameLst>
                                          <p:attrName>style.visibility</p:attrName>
                                        </p:attrNameLst>
                                      </p:cBhvr>
                                      <p:to>
                                        <p:strVal val="visible"/>
                                      </p:to>
                                    </p:set>
                                    <p:animEffect transition="in" filter="wipe(left)">
                                      <p:cBhvr>
                                        <p:cTn id="863" dur="500"/>
                                        <p:tgtEl>
                                          <p:spTgt spid="2382235"/>
                                        </p:tgtEl>
                                      </p:cBhvr>
                                    </p:animEffect>
                                  </p:childTnLst>
                                </p:cTn>
                              </p:par>
                            </p:childTnLst>
                          </p:cTn>
                        </p:par>
                        <p:par>
                          <p:cTn id="864" fill="hold">
                            <p:stCondLst>
                              <p:cond delay="3000"/>
                            </p:stCondLst>
                            <p:childTnLst>
                              <p:par>
                                <p:cTn id="865" presetID="22" presetClass="entr" presetSubtype="2" fill="hold" nodeType="afterEffect">
                                  <p:stCondLst>
                                    <p:cond delay="0"/>
                                  </p:stCondLst>
                                  <p:childTnLst>
                                    <p:set>
                                      <p:cBhvr>
                                        <p:cTn id="866" dur="1" fill="hold">
                                          <p:stCondLst>
                                            <p:cond delay="0"/>
                                          </p:stCondLst>
                                        </p:cTn>
                                        <p:tgtEl>
                                          <p:spTgt spid="2382220"/>
                                        </p:tgtEl>
                                        <p:attrNameLst>
                                          <p:attrName>style.visibility</p:attrName>
                                        </p:attrNameLst>
                                      </p:cBhvr>
                                      <p:to>
                                        <p:strVal val="visible"/>
                                      </p:to>
                                    </p:set>
                                    <p:animEffect transition="in" filter="wipe(right)">
                                      <p:cBhvr>
                                        <p:cTn id="867" dur="500"/>
                                        <p:tgtEl>
                                          <p:spTgt spid="2382220"/>
                                        </p:tgtEl>
                                      </p:cBhvr>
                                    </p:animEffect>
                                  </p:childTnLst>
                                </p:cTn>
                              </p:par>
                            </p:childTnLst>
                          </p:cTn>
                        </p:par>
                        <p:par>
                          <p:cTn id="868" fill="hold">
                            <p:stCondLst>
                              <p:cond delay="3500"/>
                            </p:stCondLst>
                            <p:childTnLst>
                              <p:par>
                                <p:cTn id="869" presetID="22" presetClass="entr" presetSubtype="1" fill="hold" nodeType="afterEffect">
                                  <p:stCondLst>
                                    <p:cond delay="0"/>
                                  </p:stCondLst>
                                  <p:childTnLst>
                                    <p:set>
                                      <p:cBhvr>
                                        <p:cTn id="870" dur="1" fill="hold">
                                          <p:stCondLst>
                                            <p:cond delay="0"/>
                                          </p:stCondLst>
                                        </p:cTn>
                                        <p:tgtEl>
                                          <p:spTgt spid="2382221"/>
                                        </p:tgtEl>
                                        <p:attrNameLst>
                                          <p:attrName>style.visibility</p:attrName>
                                        </p:attrNameLst>
                                      </p:cBhvr>
                                      <p:to>
                                        <p:strVal val="visible"/>
                                      </p:to>
                                    </p:set>
                                    <p:animEffect transition="in" filter="wipe(up)">
                                      <p:cBhvr>
                                        <p:cTn id="871" dur="500"/>
                                        <p:tgtEl>
                                          <p:spTgt spid="2382221"/>
                                        </p:tgtEl>
                                      </p:cBhvr>
                                    </p:animEffect>
                                  </p:childTnLst>
                                </p:cTn>
                              </p:par>
                            </p:childTnLst>
                          </p:cTn>
                        </p:par>
                        <p:par>
                          <p:cTn id="872" fill="hold">
                            <p:stCondLst>
                              <p:cond delay="4000"/>
                            </p:stCondLst>
                            <p:childTnLst>
                              <p:par>
                                <p:cTn id="873" presetID="22" presetClass="entr" presetSubtype="1" fill="hold" nodeType="afterEffect">
                                  <p:stCondLst>
                                    <p:cond delay="0"/>
                                  </p:stCondLst>
                                  <p:childTnLst>
                                    <p:set>
                                      <p:cBhvr>
                                        <p:cTn id="874" dur="1" fill="hold">
                                          <p:stCondLst>
                                            <p:cond delay="0"/>
                                          </p:stCondLst>
                                        </p:cTn>
                                        <p:tgtEl>
                                          <p:spTgt spid="2382222"/>
                                        </p:tgtEl>
                                        <p:attrNameLst>
                                          <p:attrName>style.visibility</p:attrName>
                                        </p:attrNameLst>
                                      </p:cBhvr>
                                      <p:to>
                                        <p:strVal val="visible"/>
                                      </p:to>
                                    </p:set>
                                    <p:animEffect transition="in" filter="wipe(up)">
                                      <p:cBhvr>
                                        <p:cTn id="875" dur="500"/>
                                        <p:tgtEl>
                                          <p:spTgt spid="2382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2216" grpId="0" animBg="1"/>
      <p:bldP spid="2382122" grpId="0" animBg="1"/>
      <p:bldP spid="2382121" grpId="0" animBg="1"/>
      <p:bldP spid="58373" grpId="0" animBg="1"/>
      <p:bldP spid="2381836" grpId="0"/>
      <p:bldP spid="2381848" grpId="0" animBg="1"/>
      <p:bldP spid="2381858" grpId="0" animBg="1"/>
      <p:bldP spid="2381868" grpId="0" animBg="1"/>
      <p:bldP spid="2381878" grpId="0" animBg="1"/>
      <p:bldP spid="2381901" grpId="0" animBg="1"/>
      <p:bldP spid="2381914" grpId="0" animBg="1"/>
      <p:bldP spid="2381916" grpId="0" animBg="1"/>
      <p:bldP spid="2381917" grpId="0" animBg="1"/>
      <p:bldP spid="2381918" grpId="0" animBg="1"/>
      <p:bldP spid="2381919" grpId="0" animBg="1"/>
      <p:bldP spid="2381934" grpId="0"/>
      <p:bldP spid="2381935" grpId="0"/>
      <p:bldP spid="2381936" grpId="0"/>
      <p:bldP spid="2381937" grpId="0"/>
      <p:bldP spid="2381938" grpId="0"/>
      <p:bldP spid="2381939" grpId="0"/>
      <p:bldP spid="2381940" grpId="0"/>
      <p:bldP spid="2381941" grpId="0"/>
      <p:bldP spid="2381942" grpId="0"/>
      <p:bldP spid="2381943" grpId="0"/>
      <p:bldP spid="2381945" grpId="0"/>
      <p:bldP spid="2381949" grpId="0"/>
      <p:bldP spid="2381950" grpId="0"/>
      <p:bldP spid="2381951" grpId="0"/>
      <p:bldP spid="2381952" grpId="0"/>
      <p:bldP spid="2381953" grpId="0"/>
      <p:bldP spid="2381954" grpId="0"/>
      <p:bldP spid="2381955" grpId="0"/>
      <p:bldP spid="2381956" grpId="0"/>
      <p:bldP spid="2381957" grpId="0"/>
      <p:bldP spid="2381959" grpId="0"/>
      <p:bldP spid="2381963" grpId="0"/>
      <p:bldP spid="2381964" grpId="0"/>
      <p:bldP spid="2381965" grpId="0"/>
      <p:bldP spid="2381966" grpId="0"/>
      <p:bldP spid="2381967" grpId="0"/>
      <p:bldP spid="2381968" grpId="0"/>
      <p:bldP spid="2381969" grpId="0"/>
      <p:bldP spid="2381970" grpId="0"/>
      <p:bldP spid="2381971" grpId="0"/>
      <p:bldP spid="2381973" grpId="0"/>
      <p:bldP spid="2381977" grpId="0"/>
      <p:bldP spid="2381978" grpId="0"/>
      <p:bldP spid="2381979" grpId="0"/>
      <p:bldP spid="2381980" grpId="0"/>
      <p:bldP spid="2381981" grpId="0"/>
      <p:bldP spid="2381982" grpId="0"/>
      <p:bldP spid="2381983" grpId="0"/>
      <p:bldP spid="2381984" grpId="0"/>
      <p:bldP spid="2381985" grpId="0"/>
      <p:bldP spid="2381987" grpId="0"/>
      <p:bldP spid="2381991" grpId="0" animBg="1"/>
      <p:bldP spid="2381992" grpId="0" animBg="1"/>
      <p:bldP spid="2381993" grpId="0" animBg="1"/>
      <p:bldP spid="2381994" grpId="0" animBg="1"/>
      <p:bldP spid="2381995" grpId="0" animBg="1"/>
      <p:bldP spid="2381996" grpId="0" animBg="1"/>
      <p:bldP spid="2381998" grpId="0" animBg="1"/>
      <p:bldP spid="2381999" grpId="0" animBg="1"/>
      <p:bldP spid="2382001" grpId="0" animBg="1"/>
      <p:bldP spid="2382008" grpId="0" animBg="1"/>
      <p:bldP spid="2382009" grpId="0" animBg="1"/>
      <p:bldP spid="2382011" grpId="0" animBg="1"/>
      <p:bldP spid="2382012" grpId="0" animBg="1"/>
      <p:bldP spid="2382032" grpId="0"/>
      <p:bldP spid="2382033" grpId="0"/>
      <p:bldP spid="2382034" grpId="0"/>
      <p:bldP spid="2382035" grpId="0"/>
      <p:bldP spid="2382036" grpId="0"/>
      <p:bldP spid="2382037" grpId="0"/>
      <p:bldP spid="2382039" grpId="0"/>
      <p:bldP spid="2382040" grpId="0"/>
      <p:bldP spid="2382041" grpId="0"/>
      <p:bldP spid="2382042" grpId="0"/>
      <p:bldP spid="2382043" grpId="0"/>
      <p:bldP spid="2382044" grpId="0"/>
      <p:bldP spid="2382045" grpId="0"/>
      <p:bldP spid="2382046" grpId="0"/>
      <p:bldP spid="2382047" grpId="0"/>
      <p:bldP spid="2382048" grpId="0"/>
      <p:bldP spid="2382080" grpId="0"/>
      <p:bldP spid="2382081" grpId="0"/>
      <p:bldP spid="2382082" grpId="0"/>
      <p:bldP spid="2382083" grpId="0"/>
      <p:bldP spid="2382084" grpId="0"/>
      <p:bldP spid="2382085" grpId="0"/>
      <p:bldP spid="2382086" grpId="0"/>
      <p:bldP spid="2382087" grpId="0"/>
      <p:bldP spid="2382089" grpId="0"/>
      <p:bldP spid="2382090" grpId="0"/>
      <p:bldP spid="2382092" grpId="0" animBg="1"/>
      <p:bldP spid="2382094" grpId="0" animBg="1"/>
      <p:bldP spid="2382096" grpId="0" animBg="1"/>
      <p:bldP spid="2382097" grpId="0" animBg="1"/>
      <p:bldP spid="2382099" grpId="0" animBg="1"/>
      <p:bldP spid="2382114" grpId="0" animBg="1"/>
      <p:bldP spid="2382115" grpId="0"/>
      <p:bldP spid="2382116" grpId="0"/>
      <p:bldP spid="2382117" grpId="0"/>
      <p:bldP spid="2382118" grpId="0"/>
      <p:bldP spid="2382119" grpId="0"/>
      <p:bldP spid="2382120" grpId="0"/>
      <p:bldP spid="2382123" grpId="0"/>
      <p:bldP spid="2382124" grpId="0"/>
      <p:bldP spid="2382125" grpId="0"/>
      <p:bldP spid="2382126" grpId="0"/>
      <p:bldP spid="2382127" grpId="0"/>
      <p:bldP spid="2382128" grpId="0"/>
      <p:bldP spid="2382133" grpId="0"/>
      <p:bldP spid="2382195" grpId="0" animBg="1"/>
      <p:bldP spid="2382195" grpId="1" animBg="1"/>
      <p:bldP spid="2382196" grpId="0"/>
      <p:bldP spid="2382196" grpId="1"/>
      <p:bldP spid="2382225" grpId="0" animBg="1"/>
      <p:bldP spid="2382226" grpId="0"/>
      <p:bldP spid="2382239"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9394" name="Rectangle 2"/>
          <p:cNvSpPr/>
          <p:nvPr/>
        </p:nvSpPr>
        <p:spPr>
          <a:xfrm>
            <a:off x="71438" y="1312863"/>
            <a:ext cx="6802437" cy="490696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395" name="Rectangle 3"/>
          <p:cNvSpPr/>
          <p:nvPr/>
        </p:nvSpPr>
        <p:spPr>
          <a:xfrm>
            <a:off x="3421063" y="1622425"/>
            <a:ext cx="766762" cy="733425"/>
          </a:xfrm>
          <a:prstGeom prst="rect">
            <a:avLst/>
          </a:prstGeom>
          <a:solidFill>
            <a:srgbClr val="99CCFF"/>
          </a:solidFill>
          <a:ln w="9525" cap="flat" cmpd="sng">
            <a:solidFill>
              <a:srgbClr val="FF99CC"/>
            </a:solidFill>
            <a:prstDash val="dash"/>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9396" name="Rectangle 4"/>
          <p:cNvSpPr/>
          <p:nvPr/>
        </p:nvSpPr>
        <p:spPr>
          <a:xfrm>
            <a:off x="3128963" y="3101975"/>
            <a:ext cx="2220912" cy="377825"/>
          </a:xfrm>
          <a:prstGeom prst="rect">
            <a:avLst/>
          </a:prstGeom>
          <a:solidFill>
            <a:srgbClr val="99CCFF"/>
          </a:solidFill>
          <a:ln w="9525" cap="flat" cmpd="sng">
            <a:solidFill>
              <a:srgbClr val="FF00FF"/>
            </a:solidFill>
            <a:prstDash val="dash"/>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9397" name="AutoShape 5"/>
          <p:cNvSpPr/>
          <p:nvPr/>
        </p:nvSpPr>
        <p:spPr>
          <a:xfrm rot="5400000">
            <a:off x="4676775" y="1355725"/>
            <a:ext cx="744538" cy="803275"/>
          </a:xfrm>
          <a:prstGeom prst="triangle">
            <a:avLst>
              <a:gd name="adj" fmla="val 50000"/>
            </a:avLst>
          </a:prstGeom>
          <a:solidFill>
            <a:srgbClr val="FFCC99"/>
          </a:solidFill>
          <a:ln w="19050" cap="flat" cmpd="sng">
            <a:solidFill>
              <a:srgbClr val="000099"/>
            </a:solidFill>
            <a:prstDash val="solid"/>
            <a:miter/>
            <a:headEnd type="none" w="med" len="med"/>
            <a:tailEnd type="none" w="med" len="med"/>
          </a:ln>
        </p:spPr>
        <p:txBody>
          <a:bodyPr rot="10800000" vert="eaVert" anchor="ctr" anchorCtr="0">
            <a:spAutoFit/>
          </a:bodyPr>
          <a:p>
            <a:pPr algn="ctr" eaLnBrk="1" hangingPunct="1">
              <a:lnSpc>
                <a:spcPct val="90000"/>
              </a:lnSpc>
            </a:pPr>
            <a:r>
              <a:rPr lang="en-US" altLang="zh-CN" sz="2000" dirty="0">
                <a:latin typeface="Times New Roman" panose="02020603050405020304" pitchFamily="18" charset="0"/>
              </a:rPr>
              <a:t>A</a:t>
            </a:r>
            <a:endParaRPr lang="en-US" altLang="zh-CN" sz="2000" dirty="0">
              <a:latin typeface="Times New Roman" panose="02020603050405020304" pitchFamily="18" charset="0"/>
            </a:endParaRPr>
          </a:p>
        </p:txBody>
      </p:sp>
      <p:sp>
        <p:nvSpPr>
          <p:cNvPr id="59398" name="Text Box 6"/>
          <p:cNvSpPr txBox="1"/>
          <p:nvPr/>
        </p:nvSpPr>
        <p:spPr>
          <a:xfrm>
            <a:off x="4572000" y="1362075"/>
            <a:ext cx="325438" cy="754063"/>
          </a:xfrm>
          <a:prstGeom prst="rect">
            <a:avLst/>
          </a:prstGeom>
          <a:noFill/>
          <a:ln w="12700">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a:p>
            <a:pPr eaLnBrk="1" hangingPunct="1">
              <a:lnSpc>
                <a:spcPct val="90000"/>
              </a:lnSpc>
            </a:pPr>
            <a:endParaRPr lang="en-US" altLang="zh-CN" sz="1600" dirty="0">
              <a:latin typeface="Times New Roman" panose="02020603050405020304" pitchFamily="18" charset="0"/>
            </a:endParaRPr>
          </a:p>
          <a:p>
            <a:pPr eaLnBrk="1" hangingPunct="1">
              <a:lnSpc>
                <a:spcPct val="90000"/>
              </a:lnSpc>
            </a:pPr>
            <a:r>
              <a:rPr lang="en-US" altLang="zh-CN" sz="700" dirty="0">
                <a:latin typeface="Times New Roman" panose="02020603050405020304" pitchFamily="18" charset="0"/>
              </a:rPr>
              <a:t> </a:t>
            </a: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sp>
        <p:nvSpPr>
          <p:cNvPr id="59399" name="Rectangle 7"/>
          <p:cNvSpPr/>
          <p:nvPr/>
        </p:nvSpPr>
        <p:spPr>
          <a:xfrm>
            <a:off x="1300163" y="140335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59400" name="Line 8"/>
          <p:cNvSpPr/>
          <p:nvPr/>
        </p:nvSpPr>
        <p:spPr>
          <a:xfrm flipV="1">
            <a:off x="1560513" y="1708150"/>
            <a:ext cx="236537" cy="0"/>
          </a:xfrm>
          <a:prstGeom prst="line">
            <a:avLst/>
          </a:prstGeom>
          <a:ln w="9525" cap="flat" cmpd="sng">
            <a:solidFill>
              <a:srgbClr val="FF0000"/>
            </a:solidFill>
            <a:prstDash val="solid"/>
            <a:headEnd type="none" w="med" len="med"/>
            <a:tailEnd type="none" w="med" len="med"/>
          </a:ln>
        </p:spPr>
      </p:sp>
      <p:sp>
        <p:nvSpPr>
          <p:cNvPr id="59401" name="Line 9"/>
          <p:cNvSpPr/>
          <p:nvPr/>
        </p:nvSpPr>
        <p:spPr>
          <a:xfrm>
            <a:off x="1120775" y="1549400"/>
            <a:ext cx="179388" cy="0"/>
          </a:xfrm>
          <a:prstGeom prst="line">
            <a:avLst/>
          </a:prstGeom>
          <a:ln w="12700" cap="flat" cmpd="sng">
            <a:solidFill>
              <a:srgbClr val="000099"/>
            </a:solidFill>
            <a:prstDash val="solid"/>
            <a:headEnd type="none" w="med" len="med"/>
            <a:tailEnd type="none" w="med" len="med"/>
          </a:ln>
        </p:spPr>
      </p:sp>
      <p:sp>
        <p:nvSpPr>
          <p:cNvPr id="59402" name="Line 10"/>
          <p:cNvSpPr/>
          <p:nvPr/>
        </p:nvSpPr>
        <p:spPr>
          <a:xfrm>
            <a:off x="1120775" y="1649413"/>
            <a:ext cx="179388" cy="0"/>
          </a:xfrm>
          <a:prstGeom prst="line">
            <a:avLst/>
          </a:prstGeom>
          <a:ln w="12700" cap="flat" cmpd="sng">
            <a:solidFill>
              <a:srgbClr val="000099"/>
            </a:solidFill>
            <a:prstDash val="solid"/>
            <a:headEnd type="none" w="med" len="med"/>
            <a:tailEnd type="none" w="med" len="med"/>
          </a:ln>
        </p:spPr>
      </p:sp>
      <p:sp>
        <p:nvSpPr>
          <p:cNvPr id="59403" name="Line 11"/>
          <p:cNvSpPr/>
          <p:nvPr/>
        </p:nvSpPr>
        <p:spPr>
          <a:xfrm>
            <a:off x="1120775" y="1771650"/>
            <a:ext cx="179388" cy="0"/>
          </a:xfrm>
          <a:prstGeom prst="line">
            <a:avLst/>
          </a:prstGeom>
          <a:ln w="12700" cap="flat" cmpd="sng">
            <a:solidFill>
              <a:srgbClr val="000099"/>
            </a:solidFill>
            <a:prstDash val="solid"/>
            <a:headEnd type="none" w="med" len="med"/>
            <a:tailEnd type="none" w="med" len="med"/>
          </a:ln>
        </p:spPr>
      </p:sp>
      <p:sp>
        <p:nvSpPr>
          <p:cNvPr id="59404" name="Line 12"/>
          <p:cNvSpPr/>
          <p:nvPr/>
        </p:nvSpPr>
        <p:spPr>
          <a:xfrm>
            <a:off x="1120775" y="1878013"/>
            <a:ext cx="179388" cy="0"/>
          </a:xfrm>
          <a:prstGeom prst="line">
            <a:avLst/>
          </a:prstGeom>
          <a:ln w="12700" cap="flat" cmpd="sng">
            <a:solidFill>
              <a:srgbClr val="000099"/>
            </a:solidFill>
            <a:prstDash val="solid"/>
            <a:headEnd type="none" w="med" len="med"/>
            <a:tailEnd type="none" w="med" len="med"/>
          </a:ln>
        </p:spPr>
      </p:sp>
      <p:sp>
        <p:nvSpPr>
          <p:cNvPr id="59405" name="Line 13"/>
          <p:cNvSpPr/>
          <p:nvPr/>
        </p:nvSpPr>
        <p:spPr>
          <a:xfrm>
            <a:off x="1120775" y="2106613"/>
            <a:ext cx="179388" cy="0"/>
          </a:xfrm>
          <a:prstGeom prst="line">
            <a:avLst/>
          </a:prstGeom>
          <a:ln w="12700" cap="flat" cmpd="sng">
            <a:solidFill>
              <a:srgbClr val="000099"/>
            </a:solidFill>
            <a:prstDash val="solid"/>
            <a:headEnd type="none" w="med" len="med"/>
            <a:tailEnd type="none" w="med" len="med"/>
          </a:ln>
        </p:spPr>
      </p:sp>
      <p:sp>
        <p:nvSpPr>
          <p:cNvPr id="59406" name="Line 14"/>
          <p:cNvSpPr/>
          <p:nvPr/>
        </p:nvSpPr>
        <p:spPr>
          <a:xfrm>
            <a:off x="1120775" y="2220913"/>
            <a:ext cx="179388" cy="0"/>
          </a:xfrm>
          <a:prstGeom prst="line">
            <a:avLst/>
          </a:prstGeom>
          <a:ln w="12700" cap="flat" cmpd="sng">
            <a:solidFill>
              <a:srgbClr val="000099"/>
            </a:solidFill>
            <a:prstDash val="solid"/>
            <a:headEnd type="none" w="med" len="med"/>
            <a:tailEnd type="none" w="med" len="med"/>
          </a:ln>
        </p:spPr>
      </p:sp>
      <p:sp>
        <p:nvSpPr>
          <p:cNvPr id="59407" name="Line 15"/>
          <p:cNvSpPr/>
          <p:nvPr/>
        </p:nvSpPr>
        <p:spPr>
          <a:xfrm>
            <a:off x="1120775" y="2335213"/>
            <a:ext cx="179388" cy="0"/>
          </a:xfrm>
          <a:prstGeom prst="line">
            <a:avLst/>
          </a:prstGeom>
          <a:ln w="12700" cap="flat" cmpd="sng">
            <a:solidFill>
              <a:srgbClr val="000099"/>
            </a:solidFill>
            <a:prstDash val="solid"/>
            <a:headEnd type="none" w="med" len="med"/>
            <a:tailEnd type="none" w="med" len="med"/>
          </a:ln>
        </p:spPr>
      </p:sp>
      <p:sp>
        <p:nvSpPr>
          <p:cNvPr id="59408" name="Line 16"/>
          <p:cNvSpPr/>
          <p:nvPr/>
        </p:nvSpPr>
        <p:spPr>
          <a:xfrm>
            <a:off x="1120775" y="1992313"/>
            <a:ext cx="179388" cy="0"/>
          </a:xfrm>
          <a:prstGeom prst="line">
            <a:avLst/>
          </a:prstGeom>
          <a:ln w="12700" cap="flat" cmpd="sng">
            <a:solidFill>
              <a:srgbClr val="000099"/>
            </a:solidFill>
            <a:prstDash val="solid"/>
            <a:headEnd type="none" w="med" len="med"/>
            <a:tailEnd type="none" w="med" len="med"/>
          </a:ln>
        </p:spPr>
      </p:sp>
      <p:sp>
        <p:nvSpPr>
          <p:cNvPr id="59409" name="Rectangle 17"/>
          <p:cNvSpPr/>
          <p:nvPr/>
        </p:nvSpPr>
        <p:spPr>
          <a:xfrm>
            <a:off x="1301750" y="262890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59410" name="Line 18"/>
          <p:cNvSpPr/>
          <p:nvPr/>
        </p:nvSpPr>
        <p:spPr>
          <a:xfrm>
            <a:off x="1122363" y="2774950"/>
            <a:ext cx="179387" cy="0"/>
          </a:xfrm>
          <a:prstGeom prst="line">
            <a:avLst/>
          </a:prstGeom>
          <a:ln w="12700" cap="flat" cmpd="sng">
            <a:solidFill>
              <a:srgbClr val="000099"/>
            </a:solidFill>
            <a:prstDash val="solid"/>
            <a:headEnd type="none" w="med" len="med"/>
            <a:tailEnd type="none" w="med" len="med"/>
          </a:ln>
        </p:spPr>
      </p:sp>
      <p:sp>
        <p:nvSpPr>
          <p:cNvPr id="59411" name="Line 19"/>
          <p:cNvSpPr/>
          <p:nvPr/>
        </p:nvSpPr>
        <p:spPr>
          <a:xfrm>
            <a:off x="1122363" y="2873375"/>
            <a:ext cx="179387" cy="0"/>
          </a:xfrm>
          <a:prstGeom prst="line">
            <a:avLst/>
          </a:prstGeom>
          <a:ln w="12700" cap="flat" cmpd="sng">
            <a:solidFill>
              <a:srgbClr val="000099"/>
            </a:solidFill>
            <a:prstDash val="solid"/>
            <a:headEnd type="none" w="med" len="med"/>
            <a:tailEnd type="none" w="med" len="med"/>
          </a:ln>
        </p:spPr>
      </p:sp>
      <p:sp>
        <p:nvSpPr>
          <p:cNvPr id="59412" name="Line 20"/>
          <p:cNvSpPr/>
          <p:nvPr/>
        </p:nvSpPr>
        <p:spPr>
          <a:xfrm>
            <a:off x="1122363" y="2995613"/>
            <a:ext cx="179387" cy="0"/>
          </a:xfrm>
          <a:prstGeom prst="line">
            <a:avLst/>
          </a:prstGeom>
          <a:ln w="12700" cap="flat" cmpd="sng">
            <a:solidFill>
              <a:srgbClr val="000099"/>
            </a:solidFill>
            <a:prstDash val="solid"/>
            <a:headEnd type="none" w="med" len="med"/>
            <a:tailEnd type="none" w="med" len="med"/>
          </a:ln>
        </p:spPr>
      </p:sp>
      <p:sp>
        <p:nvSpPr>
          <p:cNvPr id="59413" name="Line 21"/>
          <p:cNvSpPr/>
          <p:nvPr/>
        </p:nvSpPr>
        <p:spPr>
          <a:xfrm>
            <a:off x="1122363" y="3101975"/>
            <a:ext cx="179387" cy="0"/>
          </a:xfrm>
          <a:prstGeom prst="line">
            <a:avLst/>
          </a:prstGeom>
          <a:ln w="12700" cap="flat" cmpd="sng">
            <a:solidFill>
              <a:srgbClr val="000099"/>
            </a:solidFill>
            <a:prstDash val="solid"/>
            <a:headEnd type="none" w="med" len="med"/>
            <a:tailEnd type="none" w="med" len="med"/>
          </a:ln>
        </p:spPr>
      </p:sp>
      <p:sp>
        <p:nvSpPr>
          <p:cNvPr id="59414" name="Line 22"/>
          <p:cNvSpPr/>
          <p:nvPr/>
        </p:nvSpPr>
        <p:spPr>
          <a:xfrm>
            <a:off x="1122363" y="3330575"/>
            <a:ext cx="179387" cy="0"/>
          </a:xfrm>
          <a:prstGeom prst="line">
            <a:avLst/>
          </a:prstGeom>
          <a:ln w="12700" cap="flat" cmpd="sng">
            <a:solidFill>
              <a:srgbClr val="000099"/>
            </a:solidFill>
            <a:prstDash val="solid"/>
            <a:headEnd type="none" w="med" len="med"/>
            <a:tailEnd type="none" w="med" len="med"/>
          </a:ln>
        </p:spPr>
      </p:sp>
      <p:sp>
        <p:nvSpPr>
          <p:cNvPr id="59415" name="Line 23"/>
          <p:cNvSpPr/>
          <p:nvPr/>
        </p:nvSpPr>
        <p:spPr>
          <a:xfrm>
            <a:off x="1122363" y="3444875"/>
            <a:ext cx="179387" cy="0"/>
          </a:xfrm>
          <a:prstGeom prst="line">
            <a:avLst/>
          </a:prstGeom>
          <a:ln w="12700" cap="flat" cmpd="sng">
            <a:solidFill>
              <a:srgbClr val="000099"/>
            </a:solidFill>
            <a:prstDash val="solid"/>
            <a:headEnd type="none" w="med" len="med"/>
            <a:tailEnd type="none" w="med" len="med"/>
          </a:ln>
        </p:spPr>
      </p:sp>
      <p:sp>
        <p:nvSpPr>
          <p:cNvPr id="59416" name="Line 24"/>
          <p:cNvSpPr/>
          <p:nvPr/>
        </p:nvSpPr>
        <p:spPr>
          <a:xfrm>
            <a:off x="1122363" y="3559175"/>
            <a:ext cx="179387" cy="0"/>
          </a:xfrm>
          <a:prstGeom prst="line">
            <a:avLst/>
          </a:prstGeom>
          <a:ln w="12700" cap="flat" cmpd="sng">
            <a:solidFill>
              <a:srgbClr val="000099"/>
            </a:solidFill>
            <a:prstDash val="solid"/>
            <a:headEnd type="none" w="med" len="med"/>
            <a:tailEnd type="none" w="med" len="med"/>
          </a:ln>
        </p:spPr>
      </p:sp>
      <p:sp>
        <p:nvSpPr>
          <p:cNvPr id="59417" name="Line 25"/>
          <p:cNvSpPr/>
          <p:nvPr/>
        </p:nvSpPr>
        <p:spPr>
          <a:xfrm>
            <a:off x="1122363" y="3216275"/>
            <a:ext cx="179387" cy="0"/>
          </a:xfrm>
          <a:prstGeom prst="line">
            <a:avLst/>
          </a:prstGeom>
          <a:ln w="12700" cap="flat" cmpd="sng">
            <a:solidFill>
              <a:srgbClr val="000099"/>
            </a:solidFill>
            <a:prstDash val="solid"/>
            <a:headEnd type="none" w="med" len="med"/>
            <a:tailEnd type="none" w="med" len="med"/>
          </a:ln>
        </p:spPr>
      </p:sp>
      <p:sp>
        <p:nvSpPr>
          <p:cNvPr id="59418" name="Rectangle 26"/>
          <p:cNvSpPr/>
          <p:nvPr/>
        </p:nvSpPr>
        <p:spPr>
          <a:xfrm>
            <a:off x="1301750" y="3867150"/>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59419" name="Line 27"/>
          <p:cNvSpPr/>
          <p:nvPr/>
        </p:nvSpPr>
        <p:spPr>
          <a:xfrm>
            <a:off x="1122363" y="4013200"/>
            <a:ext cx="179387" cy="0"/>
          </a:xfrm>
          <a:prstGeom prst="line">
            <a:avLst/>
          </a:prstGeom>
          <a:ln w="12700" cap="flat" cmpd="sng">
            <a:solidFill>
              <a:srgbClr val="000099"/>
            </a:solidFill>
            <a:prstDash val="solid"/>
            <a:headEnd type="none" w="med" len="med"/>
            <a:tailEnd type="none" w="med" len="med"/>
          </a:ln>
        </p:spPr>
      </p:sp>
      <p:sp>
        <p:nvSpPr>
          <p:cNvPr id="59420" name="Line 28"/>
          <p:cNvSpPr/>
          <p:nvPr/>
        </p:nvSpPr>
        <p:spPr>
          <a:xfrm>
            <a:off x="1122363" y="4111625"/>
            <a:ext cx="179387" cy="0"/>
          </a:xfrm>
          <a:prstGeom prst="line">
            <a:avLst/>
          </a:prstGeom>
          <a:ln w="12700" cap="flat" cmpd="sng">
            <a:solidFill>
              <a:srgbClr val="000099"/>
            </a:solidFill>
            <a:prstDash val="solid"/>
            <a:headEnd type="none" w="med" len="med"/>
            <a:tailEnd type="none" w="med" len="med"/>
          </a:ln>
        </p:spPr>
      </p:sp>
      <p:sp>
        <p:nvSpPr>
          <p:cNvPr id="59421" name="Line 29"/>
          <p:cNvSpPr/>
          <p:nvPr/>
        </p:nvSpPr>
        <p:spPr>
          <a:xfrm>
            <a:off x="1122363" y="4233863"/>
            <a:ext cx="179387" cy="0"/>
          </a:xfrm>
          <a:prstGeom prst="line">
            <a:avLst/>
          </a:prstGeom>
          <a:ln w="12700" cap="flat" cmpd="sng">
            <a:solidFill>
              <a:srgbClr val="000099"/>
            </a:solidFill>
            <a:prstDash val="solid"/>
            <a:headEnd type="none" w="med" len="med"/>
            <a:tailEnd type="none" w="med" len="med"/>
          </a:ln>
        </p:spPr>
      </p:sp>
      <p:sp>
        <p:nvSpPr>
          <p:cNvPr id="59422" name="Line 30"/>
          <p:cNvSpPr/>
          <p:nvPr/>
        </p:nvSpPr>
        <p:spPr>
          <a:xfrm>
            <a:off x="1122363" y="4340225"/>
            <a:ext cx="179387" cy="0"/>
          </a:xfrm>
          <a:prstGeom prst="line">
            <a:avLst/>
          </a:prstGeom>
          <a:ln w="12700" cap="flat" cmpd="sng">
            <a:solidFill>
              <a:srgbClr val="000099"/>
            </a:solidFill>
            <a:prstDash val="solid"/>
            <a:headEnd type="none" w="med" len="med"/>
            <a:tailEnd type="none" w="med" len="med"/>
          </a:ln>
        </p:spPr>
      </p:sp>
      <p:sp>
        <p:nvSpPr>
          <p:cNvPr id="59423" name="Line 31"/>
          <p:cNvSpPr/>
          <p:nvPr/>
        </p:nvSpPr>
        <p:spPr>
          <a:xfrm>
            <a:off x="1122363" y="4568825"/>
            <a:ext cx="179387" cy="0"/>
          </a:xfrm>
          <a:prstGeom prst="line">
            <a:avLst/>
          </a:prstGeom>
          <a:ln w="12700" cap="flat" cmpd="sng">
            <a:solidFill>
              <a:srgbClr val="000099"/>
            </a:solidFill>
            <a:prstDash val="solid"/>
            <a:headEnd type="none" w="med" len="med"/>
            <a:tailEnd type="none" w="med" len="med"/>
          </a:ln>
        </p:spPr>
      </p:sp>
      <p:sp>
        <p:nvSpPr>
          <p:cNvPr id="59424" name="Line 32"/>
          <p:cNvSpPr/>
          <p:nvPr/>
        </p:nvSpPr>
        <p:spPr>
          <a:xfrm>
            <a:off x="1122363" y="4683125"/>
            <a:ext cx="179387" cy="0"/>
          </a:xfrm>
          <a:prstGeom prst="line">
            <a:avLst/>
          </a:prstGeom>
          <a:ln w="12700" cap="flat" cmpd="sng">
            <a:solidFill>
              <a:srgbClr val="000099"/>
            </a:solidFill>
            <a:prstDash val="solid"/>
            <a:headEnd type="none" w="med" len="med"/>
            <a:tailEnd type="none" w="med" len="med"/>
          </a:ln>
        </p:spPr>
      </p:sp>
      <p:sp>
        <p:nvSpPr>
          <p:cNvPr id="59425" name="Line 33"/>
          <p:cNvSpPr/>
          <p:nvPr/>
        </p:nvSpPr>
        <p:spPr>
          <a:xfrm>
            <a:off x="1122363" y="4797425"/>
            <a:ext cx="179387" cy="0"/>
          </a:xfrm>
          <a:prstGeom prst="line">
            <a:avLst/>
          </a:prstGeom>
          <a:ln w="12700" cap="flat" cmpd="sng">
            <a:solidFill>
              <a:srgbClr val="000099"/>
            </a:solidFill>
            <a:prstDash val="solid"/>
            <a:headEnd type="none" w="med" len="med"/>
            <a:tailEnd type="none" w="med" len="med"/>
          </a:ln>
        </p:spPr>
      </p:sp>
      <p:sp>
        <p:nvSpPr>
          <p:cNvPr id="59426" name="Line 34"/>
          <p:cNvSpPr/>
          <p:nvPr/>
        </p:nvSpPr>
        <p:spPr>
          <a:xfrm>
            <a:off x="1122363" y="4454525"/>
            <a:ext cx="179387" cy="0"/>
          </a:xfrm>
          <a:prstGeom prst="line">
            <a:avLst/>
          </a:prstGeom>
          <a:ln w="12700" cap="flat" cmpd="sng">
            <a:solidFill>
              <a:srgbClr val="000099"/>
            </a:solidFill>
            <a:prstDash val="solid"/>
            <a:headEnd type="none" w="med" len="med"/>
            <a:tailEnd type="none" w="med" len="med"/>
          </a:ln>
        </p:spPr>
      </p:sp>
      <p:sp>
        <p:nvSpPr>
          <p:cNvPr id="59427" name="Rectangle 35"/>
          <p:cNvSpPr/>
          <p:nvPr/>
        </p:nvSpPr>
        <p:spPr>
          <a:xfrm>
            <a:off x="1301750" y="5114925"/>
            <a:ext cx="539750" cy="10795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endParaRPr lang="zh-CN" altLang="zh-CN" sz="900" b="0" dirty="0">
              <a:solidFill>
                <a:schemeClr val="tx1"/>
              </a:solidFill>
              <a:latin typeface="Times New Roman" panose="02020603050405020304" pitchFamily="18" charset="0"/>
              <a:ea typeface="宋体" panose="02010600030101010101" pitchFamily="2" charset="-122"/>
            </a:endParaRPr>
          </a:p>
        </p:txBody>
      </p:sp>
      <p:sp>
        <p:nvSpPr>
          <p:cNvPr id="59428" name="Line 36"/>
          <p:cNvSpPr/>
          <p:nvPr/>
        </p:nvSpPr>
        <p:spPr>
          <a:xfrm>
            <a:off x="1122363" y="5260975"/>
            <a:ext cx="179387" cy="0"/>
          </a:xfrm>
          <a:prstGeom prst="line">
            <a:avLst/>
          </a:prstGeom>
          <a:ln w="12700" cap="flat" cmpd="sng">
            <a:solidFill>
              <a:srgbClr val="000099"/>
            </a:solidFill>
            <a:prstDash val="solid"/>
            <a:headEnd type="none" w="med" len="med"/>
            <a:tailEnd type="none" w="med" len="med"/>
          </a:ln>
        </p:spPr>
      </p:sp>
      <p:sp>
        <p:nvSpPr>
          <p:cNvPr id="59429" name="Line 37"/>
          <p:cNvSpPr/>
          <p:nvPr/>
        </p:nvSpPr>
        <p:spPr>
          <a:xfrm>
            <a:off x="1122363" y="5359400"/>
            <a:ext cx="179387" cy="0"/>
          </a:xfrm>
          <a:prstGeom prst="line">
            <a:avLst/>
          </a:prstGeom>
          <a:ln w="12700" cap="flat" cmpd="sng">
            <a:solidFill>
              <a:srgbClr val="000099"/>
            </a:solidFill>
            <a:prstDash val="solid"/>
            <a:headEnd type="none" w="med" len="med"/>
            <a:tailEnd type="none" w="med" len="med"/>
          </a:ln>
        </p:spPr>
      </p:sp>
      <p:sp>
        <p:nvSpPr>
          <p:cNvPr id="59430" name="Line 38"/>
          <p:cNvSpPr/>
          <p:nvPr/>
        </p:nvSpPr>
        <p:spPr>
          <a:xfrm>
            <a:off x="1122363" y="5481638"/>
            <a:ext cx="179387" cy="0"/>
          </a:xfrm>
          <a:prstGeom prst="line">
            <a:avLst/>
          </a:prstGeom>
          <a:ln w="12700" cap="flat" cmpd="sng">
            <a:solidFill>
              <a:srgbClr val="000099"/>
            </a:solidFill>
            <a:prstDash val="solid"/>
            <a:headEnd type="none" w="med" len="med"/>
            <a:tailEnd type="none" w="med" len="med"/>
          </a:ln>
        </p:spPr>
      </p:sp>
      <p:sp>
        <p:nvSpPr>
          <p:cNvPr id="59431" name="Line 39"/>
          <p:cNvSpPr/>
          <p:nvPr/>
        </p:nvSpPr>
        <p:spPr>
          <a:xfrm>
            <a:off x="1122363" y="5588000"/>
            <a:ext cx="179387" cy="0"/>
          </a:xfrm>
          <a:prstGeom prst="line">
            <a:avLst/>
          </a:prstGeom>
          <a:ln w="12700" cap="flat" cmpd="sng">
            <a:solidFill>
              <a:srgbClr val="000099"/>
            </a:solidFill>
            <a:prstDash val="solid"/>
            <a:headEnd type="none" w="med" len="med"/>
            <a:tailEnd type="none" w="med" len="med"/>
          </a:ln>
        </p:spPr>
      </p:sp>
      <p:sp>
        <p:nvSpPr>
          <p:cNvPr id="59432" name="Line 40"/>
          <p:cNvSpPr/>
          <p:nvPr/>
        </p:nvSpPr>
        <p:spPr>
          <a:xfrm>
            <a:off x="1122363" y="5816600"/>
            <a:ext cx="179387" cy="0"/>
          </a:xfrm>
          <a:prstGeom prst="line">
            <a:avLst/>
          </a:prstGeom>
          <a:ln w="12700" cap="flat" cmpd="sng">
            <a:solidFill>
              <a:srgbClr val="000099"/>
            </a:solidFill>
            <a:prstDash val="solid"/>
            <a:headEnd type="none" w="med" len="med"/>
            <a:tailEnd type="none" w="med" len="med"/>
          </a:ln>
        </p:spPr>
      </p:sp>
      <p:sp>
        <p:nvSpPr>
          <p:cNvPr id="59433" name="Line 41"/>
          <p:cNvSpPr/>
          <p:nvPr/>
        </p:nvSpPr>
        <p:spPr>
          <a:xfrm>
            <a:off x="1122363" y="5930900"/>
            <a:ext cx="179387" cy="0"/>
          </a:xfrm>
          <a:prstGeom prst="line">
            <a:avLst/>
          </a:prstGeom>
          <a:ln w="12700" cap="flat" cmpd="sng">
            <a:solidFill>
              <a:srgbClr val="000099"/>
            </a:solidFill>
            <a:prstDash val="solid"/>
            <a:headEnd type="none" w="med" len="med"/>
            <a:tailEnd type="none" w="med" len="med"/>
          </a:ln>
        </p:spPr>
      </p:sp>
      <p:sp>
        <p:nvSpPr>
          <p:cNvPr id="59434" name="Line 42"/>
          <p:cNvSpPr/>
          <p:nvPr/>
        </p:nvSpPr>
        <p:spPr>
          <a:xfrm>
            <a:off x="1122363" y="6045200"/>
            <a:ext cx="179387" cy="0"/>
          </a:xfrm>
          <a:prstGeom prst="line">
            <a:avLst/>
          </a:prstGeom>
          <a:ln w="12700" cap="flat" cmpd="sng">
            <a:solidFill>
              <a:srgbClr val="000099"/>
            </a:solidFill>
            <a:prstDash val="solid"/>
            <a:headEnd type="none" w="med" len="med"/>
            <a:tailEnd type="none" w="med" len="med"/>
          </a:ln>
        </p:spPr>
      </p:sp>
      <p:sp>
        <p:nvSpPr>
          <p:cNvPr id="59435" name="Line 43"/>
          <p:cNvSpPr/>
          <p:nvPr/>
        </p:nvSpPr>
        <p:spPr>
          <a:xfrm>
            <a:off x="1122363" y="5702300"/>
            <a:ext cx="179387" cy="0"/>
          </a:xfrm>
          <a:prstGeom prst="line">
            <a:avLst/>
          </a:prstGeom>
          <a:ln w="12700" cap="flat" cmpd="sng">
            <a:solidFill>
              <a:srgbClr val="000099"/>
            </a:solidFill>
            <a:prstDash val="solid"/>
            <a:headEnd type="none" w="med" len="med"/>
            <a:tailEnd type="none" w="med" len="med"/>
          </a:ln>
        </p:spPr>
      </p:sp>
      <p:sp>
        <p:nvSpPr>
          <p:cNvPr id="59436" name="Line 44"/>
          <p:cNvSpPr/>
          <p:nvPr/>
        </p:nvSpPr>
        <p:spPr>
          <a:xfrm>
            <a:off x="1844675" y="2355850"/>
            <a:ext cx="266700" cy="0"/>
          </a:xfrm>
          <a:prstGeom prst="line">
            <a:avLst/>
          </a:prstGeom>
          <a:ln w="12700" cap="flat" cmpd="sng">
            <a:solidFill>
              <a:srgbClr val="000099"/>
            </a:solidFill>
            <a:prstDash val="solid"/>
            <a:headEnd type="none" w="med" len="med"/>
            <a:tailEnd type="none" w="med" len="med"/>
          </a:ln>
        </p:spPr>
      </p:sp>
      <p:sp>
        <p:nvSpPr>
          <p:cNvPr id="59437" name="Line 45"/>
          <p:cNvSpPr/>
          <p:nvPr/>
        </p:nvSpPr>
        <p:spPr>
          <a:xfrm>
            <a:off x="2106613" y="2355850"/>
            <a:ext cx="0" cy="3724275"/>
          </a:xfrm>
          <a:prstGeom prst="line">
            <a:avLst/>
          </a:prstGeom>
          <a:ln w="12700" cap="flat" cmpd="sng">
            <a:solidFill>
              <a:srgbClr val="000099"/>
            </a:solidFill>
            <a:prstDash val="solid"/>
            <a:headEnd type="none" w="med" len="med"/>
            <a:tailEnd type="none" w="med" len="med"/>
          </a:ln>
        </p:spPr>
      </p:sp>
      <p:sp>
        <p:nvSpPr>
          <p:cNvPr id="59438" name="Line 46"/>
          <p:cNvSpPr/>
          <p:nvPr/>
        </p:nvSpPr>
        <p:spPr>
          <a:xfrm flipV="1">
            <a:off x="1846263" y="2189163"/>
            <a:ext cx="433387" cy="0"/>
          </a:xfrm>
          <a:prstGeom prst="line">
            <a:avLst/>
          </a:prstGeom>
          <a:ln w="12700" cap="flat" cmpd="sng">
            <a:solidFill>
              <a:srgbClr val="000099"/>
            </a:solidFill>
            <a:prstDash val="solid"/>
            <a:headEnd type="none" w="med" len="med"/>
            <a:tailEnd type="none" w="med" len="med"/>
          </a:ln>
        </p:spPr>
      </p:sp>
      <p:sp>
        <p:nvSpPr>
          <p:cNvPr id="59439" name="Line 47"/>
          <p:cNvSpPr/>
          <p:nvPr/>
        </p:nvSpPr>
        <p:spPr>
          <a:xfrm flipH="1">
            <a:off x="2271713" y="2189163"/>
            <a:ext cx="3175" cy="3721100"/>
          </a:xfrm>
          <a:prstGeom prst="line">
            <a:avLst/>
          </a:prstGeom>
          <a:ln w="12700" cap="flat" cmpd="sng">
            <a:solidFill>
              <a:srgbClr val="000099"/>
            </a:solidFill>
            <a:prstDash val="solid"/>
            <a:headEnd type="none" w="med" len="med"/>
            <a:tailEnd type="none" w="med" len="med"/>
          </a:ln>
        </p:spPr>
      </p:sp>
      <p:sp>
        <p:nvSpPr>
          <p:cNvPr id="59440" name="Oval 48"/>
          <p:cNvSpPr/>
          <p:nvPr/>
        </p:nvSpPr>
        <p:spPr>
          <a:xfrm>
            <a:off x="1914525" y="149066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441" name="Line 49"/>
          <p:cNvSpPr/>
          <p:nvPr/>
        </p:nvSpPr>
        <p:spPr>
          <a:xfrm>
            <a:off x="1846263" y="2008188"/>
            <a:ext cx="611187" cy="0"/>
          </a:xfrm>
          <a:prstGeom prst="line">
            <a:avLst/>
          </a:prstGeom>
          <a:ln w="12700" cap="flat" cmpd="sng">
            <a:solidFill>
              <a:srgbClr val="000099"/>
            </a:solidFill>
            <a:prstDash val="solid"/>
            <a:headEnd type="none" w="med" len="med"/>
            <a:tailEnd type="none" w="med" len="med"/>
          </a:ln>
        </p:spPr>
      </p:sp>
      <p:sp>
        <p:nvSpPr>
          <p:cNvPr id="59442" name="Line 50"/>
          <p:cNvSpPr/>
          <p:nvPr/>
        </p:nvSpPr>
        <p:spPr>
          <a:xfrm flipH="1">
            <a:off x="2452688" y="2009775"/>
            <a:ext cx="3175" cy="3717925"/>
          </a:xfrm>
          <a:prstGeom prst="line">
            <a:avLst/>
          </a:prstGeom>
          <a:ln w="12700" cap="flat" cmpd="sng">
            <a:solidFill>
              <a:srgbClr val="000099"/>
            </a:solidFill>
            <a:prstDash val="solid"/>
            <a:headEnd type="none" w="med" len="med"/>
            <a:tailEnd type="none" w="med" len="med"/>
          </a:ln>
        </p:spPr>
      </p:sp>
      <p:sp>
        <p:nvSpPr>
          <p:cNvPr id="59443" name="Line 51"/>
          <p:cNvSpPr/>
          <p:nvPr/>
        </p:nvSpPr>
        <p:spPr>
          <a:xfrm>
            <a:off x="1847850" y="1525588"/>
            <a:ext cx="2794000" cy="0"/>
          </a:xfrm>
          <a:prstGeom prst="line">
            <a:avLst/>
          </a:prstGeom>
          <a:ln w="12700" cap="flat" cmpd="sng">
            <a:solidFill>
              <a:srgbClr val="000099"/>
            </a:solidFill>
            <a:prstDash val="solid"/>
            <a:headEnd type="none" w="med" len="med"/>
            <a:tailEnd type="none" w="med" len="med"/>
          </a:ln>
        </p:spPr>
      </p:sp>
      <p:sp>
        <p:nvSpPr>
          <p:cNvPr id="59444" name="Line 52"/>
          <p:cNvSpPr/>
          <p:nvPr/>
        </p:nvSpPr>
        <p:spPr>
          <a:xfrm>
            <a:off x="1841500" y="2763838"/>
            <a:ext cx="107950" cy="0"/>
          </a:xfrm>
          <a:prstGeom prst="line">
            <a:avLst/>
          </a:prstGeom>
          <a:ln w="12700" cap="flat" cmpd="sng">
            <a:solidFill>
              <a:srgbClr val="000099"/>
            </a:solidFill>
            <a:prstDash val="solid"/>
            <a:headEnd type="none" w="med" len="med"/>
            <a:tailEnd type="none" w="med" len="med"/>
          </a:ln>
        </p:spPr>
      </p:sp>
      <p:sp>
        <p:nvSpPr>
          <p:cNvPr id="59445" name="Line 53"/>
          <p:cNvSpPr/>
          <p:nvPr/>
        </p:nvSpPr>
        <p:spPr>
          <a:xfrm flipV="1">
            <a:off x="1947863" y="1531938"/>
            <a:ext cx="3175" cy="1233487"/>
          </a:xfrm>
          <a:prstGeom prst="line">
            <a:avLst/>
          </a:prstGeom>
          <a:ln w="12700" cap="flat" cmpd="sng">
            <a:solidFill>
              <a:srgbClr val="000099"/>
            </a:solidFill>
            <a:prstDash val="solid"/>
            <a:headEnd type="none" w="med" len="med"/>
            <a:tailEnd type="none" w="med" len="med"/>
          </a:ln>
        </p:spPr>
      </p:sp>
      <p:sp>
        <p:nvSpPr>
          <p:cNvPr id="59446" name="Line 54"/>
          <p:cNvSpPr/>
          <p:nvPr/>
        </p:nvSpPr>
        <p:spPr>
          <a:xfrm>
            <a:off x="1846263" y="3994150"/>
            <a:ext cx="1019175" cy="0"/>
          </a:xfrm>
          <a:prstGeom prst="line">
            <a:avLst/>
          </a:prstGeom>
          <a:ln w="12700" cap="flat" cmpd="sng">
            <a:solidFill>
              <a:srgbClr val="000099"/>
            </a:solidFill>
            <a:prstDash val="solid"/>
            <a:headEnd type="none" w="med" len="med"/>
            <a:tailEnd type="none" w="med" len="med"/>
          </a:ln>
        </p:spPr>
      </p:sp>
      <p:sp>
        <p:nvSpPr>
          <p:cNvPr id="59447" name="Rectangle 55"/>
          <p:cNvSpPr/>
          <p:nvPr/>
        </p:nvSpPr>
        <p:spPr>
          <a:xfrm>
            <a:off x="3848100" y="5102225"/>
            <a:ext cx="2354263" cy="584200"/>
          </a:xfrm>
          <a:prstGeom prst="rect">
            <a:avLst/>
          </a:prstGeom>
          <a:solidFill>
            <a:srgbClr val="FFCC99"/>
          </a:solidFill>
          <a:ln w="19050" cap="flat" cmpd="sng">
            <a:solidFill>
              <a:srgbClr val="000099"/>
            </a:solidFill>
            <a:prstDash val="solid"/>
            <a:miter/>
            <a:headEnd type="none" w="med" len="med"/>
            <a:tailEnd type="none" w="med" len="med"/>
          </a:ln>
        </p:spPr>
        <p:txBody>
          <a:bodyPr/>
          <a:p>
            <a:pPr algn="just"/>
            <a:r>
              <a:rPr lang="en-US" altLang="zh-CN" sz="1000" b="0" dirty="0">
                <a:solidFill>
                  <a:srgbClr val="FF0000"/>
                </a:solidFill>
                <a:latin typeface="Times New Roman" panose="02020603050405020304" pitchFamily="18" charset="0"/>
                <a:ea typeface="宋体" panose="02010600030101010101" pitchFamily="2" charset="-122"/>
              </a:rPr>
              <a:t>Q                                                             Q</a:t>
            </a:r>
            <a:endParaRPr lang="en-US" altLang="zh-CN" sz="1000" b="0" dirty="0">
              <a:solidFill>
                <a:srgbClr val="FF0000"/>
              </a:solidFill>
              <a:latin typeface="Times New Roman" panose="02020603050405020304" pitchFamily="18" charset="0"/>
              <a:ea typeface="宋体" panose="02010600030101010101" pitchFamily="2" charset="-122"/>
            </a:endParaRPr>
          </a:p>
          <a:p>
            <a:pPr algn="just"/>
            <a:r>
              <a:rPr lang="en-US" altLang="zh-CN" sz="1000" b="0" dirty="0">
                <a:solidFill>
                  <a:srgbClr val="FF0000"/>
                </a:solidFill>
                <a:latin typeface="Times New Roman" panose="02020603050405020304" pitchFamily="18" charset="0"/>
                <a:ea typeface="宋体" panose="02010600030101010101" pitchFamily="2" charset="-122"/>
              </a:rPr>
              <a:t>                          </a:t>
            </a:r>
            <a:r>
              <a:rPr lang="en-US" altLang="zh-CN" sz="1200" dirty="0">
                <a:solidFill>
                  <a:srgbClr val="000099"/>
                </a:solidFill>
                <a:latin typeface="Times New Roman" panose="02020603050405020304" pitchFamily="18" charset="0"/>
                <a:ea typeface="宋体" panose="02010600030101010101" pitchFamily="2" charset="-122"/>
              </a:rPr>
              <a:t>74LS273</a:t>
            </a:r>
            <a:endParaRPr lang="en-US" altLang="zh-CN" sz="1200" dirty="0">
              <a:solidFill>
                <a:srgbClr val="000099"/>
              </a:solidFill>
              <a:latin typeface="Times New Roman" panose="02020603050405020304" pitchFamily="18" charset="0"/>
              <a:ea typeface="宋体" panose="02010600030101010101" pitchFamily="2" charset="-122"/>
            </a:endParaRPr>
          </a:p>
          <a:p>
            <a:pPr algn="just"/>
            <a:r>
              <a:rPr lang="en-US" altLang="zh-CN" sz="1000" b="0" dirty="0">
                <a:solidFill>
                  <a:srgbClr val="FF0000"/>
                </a:solidFill>
                <a:latin typeface="Times New Roman" panose="02020603050405020304" pitchFamily="18" charset="0"/>
                <a:ea typeface="宋体" panose="02010600030101010101" pitchFamily="2" charset="-122"/>
              </a:rPr>
              <a:t>D                                                             D</a:t>
            </a:r>
            <a:endParaRPr lang="en-US" altLang="zh-CN" sz="1000" b="0" dirty="0">
              <a:solidFill>
                <a:srgbClr val="FF0000"/>
              </a:solidFill>
              <a:latin typeface="Times New Roman" panose="02020603050405020304" pitchFamily="18" charset="0"/>
              <a:ea typeface="宋体" panose="02010600030101010101" pitchFamily="2" charset="-122"/>
            </a:endParaRPr>
          </a:p>
        </p:txBody>
      </p:sp>
      <p:sp>
        <p:nvSpPr>
          <p:cNvPr id="59448" name="Line 56"/>
          <p:cNvSpPr/>
          <p:nvPr/>
        </p:nvSpPr>
        <p:spPr>
          <a:xfrm flipH="1" flipV="1">
            <a:off x="2863850" y="1981200"/>
            <a:ext cx="0" cy="2012950"/>
          </a:xfrm>
          <a:prstGeom prst="line">
            <a:avLst/>
          </a:prstGeom>
          <a:ln w="12700" cap="flat" cmpd="sng">
            <a:solidFill>
              <a:srgbClr val="000099"/>
            </a:solidFill>
            <a:prstDash val="solid"/>
            <a:headEnd type="none" w="med" len="med"/>
            <a:tailEnd type="none" w="med" len="med"/>
          </a:ln>
        </p:spPr>
      </p:sp>
      <p:sp>
        <p:nvSpPr>
          <p:cNvPr id="59449" name="Oval 57"/>
          <p:cNvSpPr/>
          <p:nvPr/>
        </p:nvSpPr>
        <p:spPr>
          <a:xfrm>
            <a:off x="3576638" y="1681163"/>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450" name="Oval 58"/>
          <p:cNvSpPr/>
          <p:nvPr/>
        </p:nvSpPr>
        <p:spPr>
          <a:xfrm>
            <a:off x="3578225" y="195580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451" name="Oval 59"/>
          <p:cNvSpPr/>
          <p:nvPr/>
        </p:nvSpPr>
        <p:spPr>
          <a:xfrm>
            <a:off x="3992563" y="223678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452" name="Oval 60"/>
          <p:cNvSpPr/>
          <p:nvPr/>
        </p:nvSpPr>
        <p:spPr>
          <a:xfrm>
            <a:off x="3994150" y="195580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453" name="Line 61"/>
          <p:cNvSpPr/>
          <p:nvPr/>
        </p:nvSpPr>
        <p:spPr>
          <a:xfrm>
            <a:off x="2863850" y="1987550"/>
            <a:ext cx="711200" cy="0"/>
          </a:xfrm>
          <a:prstGeom prst="line">
            <a:avLst/>
          </a:prstGeom>
          <a:ln w="12700" cap="flat" cmpd="sng">
            <a:solidFill>
              <a:srgbClr val="000099"/>
            </a:solidFill>
            <a:prstDash val="solid"/>
            <a:headEnd type="none" w="med" len="med"/>
            <a:tailEnd type="none" w="med" len="med"/>
          </a:ln>
        </p:spPr>
      </p:sp>
      <p:sp>
        <p:nvSpPr>
          <p:cNvPr id="59454" name="Line 62"/>
          <p:cNvSpPr/>
          <p:nvPr/>
        </p:nvSpPr>
        <p:spPr>
          <a:xfrm>
            <a:off x="1847850" y="5240338"/>
            <a:ext cx="107950" cy="0"/>
          </a:xfrm>
          <a:prstGeom prst="line">
            <a:avLst/>
          </a:prstGeom>
          <a:ln w="12700" cap="flat" cmpd="sng">
            <a:solidFill>
              <a:srgbClr val="000099"/>
            </a:solidFill>
            <a:prstDash val="solid"/>
            <a:headEnd type="none" w="med" len="med"/>
            <a:tailEnd type="none" w="med" len="med"/>
          </a:ln>
        </p:spPr>
      </p:sp>
      <p:sp>
        <p:nvSpPr>
          <p:cNvPr id="59455" name="Line 63"/>
          <p:cNvSpPr/>
          <p:nvPr/>
        </p:nvSpPr>
        <p:spPr>
          <a:xfrm flipV="1">
            <a:off x="1949450" y="3987800"/>
            <a:ext cx="0" cy="1250950"/>
          </a:xfrm>
          <a:prstGeom prst="line">
            <a:avLst/>
          </a:prstGeom>
          <a:ln w="12700" cap="flat" cmpd="sng">
            <a:solidFill>
              <a:srgbClr val="000099"/>
            </a:solidFill>
            <a:prstDash val="solid"/>
            <a:headEnd type="none" w="med" len="med"/>
            <a:tailEnd type="none" w="med" len="med"/>
          </a:ln>
        </p:spPr>
      </p:sp>
      <p:sp>
        <p:nvSpPr>
          <p:cNvPr id="2413632" name="Text Box 64"/>
          <p:cNvSpPr txBox="1">
            <a:spLocks noChangeArrowheads="1"/>
          </p:cNvSpPr>
          <p:nvPr/>
        </p:nvSpPr>
        <p:spPr bwMode="auto">
          <a:xfrm>
            <a:off x="2286000" y="0"/>
            <a:ext cx="4789488"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多路开关的配置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59457" name="Text Box 65"/>
          <p:cNvSpPr txBox="1"/>
          <p:nvPr/>
        </p:nvSpPr>
        <p:spPr>
          <a:xfrm>
            <a:off x="434975" y="577850"/>
            <a:ext cx="8220075" cy="76835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例子：</a:t>
            </a:r>
            <a:r>
              <a:rPr lang="zh-CN" altLang="en-US" sz="2400" dirty="0">
                <a:solidFill>
                  <a:schemeClr val="tx1"/>
                </a:solidFill>
                <a:latin typeface="黑体" panose="02010609060101010101" pitchFamily="49" charset="-122"/>
                <a:ea typeface="黑体" panose="02010609060101010101" pitchFamily="49" charset="-122"/>
              </a:rPr>
              <a:t>设计一个数据采集传输通道，要求单端接法时能提供</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5000"/>
              </a:lnSpc>
            </a:pPr>
            <a:r>
              <a:rPr lang="zh-CN" altLang="en-US"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tx1"/>
                </a:solidFill>
                <a:latin typeface="黑体" panose="02010609060101010101" pitchFamily="49" charset="-122"/>
                <a:ea typeface="黑体" panose="02010609060101010101" pitchFamily="49" charset="-122"/>
              </a:rPr>
              <a:t>32</a:t>
            </a:r>
            <a:r>
              <a:rPr lang="zh-CN" altLang="en-US" sz="2400" dirty="0">
                <a:solidFill>
                  <a:schemeClr val="tx1"/>
                </a:solidFill>
                <a:latin typeface="黑体" panose="02010609060101010101" pitchFamily="49" charset="-122"/>
                <a:ea typeface="黑体" panose="02010609060101010101" pitchFamily="49" charset="-122"/>
              </a:rPr>
              <a:t>条通道，双端接法时提供</a:t>
            </a:r>
            <a:r>
              <a:rPr lang="en-US" altLang="zh-CN" sz="2400" dirty="0">
                <a:solidFill>
                  <a:schemeClr val="tx1"/>
                </a:solidFill>
                <a:latin typeface="黑体" panose="02010609060101010101" pitchFamily="49" charset="-122"/>
                <a:ea typeface="黑体" panose="02010609060101010101" pitchFamily="49" charset="-122"/>
              </a:rPr>
              <a:t>16</a:t>
            </a:r>
            <a:r>
              <a:rPr lang="zh-CN" altLang="en-US" sz="2400" dirty="0">
                <a:solidFill>
                  <a:schemeClr val="tx1"/>
                </a:solidFill>
                <a:latin typeface="黑体" panose="02010609060101010101" pitchFamily="49" charset="-122"/>
                <a:ea typeface="黑体" panose="02010609060101010101" pitchFamily="49" charset="-122"/>
              </a:rPr>
              <a:t>条通道。</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59458" name="Text Box 66"/>
          <p:cNvSpPr txBox="1"/>
          <p:nvPr/>
        </p:nvSpPr>
        <p:spPr>
          <a:xfrm>
            <a:off x="1236663" y="14144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459" name="Text Box 67"/>
          <p:cNvSpPr txBox="1"/>
          <p:nvPr/>
        </p:nvSpPr>
        <p:spPr>
          <a:xfrm>
            <a:off x="1233488" y="22209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460" name="Text Box 68"/>
          <p:cNvSpPr txBox="1"/>
          <p:nvPr/>
        </p:nvSpPr>
        <p:spPr>
          <a:xfrm>
            <a:off x="757238" y="141128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461" name="Text Box 69"/>
          <p:cNvSpPr txBox="1"/>
          <p:nvPr/>
        </p:nvSpPr>
        <p:spPr>
          <a:xfrm>
            <a:off x="758825" y="22177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462" name="Text Box 70"/>
          <p:cNvSpPr txBox="1"/>
          <p:nvPr/>
        </p:nvSpPr>
        <p:spPr>
          <a:xfrm>
            <a:off x="1585913" y="14065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59463" name="Text Box 71"/>
          <p:cNvSpPr txBox="1"/>
          <p:nvPr/>
        </p:nvSpPr>
        <p:spPr>
          <a:xfrm>
            <a:off x="1466850" y="16637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59464" name="Text Box 72"/>
          <p:cNvSpPr txBox="1"/>
          <p:nvPr/>
        </p:nvSpPr>
        <p:spPr>
          <a:xfrm>
            <a:off x="1620838" y="22415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59465" name="Text Box 73"/>
          <p:cNvSpPr txBox="1"/>
          <p:nvPr/>
        </p:nvSpPr>
        <p:spPr>
          <a:xfrm>
            <a:off x="1617663" y="18954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59466" name="Text Box 74"/>
          <p:cNvSpPr txBox="1"/>
          <p:nvPr/>
        </p:nvSpPr>
        <p:spPr>
          <a:xfrm>
            <a:off x="1619250" y="20732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59467" name="Line 75"/>
          <p:cNvSpPr/>
          <p:nvPr/>
        </p:nvSpPr>
        <p:spPr>
          <a:xfrm>
            <a:off x="1846263" y="1771650"/>
            <a:ext cx="1430337" cy="0"/>
          </a:xfrm>
          <a:prstGeom prst="line">
            <a:avLst/>
          </a:prstGeom>
          <a:ln w="12700" cap="flat" cmpd="sng">
            <a:solidFill>
              <a:srgbClr val="000099"/>
            </a:solidFill>
            <a:prstDash val="solid"/>
            <a:headEnd type="none" w="med" len="med"/>
            <a:tailEnd type="none" w="med" len="med"/>
          </a:ln>
        </p:spPr>
      </p:sp>
      <p:sp>
        <p:nvSpPr>
          <p:cNvPr id="59468" name="Text Box 76"/>
          <p:cNvSpPr txBox="1"/>
          <p:nvPr/>
        </p:nvSpPr>
        <p:spPr>
          <a:xfrm>
            <a:off x="1404938" y="18748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1</a:t>
            </a:r>
            <a:endParaRPr lang="en-US" altLang="zh-CN" sz="1000" baseline="-25000" dirty="0">
              <a:solidFill>
                <a:srgbClr val="3333FF"/>
              </a:solidFill>
              <a:latin typeface="Times New Roman" panose="02020603050405020304" pitchFamily="18" charset="0"/>
            </a:endParaRPr>
          </a:p>
        </p:txBody>
      </p:sp>
      <p:sp>
        <p:nvSpPr>
          <p:cNvPr id="59469" name="Line 77"/>
          <p:cNvSpPr/>
          <p:nvPr/>
        </p:nvSpPr>
        <p:spPr>
          <a:xfrm>
            <a:off x="1844675" y="3594100"/>
            <a:ext cx="257175" cy="0"/>
          </a:xfrm>
          <a:prstGeom prst="line">
            <a:avLst/>
          </a:prstGeom>
          <a:ln w="12700" cap="flat" cmpd="sng">
            <a:solidFill>
              <a:srgbClr val="000099"/>
            </a:solidFill>
            <a:prstDash val="solid"/>
            <a:headEnd type="none" w="med" len="med"/>
            <a:tailEnd type="none" w="med" len="med"/>
          </a:ln>
        </p:spPr>
      </p:sp>
      <p:sp>
        <p:nvSpPr>
          <p:cNvPr id="59470" name="Line 78"/>
          <p:cNvSpPr/>
          <p:nvPr/>
        </p:nvSpPr>
        <p:spPr>
          <a:xfrm flipV="1">
            <a:off x="1836738" y="3427413"/>
            <a:ext cx="433387" cy="0"/>
          </a:xfrm>
          <a:prstGeom prst="line">
            <a:avLst/>
          </a:prstGeom>
          <a:ln w="12700" cap="flat" cmpd="sng">
            <a:solidFill>
              <a:srgbClr val="000099"/>
            </a:solidFill>
            <a:prstDash val="solid"/>
            <a:headEnd type="none" w="med" len="med"/>
            <a:tailEnd type="none" w="med" len="med"/>
          </a:ln>
        </p:spPr>
      </p:sp>
      <p:sp>
        <p:nvSpPr>
          <p:cNvPr id="59471" name="Line 79"/>
          <p:cNvSpPr/>
          <p:nvPr/>
        </p:nvSpPr>
        <p:spPr>
          <a:xfrm>
            <a:off x="1839913" y="3246438"/>
            <a:ext cx="611187" cy="0"/>
          </a:xfrm>
          <a:prstGeom prst="line">
            <a:avLst/>
          </a:prstGeom>
          <a:ln w="12700" cap="flat" cmpd="sng">
            <a:solidFill>
              <a:srgbClr val="000099"/>
            </a:solidFill>
            <a:prstDash val="solid"/>
            <a:headEnd type="none" w="med" len="med"/>
            <a:tailEnd type="none" w="med" len="med"/>
          </a:ln>
        </p:spPr>
      </p:sp>
      <p:sp>
        <p:nvSpPr>
          <p:cNvPr id="59472" name="Text Box 80"/>
          <p:cNvSpPr txBox="1"/>
          <p:nvPr/>
        </p:nvSpPr>
        <p:spPr>
          <a:xfrm>
            <a:off x="1230313" y="26527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473" name="Text Box 81"/>
          <p:cNvSpPr txBox="1"/>
          <p:nvPr/>
        </p:nvSpPr>
        <p:spPr>
          <a:xfrm>
            <a:off x="1227138" y="3459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474" name="Text Box 82"/>
          <p:cNvSpPr txBox="1"/>
          <p:nvPr/>
        </p:nvSpPr>
        <p:spPr>
          <a:xfrm>
            <a:off x="750888" y="26495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8</a:t>
            </a:r>
            <a:endParaRPr lang="en-US" altLang="zh-CN" sz="1000" baseline="-25000" dirty="0">
              <a:solidFill>
                <a:srgbClr val="FF0000"/>
              </a:solidFill>
              <a:latin typeface="Times New Roman" panose="02020603050405020304" pitchFamily="18" charset="0"/>
            </a:endParaRPr>
          </a:p>
        </p:txBody>
      </p:sp>
      <p:sp>
        <p:nvSpPr>
          <p:cNvPr id="59475" name="Text Box 83"/>
          <p:cNvSpPr txBox="1"/>
          <p:nvPr/>
        </p:nvSpPr>
        <p:spPr>
          <a:xfrm>
            <a:off x="752475" y="345598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15</a:t>
            </a:r>
            <a:endParaRPr lang="en-US" altLang="zh-CN" sz="1000" baseline="-25000" dirty="0">
              <a:solidFill>
                <a:srgbClr val="FF0000"/>
              </a:solidFill>
              <a:latin typeface="Times New Roman" panose="02020603050405020304" pitchFamily="18" charset="0"/>
            </a:endParaRPr>
          </a:p>
        </p:txBody>
      </p:sp>
      <p:sp>
        <p:nvSpPr>
          <p:cNvPr id="59476" name="Text Box 84"/>
          <p:cNvSpPr txBox="1"/>
          <p:nvPr/>
        </p:nvSpPr>
        <p:spPr>
          <a:xfrm>
            <a:off x="1579563" y="264477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59477" name="Text Box 85"/>
          <p:cNvSpPr txBox="1"/>
          <p:nvPr/>
        </p:nvSpPr>
        <p:spPr>
          <a:xfrm>
            <a:off x="1460500" y="290195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59478" name="Text Box 86"/>
          <p:cNvSpPr txBox="1"/>
          <p:nvPr/>
        </p:nvSpPr>
        <p:spPr>
          <a:xfrm>
            <a:off x="1614488" y="347980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59479" name="Text Box 87"/>
          <p:cNvSpPr txBox="1"/>
          <p:nvPr/>
        </p:nvSpPr>
        <p:spPr>
          <a:xfrm>
            <a:off x="1611313" y="313372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59480" name="Text Box 88"/>
          <p:cNvSpPr txBox="1"/>
          <p:nvPr/>
        </p:nvSpPr>
        <p:spPr>
          <a:xfrm>
            <a:off x="1612900" y="331152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59481" name="Line 89"/>
          <p:cNvSpPr/>
          <p:nvPr/>
        </p:nvSpPr>
        <p:spPr>
          <a:xfrm>
            <a:off x="1843088" y="3009900"/>
            <a:ext cx="2543175" cy="0"/>
          </a:xfrm>
          <a:prstGeom prst="line">
            <a:avLst/>
          </a:prstGeom>
          <a:ln w="12700" cap="flat" cmpd="sng">
            <a:solidFill>
              <a:srgbClr val="000099"/>
            </a:solidFill>
            <a:prstDash val="solid"/>
            <a:headEnd type="none" w="med" len="med"/>
            <a:tailEnd type="none" w="med" len="med"/>
          </a:ln>
        </p:spPr>
      </p:sp>
      <p:sp>
        <p:nvSpPr>
          <p:cNvPr id="59482" name="Text Box 90"/>
          <p:cNvSpPr txBox="1"/>
          <p:nvPr/>
        </p:nvSpPr>
        <p:spPr>
          <a:xfrm>
            <a:off x="1398588" y="311308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2</a:t>
            </a:r>
            <a:endParaRPr lang="en-US" altLang="zh-CN" sz="1000" baseline="-25000" dirty="0">
              <a:solidFill>
                <a:srgbClr val="3333FF"/>
              </a:solidFill>
              <a:latin typeface="Times New Roman" panose="02020603050405020304" pitchFamily="18" charset="0"/>
            </a:endParaRPr>
          </a:p>
        </p:txBody>
      </p:sp>
      <p:sp>
        <p:nvSpPr>
          <p:cNvPr id="59483" name="Line 91"/>
          <p:cNvSpPr/>
          <p:nvPr/>
        </p:nvSpPr>
        <p:spPr>
          <a:xfrm>
            <a:off x="1844675" y="4832350"/>
            <a:ext cx="2146300" cy="0"/>
          </a:xfrm>
          <a:prstGeom prst="line">
            <a:avLst/>
          </a:prstGeom>
          <a:ln w="12700" cap="flat" cmpd="sng">
            <a:solidFill>
              <a:srgbClr val="000099"/>
            </a:solidFill>
            <a:prstDash val="solid"/>
            <a:headEnd type="none" w="med" len="med"/>
            <a:tailEnd type="none" w="med" len="med"/>
          </a:ln>
        </p:spPr>
      </p:sp>
      <p:sp>
        <p:nvSpPr>
          <p:cNvPr id="59484" name="Line 92"/>
          <p:cNvSpPr/>
          <p:nvPr/>
        </p:nvSpPr>
        <p:spPr>
          <a:xfrm flipV="1">
            <a:off x="1836738" y="4665663"/>
            <a:ext cx="2446337" cy="0"/>
          </a:xfrm>
          <a:prstGeom prst="line">
            <a:avLst/>
          </a:prstGeom>
          <a:ln w="12700" cap="flat" cmpd="sng">
            <a:solidFill>
              <a:srgbClr val="000099"/>
            </a:solidFill>
            <a:prstDash val="solid"/>
            <a:headEnd type="none" w="med" len="med"/>
            <a:tailEnd type="none" w="med" len="med"/>
          </a:ln>
        </p:spPr>
      </p:sp>
      <p:sp>
        <p:nvSpPr>
          <p:cNvPr id="59485" name="Line 93"/>
          <p:cNvSpPr/>
          <p:nvPr/>
        </p:nvSpPr>
        <p:spPr>
          <a:xfrm>
            <a:off x="1839913" y="4484688"/>
            <a:ext cx="2732087" cy="0"/>
          </a:xfrm>
          <a:prstGeom prst="line">
            <a:avLst/>
          </a:prstGeom>
          <a:ln w="12700" cap="flat" cmpd="sng">
            <a:solidFill>
              <a:srgbClr val="000099"/>
            </a:solidFill>
            <a:prstDash val="solid"/>
            <a:headEnd type="none" w="med" len="med"/>
            <a:tailEnd type="none" w="med" len="med"/>
          </a:ln>
        </p:spPr>
      </p:sp>
      <p:sp>
        <p:nvSpPr>
          <p:cNvPr id="59486" name="Text Box 94"/>
          <p:cNvSpPr txBox="1"/>
          <p:nvPr/>
        </p:nvSpPr>
        <p:spPr>
          <a:xfrm>
            <a:off x="1230313" y="3890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487" name="Text Box 95"/>
          <p:cNvSpPr txBox="1"/>
          <p:nvPr/>
        </p:nvSpPr>
        <p:spPr>
          <a:xfrm>
            <a:off x="1227138" y="46974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488" name="Text Box 96"/>
          <p:cNvSpPr txBox="1"/>
          <p:nvPr/>
        </p:nvSpPr>
        <p:spPr>
          <a:xfrm>
            <a:off x="731838" y="3887788"/>
            <a:ext cx="4968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16</a:t>
            </a:r>
            <a:endParaRPr lang="en-US" altLang="zh-CN" sz="1000" baseline="-25000" dirty="0">
              <a:solidFill>
                <a:srgbClr val="FF0000"/>
              </a:solidFill>
              <a:latin typeface="Times New Roman" panose="02020603050405020304" pitchFamily="18" charset="0"/>
            </a:endParaRPr>
          </a:p>
        </p:txBody>
      </p:sp>
      <p:sp>
        <p:nvSpPr>
          <p:cNvPr id="59489" name="Text Box 97"/>
          <p:cNvSpPr txBox="1"/>
          <p:nvPr/>
        </p:nvSpPr>
        <p:spPr>
          <a:xfrm>
            <a:off x="752475" y="46942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23</a:t>
            </a:r>
            <a:endParaRPr lang="en-US" altLang="zh-CN" sz="1000" baseline="-25000" dirty="0">
              <a:solidFill>
                <a:srgbClr val="FF0000"/>
              </a:solidFill>
              <a:latin typeface="Times New Roman" panose="02020603050405020304" pitchFamily="18" charset="0"/>
            </a:endParaRPr>
          </a:p>
        </p:txBody>
      </p:sp>
      <p:sp>
        <p:nvSpPr>
          <p:cNvPr id="59490" name="Text Box 98"/>
          <p:cNvSpPr txBox="1"/>
          <p:nvPr/>
        </p:nvSpPr>
        <p:spPr>
          <a:xfrm>
            <a:off x="1579563" y="38830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59491" name="Text Box 99"/>
          <p:cNvSpPr txBox="1"/>
          <p:nvPr/>
        </p:nvSpPr>
        <p:spPr>
          <a:xfrm>
            <a:off x="1460500" y="41402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59492" name="Text Box 100"/>
          <p:cNvSpPr txBox="1"/>
          <p:nvPr/>
        </p:nvSpPr>
        <p:spPr>
          <a:xfrm>
            <a:off x="1614488" y="47180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59493" name="Text Box 101"/>
          <p:cNvSpPr txBox="1"/>
          <p:nvPr/>
        </p:nvSpPr>
        <p:spPr>
          <a:xfrm>
            <a:off x="1611313" y="43719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59494" name="Text Box 102"/>
          <p:cNvSpPr txBox="1"/>
          <p:nvPr/>
        </p:nvSpPr>
        <p:spPr>
          <a:xfrm>
            <a:off x="1612900" y="45497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59495" name="Line 103"/>
          <p:cNvSpPr/>
          <p:nvPr/>
        </p:nvSpPr>
        <p:spPr>
          <a:xfrm>
            <a:off x="1839913" y="4248150"/>
            <a:ext cx="1806575" cy="0"/>
          </a:xfrm>
          <a:prstGeom prst="line">
            <a:avLst/>
          </a:prstGeom>
          <a:ln w="12700" cap="flat" cmpd="sng">
            <a:solidFill>
              <a:srgbClr val="000099"/>
            </a:solidFill>
            <a:prstDash val="solid"/>
            <a:headEnd type="none" w="med" len="med"/>
            <a:tailEnd type="none" w="med" len="med"/>
          </a:ln>
        </p:spPr>
      </p:sp>
      <p:sp>
        <p:nvSpPr>
          <p:cNvPr id="59496" name="Text Box 104"/>
          <p:cNvSpPr txBox="1"/>
          <p:nvPr/>
        </p:nvSpPr>
        <p:spPr>
          <a:xfrm>
            <a:off x="1398588" y="43513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3</a:t>
            </a:r>
            <a:endParaRPr lang="en-US" altLang="zh-CN" sz="1000" baseline="-25000" dirty="0">
              <a:solidFill>
                <a:srgbClr val="3333FF"/>
              </a:solidFill>
              <a:latin typeface="Times New Roman" panose="02020603050405020304" pitchFamily="18" charset="0"/>
            </a:endParaRPr>
          </a:p>
        </p:txBody>
      </p:sp>
      <p:sp>
        <p:nvSpPr>
          <p:cNvPr id="59497" name="Line 105"/>
          <p:cNvSpPr/>
          <p:nvPr/>
        </p:nvSpPr>
        <p:spPr>
          <a:xfrm>
            <a:off x="1844675" y="6076950"/>
            <a:ext cx="263525" cy="0"/>
          </a:xfrm>
          <a:prstGeom prst="line">
            <a:avLst/>
          </a:prstGeom>
          <a:ln w="12700" cap="flat" cmpd="sng">
            <a:solidFill>
              <a:srgbClr val="000099"/>
            </a:solidFill>
            <a:prstDash val="solid"/>
            <a:headEnd type="none" w="med" len="med"/>
            <a:tailEnd type="none" w="med" len="med"/>
          </a:ln>
        </p:spPr>
      </p:sp>
      <p:sp>
        <p:nvSpPr>
          <p:cNvPr id="59498" name="Line 106"/>
          <p:cNvSpPr/>
          <p:nvPr/>
        </p:nvSpPr>
        <p:spPr>
          <a:xfrm flipV="1">
            <a:off x="1843088" y="5910263"/>
            <a:ext cx="433387" cy="0"/>
          </a:xfrm>
          <a:prstGeom prst="line">
            <a:avLst/>
          </a:prstGeom>
          <a:ln w="12700" cap="flat" cmpd="sng">
            <a:solidFill>
              <a:srgbClr val="000099"/>
            </a:solidFill>
            <a:prstDash val="solid"/>
            <a:headEnd type="none" w="med" len="med"/>
            <a:tailEnd type="none" w="med" len="med"/>
          </a:ln>
        </p:spPr>
      </p:sp>
      <p:sp>
        <p:nvSpPr>
          <p:cNvPr id="59499" name="Line 107"/>
          <p:cNvSpPr/>
          <p:nvPr/>
        </p:nvSpPr>
        <p:spPr>
          <a:xfrm>
            <a:off x="1843088" y="5729288"/>
            <a:ext cx="611187" cy="0"/>
          </a:xfrm>
          <a:prstGeom prst="line">
            <a:avLst/>
          </a:prstGeom>
          <a:ln w="12700" cap="flat" cmpd="sng">
            <a:solidFill>
              <a:srgbClr val="000099"/>
            </a:solidFill>
            <a:prstDash val="solid"/>
            <a:headEnd type="none" w="med" len="med"/>
            <a:tailEnd type="none" w="med" len="med"/>
          </a:ln>
        </p:spPr>
      </p:sp>
      <p:sp>
        <p:nvSpPr>
          <p:cNvPr id="59500" name="Text Box 108"/>
          <p:cNvSpPr txBox="1"/>
          <p:nvPr/>
        </p:nvSpPr>
        <p:spPr>
          <a:xfrm>
            <a:off x="1230313" y="51355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501" name="Text Box 109"/>
          <p:cNvSpPr txBox="1"/>
          <p:nvPr/>
        </p:nvSpPr>
        <p:spPr>
          <a:xfrm>
            <a:off x="1227138" y="59420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502" name="Text Box 110"/>
          <p:cNvSpPr txBox="1"/>
          <p:nvPr/>
        </p:nvSpPr>
        <p:spPr>
          <a:xfrm>
            <a:off x="744538" y="5132388"/>
            <a:ext cx="4841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24</a:t>
            </a:r>
            <a:endParaRPr lang="en-US" altLang="zh-CN" sz="1000" baseline="-25000" dirty="0">
              <a:solidFill>
                <a:srgbClr val="FF0000"/>
              </a:solidFill>
              <a:latin typeface="Times New Roman" panose="02020603050405020304" pitchFamily="18" charset="0"/>
            </a:endParaRPr>
          </a:p>
        </p:txBody>
      </p:sp>
      <p:sp>
        <p:nvSpPr>
          <p:cNvPr id="59503" name="Text Box 111"/>
          <p:cNvSpPr txBox="1"/>
          <p:nvPr/>
        </p:nvSpPr>
        <p:spPr>
          <a:xfrm>
            <a:off x="752475" y="5938838"/>
            <a:ext cx="4953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CH</a:t>
            </a:r>
            <a:r>
              <a:rPr lang="en-US" altLang="zh-CN" sz="1000" baseline="-25000" dirty="0">
                <a:solidFill>
                  <a:srgbClr val="FF0000"/>
                </a:solidFill>
                <a:latin typeface="Times New Roman" panose="02020603050405020304" pitchFamily="18" charset="0"/>
              </a:rPr>
              <a:t>31</a:t>
            </a:r>
            <a:endParaRPr lang="en-US" altLang="zh-CN" sz="1000" baseline="-25000" dirty="0">
              <a:solidFill>
                <a:srgbClr val="FF0000"/>
              </a:solidFill>
              <a:latin typeface="Times New Roman" panose="02020603050405020304" pitchFamily="18" charset="0"/>
            </a:endParaRPr>
          </a:p>
        </p:txBody>
      </p:sp>
      <p:sp>
        <p:nvSpPr>
          <p:cNvPr id="59504" name="Text Box 112"/>
          <p:cNvSpPr txBox="1"/>
          <p:nvPr/>
        </p:nvSpPr>
        <p:spPr>
          <a:xfrm>
            <a:off x="1579563" y="5127625"/>
            <a:ext cx="37623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S</a:t>
            </a:r>
            <a:r>
              <a:rPr lang="en-US" altLang="zh-CN" sz="1000" baseline="-25000" dirty="0">
                <a:solidFill>
                  <a:srgbClr val="FF0000"/>
                </a:solidFill>
                <a:latin typeface="Times New Roman" panose="02020603050405020304" pitchFamily="18" charset="0"/>
              </a:rPr>
              <a:t>m</a:t>
            </a:r>
            <a:endParaRPr lang="en-US" altLang="zh-CN" sz="1000" baseline="-25000" dirty="0">
              <a:solidFill>
                <a:srgbClr val="FF0000"/>
              </a:solidFill>
              <a:latin typeface="Times New Roman" panose="02020603050405020304" pitchFamily="18" charset="0"/>
            </a:endParaRPr>
          </a:p>
        </p:txBody>
      </p:sp>
      <p:sp>
        <p:nvSpPr>
          <p:cNvPr id="59505" name="Text Box 113"/>
          <p:cNvSpPr txBox="1"/>
          <p:nvPr/>
        </p:nvSpPr>
        <p:spPr>
          <a:xfrm>
            <a:off x="1460500" y="5384800"/>
            <a:ext cx="4572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endParaRPr lang="en-US" altLang="zh-CN" sz="1000" baseline="-25000" dirty="0">
              <a:solidFill>
                <a:srgbClr val="FF0000"/>
              </a:solidFill>
              <a:latin typeface="Times New Roman" panose="02020603050405020304" pitchFamily="18" charset="0"/>
            </a:endParaRPr>
          </a:p>
        </p:txBody>
      </p:sp>
      <p:sp>
        <p:nvSpPr>
          <p:cNvPr id="59506" name="Text Box 114"/>
          <p:cNvSpPr txBox="1"/>
          <p:nvPr/>
        </p:nvSpPr>
        <p:spPr>
          <a:xfrm>
            <a:off x="1614488" y="596265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59507" name="Text Box 115"/>
          <p:cNvSpPr txBox="1"/>
          <p:nvPr/>
        </p:nvSpPr>
        <p:spPr>
          <a:xfrm>
            <a:off x="1611313" y="56165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59508" name="Text Box 116"/>
          <p:cNvSpPr txBox="1"/>
          <p:nvPr/>
        </p:nvSpPr>
        <p:spPr>
          <a:xfrm>
            <a:off x="1612900" y="57943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59509" name="Line 117"/>
          <p:cNvSpPr/>
          <p:nvPr/>
        </p:nvSpPr>
        <p:spPr>
          <a:xfrm flipV="1">
            <a:off x="1839913" y="5492750"/>
            <a:ext cx="1292225" cy="0"/>
          </a:xfrm>
          <a:prstGeom prst="line">
            <a:avLst/>
          </a:prstGeom>
          <a:ln w="12700" cap="flat" cmpd="sng">
            <a:solidFill>
              <a:srgbClr val="000099"/>
            </a:solidFill>
            <a:prstDash val="solid"/>
            <a:headEnd type="none" w="med" len="med"/>
            <a:tailEnd type="none" w="med" len="med"/>
          </a:ln>
        </p:spPr>
      </p:sp>
      <p:sp>
        <p:nvSpPr>
          <p:cNvPr id="59510" name="Text Box 118"/>
          <p:cNvSpPr txBox="1"/>
          <p:nvPr/>
        </p:nvSpPr>
        <p:spPr>
          <a:xfrm>
            <a:off x="1398588" y="5595938"/>
            <a:ext cx="4333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3333FF"/>
                </a:solidFill>
                <a:latin typeface="Times New Roman" panose="02020603050405020304" pitchFamily="18" charset="0"/>
              </a:rPr>
              <a:t>U</a:t>
            </a:r>
            <a:r>
              <a:rPr lang="en-US" altLang="zh-CN" sz="1000" baseline="-25000" dirty="0">
                <a:solidFill>
                  <a:srgbClr val="3333FF"/>
                </a:solidFill>
                <a:latin typeface="Times New Roman" panose="02020603050405020304" pitchFamily="18" charset="0"/>
              </a:rPr>
              <a:t>4</a:t>
            </a:r>
            <a:endParaRPr lang="en-US" altLang="zh-CN" sz="1000" baseline="-25000" dirty="0">
              <a:solidFill>
                <a:srgbClr val="3333FF"/>
              </a:solidFill>
              <a:latin typeface="Times New Roman" panose="02020603050405020304" pitchFamily="18" charset="0"/>
            </a:endParaRPr>
          </a:p>
        </p:txBody>
      </p:sp>
      <p:sp>
        <p:nvSpPr>
          <p:cNvPr id="59511" name="Line 119"/>
          <p:cNvSpPr/>
          <p:nvPr/>
        </p:nvSpPr>
        <p:spPr>
          <a:xfrm flipV="1">
            <a:off x="1554163" y="2946400"/>
            <a:ext cx="236537" cy="0"/>
          </a:xfrm>
          <a:prstGeom prst="line">
            <a:avLst/>
          </a:prstGeom>
          <a:ln w="9525" cap="flat" cmpd="sng">
            <a:solidFill>
              <a:srgbClr val="FF0000"/>
            </a:solidFill>
            <a:prstDash val="solid"/>
            <a:headEnd type="none" w="med" len="med"/>
            <a:tailEnd type="none" w="med" len="med"/>
          </a:ln>
        </p:spPr>
      </p:sp>
      <p:sp>
        <p:nvSpPr>
          <p:cNvPr id="59512" name="Line 120"/>
          <p:cNvSpPr/>
          <p:nvPr/>
        </p:nvSpPr>
        <p:spPr>
          <a:xfrm flipV="1">
            <a:off x="1554163" y="4184650"/>
            <a:ext cx="236537" cy="0"/>
          </a:xfrm>
          <a:prstGeom prst="line">
            <a:avLst/>
          </a:prstGeom>
          <a:ln w="9525" cap="flat" cmpd="sng">
            <a:solidFill>
              <a:srgbClr val="FF0000"/>
            </a:solidFill>
            <a:prstDash val="solid"/>
            <a:headEnd type="none" w="med" len="med"/>
            <a:tailEnd type="none" w="med" len="med"/>
          </a:ln>
        </p:spPr>
      </p:sp>
      <p:sp>
        <p:nvSpPr>
          <p:cNvPr id="59513" name="Line 121"/>
          <p:cNvSpPr/>
          <p:nvPr/>
        </p:nvSpPr>
        <p:spPr>
          <a:xfrm flipV="1">
            <a:off x="1547813" y="5429250"/>
            <a:ext cx="236537" cy="0"/>
          </a:xfrm>
          <a:prstGeom prst="line">
            <a:avLst/>
          </a:prstGeom>
          <a:ln w="9525" cap="flat" cmpd="sng">
            <a:solidFill>
              <a:srgbClr val="FF0000"/>
            </a:solidFill>
            <a:prstDash val="solid"/>
            <a:headEnd type="none" w="med" len="med"/>
            <a:tailEnd type="none" w="med" len="med"/>
          </a:ln>
        </p:spPr>
      </p:sp>
      <p:sp>
        <p:nvSpPr>
          <p:cNvPr id="59514" name="Oval 122"/>
          <p:cNvSpPr/>
          <p:nvPr/>
        </p:nvSpPr>
        <p:spPr>
          <a:xfrm>
            <a:off x="2070100" y="35575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15" name="Oval 123"/>
          <p:cNvSpPr/>
          <p:nvPr/>
        </p:nvSpPr>
        <p:spPr>
          <a:xfrm>
            <a:off x="2235200" y="338931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16" name="Oval 124"/>
          <p:cNvSpPr/>
          <p:nvPr/>
        </p:nvSpPr>
        <p:spPr>
          <a:xfrm>
            <a:off x="2416175" y="32083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17" name="Oval 125"/>
          <p:cNvSpPr/>
          <p:nvPr/>
        </p:nvSpPr>
        <p:spPr>
          <a:xfrm>
            <a:off x="2070100" y="47958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18" name="Oval 126"/>
          <p:cNvSpPr/>
          <p:nvPr/>
        </p:nvSpPr>
        <p:spPr>
          <a:xfrm>
            <a:off x="2235200" y="4627563"/>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19" name="Oval 127"/>
          <p:cNvSpPr/>
          <p:nvPr/>
        </p:nvSpPr>
        <p:spPr>
          <a:xfrm>
            <a:off x="2416175" y="44465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20" name="Line 128"/>
          <p:cNvSpPr/>
          <p:nvPr/>
        </p:nvSpPr>
        <p:spPr>
          <a:xfrm flipV="1">
            <a:off x="5453063" y="1757363"/>
            <a:ext cx="433387" cy="0"/>
          </a:xfrm>
          <a:prstGeom prst="line">
            <a:avLst/>
          </a:prstGeom>
          <a:ln w="12700" cap="flat" cmpd="sng">
            <a:solidFill>
              <a:srgbClr val="000099"/>
            </a:solidFill>
            <a:prstDash val="solid"/>
            <a:headEnd type="none" w="med" len="med"/>
            <a:tailEnd type="none" w="med" len="med"/>
          </a:ln>
        </p:spPr>
      </p:sp>
      <p:sp>
        <p:nvSpPr>
          <p:cNvPr id="59521" name="Rectangle 129"/>
          <p:cNvSpPr/>
          <p:nvPr/>
        </p:nvSpPr>
        <p:spPr>
          <a:xfrm>
            <a:off x="5889625" y="1622425"/>
            <a:ext cx="882650" cy="269875"/>
          </a:xfrm>
          <a:prstGeom prst="rect">
            <a:avLst/>
          </a:prstGeom>
          <a:solidFill>
            <a:srgbClr val="FFCC99"/>
          </a:solidFill>
          <a:ln w="12700" cap="flat" cmpd="sng">
            <a:solidFill>
              <a:srgbClr val="000099"/>
            </a:solidFill>
            <a:prstDash val="solid"/>
            <a:miter/>
            <a:headEnd type="none" w="med" len="med"/>
            <a:tailEnd type="none" w="med" len="med"/>
          </a:ln>
        </p:spPr>
        <p:txBody>
          <a:bodyPr wrap="none" anchor="ctr" anchorCtr="0">
            <a:spAutoFit/>
          </a:bodyPr>
          <a:p>
            <a:pPr algn="ctr" eaLnBrk="1" hangingPunct="1">
              <a:lnSpc>
                <a:spcPct val="90000"/>
              </a:lnSpc>
            </a:pPr>
            <a:r>
              <a:rPr lang="zh-CN" altLang="en-US" sz="1200" dirty="0">
                <a:latin typeface="黑体" panose="02010609060101010101" pitchFamily="49" charset="-122"/>
                <a:ea typeface="黑体" panose="02010609060101010101" pitchFamily="49" charset="-122"/>
              </a:rPr>
              <a:t>采样</a:t>
            </a:r>
            <a:r>
              <a:rPr lang="en-US" altLang="zh-CN" sz="1200" dirty="0">
                <a:latin typeface="黑体" panose="02010609060101010101" pitchFamily="49" charset="-122"/>
                <a:ea typeface="黑体" panose="02010609060101010101" pitchFamily="49" charset="-122"/>
              </a:rPr>
              <a:t>/</a:t>
            </a:r>
            <a:r>
              <a:rPr lang="zh-CN" altLang="en-US" sz="1200" dirty="0">
                <a:latin typeface="黑体" panose="02010609060101010101" pitchFamily="49" charset="-122"/>
                <a:ea typeface="黑体" panose="02010609060101010101" pitchFamily="49" charset="-122"/>
              </a:rPr>
              <a:t>保持</a:t>
            </a:r>
            <a:endParaRPr lang="zh-CN" altLang="en-US" sz="1200" dirty="0">
              <a:latin typeface="黑体" panose="02010609060101010101" pitchFamily="49" charset="-122"/>
              <a:ea typeface="黑体" panose="02010609060101010101" pitchFamily="49" charset="-122"/>
            </a:endParaRPr>
          </a:p>
        </p:txBody>
      </p:sp>
      <p:sp>
        <p:nvSpPr>
          <p:cNvPr id="59522" name="Oval 130"/>
          <p:cNvSpPr/>
          <p:nvPr/>
        </p:nvSpPr>
        <p:spPr>
          <a:xfrm>
            <a:off x="1917700" y="39576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23" name="Line 131"/>
          <p:cNvSpPr/>
          <p:nvPr/>
        </p:nvSpPr>
        <p:spPr>
          <a:xfrm>
            <a:off x="4054475" y="1987550"/>
            <a:ext cx="596900" cy="0"/>
          </a:xfrm>
          <a:prstGeom prst="line">
            <a:avLst/>
          </a:prstGeom>
          <a:ln w="12700" cap="flat" cmpd="sng">
            <a:solidFill>
              <a:srgbClr val="000099"/>
            </a:solidFill>
            <a:prstDash val="solid"/>
            <a:headEnd type="none" w="med" len="med"/>
            <a:tailEnd type="none" w="med" len="med"/>
          </a:ln>
        </p:spPr>
      </p:sp>
      <p:sp>
        <p:nvSpPr>
          <p:cNvPr id="59524" name="Rectangle 132"/>
          <p:cNvSpPr/>
          <p:nvPr/>
        </p:nvSpPr>
        <p:spPr>
          <a:xfrm>
            <a:off x="4721225" y="2265363"/>
            <a:ext cx="463550" cy="120650"/>
          </a:xfrm>
          <a:prstGeom prst="rect">
            <a:avLst/>
          </a:prstGeom>
          <a:solidFill>
            <a:srgbClr val="FFCC99"/>
          </a:solidFill>
          <a:ln w="12700" cap="flat" cmpd="sng">
            <a:solidFill>
              <a:srgbClr val="000099"/>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25" name="Line 133"/>
          <p:cNvSpPr/>
          <p:nvPr/>
        </p:nvSpPr>
        <p:spPr>
          <a:xfrm flipH="1">
            <a:off x="4403725" y="2322513"/>
            <a:ext cx="317500" cy="0"/>
          </a:xfrm>
          <a:prstGeom prst="line">
            <a:avLst/>
          </a:prstGeom>
          <a:ln w="12700" cap="flat" cmpd="sng">
            <a:solidFill>
              <a:srgbClr val="000099"/>
            </a:solidFill>
            <a:prstDash val="solid"/>
            <a:headEnd type="none" w="med" len="med"/>
            <a:tailEnd type="none" w="med" len="med"/>
          </a:ln>
        </p:spPr>
      </p:sp>
      <p:sp>
        <p:nvSpPr>
          <p:cNvPr id="59526" name="Line 134"/>
          <p:cNvSpPr/>
          <p:nvPr/>
        </p:nvSpPr>
        <p:spPr>
          <a:xfrm flipH="1">
            <a:off x="5184775" y="2322513"/>
            <a:ext cx="425450" cy="0"/>
          </a:xfrm>
          <a:prstGeom prst="line">
            <a:avLst/>
          </a:prstGeom>
          <a:ln w="12700" cap="flat" cmpd="sng">
            <a:solidFill>
              <a:srgbClr val="000099"/>
            </a:solidFill>
            <a:prstDash val="solid"/>
            <a:headEnd type="none" w="med" len="med"/>
            <a:tailEnd type="none" w="med" len="med"/>
          </a:ln>
        </p:spPr>
      </p:sp>
      <p:sp>
        <p:nvSpPr>
          <p:cNvPr id="59527" name="Line 135"/>
          <p:cNvSpPr/>
          <p:nvPr/>
        </p:nvSpPr>
        <p:spPr>
          <a:xfrm flipV="1">
            <a:off x="4403725" y="1989138"/>
            <a:ext cx="0" cy="336550"/>
          </a:xfrm>
          <a:prstGeom prst="line">
            <a:avLst/>
          </a:prstGeom>
          <a:ln w="12700" cap="flat" cmpd="sng">
            <a:solidFill>
              <a:srgbClr val="000099"/>
            </a:solidFill>
            <a:prstDash val="solid"/>
            <a:headEnd type="none" w="med" len="med"/>
            <a:tailEnd type="none" w="med" len="med"/>
          </a:ln>
        </p:spPr>
      </p:sp>
      <p:sp>
        <p:nvSpPr>
          <p:cNvPr id="59528" name="Line 136"/>
          <p:cNvSpPr/>
          <p:nvPr/>
        </p:nvSpPr>
        <p:spPr>
          <a:xfrm flipV="1">
            <a:off x="5603875" y="1757363"/>
            <a:ext cx="0" cy="558800"/>
          </a:xfrm>
          <a:prstGeom prst="line">
            <a:avLst/>
          </a:prstGeom>
          <a:ln w="12700" cap="flat" cmpd="sng">
            <a:solidFill>
              <a:srgbClr val="000099"/>
            </a:solidFill>
            <a:prstDash val="solid"/>
            <a:headEnd type="none" w="med" len="med"/>
            <a:tailEnd type="none" w="med" len="med"/>
          </a:ln>
        </p:spPr>
      </p:sp>
      <p:sp>
        <p:nvSpPr>
          <p:cNvPr id="59529" name="Line 137"/>
          <p:cNvSpPr/>
          <p:nvPr/>
        </p:nvSpPr>
        <p:spPr>
          <a:xfrm flipV="1">
            <a:off x="4025900" y="2293938"/>
            <a:ext cx="0" cy="254000"/>
          </a:xfrm>
          <a:prstGeom prst="line">
            <a:avLst/>
          </a:prstGeom>
          <a:ln w="12700" cap="flat" cmpd="sng">
            <a:solidFill>
              <a:srgbClr val="000099"/>
            </a:solidFill>
            <a:prstDash val="solid"/>
            <a:headEnd type="none" w="med" len="med"/>
            <a:tailEnd type="none" w="med" len="med"/>
          </a:ln>
        </p:spPr>
      </p:sp>
      <p:sp>
        <p:nvSpPr>
          <p:cNvPr id="59530" name="Line 138"/>
          <p:cNvSpPr/>
          <p:nvPr/>
        </p:nvSpPr>
        <p:spPr>
          <a:xfrm flipH="1">
            <a:off x="3867150" y="2544763"/>
            <a:ext cx="317500" cy="0"/>
          </a:xfrm>
          <a:prstGeom prst="line">
            <a:avLst/>
          </a:prstGeom>
          <a:ln w="12700" cap="flat" cmpd="sng">
            <a:solidFill>
              <a:srgbClr val="000099"/>
            </a:solidFill>
            <a:prstDash val="solid"/>
            <a:headEnd type="none" w="med" len="med"/>
            <a:tailEnd type="none" w="med" len="med"/>
          </a:ln>
        </p:spPr>
      </p:sp>
      <p:sp>
        <p:nvSpPr>
          <p:cNvPr id="59531" name="Oval 139"/>
          <p:cNvSpPr/>
          <p:nvPr/>
        </p:nvSpPr>
        <p:spPr>
          <a:xfrm>
            <a:off x="4368800" y="19510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32" name="Oval 140"/>
          <p:cNvSpPr/>
          <p:nvPr/>
        </p:nvSpPr>
        <p:spPr>
          <a:xfrm>
            <a:off x="5568950" y="172243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33" name="Line 141"/>
          <p:cNvSpPr/>
          <p:nvPr/>
        </p:nvSpPr>
        <p:spPr>
          <a:xfrm flipV="1">
            <a:off x="3609975" y="1522413"/>
            <a:ext cx="0" cy="155575"/>
          </a:xfrm>
          <a:prstGeom prst="line">
            <a:avLst/>
          </a:prstGeom>
          <a:ln w="12700" cap="flat" cmpd="sng">
            <a:solidFill>
              <a:srgbClr val="000099"/>
            </a:solidFill>
            <a:prstDash val="solid"/>
            <a:headEnd type="none" w="med" len="med"/>
            <a:tailEnd type="none" w="med" len="med"/>
          </a:ln>
        </p:spPr>
      </p:sp>
      <p:sp>
        <p:nvSpPr>
          <p:cNvPr id="59534" name="Oval 142"/>
          <p:cNvSpPr/>
          <p:nvPr/>
        </p:nvSpPr>
        <p:spPr>
          <a:xfrm>
            <a:off x="3575050" y="1487488"/>
            <a:ext cx="71438" cy="71437"/>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35" name="Oval 143"/>
          <p:cNvSpPr/>
          <p:nvPr/>
        </p:nvSpPr>
        <p:spPr>
          <a:xfrm>
            <a:off x="3244850" y="318928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36" name="Line 144"/>
          <p:cNvSpPr/>
          <p:nvPr/>
        </p:nvSpPr>
        <p:spPr>
          <a:xfrm flipV="1">
            <a:off x="4283075" y="5686425"/>
            <a:ext cx="0" cy="168275"/>
          </a:xfrm>
          <a:prstGeom prst="line">
            <a:avLst/>
          </a:prstGeom>
          <a:ln w="12700" cap="flat" cmpd="sng">
            <a:solidFill>
              <a:srgbClr val="000099"/>
            </a:solidFill>
            <a:prstDash val="solid"/>
            <a:headEnd type="none" w="med" len="med"/>
            <a:tailEnd type="none" w="med" len="med"/>
          </a:ln>
        </p:spPr>
      </p:sp>
      <p:sp>
        <p:nvSpPr>
          <p:cNvPr id="59537" name="Line 145"/>
          <p:cNvSpPr/>
          <p:nvPr/>
        </p:nvSpPr>
        <p:spPr>
          <a:xfrm flipV="1">
            <a:off x="5156200" y="5691188"/>
            <a:ext cx="0" cy="168275"/>
          </a:xfrm>
          <a:prstGeom prst="line">
            <a:avLst/>
          </a:prstGeom>
          <a:ln w="12700" cap="flat" cmpd="sng">
            <a:solidFill>
              <a:srgbClr val="000099"/>
            </a:solidFill>
            <a:prstDash val="solid"/>
            <a:headEnd type="none" w="med" len="med"/>
            <a:tailEnd type="none" w="med" len="med"/>
          </a:ln>
        </p:spPr>
      </p:sp>
      <p:sp>
        <p:nvSpPr>
          <p:cNvPr id="59538" name="Line 146"/>
          <p:cNvSpPr/>
          <p:nvPr/>
        </p:nvSpPr>
        <p:spPr>
          <a:xfrm flipV="1">
            <a:off x="6029325" y="5689600"/>
            <a:ext cx="0" cy="168275"/>
          </a:xfrm>
          <a:prstGeom prst="line">
            <a:avLst/>
          </a:prstGeom>
          <a:ln w="12700" cap="flat" cmpd="sng">
            <a:solidFill>
              <a:srgbClr val="000099"/>
            </a:solidFill>
            <a:prstDash val="solid"/>
            <a:headEnd type="none" w="med" len="med"/>
            <a:tailEnd type="none" w="med" len="med"/>
          </a:ln>
        </p:spPr>
      </p:sp>
      <p:sp>
        <p:nvSpPr>
          <p:cNvPr id="59539" name="Line 147"/>
          <p:cNvSpPr/>
          <p:nvPr/>
        </p:nvSpPr>
        <p:spPr>
          <a:xfrm flipV="1">
            <a:off x="6029325" y="4929188"/>
            <a:ext cx="0" cy="168275"/>
          </a:xfrm>
          <a:prstGeom prst="line">
            <a:avLst/>
          </a:prstGeom>
          <a:ln w="12700" cap="flat" cmpd="sng">
            <a:solidFill>
              <a:srgbClr val="000099"/>
            </a:solidFill>
            <a:prstDash val="solid"/>
            <a:headEnd type="none" w="med" len="med"/>
            <a:tailEnd type="none" w="med" len="med"/>
          </a:ln>
        </p:spPr>
      </p:sp>
      <p:sp>
        <p:nvSpPr>
          <p:cNvPr id="59540" name="Text Box 148"/>
          <p:cNvSpPr txBox="1"/>
          <p:nvPr/>
        </p:nvSpPr>
        <p:spPr>
          <a:xfrm>
            <a:off x="37925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59541" name="Text Box 149"/>
          <p:cNvSpPr txBox="1"/>
          <p:nvPr/>
        </p:nvSpPr>
        <p:spPr>
          <a:xfrm>
            <a:off x="40846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59542" name="Text Box 150"/>
          <p:cNvSpPr txBox="1"/>
          <p:nvPr/>
        </p:nvSpPr>
        <p:spPr>
          <a:xfrm>
            <a:off x="43767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543" name="Text Box 151"/>
          <p:cNvSpPr txBox="1"/>
          <p:nvPr/>
        </p:nvSpPr>
        <p:spPr>
          <a:xfrm>
            <a:off x="46624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8</a:t>
            </a:r>
            <a:endParaRPr lang="en-US" altLang="zh-CN" sz="1000" baseline="-25000" dirty="0">
              <a:solidFill>
                <a:srgbClr val="FF0000"/>
              </a:solidFill>
              <a:latin typeface="Times New Roman" panose="02020603050405020304" pitchFamily="18" charset="0"/>
            </a:endParaRPr>
          </a:p>
        </p:txBody>
      </p:sp>
      <p:sp>
        <p:nvSpPr>
          <p:cNvPr id="59544" name="Text Box 152"/>
          <p:cNvSpPr txBox="1"/>
          <p:nvPr/>
        </p:nvSpPr>
        <p:spPr>
          <a:xfrm>
            <a:off x="489743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13</a:t>
            </a:r>
            <a:endParaRPr lang="en-US" altLang="zh-CN" sz="1000" baseline="-25000" dirty="0">
              <a:solidFill>
                <a:srgbClr val="FF0000"/>
              </a:solidFill>
              <a:latin typeface="Times New Roman" panose="02020603050405020304" pitchFamily="18" charset="0"/>
            </a:endParaRPr>
          </a:p>
        </p:txBody>
      </p:sp>
      <p:sp>
        <p:nvSpPr>
          <p:cNvPr id="59545" name="Text Box 153"/>
          <p:cNvSpPr txBox="1"/>
          <p:nvPr/>
        </p:nvSpPr>
        <p:spPr>
          <a:xfrm>
            <a:off x="51958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14</a:t>
            </a:r>
            <a:endParaRPr lang="en-US" altLang="zh-CN" sz="1000" baseline="-25000" dirty="0">
              <a:solidFill>
                <a:srgbClr val="FF0000"/>
              </a:solidFill>
              <a:latin typeface="Times New Roman" panose="02020603050405020304" pitchFamily="18" charset="0"/>
            </a:endParaRPr>
          </a:p>
        </p:txBody>
      </p:sp>
      <p:sp>
        <p:nvSpPr>
          <p:cNvPr id="59546" name="Text Box 154"/>
          <p:cNvSpPr txBox="1"/>
          <p:nvPr/>
        </p:nvSpPr>
        <p:spPr>
          <a:xfrm>
            <a:off x="54879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17</a:t>
            </a:r>
            <a:endParaRPr lang="en-US" altLang="zh-CN" sz="1000" baseline="-25000" dirty="0">
              <a:solidFill>
                <a:srgbClr val="FF0000"/>
              </a:solidFill>
              <a:latin typeface="Times New Roman" panose="02020603050405020304" pitchFamily="18" charset="0"/>
            </a:endParaRPr>
          </a:p>
        </p:txBody>
      </p:sp>
      <p:sp>
        <p:nvSpPr>
          <p:cNvPr id="59547" name="Text Box 155"/>
          <p:cNvSpPr txBox="1"/>
          <p:nvPr/>
        </p:nvSpPr>
        <p:spPr>
          <a:xfrm>
            <a:off x="5780088" y="566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18</a:t>
            </a:r>
            <a:endParaRPr lang="en-US" altLang="zh-CN" sz="1000" baseline="-25000" dirty="0">
              <a:solidFill>
                <a:srgbClr val="FF0000"/>
              </a:solidFill>
              <a:latin typeface="Times New Roman" panose="02020603050405020304" pitchFamily="18" charset="0"/>
            </a:endParaRPr>
          </a:p>
        </p:txBody>
      </p:sp>
      <p:sp>
        <p:nvSpPr>
          <p:cNvPr id="59548" name="Text Box 156"/>
          <p:cNvSpPr txBox="1"/>
          <p:nvPr/>
        </p:nvSpPr>
        <p:spPr>
          <a:xfrm>
            <a:off x="37988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59549" name="Text Box 157"/>
          <p:cNvSpPr txBox="1"/>
          <p:nvPr/>
        </p:nvSpPr>
        <p:spPr>
          <a:xfrm>
            <a:off x="40909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59550" name="Text Box 158"/>
          <p:cNvSpPr txBox="1"/>
          <p:nvPr/>
        </p:nvSpPr>
        <p:spPr>
          <a:xfrm>
            <a:off x="43830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59551" name="Text Box 159"/>
          <p:cNvSpPr txBox="1"/>
          <p:nvPr/>
        </p:nvSpPr>
        <p:spPr>
          <a:xfrm>
            <a:off x="46688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9</a:t>
            </a:r>
            <a:endParaRPr lang="en-US" altLang="zh-CN" sz="1000" baseline="-25000" dirty="0">
              <a:solidFill>
                <a:srgbClr val="FF0000"/>
              </a:solidFill>
              <a:latin typeface="Times New Roman" panose="02020603050405020304" pitchFamily="18" charset="0"/>
            </a:endParaRPr>
          </a:p>
        </p:txBody>
      </p:sp>
      <p:sp>
        <p:nvSpPr>
          <p:cNvPr id="59552" name="Text Box 160"/>
          <p:cNvSpPr txBox="1"/>
          <p:nvPr/>
        </p:nvSpPr>
        <p:spPr>
          <a:xfrm>
            <a:off x="490378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12</a:t>
            </a:r>
            <a:endParaRPr lang="en-US" altLang="zh-CN" sz="1000" baseline="-25000" dirty="0">
              <a:solidFill>
                <a:srgbClr val="FF0000"/>
              </a:solidFill>
              <a:latin typeface="Times New Roman" panose="02020603050405020304" pitchFamily="18" charset="0"/>
            </a:endParaRPr>
          </a:p>
        </p:txBody>
      </p:sp>
      <p:sp>
        <p:nvSpPr>
          <p:cNvPr id="59553" name="Text Box 161"/>
          <p:cNvSpPr txBox="1"/>
          <p:nvPr/>
        </p:nvSpPr>
        <p:spPr>
          <a:xfrm>
            <a:off x="52022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15</a:t>
            </a:r>
            <a:endParaRPr lang="en-US" altLang="zh-CN" sz="1000" baseline="-25000" dirty="0">
              <a:solidFill>
                <a:srgbClr val="FF0000"/>
              </a:solidFill>
              <a:latin typeface="Times New Roman" panose="02020603050405020304" pitchFamily="18" charset="0"/>
            </a:endParaRPr>
          </a:p>
        </p:txBody>
      </p:sp>
      <p:sp>
        <p:nvSpPr>
          <p:cNvPr id="59554" name="Text Box 162"/>
          <p:cNvSpPr txBox="1"/>
          <p:nvPr/>
        </p:nvSpPr>
        <p:spPr>
          <a:xfrm>
            <a:off x="54943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16</a:t>
            </a:r>
            <a:endParaRPr lang="en-US" altLang="zh-CN" sz="1000" baseline="-25000" dirty="0">
              <a:solidFill>
                <a:srgbClr val="FF0000"/>
              </a:solidFill>
              <a:latin typeface="Times New Roman" panose="02020603050405020304" pitchFamily="18" charset="0"/>
            </a:endParaRPr>
          </a:p>
        </p:txBody>
      </p:sp>
      <p:sp>
        <p:nvSpPr>
          <p:cNvPr id="59555" name="Text Box 163"/>
          <p:cNvSpPr txBox="1"/>
          <p:nvPr/>
        </p:nvSpPr>
        <p:spPr>
          <a:xfrm>
            <a:off x="5786438" y="4900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19</a:t>
            </a:r>
            <a:endParaRPr lang="en-US" altLang="zh-CN" sz="1000" baseline="-25000" dirty="0">
              <a:solidFill>
                <a:srgbClr val="FF0000"/>
              </a:solidFill>
              <a:latin typeface="Times New Roman" panose="02020603050405020304" pitchFamily="18" charset="0"/>
            </a:endParaRPr>
          </a:p>
        </p:txBody>
      </p:sp>
      <p:sp>
        <p:nvSpPr>
          <p:cNvPr id="59556" name="Line 164"/>
          <p:cNvSpPr/>
          <p:nvPr/>
        </p:nvSpPr>
        <p:spPr>
          <a:xfrm flipV="1">
            <a:off x="4283075" y="5845175"/>
            <a:ext cx="0" cy="168275"/>
          </a:xfrm>
          <a:prstGeom prst="line">
            <a:avLst/>
          </a:prstGeom>
          <a:ln w="12700" cap="flat" cmpd="sng">
            <a:solidFill>
              <a:srgbClr val="000099"/>
            </a:solidFill>
            <a:prstDash val="solid"/>
            <a:headEnd type="none" w="med" len="med"/>
            <a:tailEnd type="none" w="med" len="med"/>
          </a:ln>
        </p:spPr>
      </p:sp>
      <p:sp>
        <p:nvSpPr>
          <p:cNvPr id="59557" name="Line 165"/>
          <p:cNvSpPr/>
          <p:nvPr/>
        </p:nvSpPr>
        <p:spPr>
          <a:xfrm flipV="1">
            <a:off x="3990975" y="5842000"/>
            <a:ext cx="0" cy="168275"/>
          </a:xfrm>
          <a:prstGeom prst="line">
            <a:avLst/>
          </a:prstGeom>
          <a:ln w="12700" cap="flat" cmpd="sng">
            <a:solidFill>
              <a:srgbClr val="000099"/>
            </a:solidFill>
            <a:prstDash val="solid"/>
            <a:headEnd type="none" w="med" len="med"/>
            <a:tailEnd type="none" w="med" len="med"/>
          </a:ln>
        </p:spPr>
      </p:sp>
      <p:sp>
        <p:nvSpPr>
          <p:cNvPr id="59558" name="Line 166"/>
          <p:cNvSpPr/>
          <p:nvPr/>
        </p:nvSpPr>
        <p:spPr>
          <a:xfrm flipV="1">
            <a:off x="3990975" y="5680075"/>
            <a:ext cx="0" cy="168275"/>
          </a:xfrm>
          <a:prstGeom prst="line">
            <a:avLst/>
          </a:prstGeom>
          <a:ln w="12700" cap="flat" cmpd="sng">
            <a:solidFill>
              <a:srgbClr val="000099"/>
            </a:solidFill>
            <a:prstDash val="solid"/>
            <a:headEnd type="none" w="med" len="med"/>
            <a:tailEnd type="none" w="med" len="med"/>
          </a:ln>
        </p:spPr>
      </p:sp>
      <p:sp>
        <p:nvSpPr>
          <p:cNvPr id="59559" name="Line 167"/>
          <p:cNvSpPr/>
          <p:nvPr/>
        </p:nvSpPr>
        <p:spPr>
          <a:xfrm flipV="1">
            <a:off x="4568825" y="5686425"/>
            <a:ext cx="0" cy="168275"/>
          </a:xfrm>
          <a:prstGeom prst="line">
            <a:avLst/>
          </a:prstGeom>
          <a:ln w="12700" cap="flat" cmpd="sng">
            <a:solidFill>
              <a:srgbClr val="000099"/>
            </a:solidFill>
            <a:prstDash val="solid"/>
            <a:headEnd type="none" w="med" len="med"/>
            <a:tailEnd type="none" w="med" len="med"/>
          </a:ln>
        </p:spPr>
      </p:sp>
      <p:sp>
        <p:nvSpPr>
          <p:cNvPr id="59560" name="Line 168"/>
          <p:cNvSpPr/>
          <p:nvPr/>
        </p:nvSpPr>
        <p:spPr>
          <a:xfrm flipV="1">
            <a:off x="4568825" y="5845175"/>
            <a:ext cx="0" cy="168275"/>
          </a:xfrm>
          <a:prstGeom prst="line">
            <a:avLst/>
          </a:prstGeom>
          <a:ln w="12700" cap="flat" cmpd="sng">
            <a:solidFill>
              <a:srgbClr val="000099"/>
            </a:solidFill>
            <a:prstDash val="solid"/>
            <a:headEnd type="none" w="med" len="med"/>
            <a:tailEnd type="none" w="med" len="med"/>
          </a:ln>
        </p:spPr>
      </p:sp>
      <p:sp>
        <p:nvSpPr>
          <p:cNvPr id="59561" name="Line 169"/>
          <p:cNvSpPr/>
          <p:nvPr/>
        </p:nvSpPr>
        <p:spPr>
          <a:xfrm flipV="1">
            <a:off x="5156200" y="5851525"/>
            <a:ext cx="0" cy="168275"/>
          </a:xfrm>
          <a:prstGeom prst="line">
            <a:avLst/>
          </a:prstGeom>
          <a:ln w="12700" cap="flat" cmpd="sng">
            <a:solidFill>
              <a:srgbClr val="000099"/>
            </a:solidFill>
            <a:prstDash val="solid"/>
            <a:headEnd type="none" w="med" len="med"/>
            <a:tailEnd type="none" w="med" len="med"/>
          </a:ln>
        </p:spPr>
      </p:sp>
      <p:sp>
        <p:nvSpPr>
          <p:cNvPr id="59562" name="Line 170"/>
          <p:cNvSpPr/>
          <p:nvPr/>
        </p:nvSpPr>
        <p:spPr>
          <a:xfrm flipV="1">
            <a:off x="4864100" y="5845175"/>
            <a:ext cx="0" cy="168275"/>
          </a:xfrm>
          <a:prstGeom prst="line">
            <a:avLst/>
          </a:prstGeom>
          <a:ln w="12700" cap="flat" cmpd="sng">
            <a:solidFill>
              <a:srgbClr val="000099"/>
            </a:solidFill>
            <a:prstDash val="solid"/>
            <a:headEnd type="none" w="med" len="med"/>
            <a:tailEnd type="none" w="med" len="med"/>
          </a:ln>
        </p:spPr>
      </p:sp>
      <p:sp>
        <p:nvSpPr>
          <p:cNvPr id="59563" name="Line 171"/>
          <p:cNvSpPr/>
          <p:nvPr/>
        </p:nvSpPr>
        <p:spPr>
          <a:xfrm flipV="1">
            <a:off x="5441950" y="5851525"/>
            <a:ext cx="0" cy="168275"/>
          </a:xfrm>
          <a:prstGeom prst="line">
            <a:avLst/>
          </a:prstGeom>
          <a:ln w="12700" cap="flat" cmpd="sng">
            <a:solidFill>
              <a:srgbClr val="000099"/>
            </a:solidFill>
            <a:prstDash val="solid"/>
            <a:headEnd type="none" w="med" len="med"/>
            <a:tailEnd type="none" w="med" len="med"/>
          </a:ln>
        </p:spPr>
      </p:sp>
      <p:sp>
        <p:nvSpPr>
          <p:cNvPr id="59564" name="Line 172"/>
          <p:cNvSpPr/>
          <p:nvPr/>
        </p:nvSpPr>
        <p:spPr>
          <a:xfrm flipV="1">
            <a:off x="4864100" y="5678488"/>
            <a:ext cx="0" cy="168275"/>
          </a:xfrm>
          <a:prstGeom prst="line">
            <a:avLst/>
          </a:prstGeom>
          <a:ln w="12700" cap="flat" cmpd="sng">
            <a:solidFill>
              <a:srgbClr val="000099"/>
            </a:solidFill>
            <a:prstDash val="solid"/>
            <a:headEnd type="none" w="med" len="med"/>
            <a:tailEnd type="none" w="med" len="med"/>
          </a:ln>
        </p:spPr>
      </p:sp>
      <p:sp>
        <p:nvSpPr>
          <p:cNvPr id="59565" name="Line 173"/>
          <p:cNvSpPr/>
          <p:nvPr/>
        </p:nvSpPr>
        <p:spPr>
          <a:xfrm flipV="1">
            <a:off x="5441950" y="5684838"/>
            <a:ext cx="0" cy="168275"/>
          </a:xfrm>
          <a:prstGeom prst="line">
            <a:avLst/>
          </a:prstGeom>
          <a:ln w="12700" cap="flat" cmpd="sng">
            <a:solidFill>
              <a:srgbClr val="000099"/>
            </a:solidFill>
            <a:prstDash val="solid"/>
            <a:headEnd type="none" w="med" len="med"/>
            <a:tailEnd type="none" w="med" len="med"/>
          </a:ln>
        </p:spPr>
      </p:sp>
      <p:sp>
        <p:nvSpPr>
          <p:cNvPr id="59566" name="Line 174"/>
          <p:cNvSpPr/>
          <p:nvPr/>
        </p:nvSpPr>
        <p:spPr>
          <a:xfrm flipV="1">
            <a:off x="5743575" y="5684838"/>
            <a:ext cx="0" cy="168275"/>
          </a:xfrm>
          <a:prstGeom prst="line">
            <a:avLst/>
          </a:prstGeom>
          <a:ln w="12700" cap="flat" cmpd="sng">
            <a:solidFill>
              <a:srgbClr val="000099"/>
            </a:solidFill>
            <a:prstDash val="solid"/>
            <a:headEnd type="none" w="med" len="med"/>
            <a:tailEnd type="none" w="med" len="med"/>
          </a:ln>
        </p:spPr>
      </p:sp>
      <p:sp>
        <p:nvSpPr>
          <p:cNvPr id="59567" name="Line 175"/>
          <p:cNvSpPr/>
          <p:nvPr/>
        </p:nvSpPr>
        <p:spPr>
          <a:xfrm flipV="1">
            <a:off x="5743575" y="5845175"/>
            <a:ext cx="0" cy="168275"/>
          </a:xfrm>
          <a:prstGeom prst="line">
            <a:avLst/>
          </a:prstGeom>
          <a:ln w="12700" cap="flat" cmpd="sng">
            <a:solidFill>
              <a:srgbClr val="000099"/>
            </a:solidFill>
            <a:prstDash val="solid"/>
            <a:headEnd type="none" w="med" len="med"/>
            <a:tailEnd type="none" w="med" len="med"/>
          </a:ln>
        </p:spPr>
      </p:sp>
      <p:sp>
        <p:nvSpPr>
          <p:cNvPr id="59568" name="Line 176"/>
          <p:cNvSpPr/>
          <p:nvPr/>
        </p:nvSpPr>
        <p:spPr>
          <a:xfrm flipV="1">
            <a:off x="6029325" y="5845175"/>
            <a:ext cx="0" cy="168275"/>
          </a:xfrm>
          <a:prstGeom prst="line">
            <a:avLst/>
          </a:prstGeom>
          <a:ln w="12700" cap="flat" cmpd="sng">
            <a:solidFill>
              <a:srgbClr val="000099"/>
            </a:solidFill>
            <a:prstDash val="solid"/>
            <a:headEnd type="none" w="med" len="med"/>
            <a:tailEnd type="none" w="med" len="med"/>
          </a:ln>
        </p:spPr>
      </p:sp>
      <p:sp>
        <p:nvSpPr>
          <p:cNvPr id="59569" name="Line 177"/>
          <p:cNvSpPr/>
          <p:nvPr/>
        </p:nvSpPr>
        <p:spPr>
          <a:xfrm flipV="1">
            <a:off x="4283075" y="4665663"/>
            <a:ext cx="0" cy="274637"/>
          </a:xfrm>
          <a:prstGeom prst="line">
            <a:avLst/>
          </a:prstGeom>
          <a:ln w="12700" cap="flat" cmpd="sng">
            <a:solidFill>
              <a:srgbClr val="000099"/>
            </a:solidFill>
            <a:prstDash val="solid"/>
            <a:headEnd type="none" w="med" len="med"/>
            <a:tailEnd type="none" w="med" len="med"/>
          </a:ln>
        </p:spPr>
      </p:sp>
      <p:sp>
        <p:nvSpPr>
          <p:cNvPr id="59570" name="Line 178"/>
          <p:cNvSpPr/>
          <p:nvPr/>
        </p:nvSpPr>
        <p:spPr>
          <a:xfrm flipH="1" flipV="1">
            <a:off x="5153025" y="3883025"/>
            <a:ext cx="3175" cy="1062038"/>
          </a:xfrm>
          <a:prstGeom prst="line">
            <a:avLst/>
          </a:prstGeom>
          <a:ln w="12700" cap="flat" cmpd="sng">
            <a:solidFill>
              <a:srgbClr val="000099"/>
            </a:solidFill>
            <a:prstDash val="solid"/>
            <a:headEnd type="none" w="med" len="med"/>
            <a:tailEnd type="none" w="med" len="med"/>
          </a:ln>
        </p:spPr>
      </p:sp>
      <p:sp>
        <p:nvSpPr>
          <p:cNvPr id="59571" name="Line 179"/>
          <p:cNvSpPr/>
          <p:nvPr/>
        </p:nvSpPr>
        <p:spPr>
          <a:xfrm flipV="1">
            <a:off x="6029325" y="4775200"/>
            <a:ext cx="0" cy="168275"/>
          </a:xfrm>
          <a:prstGeom prst="line">
            <a:avLst/>
          </a:prstGeom>
          <a:ln w="12700" cap="flat" cmpd="sng">
            <a:solidFill>
              <a:srgbClr val="000099"/>
            </a:solidFill>
            <a:prstDash val="solid"/>
            <a:headEnd type="none" w="med" len="med"/>
            <a:tailEnd type="none" w="med" len="med"/>
          </a:ln>
        </p:spPr>
      </p:sp>
      <p:sp>
        <p:nvSpPr>
          <p:cNvPr id="59572" name="Line 180"/>
          <p:cNvSpPr/>
          <p:nvPr/>
        </p:nvSpPr>
        <p:spPr>
          <a:xfrm flipV="1">
            <a:off x="4283075" y="4930775"/>
            <a:ext cx="0" cy="168275"/>
          </a:xfrm>
          <a:prstGeom prst="line">
            <a:avLst/>
          </a:prstGeom>
          <a:ln w="12700" cap="flat" cmpd="sng">
            <a:solidFill>
              <a:srgbClr val="000099"/>
            </a:solidFill>
            <a:prstDash val="solid"/>
            <a:headEnd type="none" w="med" len="med"/>
            <a:tailEnd type="none" w="med" len="med"/>
          </a:ln>
        </p:spPr>
      </p:sp>
      <p:sp>
        <p:nvSpPr>
          <p:cNvPr id="59573" name="Line 181"/>
          <p:cNvSpPr/>
          <p:nvPr/>
        </p:nvSpPr>
        <p:spPr>
          <a:xfrm flipV="1">
            <a:off x="3990975" y="4927600"/>
            <a:ext cx="0" cy="168275"/>
          </a:xfrm>
          <a:prstGeom prst="line">
            <a:avLst/>
          </a:prstGeom>
          <a:ln w="12700" cap="flat" cmpd="sng">
            <a:solidFill>
              <a:srgbClr val="000099"/>
            </a:solidFill>
            <a:prstDash val="solid"/>
            <a:headEnd type="none" w="med" len="med"/>
            <a:tailEnd type="none" w="med" len="med"/>
          </a:ln>
        </p:spPr>
      </p:sp>
      <p:sp>
        <p:nvSpPr>
          <p:cNvPr id="59574" name="Line 182"/>
          <p:cNvSpPr/>
          <p:nvPr/>
        </p:nvSpPr>
        <p:spPr>
          <a:xfrm flipV="1">
            <a:off x="3990975" y="4829175"/>
            <a:ext cx="0" cy="168275"/>
          </a:xfrm>
          <a:prstGeom prst="line">
            <a:avLst/>
          </a:prstGeom>
          <a:ln w="12700" cap="flat" cmpd="sng">
            <a:solidFill>
              <a:srgbClr val="000099"/>
            </a:solidFill>
            <a:prstDash val="solid"/>
            <a:headEnd type="none" w="med" len="med"/>
            <a:tailEnd type="none" w="med" len="med"/>
          </a:ln>
        </p:spPr>
      </p:sp>
      <p:sp>
        <p:nvSpPr>
          <p:cNvPr id="59575" name="Line 183"/>
          <p:cNvSpPr/>
          <p:nvPr/>
        </p:nvSpPr>
        <p:spPr>
          <a:xfrm flipV="1">
            <a:off x="4568825" y="4484688"/>
            <a:ext cx="0" cy="455612"/>
          </a:xfrm>
          <a:prstGeom prst="line">
            <a:avLst/>
          </a:prstGeom>
          <a:ln w="12700" cap="flat" cmpd="sng">
            <a:solidFill>
              <a:srgbClr val="000099"/>
            </a:solidFill>
            <a:prstDash val="solid"/>
            <a:headEnd type="none" w="med" len="med"/>
            <a:tailEnd type="none" w="med" len="med"/>
          </a:ln>
        </p:spPr>
      </p:sp>
      <p:sp>
        <p:nvSpPr>
          <p:cNvPr id="59576" name="Line 184"/>
          <p:cNvSpPr/>
          <p:nvPr/>
        </p:nvSpPr>
        <p:spPr>
          <a:xfrm flipV="1">
            <a:off x="4568825" y="4930775"/>
            <a:ext cx="0" cy="168275"/>
          </a:xfrm>
          <a:prstGeom prst="line">
            <a:avLst/>
          </a:prstGeom>
          <a:ln w="12700" cap="flat" cmpd="sng">
            <a:solidFill>
              <a:srgbClr val="000099"/>
            </a:solidFill>
            <a:prstDash val="solid"/>
            <a:headEnd type="none" w="med" len="med"/>
            <a:tailEnd type="none" w="med" len="med"/>
          </a:ln>
        </p:spPr>
      </p:sp>
      <p:sp>
        <p:nvSpPr>
          <p:cNvPr id="59577" name="Line 185"/>
          <p:cNvSpPr/>
          <p:nvPr/>
        </p:nvSpPr>
        <p:spPr>
          <a:xfrm flipV="1">
            <a:off x="5156200" y="4937125"/>
            <a:ext cx="0" cy="168275"/>
          </a:xfrm>
          <a:prstGeom prst="line">
            <a:avLst/>
          </a:prstGeom>
          <a:ln w="12700" cap="flat" cmpd="sng">
            <a:solidFill>
              <a:srgbClr val="000099"/>
            </a:solidFill>
            <a:prstDash val="solid"/>
            <a:headEnd type="none" w="med" len="med"/>
            <a:tailEnd type="none" w="med" len="med"/>
          </a:ln>
        </p:spPr>
      </p:sp>
      <p:sp>
        <p:nvSpPr>
          <p:cNvPr id="59578" name="Line 186"/>
          <p:cNvSpPr/>
          <p:nvPr/>
        </p:nvSpPr>
        <p:spPr>
          <a:xfrm flipV="1">
            <a:off x="4864100" y="4930775"/>
            <a:ext cx="0" cy="168275"/>
          </a:xfrm>
          <a:prstGeom prst="line">
            <a:avLst/>
          </a:prstGeom>
          <a:ln w="12700" cap="flat" cmpd="sng">
            <a:solidFill>
              <a:srgbClr val="000099"/>
            </a:solidFill>
            <a:prstDash val="solid"/>
            <a:headEnd type="none" w="med" len="med"/>
            <a:tailEnd type="none" w="med" len="med"/>
          </a:ln>
        </p:spPr>
      </p:sp>
      <p:sp>
        <p:nvSpPr>
          <p:cNvPr id="59579" name="Line 187"/>
          <p:cNvSpPr/>
          <p:nvPr/>
        </p:nvSpPr>
        <p:spPr>
          <a:xfrm flipV="1">
            <a:off x="5441950" y="4937125"/>
            <a:ext cx="0" cy="168275"/>
          </a:xfrm>
          <a:prstGeom prst="line">
            <a:avLst/>
          </a:prstGeom>
          <a:ln w="12700" cap="flat" cmpd="sng">
            <a:solidFill>
              <a:srgbClr val="000099"/>
            </a:solidFill>
            <a:prstDash val="solid"/>
            <a:headEnd type="none" w="med" len="med"/>
            <a:tailEnd type="none" w="med" len="med"/>
          </a:ln>
        </p:spPr>
      </p:sp>
      <p:sp>
        <p:nvSpPr>
          <p:cNvPr id="59580" name="Line 188"/>
          <p:cNvSpPr/>
          <p:nvPr/>
        </p:nvSpPr>
        <p:spPr>
          <a:xfrm flipV="1">
            <a:off x="4864100" y="4484688"/>
            <a:ext cx="0" cy="447675"/>
          </a:xfrm>
          <a:prstGeom prst="line">
            <a:avLst/>
          </a:prstGeom>
          <a:ln w="12700" cap="flat" cmpd="sng">
            <a:solidFill>
              <a:srgbClr val="000099"/>
            </a:solidFill>
            <a:prstDash val="solid"/>
            <a:headEnd type="none" w="med" len="med"/>
            <a:tailEnd type="none" w="med" len="med"/>
          </a:ln>
        </p:spPr>
      </p:sp>
      <p:sp>
        <p:nvSpPr>
          <p:cNvPr id="59581" name="Line 189"/>
          <p:cNvSpPr/>
          <p:nvPr/>
        </p:nvSpPr>
        <p:spPr>
          <a:xfrm flipV="1">
            <a:off x="5441950" y="4233863"/>
            <a:ext cx="0" cy="704850"/>
          </a:xfrm>
          <a:prstGeom prst="line">
            <a:avLst/>
          </a:prstGeom>
          <a:ln w="12700" cap="flat" cmpd="sng">
            <a:solidFill>
              <a:srgbClr val="000099"/>
            </a:solidFill>
            <a:prstDash val="solid"/>
            <a:headEnd type="none" w="med" len="med"/>
            <a:tailEnd type="none" w="med" len="med"/>
          </a:ln>
        </p:spPr>
      </p:sp>
      <p:sp>
        <p:nvSpPr>
          <p:cNvPr id="59582" name="Line 190"/>
          <p:cNvSpPr/>
          <p:nvPr/>
        </p:nvSpPr>
        <p:spPr>
          <a:xfrm flipV="1">
            <a:off x="5743575" y="3586163"/>
            <a:ext cx="0" cy="1352550"/>
          </a:xfrm>
          <a:prstGeom prst="line">
            <a:avLst/>
          </a:prstGeom>
          <a:ln w="12700" cap="flat" cmpd="sng">
            <a:solidFill>
              <a:srgbClr val="000099"/>
            </a:solidFill>
            <a:prstDash val="solid"/>
            <a:headEnd type="none" w="med" len="med"/>
            <a:tailEnd type="none" w="med" len="med"/>
          </a:ln>
        </p:spPr>
      </p:sp>
      <p:sp>
        <p:nvSpPr>
          <p:cNvPr id="59583" name="Line 191"/>
          <p:cNvSpPr/>
          <p:nvPr/>
        </p:nvSpPr>
        <p:spPr>
          <a:xfrm flipV="1">
            <a:off x="5743575" y="4930775"/>
            <a:ext cx="0" cy="168275"/>
          </a:xfrm>
          <a:prstGeom prst="line">
            <a:avLst/>
          </a:prstGeom>
          <a:ln w="12700" cap="flat" cmpd="sng">
            <a:solidFill>
              <a:srgbClr val="000099"/>
            </a:solidFill>
            <a:prstDash val="solid"/>
            <a:headEnd type="none" w="med" len="med"/>
            <a:tailEnd type="none" w="med" len="med"/>
          </a:ln>
        </p:spPr>
      </p:sp>
      <p:sp>
        <p:nvSpPr>
          <p:cNvPr id="59584" name="Line 192"/>
          <p:cNvSpPr/>
          <p:nvPr/>
        </p:nvSpPr>
        <p:spPr>
          <a:xfrm flipV="1">
            <a:off x="6029325" y="4930775"/>
            <a:ext cx="0" cy="168275"/>
          </a:xfrm>
          <a:prstGeom prst="line">
            <a:avLst/>
          </a:prstGeom>
          <a:ln w="12700" cap="flat" cmpd="sng">
            <a:solidFill>
              <a:srgbClr val="000099"/>
            </a:solidFill>
            <a:prstDash val="solid"/>
            <a:headEnd type="none" w="med" len="med"/>
            <a:tailEnd type="none" w="med" len="med"/>
          </a:ln>
        </p:spPr>
      </p:sp>
      <p:sp>
        <p:nvSpPr>
          <p:cNvPr id="59585" name="Text Box 193"/>
          <p:cNvSpPr txBox="1"/>
          <p:nvPr/>
        </p:nvSpPr>
        <p:spPr>
          <a:xfrm>
            <a:off x="3838575" y="59658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59586" name="Text Box 194"/>
          <p:cNvSpPr txBox="1"/>
          <p:nvPr/>
        </p:nvSpPr>
        <p:spPr>
          <a:xfrm>
            <a:off x="4130675" y="59721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59587" name="Text Box 195"/>
          <p:cNvSpPr txBox="1"/>
          <p:nvPr/>
        </p:nvSpPr>
        <p:spPr>
          <a:xfrm>
            <a:off x="4429125" y="59721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59588" name="Text Box 196"/>
          <p:cNvSpPr txBox="1"/>
          <p:nvPr/>
        </p:nvSpPr>
        <p:spPr>
          <a:xfrm>
            <a:off x="4721225" y="59785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59589" name="Text Box 197"/>
          <p:cNvSpPr txBox="1"/>
          <p:nvPr/>
        </p:nvSpPr>
        <p:spPr>
          <a:xfrm>
            <a:off x="5006975" y="59785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59590" name="Text Box 198"/>
          <p:cNvSpPr txBox="1"/>
          <p:nvPr/>
        </p:nvSpPr>
        <p:spPr>
          <a:xfrm>
            <a:off x="5299075" y="59848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59591" name="Text Box 199"/>
          <p:cNvSpPr txBox="1"/>
          <p:nvPr/>
        </p:nvSpPr>
        <p:spPr>
          <a:xfrm>
            <a:off x="5597525" y="598487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59592" name="Text Box 200"/>
          <p:cNvSpPr txBox="1"/>
          <p:nvPr/>
        </p:nvSpPr>
        <p:spPr>
          <a:xfrm>
            <a:off x="5889625" y="5991225"/>
            <a:ext cx="34290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D</a:t>
            </a:r>
            <a:r>
              <a:rPr lang="en-US" altLang="zh-CN" sz="1000" baseline="-25000" dirty="0">
                <a:solidFill>
                  <a:srgbClr val="FF0000"/>
                </a:solidFill>
                <a:latin typeface="Times New Roman" panose="02020603050405020304" pitchFamily="18" charset="0"/>
              </a:rPr>
              <a:t>7</a:t>
            </a:r>
            <a:endParaRPr lang="en-US" altLang="zh-CN" sz="1000" baseline="-25000" dirty="0">
              <a:solidFill>
                <a:srgbClr val="FF0000"/>
              </a:solidFill>
              <a:latin typeface="Times New Roman" panose="02020603050405020304" pitchFamily="18" charset="0"/>
            </a:endParaRPr>
          </a:p>
        </p:txBody>
      </p:sp>
      <p:sp>
        <p:nvSpPr>
          <p:cNvPr id="59593" name="Line 201"/>
          <p:cNvSpPr/>
          <p:nvPr/>
        </p:nvSpPr>
        <p:spPr>
          <a:xfrm flipV="1">
            <a:off x="6205538" y="5400675"/>
            <a:ext cx="433387" cy="0"/>
          </a:xfrm>
          <a:prstGeom prst="line">
            <a:avLst/>
          </a:prstGeom>
          <a:ln w="12700" cap="flat" cmpd="sng">
            <a:solidFill>
              <a:srgbClr val="000099"/>
            </a:solidFill>
            <a:prstDash val="solid"/>
            <a:headEnd type="none" w="med" len="med"/>
            <a:tailEnd type="none" w="med" len="med"/>
          </a:ln>
        </p:spPr>
      </p:sp>
      <p:sp>
        <p:nvSpPr>
          <p:cNvPr id="59594" name="Text Box 202"/>
          <p:cNvSpPr txBox="1"/>
          <p:nvPr/>
        </p:nvSpPr>
        <p:spPr>
          <a:xfrm>
            <a:off x="6154738" y="52054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11</a:t>
            </a:r>
            <a:endParaRPr lang="en-US" altLang="zh-CN" sz="1000" baseline="-25000" dirty="0">
              <a:solidFill>
                <a:srgbClr val="FF0000"/>
              </a:solidFill>
              <a:latin typeface="Times New Roman" panose="02020603050405020304" pitchFamily="18" charset="0"/>
            </a:endParaRPr>
          </a:p>
        </p:txBody>
      </p:sp>
      <p:sp>
        <p:nvSpPr>
          <p:cNvPr id="59595" name="Text Box 203"/>
          <p:cNvSpPr txBox="1"/>
          <p:nvPr/>
        </p:nvSpPr>
        <p:spPr>
          <a:xfrm>
            <a:off x="6554788" y="528161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W</a:t>
            </a:r>
            <a:endParaRPr lang="en-US" altLang="zh-CN" sz="1000" baseline="-25000" dirty="0">
              <a:solidFill>
                <a:srgbClr val="FF0000"/>
              </a:solidFill>
              <a:latin typeface="Times New Roman" panose="02020603050405020304" pitchFamily="18" charset="0"/>
            </a:endParaRPr>
          </a:p>
        </p:txBody>
      </p:sp>
      <p:sp>
        <p:nvSpPr>
          <p:cNvPr id="59596" name="Line 204"/>
          <p:cNvSpPr/>
          <p:nvPr/>
        </p:nvSpPr>
        <p:spPr>
          <a:xfrm>
            <a:off x="3276600" y="1771650"/>
            <a:ext cx="0" cy="1414463"/>
          </a:xfrm>
          <a:prstGeom prst="line">
            <a:avLst/>
          </a:prstGeom>
          <a:ln w="12700" cap="flat" cmpd="sng">
            <a:solidFill>
              <a:srgbClr val="000099"/>
            </a:solidFill>
            <a:prstDash val="solid"/>
            <a:headEnd type="none" w="med" len="med"/>
            <a:tailEnd type="none" w="med" len="med"/>
          </a:ln>
        </p:spPr>
      </p:sp>
      <p:sp>
        <p:nvSpPr>
          <p:cNvPr id="59597" name="Oval 205"/>
          <p:cNvSpPr/>
          <p:nvPr/>
        </p:nvSpPr>
        <p:spPr>
          <a:xfrm>
            <a:off x="3614738" y="3186113"/>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98" name="Oval 206"/>
          <p:cNvSpPr/>
          <p:nvPr/>
        </p:nvSpPr>
        <p:spPr>
          <a:xfrm>
            <a:off x="3986213" y="3182938"/>
            <a:ext cx="63500" cy="61912"/>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599" name="Oval 207"/>
          <p:cNvSpPr/>
          <p:nvPr/>
        </p:nvSpPr>
        <p:spPr>
          <a:xfrm>
            <a:off x="4352925" y="3181350"/>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600" name="Oval 208"/>
          <p:cNvSpPr/>
          <p:nvPr/>
        </p:nvSpPr>
        <p:spPr>
          <a:xfrm>
            <a:off x="4724400" y="3178175"/>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601" name="Oval 209"/>
          <p:cNvSpPr/>
          <p:nvPr/>
        </p:nvSpPr>
        <p:spPr>
          <a:xfrm>
            <a:off x="5089525" y="3178175"/>
            <a:ext cx="63500" cy="61913"/>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602" name="Line 210"/>
          <p:cNvSpPr/>
          <p:nvPr/>
        </p:nvSpPr>
        <p:spPr>
          <a:xfrm>
            <a:off x="4383088" y="3009900"/>
            <a:ext cx="0" cy="168275"/>
          </a:xfrm>
          <a:prstGeom prst="line">
            <a:avLst/>
          </a:prstGeom>
          <a:ln w="12700" cap="flat" cmpd="sng">
            <a:solidFill>
              <a:srgbClr val="000099"/>
            </a:solidFill>
            <a:prstDash val="solid"/>
            <a:headEnd type="none" w="med" len="med"/>
            <a:tailEnd type="none" w="med" len="med"/>
          </a:ln>
        </p:spPr>
      </p:sp>
      <p:sp>
        <p:nvSpPr>
          <p:cNvPr id="59603" name="Line 211"/>
          <p:cNvSpPr/>
          <p:nvPr/>
        </p:nvSpPr>
        <p:spPr>
          <a:xfrm flipH="1">
            <a:off x="3644900" y="3243263"/>
            <a:ext cx="1588" cy="1004887"/>
          </a:xfrm>
          <a:prstGeom prst="line">
            <a:avLst/>
          </a:prstGeom>
          <a:ln w="12700" cap="flat" cmpd="sng">
            <a:solidFill>
              <a:srgbClr val="000099"/>
            </a:solidFill>
            <a:prstDash val="solid"/>
            <a:headEnd type="none" w="med" len="med"/>
            <a:tailEnd type="none" w="med" len="med"/>
          </a:ln>
        </p:spPr>
      </p:sp>
      <p:sp>
        <p:nvSpPr>
          <p:cNvPr id="59604" name="Line 212"/>
          <p:cNvSpPr/>
          <p:nvPr/>
        </p:nvSpPr>
        <p:spPr>
          <a:xfrm>
            <a:off x="4383088" y="3243263"/>
            <a:ext cx="0" cy="647700"/>
          </a:xfrm>
          <a:prstGeom prst="line">
            <a:avLst/>
          </a:prstGeom>
          <a:ln w="12700" cap="flat" cmpd="sng">
            <a:solidFill>
              <a:srgbClr val="000099"/>
            </a:solidFill>
            <a:prstDash val="solid"/>
            <a:headEnd type="none" w="med" len="med"/>
            <a:tailEnd type="none" w="med" len="med"/>
          </a:ln>
        </p:spPr>
      </p:sp>
      <p:sp>
        <p:nvSpPr>
          <p:cNvPr id="59605" name="Line 213"/>
          <p:cNvSpPr/>
          <p:nvPr/>
        </p:nvSpPr>
        <p:spPr>
          <a:xfrm flipV="1">
            <a:off x="3132138" y="3594100"/>
            <a:ext cx="0" cy="1898650"/>
          </a:xfrm>
          <a:prstGeom prst="line">
            <a:avLst/>
          </a:prstGeom>
          <a:ln w="12700" cap="flat" cmpd="sng">
            <a:solidFill>
              <a:srgbClr val="000099"/>
            </a:solidFill>
            <a:prstDash val="solid"/>
            <a:headEnd type="none" w="med" len="med"/>
            <a:tailEnd type="none" w="med" len="med"/>
          </a:ln>
        </p:spPr>
      </p:sp>
      <p:sp>
        <p:nvSpPr>
          <p:cNvPr id="59606" name="Line 214"/>
          <p:cNvSpPr/>
          <p:nvPr/>
        </p:nvSpPr>
        <p:spPr>
          <a:xfrm flipV="1">
            <a:off x="3128963" y="3594100"/>
            <a:ext cx="1630362" cy="0"/>
          </a:xfrm>
          <a:prstGeom prst="line">
            <a:avLst/>
          </a:prstGeom>
          <a:ln w="12700" cap="flat" cmpd="sng">
            <a:solidFill>
              <a:srgbClr val="000099"/>
            </a:solidFill>
            <a:prstDash val="solid"/>
            <a:headEnd type="none" w="med" len="med"/>
            <a:tailEnd type="none" w="med" len="med"/>
          </a:ln>
        </p:spPr>
      </p:sp>
      <p:sp>
        <p:nvSpPr>
          <p:cNvPr id="59607" name="Line 215"/>
          <p:cNvSpPr/>
          <p:nvPr/>
        </p:nvSpPr>
        <p:spPr>
          <a:xfrm>
            <a:off x="4756150" y="3248025"/>
            <a:ext cx="0" cy="342900"/>
          </a:xfrm>
          <a:prstGeom prst="line">
            <a:avLst/>
          </a:prstGeom>
          <a:ln w="12700" cap="flat" cmpd="sng">
            <a:solidFill>
              <a:srgbClr val="000099"/>
            </a:solidFill>
            <a:prstDash val="solid"/>
            <a:headEnd type="none" w="med" len="med"/>
            <a:tailEnd type="none" w="med" len="med"/>
          </a:ln>
        </p:spPr>
      </p:sp>
      <p:sp>
        <p:nvSpPr>
          <p:cNvPr id="59608" name="Line 216"/>
          <p:cNvSpPr/>
          <p:nvPr/>
        </p:nvSpPr>
        <p:spPr>
          <a:xfrm>
            <a:off x="4016375" y="3251200"/>
            <a:ext cx="0" cy="982663"/>
          </a:xfrm>
          <a:prstGeom prst="line">
            <a:avLst/>
          </a:prstGeom>
          <a:ln w="12700" cap="flat" cmpd="sng">
            <a:solidFill>
              <a:srgbClr val="000099"/>
            </a:solidFill>
            <a:prstDash val="solid"/>
            <a:headEnd type="none" w="med" len="med"/>
            <a:tailEnd type="none" w="med" len="med"/>
          </a:ln>
        </p:spPr>
      </p:sp>
      <p:sp>
        <p:nvSpPr>
          <p:cNvPr id="59609" name="Line 217"/>
          <p:cNvSpPr/>
          <p:nvPr/>
        </p:nvSpPr>
        <p:spPr>
          <a:xfrm>
            <a:off x="4016375" y="4233863"/>
            <a:ext cx="1425575" cy="0"/>
          </a:xfrm>
          <a:prstGeom prst="line">
            <a:avLst/>
          </a:prstGeom>
          <a:ln w="12700" cap="flat" cmpd="sng">
            <a:solidFill>
              <a:srgbClr val="000099"/>
            </a:solidFill>
            <a:prstDash val="solid"/>
            <a:headEnd type="none" w="med" len="med"/>
            <a:tailEnd type="none" w="med" len="med"/>
          </a:ln>
        </p:spPr>
      </p:sp>
      <p:sp>
        <p:nvSpPr>
          <p:cNvPr id="59610" name="Line 218"/>
          <p:cNvSpPr/>
          <p:nvPr/>
        </p:nvSpPr>
        <p:spPr>
          <a:xfrm>
            <a:off x="4383088" y="3883025"/>
            <a:ext cx="769937" cy="0"/>
          </a:xfrm>
          <a:prstGeom prst="line">
            <a:avLst/>
          </a:prstGeom>
          <a:ln w="12700" cap="flat" cmpd="sng">
            <a:solidFill>
              <a:srgbClr val="000099"/>
            </a:solidFill>
            <a:prstDash val="solid"/>
            <a:headEnd type="none" w="med" len="med"/>
            <a:tailEnd type="none" w="med" len="med"/>
          </a:ln>
        </p:spPr>
      </p:sp>
      <p:sp>
        <p:nvSpPr>
          <p:cNvPr id="59611" name="Line 219"/>
          <p:cNvSpPr/>
          <p:nvPr/>
        </p:nvSpPr>
        <p:spPr>
          <a:xfrm>
            <a:off x="5119688" y="3243263"/>
            <a:ext cx="0" cy="342900"/>
          </a:xfrm>
          <a:prstGeom prst="line">
            <a:avLst/>
          </a:prstGeom>
          <a:ln w="12700" cap="flat" cmpd="sng">
            <a:solidFill>
              <a:srgbClr val="000099"/>
            </a:solidFill>
            <a:prstDash val="solid"/>
            <a:headEnd type="none" w="med" len="med"/>
            <a:tailEnd type="none" w="med" len="med"/>
          </a:ln>
        </p:spPr>
      </p:sp>
      <p:sp>
        <p:nvSpPr>
          <p:cNvPr id="59612" name="Line 220"/>
          <p:cNvSpPr/>
          <p:nvPr/>
        </p:nvSpPr>
        <p:spPr>
          <a:xfrm>
            <a:off x="5116513" y="3586163"/>
            <a:ext cx="627062" cy="0"/>
          </a:xfrm>
          <a:prstGeom prst="line">
            <a:avLst/>
          </a:prstGeom>
          <a:ln w="12700" cap="flat" cmpd="sng">
            <a:solidFill>
              <a:srgbClr val="000099"/>
            </a:solidFill>
            <a:prstDash val="solid"/>
            <a:headEnd type="none" w="med" len="med"/>
            <a:tailEnd type="none" w="med" len="med"/>
          </a:ln>
        </p:spPr>
      </p:sp>
      <p:sp>
        <p:nvSpPr>
          <p:cNvPr id="59613" name="Line 221"/>
          <p:cNvSpPr/>
          <p:nvPr/>
        </p:nvSpPr>
        <p:spPr>
          <a:xfrm>
            <a:off x="4862513" y="4484688"/>
            <a:ext cx="1166812" cy="0"/>
          </a:xfrm>
          <a:prstGeom prst="line">
            <a:avLst/>
          </a:prstGeom>
          <a:ln w="12700" cap="flat" cmpd="sng">
            <a:solidFill>
              <a:srgbClr val="000099"/>
            </a:solidFill>
            <a:prstDash val="solid"/>
            <a:headEnd type="none" w="med" len="med"/>
            <a:tailEnd type="none" w="med" len="med"/>
          </a:ln>
        </p:spPr>
      </p:sp>
      <p:sp>
        <p:nvSpPr>
          <p:cNvPr id="59614" name="Line 222"/>
          <p:cNvSpPr/>
          <p:nvPr/>
        </p:nvSpPr>
        <p:spPr>
          <a:xfrm>
            <a:off x="6022975" y="2763838"/>
            <a:ext cx="0" cy="1717675"/>
          </a:xfrm>
          <a:prstGeom prst="line">
            <a:avLst/>
          </a:prstGeom>
          <a:ln w="12700" cap="flat" cmpd="sng">
            <a:solidFill>
              <a:srgbClr val="000099"/>
            </a:solidFill>
            <a:prstDash val="solid"/>
            <a:headEnd type="none" w="med" len="med"/>
            <a:tailEnd type="none" w="med" len="med"/>
          </a:ln>
        </p:spPr>
      </p:sp>
      <p:sp>
        <p:nvSpPr>
          <p:cNvPr id="59615" name="Line 223"/>
          <p:cNvSpPr/>
          <p:nvPr/>
        </p:nvSpPr>
        <p:spPr>
          <a:xfrm>
            <a:off x="3276600" y="2763838"/>
            <a:ext cx="2752725" cy="0"/>
          </a:xfrm>
          <a:prstGeom prst="line">
            <a:avLst/>
          </a:prstGeom>
          <a:ln w="12700" cap="flat" cmpd="sng">
            <a:solidFill>
              <a:srgbClr val="000099"/>
            </a:solidFill>
            <a:prstDash val="solid"/>
            <a:headEnd type="none" w="med" len="med"/>
            <a:tailEnd type="none" w="med" len="med"/>
          </a:ln>
        </p:spPr>
      </p:sp>
      <p:sp>
        <p:nvSpPr>
          <p:cNvPr id="59616" name="Oval 224"/>
          <p:cNvSpPr/>
          <p:nvPr/>
        </p:nvSpPr>
        <p:spPr>
          <a:xfrm>
            <a:off x="3244850" y="2727325"/>
            <a:ext cx="71438" cy="71438"/>
          </a:xfrm>
          <a:prstGeom prst="ellipse">
            <a:avLst/>
          </a:prstGeom>
          <a:solidFill>
            <a:srgbClr val="000099"/>
          </a:solidFill>
          <a:ln w="9525" cap="flat" cmpd="sng">
            <a:solidFill>
              <a:srgbClr val="000099"/>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59617" name="Text Box 225"/>
          <p:cNvSpPr txBox="1"/>
          <p:nvPr/>
        </p:nvSpPr>
        <p:spPr>
          <a:xfrm>
            <a:off x="3600450"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59618" name="Text Box 226"/>
          <p:cNvSpPr txBox="1"/>
          <p:nvPr/>
        </p:nvSpPr>
        <p:spPr>
          <a:xfrm>
            <a:off x="3971925"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59619" name="Text Box 227"/>
          <p:cNvSpPr txBox="1"/>
          <p:nvPr/>
        </p:nvSpPr>
        <p:spPr>
          <a:xfrm>
            <a:off x="4333875" y="32035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59620" name="Text Box 228"/>
          <p:cNvSpPr txBox="1"/>
          <p:nvPr/>
        </p:nvSpPr>
        <p:spPr>
          <a:xfrm>
            <a:off x="4722813" y="3205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5</a:t>
            </a:r>
            <a:endParaRPr lang="en-US" altLang="zh-CN" sz="1000" baseline="-25000" dirty="0">
              <a:solidFill>
                <a:srgbClr val="FF0000"/>
              </a:solidFill>
              <a:latin typeface="Times New Roman" panose="02020603050405020304" pitchFamily="18" charset="0"/>
            </a:endParaRPr>
          </a:p>
        </p:txBody>
      </p:sp>
      <p:sp>
        <p:nvSpPr>
          <p:cNvPr id="59621" name="Text Box 229"/>
          <p:cNvSpPr txBox="1"/>
          <p:nvPr/>
        </p:nvSpPr>
        <p:spPr>
          <a:xfrm>
            <a:off x="5081588" y="3205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6</a:t>
            </a:r>
            <a:endParaRPr lang="en-US" altLang="zh-CN" sz="1000" baseline="-25000" dirty="0">
              <a:solidFill>
                <a:srgbClr val="FF0000"/>
              </a:solidFill>
              <a:latin typeface="Times New Roman" panose="02020603050405020304" pitchFamily="18" charset="0"/>
            </a:endParaRPr>
          </a:p>
        </p:txBody>
      </p:sp>
      <p:sp>
        <p:nvSpPr>
          <p:cNvPr id="59622" name="Text Box 230"/>
          <p:cNvSpPr txBox="1"/>
          <p:nvPr/>
        </p:nvSpPr>
        <p:spPr>
          <a:xfrm>
            <a:off x="3222625" y="32083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59623" name="Text Box 231"/>
          <p:cNvSpPr txBox="1"/>
          <p:nvPr/>
        </p:nvSpPr>
        <p:spPr>
          <a:xfrm>
            <a:off x="3600450" y="15954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59624" name="Text Box 232"/>
          <p:cNvSpPr txBox="1"/>
          <p:nvPr/>
        </p:nvSpPr>
        <p:spPr>
          <a:xfrm>
            <a:off x="3492500" y="20097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59625" name="Text Box 233"/>
          <p:cNvSpPr txBox="1"/>
          <p:nvPr/>
        </p:nvSpPr>
        <p:spPr>
          <a:xfrm>
            <a:off x="3930650" y="176212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59626" name="Text Box 234"/>
          <p:cNvSpPr txBox="1"/>
          <p:nvPr/>
        </p:nvSpPr>
        <p:spPr>
          <a:xfrm>
            <a:off x="3798888" y="21510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4</a:t>
            </a:r>
            <a:endParaRPr lang="en-US" altLang="zh-CN" sz="1000" baseline="-25000" dirty="0">
              <a:solidFill>
                <a:srgbClr val="FF0000"/>
              </a:solidFill>
              <a:latin typeface="Times New Roman" panose="02020603050405020304" pitchFamily="18" charset="0"/>
            </a:endParaRPr>
          </a:p>
        </p:txBody>
      </p:sp>
      <p:sp>
        <p:nvSpPr>
          <p:cNvPr id="59627" name="Text Box 235"/>
          <p:cNvSpPr txBox="1"/>
          <p:nvPr/>
        </p:nvSpPr>
        <p:spPr>
          <a:xfrm>
            <a:off x="3351213" y="2338388"/>
            <a:ext cx="430212"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KA</a:t>
            </a:r>
            <a:endParaRPr lang="en-US" altLang="zh-CN" sz="1000" baseline="-25000" dirty="0">
              <a:solidFill>
                <a:srgbClr val="FF0000"/>
              </a:solidFill>
              <a:latin typeface="Times New Roman" panose="02020603050405020304" pitchFamily="18" charset="0"/>
            </a:endParaRPr>
          </a:p>
        </p:txBody>
      </p:sp>
      <p:sp>
        <p:nvSpPr>
          <p:cNvPr id="59628" name="Text Box 236"/>
          <p:cNvSpPr txBox="1"/>
          <p:nvPr/>
        </p:nvSpPr>
        <p:spPr>
          <a:xfrm>
            <a:off x="5307013" y="3287713"/>
            <a:ext cx="430212"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KB</a:t>
            </a:r>
            <a:endParaRPr lang="en-US" altLang="zh-CN" sz="1000" baseline="-25000" dirty="0">
              <a:solidFill>
                <a:srgbClr val="FF0000"/>
              </a:solidFill>
              <a:latin typeface="Times New Roman" panose="02020603050405020304" pitchFamily="18" charset="0"/>
            </a:endParaRPr>
          </a:p>
        </p:txBody>
      </p:sp>
      <p:sp>
        <p:nvSpPr>
          <p:cNvPr id="2413806" name="Line 238"/>
          <p:cNvSpPr/>
          <p:nvPr/>
        </p:nvSpPr>
        <p:spPr>
          <a:xfrm flipH="1">
            <a:off x="3600450" y="1990725"/>
            <a:ext cx="425450" cy="0"/>
          </a:xfrm>
          <a:prstGeom prst="line">
            <a:avLst/>
          </a:prstGeom>
          <a:ln w="50800" cap="flat" cmpd="sng">
            <a:solidFill>
              <a:srgbClr val="FF0000"/>
            </a:solidFill>
            <a:prstDash val="solid"/>
            <a:headEnd type="none" w="med" len="med"/>
            <a:tailEnd type="none" w="med" len="med"/>
          </a:ln>
        </p:spPr>
      </p:sp>
      <p:sp>
        <p:nvSpPr>
          <p:cNvPr id="2413807" name="Line 239"/>
          <p:cNvSpPr/>
          <p:nvPr/>
        </p:nvSpPr>
        <p:spPr>
          <a:xfrm flipH="1">
            <a:off x="3270250" y="3216275"/>
            <a:ext cx="377825" cy="0"/>
          </a:xfrm>
          <a:prstGeom prst="line">
            <a:avLst/>
          </a:prstGeom>
          <a:ln w="50800" cap="flat" cmpd="sng">
            <a:solidFill>
              <a:srgbClr val="FF0000"/>
            </a:solidFill>
            <a:prstDash val="solid"/>
            <a:headEnd type="none" w="med" len="med"/>
            <a:tailEnd type="none" w="med" len="med"/>
          </a:ln>
        </p:spPr>
      </p:sp>
      <p:sp>
        <p:nvSpPr>
          <p:cNvPr id="2413808" name="Line 240"/>
          <p:cNvSpPr/>
          <p:nvPr/>
        </p:nvSpPr>
        <p:spPr>
          <a:xfrm flipH="1">
            <a:off x="4379913" y="3208338"/>
            <a:ext cx="377825" cy="0"/>
          </a:xfrm>
          <a:prstGeom prst="line">
            <a:avLst/>
          </a:prstGeom>
          <a:ln w="50800" cap="flat" cmpd="sng">
            <a:solidFill>
              <a:srgbClr val="FF0000"/>
            </a:solidFill>
            <a:prstDash val="solid"/>
            <a:headEnd type="none" w="med" len="med"/>
            <a:tailEnd type="none" w="med" len="med"/>
          </a:ln>
        </p:spPr>
      </p:sp>
      <p:sp>
        <p:nvSpPr>
          <p:cNvPr id="59632" name="Text Box 241"/>
          <p:cNvSpPr txBox="1"/>
          <p:nvPr/>
        </p:nvSpPr>
        <p:spPr>
          <a:xfrm>
            <a:off x="144463" y="1714500"/>
            <a:ext cx="939800" cy="284163"/>
          </a:xfrm>
          <a:prstGeom prst="rect">
            <a:avLst/>
          </a:prstGeom>
          <a:noFill/>
          <a:ln w="9525">
            <a:noFill/>
          </a:ln>
        </p:spPr>
        <p:txBody>
          <a:bodyPr>
            <a:spAutoFit/>
          </a:bodyPr>
          <a:p>
            <a:pPr eaLnBrk="1" hangingPunct="1">
              <a:lnSpc>
                <a:spcPct val="90000"/>
              </a:lnSpc>
              <a:spcBef>
                <a:spcPct val="50000"/>
              </a:spcBef>
            </a:pPr>
            <a:r>
              <a:rPr lang="en-US" altLang="zh-CN" sz="1400" dirty="0">
                <a:solidFill>
                  <a:srgbClr val="3333FF"/>
                </a:solidFill>
                <a:latin typeface="Times New Roman" panose="02020603050405020304" pitchFamily="18" charset="0"/>
              </a:rPr>
              <a:t>CD4051</a:t>
            </a:r>
            <a:endParaRPr lang="en-US" altLang="zh-CN" sz="1400" dirty="0">
              <a:solidFill>
                <a:srgbClr val="3333FF"/>
              </a:solidFill>
              <a:latin typeface="Times New Roman" panose="02020603050405020304" pitchFamily="18" charset="0"/>
            </a:endParaRPr>
          </a:p>
        </p:txBody>
      </p:sp>
      <p:sp>
        <p:nvSpPr>
          <p:cNvPr id="2413810" name="Line 242"/>
          <p:cNvSpPr/>
          <p:nvPr/>
        </p:nvSpPr>
        <p:spPr>
          <a:xfrm flipH="1">
            <a:off x="400050" y="3101975"/>
            <a:ext cx="900113" cy="0"/>
          </a:xfrm>
          <a:prstGeom prst="line">
            <a:avLst/>
          </a:prstGeom>
          <a:ln w="19050" cap="flat" cmpd="sng">
            <a:solidFill>
              <a:srgbClr val="00FF00"/>
            </a:solidFill>
            <a:prstDash val="dash"/>
            <a:headEnd type="none" w="med" len="med"/>
            <a:tailEnd type="none" w="med" len="med"/>
          </a:ln>
        </p:spPr>
      </p:sp>
      <p:sp>
        <p:nvSpPr>
          <p:cNvPr id="2413811" name="Oval 243"/>
          <p:cNvSpPr/>
          <p:nvPr/>
        </p:nvSpPr>
        <p:spPr>
          <a:xfrm>
            <a:off x="207963" y="4151313"/>
            <a:ext cx="396875" cy="396875"/>
          </a:xfrm>
          <a:prstGeom prst="ellipse">
            <a:avLst/>
          </a:prstGeom>
          <a:noFill/>
          <a:ln w="12700"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3812" name="Text Box 244"/>
          <p:cNvSpPr txBox="1"/>
          <p:nvPr/>
        </p:nvSpPr>
        <p:spPr>
          <a:xfrm>
            <a:off x="149225" y="4194175"/>
            <a:ext cx="490538" cy="284163"/>
          </a:xfrm>
          <a:prstGeom prst="rect">
            <a:avLst/>
          </a:prstGeom>
          <a:noFill/>
          <a:ln w="9525">
            <a:noFill/>
          </a:ln>
        </p:spPr>
        <p:txBody>
          <a:bodyPr wrap="none">
            <a:spAutoFit/>
          </a:bodyPr>
          <a:p>
            <a:pPr eaLnBrk="1" hangingPunct="1">
              <a:lnSpc>
                <a:spcPct val="90000"/>
              </a:lnSpc>
            </a:pPr>
            <a:r>
              <a:rPr lang="en-US" altLang="zh-CN" sz="1400" i="1" dirty="0">
                <a:solidFill>
                  <a:srgbClr val="00FF00"/>
                </a:solidFill>
                <a:latin typeface="Times New Roman" panose="02020603050405020304" pitchFamily="18" charset="0"/>
              </a:rPr>
              <a:t>U</a:t>
            </a:r>
            <a:r>
              <a:rPr lang="en-US" altLang="zh-CN" sz="1400" baseline="-25000" dirty="0">
                <a:solidFill>
                  <a:srgbClr val="00FF00"/>
                </a:solidFill>
                <a:latin typeface="Times New Roman" panose="02020603050405020304" pitchFamily="18" charset="0"/>
              </a:rPr>
              <a:t>S11</a:t>
            </a:r>
            <a:endParaRPr lang="en-US" altLang="zh-CN" sz="1400" baseline="-25000" dirty="0">
              <a:solidFill>
                <a:srgbClr val="00FF00"/>
              </a:solidFill>
              <a:latin typeface="Times New Roman" panose="02020603050405020304" pitchFamily="18" charset="0"/>
            </a:endParaRPr>
          </a:p>
        </p:txBody>
      </p:sp>
      <p:sp>
        <p:nvSpPr>
          <p:cNvPr id="2413813" name="Line 245"/>
          <p:cNvSpPr/>
          <p:nvPr/>
        </p:nvSpPr>
        <p:spPr>
          <a:xfrm flipV="1">
            <a:off x="400050" y="3097213"/>
            <a:ext cx="0" cy="1042987"/>
          </a:xfrm>
          <a:prstGeom prst="line">
            <a:avLst/>
          </a:prstGeom>
          <a:ln w="19050" cap="flat" cmpd="sng">
            <a:solidFill>
              <a:srgbClr val="00FF00"/>
            </a:solidFill>
            <a:prstDash val="dash"/>
            <a:headEnd type="none" w="med" len="med"/>
            <a:tailEnd type="none" w="med" len="med"/>
          </a:ln>
        </p:spPr>
      </p:sp>
      <p:sp>
        <p:nvSpPr>
          <p:cNvPr id="2413814" name="Line 246"/>
          <p:cNvSpPr/>
          <p:nvPr/>
        </p:nvSpPr>
        <p:spPr>
          <a:xfrm flipV="1">
            <a:off x="403225" y="4545013"/>
            <a:ext cx="0" cy="1042987"/>
          </a:xfrm>
          <a:prstGeom prst="line">
            <a:avLst/>
          </a:prstGeom>
          <a:ln w="19050" cap="flat" cmpd="sng">
            <a:solidFill>
              <a:srgbClr val="00FF00"/>
            </a:solidFill>
            <a:prstDash val="dash"/>
            <a:headEnd type="none" w="med" len="med"/>
            <a:tailEnd type="none" w="med" len="med"/>
          </a:ln>
        </p:spPr>
      </p:sp>
      <p:sp>
        <p:nvSpPr>
          <p:cNvPr id="2413816" name="Line 248"/>
          <p:cNvSpPr/>
          <p:nvPr/>
        </p:nvSpPr>
        <p:spPr>
          <a:xfrm>
            <a:off x="1841500" y="2763838"/>
            <a:ext cx="107950" cy="0"/>
          </a:xfrm>
          <a:prstGeom prst="line">
            <a:avLst/>
          </a:prstGeom>
          <a:ln w="19050" cap="flat" cmpd="sng">
            <a:solidFill>
              <a:srgbClr val="00FF00"/>
            </a:solidFill>
            <a:prstDash val="solid"/>
            <a:headEnd type="none" w="med" len="med"/>
            <a:tailEnd type="none" w="med" len="med"/>
          </a:ln>
        </p:spPr>
      </p:sp>
      <p:sp>
        <p:nvSpPr>
          <p:cNvPr id="2413817" name="Line 249"/>
          <p:cNvSpPr/>
          <p:nvPr/>
        </p:nvSpPr>
        <p:spPr>
          <a:xfrm flipV="1">
            <a:off x="1946275" y="1524000"/>
            <a:ext cx="3175" cy="1233488"/>
          </a:xfrm>
          <a:prstGeom prst="line">
            <a:avLst/>
          </a:prstGeom>
          <a:ln w="19050" cap="flat" cmpd="sng">
            <a:solidFill>
              <a:srgbClr val="00FF00"/>
            </a:solidFill>
            <a:prstDash val="solid"/>
            <a:headEnd type="none" w="med" len="med"/>
            <a:tailEnd type="none" w="med" len="med"/>
          </a:ln>
        </p:spPr>
      </p:sp>
      <p:sp>
        <p:nvSpPr>
          <p:cNvPr id="2413818" name="Line 250"/>
          <p:cNvSpPr/>
          <p:nvPr/>
        </p:nvSpPr>
        <p:spPr>
          <a:xfrm flipV="1">
            <a:off x="1944688" y="1522413"/>
            <a:ext cx="2697162" cy="1587"/>
          </a:xfrm>
          <a:prstGeom prst="line">
            <a:avLst/>
          </a:prstGeom>
          <a:ln w="19050" cap="flat" cmpd="sng">
            <a:solidFill>
              <a:srgbClr val="00FF00"/>
            </a:solidFill>
            <a:prstDash val="solid"/>
            <a:headEnd type="none" w="med" len="med"/>
            <a:tailEnd type="none" w="med" len="med"/>
          </a:ln>
        </p:spPr>
      </p:sp>
      <p:sp>
        <p:nvSpPr>
          <p:cNvPr id="2413822" name="Line 254"/>
          <p:cNvSpPr/>
          <p:nvPr/>
        </p:nvSpPr>
        <p:spPr>
          <a:xfrm flipH="1">
            <a:off x="1300163" y="2765425"/>
            <a:ext cx="547687" cy="339725"/>
          </a:xfrm>
          <a:prstGeom prst="line">
            <a:avLst/>
          </a:prstGeom>
          <a:ln w="19050" cap="flat" cmpd="sng">
            <a:solidFill>
              <a:srgbClr val="00FF00"/>
            </a:solidFill>
            <a:prstDash val="dash"/>
            <a:headEnd type="none" w="med" len="med"/>
            <a:tailEnd type="none" w="med" len="med"/>
          </a:ln>
        </p:spPr>
      </p:sp>
      <p:sp>
        <p:nvSpPr>
          <p:cNvPr id="2413829" name="Line 261"/>
          <p:cNvSpPr/>
          <p:nvPr/>
        </p:nvSpPr>
        <p:spPr>
          <a:xfrm flipH="1">
            <a:off x="1296988" y="5233988"/>
            <a:ext cx="552450" cy="355600"/>
          </a:xfrm>
          <a:prstGeom prst="line">
            <a:avLst/>
          </a:prstGeom>
          <a:ln w="19050" cap="flat" cmpd="sng">
            <a:solidFill>
              <a:srgbClr val="00FF00"/>
            </a:solidFill>
            <a:prstDash val="dash"/>
            <a:headEnd type="none" w="med" len="med"/>
            <a:tailEnd type="none" w="med" len="med"/>
          </a:ln>
        </p:spPr>
      </p:sp>
      <p:sp>
        <p:nvSpPr>
          <p:cNvPr id="2413830" name="Line 262"/>
          <p:cNvSpPr/>
          <p:nvPr/>
        </p:nvSpPr>
        <p:spPr>
          <a:xfrm>
            <a:off x="1955800" y="3994150"/>
            <a:ext cx="912813" cy="0"/>
          </a:xfrm>
          <a:prstGeom prst="line">
            <a:avLst/>
          </a:prstGeom>
          <a:ln w="19050" cap="flat" cmpd="sng">
            <a:solidFill>
              <a:srgbClr val="00FF00"/>
            </a:solidFill>
            <a:prstDash val="solid"/>
            <a:headEnd type="none" w="med" len="med"/>
            <a:tailEnd type="none" w="med" len="med"/>
          </a:ln>
        </p:spPr>
      </p:sp>
      <p:sp>
        <p:nvSpPr>
          <p:cNvPr id="2413831" name="Line 263"/>
          <p:cNvSpPr/>
          <p:nvPr/>
        </p:nvSpPr>
        <p:spPr>
          <a:xfrm flipH="1" flipV="1">
            <a:off x="2863850" y="1981200"/>
            <a:ext cx="0" cy="2012950"/>
          </a:xfrm>
          <a:prstGeom prst="line">
            <a:avLst/>
          </a:prstGeom>
          <a:ln w="19050" cap="flat" cmpd="sng">
            <a:solidFill>
              <a:srgbClr val="00FF00"/>
            </a:solidFill>
            <a:prstDash val="solid"/>
            <a:headEnd type="none" w="med" len="med"/>
            <a:tailEnd type="none" w="med" len="med"/>
          </a:ln>
        </p:spPr>
      </p:sp>
      <p:sp>
        <p:nvSpPr>
          <p:cNvPr id="2413832" name="Line 264"/>
          <p:cNvSpPr/>
          <p:nvPr/>
        </p:nvSpPr>
        <p:spPr>
          <a:xfrm flipV="1">
            <a:off x="2859088" y="1987550"/>
            <a:ext cx="1789112" cy="1588"/>
          </a:xfrm>
          <a:prstGeom prst="line">
            <a:avLst/>
          </a:prstGeom>
          <a:ln w="19050" cap="flat" cmpd="sng">
            <a:solidFill>
              <a:srgbClr val="00FF00"/>
            </a:solidFill>
            <a:prstDash val="solid"/>
            <a:headEnd type="none" w="med" len="med"/>
            <a:tailEnd type="none" w="med" len="med"/>
          </a:ln>
        </p:spPr>
      </p:sp>
      <p:grpSp>
        <p:nvGrpSpPr>
          <p:cNvPr id="59646" name="Group 267"/>
          <p:cNvGrpSpPr/>
          <p:nvPr/>
        </p:nvGrpSpPr>
        <p:grpSpPr>
          <a:xfrm>
            <a:off x="6985000" y="1346200"/>
            <a:ext cx="2068513" cy="2436813"/>
            <a:chOff x="4400" y="848"/>
            <a:chExt cx="1303" cy="1535"/>
          </a:xfrm>
        </p:grpSpPr>
        <p:sp>
          <p:nvSpPr>
            <p:cNvPr id="59653" name="Text Box 268"/>
            <p:cNvSpPr txBox="1"/>
            <p:nvPr/>
          </p:nvSpPr>
          <p:spPr>
            <a:xfrm>
              <a:off x="4400" y="848"/>
              <a:ext cx="1303" cy="1535"/>
            </a:xfrm>
            <a:prstGeom prst="rect">
              <a:avLst/>
            </a:prstGeom>
            <a:solidFill>
              <a:srgbClr val="CCFFFF"/>
            </a:solidFill>
            <a:ln w="9525">
              <a:noFill/>
            </a:ln>
          </p:spPr>
          <p:txBody>
            <a:bodyPr>
              <a:spAutoFit/>
            </a:bodyPr>
            <a:p>
              <a:pPr eaLnBrk="1" hangingPunct="1">
                <a:lnSpc>
                  <a:spcPct val="110000"/>
                </a:lnSpc>
                <a:spcBef>
                  <a:spcPct val="50000"/>
                </a:spcBef>
              </a:pP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0</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7</a:t>
              </a:r>
              <a:r>
                <a:rPr lang="zh-CN" altLang="en-US" sz="2000" dirty="0">
                  <a:latin typeface="Times New Roman" panose="02020603050405020304" pitchFamily="18" charset="0"/>
                </a:rPr>
                <a:t>与</a:t>
              </a:r>
              <a:r>
                <a:rPr lang="en-US" altLang="zh-CN" sz="2000" dirty="0">
                  <a:solidFill>
                    <a:srgbClr val="FF0000"/>
                  </a:solidFill>
                  <a:latin typeface="Times New Roman" panose="02020603050405020304" pitchFamily="18" charset="0"/>
                </a:rPr>
                <a:t>CPU</a:t>
              </a:r>
              <a:r>
                <a:rPr lang="zh-CN" altLang="en-US" sz="2000" dirty="0">
                  <a:latin typeface="Times New Roman" panose="02020603050405020304" pitchFamily="18" charset="0"/>
                </a:rPr>
                <a:t>相连，</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0</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分布作为多路开关地址线</a:t>
              </a:r>
              <a:r>
                <a:rPr lang="en-US" altLang="zh-CN" sz="2000" dirty="0">
                  <a:solidFill>
                    <a:srgbClr val="FF0000"/>
                  </a:solidFill>
                  <a:latin typeface="Times New Roman" panose="02020603050405020304" pitchFamily="18" charset="0"/>
                </a:rPr>
                <a:t>A</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B</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C</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3</a:t>
              </a:r>
              <a:r>
                <a:rPr lang="en-US" altLang="zh-CN" sz="2000" dirty="0">
                  <a:solidFill>
                    <a:srgbClr val="FF0000"/>
                  </a:solidFill>
                  <a:latin typeface="Times New Roman" panose="02020603050405020304" pitchFamily="18" charset="0"/>
                </a:rPr>
                <a:t>~D</a:t>
              </a:r>
              <a:r>
                <a:rPr lang="en-US" altLang="zh-CN" sz="2000" baseline="-25000" dirty="0">
                  <a:solidFill>
                    <a:srgbClr val="FF0000"/>
                  </a:solidFill>
                  <a:latin typeface="Times New Roman" panose="02020603050405020304" pitchFamily="18" charset="0"/>
                </a:rPr>
                <a:t>6</a:t>
              </a:r>
              <a:r>
                <a:rPr lang="zh-CN" altLang="en-US" sz="2000" dirty="0">
                  <a:latin typeface="Times New Roman" panose="02020603050405020304" pitchFamily="18" charset="0"/>
                </a:rPr>
                <a:t>分布作为</a:t>
              </a:r>
              <a:r>
                <a:rPr lang="en-US" altLang="zh-CN" sz="2000"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4</a:t>
              </a:r>
              <a:r>
                <a:rPr lang="zh-CN" altLang="en-US" sz="2000" dirty="0">
                  <a:latin typeface="Times New Roman" panose="02020603050405020304" pitchFamily="18" charset="0"/>
                </a:rPr>
                <a:t>的控制信号</a:t>
              </a:r>
              <a:r>
                <a:rPr lang="en-US" altLang="zh-CN" sz="2000" dirty="0">
                  <a:solidFill>
                    <a:srgbClr val="FF0000"/>
                  </a:solidFill>
                  <a:latin typeface="Times New Roman" panose="02020603050405020304" pitchFamily="18" charset="0"/>
                </a:rPr>
                <a:t>INH</a:t>
              </a:r>
              <a:endParaRPr lang="en-US" altLang="zh-CN" sz="2000" dirty="0">
                <a:solidFill>
                  <a:srgbClr val="FF0000"/>
                </a:solidFill>
                <a:latin typeface="Times New Roman" panose="02020603050405020304" pitchFamily="18" charset="0"/>
              </a:endParaRPr>
            </a:p>
          </p:txBody>
        </p:sp>
        <p:sp>
          <p:nvSpPr>
            <p:cNvPr id="59654" name="Line 269"/>
            <p:cNvSpPr/>
            <p:nvPr/>
          </p:nvSpPr>
          <p:spPr>
            <a:xfrm flipV="1">
              <a:off x="4626" y="2177"/>
              <a:ext cx="324" cy="0"/>
            </a:xfrm>
            <a:prstGeom prst="line">
              <a:avLst/>
            </a:prstGeom>
            <a:ln w="15875" cap="flat" cmpd="sng">
              <a:solidFill>
                <a:srgbClr val="FF0000"/>
              </a:solidFill>
              <a:prstDash val="solid"/>
              <a:headEnd type="none" w="med" len="med"/>
              <a:tailEnd type="none" w="med" len="med"/>
            </a:ln>
          </p:spPr>
        </p:sp>
      </p:grpSp>
      <p:sp>
        <p:nvSpPr>
          <p:cNvPr id="2413838" name="Text Box 270"/>
          <p:cNvSpPr txBox="1"/>
          <p:nvPr/>
        </p:nvSpPr>
        <p:spPr>
          <a:xfrm>
            <a:off x="7019925" y="4922838"/>
            <a:ext cx="1978025" cy="530225"/>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3200" dirty="0">
                <a:solidFill>
                  <a:schemeClr val="tx1"/>
                </a:solidFill>
                <a:latin typeface="Times New Roman" panose="02020603050405020304" pitchFamily="18" charset="0"/>
                <a:ea typeface="黑体" panose="02010609060101010101" pitchFamily="49" charset="-122"/>
              </a:rPr>
              <a:t>双端接法</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13839" name="Text Box 271"/>
          <p:cNvSpPr txBox="1"/>
          <p:nvPr/>
        </p:nvSpPr>
        <p:spPr>
          <a:xfrm>
            <a:off x="323850" y="3856038"/>
            <a:ext cx="433388" cy="284162"/>
          </a:xfrm>
          <a:prstGeom prst="rect">
            <a:avLst/>
          </a:prstGeom>
          <a:noFill/>
          <a:ln w="9525">
            <a:noFill/>
          </a:ln>
        </p:spPr>
        <p:txBody>
          <a:bodyPr>
            <a:spAutoFit/>
          </a:bodyPr>
          <a:p>
            <a:pPr eaLnBrk="1" hangingPunct="1">
              <a:lnSpc>
                <a:spcPct val="90000"/>
              </a:lnSpc>
              <a:spcBef>
                <a:spcPct val="50000"/>
              </a:spcBef>
            </a:pPr>
            <a:r>
              <a:rPr lang="en-US" altLang="zh-CN" sz="1400" i="1" dirty="0">
                <a:solidFill>
                  <a:srgbClr val="CC00CC"/>
                </a:solidFill>
                <a:latin typeface="Times New Roman" panose="02020603050405020304" pitchFamily="18" charset="0"/>
              </a:rPr>
              <a:t>U</a:t>
            </a:r>
            <a:r>
              <a:rPr lang="en-US" altLang="zh-CN" sz="1400" i="1" baseline="-25000" dirty="0">
                <a:solidFill>
                  <a:srgbClr val="CC00CC"/>
                </a:solidFill>
                <a:latin typeface="Times New Roman" panose="02020603050405020304" pitchFamily="18" charset="0"/>
              </a:rPr>
              <a:t>I</a:t>
            </a:r>
            <a:r>
              <a:rPr lang="en-US" altLang="zh-CN" sz="1400" baseline="-25000" dirty="0">
                <a:solidFill>
                  <a:srgbClr val="CC00CC"/>
                </a:solidFill>
                <a:latin typeface="Times New Roman" panose="02020603050405020304" pitchFamily="18" charset="0"/>
              </a:rPr>
              <a:t>+</a:t>
            </a:r>
            <a:endParaRPr lang="en-US" altLang="zh-CN" sz="1400" baseline="-25000" dirty="0">
              <a:solidFill>
                <a:srgbClr val="CC00CC"/>
              </a:solidFill>
              <a:latin typeface="Times New Roman" panose="02020603050405020304" pitchFamily="18" charset="0"/>
            </a:endParaRPr>
          </a:p>
        </p:txBody>
      </p:sp>
      <p:sp>
        <p:nvSpPr>
          <p:cNvPr id="2413840" name="Text Box 272"/>
          <p:cNvSpPr txBox="1"/>
          <p:nvPr/>
        </p:nvSpPr>
        <p:spPr>
          <a:xfrm>
            <a:off x="323850" y="4584700"/>
            <a:ext cx="433388" cy="284163"/>
          </a:xfrm>
          <a:prstGeom prst="rect">
            <a:avLst/>
          </a:prstGeom>
          <a:noFill/>
          <a:ln w="9525">
            <a:noFill/>
          </a:ln>
        </p:spPr>
        <p:txBody>
          <a:bodyPr>
            <a:spAutoFit/>
          </a:bodyPr>
          <a:p>
            <a:pPr eaLnBrk="1" hangingPunct="1">
              <a:lnSpc>
                <a:spcPct val="90000"/>
              </a:lnSpc>
              <a:spcBef>
                <a:spcPct val="50000"/>
              </a:spcBef>
            </a:pPr>
            <a:r>
              <a:rPr lang="en-US" altLang="zh-CN" sz="1400" i="1" dirty="0">
                <a:solidFill>
                  <a:srgbClr val="CC00CC"/>
                </a:solidFill>
                <a:latin typeface="Times New Roman" panose="02020603050405020304" pitchFamily="18" charset="0"/>
              </a:rPr>
              <a:t>U</a:t>
            </a:r>
            <a:r>
              <a:rPr lang="en-US" altLang="zh-CN" sz="1400" i="1" baseline="-25000" dirty="0">
                <a:solidFill>
                  <a:srgbClr val="CC00CC"/>
                </a:solidFill>
                <a:latin typeface="Times New Roman" panose="02020603050405020304" pitchFamily="18" charset="0"/>
              </a:rPr>
              <a:t>I</a:t>
            </a:r>
            <a:r>
              <a:rPr lang="en-US" altLang="zh-CN" sz="1400" baseline="-25000" dirty="0">
                <a:solidFill>
                  <a:srgbClr val="CC00CC"/>
                </a:solidFill>
                <a:latin typeface="Times New Roman" panose="02020603050405020304" pitchFamily="18" charset="0"/>
              </a:rPr>
              <a:t>-</a:t>
            </a:r>
            <a:endParaRPr lang="en-US" altLang="zh-CN" sz="1400" baseline="-25000" dirty="0">
              <a:solidFill>
                <a:srgbClr val="CC00CC"/>
              </a:solidFill>
              <a:latin typeface="Times New Roman" panose="02020603050405020304" pitchFamily="18" charset="0"/>
            </a:endParaRPr>
          </a:p>
        </p:txBody>
      </p:sp>
      <p:sp>
        <p:nvSpPr>
          <p:cNvPr id="2413841" name="Line 273"/>
          <p:cNvSpPr/>
          <p:nvPr/>
        </p:nvSpPr>
        <p:spPr>
          <a:xfrm flipH="1">
            <a:off x="396875" y="5588000"/>
            <a:ext cx="900113" cy="0"/>
          </a:xfrm>
          <a:prstGeom prst="line">
            <a:avLst/>
          </a:prstGeom>
          <a:ln w="19050" cap="flat" cmpd="sng">
            <a:solidFill>
              <a:srgbClr val="00FF00"/>
            </a:solidFill>
            <a:prstDash val="dash"/>
            <a:headEnd type="none" w="med" len="med"/>
            <a:tailEnd type="none" w="med" len="med"/>
          </a:ln>
        </p:spPr>
      </p:sp>
      <p:sp>
        <p:nvSpPr>
          <p:cNvPr id="2413842" name="Line 274"/>
          <p:cNvSpPr/>
          <p:nvPr/>
        </p:nvSpPr>
        <p:spPr>
          <a:xfrm>
            <a:off x="1844675" y="5240338"/>
            <a:ext cx="107950" cy="0"/>
          </a:xfrm>
          <a:prstGeom prst="line">
            <a:avLst/>
          </a:prstGeom>
          <a:ln w="19050" cap="flat" cmpd="sng">
            <a:solidFill>
              <a:srgbClr val="00FF00"/>
            </a:solidFill>
            <a:prstDash val="solid"/>
            <a:headEnd type="none" w="med" len="med"/>
            <a:tailEnd type="none" w="med" len="med"/>
          </a:ln>
        </p:spPr>
      </p:sp>
      <p:sp>
        <p:nvSpPr>
          <p:cNvPr id="2413843" name="Line 275"/>
          <p:cNvSpPr/>
          <p:nvPr/>
        </p:nvSpPr>
        <p:spPr>
          <a:xfrm flipV="1">
            <a:off x="1949450" y="3987800"/>
            <a:ext cx="3175" cy="1246188"/>
          </a:xfrm>
          <a:prstGeom prst="line">
            <a:avLst/>
          </a:prstGeom>
          <a:ln w="19050" cap="flat" cmpd="sng">
            <a:solidFill>
              <a:srgbClr val="00FF00"/>
            </a:solidFill>
            <a:prstDash val="solid"/>
            <a:headEnd type="none" w="med" len="med"/>
            <a:tailEnd type="none" w="med" len="med"/>
          </a:ln>
        </p:spPr>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3838"/>
                                        </p:tgtEl>
                                        <p:attrNameLst>
                                          <p:attrName>style.visibility</p:attrName>
                                        </p:attrNameLst>
                                      </p:cBhvr>
                                      <p:to>
                                        <p:strVal val="visible"/>
                                      </p:to>
                                    </p:set>
                                    <p:animEffect transition="in" filter="dissolve">
                                      <p:cBhvr>
                                        <p:cTn id="7" dur="500"/>
                                        <p:tgtEl>
                                          <p:spTgt spid="241383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13806"/>
                                        </p:tgtEl>
                                        <p:attrNameLst>
                                          <p:attrName>style.visibility</p:attrName>
                                        </p:attrNameLst>
                                      </p:cBhvr>
                                      <p:to>
                                        <p:strVal val="visible"/>
                                      </p:to>
                                    </p:set>
                                    <p:animEffect transition="in" filter="wipe(left)">
                                      <p:cBhvr>
                                        <p:cTn id="12" dur="500"/>
                                        <p:tgtEl>
                                          <p:spTgt spid="241380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413807"/>
                                        </p:tgtEl>
                                        <p:attrNameLst>
                                          <p:attrName>style.visibility</p:attrName>
                                        </p:attrNameLst>
                                      </p:cBhvr>
                                      <p:to>
                                        <p:strVal val="visible"/>
                                      </p:to>
                                    </p:set>
                                    <p:animEffect transition="in" filter="wipe(left)">
                                      <p:cBhvr>
                                        <p:cTn id="17" dur="500"/>
                                        <p:tgtEl>
                                          <p:spTgt spid="241380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413808"/>
                                        </p:tgtEl>
                                        <p:attrNameLst>
                                          <p:attrName>style.visibility</p:attrName>
                                        </p:attrNameLst>
                                      </p:cBhvr>
                                      <p:to>
                                        <p:strVal val="visible"/>
                                      </p:to>
                                    </p:set>
                                    <p:animEffect transition="in" filter="wipe(left)">
                                      <p:cBhvr>
                                        <p:cTn id="22" dur="500"/>
                                        <p:tgtEl>
                                          <p:spTgt spid="241380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13811"/>
                                        </p:tgtEl>
                                        <p:attrNameLst>
                                          <p:attrName>style.visibility</p:attrName>
                                        </p:attrNameLst>
                                      </p:cBhvr>
                                      <p:to>
                                        <p:strVal val="visible"/>
                                      </p:to>
                                    </p:set>
                                    <p:animEffect transition="in" filter="dissolve">
                                      <p:cBhvr>
                                        <p:cTn id="27" dur="500"/>
                                        <p:tgtEl>
                                          <p:spTgt spid="2413811"/>
                                        </p:tgtEl>
                                      </p:cBhvr>
                                    </p:animEffect>
                                  </p:childTnLst>
                                </p:cTn>
                              </p:par>
                              <p:par>
                                <p:cTn id="28" presetID="9" presetClass="entr" presetSubtype="0" fill="hold" nodeType="withEffect">
                                  <p:stCondLst>
                                    <p:cond delay="0"/>
                                  </p:stCondLst>
                                  <p:childTnLst>
                                    <p:set>
                                      <p:cBhvr>
                                        <p:cTn id="29" dur="1" fill="hold">
                                          <p:stCondLst>
                                            <p:cond delay="0"/>
                                          </p:stCondLst>
                                        </p:cTn>
                                        <p:tgtEl>
                                          <p:spTgt spid="2413812"/>
                                        </p:tgtEl>
                                        <p:attrNameLst>
                                          <p:attrName>style.visibility</p:attrName>
                                        </p:attrNameLst>
                                      </p:cBhvr>
                                      <p:to>
                                        <p:strVal val="visible"/>
                                      </p:to>
                                    </p:set>
                                    <p:animEffect transition="in" filter="dissolve">
                                      <p:cBhvr>
                                        <p:cTn id="30" dur="500"/>
                                        <p:tgtEl>
                                          <p:spTgt spid="2413812"/>
                                        </p:tgtEl>
                                      </p:cBhvr>
                                    </p:animEffect>
                                  </p:childTnLst>
                                </p:cTn>
                              </p:par>
                              <p:par>
                                <p:cTn id="31" presetID="9" presetClass="entr" presetSubtype="0" fill="hold" nodeType="withEffect">
                                  <p:stCondLst>
                                    <p:cond delay="0"/>
                                  </p:stCondLst>
                                  <p:childTnLst>
                                    <p:set>
                                      <p:cBhvr>
                                        <p:cTn id="32" dur="1" fill="hold">
                                          <p:stCondLst>
                                            <p:cond delay="0"/>
                                          </p:stCondLst>
                                        </p:cTn>
                                        <p:tgtEl>
                                          <p:spTgt spid="2413813"/>
                                        </p:tgtEl>
                                        <p:attrNameLst>
                                          <p:attrName>style.visibility</p:attrName>
                                        </p:attrNameLst>
                                      </p:cBhvr>
                                      <p:to>
                                        <p:strVal val="visible"/>
                                      </p:to>
                                    </p:set>
                                    <p:animEffect transition="in" filter="dissolve">
                                      <p:cBhvr>
                                        <p:cTn id="33" dur="500"/>
                                        <p:tgtEl>
                                          <p:spTgt spid="2413813"/>
                                        </p:tgtEl>
                                      </p:cBhvr>
                                    </p:animEffect>
                                  </p:childTnLst>
                                </p:cTn>
                              </p:par>
                              <p:par>
                                <p:cTn id="34" presetID="9" presetClass="entr" presetSubtype="0" fill="hold" nodeType="withEffect">
                                  <p:stCondLst>
                                    <p:cond delay="0"/>
                                  </p:stCondLst>
                                  <p:childTnLst>
                                    <p:set>
                                      <p:cBhvr>
                                        <p:cTn id="35" dur="1" fill="hold">
                                          <p:stCondLst>
                                            <p:cond delay="0"/>
                                          </p:stCondLst>
                                        </p:cTn>
                                        <p:tgtEl>
                                          <p:spTgt spid="2413814"/>
                                        </p:tgtEl>
                                        <p:attrNameLst>
                                          <p:attrName>style.visibility</p:attrName>
                                        </p:attrNameLst>
                                      </p:cBhvr>
                                      <p:to>
                                        <p:strVal val="visible"/>
                                      </p:to>
                                    </p:set>
                                    <p:animEffect transition="in" filter="dissolve">
                                      <p:cBhvr>
                                        <p:cTn id="36" dur="500"/>
                                        <p:tgtEl>
                                          <p:spTgt spid="2413814"/>
                                        </p:tgtEl>
                                      </p:cBhvr>
                                    </p:animEffect>
                                  </p:childTnLst>
                                </p:cTn>
                              </p:par>
                              <p:par>
                                <p:cTn id="37" presetID="9" presetClass="entr" presetSubtype="0" fill="hold" nodeType="withEffect">
                                  <p:stCondLst>
                                    <p:cond delay="0"/>
                                  </p:stCondLst>
                                  <p:childTnLst>
                                    <p:set>
                                      <p:cBhvr>
                                        <p:cTn id="38" dur="1" fill="hold">
                                          <p:stCondLst>
                                            <p:cond delay="0"/>
                                          </p:stCondLst>
                                        </p:cTn>
                                        <p:tgtEl>
                                          <p:spTgt spid="2413839"/>
                                        </p:tgtEl>
                                        <p:attrNameLst>
                                          <p:attrName>style.visibility</p:attrName>
                                        </p:attrNameLst>
                                      </p:cBhvr>
                                      <p:to>
                                        <p:strVal val="visible"/>
                                      </p:to>
                                    </p:set>
                                    <p:animEffect transition="in" filter="dissolve">
                                      <p:cBhvr>
                                        <p:cTn id="39" dur="500"/>
                                        <p:tgtEl>
                                          <p:spTgt spid="2413839"/>
                                        </p:tgtEl>
                                      </p:cBhvr>
                                    </p:animEffect>
                                  </p:childTnLst>
                                </p:cTn>
                              </p:par>
                              <p:par>
                                <p:cTn id="40" presetID="9" presetClass="entr" presetSubtype="0" fill="hold" nodeType="withEffect">
                                  <p:stCondLst>
                                    <p:cond delay="0"/>
                                  </p:stCondLst>
                                  <p:childTnLst>
                                    <p:set>
                                      <p:cBhvr>
                                        <p:cTn id="41" dur="1" fill="hold">
                                          <p:stCondLst>
                                            <p:cond delay="0"/>
                                          </p:stCondLst>
                                        </p:cTn>
                                        <p:tgtEl>
                                          <p:spTgt spid="2413840"/>
                                        </p:tgtEl>
                                        <p:attrNameLst>
                                          <p:attrName>style.visibility</p:attrName>
                                        </p:attrNameLst>
                                      </p:cBhvr>
                                      <p:to>
                                        <p:strVal val="visible"/>
                                      </p:to>
                                    </p:set>
                                    <p:animEffect transition="in" filter="dissolve">
                                      <p:cBhvr>
                                        <p:cTn id="42" dur="500"/>
                                        <p:tgtEl>
                                          <p:spTgt spid="2413840"/>
                                        </p:tgtEl>
                                      </p:cBhvr>
                                    </p:animEffect>
                                  </p:childTnLst>
                                </p:cTn>
                              </p:par>
                              <p:par>
                                <p:cTn id="43" presetID="9" presetClass="entr" presetSubtype="0" fill="hold" nodeType="withEffect">
                                  <p:stCondLst>
                                    <p:cond delay="0"/>
                                  </p:stCondLst>
                                  <p:childTnLst>
                                    <p:set>
                                      <p:cBhvr>
                                        <p:cTn id="44" dur="1" fill="hold">
                                          <p:stCondLst>
                                            <p:cond delay="0"/>
                                          </p:stCondLst>
                                        </p:cTn>
                                        <p:tgtEl>
                                          <p:spTgt spid="2413841"/>
                                        </p:tgtEl>
                                        <p:attrNameLst>
                                          <p:attrName>style.visibility</p:attrName>
                                        </p:attrNameLst>
                                      </p:cBhvr>
                                      <p:to>
                                        <p:strVal val="visible"/>
                                      </p:to>
                                    </p:set>
                                    <p:animEffect transition="in" filter="dissolve">
                                      <p:cBhvr>
                                        <p:cTn id="45" dur="500"/>
                                        <p:tgtEl>
                                          <p:spTgt spid="2413841"/>
                                        </p:tgtEl>
                                      </p:cBhvr>
                                    </p:animEffect>
                                  </p:childTnLst>
                                </p:cTn>
                              </p:par>
                              <p:par>
                                <p:cTn id="46" presetID="9" presetClass="entr" presetSubtype="0" fill="hold" nodeType="withEffect">
                                  <p:stCondLst>
                                    <p:cond delay="0"/>
                                  </p:stCondLst>
                                  <p:childTnLst>
                                    <p:set>
                                      <p:cBhvr>
                                        <p:cTn id="47" dur="1" fill="hold">
                                          <p:stCondLst>
                                            <p:cond delay="0"/>
                                          </p:stCondLst>
                                        </p:cTn>
                                        <p:tgtEl>
                                          <p:spTgt spid="2413810"/>
                                        </p:tgtEl>
                                        <p:attrNameLst>
                                          <p:attrName>style.visibility</p:attrName>
                                        </p:attrNameLst>
                                      </p:cBhvr>
                                      <p:to>
                                        <p:strVal val="visible"/>
                                      </p:to>
                                    </p:set>
                                    <p:animEffect transition="in" filter="dissolve">
                                      <p:cBhvr>
                                        <p:cTn id="48" dur="500"/>
                                        <p:tgtEl>
                                          <p:spTgt spid="2413810"/>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nodeType="clickEffect">
                                  <p:stCondLst>
                                    <p:cond delay="0"/>
                                  </p:stCondLst>
                                  <p:childTnLst>
                                    <p:set>
                                      <p:cBhvr>
                                        <p:cTn id="52" dur="1" fill="hold">
                                          <p:stCondLst>
                                            <p:cond delay="0"/>
                                          </p:stCondLst>
                                        </p:cTn>
                                        <p:tgtEl>
                                          <p:spTgt spid="2413813"/>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2413810"/>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2413814"/>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2413841"/>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2" presetClass="entr" presetSubtype="4" fill="hold" nodeType="clickEffect">
                                  <p:stCondLst>
                                    <p:cond delay="0"/>
                                  </p:stCondLst>
                                  <p:childTnLst>
                                    <p:set>
                                      <p:cBhvr>
                                        <p:cTn id="62" dur="1" fill="hold">
                                          <p:stCondLst>
                                            <p:cond delay="0"/>
                                          </p:stCondLst>
                                        </p:cTn>
                                        <p:tgtEl>
                                          <p:spTgt spid="2413813"/>
                                        </p:tgtEl>
                                        <p:attrNameLst>
                                          <p:attrName>style.visibility</p:attrName>
                                        </p:attrNameLst>
                                      </p:cBhvr>
                                      <p:to>
                                        <p:strVal val="visible"/>
                                      </p:to>
                                    </p:set>
                                    <p:animEffect transition="in" filter="wipe(down)">
                                      <p:cBhvr>
                                        <p:cTn id="63" dur="500"/>
                                        <p:tgtEl>
                                          <p:spTgt spid="2413813"/>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413810"/>
                                        </p:tgtEl>
                                        <p:attrNameLst>
                                          <p:attrName>style.visibility</p:attrName>
                                        </p:attrNameLst>
                                      </p:cBhvr>
                                      <p:to>
                                        <p:strVal val="visible"/>
                                      </p:to>
                                    </p:set>
                                    <p:animEffect transition="in" filter="wipe(left)">
                                      <p:cBhvr>
                                        <p:cTn id="67" dur="500"/>
                                        <p:tgtEl>
                                          <p:spTgt spid="2413810"/>
                                        </p:tgtEl>
                                      </p:cBhvr>
                                    </p:animEffect>
                                  </p:childTnLst>
                                </p:cTn>
                              </p:par>
                            </p:childTnLst>
                          </p:cTn>
                        </p:par>
                        <p:par>
                          <p:cTn id="68" fill="hold">
                            <p:stCondLst>
                              <p:cond delay="1000"/>
                            </p:stCondLst>
                            <p:childTnLst>
                              <p:par>
                                <p:cTn id="69" presetID="22" presetClass="entr" presetSubtype="8" fill="hold" nodeType="afterEffect">
                                  <p:stCondLst>
                                    <p:cond delay="0"/>
                                  </p:stCondLst>
                                  <p:childTnLst>
                                    <p:set>
                                      <p:cBhvr>
                                        <p:cTn id="70" dur="1" fill="hold">
                                          <p:stCondLst>
                                            <p:cond delay="0"/>
                                          </p:stCondLst>
                                        </p:cTn>
                                        <p:tgtEl>
                                          <p:spTgt spid="2413822"/>
                                        </p:tgtEl>
                                        <p:attrNameLst>
                                          <p:attrName>style.visibility</p:attrName>
                                        </p:attrNameLst>
                                      </p:cBhvr>
                                      <p:to>
                                        <p:strVal val="visible"/>
                                      </p:to>
                                    </p:set>
                                    <p:animEffect transition="in" filter="wipe(left)">
                                      <p:cBhvr>
                                        <p:cTn id="71" dur="500"/>
                                        <p:tgtEl>
                                          <p:spTgt spid="2413822"/>
                                        </p:tgtEl>
                                      </p:cBhvr>
                                    </p:animEffect>
                                  </p:childTnLst>
                                </p:cTn>
                              </p:par>
                            </p:childTnLst>
                          </p:cTn>
                        </p:par>
                        <p:par>
                          <p:cTn id="72" fill="hold">
                            <p:stCondLst>
                              <p:cond delay="1500"/>
                            </p:stCondLst>
                            <p:childTnLst>
                              <p:par>
                                <p:cTn id="73" presetID="22" presetClass="entr" presetSubtype="8" fill="hold" nodeType="afterEffect">
                                  <p:stCondLst>
                                    <p:cond delay="0"/>
                                  </p:stCondLst>
                                  <p:childTnLst>
                                    <p:set>
                                      <p:cBhvr>
                                        <p:cTn id="74" dur="1" fill="hold">
                                          <p:stCondLst>
                                            <p:cond delay="0"/>
                                          </p:stCondLst>
                                        </p:cTn>
                                        <p:tgtEl>
                                          <p:spTgt spid="2413816"/>
                                        </p:tgtEl>
                                        <p:attrNameLst>
                                          <p:attrName>style.visibility</p:attrName>
                                        </p:attrNameLst>
                                      </p:cBhvr>
                                      <p:to>
                                        <p:strVal val="visible"/>
                                      </p:to>
                                    </p:set>
                                    <p:animEffect transition="in" filter="wipe(left)">
                                      <p:cBhvr>
                                        <p:cTn id="75" dur="500"/>
                                        <p:tgtEl>
                                          <p:spTgt spid="2413816"/>
                                        </p:tgtEl>
                                      </p:cBhvr>
                                    </p:animEffect>
                                  </p:childTnLst>
                                </p:cTn>
                              </p:par>
                            </p:childTnLst>
                          </p:cTn>
                        </p:par>
                        <p:par>
                          <p:cTn id="76" fill="hold">
                            <p:stCondLst>
                              <p:cond delay="2000"/>
                            </p:stCondLst>
                            <p:childTnLst>
                              <p:par>
                                <p:cTn id="77" presetID="22" presetClass="entr" presetSubtype="4" fill="hold" nodeType="afterEffect">
                                  <p:stCondLst>
                                    <p:cond delay="0"/>
                                  </p:stCondLst>
                                  <p:childTnLst>
                                    <p:set>
                                      <p:cBhvr>
                                        <p:cTn id="78" dur="1" fill="hold">
                                          <p:stCondLst>
                                            <p:cond delay="0"/>
                                          </p:stCondLst>
                                        </p:cTn>
                                        <p:tgtEl>
                                          <p:spTgt spid="2413817"/>
                                        </p:tgtEl>
                                        <p:attrNameLst>
                                          <p:attrName>style.visibility</p:attrName>
                                        </p:attrNameLst>
                                      </p:cBhvr>
                                      <p:to>
                                        <p:strVal val="visible"/>
                                      </p:to>
                                    </p:set>
                                    <p:animEffect transition="in" filter="wipe(down)">
                                      <p:cBhvr>
                                        <p:cTn id="79" dur="500"/>
                                        <p:tgtEl>
                                          <p:spTgt spid="2413817"/>
                                        </p:tgtEl>
                                      </p:cBhvr>
                                    </p:animEffect>
                                  </p:childTnLst>
                                </p:cTn>
                              </p:par>
                            </p:childTnLst>
                          </p:cTn>
                        </p:par>
                        <p:par>
                          <p:cTn id="80" fill="hold">
                            <p:stCondLst>
                              <p:cond delay="2500"/>
                            </p:stCondLst>
                            <p:childTnLst>
                              <p:par>
                                <p:cTn id="81" presetID="22" presetClass="entr" presetSubtype="8" fill="hold" nodeType="afterEffect">
                                  <p:stCondLst>
                                    <p:cond delay="0"/>
                                  </p:stCondLst>
                                  <p:childTnLst>
                                    <p:set>
                                      <p:cBhvr>
                                        <p:cTn id="82" dur="1" fill="hold">
                                          <p:stCondLst>
                                            <p:cond delay="0"/>
                                          </p:stCondLst>
                                        </p:cTn>
                                        <p:tgtEl>
                                          <p:spTgt spid="2413818"/>
                                        </p:tgtEl>
                                        <p:attrNameLst>
                                          <p:attrName>style.visibility</p:attrName>
                                        </p:attrNameLst>
                                      </p:cBhvr>
                                      <p:to>
                                        <p:strVal val="visible"/>
                                      </p:to>
                                    </p:set>
                                    <p:animEffect transition="in" filter="wipe(left)">
                                      <p:cBhvr>
                                        <p:cTn id="83" dur="500"/>
                                        <p:tgtEl>
                                          <p:spTgt spid="2413818"/>
                                        </p:tgtEl>
                                      </p:cBhvr>
                                    </p:animEffect>
                                  </p:childTnLst>
                                </p:cTn>
                              </p:par>
                            </p:childTnLst>
                          </p:cTn>
                        </p:par>
                        <p:par>
                          <p:cTn id="84" fill="hold">
                            <p:stCondLst>
                              <p:cond delay="3000"/>
                            </p:stCondLst>
                            <p:childTnLst>
                              <p:par>
                                <p:cTn id="85" presetID="22" presetClass="entr" presetSubtype="2" fill="hold" nodeType="afterEffect">
                                  <p:stCondLst>
                                    <p:cond delay="0"/>
                                  </p:stCondLst>
                                  <p:childTnLst>
                                    <p:set>
                                      <p:cBhvr>
                                        <p:cTn id="86" dur="1" fill="hold">
                                          <p:stCondLst>
                                            <p:cond delay="0"/>
                                          </p:stCondLst>
                                        </p:cTn>
                                        <p:tgtEl>
                                          <p:spTgt spid="2413832"/>
                                        </p:tgtEl>
                                        <p:attrNameLst>
                                          <p:attrName>style.visibility</p:attrName>
                                        </p:attrNameLst>
                                      </p:cBhvr>
                                      <p:to>
                                        <p:strVal val="visible"/>
                                      </p:to>
                                    </p:set>
                                    <p:animEffect transition="in" filter="wipe(right)">
                                      <p:cBhvr>
                                        <p:cTn id="87" dur="500"/>
                                        <p:tgtEl>
                                          <p:spTgt spid="2413832"/>
                                        </p:tgtEl>
                                      </p:cBhvr>
                                    </p:animEffect>
                                  </p:childTnLst>
                                </p:cTn>
                              </p:par>
                            </p:childTnLst>
                          </p:cTn>
                        </p:par>
                        <p:par>
                          <p:cTn id="88" fill="hold">
                            <p:stCondLst>
                              <p:cond delay="3500"/>
                            </p:stCondLst>
                            <p:childTnLst>
                              <p:par>
                                <p:cTn id="89" presetID="22" presetClass="entr" presetSubtype="1" fill="hold" nodeType="afterEffect">
                                  <p:stCondLst>
                                    <p:cond delay="0"/>
                                  </p:stCondLst>
                                  <p:childTnLst>
                                    <p:set>
                                      <p:cBhvr>
                                        <p:cTn id="90" dur="1" fill="hold">
                                          <p:stCondLst>
                                            <p:cond delay="0"/>
                                          </p:stCondLst>
                                        </p:cTn>
                                        <p:tgtEl>
                                          <p:spTgt spid="2413831"/>
                                        </p:tgtEl>
                                        <p:attrNameLst>
                                          <p:attrName>style.visibility</p:attrName>
                                        </p:attrNameLst>
                                      </p:cBhvr>
                                      <p:to>
                                        <p:strVal val="visible"/>
                                      </p:to>
                                    </p:set>
                                    <p:animEffect transition="in" filter="wipe(up)">
                                      <p:cBhvr>
                                        <p:cTn id="91" dur="500"/>
                                        <p:tgtEl>
                                          <p:spTgt spid="2413831"/>
                                        </p:tgtEl>
                                      </p:cBhvr>
                                    </p:animEffect>
                                  </p:childTnLst>
                                </p:cTn>
                              </p:par>
                            </p:childTnLst>
                          </p:cTn>
                        </p:par>
                        <p:par>
                          <p:cTn id="92" fill="hold">
                            <p:stCondLst>
                              <p:cond delay="4000"/>
                            </p:stCondLst>
                            <p:childTnLst>
                              <p:par>
                                <p:cTn id="93" presetID="22" presetClass="entr" presetSubtype="2" fill="hold" nodeType="afterEffect">
                                  <p:stCondLst>
                                    <p:cond delay="0"/>
                                  </p:stCondLst>
                                  <p:childTnLst>
                                    <p:set>
                                      <p:cBhvr>
                                        <p:cTn id="94" dur="1" fill="hold">
                                          <p:stCondLst>
                                            <p:cond delay="0"/>
                                          </p:stCondLst>
                                        </p:cTn>
                                        <p:tgtEl>
                                          <p:spTgt spid="2413830"/>
                                        </p:tgtEl>
                                        <p:attrNameLst>
                                          <p:attrName>style.visibility</p:attrName>
                                        </p:attrNameLst>
                                      </p:cBhvr>
                                      <p:to>
                                        <p:strVal val="visible"/>
                                      </p:to>
                                    </p:set>
                                    <p:animEffect transition="in" filter="wipe(right)">
                                      <p:cBhvr>
                                        <p:cTn id="95" dur="500"/>
                                        <p:tgtEl>
                                          <p:spTgt spid="2413830"/>
                                        </p:tgtEl>
                                      </p:cBhvr>
                                    </p:animEffect>
                                  </p:childTnLst>
                                </p:cTn>
                              </p:par>
                            </p:childTnLst>
                          </p:cTn>
                        </p:par>
                        <p:par>
                          <p:cTn id="96" fill="hold">
                            <p:stCondLst>
                              <p:cond delay="4500"/>
                            </p:stCondLst>
                            <p:childTnLst>
                              <p:par>
                                <p:cTn id="97" presetID="22" presetClass="entr" presetSubtype="1" fill="hold" nodeType="afterEffect">
                                  <p:stCondLst>
                                    <p:cond delay="0"/>
                                  </p:stCondLst>
                                  <p:childTnLst>
                                    <p:set>
                                      <p:cBhvr>
                                        <p:cTn id="98" dur="1" fill="hold">
                                          <p:stCondLst>
                                            <p:cond delay="0"/>
                                          </p:stCondLst>
                                        </p:cTn>
                                        <p:tgtEl>
                                          <p:spTgt spid="2413843"/>
                                        </p:tgtEl>
                                        <p:attrNameLst>
                                          <p:attrName>style.visibility</p:attrName>
                                        </p:attrNameLst>
                                      </p:cBhvr>
                                      <p:to>
                                        <p:strVal val="visible"/>
                                      </p:to>
                                    </p:set>
                                    <p:animEffect transition="in" filter="wipe(up)">
                                      <p:cBhvr>
                                        <p:cTn id="99" dur="500"/>
                                        <p:tgtEl>
                                          <p:spTgt spid="2413843"/>
                                        </p:tgtEl>
                                      </p:cBhvr>
                                    </p:animEffect>
                                  </p:childTnLst>
                                </p:cTn>
                              </p:par>
                            </p:childTnLst>
                          </p:cTn>
                        </p:par>
                        <p:par>
                          <p:cTn id="100" fill="hold">
                            <p:stCondLst>
                              <p:cond delay="5000"/>
                            </p:stCondLst>
                            <p:childTnLst>
                              <p:par>
                                <p:cTn id="101" presetID="22" presetClass="entr" presetSubtype="2" fill="hold" nodeType="afterEffect">
                                  <p:stCondLst>
                                    <p:cond delay="0"/>
                                  </p:stCondLst>
                                  <p:childTnLst>
                                    <p:set>
                                      <p:cBhvr>
                                        <p:cTn id="102" dur="1" fill="hold">
                                          <p:stCondLst>
                                            <p:cond delay="0"/>
                                          </p:stCondLst>
                                        </p:cTn>
                                        <p:tgtEl>
                                          <p:spTgt spid="2413842"/>
                                        </p:tgtEl>
                                        <p:attrNameLst>
                                          <p:attrName>style.visibility</p:attrName>
                                        </p:attrNameLst>
                                      </p:cBhvr>
                                      <p:to>
                                        <p:strVal val="visible"/>
                                      </p:to>
                                    </p:set>
                                    <p:animEffect transition="in" filter="wipe(right)">
                                      <p:cBhvr>
                                        <p:cTn id="103" dur="500"/>
                                        <p:tgtEl>
                                          <p:spTgt spid="2413842"/>
                                        </p:tgtEl>
                                      </p:cBhvr>
                                    </p:animEffect>
                                  </p:childTnLst>
                                </p:cTn>
                              </p:par>
                            </p:childTnLst>
                          </p:cTn>
                        </p:par>
                        <p:par>
                          <p:cTn id="104" fill="hold">
                            <p:stCondLst>
                              <p:cond delay="5500"/>
                            </p:stCondLst>
                            <p:childTnLst>
                              <p:par>
                                <p:cTn id="105" presetID="22" presetClass="entr" presetSubtype="2" fill="hold" nodeType="afterEffect">
                                  <p:stCondLst>
                                    <p:cond delay="0"/>
                                  </p:stCondLst>
                                  <p:childTnLst>
                                    <p:set>
                                      <p:cBhvr>
                                        <p:cTn id="106" dur="1" fill="hold">
                                          <p:stCondLst>
                                            <p:cond delay="0"/>
                                          </p:stCondLst>
                                        </p:cTn>
                                        <p:tgtEl>
                                          <p:spTgt spid="2413829"/>
                                        </p:tgtEl>
                                        <p:attrNameLst>
                                          <p:attrName>style.visibility</p:attrName>
                                        </p:attrNameLst>
                                      </p:cBhvr>
                                      <p:to>
                                        <p:strVal val="visible"/>
                                      </p:to>
                                    </p:set>
                                    <p:animEffect transition="in" filter="wipe(right)">
                                      <p:cBhvr>
                                        <p:cTn id="107" dur="500"/>
                                        <p:tgtEl>
                                          <p:spTgt spid="2413829"/>
                                        </p:tgtEl>
                                      </p:cBhvr>
                                    </p:animEffect>
                                  </p:childTnLst>
                                </p:cTn>
                              </p:par>
                            </p:childTnLst>
                          </p:cTn>
                        </p:par>
                        <p:par>
                          <p:cTn id="108" fill="hold">
                            <p:stCondLst>
                              <p:cond delay="6000"/>
                            </p:stCondLst>
                            <p:childTnLst>
                              <p:par>
                                <p:cTn id="109" presetID="22" presetClass="entr" presetSubtype="2" fill="hold" nodeType="afterEffect">
                                  <p:stCondLst>
                                    <p:cond delay="0"/>
                                  </p:stCondLst>
                                  <p:childTnLst>
                                    <p:set>
                                      <p:cBhvr>
                                        <p:cTn id="110" dur="1" fill="hold">
                                          <p:stCondLst>
                                            <p:cond delay="0"/>
                                          </p:stCondLst>
                                        </p:cTn>
                                        <p:tgtEl>
                                          <p:spTgt spid="2413841"/>
                                        </p:tgtEl>
                                        <p:attrNameLst>
                                          <p:attrName>style.visibility</p:attrName>
                                        </p:attrNameLst>
                                      </p:cBhvr>
                                      <p:to>
                                        <p:strVal val="visible"/>
                                      </p:to>
                                    </p:set>
                                    <p:animEffect transition="in" filter="wipe(right)">
                                      <p:cBhvr>
                                        <p:cTn id="111" dur="500"/>
                                        <p:tgtEl>
                                          <p:spTgt spid="2413841"/>
                                        </p:tgtEl>
                                      </p:cBhvr>
                                    </p:animEffect>
                                  </p:childTnLst>
                                </p:cTn>
                              </p:par>
                            </p:childTnLst>
                          </p:cTn>
                        </p:par>
                        <p:par>
                          <p:cTn id="112" fill="hold">
                            <p:stCondLst>
                              <p:cond delay="6500"/>
                            </p:stCondLst>
                            <p:childTnLst>
                              <p:par>
                                <p:cTn id="113" presetID="22" presetClass="entr" presetSubtype="4" fill="hold" nodeType="afterEffect">
                                  <p:stCondLst>
                                    <p:cond delay="0"/>
                                  </p:stCondLst>
                                  <p:childTnLst>
                                    <p:set>
                                      <p:cBhvr>
                                        <p:cTn id="114" dur="1" fill="hold">
                                          <p:stCondLst>
                                            <p:cond delay="0"/>
                                          </p:stCondLst>
                                        </p:cTn>
                                        <p:tgtEl>
                                          <p:spTgt spid="2413814"/>
                                        </p:tgtEl>
                                        <p:attrNameLst>
                                          <p:attrName>style.visibility</p:attrName>
                                        </p:attrNameLst>
                                      </p:cBhvr>
                                      <p:to>
                                        <p:strVal val="visible"/>
                                      </p:to>
                                    </p:set>
                                    <p:animEffect transition="in" filter="wipe(down)">
                                      <p:cBhvr>
                                        <p:cTn id="115" dur="500"/>
                                        <p:tgtEl>
                                          <p:spTgt spid="24138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3811" grpId="0" animBg="1"/>
      <p:bldP spid="2413812" grpId="0"/>
      <p:bldP spid="2413838" grpId="0" animBg="1"/>
      <p:bldP spid="2413839" grpId="0"/>
      <p:bldP spid="2413840"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5618"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15624" name="Text Box 8"/>
          <p:cNvSpPr txBox="1"/>
          <p:nvPr/>
        </p:nvSpPr>
        <p:spPr>
          <a:xfrm>
            <a:off x="503238" y="728663"/>
            <a:ext cx="4573587" cy="641350"/>
          </a:xfrm>
          <a:prstGeom prst="rect">
            <a:avLst/>
          </a:prstGeom>
          <a:solidFill>
            <a:srgbClr val="99CCFF"/>
          </a:solidFill>
          <a:ln w="9525">
            <a:noFill/>
          </a:ln>
        </p:spPr>
        <p:txBody>
          <a:bodyPr>
            <a:spAutoFit/>
          </a:bodyPr>
          <a:p>
            <a:pPr eaLnBrk="1" hangingPunct="1"/>
            <a:r>
              <a:rPr lang="en-US" altLang="zh-CN" dirty="0">
                <a:latin typeface="Times New Roman" panose="02020603050405020304" pitchFamily="18" charset="0"/>
              </a:rPr>
              <a:t>3.6.1 </a:t>
            </a:r>
            <a:r>
              <a:rPr lang="zh-CN" altLang="en-US" dirty="0">
                <a:latin typeface="Times New Roman" panose="02020603050405020304" pitchFamily="18" charset="0"/>
              </a:rPr>
              <a:t>通道的扩展方法</a:t>
            </a:r>
            <a:endParaRPr lang="zh-CN" altLang="en-US" dirty="0">
              <a:latin typeface="Times New Roman" panose="02020603050405020304" pitchFamily="18" charset="0"/>
            </a:endParaRPr>
          </a:p>
        </p:txBody>
      </p:sp>
      <p:sp>
        <p:nvSpPr>
          <p:cNvPr id="2415625" name="Text Box 9"/>
          <p:cNvSpPr txBox="1"/>
          <p:nvPr/>
        </p:nvSpPr>
        <p:spPr>
          <a:xfrm>
            <a:off x="719138" y="1557338"/>
            <a:ext cx="5761037" cy="476250"/>
          </a:xfrm>
          <a:prstGeom prst="rect">
            <a:avLst/>
          </a:prstGeom>
          <a:noFill/>
          <a:ln w="9525">
            <a:noFill/>
          </a:ln>
        </p:spPr>
        <p:txBody>
          <a:bodyPr>
            <a:spAutoFit/>
          </a:bodyPr>
          <a:p>
            <a:pPr eaLnBrk="1" hangingPunct="1">
              <a:lnSpc>
                <a:spcPct val="90000"/>
              </a:lnSpc>
              <a:spcBef>
                <a:spcPct val="50000"/>
              </a:spcBef>
            </a:pPr>
            <a:r>
              <a:rPr lang="zh-CN" altLang="en-US" sz="2800" dirty="0">
                <a:solidFill>
                  <a:schemeClr val="tx1"/>
                </a:solidFill>
                <a:latin typeface="黑体" panose="02010609060101010101" pitchFamily="49" charset="-122"/>
                <a:ea typeface="黑体" panose="02010609060101010101" pitchFamily="49" charset="-122"/>
              </a:rPr>
              <a:t>以</a:t>
            </a:r>
            <a:r>
              <a:rPr lang="en-US" altLang="zh-CN" sz="2800" dirty="0">
                <a:solidFill>
                  <a:schemeClr val="tx1"/>
                </a:solidFill>
                <a:latin typeface="黑体" panose="02010609060101010101" pitchFamily="49" charset="-122"/>
                <a:ea typeface="黑体" panose="02010609060101010101" pitchFamily="49" charset="-122"/>
              </a:rPr>
              <a:t>CD4051</a:t>
            </a:r>
            <a:r>
              <a:rPr lang="zh-CN" altLang="en-US" sz="2800" dirty="0">
                <a:solidFill>
                  <a:schemeClr val="tx1"/>
                </a:solidFill>
                <a:latin typeface="黑体" panose="02010609060101010101" pitchFamily="49" charset="-122"/>
                <a:ea typeface="黑体" panose="02010609060101010101" pitchFamily="49" charset="-122"/>
              </a:rPr>
              <a:t>为例，扩展通道的方法有：</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15626" name="Text Box 10"/>
          <p:cNvSpPr txBox="1"/>
          <p:nvPr/>
        </p:nvSpPr>
        <p:spPr>
          <a:xfrm>
            <a:off x="1008063" y="2168525"/>
            <a:ext cx="7451725" cy="1570038"/>
          </a:xfrm>
          <a:prstGeom prst="rect">
            <a:avLst/>
          </a:prstGeom>
          <a:noFill/>
          <a:ln w="9525">
            <a:noFill/>
          </a:ln>
        </p:spPr>
        <p:txBody>
          <a:bodyPr>
            <a:spAutoFit/>
          </a:bodyPr>
          <a:p>
            <a:pPr eaLnBrk="1" hangingPunct="1">
              <a:spcBef>
                <a:spcPct val="50000"/>
              </a:spcBef>
            </a:pPr>
            <a:r>
              <a:rPr lang="zh-CN" altLang="en-US" sz="2400" dirty="0">
                <a:latin typeface="Times New Roman" panose="02020603050405020304" pitchFamily="18" charset="0"/>
              </a:rPr>
              <a:t>将</a:t>
            </a:r>
            <a:r>
              <a:rPr lang="en-US" altLang="zh-CN" sz="2400" i="1" dirty="0">
                <a:latin typeface="Times New Roman" panose="02020603050405020304" pitchFamily="18" charset="0"/>
              </a:rPr>
              <a:t>n</a:t>
            </a:r>
            <a:r>
              <a:rPr lang="zh-CN" altLang="en-US" sz="2400" dirty="0">
                <a:latin typeface="Times New Roman" panose="02020603050405020304" pitchFamily="18" charset="0"/>
              </a:rPr>
              <a:t>片</a:t>
            </a:r>
            <a:r>
              <a:rPr lang="en-US" altLang="zh-CN" sz="2400" dirty="0">
                <a:latin typeface="Times New Roman" panose="02020603050405020304" pitchFamily="18" charset="0"/>
              </a:rPr>
              <a:t>CD4051</a:t>
            </a:r>
            <a:r>
              <a:rPr lang="zh-CN" altLang="en-US" sz="2400" dirty="0">
                <a:latin typeface="Times New Roman" panose="02020603050405020304" pitchFamily="18" charset="0"/>
              </a:rPr>
              <a:t>加以组合，用门电路（例如或门、反相器等）组成地址译码器，产生</a:t>
            </a:r>
            <a:r>
              <a:rPr lang="en-US" altLang="zh-CN" sz="2400" i="1" dirty="0">
                <a:latin typeface="Times New Roman" panose="02020603050405020304" pitchFamily="18" charset="0"/>
              </a:rPr>
              <a:t>n</a:t>
            </a:r>
            <a:r>
              <a:rPr lang="zh-CN" altLang="en-US" sz="2400" dirty="0">
                <a:latin typeface="Times New Roman" panose="02020603050405020304" pitchFamily="18" charset="0"/>
              </a:rPr>
              <a:t>个选址信号（片选信号），分别接各片</a:t>
            </a:r>
            <a:r>
              <a:rPr lang="en-US" altLang="zh-CN" sz="2400" dirty="0">
                <a:latin typeface="Times New Roman" panose="02020603050405020304" pitchFamily="18" charset="0"/>
              </a:rPr>
              <a:t>CD4051</a:t>
            </a:r>
            <a:r>
              <a:rPr lang="zh-CN" altLang="en-US" sz="2400" dirty="0">
                <a:latin typeface="Times New Roman" panose="02020603050405020304" pitchFamily="18" charset="0"/>
              </a:rPr>
              <a:t>的片选端，即可把通道数扩展为</a:t>
            </a:r>
            <a:r>
              <a:rPr lang="en-US" altLang="zh-CN" sz="2400" dirty="0">
                <a:latin typeface="Times New Roman" panose="02020603050405020304" pitchFamily="18" charset="0"/>
              </a:rPr>
              <a:t>8 </a:t>
            </a:r>
            <a:r>
              <a:rPr lang="en-US" altLang="zh-CN" sz="2400" i="1" dirty="0">
                <a:latin typeface="Times New Roman" panose="02020603050405020304" pitchFamily="18" charset="0"/>
              </a:rPr>
              <a:t>n</a:t>
            </a:r>
            <a:r>
              <a:rPr lang="zh-CN" altLang="en-US" sz="2400" dirty="0">
                <a:latin typeface="Times New Roman" panose="02020603050405020304" pitchFamily="18" charset="0"/>
              </a:rPr>
              <a:t>个 ；</a:t>
            </a:r>
            <a:endParaRPr lang="zh-CN" altLang="en-US" sz="2400" dirty="0">
              <a:latin typeface="Times New Roman" panose="02020603050405020304" pitchFamily="18" charset="0"/>
            </a:endParaRPr>
          </a:p>
        </p:txBody>
      </p:sp>
      <p:sp>
        <p:nvSpPr>
          <p:cNvPr id="2415627" name="Text Box 11"/>
          <p:cNvSpPr txBox="1"/>
          <p:nvPr/>
        </p:nvSpPr>
        <p:spPr>
          <a:xfrm>
            <a:off x="1008063" y="3830638"/>
            <a:ext cx="7308850" cy="830262"/>
          </a:xfrm>
          <a:prstGeom prst="rect">
            <a:avLst/>
          </a:prstGeom>
          <a:noFill/>
          <a:ln w="9525">
            <a:noFill/>
          </a:ln>
        </p:spPr>
        <p:txBody>
          <a:bodyPr>
            <a:spAutoFit/>
          </a:bodyPr>
          <a:p>
            <a:pPr eaLnBrk="1" hangingPunct="1">
              <a:spcBef>
                <a:spcPct val="50000"/>
              </a:spcBef>
            </a:pPr>
            <a:r>
              <a:rPr lang="zh-CN" altLang="en-US" sz="2400" dirty="0">
                <a:latin typeface="Times New Roman" panose="02020603050405020304" pitchFamily="18" charset="0"/>
              </a:rPr>
              <a:t>将</a:t>
            </a:r>
            <a:r>
              <a:rPr lang="en-US" altLang="zh-CN" sz="2400" i="1" dirty="0">
                <a:latin typeface="Times New Roman" panose="02020603050405020304" pitchFamily="18" charset="0"/>
              </a:rPr>
              <a:t>n</a:t>
            </a:r>
            <a:r>
              <a:rPr lang="zh-CN" altLang="en-US" sz="2400" dirty="0">
                <a:latin typeface="Times New Roman" panose="02020603050405020304" pitchFamily="18" charset="0"/>
              </a:rPr>
              <a:t>片</a:t>
            </a:r>
            <a:r>
              <a:rPr lang="en-US" altLang="zh-CN" sz="2400" dirty="0">
                <a:latin typeface="Times New Roman" panose="02020603050405020304" pitchFamily="18" charset="0"/>
              </a:rPr>
              <a:t>CD4051</a:t>
            </a:r>
            <a:r>
              <a:rPr lang="zh-CN" altLang="en-US" sz="2400" dirty="0">
                <a:latin typeface="Times New Roman" panose="02020603050405020304" pitchFamily="18" charset="0"/>
              </a:rPr>
              <a:t>加以组合，采用集成的地址译码器产生</a:t>
            </a:r>
            <a:r>
              <a:rPr lang="en-US" altLang="zh-CN" sz="2400" i="1" dirty="0">
                <a:latin typeface="Times New Roman" panose="02020603050405020304" pitchFamily="18" charset="0"/>
              </a:rPr>
              <a:t>n</a:t>
            </a:r>
            <a:r>
              <a:rPr lang="zh-CN" altLang="en-US" sz="2400" dirty="0">
                <a:latin typeface="Times New Roman" panose="02020603050405020304" pitchFamily="18" charset="0"/>
              </a:rPr>
              <a:t>个选址信号；</a:t>
            </a:r>
            <a:endParaRPr lang="zh-CN" altLang="en-US" sz="2400" dirty="0">
              <a:latin typeface="Times New Roman" panose="02020603050405020304" pitchFamily="18" charset="0"/>
            </a:endParaRPr>
          </a:p>
        </p:txBody>
      </p:sp>
      <p:sp>
        <p:nvSpPr>
          <p:cNvPr id="2415628" name="Text Box 12"/>
          <p:cNvSpPr txBox="1"/>
          <p:nvPr/>
        </p:nvSpPr>
        <p:spPr>
          <a:xfrm>
            <a:off x="1008063" y="4875213"/>
            <a:ext cx="7451725" cy="830262"/>
          </a:xfrm>
          <a:prstGeom prst="rect">
            <a:avLst/>
          </a:prstGeom>
          <a:noFill/>
          <a:ln w="9525">
            <a:noFill/>
          </a:ln>
        </p:spPr>
        <p:txBody>
          <a:bodyPr>
            <a:spAutoFit/>
          </a:bodyPr>
          <a:p>
            <a:pPr eaLnBrk="1" hangingPunct="1">
              <a:spcBef>
                <a:spcPct val="50000"/>
              </a:spcBef>
            </a:pPr>
            <a:r>
              <a:rPr lang="zh-CN" altLang="en-US" sz="2400" dirty="0">
                <a:latin typeface="Times New Roman" panose="02020603050405020304" pitchFamily="18" charset="0"/>
              </a:rPr>
              <a:t>将</a:t>
            </a:r>
            <a:r>
              <a:rPr lang="en-US" altLang="zh-CN" sz="2400" i="1" dirty="0">
                <a:latin typeface="Times New Roman" panose="02020603050405020304" pitchFamily="18" charset="0"/>
              </a:rPr>
              <a:t>n</a:t>
            </a:r>
            <a:r>
              <a:rPr lang="zh-CN" altLang="en-US" sz="2400" dirty="0">
                <a:latin typeface="Times New Roman" panose="02020603050405020304" pitchFamily="18" charset="0"/>
              </a:rPr>
              <a:t>片</a:t>
            </a:r>
            <a:r>
              <a:rPr lang="en-US" altLang="zh-CN" sz="2400" dirty="0">
                <a:latin typeface="Times New Roman" panose="02020603050405020304" pitchFamily="18" charset="0"/>
              </a:rPr>
              <a:t>CD4051</a:t>
            </a:r>
            <a:r>
              <a:rPr lang="zh-CN" altLang="en-US" sz="2400" dirty="0">
                <a:latin typeface="Times New Roman" panose="02020603050405020304" pitchFamily="18" charset="0"/>
              </a:rPr>
              <a:t>加以组合，另外使用一片</a:t>
            </a:r>
            <a:r>
              <a:rPr lang="en-US" altLang="zh-CN" sz="2400" dirty="0">
                <a:latin typeface="Times New Roman" panose="02020603050405020304" pitchFamily="18" charset="0"/>
              </a:rPr>
              <a:t>CD4051</a:t>
            </a:r>
            <a:r>
              <a:rPr lang="zh-CN" altLang="en-US" sz="2400" dirty="0">
                <a:latin typeface="Times New Roman" panose="02020603050405020304" pitchFamily="18" charset="0"/>
              </a:rPr>
              <a:t>完成地址译码功能。</a:t>
            </a:r>
            <a:endParaRPr lang="zh-CN" altLang="en-US" sz="2400" dirty="0">
              <a:latin typeface="Times New Roman" panose="02020603050405020304" pitchFamily="18" charset="0"/>
            </a:endParaRPr>
          </a:p>
        </p:txBody>
      </p:sp>
      <p:sp>
        <p:nvSpPr>
          <p:cNvPr id="2415629" name="Text Box 13"/>
          <p:cNvSpPr txBox="1"/>
          <p:nvPr/>
        </p:nvSpPr>
        <p:spPr>
          <a:xfrm>
            <a:off x="503238" y="2168525"/>
            <a:ext cx="1008062" cy="519113"/>
          </a:xfrm>
          <a:prstGeom prst="rect">
            <a:avLst/>
          </a:prstGeom>
          <a:noFill/>
          <a:ln w="9525">
            <a:noFill/>
          </a:ln>
        </p:spPr>
        <p:txBody>
          <a:bodyPr>
            <a:spAutoFit/>
          </a:bodyPr>
          <a:p>
            <a:pPr eaLnBrk="1" hangingPunct="1">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415630" name="Text Box 14"/>
          <p:cNvSpPr txBox="1"/>
          <p:nvPr/>
        </p:nvSpPr>
        <p:spPr>
          <a:xfrm>
            <a:off x="503238" y="3816350"/>
            <a:ext cx="1008062" cy="519113"/>
          </a:xfrm>
          <a:prstGeom prst="rect">
            <a:avLst/>
          </a:prstGeom>
          <a:noFill/>
          <a:ln w="9525">
            <a:noFill/>
          </a:ln>
        </p:spPr>
        <p:txBody>
          <a:bodyPr>
            <a:spAutoFit/>
          </a:bodyPr>
          <a:p>
            <a:pPr eaLnBrk="1" hangingPunct="1">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415631" name="Text Box 15"/>
          <p:cNvSpPr txBox="1"/>
          <p:nvPr/>
        </p:nvSpPr>
        <p:spPr>
          <a:xfrm>
            <a:off x="503238" y="4875213"/>
            <a:ext cx="1038225" cy="519112"/>
          </a:xfrm>
          <a:prstGeom prst="rect">
            <a:avLst/>
          </a:prstGeom>
          <a:noFill/>
          <a:ln w="9525">
            <a:noFill/>
          </a:ln>
        </p:spPr>
        <p:txBody>
          <a:bodyPr>
            <a:spAutoFit/>
          </a:bodyPr>
          <a:p>
            <a:pPr eaLnBrk="1" hangingPunct="1">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5624"/>
                                        </p:tgtEl>
                                        <p:attrNameLst>
                                          <p:attrName>style.visibility</p:attrName>
                                        </p:attrNameLst>
                                      </p:cBhvr>
                                      <p:to>
                                        <p:strVal val="visible"/>
                                      </p:to>
                                    </p:set>
                                    <p:animEffect transition="in" filter="dissolve">
                                      <p:cBhvr>
                                        <p:cTn id="7" dur="500"/>
                                        <p:tgtEl>
                                          <p:spTgt spid="24156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5625"/>
                                        </p:tgtEl>
                                        <p:attrNameLst>
                                          <p:attrName>style.visibility</p:attrName>
                                        </p:attrNameLst>
                                      </p:cBhvr>
                                      <p:to>
                                        <p:strVal val="visible"/>
                                      </p:to>
                                    </p:set>
                                    <p:animEffect transition="in" filter="dissolve">
                                      <p:cBhvr>
                                        <p:cTn id="12" dur="500"/>
                                        <p:tgtEl>
                                          <p:spTgt spid="24156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5626"/>
                                        </p:tgtEl>
                                        <p:attrNameLst>
                                          <p:attrName>style.visibility</p:attrName>
                                        </p:attrNameLst>
                                      </p:cBhvr>
                                      <p:to>
                                        <p:strVal val="visible"/>
                                      </p:to>
                                    </p:set>
                                    <p:animEffect transition="in" filter="dissolve">
                                      <p:cBhvr>
                                        <p:cTn id="17" dur="500"/>
                                        <p:tgtEl>
                                          <p:spTgt spid="2415626"/>
                                        </p:tgtEl>
                                      </p:cBhvr>
                                    </p:animEffect>
                                  </p:childTnLst>
                                </p:cTn>
                              </p:par>
                              <p:par>
                                <p:cTn id="18" presetID="9" presetClass="entr" presetSubtype="0" fill="hold" nodeType="withEffect">
                                  <p:stCondLst>
                                    <p:cond delay="0"/>
                                  </p:stCondLst>
                                  <p:childTnLst>
                                    <p:set>
                                      <p:cBhvr>
                                        <p:cTn id="19" dur="1" fill="hold">
                                          <p:stCondLst>
                                            <p:cond delay="0"/>
                                          </p:stCondLst>
                                        </p:cTn>
                                        <p:tgtEl>
                                          <p:spTgt spid="2415629"/>
                                        </p:tgtEl>
                                        <p:attrNameLst>
                                          <p:attrName>style.visibility</p:attrName>
                                        </p:attrNameLst>
                                      </p:cBhvr>
                                      <p:to>
                                        <p:strVal val="visible"/>
                                      </p:to>
                                    </p:set>
                                    <p:animEffect transition="in" filter="dissolve">
                                      <p:cBhvr>
                                        <p:cTn id="20" dur="500"/>
                                        <p:tgtEl>
                                          <p:spTgt spid="24156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415627"/>
                                        </p:tgtEl>
                                        <p:attrNameLst>
                                          <p:attrName>style.visibility</p:attrName>
                                        </p:attrNameLst>
                                      </p:cBhvr>
                                      <p:to>
                                        <p:strVal val="visible"/>
                                      </p:to>
                                    </p:set>
                                    <p:animEffect transition="in" filter="dissolve">
                                      <p:cBhvr>
                                        <p:cTn id="25" dur="500"/>
                                        <p:tgtEl>
                                          <p:spTgt spid="2415627"/>
                                        </p:tgtEl>
                                      </p:cBhvr>
                                    </p:animEffect>
                                  </p:childTnLst>
                                </p:cTn>
                              </p:par>
                              <p:par>
                                <p:cTn id="26" presetID="9" presetClass="entr" presetSubtype="0" fill="hold" nodeType="withEffect">
                                  <p:stCondLst>
                                    <p:cond delay="0"/>
                                  </p:stCondLst>
                                  <p:childTnLst>
                                    <p:set>
                                      <p:cBhvr>
                                        <p:cTn id="27" dur="1" fill="hold">
                                          <p:stCondLst>
                                            <p:cond delay="0"/>
                                          </p:stCondLst>
                                        </p:cTn>
                                        <p:tgtEl>
                                          <p:spTgt spid="2415630"/>
                                        </p:tgtEl>
                                        <p:attrNameLst>
                                          <p:attrName>style.visibility</p:attrName>
                                        </p:attrNameLst>
                                      </p:cBhvr>
                                      <p:to>
                                        <p:strVal val="visible"/>
                                      </p:to>
                                    </p:set>
                                    <p:animEffect transition="in" filter="dissolve">
                                      <p:cBhvr>
                                        <p:cTn id="28" dur="500"/>
                                        <p:tgtEl>
                                          <p:spTgt spid="2415630"/>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415628"/>
                                        </p:tgtEl>
                                        <p:attrNameLst>
                                          <p:attrName>style.visibility</p:attrName>
                                        </p:attrNameLst>
                                      </p:cBhvr>
                                      <p:to>
                                        <p:strVal val="visible"/>
                                      </p:to>
                                    </p:set>
                                    <p:animEffect transition="in" filter="dissolve">
                                      <p:cBhvr>
                                        <p:cTn id="33" dur="500"/>
                                        <p:tgtEl>
                                          <p:spTgt spid="2415628"/>
                                        </p:tgtEl>
                                      </p:cBhvr>
                                    </p:animEffect>
                                  </p:childTnLst>
                                </p:cTn>
                              </p:par>
                              <p:par>
                                <p:cTn id="34" presetID="9" presetClass="entr" presetSubtype="0" fill="hold" nodeType="withEffect">
                                  <p:stCondLst>
                                    <p:cond delay="0"/>
                                  </p:stCondLst>
                                  <p:childTnLst>
                                    <p:set>
                                      <p:cBhvr>
                                        <p:cTn id="35" dur="1" fill="hold">
                                          <p:stCondLst>
                                            <p:cond delay="0"/>
                                          </p:stCondLst>
                                        </p:cTn>
                                        <p:tgtEl>
                                          <p:spTgt spid="2415631"/>
                                        </p:tgtEl>
                                        <p:attrNameLst>
                                          <p:attrName>style.visibility</p:attrName>
                                        </p:attrNameLst>
                                      </p:cBhvr>
                                      <p:to>
                                        <p:strVal val="visible"/>
                                      </p:to>
                                    </p:set>
                                    <p:animEffect transition="in" filter="dissolve">
                                      <p:cBhvr>
                                        <p:cTn id="36" dur="500"/>
                                        <p:tgtEl>
                                          <p:spTgt spid="24156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5624" grpId="0" animBg="1"/>
      <p:bldP spid="2415625" grpId="0"/>
      <p:bldP spid="2415626" grpId="0"/>
      <p:bldP spid="2415627" grpId="0"/>
      <p:bldP spid="2415628" grpId="0"/>
      <p:bldP spid="2415629" grpId="0"/>
      <p:bldP spid="2415630" grpId="0"/>
      <p:bldP spid="2415631"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6825" name="Rectangle 185"/>
          <p:cNvSpPr/>
          <p:nvPr/>
        </p:nvSpPr>
        <p:spPr>
          <a:xfrm>
            <a:off x="177800" y="2276475"/>
            <a:ext cx="1981200" cy="2087563"/>
          </a:xfrm>
          <a:prstGeom prst="rect">
            <a:avLst/>
          </a:prstGeom>
          <a:solidFill>
            <a:srgbClr val="99CC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12" name="Rectangle 172"/>
          <p:cNvSpPr/>
          <p:nvPr/>
        </p:nvSpPr>
        <p:spPr>
          <a:xfrm>
            <a:off x="2305050" y="1370013"/>
            <a:ext cx="6715125" cy="487362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642"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61445" name="Text Box 3"/>
          <p:cNvSpPr txBox="1"/>
          <p:nvPr/>
        </p:nvSpPr>
        <p:spPr>
          <a:xfrm>
            <a:off x="503238" y="728663"/>
            <a:ext cx="4175125"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3.6.1 </a:t>
            </a:r>
            <a:r>
              <a:rPr lang="zh-CN" altLang="en-US" sz="3200" dirty="0">
                <a:latin typeface="Times New Roman" panose="02020603050405020304" pitchFamily="18" charset="0"/>
              </a:rPr>
              <a:t>通道的扩展方法</a:t>
            </a:r>
            <a:endParaRPr lang="zh-CN" altLang="en-US" sz="3200" dirty="0">
              <a:latin typeface="Times New Roman" panose="02020603050405020304" pitchFamily="18" charset="0"/>
            </a:endParaRPr>
          </a:p>
        </p:txBody>
      </p:sp>
      <p:sp>
        <p:nvSpPr>
          <p:cNvPr id="2416651" name="Text Box 11"/>
          <p:cNvSpPr txBox="1"/>
          <p:nvPr/>
        </p:nvSpPr>
        <p:spPr>
          <a:xfrm>
            <a:off x="358775" y="1525588"/>
            <a:ext cx="1223963" cy="585787"/>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例子</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416656" name="Rectangle 16"/>
          <p:cNvSpPr/>
          <p:nvPr/>
        </p:nvSpPr>
        <p:spPr>
          <a:xfrm>
            <a:off x="5400675" y="1449388"/>
            <a:ext cx="1476375" cy="900112"/>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660" name="Text Box 20"/>
          <p:cNvSpPr txBox="1"/>
          <p:nvPr/>
        </p:nvSpPr>
        <p:spPr>
          <a:xfrm>
            <a:off x="5364163" y="16922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416661" name="Text Box 21"/>
          <p:cNvSpPr txBox="1"/>
          <p:nvPr/>
        </p:nvSpPr>
        <p:spPr>
          <a:xfrm>
            <a:off x="5364163" y="14636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416662" name="Text Box 22"/>
          <p:cNvSpPr txBox="1"/>
          <p:nvPr/>
        </p:nvSpPr>
        <p:spPr>
          <a:xfrm>
            <a:off x="5364163" y="190500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416663" name="Text Box 23"/>
          <p:cNvSpPr txBox="1"/>
          <p:nvPr/>
        </p:nvSpPr>
        <p:spPr>
          <a:xfrm>
            <a:off x="5375275" y="2111375"/>
            <a:ext cx="5651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r>
              <a:rPr lang="en-US" altLang="zh-CN" sz="1000" baseline="-25000" dirty="0">
                <a:solidFill>
                  <a:srgbClr val="FF0000"/>
                </a:solidFill>
                <a:latin typeface="Times New Roman" panose="02020603050405020304" pitchFamily="18" charset="0"/>
              </a:rPr>
              <a:t>0</a:t>
            </a:r>
            <a:endParaRPr lang="en-US" altLang="zh-CN" sz="1000" baseline="-25000" dirty="0">
              <a:solidFill>
                <a:srgbClr val="FF0000"/>
              </a:solidFill>
              <a:latin typeface="Times New Roman" panose="02020603050405020304" pitchFamily="18" charset="0"/>
            </a:endParaRPr>
          </a:p>
        </p:txBody>
      </p:sp>
      <p:sp>
        <p:nvSpPr>
          <p:cNvPr id="2416664" name="Line 24"/>
          <p:cNvSpPr/>
          <p:nvPr/>
        </p:nvSpPr>
        <p:spPr>
          <a:xfrm flipV="1">
            <a:off x="5468938" y="2165350"/>
            <a:ext cx="236537" cy="0"/>
          </a:xfrm>
          <a:prstGeom prst="line">
            <a:avLst/>
          </a:prstGeom>
          <a:ln w="9525" cap="flat" cmpd="sng">
            <a:solidFill>
              <a:srgbClr val="FF0000"/>
            </a:solidFill>
            <a:prstDash val="solid"/>
            <a:headEnd type="none" w="med" len="med"/>
            <a:tailEnd type="none" w="med" len="med"/>
          </a:ln>
        </p:spPr>
      </p:sp>
      <p:sp>
        <p:nvSpPr>
          <p:cNvPr id="2416665" name="Text Box 25"/>
          <p:cNvSpPr txBox="1"/>
          <p:nvPr/>
        </p:nvSpPr>
        <p:spPr>
          <a:xfrm>
            <a:off x="6629400" y="1463675"/>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0</a:t>
            </a:r>
            <a:endParaRPr lang="en-US" altLang="zh-CN" sz="1000" dirty="0">
              <a:solidFill>
                <a:srgbClr val="FF0000"/>
              </a:solidFill>
              <a:latin typeface="Times New Roman" panose="02020603050405020304" pitchFamily="18" charset="0"/>
            </a:endParaRPr>
          </a:p>
        </p:txBody>
      </p:sp>
      <p:sp>
        <p:nvSpPr>
          <p:cNvPr id="2416666" name="Rectangle 26"/>
          <p:cNvSpPr/>
          <p:nvPr/>
        </p:nvSpPr>
        <p:spPr>
          <a:xfrm>
            <a:off x="6646863" y="1676400"/>
            <a:ext cx="409575" cy="411163"/>
          </a:xfrm>
          <a:prstGeom prst="rect">
            <a:avLst/>
          </a:prstGeom>
          <a:noFill/>
          <a:ln w="9525">
            <a:noFill/>
          </a:ln>
        </p:spPr>
        <p:txBody>
          <a:bodyPr>
            <a:spAutoFit/>
          </a:bodyPr>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p:txBody>
      </p:sp>
      <p:sp>
        <p:nvSpPr>
          <p:cNvPr id="2416667" name="Text Box 27"/>
          <p:cNvSpPr txBox="1"/>
          <p:nvPr/>
        </p:nvSpPr>
        <p:spPr>
          <a:xfrm>
            <a:off x="6627813" y="211137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7</a:t>
            </a:r>
            <a:endParaRPr lang="en-US" altLang="zh-CN" sz="1000" dirty="0">
              <a:solidFill>
                <a:srgbClr val="FF0000"/>
              </a:solidFill>
              <a:latin typeface="Times New Roman" panose="02020603050405020304" pitchFamily="18" charset="0"/>
            </a:endParaRPr>
          </a:p>
        </p:txBody>
      </p:sp>
      <p:sp>
        <p:nvSpPr>
          <p:cNvPr id="2416668" name="Text Box 28"/>
          <p:cNvSpPr txBox="1"/>
          <p:nvPr/>
        </p:nvSpPr>
        <p:spPr>
          <a:xfrm>
            <a:off x="6016625" y="2157413"/>
            <a:ext cx="4635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I/O1</a:t>
            </a:r>
            <a:endParaRPr lang="en-US" altLang="zh-CN" sz="1000" baseline="-25000" dirty="0">
              <a:solidFill>
                <a:srgbClr val="FF0000"/>
              </a:solidFill>
              <a:latin typeface="Times New Roman" panose="02020603050405020304" pitchFamily="18" charset="0"/>
            </a:endParaRPr>
          </a:p>
        </p:txBody>
      </p:sp>
      <p:sp>
        <p:nvSpPr>
          <p:cNvPr id="2416669" name="Text Box 29"/>
          <p:cNvSpPr txBox="1"/>
          <p:nvPr/>
        </p:nvSpPr>
        <p:spPr>
          <a:xfrm>
            <a:off x="5940425" y="1520825"/>
            <a:ext cx="468313"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IC</a:t>
            </a:r>
            <a:r>
              <a:rPr lang="en-US" altLang="zh-CN" sz="1200" baseline="-10000" dirty="0">
                <a:solidFill>
                  <a:schemeClr val="accent2"/>
                </a:solidFill>
                <a:latin typeface="Times New Roman" panose="02020603050405020304" pitchFamily="18" charset="0"/>
              </a:rPr>
              <a:t>0</a:t>
            </a:r>
            <a:endParaRPr lang="en-US" altLang="zh-CN" sz="1200" baseline="-10000" dirty="0">
              <a:solidFill>
                <a:schemeClr val="accent2"/>
              </a:solidFill>
              <a:latin typeface="Times New Roman" panose="02020603050405020304" pitchFamily="18" charset="0"/>
            </a:endParaRPr>
          </a:p>
        </p:txBody>
      </p:sp>
      <p:sp>
        <p:nvSpPr>
          <p:cNvPr id="2416670" name="Text Box 30"/>
          <p:cNvSpPr txBox="1"/>
          <p:nvPr/>
        </p:nvSpPr>
        <p:spPr>
          <a:xfrm>
            <a:off x="5797550" y="1731963"/>
            <a:ext cx="720725" cy="258762"/>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CD4051</a:t>
            </a:r>
            <a:endParaRPr lang="en-US" altLang="zh-CN" sz="1200" baseline="-10000" dirty="0">
              <a:solidFill>
                <a:schemeClr val="accent2"/>
              </a:solidFill>
              <a:latin typeface="Times New Roman" panose="02020603050405020304" pitchFamily="18" charset="0"/>
            </a:endParaRPr>
          </a:p>
        </p:txBody>
      </p:sp>
      <p:sp>
        <p:nvSpPr>
          <p:cNvPr id="2416671" name="Line 31"/>
          <p:cNvSpPr/>
          <p:nvPr/>
        </p:nvSpPr>
        <p:spPr>
          <a:xfrm>
            <a:off x="6877050" y="1573213"/>
            <a:ext cx="755650" cy="0"/>
          </a:xfrm>
          <a:prstGeom prst="line">
            <a:avLst/>
          </a:prstGeom>
          <a:ln w="12700" cap="flat" cmpd="sng">
            <a:solidFill>
              <a:schemeClr val="accent2"/>
            </a:solidFill>
            <a:prstDash val="solid"/>
            <a:headEnd type="none" w="med" len="med"/>
            <a:tailEnd type="none" w="med" len="med"/>
          </a:ln>
        </p:spPr>
      </p:sp>
      <p:sp>
        <p:nvSpPr>
          <p:cNvPr id="2416672" name="Line 32"/>
          <p:cNvSpPr/>
          <p:nvPr/>
        </p:nvSpPr>
        <p:spPr>
          <a:xfrm>
            <a:off x="6877050" y="2217738"/>
            <a:ext cx="755650" cy="0"/>
          </a:xfrm>
          <a:prstGeom prst="line">
            <a:avLst/>
          </a:prstGeom>
          <a:ln w="12700" cap="flat" cmpd="sng">
            <a:solidFill>
              <a:schemeClr val="accent2"/>
            </a:solidFill>
            <a:prstDash val="solid"/>
            <a:headEnd type="none" w="med" len="med"/>
            <a:tailEnd type="none" w="med" len="med"/>
          </a:ln>
        </p:spPr>
      </p:sp>
      <p:sp>
        <p:nvSpPr>
          <p:cNvPr id="2416673" name="Rectangle 33"/>
          <p:cNvSpPr/>
          <p:nvPr/>
        </p:nvSpPr>
        <p:spPr>
          <a:xfrm>
            <a:off x="7237413" y="1674813"/>
            <a:ext cx="409575" cy="411162"/>
          </a:xfrm>
          <a:prstGeom prst="rect">
            <a:avLst/>
          </a:prstGeom>
          <a:noFill/>
          <a:ln w="9525">
            <a:noFill/>
          </a:ln>
        </p:spPr>
        <p:txBody>
          <a:bodyPr>
            <a:spAutoFit/>
          </a:bodyPr>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p:txBody>
      </p:sp>
      <p:sp>
        <p:nvSpPr>
          <p:cNvPr id="2416674" name="Line 34"/>
          <p:cNvSpPr/>
          <p:nvPr/>
        </p:nvSpPr>
        <p:spPr>
          <a:xfrm>
            <a:off x="6229350" y="2349500"/>
            <a:ext cx="0" cy="144463"/>
          </a:xfrm>
          <a:prstGeom prst="line">
            <a:avLst/>
          </a:prstGeom>
          <a:ln w="12700" cap="flat" cmpd="sng">
            <a:solidFill>
              <a:schemeClr val="accent2"/>
            </a:solidFill>
            <a:prstDash val="solid"/>
            <a:headEnd type="none" w="med" len="med"/>
            <a:tailEnd type="none" w="med" len="med"/>
          </a:ln>
        </p:spPr>
      </p:sp>
      <p:sp>
        <p:nvSpPr>
          <p:cNvPr id="2416676" name="Line 36"/>
          <p:cNvSpPr/>
          <p:nvPr/>
        </p:nvSpPr>
        <p:spPr>
          <a:xfrm>
            <a:off x="6229350" y="2493963"/>
            <a:ext cx="1692275" cy="0"/>
          </a:xfrm>
          <a:prstGeom prst="line">
            <a:avLst/>
          </a:prstGeom>
          <a:ln w="12700" cap="flat" cmpd="sng">
            <a:solidFill>
              <a:schemeClr val="accent2"/>
            </a:solidFill>
            <a:prstDash val="solid"/>
            <a:headEnd type="none" w="med" len="med"/>
            <a:tailEnd type="none" w="med" len="med"/>
          </a:ln>
        </p:spPr>
      </p:sp>
      <p:sp>
        <p:nvSpPr>
          <p:cNvPr id="2416677" name="Line 37"/>
          <p:cNvSpPr/>
          <p:nvPr/>
        </p:nvSpPr>
        <p:spPr>
          <a:xfrm flipH="1">
            <a:off x="2555875" y="1573213"/>
            <a:ext cx="2844800" cy="0"/>
          </a:xfrm>
          <a:prstGeom prst="line">
            <a:avLst/>
          </a:prstGeom>
          <a:ln w="12700" cap="flat" cmpd="sng">
            <a:solidFill>
              <a:schemeClr val="accent2"/>
            </a:solidFill>
            <a:prstDash val="solid"/>
            <a:headEnd type="none" w="med" len="med"/>
            <a:tailEnd type="none" w="med" len="med"/>
          </a:ln>
        </p:spPr>
      </p:sp>
      <p:sp>
        <p:nvSpPr>
          <p:cNvPr id="2416678" name="Line 38"/>
          <p:cNvSpPr/>
          <p:nvPr/>
        </p:nvSpPr>
        <p:spPr>
          <a:xfrm flipH="1">
            <a:off x="2555875" y="1800225"/>
            <a:ext cx="2844800" cy="0"/>
          </a:xfrm>
          <a:prstGeom prst="line">
            <a:avLst/>
          </a:prstGeom>
          <a:ln w="12700" cap="flat" cmpd="sng">
            <a:solidFill>
              <a:schemeClr val="accent2"/>
            </a:solidFill>
            <a:prstDash val="solid"/>
            <a:headEnd type="none" w="med" len="med"/>
            <a:tailEnd type="none" w="med" len="med"/>
          </a:ln>
        </p:spPr>
      </p:sp>
      <p:sp>
        <p:nvSpPr>
          <p:cNvPr id="2416679" name="Line 39"/>
          <p:cNvSpPr/>
          <p:nvPr/>
        </p:nvSpPr>
        <p:spPr>
          <a:xfrm flipH="1">
            <a:off x="2555875" y="2008188"/>
            <a:ext cx="2844800" cy="0"/>
          </a:xfrm>
          <a:prstGeom prst="line">
            <a:avLst/>
          </a:prstGeom>
          <a:ln w="12700" cap="flat" cmpd="sng">
            <a:solidFill>
              <a:schemeClr val="accent2"/>
            </a:solidFill>
            <a:prstDash val="solid"/>
            <a:headEnd type="none" w="med" len="med"/>
            <a:tailEnd type="none" w="med" len="med"/>
          </a:ln>
        </p:spPr>
      </p:sp>
      <p:sp>
        <p:nvSpPr>
          <p:cNvPr id="2416680" name="Line 40"/>
          <p:cNvSpPr/>
          <p:nvPr/>
        </p:nvSpPr>
        <p:spPr>
          <a:xfrm flipH="1">
            <a:off x="4392613" y="2217738"/>
            <a:ext cx="1008062" cy="0"/>
          </a:xfrm>
          <a:prstGeom prst="line">
            <a:avLst/>
          </a:prstGeom>
          <a:ln w="12700" cap="flat" cmpd="sng">
            <a:solidFill>
              <a:schemeClr val="accent2"/>
            </a:solidFill>
            <a:prstDash val="solid"/>
            <a:headEnd type="none" w="med" len="med"/>
            <a:tailEnd type="none" w="med" len="med"/>
          </a:ln>
        </p:spPr>
      </p:sp>
      <p:sp>
        <p:nvSpPr>
          <p:cNvPr id="2416681" name="Rectangle 41"/>
          <p:cNvSpPr/>
          <p:nvPr/>
        </p:nvSpPr>
        <p:spPr>
          <a:xfrm>
            <a:off x="5400675" y="2673350"/>
            <a:ext cx="1476375" cy="900113"/>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682" name="Text Box 42"/>
          <p:cNvSpPr txBox="1"/>
          <p:nvPr/>
        </p:nvSpPr>
        <p:spPr>
          <a:xfrm>
            <a:off x="5364163" y="2916238"/>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416683" name="Text Box 43"/>
          <p:cNvSpPr txBox="1"/>
          <p:nvPr/>
        </p:nvSpPr>
        <p:spPr>
          <a:xfrm>
            <a:off x="5364163" y="2687638"/>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416684" name="Text Box 44"/>
          <p:cNvSpPr txBox="1"/>
          <p:nvPr/>
        </p:nvSpPr>
        <p:spPr>
          <a:xfrm>
            <a:off x="5364163" y="31289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416685" name="Text Box 45"/>
          <p:cNvSpPr txBox="1"/>
          <p:nvPr/>
        </p:nvSpPr>
        <p:spPr>
          <a:xfrm>
            <a:off x="5375275" y="3335338"/>
            <a:ext cx="5651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r>
              <a:rPr lang="en-US" altLang="zh-CN" sz="1000" baseline="-25000" dirty="0">
                <a:solidFill>
                  <a:srgbClr val="FF0000"/>
                </a:solidFill>
                <a:latin typeface="Times New Roman" panose="02020603050405020304" pitchFamily="18" charset="0"/>
              </a:rPr>
              <a:t>1</a:t>
            </a:r>
            <a:endParaRPr lang="en-US" altLang="zh-CN" sz="1000" baseline="-25000" dirty="0">
              <a:solidFill>
                <a:srgbClr val="FF0000"/>
              </a:solidFill>
              <a:latin typeface="Times New Roman" panose="02020603050405020304" pitchFamily="18" charset="0"/>
            </a:endParaRPr>
          </a:p>
        </p:txBody>
      </p:sp>
      <p:sp>
        <p:nvSpPr>
          <p:cNvPr id="2416686" name="Line 46"/>
          <p:cNvSpPr/>
          <p:nvPr/>
        </p:nvSpPr>
        <p:spPr>
          <a:xfrm flipV="1">
            <a:off x="5468938" y="3389313"/>
            <a:ext cx="236537" cy="0"/>
          </a:xfrm>
          <a:prstGeom prst="line">
            <a:avLst/>
          </a:prstGeom>
          <a:ln w="9525" cap="flat" cmpd="sng">
            <a:solidFill>
              <a:srgbClr val="FF0000"/>
            </a:solidFill>
            <a:prstDash val="solid"/>
            <a:headEnd type="none" w="med" len="med"/>
            <a:tailEnd type="none" w="med" len="med"/>
          </a:ln>
        </p:spPr>
      </p:sp>
      <p:sp>
        <p:nvSpPr>
          <p:cNvPr id="2416687" name="Text Box 47"/>
          <p:cNvSpPr txBox="1"/>
          <p:nvPr/>
        </p:nvSpPr>
        <p:spPr>
          <a:xfrm>
            <a:off x="6629400" y="26876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8</a:t>
            </a:r>
            <a:endParaRPr lang="en-US" altLang="zh-CN" sz="1000" dirty="0">
              <a:solidFill>
                <a:srgbClr val="FF0000"/>
              </a:solidFill>
              <a:latin typeface="Times New Roman" panose="02020603050405020304" pitchFamily="18" charset="0"/>
            </a:endParaRPr>
          </a:p>
        </p:txBody>
      </p:sp>
      <p:sp>
        <p:nvSpPr>
          <p:cNvPr id="2416688" name="Rectangle 48"/>
          <p:cNvSpPr/>
          <p:nvPr/>
        </p:nvSpPr>
        <p:spPr>
          <a:xfrm>
            <a:off x="6646863" y="2900363"/>
            <a:ext cx="409575" cy="411162"/>
          </a:xfrm>
          <a:prstGeom prst="rect">
            <a:avLst/>
          </a:prstGeom>
          <a:noFill/>
          <a:ln w="9525">
            <a:noFill/>
          </a:ln>
        </p:spPr>
        <p:txBody>
          <a:bodyPr>
            <a:spAutoFit/>
          </a:bodyPr>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p:txBody>
      </p:sp>
      <p:sp>
        <p:nvSpPr>
          <p:cNvPr id="2416689" name="Text Box 49"/>
          <p:cNvSpPr txBox="1"/>
          <p:nvPr/>
        </p:nvSpPr>
        <p:spPr>
          <a:xfrm>
            <a:off x="6588125" y="3335338"/>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15</a:t>
            </a:r>
            <a:endParaRPr lang="en-US" altLang="zh-CN" sz="1000" dirty="0">
              <a:solidFill>
                <a:srgbClr val="FF0000"/>
              </a:solidFill>
              <a:latin typeface="Times New Roman" panose="02020603050405020304" pitchFamily="18" charset="0"/>
            </a:endParaRPr>
          </a:p>
        </p:txBody>
      </p:sp>
      <p:sp>
        <p:nvSpPr>
          <p:cNvPr id="2416690" name="Text Box 50"/>
          <p:cNvSpPr txBox="1"/>
          <p:nvPr/>
        </p:nvSpPr>
        <p:spPr>
          <a:xfrm>
            <a:off x="6016625" y="3381375"/>
            <a:ext cx="4635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I/O2</a:t>
            </a:r>
            <a:endParaRPr lang="en-US" altLang="zh-CN" sz="1000" baseline="-25000" dirty="0">
              <a:solidFill>
                <a:srgbClr val="FF0000"/>
              </a:solidFill>
              <a:latin typeface="Times New Roman" panose="02020603050405020304" pitchFamily="18" charset="0"/>
            </a:endParaRPr>
          </a:p>
        </p:txBody>
      </p:sp>
      <p:sp>
        <p:nvSpPr>
          <p:cNvPr id="2416691" name="Text Box 51"/>
          <p:cNvSpPr txBox="1"/>
          <p:nvPr/>
        </p:nvSpPr>
        <p:spPr>
          <a:xfrm>
            <a:off x="5940425" y="2744788"/>
            <a:ext cx="468313"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IC</a:t>
            </a:r>
            <a:r>
              <a:rPr lang="en-US" altLang="zh-CN" sz="1200" baseline="-10000" dirty="0">
                <a:solidFill>
                  <a:schemeClr val="accent2"/>
                </a:solidFill>
                <a:latin typeface="Times New Roman" panose="02020603050405020304" pitchFamily="18" charset="0"/>
              </a:rPr>
              <a:t>1</a:t>
            </a:r>
            <a:endParaRPr lang="en-US" altLang="zh-CN" sz="1200" baseline="-10000" dirty="0">
              <a:solidFill>
                <a:schemeClr val="accent2"/>
              </a:solidFill>
              <a:latin typeface="Times New Roman" panose="02020603050405020304" pitchFamily="18" charset="0"/>
            </a:endParaRPr>
          </a:p>
        </p:txBody>
      </p:sp>
      <p:sp>
        <p:nvSpPr>
          <p:cNvPr id="2416692" name="Text Box 52"/>
          <p:cNvSpPr txBox="1"/>
          <p:nvPr/>
        </p:nvSpPr>
        <p:spPr>
          <a:xfrm>
            <a:off x="5797550" y="2955925"/>
            <a:ext cx="720725" cy="258763"/>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CD4051</a:t>
            </a:r>
            <a:endParaRPr lang="en-US" altLang="zh-CN" sz="1200" baseline="-10000" dirty="0">
              <a:solidFill>
                <a:schemeClr val="accent2"/>
              </a:solidFill>
              <a:latin typeface="Times New Roman" panose="02020603050405020304" pitchFamily="18" charset="0"/>
            </a:endParaRPr>
          </a:p>
        </p:txBody>
      </p:sp>
      <p:sp>
        <p:nvSpPr>
          <p:cNvPr id="2416693" name="Line 53"/>
          <p:cNvSpPr/>
          <p:nvPr/>
        </p:nvSpPr>
        <p:spPr>
          <a:xfrm>
            <a:off x="6877050" y="2797175"/>
            <a:ext cx="755650" cy="0"/>
          </a:xfrm>
          <a:prstGeom prst="line">
            <a:avLst/>
          </a:prstGeom>
          <a:ln w="12700" cap="flat" cmpd="sng">
            <a:solidFill>
              <a:schemeClr val="accent2"/>
            </a:solidFill>
            <a:prstDash val="solid"/>
            <a:headEnd type="none" w="med" len="med"/>
            <a:tailEnd type="none" w="med" len="med"/>
          </a:ln>
        </p:spPr>
      </p:sp>
      <p:sp>
        <p:nvSpPr>
          <p:cNvPr id="2416694" name="Line 54"/>
          <p:cNvSpPr/>
          <p:nvPr/>
        </p:nvSpPr>
        <p:spPr>
          <a:xfrm>
            <a:off x="6877050" y="3441700"/>
            <a:ext cx="755650" cy="0"/>
          </a:xfrm>
          <a:prstGeom prst="line">
            <a:avLst/>
          </a:prstGeom>
          <a:ln w="12700" cap="flat" cmpd="sng">
            <a:solidFill>
              <a:schemeClr val="accent2"/>
            </a:solidFill>
            <a:prstDash val="solid"/>
            <a:headEnd type="none" w="med" len="med"/>
            <a:tailEnd type="none" w="med" len="med"/>
          </a:ln>
        </p:spPr>
      </p:sp>
      <p:sp>
        <p:nvSpPr>
          <p:cNvPr id="2416695" name="Rectangle 55"/>
          <p:cNvSpPr/>
          <p:nvPr/>
        </p:nvSpPr>
        <p:spPr>
          <a:xfrm>
            <a:off x="7237413" y="2898775"/>
            <a:ext cx="409575" cy="411163"/>
          </a:xfrm>
          <a:prstGeom prst="rect">
            <a:avLst/>
          </a:prstGeom>
          <a:noFill/>
          <a:ln w="9525">
            <a:noFill/>
          </a:ln>
        </p:spPr>
        <p:txBody>
          <a:bodyPr>
            <a:spAutoFit/>
          </a:bodyPr>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p:txBody>
      </p:sp>
      <p:sp>
        <p:nvSpPr>
          <p:cNvPr id="2416696" name="Line 56"/>
          <p:cNvSpPr/>
          <p:nvPr/>
        </p:nvSpPr>
        <p:spPr>
          <a:xfrm>
            <a:off x="6229350" y="3573463"/>
            <a:ext cx="0" cy="144462"/>
          </a:xfrm>
          <a:prstGeom prst="line">
            <a:avLst/>
          </a:prstGeom>
          <a:ln w="12700" cap="flat" cmpd="sng">
            <a:solidFill>
              <a:schemeClr val="accent2"/>
            </a:solidFill>
            <a:prstDash val="solid"/>
            <a:headEnd type="none" w="med" len="med"/>
            <a:tailEnd type="none" w="med" len="med"/>
          </a:ln>
        </p:spPr>
      </p:sp>
      <p:sp>
        <p:nvSpPr>
          <p:cNvPr id="2416697" name="Line 57"/>
          <p:cNvSpPr/>
          <p:nvPr/>
        </p:nvSpPr>
        <p:spPr>
          <a:xfrm>
            <a:off x="6229350" y="3717925"/>
            <a:ext cx="2519363" cy="0"/>
          </a:xfrm>
          <a:prstGeom prst="line">
            <a:avLst/>
          </a:prstGeom>
          <a:ln w="12700" cap="flat" cmpd="sng">
            <a:solidFill>
              <a:schemeClr val="accent2"/>
            </a:solidFill>
            <a:prstDash val="solid"/>
            <a:headEnd type="none" w="med" len="med"/>
            <a:tailEnd type="none" w="med" len="med"/>
          </a:ln>
        </p:spPr>
      </p:sp>
      <p:sp>
        <p:nvSpPr>
          <p:cNvPr id="2416698" name="Line 58"/>
          <p:cNvSpPr/>
          <p:nvPr/>
        </p:nvSpPr>
        <p:spPr>
          <a:xfrm flipH="1">
            <a:off x="4645025" y="2797175"/>
            <a:ext cx="755650" cy="0"/>
          </a:xfrm>
          <a:prstGeom prst="line">
            <a:avLst/>
          </a:prstGeom>
          <a:ln w="12700" cap="flat" cmpd="sng">
            <a:solidFill>
              <a:schemeClr val="accent2"/>
            </a:solidFill>
            <a:prstDash val="solid"/>
            <a:headEnd type="none" w="med" len="med"/>
            <a:tailEnd type="none" w="med" len="med"/>
          </a:ln>
        </p:spPr>
      </p:sp>
      <p:sp>
        <p:nvSpPr>
          <p:cNvPr id="2416699" name="Line 59"/>
          <p:cNvSpPr/>
          <p:nvPr/>
        </p:nvSpPr>
        <p:spPr>
          <a:xfrm flipH="1">
            <a:off x="4860925" y="3024188"/>
            <a:ext cx="539750" cy="0"/>
          </a:xfrm>
          <a:prstGeom prst="line">
            <a:avLst/>
          </a:prstGeom>
          <a:ln w="12700" cap="flat" cmpd="sng">
            <a:solidFill>
              <a:schemeClr val="accent2"/>
            </a:solidFill>
            <a:prstDash val="solid"/>
            <a:headEnd type="none" w="med" len="med"/>
            <a:tailEnd type="none" w="med" len="med"/>
          </a:ln>
        </p:spPr>
      </p:sp>
      <p:sp>
        <p:nvSpPr>
          <p:cNvPr id="2416700" name="Line 60"/>
          <p:cNvSpPr/>
          <p:nvPr/>
        </p:nvSpPr>
        <p:spPr>
          <a:xfrm flipH="1">
            <a:off x="5040313" y="3232150"/>
            <a:ext cx="360362" cy="0"/>
          </a:xfrm>
          <a:prstGeom prst="line">
            <a:avLst/>
          </a:prstGeom>
          <a:ln w="12700" cap="flat" cmpd="sng">
            <a:solidFill>
              <a:schemeClr val="accent2"/>
            </a:solidFill>
            <a:prstDash val="solid"/>
            <a:headEnd type="none" w="med" len="med"/>
            <a:tailEnd type="none" w="med" len="med"/>
          </a:ln>
        </p:spPr>
      </p:sp>
      <p:sp>
        <p:nvSpPr>
          <p:cNvPr id="2416701" name="Line 61"/>
          <p:cNvSpPr/>
          <p:nvPr/>
        </p:nvSpPr>
        <p:spPr>
          <a:xfrm flipH="1">
            <a:off x="4176713" y="3441700"/>
            <a:ext cx="1223962" cy="0"/>
          </a:xfrm>
          <a:prstGeom prst="line">
            <a:avLst/>
          </a:prstGeom>
          <a:ln w="12700" cap="flat" cmpd="sng">
            <a:solidFill>
              <a:schemeClr val="accent2"/>
            </a:solidFill>
            <a:prstDash val="solid"/>
            <a:headEnd type="none" w="med" len="med"/>
            <a:tailEnd type="none" w="med" len="med"/>
          </a:ln>
        </p:spPr>
      </p:sp>
      <p:sp>
        <p:nvSpPr>
          <p:cNvPr id="2416702" name="Rectangle 62"/>
          <p:cNvSpPr/>
          <p:nvPr/>
        </p:nvSpPr>
        <p:spPr>
          <a:xfrm>
            <a:off x="5400675" y="3897313"/>
            <a:ext cx="1476375" cy="900112"/>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03" name="Text Box 63"/>
          <p:cNvSpPr txBox="1"/>
          <p:nvPr/>
        </p:nvSpPr>
        <p:spPr>
          <a:xfrm>
            <a:off x="5364163" y="414020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416704" name="Text Box 64"/>
          <p:cNvSpPr txBox="1"/>
          <p:nvPr/>
        </p:nvSpPr>
        <p:spPr>
          <a:xfrm>
            <a:off x="5364163" y="3911600"/>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416705" name="Text Box 65"/>
          <p:cNvSpPr txBox="1"/>
          <p:nvPr/>
        </p:nvSpPr>
        <p:spPr>
          <a:xfrm>
            <a:off x="5364163" y="4352925"/>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416706" name="Text Box 66"/>
          <p:cNvSpPr txBox="1"/>
          <p:nvPr/>
        </p:nvSpPr>
        <p:spPr>
          <a:xfrm>
            <a:off x="5375275" y="4559300"/>
            <a:ext cx="5651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r>
              <a:rPr lang="en-US" altLang="zh-CN" sz="1000" baseline="-25000" dirty="0">
                <a:solidFill>
                  <a:srgbClr val="FF0000"/>
                </a:solidFill>
                <a:latin typeface="Times New Roman" panose="02020603050405020304" pitchFamily="18" charset="0"/>
              </a:rPr>
              <a:t>2</a:t>
            </a:r>
            <a:endParaRPr lang="en-US" altLang="zh-CN" sz="1000" baseline="-25000" dirty="0">
              <a:solidFill>
                <a:srgbClr val="FF0000"/>
              </a:solidFill>
              <a:latin typeface="Times New Roman" panose="02020603050405020304" pitchFamily="18" charset="0"/>
            </a:endParaRPr>
          </a:p>
        </p:txBody>
      </p:sp>
      <p:sp>
        <p:nvSpPr>
          <p:cNvPr id="2416707" name="Line 67"/>
          <p:cNvSpPr/>
          <p:nvPr/>
        </p:nvSpPr>
        <p:spPr>
          <a:xfrm flipV="1">
            <a:off x="5468938" y="4613275"/>
            <a:ext cx="236537" cy="0"/>
          </a:xfrm>
          <a:prstGeom prst="line">
            <a:avLst/>
          </a:prstGeom>
          <a:ln w="9525" cap="flat" cmpd="sng">
            <a:solidFill>
              <a:srgbClr val="FF0000"/>
            </a:solidFill>
            <a:prstDash val="solid"/>
            <a:headEnd type="none" w="med" len="med"/>
            <a:tailEnd type="none" w="med" len="med"/>
          </a:ln>
        </p:spPr>
      </p:sp>
      <p:sp>
        <p:nvSpPr>
          <p:cNvPr id="2416708" name="Text Box 68"/>
          <p:cNvSpPr txBox="1"/>
          <p:nvPr/>
        </p:nvSpPr>
        <p:spPr>
          <a:xfrm>
            <a:off x="6588125" y="3911600"/>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16</a:t>
            </a:r>
            <a:endParaRPr lang="en-US" altLang="zh-CN" sz="1000" dirty="0">
              <a:solidFill>
                <a:srgbClr val="FF0000"/>
              </a:solidFill>
              <a:latin typeface="Times New Roman" panose="02020603050405020304" pitchFamily="18" charset="0"/>
            </a:endParaRPr>
          </a:p>
        </p:txBody>
      </p:sp>
      <p:sp>
        <p:nvSpPr>
          <p:cNvPr id="2416709" name="Rectangle 69"/>
          <p:cNvSpPr/>
          <p:nvPr/>
        </p:nvSpPr>
        <p:spPr>
          <a:xfrm>
            <a:off x="6646863" y="4124325"/>
            <a:ext cx="409575" cy="411163"/>
          </a:xfrm>
          <a:prstGeom prst="rect">
            <a:avLst/>
          </a:prstGeom>
          <a:noFill/>
          <a:ln w="9525">
            <a:noFill/>
          </a:ln>
        </p:spPr>
        <p:txBody>
          <a:bodyPr>
            <a:spAutoFit/>
          </a:bodyPr>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p:txBody>
      </p:sp>
      <p:sp>
        <p:nvSpPr>
          <p:cNvPr id="2416710" name="Text Box 70"/>
          <p:cNvSpPr txBox="1"/>
          <p:nvPr/>
        </p:nvSpPr>
        <p:spPr>
          <a:xfrm>
            <a:off x="6588125" y="4559300"/>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23</a:t>
            </a:r>
            <a:endParaRPr lang="en-US" altLang="zh-CN" sz="1000" dirty="0">
              <a:solidFill>
                <a:srgbClr val="FF0000"/>
              </a:solidFill>
              <a:latin typeface="Times New Roman" panose="02020603050405020304" pitchFamily="18" charset="0"/>
            </a:endParaRPr>
          </a:p>
        </p:txBody>
      </p:sp>
      <p:sp>
        <p:nvSpPr>
          <p:cNvPr id="2416711" name="Text Box 71"/>
          <p:cNvSpPr txBox="1"/>
          <p:nvPr/>
        </p:nvSpPr>
        <p:spPr>
          <a:xfrm>
            <a:off x="6016625" y="4605338"/>
            <a:ext cx="4635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I/O3</a:t>
            </a:r>
            <a:endParaRPr lang="en-US" altLang="zh-CN" sz="1000" baseline="-25000" dirty="0">
              <a:solidFill>
                <a:srgbClr val="FF0000"/>
              </a:solidFill>
              <a:latin typeface="Times New Roman" panose="02020603050405020304" pitchFamily="18" charset="0"/>
            </a:endParaRPr>
          </a:p>
        </p:txBody>
      </p:sp>
      <p:sp>
        <p:nvSpPr>
          <p:cNvPr id="2416712" name="Text Box 72"/>
          <p:cNvSpPr txBox="1"/>
          <p:nvPr/>
        </p:nvSpPr>
        <p:spPr>
          <a:xfrm>
            <a:off x="5940425" y="3968750"/>
            <a:ext cx="468313"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IC</a:t>
            </a:r>
            <a:r>
              <a:rPr lang="en-US" altLang="zh-CN" sz="1200" baseline="-10000" dirty="0">
                <a:solidFill>
                  <a:schemeClr val="accent2"/>
                </a:solidFill>
                <a:latin typeface="Times New Roman" panose="02020603050405020304" pitchFamily="18" charset="0"/>
              </a:rPr>
              <a:t>2</a:t>
            </a:r>
            <a:endParaRPr lang="en-US" altLang="zh-CN" sz="1200" baseline="-10000" dirty="0">
              <a:solidFill>
                <a:schemeClr val="accent2"/>
              </a:solidFill>
              <a:latin typeface="Times New Roman" panose="02020603050405020304" pitchFamily="18" charset="0"/>
            </a:endParaRPr>
          </a:p>
        </p:txBody>
      </p:sp>
      <p:sp>
        <p:nvSpPr>
          <p:cNvPr id="2416713" name="Text Box 73"/>
          <p:cNvSpPr txBox="1"/>
          <p:nvPr/>
        </p:nvSpPr>
        <p:spPr>
          <a:xfrm>
            <a:off x="5797550" y="4179888"/>
            <a:ext cx="720725" cy="258762"/>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CD4051</a:t>
            </a:r>
            <a:endParaRPr lang="en-US" altLang="zh-CN" sz="1200" baseline="-10000" dirty="0">
              <a:solidFill>
                <a:schemeClr val="accent2"/>
              </a:solidFill>
              <a:latin typeface="Times New Roman" panose="02020603050405020304" pitchFamily="18" charset="0"/>
            </a:endParaRPr>
          </a:p>
        </p:txBody>
      </p:sp>
      <p:sp>
        <p:nvSpPr>
          <p:cNvPr id="2416714" name="Line 74"/>
          <p:cNvSpPr/>
          <p:nvPr/>
        </p:nvSpPr>
        <p:spPr>
          <a:xfrm>
            <a:off x="6877050" y="4021138"/>
            <a:ext cx="755650" cy="0"/>
          </a:xfrm>
          <a:prstGeom prst="line">
            <a:avLst/>
          </a:prstGeom>
          <a:ln w="12700" cap="flat" cmpd="sng">
            <a:solidFill>
              <a:schemeClr val="accent2"/>
            </a:solidFill>
            <a:prstDash val="solid"/>
            <a:headEnd type="none" w="med" len="med"/>
            <a:tailEnd type="none" w="med" len="med"/>
          </a:ln>
        </p:spPr>
      </p:sp>
      <p:sp>
        <p:nvSpPr>
          <p:cNvPr id="2416715" name="Line 75"/>
          <p:cNvSpPr/>
          <p:nvPr/>
        </p:nvSpPr>
        <p:spPr>
          <a:xfrm>
            <a:off x="6877050" y="4665663"/>
            <a:ext cx="755650" cy="0"/>
          </a:xfrm>
          <a:prstGeom prst="line">
            <a:avLst/>
          </a:prstGeom>
          <a:ln w="12700" cap="flat" cmpd="sng">
            <a:solidFill>
              <a:schemeClr val="accent2"/>
            </a:solidFill>
            <a:prstDash val="solid"/>
            <a:headEnd type="none" w="med" len="med"/>
            <a:tailEnd type="none" w="med" len="med"/>
          </a:ln>
        </p:spPr>
      </p:sp>
      <p:sp>
        <p:nvSpPr>
          <p:cNvPr id="2416716" name="Rectangle 76"/>
          <p:cNvSpPr/>
          <p:nvPr/>
        </p:nvSpPr>
        <p:spPr>
          <a:xfrm>
            <a:off x="7237413" y="4122738"/>
            <a:ext cx="409575" cy="411162"/>
          </a:xfrm>
          <a:prstGeom prst="rect">
            <a:avLst/>
          </a:prstGeom>
          <a:noFill/>
          <a:ln w="9525">
            <a:noFill/>
          </a:ln>
        </p:spPr>
        <p:txBody>
          <a:bodyPr>
            <a:spAutoFit/>
          </a:bodyPr>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p:txBody>
      </p:sp>
      <p:sp>
        <p:nvSpPr>
          <p:cNvPr id="2416717" name="Line 77"/>
          <p:cNvSpPr/>
          <p:nvPr/>
        </p:nvSpPr>
        <p:spPr>
          <a:xfrm>
            <a:off x="6229350" y="4797425"/>
            <a:ext cx="0" cy="144463"/>
          </a:xfrm>
          <a:prstGeom prst="line">
            <a:avLst/>
          </a:prstGeom>
          <a:ln w="12700" cap="flat" cmpd="sng">
            <a:solidFill>
              <a:schemeClr val="accent2"/>
            </a:solidFill>
            <a:prstDash val="solid"/>
            <a:headEnd type="none" w="med" len="med"/>
            <a:tailEnd type="none" w="med" len="med"/>
          </a:ln>
        </p:spPr>
      </p:sp>
      <p:sp>
        <p:nvSpPr>
          <p:cNvPr id="2416718" name="Line 78"/>
          <p:cNvSpPr/>
          <p:nvPr/>
        </p:nvSpPr>
        <p:spPr>
          <a:xfrm>
            <a:off x="6229350" y="4941888"/>
            <a:ext cx="1692275" cy="0"/>
          </a:xfrm>
          <a:prstGeom prst="line">
            <a:avLst/>
          </a:prstGeom>
          <a:ln w="12700" cap="flat" cmpd="sng">
            <a:solidFill>
              <a:schemeClr val="accent2"/>
            </a:solidFill>
            <a:prstDash val="solid"/>
            <a:headEnd type="none" w="med" len="med"/>
            <a:tailEnd type="none" w="med" len="med"/>
          </a:ln>
        </p:spPr>
      </p:sp>
      <p:sp>
        <p:nvSpPr>
          <p:cNvPr id="2416719" name="Line 79"/>
          <p:cNvSpPr/>
          <p:nvPr/>
        </p:nvSpPr>
        <p:spPr>
          <a:xfrm flipH="1">
            <a:off x="4645025" y="4021138"/>
            <a:ext cx="755650" cy="0"/>
          </a:xfrm>
          <a:prstGeom prst="line">
            <a:avLst/>
          </a:prstGeom>
          <a:ln w="12700" cap="flat" cmpd="sng">
            <a:solidFill>
              <a:schemeClr val="accent2"/>
            </a:solidFill>
            <a:prstDash val="solid"/>
            <a:headEnd type="none" w="med" len="med"/>
            <a:tailEnd type="none" w="med" len="med"/>
          </a:ln>
        </p:spPr>
      </p:sp>
      <p:sp>
        <p:nvSpPr>
          <p:cNvPr id="2416720" name="Line 80"/>
          <p:cNvSpPr/>
          <p:nvPr/>
        </p:nvSpPr>
        <p:spPr>
          <a:xfrm flipH="1">
            <a:off x="4860925" y="4248150"/>
            <a:ext cx="539750" cy="0"/>
          </a:xfrm>
          <a:prstGeom prst="line">
            <a:avLst/>
          </a:prstGeom>
          <a:ln w="12700" cap="flat" cmpd="sng">
            <a:solidFill>
              <a:schemeClr val="accent2"/>
            </a:solidFill>
            <a:prstDash val="solid"/>
            <a:headEnd type="none" w="med" len="med"/>
            <a:tailEnd type="none" w="med" len="med"/>
          </a:ln>
        </p:spPr>
      </p:sp>
      <p:sp>
        <p:nvSpPr>
          <p:cNvPr id="2416721" name="Line 81"/>
          <p:cNvSpPr/>
          <p:nvPr/>
        </p:nvSpPr>
        <p:spPr>
          <a:xfrm flipH="1">
            <a:off x="5040313" y="4456113"/>
            <a:ext cx="360362" cy="0"/>
          </a:xfrm>
          <a:prstGeom prst="line">
            <a:avLst/>
          </a:prstGeom>
          <a:ln w="12700" cap="flat" cmpd="sng">
            <a:solidFill>
              <a:schemeClr val="accent2"/>
            </a:solidFill>
            <a:prstDash val="solid"/>
            <a:headEnd type="none" w="med" len="med"/>
            <a:tailEnd type="none" w="med" len="med"/>
          </a:ln>
        </p:spPr>
      </p:sp>
      <p:sp>
        <p:nvSpPr>
          <p:cNvPr id="2416722" name="Line 82"/>
          <p:cNvSpPr/>
          <p:nvPr/>
        </p:nvSpPr>
        <p:spPr>
          <a:xfrm flipH="1">
            <a:off x="4176713" y="4665663"/>
            <a:ext cx="1223962" cy="0"/>
          </a:xfrm>
          <a:prstGeom prst="line">
            <a:avLst/>
          </a:prstGeom>
          <a:ln w="12700" cap="flat" cmpd="sng">
            <a:solidFill>
              <a:schemeClr val="accent2"/>
            </a:solidFill>
            <a:prstDash val="solid"/>
            <a:headEnd type="none" w="med" len="med"/>
            <a:tailEnd type="none" w="med" len="med"/>
          </a:ln>
        </p:spPr>
      </p:sp>
      <p:sp>
        <p:nvSpPr>
          <p:cNvPr id="2416723" name="Rectangle 83"/>
          <p:cNvSpPr/>
          <p:nvPr/>
        </p:nvSpPr>
        <p:spPr>
          <a:xfrm>
            <a:off x="5400675" y="5121275"/>
            <a:ext cx="1476375" cy="900113"/>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24" name="Text Box 84"/>
          <p:cNvSpPr txBox="1"/>
          <p:nvPr/>
        </p:nvSpPr>
        <p:spPr>
          <a:xfrm>
            <a:off x="5364163" y="53641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B</a:t>
            </a:r>
            <a:endParaRPr lang="en-US" altLang="zh-CN" sz="1000" baseline="-25000" dirty="0">
              <a:solidFill>
                <a:srgbClr val="FF0000"/>
              </a:solidFill>
              <a:latin typeface="Times New Roman" panose="02020603050405020304" pitchFamily="18" charset="0"/>
            </a:endParaRPr>
          </a:p>
        </p:txBody>
      </p:sp>
      <p:sp>
        <p:nvSpPr>
          <p:cNvPr id="2416725" name="Text Box 85"/>
          <p:cNvSpPr txBox="1"/>
          <p:nvPr/>
        </p:nvSpPr>
        <p:spPr>
          <a:xfrm>
            <a:off x="5364163" y="51355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A</a:t>
            </a:r>
            <a:endParaRPr lang="en-US" altLang="zh-CN" sz="1000" baseline="-25000" dirty="0">
              <a:solidFill>
                <a:srgbClr val="FF0000"/>
              </a:solidFill>
              <a:latin typeface="Times New Roman" panose="02020603050405020304" pitchFamily="18" charset="0"/>
            </a:endParaRPr>
          </a:p>
        </p:txBody>
      </p:sp>
      <p:sp>
        <p:nvSpPr>
          <p:cNvPr id="2416726" name="Text Box 86"/>
          <p:cNvSpPr txBox="1"/>
          <p:nvPr/>
        </p:nvSpPr>
        <p:spPr>
          <a:xfrm>
            <a:off x="5364163" y="5576888"/>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C</a:t>
            </a:r>
            <a:endParaRPr lang="en-US" altLang="zh-CN" sz="1000" baseline="-25000" dirty="0">
              <a:solidFill>
                <a:srgbClr val="FF0000"/>
              </a:solidFill>
              <a:latin typeface="Times New Roman" panose="02020603050405020304" pitchFamily="18" charset="0"/>
            </a:endParaRPr>
          </a:p>
        </p:txBody>
      </p:sp>
      <p:sp>
        <p:nvSpPr>
          <p:cNvPr id="2416727" name="Text Box 87"/>
          <p:cNvSpPr txBox="1"/>
          <p:nvPr/>
        </p:nvSpPr>
        <p:spPr>
          <a:xfrm>
            <a:off x="5375275" y="5783263"/>
            <a:ext cx="5651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INH</a:t>
            </a:r>
            <a:r>
              <a:rPr lang="en-US" altLang="zh-CN" sz="1000" baseline="-25000" dirty="0">
                <a:solidFill>
                  <a:srgbClr val="FF0000"/>
                </a:solidFill>
                <a:latin typeface="Times New Roman" panose="02020603050405020304" pitchFamily="18" charset="0"/>
              </a:rPr>
              <a:t>3</a:t>
            </a:r>
            <a:endParaRPr lang="en-US" altLang="zh-CN" sz="1000" baseline="-25000" dirty="0">
              <a:solidFill>
                <a:srgbClr val="FF0000"/>
              </a:solidFill>
              <a:latin typeface="Times New Roman" panose="02020603050405020304" pitchFamily="18" charset="0"/>
            </a:endParaRPr>
          </a:p>
        </p:txBody>
      </p:sp>
      <p:sp>
        <p:nvSpPr>
          <p:cNvPr id="2416728" name="Line 88"/>
          <p:cNvSpPr/>
          <p:nvPr/>
        </p:nvSpPr>
        <p:spPr>
          <a:xfrm flipV="1">
            <a:off x="5468938" y="5837238"/>
            <a:ext cx="236537" cy="0"/>
          </a:xfrm>
          <a:prstGeom prst="line">
            <a:avLst/>
          </a:prstGeom>
          <a:ln w="9525" cap="flat" cmpd="sng">
            <a:solidFill>
              <a:srgbClr val="FF0000"/>
            </a:solidFill>
            <a:prstDash val="solid"/>
            <a:headEnd type="none" w="med" len="med"/>
            <a:tailEnd type="none" w="med" len="med"/>
          </a:ln>
        </p:spPr>
      </p:sp>
      <p:sp>
        <p:nvSpPr>
          <p:cNvPr id="2416729" name="Text Box 89"/>
          <p:cNvSpPr txBox="1"/>
          <p:nvPr/>
        </p:nvSpPr>
        <p:spPr>
          <a:xfrm>
            <a:off x="6588125" y="5135563"/>
            <a:ext cx="319088"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24</a:t>
            </a:r>
            <a:endParaRPr lang="en-US" altLang="zh-CN" sz="1000" dirty="0">
              <a:solidFill>
                <a:srgbClr val="FF0000"/>
              </a:solidFill>
              <a:latin typeface="Times New Roman" panose="02020603050405020304" pitchFamily="18" charset="0"/>
            </a:endParaRPr>
          </a:p>
        </p:txBody>
      </p:sp>
      <p:sp>
        <p:nvSpPr>
          <p:cNvPr id="2416730" name="Rectangle 90"/>
          <p:cNvSpPr/>
          <p:nvPr/>
        </p:nvSpPr>
        <p:spPr>
          <a:xfrm>
            <a:off x="6646863" y="5348288"/>
            <a:ext cx="409575" cy="411162"/>
          </a:xfrm>
          <a:prstGeom prst="rect">
            <a:avLst/>
          </a:prstGeom>
          <a:noFill/>
          <a:ln w="9525">
            <a:noFill/>
          </a:ln>
        </p:spPr>
        <p:txBody>
          <a:bodyPr>
            <a:spAutoFit/>
          </a:bodyPr>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a:p>
            <a:pPr eaLnBrk="1" hangingPunct="1">
              <a:lnSpc>
                <a:spcPct val="70000"/>
              </a:lnSpc>
            </a:pPr>
            <a:r>
              <a:rPr lang="en-US" altLang="zh-CN" sz="1000" dirty="0">
                <a:solidFill>
                  <a:srgbClr val="FF0000"/>
                </a:solidFill>
                <a:latin typeface="Times New Roman" panose="02020603050405020304" pitchFamily="18" charset="0"/>
              </a:rPr>
              <a:t>.</a:t>
            </a:r>
            <a:endParaRPr lang="en-US" altLang="zh-CN" sz="1000" dirty="0">
              <a:solidFill>
                <a:srgbClr val="FF0000"/>
              </a:solidFill>
              <a:latin typeface="Times New Roman" panose="02020603050405020304" pitchFamily="18" charset="0"/>
            </a:endParaRPr>
          </a:p>
        </p:txBody>
      </p:sp>
      <p:sp>
        <p:nvSpPr>
          <p:cNvPr id="2416731" name="Text Box 91"/>
          <p:cNvSpPr txBox="1"/>
          <p:nvPr/>
        </p:nvSpPr>
        <p:spPr>
          <a:xfrm>
            <a:off x="6592888" y="5783263"/>
            <a:ext cx="319087"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31</a:t>
            </a:r>
            <a:endParaRPr lang="en-US" altLang="zh-CN" sz="1000" dirty="0">
              <a:solidFill>
                <a:srgbClr val="FF0000"/>
              </a:solidFill>
              <a:latin typeface="Times New Roman" panose="02020603050405020304" pitchFamily="18" charset="0"/>
            </a:endParaRPr>
          </a:p>
        </p:txBody>
      </p:sp>
      <p:sp>
        <p:nvSpPr>
          <p:cNvPr id="2416732" name="Text Box 92"/>
          <p:cNvSpPr txBox="1"/>
          <p:nvPr/>
        </p:nvSpPr>
        <p:spPr>
          <a:xfrm>
            <a:off x="6016625" y="5829300"/>
            <a:ext cx="463550" cy="228600"/>
          </a:xfrm>
          <a:prstGeom prst="rect">
            <a:avLst/>
          </a:prstGeom>
          <a:noFill/>
          <a:ln w="9525">
            <a:noFill/>
          </a:ln>
        </p:spPr>
        <p:txBody>
          <a:bodyPr>
            <a:spAutoFit/>
          </a:bodyPr>
          <a:p>
            <a:pPr eaLnBrk="1" hangingPunct="1">
              <a:lnSpc>
                <a:spcPct val="90000"/>
              </a:lnSpc>
              <a:spcBef>
                <a:spcPct val="50000"/>
              </a:spcBef>
            </a:pPr>
            <a:r>
              <a:rPr lang="en-US" altLang="zh-CN" sz="1000" dirty="0">
                <a:solidFill>
                  <a:srgbClr val="FF0000"/>
                </a:solidFill>
                <a:latin typeface="Times New Roman" panose="02020603050405020304" pitchFamily="18" charset="0"/>
              </a:rPr>
              <a:t>I/O4</a:t>
            </a:r>
            <a:endParaRPr lang="en-US" altLang="zh-CN" sz="1000" baseline="-25000" dirty="0">
              <a:solidFill>
                <a:srgbClr val="FF0000"/>
              </a:solidFill>
              <a:latin typeface="Times New Roman" panose="02020603050405020304" pitchFamily="18" charset="0"/>
            </a:endParaRPr>
          </a:p>
        </p:txBody>
      </p:sp>
      <p:sp>
        <p:nvSpPr>
          <p:cNvPr id="2416733" name="Text Box 93"/>
          <p:cNvSpPr txBox="1"/>
          <p:nvPr/>
        </p:nvSpPr>
        <p:spPr>
          <a:xfrm>
            <a:off x="5940425" y="5192713"/>
            <a:ext cx="468313"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IC</a:t>
            </a:r>
            <a:r>
              <a:rPr lang="en-US" altLang="zh-CN" sz="1200" baseline="-10000" dirty="0">
                <a:solidFill>
                  <a:schemeClr val="accent2"/>
                </a:solidFill>
                <a:latin typeface="Times New Roman" panose="02020603050405020304" pitchFamily="18" charset="0"/>
              </a:rPr>
              <a:t>3</a:t>
            </a:r>
            <a:endParaRPr lang="en-US" altLang="zh-CN" sz="1200" baseline="-10000" dirty="0">
              <a:solidFill>
                <a:schemeClr val="accent2"/>
              </a:solidFill>
              <a:latin typeface="Times New Roman" panose="02020603050405020304" pitchFamily="18" charset="0"/>
            </a:endParaRPr>
          </a:p>
        </p:txBody>
      </p:sp>
      <p:sp>
        <p:nvSpPr>
          <p:cNvPr id="2416734" name="Text Box 94"/>
          <p:cNvSpPr txBox="1"/>
          <p:nvPr/>
        </p:nvSpPr>
        <p:spPr>
          <a:xfrm>
            <a:off x="5797550" y="5403850"/>
            <a:ext cx="720725" cy="258763"/>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CD4051</a:t>
            </a:r>
            <a:endParaRPr lang="en-US" altLang="zh-CN" sz="1200" baseline="-10000" dirty="0">
              <a:solidFill>
                <a:schemeClr val="accent2"/>
              </a:solidFill>
              <a:latin typeface="Times New Roman" panose="02020603050405020304" pitchFamily="18" charset="0"/>
            </a:endParaRPr>
          </a:p>
        </p:txBody>
      </p:sp>
      <p:sp>
        <p:nvSpPr>
          <p:cNvPr id="2416735" name="Line 95"/>
          <p:cNvSpPr/>
          <p:nvPr/>
        </p:nvSpPr>
        <p:spPr>
          <a:xfrm>
            <a:off x="6877050" y="5245100"/>
            <a:ext cx="755650" cy="0"/>
          </a:xfrm>
          <a:prstGeom prst="line">
            <a:avLst/>
          </a:prstGeom>
          <a:ln w="12700" cap="flat" cmpd="sng">
            <a:solidFill>
              <a:schemeClr val="accent2"/>
            </a:solidFill>
            <a:prstDash val="solid"/>
            <a:headEnd type="none" w="med" len="med"/>
            <a:tailEnd type="none" w="med" len="med"/>
          </a:ln>
        </p:spPr>
      </p:sp>
      <p:sp>
        <p:nvSpPr>
          <p:cNvPr id="2416736" name="Line 96"/>
          <p:cNvSpPr/>
          <p:nvPr/>
        </p:nvSpPr>
        <p:spPr>
          <a:xfrm>
            <a:off x="6877050" y="5889625"/>
            <a:ext cx="755650" cy="0"/>
          </a:xfrm>
          <a:prstGeom prst="line">
            <a:avLst/>
          </a:prstGeom>
          <a:ln w="12700" cap="flat" cmpd="sng">
            <a:solidFill>
              <a:schemeClr val="accent2"/>
            </a:solidFill>
            <a:prstDash val="solid"/>
            <a:headEnd type="none" w="med" len="med"/>
            <a:tailEnd type="none" w="med" len="med"/>
          </a:ln>
        </p:spPr>
      </p:sp>
      <p:sp>
        <p:nvSpPr>
          <p:cNvPr id="2416737" name="Rectangle 97"/>
          <p:cNvSpPr/>
          <p:nvPr/>
        </p:nvSpPr>
        <p:spPr>
          <a:xfrm>
            <a:off x="7237413" y="5346700"/>
            <a:ext cx="409575" cy="411163"/>
          </a:xfrm>
          <a:prstGeom prst="rect">
            <a:avLst/>
          </a:prstGeom>
          <a:noFill/>
          <a:ln w="9525">
            <a:noFill/>
          </a:ln>
        </p:spPr>
        <p:txBody>
          <a:bodyPr>
            <a:spAutoFit/>
          </a:bodyPr>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a:p>
            <a:pPr eaLnBrk="1" hangingPunct="1">
              <a:lnSpc>
                <a:spcPct val="70000"/>
              </a:lnSpc>
            </a:pPr>
            <a:r>
              <a:rPr lang="en-US" altLang="zh-CN" sz="1000" dirty="0">
                <a:solidFill>
                  <a:schemeClr val="accent2"/>
                </a:solidFill>
                <a:latin typeface="Times New Roman" panose="02020603050405020304" pitchFamily="18" charset="0"/>
              </a:rPr>
              <a:t>.</a:t>
            </a:r>
            <a:endParaRPr lang="en-US" altLang="zh-CN" sz="1000" dirty="0">
              <a:solidFill>
                <a:schemeClr val="accent2"/>
              </a:solidFill>
              <a:latin typeface="Times New Roman" panose="02020603050405020304" pitchFamily="18" charset="0"/>
            </a:endParaRPr>
          </a:p>
        </p:txBody>
      </p:sp>
      <p:sp>
        <p:nvSpPr>
          <p:cNvPr id="2416738" name="Line 98"/>
          <p:cNvSpPr/>
          <p:nvPr/>
        </p:nvSpPr>
        <p:spPr>
          <a:xfrm>
            <a:off x="6229350" y="6021388"/>
            <a:ext cx="0" cy="144462"/>
          </a:xfrm>
          <a:prstGeom prst="line">
            <a:avLst/>
          </a:prstGeom>
          <a:ln w="12700" cap="flat" cmpd="sng">
            <a:solidFill>
              <a:schemeClr val="accent2"/>
            </a:solidFill>
            <a:prstDash val="solid"/>
            <a:headEnd type="none" w="med" len="med"/>
            <a:tailEnd type="none" w="med" len="med"/>
          </a:ln>
        </p:spPr>
      </p:sp>
      <p:sp>
        <p:nvSpPr>
          <p:cNvPr id="2416739" name="Line 99"/>
          <p:cNvSpPr/>
          <p:nvPr/>
        </p:nvSpPr>
        <p:spPr>
          <a:xfrm>
            <a:off x="6229350" y="6165850"/>
            <a:ext cx="1692275" cy="0"/>
          </a:xfrm>
          <a:prstGeom prst="line">
            <a:avLst/>
          </a:prstGeom>
          <a:ln w="12700" cap="flat" cmpd="sng">
            <a:solidFill>
              <a:schemeClr val="accent2"/>
            </a:solidFill>
            <a:prstDash val="solid"/>
            <a:headEnd type="none" w="med" len="med"/>
            <a:tailEnd type="none" w="med" len="med"/>
          </a:ln>
        </p:spPr>
      </p:sp>
      <p:sp>
        <p:nvSpPr>
          <p:cNvPr id="2416740" name="Line 100"/>
          <p:cNvSpPr/>
          <p:nvPr/>
        </p:nvSpPr>
        <p:spPr>
          <a:xfrm flipH="1">
            <a:off x="4645025" y="5245100"/>
            <a:ext cx="755650" cy="0"/>
          </a:xfrm>
          <a:prstGeom prst="line">
            <a:avLst/>
          </a:prstGeom>
          <a:ln w="12700" cap="flat" cmpd="sng">
            <a:solidFill>
              <a:schemeClr val="accent2"/>
            </a:solidFill>
            <a:prstDash val="solid"/>
            <a:headEnd type="none" w="med" len="med"/>
            <a:tailEnd type="none" w="med" len="med"/>
          </a:ln>
        </p:spPr>
      </p:sp>
      <p:sp>
        <p:nvSpPr>
          <p:cNvPr id="2416741" name="Line 101"/>
          <p:cNvSpPr/>
          <p:nvPr/>
        </p:nvSpPr>
        <p:spPr>
          <a:xfrm flipH="1">
            <a:off x="4860925" y="5472113"/>
            <a:ext cx="539750" cy="0"/>
          </a:xfrm>
          <a:prstGeom prst="line">
            <a:avLst/>
          </a:prstGeom>
          <a:ln w="12700" cap="flat" cmpd="sng">
            <a:solidFill>
              <a:schemeClr val="accent2"/>
            </a:solidFill>
            <a:prstDash val="solid"/>
            <a:headEnd type="none" w="med" len="med"/>
            <a:tailEnd type="none" w="med" len="med"/>
          </a:ln>
        </p:spPr>
      </p:sp>
      <p:sp>
        <p:nvSpPr>
          <p:cNvPr id="2416742" name="Line 102"/>
          <p:cNvSpPr/>
          <p:nvPr/>
        </p:nvSpPr>
        <p:spPr>
          <a:xfrm flipH="1">
            <a:off x="5040313" y="5680075"/>
            <a:ext cx="360362" cy="0"/>
          </a:xfrm>
          <a:prstGeom prst="line">
            <a:avLst/>
          </a:prstGeom>
          <a:ln w="12700" cap="flat" cmpd="sng">
            <a:solidFill>
              <a:schemeClr val="accent2"/>
            </a:solidFill>
            <a:prstDash val="solid"/>
            <a:headEnd type="none" w="med" len="med"/>
            <a:tailEnd type="none" w="med" len="med"/>
          </a:ln>
        </p:spPr>
      </p:sp>
      <p:sp>
        <p:nvSpPr>
          <p:cNvPr id="2416743" name="Line 103"/>
          <p:cNvSpPr/>
          <p:nvPr/>
        </p:nvSpPr>
        <p:spPr>
          <a:xfrm flipH="1">
            <a:off x="4176713" y="5889625"/>
            <a:ext cx="1223962" cy="0"/>
          </a:xfrm>
          <a:prstGeom prst="line">
            <a:avLst/>
          </a:prstGeom>
          <a:ln w="12700" cap="flat" cmpd="sng">
            <a:solidFill>
              <a:schemeClr val="accent2"/>
            </a:solidFill>
            <a:prstDash val="solid"/>
            <a:headEnd type="none" w="med" len="med"/>
            <a:tailEnd type="none" w="med" len="med"/>
          </a:ln>
        </p:spPr>
      </p:sp>
      <p:sp>
        <p:nvSpPr>
          <p:cNvPr id="2416744" name="Line 104"/>
          <p:cNvSpPr/>
          <p:nvPr/>
        </p:nvSpPr>
        <p:spPr>
          <a:xfrm flipV="1">
            <a:off x="7921625" y="2493963"/>
            <a:ext cx="0" cy="3671887"/>
          </a:xfrm>
          <a:prstGeom prst="line">
            <a:avLst/>
          </a:prstGeom>
          <a:ln w="12700" cap="flat" cmpd="sng">
            <a:solidFill>
              <a:schemeClr val="accent2"/>
            </a:solidFill>
            <a:prstDash val="solid"/>
            <a:headEnd type="none" w="med" len="med"/>
            <a:tailEnd type="none" w="med" len="med"/>
          </a:ln>
        </p:spPr>
      </p:sp>
      <p:sp>
        <p:nvSpPr>
          <p:cNvPr id="2416745" name="Rectangle 105"/>
          <p:cNvSpPr/>
          <p:nvPr/>
        </p:nvSpPr>
        <p:spPr>
          <a:xfrm>
            <a:off x="8096250" y="3571875"/>
            <a:ext cx="395288" cy="287338"/>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46" name="Text Box 106"/>
          <p:cNvSpPr txBox="1"/>
          <p:nvPr/>
        </p:nvSpPr>
        <p:spPr>
          <a:xfrm>
            <a:off x="8066088" y="3587750"/>
            <a:ext cx="466725" cy="257175"/>
          </a:xfrm>
          <a:prstGeom prst="rect">
            <a:avLst/>
          </a:prstGeom>
          <a:noFill/>
          <a:ln w="9525">
            <a:noFill/>
          </a:ln>
        </p:spPr>
        <p:txBody>
          <a:bodyPr>
            <a:spAutoFit/>
          </a:bodyPr>
          <a:p>
            <a:pPr algn="ctr" eaLnBrk="1" hangingPunct="1">
              <a:lnSpc>
                <a:spcPct val="90000"/>
              </a:lnSpc>
              <a:spcBef>
                <a:spcPct val="50000"/>
              </a:spcBef>
            </a:pPr>
            <a:r>
              <a:rPr lang="en-US" altLang="zh-CN" sz="1200" dirty="0">
                <a:solidFill>
                  <a:schemeClr val="accent2"/>
                </a:solidFill>
                <a:latin typeface="Times New Roman" panose="02020603050405020304" pitchFamily="18" charset="0"/>
              </a:rPr>
              <a:t>SW</a:t>
            </a:r>
            <a:endParaRPr lang="en-US" altLang="zh-CN" sz="1200" dirty="0">
              <a:solidFill>
                <a:schemeClr val="accent2"/>
              </a:solidFill>
              <a:latin typeface="Times New Roman" panose="02020603050405020304" pitchFamily="18" charset="0"/>
            </a:endParaRPr>
          </a:p>
        </p:txBody>
      </p:sp>
      <p:sp>
        <p:nvSpPr>
          <p:cNvPr id="2416747" name="Text Box 107"/>
          <p:cNvSpPr txBox="1"/>
          <p:nvPr/>
        </p:nvSpPr>
        <p:spPr>
          <a:xfrm>
            <a:off x="8677275" y="3573463"/>
            <a:ext cx="431800" cy="257175"/>
          </a:xfrm>
          <a:prstGeom prst="rect">
            <a:avLst/>
          </a:prstGeom>
          <a:noFill/>
          <a:ln w="9525">
            <a:noFill/>
          </a:ln>
        </p:spPr>
        <p:txBody>
          <a:bodyPr>
            <a:spAutoFit/>
          </a:bodyPr>
          <a:p>
            <a:pPr eaLnBrk="1" hangingPunct="1">
              <a:lnSpc>
                <a:spcPct val="90000"/>
              </a:lnSpc>
              <a:spcBef>
                <a:spcPct val="50000"/>
              </a:spcBef>
            </a:pPr>
            <a:r>
              <a:rPr lang="en-US" altLang="zh-CN" sz="1200" i="1" dirty="0">
                <a:solidFill>
                  <a:srgbClr val="FF0000"/>
                </a:solidFill>
                <a:latin typeface="Times New Roman" panose="02020603050405020304" pitchFamily="18" charset="0"/>
              </a:rPr>
              <a:t>U</a:t>
            </a:r>
            <a:r>
              <a:rPr lang="en-US" altLang="zh-CN" sz="1200" baseline="-25000" dirty="0">
                <a:solidFill>
                  <a:srgbClr val="FF0000"/>
                </a:solidFill>
                <a:latin typeface="Times New Roman" panose="02020603050405020304" pitchFamily="18" charset="0"/>
              </a:rPr>
              <a:t>O</a:t>
            </a:r>
            <a:endParaRPr lang="en-US" altLang="zh-CN" sz="1200" baseline="-25000" dirty="0">
              <a:solidFill>
                <a:srgbClr val="FF0000"/>
              </a:solidFill>
              <a:latin typeface="Times New Roman" panose="02020603050405020304" pitchFamily="18" charset="0"/>
            </a:endParaRPr>
          </a:p>
        </p:txBody>
      </p:sp>
      <p:sp>
        <p:nvSpPr>
          <p:cNvPr id="2416748" name="Line 108"/>
          <p:cNvSpPr/>
          <p:nvPr/>
        </p:nvSpPr>
        <p:spPr>
          <a:xfrm>
            <a:off x="8294688" y="3859213"/>
            <a:ext cx="0" cy="509587"/>
          </a:xfrm>
          <a:prstGeom prst="line">
            <a:avLst/>
          </a:prstGeom>
          <a:ln w="12700" cap="flat" cmpd="sng">
            <a:solidFill>
              <a:schemeClr val="accent2"/>
            </a:solidFill>
            <a:prstDash val="solid"/>
            <a:headEnd type="none" w="med" len="med"/>
            <a:tailEnd type="none" w="med" len="med"/>
          </a:ln>
        </p:spPr>
      </p:sp>
      <p:sp>
        <p:nvSpPr>
          <p:cNvPr id="2416749" name="Text Box 109"/>
          <p:cNvSpPr txBox="1"/>
          <p:nvPr/>
        </p:nvSpPr>
        <p:spPr>
          <a:xfrm>
            <a:off x="8255000" y="4025900"/>
            <a:ext cx="638175"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INH</a:t>
            </a:r>
            <a:r>
              <a:rPr lang="en-US" altLang="zh-CN" sz="1200" baseline="-25000" dirty="0">
                <a:solidFill>
                  <a:srgbClr val="FF0000"/>
                </a:solidFill>
                <a:latin typeface="Times New Roman" panose="02020603050405020304" pitchFamily="18" charset="0"/>
              </a:rPr>
              <a:t>4</a:t>
            </a:r>
            <a:endParaRPr lang="en-US" altLang="zh-CN" sz="1200" baseline="-25000" dirty="0">
              <a:solidFill>
                <a:srgbClr val="FF0000"/>
              </a:solidFill>
              <a:latin typeface="Times New Roman" panose="02020603050405020304" pitchFamily="18" charset="0"/>
            </a:endParaRPr>
          </a:p>
        </p:txBody>
      </p:sp>
      <p:sp>
        <p:nvSpPr>
          <p:cNvPr id="2416750" name="Rectangle 110"/>
          <p:cNvSpPr/>
          <p:nvPr/>
        </p:nvSpPr>
        <p:spPr>
          <a:xfrm>
            <a:off x="3851275" y="2165350"/>
            <a:ext cx="325438" cy="3000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51" name="Text Box 111"/>
          <p:cNvSpPr txBox="1"/>
          <p:nvPr/>
        </p:nvSpPr>
        <p:spPr>
          <a:xfrm>
            <a:off x="3781425" y="2098675"/>
            <a:ext cx="466725" cy="420688"/>
          </a:xfrm>
          <a:prstGeom prst="rect">
            <a:avLst/>
          </a:prstGeom>
          <a:noFill/>
          <a:ln w="9525">
            <a:noFill/>
          </a:ln>
        </p:spPr>
        <p:txBody>
          <a:bodyPr>
            <a:spAutoFit/>
          </a:bodyPr>
          <a:p>
            <a:pPr algn="ct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2416752" name="Text Box 112"/>
          <p:cNvSpPr txBox="1"/>
          <p:nvPr/>
        </p:nvSpPr>
        <p:spPr>
          <a:xfrm>
            <a:off x="3851275" y="2444750"/>
            <a:ext cx="638175"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H</a:t>
            </a:r>
            <a:r>
              <a:rPr lang="en-US" altLang="zh-CN" sz="1200" baseline="-25000" dirty="0">
                <a:solidFill>
                  <a:schemeClr val="accent2"/>
                </a:solidFill>
                <a:latin typeface="Times New Roman" panose="02020603050405020304" pitchFamily="18" charset="0"/>
              </a:rPr>
              <a:t>1</a:t>
            </a:r>
            <a:endParaRPr lang="en-US" altLang="zh-CN" sz="1200" baseline="-25000" dirty="0">
              <a:solidFill>
                <a:schemeClr val="accent2"/>
              </a:solidFill>
              <a:latin typeface="Times New Roman" panose="02020603050405020304" pitchFamily="18" charset="0"/>
            </a:endParaRPr>
          </a:p>
        </p:txBody>
      </p:sp>
      <p:sp>
        <p:nvSpPr>
          <p:cNvPr id="2416755" name="Rectangle 115"/>
          <p:cNvSpPr/>
          <p:nvPr/>
        </p:nvSpPr>
        <p:spPr>
          <a:xfrm>
            <a:off x="3851275" y="3290888"/>
            <a:ext cx="325438" cy="30003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56" name="Text Box 116"/>
          <p:cNvSpPr txBox="1"/>
          <p:nvPr/>
        </p:nvSpPr>
        <p:spPr>
          <a:xfrm>
            <a:off x="3781425" y="3230563"/>
            <a:ext cx="466725" cy="420687"/>
          </a:xfrm>
          <a:prstGeom prst="rect">
            <a:avLst/>
          </a:prstGeom>
          <a:noFill/>
          <a:ln w="9525">
            <a:noFill/>
          </a:ln>
        </p:spPr>
        <p:txBody>
          <a:bodyPr>
            <a:spAutoFit/>
          </a:bodyPr>
          <a:p>
            <a:pPr algn="ct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2416757" name="Text Box 117"/>
          <p:cNvSpPr txBox="1"/>
          <p:nvPr/>
        </p:nvSpPr>
        <p:spPr>
          <a:xfrm>
            <a:off x="3851275" y="3567113"/>
            <a:ext cx="638175"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H</a:t>
            </a:r>
            <a:r>
              <a:rPr lang="en-US" altLang="zh-CN" sz="1200" baseline="-25000" dirty="0">
                <a:solidFill>
                  <a:schemeClr val="accent2"/>
                </a:solidFill>
                <a:latin typeface="Times New Roman" panose="02020603050405020304" pitchFamily="18" charset="0"/>
              </a:rPr>
              <a:t>2</a:t>
            </a:r>
            <a:endParaRPr lang="en-US" altLang="zh-CN" sz="1200" baseline="-25000" dirty="0">
              <a:solidFill>
                <a:schemeClr val="accent2"/>
              </a:solidFill>
              <a:latin typeface="Times New Roman" panose="02020603050405020304" pitchFamily="18" charset="0"/>
            </a:endParaRPr>
          </a:p>
        </p:txBody>
      </p:sp>
      <p:sp>
        <p:nvSpPr>
          <p:cNvPr id="2416758" name="Rectangle 118"/>
          <p:cNvSpPr/>
          <p:nvPr/>
        </p:nvSpPr>
        <p:spPr>
          <a:xfrm>
            <a:off x="3851275" y="4516438"/>
            <a:ext cx="325438" cy="29845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59" name="Text Box 119"/>
          <p:cNvSpPr txBox="1"/>
          <p:nvPr/>
        </p:nvSpPr>
        <p:spPr>
          <a:xfrm>
            <a:off x="3781425" y="4456113"/>
            <a:ext cx="466725" cy="420687"/>
          </a:xfrm>
          <a:prstGeom prst="rect">
            <a:avLst/>
          </a:prstGeom>
          <a:noFill/>
          <a:ln w="9525">
            <a:noFill/>
          </a:ln>
        </p:spPr>
        <p:txBody>
          <a:bodyPr>
            <a:spAutoFit/>
          </a:bodyPr>
          <a:p>
            <a:pPr algn="ct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2416760" name="Text Box 120"/>
          <p:cNvSpPr txBox="1"/>
          <p:nvPr/>
        </p:nvSpPr>
        <p:spPr>
          <a:xfrm>
            <a:off x="3851275" y="4792663"/>
            <a:ext cx="638175"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H</a:t>
            </a:r>
            <a:r>
              <a:rPr lang="en-US" altLang="zh-CN" sz="1200" baseline="-25000" dirty="0">
                <a:solidFill>
                  <a:schemeClr val="accent2"/>
                </a:solidFill>
                <a:latin typeface="Times New Roman" panose="02020603050405020304" pitchFamily="18" charset="0"/>
              </a:rPr>
              <a:t>3</a:t>
            </a:r>
            <a:endParaRPr lang="en-US" altLang="zh-CN" sz="1200" baseline="-25000" dirty="0">
              <a:solidFill>
                <a:schemeClr val="accent2"/>
              </a:solidFill>
              <a:latin typeface="Times New Roman" panose="02020603050405020304" pitchFamily="18" charset="0"/>
            </a:endParaRPr>
          </a:p>
        </p:txBody>
      </p:sp>
      <p:sp>
        <p:nvSpPr>
          <p:cNvPr id="2416761" name="Rectangle 121"/>
          <p:cNvSpPr/>
          <p:nvPr/>
        </p:nvSpPr>
        <p:spPr>
          <a:xfrm>
            <a:off x="3851275" y="5715000"/>
            <a:ext cx="325438" cy="3000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62" name="Text Box 122"/>
          <p:cNvSpPr txBox="1"/>
          <p:nvPr/>
        </p:nvSpPr>
        <p:spPr>
          <a:xfrm>
            <a:off x="3781425" y="5680075"/>
            <a:ext cx="466725" cy="420688"/>
          </a:xfrm>
          <a:prstGeom prst="rect">
            <a:avLst/>
          </a:prstGeom>
          <a:noFill/>
          <a:ln w="9525">
            <a:noFill/>
          </a:ln>
        </p:spPr>
        <p:txBody>
          <a:bodyPr>
            <a:spAutoFit/>
          </a:bodyPr>
          <a:p>
            <a:pPr algn="ct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2416763" name="Text Box 123"/>
          <p:cNvSpPr txBox="1"/>
          <p:nvPr/>
        </p:nvSpPr>
        <p:spPr>
          <a:xfrm>
            <a:off x="3851275" y="5986463"/>
            <a:ext cx="638175"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H</a:t>
            </a:r>
            <a:r>
              <a:rPr lang="en-US" altLang="zh-CN" sz="1200" baseline="-25000" dirty="0">
                <a:solidFill>
                  <a:schemeClr val="accent2"/>
                </a:solidFill>
                <a:latin typeface="Times New Roman" panose="02020603050405020304" pitchFamily="18" charset="0"/>
              </a:rPr>
              <a:t>4</a:t>
            </a:r>
            <a:endParaRPr lang="en-US" altLang="zh-CN" sz="1200" baseline="-25000" dirty="0">
              <a:solidFill>
                <a:schemeClr val="accent2"/>
              </a:solidFill>
              <a:latin typeface="Times New Roman" panose="02020603050405020304" pitchFamily="18" charset="0"/>
            </a:endParaRPr>
          </a:p>
        </p:txBody>
      </p:sp>
      <p:sp>
        <p:nvSpPr>
          <p:cNvPr id="2416764" name="Line 124"/>
          <p:cNvSpPr/>
          <p:nvPr/>
        </p:nvSpPr>
        <p:spPr>
          <a:xfrm flipH="1">
            <a:off x="2806700" y="5959475"/>
            <a:ext cx="1044575" cy="0"/>
          </a:xfrm>
          <a:prstGeom prst="line">
            <a:avLst/>
          </a:prstGeom>
          <a:ln w="12700" cap="flat" cmpd="sng">
            <a:solidFill>
              <a:schemeClr val="accent2"/>
            </a:solidFill>
            <a:prstDash val="solid"/>
            <a:headEnd type="none" w="med" len="med"/>
            <a:tailEnd type="none" w="med" len="med"/>
          </a:ln>
        </p:spPr>
      </p:sp>
      <p:sp>
        <p:nvSpPr>
          <p:cNvPr id="2416765" name="Line 125"/>
          <p:cNvSpPr/>
          <p:nvPr/>
        </p:nvSpPr>
        <p:spPr>
          <a:xfrm flipH="1">
            <a:off x="3271838" y="5768975"/>
            <a:ext cx="579437" cy="0"/>
          </a:xfrm>
          <a:prstGeom prst="line">
            <a:avLst/>
          </a:prstGeom>
          <a:ln w="12700" cap="flat" cmpd="sng">
            <a:solidFill>
              <a:schemeClr val="accent2"/>
            </a:solidFill>
            <a:prstDash val="solid"/>
            <a:headEnd type="none" w="med" len="med"/>
            <a:tailEnd type="none" w="med" len="med"/>
          </a:ln>
        </p:spPr>
      </p:sp>
      <p:sp>
        <p:nvSpPr>
          <p:cNvPr id="2416766" name="Line 126"/>
          <p:cNvSpPr/>
          <p:nvPr/>
        </p:nvSpPr>
        <p:spPr>
          <a:xfrm flipH="1">
            <a:off x="3271838" y="4760913"/>
            <a:ext cx="579437" cy="0"/>
          </a:xfrm>
          <a:prstGeom prst="line">
            <a:avLst/>
          </a:prstGeom>
          <a:ln w="12700" cap="flat" cmpd="sng">
            <a:solidFill>
              <a:schemeClr val="accent2"/>
            </a:solidFill>
            <a:prstDash val="solid"/>
            <a:headEnd type="none" w="med" len="med"/>
            <a:tailEnd type="none" w="med" len="med"/>
          </a:ln>
        </p:spPr>
      </p:sp>
      <p:sp>
        <p:nvSpPr>
          <p:cNvPr id="2416768" name="Line 128"/>
          <p:cNvSpPr/>
          <p:nvPr/>
        </p:nvSpPr>
        <p:spPr>
          <a:xfrm flipH="1">
            <a:off x="3636963" y="4576763"/>
            <a:ext cx="215900" cy="0"/>
          </a:xfrm>
          <a:prstGeom prst="line">
            <a:avLst/>
          </a:prstGeom>
          <a:ln w="12700" cap="flat" cmpd="sng">
            <a:solidFill>
              <a:schemeClr val="accent2"/>
            </a:solidFill>
            <a:prstDash val="solid"/>
            <a:headEnd type="none" w="med" len="med"/>
            <a:tailEnd type="none" w="med" len="med"/>
          </a:ln>
        </p:spPr>
      </p:sp>
      <p:sp>
        <p:nvSpPr>
          <p:cNvPr id="2416769" name="Line 129"/>
          <p:cNvSpPr/>
          <p:nvPr/>
        </p:nvSpPr>
        <p:spPr>
          <a:xfrm flipH="1">
            <a:off x="3635375" y="2217738"/>
            <a:ext cx="0" cy="2359025"/>
          </a:xfrm>
          <a:prstGeom prst="line">
            <a:avLst/>
          </a:prstGeom>
          <a:ln w="12700" cap="flat" cmpd="sng">
            <a:solidFill>
              <a:schemeClr val="accent2"/>
            </a:solidFill>
            <a:prstDash val="solid"/>
            <a:headEnd type="none" w="med" len="med"/>
            <a:tailEnd type="none" w="med" len="med"/>
          </a:ln>
        </p:spPr>
      </p:sp>
      <p:sp>
        <p:nvSpPr>
          <p:cNvPr id="2416770" name="Line 130"/>
          <p:cNvSpPr/>
          <p:nvPr/>
        </p:nvSpPr>
        <p:spPr>
          <a:xfrm flipV="1">
            <a:off x="5040313" y="2008188"/>
            <a:ext cx="0" cy="3671887"/>
          </a:xfrm>
          <a:prstGeom prst="line">
            <a:avLst/>
          </a:prstGeom>
          <a:ln w="12700" cap="flat" cmpd="sng">
            <a:solidFill>
              <a:schemeClr val="accent2"/>
            </a:solidFill>
            <a:prstDash val="solid"/>
            <a:headEnd type="none" w="med" len="med"/>
            <a:tailEnd type="none" w="med" len="med"/>
          </a:ln>
        </p:spPr>
      </p:sp>
      <p:sp>
        <p:nvSpPr>
          <p:cNvPr id="2416771" name="Line 131"/>
          <p:cNvSpPr/>
          <p:nvPr/>
        </p:nvSpPr>
        <p:spPr>
          <a:xfrm flipV="1">
            <a:off x="4860925" y="1800225"/>
            <a:ext cx="0" cy="3671888"/>
          </a:xfrm>
          <a:prstGeom prst="line">
            <a:avLst/>
          </a:prstGeom>
          <a:ln w="12700" cap="flat" cmpd="sng">
            <a:solidFill>
              <a:schemeClr val="accent2"/>
            </a:solidFill>
            <a:prstDash val="solid"/>
            <a:headEnd type="none" w="med" len="med"/>
            <a:tailEnd type="none" w="med" len="med"/>
          </a:ln>
        </p:spPr>
      </p:sp>
      <p:sp>
        <p:nvSpPr>
          <p:cNvPr id="2416772" name="Line 132"/>
          <p:cNvSpPr/>
          <p:nvPr/>
        </p:nvSpPr>
        <p:spPr>
          <a:xfrm flipV="1">
            <a:off x="4645025" y="1573213"/>
            <a:ext cx="0" cy="3671887"/>
          </a:xfrm>
          <a:prstGeom prst="line">
            <a:avLst/>
          </a:prstGeom>
          <a:ln w="12700" cap="flat" cmpd="sng">
            <a:solidFill>
              <a:schemeClr val="accent2"/>
            </a:solidFill>
            <a:prstDash val="solid"/>
            <a:headEnd type="none" w="med" len="med"/>
            <a:tailEnd type="none" w="med" len="med"/>
          </a:ln>
        </p:spPr>
      </p:sp>
      <p:sp>
        <p:nvSpPr>
          <p:cNvPr id="2416773" name="Rectangle 133"/>
          <p:cNvSpPr/>
          <p:nvPr/>
        </p:nvSpPr>
        <p:spPr>
          <a:xfrm>
            <a:off x="2592388" y="2740025"/>
            <a:ext cx="431800" cy="257175"/>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75" name="Oval 135"/>
          <p:cNvSpPr>
            <a:spLocks noChangeAspect="1"/>
          </p:cNvSpPr>
          <p:nvPr/>
        </p:nvSpPr>
        <p:spPr>
          <a:xfrm>
            <a:off x="2771775" y="2997200"/>
            <a:ext cx="71438" cy="71438"/>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76" name="Rectangle 136"/>
          <p:cNvSpPr/>
          <p:nvPr/>
        </p:nvSpPr>
        <p:spPr>
          <a:xfrm>
            <a:off x="3059113" y="4076700"/>
            <a:ext cx="431800" cy="257175"/>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77" name="Oval 137"/>
          <p:cNvSpPr>
            <a:spLocks noChangeAspect="1"/>
          </p:cNvSpPr>
          <p:nvPr/>
        </p:nvSpPr>
        <p:spPr>
          <a:xfrm>
            <a:off x="3238500" y="4333875"/>
            <a:ext cx="71438" cy="71438"/>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78" name="Line 138"/>
          <p:cNvSpPr/>
          <p:nvPr/>
        </p:nvSpPr>
        <p:spPr>
          <a:xfrm>
            <a:off x="3271838" y="4405313"/>
            <a:ext cx="0" cy="1363662"/>
          </a:xfrm>
          <a:prstGeom prst="line">
            <a:avLst/>
          </a:prstGeom>
          <a:ln w="12700" cap="flat" cmpd="sng">
            <a:solidFill>
              <a:schemeClr val="accent2"/>
            </a:solidFill>
            <a:prstDash val="solid"/>
            <a:headEnd type="none" w="med" len="med"/>
            <a:tailEnd type="none" w="med" len="med"/>
          </a:ln>
        </p:spPr>
      </p:sp>
      <p:sp>
        <p:nvSpPr>
          <p:cNvPr id="2416779" name="Line 139"/>
          <p:cNvSpPr/>
          <p:nvPr/>
        </p:nvSpPr>
        <p:spPr>
          <a:xfrm>
            <a:off x="2806700" y="3068638"/>
            <a:ext cx="0" cy="2890837"/>
          </a:xfrm>
          <a:prstGeom prst="line">
            <a:avLst/>
          </a:prstGeom>
          <a:ln w="12700" cap="flat" cmpd="sng">
            <a:solidFill>
              <a:schemeClr val="accent2"/>
            </a:solidFill>
            <a:prstDash val="solid"/>
            <a:headEnd type="none" w="med" len="med"/>
            <a:tailEnd type="none" w="med" len="med"/>
          </a:ln>
        </p:spPr>
      </p:sp>
      <p:sp>
        <p:nvSpPr>
          <p:cNvPr id="2416780" name="Line 140"/>
          <p:cNvSpPr/>
          <p:nvPr/>
        </p:nvSpPr>
        <p:spPr>
          <a:xfrm flipH="1">
            <a:off x="2555875" y="2217738"/>
            <a:ext cx="1295400" cy="0"/>
          </a:xfrm>
          <a:prstGeom prst="line">
            <a:avLst/>
          </a:prstGeom>
          <a:ln w="12700" cap="flat" cmpd="sng">
            <a:solidFill>
              <a:schemeClr val="accent2"/>
            </a:solidFill>
            <a:prstDash val="solid"/>
            <a:headEnd type="none" w="med" len="med"/>
            <a:tailEnd type="none" w="med" len="med"/>
          </a:ln>
        </p:spPr>
      </p:sp>
      <p:sp>
        <p:nvSpPr>
          <p:cNvPr id="2416781" name="Line 141"/>
          <p:cNvSpPr/>
          <p:nvPr/>
        </p:nvSpPr>
        <p:spPr>
          <a:xfrm flipH="1">
            <a:off x="2555875" y="2420938"/>
            <a:ext cx="1295400" cy="0"/>
          </a:xfrm>
          <a:prstGeom prst="line">
            <a:avLst/>
          </a:prstGeom>
          <a:ln w="12700" cap="flat" cmpd="sng">
            <a:solidFill>
              <a:schemeClr val="accent2"/>
            </a:solidFill>
            <a:prstDash val="solid"/>
            <a:headEnd type="none" w="med" len="med"/>
            <a:tailEnd type="none" w="med" len="med"/>
          </a:ln>
        </p:spPr>
      </p:sp>
      <p:sp>
        <p:nvSpPr>
          <p:cNvPr id="2416782" name="Line 142"/>
          <p:cNvSpPr/>
          <p:nvPr/>
        </p:nvSpPr>
        <p:spPr>
          <a:xfrm>
            <a:off x="4176713" y="2317750"/>
            <a:ext cx="215900" cy="0"/>
          </a:xfrm>
          <a:prstGeom prst="line">
            <a:avLst/>
          </a:prstGeom>
          <a:ln w="12700" cap="flat" cmpd="sng">
            <a:solidFill>
              <a:schemeClr val="accent2"/>
            </a:solidFill>
            <a:prstDash val="solid"/>
            <a:headEnd type="none" w="med" len="med"/>
            <a:tailEnd type="none" w="med" len="med"/>
          </a:ln>
        </p:spPr>
      </p:sp>
      <p:sp>
        <p:nvSpPr>
          <p:cNvPr id="2416783" name="Line 143"/>
          <p:cNvSpPr/>
          <p:nvPr/>
        </p:nvSpPr>
        <p:spPr>
          <a:xfrm flipV="1">
            <a:off x="4392613" y="2217738"/>
            <a:ext cx="0" cy="100012"/>
          </a:xfrm>
          <a:prstGeom prst="line">
            <a:avLst/>
          </a:prstGeom>
          <a:ln w="12700" cap="flat" cmpd="sng">
            <a:solidFill>
              <a:schemeClr val="accent2"/>
            </a:solidFill>
            <a:prstDash val="solid"/>
            <a:headEnd type="none" w="med" len="med"/>
            <a:tailEnd type="none" w="med" len="med"/>
          </a:ln>
        </p:spPr>
      </p:sp>
      <p:sp>
        <p:nvSpPr>
          <p:cNvPr id="2416784" name="Line 144"/>
          <p:cNvSpPr/>
          <p:nvPr/>
        </p:nvSpPr>
        <p:spPr>
          <a:xfrm flipV="1">
            <a:off x="3271838" y="2420938"/>
            <a:ext cx="0" cy="1655762"/>
          </a:xfrm>
          <a:prstGeom prst="line">
            <a:avLst/>
          </a:prstGeom>
          <a:ln w="12700" cap="flat" cmpd="sng">
            <a:solidFill>
              <a:schemeClr val="accent2"/>
            </a:solidFill>
            <a:prstDash val="solid"/>
            <a:headEnd type="none" w="med" len="med"/>
            <a:tailEnd type="none" w="med" len="med"/>
          </a:ln>
        </p:spPr>
      </p:sp>
      <p:sp>
        <p:nvSpPr>
          <p:cNvPr id="2416785" name="Line 145"/>
          <p:cNvSpPr/>
          <p:nvPr/>
        </p:nvSpPr>
        <p:spPr>
          <a:xfrm flipH="1">
            <a:off x="2806700" y="3541713"/>
            <a:ext cx="1044575" cy="0"/>
          </a:xfrm>
          <a:prstGeom prst="line">
            <a:avLst/>
          </a:prstGeom>
          <a:ln w="12700" cap="flat" cmpd="sng">
            <a:solidFill>
              <a:schemeClr val="accent2"/>
            </a:solidFill>
            <a:prstDash val="solid"/>
            <a:headEnd type="none" w="med" len="med"/>
            <a:tailEnd type="none" w="med" len="med"/>
          </a:ln>
        </p:spPr>
      </p:sp>
      <p:sp>
        <p:nvSpPr>
          <p:cNvPr id="2416786" name="Line 146"/>
          <p:cNvSpPr/>
          <p:nvPr/>
        </p:nvSpPr>
        <p:spPr>
          <a:xfrm flipH="1">
            <a:off x="3271838" y="3344863"/>
            <a:ext cx="581025" cy="0"/>
          </a:xfrm>
          <a:prstGeom prst="line">
            <a:avLst/>
          </a:prstGeom>
          <a:ln w="12700" cap="flat" cmpd="sng">
            <a:solidFill>
              <a:schemeClr val="accent2"/>
            </a:solidFill>
            <a:prstDash val="solid"/>
            <a:headEnd type="none" w="med" len="med"/>
            <a:tailEnd type="none" w="med" len="med"/>
          </a:ln>
        </p:spPr>
      </p:sp>
      <p:sp>
        <p:nvSpPr>
          <p:cNvPr id="2416787" name="Line 147"/>
          <p:cNvSpPr/>
          <p:nvPr/>
        </p:nvSpPr>
        <p:spPr>
          <a:xfrm flipV="1">
            <a:off x="2806700" y="2217738"/>
            <a:ext cx="0" cy="527050"/>
          </a:xfrm>
          <a:prstGeom prst="line">
            <a:avLst/>
          </a:prstGeom>
          <a:ln w="12700" cap="flat" cmpd="sng">
            <a:solidFill>
              <a:schemeClr val="accent2"/>
            </a:solidFill>
            <a:prstDash val="solid"/>
            <a:headEnd type="none" w="med" len="med"/>
            <a:tailEnd type="none" w="med" len="med"/>
          </a:ln>
        </p:spPr>
      </p:sp>
      <p:sp>
        <p:nvSpPr>
          <p:cNvPr id="2416788" name="Text Box 148"/>
          <p:cNvSpPr txBox="1"/>
          <p:nvPr/>
        </p:nvSpPr>
        <p:spPr>
          <a:xfrm>
            <a:off x="2308225" y="1443038"/>
            <a:ext cx="31908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A</a:t>
            </a:r>
            <a:endParaRPr lang="en-US" altLang="zh-CN" sz="1200" baseline="-25000" dirty="0">
              <a:solidFill>
                <a:srgbClr val="FF0000"/>
              </a:solidFill>
              <a:latin typeface="Times New Roman" panose="02020603050405020304" pitchFamily="18" charset="0"/>
            </a:endParaRPr>
          </a:p>
        </p:txBody>
      </p:sp>
      <p:sp>
        <p:nvSpPr>
          <p:cNvPr id="2416789" name="Text Box 149"/>
          <p:cNvSpPr txBox="1"/>
          <p:nvPr/>
        </p:nvSpPr>
        <p:spPr>
          <a:xfrm>
            <a:off x="2308225" y="1658938"/>
            <a:ext cx="31908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B</a:t>
            </a:r>
            <a:endParaRPr lang="en-US" altLang="zh-CN" sz="1200" baseline="-25000" dirty="0">
              <a:solidFill>
                <a:srgbClr val="FF0000"/>
              </a:solidFill>
              <a:latin typeface="Times New Roman" panose="02020603050405020304" pitchFamily="18" charset="0"/>
            </a:endParaRPr>
          </a:p>
        </p:txBody>
      </p:sp>
      <p:sp>
        <p:nvSpPr>
          <p:cNvPr id="2416790" name="Text Box 150"/>
          <p:cNvSpPr txBox="1"/>
          <p:nvPr/>
        </p:nvSpPr>
        <p:spPr>
          <a:xfrm>
            <a:off x="2308225" y="1876425"/>
            <a:ext cx="31908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C</a:t>
            </a:r>
            <a:endParaRPr lang="en-US" altLang="zh-CN" sz="1200" baseline="-25000" dirty="0">
              <a:solidFill>
                <a:srgbClr val="FF0000"/>
              </a:solidFill>
              <a:latin typeface="Times New Roman" panose="02020603050405020304" pitchFamily="18" charset="0"/>
            </a:endParaRPr>
          </a:p>
        </p:txBody>
      </p:sp>
      <p:sp>
        <p:nvSpPr>
          <p:cNvPr id="2416791" name="Text Box 151"/>
          <p:cNvSpPr txBox="1"/>
          <p:nvPr/>
        </p:nvSpPr>
        <p:spPr>
          <a:xfrm>
            <a:off x="2308225" y="2084388"/>
            <a:ext cx="31908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D</a:t>
            </a:r>
            <a:endParaRPr lang="en-US" altLang="zh-CN" sz="1200" baseline="-25000" dirty="0">
              <a:solidFill>
                <a:srgbClr val="FF0000"/>
              </a:solidFill>
              <a:latin typeface="Times New Roman" panose="02020603050405020304" pitchFamily="18" charset="0"/>
            </a:endParaRPr>
          </a:p>
        </p:txBody>
      </p:sp>
      <p:sp>
        <p:nvSpPr>
          <p:cNvPr id="2416792" name="Text Box 152"/>
          <p:cNvSpPr txBox="1"/>
          <p:nvPr/>
        </p:nvSpPr>
        <p:spPr>
          <a:xfrm>
            <a:off x="2308225" y="2279650"/>
            <a:ext cx="31908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rgbClr val="FF0000"/>
                </a:solidFill>
                <a:latin typeface="Times New Roman" panose="02020603050405020304" pitchFamily="18" charset="0"/>
              </a:rPr>
              <a:t>E</a:t>
            </a:r>
            <a:endParaRPr lang="en-US" altLang="zh-CN" sz="1200" baseline="-25000" dirty="0">
              <a:solidFill>
                <a:srgbClr val="FF0000"/>
              </a:solidFill>
              <a:latin typeface="Times New Roman" panose="02020603050405020304" pitchFamily="18" charset="0"/>
            </a:endParaRPr>
          </a:p>
        </p:txBody>
      </p:sp>
      <p:sp>
        <p:nvSpPr>
          <p:cNvPr id="2416793" name="Text Box 153"/>
          <p:cNvSpPr txBox="1"/>
          <p:nvPr/>
        </p:nvSpPr>
        <p:spPr>
          <a:xfrm>
            <a:off x="2324100" y="2744788"/>
            <a:ext cx="37623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F</a:t>
            </a:r>
            <a:r>
              <a:rPr lang="en-US" altLang="zh-CN" sz="1200" baseline="-25000" dirty="0">
                <a:solidFill>
                  <a:schemeClr val="accent2"/>
                </a:solidFill>
                <a:latin typeface="Times New Roman" panose="02020603050405020304" pitchFamily="18" charset="0"/>
              </a:rPr>
              <a:t>1</a:t>
            </a:r>
            <a:endParaRPr lang="en-US" altLang="zh-CN" sz="1200" baseline="-25000" dirty="0">
              <a:solidFill>
                <a:schemeClr val="accent2"/>
              </a:solidFill>
              <a:latin typeface="Times New Roman" panose="02020603050405020304" pitchFamily="18" charset="0"/>
            </a:endParaRPr>
          </a:p>
        </p:txBody>
      </p:sp>
      <p:sp>
        <p:nvSpPr>
          <p:cNvPr id="2416794" name="Text Box 154"/>
          <p:cNvSpPr txBox="1"/>
          <p:nvPr/>
        </p:nvSpPr>
        <p:spPr>
          <a:xfrm>
            <a:off x="2771775" y="4071938"/>
            <a:ext cx="376238" cy="257175"/>
          </a:xfrm>
          <a:prstGeom prst="rect">
            <a:avLst/>
          </a:prstGeom>
          <a:noFill/>
          <a:ln w="9525">
            <a:noFill/>
          </a:ln>
        </p:spPr>
        <p:txBody>
          <a:bodyPr>
            <a:spAutoFit/>
          </a:bodyPr>
          <a:p>
            <a:pPr eaLnBrk="1" hangingPunct="1">
              <a:lnSpc>
                <a:spcPct val="90000"/>
              </a:lnSpc>
              <a:spcBef>
                <a:spcPct val="50000"/>
              </a:spcBef>
            </a:pPr>
            <a:r>
              <a:rPr lang="en-US" altLang="zh-CN" sz="1200" dirty="0">
                <a:solidFill>
                  <a:schemeClr val="accent2"/>
                </a:solidFill>
                <a:latin typeface="Times New Roman" panose="02020603050405020304" pitchFamily="18" charset="0"/>
              </a:rPr>
              <a:t>F</a:t>
            </a:r>
            <a:r>
              <a:rPr lang="en-US" altLang="zh-CN" sz="1200" baseline="-25000" dirty="0">
                <a:solidFill>
                  <a:schemeClr val="accent2"/>
                </a:solidFill>
                <a:latin typeface="Times New Roman" panose="02020603050405020304" pitchFamily="18" charset="0"/>
              </a:rPr>
              <a:t>2</a:t>
            </a:r>
            <a:endParaRPr lang="en-US" altLang="zh-CN" sz="1200" baseline="-25000" dirty="0">
              <a:solidFill>
                <a:schemeClr val="accent2"/>
              </a:solidFill>
              <a:latin typeface="Times New Roman" panose="02020603050405020304" pitchFamily="18" charset="0"/>
            </a:endParaRPr>
          </a:p>
        </p:txBody>
      </p:sp>
      <p:sp>
        <p:nvSpPr>
          <p:cNvPr id="2416795" name="Oval 155"/>
          <p:cNvSpPr/>
          <p:nvPr/>
        </p:nvSpPr>
        <p:spPr>
          <a:xfrm>
            <a:off x="2770188" y="2181225"/>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96" name="Oval 156"/>
          <p:cNvSpPr/>
          <p:nvPr/>
        </p:nvSpPr>
        <p:spPr>
          <a:xfrm>
            <a:off x="3233738" y="2378075"/>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97" name="Oval 157"/>
          <p:cNvSpPr/>
          <p:nvPr/>
        </p:nvSpPr>
        <p:spPr>
          <a:xfrm>
            <a:off x="3600450" y="2181225"/>
            <a:ext cx="71438"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98" name="Oval 158"/>
          <p:cNvSpPr/>
          <p:nvPr/>
        </p:nvSpPr>
        <p:spPr>
          <a:xfrm>
            <a:off x="3232150" y="3308350"/>
            <a:ext cx="71438"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799" name="Oval 159"/>
          <p:cNvSpPr/>
          <p:nvPr/>
        </p:nvSpPr>
        <p:spPr>
          <a:xfrm>
            <a:off x="2763838" y="3502025"/>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0" name="Oval 160"/>
          <p:cNvSpPr/>
          <p:nvPr/>
        </p:nvSpPr>
        <p:spPr>
          <a:xfrm>
            <a:off x="3235325" y="4722813"/>
            <a:ext cx="71438"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1" name="Oval 161"/>
          <p:cNvSpPr/>
          <p:nvPr/>
        </p:nvSpPr>
        <p:spPr>
          <a:xfrm>
            <a:off x="7885113" y="3681413"/>
            <a:ext cx="71437"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2" name="Oval 162"/>
          <p:cNvSpPr/>
          <p:nvPr/>
        </p:nvSpPr>
        <p:spPr>
          <a:xfrm>
            <a:off x="7885113" y="4905375"/>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3" name="Oval 163"/>
          <p:cNvSpPr/>
          <p:nvPr/>
        </p:nvSpPr>
        <p:spPr>
          <a:xfrm>
            <a:off x="4608513" y="1536700"/>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4" name="Oval 164"/>
          <p:cNvSpPr/>
          <p:nvPr/>
        </p:nvSpPr>
        <p:spPr>
          <a:xfrm>
            <a:off x="4824413" y="1763713"/>
            <a:ext cx="71437"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5" name="Oval 165"/>
          <p:cNvSpPr/>
          <p:nvPr/>
        </p:nvSpPr>
        <p:spPr>
          <a:xfrm>
            <a:off x="5003800" y="1971675"/>
            <a:ext cx="71438"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6" name="Oval 166"/>
          <p:cNvSpPr/>
          <p:nvPr/>
        </p:nvSpPr>
        <p:spPr>
          <a:xfrm>
            <a:off x="4608513" y="2757488"/>
            <a:ext cx="71437"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7" name="Oval 167"/>
          <p:cNvSpPr/>
          <p:nvPr/>
        </p:nvSpPr>
        <p:spPr>
          <a:xfrm>
            <a:off x="4824413" y="2984500"/>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8" name="Oval 168"/>
          <p:cNvSpPr/>
          <p:nvPr/>
        </p:nvSpPr>
        <p:spPr>
          <a:xfrm>
            <a:off x="5003800" y="3192463"/>
            <a:ext cx="71438"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09" name="Oval 169"/>
          <p:cNvSpPr/>
          <p:nvPr/>
        </p:nvSpPr>
        <p:spPr>
          <a:xfrm>
            <a:off x="4608513" y="3981450"/>
            <a:ext cx="71437"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10" name="Oval 170"/>
          <p:cNvSpPr/>
          <p:nvPr/>
        </p:nvSpPr>
        <p:spPr>
          <a:xfrm>
            <a:off x="4824413" y="4208463"/>
            <a:ext cx="71437" cy="71437"/>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11" name="Oval 171"/>
          <p:cNvSpPr/>
          <p:nvPr/>
        </p:nvSpPr>
        <p:spPr>
          <a:xfrm>
            <a:off x="5003800" y="4416425"/>
            <a:ext cx="71438" cy="7143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6813" name="Text Box 173"/>
          <p:cNvSpPr txBox="1"/>
          <p:nvPr/>
        </p:nvSpPr>
        <p:spPr>
          <a:xfrm>
            <a:off x="4822825" y="908050"/>
            <a:ext cx="4213225" cy="369888"/>
          </a:xfrm>
          <a:prstGeom prst="rect">
            <a:avLst/>
          </a:prstGeom>
          <a:solidFill>
            <a:srgbClr val="CCFFFF"/>
          </a:solid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32</a:t>
            </a:r>
            <a:r>
              <a:rPr lang="zh-CN" altLang="en-US" sz="2000" dirty="0">
                <a:solidFill>
                  <a:schemeClr val="tx1"/>
                </a:solidFill>
                <a:latin typeface="Times New Roman" panose="02020603050405020304" pitchFamily="18" charset="0"/>
              </a:rPr>
              <a:t>路单端输入时</a:t>
            </a:r>
            <a:r>
              <a:rPr lang="en-US" altLang="zh-CN" sz="2000" dirty="0">
                <a:solidFill>
                  <a:srgbClr val="FF0000"/>
                </a:solidFill>
                <a:latin typeface="Times New Roman" panose="02020603050405020304" pitchFamily="18" charset="0"/>
              </a:rPr>
              <a:t>CD4051</a:t>
            </a:r>
            <a:r>
              <a:rPr lang="zh-CN" altLang="en-US" sz="2000" dirty="0">
                <a:solidFill>
                  <a:schemeClr val="tx1"/>
                </a:solidFill>
                <a:latin typeface="Times New Roman" panose="02020603050405020304" pitchFamily="18" charset="0"/>
              </a:rPr>
              <a:t>的连接方法</a:t>
            </a:r>
            <a:endParaRPr lang="zh-CN" altLang="en-US" sz="2000" dirty="0">
              <a:solidFill>
                <a:schemeClr val="tx1"/>
              </a:solidFill>
              <a:latin typeface="Times New Roman" panose="02020603050405020304" pitchFamily="18" charset="0"/>
            </a:endParaRPr>
          </a:p>
        </p:txBody>
      </p:sp>
      <p:graphicFrame>
        <p:nvGraphicFramePr>
          <p:cNvPr id="2416814" name="Object 174"/>
          <p:cNvGraphicFramePr>
            <a:graphicFrameLocks noGrp="1" noChangeAspect="1"/>
          </p:cNvGraphicFramePr>
          <p:nvPr>
            <p:ph sz="quarter" idx="1"/>
          </p:nvPr>
        </p:nvGraphicFramePr>
        <p:xfrm>
          <a:off x="241300" y="3852863"/>
          <a:ext cx="1809750" cy="509587"/>
        </p:xfrm>
        <a:graphic>
          <a:graphicData uri="http://schemas.openxmlformats.org/presentationml/2006/ole">
            <mc:AlternateContent xmlns:mc="http://schemas.openxmlformats.org/markup-compatibility/2006">
              <mc:Choice xmlns:v="urn:schemas-microsoft-com:vml" Requires="v">
                <p:oleObj spid="_x0000_s3086" name="" r:id="rId1" imgW="901065" imgH="254000" progId="Equation.3">
                  <p:embed/>
                </p:oleObj>
              </mc:Choice>
              <mc:Fallback>
                <p:oleObj name="" r:id="rId1" imgW="901065" imgH="254000" progId="Equation.3">
                  <p:embed/>
                  <p:pic>
                    <p:nvPicPr>
                      <p:cNvPr id="0" name="图片 3085"/>
                      <p:cNvPicPr/>
                      <p:nvPr/>
                    </p:nvPicPr>
                    <p:blipFill>
                      <a:blip r:embed="rId2"/>
                      <a:stretch>
                        <a:fillRect/>
                      </a:stretch>
                    </p:blipFill>
                    <p:spPr>
                      <a:xfrm>
                        <a:off x="241300" y="3852863"/>
                        <a:ext cx="1809750" cy="509587"/>
                      </a:xfrm>
                      <a:prstGeom prst="rect">
                        <a:avLst/>
                      </a:prstGeom>
                      <a:noFill/>
                      <a:ln w="38100">
                        <a:noFill/>
                        <a:miter/>
                      </a:ln>
                    </p:spPr>
                  </p:pic>
                </p:oleObj>
              </mc:Fallback>
            </mc:AlternateContent>
          </a:graphicData>
        </a:graphic>
      </p:graphicFrame>
      <p:graphicFrame>
        <p:nvGraphicFramePr>
          <p:cNvPr id="2416816" name="Object 176"/>
          <p:cNvGraphicFramePr>
            <a:graphicFrameLocks noGrp="1" noChangeAspect="1"/>
          </p:cNvGraphicFramePr>
          <p:nvPr>
            <p:ph sz="quarter" idx="2"/>
          </p:nvPr>
        </p:nvGraphicFramePr>
        <p:xfrm>
          <a:off x="241300" y="2305050"/>
          <a:ext cx="1809750" cy="509588"/>
        </p:xfrm>
        <a:graphic>
          <a:graphicData uri="http://schemas.openxmlformats.org/presentationml/2006/ole">
            <mc:AlternateContent xmlns:mc="http://schemas.openxmlformats.org/markup-compatibility/2006">
              <mc:Choice xmlns:v="urn:schemas-microsoft-com:vml" Requires="v">
                <p:oleObj spid="_x0000_s3087" name="" r:id="rId3" imgW="901065" imgH="254000" progId="Equation.3">
                  <p:embed/>
                </p:oleObj>
              </mc:Choice>
              <mc:Fallback>
                <p:oleObj name="" r:id="rId3" imgW="901065" imgH="254000" progId="Equation.3">
                  <p:embed/>
                  <p:pic>
                    <p:nvPicPr>
                      <p:cNvPr id="0" name="图片 3086"/>
                      <p:cNvPicPr/>
                      <p:nvPr/>
                    </p:nvPicPr>
                    <p:blipFill>
                      <a:blip r:embed="rId4"/>
                      <a:stretch>
                        <a:fillRect/>
                      </a:stretch>
                    </p:blipFill>
                    <p:spPr>
                      <a:xfrm>
                        <a:off x="241300" y="2305050"/>
                        <a:ext cx="1809750" cy="509588"/>
                      </a:xfrm>
                      <a:prstGeom prst="rect">
                        <a:avLst/>
                      </a:prstGeom>
                      <a:noFill/>
                      <a:ln w="38100">
                        <a:noFill/>
                        <a:miter/>
                      </a:ln>
                    </p:spPr>
                  </p:pic>
                </p:oleObj>
              </mc:Fallback>
            </mc:AlternateContent>
          </a:graphicData>
        </a:graphic>
      </p:graphicFrame>
      <p:graphicFrame>
        <p:nvGraphicFramePr>
          <p:cNvPr id="2416819" name="Object 179"/>
          <p:cNvGraphicFramePr>
            <a:graphicFrameLocks noGrp="1" noChangeAspect="1"/>
          </p:cNvGraphicFramePr>
          <p:nvPr>
            <p:ph sz="quarter" idx="3"/>
          </p:nvPr>
        </p:nvGraphicFramePr>
        <p:xfrm>
          <a:off x="241300" y="2844800"/>
          <a:ext cx="1809750" cy="490538"/>
        </p:xfrm>
        <a:graphic>
          <a:graphicData uri="http://schemas.openxmlformats.org/presentationml/2006/ole">
            <mc:AlternateContent xmlns:mc="http://schemas.openxmlformats.org/markup-compatibility/2006">
              <mc:Choice xmlns:v="urn:schemas-microsoft-com:vml" Requires="v">
                <p:oleObj spid="_x0000_s3088" name="" r:id="rId5" imgW="888365" imgH="241300" progId="Equation.3">
                  <p:embed/>
                </p:oleObj>
              </mc:Choice>
              <mc:Fallback>
                <p:oleObj name="" r:id="rId5" imgW="888365" imgH="241300" progId="Equation.3">
                  <p:embed/>
                  <p:pic>
                    <p:nvPicPr>
                      <p:cNvPr id="0" name="图片 3087"/>
                      <p:cNvPicPr/>
                      <p:nvPr/>
                    </p:nvPicPr>
                    <p:blipFill>
                      <a:blip r:embed="rId6"/>
                      <a:stretch>
                        <a:fillRect/>
                      </a:stretch>
                    </p:blipFill>
                    <p:spPr>
                      <a:xfrm>
                        <a:off x="241300" y="2844800"/>
                        <a:ext cx="1809750" cy="490538"/>
                      </a:xfrm>
                      <a:prstGeom prst="rect">
                        <a:avLst/>
                      </a:prstGeom>
                      <a:noFill/>
                      <a:ln w="38100">
                        <a:noFill/>
                        <a:miter/>
                      </a:ln>
                    </p:spPr>
                  </p:pic>
                </p:oleObj>
              </mc:Fallback>
            </mc:AlternateContent>
          </a:graphicData>
        </a:graphic>
      </p:graphicFrame>
      <p:graphicFrame>
        <p:nvGraphicFramePr>
          <p:cNvPr id="2416822" name="Object 182"/>
          <p:cNvGraphicFramePr>
            <a:graphicFrameLocks noGrp="1" noChangeAspect="1"/>
          </p:cNvGraphicFramePr>
          <p:nvPr>
            <p:ph sz="quarter" idx="4"/>
          </p:nvPr>
        </p:nvGraphicFramePr>
        <p:xfrm>
          <a:off x="241300" y="3348038"/>
          <a:ext cx="1809750" cy="484187"/>
        </p:xfrm>
        <a:graphic>
          <a:graphicData uri="http://schemas.openxmlformats.org/presentationml/2006/ole">
            <mc:AlternateContent xmlns:mc="http://schemas.openxmlformats.org/markup-compatibility/2006">
              <mc:Choice xmlns:v="urn:schemas-microsoft-com:vml" Requires="v">
                <p:oleObj spid="_x0000_s3089" name="" r:id="rId7" imgW="901065" imgH="241300" progId="Equation.3">
                  <p:embed/>
                </p:oleObj>
              </mc:Choice>
              <mc:Fallback>
                <p:oleObj name="" r:id="rId7" imgW="901065" imgH="241300" progId="Equation.3">
                  <p:embed/>
                  <p:pic>
                    <p:nvPicPr>
                      <p:cNvPr id="0" name="图片 3088"/>
                      <p:cNvPicPr/>
                      <p:nvPr/>
                    </p:nvPicPr>
                    <p:blipFill>
                      <a:blip r:embed="rId8"/>
                      <a:stretch>
                        <a:fillRect/>
                      </a:stretch>
                    </p:blipFill>
                    <p:spPr>
                      <a:xfrm>
                        <a:off x="241300" y="3348038"/>
                        <a:ext cx="1809750" cy="484187"/>
                      </a:xfrm>
                      <a:prstGeom prst="rect">
                        <a:avLst/>
                      </a:prstGeom>
                      <a:noFill/>
                      <a:ln w="38100">
                        <a:noFill/>
                        <a:miter/>
                      </a:ln>
                    </p:spPr>
                  </p:pic>
                </p:oleObj>
              </mc:Fallback>
            </mc:AlternateContent>
          </a:graphicData>
        </a:graphic>
      </p:graphicFrame>
      <p:sp>
        <p:nvSpPr>
          <p:cNvPr id="2416826" name="Text Box 186"/>
          <p:cNvSpPr txBox="1"/>
          <p:nvPr/>
        </p:nvSpPr>
        <p:spPr>
          <a:xfrm>
            <a:off x="71438" y="4581525"/>
            <a:ext cx="2197100" cy="1190625"/>
          </a:xfrm>
          <a:prstGeom prst="rect">
            <a:avLst/>
          </a:prstGeom>
          <a:solidFill>
            <a:srgbClr val="CCFFFF"/>
          </a:solidFill>
          <a:ln w="9525">
            <a:noFill/>
          </a:ln>
        </p:spPr>
        <p:txBody>
          <a:bodyPr>
            <a:spAutoFit/>
          </a:bodyPr>
          <a:p>
            <a:pPr eaLnBrk="1" hangingPunct="1">
              <a:lnSpc>
                <a:spcPct val="90000"/>
              </a:lnSpc>
              <a:spcBef>
                <a:spcPct val="50000"/>
              </a:spcBef>
            </a:pPr>
            <a:r>
              <a:rPr lang="zh-CN" altLang="en-US" sz="2000" dirty="0">
                <a:latin typeface="Times New Roman" panose="02020603050405020304" pitchFamily="18" charset="0"/>
              </a:rPr>
              <a:t>利用或门</a:t>
            </a:r>
            <a:r>
              <a:rPr lang="en-US" altLang="zh-CN" sz="2000" dirty="0">
                <a:solidFill>
                  <a:srgbClr val="FF0000"/>
                </a:solidFill>
                <a:latin typeface="Times New Roman" panose="02020603050405020304" pitchFamily="18" charset="0"/>
              </a:rPr>
              <a:t>H</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~H</a:t>
            </a:r>
            <a:r>
              <a:rPr lang="en-US" altLang="zh-CN" sz="2000" baseline="-25000" dirty="0">
                <a:solidFill>
                  <a:srgbClr val="FF0000"/>
                </a:solidFill>
                <a:latin typeface="Times New Roman" panose="02020603050405020304" pitchFamily="18" charset="0"/>
              </a:rPr>
              <a:t>4</a:t>
            </a:r>
            <a:r>
              <a:rPr lang="zh-CN" altLang="en-US" sz="2000" dirty="0">
                <a:latin typeface="Times New Roman" panose="02020603050405020304" pitchFamily="18" charset="0"/>
              </a:rPr>
              <a:t>和反相器</a:t>
            </a:r>
            <a:r>
              <a:rPr lang="en-US" altLang="zh-CN" sz="2000" dirty="0">
                <a:solidFill>
                  <a:srgbClr val="FF0000"/>
                </a:solidFill>
                <a:latin typeface="Times New Roman" panose="02020603050405020304" pitchFamily="18" charset="0"/>
              </a:rPr>
              <a:t>F</a:t>
            </a:r>
            <a:r>
              <a:rPr lang="en-US" altLang="zh-CN" sz="2000" baseline="-25000" dirty="0">
                <a:solidFill>
                  <a:srgbClr val="FF0000"/>
                </a:solidFill>
                <a:latin typeface="Times New Roman" panose="02020603050405020304" pitchFamily="18" charset="0"/>
              </a:rPr>
              <a:t>1</a:t>
            </a:r>
            <a:r>
              <a:rPr lang="zh-CN" altLang="en-US" sz="2000" dirty="0">
                <a:latin typeface="Times New Roman" panose="02020603050405020304" pitchFamily="18" charset="0"/>
              </a:rPr>
              <a:t>和</a:t>
            </a:r>
            <a:r>
              <a:rPr lang="en-US" altLang="zh-CN" sz="2000" dirty="0">
                <a:solidFill>
                  <a:srgbClr val="FF0000"/>
                </a:solidFill>
                <a:latin typeface="Times New Roman" panose="02020603050405020304" pitchFamily="18" charset="0"/>
              </a:rPr>
              <a:t>F</a:t>
            </a:r>
            <a:r>
              <a:rPr lang="en-US" altLang="zh-CN" sz="2000" baseline="-25000" dirty="0">
                <a:solidFill>
                  <a:srgbClr val="FF0000"/>
                </a:solidFill>
                <a:latin typeface="Times New Roman" panose="02020603050405020304" pitchFamily="18" charset="0"/>
              </a:rPr>
              <a:t>2</a:t>
            </a:r>
            <a:r>
              <a:rPr lang="en-US" altLang="zh-CN" sz="2000" dirty="0">
                <a:solidFill>
                  <a:srgbClr val="FF0000"/>
                </a:solidFill>
                <a:latin typeface="Times New Roman" panose="02020603050405020304" pitchFamily="18" charset="0"/>
              </a:rPr>
              <a:t>,  </a:t>
            </a:r>
            <a:r>
              <a:rPr lang="zh-CN" altLang="en-US" sz="2000" dirty="0">
                <a:latin typeface="Times New Roman" panose="02020603050405020304" pitchFamily="18" charset="0"/>
              </a:rPr>
              <a:t>将原来的三位地址扩展成五位地址。</a:t>
            </a:r>
            <a:endParaRPr lang="zh-CN" altLang="en-US" sz="20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6651"/>
                                        </p:tgtEl>
                                        <p:attrNameLst>
                                          <p:attrName>style.visibility</p:attrName>
                                        </p:attrNameLst>
                                      </p:cBhvr>
                                      <p:to>
                                        <p:strVal val="visible"/>
                                      </p:to>
                                    </p:set>
                                    <p:animEffect transition="in" filter="dissolve">
                                      <p:cBhvr>
                                        <p:cTn id="7" dur="500"/>
                                        <p:tgtEl>
                                          <p:spTgt spid="24166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6813"/>
                                        </p:tgtEl>
                                        <p:attrNameLst>
                                          <p:attrName>style.visibility</p:attrName>
                                        </p:attrNameLst>
                                      </p:cBhvr>
                                      <p:to>
                                        <p:strVal val="visible"/>
                                      </p:to>
                                    </p:set>
                                    <p:animEffect transition="in" filter="dissolve">
                                      <p:cBhvr>
                                        <p:cTn id="12" dur="500"/>
                                        <p:tgtEl>
                                          <p:spTgt spid="24168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6812"/>
                                        </p:tgtEl>
                                        <p:attrNameLst>
                                          <p:attrName>style.visibility</p:attrName>
                                        </p:attrNameLst>
                                      </p:cBhvr>
                                      <p:to>
                                        <p:strVal val="visible"/>
                                      </p:to>
                                    </p:set>
                                    <p:animEffect transition="in" filter="dissolve">
                                      <p:cBhvr>
                                        <p:cTn id="17" dur="500"/>
                                        <p:tgtEl>
                                          <p:spTgt spid="2416812"/>
                                        </p:tgtEl>
                                      </p:cBhvr>
                                    </p:animEffect>
                                  </p:childTnLst>
                                </p:cTn>
                              </p:par>
                              <p:par>
                                <p:cTn id="18" presetID="9" presetClass="entr" presetSubtype="0" fill="hold" nodeType="withEffect">
                                  <p:stCondLst>
                                    <p:cond delay="0"/>
                                  </p:stCondLst>
                                  <p:childTnLst>
                                    <p:set>
                                      <p:cBhvr>
                                        <p:cTn id="19" dur="1" fill="hold">
                                          <p:stCondLst>
                                            <p:cond delay="0"/>
                                          </p:stCondLst>
                                        </p:cTn>
                                        <p:tgtEl>
                                          <p:spTgt spid="2416656"/>
                                        </p:tgtEl>
                                        <p:attrNameLst>
                                          <p:attrName>style.visibility</p:attrName>
                                        </p:attrNameLst>
                                      </p:cBhvr>
                                      <p:to>
                                        <p:strVal val="visible"/>
                                      </p:to>
                                    </p:set>
                                    <p:animEffect transition="in" filter="dissolve">
                                      <p:cBhvr>
                                        <p:cTn id="20" dur="500"/>
                                        <p:tgtEl>
                                          <p:spTgt spid="2416656"/>
                                        </p:tgtEl>
                                      </p:cBhvr>
                                    </p:animEffect>
                                  </p:childTnLst>
                                </p:cTn>
                              </p:par>
                              <p:par>
                                <p:cTn id="21" presetID="9" presetClass="entr" presetSubtype="0" fill="hold" nodeType="withEffect">
                                  <p:stCondLst>
                                    <p:cond delay="0"/>
                                  </p:stCondLst>
                                  <p:childTnLst>
                                    <p:set>
                                      <p:cBhvr>
                                        <p:cTn id="22" dur="1" fill="hold">
                                          <p:stCondLst>
                                            <p:cond delay="0"/>
                                          </p:stCondLst>
                                        </p:cTn>
                                        <p:tgtEl>
                                          <p:spTgt spid="2416660"/>
                                        </p:tgtEl>
                                        <p:attrNameLst>
                                          <p:attrName>style.visibility</p:attrName>
                                        </p:attrNameLst>
                                      </p:cBhvr>
                                      <p:to>
                                        <p:strVal val="visible"/>
                                      </p:to>
                                    </p:set>
                                    <p:animEffect transition="in" filter="dissolve">
                                      <p:cBhvr>
                                        <p:cTn id="23" dur="500"/>
                                        <p:tgtEl>
                                          <p:spTgt spid="2416660"/>
                                        </p:tgtEl>
                                      </p:cBhvr>
                                    </p:animEffect>
                                  </p:childTnLst>
                                </p:cTn>
                              </p:par>
                              <p:par>
                                <p:cTn id="24" presetID="9" presetClass="entr" presetSubtype="0" fill="hold" nodeType="withEffect">
                                  <p:stCondLst>
                                    <p:cond delay="0"/>
                                  </p:stCondLst>
                                  <p:childTnLst>
                                    <p:set>
                                      <p:cBhvr>
                                        <p:cTn id="25" dur="1" fill="hold">
                                          <p:stCondLst>
                                            <p:cond delay="0"/>
                                          </p:stCondLst>
                                        </p:cTn>
                                        <p:tgtEl>
                                          <p:spTgt spid="2416661"/>
                                        </p:tgtEl>
                                        <p:attrNameLst>
                                          <p:attrName>style.visibility</p:attrName>
                                        </p:attrNameLst>
                                      </p:cBhvr>
                                      <p:to>
                                        <p:strVal val="visible"/>
                                      </p:to>
                                    </p:set>
                                    <p:animEffect transition="in" filter="dissolve">
                                      <p:cBhvr>
                                        <p:cTn id="26" dur="500"/>
                                        <p:tgtEl>
                                          <p:spTgt spid="2416661"/>
                                        </p:tgtEl>
                                      </p:cBhvr>
                                    </p:animEffect>
                                  </p:childTnLst>
                                </p:cTn>
                              </p:par>
                              <p:par>
                                <p:cTn id="27" presetID="9" presetClass="entr" presetSubtype="0" fill="hold" nodeType="withEffect">
                                  <p:stCondLst>
                                    <p:cond delay="0"/>
                                  </p:stCondLst>
                                  <p:childTnLst>
                                    <p:set>
                                      <p:cBhvr>
                                        <p:cTn id="28" dur="1" fill="hold">
                                          <p:stCondLst>
                                            <p:cond delay="0"/>
                                          </p:stCondLst>
                                        </p:cTn>
                                        <p:tgtEl>
                                          <p:spTgt spid="2416662"/>
                                        </p:tgtEl>
                                        <p:attrNameLst>
                                          <p:attrName>style.visibility</p:attrName>
                                        </p:attrNameLst>
                                      </p:cBhvr>
                                      <p:to>
                                        <p:strVal val="visible"/>
                                      </p:to>
                                    </p:set>
                                    <p:animEffect transition="in" filter="dissolve">
                                      <p:cBhvr>
                                        <p:cTn id="29" dur="500"/>
                                        <p:tgtEl>
                                          <p:spTgt spid="2416662"/>
                                        </p:tgtEl>
                                      </p:cBhvr>
                                    </p:animEffect>
                                  </p:childTnLst>
                                </p:cTn>
                              </p:par>
                              <p:par>
                                <p:cTn id="30" presetID="9" presetClass="entr" presetSubtype="0" fill="hold" nodeType="withEffect">
                                  <p:stCondLst>
                                    <p:cond delay="0"/>
                                  </p:stCondLst>
                                  <p:childTnLst>
                                    <p:set>
                                      <p:cBhvr>
                                        <p:cTn id="31" dur="1" fill="hold">
                                          <p:stCondLst>
                                            <p:cond delay="0"/>
                                          </p:stCondLst>
                                        </p:cTn>
                                        <p:tgtEl>
                                          <p:spTgt spid="2416663"/>
                                        </p:tgtEl>
                                        <p:attrNameLst>
                                          <p:attrName>style.visibility</p:attrName>
                                        </p:attrNameLst>
                                      </p:cBhvr>
                                      <p:to>
                                        <p:strVal val="visible"/>
                                      </p:to>
                                    </p:set>
                                    <p:animEffect transition="in" filter="dissolve">
                                      <p:cBhvr>
                                        <p:cTn id="32" dur="500"/>
                                        <p:tgtEl>
                                          <p:spTgt spid="2416663"/>
                                        </p:tgtEl>
                                      </p:cBhvr>
                                    </p:animEffect>
                                  </p:childTnLst>
                                </p:cTn>
                              </p:par>
                              <p:par>
                                <p:cTn id="33" presetID="9" presetClass="entr" presetSubtype="0" fill="hold" nodeType="withEffect">
                                  <p:stCondLst>
                                    <p:cond delay="0"/>
                                  </p:stCondLst>
                                  <p:childTnLst>
                                    <p:set>
                                      <p:cBhvr>
                                        <p:cTn id="34" dur="1" fill="hold">
                                          <p:stCondLst>
                                            <p:cond delay="0"/>
                                          </p:stCondLst>
                                        </p:cTn>
                                        <p:tgtEl>
                                          <p:spTgt spid="2416664"/>
                                        </p:tgtEl>
                                        <p:attrNameLst>
                                          <p:attrName>style.visibility</p:attrName>
                                        </p:attrNameLst>
                                      </p:cBhvr>
                                      <p:to>
                                        <p:strVal val="visible"/>
                                      </p:to>
                                    </p:set>
                                    <p:animEffect transition="in" filter="dissolve">
                                      <p:cBhvr>
                                        <p:cTn id="35" dur="500"/>
                                        <p:tgtEl>
                                          <p:spTgt spid="2416664"/>
                                        </p:tgtEl>
                                      </p:cBhvr>
                                    </p:animEffect>
                                  </p:childTnLst>
                                </p:cTn>
                              </p:par>
                              <p:par>
                                <p:cTn id="36" presetID="9" presetClass="entr" presetSubtype="0" fill="hold" nodeType="withEffect">
                                  <p:stCondLst>
                                    <p:cond delay="0"/>
                                  </p:stCondLst>
                                  <p:childTnLst>
                                    <p:set>
                                      <p:cBhvr>
                                        <p:cTn id="37" dur="1" fill="hold">
                                          <p:stCondLst>
                                            <p:cond delay="0"/>
                                          </p:stCondLst>
                                        </p:cTn>
                                        <p:tgtEl>
                                          <p:spTgt spid="2416665"/>
                                        </p:tgtEl>
                                        <p:attrNameLst>
                                          <p:attrName>style.visibility</p:attrName>
                                        </p:attrNameLst>
                                      </p:cBhvr>
                                      <p:to>
                                        <p:strVal val="visible"/>
                                      </p:to>
                                    </p:set>
                                    <p:animEffect transition="in" filter="dissolve">
                                      <p:cBhvr>
                                        <p:cTn id="38" dur="500"/>
                                        <p:tgtEl>
                                          <p:spTgt spid="2416665"/>
                                        </p:tgtEl>
                                      </p:cBhvr>
                                    </p:animEffect>
                                  </p:childTnLst>
                                </p:cTn>
                              </p:par>
                              <p:par>
                                <p:cTn id="39" presetID="9" presetClass="entr" presetSubtype="0" fill="hold" nodeType="withEffect">
                                  <p:stCondLst>
                                    <p:cond delay="0"/>
                                  </p:stCondLst>
                                  <p:childTnLst>
                                    <p:set>
                                      <p:cBhvr>
                                        <p:cTn id="40" dur="1" fill="hold">
                                          <p:stCondLst>
                                            <p:cond delay="0"/>
                                          </p:stCondLst>
                                        </p:cTn>
                                        <p:tgtEl>
                                          <p:spTgt spid="2416666"/>
                                        </p:tgtEl>
                                        <p:attrNameLst>
                                          <p:attrName>style.visibility</p:attrName>
                                        </p:attrNameLst>
                                      </p:cBhvr>
                                      <p:to>
                                        <p:strVal val="visible"/>
                                      </p:to>
                                    </p:set>
                                    <p:animEffect transition="in" filter="dissolve">
                                      <p:cBhvr>
                                        <p:cTn id="41" dur="500"/>
                                        <p:tgtEl>
                                          <p:spTgt spid="2416666"/>
                                        </p:tgtEl>
                                      </p:cBhvr>
                                    </p:animEffect>
                                  </p:childTnLst>
                                </p:cTn>
                              </p:par>
                              <p:par>
                                <p:cTn id="42" presetID="9" presetClass="entr" presetSubtype="0" fill="hold" nodeType="withEffect">
                                  <p:stCondLst>
                                    <p:cond delay="0"/>
                                  </p:stCondLst>
                                  <p:childTnLst>
                                    <p:set>
                                      <p:cBhvr>
                                        <p:cTn id="43" dur="1" fill="hold">
                                          <p:stCondLst>
                                            <p:cond delay="0"/>
                                          </p:stCondLst>
                                        </p:cTn>
                                        <p:tgtEl>
                                          <p:spTgt spid="2416667"/>
                                        </p:tgtEl>
                                        <p:attrNameLst>
                                          <p:attrName>style.visibility</p:attrName>
                                        </p:attrNameLst>
                                      </p:cBhvr>
                                      <p:to>
                                        <p:strVal val="visible"/>
                                      </p:to>
                                    </p:set>
                                    <p:animEffect transition="in" filter="dissolve">
                                      <p:cBhvr>
                                        <p:cTn id="44" dur="500"/>
                                        <p:tgtEl>
                                          <p:spTgt spid="2416667"/>
                                        </p:tgtEl>
                                      </p:cBhvr>
                                    </p:animEffect>
                                  </p:childTnLst>
                                </p:cTn>
                              </p:par>
                              <p:par>
                                <p:cTn id="45" presetID="9" presetClass="entr" presetSubtype="0" fill="hold" nodeType="withEffect">
                                  <p:stCondLst>
                                    <p:cond delay="0"/>
                                  </p:stCondLst>
                                  <p:childTnLst>
                                    <p:set>
                                      <p:cBhvr>
                                        <p:cTn id="46" dur="1" fill="hold">
                                          <p:stCondLst>
                                            <p:cond delay="0"/>
                                          </p:stCondLst>
                                        </p:cTn>
                                        <p:tgtEl>
                                          <p:spTgt spid="2416668"/>
                                        </p:tgtEl>
                                        <p:attrNameLst>
                                          <p:attrName>style.visibility</p:attrName>
                                        </p:attrNameLst>
                                      </p:cBhvr>
                                      <p:to>
                                        <p:strVal val="visible"/>
                                      </p:to>
                                    </p:set>
                                    <p:animEffect transition="in" filter="dissolve">
                                      <p:cBhvr>
                                        <p:cTn id="47" dur="500"/>
                                        <p:tgtEl>
                                          <p:spTgt spid="2416668"/>
                                        </p:tgtEl>
                                      </p:cBhvr>
                                    </p:animEffect>
                                  </p:childTnLst>
                                </p:cTn>
                              </p:par>
                              <p:par>
                                <p:cTn id="48" presetID="9" presetClass="entr" presetSubtype="0" fill="hold" nodeType="withEffect">
                                  <p:stCondLst>
                                    <p:cond delay="0"/>
                                  </p:stCondLst>
                                  <p:childTnLst>
                                    <p:set>
                                      <p:cBhvr>
                                        <p:cTn id="49" dur="1" fill="hold">
                                          <p:stCondLst>
                                            <p:cond delay="0"/>
                                          </p:stCondLst>
                                        </p:cTn>
                                        <p:tgtEl>
                                          <p:spTgt spid="2416669"/>
                                        </p:tgtEl>
                                        <p:attrNameLst>
                                          <p:attrName>style.visibility</p:attrName>
                                        </p:attrNameLst>
                                      </p:cBhvr>
                                      <p:to>
                                        <p:strVal val="visible"/>
                                      </p:to>
                                    </p:set>
                                    <p:animEffect transition="in" filter="dissolve">
                                      <p:cBhvr>
                                        <p:cTn id="50" dur="500"/>
                                        <p:tgtEl>
                                          <p:spTgt spid="2416669"/>
                                        </p:tgtEl>
                                      </p:cBhvr>
                                    </p:animEffect>
                                  </p:childTnLst>
                                </p:cTn>
                              </p:par>
                              <p:par>
                                <p:cTn id="51" presetID="9" presetClass="entr" presetSubtype="0" fill="hold" nodeType="withEffect">
                                  <p:stCondLst>
                                    <p:cond delay="0"/>
                                  </p:stCondLst>
                                  <p:childTnLst>
                                    <p:set>
                                      <p:cBhvr>
                                        <p:cTn id="52" dur="1" fill="hold">
                                          <p:stCondLst>
                                            <p:cond delay="0"/>
                                          </p:stCondLst>
                                        </p:cTn>
                                        <p:tgtEl>
                                          <p:spTgt spid="2416670"/>
                                        </p:tgtEl>
                                        <p:attrNameLst>
                                          <p:attrName>style.visibility</p:attrName>
                                        </p:attrNameLst>
                                      </p:cBhvr>
                                      <p:to>
                                        <p:strVal val="visible"/>
                                      </p:to>
                                    </p:set>
                                    <p:animEffect transition="in" filter="dissolve">
                                      <p:cBhvr>
                                        <p:cTn id="53" dur="500"/>
                                        <p:tgtEl>
                                          <p:spTgt spid="2416670"/>
                                        </p:tgtEl>
                                      </p:cBhvr>
                                    </p:animEffect>
                                  </p:childTnLst>
                                </p:cTn>
                              </p:par>
                              <p:par>
                                <p:cTn id="54" presetID="9" presetClass="entr" presetSubtype="0" fill="hold" nodeType="withEffect">
                                  <p:stCondLst>
                                    <p:cond delay="0"/>
                                  </p:stCondLst>
                                  <p:childTnLst>
                                    <p:set>
                                      <p:cBhvr>
                                        <p:cTn id="55" dur="1" fill="hold">
                                          <p:stCondLst>
                                            <p:cond delay="0"/>
                                          </p:stCondLst>
                                        </p:cTn>
                                        <p:tgtEl>
                                          <p:spTgt spid="2416671"/>
                                        </p:tgtEl>
                                        <p:attrNameLst>
                                          <p:attrName>style.visibility</p:attrName>
                                        </p:attrNameLst>
                                      </p:cBhvr>
                                      <p:to>
                                        <p:strVal val="visible"/>
                                      </p:to>
                                    </p:set>
                                    <p:animEffect transition="in" filter="dissolve">
                                      <p:cBhvr>
                                        <p:cTn id="56" dur="500"/>
                                        <p:tgtEl>
                                          <p:spTgt spid="2416671"/>
                                        </p:tgtEl>
                                      </p:cBhvr>
                                    </p:animEffect>
                                  </p:childTnLst>
                                </p:cTn>
                              </p:par>
                              <p:par>
                                <p:cTn id="57" presetID="9" presetClass="entr" presetSubtype="0" fill="hold" nodeType="withEffect">
                                  <p:stCondLst>
                                    <p:cond delay="0"/>
                                  </p:stCondLst>
                                  <p:childTnLst>
                                    <p:set>
                                      <p:cBhvr>
                                        <p:cTn id="58" dur="1" fill="hold">
                                          <p:stCondLst>
                                            <p:cond delay="0"/>
                                          </p:stCondLst>
                                        </p:cTn>
                                        <p:tgtEl>
                                          <p:spTgt spid="2416672"/>
                                        </p:tgtEl>
                                        <p:attrNameLst>
                                          <p:attrName>style.visibility</p:attrName>
                                        </p:attrNameLst>
                                      </p:cBhvr>
                                      <p:to>
                                        <p:strVal val="visible"/>
                                      </p:to>
                                    </p:set>
                                    <p:animEffect transition="in" filter="dissolve">
                                      <p:cBhvr>
                                        <p:cTn id="59" dur="500"/>
                                        <p:tgtEl>
                                          <p:spTgt spid="2416672"/>
                                        </p:tgtEl>
                                      </p:cBhvr>
                                    </p:animEffect>
                                  </p:childTnLst>
                                </p:cTn>
                              </p:par>
                              <p:par>
                                <p:cTn id="60" presetID="9" presetClass="entr" presetSubtype="0" fill="hold" nodeType="withEffect">
                                  <p:stCondLst>
                                    <p:cond delay="0"/>
                                  </p:stCondLst>
                                  <p:childTnLst>
                                    <p:set>
                                      <p:cBhvr>
                                        <p:cTn id="61" dur="1" fill="hold">
                                          <p:stCondLst>
                                            <p:cond delay="0"/>
                                          </p:stCondLst>
                                        </p:cTn>
                                        <p:tgtEl>
                                          <p:spTgt spid="2416673"/>
                                        </p:tgtEl>
                                        <p:attrNameLst>
                                          <p:attrName>style.visibility</p:attrName>
                                        </p:attrNameLst>
                                      </p:cBhvr>
                                      <p:to>
                                        <p:strVal val="visible"/>
                                      </p:to>
                                    </p:set>
                                    <p:animEffect transition="in" filter="dissolve">
                                      <p:cBhvr>
                                        <p:cTn id="62" dur="500"/>
                                        <p:tgtEl>
                                          <p:spTgt spid="2416673"/>
                                        </p:tgtEl>
                                      </p:cBhvr>
                                    </p:animEffect>
                                  </p:childTnLst>
                                </p:cTn>
                              </p:par>
                              <p:par>
                                <p:cTn id="63" presetID="9" presetClass="entr" presetSubtype="0" fill="hold" nodeType="withEffect">
                                  <p:stCondLst>
                                    <p:cond delay="0"/>
                                  </p:stCondLst>
                                  <p:childTnLst>
                                    <p:set>
                                      <p:cBhvr>
                                        <p:cTn id="64" dur="1" fill="hold">
                                          <p:stCondLst>
                                            <p:cond delay="0"/>
                                          </p:stCondLst>
                                        </p:cTn>
                                        <p:tgtEl>
                                          <p:spTgt spid="2416674"/>
                                        </p:tgtEl>
                                        <p:attrNameLst>
                                          <p:attrName>style.visibility</p:attrName>
                                        </p:attrNameLst>
                                      </p:cBhvr>
                                      <p:to>
                                        <p:strVal val="visible"/>
                                      </p:to>
                                    </p:set>
                                    <p:animEffect transition="in" filter="dissolve">
                                      <p:cBhvr>
                                        <p:cTn id="65" dur="500"/>
                                        <p:tgtEl>
                                          <p:spTgt spid="2416674"/>
                                        </p:tgtEl>
                                      </p:cBhvr>
                                    </p:animEffect>
                                  </p:childTnLst>
                                </p:cTn>
                              </p:par>
                              <p:par>
                                <p:cTn id="66" presetID="9" presetClass="entr" presetSubtype="0" fill="hold" nodeType="withEffect">
                                  <p:stCondLst>
                                    <p:cond delay="0"/>
                                  </p:stCondLst>
                                  <p:childTnLst>
                                    <p:set>
                                      <p:cBhvr>
                                        <p:cTn id="67" dur="1" fill="hold">
                                          <p:stCondLst>
                                            <p:cond delay="0"/>
                                          </p:stCondLst>
                                        </p:cTn>
                                        <p:tgtEl>
                                          <p:spTgt spid="2416676"/>
                                        </p:tgtEl>
                                        <p:attrNameLst>
                                          <p:attrName>style.visibility</p:attrName>
                                        </p:attrNameLst>
                                      </p:cBhvr>
                                      <p:to>
                                        <p:strVal val="visible"/>
                                      </p:to>
                                    </p:set>
                                    <p:animEffect transition="in" filter="dissolve">
                                      <p:cBhvr>
                                        <p:cTn id="68" dur="500"/>
                                        <p:tgtEl>
                                          <p:spTgt spid="2416676"/>
                                        </p:tgtEl>
                                      </p:cBhvr>
                                    </p:animEffect>
                                  </p:childTnLst>
                                </p:cTn>
                              </p:par>
                              <p:par>
                                <p:cTn id="69" presetID="9" presetClass="entr" presetSubtype="0" fill="hold" nodeType="withEffect">
                                  <p:stCondLst>
                                    <p:cond delay="0"/>
                                  </p:stCondLst>
                                  <p:childTnLst>
                                    <p:set>
                                      <p:cBhvr>
                                        <p:cTn id="70" dur="1" fill="hold">
                                          <p:stCondLst>
                                            <p:cond delay="0"/>
                                          </p:stCondLst>
                                        </p:cTn>
                                        <p:tgtEl>
                                          <p:spTgt spid="2416677"/>
                                        </p:tgtEl>
                                        <p:attrNameLst>
                                          <p:attrName>style.visibility</p:attrName>
                                        </p:attrNameLst>
                                      </p:cBhvr>
                                      <p:to>
                                        <p:strVal val="visible"/>
                                      </p:to>
                                    </p:set>
                                    <p:animEffect transition="in" filter="dissolve">
                                      <p:cBhvr>
                                        <p:cTn id="71" dur="500"/>
                                        <p:tgtEl>
                                          <p:spTgt spid="2416677"/>
                                        </p:tgtEl>
                                      </p:cBhvr>
                                    </p:animEffect>
                                  </p:childTnLst>
                                </p:cTn>
                              </p:par>
                              <p:par>
                                <p:cTn id="72" presetID="9" presetClass="entr" presetSubtype="0" fill="hold" nodeType="withEffect">
                                  <p:stCondLst>
                                    <p:cond delay="0"/>
                                  </p:stCondLst>
                                  <p:childTnLst>
                                    <p:set>
                                      <p:cBhvr>
                                        <p:cTn id="73" dur="1" fill="hold">
                                          <p:stCondLst>
                                            <p:cond delay="0"/>
                                          </p:stCondLst>
                                        </p:cTn>
                                        <p:tgtEl>
                                          <p:spTgt spid="2416678"/>
                                        </p:tgtEl>
                                        <p:attrNameLst>
                                          <p:attrName>style.visibility</p:attrName>
                                        </p:attrNameLst>
                                      </p:cBhvr>
                                      <p:to>
                                        <p:strVal val="visible"/>
                                      </p:to>
                                    </p:set>
                                    <p:animEffect transition="in" filter="dissolve">
                                      <p:cBhvr>
                                        <p:cTn id="74" dur="500"/>
                                        <p:tgtEl>
                                          <p:spTgt spid="2416678"/>
                                        </p:tgtEl>
                                      </p:cBhvr>
                                    </p:animEffect>
                                  </p:childTnLst>
                                </p:cTn>
                              </p:par>
                              <p:par>
                                <p:cTn id="75" presetID="9" presetClass="entr" presetSubtype="0" fill="hold" nodeType="withEffect">
                                  <p:stCondLst>
                                    <p:cond delay="0"/>
                                  </p:stCondLst>
                                  <p:childTnLst>
                                    <p:set>
                                      <p:cBhvr>
                                        <p:cTn id="76" dur="1" fill="hold">
                                          <p:stCondLst>
                                            <p:cond delay="0"/>
                                          </p:stCondLst>
                                        </p:cTn>
                                        <p:tgtEl>
                                          <p:spTgt spid="2416679"/>
                                        </p:tgtEl>
                                        <p:attrNameLst>
                                          <p:attrName>style.visibility</p:attrName>
                                        </p:attrNameLst>
                                      </p:cBhvr>
                                      <p:to>
                                        <p:strVal val="visible"/>
                                      </p:to>
                                    </p:set>
                                    <p:animEffect transition="in" filter="dissolve">
                                      <p:cBhvr>
                                        <p:cTn id="77" dur="500"/>
                                        <p:tgtEl>
                                          <p:spTgt spid="2416679"/>
                                        </p:tgtEl>
                                      </p:cBhvr>
                                    </p:animEffect>
                                  </p:childTnLst>
                                </p:cTn>
                              </p:par>
                              <p:par>
                                <p:cTn id="78" presetID="9" presetClass="entr" presetSubtype="0" fill="hold" nodeType="withEffect">
                                  <p:stCondLst>
                                    <p:cond delay="0"/>
                                  </p:stCondLst>
                                  <p:childTnLst>
                                    <p:set>
                                      <p:cBhvr>
                                        <p:cTn id="79" dur="1" fill="hold">
                                          <p:stCondLst>
                                            <p:cond delay="0"/>
                                          </p:stCondLst>
                                        </p:cTn>
                                        <p:tgtEl>
                                          <p:spTgt spid="2416680"/>
                                        </p:tgtEl>
                                        <p:attrNameLst>
                                          <p:attrName>style.visibility</p:attrName>
                                        </p:attrNameLst>
                                      </p:cBhvr>
                                      <p:to>
                                        <p:strVal val="visible"/>
                                      </p:to>
                                    </p:set>
                                    <p:animEffect transition="in" filter="dissolve">
                                      <p:cBhvr>
                                        <p:cTn id="80" dur="500"/>
                                        <p:tgtEl>
                                          <p:spTgt spid="2416680"/>
                                        </p:tgtEl>
                                      </p:cBhvr>
                                    </p:animEffect>
                                  </p:childTnLst>
                                </p:cTn>
                              </p:par>
                              <p:par>
                                <p:cTn id="81" presetID="9" presetClass="entr" presetSubtype="0" fill="hold" nodeType="withEffect">
                                  <p:stCondLst>
                                    <p:cond delay="0"/>
                                  </p:stCondLst>
                                  <p:childTnLst>
                                    <p:set>
                                      <p:cBhvr>
                                        <p:cTn id="82" dur="1" fill="hold">
                                          <p:stCondLst>
                                            <p:cond delay="0"/>
                                          </p:stCondLst>
                                        </p:cTn>
                                        <p:tgtEl>
                                          <p:spTgt spid="2416681"/>
                                        </p:tgtEl>
                                        <p:attrNameLst>
                                          <p:attrName>style.visibility</p:attrName>
                                        </p:attrNameLst>
                                      </p:cBhvr>
                                      <p:to>
                                        <p:strVal val="visible"/>
                                      </p:to>
                                    </p:set>
                                    <p:animEffect transition="in" filter="dissolve">
                                      <p:cBhvr>
                                        <p:cTn id="83" dur="500"/>
                                        <p:tgtEl>
                                          <p:spTgt spid="2416681"/>
                                        </p:tgtEl>
                                      </p:cBhvr>
                                    </p:animEffect>
                                  </p:childTnLst>
                                </p:cTn>
                              </p:par>
                              <p:par>
                                <p:cTn id="84" presetID="9" presetClass="entr" presetSubtype="0" fill="hold" nodeType="withEffect">
                                  <p:stCondLst>
                                    <p:cond delay="0"/>
                                  </p:stCondLst>
                                  <p:childTnLst>
                                    <p:set>
                                      <p:cBhvr>
                                        <p:cTn id="85" dur="1" fill="hold">
                                          <p:stCondLst>
                                            <p:cond delay="0"/>
                                          </p:stCondLst>
                                        </p:cTn>
                                        <p:tgtEl>
                                          <p:spTgt spid="2416682"/>
                                        </p:tgtEl>
                                        <p:attrNameLst>
                                          <p:attrName>style.visibility</p:attrName>
                                        </p:attrNameLst>
                                      </p:cBhvr>
                                      <p:to>
                                        <p:strVal val="visible"/>
                                      </p:to>
                                    </p:set>
                                    <p:animEffect transition="in" filter="dissolve">
                                      <p:cBhvr>
                                        <p:cTn id="86" dur="500"/>
                                        <p:tgtEl>
                                          <p:spTgt spid="2416682"/>
                                        </p:tgtEl>
                                      </p:cBhvr>
                                    </p:animEffect>
                                  </p:childTnLst>
                                </p:cTn>
                              </p:par>
                              <p:par>
                                <p:cTn id="87" presetID="9" presetClass="entr" presetSubtype="0" fill="hold" nodeType="withEffect">
                                  <p:stCondLst>
                                    <p:cond delay="0"/>
                                  </p:stCondLst>
                                  <p:childTnLst>
                                    <p:set>
                                      <p:cBhvr>
                                        <p:cTn id="88" dur="1" fill="hold">
                                          <p:stCondLst>
                                            <p:cond delay="0"/>
                                          </p:stCondLst>
                                        </p:cTn>
                                        <p:tgtEl>
                                          <p:spTgt spid="2416683"/>
                                        </p:tgtEl>
                                        <p:attrNameLst>
                                          <p:attrName>style.visibility</p:attrName>
                                        </p:attrNameLst>
                                      </p:cBhvr>
                                      <p:to>
                                        <p:strVal val="visible"/>
                                      </p:to>
                                    </p:set>
                                    <p:animEffect transition="in" filter="dissolve">
                                      <p:cBhvr>
                                        <p:cTn id="89" dur="500"/>
                                        <p:tgtEl>
                                          <p:spTgt spid="2416683"/>
                                        </p:tgtEl>
                                      </p:cBhvr>
                                    </p:animEffect>
                                  </p:childTnLst>
                                </p:cTn>
                              </p:par>
                              <p:par>
                                <p:cTn id="90" presetID="9" presetClass="entr" presetSubtype="0" fill="hold" nodeType="withEffect">
                                  <p:stCondLst>
                                    <p:cond delay="0"/>
                                  </p:stCondLst>
                                  <p:childTnLst>
                                    <p:set>
                                      <p:cBhvr>
                                        <p:cTn id="91" dur="1" fill="hold">
                                          <p:stCondLst>
                                            <p:cond delay="0"/>
                                          </p:stCondLst>
                                        </p:cTn>
                                        <p:tgtEl>
                                          <p:spTgt spid="2416684"/>
                                        </p:tgtEl>
                                        <p:attrNameLst>
                                          <p:attrName>style.visibility</p:attrName>
                                        </p:attrNameLst>
                                      </p:cBhvr>
                                      <p:to>
                                        <p:strVal val="visible"/>
                                      </p:to>
                                    </p:set>
                                    <p:animEffect transition="in" filter="dissolve">
                                      <p:cBhvr>
                                        <p:cTn id="92" dur="500"/>
                                        <p:tgtEl>
                                          <p:spTgt spid="2416684"/>
                                        </p:tgtEl>
                                      </p:cBhvr>
                                    </p:animEffect>
                                  </p:childTnLst>
                                </p:cTn>
                              </p:par>
                              <p:par>
                                <p:cTn id="93" presetID="9" presetClass="entr" presetSubtype="0" fill="hold" nodeType="withEffect">
                                  <p:stCondLst>
                                    <p:cond delay="0"/>
                                  </p:stCondLst>
                                  <p:childTnLst>
                                    <p:set>
                                      <p:cBhvr>
                                        <p:cTn id="94" dur="1" fill="hold">
                                          <p:stCondLst>
                                            <p:cond delay="0"/>
                                          </p:stCondLst>
                                        </p:cTn>
                                        <p:tgtEl>
                                          <p:spTgt spid="2416685"/>
                                        </p:tgtEl>
                                        <p:attrNameLst>
                                          <p:attrName>style.visibility</p:attrName>
                                        </p:attrNameLst>
                                      </p:cBhvr>
                                      <p:to>
                                        <p:strVal val="visible"/>
                                      </p:to>
                                    </p:set>
                                    <p:animEffect transition="in" filter="dissolve">
                                      <p:cBhvr>
                                        <p:cTn id="95" dur="500"/>
                                        <p:tgtEl>
                                          <p:spTgt spid="2416685"/>
                                        </p:tgtEl>
                                      </p:cBhvr>
                                    </p:animEffect>
                                  </p:childTnLst>
                                </p:cTn>
                              </p:par>
                              <p:par>
                                <p:cTn id="96" presetID="9" presetClass="entr" presetSubtype="0" fill="hold" nodeType="withEffect">
                                  <p:stCondLst>
                                    <p:cond delay="0"/>
                                  </p:stCondLst>
                                  <p:childTnLst>
                                    <p:set>
                                      <p:cBhvr>
                                        <p:cTn id="97" dur="1" fill="hold">
                                          <p:stCondLst>
                                            <p:cond delay="0"/>
                                          </p:stCondLst>
                                        </p:cTn>
                                        <p:tgtEl>
                                          <p:spTgt spid="2416686"/>
                                        </p:tgtEl>
                                        <p:attrNameLst>
                                          <p:attrName>style.visibility</p:attrName>
                                        </p:attrNameLst>
                                      </p:cBhvr>
                                      <p:to>
                                        <p:strVal val="visible"/>
                                      </p:to>
                                    </p:set>
                                    <p:animEffect transition="in" filter="dissolve">
                                      <p:cBhvr>
                                        <p:cTn id="98" dur="500"/>
                                        <p:tgtEl>
                                          <p:spTgt spid="2416686"/>
                                        </p:tgtEl>
                                      </p:cBhvr>
                                    </p:animEffect>
                                  </p:childTnLst>
                                </p:cTn>
                              </p:par>
                              <p:par>
                                <p:cTn id="99" presetID="9" presetClass="entr" presetSubtype="0" fill="hold" nodeType="withEffect">
                                  <p:stCondLst>
                                    <p:cond delay="0"/>
                                  </p:stCondLst>
                                  <p:childTnLst>
                                    <p:set>
                                      <p:cBhvr>
                                        <p:cTn id="100" dur="1" fill="hold">
                                          <p:stCondLst>
                                            <p:cond delay="0"/>
                                          </p:stCondLst>
                                        </p:cTn>
                                        <p:tgtEl>
                                          <p:spTgt spid="2416687"/>
                                        </p:tgtEl>
                                        <p:attrNameLst>
                                          <p:attrName>style.visibility</p:attrName>
                                        </p:attrNameLst>
                                      </p:cBhvr>
                                      <p:to>
                                        <p:strVal val="visible"/>
                                      </p:to>
                                    </p:set>
                                    <p:animEffect transition="in" filter="dissolve">
                                      <p:cBhvr>
                                        <p:cTn id="101" dur="500"/>
                                        <p:tgtEl>
                                          <p:spTgt spid="2416687"/>
                                        </p:tgtEl>
                                      </p:cBhvr>
                                    </p:animEffect>
                                  </p:childTnLst>
                                </p:cTn>
                              </p:par>
                              <p:par>
                                <p:cTn id="102" presetID="9" presetClass="entr" presetSubtype="0" fill="hold" nodeType="withEffect">
                                  <p:stCondLst>
                                    <p:cond delay="0"/>
                                  </p:stCondLst>
                                  <p:childTnLst>
                                    <p:set>
                                      <p:cBhvr>
                                        <p:cTn id="103" dur="1" fill="hold">
                                          <p:stCondLst>
                                            <p:cond delay="0"/>
                                          </p:stCondLst>
                                        </p:cTn>
                                        <p:tgtEl>
                                          <p:spTgt spid="2416688"/>
                                        </p:tgtEl>
                                        <p:attrNameLst>
                                          <p:attrName>style.visibility</p:attrName>
                                        </p:attrNameLst>
                                      </p:cBhvr>
                                      <p:to>
                                        <p:strVal val="visible"/>
                                      </p:to>
                                    </p:set>
                                    <p:animEffect transition="in" filter="dissolve">
                                      <p:cBhvr>
                                        <p:cTn id="104" dur="500"/>
                                        <p:tgtEl>
                                          <p:spTgt spid="2416688"/>
                                        </p:tgtEl>
                                      </p:cBhvr>
                                    </p:animEffect>
                                  </p:childTnLst>
                                </p:cTn>
                              </p:par>
                              <p:par>
                                <p:cTn id="105" presetID="9" presetClass="entr" presetSubtype="0" fill="hold" nodeType="withEffect">
                                  <p:stCondLst>
                                    <p:cond delay="0"/>
                                  </p:stCondLst>
                                  <p:childTnLst>
                                    <p:set>
                                      <p:cBhvr>
                                        <p:cTn id="106" dur="1" fill="hold">
                                          <p:stCondLst>
                                            <p:cond delay="0"/>
                                          </p:stCondLst>
                                        </p:cTn>
                                        <p:tgtEl>
                                          <p:spTgt spid="2416689"/>
                                        </p:tgtEl>
                                        <p:attrNameLst>
                                          <p:attrName>style.visibility</p:attrName>
                                        </p:attrNameLst>
                                      </p:cBhvr>
                                      <p:to>
                                        <p:strVal val="visible"/>
                                      </p:to>
                                    </p:set>
                                    <p:animEffect transition="in" filter="dissolve">
                                      <p:cBhvr>
                                        <p:cTn id="107" dur="500"/>
                                        <p:tgtEl>
                                          <p:spTgt spid="2416689"/>
                                        </p:tgtEl>
                                      </p:cBhvr>
                                    </p:animEffect>
                                  </p:childTnLst>
                                </p:cTn>
                              </p:par>
                              <p:par>
                                <p:cTn id="108" presetID="9" presetClass="entr" presetSubtype="0" fill="hold" nodeType="withEffect">
                                  <p:stCondLst>
                                    <p:cond delay="0"/>
                                  </p:stCondLst>
                                  <p:childTnLst>
                                    <p:set>
                                      <p:cBhvr>
                                        <p:cTn id="109" dur="1" fill="hold">
                                          <p:stCondLst>
                                            <p:cond delay="0"/>
                                          </p:stCondLst>
                                        </p:cTn>
                                        <p:tgtEl>
                                          <p:spTgt spid="2416690"/>
                                        </p:tgtEl>
                                        <p:attrNameLst>
                                          <p:attrName>style.visibility</p:attrName>
                                        </p:attrNameLst>
                                      </p:cBhvr>
                                      <p:to>
                                        <p:strVal val="visible"/>
                                      </p:to>
                                    </p:set>
                                    <p:animEffect transition="in" filter="dissolve">
                                      <p:cBhvr>
                                        <p:cTn id="110" dur="500"/>
                                        <p:tgtEl>
                                          <p:spTgt spid="2416690"/>
                                        </p:tgtEl>
                                      </p:cBhvr>
                                    </p:animEffect>
                                  </p:childTnLst>
                                </p:cTn>
                              </p:par>
                              <p:par>
                                <p:cTn id="111" presetID="9" presetClass="entr" presetSubtype="0" fill="hold" nodeType="withEffect">
                                  <p:stCondLst>
                                    <p:cond delay="0"/>
                                  </p:stCondLst>
                                  <p:childTnLst>
                                    <p:set>
                                      <p:cBhvr>
                                        <p:cTn id="112" dur="1" fill="hold">
                                          <p:stCondLst>
                                            <p:cond delay="0"/>
                                          </p:stCondLst>
                                        </p:cTn>
                                        <p:tgtEl>
                                          <p:spTgt spid="2416691"/>
                                        </p:tgtEl>
                                        <p:attrNameLst>
                                          <p:attrName>style.visibility</p:attrName>
                                        </p:attrNameLst>
                                      </p:cBhvr>
                                      <p:to>
                                        <p:strVal val="visible"/>
                                      </p:to>
                                    </p:set>
                                    <p:animEffect transition="in" filter="dissolve">
                                      <p:cBhvr>
                                        <p:cTn id="113" dur="500"/>
                                        <p:tgtEl>
                                          <p:spTgt spid="2416691"/>
                                        </p:tgtEl>
                                      </p:cBhvr>
                                    </p:animEffect>
                                  </p:childTnLst>
                                </p:cTn>
                              </p:par>
                              <p:par>
                                <p:cTn id="114" presetID="9" presetClass="entr" presetSubtype="0" fill="hold" nodeType="withEffect">
                                  <p:stCondLst>
                                    <p:cond delay="0"/>
                                  </p:stCondLst>
                                  <p:childTnLst>
                                    <p:set>
                                      <p:cBhvr>
                                        <p:cTn id="115" dur="1" fill="hold">
                                          <p:stCondLst>
                                            <p:cond delay="0"/>
                                          </p:stCondLst>
                                        </p:cTn>
                                        <p:tgtEl>
                                          <p:spTgt spid="2416692"/>
                                        </p:tgtEl>
                                        <p:attrNameLst>
                                          <p:attrName>style.visibility</p:attrName>
                                        </p:attrNameLst>
                                      </p:cBhvr>
                                      <p:to>
                                        <p:strVal val="visible"/>
                                      </p:to>
                                    </p:set>
                                    <p:animEffect transition="in" filter="dissolve">
                                      <p:cBhvr>
                                        <p:cTn id="116" dur="500"/>
                                        <p:tgtEl>
                                          <p:spTgt spid="2416692"/>
                                        </p:tgtEl>
                                      </p:cBhvr>
                                    </p:animEffect>
                                  </p:childTnLst>
                                </p:cTn>
                              </p:par>
                              <p:par>
                                <p:cTn id="117" presetID="9" presetClass="entr" presetSubtype="0" fill="hold" nodeType="withEffect">
                                  <p:stCondLst>
                                    <p:cond delay="0"/>
                                  </p:stCondLst>
                                  <p:childTnLst>
                                    <p:set>
                                      <p:cBhvr>
                                        <p:cTn id="118" dur="1" fill="hold">
                                          <p:stCondLst>
                                            <p:cond delay="0"/>
                                          </p:stCondLst>
                                        </p:cTn>
                                        <p:tgtEl>
                                          <p:spTgt spid="2416693"/>
                                        </p:tgtEl>
                                        <p:attrNameLst>
                                          <p:attrName>style.visibility</p:attrName>
                                        </p:attrNameLst>
                                      </p:cBhvr>
                                      <p:to>
                                        <p:strVal val="visible"/>
                                      </p:to>
                                    </p:set>
                                    <p:animEffect transition="in" filter="dissolve">
                                      <p:cBhvr>
                                        <p:cTn id="119" dur="500"/>
                                        <p:tgtEl>
                                          <p:spTgt spid="2416693"/>
                                        </p:tgtEl>
                                      </p:cBhvr>
                                    </p:animEffect>
                                  </p:childTnLst>
                                </p:cTn>
                              </p:par>
                              <p:par>
                                <p:cTn id="120" presetID="9" presetClass="entr" presetSubtype="0" fill="hold" nodeType="withEffect">
                                  <p:stCondLst>
                                    <p:cond delay="0"/>
                                  </p:stCondLst>
                                  <p:childTnLst>
                                    <p:set>
                                      <p:cBhvr>
                                        <p:cTn id="121" dur="1" fill="hold">
                                          <p:stCondLst>
                                            <p:cond delay="0"/>
                                          </p:stCondLst>
                                        </p:cTn>
                                        <p:tgtEl>
                                          <p:spTgt spid="2416694"/>
                                        </p:tgtEl>
                                        <p:attrNameLst>
                                          <p:attrName>style.visibility</p:attrName>
                                        </p:attrNameLst>
                                      </p:cBhvr>
                                      <p:to>
                                        <p:strVal val="visible"/>
                                      </p:to>
                                    </p:set>
                                    <p:animEffect transition="in" filter="dissolve">
                                      <p:cBhvr>
                                        <p:cTn id="122" dur="500"/>
                                        <p:tgtEl>
                                          <p:spTgt spid="2416694"/>
                                        </p:tgtEl>
                                      </p:cBhvr>
                                    </p:animEffect>
                                  </p:childTnLst>
                                </p:cTn>
                              </p:par>
                              <p:par>
                                <p:cTn id="123" presetID="9" presetClass="entr" presetSubtype="0" fill="hold" nodeType="withEffect">
                                  <p:stCondLst>
                                    <p:cond delay="0"/>
                                  </p:stCondLst>
                                  <p:childTnLst>
                                    <p:set>
                                      <p:cBhvr>
                                        <p:cTn id="124" dur="1" fill="hold">
                                          <p:stCondLst>
                                            <p:cond delay="0"/>
                                          </p:stCondLst>
                                        </p:cTn>
                                        <p:tgtEl>
                                          <p:spTgt spid="2416695"/>
                                        </p:tgtEl>
                                        <p:attrNameLst>
                                          <p:attrName>style.visibility</p:attrName>
                                        </p:attrNameLst>
                                      </p:cBhvr>
                                      <p:to>
                                        <p:strVal val="visible"/>
                                      </p:to>
                                    </p:set>
                                    <p:animEffect transition="in" filter="dissolve">
                                      <p:cBhvr>
                                        <p:cTn id="125" dur="500"/>
                                        <p:tgtEl>
                                          <p:spTgt spid="2416695"/>
                                        </p:tgtEl>
                                      </p:cBhvr>
                                    </p:animEffect>
                                  </p:childTnLst>
                                </p:cTn>
                              </p:par>
                              <p:par>
                                <p:cTn id="126" presetID="9" presetClass="entr" presetSubtype="0" fill="hold" nodeType="withEffect">
                                  <p:stCondLst>
                                    <p:cond delay="0"/>
                                  </p:stCondLst>
                                  <p:childTnLst>
                                    <p:set>
                                      <p:cBhvr>
                                        <p:cTn id="127" dur="1" fill="hold">
                                          <p:stCondLst>
                                            <p:cond delay="0"/>
                                          </p:stCondLst>
                                        </p:cTn>
                                        <p:tgtEl>
                                          <p:spTgt spid="2416696"/>
                                        </p:tgtEl>
                                        <p:attrNameLst>
                                          <p:attrName>style.visibility</p:attrName>
                                        </p:attrNameLst>
                                      </p:cBhvr>
                                      <p:to>
                                        <p:strVal val="visible"/>
                                      </p:to>
                                    </p:set>
                                    <p:animEffect transition="in" filter="dissolve">
                                      <p:cBhvr>
                                        <p:cTn id="128" dur="500"/>
                                        <p:tgtEl>
                                          <p:spTgt spid="2416696"/>
                                        </p:tgtEl>
                                      </p:cBhvr>
                                    </p:animEffect>
                                  </p:childTnLst>
                                </p:cTn>
                              </p:par>
                              <p:par>
                                <p:cTn id="129" presetID="9" presetClass="entr" presetSubtype="0" fill="hold" nodeType="withEffect">
                                  <p:stCondLst>
                                    <p:cond delay="0"/>
                                  </p:stCondLst>
                                  <p:childTnLst>
                                    <p:set>
                                      <p:cBhvr>
                                        <p:cTn id="130" dur="1" fill="hold">
                                          <p:stCondLst>
                                            <p:cond delay="0"/>
                                          </p:stCondLst>
                                        </p:cTn>
                                        <p:tgtEl>
                                          <p:spTgt spid="2416697"/>
                                        </p:tgtEl>
                                        <p:attrNameLst>
                                          <p:attrName>style.visibility</p:attrName>
                                        </p:attrNameLst>
                                      </p:cBhvr>
                                      <p:to>
                                        <p:strVal val="visible"/>
                                      </p:to>
                                    </p:set>
                                    <p:animEffect transition="in" filter="dissolve">
                                      <p:cBhvr>
                                        <p:cTn id="131" dur="500"/>
                                        <p:tgtEl>
                                          <p:spTgt spid="2416697"/>
                                        </p:tgtEl>
                                      </p:cBhvr>
                                    </p:animEffect>
                                  </p:childTnLst>
                                </p:cTn>
                              </p:par>
                              <p:par>
                                <p:cTn id="132" presetID="9" presetClass="entr" presetSubtype="0" fill="hold" nodeType="withEffect">
                                  <p:stCondLst>
                                    <p:cond delay="0"/>
                                  </p:stCondLst>
                                  <p:childTnLst>
                                    <p:set>
                                      <p:cBhvr>
                                        <p:cTn id="133" dur="1" fill="hold">
                                          <p:stCondLst>
                                            <p:cond delay="0"/>
                                          </p:stCondLst>
                                        </p:cTn>
                                        <p:tgtEl>
                                          <p:spTgt spid="2416698"/>
                                        </p:tgtEl>
                                        <p:attrNameLst>
                                          <p:attrName>style.visibility</p:attrName>
                                        </p:attrNameLst>
                                      </p:cBhvr>
                                      <p:to>
                                        <p:strVal val="visible"/>
                                      </p:to>
                                    </p:set>
                                    <p:animEffect transition="in" filter="dissolve">
                                      <p:cBhvr>
                                        <p:cTn id="134" dur="500"/>
                                        <p:tgtEl>
                                          <p:spTgt spid="2416698"/>
                                        </p:tgtEl>
                                      </p:cBhvr>
                                    </p:animEffect>
                                  </p:childTnLst>
                                </p:cTn>
                              </p:par>
                              <p:par>
                                <p:cTn id="135" presetID="9" presetClass="entr" presetSubtype="0" fill="hold" nodeType="withEffect">
                                  <p:stCondLst>
                                    <p:cond delay="0"/>
                                  </p:stCondLst>
                                  <p:childTnLst>
                                    <p:set>
                                      <p:cBhvr>
                                        <p:cTn id="136" dur="1" fill="hold">
                                          <p:stCondLst>
                                            <p:cond delay="0"/>
                                          </p:stCondLst>
                                        </p:cTn>
                                        <p:tgtEl>
                                          <p:spTgt spid="2416699"/>
                                        </p:tgtEl>
                                        <p:attrNameLst>
                                          <p:attrName>style.visibility</p:attrName>
                                        </p:attrNameLst>
                                      </p:cBhvr>
                                      <p:to>
                                        <p:strVal val="visible"/>
                                      </p:to>
                                    </p:set>
                                    <p:animEffect transition="in" filter="dissolve">
                                      <p:cBhvr>
                                        <p:cTn id="137" dur="500"/>
                                        <p:tgtEl>
                                          <p:spTgt spid="2416699"/>
                                        </p:tgtEl>
                                      </p:cBhvr>
                                    </p:animEffect>
                                  </p:childTnLst>
                                </p:cTn>
                              </p:par>
                              <p:par>
                                <p:cTn id="138" presetID="9" presetClass="entr" presetSubtype="0" fill="hold" nodeType="withEffect">
                                  <p:stCondLst>
                                    <p:cond delay="0"/>
                                  </p:stCondLst>
                                  <p:childTnLst>
                                    <p:set>
                                      <p:cBhvr>
                                        <p:cTn id="139" dur="1" fill="hold">
                                          <p:stCondLst>
                                            <p:cond delay="0"/>
                                          </p:stCondLst>
                                        </p:cTn>
                                        <p:tgtEl>
                                          <p:spTgt spid="2416700"/>
                                        </p:tgtEl>
                                        <p:attrNameLst>
                                          <p:attrName>style.visibility</p:attrName>
                                        </p:attrNameLst>
                                      </p:cBhvr>
                                      <p:to>
                                        <p:strVal val="visible"/>
                                      </p:to>
                                    </p:set>
                                    <p:animEffect transition="in" filter="dissolve">
                                      <p:cBhvr>
                                        <p:cTn id="140" dur="500"/>
                                        <p:tgtEl>
                                          <p:spTgt spid="2416700"/>
                                        </p:tgtEl>
                                      </p:cBhvr>
                                    </p:animEffect>
                                  </p:childTnLst>
                                </p:cTn>
                              </p:par>
                              <p:par>
                                <p:cTn id="141" presetID="9" presetClass="entr" presetSubtype="0" fill="hold" nodeType="withEffect">
                                  <p:stCondLst>
                                    <p:cond delay="0"/>
                                  </p:stCondLst>
                                  <p:childTnLst>
                                    <p:set>
                                      <p:cBhvr>
                                        <p:cTn id="142" dur="1" fill="hold">
                                          <p:stCondLst>
                                            <p:cond delay="0"/>
                                          </p:stCondLst>
                                        </p:cTn>
                                        <p:tgtEl>
                                          <p:spTgt spid="2416701"/>
                                        </p:tgtEl>
                                        <p:attrNameLst>
                                          <p:attrName>style.visibility</p:attrName>
                                        </p:attrNameLst>
                                      </p:cBhvr>
                                      <p:to>
                                        <p:strVal val="visible"/>
                                      </p:to>
                                    </p:set>
                                    <p:animEffect transition="in" filter="dissolve">
                                      <p:cBhvr>
                                        <p:cTn id="143" dur="500"/>
                                        <p:tgtEl>
                                          <p:spTgt spid="2416701"/>
                                        </p:tgtEl>
                                      </p:cBhvr>
                                    </p:animEffect>
                                  </p:childTnLst>
                                </p:cTn>
                              </p:par>
                              <p:par>
                                <p:cTn id="144" presetID="9" presetClass="entr" presetSubtype="0" fill="hold" nodeType="withEffect">
                                  <p:stCondLst>
                                    <p:cond delay="0"/>
                                  </p:stCondLst>
                                  <p:childTnLst>
                                    <p:set>
                                      <p:cBhvr>
                                        <p:cTn id="145" dur="1" fill="hold">
                                          <p:stCondLst>
                                            <p:cond delay="0"/>
                                          </p:stCondLst>
                                        </p:cTn>
                                        <p:tgtEl>
                                          <p:spTgt spid="2416702"/>
                                        </p:tgtEl>
                                        <p:attrNameLst>
                                          <p:attrName>style.visibility</p:attrName>
                                        </p:attrNameLst>
                                      </p:cBhvr>
                                      <p:to>
                                        <p:strVal val="visible"/>
                                      </p:to>
                                    </p:set>
                                    <p:animEffect transition="in" filter="dissolve">
                                      <p:cBhvr>
                                        <p:cTn id="146" dur="500"/>
                                        <p:tgtEl>
                                          <p:spTgt spid="2416702"/>
                                        </p:tgtEl>
                                      </p:cBhvr>
                                    </p:animEffect>
                                  </p:childTnLst>
                                </p:cTn>
                              </p:par>
                              <p:par>
                                <p:cTn id="147" presetID="9" presetClass="entr" presetSubtype="0" fill="hold" nodeType="withEffect">
                                  <p:stCondLst>
                                    <p:cond delay="0"/>
                                  </p:stCondLst>
                                  <p:childTnLst>
                                    <p:set>
                                      <p:cBhvr>
                                        <p:cTn id="148" dur="1" fill="hold">
                                          <p:stCondLst>
                                            <p:cond delay="0"/>
                                          </p:stCondLst>
                                        </p:cTn>
                                        <p:tgtEl>
                                          <p:spTgt spid="2416703"/>
                                        </p:tgtEl>
                                        <p:attrNameLst>
                                          <p:attrName>style.visibility</p:attrName>
                                        </p:attrNameLst>
                                      </p:cBhvr>
                                      <p:to>
                                        <p:strVal val="visible"/>
                                      </p:to>
                                    </p:set>
                                    <p:animEffect transition="in" filter="dissolve">
                                      <p:cBhvr>
                                        <p:cTn id="149" dur="500"/>
                                        <p:tgtEl>
                                          <p:spTgt spid="2416703"/>
                                        </p:tgtEl>
                                      </p:cBhvr>
                                    </p:animEffect>
                                  </p:childTnLst>
                                </p:cTn>
                              </p:par>
                              <p:par>
                                <p:cTn id="150" presetID="9" presetClass="entr" presetSubtype="0" fill="hold" nodeType="withEffect">
                                  <p:stCondLst>
                                    <p:cond delay="0"/>
                                  </p:stCondLst>
                                  <p:childTnLst>
                                    <p:set>
                                      <p:cBhvr>
                                        <p:cTn id="151" dur="1" fill="hold">
                                          <p:stCondLst>
                                            <p:cond delay="0"/>
                                          </p:stCondLst>
                                        </p:cTn>
                                        <p:tgtEl>
                                          <p:spTgt spid="2416704"/>
                                        </p:tgtEl>
                                        <p:attrNameLst>
                                          <p:attrName>style.visibility</p:attrName>
                                        </p:attrNameLst>
                                      </p:cBhvr>
                                      <p:to>
                                        <p:strVal val="visible"/>
                                      </p:to>
                                    </p:set>
                                    <p:animEffect transition="in" filter="dissolve">
                                      <p:cBhvr>
                                        <p:cTn id="152" dur="500"/>
                                        <p:tgtEl>
                                          <p:spTgt spid="2416704"/>
                                        </p:tgtEl>
                                      </p:cBhvr>
                                    </p:animEffect>
                                  </p:childTnLst>
                                </p:cTn>
                              </p:par>
                              <p:par>
                                <p:cTn id="153" presetID="9" presetClass="entr" presetSubtype="0" fill="hold" nodeType="withEffect">
                                  <p:stCondLst>
                                    <p:cond delay="0"/>
                                  </p:stCondLst>
                                  <p:childTnLst>
                                    <p:set>
                                      <p:cBhvr>
                                        <p:cTn id="154" dur="1" fill="hold">
                                          <p:stCondLst>
                                            <p:cond delay="0"/>
                                          </p:stCondLst>
                                        </p:cTn>
                                        <p:tgtEl>
                                          <p:spTgt spid="2416705"/>
                                        </p:tgtEl>
                                        <p:attrNameLst>
                                          <p:attrName>style.visibility</p:attrName>
                                        </p:attrNameLst>
                                      </p:cBhvr>
                                      <p:to>
                                        <p:strVal val="visible"/>
                                      </p:to>
                                    </p:set>
                                    <p:animEffect transition="in" filter="dissolve">
                                      <p:cBhvr>
                                        <p:cTn id="155" dur="500"/>
                                        <p:tgtEl>
                                          <p:spTgt spid="2416705"/>
                                        </p:tgtEl>
                                      </p:cBhvr>
                                    </p:animEffect>
                                  </p:childTnLst>
                                </p:cTn>
                              </p:par>
                              <p:par>
                                <p:cTn id="156" presetID="9" presetClass="entr" presetSubtype="0" fill="hold" nodeType="withEffect">
                                  <p:stCondLst>
                                    <p:cond delay="0"/>
                                  </p:stCondLst>
                                  <p:childTnLst>
                                    <p:set>
                                      <p:cBhvr>
                                        <p:cTn id="157" dur="1" fill="hold">
                                          <p:stCondLst>
                                            <p:cond delay="0"/>
                                          </p:stCondLst>
                                        </p:cTn>
                                        <p:tgtEl>
                                          <p:spTgt spid="2416706"/>
                                        </p:tgtEl>
                                        <p:attrNameLst>
                                          <p:attrName>style.visibility</p:attrName>
                                        </p:attrNameLst>
                                      </p:cBhvr>
                                      <p:to>
                                        <p:strVal val="visible"/>
                                      </p:to>
                                    </p:set>
                                    <p:animEffect transition="in" filter="dissolve">
                                      <p:cBhvr>
                                        <p:cTn id="158" dur="500"/>
                                        <p:tgtEl>
                                          <p:spTgt spid="2416706"/>
                                        </p:tgtEl>
                                      </p:cBhvr>
                                    </p:animEffect>
                                  </p:childTnLst>
                                </p:cTn>
                              </p:par>
                              <p:par>
                                <p:cTn id="159" presetID="9" presetClass="entr" presetSubtype="0" fill="hold" nodeType="withEffect">
                                  <p:stCondLst>
                                    <p:cond delay="0"/>
                                  </p:stCondLst>
                                  <p:childTnLst>
                                    <p:set>
                                      <p:cBhvr>
                                        <p:cTn id="160" dur="1" fill="hold">
                                          <p:stCondLst>
                                            <p:cond delay="0"/>
                                          </p:stCondLst>
                                        </p:cTn>
                                        <p:tgtEl>
                                          <p:spTgt spid="2416707"/>
                                        </p:tgtEl>
                                        <p:attrNameLst>
                                          <p:attrName>style.visibility</p:attrName>
                                        </p:attrNameLst>
                                      </p:cBhvr>
                                      <p:to>
                                        <p:strVal val="visible"/>
                                      </p:to>
                                    </p:set>
                                    <p:animEffect transition="in" filter="dissolve">
                                      <p:cBhvr>
                                        <p:cTn id="161" dur="500"/>
                                        <p:tgtEl>
                                          <p:spTgt spid="2416707"/>
                                        </p:tgtEl>
                                      </p:cBhvr>
                                    </p:animEffect>
                                  </p:childTnLst>
                                </p:cTn>
                              </p:par>
                              <p:par>
                                <p:cTn id="162" presetID="9" presetClass="entr" presetSubtype="0" fill="hold" nodeType="withEffect">
                                  <p:stCondLst>
                                    <p:cond delay="0"/>
                                  </p:stCondLst>
                                  <p:childTnLst>
                                    <p:set>
                                      <p:cBhvr>
                                        <p:cTn id="163" dur="1" fill="hold">
                                          <p:stCondLst>
                                            <p:cond delay="0"/>
                                          </p:stCondLst>
                                        </p:cTn>
                                        <p:tgtEl>
                                          <p:spTgt spid="2416708"/>
                                        </p:tgtEl>
                                        <p:attrNameLst>
                                          <p:attrName>style.visibility</p:attrName>
                                        </p:attrNameLst>
                                      </p:cBhvr>
                                      <p:to>
                                        <p:strVal val="visible"/>
                                      </p:to>
                                    </p:set>
                                    <p:animEffect transition="in" filter="dissolve">
                                      <p:cBhvr>
                                        <p:cTn id="164" dur="500"/>
                                        <p:tgtEl>
                                          <p:spTgt spid="2416708"/>
                                        </p:tgtEl>
                                      </p:cBhvr>
                                    </p:animEffect>
                                  </p:childTnLst>
                                </p:cTn>
                              </p:par>
                              <p:par>
                                <p:cTn id="165" presetID="9" presetClass="entr" presetSubtype="0" fill="hold" nodeType="withEffect">
                                  <p:stCondLst>
                                    <p:cond delay="0"/>
                                  </p:stCondLst>
                                  <p:childTnLst>
                                    <p:set>
                                      <p:cBhvr>
                                        <p:cTn id="166" dur="1" fill="hold">
                                          <p:stCondLst>
                                            <p:cond delay="0"/>
                                          </p:stCondLst>
                                        </p:cTn>
                                        <p:tgtEl>
                                          <p:spTgt spid="2416709"/>
                                        </p:tgtEl>
                                        <p:attrNameLst>
                                          <p:attrName>style.visibility</p:attrName>
                                        </p:attrNameLst>
                                      </p:cBhvr>
                                      <p:to>
                                        <p:strVal val="visible"/>
                                      </p:to>
                                    </p:set>
                                    <p:animEffect transition="in" filter="dissolve">
                                      <p:cBhvr>
                                        <p:cTn id="167" dur="500"/>
                                        <p:tgtEl>
                                          <p:spTgt spid="2416709"/>
                                        </p:tgtEl>
                                      </p:cBhvr>
                                    </p:animEffect>
                                  </p:childTnLst>
                                </p:cTn>
                              </p:par>
                              <p:par>
                                <p:cTn id="168" presetID="9" presetClass="entr" presetSubtype="0" fill="hold" nodeType="withEffect">
                                  <p:stCondLst>
                                    <p:cond delay="0"/>
                                  </p:stCondLst>
                                  <p:childTnLst>
                                    <p:set>
                                      <p:cBhvr>
                                        <p:cTn id="169" dur="1" fill="hold">
                                          <p:stCondLst>
                                            <p:cond delay="0"/>
                                          </p:stCondLst>
                                        </p:cTn>
                                        <p:tgtEl>
                                          <p:spTgt spid="2416710"/>
                                        </p:tgtEl>
                                        <p:attrNameLst>
                                          <p:attrName>style.visibility</p:attrName>
                                        </p:attrNameLst>
                                      </p:cBhvr>
                                      <p:to>
                                        <p:strVal val="visible"/>
                                      </p:to>
                                    </p:set>
                                    <p:animEffect transition="in" filter="dissolve">
                                      <p:cBhvr>
                                        <p:cTn id="170" dur="500"/>
                                        <p:tgtEl>
                                          <p:spTgt spid="2416710"/>
                                        </p:tgtEl>
                                      </p:cBhvr>
                                    </p:animEffect>
                                  </p:childTnLst>
                                </p:cTn>
                              </p:par>
                              <p:par>
                                <p:cTn id="171" presetID="9" presetClass="entr" presetSubtype="0" fill="hold" nodeType="withEffect">
                                  <p:stCondLst>
                                    <p:cond delay="0"/>
                                  </p:stCondLst>
                                  <p:childTnLst>
                                    <p:set>
                                      <p:cBhvr>
                                        <p:cTn id="172" dur="1" fill="hold">
                                          <p:stCondLst>
                                            <p:cond delay="0"/>
                                          </p:stCondLst>
                                        </p:cTn>
                                        <p:tgtEl>
                                          <p:spTgt spid="2416711"/>
                                        </p:tgtEl>
                                        <p:attrNameLst>
                                          <p:attrName>style.visibility</p:attrName>
                                        </p:attrNameLst>
                                      </p:cBhvr>
                                      <p:to>
                                        <p:strVal val="visible"/>
                                      </p:to>
                                    </p:set>
                                    <p:animEffect transition="in" filter="dissolve">
                                      <p:cBhvr>
                                        <p:cTn id="173" dur="500"/>
                                        <p:tgtEl>
                                          <p:spTgt spid="2416711"/>
                                        </p:tgtEl>
                                      </p:cBhvr>
                                    </p:animEffect>
                                  </p:childTnLst>
                                </p:cTn>
                              </p:par>
                              <p:par>
                                <p:cTn id="174" presetID="9" presetClass="entr" presetSubtype="0" fill="hold" nodeType="withEffect">
                                  <p:stCondLst>
                                    <p:cond delay="0"/>
                                  </p:stCondLst>
                                  <p:childTnLst>
                                    <p:set>
                                      <p:cBhvr>
                                        <p:cTn id="175" dur="1" fill="hold">
                                          <p:stCondLst>
                                            <p:cond delay="0"/>
                                          </p:stCondLst>
                                        </p:cTn>
                                        <p:tgtEl>
                                          <p:spTgt spid="2416712"/>
                                        </p:tgtEl>
                                        <p:attrNameLst>
                                          <p:attrName>style.visibility</p:attrName>
                                        </p:attrNameLst>
                                      </p:cBhvr>
                                      <p:to>
                                        <p:strVal val="visible"/>
                                      </p:to>
                                    </p:set>
                                    <p:animEffect transition="in" filter="dissolve">
                                      <p:cBhvr>
                                        <p:cTn id="176" dur="500"/>
                                        <p:tgtEl>
                                          <p:spTgt spid="2416712"/>
                                        </p:tgtEl>
                                      </p:cBhvr>
                                    </p:animEffect>
                                  </p:childTnLst>
                                </p:cTn>
                              </p:par>
                              <p:par>
                                <p:cTn id="177" presetID="9" presetClass="entr" presetSubtype="0" fill="hold" nodeType="withEffect">
                                  <p:stCondLst>
                                    <p:cond delay="0"/>
                                  </p:stCondLst>
                                  <p:childTnLst>
                                    <p:set>
                                      <p:cBhvr>
                                        <p:cTn id="178" dur="1" fill="hold">
                                          <p:stCondLst>
                                            <p:cond delay="0"/>
                                          </p:stCondLst>
                                        </p:cTn>
                                        <p:tgtEl>
                                          <p:spTgt spid="2416713"/>
                                        </p:tgtEl>
                                        <p:attrNameLst>
                                          <p:attrName>style.visibility</p:attrName>
                                        </p:attrNameLst>
                                      </p:cBhvr>
                                      <p:to>
                                        <p:strVal val="visible"/>
                                      </p:to>
                                    </p:set>
                                    <p:animEffect transition="in" filter="dissolve">
                                      <p:cBhvr>
                                        <p:cTn id="179" dur="500"/>
                                        <p:tgtEl>
                                          <p:spTgt spid="2416713"/>
                                        </p:tgtEl>
                                      </p:cBhvr>
                                    </p:animEffect>
                                  </p:childTnLst>
                                </p:cTn>
                              </p:par>
                              <p:par>
                                <p:cTn id="180" presetID="9" presetClass="entr" presetSubtype="0" fill="hold" nodeType="withEffect">
                                  <p:stCondLst>
                                    <p:cond delay="0"/>
                                  </p:stCondLst>
                                  <p:childTnLst>
                                    <p:set>
                                      <p:cBhvr>
                                        <p:cTn id="181" dur="1" fill="hold">
                                          <p:stCondLst>
                                            <p:cond delay="0"/>
                                          </p:stCondLst>
                                        </p:cTn>
                                        <p:tgtEl>
                                          <p:spTgt spid="2416714"/>
                                        </p:tgtEl>
                                        <p:attrNameLst>
                                          <p:attrName>style.visibility</p:attrName>
                                        </p:attrNameLst>
                                      </p:cBhvr>
                                      <p:to>
                                        <p:strVal val="visible"/>
                                      </p:to>
                                    </p:set>
                                    <p:animEffect transition="in" filter="dissolve">
                                      <p:cBhvr>
                                        <p:cTn id="182" dur="500"/>
                                        <p:tgtEl>
                                          <p:spTgt spid="2416714"/>
                                        </p:tgtEl>
                                      </p:cBhvr>
                                    </p:animEffect>
                                  </p:childTnLst>
                                </p:cTn>
                              </p:par>
                              <p:par>
                                <p:cTn id="183" presetID="9" presetClass="entr" presetSubtype="0" fill="hold" nodeType="withEffect">
                                  <p:stCondLst>
                                    <p:cond delay="0"/>
                                  </p:stCondLst>
                                  <p:childTnLst>
                                    <p:set>
                                      <p:cBhvr>
                                        <p:cTn id="184" dur="1" fill="hold">
                                          <p:stCondLst>
                                            <p:cond delay="0"/>
                                          </p:stCondLst>
                                        </p:cTn>
                                        <p:tgtEl>
                                          <p:spTgt spid="2416715"/>
                                        </p:tgtEl>
                                        <p:attrNameLst>
                                          <p:attrName>style.visibility</p:attrName>
                                        </p:attrNameLst>
                                      </p:cBhvr>
                                      <p:to>
                                        <p:strVal val="visible"/>
                                      </p:to>
                                    </p:set>
                                    <p:animEffect transition="in" filter="dissolve">
                                      <p:cBhvr>
                                        <p:cTn id="185" dur="500"/>
                                        <p:tgtEl>
                                          <p:spTgt spid="2416715"/>
                                        </p:tgtEl>
                                      </p:cBhvr>
                                    </p:animEffect>
                                  </p:childTnLst>
                                </p:cTn>
                              </p:par>
                              <p:par>
                                <p:cTn id="186" presetID="9" presetClass="entr" presetSubtype="0" fill="hold" nodeType="withEffect">
                                  <p:stCondLst>
                                    <p:cond delay="0"/>
                                  </p:stCondLst>
                                  <p:childTnLst>
                                    <p:set>
                                      <p:cBhvr>
                                        <p:cTn id="187" dur="1" fill="hold">
                                          <p:stCondLst>
                                            <p:cond delay="0"/>
                                          </p:stCondLst>
                                        </p:cTn>
                                        <p:tgtEl>
                                          <p:spTgt spid="2416716"/>
                                        </p:tgtEl>
                                        <p:attrNameLst>
                                          <p:attrName>style.visibility</p:attrName>
                                        </p:attrNameLst>
                                      </p:cBhvr>
                                      <p:to>
                                        <p:strVal val="visible"/>
                                      </p:to>
                                    </p:set>
                                    <p:animEffect transition="in" filter="dissolve">
                                      <p:cBhvr>
                                        <p:cTn id="188" dur="500"/>
                                        <p:tgtEl>
                                          <p:spTgt spid="2416716"/>
                                        </p:tgtEl>
                                      </p:cBhvr>
                                    </p:animEffect>
                                  </p:childTnLst>
                                </p:cTn>
                              </p:par>
                              <p:par>
                                <p:cTn id="189" presetID="9" presetClass="entr" presetSubtype="0" fill="hold" nodeType="withEffect">
                                  <p:stCondLst>
                                    <p:cond delay="0"/>
                                  </p:stCondLst>
                                  <p:childTnLst>
                                    <p:set>
                                      <p:cBhvr>
                                        <p:cTn id="190" dur="1" fill="hold">
                                          <p:stCondLst>
                                            <p:cond delay="0"/>
                                          </p:stCondLst>
                                        </p:cTn>
                                        <p:tgtEl>
                                          <p:spTgt spid="2416717"/>
                                        </p:tgtEl>
                                        <p:attrNameLst>
                                          <p:attrName>style.visibility</p:attrName>
                                        </p:attrNameLst>
                                      </p:cBhvr>
                                      <p:to>
                                        <p:strVal val="visible"/>
                                      </p:to>
                                    </p:set>
                                    <p:animEffect transition="in" filter="dissolve">
                                      <p:cBhvr>
                                        <p:cTn id="191" dur="500"/>
                                        <p:tgtEl>
                                          <p:spTgt spid="2416717"/>
                                        </p:tgtEl>
                                      </p:cBhvr>
                                    </p:animEffect>
                                  </p:childTnLst>
                                </p:cTn>
                              </p:par>
                              <p:par>
                                <p:cTn id="192" presetID="9" presetClass="entr" presetSubtype="0" fill="hold" nodeType="withEffect">
                                  <p:stCondLst>
                                    <p:cond delay="0"/>
                                  </p:stCondLst>
                                  <p:childTnLst>
                                    <p:set>
                                      <p:cBhvr>
                                        <p:cTn id="193" dur="1" fill="hold">
                                          <p:stCondLst>
                                            <p:cond delay="0"/>
                                          </p:stCondLst>
                                        </p:cTn>
                                        <p:tgtEl>
                                          <p:spTgt spid="2416718"/>
                                        </p:tgtEl>
                                        <p:attrNameLst>
                                          <p:attrName>style.visibility</p:attrName>
                                        </p:attrNameLst>
                                      </p:cBhvr>
                                      <p:to>
                                        <p:strVal val="visible"/>
                                      </p:to>
                                    </p:set>
                                    <p:animEffect transition="in" filter="dissolve">
                                      <p:cBhvr>
                                        <p:cTn id="194" dur="500"/>
                                        <p:tgtEl>
                                          <p:spTgt spid="2416718"/>
                                        </p:tgtEl>
                                      </p:cBhvr>
                                    </p:animEffect>
                                  </p:childTnLst>
                                </p:cTn>
                              </p:par>
                              <p:par>
                                <p:cTn id="195" presetID="9" presetClass="entr" presetSubtype="0" fill="hold" nodeType="withEffect">
                                  <p:stCondLst>
                                    <p:cond delay="0"/>
                                  </p:stCondLst>
                                  <p:childTnLst>
                                    <p:set>
                                      <p:cBhvr>
                                        <p:cTn id="196" dur="1" fill="hold">
                                          <p:stCondLst>
                                            <p:cond delay="0"/>
                                          </p:stCondLst>
                                        </p:cTn>
                                        <p:tgtEl>
                                          <p:spTgt spid="2416719"/>
                                        </p:tgtEl>
                                        <p:attrNameLst>
                                          <p:attrName>style.visibility</p:attrName>
                                        </p:attrNameLst>
                                      </p:cBhvr>
                                      <p:to>
                                        <p:strVal val="visible"/>
                                      </p:to>
                                    </p:set>
                                    <p:animEffect transition="in" filter="dissolve">
                                      <p:cBhvr>
                                        <p:cTn id="197" dur="500"/>
                                        <p:tgtEl>
                                          <p:spTgt spid="2416719"/>
                                        </p:tgtEl>
                                      </p:cBhvr>
                                    </p:animEffect>
                                  </p:childTnLst>
                                </p:cTn>
                              </p:par>
                              <p:par>
                                <p:cTn id="198" presetID="9" presetClass="entr" presetSubtype="0" fill="hold" nodeType="withEffect">
                                  <p:stCondLst>
                                    <p:cond delay="0"/>
                                  </p:stCondLst>
                                  <p:childTnLst>
                                    <p:set>
                                      <p:cBhvr>
                                        <p:cTn id="199" dur="1" fill="hold">
                                          <p:stCondLst>
                                            <p:cond delay="0"/>
                                          </p:stCondLst>
                                        </p:cTn>
                                        <p:tgtEl>
                                          <p:spTgt spid="2416720"/>
                                        </p:tgtEl>
                                        <p:attrNameLst>
                                          <p:attrName>style.visibility</p:attrName>
                                        </p:attrNameLst>
                                      </p:cBhvr>
                                      <p:to>
                                        <p:strVal val="visible"/>
                                      </p:to>
                                    </p:set>
                                    <p:animEffect transition="in" filter="dissolve">
                                      <p:cBhvr>
                                        <p:cTn id="200" dur="500"/>
                                        <p:tgtEl>
                                          <p:spTgt spid="2416720"/>
                                        </p:tgtEl>
                                      </p:cBhvr>
                                    </p:animEffect>
                                  </p:childTnLst>
                                </p:cTn>
                              </p:par>
                              <p:par>
                                <p:cTn id="201" presetID="9" presetClass="entr" presetSubtype="0" fill="hold" nodeType="withEffect">
                                  <p:stCondLst>
                                    <p:cond delay="0"/>
                                  </p:stCondLst>
                                  <p:childTnLst>
                                    <p:set>
                                      <p:cBhvr>
                                        <p:cTn id="202" dur="1" fill="hold">
                                          <p:stCondLst>
                                            <p:cond delay="0"/>
                                          </p:stCondLst>
                                        </p:cTn>
                                        <p:tgtEl>
                                          <p:spTgt spid="2416721"/>
                                        </p:tgtEl>
                                        <p:attrNameLst>
                                          <p:attrName>style.visibility</p:attrName>
                                        </p:attrNameLst>
                                      </p:cBhvr>
                                      <p:to>
                                        <p:strVal val="visible"/>
                                      </p:to>
                                    </p:set>
                                    <p:animEffect transition="in" filter="dissolve">
                                      <p:cBhvr>
                                        <p:cTn id="203" dur="500"/>
                                        <p:tgtEl>
                                          <p:spTgt spid="2416721"/>
                                        </p:tgtEl>
                                      </p:cBhvr>
                                    </p:animEffect>
                                  </p:childTnLst>
                                </p:cTn>
                              </p:par>
                              <p:par>
                                <p:cTn id="204" presetID="9" presetClass="entr" presetSubtype="0" fill="hold" nodeType="withEffect">
                                  <p:stCondLst>
                                    <p:cond delay="0"/>
                                  </p:stCondLst>
                                  <p:childTnLst>
                                    <p:set>
                                      <p:cBhvr>
                                        <p:cTn id="205" dur="1" fill="hold">
                                          <p:stCondLst>
                                            <p:cond delay="0"/>
                                          </p:stCondLst>
                                        </p:cTn>
                                        <p:tgtEl>
                                          <p:spTgt spid="2416722"/>
                                        </p:tgtEl>
                                        <p:attrNameLst>
                                          <p:attrName>style.visibility</p:attrName>
                                        </p:attrNameLst>
                                      </p:cBhvr>
                                      <p:to>
                                        <p:strVal val="visible"/>
                                      </p:to>
                                    </p:set>
                                    <p:animEffect transition="in" filter="dissolve">
                                      <p:cBhvr>
                                        <p:cTn id="206" dur="500"/>
                                        <p:tgtEl>
                                          <p:spTgt spid="2416722"/>
                                        </p:tgtEl>
                                      </p:cBhvr>
                                    </p:animEffect>
                                  </p:childTnLst>
                                </p:cTn>
                              </p:par>
                              <p:par>
                                <p:cTn id="207" presetID="9" presetClass="entr" presetSubtype="0" fill="hold" nodeType="withEffect">
                                  <p:stCondLst>
                                    <p:cond delay="0"/>
                                  </p:stCondLst>
                                  <p:childTnLst>
                                    <p:set>
                                      <p:cBhvr>
                                        <p:cTn id="208" dur="1" fill="hold">
                                          <p:stCondLst>
                                            <p:cond delay="0"/>
                                          </p:stCondLst>
                                        </p:cTn>
                                        <p:tgtEl>
                                          <p:spTgt spid="2416723"/>
                                        </p:tgtEl>
                                        <p:attrNameLst>
                                          <p:attrName>style.visibility</p:attrName>
                                        </p:attrNameLst>
                                      </p:cBhvr>
                                      <p:to>
                                        <p:strVal val="visible"/>
                                      </p:to>
                                    </p:set>
                                    <p:animEffect transition="in" filter="dissolve">
                                      <p:cBhvr>
                                        <p:cTn id="209" dur="500"/>
                                        <p:tgtEl>
                                          <p:spTgt spid="2416723"/>
                                        </p:tgtEl>
                                      </p:cBhvr>
                                    </p:animEffect>
                                  </p:childTnLst>
                                </p:cTn>
                              </p:par>
                              <p:par>
                                <p:cTn id="210" presetID="9" presetClass="entr" presetSubtype="0" fill="hold" nodeType="withEffect">
                                  <p:stCondLst>
                                    <p:cond delay="0"/>
                                  </p:stCondLst>
                                  <p:childTnLst>
                                    <p:set>
                                      <p:cBhvr>
                                        <p:cTn id="211" dur="1" fill="hold">
                                          <p:stCondLst>
                                            <p:cond delay="0"/>
                                          </p:stCondLst>
                                        </p:cTn>
                                        <p:tgtEl>
                                          <p:spTgt spid="2416724"/>
                                        </p:tgtEl>
                                        <p:attrNameLst>
                                          <p:attrName>style.visibility</p:attrName>
                                        </p:attrNameLst>
                                      </p:cBhvr>
                                      <p:to>
                                        <p:strVal val="visible"/>
                                      </p:to>
                                    </p:set>
                                    <p:animEffect transition="in" filter="dissolve">
                                      <p:cBhvr>
                                        <p:cTn id="212" dur="500"/>
                                        <p:tgtEl>
                                          <p:spTgt spid="2416724"/>
                                        </p:tgtEl>
                                      </p:cBhvr>
                                    </p:animEffect>
                                  </p:childTnLst>
                                </p:cTn>
                              </p:par>
                              <p:par>
                                <p:cTn id="213" presetID="9" presetClass="entr" presetSubtype="0" fill="hold" nodeType="withEffect">
                                  <p:stCondLst>
                                    <p:cond delay="0"/>
                                  </p:stCondLst>
                                  <p:childTnLst>
                                    <p:set>
                                      <p:cBhvr>
                                        <p:cTn id="214" dur="1" fill="hold">
                                          <p:stCondLst>
                                            <p:cond delay="0"/>
                                          </p:stCondLst>
                                        </p:cTn>
                                        <p:tgtEl>
                                          <p:spTgt spid="2416725"/>
                                        </p:tgtEl>
                                        <p:attrNameLst>
                                          <p:attrName>style.visibility</p:attrName>
                                        </p:attrNameLst>
                                      </p:cBhvr>
                                      <p:to>
                                        <p:strVal val="visible"/>
                                      </p:to>
                                    </p:set>
                                    <p:animEffect transition="in" filter="dissolve">
                                      <p:cBhvr>
                                        <p:cTn id="215" dur="500"/>
                                        <p:tgtEl>
                                          <p:spTgt spid="2416725"/>
                                        </p:tgtEl>
                                      </p:cBhvr>
                                    </p:animEffect>
                                  </p:childTnLst>
                                </p:cTn>
                              </p:par>
                              <p:par>
                                <p:cTn id="216" presetID="9" presetClass="entr" presetSubtype="0" fill="hold" nodeType="withEffect">
                                  <p:stCondLst>
                                    <p:cond delay="0"/>
                                  </p:stCondLst>
                                  <p:childTnLst>
                                    <p:set>
                                      <p:cBhvr>
                                        <p:cTn id="217" dur="1" fill="hold">
                                          <p:stCondLst>
                                            <p:cond delay="0"/>
                                          </p:stCondLst>
                                        </p:cTn>
                                        <p:tgtEl>
                                          <p:spTgt spid="2416726"/>
                                        </p:tgtEl>
                                        <p:attrNameLst>
                                          <p:attrName>style.visibility</p:attrName>
                                        </p:attrNameLst>
                                      </p:cBhvr>
                                      <p:to>
                                        <p:strVal val="visible"/>
                                      </p:to>
                                    </p:set>
                                    <p:animEffect transition="in" filter="dissolve">
                                      <p:cBhvr>
                                        <p:cTn id="218" dur="500"/>
                                        <p:tgtEl>
                                          <p:spTgt spid="2416726"/>
                                        </p:tgtEl>
                                      </p:cBhvr>
                                    </p:animEffect>
                                  </p:childTnLst>
                                </p:cTn>
                              </p:par>
                              <p:par>
                                <p:cTn id="219" presetID="9" presetClass="entr" presetSubtype="0" fill="hold" nodeType="withEffect">
                                  <p:stCondLst>
                                    <p:cond delay="0"/>
                                  </p:stCondLst>
                                  <p:childTnLst>
                                    <p:set>
                                      <p:cBhvr>
                                        <p:cTn id="220" dur="1" fill="hold">
                                          <p:stCondLst>
                                            <p:cond delay="0"/>
                                          </p:stCondLst>
                                        </p:cTn>
                                        <p:tgtEl>
                                          <p:spTgt spid="2416727"/>
                                        </p:tgtEl>
                                        <p:attrNameLst>
                                          <p:attrName>style.visibility</p:attrName>
                                        </p:attrNameLst>
                                      </p:cBhvr>
                                      <p:to>
                                        <p:strVal val="visible"/>
                                      </p:to>
                                    </p:set>
                                    <p:animEffect transition="in" filter="dissolve">
                                      <p:cBhvr>
                                        <p:cTn id="221" dur="500"/>
                                        <p:tgtEl>
                                          <p:spTgt spid="2416727"/>
                                        </p:tgtEl>
                                      </p:cBhvr>
                                    </p:animEffect>
                                  </p:childTnLst>
                                </p:cTn>
                              </p:par>
                              <p:par>
                                <p:cTn id="222" presetID="9" presetClass="entr" presetSubtype="0" fill="hold" nodeType="withEffect">
                                  <p:stCondLst>
                                    <p:cond delay="0"/>
                                  </p:stCondLst>
                                  <p:childTnLst>
                                    <p:set>
                                      <p:cBhvr>
                                        <p:cTn id="223" dur="1" fill="hold">
                                          <p:stCondLst>
                                            <p:cond delay="0"/>
                                          </p:stCondLst>
                                        </p:cTn>
                                        <p:tgtEl>
                                          <p:spTgt spid="2416728"/>
                                        </p:tgtEl>
                                        <p:attrNameLst>
                                          <p:attrName>style.visibility</p:attrName>
                                        </p:attrNameLst>
                                      </p:cBhvr>
                                      <p:to>
                                        <p:strVal val="visible"/>
                                      </p:to>
                                    </p:set>
                                    <p:animEffect transition="in" filter="dissolve">
                                      <p:cBhvr>
                                        <p:cTn id="224" dur="500"/>
                                        <p:tgtEl>
                                          <p:spTgt spid="2416728"/>
                                        </p:tgtEl>
                                      </p:cBhvr>
                                    </p:animEffect>
                                  </p:childTnLst>
                                </p:cTn>
                              </p:par>
                              <p:par>
                                <p:cTn id="225" presetID="9" presetClass="entr" presetSubtype="0" fill="hold" nodeType="withEffect">
                                  <p:stCondLst>
                                    <p:cond delay="0"/>
                                  </p:stCondLst>
                                  <p:childTnLst>
                                    <p:set>
                                      <p:cBhvr>
                                        <p:cTn id="226" dur="1" fill="hold">
                                          <p:stCondLst>
                                            <p:cond delay="0"/>
                                          </p:stCondLst>
                                        </p:cTn>
                                        <p:tgtEl>
                                          <p:spTgt spid="2416729"/>
                                        </p:tgtEl>
                                        <p:attrNameLst>
                                          <p:attrName>style.visibility</p:attrName>
                                        </p:attrNameLst>
                                      </p:cBhvr>
                                      <p:to>
                                        <p:strVal val="visible"/>
                                      </p:to>
                                    </p:set>
                                    <p:animEffect transition="in" filter="dissolve">
                                      <p:cBhvr>
                                        <p:cTn id="227" dur="500"/>
                                        <p:tgtEl>
                                          <p:spTgt spid="2416729"/>
                                        </p:tgtEl>
                                      </p:cBhvr>
                                    </p:animEffect>
                                  </p:childTnLst>
                                </p:cTn>
                              </p:par>
                              <p:par>
                                <p:cTn id="228" presetID="9" presetClass="entr" presetSubtype="0" fill="hold" nodeType="withEffect">
                                  <p:stCondLst>
                                    <p:cond delay="0"/>
                                  </p:stCondLst>
                                  <p:childTnLst>
                                    <p:set>
                                      <p:cBhvr>
                                        <p:cTn id="229" dur="1" fill="hold">
                                          <p:stCondLst>
                                            <p:cond delay="0"/>
                                          </p:stCondLst>
                                        </p:cTn>
                                        <p:tgtEl>
                                          <p:spTgt spid="2416730"/>
                                        </p:tgtEl>
                                        <p:attrNameLst>
                                          <p:attrName>style.visibility</p:attrName>
                                        </p:attrNameLst>
                                      </p:cBhvr>
                                      <p:to>
                                        <p:strVal val="visible"/>
                                      </p:to>
                                    </p:set>
                                    <p:animEffect transition="in" filter="dissolve">
                                      <p:cBhvr>
                                        <p:cTn id="230" dur="500"/>
                                        <p:tgtEl>
                                          <p:spTgt spid="2416730"/>
                                        </p:tgtEl>
                                      </p:cBhvr>
                                    </p:animEffect>
                                  </p:childTnLst>
                                </p:cTn>
                              </p:par>
                              <p:par>
                                <p:cTn id="231" presetID="9" presetClass="entr" presetSubtype="0" fill="hold" nodeType="withEffect">
                                  <p:stCondLst>
                                    <p:cond delay="0"/>
                                  </p:stCondLst>
                                  <p:childTnLst>
                                    <p:set>
                                      <p:cBhvr>
                                        <p:cTn id="232" dur="1" fill="hold">
                                          <p:stCondLst>
                                            <p:cond delay="0"/>
                                          </p:stCondLst>
                                        </p:cTn>
                                        <p:tgtEl>
                                          <p:spTgt spid="2416731"/>
                                        </p:tgtEl>
                                        <p:attrNameLst>
                                          <p:attrName>style.visibility</p:attrName>
                                        </p:attrNameLst>
                                      </p:cBhvr>
                                      <p:to>
                                        <p:strVal val="visible"/>
                                      </p:to>
                                    </p:set>
                                    <p:animEffect transition="in" filter="dissolve">
                                      <p:cBhvr>
                                        <p:cTn id="233" dur="500"/>
                                        <p:tgtEl>
                                          <p:spTgt spid="2416731"/>
                                        </p:tgtEl>
                                      </p:cBhvr>
                                    </p:animEffect>
                                  </p:childTnLst>
                                </p:cTn>
                              </p:par>
                              <p:par>
                                <p:cTn id="234" presetID="9" presetClass="entr" presetSubtype="0" fill="hold" nodeType="withEffect">
                                  <p:stCondLst>
                                    <p:cond delay="0"/>
                                  </p:stCondLst>
                                  <p:childTnLst>
                                    <p:set>
                                      <p:cBhvr>
                                        <p:cTn id="235" dur="1" fill="hold">
                                          <p:stCondLst>
                                            <p:cond delay="0"/>
                                          </p:stCondLst>
                                        </p:cTn>
                                        <p:tgtEl>
                                          <p:spTgt spid="2416732"/>
                                        </p:tgtEl>
                                        <p:attrNameLst>
                                          <p:attrName>style.visibility</p:attrName>
                                        </p:attrNameLst>
                                      </p:cBhvr>
                                      <p:to>
                                        <p:strVal val="visible"/>
                                      </p:to>
                                    </p:set>
                                    <p:animEffect transition="in" filter="dissolve">
                                      <p:cBhvr>
                                        <p:cTn id="236" dur="500"/>
                                        <p:tgtEl>
                                          <p:spTgt spid="2416732"/>
                                        </p:tgtEl>
                                      </p:cBhvr>
                                    </p:animEffect>
                                  </p:childTnLst>
                                </p:cTn>
                              </p:par>
                              <p:par>
                                <p:cTn id="237" presetID="9" presetClass="entr" presetSubtype="0" fill="hold" nodeType="withEffect">
                                  <p:stCondLst>
                                    <p:cond delay="0"/>
                                  </p:stCondLst>
                                  <p:childTnLst>
                                    <p:set>
                                      <p:cBhvr>
                                        <p:cTn id="238" dur="1" fill="hold">
                                          <p:stCondLst>
                                            <p:cond delay="0"/>
                                          </p:stCondLst>
                                        </p:cTn>
                                        <p:tgtEl>
                                          <p:spTgt spid="2416733"/>
                                        </p:tgtEl>
                                        <p:attrNameLst>
                                          <p:attrName>style.visibility</p:attrName>
                                        </p:attrNameLst>
                                      </p:cBhvr>
                                      <p:to>
                                        <p:strVal val="visible"/>
                                      </p:to>
                                    </p:set>
                                    <p:animEffect transition="in" filter="dissolve">
                                      <p:cBhvr>
                                        <p:cTn id="239" dur="500"/>
                                        <p:tgtEl>
                                          <p:spTgt spid="2416733"/>
                                        </p:tgtEl>
                                      </p:cBhvr>
                                    </p:animEffect>
                                  </p:childTnLst>
                                </p:cTn>
                              </p:par>
                              <p:par>
                                <p:cTn id="240" presetID="9" presetClass="entr" presetSubtype="0" fill="hold" nodeType="withEffect">
                                  <p:stCondLst>
                                    <p:cond delay="0"/>
                                  </p:stCondLst>
                                  <p:childTnLst>
                                    <p:set>
                                      <p:cBhvr>
                                        <p:cTn id="241" dur="1" fill="hold">
                                          <p:stCondLst>
                                            <p:cond delay="0"/>
                                          </p:stCondLst>
                                        </p:cTn>
                                        <p:tgtEl>
                                          <p:spTgt spid="2416734"/>
                                        </p:tgtEl>
                                        <p:attrNameLst>
                                          <p:attrName>style.visibility</p:attrName>
                                        </p:attrNameLst>
                                      </p:cBhvr>
                                      <p:to>
                                        <p:strVal val="visible"/>
                                      </p:to>
                                    </p:set>
                                    <p:animEffect transition="in" filter="dissolve">
                                      <p:cBhvr>
                                        <p:cTn id="242" dur="500"/>
                                        <p:tgtEl>
                                          <p:spTgt spid="2416734"/>
                                        </p:tgtEl>
                                      </p:cBhvr>
                                    </p:animEffect>
                                  </p:childTnLst>
                                </p:cTn>
                              </p:par>
                              <p:par>
                                <p:cTn id="243" presetID="9" presetClass="entr" presetSubtype="0" fill="hold" nodeType="withEffect">
                                  <p:stCondLst>
                                    <p:cond delay="0"/>
                                  </p:stCondLst>
                                  <p:childTnLst>
                                    <p:set>
                                      <p:cBhvr>
                                        <p:cTn id="244" dur="1" fill="hold">
                                          <p:stCondLst>
                                            <p:cond delay="0"/>
                                          </p:stCondLst>
                                        </p:cTn>
                                        <p:tgtEl>
                                          <p:spTgt spid="2416735"/>
                                        </p:tgtEl>
                                        <p:attrNameLst>
                                          <p:attrName>style.visibility</p:attrName>
                                        </p:attrNameLst>
                                      </p:cBhvr>
                                      <p:to>
                                        <p:strVal val="visible"/>
                                      </p:to>
                                    </p:set>
                                    <p:animEffect transition="in" filter="dissolve">
                                      <p:cBhvr>
                                        <p:cTn id="245" dur="500"/>
                                        <p:tgtEl>
                                          <p:spTgt spid="2416735"/>
                                        </p:tgtEl>
                                      </p:cBhvr>
                                    </p:animEffect>
                                  </p:childTnLst>
                                </p:cTn>
                              </p:par>
                              <p:par>
                                <p:cTn id="246" presetID="9" presetClass="entr" presetSubtype="0" fill="hold" nodeType="withEffect">
                                  <p:stCondLst>
                                    <p:cond delay="0"/>
                                  </p:stCondLst>
                                  <p:childTnLst>
                                    <p:set>
                                      <p:cBhvr>
                                        <p:cTn id="247" dur="1" fill="hold">
                                          <p:stCondLst>
                                            <p:cond delay="0"/>
                                          </p:stCondLst>
                                        </p:cTn>
                                        <p:tgtEl>
                                          <p:spTgt spid="2416736"/>
                                        </p:tgtEl>
                                        <p:attrNameLst>
                                          <p:attrName>style.visibility</p:attrName>
                                        </p:attrNameLst>
                                      </p:cBhvr>
                                      <p:to>
                                        <p:strVal val="visible"/>
                                      </p:to>
                                    </p:set>
                                    <p:animEffect transition="in" filter="dissolve">
                                      <p:cBhvr>
                                        <p:cTn id="248" dur="500"/>
                                        <p:tgtEl>
                                          <p:spTgt spid="2416736"/>
                                        </p:tgtEl>
                                      </p:cBhvr>
                                    </p:animEffect>
                                  </p:childTnLst>
                                </p:cTn>
                              </p:par>
                              <p:par>
                                <p:cTn id="249" presetID="9" presetClass="entr" presetSubtype="0" fill="hold" nodeType="withEffect">
                                  <p:stCondLst>
                                    <p:cond delay="0"/>
                                  </p:stCondLst>
                                  <p:childTnLst>
                                    <p:set>
                                      <p:cBhvr>
                                        <p:cTn id="250" dur="1" fill="hold">
                                          <p:stCondLst>
                                            <p:cond delay="0"/>
                                          </p:stCondLst>
                                        </p:cTn>
                                        <p:tgtEl>
                                          <p:spTgt spid="2416737"/>
                                        </p:tgtEl>
                                        <p:attrNameLst>
                                          <p:attrName>style.visibility</p:attrName>
                                        </p:attrNameLst>
                                      </p:cBhvr>
                                      <p:to>
                                        <p:strVal val="visible"/>
                                      </p:to>
                                    </p:set>
                                    <p:animEffect transition="in" filter="dissolve">
                                      <p:cBhvr>
                                        <p:cTn id="251" dur="500"/>
                                        <p:tgtEl>
                                          <p:spTgt spid="2416737"/>
                                        </p:tgtEl>
                                      </p:cBhvr>
                                    </p:animEffect>
                                  </p:childTnLst>
                                </p:cTn>
                              </p:par>
                              <p:par>
                                <p:cTn id="252" presetID="9" presetClass="entr" presetSubtype="0" fill="hold" nodeType="withEffect">
                                  <p:stCondLst>
                                    <p:cond delay="0"/>
                                  </p:stCondLst>
                                  <p:childTnLst>
                                    <p:set>
                                      <p:cBhvr>
                                        <p:cTn id="253" dur="1" fill="hold">
                                          <p:stCondLst>
                                            <p:cond delay="0"/>
                                          </p:stCondLst>
                                        </p:cTn>
                                        <p:tgtEl>
                                          <p:spTgt spid="2416738"/>
                                        </p:tgtEl>
                                        <p:attrNameLst>
                                          <p:attrName>style.visibility</p:attrName>
                                        </p:attrNameLst>
                                      </p:cBhvr>
                                      <p:to>
                                        <p:strVal val="visible"/>
                                      </p:to>
                                    </p:set>
                                    <p:animEffect transition="in" filter="dissolve">
                                      <p:cBhvr>
                                        <p:cTn id="254" dur="500"/>
                                        <p:tgtEl>
                                          <p:spTgt spid="2416738"/>
                                        </p:tgtEl>
                                      </p:cBhvr>
                                    </p:animEffect>
                                  </p:childTnLst>
                                </p:cTn>
                              </p:par>
                              <p:par>
                                <p:cTn id="255" presetID="9" presetClass="entr" presetSubtype="0" fill="hold" nodeType="withEffect">
                                  <p:stCondLst>
                                    <p:cond delay="0"/>
                                  </p:stCondLst>
                                  <p:childTnLst>
                                    <p:set>
                                      <p:cBhvr>
                                        <p:cTn id="256" dur="1" fill="hold">
                                          <p:stCondLst>
                                            <p:cond delay="0"/>
                                          </p:stCondLst>
                                        </p:cTn>
                                        <p:tgtEl>
                                          <p:spTgt spid="2416739"/>
                                        </p:tgtEl>
                                        <p:attrNameLst>
                                          <p:attrName>style.visibility</p:attrName>
                                        </p:attrNameLst>
                                      </p:cBhvr>
                                      <p:to>
                                        <p:strVal val="visible"/>
                                      </p:to>
                                    </p:set>
                                    <p:animEffect transition="in" filter="dissolve">
                                      <p:cBhvr>
                                        <p:cTn id="257" dur="500"/>
                                        <p:tgtEl>
                                          <p:spTgt spid="2416739"/>
                                        </p:tgtEl>
                                      </p:cBhvr>
                                    </p:animEffect>
                                  </p:childTnLst>
                                </p:cTn>
                              </p:par>
                              <p:par>
                                <p:cTn id="258" presetID="9" presetClass="entr" presetSubtype="0" fill="hold" nodeType="withEffect">
                                  <p:stCondLst>
                                    <p:cond delay="0"/>
                                  </p:stCondLst>
                                  <p:childTnLst>
                                    <p:set>
                                      <p:cBhvr>
                                        <p:cTn id="259" dur="1" fill="hold">
                                          <p:stCondLst>
                                            <p:cond delay="0"/>
                                          </p:stCondLst>
                                        </p:cTn>
                                        <p:tgtEl>
                                          <p:spTgt spid="2416740"/>
                                        </p:tgtEl>
                                        <p:attrNameLst>
                                          <p:attrName>style.visibility</p:attrName>
                                        </p:attrNameLst>
                                      </p:cBhvr>
                                      <p:to>
                                        <p:strVal val="visible"/>
                                      </p:to>
                                    </p:set>
                                    <p:animEffect transition="in" filter="dissolve">
                                      <p:cBhvr>
                                        <p:cTn id="260" dur="500"/>
                                        <p:tgtEl>
                                          <p:spTgt spid="2416740"/>
                                        </p:tgtEl>
                                      </p:cBhvr>
                                    </p:animEffect>
                                  </p:childTnLst>
                                </p:cTn>
                              </p:par>
                              <p:par>
                                <p:cTn id="261" presetID="9" presetClass="entr" presetSubtype="0" fill="hold" nodeType="withEffect">
                                  <p:stCondLst>
                                    <p:cond delay="0"/>
                                  </p:stCondLst>
                                  <p:childTnLst>
                                    <p:set>
                                      <p:cBhvr>
                                        <p:cTn id="262" dur="1" fill="hold">
                                          <p:stCondLst>
                                            <p:cond delay="0"/>
                                          </p:stCondLst>
                                        </p:cTn>
                                        <p:tgtEl>
                                          <p:spTgt spid="2416741"/>
                                        </p:tgtEl>
                                        <p:attrNameLst>
                                          <p:attrName>style.visibility</p:attrName>
                                        </p:attrNameLst>
                                      </p:cBhvr>
                                      <p:to>
                                        <p:strVal val="visible"/>
                                      </p:to>
                                    </p:set>
                                    <p:animEffect transition="in" filter="dissolve">
                                      <p:cBhvr>
                                        <p:cTn id="263" dur="500"/>
                                        <p:tgtEl>
                                          <p:spTgt spid="2416741"/>
                                        </p:tgtEl>
                                      </p:cBhvr>
                                    </p:animEffect>
                                  </p:childTnLst>
                                </p:cTn>
                              </p:par>
                              <p:par>
                                <p:cTn id="264" presetID="9" presetClass="entr" presetSubtype="0" fill="hold" nodeType="withEffect">
                                  <p:stCondLst>
                                    <p:cond delay="0"/>
                                  </p:stCondLst>
                                  <p:childTnLst>
                                    <p:set>
                                      <p:cBhvr>
                                        <p:cTn id="265" dur="1" fill="hold">
                                          <p:stCondLst>
                                            <p:cond delay="0"/>
                                          </p:stCondLst>
                                        </p:cTn>
                                        <p:tgtEl>
                                          <p:spTgt spid="2416742"/>
                                        </p:tgtEl>
                                        <p:attrNameLst>
                                          <p:attrName>style.visibility</p:attrName>
                                        </p:attrNameLst>
                                      </p:cBhvr>
                                      <p:to>
                                        <p:strVal val="visible"/>
                                      </p:to>
                                    </p:set>
                                    <p:animEffect transition="in" filter="dissolve">
                                      <p:cBhvr>
                                        <p:cTn id="266" dur="500"/>
                                        <p:tgtEl>
                                          <p:spTgt spid="2416742"/>
                                        </p:tgtEl>
                                      </p:cBhvr>
                                    </p:animEffect>
                                  </p:childTnLst>
                                </p:cTn>
                              </p:par>
                              <p:par>
                                <p:cTn id="267" presetID="9" presetClass="entr" presetSubtype="0" fill="hold" nodeType="withEffect">
                                  <p:stCondLst>
                                    <p:cond delay="0"/>
                                  </p:stCondLst>
                                  <p:childTnLst>
                                    <p:set>
                                      <p:cBhvr>
                                        <p:cTn id="268" dur="1" fill="hold">
                                          <p:stCondLst>
                                            <p:cond delay="0"/>
                                          </p:stCondLst>
                                        </p:cTn>
                                        <p:tgtEl>
                                          <p:spTgt spid="2416743"/>
                                        </p:tgtEl>
                                        <p:attrNameLst>
                                          <p:attrName>style.visibility</p:attrName>
                                        </p:attrNameLst>
                                      </p:cBhvr>
                                      <p:to>
                                        <p:strVal val="visible"/>
                                      </p:to>
                                    </p:set>
                                    <p:animEffect transition="in" filter="dissolve">
                                      <p:cBhvr>
                                        <p:cTn id="269" dur="500"/>
                                        <p:tgtEl>
                                          <p:spTgt spid="2416743"/>
                                        </p:tgtEl>
                                      </p:cBhvr>
                                    </p:animEffect>
                                  </p:childTnLst>
                                </p:cTn>
                              </p:par>
                              <p:par>
                                <p:cTn id="270" presetID="9" presetClass="entr" presetSubtype="0" fill="hold" nodeType="withEffect">
                                  <p:stCondLst>
                                    <p:cond delay="0"/>
                                  </p:stCondLst>
                                  <p:childTnLst>
                                    <p:set>
                                      <p:cBhvr>
                                        <p:cTn id="271" dur="1" fill="hold">
                                          <p:stCondLst>
                                            <p:cond delay="0"/>
                                          </p:stCondLst>
                                        </p:cTn>
                                        <p:tgtEl>
                                          <p:spTgt spid="2416744"/>
                                        </p:tgtEl>
                                        <p:attrNameLst>
                                          <p:attrName>style.visibility</p:attrName>
                                        </p:attrNameLst>
                                      </p:cBhvr>
                                      <p:to>
                                        <p:strVal val="visible"/>
                                      </p:to>
                                    </p:set>
                                    <p:animEffect transition="in" filter="dissolve">
                                      <p:cBhvr>
                                        <p:cTn id="272" dur="500"/>
                                        <p:tgtEl>
                                          <p:spTgt spid="2416744"/>
                                        </p:tgtEl>
                                      </p:cBhvr>
                                    </p:animEffect>
                                  </p:childTnLst>
                                </p:cTn>
                              </p:par>
                              <p:par>
                                <p:cTn id="273" presetID="9" presetClass="entr" presetSubtype="0" fill="hold" nodeType="withEffect">
                                  <p:stCondLst>
                                    <p:cond delay="0"/>
                                  </p:stCondLst>
                                  <p:childTnLst>
                                    <p:set>
                                      <p:cBhvr>
                                        <p:cTn id="274" dur="1" fill="hold">
                                          <p:stCondLst>
                                            <p:cond delay="0"/>
                                          </p:stCondLst>
                                        </p:cTn>
                                        <p:tgtEl>
                                          <p:spTgt spid="2416745"/>
                                        </p:tgtEl>
                                        <p:attrNameLst>
                                          <p:attrName>style.visibility</p:attrName>
                                        </p:attrNameLst>
                                      </p:cBhvr>
                                      <p:to>
                                        <p:strVal val="visible"/>
                                      </p:to>
                                    </p:set>
                                    <p:animEffect transition="in" filter="dissolve">
                                      <p:cBhvr>
                                        <p:cTn id="275" dur="500"/>
                                        <p:tgtEl>
                                          <p:spTgt spid="2416745"/>
                                        </p:tgtEl>
                                      </p:cBhvr>
                                    </p:animEffect>
                                  </p:childTnLst>
                                </p:cTn>
                              </p:par>
                              <p:par>
                                <p:cTn id="276" presetID="9" presetClass="entr" presetSubtype="0" fill="hold" nodeType="withEffect">
                                  <p:stCondLst>
                                    <p:cond delay="0"/>
                                  </p:stCondLst>
                                  <p:childTnLst>
                                    <p:set>
                                      <p:cBhvr>
                                        <p:cTn id="277" dur="1" fill="hold">
                                          <p:stCondLst>
                                            <p:cond delay="0"/>
                                          </p:stCondLst>
                                        </p:cTn>
                                        <p:tgtEl>
                                          <p:spTgt spid="2416746"/>
                                        </p:tgtEl>
                                        <p:attrNameLst>
                                          <p:attrName>style.visibility</p:attrName>
                                        </p:attrNameLst>
                                      </p:cBhvr>
                                      <p:to>
                                        <p:strVal val="visible"/>
                                      </p:to>
                                    </p:set>
                                    <p:animEffect transition="in" filter="dissolve">
                                      <p:cBhvr>
                                        <p:cTn id="278" dur="500"/>
                                        <p:tgtEl>
                                          <p:spTgt spid="2416746"/>
                                        </p:tgtEl>
                                      </p:cBhvr>
                                    </p:animEffect>
                                  </p:childTnLst>
                                </p:cTn>
                              </p:par>
                              <p:par>
                                <p:cTn id="279" presetID="9" presetClass="entr" presetSubtype="0" fill="hold" nodeType="withEffect">
                                  <p:stCondLst>
                                    <p:cond delay="0"/>
                                  </p:stCondLst>
                                  <p:childTnLst>
                                    <p:set>
                                      <p:cBhvr>
                                        <p:cTn id="280" dur="1" fill="hold">
                                          <p:stCondLst>
                                            <p:cond delay="0"/>
                                          </p:stCondLst>
                                        </p:cTn>
                                        <p:tgtEl>
                                          <p:spTgt spid="2416747"/>
                                        </p:tgtEl>
                                        <p:attrNameLst>
                                          <p:attrName>style.visibility</p:attrName>
                                        </p:attrNameLst>
                                      </p:cBhvr>
                                      <p:to>
                                        <p:strVal val="visible"/>
                                      </p:to>
                                    </p:set>
                                    <p:animEffect transition="in" filter="dissolve">
                                      <p:cBhvr>
                                        <p:cTn id="281" dur="500"/>
                                        <p:tgtEl>
                                          <p:spTgt spid="2416747"/>
                                        </p:tgtEl>
                                      </p:cBhvr>
                                    </p:animEffect>
                                  </p:childTnLst>
                                </p:cTn>
                              </p:par>
                              <p:par>
                                <p:cTn id="282" presetID="9" presetClass="entr" presetSubtype="0" fill="hold" nodeType="withEffect">
                                  <p:stCondLst>
                                    <p:cond delay="0"/>
                                  </p:stCondLst>
                                  <p:childTnLst>
                                    <p:set>
                                      <p:cBhvr>
                                        <p:cTn id="283" dur="1" fill="hold">
                                          <p:stCondLst>
                                            <p:cond delay="0"/>
                                          </p:stCondLst>
                                        </p:cTn>
                                        <p:tgtEl>
                                          <p:spTgt spid="2416748"/>
                                        </p:tgtEl>
                                        <p:attrNameLst>
                                          <p:attrName>style.visibility</p:attrName>
                                        </p:attrNameLst>
                                      </p:cBhvr>
                                      <p:to>
                                        <p:strVal val="visible"/>
                                      </p:to>
                                    </p:set>
                                    <p:animEffect transition="in" filter="dissolve">
                                      <p:cBhvr>
                                        <p:cTn id="284" dur="500"/>
                                        <p:tgtEl>
                                          <p:spTgt spid="2416748"/>
                                        </p:tgtEl>
                                      </p:cBhvr>
                                    </p:animEffect>
                                  </p:childTnLst>
                                </p:cTn>
                              </p:par>
                              <p:par>
                                <p:cTn id="285" presetID="9" presetClass="entr" presetSubtype="0" fill="hold" nodeType="withEffect">
                                  <p:stCondLst>
                                    <p:cond delay="0"/>
                                  </p:stCondLst>
                                  <p:childTnLst>
                                    <p:set>
                                      <p:cBhvr>
                                        <p:cTn id="286" dur="1" fill="hold">
                                          <p:stCondLst>
                                            <p:cond delay="0"/>
                                          </p:stCondLst>
                                        </p:cTn>
                                        <p:tgtEl>
                                          <p:spTgt spid="2416749"/>
                                        </p:tgtEl>
                                        <p:attrNameLst>
                                          <p:attrName>style.visibility</p:attrName>
                                        </p:attrNameLst>
                                      </p:cBhvr>
                                      <p:to>
                                        <p:strVal val="visible"/>
                                      </p:to>
                                    </p:set>
                                    <p:animEffect transition="in" filter="dissolve">
                                      <p:cBhvr>
                                        <p:cTn id="287" dur="500"/>
                                        <p:tgtEl>
                                          <p:spTgt spid="2416749"/>
                                        </p:tgtEl>
                                      </p:cBhvr>
                                    </p:animEffect>
                                  </p:childTnLst>
                                </p:cTn>
                              </p:par>
                              <p:par>
                                <p:cTn id="288" presetID="9" presetClass="entr" presetSubtype="0" fill="hold" nodeType="withEffect">
                                  <p:stCondLst>
                                    <p:cond delay="0"/>
                                  </p:stCondLst>
                                  <p:childTnLst>
                                    <p:set>
                                      <p:cBhvr>
                                        <p:cTn id="289" dur="1" fill="hold">
                                          <p:stCondLst>
                                            <p:cond delay="0"/>
                                          </p:stCondLst>
                                        </p:cTn>
                                        <p:tgtEl>
                                          <p:spTgt spid="2416750"/>
                                        </p:tgtEl>
                                        <p:attrNameLst>
                                          <p:attrName>style.visibility</p:attrName>
                                        </p:attrNameLst>
                                      </p:cBhvr>
                                      <p:to>
                                        <p:strVal val="visible"/>
                                      </p:to>
                                    </p:set>
                                    <p:animEffect transition="in" filter="dissolve">
                                      <p:cBhvr>
                                        <p:cTn id="290" dur="500"/>
                                        <p:tgtEl>
                                          <p:spTgt spid="2416750"/>
                                        </p:tgtEl>
                                      </p:cBhvr>
                                    </p:animEffect>
                                  </p:childTnLst>
                                </p:cTn>
                              </p:par>
                              <p:par>
                                <p:cTn id="291" presetID="9" presetClass="entr" presetSubtype="0" fill="hold" nodeType="withEffect">
                                  <p:stCondLst>
                                    <p:cond delay="0"/>
                                  </p:stCondLst>
                                  <p:childTnLst>
                                    <p:set>
                                      <p:cBhvr>
                                        <p:cTn id="292" dur="1" fill="hold">
                                          <p:stCondLst>
                                            <p:cond delay="0"/>
                                          </p:stCondLst>
                                        </p:cTn>
                                        <p:tgtEl>
                                          <p:spTgt spid="2416751"/>
                                        </p:tgtEl>
                                        <p:attrNameLst>
                                          <p:attrName>style.visibility</p:attrName>
                                        </p:attrNameLst>
                                      </p:cBhvr>
                                      <p:to>
                                        <p:strVal val="visible"/>
                                      </p:to>
                                    </p:set>
                                    <p:animEffect transition="in" filter="dissolve">
                                      <p:cBhvr>
                                        <p:cTn id="293" dur="500"/>
                                        <p:tgtEl>
                                          <p:spTgt spid="2416751"/>
                                        </p:tgtEl>
                                      </p:cBhvr>
                                    </p:animEffect>
                                  </p:childTnLst>
                                </p:cTn>
                              </p:par>
                              <p:par>
                                <p:cTn id="294" presetID="9" presetClass="entr" presetSubtype="0" fill="hold" nodeType="withEffect">
                                  <p:stCondLst>
                                    <p:cond delay="0"/>
                                  </p:stCondLst>
                                  <p:childTnLst>
                                    <p:set>
                                      <p:cBhvr>
                                        <p:cTn id="295" dur="1" fill="hold">
                                          <p:stCondLst>
                                            <p:cond delay="0"/>
                                          </p:stCondLst>
                                        </p:cTn>
                                        <p:tgtEl>
                                          <p:spTgt spid="2416752"/>
                                        </p:tgtEl>
                                        <p:attrNameLst>
                                          <p:attrName>style.visibility</p:attrName>
                                        </p:attrNameLst>
                                      </p:cBhvr>
                                      <p:to>
                                        <p:strVal val="visible"/>
                                      </p:to>
                                    </p:set>
                                    <p:animEffect transition="in" filter="dissolve">
                                      <p:cBhvr>
                                        <p:cTn id="296" dur="500"/>
                                        <p:tgtEl>
                                          <p:spTgt spid="2416752"/>
                                        </p:tgtEl>
                                      </p:cBhvr>
                                    </p:animEffect>
                                  </p:childTnLst>
                                </p:cTn>
                              </p:par>
                              <p:par>
                                <p:cTn id="297" presetID="9" presetClass="entr" presetSubtype="0" fill="hold" nodeType="withEffect">
                                  <p:stCondLst>
                                    <p:cond delay="0"/>
                                  </p:stCondLst>
                                  <p:childTnLst>
                                    <p:set>
                                      <p:cBhvr>
                                        <p:cTn id="298" dur="1" fill="hold">
                                          <p:stCondLst>
                                            <p:cond delay="0"/>
                                          </p:stCondLst>
                                        </p:cTn>
                                        <p:tgtEl>
                                          <p:spTgt spid="2416755"/>
                                        </p:tgtEl>
                                        <p:attrNameLst>
                                          <p:attrName>style.visibility</p:attrName>
                                        </p:attrNameLst>
                                      </p:cBhvr>
                                      <p:to>
                                        <p:strVal val="visible"/>
                                      </p:to>
                                    </p:set>
                                    <p:animEffect transition="in" filter="dissolve">
                                      <p:cBhvr>
                                        <p:cTn id="299" dur="500"/>
                                        <p:tgtEl>
                                          <p:spTgt spid="2416755"/>
                                        </p:tgtEl>
                                      </p:cBhvr>
                                    </p:animEffect>
                                  </p:childTnLst>
                                </p:cTn>
                              </p:par>
                              <p:par>
                                <p:cTn id="300" presetID="9" presetClass="entr" presetSubtype="0" fill="hold" nodeType="withEffect">
                                  <p:stCondLst>
                                    <p:cond delay="0"/>
                                  </p:stCondLst>
                                  <p:childTnLst>
                                    <p:set>
                                      <p:cBhvr>
                                        <p:cTn id="301" dur="1" fill="hold">
                                          <p:stCondLst>
                                            <p:cond delay="0"/>
                                          </p:stCondLst>
                                        </p:cTn>
                                        <p:tgtEl>
                                          <p:spTgt spid="2416756"/>
                                        </p:tgtEl>
                                        <p:attrNameLst>
                                          <p:attrName>style.visibility</p:attrName>
                                        </p:attrNameLst>
                                      </p:cBhvr>
                                      <p:to>
                                        <p:strVal val="visible"/>
                                      </p:to>
                                    </p:set>
                                    <p:animEffect transition="in" filter="dissolve">
                                      <p:cBhvr>
                                        <p:cTn id="302" dur="500"/>
                                        <p:tgtEl>
                                          <p:spTgt spid="2416756"/>
                                        </p:tgtEl>
                                      </p:cBhvr>
                                    </p:animEffect>
                                  </p:childTnLst>
                                </p:cTn>
                              </p:par>
                              <p:par>
                                <p:cTn id="303" presetID="9" presetClass="entr" presetSubtype="0" fill="hold" nodeType="withEffect">
                                  <p:stCondLst>
                                    <p:cond delay="0"/>
                                  </p:stCondLst>
                                  <p:childTnLst>
                                    <p:set>
                                      <p:cBhvr>
                                        <p:cTn id="304" dur="1" fill="hold">
                                          <p:stCondLst>
                                            <p:cond delay="0"/>
                                          </p:stCondLst>
                                        </p:cTn>
                                        <p:tgtEl>
                                          <p:spTgt spid="2416757"/>
                                        </p:tgtEl>
                                        <p:attrNameLst>
                                          <p:attrName>style.visibility</p:attrName>
                                        </p:attrNameLst>
                                      </p:cBhvr>
                                      <p:to>
                                        <p:strVal val="visible"/>
                                      </p:to>
                                    </p:set>
                                    <p:animEffect transition="in" filter="dissolve">
                                      <p:cBhvr>
                                        <p:cTn id="305" dur="500"/>
                                        <p:tgtEl>
                                          <p:spTgt spid="2416757"/>
                                        </p:tgtEl>
                                      </p:cBhvr>
                                    </p:animEffect>
                                  </p:childTnLst>
                                </p:cTn>
                              </p:par>
                              <p:par>
                                <p:cTn id="306" presetID="9" presetClass="entr" presetSubtype="0" fill="hold" nodeType="withEffect">
                                  <p:stCondLst>
                                    <p:cond delay="0"/>
                                  </p:stCondLst>
                                  <p:childTnLst>
                                    <p:set>
                                      <p:cBhvr>
                                        <p:cTn id="307" dur="1" fill="hold">
                                          <p:stCondLst>
                                            <p:cond delay="0"/>
                                          </p:stCondLst>
                                        </p:cTn>
                                        <p:tgtEl>
                                          <p:spTgt spid="2416758"/>
                                        </p:tgtEl>
                                        <p:attrNameLst>
                                          <p:attrName>style.visibility</p:attrName>
                                        </p:attrNameLst>
                                      </p:cBhvr>
                                      <p:to>
                                        <p:strVal val="visible"/>
                                      </p:to>
                                    </p:set>
                                    <p:animEffect transition="in" filter="dissolve">
                                      <p:cBhvr>
                                        <p:cTn id="308" dur="500"/>
                                        <p:tgtEl>
                                          <p:spTgt spid="2416758"/>
                                        </p:tgtEl>
                                      </p:cBhvr>
                                    </p:animEffect>
                                  </p:childTnLst>
                                </p:cTn>
                              </p:par>
                              <p:par>
                                <p:cTn id="309" presetID="9" presetClass="entr" presetSubtype="0" fill="hold" nodeType="withEffect">
                                  <p:stCondLst>
                                    <p:cond delay="0"/>
                                  </p:stCondLst>
                                  <p:childTnLst>
                                    <p:set>
                                      <p:cBhvr>
                                        <p:cTn id="310" dur="1" fill="hold">
                                          <p:stCondLst>
                                            <p:cond delay="0"/>
                                          </p:stCondLst>
                                        </p:cTn>
                                        <p:tgtEl>
                                          <p:spTgt spid="2416759"/>
                                        </p:tgtEl>
                                        <p:attrNameLst>
                                          <p:attrName>style.visibility</p:attrName>
                                        </p:attrNameLst>
                                      </p:cBhvr>
                                      <p:to>
                                        <p:strVal val="visible"/>
                                      </p:to>
                                    </p:set>
                                    <p:animEffect transition="in" filter="dissolve">
                                      <p:cBhvr>
                                        <p:cTn id="311" dur="500"/>
                                        <p:tgtEl>
                                          <p:spTgt spid="2416759"/>
                                        </p:tgtEl>
                                      </p:cBhvr>
                                    </p:animEffect>
                                  </p:childTnLst>
                                </p:cTn>
                              </p:par>
                              <p:par>
                                <p:cTn id="312" presetID="9" presetClass="entr" presetSubtype="0" fill="hold" nodeType="withEffect">
                                  <p:stCondLst>
                                    <p:cond delay="0"/>
                                  </p:stCondLst>
                                  <p:childTnLst>
                                    <p:set>
                                      <p:cBhvr>
                                        <p:cTn id="313" dur="1" fill="hold">
                                          <p:stCondLst>
                                            <p:cond delay="0"/>
                                          </p:stCondLst>
                                        </p:cTn>
                                        <p:tgtEl>
                                          <p:spTgt spid="2416760"/>
                                        </p:tgtEl>
                                        <p:attrNameLst>
                                          <p:attrName>style.visibility</p:attrName>
                                        </p:attrNameLst>
                                      </p:cBhvr>
                                      <p:to>
                                        <p:strVal val="visible"/>
                                      </p:to>
                                    </p:set>
                                    <p:animEffect transition="in" filter="dissolve">
                                      <p:cBhvr>
                                        <p:cTn id="314" dur="500"/>
                                        <p:tgtEl>
                                          <p:spTgt spid="2416760"/>
                                        </p:tgtEl>
                                      </p:cBhvr>
                                    </p:animEffect>
                                  </p:childTnLst>
                                </p:cTn>
                              </p:par>
                              <p:par>
                                <p:cTn id="315" presetID="9" presetClass="entr" presetSubtype="0" fill="hold" nodeType="withEffect">
                                  <p:stCondLst>
                                    <p:cond delay="0"/>
                                  </p:stCondLst>
                                  <p:childTnLst>
                                    <p:set>
                                      <p:cBhvr>
                                        <p:cTn id="316" dur="1" fill="hold">
                                          <p:stCondLst>
                                            <p:cond delay="0"/>
                                          </p:stCondLst>
                                        </p:cTn>
                                        <p:tgtEl>
                                          <p:spTgt spid="2416761"/>
                                        </p:tgtEl>
                                        <p:attrNameLst>
                                          <p:attrName>style.visibility</p:attrName>
                                        </p:attrNameLst>
                                      </p:cBhvr>
                                      <p:to>
                                        <p:strVal val="visible"/>
                                      </p:to>
                                    </p:set>
                                    <p:animEffect transition="in" filter="dissolve">
                                      <p:cBhvr>
                                        <p:cTn id="317" dur="500"/>
                                        <p:tgtEl>
                                          <p:spTgt spid="2416761"/>
                                        </p:tgtEl>
                                      </p:cBhvr>
                                    </p:animEffect>
                                  </p:childTnLst>
                                </p:cTn>
                              </p:par>
                              <p:par>
                                <p:cTn id="318" presetID="9" presetClass="entr" presetSubtype="0" fill="hold" nodeType="withEffect">
                                  <p:stCondLst>
                                    <p:cond delay="0"/>
                                  </p:stCondLst>
                                  <p:childTnLst>
                                    <p:set>
                                      <p:cBhvr>
                                        <p:cTn id="319" dur="1" fill="hold">
                                          <p:stCondLst>
                                            <p:cond delay="0"/>
                                          </p:stCondLst>
                                        </p:cTn>
                                        <p:tgtEl>
                                          <p:spTgt spid="2416762"/>
                                        </p:tgtEl>
                                        <p:attrNameLst>
                                          <p:attrName>style.visibility</p:attrName>
                                        </p:attrNameLst>
                                      </p:cBhvr>
                                      <p:to>
                                        <p:strVal val="visible"/>
                                      </p:to>
                                    </p:set>
                                    <p:animEffect transition="in" filter="dissolve">
                                      <p:cBhvr>
                                        <p:cTn id="320" dur="500"/>
                                        <p:tgtEl>
                                          <p:spTgt spid="2416762"/>
                                        </p:tgtEl>
                                      </p:cBhvr>
                                    </p:animEffect>
                                  </p:childTnLst>
                                </p:cTn>
                              </p:par>
                              <p:par>
                                <p:cTn id="321" presetID="9" presetClass="entr" presetSubtype="0" fill="hold" nodeType="withEffect">
                                  <p:stCondLst>
                                    <p:cond delay="0"/>
                                  </p:stCondLst>
                                  <p:childTnLst>
                                    <p:set>
                                      <p:cBhvr>
                                        <p:cTn id="322" dur="1" fill="hold">
                                          <p:stCondLst>
                                            <p:cond delay="0"/>
                                          </p:stCondLst>
                                        </p:cTn>
                                        <p:tgtEl>
                                          <p:spTgt spid="2416763"/>
                                        </p:tgtEl>
                                        <p:attrNameLst>
                                          <p:attrName>style.visibility</p:attrName>
                                        </p:attrNameLst>
                                      </p:cBhvr>
                                      <p:to>
                                        <p:strVal val="visible"/>
                                      </p:to>
                                    </p:set>
                                    <p:animEffect transition="in" filter="dissolve">
                                      <p:cBhvr>
                                        <p:cTn id="323" dur="500"/>
                                        <p:tgtEl>
                                          <p:spTgt spid="2416763"/>
                                        </p:tgtEl>
                                      </p:cBhvr>
                                    </p:animEffect>
                                  </p:childTnLst>
                                </p:cTn>
                              </p:par>
                              <p:par>
                                <p:cTn id="324" presetID="9" presetClass="entr" presetSubtype="0" fill="hold" nodeType="withEffect">
                                  <p:stCondLst>
                                    <p:cond delay="0"/>
                                  </p:stCondLst>
                                  <p:childTnLst>
                                    <p:set>
                                      <p:cBhvr>
                                        <p:cTn id="325" dur="1" fill="hold">
                                          <p:stCondLst>
                                            <p:cond delay="0"/>
                                          </p:stCondLst>
                                        </p:cTn>
                                        <p:tgtEl>
                                          <p:spTgt spid="2416764"/>
                                        </p:tgtEl>
                                        <p:attrNameLst>
                                          <p:attrName>style.visibility</p:attrName>
                                        </p:attrNameLst>
                                      </p:cBhvr>
                                      <p:to>
                                        <p:strVal val="visible"/>
                                      </p:to>
                                    </p:set>
                                    <p:animEffect transition="in" filter="dissolve">
                                      <p:cBhvr>
                                        <p:cTn id="326" dur="500"/>
                                        <p:tgtEl>
                                          <p:spTgt spid="2416764"/>
                                        </p:tgtEl>
                                      </p:cBhvr>
                                    </p:animEffect>
                                  </p:childTnLst>
                                </p:cTn>
                              </p:par>
                              <p:par>
                                <p:cTn id="327" presetID="9" presetClass="entr" presetSubtype="0" fill="hold" nodeType="withEffect">
                                  <p:stCondLst>
                                    <p:cond delay="0"/>
                                  </p:stCondLst>
                                  <p:childTnLst>
                                    <p:set>
                                      <p:cBhvr>
                                        <p:cTn id="328" dur="1" fill="hold">
                                          <p:stCondLst>
                                            <p:cond delay="0"/>
                                          </p:stCondLst>
                                        </p:cTn>
                                        <p:tgtEl>
                                          <p:spTgt spid="2416765"/>
                                        </p:tgtEl>
                                        <p:attrNameLst>
                                          <p:attrName>style.visibility</p:attrName>
                                        </p:attrNameLst>
                                      </p:cBhvr>
                                      <p:to>
                                        <p:strVal val="visible"/>
                                      </p:to>
                                    </p:set>
                                    <p:animEffect transition="in" filter="dissolve">
                                      <p:cBhvr>
                                        <p:cTn id="329" dur="500"/>
                                        <p:tgtEl>
                                          <p:spTgt spid="2416765"/>
                                        </p:tgtEl>
                                      </p:cBhvr>
                                    </p:animEffect>
                                  </p:childTnLst>
                                </p:cTn>
                              </p:par>
                              <p:par>
                                <p:cTn id="330" presetID="9" presetClass="entr" presetSubtype="0" fill="hold" nodeType="withEffect">
                                  <p:stCondLst>
                                    <p:cond delay="0"/>
                                  </p:stCondLst>
                                  <p:childTnLst>
                                    <p:set>
                                      <p:cBhvr>
                                        <p:cTn id="331" dur="1" fill="hold">
                                          <p:stCondLst>
                                            <p:cond delay="0"/>
                                          </p:stCondLst>
                                        </p:cTn>
                                        <p:tgtEl>
                                          <p:spTgt spid="2416766"/>
                                        </p:tgtEl>
                                        <p:attrNameLst>
                                          <p:attrName>style.visibility</p:attrName>
                                        </p:attrNameLst>
                                      </p:cBhvr>
                                      <p:to>
                                        <p:strVal val="visible"/>
                                      </p:to>
                                    </p:set>
                                    <p:animEffect transition="in" filter="dissolve">
                                      <p:cBhvr>
                                        <p:cTn id="332" dur="500"/>
                                        <p:tgtEl>
                                          <p:spTgt spid="2416766"/>
                                        </p:tgtEl>
                                      </p:cBhvr>
                                    </p:animEffect>
                                  </p:childTnLst>
                                </p:cTn>
                              </p:par>
                              <p:par>
                                <p:cTn id="333" presetID="9" presetClass="entr" presetSubtype="0" fill="hold" nodeType="withEffect">
                                  <p:stCondLst>
                                    <p:cond delay="0"/>
                                  </p:stCondLst>
                                  <p:childTnLst>
                                    <p:set>
                                      <p:cBhvr>
                                        <p:cTn id="334" dur="1" fill="hold">
                                          <p:stCondLst>
                                            <p:cond delay="0"/>
                                          </p:stCondLst>
                                        </p:cTn>
                                        <p:tgtEl>
                                          <p:spTgt spid="2416768"/>
                                        </p:tgtEl>
                                        <p:attrNameLst>
                                          <p:attrName>style.visibility</p:attrName>
                                        </p:attrNameLst>
                                      </p:cBhvr>
                                      <p:to>
                                        <p:strVal val="visible"/>
                                      </p:to>
                                    </p:set>
                                    <p:animEffect transition="in" filter="dissolve">
                                      <p:cBhvr>
                                        <p:cTn id="335" dur="500"/>
                                        <p:tgtEl>
                                          <p:spTgt spid="2416768"/>
                                        </p:tgtEl>
                                      </p:cBhvr>
                                    </p:animEffect>
                                  </p:childTnLst>
                                </p:cTn>
                              </p:par>
                              <p:par>
                                <p:cTn id="336" presetID="9" presetClass="entr" presetSubtype="0" fill="hold" nodeType="withEffect">
                                  <p:stCondLst>
                                    <p:cond delay="0"/>
                                  </p:stCondLst>
                                  <p:childTnLst>
                                    <p:set>
                                      <p:cBhvr>
                                        <p:cTn id="337" dur="1" fill="hold">
                                          <p:stCondLst>
                                            <p:cond delay="0"/>
                                          </p:stCondLst>
                                        </p:cTn>
                                        <p:tgtEl>
                                          <p:spTgt spid="2416769"/>
                                        </p:tgtEl>
                                        <p:attrNameLst>
                                          <p:attrName>style.visibility</p:attrName>
                                        </p:attrNameLst>
                                      </p:cBhvr>
                                      <p:to>
                                        <p:strVal val="visible"/>
                                      </p:to>
                                    </p:set>
                                    <p:animEffect transition="in" filter="dissolve">
                                      <p:cBhvr>
                                        <p:cTn id="338" dur="500"/>
                                        <p:tgtEl>
                                          <p:spTgt spid="2416769"/>
                                        </p:tgtEl>
                                      </p:cBhvr>
                                    </p:animEffect>
                                  </p:childTnLst>
                                </p:cTn>
                              </p:par>
                              <p:par>
                                <p:cTn id="339" presetID="9" presetClass="entr" presetSubtype="0" fill="hold" nodeType="withEffect">
                                  <p:stCondLst>
                                    <p:cond delay="0"/>
                                  </p:stCondLst>
                                  <p:childTnLst>
                                    <p:set>
                                      <p:cBhvr>
                                        <p:cTn id="340" dur="1" fill="hold">
                                          <p:stCondLst>
                                            <p:cond delay="0"/>
                                          </p:stCondLst>
                                        </p:cTn>
                                        <p:tgtEl>
                                          <p:spTgt spid="2416770"/>
                                        </p:tgtEl>
                                        <p:attrNameLst>
                                          <p:attrName>style.visibility</p:attrName>
                                        </p:attrNameLst>
                                      </p:cBhvr>
                                      <p:to>
                                        <p:strVal val="visible"/>
                                      </p:to>
                                    </p:set>
                                    <p:animEffect transition="in" filter="dissolve">
                                      <p:cBhvr>
                                        <p:cTn id="341" dur="500"/>
                                        <p:tgtEl>
                                          <p:spTgt spid="2416770"/>
                                        </p:tgtEl>
                                      </p:cBhvr>
                                    </p:animEffect>
                                  </p:childTnLst>
                                </p:cTn>
                              </p:par>
                              <p:par>
                                <p:cTn id="342" presetID="9" presetClass="entr" presetSubtype="0" fill="hold" nodeType="withEffect">
                                  <p:stCondLst>
                                    <p:cond delay="0"/>
                                  </p:stCondLst>
                                  <p:childTnLst>
                                    <p:set>
                                      <p:cBhvr>
                                        <p:cTn id="343" dur="1" fill="hold">
                                          <p:stCondLst>
                                            <p:cond delay="0"/>
                                          </p:stCondLst>
                                        </p:cTn>
                                        <p:tgtEl>
                                          <p:spTgt spid="2416771"/>
                                        </p:tgtEl>
                                        <p:attrNameLst>
                                          <p:attrName>style.visibility</p:attrName>
                                        </p:attrNameLst>
                                      </p:cBhvr>
                                      <p:to>
                                        <p:strVal val="visible"/>
                                      </p:to>
                                    </p:set>
                                    <p:animEffect transition="in" filter="dissolve">
                                      <p:cBhvr>
                                        <p:cTn id="344" dur="500"/>
                                        <p:tgtEl>
                                          <p:spTgt spid="2416771"/>
                                        </p:tgtEl>
                                      </p:cBhvr>
                                    </p:animEffect>
                                  </p:childTnLst>
                                </p:cTn>
                              </p:par>
                              <p:par>
                                <p:cTn id="345" presetID="9" presetClass="entr" presetSubtype="0" fill="hold" nodeType="withEffect">
                                  <p:stCondLst>
                                    <p:cond delay="0"/>
                                  </p:stCondLst>
                                  <p:childTnLst>
                                    <p:set>
                                      <p:cBhvr>
                                        <p:cTn id="346" dur="1" fill="hold">
                                          <p:stCondLst>
                                            <p:cond delay="0"/>
                                          </p:stCondLst>
                                        </p:cTn>
                                        <p:tgtEl>
                                          <p:spTgt spid="2416772"/>
                                        </p:tgtEl>
                                        <p:attrNameLst>
                                          <p:attrName>style.visibility</p:attrName>
                                        </p:attrNameLst>
                                      </p:cBhvr>
                                      <p:to>
                                        <p:strVal val="visible"/>
                                      </p:to>
                                    </p:set>
                                    <p:animEffect transition="in" filter="dissolve">
                                      <p:cBhvr>
                                        <p:cTn id="347" dur="500"/>
                                        <p:tgtEl>
                                          <p:spTgt spid="2416772"/>
                                        </p:tgtEl>
                                      </p:cBhvr>
                                    </p:animEffect>
                                  </p:childTnLst>
                                </p:cTn>
                              </p:par>
                              <p:par>
                                <p:cTn id="348" presetID="9" presetClass="entr" presetSubtype="0" fill="hold" nodeType="withEffect">
                                  <p:stCondLst>
                                    <p:cond delay="0"/>
                                  </p:stCondLst>
                                  <p:childTnLst>
                                    <p:set>
                                      <p:cBhvr>
                                        <p:cTn id="349" dur="1" fill="hold">
                                          <p:stCondLst>
                                            <p:cond delay="0"/>
                                          </p:stCondLst>
                                        </p:cTn>
                                        <p:tgtEl>
                                          <p:spTgt spid="2416773"/>
                                        </p:tgtEl>
                                        <p:attrNameLst>
                                          <p:attrName>style.visibility</p:attrName>
                                        </p:attrNameLst>
                                      </p:cBhvr>
                                      <p:to>
                                        <p:strVal val="visible"/>
                                      </p:to>
                                    </p:set>
                                    <p:animEffect transition="in" filter="dissolve">
                                      <p:cBhvr>
                                        <p:cTn id="350" dur="500"/>
                                        <p:tgtEl>
                                          <p:spTgt spid="2416773"/>
                                        </p:tgtEl>
                                      </p:cBhvr>
                                    </p:animEffect>
                                  </p:childTnLst>
                                </p:cTn>
                              </p:par>
                              <p:par>
                                <p:cTn id="351" presetID="9" presetClass="entr" presetSubtype="0" fill="hold" nodeType="withEffect">
                                  <p:stCondLst>
                                    <p:cond delay="0"/>
                                  </p:stCondLst>
                                  <p:childTnLst>
                                    <p:set>
                                      <p:cBhvr>
                                        <p:cTn id="352" dur="1" fill="hold">
                                          <p:stCondLst>
                                            <p:cond delay="0"/>
                                          </p:stCondLst>
                                        </p:cTn>
                                        <p:tgtEl>
                                          <p:spTgt spid="2416775"/>
                                        </p:tgtEl>
                                        <p:attrNameLst>
                                          <p:attrName>style.visibility</p:attrName>
                                        </p:attrNameLst>
                                      </p:cBhvr>
                                      <p:to>
                                        <p:strVal val="visible"/>
                                      </p:to>
                                    </p:set>
                                    <p:animEffect transition="in" filter="dissolve">
                                      <p:cBhvr>
                                        <p:cTn id="353" dur="500"/>
                                        <p:tgtEl>
                                          <p:spTgt spid="2416775"/>
                                        </p:tgtEl>
                                      </p:cBhvr>
                                    </p:animEffect>
                                  </p:childTnLst>
                                </p:cTn>
                              </p:par>
                              <p:par>
                                <p:cTn id="354" presetID="9" presetClass="entr" presetSubtype="0" fill="hold" nodeType="withEffect">
                                  <p:stCondLst>
                                    <p:cond delay="0"/>
                                  </p:stCondLst>
                                  <p:childTnLst>
                                    <p:set>
                                      <p:cBhvr>
                                        <p:cTn id="355" dur="1" fill="hold">
                                          <p:stCondLst>
                                            <p:cond delay="0"/>
                                          </p:stCondLst>
                                        </p:cTn>
                                        <p:tgtEl>
                                          <p:spTgt spid="2416776"/>
                                        </p:tgtEl>
                                        <p:attrNameLst>
                                          <p:attrName>style.visibility</p:attrName>
                                        </p:attrNameLst>
                                      </p:cBhvr>
                                      <p:to>
                                        <p:strVal val="visible"/>
                                      </p:to>
                                    </p:set>
                                    <p:animEffect transition="in" filter="dissolve">
                                      <p:cBhvr>
                                        <p:cTn id="356" dur="500"/>
                                        <p:tgtEl>
                                          <p:spTgt spid="2416776"/>
                                        </p:tgtEl>
                                      </p:cBhvr>
                                    </p:animEffect>
                                  </p:childTnLst>
                                </p:cTn>
                              </p:par>
                              <p:par>
                                <p:cTn id="357" presetID="9" presetClass="entr" presetSubtype="0" fill="hold" nodeType="withEffect">
                                  <p:stCondLst>
                                    <p:cond delay="0"/>
                                  </p:stCondLst>
                                  <p:childTnLst>
                                    <p:set>
                                      <p:cBhvr>
                                        <p:cTn id="358" dur="1" fill="hold">
                                          <p:stCondLst>
                                            <p:cond delay="0"/>
                                          </p:stCondLst>
                                        </p:cTn>
                                        <p:tgtEl>
                                          <p:spTgt spid="2416777"/>
                                        </p:tgtEl>
                                        <p:attrNameLst>
                                          <p:attrName>style.visibility</p:attrName>
                                        </p:attrNameLst>
                                      </p:cBhvr>
                                      <p:to>
                                        <p:strVal val="visible"/>
                                      </p:to>
                                    </p:set>
                                    <p:animEffect transition="in" filter="dissolve">
                                      <p:cBhvr>
                                        <p:cTn id="359" dur="500"/>
                                        <p:tgtEl>
                                          <p:spTgt spid="2416777"/>
                                        </p:tgtEl>
                                      </p:cBhvr>
                                    </p:animEffect>
                                  </p:childTnLst>
                                </p:cTn>
                              </p:par>
                              <p:par>
                                <p:cTn id="360" presetID="9" presetClass="entr" presetSubtype="0" fill="hold" nodeType="withEffect">
                                  <p:stCondLst>
                                    <p:cond delay="0"/>
                                  </p:stCondLst>
                                  <p:childTnLst>
                                    <p:set>
                                      <p:cBhvr>
                                        <p:cTn id="361" dur="1" fill="hold">
                                          <p:stCondLst>
                                            <p:cond delay="0"/>
                                          </p:stCondLst>
                                        </p:cTn>
                                        <p:tgtEl>
                                          <p:spTgt spid="2416778"/>
                                        </p:tgtEl>
                                        <p:attrNameLst>
                                          <p:attrName>style.visibility</p:attrName>
                                        </p:attrNameLst>
                                      </p:cBhvr>
                                      <p:to>
                                        <p:strVal val="visible"/>
                                      </p:to>
                                    </p:set>
                                    <p:animEffect transition="in" filter="dissolve">
                                      <p:cBhvr>
                                        <p:cTn id="362" dur="500"/>
                                        <p:tgtEl>
                                          <p:spTgt spid="2416778"/>
                                        </p:tgtEl>
                                      </p:cBhvr>
                                    </p:animEffect>
                                  </p:childTnLst>
                                </p:cTn>
                              </p:par>
                              <p:par>
                                <p:cTn id="363" presetID="9" presetClass="entr" presetSubtype="0" fill="hold" nodeType="withEffect">
                                  <p:stCondLst>
                                    <p:cond delay="0"/>
                                  </p:stCondLst>
                                  <p:childTnLst>
                                    <p:set>
                                      <p:cBhvr>
                                        <p:cTn id="364" dur="1" fill="hold">
                                          <p:stCondLst>
                                            <p:cond delay="0"/>
                                          </p:stCondLst>
                                        </p:cTn>
                                        <p:tgtEl>
                                          <p:spTgt spid="2416779"/>
                                        </p:tgtEl>
                                        <p:attrNameLst>
                                          <p:attrName>style.visibility</p:attrName>
                                        </p:attrNameLst>
                                      </p:cBhvr>
                                      <p:to>
                                        <p:strVal val="visible"/>
                                      </p:to>
                                    </p:set>
                                    <p:animEffect transition="in" filter="dissolve">
                                      <p:cBhvr>
                                        <p:cTn id="365" dur="500"/>
                                        <p:tgtEl>
                                          <p:spTgt spid="2416779"/>
                                        </p:tgtEl>
                                      </p:cBhvr>
                                    </p:animEffect>
                                  </p:childTnLst>
                                </p:cTn>
                              </p:par>
                              <p:par>
                                <p:cTn id="366" presetID="9" presetClass="entr" presetSubtype="0" fill="hold" nodeType="withEffect">
                                  <p:stCondLst>
                                    <p:cond delay="0"/>
                                  </p:stCondLst>
                                  <p:childTnLst>
                                    <p:set>
                                      <p:cBhvr>
                                        <p:cTn id="367" dur="1" fill="hold">
                                          <p:stCondLst>
                                            <p:cond delay="0"/>
                                          </p:stCondLst>
                                        </p:cTn>
                                        <p:tgtEl>
                                          <p:spTgt spid="2416780"/>
                                        </p:tgtEl>
                                        <p:attrNameLst>
                                          <p:attrName>style.visibility</p:attrName>
                                        </p:attrNameLst>
                                      </p:cBhvr>
                                      <p:to>
                                        <p:strVal val="visible"/>
                                      </p:to>
                                    </p:set>
                                    <p:animEffect transition="in" filter="dissolve">
                                      <p:cBhvr>
                                        <p:cTn id="368" dur="500"/>
                                        <p:tgtEl>
                                          <p:spTgt spid="2416780"/>
                                        </p:tgtEl>
                                      </p:cBhvr>
                                    </p:animEffect>
                                  </p:childTnLst>
                                </p:cTn>
                              </p:par>
                              <p:par>
                                <p:cTn id="369" presetID="9" presetClass="entr" presetSubtype="0" fill="hold" nodeType="withEffect">
                                  <p:stCondLst>
                                    <p:cond delay="0"/>
                                  </p:stCondLst>
                                  <p:childTnLst>
                                    <p:set>
                                      <p:cBhvr>
                                        <p:cTn id="370" dur="1" fill="hold">
                                          <p:stCondLst>
                                            <p:cond delay="0"/>
                                          </p:stCondLst>
                                        </p:cTn>
                                        <p:tgtEl>
                                          <p:spTgt spid="2416781"/>
                                        </p:tgtEl>
                                        <p:attrNameLst>
                                          <p:attrName>style.visibility</p:attrName>
                                        </p:attrNameLst>
                                      </p:cBhvr>
                                      <p:to>
                                        <p:strVal val="visible"/>
                                      </p:to>
                                    </p:set>
                                    <p:animEffect transition="in" filter="dissolve">
                                      <p:cBhvr>
                                        <p:cTn id="371" dur="500"/>
                                        <p:tgtEl>
                                          <p:spTgt spid="2416781"/>
                                        </p:tgtEl>
                                      </p:cBhvr>
                                    </p:animEffect>
                                  </p:childTnLst>
                                </p:cTn>
                              </p:par>
                              <p:par>
                                <p:cTn id="372" presetID="9" presetClass="entr" presetSubtype="0" fill="hold" nodeType="withEffect">
                                  <p:stCondLst>
                                    <p:cond delay="0"/>
                                  </p:stCondLst>
                                  <p:childTnLst>
                                    <p:set>
                                      <p:cBhvr>
                                        <p:cTn id="373" dur="1" fill="hold">
                                          <p:stCondLst>
                                            <p:cond delay="0"/>
                                          </p:stCondLst>
                                        </p:cTn>
                                        <p:tgtEl>
                                          <p:spTgt spid="2416782"/>
                                        </p:tgtEl>
                                        <p:attrNameLst>
                                          <p:attrName>style.visibility</p:attrName>
                                        </p:attrNameLst>
                                      </p:cBhvr>
                                      <p:to>
                                        <p:strVal val="visible"/>
                                      </p:to>
                                    </p:set>
                                    <p:animEffect transition="in" filter="dissolve">
                                      <p:cBhvr>
                                        <p:cTn id="374" dur="500"/>
                                        <p:tgtEl>
                                          <p:spTgt spid="2416782"/>
                                        </p:tgtEl>
                                      </p:cBhvr>
                                    </p:animEffect>
                                  </p:childTnLst>
                                </p:cTn>
                              </p:par>
                              <p:par>
                                <p:cTn id="375" presetID="9" presetClass="entr" presetSubtype="0" fill="hold" nodeType="withEffect">
                                  <p:stCondLst>
                                    <p:cond delay="0"/>
                                  </p:stCondLst>
                                  <p:childTnLst>
                                    <p:set>
                                      <p:cBhvr>
                                        <p:cTn id="376" dur="1" fill="hold">
                                          <p:stCondLst>
                                            <p:cond delay="0"/>
                                          </p:stCondLst>
                                        </p:cTn>
                                        <p:tgtEl>
                                          <p:spTgt spid="2416783"/>
                                        </p:tgtEl>
                                        <p:attrNameLst>
                                          <p:attrName>style.visibility</p:attrName>
                                        </p:attrNameLst>
                                      </p:cBhvr>
                                      <p:to>
                                        <p:strVal val="visible"/>
                                      </p:to>
                                    </p:set>
                                    <p:animEffect transition="in" filter="dissolve">
                                      <p:cBhvr>
                                        <p:cTn id="377" dur="500"/>
                                        <p:tgtEl>
                                          <p:spTgt spid="2416783"/>
                                        </p:tgtEl>
                                      </p:cBhvr>
                                    </p:animEffect>
                                  </p:childTnLst>
                                </p:cTn>
                              </p:par>
                              <p:par>
                                <p:cTn id="378" presetID="9" presetClass="entr" presetSubtype="0" fill="hold" nodeType="withEffect">
                                  <p:stCondLst>
                                    <p:cond delay="0"/>
                                  </p:stCondLst>
                                  <p:childTnLst>
                                    <p:set>
                                      <p:cBhvr>
                                        <p:cTn id="379" dur="1" fill="hold">
                                          <p:stCondLst>
                                            <p:cond delay="0"/>
                                          </p:stCondLst>
                                        </p:cTn>
                                        <p:tgtEl>
                                          <p:spTgt spid="2416784"/>
                                        </p:tgtEl>
                                        <p:attrNameLst>
                                          <p:attrName>style.visibility</p:attrName>
                                        </p:attrNameLst>
                                      </p:cBhvr>
                                      <p:to>
                                        <p:strVal val="visible"/>
                                      </p:to>
                                    </p:set>
                                    <p:animEffect transition="in" filter="dissolve">
                                      <p:cBhvr>
                                        <p:cTn id="380" dur="500"/>
                                        <p:tgtEl>
                                          <p:spTgt spid="2416784"/>
                                        </p:tgtEl>
                                      </p:cBhvr>
                                    </p:animEffect>
                                  </p:childTnLst>
                                </p:cTn>
                              </p:par>
                              <p:par>
                                <p:cTn id="381" presetID="9" presetClass="entr" presetSubtype="0" fill="hold" nodeType="withEffect">
                                  <p:stCondLst>
                                    <p:cond delay="0"/>
                                  </p:stCondLst>
                                  <p:childTnLst>
                                    <p:set>
                                      <p:cBhvr>
                                        <p:cTn id="382" dur="1" fill="hold">
                                          <p:stCondLst>
                                            <p:cond delay="0"/>
                                          </p:stCondLst>
                                        </p:cTn>
                                        <p:tgtEl>
                                          <p:spTgt spid="2416785"/>
                                        </p:tgtEl>
                                        <p:attrNameLst>
                                          <p:attrName>style.visibility</p:attrName>
                                        </p:attrNameLst>
                                      </p:cBhvr>
                                      <p:to>
                                        <p:strVal val="visible"/>
                                      </p:to>
                                    </p:set>
                                    <p:animEffect transition="in" filter="dissolve">
                                      <p:cBhvr>
                                        <p:cTn id="383" dur="500"/>
                                        <p:tgtEl>
                                          <p:spTgt spid="2416785"/>
                                        </p:tgtEl>
                                      </p:cBhvr>
                                    </p:animEffect>
                                  </p:childTnLst>
                                </p:cTn>
                              </p:par>
                              <p:par>
                                <p:cTn id="384" presetID="9" presetClass="entr" presetSubtype="0" fill="hold" nodeType="withEffect">
                                  <p:stCondLst>
                                    <p:cond delay="0"/>
                                  </p:stCondLst>
                                  <p:childTnLst>
                                    <p:set>
                                      <p:cBhvr>
                                        <p:cTn id="385" dur="1" fill="hold">
                                          <p:stCondLst>
                                            <p:cond delay="0"/>
                                          </p:stCondLst>
                                        </p:cTn>
                                        <p:tgtEl>
                                          <p:spTgt spid="2416786"/>
                                        </p:tgtEl>
                                        <p:attrNameLst>
                                          <p:attrName>style.visibility</p:attrName>
                                        </p:attrNameLst>
                                      </p:cBhvr>
                                      <p:to>
                                        <p:strVal val="visible"/>
                                      </p:to>
                                    </p:set>
                                    <p:animEffect transition="in" filter="dissolve">
                                      <p:cBhvr>
                                        <p:cTn id="386" dur="500"/>
                                        <p:tgtEl>
                                          <p:spTgt spid="2416786"/>
                                        </p:tgtEl>
                                      </p:cBhvr>
                                    </p:animEffect>
                                  </p:childTnLst>
                                </p:cTn>
                              </p:par>
                              <p:par>
                                <p:cTn id="387" presetID="9" presetClass="entr" presetSubtype="0" fill="hold" nodeType="withEffect">
                                  <p:stCondLst>
                                    <p:cond delay="0"/>
                                  </p:stCondLst>
                                  <p:childTnLst>
                                    <p:set>
                                      <p:cBhvr>
                                        <p:cTn id="388" dur="1" fill="hold">
                                          <p:stCondLst>
                                            <p:cond delay="0"/>
                                          </p:stCondLst>
                                        </p:cTn>
                                        <p:tgtEl>
                                          <p:spTgt spid="2416787"/>
                                        </p:tgtEl>
                                        <p:attrNameLst>
                                          <p:attrName>style.visibility</p:attrName>
                                        </p:attrNameLst>
                                      </p:cBhvr>
                                      <p:to>
                                        <p:strVal val="visible"/>
                                      </p:to>
                                    </p:set>
                                    <p:animEffect transition="in" filter="dissolve">
                                      <p:cBhvr>
                                        <p:cTn id="389" dur="500"/>
                                        <p:tgtEl>
                                          <p:spTgt spid="2416787"/>
                                        </p:tgtEl>
                                      </p:cBhvr>
                                    </p:animEffect>
                                  </p:childTnLst>
                                </p:cTn>
                              </p:par>
                              <p:par>
                                <p:cTn id="390" presetID="9" presetClass="entr" presetSubtype="0" fill="hold" nodeType="withEffect">
                                  <p:stCondLst>
                                    <p:cond delay="0"/>
                                  </p:stCondLst>
                                  <p:childTnLst>
                                    <p:set>
                                      <p:cBhvr>
                                        <p:cTn id="391" dur="1" fill="hold">
                                          <p:stCondLst>
                                            <p:cond delay="0"/>
                                          </p:stCondLst>
                                        </p:cTn>
                                        <p:tgtEl>
                                          <p:spTgt spid="2416788"/>
                                        </p:tgtEl>
                                        <p:attrNameLst>
                                          <p:attrName>style.visibility</p:attrName>
                                        </p:attrNameLst>
                                      </p:cBhvr>
                                      <p:to>
                                        <p:strVal val="visible"/>
                                      </p:to>
                                    </p:set>
                                    <p:animEffect transition="in" filter="dissolve">
                                      <p:cBhvr>
                                        <p:cTn id="392" dur="500"/>
                                        <p:tgtEl>
                                          <p:spTgt spid="2416788"/>
                                        </p:tgtEl>
                                      </p:cBhvr>
                                    </p:animEffect>
                                  </p:childTnLst>
                                </p:cTn>
                              </p:par>
                              <p:par>
                                <p:cTn id="393" presetID="9" presetClass="entr" presetSubtype="0" fill="hold" nodeType="withEffect">
                                  <p:stCondLst>
                                    <p:cond delay="0"/>
                                  </p:stCondLst>
                                  <p:childTnLst>
                                    <p:set>
                                      <p:cBhvr>
                                        <p:cTn id="394" dur="1" fill="hold">
                                          <p:stCondLst>
                                            <p:cond delay="0"/>
                                          </p:stCondLst>
                                        </p:cTn>
                                        <p:tgtEl>
                                          <p:spTgt spid="2416789"/>
                                        </p:tgtEl>
                                        <p:attrNameLst>
                                          <p:attrName>style.visibility</p:attrName>
                                        </p:attrNameLst>
                                      </p:cBhvr>
                                      <p:to>
                                        <p:strVal val="visible"/>
                                      </p:to>
                                    </p:set>
                                    <p:animEffect transition="in" filter="dissolve">
                                      <p:cBhvr>
                                        <p:cTn id="395" dur="500"/>
                                        <p:tgtEl>
                                          <p:spTgt spid="2416789"/>
                                        </p:tgtEl>
                                      </p:cBhvr>
                                    </p:animEffect>
                                  </p:childTnLst>
                                </p:cTn>
                              </p:par>
                              <p:par>
                                <p:cTn id="396" presetID="9" presetClass="entr" presetSubtype="0" fill="hold" nodeType="withEffect">
                                  <p:stCondLst>
                                    <p:cond delay="0"/>
                                  </p:stCondLst>
                                  <p:childTnLst>
                                    <p:set>
                                      <p:cBhvr>
                                        <p:cTn id="397" dur="1" fill="hold">
                                          <p:stCondLst>
                                            <p:cond delay="0"/>
                                          </p:stCondLst>
                                        </p:cTn>
                                        <p:tgtEl>
                                          <p:spTgt spid="2416790"/>
                                        </p:tgtEl>
                                        <p:attrNameLst>
                                          <p:attrName>style.visibility</p:attrName>
                                        </p:attrNameLst>
                                      </p:cBhvr>
                                      <p:to>
                                        <p:strVal val="visible"/>
                                      </p:to>
                                    </p:set>
                                    <p:animEffect transition="in" filter="dissolve">
                                      <p:cBhvr>
                                        <p:cTn id="398" dur="500"/>
                                        <p:tgtEl>
                                          <p:spTgt spid="2416790"/>
                                        </p:tgtEl>
                                      </p:cBhvr>
                                    </p:animEffect>
                                  </p:childTnLst>
                                </p:cTn>
                              </p:par>
                              <p:par>
                                <p:cTn id="399" presetID="9" presetClass="entr" presetSubtype="0" fill="hold" nodeType="withEffect">
                                  <p:stCondLst>
                                    <p:cond delay="0"/>
                                  </p:stCondLst>
                                  <p:childTnLst>
                                    <p:set>
                                      <p:cBhvr>
                                        <p:cTn id="400" dur="1" fill="hold">
                                          <p:stCondLst>
                                            <p:cond delay="0"/>
                                          </p:stCondLst>
                                        </p:cTn>
                                        <p:tgtEl>
                                          <p:spTgt spid="2416791"/>
                                        </p:tgtEl>
                                        <p:attrNameLst>
                                          <p:attrName>style.visibility</p:attrName>
                                        </p:attrNameLst>
                                      </p:cBhvr>
                                      <p:to>
                                        <p:strVal val="visible"/>
                                      </p:to>
                                    </p:set>
                                    <p:animEffect transition="in" filter="dissolve">
                                      <p:cBhvr>
                                        <p:cTn id="401" dur="500"/>
                                        <p:tgtEl>
                                          <p:spTgt spid="2416791"/>
                                        </p:tgtEl>
                                      </p:cBhvr>
                                    </p:animEffect>
                                  </p:childTnLst>
                                </p:cTn>
                              </p:par>
                              <p:par>
                                <p:cTn id="402" presetID="9" presetClass="entr" presetSubtype="0" fill="hold" nodeType="withEffect">
                                  <p:stCondLst>
                                    <p:cond delay="0"/>
                                  </p:stCondLst>
                                  <p:childTnLst>
                                    <p:set>
                                      <p:cBhvr>
                                        <p:cTn id="403" dur="1" fill="hold">
                                          <p:stCondLst>
                                            <p:cond delay="0"/>
                                          </p:stCondLst>
                                        </p:cTn>
                                        <p:tgtEl>
                                          <p:spTgt spid="2416792"/>
                                        </p:tgtEl>
                                        <p:attrNameLst>
                                          <p:attrName>style.visibility</p:attrName>
                                        </p:attrNameLst>
                                      </p:cBhvr>
                                      <p:to>
                                        <p:strVal val="visible"/>
                                      </p:to>
                                    </p:set>
                                    <p:animEffect transition="in" filter="dissolve">
                                      <p:cBhvr>
                                        <p:cTn id="404" dur="500"/>
                                        <p:tgtEl>
                                          <p:spTgt spid="2416792"/>
                                        </p:tgtEl>
                                      </p:cBhvr>
                                    </p:animEffect>
                                  </p:childTnLst>
                                </p:cTn>
                              </p:par>
                              <p:par>
                                <p:cTn id="405" presetID="9" presetClass="entr" presetSubtype="0" fill="hold" nodeType="withEffect">
                                  <p:stCondLst>
                                    <p:cond delay="0"/>
                                  </p:stCondLst>
                                  <p:childTnLst>
                                    <p:set>
                                      <p:cBhvr>
                                        <p:cTn id="406" dur="1" fill="hold">
                                          <p:stCondLst>
                                            <p:cond delay="0"/>
                                          </p:stCondLst>
                                        </p:cTn>
                                        <p:tgtEl>
                                          <p:spTgt spid="2416793"/>
                                        </p:tgtEl>
                                        <p:attrNameLst>
                                          <p:attrName>style.visibility</p:attrName>
                                        </p:attrNameLst>
                                      </p:cBhvr>
                                      <p:to>
                                        <p:strVal val="visible"/>
                                      </p:to>
                                    </p:set>
                                    <p:animEffect transition="in" filter="dissolve">
                                      <p:cBhvr>
                                        <p:cTn id="407" dur="500"/>
                                        <p:tgtEl>
                                          <p:spTgt spid="2416793"/>
                                        </p:tgtEl>
                                      </p:cBhvr>
                                    </p:animEffect>
                                  </p:childTnLst>
                                </p:cTn>
                              </p:par>
                              <p:par>
                                <p:cTn id="408" presetID="9" presetClass="entr" presetSubtype="0" fill="hold" nodeType="withEffect">
                                  <p:stCondLst>
                                    <p:cond delay="0"/>
                                  </p:stCondLst>
                                  <p:childTnLst>
                                    <p:set>
                                      <p:cBhvr>
                                        <p:cTn id="409" dur="1" fill="hold">
                                          <p:stCondLst>
                                            <p:cond delay="0"/>
                                          </p:stCondLst>
                                        </p:cTn>
                                        <p:tgtEl>
                                          <p:spTgt spid="2416794"/>
                                        </p:tgtEl>
                                        <p:attrNameLst>
                                          <p:attrName>style.visibility</p:attrName>
                                        </p:attrNameLst>
                                      </p:cBhvr>
                                      <p:to>
                                        <p:strVal val="visible"/>
                                      </p:to>
                                    </p:set>
                                    <p:animEffect transition="in" filter="dissolve">
                                      <p:cBhvr>
                                        <p:cTn id="410" dur="500"/>
                                        <p:tgtEl>
                                          <p:spTgt spid="2416794"/>
                                        </p:tgtEl>
                                      </p:cBhvr>
                                    </p:animEffect>
                                  </p:childTnLst>
                                </p:cTn>
                              </p:par>
                              <p:par>
                                <p:cTn id="411" presetID="9" presetClass="entr" presetSubtype="0" fill="hold" nodeType="withEffect">
                                  <p:stCondLst>
                                    <p:cond delay="0"/>
                                  </p:stCondLst>
                                  <p:childTnLst>
                                    <p:set>
                                      <p:cBhvr>
                                        <p:cTn id="412" dur="1" fill="hold">
                                          <p:stCondLst>
                                            <p:cond delay="0"/>
                                          </p:stCondLst>
                                        </p:cTn>
                                        <p:tgtEl>
                                          <p:spTgt spid="2416795"/>
                                        </p:tgtEl>
                                        <p:attrNameLst>
                                          <p:attrName>style.visibility</p:attrName>
                                        </p:attrNameLst>
                                      </p:cBhvr>
                                      <p:to>
                                        <p:strVal val="visible"/>
                                      </p:to>
                                    </p:set>
                                    <p:animEffect transition="in" filter="dissolve">
                                      <p:cBhvr>
                                        <p:cTn id="413" dur="500"/>
                                        <p:tgtEl>
                                          <p:spTgt spid="2416795"/>
                                        </p:tgtEl>
                                      </p:cBhvr>
                                    </p:animEffect>
                                  </p:childTnLst>
                                </p:cTn>
                              </p:par>
                              <p:par>
                                <p:cTn id="414" presetID="9" presetClass="entr" presetSubtype="0" fill="hold" nodeType="withEffect">
                                  <p:stCondLst>
                                    <p:cond delay="0"/>
                                  </p:stCondLst>
                                  <p:childTnLst>
                                    <p:set>
                                      <p:cBhvr>
                                        <p:cTn id="415" dur="1" fill="hold">
                                          <p:stCondLst>
                                            <p:cond delay="0"/>
                                          </p:stCondLst>
                                        </p:cTn>
                                        <p:tgtEl>
                                          <p:spTgt spid="2416796"/>
                                        </p:tgtEl>
                                        <p:attrNameLst>
                                          <p:attrName>style.visibility</p:attrName>
                                        </p:attrNameLst>
                                      </p:cBhvr>
                                      <p:to>
                                        <p:strVal val="visible"/>
                                      </p:to>
                                    </p:set>
                                    <p:animEffect transition="in" filter="dissolve">
                                      <p:cBhvr>
                                        <p:cTn id="416" dur="500"/>
                                        <p:tgtEl>
                                          <p:spTgt spid="2416796"/>
                                        </p:tgtEl>
                                      </p:cBhvr>
                                    </p:animEffect>
                                  </p:childTnLst>
                                </p:cTn>
                              </p:par>
                              <p:par>
                                <p:cTn id="417" presetID="9" presetClass="entr" presetSubtype="0" fill="hold" nodeType="withEffect">
                                  <p:stCondLst>
                                    <p:cond delay="0"/>
                                  </p:stCondLst>
                                  <p:childTnLst>
                                    <p:set>
                                      <p:cBhvr>
                                        <p:cTn id="418" dur="1" fill="hold">
                                          <p:stCondLst>
                                            <p:cond delay="0"/>
                                          </p:stCondLst>
                                        </p:cTn>
                                        <p:tgtEl>
                                          <p:spTgt spid="2416797"/>
                                        </p:tgtEl>
                                        <p:attrNameLst>
                                          <p:attrName>style.visibility</p:attrName>
                                        </p:attrNameLst>
                                      </p:cBhvr>
                                      <p:to>
                                        <p:strVal val="visible"/>
                                      </p:to>
                                    </p:set>
                                    <p:animEffect transition="in" filter="dissolve">
                                      <p:cBhvr>
                                        <p:cTn id="419" dur="500"/>
                                        <p:tgtEl>
                                          <p:spTgt spid="2416797"/>
                                        </p:tgtEl>
                                      </p:cBhvr>
                                    </p:animEffect>
                                  </p:childTnLst>
                                </p:cTn>
                              </p:par>
                              <p:par>
                                <p:cTn id="420" presetID="9" presetClass="entr" presetSubtype="0" fill="hold" nodeType="withEffect">
                                  <p:stCondLst>
                                    <p:cond delay="0"/>
                                  </p:stCondLst>
                                  <p:childTnLst>
                                    <p:set>
                                      <p:cBhvr>
                                        <p:cTn id="421" dur="1" fill="hold">
                                          <p:stCondLst>
                                            <p:cond delay="0"/>
                                          </p:stCondLst>
                                        </p:cTn>
                                        <p:tgtEl>
                                          <p:spTgt spid="2416798"/>
                                        </p:tgtEl>
                                        <p:attrNameLst>
                                          <p:attrName>style.visibility</p:attrName>
                                        </p:attrNameLst>
                                      </p:cBhvr>
                                      <p:to>
                                        <p:strVal val="visible"/>
                                      </p:to>
                                    </p:set>
                                    <p:animEffect transition="in" filter="dissolve">
                                      <p:cBhvr>
                                        <p:cTn id="422" dur="500"/>
                                        <p:tgtEl>
                                          <p:spTgt spid="2416798"/>
                                        </p:tgtEl>
                                      </p:cBhvr>
                                    </p:animEffect>
                                  </p:childTnLst>
                                </p:cTn>
                              </p:par>
                              <p:par>
                                <p:cTn id="423" presetID="9" presetClass="entr" presetSubtype="0" fill="hold" nodeType="withEffect">
                                  <p:stCondLst>
                                    <p:cond delay="0"/>
                                  </p:stCondLst>
                                  <p:childTnLst>
                                    <p:set>
                                      <p:cBhvr>
                                        <p:cTn id="424" dur="1" fill="hold">
                                          <p:stCondLst>
                                            <p:cond delay="0"/>
                                          </p:stCondLst>
                                        </p:cTn>
                                        <p:tgtEl>
                                          <p:spTgt spid="2416799"/>
                                        </p:tgtEl>
                                        <p:attrNameLst>
                                          <p:attrName>style.visibility</p:attrName>
                                        </p:attrNameLst>
                                      </p:cBhvr>
                                      <p:to>
                                        <p:strVal val="visible"/>
                                      </p:to>
                                    </p:set>
                                    <p:animEffect transition="in" filter="dissolve">
                                      <p:cBhvr>
                                        <p:cTn id="425" dur="500"/>
                                        <p:tgtEl>
                                          <p:spTgt spid="2416799"/>
                                        </p:tgtEl>
                                      </p:cBhvr>
                                    </p:animEffect>
                                  </p:childTnLst>
                                </p:cTn>
                              </p:par>
                              <p:par>
                                <p:cTn id="426" presetID="9" presetClass="entr" presetSubtype="0" fill="hold" nodeType="withEffect">
                                  <p:stCondLst>
                                    <p:cond delay="0"/>
                                  </p:stCondLst>
                                  <p:childTnLst>
                                    <p:set>
                                      <p:cBhvr>
                                        <p:cTn id="427" dur="1" fill="hold">
                                          <p:stCondLst>
                                            <p:cond delay="0"/>
                                          </p:stCondLst>
                                        </p:cTn>
                                        <p:tgtEl>
                                          <p:spTgt spid="2416800"/>
                                        </p:tgtEl>
                                        <p:attrNameLst>
                                          <p:attrName>style.visibility</p:attrName>
                                        </p:attrNameLst>
                                      </p:cBhvr>
                                      <p:to>
                                        <p:strVal val="visible"/>
                                      </p:to>
                                    </p:set>
                                    <p:animEffect transition="in" filter="dissolve">
                                      <p:cBhvr>
                                        <p:cTn id="428" dur="500"/>
                                        <p:tgtEl>
                                          <p:spTgt spid="2416800"/>
                                        </p:tgtEl>
                                      </p:cBhvr>
                                    </p:animEffect>
                                  </p:childTnLst>
                                </p:cTn>
                              </p:par>
                              <p:par>
                                <p:cTn id="429" presetID="9" presetClass="entr" presetSubtype="0" fill="hold" nodeType="withEffect">
                                  <p:stCondLst>
                                    <p:cond delay="0"/>
                                  </p:stCondLst>
                                  <p:childTnLst>
                                    <p:set>
                                      <p:cBhvr>
                                        <p:cTn id="430" dur="1" fill="hold">
                                          <p:stCondLst>
                                            <p:cond delay="0"/>
                                          </p:stCondLst>
                                        </p:cTn>
                                        <p:tgtEl>
                                          <p:spTgt spid="2416801"/>
                                        </p:tgtEl>
                                        <p:attrNameLst>
                                          <p:attrName>style.visibility</p:attrName>
                                        </p:attrNameLst>
                                      </p:cBhvr>
                                      <p:to>
                                        <p:strVal val="visible"/>
                                      </p:to>
                                    </p:set>
                                    <p:animEffect transition="in" filter="dissolve">
                                      <p:cBhvr>
                                        <p:cTn id="431" dur="500"/>
                                        <p:tgtEl>
                                          <p:spTgt spid="2416801"/>
                                        </p:tgtEl>
                                      </p:cBhvr>
                                    </p:animEffect>
                                  </p:childTnLst>
                                </p:cTn>
                              </p:par>
                              <p:par>
                                <p:cTn id="432" presetID="9" presetClass="entr" presetSubtype="0" fill="hold" nodeType="withEffect">
                                  <p:stCondLst>
                                    <p:cond delay="0"/>
                                  </p:stCondLst>
                                  <p:childTnLst>
                                    <p:set>
                                      <p:cBhvr>
                                        <p:cTn id="433" dur="1" fill="hold">
                                          <p:stCondLst>
                                            <p:cond delay="0"/>
                                          </p:stCondLst>
                                        </p:cTn>
                                        <p:tgtEl>
                                          <p:spTgt spid="2416802"/>
                                        </p:tgtEl>
                                        <p:attrNameLst>
                                          <p:attrName>style.visibility</p:attrName>
                                        </p:attrNameLst>
                                      </p:cBhvr>
                                      <p:to>
                                        <p:strVal val="visible"/>
                                      </p:to>
                                    </p:set>
                                    <p:animEffect transition="in" filter="dissolve">
                                      <p:cBhvr>
                                        <p:cTn id="434" dur="500"/>
                                        <p:tgtEl>
                                          <p:spTgt spid="2416802"/>
                                        </p:tgtEl>
                                      </p:cBhvr>
                                    </p:animEffect>
                                  </p:childTnLst>
                                </p:cTn>
                              </p:par>
                              <p:par>
                                <p:cTn id="435" presetID="9" presetClass="entr" presetSubtype="0" fill="hold" nodeType="withEffect">
                                  <p:stCondLst>
                                    <p:cond delay="0"/>
                                  </p:stCondLst>
                                  <p:childTnLst>
                                    <p:set>
                                      <p:cBhvr>
                                        <p:cTn id="436" dur="1" fill="hold">
                                          <p:stCondLst>
                                            <p:cond delay="0"/>
                                          </p:stCondLst>
                                        </p:cTn>
                                        <p:tgtEl>
                                          <p:spTgt spid="2416803"/>
                                        </p:tgtEl>
                                        <p:attrNameLst>
                                          <p:attrName>style.visibility</p:attrName>
                                        </p:attrNameLst>
                                      </p:cBhvr>
                                      <p:to>
                                        <p:strVal val="visible"/>
                                      </p:to>
                                    </p:set>
                                    <p:animEffect transition="in" filter="dissolve">
                                      <p:cBhvr>
                                        <p:cTn id="437" dur="500"/>
                                        <p:tgtEl>
                                          <p:spTgt spid="2416803"/>
                                        </p:tgtEl>
                                      </p:cBhvr>
                                    </p:animEffect>
                                  </p:childTnLst>
                                </p:cTn>
                              </p:par>
                              <p:par>
                                <p:cTn id="438" presetID="9" presetClass="entr" presetSubtype="0" fill="hold" nodeType="withEffect">
                                  <p:stCondLst>
                                    <p:cond delay="0"/>
                                  </p:stCondLst>
                                  <p:childTnLst>
                                    <p:set>
                                      <p:cBhvr>
                                        <p:cTn id="439" dur="1" fill="hold">
                                          <p:stCondLst>
                                            <p:cond delay="0"/>
                                          </p:stCondLst>
                                        </p:cTn>
                                        <p:tgtEl>
                                          <p:spTgt spid="2416804"/>
                                        </p:tgtEl>
                                        <p:attrNameLst>
                                          <p:attrName>style.visibility</p:attrName>
                                        </p:attrNameLst>
                                      </p:cBhvr>
                                      <p:to>
                                        <p:strVal val="visible"/>
                                      </p:to>
                                    </p:set>
                                    <p:animEffect transition="in" filter="dissolve">
                                      <p:cBhvr>
                                        <p:cTn id="440" dur="500"/>
                                        <p:tgtEl>
                                          <p:spTgt spid="2416804"/>
                                        </p:tgtEl>
                                      </p:cBhvr>
                                    </p:animEffect>
                                  </p:childTnLst>
                                </p:cTn>
                              </p:par>
                              <p:par>
                                <p:cTn id="441" presetID="9" presetClass="entr" presetSubtype="0" fill="hold" nodeType="withEffect">
                                  <p:stCondLst>
                                    <p:cond delay="0"/>
                                  </p:stCondLst>
                                  <p:childTnLst>
                                    <p:set>
                                      <p:cBhvr>
                                        <p:cTn id="442" dur="1" fill="hold">
                                          <p:stCondLst>
                                            <p:cond delay="0"/>
                                          </p:stCondLst>
                                        </p:cTn>
                                        <p:tgtEl>
                                          <p:spTgt spid="2416805"/>
                                        </p:tgtEl>
                                        <p:attrNameLst>
                                          <p:attrName>style.visibility</p:attrName>
                                        </p:attrNameLst>
                                      </p:cBhvr>
                                      <p:to>
                                        <p:strVal val="visible"/>
                                      </p:to>
                                    </p:set>
                                    <p:animEffect transition="in" filter="dissolve">
                                      <p:cBhvr>
                                        <p:cTn id="443" dur="500"/>
                                        <p:tgtEl>
                                          <p:spTgt spid="2416805"/>
                                        </p:tgtEl>
                                      </p:cBhvr>
                                    </p:animEffect>
                                  </p:childTnLst>
                                </p:cTn>
                              </p:par>
                              <p:par>
                                <p:cTn id="444" presetID="9" presetClass="entr" presetSubtype="0" fill="hold" nodeType="withEffect">
                                  <p:stCondLst>
                                    <p:cond delay="0"/>
                                  </p:stCondLst>
                                  <p:childTnLst>
                                    <p:set>
                                      <p:cBhvr>
                                        <p:cTn id="445" dur="1" fill="hold">
                                          <p:stCondLst>
                                            <p:cond delay="0"/>
                                          </p:stCondLst>
                                        </p:cTn>
                                        <p:tgtEl>
                                          <p:spTgt spid="2416806"/>
                                        </p:tgtEl>
                                        <p:attrNameLst>
                                          <p:attrName>style.visibility</p:attrName>
                                        </p:attrNameLst>
                                      </p:cBhvr>
                                      <p:to>
                                        <p:strVal val="visible"/>
                                      </p:to>
                                    </p:set>
                                    <p:animEffect transition="in" filter="dissolve">
                                      <p:cBhvr>
                                        <p:cTn id="446" dur="500"/>
                                        <p:tgtEl>
                                          <p:spTgt spid="2416806"/>
                                        </p:tgtEl>
                                      </p:cBhvr>
                                    </p:animEffect>
                                  </p:childTnLst>
                                </p:cTn>
                              </p:par>
                              <p:par>
                                <p:cTn id="447" presetID="9" presetClass="entr" presetSubtype="0" fill="hold" nodeType="withEffect">
                                  <p:stCondLst>
                                    <p:cond delay="0"/>
                                  </p:stCondLst>
                                  <p:childTnLst>
                                    <p:set>
                                      <p:cBhvr>
                                        <p:cTn id="448" dur="1" fill="hold">
                                          <p:stCondLst>
                                            <p:cond delay="0"/>
                                          </p:stCondLst>
                                        </p:cTn>
                                        <p:tgtEl>
                                          <p:spTgt spid="2416807"/>
                                        </p:tgtEl>
                                        <p:attrNameLst>
                                          <p:attrName>style.visibility</p:attrName>
                                        </p:attrNameLst>
                                      </p:cBhvr>
                                      <p:to>
                                        <p:strVal val="visible"/>
                                      </p:to>
                                    </p:set>
                                    <p:animEffect transition="in" filter="dissolve">
                                      <p:cBhvr>
                                        <p:cTn id="449" dur="500"/>
                                        <p:tgtEl>
                                          <p:spTgt spid="2416807"/>
                                        </p:tgtEl>
                                      </p:cBhvr>
                                    </p:animEffect>
                                  </p:childTnLst>
                                </p:cTn>
                              </p:par>
                              <p:par>
                                <p:cTn id="450" presetID="9" presetClass="entr" presetSubtype="0" fill="hold" nodeType="withEffect">
                                  <p:stCondLst>
                                    <p:cond delay="0"/>
                                  </p:stCondLst>
                                  <p:childTnLst>
                                    <p:set>
                                      <p:cBhvr>
                                        <p:cTn id="451" dur="1" fill="hold">
                                          <p:stCondLst>
                                            <p:cond delay="0"/>
                                          </p:stCondLst>
                                        </p:cTn>
                                        <p:tgtEl>
                                          <p:spTgt spid="2416808"/>
                                        </p:tgtEl>
                                        <p:attrNameLst>
                                          <p:attrName>style.visibility</p:attrName>
                                        </p:attrNameLst>
                                      </p:cBhvr>
                                      <p:to>
                                        <p:strVal val="visible"/>
                                      </p:to>
                                    </p:set>
                                    <p:animEffect transition="in" filter="dissolve">
                                      <p:cBhvr>
                                        <p:cTn id="452" dur="500"/>
                                        <p:tgtEl>
                                          <p:spTgt spid="2416808"/>
                                        </p:tgtEl>
                                      </p:cBhvr>
                                    </p:animEffect>
                                  </p:childTnLst>
                                </p:cTn>
                              </p:par>
                              <p:par>
                                <p:cTn id="453" presetID="9" presetClass="entr" presetSubtype="0" fill="hold" nodeType="withEffect">
                                  <p:stCondLst>
                                    <p:cond delay="0"/>
                                  </p:stCondLst>
                                  <p:childTnLst>
                                    <p:set>
                                      <p:cBhvr>
                                        <p:cTn id="454" dur="1" fill="hold">
                                          <p:stCondLst>
                                            <p:cond delay="0"/>
                                          </p:stCondLst>
                                        </p:cTn>
                                        <p:tgtEl>
                                          <p:spTgt spid="2416809"/>
                                        </p:tgtEl>
                                        <p:attrNameLst>
                                          <p:attrName>style.visibility</p:attrName>
                                        </p:attrNameLst>
                                      </p:cBhvr>
                                      <p:to>
                                        <p:strVal val="visible"/>
                                      </p:to>
                                    </p:set>
                                    <p:animEffect transition="in" filter="dissolve">
                                      <p:cBhvr>
                                        <p:cTn id="455" dur="500"/>
                                        <p:tgtEl>
                                          <p:spTgt spid="2416809"/>
                                        </p:tgtEl>
                                      </p:cBhvr>
                                    </p:animEffect>
                                  </p:childTnLst>
                                </p:cTn>
                              </p:par>
                              <p:par>
                                <p:cTn id="456" presetID="9" presetClass="entr" presetSubtype="0" fill="hold" nodeType="withEffect">
                                  <p:stCondLst>
                                    <p:cond delay="0"/>
                                  </p:stCondLst>
                                  <p:childTnLst>
                                    <p:set>
                                      <p:cBhvr>
                                        <p:cTn id="457" dur="1" fill="hold">
                                          <p:stCondLst>
                                            <p:cond delay="0"/>
                                          </p:stCondLst>
                                        </p:cTn>
                                        <p:tgtEl>
                                          <p:spTgt spid="2416810"/>
                                        </p:tgtEl>
                                        <p:attrNameLst>
                                          <p:attrName>style.visibility</p:attrName>
                                        </p:attrNameLst>
                                      </p:cBhvr>
                                      <p:to>
                                        <p:strVal val="visible"/>
                                      </p:to>
                                    </p:set>
                                    <p:animEffect transition="in" filter="dissolve">
                                      <p:cBhvr>
                                        <p:cTn id="458" dur="500"/>
                                        <p:tgtEl>
                                          <p:spTgt spid="2416810"/>
                                        </p:tgtEl>
                                      </p:cBhvr>
                                    </p:animEffect>
                                  </p:childTnLst>
                                </p:cTn>
                              </p:par>
                              <p:par>
                                <p:cTn id="459" presetID="9" presetClass="entr" presetSubtype="0" fill="hold" nodeType="withEffect">
                                  <p:stCondLst>
                                    <p:cond delay="0"/>
                                  </p:stCondLst>
                                  <p:childTnLst>
                                    <p:set>
                                      <p:cBhvr>
                                        <p:cTn id="460" dur="1" fill="hold">
                                          <p:stCondLst>
                                            <p:cond delay="0"/>
                                          </p:stCondLst>
                                        </p:cTn>
                                        <p:tgtEl>
                                          <p:spTgt spid="2416811"/>
                                        </p:tgtEl>
                                        <p:attrNameLst>
                                          <p:attrName>style.visibility</p:attrName>
                                        </p:attrNameLst>
                                      </p:cBhvr>
                                      <p:to>
                                        <p:strVal val="visible"/>
                                      </p:to>
                                    </p:set>
                                    <p:animEffect transition="in" filter="dissolve">
                                      <p:cBhvr>
                                        <p:cTn id="461" dur="500"/>
                                        <p:tgtEl>
                                          <p:spTgt spid="2416811"/>
                                        </p:tgtEl>
                                      </p:cBhvr>
                                    </p:animEffect>
                                  </p:childTnLst>
                                </p:cTn>
                              </p:par>
                            </p:childTnLst>
                          </p:cTn>
                        </p:par>
                      </p:childTnLst>
                    </p:cTn>
                  </p:par>
                  <p:par>
                    <p:cTn id="462" fill="hold">
                      <p:stCondLst>
                        <p:cond delay="indefinite"/>
                      </p:stCondLst>
                      <p:childTnLst>
                        <p:par>
                          <p:cTn id="463" fill="hold">
                            <p:stCondLst>
                              <p:cond delay="0"/>
                            </p:stCondLst>
                            <p:childTnLst>
                              <p:par>
                                <p:cTn id="464" presetID="9" presetClass="entr" presetSubtype="0" fill="hold" nodeType="clickEffect">
                                  <p:stCondLst>
                                    <p:cond delay="0"/>
                                  </p:stCondLst>
                                  <p:childTnLst>
                                    <p:set>
                                      <p:cBhvr>
                                        <p:cTn id="465" dur="1" fill="hold">
                                          <p:stCondLst>
                                            <p:cond delay="0"/>
                                          </p:stCondLst>
                                        </p:cTn>
                                        <p:tgtEl>
                                          <p:spTgt spid="2416825"/>
                                        </p:tgtEl>
                                        <p:attrNameLst>
                                          <p:attrName>style.visibility</p:attrName>
                                        </p:attrNameLst>
                                      </p:cBhvr>
                                      <p:to>
                                        <p:strVal val="visible"/>
                                      </p:to>
                                    </p:set>
                                    <p:animEffect transition="in" filter="dissolve">
                                      <p:cBhvr>
                                        <p:cTn id="466" dur="500"/>
                                        <p:tgtEl>
                                          <p:spTgt spid="2416825"/>
                                        </p:tgtEl>
                                      </p:cBhvr>
                                    </p:animEffect>
                                  </p:childTnLst>
                                </p:cTn>
                              </p:par>
                            </p:childTnLst>
                          </p:cTn>
                        </p:par>
                      </p:childTnLst>
                    </p:cTn>
                  </p:par>
                  <p:par>
                    <p:cTn id="467" fill="hold">
                      <p:stCondLst>
                        <p:cond delay="indefinite"/>
                      </p:stCondLst>
                      <p:childTnLst>
                        <p:par>
                          <p:cTn id="468" fill="hold">
                            <p:stCondLst>
                              <p:cond delay="0"/>
                            </p:stCondLst>
                            <p:childTnLst>
                              <p:par>
                                <p:cTn id="469" presetID="9" presetClass="entr" presetSubtype="0" fill="hold" nodeType="clickEffect">
                                  <p:stCondLst>
                                    <p:cond delay="0"/>
                                  </p:stCondLst>
                                  <p:childTnLst>
                                    <p:set>
                                      <p:cBhvr>
                                        <p:cTn id="470" dur="1" fill="hold">
                                          <p:stCondLst>
                                            <p:cond delay="0"/>
                                          </p:stCondLst>
                                        </p:cTn>
                                        <p:tgtEl>
                                          <p:spTgt spid="2416816"/>
                                        </p:tgtEl>
                                        <p:attrNameLst>
                                          <p:attrName>style.visibility</p:attrName>
                                        </p:attrNameLst>
                                      </p:cBhvr>
                                      <p:to>
                                        <p:strVal val="visible"/>
                                      </p:to>
                                    </p:set>
                                    <p:animEffect transition="in" filter="dissolve">
                                      <p:cBhvr>
                                        <p:cTn id="471" dur="500"/>
                                        <p:tgtEl>
                                          <p:spTgt spid="2416816"/>
                                        </p:tgtEl>
                                      </p:cBhvr>
                                    </p:animEffect>
                                  </p:childTnLst>
                                </p:cTn>
                              </p:par>
                            </p:childTnLst>
                          </p:cTn>
                        </p:par>
                      </p:childTnLst>
                    </p:cTn>
                  </p:par>
                  <p:par>
                    <p:cTn id="472" fill="hold">
                      <p:stCondLst>
                        <p:cond delay="indefinite"/>
                      </p:stCondLst>
                      <p:childTnLst>
                        <p:par>
                          <p:cTn id="473" fill="hold">
                            <p:stCondLst>
                              <p:cond delay="0"/>
                            </p:stCondLst>
                            <p:childTnLst>
                              <p:par>
                                <p:cTn id="474" presetID="9" presetClass="entr" presetSubtype="0" fill="hold" nodeType="clickEffect">
                                  <p:stCondLst>
                                    <p:cond delay="0"/>
                                  </p:stCondLst>
                                  <p:childTnLst>
                                    <p:set>
                                      <p:cBhvr>
                                        <p:cTn id="475" dur="1" fill="hold">
                                          <p:stCondLst>
                                            <p:cond delay="0"/>
                                          </p:stCondLst>
                                        </p:cTn>
                                        <p:tgtEl>
                                          <p:spTgt spid="2416819"/>
                                        </p:tgtEl>
                                        <p:attrNameLst>
                                          <p:attrName>style.visibility</p:attrName>
                                        </p:attrNameLst>
                                      </p:cBhvr>
                                      <p:to>
                                        <p:strVal val="visible"/>
                                      </p:to>
                                    </p:set>
                                    <p:animEffect transition="in" filter="dissolve">
                                      <p:cBhvr>
                                        <p:cTn id="476" dur="500"/>
                                        <p:tgtEl>
                                          <p:spTgt spid="2416819"/>
                                        </p:tgtEl>
                                      </p:cBhvr>
                                    </p:animEffect>
                                  </p:childTnLst>
                                </p:cTn>
                              </p:par>
                            </p:childTnLst>
                          </p:cTn>
                        </p:par>
                      </p:childTnLst>
                    </p:cTn>
                  </p:par>
                  <p:par>
                    <p:cTn id="477" fill="hold">
                      <p:stCondLst>
                        <p:cond delay="indefinite"/>
                      </p:stCondLst>
                      <p:childTnLst>
                        <p:par>
                          <p:cTn id="478" fill="hold">
                            <p:stCondLst>
                              <p:cond delay="0"/>
                            </p:stCondLst>
                            <p:childTnLst>
                              <p:par>
                                <p:cTn id="479" presetID="9" presetClass="entr" presetSubtype="0" fill="hold" nodeType="clickEffect">
                                  <p:stCondLst>
                                    <p:cond delay="0"/>
                                  </p:stCondLst>
                                  <p:childTnLst>
                                    <p:set>
                                      <p:cBhvr>
                                        <p:cTn id="480" dur="1" fill="hold">
                                          <p:stCondLst>
                                            <p:cond delay="0"/>
                                          </p:stCondLst>
                                        </p:cTn>
                                        <p:tgtEl>
                                          <p:spTgt spid="2416822"/>
                                        </p:tgtEl>
                                        <p:attrNameLst>
                                          <p:attrName>style.visibility</p:attrName>
                                        </p:attrNameLst>
                                      </p:cBhvr>
                                      <p:to>
                                        <p:strVal val="visible"/>
                                      </p:to>
                                    </p:set>
                                    <p:animEffect transition="in" filter="dissolve">
                                      <p:cBhvr>
                                        <p:cTn id="481" dur="500"/>
                                        <p:tgtEl>
                                          <p:spTgt spid="2416822"/>
                                        </p:tgtEl>
                                      </p:cBhvr>
                                    </p:animEffect>
                                  </p:childTnLst>
                                </p:cTn>
                              </p:par>
                            </p:childTnLst>
                          </p:cTn>
                        </p:par>
                      </p:childTnLst>
                    </p:cTn>
                  </p:par>
                  <p:par>
                    <p:cTn id="482" fill="hold">
                      <p:stCondLst>
                        <p:cond delay="indefinite"/>
                      </p:stCondLst>
                      <p:childTnLst>
                        <p:par>
                          <p:cTn id="483" fill="hold">
                            <p:stCondLst>
                              <p:cond delay="0"/>
                            </p:stCondLst>
                            <p:childTnLst>
                              <p:par>
                                <p:cTn id="484" presetID="9" presetClass="entr" presetSubtype="0" fill="hold" nodeType="clickEffect">
                                  <p:stCondLst>
                                    <p:cond delay="0"/>
                                  </p:stCondLst>
                                  <p:childTnLst>
                                    <p:set>
                                      <p:cBhvr>
                                        <p:cTn id="485" dur="1" fill="hold">
                                          <p:stCondLst>
                                            <p:cond delay="0"/>
                                          </p:stCondLst>
                                        </p:cTn>
                                        <p:tgtEl>
                                          <p:spTgt spid="2416814"/>
                                        </p:tgtEl>
                                        <p:attrNameLst>
                                          <p:attrName>style.visibility</p:attrName>
                                        </p:attrNameLst>
                                      </p:cBhvr>
                                      <p:to>
                                        <p:strVal val="visible"/>
                                      </p:to>
                                    </p:set>
                                    <p:animEffect transition="in" filter="dissolve">
                                      <p:cBhvr>
                                        <p:cTn id="486" dur="500"/>
                                        <p:tgtEl>
                                          <p:spTgt spid="2416814"/>
                                        </p:tgtEl>
                                      </p:cBhvr>
                                    </p:animEffect>
                                  </p:childTnLst>
                                </p:cTn>
                              </p:par>
                            </p:childTnLst>
                          </p:cTn>
                        </p:par>
                      </p:childTnLst>
                    </p:cTn>
                  </p:par>
                  <p:par>
                    <p:cTn id="487" fill="hold">
                      <p:stCondLst>
                        <p:cond delay="indefinite"/>
                      </p:stCondLst>
                      <p:childTnLst>
                        <p:par>
                          <p:cTn id="488" fill="hold">
                            <p:stCondLst>
                              <p:cond delay="0"/>
                            </p:stCondLst>
                            <p:childTnLst>
                              <p:par>
                                <p:cTn id="489" presetID="9" presetClass="entr" presetSubtype="0" fill="hold" nodeType="clickEffect">
                                  <p:stCondLst>
                                    <p:cond delay="0"/>
                                  </p:stCondLst>
                                  <p:childTnLst>
                                    <p:set>
                                      <p:cBhvr>
                                        <p:cTn id="490" dur="1" fill="hold">
                                          <p:stCondLst>
                                            <p:cond delay="0"/>
                                          </p:stCondLst>
                                        </p:cTn>
                                        <p:tgtEl>
                                          <p:spTgt spid="2416826"/>
                                        </p:tgtEl>
                                        <p:attrNameLst>
                                          <p:attrName>style.visibility</p:attrName>
                                        </p:attrNameLst>
                                      </p:cBhvr>
                                      <p:to>
                                        <p:strVal val="visible"/>
                                      </p:to>
                                    </p:set>
                                    <p:animEffect transition="in" filter="dissolve">
                                      <p:cBhvr>
                                        <p:cTn id="491" dur="500"/>
                                        <p:tgtEl>
                                          <p:spTgt spid="24168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6825" grpId="0" animBg="1"/>
      <p:bldP spid="2416812" grpId="0" animBg="1"/>
      <p:bldP spid="2416651" grpId="0" animBg="1"/>
      <p:bldP spid="2416656" grpId="0" animBg="1"/>
      <p:bldP spid="2416660" grpId="0"/>
      <p:bldP spid="2416661" grpId="0"/>
      <p:bldP spid="2416662" grpId="0"/>
      <p:bldP spid="2416663" grpId="0"/>
      <p:bldP spid="2416665" grpId="0"/>
      <p:bldP spid="2416666" grpId="0"/>
      <p:bldP spid="2416667" grpId="0"/>
      <p:bldP spid="2416668" grpId="0"/>
      <p:bldP spid="2416669" grpId="0"/>
      <p:bldP spid="2416670" grpId="0"/>
      <p:bldP spid="2416673" grpId="0"/>
      <p:bldP spid="2416681" grpId="0" animBg="1"/>
      <p:bldP spid="2416682" grpId="0"/>
      <p:bldP spid="2416683" grpId="0"/>
      <p:bldP spid="2416684" grpId="0"/>
      <p:bldP spid="2416685" grpId="0"/>
      <p:bldP spid="2416687" grpId="0"/>
      <p:bldP spid="2416688" grpId="0"/>
      <p:bldP spid="2416689" grpId="0"/>
      <p:bldP spid="2416690" grpId="0"/>
      <p:bldP spid="2416691" grpId="0"/>
      <p:bldP spid="2416692" grpId="0"/>
      <p:bldP spid="2416695" grpId="0"/>
      <p:bldP spid="2416702" grpId="0" animBg="1"/>
      <p:bldP spid="2416703" grpId="0"/>
      <p:bldP spid="2416704" grpId="0"/>
      <p:bldP spid="2416705" grpId="0"/>
      <p:bldP spid="2416706" grpId="0"/>
      <p:bldP spid="2416708" grpId="0"/>
      <p:bldP spid="2416709" grpId="0"/>
      <p:bldP spid="2416710" grpId="0"/>
      <p:bldP spid="2416711" grpId="0"/>
      <p:bldP spid="2416712" grpId="0"/>
      <p:bldP spid="2416713" grpId="0"/>
      <p:bldP spid="2416716" grpId="0"/>
      <p:bldP spid="2416723" grpId="0" animBg="1"/>
      <p:bldP spid="2416724" grpId="0"/>
      <p:bldP spid="2416725" grpId="0"/>
      <p:bldP spid="2416726" grpId="0"/>
      <p:bldP spid="2416727" grpId="0"/>
      <p:bldP spid="2416729" grpId="0"/>
      <p:bldP spid="2416730" grpId="0"/>
      <p:bldP spid="2416731" grpId="0"/>
      <p:bldP spid="2416732" grpId="0"/>
      <p:bldP spid="2416733" grpId="0"/>
      <p:bldP spid="2416734" grpId="0"/>
      <p:bldP spid="2416737" grpId="0"/>
      <p:bldP spid="2416745" grpId="0" animBg="1"/>
      <p:bldP spid="2416746" grpId="0"/>
      <p:bldP spid="2416747" grpId="0"/>
      <p:bldP spid="2416749" grpId="0"/>
      <p:bldP spid="2416750" grpId="0" animBg="1"/>
      <p:bldP spid="2416751" grpId="0"/>
      <p:bldP spid="2416752" grpId="0"/>
      <p:bldP spid="2416755" grpId="0" animBg="1"/>
      <p:bldP spid="2416756" grpId="0"/>
      <p:bldP spid="2416757" grpId="0"/>
      <p:bldP spid="2416758" grpId="0" animBg="1"/>
      <p:bldP spid="2416759" grpId="0"/>
      <p:bldP spid="2416760" grpId="0"/>
      <p:bldP spid="2416761" grpId="0" animBg="1"/>
      <p:bldP spid="2416762" grpId="0"/>
      <p:bldP spid="2416763" grpId="0"/>
      <p:bldP spid="2416773" grpId="0" animBg="1"/>
      <p:bldP spid="2416775" grpId="0" animBg="1"/>
      <p:bldP spid="2416776" grpId="0" animBg="1"/>
      <p:bldP spid="2416777" grpId="0" animBg="1"/>
      <p:bldP spid="2416788" grpId="0"/>
      <p:bldP spid="2416789" grpId="0"/>
      <p:bldP spid="2416790" grpId="0"/>
      <p:bldP spid="2416791" grpId="0"/>
      <p:bldP spid="2416792" grpId="0"/>
      <p:bldP spid="2416793" grpId="0"/>
      <p:bldP spid="2416794" grpId="0"/>
      <p:bldP spid="2416795" grpId="0" animBg="1"/>
      <p:bldP spid="2416796" grpId="0" animBg="1"/>
      <p:bldP spid="2416797" grpId="0" animBg="1"/>
      <p:bldP spid="2416798" grpId="0" animBg="1"/>
      <p:bldP spid="2416799" grpId="0" animBg="1"/>
      <p:bldP spid="2416800" grpId="0" animBg="1"/>
      <p:bldP spid="2416801" grpId="0" animBg="1"/>
      <p:bldP spid="2416802" grpId="0" animBg="1"/>
      <p:bldP spid="2416803" grpId="0" animBg="1"/>
      <p:bldP spid="2416804" grpId="0" animBg="1"/>
      <p:bldP spid="2416805" grpId="0" animBg="1"/>
      <p:bldP spid="2416806" grpId="0" animBg="1"/>
      <p:bldP spid="2416807" grpId="0" animBg="1"/>
      <p:bldP spid="2416808" grpId="0" animBg="1"/>
      <p:bldP spid="2416809" grpId="0" animBg="1"/>
      <p:bldP spid="2416810" grpId="0" animBg="1"/>
      <p:bldP spid="2416811" grpId="0" animBg="1"/>
      <p:bldP spid="2416813" grpId="0" animBg="1"/>
      <p:bldP spid="2416826"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1764" name="Text Box 4"/>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62467" name="Text Box 6"/>
          <p:cNvSpPr txBox="1"/>
          <p:nvPr/>
        </p:nvSpPr>
        <p:spPr>
          <a:xfrm>
            <a:off x="358775" y="1525588"/>
            <a:ext cx="1223963" cy="585787"/>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例子</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62468" name="Text Box 155"/>
          <p:cNvSpPr txBox="1"/>
          <p:nvPr/>
        </p:nvSpPr>
        <p:spPr>
          <a:xfrm>
            <a:off x="2571750" y="1665288"/>
            <a:ext cx="4213225" cy="366712"/>
          </a:xfrm>
          <a:prstGeom prst="rect">
            <a:avLst/>
          </a:prstGeom>
          <a:solidFill>
            <a:srgbClr val="CCFFFF"/>
          </a:solid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32</a:t>
            </a:r>
            <a:r>
              <a:rPr lang="zh-CN" altLang="en-US" sz="2000" dirty="0">
                <a:solidFill>
                  <a:schemeClr val="tx1"/>
                </a:solidFill>
                <a:latin typeface="Times New Roman" panose="02020603050405020304" pitchFamily="18" charset="0"/>
              </a:rPr>
              <a:t>路单端输入时</a:t>
            </a:r>
            <a:r>
              <a:rPr lang="en-US" altLang="zh-CN" sz="2000" dirty="0">
                <a:solidFill>
                  <a:srgbClr val="FF0000"/>
                </a:solidFill>
                <a:latin typeface="Times New Roman" panose="02020603050405020304" pitchFamily="18" charset="0"/>
              </a:rPr>
              <a:t>CD4501</a:t>
            </a:r>
            <a:r>
              <a:rPr lang="zh-CN" altLang="en-US" sz="2000" dirty="0">
                <a:solidFill>
                  <a:schemeClr val="tx1"/>
                </a:solidFill>
                <a:latin typeface="Times New Roman" panose="02020603050405020304" pitchFamily="18" charset="0"/>
              </a:rPr>
              <a:t>的连接方法</a:t>
            </a:r>
            <a:endParaRPr lang="zh-CN" altLang="en-US" sz="2000" dirty="0">
              <a:solidFill>
                <a:schemeClr val="tx1"/>
              </a:solidFill>
              <a:latin typeface="Times New Roman" panose="02020603050405020304" pitchFamily="18" charset="0"/>
            </a:endParaRPr>
          </a:p>
        </p:txBody>
      </p:sp>
      <p:graphicFrame>
        <p:nvGraphicFramePr>
          <p:cNvPr id="2421965" name="Group 205"/>
          <p:cNvGraphicFramePr>
            <a:graphicFrameLocks noGrp="1"/>
          </p:cNvGraphicFramePr>
          <p:nvPr>
            <p:ph idx="4294967295"/>
          </p:nvPr>
        </p:nvGraphicFramePr>
        <p:xfrm>
          <a:off x="250825" y="2609850"/>
          <a:ext cx="8677275" cy="2651125"/>
        </p:xfrm>
        <a:graphic>
          <a:graphicData uri="http://schemas.openxmlformats.org/drawingml/2006/table">
            <a:tbl>
              <a:tblPr/>
              <a:tblGrid>
                <a:gridCol w="1084263"/>
                <a:gridCol w="1085850"/>
                <a:gridCol w="1084262"/>
                <a:gridCol w="1084263"/>
                <a:gridCol w="1084262"/>
                <a:gridCol w="1085850"/>
                <a:gridCol w="1084263"/>
                <a:gridCol w="1084262"/>
              </a:tblGrid>
              <a:tr h="639870">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E</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D</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INH</a:t>
                      </a:r>
                      <a:r>
                        <a:rPr kumimoji="0" lang="en-US" altLang="zh-CN" sz="1800" b="1" i="0" u="none" strike="noStrike" cap="none" normalizeH="0" baseline="-25000">
                          <a:ln>
                            <a:noFill/>
                          </a:ln>
                          <a:solidFill>
                            <a:schemeClr val="tx1"/>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2500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INH</a:t>
                      </a:r>
                      <a:r>
                        <a:rPr kumimoji="0" lang="en-US" altLang="zh-CN" sz="1800" b="1" i="0" u="none" strike="noStrike" cap="none" normalizeH="0" baseline="-25000">
                          <a:ln>
                            <a:noFill/>
                          </a:ln>
                          <a:solidFill>
                            <a:schemeClr val="tx1"/>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INH</a:t>
                      </a:r>
                      <a:r>
                        <a:rPr kumimoji="0" lang="en-US" altLang="zh-CN" sz="1800" b="1" i="0" u="none" strike="noStrike" cap="none" normalizeH="0" baseline="-25000">
                          <a:ln>
                            <a:noFill/>
                          </a:ln>
                          <a:solidFill>
                            <a:schemeClr val="tx1"/>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INH</a:t>
                      </a:r>
                      <a:r>
                        <a:rPr kumimoji="0" lang="en-US" altLang="zh-CN" sz="1800" b="1" i="0" u="none" strike="noStrike" cap="none" normalizeH="0" baseline="-25000">
                          <a:ln>
                            <a:noFill/>
                          </a:ln>
                          <a:solidFill>
                            <a:schemeClr val="tx1"/>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chemeClr val="tx1"/>
                          </a:solidFill>
                          <a:effectLst/>
                          <a:latin typeface="Arial" panose="020B0604020202020204" pitchFamily="34" charset="0"/>
                          <a:ea typeface="黑体" panose="02010609060101010101" pitchFamily="49" charset="-122"/>
                        </a:rPr>
                        <a:t>选中的片子</a:t>
                      </a:r>
                      <a:endParaRPr kumimoji="0" lang="zh-CN" altLang="en-US" sz="18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marT="45658" marB="4565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chemeClr val="tx1"/>
                          </a:solidFill>
                          <a:effectLst/>
                          <a:latin typeface="Arial" panose="020B0604020202020204" pitchFamily="34" charset="0"/>
                          <a:ea typeface="黑体" panose="02010609060101010101" pitchFamily="49" charset="-122"/>
                        </a:rPr>
                        <a:t>构成的通道</a:t>
                      </a:r>
                      <a:endParaRPr kumimoji="0" lang="zh-CN" altLang="en-US" sz="18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marT="45658" marB="4565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011255">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IC</a:t>
                      </a:r>
                      <a:r>
                        <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rPr>
                        <a:t>0</a:t>
                      </a:r>
                      <a:endPar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IC</a:t>
                      </a:r>
                      <a:r>
                        <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rPr>
                        <a:t>1</a:t>
                      </a:r>
                      <a:endPar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IC</a:t>
                      </a:r>
                      <a:r>
                        <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rPr>
                        <a:t>2</a:t>
                      </a:r>
                      <a:endPar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IC</a:t>
                      </a:r>
                      <a:r>
                        <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rPr>
                        <a:t>3</a:t>
                      </a:r>
                      <a:endPar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endParaRPr kumimoji="0" lang="en-US" altLang="zh-CN" sz="1800" b="1" i="0" u="none" strike="noStrike" cap="none" normalizeH="0" baseline="-2500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678180" rtl="0" eaLnBrk="1" fontAlgn="base" latinLnBrk="0" hangingPunct="1">
                        <a:lnSpc>
                          <a:spcPct val="15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0~7</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8~15</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16~23</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rPr>
                        <a:t>24~31</a:t>
                      </a:r>
                      <a:endParaRPr kumimoji="0" lang="en-US" altLang="zh-CN" sz="1800" b="1" i="0" u="none" strike="noStrike" cap="none" normalizeH="0" baseline="0">
                        <a:ln>
                          <a:noFill/>
                        </a:ln>
                        <a:solidFill>
                          <a:schemeClr val="accent2"/>
                        </a:solidFill>
                        <a:effectLst/>
                        <a:latin typeface="Arial" panose="020B0604020202020204" pitchFamily="34" charset="0"/>
                        <a:ea typeface="宋体" panose="02010600030101010101" pitchFamily="2" charset="-122"/>
                      </a:endParaRPr>
                    </a:p>
                  </a:txBody>
                  <a:tcPr marT="45658" marB="4565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21967" name="Text Box 207"/>
          <p:cNvSpPr txBox="1"/>
          <p:nvPr/>
        </p:nvSpPr>
        <p:spPr>
          <a:xfrm>
            <a:off x="2538413" y="5337175"/>
            <a:ext cx="4338637"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ea typeface="黑体" panose="02010609060101010101" pitchFamily="49" charset="-122"/>
              </a:rPr>
              <a:t>高位地址与禁止端的逻辑关系</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62499" name="Text Box 3"/>
          <p:cNvSpPr txBox="1"/>
          <p:nvPr/>
        </p:nvSpPr>
        <p:spPr>
          <a:xfrm>
            <a:off x="503238" y="728663"/>
            <a:ext cx="4175125"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3.6.1 </a:t>
            </a:r>
            <a:r>
              <a:rPr lang="zh-CN" altLang="en-US" sz="3200" dirty="0">
                <a:latin typeface="Times New Roman" panose="02020603050405020304" pitchFamily="18" charset="0"/>
              </a:rPr>
              <a:t>通道的扩展方法</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1965"/>
                                        </p:tgtEl>
                                        <p:attrNameLst>
                                          <p:attrName>style.visibility</p:attrName>
                                        </p:attrNameLst>
                                      </p:cBhvr>
                                      <p:to>
                                        <p:strVal val="visible"/>
                                      </p:to>
                                    </p:set>
                                    <p:animEffect transition="in" filter="dissolve">
                                      <p:cBhvr>
                                        <p:cTn id="7" dur="500"/>
                                        <p:tgtEl>
                                          <p:spTgt spid="2421965"/>
                                        </p:tgtEl>
                                      </p:cBhvr>
                                    </p:animEffect>
                                  </p:childTnLst>
                                </p:cTn>
                              </p:par>
                              <p:par>
                                <p:cTn id="8" presetID="9" presetClass="entr" presetSubtype="0" fill="hold" nodeType="withEffect">
                                  <p:stCondLst>
                                    <p:cond delay="0"/>
                                  </p:stCondLst>
                                  <p:childTnLst>
                                    <p:set>
                                      <p:cBhvr>
                                        <p:cTn id="9" dur="1" fill="hold">
                                          <p:stCondLst>
                                            <p:cond delay="0"/>
                                          </p:stCondLst>
                                        </p:cTn>
                                        <p:tgtEl>
                                          <p:spTgt spid="2421967"/>
                                        </p:tgtEl>
                                        <p:attrNameLst>
                                          <p:attrName>style.visibility</p:attrName>
                                        </p:attrNameLst>
                                      </p:cBhvr>
                                      <p:to>
                                        <p:strVal val="visible"/>
                                      </p:to>
                                    </p:set>
                                    <p:animEffect transition="in" filter="dissolve">
                                      <p:cBhvr>
                                        <p:cTn id="10" dur="500"/>
                                        <p:tgtEl>
                                          <p:spTgt spid="24219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1967"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3810"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3811" name="Text Box 3"/>
          <p:cNvSpPr txBox="1"/>
          <p:nvPr/>
        </p:nvSpPr>
        <p:spPr>
          <a:xfrm>
            <a:off x="503238" y="728663"/>
            <a:ext cx="741838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3.6.2 </a:t>
            </a:r>
            <a:r>
              <a:rPr lang="zh-CN" altLang="en-US" sz="3200" dirty="0">
                <a:latin typeface="Times New Roman" panose="02020603050405020304" pitchFamily="18" charset="0"/>
              </a:rPr>
              <a:t>组成增益可程控的电压运算放大器</a:t>
            </a:r>
            <a:endParaRPr lang="zh-CN" altLang="en-US" sz="3200" dirty="0">
              <a:latin typeface="Times New Roman" panose="02020603050405020304" pitchFamily="18" charset="0"/>
            </a:endParaRPr>
          </a:p>
        </p:txBody>
      </p:sp>
      <p:sp>
        <p:nvSpPr>
          <p:cNvPr id="2423875" name="Text Box 67"/>
          <p:cNvSpPr txBox="1"/>
          <p:nvPr/>
        </p:nvSpPr>
        <p:spPr>
          <a:xfrm>
            <a:off x="358775" y="1468438"/>
            <a:ext cx="1620838" cy="476250"/>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增益：</a:t>
            </a:r>
            <a:endParaRPr lang="zh-CN" altLang="en-US" sz="2800" dirty="0">
              <a:solidFill>
                <a:srgbClr val="FF0000"/>
              </a:solidFill>
              <a:latin typeface="Times New Roman" panose="02020603050405020304" pitchFamily="18" charset="0"/>
            </a:endParaRPr>
          </a:p>
        </p:txBody>
      </p:sp>
      <p:graphicFrame>
        <p:nvGraphicFramePr>
          <p:cNvPr id="2423876" name="Object 68"/>
          <p:cNvGraphicFramePr>
            <a:graphicFrameLocks noGrp="1" noChangeAspect="1"/>
          </p:cNvGraphicFramePr>
          <p:nvPr>
            <p:ph sz="half" idx="1"/>
          </p:nvPr>
        </p:nvGraphicFramePr>
        <p:xfrm>
          <a:off x="358775" y="2032000"/>
          <a:ext cx="3529013" cy="1042988"/>
        </p:xfrm>
        <a:graphic>
          <a:graphicData uri="http://schemas.openxmlformats.org/presentationml/2006/ole">
            <mc:AlternateContent xmlns:mc="http://schemas.openxmlformats.org/markup-compatibility/2006">
              <mc:Choice xmlns:v="urn:schemas-microsoft-com:vml" Requires="v">
                <p:oleObj spid="_x0000_s3091" name="" r:id="rId1" imgW="1459865" imgH="431800" progId="Equation.3">
                  <p:embed/>
                </p:oleObj>
              </mc:Choice>
              <mc:Fallback>
                <p:oleObj name="" r:id="rId1" imgW="1459865" imgH="431800" progId="Equation.3">
                  <p:embed/>
                  <p:pic>
                    <p:nvPicPr>
                      <p:cNvPr id="0" name="图片 3090"/>
                      <p:cNvPicPr/>
                      <p:nvPr/>
                    </p:nvPicPr>
                    <p:blipFill>
                      <a:blip r:embed="rId2"/>
                      <a:stretch>
                        <a:fillRect/>
                      </a:stretch>
                    </p:blipFill>
                    <p:spPr>
                      <a:xfrm>
                        <a:off x="358775" y="2032000"/>
                        <a:ext cx="3529013" cy="1042988"/>
                      </a:xfrm>
                      <a:prstGeom prst="rect">
                        <a:avLst/>
                      </a:prstGeom>
                      <a:solidFill>
                        <a:srgbClr val="CCFFFF"/>
                      </a:solidFill>
                      <a:ln w="38100">
                        <a:noFill/>
                        <a:miter/>
                      </a:ln>
                    </p:spPr>
                  </p:pic>
                </p:oleObj>
              </mc:Fallback>
            </mc:AlternateContent>
          </a:graphicData>
        </a:graphic>
      </p:graphicFrame>
      <p:sp>
        <p:nvSpPr>
          <p:cNvPr id="2423878" name="Text Box 70"/>
          <p:cNvSpPr txBox="1"/>
          <p:nvPr/>
        </p:nvSpPr>
        <p:spPr>
          <a:xfrm>
            <a:off x="358775" y="3271838"/>
            <a:ext cx="3529013" cy="860425"/>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运算放大器两输入端的等效电阻应相等：</a:t>
            </a:r>
            <a:endParaRPr lang="zh-CN" altLang="en-US" sz="2800" dirty="0">
              <a:solidFill>
                <a:srgbClr val="FF0000"/>
              </a:solidFill>
              <a:latin typeface="Times New Roman" panose="02020603050405020304" pitchFamily="18" charset="0"/>
            </a:endParaRPr>
          </a:p>
        </p:txBody>
      </p:sp>
      <p:graphicFrame>
        <p:nvGraphicFramePr>
          <p:cNvPr id="2423885" name="Object 77"/>
          <p:cNvGraphicFramePr>
            <a:graphicFrameLocks noGrp="1" noChangeAspect="1"/>
          </p:cNvGraphicFramePr>
          <p:nvPr>
            <p:ph sz="half" idx="2"/>
          </p:nvPr>
        </p:nvGraphicFramePr>
        <p:xfrm>
          <a:off x="996950" y="4184650"/>
          <a:ext cx="2206625" cy="628650"/>
        </p:xfrm>
        <a:graphic>
          <a:graphicData uri="http://schemas.openxmlformats.org/presentationml/2006/ole">
            <mc:AlternateContent xmlns:mc="http://schemas.openxmlformats.org/markup-compatibility/2006">
              <mc:Choice xmlns:v="urn:schemas-microsoft-com:vml" Requires="v">
                <p:oleObj spid="_x0000_s3090" name="" r:id="rId3" imgW="761365" imgH="228600" progId="Equation.3">
                  <p:embed/>
                </p:oleObj>
              </mc:Choice>
              <mc:Fallback>
                <p:oleObj name="" r:id="rId3" imgW="761365" imgH="228600" progId="Equation.3">
                  <p:embed/>
                  <p:pic>
                    <p:nvPicPr>
                      <p:cNvPr id="0" name="图片 3089"/>
                      <p:cNvPicPr/>
                      <p:nvPr/>
                    </p:nvPicPr>
                    <p:blipFill>
                      <a:blip r:embed="rId4"/>
                      <a:stretch>
                        <a:fillRect/>
                      </a:stretch>
                    </p:blipFill>
                    <p:spPr>
                      <a:xfrm>
                        <a:off x="996950" y="4184650"/>
                        <a:ext cx="2206625" cy="628650"/>
                      </a:xfrm>
                      <a:prstGeom prst="rect">
                        <a:avLst/>
                      </a:prstGeom>
                      <a:solidFill>
                        <a:srgbClr val="CCFFFF"/>
                      </a:solidFill>
                      <a:ln w="38100">
                        <a:noFill/>
                        <a:miter/>
                      </a:ln>
                    </p:spPr>
                  </p:pic>
                </p:oleObj>
              </mc:Fallback>
            </mc:AlternateContent>
          </a:graphicData>
        </a:graphic>
      </p:graphicFrame>
      <p:sp>
        <p:nvSpPr>
          <p:cNvPr id="2423888" name="Text Box 80"/>
          <p:cNvSpPr txBox="1"/>
          <p:nvPr/>
        </p:nvSpPr>
        <p:spPr>
          <a:xfrm>
            <a:off x="752475" y="5016500"/>
            <a:ext cx="7743825" cy="860425"/>
          </a:xfrm>
          <a:prstGeom prst="rect">
            <a:avLst/>
          </a:prstGeom>
          <a:solidFill>
            <a:srgbClr val="FFCC99"/>
          </a:solidFill>
          <a:ln w="9525">
            <a:noFill/>
          </a:ln>
        </p:spPr>
        <p:txBody>
          <a:bodyPr>
            <a:spAutoFit/>
          </a:bodyPr>
          <a:p>
            <a:pPr eaLnBrk="1" hangingPunct="1">
              <a:lnSpc>
                <a:spcPct val="90000"/>
              </a:lnSpc>
              <a:spcBef>
                <a:spcPct val="50000"/>
              </a:spcBef>
            </a:pPr>
            <a:r>
              <a:rPr lang="zh-CN" altLang="en-US" sz="2800" dirty="0">
                <a:solidFill>
                  <a:schemeClr val="accent2"/>
                </a:solidFill>
                <a:latin typeface="黑体" panose="02010609060101010101" pitchFamily="49" charset="-122"/>
                <a:ea typeface="黑体" panose="02010609060101010101" pitchFamily="49" charset="-122"/>
              </a:rPr>
              <a:t>为了实现运放增益的程控，只需程控</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baseline="-25000" dirty="0">
                <a:solidFill>
                  <a:srgbClr val="FF0000"/>
                </a:solidFill>
                <a:latin typeface="Times New Roman" panose="02020603050405020304" pitchFamily="18" charset="0"/>
                <a:ea typeface="黑体" panose="02010609060101010101" pitchFamily="49" charset="-122"/>
              </a:rPr>
              <a:t>1</a:t>
            </a:r>
            <a:r>
              <a:rPr lang="zh-CN" altLang="en-US" sz="2800" dirty="0">
                <a:solidFill>
                  <a:schemeClr val="accent2"/>
                </a:solidFill>
                <a:latin typeface="黑体" panose="02010609060101010101" pitchFamily="49" charset="-122"/>
                <a:ea typeface="黑体" panose="02010609060101010101" pitchFamily="49" charset="-122"/>
              </a:rPr>
              <a:t>或</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baseline="-25000" dirty="0">
                <a:solidFill>
                  <a:srgbClr val="FF0000"/>
                </a:solidFill>
                <a:latin typeface="Times New Roman" panose="02020603050405020304" pitchFamily="18" charset="0"/>
                <a:ea typeface="黑体" panose="02010609060101010101" pitchFamily="49" charset="-122"/>
              </a:rPr>
              <a:t>2</a:t>
            </a:r>
            <a:r>
              <a:rPr lang="zh-CN" altLang="en-US" sz="2800" dirty="0">
                <a:solidFill>
                  <a:schemeClr val="accent2"/>
                </a:solidFill>
                <a:latin typeface="黑体" panose="02010609060101010101" pitchFamily="49" charset="-122"/>
                <a:ea typeface="黑体" panose="02010609060101010101" pitchFamily="49" charset="-122"/>
              </a:rPr>
              <a:t>。同时也必须相应调节</a:t>
            </a:r>
            <a:r>
              <a:rPr lang="en-US" altLang="zh-CN" sz="2800" i="1" dirty="0">
                <a:solidFill>
                  <a:srgbClr val="FF0000"/>
                </a:solidFill>
                <a:latin typeface="Times New Roman" panose="02020603050405020304" pitchFamily="18" charset="0"/>
                <a:ea typeface="黑体" panose="02010609060101010101" pitchFamily="49" charset="-122"/>
              </a:rPr>
              <a:t>R</a:t>
            </a:r>
            <a:r>
              <a:rPr lang="en-US" altLang="zh-CN" sz="2800" baseline="-25000" dirty="0">
                <a:solidFill>
                  <a:srgbClr val="FF0000"/>
                </a:solidFill>
                <a:latin typeface="Times New Roman" panose="02020603050405020304" pitchFamily="18" charset="0"/>
                <a:ea typeface="黑体" panose="02010609060101010101" pitchFamily="49" charset="-122"/>
              </a:rPr>
              <a:t>3</a:t>
            </a:r>
            <a:r>
              <a:rPr lang="zh-CN" altLang="en-US" sz="2800" dirty="0">
                <a:solidFill>
                  <a:schemeClr val="accent2"/>
                </a:solidFill>
                <a:latin typeface="黑体" panose="02010609060101010101" pitchFamily="49" charset="-122"/>
                <a:ea typeface="黑体" panose="02010609060101010101" pitchFamily="49" charset="-122"/>
              </a:rPr>
              <a:t>的大小。</a:t>
            </a:r>
            <a:endParaRPr lang="zh-CN" altLang="en-US" sz="2800" dirty="0">
              <a:solidFill>
                <a:schemeClr val="accent2"/>
              </a:solidFill>
              <a:latin typeface="黑体" panose="02010609060101010101" pitchFamily="49" charset="-122"/>
              <a:ea typeface="黑体" panose="02010609060101010101" pitchFamily="49" charset="-122"/>
            </a:endParaRPr>
          </a:p>
        </p:txBody>
      </p:sp>
      <p:grpSp>
        <p:nvGrpSpPr>
          <p:cNvPr id="2423891" name="Group 83"/>
          <p:cNvGrpSpPr/>
          <p:nvPr/>
        </p:nvGrpSpPr>
        <p:grpSpPr>
          <a:xfrm>
            <a:off x="4176713" y="1989138"/>
            <a:ext cx="4792662" cy="2676525"/>
            <a:chOff x="2631" y="1253"/>
            <a:chExt cx="3019" cy="1686"/>
          </a:xfrm>
        </p:grpSpPr>
        <p:sp>
          <p:nvSpPr>
            <p:cNvPr id="63498" name="Rectangle 64"/>
            <p:cNvSpPr/>
            <p:nvPr/>
          </p:nvSpPr>
          <p:spPr>
            <a:xfrm>
              <a:off x="2631" y="1253"/>
              <a:ext cx="2926" cy="1686"/>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3499" name="AutoShape 37"/>
            <p:cNvSpPr/>
            <p:nvPr/>
          </p:nvSpPr>
          <p:spPr>
            <a:xfrm rot="5400000">
              <a:off x="4026" y="1748"/>
              <a:ext cx="726" cy="839"/>
            </a:xfrm>
            <a:prstGeom prst="flowChartExtra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00" name="Text Box 41"/>
            <p:cNvSpPr txBox="1"/>
            <p:nvPr/>
          </p:nvSpPr>
          <p:spPr>
            <a:xfrm>
              <a:off x="3948" y="2231"/>
              <a:ext cx="317" cy="265"/>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63501" name="Text Box 42"/>
            <p:cNvSpPr txBox="1"/>
            <p:nvPr/>
          </p:nvSpPr>
          <p:spPr>
            <a:xfrm>
              <a:off x="3965" y="1833"/>
              <a:ext cx="317" cy="265"/>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63502" name="Line 43"/>
            <p:cNvSpPr/>
            <p:nvPr/>
          </p:nvSpPr>
          <p:spPr>
            <a:xfrm flipH="1">
              <a:off x="3539" y="1987"/>
              <a:ext cx="426" cy="0"/>
            </a:xfrm>
            <a:prstGeom prst="line">
              <a:avLst/>
            </a:prstGeom>
            <a:ln w="12700" cap="flat" cmpd="sng">
              <a:solidFill>
                <a:schemeClr val="accent2"/>
              </a:solidFill>
              <a:prstDash val="solid"/>
              <a:headEnd type="none" w="med" len="med"/>
              <a:tailEnd type="none" w="med" len="med"/>
            </a:ln>
          </p:spPr>
        </p:sp>
        <p:sp>
          <p:nvSpPr>
            <p:cNvPr id="63503" name="Line 44"/>
            <p:cNvSpPr/>
            <p:nvPr/>
          </p:nvSpPr>
          <p:spPr>
            <a:xfrm flipH="1">
              <a:off x="3539" y="2364"/>
              <a:ext cx="426" cy="0"/>
            </a:xfrm>
            <a:prstGeom prst="line">
              <a:avLst/>
            </a:prstGeom>
            <a:ln w="12700" cap="flat" cmpd="sng">
              <a:solidFill>
                <a:schemeClr val="accent2"/>
              </a:solidFill>
              <a:prstDash val="solid"/>
              <a:headEnd type="none" w="med" len="med"/>
              <a:tailEnd type="none" w="med" len="med"/>
            </a:ln>
          </p:spPr>
        </p:sp>
        <p:sp>
          <p:nvSpPr>
            <p:cNvPr id="63504" name="Rectangle 45"/>
            <p:cNvSpPr/>
            <p:nvPr/>
          </p:nvSpPr>
          <p:spPr>
            <a:xfrm>
              <a:off x="3221" y="2327"/>
              <a:ext cx="318" cy="7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05" name="Rectangle 46"/>
            <p:cNvSpPr/>
            <p:nvPr/>
          </p:nvSpPr>
          <p:spPr>
            <a:xfrm>
              <a:off x="3221" y="1949"/>
              <a:ext cx="318" cy="7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06" name="Line 47"/>
            <p:cNvSpPr/>
            <p:nvPr/>
          </p:nvSpPr>
          <p:spPr>
            <a:xfrm flipH="1">
              <a:off x="2904" y="1987"/>
              <a:ext cx="317" cy="0"/>
            </a:xfrm>
            <a:prstGeom prst="line">
              <a:avLst/>
            </a:prstGeom>
            <a:ln w="12700" cap="flat" cmpd="sng">
              <a:solidFill>
                <a:schemeClr val="accent2"/>
              </a:solidFill>
              <a:prstDash val="solid"/>
              <a:headEnd type="none" w="med" len="med"/>
              <a:tailEnd type="none" w="med" len="med"/>
            </a:ln>
          </p:spPr>
        </p:sp>
        <p:sp>
          <p:nvSpPr>
            <p:cNvPr id="63507" name="Line 48"/>
            <p:cNvSpPr/>
            <p:nvPr/>
          </p:nvSpPr>
          <p:spPr>
            <a:xfrm>
              <a:off x="2904" y="1987"/>
              <a:ext cx="0" cy="136"/>
            </a:xfrm>
            <a:prstGeom prst="line">
              <a:avLst/>
            </a:prstGeom>
            <a:ln w="12700" cap="flat" cmpd="sng">
              <a:solidFill>
                <a:schemeClr val="accent2"/>
              </a:solidFill>
              <a:prstDash val="solid"/>
              <a:headEnd type="none" w="med" len="med"/>
              <a:tailEnd type="none" w="med" len="med"/>
            </a:ln>
          </p:spPr>
        </p:sp>
        <p:sp>
          <p:nvSpPr>
            <p:cNvPr id="63508" name="Line 49"/>
            <p:cNvSpPr/>
            <p:nvPr/>
          </p:nvSpPr>
          <p:spPr>
            <a:xfrm>
              <a:off x="2801" y="2123"/>
              <a:ext cx="204" cy="0"/>
            </a:xfrm>
            <a:prstGeom prst="line">
              <a:avLst/>
            </a:prstGeom>
            <a:ln w="12700" cap="flat" cmpd="sng">
              <a:solidFill>
                <a:schemeClr val="accent2"/>
              </a:solidFill>
              <a:prstDash val="solid"/>
              <a:headEnd type="none" w="med" len="med"/>
              <a:tailEnd type="none" w="med" len="med"/>
            </a:ln>
          </p:spPr>
        </p:sp>
        <p:sp>
          <p:nvSpPr>
            <p:cNvPr id="63509" name="Line 50"/>
            <p:cNvSpPr/>
            <p:nvPr/>
          </p:nvSpPr>
          <p:spPr>
            <a:xfrm flipH="1">
              <a:off x="2904" y="2363"/>
              <a:ext cx="317" cy="0"/>
            </a:xfrm>
            <a:prstGeom prst="line">
              <a:avLst/>
            </a:prstGeom>
            <a:ln w="12700" cap="flat" cmpd="sng">
              <a:solidFill>
                <a:schemeClr val="accent2"/>
              </a:solidFill>
              <a:prstDash val="solid"/>
              <a:headEnd type="none" w="med" len="med"/>
              <a:tailEnd type="none" w="med" len="med"/>
            </a:ln>
          </p:spPr>
        </p:sp>
        <p:sp>
          <p:nvSpPr>
            <p:cNvPr id="63510" name="Oval 51"/>
            <p:cNvSpPr>
              <a:spLocks noChangeAspect="1"/>
            </p:cNvSpPr>
            <p:nvPr/>
          </p:nvSpPr>
          <p:spPr>
            <a:xfrm>
              <a:off x="2857" y="2341"/>
              <a:ext cx="45" cy="45"/>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11" name="Rectangle 52"/>
            <p:cNvSpPr/>
            <p:nvPr/>
          </p:nvSpPr>
          <p:spPr>
            <a:xfrm>
              <a:off x="4173" y="1450"/>
              <a:ext cx="318" cy="7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12" name="Line 53"/>
            <p:cNvSpPr/>
            <p:nvPr/>
          </p:nvSpPr>
          <p:spPr>
            <a:xfrm flipH="1">
              <a:off x="3747" y="1488"/>
              <a:ext cx="426" cy="0"/>
            </a:xfrm>
            <a:prstGeom prst="line">
              <a:avLst/>
            </a:prstGeom>
            <a:ln w="12700" cap="flat" cmpd="sng">
              <a:solidFill>
                <a:schemeClr val="accent2"/>
              </a:solidFill>
              <a:prstDash val="solid"/>
              <a:headEnd type="none" w="med" len="med"/>
              <a:tailEnd type="none" w="med" len="med"/>
            </a:ln>
          </p:spPr>
        </p:sp>
        <p:sp>
          <p:nvSpPr>
            <p:cNvPr id="63513" name="Line 54"/>
            <p:cNvSpPr/>
            <p:nvPr/>
          </p:nvSpPr>
          <p:spPr>
            <a:xfrm>
              <a:off x="3747" y="1488"/>
              <a:ext cx="0" cy="499"/>
            </a:xfrm>
            <a:prstGeom prst="line">
              <a:avLst/>
            </a:prstGeom>
            <a:ln w="12700" cap="flat" cmpd="sng">
              <a:solidFill>
                <a:schemeClr val="accent2"/>
              </a:solidFill>
              <a:prstDash val="solid"/>
              <a:headEnd type="none" w="med" len="med"/>
              <a:tailEnd type="none" w="med" len="med"/>
            </a:ln>
          </p:spPr>
        </p:sp>
        <p:sp>
          <p:nvSpPr>
            <p:cNvPr id="63514" name="Line 55"/>
            <p:cNvSpPr/>
            <p:nvPr/>
          </p:nvSpPr>
          <p:spPr>
            <a:xfrm flipH="1">
              <a:off x="4809" y="2168"/>
              <a:ext cx="454" cy="0"/>
            </a:xfrm>
            <a:prstGeom prst="line">
              <a:avLst/>
            </a:prstGeom>
            <a:ln w="12700" cap="flat" cmpd="sng">
              <a:solidFill>
                <a:schemeClr val="accent2"/>
              </a:solidFill>
              <a:prstDash val="solid"/>
              <a:headEnd type="none" w="med" len="med"/>
              <a:tailEnd type="none" w="med" len="med"/>
            </a:ln>
          </p:spPr>
        </p:sp>
        <p:sp>
          <p:nvSpPr>
            <p:cNvPr id="63515" name="Line 56"/>
            <p:cNvSpPr/>
            <p:nvPr/>
          </p:nvSpPr>
          <p:spPr>
            <a:xfrm flipH="1">
              <a:off x="4491" y="1488"/>
              <a:ext cx="499" cy="0"/>
            </a:xfrm>
            <a:prstGeom prst="line">
              <a:avLst/>
            </a:prstGeom>
            <a:ln w="12700" cap="flat" cmpd="sng">
              <a:solidFill>
                <a:schemeClr val="accent2"/>
              </a:solidFill>
              <a:prstDash val="solid"/>
              <a:headEnd type="none" w="med" len="med"/>
              <a:tailEnd type="none" w="med" len="med"/>
            </a:ln>
          </p:spPr>
        </p:sp>
        <p:sp>
          <p:nvSpPr>
            <p:cNvPr id="63516" name="Line 57"/>
            <p:cNvSpPr/>
            <p:nvPr/>
          </p:nvSpPr>
          <p:spPr>
            <a:xfrm>
              <a:off x="4990" y="1488"/>
              <a:ext cx="0" cy="680"/>
            </a:xfrm>
            <a:prstGeom prst="line">
              <a:avLst/>
            </a:prstGeom>
            <a:ln w="12700" cap="flat" cmpd="sng">
              <a:solidFill>
                <a:schemeClr val="accent2"/>
              </a:solidFill>
              <a:prstDash val="solid"/>
              <a:headEnd type="none" w="med" len="med"/>
              <a:tailEnd type="none" w="med" len="med"/>
            </a:ln>
          </p:spPr>
        </p:sp>
        <p:sp>
          <p:nvSpPr>
            <p:cNvPr id="63517" name="Oval 58"/>
            <p:cNvSpPr>
              <a:spLocks noChangeAspect="1"/>
            </p:cNvSpPr>
            <p:nvPr/>
          </p:nvSpPr>
          <p:spPr>
            <a:xfrm>
              <a:off x="5263" y="2145"/>
              <a:ext cx="45" cy="45"/>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18" name="Text Box 59"/>
            <p:cNvSpPr txBox="1"/>
            <p:nvPr/>
          </p:nvSpPr>
          <p:spPr>
            <a:xfrm>
              <a:off x="5286" y="2069"/>
              <a:ext cx="36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O</a:t>
              </a:r>
              <a:endParaRPr lang="en-US" altLang="zh-CN" sz="1600" baseline="-25000" dirty="0">
                <a:solidFill>
                  <a:srgbClr val="FF0000"/>
                </a:solidFill>
                <a:latin typeface="Times New Roman" panose="02020603050405020304" pitchFamily="18" charset="0"/>
              </a:endParaRPr>
            </a:p>
          </p:txBody>
        </p:sp>
        <p:sp>
          <p:nvSpPr>
            <p:cNvPr id="63519" name="Text Box 60"/>
            <p:cNvSpPr txBox="1"/>
            <p:nvPr/>
          </p:nvSpPr>
          <p:spPr>
            <a:xfrm>
              <a:off x="2631" y="2259"/>
              <a:ext cx="36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i</a:t>
              </a:r>
              <a:endParaRPr lang="en-US" altLang="zh-CN" sz="1600" baseline="-25000" dirty="0">
                <a:solidFill>
                  <a:srgbClr val="FF0000"/>
                </a:solidFill>
                <a:latin typeface="Times New Roman" panose="02020603050405020304" pitchFamily="18" charset="0"/>
              </a:endParaRPr>
            </a:p>
          </p:txBody>
        </p:sp>
        <p:sp>
          <p:nvSpPr>
            <p:cNvPr id="63520" name="Text Box 61"/>
            <p:cNvSpPr txBox="1"/>
            <p:nvPr/>
          </p:nvSpPr>
          <p:spPr>
            <a:xfrm>
              <a:off x="4197" y="1253"/>
              <a:ext cx="36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63521" name="Text Box 62"/>
            <p:cNvSpPr txBox="1"/>
            <p:nvPr/>
          </p:nvSpPr>
          <p:spPr>
            <a:xfrm>
              <a:off x="3266" y="1744"/>
              <a:ext cx="36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63522" name="Text Box 63"/>
            <p:cNvSpPr txBox="1"/>
            <p:nvPr/>
          </p:nvSpPr>
          <p:spPr>
            <a:xfrm>
              <a:off x="3266" y="2123"/>
              <a:ext cx="36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63523" name="Text Box 65"/>
            <p:cNvSpPr txBox="1"/>
            <p:nvPr/>
          </p:nvSpPr>
          <p:spPr>
            <a:xfrm>
              <a:off x="3471" y="2674"/>
              <a:ext cx="1406" cy="265"/>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同向电压运放</a:t>
              </a:r>
              <a:endParaRPr lang="zh-CN" altLang="en-US" sz="2400" dirty="0">
                <a:latin typeface="Times New Roman" panose="02020603050405020304" pitchFamily="18" charset="0"/>
              </a:endParaRPr>
            </a:p>
          </p:txBody>
        </p:sp>
        <p:sp>
          <p:nvSpPr>
            <p:cNvPr id="63524" name="Oval 81"/>
            <p:cNvSpPr/>
            <p:nvPr/>
          </p:nvSpPr>
          <p:spPr>
            <a:xfrm>
              <a:off x="3724" y="1964"/>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3525" name="Oval 82"/>
            <p:cNvSpPr/>
            <p:nvPr/>
          </p:nvSpPr>
          <p:spPr>
            <a:xfrm>
              <a:off x="4967" y="2149"/>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3811"/>
                                        </p:tgtEl>
                                        <p:attrNameLst>
                                          <p:attrName>style.visibility</p:attrName>
                                        </p:attrNameLst>
                                      </p:cBhvr>
                                      <p:to>
                                        <p:strVal val="visible"/>
                                      </p:to>
                                    </p:set>
                                    <p:animEffect transition="in" filter="dissolve">
                                      <p:cBhvr>
                                        <p:cTn id="7" dur="500"/>
                                        <p:tgtEl>
                                          <p:spTgt spid="24238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3891"/>
                                        </p:tgtEl>
                                        <p:attrNameLst>
                                          <p:attrName>style.visibility</p:attrName>
                                        </p:attrNameLst>
                                      </p:cBhvr>
                                      <p:to>
                                        <p:strVal val="visible"/>
                                      </p:to>
                                    </p:set>
                                    <p:animEffect transition="in" filter="dissolve">
                                      <p:cBhvr>
                                        <p:cTn id="12" dur="500"/>
                                        <p:tgtEl>
                                          <p:spTgt spid="24238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3875"/>
                                        </p:tgtEl>
                                        <p:attrNameLst>
                                          <p:attrName>style.visibility</p:attrName>
                                        </p:attrNameLst>
                                      </p:cBhvr>
                                      <p:to>
                                        <p:strVal val="visible"/>
                                      </p:to>
                                    </p:set>
                                    <p:animEffect transition="in" filter="dissolve">
                                      <p:cBhvr>
                                        <p:cTn id="17" dur="500"/>
                                        <p:tgtEl>
                                          <p:spTgt spid="2423875"/>
                                        </p:tgtEl>
                                      </p:cBhvr>
                                    </p:animEffect>
                                  </p:childTnLst>
                                </p:cTn>
                              </p:par>
                              <p:par>
                                <p:cTn id="18" presetID="9" presetClass="entr" presetSubtype="0" fill="hold" nodeType="withEffect">
                                  <p:stCondLst>
                                    <p:cond delay="0"/>
                                  </p:stCondLst>
                                  <p:childTnLst>
                                    <p:set>
                                      <p:cBhvr>
                                        <p:cTn id="19" dur="1" fill="hold">
                                          <p:stCondLst>
                                            <p:cond delay="0"/>
                                          </p:stCondLst>
                                        </p:cTn>
                                        <p:tgtEl>
                                          <p:spTgt spid="2423876"/>
                                        </p:tgtEl>
                                        <p:attrNameLst>
                                          <p:attrName>style.visibility</p:attrName>
                                        </p:attrNameLst>
                                      </p:cBhvr>
                                      <p:to>
                                        <p:strVal val="visible"/>
                                      </p:to>
                                    </p:set>
                                    <p:animEffect transition="in" filter="dissolve">
                                      <p:cBhvr>
                                        <p:cTn id="20" dur="500"/>
                                        <p:tgtEl>
                                          <p:spTgt spid="242387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423878"/>
                                        </p:tgtEl>
                                        <p:attrNameLst>
                                          <p:attrName>style.visibility</p:attrName>
                                        </p:attrNameLst>
                                      </p:cBhvr>
                                      <p:to>
                                        <p:strVal val="visible"/>
                                      </p:to>
                                    </p:set>
                                    <p:animEffect transition="in" filter="dissolve">
                                      <p:cBhvr>
                                        <p:cTn id="25" dur="500"/>
                                        <p:tgtEl>
                                          <p:spTgt spid="242387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423885"/>
                                        </p:tgtEl>
                                        <p:attrNameLst>
                                          <p:attrName>style.visibility</p:attrName>
                                        </p:attrNameLst>
                                      </p:cBhvr>
                                      <p:to>
                                        <p:strVal val="visible"/>
                                      </p:to>
                                    </p:set>
                                    <p:animEffect transition="in" filter="dissolve">
                                      <p:cBhvr>
                                        <p:cTn id="30" dur="500"/>
                                        <p:tgtEl>
                                          <p:spTgt spid="242388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23888"/>
                                        </p:tgtEl>
                                        <p:attrNameLst>
                                          <p:attrName>style.visibility</p:attrName>
                                        </p:attrNameLst>
                                      </p:cBhvr>
                                      <p:to>
                                        <p:strVal val="visible"/>
                                      </p:to>
                                    </p:set>
                                    <p:animEffect transition="in" filter="dissolve">
                                      <p:cBhvr>
                                        <p:cTn id="35" dur="500"/>
                                        <p:tgtEl>
                                          <p:spTgt spid="24238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3811" grpId="0" animBg="1"/>
      <p:bldP spid="2423875" grpId="0"/>
      <p:bldP spid="2423878" grpId="0"/>
      <p:bldP spid="2423888"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428050" name="Group 146"/>
          <p:cNvGrpSpPr/>
          <p:nvPr/>
        </p:nvGrpSpPr>
        <p:grpSpPr>
          <a:xfrm>
            <a:off x="431800" y="1268413"/>
            <a:ext cx="8316913" cy="4897437"/>
            <a:chOff x="272" y="799"/>
            <a:chExt cx="5239" cy="3085"/>
          </a:xfrm>
        </p:grpSpPr>
        <p:sp>
          <p:nvSpPr>
            <p:cNvPr id="64537" name="Rectangle 132"/>
            <p:cNvSpPr/>
            <p:nvPr/>
          </p:nvSpPr>
          <p:spPr>
            <a:xfrm>
              <a:off x="272" y="799"/>
              <a:ext cx="5239" cy="308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38" name="Line 76"/>
            <p:cNvSpPr/>
            <p:nvPr/>
          </p:nvSpPr>
          <p:spPr>
            <a:xfrm flipV="1">
              <a:off x="3380" y="872"/>
              <a:ext cx="0" cy="1288"/>
            </a:xfrm>
            <a:prstGeom prst="line">
              <a:avLst/>
            </a:prstGeom>
            <a:ln w="12700" cap="flat" cmpd="sng">
              <a:solidFill>
                <a:schemeClr val="accent2"/>
              </a:solidFill>
              <a:prstDash val="solid"/>
              <a:headEnd type="none" w="med" len="med"/>
              <a:tailEnd type="none" w="med" len="med"/>
            </a:ln>
          </p:spPr>
        </p:sp>
        <p:sp>
          <p:nvSpPr>
            <p:cNvPr id="64539" name="Line 56"/>
            <p:cNvSpPr/>
            <p:nvPr/>
          </p:nvSpPr>
          <p:spPr>
            <a:xfrm flipH="1">
              <a:off x="3924" y="1841"/>
              <a:ext cx="862" cy="0"/>
            </a:xfrm>
            <a:prstGeom prst="line">
              <a:avLst/>
            </a:prstGeom>
            <a:ln w="12700" cap="flat" cmpd="sng">
              <a:solidFill>
                <a:schemeClr val="accent2"/>
              </a:solidFill>
              <a:prstDash val="solid"/>
              <a:headEnd type="none" w="med" len="med"/>
              <a:tailEnd type="none" w="med" len="med"/>
            </a:ln>
          </p:spPr>
        </p:sp>
        <p:sp>
          <p:nvSpPr>
            <p:cNvPr id="64540" name="Rectangle 40"/>
            <p:cNvSpPr/>
            <p:nvPr/>
          </p:nvSpPr>
          <p:spPr>
            <a:xfrm>
              <a:off x="2336" y="1117"/>
              <a:ext cx="726" cy="243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41" name="AutoShape 43"/>
            <p:cNvSpPr/>
            <p:nvPr/>
          </p:nvSpPr>
          <p:spPr>
            <a:xfrm rot="5400000">
              <a:off x="4101" y="2004"/>
              <a:ext cx="521" cy="649"/>
            </a:xfrm>
            <a:prstGeom prst="flowChartExtra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42" name="Text Box 44"/>
            <p:cNvSpPr txBox="1"/>
            <p:nvPr/>
          </p:nvSpPr>
          <p:spPr>
            <a:xfrm>
              <a:off x="4004" y="2380"/>
              <a:ext cx="246" cy="231"/>
            </a:xfrm>
            <a:prstGeom prst="rect">
              <a:avLst/>
            </a:prstGeom>
            <a:no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a:t>
              </a:r>
              <a:endParaRPr lang="en-US" altLang="zh-CN" sz="2000" dirty="0">
                <a:solidFill>
                  <a:srgbClr val="FF0000"/>
                </a:solidFill>
                <a:latin typeface="Times New Roman" panose="02020603050405020304" pitchFamily="18" charset="0"/>
              </a:endParaRPr>
            </a:p>
          </p:txBody>
        </p:sp>
        <p:sp>
          <p:nvSpPr>
            <p:cNvPr id="64543" name="Text Box 45"/>
            <p:cNvSpPr txBox="1"/>
            <p:nvPr/>
          </p:nvSpPr>
          <p:spPr>
            <a:xfrm>
              <a:off x="4017" y="2009"/>
              <a:ext cx="245" cy="265"/>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a:t>
              </a:r>
              <a:endParaRPr lang="en-US" altLang="zh-CN" sz="2400" dirty="0">
                <a:solidFill>
                  <a:srgbClr val="FF0000"/>
                </a:solidFill>
                <a:latin typeface="Times New Roman" panose="02020603050405020304" pitchFamily="18" charset="0"/>
              </a:endParaRPr>
            </a:p>
          </p:txBody>
        </p:sp>
        <p:sp>
          <p:nvSpPr>
            <p:cNvPr id="64544" name="Line 46"/>
            <p:cNvSpPr/>
            <p:nvPr/>
          </p:nvSpPr>
          <p:spPr>
            <a:xfrm flipH="1">
              <a:off x="3380" y="2160"/>
              <a:ext cx="653" cy="0"/>
            </a:xfrm>
            <a:prstGeom prst="line">
              <a:avLst/>
            </a:prstGeom>
            <a:ln w="12700" cap="flat" cmpd="sng">
              <a:solidFill>
                <a:schemeClr val="accent2"/>
              </a:solidFill>
              <a:prstDash val="solid"/>
              <a:headEnd type="none" w="med" len="med"/>
              <a:tailEnd type="none" w="med" len="med"/>
            </a:ln>
          </p:spPr>
        </p:sp>
        <p:sp>
          <p:nvSpPr>
            <p:cNvPr id="64545" name="Line 47"/>
            <p:cNvSpPr/>
            <p:nvPr/>
          </p:nvSpPr>
          <p:spPr>
            <a:xfrm flipH="1">
              <a:off x="3380" y="2498"/>
              <a:ext cx="653" cy="0"/>
            </a:xfrm>
            <a:prstGeom prst="line">
              <a:avLst/>
            </a:prstGeom>
            <a:ln w="12700" cap="flat" cmpd="sng">
              <a:solidFill>
                <a:schemeClr val="accent2"/>
              </a:solidFill>
              <a:prstDash val="solid"/>
              <a:headEnd type="none" w="med" len="med"/>
              <a:tailEnd type="none" w="med" len="med"/>
            </a:ln>
          </p:spPr>
        </p:sp>
        <p:sp>
          <p:nvSpPr>
            <p:cNvPr id="64546" name="Rectangle 48"/>
            <p:cNvSpPr/>
            <p:nvPr/>
          </p:nvSpPr>
          <p:spPr>
            <a:xfrm>
              <a:off x="3584" y="2471"/>
              <a:ext cx="246" cy="55"/>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47" name="Rectangle 49"/>
            <p:cNvSpPr/>
            <p:nvPr/>
          </p:nvSpPr>
          <p:spPr>
            <a:xfrm>
              <a:off x="3584" y="2133"/>
              <a:ext cx="246" cy="55"/>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48" name="Line 51"/>
            <p:cNvSpPr/>
            <p:nvPr/>
          </p:nvSpPr>
          <p:spPr>
            <a:xfrm>
              <a:off x="3698" y="870"/>
              <a:ext cx="0" cy="98"/>
            </a:xfrm>
            <a:prstGeom prst="line">
              <a:avLst/>
            </a:prstGeom>
            <a:ln w="12700" cap="flat" cmpd="sng">
              <a:solidFill>
                <a:schemeClr val="accent2"/>
              </a:solidFill>
              <a:prstDash val="solid"/>
              <a:headEnd type="none" w="med" len="med"/>
              <a:tailEnd type="none" w="med" len="med"/>
            </a:ln>
          </p:spPr>
        </p:sp>
        <p:sp>
          <p:nvSpPr>
            <p:cNvPr id="64549" name="Line 52"/>
            <p:cNvSpPr/>
            <p:nvPr/>
          </p:nvSpPr>
          <p:spPr>
            <a:xfrm>
              <a:off x="3618" y="968"/>
              <a:ext cx="158" cy="0"/>
            </a:xfrm>
            <a:prstGeom prst="line">
              <a:avLst/>
            </a:prstGeom>
            <a:ln w="12700" cap="flat" cmpd="sng">
              <a:solidFill>
                <a:schemeClr val="accent2"/>
              </a:solidFill>
              <a:prstDash val="solid"/>
              <a:headEnd type="none" w="med" len="med"/>
              <a:tailEnd type="none" w="med" len="med"/>
            </a:ln>
          </p:spPr>
        </p:sp>
        <p:sp>
          <p:nvSpPr>
            <p:cNvPr id="64550" name="Oval 54"/>
            <p:cNvSpPr>
              <a:spLocks noChangeAspect="1"/>
            </p:cNvSpPr>
            <p:nvPr/>
          </p:nvSpPr>
          <p:spPr>
            <a:xfrm>
              <a:off x="3362" y="3783"/>
              <a:ext cx="35" cy="33"/>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51" name="Rectangle 55"/>
            <p:cNvSpPr/>
            <p:nvPr/>
          </p:nvSpPr>
          <p:spPr>
            <a:xfrm>
              <a:off x="4241" y="1813"/>
              <a:ext cx="246" cy="55"/>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52" name="Line 57"/>
            <p:cNvSpPr/>
            <p:nvPr/>
          </p:nvSpPr>
          <p:spPr>
            <a:xfrm>
              <a:off x="3924" y="1841"/>
              <a:ext cx="0" cy="425"/>
            </a:xfrm>
            <a:prstGeom prst="line">
              <a:avLst/>
            </a:prstGeom>
            <a:ln w="12700" cap="flat" cmpd="sng">
              <a:solidFill>
                <a:schemeClr val="accent2"/>
              </a:solidFill>
              <a:prstDash val="solid"/>
              <a:headEnd type="none" w="med" len="med"/>
              <a:tailEnd type="none" w="med" len="med"/>
            </a:ln>
          </p:spPr>
        </p:sp>
        <p:sp>
          <p:nvSpPr>
            <p:cNvPr id="64553" name="Line 58"/>
            <p:cNvSpPr/>
            <p:nvPr/>
          </p:nvSpPr>
          <p:spPr>
            <a:xfrm flipH="1">
              <a:off x="4686" y="2328"/>
              <a:ext cx="227" cy="0"/>
            </a:xfrm>
            <a:prstGeom prst="line">
              <a:avLst/>
            </a:prstGeom>
            <a:ln w="12700" cap="flat" cmpd="sng">
              <a:solidFill>
                <a:schemeClr val="accent2"/>
              </a:solidFill>
              <a:prstDash val="solid"/>
              <a:headEnd type="none" w="med" len="med"/>
              <a:tailEnd type="none" w="med" len="med"/>
            </a:ln>
          </p:spPr>
        </p:sp>
        <p:sp>
          <p:nvSpPr>
            <p:cNvPr id="64554" name="Line 60"/>
            <p:cNvSpPr/>
            <p:nvPr/>
          </p:nvSpPr>
          <p:spPr>
            <a:xfrm>
              <a:off x="4786" y="1841"/>
              <a:ext cx="0" cy="487"/>
            </a:xfrm>
            <a:prstGeom prst="line">
              <a:avLst/>
            </a:prstGeom>
            <a:ln w="12700" cap="flat" cmpd="sng">
              <a:solidFill>
                <a:schemeClr val="accent2"/>
              </a:solidFill>
              <a:prstDash val="solid"/>
              <a:headEnd type="none" w="med" len="med"/>
              <a:tailEnd type="none" w="med" len="med"/>
            </a:ln>
          </p:spPr>
        </p:sp>
        <p:sp>
          <p:nvSpPr>
            <p:cNvPr id="64555" name="Oval 61"/>
            <p:cNvSpPr>
              <a:spLocks noChangeAspect="1"/>
            </p:cNvSpPr>
            <p:nvPr/>
          </p:nvSpPr>
          <p:spPr>
            <a:xfrm>
              <a:off x="4915" y="2312"/>
              <a:ext cx="35" cy="32"/>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56" name="Text Box 62"/>
            <p:cNvSpPr txBox="1"/>
            <p:nvPr/>
          </p:nvSpPr>
          <p:spPr>
            <a:xfrm>
              <a:off x="4913" y="2228"/>
              <a:ext cx="281"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O</a:t>
              </a:r>
              <a:endParaRPr lang="en-US" altLang="zh-CN" sz="1600" baseline="-25000" dirty="0">
                <a:solidFill>
                  <a:srgbClr val="FF0000"/>
                </a:solidFill>
                <a:latin typeface="Times New Roman" panose="02020603050405020304" pitchFamily="18" charset="0"/>
              </a:endParaRPr>
            </a:p>
          </p:txBody>
        </p:sp>
        <p:sp>
          <p:nvSpPr>
            <p:cNvPr id="64557" name="Text Box 63"/>
            <p:cNvSpPr txBox="1"/>
            <p:nvPr/>
          </p:nvSpPr>
          <p:spPr>
            <a:xfrm>
              <a:off x="3371" y="3687"/>
              <a:ext cx="281"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I</a:t>
              </a:r>
              <a:endParaRPr lang="en-US" altLang="zh-CN" sz="1600" baseline="-25000" dirty="0">
                <a:solidFill>
                  <a:srgbClr val="FF0000"/>
                </a:solidFill>
                <a:latin typeface="Times New Roman" panose="02020603050405020304" pitchFamily="18" charset="0"/>
              </a:endParaRPr>
            </a:p>
          </p:txBody>
        </p:sp>
        <p:sp>
          <p:nvSpPr>
            <p:cNvPr id="64558" name="Text Box 64"/>
            <p:cNvSpPr txBox="1"/>
            <p:nvPr/>
          </p:nvSpPr>
          <p:spPr>
            <a:xfrm>
              <a:off x="4243" y="1616"/>
              <a:ext cx="281"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64559" name="Text Box 65"/>
            <p:cNvSpPr txBox="1"/>
            <p:nvPr/>
          </p:nvSpPr>
          <p:spPr>
            <a:xfrm>
              <a:off x="3470" y="1532"/>
              <a:ext cx="281"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64560" name="Text Box 66"/>
            <p:cNvSpPr txBox="1"/>
            <p:nvPr/>
          </p:nvSpPr>
          <p:spPr>
            <a:xfrm>
              <a:off x="3477" y="2903"/>
              <a:ext cx="281"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64561" name="Line 68"/>
            <p:cNvSpPr/>
            <p:nvPr/>
          </p:nvSpPr>
          <p:spPr>
            <a:xfrm>
              <a:off x="3924" y="2399"/>
              <a:ext cx="0" cy="98"/>
            </a:xfrm>
            <a:prstGeom prst="line">
              <a:avLst/>
            </a:prstGeom>
            <a:ln w="12700" cap="flat" cmpd="sng">
              <a:solidFill>
                <a:schemeClr val="accent2"/>
              </a:solidFill>
              <a:prstDash val="solid"/>
              <a:headEnd type="none" w="med" len="med"/>
              <a:tailEnd type="none" w="med" len="med"/>
            </a:ln>
          </p:spPr>
        </p:sp>
        <p:sp>
          <p:nvSpPr>
            <p:cNvPr id="64562" name="Line 69"/>
            <p:cNvSpPr/>
            <p:nvPr/>
          </p:nvSpPr>
          <p:spPr>
            <a:xfrm flipH="1">
              <a:off x="3062" y="2266"/>
              <a:ext cx="862" cy="0"/>
            </a:xfrm>
            <a:prstGeom prst="line">
              <a:avLst/>
            </a:prstGeom>
            <a:ln w="12700" cap="flat" cmpd="sng">
              <a:solidFill>
                <a:schemeClr val="accent2"/>
              </a:solidFill>
              <a:prstDash val="solid"/>
              <a:headEnd type="none" w="med" len="med"/>
              <a:tailEnd type="none" w="med" len="med"/>
            </a:ln>
          </p:spPr>
        </p:sp>
        <p:sp>
          <p:nvSpPr>
            <p:cNvPr id="64563" name="Line 70"/>
            <p:cNvSpPr/>
            <p:nvPr/>
          </p:nvSpPr>
          <p:spPr>
            <a:xfrm flipH="1" flipV="1">
              <a:off x="3062" y="2402"/>
              <a:ext cx="862" cy="0"/>
            </a:xfrm>
            <a:prstGeom prst="line">
              <a:avLst/>
            </a:prstGeom>
            <a:ln w="12700" cap="flat" cmpd="sng">
              <a:solidFill>
                <a:schemeClr val="accent2"/>
              </a:solidFill>
              <a:prstDash val="solid"/>
              <a:headEnd type="none" w="med" len="med"/>
              <a:tailEnd type="none" w="med" len="med"/>
            </a:ln>
          </p:spPr>
        </p:sp>
        <p:sp>
          <p:nvSpPr>
            <p:cNvPr id="64564" name="Rectangle 72"/>
            <p:cNvSpPr/>
            <p:nvPr/>
          </p:nvSpPr>
          <p:spPr>
            <a:xfrm rot="5400000">
              <a:off x="3287" y="1927"/>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65" name="Rectangle 73"/>
            <p:cNvSpPr/>
            <p:nvPr/>
          </p:nvSpPr>
          <p:spPr>
            <a:xfrm rot="5400000">
              <a:off x="3287" y="1634"/>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66" name="Rectangle 74"/>
            <p:cNvSpPr/>
            <p:nvPr/>
          </p:nvSpPr>
          <p:spPr>
            <a:xfrm rot="5400000">
              <a:off x="3287" y="1340"/>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67" name="Rectangle 75"/>
            <p:cNvSpPr/>
            <p:nvPr/>
          </p:nvSpPr>
          <p:spPr>
            <a:xfrm rot="5400000">
              <a:off x="3287" y="1032"/>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68" name="Line 77"/>
            <p:cNvSpPr/>
            <p:nvPr/>
          </p:nvSpPr>
          <p:spPr>
            <a:xfrm flipH="1">
              <a:off x="3062" y="2092"/>
              <a:ext cx="318" cy="0"/>
            </a:xfrm>
            <a:prstGeom prst="line">
              <a:avLst/>
            </a:prstGeom>
            <a:ln w="12700" cap="flat" cmpd="sng">
              <a:solidFill>
                <a:schemeClr val="accent2"/>
              </a:solidFill>
              <a:prstDash val="solid"/>
              <a:headEnd type="none" w="med" len="med"/>
              <a:tailEnd type="none" w="med" len="med"/>
            </a:ln>
          </p:spPr>
        </p:sp>
        <p:sp>
          <p:nvSpPr>
            <p:cNvPr id="64569" name="Line 78"/>
            <p:cNvSpPr/>
            <p:nvPr/>
          </p:nvSpPr>
          <p:spPr>
            <a:xfrm flipH="1">
              <a:off x="3062" y="1813"/>
              <a:ext cx="318" cy="0"/>
            </a:xfrm>
            <a:prstGeom prst="line">
              <a:avLst/>
            </a:prstGeom>
            <a:ln w="12700" cap="flat" cmpd="sng">
              <a:solidFill>
                <a:schemeClr val="accent2"/>
              </a:solidFill>
              <a:prstDash val="solid"/>
              <a:headEnd type="none" w="med" len="med"/>
              <a:tailEnd type="none" w="med" len="med"/>
            </a:ln>
          </p:spPr>
        </p:sp>
        <p:sp>
          <p:nvSpPr>
            <p:cNvPr id="64570" name="Line 79"/>
            <p:cNvSpPr/>
            <p:nvPr/>
          </p:nvSpPr>
          <p:spPr>
            <a:xfrm flipH="1">
              <a:off x="3062" y="1517"/>
              <a:ext cx="318" cy="0"/>
            </a:xfrm>
            <a:prstGeom prst="line">
              <a:avLst/>
            </a:prstGeom>
            <a:ln w="12700" cap="flat" cmpd="sng">
              <a:solidFill>
                <a:schemeClr val="accent2"/>
              </a:solidFill>
              <a:prstDash val="solid"/>
              <a:headEnd type="none" w="med" len="med"/>
              <a:tailEnd type="none" w="med" len="med"/>
            </a:ln>
          </p:spPr>
        </p:sp>
        <p:sp>
          <p:nvSpPr>
            <p:cNvPr id="64571" name="Line 80"/>
            <p:cNvSpPr/>
            <p:nvPr/>
          </p:nvSpPr>
          <p:spPr>
            <a:xfrm flipH="1">
              <a:off x="3062" y="1211"/>
              <a:ext cx="318" cy="0"/>
            </a:xfrm>
            <a:prstGeom prst="line">
              <a:avLst/>
            </a:prstGeom>
            <a:ln w="12700" cap="flat" cmpd="sng">
              <a:solidFill>
                <a:schemeClr val="accent2"/>
              </a:solidFill>
              <a:prstDash val="solid"/>
              <a:headEnd type="none" w="med" len="med"/>
              <a:tailEnd type="none" w="med" len="med"/>
            </a:ln>
          </p:spPr>
        </p:sp>
        <p:sp>
          <p:nvSpPr>
            <p:cNvPr id="64572" name="Line 81"/>
            <p:cNvSpPr/>
            <p:nvPr/>
          </p:nvSpPr>
          <p:spPr>
            <a:xfrm flipH="1">
              <a:off x="3380" y="872"/>
              <a:ext cx="318" cy="0"/>
            </a:xfrm>
            <a:prstGeom prst="line">
              <a:avLst/>
            </a:prstGeom>
            <a:ln w="12700" cap="flat" cmpd="sng">
              <a:solidFill>
                <a:schemeClr val="accent2"/>
              </a:solidFill>
              <a:prstDash val="solid"/>
              <a:headEnd type="none" w="med" len="med"/>
              <a:tailEnd type="none" w="med" len="med"/>
            </a:ln>
          </p:spPr>
        </p:sp>
        <p:sp>
          <p:nvSpPr>
            <p:cNvPr id="64573" name="Line 82"/>
            <p:cNvSpPr/>
            <p:nvPr/>
          </p:nvSpPr>
          <p:spPr>
            <a:xfrm rot="-10800000" flipV="1">
              <a:off x="3380" y="2497"/>
              <a:ext cx="0" cy="1288"/>
            </a:xfrm>
            <a:prstGeom prst="line">
              <a:avLst/>
            </a:prstGeom>
            <a:ln w="12700" cap="flat" cmpd="sng">
              <a:solidFill>
                <a:schemeClr val="accent2"/>
              </a:solidFill>
              <a:prstDash val="solid"/>
              <a:headEnd type="none" w="med" len="med"/>
              <a:tailEnd type="none" w="med" len="med"/>
            </a:ln>
          </p:spPr>
        </p:sp>
        <p:sp>
          <p:nvSpPr>
            <p:cNvPr id="64574" name="Rectangle 83"/>
            <p:cNvSpPr/>
            <p:nvPr/>
          </p:nvSpPr>
          <p:spPr>
            <a:xfrm rot="-5400000">
              <a:off x="3287" y="2674"/>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75" name="Rectangle 84"/>
            <p:cNvSpPr/>
            <p:nvPr/>
          </p:nvSpPr>
          <p:spPr>
            <a:xfrm rot="-5400000">
              <a:off x="3287" y="2967"/>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76" name="Rectangle 85"/>
            <p:cNvSpPr/>
            <p:nvPr/>
          </p:nvSpPr>
          <p:spPr>
            <a:xfrm rot="-5400000">
              <a:off x="3287" y="3261"/>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77" name="Rectangle 86"/>
            <p:cNvSpPr/>
            <p:nvPr/>
          </p:nvSpPr>
          <p:spPr>
            <a:xfrm rot="-5400000">
              <a:off x="3287" y="3569"/>
              <a:ext cx="184" cy="5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78" name="Line 87"/>
            <p:cNvSpPr/>
            <p:nvPr/>
          </p:nvSpPr>
          <p:spPr>
            <a:xfrm rot="-10800000" flipH="1">
              <a:off x="3062" y="2565"/>
              <a:ext cx="318" cy="0"/>
            </a:xfrm>
            <a:prstGeom prst="line">
              <a:avLst/>
            </a:prstGeom>
            <a:ln w="12700" cap="flat" cmpd="sng">
              <a:solidFill>
                <a:schemeClr val="accent2"/>
              </a:solidFill>
              <a:prstDash val="solid"/>
              <a:headEnd type="none" w="med" len="med"/>
              <a:tailEnd type="none" w="med" len="med"/>
            </a:ln>
          </p:spPr>
        </p:sp>
        <p:sp>
          <p:nvSpPr>
            <p:cNvPr id="64579" name="Line 88"/>
            <p:cNvSpPr/>
            <p:nvPr/>
          </p:nvSpPr>
          <p:spPr>
            <a:xfrm rot="-10800000" flipH="1">
              <a:off x="3062" y="2844"/>
              <a:ext cx="318" cy="0"/>
            </a:xfrm>
            <a:prstGeom prst="line">
              <a:avLst/>
            </a:prstGeom>
            <a:ln w="12700" cap="flat" cmpd="sng">
              <a:solidFill>
                <a:schemeClr val="accent2"/>
              </a:solidFill>
              <a:prstDash val="solid"/>
              <a:headEnd type="none" w="med" len="med"/>
              <a:tailEnd type="none" w="med" len="med"/>
            </a:ln>
          </p:spPr>
        </p:sp>
        <p:sp>
          <p:nvSpPr>
            <p:cNvPr id="64580" name="Line 89"/>
            <p:cNvSpPr/>
            <p:nvPr/>
          </p:nvSpPr>
          <p:spPr>
            <a:xfrm rot="-10800000" flipH="1">
              <a:off x="3062" y="3140"/>
              <a:ext cx="318" cy="0"/>
            </a:xfrm>
            <a:prstGeom prst="line">
              <a:avLst/>
            </a:prstGeom>
            <a:ln w="12700" cap="flat" cmpd="sng">
              <a:solidFill>
                <a:schemeClr val="accent2"/>
              </a:solidFill>
              <a:prstDash val="solid"/>
              <a:headEnd type="none" w="med" len="med"/>
              <a:tailEnd type="none" w="med" len="med"/>
            </a:ln>
          </p:spPr>
        </p:sp>
        <p:sp>
          <p:nvSpPr>
            <p:cNvPr id="64581" name="Line 90"/>
            <p:cNvSpPr/>
            <p:nvPr/>
          </p:nvSpPr>
          <p:spPr>
            <a:xfrm rot="-10800000" flipH="1">
              <a:off x="3062" y="3446"/>
              <a:ext cx="318" cy="0"/>
            </a:xfrm>
            <a:prstGeom prst="line">
              <a:avLst/>
            </a:prstGeom>
            <a:ln w="12700" cap="flat" cmpd="sng">
              <a:solidFill>
                <a:schemeClr val="accent2"/>
              </a:solidFill>
              <a:prstDash val="solid"/>
              <a:headEnd type="none" w="med" len="med"/>
              <a:tailEnd type="none" w="med" len="med"/>
            </a:ln>
          </p:spPr>
        </p:sp>
        <p:sp>
          <p:nvSpPr>
            <p:cNvPr id="64582" name="Text Box 92"/>
            <p:cNvSpPr txBox="1"/>
            <p:nvPr/>
          </p:nvSpPr>
          <p:spPr>
            <a:xfrm>
              <a:off x="2880" y="1117"/>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0</a:t>
              </a:r>
              <a:endParaRPr lang="en-US" altLang="zh-CN" sz="1600" baseline="-25000" dirty="0">
                <a:solidFill>
                  <a:srgbClr val="FF0000"/>
                </a:solidFill>
                <a:latin typeface="Times New Roman" panose="02020603050405020304" pitchFamily="18" charset="0"/>
              </a:endParaRPr>
            </a:p>
          </p:txBody>
        </p:sp>
        <p:sp>
          <p:nvSpPr>
            <p:cNvPr id="64583" name="Text Box 93"/>
            <p:cNvSpPr txBox="1"/>
            <p:nvPr/>
          </p:nvSpPr>
          <p:spPr>
            <a:xfrm>
              <a:off x="2881" y="1419"/>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64584" name="Text Box 94"/>
            <p:cNvSpPr txBox="1"/>
            <p:nvPr/>
          </p:nvSpPr>
          <p:spPr>
            <a:xfrm>
              <a:off x="2881" y="1729"/>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64585" name="Text Box 95"/>
            <p:cNvSpPr txBox="1"/>
            <p:nvPr/>
          </p:nvSpPr>
          <p:spPr>
            <a:xfrm>
              <a:off x="2881" y="2001"/>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64586" name="Text Box 96"/>
            <p:cNvSpPr txBox="1"/>
            <p:nvPr/>
          </p:nvSpPr>
          <p:spPr>
            <a:xfrm>
              <a:off x="2881" y="2160"/>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x</a:t>
              </a:r>
              <a:endParaRPr lang="en-US" altLang="zh-CN" sz="1600" baseline="-25000" dirty="0">
                <a:solidFill>
                  <a:srgbClr val="FF0000"/>
                </a:solidFill>
                <a:latin typeface="Times New Roman" panose="02020603050405020304" pitchFamily="18" charset="0"/>
              </a:endParaRPr>
            </a:p>
          </p:txBody>
        </p:sp>
        <p:sp>
          <p:nvSpPr>
            <p:cNvPr id="64587" name="Text Box 97"/>
            <p:cNvSpPr txBox="1"/>
            <p:nvPr/>
          </p:nvSpPr>
          <p:spPr>
            <a:xfrm>
              <a:off x="2881" y="2281"/>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3333FF"/>
                  </a:solidFill>
                  <a:latin typeface="Times New Roman" panose="02020603050405020304" pitchFamily="18" charset="0"/>
                </a:rPr>
                <a:t>y</a:t>
              </a:r>
              <a:endParaRPr lang="en-US" altLang="zh-CN" sz="1600" baseline="-25000" dirty="0">
                <a:solidFill>
                  <a:srgbClr val="3333FF"/>
                </a:solidFill>
                <a:latin typeface="Times New Roman" panose="02020603050405020304" pitchFamily="18" charset="0"/>
              </a:endParaRPr>
            </a:p>
          </p:txBody>
        </p:sp>
        <p:sp>
          <p:nvSpPr>
            <p:cNvPr id="64588" name="Text Box 98"/>
            <p:cNvSpPr txBox="1"/>
            <p:nvPr/>
          </p:nvSpPr>
          <p:spPr>
            <a:xfrm>
              <a:off x="2879" y="2470"/>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3333FF"/>
                  </a:solidFill>
                  <a:latin typeface="Times New Roman" panose="02020603050405020304" pitchFamily="18" charset="0"/>
                </a:rPr>
                <a:t>3</a:t>
              </a:r>
              <a:endParaRPr lang="en-US" altLang="zh-CN" sz="1600" baseline="-25000" dirty="0">
                <a:solidFill>
                  <a:srgbClr val="3333FF"/>
                </a:solidFill>
                <a:latin typeface="Times New Roman" panose="02020603050405020304" pitchFamily="18" charset="0"/>
              </a:endParaRPr>
            </a:p>
          </p:txBody>
        </p:sp>
        <p:sp>
          <p:nvSpPr>
            <p:cNvPr id="64589" name="Text Box 99"/>
            <p:cNvSpPr txBox="1"/>
            <p:nvPr/>
          </p:nvSpPr>
          <p:spPr>
            <a:xfrm>
              <a:off x="2880" y="2752"/>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3333FF"/>
                  </a:solidFill>
                  <a:latin typeface="Times New Roman" panose="02020603050405020304" pitchFamily="18" charset="0"/>
                </a:rPr>
                <a:t>2</a:t>
              </a:r>
              <a:endParaRPr lang="en-US" altLang="zh-CN" sz="1600" baseline="-25000" dirty="0">
                <a:solidFill>
                  <a:srgbClr val="3333FF"/>
                </a:solidFill>
                <a:latin typeface="Times New Roman" panose="02020603050405020304" pitchFamily="18" charset="0"/>
              </a:endParaRPr>
            </a:p>
          </p:txBody>
        </p:sp>
        <p:sp>
          <p:nvSpPr>
            <p:cNvPr id="64590" name="Text Box 100"/>
            <p:cNvSpPr txBox="1"/>
            <p:nvPr/>
          </p:nvSpPr>
          <p:spPr>
            <a:xfrm>
              <a:off x="2880" y="3042"/>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3333FF"/>
                  </a:solidFill>
                  <a:latin typeface="Times New Roman" panose="02020603050405020304" pitchFamily="18" charset="0"/>
                </a:rPr>
                <a:t>1</a:t>
              </a:r>
              <a:endParaRPr lang="en-US" altLang="zh-CN" sz="1600" baseline="-25000" dirty="0">
                <a:solidFill>
                  <a:srgbClr val="3333FF"/>
                </a:solidFill>
                <a:latin typeface="Times New Roman" panose="02020603050405020304" pitchFamily="18" charset="0"/>
              </a:endParaRPr>
            </a:p>
          </p:txBody>
        </p:sp>
        <p:sp>
          <p:nvSpPr>
            <p:cNvPr id="64591" name="Text Box 101"/>
            <p:cNvSpPr txBox="1"/>
            <p:nvPr/>
          </p:nvSpPr>
          <p:spPr>
            <a:xfrm>
              <a:off x="2880" y="3354"/>
              <a:ext cx="227"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3333FF"/>
                  </a:solidFill>
                  <a:latin typeface="Times New Roman" panose="02020603050405020304" pitchFamily="18" charset="0"/>
                </a:rPr>
                <a:t>0</a:t>
              </a:r>
              <a:endParaRPr lang="en-US" altLang="zh-CN" sz="1600" baseline="-25000" dirty="0">
                <a:solidFill>
                  <a:srgbClr val="3333FF"/>
                </a:solidFill>
                <a:latin typeface="Times New Roman" panose="02020603050405020304" pitchFamily="18" charset="0"/>
              </a:endParaRPr>
            </a:p>
          </p:txBody>
        </p:sp>
        <p:sp>
          <p:nvSpPr>
            <p:cNvPr id="64592" name="Text Box 102"/>
            <p:cNvSpPr txBox="1"/>
            <p:nvPr/>
          </p:nvSpPr>
          <p:spPr>
            <a:xfrm>
              <a:off x="2405" y="1890"/>
              <a:ext cx="521" cy="179"/>
            </a:xfrm>
            <a:prstGeom prst="rect">
              <a:avLst/>
            </a:prstGeom>
            <a:noFill/>
            <a:ln w="9525">
              <a:noFill/>
            </a:ln>
          </p:spPr>
          <p:txBody>
            <a:bodyPr>
              <a:spAutoFit/>
            </a:bodyPr>
            <a:p>
              <a:pPr eaLnBrk="1" hangingPunct="1">
                <a:lnSpc>
                  <a:spcPct val="90000"/>
                </a:lnSpc>
                <a:spcBef>
                  <a:spcPct val="50000"/>
                </a:spcBef>
              </a:pPr>
              <a:r>
                <a:rPr lang="en-US" altLang="zh-CN" sz="1400" dirty="0">
                  <a:latin typeface="Times New Roman" panose="02020603050405020304" pitchFamily="18" charset="0"/>
                </a:rPr>
                <a:t>CD4052</a:t>
              </a:r>
              <a:endParaRPr lang="en-US" altLang="zh-CN" sz="1400" dirty="0">
                <a:latin typeface="Times New Roman" panose="02020603050405020304" pitchFamily="18" charset="0"/>
              </a:endParaRPr>
            </a:p>
          </p:txBody>
        </p:sp>
        <p:sp>
          <p:nvSpPr>
            <p:cNvPr id="64593" name="Text Box 103"/>
            <p:cNvSpPr txBox="1"/>
            <p:nvPr/>
          </p:nvSpPr>
          <p:spPr>
            <a:xfrm>
              <a:off x="2336" y="1211"/>
              <a:ext cx="340"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DD</a:t>
              </a:r>
              <a:endParaRPr lang="en-US" altLang="zh-CN" sz="1600" baseline="-25000" dirty="0">
                <a:solidFill>
                  <a:srgbClr val="FF0000"/>
                </a:solidFill>
                <a:latin typeface="Times New Roman" panose="02020603050405020304" pitchFamily="18" charset="0"/>
              </a:endParaRPr>
            </a:p>
          </p:txBody>
        </p:sp>
        <p:sp>
          <p:nvSpPr>
            <p:cNvPr id="64594" name="Text Box 104"/>
            <p:cNvSpPr txBox="1"/>
            <p:nvPr/>
          </p:nvSpPr>
          <p:spPr>
            <a:xfrm>
              <a:off x="2336" y="1412"/>
              <a:ext cx="340"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EE</a:t>
              </a:r>
              <a:endParaRPr lang="en-US" altLang="zh-CN" sz="1600" baseline="-25000" dirty="0">
                <a:solidFill>
                  <a:srgbClr val="FF0000"/>
                </a:solidFill>
                <a:latin typeface="Times New Roman" panose="02020603050405020304" pitchFamily="18" charset="0"/>
              </a:endParaRPr>
            </a:p>
          </p:txBody>
        </p:sp>
        <p:sp>
          <p:nvSpPr>
            <p:cNvPr id="64595" name="Line 105"/>
            <p:cNvSpPr/>
            <p:nvPr/>
          </p:nvSpPr>
          <p:spPr>
            <a:xfrm flipH="1">
              <a:off x="2018" y="1314"/>
              <a:ext cx="318" cy="0"/>
            </a:xfrm>
            <a:prstGeom prst="line">
              <a:avLst/>
            </a:prstGeom>
            <a:ln w="12700" cap="flat" cmpd="sng">
              <a:solidFill>
                <a:schemeClr val="accent2"/>
              </a:solidFill>
              <a:prstDash val="solid"/>
              <a:headEnd type="none" w="med" len="med"/>
              <a:tailEnd type="none" w="med" len="med"/>
            </a:ln>
          </p:spPr>
        </p:sp>
        <p:sp>
          <p:nvSpPr>
            <p:cNvPr id="64596" name="Line 106"/>
            <p:cNvSpPr/>
            <p:nvPr/>
          </p:nvSpPr>
          <p:spPr>
            <a:xfrm flipH="1">
              <a:off x="2018" y="1509"/>
              <a:ext cx="318" cy="0"/>
            </a:xfrm>
            <a:prstGeom prst="line">
              <a:avLst/>
            </a:prstGeom>
            <a:ln w="12700" cap="flat" cmpd="sng">
              <a:solidFill>
                <a:schemeClr val="accent2"/>
              </a:solidFill>
              <a:prstDash val="solid"/>
              <a:headEnd type="none" w="med" len="med"/>
              <a:tailEnd type="none" w="med" len="med"/>
            </a:ln>
          </p:spPr>
        </p:sp>
        <p:sp>
          <p:nvSpPr>
            <p:cNvPr id="64597" name="Oval 107"/>
            <p:cNvSpPr>
              <a:spLocks noChangeAspect="1"/>
            </p:cNvSpPr>
            <p:nvPr/>
          </p:nvSpPr>
          <p:spPr>
            <a:xfrm>
              <a:off x="1983" y="1297"/>
              <a:ext cx="35" cy="33"/>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98" name="Oval 108"/>
            <p:cNvSpPr>
              <a:spLocks noChangeAspect="1"/>
            </p:cNvSpPr>
            <p:nvPr/>
          </p:nvSpPr>
          <p:spPr>
            <a:xfrm>
              <a:off x="1983" y="1492"/>
              <a:ext cx="35" cy="33"/>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599" name="Text Box 109"/>
            <p:cNvSpPr txBox="1"/>
            <p:nvPr/>
          </p:nvSpPr>
          <p:spPr>
            <a:xfrm>
              <a:off x="1678" y="1207"/>
              <a:ext cx="43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+5V</a:t>
              </a:r>
              <a:endParaRPr lang="en-US" altLang="zh-CN" sz="1600" baseline="-25000" dirty="0">
                <a:solidFill>
                  <a:srgbClr val="FF0000"/>
                </a:solidFill>
                <a:latin typeface="Times New Roman" panose="02020603050405020304" pitchFamily="18" charset="0"/>
              </a:endParaRPr>
            </a:p>
          </p:txBody>
        </p:sp>
        <p:sp>
          <p:nvSpPr>
            <p:cNvPr id="64600" name="Line 110"/>
            <p:cNvSpPr/>
            <p:nvPr/>
          </p:nvSpPr>
          <p:spPr>
            <a:xfrm flipH="1">
              <a:off x="1338" y="2237"/>
              <a:ext cx="998" cy="0"/>
            </a:xfrm>
            <a:prstGeom prst="line">
              <a:avLst/>
            </a:prstGeom>
            <a:ln w="12700" cap="flat" cmpd="sng">
              <a:solidFill>
                <a:schemeClr val="accent2"/>
              </a:solidFill>
              <a:prstDash val="solid"/>
              <a:headEnd type="none" w="med" len="med"/>
              <a:tailEnd type="none" w="med" len="med"/>
            </a:ln>
          </p:spPr>
        </p:sp>
        <p:sp>
          <p:nvSpPr>
            <p:cNvPr id="64601" name="Line 111"/>
            <p:cNvSpPr/>
            <p:nvPr/>
          </p:nvSpPr>
          <p:spPr>
            <a:xfrm flipH="1">
              <a:off x="1338" y="2432"/>
              <a:ext cx="998" cy="0"/>
            </a:xfrm>
            <a:prstGeom prst="line">
              <a:avLst/>
            </a:prstGeom>
            <a:ln w="12700" cap="flat" cmpd="sng">
              <a:solidFill>
                <a:schemeClr val="accent2"/>
              </a:solidFill>
              <a:prstDash val="solid"/>
              <a:headEnd type="none" w="med" len="med"/>
              <a:tailEnd type="none" w="med" len="med"/>
            </a:ln>
          </p:spPr>
        </p:sp>
        <p:sp>
          <p:nvSpPr>
            <p:cNvPr id="64602" name="Line 112"/>
            <p:cNvSpPr/>
            <p:nvPr/>
          </p:nvSpPr>
          <p:spPr>
            <a:xfrm flipH="1">
              <a:off x="2027" y="3087"/>
              <a:ext cx="305" cy="0"/>
            </a:xfrm>
            <a:prstGeom prst="line">
              <a:avLst/>
            </a:prstGeom>
            <a:ln w="12700" cap="flat" cmpd="sng">
              <a:solidFill>
                <a:schemeClr val="accent2"/>
              </a:solidFill>
              <a:prstDash val="solid"/>
              <a:headEnd type="none" w="med" len="med"/>
              <a:tailEnd type="none" w="med" len="med"/>
            </a:ln>
          </p:spPr>
        </p:sp>
        <p:sp>
          <p:nvSpPr>
            <p:cNvPr id="64603" name="Line 113"/>
            <p:cNvSpPr/>
            <p:nvPr/>
          </p:nvSpPr>
          <p:spPr>
            <a:xfrm flipH="1">
              <a:off x="2155" y="3379"/>
              <a:ext cx="177" cy="0"/>
            </a:xfrm>
            <a:prstGeom prst="line">
              <a:avLst/>
            </a:prstGeom>
            <a:ln w="12700" cap="flat" cmpd="sng">
              <a:solidFill>
                <a:schemeClr val="accent2"/>
              </a:solidFill>
              <a:prstDash val="solid"/>
              <a:headEnd type="none" w="med" len="med"/>
              <a:tailEnd type="none" w="med" len="med"/>
            </a:ln>
          </p:spPr>
        </p:sp>
        <p:sp>
          <p:nvSpPr>
            <p:cNvPr id="64604" name="Line 114"/>
            <p:cNvSpPr/>
            <p:nvPr/>
          </p:nvSpPr>
          <p:spPr>
            <a:xfrm>
              <a:off x="2155" y="3379"/>
              <a:ext cx="0" cy="98"/>
            </a:xfrm>
            <a:prstGeom prst="line">
              <a:avLst/>
            </a:prstGeom>
            <a:ln w="12700" cap="flat" cmpd="sng">
              <a:solidFill>
                <a:schemeClr val="accent2"/>
              </a:solidFill>
              <a:prstDash val="solid"/>
              <a:headEnd type="none" w="med" len="med"/>
              <a:tailEnd type="none" w="med" len="med"/>
            </a:ln>
          </p:spPr>
        </p:sp>
        <p:sp>
          <p:nvSpPr>
            <p:cNvPr id="64605" name="Line 115"/>
            <p:cNvSpPr/>
            <p:nvPr/>
          </p:nvSpPr>
          <p:spPr>
            <a:xfrm>
              <a:off x="2075" y="3477"/>
              <a:ext cx="158" cy="0"/>
            </a:xfrm>
            <a:prstGeom prst="line">
              <a:avLst/>
            </a:prstGeom>
            <a:ln w="12700" cap="flat" cmpd="sng">
              <a:solidFill>
                <a:schemeClr val="accent2"/>
              </a:solidFill>
              <a:prstDash val="solid"/>
              <a:headEnd type="none" w="med" len="med"/>
              <a:tailEnd type="none" w="med" len="med"/>
            </a:ln>
          </p:spPr>
        </p:sp>
        <p:sp>
          <p:nvSpPr>
            <p:cNvPr id="64606" name="Text Box 116"/>
            <p:cNvSpPr txBox="1"/>
            <p:nvPr/>
          </p:nvSpPr>
          <p:spPr>
            <a:xfrm>
              <a:off x="1701" y="1419"/>
              <a:ext cx="43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-5V </a:t>
              </a:r>
              <a:endParaRPr lang="en-US" altLang="zh-CN" sz="1600" baseline="-25000" dirty="0">
                <a:solidFill>
                  <a:srgbClr val="FF0000"/>
                </a:solidFill>
                <a:latin typeface="Times New Roman" panose="02020603050405020304" pitchFamily="18" charset="0"/>
              </a:endParaRPr>
            </a:p>
          </p:txBody>
        </p:sp>
        <p:sp>
          <p:nvSpPr>
            <p:cNvPr id="64607" name="Text Box 117"/>
            <p:cNvSpPr txBox="1"/>
            <p:nvPr/>
          </p:nvSpPr>
          <p:spPr>
            <a:xfrm>
              <a:off x="2314" y="2144"/>
              <a:ext cx="340"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A</a:t>
              </a:r>
              <a:endParaRPr lang="en-US" altLang="zh-CN" sz="1600" baseline="-25000" dirty="0">
                <a:solidFill>
                  <a:srgbClr val="FF0000"/>
                </a:solidFill>
                <a:latin typeface="Times New Roman" panose="02020603050405020304" pitchFamily="18" charset="0"/>
              </a:endParaRPr>
            </a:p>
          </p:txBody>
        </p:sp>
        <p:sp>
          <p:nvSpPr>
            <p:cNvPr id="64608" name="Text Box 118"/>
            <p:cNvSpPr txBox="1"/>
            <p:nvPr/>
          </p:nvSpPr>
          <p:spPr>
            <a:xfrm>
              <a:off x="2314" y="2341"/>
              <a:ext cx="340"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B</a:t>
              </a:r>
              <a:endParaRPr lang="en-US" altLang="zh-CN" sz="1600" baseline="-25000" dirty="0">
                <a:solidFill>
                  <a:srgbClr val="FF0000"/>
                </a:solidFill>
                <a:latin typeface="Times New Roman" panose="02020603050405020304" pitchFamily="18" charset="0"/>
              </a:endParaRPr>
            </a:p>
          </p:txBody>
        </p:sp>
        <p:sp>
          <p:nvSpPr>
            <p:cNvPr id="64609" name="Text Box 119"/>
            <p:cNvSpPr txBox="1"/>
            <p:nvPr/>
          </p:nvSpPr>
          <p:spPr>
            <a:xfrm>
              <a:off x="2314" y="2998"/>
              <a:ext cx="43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INH</a:t>
              </a:r>
              <a:endParaRPr lang="en-US" altLang="zh-CN" sz="1600" baseline="-25000" dirty="0">
                <a:solidFill>
                  <a:srgbClr val="FF0000"/>
                </a:solidFill>
                <a:latin typeface="Times New Roman" panose="02020603050405020304" pitchFamily="18" charset="0"/>
              </a:endParaRPr>
            </a:p>
          </p:txBody>
        </p:sp>
        <p:sp>
          <p:nvSpPr>
            <p:cNvPr id="64610" name="Text Box 120"/>
            <p:cNvSpPr txBox="1"/>
            <p:nvPr/>
          </p:nvSpPr>
          <p:spPr>
            <a:xfrm>
              <a:off x="2314" y="3280"/>
              <a:ext cx="340"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CC</a:t>
              </a:r>
              <a:endParaRPr lang="en-US" altLang="zh-CN" sz="1600" baseline="-25000" dirty="0">
                <a:solidFill>
                  <a:srgbClr val="FF0000"/>
                </a:solidFill>
                <a:latin typeface="Times New Roman" panose="02020603050405020304" pitchFamily="18" charset="0"/>
              </a:endParaRPr>
            </a:p>
          </p:txBody>
        </p:sp>
        <p:sp>
          <p:nvSpPr>
            <p:cNvPr id="64611" name="Line 121"/>
            <p:cNvSpPr/>
            <p:nvPr/>
          </p:nvSpPr>
          <p:spPr>
            <a:xfrm>
              <a:off x="2372" y="3023"/>
              <a:ext cx="249" cy="0"/>
            </a:xfrm>
            <a:prstGeom prst="line">
              <a:avLst/>
            </a:prstGeom>
            <a:ln w="19050" cap="flat" cmpd="sng">
              <a:solidFill>
                <a:srgbClr val="FF0000"/>
              </a:solidFill>
              <a:prstDash val="solid"/>
              <a:headEnd type="none" w="med" len="med"/>
              <a:tailEnd type="none" w="med" len="med"/>
            </a:ln>
          </p:spPr>
        </p:sp>
        <p:sp>
          <p:nvSpPr>
            <p:cNvPr id="64612" name="Rectangle 122"/>
            <p:cNvSpPr/>
            <p:nvPr/>
          </p:nvSpPr>
          <p:spPr>
            <a:xfrm>
              <a:off x="1720" y="2806"/>
              <a:ext cx="272" cy="56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13" name="Text Box 123"/>
            <p:cNvSpPr txBox="1"/>
            <p:nvPr/>
          </p:nvSpPr>
          <p:spPr>
            <a:xfrm>
              <a:off x="1723" y="2817"/>
              <a:ext cx="318" cy="526"/>
            </a:xfrm>
            <a:prstGeom prst="rect">
              <a:avLst/>
            </a:prstGeom>
            <a:noFill/>
            <a:ln w="9525">
              <a:noFill/>
            </a:ln>
          </p:spPr>
          <p:txBody>
            <a:bodyPr>
              <a:spAutoFit/>
            </a:bodyPr>
            <a:p>
              <a:pPr eaLnBrk="1" hangingPunct="1">
                <a:lnSpc>
                  <a:spcPct val="90000"/>
                </a:lnSpc>
                <a:spcBef>
                  <a:spcPct val="50000"/>
                </a:spcBef>
              </a:pPr>
              <a:r>
                <a:rPr lang="zh-CN" altLang="en-US" sz="1800" dirty="0">
                  <a:latin typeface="Times New Roman" panose="02020603050405020304" pitchFamily="18" charset="0"/>
                  <a:ea typeface="黑体" panose="02010609060101010101" pitchFamily="49" charset="-122"/>
                </a:rPr>
                <a:t>译码器</a:t>
              </a:r>
              <a:endParaRPr lang="zh-CN" altLang="en-US" sz="1800" dirty="0">
                <a:latin typeface="Times New Roman" panose="02020603050405020304" pitchFamily="18" charset="0"/>
                <a:ea typeface="黑体" panose="02010609060101010101" pitchFamily="49" charset="-122"/>
              </a:endParaRPr>
            </a:p>
          </p:txBody>
        </p:sp>
        <p:sp>
          <p:nvSpPr>
            <p:cNvPr id="64614" name="Oval 124"/>
            <p:cNvSpPr>
              <a:spLocks noChangeAspect="1"/>
            </p:cNvSpPr>
            <p:nvPr/>
          </p:nvSpPr>
          <p:spPr>
            <a:xfrm>
              <a:off x="1992" y="3071"/>
              <a:ext cx="35" cy="33"/>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15" name="Rectangle 125"/>
            <p:cNvSpPr/>
            <p:nvPr/>
          </p:nvSpPr>
          <p:spPr>
            <a:xfrm>
              <a:off x="612" y="1412"/>
              <a:ext cx="726" cy="2139"/>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16" name="AutoShape 126"/>
            <p:cNvSpPr/>
            <p:nvPr/>
          </p:nvSpPr>
          <p:spPr>
            <a:xfrm>
              <a:off x="1338" y="2873"/>
              <a:ext cx="382" cy="436"/>
            </a:xfrm>
            <a:prstGeom prst="rightArrow">
              <a:avLst>
                <a:gd name="adj1" fmla="val 50000"/>
                <a:gd name="adj2" fmla="val 25000"/>
              </a:avLst>
            </a:prstGeom>
            <a:noFill/>
            <a:ln w="1270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17" name="Text Box 127"/>
            <p:cNvSpPr txBox="1"/>
            <p:nvPr/>
          </p:nvSpPr>
          <p:spPr>
            <a:xfrm>
              <a:off x="799" y="1773"/>
              <a:ext cx="385" cy="179"/>
            </a:xfrm>
            <a:prstGeom prst="rect">
              <a:avLst/>
            </a:prstGeom>
            <a:noFill/>
            <a:ln w="9525">
              <a:noFill/>
            </a:ln>
          </p:spPr>
          <p:txBody>
            <a:bodyPr>
              <a:spAutoFit/>
            </a:bodyPr>
            <a:p>
              <a:pPr eaLnBrk="1" hangingPunct="1">
                <a:lnSpc>
                  <a:spcPct val="90000"/>
                </a:lnSpc>
                <a:spcBef>
                  <a:spcPct val="50000"/>
                </a:spcBef>
              </a:pPr>
              <a:r>
                <a:rPr lang="en-US" altLang="zh-CN" sz="1400" dirty="0">
                  <a:latin typeface="Times New Roman" panose="02020603050405020304" pitchFamily="18" charset="0"/>
                </a:rPr>
                <a:t>8031</a:t>
              </a:r>
              <a:endParaRPr lang="en-US" altLang="zh-CN" sz="1400" dirty="0">
                <a:latin typeface="Times New Roman" panose="02020603050405020304" pitchFamily="18" charset="0"/>
              </a:endParaRPr>
            </a:p>
          </p:txBody>
        </p:sp>
        <p:sp>
          <p:nvSpPr>
            <p:cNvPr id="64618" name="Text Box 128"/>
            <p:cNvSpPr txBox="1"/>
            <p:nvPr/>
          </p:nvSpPr>
          <p:spPr>
            <a:xfrm>
              <a:off x="1044" y="2137"/>
              <a:ext cx="415"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P</a:t>
              </a:r>
              <a:r>
                <a:rPr lang="en-US" altLang="zh-CN" sz="1600" baseline="-25000" dirty="0">
                  <a:solidFill>
                    <a:srgbClr val="FF0000"/>
                  </a:solidFill>
                  <a:latin typeface="Times New Roman" panose="02020603050405020304" pitchFamily="18" charset="0"/>
                </a:rPr>
                <a:t>1.0</a:t>
              </a:r>
              <a:endParaRPr lang="en-US" altLang="zh-CN" sz="1600" baseline="-25000" dirty="0">
                <a:solidFill>
                  <a:srgbClr val="FF0000"/>
                </a:solidFill>
                <a:latin typeface="Times New Roman" panose="02020603050405020304" pitchFamily="18" charset="0"/>
              </a:endParaRPr>
            </a:p>
          </p:txBody>
        </p:sp>
        <p:sp>
          <p:nvSpPr>
            <p:cNvPr id="64619" name="Text Box 129"/>
            <p:cNvSpPr txBox="1"/>
            <p:nvPr/>
          </p:nvSpPr>
          <p:spPr>
            <a:xfrm>
              <a:off x="1044" y="2326"/>
              <a:ext cx="415"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P</a:t>
              </a:r>
              <a:r>
                <a:rPr lang="en-US" altLang="zh-CN" sz="1600" baseline="-25000" dirty="0">
                  <a:solidFill>
                    <a:srgbClr val="FF0000"/>
                  </a:solidFill>
                  <a:latin typeface="Times New Roman" panose="02020603050405020304" pitchFamily="18" charset="0"/>
                </a:rPr>
                <a:t>1.1</a:t>
              </a:r>
              <a:endParaRPr lang="en-US" altLang="zh-CN" sz="1600" baseline="-25000" dirty="0">
                <a:solidFill>
                  <a:srgbClr val="FF0000"/>
                </a:solidFill>
                <a:latin typeface="Times New Roman" panose="02020603050405020304" pitchFamily="18" charset="0"/>
              </a:endParaRPr>
            </a:p>
          </p:txBody>
        </p:sp>
        <p:sp>
          <p:nvSpPr>
            <p:cNvPr id="64620" name="Text Box 130"/>
            <p:cNvSpPr txBox="1"/>
            <p:nvPr/>
          </p:nvSpPr>
          <p:spPr>
            <a:xfrm>
              <a:off x="1044" y="2865"/>
              <a:ext cx="415"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P</a:t>
              </a:r>
              <a:r>
                <a:rPr lang="en-US" altLang="zh-CN" sz="1600" baseline="-25000" dirty="0">
                  <a:solidFill>
                    <a:srgbClr val="FF0000"/>
                  </a:solidFill>
                  <a:latin typeface="Times New Roman" panose="02020603050405020304" pitchFamily="18" charset="0"/>
                </a:rPr>
                <a:t>1.2</a:t>
              </a:r>
              <a:endParaRPr lang="en-US" altLang="zh-CN" sz="1600" baseline="-25000" dirty="0">
                <a:solidFill>
                  <a:srgbClr val="FF0000"/>
                </a:solidFill>
                <a:latin typeface="Times New Roman" panose="02020603050405020304" pitchFamily="18" charset="0"/>
              </a:endParaRPr>
            </a:p>
          </p:txBody>
        </p:sp>
        <p:sp>
          <p:nvSpPr>
            <p:cNvPr id="64621" name="Text Box 131"/>
            <p:cNvSpPr txBox="1"/>
            <p:nvPr/>
          </p:nvSpPr>
          <p:spPr>
            <a:xfrm>
              <a:off x="1044" y="3113"/>
              <a:ext cx="415"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P</a:t>
              </a:r>
              <a:r>
                <a:rPr lang="en-US" altLang="zh-CN" sz="1600" baseline="-25000" dirty="0">
                  <a:solidFill>
                    <a:srgbClr val="FF0000"/>
                  </a:solidFill>
                  <a:latin typeface="Times New Roman" panose="02020603050405020304" pitchFamily="18" charset="0"/>
                </a:rPr>
                <a:t>1.7</a:t>
              </a:r>
              <a:endParaRPr lang="en-US" altLang="zh-CN" sz="1600" baseline="-25000" dirty="0">
                <a:solidFill>
                  <a:srgbClr val="FF0000"/>
                </a:solidFill>
                <a:latin typeface="Times New Roman" panose="02020603050405020304" pitchFamily="18" charset="0"/>
              </a:endParaRPr>
            </a:p>
          </p:txBody>
        </p:sp>
        <p:sp>
          <p:nvSpPr>
            <p:cNvPr id="64622" name="Text Box 39"/>
            <p:cNvSpPr txBox="1"/>
            <p:nvPr/>
          </p:nvSpPr>
          <p:spPr>
            <a:xfrm>
              <a:off x="4241" y="2790"/>
              <a:ext cx="1270" cy="1026"/>
            </a:xfrm>
            <a:prstGeom prst="rect">
              <a:avLst/>
            </a:prstGeom>
            <a:solidFill>
              <a:srgbClr val="CCFFFF"/>
            </a:solid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rPr>
                <a:t>CD4052</a:t>
              </a:r>
              <a:r>
                <a:rPr lang="zh-CN" altLang="en-US" sz="2800" dirty="0">
                  <a:solidFill>
                    <a:schemeClr val="tx1"/>
                  </a:solidFill>
                  <a:latin typeface="Times New Roman" panose="02020603050405020304" pitchFamily="18" charset="0"/>
                </a:rPr>
                <a:t>和</a:t>
              </a:r>
              <a:r>
                <a:rPr lang="en-US" altLang="zh-CN" sz="2800" dirty="0">
                  <a:solidFill>
                    <a:srgbClr val="FF0000"/>
                  </a:solidFill>
                  <a:latin typeface="Times New Roman" panose="02020603050405020304" pitchFamily="18" charset="0"/>
                </a:rPr>
                <a:t>8031</a:t>
              </a:r>
              <a:r>
                <a:rPr lang="zh-CN" altLang="en-US" sz="2800" dirty="0">
                  <a:solidFill>
                    <a:schemeClr val="tx1"/>
                  </a:solidFill>
                  <a:latin typeface="Times New Roman" panose="02020603050405020304" pitchFamily="18" charset="0"/>
                </a:rPr>
                <a:t>单片机组成</a:t>
              </a:r>
              <a:r>
                <a:rPr lang="en-US" altLang="zh-CN" sz="2800" dirty="0">
                  <a:solidFill>
                    <a:schemeClr val="tx1"/>
                  </a:solidFill>
                  <a:latin typeface="Times New Roman" panose="02020603050405020304" pitchFamily="18" charset="0"/>
                </a:rPr>
                <a:t>4</a:t>
              </a:r>
              <a:r>
                <a:rPr lang="zh-CN" altLang="en-US" sz="2800" dirty="0">
                  <a:solidFill>
                    <a:schemeClr val="tx1"/>
                  </a:solidFill>
                  <a:latin typeface="Times New Roman" panose="02020603050405020304" pitchFamily="18" charset="0"/>
                </a:rPr>
                <a:t>级增益程控运放</a:t>
              </a:r>
              <a:endParaRPr lang="zh-CN" altLang="en-US" sz="2800" dirty="0">
                <a:solidFill>
                  <a:schemeClr val="tx1"/>
                </a:solidFill>
                <a:latin typeface="Times New Roman" panose="02020603050405020304" pitchFamily="18" charset="0"/>
              </a:endParaRPr>
            </a:p>
          </p:txBody>
        </p:sp>
        <p:sp>
          <p:nvSpPr>
            <p:cNvPr id="64623" name="Oval 135"/>
            <p:cNvSpPr/>
            <p:nvPr/>
          </p:nvSpPr>
          <p:spPr>
            <a:xfrm>
              <a:off x="3357" y="1185"/>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4" name="Oval 136"/>
            <p:cNvSpPr/>
            <p:nvPr/>
          </p:nvSpPr>
          <p:spPr>
            <a:xfrm>
              <a:off x="3359" y="1492"/>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5" name="Oval 137"/>
            <p:cNvSpPr/>
            <p:nvPr/>
          </p:nvSpPr>
          <p:spPr>
            <a:xfrm>
              <a:off x="3356" y="1791"/>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6" name="Oval 138"/>
            <p:cNvSpPr/>
            <p:nvPr/>
          </p:nvSpPr>
          <p:spPr>
            <a:xfrm>
              <a:off x="3358" y="2071"/>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7" name="Oval 139"/>
            <p:cNvSpPr/>
            <p:nvPr/>
          </p:nvSpPr>
          <p:spPr>
            <a:xfrm>
              <a:off x="3356" y="3117"/>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8" name="Oval 140"/>
            <p:cNvSpPr/>
            <p:nvPr/>
          </p:nvSpPr>
          <p:spPr>
            <a:xfrm>
              <a:off x="3358" y="3424"/>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29" name="Oval 141"/>
            <p:cNvSpPr/>
            <p:nvPr/>
          </p:nvSpPr>
          <p:spPr>
            <a:xfrm>
              <a:off x="3356" y="2540"/>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30" name="Oval 142"/>
            <p:cNvSpPr/>
            <p:nvPr/>
          </p:nvSpPr>
          <p:spPr>
            <a:xfrm>
              <a:off x="3358" y="2823"/>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31" name="Oval 143"/>
            <p:cNvSpPr/>
            <p:nvPr/>
          </p:nvSpPr>
          <p:spPr>
            <a:xfrm>
              <a:off x="3901" y="2137"/>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32" name="Oval 144"/>
            <p:cNvSpPr/>
            <p:nvPr/>
          </p:nvSpPr>
          <p:spPr>
            <a:xfrm>
              <a:off x="3900" y="2478"/>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64633" name="Oval 145"/>
            <p:cNvSpPr/>
            <p:nvPr/>
          </p:nvSpPr>
          <p:spPr>
            <a:xfrm>
              <a:off x="4763" y="2308"/>
              <a:ext cx="45" cy="45"/>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27906"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64516" name="Text Box 3"/>
          <p:cNvSpPr txBox="1"/>
          <p:nvPr/>
        </p:nvSpPr>
        <p:spPr>
          <a:xfrm>
            <a:off x="431800" y="654050"/>
            <a:ext cx="74263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3.6.2 </a:t>
            </a:r>
            <a:r>
              <a:rPr lang="zh-CN" altLang="en-US" sz="3200" dirty="0">
                <a:latin typeface="Times New Roman" panose="02020603050405020304" pitchFamily="18" charset="0"/>
              </a:rPr>
              <a:t>组成增益可程控的电压运算放大器</a:t>
            </a:r>
            <a:endParaRPr lang="zh-CN" altLang="en-US" sz="3200" dirty="0">
              <a:latin typeface="Times New Roman" panose="02020603050405020304" pitchFamily="18" charset="0"/>
            </a:endParaRPr>
          </a:p>
        </p:txBody>
      </p:sp>
      <p:sp>
        <p:nvSpPr>
          <p:cNvPr id="2427942" name="Text Box 38"/>
          <p:cNvSpPr txBox="1"/>
          <p:nvPr/>
        </p:nvSpPr>
        <p:spPr>
          <a:xfrm>
            <a:off x="431800" y="1366838"/>
            <a:ext cx="1223963" cy="585787"/>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例子</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428051" name="Line 147"/>
          <p:cNvSpPr/>
          <p:nvPr/>
        </p:nvSpPr>
        <p:spPr>
          <a:xfrm flipH="1">
            <a:off x="4464050" y="1922463"/>
            <a:ext cx="396875" cy="0"/>
          </a:xfrm>
          <a:prstGeom prst="line">
            <a:avLst/>
          </a:prstGeom>
          <a:ln w="31750" cap="flat" cmpd="sng">
            <a:solidFill>
              <a:srgbClr val="00FF00"/>
            </a:solidFill>
            <a:prstDash val="dash"/>
            <a:headEnd type="none" w="med" len="med"/>
            <a:tailEnd type="none" w="med" len="med"/>
          </a:ln>
        </p:spPr>
      </p:sp>
      <p:sp>
        <p:nvSpPr>
          <p:cNvPr id="2428052" name="Line 148"/>
          <p:cNvSpPr/>
          <p:nvPr/>
        </p:nvSpPr>
        <p:spPr>
          <a:xfrm>
            <a:off x="4464050" y="1922463"/>
            <a:ext cx="0" cy="1687512"/>
          </a:xfrm>
          <a:prstGeom prst="line">
            <a:avLst/>
          </a:prstGeom>
          <a:ln w="31750" cap="flat" cmpd="sng">
            <a:solidFill>
              <a:srgbClr val="00FF00"/>
            </a:solidFill>
            <a:prstDash val="dash"/>
            <a:headEnd type="none" w="med" len="med"/>
            <a:tailEnd type="none" w="med" len="med"/>
          </a:ln>
        </p:spPr>
      </p:sp>
      <p:sp>
        <p:nvSpPr>
          <p:cNvPr id="2428053" name="Line 149"/>
          <p:cNvSpPr/>
          <p:nvPr/>
        </p:nvSpPr>
        <p:spPr>
          <a:xfrm flipH="1">
            <a:off x="4464050" y="3597275"/>
            <a:ext cx="396875" cy="0"/>
          </a:xfrm>
          <a:prstGeom prst="line">
            <a:avLst/>
          </a:prstGeom>
          <a:ln w="31750" cap="flat" cmpd="sng">
            <a:solidFill>
              <a:srgbClr val="00FF00"/>
            </a:solidFill>
            <a:prstDash val="dash"/>
            <a:headEnd type="none" w="med" len="med"/>
            <a:tailEnd type="none" w="med" len="med"/>
          </a:ln>
        </p:spPr>
      </p:sp>
      <p:sp>
        <p:nvSpPr>
          <p:cNvPr id="2428054" name="Line 150"/>
          <p:cNvSpPr/>
          <p:nvPr/>
        </p:nvSpPr>
        <p:spPr>
          <a:xfrm flipH="1">
            <a:off x="4464050" y="3808413"/>
            <a:ext cx="396875" cy="0"/>
          </a:xfrm>
          <a:prstGeom prst="line">
            <a:avLst/>
          </a:prstGeom>
          <a:ln w="31750" cap="flat" cmpd="sng">
            <a:solidFill>
              <a:srgbClr val="00FF00"/>
            </a:solidFill>
            <a:prstDash val="dash"/>
            <a:headEnd type="none" w="med" len="med"/>
            <a:tailEnd type="none" w="med" len="med"/>
          </a:ln>
        </p:spPr>
      </p:sp>
      <p:sp>
        <p:nvSpPr>
          <p:cNvPr id="2428055" name="Line 151"/>
          <p:cNvSpPr/>
          <p:nvPr/>
        </p:nvSpPr>
        <p:spPr>
          <a:xfrm>
            <a:off x="4464050" y="3808413"/>
            <a:ext cx="0" cy="1687512"/>
          </a:xfrm>
          <a:prstGeom prst="line">
            <a:avLst/>
          </a:prstGeom>
          <a:ln w="31750" cap="flat" cmpd="sng">
            <a:solidFill>
              <a:srgbClr val="00FF00"/>
            </a:solidFill>
            <a:prstDash val="dash"/>
            <a:headEnd type="none" w="med" len="med"/>
            <a:tailEnd type="none" w="med" len="med"/>
          </a:ln>
        </p:spPr>
      </p:sp>
      <p:sp>
        <p:nvSpPr>
          <p:cNvPr id="2428056" name="Line 152"/>
          <p:cNvSpPr/>
          <p:nvPr/>
        </p:nvSpPr>
        <p:spPr>
          <a:xfrm flipH="1">
            <a:off x="4464050" y="5483225"/>
            <a:ext cx="396875" cy="0"/>
          </a:xfrm>
          <a:prstGeom prst="line">
            <a:avLst/>
          </a:prstGeom>
          <a:ln w="31750" cap="flat" cmpd="sng">
            <a:solidFill>
              <a:srgbClr val="00FF00"/>
            </a:solidFill>
            <a:prstDash val="dash"/>
            <a:headEnd type="none" w="med" len="med"/>
            <a:tailEnd type="none" w="med" len="med"/>
          </a:ln>
        </p:spPr>
      </p:sp>
      <p:sp>
        <p:nvSpPr>
          <p:cNvPr id="2428058" name="Line 154"/>
          <p:cNvSpPr/>
          <p:nvPr/>
        </p:nvSpPr>
        <p:spPr>
          <a:xfrm flipH="1">
            <a:off x="4464050" y="2408238"/>
            <a:ext cx="396875" cy="0"/>
          </a:xfrm>
          <a:prstGeom prst="line">
            <a:avLst/>
          </a:prstGeom>
          <a:ln w="31750" cap="flat" cmpd="sng">
            <a:solidFill>
              <a:srgbClr val="00FF00"/>
            </a:solidFill>
            <a:prstDash val="dash"/>
            <a:headEnd type="none" w="med" len="med"/>
            <a:tailEnd type="none" w="med" len="med"/>
          </a:ln>
        </p:spPr>
      </p:sp>
      <p:sp>
        <p:nvSpPr>
          <p:cNvPr id="2428059" name="Line 155"/>
          <p:cNvSpPr/>
          <p:nvPr/>
        </p:nvSpPr>
        <p:spPr>
          <a:xfrm flipH="1">
            <a:off x="4460875" y="2408238"/>
            <a:ext cx="3175" cy="1189037"/>
          </a:xfrm>
          <a:prstGeom prst="line">
            <a:avLst/>
          </a:prstGeom>
          <a:ln w="31750" cap="flat" cmpd="sng">
            <a:solidFill>
              <a:srgbClr val="00FF00"/>
            </a:solidFill>
            <a:prstDash val="dash"/>
            <a:headEnd type="none" w="med" len="med"/>
            <a:tailEnd type="none" w="med" len="med"/>
          </a:ln>
        </p:spPr>
      </p:sp>
      <p:sp>
        <p:nvSpPr>
          <p:cNvPr id="2428060" name="Line 156"/>
          <p:cNvSpPr/>
          <p:nvPr/>
        </p:nvSpPr>
        <p:spPr>
          <a:xfrm flipH="1">
            <a:off x="4460875" y="4984750"/>
            <a:ext cx="396875" cy="0"/>
          </a:xfrm>
          <a:prstGeom prst="line">
            <a:avLst/>
          </a:prstGeom>
          <a:ln w="31750" cap="flat" cmpd="sng">
            <a:solidFill>
              <a:srgbClr val="00FF00"/>
            </a:solidFill>
            <a:prstDash val="dash"/>
            <a:headEnd type="none" w="med" len="med"/>
            <a:tailEnd type="none" w="med" len="med"/>
          </a:ln>
        </p:spPr>
      </p:sp>
      <p:sp>
        <p:nvSpPr>
          <p:cNvPr id="2428061" name="Line 157"/>
          <p:cNvSpPr/>
          <p:nvPr/>
        </p:nvSpPr>
        <p:spPr>
          <a:xfrm flipH="1">
            <a:off x="4464050" y="3808413"/>
            <a:ext cx="3175" cy="1189037"/>
          </a:xfrm>
          <a:prstGeom prst="line">
            <a:avLst/>
          </a:prstGeom>
          <a:ln w="31750" cap="flat" cmpd="sng">
            <a:solidFill>
              <a:srgbClr val="00FF00"/>
            </a:solidFill>
            <a:prstDash val="dash"/>
            <a:headEnd type="none" w="med" len="med"/>
            <a:tailEnd type="none" w="med" len="med"/>
          </a:ln>
        </p:spPr>
      </p:sp>
      <p:sp>
        <p:nvSpPr>
          <p:cNvPr id="2428062" name="Line 158"/>
          <p:cNvSpPr/>
          <p:nvPr/>
        </p:nvSpPr>
        <p:spPr>
          <a:xfrm flipH="1">
            <a:off x="4467225" y="2878138"/>
            <a:ext cx="396875" cy="0"/>
          </a:xfrm>
          <a:prstGeom prst="line">
            <a:avLst/>
          </a:prstGeom>
          <a:ln w="31750" cap="flat" cmpd="sng">
            <a:solidFill>
              <a:srgbClr val="00FF00"/>
            </a:solidFill>
            <a:prstDash val="dash"/>
            <a:headEnd type="none" w="med" len="med"/>
            <a:tailEnd type="none" w="med" len="med"/>
          </a:ln>
        </p:spPr>
      </p:sp>
      <p:sp>
        <p:nvSpPr>
          <p:cNvPr id="2428063" name="Line 159"/>
          <p:cNvSpPr/>
          <p:nvPr/>
        </p:nvSpPr>
        <p:spPr>
          <a:xfrm flipH="1">
            <a:off x="4467225" y="4514850"/>
            <a:ext cx="396875" cy="0"/>
          </a:xfrm>
          <a:prstGeom prst="line">
            <a:avLst/>
          </a:prstGeom>
          <a:ln w="31750" cap="flat" cmpd="sng">
            <a:solidFill>
              <a:srgbClr val="00FF00"/>
            </a:solidFill>
            <a:prstDash val="dash"/>
            <a:headEnd type="none" w="med" len="med"/>
            <a:tailEnd type="none" w="med" len="med"/>
          </a:ln>
        </p:spPr>
      </p:sp>
      <p:sp>
        <p:nvSpPr>
          <p:cNvPr id="2428064" name="Line 160"/>
          <p:cNvSpPr/>
          <p:nvPr/>
        </p:nvSpPr>
        <p:spPr>
          <a:xfrm flipH="1">
            <a:off x="4464050" y="2882900"/>
            <a:ext cx="0" cy="714375"/>
          </a:xfrm>
          <a:prstGeom prst="line">
            <a:avLst/>
          </a:prstGeom>
          <a:ln w="31750" cap="flat" cmpd="sng">
            <a:solidFill>
              <a:srgbClr val="00FF00"/>
            </a:solidFill>
            <a:prstDash val="dash"/>
            <a:headEnd type="none" w="med" len="med"/>
            <a:tailEnd type="none" w="med" len="med"/>
          </a:ln>
        </p:spPr>
      </p:sp>
      <p:sp>
        <p:nvSpPr>
          <p:cNvPr id="2428065" name="Line 161"/>
          <p:cNvSpPr/>
          <p:nvPr/>
        </p:nvSpPr>
        <p:spPr>
          <a:xfrm flipH="1">
            <a:off x="4464050" y="3808413"/>
            <a:ext cx="0" cy="714375"/>
          </a:xfrm>
          <a:prstGeom prst="line">
            <a:avLst/>
          </a:prstGeom>
          <a:ln w="31750" cap="flat" cmpd="sng">
            <a:solidFill>
              <a:srgbClr val="00FF00"/>
            </a:solidFill>
            <a:prstDash val="dash"/>
            <a:headEnd type="none" w="med" len="med"/>
            <a:tailEnd type="none" w="med" len="med"/>
          </a:ln>
        </p:spPr>
      </p:sp>
      <p:sp>
        <p:nvSpPr>
          <p:cNvPr id="2428066" name="Line 162"/>
          <p:cNvSpPr/>
          <p:nvPr/>
        </p:nvSpPr>
        <p:spPr>
          <a:xfrm flipH="1">
            <a:off x="4460875" y="3321050"/>
            <a:ext cx="396875" cy="0"/>
          </a:xfrm>
          <a:prstGeom prst="line">
            <a:avLst/>
          </a:prstGeom>
          <a:ln w="31750" cap="flat" cmpd="sng">
            <a:solidFill>
              <a:srgbClr val="00FF00"/>
            </a:solidFill>
            <a:prstDash val="dash"/>
            <a:headEnd type="none" w="med" len="med"/>
            <a:tailEnd type="none" w="med" len="med"/>
          </a:ln>
        </p:spPr>
      </p:sp>
      <p:sp>
        <p:nvSpPr>
          <p:cNvPr id="2428067" name="Line 163"/>
          <p:cNvSpPr/>
          <p:nvPr/>
        </p:nvSpPr>
        <p:spPr>
          <a:xfrm flipH="1">
            <a:off x="4464050" y="4071938"/>
            <a:ext cx="396875" cy="0"/>
          </a:xfrm>
          <a:prstGeom prst="line">
            <a:avLst/>
          </a:prstGeom>
          <a:ln w="31750" cap="flat" cmpd="sng">
            <a:solidFill>
              <a:srgbClr val="00FF00"/>
            </a:solidFill>
            <a:prstDash val="dash"/>
            <a:headEnd type="none" w="med" len="med"/>
            <a:tailEnd type="none" w="med" len="med"/>
          </a:ln>
        </p:spPr>
      </p:sp>
      <p:sp>
        <p:nvSpPr>
          <p:cNvPr id="2428068" name="Line 164"/>
          <p:cNvSpPr/>
          <p:nvPr/>
        </p:nvSpPr>
        <p:spPr>
          <a:xfrm flipH="1">
            <a:off x="4460875" y="3813175"/>
            <a:ext cx="0" cy="258763"/>
          </a:xfrm>
          <a:prstGeom prst="line">
            <a:avLst/>
          </a:prstGeom>
          <a:ln w="31750" cap="flat" cmpd="sng">
            <a:solidFill>
              <a:srgbClr val="00FF00"/>
            </a:solidFill>
            <a:prstDash val="dash"/>
            <a:headEnd type="none" w="med" len="med"/>
            <a:tailEnd type="none" w="med" len="med"/>
          </a:ln>
        </p:spPr>
      </p:sp>
      <p:sp>
        <p:nvSpPr>
          <p:cNvPr id="2428069" name="Line 165"/>
          <p:cNvSpPr/>
          <p:nvPr/>
        </p:nvSpPr>
        <p:spPr>
          <a:xfrm flipH="1">
            <a:off x="4460875" y="3343275"/>
            <a:ext cx="0" cy="258763"/>
          </a:xfrm>
          <a:prstGeom prst="line">
            <a:avLst/>
          </a:prstGeom>
          <a:ln w="31750" cap="flat" cmpd="sng">
            <a:solidFill>
              <a:srgbClr val="00FF00"/>
            </a:solidFill>
            <a:prstDash val="dash"/>
            <a:headEnd type="none" w="med" len="med"/>
            <a:tailEnd type="none" w="med" len="med"/>
          </a:ln>
        </p:spPr>
      </p:sp>
      <p:sp>
        <p:nvSpPr>
          <p:cNvPr id="2423878" name="Text Box 70"/>
          <p:cNvSpPr txBox="1"/>
          <p:nvPr/>
        </p:nvSpPr>
        <p:spPr>
          <a:xfrm>
            <a:off x="5743575" y="1808163"/>
            <a:ext cx="3057525"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增益通过改变</a:t>
            </a:r>
            <a:r>
              <a:rPr lang="en-US" altLang="zh-CN" sz="2400"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2</a:t>
            </a:r>
            <a:r>
              <a:rPr lang="zh-CN" altLang="en-US" sz="2400" dirty="0">
                <a:solidFill>
                  <a:srgbClr val="FF0000"/>
                </a:solidFill>
                <a:latin typeface="Times New Roman" panose="02020603050405020304" pitchFamily="18" charset="0"/>
              </a:rPr>
              <a:t>实现</a:t>
            </a:r>
            <a:endParaRPr lang="zh-CN" altLang="en-US" sz="24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7942"/>
                                        </p:tgtEl>
                                        <p:attrNameLst>
                                          <p:attrName>style.visibility</p:attrName>
                                        </p:attrNameLst>
                                      </p:cBhvr>
                                      <p:to>
                                        <p:strVal val="visible"/>
                                      </p:to>
                                    </p:set>
                                    <p:animEffect transition="in" filter="dissolve">
                                      <p:cBhvr>
                                        <p:cTn id="7" dur="500"/>
                                        <p:tgtEl>
                                          <p:spTgt spid="24279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8050"/>
                                        </p:tgtEl>
                                        <p:attrNameLst>
                                          <p:attrName>style.visibility</p:attrName>
                                        </p:attrNameLst>
                                      </p:cBhvr>
                                      <p:to>
                                        <p:strVal val="visible"/>
                                      </p:to>
                                    </p:set>
                                    <p:animEffect transition="in" filter="dissolve">
                                      <p:cBhvr>
                                        <p:cTn id="12" dur="500"/>
                                        <p:tgtEl>
                                          <p:spTgt spid="242805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3878"/>
                                        </p:tgtEl>
                                        <p:attrNameLst>
                                          <p:attrName>style.visibility</p:attrName>
                                        </p:attrNameLst>
                                      </p:cBhvr>
                                      <p:to>
                                        <p:strVal val="visible"/>
                                      </p:to>
                                    </p:set>
                                    <p:animEffect transition="in" filter="dissolve">
                                      <p:cBhvr>
                                        <p:cTn id="17" dur="500"/>
                                        <p:tgtEl>
                                          <p:spTgt spid="242387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2428051"/>
                                        </p:tgtEl>
                                        <p:attrNameLst>
                                          <p:attrName>style.visibility</p:attrName>
                                        </p:attrNameLst>
                                      </p:cBhvr>
                                      <p:to>
                                        <p:strVal val="visible"/>
                                      </p:to>
                                    </p:set>
                                    <p:animEffect transition="in" filter="wipe(right)">
                                      <p:cBhvr>
                                        <p:cTn id="22" dur="500"/>
                                        <p:tgtEl>
                                          <p:spTgt spid="2428051"/>
                                        </p:tgtEl>
                                      </p:cBhvr>
                                    </p:animEffect>
                                  </p:childTnLst>
                                </p:cTn>
                              </p:par>
                              <p:par>
                                <p:cTn id="23" presetID="22" presetClass="entr" presetSubtype="2" fill="hold" nodeType="withEffect">
                                  <p:stCondLst>
                                    <p:cond delay="0"/>
                                  </p:stCondLst>
                                  <p:childTnLst>
                                    <p:set>
                                      <p:cBhvr>
                                        <p:cTn id="24" dur="1" fill="hold">
                                          <p:stCondLst>
                                            <p:cond delay="0"/>
                                          </p:stCondLst>
                                        </p:cTn>
                                        <p:tgtEl>
                                          <p:spTgt spid="2428056"/>
                                        </p:tgtEl>
                                        <p:attrNameLst>
                                          <p:attrName>style.visibility</p:attrName>
                                        </p:attrNameLst>
                                      </p:cBhvr>
                                      <p:to>
                                        <p:strVal val="visible"/>
                                      </p:to>
                                    </p:set>
                                    <p:animEffect transition="in" filter="wipe(right)">
                                      <p:cBhvr>
                                        <p:cTn id="25" dur="500"/>
                                        <p:tgtEl>
                                          <p:spTgt spid="2428056"/>
                                        </p:tgtEl>
                                      </p:cBhvr>
                                    </p:animEffect>
                                  </p:childTnLst>
                                </p:cTn>
                              </p:par>
                            </p:childTnLst>
                          </p:cTn>
                        </p:par>
                        <p:par>
                          <p:cTn id="26" fill="hold">
                            <p:stCondLst>
                              <p:cond delay="500"/>
                            </p:stCondLst>
                            <p:childTnLst>
                              <p:par>
                                <p:cTn id="27" presetID="22" presetClass="entr" presetSubtype="1" fill="hold" nodeType="afterEffect">
                                  <p:stCondLst>
                                    <p:cond delay="0"/>
                                  </p:stCondLst>
                                  <p:childTnLst>
                                    <p:set>
                                      <p:cBhvr>
                                        <p:cTn id="28" dur="1" fill="hold">
                                          <p:stCondLst>
                                            <p:cond delay="0"/>
                                          </p:stCondLst>
                                        </p:cTn>
                                        <p:tgtEl>
                                          <p:spTgt spid="2428052"/>
                                        </p:tgtEl>
                                        <p:attrNameLst>
                                          <p:attrName>style.visibility</p:attrName>
                                        </p:attrNameLst>
                                      </p:cBhvr>
                                      <p:to>
                                        <p:strVal val="visible"/>
                                      </p:to>
                                    </p:set>
                                    <p:animEffect transition="in" filter="wipe(up)">
                                      <p:cBhvr>
                                        <p:cTn id="29" dur="500"/>
                                        <p:tgtEl>
                                          <p:spTgt spid="2428052"/>
                                        </p:tgtEl>
                                      </p:cBhvr>
                                    </p:animEffect>
                                  </p:childTnLst>
                                </p:cTn>
                              </p:par>
                              <p:par>
                                <p:cTn id="30" presetID="22" presetClass="entr" presetSubtype="4" fill="hold" nodeType="withEffect">
                                  <p:stCondLst>
                                    <p:cond delay="0"/>
                                  </p:stCondLst>
                                  <p:childTnLst>
                                    <p:set>
                                      <p:cBhvr>
                                        <p:cTn id="31" dur="1" fill="hold">
                                          <p:stCondLst>
                                            <p:cond delay="0"/>
                                          </p:stCondLst>
                                        </p:cTn>
                                        <p:tgtEl>
                                          <p:spTgt spid="2428055"/>
                                        </p:tgtEl>
                                        <p:attrNameLst>
                                          <p:attrName>style.visibility</p:attrName>
                                        </p:attrNameLst>
                                      </p:cBhvr>
                                      <p:to>
                                        <p:strVal val="visible"/>
                                      </p:to>
                                    </p:set>
                                    <p:animEffect transition="in" filter="wipe(down)">
                                      <p:cBhvr>
                                        <p:cTn id="32" dur="500"/>
                                        <p:tgtEl>
                                          <p:spTgt spid="2428055"/>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2428053"/>
                                        </p:tgtEl>
                                        <p:attrNameLst>
                                          <p:attrName>style.visibility</p:attrName>
                                        </p:attrNameLst>
                                      </p:cBhvr>
                                      <p:to>
                                        <p:strVal val="visible"/>
                                      </p:to>
                                    </p:set>
                                    <p:animEffect transition="in" filter="wipe(left)">
                                      <p:cBhvr>
                                        <p:cTn id="36" dur="500"/>
                                        <p:tgtEl>
                                          <p:spTgt spid="2428053"/>
                                        </p:tgtEl>
                                      </p:cBhvr>
                                    </p:animEffect>
                                  </p:childTnLst>
                                </p:cTn>
                              </p:par>
                              <p:par>
                                <p:cTn id="37" presetID="22" presetClass="entr" presetSubtype="8" fill="hold" nodeType="withEffect">
                                  <p:stCondLst>
                                    <p:cond delay="0"/>
                                  </p:stCondLst>
                                  <p:childTnLst>
                                    <p:set>
                                      <p:cBhvr>
                                        <p:cTn id="38" dur="1" fill="hold">
                                          <p:stCondLst>
                                            <p:cond delay="0"/>
                                          </p:stCondLst>
                                        </p:cTn>
                                        <p:tgtEl>
                                          <p:spTgt spid="2428054"/>
                                        </p:tgtEl>
                                        <p:attrNameLst>
                                          <p:attrName>style.visibility</p:attrName>
                                        </p:attrNameLst>
                                      </p:cBhvr>
                                      <p:to>
                                        <p:strVal val="visible"/>
                                      </p:to>
                                    </p:set>
                                    <p:animEffect transition="in" filter="wipe(left)">
                                      <p:cBhvr>
                                        <p:cTn id="39" dur="500"/>
                                        <p:tgtEl>
                                          <p:spTgt spid="2428054"/>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nodeType="clickEffect">
                                  <p:stCondLst>
                                    <p:cond delay="0"/>
                                  </p:stCondLst>
                                  <p:childTnLst>
                                    <p:set>
                                      <p:cBhvr>
                                        <p:cTn id="43" dur="1" fill="hold">
                                          <p:stCondLst>
                                            <p:cond delay="0"/>
                                          </p:stCondLst>
                                        </p:cTn>
                                        <p:tgtEl>
                                          <p:spTgt spid="2428051"/>
                                        </p:tgtEl>
                                        <p:attrNameLst>
                                          <p:attrName>style.visibility</p:attrName>
                                        </p:attrNameLst>
                                      </p:cBhvr>
                                      <p:to>
                                        <p:strVal val="hidden"/>
                                      </p:to>
                                    </p:set>
                                  </p:childTnLst>
                                </p:cTn>
                              </p:par>
                              <p:par>
                                <p:cTn id="44" presetID="1" presetClass="exit" presetSubtype="0" fill="hold" nodeType="withEffect">
                                  <p:stCondLst>
                                    <p:cond delay="0"/>
                                  </p:stCondLst>
                                  <p:childTnLst>
                                    <p:set>
                                      <p:cBhvr>
                                        <p:cTn id="45" dur="1" fill="hold">
                                          <p:stCondLst>
                                            <p:cond delay="0"/>
                                          </p:stCondLst>
                                        </p:cTn>
                                        <p:tgtEl>
                                          <p:spTgt spid="2428052"/>
                                        </p:tgtEl>
                                        <p:attrNameLst>
                                          <p:attrName>style.visibility</p:attrName>
                                        </p:attrNameLst>
                                      </p:cBhvr>
                                      <p:to>
                                        <p:strVal val="hidden"/>
                                      </p:to>
                                    </p:set>
                                  </p:childTnLst>
                                </p:cTn>
                              </p:par>
                              <p:par>
                                <p:cTn id="46" presetID="1" presetClass="exit" presetSubtype="0" fill="hold" nodeType="withEffect">
                                  <p:stCondLst>
                                    <p:cond delay="0"/>
                                  </p:stCondLst>
                                  <p:childTnLst>
                                    <p:set>
                                      <p:cBhvr>
                                        <p:cTn id="47" dur="1" fill="hold">
                                          <p:stCondLst>
                                            <p:cond delay="0"/>
                                          </p:stCondLst>
                                        </p:cTn>
                                        <p:tgtEl>
                                          <p:spTgt spid="2428053"/>
                                        </p:tgtEl>
                                        <p:attrNameLst>
                                          <p:attrName>style.visibility</p:attrName>
                                        </p:attrNameLst>
                                      </p:cBhvr>
                                      <p:to>
                                        <p:strVal val="hidden"/>
                                      </p:to>
                                    </p:set>
                                  </p:childTnLst>
                                </p:cTn>
                              </p:par>
                              <p:par>
                                <p:cTn id="48" presetID="1" presetClass="exit" presetSubtype="0" fill="hold" nodeType="withEffect">
                                  <p:stCondLst>
                                    <p:cond delay="0"/>
                                  </p:stCondLst>
                                  <p:childTnLst>
                                    <p:set>
                                      <p:cBhvr>
                                        <p:cTn id="49" dur="1" fill="hold">
                                          <p:stCondLst>
                                            <p:cond delay="0"/>
                                          </p:stCondLst>
                                        </p:cTn>
                                        <p:tgtEl>
                                          <p:spTgt spid="2428054"/>
                                        </p:tgtEl>
                                        <p:attrNameLst>
                                          <p:attrName>style.visibility</p:attrName>
                                        </p:attrNameLst>
                                      </p:cBhvr>
                                      <p:to>
                                        <p:strVal val="hidden"/>
                                      </p:to>
                                    </p:set>
                                  </p:childTnLst>
                                </p:cTn>
                              </p:par>
                              <p:par>
                                <p:cTn id="50" presetID="1" presetClass="exit" presetSubtype="0" fill="hold" nodeType="withEffect">
                                  <p:stCondLst>
                                    <p:cond delay="0"/>
                                  </p:stCondLst>
                                  <p:childTnLst>
                                    <p:set>
                                      <p:cBhvr>
                                        <p:cTn id="51" dur="1" fill="hold">
                                          <p:stCondLst>
                                            <p:cond delay="0"/>
                                          </p:stCondLst>
                                        </p:cTn>
                                        <p:tgtEl>
                                          <p:spTgt spid="2428055"/>
                                        </p:tgtEl>
                                        <p:attrNameLst>
                                          <p:attrName>style.visibility</p:attrName>
                                        </p:attrNameLst>
                                      </p:cBhvr>
                                      <p:to>
                                        <p:strVal val="hidden"/>
                                      </p:to>
                                    </p:set>
                                  </p:childTnLst>
                                </p:cTn>
                              </p:par>
                              <p:par>
                                <p:cTn id="52" presetID="1" presetClass="exit" presetSubtype="0" fill="hold" nodeType="withEffect">
                                  <p:stCondLst>
                                    <p:cond delay="0"/>
                                  </p:stCondLst>
                                  <p:childTnLst>
                                    <p:set>
                                      <p:cBhvr>
                                        <p:cTn id="53" dur="1" fill="hold">
                                          <p:stCondLst>
                                            <p:cond delay="0"/>
                                          </p:stCondLst>
                                        </p:cTn>
                                        <p:tgtEl>
                                          <p:spTgt spid="2428056"/>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2428058"/>
                                        </p:tgtEl>
                                        <p:attrNameLst>
                                          <p:attrName>style.visibility</p:attrName>
                                        </p:attrNameLst>
                                      </p:cBhvr>
                                      <p:to>
                                        <p:strVal val="visible"/>
                                      </p:to>
                                    </p:set>
                                    <p:animEffect transition="in" filter="wipe(right)">
                                      <p:cBhvr>
                                        <p:cTn id="58" dur="500"/>
                                        <p:tgtEl>
                                          <p:spTgt spid="2428058"/>
                                        </p:tgtEl>
                                      </p:cBhvr>
                                    </p:animEffect>
                                  </p:childTnLst>
                                </p:cTn>
                              </p:par>
                              <p:par>
                                <p:cTn id="59" presetID="22" presetClass="entr" presetSubtype="2" fill="hold" nodeType="withEffect">
                                  <p:stCondLst>
                                    <p:cond delay="0"/>
                                  </p:stCondLst>
                                  <p:childTnLst>
                                    <p:set>
                                      <p:cBhvr>
                                        <p:cTn id="60" dur="1" fill="hold">
                                          <p:stCondLst>
                                            <p:cond delay="0"/>
                                          </p:stCondLst>
                                        </p:cTn>
                                        <p:tgtEl>
                                          <p:spTgt spid="2428060"/>
                                        </p:tgtEl>
                                        <p:attrNameLst>
                                          <p:attrName>style.visibility</p:attrName>
                                        </p:attrNameLst>
                                      </p:cBhvr>
                                      <p:to>
                                        <p:strVal val="visible"/>
                                      </p:to>
                                    </p:set>
                                    <p:animEffect transition="in" filter="wipe(right)">
                                      <p:cBhvr>
                                        <p:cTn id="61" dur="500"/>
                                        <p:tgtEl>
                                          <p:spTgt spid="2428060"/>
                                        </p:tgtEl>
                                      </p:cBhvr>
                                    </p:animEffect>
                                  </p:childTnLst>
                                </p:cTn>
                              </p:par>
                            </p:childTnLst>
                          </p:cTn>
                        </p:par>
                        <p:par>
                          <p:cTn id="62" fill="hold">
                            <p:stCondLst>
                              <p:cond delay="500"/>
                            </p:stCondLst>
                            <p:childTnLst>
                              <p:par>
                                <p:cTn id="63" presetID="22" presetClass="entr" presetSubtype="1" fill="hold" nodeType="afterEffect">
                                  <p:stCondLst>
                                    <p:cond delay="0"/>
                                  </p:stCondLst>
                                  <p:childTnLst>
                                    <p:set>
                                      <p:cBhvr>
                                        <p:cTn id="64" dur="1" fill="hold">
                                          <p:stCondLst>
                                            <p:cond delay="0"/>
                                          </p:stCondLst>
                                        </p:cTn>
                                        <p:tgtEl>
                                          <p:spTgt spid="2428059"/>
                                        </p:tgtEl>
                                        <p:attrNameLst>
                                          <p:attrName>style.visibility</p:attrName>
                                        </p:attrNameLst>
                                      </p:cBhvr>
                                      <p:to>
                                        <p:strVal val="visible"/>
                                      </p:to>
                                    </p:set>
                                    <p:animEffect transition="in" filter="wipe(up)">
                                      <p:cBhvr>
                                        <p:cTn id="65" dur="500"/>
                                        <p:tgtEl>
                                          <p:spTgt spid="2428059"/>
                                        </p:tgtEl>
                                      </p:cBhvr>
                                    </p:animEffect>
                                  </p:childTnLst>
                                </p:cTn>
                              </p:par>
                              <p:par>
                                <p:cTn id="66" presetID="22" presetClass="entr" presetSubtype="4" fill="hold" nodeType="withEffect">
                                  <p:stCondLst>
                                    <p:cond delay="0"/>
                                  </p:stCondLst>
                                  <p:childTnLst>
                                    <p:set>
                                      <p:cBhvr>
                                        <p:cTn id="67" dur="1" fill="hold">
                                          <p:stCondLst>
                                            <p:cond delay="0"/>
                                          </p:stCondLst>
                                        </p:cTn>
                                        <p:tgtEl>
                                          <p:spTgt spid="2428061"/>
                                        </p:tgtEl>
                                        <p:attrNameLst>
                                          <p:attrName>style.visibility</p:attrName>
                                        </p:attrNameLst>
                                      </p:cBhvr>
                                      <p:to>
                                        <p:strVal val="visible"/>
                                      </p:to>
                                    </p:set>
                                    <p:animEffect transition="in" filter="wipe(down)">
                                      <p:cBhvr>
                                        <p:cTn id="68" dur="500"/>
                                        <p:tgtEl>
                                          <p:spTgt spid="2428061"/>
                                        </p:tgtEl>
                                      </p:cBhvr>
                                    </p:animEffect>
                                  </p:childTnLst>
                                </p:cTn>
                              </p:par>
                            </p:childTnLst>
                          </p:cTn>
                        </p:par>
                        <p:par>
                          <p:cTn id="69" fill="hold">
                            <p:stCondLst>
                              <p:cond delay="1000"/>
                            </p:stCondLst>
                            <p:childTnLst>
                              <p:par>
                                <p:cTn id="70" presetID="22" presetClass="entr" presetSubtype="8" fill="hold" nodeType="afterEffect">
                                  <p:stCondLst>
                                    <p:cond delay="0"/>
                                  </p:stCondLst>
                                  <p:childTnLst>
                                    <p:set>
                                      <p:cBhvr>
                                        <p:cTn id="71" dur="1" fill="hold">
                                          <p:stCondLst>
                                            <p:cond delay="0"/>
                                          </p:stCondLst>
                                        </p:cTn>
                                        <p:tgtEl>
                                          <p:spTgt spid="2428053"/>
                                        </p:tgtEl>
                                        <p:attrNameLst>
                                          <p:attrName>style.visibility</p:attrName>
                                        </p:attrNameLst>
                                      </p:cBhvr>
                                      <p:to>
                                        <p:strVal val="visible"/>
                                      </p:to>
                                    </p:set>
                                    <p:animEffect transition="in" filter="wipe(left)">
                                      <p:cBhvr>
                                        <p:cTn id="72" dur="500"/>
                                        <p:tgtEl>
                                          <p:spTgt spid="2428053"/>
                                        </p:tgtEl>
                                      </p:cBhvr>
                                    </p:animEffect>
                                  </p:childTnLst>
                                </p:cTn>
                              </p:par>
                              <p:par>
                                <p:cTn id="73" presetID="22" presetClass="entr" presetSubtype="8" fill="hold" nodeType="withEffect">
                                  <p:stCondLst>
                                    <p:cond delay="0"/>
                                  </p:stCondLst>
                                  <p:childTnLst>
                                    <p:set>
                                      <p:cBhvr>
                                        <p:cTn id="74" dur="1" fill="hold">
                                          <p:stCondLst>
                                            <p:cond delay="0"/>
                                          </p:stCondLst>
                                        </p:cTn>
                                        <p:tgtEl>
                                          <p:spTgt spid="2428054"/>
                                        </p:tgtEl>
                                        <p:attrNameLst>
                                          <p:attrName>style.visibility</p:attrName>
                                        </p:attrNameLst>
                                      </p:cBhvr>
                                      <p:to>
                                        <p:strVal val="visible"/>
                                      </p:to>
                                    </p:set>
                                    <p:animEffect transition="in" filter="wipe(left)">
                                      <p:cBhvr>
                                        <p:cTn id="75" dur="500"/>
                                        <p:tgtEl>
                                          <p:spTgt spid="2428054"/>
                                        </p:tgtEl>
                                      </p:cBhvr>
                                    </p:animEffect>
                                  </p:childTnLst>
                                </p:cTn>
                              </p:par>
                            </p:childTnLst>
                          </p:cTn>
                        </p:par>
                      </p:childTnLst>
                    </p:cTn>
                  </p:par>
                  <p:par>
                    <p:cTn id="76" fill="hold">
                      <p:stCondLst>
                        <p:cond delay="indefinite"/>
                      </p:stCondLst>
                      <p:childTnLst>
                        <p:par>
                          <p:cTn id="77" fill="hold">
                            <p:stCondLst>
                              <p:cond delay="0"/>
                            </p:stCondLst>
                            <p:childTnLst>
                              <p:par>
                                <p:cTn id="78" presetID="1" presetClass="exit" presetSubtype="0" fill="hold" nodeType="clickEffect">
                                  <p:stCondLst>
                                    <p:cond delay="0"/>
                                  </p:stCondLst>
                                  <p:childTnLst>
                                    <p:set>
                                      <p:cBhvr>
                                        <p:cTn id="79" dur="1" fill="hold">
                                          <p:stCondLst>
                                            <p:cond delay="0"/>
                                          </p:stCondLst>
                                        </p:cTn>
                                        <p:tgtEl>
                                          <p:spTgt spid="2428058"/>
                                        </p:tgtEl>
                                        <p:attrNameLst>
                                          <p:attrName>style.visibility</p:attrName>
                                        </p:attrNameLst>
                                      </p:cBhvr>
                                      <p:to>
                                        <p:strVal val="hidden"/>
                                      </p:to>
                                    </p:set>
                                  </p:childTnLst>
                                </p:cTn>
                              </p:par>
                              <p:par>
                                <p:cTn id="80" presetID="1" presetClass="exit" presetSubtype="0" fill="hold" nodeType="withEffect">
                                  <p:stCondLst>
                                    <p:cond delay="0"/>
                                  </p:stCondLst>
                                  <p:childTnLst>
                                    <p:set>
                                      <p:cBhvr>
                                        <p:cTn id="81" dur="1" fill="hold">
                                          <p:stCondLst>
                                            <p:cond delay="0"/>
                                          </p:stCondLst>
                                        </p:cTn>
                                        <p:tgtEl>
                                          <p:spTgt spid="2428059"/>
                                        </p:tgtEl>
                                        <p:attrNameLst>
                                          <p:attrName>style.visibility</p:attrName>
                                        </p:attrNameLst>
                                      </p:cBhvr>
                                      <p:to>
                                        <p:strVal val="hidden"/>
                                      </p:to>
                                    </p:set>
                                  </p:childTnLst>
                                </p:cTn>
                              </p:par>
                              <p:par>
                                <p:cTn id="82" presetID="1" presetClass="exit" presetSubtype="0" fill="hold" nodeType="withEffect">
                                  <p:stCondLst>
                                    <p:cond delay="0"/>
                                  </p:stCondLst>
                                  <p:childTnLst>
                                    <p:set>
                                      <p:cBhvr>
                                        <p:cTn id="83" dur="1" fill="hold">
                                          <p:stCondLst>
                                            <p:cond delay="0"/>
                                          </p:stCondLst>
                                        </p:cTn>
                                        <p:tgtEl>
                                          <p:spTgt spid="2428053"/>
                                        </p:tgtEl>
                                        <p:attrNameLst>
                                          <p:attrName>style.visibility</p:attrName>
                                        </p:attrNameLst>
                                      </p:cBhvr>
                                      <p:to>
                                        <p:strVal val="hidden"/>
                                      </p:to>
                                    </p:set>
                                  </p:childTnLst>
                                </p:cTn>
                              </p:par>
                              <p:par>
                                <p:cTn id="84" presetID="1" presetClass="exit" presetSubtype="0" fill="hold" nodeType="withEffect">
                                  <p:stCondLst>
                                    <p:cond delay="0"/>
                                  </p:stCondLst>
                                  <p:childTnLst>
                                    <p:set>
                                      <p:cBhvr>
                                        <p:cTn id="85" dur="1" fill="hold">
                                          <p:stCondLst>
                                            <p:cond delay="0"/>
                                          </p:stCondLst>
                                        </p:cTn>
                                        <p:tgtEl>
                                          <p:spTgt spid="2428054"/>
                                        </p:tgtEl>
                                        <p:attrNameLst>
                                          <p:attrName>style.visibility</p:attrName>
                                        </p:attrNameLst>
                                      </p:cBhvr>
                                      <p:to>
                                        <p:strVal val="hidden"/>
                                      </p:to>
                                    </p:set>
                                  </p:childTnLst>
                                </p:cTn>
                              </p:par>
                              <p:par>
                                <p:cTn id="86" presetID="1" presetClass="exit" presetSubtype="0" fill="hold" nodeType="withEffect">
                                  <p:stCondLst>
                                    <p:cond delay="0"/>
                                  </p:stCondLst>
                                  <p:childTnLst>
                                    <p:set>
                                      <p:cBhvr>
                                        <p:cTn id="87" dur="1" fill="hold">
                                          <p:stCondLst>
                                            <p:cond delay="0"/>
                                          </p:stCondLst>
                                        </p:cTn>
                                        <p:tgtEl>
                                          <p:spTgt spid="2428061"/>
                                        </p:tgtEl>
                                        <p:attrNameLst>
                                          <p:attrName>style.visibility</p:attrName>
                                        </p:attrNameLst>
                                      </p:cBhvr>
                                      <p:to>
                                        <p:strVal val="hidden"/>
                                      </p:to>
                                    </p:set>
                                  </p:childTnLst>
                                </p:cTn>
                              </p:par>
                              <p:par>
                                <p:cTn id="88" presetID="1" presetClass="exit" presetSubtype="0" fill="hold" nodeType="withEffect">
                                  <p:stCondLst>
                                    <p:cond delay="0"/>
                                  </p:stCondLst>
                                  <p:childTnLst>
                                    <p:set>
                                      <p:cBhvr>
                                        <p:cTn id="89" dur="1" fill="hold">
                                          <p:stCondLst>
                                            <p:cond delay="0"/>
                                          </p:stCondLst>
                                        </p:cTn>
                                        <p:tgtEl>
                                          <p:spTgt spid="2428060"/>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22" presetClass="entr" presetSubtype="2" fill="hold" nodeType="clickEffect">
                                  <p:stCondLst>
                                    <p:cond delay="0"/>
                                  </p:stCondLst>
                                  <p:childTnLst>
                                    <p:set>
                                      <p:cBhvr>
                                        <p:cTn id="93" dur="1" fill="hold">
                                          <p:stCondLst>
                                            <p:cond delay="0"/>
                                          </p:stCondLst>
                                        </p:cTn>
                                        <p:tgtEl>
                                          <p:spTgt spid="2428063"/>
                                        </p:tgtEl>
                                        <p:attrNameLst>
                                          <p:attrName>style.visibility</p:attrName>
                                        </p:attrNameLst>
                                      </p:cBhvr>
                                      <p:to>
                                        <p:strVal val="visible"/>
                                      </p:to>
                                    </p:set>
                                    <p:animEffect transition="in" filter="wipe(right)">
                                      <p:cBhvr>
                                        <p:cTn id="94" dur="500"/>
                                        <p:tgtEl>
                                          <p:spTgt spid="2428063"/>
                                        </p:tgtEl>
                                      </p:cBhvr>
                                    </p:animEffect>
                                  </p:childTnLst>
                                </p:cTn>
                              </p:par>
                              <p:par>
                                <p:cTn id="95" presetID="22" presetClass="entr" presetSubtype="2" fill="hold" nodeType="withEffect">
                                  <p:stCondLst>
                                    <p:cond delay="0"/>
                                  </p:stCondLst>
                                  <p:childTnLst>
                                    <p:set>
                                      <p:cBhvr>
                                        <p:cTn id="96" dur="1" fill="hold">
                                          <p:stCondLst>
                                            <p:cond delay="0"/>
                                          </p:stCondLst>
                                        </p:cTn>
                                        <p:tgtEl>
                                          <p:spTgt spid="2428062"/>
                                        </p:tgtEl>
                                        <p:attrNameLst>
                                          <p:attrName>style.visibility</p:attrName>
                                        </p:attrNameLst>
                                      </p:cBhvr>
                                      <p:to>
                                        <p:strVal val="visible"/>
                                      </p:to>
                                    </p:set>
                                    <p:animEffect transition="in" filter="wipe(right)">
                                      <p:cBhvr>
                                        <p:cTn id="97" dur="500"/>
                                        <p:tgtEl>
                                          <p:spTgt spid="2428062"/>
                                        </p:tgtEl>
                                      </p:cBhvr>
                                    </p:animEffect>
                                  </p:childTnLst>
                                </p:cTn>
                              </p:par>
                            </p:childTnLst>
                          </p:cTn>
                        </p:par>
                        <p:par>
                          <p:cTn id="98" fill="hold">
                            <p:stCondLst>
                              <p:cond delay="500"/>
                            </p:stCondLst>
                            <p:childTnLst>
                              <p:par>
                                <p:cTn id="99" presetID="22" presetClass="entr" presetSubtype="1" fill="hold" nodeType="afterEffect">
                                  <p:stCondLst>
                                    <p:cond delay="0"/>
                                  </p:stCondLst>
                                  <p:childTnLst>
                                    <p:set>
                                      <p:cBhvr>
                                        <p:cTn id="100" dur="1" fill="hold">
                                          <p:stCondLst>
                                            <p:cond delay="0"/>
                                          </p:stCondLst>
                                        </p:cTn>
                                        <p:tgtEl>
                                          <p:spTgt spid="2428064"/>
                                        </p:tgtEl>
                                        <p:attrNameLst>
                                          <p:attrName>style.visibility</p:attrName>
                                        </p:attrNameLst>
                                      </p:cBhvr>
                                      <p:to>
                                        <p:strVal val="visible"/>
                                      </p:to>
                                    </p:set>
                                    <p:animEffect transition="in" filter="wipe(up)">
                                      <p:cBhvr>
                                        <p:cTn id="101" dur="500"/>
                                        <p:tgtEl>
                                          <p:spTgt spid="2428064"/>
                                        </p:tgtEl>
                                      </p:cBhvr>
                                    </p:animEffect>
                                  </p:childTnLst>
                                </p:cTn>
                              </p:par>
                              <p:par>
                                <p:cTn id="102" presetID="22" presetClass="entr" presetSubtype="4" fill="hold" nodeType="withEffect">
                                  <p:stCondLst>
                                    <p:cond delay="0"/>
                                  </p:stCondLst>
                                  <p:childTnLst>
                                    <p:set>
                                      <p:cBhvr>
                                        <p:cTn id="103" dur="1" fill="hold">
                                          <p:stCondLst>
                                            <p:cond delay="0"/>
                                          </p:stCondLst>
                                        </p:cTn>
                                        <p:tgtEl>
                                          <p:spTgt spid="2428065"/>
                                        </p:tgtEl>
                                        <p:attrNameLst>
                                          <p:attrName>style.visibility</p:attrName>
                                        </p:attrNameLst>
                                      </p:cBhvr>
                                      <p:to>
                                        <p:strVal val="visible"/>
                                      </p:to>
                                    </p:set>
                                    <p:animEffect transition="in" filter="wipe(down)">
                                      <p:cBhvr>
                                        <p:cTn id="104" dur="500"/>
                                        <p:tgtEl>
                                          <p:spTgt spid="2428065"/>
                                        </p:tgtEl>
                                      </p:cBhvr>
                                    </p:animEffect>
                                  </p:childTnLst>
                                </p:cTn>
                              </p:par>
                            </p:childTnLst>
                          </p:cTn>
                        </p:par>
                        <p:par>
                          <p:cTn id="105" fill="hold">
                            <p:stCondLst>
                              <p:cond delay="1000"/>
                            </p:stCondLst>
                            <p:childTnLst>
                              <p:par>
                                <p:cTn id="106" presetID="22" presetClass="entr" presetSubtype="8" fill="hold" nodeType="afterEffect">
                                  <p:stCondLst>
                                    <p:cond delay="0"/>
                                  </p:stCondLst>
                                  <p:childTnLst>
                                    <p:set>
                                      <p:cBhvr>
                                        <p:cTn id="107" dur="1" fill="hold">
                                          <p:stCondLst>
                                            <p:cond delay="0"/>
                                          </p:stCondLst>
                                        </p:cTn>
                                        <p:tgtEl>
                                          <p:spTgt spid="2428053"/>
                                        </p:tgtEl>
                                        <p:attrNameLst>
                                          <p:attrName>style.visibility</p:attrName>
                                        </p:attrNameLst>
                                      </p:cBhvr>
                                      <p:to>
                                        <p:strVal val="visible"/>
                                      </p:to>
                                    </p:set>
                                    <p:animEffect transition="in" filter="wipe(left)">
                                      <p:cBhvr>
                                        <p:cTn id="108" dur="500"/>
                                        <p:tgtEl>
                                          <p:spTgt spid="2428053"/>
                                        </p:tgtEl>
                                      </p:cBhvr>
                                    </p:animEffect>
                                  </p:childTnLst>
                                </p:cTn>
                              </p:par>
                              <p:par>
                                <p:cTn id="109" presetID="22" presetClass="entr" presetSubtype="8" fill="hold" nodeType="withEffect">
                                  <p:stCondLst>
                                    <p:cond delay="0"/>
                                  </p:stCondLst>
                                  <p:childTnLst>
                                    <p:set>
                                      <p:cBhvr>
                                        <p:cTn id="110" dur="1" fill="hold">
                                          <p:stCondLst>
                                            <p:cond delay="0"/>
                                          </p:stCondLst>
                                        </p:cTn>
                                        <p:tgtEl>
                                          <p:spTgt spid="2428054"/>
                                        </p:tgtEl>
                                        <p:attrNameLst>
                                          <p:attrName>style.visibility</p:attrName>
                                        </p:attrNameLst>
                                      </p:cBhvr>
                                      <p:to>
                                        <p:strVal val="visible"/>
                                      </p:to>
                                    </p:set>
                                    <p:animEffect transition="in" filter="wipe(left)">
                                      <p:cBhvr>
                                        <p:cTn id="111" dur="500"/>
                                        <p:tgtEl>
                                          <p:spTgt spid="2428054"/>
                                        </p:tgtEl>
                                      </p:cBhvr>
                                    </p:animEffect>
                                  </p:childTnLst>
                                </p:cTn>
                              </p:par>
                            </p:childTnLst>
                          </p:cTn>
                        </p:par>
                      </p:childTnLst>
                    </p:cTn>
                  </p:par>
                  <p:par>
                    <p:cTn id="112" fill="hold">
                      <p:stCondLst>
                        <p:cond delay="indefinite"/>
                      </p:stCondLst>
                      <p:childTnLst>
                        <p:par>
                          <p:cTn id="113" fill="hold">
                            <p:stCondLst>
                              <p:cond delay="0"/>
                            </p:stCondLst>
                            <p:childTnLst>
                              <p:par>
                                <p:cTn id="114" presetID="1" presetClass="exit" presetSubtype="0" fill="hold" nodeType="clickEffect">
                                  <p:stCondLst>
                                    <p:cond delay="0"/>
                                  </p:stCondLst>
                                  <p:childTnLst>
                                    <p:set>
                                      <p:cBhvr>
                                        <p:cTn id="115" dur="1" fill="hold">
                                          <p:stCondLst>
                                            <p:cond delay="0"/>
                                          </p:stCondLst>
                                        </p:cTn>
                                        <p:tgtEl>
                                          <p:spTgt spid="2428062"/>
                                        </p:tgtEl>
                                        <p:attrNameLst>
                                          <p:attrName>style.visibility</p:attrName>
                                        </p:attrNameLst>
                                      </p:cBhvr>
                                      <p:to>
                                        <p:strVal val="hidden"/>
                                      </p:to>
                                    </p:set>
                                  </p:childTnLst>
                                </p:cTn>
                              </p:par>
                              <p:par>
                                <p:cTn id="116" presetID="1" presetClass="exit" presetSubtype="0" fill="hold" nodeType="withEffect">
                                  <p:stCondLst>
                                    <p:cond delay="0"/>
                                  </p:stCondLst>
                                  <p:childTnLst>
                                    <p:set>
                                      <p:cBhvr>
                                        <p:cTn id="117" dur="1" fill="hold">
                                          <p:stCondLst>
                                            <p:cond delay="0"/>
                                          </p:stCondLst>
                                        </p:cTn>
                                        <p:tgtEl>
                                          <p:spTgt spid="2428064"/>
                                        </p:tgtEl>
                                        <p:attrNameLst>
                                          <p:attrName>style.visibility</p:attrName>
                                        </p:attrNameLst>
                                      </p:cBhvr>
                                      <p:to>
                                        <p:strVal val="hidden"/>
                                      </p:to>
                                    </p:set>
                                  </p:childTnLst>
                                </p:cTn>
                              </p:par>
                              <p:par>
                                <p:cTn id="118" presetID="1" presetClass="exit" presetSubtype="0" fill="hold" nodeType="withEffect">
                                  <p:stCondLst>
                                    <p:cond delay="0"/>
                                  </p:stCondLst>
                                  <p:childTnLst>
                                    <p:set>
                                      <p:cBhvr>
                                        <p:cTn id="119" dur="1" fill="hold">
                                          <p:stCondLst>
                                            <p:cond delay="0"/>
                                          </p:stCondLst>
                                        </p:cTn>
                                        <p:tgtEl>
                                          <p:spTgt spid="2428053"/>
                                        </p:tgtEl>
                                        <p:attrNameLst>
                                          <p:attrName>style.visibility</p:attrName>
                                        </p:attrNameLst>
                                      </p:cBhvr>
                                      <p:to>
                                        <p:strVal val="hidden"/>
                                      </p:to>
                                    </p:set>
                                  </p:childTnLst>
                                </p:cTn>
                              </p:par>
                              <p:par>
                                <p:cTn id="120" presetID="1" presetClass="exit" presetSubtype="0" fill="hold" nodeType="withEffect">
                                  <p:stCondLst>
                                    <p:cond delay="0"/>
                                  </p:stCondLst>
                                  <p:childTnLst>
                                    <p:set>
                                      <p:cBhvr>
                                        <p:cTn id="121" dur="1" fill="hold">
                                          <p:stCondLst>
                                            <p:cond delay="0"/>
                                          </p:stCondLst>
                                        </p:cTn>
                                        <p:tgtEl>
                                          <p:spTgt spid="2428054"/>
                                        </p:tgtEl>
                                        <p:attrNameLst>
                                          <p:attrName>style.visibility</p:attrName>
                                        </p:attrNameLst>
                                      </p:cBhvr>
                                      <p:to>
                                        <p:strVal val="hidden"/>
                                      </p:to>
                                    </p:set>
                                  </p:childTnLst>
                                </p:cTn>
                              </p:par>
                              <p:par>
                                <p:cTn id="122" presetID="1" presetClass="exit" presetSubtype="0" fill="hold" nodeType="withEffect">
                                  <p:stCondLst>
                                    <p:cond delay="0"/>
                                  </p:stCondLst>
                                  <p:childTnLst>
                                    <p:set>
                                      <p:cBhvr>
                                        <p:cTn id="123" dur="1" fill="hold">
                                          <p:stCondLst>
                                            <p:cond delay="0"/>
                                          </p:stCondLst>
                                        </p:cTn>
                                        <p:tgtEl>
                                          <p:spTgt spid="2428065"/>
                                        </p:tgtEl>
                                        <p:attrNameLst>
                                          <p:attrName>style.visibility</p:attrName>
                                        </p:attrNameLst>
                                      </p:cBhvr>
                                      <p:to>
                                        <p:strVal val="hidden"/>
                                      </p:to>
                                    </p:set>
                                  </p:childTnLst>
                                </p:cTn>
                              </p:par>
                              <p:par>
                                <p:cTn id="124" presetID="1" presetClass="exit" presetSubtype="0" fill="hold" nodeType="withEffect">
                                  <p:stCondLst>
                                    <p:cond delay="0"/>
                                  </p:stCondLst>
                                  <p:childTnLst>
                                    <p:set>
                                      <p:cBhvr>
                                        <p:cTn id="125" dur="1" fill="hold">
                                          <p:stCondLst>
                                            <p:cond delay="0"/>
                                          </p:stCondLst>
                                        </p:cTn>
                                        <p:tgtEl>
                                          <p:spTgt spid="2428063"/>
                                        </p:tgtEl>
                                        <p:attrNameLst>
                                          <p:attrName>style.visibility</p:attrName>
                                        </p:attrNameLst>
                                      </p:cBhvr>
                                      <p:to>
                                        <p:strVal val="hidden"/>
                                      </p:to>
                                    </p:set>
                                  </p:childTnLst>
                                </p:cTn>
                              </p:par>
                            </p:childTnLst>
                          </p:cTn>
                        </p:par>
                      </p:childTnLst>
                    </p:cTn>
                  </p:par>
                  <p:par>
                    <p:cTn id="126" fill="hold">
                      <p:stCondLst>
                        <p:cond delay="indefinite"/>
                      </p:stCondLst>
                      <p:childTnLst>
                        <p:par>
                          <p:cTn id="127" fill="hold">
                            <p:stCondLst>
                              <p:cond delay="0"/>
                            </p:stCondLst>
                            <p:childTnLst>
                              <p:par>
                                <p:cTn id="128" presetID="22" presetClass="entr" presetSubtype="2" fill="hold" nodeType="clickEffect">
                                  <p:stCondLst>
                                    <p:cond delay="0"/>
                                  </p:stCondLst>
                                  <p:childTnLst>
                                    <p:set>
                                      <p:cBhvr>
                                        <p:cTn id="129" dur="1" fill="hold">
                                          <p:stCondLst>
                                            <p:cond delay="0"/>
                                          </p:stCondLst>
                                        </p:cTn>
                                        <p:tgtEl>
                                          <p:spTgt spid="2428066"/>
                                        </p:tgtEl>
                                        <p:attrNameLst>
                                          <p:attrName>style.visibility</p:attrName>
                                        </p:attrNameLst>
                                      </p:cBhvr>
                                      <p:to>
                                        <p:strVal val="visible"/>
                                      </p:to>
                                    </p:set>
                                    <p:animEffect transition="in" filter="wipe(right)">
                                      <p:cBhvr>
                                        <p:cTn id="130" dur="500"/>
                                        <p:tgtEl>
                                          <p:spTgt spid="2428066"/>
                                        </p:tgtEl>
                                      </p:cBhvr>
                                    </p:animEffect>
                                  </p:childTnLst>
                                </p:cTn>
                              </p:par>
                              <p:par>
                                <p:cTn id="131" presetID="22" presetClass="entr" presetSubtype="2" fill="hold" nodeType="withEffect">
                                  <p:stCondLst>
                                    <p:cond delay="0"/>
                                  </p:stCondLst>
                                  <p:childTnLst>
                                    <p:set>
                                      <p:cBhvr>
                                        <p:cTn id="132" dur="1" fill="hold">
                                          <p:stCondLst>
                                            <p:cond delay="0"/>
                                          </p:stCondLst>
                                        </p:cTn>
                                        <p:tgtEl>
                                          <p:spTgt spid="2428067"/>
                                        </p:tgtEl>
                                        <p:attrNameLst>
                                          <p:attrName>style.visibility</p:attrName>
                                        </p:attrNameLst>
                                      </p:cBhvr>
                                      <p:to>
                                        <p:strVal val="visible"/>
                                      </p:to>
                                    </p:set>
                                    <p:animEffect transition="in" filter="wipe(right)">
                                      <p:cBhvr>
                                        <p:cTn id="133" dur="500"/>
                                        <p:tgtEl>
                                          <p:spTgt spid="2428067"/>
                                        </p:tgtEl>
                                      </p:cBhvr>
                                    </p:animEffect>
                                  </p:childTnLst>
                                </p:cTn>
                              </p:par>
                            </p:childTnLst>
                          </p:cTn>
                        </p:par>
                        <p:par>
                          <p:cTn id="134" fill="hold">
                            <p:stCondLst>
                              <p:cond delay="500"/>
                            </p:stCondLst>
                            <p:childTnLst>
                              <p:par>
                                <p:cTn id="135" presetID="22" presetClass="entr" presetSubtype="1" fill="hold" nodeType="afterEffect">
                                  <p:stCondLst>
                                    <p:cond delay="0"/>
                                  </p:stCondLst>
                                  <p:childTnLst>
                                    <p:set>
                                      <p:cBhvr>
                                        <p:cTn id="136" dur="1" fill="hold">
                                          <p:stCondLst>
                                            <p:cond delay="0"/>
                                          </p:stCondLst>
                                        </p:cTn>
                                        <p:tgtEl>
                                          <p:spTgt spid="2428069"/>
                                        </p:tgtEl>
                                        <p:attrNameLst>
                                          <p:attrName>style.visibility</p:attrName>
                                        </p:attrNameLst>
                                      </p:cBhvr>
                                      <p:to>
                                        <p:strVal val="visible"/>
                                      </p:to>
                                    </p:set>
                                    <p:animEffect transition="in" filter="wipe(up)">
                                      <p:cBhvr>
                                        <p:cTn id="137" dur="500"/>
                                        <p:tgtEl>
                                          <p:spTgt spid="2428069"/>
                                        </p:tgtEl>
                                      </p:cBhvr>
                                    </p:animEffect>
                                  </p:childTnLst>
                                </p:cTn>
                              </p:par>
                              <p:par>
                                <p:cTn id="138" presetID="22" presetClass="entr" presetSubtype="4" fill="hold" nodeType="withEffect">
                                  <p:stCondLst>
                                    <p:cond delay="0"/>
                                  </p:stCondLst>
                                  <p:childTnLst>
                                    <p:set>
                                      <p:cBhvr>
                                        <p:cTn id="139" dur="1" fill="hold">
                                          <p:stCondLst>
                                            <p:cond delay="0"/>
                                          </p:stCondLst>
                                        </p:cTn>
                                        <p:tgtEl>
                                          <p:spTgt spid="2428068"/>
                                        </p:tgtEl>
                                        <p:attrNameLst>
                                          <p:attrName>style.visibility</p:attrName>
                                        </p:attrNameLst>
                                      </p:cBhvr>
                                      <p:to>
                                        <p:strVal val="visible"/>
                                      </p:to>
                                    </p:set>
                                    <p:animEffect transition="in" filter="wipe(down)">
                                      <p:cBhvr>
                                        <p:cTn id="140" dur="500"/>
                                        <p:tgtEl>
                                          <p:spTgt spid="2428068"/>
                                        </p:tgtEl>
                                      </p:cBhvr>
                                    </p:animEffect>
                                  </p:childTnLst>
                                </p:cTn>
                              </p:par>
                            </p:childTnLst>
                          </p:cTn>
                        </p:par>
                        <p:par>
                          <p:cTn id="141" fill="hold">
                            <p:stCondLst>
                              <p:cond delay="1000"/>
                            </p:stCondLst>
                            <p:childTnLst>
                              <p:par>
                                <p:cTn id="142" presetID="22" presetClass="entr" presetSubtype="8" fill="hold" nodeType="afterEffect">
                                  <p:stCondLst>
                                    <p:cond delay="0"/>
                                  </p:stCondLst>
                                  <p:childTnLst>
                                    <p:set>
                                      <p:cBhvr>
                                        <p:cTn id="143" dur="1" fill="hold">
                                          <p:stCondLst>
                                            <p:cond delay="0"/>
                                          </p:stCondLst>
                                        </p:cTn>
                                        <p:tgtEl>
                                          <p:spTgt spid="2428053"/>
                                        </p:tgtEl>
                                        <p:attrNameLst>
                                          <p:attrName>style.visibility</p:attrName>
                                        </p:attrNameLst>
                                      </p:cBhvr>
                                      <p:to>
                                        <p:strVal val="visible"/>
                                      </p:to>
                                    </p:set>
                                    <p:animEffect transition="in" filter="wipe(left)">
                                      <p:cBhvr>
                                        <p:cTn id="144" dur="500"/>
                                        <p:tgtEl>
                                          <p:spTgt spid="2428053"/>
                                        </p:tgtEl>
                                      </p:cBhvr>
                                    </p:animEffect>
                                  </p:childTnLst>
                                </p:cTn>
                              </p:par>
                              <p:par>
                                <p:cTn id="145" presetID="22" presetClass="entr" presetSubtype="8" fill="hold" nodeType="withEffect">
                                  <p:stCondLst>
                                    <p:cond delay="0"/>
                                  </p:stCondLst>
                                  <p:childTnLst>
                                    <p:set>
                                      <p:cBhvr>
                                        <p:cTn id="146" dur="1" fill="hold">
                                          <p:stCondLst>
                                            <p:cond delay="0"/>
                                          </p:stCondLst>
                                        </p:cTn>
                                        <p:tgtEl>
                                          <p:spTgt spid="2428054"/>
                                        </p:tgtEl>
                                        <p:attrNameLst>
                                          <p:attrName>style.visibility</p:attrName>
                                        </p:attrNameLst>
                                      </p:cBhvr>
                                      <p:to>
                                        <p:strVal val="visible"/>
                                      </p:to>
                                    </p:set>
                                    <p:animEffect transition="in" filter="wipe(left)">
                                      <p:cBhvr>
                                        <p:cTn id="147" dur="500"/>
                                        <p:tgtEl>
                                          <p:spTgt spid="2428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942" grpId="0" animBg="1"/>
      <p:bldP spid="2423878"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7906"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7942" name="Text Box 38"/>
          <p:cNvSpPr txBox="1"/>
          <p:nvPr/>
        </p:nvSpPr>
        <p:spPr>
          <a:xfrm>
            <a:off x="250825" y="692150"/>
            <a:ext cx="1223963"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a:t>
            </a:r>
            <a:r>
              <a:rPr lang="zh-CN" altLang="zh-CN" dirty="0">
                <a:solidFill>
                  <a:schemeClr val="tx1"/>
                </a:solidFill>
                <a:latin typeface="Times New Roman" panose="02020603050405020304" pitchFamily="18" charset="0"/>
                <a:ea typeface="黑体" panose="02010609060101010101" pitchFamily="49" charset="-122"/>
              </a:rPr>
              <a:t>题</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59396" name="矩形 1"/>
          <p:cNvSpPr/>
          <p:nvPr/>
        </p:nvSpPr>
        <p:spPr>
          <a:xfrm>
            <a:off x="1619250" y="766763"/>
            <a:ext cx="7237413" cy="2085975"/>
          </a:xfrm>
          <a:prstGeom prst="rect">
            <a:avLst/>
          </a:prstGeom>
          <a:noFill/>
          <a:ln w="9525">
            <a:noFill/>
          </a:ln>
        </p:spPr>
        <p:txBody>
          <a:bodyPr>
            <a:spAutoFit/>
          </a:bodyPr>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某数据采集系统具有</a:t>
            </a:r>
            <a:r>
              <a:rPr lang="en-US" altLang="zh-CN" sz="2400" dirty="0">
                <a:solidFill>
                  <a:schemeClr val="tx1"/>
                </a:solidFill>
                <a:latin typeface="黑体" panose="02010609060101010101" pitchFamily="49" charset="-122"/>
                <a:ea typeface="黑体" panose="02010609060101010101" pitchFamily="49" charset="-122"/>
              </a:rPr>
              <a:t>16</a:t>
            </a:r>
            <a:r>
              <a:rPr lang="zh-CN" altLang="zh-CN" sz="2400" dirty="0">
                <a:solidFill>
                  <a:schemeClr val="tx1"/>
                </a:solidFill>
                <a:latin typeface="黑体" panose="02010609060101010101" pitchFamily="49" charset="-122"/>
                <a:ea typeface="黑体" panose="02010609060101010101" pitchFamily="49" charset="-122"/>
              </a:rPr>
              <a:t>个模拟通道。各通道输入信号的频率不超过</a:t>
            </a:r>
            <a:r>
              <a:rPr lang="en-US" altLang="zh-CN" sz="2400" dirty="0">
                <a:solidFill>
                  <a:schemeClr val="tx1"/>
                </a:solidFill>
                <a:latin typeface="黑体" panose="02010609060101010101" pitchFamily="49" charset="-122"/>
                <a:ea typeface="黑体" panose="02010609060101010101" pitchFamily="49" charset="-122"/>
              </a:rPr>
              <a:t>200Hz</a:t>
            </a:r>
            <a:r>
              <a:rPr lang="zh-CN" altLang="zh-CN" sz="2400" dirty="0">
                <a:solidFill>
                  <a:schemeClr val="tx1"/>
                </a:solidFill>
                <a:latin typeface="黑体" panose="02010609060101010101" pitchFamily="49" charset="-122"/>
                <a:ea typeface="黑体" panose="02010609060101010101" pitchFamily="49" charset="-122"/>
              </a:rPr>
              <a:t>，至少要用每个</a:t>
            </a:r>
            <a:r>
              <a:rPr lang="zh-CN" altLang="en-US" sz="2400" dirty="0">
                <a:solidFill>
                  <a:schemeClr val="tx1"/>
                </a:solidFill>
                <a:latin typeface="黑体" panose="02010609060101010101" pitchFamily="49" charset="-122"/>
                <a:ea typeface="黑体" panose="02010609060101010101" pitchFamily="49" charset="-122"/>
              </a:rPr>
              <a:t>采样</a:t>
            </a:r>
            <a:r>
              <a:rPr lang="zh-CN" altLang="zh-CN" sz="2400" dirty="0">
                <a:solidFill>
                  <a:schemeClr val="tx1"/>
                </a:solidFill>
                <a:latin typeface="黑体" panose="02010609060101010101" pitchFamily="49" charset="-122"/>
                <a:ea typeface="黑体" panose="02010609060101010101" pitchFamily="49" charset="-122"/>
              </a:rPr>
              <a:t>周期</a:t>
            </a:r>
            <a:r>
              <a:rPr lang="en-US" altLang="zh-CN" sz="2400" dirty="0">
                <a:solidFill>
                  <a:schemeClr val="tx1"/>
                </a:solidFill>
                <a:latin typeface="黑体" panose="02010609060101010101" pitchFamily="49" charset="-122"/>
                <a:ea typeface="黑体" panose="02010609060101010101" pitchFamily="49" charset="-122"/>
              </a:rPr>
              <a:t>10</a:t>
            </a:r>
            <a:r>
              <a:rPr lang="zh-CN" altLang="zh-CN" sz="2400" dirty="0">
                <a:solidFill>
                  <a:schemeClr val="tx1"/>
                </a:solidFill>
                <a:latin typeface="黑体" panose="02010609060101010101" pitchFamily="49" charset="-122"/>
                <a:ea typeface="黑体" panose="02010609060101010101" pitchFamily="49" charset="-122"/>
              </a:rPr>
              <a:t>个采样点的速度进行采样。问：</a:t>
            </a:r>
            <a:endParaRPr lang="zh-CN" altLang="zh-CN"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1</a:t>
            </a:r>
            <a:r>
              <a:rPr lang="zh-CN" altLang="zh-CN" sz="2400" dirty="0">
                <a:solidFill>
                  <a:schemeClr val="tx1"/>
                </a:solidFill>
                <a:latin typeface="黑体" panose="02010609060101010101" pitchFamily="49" charset="-122"/>
                <a:ea typeface="黑体" panose="02010609060101010101" pitchFamily="49" charset="-122"/>
              </a:rPr>
              <a:t>）多路开关的切换速率应是多少？</a:t>
            </a:r>
            <a:endParaRPr lang="zh-CN" altLang="zh-CN"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2</a:t>
            </a:r>
            <a:r>
              <a:rPr lang="zh-CN" altLang="zh-CN" sz="2400" dirty="0">
                <a:solidFill>
                  <a:schemeClr val="tx1"/>
                </a:solidFill>
                <a:latin typeface="黑体" panose="02010609060101010101" pitchFamily="49" charset="-122"/>
                <a:ea typeface="黑体" panose="02010609060101010101" pitchFamily="49" charset="-122"/>
              </a:rPr>
              <a:t>）如果采用两个</a:t>
            </a:r>
            <a:r>
              <a:rPr lang="en-US" altLang="zh-CN" sz="2400" dirty="0">
                <a:solidFill>
                  <a:schemeClr val="tx1"/>
                </a:solidFill>
                <a:latin typeface="黑体" panose="02010609060101010101" pitchFamily="49" charset="-122"/>
                <a:ea typeface="黑体" panose="02010609060101010101" pitchFamily="49" charset="-122"/>
              </a:rPr>
              <a:t>CD4051</a:t>
            </a:r>
            <a:r>
              <a:rPr lang="zh-CN" altLang="zh-CN" sz="2400" dirty="0">
                <a:solidFill>
                  <a:schemeClr val="tx1"/>
                </a:solidFill>
                <a:latin typeface="黑体" panose="02010609060101010101" pitchFamily="49" charset="-122"/>
                <a:ea typeface="黑体" panose="02010609060101010101" pitchFamily="49" charset="-122"/>
              </a:rPr>
              <a:t>芯片，来组成该多路开关。画出简要的电路连线图。</a:t>
            </a:r>
            <a:endParaRPr lang="zh-CN" altLang="zh-CN" sz="2400" dirty="0">
              <a:solidFill>
                <a:schemeClr val="tx1"/>
              </a:solidFill>
              <a:latin typeface="黑体" panose="02010609060101010101" pitchFamily="49" charset="-122"/>
              <a:ea typeface="黑体" panose="02010609060101010101" pitchFamily="49" charset="-122"/>
            </a:endParaRPr>
          </a:p>
        </p:txBody>
      </p:sp>
      <p:sp>
        <p:nvSpPr>
          <p:cNvPr id="2" name="矩形 1"/>
          <p:cNvSpPr>
            <a:spLocks noChangeArrowheads="1"/>
          </p:cNvSpPr>
          <p:nvPr/>
        </p:nvSpPr>
        <p:spPr bwMode="auto">
          <a:xfrm>
            <a:off x="503238" y="3249613"/>
            <a:ext cx="8461375" cy="2238375"/>
          </a:xfrm>
          <a:prstGeom prst="rect">
            <a:avLst/>
          </a:prstGeom>
          <a:noFill/>
          <a:ln>
            <a:noFill/>
          </a:ln>
        </p:spPr>
        <p:txBody>
          <a:bodyPr>
            <a:spAutoFit/>
          </a:bodyPr>
          <a:lstStyle>
            <a:lvl1pPr marL="457200" indent="-457200">
              <a:defRPr kumimoji="1" sz="3600" b="1">
                <a:solidFill>
                  <a:srgbClr val="333399"/>
                </a:solidFill>
                <a:latin typeface="Times New Roman" panose="02020603050405020304" pitchFamily="18" charset="0"/>
                <a:ea typeface="楷体_GB2312" pitchFamily="49" charset="-122"/>
              </a:defRPr>
            </a:lvl1pPr>
            <a:lvl2pPr marL="742950" indent="-285750">
              <a:defRPr kumimoji="1" sz="3600" b="1">
                <a:solidFill>
                  <a:srgbClr val="333399"/>
                </a:solidFill>
                <a:latin typeface="Times New Roman" panose="02020603050405020304" pitchFamily="18" charset="0"/>
                <a:ea typeface="楷体_GB2312" pitchFamily="49" charset="-122"/>
              </a:defRPr>
            </a:lvl2pPr>
            <a:lvl3pPr marL="1143000" indent="-228600">
              <a:defRPr kumimoji="1" sz="3600" b="1">
                <a:solidFill>
                  <a:srgbClr val="333399"/>
                </a:solidFill>
                <a:latin typeface="Times New Roman" panose="02020603050405020304" pitchFamily="18" charset="0"/>
                <a:ea typeface="楷体_GB2312" pitchFamily="49" charset="-122"/>
              </a:defRPr>
            </a:lvl3pPr>
            <a:lvl4pPr marL="1600200" indent="-228600">
              <a:defRPr kumimoji="1" sz="3600" b="1">
                <a:solidFill>
                  <a:srgbClr val="333399"/>
                </a:solidFill>
                <a:latin typeface="Times New Roman" panose="02020603050405020304" pitchFamily="18" charset="0"/>
                <a:ea typeface="楷体_GB2312" pitchFamily="49" charset="-122"/>
              </a:defRPr>
            </a:lvl4pPr>
            <a:lvl5pPr marL="2057400" indent="-22860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457200" marR="0" lvl="0" indent="-457200" algn="l" defTabSz="914400" rtl="0" eaLnBrk="1" fontAlgn="base" latinLnBrk="0" hangingPunct="1">
              <a:lnSpc>
                <a:spcPct val="150000"/>
              </a:lnSpc>
              <a:spcBef>
                <a:spcPct val="0"/>
              </a:spcBef>
              <a:spcAft>
                <a:spcPct val="0"/>
              </a:spcAft>
              <a:buClrTx/>
              <a:buSzTx/>
              <a:buFontTx/>
              <a:buAutoNum type="arabicParenBoth"/>
              <a:defRPr/>
            </a:pPr>
            <a:r>
              <a:rPr kumimoji="1" lang="zh-CN" altLang="en-US"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采样频率</a:t>
            </a:r>
            <a:r>
              <a:rPr kumimoji="1" lang="zh-CN"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a:t>
            </a:r>
            <a:r>
              <a:rPr kumimoji="1" lang="en-US" altLang="zh-CN" sz="2400" b="1" i="1" u="none" strike="noStrike" kern="1200" cap="none" spc="0" normalizeH="0" baseline="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f</a:t>
            </a:r>
            <a:r>
              <a:rPr kumimoji="1" lang="en-US" altLang="zh-CN" sz="2400" b="1" i="0" u="none" strike="noStrike" kern="1200" cap="none" spc="0" normalizeH="0" baseline="-2500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S</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2</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f</a:t>
            </a:r>
            <a:r>
              <a:rPr kumimoji="1" lang="en-US" altLang="zh-CN" sz="2400" b="1" i="0" u="none" strike="noStrike" kern="1200" cap="none" spc="0" normalizeH="0" baseline="-2500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C</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400Hz</a:t>
            </a:r>
            <a:endPar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endParaRPr>
          </a:p>
          <a:p>
            <a:pPr marL="0" marR="0" lvl="0" indent="0" algn="l" defTabSz="914400" rtl="0" eaLnBrk="1" fontAlgn="base" latinLnBrk="0" hangingPunct="1">
              <a:lnSpc>
                <a:spcPct val="15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   </a:t>
            </a:r>
            <a:r>
              <a:rPr kumimoji="1" lang="zh-CN" altLang="en-US"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采样周期：</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T</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S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1/</a:t>
            </a:r>
            <a:r>
              <a:rPr kumimoji="1" lang="en-US" altLang="zh-CN" sz="2400" b="1" i="1" u="none" strike="noStrike" kern="1200" cap="none" spc="0" normalizeH="0" baseline="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f</a:t>
            </a:r>
            <a:r>
              <a:rPr kumimoji="1" lang="en-US" altLang="zh-CN" sz="2400" b="1" i="0" u="none" strike="noStrike" kern="1200" cap="none" spc="0" normalizeH="0" baseline="-25000" noProof="0" dirty="0" err="1">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S</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0.0025S</a:t>
            </a:r>
            <a:endPar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endParaRPr>
          </a:p>
          <a:p>
            <a:pPr marL="0" marR="0" lvl="0" indent="0" algn="l" defTabSz="914400" rtl="0" eaLnBrk="1" fontAlgn="base" latinLnBrk="0" hangingPunct="1">
              <a:lnSpc>
                <a:spcPct val="15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   </a:t>
            </a:r>
            <a:r>
              <a:rPr kumimoji="1" lang="zh-CN" altLang="en-US"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每个采样点的采样周期：</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T</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T</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S</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/10</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0.00025S</a:t>
            </a:r>
            <a:endPar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endParaRPr>
          </a:p>
          <a:p>
            <a:pPr marL="457200" marR="0" lvl="0" indent="-457200" algn="l" defTabSz="914400" rtl="0" eaLnBrk="1" fontAlgn="base" latinLnBrk="0" hangingPunct="1">
              <a:lnSpc>
                <a:spcPct val="15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   </a:t>
            </a:r>
            <a:r>
              <a:rPr kumimoji="1" lang="zh-CN"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rPr>
              <a:t>开关的切换速率至少为：</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1/</a:t>
            </a:r>
            <a:r>
              <a:rPr kumimoji="1" lang="en-US" altLang="zh-CN" sz="2400" b="1" i="1"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T</a:t>
            </a:r>
            <a:r>
              <a:rPr kumimoji="1" lang="en-US" altLang="zh-CN" sz="2400" b="1" i="0" u="none" strike="noStrike" kern="1200" cap="none" spc="0" normalizeH="0" baseline="-2500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 </a:t>
            </a:r>
            <a:r>
              <a:rPr kumimoji="1" lang="en-US" altLang="zh-CN" sz="2400" b="1" i="0" u="none" strike="noStrike" kern="1200" cap="none" spc="0" normalizeH="0" baseline="0" noProof="0" dirty="0">
                <a:ln>
                  <a:noFill/>
                </a:ln>
                <a:solidFill>
                  <a:srgbClr val="0000B4"/>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4000Hz</a:t>
            </a:r>
            <a:endParaRPr kumimoji="1" lang="zh-CN" altLang="zh-CN" sz="2400" b="1" i="0" u="none" strike="noStrike" kern="1200" cap="none" spc="0" normalizeH="0" baseline="0" noProof="0" dirty="0">
              <a:ln>
                <a:noFill/>
              </a:ln>
              <a:solidFill>
                <a:srgbClr val="333399"/>
              </a:solidFill>
              <a:effectLst/>
              <a:uLnTx/>
              <a:uFillTx/>
              <a:latin typeface="宋体" panose="02010600030101010101" pitchFamily="2" charset="-122"/>
              <a:ea typeface="宋体" panose="02010600030101010101" pitchFamily="2" charset="-122"/>
              <a:cs typeface="+mn-cs"/>
            </a:endParaRPr>
          </a:p>
        </p:txBody>
      </p:sp>
      <p:sp>
        <p:nvSpPr>
          <p:cNvPr id="3" name="矩形 2"/>
          <p:cNvSpPr/>
          <p:nvPr/>
        </p:nvSpPr>
        <p:spPr>
          <a:xfrm>
            <a:off x="215900" y="2730500"/>
            <a:ext cx="1111250" cy="590550"/>
          </a:xfrm>
          <a:prstGeom prst="rect">
            <a:avLst/>
          </a:prstGeom>
        </p:spPr>
        <p:txBody>
          <a:bodyPr wrap="none">
            <a:spAutoFit/>
          </a:bodyPr>
          <a:lstStyle/>
          <a:p>
            <a:pPr marL="0" marR="0" lvl="0" indent="0" algn="l" defTabSz="914400" rtl="0" eaLnBrk="1" fontAlgn="base" latinLnBrk="0" hangingPunct="1">
              <a:lnSpc>
                <a:spcPct val="90000"/>
              </a:lnSpc>
              <a:spcBef>
                <a:spcPct val="0"/>
              </a:spcBef>
              <a:spcAft>
                <a:spcPct val="0"/>
              </a:spcAft>
              <a:buClrTx/>
              <a:buSzTx/>
              <a:buFontTx/>
              <a:buNone/>
              <a:defRPr/>
            </a:pPr>
            <a:r>
              <a:rPr kumimoji="1" lang="zh-CN" altLang="zh-CN" sz="3600" b="1" i="0" u="none" strike="noStrike" kern="1200" cap="none" spc="0" normalizeH="0" baseline="0" noProof="0" dirty="0">
                <a:ln>
                  <a:noFill/>
                </a:ln>
                <a:solidFill>
                  <a:srgbClr val="333399"/>
                </a:solidFill>
                <a:effectLst/>
                <a:uLnTx/>
                <a:uFillTx/>
                <a:latin typeface="+mj-ea"/>
                <a:ea typeface="楷体_GB2312" pitchFamily="49" charset="-122"/>
                <a:cs typeface="+mn-cs"/>
              </a:rPr>
              <a:t>答：</a:t>
            </a:r>
            <a:endParaRPr kumimoji="1" lang="zh-CN" altLang="en-US" sz="3600" b="1" i="0" u="none" strike="noStrike" kern="1200" cap="none" spc="0" normalizeH="0" baseline="0" noProof="0" dirty="0">
              <a:ln>
                <a:noFill/>
              </a:ln>
              <a:solidFill>
                <a:srgbClr val="333399"/>
              </a:solidFill>
              <a:effectLst/>
              <a:uLnTx/>
              <a:uFillTx/>
              <a:latin typeface="Times New Roman" panose="02020603050405020304" pitchFamily="18"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7942"/>
                                        </p:tgtEl>
                                        <p:attrNameLst>
                                          <p:attrName>style.visibility</p:attrName>
                                        </p:attrNameLst>
                                      </p:cBhvr>
                                      <p:to>
                                        <p:strVal val="visible"/>
                                      </p:to>
                                    </p:set>
                                    <p:animEffect transition="in" filter="dissolve">
                                      <p:cBhvr>
                                        <p:cTn id="7" dur="500"/>
                                        <p:tgtEl>
                                          <p:spTgt spid="242794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9396"/>
                                        </p:tgtEl>
                                        <p:attrNameLst>
                                          <p:attrName>style.visibility</p:attrName>
                                        </p:attrNameLst>
                                      </p:cBhvr>
                                      <p:to>
                                        <p:strVal val="visible"/>
                                      </p:to>
                                    </p:set>
                                    <p:animEffect transition="in" filter="fade">
                                      <p:cBhvr>
                                        <p:cTn id="12" dur="500"/>
                                        <p:tgtEl>
                                          <p:spTgt spid="5939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942" grpId="0" animBg="1"/>
      <p:bldP spid="59396" grpId="0"/>
      <p:bldP spid="2" grpId="0"/>
      <p:bldP spid="3"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7906" name="Text Box 2"/>
          <p:cNvSpPr txBox="1">
            <a:spLocks noChangeArrowheads="1"/>
          </p:cNvSpPr>
          <p:nvPr/>
        </p:nvSpPr>
        <p:spPr bwMode="auto">
          <a:xfrm>
            <a:off x="2286000" y="63500"/>
            <a:ext cx="5165725"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3.6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模拟多路开关的应用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66563" name="Text Box 38"/>
          <p:cNvSpPr txBox="1"/>
          <p:nvPr/>
        </p:nvSpPr>
        <p:spPr>
          <a:xfrm>
            <a:off x="250825" y="692150"/>
            <a:ext cx="1223963"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例</a:t>
            </a:r>
            <a:r>
              <a:rPr lang="zh-CN" altLang="zh-CN" dirty="0">
                <a:solidFill>
                  <a:schemeClr val="tx1"/>
                </a:solidFill>
                <a:latin typeface="Times New Roman" panose="02020603050405020304" pitchFamily="18" charset="0"/>
                <a:ea typeface="黑体" panose="02010609060101010101" pitchFamily="49" charset="-122"/>
              </a:rPr>
              <a:t>题</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66564" name="矩形 1"/>
          <p:cNvSpPr/>
          <p:nvPr/>
        </p:nvSpPr>
        <p:spPr>
          <a:xfrm>
            <a:off x="1619250" y="766763"/>
            <a:ext cx="7237413" cy="2085975"/>
          </a:xfrm>
          <a:prstGeom prst="rect">
            <a:avLst/>
          </a:prstGeom>
          <a:noFill/>
          <a:ln w="9525">
            <a:noFill/>
          </a:ln>
        </p:spPr>
        <p:txBody>
          <a:bodyPr>
            <a:spAutoFit/>
          </a:bodyPr>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某数据采集系统具有</a:t>
            </a:r>
            <a:r>
              <a:rPr lang="en-US" altLang="zh-CN" sz="2400" dirty="0">
                <a:solidFill>
                  <a:schemeClr val="tx1"/>
                </a:solidFill>
                <a:latin typeface="黑体" panose="02010609060101010101" pitchFamily="49" charset="-122"/>
                <a:ea typeface="黑体" panose="02010609060101010101" pitchFamily="49" charset="-122"/>
              </a:rPr>
              <a:t>16</a:t>
            </a:r>
            <a:r>
              <a:rPr lang="zh-CN" altLang="zh-CN" sz="2400" dirty="0">
                <a:solidFill>
                  <a:schemeClr val="tx1"/>
                </a:solidFill>
                <a:latin typeface="黑体" panose="02010609060101010101" pitchFamily="49" charset="-122"/>
                <a:ea typeface="黑体" panose="02010609060101010101" pitchFamily="49" charset="-122"/>
              </a:rPr>
              <a:t>个模拟通道。各通道输入信号的频率不超过</a:t>
            </a:r>
            <a:r>
              <a:rPr lang="en-US" altLang="zh-CN" sz="2400" dirty="0">
                <a:solidFill>
                  <a:schemeClr val="tx1"/>
                </a:solidFill>
                <a:latin typeface="黑体" panose="02010609060101010101" pitchFamily="49" charset="-122"/>
                <a:ea typeface="黑体" panose="02010609060101010101" pitchFamily="49" charset="-122"/>
              </a:rPr>
              <a:t>200Hz</a:t>
            </a:r>
            <a:r>
              <a:rPr lang="zh-CN" altLang="zh-CN" sz="2400" dirty="0">
                <a:solidFill>
                  <a:schemeClr val="tx1"/>
                </a:solidFill>
                <a:latin typeface="黑体" panose="02010609060101010101" pitchFamily="49" charset="-122"/>
                <a:ea typeface="黑体" panose="02010609060101010101" pitchFamily="49" charset="-122"/>
              </a:rPr>
              <a:t>，至少要用每个采样周期</a:t>
            </a:r>
            <a:r>
              <a:rPr lang="en-US" altLang="zh-CN" sz="2400" dirty="0">
                <a:solidFill>
                  <a:schemeClr val="tx1"/>
                </a:solidFill>
                <a:latin typeface="黑体" panose="02010609060101010101" pitchFamily="49" charset="-122"/>
                <a:ea typeface="黑体" panose="02010609060101010101" pitchFamily="49" charset="-122"/>
              </a:rPr>
              <a:t>10</a:t>
            </a:r>
            <a:r>
              <a:rPr lang="zh-CN" altLang="zh-CN" sz="2400" dirty="0">
                <a:solidFill>
                  <a:schemeClr val="tx1"/>
                </a:solidFill>
                <a:latin typeface="黑体" panose="02010609060101010101" pitchFamily="49" charset="-122"/>
                <a:ea typeface="黑体" panose="02010609060101010101" pitchFamily="49" charset="-122"/>
              </a:rPr>
              <a:t>个采样点的速度进行采样。问：</a:t>
            </a:r>
            <a:endParaRPr lang="zh-CN" altLang="zh-CN"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1</a:t>
            </a:r>
            <a:r>
              <a:rPr lang="zh-CN" altLang="zh-CN" sz="2400" dirty="0">
                <a:solidFill>
                  <a:schemeClr val="tx1"/>
                </a:solidFill>
                <a:latin typeface="黑体" panose="02010609060101010101" pitchFamily="49" charset="-122"/>
                <a:ea typeface="黑体" panose="02010609060101010101" pitchFamily="49" charset="-122"/>
              </a:rPr>
              <a:t>）多路开关的切换速率应是多少？</a:t>
            </a:r>
            <a:endParaRPr lang="zh-CN" altLang="zh-CN"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zh-CN"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2</a:t>
            </a:r>
            <a:r>
              <a:rPr lang="zh-CN" altLang="zh-CN" sz="2400" dirty="0">
                <a:solidFill>
                  <a:schemeClr val="tx1"/>
                </a:solidFill>
                <a:latin typeface="黑体" panose="02010609060101010101" pitchFamily="49" charset="-122"/>
                <a:ea typeface="黑体" panose="02010609060101010101" pitchFamily="49" charset="-122"/>
              </a:rPr>
              <a:t>）如果采用两个</a:t>
            </a:r>
            <a:r>
              <a:rPr lang="en-US" altLang="zh-CN" sz="2400" dirty="0">
                <a:solidFill>
                  <a:schemeClr val="tx1"/>
                </a:solidFill>
                <a:latin typeface="黑体" panose="02010609060101010101" pitchFamily="49" charset="-122"/>
                <a:ea typeface="黑体" panose="02010609060101010101" pitchFamily="49" charset="-122"/>
              </a:rPr>
              <a:t>CD4051</a:t>
            </a:r>
            <a:r>
              <a:rPr lang="zh-CN" altLang="zh-CN" sz="2400" dirty="0">
                <a:solidFill>
                  <a:schemeClr val="tx1"/>
                </a:solidFill>
                <a:latin typeface="黑体" panose="02010609060101010101" pitchFamily="49" charset="-122"/>
                <a:ea typeface="黑体" panose="02010609060101010101" pitchFamily="49" charset="-122"/>
              </a:rPr>
              <a:t>芯片，来组成该多路开关。画出简要的电路连线图。</a:t>
            </a:r>
            <a:endParaRPr lang="zh-CN" altLang="zh-CN" sz="2400" dirty="0">
              <a:solidFill>
                <a:schemeClr val="tx1"/>
              </a:solidFill>
              <a:latin typeface="黑体" panose="02010609060101010101" pitchFamily="49" charset="-122"/>
              <a:ea typeface="黑体" panose="02010609060101010101" pitchFamily="49" charset="-122"/>
            </a:endParaRPr>
          </a:p>
        </p:txBody>
      </p:sp>
      <p:sp>
        <p:nvSpPr>
          <p:cNvPr id="3" name="矩形 2"/>
          <p:cNvSpPr/>
          <p:nvPr/>
        </p:nvSpPr>
        <p:spPr>
          <a:xfrm>
            <a:off x="215900" y="2730500"/>
            <a:ext cx="1111250" cy="590550"/>
          </a:xfrm>
          <a:prstGeom prst="rect">
            <a:avLst/>
          </a:prstGeom>
        </p:spPr>
        <p:txBody>
          <a:bodyPr wrap="none">
            <a:spAutoFit/>
          </a:bodyPr>
          <a:lstStyle/>
          <a:p>
            <a:pPr marL="0" marR="0" lvl="0" indent="0" algn="l" defTabSz="914400" rtl="0" eaLnBrk="1" fontAlgn="base" latinLnBrk="0" hangingPunct="1">
              <a:lnSpc>
                <a:spcPct val="90000"/>
              </a:lnSpc>
              <a:spcBef>
                <a:spcPct val="0"/>
              </a:spcBef>
              <a:spcAft>
                <a:spcPct val="0"/>
              </a:spcAft>
              <a:buClrTx/>
              <a:buSzTx/>
              <a:buFontTx/>
              <a:buNone/>
              <a:defRPr/>
            </a:pPr>
            <a:r>
              <a:rPr kumimoji="1" lang="zh-CN" altLang="zh-CN" sz="3600" b="1" i="0" u="none" strike="noStrike" kern="1200" cap="none" spc="0" normalizeH="0" baseline="0" noProof="0" dirty="0">
                <a:ln>
                  <a:noFill/>
                </a:ln>
                <a:solidFill>
                  <a:srgbClr val="333399"/>
                </a:solidFill>
                <a:effectLst/>
                <a:uLnTx/>
                <a:uFillTx/>
                <a:latin typeface="+mj-ea"/>
                <a:ea typeface="楷体_GB2312" pitchFamily="49" charset="-122"/>
                <a:cs typeface="+mn-cs"/>
              </a:rPr>
              <a:t>答：</a:t>
            </a:r>
            <a:endParaRPr kumimoji="1" lang="zh-CN" altLang="en-US" sz="3600" b="1" i="0" u="none" strike="noStrike" kern="1200" cap="none" spc="0" normalizeH="0" baseline="0" noProof="0" dirty="0">
              <a:ln>
                <a:noFill/>
              </a:ln>
              <a:solidFill>
                <a:srgbClr val="333399"/>
              </a:solidFill>
              <a:effectLst/>
              <a:uLnTx/>
              <a:uFillTx/>
              <a:latin typeface="Times New Roman" panose="02020603050405020304" pitchFamily="18" charset="0"/>
              <a:ea typeface="楷体_GB2312" pitchFamily="49" charset="-122"/>
              <a:cs typeface="+mn-cs"/>
            </a:endParaRPr>
          </a:p>
        </p:txBody>
      </p:sp>
      <p:sp>
        <p:nvSpPr>
          <p:cNvPr id="4" name="Rectangle 2"/>
          <p:cNvSpPr>
            <a:spLocks noChangeArrowheads="1"/>
          </p:cNvSpPr>
          <p:nvPr/>
        </p:nvSpPr>
        <p:spPr bwMode="auto">
          <a:xfrm>
            <a:off x="1187450" y="2744788"/>
            <a:ext cx="4122738" cy="646113"/>
          </a:xfrm>
          <a:prstGeom prst="rect">
            <a:avLst/>
          </a:prstGeom>
        </p:spPr>
        <p:txBody>
          <a:bodyPr>
            <a:spAutoFit/>
          </a:bodyPr>
          <a:lstStyle/>
          <a:p>
            <a:pPr marL="0" marR="0" lvl="0" indent="0" algn="l" defTabSz="914400" rtl="0" eaLnBrk="1" fontAlgn="base" latinLnBrk="0" hangingPunct="1">
              <a:lnSpc>
                <a:spcPct val="15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333399"/>
                </a:solidFill>
                <a:effectLst/>
                <a:uLnTx/>
                <a:uFillTx/>
                <a:latin typeface="+mj-ea"/>
                <a:ea typeface="+mj-ea"/>
                <a:cs typeface="+mn-cs"/>
              </a:rPr>
              <a:t>(2)</a:t>
            </a:r>
            <a:r>
              <a:rPr kumimoji="1" lang="zh-CN" altLang="en-US" sz="2400" b="1" i="0" u="none" strike="noStrike" kern="1200" cap="none" spc="0" normalizeH="0" baseline="0" noProof="0" dirty="0">
                <a:ln>
                  <a:noFill/>
                </a:ln>
                <a:solidFill>
                  <a:srgbClr val="333399"/>
                </a:solidFill>
                <a:effectLst/>
                <a:uLnTx/>
                <a:uFillTx/>
                <a:latin typeface="+mj-ea"/>
                <a:ea typeface="+mj-ea"/>
                <a:cs typeface="+mn-cs"/>
              </a:rPr>
              <a:t>电路连线图如下图所示：</a:t>
            </a:r>
            <a:endParaRPr kumimoji="1" lang="zh-CN" altLang="en-US" sz="2400" b="1" i="0" u="none" strike="noStrike" kern="1200" cap="none" spc="0" normalizeH="0" baseline="0" noProof="0" dirty="0">
              <a:ln>
                <a:noFill/>
              </a:ln>
              <a:solidFill>
                <a:srgbClr val="333399"/>
              </a:solidFill>
              <a:effectLst/>
              <a:uLnTx/>
              <a:uFillTx/>
              <a:latin typeface="+mj-ea"/>
              <a:ea typeface="+mj-ea"/>
              <a:cs typeface="+mn-cs"/>
            </a:endParaRPr>
          </a:p>
        </p:txBody>
      </p:sp>
      <p:graphicFrame>
        <p:nvGraphicFramePr>
          <p:cNvPr id="5" name="对象 4"/>
          <p:cNvGraphicFramePr>
            <a:graphicFrameLocks noChangeAspect="1"/>
          </p:cNvGraphicFramePr>
          <p:nvPr/>
        </p:nvGraphicFramePr>
        <p:xfrm>
          <a:off x="1403350" y="3357563"/>
          <a:ext cx="6732588" cy="2830512"/>
        </p:xfrm>
        <a:graphic>
          <a:graphicData uri="http://schemas.openxmlformats.org/presentationml/2006/ole">
            <mc:AlternateContent xmlns:mc="http://schemas.openxmlformats.org/markup-compatibility/2006">
              <mc:Choice xmlns:v="urn:schemas-microsoft-com:vml" Requires="v">
                <p:oleObj spid="_x0000_s3092" name="" r:id="rId1" imgW="4876800" imgH="2067560" progId="Visio.Drawing.11">
                  <p:embed/>
                </p:oleObj>
              </mc:Choice>
              <mc:Fallback>
                <p:oleObj name="" r:id="rId1" imgW="4876800" imgH="2067560" progId="Visio.Drawing.11">
                  <p:embed/>
                  <p:pic>
                    <p:nvPicPr>
                      <p:cNvPr id="0" name="图片 3091"/>
                      <p:cNvPicPr/>
                      <p:nvPr/>
                    </p:nvPicPr>
                    <p:blipFill>
                      <a:blip r:embed="rId2"/>
                      <a:stretch>
                        <a:fillRect/>
                      </a:stretch>
                    </p:blipFill>
                    <p:spPr>
                      <a:xfrm>
                        <a:off x="1403350" y="3357563"/>
                        <a:ext cx="6732588" cy="2830512"/>
                      </a:xfrm>
                      <a:prstGeom prst="rect">
                        <a:avLst/>
                      </a:prstGeom>
                      <a:noFill/>
                      <a:ln w="38100">
                        <a:noFill/>
                        <a:miter/>
                      </a:ln>
                    </p:spPr>
                  </p:pic>
                </p:oleObj>
              </mc:Fallback>
            </mc:AlternateContent>
          </a:graphicData>
        </a:graphic>
      </p:graphicFrame>
      <p:sp>
        <p:nvSpPr>
          <p:cNvPr id="66568" name="Rectangle 3"/>
          <p:cNvSpPr/>
          <p:nvPr/>
        </p:nvSpPr>
        <p:spPr>
          <a:xfrm>
            <a:off x="0" y="2324100"/>
            <a:ext cx="9144000" cy="0"/>
          </a:xfrm>
          <a:prstGeom prst="rect">
            <a:avLst/>
          </a:prstGeom>
          <a:noFill/>
          <a:ln w="9525">
            <a:noFill/>
          </a:ln>
        </p:spPr>
        <p:txBody>
          <a:bodyPr wrap="none" anchor="ctr" anchorCtr="0">
            <a:spAutoFit/>
          </a:bodyPr>
          <a:p>
            <a:pPr>
              <a:lnSpc>
                <a:spcPct val="90000"/>
              </a:lnSpc>
            </a:pPr>
            <a:endParaRPr lang="zh-CN" altLang="zh-CN" dirty="0">
              <a:latin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074" name="Picture 2" descr="Turm_blau_hell"/>
          <p:cNvPicPr>
            <a:picLocks noChangeAspect="1"/>
          </p:cNvPicPr>
          <p:nvPr/>
        </p:nvPicPr>
        <p:blipFill>
          <a:blip r:embed="rId1"/>
          <a:stretch>
            <a:fillRect/>
          </a:stretch>
        </p:blipFill>
        <p:spPr>
          <a:xfrm>
            <a:off x="3016250" y="833438"/>
            <a:ext cx="5537200" cy="5295900"/>
          </a:xfrm>
          <a:prstGeom prst="rect">
            <a:avLst/>
          </a:prstGeom>
          <a:noFill/>
          <a:ln w="9525">
            <a:noFill/>
          </a:ln>
        </p:spPr>
      </p:pic>
      <p:sp>
        <p:nvSpPr>
          <p:cNvPr id="3075" name="Rectangle 3"/>
          <p:cNvSpPr/>
          <p:nvPr/>
        </p:nvSpPr>
        <p:spPr>
          <a:xfrm>
            <a:off x="0" y="512763"/>
            <a:ext cx="609600" cy="5605462"/>
          </a:xfrm>
          <a:prstGeom prst="rect">
            <a:avLst/>
          </a:prstGeom>
          <a:solidFill>
            <a:srgbClr val="808080"/>
          </a:solidFill>
          <a:ln w="12700">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pic>
        <p:nvPicPr>
          <p:cNvPr id="3076" name="Picture 4" descr="kugel_blau"/>
          <p:cNvPicPr>
            <a:picLocks noChangeAspect="1"/>
          </p:cNvPicPr>
          <p:nvPr/>
        </p:nvPicPr>
        <p:blipFill>
          <a:blip r:embed="rId2"/>
          <a:stretch>
            <a:fillRect/>
          </a:stretch>
        </p:blipFill>
        <p:spPr>
          <a:xfrm>
            <a:off x="1582738" y="1657350"/>
            <a:ext cx="457200" cy="315913"/>
          </a:xfrm>
          <a:prstGeom prst="rect">
            <a:avLst/>
          </a:prstGeom>
          <a:noFill/>
          <a:ln w="9525">
            <a:noFill/>
          </a:ln>
        </p:spPr>
      </p:pic>
      <p:pic>
        <p:nvPicPr>
          <p:cNvPr id="3077" name="Picture 5" descr="kugel_blau"/>
          <p:cNvPicPr>
            <a:picLocks noChangeAspect="1"/>
          </p:cNvPicPr>
          <p:nvPr/>
        </p:nvPicPr>
        <p:blipFill>
          <a:blip r:embed="rId2"/>
          <a:stretch>
            <a:fillRect/>
          </a:stretch>
        </p:blipFill>
        <p:spPr>
          <a:xfrm>
            <a:off x="1577975" y="2390775"/>
            <a:ext cx="457200" cy="315913"/>
          </a:xfrm>
          <a:prstGeom prst="rect">
            <a:avLst/>
          </a:prstGeom>
          <a:noFill/>
          <a:ln w="9525">
            <a:noFill/>
          </a:ln>
        </p:spPr>
      </p:pic>
      <p:pic>
        <p:nvPicPr>
          <p:cNvPr id="3078" name="Picture 6" descr="kugel_blau"/>
          <p:cNvPicPr>
            <a:picLocks noChangeAspect="1"/>
          </p:cNvPicPr>
          <p:nvPr/>
        </p:nvPicPr>
        <p:blipFill>
          <a:blip r:embed="rId2"/>
          <a:stretch>
            <a:fillRect/>
          </a:stretch>
        </p:blipFill>
        <p:spPr>
          <a:xfrm>
            <a:off x="1576388" y="3106738"/>
            <a:ext cx="457200" cy="315912"/>
          </a:xfrm>
          <a:prstGeom prst="rect">
            <a:avLst/>
          </a:prstGeom>
          <a:noFill/>
          <a:ln w="9525">
            <a:noFill/>
          </a:ln>
        </p:spPr>
      </p:pic>
      <p:pic>
        <p:nvPicPr>
          <p:cNvPr id="3079" name="Picture 7" descr="kugel_blau"/>
          <p:cNvPicPr>
            <a:picLocks noChangeAspect="1"/>
          </p:cNvPicPr>
          <p:nvPr/>
        </p:nvPicPr>
        <p:blipFill>
          <a:blip r:embed="rId2"/>
          <a:stretch>
            <a:fillRect/>
          </a:stretch>
        </p:blipFill>
        <p:spPr>
          <a:xfrm>
            <a:off x="1584325" y="3802063"/>
            <a:ext cx="457200" cy="315912"/>
          </a:xfrm>
          <a:prstGeom prst="rect">
            <a:avLst/>
          </a:prstGeom>
          <a:noFill/>
          <a:ln w="9525">
            <a:noFill/>
          </a:ln>
        </p:spPr>
      </p:pic>
      <p:sp>
        <p:nvSpPr>
          <p:cNvPr id="2383880" name="Text Box 8"/>
          <p:cNvSpPr txBox="1">
            <a:spLocks noChangeArrowheads="1"/>
          </p:cNvSpPr>
          <p:nvPr/>
        </p:nvSpPr>
        <p:spPr bwMode="auto">
          <a:xfrm>
            <a:off x="6762750" y="6327775"/>
            <a:ext cx="2381250" cy="530225"/>
          </a:xfrm>
          <a:prstGeom prst="rect">
            <a:avLst/>
          </a:prstGeom>
          <a:noFill/>
          <a:ln>
            <a:noFill/>
          </a:ln>
          <a:effectLst/>
        </p:spPr>
        <p:txBody>
          <a:bodyPr>
            <a:spAutoFit/>
          </a:bodyPr>
          <a:lstStyle/>
          <a:p>
            <a:pPr marR="0" algn="ctr" defTabSz="914400" eaLnBrk="1" hangingPunct="1">
              <a:lnSpc>
                <a:spcPct val="90000"/>
              </a:lnSpc>
              <a:spcBef>
                <a:spcPct val="50000"/>
              </a:spcBef>
              <a:buClrTx/>
              <a:buSzTx/>
              <a:buFontTx/>
              <a:buNone/>
              <a:defRPr/>
            </a:pPr>
            <a:endParaRPr kumimoji="1" lang="zh-CN" altLang="zh-CN" sz="3200" b="0" kern="1200" cap="none" spc="0" normalizeH="0" baseline="0" noProof="0">
              <a:solidFill>
                <a:schemeClr val="bg1"/>
              </a:solidFill>
              <a:effectLst>
                <a:outerShdw blurRad="38100" dist="38100" dir="2700000" algn="tl">
                  <a:srgbClr val="C0C0C0"/>
                </a:outerShdw>
              </a:effectLst>
              <a:latin typeface="Times New Roman" panose="02020603050405020304" pitchFamily="18" charset="0"/>
              <a:ea typeface="华文新魏" panose="02010800040101010101" pitchFamily="2" charset="-122"/>
              <a:cs typeface="+mn-cs"/>
            </a:endParaRPr>
          </a:p>
        </p:txBody>
      </p:sp>
      <p:sp>
        <p:nvSpPr>
          <p:cNvPr id="3081" name="Line 9"/>
          <p:cNvSpPr/>
          <p:nvPr/>
        </p:nvSpPr>
        <p:spPr>
          <a:xfrm>
            <a:off x="609600" y="673100"/>
            <a:ext cx="257175" cy="0"/>
          </a:xfrm>
          <a:prstGeom prst="line">
            <a:avLst/>
          </a:prstGeom>
          <a:ln w="19050" cap="flat" cmpd="sng">
            <a:solidFill>
              <a:srgbClr val="808080"/>
            </a:solidFill>
            <a:prstDash val="solid"/>
            <a:headEnd type="none" w="med" len="med"/>
            <a:tailEnd type="none" w="med" len="med"/>
          </a:ln>
        </p:spPr>
      </p:sp>
      <p:sp>
        <p:nvSpPr>
          <p:cNvPr id="3082" name="Line 10"/>
          <p:cNvSpPr/>
          <p:nvPr/>
        </p:nvSpPr>
        <p:spPr>
          <a:xfrm>
            <a:off x="863600" y="673100"/>
            <a:ext cx="0" cy="484188"/>
          </a:xfrm>
          <a:prstGeom prst="line">
            <a:avLst/>
          </a:prstGeom>
          <a:ln w="19050" cap="flat" cmpd="sng">
            <a:solidFill>
              <a:srgbClr val="808080"/>
            </a:solidFill>
            <a:prstDash val="solid"/>
            <a:headEnd type="none" w="med" len="med"/>
            <a:tailEnd type="none" w="med" len="med"/>
          </a:ln>
        </p:spPr>
      </p:sp>
      <p:sp>
        <p:nvSpPr>
          <p:cNvPr id="3083" name="Line 11"/>
          <p:cNvSpPr/>
          <p:nvPr/>
        </p:nvSpPr>
        <p:spPr>
          <a:xfrm flipV="1">
            <a:off x="862013" y="1160463"/>
            <a:ext cx="6626225" cy="0"/>
          </a:xfrm>
          <a:prstGeom prst="line">
            <a:avLst/>
          </a:prstGeom>
          <a:ln w="19050" cap="flat" cmpd="sng">
            <a:solidFill>
              <a:srgbClr val="808080"/>
            </a:solidFill>
            <a:prstDash val="solid"/>
            <a:headEnd type="none" w="med" len="med"/>
            <a:tailEnd type="none" w="med" len="med"/>
          </a:ln>
        </p:spPr>
      </p:sp>
      <p:sp>
        <p:nvSpPr>
          <p:cNvPr id="3084" name="Line 12"/>
          <p:cNvSpPr/>
          <p:nvPr/>
        </p:nvSpPr>
        <p:spPr>
          <a:xfrm>
            <a:off x="1150938" y="1160463"/>
            <a:ext cx="0" cy="665162"/>
          </a:xfrm>
          <a:prstGeom prst="line">
            <a:avLst/>
          </a:prstGeom>
          <a:ln w="19050" cap="flat" cmpd="sng">
            <a:solidFill>
              <a:srgbClr val="808080"/>
            </a:solidFill>
            <a:prstDash val="solid"/>
            <a:headEnd type="none" w="med" len="med"/>
            <a:tailEnd type="none" w="med" len="med"/>
          </a:ln>
        </p:spPr>
      </p:sp>
      <p:sp>
        <p:nvSpPr>
          <p:cNvPr id="3085" name="Line 13"/>
          <p:cNvSpPr/>
          <p:nvPr/>
        </p:nvSpPr>
        <p:spPr>
          <a:xfrm>
            <a:off x="1150938" y="1825625"/>
            <a:ext cx="257175" cy="0"/>
          </a:xfrm>
          <a:prstGeom prst="line">
            <a:avLst/>
          </a:prstGeom>
          <a:ln w="19050" cap="flat" cmpd="sng">
            <a:solidFill>
              <a:srgbClr val="808080"/>
            </a:solidFill>
            <a:prstDash val="solid"/>
            <a:headEnd type="none" w="med" len="med"/>
            <a:tailEnd type="none" w="med" len="med"/>
          </a:ln>
        </p:spPr>
      </p:sp>
      <p:sp>
        <p:nvSpPr>
          <p:cNvPr id="3086" name="Line 14"/>
          <p:cNvSpPr/>
          <p:nvPr/>
        </p:nvSpPr>
        <p:spPr>
          <a:xfrm>
            <a:off x="1150938" y="1825625"/>
            <a:ext cx="0" cy="731838"/>
          </a:xfrm>
          <a:prstGeom prst="line">
            <a:avLst/>
          </a:prstGeom>
          <a:ln w="19050" cap="flat" cmpd="sng">
            <a:solidFill>
              <a:srgbClr val="808080"/>
            </a:solidFill>
            <a:prstDash val="solid"/>
            <a:headEnd type="none" w="med" len="med"/>
            <a:tailEnd type="none" w="med" len="med"/>
          </a:ln>
        </p:spPr>
      </p:sp>
      <p:sp>
        <p:nvSpPr>
          <p:cNvPr id="3087" name="Line 15"/>
          <p:cNvSpPr/>
          <p:nvPr/>
        </p:nvSpPr>
        <p:spPr>
          <a:xfrm>
            <a:off x="1160463" y="2543175"/>
            <a:ext cx="257175" cy="0"/>
          </a:xfrm>
          <a:prstGeom prst="line">
            <a:avLst/>
          </a:prstGeom>
          <a:ln w="19050" cap="flat" cmpd="sng">
            <a:solidFill>
              <a:srgbClr val="808080"/>
            </a:solidFill>
            <a:prstDash val="solid"/>
            <a:headEnd type="none" w="med" len="med"/>
            <a:tailEnd type="none" w="med" len="med"/>
          </a:ln>
        </p:spPr>
      </p:sp>
      <p:sp>
        <p:nvSpPr>
          <p:cNvPr id="3088" name="Line 16"/>
          <p:cNvSpPr/>
          <p:nvPr/>
        </p:nvSpPr>
        <p:spPr>
          <a:xfrm flipH="1">
            <a:off x="1150938" y="2543175"/>
            <a:ext cx="0" cy="714375"/>
          </a:xfrm>
          <a:prstGeom prst="line">
            <a:avLst/>
          </a:prstGeom>
          <a:ln w="19050" cap="flat" cmpd="sng">
            <a:solidFill>
              <a:srgbClr val="808080"/>
            </a:solidFill>
            <a:prstDash val="solid"/>
            <a:headEnd type="none" w="med" len="med"/>
            <a:tailEnd type="none" w="med" len="med"/>
          </a:ln>
        </p:spPr>
      </p:sp>
      <p:sp>
        <p:nvSpPr>
          <p:cNvPr id="3089" name="Line 17"/>
          <p:cNvSpPr/>
          <p:nvPr/>
        </p:nvSpPr>
        <p:spPr>
          <a:xfrm>
            <a:off x="1150938" y="3257550"/>
            <a:ext cx="257175" cy="0"/>
          </a:xfrm>
          <a:prstGeom prst="line">
            <a:avLst/>
          </a:prstGeom>
          <a:ln w="19050" cap="flat" cmpd="sng">
            <a:solidFill>
              <a:srgbClr val="808080"/>
            </a:solidFill>
            <a:prstDash val="solid"/>
            <a:headEnd type="none" w="med" len="med"/>
            <a:tailEnd type="none" w="med" len="med"/>
          </a:ln>
        </p:spPr>
      </p:sp>
      <p:sp>
        <p:nvSpPr>
          <p:cNvPr id="3090" name="Line 18"/>
          <p:cNvSpPr/>
          <p:nvPr/>
        </p:nvSpPr>
        <p:spPr>
          <a:xfrm>
            <a:off x="1150938" y="3254375"/>
            <a:ext cx="0" cy="711200"/>
          </a:xfrm>
          <a:prstGeom prst="line">
            <a:avLst/>
          </a:prstGeom>
          <a:ln w="19050" cap="flat" cmpd="sng">
            <a:solidFill>
              <a:srgbClr val="808080"/>
            </a:solidFill>
            <a:prstDash val="solid"/>
            <a:headEnd type="none" w="med" len="med"/>
            <a:tailEnd type="none" w="med" len="med"/>
          </a:ln>
        </p:spPr>
      </p:sp>
      <p:sp>
        <p:nvSpPr>
          <p:cNvPr id="3091" name="Line 19"/>
          <p:cNvSpPr/>
          <p:nvPr/>
        </p:nvSpPr>
        <p:spPr>
          <a:xfrm>
            <a:off x="1150938" y="3965575"/>
            <a:ext cx="257175" cy="0"/>
          </a:xfrm>
          <a:prstGeom prst="line">
            <a:avLst/>
          </a:prstGeom>
          <a:ln w="19050" cap="flat" cmpd="sng">
            <a:solidFill>
              <a:srgbClr val="808080"/>
            </a:solidFill>
            <a:prstDash val="solid"/>
            <a:headEnd type="none" w="med" len="med"/>
            <a:tailEnd type="none" w="med" len="med"/>
          </a:ln>
        </p:spPr>
      </p:sp>
      <p:sp>
        <p:nvSpPr>
          <p:cNvPr id="3092" name="Line 20"/>
          <p:cNvSpPr/>
          <p:nvPr/>
        </p:nvSpPr>
        <p:spPr>
          <a:xfrm>
            <a:off x="1150938" y="3965575"/>
            <a:ext cx="0" cy="717550"/>
          </a:xfrm>
          <a:prstGeom prst="line">
            <a:avLst/>
          </a:prstGeom>
          <a:ln w="19050" cap="flat" cmpd="sng">
            <a:solidFill>
              <a:srgbClr val="808080"/>
            </a:solidFill>
            <a:prstDash val="solid"/>
            <a:headEnd type="none" w="med" len="med"/>
            <a:tailEnd type="none" w="med" len="med"/>
          </a:ln>
        </p:spPr>
      </p:sp>
      <p:sp>
        <p:nvSpPr>
          <p:cNvPr id="3093" name="Line 21"/>
          <p:cNvSpPr/>
          <p:nvPr/>
        </p:nvSpPr>
        <p:spPr>
          <a:xfrm>
            <a:off x="1150938" y="4689475"/>
            <a:ext cx="257175" cy="0"/>
          </a:xfrm>
          <a:prstGeom prst="line">
            <a:avLst/>
          </a:prstGeom>
          <a:ln w="19050" cap="flat" cmpd="sng">
            <a:solidFill>
              <a:srgbClr val="808080"/>
            </a:solidFill>
            <a:prstDash val="solid"/>
            <a:headEnd type="none" w="med" len="med"/>
            <a:tailEnd type="none" w="med" len="med"/>
          </a:ln>
        </p:spPr>
      </p:sp>
      <p:pic>
        <p:nvPicPr>
          <p:cNvPr id="3094" name="Picture 22" descr="kugel_blau"/>
          <p:cNvPicPr>
            <a:picLocks noChangeAspect="1"/>
          </p:cNvPicPr>
          <p:nvPr/>
        </p:nvPicPr>
        <p:blipFill>
          <a:blip r:embed="rId2"/>
          <a:stretch>
            <a:fillRect/>
          </a:stretch>
        </p:blipFill>
        <p:spPr>
          <a:xfrm>
            <a:off x="1576388" y="4529138"/>
            <a:ext cx="457200" cy="315912"/>
          </a:xfrm>
          <a:prstGeom prst="rect">
            <a:avLst/>
          </a:prstGeom>
          <a:noFill/>
          <a:ln w="9525">
            <a:noFill/>
          </a:ln>
        </p:spPr>
      </p:pic>
      <p:sp>
        <p:nvSpPr>
          <p:cNvPr id="2383896" name="Rectangle 24"/>
          <p:cNvSpPr>
            <a:spLocks noChangeArrowheads="1"/>
          </p:cNvSpPr>
          <p:nvPr/>
        </p:nvSpPr>
        <p:spPr bwMode="auto">
          <a:xfrm>
            <a:off x="2093913" y="2073275"/>
            <a:ext cx="6227763"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4.2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sp>
        <p:nvSpPr>
          <p:cNvPr id="2383897" name="Rectangle 25"/>
          <p:cNvSpPr>
            <a:spLocks noChangeArrowheads="1"/>
          </p:cNvSpPr>
          <p:nvPr/>
        </p:nvSpPr>
        <p:spPr bwMode="auto">
          <a:xfrm>
            <a:off x="2098675" y="2792413"/>
            <a:ext cx="6613525"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4.3 </a:t>
            </a:r>
            <a:r>
              <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a:t>
            </a:r>
            <a:endPar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898" name="Rectangle 26"/>
          <p:cNvSpPr>
            <a:spLocks noChangeArrowheads="1"/>
          </p:cNvSpPr>
          <p:nvPr/>
        </p:nvSpPr>
        <p:spPr bwMode="auto">
          <a:xfrm>
            <a:off x="2079625" y="3502025"/>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4.4</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899" name="Rectangle 27"/>
          <p:cNvSpPr>
            <a:spLocks noChangeArrowheads="1"/>
          </p:cNvSpPr>
          <p:nvPr/>
        </p:nvSpPr>
        <p:spPr bwMode="auto">
          <a:xfrm>
            <a:off x="2070100" y="4233863"/>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4.5</a:t>
            </a: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 </a:t>
            </a:r>
            <a:r>
              <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测量放大器的使用</a:t>
            </a:r>
            <a:endParaRPr kumimoji="1" lang="zh-CN" altLang="en-US"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0" name="Rectangle 28"/>
          <p:cNvSpPr>
            <a:spLocks noChangeArrowheads="1"/>
          </p:cNvSpPr>
          <p:nvPr/>
        </p:nvSpPr>
        <p:spPr bwMode="auto">
          <a:xfrm>
            <a:off x="2051050" y="4953000"/>
            <a:ext cx="3852863"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4.6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隔离放大器</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3901" name="Rectangle 29"/>
          <p:cNvSpPr>
            <a:spLocks noGrp="1" noChangeArrowheads="1"/>
          </p:cNvSpPr>
          <p:nvPr>
            <p:ph type="subTitle" idx="1"/>
          </p:nvPr>
        </p:nvSpPr>
        <p:spPr bwMode="auto">
          <a:xfrm>
            <a:off x="2103438" y="1349375"/>
            <a:ext cx="5695950" cy="784225"/>
          </a:xfrm>
        </p:spPr>
        <p:txBody>
          <a:bodyPr vert="horz" wrap="square" lIns="82550" tIns="41275" rIns="82550" bIns="41275" numCol="1" anchor="t" anchorCtr="0" compatLnSpc="1"/>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4.1  </a:t>
            </a:r>
            <a:r>
              <a:rPr kumimoji="1" lang="zh-CN" altLang="en-US"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3600" b="1" i="0" u="none" strike="noStrike" kern="0" cap="none" spc="0" normalizeH="0" baseline="0" noProof="0">
              <a:ln>
                <a:noFill/>
              </a:ln>
              <a:solidFill>
                <a:srgbClr val="0000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3101" name="Picture 30" descr="kugel_blau"/>
          <p:cNvPicPr>
            <a:picLocks noChangeAspect="1"/>
          </p:cNvPicPr>
          <p:nvPr/>
        </p:nvPicPr>
        <p:blipFill>
          <a:blip r:embed="rId2"/>
          <a:stretch>
            <a:fillRect/>
          </a:stretch>
        </p:blipFill>
        <p:spPr>
          <a:xfrm>
            <a:off x="1582738" y="5237163"/>
            <a:ext cx="457200" cy="315912"/>
          </a:xfrm>
          <a:prstGeom prst="rect">
            <a:avLst/>
          </a:prstGeom>
          <a:noFill/>
          <a:ln w="9525">
            <a:noFill/>
          </a:ln>
        </p:spPr>
      </p:pic>
      <p:sp>
        <p:nvSpPr>
          <p:cNvPr id="3102" name="Line 31"/>
          <p:cNvSpPr/>
          <p:nvPr/>
        </p:nvSpPr>
        <p:spPr>
          <a:xfrm flipH="1">
            <a:off x="1150938" y="4683125"/>
            <a:ext cx="1587" cy="714375"/>
          </a:xfrm>
          <a:prstGeom prst="line">
            <a:avLst/>
          </a:prstGeom>
          <a:ln w="19050" cap="flat" cmpd="sng">
            <a:solidFill>
              <a:srgbClr val="808080"/>
            </a:solidFill>
            <a:prstDash val="solid"/>
            <a:headEnd type="none" w="med" len="med"/>
            <a:tailEnd type="none" w="med" len="med"/>
          </a:ln>
        </p:spPr>
      </p:sp>
      <p:sp>
        <p:nvSpPr>
          <p:cNvPr id="3103" name="Line 32"/>
          <p:cNvSpPr/>
          <p:nvPr/>
        </p:nvSpPr>
        <p:spPr>
          <a:xfrm>
            <a:off x="1152525" y="5397500"/>
            <a:ext cx="257175" cy="0"/>
          </a:xfrm>
          <a:prstGeom prst="line">
            <a:avLst/>
          </a:prstGeom>
          <a:ln w="19050" cap="flat" cmpd="sng">
            <a:solidFill>
              <a:srgbClr val="808080"/>
            </a:solidFill>
            <a:prstDash val="solid"/>
            <a:headEnd type="none" w="med" len="med"/>
            <a:tailEnd type="none" w="med" len="med"/>
          </a:ln>
        </p:spPr>
      </p:sp>
      <p:sp>
        <p:nvSpPr>
          <p:cNvPr id="2383905" name="Rectangle 33"/>
          <p:cNvSpPr>
            <a:spLocks noChangeArrowheads="1"/>
          </p:cNvSpPr>
          <p:nvPr/>
        </p:nvSpPr>
        <p:spPr bwMode="auto">
          <a:xfrm>
            <a:off x="1733550" y="307975"/>
            <a:ext cx="6156325" cy="628650"/>
          </a:xfrm>
          <a:prstGeom prst="rect">
            <a:avLst/>
          </a:prstGeom>
          <a:noFill/>
          <a:ln>
            <a:noFill/>
          </a:ln>
          <a:effec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Tree>
  </p:cSld>
  <p:clrMapOvr>
    <a:masterClrMapping/>
  </p:clrMapOvr>
  <p:transition spd="med">
    <p:cove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2689225" y="87313"/>
            <a:ext cx="368300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554519" name="Text Box 87"/>
          <p:cNvSpPr txBox="1"/>
          <p:nvPr/>
        </p:nvSpPr>
        <p:spPr>
          <a:xfrm>
            <a:off x="395288" y="873125"/>
            <a:ext cx="8497887" cy="946150"/>
          </a:xfrm>
          <a:prstGeom prst="rect">
            <a:avLst/>
          </a:prstGeom>
          <a:noFill/>
          <a:ln w="9525">
            <a:noFill/>
          </a:ln>
        </p:spPr>
        <p:txBody>
          <a:bodyPr>
            <a:spAutoFit/>
          </a:bodyPr>
          <a:p>
            <a:pPr eaLnBrk="1" hangingPunct="1"/>
            <a:r>
              <a:rPr lang="zh-CN" altLang="en-US" sz="2800" b="1" dirty="0">
                <a:solidFill>
                  <a:schemeClr val="tx1"/>
                </a:solidFill>
                <a:latin typeface="黑体" panose="02010609060101010101" pitchFamily="49" charset="-122"/>
                <a:ea typeface="黑体" panose="02010609060101010101" pitchFamily="49" charset="-122"/>
              </a:rPr>
              <a:t>在数据采集中</a:t>
            </a:r>
            <a:r>
              <a:rPr lang="en-US" altLang="zh-CN" sz="2800" b="1" dirty="0">
                <a:solidFill>
                  <a:schemeClr val="tx1"/>
                </a:solidFill>
                <a:latin typeface="黑体" panose="02010609060101010101" pitchFamily="49" charset="-122"/>
                <a:ea typeface="黑体" panose="02010609060101010101" pitchFamily="49" charset="-122"/>
              </a:rPr>
              <a:t>, </a:t>
            </a:r>
            <a:r>
              <a:rPr lang="zh-CN" altLang="en-US" sz="2800" b="1" dirty="0">
                <a:solidFill>
                  <a:schemeClr val="tx1"/>
                </a:solidFill>
                <a:latin typeface="黑体" panose="02010609060101010101" pitchFamily="49" charset="-122"/>
                <a:ea typeface="黑体" panose="02010609060101010101" pitchFamily="49" charset="-122"/>
              </a:rPr>
              <a:t>经常会遇到一些微弱的微伏级信号，例如热电偶的输出信号，需要用放大器加以放大。</a:t>
            </a:r>
            <a:endParaRPr lang="zh-CN" altLang="en-US" sz="2800" b="1" dirty="0">
              <a:solidFill>
                <a:schemeClr val="tx1"/>
              </a:solidFill>
              <a:latin typeface="黑体" panose="02010609060101010101" pitchFamily="49" charset="-122"/>
              <a:ea typeface="黑体" panose="02010609060101010101" pitchFamily="49" charset="-122"/>
            </a:endParaRPr>
          </a:p>
        </p:txBody>
      </p:sp>
      <p:sp>
        <p:nvSpPr>
          <p:cNvPr id="1554524" name="Text Box 92"/>
          <p:cNvSpPr txBox="1"/>
          <p:nvPr/>
        </p:nvSpPr>
        <p:spPr>
          <a:xfrm>
            <a:off x="468313" y="1989138"/>
            <a:ext cx="2706687" cy="585787"/>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3600" b="1" dirty="0">
                <a:solidFill>
                  <a:srgbClr val="333399"/>
                </a:solidFill>
                <a:latin typeface="Times New Roman" panose="02020603050405020304" pitchFamily="18" charset="0"/>
              </a:rPr>
              <a:t>运算放大器</a:t>
            </a:r>
            <a:endParaRPr lang="zh-CN" altLang="en-US" sz="3600" b="1" dirty="0">
              <a:solidFill>
                <a:srgbClr val="333399"/>
              </a:solidFill>
              <a:latin typeface="Times New Roman" panose="02020603050405020304" pitchFamily="18" charset="0"/>
            </a:endParaRPr>
          </a:p>
        </p:txBody>
      </p:sp>
      <p:grpSp>
        <p:nvGrpSpPr>
          <p:cNvPr id="2" name="Group 126"/>
          <p:cNvGrpSpPr/>
          <p:nvPr/>
        </p:nvGrpSpPr>
        <p:grpSpPr>
          <a:xfrm>
            <a:off x="4032250" y="2012950"/>
            <a:ext cx="4697413" cy="2100263"/>
            <a:chOff x="2727" y="1616"/>
            <a:chExt cx="2959" cy="1323"/>
          </a:xfrm>
        </p:grpSpPr>
        <p:sp>
          <p:nvSpPr>
            <p:cNvPr id="4104" name="Rectangle 94"/>
            <p:cNvSpPr/>
            <p:nvPr/>
          </p:nvSpPr>
          <p:spPr>
            <a:xfrm>
              <a:off x="2733" y="1616"/>
              <a:ext cx="2875" cy="1323"/>
            </a:xfrm>
            <a:prstGeom prst="rect">
              <a:avLst/>
            </a:prstGeom>
            <a:solidFill>
              <a:srgbClr val="FFFF99"/>
            </a:solidFill>
            <a:ln w="9525">
              <a:noFill/>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5" name="AutoShape 95"/>
            <p:cNvSpPr/>
            <p:nvPr/>
          </p:nvSpPr>
          <p:spPr>
            <a:xfrm rot="5400000">
              <a:off x="4026" y="1748"/>
              <a:ext cx="726" cy="839"/>
            </a:xfrm>
            <a:prstGeom prst="flowChartExtra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6" name="Text Box 96"/>
            <p:cNvSpPr txBox="1"/>
            <p:nvPr/>
          </p:nvSpPr>
          <p:spPr>
            <a:xfrm>
              <a:off x="3948" y="2231"/>
              <a:ext cx="317" cy="265"/>
            </a:xfrm>
            <a:prstGeom prst="rect">
              <a:avLst/>
            </a:prstGeom>
            <a:noFill/>
            <a:ln w="9525">
              <a:noFill/>
            </a:ln>
          </p:spPr>
          <p:txBody>
            <a:bodyPr>
              <a:spAutoFit/>
            </a:bodyPr>
            <a:p>
              <a:pPr eaLnBrk="1" hangingPunct="1">
                <a:lnSpc>
                  <a:spcPct val="90000"/>
                </a:lnSpc>
                <a:spcBef>
                  <a:spcPct val="50000"/>
                </a:spcBef>
              </a:pPr>
              <a:r>
                <a:rPr lang="en-US" altLang="zh-CN" sz="2400" b="1" dirty="0">
                  <a:solidFill>
                    <a:srgbClr val="FF0000"/>
                  </a:solidFill>
                  <a:latin typeface="Times New Roman" panose="02020603050405020304" pitchFamily="18" charset="0"/>
                </a:rPr>
                <a:t>+</a:t>
              </a:r>
              <a:endParaRPr lang="en-US" altLang="zh-CN" sz="2400" b="1" dirty="0">
                <a:solidFill>
                  <a:srgbClr val="FF0000"/>
                </a:solidFill>
                <a:latin typeface="Times New Roman" panose="02020603050405020304" pitchFamily="18" charset="0"/>
              </a:endParaRPr>
            </a:p>
          </p:txBody>
        </p:sp>
        <p:sp>
          <p:nvSpPr>
            <p:cNvPr id="4107" name="Text Box 97"/>
            <p:cNvSpPr txBox="1"/>
            <p:nvPr/>
          </p:nvSpPr>
          <p:spPr>
            <a:xfrm>
              <a:off x="3965" y="1833"/>
              <a:ext cx="317" cy="265"/>
            </a:xfrm>
            <a:prstGeom prst="rect">
              <a:avLst/>
            </a:prstGeom>
            <a:noFill/>
            <a:ln w="9525">
              <a:noFill/>
            </a:ln>
          </p:spPr>
          <p:txBody>
            <a:bodyPr>
              <a:spAutoFit/>
            </a:bodyPr>
            <a:p>
              <a:pPr eaLnBrk="1" hangingPunct="1">
                <a:lnSpc>
                  <a:spcPct val="90000"/>
                </a:lnSpc>
                <a:spcBef>
                  <a:spcPct val="50000"/>
                </a:spcBef>
              </a:pPr>
              <a:r>
                <a:rPr lang="en-US" altLang="zh-CN" sz="2400" b="1" dirty="0">
                  <a:solidFill>
                    <a:srgbClr val="FF0000"/>
                  </a:solidFill>
                  <a:latin typeface="Times New Roman" panose="02020603050405020304" pitchFamily="18" charset="0"/>
                </a:rPr>
                <a:t>-</a:t>
              </a:r>
              <a:endParaRPr lang="en-US" altLang="zh-CN" sz="2400" b="1" dirty="0">
                <a:solidFill>
                  <a:srgbClr val="FF0000"/>
                </a:solidFill>
                <a:latin typeface="Times New Roman" panose="02020603050405020304" pitchFamily="18" charset="0"/>
              </a:endParaRPr>
            </a:p>
          </p:txBody>
        </p:sp>
        <p:sp>
          <p:nvSpPr>
            <p:cNvPr id="4108" name="Line 98"/>
            <p:cNvSpPr/>
            <p:nvPr/>
          </p:nvSpPr>
          <p:spPr>
            <a:xfrm flipH="1">
              <a:off x="3539" y="1987"/>
              <a:ext cx="426" cy="0"/>
            </a:xfrm>
            <a:prstGeom prst="line">
              <a:avLst/>
            </a:prstGeom>
            <a:ln w="12700" cap="flat" cmpd="sng">
              <a:solidFill>
                <a:schemeClr val="accent2"/>
              </a:solidFill>
              <a:prstDash val="solid"/>
              <a:headEnd type="none" w="med" len="med"/>
              <a:tailEnd type="none" w="med" len="med"/>
            </a:ln>
          </p:spPr>
        </p:sp>
        <p:sp>
          <p:nvSpPr>
            <p:cNvPr id="4109" name="Line 99"/>
            <p:cNvSpPr/>
            <p:nvPr/>
          </p:nvSpPr>
          <p:spPr>
            <a:xfrm flipH="1">
              <a:off x="3539" y="2364"/>
              <a:ext cx="426" cy="0"/>
            </a:xfrm>
            <a:prstGeom prst="line">
              <a:avLst/>
            </a:prstGeom>
            <a:ln w="12700" cap="flat" cmpd="sng">
              <a:solidFill>
                <a:schemeClr val="accent2"/>
              </a:solidFill>
              <a:prstDash val="solid"/>
              <a:headEnd type="none" w="med" len="med"/>
              <a:tailEnd type="none" w="med" len="med"/>
            </a:ln>
          </p:spPr>
        </p:sp>
        <p:sp>
          <p:nvSpPr>
            <p:cNvPr id="4110" name="Oval 106"/>
            <p:cNvSpPr>
              <a:spLocks noChangeAspect="1"/>
            </p:cNvSpPr>
            <p:nvPr/>
          </p:nvSpPr>
          <p:spPr>
            <a:xfrm>
              <a:off x="3493" y="2341"/>
              <a:ext cx="45" cy="45"/>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11" name="Line 110"/>
            <p:cNvSpPr/>
            <p:nvPr/>
          </p:nvSpPr>
          <p:spPr>
            <a:xfrm flipH="1">
              <a:off x="4809" y="2168"/>
              <a:ext cx="339" cy="0"/>
            </a:xfrm>
            <a:prstGeom prst="line">
              <a:avLst/>
            </a:prstGeom>
            <a:ln w="12700" cap="flat" cmpd="sng">
              <a:solidFill>
                <a:schemeClr val="accent2"/>
              </a:solidFill>
              <a:prstDash val="solid"/>
              <a:headEnd type="none" w="med" len="med"/>
              <a:tailEnd type="none" w="med" len="med"/>
            </a:ln>
          </p:spPr>
        </p:sp>
        <p:sp>
          <p:nvSpPr>
            <p:cNvPr id="4112" name="Oval 113"/>
            <p:cNvSpPr>
              <a:spLocks noChangeAspect="1"/>
            </p:cNvSpPr>
            <p:nvPr/>
          </p:nvSpPr>
          <p:spPr>
            <a:xfrm>
              <a:off x="5148" y="2145"/>
              <a:ext cx="45" cy="45"/>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13" name="Text Box 119"/>
            <p:cNvSpPr txBox="1"/>
            <p:nvPr/>
          </p:nvSpPr>
          <p:spPr>
            <a:xfrm>
              <a:off x="3651" y="2674"/>
              <a:ext cx="1406" cy="265"/>
            </a:xfrm>
            <a:prstGeom prst="rect">
              <a:avLst/>
            </a:prstGeom>
            <a:noFill/>
            <a:ln w="9525">
              <a:noFill/>
            </a:ln>
          </p:spPr>
          <p:txBody>
            <a:bodyPr>
              <a:spAutoFit/>
            </a:bodyPr>
            <a:p>
              <a:pPr eaLnBrk="1" hangingPunct="1">
                <a:lnSpc>
                  <a:spcPct val="90000"/>
                </a:lnSpc>
                <a:spcBef>
                  <a:spcPct val="50000"/>
                </a:spcBef>
              </a:pPr>
              <a:r>
                <a:rPr lang="zh-CN" altLang="en-US" sz="2400" b="1" dirty="0">
                  <a:solidFill>
                    <a:srgbClr val="333399"/>
                  </a:solidFill>
                  <a:latin typeface="Times New Roman" panose="02020603050405020304" pitchFamily="18" charset="0"/>
                </a:rPr>
                <a:t>运算放大器</a:t>
              </a:r>
              <a:endParaRPr lang="zh-CN" altLang="en-US" sz="2400" b="1" dirty="0">
                <a:solidFill>
                  <a:srgbClr val="333399"/>
                </a:solidFill>
                <a:latin typeface="Times New Roman" panose="02020603050405020304" pitchFamily="18" charset="0"/>
              </a:endParaRPr>
            </a:p>
          </p:txBody>
        </p:sp>
        <p:sp>
          <p:nvSpPr>
            <p:cNvPr id="4114" name="Oval 122"/>
            <p:cNvSpPr>
              <a:spLocks noChangeAspect="1"/>
            </p:cNvSpPr>
            <p:nvPr/>
          </p:nvSpPr>
          <p:spPr>
            <a:xfrm>
              <a:off x="3493" y="1962"/>
              <a:ext cx="45" cy="45"/>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15" name="Text Box 123"/>
            <p:cNvSpPr txBox="1"/>
            <p:nvPr/>
          </p:nvSpPr>
          <p:spPr>
            <a:xfrm>
              <a:off x="2727" y="2241"/>
              <a:ext cx="975" cy="231"/>
            </a:xfrm>
            <a:prstGeom prst="rect">
              <a:avLst/>
            </a:prstGeom>
            <a:noFill/>
            <a:ln w="9525">
              <a:noFill/>
            </a:ln>
          </p:spPr>
          <p:txBody>
            <a:bodyPr>
              <a:spAutoFit/>
            </a:bodyPr>
            <a:p>
              <a:pPr eaLnBrk="1" hangingPunct="1">
                <a:lnSpc>
                  <a:spcPct val="90000"/>
                </a:lnSpc>
                <a:spcBef>
                  <a:spcPct val="50000"/>
                </a:spcBef>
              </a:pPr>
              <a:r>
                <a:rPr lang="zh-CN" altLang="en-US" sz="2000" b="1" dirty="0">
                  <a:solidFill>
                    <a:srgbClr val="FF0000"/>
                  </a:solidFill>
                  <a:latin typeface="Times New Roman" panose="02020603050405020304" pitchFamily="18" charset="0"/>
                </a:rPr>
                <a:t>同向输入</a:t>
              </a:r>
              <a:endParaRPr lang="zh-CN" altLang="en-US" sz="2000" b="1" dirty="0">
                <a:solidFill>
                  <a:srgbClr val="FF0000"/>
                </a:solidFill>
                <a:latin typeface="Times New Roman" panose="02020603050405020304" pitchFamily="18" charset="0"/>
              </a:endParaRPr>
            </a:p>
          </p:txBody>
        </p:sp>
        <p:sp>
          <p:nvSpPr>
            <p:cNvPr id="4116" name="Text Box 124"/>
            <p:cNvSpPr txBox="1"/>
            <p:nvPr/>
          </p:nvSpPr>
          <p:spPr>
            <a:xfrm>
              <a:off x="2727" y="1861"/>
              <a:ext cx="975" cy="231"/>
            </a:xfrm>
            <a:prstGeom prst="rect">
              <a:avLst/>
            </a:prstGeom>
            <a:noFill/>
            <a:ln w="9525">
              <a:noFill/>
            </a:ln>
          </p:spPr>
          <p:txBody>
            <a:bodyPr>
              <a:spAutoFit/>
            </a:bodyPr>
            <a:p>
              <a:pPr eaLnBrk="1" hangingPunct="1">
                <a:lnSpc>
                  <a:spcPct val="90000"/>
                </a:lnSpc>
                <a:spcBef>
                  <a:spcPct val="50000"/>
                </a:spcBef>
              </a:pPr>
              <a:r>
                <a:rPr lang="zh-CN" altLang="en-US" sz="2000" b="1" dirty="0">
                  <a:solidFill>
                    <a:srgbClr val="FF0000"/>
                  </a:solidFill>
                  <a:latin typeface="Times New Roman" panose="02020603050405020304" pitchFamily="18" charset="0"/>
                </a:rPr>
                <a:t>反向输入</a:t>
              </a:r>
              <a:endParaRPr lang="zh-CN" altLang="en-US" sz="2000" b="1" dirty="0">
                <a:solidFill>
                  <a:srgbClr val="FF0000"/>
                </a:solidFill>
                <a:latin typeface="Times New Roman" panose="02020603050405020304" pitchFamily="18" charset="0"/>
              </a:endParaRPr>
            </a:p>
          </p:txBody>
        </p:sp>
        <p:sp>
          <p:nvSpPr>
            <p:cNvPr id="4117" name="Text Box 125"/>
            <p:cNvSpPr txBox="1"/>
            <p:nvPr/>
          </p:nvSpPr>
          <p:spPr>
            <a:xfrm>
              <a:off x="5187" y="2042"/>
              <a:ext cx="499" cy="231"/>
            </a:xfrm>
            <a:prstGeom prst="rect">
              <a:avLst/>
            </a:prstGeom>
            <a:noFill/>
            <a:ln w="9525">
              <a:noFill/>
            </a:ln>
          </p:spPr>
          <p:txBody>
            <a:bodyPr>
              <a:spAutoFit/>
            </a:bodyPr>
            <a:p>
              <a:pPr eaLnBrk="1" hangingPunct="1">
                <a:lnSpc>
                  <a:spcPct val="90000"/>
                </a:lnSpc>
                <a:spcBef>
                  <a:spcPct val="50000"/>
                </a:spcBef>
              </a:pPr>
              <a:r>
                <a:rPr lang="zh-CN" altLang="en-US" sz="2000" b="1" dirty="0">
                  <a:solidFill>
                    <a:srgbClr val="FF0000"/>
                  </a:solidFill>
                  <a:latin typeface="Times New Roman" panose="02020603050405020304" pitchFamily="18" charset="0"/>
                </a:rPr>
                <a:t>输出</a:t>
              </a:r>
              <a:endParaRPr lang="zh-CN" altLang="en-US" sz="2000" b="1" dirty="0">
                <a:solidFill>
                  <a:srgbClr val="FF0000"/>
                </a:solidFill>
                <a:latin typeface="Times New Roman" panose="02020603050405020304" pitchFamily="18" charset="0"/>
              </a:endParaRPr>
            </a:p>
          </p:txBody>
        </p:sp>
      </p:grpSp>
      <p:sp>
        <p:nvSpPr>
          <p:cNvPr id="1554559" name="Rectangle 127"/>
          <p:cNvSpPr/>
          <p:nvPr/>
        </p:nvSpPr>
        <p:spPr>
          <a:xfrm>
            <a:off x="358775" y="2897188"/>
            <a:ext cx="3097213" cy="3013075"/>
          </a:xfrm>
          <a:prstGeom prst="rect">
            <a:avLst/>
          </a:prstGeom>
          <a:solidFill>
            <a:srgbClr val="CCFFFF"/>
          </a:solidFill>
          <a:ln w="9525">
            <a:noFill/>
          </a:ln>
        </p:spPr>
        <p:txBody>
          <a:bodyPr anchor="ctr" anchorCtr="0">
            <a:spAutoFit/>
          </a:bodyPr>
          <a:p>
            <a:pPr eaLnBrk="1" hangingPunct="1"/>
            <a:r>
              <a:rPr lang="zh-CN" altLang="en-US" sz="2400" b="1" dirty="0">
                <a:solidFill>
                  <a:srgbClr val="333399"/>
                </a:solidFill>
                <a:latin typeface="黑体" panose="02010609060101010101" pitchFamily="49" charset="-122"/>
                <a:ea typeface="黑体" panose="02010609060101010101" pitchFamily="49" charset="-122"/>
              </a:rPr>
              <a:t>第一个使用真空管设计的放大器在</a:t>
            </a:r>
            <a:r>
              <a:rPr lang="en-US" altLang="zh-CN" sz="2400" b="1" dirty="0">
                <a:solidFill>
                  <a:srgbClr val="333399"/>
                </a:solidFill>
                <a:latin typeface="Times New Roman" panose="02020603050405020304" pitchFamily="18" charset="0"/>
                <a:ea typeface="黑体" panose="02010609060101010101" pitchFamily="49" charset="-122"/>
              </a:rPr>
              <a:t>1930</a:t>
            </a:r>
            <a:r>
              <a:rPr lang="zh-CN" altLang="en-US" sz="2400" b="1" dirty="0">
                <a:solidFill>
                  <a:srgbClr val="333399"/>
                </a:solidFill>
                <a:latin typeface="黑体" panose="02010609060101010101" pitchFamily="49" charset="-122"/>
                <a:ea typeface="黑体" panose="02010609060101010101" pitchFamily="49" charset="-122"/>
              </a:rPr>
              <a:t>年前后完成，可以执行加与减的工作。</a:t>
            </a:r>
            <a:endParaRPr lang="zh-CN" altLang="en-US" sz="2400" b="1" dirty="0">
              <a:solidFill>
                <a:srgbClr val="333399"/>
              </a:solidFill>
              <a:latin typeface="黑体" panose="02010609060101010101" pitchFamily="49" charset="-122"/>
              <a:ea typeface="黑体" panose="02010609060101010101" pitchFamily="49" charset="-122"/>
            </a:endParaRPr>
          </a:p>
          <a:p>
            <a:pPr eaLnBrk="1" hangingPunct="1"/>
            <a:r>
              <a:rPr lang="en-US" altLang="zh-CN" sz="2400" b="1" dirty="0">
                <a:solidFill>
                  <a:srgbClr val="333399"/>
                </a:solidFill>
                <a:latin typeface="Times New Roman" panose="02020603050405020304" pitchFamily="18" charset="0"/>
                <a:ea typeface="黑体" panose="02010609060101010101" pitchFamily="49" charset="-122"/>
              </a:rPr>
              <a:t>60</a:t>
            </a:r>
            <a:r>
              <a:rPr lang="zh-CN" altLang="en-US" sz="2400" b="1" dirty="0">
                <a:solidFill>
                  <a:srgbClr val="333399"/>
                </a:solidFill>
                <a:latin typeface="黑体" panose="02010609060101010101" pitchFamily="49" charset="-122"/>
                <a:ea typeface="黑体" panose="02010609060101010101" pitchFamily="49" charset="-122"/>
              </a:rPr>
              <a:t>年代晚期，美国仙童半导体推出了第一个被广泛使用的</a:t>
            </a:r>
            <a:r>
              <a:rPr lang="zh-CN" altLang="en-US" sz="2400" b="1" dirty="0">
                <a:solidFill>
                  <a:srgbClr val="FF0000"/>
                </a:solidFill>
                <a:latin typeface="黑体" panose="02010609060101010101" pitchFamily="49" charset="-122"/>
                <a:ea typeface="黑体" panose="02010609060101010101" pitchFamily="49" charset="-122"/>
              </a:rPr>
              <a:t>集成运放</a:t>
            </a:r>
            <a:r>
              <a:rPr lang="el-GR" altLang="zh-CN" sz="2400" b="1" dirty="0">
                <a:solidFill>
                  <a:srgbClr val="FF0000"/>
                </a:solidFill>
                <a:latin typeface="Times New Roman" panose="02020603050405020304" pitchFamily="18" charset="0"/>
                <a:ea typeface="宋体" panose="02010600030101010101" pitchFamily="2" charset="-122"/>
              </a:rPr>
              <a:t>μ</a:t>
            </a:r>
            <a:r>
              <a:rPr lang="en-US" altLang="zh-CN" sz="2400" b="1" dirty="0">
                <a:solidFill>
                  <a:srgbClr val="FF0000"/>
                </a:solidFill>
                <a:latin typeface="Times New Roman" panose="02020603050405020304" pitchFamily="18" charset="0"/>
                <a:ea typeface="黑体" panose="02010609060101010101" pitchFamily="49" charset="-122"/>
              </a:rPr>
              <a:t>A709</a:t>
            </a:r>
            <a:r>
              <a:rPr lang="en-US" altLang="zh-CN" sz="2400" b="1" dirty="0">
                <a:solidFill>
                  <a:srgbClr val="333399"/>
                </a:solidFill>
                <a:latin typeface="黑体" panose="02010609060101010101" pitchFamily="49" charset="-122"/>
                <a:ea typeface="黑体" panose="02010609060101010101" pitchFamily="49" charset="-122"/>
              </a:rPr>
              <a:t>. </a:t>
            </a:r>
            <a:endParaRPr lang="en-US" altLang="zh-CN" sz="2400" b="1" dirty="0">
              <a:solidFill>
                <a:srgbClr val="333399"/>
              </a:solidFill>
              <a:latin typeface="黑体" panose="02010609060101010101" pitchFamily="49" charset="-122"/>
              <a:ea typeface="黑体" panose="02010609060101010101" pitchFamily="49" charset="-122"/>
            </a:endParaRPr>
          </a:p>
        </p:txBody>
      </p:sp>
      <p:sp>
        <p:nvSpPr>
          <p:cNvPr id="1554560" name="Rectangle 128"/>
          <p:cNvSpPr/>
          <p:nvPr/>
        </p:nvSpPr>
        <p:spPr>
          <a:xfrm>
            <a:off x="3773488" y="4410075"/>
            <a:ext cx="5119687" cy="1616075"/>
          </a:xfrm>
          <a:prstGeom prst="rect">
            <a:avLst/>
          </a:prstGeom>
          <a:noFill/>
          <a:ln w="9525">
            <a:noFill/>
          </a:ln>
        </p:spPr>
        <p:txBody>
          <a:bodyPr anchor="ctr" anchorCtr="0">
            <a:spAutoFit/>
          </a:bodyPr>
          <a:p>
            <a:pPr eaLnBrk="1" hangingPunct="1"/>
            <a:r>
              <a:rPr lang="el-GR" altLang="zh-CN" sz="2000" b="1" dirty="0">
                <a:solidFill>
                  <a:srgbClr val="FF0000"/>
                </a:solidFill>
                <a:latin typeface="Times New Roman" panose="02020603050405020304" pitchFamily="18" charset="0"/>
                <a:ea typeface="宋体" panose="02010600030101010101" pitchFamily="2" charset="-122"/>
              </a:rPr>
              <a:t>μ</a:t>
            </a:r>
            <a:r>
              <a:rPr lang="en-US" altLang="zh-CN" sz="2000" b="1" dirty="0">
                <a:solidFill>
                  <a:srgbClr val="FF0000"/>
                </a:solidFill>
                <a:latin typeface="Times New Roman" panose="02020603050405020304" pitchFamily="18" charset="0"/>
              </a:rPr>
              <a:t>A741</a:t>
            </a:r>
            <a:r>
              <a:rPr lang="zh-CN" altLang="en-US" sz="2000" b="1" dirty="0">
                <a:solidFill>
                  <a:schemeClr val="tx1"/>
                </a:solidFill>
                <a:latin typeface="Times New Roman" panose="02020603050405020304" pitchFamily="18" charset="0"/>
              </a:rPr>
              <a:t>是仙童公司的第二代产品，</a:t>
            </a:r>
            <a:r>
              <a:rPr lang="en-US" altLang="zh-CN" sz="2000" b="1" dirty="0">
                <a:solidFill>
                  <a:srgbClr val="FF0000"/>
                </a:solidFill>
                <a:latin typeface="Times New Roman" panose="02020603050405020304" pitchFamily="18" charset="0"/>
              </a:rPr>
              <a:t>741</a:t>
            </a:r>
            <a:r>
              <a:rPr lang="zh-CN" altLang="en-US" sz="2000" b="1" dirty="0">
                <a:solidFill>
                  <a:schemeClr val="tx1"/>
                </a:solidFill>
                <a:latin typeface="Times New Roman" panose="02020603050405020304" pitchFamily="18" charset="0"/>
              </a:rPr>
              <a:t>性能完善，价格低廉，各国竞相生产，使用广泛。</a:t>
            </a:r>
            <a:r>
              <a:rPr lang="en-US" altLang="zh-CN" sz="2000" b="1" dirty="0">
                <a:solidFill>
                  <a:srgbClr val="FF0000"/>
                </a:solidFill>
                <a:latin typeface="Times New Roman" panose="02020603050405020304" pitchFamily="18" charset="0"/>
              </a:rPr>
              <a:t>741</a:t>
            </a:r>
            <a:r>
              <a:rPr lang="zh-CN" altLang="en-US" sz="2000" b="1" dirty="0">
                <a:solidFill>
                  <a:schemeClr val="tx1"/>
                </a:solidFill>
                <a:latin typeface="Times New Roman" panose="02020603050405020304" pitchFamily="18" charset="0"/>
              </a:rPr>
              <a:t>集成运放成了微电子工业发展历史上一个独一无二的象征，历经了数十年的演进仍然没有被取代，至今仍在生产和使用。 </a:t>
            </a:r>
            <a:endParaRPr lang="zh-CN" altLang="en-US" sz="20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54519"/>
                                        </p:tgtEl>
                                        <p:attrNameLst>
                                          <p:attrName>style.visibility</p:attrName>
                                        </p:attrNameLst>
                                      </p:cBhvr>
                                      <p:to>
                                        <p:strVal val="visible"/>
                                      </p:to>
                                    </p:set>
                                    <p:animEffect transition="in" filter="dissolve">
                                      <p:cBhvr>
                                        <p:cTn id="7" dur="500"/>
                                        <p:tgtEl>
                                          <p:spTgt spid="15545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54524"/>
                                        </p:tgtEl>
                                        <p:attrNameLst>
                                          <p:attrName>style.visibility</p:attrName>
                                        </p:attrNameLst>
                                      </p:cBhvr>
                                      <p:to>
                                        <p:strVal val="visible"/>
                                      </p:to>
                                    </p:set>
                                    <p:animEffect transition="in" filter="dissolve">
                                      <p:cBhvr>
                                        <p:cTn id="12" dur="500"/>
                                        <p:tgtEl>
                                          <p:spTgt spid="1554524"/>
                                        </p:tgtEl>
                                      </p:cBhvr>
                                    </p:animEffect>
                                  </p:childTnLst>
                                </p:cTn>
                              </p:par>
                              <p:par>
                                <p:cTn id="13" presetID="9" presetClass="entr" presetSubtype="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dissolve">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554559"/>
                                        </p:tgtEl>
                                        <p:attrNameLst>
                                          <p:attrName>style.visibility</p:attrName>
                                        </p:attrNameLst>
                                      </p:cBhvr>
                                      <p:to>
                                        <p:strVal val="visible"/>
                                      </p:to>
                                    </p:set>
                                    <p:animEffect transition="in" filter="dissolve">
                                      <p:cBhvr>
                                        <p:cTn id="20" dur="500"/>
                                        <p:tgtEl>
                                          <p:spTgt spid="155455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554560"/>
                                        </p:tgtEl>
                                        <p:attrNameLst>
                                          <p:attrName>style.visibility</p:attrName>
                                        </p:attrNameLst>
                                      </p:cBhvr>
                                      <p:to>
                                        <p:strVal val="visible"/>
                                      </p:to>
                                    </p:set>
                                    <p:animEffect transition="in" filter="dissolve">
                                      <p:cBhvr>
                                        <p:cTn id="25" dur="500"/>
                                        <p:tgtEl>
                                          <p:spTgt spid="15545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19" grpId="0"/>
      <p:bldP spid="1554524" grpId="0" bldLvl="0" animBg="1"/>
      <p:bldP spid="1554559" grpId="0" bldLvl="0" animBg="1"/>
      <p:bldP spid="1554560"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5922" name="Text Box 2"/>
          <p:cNvSpPr txBox="1">
            <a:spLocks noChangeArrowheads="1"/>
          </p:cNvSpPr>
          <p:nvPr/>
        </p:nvSpPr>
        <p:spPr bwMode="auto">
          <a:xfrm>
            <a:off x="2689225" y="87313"/>
            <a:ext cx="368300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5924" name="Text Box 4"/>
          <p:cNvSpPr txBox="1"/>
          <p:nvPr/>
        </p:nvSpPr>
        <p:spPr>
          <a:xfrm>
            <a:off x="431800" y="790575"/>
            <a:ext cx="5940425"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影响运算放大器精度的参数</a:t>
            </a:r>
            <a:endParaRPr lang="zh-CN" altLang="en-US" sz="3600" b="1" dirty="0">
              <a:solidFill>
                <a:srgbClr val="333399"/>
              </a:solidFill>
              <a:latin typeface="Times New Roman" panose="02020603050405020304" pitchFamily="18" charset="0"/>
            </a:endParaRPr>
          </a:p>
        </p:txBody>
      </p:sp>
      <p:sp>
        <p:nvSpPr>
          <p:cNvPr id="2385942" name="Rectangle 22"/>
          <p:cNvSpPr/>
          <p:nvPr/>
        </p:nvSpPr>
        <p:spPr>
          <a:xfrm>
            <a:off x="430213" y="1790700"/>
            <a:ext cx="8389937" cy="4084638"/>
          </a:xfrm>
          <a:prstGeom prst="rect">
            <a:avLst/>
          </a:prstGeom>
          <a:noFill/>
          <a:ln w="9525">
            <a:noFill/>
          </a:ln>
        </p:spPr>
        <p:txBody>
          <a:bodyPr anchor="ctr" anchorCtr="0">
            <a:spAutoFit/>
          </a:bodyPr>
          <a:p>
            <a:pPr eaLnBrk="1" hangingPunct="1">
              <a:spcBef>
                <a:spcPct val="45000"/>
              </a:spcBef>
              <a:buFont typeface="Wingdings" panose="05000000000000000000" pitchFamily="2" charset="2"/>
              <a:buChar char="u"/>
            </a:pPr>
            <a:r>
              <a:rPr lang="en-US" altLang="zh-CN" sz="2800" b="1" dirty="0">
                <a:solidFill>
                  <a:srgbClr val="FF0000"/>
                </a:solidFill>
                <a:latin typeface="黑体" panose="02010609060101010101" pitchFamily="49" charset="-122"/>
                <a:ea typeface="黑体" panose="02010609060101010101" pitchFamily="49" charset="-122"/>
              </a:rPr>
              <a:t> </a:t>
            </a:r>
            <a:r>
              <a:rPr lang="zh-CN" altLang="en-US" sz="2800" b="1" dirty="0">
                <a:solidFill>
                  <a:srgbClr val="FF0000"/>
                </a:solidFill>
                <a:latin typeface="黑体" panose="02010609060101010101" pitchFamily="49" charset="-122"/>
                <a:ea typeface="黑体" panose="02010609060101010101" pitchFamily="49" charset="-122"/>
              </a:rPr>
              <a:t>失调电压：</a:t>
            </a:r>
            <a:r>
              <a:rPr lang="zh-CN" altLang="en-US" sz="2800" b="1" dirty="0">
                <a:solidFill>
                  <a:srgbClr val="3366CC"/>
                </a:solidFill>
                <a:latin typeface="黑体" panose="02010609060101010101" pitchFamily="49" charset="-122"/>
                <a:ea typeface="黑体" panose="02010609060101010101" pitchFamily="49" charset="-122"/>
              </a:rPr>
              <a:t>当运放两输入为零时，输出端存在的</a:t>
            </a:r>
            <a:endParaRPr lang="zh-CN" altLang="en-US" sz="2800" b="1" dirty="0">
              <a:solidFill>
                <a:srgbClr val="3366CC"/>
              </a:solidFill>
              <a:latin typeface="黑体" panose="02010609060101010101" pitchFamily="49" charset="-122"/>
              <a:ea typeface="黑体" panose="02010609060101010101" pitchFamily="49" charset="-122"/>
            </a:endParaRPr>
          </a:p>
          <a:p>
            <a:pPr eaLnBrk="1" hangingPunct="1">
              <a:buFont typeface="Wingdings" panose="05000000000000000000" pitchFamily="2" charset="2"/>
            </a:pPr>
            <a:r>
              <a:rPr lang="zh-CN" altLang="en-US" sz="2800" b="1" dirty="0">
                <a:solidFill>
                  <a:srgbClr val="3366CC"/>
                </a:solidFill>
                <a:latin typeface="黑体" panose="02010609060101010101" pitchFamily="49" charset="-122"/>
                <a:ea typeface="黑体" panose="02010609060101010101" pitchFamily="49" charset="-122"/>
              </a:rPr>
              <a:t>             电压。</a:t>
            </a:r>
            <a:endParaRPr lang="zh-CN" altLang="en-US" sz="1000" b="1" dirty="0">
              <a:solidFill>
                <a:srgbClr val="3366CC"/>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输入失调电压：</a:t>
            </a:r>
            <a:r>
              <a:rPr lang="zh-CN" altLang="en-US" sz="2800" b="1" dirty="0">
                <a:solidFill>
                  <a:srgbClr val="000099"/>
                </a:solidFill>
                <a:latin typeface="黑体" panose="02010609060101010101" pitchFamily="49" charset="-122"/>
                <a:ea typeface="黑体" panose="02010609060101010101" pitchFamily="49" charset="-122"/>
              </a:rPr>
              <a:t>运放输出端电压为零时，两个输</a:t>
            </a:r>
            <a:endParaRPr lang="zh-CN" altLang="en-US" sz="2800" b="1" dirty="0">
              <a:solidFill>
                <a:srgbClr val="000099"/>
              </a:solidFill>
              <a:latin typeface="黑体" panose="02010609060101010101" pitchFamily="49" charset="-122"/>
              <a:ea typeface="黑体" panose="02010609060101010101" pitchFamily="49" charset="-122"/>
            </a:endParaRPr>
          </a:p>
          <a:p>
            <a:pPr eaLnBrk="1" hangingPunct="1">
              <a:buFont typeface="Wingdings" panose="05000000000000000000" pitchFamily="2" charset="2"/>
            </a:pPr>
            <a:r>
              <a:rPr lang="zh-CN" altLang="en-US" sz="2800" b="1" dirty="0">
                <a:solidFill>
                  <a:srgbClr val="000099"/>
                </a:solidFill>
                <a:latin typeface="黑体" panose="02010609060101010101" pitchFamily="49" charset="-122"/>
                <a:ea typeface="黑体" panose="02010609060101010101" pitchFamily="49" charset="-122"/>
              </a:rPr>
              <a:t>                 入端之间所加的补偿电压。</a:t>
            </a:r>
            <a:r>
              <a:rPr lang="zh-CN" altLang="en-US" sz="2800" b="1" dirty="0">
                <a:solidFill>
                  <a:srgbClr val="3366CC"/>
                </a:solidFill>
                <a:latin typeface="黑体" panose="02010609060101010101" pitchFamily="49" charset="-122"/>
                <a:ea typeface="黑体" panose="02010609060101010101" pitchFamily="49" charset="-122"/>
              </a:rPr>
              <a:t> </a:t>
            </a:r>
            <a:endParaRPr lang="zh-CN" altLang="en-US" sz="2800" b="1" dirty="0">
              <a:solidFill>
                <a:srgbClr val="3366CC"/>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输入偏置电流：</a:t>
            </a:r>
            <a:r>
              <a:rPr lang="zh-CN" altLang="en-US" sz="2800" b="1" dirty="0">
                <a:solidFill>
                  <a:srgbClr val="3366CC"/>
                </a:solidFill>
                <a:latin typeface="黑体" panose="02010609060101010101" pitchFamily="49" charset="-122"/>
                <a:ea typeface="黑体" panose="02010609060101010101" pitchFamily="49" charset="-122"/>
              </a:rPr>
              <a:t>当运放的输出直流电压为零时，</a:t>
            </a:r>
            <a:endParaRPr lang="zh-CN" altLang="en-US" sz="2800" b="1" dirty="0">
              <a:solidFill>
                <a:srgbClr val="3366CC"/>
              </a:solidFill>
              <a:latin typeface="黑体" panose="02010609060101010101" pitchFamily="49" charset="-122"/>
              <a:ea typeface="黑体" panose="02010609060101010101" pitchFamily="49" charset="-122"/>
            </a:endParaRPr>
          </a:p>
          <a:p>
            <a:pPr eaLnBrk="1" hangingPunct="1">
              <a:buFont typeface="Wingdings" panose="05000000000000000000" pitchFamily="2" charset="2"/>
            </a:pPr>
            <a:r>
              <a:rPr lang="zh-CN" altLang="en-US" sz="2800" b="1" dirty="0">
                <a:solidFill>
                  <a:srgbClr val="3366CC"/>
                </a:solidFill>
                <a:latin typeface="黑体" panose="02010609060101010101" pitchFamily="49" charset="-122"/>
                <a:ea typeface="黑体" panose="02010609060101010101" pitchFamily="49" charset="-122"/>
              </a:rPr>
              <a:t>                 其两输入端的偏置电流平均值。 </a:t>
            </a:r>
            <a:endParaRPr lang="zh-CN" altLang="en-US" sz="2800" b="1" dirty="0">
              <a:solidFill>
                <a:srgbClr val="3366CC"/>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输入失调电流：</a:t>
            </a:r>
            <a:r>
              <a:rPr lang="zh-CN" altLang="en-US" sz="2800" b="1" dirty="0">
                <a:solidFill>
                  <a:srgbClr val="000099"/>
                </a:solidFill>
                <a:latin typeface="黑体" panose="02010609060101010101" pitchFamily="49" charset="-122"/>
                <a:ea typeface="黑体" panose="02010609060101010101" pitchFamily="49" charset="-122"/>
              </a:rPr>
              <a:t>当运放的输出直流电压为零时，</a:t>
            </a:r>
            <a:endParaRPr lang="zh-CN" altLang="en-US" sz="2800" b="1" dirty="0">
              <a:solidFill>
                <a:srgbClr val="000099"/>
              </a:solidFill>
              <a:latin typeface="黑体" panose="02010609060101010101" pitchFamily="49" charset="-122"/>
              <a:ea typeface="黑体" panose="02010609060101010101" pitchFamily="49" charset="-122"/>
            </a:endParaRPr>
          </a:p>
          <a:p>
            <a:pPr eaLnBrk="1" hangingPunct="1">
              <a:buFont typeface="Wingdings" panose="05000000000000000000" pitchFamily="2" charset="2"/>
            </a:pPr>
            <a:r>
              <a:rPr lang="zh-CN" altLang="en-US" sz="2800" b="1" dirty="0">
                <a:solidFill>
                  <a:srgbClr val="000099"/>
                </a:solidFill>
                <a:latin typeface="黑体" panose="02010609060101010101" pitchFamily="49" charset="-122"/>
                <a:ea typeface="黑体" panose="02010609060101010101" pitchFamily="49" charset="-122"/>
              </a:rPr>
              <a:t>                 其两输入端偏置电流的差值。</a:t>
            </a:r>
            <a:r>
              <a:rPr lang="en-US" altLang="zh-CN" sz="1000" b="1" dirty="0">
                <a:solidFill>
                  <a:srgbClr val="FF0000"/>
                </a:solidFill>
                <a:latin typeface="黑体" panose="02010609060101010101" pitchFamily="49" charset="-122"/>
                <a:ea typeface="黑体" panose="02010609060101010101" pitchFamily="49" charset="-122"/>
              </a:rPr>
              <a:t> </a:t>
            </a:r>
            <a:endParaRPr lang="en-US" altLang="zh-CN" sz="1000" b="1"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5924"/>
                                        </p:tgtEl>
                                        <p:attrNameLst>
                                          <p:attrName>style.visibility</p:attrName>
                                        </p:attrNameLst>
                                      </p:cBhvr>
                                      <p:to>
                                        <p:strVal val="visible"/>
                                      </p:to>
                                    </p:set>
                                    <p:animEffect transition="in" filter="dissolve">
                                      <p:cBhvr>
                                        <p:cTn id="7" dur="500"/>
                                        <p:tgtEl>
                                          <p:spTgt spid="23859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5942">
                                            <p:txEl>
                                              <p:charRg st="0" end="23"/>
                                            </p:txEl>
                                          </p:spTgt>
                                        </p:tgtEl>
                                        <p:attrNameLst>
                                          <p:attrName>style.visibility</p:attrName>
                                        </p:attrNameLst>
                                      </p:cBhvr>
                                      <p:to>
                                        <p:strVal val="visible"/>
                                      </p:to>
                                    </p:set>
                                    <p:animEffect transition="in" filter="dissolve">
                                      <p:cBhvr>
                                        <p:cTn id="12" dur="500"/>
                                        <p:tgtEl>
                                          <p:spTgt spid="2385942">
                                            <p:txEl>
                                              <p:charRg st="0" end="2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385942">
                                            <p:txEl>
                                              <p:charRg st="23" end="40"/>
                                            </p:txEl>
                                          </p:spTgt>
                                        </p:tgtEl>
                                        <p:attrNameLst>
                                          <p:attrName>style.visibility</p:attrName>
                                        </p:attrNameLst>
                                      </p:cBhvr>
                                      <p:to>
                                        <p:strVal val="visible"/>
                                      </p:to>
                                    </p:set>
                                    <p:animEffect transition="in" filter="dissolve">
                                      <p:cBhvr>
                                        <p:cTn id="15" dur="500"/>
                                        <p:tgtEl>
                                          <p:spTgt spid="2385942">
                                            <p:txEl>
                                              <p:charRg st="23" end="4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85942">
                                            <p:txEl>
                                              <p:charRg st="40" end="63"/>
                                            </p:txEl>
                                          </p:spTgt>
                                        </p:tgtEl>
                                        <p:attrNameLst>
                                          <p:attrName>style.visibility</p:attrName>
                                        </p:attrNameLst>
                                      </p:cBhvr>
                                      <p:to>
                                        <p:strVal val="visible"/>
                                      </p:to>
                                    </p:set>
                                    <p:animEffect transition="in" filter="dissolve">
                                      <p:cBhvr>
                                        <p:cTn id="20" dur="500"/>
                                        <p:tgtEl>
                                          <p:spTgt spid="2385942">
                                            <p:txEl>
                                              <p:charRg st="40" end="6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2385942">
                                            <p:txEl>
                                              <p:charRg st="63" end="94"/>
                                            </p:txEl>
                                          </p:spTgt>
                                        </p:tgtEl>
                                        <p:attrNameLst>
                                          <p:attrName>style.visibility</p:attrName>
                                        </p:attrNameLst>
                                      </p:cBhvr>
                                      <p:to>
                                        <p:strVal val="visible"/>
                                      </p:to>
                                    </p:set>
                                    <p:animEffect transition="in" filter="dissolve">
                                      <p:cBhvr>
                                        <p:cTn id="23" dur="500"/>
                                        <p:tgtEl>
                                          <p:spTgt spid="2385942">
                                            <p:txEl>
                                              <p:charRg st="63" end="9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85942">
                                            <p:txEl>
                                              <p:charRg st="94" end="117"/>
                                            </p:txEl>
                                          </p:spTgt>
                                        </p:tgtEl>
                                        <p:attrNameLst>
                                          <p:attrName>style.visibility</p:attrName>
                                        </p:attrNameLst>
                                      </p:cBhvr>
                                      <p:to>
                                        <p:strVal val="visible"/>
                                      </p:to>
                                    </p:set>
                                    <p:animEffect transition="in" filter="dissolve">
                                      <p:cBhvr>
                                        <p:cTn id="28" dur="500"/>
                                        <p:tgtEl>
                                          <p:spTgt spid="2385942">
                                            <p:txEl>
                                              <p:charRg st="94" end="117"/>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2385942">
                                            <p:txEl>
                                              <p:charRg st="117" end="150"/>
                                            </p:txEl>
                                          </p:spTgt>
                                        </p:tgtEl>
                                        <p:attrNameLst>
                                          <p:attrName>style.visibility</p:attrName>
                                        </p:attrNameLst>
                                      </p:cBhvr>
                                      <p:to>
                                        <p:strVal val="visible"/>
                                      </p:to>
                                    </p:set>
                                    <p:animEffect transition="in" filter="dissolve">
                                      <p:cBhvr>
                                        <p:cTn id="31" dur="500"/>
                                        <p:tgtEl>
                                          <p:spTgt spid="2385942">
                                            <p:txEl>
                                              <p:charRg st="117" end="150"/>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385942">
                                            <p:txEl>
                                              <p:charRg st="150" end="173"/>
                                            </p:txEl>
                                          </p:spTgt>
                                        </p:tgtEl>
                                        <p:attrNameLst>
                                          <p:attrName>style.visibility</p:attrName>
                                        </p:attrNameLst>
                                      </p:cBhvr>
                                      <p:to>
                                        <p:strVal val="visible"/>
                                      </p:to>
                                    </p:set>
                                    <p:animEffect transition="in" filter="dissolve">
                                      <p:cBhvr>
                                        <p:cTn id="36" dur="500"/>
                                        <p:tgtEl>
                                          <p:spTgt spid="2385942">
                                            <p:txEl>
                                              <p:charRg st="150" end="173"/>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385942">
                                            <p:txEl>
                                              <p:charRg st="173" end="205"/>
                                            </p:txEl>
                                          </p:spTgt>
                                        </p:tgtEl>
                                        <p:attrNameLst>
                                          <p:attrName>style.visibility</p:attrName>
                                        </p:attrNameLst>
                                      </p:cBhvr>
                                      <p:to>
                                        <p:strVal val="visible"/>
                                      </p:to>
                                    </p:set>
                                    <p:animEffect transition="in" filter="dissolve">
                                      <p:cBhvr>
                                        <p:cTn id="39" dur="500"/>
                                        <p:tgtEl>
                                          <p:spTgt spid="2385942">
                                            <p:txEl>
                                              <p:charRg st="173" end="20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24" grpId="0" bldLvl="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2066" name="Text Box 2"/>
          <p:cNvSpPr txBox="1">
            <a:spLocks noChangeArrowheads="1"/>
          </p:cNvSpPr>
          <p:nvPr/>
        </p:nvSpPr>
        <p:spPr bwMode="auto">
          <a:xfrm>
            <a:off x="2689225" y="87313"/>
            <a:ext cx="368300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2067" name="Text Box 3"/>
          <p:cNvSpPr txBox="1"/>
          <p:nvPr/>
        </p:nvSpPr>
        <p:spPr>
          <a:xfrm>
            <a:off x="431800" y="790575"/>
            <a:ext cx="3527425" cy="585788"/>
          </a:xfrm>
          <a:prstGeom prst="rect">
            <a:avLst/>
          </a:prstGeom>
          <a:solidFill>
            <a:srgbClr val="99CCFF"/>
          </a:solidFill>
          <a:ln w="9525">
            <a:noFill/>
          </a:ln>
        </p:spPr>
        <p:txBody>
          <a:bodyPr>
            <a:spAutoFit/>
          </a:bodyPr>
          <a:p>
            <a:pPr algn="ctr" eaLnBrk="1" hangingPunct="1">
              <a:lnSpc>
                <a:spcPct val="90000"/>
              </a:lnSpc>
              <a:spcBef>
                <a:spcPct val="50000"/>
              </a:spcBef>
            </a:pPr>
            <a:r>
              <a:rPr lang="zh-CN" altLang="en-US" sz="3600" b="1" dirty="0">
                <a:solidFill>
                  <a:srgbClr val="333399"/>
                </a:solidFill>
                <a:latin typeface="Times New Roman" panose="02020603050405020304" pitchFamily="18" charset="0"/>
              </a:rPr>
              <a:t>运算放大器类型</a:t>
            </a:r>
            <a:endParaRPr lang="zh-CN" altLang="en-US" sz="3600" b="1" dirty="0">
              <a:solidFill>
                <a:srgbClr val="333399"/>
              </a:solidFill>
              <a:latin typeface="Times New Roman" panose="02020603050405020304" pitchFamily="18" charset="0"/>
            </a:endParaRPr>
          </a:p>
        </p:txBody>
      </p:sp>
      <p:sp>
        <p:nvSpPr>
          <p:cNvPr id="2392068" name="Rectangle 4"/>
          <p:cNvSpPr/>
          <p:nvPr/>
        </p:nvSpPr>
        <p:spPr>
          <a:xfrm>
            <a:off x="250825" y="1528763"/>
            <a:ext cx="5149850" cy="4365625"/>
          </a:xfrm>
          <a:prstGeom prst="rect">
            <a:avLst/>
          </a:prstGeom>
          <a:noFill/>
          <a:ln w="9525">
            <a:noFill/>
          </a:ln>
        </p:spPr>
        <p:txBody>
          <a:bodyPr anchor="ctr" anchorCtr="0">
            <a:spAutoFit/>
          </a:bodyPr>
          <a:p>
            <a:pPr eaLnBrk="1" hangingPunct="1">
              <a:spcBef>
                <a:spcPct val="45000"/>
              </a:spcBef>
              <a:buFont typeface="Wingdings" panose="05000000000000000000" pitchFamily="2" charset="2"/>
              <a:buChar char="u"/>
            </a:pPr>
            <a:r>
              <a:rPr lang="en-US" altLang="zh-CN" sz="2800" b="1" dirty="0">
                <a:solidFill>
                  <a:srgbClr val="FF0000"/>
                </a:solidFill>
                <a:latin typeface="黑体" panose="02010609060101010101" pitchFamily="49" charset="-122"/>
                <a:ea typeface="黑体" panose="02010609060101010101" pitchFamily="49" charset="-122"/>
              </a:rPr>
              <a:t> </a:t>
            </a:r>
            <a:r>
              <a:rPr lang="zh-CN" altLang="en-US" sz="2800" b="1" dirty="0">
                <a:solidFill>
                  <a:srgbClr val="FF0000"/>
                </a:solidFill>
                <a:latin typeface="黑体" panose="02010609060101010101" pitchFamily="49" charset="-122"/>
                <a:ea typeface="黑体" panose="02010609060101010101" pitchFamily="49" charset="-122"/>
              </a:rPr>
              <a:t>通用型运算放大器：</a:t>
            </a:r>
            <a:endParaRPr lang="zh-CN" altLang="en-US" sz="2800" b="1" dirty="0">
              <a:solidFill>
                <a:schemeClr val="tx1"/>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pPr>
            <a:endParaRPr lang="zh-CN" altLang="en-US" sz="10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高阻型运算放大器：</a:t>
            </a:r>
            <a:endParaRPr lang="zh-CN" altLang="en-US" sz="28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pPr>
            <a:endParaRPr lang="zh-CN" altLang="en-US" sz="10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低温漂型运算放大器：</a:t>
            </a:r>
            <a:endParaRPr lang="zh-CN" altLang="en-US" sz="28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pPr>
            <a:endParaRPr lang="zh-CN" altLang="en-US" sz="10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高速型运算放大器：</a:t>
            </a:r>
            <a:endParaRPr lang="zh-CN" altLang="en-US" sz="28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pPr>
            <a:endParaRPr lang="zh-CN" altLang="en-US" sz="2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低功耗型运算放大器：</a:t>
            </a:r>
            <a:endParaRPr lang="zh-CN" altLang="en-US" sz="28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pPr>
            <a:endParaRPr lang="zh-CN" altLang="en-US" sz="200" b="1" dirty="0">
              <a:solidFill>
                <a:srgbClr val="FF0000"/>
              </a:solidFill>
              <a:latin typeface="黑体" panose="02010609060101010101" pitchFamily="49" charset="-122"/>
              <a:ea typeface="黑体" panose="02010609060101010101" pitchFamily="49" charset="-122"/>
            </a:endParaRPr>
          </a:p>
          <a:p>
            <a:pPr eaLnBrk="1" hangingPunct="1">
              <a:spcBef>
                <a:spcPct val="45000"/>
              </a:spcBef>
              <a:buFont typeface="Wingdings" panose="05000000000000000000" pitchFamily="2" charset="2"/>
              <a:buChar char="u"/>
            </a:pPr>
            <a:r>
              <a:rPr lang="zh-CN" altLang="en-US" sz="2800" b="1" dirty="0">
                <a:solidFill>
                  <a:srgbClr val="FF0000"/>
                </a:solidFill>
                <a:latin typeface="黑体" panose="02010609060101010101" pitchFamily="49" charset="-122"/>
                <a:ea typeface="黑体" panose="02010609060101010101" pitchFamily="49" charset="-122"/>
              </a:rPr>
              <a:t> 高压大功率型运算放大器：</a:t>
            </a:r>
            <a:endParaRPr lang="zh-CN" altLang="en-US" sz="2800" b="1" dirty="0">
              <a:solidFill>
                <a:srgbClr val="FF0000"/>
              </a:solidFill>
              <a:latin typeface="黑体" panose="02010609060101010101" pitchFamily="49" charset="-122"/>
              <a:ea typeface="黑体" panose="02010609060101010101" pitchFamily="49" charset="-122"/>
            </a:endParaRPr>
          </a:p>
        </p:txBody>
      </p:sp>
      <p:sp>
        <p:nvSpPr>
          <p:cNvPr id="2392069" name="Rectangle 5"/>
          <p:cNvSpPr/>
          <p:nvPr/>
        </p:nvSpPr>
        <p:spPr>
          <a:xfrm>
            <a:off x="4067175" y="1449388"/>
            <a:ext cx="4600575" cy="749300"/>
          </a:xfrm>
          <a:prstGeom prst="rect">
            <a:avLst/>
          </a:prstGeom>
          <a:noFill/>
          <a:ln w="9525">
            <a:noFill/>
          </a:ln>
        </p:spPr>
        <p:txBody>
          <a:bodyPr>
            <a:spAutoFit/>
          </a:bodyPr>
          <a:p>
            <a:pPr eaLnBrk="1" hangingPunct="1">
              <a:lnSpc>
                <a:spcPct val="90000"/>
              </a:lnSpc>
            </a:pPr>
            <a:r>
              <a:rPr lang="zh-CN" altLang="en-US" sz="2400" b="1" dirty="0">
                <a:solidFill>
                  <a:srgbClr val="3366CC"/>
                </a:solidFill>
                <a:latin typeface="Times New Roman" panose="02020603050405020304" pitchFamily="18" charset="0"/>
              </a:rPr>
              <a:t>价格低廉、产品量大面广，其性能指标能适合于一般性使用。</a:t>
            </a:r>
            <a:endParaRPr lang="zh-CN" altLang="en-US" sz="2400" b="1" dirty="0">
              <a:solidFill>
                <a:srgbClr val="3366CC"/>
              </a:solidFill>
              <a:latin typeface="Times New Roman" panose="02020603050405020304" pitchFamily="18" charset="0"/>
            </a:endParaRPr>
          </a:p>
        </p:txBody>
      </p:sp>
      <p:sp>
        <p:nvSpPr>
          <p:cNvPr id="2392070" name="Rectangle 6"/>
          <p:cNvSpPr/>
          <p:nvPr/>
        </p:nvSpPr>
        <p:spPr>
          <a:xfrm>
            <a:off x="4068763" y="2284413"/>
            <a:ext cx="3455987" cy="749300"/>
          </a:xfrm>
          <a:prstGeom prst="rect">
            <a:avLst/>
          </a:prstGeom>
          <a:noFill/>
          <a:ln w="9525">
            <a:noFill/>
          </a:ln>
        </p:spPr>
        <p:txBody>
          <a:bodyPr>
            <a:spAutoFit/>
          </a:bodyPr>
          <a:p>
            <a:pPr eaLnBrk="1" hangingPunct="1">
              <a:lnSpc>
                <a:spcPct val="90000"/>
              </a:lnSpc>
            </a:pPr>
            <a:r>
              <a:rPr lang="zh-CN" altLang="en-US" sz="2400" b="1" dirty="0">
                <a:solidFill>
                  <a:srgbClr val="000099"/>
                </a:solidFill>
                <a:latin typeface="Times New Roman" panose="02020603050405020304" pitchFamily="18" charset="0"/>
              </a:rPr>
              <a:t>差模输入阻抗非常高，输入偏置电流非常小。 </a:t>
            </a:r>
            <a:endParaRPr lang="zh-CN" altLang="en-US" sz="2400" b="1" dirty="0">
              <a:solidFill>
                <a:srgbClr val="000099"/>
              </a:solidFill>
              <a:latin typeface="Times New Roman" panose="02020603050405020304" pitchFamily="18" charset="0"/>
            </a:endParaRPr>
          </a:p>
        </p:txBody>
      </p:sp>
      <p:sp>
        <p:nvSpPr>
          <p:cNvPr id="2392071" name="Rectangle 7"/>
          <p:cNvSpPr/>
          <p:nvPr/>
        </p:nvSpPr>
        <p:spPr>
          <a:xfrm>
            <a:off x="4357688" y="3141663"/>
            <a:ext cx="2914650" cy="749300"/>
          </a:xfrm>
          <a:prstGeom prst="rect">
            <a:avLst/>
          </a:prstGeom>
          <a:noFill/>
          <a:ln w="9525">
            <a:noFill/>
          </a:ln>
        </p:spPr>
        <p:txBody>
          <a:bodyPr>
            <a:spAutoFit/>
          </a:bodyPr>
          <a:p>
            <a:pPr eaLnBrk="1" hangingPunct="1">
              <a:lnSpc>
                <a:spcPct val="90000"/>
              </a:lnSpc>
            </a:pPr>
            <a:r>
              <a:rPr lang="zh-CN" altLang="en-US" sz="2400" b="1" dirty="0">
                <a:solidFill>
                  <a:srgbClr val="3366CC"/>
                </a:solidFill>
                <a:latin typeface="Times New Roman" panose="02020603050405020304" pitchFamily="18" charset="0"/>
              </a:rPr>
              <a:t>失调电压小且不随温度的变化而变化。 </a:t>
            </a:r>
            <a:endParaRPr lang="zh-CN" altLang="en-US" sz="2400" b="1" dirty="0">
              <a:solidFill>
                <a:srgbClr val="3366CC"/>
              </a:solidFill>
              <a:latin typeface="Times New Roman" panose="02020603050405020304" pitchFamily="18" charset="0"/>
            </a:endParaRPr>
          </a:p>
        </p:txBody>
      </p:sp>
      <p:sp>
        <p:nvSpPr>
          <p:cNvPr id="2392072" name="Rectangle 8"/>
          <p:cNvSpPr/>
          <p:nvPr/>
        </p:nvSpPr>
        <p:spPr>
          <a:xfrm>
            <a:off x="4067175" y="3976688"/>
            <a:ext cx="2736850" cy="749300"/>
          </a:xfrm>
          <a:prstGeom prst="rect">
            <a:avLst/>
          </a:prstGeom>
          <a:noFill/>
          <a:ln w="9525">
            <a:noFill/>
          </a:ln>
        </p:spPr>
        <p:txBody>
          <a:bodyPr>
            <a:spAutoFit/>
          </a:bodyPr>
          <a:p>
            <a:pPr eaLnBrk="1" hangingPunct="1">
              <a:lnSpc>
                <a:spcPct val="90000"/>
              </a:lnSpc>
            </a:pPr>
            <a:r>
              <a:rPr lang="zh-CN" altLang="en-US" sz="2400" b="1" dirty="0">
                <a:solidFill>
                  <a:srgbClr val="000099"/>
                </a:solidFill>
                <a:latin typeface="Times New Roman" panose="02020603050405020304" pitchFamily="18" charset="0"/>
              </a:rPr>
              <a:t>具有高的转换速率和宽的频率响应。 </a:t>
            </a:r>
            <a:endParaRPr lang="zh-CN" altLang="en-US" sz="2400" b="1" dirty="0">
              <a:solidFill>
                <a:srgbClr val="000099"/>
              </a:solidFill>
              <a:latin typeface="Times New Roman" panose="02020603050405020304" pitchFamily="18" charset="0"/>
            </a:endParaRPr>
          </a:p>
        </p:txBody>
      </p:sp>
      <p:sp>
        <p:nvSpPr>
          <p:cNvPr id="2392074" name="Text Box 10"/>
          <p:cNvSpPr txBox="1"/>
          <p:nvPr/>
        </p:nvSpPr>
        <p:spPr>
          <a:xfrm>
            <a:off x="7713663" y="3111500"/>
            <a:ext cx="1214437" cy="758825"/>
          </a:xfrm>
          <a:prstGeom prst="rect">
            <a:avLst/>
          </a:prstGeom>
          <a:solidFill>
            <a:srgbClr val="FFCC99"/>
          </a:solidFill>
          <a:ln w="9525" cap="flat" cmpd="sng">
            <a:solidFill>
              <a:schemeClr val="tx1"/>
            </a:solidFill>
            <a:prstDash val="solid"/>
            <a:miter/>
            <a:headEnd type="none" w="med" len="med"/>
            <a:tailEnd type="none" w="med" len="med"/>
          </a:ln>
        </p:spPr>
        <p:txBody>
          <a:bodyPr>
            <a:spAutoFit/>
          </a:bodyPr>
          <a:p>
            <a:pPr algn="ctr" eaLnBrk="1" hangingPunct="1">
              <a:lnSpc>
                <a:spcPct val="90000"/>
              </a:lnSpc>
              <a:spcBef>
                <a:spcPct val="50000"/>
              </a:spcBef>
            </a:pPr>
            <a:r>
              <a:rPr lang="zh-CN" altLang="en-US" sz="2400" b="1" dirty="0">
                <a:solidFill>
                  <a:schemeClr val="tx1"/>
                </a:solidFill>
                <a:latin typeface="Times New Roman" panose="02020603050405020304" pitchFamily="18" charset="0"/>
                <a:ea typeface="黑体" panose="02010609060101010101" pitchFamily="49" charset="-122"/>
              </a:rPr>
              <a:t>测量放大器</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392077" name="Rectangle 13"/>
          <p:cNvSpPr/>
          <p:nvPr/>
        </p:nvSpPr>
        <p:spPr>
          <a:xfrm>
            <a:off x="4284663" y="4833938"/>
            <a:ext cx="4498975" cy="420687"/>
          </a:xfrm>
          <a:prstGeom prst="rect">
            <a:avLst/>
          </a:prstGeom>
          <a:noFill/>
          <a:ln w="9525">
            <a:noFill/>
          </a:ln>
        </p:spPr>
        <p:txBody>
          <a:bodyPr>
            <a:spAutoFit/>
          </a:bodyPr>
          <a:p>
            <a:pPr eaLnBrk="1" hangingPunct="1">
              <a:lnSpc>
                <a:spcPct val="90000"/>
              </a:lnSpc>
            </a:pPr>
            <a:r>
              <a:rPr lang="zh-CN" altLang="en-US" sz="2400" b="1" dirty="0">
                <a:solidFill>
                  <a:srgbClr val="3366CC"/>
                </a:solidFill>
                <a:latin typeface="Times New Roman" panose="02020603050405020304" pitchFamily="18" charset="0"/>
              </a:rPr>
              <a:t>目前有的产品功耗已达</a:t>
            </a:r>
            <a:r>
              <a:rPr lang="en-US" altLang="zh-CN" sz="2400" b="1" dirty="0">
                <a:solidFill>
                  <a:srgbClr val="3366CC"/>
                </a:solidFill>
                <a:latin typeface="Times New Roman" panose="02020603050405020304" pitchFamily="18" charset="0"/>
              </a:rPr>
              <a:t>uW</a:t>
            </a:r>
            <a:r>
              <a:rPr lang="zh-CN" altLang="en-US" sz="2400" b="1" dirty="0">
                <a:solidFill>
                  <a:srgbClr val="3366CC"/>
                </a:solidFill>
                <a:latin typeface="Times New Roman" panose="02020603050405020304" pitchFamily="18" charset="0"/>
              </a:rPr>
              <a:t>级。 </a:t>
            </a:r>
            <a:endParaRPr lang="zh-CN" altLang="en-US" sz="2400" b="1" dirty="0">
              <a:solidFill>
                <a:srgbClr val="3366CC"/>
              </a:solidFill>
              <a:latin typeface="Times New Roman" panose="02020603050405020304" pitchFamily="18" charset="0"/>
            </a:endParaRPr>
          </a:p>
        </p:txBody>
      </p:sp>
      <p:sp>
        <p:nvSpPr>
          <p:cNvPr id="2392078" name="Rectangle 14"/>
          <p:cNvSpPr/>
          <p:nvPr/>
        </p:nvSpPr>
        <p:spPr>
          <a:xfrm>
            <a:off x="5084763" y="5343525"/>
            <a:ext cx="3519487" cy="749300"/>
          </a:xfrm>
          <a:prstGeom prst="rect">
            <a:avLst/>
          </a:prstGeom>
          <a:noFill/>
          <a:ln w="9525">
            <a:noFill/>
          </a:ln>
        </p:spPr>
        <p:txBody>
          <a:bodyPr>
            <a:spAutoFit/>
          </a:bodyPr>
          <a:p>
            <a:pPr eaLnBrk="1" hangingPunct="1">
              <a:lnSpc>
                <a:spcPct val="90000"/>
              </a:lnSpc>
            </a:pPr>
            <a:r>
              <a:rPr lang="zh-CN" altLang="en-US" sz="2400" b="1" dirty="0">
                <a:solidFill>
                  <a:srgbClr val="000099"/>
                </a:solidFill>
                <a:latin typeface="Times New Roman" panose="02020603050405020304" pitchFamily="18" charset="0"/>
              </a:rPr>
              <a:t>不需附加任何电路，即可输出高电压和大电流 </a:t>
            </a:r>
            <a:endParaRPr lang="zh-CN" altLang="en-US" sz="2400" b="1" dirty="0">
              <a:solidFill>
                <a:srgbClr val="000099"/>
              </a:solidFill>
              <a:latin typeface="Times New Roman" panose="02020603050405020304" pitchFamily="18" charset="0"/>
            </a:endParaRPr>
          </a:p>
        </p:txBody>
      </p:sp>
      <p:sp>
        <p:nvSpPr>
          <p:cNvPr id="2392079" name="AutoShape 15"/>
          <p:cNvSpPr/>
          <p:nvPr/>
        </p:nvSpPr>
        <p:spPr>
          <a:xfrm>
            <a:off x="7056438" y="3392488"/>
            <a:ext cx="657225" cy="207962"/>
          </a:xfrm>
          <a:prstGeom prst="leftArrow">
            <a:avLst>
              <a:gd name="adj1" fmla="val 50000"/>
              <a:gd name="adj2" fmla="val 79007"/>
            </a:avLst>
          </a:prstGeom>
          <a:solidFill>
            <a:schemeClr val="accent1"/>
          </a:solidFill>
          <a:ln w="9525" cap="flat" cmpd="sng">
            <a:solidFill>
              <a:schemeClr val="tx1"/>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92081" name="AutoShape 17"/>
          <p:cNvSpPr/>
          <p:nvPr/>
        </p:nvSpPr>
        <p:spPr>
          <a:xfrm>
            <a:off x="7196138" y="2565400"/>
            <a:ext cx="1192212" cy="207963"/>
          </a:xfrm>
          <a:prstGeom prst="leftArrow">
            <a:avLst>
              <a:gd name="adj1" fmla="val 50000"/>
              <a:gd name="adj2" fmla="val 143320"/>
            </a:avLst>
          </a:prstGeom>
          <a:solidFill>
            <a:schemeClr val="accent1"/>
          </a:solidFill>
          <a:ln w="9525" cap="flat" cmpd="sng">
            <a:solidFill>
              <a:schemeClr val="tx1"/>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2" name="Group 21"/>
          <p:cNvGrpSpPr/>
          <p:nvPr/>
        </p:nvGrpSpPr>
        <p:grpSpPr>
          <a:xfrm>
            <a:off x="8280400" y="2681288"/>
            <a:ext cx="107950" cy="439737"/>
            <a:chOff x="5216" y="1689"/>
            <a:chExt cx="68" cy="277"/>
          </a:xfrm>
        </p:grpSpPr>
        <p:sp>
          <p:nvSpPr>
            <p:cNvPr id="8207" name="Rectangle 19"/>
            <p:cNvSpPr/>
            <p:nvPr/>
          </p:nvSpPr>
          <p:spPr>
            <a:xfrm>
              <a:off x="5216" y="1712"/>
              <a:ext cx="68" cy="254"/>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8208" name="Rectangle 20"/>
            <p:cNvSpPr/>
            <p:nvPr/>
          </p:nvSpPr>
          <p:spPr>
            <a:xfrm>
              <a:off x="5219" y="1689"/>
              <a:ext cx="63" cy="46"/>
            </a:xfrm>
            <a:prstGeom prst="rect">
              <a:avLst/>
            </a:prstGeom>
            <a:solidFill>
              <a:schemeClr val="accent1"/>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92067"/>
                                        </p:tgtEl>
                                        <p:attrNameLst>
                                          <p:attrName>style.visibility</p:attrName>
                                        </p:attrNameLst>
                                      </p:cBhvr>
                                      <p:to>
                                        <p:strVal val="visible"/>
                                      </p:to>
                                    </p:set>
                                    <p:animEffect transition="in" filter="dissolve">
                                      <p:cBhvr>
                                        <p:cTn id="7" dur="500"/>
                                        <p:tgtEl>
                                          <p:spTgt spid="23920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2068">
                                            <p:txEl>
                                              <p:charRg st="0" end="11"/>
                                            </p:txEl>
                                          </p:spTgt>
                                        </p:tgtEl>
                                        <p:attrNameLst>
                                          <p:attrName>style.visibility</p:attrName>
                                        </p:attrNameLst>
                                      </p:cBhvr>
                                      <p:to>
                                        <p:strVal val="visible"/>
                                      </p:to>
                                    </p:set>
                                    <p:animEffect transition="in" filter="dissolve">
                                      <p:cBhvr>
                                        <p:cTn id="12" dur="500"/>
                                        <p:tgtEl>
                                          <p:spTgt spid="2392068">
                                            <p:txEl>
                                              <p:charRg st="0" end="1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392069"/>
                                        </p:tgtEl>
                                        <p:attrNameLst>
                                          <p:attrName>style.visibility</p:attrName>
                                        </p:attrNameLst>
                                      </p:cBhvr>
                                      <p:to>
                                        <p:strVal val="visible"/>
                                      </p:to>
                                    </p:set>
                                    <p:animEffect transition="in" filter="dissolve">
                                      <p:cBhvr>
                                        <p:cTn id="15" dur="500"/>
                                        <p:tgtEl>
                                          <p:spTgt spid="239206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92068">
                                            <p:txEl>
                                              <p:charRg st="12" end="23"/>
                                            </p:txEl>
                                          </p:spTgt>
                                        </p:tgtEl>
                                        <p:attrNameLst>
                                          <p:attrName>style.visibility</p:attrName>
                                        </p:attrNameLst>
                                      </p:cBhvr>
                                      <p:to>
                                        <p:strVal val="visible"/>
                                      </p:to>
                                    </p:set>
                                    <p:animEffect transition="in" filter="dissolve">
                                      <p:cBhvr>
                                        <p:cTn id="20" dur="500"/>
                                        <p:tgtEl>
                                          <p:spTgt spid="2392068">
                                            <p:txEl>
                                              <p:charRg st="12" end="2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392070"/>
                                        </p:tgtEl>
                                        <p:attrNameLst>
                                          <p:attrName>style.visibility</p:attrName>
                                        </p:attrNameLst>
                                      </p:cBhvr>
                                      <p:to>
                                        <p:strVal val="visible"/>
                                      </p:to>
                                    </p:set>
                                    <p:animEffect transition="in" filter="dissolve">
                                      <p:cBhvr>
                                        <p:cTn id="23" dur="500"/>
                                        <p:tgtEl>
                                          <p:spTgt spid="2392070"/>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92068">
                                            <p:txEl>
                                              <p:charRg st="24" end="36"/>
                                            </p:txEl>
                                          </p:spTgt>
                                        </p:tgtEl>
                                        <p:attrNameLst>
                                          <p:attrName>style.visibility</p:attrName>
                                        </p:attrNameLst>
                                      </p:cBhvr>
                                      <p:to>
                                        <p:strVal val="visible"/>
                                      </p:to>
                                    </p:set>
                                    <p:animEffect transition="in" filter="dissolve">
                                      <p:cBhvr>
                                        <p:cTn id="28" dur="500"/>
                                        <p:tgtEl>
                                          <p:spTgt spid="2392068">
                                            <p:txEl>
                                              <p:charRg st="24" end="36"/>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392071"/>
                                        </p:tgtEl>
                                        <p:attrNameLst>
                                          <p:attrName>style.visibility</p:attrName>
                                        </p:attrNameLst>
                                      </p:cBhvr>
                                      <p:to>
                                        <p:strVal val="visible"/>
                                      </p:to>
                                    </p:set>
                                    <p:animEffect transition="in" filter="dissolve">
                                      <p:cBhvr>
                                        <p:cTn id="31" dur="500"/>
                                        <p:tgtEl>
                                          <p:spTgt spid="239207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392068">
                                            <p:txEl>
                                              <p:charRg st="37" end="48"/>
                                            </p:txEl>
                                          </p:spTgt>
                                        </p:tgtEl>
                                        <p:attrNameLst>
                                          <p:attrName>style.visibility</p:attrName>
                                        </p:attrNameLst>
                                      </p:cBhvr>
                                      <p:to>
                                        <p:strVal val="visible"/>
                                      </p:to>
                                    </p:set>
                                    <p:animEffect transition="in" filter="dissolve">
                                      <p:cBhvr>
                                        <p:cTn id="36" dur="500"/>
                                        <p:tgtEl>
                                          <p:spTgt spid="2392068">
                                            <p:txEl>
                                              <p:charRg st="37" end="48"/>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2392072"/>
                                        </p:tgtEl>
                                        <p:attrNameLst>
                                          <p:attrName>style.visibility</p:attrName>
                                        </p:attrNameLst>
                                      </p:cBhvr>
                                      <p:to>
                                        <p:strVal val="visible"/>
                                      </p:to>
                                    </p:set>
                                    <p:animEffect transition="in" filter="dissolve">
                                      <p:cBhvr>
                                        <p:cTn id="39" dur="500"/>
                                        <p:tgtEl>
                                          <p:spTgt spid="2392072"/>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nodeType="clickEffect">
                                  <p:stCondLst>
                                    <p:cond delay="0"/>
                                  </p:stCondLst>
                                  <p:childTnLst>
                                    <p:set>
                                      <p:cBhvr>
                                        <p:cTn id="43" dur="1" fill="hold">
                                          <p:stCondLst>
                                            <p:cond delay="0"/>
                                          </p:stCondLst>
                                        </p:cTn>
                                        <p:tgtEl>
                                          <p:spTgt spid="2392068">
                                            <p:txEl>
                                              <p:charRg st="49" end="61"/>
                                            </p:txEl>
                                          </p:spTgt>
                                        </p:tgtEl>
                                        <p:attrNameLst>
                                          <p:attrName>style.visibility</p:attrName>
                                        </p:attrNameLst>
                                      </p:cBhvr>
                                      <p:to>
                                        <p:strVal val="visible"/>
                                      </p:to>
                                    </p:set>
                                    <p:animEffect transition="in" filter="dissolve">
                                      <p:cBhvr>
                                        <p:cTn id="44" dur="500"/>
                                        <p:tgtEl>
                                          <p:spTgt spid="2392068">
                                            <p:txEl>
                                              <p:charRg st="49" end="61"/>
                                            </p:txEl>
                                          </p:spTgt>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392077"/>
                                        </p:tgtEl>
                                        <p:attrNameLst>
                                          <p:attrName>style.visibility</p:attrName>
                                        </p:attrNameLst>
                                      </p:cBhvr>
                                      <p:to>
                                        <p:strVal val="visible"/>
                                      </p:to>
                                    </p:set>
                                    <p:animEffect transition="in" filter="dissolve">
                                      <p:cBhvr>
                                        <p:cTn id="47" dur="500"/>
                                        <p:tgtEl>
                                          <p:spTgt spid="2392077"/>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392068">
                                            <p:txEl>
                                              <p:charRg st="62" end="76"/>
                                            </p:txEl>
                                          </p:spTgt>
                                        </p:tgtEl>
                                        <p:attrNameLst>
                                          <p:attrName>style.visibility</p:attrName>
                                        </p:attrNameLst>
                                      </p:cBhvr>
                                      <p:to>
                                        <p:strVal val="visible"/>
                                      </p:to>
                                    </p:set>
                                    <p:animEffect transition="in" filter="dissolve">
                                      <p:cBhvr>
                                        <p:cTn id="52" dur="500"/>
                                        <p:tgtEl>
                                          <p:spTgt spid="2392068">
                                            <p:txEl>
                                              <p:charRg st="62" end="76"/>
                                            </p:txEl>
                                          </p:spTgt>
                                        </p:tgtEl>
                                      </p:cBhvr>
                                    </p:animEffect>
                                  </p:childTnLst>
                                </p:cTn>
                              </p:par>
                              <p:par>
                                <p:cTn id="53" presetID="9" presetClass="entr" presetSubtype="0" fill="hold" nodeType="withEffect">
                                  <p:stCondLst>
                                    <p:cond delay="0"/>
                                  </p:stCondLst>
                                  <p:childTnLst>
                                    <p:set>
                                      <p:cBhvr>
                                        <p:cTn id="54" dur="1" fill="hold">
                                          <p:stCondLst>
                                            <p:cond delay="0"/>
                                          </p:stCondLst>
                                        </p:cTn>
                                        <p:tgtEl>
                                          <p:spTgt spid="2392078">
                                            <p:txEl>
                                              <p:charRg st="0" end="22"/>
                                            </p:txEl>
                                          </p:spTgt>
                                        </p:tgtEl>
                                        <p:attrNameLst>
                                          <p:attrName>style.visibility</p:attrName>
                                        </p:attrNameLst>
                                      </p:cBhvr>
                                      <p:to>
                                        <p:strVal val="visible"/>
                                      </p:to>
                                    </p:set>
                                    <p:animEffect transition="in" filter="dissolve">
                                      <p:cBhvr>
                                        <p:cTn id="55" dur="500"/>
                                        <p:tgtEl>
                                          <p:spTgt spid="2392078">
                                            <p:txEl>
                                              <p:charRg st="0" end="22"/>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grpId="0" nodeType="clickEffect">
                                  <p:stCondLst>
                                    <p:cond delay="0"/>
                                  </p:stCondLst>
                                  <p:childTnLst>
                                    <p:set>
                                      <p:cBhvr>
                                        <p:cTn id="59" dur="1" fill="hold">
                                          <p:stCondLst>
                                            <p:cond delay="0"/>
                                          </p:stCondLst>
                                        </p:cTn>
                                        <p:tgtEl>
                                          <p:spTgt spid="2392074"/>
                                        </p:tgtEl>
                                        <p:attrNameLst>
                                          <p:attrName>style.visibility</p:attrName>
                                        </p:attrNameLst>
                                      </p:cBhvr>
                                      <p:to>
                                        <p:strVal val="visible"/>
                                      </p:to>
                                    </p:set>
                                    <p:animEffect transition="in" filter="dissolve">
                                      <p:cBhvr>
                                        <p:cTn id="60" dur="500"/>
                                        <p:tgtEl>
                                          <p:spTgt spid="2392074"/>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2" fill="hold" grpId="0" nodeType="clickEffect">
                                  <p:stCondLst>
                                    <p:cond delay="0"/>
                                  </p:stCondLst>
                                  <p:childTnLst>
                                    <p:set>
                                      <p:cBhvr>
                                        <p:cTn id="64" dur="1" fill="hold">
                                          <p:stCondLst>
                                            <p:cond delay="0"/>
                                          </p:stCondLst>
                                        </p:cTn>
                                        <p:tgtEl>
                                          <p:spTgt spid="2392079"/>
                                        </p:tgtEl>
                                        <p:attrNameLst>
                                          <p:attrName>style.visibility</p:attrName>
                                        </p:attrNameLst>
                                      </p:cBhvr>
                                      <p:to>
                                        <p:strVal val="visible"/>
                                      </p:to>
                                    </p:set>
                                    <p:animEffect transition="in" filter="wipe(right)">
                                      <p:cBhvr>
                                        <p:cTn id="65" dur="500"/>
                                        <p:tgtEl>
                                          <p:spTgt spid="2392079"/>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4" fill="hold" nodeType="clickEffect">
                                  <p:stCondLst>
                                    <p:cond delay="0"/>
                                  </p:stCondLst>
                                  <p:childTnLst>
                                    <p:set>
                                      <p:cBhvr>
                                        <p:cTn id="69" dur="1" fill="hold">
                                          <p:stCondLst>
                                            <p:cond delay="0"/>
                                          </p:stCondLst>
                                        </p:cTn>
                                        <p:tgtEl>
                                          <p:spTgt spid="2"/>
                                        </p:tgtEl>
                                        <p:attrNameLst>
                                          <p:attrName>style.visibility</p:attrName>
                                        </p:attrNameLst>
                                      </p:cBhvr>
                                      <p:to>
                                        <p:strVal val="visible"/>
                                      </p:to>
                                    </p:set>
                                    <p:animEffect transition="in" filter="wipe(down)">
                                      <p:cBhvr>
                                        <p:cTn id="70" dur="500"/>
                                        <p:tgtEl>
                                          <p:spTgt spid="2"/>
                                        </p:tgtEl>
                                      </p:cBhvr>
                                    </p:animEffect>
                                  </p:childTnLst>
                                </p:cTn>
                              </p:par>
                            </p:childTnLst>
                          </p:cTn>
                        </p:par>
                        <p:par>
                          <p:cTn id="71" fill="hold">
                            <p:stCondLst>
                              <p:cond delay="500"/>
                            </p:stCondLst>
                            <p:childTnLst>
                              <p:par>
                                <p:cTn id="72" presetID="22" presetClass="entr" presetSubtype="2" fill="hold" grpId="0" nodeType="afterEffect">
                                  <p:stCondLst>
                                    <p:cond delay="0"/>
                                  </p:stCondLst>
                                  <p:childTnLst>
                                    <p:set>
                                      <p:cBhvr>
                                        <p:cTn id="73" dur="1" fill="hold">
                                          <p:stCondLst>
                                            <p:cond delay="0"/>
                                          </p:stCondLst>
                                        </p:cTn>
                                        <p:tgtEl>
                                          <p:spTgt spid="2392081"/>
                                        </p:tgtEl>
                                        <p:attrNameLst>
                                          <p:attrName>style.visibility</p:attrName>
                                        </p:attrNameLst>
                                      </p:cBhvr>
                                      <p:to>
                                        <p:strVal val="visible"/>
                                      </p:to>
                                    </p:set>
                                    <p:animEffect transition="in" filter="wipe(right)">
                                      <p:cBhvr>
                                        <p:cTn id="74" dur="500"/>
                                        <p:tgtEl>
                                          <p:spTgt spid="23920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2067" grpId="0" bldLvl="0" animBg="1"/>
      <p:bldP spid="2392069" grpId="0"/>
      <p:bldP spid="2392070" grpId="0"/>
      <p:bldP spid="2392071" grpId="0"/>
      <p:bldP spid="2392072" grpId="0"/>
      <p:bldP spid="2392074" grpId="0" bldLvl="0" animBg="1"/>
      <p:bldP spid="2392077" grpId="0"/>
      <p:bldP spid="2392079" grpId="0" bldLvl="0" animBg="1"/>
      <p:bldP spid="2392081" grpId="0" bldLvl="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7970" name="Text Box 2"/>
          <p:cNvSpPr txBox="1">
            <a:spLocks noChangeArrowheads="1"/>
          </p:cNvSpPr>
          <p:nvPr/>
        </p:nvSpPr>
        <p:spPr bwMode="auto">
          <a:xfrm>
            <a:off x="2689225" y="87313"/>
            <a:ext cx="3683000"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4.1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概述</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7971" name="Text Box 3"/>
          <p:cNvSpPr txBox="1"/>
          <p:nvPr/>
        </p:nvSpPr>
        <p:spPr>
          <a:xfrm>
            <a:off x="431800" y="971550"/>
            <a:ext cx="2627313"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测量放大器</a:t>
            </a:r>
            <a:endParaRPr lang="zh-CN" altLang="en-US" sz="3600" b="1" dirty="0">
              <a:solidFill>
                <a:srgbClr val="333399"/>
              </a:solidFill>
              <a:latin typeface="Times New Roman" panose="02020603050405020304" pitchFamily="18" charset="0"/>
            </a:endParaRPr>
          </a:p>
        </p:txBody>
      </p:sp>
      <p:sp>
        <p:nvSpPr>
          <p:cNvPr id="2387974" name="Text Box 6"/>
          <p:cNvSpPr txBox="1"/>
          <p:nvPr/>
        </p:nvSpPr>
        <p:spPr>
          <a:xfrm>
            <a:off x="1079500" y="1860550"/>
            <a:ext cx="7092950" cy="2544763"/>
          </a:xfrm>
          <a:prstGeom prst="rect">
            <a:avLst/>
          </a:prstGeom>
          <a:solidFill>
            <a:srgbClr val="CCFFFF"/>
          </a:solidFill>
          <a:ln w="9525">
            <a:noFill/>
          </a:ln>
        </p:spPr>
        <p:txBody>
          <a:bodyPr>
            <a:spAutoFit/>
          </a:bodyPr>
          <a:p>
            <a:pPr eaLnBrk="1" hangingPunct="1">
              <a:lnSpc>
                <a:spcPct val="115000"/>
              </a:lnSpc>
              <a:spcBef>
                <a:spcPct val="50000"/>
              </a:spcBef>
            </a:pPr>
            <a:r>
              <a:rPr lang="zh-CN" altLang="en-US" sz="2800" b="1" dirty="0">
                <a:solidFill>
                  <a:srgbClr val="FF0000"/>
                </a:solidFill>
                <a:latin typeface="Times New Roman" panose="02020603050405020304" pitchFamily="18" charset="0"/>
                <a:ea typeface="黑体" panose="02010609060101010101" pitchFamily="49" charset="-122"/>
              </a:rPr>
              <a:t>测量放大器</a:t>
            </a:r>
            <a:r>
              <a:rPr lang="zh-CN" altLang="en-US" sz="2800" b="1" dirty="0">
                <a:solidFill>
                  <a:schemeClr val="tx1"/>
                </a:solidFill>
                <a:latin typeface="Times New Roman" panose="02020603050405020304" pitchFamily="18" charset="0"/>
                <a:ea typeface="黑体" panose="02010609060101010101" pitchFamily="49" charset="-122"/>
              </a:rPr>
              <a:t>是一种带有精密差动电压增益的器件，具有高输入阻抗、低输出阻抗、强抗共模干扰能力、低温漂、低失调电压和高稳定增益等特点，在检测微弱信号的系统中，被广泛用作前置放大器。</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87975" name="Text Box 7"/>
          <p:cNvSpPr txBox="1"/>
          <p:nvPr/>
        </p:nvSpPr>
        <p:spPr>
          <a:xfrm>
            <a:off x="1474788" y="4652963"/>
            <a:ext cx="6300787" cy="1244600"/>
          </a:xfrm>
          <a:prstGeom prst="rect">
            <a:avLst/>
          </a:prstGeom>
          <a:noFill/>
          <a:ln w="9525">
            <a:noFill/>
          </a:ln>
        </p:spPr>
        <p:txBody>
          <a:bodyPr>
            <a:spAutoFit/>
          </a:bodyPr>
          <a:p>
            <a:pPr eaLnBrk="1" hangingPunct="1">
              <a:lnSpc>
                <a:spcPct val="90000"/>
              </a:lnSpc>
              <a:spcBef>
                <a:spcPct val="50000"/>
              </a:spcBef>
            </a:pPr>
            <a:r>
              <a:rPr lang="zh-CN" altLang="en-US" sz="2800" b="1" dirty="0">
                <a:solidFill>
                  <a:srgbClr val="FF0000"/>
                </a:solidFill>
                <a:latin typeface="Times New Roman" panose="02020603050405020304" pitchFamily="18" charset="0"/>
              </a:rPr>
              <a:t>通用运算放大器，一般具有毫伏级的失调电压和每度数微伏的温漂，不能用来放大微弱信号。</a:t>
            </a:r>
            <a:endParaRPr lang="zh-CN" altLang="en-US" sz="2800" b="1"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7971"/>
                                        </p:tgtEl>
                                        <p:attrNameLst>
                                          <p:attrName>style.visibility</p:attrName>
                                        </p:attrNameLst>
                                      </p:cBhvr>
                                      <p:to>
                                        <p:strVal val="visible"/>
                                      </p:to>
                                    </p:set>
                                    <p:animEffect transition="in" filter="dissolve">
                                      <p:cBhvr>
                                        <p:cTn id="7" dur="500"/>
                                        <p:tgtEl>
                                          <p:spTgt spid="238797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87974"/>
                                        </p:tgtEl>
                                        <p:attrNameLst>
                                          <p:attrName>style.visibility</p:attrName>
                                        </p:attrNameLst>
                                      </p:cBhvr>
                                      <p:to>
                                        <p:strVal val="visible"/>
                                      </p:to>
                                    </p:set>
                                    <p:animEffect transition="in" filter="dissolve">
                                      <p:cBhvr>
                                        <p:cTn id="12" dur="500"/>
                                        <p:tgtEl>
                                          <p:spTgt spid="238797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87975"/>
                                        </p:tgtEl>
                                        <p:attrNameLst>
                                          <p:attrName>style.visibility</p:attrName>
                                        </p:attrNameLst>
                                      </p:cBhvr>
                                      <p:to>
                                        <p:strVal val="visible"/>
                                      </p:to>
                                    </p:set>
                                    <p:animEffect transition="in" filter="dissolve">
                                      <p:cBhvr>
                                        <p:cTn id="17" dur="500"/>
                                        <p:tgtEl>
                                          <p:spTgt spid="23879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7971" grpId="0" bldLvl="0" animBg="1"/>
      <p:bldP spid="2387974" grpId="0" bldLvl="0" animBg="1"/>
      <p:bldP spid="2387975"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5661" name="Text Box 1053"/>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8818" name="Text Box 2162"/>
          <p:cNvSpPr txBox="1"/>
          <p:nvPr/>
        </p:nvSpPr>
        <p:spPr>
          <a:xfrm>
            <a:off x="215900" y="836613"/>
            <a:ext cx="3563938" cy="585787"/>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测量放大器构成</a:t>
            </a:r>
            <a:endParaRPr lang="zh-CN" altLang="en-US" sz="3600" b="1" dirty="0">
              <a:solidFill>
                <a:srgbClr val="333399"/>
              </a:solidFill>
              <a:latin typeface="Times New Roman" panose="02020603050405020304" pitchFamily="18" charset="0"/>
            </a:endParaRPr>
          </a:p>
        </p:txBody>
      </p:sp>
      <p:sp>
        <p:nvSpPr>
          <p:cNvPr id="2248819" name="Text Box 2163"/>
          <p:cNvSpPr txBox="1"/>
          <p:nvPr/>
        </p:nvSpPr>
        <p:spPr>
          <a:xfrm>
            <a:off x="323850" y="1809750"/>
            <a:ext cx="2970213" cy="860425"/>
          </a:xfrm>
          <a:prstGeom prst="rect">
            <a:avLst/>
          </a:prstGeom>
          <a:noFill/>
          <a:ln w="9525">
            <a:noFill/>
          </a:ln>
        </p:spPr>
        <p:txBody>
          <a:bodyPr>
            <a:spAutoFit/>
          </a:bodyPr>
          <a:p>
            <a:pPr eaLnBrk="1" hangingPunct="1">
              <a:lnSpc>
                <a:spcPct val="90000"/>
              </a:lnSpc>
              <a:spcBef>
                <a:spcPct val="50000"/>
              </a:spcBef>
            </a:pPr>
            <a:r>
              <a:rPr lang="zh-CN" altLang="en-US" sz="2800" b="1" dirty="0">
                <a:solidFill>
                  <a:schemeClr val="tx1"/>
                </a:solidFill>
                <a:latin typeface="Times New Roman" panose="02020603050405020304" pitchFamily="18" charset="0"/>
                <a:ea typeface="黑体" panose="02010609060101010101" pitchFamily="49" charset="-122"/>
              </a:rPr>
              <a:t>由两级放大器构成：</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248820" name="Rectangle 2164"/>
          <p:cNvSpPr/>
          <p:nvPr/>
        </p:nvSpPr>
        <p:spPr>
          <a:xfrm>
            <a:off x="342900" y="2836863"/>
            <a:ext cx="2897188" cy="2952750"/>
          </a:xfrm>
          <a:prstGeom prst="rect">
            <a:avLst/>
          </a:prstGeom>
          <a:noFill/>
          <a:ln w="9525">
            <a:noFill/>
          </a:ln>
        </p:spPr>
        <p:txBody>
          <a:bodyPr>
            <a:spAutoFit/>
          </a:bodyPr>
          <a:p>
            <a:pPr marL="457200" indent="-457200" eaLnBrk="1" hangingPunct="1">
              <a:lnSpc>
                <a:spcPct val="90000"/>
              </a:lnSpc>
              <a:buClr>
                <a:srgbClr val="FF0000"/>
              </a:buClr>
              <a:buAutoNum type="arabicPeriod"/>
            </a:pPr>
            <a:r>
              <a:rPr lang="zh-CN" altLang="en-US" sz="2800" b="1" dirty="0">
                <a:solidFill>
                  <a:schemeClr val="accent2"/>
                </a:solidFill>
                <a:latin typeface="Times New Roman" panose="02020603050405020304" pitchFamily="18" charset="0"/>
              </a:rPr>
              <a:t>两个同相放大器</a:t>
            </a:r>
            <a:r>
              <a:rPr lang="en-US" altLang="zh-CN" sz="2800" b="1" dirty="0">
                <a:solidFill>
                  <a:schemeClr val="accent2"/>
                </a:solidFill>
                <a:latin typeface="Times New Roman" panose="02020603050405020304" pitchFamily="18" charset="0"/>
              </a:rPr>
              <a:t>A1</a:t>
            </a:r>
            <a:r>
              <a:rPr lang="zh-CN" altLang="en-US" sz="2800" b="1" dirty="0">
                <a:solidFill>
                  <a:schemeClr val="accent2"/>
                </a:solidFill>
                <a:latin typeface="Times New Roman" panose="02020603050405020304" pitchFamily="18" charset="0"/>
              </a:rPr>
              <a:t>、</a:t>
            </a:r>
            <a:r>
              <a:rPr lang="en-US" altLang="zh-CN" sz="2800" b="1" dirty="0">
                <a:solidFill>
                  <a:schemeClr val="accent2"/>
                </a:solidFill>
                <a:latin typeface="Times New Roman" panose="02020603050405020304" pitchFamily="18" charset="0"/>
              </a:rPr>
              <a:t>A2</a:t>
            </a:r>
            <a:r>
              <a:rPr lang="zh-CN" altLang="en-US" sz="2800" b="1" dirty="0">
                <a:solidFill>
                  <a:schemeClr val="accent2"/>
                </a:solidFill>
                <a:latin typeface="Times New Roman" panose="02020603050405020304" pitchFamily="18" charset="0"/>
              </a:rPr>
              <a:t>输入阻抗高。</a:t>
            </a:r>
            <a:endParaRPr lang="zh-CN" altLang="en-US" sz="2800" b="1" dirty="0">
              <a:solidFill>
                <a:schemeClr val="accent2"/>
              </a:solidFill>
              <a:latin typeface="Times New Roman" panose="02020603050405020304" pitchFamily="18" charset="0"/>
            </a:endParaRPr>
          </a:p>
          <a:p>
            <a:pPr marL="457200" indent="-457200" eaLnBrk="1" hangingPunct="1">
              <a:lnSpc>
                <a:spcPct val="90000"/>
              </a:lnSpc>
              <a:spcBef>
                <a:spcPct val="40000"/>
              </a:spcBef>
              <a:buClr>
                <a:srgbClr val="FF0000"/>
              </a:buClr>
              <a:buAutoNum type="arabicPeriod"/>
            </a:pPr>
            <a:r>
              <a:rPr lang="zh-CN" altLang="en-US" sz="2800" b="1" dirty="0">
                <a:solidFill>
                  <a:schemeClr val="accent2"/>
                </a:solidFill>
                <a:latin typeface="Times New Roman" panose="02020603050405020304" pitchFamily="18" charset="0"/>
              </a:rPr>
              <a:t>普通差动放大器</a:t>
            </a:r>
            <a:r>
              <a:rPr lang="en-US" altLang="zh-CN" sz="2800" b="1" dirty="0">
                <a:solidFill>
                  <a:schemeClr val="accent2"/>
                </a:solidFill>
                <a:latin typeface="Times New Roman" panose="02020603050405020304" pitchFamily="18" charset="0"/>
              </a:rPr>
              <a:t>A3</a:t>
            </a:r>
            <a:r>
              <a:rPr lang="zh-CN" altLang="en-US" sz="2800" b="1" dirty="0">
                <a:solidFill>
                  <a:schemeClr val="accent2"/>
                </a:solidFill>
                <a:latin typeface="Times New Roman" panose="02020603050405020304" pitchFamily="18" charset="0"/>
              </a:rPr>
              <a:t>，将双端输入变为对地的单端输出。</a:t>
            </a:r>
            <a:endParaRPr lang="zh-CN" altLang="en-US" sz="2800" b="1" dirty="0">
              <a:solidFill>
                <a:schemeClr val="accent2"/>
              </a:solidFill>
              <a:latin typeface="Times New Roman" panose="02020603050405020304" pitchFamily="18" charset="0"/>
            </a:endParaRPr>
          </a:p>
        </p:txBody>
      </p:sp>
      <p:grpSp>
        <p:nvGrpSpPr>
          <p:cNvPr id="2" name="Group 2240"/>
          <p:cNvGrpSpPr/>
          <p:nvPr/>
        </p:nvGrpSpPr>
        <p:grpSpPr>
          <a:xfrm>
            <a:off x="3478213" y="1808163"/>
            <a:ext cx="5486400" cy="3708400"/>
            <a:chOff x="2191" y="1139"/>
            <a:chExt cx="3456" cy="2336"/>
          </a:xfrm>
        </p:grpSpPr>
        <p:sp>
          <p:nvSpPr>
            <p:cNvPr id="12296" name="Rectangle 2159"/>
            <p:cNvSpPr/>
            <p:nvPr/>
          </p:nvSpPr>
          <p:spPr>
            <a:xfrm>
              <a:off x="2191" y="1139"/>
              <a:ext cx="3456"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297" name="Line 2122"/>
            <p:cNvSpPr/>
            <p:nvPr/>
          </p:nvSpPr>
          <p:spPr>
            <a:xfrm>
              <a:off x="4826" y="1970"/>
              <a:ext cx="485" cy="0"/>
            </a:xfrm>
            <a:prstGeom prst="line">
              <a:avLst/>
            </a:prstGeom>
            <a:ln w="12700" cap="flat" cmpd="sng">
              <a:solidFill>
                <a:schemeClr val="accent2"/>
              </a:solidFill>
              <a:prstDash val="solid"/>
              <a:headEnd type="none" w="med" len="med"/>
              <a:tailEnd type="none" w="med" len="med"/>
            </a:ln>
          </p:spPr>
        </p:sp>
        <p:sp>
          <p:nvSpPr>
            <p:cNvPr id="12298" name="Oval 2075"/>
            <p:cNvSpPr/>
            <p:nvPr/>
          </p:nvSpPr>
          <p:spPr>
            <a:xfrm>
              <a:off x="2466" y="132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299" name="Text Box 2076"/>
            <p:cNvSpPr txBox="1"/>
            <p:nvPr/>
          </p:nvSpPr>
          <p:spPr>
            <a:xfrm>
              <a:off x="2191" y="123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2300" name="Text Box 2077"/>
            <p:cNvSpPr txBox="1"/>
            <p:nvPr/>
          </p:nvSpPr>
          <p:spPr>
            <a:xfrm>
              <a:off x="2195" y="2774"/>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2301" name="Oval 2078"/>
            <p:cNvSpPr/>
            <p:nvPr/>
          </p:nvSpPr>
          <p:spPr>
            <a:xfrm>
              <a:off x="2469" y="2877"/>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02" name="AutoShape 2080"/>
            <p:cNvSpPr/>
            <p:nvPr/>
          </p:nvSpPr>
          <p:spPr>
            <a:xfrm rot="5400000">
              <a:off x="2893" y="1270"/>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03" name="Text Box 2081"/>
            <p:cNvSpPr txBox="1"/>
            <p:nvPr/>
          </p:nvSpPr>
          <p:spPr>
            <a:xfrm>
              <a:off x="2901" y="1262"/>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2304" name="Text Box 2082"/>
            <p:cNvSpPr txBox="1"/>
            <p:nvPr/>
          </p:nvSpPr>
          <p:spPr>
            <a:xfrm>
              <a:off x="2999" y="1416"/>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2305" name="AutoShape 2084"/>
            <p:cNvSpPr/>
            <p:nvPr/>
          </p:nvSpPr>
          <p:spPr>
            <a:xfrm rot="5400000">
              <a:off x="2889" y="249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06" name="Text Box 2085"/>
            <p:cNvSpPr txBox="1"/>
            <p:nvPr/>
          </p:nvSpPr>
          <p:spPr>
            <a:xfrm>
              <a:off x="2897" y="2485"/>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2307" name="Text Box 2086"/>
            <p:cNvSpPr txBox="1"/>
            <p:nvPr/>
          </p:nvSpPr>
          <p:spPr>
            <a:xfrm>
              <a:off x="2995" y="2639"/>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2308" name="Line 2087"/>
            <p:cNvSpPr/>
            <p:nvPr/>
          </p:nvSpPr>
          <p:spPr>
            <a:xfrm flipH="1">
              <a:off x="2626" y="1678"/>
              <a:ext cx="300" cy="0"/>
            </a:xfrm>
            <a:prstGeom prst="line">
              <a:avLst/>
            </a:prstGeom>
            <a:ln w="12700" cap="flat" cmpd="sng">
              <a:solidFill>
                <a:schemeClr val="accent2"/>
              </a:solidFill>
              <a:prstDash val="solid"/>
              <a:headEnd type="none" w="med" len="med"/>
              <a:tailEnd type="none" w="med" len="med"/>
            </a:ln>
          </p:spPr>
        </p:sp>
        <p:sp>
          <p:nvSpPr>
            <p:cNvPr id="12309" name="Line 2088"/>
            <p:cNvSpPr/>
            <p:nvPr/>
          </p:nvSpPr>
          <p:spPr>
            <a:xfrm>
              <a:off x="2626" y="1677"/>
              <a:ext cx="0" cy="226"/>
            </a:xfrm>
            <a:prstGeom prst="line">
              <a:avLst/>
            </a:prstGeom>
            <a:ln w="12700" cap="flat" cmpd="sng">
              <a:solidFill>
                <a:schemeClr val="accent2"/>
              </a:solidFill>
              <a:prstDash val="solid"/>
              <a:headEnd type="none" w="med" len="med"/>
              <a:tailEnd type="none" w="med" len="med"/>
            </a:ln>
          </p:spPr>
        </p:sp>
        <p:sp>
          <p:nvSpPr>
            <p:cNvPr id="12310" name="Rectangle 2090"/>
            <p:cNvSpPr/>
            <p:nvPr/>
          </p:nvSpPr>
          <p:spPr>
            <a:xfrm>
              <a:off x="2600" y="2011"/>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11" name="Text Box 2091"/>
            <p:cNvSpPr txBox="1"/>
            <p:nvPr/>
          </p:nvSpPr>
          <p:spPr>
            <a:xfrm>
              <a:off x="2652" y="2030"/>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2312" name="Line 2092"/>
            <p:cNvSpPr/>
            <p:nvPr/>
          </p:nvSpPr>
          <p:spPr>
            <a:xfrm>
              <a:off x="2626" y="2346"/>
              <a:ext cx="0" cy="233"/>
            </a:xfrm>
            <a:prstGeom prst="line">
              <a:avLst/>
            </a:prstGeom>
            <a:ln w="12700" cap="flat" cmpd="sng">
              <a:solidFill>
                <a:schemeClr val="accent2"/>
              </a:solidFill>
              <a:prstDash val="solid"/>
              <a:headEnd type="none" w="med" len="med"/>
              <a:tailEnd type="none" w="med" len="med"/>
            </a:ln>
          </p:spPr>
        </p:sp>
        <p:sp>
          <p:nvSpPr>
            <p:cNvPr id="12313" name="Line 2093"/>
            <p:cNvSpPr/>
            <p:nvPr/>
          </p:nvSpPr>
          <p:spPr>
            <a:xfrm>
              <a:off x="2626" y="2571"/>
              <a:ext cx="292" cy="0"/>
            </a:xfrm>
            <a:prstGeom prst="line">
              <a:avLst/>
            </a:prstGeom>
            <a:ln w="12700" cap="flat" cmpd="sng">
              <a:solidFill>
                <a:schemeClr val="accent2"/>
              </a:solidFill>
              <a:prstDash val="solid"/>
              <a:headEnd type="none" w="med" len="med"/>
              <a:tailEnd type="none" w="med" len="med"/>
            </a:ln>
          </p:spPr>
        </p:sp>
        <p:sp>
          <p:nvSpPr>
            <p:cNvPr id="12314" name="Line 2094"/>
            <p:cNvSpPr/>
            <p:nvPr/>
          </p:nvSpPr>
          <p:spPr>
            <a:xfrm>
              <a:off x="2626" y="1903"/>
              <a:ext cx="501" cy="0"/>
            </a:xfrm>
            <a:prstGeom prst="line">
              <a:avLst/>
            </a:prstGeom>
            <a:ln w="12700" cap="flat" cmpd="sng">
              <a:solidFill>
                <a:schemeClr val="accent2"/>
              </a:solidFill>
              <a:prstDash val="solid"/>
              <a:headEnd type="none" w="med" len="med"/>
              <a:tailEnd type="none" w="med" len="med"/>
            </a:ln>
          </p:spPr>
        </p:sp>
        <p:sp>
          <p:nvSpPr>
            <p:cNvPr id="12315" name="Rectangle 2096"/>
            <p:cNvSpPr/>
            <p:nvPr/>
          </p:nvSpPr>
          <p:spPr>
            <a:xfrm>
              <a:off x="3127" y="18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16" name="Text Box 2097"/>
            <p:cNvSpPr txBox="1"/>
            <p:nvPr/>
          </p:nvSpPr>
          <p:spPr>
            <a:xfrm>
              <a:off x="3102" y="16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2317" name="Line 2098"/>
            <p:cNvSpPr/>
            <p:nvPr/>
          </p:nvSpPr>
          <p:spPr>
            <a:xfrm>
              <a:off x="3311" y="1903"/>
              <a:ext cx="266" cy="0"/>
            </a:xfrm>
            <a:prstGeom prst="line">
              <a:avLst/>
            </a:prstGeom>
            <a:ln w="12700" cap="flat" cmpd="sng">
              <a:solidFill>
                <a:schemeClr val="accent2"/>
              </a:solidFill>
              <a:prstDash val="solid"/>
              <a:headEnd type="none" w="med" len="med"/>
              <a:tailEnd type="none" w="med" len="med"/>
            </a:ln>
          </p:spPr>
        </p:sp>
        <p:sp>
          <p:nvSpPr>
            <p:cNvPr id="12318" name="Line 2099"/>
            <p:cNvSpPr/>
            <p:nvPr/>
          </p:nvSpPr>
          <p:spPr>
            <a:xfrm flipV="1">
              <a:off x="3577" y="1519"/>
              <a:ext cx="0" cy="384"/>
            </a:xfrm>
            <a:prstGeom prst="line">
              <a:avLst/>
            </a:prstGeom>
            <a:ln w="12700" cap="flat" cmpd="sng">
              <a:solidFill>
                <a:schemeClr val="accent2"/>
              </a:solidFill>
              <a:prstDash val="solid"/>
              <a:headEnd type="none" w="med" len="med"/>
              <a:tailEnd type="none" w="med" len="med"/>
            </a:ln>
          </p:spPr>
        </p:sp>
        <p:sp>
          <p:nvSpPr>
            <p:cNvPr id="12319" name="Line 2100"/>
            <p:cNvSpPr/>
            <p:nvPr/>
          </p:nvSpPr>
          <p:spPr>
            <a:xfrm>
              <a:off x="2626" y="2346"/>
              <a:ext cx="509" cy="0"/>
            </a:xfrm>
            <a:prstGeom prst="line">
              <a:avLst/>
            </a:prstGeom>
            <a:ln w="12700" cap="flat" cmpd="sng">
              <a:solidFill>
                <a:schemeClr val="accent2"/>
              </a:solidFill>
              <a:prstDash val="solid"/>
              <a:headEnd type="none" w="med" len="med"/>
              <a:tailEnd type="none" w="med" len="med"/>
            </a:ln>
          </p:spPr>
        </p:sp>
        <p:sp>
          <p:nvSpPr>
            <p:cNvPr id="12320" name="Rectangle 2102"/>
            <p:cNvSpPr/>
            <p:nvPr/>
          </p:nvSpPr>
          <p:spPr>
            <a:xfrm>
              <a:off x="3131" y="232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21" name="Text Box 2103"/>
            <p:cNvSpPr txBox="1"/>
            <p:nvPr/>
          </p:nvSpPr>
          <p:spPr>
            <a:xfrm>
              <a:off x="3105" y="210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2322" name="Line 2104"/>
            <p:cNvSpPr/>
            <p:nvPr/>
          </p:nvSpPr>
          <p:spPr>
            <a:xfrm>
              <a:off x="3319" y="2346"/>
              <a:ext cx="258" cy="0"/>
            </a:xfrm>
            <a:prstGeom prst="line">
              <a:avLst/>
            </a:prstGeom>
            <a:ln w="12700" cap="flat" cmpd="sng">
              <a:solidFill>
                <a:schemeClr val="accent2"/>
              </a:solidFill>
              <a:prstDash val="solid"/>
              <a:headEnd type="none" w="med" len="med"/>
              <a:tailEnd type="none" w="med" len="med"/>
            </a:ln>
          </p:spPr>
        </p:sp>
        <p:sp>
          <p:nvSpPr>
            <p:cNvPr id="12323" name="Line 2105"/>
            <p:cNvSpPr/>
            <p:nvPr/>
          </p:nvSpPr>
          <p:spPr>
            <a:xfrm>
              <a:off x="3577" y="2346"/>
              <a:ext cx="0" cy="392"/>
            </a:xfrm>
            <a:prstGeom prst="line">
              <a:avLst/>
            </a:prstGeom>
            <a:ln w="12700" cap="flat" cmpd="sng">
              <a:solidFill>
                <a:schemeClr val="accent2"/>
              </a:solidFill>
              <a:prstDash val="solid"/>
              <a:headEnd type="none" w="med" len="med"/>
              <a:tailEnd type="none" w="med" len="med"/>
            </a:ln>
          </p:spPr>
        </p:sp>
        <p:sp>
          <p:nvSpPr>
            <p:cNvPr id="12324" name="Line 2106"/>
            <p:cNvSpPr/>
            <p:nvPr/>
          </p:nvSpPr>
          <p:spPr>
            <a:xfrm>
              <a:off x="3410" y="1519"/>
              <a:ext cx="618" cy="0"/>
            </a:xfrm>
            <a:prstGeom prst="line">
              <a:avLst/>
            </a:prstGeom>
            <a:ln w="12700" cap="flat" cmpd="sng">
              <a:solidFill>
                <a:schemeClr val="accent2"/>
              </a:solidFill>
              <a:prstDash val="solid"/>
              <a:headEnd type="none" w="med" len="med"/>
              <a:tailEnd type="none" w="med" len="med"/>
            </a:ln>
          </p:spPr>
        </p:sp>
        <p:sp>
          <p:nvSpPr>
            <p:cNvPr id="12325" name="Rectangle 2108"/>
            <p:cNvSpPr/>
            <p:nvPr/>
          </p:nvSpPr>
          <p:spPr>
            <a:xfrm>
              <a:off x="3863" y="149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26" name="Text Box 2109"/>
            <p:cNvSpPr txBox="1"/>
            <p:nvPr/>
          </p:nvSpPr>
          <p:spPr>
            <a:xfrm>
              <a:off x="3828" y="126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2327" name="Line 2110"/>
            <p:cNvSpPr/>
            <p:nvPr/>
          </p:nvSpPr>
          <p:spPr>
            <a:xfrm>
              <a:off x="4050" y="1519"/>
              <a:ext cx="209" cy="0"/>
            </a:xfrm>
            <a:prstGeom prst="line">
              <a:avLst/>
            </a:prstGeom>
            <a:ln w="12700" cap="flat" cmpd="sng">
              <a:solidFill>
                <a:schemeClr val="accent2"/>
              </a:solidFill>
              <a:prstDash val="solid"/>
              <a:headEnd type="none" w="med" len="med"/>
              <a:tailEnd type="none" w="med" len="med"/>
            </a:ln>
          </p:spPr>
        </p:sp>
        <p:sp>
          <p:nvSpPr>
            <p:cNvPr id="12328" name="Line 2111"/>
            <p:cNvSpPr/>
            <p:nvPr/>
          </p:nvSpPr>
          <p:spPr>
            <a:xfrm>
              <a:off x="4259" y="1519"/>
              <a:ext cx="0" cy="284"/>
            </a:xfrm>
            <a:prstGeom prst="line">
              <a:avLst/>
            </a:prstGeom>
            <a:ln w="12700" cap="flat" cmpd="sng">
              <a:solidFill>
                <a:schemeClr val="accent2"/>
              </a:solidFill>
              <a:prstDash val="solid"/>
              <a:headEnd type="none" w="med" len="med"/>
              <a:tailEnd type="none" w="med" len="med"/>
            </a:ln>
          </p:spPr>
        </p:sp>
        <p:sp>
          <p:nvSpPr>
            <p:cNvPr id="12329" name="AutoShape 2113"/>
            <p:cNvSpPr/>
            <p:nvPr/>
          </p:nvSpPr>
          <p:spPr>
            <a:xfrm rot="5400000">
              <a:off x="4413" y="1725"/>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30" name="Text Box 2114"/>
            <p:cNvSpPr txBox="1"/>
            <p:nvPr/>
          </p:nvSpPr>
          <p:spPr>
            <a:xfrm>
              <a:off x="4421" y="1675"/>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2331" name="Text Box 2115"/>
            <p:cNvSpPr txBox="1"/>
            <p:nvPr/>
          </p:nvSpPr>
          <p:spPr>
            <a:xfrm>
              <a:off x="4528" y="186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2332" name="Line 2116"/>
            <p:cNvSpPr/>
            <p:nvPr/>
          </p:nvSpPr>
          <p:spPr>
            <a:xfrm>
              <a:off x="3403" y="2738"/>
              <a:ext cx="609" cy="0"/>
            </a:xfrm>
            <a:prstGeom prst="line">
              <a:avLst/>
            </a:prstGeom>
            <a:ln w="12700" cap="flat" cmpd="sng">
              <a:solidFill>
                <a:schemeClr val="accent2"/>
              </a:solidFill>
              <a:prstDash val="solid"/>
              <a:headEnd type="none" w="med" len="med"/>
              <a:tailEnd type="none" w="med" len="med"/>
            </a:ln>
          </p:spPr>
        </p:sp>
        <p:sp>
          <p:nvSpPr>
            <p:cNvPr id="12333" name="Rectangle 2118"/>
            <p:cNvSpPr/>
            <p:nvPr/>
          </p:nvSpPr>
          <p:spPr>
            <a:xfrm>
              <a:off x="3851" y="2713"/>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34" name="Text Box 2119"/>
            <p:cNvSpPr txBox="1"/>
            <p:nvPr/>
          </p:nvSpPr>
          <p:spPr>
            <a:xfrm>
              <a:off x="3815" y="2474"/>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2335" name="Line 2120"/>
            <p:cNvSpPr/>
            <p:nvPr/>
          </p:nvSpPr>
          <p:spPr>
            <a:xfrm>
              <a:off x="4041" y="2738"/>
              <a:ext cx="209" cy="0"/>
            </a:xfrm>
            <a:prstGeom prst="line">
              <a:avLst/>
            </a:prstGeom>
            <a:ln w="12700" cap="flat" cmpd="sng">
              <a:solidFill>
                <a:schemeClr val="accent2"/>
              </a:solidFill>
              <a:prstDash val="solid"/>
              <a:headEnd type="none" w="med" len="med"/>
              <a:tailEnd type="none" w="med" len="med"/>
            </a:ln>
          </p:spPr>
        </p:sp>
        <p:sp>
          <p:nvSpPr>
            <p:cNvPr id="12336" name="Line 2121"/>
            <p:cNvSpPr/>
            <p:nvPr/>
          </p:nvSpPr>
          <p:spPr>
            <a:xfrm flipV="1">
              <a:off x="4250" y="2120"/>
              <a:ext cx="0" cy="618"/>
            </a:xfrm>
            <a:prstGeom prst="line">
              <a:avLst/>
            </a:prstGeom>
            <a:ln w="12700" cap="flat" cmpd="sng">
              <a:solidFill>
                <a:schemeClr val="accent2"/>
              </a:solidFill>
              <a:prstDash val="solid"/>
              <a:headEnd type="none" w="med" len="med"/>
              <a:tailEnd type="none" w="med" len="med"/>
            </a:ln>
          </p:spPr>
        </p:sp>
        <p:sp>
          <p:nvSpPr>
            <p:cNvPr id="12337" name="Oval 2123"/>
            <p:cNvSpPr/>
            <p:nvPr/>
          </p:nvSpPr>
          <p:spPr>
            <a:xfrm>
              <a:off x="5307" y="1945"/>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38" name="Text Box 2124"/>
            <p:cNvSpPr txBox="1"/>
            <p:nvPr/>
          </p:nvSpPr>
          <p:spPr>
            <a:xfrm>
              <a:off x="5344" y="1853"/>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2339" name="Text Box 2126"/>
            <p:cNvSpPr txBox="1"/>
            <p:nvPr/>
          </p:nvSpPr>
          <p:spPr>
            <a:xfrm>
              <a:off x="3448" y="1286"/>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2340" name="Oval 2127"/>
            <p:cNvSpPr/>
            <p:nvPr/>
          </p:nvSpPr>
          <p:spPr>
            <a:xfrm>
              <a:off x="3558" y="149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1" name="Oval 2128"/>
            <p:cNvSpPr/>
            <p:nvPr/>
          </p:nvSpPr>
          <p:spPr>
            <a:xfrm>
              <a:off x="2610" y="187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2" name="Oval 2129"/>
            <p:cNvSpPr/>
            <p:nvPr/>
          </p:nvSpPr>
          <p:spPr>
            <a:xfrm>
              <a:off x="2600" y="23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3" name="Text Box 2131"/>
            <p:cNvSpPr txBox="1"/>
            <p:nvPr/>
          </p:nvSpPr>
          <p:spPr>
            <a:xfrm>
              <a:off x="3469" y="277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2344" name="Oval 2132"/>
            <p:cNvSpPr/>
            <p:nvPr/>
          </p:nvSpPr>
          <p:spPr>
            <a:xfrm>
              <a:off x="3553" y="27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5" name="Oval 2133"/>
            <p:cNvSpPr/>
            <p:nvPr/>
          </p:nvSpPr>
          <p:spPr>
            <a:xfrm>
              <a:off x="5077" y="19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6" name="Line 2134"/>
            <p:cNvSpPr/>
            <p:nvPr/>
          </p:nvSpPr>
          <p:spPr>
            <a:xfrm flipV="1">
              <a:off x="5102" y="1511"/>
              <a:ext cx="0" cy="459"/>
            </a:xfrm>
            <a:prstGeom prst="line">
              <a:avLst/>
            </a:prstGeom>
            <a:ln w="12700" cap="flat" cmpd="sng">
              <a:solidFill>
                <a:schemeClr val="accent2"/>
              </a:solidFill>
              <a:prstDash val="solid"/>
              <a:headEnd type="none" w="med" len="med"/>
              <a:tailEnd type="none" w="med" len="med"/>
            </a:ln>
          </p:spPr>
        </p:sp>
        <p:sp>
          <p:nvSpPr>
            <p:cNvPr id="12347" name="Line 2135"/>
            <p:cNvSpPr/>
            <p:nvPr/>
          </p:nvSpPr>
          <p:spPr>
            <a:xfrm flipH="1">
              <a:off x="4759" y="1511"/>
              <a:ext cx="343" cy="0"/>
            </a:xfrm>
            <a:prstGeom prst="line">
              <a:avLst/>
            </a:prstGeom>
            <a:ln w="12700" cap="flat" cmpd="sng">
              <a:solidFill>
                <a:schemeClr val="accent2"/>
              </a:solidFill>
              <a:prstDash val="solid"/>
              <a:headEnd type="none" w="med" len="med"/>
              <a:tailEnd type="none" w="med" len="med"/>
            </a:ln>
          </p:spPr>
        </p:sp>
        <p:sp>
          <p:nvSpPr>
            <p:cNvPr id="12348" name="Rectangle 2137"/>
            <p:cNvSpPr/>
            <p:nvPr/>
          </p:nvSpPr>
          <p:spPr>
            <a:xfrm>
              <a:off x="4581" y="148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49" name="Text Box 2138"/>
            <p:cNvSpPr txBox="1"/>
            <p:nvPr/>
          </p:nvSpPr>
          <p:spPr>
            <a:xfrm>
              <a:off x="4551" y="12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2350" name="Line 2139"/>
            <p:cNvSpPr/>
            <p:nvPr/>
          </p:nvSpPr>
          <p:spPr>
            <a:xfrm flipH="1">
              <a:off x="4259" y="1519"/>
              <a:ext cx="317" cy="0"/>
            </a:xfrm>
            <a:prstGeom prst="line">
              <a:avLst/>
            </a:prstGeom>
            <a:ln w="12700" cap="flat" cmpd="sng">
              <a:solidFill>
                <a:schemeClr val="accent2"/>
              </a:solidFill>
              <a:prstDash val="solid"/>
              <a:headEnd type="none" w="med" len="med"/>
              <a:tailEnd type="none" w="med" len="med"/>
            </a:ln>
          </p:spPr>
        </p:sp>
        <p:sp>
          <p:nvSpPr>
            <p:cNvPr id="12351" name="Oval 2140"/>
            <p:cNvSpPr/>
            <p:nvPr/>
          </p:nvSpPr>
          <p:spPr>
            <a:xfrm>
              <a:off x="4234" y="149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52" name="Line 2141"/>
            <p:cNvSpPr/>
            <p:nvPr/>
          </p:nvSpPr>
          <p:spPr>
            <a:xfrm>
              <a:off x="4250" y="2738"/>
              <a:ext cx="334" cy="0"/>
            </a:xfrm>
            <a:prstGeom prst="line">
              <a:avLst/>
            </a:prstGeom>
            <a:ln w="12700" cap="flat" cmpd="sng">
              <a:solidFill>
                <a:schemeClr val="accent2"/>
              </a:solidFill>
              <a:prstDash val="solid"/>
              <a:headEnd type="none" w="med" len="med"/>
              <a:tailEnd type="none" w="med" len="med"/>
            </a:ln>
          </p:spPr>
        </p:sp>
        <p:sp>
          <p:nvSpPr>
            <p:cNvPr id="12353" name="Rectangle 2143"/>
            <p:cNvSpPr/>
            <p:nvPr/>
          </p:nvSpPr>
          <p:spPr>
            <a:xfrm>
              <a:off x="4585" y="271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54" name="Text Box 2144"/>
            <p:cNvSpPr txBox="1"/>
            <p:nvPr/>
          </p:nvSpPr>
          <p:spPr>
            <a:xfrm>
              <a:off x="4555" y="250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2355" name="Line 2145"/>
            <p:cNvSpPr/>
            <p:nvPr/>
          </p:nvSpPr>
          <p:spPr>
            <a:xfrm>
              <a:off x="4768" y="2738"/>
              <a:ext cx="367" cy="0"/>
            </a:xfrm>
            <a:prstGeom prst="line">
              <a:avLst/>
            </a:prstGeom>
            <a:ln w="12700" cap="flat" cmpd="sng">
              <a:solidFill>
                <a:schemeClr val="accent2"/>
              </a:solidFill>
              <a:prstDash val="solid"/>
              <a:headEnd type="none" w="med" len="med"/>
              <a:tailEnd type="none" w="med" len="med"/>
            </a:ln>
          </p:spPr>
        </p:sp>
        <p:sp>
          <p:nvSpPr>
            <p:cNvPr id="12356" name="Line 2146"/>
            <p:cNvSpPr/>
            <p:nvPr/>
          </p:nvSpPr>
          <p:spPr>
            <a:xfrm>
              <a:off x="5135" y="2738"/>
              <a:ext cx="0" cy="167"/>
            </a:xfrm>
            <a:prstGeom prst="line">
              <a:avLst/>
            </a:prstGeom>
            <a:ln w="12700" cap="flat" cmpd="sng">
              <a:solidFill>
                <a:schemeClr val="accent2"/>
              </a:solidFill>
              <a:prstDash val="solid"/>
              <a:headEnd type="none" w="med" len="med"/>
              <a:tailEnd type="none" w="med" len="med"/>
            </a:ln>
          </p:spPr>
        </p:sp>
        <p:sp>
          <p:nvSpPr>
            <p:cNvPr id="12357" name="Line 2147"/>
            <p:cNvSpPr/>
            <p:nvPr/>
          </p:nvSpPr>
          <p:spPr>
            <a:xfrm>
              <a:off x="5052" y="2905"/>
              <a:ext cx="167" cy="0"/>
            </a:xfrm>
            <a:prstGeom prst="line">
              <a:avLst/>
            </a:prstGeom>
            <a:ln w="28575" cap="flat" cmpd="sng">
              <a:solidFill>
                <a:schemeClr val="accent2"/>
              </a:solidFill>
              <a:prstDash val="solid"/>
              <a:headEnd type="none" w="med" len="med"/>
              <a:tailEnd type="none" w="med" len="med"/>
            </a:ln>
          </p:spPr>
        </p:sp>
        <p:sp>
          <p:nvSpPr>
            <p:cNvPr id="12358" name="Text Box 2148"/>
            <p:cNvSpPr txBox="1"/>
            <p:nvPr/>
          </p:nvSpPr>
          <p:spPr>
            <a:xfrm>
              <a:off x="3014" y="3164"/>
              <a:ext cx="1853"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测量放大器原理电路</a:t>
              </a:r>
              <a:endParaRPr lang="zh-CN" altLang="en-US" sz="2400" b="1" dirty="0">
                <a:solidFill>
                  <a:srgbClr val="000099"/>
                </a:solidFill>
                <a:latin typeface="Times New Roman" panose="02020603050405020304" pitchFamily="18" charset="0"/>
              </a:endParaRPr>
            </a:p>
          </p:txBody>
        </p:sp>
        <p:sp>
          <p:nvSpPr>
            <p:cNvPr id="12359" name="Line 2150"/>
            <p:cNvSpPr/>
            <p:nvPr/>
          </p:nvSpPr>
          <p:spPr>
            <a:xfrm>
              <a:off x="2517" y="1862"/>
              <a:ext cx="0" cy="434"/>
            </a:xfrm>
            <a:prstGeom prst="line">
              <a:avLst/>
            </a:prstGeom>
            <a:ln w="9525" cap="flat" cmpd="sng">
              <a:solidFill>
                <a:schemeClr val="accent2"/>
              </a:solidFill>
              <a:prstDash val="solid"/>
              <a:headEnd type="none" w="med" len="med"/>
              <a:tailEnd type="triangle" w="sm" len="lg"/>
            </a:ln>
          </p:spPr>
        </p:sp>
        <p:sp>
          <p:nvSpPr>
            <p:cNvPr id="12360" name="Text Box 2151"/>
            <p:cNvSpPr txBox="1"/>
            <p:nvPr/>
          </p:nvSpPr>
          <p:spPr>
            <a:xfrm>
              <a:off x="2282" y="1993"/>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2361" name="Line 2152"/>
            <p:cNvSpPr/>
            <p:nvPr/>
          </p:nvSpPr>
          <p:spPr>
            <a:xfrm>
              <a:off x="2626" y="1879"/>
              <a:ext cx="0" cy="133"/>
            </a:xfrm>
            <a:prstGeom prst="line">
              <a:avLst/>
            </a:prstGeom>
            <a:ln w="12700" cap="flat" cmpd="sng">
              <a:solidFill>
                <a:schemeClr val="accent2"/>
              </a:solidFill>
              <a:prstDash val="solid"/>
              <a:headEnd type="none" w="med" len="med"/>
              <a:tailEnd type="none" w="med" len="med"/>
            </a:ln>
          </p:spPr>
        </p:sp>
        <p:sp>
          <p:nvSpPr>
            <p:cNvPr id="12362" name="Line 2153"/>
            <p:cNvSpPr/>
            <p:nvPr/>
          </p:nvSpPr>
          <p:spPr>
            <a:xfrm flipV="1">
              <a:off x="2626" y="2230"/>
              <a:ext cx="0" cy="116"/>
            </a:xfrm>
            <a:prstGeom prst="line">
              <a:avLst/>
            </a:prstGeom>
            <a:ln w="12700" cap="flat" cmpd="sng">
              <a:solidFill>
                <a:schemeClr val="accent2"/>
              </a:solidFill>
              <a:prstDash val="solid"/>
              <a:headEnd type="none" w="med" len="med"/>
              <a:tailEnd type="none" w="med" len="med"/>
            </a:ln>
          </p:spPr>
        </p:sp>
        <p:sp>
          <p:nvSpPr>
            <p:cNvPr id="12363" name="Oval 2154"/>
            <p:cNvSpPr/>
            <p:nvPr/>
          </p:nvSpPr>
          <p:spPr>
            <a:xfrm>
              <a:off x="4230" y="271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2364" name="Line 2155"/>
            <p:cNvSpPr/>
            <p:nvPr/>
          </p:nvSpPr>
          <p:spPr>
            <a:xfrm>
              <a:off x="4251" y="2121"/>
              <a:ext cx="192" cy="0"/>
            </a:xfrm>
            <a:prstGeom prst="line">
              <a:avLst/>
            </a:prstGeom>
            <a:ln w="12700" cap="flat" cmpd="sng">
              <a:solidFill>
                <a:schemeClr val="accent2"/>
              </a:solidFill>
              <a:prstDash val="solid"/>
              <a:headEnd type="none" w="med" len="med"/>
              <a:tailEnd type="none" w="med" len="med"/>
            </a:ln>
          </p:spPr>
        </p:sp>
        <p:sp>
          <p:nvSpPr>
            <p:cNvPr id="12365" name="Line 2156"/>
            <p:cNvSpPr/>
            <p:nvPr/>
          </p:nvSpPr>
          <p:spPr>
            <a:xfrm>
              <a:off x="4259" y="1803"/>
              <a:ext cx="192" cy="0"/>
            </a:xfrm>
            <a:prstGeom prst="line">
              <a:avLst/>
            </a:prstGeom>
            <a:ln w="12700" cap="flat" cmpd="sng">
              <a:solidFill>
                <a:schemeClr val="accent2"/>
              </a:solidFill>
              <a:prstDash val="solid"/>
              <a:headEnd type="none" w="med" len="med"/>
              <a:tailEnd type="none" w="med" len="med"/>
            </a:ln>
          </p:spPr>
        </p:sp>
        <p:sp>
          <p:nvSpPr>
            <p:cNvPr id="12366" name="Line 2157"/>
            <p:cNvSpPr/>
            <p:nvPr/>
          </p:nvSpPr>
          <p:spPr>
            <a:xfrm>
              <a:off x="2516" y="1353"/>
              <a:ext cx="410" cy="0"/>
            </a:xfrm>
            <a:prstGeom prst="line">
              <a:avLst/>
            </a:prstGeom>
            <a:ln w="12700" cap="flat" cmpd="sng">
              <a:solidFill>
                <a:schemeClr val="accent2"/>
              </a:solidFill>
              <a:prstDash val="solid"/>
              <a:headEnd type="none" w="med" len="med"/>
              <a:tailEnd type="none" w="med" len="med"/>
            </a:ln>
          </p:spPr>
        </p:sp>
        <p:sp>
          <p:nvSpPr>
            <p:cNvPr id="12367" name="Line 2158"/>
            <p:cNvSpPr/>
            <p:nvPr/>
          </p:nvSpPr>
          <p:spPr>
            <a:xfrm>
              <a:off x="2513" y="2905"/>
              <a:ext cx="413" cy="0"/>
            </a:xfrm>
            <a:prstGeom prst="line">
              <a:avLst/>
            </a:prstGeom>
            <a:ln w="12700" cap="flat" cmpd="sng">
              <a:solidFill>
                <a:schemeClr val="accent2"/>
              </a:solidFill>
              <a:prstDash val="solid"/>
              <a:headEnd type="none" w="med" len="med"/>
              <a:tailEnd type="none" w="med" len="med"/>
            </a:ln>
          </p:spPr>
        </p:sp>
        <p:sp>
          <p:nvSpPr>
            <p:cNvPr id="12368" name="Text Box 2239"/>
            <p:cNvSpPr txBox="1"/>
            <p:nvPr/>
          </p:nvSpPr>
          <p:spPr>
            <a:xfrm>
              <a:off x="4127" y="1283"/>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grpSp>
      <p:sp>
        <p:nvSpPr>
          <p:cNvPr id="2397268" name="Rectangle 84"/>
          <p:cNvSpPr/>
          <p:nvPr/>
        </p:nvSpPr>
        <p:spPr>
          <a:xfrm>
            <a:off x="4619625" y="5653088"/>
            <a:ext cx="3336925" cy="476250"/>
          </a:xfrm>
          <a:prstGeom prst="rect">
            <a:avLst/>
          </a:prstGeom>
          <a:solidFill>
            <a:srgbClr val="FF99CC"/>
          </a:solidFill>
          <a:ln w="9525">
            <a:noFill/>
          </a:ln>
        </p:spPr>
        <p:txBody>
          <a:bodyPr>
            <a:spAutoFit/>
          </a:bodyPr>
          <a:p>
            <a:pPr algn="ctr" eaLnBrk="1" hangingPunct="1">
              <a:lnSpc>
                <a:spcPct val="90000"/>
              </a:lnSpc>
            </a:pPr>
            <a:r>
              <a:rPr lang="zh-CN" altLang="en-US" sz="2800" b="1" dirty="0">
                <a:solidFill>
                  <a:srgbClr val="333399"/>
                </a:solidFill>
                <a:latin typeface="Times New Roman" panose="02020603050405020304" pitchFamily="18" charset="0"/>
              </a:rPr>
              <a:t>高性能差动放大器</a:t>
            </a:r>
            <a:endParaRPr lang="zh-CN" altLang="en-US" sz="28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8818"/>
                                        </p:tgtEl>
                                        <p:attrNameLst>
                                          <p:attrName>style.visibility</p:attrName>
                                        </p:attrNameLst>
                                      </p:cBhvr>
                                      <p:to>
                                        <p:strVal val="visible"/>
                                      </p:to>
                                    </p:set>
                                    <p:animEffect transition="in" filter="dissolve">
                                      <p:cBhvr>
                                        <p:cTn id="7" dur="500"/>
                                        <p:tgtEl>
                                          <p:spTgt spid="22488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48819"/>
                                        </p:tgtEl>
                                        <p:attrNameLst>
                                          <p:attrName>style.visibility</p:attrName>
                                        </p:attrNameLst>
                                      </p:cBhvr>
                                      <p:to>
                                        <p:strVal val="visible"/>
                                      </p:to>
                                    </p:set>
                                    <p:animEffect transition="in" filter="dissolve">
                                      <p:cBhvr>
                                        <p:cTn id="17" dur="500"/>
                                        <p:tgtEl>
                                          <p:spTgt spid="22488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48820">
                                            <p:txEl>
                                              <p:charRg st="0" end="19"/>
                                            </p:txEl>
                                          </p:spTgt>
                                        </p:tgtEl>
                                        <p:attrNameLst>
                                          <p:attrName>style.visibility</p:attrName>
                                        </p:attrNameLst>
                                      </p:cBhvr>
                                      <p:to>
                                        <p:strVal val="visible"/>
                                      </p:to>
                                    </p:set>
                                    <p:animEffect transition="in" filter="dissolve">
                                      <p:cBhvr>
                                        <p:cTn id="22" dur="500"/>
                                        <p:tgtEl>
                                          <p:spTgt spid="2248820">
                                            <p:txEl>
                                              <p:charRg st="0" end="19"/>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48820">
                                            <p:txEl>
                                              <p:charRg st="19" end="45"/>
                                            </p:txEl>
                                          </p:spTgt>
                                        </p:tgtEl>
                                        <p:attrNameLst>
                                          <p:attrName>style.visibility</p:attrName>
                                        </p:attrNameLst>
                                      </p:cBhvr>
                                      <p:to>
                                        <p:strVal val="visible"/>
                                      </p:to>
                                    </p:set>
                                    <p:animEffect transition="in" filter="dissolve">
                                      <p:cBhvr>
                                        <p:cTn id="27" dur="500"/>
                                        <p:tgtEl>
                                          <p:spTgt spid="2248820">
                                            <p:txEl>
                                              <p:charRg st="19" end="4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97268"/>
                                        </p:tgtEl>
                                        <p:attrNameLst>
                                          <p:attrName>style.visibility</p:attrName>
                                        </p:attrNameLst>
                                      </p:cBhvr>
                                      <p:to>
                                        <p:strVal val="visible"/>
                                      </p:to>
                                    </p:set>
                                    <p:animEffect transition="in" filter="dissolve">
                                      <p:cBhvr>
                                        <p:cTn id="32" dur="500"/>
                                        <p:tgtEl>
                                          <p:spTgt spid="2397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8818" grpId="0" bldLvl="0" animBg="1"/>
      <p:bldP spid="2248819" grpId="0"/>
      <p:bldP spid="2397268" grpId="0" bldLvl="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4195" name="Rectangle 83"/>
          <p:cNvSpPr/>
          <p:nvPr/>
        </p:nvSpPr>
        <p:spPr>
          <a:xfrm>
            <a:off x="287338" y="3581400"/>
            <a:ext cx="2952750" cy="2439988"/>
          </a:xfrm>
          <a:prstGeom prst="rect">
            <a:avLst/>
          </a:prstGeom>
          <a:solidFill>
            <a:srgbClr val="CCFFFF"/>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94114" name="Text Box 2"/>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4188" name="Text Box 76"/>
          <p:cNvSpPr txBox="1"/>
          <p:nvPr/>
        </p:nvSpPr>
        <p:spPr>
          <a:xfrm>
            <a:off x="215900" y="836613"/>
            <a:ext cx="4429125"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测量放大器的增益</a:t>
            </a:r>
            <a:endParaRPr lang="zh-CN" altLang="en-US" sz="3600" b="1" dirty="0">
              <a:solidFill>
                <a:srgbClr val="333399"/>
              </a:solidFill>
              <a:latin typeface="Times New Roman" panose="02020603050405020304" pitchFamily="18" charset="0"/>
            </a:endParaRPr>
          </a:p>
        </p:txBody>
      </p:sp>
      <p:graphicFrame>
        <p:nvGraphicFramePr>
          <p:cNvPr id="2394191" name="Object 79"/>
          <p:cNvGraphicFramePr>
            <a:graphicFrameLocks noChangeAspect="1"/>
          </p:cNvGraphicFramePr>
          <p:nvPr/>
        </p:nvGraphicFramePr>
        <p:xfrm>
          <a:off x="287338" y="1557338"/>
          <a:ext cx="3117850" cy="1828800"/>
        </p:xfrm>
        <a:graphic>
          <a:graphicData uri="http://schemas.openxmlformats.org/presentationml/2006/ole">
            <mc:AlternateContent xmlns:mc="http://schemas.openxmlformats.org/markup-compatibility/2006">
              <mc:Choice xmlns:v="urn:schemas-microsoft-com:vml" Requires="v">
                <p:oleObj spid="_x0000_s3076" name="" r:id="rId1" imgW="1397000" imgH="889000" progId="Equation.3">
                  <p:embed/>
                </p:oleObj>
              </mc:Choice>
              <mc:Fallback>
                <p:oleObj name="" r:id="rId1" imgW="1397000" imgH="889000" progId="Equation.3">
                  <p:embed/>
                  <p:pic>
                    <p:nvPicPr>
                      <p:cNvPr id="0" name="图片 3075"/>
                      <p:cNvPicPr/>
                      <p:nvPr/>
                    </p:nvPicPr>
                    <p:blipFill>
                      <a:blip r:embed="rId2"/>
                      <a:stretch>
                        <a:fillRect/>
                      </a:stretch>
                    </p:blipFill>
                    <p:spPr>
                      <a:xfrm>
                        <a:off x="287338" y="1557338"/>
                        <a:ext cx="3117850" cy="1828800"/>
                      </a:xfrm>
                      <a:prstGeom prst="rect">
                        <a:avLst/>
                      </a:prstGeom>
                      <a:solidFill>
                        <a:schemeClr val="bg1"/>
                      </a:solidFill>
                      <a:ln w="38100">
                        <a:noFill/>
                        <a:miter/>
                      </a:ln>
                    </p:spPr>
                  </p:pic>
                </p:oleObj>
              </mc:Fallback>
            </mc:AlternateContent>
          </a:graphicData>
        </a:graphic>
      </p:graphicFrame>
      <p:graphicFrame>
        <p:nvGraphicFramePr>
          <p:cNvPr id="2394192" name="Object 80"/>
          <p:cNvGraphicFramePr>
            <a:graphicFrameLocks noChangeAspect="1"/>
          </p:cNvGraphicFramePr>
          <p:nvPr/>
        </p:nvGraphicFramePr>
        <p:xfrm>
          <a:off x="682625" y="3770313"/>
          <a:ext cx="2125663" cy="471487"/>
        </p:xfrm>
        <a:graphic>
          <a:graphicData uri="http://schemas.openxmlformats.org/presentationml/2006/ole">
            <mc:AlternateContent xmlns:mc="http://schemas.openxmlformats.org/markup-compatibility/2006">
              <mc:Choice xmlns:v="urn:schemas-microsoft-com:vml" Requires="v">
                <p:oleObj spid="_x0000_s3079" name="" r:id="rId3" imgW="951865" imgH="228600" progId="Equation.3">
                  <p:embed/>
                </p:oleObj>
              </mc:Choice>
              <mc:Fallback>
                <p:oleObj name="" r:id="rId3" imgW="951865" imgH="228600" progId="Equation.3">
                  <p:embed/>
                  <p:pic>
                    <p:nvPicPr>
                      <p:cNvPr id="0" name="图片 3078"/>
                      <p:cNvPicPr/>
                      <p:nvPr/>
                    </p:nvPicPr>
                    <p:blipFill>
                      <a:blip r:embed="rId4"/>
                      <a:stretch>
                        <a:fillRect/>
                      </a:stretch>
                    </p:blipFill>
                    <p:spPr>
                      <a:xfrm>
                        <a:off x="682625" y="3770313"/>
                        <a:ext cx="2125663" cy="471487"/>
                      </a:xfrm>
                      <a:prstGeom prst="rect">
                        <a:avLst/>
                      </a:prstGeom>
                      <a:solidFill>
                        <a:srgbClr val="CCFFFF"/>
                      </a:solidFill>
                      <a:ln w="38100">
                        <a:noFill/>
                        <a:miter/>
                      </a:ln>
                    </p:spPr>
                  </p:pic>
                </p:oleObj>
              </mc:Fallback>
            </mc:AlternateContent>
          </a:graphicData>
        </a:graphic>
      </p:graphicFrame>
      <p:graphicFrame>
        <p:nvGraphicFramePr>
          <p:cNvPr id="2394193" name="Object 81"/>
          <p:cNvGraphicFramePr>
            <a:graphicFrameLocks noChangeAspect="1"/>
          </p:cNvGraphicFramePr>
          <p:nvPr/>
        </p:nvGraphicFramePr>
        <p:xfrm>
          <a:off x="669925" y="4433888"/>
          <a:ext cx="2209800" cy="471487"/>
        </p:xfrm>
        <a:graphic>
          <a:graphicData uri="http://schemas.openxmlformats.org/presentationml/2006/ole">
            <mc:AlternateContent xmlns:mc="http://schemas.openxmlformats.org/markup-compatibility/2006">
              <mc:Choice xmlns:v="urn:schemas-microsoft-com:vml" Requires="v">
                <p:oleObj spid="_x0000_s3078" name="" r:id="rId5" imgW="990600" imgH="228600" progId="Equation.3">
                  <p:embed/>
                </p:oleObj>
              </mc:Choice>
              <mc:Fallback>
                <p:oleObj name="" r:id="rId5" imgW="990600" imgH="228600" progId="Equation.3">
                  <p:embed/>
                  <p:pic>
                    <p:nvPicPr>
                      <p:cNvPr id="0" name="图片 3077"/>
                      <p:cNvPicPr/>
                      <p:nvPr/>
                    </p:nvPicPr>
                    <p:blipFill>
                      <a:blip r:embed="rId6"/>
                      <a:stretch>
                        <a:fillRect/>
                      </a:stretch>
                    </p:blipFill>
                    <p:spPr>
                      <a:xfrm>
                        <a:off x="669925" y="4433888"/>
                        <a:ext cx="2209800" cy="471487"/>
                      </a:xfrm>
                      <a:prstGeom prst="rect">
                        <a:avLst/>
                      </a:prstGeom>
                      <a:solidFill>
                        <a:srgbClr val="CCFFFF"/>
                      </a:solidFill>
                      <a:ln w="38100">
                        <a:noFill/>
                        <a:miter/>
                      </a:ln>
                    </p:spPr>
                  </p:pic>
                </p:oleObj>
              </mc:Fallback>
            </mc:AlternateContent>
          </a:graphicData>
        </a:graphic>
      </p:graphicFrame>
      <p:graphicFrame>
        <p:nvGraphicFramePr>
          <p:cNvPr id="2394194" name="Object 82"/>
          <p:cNvGraphicFramePr>
            <a:graphicFrameLocks noChangeAspect="1"/>
          </p:cNvGraphicFramePr>
          <p:nvPr/>
        </p:nvGraphicFramePr>
        <p:xfrm>
          <a:off x="684213" y="5022850"/>
          <a:ext cx="2012950" cy="890588"/>
        </p:xfrm>
        <a:graphic>
          <a:graphicData uri="http://schemas.openxmlformats.org/presentationml/2006/ole">
            <mc:AlternateContent xmlns:mc="http://schemas.openxmlformats.org/markup-compatibility/2006">
              <mc:Choice xmlns:v="urn:schemas-microsoft-com:vml" Requires="v">
                <p:oleObj spid="_x0000_s3077" name="" r:id="rId7" imgW="901065" imgH="431800" progId="Equation.3">
                  <p:embed/>
                </p:oleObj>
              </mc:Choice>
              <mc:Fallback>
                <p:oleObj name="" r:id="rId7" imgW="901065" imgH="431800" progId="Equation.3">
                  <p:embed/>
                  <p:pic>
                    <p:nvPicPr>
                      <p:cNvPr id="0" name="图片 3076"/>
                      <p:cNvPicPr/>
                      <p:nvPr/>
                    </p:nvPicPr>
                    <p:blipFill>
                      <a:blip r:embed="rId8"/>
                      <a:stretch>
                        <a:fillRect/>
                      </a:stretch>
                    </p:blipFill>
                    <p:spPr>
                      <a:xfrm>
                        <a:off x="684213" y="5022850"/>
                        <a:ext cx="2012950" cy="890588"/>
                      </a:xfrm>
                      <a:prstGeom prst="rect">
                        <a:avLst/>
                      </a:prstGeom>
                      <a:solidFill>
                        <a:srgbClr val="CCFFFF"/>
                      </a:solidFill>
                      <a:ln w="38100">
                        <a:noFill/>
                        <a:miter/>
                      </a:ln>
                    </p:spPr>
                  </p:pic>
                </p:oleObj>
              </mc:Fallback>
            </mc:AlternateContent>
          </a:graphicData>
        </a:graphic>
      </p:graphicFrame>
      <p:grpSp>
        <p:nvGrpSpPr>
          <p:cNvPr id="2" name="Group 84"/>
          <p:cNvGrpSpPr/>
          <p:nvPr/>
        </p:nvGrpSpPr>
        <p:grpSpPr>
          <a:xfrm>
            <a:off x="3478213" y="1773238"/>
            <a:ext cx="5486400" cy="3708400"/>
            <a:chOff x="2191" y="1139"/>
            <a:chExt cx="3456" cy="2336"/>
          </a:xfrm>
        </p:grpSpPr>
        <p:sp>
          <p:nvSpPr>
            <p:cNvPr id="13322" name="Rectangle 85"/>
            <p:cNvSpPr/>
            <p:nvPr/>
          </p:nvSpPr>
          <p:spPr>
            <a:xfrm>
              <a:off x="2191" y="1139"/>
              <a:ext cx="3456"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23" name="Line 86"/>
            <p:cNvSpPr/>
            <p:nvPr/>
          </p:nvSpPr>
          <p:spPr>
            <a:xfrm>
              <a:off x="4826" y="1970"/>
              <a:ext cx="485" cy="0"/>
            </a:xfrm>
            <a:prstGeom prst="line">
              <a:avLst/>
            </a:prstGeom>
            <a:ln w="12700" cap="flat" cmpd="sng">
              <a:solidFill>
                <a:schemeClr val="accent2"/>
              </a:solidFill>
              <a:prstDash val="solid"/>
              <a:headEnd type="none" w="med" len="med"/>
              <a:tailEnd type="none" w="med" len="med"/>
            </a:ln>
          </p:spPr>
        </p:sp>
        <p:sp>
          <p:nvSpPr>
            <p:cNvPr id="13324" name="Oval 87"/>
            <p:cNvSpPr/>
            <p:nvPr/>
          </p:nvSpPr>
          <p:spPr>
            <a:xfrm>
              <a:off x="2466" y="132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25" name="Text Box 88"/>
            <p:cNvSpPr txBox="1"/>
            <p:nvPr/>
          </p:nvSpPr>
          <p:spPr>
            <a:xfrm>
              <a:off x="2191" y="123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3326" name="Text Box 89"/>
            <p:cNvSpPr txBox="1"/>
            <p:nvPr/>
          </p:nvSpPr>
          <p:spPr>
            <a:xfrm>
              <a:off x="2195" y="2774"/>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3327" name="Oval 90"/>
            <p:cNvSpPr/>
            <p:nvPr/>
          </p:nvSpPr>
          <p:spPr>
            <a:xfrm>
              <a:off x="2469" y="2877"/>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28" name="AutoShape 91"/>
            <p:cNvSpPr/>
            <p:nvPr/>
          </p:nvSpPr>
          <p:spPr>
            <a:xfrm rot="5400000">
              <a:off x="2893" y="1270"/>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29" name="Text Box 92"/>
            <p:cNvSpPr txBox="1"/>
            <p:nvPr/>
          </p:nvSpPr>
          <p:spPr>
            <a:xfrm>
              <a:off x="2901" y="1262"/>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3330" name="Text Box 93"/>
            <p:cNvSpPr txBox="1"/>
            <p:nvPr/>
          </p:nvSpPr>
          <p:spPr>
            <a:xfrm>
              <a:off x="2999" y="1416"/>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3331" name="AutoShape 94"/>
            <p:cNvSpPr/>
            <p:nvPr/>
          </p:nvSpPr>
          <p:spPr>
            <a:xfrm rot="5400000">
              <a:off x="2889" y="249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32" name="Text Box 95"/>
            <p:cNvSpPr txBox="1"/>
            <p:nvPr/>
          </p:nvSpPr>
          <p:spPr>
            <a:xfrm>
              <a:off x="2897" y="2485"/>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3333" name="Text Box 96"/>
            <p:cNvSpPr txBox="1"/>
            <p:nvPr/>
          </p:nvSpPr>
          <p:spPr>
            <a:xfrm>
              <a:off x="2995" y="2639"/>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3334" name="Line 97"/>
            <p:cNvSpPr/>
            <p:nvPr/>
          </p:nvSpPr>
          <p:spPr>
            <a:xfrm flipH="1">
              <a:off x="2626" y="1678"/>
              <a:ext cx="300" cy="0"/>
            </a:xfrm>
            <a:prstGeom prst="line">
              <a:avLst/>
            </a:prstGeom>
            <a:ln w="12700" cap="flat" cmpd="sng">
              <a:solidFill>
                <a:schemeClr val="accent2"/>
              </a:solidFill>
              <a:prstDash val="solid"/>
              <a:headEnd type="none" w="med" len="med"/>
              <a:tailEnd type="none" w="med" len="med"/>
            </a:ln>
          </p:spPr>
        </p:sp>
        <p:sp>
          <p:nvSpPr>
            <p:cNvPr id="13335" name="Line 98"/>
            <p:cNvSpPr/>
            <p:nvPr/>
          </p:nvSpPr>
          <p:spPr>
            <a:xfrm>
              <a:off x="2626" y="1677"/>
              <a:ext cx="0" cy="226"/>
            </a:xfrm>
            <a:prstGeom prst="line">
              <a:avLst/>
            </a:prstGeom>
            <a:ln w="12700" cap="flat" cmpd="sng">
              <a:solidFill>
                <a:schemeClr val="accent2"/>
              </a:solidFill>
              <a:prstDash val="solid"/>
              <a:headEnd type="none" w="med" len="med"/>
              <a:tailEnd type="none" w="med" len="med"/>
            </a:ln>
          </p:spPr>
        </p:sp>
        <p:sp>
          <p:nvSpPr>
            <p:cNvPr id="13336" name="Rectangle 99"/>
            <p:cNvSpPr/>
            <p:nvPr/>
          </p:nvSpPr>
          <p:spPr>
            <a:xfrm>
              <a:off x="2600" y="2011"/>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37" name="Text Box 100"/>
            <p:cNvSpPr txBox="1"/>
            <p:nvPr/>
          </p:nvSpPr>
          <p:spPr>
            <a:xfrm>
              <a:off x="2652" y="2030"/>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3338" name="Line 101"/>
            <p:cNvSpPr/>
            <p:nvPr/>
          </p:nvSpPr>
          <p:spPr>
            <a:xfrm>
              <a:off x="2626" y="2346"/>
              <a:ext cx="0" cy="233"/>
            </a:xfrm>
            <a:prstGeom prst="line">
              <a:avLst/>
            </a:prstGeom>
            <a:ln w="12700" cap="flat" cmpd="sng">
              <a:solidFill>
                <a:schemeClr val="accent2"/>
              </a:solidFill>
              <a:prstDash val="solid"/>
              <a:headEnd type="none" w="med" len="med"/>
              <a:tailEnd type="none" w="med" len="med"/>
            </a:ln>
          </p:spPr>
        </p:sp>
        <p:sp>
          <p:nvSpPr>
            <p:cNvPr id="13339" name="Line 102"/>
            <p:cNvSpPr/>
            <p:nvPr/>
          </p:nvSpPr>
          <p:spPr>
            <a:xfrm>
              <a:off x="2626" y="2571"/>
              <a:ext cx="292" cy="0"/>
            </a:xfrm>
            <a:prstGeom prst="line">
              <a:avLst/>
            </a:prstGeom>
            <a:ln w="12700" cap="flat" cmpd="sng">
              <a:solidFill>
                <a:schemeClr val="accent2"/>
              </a:solidFill>
              <a:prstDash val="solid"/>
              <a:headEnd type="none" w="med" len="med"/>
              <a:tailEnd type="none" w="med" len="med"/>
            </a:ln>
          </p:spPr>
        </p:sp>
        <p:sp>
          <p:nvSpPr>
            <p:cNvPr id="13340" name="Line 103"/>
            <p:cNvSpPr/>
            <p:nvPr/>
          </p:nvSpPr>
          <p:spPr>
            <a:xfrm>
              <a:off x="2626" y="1903"/>
              <a:ext cx="501" cy="0"/>
            </a:xfrm>
            <a:prstGeom prst="line">
              <a:avLst/>
            </a:prstGeom>
            <a:ln w="12700" cap="flat" cmpd="sng">
              <a:solidFill>
                <a:schemeClr val="accent2"/>
              </a:solidFill>
              <a:prstDash val="solid"/>
              <a:headEnd type="none" w="med" len="med"/>
              <a:tailEnd type="none" w="med" len="med"/>
            </a:ln>
          </p:spPr>
        </p:sp>
        <p:sp>
          <p:nvSpPr>
            <p:cNvPr id="13341" name="Rectangle 104"/>
            <p:cNvSpPr/>
            <p:nvPr/>
          </p:nvSpPr>
          <p:spPr>
            <a:xfrm>
              <a:off x="3127" y="18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42" name="Text Box 105"/>
            <p:cNvSpPr txBox="1"/>
            <p:nvPr/>
          </p:nvSpPr>
          <p:spPr>
            <a:xfrm>
              <a:off x="3102" y="16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3343" name="Line 106"/>
            <p:cNvSpPr/>
            <p:nvPr/>
          </p:nvSpPr>
          <p:spPr>
            <a:xfrm>
              <a:off x="3311" y="1903"/>
              <a:ext cx="266" cy="0"/>
            </a:xfrm>
            <a:prstGeom prst="line">
              <a:avLst/>
            </a:prstGeom>
            <a:ln w="12700" cap="flat" cmpd="sng">
              <a:solidFill>
                <a:schemeClr val="accent2"/>
              </a:solidFill>
              <a:prstDash val="solid"/>
              <a:headEnd type="none" w="med" len="med"/>
              <a:tailEnd type="none" w="med" len="med"/>
            </a:ln>
          </p:spPr>
        </p:sp>
        <p:sp>
          <p:nvSpPr>
            <p:cNvPr id="13344" name="Line 107"/>
            <p:cNvSpPr/>
            <p:nvPr/>
          </p:nvSpPr>
          <p:spPr>
            <a:xfrm flipV="1">
              <a:off x="3577" y="1519"/>
              <a:ext cx="0" cy="384"/>
            </a:xfrm>
            <a:prstGeom prst="line">
              <a:avLst/>
            </a:prstGeom>
            <a:ln w="12700" cap="flat" cmpd="sng">
              <a:solidFill>
                <a:schemeClr val="accent2"/>
              </a:solidFill>
              <a:prstDash val="solid"/>
              <a:headEnd type="none" w="med" len="med"/>
              <a:tailEnd type="none" w="med" len="med"/>
            </a:ln>
          </p:spPr>
        </p:sp>
        <p:sp>
          <p:nvSpPr>
            <p:cNvPr id="13345" name="Line 108"/>
            <p:cNvSpPr/>
            <p:nvPr/>
          </p:nvSpPr>
          <p:spPr>
            <a:xfrm>
              <a:off x="2626" y="2346"/>
              <a:ext cx="509" cy="0"/>
            </a:xfrm>
            <a:prstGeom prst="line">
              <a:avLst/>
            </a:prstGeom>
            <a:ln w="12700" cap="flat" cmpd="sng">
              <a:solidFill>
                <a:schemeClr val="accent2"/>
              </a:solidFill>
              <a:prstDash val="solid"/>
              <a:headEnd type="none" w="med" len="med"/>
              <a:tailEnd type="none" w="med" len="med"/>
            </a:ln>
          </p:spPr>
        </p:sp>
        <p:sp>
          <p:nvSpPr>
            <p:cNvPr id="13346" name="Rectangle 109"/>
            <p:cNvSpPr/>
            <p:nvPr/>
          </p:nvSpPr>
          <p:spPr>
            <a:xfrm>
              <a:off x="3131" y="232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47" name="Text Box 110"/>
            <p:cNvSpPr txBox="1"/>
            <p:nvPr/>
          </p:nvSpPr>
          <p:spPr>
            <a:xfrm>
              <a:off x="3105" y="210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3348" name="Line 111"/>
            <p:cNvSpPr/>
            <p:nvPr/>
          </p:nvSpPr>
          <p:spPr>
            <a:xfrm>
              <a:off x="3319" y="2346"/>
              <a:ext cx="258" cy="0"/>
            </a:xfrm>
            <a:prstGeom prst="line">
              <a:avLst/>
            </a:prstGeom>
            <a:ln w="12700" cap="flat" cmpd="sng">
              <a:solidFill>
                <a:schemeClr val="accent2"/>
              </a:solidFill>
              <a:prstDash val="solid"/>
              <a:headEnd type="none" w="med" len="med"/>
              <a:tailEnd type="none" w="med" len="med"/>
            </a:ln>
          </p:spPr>
        </p:sp>
        <p:sp>
          <p:nvSpPr>
            <p:cNvPr id="13349" name="Line 112"/>
            <p:cNvSpPr/>
            <p:nvPr/>
          </p:nvSpPr>
          <p:spPr>
            <a:xfrm>
              <a:off x="3577" y="2346"/>
              <a:ext cx="0" cy="392"/>
            </a:xfrm>
            <a:prstGeom prst="line">
              <a:avLst/>
            </a:prstGeom>
            <a:ln w="12700" cap="flat" cmpd="sng">
              <a:solidFill>
                <a:schemeClr val="accent2"/>
              </a:solidFill>
              <a:prstDash val="solid"/>
              <a:headEnd type="none" w="med" len="med"/>
              <a:tailEnd type="none" w="med" len="med"/>
            </a:ln>
          </p:spPr>
        </p:sp>
        <p:sp>
          <p:nvSpPr>
            <p:cNvPr id="13350" name="Line 113"/>
            <p:cNvSpPr/>
            <p:nvPr/>
          </p:nvSpPr>
          <p:spPr>
            <a:xfrm>
              <a:off x="3410" y="1519"/>
              <a:ext cx="618" cy="0"/>
            </a:xfrm>
            <a:prstGeom prst="line">
              <a:avLst/>
            </a:prstGeom>
            <a:ln w="12700" cap="flat" cmpd="sng">
              <a:solidFill>
                <a:schemeClr val="accent2"/>
              </a:solidFill>
              <a:prstDash val="solid"/>
              <a:headEnd type="none" w="med" len="med"/>
              <a:tailEnd type="none" w="med" len="med"/>
            </a:ln>
          </p:spPr>
        </p:sp>
        <p:sp>
          <p:nvSpPr>
            <p:cNvPr id="13351" name="Rectangle 114"/>
            <p:cNvSpPr/>
            <p:nvPr/>
          </p:nvSpPr>
          <p:spPr>
            <a:xfrm>
              <a:off x="3863" y="149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52" name="Text Box 115"/>
            <p:cNvSpPr txBox="1"/>
            <p:nvPr/>
          </p:nvSpPr>
          <p:spPr>
            <a:xfrm>
              <a:off x="3828" y="126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3353" name="Line 116"/>
            <p:cNvSpPr/>
            <p:nvPr/>
          </p:nvSpPr>
          <p:spPr>
            <a:xfrm>
              <a:off x="4050" y="1519"/>
              <a:ext cx="209" cy="0"/>
            </a:xfrm>
            <a:prstGeom prst="line">
              <a:avLst/>
            </a:prstGeom>
            <a:ln w="12700" cap="flat" cmpd="sng">
              <a:solidFill>
                <a:schemeClr val="accent2"/>
              </a:solidFill>
              <a:prstDash val="solid"/>
              <a:headEnd type="none" w="med" len="med"/>
              <a:tailEnd type="none" w="med" len="med"/>
            </a:ln>
          </p:spPr>
        </p:sp>
        <p:sp>
          <p:nvSpPr>
            <p:cNvPr id="13354" name="Line 117"/>
            <p:cNvSpPr/>
            <p:nvPr/>
          </p:nvSpPr>
          <p:spPr>
            <a:xfrm>
              <a:off x="4259" y="1519"/>
              <a:ext cx="0" cy="284"/>
            </a:xfrm>
            <a:prstGeom prst="line">
              <a:avLst/>
            </a:prstGeom>
            <a:ln w="12700" cap="flat" cmpd="sng">
              <a:solidFill>
                <a:schemeClr val="accent2"/>
              </a:solidFill>
              <a:prstDash val="solid"/>
              <a:headEnd type="none" w="med" len="med"/>
              <a:tailEnd type="none" w="med" len="med"/>
            </a:ln>
          </p:spPr>
        </p:sp>
        <p:sp>
          <p:nvSpPr>
            <p:cNvPr id="13355" name="AutoShape 118"/>
            <p:cNvSpPr/>
            <p:nvPr/>
          </p:nvSpPr>
          <p:spPr>
            <a:xfrm rot="5400000">
              <a:off x="4413" y="1725"/>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56" name="Text Box 119"/>
            <p:cNvSpPr txBox="1"/>
            <p:nvPr/>
          </p:nvSpPr>
          <p:spPr>
            <a:xfrm>
              <a:off x="4421" y="1675"/>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3357" name="Text Box 120"/>
            <p:cNvSpPr txBox="1"/>
            <p:nvPr/>
          </p:nvSpPr>
          <p:spPr>
            <a:xfrm>
              <a:off x="4528" y="186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3358" name="Line 121"/>
            <p:cNvSpPr/>
            <p:nvPr/>
          </p:nvSpPr>
          <p:spPr>
            <a:xfrm>
              <a:off x="3403" y="2738"/>
              <a:ext cx="609" cy="0"/>
            </a:xfrm>
            <a:prstGeom prst="line">
              <a:avLst/>
            </a:prstGeom>
            <a:ln w="12700" cap="flat" cmpd="sng">
              <a:solidFill>
                <a:schemeClr val="accent2"/>
              </a:solidFill>
              <a:prstDash val="solid"/>
              <a:headEnd type="none" w="med" len="med"/>
              <a:tailEnd type="none" w="med" len="med"/>
            </a:ln>
          </p:spPr>
        </p:sp>
        <p:sp>
          <p:nvSpPr>
            <p:cNvPr id="13359" name="Rectangle 122"/>
            <p:cNvSpPr/>
            <p:nvPr/>
          </p:nvSpPr>
          <p:spPr>
            <a:xfrm>
              <a:off x="3851" y="2713"/>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60" name="Text Box 123"/>
            <p:cNvSpPr txBox="1"/>
            <p:nvPr/>
          </p:nvSpPr>
          <p:spPr>
            <a:xfrm>
              <a:off x="3815" y="2474"/>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3361" name="Line 124"/>
            <p:cNvSpPr/>
            <p:nvPr/>
          </p:nvSpPr>
          <p:spPr>
            <a:xfrm>
              <a:off x="4041" y="2738"/>
              <a:ext cx="209" cy="0"/>
            </a:xfrm>
            <a:prstGeom prst="line">
              <a:avLst/>
            </a:prstGeom>
            <a:ln w="12700" cap="flat" cmpd="sng">
              <a:solidFill>
                <a:schemeClr val="accent2"/>
              </a:solidFill>
              <a:prstDash val="solid"/>
              <a:headEnd type="none" w="med" len="med"/>
              <a:tailEnd type="none" w="med" len="med"/>
            </a:ln>
          </p:spPr>
        </p:sp>
        <p:sp>
          <p:nvSpPr>
            <p:cNvPr id="13362" name="Line 125"/>
            <p:cNvSpPr/>
            <p:nvPr/>
          </p:nvSpPr>
          <p:spPr>
            <a:xfrm flipV="1">
              <a:off x="4250" y="2120"/>
              <a:ext cx="0" cy="618"/>
            </a:xfrm>
            <a:prstGeom prst="line">
              <a:avLst/>
            </a:prstGeom>
            <a:ln w="12700" cap="flat" cmpd="sng">
              <a:solidFill>
                <a:schemeClr val="accent2"/>
              </a:solidFill>
              <a:prstDash val="solid"/>
              <a:headEnd type="none" w="med" len="med"/>
              <a:tailEnd type="none" w="med" len="med"/>
            </a:ln>
          </p:spPr>
        </p:sp>
        <p:sp>
          <p:nvSpPr>
            <p:cNvPr id="13363" name="Oval 126"/>
            <p:cNvSpPr/>
            <p:nvPr/>
          </p:nvSpPr>
          <p:spPr>
            <a:xfrm>
              <a:off x="5307" y="1945"/>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64" name="Text Box 127"/>
            <p:cNvSpPr txBox="1"/>
            <p:nvPr/>
          </p:nvSpPr>
          <p:spPr>
            <a:xfrm>
              <a:off x="5344" y="1853"/>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3365" name="Text Box 128"/>
            <p:cNvSpPr txBox="1"/>
            <p:nvPr/>
          </p:nvSpPr>
          <p:spPr>
            <a:xfrm>
              <a:off x="3448" y="1286"/>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3366" name="Oval 129"/>
            <p:cNvSpPr/>
            <p:nvPr/>
          </p:nvSpPr>
          <p:spPr>
            <a:xfrm>
              <a:off x="3558" y="149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67" name="Oval 130"/>
            <p:cNvSpPr/>
            <p:nvPr/>
          </p:nvSpPr>
          <p:spPr>
            <a:xfrm>
              <a:off x="2610" y="187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68" name="Oval 131"/>
            <p:cNvSpPr/>
            <p:nvPr/>
          </p:nvSpPr>
          <p:spPr>
            <a:xfrm>
              <a:off x="2600" y="23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69" name="Text Box 132"/>
            <p:cNvSpPr txBox="1"/>
            <p:nvPr/>
          </p:nvSpPr>
          <p:spPr>
            <a:xfrm>
              <a:off x="3469" y="277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3370" name="Oval 133"/>
            <p:cNvSpPr/>
            <p:nvPr/>
          </p:nvSpPr>
          <p:spPr>
            <a:xfrm>
              <a:off x="3553" y="27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71" name="Oval 134"/>
            <p:cNvSpPr/>
            <p:nvPr/>
          </p:nvSpPr>
          <p:spPr>
            <a:xfrm>
              <a:off x="5077" y="19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72" name="Line 135"/>
            <p:cNvSpPr/>
            <p:nvPr/>
          </p:nvSpPr>
          <p:spPr>
            <a:xfrm flipV="1">
              <a:off x="5102" y="1511"/>
              <a:ext cx="0" cy="459"/>
            </a:xfrm>
            <a:prstGeom prst="line">
              <a:avLst/>
            </a:prstGeom>
            <a:ln w="12700" cap="flat" cmpd="sng">
              <a:solidFill>
                <a:schemeClr val="accent2"/>
              </a:solidFill>
              <a:prstDash val="solid"/>
              <a:headEnd type="none" w="med" len="med"/>
              <a:tailEnd type="none" w="med" len="med"/>
            </a:ln>
          </p:spPr>
        </p:sp>
        <p:sp>
          <p:nvSpPr>
            <p:cNvPr id="13373" name="Line 136"/>
            <p:cNvSpPr/>
            <p:nvPr/>
          </p:nvSpPr>
          <p:spPr>
            <a:xfrm flipH="1">
              <a:off x="4759" y="1511"/>
              <a:ext cx="343" cy="0"/>
            </a:xfrm>
            <a:prstGeom prst="line">
              <a:avLst/>
            </a:prstGeom>
            <a:ln w="12700" cap="flat" cmpd="sng">
              <a:solidFill>
                <a:schemeClr val="accent2"/>
              </a:solidFill>
              <a:prstDash val="solid"/>
              <a:headEnd type="none" w="med" len="med"/>
              <a:tailEnd type="none" w="med" len="med"/>
            </a:ln>
          </p:spPr>
        </p:sp>
        <p:sp>
          <p:nvSpPr>
            <p:cNvPr id="13374" name="Rectangle 137"/>
            <p:cNvSpPr/>
            <p:nvPr/>
          </p:nvSpPr>
          <p:spPr>
            <a:xfrm>
              <a:off x="4581" y="148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75" name="Text Box 138"/>
            <p:cNvSpPr txBox="1"/>
            <p:nvPr/>
          </p:nvSpPr>
          <p:spPr>
            <a:xfrm>
              <a:off x="4551" y="12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3376" name="Line 139"/>
            <p:cNvSpPr/>
            <p:nvPr/>
          </p:nvSpPr>
          <p:spPr>
            <a:xfrm flipH="1">
              <a:off x="4259" y="1519"/>
              <a:ext cx="317" cy="0"/>
            </a:xfrm>
            <a:prstGeom prst="line">
              <a:avLst/>
            </a:prstGeom>
            <a:ln w="12700" cap="flat" cmpd="sng">
              <a:solidFill>
                <a:schemeClr val="accent2"/>
              </a:solidFill>
              <a:prstDash val="solid"/>
              <a:headEnd type="none" w="med" len="med"/>
              <a:tailEnd type="none" w="med" len="med"/>
            </a:ln>
          </p:spPr>
        </p:sp>
        <p:sp>
          <p:nvSpPr>
            <p:cNvPr id="13377" name="Oval 140"/>
            <p:cNvSpPr/>
            <p:nvPr/>
          </p:nvSpPr>
          <p:spPr>
            <a:xfrm>
              <a:off x="4234" y="149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78" name="Line 141"/>
            <p:cNvSpPr/>
            <p:nvPr/>
          </p:nvSpPr>
          <p:spPr>
            <a:xfrm>
              <a:off x="4250" y="2738"/>
              <a:ext cx="334" cy="0"/>
            </a:xfrm>
            <a:prstGeom prst="line">
              <a:avLst/>
            </a:prstGeom>
            <a:ln w="12700" cap="flat" cmpd="sng">
              <a:solidFill>
                <a:schemeClr val="accent2"/>
              </a:solidFill>
              <a:prstDash val="solid"/>
              <a:headEnd type="none" w="med" len="med"/>
              <a:tailEnd type="none" w="med" len="med"/>
            </a:ln>
          </p:spPr>
        </p:sp>
        <p:sp>
          <p:nvSpPr>
            <p:cNvPr id="13379" name="Rectangle 142"/>
            <p:cNvSpPr/>
            <p:nvPr/>
          </p:nvSpPr>
          <p:spPr>
            <a:xfrm>
              <a:off x="4585" y="271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80" name="Text Box 143"/>
            <p:cNvSpPr txBox="1"/>
            <p:nvPr/>
          </p:nvSpPr>
          <p:spPr>
            <a:xfrm>
              <a:off x="4555" y="250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3381" name="Line 144"/>
            <p:cNvSpPr/>
            <p:nvPr/>
          </p:nvSpPr>
          <p:spPr>
            <a:xfrm>
              <a:off x="4768" y="2738"/>
              <a:ext cx="367" cy="0"/>
            </a:xfrm>
            <a:prstGeom prst="line">
              <a:avLst/>
            </a:prstGeom>
            <a:ln w="12700" cap="flat" cmpd="sng">
              <a:solidFill>
                <a:schemeClr val="accent2"/>
              </a:solidFill>
              <a:prstDash val="solid"/>
              <a:headEnd type="none" w="med" len="med"/>
              <a:tailEnd type="none" w="med" len="med"/>
            </a:ln>
          </p:spPr>
        </p:sp>
        <p:sp>
          <p:nvSpPr>
            <p:cNvPr id="13382" name="Line 145"/>
            <p:cNvSpPr/>
            <p:nvPr/>
          </p:nvSpPr>
          <p:spPr>
            <a:xfrm>
              <a:off x="5135" y="2738"/>
              <a:ext cx="0" cy="167"/>
            </a:xfrm>
            <a:prstGeom prst="line">
              <a:avLst/>
            </a:prstGeom>
            <a:ln w="12700" cap="flat" cmpd="sng">
              <a:solidFill>
                <a:schemeClr val="accent2"/>
              </a:solidFill>
              <a:prstDash val="solid"/>
              <a:headEnd type="none" w="med" len="med"/>
              <a:tailEnd type="none" w="med" len="med"/>
            </a:ln>
          </p:spPr>
        </p:sp>
        <p:sp>
          <p:nvSpPr>
            <p:cNvPr id="13383" name="Line 146"/>
            <p:cNvSpPr/>
            <p:nvPr/>
          </p:nvSpPr>
          <p:spPr>
            <a:xfrm>
              <a:off x="5052" y="2905"/>
              <a:ext cx="167" cy="0"/>
            </a:xfrm>
            <a:prstGeom prst="line">
              <a:avLst/>
            </a:prstGeom>
            <a:ln w="28575" cap="flat" cmpd="sng">
              <a:solidFill>
                <a:schemeClr val="accent2"/>
              </a:solidFill>
              <a:prstDash val="solid"/>
              <a:headEnd type="none" w="med" len="med"/>
              <a:tailEnd type="none" w="med" len="med"/>
            </a:ln>
          </p:spPr>
        </p:sp>
        <p:sp>
          <p:nvSpPr>
            <p:cNvPr id="13384" name="Text Box 147"/>
            <p:cNvSpPr txBox="1"/>
            <p:nvPr/>
          </p:nvSpPr>
          <p:spPr>
            <a:xfrm>
              <a:off x="3014" y="3164"/>
              <a:ext cx="1853"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测量放大器原理电路</a:t>
              </a:r>
              <a:endParaRPr lang="zh-CN" altLang="en-US" sz="2400" b="1" dirty="0">
                <a:solidFill>
                  <a:srgbClr val="000099"/>
                </a:solidFill>
                <a:latin typeface="Times New Roman" panose="02020603050405020304" pitchFamily="18" charset="0"/>
              </a:endParaRPr>
            </a:p>
          </p:txBody>
        </p:sp>
        <p:sp>
          <p:nvSpPr>
            <p:cNvPr id="13385" name="Line 148"/>
            <p:cNvSpPr/>
            <p:nvPr/>
          </p:nvSpPr>
          <p:spPr>
            <a:xfrm>
              <a:off x="2517" y="1862"/>
              <a:ext cx="0" cy="434"/>
            </a:xfrm>
            <a:prstGeom prst="line">
              <a:avLst/>
            </a:prstGeom>
            <a:ln w="9525" cap="flat" cmpd="sng">
              <a:solidFill>
                <a:schemeClr val="accent2"/>
              </a:solidFill>
              <a:prstDash val="solid"/>
              <a:headEnd type="none" w="med" len="med"/>
              <a:tailEnd type="triangle" w="sm" len="lg"/>
            </a:ln>
          </p:spPr>
        </p:sp>
        <p:sp>
          <p:nvSpPr>
            <p:cNvPr id="13386" name="Text Box 149"/>
            <p:cNvSpPr txBox="1"/>
            <p:nvPr/>
          </p:nvSpPr>
          <p:spPr>
            <a:xfrm>
              <a:off x="2282" y="1993"/>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3387" name="Line 150"/>
            <p:cNvSpPr/>
            <p:nvPr/>
          </p:nvSpPr>
          <p:spPr>
            <a:xfrm>
              <a:off x="2626" y="1879"/>
              <a:ext cx="0" cy="133"/>
            </a:xfrm>
            <a:prstGeom prst="line">
              <a:avLst/>
            </a:prstGeom>
            <a:ln w="12700" cap="flat" cmpd="sng">
              <a:solidFill>
                <a:schemeClr val="accent2"/>
              </a:solidFill>
              <a:prstDash val="solid"/>
              <a:headEnd type="none" w="med" len="med"/>
              <a:tailEnd type="none" w="med" len="med"/>
            </a:ln>
          </p:spPr>
        </p:sp>
        <p:sp>
          <p:nvSpPr>
            <p:cNvPr id="13388" name="Line 151"/>
            <p:cNvSpPr/>
            <p:nvPr/>
          </p:nvSpPr>
          <p:spPr>
            <a:xfrm flipV="1">
              <a:off x="2626" y="2230"/>
              <a:ext cx="0" cy="116"/>
            </a:xfrm>
            <a:prstGeom prst="line">
              <a:avLst/>
            </a:prstGeom>
            <a:ln w="12700" cap="flat" cmpd="sng">
              <a:solidFill>
                <a:schemeClr val="accent2"/>
              </a:solidFill>
              <a:prstDash val="solid"/>
              <a:headEnd type="none" w="med" len="med"/>
              <a:tailEnd type="none" w="med" len="med"/>
            </a:ln>
          </p:spPr>
        </p:sp>
        <p:sp>
          <p:nvSpPr>
            <p:cNvPr id="13389" name="Oval 152"/>
            <p:cNvSpPr/>
            <p:nvPr/>
          </p:nvSpPr>
          <p:spPr>
            <a:xfrm>
              <a:off x="4230" y="271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3390" name="Line 153"/>
            <p:cNvSpPr/>
            <p:nvPr/>
          </p:nvSpPr>
          <p:spPr>
            <a:xfrm>
              <a:off x="4251" y="2121"/>
              <a:ext cx="192" cy="0"/>
            </a:xfrm>
            <a:prstGeom prst="line">
              <a:avLst/>
            </a:prstGeom>
            <a:ln w="12700" cap="flat" cmpd="sng">
              <a:solidFill>
                <a:schemeClr val="accent2"/>
              </a:solidFill>
              <a:prstDash val="solid"/>
              <a:headEnd type="none" w="med" len="med"/>
              <a:tailEnd type="none" w="med" len="med"/>
            </a:ln>
          </p:spPr>
        </p:sp>
        <p:sp>
          <p:nvSpPr>
            <p:cNvPr id="13391" name="Line 154"/>
            <p:cNvSpPr/>
            <p:nvPr/>
          </p:nvSpPr>
          <p:spPr>
            <a:xfrm>
              <a:off x="4259" y="1803"/>
              <a:ext cx="192" cy="0"/>
            </a:xfrm>
            <a:prstGeom prst="line">
              <a:avLst/>
            </a:prstGeom>
            <a:ln w="12700" cap="flat" cmpd="sng">
              <a:solidFill>
                <a:schemeClr val="accent2"/>
              </a:solidFill>
              <a:prstDash val="solid"/>
              <a:headEnd type="none" w="med" len="med"/>
              <a:tailEnd type="none" w="med" len="med"/>
            </a:ln>
          </p:spPr>
        </p:sp>
        <p:sp>
          <p:nvSpPr>
            <p:cNvPr id="13392" name="Line 155"/>
            <p:cNvSpPr/>
            <p:nvPr/>
          </p:nvSpPr>
          <p:spPr>
            <a:xfrm>
              <a:off x="2516" y="1353"/>
              <a:ext cx="410" cy="0"/>
            </a:xfrm>
            <a:prstGeom prst="line">
              <a:avLst/>
            </a:prstGeom>
            <a:ln w="12700" cap="flat" cmpd="sng">
              <a:solidFill>
                <a:schemeClr val="accent2"/>
              </a:solidFill>
              <a:prstDash val="solid"/>
              <a:headEnd type="none" w="med" len="med"/>
              <a:tailEnd type="none" w="med" len="med"/>
            </a:ln>
          </p:spPr>
        </p:sp>
        <p:sp>
          <p:nvSpPr>
            <p:cNvPr id="13393" name="Line 156"/>
            <p:cNvSpPr/>
            <p:nvPr/>
          </p:nvSpPr>
          <p:spPr>
            <a:xfrm>
              <a:off x="2513" y="2905"/>
              <a:ext cx="413" cy="0"/>
            </a:xfrm>
            <a:prstGeom prst="line">
              <a:avLst/>
            </a:prstGeom>
            <a:ln w="12700" cap="flat" cmpd="sng">
              <a:solidFill>
                <a:schemeClr val="accent2"/>
              </a:solidFill>
              <a:prstDash val="solid"/>
              <a:headEnd type="none" w="med" len="med"/>
              <a:tailEnd type="none" w="med" len="med"/>
            </a:ln>
          </p:spPr>
        </p:sp>
        <p:sp>
          <p:nvSpPr>
            <p:cNvPr id="13394" name="Text Box 157"/>
            <p:cNvSpPr txBox="1"/>
            <p:nvPr/>
          </p:nvSpPr>
          <p:spPr>
            <a:xfrm>
              <a:off x="4127" y="1283"/>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94188"/>
                                        </p:tgtEl>
                                        <p:attrNameLst>
                                          <p:attrName>style.visibility</p:attrName>
                                        </p:attrNameLst>
                                      </p:cBhvr>
                                      <p:to>
                                        <p:strVal val="visible"/>
                                      </p:to>
                                    </p:set>
                                    <p:animEffect transition="in" filter="dissolve">
                                      <p:cBhvr>
                                        <p:cTn id="7" dur="500"/>
                                        <p:tgtEl>
                                          <p:spTgt spid="23941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4191"/>
                                        </p:tgtEl>
                                        <p:attrNameLst>
                                          <p:attrName>style.visibility</p:attrName>
                                        </p:attrNameLst>
                                      </p:cBhvr>
                                      <p:to>
                                        <p:strVal val="visible"/>
                                      </p:to>
                                    </p:set>
                                    <p:animEffect transition="in" filter="dissolve">
                                      <p:cBhvr>
                                        <p:cTn id="17" dur="500"/>
                                        <p:tgtEl>
                                          <p:spTgt spid="23941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94195"/>
                                        </p:tgtEl>
                                        <p:attrNameLst>
                                          <p:attrName>style.visibility</p:attrName>
                                        </p:attrNameLst>
                                      </p:cBhvr>
                                      <p:to>
                                        <p:strVal val="visible"/>
                                      </p:to>
                                    </p:set>
                                    <p:animEffect transition="in" filter="dissolve">
                                      <p:cBhvr>
                                        <p:cTn id="22" dur="500"/>
                                        <p:tgtEl>
                                          <p:spTgt spid="2394195"/>
                                        </p:tgtEl>
                                      </p:cBhvr>
                                    </p:animEffect>
                                  </p:childTnLst>
                                </p:cTn>
                              </p:par>
                              <p:par>
                                <p:cTn id="23" presetID="9" presetClass="entr" presetSubtype="0" fill="hold" nodeType="withEffect">
                                  <p:stCondLst>
                                    <p:cond delay="0"/>
                                  </p:stCondLst>
                                  <p:childTnLst>
                                    <p:set>
                                      <p:cBhvr>
                                        <p:cTn id="24" dur="1" fill="hold">
                                          <p:stCondLst>
                                            <p:cond delay="0"/>
                                          </p:stCondLst>
                                        </p:cTn>
                                        <p:tgtEl>
                                          <p:spTgt spid="2394192"/>
                                        </p:tgtEl>
                                        <p:attrNameLst>
                                          <p:attrName>style.visibility</p:attrName>
                                        </p:attrNameLst>
                                      </p:cBhvr>
                                      <p:to>
                                        <p:strVal val="visible"/>
                                      </p:to>
                                    </p:set>
                                    <p:animEffect transition="in" filter="dissolve">
                                      <p:cBhvr>
                                        <p:cTn id="25" dur="500"/>
                                        <p:tgtEl>
                                          <p:spTgt spid="239419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94193"/>
                                        </p:tgtEl>
                                        <p:attrNameLst>
                                          <p:attrName>style.visibility</p:attrName>
                                        </p:attrNameLst>
                                      </p:cBhvr>
                                      <p:to>
                                        <p:strVal val="visible"/>
                                      </p:to>
                                    </p:set>
                                    <p:animEffect transition="in" filter="dissolve">
                                      <p:cBhvr>
                                        <p:cTn id="30" dur="500"/>
                                        <p:tgtEl>
                                          <p:spTgt spid="239419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394194"/>
                                        </p:tgtEl>
                                        <p:attrNameLst>
                                          <p:attrName>style.visibility</p:attrName>
                                        </p:attrNameLst>
                                      </p:cBhvr>
                                      <p:to>
                                        <p:strVal val="visible"/>
                                      </p:to>
                                    </p:set>
                                    <p:animEffect transition="in" filter="dissolve">
                                      <p:cBhvr>
                                        <p:cTn id="35" dur="500"/>
                                        <p:tgtEl>
                                          <p:spTgt spid="2394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4195" grpId="0" bldLvl="0" animBg="1"/>
      <p:bldP spid="2394188" grpId="0" bldLvl="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338" name="Rectangle 2"/>
          <p:cNvSpPr/>
          <p:nvPr/>
        </p:nvSpPr>
        <p:spPr>
          <a:xfrm>
            <a:off x="179388" y="3249613"/>
            <a:ext cx="3189287" cy="2951162"/>
          </a:xfrm>
          <a:prstGeom prst="rect">
            <a:avLst/>
          </a:prstGeom>
          <a:solidFill>
            <a:srgbClr val="CCFFFF"/>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95139" name="Text Box 3"/>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4340" name="Text Box 77"/>
          <p:cNvSpPr txBox="1"/>
          <p:nvPr/>
        </p:nvSpPr>
        <p:spPr>
          <a:xfrm>
            <a:off x="215900" y="728663"/>
            <a:ext cx="4383088"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测量放大器的增益</a:t>
            </a:r>
            <a:endParaRPr lang="zh-CN" altLang="en-US" sz="3600" b="1" dirty="0">
              <a:solidFill>
                <a:srgbClr val="333399"/>
              </a:solidFill>
              <a:latin typeface="Times New Roman" panose="02020603050405020304" pitchFamily="18" charset="0"/>
            </a:endParaRPr>
          </a:p>
        </p:txBody>
      </p:sp>
      <p:graphicFrame>
        <p:nvGraphicFramePr>
          <p:cNvPr id="14341" name="Object 78"/>
          <p:cNvGraphicFramePr>
            <a:graphicFrameLocks noChangeAspect="1"/>
          </p:cNvGraphicFramePr>
          <p:nvPr/>
        </p:nvGraphicFramePr>
        <p:xfrm>
          <a:off x="287338" y="1341438"/>
          <a:ext cx="3117850" cy="1828800"/>
        </p:xfrm>
        <a:graphic>
          <a:graphicData uri="http://schemas.openxmlformats.org/presentationml/2006/ole">
            <mc:AlternateContent xmlns:mc="http://schemas.openxmlformats.org/markup-compatibility/2006">
              <mc:Choice xmlns:v="urn:schemas-microsoft-com:vml" Requires="v">
                <p:oleObj spid="_x0000_s3080" name="" r:id="rId1" imgW="1397000" imgH="889000" progId="Equation.3">
                  <p:embed/>
                </p:oleObj>
              </mc:Choice>
              <mc:Fallback>
                <p:oleObj name="" r:id="rId1" imgW="1397000" imgH="889000" progId="Equation.3">
                  <p:embed/>
                  <p:pic>
                    <p:nvPicPr>
                      <p:cNvPr id="0" name="图片 3079"/>
                      <p:cNvPicPr/>
                      <p:nvPr/>
                    </p:nvPicPr>
                    <p:blipFill>
                      <a:blip r:embed="rId2"/>
                      <a:stretch>
                        <a:fillRect/>
                      </a:stretch>
                    </p:blipFill>
                    <p:spPr>
                      <a:xfrm>
                        <a:off x="287338" y="1341438"/>
                        <a:ext cx="3117850" cy="1828800"/>
                      </a:xfrm>
                      <a:prstGeom prst="rect">
                        <a:avLst/>
                      </a:prstGeom>
                      <a:solidFill>
                        <a:schemeClr val="bg1"/>
                      </a:solidFill>
                      <a:ln w="38100">
                        <a:noFill/>
                        <a:miter/>
                      </a:ln>
                    </p:spPr>
                  </p:pic>
                </p:oleObj>
              </mc:Fallback>
            </mc:AlternateContent>
          </a:graphicData>
        </a:graphic>
      </p:graphicFrame>
      <p:graphicFrame>
        <p:nvGraphicFramePr>
          <p:cNvPr id="2395218" name="Object 82"/>
          <p:cNvGraphicFramePr>
            <a:graphicFrameLocks noChangeAspect="1"/>
          </p:cNvGraphicFramePr>
          <p:nvPr/>
        </p:nvGraphicFramePr>
        <p:xfrm>
          <a:off x="179388" y="3349625"/>
          <a:ext cx="3189287" cy="890588"/>
        </p:xfrm>
        <a:graphic>
          <a:graphicData uri="http://schemas.openxmlformats.org/presentationml/2006/ole">
            <mc:AlternateContent xmlns:mc="http://schemas.openxmlformats.org/markup-compatibility/2006">
              <mc:Choice xmlns:v="urn:schemas-microsoft-com:vml" Requires="v">
                <p:oleObj spid="_x0000_s3081" name="" r:id="rId3" imgW="1524000" imgH="431800" progId="Equation.3">
                  <p:embed/>
                </p:oleObj>
              </mc:Choice>
              <mc:Fallback>
                <p:oleObj name="" r:id="rId3" imgW="1524000" imgH="431800" progId="Equation.3">
                  <p:embed/>
                  <p:pic>
                    <p:nvPicPr>
                      <p:cNvPr id="0" name="图片 3080"/>
                      <p:cNvPicPr/>
                      <p:nvPr/>
                    </p:nvPicPr>
                    <p:blipFill>
                      <a:blip r:embed="rId4"/>
                      <a:stretch>
                        <a:fillRect/>
                      </a:stretch>
                    </p:blipFill>
                    <p:spPr>
                      <a:xfrm>
                        <a:off x="179388" y="3349625"/>
                        <a:ext cx="3189287" cy="890588"/>
                      </a:xfrm>
                      <a:prstGeom prst="rect">
                        <a:avLst/>
                      </a:prstGeom>
                      <a:solidFill>
                        <a:srgbClr val="CCFFFF"/>
                      </a:solidFill>
                      <a:ln w="38100">
                        <a:noFill/>
                        <a:miter/>
                      </a:ln>
                    </p:spPr>
                  </p:pic>
                </p:oleObj>
              </mc:Fallback>
            </mc:AlternateContent>
          </a:graphicData>
        </a:graphic>
      </p:graphicFrame>
      <p:grpSp>
        <p:nvGrpSpPr>
          <p:cNvPr id="14343" name="Group 83"/>
          <p:cNvGrpSpPr/>
          <p:nvPr/>
        </p:nvGrpSpPr>
        <p:grpSpPr>
          <a:xfrm>
            <a:off x="3478213" y="1376363"/>
            <a:ext cx="5486400" cy="3708400"/>
            <a:chOff x="2191" y="1139"/>
            <a:chExt cx="3456" cy="2336"/>
          </a:xfrm>
        </p:grpSpPr>
        <p:sp>
          <p:nvSpPr>
            <p:cNvPr id="14348" name="Rectangle 84"/>
            <p:cNvSpPr/>
            <p:nvPr/>
          </p:nvSpPr>
          <p:spPr>
            <a:xfrm>
              <a:off x="2191" y="1139"/>
              <a:ext cx="3456"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49" name="Line 85"/>
            <p:cNvSpPr/>
            <p:nvPr/>
          </p:nvSpPr>
          <p:spPr>
            <a:xfrm>
              <a:off x="4826" y="1970"/>
              <a:ext cx="485" cy="0"/>
            </a:xfrm>
            <a:prstGeom prst="line">
              <a:avLst/>
            </a:prstGeom>
            <a:ln w="12700" cap="flat" cmpd="sng">
              <a:solidFill>
                <a:schemeClr val="accent2"/>
              </a:solidFill>
              <a:prstDash val="solid"/>
              <a:headEnd type="none" w="med" len="med"/>
              <a:tailEnd type="none" w="med" len="med"/>
            </a:ln>
          </p:spPr>
        </p:sp>
        <p:sp>
          <p:nvSpPr>
            <p:cNvPr id="14350" name="Oval 86"/>
            <p:cNvSpPr/>
            <p:nvPr/>
          </p:nvSpPr>
          <p:spPr>
            <a:xfrm>
              <a:off x="2466" y="132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51" name="Text Box 87"/>
            <p:cNvSpPr txBox="1"/>
            <p:nvPr/>
          </p:nvSpPr>
          <p:spPr>
            <a:xfrm>
              <a:off x="2191" y="123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4352" name="Text Box 88"/>
            <p:cNvSpPr txBox="1"/>
            <p:nvPr/>
          </p:nvSpPr>
          <p:spPr>
            <a:xfrm>
              <a:off x="2195" y="2774"/>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4353" name="Oval 89"/>
            <p:cNvSpPr/>
            <p:nvPr/>
          </p:nvSpPr>
          <p:spPr>
            <a:xfrm>
              <a:off x="2469" y="2877"/>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54" name="AutoShape 90"/>
            <p:cNvSpPr/>
            <p:nvPr/>
          </p:nvSpPr>
          <p:spPr>
            <a:xfrm rot="5400000">
              <a:off x="2893" y="1270"/>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55" name="Text Box 91"/>
            <p:cNvSpPr txBox="1"/>
            <p:nvPr/>
          </p:nvSpPr>
          <p:spPr>
            <a:xfrm>
              <a:off x="2901" y="1262"/>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4356" name="Text Box 92"/>
            <p:cNvSpPr txBox="1"/>
            <p:nvPr/>
          </p:nvSpPr>
          <p:spPr>
            <a:xfrm>
              <a:off x="2999" y="1416"/>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4357" name="AutoShape 93"/>
            <p:cNvSpPr/>
            <p:nvPr/>
          </p:nvSpPr>
          <p:spPr>
            <a:xfrm rot="5400000">
              <a:off x="2889" y="249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58" name="Text Box 94"/>
            <p:cNvSpPr txBox="1"/>
            <p:nvPr/>
          </p:nvSpPr>
          <p:spPr>
            <a:xfrm>
              <a:off x="2897" y="2485"/>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4359" name="Text Box 95"/>
            <p:cNvSpPr txBox="1"/>
            <p:nvPr/>
          </p:nvSpPr>
          <p:spPr>
            <a:xfrm>
              <a:off x="2995" y="2639"/>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4360" name="Line 96"/>
            <p:cNvSpPr/>
            <p:nvPr/>
          </p:nvSpPr>
          <p:spPr>
            <a:xfrm flipH="1">
              <a:off x="2626" y="1678"/>
              <a:ext cx="300" cy="0"/>
            </a:xfrm>
            <a:prstGeom prst="line">
              <a:avLst/>
            </a:prstGeom>
            <a:ln w="12700" cap="flat" cmpd="sng">
              <a:solidFill>
                <a:schemeClr val="accent2"/>
              </a:solidFill>
              <a:prstDash val="solid"/>
              <a:headEnd type="none" w="med" len="med"/>
              <a:tailEnd type="none" w="med" len="med"/>
            </a:ln>
          </p:spPr>
        </p:sp>
        <p:sp>
          <p:nvSpPr>
            <p:cNvPr id="14361" name="Line 97"/>
            <p:cNvSpPr/>
            <p:nvPr/>
          </p:nvSpPr>
          <p:spPr>
            <a:xfrm>
              <a:off x="2626" y="1677"/>
              <a:ext cx="0" cy="226"/>
            </a:xfrm>
            <a:prstGeom prst="line">
              <a:avLst/>
            </a:prstGeom>
            <a:ln w="12700" cap="flat" cmpd="sng">
              <a:solidFill>
                <a:schemeClr val="accent2"/>
              </a:solidFill>
              <a:prstDash val="solid"/>
              <a:headEnd type="none" w="med" len="med"/>
              <a:tailEnd type="none" w="med" len="med"/>
            </a:ln>
          </p:spPr>
        </p:sp>
        <p:sp>
          <p:nvSpPr>
            <p:cNvPr id="14362" name="Rectangle 98"/>
            <p:cNvSpPr/>
            <p:nvPr/>
          </p:nvSpPr>
          <p:spPr>
            <a:xfrm>
              <a:off x="2600" y="2011"/>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63" name="Text Box 99"/>
            <p:cNvSpPr txBox="1"/>
            <p:nvPr/>
          </p:nvSpPr>
          <p:spPr>
            <a:xfrm>
              <a:off x="2652" y="2030"/>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4364" name="Line 100"/>
            <p:cNvSpPr/>
            <p:nvPr/>
          </p:nvSpPr>
          <p:spPr>
            <a:xfrm>
              <a:off x="2626" y="2346"/>
              <a:ext cx="0" cy="233"/>
            </a:xfrm>
            <a:prstGeom prst="line">
              <a:avLst/>
            </a:prstGeom>
            <a:ln w="12700" cap="flat" cmpd="sng">
              <a:solidFill>
                <a:schemeClr val="accent2"/>
              </a:solidFill>
              <a:prstDash val="solid"/>
              <a:headEnd type="none" w="med" len="med"/>
              <a:tailEnd type="none" w="med" len="med"/>
            </a:ln>
          </p:spPr>
        </p:sp>
        <p:sp>
          <p:nvSpPr>
            <p:cNvPr id="14365" name="Line 101"/>
            <p:cNvSpPr/>
            <p:nvPr/>
          </p:nvSpPr>
          <p:spPr>
            <a:xfrm>
              <a:off x="2626" y="2571"/>
              <a:ext cx="292" cy="0"/>
            </a:xfrm>
            <a:prstGeom prst="line">
              <a:avLst/>
            </a:prstGeom>
            <a:ln w="12700" cap="flat" cmpd="sng">
              <a:solidFill>
                <a:schemeClr val="accent2"/>
              </a:solidFill>
              <a:prstDash val="solid"/>
              <a:headEnd type="none" w="med" len="med"/>
              <a:tailEnd type="none" w="med" len="med"/>
            </a:ln>
          </p:spPr>
        </p:sp>
        <p:sp>
          <p:nvSpPr>
            <p:cNvPr id="14366" name="Line 102"/>
            <p:cNvSpPr/>
            <p:nvPr/>
          </p:nvSpPr>
          <p:spPr>
            <a:xfrm>
              <a:off x="2626" y="1903"/>
              <a:ext cx="501" cy="0"/>
            </a:xfrm>
            <a:prstGeom prst="line">
              <a:avLst/>
            </a:prstGeom>
            <a:ln w="12700" cap="flat" cmpd="sng">
              <a:solidFill>
                <a:schemeClr val="accent2"/>
              </a:solidFill>
              <a:prstDash val="solid"/>
              <a:headEnd type="none" w="med" len="med"/>
              <a:tailEnd type="none" w="med" len="med"/>
            </a:ln>
          </p:spPr>
        </p:sp>
        <p:sp>
          <p:nvSpPr>
            <p:cNvPr id="14367" name="Rectangle 103"/>
            <p:cNvSpPr/>
            <p:nvPr/>
          </p:nvSpPr>
          <p:spPr>
            <a:xfrm>
              <a:off x="3127" y="18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68" name="Text Box 104"/>
            <p:cNvSpPr txBox="1"/>
            <p:nvPr/>
          </p:nvSpPr>
          <p:spPr>
            <a:xfrm>
              <a:off x="3102" y="16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4369" name="Line 105"/>
            <p:cNvSpPr/>
            <p:nvPr/>
          </p:nvSpPr>
          <p:spPr>
            <a:xfrm>
              <a:off x="3311" y="1903"/>
              <a:ext cx="266" cy="0"/>
            </a:xfrm>
            <a:prstGeom prst="line">
              <a:avLst/>
            </a:prstGeom>
            <a:ln w="12700" cap="flat" cmpd="sng">
              <a:solidFill>
                <a:schemeClr val="accent2"/>
              </a:solidFill>
              <a:prstDash val="solid"/>
              <a:headEnd type="none" w="med" len="med"/>
              <a:tailEnd type="none" w="med" len="med"/>
            </a:ln>
          </p:spPr>
        </p:sp>
        <p:sp>
          <p:nvSpPr>
            <p:cNvPr id="14370" name="Line 106"/>
            <p:cNvSpPr/>
            <p:nvPr/>
          </p:nvSpPr>
          <p:spPr>
            <a:xfrm flipV="1">
              <a:off x="3577" y="1519"/>
              <a:ext cx="0" cy="384"/>
            </a:xfrm>
            <a:prstGeom prst="line">
              <a:avLst/>
            </a:prstGeom>
            <a:ln w="12700" cap="flat" cmpd="sng">
              <a:solidFill>
                <a:schemeClr val="accent2"/>
              </a:solidFill>
              <a:prstDash val="solid"/>
              <a:headEnd type="none" w="med" len="med"/>
              <a:tailEnd type="none" w="med" len="med"/>
            </a:ln>
          </p:spPr>
        </p:sp>
        <p:sp>
          <p:nvSpPr>
            <p:cNvPr id="14371" name="Line 107"/>
            <p:cNvSpPr/>
            <p:nvPr/>
          </p:nvSpPr>
          <p:spPr>
            <a:xfrm>
              <a:off x="2626" y="2346"/>
              <a:ext cx="509" cy="0"/>
            </a:xfrm>
            <a:prstGeom prst="line">
              <a:avLst/>
            </a:prstGeom>
            <a:ln w="12700" cap="flat" cmpd="sng">
              <a:solidFill>
                <a:schemeClr val="accent2"/>
              </a:solidFill>
              <a:prstDash val="solid"/>
              <a:headEnd type="none" w="med" len="med"/>
              <a:tailEnd type="none" w="med" len="med"/>
            </a:ln>
          </p:spPr>
        </p:sp>
        <p:sp>
          <p:nvSpPr>
            <p:cNvPr id="14372" name="Rectangle 108"/>
            <p:cNvSpPr/>
            <p:nvPr/>
          </p:nvSpPr>
          <p:spPr>
            <a:xfrm>
              <a:off x="3131" y="232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73" name="Text Box 109"/>
            <p:cNvSpPr txBox="1"/>
            <p:nvPr/>
          </p:nvSpPr>
          <p:spPr>
            <a:xfrm>
              <a:off x="3105" y="210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4374" name="Line 110"/>
            <p:cNvSpPr/>
            <p:nvPr/>
          </p:nvSpPr>
          <p:spPr>
            <a:xfrm>
              <a:off x="3319" y="2346"/>
              <a:ext cx="258" cy="0"/>
            </a:xfrm>
            <a:prstGeom prst="line">
              <a:avLst/>
            </a:prstGeom>
            <a:ln w="12700" cap="flat" cmpd="sng">
              <a:solidFill>
                <a:schemeClr val="accent2"/>
              </a:solidFill>
              <a:prstDash val="solid"/>
              <a:headEnd type="none" w="med" len="med"/>
              <a:tailEnd type="none" w="med" len="med"/>
            </a:ln>
          </p:spPr>
        </p:sp>
        <p:sp>
          <p:nvSpPr>
            <p:cNvPr id="14375" name="Line 111"/>
            <p:cNvSpPr/>
            <p:nvPr/>
          </p:nvSpPr>
          <p:spPr>
            <a:xfrm>
              <a:off x="3577" y="2346"/>
              <a:ext cx="0" cy="392"/>
            </a:xfrm>
            <a:prstGeom prst="line">
              <a:avLst/>
            </a:prstGeom>
            <a:ln w="12700" cap="flat" cmpd="sng">
              <a:solidFill>
                <a:schemeClr val="accent2"/>
              </a:solidFill>
              <a:prstDash val="solid"/>
              <a:headEnd type="none" w="med" len="med"/>
              <a:tailEnd type="none" w="med" len="med"/>
            </a:ln>
          </p:spPr>
        </p:sp>
        <p:sp>
          <p:nvSpPr>
            <p:cNvPr id="14376" name="Line 112"/>
            <p:cNvSpPr/>
            <p:nvPr/>
          </p:nvSpPr>
          <p:spPr>
            <a:xfrm>
              <a:off x="3410" y="1519"/>
              <a:ext cx="618" cy="0"/>
            </a:xfrm>
            <a:prstGeom prst="line">
              <a:avLst/>
            </a:prstGeom>
            <a:ln w="12700" cap="flat" cmpd="sng">
              <a:solidFill>
                <a:schemeClr val="accent2"/>
              </a:solidFill>
              <a:prstDash val="solid"/>
              <a:headEnd type="none" w="med" len="med"/>
              <a:tailEnd type="none" w="med" len="med"/>
            </a:ln>
          </p:spPr>
        </p:sp>
        <p:sp>
          <p:nvSpPr>
            <p:cNvPr id="14377" name="Rectangle 113"/>
            <p:cNvSpPr/>
            <p:nvPr/>
          </p:nvSpPr>
          <p:spPr>
            <a:xfrm>
              <a:off x="3863" y="149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78" name="Text Box 114"/>
            <p:cNvSpPr txBox="1"/>
            <p:nvPr/>
          </p:nvSpPr>
          <p:spPr>
            <a:xfrm>
              <a:off x="3828" y="126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4379" name="Line 115"/>
            <p:cNvSpPr/>
            <p:nvPr/>
          </p:nvSpPr>
          <p:spPr>
            <a:xfrm>
              <a:off x="4050" y="1519"/>
              <a:ext cx="209" cy="0"/>
            </a:xfrm>
            <a:prstGeom prst="line">
              <a:avLst/>
            </a:prstGeom>
            <a:ln w="12700" cap="flat" cmpd="sng">
              <a:solidFill>
                <a:schemeClr val="accent2"/>
              </a:solidFill>
              <a:prstDash val="solid"/>
              <a:headEnd type="none" w="med" len="med"/>
              <a:tailEnd type="none" w="med" len="med"/>
            </a:ln>
          </p:spPr>
        </p:sp>
        <p:sp>
          <p:nvSpPr>
            <p:cNvPr id="14380" name="Line 116"/>
            <p:cNvSpPr/>
            <p:nvPr/>
          </p:nvSpPr>
          <p:spPr>
            <a:xfrm>
              <a:off x="4259" y="1519"/>
              <a:ext cx="0" cy="284"/>
            </a:xfrm>
            <a:prstGeom prst="line">
              <a:avLst/>
            </a:prstGeom>
            <a:ln w="12700" cap="flat" cmpd="sng">
              <a:solidFill>
                <a:schemeClr val="accent2"/>
              </a:solidFill>
              <a:prstDash val="solid"/>
              <a:headEnd type="none" w="med" len="med"/>
              <a:tailEnd type="none" w="med" len="med"/>
            </a:ln>
          </p:spPr>
        </p:sp>
        <p:sp>
          <p:nvSpPr>
            <p:cNvPr id="14381" name="AutoShape 117"/>
            <p:cNvSpPr/>
            <p:nvPr/>
          </p:nvSpPr>
          <p:spPr>
            <a:xfrm rot="5400000">
              <a:off x="4413" y="1725"/>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82" name="Text Box 118"/>
            <p:cNvSpPr txBox="1"/>
            <p:nvPr/>
          </p:nvSpPr>
          <p:spPr>
            <a:xfrm>
              <a:off x="4421" y="1675"/>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4383" name="Text Box 119"/>
            <p:cNvSpPr txBox="1"/>
            <p:nvPr/>
          </p:nvSpPr>
          <p:spPr>
            <a:xfrm>
              <a:off x="4528" y="186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4384" name="Line 120"/>
            <p:cNvSpPr/>
            <p:nvPr/>
          </p:nvSpPr>
          <p:spPr>
            <a:xfrm>
              <a:off x="3403" y="2738"/>
              <a:ext cx="609" cy="0"/>
            </a:xfrm>
            <a:prstGeom prst="line">
              <a:avLst/>
            </a:prstGeom>
            <a:ln w="12700" cap="flat" cmpd="sng">
              <a:solidFill>
                <a:schemeClr val="accent2"/>
              </a:solidFill>
              <a:prstDash val="solid"/>
              <a:headEnd type="none" w="med" len="med"/>
              <a:tailEnd type="none" w="med" len="med"/>
            </a:ln>
          </p:spPr>
        </p:sp>
        <p:sp>
          <p:nvSpPr>
            <p:cNvPr id="14385" name="Rectangle 121"/>
            <p:cNvSpPr/>
            <p:nvPr/>
          </p:nvSpPr>
          <p:spPr>
            <a:xfrm>
              <a:off x="3851" y="2713"/>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86" name="Text Box 122"/>
            <p:cNvSpPr txBox="1"/>
            <p:nvPr/>
          </p:nvSpPr>
          <p:spPr>
            <a:xfrm>
              <a:off x="3815" y="2474"/>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4387" name="Line 123"/>
            <p:cNvSpPr/>
            <p:nvPr/>
          </p:nvSpPr>
          <p:spPr>
            <a:xfrm>
              <a:off x="4041" y="2738"/>
              <a:ext cx="209" cy="0"/>
            </a:xfrm>
            <a:prstGeom prst="line">
              <a:avLst/>
            </a:prstGeom>
            <a:ln w="12700" cap="flat" cmpd="sng">
              <a:solidFill>
                <a:schemeClr val="accent2"/>
              </a:solidFill>
              <a:prstDash val="solid"/>
              <a:headEnd type="none" w="med" len="med"/>
              <a:tailEnd type="none" w="med" len="med"/>
            </a:ln>
          </p:spPr>
        </p:sp>
        <p:sp>
          <p:nvSpPr>
            <p:cNvPr id="14388" name="Line 124"/>
            <p:cNvSpPr/>
            <p:nvPr/>
          </p:nvSpPr>
          <p:spPr>
            <a:xfrm flipV="1">
              <a:off x="4250" y="2120"/>
              <a:ext cx="0" cy="618"/>
            </a:xfrm>
            <a:prstGeom prst="line">
              <a:avLst/>
            </a:prstGeom>
            <a:ln w="12700" cap="flat" cmpd="sng">
              <a:solidFill>
                <a:schemeClr val="accent2"/>
              </a:solidFill>
              <a:prstDash val="solid"/>
              <a:headEnd type="none" w="med" len="med"/>
              <a:tailEnd type="none" w="med" len="med"/>
            </a:ln>
          </p:spPr>
        </p:sp>
        <p:sp>
          <p:nvSpPr>
            <p:cNvPr id="14389" name="Oval 125"/>
            <p:cNvSpPr/>
            <p:nvPr/>
          </p:nvSpPr>
          <p:spPr>
            <a:xfrm>
              <a:off x="5307" y="1945"/>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0" name="Text Box 126"/>
            <p:cNvSpPr txBox="1"/>
            <p:nvPr/>
          </p:nvSpPr>
          <p:spPr>
            <a:xfrm>
              <a:off x="5344" y="1853"/>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4391" name="Text Box 127"/>
            <p:cNvSpPr txBox="1"/>
            <p:nvPr/>
          </p:nvSpPr>
          <p:spPr>
            <a:xfrm>
              <a:off x="3448" y="1286"/>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4392" name="Oval 128"/>
            <p:cNvSpPr/>
            <p:nvPr/>
          </p:nvSpPr>
          <p:spPr>
            <a:xfrm>
              <a:off x="3558" y="149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3" name="Oval 129"/>
            <p:cNvSpPr/>
            <p:nvPr/>
          </p:nvSpPr>
          <p:spPr>
            <a:xfrm>
              <a:off x="2610" y="187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4" name="Oval 130"/>
            <p:cNvSpPr/>
            <p:nvPr/>
          </p:nvSpPr>
          <p:spPr>
            <a:xfrm>
              <a:off x="2600" y="23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5" name="Text Box 131"/>
            <p:cNvSpPr txBox="1"/>
            <p:nvPr/>
          </p:nvSpPr>
          <p:spPr>
            <a:xfrm>
              <a:off x="3469" y="277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4396" name="Oval 132"/>
            <p:cNvSpPr/>
            <p:nvPr/>
          </p:nvSpPr>
          <p:spPr>
            <a:xfrm>
              <a:off x="3553" y="27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7" name="Oval 133"/>
            <p:cNvSpPr/>
            <p:nvPr/>
          </p:nvSpPr>
          <p:spPr>
            <a:xfrm>
              <a:off x="5077" y="19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398" name="Line 134"/>
            <p:cNvSpPr/>
            <p:nvPr/>
          </p:nvSpPr>
          <p:spPr>
            <a:xfrm flipV="1">
              <a:off x="5102" y="1511"/>
              <a:ext cx="0" cy="459"/>
            </a:xfrm>
            <a:prstGeom prst="line">
              <a:avLst/>
            </a:prstGeom>
            <a:ln w="12700" cap="flat" cmpd="sng">
              <a:solidFill>
                <a:schemeClr val="accent2"/>
              </a:solidFill>
              <a:prstDash val="solid"/>
              <a:headEnd type="none" w="med" len="med"/>
              <a:tailEnd type="none" w="med" len="med"/>
            </a:ln>
          </p:spPr>
        </p:sp>
        <p:sp>
          <p:nvSpPr>
            <p:cNvPr id="14399" name="Line 135"/>
            <p:cNvSpPr/>
            <p:nvPr/>
          </p:nvSpPr>
          <p:spPr>
            <a:xfrm flipH="1">
              <a:off x="4759" y="1511"/>
              <a:ext cx="343" cy="0"/>
            </a:xfrm>
            <a:prstGeom prst="line">
              <a:avLst/>
            </a:prstGeom>
            <a:ln w="12700" cap="flat" cmpd="sng">
              <a:solidFill>
                <a:schemeClr val="accent2"/>
              </a:solidFill>
              <a:prstDash val="solid"/>
              <a:headEnd type="none" w="med" len="med"/>
              <a:tailEnd type="none" w="med" len="med"/>
            </a:ln>
          </p:spPr>
        </p:sp>
        <p:sp>
          <p:nvSpPr>
            <p:cNvPr id="14400" name="Rectangle 136"/>
            <p:cNvSpPr/>
            <p:nvPr/>
          </p:nvSpPr>
          <p:spPr>
            <a:xfrm>
              <a:off x="4581" y="148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401" name="Text Box 137"/>
            <p:cNvSpPr txBox="1"/>
            <p:nvPr/>
          </p:nvSpPr>
          <p:spPr>
            <a:xfrm>
              <a:off x="4551" y="12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4402" name="Line 138"/>
            <p:cNvSpPr/>
            <p:nvPr/>
          </p:nvSpPr>
          <p:spPr>
            <a:xfrm flipH="1">
              <a:off x="4259" y="1519"/>
              <a:ext cx="317" cy="0"/>
            </a:xfrm>
            <a:prstGeom prst="line">
              <a:avLst/>
            </a:prstGeom>
            <a:ln w="12700" cap="flat" cmpd="sng">
              <a:solidFill>
                <a:schemeClr val="accent2"/>
              </a:solidFill>
              <a:prstDash val="solid"/>
              <a:headEnd type="none" w="med" len="med"/>
              <a:tailEnd type="none" w="med" len="med"/>
            </a:ln>
          </p:spPr>
        </p:sp>
        <p:sp>
          <p:nvSpPr>
            <p:cNvPr id="14403" name="Oval 139"/>
            <p:cNvSpPr/>
            <p:nvPr/>
          </p:nvSpPr>
          <p:spPr>
            <a:xfrm>
              <a:off x="4234" y="149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404" name="Line 140"/>
            <p:cNvSpPr/>
            <p:nvPr/>
          </p:nvSpPr>
          <p:spPr>
            <a:xfrm>
              <a:off x="4250" y="2738"/>
              <a:ext cx="334" cy="0"/>
            </a:xfrm>
            <a:prstGeom prst="line">
              <a:avLst/>
            </a:prstGeom>
            <a:ln w="12700" cap="flat" cmpd="sng">
              <a:solidFill>
                <a:schemeClr val="accent2"/>
              </a:solidFill>
              <a:prstDash val="solid"/>
              <a:headEnd type="none" w="med" len="med"/>
              <a:tailEnd type="none" w="med" len="med"/>
            </a:ln>
          </p:spPr>
        </p:sp>
        <p:sp>
          <p:nvSpPr>
            <p:cNvPr id="14405" name="Rectangle 141"/>
            <p:cNvSpPr/>
            <p:nvPr/>
          </p:nvSpPr>
          <p:spPr>
            <a:xfrm>
              <a:off x="4585" y="271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406" name="Text Box 142"/>
            <p:cNvSpPr txBox="1"/>
            <p:nvPr/>
          </p:nvSpPr>
          <p:spPr>
            <a:xfrm>
              <a:off x="4555" y="250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4407" name="Line 143"/>
            <p:cNvSpPr/>
            <p:nvPr/>
          </p:nvSpPr>
          <p:spPr>
            <a:xfrm>
              <a:off x="4768" y="2738"/>
              <a:ext cx="367" cy="0"/>
            </a:xfrm>
            <a:prstGeom prst="line">
              <a:avLst/>
            </a:prstGeom>
            <a:ln w="12700" cap="flat" cmpd="sng">
              <a:solidFill>
                <a:schemeClr val="accent2"/>
              </a:solidFill>
              <a:prstDash val="solid"/>
              <a:headEnd type="none" w="med" len="med"/>
              <a:tailEnd type="none" w="med" len="med"/>
            </a:ln>
          </p:spPr>
        </p:sp>
        <p:sp>
          <p:nvSpPr>
            <p:cNvPr id="14408" name="Line 144"/>
            <p:cNvSpPr/>
            <p:nvPr/>
          </p:nvSpPr>
          <p:spPr>
            <a:xfrm>
              <a:off x="5135" y="2738"/>
              <a:ext cx="0" cy="167"/>
            </a:xfrm>
            <a:prstGeom prst="line">
              <a:avLst/>
            </a:prstGeom>
            <a:ln w="12700" cap="flat" cmpd="sng">
              <a:solidFill>
                <a:schemeClr val="accent2"/>
              </a:solidFill>
              <a:prstDash val="solid"/>
              <a:headEnd type="none" w="med" len="med"/>
              <a:tailEnd type="none" w="med" len="med"/>
            </a:ln>
          </p:spPr>
        </p:sp>
        <p:sp>
          <p:nvSpPr>
            <p:cNvPr id="14409" name="Line 145"/>
            <p:cNvSpPr/>
            <p:nvPr/>
          </p:nvSpPr>
          <p:spPr>
            <a:xfrm>
              <a:off x="5052" y="2905"/>
              <a:ext cx="167" cy="0"/>
            </a:xfrm>
            <a:prstGeom prst="line">
              <a:avLst/>
            </a:prstGeom>
            <a:ln w="28575" cap="flat" cmpd="sng">
              <a:solidFill>
                <a:schemeClr val="accent2"/>
              </a:solidFill>
              <a:prstDash val="solid"/>
              <a:headEnd type="none" w="med" len="med"/>
              <a:tailEnd type="none" w="med" len="med"/>
            </a:ln>
          </p:spPr>
        </p:sp>
        <p:sp>
          <p:nvSpPr>
            <p:cNvPr id="14410" name="Text Box 146"/>
            <p:cNvSpPr txBox="1"/>
            <p:nvPr/>
          </p:nvSpPr>
          <p:spPr>
            <a:xfrm>
              <a:off x="3014" y="3164"/>
              <a:ext cx="1853"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测量放大器原理电路</a:t>
              </a:r>
              <a:endParaRPr lang="zh-CN" altLang="en-US" sz="2400" b="1" dirty="0">
                <a:solidFill>
                  <a:srgbClr val="000099"/>
                </a:solidFill>
                <a:latin typeface="Times New Roman" panose="02020603050405020304" pitchFamily="18" charset="0"/>
              </a:endParaRPr>
            </a:p>
          </p:txBody>
        </p:sp>
        <p:sp>
          <p:nvSpPr>
            <p:cNvPr id="14411" name="Line 147"/>
            <p:cNvSpPr/>
            <p:nvPr/>
          </p:nvSpPr>
          <p:spPr>
            <a:xfrm>
              <a:off x="2517" y="1862"/>
              <a:ext cx="0" cy="434"/>
            </a:xfrm>
            <a:prstGeom prst="line">
              <a:avLst/>
            </a:prstGeom>
            <a:ln w="9525" cap="flat" cmpd="sng">
              <a:solidFill>
                <a:schemeClr val="accent2"/>
              </a:solidFill>
              <a:prstDash val="solid"/>
              <a:headEnd type="none" w="med" len="med"/>
              <a:tailEnd type="triangle" w="sm" len="lg"/>
            </a:ln>
          </p:spPr>
        </p:sp>
        <p:sp>
          <p:nvSpPr>
            <p:cNvPr id="14412" name="Text Box 148"/>
            <p:cNvSpPr txBox="1"/>
            <p:nvPr/>
          </p:nvSpPr>
          <p:spPr>
            <a:xfrm>
              <a:off x="2282" y="1993"/>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4413" name="Line 149"/>
            <p:cNvSpPr/>
            <p:nvPr/>
          </p:nvSpPr>
          <p:spPr>
            <a:xfrm>
              <a:off x="2626" y="1879"/>
              <a:ext cx="0" cy="133"/>
            </a:xfrm>
            <a:prstGeom prst="line">
              <a:avLst/>
            </a:prstGeom>
            <a:ln w="12700" cap="flat" cmpd="sng">
              <a:solidFill>
                <a:schemeClr val="accent2"/>
              </a:solidFill>
              <a:prstDash val="solid"/>
              <a:headEnd type="none" w="med" len="med"/>
              <a:tailEnd type="none" w="med" len="med"/>
            </a:ln>
          </p:spPr>
        </p:sp>
        <p:sp>
          <p:nvSpPr>
            <p:cNvPr id="14414" name="Line 150"/>
            <p:cNvSpPr/>
            <p:nvPr/>
          </p:nvSpPr>
          <p:spPr>
            <a:xfrm flipV="1">
              <a:off x="2626" y="2230"/>
              <a:ext cx="0" cy="116"/>
            </a:xfrm>
            <a:prstGeom prst="line">
              <a:avLst/>
            </a:prstGeom>
            <a:ln w="12700" cap="flat" cmpd="sng">
              <a:solidFill>
                <a:schemeClr val="accent2"/>
              </a:solidFill>
              <a:prstDash val="solid"/>
              <a:headEnd type="none" w="med" len="med"/>
              <a:tailEnd type="none" w="med" len="med"/>
            </a:ln>
          </p:spPr>
        </p:sp>
        <p:sp>
          <p:nvSpPr>
            <p:cNvPr id="14415" name="Oval 151"/>
            <p:cNvSpPr/>
            <p:nvPr/>
          </p:nvSpPr>
          <p:spPr>
            <a:xfrm>
              <a:off x="4230" y="271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4416" name="Line 152"/>
            <p:cNvSpPr/>
            <p:nvPr/>
          </p:nvSpPr>
          <p:spPr>
            <a:xfrm>
              <a:off x="4251" y="2121"/>
              <a:ext cx="192" cy="0"/>
            </a:xfrm>
            <a:prstGeom prst="line">
              <a:avLst/>
            </a:prstGeom>
            <a:ln w="12700" cap="flat" cmpd="sng">
              <a:solidFill>
                <a:schemeClr val="accent2"/>
              </a:solidFill>
              <a:prstDash val="solid"/>
              <a:headEnd type="none" w="med" len="med"/>
              <a:tailEnd type="none" w="med" len="med"/>
            </a:ln>
          </p:spPr>
        </p:sp>
        <p:sp>
          <p:nvSpPr>
            <p:cNvPr id="14417" name="Line 153"/>
            <p:cNvSpPr/>
            <p:nvPr/>
          </p:nvSpPr>
          <p:spPr>
            <a:xfrm>
              <a:off x="4259" y="1803"/>
              <a:ext cx="192" cy="0"/>
            </a:xfrm>
            <a:prstGeom prst="line">
              <a:avLst/>
            </a:prstGeom>
            <a:ln w="12700" cap="flat" cmpd="sng">
              <a:solidFill>
                <a:schemeClr val="accent2"/>
              </a:solidFill>
              <a:prstDash val="solid"/>
              <a:headEnd type="none" w="med" len="med"/>
              <a:tailEnd type="none" w="med" len="med"/>
            </a:ln>
          </p:spPr>
        </p:sp>
        <p:sp>
          <p:nvSpPr>
            <p:cNvPr id="14418" name="Line 154"/>
            <p:cNvSpPr/>
            <p:nvPr/>
          </p:nvSpPr>
          <p:spPr>
            <a:xfrm>
              <a:off x="2516" y="1353"/>
              <a:ext cx="410" cy="0"/>
            </a:xfrm>
            <a:prstGeom prst="line">
              <a:avLst/>
            </a:prstGeom>
            <a:ln w="12700" cap="flat" cmpd="sng">
              <a:solidFill>
                <a:schemeClr val="accent2"/>
              </a:solidFill>
              <a:prstDash val="solid"/>
              <a:headEnd type="none" w="med" len="med"/>
              <a:tailEnd type="none" w="med" len="med"/>
            </a:ln>
          </p:spPr>
        </p:sp>
        <p:sp>
          <p:nvSpPr>
            <p:cNvPr id="14419" name="Line 155"/>
            <p:cNvSpPr/>
            <p:nvPr/>
          </p:nvSpPr>
          <p:spPr>
            <a:xfrm>
              <a:off x="2513" y="2905"/>
              <a:ext cx="413" cy="0"/>
            </a:xfrm>
            <a:prstGeom prst="line">
              <a:avLst/>
            </a:prstGeom>
            <a:ln w="12700" cap="flat" cmpd="sng">
              <a:solidFill>
                <a:schemeClr val="accent2"/>
              </a:solidFill>
              <a:prstDash val="solid"/>
              <a:headEnd type="none" w="med" len="med"/>
              <a:tailEnd type="none" w="med" len="med"/>
            </a:ln>
          </p:spPr>
        </p:sp>
        <p:sp>
          <p:nvSpPr>
            <p:cNvPr id="14420" name="Text Box 156"/>
            <p:cNvSpPr txBox="1"/>
            <p:nvPr/>
          </p:nvSpPr>
          <p:spPr>
            <a:xfrm>
              <a:off x="4127" y="1283"/>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grpSp>
      <p:graphicFrame>
        <p:nvGraphicFramePr>
          <p:cNvPr id="2395293" name="Object 157"/>
          <p:cNvGraphicFramePr>
            <a:graphicFrameLocks noChangeAspect="1"/>
          </p:cNvGraphicFramePr>
          <p:nvPr/>
        </p:nvGraphicFramePr>
        <p:xfrm>
          <a:off x="531813" y="4446588"/>
          <a:ext cx="2419350" cy="890587"/>
        </p:xfrm>
        <a:graphic>
          <a:graphicData uri="http://schemas.openxmlformats.org/presentationml/2006/ole">
            <mc:AlternateContent xmlns:mc="http://schemas.openxmlformats.org/markup-compatibility/2006">
              <mc:Choice xmlns:v="urn:schemas-microsoft-com:vml" Requires="v">
                <p:oleObj spid="_x0000_s3082" name="" r:id="rId5" imgW="1155700" imgH="431800" progId="Equation.3">
                  <p:embed/>
                </p:oleObj>
              </mc:Choice>
              <mc:Fallback>
                <p:oleObj name="" r:id="rId5" imgW="1155700" imgH="431800" progId="Equation.3">
                  <p:embed/>
                  <p:pic>
                    <p:nvPicPr>
                      <p:cNvPr id="0" name="图片 3081"/>
                      <p:cNvPicPr/>
                      <p:nvPr/>
                    </p:nvPicPr>
                    <p:blipFill>
                      <a:blip r:embed="rId6"/>
                      <a:stretch>
                        <a:fillRect/>
                      </a:stretch>
                    </p:blipFill>
                    <p:spPr>
                      <a:xfrm>
                        <a:off x="531813" y="4446588"/>
                        <a:ext cx="2419350" cy="890587"/>
                      </a:xfrm>
                      <a:prstGeom prst="rect">
                        <a:avLst/>
                      </a:prstGeom>
                      <a:solidFill>
                        <a:srgbClr val="CCFFFF"/>
                      </a:solidFill>
                      <a:ln w="38100">
                        <a:noFill/>
                        <a:miter/>
                      </a:ln>
                    </p:spPr>
                  </p:pic>
                </p:oleObj>
              </mc:Fallback>
            </mc:AlternateContent>
          </a:graphicData>
        </a:graphic>
      </p:graphicFrame>
      <p:graphicFrame>
        <p:nvGraphicFramePr>
          <p:cNvPr id="2395294" name="Object 158"/>
          <p:cNvGraphicFramePr>
            <a:graphicFrameLocks noChangeAspect="1"/>
          </p:cNvGraphicFramePr>
          <p:nvPr/>
        </p:nvGraphicFramePr>
        <p:xfrm>
          <a:off x="644525" y="5310188"/>
          <a:ext cx="2127250" cy="890587"/>
        </p:xfrm>
        <a:graphic>
          <a:graphicData uri="http://schemas.openxmlformats.org/presentationml/2006/ole">
            <mc:AlternateContent xmlns:mc="http://schemas.openxmlformats.org/markup-compatibility/2006">
              <mc:Choice xmlns:v="urn:schemas-microsoft-com:vml" Requires="v">
                <p:oleObj spid="_x0000_s3084" name="" r:id="rId7" imgW="1016000" imgH="431800" progId="Equation.3">
                  <p:embed/>
                </p:oleObj>
              </mc:Choice>
              <mc:Fallback>
                <p:oleObj name="" r:id="rId7" imgW="1016000" imgH="431800" progId="Equation.3">
                  <p:embed/>
                  <p:pic>
                    <p:nvPicPr>
                      <p:cNvPr id="0" name="图片 3083"/>
                      <p:cNvPicPr/>
                      <p:nvPr/>
                    </p:nvPicPr>
                    <p:blipFill>
                      <a:blip r:embed="rId8"/>
                      <a:stretch>
                        <a:fillRect/>
                      </a:stretch>
                    </p:blipFill>
                    <p:spPr>
                      <a:xfrm>
                        <a:off x="644525" y="5310188"/>
                        <a:ext cx="2127250" cy="890587"/>
                      </a:xfrm>
                      <a:prstGeom prst="rect">
                        <a:avLst/>
                      </a:prstGeom>
                      <a:solidFill>
                        <a:srgbClr val="CCFFFF"/>
                      </a:solidFill>
                      <a:ln w="38100">
                        <a:noFill/>
                        <a:miter/>
                      </a:ln>
                    </p:spPr>
                  </p:pic>
                </p:oleObj>
              </mc:Fallback>
            </mc:AlternateContent>
          </a:graphicData>
        </a:graphic>
      </p:graphicFrame>
      <p:graphicFrame>
        <p:nvGraphicFramePr>
          <p:cNvPr id="2395295" name="Object 159"/>
          <p:cNvGraphicFramePr>
            <a:graphicFrameLocks noChangeAspect="1"/>
          </p:cNvGraphicFramePr>
          <p:nvPr/>
        </p:nvGraphicFramePr>
        <p:xfrm>
          <a:off x="4168775" y="5157788"/>
          <a:ext cx="4330700" cy="981075"/>
        </p:xfrm>
        <a:graphic>
          <a:graphicData uri="http://schemas.openxmlformats.org/presentationml/2006/ole">
            <mc:AlternateContent xmlns:mc="http://schemas.openxmlformats.org/markup-compatibility/2006">
              <mc:Choice xmlns:v="urn:schemas-microsoft-com:vml" Requires="v">
                <p:oleObj spid="_x0000_s3083" name="" r:id="rId9" imgW="2171700" imgH="508000" progId="Equation.3">
                  <p:embed/>
                </p:oleObj>
              </mc:Choice>
              <mc:Fallback>
                <p:oleObj name="" r:id="rId9" imgW="2171700" imgH="508000" progId="Equation.3">
                  <p:embed/>
                  <p:pic>
                    <p:nvPicPr>
                      <p:cNvPr id="0" name="图片 3082"/>
                      <p:cNvPicPr/>
                      <p:nvPr/>
                    </p:nvPicPr>
                    <p:blipFill>
                      <a:blip r:embed="rId10"/>
                      <a:stretch>
                        <a:fillRect/>
                      </a:stretch>
                    </p:blipFill>
                    <p:spPr>
                      <a:xfrm>
                        <a:off x="4168775" y="5157788"/>
                        <a:ext cx="4330700" cy="981075"/>
                      </a:xfrm>
                      <a:prstGeom prst="rect">
                        <a:avLst/>
                      </a:prstGeom>
                      <a:solidFill>
                        <a:srgbClr val="CCFFFF"/>
                      </a:solidFill>
                      <a:ln w="38100">
                        <a:noFill/>
                        <a:miter/>
                      </a:ln>
                    </p:spPr>
                  </p:pic>
                </p:oleObj>
              </mc:Fallback>
            </mc:AlternateContent>
          </a:graphicData>
        </a:graphic>
      </p:graphicFrame>
      <p:sp>
        <p:nvSpPr>
          <p:cNvPr id="2395296" name="AutoShape 160"/>
          <p:cNvSpPr/>
          <p:nvPr/>
        </p:nvSpPr>
        <p:spPr>
          <a:xfrm>
            <a:off x="3405188" y="5516563"/>
            <a:ext cx="722312" cy="288925"/>
          </a:xfrm>
          <a:prstGeom prst="rightArrow">
            <a:avLst>
              <a:gd name="adj1" fmla="val 50000"/>
              <a:gd name="adj2" fmla="val 62499"/>
            </a:avLst>
          </a:prstGeom>
          <a:solidFill>
            <a:schemeClr val="accent1"/>
          </a:solidFill>
          <a:ln w="9525" cap="flat" cmpd="sng">
            <a:solidFill>
              <a:schemeClr val="tx1"/>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5218"/>
                                        </p:tgtEl>
                                        <p:attrNameLst>
                                          <p:attrName>style.visibility</p:attrName>
                                        </p:attrNameLst>
                                      </p:cBhvr>
                                      <p:to>
                                        <p:strVal val="visible"/>
                                      </p:to>
                                    </p:set>
                                    <p:animEffect transition="in" filter="dissolve">
                                      <p:cBhvr>
                                        <p:cTn id="7" dur="500"/>
                                        <p:tgtEl>
                                          <p:spTgt spid="23952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5293"/>
                                        </p:tgtEl>
                                        <p:attrNameLst>
                                          <p:attrName>style.visibility</p:attrName>
                                        </p:attrNameLst>
                                      </p:cBhvr>
                                      <p:to>
                                        <p:strVal val="visible"/>
                                      </p:to>
                                    </p:set>
                                    <p:animEffect transition="in" filter="dissolve">
                                      <p:cBhvr>
                                        <p:cTn id="12" dur="500"/>
                                        <p:tgtEl>
                                          <p:spTgt spid="239529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5294"/>
                                        </p:tgtEl>
                                        <p:attrNameLst>
                                          <p:attrName>style.visibility</p:attrName>
                                        </p:attrNameLst>
                                      </p:cBhvr>
                                      <p:to>
                                        <p:strVal val="visible"/>
                                      </p:to>
                                    </p:set>
                                    <p:animEffect transition="in" filter="dissolve">
                                      <p:cBhvr>
                                        <p:cTn id="17" dur="500"/>
                                        <p:tgtEl>
                                          <p:spTgt spid="239529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395296"/>
                                        </p:tgtEl>
                                        <p:attrNameLst>
                                          <p:attrName>style.visibility</p:attrName>
                                        </p:attrNameLst>
                                      </p:cBhvr>
                                      <p:to>
                                        <p:strVal val="visible"/>
                                      </p:to>
                                    </p:set>
                                    <p:animEffect transition="in" filter="wipe(left)">
                                      <p:cBhvr>
                                        <p:cTn id="22" dur="500"/>
                                        <p:tgtEl>
                                          <p:spTgt spid="239529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395295"/>
                                        </p:tgtEl>
                                        <p:attrNameLst>
                                          <p:attrName>style.visibility</p:attrName>
                                        </p:attrNameLst>
                                      </p:cBhvr>
                                      <p:to>
                                        <p:strVal val="visible"/>
                                      </p:to>
                                    </p:set>
                                    <p:animEffect transition="in" filter="wipe(left)">
                                      <p:cBhvr>
                                        <p:cTn id="27" dur="500"/>
                                        <p:tgtEl>
                                          <p:spTgt spid="23952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5296" grpId="0" bldLvl="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6163" name="Text Box 3"/>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15363" name="Object 5"/>
          <p:cNvGraphicFramePr>
            <a:graphicFrameLocks noChangeAspect="1"/>
          </p:cNvGraphicFramePr>
          <p:nvPr/>
        </p:nvGraphicFramePr>
        <p:xfrm>
          <a:off x="287338" y="1565275"/>
          <a:ext cx="3117850" cy="1828800"/>
        </p:xfrm>
        <a:graphic>
          <a:graphicData uri="http://schemas.openxmlformats.org/presentationml/2006/ole">
            <mc:AlternateContent xmlns:mc="http://schemas.openxmlformats.org/markup-compatibility/2006">
              <mc:Choice xmlns:v="urn:schemas-microsoft-com:vml" Requires="v">
                <p:oleObj spid="_x0000_s3085" name="" r:id="rId1" imgW="1397000" imgH="889000" progId="Equation.3">
                  <p:embed/>
                </p:oleObj>
              </mc:Choice>
              <mc:Fallback>
                <p:oleObj name="" r:id="rId1" imgW="1397000" imgH="889000" progId="Equation.3">
                  <p:embed/>
                  <p:pic>
                    <p:nvPicPr>
                      <p:cNvPr id="0" name="图片 3084"/>
                      <p:cNvPicPr/>
                      <p:nvPr/>
                    </p:nvPicPr>
                    <p:blipFill>
                      <a:blip r:embed="rId2"/>
                      <a:stretch>
                        <a:fillRect/>
                      </a:stretch>
                    </p:blipFill>
                    <p:spPr>
                      <a:xfrm>
                        <a:off x="287338" y="1565275"/>
                        <a:ext cx="3117850" cy="1828800"/>
                      </a:xfrm>
                      <a:prstGeom prst="rect">
                        <a:avLst/>
                      </a:prstGeom>
                      <a:solidFill>
                        <a:schemeClr val="bg1"/>
                      </a:solidFill>
                      <a:ln w="38100">
                        <a:noFill/>
                        <a:miter/>
                      </a:ln>
                    </p:spPr>
                  </p:pic>
                </p:oleObj>
              </mc:Fallback>
            </mc:AlternateContent>
          </a:graphicData>
        </a:graphic>
      </p:graphicFrame>
      <p:grpSp>
        <p:nvGrpSpPr>
          <p:cNvPr id="15364" name="Group 7"/>
          <p:cNvGrpSpPr/>
          <p:nvPr/>
        </p:nvGrpSpPr>
        <p:grpSpPr>
          <a:xfrm>
            <a:off x="3478213" y="1376363"/>
            <a:ext cx="5486400" cy="3708400"/>
            <a:chOff x="2191" y="1139"/>
            <a:chExt cx="3456" cy="2336"/>
          </a:xfrm>
        </p:grpSpPr>
        <p:sp>
          <p:nvSpPr>
            <p:cNvPr id="15371" name="Rectangle 8"/>
            <p:cNvSpPr/>
            <p:nvPr/>
          </p:nvSpPr>
          <p:spPr>
            <a:xfrm>
              <a:off x="2191" y="1139"/>
              <a:ext cx="3456"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72" name="Line 9"/>
            <p:cNvSpPr/>
            <p:nvPr/>
          </p:nvSpPr>
          <p:spPr>
            <a:xfrm>
              <a:off x="4826" y="1970"/>
              <a:ext cx="485" cy="0"/>
            </a:xfrm>
            <a:prstGeom prst="line">
              <a:avLst/>
            </a:prstGeom>
            <a:ln w="12700" cap="flat" cmpd="sng">
              <a:solidFill>
                <a:schemeClr val="accent2"/>
              </a:solidFill>
              <a:prstDash val="solid"/>
              <a:headEnd type="none" w="med" len="med"/>
              <a:tailEnd type="none" w="med" len="med"/>
            </a:ln>
          </p:spPr>
        </p:sp>
        <p:sp>
          <p:nvSpPr>
            <p:cNvPr id="15373" name="Oval 10"/>
            <p:cNvSpPr/>
            <p:nvPr/>
          </p:nvSpPr>
          <p:spPr>
            <a:xfrm>
              <a:off x="2466" y="132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74" name="Text Box 11"/>
            <p:cNvSpPr txBox="1"/>
            <p:nvPr/>
          </p:nvSpPr>
          <p:spPr>
            <a:xfrm>
              <a:off x="2191" y="123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5375" name="Text Box 12"/>
            <p:cNvSpPr txBox="1"/>
            <p:nvPr/>
          </p:nvSpPr>
          <p:spPr>
            <a:xfrm>
              <a:off x="2195" y="2774"/>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5376" name="Oval 13"/>
            <p:cNvSpPr/>
            <p:nvPr/>
          </p:nvSpPr>
          <p:spPr>
            <a:xfrm>
              <a:off x="2469" y="2877"/>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77" name="AutoShape 14"/>
            <p:cNvSpPr/>
            <p:nvPr/>
          </p:nvSpPr>
          <p:spPr>
            <a:xfrm rot="5400000">
              <a:off x="2893" y="1270"/>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78" name="Text Box 15"/>
            <p:cNvSpPr txBox="1"/>
            <p:nvPr/>
          </p:nvSpPr>
          <p:spPr>
            <a:xfrm>
              <a:off x="2901" y="1262"/>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5379" name="Text Box 16"/>
            <p:cNvSpPr txBox="1"/>
            <p:nvPr/>
          </p:nvSpPr>
          <p:spPr>
            <a:xfrm>
              <a:off x="2999" y="1416"/>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5380" name="AutoShape 17"/>
            <p:cNvSpPr/>
            <p:nvPr/>
          </p:nvSpPr>
          <p:spPr>
            <a:xfrm rot="5400000">
              <a:off x="2889" y="249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81" name="Text Box 18"/>
            <p:cNvSpPr txBox="1"/>
            <p:nvPr/>
          </p:nvSpPr>
          <p:spPr>
            <a:xfrm>
              <a:off x="2897" y="2485"/>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5382" name="Text Box 19"/>
            <p:cNvSpPr txBox="1"/>
            <p:nvPr/>
          </p:nvSpPr>
          <p:spPr>
            <a:xfrm>
              <a:off x="2995" y="2639"/>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5383" name="Line 20"/>
            <p:cNvSpPr/>
            <p:nvPr/>
          </p:nvSpPr>
          <p:spPr>
            <a:xfrm flipH="1">
              <a:off x="2626" y="1678"/>
              <a:ext cx="300" cy="0"/>
            </a:xfrm>
            <a:prstGeom prst="line">
              <a:avLst/>
            </a:prstGeom>
            <a:ln w="12700" cap="flat" cmpd="sng">
              <a:solidFill>
                <a:schemeClr val="accent2"/>
              </a:solidFill>
              <a:prstDash val="solid"/>
              <a:headEnd type="none" w="med" len="med"/>
              <a:tailEnd type="none" w="med" len="med"/>
            </a:ln>
          </p:spPr>
        </p:sp>
        <p:sp>
          <p:nvSpPr>
            <p:cNvPr id="15384" name="Line 21"/>
            <p:cNvSpPr/>
            <p:nvPr/>
          </p:nvSpPr>
          <p:spPr>
            <a:xfrm>
              <a:off x="2626" y="1677"/>
              <a:ext cx="0" cy="226"/>
            </a:xfrm>
            <a:prstGeom prst="line">
              <a:avLst/>
            </a:prstGeom>
            <a:ln w="12700" cap="flat" cmpd="sng">
              <a:solidFill>
                <a:schemeClr val="accent2"/>
              </a:solidFill>
              <a:prstDash val="solid"/>
              <a:headEnd type="none" w="med" len="med"/>
              <a:tailEnd type="none" w="med" len="med"/>
            </a:ln>
          </p:spPr>
        </p:sp>
        <p:sp>
          <p:nvSpPr>
            <p:cNvPr id="15385" name="Rectangle 22"/>
            <p:cNvSpPr/>
            <p:nvPr/>
          </p:nvSpPr>
          <p:spPr>
            <a:xfrm>
              <a:off x="2600" y="2011"/>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86" name="Text Box 23"/>
            <p:cNvSpPr txBox="1"/>
            <p:nvPr/>
          </p:nvSpPr>
          <p:spPr>
            <a:xfrm>
              <a:off x="2652" y="2030"/>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5387" name="Line 24"/>
            <p:cNvSpPr/>
            <p:nvPr/>
          </p:nvSpPr>
          <p:spPr>
            <a:xfrm>
              <a:off x="2626" y="2346"/>
              <a:ext cx="0" cy="233"/>
            </a:xfrm>
            <a:prstGeom prst="line">
              <a:avLst/>
            </a:prstGeom>
            <a:ln w="12700" cap="flat" cmpd="sng">
              <a:solidFill>
                <a:schemeClr val="accent2"/>
              </a:solidFill>
              <a:prstDash val="solid"/>
              <a:headEnd type="none" w="med" len="med"/>
              <a:tailEnd type="none" w="med" len="med"/>
            </a:ln>
          </p:spPr>
        </p:sp>
        <p:sp>
          <p:nvSpPr>
            <p:cNvPr id="15388" name="Line 25"/>
            <p:cNvSpPr/>
            <p:nvPr/>
          </p:nvSpPr>
          <p:spPr>
            <a:xfrm>
              <a:off x="2626" y="2571"/>
              <a:ext cx="292" cy="0"/>
            </a:xfrm>
            <a:prstGeom prst="line">
              <a:avLst/>
            </a:prstGeom>
            <a:ln w="12700" cap="flat" cmpd="sng">
              <a:solidFill>
                <a:schemeClr val="accent2"/>
              </a:solidFill>
              <a:prstDash val="solid"/>
              <a:headEnd type="none" w="med" len="med"/>
              <a:tailEnd type="none" w="med" len="med"/>
            </a:ln>
          </p:spPr>
        </p:sp>
        <p:sp>
          <p:nvSpPr>
            <p:cNvPr id="15389" name="Line 26"/>
            <p:cNvSpPr/>
            <p:nvPr/>
          </p:nvSpPr>
          <p:spPr>
            <a:xfrm>
              <a:off x="2626" y="1903"/>
              <a:ext cx="501" cy="0"/>
            </a:xfrm>
            <a:prstGeom prst="line">
              <a:avLst/>
            </a:prstGeom>
            <a:ln w="12700" cap="flat" cmpd="sng">
              <a:solidFill>
                <a:schemeClr val="accent2"/>
              </a:solidFill>
              <a:prstDash val="solid"/>
              <a:headEnd type="none" w="med" len="med"/>
              <a:tailEnd type="none" w="med" len="med"/>
            </a:ln>
          </p:spPr>
        </p:sp>
        <p:sp>
          <p:nvSpPr>
            <p:cNvPr id="15390" name="Rectangle 27"/>
            <p:cNvSpPr/>
            <p:nvPr/>
          </p:nvSpPr>
          <p:spPr>
            <a:xfrm>
              <a:off x="3127" y="18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91" name="Text Box 28"/>
            <p:cNvSpPr txBox="1"/>
            <p:nvPr/>
          </p:nvSpPr>
          <p:spPr>
            <a:xfrm>
              <a:off x="3102" y="16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5392" name="Line 29"/>
            <p:cNvSpPr/>
            <p:nvPr/>
          </p:nvSpPr>
          <p:spPr>
            <a:xfrm>
              <a:off x="3311" y="1903"/>
              <a:ext cx="266" cy="0"/>
            </a:xfrm>
            <a:prstGeom prst="line">
              <a:avLst/>
            </a:prstGeom>
            <a:ln w="12700" cap="flat" cmpd="sng">
              <a:solidFill>
                <a:schemeClr val="accent2"/>
              </a:solidFill>
              <a:prstDash val="solid"/>
              <a:headEnd type="none" w="med" len="med"/>
              <a:tailEnd type="none" w="med" len="med"/>
            </a:ln>
          </p:spPr>
        </p:sp>
        <p:sp>
          <p:nvSpPr>
            <p:cNvPr id="15393" name="Line 30"/>
            <p:cNvSpPr/>
            <p:nvPr/>
          </p:nvSpPr>
          <p:spPr>
            <a:xfrm flipV="1">
              <a:off x="3577" y="1519"/>
              <a:ext cx="0" cy="384"/>
            </a:xfrm>
            <a:prstGeom prst="line">
              <a:avLst/>
            </a:prstGeom>
            <a:ln w="12700" cap="flat" cmpd="sng">
              <a:solidFill>
                <a:schemeClr val="accent2"/>
              </a:solidFill>
              <a:prstDash val="solid"/>
              <a:headEnd type="none" w="med" len="med"/>
              <a:tailEnd type="none" w="med" len="med"/>
            </a:ln>
          </p:spPr>
        </p:sp>
        <p:sp>
          <p:nvSpPr>
            <p:cNvPr id="15394" name="Line 31"/>
            <p:cNvSpPr/>
            <p:nvPr/>
          </p:nvSpPr>
          <p:spPr>
            <a:xfrm>
              <a:off x="2626" y="2346"/>
              <a:ext cx="509" cy="0"/>
            </a:xfrm>
            <a:prstGeom prst="line">
              <a:avLst/>
            </a:prstGeom>
            <a:ln w="12700" cap="flat" cmpd="sng">
              <a:solidFill>
                <a:schemeClr val="accent2"/>
              </a:solidFill>
              <a:prstDash val="solid"/>
              <a:headEnd type="none" w="med" len="med"/>
              <a:tailEnd type="none" w="med" len="med"/>
            </a:ln>
          </p:spPr>
        </p:sp>
        <p:sp>
          <p:nvSpPr>
            <p:cNvPr id="15395" name="Rectangle 32"/>
            <p:cNvSpPr/>
            <p:nvPr/>
          </p:nvSpPr>
          <p:spPr>
            <a:xfrm>
              <a:off x="3131" y="232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96" name="Text Box 33"/>
            <p:cNvSpPr txBox="1"/>
            <p:nvPr/>
          </p:nvSpPr>
          <p:spPr>
            <a:xfrm>
              <a:off x="3105" y="210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5397" name="Line 34"/>
            <p:cNvSpPr/>
            <p:nvPr/>
          </p:nvSpPr>
          <p:spPr>
            <a:xfrm>
              <a:off x="3319" y="2346"/>
              <a:ext cx="258" cy="0"/>
            </a:xfrm>
            <a:prstGeom prst="line">
              <a:avLst/>
            </a:prstGeom>
            <a:ln w="12700" cap="flat" cmpd="sng">
              <a:solidFill>
                <a:schemeClr val="accent2"/>
              </a:solidFill>
              <a:prstDash val="solid"/>
              <a:headEnd type="none" w="med" len="med"/>
              <a:tailEnd type="none" w="med" len="med"/>
            </a:ln>
          </p:spPr>
        </p:sp>
        <p:sp>
          <p:nvSpPr>
            <p:cNvPr id="15398" name="Line 35"/>
            <p:cNvSpPr/>
            <p:nvPr/>
          </p:nvSpPr>
          <p:spPr>
            <a:xfrm>
              <a:off x="3577" y="2346"/>
              <a:ext cx="0" cy="392"/>
            </a:xfrm>
            <a:prstGeom prst="line">
              <a:avLst/>
            </a:prstGeom>
            <a:ln w="12700" cap="flat" cmpd="sng">
              <a:solidFill>
                <a:schemeClr val="accent2"/>
              </a:solidFill>
              <a:prstDash val="solid"/>
              <a:headEnd type="none" w="med" len="med"/>
              <a:tailEnd type="none" w="med" len="med"/>
            </a:ln>
          </p:spPr>
        </p:sp>
        <p:sp>
          <p:nvSpPr>
            <p:cNvPr id="15399" name="Line 36"/>
            <p:cNvSpPr/>
            <p:nvPr/>
          </p:nvSpPr>
          <p:spPr>
            <a:xfrm>
              <a:off x="3410" y="1519"/>
              <a:ext cx="618" cy="0"/>
            </a:xfrm>
            <a:prstGeom prst="line">
              <a:avLst/>
            </a:prstGeom>
            <a:ln w="12700" cap="flat" cmpd="sng">
              <a:solidFill>
                <a:schemeClr val="accent2"/>
              </a:solidFill>
              <a:prstDash val="solid"/>
              <a:headEnd type="none" w="med" len="med"/>
              <a:tailEnd type="none" w="med" len="med"/>
            </a:ln>
          </p:spPr>
        </p:sp>
        <p:sp>
          <p:nvSpPr>
            <p:cNvPr id="15400" name="Rectangle 37"/>
            <p:cNvSpPr/>
            <p:nvPr/>
          </p:nvSpPr>
          <p:spPr>
            <a:xfrm>
              <a:off x="3863" y="149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01" name="Text Box 38"/>
            <p:cNvSpPr txBox="1"/>
            <p:nvPr/>
          </p:nvSpPr>
          <p:spPr>
            <a:xfrm>
              <a:off x="3828" y="126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5402" name="Line 39"/>
            <p:cNvSpPr/>
            <p:nvPr/>
          </p:nvSpPr>
          <p:spPr>
            <a:xfrm>
              <a:off x="4050" y="1519"/>
              <a:ext cx="209" cy="0"/>
            </a:xfrm>
            <a:prstGeom prst="line">
              <a:avLst/>
            </a:prstGeom>
            <a:ln w="12700" cap="flat" cmpd="sng">
              <a:solidFill>
                <a:schemeClr val="accent2"/>
              </a:solidFill>
              <a:prstDash val="solid"/>
              <a:headEnd type="none" w="med" len="med"/>
              <a:tailEnd type="none" w="med" len="med"/>
            </a:ln>
          </p:spPr>
        </p:sp>
        <p:sp>
          <p:nvSpPr>
            <p:cNvPr id="15403" name="Line 40"/>
            <p:cNvSpPr/>
            <p:nvPr/>
          </p:nvSpPr>
          <p:spPr>
            <a:xfrm>
              <a:off x="4259" y="1519"/>
              <a:ext cx="0" cy="284"/>
            </a:xfrm>
            <a:prstGeom prst="line">
              <a:avLst/>
            </a:prstGeom>
            <a:ln w="12700" cap="flat" cmpd="sng">
              <a:solidFill>
                <a:schemeClr val="accent2"/>
              </a:solidFill>
              <a:prstDash val="solid"/>
              <a:headEnd type="none" w="med" len="med"/>
              <a:tailEnd type="none" w="med" len="med"/>
            </a:ln>
          </p:spPr>
        </p:sp>
        <p:sp>
          <p:nvSpPr>
            <p:cNvPr id="15404" name="AutoShape 41"/>
            <p:cNvSpPr/>
            <p:nvPr/>
          </p:nvSpPr>
          <p:spPr>
            <a:xfrm rot="5400000">
              <a:off x="4413" y="1725"/>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05" name="Text Box 42"/>
            <p:cNvSpPr txBox="1"/>
            <p:nvPr/>
          </p:nvSpPr>
          <p:spPr>
            <a:xfrm>
              <a:off x="4421" y="1675"/>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5406" name="Text Box 43"/>
            <p:cNvSpPr txBox="1"/>
            <p:nvPr/>
          </p:nvSpPr>
          <p:spPr>
            <a:xfrm>
              <a:off x="4528" y="186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5407" name="Line 44"/>
            <p:cNvSpPr/>
            <p:nvPr/>
          </p:nvSpPr>
          <p:spPr>
            <a:xfrm>
              <a:off x="3403" y="2738"/>
              <a:ext cx="609" cy="0"/>
            </a:xfrm>
            <a:prstGeom prst="line">
              <a:avLst/>
            </a:prstGeom>
            <a:ln w="12700" cap="flat" cmpd="sng">
              <a:solidFill>
                <a:schemeClr val="accent2"/>
              </a:solidFill>
              <a:prstDash val="solid"/>
              <a:headEnd type="none" w="med" len="med"/>
              <a:tailEnd type="none" w="med" len="med"/>
            </a:ln>
          </p:spPr>
        </p:sp>
        <p:sp>
          <p:nvSpPr>
            <p:cNvPr id="15408" name="Rectangle 45"/>
            <p:cNvSpPr/>
            <p:nvPr/>
          </p:nvSpPr>
          <p:spPr>
            <a:xfrm>
              <a:off x="3851" y="2713"/>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09" name="Text Box 46"/>
            <p:cNvSpPr txBox="1"/>
            <p:nvPr/>
          </p:nvSpPr>
          <p:spPr>
            <a:xfrm>
              <a:off x="3815" y="2474"/>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5410" name="Line 47"/>
            <p:cNvSpPr/>
            <p:nvPr/>
          </p:nvSpPr>
          <p:spPr>
            <a:xfrm>
              <a:off x="4041" y="2738"/>
              <a:ext cx="209" cy="0"/>
            </a:xfrm>
            <a:prstGeom prst="line">
              <a:avLst/>
            </a:prstGeom>
            <a:ln w="12700" cap="flat" cmpd="sng">
              <a:solidFill>
                <a:schemeClr val="accent2"/>
              </a:solidFill>
              <a:prstDash val="solid"/>
              <a:headEnd type="none" w="med" len="med"/>
              <a:tailEnd type="none" w="med" len="med"/>
            </a:ln>
          </p:spPr>
        </p:sp>
        <p:sp>
          <p:nvSpPr>
            <p:cNvPr id="15411" name="Line 48"/>
            <p:cNvSpPr/>
            <p:nvPr/>
          </p:nvSpPr>
          <p:spPr>
            <a:xfrm flipV="1">
              <a:off x="4250" y="2120"/>
              <a:ext cx="0" cy="618"/>
            </a:xfrm>
            <a:prstGeom prst="line">
              <a:avLst/>
            </a:prstGeom>
            <a:ln w="12700" cap="flat" cmpd="sng">
              <a:solidFill>
                <a:schemeClr val="accent2"/>
              </a:solidFill>
              <a:prstDash val="solid"/>
              <a:headEnd type="none" w="med" len="med"/>
              <a:tailEnd type="none" w="med" len="med"/>
            </a:ln>
          </p:spPr>
        </p:sp>
        <p:sp>
          <p:nvSpPr>
            <p:cNvPr id="15412" name="Oval 49"/>
            <p:cNvSpPr/>
            <p:nvPr/>
          </p:nvSpPr>
          <p:spPr>
            <a:xfrm>
              <a:off x="5307" y="1945"/>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13" name="Text Box 50"/>
            <p:cNvSpPr txBox="1"/>
            <p:nvPr/>
          </p:nvSpPr>
          <p:spPr>
            <a:xfrm>
              <a:off x="5344" y="1853"/>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5414" name="Text Box 51"/>
            <p:cNvSpPr txBox="1"/>
            <p:nvPr/>
          </p:nvSpPr>
          <p:spPr>
            <a:xfrm>
              <a:off x="3448" y="1286"/>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5415" name="Oval 52"/>
            <p:cNvSpPr/>
            <p:nvPr/>
          </p:nvSpPr>
          <p:spPr>
            <a:xfrm>
              <a:off x="3558" y="149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16" name="Oval 53"/>
            <p:cNvSpPr/>
            <p:nvPr/>
          </p:nvSpPr>
          <p:spPr>
            <a:xfrm>
              <a:off x="2610" y="187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17" name="Oval 54"/>
            <p:cNvSpPr/>
            <p:nvPr/>
          </p:nvSpPr>
          <p:spPr>
            <a:xfrm>
              <a:off x="2600" y="23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18" name="Text Box 55"/>
            <p:cNvSpPr txBox="1"/>
            <p:nvPr/>
          </p:nvSpPr>
          <p:spPr>
            <a:xfrm>
              <a:off x="3469" y="277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5419" name="Oval 56"/>
            <p:cNvSpPr/>
            <p:nvPr/>
          </p:nvSpPr>
          <p:spPr>
            <a:xfrm>
              <a:off x="3553" y="27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20" name="Oval 57"/>
            <p:cNvSpPr/>
            <p:nvPr/>
          </p:nvSpPr>
          <p:spPr>
            <a:xfrm>
              <a:off x="5077" y="19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21" name="Line 58"/>
            <p:cNvSpPr/>
            <p:nvPr/>
          </p:nvSpPr>
          <p:spPr>
            <a:xfrm flipV="1">
              <a:off x="5102" y="1511"/>
              <a:ext cx="0" cy="459"/>
            </a:xfrm>
            <a:prstGeom prst="line">
              <a:avLst/>
            </a:prstGeom>
            <a:ln w="12700" cap="flat" cmpd="sng">
              <a:solidFill>
                <a:schemeClr val="accent2"/>
              </a:solidFill>
              <a:prstDash val="solid"/>
              <a:headEnd type="none" w="med" len="med"/>
              <a:tailEnd type="none" w="med" len="med"/>
            </a:ln>
          </p:spPr>
        </p:sp>
        <p:sp>
          <p:nvSpPr>
            <p:cNvPr id="15422" name="Line 59"/>
            <p:cNvSpPr/>
            <p:nvPr/>
          </p:nvSpPr>
          <p:spPr>
            <a:xfrm flipH="1">
              <a:off x="4759" y="1511"/>
              <a:ext cx="343" cy="0"/>
            </a:xfrm>
            <a:prstGeom prst="line">
              <a:avLst/>
            </a:prstGeom>
            <a:ln w="12700" cap="flat" cmpd="sng">
              <a:solidFill>
                <a:schemeClr val="accent2"/>
              </a:solidFill>
              <a:prstDash val="solid"/>
              <a:headEnd type="none" w="med" len="med"/>
              <a:tailEnd type="none" w="med" len="med"/>
            </a:ln>
          </p:spPr>
        </p:sp>
        <p:sp>
          <p:nvSpPr>
            <p:cNvPr id="15423" name="Rectangle 60"/>
            <p:cNvSpPr/>
            <p:nvPr/>
          </p:nvSpPr>
          <p:spPr>
            <a:xfrm>
              <a:off x="4581" y="148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24" name="Text Box 61"/>
            <p:cNvSpPr txBox="1"/>
            <p:nvPr/>
          </p:nvSpPr>
          <p:spPr>
            <a:xfrm>
              <a:off x="4551" y="12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5425" name="Line 62"/>
            <p:cNvSpPr/>
            <p:nvPr/>
          </p:nvSpPr>
          <p:spPr>
            <a:xfrm flipH="1">
              <a:off x="4259" y="1519"/>
              <a:ext cx="317" cy="0"/>
            </a:xfrm>
            <a:prstGeom prst="line">
              <a:avLst/>
            </a:prstGeom>
            <a:ln w="12700" cap="flat" cmpd="sng">
              <a:solidFill>
                <a:schemeClr val="accent2"/>
              </a:solidFill>
              <a:prstDash val="solid"/>
              <a:headEnd type="none" w="med" len="med"/>
              <a:tailEnd type="none" w="med" len="med"/>
            </a:ln>
          </p:spPr>
        </p:sp>
        <p:sp>
          <p:nvSpPr>
            <p:cNvPr id="15426" name="Oval 63"/>
            <p:cNvSpPr/>
            <p:nvPr/>
          </p:nvSpPr>
          <p:spPr>
            <a:xfrm>
              <a:off x="4234" y="149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27" name="Line 64"/>
            <p:cNvSpPr/>
            <p:nvPr/>
          </p:nvSpPr>
          <p:spPr>
            <a:xfrm>
              <a:off x="4250" y="2738"/>
              <a:ext cx="334" cy="0"/>
            </a:xfrm>
            <a:prstGeom prst="line">
              <a:avLst/>
            </a:prstGeom>
            <a:ln w="12700" cap="flat" cmpd="sng">
              <a:solidFill>
                <a:schemeClr val="accent2"/>
              </a:solidFill>
              <a:prstDash val="solid"/>
              <a:headEnd type="none" w="med" len="med"/>
              <a:tailEnd type="none" w="med" len="med"/>
            </a:ln>
          </p:spPr>
        </p:sp>
        <p:sp>
          <p:nvSpPr>
            <p:cNvPr id="15428" name="Rectangle 65"/>
            <p:cNvSpPr/>
            <p:nvPr/>
          </p:nvSpPr>
          <p:spPr>
            <a:xfrm>
              <a:off x="4585" y="271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29" name="Text Box 66"/>
            <p:cNvSpPr txBox="1"/>
            <p:nvPr/>
          </p:nvSpPr>
          <p:spPr>
            <a:xfrm>
              <a:off x="4555" y="250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5430" name="Line 67"/>
            <p:cNvSpPr/>
            <p:nvPr/>
          </p:nvSpPr>
          <p:spPr>
            <a:xfrm>
              <a:off x="4768" y="2738"/>
              <a:ext cx="367" cy="0"/>
            </a:xfrm>
            <a:prstGeom prst="line">
              <a:avLst/>
            </a:prstGeom>
            <a:ln w="12700" cap="flat" cmpd="sng">
              <a:solidFill>
                <a:schemeClr val="accent2"/>
              </a:solidFill>
              <a:prstDash val="solid"/>
              <a:headEnd type="none" w="med" len="med"/>
              <a:tailEnd type="none" w="med" len="med"/>
            </a:ln>
          </p:spPr>
        </p:sp>
        <p:sp>
          <p:nvSpPr>
            <p:cNvPr id="15431" name="Line 68"/>
            <p:cNvSpPr/>
            <p:nvPr/>
          </p:nvSpPr>
          <p:spPr>
            <a:xfrm>
              <a:off x="5135" y="2738"/>
              <a:ext cx="0" cy="167"/>
            </a:xfrm>
            <a:prstGeom prst="line">
              <a:avLst/>
            </a:prstGeom>
            <a:ln w="12700" cap="flat" cmpd="sng">
              <a:solidFill>
                <a:schemeClr val="accent2"/>
              </a:solidFill>
              <a:prstDash val="solid"/>
              <a:headEnd type="none" w="med" len="med"/>
              <a:tailEnd type="none" w="med" len="med"/>
            </a:ln>
          </p:spPr>
        </p:sp>
        <p:sp>
          <p:nvSpPr>
            <p:cNvPr id="15432" name="Line 69"/>
            <p:cNvSpPr/>
            <p:nvPr/>
          </p:nvSpPr>
          <p:spPr>
            <a:xfrm>
              <a:off x="5052" y="2905"/>
              <a:ext cx="167" cy="0"/>
            </a:xfrm>
            <a:prstGeom prst="line">
              <a:avLst/>
            </a:prstGeom>
            <a:ln w="28575" cap="flat" cmpd="sng">
              <a:solidFill>
                <a:schemeClr val="accent2"/>
              </a:solidFill>
              <a:prstDash val="solid"/>
              <a:headEnd type="none" w="med" len="med"/>
              <a:tailEnd type="none" w="med" len="med"/>
            </a:ln>
          </p:spPr>
        </p:sp>
        <p:sp>
          <p:nvSpPr>
            <p:cNvPr id="15433" name="Text Box 70"/>
            <p:cNvSpPr txBox="1"/>
            <p:nvPr/>
          </p:nvSpPr>
          <p:spPr>
            <a:xfrm>
              <a:off x="3014" y="3164"/>
              <a:ext cx="1853"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测量放大器原理电路</a:t>
              </a:r>
              <a:endParaRPr lang="zh-CN" altLang="en-US" sz="2400" b="1" dirty="0">
                <a:solidFill>
                  <a:srgbClr val="000099"/>
                </a:solidFill>
                <a:latin typeface="Times New Roman" panose="02020603050405020304" pitchFamily="18" charset="0"/>
              </a:endParaRPr>
            </a:p>
          </p:txBody>
        </p:sp>
        <p:sp>
          <p:nvSpPr>
            <p:cNvPr id="15434" name="Line 71"/>
            <p:cNvSpPr/>
            <p:nvPr/>
          </p:nvSpPr>
          <p:spPr>
            <a:xfrm>
              <a:off x="2517" y="1862"/>
              <a:ext cx="0" cy="434"/>
            </a:xfrm>
            <a:prstGeom prst="line">
              <a:avLst/>
            </a:prstGeom>
            <a:ln w="9525" cap="flat" cmpd="sng">
              <a:solidFill>
                <a:schemeClr val="accent2"/>
              </a:solidFill>
              <a:prstDash val="solid"/>
              <a:headEnd type="none" w="med" len="med"/>
              <a:tailEnd type="triangle" w="sm" len="lg"/>
            </a:ln>
          </p:spPr>
        </p:sp>
        <p:sp>
          <p:nvSpPr>
            <p:cNvPr id="15435" name="Text Box 72"/>
            <p:cNvSpPr txBox="1"/>
            <p:nvPr/>
          </p:nvSpPr>
          <p:spPr>
            <a:xfrm>
              <a:off x="2282" y="1993"/>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5436" name="Line 73"/>
            <p:cNvSpPr/>
            <p:nvPr/>
          </p:nvSpPr>
          <p:spPr>
            <a:xfrm>
              <a:off x="2626" y="1879"/>
              <a:ext cx="0" cy="133"/>
            </a:xfrm>
            <a:prstGeom prst="line">
              <a:avLst/>
            </a:prstGeom>
            <a:ln w="12700" cap="flat" cmpd="sng">
              <a:solidFill>
                <a:schemeClr val="accent2"/>
              </a:solidFill>
              <a:prstDash val="solid"/>
              <a:headEnd type="none" w="med" len="med"/>
              <a:tailEnd type="none" w="med" len="med"/>
            </a:ln>
          </p:spPr>
        </p:sp>
        <p:sp>
          <p:nvSpPr>
            <p:cNvPr id="15437" name="Line 74"/>
            <p:cNvSpPr/>
            <p:nvPr/>
          </p:nvSpPr>
          <p:spPr>
            <a:xfrm flipV="1">
              <a:off x="2626" y="2230"/>
              <a:ext cx="0" cy="116"/>
            </a:xfrm>
            <a:prstGeom prst="line">
              <a:avLst/>
            </a:prstGeom>
            <a:ln w="12700" cap="flat" cmpd="sng">
              <a:solidFill>
                <a:schemeClr val="accent2"/>
              </a:solidFill>
              <a:prstDash val="solid"/>
              <a:headEnd type="none" w="med" len="med"/>
              <a:tailEnd type="none" w="med" len="med"/>
            </a:ln>
          </p:spPr>
        </p:sp>
        <p:sp>
          <p:nvSpPr>
            <p:cNvPr id="15438" name="Oval 75"/>
            <p:cNvSpPr/>
            <p:nvPr/>
          </p:nvSpPr>
          <p:spPr>
            <a:xfrm>
              <a:off x="4230" y="271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439" name="Line 76"/>
            <p:cNvSpPr/>
            <p:nvPr/>
          </p:nvSpPr>
          <p:spPr>
            <a:xfrm>
              <a:off x="4251" y="2121"/>
              <a:ext cx="192" cy="0"/>
            </a:xfrm>
            <a:prstGeom prst="line">
              <a:avLst/>
            </a:prstGeom>
            <a:ln w="12700" cap="flat" cmpd="sng">
              <a:solidFill>
                <a:schemeClr val="accent2"/>
              </a:solidFill>
              <a:prstDash val="solid"/>
              <a:headEnd type="none" w="med" len="med"/>
              <a:tailEnd type="none" w="med" len="med"/>
            </a:ln>
          </p:spPr>
        </p:sp>
        <p:sp>
          <p:nvSpPr>
            <p:cNvPr id="15440" name="Line 77"/>
            <p:cNvSpPr/>
            <p:nvPr/>
          </p:nvSpPr>
          <p:spPr>
            <a:xfrm>
              <a:off x="4259" y="1803"/>
              <a:ext cx="192" cy="0"/>
            </a:xfrm>
            <a:prstGeom prst="line">
              <a:avLst/>
            </a:prstGeom>
            <a:ln w="12700" cap="flat" cmpd="sng">
              <a:solidFill>
                <a:schemeClr val="accent2"/>
              </a:solidFill>
              <a:prstDash val="solid"/>
              <a:headEnd type="none" w="med" len="med"/>
              <a:tailEnd type="none" w="med" len="med"/>
            </a:ln>
          </p:spPr>
        </p:sp>
        <p:sp>
          <p:nvSpPr>
            <p:cNvPr id="15441" name="Line 78"/>
            <p:cNvSpPr/>
            <p:nvPr/>
          </p:nvSpPr>
          <p:spPr>
            <a:xfrm>
              <a:off x="2516" y="1353"/>
              <a:ext cx="410" cy="0"/>
            </a:xfrm>
            <a:prstGeom prst="line">
              <a:avLst/>
            </a:prstGeom>
            <a:ln w="12700" cap="flat" cmpd="sng">
              <a:solidFill>
                <a:schemeClr val="accent2"/>
              </a:solidFill>
              <a:prstDash val="solid"/>
              <a:headEnd type="none" w="med" len="med"/>
              <a:tailEnd type="none" w="med" len="med"/>
            </a:ln>
          </p:spPr>
        </p:sp>
        <p:sp>
          <p:nvSpPr>
            <p:cNvPr id="15442" name="Line 79"/>
            <p:cNvSpPr/>
            <p:nvPr/>
          </p:nvSpPr>
          <p:spPr>
            <a:xfrm>
              <a:off x="2513" y="2905"/>
              <a:ext cx="413" cy="0"/>
            </a:xfrm>
            <a:prstGeom prst="line">
              <a:avLst/>
            </a:prstGeom>
            <a:ln w="12700" cap="flat" cmpd="sng">
              <a:solidFill>
                <a:schemeClr val="accent2"/>
              </a:solidFill>
              <a:prstDash val="solid"/>
              <a:headEnd type="none" w="med" len="med"/>
              <a:tailEnd type="none" w="med" len="med"/>
            </a:ln>
          </p:spPr>
        </p:sp>
        <p:sp>
          <p:nvSpPr>
            <p:cNvPr id="15443" name="Text Box 80"/>
            <p:cNvSpPr txBox="1"/>
            <p:nvPr/>
          </p:nvSpPr>
          <p:spPr>
            <a:xfrm>
              <a:off x="4127" y="1283"/>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grpSp>
      <p:grpSp>
        <p:nvGrpSpPr>
          <p:cNvPr id="3" name="Group 88"/>
          <p:cNvGrpSpPr/>
          <p:nvPr/>
        </p:nvGrpSpPr>
        <p:grpSpPr>
          <a:xfrm>
            <a:off x="360363" y="5300663"/>
            <a:ext cx="8351837" cy="749300"/>
            <a:chOff x="136" y="3339"/>
            <a:chExt cx="5261" cy="472"/>
          </a:xfrm>
        </p:grpSpPr>
        <p:sp>
          <p:nvSpPr>
            <p:cNvPr id="15368" name="Rectangle 87"/>
            <p:cNvSpPr/>
            <p:nvPr/>
          </p:nvSpPr>
          <p:spPr>
            <a:xfrm>
              <a:off x="136" y="3339"/>
              <a:ext cx="5218" cy="472"/>
            </a:xfrm>
            <a:prstGeom prst="rect">
              <a:avLst/>
            </a:prstGeom>
            <a:solidFill>
              <a:srgbClr val="CCFFFF"/>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5369" name="Text Box 85"/>
            <p:cNvSpPr txBox="1"/>
            <p:nvPr/>
          </p:nvSpPr>
          <p:spPr>
            <a:xfrm>
              <a:off x="241" y="3339"/>
              <a:ext cx="3021" cy="472"/>
            </a:xfrm>
            <a:prstGeom prst="rect">
              <a:avLst/>
            </a:prstGeom>
            <a:noFill/>
            <a:ln w="9525">
              <a:noFill/>
            </a:ln>
          </p:spPr>
          <p:txBody>
            <a:bodyPr>
              <a:spAutoFit/>
            </a:bodyPr>
            <a:p>
              <a:pPr eaLnBrk="1" hangingPunct="1">
                <a:lnSpc>
                  <a:spcPct val="90000"/>
                </a:lnSpc>
                <a:spcBef>
                  <a:spcPct val="50000"/>
                </a:spcBef>
              </a:pPr>
              <a:r>
                <a:rPr lang="zh-CN" altLang="en-US" sz="2400" b="1" dirty="0">
                  <a:solidFill>
                    <a:schemeClr val="tx1"/>
                  </a:solidFill>
                  <a:latin typeface="Times New Roman" panose="02020603050405020304" pitchFamily="18" charset="0"/>
                </a:rPr>
                <a:t>为提高共模抑制比和降低温漂影响，测量放大器采用对称结构：</a:t>
              </a:r>
              <a:endParaRPr lang="zh-CN" altLang="en-US" sz="2400" b="1" dirty="0">
                <a:solidFill>
                  <a:schemeClr val="tx1"/>
                </a:solidFill>
                <a:latin typeface="Times New Roman" panose="02020603050405020304" pitchFamily="18" charset="0"/>
              </a:endParaRPr>
            </a:p>
          </p:txBody>
        </p:sp>
        <p:sp>
          <p:nvSpPr>
            <p:cNvPr id="15370" name="Text Box 86"/>
            <p:cNvSpPr txBox="1"/>
            <p:nvPr/>
          </p:nvSpPr>
          <p:spPr>
            <a:xfrm>
              <a:off x="3217" y="3442"/>
              <a:ext cx="2180" cy="265"/>
            </a:xfrm>
            <a:prstGeom prst="rect">
              <a:avLst/>
            </a:prstGeom>
            <a:noFill/>
            <a:ln w="9525">
              <a:noFill/>
            </a:ln>
          </p:spPr>
          <p:txBody>
            <a:bodyPr>
              <a:spAutoFit/>
            </a:bodyPr>
            <a:p>
              <a:pPr eaLnBrk="1" hangingPunct="1">
                <a:lnSpc>
                  <a:spcPct val="90000"/>
                </a:lnSpc>
                <a:spcBef>
                  <a:spcPct val="50000"/>
                </a:spcBef>
              </a:pP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1</a:t>
              </a:r>
              <a:r>
                <a:rPr lang="en-US" altLang="zh-CN" sz="2400" b="1" dirty="0">
                  <a:solidFill>
                    <a:srgbClr val="FF0000"/>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2</a:t>
              </a:r>
              <a:r>
                <a:rPr lang="zh-CN" altLang="en-US" sz="2400" b="1" dirty="0">
                  <a:solidFill>
                    <a:srgbClr val="FF0000"/>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3</a:t>
              </a:r>
              <a:r>
                <a:rPr lang="en-US" altLang="zh-CN" sz="2400" b="1" dirty="0">
                  <a:solidFill>
                    <a:srgbClr val="FF0000"/>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4</a:t>
              </a:r>
              <a:r>
                <a:rPr lang="zh-CN" altLang="en-US" sz="2400" b="1" dirty="0">
                  <a:solidFill>
                    <a:srgbClr val="FF0000"/>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5</a:t>
              </a:r>
              <a:r>
                <a:rPr lang="en-US" altLang="zh-CN" sz="2400" b="1" dirty="0">
                  <a:solidFill>
                    <a:srgbClr val="FF0000"/>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6</a:t>
              </a:r>
              <a:endParaRPr lang="en-US" altLang="zh-CN" sz="2400" b="1" baseline="-25000" dirty="0">
                <a:solidFill>
                  <a:srgbClr val="FF0000"/>
                </a:solidFill>
                <a:latin typeface="Times New Roman" panose="02020603050405020304" pitchFamily="18" charset="0"/>
              </a:endParaRPr>
            </a:p>
          </p:txBody>
        </p:sp>
      </p:grpSp>
      <p:graphicFrame>
        <p:nvGraphicFramePr>
          <p:cNvPr id="2396249" name="Object 89"/>
          <p:cNvGraphicFramePr>
            <a:graphicFrameLocks noChangeAspect="1"/>
          </p:cNvGraphicFramePr>
          <p:nvPr/>
        </p:nvGraphicFramePr>
        <p:xfrm>
          <a:off x="357188" y="3873500"/>
          <a:ext cx="2663825" cy="887413"/>
        </p:xfrm>
        <a:graphic>
          <a:graphicData uri="http://schemas.openxmlformats.org/presentationml/2006/ole">
            <mc:AlternateContent xmlns:mc="http://schemas.openxmlformats.org/markup-compatibility/2006">
              <mc:Choice xmlns:v="urn:schemas-microsoft-com:vml" Requires="v">
                <p:oleObj spid="_x0000_s3086" name="" r:id="rId3" imgW="1193800" imgH="431800" progId="Equation.3">
                  <p:embed/>
                </p:oleObj>
              </mc:Choice>
              <mc:Fallback>
                <p:oleObj name="" r:id="rId3" imgW="1193800" imgH="431800" progId="Equation.3">
                  <p:embed/>
                  <p:pic>
                    <p:nvPicPr>
                      <p:cNvPr id="0" name="图片 3085"/>
                      <p:cNvPicPr/>
                      <p:nvPr/>
                    </p:nvPicPr>
                    <p:blipFill>
                      <a:blip r:embed="rId4"/>
                      <a:stretch>
                        <a:fillRect/>
                      </a:stretch>
                    </p:blipFill>
                    <p:spPr>
                      <a:xfrm>
                        <a:off x="357188" y="3873500"/>
                        <a:ext cx="2663825" cy="887413"/>
                      </a:xfrm>
                      <a:prstGeom prst="rect">
                        <a:avLst/>
                      </a:prstGeom>
                      <a:solidFill>
                        <a:srgbClr val="CCFFFF"/>
                      </a:solidFill>
                      <a:ln w="38100">
                        <a:noFill/>
                        <a:miter/>
                      </a:ln>
                    </p:spPr>
                  </p:pic>
                </p:oleObj>
              </mc:Fallback>
            </mc:AlternateContent>
          </a:graphicData>
        </a:graphic>
      </p:graphicFrame>
      <p:sp>
        <p:nvSpPr>
          <p:cNvPr id="15367" name="Text Box 77"/>
          <p:cNvSpPr txBox="1"/>
          <p:nvPr/>
        </p:nvSpPr>
        <p:spPr>
          <a:xfrm>
            <a:off x="215900" y="728663"/>
            <a:ext cx="4383088"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测量放大器的增益</a:t>
            </a:r>
            <a:endParaRPr lang="zh-CN" altLang="en-US" sz="36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6249"/>
                                        </p:tgtEl>
                                        <p:attrNameLst>
                                          <p:attrName>style.visibility</p:attrName>
                                        </p:attrNameLst>
                                      </p:cBhvr>
                                      <p:to>
                                        <p:strVal val="visible"/>
                                      </p:to>
                                    </p:set>
                                    <p:animEffect transition="in" filter="dissolve">
                                      <p:cBhvr>
                                        <p:cTn id="12" dur="500"/>
                                        <p:tgtEl>
                                          <p:spTgt spid="2396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7186" name="Text Box 2"/>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16387" name="Object 4"/>
          <p:cNvGraphicFramePr>
            <a:graphicFrameLocks noChangeAspect="1"/>
          </p:cNvGraphicFramePr>
          <p:nvPr/>
        </p:nvGraphicFramePr>
        <p:xfrm>
          <a:off x="287338" y="1557338"/>
          <a:ext cx="3117850" cy="1828800"/>
        </p:xfrm>
        <a:graphic>
          <a:graphicData uri="http://schemas.openxmlformats.org/presentationml/2006/ole">
            <mc:AlternateContent xmlns:mc="http://schemas.openxmlformats.org/markup-compatibility/2006">
              <mc:Choice xmlns:v="urn:schemas-microsoft-com:vml" Requires="v">
                <p:oleObj spid="_x0000_s3087" name="" r:id="rId1" imgW="1397000" imgH="889000" progId="Equation.3">
                  <p:embed/>
                </p:oleObj>
              </mc:Choice>
              <mc:Fallback>
                <p:oleObj name="" r:id="rId1" imgW="1397000" imgH="889000" progId="Equation.3">
                  <p:embed/>
                  <p:pic>
                    <p:nvPicPr>
                      <p:cNvPr id="0" name="图片 3086"/>
                      <p:cNvPicPr/>
                      <p:nvPr/>
                    </p:nvPicPr>
                    <p:blipFill>
                      <a:blip r:embed="rId2"/>
                      <a:stretch>
                        <a:fillRect/>
                      </a:stretch>
                    </p:blipFill>
                    <p:spPr>
                      <a:xfrm>
                        <a:off x="287338" y="1557338"/>
                        <a:ext cx="3117850" cy="1828800"/>
                      </a:xfrm>
                      <a:prstGeom prst="rect">
                        <a:avLst/>
                      </a:prstGeom>
                      <a:solidFill>
                        <a:schemeClr val="bg1"/>
                      </a:solidFill>
                      <a:ln w="38100">
                        <a:noFill/>
                        <a:miter/>
                      </a:ln>
                    </p:spPr>
                  </p:pic>
                </p:oleObj>
              </mc:Fallback>
            </mc:AlternateContent>
          </a:graphicData>
        </a:graphic>
      </p:graphicFrame>
      <p:grpSp>
        <p:nvGrpSpPr>
          <p:cNvPr id="16388" name="Group 5"/>
          <p:cNvGrpSpPr/>
          <p:nvPr/>
        </p:nvGrpSpPr>
        <p:grpSpPr>
          <a:xfrm>
            <a:off x="3478213" y="1376363"/>
            <a:ext cx="5486400" cy="3708400"/>
            <a:chOff x="2191" y="1139"/>
            <a:chExt cx="3456" cy="2336"/>
          </a:xfrm>
        </p:grpSpPr>
        <p:sp>
          <p:nvSpPr>
            <p:cNvPr id="16392" name="Rectangle 6"/>
            <p:cNvSpPr/>
            <p:nvPr/>
          </p:nvSpPr>
          <p:spPr>
            <a:xfrm>
              <a:off x="2191" y="1139"/>
              <a:ext cx="3456"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393" name="Line 7"/>
            <p:cNvSpPr/>
            <p:nvPr/>
          </p:nvSpPr>
          <p:spPr>
            <a:xfrm>
              <a:off x="4826" y="1970"/>
              <a:ext cx="485" cy="0"/>
            </a:xfrm>
            <a:prstGeom prst="line">
              <a:avLst/>
            </a:prstGeom>
            <a:ln w="12700" cap="flat" cmpd="sng">
              <a:solidFill>
                <a:schemeClr val="accent2"/>
              </a:solidFill>
              <a:prstDash val="solid"/>
              <a:headEnd type="none" w="med" len="med"/>
              <a:tailEnd type="none" w="med" len="med"/>
            </a:ln>
          </p:spPr>
        </p:sp>
        <p:sp>
          <p:nvSpPr>
            <p:cNvPr id="16394" name="Oval 8"/>
            <p:cNvSpPr/>
            <p:nvPr/>
          </p:nvSpPr>
          <p:spPr>
            <a:xfrm>
              <a:off x="2466" y="132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395" name="Text Box 9"/>
            <p:cNvSpPr txBox="1"/>
            <p:nvPr/>
          </p:nvSpPr>
          <p:spPr>
            <a:xfrm>
              <a:off x="2191" y="123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6396" name="Text Box 10"/>
            <p:cNvSpPr txBox="1"/>
            <p:nvPr/>
          </p:nvSpPr>
          <p:spPr>
            <a:xfrm>
              <a:off x="2195" y="2774"/>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6397" name="Oval 11"/>
            <p:cNvSpPr/>
            <p:nvPr/>
          </p:nvSpPr>
          <p:spPr>
            <a:xfrm>
              <a:off x="2469" y="2877"/>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398" name="AutoShape 12"/>
            <p:cNvSpPr/>
            <p:nvPr/>
          </p:nvSpPr>
          <p:spPr>
            <a:xfrm rot="5400000">
              <a:off x="2893" y="1270"/>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399" name="Text Box 13"/>
            <p:cNvSpPr txBox="1"/>
            <p:nvPr/>
          </p:nvSpPr>
          <p:spPr>
            <a:xfrm>
              <a:off x="2901" y="1262"/>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6400" name="Text Box 14"/>
            <p:cNvSpPr txBox="1"/>
            <p:nvPr/>
          </p:nvSpPr>
          <p:spPr>
            <a:xfrm>
              <a:off x="2999" y="1416"/>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6401" name="AutoShape 15"/>
            <p:cNvSpPr/>
            <p:nvPr/>
          </p:nvSpPr>
          <p:spPr>
            <a:xfrm rot="5400000">
              <a:off x="2889" y="249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02" name="Text Box 16"/>
            <p:cNvSpPr txBox="1"/>
            <p:nvPr/>
          </p:nvSpPr>
          <p:spPr>
            <a:xfrm>
              <a:off x="2897" y="2485"/>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6403" name="Text Box 17"/>
            <p:cNvSpPr txBox="1"/>
            <p:nvPr/>
          </p:nvSpPr>
          <p:spPr>
            <a:xfrm>
              <a:off x="2995" y="2639"/>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6404" name="Line 18"/>
            <p:cNvSpPr/>
            <p:nvPr/>
          </p:nvSpPr>
          <p:spPr>
            <a:xfrm flipH="1">
              <a:off x="2626" y="1678"/>
              <a:ext cx="300" cy="0"/>
            </a:xfrm>
            <a:prstGeom prst="line">
              <a:avLst/>
            </a:prstGeom>
            <a:ln w="12700" cap="flat" cmpd="sng">
              <a:solidFill>
                <a:schemeClr val="accent2"/>
              </a:solidFill>
              <a:prstDash val="solid"/>
              <a:headEnd type="none" w="med" len="med"/>
              <a:tailEnd type="none" w="med" len="med"/>
            </a:ln>
          </p:spPr>
        </p:sp>
        <p:sp>
          <p:nvSpPr>
            <p:cNvPr id="16405" name="Line 19"/>
            <p:cNvSpPr/>
            <p:nvPr/>
          </p:nvSpPr>
          <p:spPr>
            <a:xfrm>
              <a:off x="2626" y="1677"/>
              <a:ext cx="0" cy="226"/>
            </a:xfrm>
            <a:prstGeom prst="line">
              <a:avLst/>
            </a:prstGeom>
            <a:ln w="12700" cap="flat" cmpd="sng">
              <a:solidFill>
                <a:schemeClr val="accent2"/>
              </a:solidFill>
              <a:prstDash val="solid"/>
              <a:headEnd type="none" w="med" len="med"/>
              <a:tailEnd type="none" w="med" len="med"/>
            </a:ln>
          </p:spPr>
        </p:sp>
        <p:sp>
          <p:nvSpPr>
            <p:cNvPr id="16406" name="Rectangle 20"/>
            <p:cNvSpPr/>
            <p:nvPr/>
          </p:nvSpPr>
          <p:spPr>
            <a:xfrm>
              <a:off x="2600" y="2011"/>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07" name="Text Box 21"/>
            <p:cNvSpPr txBox="1"/>
            <p:nvPr/>
          </p:nvSpPr>
          <p:spPr>
            <a:xfrm>
              <a:off x="2652" y="2030"/>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6408" name="Line 22"/>
            <p:cNvSpPr/>
            <p:nvPr/>
          </p:nvSpPr>
          <p:spPr>
            <a:xfrm>
              <a:off x="2626" y="2346"/>
              <a:ext cx="0" cy="233"/>
            </a:xfrm>
            <a:prstGeom prst="line">
              <a:avLst/>
            </a:prstGeom>
            <a:ln w="12700" cap="flat" cmpd="sng">
              <a:solidFill>
                <a:schemeClr val="accent2"/>
              </a:solidFill>
              <a:prstDash val="solid"/>
              <a:headEnd type="none" w="med" len="med"/>
              <a:tailEnd type="none" w="med" len="med"/>
            </a:ln>
          </p:spPr>
        </p:sp>
        <p:sp>
          <p:nvSpPr>
            <p:cNvPr id="16409" name="Line 23"/>
            <p:cNvSpPr/>
            <p:nvPr/>
          </p:nvSpPr>
          <p:spPr>
            <a:xfrm>
              <a:off x="2626" y="2571"/>
              <a:ext cx="292" cy="0"/>
            </a:xfrm>
            <a:prstGeom prst="line">
              <a:avLst/>
            </a:prstGeom>
            <a:ln w="12700" cap="flat" cmpd="sng">
              <a:solidFill>
                <a:schemeClr val="accent2"/>
              </a:solidFill>
              <a:prstDash val="solid"/>
              <a:headEnd type="none" w="med" len="med"/>
              <a:tailEnd type="none" w="med" len="med"/>
            </a:ln>
          </p:spPr>
        </p:sp>
        <p:sp>
          <p:nvSpPr>
            <p:cNvPr id="16410" name="Line 24"/>
            <p:cNvSpPr/>
            <p:nvPr/>
          </p:nvSpPr>
          <p:spPr>
            <a:xfrm>
              <a:off x="2626" y="1903"/>
              <a:ext cx="501" cy="0"/>
            </a:xfrm>
            <a:prstGeom prst="line">
              <a:avLst/>
            </a:prstGeom>
            <a:ln w="12700" cap="flat" cmpd="sng">
              <a:solidFill>
                <a:schemeClr val="accent2"/>
              </a:solidFill>
              <a:prstDash val="solid"/>
              <a:headEnd type="none" w="med" len="med"/>
              <a:tailEnd type="none" w="med" len="med"/>
            </a:ln>
          </p:spPr>
        </p:sp>
        <p:sp>
          <p:nvSpPr>
            <p:cNvPr id="16411" name="Rectangle 25"/>
            <p:cNvSpPr/>
            <p:nvPr/>
          </p:nvSpPr>
          <p:spPr>
            <a:xfrm>
              <a:off x="3127" y="18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12" name="Text Box 26"/>
            <p:cNvSpPr txBox="1"/>
            <p:nvPr/>
          </p:nvSpPr>
          <p:spPr>
            <a:xfrm>
              <a:off x="3102" y="16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6413" name="Line 27"/>
            <p:cNvSpPr/>
            <p:nvPr/>
          </p:nvSpPr>
          <p:spPr>
            <a:xfrm>
              <a:off x="3311" y="1903"/>
              <a:ext cx="266" cy="0"/>
            </a:xfrm>
            <a:prstGeom prst="line">
              <a:avLst/>
            </a:prstGeom>
            <a:ln w="12700" cap="flat" cmpd="sng">
              <a:solidFill>
                <a:schemeClr val="accent2"/>
              </a:solidFill>
              <a:prstDash val="solid"/>
              <a:headEnd type="none" w="med" len="med"/>
              <a:tailEnd type="none" w="med" len="med"/>
            </a:ln>
          </p:spPr>
        </p:sp>
        <p:sp>
          <p:nvSpPr>
            <p:cNvPr id="16414" name="Line 28"/>
            <p:cNvSpPr/>
            <p:nvPr/>
          </p:nvSpPr>
          <p:spPr>
            <a:xfrm flipV="1">
              <a:off x="3577" y="1519"/>
              <a:ext cx="0" cy="384"/>
            </a:xfrm>
            <a:prstGeom prst="line">
              <a:avLst/>
            </a:prstGeom>
            <a:ln w="12700" cap="flat" cmpd="sng">
              <a:solidFill>
                <a:schemeClr val="accent2"/>
              </a:solidFill>
              <a:prstDash val="solid"/>
              <a:headEnd type="none" w="med" len="med"/>
              <a:tailEnd type="none" w="med" len="med"/>
            </a:ln>
          </p:spPr>
        </p:sp>
        <p:sp>
          <p:nvSpPr>
            <p:cNvPr id="16415" name="Line 29"/>
            <p:cNvSpPr/>
            <p:nvPr/>
          </p:nvSpPr>
          <p:spPr>
            <a:xfrm>
              <a:off x="2626" y="2346"/>
              <a:ext cx="509" cy="0"/>
            </a:xfrm>
            <a:prstGeom prst="line">
              <a:avLst/>
            </a:prstGeom>
            <a:ln w="12700" cap="flat" cmpd="sng">
              <a:solidFill>
                <a:schemeClr val="accent2"/>
              </a:solidFill>
              <a:prstDash val="solid"/>
              <a:headEnd type="none" w="med" len="med"/>
              <a:tailEnd type="none" w="med" len="med"/>
            </a:ln>
          </p:spPr>
        </p:sp>
        <p:sp>
          <p:nvSpPr>
            <p:cNvPr id="16416" name="Rectangle 30"/>
            <p:cNvSpPr/>
            <p:nvPr/>
          </p:nvSpPr>
          <p:spPr>
            <a:xfrm>
              <a:off x="3131" y="232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17" name="Text Box 31"/>
            <p:cNvSpPr txBox="1"/>
            <p:nvPr/>
          </p:nvSpPr>
          <p:spPr>
            <a:xfrm>
              <a:off x="3105" y="210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6418" name="Line 32"/>
            <p:cNvSpPr/>
            <p:nvPr/>
          </p:nvSpPr>
          <p:spPr>
            <a:xfrm>
              <a:off x="3319" y="2346"/>
              <a:ext cx="258" cy="0"/>
            </a:xfrm>
            <a:prstGeom prst="line">
              <a:avLst/>
            </a:prstGeom>
            <a:ln w="12700" cap="flat" cmpd="sng">
              <a:solidFill>
                <a:schemeClr val="accent2"/>
              </a:solidFill>
              <a:prstDash val="solid"/>
              <a:headEnd type="none" w="med" len="med"/>
              <a:tailEnd type="none" w="med" len="med"/>
            </a:ln>
          </p:spPr>
        </p:sp>
        <p:sp>
          <p:nvSpPr>
            <p:cNvPr id="16419" name="Line 33"/>
            <p:cNvSpPr/>
            <p:nvPr/>
          </p:nvSpPr>
          <p:spPr>
            <a:xfrm>
              <a:off x="3577" y="2346"/>
              <a:ext cx="0" cy="392"/>
            </a:xfrm>
            <a:prstGeom prst="line">
              <a:avLst/>
            </a:prstGeom>
            <a:ln w="12700" cap="flat" cmpd="sng">
              <a:solidFill>
                <a:schemeClr val="accent2"/>
              </a:solidFill>
              <a:prstDash val="solid"/>
              <a:headEnd type="none" w="med" len="med"/>
              <a:tailEnd type="none" w="med" len="med"/>
            </a:ln>
          </p:spPr>
        </p:sp>
        <p:sp>
          <p:nvSpPr>
            <p:cNvPr id="16420" name="Line 34"/>
            <p:cNvSpPr/>
            <p:nvPr/>
          </p:nvSpPr>
          <p:spPr>
            <a:xfrm>
              <a:off x="3410" y="1519"/>
              <a:ext cx="618" cy="0"/>
            </a:xfrm>
            <a:prstGeom prst="line">
              <a:avLst/>
            </a:prstGeom>
            <a:ln w="12700" cap="flat" cmpd="sng">
              <a:solidFill>
                <a:schemeClr val="accent2"/>
              </a:solidFill>
              <a:prstDash val="solid"/>
              <a:headEnd type="none" w="med" len="med"/>
              <a:tailEnd type="none" w="med" len="med"/>
            </a:ln>
          </p:spPr>
        </p:sp>
        <p:sp>
          <p:nvSpPr>
            <p:cNvPr id="16421" name="Rectangle 35"/>
            <p:cNvSpPr/>
            <p:nvPr/>
          </p:nvSpPr>
          <p:spPr>
            <a:xfrm>
              <a:off x="3863" y="149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22" name="Text Box 36"/>
            <p:cNvSpPr txBox="1"/>
            <p:nvPr/>
          </p:nvSpPr>
          <p:spPr>
            <a:xfrm>
              <a:off x="3828" y="126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6423" name="Line 37"/>
            <p:cNvSpPr/>
            <p:nvPr/>
          </p:nvSpPr>
          <p:spPr>
            <a:xfrm>
              <a:off x="4050" y="1519"/>
              <a:ext cx="209" cy="0"/>
            </a:xfrm>
            <a:prstGeom prst="line">
              <a:avLst/>
            </a:prstGeom>
            <a:ln w="12700" cap="flat" cmpd="sng">
              <a:solidFill>
                <a:schemeClr val="accent2"/>
              </a:solidFill>
              <a:prstDash val="solid"/>
              <a:headEnd type="none" w="med" len="med"/>
              <a:tailEnd type="none" w="med" len="med"/>
            </a:ln>
          </p:spPr>
        </p:sp>
        <p:sp>
          <p:nvSpPr>
            <p:cNvPr id="16424" name="Line 38"/>
            <p:cNvSpPr/>
            <p:nvPr/>
          </p:nvSpPr>
          <p:spPr>
            <a:xfrm>
              <a:off x="4259" y="1519"/>
              <a:ext cx="0" cy="284"/>
            </a:xfrm>
            <a:prstGeom prst="line">
              <a:avLst/>
            </a:prstGeom>
            <a:ln w="12700" cap="flat" cmpd="sng">
              <a:solidFill>
                <a:schemeClr val="accent2"/>
              </a:solidFill>
              <a:prstDash val="solid"/>
              <a:headEnd type="none" w="med" len="med"/>
              <a:tailEnd type="none" w="med" len="med"/>
            </a:ln>
          </p:spPr>
        </p:sp>
        <p:sp>
          <p:nvSpPr>
            <p:cNvPr id="16425" name="AutoShape 39"/>
            <p:cNvSpPr/>
            <p:nvPr/>
          </p:nvSpPr>
          <p:spPr>
            <a:xfrm rot="5400000">
              <a:off x="4413" y="1725"/>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26" name="Text Box 40"/>
            <p:cNvSpPr txBox="1"/>
            <p:nvPr/>
          </p:nvSpPr>
          <p:spPr>
            <a:xfrm>
              <a:off x="4421" y="1675"/>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6427" name="Text Box 41"/>
            <p:cNvSpPr txBox="1"/>
            <p:nvPr/>
          </p:nvSpPr>
          <p:spPr>
            <a:xfrm>
              <a:off x="4528" y="186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6428" name="Line 42"/>
            <p:cNvSpPr/>
            <p:nvPr/>
          </p:nvSpPr>
          <p:spPr>
            <a:xfrm>
              <a:off x="3403" y="2738"/>
              <a:ext cx="609" cy="0"/>
            </a:xfrm>
            <a:prstGeom prst="line">
              <a:avLst/>
            </a:prstGeom>
            <a:ln w="12700" cap="flat" cmpd="sng">
              <a:solidFill>
                <a:schemeClr val="accent2"/>
              </a:solidFill>
              <a:prstDash val="solid"/>
              <a:headEnd type="none" w="med" len="med"/>
              <a:tailEnd type="none" w="med" len="med"/>
            </a:ln>
          </p:spPr>
        </p:sp>
        <p:sp>
          <p:nvSpPr>
            <p:cNvPr id="16429" name="Rectangle 43"/>
            <p:cNvSpPr/>
            <p:nvPr/>
          </p:nvSpPr>
          <p:spPr>
            <a:xfrm>
              <a:off x="3851" y="2713"/>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30" name="Text Box 44"/>
            <p:cNvSpPr txBox="1"/>
            <p:nvPr/>
          </p:nvSpPr>
          <p:spPr>
            <a:xfrm>
              <a:off x="3815" y="2474"/>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6431" name="Line 45"/>
            <p:cNvSpPr/>
            <p:nvPr/>
          </p:nvSpPr>
          <p:spPr>
            <a:xfrm>
              <a:off x="4041" y="2738"/>
              <a:ext cx="209" cy="0"/>
            </a:xfrm>
            <a:prstGeom prst="line">
              <a:avLst/>
            </a:prstGeom>
            <a:ln w="12700" cap="flat" cmpd="sng">
              <a:solidFill>
                <a:schemeClr val="accent2"/>
              </a:solidFill>
              <a:prstDash val="solid"/>
              <a:headEnd type="none" w="med" len="med"/>
              <a:tailEnd type="none" w="med" len="med"/>
            </a:ln>
          </p:spPr>
        </p:sp>
        <p:sp>
          <p:nvSpPr>
            <p:cNvPr id="16432" name="Line 46"/>
            <p:cNvSpPr/>
            <p:nvPr/>
          </p:nvSpPr>
          <p:spPr>
            <a:xfrm flipV="1">
              <a:off x="4250" y="2120"/>
              <a:ext cx="0" cy="618"/>
            </a:xfrm>
            <a:prstGeom prst="line">
              <a:avLst/>
            </a:prstGeom>
            <a:ln w="12700" cap="flat" cmpd="sng">
              <a:solidFill>
                <a:schemeClr val="accent2"/>
              </a:solidFill>
              <a:prstDash val="solid"/>
              <a:headEnd type="none" w="med" len="med"/>
              <a:tailEnd type="none" w="med" len="med"/>
            </a:ln>
          </p:spPr>
        </p:sp>
        <p:sp>
          <p:nvSpPr>
            <p:cNvPr id="16433" name="Oval 47"/>
            <p:cNvSpPr/>
            <p:nvPr/>
          </p:nvSpPr>
          <p:spPr>
            <a:xfrm>
              <a:off x="5307" y="1945"/>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34" name="Text Box 48"/>
            <p:cNvSpPr txBox="1"/>
            <p:nvPr/>
          </p:nvSpPr>
          <p:spPr>
            <a:xfrm>
              <a:off x="5344" y="1853"/>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6435" name="Text Box 49"/>
            <p:cNvSpPr txBox="1"/>
            <p:nvPr/>
          </p:nvSpPr>
          <p:spPr>
            <a:xfrm>
              <a:off x="3448" y="1286"/>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6436" name="Oval 50"/>
            <p:cNvSpPr/>
            <p:nvPr/>
          </p:nvSpPr>
          <p:spPr>
            <a:xfrm>
              <a:off x="3558" y="149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37" name="Oval 51"/>
            <p:cNvSpPr/>
            <p:nvPr/>
          </p:nvSpPr>
          <p:spPr>
            <a:xfrm>
              <a:off x="2610" y="187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38" name="Oval 52"/>
            <p:cNvSpPr/>
            <p:nvPr/>
          </p:nvSpPr>
          <p:spPr>
            <a:xfrm>
              <a:off x="2600" y="23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39" name="Text Box 53"/>
            <p:cNvSpPr txBox="1"/>
            <p:nvPr/>
          </p:nvSpPr>
          <p:spPr>
            <a:xfrm>
              <a:off x="3469" y="277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6440" name="Oval 54"/>
            <p:cNvSpPr/>
            <p:nvPr/>
          </p:nvSpPr>
          <p:spPr>
            <a:xfrm>
              <a:off x="3553" y="272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41" name="Oval 55"/>
            <p:cNvSpPr/>
            <p:nvPr/>
          </p:nvSpPr>
          <p:spPr>
            <a:xfrm>
              <a:off x="5077" y="19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42" name="Line 56"/>
            <p:cNvSpPr/>
            <p:nvPr/>
          </p:nvSpPr>
          <p:spPr>
            <a:xfrm flipV="1">
              <a:off x="5102" y="1511"/>
              <a:ext cx="0" cy="459"/>
            </a:xfrm>
            <a:prstGeom prst="line">
              <a:avLst/>
            </a:prstGeom>
            <a:ln w="12700" cap="flat" cmpd="sng">
              <a:solidFill>
                <a:schemeClr val="accent2"/>
              </a:solidFill>
              <a:prstDash val="solid"/>
              <a:headEnd type="none" w="med" len="med"/>
              <a:tailEnd type="none" w="med" len="med"/>
            </a:ln>
          </p:spPr>
        </p:sp>
        <p:sp>
          <p:nvSpPr>
            <p:cNvPr id="16443" name="Line 57"/>
            <p:cNvSpPr/>
            <p:nvPr/>
          </p:nvSpPr>
          <p:spPr>
            <a:xfrm flipH="1">
              <a:off x="4759" y="1511"/>
              <a:ext cx="343" cy="0"/>
            </a:xfrm>
            <a:prstGeom prst="line">
              <a:avLst/>
            </a:prstGeom>
            <a:ln w="12700" cap="flat" cmpd="sng">
              <a:solidFill>
                <a:schemeClr val="accent2"/>
              </a:solidFill>
              <a:prstDash val="solid"/>
              <a:headEnd type="none" w="med" len="med"/>
              <a:tailEnd type="none" w="med" len="med"/>
            </a:ln>
          </p:spPr>
        </p:sp>
        <p:sp>
          <p:nvSpPr>
            <p:cNvPr id="16444" name="Rectangle 58"/>
            <p:cNvSpPr/>
            <p:nvPr/>
          </p:nvSpPr>
          <p:spPr>
            <a:xfrm>
              <a:off x="4581" y="148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45" name="Text Box 59"/>
            <p:cNvSpPr txBox="1"/>
            <p:nvPr/>
          </p:nvSpPr>
          <p:spPr>
            <a:xfrm>
              <a:off x="4551" y="126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6446" name="Line 60"/>
            <p:cNvSpPr/>
            <p:nvPr/>
          </p:nvSpPr>
          <p:spPr>
            <a:xfrm flipH="1">
              <a:off x="4259" y="1519"/>
              <a:ext cx="317" cy="0"/>
            </a:xfrm>
            <a:prstGeom prst="line">
              <a:avLst/>
            </a:prstGeom>
            <a:ln w="12700" cap="flat" cmpd="sng">
              <a:solidFill>
                <a:schemeClr val="accent2"/>
              </a:solidFill>
              <a:prstDash val="solid"/>
              <a:headEnd type="none" w="med" len="med"/>
              <a:tailEnd type="none" w="med" len="med"/>
            </a:ln>
          </p:spPr>
        </p:sp>
        <p:sp>
          <p:nvSpPr>
            <p:cNvPr id="16447" name="Oval 61"/>
            <p:cNvSpPr/>
            <p:nvPr/>
          </p:nvSpPr>
          <p:spPr>
            <a:xfrm>
              <a:off x="4234" y="149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48" name="Line 62"/>
            <p:cNvSpPr/>
            <p:nvPr/>
          </p:nvSpPr>
          <p:spPr>
            <a:xfrm>
              <a:off x="4250" y="2738"/>
              <a:ext cx="334" cy="0"/>
            </a:xfrm>
            <a:prstGeom prst="line">
              <a:avLst/>
            </a:prstGeom>
            <a:ln w="12700" cap="flat" cmpd="sng">
              <a:solidFill>
                <a:schemeClr val="accent2"/>
              </a:solidFill>
              <a:prstDash val="solid"/>
              <a:headEnd type="none" w="med" len="med"/>
              <a:tailEnd type="none" w="med" len="med"/>
            </a:ln>
          </p:spPr>
        </p:sp>
        <p:sp>
          <p:nvSpPr>
            <p:cNvPr id="16449" name="Rectangle 63"/>
            <p:cNvSpPr/>
            <p:nvPr/>
          </p:nvSpPr>
          <p:spPr>
            <a:xfrm>
              <a:off x="4585" y="271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50" name="Text Box 64"/>
            <p:cNvSpPr txBox="1"/>
            <p:nvPr/>
          </p:nvSpPr>
          <p:spPr>
            <a:xfrm>
              <a:off x="4555" y="2505"/>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6451" name="Line 65"/>
            <p:cNvSpPr/>
            <p:nvPr/>
          </p:nvSpPr>
          <p:spPr>
            <a:xfrm>
              <a:off x="4768" y="2738"/>
              <a:ext cx="367" cy="0"/>
            </a:xfrm>
            <a:prstGeom prst="line">
              <a:avLst/>
            </a:prstGeom>
            <a:ln w="12700" cap="flat" cmpd="sng">
              <a:solidFill>
                <a:schemeClr val="accent2"/>
              </a:solidFill>
              <a:prstDash val="solid"/>
              <a:headEnd type="none" w="med" len="med"/>
              <a:tailEnd type="none" w="med" len="med"/>
            </a:ln>
          </p:spPr>
        </p:sp>
        <p:sp>
          <p:nvSpPr>
            <p:cNvPr id="16452" name="Line 66"/>
            <p:cNvSpPr/>
            <p:nvPr/>
          </p:nvSpPr>
          <p:spPr>
            <a:xfrm>
              <a:off x="5135" y="2738"/>
              <a:ext cx="0" cy="167"/>
            </a:xfrm>
            <a:prstGeom prst="line">
              <a:avLst/>
            </a:prstGeom>
            <a:ln w="12700" cap="flat" cmpd="sng">
              <a:solidFill>
                <a:schemeClr val="accent2"/>
              </a:solidFill>
              <a:prstDash val="solid"/>
              <a:headEnd type="none" w="med" len="med"/>
              <a:tailEnd type="none" w="med" len="med"/>
            </a:ln>
          </p:spPr>
        </p:sp>
        <p:sp>
          <p:nvSpPr>
            <p:cNvPr id="16453" name="Line 67"/>
            <p:cNvSpPr/>
            <p:nvPr/>
          </p:nvSpPr>
          <p:spPr>
            <a:xfrm>
              <a:off x="5052" y="2905"/>
              <a:ext cx="167" cy="0"/>
            </a:xfrm>
            <a:prstGeom prst="line">
              <a:avLst/>
            </a:prstGeom>
            <a:ln w="28575" cap="flat" cmpd="sng">
              <a:solidFill>
                <a:schemeClr val="accent2"/>
              </a:solidFill>
              <a:prstDash val="solid"/>
              <a:headEnd type="none" w="med" len="med"/>
              <a:tailEnd type="none" w="med" len="med"/>
            </a:ln>
          </p:spPr>
        </p:sp>
        <p:sp>
          <p:nvSpPr>
            <p:cNvPr id="16454" name="Text Box 68"/>
            <p:cNvSpPr txBox="1"/>
            <p:nvPr/>
          </p:nvSpPr>
          <p:spPr>
            <a:xfrm>
              <a:off x="3014" y="3164"/>
              <a:ext cx="1853"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测量放大器原理电路</a:t>
              </a:r>
              <a:endParaRPr lang="zh-CN" altLang="en-US" sz="2400" b="1" dirty="0">
                <a:solidFill>
                  <a:srgbClr val="000099"/>
                </a:solidFill>
                <a:latin typeface="Times New Roman" panose="02020603050405020304" pitchFamily="18" charset="0"/>
              </a:endParaRPr>
            </a:p>
          </p:txBody>
        </p:sp>
        <p:sp>
          <p:nvSpPr>
            <p:cNvPr id="16455" name="Line 69"/>
            <p:cNvSpPr/>
            <p:nvPr/>
          </p:nvSpPr>
          <p:spPr>
            <a:xfrm>
              <a:off x="2517" y="1862"/>
              <a:ext cx="0" cy="434"/>
            </a:xfrm>
            <a:prstGeom prst="line">
              <a:avLst/>
            </a:prstGeom>
            <a:ln w="9525" cap="flat" cmpd="sng">
              <a:solidFill>
                <a:schemeClr val="accent2"/>
              </a:solidFill>
              <a:prstDash val="solid"/>
              <a:headEnd type="none" w="med" len="med"/>
              <a:tailEnd type="triangle" w="sm" len="lg"/>
            </a:ln>
          </p:spPr>
        </p:sp>
        <p:sp>
          <p:nvSpPr>
            <p:cNvPr id="16456" name="Text Box 70"/>
            <p:cNvSpPr txBox="1"/>
            <p:nvPr/>
          </p:nvSpPr>
          <p:spPr>
            <a:xfrm>
              <a:off x="2282" y="1993"/>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6457" name="Line 71"/>
            <p:cNvSpPr/>
            <p:nvPr/>
          </p:nvSpPr>
          <p:spPr>
            <a:xfrm>
              <a:off x="2626" y="1879"/>
              <a:ext cx="0" cy="133"/>
            </a:xfrm>
            <a:prstGeom prst="line">
              <a:avLst/>
            </a:prstGeom>
            <a:ln w="12700" cap="flat" cmpd="sng">
              <a:solidFill>
                <a:schemeClr val="accent2"/>
              </a:solidFill>
              <a:prstDash val="solid"/>
              <a:headEnd type="none" w="med" len="med"/>
              <a:tailEnd type="none" w="med" len="med"/>
            </a:ln>
          </p:spPr>
        </p:sp>
        <p:sp>
          <p:nvSpPr>
            <p:cNvPr id="16458" name="Line 72"/>
            <p:cNvSpPr/>
            <p:nvPr/>
          </p:nvSpPr>
          <p:spPr>
            <a:xfrm flipV="1">
              <a:off x="2626" y="2230"/>
              <a:ext cx="0" cy="116"/>
            </a:xfrm>
            <a:prstGeom prst="line">
              <a:avLst/>
            </a:prstGeom>
            <a:ln w="12700" cap="flat" cmpd="sng">
              <a:solidFill>
                <a:schemeClr val="accent2"/>
              </a:solidFill>
              <a:prstDash val="solid"/>
              <a:headEnd type="none" w="med" len="med"/>
              <a:tailEnd type="none" w="med" len="med"/>
            </a:ln>
          </p:spPr>
        </p:sp>
        <p:sp>
          <p:nvSpPr>
            <p:cNvPr id="16459" name="Oval 73"/>
            <p:cNvSpPr/>
            <p:nvPr/>
          </p:nvSpPr>
          <p:spPr>
            <a:xfrm>
              <a:off x="4230" y="271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6460" name="Line 74"/>
            <p:cNvSpPr/>
            <p:nvPr/>
          </p:nvSpPr>
          <p:spPr>
            <a:xfrm>
              <a:off x="4251" y="2121"/>
              <a:ext cx="192" cy="0"/>
            </a:xfrm>
            <a:prstGeom prst="line">
              <a:avLst/>
            </a:prstGeom>
            <a:ln w="12700" cap="flat" cmpd="sng">
              <a:solidFill>
                <a:schemeClr val="accent2"/>
              </a:solidFill>
              <a:prstDash val="solid"/>
              <a:headEnd type="none" w="med" len="med"/>
              <a:tailEnd type="none" w="med" len="med"/>
            </a:ln>
          </p:spPr>
        </p:sp>
        <p:sp>
          <p:nvSpPr>
            <p:cNvPr id="16461" name="Line 75"/>
            <p:cNvSpPr/>
            <p:nvPr/>
          </p:nvSpPr>
          <p:spPr>
            <a:xfrm>
              <a:off x="4259" y="1803"/>
              <a:ext cx="192" cy="0"/>
            </a:xfrm>
            <a:prstGeom prst="line">
              <a:avLst/>
            </a:prstGeom>
            <a:ln w="12700" cap="flat" cmpd="sng">
              <a:solidFill>
                <a:schemeClr val="accent2"/>
              </a:solidFill>
              <a:prstDash val="solid"/>
              <a:headEnd type="none" w="med" len="med"/>
              <a:tailEnd type="none" w="med" len="med"/>
            </a:ln>
          </p:spPr>
        </p:sp>
        <p:sp>
          <p:nvSpPr>
            <p:cNvPr id="16462" name="Line 76"/>
            <p:cNvSpPr/>
            <p:nvPr/>
          </p:nvSpPr>
          <p:spPr>
            <a:xfrm>
              <a:off x="2516" y="1353"/>
              <a:ext cx="410" cy="0"/>
            </a:xfrm>
            <a:prstGeom prst="line">
              <a:avLst/>
            </a:prstGeom>
            <a:ln w="12700" cap="flat" cmpd="sng">
              <a:solidFill>
                <a:schemeClr val="accent2"/>
              </a:solidFill>
              <a:prstDash val="solid"/>
              <a:headEnd type="none" w="med" len="med"/>
              <a:tailEnd type="none" w="med" len="med"/>
            </a:ln>
          </p:spPr>
        </p:sp>
        <p:sp>
          <p:nvSpPr>
            <p:cNvPr id="16463" name="Line 77"/>
            <p:cNvSpPr/>
            <p:nvPr/>
          </p:nvSpPr>
          <p:spPr>
            <a:xfrm>
              <a:off x="2513" y="2905"/>
              <a:ext cx="413" cy="0"/>
            </a:xfrm>
            <a:prstGeom prst="line">
              <a:avLst/>
            </a:prstGeom>
            <a:ln w="12700" cap="flat" cmpd="sng">
              <a:solidFill>
                <a:schemeClr val="accent2"/>
              </a:solidFill>
              <a:prstDash val="solid"/>
              <a:headEnd type="none" w="med" len="med"/>
              <a:tailEnd type="none" w="med" len="med"/>
            </a:ln>
          </p:spPr>
        </p:sp>
        <p:sp>
          <p:nvSpPr>
            <p:cNvPr id="16464" name="Text Box 78"/>
            <p:cNvSpPr txBox="1"/>
            <p:nvPr/>
          </p:nvSpPr>
          <p:spPr>
            <a:xfrm>
              <a:off x="4127" y="1283"/>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grpSp>
      <p:graphicFrame>
        <p:nvGraphicFramePr>
          <p:cNvPr id="2397267" name="Object 83"/>
          <p:cNvGraphicFramePr>
            <a:graphicFrameLocks noChangeAspect="1"/>
          </p:cNvGraphicFramePr>
          <p:nvPr/>
        </p:nvGraphicFramePr>
        <p:xfrm>
          <a:off x="323850" y="3621088"/>
          <a:ext cx="2324100" cy="887412"/>
        </p:xfrm>
        <a:graphic>
          <a:graphicData uri="http://schemas.openxmlformats.org/presentationml/2006/ole">
            <mc:AlternateContent xmlns:mc="http://schemas.openxmlformats.org/markup-compatibility/2006">
              <mc:Choice xmlns:v="urn:schemas-microsoft-com:vml" Requires="v">
                <p:oleObj spid="_x0000_s3088" name="" r:id="rId3" imgW="1040765" imgH="431800" progId="Equation.3">
                  <p:embed/>
                </p:oleObj>
              </mc:Choice>
              <mc:Fallback>
                <p:oleObj name="" r:id="rId3" imgW="1040765" imgH="431800" progId="Equation.3">
                  <p:embed/>
                  <p:pic>
                    <p:nvPicPr>
                      <p:cNvPr id="0" name="图片 3087"/>
                      <p:cNvPicPr/>
                      <p:nvPr/>
                    </p:nvPicPr>
                    <p:blipFill>
                      <a:blip r:embed="rId4"/>
                      <a:stretch>
                        <a:fillRect/>
                      </a:stretch>
                    </p:blipFill>
                    <p:spPr>
                      <a:xfrm>
                        <a:off x="323850" y="3621088"/>
                        <a:ext cx="2324100" cy="887412"/>
                      </a:xfrm>
                      <a:prstGeom prst="rect">
                        <a:avLst/>
                      </a:prstGeom>
                      <a:solidFill>
                        <a:schemeClr val="bg1"/>
                      </a:solidFill>
                      <a:ln w="38100">
                        <a:noFill/>
                        <a:miter/>
                      </a:ln>
                    </p:spPr>
                  </p:pic>
                </p:oleObj>
              </mc:Fallback>
            </mc:AlternateContent>
          </a:graphicData>
        </a:graphic>
      </p:graphicFrame>
      <p:sp>
        <p:nvSpPr>
          <p:cNvPr id="2397268" name="Rectangle 84"/>
          <p:cNvSpPr/>
          <p:nvPr/>
        </p:nvSpPr>
        <p:spPr>
          <a:xfrm>
            <a:off x="323850" y="5343525"/>
            <a:ext cx="8640763" cy="476250"/>
          </a:xfrm>
          <a:prstGeom prst="rect">
            <a:avLst/>
          </a:prstGeom>
          <a:solidFill>
            <a:srgbClr val="FF99CC"/>
          </a:solidFill>
          <a:ln w="9525">
            <a:noFill/>
          </a:ln>
        </p:spPr>
        <p:txBody>
          <a:bodyPr>
            <a:spAutoFit/>
          </a:bodyPr>
          <a:p>
            <a:pPr eaLnBrk="1" hangingPunct="1">
              <a:lnSpc>
                <a:spcPct val="90000"/>
              </a:lnSpc>
            </a:pPr>
            <a:r>
              <a:rPr lang="zh-CN" altLang="en-US" sz="2800" b="1" dirty="0">
                <a:solidFill>
                  <a:srgbClr val="333399"/>
                </a:solidFill>
                <a:latin typeface="Times New Roman" panose="02020603050405020304" pitchFamily="18" charset="0"/>
              </a:rPr>
              <a:t>调节外接电阻</a:t>
            </a:r>
            <a:r>
              <a:rPr lang="en-US" altLang="zh-CN" sz="2800" b="1" i="1" dirty="0">
                <a:solidFill>
                  <a:srgbClr val="FF0000"/>
                </a:solidFill>
                <a:latin typeface="Times New Roman" panose="02020603050405020304" pitchFamily="18" charset="0"/>
              </a:rPr>
              <a:t>R</a:t>
            </a:r>
            <a:r>
              <a:rPr lang="en-US" altLang="zh-CN" sz="2800" b="1" baseline="-25000" dirty="0">
                <a:solidFill>
                  <a:srgbClr val="FF0000"/>
                </a:solidFill>
                <a:latin typeface="Times New Roman" panose="02020603050405020304" pitchFamily="18" charset="0"/>
              </a:rPr>
              <a:t>G</a:t>
            </a:r>
            <a:r>
              <a:rPr lang="zh-CN" altLang="en-US" sz="2800" b="1" dirty="0">
                <a:solidFill>
                  <a:srgbClr val="333399"/>
                </a:solidFill>
                <a:latin typeface="Times New Roman" panose="02020603050405020304" pitchFamily="18" charset="0"/>
              </a:rPr>
              <a:t>的大小，可以改变测量放大器的增益。</a:t>
            </a:r>
            <a:endParaRPr lang="zh-CN" altLang="en-US" sz="2800" b="1" dirty="0">
              <a:solidFill>
                <a:srgbClr val="333399"/>
              </a:solidFill>
              <a:latin typeface="Times New Roman" panose="02020603050405020304" pitchFamily="18" charset="0"/>
            </a:endParaRPr>
          </a:p>
        </p:txBody>
      </p:sp>
      <p:sp>
        <p:nvSpPr>
          <p:cNvPr id="16391" name="Text Box 77"/>
          <p:cNvSpPr txBox="1"/>
          <p:nvPr/>
        </p:nvSpPr>
        <p:spPr>
          <a:xfrm>
            <a:off x="215900" y="728663"/>
            <a:ext cx="4383088"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测量放大器的增益</a:t>
            </a:r>
            <a:endParaRPr lang="zh-CN" altLang="en-US" sz="36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7267"/>
                                        </p:tgtEl>
                                        <p:attrNameLst>
                                          <p:attrName>style.visibility</p:attrName>
                                        </p:attrNameLst>
                                      </p:cBhvr>
                                      <p:to>
                                        <p:strVal val="visible"/>
                                      </p:to>
                                    </p:set>
                                    <p:animEffect transition="in" filter="dissolve">
                                      <p:cBhvr>
                                        <p:cTn id="7" dur="500"/>
                                        <p:tgtEl>
                                          <p:spTgt spid="23972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97268"/>
                                        </p:tgtEl>
                                        <p:attrNameLst>
                                          <p:attrName>style.visibility</p:attrName>
                                        </p:attrNameLst>
                                      </p:cBhvr>
                                      <p:to>
                                        <p:strVal val="visible"/>
                                      </p:to>
                                    </p:set>
                                    <p:animEffect transition="in" filter="dissolve">
                                      <p:cBhvr>
                                        <p:cTn id="12" dur="500"/>
                                        <p:tgtEl>
                                          <p:spTgt spid="2397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7268" grpId="0" bldLvl="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8726" name="Text Box 22"/>
          <p:cNvSpPr txBox="1"/>
          <p:nvPr/>
        </p:nvSpPr>
        <p:spPr>
          <a:xfrm>
            <a:off x="287338" y="863600"/>
            <a:ext cx="3600450" cy="5302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3200" b="1" dirty="0">
                <a:solidFill>
                  <a:srgbClr val="333399"/>
                </a:solidFill>
                <a:latin typeface="Times New Roman" panose="02020603050405020304" pitchFamily="18" charset="0"/>
              </a:rPr>
              <a:t>2. </a:t>
            </a:r>
            <a:r>
              <a:rPr lang="zh-CN" altLang="en-US" sz="3200" b="1" dirty="0">
                <a:solidFill>
                  <a:srgbClr val="333399"/>
                </a:solidFill>
                <a:latin typeface="Times New Roman" panose="02020603050405020304" pitchFamily="18" charset="0"/>
              </a:rPr>
              <a:t>抗共模干扰能力</a:t>
            </a:r>
            <a:endParaRPr lang="zh-CN" altLang="en-US" sz="3200" b="1" dirty="0">
              <a:solidFill>
                <a:srgbClr val="333399"/>
              </a:solidFill>
              <a:latin typeface="Times New Roman" panose="02020603050405020304" pitchFamily="18" charset="0"/>
            </a:endParaRPr>
          </a:p>
        </p:txBody>
      </p:sp>
      <p:sp>
        <p:nvSpPr>
          <p:cNvPr id="2248727" name="Text Box 23"/>
          <p:cNvSpPr txBox="1"/>
          <p:nvPr/>
        </p:nvSpPr>
        <p:spPr>
          <a:xfrm>
            <a:off x="323850" y="1722438"/>
            <a:ext cx="3789363"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对直流共模信号：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84898" name="Text Box 2"/>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2384974" name="Picture 78"/>
          <p:cNvPicPr>
            <a:picLocks noChangeAspect="1"/>
          </p:cNvPicPr>
          <p:nvPr/>
        </p:nvPicPr>
        <p:blipFill>
          <a:blip r:embed="rId1"/>
          <a:stretch>
            <a:fillRect/>
          </a:stretch>
        </p:blipFill>
        <p:spPr>
          <a:xfrm>
            <a:off x="4014788" y="1273175"/>
            <a:ext cx="4949825" cy="3321050"/>
          </a:xfrm>
          <a:prstGeom prst="rect">
            <a:avLst/>
          </a:prstGeom>
          <a:noFill/>
          <a:ln w="9525">
            <a:noFill/>
          </a:ln>
        </p:spPr>
      </p:pic>
      <p:sp>
        <p:nvSpPr>
          <p:cNvPr id="2384975" name="Text Box 79"/>
          <p:cNvSpPr txBox="1"/>
          <p:nvPr/>
        </p:nvSpPr>
        <p:spPr>
          <a:xfrm>
            <a:off x="323850" y="2492375"/>
            <a:ext cx="3563938" cy="1843088"/>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Ø"/>
            </a:pPr>
            <a:r>
              <a:rPr lang="zh-CN" altLang="en-US" sz="2800" b="1" dirty="0">
                <a:solidFill>
                  <a:srgbClr val="333399"/>
                </a:solidFill>
                <a:latin typeface="Times New Roman" panose="02020603050405020304" pitchFamily="18" charset="0"/>
              </a:rPr>
              <a:t>由于</a:t>
            </a:r>
            <a:r>
              <a:rPr lang="en-US" altLang="zh-CN" sz="2800" b="1" i="1" dirty="0">
                <a:solidFill>
                  <a:srgbClr val="FF0000"/>
                </a:solidFill>
                <a:latin typeface="Times New Roman" panose="02020603050405020304" pitchFamily="18" charset="0"/>
              </a:rPr>
              <a:t>U</a:t>
            </a:r>
            <a:r>
              <a:rPr lang="en-US" altLang="zh-CN" sz="2800" b="1" i="1" baseline="-25000" dirty="0">
                <a:solidFill>
                  <a:srgbClr val="FF0000"/>
                </a:solidFill>
                <a:latin typeface="Times New Roman" panose="02020603050405020304" pitchFamily="18" charset="0"/>
              </a:rPr>
              <a:t>i</a:t>
            </a:r>
            <a:r>
              <a:rPr lang="en-US" altLang="zh-CN" sz="2800" b="1" baseline="-25000" dirty="0">
                <a:solidFill>
                  <a:srgbClr val="FF0000"/>
                </a:solidFill>
                <a:latin typeface="Times New Roman" panose="02020603050405020304" pitchFamily="18" charset="0"/>
              </a:rPr>
              <a:t>1</a:t>
            </a:r>
            <a:r>
              <a:rPr lang="en-US" altLang="zh-CN" sz="2800" b="1" i="1" dirty="0">
                <a:solidFill>
                  <a:srgbClr val="FF0000"/>
                </a:solidFill>
                <a:latin typeface="Times New Roman" panose="02020603050405020304" pitchFamily="18" charset="0"/>
              </a:rPr>
              <a:t>=U</a:t>
            </a:r>
            <a:r>
              <a:rPr lang="en-US" altLang="zh-CN" sz="2800" b="1" i="1" baseline="-25000" dirty="0">
                <a:solidFill>
                  <a:srgbClr val="FF0000"/>
                </a:solidFill>
                <a:latin typeface="Times New Roman" panose="02020603050405020304" pitchFamily="18" charset="0"/>
              </a:rPr>
              <a:t>i</a:t>
            </a:r>
            <a:r>
              <a:rPr lang="en-US" altLang="zh-CN" sz="2800" b="1" baseline="-25000" dirty="0">
                <a:solidFill>
                  <a:srgbClr val="FF0000"/>
                </a:solidFill>
                <a:latin typeface="Times New Roman" panose="02020603050405020304" pitchFamily="18" charset="0"/>
              </a:rPr>
              <a:t>2</a:t>
            </a:r>
            <a:r>
              <a:rPr lang="zh-CN" altLang="en-US" sz="2800" b="1" dirty="0">
                <a:solidFill>
                  <a:srgbClr val="333399"/>
                </a:solidFill>
                <a:latin typeface="Times New Roman" panose="02020603050405020304" pitchFamily="18" charset="0"/>
              </a:rPr>
              <a:t>，所以</a:t>
            </a:r>
            <a:r>
              <a:rPr lang="en-US" altLang="zh-CN" sz="2800" b="1" i="1" dirty="0">
                <a:solidFill>
                  <a:srgbClr val="FF0000"/>
                </a:solidFill>
                <a:latin typeface="Times New Roman" panose="02020603050405020304" pitchFamily="18" charset="0"/>
              </a:rPr>
              <a:t>I</a:t>
            </a:r>
            <a:r>
              <a:rPr lang="en-US" altLang="zh-CN" sz="2800" b="1" baseline="-25000" dirty="0">
                <a:solidFill>
                  <a:srgbClr val="FF0000"/>
                </a:solidFill>
                <a:latin typeface="Times New Roman" panose="02020603050405020304" pitchFamily="18" charset="0"/>
              </a:rPr>
              <a:t>G</a:t>
            </a:r>
            <a:r>
              <a:rPr lang="en-US" altLang="zh-CN" sz="2800" b="1" dirty="0">
                <a:solidFill>
                  <a:srgbClr val="FF0000"/>
                </a:solidFill>
                <a:latin typeface="Times New Roman" panose="02020603050405020304" pitchFamily="18" charset="0"/>
              </a:rPr>
              <a:t>=0</a:t>
            </a:r>
            <a:r>
              <a:rPr lang="zh-CN" altLang="en-US" sz="2800" b="1" dirty="0">
                <a:solidFill>
                  <a:srgbClr val="333399"/>
                </a:solidFill>
                <a:latin typeface="Times New Roman" panose="02020603050405020304" pitchFamily="18" charset="0"/>
              </a:rPr>
              <a:t>，</a:t>
            </a:r>
            <a:r>
              <a:rPr lang="en-US" altLang="zh-CN" sz="2800" b="1" i="1" dirty="0">
                <a:solidFill>
                  <a:srgbClr val="FF0000"/>
                </a:solidFill>
                <a:latin typeface="Times New Roman" panose="02020603050405020304" pitchFamily="18" charset="0"/>
              </a:rPr>
              <a:t>U</a:t>
            </a:r>
            <a:r>
              <a:rPr lang="en-US" altLang="zh-CN" sz="2800" b="1" baseline="-25000" dirty="0">
                <a:solidFill>
                  <a:srgbClr val="FF0000"/>
                </a:solidFill>
                <a:latin typeface="Times New Roman" panose="02020603050405020304" pitchFamily="18" charset="0"/>
              </a:rPr>
              <a:t>3</a:t>
            </a:r>
            <a:r>
              <a:rPr lang="en-US" altLang="zh-CN" sz="2800" b="1" dirty="0">
                <a:solidFill>
                  <a:srgbClr val="FF0000"/>
                </a:solidFill>
                <a:latin typeface="Times New Roman" panose="02020603050405020304" pitchFamily="18" charset="0"/>
              </a:rPr>
              <a:t>=</a:t>
            </a:r>
            <a:r>
              <a:rPr lang="en-US" altLang="zh-CN" sz="2800" b="1" i="1" dirty="0">
                <a:solidFill>
                  <a:srgbClr val="FF0000"/>
                </a:solidFill>
                <a:latin typeface="Times New Roman" panose="02020603050405020304" pitchFamily="18" charset="0"/>
              </a:rPr>
              <a:t>U</a:t>
            </a:r>
            <a:r>
              <a:rPr lang="en-US" altLang="zh-CN" sz="2800" b="1" baseline="-25000" dirty="0">
                <a:solidFill>
                  <a:srgbClr val="FF0000"/>
                </a:solidFill>
                <a:latin typeface="Times New Roman" panose="02020603050405020304" pitchFamily="18" charset="0"/>
              </a:rPr>
              <a:t>4</a:t>
            </a:r>
            <a:r>
              <a:rPr lang="zh-CN" altLang="en-US" sz="2800" b="1" dirty="0">
                <a:solidFill>
                  <a:srgbClr val="333399"/>
                </a:solidFill>
                <a:latin typeface="Times New Roman" panose="02020603050405020304" pitchFamily="18" charset="0"/>
              </a:rPr>
              <a:t>。</a:t>
            </a:r>
            <a:endParaRPr lang="zh-CN" altLang="en-US" sz="2800" b="1" dirty="0">
              <a:solidFill>
                <a:srgbClr val="333399"/>
              </a:solidFill>
              <a:latin typeface="Times New Roman" panose="02020603050405020304" pitchFamily="18" charset="0"/>
            </a:endParaRPr>
          </a:p>
          <a:p>
            <a:pPr marL="361950" indent="-361950" eaLnBrk="1" hangingPunct="1">
              <a:lnSpc>
                <a:spcPct val="90000"/>
              </a:lnSpc>
              <a:spcBef>
                <a:spcPct val="50000"/>
              </a:spcBef>
              <a:buClr>
                <a:srgbClr val="FF0000"/>
              </a:buClr>
              <a:buFont typeface="Wingdings" panose="05000000000000000000" pitchFamily="2" charset="2"/>
              <a:buChar char="Ø"/>
            </a:pPr>
            <a:r>
              <a:rPr lang="zh-CN" altLang="en-US" sz="2800" b="1" dirty="0">
                <a:solidFill>
                  <a:srgbClr val="333399"/>
                </a:solidFill>
                <a:latin typeface="Times New Roman" panose="02020603050405020304" pitchFamily="18" charset="0"/>
              </a:rPr>
              <a:t>当</a:t>
            </a:r>
            <a:r>
              <a:rPr lang="en-US" altLang="zh-CN" sz="2800" b="1" i="1" dirty="0">
                <a:solidFill>
                  <a:srgbClr val="FF0000"/>
                </a:solidFill>
                <a:latin typeface="Times New Roman" panose="02020603050405020304" pitchFamily="18" charset="0"/>
              </a:rPr>
              <a:t>R</a:t>
            </a:r>
            <a:r>
              <a:rPr lang="en-US" altLang="zh-CN" sz="2800" b="1" baseline="-25000" dirty="0">
                <a:solidFill>
                  <a:srgbClr val="FF0000"/>
                </a:solidFill>
                <a:latin typeface="Times New Roman" panose="02020603050405020304" pitchFamily="18" charset="0"/>
              </a:rPr>
              <a:t>3</a:t>
            </a:r>
            <a:r>
              <a:rPr lang="en-US" altLang="zh-CN" sz="2800" b="1" dirty="0">
                <a:solidFill>
                  <a:srgbClr val="FF0000"/>
                </a:solidFill>
                <a:latin typeface="Times New Roman" panose="02020603050405020304" pitchFamily="18" charset="0"/>
              </a:rPr>
              <a:t>=</a:t>
            </a:r>
            <a:r>
              <a:rPr lang="en-US" altLang="zh-CN" sz="2800" b="1" i="1" dirty="0">
                <a:solidFill>
                  <a:srgbClr val="FF0000"/>
                </a:solidFill>
                <a:latin typeface="Times New Roman" panose="02020603050405020304" pitchFamily="18" charset="0"/>
              </a:rPr>
              <a:t>R</a:t>
            </a:r>
            <a:r>
              <a:rPr lang="en-US" altLang="zh-CN" sz="2800" b="1" baseline="-25000" dirty="0">
                <a:solidFill>
                  <a:srgbClr val="FF0000"/>
                </a:solidFill>
                <a:latin typeface="Times New Roman" panose="02020603050405020304" pitchFamily="18" charset="0"/>
              </a:rPr>
              <a:t>4</a:t>
            </a:r>
            <a:r>
              <a:rPr lang="zh-CN" altLang="en-US" sz="2800" b="1" dirty="0">
                <a:solidFill>
                  <a:srgbClr val="333399"/>
                </a:solidFill>
                <a:latin typeface="Times New Roman" panose="02020603050405020304" pitchFamily="18" charset="0"/>
              </a:rPr>
              <a:t>，</a:t>
            </a:r>
            <a:r>
              <a:rPr lang="en-US" altLang="zh-CN" sz="2800" b="1" i="1" dirty="0">
                <a:solidFill>
                  <a:srgbClr val="FF0000"/>
                </a:solidFill>
                <a:latin typeface="Times New Roman" panose="02020603050405020304" pitchFamily="18" charset="0"/>
              </a:rPr>
              <a:t>R</a:t>
            </a:r>
            <a:r>
              <a:rPr lang="en-US" altLang="zh-CN" sz="2800" b="1" baseline="-25000" dirty="0">
                <a:solidFill>
                  <a:srgbClr val="FF0000"/>
                </a:solidFill>
                <a:latin typeface="Times New Roman" panose="02020603050405020304" pitchFamily="18" charset="0"/>
              </a:rPr>
              <a:t>5</a:t>
            </a:r>
            <a:r>
              <a:rPr lang="en-US" altLang="zh-CN" sz="2800" b="1" dirty="0">
                <a:solidFill>
                  <a:srgbClr val="FF0000"/>
                </a:solidFill>
                <a:latin typeface="Times New Roman" panose="02020603050405020304" pitchFamily="18" charset="0"/>
              </a:rPr>
              <a:t>=</a:t>
            </a:r>
            <a:r>
              <a:rPr lang="en-US" altLang="zh-CN" sz="2800" b="1" i="1" dirty="0">
                <a:solidFill>
                  <a:srgbClr val="FF0000"/>
                </a:solidFill>
                <a:latin typeface="Times New Roman" panose="02020603050405020304" pitchFamily="18" charset="0"/>
              </a:rPr>
              <a:t>R</a:t>
            </a:r>
            <a:r>
              <a:rPr lang="en-US" altLang="zh-CN" sz="2800" b="1" baseline="-25000" dirty="0">
                <a:solidFill>
                  <a:srgbClr val="FF0000"/>
                </a:solidFill>
                <a:latin typeface="Times New Roman" panose="02020603050405020304" pitchFamily="18" charset="0"/>
              </a:rPr>
              <a:t>6</a:t>
            </a:r>
            <a:r>
              <a:rPr lang="zh-CN" altLang="en-US" sz="2800" b="1" dirty="0">
                <a:solidFill>
                  <a:srgbClr val="333399"/>
                </a:solidFill>
                <a:latin typeface="Times New Roman" panose="02020603050405020304" pitchFamily="18" charset="0"/>
              </a:rPr>
              <a:t>时，</a:t>
            </a:r>
            <a:r>
              <a:rPr lang="en-US" altLang="zh-CN" sz="2800" b="1" i="1" dirty="0">
                <a:solidFill>
                  <a:srgbClr val="FF0000"/>
                </a:solidFill>
                <a:latin typeface="Times New Roman" panose="02020603050405020304" pitchFamily="18" charset="0"/>
              </a:rPr>
              <a:t>U</a:t>
            </a:r>
            <a:r>
              <a:rPr lang="en-US" altLang="zh-CN" sz="2800" b="1" baseline="-25000" dirty="0">
                <a:solidFill>
                  <a:srgbClr val="FF0000"/>
                </a:solidFill>
                <a:latin typeface="Times New Roman" panose="02020603050405020304" pitchFamily="18" charset="0"/>
              </a:rPr>
              <a:t>0</a:t>
            </a:r>
            <a:r>
              <a:rPr lang="en-US" altLang="zh-CN" sz="2800" b="1" dirty="0">
                <a:solidFill>
                  <a:srgbClr val="FF0000"/>
                </a:solidFill>
                <a:latin typeface="Times New Roman" panose="02020603050405020304" pitchFamily="18" charset="0"/>
              </a:rPr>
              <a:t>=0</a:t>
            </a:r>
            <a:r>
              <a:rPr lang="zh-CN" altLang="en-US" sz="2800" b="1" dirty="0">
                <a:solidFill>
                  <a:srgbClr val="333399"/>
                </a:solidFill>
                <a:latin typeface="Times New Roman" panose="02020603050405020304" pitchFamily="18" charset="0"/>
              </a:rPr>
              <a:t>。</a:t>
            </a:r>
            <a:endParaRPr lang="zh-CN" altLang="en-US" sz="2800" b="1" dirty="0">
              <a:solidFill>
                <a:srgbClr val="333399"/>
              </a:solidFill>
              <a:latin typeface="Times New Roman" panose="02020603050405020304" pitchFamily="18" charset="0"/>
            </a:endParaRPr>
          </a:p>
        </p:txBody>
      </p:sp>
      <p:sp>
        <p:nvSpPr>
          <p:cNvPr id="2384976" name="Text Box 80"/>
          <p:cNvSpPr txBox="1"/>
          <p:nvPr/>
        </p:nvSpPr>
        <p:spPr>
          <a:xfrm>
            <a:off x="792163" y="4760913"/>
            <a:ext cx="7559675"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b="1" dirty="0">
                <a:solidFill>
                  <a:schemeClr val="tx1"/>
                </a:solidFill>
                <a:latin typeface="Times New Roman" panose="02020603050405020304" pitchFamily="18" charset="0"/>
                <a:ea typeface="黑体" panose="02010609060101010101" pitchFamily="49" charset="-122"/>
              </a:rPr>
              <a:t>测量放大器对直流共模信号的抑制比为无穷大。</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397268" name="Rectangle 84"/>
          <p:cNvSpPr/>
          <p:nvPr/>
        </p:nvSpPr>
        <p:spPr>
          <a:xfrm>
            <a:off x="323850" y="5545138"/>
            <a:ext cx="8640763" cy="420687"/>
          </a:xfrm>
          <a:prstGeom prst="rect">
            <a:avLst/>
          </a:prstGeom>
          <a:solidFill>
            <a:srgbClr val="FF99CC"/>
          </a:solidFill>
          <a:ln w="9525">
            <a:noFill/>
          </a:ln>
        </p:spPr>
        <p:txBody>
          <a:bodyPr>
            <a:spAutoFit/>
          </a:bodyPr>
          <a:p>
            <a:pPr eaLnBrk="1" hangingPunct="1">
              <a:lnSpc>
                <a:spcPct val="90000"/>
              </a:lnSpc>
            </a:pPr>
            <a:r>
              <a:rPr lang="zh-CN" altLang="en-US" sz="2400" b="1" dirty="0">
                <a:solidFill>
                  <a:srgbClr val="333399"/>
                </a:solidFill>
                <a:latin typeface="Times New Roman" panose="02020603050405020304" pitchFamily="18" charset="0"/>
              </a:rPr>
              <a:t>共模信号：作用在差分放大器同相、反相输入端的相同信号 。</a:t>
            </a:r>
            <a:endParaRPr lang="zh-CN" altLang="en-US" sz="24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8726"/>
                                        </p:tgtEl>
                                        <p:attrNameLst>
                                          <p:attrName>style.visibility</p:attrName>
                                        </p:attrNameLst>
                                      </p:cBhvr>
                                      <p:to>
                                        <p:strVal val="visible"/>
                                      </p:to>
                                    </p:set>
                                    <p:animEffect transition="in" filter="dissolve">
                                      <p:cBhvr>
                                        <p:cTn id="7" dur="500"/>
                                        <p:tgtEl>
                                          <p:spTgt spid="22487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97268"/>
                                        </p:tgtEl>
                                        <p:attrNameLst>
                                          <p:attrName>style.visibility</p:attrName>
                                        </p:attrNameLst>
                                      </p:cBhvr>
                                      <p:to>
                                        <p:strVal val="visible"/>
                                      </p:to>
                                    </p:set>
                                    <p:animEffect transition="in" filter="dissolve">
                                      <p:cBhvr>
                                        <p:cTn id="12" dur="500"/>
                                        <p:tgtEl>
                                          <p:spTgt spid="239726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48727"/>
                                        </p:tgtEl>
                                        <p:attrNameLst>
                                          <p:attrName>style.visibility</p:attrName>
                                        </p:attrNameLst>
                                      </p:cBhvr>
                                      <p:to>
                                        <p:strVal val="visible"/>
                                      </p:to>
                                    </p:set>
                                    <p:animEffect transition="in" filter="dissolve">
                                      <p:cBhvr>
                                        <p:cTn id="17" dur="500"/>
                                        <p:tgtEl>
                                          <p:spTgt spid="224872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84974"/>
                                        </p:tgtEl>
                                        <p:attrNameLst>
                                          <p:attrName>style.visibility</p:attrName>
                                        </p:attrNameLst>
                                      </p:cBhvr>
                                      <p:to>
                                        <p:strVal val="visible"/>
                                      </p:to>
                                    </p:set>
                                    <p:animEffect transition="in" filter="dissolve">
                                      <p:cBhvr>
                                        <p:cTn id="22" dur="500"/>
                                        <p:tgtEl>
                                          <p:spTgt spid="238497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84975">
                                            <p:txEl>
                                              <p:charRg st="0" end="24"/>
                                            </p:txEl>
                                          </p:spTgt>
                                        </p:tgtEl>
                                        <p:attrNameLst>
                                          <p:attrName>style.visibility</p:attrName>
                                        </p:attrNameLst>
                                      </p:cBhvr>
                                      <p:to>
                                        <p:strVal val="visible"/>
                                      </p:to>
                                    </p:set>
                                    <p:animEffect transition="in" filter="dissolve">
                                      <p:cBhvr>
                                        <p:cTn id="27" dur="500"/>
                                        <p:tgtEl>
                                          <p:spTgt spid="2384975">
                                            <p:txEl>
                                              <p:charRg st="0" end="2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84975">
                                            <p:txEl>
                                              <p:charRg st="24" end="44"/>
                                            </p:txEl>
                                          </p:spTgt>
                                        </p:tgtEl>
                                        <p:attrNameLst>
                                          <p:attrName>style.visibility</p:attrName>
                                        </p:attrNameLst>
                                      </p:cBhvr>
                                      <p:to>
                                        <p:strVal val="visible"/>
                                      </p:to>
                                    </p:set>
                                    <p:animEffect transition="in" filter="dissolve">
                                      <p:cBhvr>
                                        <p:cTn id="32" dur="500"/>
                                        <p:tgtEl>
                                          <p:spTgt spid="2384975">
                                            <p:txEl>
                                              <p:charRg st="24" end="4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84976"/>
                                        </p:tgtEl>
                                        <p:attrNameLst>
                                          <p:attrName>style.visibility</p:attrName>
                                        </p:attrNameLst>
                                      </p:cBhvr>
                                      <p:to>
                                        <p:strVal val="visible"/>
                                      </p:to>
                                    </p:set>
                                    <p:animEffect transition="in" filter="dissolve">
                                      <p:cBhvr>
                                        <p:cTn id="37" dur="500"/>
                                        <p:tgtEl>
                                          <p:spTgt spid="23849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8726" grpId="0" bldLvl="0" animBg="1"/>
      <p:bldP spid="2248727" grpId="0"/>
      <p:bldP spid="2384976" grpId="0" bldLvl="0" animBg="1"/>
      <p:bldP spid="2397268" grpId="0" bldLvl="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8434" name="Text Box 2"/>
          <p:cNvSpPr txBox="1"/>
          <p:nvPr/>
        </p:nvSpPr>
        <p:spPr>
          <a:xfrm>
            <a:off x="395288" y="827088"/>
            <a:ext cx="3524250" cy="5302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3200" b="1" dirty="0">
                <a:solidFill>
                  <a:srgbClr val="333399"/>
                </a:solidFill>
                <a:latin typeface="Times New Roman" panose="02020603050405020304" pitchFamily="18" charset="0"/>
              </a:rPr>
              <a:t>2. </a:t>
            </a:r>
            <a:r>
              <a:rPr lang="zh-CN" altLang="en-US" sz="3200" b="1" dirty="0">
                <a:solidFill>
                  <a:srgbClr val="333399"/>
                </a:solidFill>
                <a:latin typeface="Times New Roman" panose="02020603050405020304" pitchFamily="18" charset="0"/>
              </a:rPr>
              <a:t>抗共模干扰能力</a:t>
            </a:r>
            <a:endParaRPr lang="zh-CN" altLang="en-US" sz="3200" b="1" dirty="0">
              <a:solidFill>
                <a:srgbClr val="333399"/>
              </a:solidFill>
              <a:latin typeface="Times New Roman" panose="02020603050405020304" pitchFamily="18" charset="0"/>
            </a:endParaRPr>
          </a:p>
        </p:txBody>
      </p:sp>
      <p:sp>
        <p:nvSpPr>
          <p:cNvPr id="2398214" name="Text Box 6"/>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8215" name="Text Box 7"/>
          <p:cNvSpPr txBox="1"/>
          <p:nvPr/>
        </p:nvSpPr>
        <p:spPr>
          <a:xfrm>
            <a:off x="323850" y="1557338"/>
            <a:ext cx="3789363"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对交流共模信号：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grpSp>
        <p:nvGrpSpPr>
          <p:cNvPr id="2" name="Group 110"/>
          <p:cNvGrpSpPr/>
          <p:nvPr/>
        </p:nvGrpSpPr>
        <p:grpSpPr>
          <a:xfrm>
            <a:off x="503238" y="2384425"/>
            <a:ext cx="7859712" cy="3709988"/>
            <a:chOff x="589" y="1436"/>
            <a:chExt cx="4951" cy="2337"/>
          </a:xfrm>
        </p:grpSpPr>
        <p:sp>
          <p:nvSpPr>
            <p:cNvPr id="18439" name="Rectangle 9"/>
            <p:cNvSpPr/>
            <p:nvPr/>
          </p:nvSpPr>
          <p:spPr>
            <a:xfrm>
              <a:off x="589" y="1437"/>
              <a:ext cx="4951"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40" name="Line 88"/>
            <p:cNvSpPr/>
            <p:nvPr/>
          </p:nvSpPr>
          <p:spPr>
            <a:xfrm>
              <a:off x="907" y="2151"/>
              <a:ext cx="1270" cy="0"/>
            </a:xfrm>
            <a:prstGeom prst="line">
              <a:avLst/>
            </a:prstGeom>
            <a:ln w="12700" cap="flat" cmpd="sng">
              <a:solidFill>
                <a:schemeClr val="accent2"/>
              </a:solidFill>
              <a:prstDash val="solid"/>
              <a:headEnd type="none" w="med" len="med"/>
              <a:tailEnd type="none" w="med" len="med"/>
            </a:ln>
          </p:spPr>
        </p:sp>
        <p:sp>
          <p:nvSpPr>
            <p:cNvPr id="18441" name="Line 89"/>
            <p:cNvSpPr/>
            <p:nvPr/>
          </p:nvSpPr>
          <p:spPr>
            <a:xfrm>
              <a:off x="907" y="2699"/>
              <a:ext cx="1270" cy="0"/>
            </a:xfrm>
            <a:prstGeom prst="line">
              <a:avLst/>
            </a:prstGeom>
            <a:ln w="12700" cap="flat" cmpd="sng">
              <a:solidFill>
                <a:schemeClr val="accent2"/>
              </a:solidFill>
              <a:prstDash val="solid"/>
              <a:headEnd type="none" w="med" len="med"/>
              <a:tailEnd type="none" w="med" len="med"/>
            </a:ln>
          </p:spPr>
        </p:sp>
        <p:sp>
          <p:nvSpPr>
            <p:cNvPr id="18442" name="Line 10"/>
            <p:cNvSpPr/>
            <p:nvPr/>
          </p:nvSpPr>
          <p:spPr>
            <a:xfrm>
              <a:off x="4670" y="2268"/>
              <a:ext cx="485" cy="0"/>
            </a:xfrm>
            <a:prstGeom prst="line">
              <a:avLst/>
            </a:prstGeom>
            <a:ln w="12700" cap="flat" cmpd="sng">
              <a:solidFill>
                <a:schemeClr val="accent2"/>
              </a:solidFill>
              <a:prstDash val="solid"/>
              <a:headEnd type="none" w="med" len="med"/>
              <a:tailEnd type="none" w="med" len="med"/>
            </a:ln>
          </p:spPr>
        </p:sp>
        <p:sp>
          <p:nvSpPr>
            <p:cNvPr id="18443" name="Oval 11"/>
            <p:cNvSpPr/>
            <p:nvPr/>
          </p:nvSpPr>
          <p:spPr>
            <a:xfrm>
              <a:off x="864" y="2128"/>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44" name="Text Box 12"/>
            <p:cNvSpPr txBox="1"/>
            <p:nvPr/>
          </p:nvSpPr>
          <p:spPr>
            <a:xfrm>
              <a:off x="589" y="2035"/>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8445" name="Text Box 13"/>
            <p:cNvSpPr txBox="1"/>
            <p:nvPr/>
          </p:nvSpPr>
          <p:spPr>
            <a:xfrm>
              <a:off x="589" y="257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8446" name="Oval 14"/>
            <p:cNvSpPr/>
            <p:nvPr/>
          </p:nvSpPr>
          <p:spPr>
            <a:xfrm>
              <a:off x="863" y="267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47" name="AutoShape 15"/>
            <p:cNvSpPr/>
            <p:nvPr/>
          </p:nvSpPr>
          <p:spPr>
            <a:xfrm rot="5400000">
              <a:off x="2737" y="1568"/>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48" name="Text Box 16"/>
            <p:cNvSpPr txBox="1"/>
            <p:nvPr/>
          </p:nvSpPr>
          <p:spPr>
            <a:xfrm>
              <a:off x="2745" y="1560"/>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8449" name="Text Box 17"/>
            <p:cNvSpPr txBox="1"/>
            <p:nvPr/>
          </p:nvSpPr>
          <p:spPr>
            <a:xfrm>
              <a:off x="2843" y="1714"/>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8450" name="AutoShape 18"/>
            <p:cNvSpPr/>
            <p:nvPr/>
          </p:nvSpPr>
          <p:spPr>
            <a:xfrm rot="5400000">
              <a:off x="2733" y="2791"/>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51" name="Text Box 19"/>
            <p:cNvSpPr txBox="1"/>
            <p:nvPr/>
          </p:nvSpPr>
          <p:spPr>
            <a:xfrm>
              <a:off x="2741" y="2783"/>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8452" name="Text Box 20"/>
            <p:cNvSpPr txBox="1"/>
            <p:nvPr/>
          </p:nvSpPr>
          <p:spPr>
            <a:xfrm>
              <a:off x="2839" y="2937"/>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8453" name="Line 21"/>
            <p:cNvSpPr/>
            <p:nvPr/>
          </p:nvSpPr>
          <p:spPr>
            <a:xfrm flipH="1">
              <a:off x="2470" y="1976"/>
              <a:ext cx="300" cy="0"/>
            </a:xfrm>
            <a:prstGeom prst="line">
              <a:avLst/>
            </a:prstGeom>
            <a:ln w="12700" cap="flat" cmpd="sng">
              <a:solidFill>
                <a:schemeClr val="accent2"/>
              </a:solidFill>
              <a:prstDash val="solid"/>
              <a:headEnd type="none" w="med" len="med"/>
              <a:tailEnd type="none" w="med" len="med"/>
            </a:ln>
          </p:spPr>
        </p:sp>
        <p:sp>
          <p:nvSpPr>
            <p:cNvPr id="18454" name="Line 22"/>
            <p:cNvSpPr/>
            <p:nvPr/>
          </p:nvSpPr>
          <p:spPr>
            <a:xfrm>
              <a:off x="2470" y="1975"/>
              <a:ext cx="0" cy="226"/>
            </a:xfrm>
            <a:prstGeom prst="line">
              <a:avLst/>
            </a:prstGeom>
            <a:ln w="12700" cap="flat" cmpd="sng">
              <a:solidFill>
                <a:schemeClr val="accent2"/>
              </a:solidFill>
              <a:prstDash val="solid"/>
              <a:headEnd type="none" w="med" len="med"/>
              <a:tailEnd type="none" w="med" len="med"/>
            </a:ln>
          </p:spPr>
        </p:sp>
        <p:sp>
          <p:nvSpPr>
            <p:cNvPr id="18455" name="Rectangle 23"/>
            <p:cNvSpPr/>
            <p:nvPr/>
          </p:nvSpPr>
          <p:spPr>
            <a:xfrm>
              <a:off x="2444" y="2309"/>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56" name="Text Box 24"/>
            <p:cNvSpPr txBox="1"/>
            <p:nvPr/>
          </p:nvSpPr>
          <p:spPr>
            <a:xfrm>
              <a:off x="2496" y="2328"/>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8457" name="Line 25"/>
            <p:cNvSpPr/>
            <p:nvPr/>
          </p:nvSpPr>
          <p:spPr>
            <a:xfrm>
              <a:off x="2470" y="2644"/>
              <a:ext cx="0" cy="233"/>
            </a:xfrm>
            <a:prstGeom prst="line">
              <a:avLst/>
            </a:prstGeom>
            <a:ln w="12700" cap="flat" cmpd="sng">
              <a:solidFill>
                <a:schemeClr val="accent2"/>
              </a:solidFill>
              <a:prstDash val="solid"/>
              <a:headEnd type="none" w="med" len="med"/>
              <a:tailEnd type="none" w="med" len="med"/>
            </a:ln>
          </p:spPr>
        </p:sp>
        <p:sp>
          <p:nvSpPr>
            <p:cNvPr id="18458" name="Line 26"/>
            <p:cNvSpPr/>
            <p:nvPr/>
          </p:nvSpPr>
          <p:spPr>
            <a:xfrm>
              <a:off x="2470" y="2869"/>
              <a:ext cx="292" cy="0"/>
            </a:xfrm>
            <a:prstGeom prst="line">
              <a:avLst/>
            </a:prstGeom>
            <a:ln w="12700" cap="flat" cmpd="sng">
              <a:solidFill>
                <a:schemeClr val="accent2"/>
              </a:solidFill>
              <a:prstDash val="solid"/>
              <a:headEnd type="none" w="med" len="med"/>
              <a:tailEnd type="none" w="med" len="med"/>
            </a:ln>
          </p:spPr>
        </p:sp>
        <p:sp>
          <p:nvSpPr>
            <p:cNvPr id="18459" name="Line 27"/>
            <p:cNvSpPr/>
            <p:nvPr/>
          </p:nvSpPr>
          <p:spPr>
            <a:xfrm>
              <a:off x="2470" y="2201"/>
              <a:ext cx="501" cy="0"/>
            </a:xfrm>
            <a:prstGeom prst="line">
              <a:avLst/>
            </a:prstGeom>
            <a:ln w="12700" cap="flat" cmpd="sng">
              <a:solidFill>
                <a:schemeClr val="accent2"/>
              </a:solidFill>
              <a:prstDash val="solid"/>
              <a:headEnd type="none" w="med" len="med"/>
              <a:tailEnd type="none" w="med" len="med"/>
            </a:ln>
          </p:spPr>
        </p:sp>
        <p:sp>
          <p:nvSpPr>
            <p:cNvPr id="18460" name="Rectangle 28"/>
            <p:cNvSpPr/>
            <p:nvPr/>
          </p:nvSpPr>
          <p:spPr>
            <a:xfrm>
              <a:off x="2971" y="2176"/>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61" name="Text Box 29"/>
            <p:cNvSpPr txBox="1"/>
            <p:nvPr/>
          </p:nvSpPr>
          <p:spPr>
            <a:xfrm>
              <a:off x="2946" y="196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8462" name="Line 30"/>
            <p:cNvSpPr/>
            <p:nvPr/>
          </p:nvSpPr>
          <p:spPr>
            <a:xfrm>
              <a:off x="3155" y="2201"/>
              <a:ext cx="266" cy="0"/>
            </a:xfrm>
            <a:prstGeom prst="line">
              <a:avLst/>
            </a:prstGeom>
            <a:ln w="12700" cap="flat" cmpd="sng">
              <a:solidFill>
                <a:schemeClr val="accent2"/>
              </a:solidFill>
              <a:prstDash val="solid"/>
              <a:headEnd type="none" w="med" len="med"/>
              <a:tailEnd type="none" w="med" len="med"/>
            </a:ln>
          </p:spPr>
        </p:sp>
        <p:sp>
          <p:nvSpPr>
            <p:cNvPr id="18463" name="Line 31"/>
            <p:cNvSpPr/>
            <p:nvPr/>
          </p:nvSpPr>
          <p:spPr>
            <a:xfrm flipV="1">
              <a:off x="3421" y="1817"/>
              <a:ext cx="0" cy="384"/>
            </a:xfrm>
            <a:prstGeom prst="line">
              <a:avLst/>
            </a:prstGeom>
            <a:ln w="12700" cap="flat" cmpd="sng">
              <a:solidFill>
                <a:schemeClr val="accent2"/>
              </a:solidFill>
              <a:prstDash val="solid"/>
              <a:headEnd type="none" w="med" len="med"/>
              <a:tailEnd type="none" w="med" len="med"/>
            </a:ln>
          </p:spPr>
        </p:sp>
        <p:sp>
          <p:nvSpPr>
            <p:cNvPr id="18464" name="Line 32"/>
            <p:cNvSpPr/>
            <p:nvPr/>
          </p:nvSpPr>
          <p:spPr>
            <a:xfrm>
              <a:off x="2470" y="2644"/>
              <a:ext cx="509" cy="0"/>
            </a:xfrm>
            <a:prstGeom prst="line">
              <a:avLst/>
            </a:prstGeom>
            <a:ln w="12700" cap="flat" cmpd="sng">
              <a:solidFill>
                <a:schemeClr val="accent2"/>
              </a:solidFill>
              <a:prstDash val="solid"/>
              <a:headEnd type="none" w="med" len="med"/>
              <a:tailEnd type="none" w="med" len="med"/>
            </a:ln>
          </p:spPr>
        </p:sp>
        <p:sp>
          <p:nvSpPr>
            <p:cNvPr id="18465" name="Rectangle 33"/>
            <p:cNvSpPr/>
            <p:nvPr/>
          </p:nvSpPr>
          <p:spPr>
            <a:xfrm>
              <a:off x="2975" y="262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66" name="Text Box 34"/>
            <p:cNvSpPr txBox="1"/>
            <p:nvPr/>
          </p:nvSpPr>
          <p:spPr>
            <a:xfrm>
              <a:off x="2949" y="2400"/>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8467" name="Line 35"/>
            <p:cNvSpPr/>
            <p:nvPr/>
          </p:nvSpPr>
          <p:spPr>
            <a:xfrm>
              <a:off x="3163" y="2644"/>
              <a:ext cx="258" cy="0"/>
            </a:xfrm>
            <a:prstGeom prst="line">
              <a:avLst/>
            </a:prstGeom>
            <a:ln w="12700" cap="flat" cmpd="sng">
              <a:solidFill>
                <a:schemeClr val="accent2"/>
              </a:solidFill>
              <a:prstDash val="solid"/>
              <a:headEnd type="none" w="med" len="med"/>
              <a:tailEnd type="none" w="med" len="med"/>
            </a:ln>
          </p:spPr>
        </p:sp>
        <p:sp>
          <p:nvSpPr>
            <p:cNvPr id="18468" name="Line 36"/>
            <p:cNvSpPr/>
            <p:nvPr/>
          </p:nvSpPr>
          <p:spPr>
            <a:xfrm>
              <a:off x="3421" y="2644"/>
              <a:ext cx="0" cy="392"/>
            </a:xfrm>
            <a:prstGeom prst="line">
              <a:avLst/>
            </a:prstGeom>
            <a:ln w="12700" cap="flat" cmpd="sng">
              <a:solidFill>
                <a:schemeClr val="accent2"/>
              </a:solidFill>
              <a:prstDash val="solid"/>
              <a:headEnd type="none" w="med" len="med"/>
              <a:tailEnd type="none" w="med" len="med"/>
            </a:ln>
          </p:spPr>
        </p:sp>
        <p:sp>
          <p:nvSpPr>
            <p:cNvPr id="18469" name="Line 37"/>
            <p:cNvSpPr/>
            <p:nvPr/>
          </p:nvSpPr>
          <p:spPr>
            <a:xfrm>
              <a:off x="3254" y="1817"/>
              <a:ext cx="618" cy="0"/>
            </a:xfrm>
            <a:prstGeom prst="line">
              <a:avLst/>
            </a:prstGeom>
            <a:ln w="12700" cap="flat" cmpd="sng">
              <a:solidFill>
                <a:schemeClr val="accent2"/>
              </a:solidFill>
              <a:prstDash val="solid"/>
              <a:headEnd type="none" w="med" len="med"/>
              <a:tailEnd type="none" w="med" len="med"/>
            </a:ln>
          </p:spPr>
        </p:sp>
        <p:sp>
          <p:nvSpPr>
            <p:cNvPr id="18470" name="Rectangle 38"/>
            <p:cNvSpPr/>
            <p:nvPr/>
          </p:nvSpPr>
          <p:spPr>
            <a:xfrm>
              <a:off x="3707" y="178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71" name="Text Box 39"/>
            <p:cNvSpPr txBox="1"/>
            <p:nvPr/>
          </p:nvSpPr>
          <p:spPr>
            <a:xfrm>
              <a:off x="3672" y="1566"/>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8472" name="Line 40"/>
            <p:cNvSpPr/>
            <p:nvPr/>
          </p:nvSpPr>
          <p:spPr>
            <a:xfrm>
              <a:off x="3894" y="1817"/>
              <a:ext cx="209" cy="0"/>
            </a:xfrm>
            <a:prstGeom prst="line">
              <a:avLst/>
            </a:prstGeom>
            <a:ln w="12700" cap="flat" cmpd="sng">
              <a:solidFill>
                <a:schemeClr val="accent2"/>
              </a:solidFill>
              <a:prstDash val="solid"/>
              <a:headEnd type="none" w="med" len="med"/>
              <a:tailEnd type="none" w="med" len="med"/>
            </a:ln>
          </p:spPr>
        </p:sp>
        <p:sp>
          <p:nvSpPr>
            <p:cNvPr id="18473" name="Line 41"/>
            <p:cNvSpPr/>
            <p:nvPr/>
          </p:nvSpPr>
          <p:spPr>
            <a:xfrm>
              <a:off x="4103" y="1817"/>
              <a:ext cx="0" cy="284"/>
            </a:xfrm>
            <a:prstGeom prst="line">
              <a:avLst/>
            </a:prstGeom>
            <a:ln w="12700" cap="flat" cmpd="sng">
              <a:solidFill>
                <a:schemeClr val="accent2"/>
              </a:solidFill>
              <a:prstDash val="solid"/>
              <a:headEnd type="none" w="med" len="med"/>
              <a:tailEnd type="none" w="med" len="med"/>
            </a:ln>
          </p:spPr>
        </p:sp>
        <p:sp>
          <p:nvSpPr>
            <p:cNvPr id="18474" name="AutoShape 42"/>
            <p:cNvSpPr/>
            <p:nvPr/>
          </p:nvSpPr>
          <p:spPr>
            <a:xfrm rot="5400000">
              <a:off x="4257" y="202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75" name="Text Box 43"/>
            <p:cNvSpPr txBox="1"/>
            <p:nvPr/>
          </p:nvSpPr>
          <p:spPr>
            <a:xfrm>
              <a:off x="4265" y="1973"/>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8476" name="Text Box 44"/>
            <p:cNvSpPr txBox="1"/>
            <p:nvPr/>
          </p:nvSpPr>
          <p:spPr>
            <a:xfrm>
              <a:off x="4372" y="2161"/>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8477" name="Line 45"/>
            <p:cNvSpPr/>
            <p:nvPr/>
          </p:nvSpPr>
          <p:spPr>
            <a:xfrm>
              <a:off x="3247" y="3036"/>
              <a:ext cx="609" cy="0"/>
            </a:xfrm>
            <a:prstGeom prst="line">
              <a:avLst/>
            </a:prstGeom>
            <a:ln w="12700" cap="flat" cmpd="sng">
              <a:solidFill>
                <a:schemeClr val="accent2"/>
              </a:solidFill>
              <a:prstDash val="solid"/>
              <a:headEnd type="none" w="med" len="med"/>
              <a:tailEnd type="none" w="med" len="med"/>
            </a:ln>
          </p:spPr>
        </p:sp>
        <p:sp>
          <p:nvSpPr>
            <p:cNvPr id="18478" name="Rectangle 46"/>
            <p:cNvSpPr/>
            <p:nvPr/>
          </p:nvSpPr>
          <p:spPr>
            <a:xfrm>
              <a:off x="3695" y="3011"/>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79" name="Text Box 47"/>
            <p:cNvSpPr txBox="1"/>
            <p:nvPr/>
          </p:nvSpPr>
          <p:spPr>
            <a:xfrm>
              <a:off x="3659" y="277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8480" name="Line 48"/>
            <p:cNvSpPr/>
            <p:nvPr/>
          </p:nvSpPr>
          <p:spPr>
            <a:xfrm>
              <a:off x="3885" y="3036"/>
              <a:ext cx="209" cy="0"/>
            </a:xfrm>
            <a:prstGeom prst="line">
              <a:avLst/>
            </a:prstGeom>
            <a:ln w="12700" cap="flat" cmpd="sng">
              <a:solidFill>
                <a:schemeClr val="accent2"/>
              </a:solidFill>
              <a:prstDash val="solid"/>
              <a:headEnd type="none" w="med" len="med"/>
              <a:tailEnd type="none" w="med" len="med"/>
            </a:ln>
          </p:spPr>
        </p:sp>
        <p:sp>
          <p:nvSpPr>
            <p:cNvPr id="18481" name="Line 49"/>
            <p:cNvSpPr/>
            <p:nvPr/>
          </p:nvSpPr>
          <p:spPr>
            <a:xfrm flipV="1">
              <a:off x="4094" y="2418"/>
              <a:ext cx="0" cy="618"/>
            </a:xfrm>
            <a:prstGeom prst="line">
              <a:avLst/>
            </a:prstGeom>
            <a:ln w="12700" cap="flat" cmpd="sng">
              <a:solidFill>
                <a:schemeClr val="accent2"/>
              </a:solidFill>
              <a:prstDash val="solid"/>
              <a:headEnd type="none" w="med" len="med"/>
              <a:tailEnd type="none" w="med" len="med"/>
            </a:ln>
          </p:spPr>
        </p:sp>
        <p:sp>
          <p:nvSpPr>
            <p:cNvPr id="18482" name="Oval 50"/>
            <p:cNvSpPr/>
            <p:nvPr/>
          </p:nvSpPr>
          <p:spPr>
            <a:xfrm>
              <a:off x="5151" y="2243"/>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83" name="Text Box 51"/>
            <p:cNvSpPr txBox="1"/>
            <p:nvPr/>
          </p:nvSpPr>
          <p:spPr>
            <a:xfrm>
              <a:off x="5188" y="2151"/>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8484" name="Text Box 52"/>
            <p:cNvSpPr txBox="1"/>
            <p:nvPr/>
          </p:nvSpPr>
          <p:spPr>
            <a:xfrm>
              <a:off x="3292" y="1584"/>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8485" name="Oval 53"/>
            <p:cNvSpPr/>
            <p:nvPr/>
          </p:nvSpPr>
          <p:spPr>
            <a:xfrm>
              <a:off x="3402" y="179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86" name="Oval 54"/>
            <p:cNvSpPr/>
            <p:nvPr/>
          </p:nvSpPr>
          <p:spPr>
            <a:xfrm>
              <a:off x="2454" y="217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87" name="Oval 55"/>
            <p:cNvSpPr/>
            <p:nvPr/>
          </p:nvSpPr>
          <p:spPr>
            <a:xfrm>
              <a:off x="2444" y="2620"/>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88" name="Text Box 56"/>
            <p:cNvSpPr txBox="1"/>
            <p:nvPr/>
          </p:nvSpPr>
          <p:spPr>
            <a:xfrm>
              <a:off x="3313" y="3075"/>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8489" name="Oval 57"/>
            <p:cNvSpPr/>
            <p:nvPr/>
          </p:nvSpPr>
          <p:spPr>
            <a:xfrm>
              <a:off x="3397" y="3020"/>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90" name="Oval 58"/>
            <p:cNvSpPr/>
            <p:nvPr/>
          </p:nvSpPr>
          <p:spPr>
            <a:xfrm>
              <a:off x="4921" y="224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91" name="Line 59"/>
            <p:cNvSpPr/>
            <p:nvPr/>
          </p:nvSpPr>
          <p:spPr>
            <a:xfrm flipV="1">
              <a:off x="4946" y="1809"/>
              <a:ext cx="0" cy="459"/>
            </a:xfrm>
            <a:prstGeom prst="line">
              <a:avLst/>
            </a:prstGeom>
            <a:ln w="12700" cap="flat" cmpd="sng">
              <a:solidFill>
                <a:schemeClr val="accent2"/>
              </a:solidFill>
              <a:prstDash val="solid"/>
              <a:headEnd type="none" w="med" len="med"/>
              <a:tailEnd type="none" w="med" len="med"/>
            </a:ln>
          </p:spPr>
        </p:sp>
        <p:sp>
          <p:nvSpPr>
            <p:cNvPr id="18492" name="Line 60"/>
            <p:cNvSpPr/>
            <p:nvPr/>
          </p:nvSpPr>
          <p:spPr>
            <a:xfrm flipH="1">
              <a:off x="4603" y="1809"/>
              <a:ext cx="343" cy="0"/>
            </a:xfrm>
            <a:prstGeom prst="line">
              <a:avLst/>
            </a:prstGeom>
            <a:ln w="12700" cap="flat" cmpd="sng">
              <a:solidFill>
                <a:schemeClr val="accent2"/>
              </a:solidFill>
              <a:prstDash val="solid"/>
              <a:headEnd type="none" w="med" len="med"/>
              <a:tailEnd type="none" w="med" len="med"/>
            </a:ln>
          </p:spPr>
        </p:sp>
        <p:sp>
          <p:nvSpPr>
            <p:cNvPr id="18493" name="Rectangle 61"/>
            <p:cNvSpPr/>
            <p:nvPr/>
          </p:nvSpPr>
          <p:spPr>
            <a:xfrm>
              <a:off x="4425" y="178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94" name="Text Box 62"/>
            <p:cNvSpPr txBox="1"/>
            <p:nvPr/>
          </p:nvSpPr>
          <p:spPr>
            <a:xfrm>
              <a:off x="4395" y="156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8495" name="Line 63"/>
            <p:cNvSpPr/>
            <p:nvPr/>
          </p:nvSpPr>
          <p:spPr>
            <a:xfrm flipH="1">
              <a:off x="4103" y="1817"/>
              <a:ext cx="317" cy="0"/>
            </a:xfrm>
            <a:prstGeom prst="line">
              <a:avLst/>
            </a:prstGeom>
            <a:ln w="12700" cap="flat" cmpd="sng">
              <a:solidFill>
                <a:schemeClr val="accent2"/>
              </a:solidFill>
              <a:prstDash val="solid"/>
              <a:headEnd type="none" w="med" len="med"/>
              <a:tailEnd type="none" w="med" len="med"/>
            </a:ln>
          </p:spPr>
        </p:sp>
        <p:sp>
          <p:nvSpPr>
            <p:cNvPr id="18496" name="Oval 64"/>
            <p:cNvSpPr/>
            <p:nvPr/>
          </p:nvSpPr>
          <p:spPr>
            <a:xfrm>
              <a:off x="4078" y="179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97" name="Line 65"/>
            <p:cNvSpPr/>
            <p:nvPr/>
          </p:nvSpPr>
          <p:spPr>
            <a:xfrm>
              <a:off x="4094" y="3036"/>
              <a:ext cx="334" cy="0"/>
            </a:xfrm>
            <a:prstGeom prst="line">
              <a:avLst/>
            </a:prstGeom>
            <a:ln w="12700" cap="flat" cmpd="sng">
              <a:solidFill>
                <a:schemeClr val="accent2"/>
              </a:solidFill>
              <a:prstDash val="solid"/>
              <a:headEnd type="none" w="med" len="med"/>
              <a:tailEnd type="none" w="med" len="med"/>
            </a:ln>
          </p:spPr>
        </p:sp>
        <p:sp>
          <p:nvSpPr>
            <p:cNvPr id="18498" name="Rectangle 66"/>
            <p:cNvSpPr/>
            <p:nvPr/>
          </p:nvSpPr>
          <p:spPr>
            <a:xfrm>
              <a:off x="4429" y="301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499" name="Text Box 67"/>
            <p:cNvSpPr txBox="1"/>
            <p:nvPr/>
          </p:nvSpPr>
          <p:spPr>
            <a:xfrm>
              <a:off x="4399" y="280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8500" name="Line 68"/>
            <p:cNvSpPr/>
            <p:nvPr/>
          </p:nvSpPr>
          <p:spPr>
            <a:xfrm>
              <a:off x="4612" y="3036"/>
              <a:ext cx="367" cy="0"/>
            </a:xfrm>
            <a:prstGeom prst="line">
              <a:avLst/>
            </a:prstGeom>
            <a:ln w="12700" cap="flat" cmpd="sng">
              <a:solidFill>
                <a:schemeClr val="accent2"/>
              </a:solidFill>
              <a:prstDash val="solid"/>
              <a:headEnd type="none" w="med" len="med"/>
              <a:tailEnd type="none" w="med" len="med"/>
            </a:ln>
          </p:spPr>
        </p:sp>
        <p:sp>
          <p:nvSpPr>
            <p:cNvPr id="18501" name="Line 69"/>
            <p:cNvSpPr/>
            <p:nvPr/>
          </p:nvSpPr>
          <p:spPr>
            <a:xfrm>
              <a:off x="4979" y="3036"/>
              <a:ext cx="0" cy="167"/>
            </a:xfrm>
            <a:prstGeom prst="line">
              <a:avLst/>
            </a:prstGeom>
            <a:ln w="12700" cap="flat" cmpd="sng">
              <a:solidFill>
                <a:schemeClr val="accent2"/>
              </a:solidFill>
              <a:prstDash val="solid"/>
              <a:headEnd type="none" w="med" len="med"/>
              <a:tailEnd type="none" w="med" len="med"/>
            </a:ln>
          </p:spPr>
        </p:sp>
        <p:sp>
          <p:nvSpPr>
            <p:cNvPr id="18502" name="Line 70"/>
            <p:cNvSpPr/>
            <p:nvPr/>
          </p:nvSpPr>
          <p:spPr>
            <a:xfrm>
              <a:off x="4896" y="3203"/>
              <a:ext cx="167" cy="0"/>
            </a:xfrm>
            <a:prstGeom prst="line">
              <a:avLst/>
            </a:prstGeom>
            <a:ln w="28575" cap="flat" cmpd="sng">
              <a:solidFill>
                <a:schemeClr val="accent2"/>
              </a:solidFill>
              <a:prstDash val="solid"/>
              <a:headEnd type="none" w="med" len="med"/>
              <a:tailEnd type="none" w="med" len="med"/>
            </a:ln>
          </p:spPr>
        </p:sp>
        <p:sp>
          <p:nvSpPr>
            <p:cNvPr id="18503" name="Text Box 71"/>
            <p:cNvSpPr txBox="1"/>
            <p:nvPr/>
          </p:nvSpPr>
          <p:spPr>
            <a:xfrm>
              <a:off x="2154" y="3462"/>
              <a:ext cx="1660"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交流共模干扰影响</a:t>
              </a:r>
              <a:endParaRPr lang="zh-CN" altLang="en-US" sz="2400" b="1" dirty="0">
                <a:solidFill>
                  <a:srgbClr val="000099"/>
                </a:solidFill>
                <a:latin typeface="Times New Roman" panose="02020603050405020304" pitchFamily="18" charset="0"/>
              </a:endParaRPr>
            </a:p>
          </p:txBody>
        </p:sp>
        <p:sp>
          <p:nvSpPr>
            <p:cNvPr id="18504" name="Line 72"/>
            <p:cNvSpPr/>
            <p:nvPr/>
          </p:nvSpPr>
          <p:spPr>
            <a:xfrm>
              <a:off x="2361" y="2160"/>
              <a:ext cx="0" cy="434"/>
            </a:xfrm>
            <a:prstGeom prst="line">
              <a:avLst/>
            </a:prstGeom>
            <a:ln w="9525" cap="flat" cmpd="sng">
              <a:solidFill>
                <a:schemeClr val="accent2"/>
              </a:solidFill>
              <a:prstDash val="solid"/>
              <a:headEnd type="none" w="med" len="med"/>
              <a:tailEnd type="triangle" w="sm" len="lg"/>
            </a:ln>
          </p:spPr>
        </p:sp>
        <p:sp>
          <p:nvSpPr>
            <p:cNvPr id="18505" name="Text Box 73"/>
            <p:cNvSpPr txBox="1"/>
            <p:nvPr/>
          </p:nvSpPr>
          <p:spPr>
            <a:xfrm>
              <a:off x="2126" y="2291"/>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8506" name="Line 74"/>
            <p:cNvSpPr/>
            <p:nvPr/>
          </p:nvSpPr>
          <p:spPr>
            <a:xfrm>
              <a:off x="2470" y="2177"/>
              <a:ext cx="0" cy="133"/>
            </a:xfrm>
            <a:prstGeom prst="line">
              <a:avLst/>
            </a:prstGeom>
            <a:ln w="12700" cap="flat" cmpd="sng">
              <a:solidFill>
                <a:schemeClr val="accent2"/>
              </a:solidFill>
              <a:prstDash val="solid"/>
              <a:headEnd type="none" w="med" len="med"/>
              <a:tailEnd type="none" w="med" len="med"/>
            </a:ln>
          </p:spPr>
        </p:sp>
        <p:sp>
          <p:nvSpPr>
            <p:cNvPr id="18507" name="Line 75"/>
            <p:cNvSpPr/>
            <p:nvPr/>
          </p:nvSpPr>
          <p:spPr>
            <a:xfrm flipV="1">
              <a:off x="2470" y="2528"/>
              <a:ext cx="0" cy="116"/>
            </a:xfrm>
            <a:prstGeom prst="line">
              <a:avLst/>
            </a:prstGeom>
            <a:ln w="12700" cap="flat" cmpd="sng">
              <a:solidFill>
                <a:schemeClr val="accent2"/>
              </a:solidFill>
              <a:prstDash val="solid"/>
              <a:headEnd type="none" w="med" len="med"/>
              <a:tailEnd type="none" w="med" len="med"/>
            </a:ln>
          </p:spPr>
        </p:sp>
        <p:sp>
          <p:nvSpPr>
            <p:cNvPr id="18508" name="Oval 76"/>
            <p:cNvSpPr/>
            <p:nvPr/>
          </p:nvSpPr>
          <p:spPr>
            <a:xfrm>
              <a:off x="4074" y="301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509" name="Line 77"/>
            <p:cNvSpPr/>
            <p:nvPr/>
          </p:nvSpPr>
          <p:spPr>
            <a:xfrm>
              <a:off x="4095" y="2419"/>
              <a:ext cx="192" cy="0"/>
            </a:xfrm>
            <a:prstGeom prst="line">
              <a:avLst/>
            </a:prstGeom>
            <a:ln w="12700" cap="flat" cmpd="sng">
              <a:solidFill>
                <a:schemeClr val="accent2"/>
              </a:solidFill>
              <a:prstDash val="solid"/>
              <a:headEnd type="none" w="med" len="med"/>
              <a:tailEnd type="none" w="med" len="med"/>
            </a:ln>
          </p:spPr>
        </p:sp>
        <p:sp>
          <p:nvSpPr>
            <p:cNvPr id="18510" name="Line 78"/>
            <p:cNvSpPr/>
            <p:nvPr/>
          </p:nvSpPr>
          <p:spPr>
            <a:xfrm>
              <a:off x="4103" y="2101"/>
              <a:ext cx="192" cy="0"/>
            </a:xfrm>
            <a:prstGeom prst="line">
              <a:avLst/>
            </a:prstGeom>
            <a:ln w="12700" cap="flat" cmpd="sng">
              <a:solidFill>
                <a:schemeClr val="accent2"/>
              </a:solidFill>
              <a:prstDash val="solid"/>
              <a:headEnd type="none" w="med" len="med"/>
              <a:tailEnd type="none" w="med" len="med"/>
            </a:ln>
          </p:spPr>
        </p:sp>
        <p:sp>
          <p:nvSpPr>
            <p:cNvPr id="18511" name="Line 79"/>
            <p:cNvSpPr/>
            <p:nvPr/>
          </p:nvSpPr>
          <p:spPr>
            <a:xfrm flipV="1">
              <a:off x="2177" y="1651"/>
              <a:ext cx="593" cy="0"/>
            </a:xfrm>
            <a:prstGeom prst="line">
              <a:avLst/>
            </a:prstGeom>
            <a:ln w="12700" cap="flat" cmpd="sng">
              <a:solidFill>
                <a:schemeClr val="accent2"/>
              </a:solidFill>
              <a:prstDash val="solid"/>
              <a:headEnd type="none" w="med" len="med"/>
              <a:tailEnd type="none" w="med" len="med"/>
            </a:ln>
          </p:spPr>
        </p:sp>
        <p:sp>
          <p:nvSpPr>
            <p:cNvPr id="18512" name="Line 80"/>
            <p:cNvSpPr/>
            <p:nvPr/>
          </p:nvSpPr>
          <p:spPr>
            <a:xfrm>
              <a:off x="2177" y="3203"/>
              <a:ext cx="593" cy="0"/>
            </a:xfrm>
            <a:prstGeom prst="line">
              <a:avLst/>
            </a:prstGeom>
            <a:ln w="12700" cap="flat" cmpd="sng">
              <a:solidFill>
                <a:schemeClr val="accent2"/>
              </a:solidFill>
              <a:prstDash val="solid"/>
              <a:headEnd type="none" w="med" len="med"/>
              <a:tailEnd type="none" w="med" len="med"/>
            </a:ln>
          </p:spPr>
        </p:sp>
        <p:sp>
          <p:nvSpPr>
            <p:cNvPr id="18513" name="Text Box 81"/>
            <p:cNvSpPr txBox="1"/>
            <p:nvPr/>
          </p:nvSpPr>
          <p:spPr>
            <a:xfrm>
              <a:off x="3971" y="1581"/>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sp>
          <p:nvSpPr>
            <p:cNvPr id="18514" name="Rectangle 82"/>
            <p:cNvSpPr/>
            <p:nvPr/>
          </p:nvSpPr>
          <p:spPr>
            <a:xfrm>
              <a:off x="1219" y="212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515" name="Text Box 83"/>
            <p:cNvSpPr txBox="1"/>
            <p:nvPr/>
          </p:nvSpPr>
          <p:spPr>
            <a:xfrm>
              <a:off x="1184" y="1918"/>
              <a:ext cx="313"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18516" name="Rectangle 84"/>
            <p:cNvSpPr/>
            <p:nvPr/>
          </p:nvSpPr>
          <p:spPr>
            <a:xfrm>
              <a:off x="1220" y="267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8517" name="Text Box 85"/>
            <p:cNvSpPr txBox="1"/>
            <p:nvPr/>
          </p:nvSpPr>
          <p:spPr>
            <a:xfrm>
              <a:off x="1184" y="2462"/>
              <a:ext cx="313"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sp>
          <p:nvSpPr>
            <p:cNvPr id="18518" name="Line 86"/>
            <p:cNvSpPr/>
            <p:nvPr/>
          </p:nvSpPr>
          <p:spPr>
            <a:xfrm>
              <a:off x="2177" y="1647"/>
              <a:ext cx="0" cy="504"/>
            </a:xfrm>
            <a:prstGeom prst="line">
              <a:avLst/>
            </a:prstGeom>
            <a:ln w="12700" cap="flat" cmpd="sng">
              <a:solidFill>
                <a:schemeClr val="accent2"/>
              </a:solidFill>
              <a:prstDash val="solid"/>
              <a:headEnd type="none" w="med" len="med"/>
              <a:tailEnd type="none" w="med" len="med"/>
            </a:ln>
          </p:spPr>
        </p:sp>
        <p:sp>
          <p:nvSpPr>
            <p:cNvPr id="18519" name="Line 87"/>
            <p:cNvSpPr/>
            <p:nvPr/>
          </p:nvSpPr>
          <p:spPr>
            <a:xfrm>
              <a:off x="2177" y="2699"/>
              <a:ext cx="0" cy="504"/>
            </a:xfrm>
            <a:prstGeom prst="line">
              <a:avLst/>
            </a:prstGeom>
            <a:ln w="12700" cap="flat" cmpd="sng">
              <a:solidFill>
                <a:schemeClr val="accent2"/>
              </a:solidFill>
              <a:prstDash val="solid"/>
              <a:headEnd type="none" w="med" len="med"/>
              <a:tailEnd type="none" w="med" len="med"/>
            </a:ln>
          </p:spPr>
        </p:sp>
        <p:sp>
          <p:nvSpPr>
            <p:cNvPr id="18520" name="Line 90"/>
            <p:cNvSpPr/>
            <p:nvPr/>
          </p:nvSpPr>
          <p:spPr>
            <a:xfrm>
              <a:off x="1648" y="3075"/>
              <a:ext cx="0" cy="167"/>
            </a:xfrm>
            <a:prstGeom prst="line">
              <a:avLst/>
            </a:prstGeom>
            <a:ln w="12700" cap="flat" cmpd="sng">
              <a:solidFill>
                <a:schemeClr val="accent2"/>
              </a:solidFill>
              <a:prstDash val="dash"/>
              <a:headEnd type="none" w="med" len="med"/>
              <a:tailEnd type="none" w="med" len="med"/>
            </a:ln>
          </p:spPr>
        </p:sp>
        <p:sp>
          <p:nvSpPr>
            <p:cNvPr id="18521" name="Line 91"/>
            <p:cNvSpPr/>
            <p:nvPr/>
          </p:nvSpPr>
          <p:spPr>
            <a:xfrm>
              <a:off x="1565" y="3242"/>
              <a:ext cx="167" cy="0"/>
            </a:xfrm>
            <a:prstGeom prst="line">
              <a:avLst/>
            </a:prstGeom>
            <a:ln w="28575" cap="flat" cmpd="sng">
              <a:solidFill>
                <a:schemeClr val="accent2"/>
              </a:solidFill>
              <a:prstDash val="solid"/>
              <a:headEnd type="none" w="med" len="med"/>
              <a:tailEnd type="none" w="med" len="med"/>
            </a:ln>
          </p:spPr>
        </p:sp>
        <p:sp>
          <p:nvSpPr>
            <p:cNvPr id="18522" name="Line 92"/>
            <p:cNvSpPr/>
            <p:nvPr/>
          </p:nvSpPr>
          <p:spPr>
            <a:xfrm>
              <a:off x="1527" y="3067"/>
              <a:ext cx="242" cy="0"/>
            </a:xfrm>
            <a:prstGeom prst="line">
              <a:avLst/>
            </a:prstGeom>
            <a:ln w="28575" cap="flat" cmpd="sng">
              <a:solidFill>
                <a:schemeClr val="accent2"/>
              </a:solidFill>
              <a:prstDash val="solid"/>
              <a:headEnd type="none" w="med" len="med"/>
              <a:tailEnd type="none" w="med" len="med"/>
            </a:ln>
          </p:spPr>
        </p:sp>
        <p:sp>
          <p:nvSpPr>
            <p:cNvPr id="18523" name="Line 94"/>
            <p:cNvSpPr/>
            <p:nvPr/>
          </p:nvSpPr>
          <p:spPr>
            <a:xfrm>
              <a:off x="1527" y="3000"/>
              <a:ext cx="242" cy="0"/>
            </a:xfrm>
            <a:prstGeom prst="line">
              <a:avLst/>
            </a:prstGeom>
            <a:ln w="28575" cap="flat" cmpd="sng">
              <a:solidFill>
                <a:schemeClr val="accent2"/>
              </a:solidFill>
              <a:prstDash val="solid"/>
              <a:headEnd type="none" w="med" len="med"/>
              <a:tailEnd type="none" w="med" len="med"/>
            </a:ln>
          </p:spPr>
        </p:sp>
        <p:sp>
          <p:nvSpPr>
            <p:cNvPr id="18524" name="Line 95"/>
            <p:cNvSpPr/>
            <p:nvPr/>
          </p:nvSpPr>
          <p:spPr>
            <a:xfrm>
              <a:off x="1648" y="2699"/>
              <a:ext cx="0" cy="301"/>
            </a:xfrm>
            <a:prstGeom prst="line">
              <a:avLst/>
            </a:prstGeom>
            <a:ln w="12700" cap="flat" cmpd="sng">
              <a:solidFill>
                <a:schemeClr val="accent2"/>
              </a:solidFill>
              <a:prstDash val="dash"/>
              <a:headEnd type="none" w="med" len="med"/>
              <a:tailEnd type="none" w="med" len="med"/>
            </a:ln>
          </p:spPr>
        </p:sp>
        <p:sp>
          <p:nvSpPr>
            <p:cNvPr id="18525" name="Line 101"/>
            <p:cNvSpPr/>
            <p:nvPr/>
          </p:nvSpPr>
          <p:spPr>
            <a:xfrm>
              <a:off x="1859" y="1744"/>
              <a:ext cx="0" cy="167"/>
            </a:xfrm>
            <a:prstGeom prst="line">
              <a:avLst/>
            </a:prstGeom>
            <a:ln w="12700" cap="flat" cmpd="sng">
              <a:solidFill>
                <a:schemeClr val="accent2"/>
              </a:solidFill>
              <a:prstDash val="dash"/>
              <a:headEnd type="none" w="med" len="med"/>
              <a:tailEnd type="none" w="med" len="med"/>
            </a:ln>
          </p:spPr>
        </p:sp>
        <p:sp>
          <p:nvSpPr>
            <p:cNvPr id="18526" name="Line 102"/>
            <p:cNvSpPr/>
            <p:nvPr/>
          </p:nvSpPr>
          <p:spPr>
            <a:xfrm>
              <a:off x="1776" y="1911"/>
              <a:ext cx="167" cy="0"/>
            </a:xfrm>
            <a:prstGeom prst="line">
              <a:avLst/>
            </a:prstGeom>
            <a:ln w="28575" cap="flat" cmpd="sng">
              <a:solidFill>
                <a:schemeClr val="accent2"/>
              </a:solidFill>
              <a:prstDash val="solid"/>
              <a:headEnd type="none" w="med" len="med"/>
              <a:tailEnd type="none" w="med" len="med"/>
            </a:ln>
          </p:spPr>
        </p:sp>
        <p:sp>
          <p:nvSpPr>
            <p:cNvPr id="18527" name="Line 103"/>
            <p:cNvSpPr/>
            <p:nvPr/>
          </p:nvSpPr>
          <p:spPr>
            <a:xfrm>
              <a:off x="1738" y="1736"/>
              <a:ext cx="242" cy="0"/>
            </a:xfrm>
            <a:prstGeom prst="line">
              <a:avLst/>
            </a:prstGeom>
            <a:ln w="28575" cap="flat" cmpd="sng">
              <a:solidFill>
                <a:schemeClr val="accent2"/>
              </a:solidFill>
              <a:prstDash val="solid"/>
              <a:headEnd type="none" w="med" len="med"/>
              <a:tailEnd type="none" w="med" len="med"/>
            </a:ln>
          </p:spPr>
        </p:sp>
        <p:sp>
          <p:nvSpPr>
            <p:cNvPr id="18528" name="Line 104"/>
            <p:cNvSpPr/>
            <p:nvPr/>
          </p:nvSpPr>
          <p:spPr>
            <a:xfrm>
              <a:off x="1738" y="1669"/>
              <a:ext cx="242" cy="0"/>
            </a:xfrm>
            <a:prstGeom prst="line">
              <a:avLst/>
            </a:prstGeom>
            <a:ln w="28575" cap="flat" cmpd="sng">
              <a:solidFill>
                <a:schemeClr val="accent2"/>
              </a:solidFill>
              <a:prstDash val="solid"/>
              <a:headEnd type="none" w="med" len="med"/>
              <a:tailEnd type="none" w="med" len="med"/>
            </a:ln>
          </p:spPr>
        </p:sp>
        <p:sp>
          <p:nvSpPr>
            <p:cNvPr id="18529" name="Line 105"/>
            <p:cNvSpPr/>
            <p:nvPr/>
          </p:nvSpPr>
          <p:spPr>
            <a:xfrm>
              <a:off x="1859" y="1560"/>
              <a:ext cx="0" cy="109"/>
            </a:xfrm>
            <a:prstGeom prst="line">
              <a:avLst/>
            </a:prstGeom>
            <a:ln w="12700" cap="flat" cmpd="sng">
              <a:solidFill>
                <a:schemeClr val="accent2"/>
              </a:solidFill>
              <a:prstDash val="dash"/>
              <a:headEnd type="none" w="med" len="med"/>
              <a:tailEnd type="none" w="med" len="med"/>
            </a:ln>
          </p:spPr>
        </p:sp>
        <p:sp>
          <p:nvSpPr>
            <p:cNvPr id="18530" name="Line 106"/>
            <p:cNvSpPr/>
            <p:nvPr/>
          </p:nvSpPr>
          <p:spPr>
            <a:xfrm>
              <a:off x="1648" y="1560"/>
              <a:ext cx="1" cy="591"/>
            </a:xfrm>
            <a:prstGeom prst="line">
              <a:avLst/>
            </a:prstGeom>
            <a:ln w="12700" cap="flat" cmpd="sng">
              <a:solidFill>
                <a:schemeClr val="accent2"/>
              </a:solidFill>
              <a:prstDash val="dash"/>
              <a:headEnd type="none" w="med" len="med"/>
              <a:tailEnd type="none" w="med" len="med"/>
            </a:ln>
          </p:spPr>
        </p:sp>
        <p:sp>
          <p:nvSpPr>
            <p:cNvPr id="18531" name="Line 107"/>
            <p:cNvSpPr/>
            <p:nvPr/>
          </p:nvSpPr>
          <p:spPr>
            <a:xfrm flipH="1">
              <a:off x="1648" y="1560"/>
              <a:ext cx="211" cy="0"/>
            </a:xfrm>
            <a:prstGeom prst="line">
              <a:avLst/>
            </a:prstGeom>
            <a:ln w="12700" cap="flat" cmpd="sng">
              <a:solidFill>
                <a:schemeClr val="accent2"/>
              </a:solidFill>
              <a:prstDash val="dash"/>
              <a:headEnd type="none" w="med" len="med"/>
              <a:tailEnd type="none" w="med" len="med"/>
            </a:ln>
          </p:spPr>
        </p:sp>
        <p:sp>
          <p:nvSpPr>
            <p:cNvPr id="18532" name="Text Box 108"/>
            <p:cNvSpPr txBox="1"/>
            <p:nvPr/>
          </p:nvSpPr>
          <p:spPr>
            <a:xfrm>
              <a:off x="1866" y="1436"/>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18533" name="Text Box 109"/>
            <p:cNvSpPr txBox="1"/>
            <p:nvPr/>
          </p:nvSpPr>
          <p:spPr>
            <a:xfrm>
              <a:off x="1690" y="2795"/>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grpSp>
      <p:sp>
        <p:nvSpPr>
          <p:cNvPr id="2398319" name="Rectangle 111"/>
          <p:cNvSpPr/>
          <p:nvPr/>
        </p:nvSpPr>
        <p:spPr>
          <a:xfrm>
            <a:off x="4100513" y="1127125"/>
            <a:ext cx="4792662" cy="1077913"/>
          </a:xfrm>
          <a:prstGeom prst="rect">
            <a:avLst/>
          </a:prstGeom>
          <a:solidFill>
            <a:srgbClr val="CCFFCC"/>
          </a:solidFill>
          <a:ln w="9525">
            <a:noFill/>
          </a:ln>
        </p:spPr>
        <p:txBody>
          <a:bodyPr>
            <a:spAutoFit/>
          </a:bodyPr>
          <a:p>
            <a:pPr eaLnBrk="1" hangingPunct="1">
              <a:lnSpc>
                <a:spcPct val="90000"/>
              </a:lnSpc>
            </a:pPr>
            <a:r>
              <a:rPr lang="zh-CN" altLang="en-US" sz="2400" b="1" dirty="0">
                <a:solidFill>
                  <a:srgbClr val="3333FF"/>
                </a:solidFill>
                <a:latin typeface="Times New Roman" panose="02020603050405020304" pitchFamily="18" charset="0"/>
              </a:rPr>
              <a:t>由于输入信号的传输线存在线阻</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1</a:t>
            </a:r>
            <a:r>
              <a:rPr lang="zh-CN" altLang="en-US" sz="2400" b="1" dirty="0">
                <a:solidFill>
                  <a:srgbClr val="3333FF"/>
                </a:solidFill>
                <a:latin typeface="Times New Roman" panose="02020603050405020304" pitchFamily="18" charset="0"/>
              </a:rPr>
              <a:t>、</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和分布电容</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1</a:t>
            </a:r>
            <a:r>
              <a:rPr lang="zh-CN" altLang="en-US" sz="2400" b="1" dirty="0">
                <a:solidFill>
                  <a:srgbClr val="3333FF"/>
                </a:solidFill>
                <a:latin typeface="Times New Roman" panose="02020603050405020304" pitchFamily="18" charset="0"/>
              </a:rPr>
              <a:t>、</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 </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1</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1</a:t>
            </a:r>
            <a:r>
              <a:rPr lang="zh-CN" altLang="en-US" sz="2400" b="1" dirty="0">
                <a:solidFill>
                  <a:srgbClr val="3333FF"/>
                </a:solidFill>
                <a:latin typeface="Times New Roman" panose="02020603050405020304" pitchFamily="18" charset="0"/>
              </a:rPr>
              <a:t>、 </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2</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分别对地构成回路。</a:t>
            </a:r>
            <a:endParaRPr lang="zh-CN" altLang="en-US" sz="2400" b="1" dirty="0">
              <a:solidFill>
                <a:srgbClr val="3333FF"/>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98215"/>
                                        </p:tgtEl>
                                        <p:attrNameLst>
                                          <p:attrName>style.visibility</p:attrName>
                                        </p:attrNameLst>
                                      </p:cBhvr>
                                      <p:to>
                                        <p:strVal val="visible"/>
                                      </p:to>
                                    </p:set>
                                    <p:animEffect transition="in" filter="dissolve">
                                      <p:cBhvr>
                                        <p:cTn id="7" dur="500"/>
                                        <p:tgtEl>
                                          <p:spTgt spid="23982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98319"/>
                                        </p:tgtEl>
                                        <p:attrNameLst>
                                          <p:attrName>style.visibility</p:attrName>
                                        </p:attrNameLst>
                                      </p:cBhvr>
                                      <p:to>
                                        <p:strVal val="visible"/>
                                      </p:to>
                                    </p:set>
                                    <p:animEffect transition="in" filter="dissolve">
                                      <p:cBhvr>
                                        <p:cTn id="12" dur="500"/>
                                        <p:tgtEl>
                                          <p:spTgt spid="23983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8215" grpId="0"/>
      <p:bldP spid="2398319" grpId="0" bldLvl="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0259" name="Text Box 3"/>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9459" name="Text Box 4"/>
          <p:cNvSpPr txBox="1"/>
          <p:nvPr/>
        </p:nvSpPr>
        <p:spPr>
          <a:xfrm>
            <a:off x="323850" y="1557338"/>
            <a:ext cx="3789363"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对交流共模信号：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grpSp>
        <p:nvGrpSpPr>
          <p:cNvPr id="19460" name="Group 5"/>
          <p:cNvGrpSpPr/>
          <p:nvPr/>
        </p:nvGrpSpPr>
        <p:grpSpPr>
          <a:xfrm>
            <a:off x="503238" y="2384425"/>
            <a:ext cx="7859712" cy="3709988"/>
            <a:chOff x="589" y="1436"/>
            <a:chExt cx="4951" cy="2337"/>
          </a:xfrm>
        </p:grpSpPr>
        <p:sp>
          <p:nvSpPr>
            <p:cNvPr id="19463" name="Rectangle 6"/>
            <p:cNvSpPr/>
            <p:nvPr/>
          </p:nvSpPr>
          <p:spPr>
            <a:xfrm>
              <a:off x="589" y="1437"/>
              <a:ext cx="4951" cy="2336"/>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64" name="Line 7"/>
            <p:cNvSpPr/>
            <p:nvPr/>
          </p:nvSpPr>
          <p:spPr>
            <a:xfrm>
              <a:off x="907" y="2151"/>
              <a:ext cx="1270" cy="0"/>
            </a:xfrm>
            <a:prstGeom prst="line">
              <a:avLst/>
            </a:prstGeom>
            <a:ln w="12700" cap="flat" cmpd="sng">
              <a:solidFill>
                <a:schemeClr val="accent2"/>
              </a:solidFill>
              <a:prstDash val="solid"/>
              <a:headEnd type="none" w="med" len="med"/>
              <a:tailEnd type="none" w="med" len="med"/>
            </a:ln>
          </p:spPr>
        </p:sp>
        <p:sp>
          <p:nvSpPr>
            <p:cNvPr id="19465" name="Line 8"/>
            <p:cNvSpPr/>
            <p:nvPr/>
          </p:nvSpPr>
          <p:spPr>
            <a:xfrm>
              <a:off x="907" y="2699"/>
              <a:ext cx="1270" cy="0"/>
            </a:xfrm>
            <a:prstGeom prst="line">
              <a:avLst/>
            </a:prstGeom>
            <a:ln w="12700" cap="flat" cmpd="sng">
              <a:solidFill>
                <a:schemeClr val="accent2"/>
              </a:solidFill>
              <a:prstDash val="solid"/>
              <a:headEnd type="none" w="med" len="med"/>
              <a:tailEnd type="none" w="med" len="med"/>
            </a:ln>
          </p:spPr>
        </p:sp>
        <p:sp>
          <p:nvSpPr>
            <p:cNvPr id="19466" name="Line 9"/>
            <p:cNvSpPr/>
            <p:nvPr/>
          </p:nvSpPr>
          <p:spPr>
            <a:xfrm>
              <a:off x="4670" y="2268"/>
              <a:ext cx="485" cy="0"/>
            </a:xfrm>
            <a:prstGeom prst="line">
              <a:avLst/>
            </a:prstGeom>
            <a:ln w="12700" cap="flat" cmpd="sng">
              <a:solidFill>
                <a:schemeClr val="accent2"/>
              </a:solidFill>
              <a:prstDash val="solid"/>
              <a:headEnd type="none" w="med" len="med"/>
              <a:tailEnd type="none" w="med" len="med"/>
            </a:ln>
          </p:spPr>
        </p:sp>
        <p:sp>
          <p:nvSpPr>
            <p:cNvPr id="19467" name="Oval 10"/>
            <p:cNvSpPr/>
            <p:nvPr/>
          </p:nvSpPr>
          <p:spPr>
            <a:xfrm>
              <a:off x="864" y="2128"/>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68" name="Text Box 11"/>
            <p:cNvSpPr txBox="1"/>
            <p:nvPr/>
          </p:nvSpPr>
          <p:spPr>
            <a:xfrm>
              <a:off x="589" y="2035"/>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19469" name="Text Box 12"/>
            <p:cNvSpPr txBox="1"/>
            <p:nvPr/>
          </p:nvSpPr>
          <p:spPr>
            <a:xfrm>
              <a:off x="589" y="2572"/>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19470" name="Oval 13"/>
            <p:cNvSpPr/>
            <p:nvPr/>
          </p:nvSpPr>
          <p:spPr>
            <a:xfrm>
              <a:off x="863" y="2675"/>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71" name="AutoShape 14"/>
            <p:cNvSpPr/>
            <p:nvPr/>
          </p:nvSpPr>
          <p:spPr>
            <a:xfrm rot="5400000">
              <a:off x="2737" y="1568"/>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72" name="Text Box 15"/>
            <p:cNvSpPr txBox="1"/>
            <p:nvPr/>
          </p:nvSpPr>
          <p:spPr>
            <a:xfrm>
              <a:off x="2745" y="1560"/>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19473" name="Text Box 16"/>
            <p:cNvSpPr txBox="1"/>
            <p:nvPr/>
          </p:nvSpPr>
          <p:spPr>
            <a:xfrm>
              <a:off x="2843" y="1714"/>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19474" name="AutoShape 17"/>
            <p:cNvSpPr/>
            <p:nvPr/>
          </p:nvSpPr>
          <p:spPr>
            <a:xfrm rot="5400000">
              <a:off x="2733" y="2791"/>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75" name="Text Box 18"/>
            <p:cNvSpPr txBox="1"/>
            <p:nvPr/>
          </p:nvSpPr>
          <p:spPr>
            <a:xfrm>
              <a:off x="2741" y="2783"/>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19476" name="Text Box 19"/>
            <p:cNvSpPr txBox="1"/>
            <p:nvPr/>
          </p:nvSpPr>
          <p:spPr>
            <a:xfrm>
              <a:off x="2839" y="2937"/>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19477" name="Line 20"/>
            <p:cNvSpPr/>
            <p:nvPr/>
          </p:nvSpPr>
          <p:spPr>
            <a:xfrm flipH="1">
              <a:off x="2470" y="1976"/>
              <a:ext cx="300" cy="0"/>
            </a:xfrm>
            <a:prstGeom prst="line">
              <a:avLst/>
            </a:prstGeom>
            <a:ln w="12700" cap="flat" cmpd="sng">
              <a:solidFill>
                <a:schemeClr val="accent2"/>
              </a:solidFill>
              <a:prstDash val="solid"/>
              <a:headEnd type="none" w="med" len="med"/>
              <a:tailEnd type="none" w="med" len="med"/>
            </a:ln>
          </p:spPr>
        </p:sp>
        <p:sp>
          <p:nvSpPr>
            <p:cNvPr id="19478" name="Line 21"/>
            <p:cNvSpPr/>
            <p:nvPr/>
          </p:nvSpPr>
          <p:spPr>
            <a:xfrm>
              <a:off x="2470" y="1975"/>
              <a:ext cx="0" cy="226"/>
            </a:xfrm>
            <a:prstGeom prst="line">
              <a:avLst/>
            </a:prstGeom>
            <a:ln w="12700" cap="flat" cmpd="sng">
              <a:solidFill>
                <a:schemeClr val="accent2"/>
              </a:solidFill>
              <a:prstDash val="solid"/>
              <a:headEnd type="none" w="med" len="med"/>
              <a:tailEnd type="none" w="med" len="med"/>
            </a:ln>
          </p:spPr>
        </p:sp>
        <p:sp>
          <p:nvSpPr>
            <p:cNvPr id="19479" name="Rectangle 22"/>
            <p:cNvSpPr/>
            <p:nvPr/>
          </p:nvSpPr>
          <p:spPr>
            <a:xfrm>
              <a:off x="2444" y="2309"/>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80" name="Text Box 23"/>
            <p:cNvSpPr txBox="1"/>
            <p:nvPr/>
          </p:nvSpPr>
          <p:spPr>
            <a:xfrm>
              <a:off x="2496" y="2328"/>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19481" name="Line 24"/>
            <p:cNvSpPr/>
            <p:nvPr/>
          </p:nvSpPr>
          <p:spPr>
            <a:xfrm>
              <a:off x="2470" y="2644"/>
              <a:ext cx="0" cy="233"/>
            </a:xfrm>
            <a:prstGeom prst="line">
              <a:avLst/>
            </a:prstGeom>
            <a:ln w="12700" cap="flat" cmpd="sng">
              <a:solidFill>
                <a:schemeClr val="accent2"/>
              </a:solidFill>
              <a:prstDash val="solid"/>
              <a:headEnd type="none" w="med" len="med"/>
              <a:tailEnd type="none" w="med" len="med"/>
            </a:ln>
          </p:spPr>
        </p:sp>
        <p:sp>
          <p:nvSpPr>
            <p:cNvPr id="19482" name="Line 25"/>
            <p:cNvSpPr/>
            <p:nvPr/>
          </p:nvSpPr>
          <p:spPr>
            <a:xfrm>
              <a:off x="2470" y="2869"/>
              <a:ext cx="292" cy="0"/>
            </a:xfrm>
            <a:prstGeom prst="line">
              <a:avLst/>
            </a:prstGeom>
            <a:ln w="12700" cap="flat" cmpd="sng">
              <a:solidFill>
                <a:schemeClr val="accent2"/>
              </a:solidFill>
              <a:prstDash val="solid"/>
              <a:headEnd type="none" w="med" len="med"/>
              <a:tailEnd type="none" w="med" len="med"/>
            </a:ln>
          </p:spPr>
        </p:sp>
        <p:sp>
          <p:nvSpPr>
            <p:cNvPr id="19483" name="Line 26"/>
            <p:cNvSpPr/>
            <p:nvPr/>
          </p:nvSpPr>
          <p:spPr>
            <a:xfrm>
              <a:off x="2470" y="2201"/>
              <a:ext cx="501" cy="0"/>
            </a:xfrm>
            <a:prstGeom prst="line">
              <a:avLst/>
            </a:prstGeom>
            <a:ln w="12700" cap="flat" cmpd="sng">
              <a:solidFill>
                <a:schemeClr val="accent2"/>
              </a:solidFill>
              <a:prstDash val="solid"/>
              <a:headEnd type="none" w="med" len="med"/>
              <a:tailEnd type="none" w="med" len="med"/>
            </a:ln>
          </p:spPr>
        </p:sp>
        <p:sp>
          <p:nvSpPr>
            <p:cNvPr id="19484" name="Rectangle 27"/>
            <p:cNvSpPr/>
            <p:nvPr/>
          </p:nvSpPr>
          <p:spPr>
            <a:xfrm>
              <a:off x="2971" y="2176"/>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85" name="Text Box 28"/>
            <p:cNvSpPr txBox="1"/>
            <p:nvPr/>
          </p:nvSpPr>
          <p:spPr>
            <a:xfrm>
              <a:off x="2946" y="196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19486" name="Line 29"/>
            <p:cNvSpPr/>
            <p:nvPr/>
          </p:nvSpPr>
          <p:spPr>
            <a:xfrm>
              <a:off x="3155" y="2201"/>
              <a:ext cx="266" cy="0"/>
            </a:xfrm>
            <a:prstGeom prst="line">
              <a:avLst/>
            </a:prstGeom>
            <a:ln w="12700" cap="flat" cmpd="sng">
              <a:solidFill>
                <a:schemeClr val="accent2"/>
              </a:solidFill>
              <a:prstDash val="solid"/>
              <a:headEnd type="none" w="med" len="med"/>
              <a:tailEnd type="none" w="med" len="med"/>
            </a:ln>
          </p:spPr>
        </p:sp>
        <p:sp>
          <p:nvSpPr>
            <p:cNvPr id="19487" name="Line 30"/>
            <p:cNvSpPr/>
            <p:nvPr/>
          </p:nvSpPr>
          <p:spPr>
            <a:xfrm flipV="1">
              <a:off x="3421" y="1817"/>
              <a:ext cx="0" cy="384"/>
            </a:xfrm>
            <a:prstGeom prst="line">
              <a:avLst/>
            </a:prstGeom>
            <a:ln w="12700" cap="flat" cmpd="sng">
              <a:solidFill>
                <a:schemeClr val="accent2"/>
              </a:solidFill>
              <a:prstDash val="solid"/>
              <a:headEnd type="none" w="med" len="med"/>
              <a:tailEnd type="none" w="med" len="med"/>
            </a:ln>
          </p:spPr>
        </p:sp>
        <p:sp>
          <p:nvSpPr>
            <p:cNvPr id="19488" name="Line 31"/>
            <p:cNvSpPr/>
            <p:nvPr/>
          </p:nvSpPr>
          <p:spPr>
            <a:xfrm>
              <a:off x="2470" y="2644"/>
              <a:ext cx="509" cy="0"/>
            </a:xfrm>
            <a:prstGeom prst="line">
              <a:avLst/>
            </a:prstGeom>
            <a:ln w="12700" cap="flat" cmpd="sng">
              <a:solidFill>
                <a:schemeClr val="accent2"/>
              </a:solidFill>
              <a:prstDash val="solid"/>
              <a:headEnd type="none" w="med" len="med"/>
              <a:tailEnd type="none" w="med" len="med"/>
            </a:ln>
          </p:spPr>
        </p:sp>
        <p:sp>
          <p:nvSpPr>
            <p:cNvPr id="19489" name="Rectangle 32"/>
            <p:cNvSpPr/>
            <p:nvPr/>
          </p:nvSpPr>
          <p:spPr>
            <a:xfrm>
              <a:off x="2975" y="262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90" name="Text Box 33"/>
            <p:cNvSpPr txBox="1"/>
            <p:nvPr/>
          </p:nvSpPr>
          <p:spPr>
            <a:xfrm>
              <a:off x="2949" y="2400"/>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19491" name="Line 34"/>
            <p:cNvSpPr/>
            <p:nvPr/>
          </p:nvSpPr>
          <p:spPr>
            <a:xfrm>
              <a:off x="3163" y="2644"/>
              <a:ext cx="258" cy="0"/>
            </a:xfrm>
            <a:prstGeom prst="line">
              <a:avLst/>
            </a:prstGeom>
            <a:ln w="12700" cap="flat" cmpd="sng">
              <a:solidFill>
                <a:schemeClr val="accent2"/>
              </a:solidFill>
              <a:prstDash val="solid"/>
              <a:headEnd type="none" w="med" len="med"/>
              <a:tailEnd type="none" w="med" len="med"/>
            </a:ln>
          </p:spPr>
        </p:sp>
        <p:sp>
          <p:nvSpPr>
            <p:cNvPr id="19492" name="Line 35"/>
            <p:cNvSpPr/>
            <p:nvPr/>
          </p:nvSpPr>
          <p:spPr>
            <a:xfrm>
              <a:off x="3421" y="2644"/>
              <a:ext cx="0" cy="392"/>
            </a:xfrm>
            <a:prstGeom prst="line">
              <a:avLst/>
            </a:prstGeom>
            <a:ln w="12700" cap="flat" cmpd="sng">
              <a:solidFill>
                <a:schemeClr val="accent2"/>
              </a:solidFill>
              <a:prstDash val="solid"/>
              <a:headEnd type="none" w="med" len="med"/>
              <a:tailEnd type="none" w="med" len="med"/>
            </a:ln>
          </p:spPr>
        </p:sp>
        <p:sp>
          <p:nvSpPr>
            <p:cNvPr id="19493" name="Line 36"/>
            <p:cNvSpPr/>
            <p:nvPr/>
          </p:nvSpPr>
          <p:spPr>
            <a:xfrm>
              <a:off x="3254" y="1817"/>
              <a:ext cx="618" cy="0"/>
            </a:xfrm>
            <a:prstGeom prst="line">
              <a:avLst/>
            </a:prstGeom>
            <a:ln w="12700" cap="flat" cmpd="sng">
              <a:solidFill>
                <a:schemeClr val="accent2"/>
              </a:solidFill>
              <a:prstDash val="solid"/>
              <a:headEnd type="none" w="med" len="med"/>
              <a:tailEnd type="none" w="med" len="med"/>
            </a:ln>
          </p:spPr>
        </p:sp>
        <p:sp>
          <p:nvSpPr>
            <p:cNvPr id="19494" name="Rectangle 37"/>
            <p:cNvSpPr/>
            <p:nvPr/>
          </p:nvSpPr>
          <p:spPr>
            <a:xfrm>
              <a:off x="3707" y="178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95" name="Text Box 38"/>
            <p:cNvSpPr txBox="1"/>
            <p:nvPr/>
          </p:nvSpPr>
          <p:spPr>
            <a:xfrm>
              <a:off x="3672" y="1566"/>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19496" name="Line 39"/>
            <p:cNvSpPr/>
            <p:nvPr/>
          </p:nvSpPr>
          <p:spPr>
            <a:xfrm>
              <a:off x="3894" y="1817"/>
              <a:ext cx="209" cy="0"/>
            </a:xfrm>
            <a:prstGeom prst="line">
              <a:avLst/>
            </a:prstGeom>
            <a:ln w="12700" cap="flat" cmpd="sng">
              <a:solidFill>
                <a:schemeClr val="accent2"/>
              </a:solidFill>
              <a:prstDash val="solid"/>
              <a:headEnd type="none" w="med" len="med"/>
              <a:tailEnd type="none" w="med" len="med"/>
            </a:ln>
          </p:spPr>
        </p:sp>
        <p:sp>
          <p:nvSpPr>
            <p:cNvPr id="19497" name="Line 40"/>
            <p:cNvSpPr/>
            <p:nvPr/>
          </p:nvSpPr>
          <p:spPr>
            <a:xfrm>
              <a:off x="4103" y="1817"/>
              <a:ext cx="0" cy="284"/>
            </a:xfrm>
            <a:prstGeom prst="line">
              <a:avLst/>
            </a:prstGeom>
            <a:ln w="12700" cap="flat" cmpd="sng">
              <a:solidFill>
                <a:schemeClr val="accent2"/>
              </a:solidFill>
              <a:prstDash val="solid"/>
              <a:headEnd type="none" w="med" len="med"/>
              <a:tailEnd type="none" w="med" len="med"/>
            </a:ln>
          </p:spPr>
        </p:sp>
        <p:sp>
          <p:nvSpPr>
            <p:cNvPr id="19498" name="AutoShape 41"/>
            <p:cNvSpPr/>
            <p:nvPr/>
          </p:nvSpPr>
          <p:spPr>
            <a:xfrm rot="5400000">
              <a:off x="4257" y="2023"/>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499" name="Text Box 42"/>
            <p:cNvSpPr txBox="1"/>
            <p:nvPr/>
          </p:nvSpPr>
          <p:spPr>
            <a:xfrm>
              <a:off x="4265" y="1973"/>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19500" name="Text Box 43"/>
            <p:cNvSpPr txBox="1"/>
            <p:nvPr/>
          </p:nvSpPr>
          <p:spPr>
            <a:xfrm>
              <a:off x="4372" y="2161"/>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19501" name="Line 44"/>
            <p:cNvSpPr/>
            <p:nvPr/>
          </p:nvSpPr>
          <p:spPr>
            <a:xfrm>
              <a:off x="3247" y="3036"/>
              <a:ext cx="609" cy="0"/>
            </a:xfrm>
            <a:prstGeom prst="line">
              <a:avLst/>
            </a:prstGeom>
            <a:ln w="12700" cap="flat" cmpd="sng">
              <a:solidFill>
                <a:schemeClr val="accent2"/>
              </a:solidFill>
              <a:prstDash val="solid"/>
              <a:headEnd type="none" w="med" len="med"/>
              <a:tailEnd type="none" w="med" len="med"/>
            </a:ln>
          </p:spPr>
        </p:sp>
        <p:sp>
          <p:nvSpPr>
            <p:cNvPr id="19502" name="Rectangle 45"/>
            <p:cNvSpPr/>
            <p:nvPr/>
          </p:nvSpPr>
          <p:spPr>
            <a:xfrm>
              <a:off x="3695" y="3011"/>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03" name="Text Box 46"/>
            <p:cNvSpPr txBox="1"/>
            <p:nvPr/>
          </p:nvSpPr>
          <p:spPr>
            <a:xfrm>
              <a:off x="3659" y="277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19504" name="Line 47"/>
            <p:cNvSpPr/>
            <p:nvPr/>
          </p:nvSpPr>
          <p:spPr>
            <a:xfrm>
              <a:off x="3885" y="3036"/>
              <a:ext cx="209" cy="0"/>
            </a:xfrm>
            <a:prstGeom prst="line">
              <a:avLst/>
            </a:prstGeom>
            <a:ln w="12700" cap="flat" cmpd="sng">
              <a:solidFill>
                <a:schemeClr val="accent2"/>
              </a:solidFill>
              <a:prstDash val="solid"/>
              <a:headEnd type="none" w="med" len="med"/>
              <a:tailEnd type="none" w="med" len="med"/>
            </a:ln>
          </p:spPr>
        </p:sp>
        <p:sp>
          <p:nvSpPr>
            <p:cNvPr id="19505" name="Line 48"/>
            <p:cNvSpPr/>
            <p:nvPr/>
          </p:nvSpPr>
          <p:spPr>
            <a:xfrm flipV="1">
              <a:off x="4094" y="2418"/>
              <a:ext cx="0" cy="618"/>
            </a:xfrm>
            <a:prstGeom prst="line">
              <a:avLst/>
            </a:prstGeom>
            <a:ln w="12700" cap="flat" cmpd="sng">
              <a:solidFill>
                <a:schemeClr val="accent2"/>
              </a:solidFill>
              <a:prstDash val="solid"/>
              <a:headEnd type="none" w="med" len="med"/>
              <a:tailEnd type="none" w="med" len="med"/>
            </a:ln>
          </p:spPr>
        </p:sp>
        <p:sp>
          <p:nvSpPr>
            <p:cNvPr id="19506" name="Oval 49"/>
            <p:cNvSpPr/>
            <p:nvPr/>
          </p:nvSpPr>
          <p:spPr>
            <a:xfrm>
              <a:off x="5151" y="2243"/>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07" name="Text Box 50"/>
            <p:cNvSpPr txBox="1"/>
            <p:nvPr/>
          </p:nvSpPr>
          <p:spPr>
            <a:xfrm>
              <a:off x="5188" y="2151"/>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19508" name="Text Box 51"/>
            <p:cNvSpPr txBox="1"/>
            <p:nvPr/>
          </p:nvSpPr>
          <p:spPr>
            <a:xfrm>
              <a:off x="3292" y="1584"/>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19509" name="Oval 52"/>
            <p:cNvSpPr/>
            <p:nvPr/>
          </p:nvSpPr>
          <p:spPr>
            <a:xfrm>
              <a:off x="3402" y="179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0" name="Oval 53"/>
            <p:cNvSpPr/>
            <p:nvPr/>
          </p:nvSpPr>
          <p:spPr>
            <a:xfrm>
              <a:off x="2454" y="217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1" name="Oval 54"/>
            <p:cNvSpPr/>
            <p:nvPr/>
          </p:nvSpPr>
          <p:spPr>
            <a:xfrm>
              <a:off x="2444" y="2620"/>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2" name="Text Box 55"/>
            <p:cNvSpPr txBox="1"/>
            <p:nvPr/>
          </p:nvSpPr>
          <p:spPr>
            <a:xfrm>
              <a:off x="3313" y="3075"/>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19513" name="Oval 56"/>
            <p:cNvSpPr/>
            <p:nvPr/>
          </p:nvSpPr>
          <p:spPr>
            <a:xfrm>
              <a:off x="3397" y="3020"/>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4" name="Oval 57"/>
            <p:cNvSpPr/>
            <p:nvPr/>
          </p:nvSpPr>
          <p:spPr>
            <a:xfrm>
              <a:off x="4921" y="224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5" name="Line 58"/>
            <p:cNvSpPr/>
            <p:nvPr/>
          </p:nvSpPr>
          <p:spPr>
            <a:xfrm flipV="1">
              <a:off x="4946" y="1809"/>
              <a:ext cx="0" cy="459"/>
            </a:xfrm>
            <a:prstGeom prst="line">
              <a:avLst/>
            </a:prstGeom>
            <a:ln w="12700" cap="flat" cmpd="sng">
              <a:solidFill>
                <a:schemeClr val="accent2"/>
              </a:solidFill>
              <a:prstDash val="solid"/>
              <a:headEnd type="none" w="med" len="med"/>
              <a:tailEnd type="none" w="med" len="med"/>
            </a:ln>
          </p:spPr>
        </p:sp>
        <p:sp>
          <p:nvSpPr>
            <p:cNvPr id="19516" name="Line 59"/>
            <p:cNvSpPr/>
            <p:nvPr/>
          </p:nvSpPr>
          <p:spPr>
            <a:xfrm flipH="1">
              <a:off x="4603" y="1809"/>
              <a:ext cx="343" cy="0"/>
            </a:xfrm>
            <a:prstGeom prst="line">
              <a:avLst/>
            </a:prstGeom>
            <a:ln w="12700" cap="flat" cmpd="sng">
              <a:solidFill>
                <a:schemeClr val="accent2"/>
              </a:solidFill>
              <a:prstDash val="solid"/>
              <a:headEnd type="none" w="med" len="med"/>
              <a:tailEnd type="none" w="med" len="med"/>
            </a:ln>
          </p:spPr>
        </p:sp>
        <p:sp>
          <p:nvSpPr>
            <p:cNvPr id="19517" name="Rectangle 60"/>
            <p:cNvSpPr/>
            <p:nvPr/>
          </p:nvSpPr>
          <p:spPr>
            <a:xfrm>
              <a:off x="4425" y="178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18" name="Text Box 61"/>
            <p:cNvSpPr txBox="1"/>
            <p:nvPr/>
          </p:nvSpPr>
          <p:spPr>
            <a:xfrm>
              <a:off x="4395" y="156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19519" name="Line 62"/>
            <p:cNvSpPr/>
            <p:nvPr/>
          </p:nvSpPr>
          <p:spPr>
            <a:xfrm flipH="1">
              <a:off x="4103" y="1817"/>
              <a:ext cx="317" cy="0"/>
            </a:xfrm>
            <a:prstGeom prst="line">
              <a:avLst/>
            </a:prstGeom>
            <a:ln w="12700" cap="flat" cmpd="sng">
              <a:solidFill>
                <a:schemeClr val="accent2"/>
              </a:solidFill>
              <a:prstDash val="solid"/>
              <a:headEnd type="none" w="med" len="med"/>
              <a:tailEnd type="none" w="med" len="med"/>
            </a:ln>
          </p:spPr>
        </p:sp>
        <p:sp>
          <p:nvSpPr>
            <p:cNvPr id="19520" name="Oval 63"/>
            <p:cNvSpPr/>
            <p:nvPr/>
          </p:nvSpPr>
          <p:spPr>
            <a:xfrm>
              <a:off x="4078" y="179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21" name="Line 64"/>
            <p:cNvSpPr/>
            <p:nvPr/>
          </p:nvSpPr>
          <p:spPr>
            <a:xfrm>
              <a:off x="4094" y="3036"/>
              <a:ext cx="334" cy="0"/>
            </a:xfrm>
            <a:prstGeom prst="line">
              <a:avLst/>
            </a:prstGeom>
            <a:ln w="12700" cap="flat" cmpd="sng">
              <a:solidFill>
                <a:schemeClr val="accent2"/>
              </a:solidFill>
              <a:prstDash val="solid"/>
              <a:headEnd type="none" w="med" len="med"/>
              <a:tailEnd type="none" w="med" len="med"/>
            </a:ln>
          </p:spPr>
        </p:sp>
        <p:sp>
          <p:nvSpPr>
            <p:cNvPr id="19522" name="Rectangle 65"/>
            <p:cNvSpPr/>
            <p:nvPr/>
          </p:nvSpPr>
          <p:spPr>
            <a:xfrm>
              <a:off x="4429" y="301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23" name="Text Box 66"/>
            <p:cNvSpPr txBox="1"/>
            <p:nvPr/>
          </p:nvSpPr>
          <p:spPr>
            <a:xfrm>
              <a:off x="4399" y="2803"/>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19524" name="Line 67"/>
            <p:cNvSpPr/>
            <p:nvPr/>
          </p:nvSpPr>
          <p:spPr>
            <a:xfrm>
              <a:off x="4612" y="3036"/>
              <a:ext cx="367" cy="0"/>
            </a:xfrm>
            <a:prstGeom prst="line">
              <a:avLst/>
            </a:prstGeom>
            <a:ln w="12700" cap="flat" cmpd="sng">
              <a:solidFill>
                <a:schemeClr val="accent2"/>
              </a:solidFill>
              <a:prstDash val="solid"/>
              <a:headEnd type="none" w="med" len="med"/>
              <a:tailEnd type="none" w="med" len="med"/>
            </a:ln>
          </p:spPr>
        </p:sp>
        <p:sp>
          <p:nvSpPr>
            <p:cNvPr id="19525" name="Line 68"/>
            <p:cNvSpPr/>
            <p:nvPr/>
          </p:nvSpPr>
          <p:spPr>
            <a:xfrm>
              <a:off x="4979" y="3036"/>
              <a:ext cx="0" cy="167"/>
            </a:xfrm>
            <a:prstGeom prst="line">
              <a:avLst/>
            </a:prstGeom>
            <a:ln w="12700" cap="flat" cmpd="sng">
              <a:solidFill>
                <a:schemeClr val="accent2"/>
              </a:solidFill>
              <a:prstDash val="solid"/>
              <a:headEnd type="none" w="med" len="med"/>
              <a:tailEnd type="none" w="med" len="med"/>
            </a:ln>
          </p:spPr>
        </p:sp>
        <p:sp>
          <p:nvSpPr>
            <p:cNvPr id="19526" name="Line 69"/>
            <p:cNvSpPr/>
            <p:nvPr/>
          </p:nvSpPr>
          <p:spPr>
            <a:xfrm>
              <a:off x="4896" y="3203"/>
              <a:ext cx="167" cy="0"/>
            </a:xfrm>
            <a:prstGeom prst="line">
              <a:avLst/>
            </a:prstGeom>
            <a:ln w="28575" cap="flat" cmpd="sng">
              <a:solidFill>
                <a:schemeClr val="accent2"/>
              </a:solidFill>
              <a:prstDash val="solid"/>
              <a:headEnd type="none" w="med" len="med"/>
              <a:tailEnd type="none" w="med" len="med"/>
            </a:ln>
          </p:spPr>
        </p:sp>
        <p:sp>
          <p:nvSpPr>
            <p:cNvPr id="19527" name="Text Box 70"/>
            <p:cNvSpPr txBox="1"/>
            <p:nvPr/>
          </p:nvSpPr>
          <p:spPr>
            <a:xfrm>
              <a:off x="2154" y="3462"/>
              <a:ext cx="1660"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交流共模干扰影响</a:t>
              </a:r>
              <a:endParaRPr lang="zh-CN" altLang="en-US" sz="2400" b="1" dirty="0">
                <a:solidFill>
                  <a:srgbClr val="000099"/>
                </a:solidFill>
                <a:latin typeface="Times New Roman" panose="02020603050405020304" pitchFamily="18" charset="0"/>
              </a:endParaRPr>
            </a:p>
          </p:txBody>
        </p:sp>
        <p:sp>
          <p:nvSpPr>
            <p:cNvPr id="19528" name="Line 71"/>
            <p:cNvSpPr/>
            <p:nvPr/>
          </p:nvSpPr>
          <p:spPr>
            <a:xfrm>
              <a:off x="2361" y="2160"/>
              <a:ext cx="0" cy="434"/>
            </a:xfrm>
            <a:prstGeom prst="line">
              <a:avLst/>
            </a:prstGeom>
            <a:ln w="9525" cap="flat" cmpd="sng">
              <a:solidFill>
                <a:schemeClr val="accent2"/>
              </a:solidFill>
              <a:prstDash val="solid"/>
              <a:headEnd type="none" w="med" len="med"/>
              <a:tailEnd type="triangle" w="sm" len="lg"/>
            </a:ln>
          </p:spPr>
        </p:sp>
        <p:sp>
          <p:nvSpPr>
            <p:cNvPr id="19529" name="Text Box 72"/>
            <p:cNvSpPr txBox="1"/>
            <p:nvPr/>
          </p:nvSpPr>
          <p:spPr>
            <a:xfrm>
              <a:off x="2126" y="2291"/>
              <a:ext cx="234" cy="197"/>
            </a:xfrm>
            <a:prstGeom prst="rect">
              <a:avLst/>
            </a:prstGeom>
            <a:noFill/>
            <a:ln w="9525">
              <a:noFill/>
            </a:ln>
          </p:spPr>
          <p:txBody>
            <a:bodyPr wrap="none">
              <a:spAutoFit/>
            </a:bodyPr>
            <a:p>
              <a:pPr eaLnBrk="1" hangingPunct="1">
                <a:lnSpc>
                  <a:spcPct val="90000"/>
                </a:lnSpc>
              </a:pPr>
              <a:r>
                <a:rPr lang="en-US" altLang="zh-CN" sz="1600" b="1" i="1"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G</a:t>
              </a:r>
              <a:endParaRPr lang="en-US" altLang="zh-CN" sz="1600" b="1" baseline="-25000" dirty="0">
                <a:solidFill>
                  <a:srgbClr val="FF0000"/>
                </a:solidFill>
                <a:latin typeface="Times New Roman" panose="02020603050405020304" pitchFamily="18" charset="0"/>
              </a:endParaRPr>
            </a:p>
          </p:txBody>
        </p:sp>
        <p:sp>
          <p:nvSpPr>
            <p:cNvPr id="19530" name="Line 73"/>
            <p:cNvSpPr/>
            <p:nvPr/>
          </p:nvSpPr>
          <p:spPr>
            <a:xfrm>
              <a:off x="2470" y="2177"/>
              <a:ext cx="0" cy="133"/>
            </a:xfrm>
            <a:prstGeom prst="line">
              <a:avLst/>
            </a:prstGeom>
            <a:ln w="12700" cap="flat" cmpd="sng">
              <a:solidFill>
                <a:schemeClr val="accent2"/>
              </a:solidFill>
              <a:prstDash val="solid"/>
              <a:headEnd type="none" w="med" len="med"/>
              <a:tailEnd type="none" w="med" len="med"/>
            </a:ln>
          </p:spPr>
        </p:sp>
        <p:sp>
          <p:nvSpPr>
            <p:cNvPr id="19531" name="Line 74"/>
            <p:cNvSpPr/>
            <p:nvPr/>
          </p:nvSpPr>
          <p:spPr>
            <a:xfrm flipV="1">
              <a:off x="2470" y="2528"/>
              <a:ext cx="0" cy="116"/>
            </a:xfrm>
            <a:prstGeom prst="line">
              <a:avLst/>
            </a:prstGeom>
            <a:ln w="12700" cap="flat" cmpd="sng">
              <a:solidFill>
                <a:schemeClr val="accent2"/>
              </a:solidFill>
              <a:prstDash val="solid"/>
              <a:headEnd type="none" w="med" len="med"/>
              <a:tailEnd type="none" w="med" len="med"/>
            </a:ln>
          </p:spPr>
        </p:sp>
        <p:sp>
          <p:nvSpPr>
            <p:cNvPr id="19532" name="Oval 75"/>
            <p:cNvSpPr/>
            <p:nvPr/>
          </p:nvSpPr>
          <p:spPr>
            <a:xfrm>
              <a:off x="4074" y="301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33" name="Line 76"/>
            <p:cNvSpPr/>
            <p:nvPr/>
          </p:nvSpPr>
          <p:spPr>
            <a:xfrm>
              <a:off x="4095" y="2419"/>
              <a:ext cx="192" cy="0"/>
            </a:xfrm>
            <a:prstGeom prst="line">
              <a:avLst/>
            </a:prstGeom>
            <a:ln w="12700" cap="flat" cmpd="sng">
              <a:solidFill>
                <a:schemeClr val="accent2"/>
              </a:solidFill>
              <a:prstDash val="solid"/>
              <a:headEnd type="none" w="med" len="med"/>
              <a:tailEnd type="none" w="med" len="med"/>
            </a:ln>
          </p:spPr>
        </p:sp>
        <p:sp>
          <p:nvSpPr>
            <p:cNvPr id="19534" name="Line 77"/>
            <p:cNvSpPr/>
            <p:nvPr/>
          </p:nvSpPr>
          <p:spPr>
            <a:xfrm>
              <a:off x="4103" y="2101"/>
              <a:ext cx="192" cy="0"/>
            </a:xfrm>
            <a:prstGeom prst="line">
              <a:avLst/>
            </a:prstGeom>
            <a:ln w="12700" cap="flat" cmpd="sng">
              <a:solidFill>
                <a:schemeClr val="accent2"/>
              </a:solidFill>
              <a:prstDash val="solid"/>
              <a:headEnd type="none" w="med" len="med"/>
              <a:tailEnd type="none" w="med" len="med"/>
            </a:ln>
          </p:spPr>
        </p:sp>
        <p:sp>
          <p:nvSpPr>
            <p:cNvPr id="19535" name="Line 78"/>
            <p:cNvSpPr/>
            <p:nvPr/>
          </p:nvSpPr>
          <p:spPr>
            <a:xfrm flipV="1">
              <a:off x="2177" y="1651"/>
              <a:ext cx="593" cy="0"/>
            </a:xfrm>
            <a:prstGeom prst="line">
              <a:avLst/>
            </a:prstGeom>
            <a:ln w="12700" cap="flat" cmpd="sng">
              <a:solidFill>
                <a:schemeClr val="accent2"/>
              </a:solidFill>
              <a:prstDash val="solid"/>
              <a:headEnd type="none" w="med" len="med"/>
              <a:tailEnd type="none" w="med" len="med"/>
            </a:ln>
          </p:spPr>
        </p:sp>
        <p:sp>
          <p:nvSpPr>
            <p:cNvPr id="19536" name="Line 79"/>
            <p:cNvSpPr/>
            <p:nvPr/>
          </p:nvSpPr>
          <p:spPr>
            <a:xfrm>
              <a:off x="2177" y="3203"/>
              <a:ext cx="593" cy="0"/>
            </a:xfrm>
            <a:prstGeom prst="line">
              <a:avLst/>
            </a:prstGeom>
            <a:ln w="12700" cap="flat" cmpd="sng">
              <a:solidFill>
                <a:schemeClr val="accent2"/>
              </a:solidFill>
              <a:prstDash val="solid"/>
              <a:headEnd type="none" w="med" len="med"/>
              <a:tailEnd type="none" w="med" len="med"/>
            </a:ln>
          </p:spPr>
        </p:sp>
        <p:sp>
          <p:nvSpPr>
            <p:cNvPr id="19537" name="Text Box 80"/>
            <p:cNvSpPr txBox="1"/>
            <p:nvPr/>
          </p:nvSpPr>
          <p:spPr>
            <a:xfrm>
              <a:off x="3971" y="1581"/>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sp>
          <p:nvSpPr>
            <p:cNvPr id="19538" name="Rectangle 81"/>
            <p:cNvSpPr/>
            <p:nvPr/>
          </p:nvSpPr>
          <p:spPr>
            <a:xfrm>
              <a:off x="1219" y="212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39" name="Text Box 82"/>
            <p:cNvSpPr txBox="1"/>
            <p:nvPr/>
          </p:nvSpPr>
          <p:spPr>
            <a:xfrm>
              <a:off x="1184" y="1918"/>
              <a:ext cx="313"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19540" name="Rectangle 83"/>
            <p:cNvSpPr/>
            <p:nvPr/>
          </p:nvSpPr>
          <p:spPr>
            <a:xfrm>
              <a:off x="1220" y="2670"/>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19541" name="Text Box 84"/>
            <p:cNvSpPr txBox="1"/>
            <p:nvPr/>
          </p:nvSpPr>
          <p:spPr>
            <a:xfrm>
              <a:off x="1184" y="2462"/>
              <a:ext cx="313"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sp>
          <p:nvSpPr>
            <p:cNvPr id="19542" name="Line 85"/>
            <p:cNvSpPr/>
            <p:nvPr/>
          </p:nvSpPr>
          <p:spPr>
            <a:xfrm>
              <a:off x="2177" y="1647"/>
              <a:ext cx="0" cy="504"/>
            </a:xfrm>
            <a:prstGeom prst="line">
              <a:avLst/>
            </a:prstGeom>
            <a:ln w="12700" cap="flat" cmpd="sng">
              <a:solidFill>
                <a:schemeClr val="accent2"/>
              </a:solidFill>
              <a:prstDash val="solid"/>
              <a:headEnd type="none" w="med" len="med"/>
              <a:tailEnd type="none" w="med" len="med"/>
            </a:ln>
          </p:spPr>
        </p:sp>
        <p:sp>
          <p:nvSpPr>
            <p:cNvPr id="19543" name="Line 86"/>
            <p:cNvSpPr/>
            <p:nvPr/>
          </p:nvSpPr>
          <p:spPr>
            <a:xfrm>
              <a:off x="2177" y="2699"/>
              <a:ext cx="0" cy="504"/>
            </a:xfrm>
            <a:prstGeom prst="line">
              <a:avLst/>
            </a:prstGeom>
            <a:ln w="12700" cap="flat" cmpd="sng">
              <a:solidFill>
                <a:schemeClr val="accent2"/>
              </a:solidFill>
              <a:prstDash val="solid"/>
              <a:headEnd type="none" w="med" len="med"/>
              <a:tailEnd type="none" w="med" len="med"/>
            </a:ln>
          </p:spPr>
        </p:sp>
        <p:sp>
          <p:nvSpPr>
            <p:cNvPr id="19544" name="Line 87"/>
            <p:cNvSpPr/>
            <p:nvPr/>
          </p:nvSpPr>
          <p:spPr>
            <a:xfrm>
              <a:off x="1648" y="3075"/>
              <a:ext cx="0" cy="167"/>
            </a:xfrm>
            <a:prstGeom prst="line">
              <a:avLst/>
            </a:prstGeom>
            <a:ln w="12700" cap="flat" cmpd="sng">
              <a:solidFill>
                <a:schemeClr val="accent2"/>
              </a:solidFill>
              <a:prstDash val="dash"/>
              <a:headEnd type="none" w="med" len="med"/>
              <a:tailEnd type="none" w="med" len="med"/>
            </a:ln>
          </p:spPr>
        </p:sp>
        <p:sp>
          <p:nvSpPr>
            <p:cNvPr id="19545" name="Line 88"/>
            <p:cNvSpPr/>
            <p:nvPr/>
          </p:nvSpPr>
          <p:spPr>
            <a:xfrm>
              <a:off x="1565" y="3242"/>
              <a:ext cx="167" cy="0"/>
            </a:xfrm>
            <a:prstGeom prst="line">
              <a:avLst/>
            </a:prstGeom>
            <a:ln w="28575" cap="flat" cmpd="sng">
              <a:solidFill>
                <a:schemeClr val="accent2"/>
              </a:solidFill>
              <a:prstDash val="solid"/>
              <a:headEnd type="none" w="med" len="med"/>
              <a:tailEnd type="none" w="med" len="med"/>
            </a:ln>
          </p:spPr>
        </p:sp>
        <p:sp>
          <p:nvSpPr>
            <p:cNvPr id="19546" name="Line 89"/>
            <p:cNvSpPr/>
            <p:nvPr/>
          </p:nvSpPr>
          <p:spPr>
            <a:xfrm>
              <a:off x="1527" y="3067"/>
              <a:ext cx="242" cy="0"/>
            </a:xfrm>
            <a:prstGeom prst="line">
              <a:avLst/>
            </a:prstGeom>
            <a:ln w="28575" cap="flat" cmpd="sng">
              <a:solidFill>
                <a:schemeClr val="accent2"/>
              </a:solidFill>
              <a:prstDash val="solid"/>
              <a:headEnd type="none" w="med" len="med"/>
              <a:tailEnd type="none" w="med" len="med"/>
            </a:ln>
          </p:spPr>
        </p:sp>
        <p:sp>
          <p:nvSpPr>
            <p:cNvPr id="19547" name="Line 90"/>
            <p:cNvSpPr/>
            <p:nvPr/>
          </p:nvSpPr>
          <p:spPr>
            <a:xfrm>
              <a:off x="1527" y="3000"/>
              <a:ext cx="242" cy="0"/>
            </a:xfrm>
            <a:prstGeom prst="line">
              <a:avLst/>
            </a:prstGeom>
            <a:ln w="28575" cap="flat" cmpd="sng">
              <a:solidFill>
                <a:schemeClr val="accent2"/>
              </a:solidFill>
              <a:prstDash val="solid"/>
              <a:headEnd type="none" w="med" len="med"/>
              <a:tailEnd type="none" w="med" len="med"/>
            </a:ln>
          </p:spPr>
        </p:sp>
        <p:sp>
          <p:nvSpPr>
            <p:cNvPr id="19548" name="Line 91"/>
            <p:cNvSpPr/>
            <p:nvPr/>
          </p:nvSpPr>
          <p:spPr>
            <a:xfrm>
              <a:off x="1648" y="2699"/>
              <a:ext cx="0" cy="301"/>
            </a:xfrm>
            <a:prstGeom prst="line">
              <a:avLst/>
            </a:prstGeom>
            <a:ln w="12700" cap="flat" cmpd="sng">
              <a:solidFill>
                <a:schemeClr val="accent2"/>
              </a:solidFill>
              <a:prstDash val="dash"/>
              <a:headEnd type="none" w="med" len="med"/>
              <a:tailEnd type="none" w="med" len="med"/>
            </a:ln>
          </p:spPr>
        </p:sp>
        <p:sp>
          <p:nvSpPr>
            <p:cNvPr id="19549" name="Line 92"/>
            <p:cNvSpPr/>
            <p:nvPr/>
          </p:nvSpPr>
          <p:spPr>
            <a:xfrm>
              <a:off x="1859" y="1744"/>
              <a:ext cx="0" cy="167"/>
            </a:xfrm>
            <a:prstGeom prst="line">
              <a:avLst/>
            </a:prstGeom>
            <a:ln w="12700" cap="flat" cmpd="sng">
              <a:solidFill>
                <a:schemeClr val="accent2"/>
              </a:solidFill>
              <a:prstDash val="dash"/>
              <a:headEnd type="none" w="med" len="med"/>
              <a:tailEnd type="none" w="med" len="med"/>
            </a:ln>
          </p:spPr>
        </p:sp>
        <p:sp>
          <p:nvSpPr>
            <p:cNvPr id="19550" name="Line 93"/>
            <p:cNvSpPr/>
            <p:nvPr/>
          </p:nvSpPr>
          <p:spPr>
            <a:xfrm>
              <a:off x="1776" y="1911"/>
              <a:ext cx="167" cy="0"/>
            </a:xfrm>
            <a:prstGeom prst="line">
              <a:avLst/>
            </a:prstGeom>
            <a:ln w="28575" cap="flat" cmpd="sng">
              <a:solidFill>
                <a:schemeClr val="accent2"/>
              </a:solidFill>
              <a:prstDash val="solid"/>
              <a:headEnd type="none" w="med" len="med"/>
              <a:tailEnd type="none" w="med" len="med"/>
            </a:ln>
          </p:spPr>
        </p:sp>
        <p:sp>
          <p:nvSpPr>
            <p:cNvPr id="19551" name="Line 94"/>
            <p:cNvSpPr/>
            <p:nvPr/>
          </p:nvSpPr>
          <p:spPr>
            <a:xfrm>
              <a:off x="1738" y="1736"/>
              <a:ext cx="242" cy="0"/>
            </a:xfrm>
            <a:prstGeom prst="line">
              <a:avLst/>
            </a:prstGeom>
            <a:ln w="28575" cap="flat" cmpd="sng">
              <a:solidFill>
                <a:schemeClr val="accent2"/>
              </a:solidFill>
              <a:prstDash val="solid"/>
              <a:headEnd type="none" w="med" len="med"/>
              <a:tailEnd type="none" w="med" len="med"/>
            </a:ln>
          </p:spPr>
        </p:sp>
        <p:sp>
          <p:nvSpPr>
            <p:cNvPr id="19552" name="Line 95"/>
            <p:cNvSpPr/>
            <p:nvPr/>
          </p:nvSpPr>
          <p:spPr>
            <a:xfrm>
              <a:off x="1738" y="1669"/>
              <a:ext cx="242" cy="0"/>
            </a:xfrm>
            <a:prstGeom prst="line">
              <a:avLst/>
            </a:prstGeom>
            <a:ln w="28575" cap="flat" cmpd="sng">
              <a:solidFill>
                <a:schemeClr val="accent2"/>
              </a:solidFill>
              <a:prstDash val="solid"/>
              <a:headEnd type="none" w="med" len="med"/>
              <a:tailEnd type="none" w="med" len="med"/>
            </a:ln>
          </p:spPr>
        </p:sp>
        <p:sp>
          <p:nvSpPr>
            <p:cNvPr id="19553" name="Line 96"/>
            <p:cNvSpPr/>
            <p:nvPr/>
          </p:nvSpPr>
          <p:spPr>
            <a:xfrm>
              <a:off x="1859" y="1560"/>
              <a:ext cx="0" cy="109"/>
            </a:xfrm>
            <a:prstGeom prst="line">
              <a:avLst/>
            </a:prstGeom>
            <a:ln w="12700" cap="flat" cmpd="sng">
              <a:solidFill>
                <a:schemeClr val="accent2"/>
              </a:solidFill>
              <a:prstDash val="dash"/>
              <a:headEnd type="none" w="med" len="med"/>
              <a:tailEnd type="none" w="med" len="med"/>
            </a:ln>
          </p:spPr>
        </p:sp>
        <p:sp>
          <p:nvSpPr>
            <p:cNvPr id="19554" name="Line 97"/>
            <p:cNvSpPr/>
            <p:nvPr/>
          </p:nvSpPr>
          <p:spPr>
            <a:xfrm>
              <a:off x="1648" y="1560"/>
              <a:ext cx="1" cy="591"/>
            </a:xfrm>
            <a:prstGeom prst="line">
              <a:avLst/>
            </a:prstGeom>
            <a:ln w="12700" cap="flat" cmpd="sng">
              <a:solidFill>
                <a:schemeClr val="accent2"/>
              </a:solidFill>
              <a:prstDash val="dash"/>
              <a:headEnd type="none" w="med" len="med"/>
              <a:tailEnd type="none" w="med" len="med"/>
            </a:ln>
          </p:spPr>
        </p:sp>
        <p:sp>
          <p:nvSpPr>
            <p:cNvPr id="19555" name="Line 98"/>
            <p:cNvSpPr/>
            <p:nvPr/>
          </p:nvSpPr>
          <p:spPr>
            <a:xfrm flipH="1">
              <a:off x="1648" y="1560"/>
              <a:ext cx="211" cy="0"/>
            </a:xfrm>
            <a:prstGeom prst="line">
              <a:avLst/>
            </a:prstGeom>
            <a:ln w="12700" cap="flat" cmpd="sng">
              <a:solidFill>
                <a:schemeClr val="accent2"/>
              </a:solidFill>
              <a:prstDash val="dash"/>
              <a:headEnd type="none" w="med" len="med"/>
              <a:tailEnd type="none" w="med" len="med"/>
            </a:ln>
          </p:spPr>
        </p:sp>
        <p:sp>
          <p:nvSpPr>
            <p:cNvPr id="19556" name="Text Box 99"/>
            <p:cNvSpPr txBox="1"/>
            <p:nvPr/>
          </p:nvSpPr>
          <p:spPr>
            <a:xfrm>
              <a:off x="1866" y="1436"/>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19557" name="Text Box 100"/>
            <p:cNvSpPr txBox="1"/>
            <p:nvPr/>
          </p:nvSpPr>
          <p:spPr>
            <a:xfrm>
              <a:off x="1690" y="2795"/>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grpSp>
      <p:sp>
        <p:nvSpPr>
          <p:cNvPr id="2400357" name="Rectangle 101"/>
          <p:cNvSpPr/>
          <p:nvPr/>
        </p:nvSpPr>
        <p:spPr>
          <a:xfrm>
            <a:off x="4103688" y="1019175"/>
            <a:ext cx="4851400" cy="1077913"/>
          </a:xfrm>
          <a:prstGeom prst="rect">
            <a:avLst/>
          </a:prstGeom>
          <a:solidFill>
            <a:srgbClr val="CCFFCC"/>
          </a:solidFill>
          <a:ln w="9525">
            <a:noFill/>
          </a:ln>
        </p:spPr>
        <p:txBody>
          <a:bodyPr>
            <a:spAutoFit/>
          </a:bodyPr>
          <a:p>
            <a:pPr eaLnBrk="1" hangingPunct="1">
              <a:lnSpc>
                <a:spcPct val="90000"/>
              </a:lnSpc>
            </a:pPr>
            <a:r>
              <a:rPr lang="zh-CN" altLang="en-US" sz="2400" b="1" dirty="0">
                <a:solidFill>
                  <a:srgbClr val="3333FF"/>
                </a:solidFill>
                <a:latin typeface="Times New Roman" panose="02020603050405020304" pitchFamily="18" charset="0"/>
              </a:rPr>
              <a:t>当</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1</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1</a:t>
            </a:r>
            <a:r>
              <a:rPr lang="en-US" altLang="en-US" sz="2000" b="1" dirty="0">
                <a:solidFill>
                  <a:srgbClr val="CC00CC"/>
                </a:solidFill>
                <a:latin typeface="Times New Roman" panose="02020603050405020304" pitchFamily="18" charset="0"/>
              </a:rPr>
              <a:t>≠</a:t>
            </a:r>
            <a:r>
              <a:rPr lang="en-US" altLang="zh-CN" sz="2400" b="1" i="1" dirty="0">
                <a:solidFill>
                  <a:srgbClr val="CC00CC"/>
                </a:solidFill>
                <a:latin typeface="Times New Roman" panose="02020603050405020304" pitchFamily="18" charset="0"/>
              </a:rPr>
              <a:t>R</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2</a:t>
            </a:r>
            <a:r>
              <a:rPr lang="en-US" altLang="zh-CN" sz="2400" b="1" i="1" dirty="0">
                <a:solidFill>
                  <a:srgbClr val="CC00CC"/>
                </a:solidFill>
                <a:latin typeface="Times New Roman" panose="02020603050405020304" pitchFamily="18" charset="0"/>
              </a:rPr>
              <a:t>C</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时，交流共模信号在两运放输入端产生分压</a:t>
            </a:r>
            <a:r>
              <a:rPr lang="en-US" altLang="zh-CN" sz="2400" b="1" i="1" dirty="0">
                <a:solidFill>
                  <a:srgbClr val="CC00CC"/>
                </a:solidFill>
                <a:latin typeface="Times New Roman" panose="02020603050405020304" pitchFamily="18" charset="0"/>
              </a:rPr>
              <a:t>U</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1</a:t>
            </a:r>
            <a:r>
              <a:rPr lang="zh-CN" altLang="en-US" sz="2400" b="1" dirty="0">
                <a:solidFill>
                  <a:srgbClr val="3333FF"/>
                </a:solidFill>
                <a:latin typeface="Times New Roman" panose="02020603050405020304" pitchFamily="18" charset="0"/>
              </a:rPr>
              <a:t>、</a:t>
            </a:r>
            <a:r>
              <a:rPr lang="en-US" altLang="zh-CN" sz="2400" b="1" i="1" dirty="0">
                <a:solidFill>
                  <a:srgbClr val="CC00CC"/>
                </a:solidFill>
                <a:latin typeface="Times New Roman" panose="02020603050405020304" pitchFamily="18" charset="0"/>
              </a:rPr>
              <a:t>U</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，且</a:t>
            </a:r>
            <a:r>
              <a:rPr lang="en-US" altLang="zh-CN" sz="2400" b="1" i="1" dirty="0">
                <a:solidFill>
                  <a:srgbClr val="CC00CC"/>
                </a:solidFill>
                <a:latin typeface="Times New Roman" panose="02020603050405020304" pitchFamily="18" charset="0"/>
              </a:rPr>
              <a:t>U</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1</a:t>
            </a:r>
            <a:r>
              <a:rPr lang="en-US" altLang="zh-CN" sz="2400" b="1" dirty="0">
                <a:solidFill>
                  <a:srgbClr val="3333FF"/>
                </a:solidFill>
                <a:latin typeface="Times New Roman" panose="02020603050405020304" pitchFamily="18" charset="0"/>
              </a:rPr>
              <a:t> </a:t>
            </a:r>
            <a:r>
              <a:rPr lang="en-US" altLang="en-US" sz="2000" b="1" dirty="0">
                <a:solidFill>
                  <a:srgbClr val="CC00CC"/>
                </a:solidFill>
                <a:latin typeface="Times New Roman" panose="02020603050405020304" pitchFamily="18" charset="0"/>
              </a:rPr>
              <a:t>≠</a:t>
            </a:r>
            <a:r>
              <a:rPr lang="en-US" altLang="zh-CN" sz="2000" b="1" dirty="0">
                <a:solidFill>
                  <a:srgbClr val="333399"/>
                </a:solidFill>
                <a:latin typeface="Times New Roman" panose="02020603050405020304" pitchFamily="18" charset="0"/>
              </a:rPr>
              <a:t> </a:t>
            </a:r>
            <a:r>
              <a:rPr lang="en-US" altLang="zh-CN" sz="2400" b="1" i="1" dirty="0">
                <a:solidFill>
                  <a:srgbClr val="CC00CC"/>
                </a:solidFill>
                <a:latin typeface="Times New Roman" panose="02020603050405020304" pitchFamily="18" charset="0"/>
              </a:rPr>
              <a:t>U</a:t>
            </a:r>
            <a:r>
              <a:rPr lang="en-US" altLang="zh-CN" sz="2400" b="1" i="1" baseline="-25000" dirty="0">
                <a:solidFill>
                  <a:srgbClr val="CC00CC"/>
                </a:solidFill>
                <a:latin typeface="Times New Roman" panose="02020603050405020304" pitchFamily="18" charset="0"/>
              </a:rPr>
              <a:t>i</a:t>
            </a:r>
            <a:r>
              <a:rPr lang="en-US" altLang="zh-CN" sz="2400" b="1" baseline="-25000" dirty="0">
                <a:solidFill>
                  <a:srgbClr val="CC00CC"/>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，故</a:t>
            </a:r>
            <a:r>
              <a:rPr lang="en-US" altLang="zh-CN" sz="2400" b="1" i="1" dirty="0">
                <a:solidFill>
                  <a:srgbClr val="CC00CC"/>
                </a:solidFill>
                <a:latin typeface="Times New Roman" panose="02020603050405020304" pitchFamily="18" charset="0"/>
              </a:rPr>
              <a:t>I</a:t>
            </a:r>
            <a:r>
              <a:rPr lang="en-US" altLang="zh-CN" sz="2400" b="1" i="1" baseline="-25000" dirty="0">
                <a:solidFill>
                  <a:srgbClr val="CC00CC"/>
                </a:solidFill>
                <a:latin typeface="Times New Roman" panose="02020603050405020304" pitchFamily="18" charset="0"/>
              </a:rPr>
              <a:t>G</a:t>
            </a:r>
            <a:r>
              <a:rPr lang="en-US" altLang="zh-CN" sz="2400" b="1" i="1" dirty="0">
                <a:solidFill>
                  <a:srgbClr val="CC00CC"/>
                </a:solidFill>
                <a:latin typeface="Times New Roman" panose="02020603050405020304" pitchFamily="18" charset="0"/>
              </a:rPr>
              <a:t> </a:t>
            </a:r>
            <a:r>
              <a:rPr lang="en-US" altLang="en-US" sz="2000" b="1" dirty="0">
                <a:solidFill>
                  <a:srgbClr val="CC00CC"/>
                </a:solidFill>
                <a:latin typeface="Times New Roman" panose="02020603050405020304" pitchFamily="18" charset="0"/>
              </a:rPr>
              <a:t>≠</a:t>
            </a:r>
            <a:r>
              <a:rPr lang="en-US" altLang="zh-CN" sz="2000" b="1" dirty="0">
                <a:solidFill>
                  <a:srgbClr val="333399"/>
                </a:solidFill>
                <a:latin typeface="Times New Roman" panose="02020603050405020304" pitchFamily="18" charset="0"/>
              </a:rPr>
              <a:t> </a:t>
            </a:r>
            <a:r>
              <a:rPr lang="en-US" altLang="zh-CN" sz="2400" b="1" dirty="0">
                <a:solidFill>
                  <a:srgbClr val="CC00CC"/>
                </a:solidFill>
                <a:latin typeface="Times New Roman" panose="02020603050405020304" pitchFamily="18" charset="0"/>
              </a:rPr>
              <a:t>0</a:t>
            </a:r>
            <a:r>
              <a:rPr lang="zh-CN" altLang="en-US" sz="2400" b="1" dirty="0">
                <a:solidFill>
                  <a:srgbClr val="CC00CC"/>
                </a:solidFill>
                <a:latin typeface="Times New Roman" panose="02020603050405020304" pitchFamily="18" charset="0"/>
              </a:rPr>
              <a:t>，</a:t>
            </a:r>
            <a:r>
              <a:rPr lang="zh-CN" altLang="en-US" sz="2400" b="1" dirty="0">
                <a:solidFill>
                  <a:srgbClr val="3333FF"/>
                </a:solidFill>
                <a:latin typeface="Times New Roman" panose="02020603050405020304" pitchFamily="18" charset="0"/>
              </a:rPr>
              <a:t>产生干扰。</a:t>
            </a:r>
            <a:endParaRPr lang="zh-CN" altLang="en-US" sz="2400" b="1" dirty="0">
              <a:solidFill>
                <a:srgbClr val="3333FF"/>
              </a:solidFill>
              <a:latin typeface="Times New Roman" panose="02020603050405020304" pitchFamily="18" charset="0"/>
            </a:endParaRPr>
          </a:p>
        </p:txBody>
      </p:sp>
      <p:sp>
        <p:nvSpPr>
          <p:cNvPr id="19462" name="Text Box 2"/>
          <p:cNvSpPr txBox="1"/>
          <p:nvPr/>
        </p:nvSpPr>
        <p:spPr>
          <a:xfrm>
            <a:off x="395288" y="827088"/>
            <a:ext cx="3524250" cy="5302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3200" b="1" dirty="0">
                <a:solidFill>
                  <a:srgbClr val="333399"/>
                </a:solidFill>
                <a:latin typeface="Times New Roman" panose="02020603050405020304" pitchFamily="18" charset="0"/>
              </a:rPr>
              <a:t>2. </a:t>
            </a:r>
            <a:r>
              <a:rPr lang="zh-CN" altLang="en-US" sz="3200" b="1" dirty="0">
                <a:solidFill>
                  <a:srgbClr val="333399"/>
                </a:solidFill>
                <a:latin typeface="Times New Roman" panose="02020603050405020304" pitchFamily="18" charset="0"/>
              </a:rPr>
              <a:t>抗共模干扰能力</a:t>
            </a:r>
            <a:endParaRPr lang="zh-CN" altLang="en-US" sz="32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0357"/>
                                        </p:tgtEl>
                                        <p:attrNameLst>
                                          <p:attrName>style.visibility</p:attrName>
                                        </p:attrNameLst>
                                      </p:cBhvr>
                                      <p:to>
                                        <p:strVal val="visible"/>
                                      </p:to>
                                    </p:set>
                                    <p:animEffect transition="in" filter="dissolve">
                                      <p:cBhvr>
                                        <p:cTn id="7" dur="500"/>
                                        <p:tgtEl>
                                          <p:spTgt spid="2400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0357" grpId="0" bldLvl="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0482" name="Rectangle 6"/>
          <p:cNvSpPr/>
          <p:nvPr/>
        </p:nvSpPr>
        <p:spPr>
          <a:xfrm>
            <a:off x="250825" y="2241550"/>
            <a:ext cx="8618538" cy="3708400"/>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2" name="Group 146"/>
          <p:cNvGrpSpPr/>
          <p:nvPr/>
        </p:nvGrpSpPr>
        <p:grpSpPr>
          <a:xfrm>
            <a:off x="1284288" y="2965450"/>
            <a:ext cx="2825750" cy="2840038"/>
            <a:chOff x="968" y="1959"/>
            <a:chExt cx="1780" cy="1789"/>
          </a:xfrm>
        </p:grpSpPr>
        <p:sp>
          <p:nvSpPr>
            <p:cNvPr id="20588" name="Line 20"/>
            <p:cNvSpPr/>
            <p:nvPr/>
          </p:nvSpPr>
          <p:spPr>
            <a:xfrm flipH="1" flipV="1">
              <a:off x="2461" y="2042"/>
              <a:ext cx="264" cy="0"/>
            </a:xfrm>
            <a:prstGeom prst="line">
              <a:avLst/>
            </a:prstGeom>
            <a:ln w="12700" cap="flat" cmpd="sng">
              <a:solidFill>
                <a:srgbClr val="00FF00"/>
              </a:solidFill>
              <a:prstDash val="solid"/>
              <a:headEnd type="none" w="med" len="med"/>
              <a:tailEnd type="none" w="med" len="med"/>
            </a:ln>
          </p:spPr>
        </p:sp>
        <p:sp>
          <p:nvSpPr>
            <p:cNvPr id="20589" name="Line 104"/>
            <p:cNvSpPr/>
            <p:nvPr/>
          </p:nvSpPr>
          <p:spPr>
            <a:xfrm>
              <a:off x="2461" y="2041"/>
              <a:ext cx="0" cy="894"/>
            </a:xfrm>
            <a:prstGeom prst="line">
              <a:avLst/>
            </a:prstGeom>
            <a:ln w="12700" cap="flat" cmpd="sng">
              <a:solidFill>
                <a:srgbClr val="00FF00"/>
              </a:solidFill>
              <a:prstDash val="solid"/>
              <a:headEnd type="none" w="med" len="med"/>
              <a:tailEnd type="none" w="med" len="med"/>
            </a:ln>
          </p:spPr>
        </p:sp>
        <p:sp>
          <p:nvSpPr>
            <p:cNvPr id="20590" name="Rectangle 102"/>
            <p:cNvSpPr/>
            <p:nvPr/>
          </p:nvSpPr>
          <p:spPr>
            <a:xfrm rot="-5400000">
              <a:off x="2369" y="2654"/>
              <a:ext cx="184" cy="58"/>
            </a:xfrm>
            <a:prstGeom prst="rect">
              <a:avLst/>
            </a:prstGeom>
            <a:solidFill>
              <a:srgbClr val="FF9900"/>
            </a:solidFill>
            <a:ln w="19050" cap="flat" cmpd="sng">
              <a:solidFill>
                <a:srgbClr val="CC00CC"/>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1" name="Rectangle 103"/>
            <p:cNvSpPr/>
            <p:nvPr/>
          </p:nvSpPr>
          <p:spPr>
            <a:xfrm rot="-5400000">
              <a:off x="2369" y="2268"/>
              <a:ext cx="184" cy="58"/>
            </a:xfrm>
            <a:prstGeom prst="rect">
              <a:avLst/>
            </a:prstGeom>
            <a:solidFill>
              <a:srgbClr val="FF9900"/>
            </a:solidFill>
            <a:ln w="19050" cap="flat" cmpd="sng">
              <a:solidFill>
                <a:srgbClr val="CC00CC"/>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2" name="Oval 106"/>
            <p:cNvSpPr/>
            <p:nvPr/>
          </p:nvSpPr>
          <p:spPr>
            <a:xfrm>
              <a:off x="2701" y="201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3" name="Oval 107"/>
            <p:cNvSpPr/>
            <p:nvPr/>
          </p:nvSpPr>
          <p:spPr>
            <a:xfrm>
              <a:off x="2699" y="2911"/>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4" name="Oval 108"/>
            <p:cNvSpPr/>
            <p:nvPr/>
          </p:nvSpPr>
          <p:spPr>
            <a:xfrm>
              <a:off x="2437" y="246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5" name="Line 109"/>
            <p:cNvSpPr/>
            <p:nvPr/>
          </p:nvSpPr>
          <p:spPr>
            <a:xfrm>
              <a:off x="2109" y="2492"/>
              <a:ext cx="352" cy="0"/>
            </a:xfrm>
            <a:prstGeom prst="line">
              <a:avLst/>
            </a:prstGeom>
            <a:ln w="12700" cap="flat" cmpd="sng">
              <a:solidFill>
                <a:srgbClr val="00FF00"/>
              </a:solidFill>
              <a:prstDash val="solid"/>
              <a:headEnd type="none" w="med" len="med"/>
              <a:tailEnd type="none" w="med" len="med"/>
            </a:ln>
          </p:spPr>
        </p:sp>
        <p:sp>
          <p:nvSpPr>
            <p:cNvPr id="20596" name="AutoShape 110"/>
            <p:cNvSpPr/>
            <p:nvPr/>
          </p:nvSpPr>
          <p:spPr>
            <a:xfrm rot="-5400000">
              <a:off x="1464" y="3055"/>
              <a:ext cx="550" cy="484"/>
            </a:xfrm>
            <a:prstGeom prst="triangle">
              <a:avLst>
                <a:gd name="adj" fmla="val 50000"/>
              </a:avLst>
            </a:prstGeom>
            <a:solidFill>
              <a:srgbClr val="FF9900"/>
            </a:solidFill>
            <a:ln w="19050" cap="flat" cmpd="sng">
              <a:solidFill>
                <a:srgbClr val="CC00CC"/>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97" name="Text Box 111"/>
            <p:cNvSpPr txBox="1"/>
            <p:nvPr/>
          </p:nvSpPr>
          <p:spPr>
            <a:xfrm rot="10800000">
              <a:off x="1819" y="3067"/>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20598" name="Text Box 112"/>
            <p:cNvSpPr txBox="1"/>
            <p:nvPr/>
          </p:nvSpPr>
          <p:spPr>
            <a:xfrm>
              <a:off x="1634" y="3201"/>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4</a:t>
              </a:r>
              <a:endParaRPr lang="en-US" altLang="zh-CN" sz="1400" b="1" baseline="-25000" dirty="0">
                <a:solidFill>
                  <a:srgbClr val="333399"/>
                </a:solidFill>
                <a:latin typeface="Times New Roman" panose="02020603050405020304" pitchFamily="18" charset="0"/>
              </a:endParaRPr>
            </a:p>
          </p:txBody>
        </p:sp>
        <p:sp>
          <p:nvSpPr>
            <p:cNvPr id="20599" name="Line 113"/>
            <p:cNvSpPr/>
            <p:nvPr/>
          </p:nvSpPr>
          <p:spPr>
            <a:xfrm>
              <a:off x="2109" y="2494"/>
              <a:ext cx="0" cy="664"/>
            </a:xfrm>
            <a:prstGeom prst="line">
              <a:avLst/>
            </a:prstGeom>
            <a:ln w="12700" cap="flat" cmpd="sng">
              <a:solidFill>
                <a:srgbClr val="00FF00"/>
              </a:solidFill>
              <a:prstDash val="solid"/>
              <a:headEnd type="none" w="med" len="med"/>
              <a:tailEnd type="none" w="med" len="med"/>
            </a:ln>
          </p:spPr>
        </p:sp>
        <p:sp>
          <p:nvSpPr>
            <p:cNvPr id="20600" name="Line 114"/>
            <p:cNvSpPr/>
            <p:nvPr/>
          </p:nvSpPr>
          <p:spPr>
            <a:xfrm>
              <a:off x="1981" y="3158"/>
              <a:ext cx="128" cy="0"/>
            </a:xfrm>
            <a:prstGeom prst="line">
              <a:avLst/>
            </a:prstGeom>
            <a:ln w="12700" cap="flat" cmpd="sng">
              <a:solidFill>
                <a:srgbClr val="00FF00"/>
              </a:solidFill>
              <a:prstDash val="solid"/>
              <a:headEnd type="none" w="med" len="med"/>
              <a:tailEnd type="none" w="med" len="med"/>
            </a:ln>
          </p:spPr>
        </p:sp>
        <p:sp>
          <p:nvSpPr>
            <p:cNvPr id="20601" name="Line 115"/>
            <p:cNvSpPr/>
            <p:nvPr/>
          </p:nvSpPr>
          <p:spPr>
            <a:xfrm>
              <a:off x="1981" y="3445"/>
              <a:ext cx="128" cy="0"/>
            </a:xfrm>
            <a:prstGeom prst="line">
              <a:avLst/>
            </a:prstGeom>
            <a:ln w="12700" cap="flat" cmpd="sng">
              <a:solidFill>
                <a:srgbClr val="00FF00"/>
              </a:solidFill>
              <a:prstDash val="solid"/>
              <a:headEnd type="none" w="med" len="med"/>
              <a:tailEnd type="none" w="med" len="med"/>
            </a:ln>
          </p:spPr>
        </p:sp>
        <p:sp>
          <p:nvSpPr>
            <p:cNvPr id="20602" name="Line 116"/>
            <p:cNvSpPr/>
            <p:nvPr/>
          </p:nvSpPr>
          <p:spPr>
            <a:xfrm>
              <a:off x="2109" y="3445"/>
              <a:ext cx="0" cy="235"/>
            </a:xfrm>
            <a:prstGeom prst="line">
              <a:avLst/>
            </a:prstGeom>
            <a:ln w="12700" cap="flat" cmpd="sng">
              <a:solidFill>
                <a:srgbClr val="00FF00"/>
              </a:solidFill>
              <a:prstDash val="solid"/>
              <a:headEnd type="none" w="med" len="med"/>
              <a:tailEnd type="none" w="med" len="med"/>
            </a:ln>
          </p:spPr>
        </p:sp>
        <p:sp>
          <p:nvSpPr>
            <p:cNvPr id="20603" name="Line 117"/>
            <p:cNvSpPr/>
            <p:nvPr/>
          </p:nvSpPr>
          <p:spPr>
            <a:xfrm>
              <a:off x="1376" y="3680"/>
              <a:ext cx="733" cy="0"/>
            </a:xfrm>
            <a:prstGeom prst="line">
              <a:avLst/>
            </a:prstGeom>
            <a:ln w="12700" cap="flat" cmpd="sng">
              <a:solidFill>
                <a:srgbClr val="00FF00"/>
              </a:solidFill>
              <a:prstDash val="solid"/>
              <a:headEnd type="none" w="med" len="med"/>
              <a:tailEnd type="none" w="med" len="med"/>
            </a:ln>
          </p:spPr>
        </p:sp>
        <p:sp>
          <p:nvSpPr>
            <p:cNvPr id="20604" name="Line 118"/>
            <p:cNvSpPr/>
            <p:nvPr/>
          </p:nvSpPr>
          <p:spPr>
            <a:xfrm>
              <a:off x="1247" y="3298"/>
              <a:ext cx="250" cy="0"/>
            </a:xfrm>
            <a:prstGeom prst="line">
              <a:avLst/>
            </a:prstGeom>
            <a:ln w="12700" cap="flat" cmpd="sng">
              <a:solidFill>
                <a:srgbClr val="00FF00"/>
              </a:solidFill>
              <a:prstDash val="solid"/>
              <a:headEnd type="none" w="med" len="med"/>
              <a:tailEnd type="none" w="med" len="med"/>
            </a:ln>
          </p:spPr>
        </p:sp>
        <p:sp>
          <p:nvSpPr>
            <p:cNvPr id="20605" name="Line 119"/>
            <p:cNvSpPr/>
            <p:nvPr/>
          </p:nvSpPr>
          <p:spPr>
            <a:xfrm>
              <a:off x="1376" y="3298"/>
              <a:ext cx="3" cy="382"/>
            </a:xfrm>
            <a:prstGeom prst="line">
              <a:avLst/>
            </a:prstGeom>
            <a:ln w="12700" cap="flat" cmpd="sng">
              <a:solidFill>
                <a:srgbClr val="00FF00"/>
              </a:solidFill>
              <a:prstDash val="solid"/>
              <a:headEnd type="none" w="med" len="med"/>
              <a:tailEnd type="none" w="med" len="med"/>
            </a:ln>
          </p:spPr>
        </p:sp>
        <p:sp>
          <p:nvSpPr>
            <p:cNvPr id="20606" name="Line 120"/>
            <p:cNvSpPr/>
            <p:nvPr/>
          </p:nvSpPr>
          <p:spPr>
            <a:xfrm>
              <a:off x="1247" y="2824"/>
              <a:ext cx="0" cy="475"/>
            </a:xfrm>
            <a:prstGeom prst="line">
              <a:avLst/>
            </a:prstGeom>
            <a:ln w="12700" cap="flat" cmpd="sng">
              <a:solidFill>
                <a:srgbClr val="00FF00"/>
              </a:solidFill>
              <a:prstDash val="solid"/>
              <a:headEnd type="none" w="med" len="med"/>
              <a:tailEnd type="none" w="med" len="med"/>
            </a:ln>
          </p:spPr>
        </p:sp>
        <p:sp>
          <p:nvSpPr>
            <p:cNvPr id="20607" name="Line 121"/>
            <p:cNvSpPr/>
            <p:nvPr/>
          </p:nvSpPr>
          <p:spPr>
            <a:xfrm>
              <a:off x="2461" y="2935"/>
              <a:ext cx="264" cy="0"/>
            </a:xfrm>
            <a:prstGeom prst="line">
              <a:avLst/>
            </a:prstGeom>
            <a:ln w="12700" cap="flat" cmpd="sng">
              <a:solidFill>
                <a:srgbClr val="00FF00"/>
              </a:solidFill>
              <a:prstDash val="solid"/>
              <a:headEnd type="none" w="med" len="med"/>
              <a:tailEnd type="none" w="med" len="med"/>
            </a:ln>
          </p:spPr>
        </p:sp>
        <p:sp>
          <p:nvSpPr>
            <p:cNvPr id="20608" name="Oval 123"/>
            <p:cNvSpPr/>
            <p:nvPr/>
          </p:nvSpPr>
          <p:spPr>
            <a:xfrm>
              <a:off x="968" y="2159"/>
              <a:ext cx="124" cy="665"/>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09" name="Line 124"/>
            <p:cNvSpPr/>
            <p:nvPr/>
          </p:nvSpPr>
          <p:spPr>
            <a:xfrm>
              <a:off x="1035" y="2159"/>
              <a:ext cx="946" cy="0"/>
            </a:xfrm>
            <a:prstGeom prst="line">
              <a:avLst/>
            </a:prstGeom>
            <a:ln w="19050" cap="flat" cmpd="sng">
              <a:solidFill>
                <a:srgbClr val="CC00CC"/>
              </a:solidFill>
              <a:prstDash val="solid"/>
              <a:headEnd type="none" w="med" len="med"/>
              <a:tailEnd type="none" w="med" len="med"/>
            </a:ln>
          </p:spPr>
        </p:sp>
        <p:sp>
          <p:nvSpPr>
            <p:cNvPr id="20610" name="Line 125"/>
            <p:cNvSpPr/>
            <p:nvPr/>
          </p:nvSpPr>
          <p:spPr>
            <a:xfrm>
              <a:off x="1018" y="2821"/>
              <a:ext cx="963" cy="0"/>
            </a:xfrm>
            <a:prstGeom prst="line">
              <a:avLst/>
            </a:prstGeom>
            <a:ln w="19050" cap="flat" cmpd="sng">
              <a:solidFill>
                <a:srgbClr val="CC00CC"/>
              </a:solidFill>
              <a:prstDash val="solid"/>
              <a:headEnd type="none" w="med" len="med"/>
              <a:tailEnd type="none" w="med" len="med"/>
            </a:ln>
          </p:spPr>
        </p:sp>
        <p:sp>
          <p:nvSpPr>
            <p:cNvPr id="20611" name="Oval 126"/>
            <p:cNvSpPr/>
            <p:nvPr/>
          </p:nvSpPr>
          <p:spPr>
            <a:xfrm>
              <a:off x="1917" y="2161"/>
              <a:ext cx="124" cy="660"/>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12" name="Rectangle 127"/>
            <p:cNvSpPr/>
            <p:nvPr/>
          </p:nvSpPr>
          <p:spPr>
            <a:xfrm>
              <a:off x="1889" y="2167"/>
              <a:ext cx="92" cy="648"/>
            </a:xfrm>
            <a:prstGeom prst="rect">
              <a:avLst/>
            </a:prstGeom>
            <a:solidFill>
              <a:srgbClr val="FFFF99"/>
            </a:solidFill>
            <a:ln w="9525">
              <a:noFill/>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13" name="Oval 128"/>
            <p:cNvSpPr/>
            <p:nvPr/>
          </p:nvSpPr>
          <p:spPr>
            <a:xfrm>
              <a:off x="1355" y="3275"/>
              <a:ext cx="47" cy="48"/>
            </a:xfrm>
            <a:prstGeom prst="ellipse">
              <a:avLst/>
            </a:prstGeom>
            <a:solidFill>
              <a:srgbClr val="00FF00"/>
            </a:solidFill>
            <a:ln w="9525"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14" name="Oval 129"/>
            <p:cNvSpPr/>
            <p:nvPr/>
          </p:nvSpPr>
          <p:spPr>
            <a:xfrm>
              <a:off x="1223" y="2800"/>
              <a:ext cx="47" cy="48"/>
            </a:xfrm>
            <a:prstGeom prst="ellipse">
              <a:avLst/>
            </a:prstGeom>
            <a:solidFill>
              <a:srgbClr val="00FF00"/>
            </a:solidFill>
            <a:ln w="9525"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15" name="Rectangle 140"/>
            <p:cNvSpPr/>
            <p:nvPr/>
          </p:nvSpPr>
          <p:spPr>
            <a:xfrm>
              <a:off x="1018" y="1959"/>
              <a:ext cx="1573" cy="1789"/>
            </a:xfrm>
            <a:prstGeom prst="rect">
              <a:avLst/>
            </a:prstGeom>
            <a:noFill/>
            <a:ln w="12700" cap="flat" cmpd="sng">
              <a:solidFill>
                <a:srgbClr val="FF0000"/>
              </a:solidFill>
              <a:prstDash val="lgDash"/>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616" name="Text Box 141"/>
            <p:cNvSpPr txBox="1"/>
            <p:nvPr/>
          </p:nvSpPr>
          <p:spPr>
            <a:xfrm>
              <a:off x="2222" y="2030"/>
              <a:ext cx="361"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baseline="-25000" dirty="0">
                  <a:solidFill>
                    <a:srgbClr val="FF0000"/>
                  </a:solidFill>
                  <a:latin typeface="Times New Roman" panose="02020603050405020304" pitchFamily="18" charset="0"/>
                </a:rPr>
                <a:t>1</a:t>
              </a:r>
              <a:r>
                <a:rPr lang="en-US" altLang="zh-CN" sz="1600" b="1" baseline="30000" dirty="0">
                  <a:solidFill>
                    <a:srgbClr val="FF0000"/>
                  </a:solidFill>
                  <a:latin typeface="Times New Roman" panose="02020603050405020304" pitchFamily="18" charset="0"/>
                </a:rPr>
                <a:t>’</a:t>
              </a:r>
              <a:endParaRPr lang="en-US" altLang="zh-CN" sz="1600" b="1" baseline="30000" dirty="0">
                <a:solidFill>
                  <a:srgbClr val="FF0000"/>
                </a:solidFill>
                <a:latin typeface="Times New Roman" panose="02020603050405020304" pitchFamily="18" charset="0"/>
              </a:endParaRPr>
            </a:p>
          </p:txBody>
        </p:sp>
        <p:sp>
          <p:nvSpPr>
            <p:cNvPr id="20617" name="Text Box 142"/>
            <p:cNvSpPr txBox="1"/>
            <p:nvPr/>
          </p:nvSpPr>
          <p:spPr>
            <a:xfrm>
              <a:off x="2201" y="2507"/>
              <a:ext cx="361"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baseline="-25000" dirty="0">
                  <a:solidFill>
                    <a:srgbClr val="FF0000"/>
                  </a:solidFill>
                  <a:latin typeface="Times New Roman" panose="02020603050405020304" pitchFamily="18" charset="0"/>
                </a:rPr>
                <a:t>2</a:t>
              </a:r>
              <a:r>
                <a:rPr lang="en-US" altLang="zh-CN" sz="1600" b="1" baseline="30000" dirty="0">
                  <a:solidFill>
                    <a:srgbClr val="FF0000"/>
                  </a:solidFill>
                  <a:latin typeface="Times New Roman" panose="02020603050405020304" pitchFamily="18" charset="0"/>
                </a:rPr>
                <a:t>’</a:t>
              </a:r>
              <a:endParaRPr lang="en-US" altLang="zh-CN" sz="1600" b="1" baseline="30000" dirty="0">
                <a:solidFill>
                  <a:srgbClr val="FF0000"/>
                </a:solidFill>
                <a:latin typeface="Times New Roman" panose="02020603050405020304" pitchFamily="18" charset="0"/>
              </a:endParaRPr>
            </a:p>
          </p:txBody>
        </p:sp>
      </p:grpSp>
      <p:sp>
        <p:nvSpPr>
          <p:cNvPr id="2401283" name="Text Box 3"/>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0485" name="Text Box 4"/>
          <p:cNvSpPr txBox="1"/>
          <p:nvPr/>
        </p:nvSpPr>
        <p:spPr>
          <a:xfrm>
            <a:off x="323850" y="1557338"/>
            <a:ext cx="3789363"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对交流共模信号：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0486" name="Text Box 82"/>
          <p:cNvSpPr txBox="1"/>
          <p:nvPr/>
        </p:nvSpPr>
        <p:spPr>
          <a:xfrm>
            <a:off x="827088" y="3005138"/>
            <a:ext cx="496887" cy="31273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20487" name="Text Box 84"/>
          <p:cNvSpPr txBox="1"/>
          <p:nvPr/>
        </p:nvSpPr>
        <p:spPr>
          <a:xfrm>
            <a:off x="827088" y="3868738"/>
            <a:ext cx="496887" cy="31273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sp>
        <p:nvSpPr>
          <p:cNvPr id="2401381" name="Rectangle 101"/>
          <p:cNvSpPr/>
          <p:nvPr/>
        </p:nvSpPr>
        <p:spPr>
          <a:xfrm>
            <a:off x="4100513" y="1196975"/>
            <a:ext cx="4556125" cy="749300"/>
          </a:xfrm>
          <a:prstGeom prst="rect">
            <a:avLst/>
          </a:prstGeom>
          <a:solidFill>
            <a:srgbClr val="CCFFCC"/>
          </a:solidFill>
          <a:ln w="9525">
            <a:noFill/>
          </a:ln>
        </p:spPr>
        <p:txBody>
          <a:bodyPr>
            <a:spAutoFit/>
          </a:bodyPr>
          <a:p>
            <a:pPr eaLnBrk="1" hangingPunct="1">
              <a:lnSpc>
                <a:spcPct val="90000"/>
              </a:lnSpc>
            </a:pPr>
            <a:r>
              <a:rPr lang="zh-CN" altLang="en-US" sz="2400" b="1" dirty="0">
                <a:solidFill>
                  <a:srgbClr val="3333FF"/>
                </a:solidFill>
                <a:latin typeface="Times New Roman" panose="02020603050405020304" pitchFamily="18" charset="0"/>
              </a:rPr>
              <a:t>对交流共模干扰的抑制：在输入端加接一个</a:t>
            </a:r>
            <a:r>
              <a:rPr lang="zh-CN" altLang="en-US" sz="2400" b="1" dirty="0">
                <a:solidFill>
                  <a:srgbClr val="FF0000"/>
                </a:solidFill>
                <a:latin typeface="Times New Roman" panose="02020603050405020304" pitchFamily="18" charset="0"/>
              </a:rPr>
              <a:t>输入保护电路</a:t>
            </a:r>
            <a:r>
              <a:rPr lang="zh-CN" altLang="en-US" sz="2400" b="1" dirty="0">
                <a:solidFill>
                  <a:srgbClr val="3333FF"/>
                </a:solidFill>
                <a:latin typeface="Times New Roman" panose="02020603050405020304" pitchFamily="18" charset="0"/>
              </a:rPr>
              <a:t>。</a:t>
            </a:r>
            <a:endParaRPr lang="zh-CN" altLang="en-US" sz="2400" b="1" dirty="0">
              <a:solidFill>
                <a:srgbClr val="3333FF"/>
              </a:solidFill>
              <a:latin typeface="Times New Roman" panose="02020603050405020304" pitchFamily="18" charset="0"/>
            </a:endParaRPr>
          </a:p>
        </p:txBody>
      </p:sp>
      <p:grpSp>
        <p:nvGrpSpPr>
          <p:cNvPr id="20489" name="Group 144"/>
          <p:cNvGrpSpPr/>
          <p:nvPr/>
        </p:nvGrpSpPr>
        <p:grpSpPr>
          <a:xfrm>
            <a:off x="250825" y="2397125"/>
            <a:ext cx="8618538" cy="3516313"/>
            <a:chOff x="317" y="1601"/>
            <a:chExt cx="5429" cy="2215"/>
          </a:xfrm>
        </p:grpSpPr>
        <p:sp>
          <p:nvSpPr>
            <p:cNvPr id="20514" name="Line 9"/>
            <p:cNvSpPr/>
            <p:nvPr/>
          </p:nvSpPr>
          <p:spPr>
            <a:xfrm>
              <a:off x="4925" y="2334"/>
              <a:ext cx="485" cy="0"/>
            </a:xfrm>
            <a:prstGeom prst="line">
              <a:avLst/>
            </a:prstGeom>
            <a:ln w="12700" cap="flat" cmpd="sng">
              <a:solidFill>
                <a:schemeClr val="accent2"/>
              </a:solidFill>
              <a:prstDash val="solid"/>
              <a:headEnd type="none" w="med" len="med"/>
              <a:tailEnd type="none" w="med" len="med"/>
            </a:ln>
          </p:spPr>
        </p:sp>
        <p:sp>
          <p:nvSpPr>
            <p:cNvPr id="20515" name="Oval 10"/>
            <p:cNvSpPr/>
            <p:nvPr/>
          </p:nvSpPr>
          <p:spPr>
            <a:xfrm>
              <a:off x="592" y="2194"/>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16" name="Text Box 11"/>
            <p:cNvSpPr txBox="1"/>
            <p:nvPr/>
          </p:nvSpPr>
          <p:spPr>
            <a:xfrm>
              <a:off x="317" y="2101"/>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20517" name="Text Box 12"/>
            <p:cNvSpPr txBox="1"/>
            <p:nvPr/>
          </p:nvSpPr>
          <p:spPr>
            <a:xfrm>
              <a:off x="317" y="2638"/>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20518" name="Oval 13"/>
            <p:cNvSpPr/>
            <p:nvPr/>
          </p:nvSpPr>
          <p:spPr>
            <a:xfrm>
              <a:off x="591" y="2741"/>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19" name="AutoShape 14"/>
            <p:cNvSpPr/>
            <p:nvPr/>
          </p:nvSpPr>
          <p:spPr>
            <a:xfrm rot="5400000">
              <a:off x="2992" y="1634"/>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20" name="Text Box 15"/>
            <p:cNvSpPr txBox="1"/>
            <p:nvPr/>
          </p:nvSpPr>
          <p:spPr>
            <a:xfrm>
              <a:off x="3000" y="1626"/>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20521" name="Text Box 16"/>
            <p:cNvSpPr txBox="1"/>
            <p:nvPr/>
          </p:nvSpPr>
          <p:spPr>
            <a:xfrm>
              <a:off x="3098" y="1780"/>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20522" name="AutoShape 17"/>
            <p:cNvSpPr/>
            <p:nvPr/>
          </p:nvSpPr>
          <p:spPr>
            <a:xfrm rot="5400000">
              <a:off x="2988" y="2857"/>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23" name="Text Box 18"/>
            <p:cNvSpPr txBox="1"/>
            <p:nvPr/>
          </p:nvSpPr>
          <p:spPr>
            <a:xfrm>
              <a:off x="2996" y="2849"/>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20524" name="Text Box 19"/>
            <p:cNvSpPr txBox="1"/>
            <p:nvPr/>
          </p:nvSpPr>
          <p:spPr>
            <a:xfrm>
              <a:off x="3094" y="300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20525" name="Line 21"/>
            <p:cNvSpPr/>
            <p:nvPr/>
          </p:nvSpPr>
          <p:spPr>
            <a:xfrm>
              <a:off x="2725" y="2041"/>
              <a:ext cx="0" cy="226"/>
            </a:xfrm>
            <a:prstGeom prst="line">
              <a:avLst/>
            </a:prstGeom>
            <a:ln w="12700" cap="flat" cmpd="sng">
              <a:solidFill>
                <a:schemeClr val="accent2"/>
              </a:solidFill>
              <a:prstDash val="solid"/>
              <a:headEnd type="none" w="med" len="med"/>
              <a:tailEnd type="none" w="med" len="med"/>
            </a:ln>
          </p:spPr>
        </p:sp>
        <p:sp>
          <p:nvSpPr>
            <p:cNvPr id="20526" name="Rectangle 22"/>
            <p:cNvSpPr/>
            <p:nvPr/>
          </p:nvSpPr>
          <p:spPr>
            <a:xfrm>
              <a:off x="2699" y="2375"/>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27" name="Text Box 23"/>
            <p:cNvSpPr txBox="1"/>
            <p:nvPr/>
          </p:nvSpPr>
          <p:spPr>
            <a:xfrm>
              <a:off x="2751" y="2394"/>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20528" name="Line 24"/>
            <p:cNvSpPr/>
            <p:nvPr/>
          </p:nvSpPr>
          <p:spPr>
            <a:xfrm>
              <a:off x="2725" y="2710"/>
              <a:ext cx="0" cy="233"/>
            </a:xfrm>
            <a:prstGeom prst="line">
              <a:avLst/>
            </a:prstGeom>
            <a:ln w="12700" cap="flat" cmpd="sng">
              <a:solidFill>
                <a:schemeClr val="accent2"/>
              </a:solidFill>
              <a:prstDash val="solid"/>
              <a:headEnd type="none" w="med" len="med"/>
              <a:tailEnd type="none" w="med" len="med"/>
            </a:ln>
          </p:spPr>
        </p:sp>
        <p:sp>
          <p:nvSpPr>
            <p:cNvPr id="20529" name="Line 25"/>
            <p:cNvSpPr/>
            <p:nvPr/>
          </p:nvSpPr>
          <p:spPr>
            <a:xfrm>
              <a:off x="2725" y="2935"/>
              <a:ext cx="292" cy="0"/>
            </a:xfrm>
            <a:prstGeom prst="line">
              <a:avLst/>
            </a:prstGeom>
            <a:ln w="12700" cap="flat" cmpd="sng">
              <a:solidFill>
                <a:schemeClr val="accent2"/>
              </a:solidFill>
              <a:prstDash val="solid"/>
              <a:headEnd type="none" w="med" len="med"/>
              <a:tailEnd type="none" w="med" len="med"/>
            </a:ln>
          </p:spPr>
        </p:sp>
        <p:sp>
          <p:nvSpPr>
            <p:cNvPr id="20530" name="Line 26"/>
            <p:cNvSpPr/>
            <p:nvPr/>
          </p:nvSpPr>
          <p:spPr>
            <a:xfrm>
              <a:off x="2725" y="2267"/>
              <a:ext cx="501" cy="0"/>
            </a:xfrm>
            <a:prstGeom prst="line">
              <a:avLst/>
            </a:prstGeom>
            <a:ln w="12700" cap="flat" cmpd="sng">
              <a:solidFill>
                <a:schemeClr val="accent2"/>
              </a:solidFill>
              <a:prstDash val="solid"/>
              <a:headEnd type="none" w="med" len="med"/>
              <a:tailEnd type="none" w="med" len="med"/>
            </a:ln>
          </p:spPr>
        </p:sp>
        <p:sp>
          <p:nvSpPr>
            <p:cNvPr id="20531" name="Rectangle 27"/>
            <p:cNvSpPr/>
            <p:nvPr/>
          </p:nvSpPr>
          <p:spPr>
            <a:xfrm>
              <a:off x="3226" y="224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32" name="Text Box 28"/>
            <p:cNvSpPr txBox="1"/>
            <p:nvPr/>
          </p:nvSpPr>
          <p:spPr>
            <a:xfrm>
              <a:off x="3201" y="202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20533" name="Line 29"/>
            <p:cNvSpPr/>
            <p:nvPr/>
          </p:nvSpPr>
          <p:spPr>
            <a:xfrm>
              <a:off x="3410" y="2267"/>
              <a:ext cx="266" cy="0"/>
            </a:xfrm>
            <a:prstGeom prst="line">
              <a:avLst/>
            </a:prstGeom>
            <a:ln w="12700" cap="flat" cmpd="sng">
              <a:solidFill>
                <a:schemeClr val="accent2"/>
              </a:solidFill>
              <a:prstDash val="solid"/>
              <a:headEnd type="none" w="med" len="med"/>
              <a:tailEnd type="none" w="med" len="med"/>
            </a:ln>
          </p:spPr>
        </p:sp>
        <p:sp>
          <p:nvSpPr>
            <p:cNvPr id="20534" name="Line 30"/>
            <p:cNvSpPr/>
            <p:nvPr/>
          </p:nvSpPr>
          <p:spPr>
            <a:xfrm flipV="1">
              <a:off x="3676" y="1883"/>
              <a:ext cx="0" cy="384"/>
            </a:xfrm>
            <a:prstGeom prst="line">
              <a:avLst/>
            </a:prstGeom>
            <a:ln w="12700" cap="flat" cmpd="sng">
              <a:solidFill>
                <a:schemeClr val="accent2"/>
              </a:solidFill>
              <a:prstDash val="solid"/>
              <a:headEnd type="none" w="med" len="med"/>
              <a:tailEnd type="none" w="med" len="med"/>
            </a:ln>
          </p:spPr>
        </p:sp>
        <p:sp>
          <p:nvSpPr>
            <p:cNvPr id="20535" name="Line 31"/>
            <p:cNvSpPr/>
            <p:nvPr/>
          </p:nvSpPr>
          <p:spPr>
            <a:xfrm>
              <a:off x="2725" y="2710"/>
              <a:ext cx="509" cy="0"/>
            </a:xfrm>
            <a:prstGeom prst="line">
              <a:avLst/>
            </a:prstGeom>
            <a:ln w="12700" cap="flat" cmpd="sng">
              <a:solidFill>
                <a:schemeClr val="accent2"/>
              </a:solidFill>
              <a:prstDash val="solid"/>
              <a:headEnd type="none" w="med" len="med"/>
              <a:tailEnd type="none" w="med" len="med"/>
            </a:ln>
          </p:spPr>
        </p:sp>
        <p:sp>
          <p:nvSpPr>
            <p:cNvPr id="20536" name="Rectangle 32"/>
            <p:cNvSpPr/>
            <p:nvPr/>
          </p:nvSpPr>
          <p:spPr>
            <a:xfrm>
              <a:off x="3230" y="268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37" name="Text Box 33"/>
            <p:cNvSpPr txBox="1"/>
            <p:nvPr/>
          </p:nvSpPr>
          <p:spPr>
            <a:xfrm>
              <a:off x="3204" y="2466"/>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20538" name="Line 34"/>
            <p:cNvSpPr/>
            <p:nvPr/>
          </p:nvSpPr>
          <p:spPr>
            <a:xfrm>
              <a:off x="3418" y="2710"/>
              <a:ext cx="258" cy="0"/>
            </a:xfrm>
            <a:prstGeom prst="line">
              <a:avLst/>
            </a:prstGeom>
            <a:ln w="12700" cap="flat" cmpd="sng">
              <a:solidFill>
                <a:schemeClr val="accent2"/>
              </a:solidFill>
              <a:prstDash val="solid"/>
              <a:headEnd type="none" w="med" len="med"/>
              <a:tailEnd type="none" w="med" len="med"/>
            </a:ln>
          </p:spPr>
        </p:sp>
        <p:sp>
          <p:nvSpPr>
            <p:cNvPr id="20539" name="Line 35"/>
            <p:cNvSpPr/>
            <p:nvPr/>
          </p:nvSpPr>
          <p:spPr>
            <a:xfrm>
              <a:off x="3676" y="2710"/>
              <a:ext cx="0" cy="392"/>
            </a:xfrm>
            <a:prstGeom prst="line">
              <a:avLst/>
            </a:prstGeom>
            <a:ln w="12700" cap="flat" cmpd="sng">
              <a:solidFill>
                <a:schemeClr val="accent2"/>
              </a:solidFill>
              <a:prstDash val="solid"/>
              <a:headEnd type="none" w="med" len="med"/>
              <a:tailEnd type="none" w="med" len="med"/>
            </a:ln>
          </p:spPr>
        </p:sp>
        <p:sp>
          <p:nvSpPr>
            <p:cNvPr id="20540" name="Line 36"/>
            <p:cNvSpPr/>
            <p:nvPr/>
          </p:nvSpPr>
          <p:spPr>
            <a:xfrm>
              <a:off x="3509" y="1883"/>
              <a:ext cx="618" cy="0"/>
            </a:xfrm>
            <a:prstGeom prst="line">
              <a:avLst/>
            </a:prstGeom>
            <a:ln w="12700" cap="flat" cmpd="sng">
              <a:solidFill>
                <a:schemeClr val="accent2"/>
              </a:solidFill>
              <a:prstDash val="solid"/>
              <a:headEnd type="none" w="med" len="med"/>
              <a:tailEnd type="none" w="med" len="med"/>
            </a:ln>
          </p:spPr>
        </p:sp>
        <p:sp>
          <p:nvSpPr>
            <p:cNvPr id="20541" name="Rectangle 37"/>
            <p:cNvSpPr/>
            <p:nvPr/>
          </p:nvSpPr>
          <p:spPr>
            <a:xfrm>
              <a:off x="3962" y="185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42" name="Text Box 38"/>
            <p:cNvSpPr txBox="1"/>
            <p:nvPr/>
          </p:nvSpPr>
          <p:spPr>
            <a:xfrm>
              <a:off x="3927" y="163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20543" name="Line 39"/>
            <p:cNvSpPr/>
            <p:nvPr/>
          </p:nvSpPr>
          <p:spPr>
            <a:xfrm>
              <a:off x="4149" y="1883"/>
              <a:ext cx="209" cy="0"/>
            </a:xfrm>
            <a:prstGeom prst="line">
              <a:avLst/>
            </a:prstGeom>
            <a:ln w="12700" cap="flat" cmpd="sng">
              <a:solidFill>
                <a:schemeClr val="accent2"/>
              </a:solidFill>
              <a:prstDash val="solid"/>
              <a:headEnd type="none" w="med" len="med"/>
              <a:tailEnd type="none" w="med" len="med"/>
            </a:ln>
          </p:spPr>
        </p:sp>
        <p:sp>
          <p:nvSpPr>
            <p:cNvPr id="20544" name="Line 40"/>
            <p:cNvSpPr/>
            <p:nvPr/>
          </p:nvSpPr>
          <p:spPr>
            <a:xfrm>
              <a:off x="4358" y="1883"/>
              <a:ext cx="0" cy="284"/>
            </a:xfrm>
            <a:prstGeom prst="line">
              <a:avLst/>
            </a:prstGeom>
            <a:ln w="12700" cap="flat" cmpd="sng">
              <a:solidFill>
                <a:schemeClr val="accent2"/>
              </a:solidFill>
              <a:prstDash val="solid"/>
              <a:headEnd type="none" w="med" len="med"/>
              <a:tailEnd type="none" w="med" len="med"/>
            </a:ln>
          </p:spPr>
        </p:sp>
        <p:sp>
          <p:nvSpPr>
            <p:cNvPr id="20545" name="AutoShape 41"/>
            <p:cNvSpPr/>
            <p:nvPr/>
          </p:nvSpPr>
          <p:spPr>
            <a:xfrm rot="5400000">
              <a:off x="4512" y="2089"/>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46" name="Text Box 42"/>
            <p:cNvSpPr txBox="1"/>
            <p:nvPr/>
          </p:nvSpPr>
          <p:spPr>
            <a:xfrm>
              <a:off x="4520" y="2039"/>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20547" name="Text Box 43"/>
            <p:cNvSpPr txBox="1"/>
            <p:nvPr/>
          </p:nvSpPr>
          <p:spPr>
            <a:xfrm>
              <a:off x="4627" y="2227"/>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20548" name="Line 44"/>
            <p:cNvSpPr/>
            <p:nvPr/>
          </p:nvSpPr>
          <p:spPr>
            <a:xfrm>
              <a:off x="3502" y="3102"/>
              <a:ext cx="609" cy="0"/>
            </a:xfrm>
            <a:prstGeom prst="line">
              <a:avLst/>
            </a:prstGeom>
            <a:ln w="12700" cap="flat" cmpd="sng">
              <a:solidFill>
                <a:schemeClr val="accent2"/>
              </a:solidFill>
              <a:prstDash val="solid"/>
              <a:headEnd type="none" w="med" len="med"/>
              <a:tailEnd type="none" w="med" len="med"/>
            </a:ln>
          </p:spPr>
        </p:sp>
        <p:sp>
          <p:nvSpPr>
            <p:cNvPr id="20549" name="Rectangle 45"/>
            <p:cNvSpPr/>
            <p:nvPr/>
          </p:nvSpPr>
          <p:spPr>
            <a:xfrm>
              <a:off x="3950" y="3077"/>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50" name="Text Box 46"/>
            <p:cNvSpPr txBox="1"/>
            <p:nvPr/>
          </p:nvSpPr>
          <p:spPr>
            <a:xfrm>
              <a:off x="3914" y="283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20551" name="Line 47"/>
            <p:cNvSpPr/>
            <p:nvPr/>
          </p:nvSpPr>
          <p:spPr>
            <a:xfrm>
              <a:off x="4140" y="3102"/>
              <a:ext cx="209" cy="0"/>
            </a:xfrm>
            <a:prstGeom prst="line">
              <a:avLst/>
            </a:prstGeom>
            <a:ln w="12700" cap="flat" cmpd="sng">
              <a:solidFill>
                <a:schemeClr val="accent2"/>
              </a:solidFill>
              <a:prstDash val="solid"/>
              <a:headEnd type="none" w="med" len="med"/>
              <a:tailEnd type="none" w="med" len="med"/>
            </a:ln>
          </p:spPr>
        </p:sp>
        <p:sp>
          <p:nvSpPr>
            <p:cNvPr id="20552" name="Line 48"/>
            <p:cNvSpPr/>
            <p:nvPr/>
          </p:nvSpPr>
          <p:spPr>
            <a:xfrm flipV="1">
              <a:off x="4349" y="2484"/>
              <a:ext cx="0" cy="618"/>
            </a:xfrm>
            <a:prstGeom prst="line">
              <a:avLst/>
            </a:prstGeom>
            <a:ln w="12700" cap="flat" cmpd="sng">
              <a:solidFill>
                <a:schemeClr val="accent2"/>
              </a:solidFill>
              <a:prstDash val="solid"/>
              <a:headEnd type="none" w="med" len="med"/>
              <a:tailEnd type="none" w="med" len="med"/>
            </a:ln>
          </p:spPr>
        </p:sp>
        <p:sp>
          <p:nvSpPr>
            <p:cNvPr id="20553" name="Oval 49"/>
            <p:cNvSpPr/>
            <p:nvPr/>
          </p:nvSpPr>
          <p:spPr>
            <a:xfrm>
              <a:off x="5406" y="2309"/>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54" name="Text Box 50"/>
            <p:cNvSpPr txBox="1"/>
            <p:nvPr/>
          </p:nvSpPr>
          <p:spPr>
            <a:xfrm>
              <a:off x="5443" y="2217"/>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20555" name="Text Box 51"/>
            <p:cNvSpPr txBox="1"/>
            <p:nvPr/>
          </p:nvSpPr>
          <p:spPr>
            <a:xfrm>
              <a:off x="3547" y="1650"/>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20556" name="Oval 52"/>
            <p:cNvSpPr/>
            <p:nvPr/>
          </p:nvSpPr>
          <p:spPr>
            <a:xfrm>
              <a:off x="3657" y="186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57" name="Oval 53"/>
            <p:cNvSpPr/>
            <p:nvPr/>
          </p:nvSpPr>
          <p:spPr>
            <a:xfrm>
              <a:off x="2709" y="224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58" name="Oval 54"/>
            <p:cNvSpPr/>
            <p:nvPr/>
          </p:nvSpPr>
          <p:spPr>
            <a:xfrm>
              <a:off x="2699" y="268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59" name="Text Box 55"/>
            <p:cNvSpPr txBox="1"/>
            <p:nvPr/>
          </p:nvSpPr>
          <p:spPr>
            <a:xfrm>
              <a:off x="3568" y="3141"/>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20560" name="Oval 56"/>
            <p:cNvSpPr/>
            <p:nvPr/>
          </p:nvSpPr>
          <p:spPr>
            <a:xfrm>
              <a:off x="3652" y="308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61" name="Oval 57"/>
            <p:cNvSpPr/>
            <p:nvPr/>
          </p:nvSpPr>
          <p:spPr>
            <a:xfrm>
              <a:off x="5176" y="230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62" name="Line 58"/>
            <p:cNvSpPr/>
            <p:nvPr/>
          </p:nvSpPr>
          <p:spPr>
            <a:xfrm flipV="1">
              <a:off x="5201" y="1875"/>
              <a:ext cx="0" cy="459"/>
            </a:xfrm>
            <a:prstGeom prst="line">
              <a:avLst/>
            </a:prstGeom>
            <a:ln w="12700" cap="flat" cmpd="sng">
              <a:solidFill>
                <a:schemeClr val="accent2"/>
              </a:solidFill>
              <a:prstDash val="solid"/>
              <a:headEnd type="none" w="med" len="med"/>
              <a:tailEnd type="none" w="med" len="med"/>
            </a:ln>
          </p:spPr>
        </p:sp>
        <p:sp>
          <p:nvSpPr>
            <p:cNvPr id="20563" name="Line 59"/>
            <p:cNvSpPr/>
            <p:nvPr/>
          </p:nvSpPr>
          <p:spPr>
            <a:xfrm flipH="1">
              <a:off x="4858" y="1875"/>
              <a:ext cx="343" cy="0"/>
            </a:xfrm>
            <a:prstGeom prst="line">
              <a:avLst/>
            </a:prstGeom>
            <a:ln w="12700" cap="flat" cmpd="sng">
              <a:solidFill>
                <a:schemeClr val="accent2"/>
              </a:solidFill>
              <a:prstDash val="solid"/>
              <a:headEnd type="none" w="med" len="med"/>
              <a:tailEnd type="none" w="med" len="med"/>
            </a:ln>
          </p:spPr>
        </p:sp>
        <p:sp>
          <p:nvSpPr>
            <p:cNvPr id="20564" name="Rectangle 60"/>
            <p:cNvSpPr/>
            <p:nvPr/>
          </p:nvSpPr>
          <p:spPr>
            <a:xfrm>
              <a:off x="4680" y="1846"/>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65" name="Text Box 61"/>
            <p:cNvSpPr txBox="1"/>
            <p:nvPr/>
          </p:nvSpPr>
          <p:spPr>
            <a:xfrm>
              <a:off x="4650" y="162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20566" name="Line 62"/>
            <p:cNvSpPr/>
            <p:nvPr/>
          </p:nvSpPr>
          <p:spPr>
            <a:xfrm flipH="1">
              <a:off x="4358" y="1883"/>
              <a:ext cx="317" cy="0"/>
            </a:xfrm>
            <a:prstGeom prst="line">
              <a:avLst/>
            </a:prstGeom>
            <a:ln w="12700" cap="flat" cmpd="sng">
              <a:solidFill>
                <a:schemeClr val="accent2"/>
              </a:solidFill>
              <a:prstDash val="solid"/>
              <a:headEnd type="none" w="med" len="med"/>
              <a:tailEnd type="none" w="med" len="med"/>
            </a:ln>
          </p:spPr>
        </p:sp>
        <p:sp>
          <p:nvSpPr>
            <p:cNvPr id="20567" name="Oval 63"/>
            <p:cNvSpPr/>
            <p:nvPr/>
          </p:nvSpPr>
          <p:spPr>
            <a:xfrm>
              <a:off x="4333" y="185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68" name="Line 64"/>
            <p:cNvSpPr/>
            <p:nvPr/>
          </p:nvSpPr>
          <p:spPr>
            <a:xfrm>
              <a:off x="4349" y="3102"/>
              <a:ext cx="334" cy="0"/>
            </a:xfrm>
            <a:prstGeom prst="line">
              <a:avLst/>
            </a:prstGeom>
            <a:ln w="12700" cap="flat" cmpd="sng">
              <a:solidFill>
                <a:schemeClr val="accent2"/>
              </a:solidFill>
              <a:prstDash val="solid"/>
              <a:headEnd type="none" w="med" len="med"/>
              <a:tailEnd type="none" w="med" len="med"/>
            </a:ln>
          </p:spPr>
        </p:sp>
        <p:sp>
          <p:nvSpPr>
            <p:cNvPr id="20569" name="Rectangle 65"/>
            <p:cNvSpPr/>
            <p:nvPr/>
          </p:nvSpPr>
          <p:spPr>
            <a:xfrm>
              <a:off x="4684" y="30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70" name="Text Box 66"/>
            <p:cNvSpPr txBox="1"/>
            <p:nvPr/>
          </p:nvSpPr>
          <p:spPr>
            <a:xfrm>
              <a:off x="4654" y="286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20571" name="Line 67"/>
            <p:cNvSpPr/>
            <p:nvPr/>
          </p:nvSpPr>
          <p:spPr>
            <a:xfrm>
              <a:off x="4867" y="3102"/>
              <a:ext cx="367" cy="0"/>
            </a:xfrm>
            <a:prstGeom prst="line">
              <a:avLst/>
            </a:prstGeom>
            <a:ln w="12700" cap="flat" cmpd="sng">
              <a:solidFill>
                <a:schemeClr val="accent2"/>
              </a:solidFill>
              <a:prstDash val="solid"/>
              <a:headEnd type="none" w="med" len="med"/>
              <a:tailEnd type="none" w="med" len="med"/>
            </a:ln>
          </p:spPr>
        </p:sp>
        <p:sp>
          <p:nvSpPr>
            <p:cNvPr id="20572" name="Line 68"/>
            <p:cNvSpPr/>
            <p:nvPr/>
          </p:nvSpPr>
          <p:spPr>
            <a:xfrm>
              <a:off x="5234" y="3102"/>
              <a:ext cx="0" cy="167"/>
            </a:xfrm>
            <a:prstGeom prst="line">
              <a:avLst/>
            </a:prstGeom>
            <a:ln w="12700" cap="flat" cmpd="sng">
              <a:solidFill>
                <a:schemeClr val="accent2"/>
              </a:solidFill>
              <a:prstDash val="solid"/>
              <a:headEnd type="none" w="med" len="med"/>
              <a:tailEnd type="none" w="med" len="med"/>
            </a:ln>
          </p:spPr>
        </p:sp>
        <p:sp>
          <p:nvSpPr>
            <p:cNvPr id="20573" name="Line 69"/>
            <p:cNvSpPr/>
            <p:nvPr/>
          </p:nvSpPr>
          <p:spPr>
            <a:xfrm>
              <a:off x="5151" y="3269"/>
              <a:ext cx="167" cy="0"/>
            </a:xfrm>
            <a:prstGeom prst="line">
              <a:avLst/>
            </a:prstGeom>
            <a:ln w="28575" cap="flat" cmpd="sng">
              <a:solidFill>
                <a:schemeClr val="accent2"/>
              </a:solidFill>
              <a:prstDash val="solid"/>
              <a:headEnd type="none" w="med" len="med"/>
              <a:tailEnd type="none" w="med" len="med"/>
            </a:ln>
          </p:spPr>
        </p:sp>
        <p:sp>
          <p:nvSpPr>
            <p:cNvPr id="20574" name="Text Box 70"/>
            <p:cNvSpPr txBox="1"/>
            <p:nvPr/>
          </p:nvSpPr>
          <p:spPr>
            <a:xfrm>
              <a:off x="2993" y="3551"/>
              <a:ext cx="2046"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交流共模干扰抑制方法</a:t>
              </a:r>
              <a:endParaRPr lang="zh-CN" altLang="en-US" sz="2400" b="1" dirty="0">
                <a:solidFill>
                  <a:srgbClr val="000099"/>
                </a:solidFill>
                <a:latin typeface="Times New Roman" panose="02020603050405020304" pitchFamily="18" charset="0"/>
              </a:endParaRPr>
            </a:p>
          </p:txBody>
        </p:sp>
        <p:sp>
          <p:nvSpPr>
            <p:cNvPr id="20575" name="Line 73"/>
            <p:cNvSpPr/>
            <p:nvPr/>
          </p:nvSpPr>
          <p:spPr>
            <a:xfrm>
              <a:off x="2725" y="2243"/>
              <a:ext cx="0" cy="133"/>
            </a:xfrm>
            <a:prstGeom prst="line">
              <a:avLst/>
            </a:prstGeom>
            <a:ln w="12700" cap="flat" cmpd="sng">
              <a:solidFill>
                <a:schemeClr val="accent2"/>
              </a:solidFill>
              <a:prstDash val="solid"/>
              <a:headEnd type="none" w="med" len="med"/>
              <a:tailEnd type="none" w="med" len="med"/>
            </a:ln>
          </p:spPr>
        </p:sp>
        <p:sp>
          <p:nvSpPr>
            <p:cNvPr id="20576" name="Line 74"/>
            <p:cNvSpPr/>
            <p:nvPr/>
          </p:nvSpPr>
          <p:spPr>
            <a:xfrm flipV="1">
              <a:off x="2725" y="2594"/>
              <a:ext cx="0" cy="116"/>
            </a:xfrm>
            <a:prstGeom prst="line">
              <a:avLst/>
            </a:prstGeom>
            <a:ln w="12700" cap="flat" cmpd="sng">
              <a:solidFill>
                <a:schemeClr val="accent2"/>
              </a:solidFill>
              <a:prstDash val="solid"/>
              <a:headEnd type="none" w="med" len="med"/>
              <a:tailEnd type="none" w="med" len="med"/>
            </a:ln>
          </p:spPr>
        </p:sp>
        <p:sp>
          <p:nvSpPr>
            <p:cNvPr id="20577" name="Oval 75"/>
            <p:cNvSpPr/>
            <p:nvPr/>
          </p:nvSpPr>
          <p:spPr>
            <a:xfrm>
              <a:off x="4329" y="3081"/>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78" name="Line 76"/>
            <p:cNvSpPr/>
            <p:nvPr/>
          </p:nvSpPr>
          <p:spPr>
            <a:xfrm>
              <a:off x="4350" y="2485"/>
              <a:ext cx="192" cy="0"/>
            </a:xfrm>
            <a:prstGeom prst="line">
              <a:avLst/>
            </a:prstGeom>
            <a:ln w="12700" cap="flat" cmpd="sng">
              <a:solidFill>
                <a:schemeClr val="accent2"/>
              </a:solidFill>
              <a:prstDash val="solid"/>
              <a:headEnd type="none" w="med" len="med"/>
              <a:tailEnd type="none" w="med" len="med"/>
            </a:ln>
          </p:spPr>
        </p:sp>
        <p:sp>
          <p:nvSpPr>
            <p:cNvPr id="20579" name="Line 77"/>
            <p:cNvSpPr/>
            <p:nvPr/>
          </p:nvSpPr>
          <p:spPr>
            <a:xfrm>
              <a:off x="4358" y="2167"/>
              <a:ext cx="192" cy="0"/>
            </a:xfrm>
            <a:prstGeom prst="line">
              <a:avLst/>
            </a:prstGeom>
            <a:ln w="12700" cap="flat" cmpd="sng">
              <a:solidFill>
                <a:schemeClr val="accent2"/>
              </a:solidFill>
              <a:prstDash val="solid"/>
              <a:headEnd type="none" w="med" len="med"/>
              <a:tailEnd type="none" w="med" len="med"/>
            </a:ln>
          </p:spPr>
        </p:sp>
        <p:sp>
          <p:nvSpPr>
            <p:cNvPr id="20580" name="Line 78"/>
            <p:cNvSpPr/>
            <p:nvPr/>
          </p:nvSpPr>
          <p:spPr>
            <a:xfrm flipV="1">
              <a:off x="2222" y="1717"/>
              <a:ext cx="803" cy="0"/>
            </a:xfrm>
            <a:prstGeom prst="line">
              <a:avLst/>
            </a:prstGeom>
            <a:ln w="12700" cap="flat" cmpd="sng">
              <a:solidFill>
                <a:schemeClr val="accent2"/>
              </a:solidFill>
              <a:prstDash val="solid"/>
              <a:headEnd type="none" w="med" len="med"/>
              <a:tailEnd type="none" w="med" len="med"/>
            </a:ln>
          </p:spPr>
        </p:sp>
        <p:sp>
          <p:nvSpPr>
            <p:cNvPr id="20581" name="Line 79"/>
            <p:cNvSpPr/>
            <p:nvPr/>
          </p:nvSpPr>
          <p:spPr>
            <a:xfrm>
              <a:off x="2222" y="3269"/>
              <a:ext cx="803" cy="0"/>
            </a:xfrm>
            <a:prstGeom prst="line">
              <a:avLst/>
            </a:prstGeom>
            <a:ln w="12700" cap="flat" cmpd="sng">
              <a:solidFill>
                <a:schemeClr val="accent2"/>
              </a:solidFill>
              <a:prstDash val="solid"/>
              <a:headEnd type="none" w="med" len="med"/>
              <a:tailEnd type="none" w="med" len="med"/>
            </a:ln>
          </p:spPr>
        </p:sp>
        <p:sp>
          <p:nvSpPr>
            <p:cNvPr id="20582" name="Text Box 80"/>
            <p:cNvSpPr txBox="1"/>
            <p:nvPr/>
          </p:nvSpPr>
          <p:spPr>
            <a:xfrm>
              <a:off x="4226" y="164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sp>
          <p:nvSpPr>
            <p:cNvPr id="20583" name="Line 85"/>
            <p:cNvSpPr/>
            <p:nvPr/>
          </p:nvSpPr>
          <p:spPr>
            <a:xfrm>
              <a:off x="2222" y="1713"/>
              <a:ext cx="0" cy="504"/>
            </a:xfrm>
            <a:prstGeom prst="line">
              <a:avLst/>
            </a:prstGeom>
            <a:ln w="12700" cap="flat" cmpd="sng">
              <a:solidFill>
                <a:schemeClr val="accent2"/>
              </a:solidFill>
              <a:prstDash val="solid"/>
              <a:headEnd type="none" w="med" len="med"/>
              <a:tailEnd type="none" w="med" len="med"/>
            </a:ln>
          </p:spPr>
        </p:sp>
        <p:sp>
          <p:nvSpPr>
            <p:cNvPr id="20584" name="Line 86"/>
            <p:cNvSpPr/>
            <p:nvPr/>
          </p:nvSpPr>
          <p:spPr>
            <a:xfrm>
              <a:off x="2222" y="2765"/>
              <a:ext cx="0" cy="504"/>
            </a:xfrm>
            <a:prstGeom prst="line">
              <a:avLst/>
            </a:prstGeom>
            <a:ln w="12700" cap="flat" cmpd="sng">
              <a:solidFill>
                <a:schemeClr val="accent2"/>
              </a:solidFill>
              <a:prstDash val="solid"/>
              <a:headEnd type="none" w="med" len="med"/>
              <a:tailEnd type="none" w="med" len="med"/>
            </a:ln>
          </p:spPr>
        </p:sp>
        <p:sp>
          <p:nvSpPr>
            <p:cNvPr id="20585" name="Line 122"/>
            <p:cNvSpPr/>
            <p:nvPr/>
          </p:nvSpPr>
          <p:spPr>
            <a:xfrm>
              <a:off x="2729" y="2042"/>
              <a:ext cx="292" cy="0"/>
            </a:xfrm>
            <a:prstGeom prst="line">
              <a:avLst/>
            </a:prstGeom>
            <a:ln w="12700" cap="flat" cmpd="sng">
              <a:solidFill>
                <a:schemeClr val="accent2"/>
              </a:solidFill>
              <a:prstDash val="solid"/>
              <a:headEnd type="none" w="med" len="med"/>
              <a:tailEnd type="none" w="med" len="med"/>
            </a:ln>
          </p:spPr>
        </p:sp>
        <p:sp>
          <p:nvSpPr>
            <p:cNvPr id="20586" name="Line 7"/>
            <p:cNvSpPr/>
            <p:nvPr/>
          </p:nvSpPr>
          <p:spPr>
            <a:xfrm>
              <a:off x="635" y="2217"/>
              <a:ext cx="1587" cy="0"/>
            </a:xfrm>
            <a:prstGeom prst="line">
              <a:avLst/>
            </a:prstGeom>
            <a:ln w="12700" cap="flat" cmpd="sng">
              <a:solidFill>
                <a:schemeClr val="accent2"/>
              </a:solidFill>
              <a:prstDash val="solid"/>
              <a:headEnd type="none" w="med" len="med"/>
              <a:tailEnd type="none" w="med" len="med"/>
            </a:ln>
          </p:spPr>
        </p:sp>
        <p:sp>
          <p:nvSpPr>
            <p:cNvPr id="20587" name="Line 8"/>
            <p:cNvSpPr/>
            <p:nvPr/>
          </p:nvSpPr>
          <p:spPr>
            <a:xfrm>
              <a:off x="635" y="2765"/>
              <a:ext cx="1587" cy="0"/>
            </a:xfrm>
            <a:prstGeom prst="line">
              <a:avLst/>
            </a:prstGeom>
            <a:ln w="12700" cap="flat" cmpd="sng">
              <a:solidFill>
                <a:schemeClr val="accent2"/>
              </a:solidFill>
              <a:prstDash val="solid"/>
              <a:headEnd type="none" w="med" len="med"/>
              <a:tailEnd type="none" w="med" len="med"/>
            </a:ln>
          </p:spPr>
        </p:sp>
      </p:grpSp>
      <p:sp>
        <p:nvSpPr>
          <p:cNvPr id="20490" name="Rectangle 81"/>
          <p:cNvSpPr/>
          <p:nvPr/>
        </p:nvSpPr>
        <p:spPr>
          <a:xfrm>
            <a:off x="882650" y="3328988"/>
            <a:ext cx="292100" cy="9207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491" name="Rectangle 83"/>
          <p:cNvSpPr/>
          <p:nvPr/>
        </p:nvSpPr>
        <p:spPr>
          <a:xfrm>
            <a:off x="884238" y="4198938"/>
            <a:ext cx="292100" cy="9207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4" name="Group 145"/>
          <p:cNvGrpSpPr/>
          <p:nvPr/>
        </p:nvGrpSpPr>
        <p:grpSpPr>
          <a:xfrm>
            <a:off x="1895475" y="2239963"/>
            <a:ext cx="911225" cy="2501900"/>
            <a:chOff x="1353" y="1502"/>
            <a:chExt cx="574" cy="1576"/>
          </a:xfrm>
        </p:grpSpPr>
        <p:sp>
          <p:nvSpPr>
            <p:cNvPr id="20496" name="Line 92"/>
            <p:cNvSpPr/>
            <p:nvPr/>
          </p:nvSpPr>
          <p:spPr>
            <a:xfrm>
              <a:off x="1587" y="1810"/>
              <a:ext cx="0" cy="349"/>
            </a:xfrm>
            <a:prstGeom prst="line">
              <a:avLst/>
            </a:prstGeom>
            <a:ln w="12700" cap="flat" cmpd="sng">
              <a:solidFill>
                <a:schemeClr val="accent2"/>
              </a:solidFill>
              <a:prstDash val="sysDot"/>
              <a:headEnd type="none" w="med" len="med"/>
              <a:tailEnd type="none" w="med" len="med"/>
            </a:ln>
          </p:spPr>
        </p:sp>
        <p:sp>
          <p:nvSpPr>
            <p:cNvPr id="20497" name="Line 94"/>
            <p:cNvSpPr/>
            <p:nvPr/>
          </p:nvSpPr>
          <p:spPr>
            <a:xfrm>
              <a:off x="1466" y="1802"/>
              <a:ext cx="242" cy="0"/>
            </a:xfrm>
            <a:prstGeom prst="line">
              <a:avLst/>
            </a:prstGeom>
            <a:ln w="28575" cap="flat" cmpd="sng">
              <a:solidFill>
                <a:schemeClr val="accent2"/>
              </a:solidFill>
              <a:prstDash val="solid"/>
              <a:headEnd type="none" w="med" len="med"/>
              <a:tailEnd type="none" w="med" len="med"/>
            </a:ln>
          </p:spPr>
        </p:sp>
        <p:sp>
          <p:nvSpPr>
            <p:cNvPr id="20498" name="Line 95"/>
            <p:cNvSpPr/>
            <p:nvPr/>
          </p:nvSpPr>
          <p:spPr>
            <a:xfrm>
              <a:off x="1466" y="1735"/>
              <a:ext cx="242" cy="0"/>
            </a:xfrm>
            <a:prstGeom prst="line">
              <a:avLst/>
            </a:prstGeom>
            <a:ln w="28575" cap="flat" cmpd="sng">
              <a:solidFill>
                <a:schemeClr val="accent2"/>
              </a:solidFill>
              <a:prstDash val="solid"/>
              <a:headEnd type="none" w="med" len="med"/>
              <a:tailEnd type="none" w="med" len="med"/>
            </a:ln>
          </p:spPr>
        </p:sp>
        <p:sp>
          <p:nvSpPr>
            <p:cNvPr id="20499" name="Line 96"/>
            <p:cNvSpPr/>
            <p:nvPr/>
          </p:nvSpPr>
          <p:spPr>
            <a:xfrm>
              <a:off x="1587" y="1626"/>
              <a:ext cx="0" cy="109"/>
            </a:xfrm>
            <a:prstGeom prst="line">
              <a:avLst/>
            </a:prstGeom>
            <a:ln w="12700" cap="flat" cmpd="sng">
              <a:solidFill>
                <a:schemeClr val="accent2"/>
              </a:solidFill>
              <a:prstDash val="sysDot"/>
              <a:headEnd type="none" w="med" len="med"/>
              <a:tailEnd type="none" w="med" len="med"/>
            </a:ln>
          </p:spPr>
        </p:sp>
        <p:sp>
          <p:nvSpPr>
            <p:cNvPr id="20500" name="Line 97"/>
            <p:cNvSpPr/>
            <p:nvPr/>
          </p:nvSpPr>
          <p:spPr>
            <a:xfrm>
              <a:off x="1376" y="1626"/>
              <a:ext cx="1" cy="591"/>
            </a:xfrm>
            <a:prstGeom prst="line">
              <a:avLst/>
            </a:prstGeom>
            <a:ln w="12700" cap="flat" cmpd="sng">
              <a:solidFill>
                <a:schemeClr val="accent2"/>
              </a:solidFill>
              <a:prstDash val="sysDot"/>
              <a:headEnd type="none" w="med" len="med"/>
              <a:tailEnd type="none" w="med" len="med"/>
            </a:ln>
          </p:spPr>
        </p:sp>
        <p:sp>
          <p:nvSpPr>
            <p:cNvPr id="20501" name="Line 98"/>
            <p:cNvSpPr/>
            <p:nvPr/>
          </p:nvSpPr>
          <p:spPr>
            <a:xfrm flipH="1">
              <a:off x="1376" y="1626"/>
              <a:ext cx="211" cy="0"/>
            </a:xfrm>
            <a:prstGeom prst="line">
              <a:avLst/>
            </a:prstGeom>
            <a:ln w="12700" cap="flat" cmpd="sng">
              <a:solidFill>
                <a:schemeClr val="accent2"/>
              </a:solidFill>
              <a:prstDash val="sysDot"/>
              <a:headEnd type="none" w="med" len="med"/>
              <a:tailEnd type="none" w="med" len="med"/>
            </a:ln>
          </p:spPr>
        </p:sp>
        <p:sp>
          <p:nvSpPr>
            <p:cNvPr id="20502" name="Text Box 99"/>
            <p:cNvSpPr txBox="1"/>
            <p:nvPr/>
          </p:nvSpPr>
          <p:spPr>
            <a:xfrm>
              <a:off x="1594" y="1502"/>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20503" name="Text Box 100"/>
            <p:cNvSpPr txBox="1"/>
            <p:nvPr/>
          </p:nvSpPr>
          <p:spPr>
            <a:xfrm>
              <a:off x="1667" y="2821"/>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sp>
          <p:nvSpPr>
            <p:cNvPr id="20504" name="Oval 130"/>
            <p:cNvSpPr/>
            <p:nvPr/>
          </p:nvSpPr>
          <p:spPr>
            <a:xfrm>
              <a:off x="1353" y="218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05" name="Oval 131"/>
            <p:cNvSpPr/>
            <p:nvPr/>
          </p:nvSpPr>
          <p:spPr>
            <a:xfrm>
              <a:off x="1563" y="213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06" name="Line 132"/>
            <p:cNvSpPr/>
            <p:nvPr/>
          </p:nvSpPr>
          <p:spPr>
            <a:xfrm>
              <a:off x="1587" y="2768"/>
              <a:ext cx="0" cy="168"/>
            </a:xfrm>
            <a:prstGeom prst="line">
              <a:avLst/>
            </a:prstGeom>
            <a:ln w="12700" cap="flat" cmpd="sng">
              <a:solidFill>
                <a:schemeClr val="accent2"/>
              </a:solidFill>
              <a:prstDash val="sysDot"/>
              <a:headEnd type="none" w="med" len="med"/>
              <a:tailEnd type="none" w="med" len="med"/>
            </a:ln>
          </p:spPr>
        </p:sp>
        <p:sp>
          <p:nvSpPr>
            <p:cNvPr id="20507" name="Line 133"/>
            <p:cNvSpPr/>
            <p:nvPr/>
          </p:nvSpPr>
          <p:spPr>
            <a:xfrm>
              <a:off x="1466" y="3003"/>
              <a:ext cx="242" cy="0"/>
            </a:xfrm>
            <a:prstGeom prst="line">
              <a:avLst/>
            </a:prstGeom>
            <a:ln w="28575" cap="flat" cmpd="sng">
              <a:solidFill>
                <a:schemeClr val="accent2"/>
              </a:solidFill>
              <a:prstDash val="solid"/>
              <a:headEnd type="none" w="med" len="med"/>
              <a:tailEnd type="none" w="med" len="med"/>
            </a:ln>
          </p:spPr>
        </p:sp>
        <p:sp>
          <p:nvSpPr>
            <p:cNvPr id="20508" name="Line 134"/>
            <p:cNvSpPr/>
            <p:nvPr/>
          </p:nvSpPr>
          <p:spPr>
            <a:xfrm>
              <a:off x="1466" y="2936"/>
              <a:ext cx="242" cy="0"/>
            </a:xfrm>
            <a:prstGeom prst="line">
              <a:avLst/>
            </a:prstGeom>
            <a:ln w="28575" cap="flat" cmpd="sng">
              <a:solidFill>
                <a:schemeClr val="accent2"/>
              </a:solidFill>
              <a:prstDash val="solid"/>
              <a:headEnd type="none" w="med" len="med"/>
              <a:tailEnd type="none" w="med" len="med"/>
            </a:ln>
          </p:spPr>
        </p:sp>
        <p:sp>
          <p:nvSpPr>
            <p:cNvPr id="20509" name="Line 135"/>
            <p:cNvSpPr/>
            <p:nvPr/>
          </p:nvSpPr>
          <p:spPr>
            <a:xfrm>
              <a:off x="1587" y="3003"/>
              <a:ext cx="0" cy="75"/>
            </a:xfrm>
            <a:prstGeom prst="line">
              <a:avLst/>
            </a:prstGeom>
            <a:ln w="12700" cap="flat" cmpd="sng">
              <a:solidFill>
                <a:schemeClr val="accent2"/>
              </a:solidFill>
              <a:prstDash val="sysDot"/>
              <a:headEnd type="none" w="med" len="med"/>
              <a:tailEnd type="none" w="med" len="med"/>
            </a:ln>
          </p:spPr>
        </p:sp>
        <p:sp>
          <p:nvSpPr>
            <p:cNvPr id="20510" name="Line 136"/>
            <p:cNvSpPr/>
            <p:nvPr/>
          </p:nvSpPr>
          <p:spPr>
            <a:xfrm flipV="1">
              <a:off x="1376" y="2827"/>
              <a:ext cx="1" cy="249"/>
            </a:xfrm>
            <a:prstGeom prst="line">
              <a:avLst/>
            </a:prstGeom>
            <a:ln w="12700" cap="flat" cmpd="sng">
              <a:solidFill>
                <a:schemeClr val="accent2"/>
              </a:solidFill>
              <a:prstDash val="sysDot"/>
              <a:headEnd type="none" w="med" len="med"/>
              <a:tailEnd type="none" w="med" len="med"/>
            </a:ln>
          </p:spPr>
        </p:sp>
        <p:sp>
          <p:nvSpPr>
            <p:cNvPr id="20511" name="Line 137"/>
            <p:cNvSpPr/>
            <p:nvPr/>
          </p:nvSpPr>
          <p:spPr>
            <a:xfrm flipH="1">
              <a:off x="1376" y="3076"/>
              <a:ext cx="211" cy="0"/>
            </a:xfrm>
            <a:prstGeom prst="line">
              <a:avLst/>
            </a:prstGeom>
            <a:ln w="12700" cap="flat" cmpd="sng">
              <a:solidFill>
                <a:schemeClr val="accent2"/>
              </a:solidFill>
              <a:prstDash val="sysDot"/>
              <a:headEnd type="none" w="med" len="med"/>
              <a:tailEnd type="none" w="med" len="med"/>
            </a:ln>
          </p:spPr>
        </p:sp>
        <p:sp>
          <p:nvSpPr>
            <p:cNvPr id="20512" name="Oval 138"/>
            <p:cNvSpPr/>
            <p:nvPr/>
          </p:nvSpPr>
          <p:spPr>
            <a:xfrm>
              <a:off x="1353" y="279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0513" name="Oval 139"/>
            <p:cNvSpPr/>
            <p:nvPr/>
          </p:nvSpPr>
          <p:spPr>
            <a:xfrm>
              <a:off x="1563" y="27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401427" name="AutoShape 147"/>
          <p:cNvSpPr/>
          <p:nvPr/>
        </p:nvSpPr>
        <p:spPr>
          <a:xfrm>
            <a:off x="107950" y="4591050"/>
            <a:ext cx="935038" cy="1465263"/>
          </a:xfrm>
          <a:prstGeom prst="wedgeRoundRectCallout">
            <a:avLst>
              <a:gd name="adj1" fmla="val 102801"/>
              <a:gd name="adj2" fmla="val -6061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2000" b="1" dirty="0">
              <a:solidFill>
                <a:srgbClr val="333399"/>
              </a:solidFill>
              <a:latin typeface="Times New Roman" panose="02020603050405020304" pitchFamily="18" charset="0"/>
            </a:endParaRPr>
          </a:p>
        </p:txBody>
      </p:sp>
      <p:sp>
        <p:nvSpPr>
          <p:cNvPr id="2401428" name="Rectangle 148"/>
          <p:cNvSpPr/>
          <p:nvPr/>
        </p:nvSpPr>
        <p:spPr>
          <a:xfrm>
            <a:off x="107950" y="4591050"/>
            <a:ext cx="1066800" cy="1465263"/>
          </a:xfrm>
          <a:prstGeom prst="rect">
            <a:avLst/>
          </a:prstGeom>
          <a:noFill/>
          <a:ln w="9525">
            <a:noFill/>
          </a:ln>
        </p:spPr>
        <p:txBody>
          <a:bodyPr>
            <a:spAutoFit/>
          </a:bodyPr>
          <a:p>
            <a:pPr eaLnBrk="1" hangingPunct="1">
              <a:lnSpc>
                <a:spcPct val="90000"/>
              </a:lnSpc>
            </a:pPr>
            <a:r>
              <a:rPr lang="zh-CN" altLang="en-US" sz="2000" b="1" dirty="0">
                <a:solidFill>
                  <a:schemeClr val="tx1"/>
                </a:solidFill>
                <a:latin typeface="Times New Roman" panose="02020603050405020304" pitchFamily="18" charset="0"/>
              </a:rPr>
              <a:t>输入信号的共模分量传给屏蔽体</a:t>
            </a:r>
            <a:endParaRPr lang="zh-CN" altLang="en-US" sz="2000" b="1" dirty="0">
              <a:solidFill>
                <a:schemeClr val="tx1"/>
              </a:solidFill>
              <a:latin typeface="Times New Roman" panose="02020603050405020304" pitchFamily="18" charset="0"/>
            </a:endParaRPr>
          </a:p>
        </p:txBody>
      </p:sp>
      <p:sp>
        <p:nvSpPr>
          <p:cNvPr id="20495" name="Text Box 2"/>
          <p:cNvSpPr txBox="1"/>
          <p:nvPr/>
        </p:nvSpPr>
        <p:spPr>
          <a:xfrm>
            <a:off x="395288" y="827088"/>
            <a:ext cx="3524250" cy="5302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3200" b="1" dirty="0">
                <a:solidFill>
                  <a:srgbClr val="333399"/>
                </a:solidFill>
                <a:latin typeface="Times New Roman" panose="02020603050405020304" pitchFamily="18" charset="0"/>
              </a:rPr>
              <a:t>2. </a:t>
            </a:r>
            <a:r>
              <a:rPr lang="zh-CN" altLang="en-US" sz="3200" b="1" dirty="0">
                <a:solidFill>
                  <a:srgbClr val="333399"/>
                </a:solidFill>
                <a:latin typeface="Times New Roman" panose="02020603050405020304" pitchFamily="18" charset="0"/>
              </a:rPr>
              <a:t>抗共模干扰能力</a:t>
            </a:r>
            <a:endParaRPr lang="zh-CN" altLang="en-US" sz="32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1381"/>
                                        </p:tgtEl>
                                        <p:attrNameLst>
                                          <p:attrName>style.visibility</p:attrName>
                                        </p:attrNameLst>
                                      </p:cBhvr>
                                      <p:to>
                                        <p:strVal val="visible"/>
                                      </p:to>
                                    </p:set>
                                    <p:animEffect transition="in" filter="dissolve">
                                      <p:cBhvr>
                                        <p:cTn id="7" dur="500"/>
                                        <p:tgtEl>
                                          <p:spTgt spid="24013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01428"/>
                                        </p:tgtEl>
                                        <p:attrNameLst>
                                          <p:attrName>style.visibility</p:attrName>
                                        </p:attrNameLst>
                                      </p:cBhvr>
                                      <p:to>
                                        <p:strVal val="visible"/>
                                      </p:to>
                                    </p:set>
                                    <p:animEffect transition="in" filter="dissolve">
                                      <p:cBhvr>
                                        <p:cTn id="17" dur="500"/>
                                        <p:tgtEl>
                                          <p:spTgt spid="2401428"/>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401427"/>
                                        </p:tgtEl>
                                        <p:attrNameLst>
                                          <p:attrName>style.visibility</p:attrName>
                                        </p:attrNameLst>
                                      </p:cBhvr>
                                      <p:to>
                                        <p:strVal val="visible"/>
                                      </p:to>
                                    </p:set>
                                    <p:animEffect transition="in" filter="dissolve">
                                      <p:cBhvr>
                                        <p:cTn id="20" dur="500"/>
                                        <p:tgtEl>
                                          <p:spTgt spid="240142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1381" grpId="0" bldLvl="0" animBg="1"/>
      <p:bldP spid="2401427" grpId="0" bldLvl="0" animBg="1"/>
      <p:bldP spid="2401428"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1506" name="Rectangle 2"/>
          <p:cNvSpPr/>
          <p:nvPr/>
        </p:nvSpPr>
        <p:spPr>
          <a:xfrm>
            <a:off x="250825" y="2349500"/>
            <a:ext cx="8618538" cy="3708400"/>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21507" name="Group 3"/>
          <p:cNvGrpSpPr/>
          <p:nvPr/>
        </p:nvGrpSpPr>
        <p:grpSpPr>
          <a:xfrm>
            <a:off x="1296988" y="3111500"/>
            <a:ext cx="2825750" cy="2840038"/>
            <a:chOff x="968" y="1959"/>
            <a:chExt cx="1780" cy="1789"/>
          </a:xfrm>
        </p:grpSpPr>
        <p:sp>
          <p:nvSpPr>
            <p:cNvPr id="21610" name="Line 4"/>
            <p:cNvSpPr/>
            <p:nvPr/>
          </p:nvSpPr>
          <p:spPr>
            <a:xfrm flipH="1" flipV="1">
              <a:off x="2461" y="2042"/>
              <a:ext cx="264" cy="0"/>
            </a:xfrm>
            <a:prstGeom prst="line">
              <a:avLst/>
            </a:prstGeom>
            <a:ln w="12700" cap="flat" cmpd="sng">
              <a:solidFill>
                <a:srgbClr val="00FF00"/>
              </a:solidFill>
              <a:prstDash val="solid"/>
              <a:headEnd type="none" w="med" len="med"/>
              <a:tailEnd type="none" w="med" len="med"/>
            </a:ln>
          </p:spPr>
        </p:sp>
        <p:sp>
          <p:nvSpPr>
            <p:cNvPr id="21611" name="Line 5"/>
            <p:cNvSpPr/>
            <p:nvPr/>
          </p:nvSpPr>
          <p:spPr>
            <a:xfrm>
              <a:off x="2461" y="2041"/>
              <a:ext cx="0" cy="894"/>
            </a:xfrm>
            <a:prstGeom prst="line">
              <a:avLst/>
            </a:prstGeom>
            <a:ln w="12700" cap="flat" cmpd="sng">
              <a:solidFill>
                <a:srgbClr val="00FF00"/>
              </a:solidFill>
              <a:prstDash val="solid"/>
              <a:headEnd type="none" w="med" len="med"/>
              <a:tailEnd type="none" w="med" len="med"/>
            </a:ln>
          </p:spPr>
        </p:sp>
        <p:sp>
          <p:nvSpPr>
            <p:cNvPr id="21612" name="Rectangle 6"/>
            <p:cNvSpPr/>
            <p:nvPr/>
          </p:nvSpPr>
          <p:spPr>
            <a:xfrm rot="-5400000">
              <a:off x="2369" y="2654"/>
              <a:ext cx="184" cy="58"/>
            </a:xfrm>
            <a:prstGeom prst="rect">
              <a:avLst/>
            </a:prstGeom>
            <a:solidFill>
              <a:srgbClr val="FF9900"/>
            </a:solidFill>
            <a:ln w="19050" cap="flat" cmpd="sng">
              <a:solidFill>
                <a:srgbClr val="CC00CC"/>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3" name="Rectangle 7"/>
            <p:cNvSpPr/>
            <p:nvPr/>
          </p:nvSpPr>
          <p:spPr>
            <a:xfrm rot="-5400000">
              <a:off x="2369" y="2268"/>
              <a:ext cx="184" cy="58"/>
            </a:xfrm>
            <a:prstGeom prst="rect">
              <a:avLst/>
            </a:prstGeom>
            <a:solidFill>
              <a:srgbClr val="FF9900"/>
            </a:solidFill>
            <a:ln w="19050" cap="flat" cmpd="sng">
              <a:solidFill>
                <a:srgbClr val="CC00CC"/>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4" name="Oval 8"/>
            <p:cNvSpPr/>
            <p:nvPr/>
          </p:nvSpPr>
          <p:spPr>
            <a:xfrm>
              <a:off x="2701" y="201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5" name="Oval 9"/>
            <p:cNvSpPr/>
            <p:nvPr/>
          </p:nvSpPr>
          <p:spPr>
            <a:xfrm>
              <a:off x="2699" y="2911"/>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6" name="Oval 10"/>
            <p:cNvSpPr/>
            <p:nvPr/>
          </p:nvSpPr>
          <p:spPr>
            <a:xfrm>
              <a:off x="2437" y="2467"/>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7" name="Line 11"/>
            <p:cNvSpPr/>
            <p:nvPr/>
          </p:nvSpPr>
          <p:spPr>
            <a:xfrm>
              <a:off x="2109" y="2492"/>
              <a:ext cx="352" cy="0"/>
            </a:xfrm>
            <a:prstGeom prst="line">
              <a:avLst/>
            </a:prstGeom>
            <a:ln w="12700" cap="flat" cmpd="sng">
              <a:solidFill>
                <a:srgbClr val="00FF00"/>
              </a:solidFill>
              <a:prstDash val="solid"/>
              <a:headEnd type="none" w="med" len="med"/>
              <a:tailEnd type="none" w="med" len="med"/>
            </a:ln>
          </p:spPr>
        </p:sp>
        <p:sp>
          <p:nvSpPr>
            <p:cNvPr id="21618" name="AutoShape 12"/>
            <p:cNvSpPr/>
            <p:nvPr/>
          </p:nvSpPr>
          <p:spPr>
            <a:xfrm rot="-5400000">
              <a:off x="1464" y="3055"/>
              <a:ext cx="550" cy="484"/>
            </a:xfrm>
            <a:prstGeom prst="triangle">
              <a:avLst>
                <a:gd name="adj" fmla="val 50000"/>
              </a:avLst>
            </a:prstGeom>
            <a:solidFill>
              <a:srgbClr val="FF9900"/>
            </a:solidFill>
            <a:ln w="19050" cap="flat" cmpd="sng">
              <a:solidFill>
                <a:srgbClr val="CC00CC"/>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19" name="Text Box 13"/>
            <p:cNvSpPr txBox="1"/>
            <p:nvPr/>
          </p:nvSpPr>
          <p:spPr>
            <a:xfrm rot="10800000">
              <a:off x="1819" y="3067"/>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21620" name="Text Box 14"/>
            <p:cNvSpPr txBox="1"/>
            <p:nvPr/>
          </p:nvSpPr>
          <p:spPr>
            <a:xfrm>
              <a:off x="1634" y="3201"/>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4</a:t>
              </a:r>
              <a:endParaRPr lang="en-US" altLang="zh-CN" sz="1400" b="1" baseline="-25000" dirty="0">
                <a:solidFill>
                  <a:srgbClr val="333399"/>
                </a:solidFill>
                <a:latin typeface="Times New Roman" panose="02020603050405020304" pitchFamily="18" charset="0"/>
              </a:endParaRPr>
            </a:p>
          </p:txBody>
        </p:sp>
        <p:sp>
          <p:nvSpPr>
            <p:cNvPr id="21621" name="Line 15"/>
            <p:cNvSpPr/>
            <p:nvPr/>
          </p:nvSpPr>
          <p:spPr>
            <a:xfrm>
              <a:off x="2109" y="2494"/>
              <a:ext cx="0" cy="664"/>
            </a:xfrm>
            <a:prstGeom prst="line">
              <a:avLst/>
            </a:prstGeom>
            <a:ln w="12700" cap="flat" cmpd="sng">
              <a:solidFill>
                <a:srgbClr val="00FF00"/>
              </a:solidFill>
              <a:prstDash val="solid"/>
              <a:headEnd type="none" w="med" len="med"/>
              <a:tailEnd type="none" w="med" len="med"/>
            </a:ln>
          </p:spPr>
        </p:sp>
        <p:sp>
          <p:nvSpPr>
            <p:cNvPr id="21622" name="Line 16"/>
            <p:cNvSpPr/>
            <p:nvPr/>
          </p:nvSpPr>
          <p:spPr>
            <a:xfrm>
              <a:off x="1981" y="3158"/>
              <a:ext cx="128" cy="0"/>
            </a:xfrm>
            <a:prstGeom prst="line">
              <a:avLst/>
            </a:prstGeom>
            <a:ln w="12700" cap="flat" cmpd="sng">
              <a:solidFill>
                <a:srgbClr val="00FF00"/>
              </a:solidFill>
              <a:prstDash val="solid"/>
              <a:headEnd type="none" w="med" len="med"/>
              <a:tailEnd type="none" w="med" len="med"/>
            </a:ln>
          </p:spPr>
        </p:sp>
        <p:sp>
          <p:nvSpPr>
            <p:cNvPr id="21623" name="Line 17"/>
            <p:cNvSpPr/>
            <p:nvPr/>
          </p:nvSpPr>
          <p:spPr>
            <a:xfrm>
              <a:off x="1981" y="3445"/>
              <a:ext cx="128" cy="0"/>
            </a:xfrm>
            <a:prstGeom prst="line">
              <a:avLst/>
            </a:prstGeom>
            <a:ln w="12700" cap="flat" cmpd="sng">
              <a:solidFill>
                <a:srgbClr val="00FF00"/>
              </a:solidFill>
              <a:prstDash val="solid"/>
              <a:headEnd type="none" w="med" len="med"/>
              <a:tailEnd type="none" w="med" len="med"/>
            </a:ln>
          </p:spPr>
        </p:sp>
        <p:sp>
          <p:nvSpPr>
            <p:cNvPr id="21624" name="Line 18"/>
            <p:cNvSpPr/>
            <p:nvPr/>
          </p:nvSpPr>
          <p:spPr>
            <a:xfrm>
              <a:off x="2109" y="3445"/>
              <a:ext cx="0" cy="235"/>
            </a:xfrm>
            <a:prstGeom prst="line">
              <a:avLst/>
            </a:prstGeom>
            <a:ln w="12700" cap="flat" cmpd="sng">
              <a:solidFill>
                <a:srgbClr val="00FF00"/>
              </a:solidFill>
              <a:prstDash val="solid"/>
              <a:headEnd type="none" w="med" len="med"/>
              <a:tailEnd type="none" w="med" len="med"/>
            </a:ln>
          </p:spPr>
        </p:sp>
        <p:sp>
          <p:nvSpPr>
            <p:cNvPr id="21625" name="Line 19"/>
            <p:cNvSpPr/>
            <p:nvPr/>
          </p:nvSpPr>
          <p:spPr>
            <a:xfrm>
              <a:off x="1376" y="3680"/>
              <a:ext cx="733" cy="0"/>
            </a:xfrm>
            <a:prstGeom prst="line">
              <a:avLst/>
            </a:prstGeom>
            <a:ln w="12700" cap="flat" cmpd="sng">
              <a:solidFill>
                <a:srgbClr val="00FF00"/>
              </a:solidFill>
              <a:prstDash val="solid"/>
              <a:headEnd type="none" w="med" len="med"/>
              <a:tailEnd type="none" w="med" len="med"/>
            </a:ln>
          </p:spPr>
        </p:sp>
        <p:sp>
          <p:nvSpPr>
            <p:cNvPr id="21626" name="Line 20"/>
            <p:cNvSpPr/>
            <p:nvPr/>
          </p:nvSpPr>
          <p:spPr>
            <a:xfrm>
              <a:off x="1247" y="3298"/>
              <a:ext cx="250" cy="0"/>
            </a:xfrm>
            <a:prstGeom prst="line">
              <a:avLst/>
            </a:prstGeom>
            <a:ln w="12700" cap="flat" cmpd="sng">
              <a:solidFill>
                <a:srgbClr val="00FF00"/>
              </a:solidFill>
              <a:prstDash val="solid"/>
              <a:headEnd type="none" w="med" len="med"/>
              <a:tailEnd type="none" w="med" len="med"/>
            </a:ln>
          </p:spPr>
        </p:sp>
        <p:sp>
          <p:nvSpPr>
            <p:cNvPr id="21627" name="Line 21"/>
            <p:cNvSpPr/>
            <p:nvPr/>
          </p:nvSpPr>
          <p:spPr>
            <a:xfrm>
              <a:off x="1376" y="3298"/>
              <a:ext cx="3" cy="382"/>
            </a:xfrm>
            <a:prstGeom prst="line">
              <a:avLst/>
            </a:prstGeom>
            <a:ln w="12700" cap="flat" cmpd="sng">
              <a:solidFill>
                <a:srgbClr val="00FF00"/>
              </a:solidFill>
              <a:prstDash val="solid"/>
              <a:headEnd type="none" w="med" len="med"/>
              <a:tailEnd type="none" w="med" len="med"/>
            </a:ln>
          </p:spPr>
        </p:sp>
        <p:sp>
          <p:nvSpPr>
            <p:cNvPr id="21628" name="Line 22"/>
            <p:cNvSpPr/>
            <p:nvPr/>
          </p:nvSpPr>
          <p:spPr>
            <a:xfrm>
              <a:off x="1247" y="2824"/>
              <a:ext cx="0" cy="475"/>
            </a:xfrm>
            <a:prstGeom prst="line">
              <a:avLst/>
            </a:prstGeom>
            <a:ln w="12700" cap="flat" cmpd="sng">
              <a:solidFill>
                <a:srgbClr val="00FF00"/>
              </a:solidFill>
              <a:prstDash val="solid"/>
              <a:headEnd type="none" w="med" len="med"/>
              <a:tailEnd type="none" w="med" len="med"/>
            </a:ln>
          </p:spPr>
        </p:sp>
        <p:sp>
          <p:nvSpPr>
            <p:cNvPr id="21629" name="Line 23"/>
            <p:cNvSpPr/>
            <p:nvPr/>
          </p:nvSpPr>
          <p:spPr>
            <a:xfrm>
              <a:off x="2461" y="2935"/>
              <a:ext cx="264" cy="0"/>
            </a:xfrm>
            <a:prstGeom prst="line">
              <a:avLst/>
            </a:prstGeom>
            <a:ln w="12700" cap="flat" cmpd="sng">
              <a:solidFill>
                <a:srgbClr val="00FF00"/>
              </a:solidFill>
              <a:prstDash val="solid"/>
              <a:headEnd type="none" w="med" len="med"/>
              <a:tailEnd type="none" w="med" len="med"/>
            </a:ln>
          </p:spPr>
        </p:sp>
        <p:sp>
          <p:nvSpPr>
            <p:cNvPr id="21630" name="Oval 24"/>
            <p:cNvSpPr/>
            <p:nvPr/>
          </p:nvSpPr>
          <p:spPr>
            <a:xfrm>
              <a:off x="968" y="2159"/>
              <a:ext cx="124" cy="665"/>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1" name="Line 25"/>
            <p:cNvSpPr/>
            <p:nvPr/>
          </p:nvSpPr>
          <p:spPr>
            <a:xfrm>
              <a:off x="1035" y="2159"/>
              <a:ext cx="946" cy="0"/>
            </a:xfrm>
            <a:prstGeom prst="line">
              <a:avLst/>
            </a:prstGeom>
            <a:ln w="19050" cap="flat" cmpd="sng">
              <a:solidFill>
                <a:srgbClr val="CC00CC"/>
              </a:solidFill>
              <a:prstDash val="solid"/>
              <a:headEnd type="none" w="med" len="med"/>
              <a:tailEnd type="none" w="med" len="med"/>
            </a:ln>
          </p:spPr>
        </p:sp>
        <p:sp>
          <p:nvSpPr>
            <p:cNvPr id="21632" name="Line 26"/>
            <p:cNvSpPr/>
            <p:nvPr/>
          </p:nvSpPr>
          <p:spPr>
            <a:xfrm>
              <a:off x="1018" y="2821"/>
              <a:ext cx="963" cy="0"/>
            </a:xfrm>
            <a:prstGeom prst="line">
              <a:avLst/>
            </a:prstGeom>
            <a:ln w="19050" cap="flat" cmpd="sng">
              <a:solidFill>
                <a:srgbClr val="CC00CC"/>
              </a:solidFill>
              <a:prstDash val="solid"/>
              <a:headEnd type="none" w="med" len="med"/>
              <a:tailEnd type="none" w="med" len="med"/>
            </a:ln>
          </p:spPr>
        </p:sp>
        <p:sp>
          <p:nvSpPr>
            <p:cNvPr id="21633" name="Oval 27"/>
            <p:cNvSpPr/>
            <p:nvPr/>
          </p:nvSpPr>
          <p:spPr>
            <a:xfrm>
              <a:off x="1917" y="2161"/>
              <a:ext cx="124" cy="660"/>
            </a:xfrm>
            <a:prstGeom prst="ellipse">
              <a:avLst/>
            </a:prstGeom>
            <a:noFill/>
            <a:ln w="19050" cap="flat" cmpd="sng">
              <a:solidFill>
                <a:srgbClr val="CC00CC"/>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4" name="Rectangle 28"/>
            <p:cNvSpPr/>
            <p:nvPr/>
          </p:nvSpPr>
          <p:spPr>
            <a:xfrm>
              <a:off x="1889" y="2167"/>
              <a:ext cx="92" cy="648"/>
            </a:xfrm>
            <a:prstGeom prst="rect">
              <a:avLst/>
            </a:prstGeom>
            <a:solidFill>
              <a:srgbClr val="FFFF99"/>
            </a:solidFill>
            <a:ln w="9525">
              <a:noFill/>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5" name="Oval 29"/>
            <p:cNvSpPr/>
            <p:nvPr/>
          </p:nvSpPr>
          <p:spPr>
            <a:xfrm>
              <a:off x="1355" y="3275"/>
              <a:ext cx="47" cy="48"/>
            </a:xfrm>
            <a:prstGeom prst="ellipse">
              <a:avLst/>
            </a:prstGeom>
            <a:solidFill>
              <a:srgbClr val="00FF00"/>
            </a:solidFill>
            <a:ln w="9525"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6" name="Oval 30"/>
            <p:cNvSpPr/>
            <p:nvPr/>
          </p:nvSpPr>
          <p:spPr>
            <a:xfrm>
              <a:off x="1223" y="2800"/>
              <a:ext cx="47" cy="48"/>
            </a:xfrm>
            <a:prstGeom prst="ellipse">
              <a:avLst/>
            </a:prstGeom>
            <a:solidFill>
              <a:srgbClr val="00FF00"/>
            </a:solidFill>
            <a:ln w="9525" cap="flat" cmpd="sng">
              <a:solidFill>
                <a:srgbClr val="00FF00"/>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7" name="Rectangle 31"/>
            <p:cNvSpPr/>
            <p:nvPr/>
          </p:nvSpPr>
          <p:spPr>
            <a:xfrm>
              <a:off x="1018" y="1959"/>
              <a:ext cx="1573" cy="1789"/>
            </a:xfrm>
            <a:prstGeom prst="rect">
              <a:avLst/>
            </a:prstGeom>
            <a:noFill/>
            <a:ln w="12700" cap="flat" cmpd="sng">
              <a:solidFill>
                <a:srgbClr val="FF0000"/>
              </a:solidFill>
              <a:prstDash val="lgDash"/>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38" name="Text Box 32"/>
            <p:cNvSpPr txBox="1"/>
            <p:nvPr/>
          </p:nvSpPr>
          <p:spPr>
            <a:xfrm>
              <a:off x="2222" y="2030"/>
              <a:ext cx="361"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baseline="-25000" dirty="0">
                  <a:solidFill>
                    <a:srgbClr val="FF0000"/>
                  </a:solidFill>
                  <a:latin typeface="Times New Roman" panose="02020603050405020304" pitchFamily="18" charset="0"/>
                </a:rPr>
                <a:t>1</a:t>
              </a:r>
              <a:r>
                <a:rPr lang="en-US" altLang="zh-CN" sz="1600" b="1" baseline="30000" dirty="0">
                  <a:solidFill>
                    <a:srgbClr val="FF0000"/>
                  </a:solidFill>
                  <a:latin typeface="Times New Roman" panose="02020603050405020304" pitchFamily="18" charset="0"/>
                </a:rPr>
                <a:t>’</a:t>
              </a:r>
              <a:endParaRPr lang="en-US" altLang="zh-CN" sz="1600" b="1" baseline="30000" dirty="0">
                <a:solidFill>
                  <a:srgbClr val="FF0000"/>
                </a:solidFill>
                <a:latin typeface="Times New Roman" panose="02020603050405020304" pitchFamily="18" charset="0"/>
              </a:endParaRPr>
            </a:p>
          </p:txBody>
        </p:sp>
        <p:sp>
          <p:nvSpPr>
            <p:cNvPr id="21639" name="Text Box 33"/>
            <p:cNvSpPr txBox="1"/>
            <p:nvPr/>
          </p:nvSpPr>
          <p:spPr>
            <a:xfrm>
              <a:off x="2201" y="2507"/>
              <a:ext cx="361"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baseline="-25000" dirty="0">
                  <a:solidFill>
                    <a:srgbClr val="FF0000"/>
                  </a:solidFill>
                  <a:latin typeface="Times New Roman" panose="02020603050405020304" pitchFamily="18" charset="0"/>
                </a:rPr>
                <a:t>2</a:t>
              </a:r>
              <a:r>
                <a:rPr lang="en-US" altLang="zh-CN" sz="1600" b="1" baseline="30000" dirty="0">
                  <a:solidFill>
                    <a:srgbClr val="FF0000"/>
                  </a:solidFill>
                  <a:latin typeface="Times New Roman" panose="02020603050405020304" pitchFamily="18" charset="0"/>
                </a:rPr>
                <a:t>’</a:t>
              </a:r>
              <a:endParaRPr lang="en-US" altLang="zh-CN" sz="1600" b="1" baseline="30000" dirty="0">
                <a:solidFill>
                  <a:srgbClr val="FF0000"/>
                </a:solidFill>
                <a:latin typeface="Times New Roman" panose="02020603050405020304" pitchFamily="18" charset="0"/>
              </a:endParaRPr>
            </a:p>
          </p:txBody>
        </p:sp>
      </p:grpSp>
      <p:sp>
        <p:nvSpPr>
          <p:cNvPr id="2402339" name="Text Box 35"/>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1509" name="Text Box 36"/>
          <p:cNvSpPr txBox="1"/>
          <p:nvPr/>
        </p:nvSpPr>
        <p:spPr>
          <a:xfrm>
            <a:off x="323850" y="1557338"/>
            <a:ext cx="3789363" cy="519112"/>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sz="2800" b="1" dirty="0">
                <a:solidFill>
                  <a:schemeClr val="tx1"/>
                </a:solidFill>
                <a:latin typeface="Times New Roman" panose="02020603050405020304" pitchFamily="18" charset="0"/>
                <a:ea typeface="黑体" panose="02010609060101010101" pitchFamily="49" charset="-122"/>
              </a:rPr>
              <a:t> </a:t>
            </a:r>
            <a:r>
              <a:rPr lang="zh-CN" altLang="en-US" sz="2800" b="1" dirty="0">
                <a:solidFill>
                  <a:schemeClr val="tx1"/>
                </a:solidFill>
                <a:latin typeface="Times New Roman" panose="02020603050405020304" pitchFamily="18" charset="0"/>
                <a:ea typeface="黑体" panose="02010609060101010101" pitchFamily="49" charset="-122"/>
              </a:rPr>
              <a:t>对交流共模信号：</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1510" name="Text Box 37"/>
          <p:cNvSpPr txBox="1"/>
          <p:nvPr/>
        </p:nvSpPr>
        <p:spPr>
          <a:xfrm>
            <a:off x="839788" y="3151188"/>
            <a:ext cx="496887" cy="31273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21511" name="Text Box 38"/>
          <p:cNvSpPr txBox="1"/>
          <p:nvPr/>
        </p:nvSpPr>
        <p:spPr>
          <a:xfrm>
            <a:off x="839788" y="4014788"/>
            <a:ext cx="496887" cy="31273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R</a:t>
            </a:r>
            <a:r>
              <a:rPr lang="en-US" altLang="zh-CN" sz="1600" b="1" i="1" baseline="-25000" dirty="0">
                <a:solidFill>
                  <a:srgbClr val="FF0000"/>
                </a:solidFill>
                <a:latin typeface="Times New Roman" panose="02020603050405020304" pitchFamily="18" charset="0"/>
              </a:rPr>
              <a:t>i</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grpSp>
        <p:nvGrpSpPr>
          <p:cNvPr id="21512" name="Group 40"/>
          <p:cNvGrpSpPr/>
          <p:nvPr/>
        </p:nvGrpSpPr>
        <p:grpSpPr>
          <a:xfrm>
            <a:off x="263525" y="2543175"/>
            <a:ext cx="8618538" cy="3516313"/>
            <a:chOff x="317" y="1601"/>
            <a:chExt cx="5429" cy="2215"/>
          </a:xfrm>
        </p:grpSpPr>
        <p:sp>
          <p:nvSpPr>
            <p:cNvPr id="21536" name="Line 41"/>
            <p:cNvSpPr/>
            <p:nvPr/>
          </p:nvSpPr>
          <p:spPr>
            <a:xfrm>
              <a:off x="4925" y="2334"/>
              <a:ext cx="485" cy="0"/>
            </a:xfrm>
            <a:prstGeom prst="line">
              <a:avLst/>
            </a:prstGeom>
            <a:ln w="12700" cap="flat" cmpd="sng">
              <a:solidFill>
                <a:schemeClr val="accent2"/>
              </a:solidFill>
              <a:prstDash val="solid"/>
              <a:headEnd type="none" w="med" len="med"/>
              <a:tailEnd type="none" w="med" len="med"/>
            </a:ln>
          </p:spPr>
        </p:sp>
        <p:sp>
          <p:nvSpPr>
            <p:cNvPr id="21537" name="Oval 42"/>
            <p:cNvSpPr/>
            <p:nvPr/>
          </p:nvSpPr>
          <p:spPr>
            <a:xfrm>
              <a:off x="592" y="2194"/>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38" name="Text Box 43"/>
            <p:cNvSpPr txBox="1"/>
            <p:nvPr/>
          </p:nvSpPr>
          <p:spPr>
            <a:xfrm>
              <a:off x="317" y="2101"/>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21539" name="Text Box 44"/>
            <p:cNvSpPr txBox="1"/>
            <p:nvPr/>
          </p:nvSpPr>
          <p:spPr>
            <a:xfrm>
              <a:off x="317" y="2638"/>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i="1" baseline="-25000" dirty="0">
                  <a:solidFill>
                    <a:srgbClr val="FF0000"/>
                  </a:solidFill>
                  <a:latin typeface="Times New Roman" panose="02020603050405020304" pitchFamily="18" charset="0"/>
                </a:rPr>
                <a:t>i</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21540" name="Oval 45"/>
            <p:cNvSpPr/>
            <p:nvPr/>
          </p:nvSpPr>
          <p:spPr>
            <a:xfrm>
              <a:off x="591" y="2741"/>
              <a:ext cx="47" cy="48"/>
            </a:xfrm>
            <a:prstGeom prst="ellipse">
              <a:avLst/>
            </a:prstGeom>
            <a:no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41" name="AutoShape 46"/>
            <p:cNvSpPr/>
            <p:nvPr/>
          </p:nvSpPr>
          <p:spPr>
            <a:xfrm rot="5400000">
              <a:off x="2992" y="1634"/>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42" name="Text Box 47"/>
            <p:cNvSpPr txBox="1"/>
            <p:nvPr/>
          </p:nvSpPr>
          <p:spPr>
            <a:xfrm>
              <a:off x="3000" y="1626"/>
              <a:ext cx="189" cy="509"/>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1600" b="1" dirty="0">
                <a:solidFill>
                  <a:srgbClr val="333399"/>
                </a:solidFill>
                <a:latin typeface="Times New Roman" panose="02020603050405020304" pitchFamily="18" charset="0"/>
              </a:endParaRPr>
            </a:p>
            <a:p>
              <a:pPr eaLnBrk="1" hangingPunct="1">
                <a:lnSpc>
                  <a:spcPct val="90000"/>
                </a:lnSpc>
              </a:pPr>
              <a:r>
                <a:rPr lang="en-US" altLang="zh-CN" sz="2000" b="1" dirty="0">
                  <a:solidFill>
                    <a:srgbClr val="333399"/>
                  </a:solidFill>
                  <a:latin typeface="Times New Roman" panose="02020603050405020304" pitchFamily="18" charset="0"/>
                </a:rPr>
                <a:t>-</a:t>
              </a:r>
              <a:endParaRPr lang="en-US" altLang="zh-CN" sz="2000" b="1" dirty="0">
                <a:solidFill>
                  <a:srgbClr val="333399"/>
                </a:solidFill>
                <a:latin typeface="Times New Roman" panose="02020603050405020304" pitchFamily="18" charset="0"/>
              </a:endParaRPr>
            </a:p>
          </p:txBody>
        </p:sp>
        <p:sp>
          <p:nvSpPr>
            <p:cNvPr id="21543" name="Text Box 48"/>
            <p:cNvSpPr txBox="1"/>
            <p:nvPr/>
          </p:nvSpPr>
          <p:spPr>
            <a:xfrm>
              <a:off x="3098" y="1780"/>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1</a:t>
              </a:r>
              <a:endParaRPr lang="en-US" altLang="zh-CN" sz="1400" b="1" baseline="-25000" dirty="0">
                <a:solidFill>
                  <a:srgbClr val="333399"/>
                </a:solidFill>
                <a:latin typeface="Times New Roman" panose="02020603050405020304" pitchFamily="18" charset="0"/>
              </a:endParaRPr>
            </a:p>
          </p:txBody>
        </p:sp>
        <p:sp>
          <p:nvSpPr>
            <p:cNvPr id="21544" name="AutoShape 49"/>
            <p:cNvSpPr/>
            <p:nvPr/>
          </p:nvSpPr>
          <p:spPr>
            <a:xfrm rot="5400000">
              <a:off x="2988" y="2857"/>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45" name="Text Box 50"/>
            <p:cNvSpPr txBox="1"/>
            <p:nvPr/>
          </p:nvSpPr>
          <p:spPr>
            <a:xfrm>
              <a:off x="2996" y="2849"/>
              <a:ext cx="189" cy="491"/>
            </a:xfrm>
            <a:prstGeom prst="rect">
              <a:avLst/>
            </a:prstGeom>
            <a:noFill/>
            <a:ln w="9525">
              <a:noFill/>
            </a:ln>
          </p:spPr>
          <p:txBody>
            <a:bodyPr wrap="none">
              <a:spAutoFit/>
            </a:bodyPr>
            <a:p>
              <a:pPr eaLnBrk="1" hangingPunct="1">
                <a:lnSpc>
                  <a:spcPct val="90000"/>
                </a:lnSpc>
              </a:pPr>
              <a:r>
                <a:rPr lang="en-US" altLang="zh-CN" sz="800" b="1" dirty="0">
                  <a:solidFill>
                    <a:srgbClr val="333399"/>
                  </a:solidFill>
                  <a:latin typeface="Times New Roman" panose="02020603050405020304" pitchFamily="18" charset="0"/>
                </a:rPr>
                <a:t> </a:t>
              </a: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a:p>
              <a:pPr eaLnBrk="1" hangingPunct="1">
                <a:lnSpc>
                  <a:spcPct val="90000"/>
                </a:lnSpc>
              </a:pPr>
              <a:endParaRPr lang="en-US" altLang="zh-CN" sz="8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600" b="1" dirty="0">
                  <a:solidFill>
                    <a:srgbClr val="333399"/>
                  </a:solidFill>
                  <a:latin typeface="Times New Roman" panose="02020603050405020304" pitchFamily="18" charset="0"/>
                </a:rPr>
                <a:t>+</a:t>
              </a:r>
              <a:endParaRPr lang="en-US" altLang="zh-CN" sz="1600" b="1" dirty="0">
                <a:solidFill>
                  <a:srgbClr val="333399"/>
                </a:solidFill>
                <a:latin typeface="Times New Roman" panose="02020603050405020304" pitchFamily="18" charset="0"/>
              </a:endParaRPr>
            </a:p>
          </p:txBody>
        </p:sp>
        <p:sp>
          <p:nvSpPr>
            <p:cNvPr id="21546" name="Text Box 51"/>
            <p:cNvSpPr txBox="1"/>
            <p:nvPr/>
          </p:nvSpPr>
          <p:spPr>
            <a:xfrm>
              <a:off x="3094" y="3003"/>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2</a:t>
              </a:r>
              <a:endParaRPr lang="en-US" altLang="zh-CN" sz="1400" b="1" baseline="-25000" dirty="0">
                <a:solidFill>
                  <a:srgbClr val="333399"/>
                </a:solidFill>
                <a:latin typeface="Times New Roman" panose="02020603050405020304" pitchFamily="18" charset="0"/>
              </a:endParaRPr>
            </a:p>
          </p:txBody>
        </p:sp>
        <p:sp>
          <p:nvSpPr>
            <p:cNvPr id="21547" name="Line 52"/>
            <p:cNvSpPr/>
            <p:nvPr/>
          </p:nvSpPr>
          <p:spPr>
            <a:xfrm>
              <a:off x="2725" y="2041"/>
              <a:ext cx="0" cy="226"/>
            </a:xfrm>
            <a:prstGeom prst="line">
              <a:avLst/>
            </a:prstGeom>
            <a:ln w="12700" cap="flat" cmpd="sng">
              <a:solidFill>
                <a:schemeClr val="accent2"/>
              </a:solidFill>
              <a:prstDash val="solid"/>
              <a:headEnd type="none" w="med" len="med"/>
              <a:tailEnd type="none" w="med" len="med"/>
            </a:ln>
          </p:spPr>
        </p:sp>
        <p:sp>
          <p:nvSpPr>
            <p:cNvPr id="21548" name="Rectangle 53"/>
            <p:cNvSpPr/>
            <p:nvPr/>
          </p:nvSpPr>
          <p:spPr>
            <a:xfrm>
              <a:off x="2699" y="2375"/>
              <a:ext cx="56" cy="21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49" name="Text Box 54"/>
            <p:cNvSpPr txBox="1"/>
            <p:nvPr/>
          </p:nvSpPr>
          <p:spPr>
            <a:xfrm>
              <a:off x="2751" y="2394"/>
              <a:ext cx="269" cy="197"/>
            </a:xfrm>
            <a:prstGeom prst="rect">
              <a:avLst/>
            </a:prstGeom>
            <a:noFill/>
            <a:ln w="9525">
              <a:noFill/>
            </a:ln>
          </p:spPr>
          <p:txBody>
            <a:bodyPr wrap="none">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G</a:t>
              </a:r>
              <a:endParaRPr lang="en-US" altLang="zh-CN" sz="1600" b="1" baseline="-25000" dirty="0">
                <a:solidFill>
                  <a:srgbClr val="333399"/>
                </a:solidFill>
                <a:latin typeface="Times New Roman" panose="02020603050405020304" pitchFamily="18" charset="0"/>
              </a:endParaRPr>
            </a:p>
          </p:txBody>
        </p:sp>
        <p:sp>
          <p:nvSpPr>
            <p:cNvPr id="21550" name="Line 55"/>
            <p:cNvSpPr/>
            <p:nvPr/>
          </p:nvSpPr>
          <p:spPr>
            <a:xfrm>
              <a:off x="2725" y="2710"/>
              <a:ext cx="0" cy="233"/>
            </a:xfrm>
            <a:prstGeom prst="line">
              <a:avLst/>
            </a:prstGeom>
            <a:ln w="12700" cap="flat" cmpd="sng">
              <a:solidFill>
                <a:schemeClr val="accent2"/>
              </a:solidFill>
              <a:prstDash val="solid"/>
              <a:headEnd type="none" w="med" len="med"/>
              <a:tailEnd type="none" w="med" len="med"/>
            </a:ln>
          </p:spPr>
        </p:sp>
        <p:sp>
          <p:nvSpPr>
            <p:cNvPr id="21551" name="Line 56"/>
            <p:cNvSpPr/>
            <p:nvPr/>
          </p:nvSpPr>
          <p:spPr>
            <a:xfrm>
              <a:off x="2725" y="2935"/>
              <a:ext cx="292" cy="0"/>
            </a:xfrm>
            <a:prstGeom prst="line">
              <a:avLst/>
            </a:prstGeom>
            <a:ln w="12700" cap="flat" cmpd="sng">
              <a:solidFill>
                <a:schemeClr val="accent2"/>
              </a:solidFill>
              <a:prstDash val="solid"/>
              <a:headEnd type="none" w="med" len="med"/>
              <a:tailEnd type="none" w="med" len="med"/>
            </a:ln>
          </p:spPr>
        </p:sp>
        <p:sp>
          <p:nvSpPr>
            <p:cNvPr id="21552" name="Line 57"/>
            <p:cNvSpPr/>
            <p:nvPr/>
          </p:nvSpPr>
          <p:spPr>
            <a:xfrm>
              <a:off x="2725" y="2267"/>
              <a:ext cx="501" cy="0"/>
            </a:xfrm>
            <a:prstGeom prst="line">
              <a:avLst/>
            </a:prstGeom>
            <a:ln w="12700" cap="flat" cmpd="sng">
              <a:solidFill>
                <a:schemeClr val="accent2"/>
              </a:solidFill>
              <a:prstDash val="solid"/>
              <a:headEnd type="none" w="med" len="med"/>
              <a:tailEnd type="none" w="med" len="med"/>
            </a:ln>
          </p:spPr>
        </p:sp>
        <p:sp>
          <p:nvSpPr>
            <p:cNvPr id="21553" name="Rectangle 58"/>
            <p:cNvSpPr/>
            <p:nvPr/>
          </p:nvSpPr>
          <p:spPr>
            <a:xfrm>
              <a:off x="3226" y="2242"/>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54" name="Text Box 59"/>
            <p:cNvSpPr txBox="1"/>
            <p:nvPr/>
          </p:nvSpPr>
          <p:spPr>
            <a:xfrm>
              <a:off x="3201" y="202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1</a:t>
              </a:r>
              <a:endParaRPr lang="en-US" altLang="zh-CN" sz="1600" b="1" baseline="-25000" dirty="0">
                <a:solidFill>
                  <a:srgbClr val="333399"/>
                </a:solidFill>
                <a:latin typeface="Times New Roman" panose="02020603050405020304" pitchFamily="18" charset="0"/>
              </a:endParaRPr>
            </a:p>
          </p:txBody>
        </p:sp>
        <p:sp>
          <p:nvSpPr>
            <p:cNvPr id="21555" name="Line 60"/>
            <p:cNvSpPr/>
            <p:nvPr/>
          </p:nvSpPr>
          <p:spPr>
            <a:xfrm>
              <a:off x="3410" y="2267"/>
              <a:ext cx="266" cy="0"/>
            </a:xfrm>
            <a:prstGeom prst="line">
              <a:avLst/>
            </a:prstGeom>
            <a:ln w="12700" cap="flat" cmpd="sng">
              <a:solidFill>
                <a:schemeClr val="accent2"/>
              </a:solidFill>
              <a:prstDash val="solid"/>
              <a:headEnd type="none" w="med" len="med"/>
              <a:tailEnd type="none" w="med" len="med"/>
            </a:ln>
          </p:spPr>
        </p:sp>
        <p:sp>
          <p:nvSpPr>
            <p:cNvPr id="21556" name="Line 61"/>
            <p:cNvSpPr/>
            <p:nvPr/>
          </p:nvSpPr>
          <p:spPr>
            <a:xfrm flipV="1">
              <a:off x="3676" y="1883"/>
              <a:ext cx="0" cy="384"/>
            </a:xfrm>
            <a:prstGeom prst="line">
              <a:avLst/>
            </a:prstGeom>
            <a:ln w="12700" cap="flat" cmpd="sng">
              <a:solidFill>
                <a:schemeClr val="accent2"/>
              </a:solidFill>
              <a:prstDash val="solid"/>
              <a:headEnd type="none" w="med" len="med"/>
              <a:tailEnd type="none" w="med" len="med"/>
            </a:ln>
          </p:spPr>
        </p:sp>
        <p:sp>
          <p:nvSpPr>
            <p:cNvPr id="21557" name="Line 62"/>
            <p:cNvSpPr/>
            <p:nvPr/>
          </p:nvSpPr>
          <p:spPr>
            <a:xfrm>
              <a:off x="2725" y="2710"/>
              <a:ext cx="509" cy="0"/>
            </a:xfrm>
            <a:prstGeom prst="line">
              <a:avLst/>
            </a:prstGeom>
            <a:ln w="12700" cap="flat" cmpd="sng">
              <a:solidFill>
                <a:schemeClr val="accent2"/>
              </a:solidFill>
              <a:prstDash val="solid"/>
              <a:headEnd type="none" w="med" len="med"/>
              <a:tailEnd type="none" w="med" len="med"/>
            </a:ln>
          </p:spPr>
        </p:sp>
        <p:sp>
          <p:nvSpPr>
            <p:cNvPr id="21558" name="Rectangle 63"/>
            <p:cNvSpPr/>
            <p:nvPr/>
          </p:nvSpPr>
          <p:spPr>
            <a:xfrm>
              <a:off x="3230" y="268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59" name="Text Box 64"/>
            <p:cNvSpPr txBox="1"/>
            <p:nvPr/>
          </p:nvSpPr>
          <p:spPr>
            <a:xfrm>
              <a:off x="3204" y="2466"/>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2</a:t>
              </a:r>
              <a:endParaRPr lang="en-US" altLang="zh-CN" sz="1600" b="1" baseline="-25000" dirty="0">
                <a:solidFill>
                  <a:srgbClr val="333399"/>
                </a:solidFill>
                <a:latin typeface="Times New Roman" panose="02020603050405020304" pitchFamily="18" charset="0"/>
              </a:endParaRPr>
            </a:p>
          </p:txBody>
        </p:sp>
        <p:sp>
          <p:nvSpPr>
            <p:cNvPr id="21560" name="Line 65"/>
            <p:cNvSpPr/>
            <p:nvPr/>
          </p:nvSpPr>
          <p:spPr>
            <a:xfrm>
              <a:off x="3418" y="2710"/>
              <a:ext cx="258" cy="0"/>
            </a:xfrm>
            <a:prstGeom prst="line">
              <a:avLst/>
            </a:prstGeom>
            <a:ln w="12700" cap="flat" cmpd="sng">
              <a:solidFill>
                <a:schemeClr val="accent2"/>
              </a:solidFill>
              <a:prstDash val="solid"/>
              <a:headEnd type="none" w="med" len="med"/>
              <a:tailEnd type="none" w="med" len="med"/>
            </a:ln>
          </p:spPr>
        </p:sp>
        <p:sp>
          <p:nvSpPr>
            <p:cNvPr id="21561" name="Line 66"/>
            <p:cNvSpPr/>
            <p:nvPr/>
          </p:nvSpPr>
          <p:spPr>
            <a:xfrm>
              <a:off x="3676" y="2710"/>
              <a:ext cx="0" cy="392"/>
            </a:xfrm>
            <a:prstGeom prst="line">
              <a:avLst/>
            </a:prstGeom>
            <a:ln w="12700" cap="flat" cmpd="sng">
              <a:solidFill>
                <a:schemeClr val="accent2"/>
              </a:solidFill>
              <a:prstDash val="solid"/>
              <a:headEnd type="none" w="med" len="med"/>
              <a:tailEnd type="none" w="med" len="med"/>
            </a:ln>
          </p:spPr>
        </p:sp>
        <p:sp>
          <p:nvSpPr>
            <p:cNvPr id="21562" name="Line 67"/>
            <p:cNvSpPr/>
            <p:nvPr/>
          </p:nvSpPr>
          <p:spPr>
            <a:xfrm>
              <a:off x="3509" y="1883"/>
              <a:ext cx="618" cy="0"/>
            </a:xfrm>
            <a:prstGeom prst="line">
              <a:avLst/>
            </a:prstGeom>
            <a:ln w="12700" cap="flat" cmpd="sng">
              <a:solidFill>
                <a:schemeClr val="accent2"/>
              </a:solidFill>
              <a:prstDash val="solid"/>
              <a:headEnd type="none" w="med" len="med"/>
              <a:tailEnd type="none" w="med" len="med"/>
            </a:ln>
          </p:spPr>
        </p:sp>
        <p:sp>
          <p:nvSpPr>
            <p:cNvPr id="21563" name="Rectangle 68"/>
            <p:cNvSpPr/>
            <p:nvPr/>
          </p:nvSpPr>
          <p:spPr>
            <a:xfrm>
              <a:off x="3962" y="1854"/>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64" name="Text Box 69"/>
            <p:cNvSpPr txBox="1"/>
            <p:nvPr/>
          </p:nvSpPr>
          <p:spPr>
            <a:xfrm>
              <a:off x="3927" y="1632"/>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3</a:t>
              </a:r>
              <a:endParaRPr lang="en-US" altLang="zh-CN" sz="1600" b="1" baseline="-25000" dirty="0">
                <a:solidFill>
                  <a:srgbClr val="333399"/>
                </a:solidFill>
                <a:latin typeface="Times New Roman" panose="02020603050405020304" pitchFamily="18" charset="0"/>
              </a:endParaRPr>
            </a:p>
          </p:txBody>
        </p:sp>
        <p:sp>
          <p:nvSpPr>
            <p:cNvPr id="21565" name="Line 70"/>
            <p:cNvSpPr/>
            <p:nvPr/>
          </p:nvSpPr>
          <p:spPr>
            <a:xfrm>
              <a:off x="4149" y="1883"/>
              <a:ext cx="209" cy="0"/>
            </a:xfrm>
            <a:prstGeom prst="line">
              <a:avLst/>
            </a:prstGeom>
            <a:ln w="12700" cap="flat" cmpd="sng">
              <a:solidFill>
                <a:schemeClr val="accent2"/>
              </a:solidFill>
              <a:prstDash val="solid"/>
              <a:headEnd type="none" w="med" len="med"/>
              <a:tailEnd type="none" w="med" len="med"/>
            </a:ln>
          </p:spPr>
        </p:sp>
        <p:sp>
          <p:nvSpPr>
            <p:cNvPr id="21566" name="Line 71"/>
            <p:cNvSpPr/>
            <p:nvPr/>
          </p:nvSpPr>
          <p:spPr>
            <a:xfrm>
              <a:off x="4358" y="1883"/>
              <a:ext cx="0" cy="284"/>
            </a:xfrm>
            <a:prstGeom prst="line">
              <a:avLst/>
            </a:prstGeom>
            <a:ln w="12700" cap="flat" cmpd="sng">
              <a:solidFill>
                <a:schemeClr val="accent2"/>
              </a:solidFill>
              <a:prstDash val="solid"/>
              <a:headEnd type="none" w="med" len="med"/>
              <a:tailEnd type="none" w="med" len="med"/>
            </a:ln>
          </p:spPr>
        </p:sp>
        <p:sp>
          <p:nvSpPr>
            <p:cNvPr id="21567" name="AutoShape 72"/>
            <p:cNvSpPr/>
            <p:nvPr/>
          </p:nvSpPr>
          <p:spPr>
            <a:xfrm rot="5400000">
              <a:off x="4512" y="2089"/>
              <a:ext cx="550" cy="48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68" name="Text Box 73"/>
            <p:cNvSpPr txBox="1"/>
            <p:nvPr/>
          </p:nvSpPr>
          <p:spPr>
            <a:xfrm>
              <a:off x="4520" y="2039"/>
              <a:ext cx="198" cy="560"/>
            </a:xfrm>
            <a:prstGeom prst="rect">
              <a:avLst/>
            </a:prstGeom>
            <a:noFill/>
            <a:ln w="9525">
              <a:noFill/>
            </a:ln>
          </p:spPr>
          <p:txBody>
            <a:bodyPr wrap="none">
              <a:spAutoFit/>
            </a:bodyPr>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a:p>
              <a:pPr eaLnBrk="1" hangingPunct="1">
                <a:lnSpc>
                  <a:spcPct val="90000"/>
                </a:lnSpc>
              </a:pPr>
              <a:endParaRPr lang="en-US" altLang="zh-CN" sz="1200" b="1" dirty="0">
                <a:solidFill>
                  <a:srgbClr val="333399"/>
                </a:solidFill>
                <a:latin typeface="Times New Roman" panose="02020603050405020304" pitchFamily="18" charset="0"/>
              </a:endParaRPr>
            </a:p>
            <a:p>
              <a:pPr eaLnBrk="1" hangingPunct="1">
                <a:lnSpc>
                  <a:spcPct val="90000"/>
                </a:lnSpc>
              </a:pPr>
              <a:endParaRPr lang="en-US" altLang="zh-CN" sz="1000" b="1" dirty="0">
                <a:solidFill>
                  <a:srgbClr val="333399"/>
                </a:solidFill>
                <a:latin typeface="Times New Roman" panose="02020603050405020304" pitchFamily="18" charset="0"/>
              </a:endParaRPr>
            </a:p>
            <a:p>
              <a:pPr eaLnBrk="1" hangingPunct="1">
                <a:lnSpc>
                  <a:spcPct val="90000"/>
                </a:lnSpc>
              </a:pPr>
              <a:r>
                <a:rPr lang="en-US" altLang="zh-CN" sz="1800" b="1" dirty="0">
                  <a:solidFill>
                    <a:srgbClr val="333399"/>
                  </a:solidFill>
                  <a:latin typeface="Times New Roman" panose="02020603050405020304" pitchFamily="18" charset="0"/>
                </a:rPr>
                <a:t>+</a:t>
              </a:r>
              <a:endParaRPr lang="en-US" altLang="zh-CN" sz="1800" b="1" dirty="0">
                <a:solidFill>
                  <a:srgbClr val="333399"/>
                </a:solidFill>
                <a:latin typeface="Times New Roman" panose="02020603050405020304" pitchFamily="18" charset="0"/>
              </a:endParaRPr>
            </a:p>
          </p:txBody>
        </p:sp>
        <p:sp>
          <p:nvSpPr>
            <p:cNvPr id="21569" name="Text Box 74"/>
            <p:cNvSpPr txBox="1"/>
            <p:nvPr/>
          </p:nvSpPr>
          <p:spPr>
            <a:xfrm>
              <a:off x="4627" y="2227"/>
              <a:ext cx="227" cy="179"/>
            </a:xfrm>
            <a:prstGeom prst="rect">
              <a:avLst/>
            </a:prstGeom>
            <a:noFill/>
            <a:ln w="9525">
              <a:noFill/>
            </a:ln>
          </p:spPr>
          <p:txBody>
            <a:bodyPr wrap="none">
              <a:spAutoFit/>
            </a:bodyPr>
            <a:p>
              <a:pPr eaLnBrk="1" hangingPunct="1">
                <a:lnSpc>
                  <a:spcPct val="90000"/>
                </a:lnSpc>
              </a:pPr>
              <a:r>
                <a:rPr lang="en-US" altLang="zh-CN" sz="1400" b="1" i="1" dirty="0">
                  <a:solidFill>
                    <a:srgbClr val="333399"/>
                  </a:solidFill>
                  <a:latin typeface="Times New Roman" panose="02020603050405020304" pitchFamily="18" charset="0"/>
                </a:rPr>
                <a:t>A</a:t>
              </a:r>
              <a:r>
                <a:rPr lang="en-US" altLang="zh-CN" sz="1400" b="1" baseline="-25000" dirty="0">
                  <a:solidFill>
                    <a:srgbClr val="333399"/>
                  </a:solidFill>
                  <a:latin typeface="Times New Roman" panose="02020603050405020304" pitchFamily="18" charset="0"/>
                </a:rPr>
                <a:t>3</a:t>
              </a:r>
              <a:endParaRPr lang="en-US" altLang="zh-CN" sz="1400" b="1" baseline="-25000" dirty="0">
                <a:solidFill>
                  <a:srgbClr val="333399"/>
                </a:solidFill>
                <a:latin typeface="Times New Roman" panose="02020603050405020304" pitchFamily="18" charset="0"/>
              </a:endParaRPr>
            </a:p>
          </p:txBody>
        </p:sp>
        <p:sp>
          <p:nvSpPr>
            <p:cNvPr id="21570" name="Line 75"/>
            <p:cNvSpPr/>
            <p:nvPr/>
          </p:nvSpPr>
          <p:spPr>
            <a:xfrm>
              <a:off x="3502" y="3102"/>
              <a:ext cx="609" cy="0"/>
            </a:xfrm>
            <a:prstGeom prst="line">
              <a:avLst/>
            </a:prstGeom>
            <a:ln w="12700" cap="flat" cmpd="sng">
              <a:solidFill>
                <a:schemeClr val="accent2"/>
              </a:solidFill>
              <a:prstDash val="solid"/>
              <a:headEnd type="none" w="med" len="med"/>
              <a:tailEnd type="none" w="med" len="med"/>
            </a:ln>
          </p:spPr>
        </p:sp>
        <p:sp>
          <p:nvSpPr>
            <p:cNvPr id="21571" name="Rectangle 76"/>
            <p:cNvSpPr/>
            <p:nvPr/>
          </p:nvSpPr>
          <p:spPr>
            <a:xfrm>
              <a:off x="3950" y="3077"/>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72" name="Text Box 77"/>
            <p:cNvSpPr txBox="1"/>
            <p:nvPr/>
          </p:nvSpPr>
          <p:spPr>
            <a:xfrm>
              <a:off x="3914" y="2838"/>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4</a:t>
              </a:r>
              <a:endParaRPr lang="en-US" altLang="zh-CN" sz="1600" b="1" baseline="-25000" dirty="0">
                <a:solidFill>
                  <a:srgbClr val="333399"/>
                </a:solidFill>
                <a:latin typeface="Times New Roman" panose="02020603050405020304" pitchFamily="18" charset="0"/>
              </a:endParaRPr>
            </a:p>
          </p:txBody>
        </p:sp>
        <p:sp>
          <p:nvSpPr>
            <p:cNvPr id="21573" name="Line 78"/>
            <p:cNvSpPr/>
            <p:nvPr/>
          </p:nvSpPr>
          <p:spPr>
            <a:xfrm>
              <a:off x="4140" y="3102"/>
              <a:ext cx="209" cy="0"/>
            </a:xfrm>
            <a:prstGeom prst="line">
              <a:avLst/>
            </a:prstGeom>
            <a:ln w="12700" cap="flat" cmpd="sng">
              <a:solidFill>
                <a:schemeClr val="accent2"/>
              </a:solidFill>
              <a:prstDash val="solid"/>
              <a:headEnd type="none" w="med" len="med"/>
              <a:tailEnd type="none" w="med" len="med"/>
            </a:ln>
          </p:spPr>
        </p:sp>
        <p:sp>
          <p:nvSpPr>
            <p:cNvPr id="21574" name="Line 79"/>
            <p:cNvSpPr/>
            <p:nvPr/>
          </p:nvSpPr>
          <p:spPr>
            <a:xfrm flipV="1">
              <a:off x="4349" y="2484"/>
              <a:ext cx="0" cy="618"/>
            </a:xfrm>
            <a:prstGeom prst="line">
              <a:avLst/>
            </a:prstGeom>
            <a:ln w="12700" cap="flat" cmpd="sng">
              <a:solidFill>
                <a:schemeClr val="accent2"/>
              </a:solidFill>
              <a:prstDash val="solid"/>
              <a:headEnd type="none" w="med" len="med"/>
              <a:tailEnd type="none" w="med" len="med"/>
            </a:ln>
          </p:spPr>
        </p:sp>
        <p:sp>
          <p:nvSpPr>
            <p:cNvPr id="21575" name="Oval 80"/>
            <p:cNvSpPr/>
            <p:nvPr/>
          </p:nvSpPr>
          <p:spPr>
            <a:xfrm>
              <a:off x="5406" y="2309"/>
              <a:ext cx="47" cy="48"/>
            </a:xfrm>
            <a:prstGeom prst="ellipse">
              <a:avLst/>
            </a:prstGeom>
            <a:noFill/>
            <a:ln w="12700" cap="flat" cmpd="sng">
              <a:solidFill>
                <a:schemeClr val="accent2"/>
              </a:solidFill>
              <a:prstDash val="solid"/>
              <a:headEnd type="none" w="med" len="med"/>
              <a:tailEnd type="none" w="med" len="med"/>
            </a:ln>
          </p:spPr>
          <p:txBody>
            <a:bodyPr>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76" name="Text Box 81"/>
            <p:cNvSpPr txBox="1"/>
            <p:nvPr/>
          </p:nvSpPr>
          <p:spPr>
            <a:xfrm>
              <a:off x="5443" y="2217"/>
              <a:ext cx="303" cy="214"/>
            </a:xfrm>
            <a:prstGeom prst="rect">
              <a:avLst/>
            </a:prstGeom>
            <a:noFill/>
            <a:ln w="9525">
              <a:noFill/>
            </a:ln>
          </p:spPr>
          <p:txBody>
            <a:bodyPr>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21577" name="Text Box 82"/>
            <p:cNvSpPr txBox="1"/>
            <p:nvPr/>
          </p:nvSpPr>
          <p:spPr>
            <a:xfrm>
              <a:off x="3547" y="1650"/>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3</a:t>
              </a:r>
              <a:endParaRPr lang="en-US" altLang="zh-CN" sz="1600" b="1" baseline="-25000" dirty="0">
                <a:solidFill>
                  <a:srgbClr val="FF0000"/>
                </a:solidFill>
                <a:latin typeface="Times New Roman" panose="02020603050405020304" pitchFamily="18" charset="0"/>
              </a:endParaRPr>
            </a:p>
          </p:txBody>
        </p:sp>
        <p:sp>
          <p:nvSpPr>
            <p:cNvPr id="21578" name="Oval 83"/>
            <p:cNvSpPr/>
            <p:nvPr/>
          </p:nvSpPr>
          <p:spPr>
            <a:xfrm>
              <a:off x="3657" y="1863"/>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79" name="Oval 84"/>
            <p:cNvSpPr/>
            <p:nvPr/>
          </p:nvSpPr>
          <p:spPr>
            <a:xfrm>
              <a:off x="2709" y="2242"/>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80" name="Oval 85"/>
            <p:cNvSpPr/>
            <p:nvPr/>
          </p:nvSpPr>
          <p:spPr>
            <a:xfrm>
              <a:off x="2699" y="268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81" name="Text Box 86"/>
            <p:cNvSpPr txBox="1"/>
            <p:nvPr/>
          </p:nvSpPr>
          <p:spPr>
            <a:xfrm>
              <a:off x="3568" y="3141"/>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4</a:t>
              </a:r>
              <a:endParaRPr lang="en-US" altLang="zh-CN" sz="1600" b="1" baseline="-25000" dirty="0">
                <a:solidFill>
                  <a:srgbClr val="FF0000"/>
                </a:solidFill>
                <a:latin typeface="Times New Roman" panose="02020603050405020304" pitchFamily="18" charset="0"/>
              </a:endParaRPr>
            </a:p>
          </p:txBody>
        </p:sp>
        <p:sp>
          <p:nvSpPr>
            <p:cNvPr id="21582" name="Oval 87"/>
            <p:cNvSpPr/>
            <p:nvPr/>
          </p:nvSpPr>
          <p:spPr>
            <a:xfrm>
              <a:off x="3652" y="3086"/>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83" name="Oval 88"/>
            <p:cNvSpPr/>
            <p:nvPr/>
          </p:nvSpPr>
          <p:spPr>
            <a:xfrm>
              <a:off x="5176" y="230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84" name="Line 89"/>
            <p:cNvSpPr/>
            <p:nvPr/>
          </p:nvSpPr>
          <p:spPr>
            <a:xfrm flipV="1">
              <a:off x="5201" y="1875"/>
              <a:ext cx="0" cy="459"/>
            </a:xfrm>
            <a:prstGeom prst="line">
              <a:avLst/>
            </a:prstGeom>
            <a:ln w="12700" cap="flat" cmpd="sng">
              <a:solidFill>
                <a:schemeClr val="accent2"/>
              </a:solidFill>
              <a:prstDash val="solid"/>
              <a:headEnd type="none" w="med" len="med"/>
              <a:tailEnd type="none" w="med" len="med"/>
            </a:ln>
          </p:spPr>
        </p:sp>
        <p:sp>
          <p:nvSpPr>
            <p:cNvPr id="21585" name="Line 90"/>
            <p:cNvSpPr/>
            <p:nvPr/>
          </p:nvSpPr>
          <p:spPr>
            <a:xfrm flipH="1">
              <a:off x="4858" y="1875"/>
              <a:ext cx="343" cy="0"/>
            </a:xfrm>
            <a:prstGeom prst="line">
              <a:avLst/>
            </a:prstGeom>
            <a:ln w="12700" cap="flat" cmpd="sng">
              <a:solidFill>
                <a:schemeClr val="accent2"/>
              </a:solidFill>
              <a:prstDash val="solid"/>
              <a:headEnd type="none" w="med" len="med"/>
              <a:tailEnd type="none" w="med" len="med"/>
            </a:ln>
          </p:spPr>
        </p:sp>
        <p:sp>
          <p:nvSpPr>
            <p:cNvPr id="21586" name="Rectangle 91"/>
            <p:cNvSpPr/>
            <p:nvPr/>
          </p:nvSpPr>
          <p:spPr>
            <a:xfrm>
              <a:off x="4680" y="1846"/>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87" name="Text Box 92"/>
            <p:cNvSpPr txBox="1"/>
            <p:nvPr/>
          </p:nvSpPr>
          <p:spPr>
            <a:xfrm>
              <a:off x="4650" y="162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5</a:t>
              </a:r>
              <a:endParaRPr lang="en-US" altLang="zh-CN" sz="1600" b="1" baseline="-25000" dirty="0">
                <a:solidFill>
                  <a:srgbClr val="333399"/>
                </a:solidFill>
                <a:latin typeface="Times New Roman" panose="02020603050405020304" pitchFamily="18" charset="0"/>
              </a:endParaRPr>
            </a:p>
          </p:txBody>
        </p:sp>
        <p:sp>
          <p:nvSpPr>
            <p:cNvPr id="21588" name="Line 93"/>
            <p:cNvSpPr/>
            <p:nvPr/>
          </p:nvSpPr>
          <p:spPr>
            <a:xfrm flipH="1">
              <a:off x="4358" y="1883"/>
              <a:ext cx="317" cy="0"/>
            </a:xfrm>
            <a:prstGeom prst="line">
              <a:avLst/>
            </a:prstGeom>
            <a:ln w="12700" cap="flat" cmpd="sng">
              <a:solidFill>
                <a:schemeClr val="accent2"/>
              </a:solidFill>
              <a:prstDash val="solid"/>
              <a:headEnd type="none" w="med" len="med"/>
              <a:tailEnd type="none" w="med" len="med"/>
            </a:ln>
          </p:spPr>
        </p:sp>
        <p:sp>
          <p:nvSpPr>
            <p:cNvPr id="21589" name="Oval 94"/>
            <p:cNvSpPr/>
            <p:nvPr/>
          </p:nvSpPr>
          <p:spPr>
            <a:xfrm>
              <a:off x="4333" y="1859"/>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90" name="Line 95"/>
            <p:cNvSpPr/>
            <p:nvPr/>
          </p:nvSpPr>
          <p:spPr>
            <a:xfrm>
              <a:off x="4349" y="3102"/>
              <a:ext cx="334" cy="0"/>
            </a:xfrm>
            <a:prstGeom prst="line">
              <a:avLst/>
            </a:prstGeom>
            <a:ln w="12700" cap="flat" cmpd="sng">
              <a:solidFill>
                <a:schemeClr val="accent2"/>
              </a:solidFill>
              <a:prstDash val="solid"/>
              <a:headEnd type="none" w="med" len="med"/>
              <a:tailEnd type="none" w="med" len="med"/>
            </a:ln>
          </p:spPr>
        </p:sp>
        <p:sp>
          <p:nvSpPr>
            <p:cNvPr id="21591" name="Rectangle 96"/>
            <p:cNvSpPr/>
            <p:nvPr/>
          </p:nvSpPr>
          <p:spPr>
            <a:xfrm>
              <a:off x="4684" y="3078"/>
              <a:ext cx="184" cy="5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92" name="Text Box 97"/>
            <p:cNvSpPr txBox="1"/>
            <p:nvPr/>
          </p:nvSpPr>
          <p:spPr>
            <a:xfrm>
              <a:off x="4654" y="2869"/>
              <a:ext cx="260" cy="197"/>
            </a:xfrm>
            <a:prstGeom prst="rect">
              <a:avLst/>
            </a:prstGeom>
            <a:noFill/>
            <a:ln w="9525">
              <a:noFill/>
            </a:ln>
          </p:spPr>
          <p:txBody>
            <a:bodyPr>
              <a:spAutoFit/>
            </a:bodyPr>
            <a:p>
              <a:pPr eaLnBrk="1" hangingPunct="1">
                <a:lnSpc>
                  <a:spcPct val="90000"/>
                </a:lnSpc>
              </a:pPr>
              <a:r>
                <a:rPr lang="en-US" altLang="zh-CN" sz="1600" b="1" i="1" dirty="0">
                  <a:solidFill>
                    <a:srgbClr val="333399"/>
                  </a:solidFill>
                  <a:latin typeface="Times New Roman" panose="02020603050405020304" pitchFamily="18" charset="0"/>
                </a:rPr>
                <a:t>R</a:t>
              </a:r>
              <a:r>
                <a:rPr lang="en-US" altLang="zh-CN" sz="1600" b="1" baseline="-25000" dirty="0">
                  <a:solidFill>
                    <a:srgbClr val="333399"/>
                  </a:solidFill>
                  <a:latin typeface="Times New Roman" panose="02020603050405020304" pitchFamily="18" charset="0"/>
                </a:rPr>
                <a:t>6</a:t>
              </a:r>
              <a:endParaRPr lang="en-US" altLang="zh-CN" sz="1600" b="1" baseline="-25000" dirty="0">
                <a:solidFill>
                  <a:srgbClr val="333399"/>
                </a:solidFill>
                <a:latin typeface="Times New Roman" panose="02020603050405020304" pitchFamily="18" charset="0"/>
              </a:endParaRPr>
            </a:p>
          </p:txBody>
        </p:sp>
        <p:sp>
          <p:nvSpPr>
            <p:cNvPr id="21593" name="Line 98"/>
            <p:cNvSpPr/>
            <p:nvPr/>
          </p:nvSpPr>
          <p:spPr>
            <a:xfrm>
              <a:off x="4867" y="3102"/>
              <a:ext cx="367" cy="0"/>
            </a:xfrm>
            <a:prstGeom prst="line">
              <a:avLst/>
            </a:prstGeom>
            <a:ln w="12700" cap="flat" cmpd="sng">
              <a:solidFill>
                <a:schemeClr val="accent2"/>
              </a:solidFill>
              <a:prstDash val="solid"/>
              <a:headEnd type="none" w="med" len="med"/>
              <a:tailEnd type="none" w="med" len="med"/>
            </a:ln>
          </p:spPr>
        </p:sp>
        <p:sp>
          <p:nvSpPr>
            <p:cNvPr id="21594" name="Line 99"/>
            <p:cNvSpPr/>
            <p:nvPr/>
          </p:nvSpPr>
          <p:spPr>
            <a:xfrm>
              <a:off x="5234" y="3102"/>
              <a:ext cx="0" cy="167"/>
            </a:xfrm>
            <a:prstGeom prst="line">
              <a:avLst/>
            </a:prstGeom>
            <a:ln w="12700" cap="flat" cmpd="sng">
              <a:solidFill>
                <a:schemeClr val="accent2"/>
              </a:solidFill>
              <a:prstDash val="solid"/>
              <a:headEnd type="none" w="med" len="med"/>
              <a:tailEnd type="none" w="med" len="med"/>
            </a:ln>
          </p:spPr>
        </p:sp>
        <p:sp>
          <p:nvSpPr>
            <p:cNvPr id="21595" name="Line 100"/>
            <p:cNvSpPr/>
            <p:nvPr/>
          </p:nvSpPr>
          <p:spPr>
            <a:xfrm>
              <a:off x="5151" y="3269"/>
              <a:ext cx="167" cy="0"/>
            </a:xfrm>
            <a:prstGeom prst="line">
              <a:avLst/>
            </a:prstGeom>
            <a:ln w="28575" cap="flat" cmpd="sng">
              <a:solidFill>
                <a:schemeClr val="accent2"/>
              </a:solidFill>
              <a:prstDash val="solid"/>
              <a:headEnd type="none" w="med" len="med"/>
              <a:tailEnd type="none" w="med" len="med"/>
            </a:ln>
          </p:spPr>
        </p:sp>
        <p:sp>
          <p:nvSpPr>
            <p:cNvPr id="21596" name="Text Box 101"/>
            <p:cNvSpPr txBox="1"/>
            <p:nvPr/>
          </p:nvSpPr>
          <p:spPr>
            <a:xfrm>
              <a:off x="2993" y="3551"/>
              <a:ext cx="2046" cy="265"/>
            </a:xfrm>
            <a:prstGeom prst="rect">
              <a:avLst/>
            </a:prstGeom>
            <a:noFill/>
            <a:ln w="9525">
              <a:noFill/>
            </a:ln>
          </p:spPr>
          <p:txBody>
            <a:bodyPr wrap="none">
              <a:spAutoFit/>
            </a:bodyPr>
            <a:p>
              <a:pPr eaLnBrk="1" hangingPunct="1">
                <a:lnSpc>
                  <a:spcPct val="90000"/>
                </a:lnSpc>
              </a:pPr>
              <a:r>
                <a:rPr lang="zh-CN" altLang="en-US" sz="2400" b="1" dirty="0">
                  <a:solidFill>
                    <a:srgbClr val="000099"/>
                  </a:solidFill>
                  <a:latin typeface="Times New Roman" panose="02020603050405020304" pitchFamily="18" charset="0"/>
                </a:rPr>
                <a:t>交流共模干扰抑制方法</a:t>
              </a:r>
              <a:endParaRPr lang="zh-CN" altLang="en-US" sz="2400" b="1" dirty="0">
                <a:solidFill>
                  <a:srgbClr val="000099"/>
                </a:solidFill>
                <a:latin typeface="Times New Roman" panose="02020603050405020304" pitchFamily="18" charset="0"/>
              </a:endParaRPr>
            </a:p>
          </p:txBody>
        </p:sp>
        <p:sp>
          <p:nvSpPr>
            <p:cNvPr id="21597" name="Line 102"/>
            <p:cNvSpPr/>
            <p:nvPr/>
          </p:nvSpPr>
          <p:spPr>
            <a:xfrm>
              <a:off x="2725" y="2243"/>
              <a:ext cx="0" cy="133"/>
            </a:xfrm>
            <a:prstGeom prst="line">
              <a:avLst/>
            </a:prstGeom>
            <a:ln w="12700" cap="flat" cmpd="sng">
              <a:solidFill>
                <a:schemeClr val="accent2"/>
              </a:solidFill>
              <a:prstDash val="solid"/>
              <a:headEnd type="none" w="med" len="med"/>
              <a:tailEnd type="none" w="med" len="med"/>
            </a:ln>
          </p:spPr>
        </p:sp>
        <p:sp>
          <p:nvSpPr>
            <p:cNvPr id="21598" name="Line 103"/>
            <p:cNvSpPr/>
            <p:nvPr/>
          </p:nvSpPr>
          <p:spPr>
            <a:xfrm flipV="1">
              <a:off x="2725" y="2594"/>
              <a:ext cx="0" cy="116"/>
            </a:xfrm>
            <a:prstGeom prst="line">
              <a:avLst/>
            </a:prstGeom>
            <a:ln w="12700" cap="flat" cmpd="sng">
              <a:solidFill>
                <a:schemeClr val="accent2"/>
              </a:solidFill>
              <a:prstDash val="solid"/>
              <a:headEnd type="none" w="med" len="med"/>
              <a:tailEnd type="none" w="med" len="med"/>
            </a:ln>
          </p:spPr>
        </p:sp>
        <p:sp>
          <p:nvSpPr>
            <p:cNvPr id="21599" name="Oval 104"/>
            <p:cNvSpPr/>
            <p:nvPr/>
          </p:nvSpPr>
          <p:spPr>
            <a:xfrm>
              <a:off x="4329" y="3081"/>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600" name="Line 105"/>
            <p:cNvSpPr/>
            <p:nvPr/>
          </p:nvSpPr>
          <p:spPr>
            <a:xfrm>
              <a:off x="4350" y="2485"/>
              <a:ext cx="192" cy="0"/>
            </a:xfrm>
            <a:prstGeom prst="line">
              <a:avLst/>
            </a:prstGeom>
            <a:ln w="12700" cap="flat" cmpd="sng">
              <a:solidFill>
                <a:schemeClr val="accent2"/>
              </a:solidFill>
              <a:prstDash val="solid"/>
              <a:headEnd type="none" w="med" len="med"/>
              <a:tailEnd type="none" w="med" len="med"/>
            </a:ln>
          </p:spPr>
        </p:sp>
        <p:sp>
          <p:nvSpPr>
            <p:cNvPr id="21601" name="Line 106"/>
            <p:cNvSpPr/>
            <p:nvPr/>
          </p:nvSpPr>
          <p:spPr>
            <a:xfrm>
              <a:off x="4358" y="2167"/>
              <a:ext cx="192" cy="0"/>
            </a:xfrm>
            <a:prstGeom prst="line">
              <a:avLst/>
            </a:prstGeom>
            <a:ln w="12700" cap="flat" cmpd="sng">
              <a:solidFill>
                <a:schemeClr val="accent2"/>
              </a:solidFill>
              <a:prstDash val="solid"/>
              <a:headEnd type="none" w="med" len="med"/>
              <a:tailEnd type="none" w="med" len="med"/>
            </a:ln>
          </p:spPr>
        </p:sp>
        <p:sp>
          <p:nvSpPr>
            <p:cNvPr id="21602" name="Line 107"/>
            <p:cNvSpPr/>
            <p:nvPr/>
          </p:nvSpPr>
          <p:spPr>
            <a:xfrm flipV="1">
              <a:off x="2222" y="1717"/>
              <a:ext cx="803" cy="0"/>
            </a:xfrm>
            <a:prstGeom prst="line">
              <a:avLst/>
            </a:prstGeom>
            <a:ln w="12700" cap="flat" cmpd="sng">
              <a:solidFill>
                <a:schemeClr val="accent2"/>
              </a:solidFill>
              <a:prstDash val="solid"/>
              <a:headEnd type="none" w="med" len="med"/>
              <a:tailEnd type="none" w="med" len="med"/>
            </a:ln>
          </p:spPr>
        </p:sp>
        <p:sp>
          <p:nvSpPr>
            <p:cNvPr id="21603" name="Line 108"/>
            <p:cNvSpPr/>
            <p:nvPr/>
          </p:nvSpPr>
          <p:spPr>
            <a:xfrm>
              <a:off x="2222" y="3269"/>
              <a:ext cx="803" cy="0"/>
            </a:xfrm>
            <a:prstGeom prst="line">
              <a:avLst/>
            </a:prstGeom>
            <a:ln w="12700" cap="flat" cmpd="sng">
              <a:solidFill>
                <a:schemeClr val="accent2"/>
              </a:solidFill>
              <a:prstDash val="solid"/>
              <a:headEnd type="none" w="med" len="med"/>
              <a:tailEnd type="none" w="med" len="med"/>
            </a:ln>
          </p:spPr>
        </p:sp>
        <p:sp>
          <p:nvSpPr>
            <p:cNvPr id="21604" name="Text Box 109"/>
            <p:cNvSpPr txBox="1"/>
            <p:nvPr/>
          </p:nvSpPr>
          <p:spPr>
            <a:xfrm>
              <a:off x="4226" y="1647"/>
              <a:ext cx="294"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U</a:t>
              </a:r>
              <a:r>
                <a:rPr lang="en-US" altLang="zh-CN" sz="1600" b="1" baseline="-25000" dirty="0">
                  <a:solidFill>
                    <a:srgbClr val="FF0000"/>
                  </a:solidFill>
                  <a:latin typeface="Times New Roman" panose="02020603050405020304" pitchFamily="18" charset="0"/>
                </a:rPr>
                <a:t>5</a:t>
              </a:r>
              <a:endParaRPr lang="en-US" altLang="zh-CN" sz="1600" b="1" baseline="-25000" dirty="0">
                <a:solidFill>
                  <a:srgbClr val="FF0000"/>
                </a:solidFill>
                <a:latin typeface="Times New Roman" panose="02020603050405020304" pitchFamily="18" charset="0"/>
              </a:endParaRPr>
            </a:p>
          </p:txBody>
        </p:sp>
        <p:sp>
          <p:nvSpPr>
            <p:cNvPr id="21605" name="Line 110"/>
            <p:cNvSpPr/>
            <p:nvPr/>
          </p:nvSpPr>
          <p:spPr>
            <a:xfrm>
              <a:off x="2222" y="1713"/>
              <a:ext cx="0" cy="504"/>
            </a:xfrm>
            <a:prstGeom prst="line">
              <a:avLst/>
            </a:prstGeom>
            <a:ln w="12700" cap="flat" cmpd="sng">
              <a:solidFill>
                <a:schemeClr val="accent2"/>
              </a:solidFill>
              <a:prstDash val="solid"/>
              <a:headEnd type="none" w="med" len="med"/>
              <a:tailEnd type="none" w="med" len="med"/>
            </a:ln>
          </p:spPr>
        </p:sp>
        <p:sp>
          <p:nvSpPr>
            <p:cNvPr id="21606" name="Line 111"/>
            <p:cNvSpPr/>
            <p:nvPr/>
          </p:nvSpPr>
          <p:spPr>
            <a:xfrm>
              <a:off x="2222" y="2765"/>
              <a:ext cx="0" cy="504"/>
            </a:xfrm>
            <a:prstGeom prst="line">
              <a:avLst/>
            </a:prstGeom>
            <a:ln w="12700" cap="flat" cmpd="sng">
              <a:solidFill>
                <a:schemeClr val="accent2"/>
              </a:solidFill>
              <a:prstDash val="solid"/>
              <a:headEnd type="none" w="med" len="med"/>
              <a:tailEnd type="none" w="med" len="med"/>
            </a:ln>
          </p:spPr>
        </p:sp>
        <p:sp>
          <p:nvSpPr>
            <p:cNvPr id="21607" name="Line 112"/>
            <p:cNvSpPr/>
            <p:nvPr/>
          </p:nvSpPr>
          <p:spPr>
            <a:xfrm>
              <a:off x="2729" y="2042"/>
              <a:ext cx="292" cy="0"/>
            </a:xfrm>
            <a:prstGeom prst="line">
              <a:avLst/>
            </a:prstGeom>
            <a:ln w="12700" cap="flat" cmpd="sng">
              <a:solidFill>
                <a:schemeClr val="accent2"/>
              </a:solidFill>
              <a:prstDash val="solid"/>
              <a:headEnd type="none" w="med" len="med"/>
              <a:tailEnd type="none" w="med" len="med"/>
            </a:ln>
          </p:spPr>
        </p:sp>
        <p:sp>
          <p:nvSpPr>
            <p:cNvPr id="21608" name="Line 113"/>
            <p:cNvSpPr/>
            <p:nvPr/>
          </p:nvSpPr>
          <p:spPr>
            <a:xfrm>
              <a:off x="635" y="2217"/>
              <a:ext cx="1587" cy="0"/>
            </a:xfrm>
            <a:prstGeom prst="line">
              <a:avLst/>
            </a:prstGeom>
            <a:ln w="12700" cap="flat" cmpd="sng">
              <a:solidFill>
                <a:schemeClr val="accent2"/>
              </a:solidFill>
              <a:prstDash val="solid"/>
              <a:headEnd type="none" w="med" len="med"/>
              <a:tailEnd type="none" w="med" len="med"/>
            </a:ln>
          </p:spPr>
        </p:sp>
        <p:sp>
          <p:nvSpPr>
            <p:cNvPr id="21609" name="Line 114"/>
            <p:cNvSpPr/>
            <p:nvPr/>
          </p:nvSpPr>
          <p:spPr>
            <a:xfrm>
              <a:off x="635" y="2765"/>
              <a:ext cx="1587" cy="0"/>
            </a:xfrm>
            <a:prstGeom prst="line">
              <a:avLst/>
            </a:prstGeom>
            <a:ln w="12700" cap="flat" cmpd="sng">
              <a:solidFill>
                <a:schemeClr val="accent2"/>
              </a:solidFill>
              <a:prstDash val="solid"/>
              <a:headEnd type="none" w="med" len="med"/>
              <a:tailEnd type="none" w="med" len="med"/>
            </a:ln>
          </p:spPr>
        </p:sp>
      </p:grpSp>
      <p:sp>
        <p:nvSpPr>
          <p:cNvPr id="21513" name="Rectangle 115"/>
          <p:cNvSpPr/>
          <p:nvPr/>
        </p:nvSpPr>
        <p:spPr>
          <a:xfrm>
            <a:off x="895350" y="3475038"/>
            <a:ext cx="292100" cy="9207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14" name="Rectangle 116"/>
          <p:cNvSpPr/>
          <p:nvPr/>
        </p:nvSpPr>
        <p:spPr>
          <a:xfrm>
            <a:off x="896938" y="4344988"/>
            <a:ext cx="292100" cy="9207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21515" name="Group 117"/>
          <p:cNvGrpSpPr/>
          <p:nvPr/>
        </p:nvGrpSpPr>
        <p:grpSpPr>
          <a:xfrm>
            <a:off x="1908175" y="2386013"/>
            <a:ext cx="911225" cy="2501900"/>
            <a:chOff x="1353" y="1502"/>
            <a:chExt cx="574" cy="1576"/>
          </a:xfrm>
        </p:grpSpPr>
        <p:sp>
          <p:nvSpPr>
            <p:cNvPr id="21518" name="Line 118"/>
            <p:cNvSpPr/>
            <p:nvPr/>
          </p:nvSpPr>
          <p:spPr>
            <a:xfrm>
              <a:off x="1587" y="1810"/>
              <a:ext cx="0" cy="349"/>
            </a:xfrm>
            <a:prstGeom prst="line">
              <a:avLst/>
            </a:prstGeom>
            <a:ln w="12700" cap="flat" cmpd="sng">
              <a:solidFill>
                <a:schemeClr val="accent2"/>
              </a:solidFill>
              <a:prstDash val="sysDot"/>
              <a:headEnd type="none" w="med" len="med"/>
              <a:tailEnd type="none" w="med" len="med"/>
            </a:ln>
          </p:spPr>
        </p:sp>
        <p:sp>
          <p:nvSpPr>
            <p:cNvPr id="21519" name="Line 119"/>
            <p:cNvSpPr/>
            <p:nvPr/>
          </p:nvSpPr>
          <p:spPr>
            <a:xfrm>
              <a:off x="1466" y="1802"/>
              <a:ext cx="242" cy="0"/>
            </a:xfrm>
            <a:prstGeom prst="line">
              <a:avLst/>
            </a:prstGeom>
            <a:ln w="28575" cap="flat" cmpd="sng">
              <a:solidFill>
                <a:schemeClr val="accent2"/>
              </a:solidFill>
              <a:prstDash val="solid"/>
              <a:headEnd type="none" w="med" len="med"/>
              <a:tailEnd type="none" w="med" len="med"/>
            </a:ln>
          </p:spPr>
        </p:sp>
        <p:sp>
          <p:nvSpPr>
            <p:cNvPr id="21520" name="Line 120"/>
            <p:cNvSpPr/>
            <p:nvPr/>
          </p:nvSpPr>
          <p:spPr>
            <a:xfrm>
              <a:off x="1466" y="1735"/>
              <a:ext cx="242" cy="0"/>
            </a:xfrm>
            <a:prstGeom prst="line">
              <a:avLst/>
            </a:prstGeom>
            <a:ln w="28575" cap="flat" cmpd="sng">
              <a:solidFill>
                <a:schemeClr val="accent2"/>
              </a:solidFill>
              <a:prstDash val="solid"/>
              <a:headEnd type="none" w="med" len="med"/>
              <a:tailEnd type="none" w="med" len="med"/>
            </a:ln>
          </p:spPr>
        </p:sp>
        <p:sp>
          <p:nvSpPr>
            <p:cNvPr id="21521" name="Line 121"/>
            <p:cNvSpPr/>
            <p:nvPr/>
          </p:nvSpPr>
          <p:spPr>
            <a:xfrm>
              <a:off x="1587" y="1626"/>
              <a:ext cx="0" cy="109"/>
            </a:xfrm>
            <a:prstGeom prst="line">
              <a:avLst/>
            </a:prstGeom>
            <a:ln w="12700" cap="flat" cmpd="sng">
              <a:solidFill>
                <a:schemeClr val="accent2"/>
              </a:solidFill>
              <a:prstDash val="sysDot"/>
              <a:headEnd type="none" w="med" len="med"/>
              <a:tailEnd type="none" w="med" len="med"/>
            </a:ln>
          </p:spPr>
        </p:sp>
        <p:sp>
          <p:nvSpPr>
            <p:cNvPr id="21522" name="Line 122"/>
            <p:cNvSpPr/>
            <p:nvPr/>
          </p:nvSpPr>
          <p:spPr>
            <a:xfrm>
              <a:off x="1376" y="1626"/>
              <a:ext cx="1" cy="591"/>
            </a:xfrm>
            <a:prstGeom prst="line">
              <a:avLst/>
            </a:prstGeom>
            <a:ln w="12700" cap="flat" cmpd="sng">
              <a:solidFill>
                <a:schemeClr val="accent2"/>
              </a:solidFill>
              <a:prstDash val="sysDot"/>
              <a:headEnd type="none" w="med" len="med"/>
              <a:tailEnd type="none" w="med" len="med"/>
            </a:ln>
          </p:spPr>
        </p:sp>
        <p:sp>
          <p:nvSpPr>
            <p:cNvPr id="21523" name="Line 123"/>
            <p:cNvSpPr/>
            <p:nvPr/>
          </p:nvSpPr>
          <p:spPr>
            <a:xfrm flipH="1">
              <a:off x="1376" y="1626"/>
              <a:ext cx="211" cy="0"/>
            </a:xfrm>
            <a:prstGeom prst="line">
              <a:avLst/>
            </a:prstGeom>
            <a:ln w="12700" cap="flat" cmpd="sng">
              <a:solidFill>
                <a:schemeClr val="accent2"/>
              </a:solidFill>
              <a:prstDash val="sysDot"/>
              <a:headEnd type="none" w="med" len="med"/>
              <a:tailEnd type="none" w="med" len="med"/>
            </a:ln>
          </p:spPr>
        </p:sp>
        <p:sp>
          <p:nvSpPr>
            <p:cNvPr id="21524" name="Text Box 124"/>
            <p:cNvSpPr txBox="1"/>
            <p:nvPr/>
          </p:nvSpPr>
          <p:spPr>
            <a:xfrm>
              <a:off x="1594" y="1502"/>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1</a:t>
              </a:r>
              <a:endParaRPr lang="en-US" altLang="zh-CN" sz="1600" b="1" baseline="-25000" dirty="0">
                <a:solidFill>
                  <a:srgbClr val="FF0000"/>
                </a:solidFill>
                <a:latin typeface="Times New Roman" panose="02020603050405020304" pitchFamily="18" charset="0"/>
              </a:endParaRPr>
            </a:p>
          </p:txBody>
        </p:sp>
        <p:sp>
          <p:nvSpPr>
            <p:cNvPr id="21525" name="Text Box 125"/>
            <p:cNvSpPr txBox="1"/>
            <p:nvPr/>
          </p:nvSpPr>
          <p:spPr>
            <a:xfrm>
              <a:off x="1667" y="2821"/>
              <a:ext cx="260" cy="197"/>
            </a:xfrm>
            <a:prstGeom prst="rect">
              <a:avLst/>
            </a:prstGeom>
            <a:noFill/>
            <a:ln w="9525">
              <a:noFill/>
            </a:ln>
          </p:spPr>
          <p:txBody>
            <a:bodyPr>
              <a:spAutoFit/>
            </a:bodyPr>
            <a:p>
              <a:pPr eaLnBrk="1" hangingPunct="1">
                <a:lnSpc>
                  <a:spcPct val="90000"/>
                </a:lnSpc>
              </a:pPr>
              <a:r>
                <a:rPr lang="en-US" altLang="zh-CN" sz="1600" b="1" i="1" dirty="0">
                  <a:solidFill>
                    <a:srgbClr val="FF0000"/>
                  </a:solidFill>
                  <a:latin typeface="Times New Roman" panose="02020603050405020304" pitchFamily="18" charset="0"/>
                </a:rPr>
                <a:t>C</a:t>
              </a:r>
              <a:r>
                <a:rPr lang="en-US" altLang="zh-CN" sz="1600" b="1" baseline="-25000" dirty="0">
                  <a:solidFill>
                    <a:srgbClr val="FF0000"/>
                  </a:solidFill>
                  <a:latin typeface="Times New Roman" panose="02020603050405020304" pitchFamily="18" charset="0"/>
                </a:rPr>
                <a:t>2</a:t>
              </a:r>
              <a:endParaRPr lang="en-US" altLang="zh-CN" sz="1600" b="1" baseline="-25000" dirty="0">
                <a:solidFill>
                  <a:srgbClr val="FF0000"/>
                </a:solidFill>
                <a:latin typeface="Times New Roman" panose="02020603050405020304" pitchFamily="18" charset="0"/>
              </a:endParaRPr>
            </a:p>
          </p:txBody>
        </p:sp>
        <p:sp>
          <p:nvSpPr>
            <p:cNvPr id="21526" name="Oval 126"/>
            <p:cNvSpPr/>
            <p:nvPr/>
          </p:nvSpPr>
          <p:spPr>
            <a:xfrm>
              <a:off x="1353" y="218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27" name="Oval 127"/>
            <p:cNvSpPr/>
            <p:nvPr/>
          </p:nvSpPr>
          <p:spPr>
            <a:xfrm>
              <a:off x="1563" y="213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28" name="Line 128"/>
            <p:cNvSpPr/>
            <p:nvPr/>
          </p:nvSpPr>
          <p:spPr>
            <a:xfrm>
              <a:off x="1587" y="2768"/>
              <a:ext cx="0" cy="168"/>
            </a:xfrm>
            <a:prstGeom prst="line">
              <a:avLst/>
            </a:prstGeom>
            <a:ln w="12700" cap="flat" cmpd="sng">
              <a:solidFill>
                <a:schemeClr val="accent2"/>
              </a:solidFill>
              <a:prstDash val="sysDot"/>
              <a:headEnd type="none" w="med" len="med"/>
              <a:tailEnd type="none" w="med" len="med"/>
            </a:ln>
          </p:spPr>
        </p:sp>
        <p:sp>
          <p:nvSpPr>
            <p:cNvPr id="21529" name="Line 129"/>
            <p:cNvSpPr/>
            <p:nvPr/>
          </p:nvSpPr>
          <p:spPr>
            <a:xfrm>
              <a:off x="1466" y="3003"/>
              <a:ext cx="242" cy="0"/>
            </a:xfrm>
            <a:prstGeom prst="line">
              <a:avLst/>
            </a:prstGeom>
            <a:ln w="28575" cap="flat" cmpd="sng">
              <a:solidFill>
                <a:schemeClr val="accent2"/>
              </a:solidFill>
              <a:prstDash val="solid"/>
              <a:headEnd type="none" w="med" len="med"/>
              <a:tailEnd type="none" w="med" len="med"/>
            </a:ln>
          </p:spPr>
        </p:sp>
        <p:sp>
          <p:nvSpPr>
            <p:cNvPr id="21530" name="Line 130"/>
            <p:cNvSpPr/>
            <p:nvPr/>
          </p:nvSpPr>
          <p:spPr>
            <a:xfrm>
              <a:off x="1466" y="2936"/>
              <a:ext cx="242" cy="0"/>
            </a:xfrm>
            <a:prstGeom prst="line">
              <a:avLst/>
            </a:prstGeom>
            <a:ln w="28575" cap="flat" cmpd="sng">
              <a:solidFill>
                <a:schemeClr val="accent2"/>
              </a:solidFill>
              <a:prstDash val="solid"/>
              <a:headEnd type="none" w="med" len="med"/>
              <a:tailEnd type="none" w="med" len="med"/>
            </a:ln>
          </p:spPr>
        </p:sp>
        <p:sp>
          <p:nvSpPr>
            <p:cNvPr id="21531" name="Line 131"/>
            <p:cNvSpPr/>
            <p:nvPr/>
          </p:nvSpPr>
          <p:spPr>
            <a:xfrm>
              <a:off x="1587" y="3003"/>
              <a:ext cx="0" cy="75"/>
            </a:xfrm>
            <a:prstGeom prst="line">
              <a:avLst/>
            </a:prstGeom>
            <a:ln w="12700" cap="flat" cmpd="sng">
              <a:solidFill>
                <a:schemeClr val="accent2"/>
              </a:solidFill>
              <a:prstDash val="sysDot"/>
              <a:headEnd type="none" w="med" len="med"/>
              <a:tailEnd type="none" w="med" len="med"/>
            </a:ln>
          </p:spPr>
        </p:sp>
        <p:sp>
          <p:nvSpPr>
            <p:cNvPr id="21532" name="Line 132"/>
            <p:cNvSpPr/>
            <p:nvPr/>
          </p:nvSpPr>
          <p:spPr>
            <a:xfrm flipV="1">
              <a:off x="1376" y="2827"/>
              <a:ext cx="1" cy="249"/>
            </a:xfrm>
            <a:prstGeom prst="line">
              <a:avLst/>
            </a:prstGeom>
            <a:ln w="12700" cap="flat" cmpd="sng">
              <a:solidFill>
                <a:schemeClr val="accent2"/>
              </a:solidFill>
              <a:prstDash val="sysDot"/>
              <a:headEnd type="none" w="med" len="med"/>
              <a:tailEnd type="none" w="med" len="med"/>
            </a:ln>
          </p:spPr>
        </p:sp>
        <p:sp>
          <p:nvSpPr>
            <p:cNvPr id="21533" name="Line 133"/>
            <p:cNvSpPr/>
            <p:nvPr/>
          </p:nvSpPr>
          <p:spPr>
            <a:xfrm flipH="1">
              <a:off x="1376" y="3076"/>
              <a:ext cx="211" cy="0"/>
            </a:xfrm>
            <a:prstGeom prst="line">
              <a:avLst/>
            </a:prstGeom>
            <a:ln w="12700" cap="flat" cmpd="sng">
              <a:solidFill>
                <a:schemeClr val="accent2"/>
              </a:solidFill>
              <a:prstDash val="sysDot"/>
              <a:headEnd type="none" w="med" len="med"/>
              <a:tailEnd type="none" w="med" len="med"/>
            </a:ln>
          </p:spPr>
        </p:sp>
        <p:sp>
          <p:nvSpPr>
            <p:cNvPr id="21534" name="Oval 134"/>
            <p:cNvSpPr/>
            <p:nvPr/>
          </p:nvSpPr>
          <p:spPr>
            <a:xfrm>
              <a:off x="1353" y="2798"/>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1535" name="Oval 135"/>
            <p:cNvSpPr/>
            <p:nvPr/>
          </p:nvSpPr>
          <p:spPr>
            <a:xfrm>
              <a:off x="1563" y="2745"/>
              <a:ext cx="47" cy="48"/>
            </a:xfrm>
            <a:prstGeom prst="ellipse">
              <a:avLst/>
            </a:prstGeom>
            <a:solidFill>
              <a:schemeClr val="accent2"/>
            </a:solidFill>
            <a:ln w="9525"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402442" name="Text Box 138"/>
          <p:cNvSpPr txBox="1"/>
          <p:nvPr/>
        </p:nvSpPr>
        <p:spPr>
          <a:xfrm>
            <a:off x="4032250" y="836613"/>
            <a:ext cx="4870450" cy="1406525"/>
          </a:xfrm>
          <a:prstGeom prst="rect">
            <a:avLst/>
          </a:prstGeom>
          <a:solidFill>
            <a:srgbClr val="CCFFCC"/>
          </a:solidFill>
          <a:ln w="9525">
            <a:noFill/>
          </a:ln>
        </p:spPr>
        <p:txBody>
          <a:bodyPr>
            <a:spAutoFit/>
          </a:bodyPr>
          <a:p>
            <a:pPr eaLnBrk="1" hangingPunct="1">
              <a:lnSpc>
                <a:spcPct val="90000"/>
              </a:lnSpc>
            </a:pPr>
            <a:r>
              <a:rPr lang="zh-CN" altLang="en-US" sz="2400" b="1" dirty="0">
                <a:solidFill>
                  <a:srgbClr val="3333FF"/>
                </a:solidFill>
                <a:latin typeface="Times New Roman" panose="02020603050405020304" pitchFamily="18" charset="0"/>
              </a:rPr>
              <a:t>当</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1</a:t>
            </a:r>
            <a:r>
              <a:rPr lang="en-US" altLang="zh-CN" sz="2400" b="1" dirty="0">
                <a:solidFill>
                  <a:srgbClr val="FF0000"/>
                </a:solidFill>
                <a:latin typeface="Times New Roman" panose="02020603050405020304" pitchFamily="18" charset="0"/>
              </a:rPr>
              <a:t>’= </a:t>
            </a:r>
            <a:r>
              <a:rPr lang="en-US" altLang="zh-CN" sz="2400" b="1" i="1" dirty="0">
                <a:solidFill>
                  <a:srgbClr val="FF0000"/>
                </a:solidFill>
                <a:latin typeface="Times New Roman" panose="02020603050405020304" pitchFamily="18" charset="0"/>
              </a:rPr>
              <a:t>R</a:t>
            </a:r>
            <a:r>
              <a:rPr lang="en-US" altLang="zh-CN" sz="2400" b="1" baseline="-25000" dirty="0">
                <a:solidFill>
                  <a:srgbClr val="FF0000"/>
                </a:solidFill>
                <a:latin typeface="Times New Roman" panose="02020603050405020304" pitchFamily="18" charset="0"/>
              </a:rPr>
              <a:t>2</a:t>
            </a:r>
            <a:r>
              <a:rPr lang="en-US" altLang="zh-CN" sz="2400" b="1" dirty="0">
                <a:solidFill>
                  <a:srgbClr val="FF0000"/>
                </a:solidFill>
                <a:latin typeface="Times New Roman" panose="02020603050405020304" pitchFamily="18" charset="0"/>
              </a:rPr>
              <a:t>’</a:t>
            </a:r>
            <a:r>
              <a:rPr lang="zh-CN" altLang="en-US" sz="2400" b="1" dirty="0">
                <a:solidFill>
                  <a:srgbClr val="3333FF"/>
                </a:solidFill>
                <a:latin typeface="Times New Roman" panose="02020603050405020304" pitchFamily="18" charset="0"/>
              </a:rPr>
              <a:t>时，由于屏蔽层和信号线间对交流共模信号是等电位的，故</a:t>
            </a:r>
            <a:r>
              <a:rPr lang="en-US" altLang="zh-CN" sz="2400" b="1" i="1" dirty="0">
                <a:solidFill>
                  <a:srgbClr val="FF0000"/>
                </a:solidFill>
                <a:latin typeface="Times New Roman" panose="02020603050405020304" pitchFamily="18" charset="0"/>
              </a:rPr>
              <a:t>C</a:t>
            </a:r>
            <a:r>
              <a:rPr lang="en-US" altLang="zh-CN" sz="2400" b="1" baseline="-25000" dirty="0">
                <a:solidFill>
                  <a:srgbClr val="FF0000"/>
                </a:solidFill>
                <a:latin typeface="Times New Roman" panose="02020603050405020304" pitchFamily="18" charset="0"/>
              </a:rPr>
              <a:t>1</a:t>
            </a:r>
            <a:r>
              <a:rPr lang="zh-CN" altLang="en-US" sz="2400" b="1" dirty="0">
                <a:solidFill>
                  <a:srgbClr val="3333FF"/>
                </a:solidFill>
                <a:latin typeface="Times New Roman" panose="02020603050405020304" pitchFamily="18" charset="0"/>
              </a:rPr>
              <a:t>、</a:t>
            </a:r>
            <a:r>
              <a:rPr lang="en-US" altLang="zh-CN" sz="2400" b="1" i="1" dirty="0">
                <a:solidFill>
                  <a:srgbClr val="FF0000"/>
                </a:solidFill>
                <a:latin typeface="Times New Roman" panose="02020603050405020304" pitchFamily="18" charset="0"/>
              </a:rPr>
              <a:t>C</a:t>
            </a:r>
            <a:r>
              <a:rPr lang="en-US" altLang="zh-CN" sz="2400" b="1" baseline="-25000" dirty="0">
                <a:solidFill>
                  <a:srgbClr val="FF0000"/>
                </a:solidFill>
                <a:latin typeface="Times New Roman" panose="02020603050405020304" pitchFamily="18" charset="0"/>
              </a:rPr>
              <a:t>2</a:t>
            </a:r>
            <a:r>
              <a:rPr lang="zh-CN" altLang="en-US" sz="2400" b="1" dirty="0">
                <a:solidFill>
                  <a:srgbClr val="3333FF"/>
                </a:solidFill>
                <a:latin typeface="Times New Roman" panose="02020603050405020304" pitchFamily="18" charset="0"/>
              </a:rPr>
              <a:t>的分压作用不存在，从而降低共模干扰的影响。</a:t>
            </a:r>
            <a:endParaRPr lang="zh-CN" altLang="en-US" sz="2400" b="1" dirty="0">
              <a:solidFill>
                <a:srgbClr val="3333FF"/>
              </a:solidFill>
              <a:latin typeface="Times New Roman" panose="02020603050405020304" pitchFamily="18" charset="0"/>
            </a:endParaRPr>
          </a:p>
        </p:txBody>
      </p:sp>
      <p:sp>
        <p:nvSpPr>
          <p:cNvPr id="21517" name="Text Box 2"/>
          <p:cNvSpPr txBox="1"/>
          <p:nvPr/>
        </p:nvSpPr>
        <p:spPr>
          <a:xfrm>
            <a:off x="395288" y="827088"/>
            <a:ext cx="3524250" cy="530225"/>
          </a:xfrm>
          <a:prstGeom prst="rect">
            <a:avLst/>
          </a:prstGeom>
          <a:solidFill>
            <a:srgbClr val="99CCFF"/>
          </a:solidFill>
          <a:ln w="9525">
            <a:noFill/>
          </a:ln>
        </p:spPr>
        <p:txBody>
          <a:bodyPr>
            <a:spAutoFit/>
          </a:bodyPr>
          <a:p>
            <a:pPr eaLnBrk="1" hangingPunct="1">
              <a:lnSpc>
                <a:spcPct val="90000"/>
              </a:lnSpc>
              <a:spcBef>
                <a:spcPct val="50000"/>
              </a:spcBef>
            </a:pPr>
            <a:r>
              <a:rPr lang="en-US" altLang="zh-CN" sz="3200" b="1" dirty="0">
                <a:solidFill>
                  <a:srgbClr val="333399"/>
                </a:solidFill>
                <a:latin typeface="Times New Roman" panose="02020603050405020304" pitchFamily="18" charset="0"/>
              </a:rPr>
              <a:t>2. </a:t>
            </a:r>
            <a:r>
              <a:rPr lang="zh-CN" altLang="en-US" sz="3200" b="1" dirty="0">
                <a:solidFill>
                  <a:srgbClr val="333399"/>
                </a:solidFill>
                <a:latin typeface="Times New Roman" panose="02020603050405020304" pitchFamily="18" charset="0"/>
              </a:rPr>
              <a:t>抗共模干扰能力</a:t>
            </a:r>
            <a:endParaRPr lang="zh-CN" altLang="en-US" sz="32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2442"/>
                                        </p:tgtEl>
                                        <p:attrNameLst>
                                          <p:attrName>style.visibility</p:attrName>
                                        </p:attrNameLst>
                                      </p:cBhvr>
                                      <p:to>
                                        <p:strVal val="visible"/>
                                      </p:to>
                                    </p:set>
                                    <p:animEffect transition="in" filter="dissolve">
                                      <p:cBhvr>
                                        <p:cTn id="7" dur="500"/>
                                        <p:tgtEl>
                                          <p:spTgt spid="2402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2442" grpId="0" bldLvl="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3363" name="Text Box 35"/>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3464" name="Text Box 136"/>
          <p:cNvSpPr txBox="1"/>
          <p:nvPr/>
        </p:nvSpPr>
        <p:spPr>
          <a:xfrm>
            <a:off x="754063" y="1089025"/>
            <a:ext cx="7597775" cy="946150"/>
          </a:xfrm>
          <a:prstGeom prst="rect">
            <a:avLst/>
          </a:prstGeom>
          <a:solidFill>
            <a:srgbClr val="CCFFFF"/>
          </a:solidFill>
          <a:ln w="9525">
            <a:noFill/>
          </a:ln>
        </p:spPr>
        <p:txBody>
          <a:bodyPr>
            <a:spAutoFit/>
          </a:bodyPr>
          <a:p>
            <a:pPr eaLnBrk="1" hangingPunct="1">
              <a:spcBef>
                <a:spcPct val="50000"/>
              </a:spcBef>
            </a:pPr>
            <a:r>
              <a:rPr lang="zh-CN" altLang="en-US" sz="2800" b="1" dirty="0">
                <a:solidFill>
                  <a:srgbClr val="333399"/>
                </a:solidFill>
                <a:latin typeface="Times New Roman" panose="02020603050405020304" pitchFamily="18" charset="0"/>
                <a:ea typeface="黑体" panose="02010609060101010101" pitchFamily="49" charset="-122"/>
              </a:rPr>
              <a:t>与基本差动放大器相比，高性能差动放大器（测量放大器）有如下优点：</a:t>
            </a:r>
            <a:endParaRPr lang="zh-CN" altLang="en-US" sz="2800" b="1" dirty="0">
              <a:solidFill>
                <a:srgbClr val="333399"/>
              </a:solidFill>
              <a:latin typeface="Times New Roman" panose="02020603050405020304" pitchFamily="18" charset="0"/>
              <a:ea typeface="黑体" panose="02010609060101010101" pitchFamily="49" charset="-122"/>
            </a:endParaRPr>
          </a:p>
        </p:txBody>
      </p:sp>
      <p:sp>
        <p:nvSpPr>
          <p:cNvPr id="2403465" name="Text Box 137"/>
          <p:cNvSpPr txBox="1"/>
          <p:nvPr/>
        </p:nvSpPr>
        <p:spPr>
          <a:xfrm>
            <a:off x="1223963" y="2492375"/>
            <a:ext cx="7237412" cy="3082925"/>
          </a:xfrm>
          <a:prstGeom prst="rect">
            <a:avLst/>
          </a:prstGeom>
          <a:noFill/>
          <a:ln w="9525">
            <a:noFill/>
          </a:ln>
        </p:spPr>
        <p:txBody>
          <a:bodyPr>
            <a:spAutoFit/>
          </a:bodyPr>
          <a:p>
            <a:pPr eaLnBrk="1" hangingPunct="1">
              <a:spcBef>
                <a:spcPct val="50000"/>
              </a:spcBef>
            </a:pPr>
            <a:r>
              <a:rPr lang="zh-CN" altLang="en-US" sz="2800" b="1" dirty="0">
                <a:solidFill>
                  <a:schemeClr val="tx1"/>
                </a:solidFill>
                <a:latin typeface="Times New Roman" panose="02020603050405020304" pitchFamily="18" charset="0"/>
                <a:ea typeface="黑体" panose="02010609060101010101" pitchFamily="49" charset="-122"/>
              </a:rPr>
              <a:t>输入电阻高（运放</a:t>
            </a:r>
            <a:r>
              <a:rPr lang="en-US" altLang="zh-CN" sz="2800" b="1" dirty="0">
                <a:solidFill>
                  <a:schemeClr val="tx1"/>
                </a:solidFill>
                <a:latin typeface="Times New Roman" panose="02020603050405020304" pitchFamily="18" charset="0"/>
                <a:ea typeface="黑体" panose="02010609060101010101" pitchFamily="49" charset="-122"/>
              </a:rPr>
              <a:t>A1</a:t>
            </a:r>
            <a:r>
              <a:rPr lang="zh-CN" altLang="en-US" sz="2800" b="1" dirty="0">
                <a:solidFill>
                  <a:schemeClr val="tx1"/>
                </a:solidFill>
                <a:latin typeface="Times New Roman" panose="02020603050405020304" pitchFamily="18" charset="0"/>
                <a:ea typeface="黑体" panose="02010609060101010101" pitchFamily="49" charset="-122"/>
              </a:rPr>
              <a:t>和</a:t>
            </a:r>
            <a:r>
              <a:rPr lang="en-US" altLang="zh-CN" sz="2800" b="1" dirty="0">
                <a:solidFill>
                  <a:schemeClr val="tx1"/>
                </a:solidFill>
                <a:latin typeface="Times New Roman" panose="02020603050405020304" pitchFamily="18" charset="0"/>
                <a:ea typeface="黑体" panose="02010609060101010101" pitchFamily="49" charset="-122"/>
              </a:rPr>
              <a:t>A2</a:t>
            </a:r>
            <a:r>
              <a:rPr lang="zh-CN" altLang="en-US" sz="2800" b="1" dirty="0">
                <a:solidFill>
                  <a:schemeClr val="tx1"/>
                </a:solidFill>
                <a:latin typeface="Times New Roman" panose="02020603050405020304" pitchFamily="18" charset="0"/>
                <a:ea typeface="黑体" panose="02010609060101010101" pitchFamily="49" charset="-122"/>
              </a:rPr>
              <a:t>都是同相输入，输入电阻非常高）；</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pPr>
            <a:r>
              <a:rPr lang="zh-CN" altLang="en-US" sz="2800" b="1" dirty="0">
                <a:solidFill>
                  <a:schemeClr val="tx1"/>
                </a:solidFill>
                <a:latin typeface="Times New Roman" panose="02020603050405020304" pitchFamily="18" charset="0"/>
                <a:ea typeface="黑体" panose="02010609060101010101" pitchFamily="49" charset="-122"/>
              </a:rPr>
              <a:t>增益调节方便（仅通过调节</a:t>
            </a:r>
            <a:r>
              <a:rPr lang="en-US" altLang="zh-CN" sz="2800" b="1" dirty="0">
                <a:solidFill>
                  <a:schemeClr val="tx1"/>
                </a:solidFill>
                <a:latin typeface="Times New Roman" panose="02020603050405020304" pitchFamily="18" charset="0"/>
                <a:ea typeface="黑体" panose="02010609060101010101" pitchFamily="49" charset="-122"/>
              </a:rPr>
              <a:t>R</a:t>
            </a:r>
            <a:r>
              <a:rPr lang="en-US" altLang="zh-CN" sz="2800" b="1" baseline="-25000" dirty="0">
                <a:solidFill>
                  <a:schemeClr val="tx1"/>
                </a:solidFill>
                <a:latin typeface="Times New Roman" panose="02020603050405020304" pitchFamily="18" charset="0"/>
                <a:ea typeface="黑体" panose="02010609060101010101" pitchFamily="49" charset="-122"/>
              </a:rPr>
              <a:t>G</a:t>
            </a:r>
            <a:r>
              <a:rPr lang="zh-CN" altLang="en-US" sz="2800" b="1" dirty="0">
                <a:solidFill>
                  <a:schemeClr val="tx1"/>
                </a:solidFill>
                <a:latin typeface="Times New Roman" panose="02020603050405020304" pitchFamily="18" charset="0"/>
                <a:ea typeface="黑体" panose="02010609060101010101" pitchFamily="49" charset="-122"/>
              </a:rPr>
              <a:t>一个电阻即可调节增益）；</a:t>
            </a:r>
            <a:endParaRPr lang="zh-CN" altLang="en-US" sz="2800" b="1"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pPr>
            <a:r>
              <a:rPr lang="zh-CN" altLang="en-US" sz="2800" b="1" dirty="0">
                <a:solidFill>
                  <a:schemeClr val="tx1"/>
                </a:solidFill>
                <a:latin typeface="Times New Roman" panose="02020603050405020304" pitchFamily="18" charset="0"/>
                <a:ea typeface="黑体" panose="02010609060101010101" pitchFamily="49" charset="-122"/>
              </a:rPr>
              <a:t>低失调、低漂移（运放</a:t>
            </a:r>
            <a:r>
              <a:rPr lang="en-US" altLang="zh-CN" sz="2800" b="1" dirty="0">
                <a:solidFill>
                  <a:schemeClr val="tx1"/>
                </a:solidFill>
                <a:latin typeface="Times New Roman" panose="02020603050405020304" pitchFamily="18" charset="0"/>
                <a:ea typeface="黑体" panose="02010609060101010101" pitchFamily="49" charset="-122"/>
              </a:rPr>
              <a:t>A1</a:t>
            </a:r>
            <a:r>
              <a:rPr lang="zh-CN" altLang="en-US" sz="2800" b="1" dirty="0">
                <a:solidFill>
                  <a:schemeClr val="tx1"/>
                </a:solidFill>
                <a:latin typeface="Times New Roman" panose="02020603050405020304" pitchFamily="18" charset="0"/>
                <a:ea typeface="黑体" panose="02010609060101010101" pitchFamily="49" charset="-122"/>
              </a:rPr>
              <a:t>和</a:t>
            </a:r>
            <a:r>
              <a:rPr lang="en-US" altLang="zh-CN" sz="2800" b="1" dirty="0">
                <a:solidFill>
                  <a:schemeClr val="tx1"/>
                </a:solidFill>
                <a:latin typeface="Times New Roman" panose="02020603050405020304" pitchFamily="18" charset="0"/>
                <a:ea typeface="黑体" panose="02010609060101010101" pitchFamily="49" charset="-122"/>
              </a:rPr>
              <a:t>A2</a:t>
            </a:r>
            <a:r>
              <a:rPr lang="zh-CN" altLang="en-US" sz="2800" b="1" dirty="0">
                <a:solidFill>
                  <a:schemeClr val="tx1"/>
                </a:solidFill>
                <a:latin typeface="Times New Roman" panose="02020603050405020304" pitchFamily="18" charset="0"/>
                <a:ea typeface="黑体" panose="02010609060101010101" pitchFamily="49" charset="-122"/>
              </a:rPr>
              <a:t>配对，输入失调电压大小和方向相同，相互抵消）。</a:t>
            </a:r>
            <a:endParaRPr lang="zh-CN" altLang="en-US" sz="2800" b="1" dirty="0">
              <a:solidFill>
                <a:schemeClr val="tx1"/>
              </a:solidFill>
              <a:latin typeface="Times New Roman" panose="02020603050405020304" pitchFamily="18" charset="0"/>
              <a:ea typeface="黑体" panose="02010609060101010101" pitchFamily="49" charset="-122"/>
            </a:endParaRPr>
          </a:p>
        </p:txBody>
      </p:sp>
      <p:sp>
        <p:nvSpPr>
          <p:cNvPr id="2403466" name="Text Box 138"/>
          <p:cNvSpPr txBox="1"/>
          <p:nvPr/>
        </p:nvSpPr>
        <p:spPr>
          <a:xfrm>
            <a:off x="792163" y="2528888"/>
            <a:ext cx="719137"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
        <p:nvSpPr>
          <p:cNvPr id="2403467" name="Text Box 139"/>
          <p:cNvSpPr txBox="1"/>
          <p:nvPr/>
        </p:nvSpPr>
        <p:spPr>
          <a:xfrm>
            <a:off x="792163" y="3608388"/>
            <a:ext cx="719137"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
        <p:nvSpPr>
          <p:cNvPr id="2403468" name="Text Box 140"/>
          <p:cNvSpPr txBox="1"/>
          <p:nvPr/>
        </p:nvSpPr>
        <p:spPr>
          <a:xfrm>
            <a:off x="792163" y="4689475"/>
            <a:ext cx="719137" cy="420688"/>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3464"/>
                                        </p:tgtEl>
                                        <p:attrNameLst>
                                          <p:attrName>style.visibility</p:attrName>
                                        </p:attrNameLst>
                                      </p:cBhvr>
                                      <p:to>
                                        <p:strVal val="visible"/>
                                      </p:to>
                                    </p:set>
                                    <p:animEffect transition="in" filter="dissolve">
                                      <p:cBhvr>
                                        <p:cTn id="7" dur="500"/>
                                        <p:tgtEl>
                                          <p:spTgt spid="24034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03466"/>
                                        </p:tgtEl>
                                        <p:attrNameLst>
                                          <p:attrName>style.visibility</p:attrName>
                                        </p:attrNameLst>
                                      </p:cBhvr>
                                      <p:to>
                                        <p:strVal val="visible"/>
                                      </p:to>
                                    </p:set>
                                    <p:animEffect transition="in" filter="dissolve">
                                      <p:cBhvr>
                                        <p:cTn id="12" dur="500"/>
                                        <p:tgtEl>
                                          <p:spTgt spid="2403466"/>
                                        </p:tgtEl>
                                      </p:cBhvr>
                                    </p:animEffect>
                                  </p:childTnLst>
                                </p:cTn>
                              </p:par>
                              <p:par>
                                <p:cTn id="13" presetID="9" presetClass="entr" presetSubtype="0" fill="hold" nodeType="withEffect">
                                  <p:stCondLst>
                                    <p:cond delay="0"/>
                                  </p:stCondLst>
                                  <p:childTnLst>
                                    <p:set>
                                      <p:cBhvr>
                                        <p:cTn id="14" dur="1" fill="hold">
                                          <p:stCondLst>
                                            <p:cond delay="0"/>
                                          </p:stCondLst>
                                        </p:cTn>
                                        <p:tgtEl>
                                          <p:spTgt spid="2403465">
                                            <p:txEl>
                                              <p:charRg st="0" end="30"/>
                                            </p:txEl>
                                          </p:spTgt>
                                        </p:tgtEl>
                                        <p:attrNameLst>
                                          <p:attrName>style.visibility</p:attrName>
                                        </p:attrNameLst>
                                      </p:cBhvr>
                                      <p:to>
                                        <p:strVal val="visible"/>
                                      </p:to>
                                    </p:set>
                                    <p:animEffect transition="in" filter="dissolve">
                                      <p:cBhvr>
                                        <p:cTn id="15" dur="500"/>
                                        <p:tgtEl>
                                          <p:spTgt spid="2403465">
                                            <p:txEl>
                                              <p:charRg st="0" end="3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03467"/>
                                        </p:tgtEl>
                                        <p:attrNameLst>
                                          <p:attrName>style.visibility</p:attrName>
                                        </p:attrNameLst>
                                      </p:cBhvr>
                                      <p:to>
                                        <p:strVal val="visible"/>
                                      </p:to>
                                    </p:set>
                                    <p:animEffect transition="in" filter="dissolve">
                                      <p:cBhvr>
                                        <p:cTn id="20" dur="500"/>
                                        <p:tgtEl>
                                          <p:spTgt spid="2403467"/>
                                        </p:tgtEl>
                                      </p:cBhvr>
                                    </p:animEffect>
                                  </p:childTnLst>
                                </p:cTn>
                              </p:par>
                              <p:par>
                                <p:cTn id="21" presetID="9" presetClass="entr" presetSubtype="0" fill="hold" nodeType="withEffect">
                                  <p:stCondLst>
                                    <p:cond delay="0"/>
                                  </p:stCondLst>
                                  <p:childTnLst>
                                    <p:set>
                                      <p:cBhvr>
                                        <p:cTn id="22" dur="1" fill="hold">
                                          <p:stCondLst>
                                            <p:cond delay="0"/>
                                          </p:stCondLst>
                                        </p:cTn>
                                        <p:tgtEl>
                                          <p:spTgt spid="2403465">
                                            <p:txEl>
                                              <p:charRg st="30" end="57"/>
                                            </p:txEl>
                                          </p:spTgt>
                                        </p:tgtEl>
                                        <p:attrNameLst>
                                          <p:attrName>style.visibility</p:attrName>
                                        </p:attrNameLst>
                                      </p:cBhvr>
                                      <p:to>
                                        <p:strVal val="visible"/>
                                      </p:to>
                                    </p:set>
                                    <p:animEffect transition="in" filter="dissolve">
                                      <p:cBhvr>
                                        <p:cTn id="23" dur="500"/>
                                        <p:tgtEl>
                                          <p:spTgt spid="2403465">
                                            <p:txEl>
                                              <p:charRg st="30" end="57"/>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403468"/>
                                        </p:tgtEl>
                                        <p:attrNameLst>
                                          <p:attrName>style.visibility</p:attrName>
                                        </p:attrNameLst>
                                      </p:cBhvr>
                                      <p:to>
                                        <p:strVal val="visible"/>
                                      </p:to>
                                    </p:set>
                                    <p:animEffect transition="in" filter="dissolve">
                                      <p:cBhvr>
                                        <p:cTn id="28" dur="500"/>
                                        <p:tgtEl>
                                          <p:spTgt spid="2403468"/>
                                        </p:tgtEl>
                                      </p:cBhvr>
                                    </p:animEffect>
                                  </p:childTnLst>
                                </p:cTn>
                              </p:par>
                              <p:par>
                                <p:cTn id="29" presetID="9" presetClass="entr" presetSubtype="0" fill="hold" nodeType="withEffect">
                                  <p:stCondLst>
                                    <p:cond delay="0"/>
                                  </p:stCondLst>
                                  <p:childTnLst>
                                    <p:set>
                                      <p:cBhvr>
                                        <p:cTn id="30" dur="1" fill="hold">
                                          <p:stCondLst>
                                            <p:cond delay="0"/>
                                          </p:stCondLst>
                                        </p:cTn>
                                        <p:tgtEl>
                                          <p:spTgt spid="2403465">
                                            <p:txEl>
                                              <p:charRg st="57" end="96"/>
                                            </p:txEl>
                                          </p:spTgt>
                                        </p:tgtEl>
                                        <p:attrNameLst>
                                          <p:attrName>style.visibility</p:attrName>
                                        </p:attrNameLst>
                                      </p:cBhvr>
                                      <p:to>
                                        <p:strVal val="visible"/>
                                      </p:to>
                                    </p:set>
                                    <p:animEffect transition="in" filter="dissolve">
                                      <p:cBhvr>
                                        <p:cTn id="31" dur="500"/>
                                        <p:tgtEl>
                                          <p:spTgt spid="2403465">
                                            <p:txEl>
                                              <p:charRg st="57" end="9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3464" grpId="0" bldLvl="0" animBg="1"/>
      <p:bldP spid="2403466" grpId="0"/>
      <p:bldP spid="2403467" grpId="0"/>
      <p:bldP spid="2403468"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3363" name="Text Box 35"/>
          <p:cNvSpPr txBox="1">
            <a:spLocks noChangeArrowheads="1"/>
          </p:cNvSpPr>
          <p:nvPr/>
        </p:nvSpPr>
        <p:spPr bwMode="auto">
          <a:xfrm>
            <a:off x="1295400" y="44450"/>
            <a:ext cx="669925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4.2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测量放大器的电路原理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3464" name="Text Box 136"/>
          <p:cNvSpPr txBox="1"/>
          <p:nvPr/>
        </p:nvSpPr>
        <p:spPr>
          <a:xfrm>
            <a:off x="719138" y="1052513"/>
            <a:ext cx="7956550" cy="74930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b="1" dirty="0">
                <a:solidFill>
                  <a:srgbClr val="333399"/>
                </a:solidFill>
                <a:latin typeface="Times New Roman" panose="02020603050405020304" pitchFamily="18" charset="0"/>
              </a:rPr>
              <a:t>在弱信号、强干扰的环境中，普通的“高精度、低漂移”的运放（如</a:t>
            </a:r>
            <a:r>
              <a:rPr lang="en-US" altLang="zh-CN" sz="2400" b="1" dirty="0">
                <a:solidFill>
                  <a:srgbClr val="333399"/>
                </a:solidFill>
                <a:latin typeface="Times New Roman" panose="02020603050405020304" pitchFamily="18" charset="0"/>
              </a:rPr>
              <a:t>OP07</a:t>
            </a:r>
            <a:r>
              <a:rPr lang="zh-CN" altLang="en-US" sz="2400" b="1" dirty="0">
                <a:solidFill>
                  <a:srgbClr val="333399"/>
                </a:solidFill>
                <a:latin typeface="Times New Roman" panose="02020603050405020304" pitchFamily="18" charset="0"/>
              </a:rPr>
              <a:t>，</a:t>
            </a:r>
            <a:r>
              <a:rPr lang="en-US" altLang="zh-CN" sz="2400" b="1" dirty="0">
                <a:solidFill>
                  <a:srgbClr val="333399"/>
                </a:solidFill>
                <a:latin typeface="Times New Roman" panose="02020603050405020304" pitchFamily="18" charset="0"/>
              </a:rPr>
              <a:t>AD517</a:t>
            </a:r>
            <a:r>
              <a:rPr lang="zh-CN" altLang="en-US" sz="2400" b="1" dirty="0">
                <a:solidFill>
                  <a:srgbClr val="333399"/>
                </a:solidFill>
                <a:latin typeface="Times New Roman" panose="02020603050405020304" pitchFamily="18" charset="0"/>
              </a:rPr>
              <a:t>等），仍然无法代替测量放大器。</a:t>
            </a:r>
            <a:endParaRPr lang="zh-CN" altLang="en-US" sz="2400" b="1" dirty="0">
              <a:solidFill>
                <a:srgbClr val="333399"/>
              </a:solidFill>
              <a:latin typeface="Times New Roman" panose="02020603050405020304" pitchFamily="18" charset="0"/>
            </a:endParaRPr>
          </a:p>
        </p:txBody>
      </p:sp>
      <p:sp>
        <p:nvSpPr>
          <p:cNvPr id="2403465" name="Text Box 137"/>
          <p:cNvSpPr txBox="1"/>
          <p:nvPr/>
        </p:nvSpPr>
        <p:spPr>
          <a:xfrm>
            <a:off x="1295400" y="2457450"/>
            <a:ext cx="7237413" cy="3086100"/>
          </a:xfrm>
          <a:prstGeom prst="rect">
            <a:avLst/>
          </a:prstGeom>
          <a:noFill/>
          <a:ln w="9525">
            <a:noFill/>
          </a:ln>
        </p:spPr>
        <p:txBody>
          <a:bodyPr>
            <a:spAutoFit/>
          </a:bodyPr>
          <a:p>
            <a:pPr eaLnBrk="1" hangingPunct="1">
              <a:lnSpc>
                <a:spcPct val="90000"/>
              </a:lnSpc>
              <a:spcBef>
                <a:spcPct val="50000"/>
              </a:spcBef>
            </a:pPr>
            <a:r>
              <a:rPr lang="zh-CN" altLang="en-US" sz="2400" b="1" dirty="0">
                <a:solidFill>
                  <a:schemeClr val="tx1"/>
                </a:solidFill>
                <a:latin typeface="Times New Roman" panose="02020603050405020304" pitchFamily="18" charset="0"/>
                <a:ea typeface="黑体" panose="02010609060101010101" pitchFamily="49" charset="-122"/>
              </a:rPr>
              <a:t>普通运放的输入阻抗受反馈电阻影响不可能做得很高，因此不适于作为多点检测的前置放大器（因为信号源内阻不同，放大器增益也不同）；</a:t>
            </a:r>
            <a:endParaRPr lang="zh-CN" altLang="en-US" sz="24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pPr>
            <a:r>
              <a:rPr lang="zh-CN" altLang="en-US" sz="2400" b="1" dirty="0">
                <a:solidFill>
                  <a:schemeClr val="tx1"/>
                </a:solidFill>
                <a:latin typeface="Times New Roman" panose="02020603050405020304" pitchFamily="18" charset="0"/>
                <a:ea typeface="黑体" panose="02010609060101010101" pitchFamily="49" charset="-122"/>
              </a:rPr>
              <a:t>普通运放调节增益不方便，因为要保证两输入端电阻对称，必须在改变反馈量（调节增益）的同时，也要相应调节另一输入端等效输入电阻；</a:t>
            </a:r>
            <a:endParaRPr lang="zh-CN" altLang="en-US" sz="2400" b="1"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50000"/>
              </a:spcBef>
            </a:pPr>
            <a:r>
              <a:rPr lang="zh-CN" altLang="en-US" sz="2400" b="1" dirty="0">
                <a:solidFill>
                  <a:schemeClr val="tx1"/>
                </a:solidFill>
                <a:latin typeface="Times New Roman" panose="02020603050405020304" pitchFamily="18" charset="0"/>
                <a:ea typeface="黑体" panose="02010609060101010101" pitchFamily="49" charset="-122"/>
              </a:rPr>
              <a:t>普通运放抗共模干扰的能力低于测量放大器，尤其是对交流共模信号，原因是无法接入“输入保护”电路。</a:t>
            </a:r>
            <a:endParaRPr lang="zh-CN" altLang="en-US" sz="2400" b="1" dirty="0">
              <a:solidFill>
                <a:schemeClr val="tx1"/>
              </a:solidFill>
              <a:latin typeface="Times New Roman" panose="02020603050405020304" pitchFamily="18" charset="0"/>
              <a:ea typeface="黑体" panose="02010609060101010101" pitchFamily="49" charset="-122"/>
            </a:endParaRPr>
          </a:p>
        </p:txBody>
      </p:sp>
      <p:sp>
        <p:nvSpPr>
          <p:cNvPr id="2403466" name="Text Box 138"/>
          <p:cNvSpPr txBox="1"/>
          <p:nvPr/>
        </p:nvSpPr>
        <p:spPr>
          <a:xfrm>
            <a:off x="935038" y="2505075"/>
            <a:ext cx="719137" cy="420688"/>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
        <p:nvSpPr>
          <p:cNvPr id="2403467" name="Text Box 139"/>
          <p:cNvSpPr txBox="1"/>
          <p:nvPr/>
        </p:nvSpPr>
        <p:spPr>
          <a:xfrm>
            <a:off x="935038" y="3656013"/>
            <a:ext cx="719137"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
        <p:nvSpPr>
          <p:cNvPr id="2403468" name="Text Box 140"/>
          <p:cNvSpPr txBox="1"/>
          <p:nvPr/>
        </p:nvSpPr>
        <p:spPr>
          <a:xfrm>
            <a:off x="935038" y="4833938"/>
            <a:ext cx="719137" cy="420687"/>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Ø"/>
            </a:pPr>
            <a:r>
              <a:rPr lang="en-US" altLang="zh-CN" sz="2400" b="1" dirty="0">
                <a:solidFill>
                  <a:srgbClr val="333399"/>
                </a:solidFill>
                <a:latin typeface="Times New Roman" panose="02020603050405020304" pitchFamily="18" charset="0"/>
              </a:rPr>
              <a:t> </a:t>
            </a:r>
            <a:endParaRPr lang="en-US" altLang="zh-CN" sz="24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3464"/>
                                        </p:tgtEl>
                                        <p:attrNameLst>
                                          <p:attrName>style.visibility</p:attrName>
                                        </p:attrNameLst>
                                      </p:cBhvr>
                                      <p:to>
                                        <p:strVal val="visible"/>
                                      </p:to>
                                    </p:set>
                                    <p:animEffect transition="in" filter="dissolve">
                                      <p:cBhvr>
                                        <p:cTn id="7" dur="500"/>
                                        <p:tgtEl>
                                          <p:spTgt spid="24034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03466"/>
                                        </p:tgtEl>
                                        <p:attrNameLst>
                                          <p:attrName>style.visibility</p:attrName>
                                        </p:attrNameLst>
                                      </p:cBhvr>
                                      <p:to>
                                        <p:strVal val="visible"/>
                                      </p:to>
                                    </p:set>
                                    <p:animEffect transition="in" filter="dissolve">
                                      <p:cBhvr>
                                        <p:cTn id="12" dur="500"/>
                                        <p:tgtEl>
                                          <p:spTgt spid="2403466"/>
                                        </p:tgtEl>
                                      </p:cBhvr>
                                    </p:animEffect>
                                  </p:childTnLst>
                                </p:cTn>
                              </p:par>
                              <p:par>
                                <p:cTn id="13" presetID="9" presetClass="entr" presetSubtype="0" fill="hold" nodeType="withEffect">
                                  <p:stCondLst>
                                    <p:cond delay="0"/>
                                  </p:stCondLst>
                                  <p:childTnLst>
                                    <p:set>
                                      <p:cBhvr>
                                        <p:cTn id="14" dur="1" fill="hold">
                                          <p:stCondLst>
                                            <p:cond delay="0"/>
                                          </p:stCondLst>
                                        </p:cTn>
                                        <p:tgtEl>
                                          <p:spTgt spid="2403465">
                                            <p:txEl>
                                              <p:charRg st="0" end="63"/>
                                            </p:txEl>
                                          </p:spTgt>
                                        </p:tgtEl>
                                        <p:attrNameLst>
                                          <p:attrName>style.visibility</p:attrName>
                                        </p:attrNameLst>
                                      </p:cBhvr>
                                      <p:to>
                                        <p:strVal val="visible"/>
                                      </p:to>
                                    </p:set>
                                    <p:animEffect transition="in" filter="dissolve">
                                      <p:cBhvr>
                                        <p:cTn id="15" dur="500"/>
                                        <p:tgtEl>
                                          <p:spTgt spid="2403465">
                                            <p:txEl>
                                              <p:charRg st="0" end="6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03467"/>
                                        </p:tgtEl>
                                        <p:attrNameLst>
                                          <p:attrName>style.visibility</p:attrName>
                                        </p:attrNameLst>
                                      </p:cBhvr>
                                      <p:to>
                                        <p:strVal val="visible"/>
                                      </p:to>
                                    </p:set>
                                    <p:animEffect transition="in" filter="dissolve">
                                      <p:cBhvr>
                                        <p:cTn id="20" dur="500"/>
                                        <p:tgtEl>
                                          <p:spTgt spid="2403467"/>
                                        </p:tgtEl>
                                      </p:cBhvr>
                                    </p:animEffect>
                                  </p:childTnLst>
                                </p:cTn>
                              </p:par>
                              <p:par>
                                <p:cTn id="21" presetID="9" presetClass="entr" presetSubtype="0" fill="hold" nodeType="withEffect">
                                  <p:stCondLst>
                                    <p:cond delay="0"/>
                                  </p:stCondLst>
                                  <p:childTnLst>
                                    <p:set>
                                      <p:cBhvr>
                                        <p:cTn id="22" dur="1" fill="hold">
                                          <p:stCondLst>
                                            <p:cond delay="0"/>
                                          </p:stCondLst>
                                        </p:cTn>
                                        <p:tgtEl>
                                          <p:spTgt spid="2403465">
                                            <p:txEl>
                                              <p:charRg st="63" end="126"/>
                                            </p:txEl>
                                          </p:spTgt>
                                        </p:tgtEl>
                                        <p:attrNameLst>
                                          <p:attrName>style.visibility</p:attrName>
                                        </p:attrNameLst>
                                      </p:cBhvr>
                                      <p:to>
                                        <p:strVal val="visible"/>
                                      </p:to>
                                    </p:set>
                                    <p:animEffect transition="in" filter="dissolve">
                                      <p:cBhvr>
                                        <p:cTn id="23" dur="500"/>
                                        <p:tgtEl>
                                          <p:spTgt spid="2403465">
                                            <p:txEl>
                                              <p:charRg st="63" end="12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403468"/>
                                        </p:tgtEl>
                                        <p:attrNameLst>
                                          <p:attrName>style.visibility</p:attrName>
                                        </p:attrNameLst>
                                      </p:cBhvr>
                                      <p:to>
                                        <p:strVal val="visible"/>
                                      </p:to>
                                    </p:set>
                                    <p:animEffect transition="in" filter="dissolve">
                                      <p:cBhvr>
                                        <p:cTn id="28" dur="500"/>
                                        <p:tgtEl>
                                          <p:spTgt spid="2403468"/>
                                        </p:tgtEl>
                                      </p:cBhvr>
                                    </p:animEffect>
                                  </p:childTnLst>
                                </p:cTn>
                              </p:par>
                              <p:par>
                                <p:cTn id="29" presetID="9" presetClass="entr" presetSubtype="0" fill="hold" nodeType="withEffect">
                                  <p:stCondLst>
                                    <p:cond delay="0"/>
                                  </p:stCondLst>
                                  <p:childTnLst>
                                    <p:set>
                                      <p:cBhvr>
                                        <p:cTn id="30" dur="1" fill="hold">
                                          <p:stCondLst>
                                            <p:cond delay="0"/>
                                          </p:stCondLst>
                                        </p:cTn>
                                        <p:tgtEl>
                                          <p:spTgt spid="2403465">
                                            <p:txEl>
                                              <p:charRg st="126" end="174"/>
                                            </p:txEl>
                                          </p:spTgt>
                                        </p:tgtEl>
                                        <p:attrNameLst>
                                          <p:attrName>style.visibility</p:attrName>
                                        </p:attrNameLst>
                                      </p:cBhvr>
                                      <p:to>
                                        <p:strVal val="visible"/>
                                      </p:to>
                                    </p:set>
                                    <p:animEffect transition="in" filter="dissolve">
                                      <p:cBhvr>
                                        <p:cTn id="31" dur="500"/>
                                        <p:tgtEl>
                                          <p:spTgt spid="2403465">
                                            <p:txEl>
                                              <p:charRg st="126" end="17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3464" grpId="0" bldLvl="0" animBg="1"/>
      <p:bldP spid="2403466" grpId="0"/>
      <p:bldP spid="2403467" grpId="0"/>
      <p:bldP spid="2403468"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1795" name="Text Box 3091"/>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1796" name="Text Box 3092"/>
          <p:cNvSpPr txBox="1"/>
          <p:nvPr/>
        </p:nvSpPr>
        <p:spPr>
          <a:xfrm>
            <a:off x="503238" y="873125"/>
            <a:ext cx="2597150"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非线性度 </a:t>
            </a:r>
            <a:endParaRPr lang="zh-CN" altLang="en-US" sz="3600" b="1" dirty="0">
              <a:solidFill>
                <a:srgbClr val="333399"/>
              </a:solidFill>
              <a:latin typeface="Times New Roman" panose="02020603050405020304" pitchFamily="18" charset="0"/>
            </a:endParaRPr>
          </a:p>
        </p:txBody>
      </p:sp>
      <p:sp>
        <p:nvSpPr>
          <p:cNvPr id="2251797" name="Text Box 3093"/>
          <p:cNvSpPr txBox="1"/>
          <p:nvPr/>
        </p:nvSpPr>
        <p:spPr>
          <a:xfrm>
            <a:off x="755650" y="1628775"/>
            <a:ext cx="7802563" cy="97790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非线性度</a:t>
            </a:r>
            <a:r>
              <a:rPr lang="zh-CN" altLang="en-US" sz="3200" b="1" dirty="0">
                <a:solidFill>
                  <a:srgbClr val="333399"/>
                </a:solidFill>
                <a:latin typeface="黑体" panose="02010609060101010101" pitchFamily="49" charset="-122"/>
                <a:ea typeface="黑体" panose="02010609060101010101" pitchFamily="49" charset="-122"/>
              </a:rPr>
              <a:t>：放大器实际输出输入关系曲线</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与理想直线的偏差。 </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51799" name="Text Box 3095"/>
          <p:cNvSpPr txBox="1"/>
          <p:nvPr/>
        </p:nvSpPr>
        <p:spPr>
          <a:xfrm>
            <a:off x="1285875" y="2795588"/>
            <a:ext cx="7272338" cy="860425"/>
          </a:xfrm>
          <a:prstGeom prst="rect">
            <a:avLst/>
          </a:prstGeom>
          <a:noFill/>
          <a:ln w="9525">
            <a:noFill/>
          </a:ln>
        </p:spPr>
        <p:txBody>
          <a:bodyPr>
            <a:spAutoFit/>
          </a:bodyPr>
          <a:p>
            <a:pPr eaLnBrk="1" hangingPunct="1">
              <a:lnSpc>
                <a:spcPct val="90000"/>
              </a:lnSpc>
            </a:pPr>
            <a:r>
              <a:rPr lang="zh-CN" altLang="en-US" sz="2800" b="1" dirty="0">
                <a:solidFill>
                  <a:schemeClr val="tx1"/>
                </a:solidFill>
                <a:latin typeface="Times New Roman" panose="02020603050405020304" pitchFamily="18" charset="0"/>
              </a:rPr>
              <a:t>非线性度与增益有关，且对数据采集精度影响很大</a:t>
            </a:r>
            <a:r>
              <a:rPr lang="zh-CN" altLang="en-US" sz="2800" b="1" dirty="0">
                <a:solidFill>
                  <a:schemeClr val="tx1"/>
                </a:solidFill>
                <a:latin typeface="Times New Roman" panose="02020603050405020304" pitchFamily="18" charset="0"/>
                <a:ea typeface="宋体" panose="02010600030101010101" pitchFamily="2" charset="-122"/>
              </a:rPr>
              <a:t>。</a:t>
            </a:r>
            <a:endParaRPr lang="zh-CN" altLang="en-US" sz="2800" b="1" dirty="0">
              <a:solidFill>
                <a:schemeClr val="tx1"/>
              </a:solidFill>
              <a:latin typeface="Times New Roman" panose="02020603050405020304" pitchFamily="18" charset="0"/>
              <a:ea typeface="宋体" panose="02010600030101010101" pitchFamily="2" charset="-122"/>
            </a:endParaRPr>
          </a:p>
        </p:txBody>
      </p:sp>
      <p:sp>
        <p:nvSpPr>
          <p:cNvPr id="2251800" name="Text Box 3096"/>
          <p:cNvSpPr txBox="1"/>
          <p:nvPr/>
        </p:nvSpPr>
        <p:spPr>
          <a:xfrm>
            <a:off x="646113" y="3762375"/>
            <a:ext cx="1404937" cy="530225"/>
          </a:xfrm>
          <a:prstGeom prst="rect">
            <a:avLst/>
          </a:prstGeom>
          <a:solidFill>
            <a:srgbClr val="FF99CC"/>
          </a:solidFill>
          <a:ln w="9525">
            <a:noFill/>
          </a:ln>
        </p:spPr>
        <p:txBody>
          <a:bodyPr>
            <a:spAutoFit/>
          </a:bodyPr>
          <a:p>
            <a:pPr eaLnBrk="1" hangingPunct="1">
              <a:lnSpc>
                <a:spcPct val="90000"/>
              </a:lnSpc>
              <a:spcBef>
                <a:spcPct val="50000"/>
              </a:spcBef>
            </a:pPr>
            <a:r>
              <a:rPr lang="zh-CN" altLang="en-US" sz="3200" b="1" dirty="0">
                <a:solidFill>
                  <a:srgbClr val="FF0000"/>
                </a:solidFill>
                <a:latin typeface="Times New Roman" panose="02020603050405020304" pitchFamily="18" charset="0"/>
                <a:ea typeface="黑体" panose="02010609060101010101" pitchFamily="49" charset="-122"/>
              </a:rPr>
              <a:t>例如：</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2251801" name="Text Box 3097"/>
          <p:cNvSpPr txBox="1"/>
          <p:nvPr/>
        </p:nvSpPr>
        <p:spPr>
          <a:xfrm>
            <a:off x="1058863" y="4389438"/>
            <a:ext cx="7499350" cy="1406525"/>
          </a:xfrm>
          <a:prstGeom prst="rect">
            <a:avLst/>
          </a:prstGeom>
          <a:noFill/>
          <a:ln w="9525">
            <a:noFill/>
          </a:ln>
        </p:spPr>
        <p:txBody>
          <a:bodyPr>
            <a:spAutoFit/>
          </a:bodyPr>
          <a:p>
            <a:pPr eaLnBrk="1" hangingPunct="1">
              <a:lnSpc>
                <a:spcPct val="90000"/>
              </a:lnSpc>
            </a:pPr>
            <a:r>
              <a:rPr lang="zh-CN" altLang="en-US" sz="2400" b="1" dirty="0">
                <a:solidFill>
                  <a:srgbClr val="333399"/>
                </a:solidFill>
                <a:latin typeface="Times New Roman" panose="02020603050405020304" pitchFamily="18" charset="0"/>
              </a:rPr>
              <a:t>一个测量放大器，当增益为</a:t>
            </a:r>
            <a:r>
              <a:rPr lang="en-US" altLang="zh-CN" sz="2400" b="1" dirty="0">
                <a:solidFill>
                  <a:srgbClr val="FF0000"/>
                </a:solidFill>
                <a:latin typeface="Times New Roman" panose="02020603050405020304" pitchFamily="18" charset="0"/>
              </a:rPr>
              <a:t>1</a:t>
            </a:r>
            <a:r>
              <a:rPr lang="zh-CN" altLang="en-US" sz="2400" b="1" dirty="0">
                <a:solidFill>
                  <a:srgbClr val="333399"/>
                </a:solidFill>
                <a:latin typeface="Times New Roman" panose="02020603050405020304" pitchFamily="18" charset="0"/>
              </a:rPr>
              <a:t>时，非线性度为</a:t>
            </a:r>
            <a:r>
              <a:rPr lang="en-US" altLang="zh-CN" sz="2400" b="1" dirty="0">
                <a:solidFill>
                  <a:srgbClr val="FF0000"/>
                </a:solidFill>
                <a:latin typeface="Times New Roman" panose="02020603050405020304" pitchFamily="18" charset="0"/>
              </a:rPr>
              <a:t>0.025%</a:t>
            </a:r>
            <a:r>
              <a:rPr lang="zh-CN" altLang="en-US" sz="2400" b="1" dirty="0">
                <a:solidFill>
                  <a:srgbClr val="333399"/>
                </a:solidFill>
                <a:latin typeface="Times New Roman" panose="02020603050405020304" pitchFamily="18" charset="0"/>
              </a:rPr>
              <a:t>；当增益为</a:t>
            </a:r>
            <a:r>
              <a:rPr lang="en-US" altLang="zh-CN" sz="2400" b="1" dirty="0">
                <a:solidFill>
                  <a:srgbClr val="FF0000"/>
                </a:solidFill>
                <a:latin typeface="Times New Roman" panose="02020603050405020304" pitchFamily="18" charset="0"/>
              </a:rPr>
              <a:t>500</a:t>
            </a:r>
            <a:r>
              <a:rPr lang="zh-CN" altLang="en-US" sz="2400" b="1" dirty="0">
                <a:solidFill>
                  <a:srgbClr val="333399"/>
                </a:solidFill>
                <a:latin typeface="Times New Roman" panose="02020603050405020304" pitchFamily="18" charset="0"/>
              </a:rPr>
              <a:t>时，非线性度有可能达到</a:t>
            </a:r>
            <a:r>
              <a:rPr lang="en-US" altLang="zh-CN" sz="2400" b="1" dirty="0">
                <a:solidFill>
                  <a:srgbClr val="FF0000"/>
                </a:solidFill>
                <a:latin typeface="Times New Roman" panose="02020603050405020304" pitchFamily="18" charset="0"/>
              </a:rPr>
              <a:t>0.1%</a:t>
            </a:r>
            <a:r>
              <a:rPr lang="zh-CN" altLang="en-US" sz="2400" b="1" dirty="0">
                <a:solidFill>
                  <a:srgbClr val="333399"/>
                </a:solidFill>
                <a:latin typeface="Times New Roman" panose="02020603050405020304" pitchFamily="18" charset="0"/>
              </a:rPr>
              <a:t>。如果将其用于一个</a:t>
            </a:r>
            <a:r>
              <a:rPr lang="en-US" altLang="zh-CN" sz="2400" b="1" dirty="0">
                <a:solidFill>
                  <a:srgbClr val="FF0000"/>
                </a:solidFill>
                <a:latin typeface="Times New Roman" panose="02020603050405020304" pitchFamily="18" charset="0"/>
              </a:rPr>
              <a:t>12</a:t>
            </a:r>
            <a:r>
              <a:rPr lang="zh-CN" altLang="en-US" sz="2400" b="1" dirty="0">
                <a:solidFill>
                  <a:srgbClr val="333399"/>
                </a:solidFill>
                <a:latin typeface="Times New Roman" panose="02020603050405020304" pitchFamily="18" charset="0"/>
              </a:rPr>
              <a:t>位的</a:t>
            </a:r>
            <a:r>
              <a:rPr lang="en-US" altLang="zh-CN" sz="2400" b="1" dirty="0">
                <a:solidFill>
                  <a:srgbClr val="333399"/>
                </a:solidFill>
                <a:latin typeface="Times New Roman" panose="02020603050405020304" pitchFamily="18" charset="0"/>
              </a:rPr>
              <a:t>A/D</a:t>
            </a:r>
            <a:r>
              <a:rPr lang="zh-CN" altLang="en-US" sz="2400" b="1" dirty="0">
                <a:solidFill>
                  <a:srgbClr val="333399"/>
                </a:solidFill>
                <a:latin typeface="Times New Roman" panose="02020603050405020304" pitchFamily="18" charset="0"/>
              </a:rPr>
              <a:t>转换器中，将会严重影响</a:t>
            </a:r>
            <a:r>
              <a:rPr lang="en-US" altLang="zh-CN" sz="2400" b="1" dirty="0">
                <a:solidFill>
                  <a:srgbClr val="333399"/>
                </a:solidFill>
                <a:latin typeface="Times New Roman" panose="02020603050405020304" pitchFamily="18" charset="0"/>
              </a:rPr>
              <a:t>A/D</a:t>
            </a:r>
            <a:r>
              <a:rPr lang="zh-CN" altLang="en-US" sz="2400" b="1" dirty="0">
                <a:solidFill>
                  <a:srgbClr val="333399"/>
                </a:solidFill>
                <a:latin typeface="Times New Roman" panose="02020603050405020304" pitchFamily="18" charset="0"/>
              </a:rPr>
              <a:t>转换器的精度，相当于变成了</a:t>
            </a:r>
            <a:r>
              <a:rPr lang="en-US" altLang="zh-CN" sz="2400" b="1" dirty="0">
                <a:solidFill>
                  <a:srgbClr val="FF0000"/>
                </a:solidFill>
                <a:latin typeface="Times New Roman" panose="02020603050405020304" pitchFamily="18" charset="0"/>
              </a:rPr>
              <a:t>10</a:t>
            </a:r>
            <a:r>
              <a:rPr lang="zh-CN" altLang="en-US" sz="2400" b="1" dirty="0">
                <a:solidFill>
                  <a:srgbClr val="333399"/>
                </a:solidFill>
                <a:latin typeface="Times New Roman" panose="02020603050405020304" pitchFamily="18" charset="0"/>
              </a:rPr>
              <a:t>位以下的转换器。</a:t>
            </a:r>
            <a:endParaRPr lang="zh-CN" altLang="en-US" sz="2400" b="1" dirty="0">
              <a:solidFill>
                <a:srgbClr val="333399"/>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1796"/>
                                        </p:tgtEl>
                                        <p:attrNameLst>
                                          <p:attrName>style.visibility</p:attrName>
                                        </p:attrNameLst>
                                      </p:cBhvr>
                                      <p:to>
                                        <p:strVal val="visible"/>
                                      </p:to>
                                    </p:set>
                                    <p:animEffect transition="in" filter="dissolve">
                                      <p:cBhvr>
                                        <p:cTn id="7" dur="500"/>
                                        <p:tgtEl>
                                          <p:spTgt spid="22517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1797"/>
                                        </p:tgtEl>
                                        <p:attrNameLst>
                                          <p:attrName>style.visibility</p:attrName>
                                        </p:attrNameLst>
                                      </p:cBhvr>
                                      <p:to>
                                        <p:strVal val="visible"/>
                                      </p:to>
                                    </p:set>
                                    <p:animEffect transition="in" filter="dissolve">
                                      <p:cBhvr>
                                        <p:cTn id="12" dur="500"/>
                                        <p:tgtEl>
                                          <p:spTgt spid="225179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1799"/>
                                        </p:tgtEl>
                                        <p:attrNameLst>
                                          <p:attrName>style.visibility</p:attrName>
                                        </p:attrNameLst>
                                      </p:cBhvr>
                                      <p:to>
                                        <p:strVal val="visible"/>
                                      </p:to>
                                    </p:set>
                                    <p:animEffect transition="in" filter="dissolve">
                                      <p:cBhvr>
                                        <p:cTn id="17" dur="500"/>
                                        <p:tgtEl>
                                          <p:spTgt spid="225179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1800"/>
                                        </p:tgtEl>
                                        <p:attrNameLst>
                                          <p:attrName>style.visibility</p:attrName>
                                        </p:attrNameLst>
                                      </p:cBhvr>
                                      <p:to>
                                        <p:strVal val="visible"/>
                                      </p:to>
                                    </p:set>
                                    <p:animEffect transition="in" filter="dissolve">
                                      <p:cBhvr>
                                        <p:cTn id="22" dur="500"/>
                                        <p:tgtEl>
                                          <p:spTgt spid="225180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51801"/>
                                        </p:tgtEl>
                                        <p:attrNameLst>
                                          <p:attrName>style.visibility</p:attrName>
                                        </p:attrNameLst>
                                      </p:cBhvr>
                                      <p:to>
                                        <p:strVal val="visible"/>
                                      </p:to>
                                    </p:set>
                                    <p:animEffect transition="in" filter="dissolve">
                                      <p:cBhvr>
                                        <p:cTn id="27" dur="500"/>
                                        <p:tgtEl>
                                          <p:spTgt spid="22518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1796" grpId="0" bldLvl="0" animBg="1"/>
      <p:bldP spid="2251797" grpId="0" bldLvl="0" animBg="1"/>
      <p:bldP spid="2251799" grpId="0"/>
      <p:bldP spid="2251800" grpId="0" bldLvl="0" animBg="1"/>
      <p:bldP spid="2251801"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847" name="Text Box 23"/>
          <p:cNvSpPr txBox="1"/>
          <p:nvPr/>
        </p:nvSpPr>
        <p:spPr>
          <a:xfrm>
            <a:off x="573088" y="855663"/>
            <a:ext cx="187483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2. </a:t>
            </a:r>
            <a:r>
              <a:rPr lang="zh-CN" altLang="en-US" sz="3600" b="1" dirty="0">
                <a:solidFill>
                  <a:srgbClr val="333399"/>
                </a:solidFill>
                <a:latin typeface="Times New Roman" panose="02020603050405020304" pitchFamily="18" charset="0"/>
              </a:rPr>
              <a:t>温漂</a:t>
            </a:r>
            <a:endParaRPr lang="zh-CN" altLang="en-US" sz="3600" b="1" dirty="0">
              <a:solidFill>
                <a:srgbClr val="333399"/>
              </a:solidFill>
              <a:latin typeface="Times New Roman" panose="02020603050405020304" pitchFamily="18" charset="0"/>
            </a:endParaRPr>
          </a:p>
        </p:txBody>
      </p:sp>
      <p:sp>
        <p:nvSpPr>
          <p:cNvPr id="2253849" name="Text Box 25"/>
          <p:cNvSpPr txBox="1"/>
          <p:nvPr/>
        </p:nvSpPr>
        <p:spPr>
          <a:xfrm>
            <a:off x="827088" y="1628775"/>
            <a:ext cx="7610475" cy="97790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温漂</a:t>
            </a:r>
            <a:r>
              <a:rPr lang="zh-CN" altLang="en-US" sz="3200" b="1" dirty="0">
                <a:solidFill>
                  <a:srgbClr val="333399"/>
                </a:solidFill>
                <a:latin typeface="黑体" panose="02010609060101010101" pitchFamily="49" charset="-122"/>
                <a:ea typeface="黑体" panose="02010609060101010101" pitchFamily="49" charset="-122"/>
              </a:rPr>
              <a:t>：测量放大器输出电压随温度变化而</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变化的程度。</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53850" name="Text Box 26"/>
          <p:cNvSpPr txBox="1"/>
          <p:nvPr/>
        </p:nvSpPr>
        <p:spPr>
          <a:xfrm>
            <a:off x="404813" y="4040188"/>
            <a:ext cx="1560512" cy="530225"/>
          </a:xfrm>
          <a:prstGeom prst="rect">
            <a:avLst/>
          </a:prstGeom>
          <a:solidFill>
            <a:srgbClr val="FF99CC"/>
          </a:solidFill>
          <a:ln w="9525">
            <a:noFill/>
          </a:ln>
        </p:spPr>
        <p:txBody>
          <a:bodyPr>
            <a:spAutoFit/>
          </a:bodyPr>
          <a:p>
            <a:pPr eaLnBrk="1" hangingPunct="1">
              <a:lnSpc>
                <a:spcPct val="90000"/>
              </a:lnSpc>
              <a:spcBef>
                <a:spcPct val="50000"/>
              </a:spcBef>
            </a:pPr>
            <a:r>
              <a:rPr lang="zh-CN" altLang="en-US" sz="3200" b="1" dirty="0">
                <a:solidFill>
                  <a:srgbClr val="FF0000"/>
                </a:solidFill>
                <a:latin typeface="Times New Roman" panose="02020603050405020304" pitchFamily="18" charset="0"/>
                <a:ea typeface="黑体" panose="02010609060101010101" pitchFamily="49" charset="-122"/>
              </a:rPr>
              <a:t>例如：</a:t>
            </a:r>
            <a:endParaRPr lang="zh-CN" altLang="en-US" sz="3200" b="1" dirty="0">
              <a:solidFill>
                <a:srgbClr val="FF0000"/>
              </a:solidFill>
              <a:latin typeface="Times New Roman" panose="02020603050405020304" pitchFamily="18" charset="0"/>
              <a:ea typeface="黑体" panose="02010609060101010101" pitchFamily="49" charset="-122"/>
            </a:endParaRPr>
          </a:p>
        </p:txBody>
      </p:sp>
      <p:sp>
        <p:nvSpPr>
          <p:cNvPr id="2253851" name="Text Box 27"/>
          <p:cNvSpPr txBox="1"/>
          <p:nvPr/>
        </p:nvSpPr>
        <p:spPr>
          <a:xfrm>
            <a:off x="1116013" y="4724400"/>
            <a:ext cx="7250112" cy="1187450"/>
          </a:xfrm>
          <a:prstGeom prst="rect">
            <a:avLst/>
          </a:prstGeom>
          <a:noFill/>
          <a:ln w="9525">
            <a:noFill/>
          </a:ln>
        </p:spPr>
        <p:txBody>
          <a:bodyPr>
            <a:spAutoFit/>
          </a:bodyPr>
          <a:p>
            <a:pPr eaLnBrk="1" hangingPunct="1"/>
            <a:r>
              <a:rPr lang="zh-CN" altLang="en-US" sz="2400" b="1" dirty="0">
                <a:solidFill>
                  <a:srgbClr val="3333FF"/>
                </a:solidFill>
                <a:latin typeface="Times New Roman" panose="02020603050405020304" pitchFamily="18" charset="0"/>
              </a:rPr>
              <a:t>一个温漂</a:t>
            </a:r>
            <a:r>
              <a:rPr lang="en-US" altLang="zh-CN" sz="2400" b="1" dirty="0">
                <a:solidFill>
                  <a:srgbClr val="CC00CC"/>
                </a:solidFill>
                <a:latin typeface="Times New Roman" panose="02020603050405020304" pitchFamily="18" charset="0"/>
                <a:ea typeface="宋体" panose="02010600030101010101" pitchFamily="2" charset="-122"/>
              </a:rPr>
              <a:t>2</a:t>
            </a:r>
            <a:r>
              <a:rPr lang="en-US" altLang="zh-CN" sz="2400" b="1"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400" b="1" dirty="0">
                <a:solidFill>
                  <a:srgbClr val="CC00CC"/>
                </a:solidFill>
                <a:latin typeface="Times New Roman" panose="02020603050405020304" pitchFamily="18" charset="0"/>
                <a:ea typeface="宋体" panose="02010600030101010101" pitchFamily="2" charset="-122"/>
              </a:rPr>
              <a:t>V/℃</a:t>
            </a:r>
            <a:r>
              <a:rPr lang="zh-CN" altLang="en-US" sz="2400" b="1" dirty="0">
                <a:solidFill>
                  <a:srgbClr val="3333FF"/>
                </a:solidFill>
                <a:latin typeface="Times New Roman" panose="02020603050405020304" pitchFamily="18" charset="0"/>
              </a:rPr>
              <a:t>的测量放大器</a:t>
            </a:r>
            <a:r>
              <a:rPr lang="zh-CN" altLang="en-US" sz="2400" b="1" dirty="0">
                <a:solidFill>
                  <a:srgbClr val="3333FF"/>
                </a:solidFill>
                <a:latin typeface="Times New Roman" panose="02020603050405020304" pitchFamily="18" charset="0"/>
                <a:ea typeface="宋体" panose="02010600030101010101" pitchFamily="2" charset="-122"/>
              </a:rPr>
              <a:t>，</a:t>
            </a:r>
            <a:r>
              <a:rPr lang="zh-CN" altLang="en-US" sz="2400" b="1" dirty="0">
                <a:solidFill>
                  <a:srgbClr val="3333FF"/>
                </a:solidFill>
                <a:latin typeface="Times New Roman" panose="02020603050405020304" pitchFamily="18" charset="0"/>
              </a:rPr>
              <a:t>当增益为</a:t>
            </a:r>
            <a:r>
              <a:rPr lang="en-US" altLang="zh-CN" sz="2400" b="1" dirty="0">
                <a:solidFill>
                  <a:srgbClr val="CC00CC"/>
                </a:solidFill>
                <a:latin typeface="Times New Roman" panose="02020603050405020304" pitchFamily="18" charset="0"/>
                <a:ea typeface="宋体" panose="02010600030101010101" pitchFamily="2" charset="-122"/>
              </a:rPr>
              <a:t>1000</a:t>
            </a:r>
            <a:r>
              <a:rPr lang="zh-CN" altLang="en-US" sz="2400" b="1" dirty="0">
                <a:solidFill>
                  <a:srgbClr val="3333FF"/>
                </a:solidFill>
                <a:latin typeface="Times New Roman" panose="02020603050405020304" pitchFamily="18" charset="0"/>
              </a:rPr>
              <a:t>时</a:t>
            </a:r>
            <a:r>
              <a:rPr lang="zh-CN" altLang="en-US" sz="2400" b="1" dirty="0">
                <a:solidFill>
                  <a:srgbClr val="3333FF"/>
                </a:solidFill>
                <a:latin typeface="Times New Roman" panose="02020603050405020304" pitchFamily="18" charset="0"/>
                <a:ea typeface="宋体" panose="02010600030101010101" pitchFamily="2" charset="-122"/>
              </a:rPr>
              <a:t>，</a:t>
            </a:r>
            <a:r>
              <a:rPr lang="zh-CN" altLang="en-US" sz="2400" b="1" dirty="0">
                <a:solidFill>
                  <a:srgbClr val="3333FF"/>
                </a:solidFill>
                <a:latin typeface="Times New Roman" panose="02020603050405020304" pitchFamily="18" charset="0"/>
              </a:rPr>
              <a:t>测量放大器的输出电压产生约</a:t>
            </a:r>
            <a:r>
              <a:rPr lang="en-US" altLang="zh-CN" sz="2400" b="1" dirty="0">
                <a:solidFill>
                  <a:srgbClr val="CC00CC"/>
                </a:solidFill>
                <a:latin typeface="Times New Roman" panose="02020603050405020304" pitchFamily="18" charset="0"/>
                <a:ea typeface="宋体" panose="02010600030101010101" pitchFamily="2" charset="-122"/>
              </a:rPr>
              <a:t>20mV</a:t>
            </a:r>
            <a:r>
              <a:rPr lang="zh-CN" altLang="en-US" sz="2400" b="1" dirty="0">
                <a:solidFill>
                  <a:srgbClr val="3333FF"/>
                </a:solidFill>
                <a:latin typeface="Times New Roman" panose="02020603050405020304" pitchFamily="18" charset="0"/>
              </a:rPr>
              <a:t>的变化</a:t>
            </a:r>
            <a:r>
              <a:rPr lang="zh-CN" altLang="en-US" sz="2400" b="1" dirty="0">
                <a:solidFill>
                  <a:srgbClr val="3333FF"/>
                </a:solidFill>
                <a:latin typeface="Times New Roman" panose="02020603050405020304" pitchFamily="18" charset="0"/>
                <a:ea typeface="宋体" panose="02010600030101010101" pitchFamily="2" charset="-122"/>
              </a:rPr>
              <a:t>。</a:t>
            </a:r>
            <a:r>
              <a:rPr lang="zh-CN" altLang="en-US" sz="2400" b="1" dirty="0">
                <a:solidFill>
                  <a:srgbClr val="3333FF"/>
                </a:solidFill>
                <a:latin typeface="楷体_GB2312" pitchFamily="49" charset="-122"/>
              </a:rPr>
              <a:t>这个数字相当于</a:t>
            </a:r>
            <a:r>
              <a:rPr lang="en-US" altLang="zh-CN" sz="2400" b="1" dirty="0">
                <a:solidFill>
                  <a:srgbClr val="3333FF"/>
                </a:solidFill>
                <a:latin typeface="Times New Roman" panose="02020603050405020304" pitchFamily="18" charset="0"/>
                <a:ea typeface="宋体" panose="02010600030101010101" pitchFamily="2" charset="-122"/>
              </a:rPr>
              <a:t>12</a:t>
            </a:r>
            <a:r>
              <a:rPr lang="zh-CN" altLang="en-US" sz="2400" b="1" dirty="0">
                <a:solidFill>
                  <a:srgbClr val="3333FF"/>
                </a:solidFill>
                <a:latin typeface="Times New Roman" panose="02020603050405020304" pitchFamily="18" charset="0"/>
              </a:rPr>
              <a:t>位</a:t>
            </a:r>
            <a:r>
              <a:rPr lang="en-US" altLang="zh-CN" sz="2400" b="1" dirty="0">
                <a:solidFill>
                  <a:srgbClr val="3333FF"/>
                </a:solidFill>
                <a:latin typeface="Times New Roman" panose="02020603050405020304" pitchFamily="18" charset="0"/>
                <a:ea typeface="宋体" panose="02010600030101010101" pitchFamily="2" charset="-122"/>
              </a:rPr>
              <a:t>A/D</a:t>
            </a:r>
            <a:r>
              <a:rPr lang="zh-CN" altLang="en-US" sz="2400" b="1" dirty="0">
                <a:solidFill>
                  <a:srgbClr val="3333FF"/>
                </a:solidFill>
                <a:latin typeface="Times New Roman" panose="02020603050405020304" pitchFamily="18" charset="0"/>
              </a:rPr>
              <a:t>转换器在满量程为</a:t>
            </a:r>
            <a:r>
              <a:rPr lang="en-US" altLang="zh-CN" sz="2400" b="1" dirty="0">
                <a:solidFill>
                  <a:srgbClr val="CC00CC"/>
                </a:solidFill>
                <a:latin typeface="Times New Roman" panose="02020603050405020304" pitchFamily="18" charset="0"/>
                <a:ea typeface="宋体" panose="02010600030101010101" pitchFamily="2" charset="-122"/>
              </a:rPr>
              <a:t>10V</a:t>
            </a:r>
            <a:r>
              <a:rPr lang="zh-CN" altLang="en-US" sz="2400" b="1" dirty="0">
                <a:solidFill>
                  <a:srgbClr val="3333FF"/>
                </a:solidFill>
                <a:latin typeface="Times New Roman" panose="02020603050405020304" pitchFamily="18" charset="0"/>
              </a:rPr>
              <a:t>的</a:t>
            </a:r>
            <a:r>
              <a:rPr lang="en-US" altLang="zh-CN" sz="2400" b="1" dirty="0">
                <a:solidFill>
                  <a:srgbClr val="CC00CC"/>
                </a:solidFill>
                <a:latin typeface="Times New Roman" panose="02020603050405020304" pitchFamily="18" charset="0"/>
                <a:ea typeface="宋体" panose="02010600030101010101" pitchFamily="2" charset="-122"/>
              </a:rPr>
              <a:t>8</a:t>
            </a:r>
            <a:r>
              <a:rPr lang="zh-CN" altLang="en-US" sz="2400" b="1" dirty="0">
                <a:solidFill>
                  <a:srgbClr val="3333FF"/>
                </a:solidFill>
                <a:latin typeface="Times New Roman" panose="02020603050405020304" pitchFamily="18" charset="0"/>
              </a:rPr>
              <a:t>个</a:t>
            </a:r>
            <a:r>
              <a:rPr lang="en-US" altLang="zh-CN" sz="2400" b="1" dirty="0">
                <a:solidFill>
                  <a:srgbClr val="CC00CC"/>
                </a:solidFill>
                <a:latin typeface="Times New Roman" panose="02020603050405020304" pitchFamily="18" charset="0"/>
                <a:ea typeface="宋体" panose="02010600030101010101" pitchFamily="2" charset="-122"/>
              </a:rPr>
              <a:t>LSB</a:t>
            </a:r>
            <a:r>
              <a:rPr lang="zh-CN" altLang="en-US" sz="2400" b="1" dirty="0">
                <a:solidFill>
                  <a:srgbClr val="3333FF"/>
                </a:solidFill>
                <a:latin typeface="Times New Roman" panose="02020603050405020304" pitchFamily="18" charset="0"/>
              </a:rPr>
              <a:t>值</a:t>
            </a:r>
            <a:r>
              <a:rPr lang="zh-CN" altLang="en-US" sz="2400" b="1" dirty="0">
                <a:solidFill>
                  <a:srgbClr val="3333FF"/>
                </a:solidFill>
                <a:latin typeface="Times New Roman" panose="02020603050405020304" pitchFamily="18" charset="0"/>
                <a:ea typeface="宋体" panose="02010600030101010101" pitchFamily="2" charset="-122"/>
              </a:rPr>
              <a:t>。</a:t>
            </a:r>
            <a:endParaRPr lang="zh-CN" altLang="en-US" sz="2400" b="1" dirty="0">
              <a:solidFill>
                <a:srgbClr val="3333FF"/>
              </a:solidFill>
              <a:latin typeface="Times New Roman" panose="02020603050405020304" pitchFamily="18" charset="0"/>
              <a:ea typeface="宋体" panose="02010600030101010101" pitchFamily="2" charset="-122"/>
            </a:endParaRPr>
          </a:p>
        </p:txBody>
      </p:sp>
      <p:sp>
        <p:nvSpPr>
          <p:cNvPr id="2253852" name="Text Box 28"/>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3853" name="Text Box 29"/>
          <p:cNvSpPr txBox="1"/>
          <p:nvPr/>
        </p:nvSpPr>
        <p:spPr>
          <a:xfrm>
            <a:off x="1187450" y="2795588"/>
            <a:ext cx="6840538" cy="1244600"/>
          </a:xfrm>
          <a:prstGeom prst="rect">
            <a:avLst/>
          </a:prstGeom>
          <a:noFill/>
          <a:ln w="9525">
            <a:noFill/>
          </a:ln>
        </p:spPr>
        <p:txBody>
          <a:bodyPr>
            <a:spAutoFit/>
          </a:bodyPr>
          <a:p>
            <a:pPr eaLnBrk="1" hangingPunct="1">
              <a:lnSpc>
                <a:spcPct val="90000"/>
              </a:lnSpc>
            </a:pPr>
            <a:r>
              <a:rPr lang="zh-CN" altLang="en-US" sz="2800" b="1" dirty="0">
                <a:solidFill>
                  <a:schemeClr val="tx1"/>
                </a:solidFill>
                <a:latin typeface="Times New Roman" panose="02020603050405020304" pitchFamily="18" charset="0"/>
              </a:rPr>
              <a:t>通常测量放大器的输出电压会随温度的变化而发生（</a:t>
            </a:r>
            <a:r>
              <a:rPr lang="en-US" altLang="zh-CN" sz="2800" b="1" dirty="0">
                <a:solidFill>
                  <a:schemeClr val="tx1"/>
                </a:solidFill>
                <a:latin typeface="Times New Roman" panose="02020603050405020304" pitchFamily="18" charset="0"/>
              </a:rPr>
              <a:t>1~50</a:t>
            </a:r>
            <a:r>
              <a:rPr lang="zh-CN" altLang="en-US" sz="2800" b="1" dirty="0">
                <a:solidFill>
                  <a:schemeClr val="tx1"/>
                </a:solidFill>
                <a:latin typeface="Times New Roman" panose="02020603050405020304" pitchFamily="18" charset="0"/>
              </a:rPr>
              <a:t>）</a:t>
            </a:r>
            <a:r>
              <a:rPr lang="zh-CN" altLang="en-US" sz="2800" b="1" dirty="0">
                <a:solidFill>
                  <a:schemeClr val="tx1"/>
                </a:solidFill>
                <a:latin typeface="Times New Roman" panose="02020603050405020304" pitchFamily="18" charset="0"/>
                <a:sym typeface="Symbol" panose="05050102010706020507" pitchFamily="18" charset="2"/>
              </a:rPr>
              <a:t></a:t>
            </a:r>
            <a:r>
              <a:rPr lang="zh-CN" altLang="en-US" sz="2000" b="1" dirty="0">
                <a:solidFill>
                  <a:srgbClr val="333399"/>
                </a:solidFill>
                <a:latin typeface="Times New Roman" panose="02020603050405020304" pitchFamily="18" charset="0"/>
              </a:rPr>
              <a:t> </a:t>
            </a:r>
            <a:r>
              <a:rPr lang="en-US" altLang="zh-CN" sz="2800" b="1" dirty="0">
                <a:solidFill>
                  <a:schemeClr val="tx1"/>
                </a:solidFill>
                <a:latin typeface="Times New Roman" panose="02020603050405020304" pitchFamily="18" charset="0"/>
              </a:rPr>
              <a:t>V/℃</a:t>
            </a:r>
            <a:r>
              <a:rPr lang="zh-CN" altLang="en-US" sz="2800" b="1" dirty="0">
                <a:solidFill>
                  <a:schemeClr val="tx1"/>
                </a:solidFill>
                <a:latin typeface="Times New Roman" panose="02020603050405020304" pitchFamily="18" charset="0"/>
              </a:rPr>
              <a:t>变化，这也与测量放大器的增益有关。</a:t>
            </a:r>
            <a:endParaRPr lang="zh-CN" altLang="en-US" sz="2800" b="1" dirty="0">
              <a:solidFill>
                <a:schemeClr val="tx1"/>
              </a:solidFill>
              <a:latin typeface="Times New Roman" panose="02020603050405020304" pitchFamily="18" charset="0"/>
            </a:endParaRPr>
          </a:p>
        </p:txBody>
      </p:sp>
      <p:sp>
        <p:nvSpPr>
          <p:cNvPr id="2253854" name="Text Box 30"/>
          <p:cNvSpPr txBox="1"/>
          <p:nvPr/>
        </p:nvSpPr>
        <p:spPr>
          <a:xfrm>
            <a:off x="2892425" y="893763"/>
            <a:ext cx="5545138" cy="519112"/>
          </a:xfrm>
          <a:prstGeom prst="rect">
            <a:avLst/>
          </a:prstGeom>
          <a:solidFill>
            <a:srgbClr val="FFCC99"/>
          </a:solidFill>
          <a:ln w="9525">
            <a:noFill/>
          </a:ln>
        </p:spPr>
        <p:txBody>
          <a:bodyPr>
            <a:spAutoFit/>
          </a:bodyPr>
          <a:p>
            <a:pPr eaLnBrk="1" hangingPunct="1"/>
            <a:r>
              <a:rPr lang="zh-CN" altLang="en-US" sz="2800" b="1" dirty="0">
                <a:solidFill>
                  <a:srgbClr val="FF0000"/>
                </a:solidFill>
                <a:latin typeface="楷体_GB2312" pitchFamily="49" charset="-122"/>
              </a:rPr>
              <a:t>应尽量选择温漂小的测量放大器。 </a:t>
            </a:r>
            <a:endParaRPr lang="zh-CN" altLang="en-US" sz="2800" b="1" dirty="0">
              <a:solidFill>
                <a:srgbClr val="FF0000"/>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3847"/>
                                        </p:tgtEl>
                                        <p:attrNameLst>
                                          <p:attrName>style.visibility</p:attrName>
                                        </p:attrNameLst>
                                      </p:cBhvr>
                                      <p:to>
                                        <p:strVal val="visible"/>
                                      </p:to>
                                    </p:set>
                                    <p:animEffect transition="in" filter="dissolve">
                                      <p:cBhvr>
                                        <p:cTn id="7" dur="500"/>
                                        <p:tgtEl>
                                          <p:spTgt spid="22538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3849"/>
                                        </p:tgtEl>
                                        <p:attrNameLst>
                                          <p:attrName>style.visibility</p:attrName>
                                        </p:attrNameLst>
                                      </p:cBhvr>
                                      <p:to>
                                        <p:strVal val="visible"/>
                                      </p:to>
                                    </p:set>
                                    <p:animEffect transition="in" filter="dissolve">
                                      <p:cBhvr>
                                        <p:cTn id="12" dur="500"/>
                                        <p:tgtEl>
                                          <p:spTgt spid="225384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3853"/>
                                        </p:tgtEl>
                                        <p:attrNameLst>
                                          <p:attrName>style.visibility</p:attrName>
                                        </p:attrNameLst>
                                      </p:cBhvr>
                                      <p:to>
                                        <p:strVal val="visible"/>
                                      </p:to>
                                    </p:set>
                                    <p:animEffect transition="in" filter="dissolve">
                                      <p:cBhvr>
                                        <p:cTn id="17" dur="500"/>
                                        <p:tgtEl>
                                          <p:spTgt spid="225385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3850"/>
                                        </p:tgtEl>
                                        <p:attrNameLst>
                                          <p:attrName>style.visibility</p:attrName>
                                        </p:attrNameLst>
                                      </p:cBhvr>
                                      <p:to>
                                        <p:strVal val="visible"/>
                                      </p:to>
                                    </p:set>
                                    <p:animEffect transition="in" filter="dissolve">
                                      <p:cBhvr>
                                        <p:cTn id="22" dur="500"/>
                                        <p:tgtEl>
                                          <p:spTgt spid="225385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53851"/>
                                        </p:tgtEl>
                                        <p:attrNameLst>
                                          <p:attrName>style.visibility</p:attrName>
                                        </p:attrNameLst>
                                      </p:cBhvr>
                                      <p:to>
                                        <p:strVal val="visible"/>
                                      </p:to>
                                    </p:set>
                                    <p:animEffect transition="in" filter="dissolve">
                                      <p:cBhvr>
                                        <p:cTn id="27" dur="500"/>
                                        <p:tgtEl>
                                          <p:spTgt spid="225385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53854"/>
                                        </p:tgtEl>
                                        <p:attrNameLst>
                                          <p:attrName>style.visibility</p:attrName>
                                        </p:attrNameLst>
                                      </p:cBhvr>
                                      <p:to>
                                        <p:strVal val="visible"/>
                                      </p:to>
                                    </p:set>
                                    <p:animEffect transition="in" filter="dissolve">
                                      <p:cBhvr>
                                        <p:cTn id="32" dur="500"/>
                                        <p:tgtEl>
                                          <p:spTgt spid="22538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847" grpId="0" bldLvl="0" animBg="1"/>
      <p:bldP spid="2253849" grpId="0" bldLvl="0" animBg="1"/>
      <p:bldP spid="2253850" grpId="0" bldLvl="0" animBg="1"/>
      <p:bldP spid="2253851" grpId="0"/>
      <p:bldP spid="2253853" grpId="0"/>
      <p:bldP spid="2253854" grpId="0" bldLvl="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9783" name="Rectangle 55"/>
          <p:cNvSpPr/>
          <p:nvPr/>
        </p:nvSpPr>
        <p:spPr>
          <a:xfrm>
            <a:off x="1439863" y="2790825"/>
            <a:ext cx="6551612" cy="343852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249754" name="Text Box 26"/>
          <p:cNvSpPr txBox="1"/>
          <p:nvPr/>
        </p:nvSpPr>
        <p:spPr>
          <a:xfrm>
            <a:off x="503238" y="692150"/>
            <a:ext cx="264477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3. </a:t>
            </a:r>
            <a:r>
              <a:rPr lang="zh-CN" altLang="en-US" sz="3600" b="1" dirty="0">
                <a:solidFill>
                  <a:srgbClr val="333399"/>
                </a:solidFill>
                <a:latin typeface="Times New Roman" panose="02020603050405020304" pitchFamily="18" charset="0"/>
              </a:rPr>
              <a:t>建立时间</a:t>
            </a:r>
            <a:endParaRPr lang="zh-CN" altLang="en-US" sz="3600" b="1" dirty="0">
              <a:solidFill>
                <a:srgbClr val="333399"/>
              </a:solidFill>
              <a:latin typeface="Times New Roman" panose="02020603050405020304" pitchFamily="18" charset="0"/>
            </a:endParaRPr>
          </a:p>
        </p:txBody>
      </p:sp>
      <p:sp>
        <p:nvSpPr>
          <p:cNvPr id="2249756" name="Text Box 28"/>
          <p:cNvSpPr txBox="1"/>
          <p:nvPr/>
        </p:nvSpPr>
        <p:spPr>
          <a:xfrm>
            <a:off x="863600" y="1341438"/>
            <a:ext cx="7605713" cy="14160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建立时间</a:t>
            </a:r>
            <a:r>
              <a:rPr lang="zh-CN" altLang="en-US" sz="3200" b="1" dirty="0">
                <a:solidFill>
                  <a:srgbClr val="333399"/>
                </a:solidFill>
                <a:latin typeface="黑体" panose="02010609060101010101" pitchFamily="49" charset="-122"/>
                <a:ea typeface="黑体" panose="02010609060101010101" pitchFamily="49" charset="-122"/>
              </a:rPr>
              <a:t>：指从阶跃信号驱动瞬间至测量</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放大器输出电压达到并保持在</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给定误差范围内所需的时间。 </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49758" name="Text Box 30"/>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9759" name="AutoShape 31"/>
          <p:cNvSpPr/>
          <p:nvPr/>
        </p:nvSpPr>
        <p:spPr>
          <a:xfrm>
            <a:off x="6770688" y="2855913"/>
            <a:ext cx="1004887" cy="379412"/>
          </a:xfrm>
          <a:prstGeom prst="wedgeRoundRectCallout">
            <a:avLst>
              <a:gd name="adj1" fmla="val -74486"/>
              <a:gd name="adj2" fmla="val 2907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2000" b="1" dirty="0">
              <a:solidFill>
                <a:srgbClr val="333399"/>
              </a:solidFill>
              <a:latin typeface="Times New Roman" panose="02020603050405020304" pitchFamily="18" charset="0"/>
            </a:endParaRPr>
          </a:p>
        </p:txBody>
      </p:sp>
      <p:sp>
        <p:nvSpPr>
          <p:cNvPr id="2249760" name="AutoShape 32"/>
          <p:cNvSpPr/>
          <p:nvPr/>
        </p:nvSpPr>
        <p:spPr>
          <a:xfrm>
            <a:off x="2832100" y="3860800"/>
            <a:ext cx="1617663" cy="379413"/>
          </a:xfrm>
          <a:prstGeom prst="wedgeRoundRectCallout">
            <a:avLst>
              <a:gd name="adj1" fmla="val 67074"/>
              <a:gd name="adj2" fmla="val 9519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2000" b="1" dirty="0">
              <a:solidFill>
                <a:srgbClr val="333399"/>
              </a:solidFill>
              <a:latin typeface="Times New Roman" panose="02020603050405020304" pitchFamily="18" charset="0"/>
            </a:endParaRPr>
          </a:p>
        </p:txBody>
      </p:sp>
      <p:sp>
        <p:nvSpPr>
          <p:cNvPr id="2249761" name="Text Box 33"/>
          <p:cNvSpPr txBox="1">
            <a:spLocks noChangeArrowheads="1"/>
          </p:cNvSpPr>
          <p:nvPr/>
        </p:nvSpPr>
        <p:spPr bwMode="auto">
          <a:xfrm>
            <a:off x="2832100" y="3883025"/>
            <a:ext cx="1617663" cy="31273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放大器输出电压</a:t>
            </a:r>
            <a:endPar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249762" name="Line 34"/>
          <p:cNvSpPr/>
          <p:nvPr/>
        </p:nvSpPr>
        <p:spPr>
          <a:xfrm>
            <a:off x="1922463" y="5768975"/>
            <a:ext cx="4757737" cy="0"/>
          </a:xfrm>
          <a:prstGeom prst="line">
            <a:avLst/>
          </a:prstGeom>
          <a:ln w="9525" cap="flat" cmpd="sng">
            <a:solidFill>
              <a:schemeClr val="accent2"/>
            </a:solidFill>
            <a:prstDash val="solid"/>
            <a:headEnd type="none" w="med" len="med"/>
            <a:tailEnd type="stealth" w="sm" len="lg"/>
          </a:ln>
        </p:spPr>
      </p:sp>
      <p:sp>
        <p:nvSpPr>
          <p:cNvPr id="2249763" name="Line 35"/>
          <p:cNvSpPr/>
          <p:nvPr/>
        </p:nvSpPr>
        <p:spPr>
          <a:xfrm flipV="1">
            <a:off x="1922463" y="3998913"/>
            <a:ext cx="0" cy="1770062"/>
          </a:xfrm>
          <a:prstGeom prst="line">
            <a:avLst/>
          </a:prstGeom>
          <a:ln w="9525" cap="flat" cmpd="sng">
            <a:solidFill>
              <a:schemeClr val="accent2"/>
            </a:solidFill>
            <a:prstDash val="solid"/>
            <a:headEnd type="none" w="med" len="med"/>
            <a:tailEnd type="stealth" w="sm" len="lg"/>
          </a:ln>
        </p:spPr>
      </p:sp>
      <p:sp>
        <p:nvSpPr>
          <p:cNvPr id="2249764" name="Line 36"/>
          <p:cNvSpPr/>
          <p:nvPr/>
        </p:nvSpPr>
        <p:spPr>
          <a:xfrm>
            <a:off x="1922463" y="3651250"/>
            <a:ext cx="4810125" cy="0"/>
          </a:xfrm>
          <a:prstGeom prst="line">
            <a:avLst/>
          </a:prstGeom>
          <a:ln w="9525" cap="flat" cmpd="sng">
            <a:solidFill>
              <a:schemeClr val="accent2"/>
            </a:solidFill>
            <a:prstDash val="solid"/>
            <a:headEnd type="none" w="med" len="med"/>
            <a:tailEnd type="stealth" w="sm" len="lg"/>
          </a:ln>
        </p:spPr>
      </p:sp>
      <p:sp>
        <p:nvSpPr>
          <p:cNvPr id="2249765" name="Line 37"/>
          <p:cNvSpPr/>
          <p:nvPr/>
        </p:nvSpPr>
        <p:spPr>
          <a:xfrm flipV="1">
            <a:off x="1922463" y="2882900"/>
            <a:ext cx="0" cy="768350"/>
          </a:xfrm>
          <a:prstGeom prst="line">
            <a:avLst/>
          </a:prstGeom>
          <a:ln w="9525" cap="flat" cmpd="sng">
            <a:solidFill>
              <a:schemeClr val="accent2"/>
            </a:solidFill>
            <a:prstDash val="solid"/>
            <a:headEnd type="none" w="med" len="med"/>
            <a:tailEnd type="stealth" w="sm" len="lg"/>
          </a:ln>
        </p:spPr>
      </p:sp>
      <p:sp>
        <p:nvSpPr>
          <p:cNvPr id="2249768" name="Text Box 40"/>
          <p:cNvSpPr txBox="1"/>
          <p:nvPr/>
        </p:nvSpPr>
        <p:spPr>
          <a:xfrm>
            <a:off x="6813550" y="3503613"/>
            <a:ext cx="254000" cy="366712"/>
          </a:xfrm>
          <a:prstGeom prst="rect">
            <a:avLst/>
          </a:prstGeom>
          <a:noFill/>
          <a:ln w="9525">
            <a:noFill/>
          </a:ln>
        </p:spPr>
        <p:txBody>
          <a:bodyPr wrap="none">
            <a:spAutoFit/>
          </a:bodyPr>
          <a:p>
            <a:pPr eaLnBrk="1" hangingPunct="1">
              <a:lnSpc>
                <a:spcPct val="90000"/>
              </a:lnSpc>
            </a:pPr>
            <a:r>
              <a:rPr lang="en-US" altLang="zh-CN" sz="2000" b="1" i="1" dirty="0">
                <a:solidFill>
                  <a:srgbClr val="333399"/>
                </a:solidFill>
                <a:latin typeface="Times New Roman" panose="02020603050405020304" pitchFamily="18" charset="0"/>
              </a:rPr>
              <a:t>t</a:t>
            </a:r>
            <a:endParaRPr lang="en-US" altLang="zh-CN" sz="2000" b="1" i="1" dirty="0">
              <a:solidFill>
                <a:srgbClr val="333399"/>
              </a:solidFill>
              <a:latin typeface="Times New Roman" panose="02020603050405020304" pitchFamily="18" charset="0"/>
            </a:endParaRPr>
          </a:p>
        </p:txBody>
      </p:sp>
      <p:sp>
        <p:nvSpPr>
          <p:cNvPr id="2249769" name="Text Box 41"/>
          <p:cNvSpPr txBox="1"/>
          <p:nvPr/>
        </p:nvSpPr>
        <p:spPr>
          <a:xfrm>
            <a:off x="1544638" y="2781300"/>
            <a:ext cx="368300" cy="366713"/>
          </a:xfrm>
          <a:prstGeom prst="rect">
            <a:avLst/>
          </a:prstGeom>
          <a:noFill/>
          <a:ln w="9525">
            <a:noFill/>
          </a:ln>
        </p:spPr>
        <p:txBody>
          <a:bodyPr>
            <a:spAutoFit/>
          </a:bodyPr>
          <a:p>
            <a:pPr eaLnBrk="1" hangingPunct="1">
              <a:lnSpc>
                <a:spcPct val="90000"/>
              </a:lnSpc>
            </a:pPr>
            <a:r>
              <a:rPr lang="en-US" altLang="zh-CN" sz="2000" b="1" i="1" dirty="0">
                <a:solidFill>
                  <a:srgbClr val="333399"/>
                </a:solidFill>
                <a:latin typeface="Times New Roman" panose="02020603050405020304" pitchFamily="18" charset="0"/>
              </a:rPr>
              <a:t>U</a:t>
            </a:r>
            <a:endParaRPr lang="en-US" altLang="zh-CN" sz="2000" b="1" i="1" dirty="0">
              <a:solidFill>
                <a:srgbClr val="333399"/>
              </a:solidFill>
              <a:latin typeface="Times New Roman" panose="02020603050405020304" pitchFamily="18" charset="0"/>
            </a:endParaRPr>
          </a:p>
        </p:txBody>
      </p:sp>
      <p:sp>
        <p:nvSpPr>
          <p:cNvPr id="2249770" name="Text Box 42"/>
          <p:cNvSpPr txBox="1"/>
          <p:nvPr/>
        </p:nvSpPr>
        <p:spPr>
          <a:xfrm>
            <a:off x="6767513" y="5568950"/>
            <a:ext cx="254000" cy="366713"/>
          </a:xfrm>
          <a:prstGeom prst="rect">
            <a:avLst/>
          </a:prstGeom>
          <a:noFill/>
          <a:ln w="9525">
            <a:noFill/>
          </a:ln>
        </p:spPr>
        <p:txBody>
          <a:bodyPr wrap="none">
            <a:spAutoFit/>
          </a:bodyPr>
          <a:p>
            <a:pPr eaLnBrk="1" hangingPunct="1">
              <a:lnSpc>
                <a:spcPct val="90000"/>
              </a:lnSpc>
            </a:pPr>
            <a:r>
              <a:rPr lang="en-US" altLang="zh-CN" sz="2000" b="1" i="1" dirty="0">
                <a:solidFill>
                  <a:srgbClr val="333399"/>
                </a:solidFill>
                <a:latin typeface="Times New Roman" panose="02020603050405020304" pitchFamily="18" charset="0"/>
              </a:rPr>
              <a:t>t</a:t>
            </a:r>
            <a:endParaRPr lang="en-US" altLang="zh-CN" sz="2000" b="1" i="1" dirty="0">
              <a:solidFill>
                <a:srgbClr val="333399"/>
              </a:solidFill>
              <a:latin typeface="Times New Roman" panose="02020603050405020304" pitchFamily="18" charset="0"/>
            </a:endParaRPr>
          </a:p>
        </p:txBody>
      </p:sp>
      <p:sp>
        <p:nvSpPr>
          <p:cNvPr id="2249771" name="Text Box 43"/>
          <p:cNvSpPr txBox="1"/>
          <p:nvPr/>
        </p:nvSpPr>
        <p:spPr>
          <a:xfrm>
            <a:off x="1476375" y="3883025"/>
            <a:ext cx="450850" cy="366713"/>
          </a:xfrm>
          <a:prstGeom prst="rect">
            <a:avLst/>
          </a:prstGeom>
          <a:noFill/>
          <a:ln w="9525">
            <a:noFill/>
          </a:ln>
        </p:spPr>
        <p:txBody>
          <a:bodyPr wrap="none">
            <a:spAutoFit/>
          </a:bodyPr>
          <a:p>
            <a:pPr eaLnBrk="1" hangingPunct="1">
              <a:lnSpc>
                <a:spcPct val="90000"/>
              </a:lnSpc>
            </a:pPr>
            <a:r>
              <a:rPr lang="en-US" altLang="zh-CN" sz="2000" b="1" i="1" dirty="0">
                <a:solidFill>
                  <a:srgbClr val="333399"/>
                </a:solidFill>
                <a:latin typeface="Times New Roman" panose="02020603050405020304" pitchFamily="18" charset="0"/>
              </a:rPr>
              <a:t>U</a:t>
            </a:r>
            <a:r>
              <a:rPr lang="en-US" altLang="zh-CN" sz="2000" b="1" baseline="-25000" dirty="0">
                <a:solidFill>
                  <a:srgbClr val="333399"/>
                </a:solidFill>
                <a:latin typeface="Times New Roman" panose="02020603050405020304" pitchFamily="18" charset="0"/>
              </a:rPr>
              <a:t>0</a:t>
            </a:r>
            <a:endParaRPr lang="en-US" altLang="zh-CN" sz="2000" b="1" baseline="-25000" dirty="0">
              <a:solidFill>
                <a:srgbClr val="333399"/>
              </a:solidFill>
              <a:latin typeface="Times New Roman" panose="02020603050405020304" pitchFamily="18" charset="0"/>
            </a:endParaRPr>
          </a:p>
        </p:txBody>
      </p:sp>
      <p:sp>
        <p:nvSpPr>
          <p:cNvPr id="2249772" name="Line 44"/>
          <p:cNvSpPr/>
          <p:nvPr/>
        </p:nvSpPr>
        <p:spPr>
          <a:xfrm>
            <a:off x="1922463" y="4508500"/>
            <a:ext cx="4784725" cy="0"/>
          </a:xfrm>
          <a:prstGeom prst="line">
            <a:avLst/>
          </a:prstGeom>
          <a:ln w="9525" cap="flat" cmpd="sng">
            <a:solidFill>
              <a:srgbClr val="008080"/>
            </a:solidFill>
            <a:prstDash val="sysDot"/>
            <a:headEnd type="none" w="med" len="med"/>
            <a:tailEnd type="none" w="med" len="med"/>
          </a:ln>
        </p:spPr>
      </p:sp>
      <p:sp>
        <p:nvSpPr>
          <p:cNvPr id="2249773" name="Line 45"/>
          <p:cNvSpPr/>
          <p:nvPr/>
        </p:nvSpPr>
        <p:spPr>
          <a:xfrm>
            <a:off x="1928813" y="4610100"/>
            <a:ext cx="4784725" cy="0"/>
          </a:xfrm>
          <a:prstGeom prst="line">
            <a:avLst/>
          </a:prstGeom>
          <a:ln w="9525" cap="flat" cmpd="sng">
            <a:solidFill>
              <a:srgbClr val="008080"/>
            </a:solidFill>
            <a:prstDash val="sysDot"/>
            <a:headEnd type="none" w="med" len="med"/>
            <a:tailEnd type="none" w="med" len="med"/>
          </a:ln>
        </p:spPr>
      </p:sp>
      <p:sp>
        <p:nvSpPr>
          <p:cNvPr id="2249774" name="Line 46"/>
          <p:cNvSpPr/>
          <p:nvPr/>
        </p:nvSpPr>
        <p:spPr>
          <a:xfrm>
            <a:off x="3128963" y="5768975"/>
            <a:ext cx="0" cy="450850"/>
          </a:xfrm>
          <a:prstGeom prst="line">
            <a:avLst/>
          </a:prstGeom>
          <a:ln w="9525" cap="flat" cmpd="sng">
            <a:solidFill>
              <a:srgbClr val="CC00CC"/>
            </a:solidFill>
            <a:prstDash val="dash"/>
            <a:headEnd type="none" w="med" len="med"/>
            <a:tailEnd type="none" w="med" len="med"/>
          </a:ln>
        </p:spPr>
      </p:sp>
      <p:grpSp>
        <p:nvGrpSpPr>
          <p:cNvPr id="2" name="Group 56"/>
          <p:cNvGrpSpPr/>
          <p:nvPr/>
        </p:nvGrpSpPr>
        <p:grpSpPr>
          <a:xfrm>
            <a:off x="3128963" y="3187700"/>
            <a:ext cx="3498850" cy="2581275"/>
            <a:chOff x="1971" y="2008"/>
            <a:chExt cx="2204" cy="1626"/>
          </a:xfrm>
        </p:grpSpPr>
        <p:sp>
          <p:nvSpPr>
            <p:cNvPr id="26651" name="Line 38"/>
            <p:cNvSpPr/>
            <p:nvPr/>
          </p:nvSpPr>
          <p:spPr>
            <a:xfrm flipV="1">
              <a:off x="1971" y="2009"/>
              <a:ext cx="0" cy="291"/>
            </a:xfrm>
            <a:prstGeom prst="line">
              <a:avLst/>
            </a:prstGeom>
            <a:ln w="19050" cap="flat" cmpd="sng">
              <a:solidFill>
                <a:srgbClr val="CC00CC"/>
              </a:solidFill>
              <a:prstDash val="solid"/>
              <a:headEnd type="none" w="med" len="med"/>
              <a:tailEnd type="none" w="med" len="med"/>
            </a:ln>
          </p:spPr>
        </p:sp>
        <p:sp>
          <p:nvSpPr>
            <p:cNvPr id="26652" name="Line 39"/>
            <p:cNvSpPr/>
            <p:nvPr/>
          </p:nvSpPr>
          <p:spPr>
            <a:xfrm>
              <a:off x="1971" y="2008"/>
              <a:ext cx="2204" cy="0"/>
            </a:xfrm>
            <a:prstGeom prst="line">
              <a:avLst/>
            </a:prstGeom>
            <a:ln w="19050" cap="flat" cmpd="sng">
              <a:solidFill>
                <a:srgbClr val="CC00CC"/>
              </a:solidFill>
              <a:prstDash val="solid"/>
              <a:headEnd type="none" w="med" len="med"/>
              <a:tailEnd type="none" w="med" len="med"/>
            </a:ln>
          </p:spPr>
        </p:sp>
        <p:sp>
          <p:nvSpPr>
            <p:cNvPr id="26653" name="Freeform 47"/>
            <p:cNvSpPr/>
            <p:nvPr/>
          </p:nvSpPr>
          <p:spPr>
            <a:xfrm>
              <a:off x="1971" y="2763"/>
              <a:ext cx="1302" cy="871"/>
            </a:xfrm>
            <a:custGeom>
              <a:avLst/>
              <a:gdLst>
                <a:gd name="txL" fmla="*/ 0 w 1302"/>
                <a:gd name="txT" fmla="*/ 0 h 1146"/>
                <a:gd name="txR" fmla="*/ 1302 w 1302"/>
                <a:gd name="txB" fmla="*/ 1146 h 1146"/>
              </a:gdLst>
              <a:ahLst/>
              <a:cxnLst>
                <a:cxn ang="0">
                  <a:pos x="0" y="290"/>
                </a:cxn>
                <a:cxn ang="0">
                  <a:pos x="225" y="248"/>
                </a:cxn>
                <a:cxn ang="0">
                  <a:pos x="392" y="206"/>
                </a:cxn>
                <a:cxn ang="0">
                  <a:pos x="509" y="166"/>
                </a:cxn>
                <a:cxn ang="0">
                  <a:pos x="601" y="136"/>
                </a:cxn>
                <a:cxn ang="0">
                  <a:pos x="684" y="106"/>
                </a:cxn>
                <a:cxn ang="0">
                  <a:pos x="793" y="71"/>
                </a:cxn>
                <a:cxn ang="0">
                  <a:pos x="876" y="47"/>
                </a:cxn>
                <a:cxn ang="0">
                  <a:pos x="976" y="26"/>
                </a:cxn>
                <a:cxn ang="0">
                  <a:pos x="1077" y="5"/>
                </a:cxn>
                <a:cxn ang="0">
                  <a:pos x="1177" y="2"/>
                </a:cxn>
                <a:cxn ang="0">
                  <a:pos x="1244" y="9"/>
                </a:cxn>
                <a:cxn ang="0">
                  <a:pos x="1302" y="30"/>
                </a:cxn>
              </a:cxnLst>
              <a:rect l="txL" t="txT" r="txR" b="txB"/>
              <a:pathLst>
                <a:path w="1302" h="1146">
                  <a:moveTo>
                    <a:pt x="0" y="1146"/>
                  </a:moveTo>
                  <a:cubicBezTo>
                    <a:pt x="80" y="1090"/>
                    <a:pt x="160" y="1034"/>
                    <a:pt x="225" y="979"/>
                  </a:cubicBezTo>
                  <a:cubicBezTo>
                    <a:pt x="290" y="924"/>
                    <a:pt x="345" y="867"/>
                    <a:pt x="392" y="813"/>
                  </a:cubicBezTo>
                  <a:cubicBezTo>
                    <a:pt x="439" y="759"/>
                    <a:pt x="474" y="700"/>
                    <a:pt x="509" y="654"/>
                  </a:cubicBezTo>
                  <a:cubicBezTo>
                    <a:pt x="544" y="608"/>
                    <a:pt x="572" y="576"/>
                    <a:pt x="601" y="537"/>
                  </a:cubicBezTo>
                  <a:cubicBezTo>
                    <a:pt x="630" y="498"/>
                    <a:pt x="652" y="463"/>
                    <a:pt x="684" y="420"/>
                  </a:cubicBezTo>
                  <a:cubicBezTo>
                    <a:pt x="716" y="377"/>
                    <a:pt x="761" y="317"/>
                    <a:pt x="793" y="278"/>
                  </a:cubicBezTo>
                  <a:cubicBezTo>
                    <a:pt x="825" y="239"/>
                    <a:pt x="846" y="215"/>
                    <a:pt x="876" y="186"/>
                  </a:cubicBezTo>
                  <a:cubicBezTo>
                    <a:pt x="906" y="157"/>
                    <a:pt x="942" y="131"/>
                    <a:pt x="976" y="103"/>
                  </a:cubicBezTo>
                  <a:cubicBezTo>
                    <a:pt x="1010" y="75"/>
                    <a:pt x="1044" y="36"/>
                    <a:pt x="1077" y="19"/>
                  </a:cubicBezTo>
                  <a:cubicBezTo>
                    <a:pt x="1110" y="2"/>
                    <a:pt x="1149" y="0"/>
                    <a:pt x="1177" y="3"/>
                  </a:cubicBezTo>
                  <a:cubicBezTo>
                    <a:pt x="1205" y="6"/>
                    <a:pt x="1223" y="17"/>
                    <a:pt x="1244" y="36"/>
                  </a:cubicBezTo>
                  <a:cubicBezTo>
                    <a:pt x="1265" y="55"/>
                    <a:pt x="1288" y="102"/>
                    <a:pt x="1302" y="120"/>
                  </a:cubicBezTo>
                </a:path>
              </a:pathLst>
            </a:custGeom>
            <a:noFill/>
            <a:ln w="9525" cap="flat" cmpd="sng">
              <a:solidFill>
                <a:srgbClr val="FF0000">
                  <a:alpha val="100000"/>
                </a:srgbClr>
              </a:solidFill>
              <a:prstDash val="solid"/>
              <a:round/>
              <a:headEnd type="none" w="med" len="med"/>
              <a:tailEnd type="none" w="med" len="med"/>
            </a:ln>
          </p:spPr>
          <p:txBody>
            <a:bodyPr/>
            <a:p>
              <a:endParaRPr lang="zh-CN" altLang="en-US" sz="2000" b="1">
                <a:solidFill>
                  <a:srgbClr val="333399"/>
                </a:solidFill>
              </a:endParaRPr>
            </a:p>
          </p:txBody>
        </p:sp>
        <p:sp>
          <p:nvSpPr>
            <p:cNvPr id="26654" name="Freeform 48"/>
            <p:cNvSpPr/>
            <p:nvPr/>
          </p:nvSpPr>
          <p:spPr>
            <a:xfrm rot="-171745">
              <a:off x="3273" y="2843"/>
              <a:ext cx="426" cy="40"/>
            </a:xfrm>
            <a:custGeom>
              <a:avLst/>
              <a:gdLst>
                <a:gd name="txL" fmla="*/ 0 w 426"/>
                <a:gd name="txT" fmla="*/ 0 h 75"/>
                <a:gd name="txR" fmla="*/ 426 w 426"/>
                <a:gd name="txB" fmla="*/ 75 h 75"/>
              </a:gdLst>
              <a:ahLst/>
              <a:cxnLst>
                <a:cxn ang="0">
                  <a:pos x="0" y="0"/>
                </a:cxn>
                <a:cxn ang="0">
                  <a:pos x="33" y="2"/>
                </a:cxn>
                <a:cxn ang="0">
                  <a:pos x="92" y="3"/>
                </a:cxn>
                <a:cxn ang="0">
                  <a:pos x="142" y="3"/>
                </a:cxn>
                <a:cxn ang="0">
                  <a:pos x="250" y="3"/>
                </a:cxn>
                <a:cxn ang="0">
                  <a:pos x="426" y="3"/>
                </a:cxn>
              </a:cxnLst>
              <a:rect l="txL" t="txT" r="txR" b="txB"/>
              <a:pathLst>
                <a:path w="426" h="75">
                  <a:moveTo>
                    <a:pt x="0" y="0"/>
                  </a:moveTo>
                  <a:cubicBezTo>
                    <a:pt x="9" y="16"/>
                    <a:pt x="18" y="32"/>
                    <a:pt x="33" y="42"/>
                  </a:cubicBezTo>
                  <a:cubicBezTo>
                    <a:pt x="48" y="52"/>
                    <a:pt x="74" y="56"/>
                    <a:pt x="92" y="59"/>
                  </a:cubicBezTo>
                  <a:cubicBezTo>
                    <a:pt x="110" y="62"/>
                    <a:pt x="116" y="59"/>
                    <a:pt x="142" y="59"/>
                  </a:cubicBezTo>
                  <a:cubicBezTo>
                    <a:pt x="168" y="59"/>
                    <a:pt x="203" y="56"/>
                    <a:pt x="250" y="59"/>
                  </a:cubicBezTo>
                  <a:cubicBezTo>
                    <a:pt x="297" y="62"/>
                    <a:pt x="361" y="68"/>
                    <a:pt x="426" y="75"/>
                  </a:cubicBezTo>
                </a:path>
              </a:pathLst>
            </a:custGeom>
            <a:noFill/>
            <a:ln w="9525" cap="flat" cmpd="sng">
              <a:solidFill>
                <a:srgbClr val="FF0000">
                  <a:alpha val="100000"/>
                </a:srgbClr>
              </a:solidFill>
              <a:prstDash val="solid"/>
              <a:round/>
              <a:headEnd type="none" w="med" len="med"/>
              <a:tailEnd type="none" w="med" len="med"/>
            </a:ln>
          </p:spPr>
          <p:txBody>
            <a:bodyPr/>
            <a:p>
              <a:endParaRPr lang="zh-CN" altLang="en-US" sz="2000" b="1">
                <a:solidFill>
                  <a:srgbClr val="333399"/>
                </a:solidFill>
              </a:endParaRPr>
            </a:p>
          </p:txBody>
        </p:sp>
      </p:grpSp>
      <p:sp>
        <p:nvSpPr>
          <p:cNvPr id="2249777" name="Line 49"/>
          <p:cNvSpPr/>
          <p:nvPr/>
        </p:nvSpPr>
        <p:spPr>
          <a:xfrm>
            <a:off x="5178425" y="4195763"/>
            <a:ext cx="0" cy="2024062"/>
          </a:xfrm>
          <a:prstGeom prst="line">
            <a:avLst/>
          </a:prstGeom>
          <a:ln w="9525" cap="flat" cmpd="sng">
            <a:solidFill>
              <a:srgbClr val="CC00CC"/>
            </a:solidFill>
            <a:prstDash val="dash"/>
            <a:headEnd type="none" w="med" len="med"/>
            <a:tailEnd type="none" w="med" len="med"/>
          </a:ln>
        </p:spPr>
      </p:sp>
      <p:sp>
        <p:nvSpPr>
          <p:cNvPr id="2249778" name="Line 50"/>
          <p:cNvSpPr/>
          <p:nvPr/>
        </p:nvSpPr>
        <p:spPr>
          <a:xfrm>
            <a:off x="3128963" y="6113463"/>
            <a:ext cx="2049462" cy="0"/>
          </a:xfrm>
          <a:prstGeom prst="line">
            <a:avLst/>
          </a:prstGeom>
          <a:ln w="9525" cap="flat" cmpd="sng">
            <a:solidFill>
              <a:schemeClr val="accent2"/>
            </a:solidFill>
            <a:prstDash val="solid"/>
            <a:headEnd type="stealth" w="sm" len="lg"/>
            <a:tailEnd type="stealth" w="sm" len="lg"/>
          </a:ln>
        </p:spPr>
      </p:sp>
      <p:sp>
        <p:nvSpPr>
          <p:cNvPr id="2249779" name="Text Box 51"/>
          <p:cNvSpPr txBox="1">
            <a:spLocks noChangeArrowheads="1"/>
          </p:cNvSpPr>
          <p:nvPr/>
        </p:nvSpPr>
        <p:spPr bwMode="auto">
          <a:xfrm>
            <a:off x="6770688" y="2874963"/>
            <a:ext cx="1149350" cy="31273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驱动信号</a:t>
            </a:r>
            <a:endPar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249780" name="Text Box 52"/>
          <p:cNvSpPr txBox="1">
            <a:spLocks noChangeArrowheads="1"/>
          </p:cNvSpPr>
          <p:nvPr/>
        </p:nvSpPr>
        <p:spPr bwMode="auto">
          <a:xfrm>
            <a:off x="3690938" y="5784850"/>
            <a:ext cx="1241425" cy="31273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1600" b="1"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建立时间</a:t>
            </a:r>
            <a:endParaRPr kumimoji="1" lang="zh-CN" altLang="en-US" sz="1600" b="1"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249781" name="Text Box 53"/>
          <p:cNvSpPr txBox="1">
            <a:spLocks noChangeArrowheads="1"/>
          </p:cNvSpPr>
          <p:nvPr/>
        </p:nvSpPr>
        <p:spPr bwMode="auto">
          <a:xfrm>
            <a:off x="6696075" y="4260850"/>
            <a:ext cx="1208088" cy="31273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误差上偏差</a:t>
            </a:r>
            <a:endPar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249782" name="Text Box 54"/>
          <p:cNvSpPr txBox="1">
            <a:spLocks noChangeArrowheads="1"/>
          </p:cNvSpPr>
          <p:nvPr/>
        </p:nvSpPr>
        <p:spPr bwMode="auto">
          <a:xfrm>
            <a:off x="6696075" y="4513263"/>
            <a:ext cx="1208088" cy="31273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误差下偏差</a:t>
            </a:r>
            <a:endParaRPr kumimoji="1" lang="zh-CN" altLang="en-US" sz="1600" b="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9754"/>
                                        </p:tgtEl>
                                        <p:attrNameLst>
                                          <p:attrName>style.visibility</p:attrName>
                                        </p:attrNameLst>
                                      </p:cBhvr>
                                      <p:to>
                                        <p:strVal val="visible"/>
                                      </p:to>
                                    </p:set>
                                    <p:animEffect transition="in" filter="dissolve">
                                      <p:cBhvr>
                                        <p:cTn id="7" dur="500"/>
                                        <p:tgtEl>
                                          <p:spTgt spid="22497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9756"/>
                                        </p:tgtEl>
                                        <p:attrNameLst>
                                          <p:attrName>style.visibility</p:attrName>
                                        </p:attrNameLst>
                                      </p:cBhvr>
                                      <p:to>
                                        <p:strVal val="visible"/>
                                      </p:to>
                                    </p:set>
                                    <p:animEffect transition="in" filter="dissolve">
                                      <p:cBhvr>
                                        <p:cTn id="12" dur="500"/>
                                        <p:tgtEl>
                                          <p:spTgt spid="22497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49769"/>
                                        </p:tgtEl>
                                        <p:attrNameLst>
                                          <p:attrName>style.visibility</p:attrName>
                                        </p:attrNameLst>
                                      </p:cBhvr>
                                      <p:to>
                                        <p:strVal val="visible"/>
                                      </p:to>
                                    </p:set>
                                    <p:animEffect transition="in" filter="dissolve">
                                      <p:cBhvr>
                                        <p:cTn id="17" dur="500"/>
                                        <p:tgtEl>
                                          <p:spTgt spid="2249769"/>
                                        </p:tgtEl>
                                      </p:cBhvr>
                                    </p:animEffect>
                                  </p:childTnLst>
                                </p:cTn>
                              </p:par>
                              <p:par>
                                <p:cTn id="18" presetID="9" presetClass="entr" presetSubtype="0" fill="hold" nodeType="withEffect">
                                  <p:stCondLst>
                                    <p:cond delay="0"/>
                                  </p:stCondLst>
                                  <p:childTnLst>
                                    <p:set>
                                      <p:cBhvr>
                                        <p:cTn id="19" dur="1" fill="hold">
                                          <p:stCondLst>
                                            <p:cond delay="0"/>
                                          </p:stCondLst>
                                        </p:cTn>
                                        <p:tgtEl>
                                          <p:spTgt spid="2249765"/>
                                        </p:tgtEl>
                                        <p:attrNameLst>
                                          <p:attrName>style.visibility</p:attrName>
                                        </p:attrNameLst>
                                      </p:cBhvr>
                                      <p:to>
                                        <p:strVal val="visible"/>
                                      </p:to>
                                    </p:set>
                                    <p:animEffect transition="in" filter="dissolve">
                                      <p:cBhvr>
                                        <p:cTn id="20" dur="500"/>
                                        <p:tgtEl>
                                          <p:spTgt spid="2249765"/>
                                        </p:tgtEl>
                                      </p:cBhvr>
                                    </p:animEffect>
                                  </p:childTnLst>
                                </p:cTn>
                              </p:par>
                              <p:par>
                                <p:cTn id="21" presetID="9" presetClass="entr" presetSubtype="0" fill="hold" nodeType="withEffect">
                                  <p:stCondLst>
                                    <p:cond delay="0"/>
                                  </p:stCondLst>
                                  <p:childTnLst>
                                    <p:set>
                                      <p:cBhvr>
                                        <p:cTn id="22" dur="1" fill="hold">
                                          <p:stCondLst>
                                            <p:cond delay="0"/>
                                          </p:stCondLst>
                                        </p:cTn>
                                        <p:tgtEl>
                                          <p:spTgt spid="2249764"/>
                                        </p:tgtEl>
                                        <p:attrNameLst>
                                          <p:attrName>style.visibility</p:attrName>
                                        </p:attrNameLst>
                                      </p:cBhvr>
                                      <p:to>
                                        <p:strVal val="visible"/>
                                      </p:to>
                                    </p:set>
                                    <p:animEffect transition="in" filter="dissolve">
                                      <p:cBhvr>
                                        <p:cTn id="23" dur="500"/>
                                        <p:tgtEl>
                                          <p:spTgt spid="224976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249768"/>
                                        </p:tgtEl>
                                        <p:attrNameLst>
                                          <p:attrName>style.visibility</p:attrName>
                                        </p:attrNameLst>
                                      </p:cBhvr>
                                      <p:to>
                                        <p:strVal val="visible"/>
                                      </p:to>
                                    </p:set>
                                    <p:animEffect transition="in" filter="dissolve">
                                      <p:cBhvr>
                                        <p:cTn id="26" dur="500"/>
                                        <p:tgtEl>
                                          <p:spTgt spid="224976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2249771"/>
                                        </p:tgtEl>
                                        <p:attrNameLst>
                                          <p:attrName>style.visibility</p:attrName>
                                        </p:attrNameLst>
                                      </p:cBhvr>
                                      <p:to>
                                        <p:strVal val="visible"/>
                                      </p:to>
                                    </p:set>
                                    <p:animEffect transition="in" filter="dissolve">
                                      <p:cBhvr>
                                        <p:cTn id="29" dur="500"/>
                                        <p:tgtEl>
                                          <p:spTgt spid="2249771"/>
                                        </p:tgtEl>
                                      </p:cBhvr>
                                    </p:animEffect>
                                  </p:childTnLst>
                                </p:cTn>
                              </p:par>
                              <p:par>
                                <p:cTn id="30" presetID="9" presetClass="entr" presetSubtype="0" fill="hold" nodeType="withEffect">
                                  <p:stCondLst>
                                    <p:cond delay="0"/>
                                  </p:stCondLst>
                                  <p:childTnLst>
                                    <p:set>
                                      <p:cBhvr>
                                        <p:cTn id="31" dur="1" fill="hold">
                                          <p:stCondLst>
                                            <p:cond delay="0"/>
                                          </p:stCondLst>
                                        </p:cTn>
                                        <p:tgtEl>
                                          <p:spTgt spid="2249763"/>
                                        </p:tgtEl>
                                        <p:attrNameLst>
                                          <p:attrName>style.visibility</p:attrName>
                                        </p:attrNameLst>
                                      </p:cBhvr>
                                      <p:to>
                                        <p:strVal val="visible"/>
                                      </p:to>
                                    </p:set>
                                    <p:animEffect transition="in" filter="dissolve">
                                      <p:cBhvr>
                                        <p:cTn id="32" dur="500"/>
                                        <p:tgtEl>
                                          <p:spTgt spid="2249763"/>
                                        </p:tgtEl>
                                      </p:cBhvr>
                                    </p:animEffect>
                                  </p:childTnLst>
                                </p:cTn>
                              </p:par>
                              <p:par>
                                <p:cTn id="33" presetID="9" presetClass="entr" presetSubtype="0" fill="hold" nodeType="withEffect">
                                  <p:stCondLst>
                                    <p:cond delay="0"/>
                                  </p:stCondLst>
                                  <p:childTnLst>
                                    <p:set>
                                      <p:cBhvr>
                                        <p:cTn id="34" dur="1" fill="hold">
                                          <p:stCondLst>
                                            <p:cond delay="0"/>
                                          </p:stCondLst>
                                        </p:cTn>
                                        <p:tgtEl>
                                          <p:spTgt spid="2249762"/>
                                        </p:tgtEl>
                                        <p:attrNameLst>
                                          <p:attrName>style.visibility</p:attrName>
                                        </p:attrNameLst>
                                      </p:cBhvr>
                                      <p:to>
                                        <p:strVal val="visible"/>
                                      </p:to>
                                    </p:set>
                                    <p:animEffect transition="in" filter="dissolve">
                                      <p:cBhvr>
                                        <p:cTn id="35" dur="500"/>
                                        <p:tgtEl>
                                          <p:spTgt spid="2249762"/>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249770"/>
                                        </p:tgtEl>
                                        <p:attrNameLst>
                                          <p:attrName>style.visibility</p:attrName>
                                        </p:attrNameLst>
                                      </p:cBhvr>
                                      <p:to>
                                        <p:strVal val="visible"/>
                                      </p:to>
                                    </p:set>
                                    <p:animEffect transition="in" filter="dissolve">
                                      <p:cBhvr>
                                        <p:cTn id="38" dur="500"/>
                                        <p:tgtEl>
                                          <p:spTgt spid="2249770"/>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249783"/>
                                        </p:tgtEl>
                                        <p:attrNameLst>
                                          <p:attrName>style.visibility</p:attrName>
                                        </p:attrNameLst>
                                      </p:cBhvr>
                                      <p:to>
                                        <p:strVal val="visible"/>
                                      </p:to>
                                    </p:set>
                                    <p:animEffect transition="in" filter="dissolve">
                                      <p:cBhvr>
                                        <p:cTn id="41" dur="500"/>
                                        <p:tgtEl>
                                          <p:spTgt spid="224978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2"/>
                                        </p:tgtEl>
                                        <p:attrNameLst>
                                          <p:attrName>style.visibility</p:attrName>
                                        </p:attrNameLst>
                                      </p:cBhvr>
                                      <p:to>
                                        <p:strVal val="visible"/>
                                      </p:to>
                                    </p:set>
                                    <p:animEffect transition="in" filter="wipe(left)">
                                      <p:cBhvr>
                                        <p:cTn id="46" dur="500"/>
                                        <p:tgtEl>
                                          <p:spTgt spid="2"/>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2249759"/>
                                        </p:tgtEl>
                                        <p:attrNameLst>
                                          <p:attrName>style.visibility</p:attrName>
                                        </p:attrNameLst>
                                      </p:cBhvr>
                                      <p:to>
                                        <p:strVal val="visible"/>
                                      </p:to>
                                    </p:set>
                                    <p:animEffect transition="in" filter="dissolve">
                                      <p:cBhvr>
                                        <p:cTn id="51" dur="500"/>
                                        <p:tgtEl>
                                          <p:spTgt spid="2249759"/>
                                        </p:tgtEl>
                                      </p:cBhvr>
                                    </p:animEffect>
                                  </p:childTnLst>
                                </p:cTn>
                              </p:par>
                              <p:par>
                                <p:cTn id="52" presetID="9" presetClass="entr" presetSubtype="0" fill="hold" grpId="0" nodeType="withEffect">
                                  <p:stCondLst>
                                    <p:cond delay="0"/>
                                  </p:stCondLst>
                                  <p:childTnLst>
                                    <p:set>
                                      <p:cBhvr>
                                        <p:cTn id="53" dur="1" fill="hold">
                                          <p:stCondLst>
                                            <p:cond delay="0"/>
                                          </p:stCondLst>
                                        </p:cTn>
                                        <p:tgtEl>
                                          <p:spTgt spid="2249779"/>
                                        </p:tgtEl>
                                        <p:attrNameLst>
                                          <p:attrName>style.visibility</p:attrName>
                                        </p:attrNameLst>
                                      </p:cBhvr>
                                      <p:to>
                                        <p:strVal val="visible"/>
                                      </p:to>
                                    </p:set>
                                    <p:animEffect transition="in" filter="dissolve">
                                      <p:cBhvr>
                                        <p:cTn id="54" dur="500"/>
                                        <p:tgtEl>
                                          <p:spTgt spid="2249779"/>
                                        </p:tgtEl>
                                      </p:cBhvr>
                                    </p:animEffect>
                                  </p:childTnLst>
                                </p:cTn>
                              </p:par>
                              <p:par>
                                <p:cTn id="55" presetID="9" presetClass="entr" presetSubtype="0" fill="hold" grpId="0" nodeType="withEffect">
                                  <p:stCondLst>
                                    <p:cond delay="0"/>
                                  </p:stCondLst>
                                  <p:childTnLst>
                                    <p:set>
                                      <p:cBhvr>
                                        <p:cTn id="56" dur="1" fill="hold">
                                          <p:stCondLst>
                                            <p:cond delay="0"/>
                                          </p:stCondLst>
                                        </p:cTn>
                                        <p:tgtEl>
                                          <p:spTgt spid="2249761"/>
                                        </p:tgtEl>
                                        <p:attrNameLst>
                                          <p:attrName>style.visibility</p:attrName>
                                        </p:attrNameLst>
                                      </p:cBhvr>
                                      <p:to>
                                        <p:strVal val="visible"/>
                                      </p:to>
                                    </p:set>
                                    <p:animEffect transition="in" filter="dissolve">
                                      <p:cBhvr>
                                        <p:cTn id="57" dur="500"/>
                                        <p:tgtEl>
                                          <p:spTgt spid="2249761"/>
                                        </p:tgtEl>
                                      </p:cBhvr>
                                    </p:animEffect>
                                  </p:childTnLst>
                                </p:cTn>
                              </p:par>
                              <p:par>
                                <p:cTn id="58" presetID="9" presetClass="entr" presetSubtype="0" fill="hold" grpId="0" nodeType="withEffect">
                                  <p:stCondLst>
                                    <p:cond delay="0"/>
                                  </p:stCondLst>
                                  <p:childTnLst>
                                    <p:set>
                                      <p:cBhvr>
                                        <p:cTn id="59" dur="1" fill="hold">
                                          <p:stCondLst>
                                            <p:cond delay="0"/>
                                          </p:stCondLst>
                                        </p:cTn>
                                        <p:tgtEl>
                                          <p:spTgt spid="2249760"/>
                                        </p:tgtEl>
                                        <p:attrNameLst>
                                          <p:attrName>style.visibility</p:attrName>
                                        </p:attrNameLst>
                                      </p:cBhvr>
                                      <p:to>
                                        <p:strVal val="visible"/>
                                      </p:to>
                                    </p:set>
                                    <p:animEffect transition="in" filter="dissolve">
                                      <p:cBhvr>
                                        <p:cTn id="60" dur="500"/>
                                        <p:tgtEl>
                                          <p:spTgt spid="2249760"/>
                                        </p:tgtEl>
                                      </p:cBhvr>
                                    </p:animEffec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nodeType="clickEffect">
                                  <p:stCondLst>
                                    <p:cond delay="0"/>
                                  </p:stCondLst>
                                  <p:childTnLst>
                                    <p:set>
                                      <p:cBhvr>
                                        <p:cTn id="64" dur="1" fill="hold">
                                          <p:stCondLst>
                                            <p:cond delay="0"/>
                                          </p:stCondLst>
                                        </p:cTn>
                                        <p:tgtEl>
                                          <p:spTgt spid="2249772"/>
                                        </p:tgtEl>
                                        <p:attrNameLst>
                                          <p:attrName>style.visibility</p:attrName>
                                        </p:attrNameLst>
                                      </p:cBhvr>
                                      <p:to>
                                        <p:strVal val="visible"/>
                                      </p:to>
                                    </p:set>
                                    <p:animEffect transition="in" filter="dissolve">
                                      <p:cBhvr>
                                        <p:cTn id="65" dur="500"/>
                                        <p:tgtEl>
                                          <p:spTgt spid="2249772"/>
                                        </p:tgtEl>
                                      </p:cBhvr>
                                    </p:animEffect>
                                  </p:childTnLst>
                                </p:cTn>
                              </p:par>
                              <p:par>
                                <p:cTn id="66" presetID="9" presetClass="entr" presetSubtype="0" fill="hold" grpId="0" nodeType="withEffect">
                                  <p:stCondLst>
                                    <p:cond delay="0"/>
                                  </p:stCondLst>
                                  <p:childTnLst>
                                    <p:set>
                                      <p:cBhvr>
                                        <p:cTn id="67" dur="1" fill="hold">
                                          <p:stCondLst>
                                            <p:cond delay="0"/>
                                          </p:stCondLst>
                                        </p:cTn>
                                        <p:tgtEl>
                                          <p:spTgt spid="2249781"/>
                                        </p:tgtEl>
                                        <p:attrNameLst>
                                          <p:attrName>style.visibility</p:attrName>
                                        </p:attrNameLst>
                                      </p:cBhvr>
                                      <p:to>
                                        <p:strVal val="visible"/>
                                      </p:to>
                                    </p:set>
                                    <p:animEffect transition="in" filter="dissolve">
                                      <p:cBhvr>
                                        <p:cTn id="68" dur="500"/>
                                        <p:tgtEl>
                                          <p:spTgt spid="2249781"/>
                                        </p:tgtEl>
                                      </p:cBhvr>
                                    </p:animEffect>
                                  </p:childTnLst>
                                </p:cTn>
                              </p:par>
                              <p:par>
                                <p:cTn id="69" presetID="9" presetClass="entr" presetSubtype="0" fill="hold" nodeType="withEffect">
                                  <p:stCondLst>
                                    <p:cond delay="0"/>
                                  </p:stCondLst>
                                  <p:childTnLst>
                                    <p:set>
                                      <p:cBhvr>
                                        <p:cTn id="70" dur="1" fill="hold">
                                          <p:stCondLst>
                                            <p:cond delay="0"/>
                                          </p:stCondLst>
                                        </p:cTn>
                                        <p:tgtEl>
                                          <p:spTgt spid="2249773"/>
                                        </p:tgtEl>
                                        <p:attrNameLst>
                                          <p:attrName>style.visibility</p:attrName>
                                        </p:attrNameLst>
                                      </p:cBhvr>
                                      <p:to>
                                        <p:strVal val="visible"/>
                                      </p:to>
                                    </p:set>
                                    <p:animEffect transition="in" filter="dissolve">
                                      <p:cBhvr>
                                        <p:cTn id="71" dur="500"/>
                                        <p:tgtEl>
                                          <p:spTgt spid="2249773"/>
                                        </p:tgtEl>
                                      </p:cBhvr>
                                    </p:animEffect>
                                  </p:childTnLst>
                                </p:cTn>
                              </p:par>
                              <p:par>
                                <p:cTn id="72" presetID="9" presetClass="entr" presetSubtype="0" fill="hold" grpId="0" nodeType="withEffect">
                                  <p:stCondLst>
                                    <p:cond delay="0"/>
                                  </p:stCondLst>
                                  <p:childTnLst>
                                    <p:set>
                                      <p:cBhvr>
                                        <p:cTn id="73" dur="1" fill="hold">
                                          <p:stCondLst>
                                            <p:cond delay="0"/>
                                          </p:stCondLst>
                                        </p:cTn>
                                        <p:tgtEl>
                                          <p:spTgt spid="2249782"/>
                                        </p:tgtEl>
                                        <p:attrNameLst>
                                          <p:attrName>style.visibility</p:attrName>
                                        </p:attrNameLst>
                                      </p:cBhvr>
                                      <p:to>
                                        <p:strVal val="visible"/>
                                      </p:to>
                                    </p:set>
                                    <p:animEffect transition="in" filter="dissolve">
                                      <p:cBhvr>
                                        <p:cTn id="74" dur="500"/>
                                        <p:tgtEl>
                                          <p:spTgt spid="2249782"/>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nodeType="clickEffect">
                                  <p:stCondLst>
                                    <p:cond delay="0"/>
                                  </p:stCondLst>
                                  <p:childTnLst>
                                    <p:set>
                                      <p:cBhvr>
                                        <p:cTn id="78" dur="1" fill="hold">
                                          <p:stCondLst>
                                            <p:cond delay="0"/>
                                          </p:stCondLst>
                                        </p:cTn>
                                        <p:tgtEl>
                                          <p:spTgt spid="2249774"/>
                                        </p:tgtEl>
                                        <p:attrNameLst>
                                          <p:attrName>style.visibility</p:attrName>
                                        </p:attrNameLst>
                                      </p:cBhvr>
                                      <p:to>
                                        <p:strVal val="visible"/>
                                      </p:to>
                                    </p:set>
                                    <p:animEffect transition="in" filter="dissolve">
                                      <p:cBhvr>
                                        <p:cTn id="79" dur="500"/>
                                        <p:tgtEl>
                                          <p:spTgt spid="2249774"/>
                                        </p:tgtEl>
                                      </p:cBhvr>
                                    </p:animEffect>
                                  </p:childTnLst>
                                </p:cTn>
                              </p:par>
                              <p:par>
                                <p:cTn id="80" presetID="9" presetClass="entr" presetSubtype="0" fill="hold" nodeType="withEffect">
                                  <p:stCondLst>
                                    <p:cond delay="0"/>
                                  </p:stCondLst>
                                  <p:childTnLst>
                                    <p:set>
                                      <p:cBhvr>
                                        <p:cTn id="81" dur="1" fill="hold">
                                          <p:stCondLst>
                                            <p:cond delay="0"/>
                                          </p:stCondLst>
                                        </p:cTn>
                                        <p:tgtEl>
                                          <p:spTgt spid="2249778"/>
                                        </p:tgtEl>
                                        <p:attrNameLst>
                                          <p:attrName>style.visibility</p:attrName>
                                        </p:attrNameLst>
                                      </p:cBhvr>
                                      <p:to>
                                        <p:strVal val="visible"/>
                                      </p:to>
                                    </p:set>
                                    <p:animEffect transition="in" filter="dissolve">
                                      <p:cBhvr>
                                        <p:cTn id="82" dur="500"/>
                                        <p:tgtEl>
                                          <p:spTgt spid="2249778"/>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2249780"/>
                                        </p:tgtEl>
                                        <p:attrNameLst>
                                          <p:attrName>style.visibility</p:attrName>
                                        </p:attrNameLst>
                                      </p:cBhvr>
                                      <p:to>
                                        <p:strVal val="visible"/>
                                      </p:to>
                                    </p:set>
                                    <p:animEffect transition="in" filter="dissolve">
                                      <p:cBhvr>
                                        <p:cTn id="85" dur="500"/>
                                        <p:tgtEl>
                                          <p:spTgt spid="2249780"/>
                                        </p:tgtEl>
                                      </p:cBhvr>
                                    </p:animEffect>
                                  </p:childTnLst>
                                </p:cTn>
                              </p:par>
                              <p:par>
                                <p:cTn id="86" presetID="9" presetClass="entr" presetSubtype="0" fill="hold" nodeType="withEffect">
                                  <p:stCondLst>
                                    <p:cond delay="0"/>
                                  </p:stCondLst>
                                  <p:childTnLst>
                                    <p:set>
                                      <p:cBhvr>
                                        <p:cTn id="87" dur="1" fill="hold">
                                          <p:stCondLst>
                                            <p:cond delay="0"/>
                                          </p:stCondLst>
                                        </p:cTn>
                                        <p:tgtEl>
                                          <p:spTgt spid="2249777"/>
                                        </p:tgtEl>
                                        <p:attrNameLst>
                                          <p:attrName>style.visibility</p:attrName>
                                        </p:attrNameLst>
                                      </p:cBhvr>
                                      <p:to>
                                        <p:strVal val="visible"/>
                                      </p:to>
                                    </p:set>
                                    <p:animEffect transition="in" filter="dissolve">
                                      <p:cBhvr>
                                        <p:cTn id="88" dur="500"/>
                                        <p:tgtEl>
                                          <p:spTgt spid="22497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9783" grpId="0" bldLvl="0" animBg="1"/>
      <p:bldP spid="2249754" grpId="0" bldLvl="0" animBg="1"/>
      <p:bldP spid="2249756" grpId="0" bldLvl="0" animBg="1"/>
      <p:bldP spid="2249759" grpId="0" bldLvl="0" animBg="1"/>
      <p:bldP spid="2249760" grpId="0" bldLvl="0" animBg="1"/>
      <p:bldP spid="2249761" grpId="0" bldLvl="0" animBg="1"/>
      <p:bldP spid="2249768" grpId="0"/>
      <p:bldP spid="2249769" grpId="0"/>
      <p:bldP spid="2249770" grpId="0"/>
      <p:bldP spid="2249771" grpId="0"/>
      <p:bldP spid="2249779" grpId="0" bldLvl="0" animBg="1"/>
      <p:bldP spid="2249780" grpId="0" bldLvl="0" animBg="1"/>
      <p:bldP spid="2249781" grpId="0" bldLvl="0" animBg="1"/>
      <p:bldP spid="2249782" grpId="0" bldLvl="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7650" name="Text Box 3"/>
          <p:cNvSpPr txBox="1"/>
          <p:nvPr/>
        </p:nvSpPr>
        <p:spPr>
          <a:xfrm>
            <a:off x="503238" y="895350"/>
            <a:ext cx="264477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3. </a:t>
            </a:r>
            <a:r>
              <a:rPr lang="zh-CN" altLang="en-US" sz="3600" b="1" dirty="0">
                <a:solidFill>
                  <a:srgbClr val="333399"/>
                </a:solidFill>
                <a:latin typeface="Times New Roman" panose="02020603050405020304" pitchFamily="18" charset="0"/>
              </a:rPr>
              <a:t>建立时间</a:t>
            </a:r>
            <a:endParaRPr lang="zh-CN" altLang="en-US" sz="3600" b="1" dirty="0">
              <a:solidFill>
                <a:srgbClr val="333399"/>
              </a:solidFill>
              <a:latin typeface="Times New Roman" panose="02020603050405020304" pitchFamily="18" charset="0"/>
            </a:endParaRPr>
          </a:p>
        </p:txBody>
      </p:sp>
      <p:sp>
        <p:nvSpPr>
          <p:cNvPr id="27651" name="Text Box 4"/>
          <p:cNvSpPr txBox="1"/>
          <p:nvPr/>
        </p:nvSpPr>
        <p:spPr>
          <a:xfrm>
            <a:off x="863600" y="1689100"/>
            <a:ext cx="7605713" cy="14160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建立时间</a:t>
            </a:r>
            <a:r>
              <a:rPr lang="zh-CN" altLang="en-US" sz="3200" b="1" dirty="0">
                <a:solidFill>
                  <a:srgbClr val="333399"/>
                </a:solidFill>
                <a:latin typeface="黑体" panose="02010609060101010101" pitchFamily="49" charset="-122"/>
                <a:ea typeface="黑体" panose="02010609060101010101" pitchFamily="49" charset="-122"/>
              </a:rPr>
              <a:t>：指从阶跃信号驱动瞬间至测量</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放大器输出电压达到并保持在</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给定误差范围内所需的时间。 </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404357" name="Text Box 5"/>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4383" name="Text Box 31"/>
          <p:cNvSpPr txBox="1"/>
          <p:nvPr/>
        </p:nvSpPr>
        <p:spPr>
          <a:xfrm>
            <a:off x="1403350" y="3249613"/>
            <a:ext cx="6840538" cy="860425"/>
          </a:xfrm>
          <a:prstGeom prst="rect">
            <a:avLst/>
          </a:prstGeom>
          <a:noFill/>
          <a:ln w="9525">
            <a:noFill/>
          </a:ln>
        </p:spPr>
        <p:txBody>
          <a:bodyPr>
            <a:spAutoFit/>
          </a:bodyPr>
          <a:p>
            <a:pPr eaLnBrk="1" hangingPunct="1">
              <a:lnSpc>
                <a:spcPct val="90000"/>
              </a:lnSpc>
            </a:pPr>
            <a:r>
              <a:rPr lang="zh-CN" altLang="en-US" sz="2800" b="1" dirty="0">
                <a:solidFill>
                  <a:schemeClr val="tx1"/>
                </a:solidFill>
                <a:latin typeface="Times New Roman" panose="02020603050405020304" pitchFamily="18" charset="0"/>
              </a:rPr>
              <a:t>测量放大器的建立时间随其增益的增加而增加。</a:t>
            </a:r>
            <a:endParaRPr lang="zh-CN" altLang="en-US" sz="2800" b="1" dirty="0">
              <a:solidFill>
                <a:schemeClr val="tx1"/>
              </a:solidFill>
              <a:latin typeface="Times New Roman" panose="02020603050405020304" pitchFamily="18" charset="0"/>
            </a:endParaRPr>
          </a:p>
        </p:txBody>
      </p:sp>
      <p:sp>
        <p:nvSpPr>
          <p:cNvPr id="2404384" name="Text Box 32"/>
          <p:cNvSpPr txBox="1"/>
          <p:nvPr/>
        </p:nvSpPr>
        <p:spPr>
          <a:xfrm>
            <a:off x="1042988" y="4833938"/>
            <a:ext cx="7426325" cy="822325"/>
          </a:xfrm>
          <a:prstGeom prst="rect">
            <a:avLst/>
          </a:prstGeom>
          <a:noFill/>
          <a:ln w="9525">
            <a:noFill/>
          </a:ln>
        </p:spPr>
        <p:txBody>
          <a:bodyPr>
            <a:spAutoFit/>
          </a:bodyPr>
          <a:p>
            <a:pPr eaLnBrk="1" hangingPunct="1"/>
            <a:r>
              <a:rPr lang="zh-CN" altLang="en-US" sz="2400" b="1" dirty="0">
                <a:solidFill>
                  <a:srgbClr val="333399"/>
                </a:solidFill>
                <a:latin typeface="Times New Roman" panose="02020603050405020304" pitchFamily="18" charset="0"/>
              </a:rPr>
              <a:t>当增益</a:t>
            </a:r>
            <a:r>
              <a:rPr lang="en-US" altLang="zh-CN" sz="2400" b="1" dirty="0">
                <a:solidFill>
                  <a:srgbClr val="333399"/>
                </a:solidFill>
                <a:latin typeface="Times New Roman" panose="02020603050405020304" pitchFamily="18" charset="0"/>
                <a:ea typeface="宋体" panose="02010600030101010101" pitchFamily="2" charset="-122"/>
              </a:rPr>
              <a:t>&gt;</a:t>
            </a:r>
            <a:r>
              <a:rPr lang="en-US" altLang="zh-CN" sz="2400" b="1" dirty="0">
                <a:solidFill>
                  <a:srgbClr val="CC00CC"/>
                </a:solidFill>
                <a:latin typeface="Times New Roman" panose="02020603050405020304" pitchFamily="18" charset="0"/>
                <a:ea typeface="宋体" panose="02010600030101010101" pitchFamily="2" charset="-122"/>
              </a:rPr>
              <a:t>200</a:t>
            </a:r>
            <a:r>
              <a:rPr lang="zh-CN" altLang="en-US" sz="2400" b="1" dirty="0">
                <a:solidFill>
                  <a:srgbClr val="333399"/>
                </a:solidFill>
                <a:latin typeface="Times New Roman" panose="02020603050405020304" pitchFamily="18" charset="0"/>
              </a:rPr>
              <a:t>时</a:t>
            </a:r>
            <a:r>
              <a:rPr lang="zh-CN" altLang="en-US" sz="2400" b="1" dirty="0">
                <a:solidFill>
                  <a:srgbClr val="333399"/>
                </a:solidFill>
                <a:latin typeface="Times New Roman" panose="02020603050405020304" pitchFamily="18" charset="0"/>
                <a:ea typeface="宋体" panose="02010600030101010101" pitchFamily="2" charset="-122"/>
              </a:rPr>
              <a:t>，</a:t>
            </a:r>
            <a:r>
              <a:rPr lang="zh-CN" altLang="en-US" sz="2400" b="1" dirty="0">
                <a:solidFill>
                  <a:srgbClr val="333399"/>
                </a:solidFill>
                <a:latin typeface="Times New Roman" panose="02020603050405020304" pitchFamily="18" charset="0"/>
              </a:rPr>
              <a:t>为达到误差范围</a:t>
            </a:r>
            <a:r>
              <a:rPr lang="en-US" altLang="en-US" sz="2400" b="1" dirty="0">
                <a:solidFill>
                  <a:srgbClr val="CC00CC"/>
                </a:solidFill>
                <a:latin typeface="Times New Roman" panose="02020603050405020304" pitchFamily="18" charset="0"/>
              </a:rPr>
              <a:t>±</a:t>
            </a:r>
            <a:r>
              <a:rPr lang="en-US" altLang="zh-CN" sz="2400" b="1" dirty="0">
                <a:solidFill>
                  <a:srgbClr val="CC00CC"/>
                </a:solidFill>
                <a:latin typeface="Times New Roman" panose="02020603050405020304" pitchFamily="18" charset="0"/>
                <a:ea typeface="宋体" panose="02010600030101010101" pitchFamily="2" charset="-122"/>
              </a:rPr>
              <a:t>0.01%</a:t>
            </a:r>
            <a:r>
              <a:rPr lang="zh-CN" altLang="en-US" sz="2400" b="1" dirty="0">
                <a:solidFill>
                  <a:srgbClr val="333399"/>
                </a:solidFill>
                <a:latin typeface="Times New Roman" panose="02020603050405020304" pitchFamily="18" charset="0"/>
                <a:ea typeface="宋体" panose="02010600030101010101" pitchFamily="2" charset="-122"/>
              </a:rPr>
              <a:t>，</a:t>
            </a:r>
            <a:r>
              <a:rPr lang="zh-CN" altLang="en-US" sz="2400" b="1" dirty="0">
                <a:solidFill>
                  <a:srgbClr val="333399"/>
                </a:solidFill>
                <a:latin typeface="Times New Roman" panose="02020603050405020304" pitchFamily="18" charset="0"/>
              </a:rPr>
              <a:t>往往建立时间达到</a:t>
            </a:r>
            <a:r>
              <a:rPr lang="en-US" altLang="zh-CN" sz="2400" b="1" dirty="0">
                <a:solidFill>
                  <a:srgbClr val="CC00CC"/>
                </a:solidFill>
                <a:latin typeface="Times New Roman" panose="02020603050405020304" pitchFamily="18" charset="0"/>
                <a:ea typeface="宋体" panose="02010600030101010101" pitchFamily="2" charset="-122"/>
              </a:rPr>
              <a:t>50</a:t>
            </a:r>
            <a:r>
              <a:rPr lang="en-US" altLang="zh-CN" sz="2400" b="1"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400" b="1" dirty="0">
                <a:solidFill>
                  <a:srgbClr val="CC00CC"/>
                </a:solidFill>
                <a:latin typeface="Times New Roman" panose="02020603050405020304" pitchFamily="18" charset="0"/>
                <a:ea typeface="宋体" panose="02010600030101010101" pitchFamily="2" charset="-122"/>
              </a:rPr>
              <a:t>s </a:t>
            </a:r>
            <a:r>
              <a:rPr lang="zh-CN" altLang="en-US" sz="2400" b="1" dirty="0">
                <a:solidFill>
                  <a:srgbClr val="CC00CC"/>
                </a:solidFill>
                <a:latin typeface="Times New Roman" panose="02020603050405020304" pitchFamily="18" charset="0"/>
                <a:ea typeface="宋体" panose="02010600030101010101" pitchFamily="2" charset="-122"/>
              </a:rPr>
              <a:t>～</a:t>
            </a:r>
            <a:r>
              <a:rPr lang="en-US" altLang="zh-CN" sz="2400" b="1" dirty="0">
                <a:solidFill>
                  <a:srgbClr val="CC00CC"/>
                </a:solidFill>
                <a:latin typeface="Times New Roman" panose="02020603050405020304" pitchFamily="18" charset="0"/>
                <a:ea typeface="宋体" panose="02010600030101010101" pitchFamily="2" charset="-122"/>
              </a:rPr>
              <a:t>100</a:t>
            </a:r>
            <a:r>
              <a:rPr lang="en-US" altLang="zh-CN" sz="2400" b="1"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400" b="1" dirty="0">
                <a:solidFill>
                  <a:srgbClr val="CC00CC"/>
                </a:solidFill>
                <a:latin typeface="Times New Roman" panose="02020603050405020304" pitchFamily="18" charset="0"/>
                <a:ea typeface="宋体" panose="02010600030101010101" pitchFamily="2" charset="-122"/>
              </a:rPr>
              <a:t>s</a:t>
            </a:r>
            <a:r>
              <a:rPr lang="zh-CN" altLang="en-US" sz="2400" b="1" dirty="0">
                <a:solidFill>
                  <a:srgbClr val="CC00CC"/>
                </a:solidFill>
                <a:latin typeface="Times New Roman" panose="02020603050405020304" pitchFamily="18" charset="0"/>
                <a:ea typeface="宋体" panose="02010600030101010101" pitchFamily="2" charset="-122"/>
              </a:rPr>
              <a:t>，</a:t>
            </a:r>
            <a:r>
              <a:rPr lang="zh-CN" altLang="en-US" sz="2400" b="1" dirty="0">
                <a:solidFill>
                  <a:srgbClr val="333399"/>
                </a:solidFill>
                <a:latin typeface="Times New Roman" panose="02020603050405020304" pitchFamily="18" charset="0"/>
              </a:rPr>
              <a:t>有时甚至高达</a:t>
            </a:r>
            <a:r>
              <a:rPr lang="en-US" altLang="zh-CN" sz="2400" b="1" dirty="0">
                <a:solidFill>
                  <a:srgbClr val="CC00CC"/>
                </a:solidFill>
                <a:latin typeface="Times New Roman" panose="02020603050405020304" pitchFamily="18" charset="0"/>
                <a:ea typeface="宋体" panose="02010600030101010101" pitchFamily="2" charset="-122"/>
              </a:rPr>
              <a:t>350</a:t>
            </a:r>
            <a:r>
              <a:rPr lang="en-US" altLang="zh-CN" sz="2400" b="1" dirty="0">
                <a:solidFill>
                  <a:srgbClr val="CC00CC"/>
                </a:solidFill>
                <a:latin typeface="Times New Roman" panose="02020603050405020304" pitchFamily="18" charset="0"/>
                <a:sym typeface="Symbol" panose="05050102010706020507" pitchFamily="18" charset="2"/>
              </a:rPr>
              <a:t></a:t>
            </a:r>
            <a:r>
              <a:rPr lang="en-US" altLang="zh-CN" sz="2400" b="1" dirty="0">
                <a:solidFill>
                  <a:srgbClr val="CC00CC"/>
                </a:solidFill>
                <a:latin typeface="Times New Roman" panose="02020603050405020304" pitchFamily="18" charset="0"/>
              </a:rPr>
              <a:t>s</a:t>
            </a:r>
            <a:r>
              <a:rPr lang="en-US" altLang="zh-CN" sz="2000" b="1" dirty="0">
                <a:solidFill>
                  <a:srgbClr val="333399"/>
                </a:solidFill>
                <a:latin typeface="Times New Roman" panose="02020603050405020304" pitchFamily="18" charset="0"/>
              </a:rPr>
              <a:t> </a:t>
            </a:r>
            <a:r>
              <a:rPr lang="zh-CN" altLang="en-US" sz="2400" b="1" dirty="0">
                <a:solidFill>
                  <a:srgbClr val="333399"/>
                </a:solidFill>
                <a:latin typeface="Times New Roman" panose="02020603050405020304" pitchFamily="18" charset="0"/>
                <a:ea typeface="宋体" panose="02010600030101010101" pitchFamily="2" charset="-122"/>
              </a:rPr>
              <a:t>。 </a:t>
            </a:r>
            <a:endParaRPr lang="zh-CN" altLang="en-US" sz="2400" b="1" dirty="0">
              <a:solidFill>
                <a:srgbClr val="333399"/>
              </a:solidFill>
              <a:latin typeface="Times New Roman" panose="02020603050405020304" pitchFamily="18" charset="0"/>
              <a:ea typeface="宋体" panose="02010600030101010101" pitchFamily="2" charset="-122"/>
            </a:endParaRPr>
          </a:p>
        </p:txBody>
      </p:sp>
      <p:sp>
        <p:nvSpPr>
          <p:cNvPr id="2404385" name="Text Box 33"/>
          <p:cNvSpPr txBox="1"/>
          <p:nvPr/>
        </p:nvSpPr>
        <p:spPr>
          <a:xfrm>
            <a:off x="635000" y="4159250"/>
            <a:ext cx="1560513" cy="530225"/>
          </a:xfrm>
          <a:prstGeom prst="rect">
            <a:avLst/>
          </a:prstGeom>
          <a:solidFill>
            <a:srgbClr val="FF99CC"/>
          </a:solidFill>
          <a:ln w="9525">
            <a:noFill/>
          </a:ln>
        </p:spPr>
        <p:txBody>
          <a:bodyPr>
            <a:spAutoFit/>
          </a:bodyPr>
          <a:p>
            <a:pPr eaLnBrk="1" hangingPunct="1">
              <a:lnSpc>
                <a:spcPct val="90000"/>
              </a:lnSpc>
              <a:spcBef>
                <a:spcPct val="50000"/>
              </a:spcBef>
            </a:pPr>
            <a:r>
              <a:rPr lang="zh-CN" altLang="en-US" sz="3200" b="1" dirty="0">
                <a:solidFill>
                  <a:srgbClr val="FF0000"/>
                </a:solidFill>
                <a:latin typeface="Times New Roman" panose="02020603050405020304" pitchFamily="18" charset="0"/>
                <a:ea typeface="黑体" panose="02010609060101010101" pitchFamily="49" charset="-122"/>
              </a:rPr>
              <a:t>例如：</a:t>
            </a:r>
            <a:endParaRPr lang="zh-CN" altLang="en-US" sz="3200" b="1" dirty="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4383"/>
                                        </p:tgtEl>
                                        <p:attrNameLst>
                                          <p:attrName>style.visibility</p:attrName>
                                        </p:attrNameLst>
                                      </p:cBhvr>
                                      <p:to>
                                        <p:strVal val="visible"/>
                                      </p:to>
                                    </p:set>
                                    <p:animEffect transition="in" filter="dissolve">
                                      <p:cBhvr>
                                        <p:cTn id="7" dur="500"/>
                                        <p:tgtEl>
                                          <p:spTgt spid="240438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04385"/>
                                        </p:tgtEl>
                                        <p:attrNameLst>
                                          <p:attrName>style.visibility</p:attrName>
                                        </p:attrNameLst>
                                      </p:cBhvr>
                                      <p:to>
                                        <p:strVal val="visible"/>
                                      </p:to>
                                    </p:set>
                                    <p:animEffect transition="in" filter="dissolve">
                                      <p:cBhvr>
                                        <p:cTn id="12" dur="500"/>
                                        <p:tgtEl>
                                          <p:spTgt spid="240438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04384"/>
                                        </p:tgtEl>
                                        <p:attrNameLst>
                                          <p:attrName>style.visibility</p:attrName>
                                        </p:attrNameLst>
                                      </p:cBhvr>
                                      <p:to>
                                        <p:strVal val="visible"/>
                                      </p:to>
                                    </p:set>
                                    <p:animEffect transition="in" filter="dissolve">
                                      <p:cBhvr>
                                        <p:cTn id="17" dur="500"/>
                                        <p:tgtEl>
                                          <p:spTgt spid="24043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4383" grpId="0"/>
      <p:bldP spid="2404384" grpId="0"/>
      <p:bldP spid="2404385" grpId="0" bldLvl="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0783" name="Text Box 31"/>
          <p:cNvSpPr txBox="1"/>
          <p:nvPr/>
        </p:nvSpPr>
        <p:spPr>
          <a:xfrm>
            <a:off x="360363" y="765175"/>
            <a:ext cx="261302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4. </a:t>
            </a:r>
            <a:r>
              <a:rPr lang="zh-CN" altLang="en-US" sz="3600" b="1" dirty="0">
                <a:solidFill>
                  <a:srgbClr val="333399"/>
                </a:solidFill>
                <a:latin typeface="Times New Roman" panose="02020603050405020304" pitchFamily="18" charset="0"/>
              </a:rPr>
              <a:t>恢复时间</a:t>
            </a:r>
            <a:endParaRPr lang="zh-CN" altLang="en-US" sz="3600" b="1" dirty="0">
              <a:solidFill>
                <a:srgbClr val="333399"/>
              </a:solidFill>
              <a:latin typeface="Times New Roman" panose="02020603050405020304" pitchFamily="18" charset="0"/>
            </a:endParaRPr>
          </a:p>
        </p:txBody>
      </p:sp>
      <p:sp>
        <p:nvSpPr>
          <p:cNvPr id="2250784" name="Text Box 32"/>
          <p:cNvSpPr txBox="1"/>
          <p:nvPr/>
        </p:nvSpPr>
        <p:spPr>
          <a:xfrm>
            <a:off x="503238" y="1412875"/>
            <a:ext cx="8183562" cy="14160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恢复时间</a:t>
            </a:r>
            <a:r>
              <a:rPr lang="zh-CN" altLang="en-US" sz="3200" b="1" dirty="0">
                <a:solidFill>
                  <a:srgbClr val="333399"/>
                </a:solidFill>
                <a:latin typeface="黑体" panose="02010609060101010101" pitchFamily="49" charset="-122"/>
                <a:ea typeface="黑体" panose="02010609060101010101" pitchFamily="49" charset="-122"/>
              </a:rPr>
              <a:t>：指放大器撤除驱动信号瞬间至放</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大器由饱和状态恢复到最终值所</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需的时间。</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50786" name="Text Box 34"/>
          <p:cNvSpPr txBox="1"/>
          <p:nvPr/>
        </p:nvSpPr>
        <p:spPr>
          <a:xfrm>
            <a:off x="971550" y="2852738"/>
            <a:ext cx="7488238" cy="860425"/>
          </a:xfrm>
          <a:prstGeom prst="rect">
            <a:avLst/>
          </a:prstGeom>
          <a:noFill/>
          <a:ln w="9525">
            <a:noFill/>
          </a:ln>
        </p:spPr>
        <p:txBody>
          <a:bodyPr>
            <a:spAutoFit/>
          </a:bodyPr>
          <a:p>
            <a:pPr eaLnBrk="1" hangingPunct="1">
              <a:lnSpc>
                <a:spcPct val="90000"/>
              </a:lnSpc>
            </a:pPr>
            <a:r>
              <a:rPr lang="zh-CN" altLang="en-US" sz="2800" b="1" dirty="0">
                <a:solidFill>
                  <a:schemeClr val="tx1"/>
                </a:solidFill>
                <a:latin typeface="Times New Roman" panose="02020603050405020304" pitchFamily="18" charset="0"/>
              </a:rPr>
              <a:t>放大器的建立时间和恢复时间直接影响数据采集系统的采样速率。 </a:t>
            </a:r>
            <a:endParaRPr lang="zh-CN" altLang="en-US" sz="2800" b="1" dirty="0">
              <a:solidFill>
                <a:schemeClr val="tx1"/>
              </a:solidFill>
              <a:latin typeface="Times New Roman" panose="02020603050405020304" pitchFamily="18" charset="0"/>
            </a:endParaRPr>
          </a:p>
        </p:txBody>
      </p:sp>
      <p:sp>
        <p:nvSpPr>
          <p:cNvPr id="2250787" name="Text Box 35"/>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0788" name="Text Box 36"/>
          <p:cNvSpPr txBox="1"/>
          <p:nvPr/>
        </p:nvSpPr>
        <p:spPr>
          <a:xfrm>
            <a:off x="401638" y="3756025"/>
            <a:ext cx="415607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 5. </a:t>
            </a:r>
            <a:r>
              <a:rPr lang="zh-CN" altLang="en-US" sz="3600" b="1" dirty="0">
                <a:solidFill>
                  <a:srgbClr val="333399"/>
                </a:solidFill>
                <a:latin typeface="Times New Roman" panose="02020603050405020304" pitchFamily="18" charset="0"/>
              </a:rPr>
              <a:t>电源引起的失调</a:t>
            </a:r>
            <a:endParaRPr lang="zh-CN" altLang="en-US" sz="3600" b="1" dirty="0">
              <a:solidFill>
                <a:srgbClr val="333399"/>
              </a:solidFill>
              <a:latin typeface="Times New Roman" panose="02020603050405020304" pitchFamily="18" charset="0"/>
            </a:endParaRPr>
          </a:p>
        </p:txBody>
      </p:sp>
      <p:sp>
        <p:nvSpPr>
          <p:cNvPr id="2250789" name="Text Box 37"/>
          <p:cNvSpPr txBox="1"/>
          <p:nvPr/>
        </p:nvSpPr>
        <p:spPr>
          <a:xfrm>
            <a:off x="503238" y="4418013"/>
            <a:ext cx="8139112" cy="97790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3200" b="1" dirty="0">
                <a:solidFill>
                  <a:srgbClr val="FF0000"/>
                </a:solidFill>
                <a:latin typeface="黑体" panose="02010609060101010101" pitchFamily="49" charset="-122"/>
                <a:ea typeface="黑体" panose="02010609060101010101" pitchFamily="49" charset="-122"/>
              </a:rPr>
              <a:t>电源引起的失调</a:t>
            </a:r>
            <a:r>
              <a:rPr lang="zh-CN" altLang="en-US" sz="3200" b="1" dirty="0">
                <a:solidFill>
                  <a:srgbClr val="333399"/>
                </a:solidFill>
                <a:latin typeface="黑体" panose="02010609060101010101" pitchFamily="49" charset="-122"/>
                <a:ea typeface="黑体" panose="02010609060101010101" pitchFamily="49" charset="-122"/>
              </a:rPr>
              <a:t>：电源电压每变化</a:t>
            </a:r>
            <a:r>
              <a:rPr lang="en-US" altLang="zh-CN" sz="3200" b="1" dirty="0">
                <a:solidFill>
                  <a:srgbClr val="333399"/>
                </a:solidFill>
                <a:latin typeface="黑体" panose="02010609060101010101" pitchFamily="49" charset="-122"/>
                <a:ea typeface="黑体" panose="02010609060101010101" pitchFamily="49" charset="-122"/>
              </a:rPr>
              <a:t>1%</a:t>
            </a:r>
            <a:r>
              <a:rPr lang="zh-CN" altLang="en-US" sz="3200" b="1" dirty="0">
                <a:solidFill>
                  <a:srgbClr val="333399"/>
                </a:solidFill>
                <a:latin typeface="黑体" panose="02010609060101010101" pitchFamily="49" charset="-122"/>
                <a:ea typeface="黑体" panose="02010609060101010101" pitchFamily="49" charset="-122"/>
              </a:rPr>
              <a:t>，引起</a:t>
            </a:r>
            <a:endParaRPr lang="zh-CN" altLang="en-US" sz="32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zh-CN" altLang="en-US" sz="3200" b="1" dirty="0">
                <a:solidFill>
                  <a:srgbClr val="333399"/>
                </a:solidFill>
                <a:latin typeface="黑体" panose="02010609060101010101" pitchFamily="49" charset="-122"/>
                <a:ea typeface="黑体" panose="02010609060101010101" pitchFamily="49" charset="-122"/>
              </a:rPr>
              <a:t>                放大器的漂移电压值。 </a:t>
            </a:r>
            <a:endParaRPr lang="zh-CN" altLang="en-US" sz="3200" b="1" dirty="0">
              <a:solidFill>
                <a:srgbClr val="333399"/>
              </a:solidFill>
              <a:latin typeface="黑体" panose="02010609060101010101" pitchFamily="49" charset="-122"/>
              <a:ea typeface="黑体" panose="02010609060101010101" pitchFamily="49" charset="-122"/>
            </a:endParaRPr>
          </a:p>
        </p:txBody>
      </p:sp>
      <p:sp>
        <p:nvSpPr>
          <p:cNvPr id="2250790" name="Rectangle 38"/>
          <p:cNvSpPr/>
          <p:nvPr/>
        </p:nvSpPr>
        <p:spPr>
          <a:xfrm>
            <a:off x="971550" y="5481638"/>
            <a:ext cx="7383463" cy="476250"/>
          </a:xfrm>
          <a:prstGeom prst="rect">
            <a:avLst/>
          </a:prstGeom>
          <a:noFill/>
          <a:ln w="9525">
            <a:noFill/>
          </a:ln>
        </p:spPr>
        <p:txBody>
          <a:bodyPr>
            <a:spAutoFit/>
          </a:bodyPr>
          <a:p>
            <a:pPr eaLnBrk="1" hangingPunct="1">
              <a:lnSpc>
                <a:spcPct val="90000"/>
              </a:lnSpc>
            </a:pPr>
            <a:r>
              <a:rPr lang="zh-CN" altLang="en-US" sz="2800" b="1" dirty="0">
                <a:solidFill>
                  <a:schemeClr val="tx1"/>
                </a:solidFill>
                <a:latin typeface="Times New Roman" panose="02020603050405020304" pitchFamily="18" charset="0"/>
              </a:rPr>
              <a:t>该指标则是设计系统稳压电源的主要依据之一。</a:t>
            </a:r>
            <a:endParaRPr lang="zh-CN" altLang="en-US" sz="28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0783"/>
                                        </p:tgtEl>
                                        <p:attrNameLst>
                                          <p:attrName>style.visibility</p:attrName>
                                        </p:attrNameLst>
                                      </p:cBhvr>
                                      <p:to>
                                        <p:strVal val="visible"/>
                                      </p:to>
                                    </p:set>
                                    <p:animEffect transition="in" filter="dissolve">
                                      <p:cBhvr>
                                        <p:cTn id="7" dur="500"/>
                                        <p:tgtEl>
                                          <p:spTgt spid="225078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0784"/>
                                        </p:tgtEl>
                                        <p:attrNameLst>
                                          <p:attrName>style.visibility</p:attrName>
                                        </p:attrNameLst>
                                      </p:cBhvr>
                                      <p:to>
                                        <p:strVal val="visible"/>
                                      </p:to>
                                    </p:set>
                                    <p:animEffect transition="in" filter="dissolve">
                                      <p:cBhvr>
                                        <p:cTn id="12" dur="500"/>
                                        <p:tgtEl>
                                          <p:spTgt spid="225078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0786">
                                            <p:txEl>
                                              <p:charRg st="0" end="31"/>
                                            </p:txEl>
                                          </p:spTgt>
                                        </p:tgtEl>
                                        <p:attrNameLst>
                                          <p:attrName>style.visibility</p:attrName>
                                        </p:attrNameLst>
                                      </p:cBhvr>
                                      <p:to>
                                        <p:strVal val="visible"/>
                                      </p:to>
                                    </p:set>
                                    <p:animEffect transition="in" filter="dissolve">
                                      <p:cBhvr>
                                        <p:cTn id="17" dur="500"/>
                                        <p:tgtEl>
                                          <p:spTgt spid="2250786">
                                            <p:txEl>
                                              <p:charRg st="0" end="3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250788"/>
                                        </p:tgtEl>
                                        <p:attrNameLst>
                                          <p:attrName>style.visibility</p:attrName>
                                        </p:attrNameLst>
                                      </p:cBhvr>
                                      <p:to>
                                        <p:strVal val="visible"/>
                                      </p:to>
                                    </p:set>
                                    <p:animEffect transition="in" filter="dissolve">
                                      <p:cBhvr>
                                        <p:cTn id="22" dur="500"/>
                                        <p:tgtEl>
                                          <p:spTgt spid="225078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250789"/>
                                        </p:tgtEl>
                                        <p:attrNameLst>
                                          <p:attrName>style.visibility</p:attrName>
                                        </p:attrNameLst>
                                      </p:cBhvr>
                                      <p:to>
                                        <p:strVal val="visible"/>
                                      </p:to>
                                    </p:set>
                                    <p:animEffect transition="in" filter="dissolve">
                                      <p:cBhvr>
                                        <p:cTn id="27" dur="500"/>
                                        <p:tgtEl>
                                          <p:spTgt spid="225078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250790"/>
                                        </p:tgtEl>
                                        <p:attrNameLst>
                                          <p:attrName>style.visibility</p:attrName>
                                        </p:attrNameLst>
                                      </p:cBhvr>
                                      <p:to>
                                        <p:strVal val="visible"/>
                                      </p:to>
                                    </p:set>
                                    <p:animEffect transition="in" filter="dissolve">
                                      <p:cBhvr>
                                        <p:cTn id="32" dur="500"/>
                                        <p:tgtEl>
                                          <p:spTgt spid="22507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0783" grpId="0" bldLvl="0" animBg="1"/>
      <p:bldP spid="2250784" grpId="0" bldLvl="0" animBg="1"/>
      <p:bldP spid="2250786" grpId="0" build="p"/>
      <p:bldP spid="2250788" grpId="0" bldLvl="0" animBg="1"/>
      <p:bldP spid="2250789" grpId="0" bldLvl="0" animBg="1"/>
      <p:bldP spid="2250790"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926" name="Text Box 1078"/>
          <p:cNvSpPr txBox="1"/>
          <p:nvPr/>
        </p:nvSpPr>
        <p:spPr>
          <a:xfrm>
            <a:off x="503238" y="873125"/>
            <a:ext cx="305752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6. </a:t>
            </a:r>
            <a:r>
              <a:rPr lang="zh-CN" altLang="en-US" sz="3600" b="1" dirty="0">
                <a:solidFill>
                  <a:srgbClr val="333399"/>
                </a:solidFill>
                <a:latin typeface="Times New Roman" panose="02020603050405020304" pitchFamily="18" charset="0"/>
              </a:rPr>
              <a:t>共模抑制比 </a:t>
            </a:r>
            <a:endParaRPr lang="zh-CN" altLang="en-US" sz="3600" b="1" dirty="0">
              <a:solidFill>
                <a:srgbClr val="333399"/>
              </a:solidFill>
              <a:latin typeface="Times New Roman" panose="02020603050405020304" pitchFamily="18" charset="0"/>
            </a:endParaRPr>
          </a:p>
        </p:txBody>
      </p:sp>
      <p:sp>
        <p:nvSpPr>
          <p:cNvPr id="2255929" name="Text Box 1081"/>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3" name="Group 10"/>
          <p:cNvGrpSpPr/>
          <p:nvPr/>
        </p:nvGrpSpPr>
        <p:grpSpPr>
          <a:xfrm>
            <a:off x="393700" y="1527175"/>
            <a:ext cx="8426450" cy="2193925"/>
            <a:chOff x="248" y="962"/>
            <a:chExt cx="5308" cy="1382"/>
          </a:xfrm>
        </p:grpSpPr>
        <p:sp>
          <p:nvSpPr>
            <p:cNvPr id="29703" name="Rectangle 1082"/>
            <p:cNvSpPr/>
            <p:nvPr/>
          </p:nvSpPr>
          <p:spPr>
            <a:xfrm>
              <a:off x="248" y="962"/>
              <a:ext cx="5308" cy="138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110000"/>
                </a:lnSpc>
              </a:pPr>
              <a:r>
                <a:rPr lang="zh-CN" altLang="en-US" sz="2800" b="1" dirty="0">
                  <a:solidFill>
                    <a:srgbClr val="FF0000"/>
                  </a:solidFill>
                  <a:latin typeface="黑体" panose="02010609060101010101" pitchFamily="49" charset="-122"/>
                  <a:ea typeface="黑体" panose="02010609060101010101" pitchFamily="49" charset="-122"/>
                </a:rPr>
                <a:t>共模抑制比</a:t>
              </a:r>
              <a:r>
                <a:rPr lang="zh-CN" altLang="en-US" sz="2800" b="1" dirty="0">
                  <a:solidFill>
                    <a:srgbClr val="333399"/>
                  </a:solidFill>
                  <a:latin typeface="黑体" panose="02010609060101010101" pitchFamily="49" charset="-122"/>
                  <a:ea typeface="黑体" panose="02010609060101010101" pitchFamily="49" charset="-122"/>
                </a:rPr>
                <a:t>：放大器对差模信号的电压放大倍数</a:t>
              </a:r>
              <a:r>
                <a:rPr lang="en-US" altLang="zh-CN" sz="2800" b="1" i="1" dirty="0">
                  <a:solidFill>
                    <a:srgbClr val="FF0000"/>
                  </a:solidFill>
                  <a:latin typeface="Times New Roman" panose="02020603050405020304" pitchFamily="18" charset="0"/>
                  <a:ea typeface="黑体" panose="02010609060101010101" pitchFamily="49" charset="-122"/>
                </a:rPr>
                <a:t>A</a:t>
              </a:r>
              <a:r>
                <a:rPr lang="en-US" altLang="zh-CN" sz="2800" b="1" baseline="-25000" dirty="0">
                  <a:solidFill>
                    <a:srgbClr val="FF0000"/>
                  </a:solidFill>
                  <a:latin typeface="Times New Roman" panose="02020603050405020304" pitchFamily="18" charset="0"/>
                  <a:ea typeface="黑体" panose="02010609060101010101" pitchFamily="49" charset="-122"/>
                </a:rPr>
                <a:t>ud</a:t>
              </a:r>
              <a:r>
                <a:rPr lang="zh-CN" altLang="en-US" sz="2800" b="1" dirty="0">
                  <a:solidFill>
                    <a:srgbClr val="333399"/>
                  </a:solidFill>
                  <a:latin typeface="黑体" panose="02010609060101010101" pitchFamily="49" charset="-122"/>
                  <a:ea typeface="黑体" panose="02010609060101010101" pitchFamily="49" charset="-122"/>
                </a:rPr>
                <a:t>与对共模信号的电压放大倍数</a:t>
              </a:r>
              <a:r>
                <a:rPr lang="en-US" altLang="zh-CN" sz="2800" b="1" dirty="0">
                  <a:solidFill>
                    <a:srgbClr val="FF0000"/>
                  </a:solidFill>
                  <a:latin typeface="Times New Roman" panose="02020603050405020304" pitchFamily="18" charset="0"/>
                  <a:ea typeface="黑体" panose="02010609060101010101" pitchFamily="49" charset="-122"/>
                </a:rPr>
                <a:t>A</a:t>
              </a:r>
              <a:r>
                <a:rPr lang="en-US" altLang="zh-CN" sz="2800" b="1" baseline="-25000" dirty="0">
                  <a:solidFill>
                    <a:srgbClr val="FF0000"/>
                  </a:solidFill>
                  <a:latin typeface="Times New Roman" panose="02020603050405020304" pitchFamily="18" charset="0"/>
                  <a:ea typeface="黑体" panose="02010609060101010101" pitchFamily="49" charset="-122"/>
                </a:rPr>
                <a:t>uc</a:t>
              </a:r>
              <a:r>
                <a:rPr lang="zh-CN" altLang="en-US" sz="2800" b="1" dirty="0">
                  <a:solidFill>
                    <a:srgbClr val="333399"/>
                  </a:solidFill>
                  <a:latin typeface="黑体" panose="02010609060101010101" pitchFamily="49" charset="-122"/>
                  <a:ea typeface="黑体" panose="02010609060101010101" pitchFamily="49" charset="-122"/>
                </a:rPr>
                <a:t>之比。</a:t>
              </a:r>
              <a:endParaRPr lang="zh-CN" altLang="en-US" sz="28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endParaRPr lang="zh-CN" altLang="en-US" sz="2800" b="1" dirty="0">
                <a:solidFill>
                  <a:srgbClr val="333399"/>
                </a:solidFill>
                <a:latin typeface="黑体" panose="02010609060101010101" pitchFamily="49" charset="-122"/>
                <a:ea typeface="黑体" panose="02010609060101010101" pitchFamily="49" charset="-122"/>
              </a:endParaRPr>
            </a:p>
            <a:p>
              <a:pPr eaLnBrk="1" hangingPunct="1">
                <a:lnSpc>
                  <a:spcPct val="90000"/>
                </a:lnSpc>
              </a:pPr>
              <a:r>
                <a:rPr lang="en-US" altLang="zh-CN" sz="2800" b="0" dirty="0">
                  <a:solidFill>
                    <a:schemeClr val="tx1"/>
                  </a:solidFill>
                  <a:latin typeface="Times New Roman" panose="02020603050405020304" pitchFamily="18" charset="0"/>
                  <a:ea typeface="黑体" panose="02010609060101010101" pitchFamily="49" charset="-122"/>
                </a:rPr>
                <a:t>                                                               (dB) </a:t>
              </a:r>
              <a:endParaRPr lang="en-US" altLang="zh-CN" sz="2800" b="0" dirty="0">
                <a:solidFill>
                  <a:schemeClr val="tx1"/>
                </a:solidFill>
                <a:latin typeface="Times New Roman" panose="02020603050405020304" pitchFamily="18" charset="0"/>
                <a:ea typeface="黑体" panose="02010609060101010101" pitchFamily="49" charset="-122"/>
              </a:endParaRPr>
            </a:p>
            <a:p>
              <a:pPr eaLnBrk="1" hangingPunct="1">
                <a:lnSpc>
                  <a:spcPct val="90000"/>
                </a:lnSpc>
              </a:pPr>
              <a:endParaRPr lang="en-US" altLang="zh-CN" sz="2800" b="0" dirty="0">
                <a:solidFill>
                  <a:schemeClr val="tx1"/>
                </a:solidFill>
                <a:latin typeface="Times New Roman" panose="02020603050405020304" pitchFamily="18" charset="0"/>
                <a:ea typeface="黑体" panose="02010609060101010101" pitchFamily="49" charset="-122"/>
              </a:endParaRPr>
            </a:p>
          </p:txBody>
        </p:sp>
        <p:graphicFrame>
          <p:nvGraphicFramePr>
            <p:cNvPr id="29704" name="Object 1080"/>
            <p:cNvGraphicFramePr>
              <a:graphicFrameLocks noChangeAspect="1"/>
            </p:cNvGraphicFramePr>
            <p:nvPr/>
          </p:nvGraphicFramePr>
          <p:xfrm>
            <a:off x="1610" y="1616"/>
            <a:ext cx="2097" cy="686"/>
          </p:xfrm>
          <a:graphic>
            <a:graphicData uri="http://schemas.openxmlformats.org/presentationml/2006/ole">
              <mc:AlternateContent xmlns:mc="http://schemas.openxmlformats.org/markup-compatibility/2006">
                <mc:Choice xmlns:v="urn:schemas-microsoft-com:vml" Requires="v">
                  <p:oleObj spid="_x0000_s3077" name="" r:id="rId1" imgW="1180465" imgH="482600" progId="Equation.3">
                    <p:embed/>
                  </p:oleObj>
                </mc:Choice>
                <mc:Fallback>
                  <p:oleObj name="" r:id="rId1" imgW="1180465" imgH="482600" progId="Equation.3">
                    <p:embed/>
                    <p:pic>
                      <p:nvPicPr>
                        <p:cNvPr id="0" name="图片 3076"/>
                        <p:cNvPicPr/>
                        <p:nvPr/>
                      </p:nvPicPr>
                      <p:blipFill>
                        <a:blip r:embed="rId2"/>
                        <a:stretch>
                          <a:fillRect/>
                        </a:stretch>
                      </p:blipFill>
                      <p:spPr>
                        <a:xfrm>
                          <a:off x="1610" y="1616"/>
                          <a:ext cx="2097" cy="686"/>
                        </a:xfrm>
                        <a:prstGeom prst="rect">
                          <a:avLst/>
                        </a:prstGeom>
                        <a:solidFill>
                          <a:srgbClr val="CCFFFF"/>
                        </a:solidFill>
                        <a:ln w="38100">
                          <a:noFill/>
                          <a:miter/>
                        </a:ln>
                      </p:spPr>
                    </p:pic>
                  </p:oleObj>
                </mc:Fallback>
              </mc:AlternateContent>
            </a:graphicData>
          </a:graphic>
        </p:graphicFrame>
      </p:grpSp>
      <p:sp>
        <p:nvSpPr>
          <p:cNvPr id="2255932" name="Rectangle 1084"/>
          <p:cNvSpPr/>
          <p:nvPr/>
        </p:nvSpPr>
        <p:spPr>
          <a:xfrm>
            <a:off x="393700" y="3968750"/>
            <a:ext cx="8426450" cy="2052638"/>
          </a:xfrm>
          <a:prstGeom prst="rect">
            <a:avLst/>
          </a:prstGeom>
          <a:noFill/>
          <a:ln w="9525">
            <a:noFill/>
          </a:ln>
        </p:spPr>
        <p:txBody>
          <a:bodyPr>
            <a:spAutoFit/>
          </a:bodyPr>
          <a:p>
            <a:pPr marL="542925" indent="-542925" eaLnBrk="1" hangingPunct="1">
              <a:spcAft>
                <a:spcPct val="10000"/>
              </a:spcAft>
              <a:buClr>
                <a:srgbClr val="FF0000"/>
              </a:buClr>
              <a:buFont typeface="Wingdings" panose="05000000000000000000" pitchFamily="2" charset="2"/>
              <a:buChar char="u"/>
            </a:pPr>
            <a:r>
              <a:rPr lang="en-US" altLang="zh-CN" sz="2400" b="1" dirty="0">
                <a:solidFill>
                  <a:schemeClr val="tx1"/>
                </a:solidFill>
                <a:latin typeface="Times New Roman" panose="02020603050405020304" pitchFamily="18" charset="0"/>
              </a:rPr>
              <a:t>CMRR</a:t>
            </a:r>
            <a:r>
              <a:rPr lang="zh-CN" altLang="en-US" sz="2400" b="1" dirty="0">
                <a:solidFill>
                  <a:schemeClr val="tx1"/>
                </a:solidFill>
                <a:latin typeface="Times New Roman" panose="02020603050405020304" pitchFamily="18" charset="0"/>
              </a:rPr>
              <a:t>越大，差分放大电路抑制共模信号的能力越强，放大器的性能越好。</a:t>
            </a:r>
            <a:endParaRPr lang="zh-CN" altLang="en-US" sz="2400" b="1" dirty="0">
              <a:solidFill>
                <a:schemeClr val="tx1"/>
              </a:solidFill>
              <a:latin typeface="Times New Roman" panose="02020603050405020304" pitchFamily="18" charset="0"/>
            </a:endParaRPr>
          </a:p>
          <a:p>
            <a:pPr marL="542925" indent="-542925" eaLnBrk="1" hangingPunct="1">
              <a:spcAft>
                <a:spcPct val="10000"/>
              </a:spcAft>
              <a:buClr>
                <a:srgbClr val="FF0000"/>
              </a:buClr>
              <a:buFont typeface="Wingdings" panose="05000000000000000000" pitchFamily="2" charset="2"/>
              <a:buChar char="u"/>
            </a:pPr>
            <a:r>
              <a:rPr lang="zh-CN" altLang="en-US" sz="2400" b="1" dirty="0">
                <a:solidFill>
                  <a:schemeClr val="tx1"/>
                </a:solidFill>
                <a:latin typeface="Times New Roman" panose="02020603050405020304" pitchFamily="18" charset="0"/>
              </a:rPr>
              <a:t>当差动放大电路完全对称时（理想情况），共模信号电压放大倍数</a:t>
            </a:r>
            <a:r>
              <a:rPr lang="en-US" altLang="zh-CN" sz="2400" b="1" dirty="0">
                <a:solidFill>
                  <a:schemeClr val="tx1"/>
                </a:solidFill>
                <a:latin typeface="Times New Roman" panose="02020603050405020304" pitchFamily="18" charset="0"/>
                <a:ea typeface="黑体" panose="02010609060101010101" pitchFamily="49" charset="-122"/>
              </a:rPr>
              <a:t>A</a:t>
            </a:r>
            <a:r>
              <a:rPr lang="en-US" altLang="zh-CN" sz="2400" b="1" baseline="-25000" dirty="0">
                <a:solidFill>
                  <a:schemeClr val="tx1"/>
                </a:solidFill>
                <a:latin typeface="Times New Roman" panose="02020603050405020304" pitchFamily="18" charset="0"/>
                <a:ea typeface="黑体" panose="02010609060101010101" pitchFamily="49" charset="-122"/>
              </a:rPr>
              <a:t>uc</a:t>
            </a:r>
            <a:r>
              <a:rPr lang="en-US" altLang="zh-CN" sz="2400" b="1" dirty="0">
                <a:solidFill>
                  <a:schemeClr val="tx1"/>
                </a:solidFill>
                <a:latin typeface="Times New Roman" panose="02020603050405020304" pitchFamily="18" charset="0"/>
              </a:rPr>
              <a:t>=0</a:t>
            </a:r>
            <a:r>
              <a:rPr lang="zh-CN" altLang="en-US" sz="2400" b="1" dirty="0">
                <a:solidFill>
                  <a:schemeClr val="tx1"/>
                </a:solidFill>
                <a:latin typeface="Times New Roman" panose="02020603050405020304" pitchFamily="18" charset="0"/>
              </a:rPr>
              <a:t>，则共模抑制比</a:t>
            </a:r>
            <a:r>
              <a:rPr lang="en-US" altLang="zh-CN" sz="2400" b="1" dirty="0">
                <a:solidFill>
                  <a:schemeClr val="tx1"/>
                </a:solidFill>
                <a:latin typeface="Times New Roman" panose="02020603050405020304" pitchFamily="18" charset="0"/>
              </a:rPr>
              <a:t>CMRR→∞</a:t>
            </a:r>
            <a:r>
              <a:rPr lang="zh-CN" altLang="en-US" sz="2400" b="1" dirty="0">
                <a:solidFill>
                  <a:schemeClr val="tx1"/>
                </a:solidFill>
                <a:latin typeface="Times New Roman" panose="02020603050405020304" pitchFamily="18" charset="0"/>
              </a:rPr>
              <a:t>。</a:t>
            </a:r>
            <a:endParaRPr lang="zh-CN" altLang="en-US" sz="2400" b="1" dirty="0">
              <a:solidFill>
                <a:schemeClr val="tx1"/>
              </a:solidFill>
              <a:latin typeface="Times New Roman" panose="02020603050405020304" pitchFamily="18" charset="0"/>
            </a:endParaRPr>
          </a:p>
          <a:p>
            <a:pPr marL="542925" indent="-542925" eaLnBrk="1" hangingPunct="1">
              <a:spcAft>
                <a:spcPct val="10000"/>
              </a:spcAft>
              <a:buClr>
                <a:srgbClr val="FF0000"/>
              </a:buClr>
              <a:buFont typeface="Wingdings" panose="05000000000000000000" pitchFamily="2" charset="2"/>
              <a:buChar char="u"/>
            </a:pPr>
            <a:r>
              <a:rPr lang="en-US" altLang="zh-CN" sz="2400" b="1" dirty="0">
                <a:solidFill>
                  <a:schemeClr val="tx1"/>
                </a:solidFill>
                <a:latin typeface="Times New Roman" panose="02020603050405020304" pitchFamily="18" charset="0"/>
              </a:rPr>
              <a:t>CMRR</a:t>
            </a:r>
            <a:r>
              <a:rPr lang="zh-CN" altLang="en-US" sz="2400" b="1" dirty="0">
                <a:solidFill>
                  <a:schemeClr val="tx1"/>
                </a:solidFill>
                <a:latin typeface="Times New Roman" panose="02020603050405020304" pitchFamily="18" charset="0"/>
              </a:rPr>
              <a:t>也是放大器增益的函数，它随增益的增加而增大。</a:t>
            </a:r>
            <a:r>
              <a:rPr lang="zh-CN" altLang="en-US" sz="2800" b="1" dirty="0">
                <a:solidFill>
                  <a:schemeClr val="tx1"/>
                </a:solidFill>
                <a:latin typeface="Times New Roman" panose="02020603050405020304" pitchFamily="18" charset="0"/>
              </a:rPr>
              <a:t> </a:t>
            </a:r>
            <a:endParaRPr lang="zh-CN" altLang="en-US" sz="2800" b="1" dirty="0">
              <a:solidFill>
                <a:schemeClr val="tx1"/>
              </a:solidFill>
              <a:latin typeface="Times New Roman" panose="02020603050405020304" pitchFamily="18" charset="0"/>
            </a:endParaRPr>
          </a:p>
        </p:txBody>
      </p:sp>
      <p:sp>
        <p:nvSpPr>
          <p:cNvPr id="2" name="Rectangle 1084"/>
          <p:cNvSpPr/>
          <p:nvPr/>
        </p:nvSpPr>
        <p:spPr>
          <a:xfrm>
            <a:off x="3055938" y="728663"/>
            <a:ext cx="6088062" cy="804862"/>
          </a:xfrm>
          <a:prstGeom prst="rect">
            <a:avLst/>
          </a:prstGeom>
          <a:noFill/>
          <a:ln w="9525">
            <a:noFill/>
          </a:ln>
        </p:spPr>
        <p:txBody>
          <a:bodyPr>
            <a:spAutoFit/>
          </a:bodyPr>
          <a:p>
            <a:pPr marL="542925" indent="-542925" eaLnBrk="1" hangingPunct="1">
              <a:lnSpc>
                <a:spcPct val="90000"/>
              </a:lnSpc>
              <a:buClr>
                <a:srgbClr val="FF0000"/>
              </a:buClr>
              <a:buFont typeface="Wingdings" panose="05000000000000000000" pitchFamily="2" charset="2"/>
            </a:pPr>
            <a:r>
              <a:rPr lang="zh-CN" altLang="en-US" sz="2800" b="1" dirty="0">
                <a:solidFill>
                  <a:schemeClr val="tx1"/>
                </a:solidFill>
                <a:latin typeface="Times New Roman" panose="02020603050405020304" pitchFamily="18" charset="0"/>
                <a:ea typeface="黑体" panose="02010609060101010101" pitchFamily="49" charset="-122"/>
              </a:rPr>
              <a:t>      </a:t>
            </a:r>
            <a:r>
              <a:rPr lang="zh-CN" altLang="en-US" sz="2400" b="1" dirty="0">
                <a:solidFill>
                  <a:srgbClr val="3333FF"/>
                </a:solidFill>
                <a:latin typeface="Times New Roman" panose="02020603050405020304" pitchFamily="18" charset="0"/>
                <a:ea typeface="黑体" panose="02010609060101010101" pitchFamily="49" charset="-122"/>
              </a:rPr>
              <a:t>衡量差分放大电路抑制共模信号</a:t>
            </a:r>
            <a:endParaRPr lang="zh-CN" altLang="en-US" sz="2400" b="1" dirty="0">
              <a:solidFill>
                <a:srgbClr val="3333FF"/>
              </a:solidFill>
              <a:latin typeface="Times New Roman" panose="02020603050405020304" pitchFamily="18" charset="0"/>
              <a:ea typeface="黑体" panose="02010609060101010101" pitchFamily="49" charset="-122"/>
            </a:endParaRPr>
          </a:p>
          <a:p>
            <a:pPr marL="542925" indent="-542925" eaLnBrk="1" hangingPunct="1">
              <a:lnSpc>
                <a:spcPct val="90000"/>
              </a:lnSpc>
              <a:buClr>
                <a:srgbClr val="FF0000"/>
              </a:buClr>
              <a:buFont typeface="Wingdings" panose="05000000000000000000" pitchFamily="2" charset="2"/>
            </a:pPr>
            <a:r>
              <a:rPr lang="zh-CN" altLang="en-US" sz="2400" b="1" dirty="0">
                <a:solidFill>
                  <a:srgbClr val="3333FF"/>
                </a:solidFill>
                <a:latin typeface="Times New Roman" panose="02020603050405020304" pitchFamily="18" charset="0"/>
                <a:ea typeface="黑体" panose="02010609060101010101" pitchFamily="49" charset="-122"/>
              </a:rPr>
              <a:t>       及放大差模信号的能力</a:t>
            </a:r>
            <a:endParaRPr lang="zh-CN" altLang="en-US" sz="2400" b="1" dirty="0">
              <a:solidFill>
                <a:srgbClr val="3333FF"/>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5926"/>
                                        </p:tgtEl>
                                        <p:attrNameLst>
                                          <p:attrName>style.visibility</p:attrName>
                                        </p:attrNameLst>
                                      </p:cBhvr>
                                      <p:to>
                                        <p:strVal val="visible"/>
                                      </p:to>
                                    </p:set>
                                    <p:animEffect transition="in" filter="dissolve">
                                      <p:cBhvr>
                                        <p:cTn id="7" dur="500"/>
                                        <p:tgtEl>
                                          <p:spTgt spid="2255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charRg st="0" end="21"/>
                                            </p:txEl>
                                          </p:spTgt>
                                        </p:tgtEl>
                                        <p:attrNameLst>
                                          <p:attrName>style.visibility</p:attrName>
                                        </p:attrNameLst>
                                      </p:cBhvr>
                                      <p:to>
                                        <p:strVal val="visible"/>
                                      </p:to>
                                    </p:set>
                                    <p:animEffect transition="in" filter="dissolve">
                                      <p:cBhvr>
                                        <p:cTn id="12" dur="500"/>
                                        <p:tgtEl>
                                          <p:spTgt spid="2">
                                            <p:txEl>
                                              <p:charRg st="0" end="2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charRg st="21" end="39"/>
                                            </p:txEl>
                                          </p:spTgt>
                                        </p:tgtEl>
                                        <p:attrNameLst>
                                          <p:attrName>style.visibility</p:attrName>
                                        </p:attrNameLst>
                                      </p:cBhvr>
                                      <p:to>
                                        <p:strVal val="visible"/>
                                      </p:to>
                                    </p:set>
                                    <p:animEffect transition="in" filter="dissolve">
                                      <p:cBhvr>
                                        <p:cTn id="15" dur="500"/>
                                        <p:tgtEl>
                                          <p:spTgt spid="2">
                                            <p:txEl>
                                              <p:charRg st="21" end="39"/>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linds(horizontal)">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55932">
                                            <p:txEl>
                                              <p:charRg st="0" end="35"/>
                                            </p:txEl>
                                          </p:spTgt>
                                        </p:tgtEl>
                                        <p:attrNameLst>
                                          <p:attrName>style.visibility</p:attrName>
                                        </p:attrNameLst>
                                      </p:cBhvr>
                                      <p:to>
                                        <p:strVal val="visible"/>
                                      </p:to>
                                    </p:set>
                                    <p:animEffect transition="in" filter="dissolve">
                                      <p:cBhvr>
                                        <p:cTn id="25" dur="500"/>
                                        <p:tgtEl>
                                          <p:spTgt spid="2255932">
                                            <p:txEl>
                                              <p:charRg st="0" end="3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255932">
                                            <p:txEl>
                                              <p:charRg st="35" end="84"/>
                                            </p:txEl>
                                          </p:spTgt>
                                        </p:tgtEl>
                                        <p:attrNameLst>
                                          <p:attrName>style.visibility</p:attrName>
                                        </p:attrNameLst>
                                      </p:cBhvr>
                                      <p:to>
                                        <p:strVal val="visible"/>
                                      </p:to>
                                    </p:set>
                                    <p:animEffect transition="in" filter="dissolve">
                                      <p:cBhvr>
                                        <p:cTn id="30" dur="500"/>
                                        <p:tgtEl>
                                          <p:spTgt spid="2255932">
                                            <p:txEl>
                                              <p:charRg st="35" end="8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55932">
                                            <p:txEl>
                                              <p:charRg st="84" end="112"/>
                                            </p:txEl>
                                          </p:spTgt>
                                        </p:tgtEl>
                                        <p:attrNameLst>
                                          <p:attrName>style.visibility</p:attrName>
                                        </p:attrNameLst>
                                      </p:cBhvr>
                                      <p:to>
                                        <p:strVal val="visible"/>
                                      </p:to>
                                    </p:set>
                                    <p:animEffect transition="in" filter="dissolve">
                                      <p:cBhvr>
                                        <p:cTn id="35" dur="500"/>
                                        <p:tgtEl>
                                          <p:spTgt spid="2255932">
                                            <p:txEl>
                                              <p:charRg st="84" end="1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926" grpId="0" bldLvl="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722" name="Text Box 2"/>
          <p:cNvSpPr txBox="1"/>
          <p:nvPr/>
        </p:nvSpPr>
        <p:spPr>
          <a:xfrm>
            <a:off x="503238" y="873125"/>
            <a:ext cx="3057525"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6. </a:t>
            </a:r>
            <a:r>
              <a:rPr lang="zh-CN" altLang="en-US" sz="3600" b="1" dirty="0">
                <a:solidFill>
                  <a:srgbClr val="333399"/>
                </a:solidFill>
                <a:latin typeface="Times New Roman" panose="02020603050405020304" pitchFamily="18" charset="0"/>
              </a:rPr>
              <a:t>共模抑制比 </a:t>
            </a:r>
            <a:endParaRPr lang="zh-CN" altLang="en-US" sz="3600" b="1" dirty="0">
              <a:solidFill>
                <a:srgbClr val="333399"/>
              </a:solidFill>
              <a:latin typeface="Times New Roman" panose="02020603050405020304" pitchFamily="18" charset="0"/>
            </a:endParaRPr>
          </a:p>
        </p:txBody>
      </p:sp>
      <p:sp>
        <p:nvSpPr>
          <p:cNvPr id="2405379" name="Text Box 3"/>
          <p:cNvSpPr txBox="1">
            <a:spLocks noChangeArrowheads="1"/>
          </p:cNvSpPr>
          <p:nvPr/>
        </p:nvSpPr>
        <p:spPr bwMode="auto">
          <a:xfrm>
            <a:off x="503238" y="50800"/>
            <a:ext cx="8110538" cy="6413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4.3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测量放大器的主要技术指标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5383" name="Rectangle 7"/>
          <p:cNvSpPr/>
          <p:nvPr/>
        </p:nvSpPr>
        <p:spPr>
          <a:xfrm>
            <a:off x="900113" y="2420938"/>
            <a:ext cx="7380287" cy="3294062"/>
          </a:xfrm>
          <a:prstGeom prst="rect">
            <a:avLst/>
          </a:prstGeom>
          <a:noFill/>
          <a:ln w="9525">
            <a:noFill/>
          </a:ln>
        </p:spPr>
        <p:txBody>
          <a:bodyPr>
            <a:spAutoFit/>
          </a:bodyPr>
          <a:p>
            <a:pPr marL="542925" indent="-542925" eaLnBrk="1" hangingPunct="1">
              <a:lnSpc>
                <a:spcPct val="90000"/>
              </a:lnSpc>
              <a:buClr>
                <a:srgbClr val="FF0000"/>
              </a:buClr>
              <a:buFont typeface="Wingdings" panose="05000000000000000000" pitchFamily="2" charset="2"/>
              <a:buChar char="u"/>
            </a:pPr>
            <a:r>
              <a:rPr lang="zh-CN" altLang="en-US" sz="2800" b="1" dirty="0">
                <a:solidFill>
                  <a:srgbClr val="FF0000"/>
                </a:solidFill>
                <a:latin typeface="Times New Roman" panose="02020603050405020304" pitchFamily="18" charset="0"/>
              </a:rPr>
              <a:t>电路对称性</a:t>
            </a:r>
            <a:r>
              <a:rPr lang="zh-CN" altLang="en-US" sz="2800" b="1" dirty="0">
                <a:solidFill>
                  <a:schemeClr val="tx1"/>
                </a:solidFill>
                <a:latin typeface="Times New Roman" panose="02020603050405020304" pitchFamily="18" charset="0"/>
              </a:rPr>
              <a:t>：电路的对称性决定了被放大后的信号残存共模干扰的幅度，电路对称性越差，其共模抑制比就越小，抑制共模信号（干扰）的能力也就越差。</a:t>
            </a:r>
            <a:endParaRPr lang="zh-CN" altLang="en-US" sz="2800" b="1" dirty="0">
              <a:solidFill>
                <a:schemeClr val="tx1"/>
              </a:solidFill>
              <a:latin typeface="Times New Roman" panose="02020603050405020304" pitchFamily="18" charset="0"/>
            </a:endParaRPr>
          </a:p>
          <a:p>
            <a:pPr marL="542925" indent="-542925" eaLnBrk="1" hangingPunct="1">
              <a:lnSpc>
                <a:spcPct val="90000"/>
              </a:lnSpc>
              <a:spcBef>
                <a:spcPct val="30000"/>
              </a:spcBef>
              <a:buClr>
                <a:srgbClr val="FF0000"/>
              </a:buClr>
              <a:buFont typeface="Wingdings" panose="05000000000000000000" pitchFamily="2" charset="2"/>
              <a:buChar char="u"/>
            </a:pPr>
            <a:r>
              <a:rPr lang="zh-CN" altLang="en-US" sz="2800" b="1" dirty="0">
                <a:solidFill>
                  <a:srgbClr val="FF0000"/>
                </a:solidFill>
                <a:latin typeface="Times New Roman" panose="02020603050405020304" pitchFamily="18" charset="0"/>
              </a:rPr>
              <a:t>放大器本身的线性工作范围</a:t>
            </a:r>
            <a:r>
              <a:rPr lang="zh-CN" altLang="en-US" sz="2800" b="1" dirty="0">
                <a:solidFill>
                  <a:schemeClr val="tx1"/>
                </a:solidFill>
                <a:latin typeface="Times New Roman" panose="02020603050405020304" pitchFamily="18" charset="0"/>
              </a:rPr>
              <a:t>：测量放大器工作线性范围不是无限大的，当共模信号超出了其线性范围时，即使正常信号也不能被正常放大，更谈不上共模抑制能力。</a:t>
            </a:r>
            <a:endParaRPr lang="zh-CN" altLang="en-US" sz="2800" b="1" dirty="0">
              <a:solidFill>
                <a:schemeClr val="tx1"/>
              </a:solidFill>
              <a:latin typeface="Times New Roman" panose="02020603050405020304" pitchFamily="18" charset="0"/>
            </a:endParaRPr>
          </a:p>
        </p:txBody>
      </p:sp>
      <p:sp>
        <p:nvSpPr>
          <p:cNvPr id="2405384" name="Text Box 8"/>
          <p:cNvSpPr txBox="1"/>
          <p:nvPr/>
        </p:nvSpPr>
        <p:spPr>
          <a:xfrm>
            <a:off x="719138" y="1736725"/>
            <a:ext cx="4356100" cy="530225"/>
          </a:xfrm>
          <a:prstGeom prst="rect">
            <a:avLst/>
          </a:prstGeom>
          <a:noFill/>
          <a:ln w="9525">
            <a:noFill/>
          </a:ln>
        </p:spPr>
        <p:txBody>
          <a:bodyPr>
            <a:spAutoFit/>
          </a:bodyPr>
          <a:p>
            <a:pPr eaLnBrk="1" hangingPunct="1">
              <a:lnSpc>
                <a:spcPct val="90000"/>
              </a:lnSpc>
              <a:spcBef>
                <a:spcPct val="50000"/>
              </a:spcBef>
            </a:pPr>
            <a:r>
              <a:rPr lang="zh-CN" altLang="en-US" sz="3200" b="1" dirty="0">
                <a:solidFill>
                  <a:srgbClr val="FF0000"/>
                </a:solidFill>
                <a:latin typeface="Times New Roman" panose="02020603050405020304" pitchFamily="18" charset="0"/>
                <a:ea typeface="黑体" panose="02010609060101010101" pitchFamily="49" charset="-122"/>
              </a:rPr>
              <a:t>影响共模抑制比的因素：</a:t>
            </a:r>
            <a:endParaRPr lang="zh-CN" altLang="en-US" sz="3200" b="1" dirty="0">
              <a:solidFill>
                <a:srgbClr val="FF0000"/>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5384"/>
                                        </p:tgtEl>
                                        <p:attrNameLst>
                                          <p:attrName>style.visibility</p:attrName>
                                        </p:attrNameLst>
                                      </p:cBhvr>
                                      <p:to>
                                        <p:strVal val="visible"/>
                                      </p:to>
                                    </p:set>
                                    <p:animEffect transition="in" filter="dissolve">
                                      <p:cBhvr>
                                        <p:cTn id="7" dur="500"/>
                                        <p:tgtEl>
                                          <p:spTgt spid="240538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5383">
                                            <p:txEl>
                                              <p:charRg st="0" end="69"/>
                                            </p:txEl>
                                          </p:spTgt>
                                        </p:tgtEl>
                                        <p:attrNameLst>
                                          <p:attrName>style.visibility</p:attrName>
                                        </p:attrNameLst>
                                      </p:cBhvr>
                                      <p:to>
                                        <p:strVal val="visible"/>
                                      </p:to>
                                    </p:set>
                                    <p:animEffect transition="in" filter="dissolve">
                                      <p:cBhvr>
                                        <p:cTn id="12" dur="500"/>
                                        <p:tgtEl>
                                          <p:spTgt spid="2405383">
                                            <p:txEl>
                                              <p:charRg st="0" end="69"/>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5383">
                                            <p:txEl>
                                              <p:charRg st="69" end="142"/>
                                            </p:txEl>
                                          </p:spTgt>
                                        </p:tgtEl>
                                        <p:attrNameLst>
                                          <p:attrName>style.visibility</p:attrName>
                                        </p:attrNameLst>
                                      </p:cBhvr>
                                      <p:to>
                                        <p:strVal val="visible"/>
                                      </p:to>
                                    </p:set>
                                    <p:animEffect transition="in" filter="dissolve">
                                      <p:cBhvr>
                                        <p:cTn id="17" dur="500"/>
                                        <p:tgtEl>
                                          <p:spTgt spid="2405383">
                                            <p:txEl>
                                              <p:charRg st="69" end="14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5384"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6917" name="Text Box 1045"/>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6918" name="Text Box 1046"/>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AD521</a:t>
            </a:r>
            <a:endParaRPr lang="en-US" altLang="zh-CN" sz="3600" b="1" dirty="0">
              <a:solidFill>
                <a:srgbClr val="333399"/>
              </a:solidFill>
              <a:latin typeface="Times New Roman" panose="02020603050405020304" pitchFamily="18" charset="0"/>
            </a:endParaRPr>
          </a:p>
        </p:txBody>
      </p:sp>
      <p:sp>
        <p:nvSpPr>
          <p:cNvPr id="2256920" name="Rectangle 1048"/>
          <p:cNvSpPr/>
          <p:nvPr/>
        </p:nvSpPr>
        <p:spPr>
          <a:xfrm>
            <a:off x="719138" y="1484313"/>
            <a:ext cx="7812087" cy="749300"/>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ea typeface="黑体" panose="02010609060101010101" pitchFamily="49" charset="-122"/>
              </a:rPr>
              <a:t>AD521</a:t>
            </a:r>
            <a:r>
              <a:rPr lang="zh-CN" altLang="en-US" sz="2400" b="1" dirty="0">
                <a:solidFill>
                  <a:schemeClr val="tx1"/>
                </a:solidFill>
                <a:latin typeface="Times New Roman" panose="02020603050405020304" pitchFamily="18" charset="0"/>
                <a:ea typeface="黑体" panose="02010609060101010101" pitchFamily="49" charset="-122"/>
              </a:rPr>
              <a:t>美国模拟器件公司推出，</a:t>
            </a:r>
            <a:r>
              <a:rPr lang="zh-CN" altLang="en-US" sz="2400" b="1" dirty="0">
                <a:solidFill>
                  <a:schemeClr val="tx1"/>
                </a:solidFill>
                <a:latin typeface="黑体" panose="02010609060101010101" pitchFamily="49" charset="-122"/>
                <a:ea typeface="黑体" panose="02010609060101010101" pitchFamily="49" charset="-122"/>
              </a:rPr>
              <a:t>工作原理与</a:t>
            </a:r>
            <a:r>
              <a:rPr lang="en-US" altLang="zh-CN" sz="2400" b="1" dirty="0">
                <a:solidFill>
                  <a:schemeClr val="tx1"/>
                </a:solidFill>
                <a:latin typeface="黑体" panose="02010609060101010101" pitchFamily="49" charset="-122"/>
                <a:ea typeface="黑体" panose="02010609060101010101" pitchFamily="49" charset="-122"/>
              </a:rPr>
              <a:t>4.2</a:t>
            </a:r>
            <a:r>
              <a:rPr lang="zh-CN" altLang="en-US" sz="2400" b="1" dirty="0">
                <a:solidFill>
                  <a:schemeClr val="tx1"/>
                </a:solidFill>
                <a:latin typeface="黑体" panose="02010609060101010101" pitchFamily="49" charset="-122"/>
                <a:ea typeface="黑体" panose="02010609060101010101" pitchFamily="49" charset="-122"/>
              </a:rPr>
              <a:t>节介绍的测量放大器类似。采用</a:t>
            </a:r>
            <a:r>
              <a:rPr lang="en-US" altLang="zh-CN" sz="2400" b="1" dirty="0">
                <a:solidFill>
                  <a:schemeClr val="tx1"/>
                </a:solidFill>
                <a:latin typeface="黑体" panose="02010609060101010101" pitchFamily="49" charset="-122"/>
                <a:ea typeface="黑体" panose="02010609060101010101" pitchFamily="49" charset="-122"/>
              </a:rPr>
              <a:t>14</a:t>
            </a:r>
            <a:r>
              <a:rPr lang="zh-CN" altLang="en-US" sz="2400" b="1" dirty="0">
                <a:solidFill>
                  <a:schemeClr val="tx1"/>
                </a:solidFill>
                <a:latin typeface="黑体" panose="02010609060101010101" pitchFamily="49" charset="-122"/>
                <a:ea typeface="黑体" panose="02010609060101010101" pitchFamily="49" charset="-122"/>
              </a:rPr>
              <a:t>脚双列直插式封装。 </a:t>
            </a:r>
            <a:endParaRPr lang="zh-CN" altLang="en-US" sz="2400" b="1" dirty="0">
              <a:solidFill>
                <a:schemeClr val="tx1"/>
              </a:solidFill>
              <a:latin typeface="黑体" panose="02010609060101010101" pitchFamily="49" charset="-122"/>
              <a:ea typeface="黑体" panose="02010609060101010101" pitchFamily="49" charset="-122"/>
            </a:endParaRPr>
          </a:p>
        </p:txBody>
      </p:sp>
      <p:grpSp>
        <p:nvGrpSpPr>
          <p:cNvPr id="2" name="Group 1105"/>
          <p:cNvGrpSpPr/>
          <p:nvPr/>
        </p:nvGrpSpPr>
        <p:grpSpPr>
          <a:xfrm>
            <a:off x="468313" y="2651125"/>
            <a:ext cx="5383212" cy="3025775"/>
            <a:chOff x="680" y="1561"/>
            <a:chExt cx="4016" cy="2383"/>
          </a:xfrm>
        </p:grpSpPr>
        <p:sp>
          <p:nvSpPr>
            <p:cNvPr id="31751" name="Rectangle 1102"/>
            <p:cNvSpPr/>
            <p:nvPr/>
          </p:nvSpPr>
          <p:spPr>
            <a:xfrm>
              <a:off x="680" y="1561"/>
              <a:ext cx="3969" cy="235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1752" name="Rectangle 1050"/>
            <p:cNvSpPr/>
            <p:nvPr/>
          </p:nvSpPr>
          <p:spPr>
            <a:xfrm>
              <a:off x="2055" y="1670"/>
              <a:ext cx="1318" cy="1917"/>
            </a:xfrm>
            <a:prstGeom prst="rect">
              <a:avLst/>
            </a:prstGeom>
            <a:noFill/>
            <a:ln w="38100" cap="flat" cmpd="sng">
              <a:solidFill>
                <a:srgbClr val="000066"/>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1753" name="Rectangle 1051"/>
            <p:cNvSpPr/>
            <p:nvPr/>
          </p:nvSpPr>
          <p:spPr>
            <a:xfrm>
              <a:off x="2107" y="1707"/>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a:t>
              </a:r>
              <a:endParaRPr lang="en-US" altLang="zh-CN" sz="2000" b="1" dirty="0">
                <a:solidFill>
                  <a:schemeClr val="accent2"/>
                </a:solidFill>
                <a:latin typeface="Times New Roman" panose="02020603050405020304" pitchFamily="18" charset="0"/>
              </a:endParaRPr>
            </a:p>
          </p:txBody>
        </p:sp>
        <p:sp>
          <p:nvSpPr>
            <p:cNvPr id="31754" name="Rectangle 1052"/>
            <p:cNvSpPr/>
            <p:nvPr/>
          </p:nvSpPr>
          <p:spPr>
            <a:xfrm>
              <a:off x="2128" y="2040"/>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2</a:t>
              </a:r>
              <a:endParaRPr lang="en-US" altLang="zh-CN" sz="2000" b="1" dirty="0">
                <a:solidFill>
                  <a:schemeClr val="accent2"/>
                </a:solidFill>
                <a:latin typeface="Times New Roman" panose="02020603050405020304" pitchFamily="18" charset="0"/>
              </a:endParaRPr>
            </a:p>
          </p:txBody>
        </p:sp>
        <p:sp>
          <p:nvSpPr>
            <p:cNvPr id="31755" name="Rectangle 1053"/>
            <p:cNvSpPr/>
            <p:nvPr/>
          </p:nvSpPr>
          <p:spPr>
            <a:xfrm>
              <a:off x="2128" y="2210"/>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3</a:t>
              </a:r>
              <a:endParaRPr lang="en-US" altLang="zh-CN" sz="2000" b="1" dirty="0">
                <a:solidFill>
                  <a:schemeClr val="accent2"/>
                </a:solidFill>
                <a:latin typeface="Times New Roman" panose="02020603050405020304" pitchFamily="18" charset="0"/>
              </a:endParaRPr>
            </a:p>
          </p:txBody>
        </p:sp>
        <p:sp>
          <p:nvSpPr>
            <p:cNvPr id="31756" name="Rectangle 1054"/>
            <p:cNvSpPr/>
            <p:nvPr/>
          </p:nvSpPr>
          <p:spPr>
            <a:xfrm>
              <a:off x="2122" y="2536"/>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4</a:t>
              </a:r>
              <a:endParaRPr lang="en-US" altLang="zh-CN" sz="2000" b="1" dirty="0">
                <a:solidFill>
                  <a:schemeClr val="accent2"/>
                </a:solidFill>
                <a:latin typeface="Times New Roman" panose="02020603050405020304" pitchFamily="18" charset="0"/>
              </a:endParaRPr>
            </a:p>
          </p:txBody>
        </p:sp>
        <p:sp>
          <p:nvSpPr>
            <p:cNvPr id="31757" name="Rectangle 1055"/>
            <p:cNvSpPr/>
            <p:nvPr/>
          </p:nvSpPr>
          <p:spPr>
            <a:xfrm>
              <a:off x="2128" y="2788"/>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5</a:t>
              </a:r>
              <a:endParaRPr lang="en-US" altLang="zh-CN" sz="2000" b="1" dirty="0">
                <a:solidFill>
                  <a:schemeClr val="accent2"/>
                </a:solidFill>
                <a:latin typeface="Times New Roman" panose="02020603050405020304" pitchFamily="18" charset="0"/>
              </a:endParaRPr>
            </a:p>
          </p:txBody>
        </p:sp>
        <p:sp>
          <p:nvSpPr>
            <p:cNvPr id="31758" name="Rectangle 1056"/>
            <p:cNvSpPr/>
            <p:nvPr/>
          </p:nvSpPr>
          <p:spPr>
            <a:xfrm>
              <a:off x="2114" y="3025"/>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6</a:t>
              </a:r>
              <a:endParaRPr lang="en-US" altLang="zh-CN" sz="2000" b="1" dirty="0">
                <a:solidFill>
                  <a:schemeClr val="accent2"/>
                </a:solidFill>
                <a:latin typeface="Times New Roman" panose="02020603050405020304" pitchFamily="18" charset="0"/>
              </a:endParaRPr>
            </a:p>
          </p:txBody>
        </p:sp>
        <p:sp>
          <p:nvSpPr>
            <p:cNvPr id="31759" name="Rectangle 1057"/>
            <p:cNvSpPr/>
            <p:nvPr/>
          </p:nvSpPr>
          <p:spPr>
            <a:xfrm>
              <a:off x="2145" y="3350"/>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7</a:t>
              </a:r>
              <a:endParaRPr lang="en-US" altLang="zh-CN" sz="2000" b="1" dirty="0">
                <a:solidFill>
                  <a:schemeClr val="accent2"/>
                </a:solidFill>
                <a:latin typeface="Times New Roman" panose="02020603050405020304" pitchFamily="18" charset="0"/>
              </a:endParaRPr>
            </a:p>
          </p:txBody>
        </p:sp>
        <p:sp>
          <p:nvSpPr>
            <p:cNvPr id="31760" name="Rectangle 1058"/>
            <p:cNvSpPr/>
            <p:nvPr/>
          </p:nvSpPr>
          <p:spPr>
            <a:xfrm>
              <a:off x="3225" y="3248"/>
              <a:ext cx="95"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8</a:t>
              </a:r>
              <a:endParaRPr lang="en-US" altLang="zh-CN" sz="2000" b="1" dirty="0">
                <a:solidFill>
                  <a:schemeClr val="accent2"/>
                </a:solidFill>
                <a:latin typeface="Times New Roman" panose="02020603050405020304" pitchFamily="18" charset="0"/>
              </a:endParaRPr>
            </a:p>
          </p:txBody>
        </p:sp>
        <p:sp>
          <p:nvSpPr>
            <p:cNvPr id="31761" name="Rectangle 1059"/>
            <p:cNvSpPr/>
            <p:nvPr/>
          </p:nvSpPr>
          <p:spPr>
            <a:xfrm>
              <a:off x="3210" y="3025"/>
              <a:ext cx="94"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9</a:t>
              </a:r>
              <a:endParaRPr lang="en-US" altLang="zh-CN" sz="2000" b="1" dirty="0">
                <a:solidFill>
                  <a:schemeClr val="accent2"/>
                </a:solidFill>
                <a:latin typeface="Times New Roman" panose="02020603050405020304" pitchFamily="18" charset="0"/>
              </a:endParaRPr>
            </a:p>
          </p:txBody>
        </p:sp>
        <p:sp>
          <p:nvSpPr>
            <p:cNvPr id="31762" name="Rectangle 1060"/>
            <p:cNvSpPr/>
            <p:nvPr/>
          </p:nvSpPr>
          <p:spPr>
            <a:xfrm>
              <a:off x="3158" y="2788"/>
              <a:ext cx="189"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10</a:t>
              </a:r>
              <a:endParaRPr lang="en-US" altLang="zh-CN" sz="2000" b="1" dirty="0">
                <a:solidFill>
                  <a:schemeClr val="accent2"/>
                </a:solidFill>
                <a:latin typeface="Times New Roman" panose="02020603050405020304" pitchFamily="18" charset="0"/>
              </a:endParaRPr>
            </a:p>
          </p:txBody>
        </p:sp>
        <p:sp>
          <p:nvSpPr>
            <p:cNvPr id="31763" name="Rectangle 1061"/>
            <p:cNvSpPr/>
            <p:nvPr/>
          </p:nvSpPr>
          <p:spPr>
            <a:xfrm>
              <a:off x="3173" y="2542"/>
              <a:ext cx="189" cy="241"/>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11</a:t>
              </a:r>
              <a:endParaRPr lang="en-US" altLang="zh-CN" sz="2000" b="1" dirty="0">
                <a:solidFill>
                  <a:schemeClr val="accent2"/>
                </a:solidFill>
                <a:latin typeface="Times New Roman" panose="02020603050405020304" pitchFamily="18" charset="0"/>
              </a:endParaRPr>
            </a:p>
          </p:txBody>
        </p:sp>
        <p:sp>
          <p:nvSpPr>
            <p:cNvPr id="31764" name="Rectangle 1062"/>
            <p:cNvSpPr/>
            <p:nvPr/>
          </p:nvSpPr>
          <p:spPr>
            <a:xfrm>
              <a:off x="3166" y="2062"/>
              <a:ext cx="189"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13</a:t>
              </a:r>
              <a:endParaRPr lang="en-US" altLang="zh-CN" sz="2000" b="1" dirty="0">
                <a:solidFill>
                  <a:schemeClr val="accent2"/>
                </a:solidFill>
                <a:latin typeface="Times New Roman" panose="02020603050405020304" pitchFamily="18" charset="0"/>
              </a:endParaRPr>
            </a:p>
          </p:txBody>
        </p:sp>
        <p:sp>
          <p:nvSpPr>
            <p:cNvPr id="31765" name="Rectangle 1063"/>
            <p:cNvSpPr/>
            <p:nvPr/>
          </p:nvSpPr>
          <p:spPr>
            <a:xfrm>
              <a:off x="3166" y="2321"/>
              <a:ext cx="189"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12</a:t>
              </a:r>
              <a:endParaRPr lang="en-US" altLang="zh-CN" sz="2000" b="1" dirty="0">
                <a:solidFill>
                  <a:schemeClr val="accent2"/>
                </a:solidFill>
                <a:latin typeface="Times New Roman" panose="02020603050405020304" pitchFamily="18" charset="0"/>
              </a:endParaRPr>
            </a:p>
          </p:txBody>
        </p:sp>
        <p:sp>
          <p:nvSpPr>
            <p:cNvPr id="31766" name="Rectangle 1064"/>
            <p:cNvSpPr/>
            <p:nvPr/>
          </p:nvSpPr>
          <p:spPr>
            <a:xfrm>
              <a:off x="3158" y="1840"/>
              <a:ext cx="189" cy="240"/>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14</a:t>
              </a:r>
              <a:endParaRPr lang="en-US" altLang="zh-CN" sz="2000" b="1" dirty="0">
                <a:solidFill>
                  <a:schemeClr val="accent2"/>
                </a:solidFill>
                <a:latin typeface="Times New Roman" panose="02020603050405020304" pitchFamily="18" charset="0"/>
              </a:endParaRPr>
            </a:p>
          </p:txBody>
        </p:sp>
        <p:sp>
          <p:nvSpPr>
            <p:cNvPr id="31767" name="Line 1065"/>
            <p:cNvSpPr/>
            <p:nvPr/>
          </p:nvSpPr>
          <p:spPr>
            <a:xfrm flipH="1">
              <a:off x="1611" y="1914"/>
              <a:ext cx="444" cy="1"/>
            </a:xfrm>
            <a:prstGeom prst="line">
              <a:avLst/>
            </a:prstGeom>
            <a:ln w="38100" cap="flat" cmpd="sng">
              <a:solidFill>
                <a:srgbClr val="000066"/>
              </a:solidFill>
              <a:prstDash val="solid"/>
              <a:headEnd type="none" w="med" len="med"/>
              <a:tailEnd type="none" w="med" len="med"/>
            </a:ln>
          </p:spPr>
        </p:sp>
        <p:sp>
          <p:nvSpPr>
            <p:cNvPr id="31768" name="Line 1066"/>
            <p:cNvSpPr/>
            <p:nvPr/>
          </p:nvSpPr>
          <p:spPr>
            <a:xfrm flipH="1">
              <a:off x="1610" y="2395"/>
              <a:ext cx="452" cy="0"/>
            </a:xfrm>
            <a:prstGeom prst="line">
              <a:avLst/>
            </a:prstGeom>
            <a:ln w="38100" cap="flat" cmpd="sng">
              <a:solidFill>
                <a:srgbClr val="000066"/>
              </a:solidFill>
              <a:prstDash val="solid"/>
              <a:headEnd type="none" w="med" len="med"/>
              <a:tailEnd type="none" w="med" len="med"/>
            </a:ln>
          </p:spPr>
        </p:sp>
        <p:sp>
          <p:nvSpPr>
            <p:cNvPr id="31769" name="Line 1067"/>
            <p:cNvSpPr/>
            <p:nvPr/>
          </p:nvSpPr>
          <p:spPr>
            <a:xfrm flipH="1">
              <a:off x="1617" y="2158"/>
              <a:ext cx="438" cy="0"/>
            </a:xfrm>
            <a:prstGeom prst="line">
              <a:avLst/>
            </a:prstGeom>
            <a:ln w="38100" cap="flat" cmpd="sng">
              <a:solidFill>
                <a:srgbClr val="000066"/>
              </a:solidFill>
              <a:prstDash val="solid"/>
              <a:headEnd type="none" w="med" len="med"/>
              <a:tailEnd type="none" w="med" len="med"/>
            </a:ln>
          </p:spPr>
        </p:sp>
        <p:sp>
          <p:nvSpPr>
            <p:cNvPr id="31770" name="Line 1068"/>
            <p:cNvSpPr/>
            <p:nvPr/>
          </p:nvSpPr>
          <p:spPr>
            <a:xfrm flipH="1">
              <a:off x="1611" y="2862"/>
              <a:ext cx="444" cy="1"/>
            </a:xfrm>
            <a:prstGeom prst="line">
              <a:avLst/>
            </a:prstGeom>
            <a:ln w="38100" cap="flat" cmpd="sng">
              <a:solidFill>
                <a:srgbClr val="000066"/>
              </a:solidFill>
              <a:prstDash val="solid"/>
              <a:headEnd type="none" w="med" len="med"/>
              <a:tailEnd type="none" w="med" len="med"/>
            </a:ln>
          </p:spPr>
        </p:sp>
        <p:sp>
          <p:nvSpPr>
            <p:cNvPr id="31771" name="Line 1069"/>
            <p:cNvSpPr/>
            <p:nvPr/>
          </p:nvSpPr>
          <p:spPr>
            <a:xfrm flipH="1">
              <a:off x="1611" y="2632"/>
              <a:ext cx="444" cy="1"/>
            </a:xfrm>
            <a:prstGeom prst="line">
              <a:avLst/>
            </a:prstGeom>
            <a:ln w="38100" cap="flat" cmpd="sng">
              <a:solidFill>
                <a:srgbClr val="000066"/>
              </a:solidFill>
              <a:prstDash val="solid"/>
              <a:headEnd type="none" w="med" len="med"/>
              <a:tailEnd type="none" w="med" len="med"/>
            </a:ln>
          </p:spPr>
        </p:sp>
        <p:sp>
          <p:nvSpPr>
            <p:cNvPr id="31772" name="Line 1070"/>
            <p:cNvSpPr/>
            <p:nvPr/>
          </p:nvSpPr>
          <p:spPr>
            <a:xfrm flipH="1">
              <a:off x="1617" y="3086"/>
              <a:ext cx="445" cy="1"/>
            </a:xfrm>
            <a:prstGeom prst="line">
              <a:avLst/>
            </a:prstGeom>
            <a:ln w="38100" cap="flat" cmpd="sng">
              <a:solidFill>
                <a:srgbClr val="000066"/>
              </a:solidFill>
              <a:prstDash val="solid"/>
              <a:headEnd type="none" w="med" len="med"/>
              <a:tailEnd type="none" w="med" len="med"/>
            </a:ln>
          </p:spPr>
        </p:sp>
        <p:sp>
          <p:nvSpPr>
            <p:cNvPr id="31773" name="Line 1071"/>
            <p:cNvSpPr/>
            <p:nvPr/>
          </p:nvSpPr>
          <p:spPr>
            <a:xfrm flipH="1" flipV="1">
              <a:off x="1596" y="3331"/>
              <a:ext cx="459" cy="0"/>
            </a:xfrm>
            <a:prstGeom prst="line">
              <a:avLst/>
            </a:prstGeom>
            <a:ln w="38100" cap="flat" cmpd="sng">
              <a:solidFill>
                <a:srgbClr val="000066"/>
              </a:solidFill>
              <a:prstDash val="solid"/>
              <a:headEnd type="none" w="med" len="med"/>
              <a:tailEnd type="none" w="med" len="med"/>
            </a:ln>
          </p:spPr>
        </p:sp>
        <p:sp>
          <p:nvSpPr>
            <p:cNvPr id="31774" name="Line 1072"/>
            <p:cNvSpPr/>
            <p:nvPr/>
          </p:nvSpPr>
          <p:spPr>
            <a:xfrm flipH="1" flipV="1">
              <a:off x="3373" y="1908"/>
              <a:ext cx="445" cy="0"/>
            </a:xfrm>
            <a:prstGeom prst="line">
              <a:avLst/>
            </a:prstGeom>
            <a:ln w="38100" cap="flat" cmpd="sng">
              <a:solidFill>
                <a:srgbClr val="000066"/>
              </a:solidFill>
              <a:prstDash val="solid"/>
              <a:headEnd type="none" w="med" len="med"/>
              <a:tailEnd type="none" w="med" len="med"/>
            </a:ln>
          </p:spPr>
        </p:sp>
        <p:sp>
          <p:nvSpPr>
            <p:cNvPr id="31775" name="Line 1073"/>
            <p:cNvSpPr/>
            <p:nvPr/>
          </p:nvSpPr>
          <p:spPr>
            <a:xfrm flipH="1">
              <a:off x="3373" y="2160"/>
              <a:ext cx="444" cy="0"/>
            </a:xfrm>
            <a:prstGeom prst="line">
              <a:avLst/>
            </a:prstGeom>
            <a:ln w="38100" cap="flat" cmpd="sng">
              <a:solidFill>
                <a:srgbClr val="000066"/>
              </a:solidFill>
              <a:prstDash val="solid"/>
              <a:headEnd type="none" w="med" len="med"/>
              <a:tailEnd type="none" w="med" len="med"/>
            </a:ln>
          </p:spPr>
        </p:sp>
        <p:sp>
          <p:nvSpPr>
            <p:cNvPr id="31776" name="Line 1074"/>
            <p:cNvSpPr/>
            <p:nvPr/>
          </p:nvSpPr>
          <p:spPr>
            <a:xfrm flipH="1">
              <a:off x="3373" y="2388"/>
              <a:ext cx="444" cy="1"/>
            </a:xfrm>
            <a:prstGeom prst="line">
              <a:avLst/>
            </a:prstGeom>
            <a:ln w="38100" cap="flat" cmpd="sng">
              <a:solidFill>
                <a:srgbClr val="000066"/>
              </a:solidFill>
              <a:prstDash val="solid"/>
              <a:headEnd type="none" w="med" len="med"/>
              <a:tailEnd type="none" w="med" len="med"/>
            </a:ln>
          </p:spPr>
        </p:sp>
        <p:sp>
          <p:nvSpPr>
            <p:cNvPr id="31777" name="Line 1075"/>
            <p:cNvSpPr/>
            <p:nvPr/>
          </p:nvSpPr>
          <p:spPr>
            <a:xfrm flipH="1">
              <a:off x="3373" y="2626"/>
              <a:ext cx="445" cy="1"/>
            </a:xfrm>
            <a:prstGeom prst="line">
              <a:avLst/>
            </a:prstGeom>
            <a:ln w="38100" cap="flat" cmpd="sng">
              <a:solidFill>
                <a:srgbClr val="000066"/>
              </a:solidFill>
              <a:prstDash val="solid"/>
              <a:headEnd type="none" w="med" len="med"/>
              <a:tailEnd type="none" w="med" len="med"/>
            </a:ln>
          </p:spPr>
        </p:sp>
        <p:sp>
          <p:nvSpPr>
            <p:cNvPr id="31778" name="Line 1076"/>
            <p:cNvSpPr/>
            <p:nvPr/>
          </p:nvSpPr>
          <p:spPr>
            <a:xfrm flipH="1">
              <a:off x="3374" y="3086"/>
              <a:ext cx="444" cy="1"/>
            </a:xfrm>
            <a:prstGeom prst="line">
              <a:avLst/>
            </a:prstGeom>
            <a:ln w="38100" cap="flat" cmpd="sng">
              <a:solidFill>
                <a:srgbClr val="000066"/>
              </a:solidFill>
              <a:prstDash val="solid"/>
              <a:headEnd type="none" w="med" len="med"/>
              <a:tailEnd type="none" w="med" len="med"/>
            </a:ln>
          </p:spPr>
        </p:sp>
        <p:sp>
          <p:nvSpPr>
            <p:cNvPr id="31779" name="Line 1077"/>
            <p:cNvSpPr/>
            <p:nvPr/>
          </p:nvSpPr>
          <p:spPr>
            <a:xfrm flipH="1">
              <a:off x="3374" y="2862"/>
              <a:ext cx="444" cy="1"/>
            </a:xfrm>
            <a:prstGeom prst="line">
              <a:avLst/>
            </a:prstGeom>
            <a:ln w="38100" cap="flat" cmpd="sng">
              <a:solidFill>
                <a:srgbClr val="000066"/>
              </a:solidFill>
              <a:prstDash val="solid"/>
              <a:headEnd type="none" w="med" len="med"/>
              <a:tailEnd type="none" w="med" len="med"/>
            </a:ln>
          </p:spPr>
        </p:sp>
        <p:sp>
          <p:nvSpPr>
            <p:cNvPr id="31780" name="Line 1078"/>
            <p:cNvSpPr/>
            <p:nvPr/>
          </p:nvSpPr>
          <p:spPr>
            <a:xfrm flipH="1" flipV="1">
              <a:off x="3374" y="3336"/>
              <a:ext cx="444" cy="1"/>
            </a:xfrm>
            <a:prstGeom prst="line">
              <a:avLst/>
            </a:prstGeom>
            <a:ln w="38100" cap="flat" cmpd="sng">
              <a:solidFill>
                <a:srgbClr val="000066"/>
              </a:solidFill>
              <a:prstDash val="solid"/>
              <a:headEnd type="none" w="med" len="med"/>
              <a:tailEnd type="none" w="med" len="med"/>
            </a:ln>
          </p:spPr>
        </p:sp>
        <p:sp>
          <p:nvSpPr>
            <p:cNvPr id="31781" name="Line 1079"/>
            <p:cNvSpPr/>
            <p:nvPr/>
          </p:nvSpPr>
          <p:spPr>
            <a:xfrm>
              <a:off x="2055" y="1914"/>
              <a:ext cx="822" cy="1"/>
            </a:xfrm>
            <a:prstGeom prst="line">
              <a:avLst/>
            </a:prstGeom>
            <a:ln w="25400" cap="flat" cmpd="sng">
              <a:solidFill>
                <a:srgbClr val="FF00FF"/>
              </a:solidFill>
              <a:prstDash val="sysDot"/>
              <a:headEnd type="none" w="med" len="med"/>
              <a:tailEnd type="none" w="med" len="med"/>
            </a:ln>
          </p:spPr>
        </p:sp>
        <p:sp>
          <p:nvSpPr>
            <p:cNvPr id="31782" name="Line 1080"/>
            <p:cNvSpPr/>
            <p:nvPr/>
          </p:nvSpPr>
          <p:spPr>
            <a:xfrm>
              <a:off x="2865" y="1908"/>
              <a:ext cx="0" cy="718"/>
            </a:xfrm>
            <a:prstGeom prst="line">
              <a:avLst/>
            </a:prstGeom>
            <a:ln w="25400" cap="flat" cmpd="sng">
              <a:solidFill>
                <a:srgbClr val="FF00FF"/>
              </a:solidFill>
              <a:prstDash val="sysDot"/>
              <a:headEnd type="none" w="med" len="med"/>
              <a:tailEnd type="none" w="med" len="med"/>
            </a:ln>
          </p:spPr>
        </p:sp>
        <p:sp>
          <p:nvSpPr>
            <p:cNvPr id="31783" name="Line 1081"/>
            <p:cNvSpPr/>
            <p:nvPr/>
          </p:nvSpPr>
          <p:spPr>
            <a:xfrm>
              <a:off x="2062" y="2395"/>
              <a:ext cx="489" cy="1"/>
            </a:xfrm>
            <a:prstGeom prst="line">
              <a:avLst/>
            </a:prstGeom>
            <a:ln w="25400" cap="flat" cmpd="sng">
              <a:solidFill>
                <a:srgbClr val="FF00FF"/>
              </a:solidFill>
              <a:prstDash val="sysDot"/>
              <a:headEnd type="none" w="med" len="med"/>
              <a:tailEnd type="none" w="med" len="med"/>
            </a:ln>
          </p:spPr>
        </p:sp>
        <p:sp>
          <p:nvSpPr>
            <p:cNvPr id="31784" name="Line 1082"/>
            <p:cNvSpPr/>
            <p:nvPr/>
          </p:nvSpPr>
          <p:spPr>
            <a:xfrm flipH="1">
              <a:off x="2551" y="2384"/>
              <a:ext cx="0" cy="246"/>
            </a:xfrm>
            <a:prstGeom prst="line">
              <a:avLst/>
            </a:prstGeom>
            <a:ln w="25400" cap="flat" cmpd="sng">
              <a:solidFill>
                <a:srgbClr val="FF00FF"/>
              </a:solidFill>
              <a:prstDash val="sysDot"/>
              <a:headEnd type="none" w="med" len="med"/>
              <a:tailEnd type="none" w="med" len="med"/>
            </a:ln>
          </p:spPr>
        </p:sp>
        <p:sp>
          <p:nvSpPr>
            <p:cNvPr id="31785" name="Line 1083"/>
            <p:cNvSpPr/>
            <p:nvPr/>
          </p:nvSpPr>
          <p:spPr>
            <a:xfrm flipV="1">
              <a:off x="2703" y="3067"/>
              <a:ext cx="1" cy="275"/>
            </a:xfrm>
            <a:prstGeom prst="line">
              <a:avLst/>
            </a:prstGeom>
            <a:ln w="25400" cap="flat" cmpd="sng">
              <a:solidFill>
                <a:srgbClr val="FF00FF"/>
              </a:solidFill>
              <a:prstDash val="sysDot"/>
              <a:headEnd type="none" w="med" len="med"/>
              <a:tailEnd type="none" w="med" len="med"/>
            </a:ln>
          </p:spPr>
        </p:sp>
        <p:sp>
          <p:nvSpPr>
            <p:cNvPr id="31786" name="Rectangle 1084"/>
            <p:cNvSpPr/>
            <p:nvPr/>
          </p:nvSpPr>
          <p:spPr>
            <a:xfrm>
              <a:off x="1027" y="3233"/>
              <a:ext cx="513"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OUT</a:t>
              </a:r>
              <a:endParaRPr lang="en-US" altLang="zh-CN" sz="2500" b="1" dirty="0">
                <a:solidFill>
                  <a:schemeClr val="accent2"/>
                </a:solidFill>
                <a:latin typeface="Times New Roman" panose="02020603050405020304" pitchFamily="18" charset="0"/>
              </a:endParaRPr>
            </a:p>
          </p:txBody>
        </p:sp>
        <p:sp>
          <p:nvSpPr>
            <p:cNvPr id="31787" name="Rectangle 1085"/>
            <p:cNvSpPr/>
            <p:nvPr/>
          </p:nvSpPr>
          <p:spPr>
            <a:xfrm>
              <a:off x="761" y="2973"/>
              <a:ext cx="979"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OFF SET</a:t>
              </a:r>
              <a:endParaRPr lang="en-US" altLang="zh-CN" sz="2500" b="1" dirty="0">
                <a:solidFill>
                  <a:schemeClr val="accent2"/>
                </a:solidFill>
                <a:latin typeface="Times New Roman" panose="02020603050405020304" pitchFamily="18" charset="0"/>
              </a:endParaRPr>
            </a:p>
          </p:txBody>
        </p:sp>
        <p:sp>
          <p:nvSpPr>
            <p:cNvPr id="31788" name="Rectangle 1086"/>
            <p:cNvSpPr/>
            <p:nvPr/>
          </p:nvSpPr>
          <p:spPr>
            <a:xfrm>
              <a:off x="1055" y="2715"/>
              <a:ext cx="381" cy="300"/>
            </a:xfrm>
            <a:prstGeom prst="rect">
              <a:avLst/>
            </a:prstGeom>
            <a:noFill/>
            <a:ln w="38100">
              <a:noFill/>
            </a:ln>
          </p:spPr>
          <p:txBody>
            <a:bodyPr lIns="0" tIns="0" rIns="0" bIns="0">
              <a:spAutoFit/>
            </a:bodyPr>
            <a:p>
              <a:pPr algn="just" eaLnBrk="1" hangingPunct="1">
                <a:buNone/>
              </a:pPr>
              <a:r>
                <a:rPr lang="en-US" altLang="zh-CN" sz="2500" b="1" dirty="0">
                  <a:solidFill>
                    <a:schemeClr val="accent2"/>
                  </a:solidFill>
                  <a:latin typeface="Times New Roman" panose="02020603050405020304" pitchFamily="18" charset="0"/>
                </a:rPr>
                <a:t>V</a:t>
              </a:r>
              <a:r>
                <a:rPr lang="en-US" altLang="zh-CN" sz="2500" b="1" i="1" baseline="-25000" dirty="0">
                  <a:solidFill>
                    <a:schemeClr val="accent2"/>
                  </a:solidFill>
                  <a:latin typeface="Times New Roman" panose="02020603050405020304" pitchFamily="18" charset="0"/>
                  <a:ea typeface="宋体" panose="02010600030101010101" pitchFamily="2" charset="-122"/>
                </a:rPr>
                <a:t>–</a:t>
              </a:r>
              <a:endParaRPr lang="en-US" altLang="zh-CN" sz="2500" b="1" i="1" baseline="-25000" dirty="0">
                <a:solidFill>
                  <a:schemeClr val="accent2"/>
                </a:solidFill>
                <a:latin typeface="Times New Roman" panose="02020603050405020304" pitchFamily="18" charset="0"/>
                <a:ea typeface="宋体" panose="02010600030101010101" pitchFamily="2" charset="-122"/>
              </a:endParaRPr>
            </a:p>
          </p:txBody>
        </p:sp>
        <p:sp>
          <p:nvSpPr>
            <p:cNvPr id="31789" name="Rectangle 1087"/>
            <p:cNvSpPr/>
            <p:nvPr/>
          </p:nvSpPr>
          <p:spPr>
            <a:xfrm>
              <a:off x="1055" y="2284"/>
              <a:ext cx="382" cy="300"/>
            </a:xfrm>
            <a:prstGeom prst="rect">
              <a:avLst/>
            </a:prstGeom>
            <a:noFill/>
            <a:ln w="38100">
              <a:noFill/>
            </a:ln>
          </p:spPr>
          <p:txBody>
            <a:bodyPr wrap="none" lIns="0" tIns="0" rIns="0" bIns="0">
              <a:spAutoFit/>
            </a:bodyPr>
            <a:p>
              <a:pPr algn="just" eaLnBrk="1" hangingPunct="1">
                <a:buNone/>
              </a:pPr>
              <a:r>
                <a:rPr lang="en-US" altLang="zh-CN" sz="2500" b="1" dirty="0">
                  <a:solidFill>
                    <a:schemeClr val="accent2"/>
                  </a:solidFill>
                  <a:latin typeface="Times New Roman" panose="02020603050405020304" pitchFamily="18" charset="0"/>
                  <a:ea typeface="宋体" panose="02010600030101010101" pitchFamily="2" charset="-122"/>
                </a:rPr>
                <a:t>–IN</a:t>
              </a:r>
              <a:endParaRPr lang="en-US" altLang="zh-CN" sz="2500" b="1" dirty="0">
                <a:solidFill>
                  <a:schemeClr val="accent2"/>
                </a:solidFill>
                <a:latin typeface="Times New Roman" panose="02020603050405020304" pitchFamily="18" charset="0"/>
                <a:ea typeface="宋体" panose="02010600030101010101" pitchFamily="2" charset="-122"/>
              </a:endParaRPr>
            </a:p>
          </p:txBody>
        </p:sp>
        <p:sp>
          <p:nvSpPr>
            <p:cNvPr id="31790" name="Rectangle 1088"/>
            <p:cNvSpPr/>
            <p:nvPr/>
          </p:nvSpPr>
          <p:spPr>
            <a:xfrm>
              <a:off x="1115" y="2017"/>
              <a:ext cx="296"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G</a:t>
              </a:r>
              <a:endParaRPr lang="en-US" altLang="zh-CN" sz="2500" b="1" baseline="-25000" dirty="0">
                <a:solidFill>
                  <a:schemeClr val="accent2"/>
                </a:solidFill>
                <a:latin typeface="Times New Roman" panose="02020603050405020304" pitchFamily="18" charset="0"/>
              </a:endParaRPr>
            </a:p>
          </p:txBody>
        </p:sp>
        <p:sp>
          <p:nvSpPr>
            <p:cNvPr id="31791" name="Rectangle 1089"/>
            <p:cNvSpPr/>
            <p:nvPr/>
          </p:nvSpPr>
          <p:spPr>
            <a:xfrm>
              <a:off x="1033" y="1810"/>
              <a:ext cx="398"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+IN</a:t>
              </a:r>
              <a:endParaRPr lang="en-US" altLang="zh-CN" sz="2500" b="1" dirty="0">
                <a:solidFill>
                  <a:schemeClr val="accent2"/>
                </a:solidFill>
                <a:latin typeface="Times New Roman" panose="02020603050405020304" pitchFamily="18" charset="0"/>
              </a:endParaRPr>
            </a:p>
          </p:txBody>
        </p:sp>
        <p:sp>
          <p:nvSpPr>
            <p:cNvPr id="31792" name="Rectangle 1090"/>
            <p:cNvSpPr/>
            <p:nvPr/>
          </p:nvSpPr>
          <p:spPr>
            <a:xfrm>
              <a:off x="3921" y="2284"/>
              <a:ext cx="749"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SENSE</a:t>
              </a:r>
              <a:endParaRPr lang="en-US" altLang="zh-CN" sz="2500" b="1" dirty="0">
                <a:solidFill>
                  <a:schemeClr val="accent2"/>
                </a:solidFill>
                <a:latin typeface="Times New Roman" panose="02020603050405020304" pitchFamily="18" charset="0"/>
              </a:endParaRPr>
            </a:p>
          </p:txBody>
        </p:sp>
        <p:sp>
          <p:nvSpPr>
            <p:cNvPr id="31793" name="Rectangle 1091"/>
            <p:cNvSpPr/>
            <p:nvPr/>
          </p:nvSpPr>
          <p:spPr>
            <a:xfrm>
              <a:off x="4024" y="2529"/>
              <a:ext cx="473"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REF</a:t>
              </a:r>
              <a:endParaRPr lang="en-US" altLang="zh-CN" sz="2500" b="1" dirty="0">
                <a:solidFill>
                  <a:schemeClr val="accent2"/>
                </a:solidFill>
                <a:latin typeface="Times New Roman" panose="02020603050405020304" pitchFamily="18" charset="0"/>
              </a:endParaRPr>
            </a:p>
          </p:txBody>
        </p:sp>
        <p:sp>
          <p:nvSpPr>
            <p:cNvPr id="31794" name="Rectangle 1092"/>
            <p:cNvSpPr/>
            <p:nvPr/>
          </p:nvSpPr>
          <p:spPr>
            <a:xfrm>
              <a:off x="4115" y="2751"/>
              <a:ext cx="260"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S</a:t>
              </a:r>
              <a:endParaRPr lang="en-US" altLang="zh-CN" sz="2500" b="1" baseline="-25000" dirty="0">
                <a:solidFill>
                  <a:schemeClr val="accent2"/>
                </a:solidFill>
                <a:latin typeface="Times New Roman" panose="02020603050405020304" pitchFamily="18" charset="0"/>
              </a:endParaRPr>
            </a:p>
          </p:txBody>
        </p:sp>
        <p:sp>
          <p:nvSpPr>
            <p:cNvPr id="31795" name="Rectangle 1093"/>
            <p:cNvSpPr/>
            <p:nvPr/>
          </p:nvSpPr>
          <p:spPr>
            <a:xfrm>
              <a:off x="3972" y="2980"/>
              <a:ext cx="724"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COMP</a:t>
              </a:r>
              <a:endParaRPr lang="en-US" altLang="zh-CN" sz="2500" b="1" dirty="0">
                <a:solidFill>
                  <a:schemeClr val="accent2"/>
                </a:solidFill>
                <a:latin typeface="Times New Roman" panose="02020603050405020304" pitchFamily="18" charset="0"/>
              </a:endParaRPr>
            </a:p>
          </p:txBody>
        </p:sp>
        <p:sp>
          <p:nvSpPr>
            <p:cNvPr id="31796" name="Rectangle 1094"/>
            <p:cNvSpPr/>
            <p:nvPr/>
          </p:nvSpPr>
          <p:spPr>
            <a:xfrm>
              <a:off x="752" y="2521"/>
              <a:ext cx="980"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OFF SET</a:t>
              </a:r>
              <a:endParaRPr lang="en-US" altLang="zh-CN" sz="2500" b="1" dirty="0">
                <a:solidFill>
                  <a:schemeClr val="accent2"/>
                </a:solidFill>
                <a:latin typeface="Times New Roman" panose="02020603050405020304" pitchFamily="18" charset="0"/>
              </a:endParaRPr>
            </a:p>
          </p:txBody>
        </p:sp>
        <p:sp>
          <p:nvSpPr>
            <p:cNvPr id="31797" name="Line 1095"/>
            <p:cNvSpPr/>
            <p:nvPr/>
          </p:nvSpPr>
          <p:spPr>
            <a:xfrm>
              <a:off x="2499" y="2707"/>
              <a:ext cx="119" cy="0"/>
            </a:xfrm>
            <a:prstGeom prst="line">
              <a:avLst/>
            </a:prstGeom>
            <a:ln w="38100" cap="flat" cmpd="sng">
              <a:solidFill>
                <a:schemeClr val="bg1"/>
              </a:solidFill>
              <a:prstDash val="solid"/>
              <a:headEnd type="none" w="med" len="med"/>
              <a:tailEnd type="none" w="med" len="med"/>
            </a:ln>
          </p:spPr>
        </p:sp>
        <p:sp>
          <p:nvSpPr>
            <p:cNvPr id="31798" name="Rectangle 1096"/>
            <p:cNvSpPr/>
            <p:nvPr/>
          </p:nvSpPr>
          <p:spPr>
            <a:xfrm>
              <a:off x="4077" y="2047"/>
              <a:ext cx="260"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S</a:t>
              </a:r>
              <a:endParaRPr lang="en-US" altLang="zh-CN" sz="2500" b="1" baseline="-25000" dirty="0">
                <a:solidFill>
                  <a:schemeClr val="accent2"/>
                </a:solidFill>
                <a:latin typeface="Times New Roman" panose="02020603050405020304" pitchFamily="18" charset="0"/>
              </a:endParaRPr>
            </a:p>
          </p:txBody>
        </p:sp>
        <p:sp>
          <p:nvSpPr>
            <p:cNvPr id="31799" name="Line 1097"/>
            <p:cNvSpPr/>
            <p:nvPr/>
          </p:nvSpPr>
          <p:spPr>
            <a:xfrm>
              <a:off x="2794" y="2714"/>
              <a:ext cx="126" cy="1"/>
            </a:xfrm>
            <a:prstGeom prst="line">
              <a:avLst/>
            </a:prstGeom>
            <a:ln w="38100" cap="flat" cmpd="sng">
              <a:solidFill>
                <a:schemeClr val="bg1"/>
              </a:solidFill>
              <a:prstDash val="solid"/>
              <a:headEnd type="none" w="med" len="med"/>
              <a:tailEnd type="none" w="med" len="med"/>
            </a:ln>
          </p:spPr>
        </p:sp>
        <p:sp>
          <p:nvSpPr>
            <p:cNvPr id="31800" name="Line 1098"/>
            <p:cNvSpPr/>
            <p:nvPr/>
          </p:nvSpPr>
          <p:spPr>
            <a:xfrm>
              <a:off x="2860" y="2656"/>
              <a:ext cx="0" cy="126"/>
            </a:xfrm>
            <a:prstGeom prst="line">
              <a:avLst/>
            </a:prstGeom>
            <a:ln w="38100" cap="flat" cmpd="sng">
              <a:solidFill>
                <a:schemeClr val="bg1"/>
              </a:solidFill>
              <a:prstDash val="solid"/>
              <a:headEnd type="none" w="med" len="med"/>
              <a:tailEnd type="none" w="med" len="med"/>
            </a:ln>
          </p:spPr>
        </p:sp>
        <p:sp>
          <p:nvSpPr>
            <p:cNvPr id="31801" name="Rectangle 1099"/>
            <p:cNvSpPr/>
            <p:nvPr/>
          </p:nvSpPr>
          <p:spPr>
            <a:xfrm>
              <a:off x="4093" y="3199"/>
              <a:ext cx="298" cy="300"/>
            </a:xfrm>
            <a:prstGeom prst="rect">
              <a:avLst/>
            </a:prstGeom>
            <a:noFill/>
            <a:ln w="38100">
              <a:noFill/>
            </a:ln>
          </p:spPr>
          <p:txBody>
            <a:bodyPr lIns="0" tIns="0" rIns="0" bIns="0">
              <a:spAutoFit/>
            </a:bodyPr>
            <a:p>
              <a:pPr algn="just" eaLnBrk="1" hangingPunct="1">
                <a:buNone/>
              </a:pPr>
              <a:r>
                <a:rPr lang="en-US" altLang="zh-CN" sz="2500" b="1" dirty="0">
                  <a:solidFill>
                    <a:schemeClr val="accent2"/>
                  </a:solidFill>
                  <a:latin typeface="Times New Roman" panose="02020603050405020304" pitchFamily="18" charset="0"/>
                </a:rPr>
                <a:t>V</a:t>
              </a:r>
              <a:r>
                <a:rPr lang="en-US" altLang="zh-CN" sz="2500" b="1" i="1" baseline="-25000" dirty="0">
                  <a:solidFill>
                    <a:schemeClr val="accent2"/>
                  </a:solidFill>
                  <a:latin typeface="Times New Roman" panose="02020603050405020304" pitchFamily="18" charset="0"/>
                  <a:ea typeface="宋体" panose="02010600030101010101" pitchFamily="2" charset="-122"/>
                </a:rPr>
                <a:t>+</a:t>
              </a:r>
              <a:endParaRPr lang="en-US" altLang="zh-CN" sz="2500" b="1" i="1" baseline="-25000" dirty="0">
                <a:solidFill>
                  <a:schemeClr val="accent2"/>
                </a:solidFill>
                <a:latin typeface="Times New Roman" panose="02020603050405020304" pitchFamily="18" charset="0"/>
                <a:ea typeface="宋体" panose="02010600030101010101" pitchFamily="2" charset="-122"/>
              </a:endParaRPr>
            </a:p>
          </p:txBody>
        </p:sp>
        <p:sp>
          <p:nvSpPr>
            <p:cNvPr id="31802" name="Rectangle 1100"/>
            <p:cNvSpPr/>
            <p:nvPr/>
          </p:nvSpPr>
          <p:spPr>
            <a:xfrm>
              <a:off x="4046" y="1779"/>
              <a:ext cx="296" cy="30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G</a:t>
              </a:r>
              <a:endParaRPr lang="en-US" altLang="zh-CN" sz="2500" b="1" baseline="-25000" dirty="0">
                <a:solidFill>
                  <a:schemeClr val="accent2"/>
                </a:solidFill>
                <a:latin typeface="Times New Roman" panose="02020603050405020304" pitchFamily="18" charset="0"/>
              </a:endParaRPr>
            </a:p>
          </p:txBody>
        </p:sp>
        <p:sp>
          <p:nvSpPr>
            <p:cNvPr id="31803" name="AutoShape 1101"/>
            <p:cNvSpPr/>
            <p:nvPr/>
          </p:nvSpPr>
          <p:spPr>
            <a:xfrm rot="10800000">
              <a:off x="2379" y="2534"/>
              <a:ext cx="653" cy="741"/>
            </a:xfrm>
            <a:prstGeom prst="triangle">
              <a:avLst>
                <a:gd name="adj" fmla="val 50000"/>
              </a:avLst>
            </a:prstGeom>
            <a:noFill/>
            <a:ln w="25400" cap="flat" cmpd="sng">
              <a:solidFill>
                <a:srgbClr val="FF00FF"/>
              </a:solidFill>
              <a:prstDash val="sysDot"/>
              <a:miter/>
              <a:headEnd type="none" w="med" len="med"/>
              <a:tailEnd type="none" w="med" len="med"/>
            </a:ln>
          </p:spPr>
          <p:txBody>
            <a:bodyPr rot="10800000"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1804" name="Line 1103"/>
            <p:cNvSpPr/>
            <p:nvPr/>
          </p:nvSpPr>
          <p:spPr>
            <a:xfrm>
              <a:off x="2062" y="3330"/>
              <a:ext cx="641" cy="0"/>
            </a:xfrm>
            <a:prstGeom prst="line">
              <a:avLst/>
            </a:prstGeom>
            <a:ln w="25400" cap="flat" cmpd="sng">
              <a:solidFill>
                <a:srgbClr val="FF00FF"/>
              </a:solidFill>
              <a:prstDash val="sysDot"/>
              <a:headEnd type="none" w="med" len="med"/>
              <a:tailEnd type="none" w="med" len="med"/>
            </a:ln>
          </p:spPr>
        </p:sp>
        <p:sp>
          <p:nvSpPr>
            <p:cNvPr id="31805" name="Text Box 1104"/>
            <p:cNvSpPr txBox="1"/>
            <p:nvPr/>
          </p:nvSpPr>
          <p:spPr>
            <a:xfrm>
              <a:off x="2104" y="3656"/>
              <a:ext cx="1456" cy="288"/>
            </a:xfrm>
            <a:prstGeom prst="rect">
              <a:avLst/>
            </a:prstGeom>
            <a:noFill/>
            <a:ln w="9525">
              <a:noFill/>
            </a:ln>
          </p:spPr>
          <p:txBody>
            <a:bodyPr>
              <a:spAutoFit/>
            </a:bodyPr>
            <a:p>
              <a:pPr eaLnBrk="1" hangingPunct="1">
                <a:lnSpc>
                  <a:spcPct val="90000"/>
                </a:lnSpc>
                <a:spcBef>
                  <a:spcPct val="50000"/>
                </a:spcBef>
              </a:pPr>
              <a:r>
                <a:rPr lang="en-US" altLang="zh-CN" sz="2000" b="1" dirty="0">
                  <a:solidFill>
                    <a:srgbClr val="FF0000"/>
                  </a:solidFill>
                  <a:latin typeface="Times New Roman" panose="02020603050405020304" pitchFamily="18" charset="0"/>
                </a:rPr>
                <a:t>AD521</a:t>
              </a:r>
              <a:r>
                <a:rPr lang="zh-CN" altLang="en-US" sz="2000" b="1" dirty="0">
                  <a:solidFill>
                    <a:srgbClr val="FF0000"/>
                  </a:solidFill>
                  <a:latin typeface="Times New Roman" panose="02020603050405020304" pitchFamily="18" charset="0"/>
                </a:rPr>
                <a:t>引脚功能</a:t>
              </a:r>
              <a:endParaRPr lang="zh-CN" altLang="en-US" sz="2000" b="1" dirty="0">
                <a:solidFill>
                  <a:srgbClr val="FF0000"/>
                </a:solidFill>
                <a:latin typeface="Times New Roman" panose="02020603050405020304" pitchFamily="18" charset="0"/>
              </a:endParaRPr>
            </a:p>
          </p:txBody>
        </p:sp>
      </p:grpSp>
      <p:pic>
        <p:nvPicPr>
          <p:cNvPr id="25662" name="Picture 62" descr="AD521x1"/>
          <p:cNvPicPr>
            <a:picLocks noChangeAspect="1"/>
          </p:cNvPicPr>
          <p:nvPr/>
        </p:nvPicPr>
        <p:blipFill>
          <a:blip r:embed="rId1"/>
          <a:stretch>
            <a:fillRect/>
          </a:stretch>
        </p:blipFill>
        <p:spPr>
          <a:xfrm>
            <a:off x="5976938" y="3536950"/>
            <a:ext cx="2951162" cy="1512888"/>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56918"/>
                                        </p:tgtEl>
                                        <p:attrNameLst>
                                          <p:attrName>style.visibility</p:attrName>
                                        </p:attrNameLst>
                                      </p:cBhvr>
                                      <p:to>
                                        <p:strVal val="visible"/>
                                      </p:to>
                                    </p:set>
                                    <p:animEffect transition="in" filter="dissolve">
                                      <p:cBhvr>
                                        <p:cTn id="7" dur="500"/>
                                        <p:tgtEl>
                                          <p:spTgt spid="22569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56920"/>
                                        </p:tgtEl>
                                        <p:attrNameLst>
                                          <p:attrName>style.visibility</p:attrName>
                                        </p:attrNameLst>
                                      </p:cBhvr>
                                      <p:to>
                                        <p:strVal val="visible"/>
                                      </p:to>
                                    </p:set>
                                    <p:animEffect transition="in" filter="dissolve">
                                      <p:cBhvr>
                                        <p:cTn id="12" dur="500"/>
                                        <p:tgtEl>
                                          <p:spTgt spid="22569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nodeType="clickEffect">
                                  <p:stCondLst>
                                    <p:cond delay="0"/>
                                  </p:stCondLst>
                                  <p:iterate type="lt">
                                    <p:tmPct val="5000"/>
                                  </p:iterate>
                                  <p:childTnLst>
                                    <p:set>
                                      <p:cBhvr>
                                        <p:cTn id="21" dur="1" fill="hold">
                                          <p:stCondLst>
                                            <p:cond delay="0"/>
                                          </p:stCondLst>
                                        </p:cTn>
                                        <p:tgtEl>
                                          <p:spTgt spid="25662"/>
                                        </p:tgtEl>
                                        <p:attrNameLst>
                                          <p:attrName>style.visibility</p:attrName>
                                        </p:attrNameLst>
                                      </p:cBhvr>
                                      <p:to>
                                        <p:strVal val="visible"/>
                                      </p:to>
                                    </p:set>
                                    <p:anim calcmode="lin" valueType="num">
                                      <p:cBhvr>
                                        <p:cTn id="22" dur="1000" fill="hold"/>
                                        <p:tgtEl>
                                          <p:spTgt spid="25662"/>
                                        </p:tgtEl>
                                        <p:attrNameLst>
                                          <p:attrName>ppt_w</p:attrName>
                                        </p:attrNameLst>
                                      </p:cBhvr>
                                      <p:tavLst>
                                        <p:tav tm="0">
                                          <p:val>
                                            <p:fltVal val="0.000000"/>
                                          </p:val>
                                        </p:tav>
                                        <p:tav tm="100000">
                                          <p:val>
                                            <p:strVal val="#ppt_w"/>
                                          </p:val>
                                        </p:tav>
                                      </p:tavLst>
                                    </p:anim>
                                    <p:anim calcmode="lin" valueType="num">
                                      <p:cBhvr>
                                        <p:cTn id="23" dur="1000" fill="hold"/>
                                        <p:tgtEl>
                                          <p:spTgt spid="25662"/>
                                        </p:tgtEl>
                                        <p:attrNameLst>
                                          <p:attrName>ppt_h</p:attrName>
                                        </p:attrNameLst>
                                      </p:cBhvr>
                                      <p:tavLst>
                                        <p:tav tm="0">
                                          <p:val>
                                            <p:fltVal val="0.000000"/>
                                          </p:val>
                                        </p:tav>
                                        <p:tav tm="100000">
                                          <p:val>
                                            <p:strVal val="#ppt_h"/>
                                          </p:val>
                                        </p:tav>
                                      </p:tavLst>
                                    </p:anim>
                                    <p:anim calcmode="lin" valueType="num">
                                      <p:cBhvr>
                                        <p:cTn id="24" dur="1000" fill="hold"/>
                                        <p:tgtEl>
                                          <p:spTgt spid="25662"/>
                                        </p:tgtEl>
                                        <p:attrNameLst>
                                          <p:attrName>style.rotation</p:attrName>
                                        </p:attrNameLst>
                                      </p:cBhvr>
                                      <p:tavLst>
                                        <p:tav tm="0">
                                          <p:val>
                                            <p:fltVal val="90.000000"/>
                                          </p:val>
                                        </p:tav>
                                        <p:tav tm="100000">
                                          <p:val>
                                            <p:fltVal val="0.000000"/>
                                          </p:val>
                                        </p:tav>
                                      </p:tavLst>
                                    </p:anim>
                                    <p:animEffect transition="in" filter="fade">
                                      <p:cBhvr>
                                        <p:cTn id="25" dur="1000"/>
                                        <p:tgtEl>
                                          <p:spTgt spid="256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6918" grpId="0" bldLvl="0" animBg="1"/>
      <p:bldP spid="2256920"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7974" name="Text Box 54"/>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2771" name="Text Box 55"/>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AD521</a:t>
            </a:r>
            <a:endParaRPr lang="en-US" altLang="zh-CN" sz="3600" b="1" dirty="0">
              <a:solidFill>
                <a:srgbClr val="333399"/>
              </a:solidFill>
              <a:latin typeface="Times New Roman" panose="02020603050405020304" pitchFamily="18" charset="0"/>
            </a:endParaRPr>
          </a:p>
        </p:txBody>
      </p:sp>
      <p:grpSp>
        <p:nvGrpSpPr>
          <p:cNvPr id="2" name="Group 119"/>
          <p:cNvGrpSpPr/>
          <p:nvPr/>
        </p:nvGrpSpPr>
        <p:grpSpPr>
          <a:xfrm>
            <a:off x="3819525" y="1376363"/>
            <a:ext cx="5181600" cy="4316412"/>
            <a:chOff x="2467" y="798"/>
            <a:chExt cx="3264" cy="2719"/>
          </a:xfrm>
        </p:grpSpPr>
        <p:sp>
          <p:nvSpPr>
            <p:cNvPr id="32774" name="Rectangle 118"/>
            <p:cNvSpPr/>
            <p:nvPr/>
          </p:nvSpPr>
          <p:spPr>
            <a:xfrm>
              <a:off x="2467" y="804"/>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775" name="AutoShape 56"/>
            <p:cNvSpPr/>
            <p:nvPr/>
          </p:nvSpPr>
          <p:spPr>
            <a:xfrm rot="5400000">
              <a:off x="3341" y="1127"/>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776" name="Text Box 57"/>
            <p:cNvSpPr txBox="1"/>
            <p:nvPr/>
          </p:nvSpPr>
          <p:spPr>
            <a:xfrm>
              <a:off x="3359" y="125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2777" name="Text Box 58"/>
            <p:cNvSpPr txBox="1"/>
            <p:nvPr/>
          </p:nvSpPr>
          <p:spPr>
            <a:xfrm>
              <a:off x="3363" y="205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2778" name="Text Box 59"/>
            <p:cNvSpPr txBox="1"/>
            <p:nvPr/>
          </p:nvSpPr>
          <p:spPr>
            <a:xfrm>
              <a:off x="3355" y="235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2779" name="Text Box 60"/>
            <p:cNvSpPr txBox="1"/>
            <p:nvPr/>
          </p:nvSpPr>
          <p:spPr>
            <a:xfrm>
              <a:off x="3822" y="223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2780" name="Text Box 61"/>
            <p:cNvSpPr txBox="1"/>
            <p:nvPr/>
          </p:nvSpPr>
          <p:spPr>
            <a:xfrm>
              <a:off x="3605" y="233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2781" name="Text Box 62"/>
            <p:cNvSpPr txBox="1"/>
            <p:nvPr/>
          </p:nvSpPr>
          <p:spPr>
            <a:xfrm>
              <a:off x="4231" y="202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2782" name="Text Box 63"/>
            <p:cNvSpPr txBox="1"/>
            <p:nvPr/>
          </p:nvSpPr>
          <p:spPr>
            <a:xfrm>
              <a:off x="4657" y="180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2783" name="Text Box 64"/>
            <p:cNvSpPr txBox="1"/>
            <p:nvPr/>
          </p:nvSpPr>
          <p:spPr>
            <a:xfrm>
              <a:off x="3597" y="130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2784" name="Text Box 65"/>
            <p:cNvSpPr txBox="1"/>
            <p:nvPr/>
          </p:nvSpPr>
          <p:spPr>
            <a:xfrm>
              <a:off x="3781" y="14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10</a:t>
              </a:r>
              <a:endParaRPr lang="en-US" altLang="zh-CN" sz="1600" b="1" dirty="0">
                <a:solidFill>
                  <a:srgbClr val="333399"/>
                </a:solidFill>
                <a:latin typeface="Times New Roman" panose="02020603050405020304" pitchFamily="18" charset="0"/>
              </a:endParaRPr>
            </a:p>
          </p:txBody>
        </p:sp>
        <p:sp>
          <p:nvSpPr>
            <p:cNvPr id="32785" name="Text Box 66"/>
            <p:cNvSpPr txBox="1"/>
            <p:nvPr/>
          </p:nvSpPr>
          <p:spPr>
            <a:xfrm>
              <a:off x="4474" y="1892"/>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2786" name="Text Box 67"/>
            <p:cNvSpPr txBox="1"/>
            <p:nvPr/>
          </p:nvSpPr>
          <p:spPr>
            <a:xfrm>
              <a:off x="4473" y="17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2787" name="Text Box 68"/>
            <p:cNvSpPr txBox="1"/>
            <p:nvPr/>
          </p:nvSpPr>
          <p:spPr>
            <a:xfrm>
              <a:off x="4182" y="1591"/>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2788" name="Text Box 69"/>
            <p:cNvSpPr txBox="1"/>
            <p:nvPr/>
          </p:nvSpPr>
          <p:spPr>
            <a:xfrm>
              <a:off x="3355" y="155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2789" name="Oval 70"/>
            <p:cNvSpPr/>
            <p:nvPr/>
          </p:nvSpPr>
          <p:spPr>
            <a:xfrm>
              <a:off x="2625" y="131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790" name="Text Box 71"/>
            <p:cNvSpPr txBox="1"/>
            <p:nvPr/>
          </p:nvSpPr>
          <p:spPr>
            <a:xfrm>
              <a:off x="2467" y="1114"/>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2791" name="Line 72"/>
            <p:cNvSpPr/>
            <p:nvPr/>
          </p:nvSpPr>
          <p:spPr>
            <a:xfrm>
              <a:off x="2691" y="1352"/>
              <a:ext cx="677" cy="0"/>
            </a:xfrm>
            <a:prstGeom prst="line">
              <a:avLst/>
            </a:prstGeom>
            <a:ln w="12700" cap="flat" cmpd="sng">
              <a:solidFill>
                <a:schemeClr val="accent2"/>
              </a:solidFill>
              <a:prstDash val="solid"/>
              <a:headEnd type="none" w="med" len="med"/>
              <a:tailEnd type="none" w="med" len="med"/>
            </a:ln>
          </p:spPr>
        </p:sp>
        <p:sp>
          <p:nvSpPr>
            <p:cNvPr id="32792" name="Text Box 73"/>
            <p:cNvSpPr txBox="1"/>
            <p:nvPr/>
          </p:nvSpPr>
          <p:spPr>
            <a:xfrm>
              <a:off x="2471" y="2513"/>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2793" name="Oval 74"/>
            <p:cNvSpPr/>
            <p:nvPr/>
          </p:nvSpPr>
          <p:spPr>
            <a:xfrm>
              <a:off x="2612" y="241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794" name="Line 75"/>
            <p:cNvSpPr/>
            <p:nvPr/>
          </p:nvSpPr>
          <p:spPr>
            <a:xfrm>
              <a:off x="2675" y="2445"/>
              <a:ext cx="693" cy="0"/>
            </a:xfrm>
            <a:prstGeom prst="line">
              <a:avLst/>
            </a:prstGeom>
            <a:ln w="12700" cap="flat" cmpd="sng">
              <a:solidFill>
                <a:schemeClr val="accent2"/>
              </a:solidFill>
              <a:prstDash val="solid"/>
              <a:headEnd type="none" w="med" len="med"/>
              <a:tailEnd type="none" w="med" len="med"/>
            </a:ln>
          </p:spPr>
        </p:sp>
        <p:sp>
          <p:nvSpPr>
            <p:cNvPr id="32795" name="Line 76"/>
            <p:cNvSpPr/>
            <p:nvPr/>
          </p:nvSpPr>
          <p:spPr>
            <a:xfrm>
              <a:off x="3034" y="1652"/>
              <a:ext cx="334" cy="0"/>
            </a:xfrm>
            <a:prstGeom prst="line">
              <a:avLst/>
            </a:prstGeom>
            <a:ln w="12700" cap="flat" cmpd="sng">
              <a:solidFill>
                <a:schemeClr val="accent2"/>
              </a:solidFill>
              <a:prstDash val="solid"/>
              <a:headEnd type="none" w="med" len="med"/>
              <a:tailEnd type="none" w="med" len="med"/>
            </a:ln>
          </p:spPr>
        </p:sp>
        <p:sp>
          <p:nvSpPr>
            <p:cNvPr id="32796" name="Line 77"/>
            <p:cNvSpPr/>
            <p:nvPr/>
          </p:nvSpPr>
          <p:spPr>
            <a:xfrm>
              <a:off x="3034" y="1652"/>
              <a:ext cx="0" cy="159"/>
            </a:xfrm>
            <a:prstGeom prst="line">
              <a:avLst/>
            </a:prstGeom>
            <a:ln w="12700" cap="flat" cmpd="sng">
              <a:solidFill>
                <a:schemeClr val="accent2"/>
              </a:solidFill>
              <a:prstDash val="solid"/>
              <a:headEnd type="none" w="med" len="med"/>
              <a:tailEnd type="none" w="med" len="med"/>
            </a:ln>
          </p:spPr>
        </p:sp>
        <p:sp>
          <p:nvSpPr>
            <p:cNvPr id="32797" name="Rectangle 79"/>
            <p:cNvSpPr/>
            <p:nvPr/>
          </p:nvSpPr>
          <p:spPr>
            <a:xfrm>
              <a:off x="3001" y="1811"/>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798" name="Text Box 80"/>
            <p:cNvSpPr txBox="1"/>
            <p:nvPr/>
          </p:nvSpPr>
          <p:spPr>
            <a:xfrm>
              <a:off x="2734" y="1783"/>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2799" name="Line 81"/>
            <p:cNvSpPr/>
            <p:nvPr/>
          </p:nvSpPr>
          <p:spPr>
            <a:xfrm>
              <a:off x="3034" y="1978"/>
              <a:ext cx="0" cy="167"/>
            </a:xfrm>
            <a:prstGeom prst="line">
              <a:avLst/>
            </a:prstGeom>
            <a:ln w="12700" cap="flat" cmpd="sng">
              <a:solidFill>
                <a:schemeClr val="accent2"/>
              </a:solidFill>
              <a:prstDash val="solid"/>
              <a:headEnd type="none" w="med" len="med"/>
              <a:tailEnd type="none" w="med" len="med"/>
            </a:ln>
          </p:spPr>
        </p:sp>
        <p:sp>
          <p:nvSpPr>
            <p:cNvPr id="32800" name="Line 82"/>
            <p:cNvSpPr/>
            <p:nvPr/>
          </p:nvSpPr>
          <p:spPr>
            <a:xfrm>
              <a:off x="3034" y="2145"/>
              <a:ext cx="334" cy="0"/>
            </a:xfrm>
            <a:prstGeom prst="line">
              <a:avLst/>
            </a:prstGeom>
            <a:ln w="12700" cap="flat" cmpd="sng">
              <a:solidFill>
                <a:schemeClr val="accent2"/>
              </a:solidFill>
              <a:prstDash val="solid"/>
              <a:headEnd type="none" w="med" len="med"/>
              <a:tailEnd type="none" w="med" len="med"/>
            </a:ln>
          </p:spPr>
        </p:sp>
        <p:sp>
          <p:nvSpPr>
            <p:cNvPr id="32801" name="Line 83"/>
            <p:cNvSpPr/>
            <p:nvPr/>
          </p:nvSpPr>
          <p:spPr>
            <a:xfrm>
              <a:off x="3919" y="2420"/>
              <a:ext cx="0" cy="217"/>
            </a:xfrm>
            <a:prstGeom prst="line">
              <a:avLst/>
            </a:prstGeom>
            <a:ln w="12700" cap="flat" cmpd="sng">
              <a:solidFill>
                <a:schemeClr val="accent2"/>
              </a:solidFill>
              <a:prstDash val="solid"/>
              <a:headEnd type="none" w="med" len="med"/>
              <a:tailEnd type="none" w="med" len="med"/>
            </a:ln>
          </p:spPr>
        </p:sp>
        <p:sp>
          <p:nvSpPr>
            <p:cNvPr id="32802" name="Line 84"/>
            <p:cNvSpPr/>
            <p:nvPr/>
          </p:nvSpPr>
          <p:spPr>
            <a:xfrm>
              <a:off x="3919" y="2637"/>
              <a:ext cx="116" cy="0"/>
            </a:xfrm>
            <a:prstGeom prst="line">
              <a:avLst/>
            </a:prstGeom>
            <a:ln w="12700" cap="flat" cmpd="sng">
              <a:solidFill>
                <a:schemeClr val="accent2"/>
              </a:solidFill>
              <a:prstDash val="solid"/>
              <a:headEnd type="none" w="med" len="med"/>
              <a:tailEnd type="none" w="med" len="med"/>
            </a:ln>
          </p:spPr>
        </p:sp>
        <p:sp>
          <p:nvSpPr>
            <p:cNvPr id="32803" name="Rectangle 85"/>
            <p:cNvSpPr/>
            <p:nvPr/>
          </p:nvSpPr>
          <p:spPr>
            <a:xfrm>
              <a:off x="4035" y="2604"/>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04" name="Text Box 86"/>
            <p:cNvSpPr txBox="1"/>
            <p:nvPr/>
          </p:nvSpPr>
          <p:spPr>
            <a:xfrm>
              <a:off x="3911" y="2445"/>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2805" name="Line 87"/>
            <p:cNvSpPr/>
            <p:nvPr/>
          </p:nvSpPr>
          <p:spPr>
            <a:xfrm>
              <a:off x="4203" y="2637"/>
              <a:ext cx="125" cy="0"/>
            </a:xfrm>
            <a:prstGeom prst="line">
              <a:avLst/>
            </a:prstGeom>
            <a:ln w="12700" cap="flat" cmpd="sng">
              <a:solidFill>
                <a:schemeClr val="accent2"/>
              </a:solidFill>
              <a:prstDash val="solid"/>
              <a:headEnd type="none" w="med" len="med"/>
              <a:tailEnd type="none" w="med" len="med"/>
            </a:ln>
          </p:spPr>
        </p:sp>
        <p:sp>
          <p:nvSpPr>
            <p:cNvPr id="32806" name="Line 88"/>
            <p:cNvSpPr/>
            <p:nvPr/>
          </p:nvSpPr>
          <p:spPr>
            <a:xfrm flipV="1">
              <a:off x="4328" y="2203"/>
              <a:ext cx="0" cy="434"/>
            </a:xfrm>
            <a:prstGeom prst="line">
              <a:avLst/>
            </a:prstGeom>
            <a:ln w="12700" cap="flat" cmpd="sng">
              <a:solidFill>
                <a:schemeClr val="accent2"/>
              </a:solidFill>
              <a:prstDash val="solid"/>
              <a:headEnd type="none" w="med" len="med"/>
              <a:tailEnd type="none" w="med" len="med"/>
            </a:ln>
          </p:spPr>
        </p:sp>
        <p:sp>
          <p:nvSpPr>
            <p:cNvPr id="32807" name="Line 89"/>
            <p:cNvSpPr/>
            <p:nvPr/>
          </p:nvSpPr>
          <p:spPr>
            <a:xfrm>
              <a:off x="3702" y="2529"/>
              <a:ext cx="0" cy="543"/>
            </a:xfrm>
            <a:prstGeom prst="line">
              <a:avLst/>
            </a:prstGeom>
            <a:ln w="12700" cap="flat" cmpd="sng">
              <a:solidFill>
                <a:schemeClr val="accent2"/>
              </a:solidFill>
              <a:prstDash val="solid"/>
              <a:headEnd type="none" w="med" len="med"/>
              <a:tailEnd type="none" w="med" len="med"/>
            </a:ln>
          </p:spPr>
        </p:sp>
        <p:sp>
          <p:nvSpPr>
            <p:cNvPr id="32808" name="Oval 90"/>
            <p:cNvSpPr/>
            <p:nvPr/>
          </p:nvSpPr>
          <p:spPr>
            <a:xfrm>
              <a:off x="3675" y="306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09" name="Text Box 91"/>
            <p:cNvSpPr txBox="1"/>
            <p:nvPr/>
          </p:nvSpPr>
          <p:spPr>
            <a:xfrm>
              <a:off x="3735" y="3010"/>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2810" name="Oval 92"/>
            <p:cNvSpPr/>
            <p:nvPr/>
          </p:nvSpPr>
          <p:spPr>
            <a:xfrm>
              <a:off x="3678" y="2851"/>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11" name="Line 93"/>
            <p:cNvSpPr/>
            <p:nvPr/>
          </p:nvSpPr>
          <p:spPr>
            <a:xfrm>
              <a:off x="3710" y="2880"/>
              <a:ext cx="409" cy="0"/>
            </a:xfrm>
            <a:prstGeom prst="line">
              <a:avLst/>
            </a:prstGeom>
            <a:ln w="12700" cap="flat" cmpd="sng">
              <a:solidFill>
                <a:schemeClr val="accent2"/>
              </a:solidFill>
              <a:prstDash val="solid"/>
              <a:headEnd type="none" w="med" len="med"/>
              <a:tailEnd type="none" w="med" len="med"/>
            </a:ln>
          </p:spPr>
        </p:sp>
        <p:sp>
          <p:nvSpPr>
            <p:cNvPr id="32812" name="Line 94"/>
            <p:cNvSpPr/>
            <p:nvPr/>
          </p:nvSpPr>
          <p:spPr>
            <a:xfrm flipV="1">
              <a:off x="4119" y="2670"/>
              <a:ext cx="0" cy="210"/>
            </a:xfrm>
            <a:prstGeom prst="line">
              <a:avLst/>
            </a:prstGeom>
            <a:ln w="12700" cap="flat" cmpd="sng">
              <a:solidFill>
                <a:schemeClr val="accent2"/>
              </a:solidFill>
              <a:prstDash val="solid"/>
              <a:headEnd type="none" w="med" len="med"/>
              <a:tailEnd type="triangle" w="sm" len="lg"/>
            </a:ln>
          </p:spPr>
        </p:sp>
        <p:sp>
          <p:nvSpPr>
            <p:cNvPr id="32813" name="Line 95"/>
            <p:cNvSpPr/>
            <p:nvPr/>
          </p:nvSpPr>
          <p:spPr>
            <a:xfrm>
              <a:off x="4586" y="2070"/>
              <a:ext cx="0" cy="317"/>
            </a:xfrm>
            <a:prstGeom prst="line">
              <a:avLst/>
            </a:prstGeom>
            <a:ln w="12700" cap="flat" cmpd="sng">
              <a:solidFill>
                <a:schemeClr val="accent2"/>
              </a:solidFill>
              <a:prstDash val="solid"/>
              <a:headEnd type="none" w="med" len="med"/>
              <a:tailEnd type="none" w="med" len="med"/>
            </a:ln>
          </p:spPr>
        </p:sp>
        <p:sp>
          <p:nvSpPr>
            <p:cNvPr id="32814" name="Line 96"/>
            <p:cNvSpPr/>
            <p:nvPr/>
          </p:nvSpPr>
          <p:spPr>
            <a:xfrm>
              <a:off x="4586" y="2387"/>
              <a:ext cx="560" cy="0"/>
            </a:xfrm>
            <a:prstGeom prst="line">
              <a:avLst/>
            </a:prstGeom>
            <a:ln w="12700" cap="flat" cmpd="sng">
              <a:solidFill>
                <a:schemeClr val="accent2"/>
              </a:solidFill>
              <a:prstDash val="solid"/>
              <a:headEnd type="none" w="med" len="med"/>
              <a:tailEnd type="none" w="med" len="med"/>
            </a:ln>
          </p:spPr>
        </p:sp>
        <p:sp>
          <p:nvSpPr>
            <p:cNvPr id="32815" name="Line 97"/>
            <p:cNvSpPr/>
            <p:nvPr/>
          </p:nvSpPr>
          <p:spPr>
            <a:xfrm>
              <a:off x="5146" y="2387"/>
              <a:ext cx="0" cy="184"/>
            </a:xfrm>
            <a:prstGeom prst="line">
              <a:avLst/>
            </a:prstGeom>
            <a:ln w="12700" cap="flat" cmpd="sng">
              <a:solidFill>
                <a:schemeClr val="accent2"/>
              </a:solidFill>
              <a:prstDash val="solid"/>
              <a:headEnd type="none" w="med" len="med"/>
              <a:tailEnd type="none" w="med" len="med"/>
            </a:ln>
          </p:spPr>
        </p:sp>
        <p:sp>
          <p:nvSpPr>
            <p:cNvPr id="32816" name="AutoShape 98"/>
            <p:cNvSpPr/>
            <p:nvPr/>
          </p:nvSpPr>
          <p:spPr>
            <a:xfrm rot="10800000">
              <a:off x="5004" y="2570"/>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17" name="Line 99"/>
            <p:cNvSpPr/>
            <p:nvPr/>
          </p:nvSpPr>
          <p:spPr>
            <a:xfrm>
              <a:off x="4904" y="1903"/>
              <a:ext cx="576" cy="0"/>
            </a:xfrm>
            <a:prstGeom prst="line">
              <a:avLst/>
            </a:prstGeom>
            <a:ln w="12700" cap="flat" cmpd="sng">
              <a:solidFill>
                <a:schemeClr val="accent2"/>
              </a:solidFill>
              <a:prstDash val="solid"/>
              <a:headEnd type="none" w="med" len="med"/>
              <a:tailEnd type="none" w="med" len="med"/>
            </a:ln>
          </p:spPr>
        </p:sp>
        <p:sp>
          <p:nvSpPr>
            <p:cNvPr id="32818" name="Oval 100"/>
            <p:cNvSpPr/>
            <p:nvPr/>
          </p:nvSpPr>
          <p:spPr>
            <a:xfrm>
              <a:off x="5475" y="18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19" name="Text Box 101"/>
            <p:cNvSpPr txBox="1"/>
            <p:nvPr/>
          </p:nvSpPr>
          <p:spPr>
            <a:xfrm>
              <a:off x="5303" y="1968"/>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2820" name="Oval 102"/>
            <p:cNvSpPr/>
            <p:nvPr/>
          </p:nvSpPr>
          <p:spPr>
            <a:xfrm>
              <a:off x="5226" y="187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21" name="Line 103"/>
            <p:cNvSpPr/>
            <p:nvPr/>
          </p:nvSpPr>
          <p:spPr>
            <a:xfrm flipV="1">
              <a:off x="5254" y="1352"/>
              <a:ext cx="0" cy="551"/>
            </a:xfrm>
            <a:prstGeom prst="line">
              <a:avLst/>
            </a:prstGeom>
            <a:ln w="9525" cap="flat" cmpd="sng">
              <a:solidFill>
                <a:schemeClr val="accent2"/>
              </a:solidFill>
              <a:prstDash val="solid"/>
              <a:headEnd type="none" w="med" len="med"/>
              <a:tailEnd type="none" w="med" len="med"/>
            </a:ln>
          </p:spPr>
        </p:sp>
        <p:sp>
          <p:nvSpPr>
            <p:cNvPr id="32822" name="Line 104"/>
            <p:cNvSpPr/>
            <p:nvPr/>
          </p:nvSpPr>
          <p:spPr>
            <a:xfrm flipH="1">
              <a:off x="4586" y="1352"/>
              <a:ext cx="668" cy="0"/>
            </a:xfrm>
            <a:prstGeom prst="line">
              <a:avLst/>
            </a:prstGeom>
            <a:ln w="12700" cap="flat" cmpd="sng">
              <a:solidFill>
                <a:schemeClr val="accent2"/>
              </a:solidFill>
              <a:prstDash val="solid"/>
              <a:headEnd type="none" w="med" len="med"/>
              <a:tailEnd type="none" w="med" len="med"/>
            </a:ln>
          </p:spPr>
        </p:sp>
        <p:sp>
          <p:nvSpPr>
            <p:cNvPr id="32823" name="Line 105"/>
            <p:cNvSpPr/>
            <p:nvPr/>
          </p:nvSpPr>
          <p:spPr>
            <a:xfrm>
              <a:off x="4586" y="1352"/>
              <a:ext cx="0" cy="384"/>
            </a:xfrm>
            <a:prstGeom prst="line">
              <a:avLst/>
            </a:prstGeom>
            <a:ln w="12700" cap="flat" cmpd="sng">
              <a:solidFill>
                <a:schemeClr val="accent2"/>
              </a:solidFill>
              <a:prstDash val="solid"/>
              <a:headEnd type="none" w="med" len="med"/>
              <a:tailEnd type="none" w="med" len="med"/>
            </a:ln>
          </p:spPr>
        </p:sp>
        <p:sp>
          <p:nvSpPr>
            <p:cNvPr id="32824" name="Line 106"/>
            <p:cNvSpPr/>
            <p:nvPr/>
          </p:nvSpPr>
          <p:spPr>
            <a:xfrm flipV="1">
              <a:off x="3919" y="1093"/>
              <a:ext cx="0" cy="285"/>
            </a:xfrm>
            <a:prstGeom prst="line">
              <a:avLst/>
            </a:prstGeom>
            <a:ln w="12700" cap="flat" cmpd="sng">
              <a:solidFill>
                <a:schemeClr val="accent2"/>
              </a:solidFill>
              <a:prstDash val="solid"/>
              <a:headEnd type="none" w="med" len="med"/>
              <a:tailEnd type="none" w="med" len="med"/>
            </a:ln>
          </p:spPr>
        </p:sp>
        <p:sp>
          <p:nvSpPr>
            <p:cNvPr id="32825" name="Line 107"/>
            <p:cNvSpPr/>
            <p:nvPr/>
          </p:nvSpPr>
          <p:spPr>
            <a:xfrm>
              <a:off x="3919" y="1101"/>
              <a:ext cx="116" cy="0"/>
            </a:xfrm>
            <a:prstGeom prst="line">
              <a:avLst/>
            </a:prstGeom>
            <a:ln w="12700" cap="flat" cmpd="sng">
              <a:solidFill>
                <a:schemeClr val="accent2"/>
              </a:solidFill>
              <a:prstDash val="solid"/>
              <a:headEnd type="none" w="med" len="med"/>
              <a:tailEnd type="none" w="med" len="med"/>
            </a:ln>
          </p:spPr>
        </p:sp>
        <p:sp>
          <p:nvSpPr>
            <p:cNvPr id="32826" name="Rectangle 109"/>
            <p:cNvSpPr/>
            <p:nvPr/>
          </p:nvSpPr>
          <p:spPr>
            <a:xfrm>
              <a:off x="4039" y="1072"/>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27" name="Text Box 110"/>
            <p:cNvSpPr txBox="1"/>
            <p:nvPr/>
          </p:nvSpPr>
          <p:spPr>
            <a:xfrm>
              <a:off x="3986" y="847"/>
              <a:ext cx="26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S</a:t>
              </a:r>
              <a:endParaRPr lang="en-US" altLang="zh-CN" sz="1800" b="1" baseline="-25000" dirty="0">
                <a:solidFill>
                  <a:srgbClr val="FF0000"/>
                </a:solidFill>
                <a:latin typeface="Times New Roman" panose="02020603050405020304" pitchFamily="18" charset="0"/>
              </a:endParaRPr>
            </a:p>
          </p:txBody>
        </p:sp>
        <p:sp>
          <p:nvSpPr>
            <p:cNvPr id="32828" name="Text Box 111"/>
            <p:cNvSpPr txBox="1"/>
            <p:nvPr/>
          </p:nvSpPr>
          <p:spPr>
            <a:xfrm>
              <a:off x="3898" y="1130"/>
              <a:ext cx="483"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2829" name="Line 112"/>
            <p:cNvSpPr/>
            <p:nvPr/>
          </p:nvSpPr>
          <p:spPr>
            <a:xfrm>
              <a:off x="4202" y="1101"/>
              <a:ext cx="126" cy="0"/>
            </a:xfrm>
            <a:prstGeom prst="line">
              <a:avLst/>
            </a:prstGeom>
            <a:ln w="12700" cap="flat" cmpd="sng">
              <a:solidFill>
                <a:schemeClr val="accent2"/>
              </a:solidFill>
              <a:prstDash val="solid"/>
              <a:headEnd type="none" w="med" len="med"/>
              <a:tailEnd type="none" w="med" len="med"/>
            </a:ln>
          </p:spPr>
        </p:sp>
        <p:sp>
          <p:nvSpPr>
            <p:cNvPr id="32830" name="Line 113"/>
            <p:cNvSpPr/>
            <p:nvPr/>
          </p:nvSpPr>
          <p:spPr>
            <a:xfrm>
              <a:off x="4328" y="1101"/>
              <a:ext cx="0" cy="501"/>
            </a:xfrm>
            <a:prstGeom prst="line">
              <a:avLst/>
            </a:prstGeom>
            <a:ln w="12700" cap="flat" cmpd="sng">
              <a:solidFill>
                <a:schemeClr val="accent2"/>
              </a:solidFill>
              <a:prstDash val="solid"/>
              <a:headEnd type="none" w="med" len="med"/>
              <a:tailEnd type="none" w="med" len="med"/>
            </a:ln>
          </p:spPr>
        </p:sp>
        <p:sp>
          <p:nvSpPr>
            <p:cNvPr id="32831" name="Line 114"/>
            <p:cNvSpPr/>
            <p:nvPr/>
          </p:nvSpPr>
          <p:spPr>
            <a:xfrm>
              <a:off x="3702" y="968"/>
              <a:ext cx="0" cy="309"/>
            </a:xfrm>
            <a:prstGeom prst="line">
              <a:avLst/>
            </a:prstGeom>
            <a:ln w="12700" cap="flat" cmpd="sng">
              <a:solidFill>
                <a:schemeClr val="accent2"/>
              </a:solidFill>
              <a:prstDash val="solid"/>
              <a:headEnd type="none" w="med" len="med"/>
              <a:tailEnd type="none" w="med" len="med"/>
            </a:ln>
          </p:spPr>
        </p:sp>
        <p:sp>
          <p:nvSpPr>
            <p:cNvPr id="32832" name="Oval 115"/>
            <p:cNvSpPr/>
            <p:nvPr/>
          </p:nvSpPr>
          <p:spPr>
            <a:xfrm>
              <a:off x="3672" y="90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2833" name="Text Box 116"/>
            <p:cNvSpPr txBox="1"/>
            <p:nvPr/>
          </p:nvSpPr>
          <p:spPr>
            <a:xfrm>
              <a:off x="3385" y="798"/>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2834" name="Text Box 117"/>
            <p:cNvSpPr txBox="1"/>
            <p:nvPr/>
          </p:nvSpPr>
          <p:spPr>
            <a:xfrm>
              <a:off x="3172" y="3252"/>
              <a:ext cx="1840"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AD521</a:t>
              </a:r>
              <a:r>
                <a:rPr lang="zh-CN" altLang="en-US" sz="2400" b="1" dirty="0">
                  <a:solidFill>
                    <a:srgbClr val="000099"/>
                  </a:solidFill>
                  <a:latin typeface="Times New Roman" panose="02020603050405020304" pitchFamily="18" charset="0"/>
                </a:rPr>
                <a:t>基本连接方法</a:t>
              </a:r>
              <a:endParaRPr lang="zh-CN" altLang="en-US" sz="2400" b="1" dirty="0">
                <a:solidFill>
                  <a:srgbClr val="000099"/>
                </a:solidFill>
                <a:latin typeface="Times New Roman" panose="02020603050405020304" pitchFamily="18" charset="0"/>
              </a:endParaRPr>
            </a:p>
          </p:txBody>
        </p:sp>
      </p:grpSp>
      <p:sp>
        <p:nvSpPr>
          <p:cNvPr id="2258040" name="Text Box 120"/>
          <p:cNvSpPr txBox="1"/>
          <p:nvPr/>
        </p:nvSpPr>
        <p:spPr>
          <a:xfrm>
            <a:off x="287338" y="1736725"/>
            <a:ext cx="3384550" cy="4181475"/>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4</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6</a:t>
            </a:r>
            <a:r>
              <a:rPr lang="zh-CN" altLang="en-US" sz="2400" b="1" dirty="0">
                <a:solidFill>
                  <a:schemeClr val="tx2"/>
                </a:solidFill>
                <a:latin typeface="黑体" panose="02010609060101010101" pitchFamily="49" charset="-122"/>
                <a:ea typeface="黑体" panose="02010609060101010101" pitchFamily="49" charset="-122"/>
              </a:rPr>
              <a:t>用于调整放大器零点，将</a:t>
            </a:r>
            <a:r>
              <a:rPr lang="en-US" altLang="zh-CN" sz="2400" b="1" dirty="0">
                <a:solidFill>
                  <a:srgbClr val="FF0000"/>
                </a:solidFill>
                <a:latin typeface="Times New Roman" panose="02020603050405020304" pitchFamily="18" charset="0"/>
                <a:ea typeface="黑体" panose="02010609060101010101" pitchFamily="49" charset="-122"/>
              </a:rPr>
              <a:t>4</a:t>
            </a:r>
            <a:r>
              <a:rPr lang="zh-CN" altLang="en-US" sz="2400" b="1" dirty="0">
                <a:solidFill>
                  <a:schemeClr val="tx2"/>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6</a:t>
            </a:r>
            <a:r>
              <a:rPr lang="zh-CN" altLang="en-US" sz="2400" b="1" dirty="0">
                <a:solidFill>
                  <a:schemeClr val="tx2"/>
                </a:solidFill>
                <a:latin typeface="黑体" panose="02010609060101010101" pitchFamily="49" charset="-122"/>
                <a:ea typeface="黑体" panose="02010609060101010101" pitchFamily="49" charset="-122"/>
              </a:rPr>
              <a:t>端接到</a:t>
            </a:r>
            <a:r>
              <a:rPr lang="en-US" altLang="zh-CN" sz="2400" b="1" dirty="0">
                <a:solidFill>
                  <a:srgbClr val="FF0000"/>
                </a:solidFill>
                <a:latin typeface="Times New Roman" panose="02020603050405020304" pitchFamily="18" charset="0"/>
                <a:ea typeface="黑体" panose="02010609060101010101" pitchFamily="49" charset="-122"/>
              </a:rPr>
              <a:t>10KΩ</a:t>
            </a:r>
            <a:r>
              <a:rPr lang="zh-CN" altLang="en-US" sz="2400" b="1" dirty="0">
                <a:solidFill>
                  <a:schemeClr val="tx2"/>
                </a:solidFill>
                <a:latin typeface="黑体" panose="02010609060101010101" pitchFamily="49" charset="-122"/>
                <a:ea typeface="黑体" panose="02010609060101010101" pitchFamily="49" charset="-122"/>
              </a:rPr>
              <a:t>电位器的两个固定端。电位器滑动端接负电源</a:t>
            </a:r>
            <a:r>
              <a:rPr lang="en-US" altLang="zh-CN" sz="2400" b="1" dirty="0">
                <a:solidFill>
                  <a:schemeClr val="tx2"/>
                </a:solidFill>
                <a:latin typeface="黑体" panose="02010609060101010101" pitchFamily="49" charset="-122"/>
                <a:ea typeface="黑体" panose="02010609060101010101" pitchFamily="49" charset="-122"/>
              </a:rPr>
              <a:t>U-</a:t>
            </a:r>
            <a:r>
              <a:rPr lang="zh-CN" altLang="en-US" sz="2400" b="1" dirty="0">
                <a:solidFill>
                  <a:schemeClr val="tx2"/>
                </a:solidFill>
                <a:latin typeface="黑体" panose="02010609060101010101" pitchFamily="49" charset="-122"/>
                <a:ea typeface="黑体" panose="02010609060101010101" pitchFamily="49" charset="-122"/>
              </a:rPr>
              <a:t>（脚</a:t>
            </a:r>
            <a:r>
              <a:rPr lang="en-US" altLang="zh-CN" sz="2400" b="1" dirty="0">
                <a:solidFill>
                  <a:srgbClr val="FF0000"/>
                </a:solidFill>
                <a:latin typeface="黑体" panose="02010609060101010101" pitchFamily="49" charset="-122"/>
                <a:ea typeface="黑体" panose="02010609060101010101" pitchFamily="49" charset="-122"/>
              </a:rPr>
              <a:t>5</a:t>
            </a:r>
            <a:r>
              <a:rPr lang="zh-CN" altLang="en-US" sz="2400" b="1" dirty="0">
                <a:solidFill>
                  <a:schemeClr val="tx2"/>
                </a:solidFill>
                <a:latin typeface="黑体" panose="02010609060101010101" pitchFamily="49" charset="-122"/>
                <a:ea typeface="黑体" panose="02010609060101010101" pitchFamily="49" charset="-122"/>
              </a:rPr>
              <a:t>）。</a:t>
            </a:r>
            <a:endParaRPr lang="zh-CN" altLang="en-US" sz="2400" b="1" dirty="0">
              <a:solidFill>
                <a:schemeClr val="tx2"/>
              </a:solidFill>
              <a:latin typeface="黑体" panose="02010609060101010101" pitchFamily="49" charset="-122"/>
              <a:ea typeface="黑体" panose="02010609060101010101" pitchFamily="49" charset="-122"/>
            </a:endParaRPr>
          </a:p>
          <a:p>
            <a:pPr marL="447675" indent="-447675"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10</a:t>
            </a:r>
            <a:r>
              <a:rPr lang="zh-CN" altLang="en-US" sz="2400" b="1" dirty="0">
                <a:solidFill>
                  <a:schemeClr val="tx2"/>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13</a:t>
            </a:r>
            <a:r>
              <a:rPr lang="zh-CN" altLang="en-US" sz="2400" b="1" dirty="0">
                <a:solidFill>
                  <a:schemeClr val="tx2"/>
                </a:solidFill>
                <a:latin typeface="黑体" panose="02010609060101010101" pitchFamily="49" charset="-122"/>
                <a:ea typeface="黑体" panose="02010609060101010101" pitchFamily="49" charset="-122"/>
              </a:rPr>
              <a:t>用于外接电阻</a:t>
            </a:r>
            <a:r>
              <a:rPr lang="en-US" altLang="zh-CN" sz="2400" b="1" i="1" dirty="0">
                <a:solidFill>
                  <a:srgbClr val="FF0000"/>
                </a:solidFill>
                <a:latin typeface="Times New Roman" panose="02020603050405020304" pitchFamily="18" charset="0"/>
                <a:ea typeface="黑体" panose="02010609060101010101" pitchFamily="49" charset="-122"/>
              </a:rPr>
              <a:t>R</a:t>
            </a:r>
            <a:r>
              <a:rPr lang="en-US" altLang="zh-CN" sz="2400" b="1" baseline="-25000" dirty="0">
                <a:solidFill>
                  <a:srgbClr val="FF0000"/>
                </a:solidFill>
                <a:latin typeface="Times New Roman" panose="02020603050405020304" pitchFamily="18" charset="0"/>
                <a:ea typeface="黑体" panose="02010609060101010101" pitchFamily="49" charset="-122"/>
              </a:rPr>
              <a:t>S</a:t>
            </a:r>
            <a:r>
              <a:rPr lang="zh-CN" altLang="en-US" sz="2400" b="1" dirty="0">
                <a:solidFill>
                  <a:schemeClr val="tx2"/>
                </a:solidFill>
                <a:latin typeface="黑体" panose="02010609060101010101" pitchFamily="49" charset="-122"/>
                <a:ea typeface="黑体" panose="02010609060101010101" pitchFamily="49" charset="-122"/>
              </a:rPr>
              <a:t>，用于对放大倍数进行微调。当</a:t>
            </a:r>
            <a:r>
              <a:rPr lang="en-US" altLang="zh-CN" sz="2400" b="1" i="1" dirty="0">
                <a:solidFill>
                  <a:srgbClr val="FF0000"/>
                </a:solidFill>
                <a:latin typeface="Times New Roman" panose="02020603050405020304" pitchFamily="18" charset="0"/>
                <a:ea typeface="黑体" panose="02010609060101010101" pitchFamily="49" charset="-122"/>
              </a:rPr>
              <a:t>R</a:t>
            </a:r>
            <a:r>
              <a:rPr lang="en-US" altLang="zh-CN" sz="2400" b="1" baseline="-25000" dirty="0">
                <a:solidFill>
                  <a:srgbClr val="FF0000"/>
                </a:solidFill>
                <a:latin typeface="Times New Roman" panose="02020603050405020304" pitchFamily="18" charset="0"/>
                <a:ea typeface="黑体" panose="02010609060101010101" pitchFamily="49" charset="-122"/>
              </a:rPr>
              <a:t>S</a:t>
            </a:r>
            <a:r>
              <a:rPr lang="en-US" altLang="zh-CN" sz="2400" b="1" dirty="0">
                <a:solidFill>
                  <a:srgbClr val="FF0000"/>
                </a:solidFill>
                <a:latin typeface="Times New Roman" panose="02020603050405020304" pitchFamily="18" charset="0"/>
                <a:ea typeface="黑体" panose="02010609060101010101" pitchFamily="49" charset="-122"/>
              </a:rPr>
              <a:t>=100kΩ±15%</a:t>
            </a:r>
            <a:r>
              <a:rPr lang="en-US" altLang="zh-CN" sz="2400" b="1" dirty="0">
                <a:solidFill>
                  <a:schemeClr val="tx2"/>
                </a:solidFill>
                <a:latin typeface="黑体" panose="02010609060101010101" pitchFamily="49" charset="-122"/>
                <a:ea typeface="黑体" panose="02010609060101010101" pitchFamily="49" charset="-122"/>
              </a:rPr>
              <a:t> </a:t>
            </a:r>
            <a:r>
              <a:rPr lang="zh-CN" altLang="en-US" sz="2400" b="1" dirty="0">
                <a:solidFill>
                  <a:schemeClr val="tx2"/>
                </a:solidFill>
                <a:latin typeface="黑体" panose="02010609060101010101" pitchFamily="49" charset="-122"/>
                <a:ea typeface="黑体" panose="02010609060101010101" pitchFamily="49" charset="-122"/>
              </a:rPr>
              <a:t>时，可以得到比较稳定的放大倍数。</a:t>
            </a:r>
            <a:endParaRPr lang="zh-CN" altLang="en-US" sz="2400" b="1" dirty="0">
              <a:solidFill>
                <a:schemeClr val="tx2"/>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8040">
                                            <p:txEl>
                                              <p:charRg st="0" end="54"/>
                                            </p:txEl>
                                          </p:spTgt>
                                        </p:tgtEl>
                                        <p:attrNameLst>
                                          <p:attrName>style.visibility</p:attrName>
                                        </p:attrNameLst>
                                      </p:cBhvr>
                                      <p:to>
                                        <p:strVal val="visible"/>
                                      </p:to>
                                    </p:set>
                                    <p:animEffect transition="in" filter="dissolve">
                                      <p:cBhvr>
                                        <p:cTn id="12" dur="500"/>
                                        <p:tgtEl>
                                          <p:spTgt spid="2258040">
                                            <p:txEl>
                                              <p:charRg st="0" end="5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8040">
                                            <p:txEl>
                                              <p:charRg st="54" end="113"/>
                                            </p:txEl>
                                          </p:spTgt>
                                        </p:tgtEl>
                                        <p:attrNameLst>
                                          <p:attrName>style.visibility</p:attrName>
                                        </p:attrNameLst>
                                      </p:cBhvr>
                                      <p:to>
                                        <p:strVal val="visible"/>
                                      </p:to>
                                    </p:set>
                                    <p:animEffect transition="in" filter="dissolve">
                                      <p:cBhvr>
                                        <p:cTn id="17" dur="500"/>
                                        <p:tgtEl>
                                          <p:spTgt spid="2258040">
                                            <p:txEl>
                                              <p:charRg st="54" end="1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7426"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3795" name="Text Box 3"/>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AD521</a:t>
            </a:r>
            <a:endParaRPr lang="en-US" altLang="zh-CN" sz="3600" b="1" dirty="0">
              <a:solidFill>
                <a:srgbClr val="333399"/>
              </a:solidFill>
              <a:latin typeface="Times New Roman" panose="02020603050405020304" pitchFamily="18" charset="0"/>
            </a:endParaRPr>
          </a:p>
        </p:txBody>
      </p:sp>
      <p:grpSp>
        <p:nvGrpSpPr>
          <p:cNvPr id="33796" name="Group 4"/>
          <p:cNvGrpSpPr/>
          <p:nvPr/>
        </p:nvGrpSpPr>
        <p:grpSpPr>
          <a:xfrm>
            <a:off x="3819525" y="1376363"/>
            <a:ext cx="5181600" cy="4316412"/>
            <a:chOff x="2467" y="798"/>
            <a:chExt cx="3264" cy="2719"/>
          </a:xfrm>
        </p:grpSpPr>
        <p:sp>
          <p:nvSpPr>
            <p:cNvPr id="33801" name="Rectangle 5"/>
            <p:cNvSpPr/>
            <p:nvPr/>
          </p:nvSpPr>
          <p:spPr>
            <a:xfrm>
              <a:off x="2467" y="804"/>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02" name="AutoShape 6"/>
            <p:cNvSpPr/>
            <p:nvPr/>
          </p:nvSpPr>
          <p:spPr>
            <a:xfrm rot="5400000">
              <a:off x="3341" y="1127"/>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03" name="Text Box 7"/>
            <p:cNvSpPr txBox="1"/>
            <p:nvPr/>
          </p:nvSpPr>
          <p:spPr>
            <a:xfrm>
              <a:off x="3359" y="125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3804" name="Text Box 8"/>
            <p:cNvSpPr txBox="1"/>
            <p:nvPr/>
          </p:nvSpPr>
          <p:spPr>
            <a:xfrm>
              <a:off x="3363" y="205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3805" name="Text Box 9"/>
            <p:cNvSpPr txBox="1"/>
            <p:nvPr/>
          </p:nvSpPr>
          <p:spPr>
            <a:xfrm>
              <a:off x="3355" y="235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3806" name="Text Box 10"/>
            <p:cNvSpPr txBox="1"/>
            <p:nvPr/>
          </p:nvSpPr>
          <p:spPr>
            <a:xfrm>
              <a:off x="3822" y="223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3807" name="Text Box 11"/>
            <p:cNvSpPr txBox="1"/>
            <p:nvPr/>
          </p:nvSpPr>
          <p:spPr>
            <a:xfrm>
              <a:off x="3605" y="233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3808" name="Text Box 12"/>
            <p:cNvSpPr txBox="1"/>
            <p:nvPr/>
          </p:nvSpPr>
          <p:spPr>
            <a:xfrm>
              <a:off x="4231" y="202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3809" name="Text Box 13"/>
            <p:cNvSpPr txBox="1"/>
            <p:nvPr/>
          </p:nvSpPr>
          <p:spPr>
            <a:xfrm>
              <a:off x="4657" y="180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3810" name="Text Box 14"/>
            <p:cNvSpPr txBox="1"/>
            <p:nvPr/>
          </p:nvSpPr>
          <p:spPr>
            <a:xfrm>
              <a:off x="3597" y="130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3811" name="Text Box 15"/>
            <p:cNvSpPr txBox="1"/>
            <p:nvPr/>
          </p:nvSpPr>
          <p:spPr>
            <a:xfrm>
              <a:off x="3781" y="14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10</a:t>
              </a:r>
              <a:endParaRPr lang="en-US" altLang="zh-CN" sz="1600" b="1" dirty="0">
                <a:solidFill>
                  <a:srgbClr val="333399"/>
                </a:solidFill>
                <a:latin typeface="Times New Roman" panose="02020603050405020304" pitchFamily="18" charset="0"/>
              </a:endParaRPr>
            </a:p>
          </p:txBody>
        </p:sp>
        <p:sp>
          <p:nvSpPr>
            <p:cNvPr id="33812" name="Text Box 16"/>
            <p:cNvSpPr txBox="1"/>
            <p:nvPr/>
          </p:nvSpPr>
          <p:spPr>
            <a:xfrm>
              <a:off x="4474" y="1892"/>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3813" name="Text Box 17"/>
            <p:cNvSpPr txBox="1"/>
            <p:nvPr/>
          </p:nvSpPr>
          <p:spPr>
            <a:xfrm>
              <a:off x="4473" y="17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3814" name="Text Box 18"/>
            <p:cNvSpPr txBox="1"/>
            <p:nvPr/>
          </p:nvSpPr>
          <p:spPr>
            <a:xfrm>
              <a:off x="4182" y="1591"/>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3815" name="Text Box 19"/>
            <p:cNvSpPr txBox="1"/>
            <p:nvPr/>
          </p:nvSpPr>
          <p:spPr>
            <a:xfrm>
              <a:off x="3355" y="155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3816" name="Oval 20"/>
            <p:cNvSpPr/>
            <p:nvPr/>
          </p:nvSpPr>
          <p:spPr>
            <a:xfrm>
              <a:off x="2625" y="131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17" name="Text Box 21"/>
            <p:cNvSpPr txBox="1"/>
            <p:nvPr/>
          </p:nvSpPr>
          <p:spPr>
            <a:xfrm>
              <a:off x="2467" y="1114"/>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3818" name="Line 22"/>
            <p:cNvSpPr/>
            <p:nvPr/>
          </p:nvSpPr>
          <p:spPr>
            <a:xfrm>
              <a:off x="2691" y="1352"/>
              <a:ext cx="677" cy="0"/>
            </a:xfrm>
            <a:prstGeom prst="line">
              <a:avLst/>
            </a:prstGeom>
            <a:ln w="12700" cap="flat" cmpd="sng">
              <a:solidFill>
                <a:schemeClr val="accent2"/>
              </a:solidFill>
              <a:prstDash val="solid"/>
              <a:headEnd type="none" w="med" len="med"/>
              <a:tailEnd type="none" w="med" len="med"/>
            </a:ln>
          </p:spPr>
        </p:sp>
        <p:sp>
          <p:nvSpPr>
            <p:cNvPr id="33819" name="Text Box 23"/>
            <p:cNvSpPr txBox="1"/>
            <p:nvPr/>
          </p:nvSpPr>
          <p:spPr>
            <a:xfrm>
              <a:off x="2471" y="2513"/>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3820" name="Oval 24"/>
            <p:cNvSpPr/>
            <p:nvPr/>
          </p:nvSpPr>
          <p:spPr>
            <a:xfrm>
              <a:off x="2612" y="241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21" name="Line 25"/>
            <p:cNvSpPr/>
            <p:nvPr/>
          </p:nvSpPr>
          <p:spPr>
            <a:xfrm>
              <a:off x="2675" y="2445"/>
              <a:ext cx="693" cy="0"/>
            </a:xfrm>
            <a:prstGeom prst="line">
              <a:avLst/>
            </a:prstGeom>
            <a:ln w="12700" cap="flat" cmpd="sng">
              <a:solidFill>
                <a:schemeClr val="accent2"/>
              </a:solidFill>
              <a:prstDash val="solid"/>
              <a:headEnd type="none" w="med" len="med"/>
              <a:tailEnd type="none" w="med" len="med"/>
            </a:ln>
          </p:spPr>
        </p:sp>
        <p:sp>
          <p:nvSpPr>
            <p:cNvPr id="33822" name="Line 26"/>
            <p:cNvSpPr/>
            <p:nvPr/>
          </p:nvSpPr>
          <p:spPr>
            <a:xfrm>
              <a:off x="3034" y="1652"/>
              <a:ext cx="334" cy="0"/>
            </a:xfrm>
            <a:prstGeom prst="line">
              <a:avLst/>
            </a:prstGeom>
            <a:ln w="12700" cap="flat" cmpd="sng">
              <a:solidFill>
                <a:schemeClr val="accent2"/>
              </a:solidFill>
              <a:prstDash val="solid"/>
              <a:headEnd type="none" w="med" len="med"/>
              <a:tailEnd type="none" w="med" len="med"/>
            </a:ln>
          </p:spPr>
        </p:sp>
        <p:sp>
          <p:nvSpPr>
            <p:cNvPr id="33823" name="Line 27"/>
            <p:cNvSpPr/>
            <p:nvPr/>
          </p:nvSpPr>
          <p:spPr>
            <a:xfrm>
              <a:off x="3034" y="1652"/>
              <a:ext cx="0" cy="159"/>
            </a:xfrm>
            <a:prstGeom prst="line">
              <a:avLst/>
            </a:prstGeom>
            <a:ln w="12700" cap="flat" cmpd="sng">
              <a:solidFill>
                <a:schemeClr val="accent2"/>
              </a:solidFill>
              <a:prstDash val="solid"/>
              <a:headEnd type="none" w="med" len="med"/>
              <a:tailEnd type="none" w="med" len="med"/>
            </a:ln>
          </p:spPr>
        </p:sp>
        <p:sp>
          <p:nvSpPr>
            <p:cNvPr id="33824" name="Rectangle 28"/>
            <p:cNvSpPr/>
            <p:nvPr/>
          </p:nvSpPr>
          <p:spPr>
            <a:xfrm>
              <a:off x="3001" y="1811"/>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25" name="Text Box 29"/>
            <p:cNvSpPr txBox="1"/>
            <p:nvPr/>
          </p:nvSpPr>
          <p:spPr>
            <a:xfrm>
              <a:off x="2734" y="1783"/>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3826" name="Line 30"/>
            <p:cNvSpPr/>
            <p:nvPr/>
          </p:nvSpPr>
          <p:spPr>
            <a:xfrm>
              <a:off x="3034" y="1978"/>
              <a:ext cx="0" cy="167"/>
            </a:xfrm>
            <a:prstGeom prst="line">
              <a:avLst/>
            </a:prstGeom>
            <a:ln w="12700" cap="flat" cmpd="sng">
              <a:solidFill>
                <a:schemeClr val="accent2"/>
              </a:solidFill>
              <a:prstDash val="solid"/>
              <a:headEnd type="none" w="med" len="med"/>
              <a:tailEnd type="none" w="med" len="med"/>
            </a:ln>
          </p:spPr>
        </p:sp>
        <p:sp>
          <p:nvSpPr>
            <p:cNvPr id="33827" name="Line 31"/>
            <p:cNvSpPr/>
            <p:nvPr/>
          </p:nvSpPr>
          <p:spPr>
            <a:xfrm>
              <a:off x="3034" y="2145"/>
              <a:ext cx="334" cy="0"/>
            </a:xfrm>
            <a:prstGeom prst="line">
              <a:avLst/>
            </a:prstGeom>
            <a:ln w="12700" cap="flat" cmpd="sng">
              <a:solidFill>
                <a:schemeClr val="accent2"/>
              </a:solidFill>
              <a:prstDash val="solid"/>
              <a:headEnd type="none" w="med" len="med"/>
              <a:tailEnd type="none" w="med" len="med"/>
            </a:ln>
          </p:spPr>
        </p:sp>
        <p:sp>
          <p:nvSpPr>
            <p:cNvPr id="33828" name="Line 32"/>
            <p:cNvSpPr/>
            <p:nvPr/>
          </p:nvSpPr>
          <p:spPr>
            <a:xfrm>
              <a:off x="3919" y="2420"/>
              <a:ext cx="0" cy="217"/>
            </a:xfrm>
            <a:prstGeom prst="line">
              <a:avLst/>
            </a:prstGeom>
            <a:ln w="12700" cap="flat" cmpd="sng">
              <a:solidFill>
                <a:schemeClr val="accent2"/>
              </a:solidFill>
              <a:prstDash val="solid"/>
              <a:headEnd type="none" w="med" len="med"/>
              <a:tailEnd type="none" w="med" len="med"/>
            </a:ln>
          </p:spPr>
        </p:sp>
        <p:sp>
          <p:nvSpPr>
            <p:cNvPr id="33829" name="Line 33"/>
            <p:cNvSpPr/>
            <p:nvPr/>
          </p:nvSpPr>
          <p:spPr>
            <a:xfrm>
              <a:off x="3919" y="2637"/>
              <a:ext cx="116" cy="0"/>
            </a:xfrm>
            <a:prstGeom prst="line">
              <a:avLst/>
            </a:prstGeom>
            <a:ln w="12700" cap="flat" cmpd="sng">
              <a:solidFill>
                <a:schemeClr val="accent2"/>
              </a:solidFill>
              <a:prstDash val="solid"/>
              <a:headEnd type="none" w="med" len="med"/>
              <a:tailEnd type="none" w="med" len="med"/>
            </a:ln>
          </p:spPr>
        </p:sp>
        <p:sp>
          <p:nvSpPr>
            <p:cNvPr id="33830" name="Rectangle 34"/>
            <p:cNvSpPr/>
            <p:nvPr/>
          </p:nvSpPr>
          <p:spPr>
            <a:xfrm>
              <a:off x="4035" y="2604"/>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31" name="Text Box 35"/>
            <p:cNvSpPr txBox="1"/>
            <p:nvPr/>
          </p:nvSpPr>
          <p:spPr>
            <a:xfrm>
              <a:off x="3911" y="2445"/>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3832" name="Line 36"/>
            <p:cNvSpPr/>
            <p:nvPr/>
          </p:nvSpPr>
          <p:spPr>
            <a:xfrm>
              <a:off x="4203" y="2637"/>
              <a:ext cx="125" cy="0"/>
            </a:xfrm>
            <a:prstGeom prst="line">
              <a:avLst/>
            </a:prstGeom>
            <a:ln w="12700" cap="flat" cmpd="sng">
              <a:solidFill>
                <a:schemeClr val="accent2"/>
              </a:solidFill>
              <a:prstDash val="solid"/>
              <a:headEnd type="none" w="med" len="med"/>
              <a:tailEnd type="none" w="med" len="med"/>
            </a:ln>
          </p:spPr>
        </p:sp>
        <p:sp>
          <p:nvSpPr>
            <p:cNvPr id="33833" name="Line 37"/>
            <p:cNvSpPr/>
            <p:nvPr/>
          </p:nvSpPr>
          <p:spPr>
            <a:xfrm flipV="1">
              <a:off x="4328" y="2203"/>
              <a:ext cx="0" cy="434"/>
            </a:xfrm>
            <a:prstGeom prst="line">
              <a:avLst/>
            </a:prstGeom>
            <a:ln w="12700" cap="flat" cmpd="sng">
              <a:solidFill>
                <a:schemeClr val="accent2"/>
              </a:solidFill>
              <a:prstDash val="solid"/>
              <a:headEnd type="none" w="med" len="med"/>
              <a:tailEnd type="none" w="med" len="med"/>
            </a:ln>
          </p:spPr>
        </p:sp>
        <p:sp>
          <p:nvSpPr>
            <p:cNvPr id="33834" name="Line 38"/>
            <p:cNvSpPr/>
            <p:nvPr/>
          </p:nvSpPr>
          <p:spPr>
            <a:xfrm>
              <a:off x="3702" y="2529"/>
              <a:ext cx="0" cy="543"/>
            </a:xfrm>
            <a:prstGeom prst="line">
              <a:avLst/>
            </a:prstGeom>
            <a:ln w="12700" cap="flat" cmpd="sng">
              <a:solidFill>
                <a:schemeClr val="accent2"/>
              </a:solidFill>
              <a:prstDash val="solid"/>
              <a:headEnd type="none" w="med" len="med"/>
              <a:tailEnd type="none" w="med" len="med"/>
            </a:ln>
          </p:spPr>
        </p:sp>
        <p:sp>
          <p:nvSpPr>
            <p:cNvPr id="33835" name="Oval 39"/>
            <p:cNvSpPr/>
            <p:nvPr/>
          </p:nvSpPr>
          <p:spPr>
            <a:xfrm>
              <a:off x="3675" y="306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36" name="Text Box 40"/>
            <p:cNvSpPr txBox="1"/>
            <p:nvPr/>
          </p:nvSpPr>
          <p:spPr>
            <a:xfrm>
              <a:off x="3735" y="3010"/>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3837" name="Oval 41"/>
            <p:cNvSpPr/>
            <p:nvPr/>
          </p:nvSpPr>
          <p:spPr>
            <a:xfrm>
              <a:off x="3678" y="2851"/>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38" name="Line 42"/>
            <p:cNvSpPr/>
            <p:nvPr/>
          </p:nvSpPr>
          <p:spPr>
            <a:xfrm>
              <a:off x="3710" y="2880"/>
              <a:ext cx="409" cy="0"/>
            </a:xfrm>
            <a:prstGeom prst="line">
              <a:avLst/>
            </a:prstGeom>
            <a:ln w="12700" cap="flat" cmpd="sng">
              <a:solidFill>
                <a:schemeClr val="accent2"/>
              </a:solidFill>
              <a:prstDash val="solid"/>
              <a:headEnd type="none" w="med" len="med"/>
              <a:tailEnd type="none" w="med" len="med"/>
            </a:ln>
          </p:spPr>
        </p:sp>
        <p:sp>
          <p:nvSpPr>
            <p:cNvPr id="33839" name="Line 43"/>
            <p:cNvSpPr/>
            <p:nvPr/>
          </p:nvSpPr>
          <p:spPr>
            <a:xfrm flipV="1">
              <a:off x="4119" y="2670"/>
              <a:ext cx="0" cy="210"/>
            </a:xfrm>
            <a:prstGeom prst="line">
              <a:avLst/>
            </a:prstGeom>
            <a:ln w="12700" cap="flat" cmpd="sng">
              <a:solidFill>
                <a:schemeClr val="accent2"/>
              </a:solidFill>
              <a:prstDash val="solid"/>
              <a:headEnd type="none" w="med" len="med"/>
              <a:tailEnd type="triangle" w="sm" len="lg"/>
            </a:ln>
          </p:spPr>
        </p:sp>
        <p:sp>
          <p:nvSpPr>
            <p:cNvPr id="33840" name="Line 44"/>
            <p:cNvSpPr/>
            <p:nvPr/>
          </p:nvSpPr>
          <p:spPr>
            <a:xfrm>
              <a:off x="4586" y="2070"/>
              <a:ext cx="0" cy="317"/>
            </a:xfrm>
            <a:prstGeom prst="line">
              <a:avLst/>
            </a:prstGeom>
            <a:ln w="12700" cap="flat" cmpd="sng">
              <a:solidFill>
                <a:schemeClr val="accent2"/>
              </a:solidFill>
              <a:prstDash val="solid"/>
              <a:headEnd type="none" w="med" len="med"/>
              <a:tailEnd type="none" w="med" len="med"/>
            </a:ln>
          </p:spPr>
        </p:sp>
        <p:sp>
          <p:nvSpPr>
            <p:cNvPr id="33841" name="Line 45"/>
            <p:cNvSpPr/>
            <p:nvPr/>
          </p:nvSpPr>
          <p:spPr>
            <a:xfrm>
              <a:off x="4586" y="2387"/>
              <a:ext cx="560" cy="0"/>
            </a:xfrm>
            <a:prstGeom prst="line">
              <a:avLst/>
            </a:prstGeom>
            <a:ln w="12700" cap="flat" cmpd="sng">
              <a:solidFill>
                <a:schemeClr val="accent2"/>
              </a:solidFill>
              <a:prstDash val="solid"/>
              <a:headEnd type="none" w="med" len="med"/>
              <a:tailEnd type="none" w="med" len="med"/>
            </a:ln>
          </p:spPr>
        </p:sp>
        <p:sp>
          <p:nvSpPr>
            <p:cNvPr id="33842" name="Line 46"/>
            <p:cNvSpPr/>
            <p:nvPr/>
          </p:nvSpPr>
          <p:spPr>
            <a:xfrm>
              <a:off x="5146" y="2387"/>
              <a:ext cx="0" cy="184"/>
            </a:xfrm>
            <a:prstGeom prst="line">
              <a:avLst/>
            </a:prstGeom>
            <a:ln w="12700" cap="flat" cmpd="sng">
              <a:solidFill>
                <a:schemeClr val="accent2"/>
              </a:solidFill>
              <a:prstDash val="solid"/>
              <a:headEnd type="none" w="med" len="med"/>
              <a:tailEnd type="none" w="med" len="med"/>
            </a:ln>
          </p:spPr>
        </p:sp>
        <p:sp>
          <p:nvSpPr>
            <p:cNvPr id="33843" name="AutoShape 47"/>
            <p:cNvSpPr/>
            <p:nvPr/>
          </p:nvSpPr>
          <p:spPr>
            <a:xfrm rot="10800000">
              <a:off x="5004" y="2570"/>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44" name="Line 48"/>
            <p:cNvSpPr/>
            <p:nvPr/>
          </p:nvSpPr>
          <p:spPr>
            <a:xfrm>
              <a:off x="4904" y="1903"/>
              <a:ext cx="576" cy="0"/>
            </a:xfrm>
            <a:prstGeom prst="line">
              <a:avLst/>
            </a:prstGeom>
            <a:ln w="12700" cap="flat" cmpd="sng">
              <a:solidFill>
                <a:schemeClr val="accent2"/>
              </a:solidFill>
              <a:prstDash val="solid"/>
              <a:headEnd type="none" w="med" len="med"/>
              <a:tailEnd type="none" w="med" len="med"/>
            </a:ln>
          </p:spPr>
        </p:sp>
        <p:sp>
          <p:nvSpPr>
            <p:cNvPr id="33845" name="Oval 49"/>
            <p:cNvSpPr/>
            <p:nvPr/>
          </p:nvSpPr>
          <p:spPr>
            <a:xfrm>
              <a:off x="5475" y="18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46" name="Text Box 50"/>
            <p:cNvSpPr txBox="1"/>
            <p:nvPr/>
          </p:nvSpPr>
          <p:spPr>
            <a:xfrm>
              <a:off x="5303" y="1968"/>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3847" name="Oval 51"/>
            <p:cNvSpPr/>
            <p:nvPr/>
          </p:nvSpPr>
          <p:spPr>
            <a:xfrm>
              <a:off x="5226" y="187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48" name="Line 52"/>
            <p:cNvSpPr/>
            <p:nvPr/>
          </p:nvSpPr>
          <p:spPr>
            <a:xfrm flipV="1">
              <a:off x="5254" y="1352"/>
              <a:ext cx="0" cy="551"/>
            </a:xfrm>
            <a:prstGeom prst="line">
              <a:avLst/>
            </a:prstGeom>
            <a:ln w="9525" cap="flat" cmpd="sng">
              <a:solidFill>
                <a:schemeClr val="accent2"/>
              </a:solidFill>
              <a:prstDash val="solid"/>
              <a:headEnd type="none" w="med" len="med"/>
              <a:tailEnd type="none" w="med" len="med"/>
            </a:ln>
          </p:spPr>
        </p:sp>
        <p:sp>
          <p:nvSpPr>
            <p:cNvPr id="33849" name="Line 53"/>
            <p:cNvSpPr/>
            <p:nvPr/>
          </p:nvSpPr>
          <p:spPr>
            <a:xfrm flipH="1">
              <a:off x="4586" y="1352"/>
              <a:ext cx="668" cy="0"/>
            </a:xfrm>
            <a:prstGeom prst="line">
              <a:avLst/>
            </a:prstGeom>
            <a:ln w="12700" cap="flat" cmpd="sng">
              <a:solidFill>
                <a:schemeClr val="accent2"/>
              </a:solidFill>
              <a:prstDash val="solid"/>
              <a:headEnd type="none" w="med" len="med"/>
              <a:tailEnd type="none" w="med" len="med"/>
            </a:ln>
          </p:spPr>
        </p:sp>
        <p:sp>
          <p:nvSpPr>
            <p:cNvPr id="33850" name="Line 54"/>
            <p:cNvSpPr/>
            <p:nvPr/>
          </p:nvSpPr>
          <p:spPr>
            <a:xfrm>
              <a:off x="4586" y="1352"/>
              <a:ext cx="0" cy="384"/>
            </a:xfrm>
            <a:prstGeom prst="line">
              <a:avLst/>
            </a:prstGeom>
            <a:ln w="12700" cap="flat" cmpd="sng">
              <a:solidFill>
                <a:schemeClr val="accent2"/>
              </a:solidFill>
              <a:prstDash val="solid"/>
              <a:headEnd type="none" w="med" len="med"/>
              <a:tailEnd type="none" w="med" len="med"/>
            </a:ln>
          </p:spPr>
        </p:sp>
        <p:sp>
          <p:nvSpPr>
            <p:cNvPr id="33851" name="Line 55"/>
            <p:cNvSpPr/>
            <p:nvPr/>
          </p:nvSpPr>
          <p:spPr>
            <a:xfrm flipV="1">
              <a:off x="3919" y="1093"/>
              <a:ext cx="0" cy="285"/>
            </a:xfrm>
            <a:prstGeom prst="line">
              <a:avLst/>
            </a:prstGeom>
            <a:ln w="12700" cap="flat" cmpd="sng">
              <a:solidFill>
                <a:schemeClr val="accent2"/>
              </a:solidFill>
              <a:prstDash val="solid"/>
              <a:headEnd type="none" w="med" len="med"/>
              <a:tailEnd type="none" w="med" len="med"/>
            </a:ln>
          </p:spPr>
        </p:sp>
        <p:sp>
          <p:nvSpPr>
            <p:cNvPr id="33852" name="Line 56"/>
            <p:cNvSpPr/>
            <p:nvPr/>
          </p:nvSpPr>
          <p:spPr>
            <a:xfrm>
              <a:off x="3919" y="1101"/>
              <a:ext cx="116" cy="0"/>
            </a:xfrm>
            <a:prstGeom prst="line">
              <a:avLst/>
            </a:prstGeom>
            <a:ln w="12700" cap="flat" cmpd="sng">
              <a:solidFill>
                <a:schemeClr val="accent2"/>
              </a:solidFill>
              <a:prstDash val="solid"/>
              <a:headEnd type="none" w="med" len="med"/>
              <a:tailEnd type="none" w="med" len="med"/>
            </a:ln>
          </p:spPr>
        </p:sp>
        <p:sp>
          <p:nvSpPr>
            <p:cNvPr id="33853" name="Rectangle 57"/>
            <p:cNvSpPr/>
            <p:nvPr/>
          </p:nvSpPr>
          <p:spPr>
            <a:xfrm>
              <a:off x="4039" y="1072"/>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54" name="Text Box 58"/>
            <p:cNvSpPr txBox="1"/>
            <p:nvPr/>
          </p:nvSpPr>
          <p:spPr>
            <a:xfrm>
              <a:off x="3986" y="847"/>
              <a:ext cx="26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S</a:t>
              </a:r>
              <a:endParaRPr lang="en-US" altLang="zh-CN" sz="1800" b="1" baseline="-25000" dirty="0">
                <a:solidFill>
                  <a:srgbClr val="FF0000"/>
                </a:solidFill>
                <a:latin typeface="Times New Roman" panose="02020603050405020304" pitchFamily="18" charset="0"/>
              </a:endParaRPr>
            </a:p>
          </p:txBody>
        </p:sp>
        <p:sp>
          <p:nvSpPr>
            <p:cNvPr id="33855" name="Text Box 59"/>
            <p:cNvSpPr txBox="1"/>
            <p:nvPr/>
          </p:nvSpPr>
          <p:spPr>
            <a:xfrm>
              <a:off x="3898" y="1130"/>
              <a:ext cx="483"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3856" name="Line 60"/>
            <p:cNvSpPr/>
            <p:nvPr/>
          </p:nvSpPr>
          <p:spPr>
            <a:xfrm>
              <a:off x="4202" y="1101"/>
              <a:ext cx="126" cy="0"/>
            </a:xfrm>
            <a:prstGeom prst="line">
              <a:avLst/>
            </a:prstGeom>
            <a:ln w="12700" cap="flat" cmpd="sng">
              <a:solidFill>
                <a:schemeClr val="accent2"/>
              </a:solidFill>
              <a:prstDash val="solid"/>
              <a:headEnd type="none" w="med" len="med"/>
              <a:tailEnd type="none" w="med" len="med"/>
            </a:ln>
          </p:spPr>
        </p:sp>
        <p:sp>
          <p:nvSpPr>
            <p:cNvPr id="33857" name="Line 61"/>
            <p:cNvSpPr/>
            <p:nvPr/>
          </p:nvSpPr>
          <p:spPr>
            <a:xfrm>
              <a:off x="4328" y="1101"/>
              <a:ext cx="0" cy="501"/>
            </a:xfrm>
            <a:prstGeom prst="line">
              <a:avLst/>
            </a:prstGeom>
            <a:ln w="12700" cap="flat" cmpd="sng">
              <a:solidFill>
                <a:schemeClr val="accent2"/>
              </a:solidFill>
              <a:prstDash val="solid"/>
              <a:headEnd type="none" w="med" len="med"/>
              <a:tailEnd type="none" w="med" len="med"/>
            </a:ln>
          </p:spPr>
        </p:sp>
        <p:sp>
          <p:nvSpPr>
            <p:cNvPr id="33858" name="Line 62"/>
            <p:cNvSpPr/>
            <p:nvPr/>
          </p:nvSpPr>
          <p:spPr>
            <a:xfrm>
              <a:off x="3702" y="968"/>
              <a:ext cx="0" cy="309"/>
            </a:xfrm>
            <a:prstGeom prst="line">
              <a:avLst/>
            </a:prstGeom>
            <a:ln w="12700" cap="flat" cmpd="sng">
              <a:solidFill>
                <a:schemeClr val="accent2"/>
              </a:solidFill>
              <a:prstDash val="solid"/>
              <a:headEnd type="none" w="med" len="med"/>
              <a:tailEnd type="none" w="med" len="med"/>
            </a:ln>
          </p:spPr>
        </p:sp>
        <p:sp>
          <p:nvSpPr>
            <p:cNvPr id="33859" name="Oval 63"/>
            <p:cNvSpPr/>
            <p:nvPr/>
          </p:nvSpPr>
          <p:spPr>
            <a:xfrm>
              <a:off x="3672" y="90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3860" name="Text Box 64"/>
            <p:cNvSpPr txBox="1"/>
            <p:nvPr/>
          </p:nvSpPr>
          <p:spPr>
            <a:xfrm>
              <a:off x="3385" y="798"/>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3861" name="Text Box 65"/>
            <p:cNvSpPr txBox="1"/>
            <p:nvPr/>
          </p:nvSpPr>
          <p:spPr>
            <a:xfrm>
              <a:off x="3172" y="3252"/>
              <a:ext cx="1696" cy="248"/>
            </a:xfrm>
            <a:prstGeom prst="rect">
              <a:avLst/>
            </a:prstGeom>
            <a:noFill/>
            <a:ln w="9525">
              <a:noFill/>
            </a:ln>
          </p:spPr>
          <p:txBody>
            <a:bodyPr wrap="none">
              <a:spAutoFit/>
            </a:bodyPr>
            <a:p>
              <a:pPr eaLnBrk="1" hangingPunct="1">
                <a:lnSpc>
                  <a:spcPct val="90000"/>
                </a:lnSpc>
              </a:pPr>
              <a:r>
                <a:rPr lang="en-US" altLang="zh-CN" sz="2200" b="1" dirty="0">
                  <a:solidFill>
                    <a:srgbClr val="000099"/>
                  </a:solidFill>
                  <a:latin typeface="Times New Roman" panose="02020603050405020304" pitchFamily="18" charset="0"/>
                </a:rPr>
                <a:t>AD521</a:t>
              </a:r>
              <a:r>
                <a:rPr lang="zh-CN" altLang="en-US" sz="2200" b="1" dirty="0">
                  <a:solidFill>
                    <a:srgbClr val="000099"/>
                  </a:solidFill>
                  <a:latin typeface="Times New Roman" panose="02020603050405020304" pitchFamily="18" charset="0"/>
                </a:rPr>
                <a:t>基本连接方法</a:t>
              </a:r>
              <a:endParaRPr lang="zh-CN" altLang="en-US" sz="2200" b="1" dirty="0">
                <a:solidFill>
                  <a:srgbClr val="000099"/>
                </a:solidFill>
                <a:latin typeface="Times New Roman" panose="02020603050405020304" pitchFamily="18" charset="0"/>
              </a:endParaRPr>
            </a:p>
          </p:txBody>
        </p:sp>
      </p:grpSp>
      <p:sp>
        <p:nvSpPr>
          <p:cNvPr id="2407490" name="Text Box 66"/>
          <p:cNvSpPr txBox="1"/>
          <p:nvPr/>
        </p:nvSpPr>
        <p:spPr>
          <a:xfrm>
            <a:off x="287338" y="1736725"/>
            <a:ext cx="3532187" cy="1077913"/>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2"/>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14</a:t>
            </a:r>
            <a:r>
              <a:rPr lang="zh-CN" altLang="en-US" sz="2400" b="1" dirty="0">
                <a:solidFill>
                  <a:schemeClr val="tx2"/>
                </a:solidFill>
                <a:latin typeface="黑体" panose="02010609060101010101" pitchFamily="49" charset="-122"/>
                <a:ea typeface="黑体" panose="02010609060101010101" pitchFamily="49" charset="-122"/>
              </a:rPr>
              <a:t>用于外接电阻</a:t>
            </a:r>
            <a:r>
              <a:rPr lang="en-US" altLang="zh-CN" sz="2400" b="1" dirty="0">
                <a:solidFill>
                  <a:srgbClr val="FF0000"/>
                </a:solidFill>
                <a:latin typeface="Times New Roman" panose="02020603050405020304" pitchFamily="18" charset="0"/>
                <a:ea typeface="黑体" panose="02010609060101010101" pitchFamily="49" charset="-122"/>
              </a:rPr>
              <a:t>R</a:t>
            </a:r>
            <a:r>
              <a:rPr lang="en-US" altLang="zh-CN" sz="2400" b="1" baseline="-25000" dirty="0">
                <a:solidFill>
                  <a:srgbClr val="FF0000"/>
                </a:solidFill>
                <a:latin typeface="Times New Roman" panose="02020603050405020304" pitchFamily="18" charset="0"/>
                <a:ea typeface="黑体" panose="02010609060101010101" pitchFamily="49" charset="-122"/>
              </a:rPr>
              <a:t>G</a:t>
            </a:r>
            <a:r>
              <a:rPr lang="zh-CN" altLang="en-US" sz="2400" b="1" dirty="0">
                <a:solidFill>
                  <a:schemeClr val="tx2"/>
                </a:solidFill>
                <a:latin typeface="黑体" panose="02010609060101010101" pitchFamily="49" charset="-122"/>
                <a:ea typeface="黑体" panose="02010609060101010101" pitchFamily="49" charset="-122"/>
              </a:rPr>
              <a:t>，用于调整放大倍数。</a:t>
            </a:r>
            <a:endParaRPr lang="zh-CN" altLang="en-US" sz="2400" b="1" dirty="0">
              <a:solidFill>
                <a:schemeClr val="tx2"/>
              </a:solidFill>
              <a:latin typeface="黑体" panose="02010609060101010101" pitchFamily="49" charset="-122"/>
              <a:ea typeface="黑体" panose="02010609060101010101" pitchFamily="49" charset="-122"/>
            </a:endParaRPr>
          </a:p>
        </p:txBody>
      </p:sp>
      <p:sp>
        <p:nvSpPr>
          <p:cNvPr id="2407491" name="Rectangle 67"/>
          <p:cNvSpPr/>
          <p:nvPr/>
        </p:nvSpPr>
        <p:spPr>
          <a:xfrm>
            <a:off x="287338" y="2941638"/>
            <a:ext cx="3532187" cy="749300"/>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测量放大器的放大倍数：</a:t>
            </a:r>
            <a:endParaRPr lang="zh-CN" altLang="en-US" sz="2400" b="1" dirty="0">
              <a:solidFill>
                <a:schemeClr val="tx2"/>
              </a:solidFill>
              <a:latin typeface="黑体" panose="02010609060101010101" pitchFamily="49" charset="-122"/>
              <a:ea typeface="黑体" panose="02010609060101010101" pitchFamily="49" charset="-122"/>
            </a:endParaRPr>
          </a:p>
        </p:txBody>
      </p:sp>
      <p:graphicFrame>
        <p:nvGraphicFramePr>
          <p:cNvPr id="2407492" name="Object 68"/>
          <p:cNvGraphicFramePr>
            <a:graphicFrameLocks noChangeAspect="1"/>
          </p:cNvGraphicFramePr>
          <p:nvPr/>
        </p:nvGraphicFramePr>
        <p:xfrm>
          <a:off x="779463" y="3824288"/>
          <a:ext cx="2413000" cy="982662"/>
        </p:xfrm>
        <a:graphic>
          <a:graphicData uri="http://schemas.openxmlformats.org/presentationml/2006/ole">
            <mc:AlternateContent xmlns:mc="http://schemas.openxmlformats.org/markup-compatibility/2006">
              <mc:Choice xmlns:v="urn:schemas-microsoft-com:vml" Requires="v">
                <p:oleObj spid="_x0000_s3076" name="" r:id="rId1" imgW="1002665" imgH="431800" progId="Equation.3">
                  <p:embed/>
                </p:oleObj>
              </mc:Choice>
              <mc:Fallback>
                <p:oleObj name="" r:id="rId1" imgW="1002665" imgH="431800" progId="Equation.3">
                  <p:embed/>
                  <p:pic>
                    <p:nvPicPr>
                      <p:cNvPr id="0" name="图片 3075"/>
                      <p:cNvPicPr/>
                      <p:nvPr/>
                    </p:nvPicPr>
                    <p:blipFill>
                      <a:blip r:embed="rId2"/>
                      <a:stretch>
                        <a:fillRect/>
                      </a:stretch>
                    </p:blipFill>
                    <p:spPr>
                      <a:xfrm>
                        <a:off x="779463" y="3824288"/>
                        <a:ext cx="2413000" cy="982662"/>
                      </a:xfrm>
                      <a:prstGeom prst="rect">
                        <a:avLst/>
                      </a:prstGeom>
                      <a:solidFill>
                        <a:srgbClr val="CCFFFF"/>
                      </a:solidFill>
                      <a:ln w="38100">
                        <a:noFill/>
                        <a:miter/>
                      </a:ln>
                    </p:spPr>
                  </p:pic>
                </p:oleObj>
              </mc:Fallback>
            </mc:AlternateContent>
          </a:graphicData>
        </a:graphic>
      </p:graphicFrame>
      <p:sp>
        <p:nvSpPr>
          <p:cNvPr id="2407493" name="Text Box 69"/>
          <p:cNvSpPr txBox="1"/>
          <p:nvPr/>
        </p:nvSpPr>
        <p:spPr>
          <a:xfrm>
            <a:off x="230188" y="5019675"/>
            <a:ext cx="3589337" cy="749300"/>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其放大倍数可在</a:t>
            </a:r>
            <a:r>
              <a:rPr lang="en-US" altLang="zh-CN" sz="2400" b="1" dirty="0">
                <a:solidFill>
                  <a:srgbClr val="FF0000"/>
                </a:solidFill>
                <a:latin typeface="Times New Roman" panose="02020603050405020304" pitchFamily="18" charset="0"/>
                <a:ea typeface="黑体" panose="02010609060101010101" pitchFamily="49" charset="-122"/>
              </a:rPr>
              <a:t>1</a:t>
            </a:r>
            <a:r>
              <a:rPr lang="zh-CN" altLang="en-US" sz="2400" b="1" dirty="0">
                <a:solidFill>
                  <a:srgbClr val="FF0000"/>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1000</a:t>
            </a:r>
            <a:r>
              <a:rPr lang="zh-CN" altLang="en-US" sz="2400" b="1" dirty="0">
                <a:solidFill>
                  <a:schemeClr val="tx2"/>
                </a:solidFill>
                <a:latin typeface="黑体" panose="02010609060101010101" pitchFamily="49" charset="-122"/>
                <a:ea typeface="黑体" panose="02010609060101010101" pitchFamily="49" charset="-122"/>
              </a:rPr>
              <a:t>的范围内调整。</a:t>
            </a:r>
            <a:endParaRPr lang="zh-CN" altLang="en-US" sz="2400" b="1" dirty="0">
              <a:solidFill>
                <a:schemeClr val="tx2"/>
              </a:solidFill>
              <a:latin typeface="黑体" panose="02010609060101010101" pitchFamily="49" charset="-122"/>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7490"/>
                                        </p:tgtEl>
                                        <p:attrNameLst>
                                          <p:attrName>style.visibility</p:attrName>
                                        </p:attrNameLst>
                                      </p:cBhvr>
                                      <p:to>
                                        <p:strVal val="visible"/>
                                      </p:to>
                                    </p:set>
                                    <p:animEffect transition="in" filter="dissolve">
                                      <p:cBhvr>
                                        <p:cTn id="7" dur="500"/>
                                        <p:tgtEl>
                                          <p:spTgt spid="240749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07491"/>
                                        </p:tgtEl>
                                        <p:attrNameLst>
                                          <p:attrName>style.visibility</p:attrName>
                                        </p:attrNameLst>
                                      </p:cBhvr>
                                      <p:to>
                                        <p:strVal val="visible"/>
                                      </p:to>
                                    </p:set>
                                    <p:animEffect transition="in" filter="dissolve">
                                      <p:cBhvr>
                                        <p:cTn id="12" dur="500"/>
                                        <p:tgtEl>
                                          <p:spTgt spid="2407491"/>
                                        </p:tgtEl>
                                      </p:cBhvr>
                                    </p:animEffect>
                                  </p:childTnLst>
                                </p:cTn>
                              </p:par>
                              <p:par>
                                <p:cTn id="13" presetID="9" presetClass="entr" presetSubtype="0" fill="hold" nodeType="withEffect">
                                  <p:stCondLst>
                                    <p:cond delay="0"/>
                                  </p:stCondLst>
                                  <p:childTnLst>
                                    <p:set>
                                      <p:cBhvr>
                                        <p:cTn id="14" dur="1" fill="hold">
                                          <p:stCondLst>
                                            <p:cond delay="0"/>
                                          </p:stCondLst>
                                        </p:cTn>
                                        <p:tgtEl>
                                          <p:spTgt spid="2407492"/>
                                        </p:tgtEl>
                                        <p:attrNameLst>
                                          <p:attrName>style.visibility</p:attrName>
                                        </p:attrNameLst>
                                      </p:cBhvr>
                                      <p:to>
                                        <p:strVal val="visible"/>
                                      </p:to>
                                    </p:set>
                                    <p:animEffect transition="in" filter="dissolve">
                                      <p:cBhvr>
                                        <p:cTn id="15" dur="500"/>
                                        <p:tgtEl>
                                          <p:spTgt spid="240749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07493"/>
                                        </p:tgtEl>
                                        <p:attrNameLst>
                                          <p:attrName>style.visibility</p:attrName>
                                        </p:attrNameLst>
                                      </p:cBhvr>
                                      <p:to>
                                        <p:strVal val="visible"/>
                                      </p:to>
                                    </p:set>
                                    <p:animEffect transition="in" filter="dissolve">
                                      <p:cBhvr>
                                        <p:cTn id="20" dur="500"/>
                                        <p:tgtEl>
                                          <p:spTgt spid="24074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7490" grpId="0"/>
      <p:bldP spid="2407491" grpId="0"/>
      <p:bldP spid="2407493"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8450"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4819" name="Text Box 3"/>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AD521</a:t>
            </a:r>
            <a:endParaRPr lang="en-US" altLang="zh-CN" sz="3600" b="1" dirty="0">
              <a:solidFill>
                <a:srgbClr val="333399"/>
              </a:solidFill>
              <a:latin typeface="Times New Roman" panose="02020603050405020304" pitchFamily="18" charset="0"/>
            </a:endParaRPr>
          </a:p>
        </p:txBody>
      </p:sp>
      <p:grpSp>
        <p:nvGrpSpPr>
          <p:cNvPr id="34820" name="Group 4"/>
          <p:cNvGrpSpPr/>
          <p:nvPr/>
        </p:nvGrpSpPr>
        <p:grpSpPr>
          <a:xfrm>
            <a:off x="3819525" y="1376363"/>
            <a:ext cx="5181600" cy="4316412"/>
            <a:chOff x="2467" y="798"/>
            <a:chExt cx="3264" cy="2719"/>
          </a:xfrm>
        </p:grpSpPr>
        <p:sp>
          <p:nvSpPr>
            <p:cNvPr id="34823" name="Rectangle 5"/>
            <p:cNvSpPr/>
            <p:nvPr/>
          </p:nvSpPr>
          <p:spPr>
            <a:xfrm>
              <a:off x="2467" y="804"/>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24" name="AutoShape 6"/>
            <p:cNvSpPr/>
            <p:nvPr/>
          </p:nvSpPr>
          <p:spPr>
            <a:xfrm rot="5400000">
              <a:off x="3341" y="1127"/>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25" name="Text Box 7"/>
            <p:cNvSpPr txBox="1"/>
            <p:nvPr/>
          </p:nvSpPr>
          <p:spPr>
            <a:xfrm>
              <a:off x="3359" y="125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4826" name="Text Box 8"/>
            <p:cNvSpPr txBox="1"/>
            <p:nvPr/>
          </p:nvSpPr>
          <p:spPr>
            <a:xfrm>
              <a:off x="3363" y="205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4827" name="Text Box 9"/>
            <p:cNvSpPr txBox="1"/>
            <p:nvPr/>
          </p:nvSpPr>
          <p:spPr>
            <a:xfrm>
              <a:off x="3355" y="235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4828" name="Text Box 10"/>
            <p:cNvSpPr txBox="1"/>
            <p:nvPr/>
          </p:nvSpPr>
          <p:spPr>
            <a:xfrm>
              <a:off x="3822" y="2233"/>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4829" name="Text Box 11"/>
            <p:cNvSpPr txBox="1"/>
            <p:nvPr/>
          </p:nvSpPr>
          <p:spPr>
            <a:xfrm>
              <a:off x="3605" y="233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4830" name="Text Box 12"/>
            <p:cNvSpPr txBox="1"/>
            <p:nvPr/>
          </p:nvSpPr>
          <p:spPr>
            <a:xfrm>
              <a:off x="4231" y="202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4831" name="Text Box 13"/>
            <p:cNvSpPr txBox="1"/>
            <p:nvPr/>
          </p:nvSpPr>
          <p:spPr>
            <a:xfrm>
              <a:off x="4657" y="180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4832" name="Text Box 14"/>
            <p:cNvSpPr txBox="1"/>
            <p:nvPr/>
          </p:nvSpPr>
          <p:spPr>
            <a:xfrm>
              <a:off x="3597" y="130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4833" name="Text Box 15"/>
            <p:cNvSpPr txBox="1"/>
            <p:nvPr/>
          </p:nvSpPr>
          <p:spPr>
            <a:xfrm>
              <a:off x="3781" y="14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10</a:t>
              </a:r>
              <a:endParaRPr lang="en-US" altLang="zh-CN" sz="1600" b="1" dirty="0">
                <a:solidFill>
                  <a:srgbClr val="333399"/>
                </a:solidFill>
                <a:latin typeface="Times New Roman" panose="02020603050405020304" pitchFamily="18" charset="0"/>
              </a:endParaRPr>
            </a:p>
          </p:txBody>
        </p:sp>
        <p:sp>
          <p:nvSpPr>
            <p:cNvPr id="34834" name="Text Box 16"/>
            <p:cNvSpPr txBox="1"/>
            <p:nvPr/>
          </p:nvSpPr>
          <p:spPr>
            <a:xfrm>
              <a:off x="4474" y="1892"/>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4835" name="Text Box 17"/>
            <p:cNvSpPr txBox="1"/>
            <p:nvPr/>
          </p:nvSpPr>
          <p:spPr>
            <a:xfrm>
              <a:off x="4473" y="17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4836" name="Text Box 18"/>
            <p:cNvSpPr txBox="1"/>
            <p:nvPr/>
          </p:nvSpPr>
          <p:spPr>
            <a:xfrm>
              <a:off x="4182" y="1591"/>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4837" name="Text Box 19"/>
            <p:cNvSpPr txBox="1"/>
            <p:nvPr/>
          </p:nvSpPr>
          <p:spPr>
            <a:xfrm>
              <a:off x="3355" y="155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4838" name="Oval 20"/>
            <p:cNvSpPr/>
            <p:nvPr/>
          </p:nvSpPr>
          <p:spPr>
            <a:xfrm>
              <a:off x="2625" y="131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39" name="Text Box 21"/>
            <p:cNvSpPr txBox="1"/>
            <p:nvPr/>
          </p:nvSpPr>
          <p:spPr>
            <a:xfrm>
              <a:off x="2467" y="1114"/>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4840" name="Line 22"/>
            <p:cNvSpPr/>
            <p:nvPr/>
          </p:nvSpPr>
          <p:spPr>
            <a:xfrm>
              <a:off x="2691" y="1352"/>
              <a:ext cx="677" cy="0"/>
            </a:xfrm>
            <a:prstGeom prst="line">
              <a:avLst/>
            </a:prstGeom>
            <a:ln w="12700" cap="flat" cmpd="sng">
              <a:solidFill>
                <a:schemeClr val="accent2"/>
              </a:solidFill>
              <a:prstDash val="solid"/>
              <a:headEnd type="none" w="med" len="med"/>
              <a:tailEnd type="none" w="med" len="med"/>
            </a:ln>
          </p:spPr>
        </p:sp>
        <p:sp>
          <p:nvSpPr>
            <p:cNvPr id="34841" name="Text Box 23"/>
            <p:cNvSpPr txBox="1"/>
            <p:nvPr/>
          </p:nvSpPr>
          <p:spPr>
            <a:xfrm>
              <a:off x="2471" y="2513"/>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4842" name="Oval 24"/>
            <p:cNvSpPr/>
            <p:nvPr/>
          </p:nvSpPr>
          <p:spPr>
            <a:xfrm>
              <a:off x="2612" y="241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43" name="Line 25"/>
            <p:cNvSpPr/>
            <p:nvPr/>
          </p:nvSpPr>
          <p:spPr>
            <a:xfrm>
              <a:off x="2675" y="2445"/>
              <a:ext cx="693" cy="0"/>
            </a:xfrm>
            <a:prstGeom prst="line">
              <a:avLst/>
            </a:prstGeom>
            <a:ln w="12700" cap="flat" cmpd="sng">
              <a:solidFill>
                <a:schemeClr val="accent2"/>
              </a:solidFill>
              <a:prstDash val="solid"/>
              <a:headEnd type="none" w="med" len="med"/>
              <a:tailEnd type="none" w="med" len="med"/>
            </a:ln>
          </p:spPr>
        </p:sp>
        <p:sp>
          <p:nvSpPr>
            <p:cNvPr id="34844" name="Line 26"/>
            <p:cNvSpPr/>
            <p:nvPr/>
          </p:nvSpPr>
          <p:spPr>
            <a:xfrm>
              <a:off x="3034" y="1652"/>
              <a:ext cx="334" cy="0"/>
            </a:xfrm>
            <a:prstGeom prst="line">
              <a:avLst/>
            </a:prstGeom>
            <a:ln w="12700" cap="flat" cmpd="sng">
              <a:solidFill>
                <a:schemeClr val="accent2"/>
              </a:solidFill>
              <a:prstDash val="solid"/>
              <a:headEnd type="none" w="med" len="med"/>
              <a:tailEnd type="none" w="med" len="med"/>
            </a:ln>
          </p:spPr>
        </p:sp>
        <p:sp>
          <p:nvSpPr>
            <p:cNvPr id="34845" name="Line 27"/>
            <p:cNvSpPr/>
            <p:nvPr/>
          </p:nvSpPr>
          <p:spPr>
            <a:xfrm>
              <a:off x="3034" y="1652"/>
              <a:ext cx="0" cy="159"/>
            </a:xfrm>
            <a:prstGeom prst="line">
              <a:avLst/>
            </a:prstGeom>
            <a:ln w="12700" cap="flat" cmpd="sng">
              <a:solidFill>
                <a:schemeClr val="accent2"/>
              </a:solidFill>
              <a:prstDash val="solid"/>
              <a:headEnd type="none" w="med" len="med"/>
              <a:tailEnd type="none" w="med" len="med"/>
            </a:ln>
          </p:spPr>
        </p:sp>
        <p:sp>
          <p:nvSpPr>
            <p:cNvPr id="34846" name="Rectangle 28"/>
            <p:cNvSpPr/>
            <p:nvPr/>
          </p:nvSpPr>
          <p:spPr>
            <a:xfrm>
              <a:off x="3001" y="1811"/>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47" name="Text Box 29"/>
            <p:cNvSpPr txBox="1"/>
            <p:nvPr/>
          </p:nvSpPr>
          <p:spPr>
            <a:xfrm>
              <a:off x="2734" y="1783"/>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4848" name="Line 30"/>
            <p:cNvSpPr/>
            <p:nvPr/>
          </p:nvSpPr>
          <p:spPr>
            <a:xfrm>
              <a:off x="3034" y="1978"/>
              <a:ext cx="0" cy="167"/>
            </a:xfrm>
            <a:prstGeom prst="line">
              <a:avLst/>
            </a:prstGeom>
            <a:ln w="12700" cap="flat" cmpd="sng">
              <a:solidFill>
                <a:schemeClr val="accent2"/>
              </a:solidFill>
              <a:prstDash val="solid"/>
              <a:headEnd type="none" w="med" len="med"/>
              <a:tailEnd type="none" w="med" len="med"/>
            </a:ln>
          </p:spPr>
        </p:sp>
        <p:sp>
          <p:nvSpPr>
            <p:cNvPr id="34849" name="Line 31"/>
            <p:cNvSpPr/>
            <p:nvPr/>
          </p:nvSpPr>
          <p:spPr>
            <a:xfrm>
              <a:off x="3034" y="2145"/>
              <a:ext cx="334" cy="0"/>
            </a:xfrm>
            <a:prstGeom prst="line">
              <a:avLst/>
            </a:prstGeom>
            <a:ln w="12700" cap="flat" cmpd="sng">
              <a:solidFill>
                <a:schemeClr val="accent2"/>
              </a:solidFill>
              <a:prstDash val="solid"/>
              <a:headEnd type="none" w="med" len="med"/>
              <a:tailEnd type="none" w="med" len="med"/>
            </a:ln>
          </p:spPr>
        </p:sp>
        <p:sp>
          <p:nvSpPr>
            <p:cNvPr id="34850" name="Line 32"/>
            <p:cNvSpPr/>
            <p:nvPr/>
          </p:nvSpPr>
          <p:spPr>
            <a:xfrm>
              <a:off x="3919" y="2420"/>
              <a:ext cx="0" cy="217"/>
            </a:xfrm>
            <a:prstGeom prst="line">
              <a:avLst/>
            </a:prstGeom>
            <a:ln w="12700" cap="flat" cmpd="sng">
              <a:solidFill>
                <a:schemeClr val="accent2"/>
              </a:solidFill>
              <a:prstDash val="solid"/>
              <a:headEnd type="none" w="med" len="med"/>
              <a:tailEnd type="none" w="med" len="med"/>
            </a:ln>
          </p:spPr>
        </p:sp>
        <p:sp>
          <p:nvSpPr>
            <p:cNvPr id="34851" name="Line 33"/>
            <p:cNvSpPr/>
            <p:nvPr/>
          </p:nvSpPr>
          <p:spPr>
            <a:xfrm>
              <a:off x="3919" y="2637"/>
              <a:ext cx="116" cy="0"/>
            </a:xfrm>
            <a:prstGeom prst="line">
              <a:avLst/>
            </a:prstGeom>
            <a:ln w="12700" cap="flat" cmpd="sng">
              <a:solidFill>
                <a:schemeClr val="accent2"/>
              </a:solidFill>
              <a:prstDash val="solid"/>
              <a:headEnd type="none" w="med" len="med"/>
              <a:tailEnd type="none" w="med" len="med"/>
            </a:ln>
          </p:spPr>
        </p:sp>
        <p:sp>
          <p:nvSpPr>
            <p:cNvPr id="34852" name="Rectangle 34"/>
            <p:cNvSpPr/>
            <p:nvPr/>
          </p:nvSpPr>
          <p:spPr>
            <a:xfrm>
              <a:off x="4035" y="2604"/>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53" name="Text Box 35"/>
            <p:cNvSpPr txBox="1"/>
            <p:nvPr/>
          </p:nvSpPr>
          <p:spPr>
            <a:xfrm>
              <a:off x="3911" y="2445"/>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4854" name="Line 36"/>
            <p:cNvSpPr/>
            <p:nvPr/>
          </p:nvSpPr>
          <p:spPr>
            <a:xfrm>
              <a:off x="4203" y="2637"/>
              <a:ext cx="125" cy="0"/>
            </a:xfrm>
            <a:prstGeom prst="line">
              <a:avLst/>
            </a:prstGeom>
            <a:ln w="12700" cap="flat" cmpd="sng">
              <a:solidFill>
                <a:schemeClr val="accent2"/>
              </a:solidFill>
              <a:prstDash val="solid"/>
              <a:headEnd type="none" w="med" len="med"/>
              <a:tailEnd type="none" w="med" len="med"/>
            </a:ln>
          </p:spPr>
        </p:sp>
        <p:sp>
          <p:nvSpPr>
            <p:cNvPr id="34855" name="Line 37"/>
            <p:cNvSpPr/>
            <p:nvPr/>
          </p:nvSpPr>
          <p:spPr>
            <a:xfrm flipV="1">
              <a:off x="4328" y="2203"/>
              <a:ext cx="0" cy="434"/>
            </a:xfrm>
            <a:prstGeom prst="line">
              <a:avLst/>
            </a:prstGeom>
            <a:ln w="12700" cap="flat" cmpd="sng">
              <a:solidFill>
                <a:schemeClr val="accent2"/>
              </a:solidFill>
              <a:prstDash val="solid"/>
              <a:headEnd type="none" w="med" len="med"/>
              <a:tailEnd type="none" w="med" len="med"/>
            </a:ln>
          </p:spPr>
        </p:sp>
        <p:sp>
          <p:nvSpPr>
            <p:cNvPr id="34856" name="Line 38"/>
            <p:cNvSpPr/>
            <p:nvPr/>
          </p:nvSpPr>
          <p:spPr>
            <a:xfrm>
              <a:off x="3702" y="2529"/>
              <a:ext cx="0" cy="543"/>
            </a:xfrm>
            <a:prstGeom prst="line">
              <a:avLst/>
            </a:prstGeom>
            <a:ln w="12700" cap="flat" cmpd="sng">
              <a:solidFill>
                <a:schemeClr val="accent2"/>
              </a:solidFill>
              <a:prstDash val="solid"/>
              <a:headEnd type="none" w="med" len="med"/>
              <a:tailEnd type="none" w="med" len="med"/>
            </a:ln>
          </p:spPr>
        </p:sp>
        <p:sp>
          <p:nvSpPr>
            <p:cNvPr id="34857" name="Oval 39"/>
            <p:cNvSpPr/>
            <p:nvPr/>
          </p:nvSpPr>
          <p:spPr>
            <a:xfrm>
              <a:off x="3675" y="306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58" name="Text Box 40"/>
            <p:cNvSpPr txBox="1"/>
            <p:nvPr/>
          </p:nvSpPr>
          <p:spPr>
            <a:xfrm>
              <a:off x="3735" y="3010"/>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4859" name="Oval 41"/>
            <p:cNvSpPr/>
            <p:nvPr/>
          </p:nvSpPr>
          <p:spPr>
            <a:xfrm>
              <a:off x="3678" y="2851"/>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60" name="Line 42"/>
            <p:cNvSpPr/>
            <p:nvPr/>
          </p:nvSpPr>
          <p:spPr>
            <a:xfrm>
              <a:off x="3710" y="2880"/>
              <a:ext cx="409" cy="0"/>
            </a:xfrm>
            <a:prstGeom prst="line">
              <a:avLst/>
            </a:prstGeom>
            <a:ln w="12700" cap="flat" cmpd="sng">
              <a:solidFill>
                <a:schemeClr val="accent2"/>
              </a:solidFill>
              <a:prstDash val="solid"/>
              <a:headEnd type="none" w="med" len="med"/>
              <a:tailEnd type="none" w="med" len="med"/>
            </a:ln>
          </p:spPr>
        </p:sp>
        <p:sp>
          <p:nvSpPr>
            <p:cNvPr id="34861" name="Line 43"/>
            <p:cNvSpPr/>
            <p:nvPr/>
          </p:nvSpPr>
          <p:spPr>
            <a:xfrm flipV="1">
              <a:off x="4119" y="2670"/>
              <a:ext cx="0" cy="210"/>
            </a:xfrm>
            <a:prstGeom prst="line">
              <a:avLst/>
            </a:prstGeom>
            <a:ln w="12700" cap="flat" cmpd="sng">
              <a:solidFill>
                <a:schemeClr val="accent2"/>
              </a:solidFill>
              <a:prstDash val="solid"/>
              <a:headEnd type="none" w="med" len="med"/>
              <a:tailEnd type="triangle" w="sm" len="lg"/>
            </a:ln>
          </p:spPr>
        </p:sp>
        <p:sp>
          <p:nvSpPr>
            <p:cNvPr id="34862" name="Line 44"/>
            <p:cNvSpPr/>
            <p:nvPr/>
          </p:nvSpPr>
          <p:spPr>
            <a:xfrm>
              <a:off x="4586" y="2070"/>
              <a:ext cx="0" cy="317"/>
            </a:xfrm>
            <a:prstGeom prst="line">
              <a:avLst/>
            </a:prstGeom>
            <a:ln w="12700" cap="flat" cmpd="sng">
              <a:solidFill>
                <a:schemeClr val="accent2"/>
              </a:solidFill>
              <a:prstDash val="solid"/>
              <a:headEnd type="none" w="med" len="med"/>
              <a:tailEnd type="none" w="med" len="med"/>
            </a:ln>
          </p:spPr>
        </p:sp>
        <p:sp>
          <p:nvSpPr>
            <p:cNvPr id="34863" name="Line 45"/>
            <p:cNvSpPr/>
            <p:nvPr/>
          </p:nvSpPr>
          <p:spPr>
            <a:xfrm>
              <a:off x="4586" y="2387"/>
              <a:ext cx="560" cy="0"/>
            </a:xfrm>
            <a:prstGeom prst="line">
              <a:avLst/>
            </a:prstGeom>
            <a:ln w="12700" cap="flat" cmpd="sng">
              <a:solidFill>
                <a:schemeClr val="accent2"/>
              </a:solidFill>
              <a:prstDash val="solid"/>
              <a:headEnd type="none" w="med" len="med"/>
              <a:tailEnd type="none" w="med" len="med"/>
            </a:ln>
          </p:spPr>
        </p:sp>
        <p:sp>
          <p:nvSpPr>
            <p:cNvPr id="34864" name="Line 46"/>
            <p:cNvSpPr/>
            <p:nvPr/>
          </p:nvSpPr>
          <p:spPr>
            <a:xfrm>
              <a:off x="5146" y="2387"/>
              <a:ext cx="0" cy="184"/>
            </a:xfrm>
            <a:prstGeom prst="line">
              <a:avLst/>
            </a:prstGeom>
            <a:ln w="12700" cap="flat" cmpd="sng">
              <a:solidFill>
                <a:schemeClr val="accent2"/>
              </a:solidFill>
              <a:prstDash val="solid"/>
              <a:headEnd type="none" w="med" len="med"/>
              <a:tailEnd type="none" w="med" len="med"/>
            </a:ln>
          </p:spPr>
        </p:sp>
        <p:sp>
          <p:nvSpPr>
            <p:cNvPr id="34865" name="AutoShape 47"/>
            <p:cNvSpPr/>
            <p:nvPr/>
          </p:nvSpPr>
          <p:spPr>
            <a:xfrm rot="10800000">
              <a:off x="5004" y="2570"/>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66" name="Line 48"/>
            <p:cNvSpPr/>
            <p:nvPr/>
          </p:nvSpPr>
          <p:spPr>
            <a:xfrm>
              <a:off x="4904" y="1903"/>
              <a:ext cx="576" cy="0"/>
            </a:xfrm>
            <a:prstGeom prst="line">
              <a:avLst/>
            </a:prstGeom>
            <a:ln w="12700" cap="flat" cmpd="sng">
              <a:solidFill>
                <a:schemeClr val="accent2"/>
              </a:solidFill>
              <a:prstDash val="solid"/>
              <a:headEnd type="none" w="med" len="med"/>
              <a:tailEnd type="none" w="med" len="med"/>
            </a:ln>
          </p:spPr>
        </p:sp>
        <p:sp>
          <p:nvSpPr>
            <p:cNvPr id="34867" name="Oval 49"/>
            <p:cNvSpPr/>
            <p:nvPr/>
          </p:nvSpPr>
          <p:spPr>
            <a:xfrm>
              <a:off x="5475" y="18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68" name="Text Box 50"/>
            <p:cNvSpPr txBox="1"/>
            <p:nvPr/>
          </p:nvSpPr>
          <p:spPr>
            <a:xfrm>
              <a:off x="5303" y="1968"/>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4869" name="Oval 51"/>
            <p:cNvSpPr/>
            <p:nvPr/>
          </p:nvSpPr>
          <p:spPr>
            <a:xfrm>
              <a:off x="5226" y="187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70" name="Line 52"/>
            <p:cNvSpPr/>
            <p:nvPr/>
          </p:nvSpPr>
          <p:spPr>
            <a:xfrm flipV="1">
              <a:off x="5254" y="1352"/>
              <a:ext cx="0" cy="551"/>
            </a:xfrm>
            <a:prstGeom prst="line">
              <a:avLst/>
            </a:prstGeom>
            <a:ln w="9525" cap="flat" cmpd="sng">
              <a:solidFill>
                <a:schemeClr val="accent2"/>
              </a:solidFill>
              <a:prstDash val="solid"/>
              <a:headEnd type="none" w="med" len="med"/>
              <a:tailEnd type="none" w="med" len="med"/>
            </a:ln>
          </p:spPr>
        </p:sp>
        <p:sp>
          <p:nvSpPr>
            <p:cNvPr id="34871" name="Line 53"/>
            <p:cNvSpPr/>
            <p:nvPr/>
          </p:nvSpPr>
          <p:spPr>
            <a:xfrm flipH="1">
              <a:off x="4586" y="1352"/>
              <a:ext cx="668" cy="0"/>
            </a:xfrm>
            <a:prstGeom prst="line">
              <a:avLst/>
            </a:prstGeom>
            <a:ln w="12700" cap="flat" cmpd="sng">
              <a:solidFill>
                <a:schemeClr val="accent2"/>
              </a:solidFill>
              <a:prstDash val="solid"/>
              <a:headEnd type="none" w="med" len="med"/>
              <a:tailEnd type="none" w="med" len="med"/>
            </a:ln>
          </p:spPr>
        </p:sp>
        <p:sp>
          <p:nvSpPr>
            <p:cNvPr id="34872" name="Line 54"/>
            <p:cNvSpPr/>
            <p:nvPr/>
          </p:nvSpPr>
          <p:spPr>
            <a:xfrm>
              <a:off x="4586" y="1352"/>
              <a:ext cx="0" cy="384"/>
            </a:xfrm>
            <a:prstGeom prst="line">
              <a:avLst/>
            </a:prstGeom>
            <a:ln w="12700" cap="flat" cmpd="sng">
              <a:solidFill>
                <a:schemeClr val="accent2"/>
              </a:solidFill>
              <a:prstDash val="solid"/>
              <a:headEnd type="none" w="med" len="med"/>
              <a:tailEnd type="none" w="med" len="med"/>
            </a:ln>
          </p:spPr>
        </p:sp>
        <p:sp>
          <p:nvSpPr>
            <p:cNvPr id="34873" name="Line 55"/>
            <p:cNvSpPr/>
            <p:nvPr/>
          </p:nvSpPr>
          <p:spPr>
            <a:xfrm flipV="1">
              <a:off x="3919" y="1093"/>
              <a:ext cx="0" cy="285"/>
            </a:xfrm>
            <a:prstGeom prst="line">
              <a:avLst/>
            </a:prstGeom>
            <a:ln w="12700" cap="flat" cmpd="sng">
              <a:solidFill>
                <a:schemeClr val="accent2"/>
              </a:solidFill>
              <a:prstDash val="solid"/>
              <a:headEnd type="none" w="med" len="med"/>
              <a:tailEnd type="none" w="med" len="med"/>
            </a:ln>
          </p:spPr>
        </p:sp>
        <p:sp>
          <p:nvSpPr>
            <p:cNvPr id="34874" name="Line 56"/>
            <p:cNvSpPr/>
            <p:nvPr/>
          </p:nvSpPr>
          <p:spPr>
            <a:xfrm>
              <a:off x="3919" y="1101"/>
              <a:ext cx="116" cy="0"/>
            </a:xfrm>
            <a:prstGeom prst="line">
              <a:avLst/>
            </a:prstGeom>
            <a:ln w="12700" cap="flat" cmpd="sng">
              <a:solidFill>
                <a:schemeClr val="accent2"/>
              </a:solidFill>
              <a:prstDash val="solid"/>
              <a:headEnd type="none" w="med" len="med"/>
              <a:tailEnd type="none" w="med" len="med"/>
            </a:ln>
          </p:spPr>
        </p:sp>
        <p:sp>
          <p:nvSpPr>
            <p:cNvPr id="34875" name="Rectangle 57"/>
            <p:cNvSpPr/>
            <p:nvPr/>
          </p:nvSpPr>
          <p:spPr>
            <a:xfrm>
              <a:off x="4039" y="1072"/>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76" name="Text Box 58"/>
            <p:cNvSpPr txBox="1"/>
            <p:nvPr/>
          </p:nvSpPr>
          <p:spPr>
            <a:xfrm>
              <a:off x="3986" y="847"/>
              <a:ext cx="26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S</a:t>
              </a:r>
              <a:endParaRPr lang="en-US" altLang="zh-CN" sz="1800" b="1" baseline="-25000" dirty="0">
                <a:solidFill>
                  <a:srgbClr val="FF0000"/>
                </a:solidFill>
                <a:latin typeface="Times New Roman" panose="02020603050405020304" pitchFamily="18" charset="0"/>
              </a:endParaRPr>
            </a:p>
          </p:txBody>
        </p:sp>
        <p:sp>
          <p:nvSpPr>
            <p:cNvPr id="34877" name="Text Box 59"/>
            <p:cNvSpPr txBox="1"/>
            <p:nvPr/>
          </p:nvSpPr>
          <p:spPr>
            <a:xfrm>
              <a:off x="3898" y="1130"/>
              <a:ext cx="483"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4878" name="Line 60"/>
            <p:cNvSpPr/>
            <p:nvPr/>
          </p:nvSpPr>
          <p:spPr>
            <a:xfrm>
              <a:off x="4202" y="1101"/>
              <a:ext cx="126" cy="0"/>
            </a:xfrm>
            <a:prstGeom prst="line">
              <a:avLst/>
            </a:prstGeom>
            <a:ln w="12700" cap="flat" cmpd="sng">
              <a:solidFill>
                <a:schemeClr val="accent2"/>
              </a:solidFill>
              <a:prstDash val="solid"/>
              <a:headEnd type="none" w="med" len="med"/>
              <a:tailEnd type="none" w="med" len="med"/>
            </a:ln>
          </p:spPr>
        </p:sp>
        <p:sp>
          <p:nvSpPr>
            <p:cNvPr id="34879" name="Line 61"/>
            <p:cNvSpPr/>
            <p:nvPr/>
          </p:nvSpPr>
          <p:spPr>
            <a:xfrm>
              <a:off x="4328" y="1101"/>
              <a:ext cx="0" cy="501"/>
            </a:xfrm>
            <a:prstGeom prst="line">
              <a:avLst/>
            </a:prstGeom>
            <a:ln w="12700" cap="flat" cmpd="sng">
              <a:solidFill>
                <a:schemeClr val="accent2"/>
              </a:solidFill>
              <a:prstDash val="solid"/>
              <a:headEnd type="none" w="med" len="med"/>
              <a:tailEnd type="none" w="med" len="med"/>
            </a:ln>
          </p:spPr>
        </p:sp>
        <p:sp>
          <p:nvSpPr>
            <p:cNvPr id="34880" name="Line 62"/>
            <p:cNvSpPr/>
            <p:nvPr/>
          </p:nvSpPr>
          <p:spPr>
            <a:xfrm>
              <a:off x="3702" y="968"/>
              <a:ext cx="0" cy="309"/>
            </a:xfrm>
            <a:prstGeom prst="line">
              <a:avLst/>
            </a:prstGeom>
            <a:ln w="12700" cap="flat" cmpd="sng">
              <a:solidFill>
                <a:schemeClr val="accent2"/>
              </a:solidFill>
              <a:prstDash val="solid"/>
              <a:headEnd type="none" w="med" len="med"/>
              <a:tailEnd type="none" w="med" len="med"/>
            </a:ln>
          </p:spPr>
        </p:sp>
        <p:sp>
          <p:nvSpPr>
            <p:cNvPr id="34881" name="Oval 63"/>
            <p:cNvSpPr/>
            <p:nvPr/>
          </p:nvSpPr>
          <p:spPr>
            <a:xfrm>
              <a:off x="3672" y="90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4882" name="Text Box 64"/>
            <p:cNvSpPr txBox="1"/>
            <p:nvPr/>
          </p:nvSpPr>
          <p:spPr>
            <a:xfrm>
              <a:off x="3385" y="798"/>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dirty="0">
                  <a:solidFill>
                    <a:srgbClr val="FF0000"/>
                  </a:solidFill>
                  <a:latin typeface="Times New Roman" panose="02020603050405020304" pitchFamily="18" charset="0"/>
                </a:rPr>
                <a:t>+</a:t>
              </a:r>
              <a:endParaRPr lang="en-US" altLang="zh-CN" sz="1800" b="1" dirty="0">
                <a:solidFill>
                  <a:srgbClr val="FF0000"/>
                </a:solidFill>
                <a:latin typeface="Times New Roman" panose="02020603050405020304" pitchFamily="18" charset="0"/>
              </a:endParaRPr>
            </a:p>
          </p:txBody>
        </p:sp>
        <p:sp>
          <p:nvSpPr>
            <p:cNvPr id="34883" name="Text Box 65"/>
            <p:cNvSpPr txBox="1"/>
            <p:nvPr/>
          </p:nvSpPr>
          <p:spPr>
            <a:xfrm>
              <a:off x="3172" y="3252"/>
              <a:ext cx="1696" cy="248"/>
            </a:xfrm>
            <a:prstGeom prst="rect">
              <a:avLst/>
            </a:prstGeom>
            <a:noFill/>
            <a:ln w="9525">
              <a:noFill/>
            </a:ln>
          </p:spPr>
          <p:txBody>
            <a:bodyPr wrap="none">
              <a:spAutoFit/>
            </a:bodyPr>
            <a:p>
              <a:pPr eaLnBrk="1" hangingPunct="1">
                <a:lnSpc>
                  <a:spcPct val="90000"/>
                </a:lnSpc>
              </a:pPr>
              <a:r>
                <a:rPr lang="en-US" altLang="zh-CN" sz="2200" b="1" dirty="0">
                  <a:solidFill>
                    <a:srgbClr val="000099"/>
                  </a:solidFill>
                  <a:latin typeface="Times New Roman" panose="02020603050405020304" pitchFamily="18" charset="0"/>
                </a:rPr>
                <a:t>AD521</a:t>
              </a:r>
              <a:r>
                <a:rPr lang="zh-CN" altLang="en-US" sz="2200" b="1" dirty="0">
                  <a:solidFill>
                    <a:srgbClr val="000099"/>
                  </a:solidFill>
                  <a:latin typeface="Times New Roman" panose="02020603050405020304" pitchFamily="18" charset="0"/>
                </a:rPr>
                <a:t>基本连接方法</a:t>
              </a:r>
              <a:endParaRPr lang="zh-CN" altLang="en-US" sz="2200" b="1" dirty="0">
                <a:solidFill>
                  <a:srgbClr val="000099"/>
                </a:solidFill>
                <a:latin typeface="Times New Roman" panose="02020603050405020304" pitchFamily="18" charset="0"/>
              </a:endParaRPr>
            </a:p>
          </p:txBody>
        </p:sp>
      </p:grpSp>
      <p:sp>
        <p:nvSpPr>
          <p:cNvPr id="2408518" name="Text Box 70"/>
          <p:cNvSpPr txBox="1"/>
          <p:nvPr/>
        </p:nvSpPr>
        <p:spPr>
          <a:xfrm>
            <a:off x="287338" y="1736725"/>
            <a:ext cx="2447925" cy="539750"/>
          </a:xfrm>
          <a:prstGeom prst="rect">
            <a:avLst/>
          </a:prstGeom>
          <a:solidFill>
            <a:srgbClr val="FFCC99"/>
          </a:solidFill>
          <a:ln w="9525" cap="flat" cmpd="sng">
            <a:solidFill>
              <a:srgbClr val="FFCC99"/>
            </a:solidFill>
            <a:prstDash val="solid"/>
            <a:miter/>
            <a:headEnd type="none" w="med" len="med"/>
            <a:tailEnd type="none" w="med" len="med"/>
          </a:ln>
        </p:spPr>
        <p:txBody>
          <a:bodyPr>
            <a:spAutoFit/>
          </a:bodyPr>
          <a:p>
            <a:pPr eaLnBrk="1" hangingPunct="1">
              <a:lnSpc>
                <a:spcPct val="90000"/>
              </a:lnSpc>
              <a:spcBef>
                <a:spcPct val="50000"/>
              </a:spcBef>
            </a:pPr>
            <a:r>
              <a:rPr lang="zh-CN" altLang="en-US" sz="3200" b="1" dirty="0">
                <a:solidFill>
                  <a:srgbClr val="333399"/>
                </a:solidFill>
                <a:latin typeface="Times New Roman" panose="02020603050405020304" pitchFamily="18" charset="0"/>
              </a:rPr>
              <a:t>技术指标：</a:t>
            </a:r>
            <a:endParaRPr lang="zh-CN" altLang="en-US" sz="3200" b="1" dirty="0">
              <a:solidFill>
                <a:srgbClr val="333399"/>
              </a:solidFill>
              <a:latin typeface="Times New Roman" panose="02020603050405020304" pitchFamily="18" charset="0"/>
            </a:endParaRPr>
          </a:p>
        </p:txBody>
      </p:sp>
      <p:sp>
        <p:nvSpPr>
          <p:cNvPr id="2408519" name="Text Box 71"/>
          <p:cNvSpPr txBox="1"/>
          <p:nvPr/>
        </p:nvSpPr>
        <p:spPr>
          <a:xfrm>
            <a:off x="176213" y="2430463"/>
            <a:ext cx="3711575" cy="3451225"/>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共模抑制比</a:t>
            </a:r>
            <a:r>
              <a:rPr lang="en-US" altLang="zh-CN" sz="2400" b="1" dirty="0">
                <a:solidFill>
                  <a:srgbClr val="FF0000"/>
                </a:solidFill>
                <a:latin typeface="Times New Roman" panose="02020603050405020304" pitchFamily="18" charset="0"/>
                <a:ea typeface="黑体" panose="02010609060101010101" pitchFamily="49" charset="-122"/>
              </a:rPr>
              <a:t>&gt;</a:t>
            </a:r>
            <a:r>
              <a:rPr lang="en-US" altLang="zh-CN" sz="2400" b="1" dirty="0">
                <a:solidFill>
                  <a:srgbClr val="FF0000"/>
                </a:solidFill>
                <a:latin typeface="黑体" panose="02010609060101010101" pitchFamily="49" charset="-122"/>
                <a:ea typeface="黑体" panose="02010609060101010101" pitchFamily="49" charset="-122"/>
              </a:rPr>
              <a:t>100dB </a:t>
            </a:r>
            <a:r>
              <a:rPr lang="en-US" altLang="zh-CN" sz="2400" b="1" dirty="0">
                <a:solidFill>
                  <a:schemeClr val="tx1"/>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G=100</a:t>
            </a:r>
            <a:r>
              <a:rPr lang="zh-CN" altLang="en-US" sz="2400" b="1" dirty="0">
                <a:solidFill>
                  <a:schemeClr val="tx1"/>
                </a:solidFill>
                <a:latin typeface="黑体" panose="02010609060101010101" pitchFamily="49" charset="-122"/>
                <a:ea typeface="黑体" panose="02010609060101010101" pitchFamily="49" charset="-122"/>
              </a:rPr>
              <a:t>时</a:t>
            </a:r>
            <a:r>
              <a:rPr lang="en-US" altLang="zh-CN" sz="2400" b="1" dirty="0">
                <a:solidFill>
                  <a:schemeClr val="tx1"/>
                </a:solidFill>
                <a:latin typeface="黑体" panose="02010609060101010101" pitchFamily="49" charset="-122"/>
                <a:ea typeface="黑体" panose="02010609060101010101" pitchFamily="49" charset="-122"/>
              </a:rPr>
              <a:t>)</a:t>
            </a:r>
            <a:r>
              <a:rPr lang="zh-CN" altLang="en-US" sz="2400" b="1" dirty="0">
                <a:solidFill>
                  <a:schemeClr val="tx2"/>
                </a:solidFill>
                <a:latin typeface="黑体" panose="02010609060101010101" pitchFamily="49" charset="-122"/>
                <a:ea typeface="黑体" panose="02010609060101010101" pitchFamily="49" charset="-122"/>
              </a:rPr>
              <a:t>；</a:t>
            </a:r>
            <a:endParaRPr lang="zh-CN" altLang="en-US" sz="2400" b="1" dirty="0">
              <a:solidFill>
                <a:schemeClr val="tx2"/>
              </a:solidFill>
              <a:latin typeface="黑体" panose="02010609060101010101" pitchFamily="49" charset="-122"/>
              <a:ea typeface="黑体" panose="02010609060101010101" pitchFamily="49" charset="-122"/>
            </a:endParaRPr>
          </a:p>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输入阻抗</a:t>
            </a:r>
            <a:r>
              <a:rPr lang="en-US" altLang="zh-CN" sz="2400" b="1" dirty="0">
                <a:solidFill>
                  <a:srgbClr val="FF0000"/>
                </a:solidFill>
                <a:latin typeface="黑体" panose="02010609060101010101" pitchFamily="49" charset="-122"/>
                <a:ea typeface="黑体" panose="02010609060101010101" pitchFamily="49" charset="-122"/>
              </a:rPr>
              <a:t>3</a:t>
            </a:r>
            <a:r>
              <a:rPr lang="en-US" altLang="zh-CN" sz="2400" b="1" dirty="0">
                <a:solidFill>
                  <a:srgbClr val="FF0000"/>
                </a:solidFill>
                <a:latin typeface="黑体" panose="02010609060101010101" pitchFamily="49" charset="-122"/>
                <a:ea typeface="黑体" panose="02010609060101010101" pitchFamily="49" charset="-122"/>
                <a:sym typeface="Symbol" panose="05050102010706020507" pitchFamily="18" charset="2"/>
              </a:rPr>
              <a:t>10</a:t>
            </a:r>
            <a:r>
              <a:rPr lang="en-US" altLang="zh-CN" sz="2400" b="1" baseline="30000" dirty="0">
                <a:solidFill>
                  <a:srgbClr val="FF0000"/>
                </a:solidFill>
                <a:latin typeface="黑体" panose="02010609060101010101" pitchFamily="49" charset="-122"/>
                <a:ea typeface="黑体" panose="02010609060101010101" pitchFamily="49" charset="-122"/>
                <a:sym typeface="Symbol" panose="05050102010706020507" pitchFamily="18" charset="2"/>
              </a:rPr>
              <a:t>9</a:t>
            </a:r>
            <a:r>
              <a:rPr lang="en-US" altLang="zh-CN" sz="2400" b="1" dirty="0">
                <a:solidFill>
                  <a:srgbClr val="FF0000"/>
                </a:solidFill>
                <a:latin typeface="黑体" panose="02010609060101010101" pitchFamily="49" charset="-122"/>
                <a:ea typeface="黑体" panose="02010609060101010101" pitchFamily="49" charset="-122"/>
                <a:sym typeface="Symbol" panose="05050102010706020507" pitchFamily="18" charset="2"/>
              </a:rPr>
              <a:t></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endPar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endParaRPr>
          </a:p>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增益带宽大于</a:t>
            </a:r>
            <a:r>
              <a:rPr lang="en-US" altLang="zh-CN" sz="2400" b="1" dirty="0">
                <a:solidFill>
                  <a:srgbClr val="FF0000"/>
                </a:solidFill>
                <a:latin typeface="Times New Roman" panose="02020603050405020304" pitchFamily="18" charset="0"/>
                <a:ea typeface="黑体" panose="02010609060101010101" pitchFamily="49" charset="-122"/>
                <a:sym typeface="Symbol" panose="05050102010706020507" pitchFamily="18" charset="2"/>
              </a:rPr>
              <a:t>2MHz</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endPar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endParaRPr>
          </a:p>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电压放大倍数</a:t>
            </a:r>
            <a:r>
              <a:rPr lang="en-US" altLang="zh-CN" sz="2400" b="1" dirty="0">
                <a:solidFill>
                  <a:srgbClr val="FF0000"/>
                </a:solidFill>
                <a:latin typeface="Times New Roman" panose="02020603050405020304" pitchFamily="18" charset="0"/>
                <a:ea typeface="黑体" panose="02010609060101010101" pitchFamily="49" charset="-122"/>
                <a:sym typeface="Symbol" panose="05050102010706020507" pitchFamily="18" charset="2"/>
              </a:rPr>
              <a:t>1</a:t>
            </a:r>
            <a:r>
              <a:rPr lang="en-US" altLang="zh-CN"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ea typeface="黑体" panose="02010609060101010101" pitchFamily="49" charset="-122"/>
                <a:sym typeface="Symbol" panose="05050102010706020507" pitchFamily="18" charset="2"/>
              </a:rPr>
              <a:t>1000</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endPar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endParaRPr>
          </a:p>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电源电压</a:t>
            </a:r>
            <a:r>
              <a:rPr lang="en-US" altLang="zh-CN" sz="2400" b="1" dirty="0">
                <a:solidFill>
                  <a:srgbClr val="FF0000"/>
                </a:solidFill>
                <a:latin typeface="Times New Roman" panose="02020603050405020304" pitchFamily="18" charset="0"/>
                <a:ea typeface="黑体" panose="02010609060101010101" pitchFamily="49" charset="-122"/>
              </a:rPr>
              <a:t>±(5</a:t>
            </a:r>
            <a:r>
              <a:rPr lang="en-US" altLang="zh-CN"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ea typeface="黑体" panose="02010609060101010101" pitchFamily="49" charset="-122"/>
              </a:rPr>
              <a:t>18)V</a:t>
            </a:r>
            <a:r>
              <a:rPr lang="zh-CN" altLang="en-US" sz="2400" b="1" dirty="0">
                <a:solidFill>
                  <a:schemeClr val="tx1"/>
                </a:solidFill>
                <a:latin typeface="Times New Roman" panose="02020603050405020304" pitchFamily="18" charset="0"/>
                <a:ea typeface="黑体" panose="02010609060101010101" pitchFamily="49" charset="-122"/>
              </a:rPr>
              <a:t>；</a:t>
            </a:r>
            <a:endParaRPr lang="zh-CN" altLang="en-US" sz="2400" b="1" dirty="0">
              <a:solidFill>
                <a:schemeClr val="tx1"/>
              </a:solidFill>
              <a:latin typeface="Times New Roman" panose="02020603050405020304" pitchFamily="18" charset="0"/>
              <a:ea typeface="黑体" panose="02010609060101010101" pitchFamily="49" charset="-122"/>
            </a:endParaRPr>
          </a:p>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过载能力较强，动态特性好。</a:t>
            </a:r>
            <a:endParaRPr lang="zh-CN" altLang="en-US" sz="2400" b="1" dirty="0">
              <a:solidFill>
                <a:schemeClr val="tx2"/>
              </a:solidFill>
              <a:latin typeface="黑体" panose="02010609060101010101" pitchFamily="49" charset="-122"/>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8518"/>
                                        </p:tgtEl>
                                        <p:attrNameLst>
                                          <p:attrName>style.visibility</p:attrName>
                                        </p:attrNameLst>
                                      </p:cBhvr>
                                      <p:to>
                                        <p:strVal val="visible"/>
                                      </p:to>
                                    </p:set>
                                    <p:animEffect transition="in" filter="dissolve">
                                      <p:cBhvr>
                                        <p:cTn id="7" dur="500"/>
                                        <p:tgtEl>
                                          <p:spTgt spid="24085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8519">
                                            <p:txEl>
                                              <p:charRg st="0" end="22"/>
                                            </p:txEl>
                                          </p:spTgt>
                                        </p:tgtEl>
                                        <p:attrNameLst>
                                          <p:attrName>style.visibility</p:attrName>
                                        </p:attrNameLst>
                                      </p:cBhvr>
                                      <p:to>
                                        <p:strVal val="visible"/>
                                      </p:to>
                                    </p:set>
                                    <p:animEffect transition="in" filter="dissolve">
                                      <p:cBhvr>
                                        <p:cTn id="12" dur="500"/>
                                        <p:tgtEl>
                                          <p:spTgt spid="2408519">
                                            <p:txEl>
                                              <p:charRg st="0" end="2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8519">
                                            <p:txEl>
                                              <p:charRg st="22" end="34"/>
                                            </p:txEl>
                                          </p:spTgt>
                                        </p:tgtEl>
                                        <p:attrNameLst>
                                          <p:attrName>style.visibility</p:attrName>
                                        </p:attrNameLst>
                                      </p:cBhvr>
                                      <p:to>
                                        <p:strVal val="visible"/>
                                      </p:to>
                                    </p:set>
                                    <p:animEffect transition="in" filter="dissolve">
                                      <p:cBhvr>
                                        <p:cTn id="17" dur="500"/>
                                        <p:tgtEl>
                                          <p:spTgt spid="2408519">
                                            <p:txEl>
                                              <p:charRg st="22" end="3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8519">
                                            <p:txEl>
                                              <p:charRg st="34" end="46"/>
                                            </p:txEl>
                                          </p:spTgt>
                                        </p:tgtEl>
                                        <p:attrNameLst>
                                          <p:attrName>style.visibility</p:attrName>
                                        </p:attrNameLst>
                                      </p:cBhvr>
                                      <p:to>
                                        <p:strVal val="visible"/>
                                      </p:to>
                                    </p:set>
                                    <p:animEffect transition="in" filter="dissolve">
                                      <p:cBhvr>
                                        <p:cTn id="22" dur="500"/>
                                        <p:tgtEl>
                                          <p:spTgt spid="2408519">
                                            <p:txEl>
                                              <p:charRg st="34" end="4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8519">
                                            <p:txEl>
                                              <p:charRg st="46" end="60"/>
                                            </p:txEl>
                                          </p:spTgt>
                                        </p:tgtEl>
                                        <p:attrNameLst>
                                          <p:attrName>style.visibility</p:attrName>
                                        </p:attrNameLst>
                                      </p:cBhvr>
                                      <p:to>
                                        <p:strVal val="visible"/>
                                      </p:to>
                                    </p:set>
                                    <p:animEffect transition="in" filter="dissolve">
                                      <p:cBhvr>
                                        <p:cTn id="27" dur="500"/>
                                        <p:tgtEl>
                                          <p:spTgt spid="2408519">
                                            <p:txEl>
                                              <p:charRg st="46" end="6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08519">
                                            <p:txEl>
                                              <p:charRg st="60" end="74"/>
                                            </p:txEl>
                                          </p:spTgt>
                                        </p:tgtEl>
                                        <p:attrNameLst>
                                          <p:attrName>style.visibility</p:attrName>
                                        </p:attrNameLst>
                                      </p:cBhvr>
                                      <p:to>
                                        <p:strVal val="visible"/>
                                      </p:to>
                                    </p:set>
                                    <p:animEffect transition="in" filter="dissolve">
                                      <p:cBhvr>
                                        <p:cTn id="32" dur="500"/>
                                        <p:tgtEl>
                                          <p:spTgt spid="2408519">
                                            <p:txEl>
                                              <p:charRg st="60" end="7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08519">
                                            <p:txEl>
                                              <p:charRg st="74" end="88"/>
                                            </p:txEl>
                                          </p:spTgt>
                                        </p:tgtEl>
                                        <p:attrNameLst>
                                          <p:attrName>style.visibility</p:attrName>
                                        </p:attrNameLst>
                                      </p:cBhvr>
                                      <p:to>
                                        <p:strVal val="visible"/>
                                      </p:to>
                                    </p:set>
                                    <p:animEffect transition="in" filter="dissolve">
                                      <p:cBhvr>
                                        <p:cTn id="37" dur="500"/>
                                        <p:tgtEl>
                                          <p:spTgt spid="2408519">
                                            <p:txEl>
                                              <p:charRg st="74" end="8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8518" grpId="0" bldLvl="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9474"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09475" name="Text Box 3"/>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2. AD522</a:t>
            </a:r>
            <a:endParaRPr lang="en-US" altLang="zh-CN" sz="3600" b="1" dirty="0">
              <a:solidFill>
                <a:srgbClr val="333399"/>
              </a:solidFill>
              <a:latin typeface="Times New Roman" panose="02020603050405020304" pitchFamily="18" charset="0"/>
            </a:endParaRPr>
          </a:p>
        </p:txBody>
      </p:sp>
      <p:sp>
        <p:nvSpPr>
          <p:cNvPr id="2409476" name="Rectangle 4"/>
          <p:cNvSpPr/>
          <p:nvPr/>
        </p:nvSpPr>
        <p:spPr>
          <a:xfrm>
            <a:off x="719138" y="1484313"/>
            <a:ext cx="7812087" cy="860425"/>
          </a:xfrm>
          <a:prstGeom prst="rect">
            <a:avLst/>
          </a:prstGeom>
          <a:noFill/>
          <a:ln w="9525">
            <a:noFill/>
          </a:ln>
        </p:spPr>
        <p:txBody>
          <a:bodyPr>
            <a:spAutoFit/>
          </a:bodyPr>
          <a:p>
            <a:pPr eaLnBrk="1" hangingPunct="1">
              <a:lnSpc>
                <a:spcPct val="90000"/>
              </a:lnSpc>
            </a:pPr>
            <a:r>
              <a:rPr lang="en-US" altLang="zh-CN" sz="2800" b="1" dirty="0">
                <a:solidFill>
                  <a:schemeClr val="tx1"/>
                </a:solidFill>
                <a:latin typeface="Times New Roman" panose="02020603050405020304" pitchFamily="18" charset="0"/>
                <a:ea typeface="黑体" panose="02010609060101010101" pitchFamily="49" charset="-122"/>
              </a:rPr>
              <a:t>AD522</a:t>
            </a:r>
            <a:r>
              <a:rPr lang="zh-CN" altLang="en-US" sz="2800" b="1" dirty="0">
                <a:solidFill>
                  <a:schemeClr val="tx1"/>
                </a:solidFill>
                <a:latin typeface="黑体" panose="02010609060101010101" pitchFamily="49" charset="-122"/>
                <a:ea typeface="黑体" panose="02010609060101010101" pitchFamily="49" charset="-122"/>
              </a:rPr>
              <a:t>可以在环境恶劣的工作条件下进行高精度的数据采集。采用</a:t>
            </a:r>
            <a:r>
              <a:rPr lang="en-US" altLang="zh-CN" sz="2800" b="1" dirty="0">
                <a:solidFill>
                  <a:schemeClr val="tx1"/>
                </a:solidFill>
                <a:latin typeface="黑体" panose="02010609060101010101" pitchFamily="49" charset="-122"/>
                <a:ea typeface="黑体" panose="02010609060101010101" pitchFamily="49" charset="-122"/>
              </a:rPr>
              <a:t>14</a:t>
            </a:r>
            <a:r>
              <a:rPr lang="zh-CN" altLang="en-US" sz="2800" b="1" dirty="0">
                <a:solidFill>
                  <a:schemeClr val="tx1"/>
                </a:solidFill>
                <a:latin typeface="黑体" panose="02010609060101010101" pitchFamily="49" charset="-122"/>
                <a:ea typeface="黑体" panose="02010609060101010101" pitchFamily="49" charset="-122"/>
              </a:rPr>
              <a:t>脚双列直插式封装。 </a:t>
            </a:r>
            <a:endParaRPr lang="zh-CN" altLang="en-US" sz="2800" b="1" dirty="0">
              <a:solidFill>
                <a:schemeClr val="tx1"/>
              </a:solidFill>
              <a:latin typeface="黑体" panose="02010609060101010101" pitchFamily="49" charset="-122"/>
              <a:ea typeface="黑体" panose="02010609060101010101" pitchFamily="49" charset="-122"/>
            </a:endParaRPr>
          </a:p>
        </p:txBody>
      </p:sp>
      <p:grpSp>
        <p:nvGrpSpPr>
          <p:cNvPr id="2" name="Group 61"/>
          <p:cNvGrpSpPr/>
          <p:nvPr/>
        </p:nvGrpSpPr>
        <p:grpSpPr>
          <a:xfrm>
            <a:off x="936625" y="2357438"/>
            <a:ext cx="7380288" cy="3735387"/>
            <a:chOff x="816" y="1471"/>
            <a:chExt cx="4649" cy="2353"/>
          </a:xfrm>
        </p:grpSpPr>
        <p:sp>
          <p:nvSpPr>
            <p:cNvPr id="35846" name="Rectangle 6"/>
            <p:cNvSpPr/>
            <p:nvPr/>
          </p:nvSpPr>
          <p:spPr>
            <a:xfrm>
              <a:off x="816" y="1471"/>
              <a:ext cx="4649" cy="235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5847" name="Rectangle 7"/>
            <p:cNvSpPr/>
            <p:nvPr/>
          </p:nvSpPr>
          <p:spPr>
            <a:xfrm>
              <a:off x="2191" y="1580"/>
              <a:ext cx="1318" cy="1917"/>
            </a:xfrm>
            <a:prstGeom prst="rect">
              <a:avLst/>
            </a:prstGeom>
            <a:noFill/>
            <a:ln w="38100" cap="flat" cmpd="sng">
              <a:solidFill>
                <a:srgbClr val="000066"/>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5848" name="Rectangle 8"/>
            <p:cNvSpPr/>
            <p:nvPr/>
          </p:nvSpPr>
          <p:spPr>
            <a:xfrm>
              <a:off x="2243" y="1617"/>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a:t>
              </a:r>
              <a:endParaRPr lang="en-US" altLang="zh-CN" sz="2000" b="1" dirty="0">
                <a:solidFill>
                  <a:schemeClr val="accent2"/>
                </a:solidFill>
                <a:latin typeface="Times New Roman" panose="02020603050405020304" pitchFamily="18" charset="0"/>
              </a:endParaRPr>
            </a:p>
          </p:txBody>
        </p:sp>
        <p:sp>
          <p:nvSpPr>
            <p:cNvPr id="35849" name="Rectangle 9"/>
            <p:cNvSpPr/>
            <p:nvPr/>
          </p:nvSpPr>
          <p:spPr>
            <a:xfrm>
              <a:off x="2265" y="1950"/>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2</a:t>
              </a:r>
              <a:endParaRPr lang="en-US" altLang="zh-CN" sz="2000" b="1" dirty="0">
                <a:solidFill>
                  <a:schemeClr val="accent2"/>
                </a:solidFill>
                <a:latin typeface="Times New Roman" panose="02020603050405020304" pitchFamily="18" charset="0"/>
              </a:endParaRPr>
            </a:p>
          </p:txBody>
        </p:sp>
        <p:sp>
          <p:nvSpPr>
            <p:cNvPr id="35850" name="Rectangle 10"/>
            <p:cNvSpPr/>
            <p:nvPr/>
          </p:nvSpPr>
          <p:spPr>
            <a:xfrm>
              <a:off x="2265" y="2120"/>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3</a:t>
              </a:r>
              <a:endParaRPr lang="en-US" altLang="zh-CN" sz="2000" b="1" dirty="0">
                <a:solidFill>
                  <a:schemeClr val="accent2"/>
                </a:solidFill>
                <a:latin typeface="Times New Roman" panose="02020603050405020304" pitchFamily="18" charset="0"/>
              </a:endParaRPr>
            </a:p>
          </p:txBody>
        </p:sp>
        <p:sp>
          <p:nvSpPr>
            <p:cNvPr id="35851" name="Rectangle 11"/>
            <p:cNvSpPr/>
            <p:nvPr/>
          </p:nvSpPr>
          <p:spPr>
            <a:xfrm>
              <a:off x="2258" y="2446"/>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4</a:t>
              </a:r>
              <a:endParaRPr lang="en-US" altLang="zh-CN" sz="2000" b="1" dirty="0">
                <a:solidFill>
                  <a:schemeClr val="accent2"/>
                </a:solidFill>
                <a:latin typeface="Times New Roman" panose="02020603050405020304" pitchFamily="18" charset="0"/>
              </a:endParaRPr>
            </a:p>
          </p:txBody>
        </p:sp>
        <p:sp>
          <p:nvSpPr>
            <p:cNvPr id="35852" name="Rectangle 12"/>
            <p:cNvSpPr/>
            <p:nvPr/>
          </p:nvSpPr>
          <p:spPr>
            <a:xfrm>
              <a:off x="2265" y="2698"/>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5</a:t>
              </a:r>
              <a:endParaRPr lang="en-US" altLang="zh-CN" sz="2000" b="1" dirty="0">
                <a:solidFill>
                  <a:schemeClr val="accent2"/>
                </a:solidFill>
                <a:latin typeface="Times New Roman" panose="02020603050405020304" pitchFamily="18" charset="0"/>
              </a:endParaRPr>
            </a:p>
          </p:txBody>
        </p:sp>
        <p:sp>
          <p:nvSpPr>
            <p:cNvPr id="35853" name="Rectangle 13"/>
            <p:cNvSpPr/>
            <p:nvPr/>
          </p:nvSpPr>
          <p:spPr>
            <a:xfrm>
              <a:off x="2250" y="2935"/>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6</a:t>
              </a:r>
              <a:endParaRPr lang="en-US" altLang="zh-CN" sz="2000" b="1" dirty="0">
                <a:solidFill>
                  <a:schemeClr val="accent2"/>
                </a:solidFill>
                <a:latin typeface="Times New Roman" panose="02020603050405020304" pitchFamily="18" charset="0"/>
              </a:endParaRPr>
            </a:p>
          </p:txBody>
        </p:sp>
        <p:sp>
          <p:nvSpPr>
            <p:cNvPr id="35854" name="Rectangle 14"/>
            <p:cNvSpPr/>
            <p:nvPr/>
          </p:nvSpPr>
          <p:spPr>
            <a:xfrm>
              <a:off x="2280" y="3260"/>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7</a:t>
              </a:r>
              <a:endParaRPr lang="en-US" altLang="zh-CN" sz="2000" b="1" dirty="0">
                <a:solidFill>
                  <a:schemeClr val="accent2"/>
                </a:solidFill>
                <a:latin typeface="Times New Roman" panose="02020603050405020304" pitchFamily="18" charset="0"/>
              </a:endParaRPr>
            </a:p>
          </p:txBody>
        </p:sp>
        <p:sp>
          <p:nvSpPr>
            <p:cNvPr id="35855" name="Rectangle 15"/>
            <p:cNvSpPr/>
            <p:nvPr/>
          </p:nvSpPr>
          <p:spPr>
            <a:xfrm>
              <a:off x="3361" y="3157"/>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8</a:t>
              </a:r>
              <a:endParaRPr lang="en-US" altLang="zh-CN" sz="2000" b="1" dirty="0">
                <a:solidFill>
                  <a:schemeClr val="accent2"/>
                </a:solidFill>
                <a:latin typeface="Times New Roman" panose="02020603050405020304" pitchFamily="18" charset="0"/>
              </a:endParaRPr>
            </a:p>
          </p:txBody>
        </p:sp>
        <p:sp>
          <p:nvSpPr>
            <p:cNvPr id="35856" name="Rectangle 16"/>
            <p:cNvSpPr/>
            <p:nvPr/>
          </p:nvSpPr>
          <p:spPr>
            <a:xfrm>
              <a:off x="3346" y="2935"/>
              <a:ext cx="8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9</a:t>
              </a:r>
              <a:endParaRPr lang="en-US" altLang="zh-CN" sz="2000" b="1" dirty="0">
                <a:solidFill>
                  <a:schemeClr val="accent2"/>
                </a:solidFill>
                <a:latin typeface="Times New Roman" panose="02020603050405020304" pitchFamily="18" charset="0"/>
              </a:endParaRPr>
            </a:p>
          </p:txBody>
        </p:sp>
        <p:sp>
          <p:nvSpPr>
            <p:cNvPr id="35857" name="Rectangle 17"/>
            <p:cNvSpPr/>
            <p:nvPr/>
          </p:nvSpPr>
          <p:spPr>
            <a:xfrm>
              <a:off x="3294" y="2698"/>
              <a:ext cx="16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10</a:t>
              </a:r>
              <a:endParaRPr lang="en-US" altLang="zh-CN" sz="2000" b="1" dirty="0">
                <a:solidFill>
                  <a:schemeClr val="accent2"/>
                </a:solidFill>
                <a:latin typeface="Times New Roman" panose="02020603050405020304" pitchFamily="18" charset="0"/>
              </a:endParaRPr>
            </a:p>
          </p:txBody>
        </p:sp>
        <p:sp>
          <p:nvSpPr>
            <p:cNvPr id="35858" name="Rectangle 18"/>
            <p:cNvSpPr/>
            <p:nvPr/>
          </p:nvSpPr>
          <p:spPr>
            <a:xfrm>
              <a:off x="3309" y="2453"/>
              <a:ext cx="16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11</a:t>
              </a:r>
              <a:endParaRPr lang="en-US" altLang="zh-CN" sz="2000" b="1" dirty="0">
                <a:solidFill>
                  <a:schemeClr val="accent2"/>
                </a:solidFill>
                <a:latin typeface="Times New Roman" panose="02020603050405020304" pitchFamily="18" charset="0"/>
              </a:endParaRPr>
            </a:p>
          </p:txBody>
        </p:sp>
        <p:sp>
          <p:nvSpPr>
            <p:cNvPr id="35859" name="Rectangle 19"/>
            <p:cNvSpPr/>
            <p:nvPr/>
          </p:nvSpPr>
          <p:spPr>
            <a:xfrm>
              <a:off x="3302" y="1972"/>
              <a:ext cx="16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13</a:t>
              </a:r>
              <a:endParaRPr lang="en-US" altLang="zh-CN" sz="2000" b="1" dirty="0">
                <a:solidFill>
                  <a:schemeClr val="accent2"/>
                </a:solidFill>
                <a:latin typeface="Times New Roman" panose="02020603050405020304" pitchFamily="18" charset="0"/>
              </a:endParaRPr>
            </a:p>
          </p:txBody>
        </p:sp>
        <p:sp>
          <p:nvSpPr>
            <p:cNvPr id="35860" name="Rectangle 20"/>
            <p:cNvSpPr/>
            <p:nvPr/>
          </p:nvSpPr>
          <p:spPr>
            <a:xfrm>
              <a:off x="3302" y="2231"/>
              <a:ext cx="16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12</a:t>
              </a:r>
              <a:endParaRPr lang="en-US" altLang="zh-CN" sz="2000" b="1" dirty="0">
                <a:solidFill>
                  <a:schemeClr val="accent2"/>
                </a:solidFill>
                <a:latin typeface="Times New Roman" panose="02020603050405020304" pitchFamily="18" charset="0"/>
              </a:endParaRPr>
            </a:p>
          </p:txBody>
        </p:sp>
        <p:sp>
          <p:nvSpPr>
            <p:cNvPr id="35861" name="Rectangle 21"/>
            <p:cNvSpPr/>
            <p:nvPr/>
          </p:nvSpPr>
          <p:spPr>
            <a:xfrm>
              <a:off x="3294" y="1750"/>
              <a:ext cx="160" cy="192"/>
            </a:xfrm>
            <a:prstGeom prst="rect">
              <a:avLst/>
            </a:prstGeom>
            <a:noFill/>
            <a:ln w="38100">
              <a:noFill/>
            </a:ln>
          </p:spPr>
          <p:txBody>
            <a:bodyPr wrap="none" lIns="0" tIns="0" rIns="0" bIns="0">
              <a:spAutoFit/>
            </a:bodyPr>
            <a:p>
              <a:pPr algn="just" eaLnBrk="1" hangingPunct="1"/>
              <a:r>
                <a:rPr lang="en-US" altLang="zh-CN" sz="2000" b="1" dirty="0">
                  <a:solidFill>
                    <a:schemeClr val="accent2"/>
                  </a:solidFill>
                  <a:latin typeface="Times New Roman" panose="02020603050405020304" pitchFamily="18" charset="0"/>
                </a:rPr>
                <a:t>14</a:t>
              </a:r>
              <a:endParaRPr lang="en-US" altLang="zh-CN" sz="2000" b="1" dirty="0">
                <a:solidFill>
                  <a:schemeClr val="accent2"/>
                </a:solidFill>
                <a:latin typeface="Times New Roman" panose="02020603050405020304" pitchFamily="18" charset="0"/>
              </a:endParaRPr>
            </a:p>
          </p:txBody>
        </p:sp>
        <p:sp>
          <p:nvSpPr>
            <p:cNvPr id="35862" name="Line 22"/>
            <p:cNvSpPr/>
            <p:nvPr/>
          </p:nvSpPr>
          <p:spPr>
            <a:xfrm flipH="1">
              <a:off x="1747" y="1824"/>
              <a:ext cx="444" cy="1"/>
            </a:xfrm>
            <a:prstGeom prst="line">
              <a:avLst/>
            </a:prstGeom>
            <a:ln w="38100" cap="flat" cmpd="sng">
              <a:solidFill>
                <a:srgbClr val="000066"/>
              </a:solidFill>
              <a:prstDash val="solid"/>
              <a:headEnd type="none" w="med" len="med"/>
              <a:tailEnd type="none" w="med" len="med"/>
            </a:ln>
          </p:spPr>
        </p:sp>
        <p:sp>
          <p:nvSpPr>
            <p:cNvPr id="35863" name="Line 23"/>
            <p:cNvSpPr/>
            <p:nvPr/>
          </p:nvSpPr>
          <p:spPr>
            <a:xfrm flipH="1">
              <a:off x="1746" y="2305"/>
              <a:ext cx="452" cy="0"/>
            </a:xfrm>
            <a:prstGeom prst="line">
              <a:avLst/>
            </a:prstGeom>
            <a:ln w="38100" cap="flat" cmpd="sng">
              <a:solidFill>
                <a:srgbClr val="000066"/>
              </a:solidFill>
              <a:prstDash val="solid"/>
              <a:headEnd type="none" w="med" len="med"/>
              <a:tailEnd type="none" w="med" len="med"/>
            </a:ln>
          </p:spPr>
        </p:sp>
        <p:sp>
          <p:nvSpPr>
            <p:cNvPr id="35864" name="Line 24"/>
            <p:cNvSpPr/>
            <p:nvPr/>
          </p:nvSpPr>
          <p:spPr>
            <a:xfrm flipH="1">
              <a:off x="1753" y="2068"/>
              <a:ext cx="438" cy="0"/>
            </a:xfrm>
            <a:prstGeom prst="line">
              <a:avLst/>
            </a:prstGeom>
            <a:ln w="38100" cap="flat" cmpd="sng">
              <a:solidFill>
                <a:srgbClr val="000066"/>
              </a:solidFill>
              <a:prstDash val="solid"/>
              <a:headEnd type="none" w="med" len="med"/>
              <a:tailEnd type="none" w="med" len="med"/>
            </a:ln>
          </p:spPr>
        </p:sp>
        <p:sp>
          <p:nvSpPr>
            <p:cNvPr id="35865" name="Line 25"/>
            <p:cNvSpPr/>
            <p:nvPr/>
          </p:nvSpPr>
          <p:spPr>
            <a:xfrm flipH="1">
              <a:off x="1747" y="2772"/>
              <a:ext cx="444" cy="1"/>
            </a:xfrm>
            <a:prstGeom prst="line">
              <a:avLst/>
            </a:prstGeom>
            <a:ln w="38100" cap="flat" cmpd="sng">
              <a:solidFill>
                <a:srgbClr val="000066"/>
              </a:solidFill>
              <a:prstDash val="solid"/>
              <a:headEnd type="none" w="med" len="med"/>
              <a:tailEnd type="none" w="med" len="med"/>
            </a:ln>
          </p:spPr>
        </p:sp>
        <p:sp>
          <p:nvSpPr>
            <p:cNvPr id="35866" name="Line 26"/>
            <p:cNvSpPr/>
            <p:nvPr/>
          </p:nvSpPr>
          <p:spPr>
            <a:xfrm flipH="1">
              <a:off x="1747" y="2542"/>
              <a:ext cx="444" cy="1"/>
            </a:xfrm>
            <a:prstGeom prst="line">
              <a:avLst/>
            </a:prstGeom>
            <a:ln w="38100" cap="flat" cmpd="sng">
              <a:solidFill>
                <a:srgbClr val="000066"/>
              </a:solidFill>
              <a:prstDash val="solid"/>
              <a:headEnd type="none" w="med" len="med"/>
              <a:tailEnd type="none" w="med" len="med"/>
            </a:ln>
          </p:spPr>
        </p:sp>
        <p:sp>
          <p:nvSpPr>
            <p:cNvPr id="35867" name="Line 27"/>
            <p:cNvSpPr/>
            <p:nvPr/>
          </p:nvSpPr>
          <p:spPr>
            <a:xfrm flipH="1">
              <a:off x="1753" y="2996"/>
              <a:ext cx="445" cy="1"/>
            </a:xfrm>
            <a:prstGeom prst="line">
              <a:avLst/>
            </a:prstGeom>
            <a:ln w="38100" cap="flat" cmpd="sng">
              <a:solidFill>
                <a:srgbClr val="000066"/>
              </a:solidFill>
              <a:prstDash val="solid"/>
              <a:headEnd type="none" w="med" len="med"/>
              <a:tailEnd type="none" w="med" len="med"/>
            </a:ln>
          </p:spPr>
        </p:sp>
        <p:sp>
          <p:nvSpPr>
            <p:cNvPr id="35868" name="Line 28"/>
            <p:cNvSpPr/>
            <p:nvPr/>
          </p:nvSpPr>
          <p:spPr>
            <a:xfrm flipH="1" flipV="1">
              <a:off x="1732" y="3241"/>
              <a:ext cx="459" cy="0"/>
            </a:xfrm>
            <a:prstGeom prst="line">
              <a:avLst/>
            </a:prstGeom>
            <a:ln w="38100" cap="flat" cmpd="sng">
              <a:solidFill>
                <a:srgbClr val="000066"/>
              </a:solidFill>
              <a:prstDash val="solid"/>
              <a:headEnd type="none" w="med" len="med"/>
              <a:tailEnd type="none" w="med" len="med"/>
            </a:ln>
          </p:spPr>
        </p:sp>
        <p:sp>
          <p:nvSpPr>
            <p:cNvPr id="35869" name="Line 29"/>
            <p:cNvSpPr/>
            <p:nvPr/>
          </p:nvSpPr>
          <p:spPr>
            <a:xfrm flipH="1" flipV="1">
              <a:off x="3509" y="1818"/>
              <a:ext cx="445" cy="0"/>
            </a:xfrm>
            <a:prstGeom prst="line">
              <a:avLst/>
            </a:prstGeom>
            <a:ln w="38100" cap="flat" cmpd="sng">
              <a:solidFill>
                <a:srgbClr val="000066"/>
              </a:solidFill>
              <a:prstDash val="solid"/>
              <a:headEnd type="none" w="med" len="med"/>
              <a:tailEnd type="none" w="med" len="med"/>
            </a:ln>
          </p:spPr>
        </p:sp>
        <p:sp>
          <p:nvSpPr>
            <p:cNvPr id="35870" name="Line 30"/>
            <p:cNvSpPr/>
            <p:nvPr/>
          </p:nvSpPr>
          <p:spPr>
            <a:xfrm flipH="1">
              <a:off x="3509" y="2070"/>
              <a:ext cx="444" cy="0"/>
            </a:xfrm>
            <a:prstGeom prst="line">
              <a:avLst/>
            </a:prstGeom>
            <a:ln w="38100" cap="flat" cmpd="sng">
              <a:solidFill>
                <a:srgbClr val="000066"/>
              </a:solidFill>
              <a:prstDash val="solid"/>
              <a:headEnd type="none" w="med" len="med"/>
              <a:tailEnd type="none" w="med" len="med"/>
            </a:ln>
          </p:spPr>
        </p:sp>
        <p:sp>
          <p:nvSpPr>
            <p:cNvPr id="35871" name="Line 31"/>
            <p:cNvSpPr/>
            <p:nvPr/>
          </p:nvSpPr>
          <p:spPr>
            <a:xfrm flipH="1">
              <a:off x="3509" y="2298"/>
              <a:ext cx="444" cy="1"/>
            </a:xfrm>
            <a:prstGeom prst="line">
              <a:avLst/>
            </a:prstGeom>
            <a:ln w="38100" cap="flat" cmpd="sng">
              <a:solidFill>
                <a:srgbClr val="000066"/>
              </a:solidFill>
              <a:prstDash val="solid"/>
              <a:headEnd type="none" w="med" len="med"/>
              <a:tailEnd type="none" w="med" len="med"/>
            </a:ln>
          </p:spPr>
        </p:sp>
        <p:sp>
          <p:nvSpPr>
            <p:cNvPr id="35872" name="Line 32"/>
            <p:cNvSpPr/>
            <p:nvPr/>
          </p:nvSpPr>
          <p:spPr>
            <a:xfrm flipH="1">
              <a:off x="3509" y="2536"/>
              <a:ext cx="445" cy="1"/>
            </a:xfrm>
            <a:prstGeom prst="line">
              <a:avLst/>
            </a:prstGeom>
            <a:ln w="38100" cap="flat" cmpd="sng">
              <a:solidFill>
                <a:srgbClr val="000066"/>
              </a:solidFill>
              <a:prstDash val="solid"/>
              <a:headEnd type="none" w="med" len="med"/>
              <a:tailEnd type="none" w="med" len="med"/>
            </a:ln>
          </p:spPr>
        </p:sp>
        <p:sp>
          <p:nvSpPr>
            <p:cNvPr id="35873" name="Line 33"/>
            <p:cNvSpPr/>
            <p:nvPr/>
          </p:nvSpPr>
          <p:spPr>
            <a:xfrm flipH="1">
              <a:off x="3510" y="2996"/>
              <a:ext cx="444" cy="1"/>
            </a:xfrm>
            <a:prstGeom prst="line">
              <a:avLst/>
            </a:prstGeom>
            <a:ln w="38100" cap="flat" cmpd="sng">
              <a:solidFill>
                <a:srgbClr val="000066"/>
              </a:solidFill>
              <a:prstDash val="solid"/>
              <a:headEnd type="none" w="med" len="med"/>
              <a:tailEnd type="none" w="med" len="med"/>
            </a:ln>
          </p:spPr>
        </p:sp>
        <p:sp>
          <p:nvSpPr>
            <p:cNvPr id="35874" name="Line 34"/>
            <p:cNvSpPr/>
            <p:nvPr/>
          </p:nvSpPr>
          <p:spPr>
            <a:xfrm flipH="1">
              <a:off x="3510" y="2772"/>
              <a:ext cx="444" cy="1"/>
            </a:xfrm>
            <a:prstGeom prst="line">
              <a:avLst/>
            </a:prstGeom>
            <a:ln w="38100" cap="flat" cmpd="sng">
              <a:solidFill>
                <a:srgbClr val="000066"/>
              </a:solidFill>
              <a:prstDash val="solid"/>
              <a:headEnd type="none" w="med" len="med"/>
              <a:tailEnd type="none" w="med" len="med"/>
            </a:ln>
          </p:spPr>
        </p:sp>
        <p:sp>
          <p:nvSpPr>
            <p:cNvPr id="35875" name="Line 35"/>
            <p:cNvSpPr/>
            <p:nvPr/>
          </p:nvSpPr>
          <p:spPr>
            <a:xfrm flipH="1" flipV="1">
              <a:off x="3510" y="3246"/>
              <a:ext cx="444" cy="1"/>
            </a:xfrm>
            <a:prstGeom prst="line">
              <a:avLst/>
            </a:prstGeom>
            <a:ln w="38100" cap="flat" cmpd="sng">
              <a:solidFill>
                <a:srgbClr val="000066"/>
              </a:solidFill>
              <a:prstDash val="solid"/>
              <a:headEnd type="none" w="med" len="med"/>
              <a:tailEnd type="none" w="med" len="med"/>
            </a:ln>
          </p:spPr>
        </p:sp>
        <p:sp>
          <p:nvSpPr>
            <p:cNvPr id="35876" name="Line 36"/>
            <p:cNvSpPr/>
            <p:nvPr/>
          </p:nvSpPr>
          <p:spPr>
            <a:xfrm>
              <a:off x="2191" y="1824"/>
              <a:ext cx="822" cy="1"/>
            </a:xfrm>
            <a:prstGeom prst="line">
              <a:avLst/>
            </a:prstGeom>
            <a:ln w="25400" cap="flat" cmpd="sng">
              <a:solidFill>
                <a:srgbClr val="FF00FF"/>
              </a:solidFill>
              <a:prstDash val="sysDot"/>
              <a:headEnd type="none" w="med" len="med"/>
              <a:tailEnd type="none" w="med" len="med"/>
            </a:ln>
          </p:spPr>
        </p:sp>
        <p:sp>
          <p:nvSpPr>
            <p:cNvPr id="35877" name="Line 37"/>
            <p:cNvSpPr/>
            <p:nvPr/>
          </p:nvSpPr>
          <p:spPr>
            <a:xfrm>
              <a:off x="3001" y="1818"/>
              <a:ext cx="0" cy="718"/>
            </a:xfrm>
            <a:prstGeom prst="line">
              <a:avLst/>
            </a:prstGeom>
            <a:ln w="25400" cap="flat" cmpd="sng">
              <a:solidFill>
                <a:srgbClr val="FF00FF"/>
              </a:solidFill>
              <a:prstDash val="sysDot"/>
              <a:headEnd type="none" w="med" len="med"/>
              <a:tailEnd type="none" w="med" len="med"/>
            </a:ln>
          </p:spPr>
        </p:sp>
        <p:sp>
          <p:nvSpPr>
            <p:cNvPr id="35878" name="Line 38"/>
            <p:cNvSpPr/>
            <p:nvPr/>
          </p:nvSpPr>
          <p:spPr>
            <a:xfrm>
              <a:off x="2198" y="2305"/>
              <a:ext cx="489" cy="1"/>
            </a:xfrm>
            <a:prstGeom prst="line">
              <a:avLst/>
            </a:prstGeom>
            <a:ln w="25400" cap="flat" cmpd="sng">
              <a:solidFill>
                <a:srgbClr val="FF00FF"/>
              </a:solidFill>
              <a:prstDash val="sysDot"/>
              <a:headEnd type="none" w="med" len="med"/>
              <a:tailEnd type="none" w="med" len="med"/>
            </a:ln>
          </p:spPr>
        </p:sp>
        <p:sp>
          <p:nvSpPr>
            <p:cNvPr id="35879" name="Line 39"/>
            <p:cNvSpPr/>
            <p:nvPr/>
          </p:nvSpPr>
          <p:spPr>
            <a:xfrm flipH="1">
              <a:off x="2687" y="2294"/>
              <a:ext cx="0" cy="246"/>
            </a:xfrm>
            <a:prstGeom prst="line">
              <a:avLst/>
            </a:prstGeom>
            <a:ln w="25400" cap="flat" cmpd="sng">
              <a:solidFill>
                <a:srgbClr val="FF00FF"/>
              </a:solidFill>
              <a:prstDash val="sysDot"/>
              <a:headEnd type="none" w="med" len="med"/>
              <a:tailEnd type="none" w="med" len="med"/>
            </a:ln>
          </p:spPr>
        </p:sp>
        <p:sp>
          <p:nvSpPr>
            <p:cNvPr id="35880" name="Line 40"/>
            <p:cNvSpPr/>
            <p:nvPr/>
          </p:nvSpPr>
          <p:spPr>
            <a:xfrm flipV="1">
              <a:off x="2839" y="2977"/>
              <a:ext cx="1" cy="275"/>
            </a:xfrm>
            <a:prstGeom prst="line">
              <a:avLst/>
            </a:prstGeom>
            <a:ln w="25400" cap="flat" cmpd="sng">
              <a:solidFill>
                <a:srgbClr val="FF00FF"/>
              </a:solidFill>
              <a:prstDash val="sysDot"/>
              <a:headEnd type="none" w="med" len="med"/>
              <a:tailEnd type="none" w="med" len="med"/>
            </a:ln>
          </p:spPr>
        </p:sp>
        <p:sp>
          <p:nvSpPr>
            <p:cNvPr id="35881" name="Rectangle 41"/>
            <p:cNvSpPr/>
            <p:nvPr/>
          </p:nvSpPr>
          <p:spPr>
            <a:xfrm>
              <a:off x="1162" y="3142"/>
              <a:ext cx="433"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OUT</a:t>
              </a:r>
              <a:endParaRPr lang="en-US" altLang="zh-CN" sz="2500" b="1" dirty="0">
                <a:solidFill>
                  <a:schemeClr val="accent2"/>
                </a:solidFill>
                <a:latin typeface="Times New Roman" panose="02020603050405020304" pitchFamily="18" charset="0"/>
              </a:endParaRPr>
            </a:p>
          </p:txBody>
        </p:sp>
        <p:sp>
          <p:nvSpPr>
            <p:cNvPr id="35882" name="Rectangle 42"/>
            <p:cNvSpPr/>
            <p:nvPr/>
          </p:nvSpPr>
          <p:spPr>
            <a:xfrm>
              <a:off x="895" y="2883"/>
              <a:ext cx="827"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OFF SET</a:t>
              </a:r>
              <a:endParaRPr lang="en-US" altLang="zh-CN" sz="2500" b="1" dirty="0">
                <a:solidFill>
                  <a:schemeClr val="accent2"/>
                </a:solidFill>
                <a:latin typeface="Times New Roman" panose="02020603050405020304" pitchFamily="18" charset="0"/>
              </a:endParaRPr>
            </a:p>
          </p:txBody>
        </p:sp>
        <p:sp>
          <p:nvSpPr>
            <p:cNvPr id="35883" name="Rectangle 43"/>
            <p:cNvSpPr/>
            <p:nvPr/>
          </p:nvSpPr>
          <p:spPr>
            <a:xfrm>
              <a:off x="1191" y="2625"/>
              <a:ext cx="381" cy="240"/>
            </a:xfrm>
            <a:prstGeom prst="rect">
              <a:avLst/>
            </a:prstGeom>
            <a:noFill/>
            <a:ln w="38100">
              <a:noFill/>
            </a:ln>
          </p:spPr>
          <p:txBody>
            <a:bodyPr lIns="0" tIns="0" rIns="0" bIns="0">
              <a:spAutoFit/>
            </a:bodyPr>
            <a:p>
              <a:pPr algn="just" eaLnBrk="1" hangingPunct="1">
                <a:buNone/>
              </a:pPr>
              <a:r>
                <a:rPr lang="en-US" altLang="zh-CN" sz="2500" b="1" dirty="0">
                  <a:solidFill>
                    <a:schemeClr val="accent2"/>
                  </a:solidFill>
                  <a:latin typeface="Times New Roman" panose="02020603050405020304" pitchFamily="18" charset="0"/>
                </a:rPr>
                <a:t>V</a:t>
              </a:r>
              <a:r>
                <a:rPr lang="en-US" altLang="zh-CN" sz="2500" b="1" i="1" baseline="-25000" dirty="0">
                  <a:solidFill>
                    <a:schemeClr val="accent2"/>
                  </a:solidFill>
                  <a:latin typeface="Times New Roman" panose="02020603050405020304" pitchFamily="18" charset="0"/>
                  <a:ea typeface="宋体" panose="02010600030101010101" pitchFamily="2" charset="-122"/>
                </a:rPr>
                <a:t>–</a:t>
              </a:r>
              <a:endParaRPr lang="en-US" altLang="zh-CN" sz="2500" b="1" i="1" baseline="-25000" dirty="0">
                <a:solidFill>
                  <a:schemeClr val="accent2"/>
                </a:solidFill>
                <a:latin typeface="Times New Roman" panose="02020603050405020304" pitchFamily="18" charset="0"/>
                <a:ea typeface="宋体" panose="02010600030101010101" pitchFamily="2" charset="-122"/>
              </a:endParaRPr>
            </a:p>
          </p:txBody>
        </p:sp>
        <p:sp>
          <p:nvSpPr>
            <p:cNvPr id="35884" name="Rectangle 44"/>
            <p:cNvSpPr/>
            <p:nvPr/>
          </p:nvSpPr>
          <p:spPr>
            <a:xfrm>
              <a:off x="1191" y="2194"/>
              <a:ext cx="322" cy="240"/>
            </a:xfrm>
            <a:prstGeom prst="rect">
              <a:avLst/>
            </a:prstGeom>
            <a:noFill/>
            <a:ln w="38100">
              <a:noFill/>
            </a:ln>
          </p:spPr>
          <p:txBody>
            <a:bodyPr wrap="none" lIns="0" tIns="0" rIns="0" bIns="0">
              <a:spAutoFit/>
            </a:bodyPr>
            <a:p>
              <a:pPr algn="just" eaLnBrk="1" hangingPunct="1">
                <a:buNone/>
              </a:pPr>
              <a:r>
                <a:rPr lang="en-US" altLang="zh-CN" sz="2500" b="1" dirty="0">
                  <a:solidFill>
                    <a:schemeClr val="accent2"/>
                  </a:solidFill>
                  <a:latin typeface="Times New Roman" panose="02020603050405020304" pitchFamily="18" charset="0"/>
                  <a:ea typeface="宋体" panose="02010600030101010101" pitchFamily="2" charset="-122"/>
                </a:rPr>
                <a:t>–IN</a:t>
              </a:r>
              <a:endParaRPr lang="en-US" altLang="zh-CN" sz="2500" b="1" dirty="0">
                <a:solidFill>
                  <a:schemeClr val="accent2"/>
                </a:solidFill>
                <a:latin typeface="Times New Roman" panose="02020603050405020304" pitchFamily="18" charset="0"/>
                <a:ea typeface="宋体" panose="02010600030101010101" pitchFamily="2" charset="-122"/>
              </a:endParaRPr>
            </a:p>
          </p:txBody>
        </p:sp>
        <p:sp>
          <p:nvSpPr>
            <p:cNvPr id="35885" name="Rectangle 45"/>
            <p:cNvSpPr/>
            <p:nvPr/>
          </p:nvSpPr>
          <p:spPr>
            <a:xfrm>
              <a:off x="1251" y="1928"/>
              <a:ext cx="250"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G</a:t>
              </a:r>
              <a:endParaRPr lang="en-US" altLang="zh-CN" sz="2500" b="1" baseline="-25000" dirty="0">
                <a:solidFill>
                  <a:schemeClr val="accent2"/>
                </a:solidFill>
                <a:latin typeface="Times New Roman" panose="02020603050405020304" pitchFamily="18" charset="0"/>
              </a:endParaRPr>
            </a:p>
          </p:txBody>
        </p:sp>
        <p:sp>
          <p:nvSpPr>
            <p:cNvPr id="35886" name="Rectangle 46"/>
            <p:cNvSpPr/>
            <p:nvPr/>
          </p:nvSpPr>
          <p:spPr>
            <a:xfrm>
              <a:off x="1169" y="1720"/>
              <a:ext cx="336"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+IN</a:t>
              </a:r>
              <a:endParaRPr lang="en-US" altLang="zh-CN" sz="2500" b="1" dirty="0">
                <a:solidFill>
                  <a:schemeClr val="accent2"/>
                </a:solidFill>
                <a:latin typeface="Times New Roman" panose="02020603050405020304" pitchFamily="18" charset="0"/>
              </a:endParaRPr>
            </a:p>
          </p:txBody>
        </p:sp>
        <p:sp>
          <p:nvSpPr>
            <p:cNvPr id="35887" name="Rectangle 47"/>
            <p:cNvSpPr/>
            <p:nvPr/>
          </p:nvSpPr>
          <p:spPr>
            <a:xfrm>
              <a:off x="4057" y="2194"/>
              <a:ext cx="632"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SENSE</a:t>
              </a:r>
              <a:endParaRPr lang="en-US" altLang="zh-CN" sz="2500" b="1" dirty="0">
                <a:solidFill>
                  <a:schemeClr val="accent2"/>
                </a:solidFill>
                <a:latin typeface="Times New Roman" panose="02020603050405020304" pitchFamily="18" charset="0"/>
              </a:endParaRPr>
            </a:p>
          </p:txBody>
        </p:sp>
        <p:sp>
          <p:nvSpPr>
            <p:cNvPr id="35888" name="Rectangle 48"/>
            <p:cNvSpPr/>
            <p:nvPr/>
          </p:nvSpPr>
          <p:spPr>
            <a:xfrm>
              <a:off x="4114" y="2439"/>
              <a:ext cx="399"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REF</a:t>
              </a:r>
              <a:endParaRPr lang="en-US" altLang="zh-CN" sz="2500" b="1" dirty="0">
                <a:solidFill>
                  <a:schemeClr val="accent2"/>
                </a:solidFill>
                <a:latin typeface="Times New Roman" panose="02020603050405020304" pitchFamily="18" charset="0"/>
              </a:endParaRPr>
            </a:p>
          </p:txBody>
        </p:sp>
        <p:sp>
          <p:nvSpPr>
            <p:cNvPr id="35889" name="Rectangle 49"/>
            <p:cNvSpPr/>
            <p:nvPr/>
          </p:nvSpPr>
          <p:spPr>
            <a:xfrm>
              <a:off x="4150" y="2659"/>
              <a:ext cx="288"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NC</a:t>
              </a:r>
              <a:endParaRPr lang="en-US" altLang="zh-CN" sz="2500" b="1" dirty="0">
                <a:solidFill>
                  <a:schemeClr val="accent2"/>
                </a:solidFill>
                <a:latin typeface="Times New Roman" panose="02020603050405020304" pitchFamily="18" charset="0"/>
              </a:endParaRPr>
            </a:p>
          </p:txBody>
        </p:sp>
        <p:sp>
          <p:nvSpPr>
            <p:cNvPr id="35890" name="Rectangle 50"/>
            <p:cNvSpPr/>
            <p:nvPr/>
          </p:nvSpPr>
          <p:spPr>
            <a:xfrm>
              <a:off x="4109" y="2890"/>
              <a:ext cx="444"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GND</a:t>
              </a:r>
              <a:endParaRPr lang="en-US" altLang="zh-CN" sz="2500" b="1" dirty="0">
                <a:solidFill>
                  <a:schemeClr val="accent2"/>
                </a:solidFill>
                <a:latin typeface="Times New Roman" panose="02020603050405020304" pitchFamily="18" charset="0"/>
              </a:endParaRPr>
            </a:p>
          </p:txBody>
        </p:sp>
        <p:sp>
          <p:nvSpPr>
            <p:cNvPr id="35891" name="Rectangle 51"/>
            <p:cNvSpPr/>
            <p:nvPr/>
          </p:nvSpPr>
          <p:spPr>
            <a:xfrm>
              <a:off x="888" y="2431"/>
              <a:ext cx="827"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OFF SET</a:t>
              </a:r>
              <a:endParaRPr lang="en-US" altLang="zh-CN" sz="2500" b="1" dirty="0">
                <a:solidFill>
                  <a:schemeClr val="accent2"/>
                </a:solidFill>
                <a:latin typeface="Times New Roman" panose="02020603050405020304" pitchFamily="18" charset="0"/>
              </a:endParaRPr>
            </a:p>
          </p:txBody>
        </p:sp>
        <p:sp>
          <p:nvSpPr>
            <p:cNvPr id="35892" name="Line 52"/>
            <p:cNvSpPr/>
            <p:nvPr/>
          </p:nvSpPr>
          <p:spPr>
            <a:xfrm>
              <a:off x="2635" y="2617"/>
              <a:ext cx="119" cy="0"/>
            </a:xfrm>
            <a:prstGeom prst="line">
              <a:avLst/>
            </a:prstGeom>
            <a:ln w="38100" cap="flat" cmpd="sng">
              <a:solidFill>
                <a:schemeClr val="bg1"/>
              </a:solidFill>
              <a:prstDash val="solid"/>
              <a:headEnd type="none" w="med" len="med"/>
              <a:tailEnd type="none" w="med" len="med"/>
            </a:ln>
          </p:spPr>
        </p:sp>
        <p:sp>
          <p:nvSpPr>
            <p:cNvPr id="35893" name="Rectangle 53"/>
            <p:cNvSpPr/>
            <p:nvPr/>
          </p:nvSpPr>
          <p:spPr>
            <a:xfrm>
              <a:off x="4037" y="1957"/>
              <a:ext cx="1347"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DATA GUARD</a:t>
              </a:r>
              <a:endParaRPr lang="en-US" altLang="zh-CN" sz="2500" b="1" baseline="-25000" dirty="0">
                <a:solidFill>
                  <a:schemeClr val="accent2"/>
                </a:solidFill>
                <a:latin typeface="Times New Roman" panose="02020603050405020304" pitchFamily="18" charset="0"/>
              </a:endParaRPr>
            </a:p>
          </p:txBody>
        </p:sp>
        <p:sp>
          <p:nvSpPr>
            <p:cNvPr id="35894" name="Line 54"/>
            <p:cNvSpPr/>
            <p:nvPr/>
          </p:nvSpPr>
          <p:spPr>
            <a:xfrm>
              <a:off x="2930" y="2624"/>
              <a:ext cx="126" cy="1"/>
            </a:xfrm>
            <a:prstGeom prst="line">
              <a:avLst/>
            </a:prstGeom>
            <a:ln w="38100" cap="flat" cmpd="sng">
              <a:solidFill>
                <a:schemeClr val="bg1"/>
              </a:solidFill>
              <a:prstDash val="solid"/>
              <a:headEnd type="none" w="med" len="med"/>
              <a:tailEnd type="none" w="med" len="med"/>
            </a:ln>
          </p:spPr>
        </p:sp>
        <p:sp>
          <p:nvSpPr>
            <p:cNvPr id="35895" name="Line 55"/>
            <p:cNvSpPr/>
            <p:nvPr/>
          </p:nvSpPr>
          <p:spPr>
            <a:xfrm>
              <a:off x="2996" y="2566"/>
              <a:ext cx="0" cy="126"/>
            </a:xfrm>
            <a:prstGeom prst="line">
              <a:avLst/>
            </a:prstGeom>
            <a:ln w="38100" cap="flat" cmpd="sng">
              <a:solidFill>
                <a:schemeClr val="bg1"/>
              </a:solidFill>
              <a:prstDash val="solid"/>
              <a:headEnd type="none" w="med" len="med"/>
              <a:tailEnd type="none" w="med" len="med"/>
            </a:ln>
          </p:spPr>
        </p:sp>
        <p:sp>
          <p:nvSpPr>
            <p:cNvPr id="35896" name="Rectangle 56"/>
            <p:cNvSpPr/>
            <p:nvPr/>
          </p:nvSpPr>
          <p:spPr>
            <a:xfrm>
              <a:off x="4229" y="3109"/>
              <a:ext cx="298" cy="240"/>
            </a:xfrm>
            <a:prstGeom prst="rect">
              <a:avLst/>
            </a:prstGeom>
            <a:noFill/>
            <a:ln w="38100">
              <a:noFill/>
            </a:ln>
          </p:spPr>
          <p:txBody>
            <a:bodyPr lIns="0" tIns="0" rIns="0" bIns="0">
              <a:spAutoFit/>
            </a:bodyPr>
            <a:p>
              <a:pPr algn="just" eaLnBrk="1" hangingPunct="1">
                <a:buNone/>
              </a:pPr>
              <a:r>
                <a:rPr lang="en-US" altLang="zh-CN" sz="2500" b="1" dirty="0">
                  <a:solidFill>
                    <a:schemeClr val="accent2"/>
                  </a:solidFill>
                  <a:latin typeface="Times New Roman" panose="02020603050405020304" pitchFamily="18" charset="0"/>
                </a:rPr>
                <a:t>V</a:t>
              </a:r>
              <a:r>
                <a:rPr lang="en-US" altLang="zh-CN" sz="2500" b="1" i="1" baseline="-25000" dirty="0">
                  <a:solidFill>
                    <a:schemeClr val="accent2"/>
                  </a:solidFill>
                  <a:latin typeface="Times New Roman" panose="02020603050405020304" pitchFamily="18" charset="0"/>
                  <a:ea typeface="宋体" panose="02010600030101010101" pitchFamily="2" charset="-122"/>
                </a:rPr>
                <a:t>+</a:t>
              </a:r>
              <a:endParaRPr lang="en-US" altLang="zh-CN" sz="2500" b="1" i="1" baseline="-25000" dirty="0">
                <a:solidFill>
                  <a:schemeClr val="accent2"/>
                </a:solidFill>
                <a:latin typeface="Times New Roman" panose="02020603050405020304" pitchFamily="18" charset="0"/>
                <a:ea typeface="宋体" panose="02010600030101010101" pitchFamily="2" charset="-122"/>
              </a:endParaRPr>
            </a:p>
          </p:txBody>
        </p:sp>
        <p:sp>
          <p:nvSpPr>
            <p:cNvPr id="35897" name="Rectangle 57"/>
            <p:cNvSpPr/>
            <p:nvPr/>
          </p:nvSpPr>
          <p:spPr>
            <a:xfrm>
              <a:off x="4182" y="1688"/>
              <a:ext cx="250" cy="240"/>
            </a:xfrm>
            <a:prstGeom prst="rect">
              <a:avLst/>
            </a:prstGeom>
            <a:noFill/>
            <a:ln w="38100">
              <a:noFill/>
            </a:ln>
          </p:spPr>
          <p:txBody>
            <a:bodyPr wrap="none" lIns="0" tIns="0" rIns="0" bIns="0">
              <a:spAutoFit/>
            </a:bodyPr>
            <a:p>
              <a:pPr algn="just" eaLnBrk="1" hangingPunct="1"/>
              <a:r>
                <a:rPr lang="en-US" altLang="zh-CN" sz="2500" b="1" dirty="0">
                  <a:solidFill>
                    <a:schemeClr val="accent2"/>
                  </a:solidFill>
                  <a:latin typeface="Times New Roman" panose="02020603050405020304" pitchFamily="18" charset="0"/>
                </a:rPr>
                <a:t>R</a:t>
              </a:r>
              <a:r>
                <a:rPr lang="en-US" altLang="zh-CN" sz="2500" b="1" baseline="-25000" dirty="0">
                  <a:solidFill>
                    <a:schemeClr val="accent2"/>
                  </a:solidFill>
                  <a:latin typeface="Times New Roman" panose="02020603050405020304" pitchFamily="18" charset="0"/>
                </a:rPr>
                <a:t>G</a:t>
              </a:r>
              <a:endParaRPr lang="en-US" altLang="zh-CN" sz="2500" b="1" baseline="-25000" dirty="0">
                <a:solidFill>
                  <a:schemeClr val="accent2"/>
                </a:solidFill>
                <a:latin typeface="Times New Roman" panose="02020603050405020304" pitchFamily="18" charset="0"/>
              </a:endParaRPr>
            </a:p>
          </p:txBody>
        </p:sp>
        <p:sp>
          <p:nvSpPr>
            <p:cNvPr id="35898" name="AutoShape 58"/>
            <p:cNvSpPr/>
            <p:nvPr/>
          </p:nvSpPr>
          <p:spPr>
            <a:xfrm rot="10800000">
              <a:off x="2515" y="2537"/>
              <a:ext cx="652" cy="460"/>
            </a:xfrm>
            <a:prstGeom prst="triangle">
              <a:avLst>
                <a:gd name="adj" fmla="val 50000"/>
              </a:avLst>
            </a:prstGeom>
            <a:noFill/>
            <a:ln w="25400" cap="flat" cmpd="sng">
              <a:solidFill>
                <a:srgbClr val="FF00FF"/>
              </a:solidFill>
              <a:prstDash val="sysDot"/>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5899" name="Line 59"/>
            <p:cNvSpPr/>
            <p:nvPr/>
          </p:nvSpPr>
          <p:spPr>
            <a:xfrm>
              <a:off x="2198" y="3240"/>
              <a:ext cx="641" cy="0"/>
            </a:xfrm>
            <a:prstGeom prst="line">
              <a:avLst/>
            </a:prstGeom>
            <a:ln w="25400" cap="flat" cmpd="sng">
              <a:solidFill>
                <a:srgbClr val="FF00FF"/>
              </a:solidFill>
              <a:prstDash val="sysDot"/>
              <a:headEnd type="none" w="med" len="med"/>
              <a:tailEnd type="none" w="med" len="med"/>
            </a:ln>
          </p:spPr>
        </p:sp>
        <p:sp>
          <p:nvSpPr>
            <p:cNvPr id="35900" name="Text Box 60"/>
            <p:cNvSpPr txBox="1"/>
            <p:nvPr/>
          </p:nvSpPr>
          <p:spPr>
            <a:xfrm>
              <a:off x="2239" y="3567"/>
              <a:ext cx="1457" cy="231"/>
            </a:xfrm>
            <a:prstGeom prst="rect">
              <a:avLst/>
            </a:prstGeom>
            <a:noFill/>
            <a:ln w="9525">
              <a:noFill/>
            </a:ln>
          </p:spPr>
          <p:txBody>
            <a:bodyPr>
              <a:spAutoFit/>
            </a:bodyPr>
            <a:p>
              <a:pPr eaLnBrk="1" hangingPunct="1">
                <a:lnSpc>
                  <a:spcPct val="90000"/>
                </a:lnSpc>
                <a:spcBef>
                  <a:spcPct val="50000"/>
                </a:spcBef>
              </a:pPr>
              <a:r>
                <a:rPr lang="en-US" altLang="zh-CN" sz="2000" b="1" dirty="0">
                  <a:solidFill>
                    <a:srgbClr val="FF0000"/>
                  </a:solidFill>
                  <a:latin typeface="Times New Roman" panose="02020603050405020304" pitchFamily="18" charset="0"/>
                </a:rPr>
                <a:t>AD522</a:t>
              </a:r>
              <a:r>
                <a:rPr lang="zh-CN" altLang="en-US" sz="2000" b="1" dirty="0">
                  <a:solidFill>
                    <a:srgbClr val="FF0000"/>
                  </a:solidFill>
                  <a:latin typeface="Times New Roman" panose="02020603050405020304" pitchFamily="18" charset="0"/>
                </a:rPr>
                <a:t>引脚功能</a:t>
              </a:r>
              <a:endParaRPr lang="zh-CN" altLang="en-US" sz="2000" b="1" dirty="0">
                <a:solidFill>
                  <a:srgbClr val="FF0000"/>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09475"/>
                                        </p:tgtEl>
                                        <p:attrNameLst>
                                          <p:attrName>style.visibility</p:attrName>
                                        </p:attrNameLst>
                                      </p:cBhvr>
                                      <p:to>
                                        <p:strVal val="visible"/>
                                      </p:to>
                                    </p:set>
                                    <p:animEffect transition="in" filter="dissolve">
                                      <p:cBhvr>
                                        <p:cTn id="7" dur="500"/>
                                        <p:tgtEl>
                                          <p:spTgt spid="240947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09476"/>
                                        </p:tgtEl>
                                        <p:attrNameLst>
                                          <p:attrName>style.visibility</p:attrName>
                                        </p:attrNameLst>
                                      </p:cBhvr>
                                      <p:to>
                                        <p:strVal val="visible"/>
                                      </p:to>
                                    </p:set>
                                    <p:animEffect transition="in" filter="dissolve">
                                      <p:cBhvr>
                                        <p:cTn id="12" dur="500"/>
                                        <p:tgtEl>
                                          <p:spTgt spid="240947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9475" grpId="0" bldLvl="0" animBg="1"/>
      <p:bldP spid="2409476"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0498"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6867" name="Text Box 3"/>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2. AD522</a:t>
            </a:r>
            <a:endParaRPr lang="en-US" altLang="zh-CN" sz="3600" b="1" dirty="0">
              <a:solidFill>
                <a:srgbClr val="333399"/>
              </a:solidFill>
              <a:latin typeface="Times New Roman" panose="02020603050405020304" pitchFamily="18" charset="0"/>
            </a:endParaRPr>
          </a:p>
        </p:txBody>
      </p:sp>
      <p:sp>
        <p:nvSpPr>
          <p:cNvPr id="2410562" name="Text Box 66"/>
          <p:cNvSpPr txBox="1"/>
          <p:nvPr/>
        </p:nvSpPr>
        <p:spPr>
          <a:xfrm>
            <a:off x="287338" y="1665288"/>
            <a:ext cx="3384550" cy="398145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4</a:t>
            </a:r>
            <a:r>
              <a:rPr lang="zh-CN" altLang="en-US" sz="2400" b="1" dirty="0">
                <a:solidFill>
                  <a:schemeClr val="tx1"/>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6</a:t>
            </a:r>
            <a:r>
              <a:rPr lang="zh-CN" altLang="en-US" sz="2400" b="1" dirty="0">
                <a:solidFill>
                  <a:schemeClr val="tx2"/>
                </a:solidFill>
                <a:latin typeface="黑体" panose="02010609060101010101" pitchFamily="49" charset="-122"/>
                <a:ea typeface="黑体" panose="02010609060101010101" pitchFamily="49" charset="-122"/>
              </a:rPr>
              <a:t>用于调整放大器零点，将</a:t>
            </a:r>
            <a:r>
              <a:rPr lang="en-US" altLang="zh-CN" sz="2400" b="1" dirty="0">
                <a:solidFill>
                  <a:srgbClr val="FF0000"/>
                </a:solidFill>
                <a:latin typeface="Times New Roman" panose="02020603050405020304" pitchFamily="18" charset="0"/>
                <a:ea typeface="黑体" panose="02010609060101010101" pitchFamily="49" charset="-122"/>
              </a:rPr>
              <a:t>4</a:t>
            </a:r>
            <a:r>
              <a:rPr lang="zh-CN" altLang="en-US" sz="2400" b="1" dirty="0">
                <a:solidFill>
                  <a:schemeClr val="tx2"/>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6</a:t>
            </a:r>
            <a:r>
              <a:rPr lang="zh-CN" altLang="en-US" sz="2400" b="1" dirty="0">
                <a:solidFill>
                  <a:schemeClr val="tx2"/>
                </a:solidFill>
                <a:latin typeface="黑体" panose="02010609060101010101" pitchFamily="49" charset="-122"/>
                <a:ea typeface="黑体" panose="02010609060101010101" pitchFamily="49" charset="-122"/>
              </a:rPr>
              <a:t>端接到</a:t>
            </a:r>
            <a:r>
              <a:rPr lang="en-US" altLang="zh-CN" sz="2400" b="1" dirty="0">
                <a:solidFill>
                  <a:srgbClr val="FF0000"/>
                </a:solidFill>
                <a:latin typeface="Times New Roman" panose="02020603050405020304" pitchFamily="18" charset="0"/>
                <a:ea typeface="黑体" panose="02010609060101010101" pitchFamily="49" charset="-122"/>
              </a:rPr>
              <a:t>10KΩ</a:t>
            </a:r>
            <a:r>
              <a:rPr lang="zh-CN" altLang="en-US" sz="2400" b="1" dirty="0">
                <a:solidFill>
                  <a:schemeClr val="tx2"/>
                </a:solidFill>
                <a:latin typeface="黑体" panose="02010609060101010101" pitchFamily="49" charset="-122"/>
                <a:ea typeface="黑体" panose="02010609060101010101" pitchFamily="49" charset="-122"/>
              </a:rPr>
              <a:t>电位器的两个固定端。电位器滑动端接正电源</a:t>
            </a:r>
            <a:r>
              <a:rPr lang="en-US" altLang="zh-CN" sz="2400" b="1" dirty="0">
                <a:solidFill>
                  <a:schemeClr val="tx2"/>
                </a:solidFill>
                <a:latin typeface="黑体" panose="02010609060101010101" pitchFamily="49" charset="-122"/>
                <a:ea typeface="黑体" panose="02010609060101010101" pitchFamily="49" charset="-122"/>
              </a:rPr>
              <a:t>U+</a:t>
            </a:r>
            <a:r>
              <a:rPr lang="zh-CN" altLang="en-US" sz="2400" b="1" dirty="0">
                <a:solidFill>
                  <a:schemeClr val="tx2"/>
                </a:solidFill>
                <a:latin typeface="黑体" panose="02010609060101010101" pitchFamily="49" charset="-122"/>
                <a:ea typeface="黑体" panose="02010609060101010101" pitchFamily="49" charset="-122"/>
              </a:rPr>
              <a:t>（脚</a:t>
            </a:r>
            <a:r>
              <a:rPr lang="en-US" altLang="zh-CN" sz="2400" b="1" dirty="0">
                <a:solidFill>
                  <a:schemeClr val="tx2"/>
                </a:solidFill>
                <a:latin typeface="黑体" panose="02010609060101010101" pitchFamily="49" charset="-122"/>
                <a:ea typeface="黑体" panose="02010609060101010101" pitchFamily="49" charset="-122"/>
              </a:rPr>
              <a:t>8</a:t>
            </a:r>
            <a:r>
              <a:rPr lang="zh-CN" altLang="en-US" sz="2400" b="1" dirty="0">
                <a:solidFill>
                  <a:schemeClr val="tx2"/>
                </a:solidFill>
                <a:latin typeface="黑体" panose="02010609060101010101" pitchFamily="49" charset="-122"/>
                <a:ea typeface="黑体" panose="02010609060101010101" pitchFamily="49" charset="-122"/>
              </a:rPr>
              <a:t>）。</a:t>
            </a:r>
            <a:endParaRPr lang="zh-CN" altLang="en-US" sz="2400" b="1" dirty="0">
              <a:solidFill>
                <a:schemeClr val="tx2"/>
              </a:solidFill>
              <a:latin typeface="黑体" panose="02010609060101010101" pitchFamily="49" charset="-122"/>
              <a:ea typeface="黑体" panose="02010609060101010101" pitchFamily="49" charset="-122"/>
            </a:endParaRPr>
          </a:p>
          <a:p>
            <a:pPr marL="447675" indent="-447675" eaLnBrk="1" hangingPunct="1">
              <a:spcBef>
                <a:spcPct val="65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13</a:t>
            </a:r>
            <a:r>
              <a:rPr lang="zh-CN" altLang="en-US" sz="2400" b="1" dirty="0">
                <a:solidFill>
                  <a:schemeClr val="tx2"/>
                </a:solidFill>
                <a:latin typeface="黑体" panose="02010609060101010101" pitchFamily="49" charset="-122"/>
                <a:ea typeface="黑体" panose="02010609060101010101" pitchFamily="49" charset="-122"/>
              </a:rPr>
              <a:t>用于连接信号传输导线的屏蔽网，以减少外电场对输入信号的干扰。</a:t>
            </a:r>
            <a:endParaRPr lang="zh-CN" altLang="en-US" sz="2400" b="1" dirty="0">
              <a:solidFill>
                <a:schemeClr val="tx2"/>
              </a:solidFill>
              <a:latin typeface="黑体" panose="02010609060101010101" pitchFamily="49" charset="-122"/>
              <a:ea typeface="黑体" panose="02010609060101010101" pitchFamily="49" charset="-122"/>
            </a:endParaRPr>
          </a:p>
        </p:txBody>
      </p:sp>
      <p:grpSp>
        <p:nvGrpSpPr>
          <p:cNvPr id="2" name="Group 74"/>
          <p:cNvGrpSpPr/>
          <p:nvPr/>
        </p:nvGrpSpPr>
        <p:grpSpPr>
          <a:xfrm>
            <a:off x="3819525" y="1376363"/>
            <a:ext cx="5181600" cy="4316412"/>
            <a:chOff x="2406" y="867"/>
            <a:chExt cx="3264" cy="2719"/>
          </a:xfrm>
        </p:grpSpPr>
        <p:sp>
          <p:nvSpPr>
            <p:cNvPr id="36870" name="Rectangle 5"/>
            <p:cNvSpPr/>
            <p:nvPr/>
          </p:nvSpPr>
          <p:spPr>
            <a:xfrm>
              <a:off x="2406" y="873"/>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871" name="AutoShape 6"/>
            <p:cNvSpPr/>
            <p:nvPr/>
          </p:nvSpPr>
          <p:spPr>
            <a:xfrm rot="5400000">
              <a:off x="3280" y="1196"/>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872" name="Text Box 7"/>
            <p:cNvSpPr txBox="1"/>
            <p:nvPr/>
          </p:nvSpPr>
          <p:spPr>
            <a:xfrm>
              <a:off x="3298" y="132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6873" name="Text Box 8"/>
            <p:cNvSpPr txBox="1"/>
            <p:nvPr/>
          </p:nvSpPr>
          <p:spPr>
            <a:xfrm>
              <a:off x="3302" y="211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6874" name="Text Box 9"/>
            <p:cNvSpPr txBox="1"/>
            <p:nvPr/>
          </p:nvSpPr>
          <p:spPr>
            <a:xfrm>
              <a:off x="3294" y="242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6875" name="Text Box 10"/>
            <p:cNvSpPr txBox="1"/>
            <p:nvPr/>
          </p:nvSpPr>
          <p:spPr>
            <a:xfrm>
              <a:off x="3761" y="230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6876" name="Text Box 11"/>
            <p:cNvSpPr txBox="1"/>
            <p:nvPr/>
          </p:nvSpPr>
          <p:spPr>
            <a:xfrm>
              <a:off x="3515" y="241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6877" name="Text Box 12"/>
            <p:cNvSpPr txBox="1"/>
            <p:nvPr/>
          </p:nvSpPr>
          <p:spPr>
            <a:xfrm>
              <a:off x="4170" y="209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6878" name="Text Box 13"/>
            <p:cNvSpPr txBox="1"/>
            <p:nvPr/>
          </p:nvSpPr>
          <p:spPr>
            <a:xfrm>
              <a:off x="4596" y="187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6879" name="Text Box 14"/>
            <p:cNvSpPr txBox="1"/>
            <p:nvPr/>
          </p:nvSpPr>
          <p:spPr>
            <a:xfrm>
              <a:off x="3536" y="136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6880" name="Text Box 15"/>
            <p:cNvSpPr txBox="1"/>
            <p:nvPr/>
          </p:nvSpPr>
          <p:spPr>
            <a:xfrm>
              <a:off x="3765" y="148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9</a:t>
              </a:r>
              <a:endParaRPr lang="en-US" altLang="zh-CN" sz="1600" b="1" dirty="0">
                <a:solidFill>
                  <a:srgbClr val="333399"/>
                </a:solidFill>
                <a:latin typeface="Times New Roman" panose="02020603050405020304" pitchFamily="18" charset="0"/>
              </a:endParaRPr>
            </a:p>
          </p:txBody>
        </p:sp>
        <p:sp>
          <p:nvSpPr>
            <p:cNvPr id="36881" name="Text Box 16"/>
            <p:cNvSpPr txBox="1"/>
            <p:nvPr/>
          </p:nvSpPr>
          <p:spPr>
            <a:xfrm>
              <a:off x="4393" y="1965"/>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6882" name="Text Box 17"/>
            <p:cNvSpPr txBox="1"/>
            <p:nvPr/>
          </p:nvSpPr>
          <p:spPr>
            <a:xfrm>
              <a:off x="4388" y="177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6883" name="Text Box 18"/>
            <p:cNvSpPr txBox="1"/>
            <p:nvPr/>
          </p:nvSpPr>
          <p:spPr>
            <a:xfrm>
              <a:off x="4173" y="166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6884" name="Text Box 19"/>
            <p:cNvSpPr txBox="1"/>
            <p:nvPr/>
          </p:nvSpPr>
          <p:spPr>
            <a:xfrm>
              <a:off x="3294" y="162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6885" name="Oval 20"/>
            <p:cNvSpPr/>
            <p:nvPr/>
          </p:nvSpPr>
          <p:spPr>
            <a:xfrm>
              <a:off x="2564" y="138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886" name="Text Box 21"/>
            <p:cNvSpPr txBox="1"/>
            <p:nvPr/>
          </p:nvSpPr>
          <p:spPr>
            <a:xfrm>
              <a:off x="2406" y="1183"/>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6887" name="Line 22"/>
            <p:cNvSpPr/>
            <p:nvPr/>
          </p:nvSpPr>
          <p:spPr>
            <a:xfrm>
              <a:off x="2630" y="1421"/>
              <a:ext cx="677" cy="0"/>
            </a:xfrm>
            <a:prstGeom prst="line">
              <a:avLst/>
            </a:prstGeom>
            <a:ln w="12700" cap="flat" cmpd="sng">
              <a:solidFill>
                <a:schemeClr val="accent2"/>
              </a:solidFill>
              <a:prstDash val="solid"/>
              <a:headEnd type="none" w="med" len="med"/>
              <a:tailEnd type="none" w="med" len="med"/>
            </a:ln>
          </p:spPr>
        </p:sp>
        <p:sp>
          <p:nvSpPr>
            <p:cNvPr id="36888" name="Text Box 23"/>
            <p:cNvSpPr txBox="1"/>
            <p:nvPr/>
          </p:nvSpPr>
          <p:spPr>
            <a:xfrm>
              <a:off x="2410" y="2582"/>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6889" name="Oval 24"/>
            <p:cNvSpPr/>
            <p:nvPr/>
          </p:nvSpPr>
          <p:spPr>
            <a:xfrm>
              <a:off x="2551" y="248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890" name="Line 25"/>
            <p:cNvSpPr/>
            <p:nvPr/>
          </p:nvSpPr>
          <p:spPr>
            <a:xfrm>
              <a:off x="2614" y="2514"/>
              <a:ext cx="693" cy="0"/>
            </a:xfrm>
            <a:prstGeom prst="line">
              <a:avLst/>
            </a:prstGeom>
            <a:ln w="12700" cap="flat" cmpd="sng">
              <a:solidFill>
                <a:schemeClr val="accent2"/>
              </a:solidFill>
              <a:prstDash val="solid"/>
              <a:headEnd type="none" w="med" len="med"/>
              <a:tailEnd type="none" w="med" len="med"/>
            </a:ln>
          </p:spPr>
        </p:sp>
        <p:sp>
          <p:nvSpPr>
            <p:cNvPr id="36891" name="Line 26"/>
            <p:cNvSpPr/>
            <p:nvPr/>
          </p:nvSpPr>
          <p:spPr>
            <a:xfrm>
              <a:off x="2973" y="1721"/>
              <a:ext cx="334" cy="0"/>
            </a:xfrm>
            <a:prstGeom prst="line">
              <a:avLst/>
            </a:prstGeom>
            <a:ln w="12700" cap="flat" cmpd="sng">
              <a:solidFill>
                <a:schemeClr val="accent2"/>
              </a:solidFill>
              <a:prstDash val="solid"/>
              <a:headEnd type="none" w="med" len="med"/>
              <a:tailEnd type="none" w="med" len="med"/>
            </a:ln>
          </p:spPr>
        </p:sp>
        <p:sp>
          <p:nvSpPr>
            <p:cNvPr id="36892" name="Line 27"/>
            <p:cNvSpPr/>
            <p:nvPr/>
          </p:nvSpPr>
          <p:spPr>
            <a:xfrm>
              <a:off x="2973" y="1721"/>
              <a:ext cx="0" cy="159"/>
            </a:xfrm>
            <a:prstGeom prst="line">
              <a:avLst/>
            </a:prstGeom>
            <a:ln w="12700" cap="flat" cmpd="sng">
              <a:solidFill>
                <a:schemeClr val="accent2"/>
              </a:solidFill>
              <a:prstDash val="solid"/>
              <a:headEnd type="none" w="med" len="med"/>
              <a:tailEnd type="none" w="med" len="med"/>
            </a:ln>
          </p:spPr>
        </p:sp>
        <p:sp>
          <p:nvSpPr>
            <p:cNvPr id="36893" name="Rectangle 28"/>
            <p:cNvSpPr/>
            <p:nvPr/>
          </p:nvSpPr>
          <p:spPr>
            <a:xfrm>
              <a:off x="2940" y="1880"/>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894" name="Text Box 29"/>
            <p:cNvSpPr txBox="1"/>
            <p:nvPr/>
          </p:nvSpPr>
          <p:spPr>
            <a:xfrm>
              <a:off x="2673" y="1852"/>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6895" name="Line 30"/>
            <p:cNvSpPr/>
            <p:nvPr/>
          </p:nvSpPr>
          <p:spPr>
            <a:xfrm>
              <a:off x="2973" y="2047"/>
              <a:ext cx="0" cy="167"/>
            </a:xfrm>
            <a:prstGeom prst="line">
              <a:avLst/>
            </a:prstGeom>
            <a:ln w="12700" cap="flat" cmpd="sng">
              <a:solidFill>
                <a:schemeClr val="accent2"/>
              </a:solidFill>
              <a:prstDash val="solid"/>
              <a:headEnd type="none" w="med" len="med"/>
              <a:tailEnd type="none" w="med" len="med"/>
            </a:ln>
          </p:spPr>
        </p:sp>
        <p:sp>
          <p:nvSpPr>
            <p:cNvPr id="36896" name="Line 31"/>
            <p:cNvSpPr/>
            <p:nvPr/>
          </p:nvSpPr>
          <p:spPr>
            <a:xfrm>
              <a:off x="2973" y="2214"/>
              <a:ext cx="334" cy="0"/>
            </a:xfrm>
            <a:prstGeom prst="line">
              <a:avLst/>
            </a:prstGeom>
            <a:ln w="12700" cap="flat" cmpd="sng">
              <a:solidFill>
                <a:schemeClr val="accent2"/>
              </a:solidFill>
              <a:prstDash val="solid"/>
              <a:headEnd type="none" w="med" len="med"/>
              <a:tailEnd type="none" w="med" len="med"/>
            </a:ln>
          </p:spPr>
        </p:sp>
        <p:sp>
          <p:nvSpPr>
            <p:cNvPr id="36897" name="Line 32"/>
            <p:cNvSpPr/>
            <p:nvPr/>
          </p:nvSpPr>
          <p:spPr>
            <a:xfrm>
              <a:off x="3858" y="2489"/>
              <a:ext cx="0" cy="217"/>
            </a:xfrm>
            <a:prstGeom prst="line">
              <a:avLst/>
            </a:prstGeom>
            <a:ln w="12700" cap="flat" cmpd="sng">
              <a:solidFill>
                <a:schemeClr val="accent2"/>
              </a:solidFill>
              <a:prstDash val="solid"/>
              <a:headEnd type="none" w="med" len="med"/>
              <a:tailEnd type="none" w="med" len="med"/>
            </a:ln>
          </p:spPr>
        </p:sp>
        <p:sp>
          <p:nvSpPr>
            <p:cNvPr id="36898" name="Line 33"/>
            <p:cNvSpPr/>
            <p:nvPr/>
          </p:nvSpPr>
          <p:spPr>
            <a:xfrm>
              <a:off x="3858" y="2706"/>
              <a:ext cx="116" cy="0"/>
            </a:xfrm>
            <a:prstGeom prst="line">
              <a:avLst/>
            </a:prstGeom>
            <a:ln w="12700" cap="flat" cmpd="sng">
              <a:solidFill>
                <a:schemeClr val="accent2"/>
              </a:solidFill>
              <a:prstDash val="solid"/>
              <a:headEnd type="none" w="med" len="med"/>
              <a:tailEnd type="none" w="med" len="med"/>
            </a:ln>
          </p:spPr>
        </p:sp>
        <p:sp>
          <p:nvSpPr>
            <p:cNvPr id="36899" name="Rectangle 34"/>
            <p:cNvSpPr/>
            <p:nvPr/>
          </p:nvSpPr>
          <p:spPr>
            <a:xfrm>
              <a:off x="3974" y="2673"/>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00" name="Text Box 35"/>
            <p:cNvSpPr txBox="1"/>
            <p:nvPr/>
          </p:nvSpPr>
          <p:spPr>
            <a:xfrm>
              <a:off x="3850" y="2514"/>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6901" name="Line 36"/>
            <p:cNvSpPr/>
            <p:nvPr/>
          </p:nvSpPr>
          <p:spPr>
            <a:xfrm>
              <a:off x="4142" y="2706"/>
              <a:ext cx="125" cy="0"/>
            </a:xfrm>
            <a:prstGeom prst="line">
              <a:avLst/>
            </a:prstGeom>
            <a:ln w="12700" cap="flat" cmpd="sng">
              <a:solidFill>
                <a:schemeClr val="accent2"/>
              </a:solidFill>
              <a:prstDash val="solid"/>
              <a:headEnd type="none" w="med" len="med"/>
              <a:tailEnd type="none" w="med" len="med"/>
            </a:ln>
          </p:spPr>
        </p:sp>
        <p:sp>
          <p:nvSpPr>
            <p:cNvPr id="36902" name="Line 37"/>
            <p:cNvSpPr/>
            <p:nvPr/>
          </p:nvSpPr>
          <p:spPr>
            <a:xfrm flipV="1">
              <a:off x="4267" y="2272"/>
              <a:ext cx="0" cy="434"/>
            </a:xfrm>
            <a:prstGeom prst="line">
              <a:avLst/>
            </a:prstGeom>
            <a:ln w="12700" cap="flat" cmpd="sng">
              <a:solidFill>
                <a:schemeClr val="accent2"/>
              </a:solidFill>
              <a:prstDash val="solid"/>
              <a:headEnd type="none" w="med" len="med"/>
              <a:tailEnd type="none" w="med" len="med"/>
            </a:ln>
          </p:spPr>
        </p:sp>
        <p:sp>
          <p:nvSpPr>
            <p:cNvPr id="36903" name="Line 38"/>
            <p:cNvSpPr/>
            <p:nvPr/>
          </p:nvSpPr>
          <p:spPr>
            <a:xfrm>
              <a:off x="3641" y="2598"/>
              <a:ext cx="0" cy="265"/>
            </a:xfrm>
            <a:prstGeom prst="line">
              <a:avLst/>
            </a:prstGeom>
            <a:ln w="12700" cap="flat" cmpd="sng">
              <a:solidFill>
                <a:schemeClr val="accent2"/>
              </a:solidFill>
              <a:prstDash val="solid"/>
              <a:headEnd type="none" w="med" len="med"/>
              <a:tailEnd type="none" w="med" len="med"/>
            </a:ln>
          </p:spPr>
        </p:sp>
        <p:sp>
          <p:nvSpPr>
            <p:cNvPr id="36904" name="Oval 39"/>
            <p:cNvSpPr/>
            <p:nvPr/>
          </p:nvSpPr>
          <p:spPr>
            <a:xfrm>
              <a:off x="3611" y="286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05" name="Oval 41"/>
            <p:cNvSpPr/>
            <p:nvPr/>
          </p:nvSpPr>
          <p:spPr>
            <a:xfrm>
              <a:off x="4237" y="141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06" name="Line 42"/>
            <p:cNvSpPr/>
            <p:nvPr/>
          </p:nvSpPr>
          <p:spPr>
            <a:xfrm>
              <a:off x="4054" y="2946"/>
              <a:ext cx="936" cy="0"/>
            </a:xfrm>
            <a:prstGeom prst="line">
              <a:avLst/>
            </a:prstGeom>
            <a:ln w="12700" cap="flat" cmpd="sng">
              <a:solidFill>
                <a:schemeClr val="accent2"/>
              </a:solidFill>
              <a:prstDash val="solid"/>
              <a:headEnd type="none" w="med" len="med"/>
              <a:tailEnd type="none" w="med" len="med"/>
            </a:ln>
          </p:spPr>
        </p:sp>
        <p:sp>
          <p:nvSpPr>
            <p:cNvPr id="36907" name="Line 43"/>
            <p:cNvSpPr/>
            <p:nvPr/>
          </p:nvSpPr>
          <p:spPr>
            <a:xfrm flipV="1">
              <a:off x="4058" y="2739"/>
              <a:ext cx="0" cy="210"/>
            </a:xfrm>
            <a:prstGeom prst="line">
              <a:avLst/>
            </a:prstGeom>
            <a:ln w="12700" cap="flat" cmpd="sng">
              <a:solidFill>
                <a:schemeClr val="accent2"/>
              </a:solidFill>
              <a:prstDash val="solid"/>
              <a:headEnd type="none" w="med" len="med"/>
              <a:tailEnd type="triangle" w="sm" len="lg"/>
            </a:ln>
          </p:spPr>
        </p:sp>
        <p:sp>
          <p:nvSpPr>
            <p:cNvPr id="36908" name="Line 44"/>
            <p:cNvSpPr/>
            <p:nvPr/>
          </p:nvSpPr>
          <p:spPr>
            <a:xfrm>
              <a:off x="4525" y="2139"/>
              <a:ext cx="0" cy="486"/>
            </a:xfrm>
            <a:prstGeom prst="line">
              <a:avLst/>
            </a:prstGeom>
            <a:ln w="12700" cap="flat" cmpd="sng">
              <a:solidFill>
                <a:schemeClr val="accent2"/>
              </a:solidFill>
              <a:prstDash val="solid"/>
              <a:headEnd type="none" w="med" len="med"/>
              <a:tailEnd type="none" w="med" len="med"/>
            </a:ln>
          </p:spPr>
        </p:sp>
        <p:sp>
          <p:nvSpPr>
            <p:cNvPr id="36909" name="Line 48"/>
            <p:cNvSpPr/>
            <p:nvPr/>
          </p:nvSpPr>
          <p:spPr>
            <a:xfrm>
              <a:off x="4843" y="1972"/>
              <a:ext cx="576" cy="0"/>
            </a:xfrm>
            <a:prstGeom prst="line">
              <a:avLst/>
            </a:prstGeom>
            <a:ln w="12700" cap="flat" cmpd="sng">
              <a:solidFill>
                <a:schemeClr val="accent2"/>
              </a:solidFill>
              <a:prstDash val="solid"/>
              <a:headEnd type="none" w="med" len="med"/>
              <a:tailEnd type="none" w="med" len="med"/>
            </a:ln>
          </p:spPr>
        </p:sp>
        <p:sp>
          <p:nvSpPr>
            <p:cNvPr id="36910" name="Oval 49"/>
            <p:cNvSpPr/>
            <p:nvPr/>
          </p:nvSpPr>
          <p:spPr>
            <a:xfrm>
              <a:off x="5414" y="194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11" name="Text Box 50"/>
            <p:cNvSpPr txBox="1"/>
            <p:nvPr/>
          </p:nvSpPr>
          <p:spPr>
            <a:xfrm>
              <a:off x="5242" y="2037"/>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6912" name="Oval 51"/>
            <p:cNvSpPr/>
            <p:nvPr/>
          </p:nvSpPr>
          <p:spPr>
            <a:xfrm>
              <a:off x="5165" y="193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13" name="Line 52"/>
            <p:cNvSpPr/>
            <p:nvPr/>
          </p:nvSpPr>
          <p:spPr>
            <a:xfrm flipV="1">
              <a:off x="5193" y="1661"/>
              <a:ext cx="0" cy="311"/>
            </a:xfrm>
            <a:prstGeom prst="line">
              <a:avLst/>
            </a:prstGeom>
            <a:ln w="9525" cap="flat" cmpd="sng">
              <a:solidFill>
                <a:schemeClr val="accent2"/>
              </a:solidFill>
              <a:prstDash val="solid"/>
              <a:headEnd type="none" w="med" len="med"/>
              <a:tailEnd type="none" w="med" len="med"/>
            </a:ln>
          </p:spPr>
        </p:sp>
        <p:sp>
          <p:nvSpPr>
            <p:cNvPr id="36914" name="Line 53"/>
            <p:cNvSpPr/>
            <p:nvPr/>
          </p:nvSpPr>
          <p:spPr>
            <a:xfrm flipH="1">
              <a:off x="4525" y="1661"/>
              <a:ext cx="668" cy="0"/>
            </a:xfrm>
            <a:prstGeom prst="line">
              <a:avLst/>
            </a:prstGeom>
            <a:ln w="12700" cap="flat" cmpd="sng">
              <a:solidFill>
                <a:schemeClr val="accent2"/>
              </a:solidFill>
              <a:prstDash val="solid"/>
              <a:headEnd type="none" w="med" len="med"/>
              <a:tailEnd type="none" w="med" len="med"/>
            </a:ln>
          </p:spPr>
        </p:sp>
        <p:sp>
          <p:nvSpPr>
            <p:cNvPr id="36915" name="Line 54"/>
            <p:cNvSpPr/>
            <p:nvPr/>
          </p:nvSpPr>
          <p:spPr>
            <a:xfrm>
              <a:off x="4525" y="1661"/>
              <a:ext cx="0" cy="144"/>
            </a:xfrm>
            <a:prstGeom prst="line">
              <a:avLst/>
            </a:prstGeom>
            <a:ln w="12700" cap="flat" cmpd="sng">
              <a:solidFill>
                <a:schemeClr val="accent2"/>
              </a:solidFill>
              <a:prstDash val="solid"/>
              <a:headEnd type="none" w="med" len="med"/>
              <a:tailEnd type="none" w="med" len="med"/>
            </a:ln>
          </p:spPr>
        </p:sp>
        <p:sp>
          <p:nvSpPr>
            <p:cNvPr id="36916" name="Line 55"/>
            <p:cNvSpPr/>
            <p:nvPr/>
          </p:nvSpPr>
          <p:spPr>
            <a:xfrm flipV="1">
              <a:off x="3858" y="1044"/>
              <a:ext cx="0" cy="403"/>
            </a:xfrm>
            <a:prstGeom prst="line">
              <a:avLst/>
            </a:prstGeom>
            <a:ln w="12700" cap="flat" cmpd="sng">
              <a:solidFill>
                <a:schemeClr val="accent2"/>
              </a:solidFill>
              <a:prstDash val="solid"/>
              <a:headEnd type="none" w="med" len="med"/>
              <a:tailEnd type="none" w="med" len="med"/>
            </a:ln>
          </p:spPr>
        </p:sp>
        <p:sp>
          <p:nvSpPr>
            <p:cNvPr id="36917" name="Line 56"/>
            <p:cNvSpPr/>
            <p:nvPr/>
          </p:nvSpPr>
          <p:spPr>
            <a:xfrm>
              <a:off x="3858" y="1044"/>
              <a:ext cx="170" cy="0"/>
            </a:xfrm>
            <a:prstGeom prst="line">
              <a:avLst/>
            </a:prstGeom>
            <a:ln w="12700" cap="flat" cmpd="sng">
              <a:solidFill>
                <a:schemeClr val="accent2"/>
              </a:solidFill>
              <a:prstDash val="solid"/>
              <a:headEnd type="none" w="med" len="med"/>
              <a:tailEnd type="none" w="med" len="med"/>
            </a:ln>
          </p:spPr>
        </p:sp>
        <p:sp>
          <p:nvSpPr>
            <p:cNvPr id="36918" name="Line 61"/>
            <p:cNvSpPr/>
            <p:nvPr/>
          </p:nvSpPr>
          <p:spPr>
            <a:xfrm>
              <a:off x="4267" y="1170"/>
              <a:ext cx="0" cy="501"/>
            </a:xfrm>
            <a:prstGeom prst="line">
              <a:avLst/>
            </a:prstGeom>
            <a:ln w="12700" cap="flat" cmpd="sng">
              <a:solidFill>
                <a:schemeClr val="accent2"/>
              </a:solidFill>
              <a:prstDash val="solid"/>
              <a:headEnd type="none" w="med" len="med"/>
              <a:tailEnd type="none" w="med" len="med"/>
            </a:ln>
          </p:spPr>
        </p:sp>
        <p:sp>
          <p:nvSpPr>
            <p:cNvPr id="36919" name="Line 62"/>
            <p:cNvSpPr/>
            <p:nvPr/>
          </p:nvSpPr>
          <p:spPr>
            <a:xfrm>
              <a:off x="3641" y="1037"/>
              <a:ext cx="0" cy="309"/>
            </a:xfrm>
            <a:prstGeom prst="line">
              <a:avLst/>
            </a:prstGeom>
            <a:ln w="12700" cap="flat" cmpd="sng">
              <a:solidFill>
                <a:schemeClr val="accent2"/>
              </a:solidFill>
              <a:prstDash val="solid"/>
              <a:headEnd type="none" w="med" len="med"/>
              <a:tailEnd type="none" w="med" len="med"/>
            </a:ln>
          </p:spPr>
        </p:sp>
        <p:sp>
          <p:nvSpPr>
            <p:cNvPr id="36920" name="Oval 63"/>
            <p:cNvSpPr/>
            <p:nvPr/>
          </p:nvSpPr>
          <p:spPr>
            <a:xfrm>
              <a:off x="3611" y="9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21" name="Text Box 64"/>
            <p:cNvSpPr txBox="1"/>
            <p:nvPr/>
          </p:nvSpPr>
          <p:spPr>
            <a:xfrm>
              <a:off x="3324" y="867"/>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6922" name="Text Box 65"/>
            <p:cNvSpPr txBox="1"/>
            <p:nvPr/>
          </p:nvSpPr>
          <p:spPr>
            <a:xfrm>
              <a:off x="3111" y="3249"/>
              <a:ext cx="1840"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AD522</a:t>
              </a:r>
              <a:r>
                <a:rPr lang="zh-CN" altLang="en-US" sz="2400" b="1" dirty="0">
                  <a:solidFill>
                    <a:srgbClr val="000099"/>
                  </a:solidFill>
                  <a:latin typeface="Times New Roman" panose="02020603050405020304" pitchFamily="18" charset="0"/>
                </a:rPr>
                <a:t>基本连接方法</a:t>
              </a:r>
              <a:endParaRPr lang="zh-CN" altLang="en-US" sz="2400" b="1" dirty="0">
                <a:solidFill>
                  <a:srgbClr val="000099"/>
                </a:solidFill>
                <a:latin typeface="Times New Roman" panose="02020603050405020304" pitchFamily="18" charset="0"/>
              </a:endParaRPr>
            </a:p>
          </p:txBody>
        </p:sp>
        <p:sp>
          <p:nvSpPr>
            <p:cNvPr id="36923" name="Line 67"/>
            <p:cNvSpPr/>
            <p:nvPr/>
          </p:nvSpPr>
          <p:spPr>
            <a:xfrm>
              <a:off x="4028" y="1044"/>
              <a:ext cx="0" cy="184"/>
            </a:xfrm>
            <a:prstGeom prst="line">
              <a:avLst/>
            </a:prstGeom>
            <a:ln w="12700" cap="flat" cmpd="sng">
              <a:solidFill>
                <a:schemeClr val="accent2"/>
              </a:solidFill>
              <a:prstDash val="solid"/>
              <a:headEnd type="none" w="med" len="med"/>
              <a:tailEnd type="none" w="med" len="med"/>
            </a:ln>
          </p:spPr>
        </p:sp>
        <p:sp>
          <p:nvSpPr>
            <p:cNvPr id="36924" name="AutoShape 68"/>
            <p:cNvSpPr/>
            <p:nvPr/>
          </p:nvSpPr>
          <p:spPr>
            <a:xfrm rot="10800000">
              <a:off x="3886" y="1227"/>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25" name="Oval 69"/>
            <p:cNvSpPr/>
            <p:nvPr/>
          </p:nvSpPr>
          <p:spPr>
            <a:xfrm>
              <a:off x="4237" y="112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6926" name="Text Box 70"/>
            <p:cNvSpPr txBox="1"/>
            <p:nvPr/>
          </p:nvSpPr>
          <p:spPr>
            <a:xfrm>
              <a:off x="4200" y="924"/>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6927" name="Line 71"/>
            <p:cNvSpPr/>
            <p:nvPr/>
          </p:nvSpPr>
          <p:spPr>
            <a:xfrm>
              <a:off x="4440" y="2625"/>
              <a:ext cx="170" cy="0"/>
            </a:xfrm>
            <a:prstGeom prst="line">
              <a:avLst/>
            </a:prstGeom>
            <a:ln w="19050" cap="flat" cmpd="sng">
              <a:solidFill>
                <a:schemeClr val="accent2"/>
              </a:solidFill>
              <a:prstDash val="solid"/>
              <a:headEnd type="none" w="med" len="med"/>
              <a:tailEnd type="none" w="med" len="med"/>
            </a:ln>
          </p:spPr>
        </p:sp>
        <p:sp>
          <p:nvSpPr>
            <p:cNvPr id="36928" name="Line 72"/>
            <p:cNvSpPr/>
            <p:nvPr/>
          </p:nvSpPr>
          <p:spPr>
            <a:xfrm>
              <a:off x="4990" y="1447"/>
              <a:ext cx="0" cy="1501"/>
            </a:xfrm>
            <a:prstGeom prst="line">
              <a:avLst/>
            </a:prstGeom>
            <a:ln w="12700" cap="flat" cmpd="sng">
              <a:solidFill>
                <a:schemeClr val="accent2"/>
              </a:solidFill>
              <a:prstDash val="solid"/>
              <a:headEnd type="none" w="med" len="med"/>
              <a:tailEnd type="none" w="med" len="med"/>
            </a:ln>
          </p:spPr>
        </p:sp>
        <p:sp>
          <p:nvSpPr>
            <p:cNvPr id="36929" name="Line 73"/>
            <p:cNvSpPr/>
            <p:nvPr/>
          </p:nvSpPr>
          <p:spPr>
            <a:xfrm flipH="1">
              <a:off x="4267" y="1443"/>
              <a:ext cx="724" cy="0"/>
            </a:xfrm>
            <a:prstGeom prst="line">
              <a:avLst/>
            </a:prstGeom>
            <a:ln w="12700" cap="flat" cmpd="sng">
              <a:solidFill>
                <a:schemeClr val="accent2"/>
              </a:solidFill>
              <a:prstDash val="solid"/>
              <a:headEnd type="none" w="med" len="med"/>
              <a:tailEnd type="none" w="med" len="med"/>
            </a:ln>
          </p:spPr>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0562">
                                            <p:txEl>
                                              <p:charRg st="0" end="54"/>
                                            </p:txEl>
                                          </p:spTgt>
                                        </p:tgtEl>
                                        <p:attrNameLst>
                                          <p:attrName>style.visibility</p:attrName>
                                        </p:attrNameLst>
                                      </p:cBhvr>
                                      <p:to>
                                        <p:strVal val="visible"/>
                                      </p:to>
                                    </p:set>
                                    <p:animEffect transition="in" filter="dissolve">
                                      <p:cBhvr>
                                        <p:cTn id="12" dur="500"/>
                                        <p:tgtEl>
                                          <p:spTgt spid="2410562">
                                            <p:txEl>
                                              <p:charRg st="0" end="5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0562">
                                            <p:txEl>
                                              <p:charRg st="54" end="89"/>
                                            </p:txEl>
                                          </p:spTgt>
                                        </p:tgtEl>
                                        <p:attrNameLst>
                                          <p:attrName>style.visibility</p:attrName>
                                        </p:attrNameLst>
                                      </p:cBhvr>
                                      <p:to>
                                        <p:strVal val="visible"/>
                                      </p:to>
                                    </p:set>
                                    <p:animEffect transition="in" filter="dissolve">
                                      <p:cBhvr>
                                        <p:cTn id="17" dur="500"/>
                                        <p:tgtEl>
                                          <p:spTgt spid="2410562">
                                            <p:txEl>
                                              <p:charRg st="54" end="8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1522"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7891" name="Text Box 3"/>
          <p:cNvSpPr txBox="1"/>
          <p:nvPr/>
        </p:nvSpPr>
        <p:spPr>
          <a:xfrm>
            <a:off x="446088" y="827088"/>
            <a:ext cx="2109787"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2. AD522</a:t>
            </a:r>
            <a:endParaRPr lang="en-US" altLang="zh-CN" sz="3600" b="1" dirty="0">
              <a:solidFill>
                <a:srgbClr val="333399"/>
              </a:solidFill>
              <a:latin typeface="Times New Roman" panose="02020603050405020304" pitchFamily="18" charset="0"/>
            </a:endParaRPr>
          </a:p>
        </p:txBody>
      </p:sp>
      <p:sp>
        <p:nvSpPr>
          <p:cNvPr id="2411586" name="Text Box 66"/>
          <p:cNvSpPr txBox="1"/>
          <p:nvPr/>
        </p:nvSpPr>
        <p:spPr>
          <a:xfrm>
            <a:off x="287338" y="1736725"/>
            <a:ext cx="3532187" cy="1077913"/>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引脚</a:t>
            </a:r>
            <a:r>
              <a:rPr lang="en-US" altLang="zh-CN" sz="2400" b="1" dirty="0">
                <a:solidFill>
                  <a:srgbClr val="FF0000"/>
                </a:solidFill>
                <a:latin typeface="Times New Roman" panose="02020603050405020304" pitchFamily="18" charset="0"/>
                <a:ea typeface="黑体" panose="02010609060101010101" pitchFamily="49" charset="-122"/>
              </a:rPr>
              <a:t>2</a:t>
            </a:r>
            <a:r>
              <a:rPr lang="zh-CN" altLang="en-US" sz="2400" b="1" dirty="0">
                <a:solidFill>
                  <a:schemeClr val="tx2"/>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14</a:t>
            </a:r>
            <a:r>
              <a:rPr lang="zh-CN" altLang="en-US" sz="2400" b="1" dirty="0">
                <a:solidFill>
                  <a:schemeClr val="tx2"/>
                </a:solidFill>
                <a:latin typeface="黑体" panose="02010609060101010101" pitchFamily="49" charset="-122"/>
                <a:ea typeface="黑体" panose="02010609060101010101" pitchFamily="49" charset="-122"/>
              </a:rPr>
              <a:t>用于外接电阻</a:t>
            </a:r>
            <a:r>
              <a:rPr lang="en-US" altLang="zh-CN" sz="2400" b="1" dirty="0">
                <a:solidFill>
                  <a:srgbClr val="FF0000"/>
                </a:solidFill>
                <a:latin typeface="Times New Roman" panose="02020603050405020304" pitchFamily="18" charset="0"/>
                <a:ea typeface="黑体" panose="02010609060101010101" pitchFamily="49" charset="-122"/>
              </a:rPr>
              <a:t>R</a:t>
            </a:r>
            <a:r>
              <a:rPr lang="en-US" altLang="zh-CN" sz="2400" b="1" baseline="-25000" dirty="0">
                <a:solidFill>
                  <a:srgbClr val="FF0000"/>
                </a:solidFill>
                <a:latin typeface="Times New Roman" panose="02020603050405020304" pitchFamily="18" charset="0"/>
                <a:ea typeface="黑体" panose="02010609060101010101" pitchFamily="49" charset="-122"/>
              </a:rPr>
              <a:t>G</a:t>
            </a:r>
            <a:r>
              <a:rPr lang="zh-CN" altLang="en-US" sz="2400" b="1" dirty="0">
                <a:solidFill>
                  <a:schemeClr val="tx2"/>
                </a:solidFill>
                <a:latin typeface="黑体" panose="02010609060101010101" pitchFamily="49" charset="-122"/>
                <a:ea typeface="黑体" panose="02010609060101010101" pitchFamily="49" charset="-122"/>
              </a:rPr>
              <a:t>，用于调整放大倍数。</a:t>
            </a:r>
            <a:endParaRPr lang="zh-CN" altLang="en-US" sz="2400" b="1" dirty="0">
              <a:solidFill>
                <a:schemeClr val="tx2"/>
              </a:solidFill>
              <a:latin typeface="黑体" panose="02010609060101010101" pitchFamily="49" charset="-122"/>
              <a:ea typeface="黑体" panose="02010609060101010101" pitchFamily="49" charset="-122"/>
            </a:endParaRPr>
          </a:p>
        </p:txBody>
      </p:sp>
      <p:sp>
        <p:nvSpPr>
          <p:cNvPr id="2411587" name="Rectangle 67"/>
          <p:cNvSpPr/>
          <p:nvPr/>
        </p:nvSpPr>
        <p:spPr>
          <a:xfrm>
            <a:off x="287338" y="2941638"/>
            <a:ext cx="3532187" cy="749300"/>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测量放大器的放大倍数</a:t>
            </a:r>
            <a:r>
              <a:rPr lang="en-US" altLang="zh-CN" sz="2400" b="1" dirty="0">
                <a:solidFill>
                  <a:schemeClr val="tx2"/>
                </a:solidFill>
                <a:latin typeface="黑体" panose="02010609060101010101" pitchFamily="49" charset="-122"/>
                <a:ea typeface="黑体" panose="02010609060101010101" pitchFamily="49" charset="-122"/>
              </a:rPr>
              <a:t>:</a:t>
            </a:r>
            <a:endParaRPr lang="en-US" altLang="zh-CN" sz="2400" b="1" dirty="0">
              <a:solidFill>
                <a:schemeClr val="tx2"/>
              </a:solidFill>
              <a:latin typeface="黑体" panose="02010609060101010101" pitchFamily="49" charset="-122"/>
              <a:ea typeface="黑体" panose="02010609060101010101" pitchFamily="49" charset="-122"/>
            </a:endParaRPr>
          </a:p>
        </p:txBody>
      </p:sp>
      <p:graphicFrame>
        <p:nvGraphicFramePr>
          <p:cNvPr id="2411588" name="Object 68"/>
          <p:cNvGraphicFramePr>
            <a:graphicFrameLocks noChangeAspect="1"/>
          </p:cNvGraphicFramePr>
          <p:nvPr/>
        </p:nvGraphicFramePr>
        <p:xfrm>
          <a:off x="414338" y="3795713"/>
          <a:ext cx="3221037" cy="1039812"/>
        </p:xfrm>
        <a:graphic>
          <a:graphicData uri="http://schemas.openxmlformats.org/presentationml/2006/ole">
            <mc:AlternateContent xmlns:mc="http://schemas.openxmlformats.org/markup-compatibility/2006">
              <mc:Choice xmlns:v="urn:schemas-microsoft-com:vml" Requires="v">
                <p:oleObj spid="_x0000_s3078" name="" r:id="rId1" imgW="1397000" imgH="457200" progId="Equation.3">
                  <p:embed/>
                </p:oleObj>
              </mc:Choice>
              <mc:Fallback>
                <p:oleObj name="" r:id="rId1" imgW="1397000" imgH="457200" progId="Equation.3">
                  <p:embed/>
                  <p:pic>
                    <p:nvPicPr>
                      <p:cNvPr id="0" name="图片 3077"/>
                      <p:cNvPicPr/>
                      <p:nvPr/>
                    </p:nvPicPr>
                    <p:blipFill>
                      <a:blip r:embed="rId2"/>
                      <a:stretch>
                        <a:fillRect/>
                      </a:stretch>
                    </p:blipFill>
                    <p:spPr>
                      <a:xfrm>
                        <a:off x="414338" y="3795713"/>
                        <a:ext cx="3221037" cy="1039812"/>
                      </a:xfrm>
                      <a:prstGeom prst="rect">
                        <a:avLst/>
                      </a:prstGeom>
                      <a:solidFill>
                        <a:srgbClr val="CCFFFF"/>
                      </a:solidFill>
                      <a:ln w="38100">
                        <a:noFill/>
                        <a:miter/>
                      </a:ln>
                    </p:spPr>
                  </p:pic>
                </p:oleObj>
              </mc:Fallback>
            </mc:AlternateContent>
          </a:graphicData>
        </a:graphic>
      </p:graphicFrame>
      <p:sp>
        <p:nvSpPr>
          <p:cNvPr id="2411589" name="Text Box 69"/>
          <p:cNvSpPr txBox="1"/>
          <p:nvPr/>
        </p:nvSpPr>
        <p:spPr>
          <a:xfrm>
            <a:off x="230188" y="5019675"/>
            <a:ext cx="3589337" cy="749300"/>
          </a:xfrm>
          <a:prstGeom prst="rect">
            <a:avLst/>
          </a:prstGeom>
          <a:noFill/>
          <a:ln w="9525">
            <a:noFill/>
          </a:ln>
        </p:spPr>
        <p:txBody>
          <a:bodyPr>
            <a:spAutoFit/>
          </a:bodyPr>
          <a:p>
            <a:pPr marL="457200" indent="-457200" eaLnBrk="1" hangingPunct="1">
              <a:lnSpc>
                <a:spcPct val="90000"/>
              </a:lnSpc>
              <a:spcBef>
                <a:spcPct val="40000"/>
              </a:spcBef>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其放大倍数可在</a:t>
            </a:r>
            <a:r>
              <a:rPr lang="en-US" altLang="zh-CN" sz="2400" b="1" dirty="0">
                <a:solidFill>
                  <a:srgbClr val="FF0000"/>
                </a:solidFill>
                <a:latin typeface="Times New Roman" panose="02020603050405020304" pitchFamily="18" charset="0"/>
                <a:ea typeface="黑体" panose="02010609060101010101" pitchFamily="49" charset="-122"/>
              </a:rPr>
              <a:t>1</a:t>
            </a:r>
            <a:r>
              <a:rPr lang="zh-CN" altLang="en-US" sz="2400" b="1" dirty="0">
                <a:solidFill>
                  <a:srgbClr val="FF0000"/>
                </a:solidFill>
                <a:latin typeface="Times New Roman" panose="02020603050405020304" pitchFamily="18" charset="0"/>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1000</a:t>
            </a:r>
            <a:r>
              <a:rPr lang="zh-CN" altLang="en-US" sz="2400" b="1" dirty="0">
                <a:solidFill>
                  <a:schemeClr val="tx2"/>
                </a:solidFill>
                <a:latin typeface="黑体" panose="02010609060101010101" pitchFamily="49" charset="-122"/>
                <a:ea typeface="黑体" panose="02010609060101010101" pitchFamily="49" charset="-122"/>
              </a:rPr>
              <a:t>的范围内调整。</a:t>
            </a:r>
            <a:endParaRPr lang="zh-CN" altLang="en-US" sz="2400" b="1" dirty="0">
              <a:solidFill>
                <a:schemeClr val="tx2"/>
              </a:solidFill>
              <a:latin typeface="黑体" panose="02010609060101010101" pitchFamily="49" charset="-122"/>
              <a:ea typeface="黑体" panose="02010609060101010101" pitchFamily="49" charset="-122"/>
            </a:endParaRPr>
          </a:p>
        </p:txBody>
      </p:sp>
      <p:grpSp>
        <p:nvGrpSpPr>
          <p:cNvPr id="37896" name="Group 70"/>
          <p:cNvGrpSpPr/>
          <p:nvPr/>
        </p:nvGrpSpPr>
        <p:grpSpPr>
          <a:xfrm>
            <a:off x="3819525" y="1376363"/>
            <a:ext cx="5181600" cy="4316412"/>
            <a:chOff x="2406" y="867"/>
            <a:chExt cx="3264" cy="2719"/>
          </a:xfrm>
        </p:grpSpPr>
        <p:sp>
          <p:nvSpPr>
            <p:cNvPr id="37897" name="Rectangle 71"/>
            <p:cNvSpPr/>
            <p:nvPr/>
          </p:nvSpPr>
          <p:spPr>
            <a:xfrm>
              <a:off x="2406" y="873"/>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898" name="AutoShape 72"/>
            <p:cNvSpPr/>
            <p:nvPr/>
          </p:nvSpPr>
          <p:spPr>
            <a:xfrm rot="5400000">
              <a:off x="3280" y="1196"/>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899" name="Text Box 73"/>
            <p:cNvSpPr txBox="1"/>
            <p:nvPr/>
          </p:nvSpPr>
          <p:spPr>
            <a:xfrm>
              <a:off x="3298" y="132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7900" name="Text Box 74"/>
            <p:cNvSpPr txBox="1"/>
            <p:nvPr/>
          </p:nvSpPr>
          <p:spPr>
            <a:xfrm>
              <a:off x="3302" y="211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7901" name="Text Box 75"/>
            <p:cNvSpPr txBox="1"/>
            <p:nvPr/>
          </p:nvSpPr>
          <p:spPr>
            <a:xfrm>
              <a:off x="3294" y="242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7902" name="Text Box 76"/>
            <p:cNvSpPr txBox="1"/>
            <p:nvPr/>
          </p:nvSpPr>
          <p:spPr>
            <a:xfrm>
              <a:off x="3761" y="230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7903" name="Text Box 77"/>
            <p:cNvSpPr txBox="1"/>
            <p:nvPr/>
          </p:nvSpPr>
          <p:spPr>
            <a:xfrm>
              <a:off x="3515" y="241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7904" name="Text Box 78"/>
            <p:cNvSpPr txBox="1"/>
            <p:nvPr/>
          </p:nvSpPr>
          <p:spPr>
            <a:xfrm>
              <a:off x="4170" y="209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7905" name="Text Box 79"/>
            <p:cNvSpPr txBox="1"/>
            <p:nvPr/>
          </p:nvSpPr>
          <p:spPr>
            <a:xfrm>
              <a:off x="4596" y="187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7906" name="Text Box 80"/>
            <p:cNvSpPr txBox="1"/>
            <p:nvPr/>
          </p:nvSpPr>
          <p:spPr>
            <a:xfrm>
              <a:off x="3536" y="136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7907" name="Text Box 81"/>
            <p:cNvSpPr txBox="1"/>
            <p:nvPr/>
          </p:nvSpPr>
          <p:spPr>
            <a:xfrm>
              <a:off x="3765" y="148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9</a:t>
              </a:r>
              <a:endParaRPr lang="en-US" altLang="zh-CN" sz="1600" b="1" dirty="0">
                <a:solidFill>
                  <a:srgbClr val="333399"/>
                </a:solidFill>
                <a:latin typeface="Times New Roman" panose="02020603050405020304" pitchFamily="18" charset="0"/>
              </a:endParaRPr>
            </a:p>
          </p:txBody>
        </p:sp>
        <p:sp>
          <p:nvSpPr>
            <p:cNvPr id="37908" name="Text Box 82"/>
            <p:cNvSpPr txBox="1"/>
            <p:nvPr/>
          </p:nvSpPr>
          <p:spPr>
            <a:xfrm>
              <a:off x="4393" y="1965"/>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7909" name="Text Box 83"/>
            <p:cNvSpPr txBox="1"/>
            <p:nvPr/>
          </p:nvSpPr>
          <p:spPr>
            <a:xfrm>
              <a:off x="4388" y="177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7910" name="Text Box 84"/>
            <p:cNvSpPr txBox="1"/>
            <p:nvPr/>
          </p:nvSpPr>
          <p:spPr>
            <a:xfrm>
              <a:off x="4173" y="166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7911" name="Text Box 85"/>
            <p:cNvSpPr txBox="1"/>
            <p:nvPr/>
          </p:nvSpPr>
          <p:spPr>
            <a:xfrm>
              <a:off x="3294" y="162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7912" name="Oval 86"/>
            <p:cNvSpPr/>
            <p:nvPr/>
          </p:nvSpPr>
          <p:spPr>
            <a:xfrm>
              <a:off x="2564" y="138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13" name="Text Box 87"/>
            <p:cNvSpPr txBox="1"/>
            <p:nvPr/>
          </p:nvSpPr>
          <p:spPr>
            <a:xfrm>
              <a:off x="2406" y="1183"/>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7914" name="Line 88"/>
            <p:cNvSpPr/>
            <p:nvPr/>
          </p:nvSpPr>
          <p:spPr>
            <a:xfrm>
              <a:off x="2630" y="1421"/>
              <a:ext cx="677" cy="0"/>
            </a:xfrm>
            <a:prstGeom prst="line">
              <a:avLst/>
            </a:prstGeom>
            <a:ln w="12700" cap="flat" cmpd="sng">
              <a:solidFill>
                <a:schemeClr val="accent2"/>
              </a:solidFill>
              <a:prstDash val="solid"/>
              <a:headEnd type="none" w="med" len="med"/>
              <a:tailEnd type="none" w="med" len="med"/>
            </a:ln>
          </p:spPr>
        </p:sp>
        <p:sp>
          <p:nvSpPr>
            <p:cNvPr id="37915" name="Text Box 89"/>
            <p:cNvSpPr txBox="1"/>
            <p:nvPr/>
          </p:nvSpPr>
          <p:spPr>
            <a:xfrm>
              <a:off x="2410" y="2582"/>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7916" name="Oval 90"/>
            <p:cNvSpPr/>
            <p:nvPr/>
          </p:nvSpPr>
          <p:spPr>
            <a:xfrm>
              <a:off x="2551" y="248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17" name="Line 91"/>
            <p:cNvSpPr/>
            <p:nvPr/>
          </p:nvSpPr>
          <p:spPr>
            <a:xfrm>
              <a:off x="2614" y="2514"/>
              <a:ext cx="693" cy="0"/>
            </a:xfrm>
            <a:prstGeom prst="line">
              <a:avLst/>
            </a:prstGeom>
            <a:ln w="12700" cap="flat" cmpd="sng">
              <a:solidFill>
                <a:schemeClr val="accent2"/>
              </a:solidFill>
              <a:prstDash val="solid"/>
              <a:headEnd type="none" w="med" len="med"/>
              <a:tailEnd type="none" w="med" len="med"/>
            </a:ln>
          </p:spPr>
        </p:sp>
        <p:sp>
          <p:nvSpPr>
            <p:cNvPr id="37918" name="Line 92"/>
            <p:cNvSpPr/>
            <p:nvPr/>
          </p:nvSpPr>
          <p:spPr>
            <a:xfrm>
              <a:off x="2973" y="1721"/>
              <a:ext cx="334" cy="0"/>
            </a:xfrm>
            <a:prstGeom prst="line">
              <a:avLst/>
            </a:prstGeom>
            <a:ln w="12700" cap="flat" cmpd="sng">
              <a:solidFill>
                <a:schemeClr val="accent2"/>
              </a:solidFill>
              <a:prstDash val="solid"/>
              <a:headEnd type="none" w="med" len="med"/>
              <a:tailEnd type="none" w="med" len="med"/>
            </a:ln>
          </p:spPr>
        </p:sp>
        <p:sp>
          <p:nvSpPr>
            <p:cNvPr id="37919" name="Line 93"/>
            <p:cNvSpPr/>
            <p:nvPr/>
          </p:nvSpPr>
          <p:spPr>
            <a:xfrm>
              <a:off x="2973" y="1721"/>
              <a:ext cx="0" cy="159"/>
            </a:xfrm>
            <a:prstGeom prst="line">
              <a:avLst/>
            </a:prstGeom>
            <a:ln w="12700" cap="flat" cmpd="sng">
              <a:solidFill>
                <a:schemeClr val="accent2"/>
              </a:solidFill>
              <a:prstDash val="solid"/>
              <a:headEnd type="none" w="med" len="med"/>
              <a:tailEnd type="none" w="med" len="med"/>
            </a:ln>
          </p:spPr>
        </p:sp>
        <p:sp>
          <p:nvSpPr>
            <p:cNvPr id="37920" name="Rectangle 94"/>
            <p:cNvSpPr/>
            <p:nvPr/>
          </p:nvSpPr>
          <p:spPr>
            <a:xfrm>
              <a:off x="2940" y="1880"/>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21" name="Text Box 95"/>
            <p:cNvSpPr txBox="1"/>
            <p:nvPr/>
          </p:nvSpPr>
          <p:spPr>
            <a:xfrm>
              <a:off x="2673" y="1852"/>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7922" name="Line 96"/>
            <p:cNvSpPr/>
            <p:nvPr/>
          </p:nvSpPr>
          <p:spPr>
            <a:xfrm>
              <a:off x="2973" y="2047"/>
              <a:ext cx="0" cy="167"/>
            </a:xfrm>
            <a:prstGeom prst="line">
              <a:avLst/>
            </a:prstGeom>
            <a:ln w="12700" cap="flat" cmpd="sng">
              <a:solidFill>
                <a:schemeClr val="accent2"/>
              </a:solidFill>
              <a:prstDash val="solid"/>
              <a:headEnd type="none" w="med" len="med"/>
              <a:tailEnd type="none" w="med" len="med"/>
            </a:ln>
          </p:spPr>
        </p:sp>
        <p:sp>
          <p:nvSpPr>
            <p:cNvPr id="37923" name="Line 97"/>
            <p:cNvSpPr/>
            <p:nvPr/>
          </p:nvSpPr>
          <p:spPr>
            <a:xfrm>
              <a:off x="2973" y="2214"/>
              <a:ext cx="334" cy="0"/>
            </a:xfrm>
            <a:prstGeom prst="line">
              <a:avLst/>
            </a:prstGeom>
            <a:ln w="12700" cap="flat" cmpd="sng">
              <a:solidFill>
                <a:schemeClr val="accent2"/>
              </a:solidFill>
              <a:prstDash val="solid"/>
              <a:headEnd type="none" w="med" len="med"/>
              <a:tailEnd type="none" w="med" len="med"/>
            </a:ln>
          </p:spPr>
        </p:sp>
        <p:sp>
          <p:nvSpPr>
            <p:cNvPr id="37924" name="Line 98"/>
            <p:cNvSpPr/>
            <p:nvPr/>
          </p:nvSpPr>
          <p:spPr>
            <a:xfrm>
              <a:off x="3858" y="2489"/>
              <a:ext cx="0" cy="217"/>
            </a:xfrm>
            <a:prstGeom prst="line">
              <a:avLst/>
            </a:prstGeom>
            <a:ln w="12700" cap="flat" cmpd="sng">
              <a:solidFill>
                <a:schemeClr val="accent2"/>
              </a:solidFill>
              <a:prstDash val="solid"/>
              <a:headEnd type="none" w="med" len="med"/>
              <a:tailEnd type="none" w="med" len="med"/>
            </a:ln>
          </p:spPr>
        </p:sp>
        <p:sp>
          <p:nvSpPr>
            <p:cNvPr id="37925" name="Line 99"/>
            <p:cNvSpPr/>
            <p:nvPr/>
          </p:nvSpPr>
          <p:spPr>
            <a:xfrm>
              <a:off x="3858" y="2706"/>
              <a:ext cx="116" cy="0"/>
            </a:xfrm>
            <a:prstGeom prst="line">
              <a:avLst/>
            </a:prstGeom>
            <a:ln w="12700" cap="flat" cmpd="sng">
              <a:solidFill>
                <a:schemeClr val="accent2"/>
              </a:solidFill>
              <a:prstDash val="solid"/>
              <a:headEnd type="none" w="med" len="med"/>
              <a:tailEnd type="none" w="med" len="med"/>
            </a:ln>
          </p:spPr>
        </p:sp>
        <p:sp>
          <p:nvSpPr>
            <p:cNvPr id="37926" name="Rectangle 100"/>
            <p:cNvSpPr/>
            <p:nvPr/>
          </p:nvSpPr>
          <p:spPr>
            <a:xfrm>
              <a:off x="3974" y="2673"/>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27" name="Text Box 101"/>
            <p:cNvSpPr txBox="1"/>
            <p:nvPr/>
          </p:nvSpPr>
          <p:spPr>
            <a:xfrm>
              <a:off x="3850" y="2514"/>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7928" name="Line 102"/>
            <p:cNvSpPr/>
            <p:nvPr/>
          </p:nvSpPr>
          <p:spPr>
            <a:xfrm>
              <a:off x="4142" y="2706"/>
              <a:ext cx="125" cy="0"/>
            </a:xfrm>
            <a:prstGeom prst="line">
              <a:avLst/>
            </a:prstGeom>
            <a:ln w="12700" cap="flat" cmpd="sng">
              <a:solidFill>
                <a:schemeClr val="accent2"/>
              </a:solidFill>
              <a:prstDash val="solid"/>
              <a:headEnd type="none" w="med" len="med"/>
              <a:tailEnd type="none" w="med" len="med"/>
            </a:ln>
          </p:spPr>
        </p:sp>
        <p:sp>
          <p:nvSpPr>
            <p:cNvPr id="37929" name="Line 103"/>
            <p:cNvSpPr/>
            <p:nvPr/>
          </p:nvSpPr>
          <p:spPr>
            <a:xfrm flipV="1">
              <a:off x="4267" y="2272"/>
              <a:ext cx="0" cy="434"/>
            </a:xfrm>
            <a:prstGeom prst="line">
              <a:avLst/>
            </a:prstGeom>
            <a:ln w="12700" cap="flat" cmpd="sng">
              <a:solidFill>
                <a:schemeClr val="accent2"/>
              </a:solidFill>
              <a:prstDash val="solid"/>
              <a:headEnd type="none" w="med" len="med"/>
              <a:tailEnd type="none" w="med" len="med"/>
            </a:ln>
          </p:spPr>
        </p:sp>
        <p:sp>
          <p:nvSpPr>
            <p:cNvPr id="37930" name="Line 104"/>
            <p:cNvSpPr/>
            <p:nvPr/>
          </p:nvSpPr>
          <p:spPr>
            <a:xfrm>
              <a:off x="3641" y="2598"/>
              <a:ext cx="0" cy="265"/>
            </a:xfrm>
            <a:prstGeom prst="line">
              <a:avLst/>
            </a:prstGeom>
            <a:ln w="12700" cap="flat" cmpd="sng">
              <a:solidFill>
                <a:schemeClr val="accent2"/>
              </a:solidFill>
              <a:prstDash val="solid"/>
              <a:headEnd type="none" w="med" len="med"/>
              <a:tailEnd type="none" w="med" len="med"/>
            </a:ln>
          </p:spPr>
        </p:sp>
        <p:sp>
          <p:nvSpPr>
            <p:cNvPr id="37931" name="Oval 105"/>
            <p:cNvSpPr/>
            <p:nvPr/>
          </p:nvSpPr>
          <p:spPr>
            <a:xfrm>
              <a:off x="3611" y="286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32" name="Oval 106"/>
            <p:cNvSpPr/>
            <p:nvPr/>
          </p:nvSpPr>
          <p:spPr>
            <a:xfrm>
              <a:off x="4237" y="141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33" name="Line 107"/>
            <p:cNvSpPr/>
            <p:nvPr/>
          </p:nvSpPr>
          <p:spPr>
            <a:xfrm>
              <a:off x="4054" y="2946"/>
              <a:ext cx="936" cy="0"/>
            </a:xfrm>
            <a:prstGeom prst="line">
              <a:avLst/>
            </a:prstGeom>
            <a:ln w="12700" cap="flat" cmpd="sng">
              <a:solidFill>
                <a:schemeClr val="accent2"/>
              </a:solidFill>
              <a:prstDash val="solid"/>
              <a:headEnd type="none" w="med" len="med"/>
              <a:tailEnd type="none" w="med" len="med"/>
            </a:ln>
          </p:spPr>
        </p:sp>
        <p:sp>
          <p:nvSpPr>
            <p:cNvPr id="37934" name="Line 108"/>
            <p:cNvSpPr/>
            <p:nvPr/>
          </p:nvSpPr>
          <p:spPr>
            <a:xfrm flipV="1">
              <a:off x="4058" y="2739"/>
              <a:ext cx="0" cy="210"/>
            </a:xfrm>
            <a:prstGeom prst="line">
              <a:avLst/>
            </a:prstGeom>
            <a:ln w="12700" cap="flat" cmpd="sng">
              <a:solidFill>
                <a:schemeClr val="accent2"/>
              </a:solidFill>
              <a:prstDash val="solid"/>
              <a:headEnd type="none" w="med" len="med"/>
              <a:tailEnd type="triangle" w="sm" len="lg"/>
            </a:ln>
          </p:spPr>
        </p:sp>
        <p:sp>
          <p:nvSpPr>
            <p:cNvPr id="37935" name="Line 109"/>
            <p:cNvSpPr/>
            <p:nvPr/>
          </p:nvSpPr>
          <p:spPr>
            <a:xfrm>
              <a:off x="4525" y="2139"/>
              <a:ext cx="0" cy="486"/>
            </a:xfrm>
            <a:prstGeom prst="line">
              <a:avLst/>
            </a:prstGeom>
            <a:ln w="12700" cap="flat" cmpd="sng">
              <a:solidFill>
                <a:schemeClr val="accent2"/>
              </a:solidFill>
              <a:prstDash val="solid"/>
              <a:headEnd type="none" w="med" len="med"/>
              <a:tailEnd type="none" w="med" len="med"/>
            </a:ln>
          </p:spPr>
        </p:sp>
        <p:sp>
          <p:nvSpPr>
            <p:cNvPr id="37936" name="Line 110"/>
            <p:cNvSpPr/>
            <p:nvPr/>
          </p:nvSpPr>
          <p:spPr>
            <a:xfrm>
              <a:off x="4843" y="1972"/>
              <a:ext cx="576" cy="0"/>
            </a:xfrm>
            <a:prstGeom prst="line">
              <a:avLst/>
            </a:prstGeom>
            <a:ln w="12700" cap="flat" cmpd="sng">
              <a:solidFill>
                <a:schemeClr val="accent2"/>
              </a:solidFill>
              <a:prstDash val="solid"/>
              <a:headEnd type="none" w="med" len="med"/>
              <a:tailEnd type="none" w="med" len="med"/>
            </a:ln>
          </p:spPr>
        </p:sp>
        <p:sp>
          <p:nvSpPr>
            <p:cNvPr id="37937" name="Oval 111"/>
            <p:cNvSpPr/>
            <p:nvPr/>
          </p:nvSpPr>
          <p:spPr>
            <a:xfrm>
              <a:off x="5414" y="194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38" name="Text Box 112"/>
            <p:cNvSpPr txBox="1"/>
            <p:nvPr/>
          </p:nvSpPr>
          <p:spPr>
            <a:xfrm>
              <a:off x="5242" y="2037"/>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7939" name="Oval 113"/>
            <p:cNvSpPr/>
            <p:nvPr/>
          </p:nvSpPr>
          <p:spPr>
            <a:xfrm>
              <a:off x="5165" y="193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40" name="Line 114"/>
            <p:cNvSpPr/>
            <p:nvPr/>
          </p:nvSpPr>
          <p:spPr>
            <a:xfrm flipV="1">
              <a:off x="5193" y="1661"/>
              <a:ext cx="0" cy="311"/>
            </a:xfrm>
            <a:prstGeom prst="line">
              <a:avLst/>
            </a:prstGeom>
            <a:ln w="9525" cap="flat" cmpd="sng">
              <a:solidFill>
                <a:schemeClr val="accent2"/>
              </a:solidFill>
              <a:prstDash val="solid"/>
              <a:headEnd type="none" w="med" len="med"/>
              <a:tailEnd type="none" w="med" len="med"/>
            </a:ln>
          </p:spPr>
        </p:sp>
        <p:sp>
          <p:nvSpPr>
            <p:cNvPr id="37941" name="Line 115"/>
            <p:cNvSpPr/>
            <p:nvPr/>
          </p:nvSpPr>
          <p:spPr>
            <a:xfrm flipH="1">
              <a:off x="4525" y="1661"/>
              <a:ext cx="668" cy="0"/>
            </a:xfrm>
            <a:prstGeom prst="line">
              <a:avLst/>
            </a:prstGeom>
            <a:ln w="12700" cap="flat" cmpd="sng">
              <a:solidFill>
                <a:schemeClr val="accent2"/>
              </a:solidFill>
              <a:prstDash val="solid"/>
              <a:headEnd type="none" w="med" len="med"/>
              <a:tailEnd type="none" w="med" len="med"/>
            </a:ln>
          </p:spPr>
        </p:sp>
        <p:sp>
          <p:nvSpPr>
            <p:cNvPr id="37942" name="Line 116"/>
            <p:cNvSpPr/>
            <p:nvPr/>
          </p:nvSpPr>
          <p:spPr>
            <a:xfrm>
              <a:off x="4525" y="1661"/>
              <a:ext cx="0" cy="144"/>
            </a:xfrm>
            <a:prstGeom prst="line">
              <a:avLst/>
            </a:prstGeom>
            <a:ln w="12700" cap="flat" cmpd="sng">
              <a:solidFill>
                <a:schemeClr val="accent2"/>
              </a:solidFill>
              <a:prstDash val="solid"/>
              <a:headEnd type="none" w="med" len="med"/>
              <a:tailEnd type="none" w="med" len="med"/>
            </a:ln>
          </p:spPr>
        </p:sp>
        <p:sp>
          <p:nvSpPr>
            <p:cNvPr id="37943" name="Line 117"/>
            <p:cNvSpPr/>
            <p:nvPr/>
          </p:nvSpPr>
          <p:spPr>
            <a:xfrm flipV="1">
              <a:off x="3858" y="1044"/>
              <a:ext cx="0" cy="403"/>
            </a:xfrm>
            <a:prstGeom prst="line">
              <a:avLst/>
            </a:prstGeom>
            <a:ln w="12700" cap="flat" cmpd="sng">
              <a:solidFill>
                <a:schemeClr val="accent2"/>
              </a:solidFill>
              <a:prstDash val="solid"/>
              <a:headEnd type="none" w="med" len="med"/>
              <a:tailEnd type="none" w="med" len="med"/>
            </a:ln>
          </p:spPr>
        </p:sp>
        <p:sp>
          <p:nvSpPr>
            <p:cNvPr id="37944" name="Line 118"/>
            <p:cNvSpPr/>
            <p:nvPr/>
          </p:nvSpPr>
          <p:spPr>
            <a:xfrm>
              <a:off x="3858" y="1044"/>
              <a:ext cx="170" cy="0"/>
            </a:xfrm>
            <a:prstGeom prst="line">
              <a:avLst/>
            </a:prstGeom>
            <a:ln w="12700" cap="flat" cmpd="sng">
              <a:solidFill>
                <a:schemeClr val="accent2"/>
              </a:solidFill>
              <a:prstDash val="solid"/>
              <a:headEnd type="none" w="med" len="med"/>
              <a:tailEnd type="none" w="med" len="med"/>
            </a:ln>
          </p:spPr>
        </p:sp>
        <p:sp>
          <p:nvSpPr>
            <p:cNvPr id="37945" name="Line 119"/>
            <p:cNvSpPr/>
            <p:nvPr/>
          </p:nvSpPr>
          <p:spPr>
            <a:xfrm>
              <a:off x="4267" y="1170"/>
              <a:ext cx="0" cy="501"/>
            </a:xfrm>
            <a:prstGeom prst="line">
              <a:avLst/>
            </a:prstGeom>
            <a:ln w="12700" cap="flat" cmpd="sng">
              <a:solidFill>
                <a:schemeClr val="accent2"/>
              </a:solidFill>
              <a:prstDash val="solid"/>
              <a:headEnd type="none" w="med" len="med"/>
              <a:tailEnd type="none" w="med" len="med"/>
            </a:ln>
          </p:spPr>
        </p:sp>
        <p:sp>
          <p:nvSpPr>
            <p:cNvPr id="37946" name="Line 120"/>
            <p:cNvSpPr/>
            <p:nvPr/>
          </p:nvSpPr>
          <p:spPr>
            <a:xfrm>
              <a:off x="3641" y="1037"/>
              <a:ext cx="0" cy="309"/>
            </a:xfrm>
            <a:prstGeom prst="line">
              <a:avLst/>
            </a:prstGeom>
            <a:ln w="12700" cap="flat" cmpd="sng">
              <a:solidFill>
                <a:schemeClr val="accent2"/>
              </a:solidFill>
              <a:prstDash val="solid"/>
              <a:headEnd type="none" w="med" len="med"/>
              <a:tailEnd type="none" w="med" len="med"/>
            </a:ln>
          </p:spPr>
        </p:sp>
        <p:sp>
          <p:nvSpPr>
            <p:cNvPr id="37947" name="Oval 121"/>
            <p:cNvSpPr/>
            <p:nvPr/>
          </p:nvSpPr>
          <p:spPr>
            <a:xfrm>
              <a:off x="3611" y="9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48" name="Text Box 122"/>
            <p:cNvSpPr txBox="1"/>
            <p:nvPr/>
          </p:nvSpPr>
          <p:spPr>
            <a:xfrm>
              <a:off x="3324" y="867"/>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7949" name="Text Box 123"/>
            <p:cNvSpPr txBox="1"/>
            <p:nvPr/>
          </p:nvSpPr>
          <p:spPr>
            <a:xfrm>
              <a:off x="3111" y="3249"/>
              <a:ext cx="1840"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AD522</a:t>
              </a:r>
              <a:r>
                <a:rPr lang="zh-CN" altLang="en-US" sz="2400" b="1" dirty="0">
                  <a:solidFill>
                    <a:srgbClr val="000099"/>
                  </a:solidFill>
                  <a:latin typeface="Times New Roman" panose="02020603050405020304" pitchFamily="18" charset="0"/>
                </a:rPr>
                <a:t>基本连接方法</a:t>
              </a:r>
              <a:endParaRPr lang="zh-CN" altLang="en-US" sz="2400" b="1" dirty="0">
                <a:solidFill>
                  <a:srgbClr val="000099"/>
                </a:solidFill>
                <a:latin typeface="Times New Roman" panose="02020603050405020304" pitchFamily="18" charset="0"/>
              </a:endParaRPr>
            </a:p>
          </p:txBody>
        </p:sp>
        <p:sp>
          <p:nvSpPr>
            <p:cNvPr id="37950" name="Line 124"/>
            <p:cNvSpPr/>
            <p:nvPr/>
          </p:nvSpPr>
          <p:spPr>
            <a:xfrm>
              <a:off x="4028" y="1044"/>
              <a:ext cx="0" cy="184"/>
            </a:xfrm>
            <a:prstGeom prst="line">
              <a:avLst/>
            </a:prstGeom>
            <a:ln w="12700" cap="flat" cmpd="sng">
              <a:solidFill>
                <a:schemeClr val="accent2"/>
              </a:solidFill>
              <a:prstDash val="solid"/>
              <a:headEnd type="none" w="med" len="med"/>
              <a:tailEnd type="none" w="med" len="med"/>
            </a:ln>
          </p:spPr>
        </p:sp>
        <p:sp>
          <p:nvSpPr>
            <p:cNvPr id="37951" name="AutoShape 125"/>
            <p:cNvSpPr/>
            <p:nvPr/>
          </p:nvSpPr>
          <p:spPr>
            <a:xfrm rot="10800000">
              <a:off x="3886" y="1227"/>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52" name="Oval 126"/>
            <p:cNvSpPr/>
            <p:nvPr/>
          </p:nvSpPr>
          <p:spPr>
            <a:xfrm>
              <a:off x="4237" y="112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7953" name="Text Box 127"/>
            <p:cNvSpPr txBox="1"/>
            <p:nvPr/>
          </p:nvSpPr>
          <p:spPr>
            <a:xfrm>
              <a:off x="4200" y="924"/>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7954" name="Line 128"/>
            <p:cNvSpPr/>
            <p:nvPr/>
          </p:nvSpPr>
          <p:spPr>
            <a:xfrm>
              <a:off x="4440" y="2625"/>
              <a:ext cx="170" cy="0"/>
            </a:xfrm>
            <a:prstGeom prst="line">
              <a:avLst/>
            </a:prstGeom>
            <a:ln w="19050" cap="flat" cmpd="sng">
              <a:solidFill>
                <a:schemeClr val="accent2"/>
              </a:solidFill>
              <a:prstDash val="solid"/>
              <a:headEnd type="none" w="med" len="med"/>
              <a:tailEnd type="none" w="med" len="med"/>
            </a:ln>
          </p:spPr>
        </p:sp>
        <p:sp>
          <p:nvSpPr>
            <p:cNvPr id="37955" name="Line 129"/>
            <p:cNvSpPr/>
            <p:nvPr/>
          </p:nvSpPr>
          <p:spPr>
            <a:xfrm>
              <a:off x="4990" y="1447"/>
              <a:ext cx="0" cy="1501"/>
            </a:xfrm>
            <a:prstGeom prst="line">
              <a:avLst/>
            </a:prstGeom>
            <a:ln w="12700" cap="flat" cmpd="sng">
              <a:solidFill>
                <a:schemeClr val="accent2"/>
              </a:solidFill>
              <a:prstDash val="solid"/>
              <a:headEnd type="none" w="med" len="med"/>
              <a:tailEnd type="none" w="med" len="med"/>
            </a:ln>
          </p:spPr>
        </p:sp>
        <p:sp>
          <p:nvSpPr>
            <p:cNvPr id="37956" name="Line 130"/>
            <p:cNvSpPr/>
            <p:nvPr/>
          </p:nvSpPr>
          <p:spPr>
            <a:xfrm flipH="1">
              <a:off x="4267" y="1443"/>
              <a:ext cx="724" cy="0"/>
            </a:xfrm>
            <a:prstGeom prst="line">
              <a:avLst/>
            </a:prstGeom>
            <a:ln w="12700" cap="flat" cmpd="sng">
              <a:solidFill>
                <a:schemeClr val="accent2"/>
              </a:solidFill>
              <a:prstDash val="solid"/>
              <a:headEnd type="none" w="med" len="med"/>
              <a:tailEnd type="none" w="med" len="med"/>
            </a:ln>
          </p:spPr>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1586"/>
                                        </p:tgtEl>
                                        <p:attrNameLst>
                                          <p:attrName>style.visibility</p:attrName>
                                        </p:attrNameLst>
                                      </p:cBhvr>
                                      <p:to>
                                        <p:strVal val="visible"/>
                                      </p:to>
                                    </p:set>
                                    <p:animEffect transition="in" filter="dissolve">
                                      <p:cBhvr>
                                        <p:cTn id="7" dur="500"/>
                                        <p:tgtEl>
                                          <p:spTgt spid="24115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11587"/>
                                        </p:tgtEl>
                                        <p:attrNameLst>
                                          <p:attrName>style.visibility</p:attrName>
                                        </p:attrNameLst>
                                      </p:cBhvr>
                                      <p:to>
                                        <p:strVal val="visible"/>
                                      </p:to>
                                    </p:set>
                                    <p:animEffect transition="in" filter="dissolve">
                                      <p:cBhvr>
                                        <p:cTn id="12" dur="500"/>
                                        <p:tgtEl>
                                          <p:spTgt spid="2411587"/>
                                        </p:tgtEl>
                                      </p:cBhvr>
                                    </p:animEffect>
                                  </p:childTnLst>
                                </p:cTn>
                              </p:par>
                              <p:par>
                                <p:cTn id="13" presetID="9" presetClass="entr" presetSubtype="0" fill="hold" nodeType="withEffect">
                                  <p:stCondLst>
                                    <p:cond delay="0"/>
                                  </p:stCondLst>
                                  <p:childTnLst>
                                    <p:set>
                                      <p:cBhvr>
                                        <p:cTn id="14" dur="1" fill="hold">
                                          <p:stCondLst>
                                            <p:cond delay="0"/>
                                          </p:stCondLst>
                                        </p:cTn>
                                        <p:tgtEl>
                                          <p:spTgt spid="2411588"/>
                                        </p:tgtEl>
                                        <p:attrNameLst>
                                          <p:attrName>style.visibility</p:attrName>
                                        </p:attrNameLst>
                                      </p:cBhvr>
                                      <p:to>
                                        <p:strVal val="visible"/>
                                      </p:to>
                                    </p:set>
                                    <p:animEffect transition="in" filter="dissolve">
                                      <p:cBhvr>
                                        <p:cTn id="15" dur="500"/>
                                        <p:tgtEl>
                                          <p:spTgt spid="241158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11589"/>
                                        </p:tgtEl>
                                        <p:attrNameLst>
                                          <p:attrName>style.visibility</p:attrName>
                                        </p:attrNameLst>
                                      </p:cBhvr>
                                      <p:to>
                                        <p:strVal val="visible"/>
                                      </p:to>
                                    </p:set>
                                    <p:animEffect transition="in" filter="dissolve">
                                      <p:cBhvr>
                                        <p:cTn id="20" dur="500"/>
                                        <p:tgtEl>
                                          <p:spTgt spid="24115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1586" grpId="0"/>
      <p:bldP spid="2411587" grpId="0"/>
      <p:bldP spid="2411589"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2546" name="Text Box 2"/>
          <p:cNvSpPr txBox="1">
            <a:spLocks noChangeArrowheads="1"/>
          </p:cNvSpPr>
          <p:nvPr/>
        </p:nvSpPr>
        <p:spPr bwMode="auto">
          <a:xfrm>
            <a:off x="1439863" y="44450"/>
            <a:ext cx="6481763"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4.4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测量放大器集成芯片 </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8915" name="Text Box 3"/>
          <p:cNvSpPr txBox="1"/>
          <p:nvPr/>
        </p:nvSpPr>
        <p:spPr>
          <a:xfrm>
            <a:off x="446088" y="692150"/>
            <a:ext cx="2109787"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2. AD522</a:t>
            </a:r>
            <a:endParaRPr lang="en-US" altLang="zh-CN" sz="3600" b="1" dirty="0">
              <a:solidFill>
                <a:srgbClr val="333399"/>
              </a:solidFill>
              <a:latin typeface="Times New Roman" panose="02020603050405020304" pitchFamily="18" charset="0"/>
            </a:endParaRPr>
          </a:p>
        </p:txBody>
      </p:sp>
      <p:sp>
        <p:nvSpPr>
          <p:cNvPr id="2412610" name="Text Box 66"/>
          <p:cNvSpPr txBox="1"/>
          <p:nvPr/>
        </p:nvSpPr>
        <p:spPr>
          <a:xfrm>
            <a:off x="107950" y="1916113"/>
            <a:ext cx="3711575" cy="4364037"/>
          </a:xfrm>
          <a:prstGeom prst="rect">
            <a:avLst/>
          </a:prstGeom>
          <a:noFill/>
          <a:ln w="9525">
            <a:noFill/>
          </a:ln>
        </p:spPr>
        <p:txBody>
          <a:bodyPr>
            <a:spAutoFit/>
          </a:bodyPr>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共模抑制比</a:t>
            </a:r>
            <a:r>
              <a:rPr lang="en-US" altLang="zh-CN" sz="2400" b="1" dirty="0">
                <a:solidFill>
                  <a:srgbClr val="FF0000"/>
                </a:solidFill>
                <a:latin typeface="Times New Roman" panose="02020603050405020304" pitchFamily="18" charset="0"/>
                <a:ea typeface="黑体" panose="02010609060101010101" pitchFamily="49" charset="-122"/>
              </a:rPr>
              <a:t>&gt;</a:t>
            </a:r>
            <a:r>
              <a:rPr lang="en-US" altLang="zh-CN" sz="2400" b="1" dirty="0">
                <a:solidFill>
                  <a:srgbClr val="FF0000"/>
                </a:solidFill>
                <a:latin typeface="黑体" panose="02010609060101010101" pitchFamily="49" charset="-122"/>
                <a:ea typeface="黑体" panose="02010609060101010101" pitchFamily="49" charset="-122"/>
              </a:rPr>
              <a:t>100dB </a:t>
            </a:r>
            <a:r>
              <a:rPr lang="en-US" altLang="zh-CN" sz="2400" b="1" dirty="0">
                <a:solidFill>
                  <a:schemeClr val="tx1"/>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G=100</a:t>
            </a:r>
            <a:r>
              <a:rPr lang="zh-CN" altLang="en-US" sz="2400" b="1" dirty="0">
                <a:solidFill>
                  <a:schemeClr val="tx1"/>
                </a:solidFill>
                <a:latin typeface="黑体" panose="02010609060101010101" pitchFamily="49" charset="-122"/>
                <a:ea typeface="黑体" panose="02010609060101010101" pitchFamily="49" charset="-122"/>
              </a:rPr>
              <a:t>时</a:t>
            </a:r>
            <a:r>
              <a:rPr lang="en-US" altLang="zh-CN" sz="2400" b="1" dirty="0">
                <a:solidFill>
                  <a:schemeClr val="tx1"/>
                </a:solidFill>
                <a:latin typeface="黑体" panose="02010609060101010101" pitchFamily="49" charset="-122"/>
                <a:ea typeface="黑体" panose="02010609060101010101" pitchFamily="49" charset="-122"/>
              </a:rPr>
              <a:t>)</a:t>
            </a:r>
            <a:r>
              <a:rPr lang="zh-CN" altLang="en-US" sz="2400" b="1" dirty="0">
                <a:solidFill>
                  <a:schemeClr val="tx2"/>
                </a:solidFill>
                <a:latin typeface="黑体" panose="02010609060101010101" pitchFamily="49" charset="-122"/>
                <a:ea typeface="黑体" panose="02010609060101010101" pitchFamily="49" charset="-122"/>
              </a:rPr>
              <a:t>；</a:t>
            </a:r>
            <a:endParaRPr lang="zh-CN" altLang="en-US" sz="2400" b="1" dirty="0">
              <a:solidFill>
                <a:schemeClr val="tx2"/>
              </a:solidFill>
              <a:latin typeface="黑体" panose="02010609060101010101" pitchFamily="49" charset="-122"/>
              <a:ea typeface="黑体" panose="02010609060101010101" pitchFamily="49" charset="-12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输入阻抗</a:t>
            </a:r>
            <a:r>
              <a:rPr lang="en-US" altLang="zh-CN" sz="2400" b="1" dirty="0">
                <a:solidFill>
                  <a:srgbClr val="FF0000"/>
                </a:solidFill>
                <a:latin typeface="黑体" panose="02010609060101010101" pitchFamily="49" charset="-122"/>
                <a:ea typeface="黑体" panose="02010609060101010101" pitchFamily="49" charset="-122"/>
                <a:sym typeface="Symbol" panose="05050102010706020507" pitchFamily="18" charset="2"/>
              </a:rPr>
              <a:t>10</a:t>
            </a:r>
            <a:r>
              <a:rPr lang="en-US" altLang="zh-CN" sz="2400" b="1" baseline="30000" dirty="0">
                <a:solidFill>
                  <a:srgbClr val="FF0000"/>
                </a:solidFill>
                <a:latin typeface="黑体" panose="02010609060101010101" pitchFamily="49" charset="-122"/>
                <a:ea typeface="黑体" panose="02010609060101010101" pitchFamily="49" charset="-122"/>
                <a:sym typeface="Symbol" panose="05050102010706020507" pitchFamily="18" charset="2"/>
              </a:rPr>
              <a:t>9</a:t>
            </a:r>
            <a:r>
              <a:rPr lang="en-US" altLang="zh-CN" sz="2400" b="1" dirty="0">
                <a:solidFill>
                  <a:srgbClr val="FF0000"/>
                </a:solidFill>
                <a:latin typeface="黑体" panose="02010609060101010101" pitchFamily="49" charset="-122"/>
                <a:ea typeface="黑体" panose="02010609060101010101" pitchFamily="49" charset="-122"/>
                <a:sym typeface="Symbol" panose="05050102010706020507" pitchFamily="18" charset="2"/>
              </a:rPr>
              <a:t></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endPar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非线性度低：</a:t>
            </a:r>
            <a:r>
              <a:rPr lang="en-US" altLang="zh-CN" sz="2400" b="1" dirty="0">
                <a:solidFill>
                  <a:srgbClr val="FF0000"/>
                </a:solidFill>
                <a:latin typeface="Times New Roman" panose="02020603050405020304" pitchFamily="18" charset="0"/>
                <a:ea typeface="黑体" panose="02010609060101010101" pitchFamily="49" charset="-122"/>
                <a:sym typeface="Symbol" panose="05050102010706020507" pitchFamily="18" charset="2"/>
              </a:rPr>
              <a:t>0.005%</a:t>
            </a:r>
            <a:r>
              <a:rPr lang="en-US" altLang="zh-CN"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 (</a:t>
            </a:r>
            <a:r>
              <a:rPr lang="en-US" altLang="zh-CN" sz="2400" b="1" dirty="0">
                <a:solidFill>
                  <a:srgbClr val="FF0000"/>
                </a:solidFill>
                <a:latin typeface="Times New Roman" panose="02020603050405020304" pitchFamily="18" charset="0"/>
                <a:ea typeface="黑体" panose="02010609060101010101" pitchFamily="49" charset="-122"/>
                <a:sym typeface="Symbol" panose="05050102010706020507" pitchFamily="18" charset="2"/>
              </a:rPr>
              <a:t>G=100</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时</a:t>
            </a:r>
            <a:r>
              <a:rPr lang="en-US" altLang="zh-CN"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r>
              <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rPr>
              <a:t>；</a:t>
            </a:r>
            <a:endParaRPr lang="zh-CN" altLang="en-US" sz="2400" b="1" dirty="0">
              <a:solidFill>
                <a:schemeClr val="tx2"/>
              </a:solidFill>
              <a:latin typeface="黑体" panose="02010609060101010101" pitchFamily="49" charset="-122"/>
              <a:ea typeface="黑体" panose="02010609060101010101" pitchFamily="49" charset="-122"/>
              <a:sym typeface="Symbol" panose="05050102010706020507" pitchFamily="18" charset="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电源电压</a:t>
            </a:r>
            <a:r>
              <a:rPr lang="en-US" altLang="zh-CN" sz="2400" b="1" dirty="0">
                <a:solidFill>
                  <a:srgbClr val="FF0000"/>
                </a:solidFill>
                <a:latin typeface="Times New Roman" panose="02020603050405020304" pitchFamily="18" charset="0"/>
                <a:ea typeface="黑体" panose="02010609060101010101" pitchFamily="49" charset="-122"/>
              </a:rPr>
              <a:t>±(5</a:t>
            </a:r>
            <a:r>
              <a:rPr lang="en-US" altLang="zh-CN" sz="2400" b="1" dirty="0">
                <a:solidFill>
                  <a:srgbClr val="FF0000"/>
                </a:solidFill>
                <a:latin typeface="Times New Roman" panose="02020603050405020304" pitchFamily="18" charset="0"/>
              </a:rPr>
              <a:t>~</a:t>
            </a:r>
            <a:r>
              <a:rPr lang="en-US" altLang="zh-CN" sz="2400" b="1" dirty="0">
                <a:solidFill>
                  <a:srgbClr val="FF0000"/>
                </a:solidFill>
                <a:latin typeface="Times New Roman" panose="02020603050405020304" pitchFamily="18" charset="0"/>
                <a:ea typeface="黑体" panose="02010609060101010101" pitchFamily="49" charset="-122"/>
              </a:rPr>
              <a:t>8)V</a:t>
            </a:r>
            <a:r>
              <a:rPr lang="zh-CN" altLang="en-US" sz="2400" b="1" dirty="0">
                <a:solidFill>
                  <a:schemeClr val="tx1"/>
                </a:solidFill>
                <a:latin typeface="Times New Roman" panose="02020603050405020304" pitchFamily="18" charset="0"/>
                <a:ea typeface="黑体" panose="02010609060101010101" pitchFamily="49" charset="-122"/>
              </a:rPr>
              <a:t>；</a:t>
            </a:r>
            <a:endParaRPr lang="zh-CN" altLang="en-US" sz="2400" b="1" dirty="0">
              <a:solidFill>
                <a:schemeClr val="tx1"/>
              </a:solidFill>
              <a:latin typeface="Times New Roman" panose="02020603050405020304" pitchFamily="18" charset="0"/>
              <a:ea typeface="黑体" panose="02010609060101010101" pitchFamily="49" charset="-12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低漂移：</a:t>
            </a:r>
            <a:r>
              <a:rPr lang="en-US" altLang="zh-CN" sz="2400" b="1" dirty="0">
                <a:solidFill>
                  <a:srgbClr val="FF0000"/>
                </a:solidFill>
                <a:latin typeface="Times New Roman" panose="02020603050405020304" pitchFamily="18" charset="0"/>
                <a:ea typeface="黑体" panose="02010609060101010101" pitchFamily="49" charset="-122"/>
              </a:rPr>
              <a:t>2.0uV/℃</a:t>
            </a:r>
            <a:r>
              <a:rPr lang="zh-CN" altLang="en-US" sz="2400" b="1" dirty="0">
                <a:solidFill>
                  <a:schemeClr val="tx2"/>
                </a:solidFill>
                <a:latin typeface="黑体" panose="02010609060101010101" pitchFamily="49" charset="-122"/>
                <a:ea typeface="黑体" panose="02010609060101010101" pitchFamily="49" charset="-122"/>
              </a:rPr>
              <a:t>。</a:t>
            </a:r>
            <a:endParaRPr lang="zh-CN" altLang="en-US" sz="2400" b="1" dirty="0">
              <a:solidFill>
                <a:schemeClr val="tx2"/>
              </a:solidFill>
              <a:latin typeface="黑体" panose="02010609060101010101" pitchFamily="49" charset="-122"/>
              <a:ea typeface="黑体" panose="02010609060101010101" pitchFamily="49" charset="-12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低噪声：</a:t>
            </a:r>
            <a:r>
              <a:rPr lang="en-US" altLang="zh-CN" sz="2400" b="1" dirty="0">
                <a:solidFill>
                  <a:srgbClr val="FF0000"/>
                </a:solidFill>
                <a:latin typeface="Times New Roman" panose="02020603050405020304" pitchFamily="18" charset="0"/>
                <a:ea typeface="黑体" panose="02010609060101010101" pitchFamily="49" charset="-122"/>
              </a:rPr>
              <a:t>1.5mV</a:t>
            </a:r>
            <a:r>
              <a:rPr lang="en-US" altLang="zh-CN" sz="2400" b="1" baseline="-25000" dirty="0">
                <a:solidFill>
                  <a:srgbClr val="FF0000"/>
                </a:solidFill>
                <a:latin typeface="Times New Roman" panose="02020603050405020304" pitchFamily="18" charset="0"/>
                <a:ea typeface="黑体" panose="02010609060101010101" pitchFamily="49" charset="-122"/>
              </a:rPr>
              <a:t>p-p </a:t>
            </a:r>
            <a:r>
              <a:rPr lang="en-US" altLang="zh-CN" sz="2400" b="1" dirty="0">
                <a:solidFill>
                  <a:schemeClr val="tx1"/>
                </a:solidFill>
                <a:latin typeface="黑体" panose="02010609060101010101" pitchFamily="49" charset="-122"/>
                <a:ea typeface="黑体" panose="02010609060101010101" pitchFamily="49" charset="-122"/>
              </a:rPr>
              <a:t>(</a:t>
            </a:r>
            <a:r>
              <a:rPr lang="en-US" altLang="zh-CN" sz="2400" b="1" dirty="0">
                <a:solidFill>
                  <a:srgbClr val="FF0000"/>
                </a:solidFill>
                <a:latin typeface="Times New Roman" panose="02020603050405020304" pitchFamily="18" charset="0"/>
                <a:ea typeface="黑体" panose="02010609060101010101" pitchFamily="49" charset="-122"/>
              </a:rPr>
              <a:t>0.1~100Hz</a:t>
            </a:r>
            <a:r>
              <a:rPr lang="en-US" altLang="zh-CN" sz="2400" b="1" dirty="0">
                <a:solidFill>
                  <a:schemeClr val="tx1"/>
                </a:solidFill>
                <a:latin typeface="黑体" panose="02010609060101010101" pitchFamily="49" charset="-122"/>
                <a:ea typeface="黑体" panose="02010609060101010101" pitchFamily="49" charset="-122"/>
              </a:rPr>
              <a:t>)</a:t>
            </a:r>
            <a:r>
              <a:rPr lang="zh-CN" altLang="en-US" sz="2400" b="1" dirty="0">
                <a:solidFill>
                  <a:schemeClr val="tx1"/>
                </a:solidFill>
                <a:latin typeface="黑体" panose="02010609060101010101" pitchFamily="49" charset="-122"/>
                <a:ea typeface="黑体" panose="02010609060101010101" pitchFamily="49" charset="-122"/>
              </a:rPr>
              <a:t>。</a:t>
            </a:r>
            <a:endParaRPr lang="zh-CN" altLang="en-US" sz="2400" b="1"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buClr>
                <a:srgbClr val="FF0000"/>
              </a:buClr>
              <a:buFont typeface="Wingdings" panose="05000000000000000000" pitchFamily="2" charset="2"/>
              <a:buChar char="u"/>
            </a:pPr>
            <a:r>
              <a:rPr lang="zh-CN" altLang="en-US" sz="2400" b="1" dirty="0">
                <a:solidFill>
                  <a:schemeClr val="tx2"/>
                </a:solidFill>
                <a:latin typeface="黑体" panose="02010609060101010101" pitchFamily="49" charset="-122"/>
                <a:ea typeface="黑体" panose="02010609060101010101" pitchFamily="49" charset="-122"/>
              </a:rPr>
              <a:t>使用了自动激光调整的薄膜电阻，因而公差小、损耗低、体积小、性能可靠。</a:t>
            </a:r>
            <a:r>
              <a:rPr lang="zh-CN" altLang="en-US" sz="2000" b="1" dirty="0">
                <a:solidFill>
                  <a:srgbClr val="333399"/>
                </a:solidFill>
                <a:latin typeface="Times New Roman" panose="02020603050405020304" pitchFamily="18" charset="0"/>
              </a:rPr>
              <a:t> </a:t>
            </a:r>
            <a:endParaRPr lang="zh-CN" altLang="en-US" sz="2000" b="1" dirty="0">
              <a:solidFill>
                <a:srgbClr val="333399"/>
              </a:solidFill>
              <a:latin typeface="Times New Roman" panose="02020603050405020304" pitchFamily="18" charset="0"/>
            </a:endParaRPr>
          </a:p>
        </p:txBody>
      </p:sp>
      <p:sp>
        <p:nvSpPr>
          <p:cNvPr id="2412611" name="Text Box 67"/>
          <p:cNvSpPr txBox="1"/>
          <p:nvPr/>
        </p:nvSpPr>
        <p:spPr>
          <a:xfrm>
            <a:off x="287338" y="1341438"/>
            <a:ext cx="2447925" cy="539750"/>
          </a:xfrm>
          <a:prstGeom prst="rect">
            <a:avLst/>
          </a:prstGeom>
          <a:solidFill>
            <a:srgbClr val="FFCC99"/>
          </a:solidFill>
          <a:ln w="9525" cap="flat" cmpd="sng">
            <a:solidFill>
              <a:srgbClr val="FFCC99"/>
            </a:solidFill>
            <a:prstDash val="solid"/>
            <a:miter/>
            <a:headEnd type="none" w="med" len="med"/>
            <a:tailEnd type="none" w="med" len="med"/>
          </a:ln>
        </p:spPr>
        <p:txBody>
          <a:bodyPr>
            <a:spAutoFit/>
          </a:bodyPr>
          <a:p>
            <a:pPr eaLnBrk="1" hangingPunct="1">
              <a:lnSpc>
                <a:spcPct val="90000"/>
              </a:lnSpc>
              <a:spcBef>
                <a:spcPct val="50000"/>
              </a:spcBef>
            </a:pPr>
            <a:r>
              <a:rPr lang="zh-CN" altLang="en-US" sz="3200" b="1" dirty="0">
                <a:solidFill>
                  <a:srgbClr val="333399"/>
                </a:solidFill>
                <a:latin typeface="Times New Roman" panose="02020603050405020304" pitchFamily="18" charset="0"/>
              </a:rPr>
              <a:t>技术指标：</a:t>
            </a:r>
            <a:endParaRPr lang="zh-CN" altLang="en-US" sz="3200" b="1" dirty="0">
              <a:solidFill>
                <a:srgbClr val="333399"/>
              </a:solidFill>
              <a:latin typeface="Times New Roman" panose="02020603050405020304" pitchFamily="18" charset="0"/>
            </a:endParaRPr>
          </a:p>
        </p:txBody>
      </p:sp>
      <p:grpSp>
        <p:nvGrpSpPr>
          <p:cNvPr id="38918" name="Group 68"/>
          <p:cNvGrpSpPr/>
          <p:nvPr/>
        </p:nvGrpSpPr>
        <p:grpSpPr>
          <a:xfrm>
            <a:off x="3819525" y="1376363"/>
            <a:ext cx="5181600" cy="4316412"/>
            <a:chOff x="2406" y="867"/>
            <a:chExt cx="3264" cy="2719"/>
          </a:xfrm>
        </p:grpSpPr>
        <p:sp>
          <p:nvSpPr>
            <p:cNvPr id="38919" name="Rectangle 69"/>
            <p:cNvSpPr/>
            <p:nvPr/>
          </p:nvSpPr>
          <p:spPr>
            <a:xfrm>
              <a:off x="2406" y="873"/>
              <a:ext cx="3264" cy="2713"/>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20" name="AutoShape 70"/>
            <p:cNvSpPr/>
            <p:nvPr/>
          </p:nvSpPr>
          <p:spPr>
            <a:xfrm rot="5400000">
              <a:off x="3280" y="1196"/>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21" name="Text Box 71"/>
            <p:cNvSpPr txBox="1"/>
            <p:nvPr/>
          </p:nvSpPr>
          <p:spPr>
            <a:xfrm>
              <a:off x="3298" y="132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38922" name="Text Box 72"/>
            <p:cNvSpPr txBox="1"/>
            <p:nvPr/>
          </p:nvSpPr>
          <p:spPr>
            <a:xfrm>
              <a:off x="3302" y="211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38923" name="Text Box 73"/>
            <p:cNvSpPr txBox="1"/>
            <p:nvPr/>
          </p:nvSpPr>
          <p:spPr>
            <a:xfrm>
              <a:off x="3294" y="242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38924" name="Text Box 74"/>
            <p:cNvSpPr txBox="1"/>
            <p:nvPr/>
          </p:nvSpPr>
          <p:spPr>
            <a:xfrm>
              <a:off x="3761" y="230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38925" name="Text Box 75"/>
            <p:cNvSpPr txBox="1"/>
            <p:nvPr/>
          </p:nvSpPr>
          <p:spPr>
            <a:xfrm>
              <a:off x="3515" y="241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38926" name="Text Box 76"/>
            <p:cNvSpPr txBox="1"/>
            <p:nvPr/>
          </p:nvSpPr>
          <p:spPr>
            <a:xfrm>
              <a:off x="4170" y="209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38927" name="Text Box 77"/>
            <p:cNvSpPr txBox="1"/>
            <p:nvPr/>
          </p:nvSpPr>
          <p:spPr>
            <a:xfrm>
              <a:off x="4596" y="187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38928" name="Text Box 78"/>
            <p:cNvSpPr txBox="1"/>
            <p:nvPr/>
          </p:nvSpPr>
          <p:spPr>
            <a:xfrm>
              <a:off x="3536" y="136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38929" name="Text Box 79"/>
            <p:cNvSpPr txBox="1"/>
            <p:nvPr/>
          </p:nvSpPr>
          <p:spPr>
            <a:xfrm>
              <a:off x="3765" y="1485"/>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9</a:t>
              </a:r>
              <a:endParaRPr lang="en-US" altLang="zh-CN" sz="1600" b="1" dirty="0">
                <a:solidFill>
                  <a:srgbClr val="333399"/>
                </a:solidFill>
                <a:latin typeface="Times New Roman" panose="02020603050405020304" pitchFamily="18" charset="0"/>
              </a:endParaRPr>
            </a:p>
          </p:txBody>
        </p:sp>
        <p:sp>
          <p:nvSpPr>
            <p:cNvPr id="38930" name="Text Box 80"/>
            <p:cNvSpPr txBox="1"/>
            <p:nvPr/>
          </p:nvSpPr>
          <p:spPr>
            <a:xfrm>
              <a:off x="4393" y="1965"/>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38931" name="Text Box 81"/>
            <p:cNvSpPr txBox="1"/>
            <p:nvPr/>
          </p:nvSpPr>
          <p:spPr>
            <a:xfrm>
              <a:off x="4388" y="177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38932" name="Text Box 82"/>
            <p:cNvSpPr txBox="1"/>
            <p:nvPr/>
          </p:nvSpPr>
          <p:spPr>
            <a:xfrm>
              <a:off x="4173" y="166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38933" name="Text Box 83"/>
            <p:cNvSpPr txBox="1"/>
            <p:nvPr/>
          </p:nvSpPr>
          <p:spPr>
            <a:xfrm>
              <a:off x="3294" y="162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38934" name="Oval 84"/>
            <p:cNvSpPr/>
            <p:nvPr/>
          </p:nvSpPr>
          <p:spPr>
            <a:xfrm>
              <a:off x="2564" y="138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35" name="Text Box 85"/>
            <p:cNvSpPr txBox="1"/>
            <p:nvPr/>
          </p:nvSpPr>
          <p:spPr>
            <a:xfrm>
              <a:off x="2406" y="1183"/>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8936" name="Line 86"/>
            <p:cNvSpPr/>
            <p:nvPr/>
          </p:nvSpPr>
          <p:spPr>
            <a:xfrm>
              <a:off x="2630" y="1421"/>
              <a:ext cx="677" cy="0"/>
            </a:xfrm>
            <a:prstGeom prst="line">
              <a:avLst/>
            </a:prstGeom>
            <a:ln w="12700" cap="flat" cmpd="sng">
              <a:solidFill>
                <a:schemeClr val="accent2"/>
              </a:solidFill>
              <a:prstDash val="solid"/>
              <a:headEnd type="none" w="med" len="med"/>
              <a:tailEnd type="none" w="med" len="med"/>
            </a:ln>
          </p:spPr>
        </p:sp>
        <p:sp>
          <p:nvSpPr>
            <p:cNvPr id="38937" name="Text Box 87"/>
            <p:cNvSpPr txBox="1"/>
            <p:nvPr/>
          </p:nvSpPr>
          <p:spPr>
            <a:xfrm>
              <a:off x="2410" y="2582"/>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38938" name="Oval 88"/>
            <p:cNvSpPr/>
            <p:nvPr/>
          </p:nvSpPr>
          <p:spPr>
            <a:xfrm>
              <a:off x="2551" y="248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39" name="Line 89"/>
            <p:cNvSpPr/>
            <p:nvPr/>
          </p:nvSpPr>
          <p:spPr>
            <a:xfrm>
              <a:off x="2614" y="2514"/>
              <a:ext cx="693" cy="0"/>
            </a:xfrm>
            <a:prstGeom prst="line">
              <a:avLst/>
            </a:prstGeom>
            <a:ln w="12700" cap="flat" cmpd="sng">
              <a:solidFill>
                <a:schemeClr val="accent2"/>
              </a:solidFill>
              <a:prstDash val="solid"/>
              <a:headEnd type="none" w="med" len="med"/>
              <a:tailEnd type="none" w="med" len="med"/>
            </a:ln>
          </p:spPr>
        </p:sp>
        <p:sp>
          <p:nvSpPr>
            <p:cNvPr id="38940" name="Line 90"/>
            <p:cNvSpPr/>
            <p:nvPr/>
          </p:nvSpPr>
          <p:spPr>
            <a:xfrm>
              <a:off x="2973" y="1721"/>
              <a:ext cx="334" cy="0"/>
            </a:xfrm>
            <a:prstGeom prst="line">
              <a:avLst/>
            </a:prstGeom>
            <a:ln w="12700" cap="flat" cmpd="sng">
              <a:solidFill>
                <a:schemeClr val="accent2"/>
              </a:solidFill>
              <a:prstDash val="solid"/>
              <a:headEnd type="none" w="med" len="med"/>
              <a:tailEnd type="none" w="med" len="med"/>
            </a:ln>
          </p:spPr>
        </p:sp>
        <p:sp>
          <p:nvSpPr>
            <p:cNvPr id="38941" name="Line 91"/>
            <p:cNvSpPr/>
            <p:nvPr/>
          </p:nvSpPr>
          <p:spPr>
            <a:xfrm>
              <a:off x="2973" y="1721"/>
              <a:ext cx="0" cy="159"/>
            </a:xfrm>
            <a:prstGeom prst="line">
              <a:avLst/>
            </a:prstGeom>
            <a:ln w="12700" cap="flat" cmpd="sng">
              <a:solidFill>
                <a:schemeClr val="accent2"/>
              </a:solidFill>
              <a:prstDash val="solid"/>
              <a:headEnd type="none" w="med" len="med"/>
              <a:tailEnd type="none" w="med" len="med"/>
            </a:ln>
          </p:spPr>
        </p:sp>
        <p:sp>
          <p:nvSpPr>
            <p:cNvPr id="38942" name="Rectangle 92"/>
            <p:cNvSpPr/>
            <p:nvPr/>
          </p:nvSpPr>
          <p:spPr>
            <a:xfrm>
              <a:off x="2940" y="1880"/>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43" name="Text Box 93"/>
            <p:cNvSpPr txBox="1"/>
            <p:nvPr/>
          </p:nvSpPr>
          <p:spPr>
            <a:xfrm>
              <a:off x="2673" y="1852"/>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38944" name="Line 94"/>
            <p:cNvSpPr/>
            <p:nvPr/>
          </p:nvSpPr>
          <p:spPr>
            <a:xfrm>
              <a:off x="2973" y="2047"/>
              <a:ext cx="0" cy="167"/>
            </a:xfrm>
            <a:prstGeom prst="line">
              <a:avLst/>
            </a:prstGeom>
            <a:ln w="12700" cap="flat" cmpd="sng">
              <a:solidFill>
                <a:schemeClr val="accent2"/>
              </a:solidFill>
              <a:prstDash val="solid"/>
              <a:headEnd type="none" w="med" len="med"/>
              <a:tailEnd type="none" w="med" len="med"/>
            </a:ln>
          </p:spPr>
        </p:sp>
        <p:sp>
          <p:nvSpPr>
            <p:cNvPr id="38945" name="Line 95"/>
            <p:cNvSpPr/>
            <p:nvPr/>
          </p:nvSpPr>
          <p:spPr>
            <a:xfrm>
              <a:off x="2973" y="2214"/>
              <a:ext cx="334" cy="0"/>
            </a:xfrm>
            <a:prstGeom prst="line">
              <a:avLst/>
            </a:prstGeom>
            <a:ln w="12700" cap="flat" cmpd="sng">
              <a:solidFill>
                <a:schemeClr val="accent2"/>
              </a:solidFill>
              <a:prstDash val="solid"/>
              <a:headEnd type="none" w="med" len="med"/>
              <a:tailEnd type="none" w="med" len="med"/>
            </a:ln>
          </p:spPr>
        </p:sp>
        <p:sp>
          <p:nvSpPr>
            <p:cNvPr id="38946" name="Line 96"/>
            <p:cNvSpPr/>
            <p:nvPr/>
          </p:nvSpPr>
          <p:spPr>
            <a:xfrm>
              <a:off x="3858" y="2489"/>
              <a:ext cx="0" cy="217"/>
            </a:xfrm>
            <a:prstGeom prst="line">
              <a:avLst/>
            </a:prstGeom>
            <a:ln w="12700" cap="flat" cmpd="sng">
              <a:solidFill>
                <a:schemeClr val="accent2"/>
              </a:solidFill>
              <a:prstDash val="solid"/>
              <a:headEnd type="none" w="med" len="med"/>
              <a:tailEnd type="none" w="med" len="med"/>
            </a:ln>
          </p:spPr>
        </p:sp>
        <p:sp>
          <p:nvSpPr>
            <p:cNvPr id="38947" name="Line 97"/>
            <p:cNvSpPr/>
            <p:nvPr/>
          </p:nvSpPr>
          <p:spPr>
            <a:xfrm>
              <a:off x="3858" y="2706"/>
              <a:ext cx="116" cy="0"/>
            </a:xfrm>
            <a:prstGeom prst="line">
              <a:avLst/>
            </a:prstGeom>
            <a:ln w="12700" cap="flat" cmpd="sng">
              <a:solidFill>
                <a:schemeClr val="accent2"/>
              </a:solidFill>
              <a:prstDash val="solid"/>
              <a:headEnd type="none" w="med" len="med"/>
              <a:tailEnd type="none" w="med" len="med"/>
            </a:ln>
          </p:spPr>
        </p:sp>
        <p:sp>
          <p:nvSpPr>
            <p:cNvPr id="38948" name="Rectangle 98"/>
            <p:cNvSpPr/>
            <p:nvPr/>
          </p:nvSpPr>
          <p:spPr>
            <a:xfrm>
              <a:off x="3974" y="2673"/>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49" name="Text Box 99"/>
            <p:cNvSpPr txBox="1"/>
            <p:nvPr/>
          </p:nvSpPr>
          <p:spPr>
            <a:xfrm>
              <a:off x="3850" y="2514"/>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38950" name="Line 100"/>
            <p:cNvSpPr/>
            <p:nvPr/>
          </p:nvSpPr>
          <p:spPr>
            <a:xfrm>
              <a:off x="4142" y="2706"/>
              <a:ext cx="125" cy="0"/>
            </a:xfrm>
            <a:prstGeom prst="line">
              <a:avLst/>
            </a:prstGeom>
            <a:ln w="12700" cap="flat" cmpd="sng">
              <a:solidFill>
                <a:schemeClr val="accent2"/>
              </a:solidFill>
              <a:prstDash val="solid"/>
              <a:headEnd type="none" w="med" len="med"/>
              <a:tailEnd type="none" w="med" len="med"/>
            </a:ln>
          </p:spPr>
        </p:sp>
        <p:sp>
          <p:nvSpPr>
            <p:cNvPr id="38951" name="Line 101"/>
            <p:cNvSpPr/>
            <p:nvPr/>
          </p:nvSpPr>
          <p:spPr>
            <a:xfrm flipV="1">
              <a:off x="4267" y="2272"/>
              <a:ext cx="0" cy="434"/>
            </a:xfrm>
            <a:prstGeom prst="line">
              <a:avLst/>
            </a:prstGeom>
            <a:ln w="12700" cap="flat" cmpd="sng">
              <a:solidFill>
                <a:schemeClr val="accent2"/>
              </a:solidFill>
              <a:prstDash val="solid"/>
              <a:headEnd type="none" w="med" len="med"/>
              <a:tailEnd type="none" w="med" len="med"/>
            </a:ln>
          </p:spPr>
        </p:sp>
        <p:sp>
          <p:nvSpPr>
            <p:cNvPr id="38952" name="Line 102"/>
            <p:cNvSpPr/>
            <p:nvPr/>
          </p:nvSpPr>
          <p:spPr>
            <a:xfrm>
              <a:off x="3641" y="2598"/>
              <a:ext cx="0" cy="265"/>
            </a:xfrm>
            <a:prstGeom prst="line">
              <a:avLst/>
            </a:prstGeom>
            <a:ln w="12700" cap="flat" cmpd="sng">
              <a:solidFill>
                <a:schemeClr val="accent2"/>
              </a:solidFill>
              <a:prstDash val="solid"/>
              <a:headEnd type="none" w="med" len="med"/>
              <a:tailEnd type="none" w="med" len="med"/>
            </a:ln>
          </p:spPr>
        </p:sp>
        <p:sp>
          <p:nvSpPr>
            <p:cNvPr id="38953" name="Oval 103"/>
            <p:cNvSpPr/>
            <p:nvPr/>
          </p:nvSpPr>
          <p:spPr>
            <a:xfrm>
              <a:off x="3611" y="286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54" name="Oval 104"/>
            <p:cNvSpPr/>
            <p:nvPr/>
          </p:nvSpPr>
          <p:spPr>
            <a:xfrm>
              <a:off x="4237" y="141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55" name="Line 105"/>
            <p:cNvSpPr/>
            <p:nvPr/>
          </p:nvSpPr>
          <p:spPr>
            <a:xfrm>
              <a:off x="4054" y="2946"/>
              <a:ext cx="936" cy="0"/>
            </a:xfrm>
            <a:prstGeom prst="line">
              <a:avLst/>
            </a:prstGeom>
            <a:ln w="12700" cap="flat" cmpd="sng">
              <a:solidFill>
                <a:schemeClr val="accent2"/>
              </a:solidFill>
              <a:prstDash val="solid"/>
              <a:headEnd type="none" w="med" len="med"/>
              <a:tailEnd type="none" w="med" len="med"/>
            </a:ln>
          </p:spPr>
        </p:sp>
        <p:sp>
          <p:nvSpPr>
            <p:cNvPr id="38956" name="Line 106"/>
            <p:cNvSpPr/>
            <p:nvPr/>
          </p:nvSpPr>
          <p:spPr>
            <a:xfrm flipV="1">
              <a:off x="4058" y="2739"/>
              <a:ext cx="0" cy="210"/>
            </a:xfrm>
            <a:prstGeom prst="line">
              <a:avLst/>
            </a:prstGeom>
            <a:ln w="12700" cap="flat" cmpd="sng">
              <a:solidFill>
                <a:schemeClr val="accent2"/>
              </a:solidFill>
              <a:prstDash val="solid"/>
              <a:headEnd type="none" w="med" len="med"/>
              <a:tailEnd type="triangle" w="sm" len="lg"/>
            </a:ln>
          </p:spPr>
        </p:sp>
        <p:sp>
          <p:nvSpPr>
            <p:cNvPr id="38957" name="Line 107"/>
            <p:cNvSpPr/>
            <p:nvPr/>
          </p:nvSpPr>
          <p:spPr>
            <a:xfrm>
              <a:off x="4525" y="2139"/>
              <a:ext cx="0" cy="486"/>
            </a:xfrm>
            <a:prstGeom prst="line">
              <a:avLst/>
            </a:prstGeom>
            <a:ln w="12700" cap="flat" cmpd="sng">
              <a:solidFill>
                <a:schemeClr val="accent2"/>
              </a:solidFill>
              <a:prstDash val="solid"/>
              <a:headEnd type="none" w="med" len="med"/>
              <a:tailEnd type="none" w="med" len="med"/>
            </a:ln>
          </p:spPr>
        </p:sp>
        <p:sp>
          <p:nvSpPr>
            <p:cNvPr id="38958" name="Line 108"/>
            <p:cNvSpPr/>
            <p:nvPr/>
          </p:nvSpPr>
          <p:spPr>
            <a:xfrm>
              <a:off x="4843" y="1972"/>
              <a:ext cx="576" cy="0"/>
            </a:xfrm>
            <a:prstGeom prst="line">
              <a:avLst/>
            </a:prstGeom>
            <a:ln w="12700" cap="flat" cmpd="sng">
              <a:solidFill>
                <a:schemeClr val="accent2"/>
              </a:solidFill>
              <a:prstDash val="solid"/>
              <a:headEnd type="none" w="med" len="med"/>
              <a:tailEnd type="none" w="med" len="med"/>
            </a:ln>
          </p:spPr>
        </p:sp>
        <p:sp>
          <p:nvSpPr>
            <p:cNvPr id="38959" name="Oval 109"/>
            <p:cNvSpPr/>
            <p:nvPr/>
          </p:nvSpPr>
          <p:spPr>
            <a:xfrm>
              <a:off x="5414" y="194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60" name="Text Box 110"/>
            <p:cNvSpPr txBox="1"/>
            <p:nvPr/>
          </p:nvSpPr>
          <p:spPr>
            <a:xfrm>
              <a:off x="5242" y="2037"/>
              <a:ext cx="42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OUT</a:t>
              </a:r>
              <a:endParaRPr lang="en-US" altLang="zh-CN" sz="1800" b="1" baseline="-25000" dirty="0">
                <a:solidFill>
                  <a:srgbClr val="FF0000"/>
                </a:solidFill>
                <a:latin typeface="Times New Roman" panose="02020603050405020304" pitchFamily="18" charset="0"/>
              </a:endParaRPr>
            </a:p>
          </p:txBody>
        </p:sp>
        <p:sp>
          <p:nvSpPr>
            <p:cNvPr id="38961" name="Oval 111"/>
            <p:cNvSpPr/>
            <p:nvPr/>
          </p:nvSpPr>
          <p:spPr>
            <a:xfrm>
              <a:off x="5165" y="193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62" name="Line 112"/>
            <p:cNvSpPr/>
            <p:nvPr/>
          </p:nvSpPr>
          <p:spPr>
            <a:xfrm flipV="1">
              <a:off x="5193" y="1661"/>
              <a:ext cx="0" cy="311"/>
            </a:xfrm>
            <a:prstGeom prst="line">
              <a:avLst/>
            </a:prstGeom>
            <a:ln w="9525" cap="flat" cmpd="sng">
              <a:solidFill>
                <a:schemeClr val="accent2"/>
              </a:solidFill>
              <a:prstDash val="solid"/>
              <a:headEnd type="none" w="med" len="med"/>
              <a:tailEnd type="none" w="med" len="med"/>
            </a:ln>
          </p:spPr>
        </p:sp>
        <p:sp>
          <p:nvSpPr>
            <p:cNvPr id="38963" name="Line 113"/>
            <p:cNvSpPr/>
            <p:nvPr/>
          </p:nvSpPr>
          <p:spPr>
            <a:xfrm flipH="1">
              <a:off x="4525" y="1661"/>
              <a:ext cx="668" cy="0"/>
            </a:xfrm>
            <a:prstGeom prst="line">
              <a:avLst/>
            </a:prstGeom>
            <a:ln w="12700" cap="flat" cmpd="sng">
              <a:solidFill>
                <a:schemeClr val="accent2"/>
              </a:solidFill>
              <a:prstDash val="solid"/>
              <a:headEnd type="none" w="med" len="med"/>
              <a:tailEnd type="none" w="med" len="med"/>
            </a:ln>
          </p:spPr>
        </p:sp>
        <p:sp>
          <p:nvSpPr>
            <p:cNvPr id="38964" name="Line 114"/>
            <p:cNvSpPr/>
            <p:nvPr/>
          </p:nvSpPr>
          <p:spPr>
            <a:xfrm>
              <a:off x="4525" y="1661"/>
              <a:ext cx="0" cy="144"/>
            </a:xfrm>
            <a:prstGeom prst="line">
              <a:avLst/>
            </a:prstGeom>
            <a:ln w="12700" cap="flat" cmpd="sng">
              <a:solidFill>
                <a:schemeClr val="accent2"/>
              </a:solidFill>
              <a:prstDash val="solid"/>
              <a:headEnd type="none" w="med" len="med"/>
              <a:tailEnd type="none" w="med" len="med"/>
            </a:ln>
          </p:spPr>
        </p:sp>
        <p:sp>
          <p:nvSpPr>
            <p:cNvPr id="38965" name="Line 115"/>
            <p:cNvSpPr/>
            <p:nvPr/>
          </p:nvSpPr>
          <p:spPr>
            <a:xfrm flipV="1">
              <a:off x="3858" y="1044"/>
              <a:ext cx="0" cy="403"/>
            </a:xfrm>
            <a:prstGeom prst="line">
              <a:avLst/>
            </a:prstGeom>
            <a:ln w="12700" cap="flat" cmpd="sng">
              <a:solidFill>
                <a:schemeClr val="accent2"/>
              </a:solidFill>
              <a:prstDash val="solid"/>
              <a:headEnd type="none" w="med" len="med"/>
              <a:tailEnd type="none" w="med" len="med"/>
            </a:ln>
          </p:spPr>
        </p:sp>
        <p:sp>
          <p:nvSpPr>
            <p:cNvPr id="38966" name="Line 116"/>
            <p:cNvSpPr/>
            <p:nvPr/>
          </p:nvSpPr>
          <p:spPr>
            <a:xfrm>
              <a:off x="3858" y="1044"/>
              <a:ext cx="170" cy="0"/>
            </a:xfrm>
            <a:prstGeom prst="line">
              <a:avLst/>
            </a:prstGeom>
            <a:ln w="12700" cap="flat" cmpd="sng">
              <a:solidFill>
                <a:schemeClr val="accent2"/>
              </a:solidFill>
              <a:prstDash val="solid"/>
              <a:headEnd type="none" w="med" len="med"/>
              <a:tailEnd type="none" w="med" len="med"/>
            </a:ln>
          </p:spPr>
        </p:sp>
        <p:sp>
          <p:nvSpPr>
            <p:cNvPr id="38967" name="Line 117"/>
            <p:cNvSpPr/>
            <p:nvPr/>
          </p:nvSpPr>
          <p:spPr>
            <a:xfrm>
              <a:off x="4267" y="1170"/>
              <a:ext cx="0" cy="501"/>
            </a:xfrm>
            <a:prstGeom prst="line">
              <a:avLst/>
            </a:prstGeom>
            <a:ln w="12700" cap="flat" cmpd="sng">
              <a:solidFill>
                <a:schemeClr val="accent2"/>
              </a:solidFill>
              <a:prstDash val="solid"/>
              <a:headEnd type="none" w="med" len="med"/>
              <a:tailEnd type="none" w="med" len="med"/>
            </a:ln>
          </p:spPr>
        </p:sp>
        <p:sp>
          <p:nvSpPr>
            <p:cNvPr id="38968" name="Line 118"/>
            <p:cNvSpPr/>
            <p:nvPr/>
          </p:nvSpPr>
          <p:spPr>
            <a:xfrm>
              <a:off x="3641" y="1037"/>
              <a:ext cx="0" cy="309"/>
            </a:xfrm>
            <a:prstGeom prst="line">
              <a:avLst/>
            </a:prstGeom>
            <a:ln w="12700" cap="flat" cmpd="sng">
              <a:solidFill>
                <a:schemeClr val="accent2"/>
              </a:solidFill>
              <a:prstDash val="solid"/>
              <a:headEnd type="none" w="med" len="med"/>
              <a:tailEnd type="none" w="med" len="med"/>
            </a:ln>
          </p:spPr>
        </p:sp>
        <p:sp>
          <p:nvSpPr>
            <p:cNvPr id="38969" name="Oval 119"/>
            <p:cNvSpPr/>
            <p:nvPr/>
          </p:nvSpPr>
          <p:spPr>
            <a:xfrm>
              <a:off x="3611" y="97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70" name="Text Box 120"/>
            <p:cNvSpPr txBox="1"/>
            <p:nvPr/>
          </p:nvSpPr>
          <p:spPr>
            <a:xfrm>
              <a:off x="3324" y="867"/>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8971" name="Text Box 121"/>
            <p:cNvSpPr txBox="1"/>
            <p:nvPr/>
          </p:nvSpPr>
          <p:spPr>
            <a:xfrm>
              <a:off x="3111" y="3249"/>
              <a:ext cx="1840"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AD522</a:t>
              </a:r>
              <a:r>
                <a:rPr lang="zh-CN" altLang="en-US" sz="2400" b="1" dirty="0">
                  <a:solidFill>
                    <a:srgbClr val="000099"/>
                  </a:solidFill>
                  <a:latin typeface="Times New Roman" panose="02020603050405020304" pitchFamily="18" charset="0"/>
                </a:rPr>
                <a:t>基本连接方法</a:t>
              </a:r>
              <a:endParaRPr lang="zh-CN" altLang="en-US" sz="2400" b="1" dirty="0">
                <a:solidFill>
                  <a:srgbClr val="000099"/>
                </a:solidFill>
                <a:latin typeface="Times New Roman" panose="02020603050405020304" pitchFamily="18" charset="0"/>
              </a:endParaRPr>
            </a:p>
          </p:txBody>
        </p:sp>
        <p:sp>
          <p:nvSpPr>
            <p:cNvPr id="38972" name="Line 122"/>
            <p:cNvSpPr/>
            <p:nvPr/>
          </p:nvSpPr>
          <p:spPr>
            <a:xfrm>
              <a:off x="4028" y="1044"/>
              <a:ext cx="0" cy="184"/>
            </a:xfrm>
            <a:prstGeom prst="line">
              <a:avLst/>
            </a:prstGeom>
            <a:ln w="12700" cap="flat" cmpd="sng">
              <a:solidFill>
                <a:schemeClr val="accent2"/>
              </a:solidFill>
              <a:prstDash val="solid"/>
              <a:headEnd type="none" w="med" len="med"/>
              <a:tailEnd type="none" w="med" len="med"/>
            </a:ln>
          </p:spPr>
        </p:sp>
        <p:sp>
          <p:nvSpPr>
            <p:cNvPr id="38973" name="AutoShape 123"/>
            <p:cNvSpPr/>
            <p:nvPr/>
          </p:nvSpPr>
          <p:spPr>
            <a:xfrm rot="10800000">
              <a:off x="3886" y="1227"/>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74" name="Oval 124"/>
            <p:cNvSpPr/>
            <p:nvPr/>
          </p:nvSpPr>
          <p:spPr>
            <a:xfrm>
              <a:off x="4237" y="112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38975" name="Text Box 125"/>
            <p:cNvSpPr txBox="1"/>
            <p:nvPr/>
          </p:nvSpPr>
          <p:spPr>
            <a:xfrm>
              <a:off x="4200" y="924"/>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38976" name="Line 126"/>
            <p:cNvSpPr/>
            <p:nvPr/>
          </p:nvSpPr>
          <p:spPr>
            <a:xfrm>
              <a:off x="4440" y="2625"/>
              <a:ext cx="170" cy="0"/>
            </a:xfrm>
            <a:prstGeom prst="line">
              <a:avLst/>
            </a:prstGeom>
            <a:ln w="19050" cap="flat" cmpd="sng">
              <a:solidFill>
                <a:schemeClr val="accent2"/>
              </a:solidFill>
              <a:prstDash val="solid"/>
              <a:headEnd type="none" w="med" len="med"/>
              <a:tailEnd type="none" w="med" len="med"/>
            </a:ln>
          </p:spPr>
        </p:sp>
        <p:sp>
          <p:nvSpPr>
            <p:cNvPr id="38977" name="Line 127"/>
            <p:cNvSpPr/>
            <p:nvPr/>
          </p:nvSpPr>
          <p:spPr>
            <a:xfrm>
              <a:off x="4990" y="1447"/>
              <a:ext cx="0" cy="1501"/>
            </a:xfrm>
            <a:prstGeom prst="line">
              <a:avLst/>
            </a:prstGeom>
            <a:ln w="12700" cap="flat" cmpd="sng">
              <a:solidFill>
                <a:schemeClr val="accent2"/>
              </a:solidFill>
              <a:prstDash val="solid"/>
              <a:headEnd type="none" w="med" len="med"/>
              <a:tailEnd type="none" w="med" len="med"/>
            </a:ln>
          </p:spPr>
        </p:sp>
        <p:sp>
          <p:nvSpPr>
            <p:cNvPr id="38978" name="Line 128"/>
            <p:cNvSpPr/>
            <p:nvPr/>
          </p:nvSpPr>
          <p:spPr>
            <a:xfrm flipH="1">
              <a:off x="4267" y="1443"/>
              <a:ext cx="724" cy="0"/>
            </a:xfrm>
            <a:prstGeom prst="line">
              <a:avLst/>
            </a:prstGeom>
            <a:ln w="12700" cap="flat" cmpd="sng">
              <a:solidFill>
                <a:schemeClr val="accent2"/>
              </a:solidFill>
              <a:prstDash val="solid"/>
              <a:headEnd type="none" w="med" len="med"/>
              <a:tailEnd type="none" w="med" len="med"/>
            </a:ln>
          </p:spPr>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2611"/>
                                        </p:tgtEl>
                                        <p:attrNameLst>
                                          <p:attrName>style.visibility</p:attrName>
                                        </p:attrNameLst>
                                      </p:cBhvr>
                                      <p:to>
                                        <p:strVal val="visible"/>
                                      </p:to>
                                    </p:set>
                                    <p:animEffect transition="in" filter="dissolve">
                                      <p:cBhvr>
                                        <p:cTn id="7" dur="500"/>
                                        <p:tgtEl>
                                          <p:spTgt spid="24126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2610">
                                            <p:txEl>
                                              <p:charRg st="0" end="22"/>
                                            </p:txEl>
                                          </p:spTgt>
                                        </p:tgtEl>
                                        <p:attrNameLst>
                                          <p:attrName>style.visibility</p:attrName>
                                        </p:attrNameLst>
                                      </p:cBhvr>
                                      <p:to>
                                        <p:strVal val="visible"/>
                                      </p:to>
                                    </p:set>
                                    <p:animEffect transition="in" filter="dissolve">
                                      <p:cBhvr>
                                        <p:cTn id="12" dur="500"/>
                                        <p:tgtEl>
                                          <p:spTgt spid="2412610">
                                            <p:txEl>
                                              <p:charRg st="0" end="2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2610">
                                            <p:txEl>
                                              <p:charRg st="22" end="32"/>
                                            </p:txEl>
                                          </p:spTgt>
                                        </p:tgtEl>
                                        <p:attrNameLst>
                                          <p:attrName>style.visibility</p:attrName>
                                        </p:attrNameLst>
                                      </p:cBhvr>
                                      <p:to>
                                        <p:strVal val="visible"/>
                                      </p:to>
                                    </p:set>
                                    <p:animEffect transition="in" filter="dissolve">
                                      <p:cBhvr>
                                        <p:cTn id="17" dur="500"/>
                                        <p:tgtEl>
                                          <p:spTgt spid="2412610">
                                            <p:txEl>
                                              <p:charRg st="22" end="3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12610">
                                            <p:txEl>
                                              <p:charRg st="32" end="55"/>
                                            </p:txEl>
                                          </p:spTgt>
                                        </p:tgtEl>
                                        <p:attrNameLst>
                                          <p:attrName>style.visibility</p:attrName>
                                        </p:attrNameLst>
                                      </p:cBhvr>
                                      <p:to>
                                        <p:strVal val="visible"/>
                                      </p:to>
                                    </p:set>
                                    <p:animEffect transition="in" filter="dissolve">
                                      <p:cBhvr>
                                        <p:cTn id="22" dur="500"/>
                                        <p:tgtEl>
                                          <p:spTgt spid="2412610">
                                            <p:txEl>
                                              <p:charRg st="32" end="5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12610">
                                            <p:txEl>
                                              <p:charRg st="55" end="68"/>
                                            </p:txEl>
                                          </p:spTgt>
                                        </p:tgtEl>
                                        <p:attrNameLst>
                                          <p:attrName>style.visibility</p:attrName>
                                        </p:attrNameLst>
                                      </p:cBhvr>
                                      <p:to>
                                        <p:strVal val="visible"/>
                                      </p:to>
                                    </p:set>
                                    <p:animEffect transition="in" filter="dissolve">
                                      <p:cBhvr>
                                        <p:cTn id="27" dur="500"/>
                                        <p:tgtEl>
                                          <p:spTgt spid="2412610">
                                            <p:txEl>
                                              <p:charRg st="55" end="68"/>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12610">
                                            <p:txEl>
                                              <p:charRg st="68" end="81"/>
                                            </p:txEl>
                                          </p:spTgt>
                                        </p:tgtEl>
                                        <p:attrNameLst>
                                          <p:attrName>style.visibility</p:attrName>
                                        </p:attrNameLst>
                                      </p:cBhvr>
                                      <p:to>
                                        <p:strVal val="visible"/>
                                      </p:to>
                                    </p:set>
                                    <p:animEffect transition="in" filter="dissolve">
                                      <p:cBhvr>
                                        <p:cTn id="32" dur="500"/>
                                        <p:tgtEl>
                                          <p:spTgt spid="2412610">
                                            <p:txEl>
                                              <p:charRg st="68" end="81"/>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12610">
                                            <p:txEl>
                                              <p:charRg st="81" end="107"/>
                                            </p:txEl>
                                          </p:spTgt>
                                        </p:tgtEl>
                                        <p:attrNameLst>
                                          <p:attrName>style.visibility</p:attrName>
                                        </p:attrNameLst>
                                      </p:cBhvr>
                                      <p:to>
                                        <p:strVal val="visible"/>
                                      </p:to>
                                    </p:set>
                                    <p:animEffect transition="in" filter="dissolve">
                                      <p:cBhvr>
                                        <p:cTn id="37" dur="500"/>
                                        <p:tgtEl>
                                          <p:spTgt spid="2412610">
                                            <p:txEl>
                                              <p:charRg st="81" end="107"/>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412610">
                                            <p:txEl>
                                              <p:charRg st="107" end="143"/>
                                            </p:txEl>
                                          </p:spTgt>
                                        </p:tgtEl>
                                        <p:attrNameLst>
                                          <p:attrName>style.visibility</p:attrName>
                                        </p:attrNameLst>
                                      </p:cBhvr>
                                      <p:to>
                                        <p:strVal val="visible"/>
                                      </p:to>
                                    </p:set>
                                    <p:animEffect transition="in" filter="dissolve">
                                      <p:cBhvr>
                                        <p:cTn id="42" dur="500"/>
                                        <p:tgtEl>
                                          <p:spTgt spid="2412610">
                                            <p:txEl>
                                              <p:charRg st="107" end="14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2611" grpId="0" bldLvl="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4114" name="Rectangle 418"/>
          <p:cNvSpPr/>
          <p:nvPr/>
        </p:nvSpPr>
        <p:spPr>
          <a:xfrm>
            <a:off x="4572000" y="2671763"/>
            <a:ext cx="4392613" cy="341947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13" name="Rectangle 417"/>
          <p:cNvSpPr/>
          <p:nvPr/>
        </p:nvSpPr>
        <p:spPr>
          <a:xfrm>
            <a:off x="142875" y="2671763"/>
            <a:ext cx="4105275" cy="341947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3707" name="Text Box 11"/>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4.5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测量放大器的使用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33708" name="Text Box 12"/>
          <p:cNvSpPr txBox="1"/>
          <p:nvPr/>
        </p:nvSpPr>
        <p:spPr>
          <a:xfrm>
            <a:off x="287338" y="765175"/>
            <a:ext cx="5981700"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4.5.1 AD521</a:t>
            </a:r>
            <a:r>
              <a:rPr lang="zh-CN" altLang="en-US" sz="3600" b="1" dirty="0">
                <a:solidFill>
                  <a:srgbClr val="333399"/>
                </a:solidFill>
                <a:latin typeface="Times New Roman" panose="02020603050405020304" pitchFamily="18" charset="0"/>
              </a:rPr>
              <a:t>芯片的使用示例 </a:t>
            </a:r>
            <a:endParaRPr lang="zh-CN" altLang="en-US" sz="3600" b="1" dirty="0">
              <a:solidFill>
                <a:srgbClr val="333399"/>
              </a:solidFill>
              <a:latin typeface="Times New Roman" panose="02020603050405020304" pitchFamily="18" charset="0"/>
            </a:endParaRPr>
          </a:p>
        </p:txBody>
      </p:sp>
      <p:sp>
        <p:nvSpPr>
          <p:cNvPr id="2333709" name="Text Box 13"/>
          <p:cNvSpPr txBox="1"/>
          <p:nvPr/>
        </p:nvSpPr>
        <p:spPr>
          <a:xfrm>
            <a:off x="439738" y="1449388"/>
            <a:ext cx="8056562" cy="1187450"/>
          </a:xfrm>
          <a:prstGeom prst="rect">
            <a:avLst/>
          </a:prstGeom>
          <a:solidFill>
            <a:srgbClr val="CCFFFF"/>
          </a:solidFill>
          <a:ln w="9525">
            <a:noFill/>
          </a:ln>
        </p:spPr>
        <p:txBody>
          <a:bodyPr>
            <a:spAutoFit/>
          </a:bodyPr>
          <a:p>
            <a:pPr eaLnBrk="1" hangingPunct="1"/>
            <a:r>
              <a:rPr lang="zh-CN" altLang="en-US" sz="2400" b="1" dirty="0">
                <a:solidFill>
                  <a:schemeClr val="tx1"/>
                </a:solidFill>
                <a:latin typeface="黑体" panose="02010609060101010101" pitchFamily="49" charset="-122"/>
                <a:ea typeface="黑体" panose="02010609060101010101" pitchFamily="49" charset="-122"/>
              </a:rPr>
              <a:t>当使用</a:t>
            </a:r>
            <a:r>
              <a:rPr lang="en-US" altLang="zh-CN" sz="2400" b="1" dirty="0">
                <a:solidFill>
                  <a:schemeClr val="tx1"/>
                </a:solidFill>
                <a:latin typeface="黑体" panose="02010609060101010101" pitchFamily="49" charset="-122"/>
                <a:ea typeface="黑体" panose="02010609060101010101" pitchFamily="49" charset="-122"/>
              </a:rPr>
              <a:t>AD521</a:t>
            </a:r>
            <a:r>
              <a:rPr lang="zh-CN" altLang="en-US" sz="2400" b="1" dirty="0">
                <a:solidFill>
                  <a:schemeClr val="tx1"/>
                </a:solidFill>
                <a:latin typeface="黑体" panose="02010609060101010101" pitchFamily="49" charset="-122"/>
                <a:ea typeface="黑体" panose="02010609060101010101" pitchFamily="49" charset="-122"/>
              </a:rPr>
              <a:t>（或任何其他测量放大器）时，要特别注意为偏置电流提供回路。如果没有回路，偏置电流就会对杂散电容充电，使输出电压漂移得不可控制。</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333712" name="Text Box 16"/>
          <p:cNvSpPr txBox="1"/>
          <p:nvPr/>
        </p:nvSpPr>
        <p:spPr>
          <a:xfrm>
            <a:off x="863600" y="5695950"/>
            <a:ext cx="2503488" cy="396875"/>
          </a:xfrm>
          <a:prstGeom prst="rect">
            <a:avLst/>
          </a:prstGeom>
          <a:noFill/>
          <a:ln w="9525">
            <a:noFill/>
          </a:ln>
        </p:spPr>
        <p:txBody>
          <a:bodyPr wrap="none">
            <a:spAutoFit/>
          </a:bodyPr>
          <a:p>
            <a:pPr eaLnBrk="1" hangingPunct="1"/>
            <a:r>
              <a:rPr lang="en-US" altLang="zh-CN" sz="2000" b="1" dirty="0">
                <a:solidFill>
                  <a:srgbClr val="333399"/>
                </a:solidFill>
                <a:latin typeface="Times New Roman" panose="02020603050405020304" pitchFamily="18" charset="0"/>
                <a:ea typeface="宋体" panose="02010600030101010101" pitchFamily="2" charset="-122"/>
              </a:rPr>
              <a:t>a) </a:t>
            </a:r>
            <a:r>
              <a:rPr lang="zh-CN" altLang="en-US" sz="2000" b="1" dirty="0">
                <a:solidFill>
                  <a:srgbClr val="333399"/>
                </a:solidFill>
                <a:latin typeface="Times New Roman" panose="02020603050405020304" pitchFamily="18" charset="0"/>
              </a:rPr>
              <a:t>与热电耦直接相连</a:t>
            </a:r>
            <a:endParaRPr lang="zh-CN" altLang="en-US" sz="2000" b="1" dirty="0">
              <a:solidFill>
                <a:srgbClr val="333399"/>
              </a:solidFill>
              <a:latin typeface="Times New Roman" panose="02020603050405020304" pitchFamily="18" charset="0"/>
            </a:endParaRPr>
          </a:p>
        </p:txBody>
      </p:sp>
      <p:sp>
        <p:nvSpPr>
          <p:cNvPr id="2334048" name="AutoShape 352"/>
          <p:cNvSpPr/>
          <p:nvPr/>
        </p:nvSpPr>
        <p:spPr>
          <a:xfrm rot="5400000">
            <a:off x="1635125" y="3351213"/>
            <a:ext cx="1866900" cy="13763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049" name="Rectangle 353"/>
          <p:cNvSpPr/>
          <p:nvPr/>
        </p:nvSpPr>
        <p:spPr>
          <a:xfrm>
            <a:off x="3887788" y="4229100"/>
            <a:ext cx="315912" cy="495300"/>
          </a:xfrm>
          <a:prstGeom prst="rect">
            <a:avLst/>
          </a:prstGeom>
          <a:noFill/>
          <a:ln w="9525">
            <a:noFill/>
          </a:ln>
        </p:spPr>
        <p:txBody>
          <a:bodyPr lIns="0" tIns="0" rIns="0" bIns="0">
            <a:spAutoFit/>
          </a:bodyPr>
          <a:p>
            <a:pPr eaLnBrk="1" hangingPunct="1">
              <a:lnSpc>
                <a:spcPct val="90000"/>
              </a:lnSpc>
            </a:pPr>
            <a:r>
              <a:rPr lang="zh-CN" altLang="en-US" sz="1800" b="0" dirty="0">
                <a:solidFill>
                  <a:srgbClr val="000000"/>
                </a:solidFill>
                <a:latin typeface="宋体" panose="02010600030101010101" pitchFamily="2" charset="-122"/>
                <a:ea typeface="宋体" panose="02010600030101010101" pitchFamily="2" charset="-122"/>
              </a:rPr>
              <a:t>负载</a:t>
            </a:r>
            <a:endParaRPr lang="zh-CN" altLang="en-US" sz="1800" b="1" dirty="0">
              <a:solidFill>
                <a:srgbClr val="333399"/>
              </a:solidFill>
              <a:latin typeface="Times New Roman" panose="02020603050405020304" pitchFamily="18" charset="0"/>
            </a:endParaRPr>
          </a:p>
        </p:txBody>
      </p:sp>
      <p:sp>
        <p:nvSpPr>
          <p:cNvPr id="2334051" name="Oval 355"/>
          <p:cNvSpPr/>
          <p:nvPr/>
        </p:nvSpPr>
        <p:spPr>
          <a:xfrm>
            <a:off x="311150" y="3965575"/>
            <a:ext cx="100013" cy="146050"/>
          </a:xfrm>
          <a:prstGeom prst="ellipse">
            <a:avLst/>
          </a:prstGeom>
          <a:solidFill>
            <a:srgbClr val="FFCC99"/>
          </a:solid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052" name="Line 356"/>
          <p:cNvSpPr/>
          <p:nvPr/>
        </p:nvSpPr>
        <p:spPr>
          <a:xfrm flipV="1">
            <a:off x="412750" y="3805238"/>
            <a:ext cx="258763" cy="233362"/>
          </a:xfrm>
          <a:prstGeom prst="line">
            <a:avLst/>
          </a:prstGeom>
          <a:ln w="12700" cap="flat" cmpd="sng">
            <a:solidFill>
              <a:schemeClr val="accent2"/>
            </a:solidFill>
            <a:prstDash val="solid"/>
            <a:headEnd type="none" w="med" len="med"/>
            <a:tailEnd type="none" w="med" len="med"/>
          </a:ln>
        </p:spPr>
      </p:sp>
      <p:sp>
        <p:nvSpPr>
          <p:cNvPr id="2334053" name="Line 357"/>
          <p:cNvSpPr/>
          <p:nvPr/>
        </p:nvSpPr>
        <p:spPr>
          <a:xfrm>
            <a:off x="412750" y="4038600"/>
            <a:ext cx="258763" cy="233363"/>
          </a:xfrm>
          <a:prstGeom prst="line">
            <a:avLst/>
          </a:prstGeom>
          <a:ln w="12700" cap="flat" cmpd="sng">
            <a:solidFill>
              <a:schemeClr val="accent2"/>
            </a:solidFill>
            <a:prstDash val="solid"/>
            <a:headEnd type="none" w="med" len="med"/>
            <a:tailEnd type="none" w="med" len="med"/>
          </a:ln>
        </p:spPr>
      </p:sp>
      <p:sp>
        <p:nvSpPr>
          <p:cNvPr id="2334056" name="Rectangle 360"/>
          <p:cNvSpPr/>
          <p:nvPr/>
        </p:nvSpPr>
        <p:spPr>
          <a:xfrm>
            <a:off x="1598613" y="3921125"/>
            <a:ext cx="107950" cy="287338"/>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058" name="Line 362"/>
          <p:cNvSpPr/>
          <p:nvPr/>
        </p:nvSpPr>
        <p:spPr>
          <a:xfrm>
            <a:off x="1641475" y="4389438"/>
            <a:ext cx="236538" cy="0"/>
          </a:xfrm>
          <a:prstGeom prst="line">
            <a:avLst/>
          </a:prstGeom>
          <a:ln w="12700" cap="flat" cmpd="sng">
            <a:solidFill>
              <a:schemeClr val="accent2"/>
            </a:solidFill>
            <a:prstDash val="solid"/>
            <a:headEnd type="none" w="med" len="med"/>
            <a:tailEnd type="none" w="med" len="med"/>
          </a:ln>
        </p:spPr>
      </p:sp>
      <p:sp>
        <p:nvSpPr>
          <p:cNvPr id="2334059" name="Line 363"/>
          <p:cNvSpPr/>
          <p:nvPr/>
        </p:nvSpPr>
        <p:spPr>
          <a:xfrm>
            <a:off x="1641475" y="3687763"/>
            <a:ext cx="0" cy="233362"/>
          </a:xfrm>
          <a:prstGeom prst="line">
            <a:avLst/>
          </a:prstGeom>
          <a:ln w="12700" cap="flat" cmpd="sng">
            <a:solidFill>
              <a:schemeClr val="accent2"/>
            </a:solidFill>
            <a:prstDash val="solid"/>
            <a:headEnd type="none" w="med" len="med"/>
            <a:tailEnd type="none" w="med" len="med"/>
          </a:ln>
        </p:spPr>
      </p:sp>
      <p:sp>
        <p:nvSpPr>
          <p:cNvPr id="2334060" name="Line 364"/>
          <p:cNvSpPr/>
          <p:nvPr/>
        </p:nvSpPr>
        <p:spPr>
          <a:xfrm>
            <a:off x="1641475" y="4208463"/>
            <a:ext cx="0" cy="180975"/>
          </a:xfrm>
          <a:prstGeom prst="line">
            <a:avLst/>
          </a:prstGeom>
          <a:ln w="12700" cap="flat" cmpd="sng">
            <a:solidFill>
              <a:schemeClr val="accent2"/>
            </a:solidFill>
            <a:prstDash val="solid"/>
            <a:headEnd type="none" w="med" len="med"/>
            <a:tailEnd type="none" w="med" len="med"/>
          </a:ln>
        </p:spPr>
      </p:sp>
      <p:sp>
        <p:nvSpPr>
          <p:cNvPr id="2334061" name="Line 365"/>
          <p:cNvSpPr/>
          <p:nvPr/>
        </p:nvSpPr>
        <p:spPr>
          <a:xfrm>
            <a:off x="1360488" y="3336925"/>
            <a:ext cx="517525" cy="0"/>
          </a:xfrm>
          <a:prstGeom prst="line">
            <a:avLst/>
          </a:prstGeom>
          <a:ln w="12700" cap="flat" cmpd="sng">
            <a:solidFill>
              <a:schemeClr val="accent2"/>
            </a:solidFill>
            <a:prstDash val="solid"/>
            <a:headEnd type="none" w="med" len="med"/>
            <a:tailEnd type="none" w="med" len="med"/>
          </a:ln>
        </p:spPr>
      </p:sp>
      <p:sp>
        <p:nvSpPr>
          <p:cNvPr id="2334062" name="Line 366"/>
          <p:cNvSpPr/>
          <p:nvPr/>
        </p:nvSpPr>
        <p:spPr>
          <a:xfrm>
            <a:off x="1360488" y="4740275"/>
            <a:ext cx="517525" cy="0"/>
          </a:xfrm>
          <a:prstGeom prst="line">
            <a:avLst/>
          </a:prstGeom>
          <a:ln w="12700" cap="flat" cmpd="sng">
            <a:solidFill>
              <a:schemeClr val="accent2"/>
            </a:solidFill>
            <a:prstDash val="solid"/>
            <a:headEnd type="none" w="med" len="med"/>
            <a:tailEnd type="none" w="med" len="med"/>
          </a:ln>
        </p:spPr>
      </p:sp>
      <p:sp>
        <p:nvSpPr>
          <p:cNvPr id="2334063" name="Line 367"/>
          <p:cNvSpPr/>
          <p:nvPr/>
        </p:nvSpPr>
        <p:spPr>
          <a:xfrm>
            <a:off x="1360488" y="3336925"/>
            <a:ext cx="0" cy="468313"/>
          </a:xfrm>
          <a:prstGeom prst="line">
            <a:avLst/>
          </a:prstGeom>
          <a:ln w="12700" cap="flat" cmpd="sng">
            <a:solidFill>
              <a:schemeClr val="accent2"/>
            </a:solidFill>
            <a:prstDash val="solid"/>
            <a:headEnd type="none" w="med" len="med"/>
            <a:tailEnd type="none" w="med" len="med"/>
          </a:ln>
        </p:spPr>
      </p:sp>
      <p:sp>
        <p:nvSpPr>
          <p:cNvPr id="2334065" name="Line 369"/>
          <p:cNvSpPr/>
          <p:nvPr/>
        </p:nvSpPr>
        <p:spPr>
          <a:xfrm>
            <a:off x="671513" y="4271963"/>
            <a:ext cx="688975" cy="0"/>
          </a:xfrm>
          <a:prstGeom prst="line">
            <a:avLst/>
          </a:prstGeom>
          <a:ln w="12700" cap="flat" cmpd="sng">
            <a:solidFill>
              <a:schemeClr val="accent2"/>
            </a:solidFill>
            <a:prstDash val="solid"/>
            <a:headEnd type="none" w="med" len="med"/>
            <a:tailEnd type="none" w="med" len="med"/>
          </a:ln>
        </p:spPr>
      </p:sp>
      <p:sp>
        <p:nvSpPr>
          <p:cNvPr id="2334066" name="Line 370"/>
          <p:cNvSpPr/>
          <p:nvPr/>
        </p:nvSpPr>
        <p:spPr>
          <a:xfrm>
            <a:off x="671513" y="3805238"/>
            <a:ext cx="688975" cy="0"/>
          </a:xfrm>
          <a:prstGeom prst="line">
            <a:avLst/>
          </a:prstGeom>
          <a:ln w="12700" cap="flat" cmpd="sng">
            <a:solidFill>
              <a:schemeClr val="accent2"/>
            </a:solidFill>
            <a:prstDash val="solid"/>
            <a:headEnd type="none" w="med" len="med"/>
            <a:tailEnd type="none" w="med" len="med"/>
          </a:ln>
        </p:spPr>
      </p:sp>
      <p:sp>
        <p:nvSpPr>
          <p:cNvPr id="2334067" name="Rectangle 371"/>
          <p:cNvSpPr/>
          <p:nvPr/>
        </p:nvSpPr>
        <p:spPr>
          <a:xfrm>
            <a:off x="2416175" y="3044825"/>
            <a:ext cx="341313" cy="146050"/>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068" name="Line 372"/>
          <p:cNvSpPr/>
          <p:nvPr/>
        </p:nvSpPr>
        <p:spPr>
          <a:xfrm flipV="1">
            <a:off x="2222500" y="3101975"/>
            <a:ext cx="0" cy="230188"/>
          </a:xfrm>
          <a:prstGeom prst="line">
            <a:avLst/>
          </a:prstGeom>
          <a:ln w="12700" cap="flat" cmpd="sng">
            <a:solidFill>
              <a:schemeClr val="accent2"/>
            </a:solidFill>
            <a:prstDash val="solid"/>
            <a:headEnd type="none" w="med" len="med"/>
            <a:tailEnd type="none" w="med" len="med"/>
          </a:ln>
        </p:spPr>
      </p:sp>
      <p:sp>
        <p:nvSpPr>
          <p:cNvPr id="2334069" name="Line 373"/>
          <p:cNvSpPr/>
          <p:nvPr/>
        </p:nvSpPr>
        <p:spPr>
          <a:xfrm>
            <a:off x="2222500" y="3101975"/>
            <a:ext cx="193675" cy="0"/>
          </a:xfrm>
          <a:prstGeom prst="line">
            <a:avLst/>
          </a:prstGeom>
          <a:ln w="12700" cap="flat" cmpd="sng">
            <a:solidFill>
              <a:schemeClr val="accent2"/>
            </a:solidFill>
            <a:prstDash val="solid"/>
            <a:headEnd type="none" w="med" len="med"/>
            <a:tailEnd type="none" w="med" len="med"/>
          </a:ln>
        </p:spPr>
      </p:sp>
      <p:sp>
        <p:nvSpPr>
          <p:cNvPr id="2334070" name="Line 374"/>
          <p:cNvSpPr/>
          <p:nvPr/>
        </p:nvSpPr>
        <p:spPr>
          <a:xfrm>
            <a:off x="2917825" y="3097213"/>
            <a:ext cx="0" cy="722312"/>
          </a:xfrm>
          <a:prstGeom prst="line">
            <a:avLst/>
          </a:prstGeom>
          <a:ln w="12700" cap="flat" cmpd="sng">
            <a:solidFill>
              <a:schemeClr val="accent2"/>
            </a:solidFill>
            <a:prstDash val="solid"/>
            <a:headEnd type="none" w="med" len="med"/>
            <a:tailEnd type="none" w="med" len="med"/>
          </a:ln>
        </p:spPr>
      </p:sp>
      <p:sp>
        <p:nvSpPr>
          <p:cNvPr id="2334071" name="Line 375"/>
          <p:cNvSpPr/>
          <p:nvPr/>
        </p:nvSpPr>
        <p:spPr>
          <a:xfrm>
            <a:off x="2751138" y="3097213"/>
            <a:ext cx="168275" cy="0"/>
          </a:xfrm>
          <a:prstGeom prst="line">
            <a:avLst/>
          </a:prstGeom>
          <a:ln w="12700" cap="flat" cmpd="sng">
            <a:solidFill>
              <a:schemeClr val="accent2"/>
            </a:solidFill>
            <a:prstDash val="solid"/>
            <a:headEnd type="none" w="med" len="med"/>
            <a:tailEnd type="none" w="med" len="med"/>
          </a:ln>
        </p:spPr>
      </p:sp>
      <p:sp>
        <p:nvSpPr>
          <p:cNvPr id="2334072" name="Line 376"/>
          <p:cNvSpPr/>
          <p:nvPr/>
        </p:nvSpPr>
        <p:spPr>
          <a:xfrm>
            <a:off x="3257550" y="4038600"/>
            <a:ext cx="517525" cy="0"/>
          </a:xfrm>
          <a:prstGeom prst="line">
            <a:avLst/>
          </a:prstGeom>
          <a:ln w="12700" cap="flat" cmpd="sng">
            <a:solidFill>
              <a:schemeClr val="accent2"/>
            </a:solidFill>
            <a:prstDash val="solid"/>
            <a:headEnd type="none" w="med" len="med"/>
            <a:tailEnd type="none" w="med" len="med"/>
          </a:ln>
        </p:spPr>
      </p:sp>
      <p:sp>
        <p:nvSpPr>
          <p:cNvPr id="2334073" name="Line 377"/>
          <p:cNvSpPr/>
          <p:nvPr/>
        </p:nvSpPr>
        <p:spPr>
          <a:xfrm flipV="1">
            <a:off x="3019425" y="3336925"/>
            <a:ext cx="388938" cy="525463"/>
          </a:xfrm>
          <a:prstGeom prst="line">
            <a:avLst/>
          </a:prstGeom>
          <a:ln w="12700" cap="flat" cmpd="sng">
            <a:solidFill>
              <a:schemeClr val="accent2"/>
            </a:solidFill>
            <a:prstDash val="solid"/>
            <a:headEnd type="none" w="med" len="med"/>
            <a:tailEnd type="none" w="med" len="med"/>
          </a:ln>
        </p:spPr>
      </p:sp>
      <p:sp>
        <p:nvSpPr>
          <p:cNvPr id="2334074" name="Line 378"/>
          <p:cNvSpPr/>
          <p:nvPr/>
        </p:nvSpPr>
        <p:spPr>
          <a:xfrm>
            <a:off x="3408363" y="3336925"/>
            <a:ext cx="366712" cy="0"/>
          </a:xfrm>
          <a:prstGeom prst="line">
            <a:avLst/>
          </a:prstGeom>
          <a:ln w="12700" cap="flat" cmpd="sng">
            <a:solidFill>
              <a:schemeClr val="accent2"/>
            </a:solidFill>
            <a:prstDash val="solid"/>
            <a:headEnd type="none" w="med" len="med"/>
            <a:tailEnd type="none" w="med" len="med"/>
          </a:ln>
        </p:spPr>
      </p:sp>
      <p:sp>
        <p:nvSpPr>
          <p:cNvPr id="2334075" name="Line 379"/>
          <p:cNvSpPr/>
          <p:nvPr/>
        </p:nvSpPr>
        <p:spPr>
          <a:xfrm>
            <a:off x="3775075" y="3336925"/>
            <a:ext cx="0" cy="935038"/>
          </a:xfrm>
          <a:prstGeom prst="line">
            <a:avLst/>
          </a:prstGeom>
          <a:ln w="12700" cap="flat" cmpd="sng">
            <a:solidFill>
              <a:schemeClr val="accent2"/>
            </a:solidFill>
            <a:prstDash val="solid"/>
            <a:headEnd type="none" w="med" len="med"/>
            <a:tailEnd type="none" w="med" len="med"/>
          </a:ln>
        </p:spPr>
      </p:sp>
      <p:sp>
        <p:nvSpPr>
          <p:cNvPr id="2334076" name="Rectangle 380"/>
          <p:cNvSpPr/>
          <p:nvPr/>
        </p:nvSpPr>
        <p:spPr>
          <a:xfrm>
            <a:off x="3730625" y="4271963"/>
            <a:ext cx="104775" cy="409575"/>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077" name="Line 381"/>
          <p:cNvSpPr/>
          <p:nvPr/>
        </p:nvSpPr>
        <p:spPr>
          <a:xfrm>
            <a:off x="3775075" y="4676775"/>
            <a:ext cx="0" cy="765175"/>
          </a:xfrm>
          <a:prstGeom prst="line">
            <a:avLst/>
          </a:prstGeom>
          <a:ln w="12700" cap="flat" cmpd="sng">
            <a:solidFill>
              <a:schemeClr val="accent2"/>
            </a:solidFill>
            <a:prstDash val="solid"/>
            <a:headEnd type="none" w="med" len="med"/>
            <a:tailEnd type="none" w="med" len="med"/>
          </a:ln>
        </p:spPr>
      </p:sp>
      <p:sp>
        <p:nvSpPr>
          <p:cNvPr id="2334078" name="Line 382"/>
          <p:cNvSpPr/>
          <p:nvPr/>
        </p:nvSpPr>
        <p:spPr>
          <a:xfrm>
            <a:off x="2913063" y="4271963"/>
            <a:ext cx="515937" cy="701675"/>
          </a:xfrm>
          <a:prstGeom prst="line">
            <a:avLst/>
          </a:prstGeom>
          <a:ln w="12700" cap="flat" cmpd="sng">
            <a:solidFill>
              <a:schemeClr val="accent2"/>
            </a:solidFill>
            <a:prstDash val="solid"/>
            <a:headEnd type="none" w="med" len="med"/>
            <a:tailEnd type="none" w="med" len="med"/>
          </a:ln>
        </p:spPr>
      </p:sp>
      <p:sp>
        <p:nvSpPr>
          <p:cNvPr id="2334079" name="Line 383"/>
          <p:cNvSpPr/>
          <p:nvPr/>
        </p:nvSpPr>
        <p:spPr>
          <a:xfrm>
            <a:off x="3429000" y="4973638"/>
            <a:ext cx="346075" cy="234950"/>
          </a:xfrm>
          <a:prstGeom prst="line">
            <a:avLst/>
          </a:prstGeom>
          <a:ln w="12700" cap="flat" cmpd="sng">
            <a:solidFill>
              <a:schemeClr val="accent2"/>
            </a:solidFill>
            <a:prstDash val="solid"/>
            <a:headEnd type="none" w="med" len="med"/>
            <a:tailEnd type="none" w="med" len="med"/>
          </a:ln>
        </p:spPr>
      </p:sp>
      <p:sp>
        <p:nvSpPr>
          <p:cNvPr id="2334080" name="Line 384"/>
          <p:cNvSpPr/>
          <p:nvPr/>
        </p:nvSpPr>
        <p:spPr>
          <a:xfrm flipH="1">
            <a:off x="1360488" y="5208588"/>
            <a:ext cx="2414587" cy="0"/>
          </a:xfrm>
          <a:prstGeom prst="line">
            <a:avLst/>
          </a:prstGeom>
          <a:ln w="12700" cap="flat" cmpd="sng">
            <a:solidFill>
              <a:schemeClr val="accent2"/>
            </a:solidFill>
            <a:prstDash val="solid"/>
            <a:headEnd type="none" w="med" len="med"/>
            <a:tailEnd type="none" w="med" len="med"/>
          </a:ln>
        </p:spPr>
      </p:sp>
      <p:sp>
        <p:nvSpPr>
          <p:cNvPr id="2334081" name="Line 385"/>
          <p:cNvSpPr/>
          <p:nvPr/>
        </p:nvSpPr>
        <p:spPr>
          <a:xfrm flipV="1">
            <a:off x="1360488" y="4271963"/>
            <a:ext cx="0" cy="936625"/>
          </a:xfrm>
          <a:prstGeom prst="line">
            <a:avLst/>
          </a:prstGeom>
          <a:ln w="12700" cap="flat" cmpd="sng">
            <a:solidFill>
              <a:schemeClr val="accent2"/>
            </a:solidFill>
            <a:prstDash val="solid"/>
            <a:headEnd type="none" w="med" len="med"/>
            <a:tailEnd type="none" w="med" len="med"/>
          </a:ln>
        </p:spPr>
      </p:sp>
      <p:sp>
        <p:nvSpPr>
          <p:cNvPr id="2334082" name="Rectangle 386"/>
          <p:cNvSpPr/>
          <p:nvPr/>
        </p:nvSpPr>
        <p:spPr>
          <a:xfrm>
            <a:off x="1943100" y="32496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a:t>
            </a:r>
            <a:endParaRPr lang="en-US" altLang="zh-CN" sz="1600" b="1" dirty="0">
              <a:solidFill>
                <a:srgbClr val="FF0000"/>
              </a:solidFill>
              <a:latin typeface="Times New Roman" panose="02020603050405020304" pitchFamily="18" charset="0"/>
            </a:endParaRPr>
          </a:p>
        </p:txBody>
      </p:sp>
      <p:sp>
        <p:nvSpPr>
          <p:cNvPr id="2334083" name="Rectangle 387"/>
          <p:cNvSpPr/>
          <p:nvPr/>
        </p:nvSpPr>
        <p:spPr>
          <a:xfrm>
            <a:off x="1943100" y="4579938"/>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3</a:t>
            </a:r>
            <a:endParaRPr lang="en-US" altLang="zh-CN" sz="1600" b="1" dirty="0">
              <a:solidFill>
                <a:srgbClr val="FF0000"/>
              </a:solidFill>
              <a:latin typeface="Times New Roman" panose="02020603050405020304" pitchFamily="18" charset="0"/>
            </a:endParaRPr>
          </a:p>
        </p:txBody>
      </p:sp>
      <p:sp>
        <p:nvSpPr>
          <p:cNvPr id="2334084" name="Rectangle 388"/>
          <p:cNvSpPr/>
          <p:nvPr/>
        </p:nvSpPr>
        <p:spPr>
          <a:xfrm>
            <a:off x="3095625" y="3716338"/>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12</a:t>
            </a:r>
            <a:endParaRPr lang="en-US" altLang="zh-CN" sz="1600" b="1" dirty="0">
              <a:solidFill>
                <a:srgbClr val="FF0000"/>
              </a:solidFill>
              <a:latin typeface="Times New Roman" panose="02020603050405020304" pitchFamily="18" charset="0"/>
            </a:endParaRPr>
          </a:p>
        </p:txBody>
      </p:sp>
      <p:sp>
        <p:nvSpPr>
          <p:cNvPr id="2334085" name="Rectangle 389"/>
          <p:cNvSpPr/>
          <p:nvPr/>
        </p:nvSpPr>
        <p:spPr>
          <a:xfrm>
            <a:off x="3257550" y="41259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7</a:t>
            </a:r>
            <a:endParaRPr lang="en-US" altLang="zh-CN" sz="1600" b="1" dirty="0">
              <a:solidFill>
                <a:srgbClr val="FF0000"/>
              </a:solidFill>
              <a:latin typeface="Times New Roman" panose="02020603050405020304" pitchFamily="18" charset="0"/>
            </a:endParaRPr>
          </a:p>
        </p:txBody>
      </p:sp>
      <p:sp>
        <p:nvSpPr>
          <p:cNvPr id="2334086" name="Rectangle 390"/>
          <p:cNvSpPr/>
          <p:nvPr/>
        </p:nvSpPr>
        <p:spPr>
          <a:xfrm>
            <a:off x="2794000" y="4418013"/>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11</a:t>
            </a:r>
            <a:endParaRPr lang="en-US" altLang="zh-CN" sz="1600" b="1" dirty="0">
              <a:solidFill>
                <a:srgbClr val="FF0000"/>
              </a:solidFill>
              <a:latin typeface="Times New Roman" panose="02020603050405020304" pitchFamily="18" charset="0"/>
            </a:endParaRPr>
          </a:p>
        </p:txBody>
      </p:sp>
      <p:sp>
        <p:nvSpPr>
          <p:cNvPr id="2334087" name="Rectangle 391"/>
          <p:cNvSpPr/>
          <p:nvPr/>
        </p:nvSpPr>
        <p:spPr>
          <a:xfrm>
            <a:off x="2124075" y="3937000"/>
            <a:ext cx="673100" cy="247650"/>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00"/>
                </a:solidFill>
                <a:latin typeface="Times New Roman" panose="02020603050405020304" pitchFamily="18" charset="0"/>
              </a:rPr>
              <a:t>AD521</a:t>
            </a:r>
            <a:endParaRPr lang="en-US" altLang="zh-CN" sz="1800" b="1" dirty="0">
              <a:solidFill>
                <a:srgbClr val="333399"/>
              </a:solidFill>
              <a:latin typeface="Times New Roman" panose="02020603050405020304" pitchFamily="18" charset="0"/>
            </a:endParaRPr>
          </a:p>
        </p:txBody>
      </p:sp>
      <p:sp>
        <p:nvSpPr>
          <p:cNvPr id="2334091" name="Rectangle 395"/>
          <p:cNvSpPr/>
          <p:nvPr/>
        </p:nvSpPr>
        <p:spPr>
          <a:xfrm>
            <a:off x="2470150" y="2708275"/>
            <a:ext cx="2159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S</a:t>
            </a:r>
            <a:endParaRPr lang="en-US" altLang="zh-CN" sz="1800" b="0" i="1" baseline="-25000" dirty="0">
              <a:solidFill>
                <a:srgbClr val="000000"/>
              </a:solidFill>
              <a:latin typeface="Times New Roman" panose="02020603050405020304" pitchFamily="18" charset="0"/>
            </a:endParaRPr>
          </a:p>
        </p:txBody>
      </p:sp>
      <p:sp>
        <p:nvSpPr>
          <p:cNvPr id="2334093" name="Rectangle 397"/>
          <p:cNvSpPr/>
          <p:nvPr/>
        </p:nvSpPr>
        <p:spPr>
          <a:xfrm>
            <a:off x="1303338" y="3878263"/>
            <a:ext cx="249237"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G</a:t>
            </a:r>
            <a:endParaRPr lang="en-US" altLang="zh-CN" sz="1800" b="0" i="1" baseline="-25000" dirty="0">
              <a:solidFill>
                <a:srgbClr val="000000"/>
              </a:solidFill>
              <a:latin typeface="Times New Roman" panose="02020603050405020304" pitchFamily="18" charset="0"/>
            </a:endParaRPr>
          </a:p>
        </p:txBody>
      </p:sp>
      <p:sp>
        <p:nvSpPr>
          <p:cNvPr id="2334097" name="Line 401"/>
          <p:cNvSpPr/>
          <p:nvPr/>
        </p:nvSpPr>
        <p:spPr>
          <a:xfrm>
            <a:off x="3602038" y="5441950"/>
            <a:ext cx="344487" cy="0"/>
          </a:xfrm>
          <a:prstGeom prst="line">
            <a:avLst/>
          </a:prstGeom>
          <a:ln w="12700" cap="flat" cmpd="sng">
            <a:solidFill>
              <a:schemeClr val="accent2"/>
            </a:solidFill>
            <a:prstDash val="solid"/>
            <a:headEnd type="none" w="med" len="med"/>
            <a:tailEnd type="none" w="med" len="med"/>
          </a:ln>
        </p:spPr>
      </p:sp>
      <p:sp>
        <p:nvSpPr>
          <p:cNvPr id="2334098" name="Line 402"/>
          <p:cNvSpPr/>
          <p:nvPr/>
        </p:nvSpPr>
        <p:spPr>
          <a:xfrm flipH="1">
            <a:off x="3775075" y="5441950"/>
            <a:ext cx="171450" cy="146050"/>
          </a:xfrm>
          <a:prstGeom prst="line">
            <a:avLst/>
          </a:prstGeom>
          <a:ln w="12700" cap="flat" cmpd="sng">
            <a:solidFill>
              <a:schemeClr val="accent2"/>
            </a:solidFill>
            <a:prstDash val="solid"/>
            <a:headEnd type="none" w="med" len="med"/>
            <a:tailEnd type="none" w="med" len="med"/>
          </a:ln>
        </p:spPr>
      </p:sp>
      <p:sp>
        <p:nvSpPr>
          <p:cNvPr id="2334099" name="Line 403"/>
          <p:cNvSpPr/>
          <p:nvPr/>
        </p:nvSpPr>
        <p:spPr>
          <a:xfrm flipH="1" flipV="1">
            <a:off x="3602038" y="5441950"/>
            <a:ext cx="173037" cy="146050"/>
          </a:xfrm>
          <a:prstGeom prst="line">
            <a:avLst/>
          </a:prstGeom>
          <a:ln w="12700" cap="flat" cmpd="sng">
            <a:solidFill>
              <a:schemeClr val="accent2"/>
            </a:solidFill>
            <a:prstDash val="solid"/>
            <a:headEnd type="none" w="med" len="med"/>
            <a:tailEnd type="none" w="med" len="med"/>
          </a:ln>
        </p:spPr>
      </p:sp>
      <p:sp>
        <p:nvSpPr>
          <p:cNvPr id="2334102" name="Line 406"/>
          <p:cNvSpPr/>
          <p:nvPr/>
        </p:nvSpPr>
        <p:spPr>
          <a:xfrm>
            <a:off x="1644650" y="3692525"/>
            <a:ext cx="236538" cy="0"/>
          </a:xfrm>
          <a:prstGeom prst="line">
            <a:avLst/>
          </a:prstGeom>
          <a:ln w="12700" cap="flat" cmpd="sng">
            <a:solidFill>
              <a:schemeClr val="accent2"/>
            </a:solidFill>
            <a:prstDash val="solid"/>
            <a:headEnd type="none" w="med" len="med"/>
            <a:tailEnd type="none" w="med" len="med"/>
          </a:ln>
        </p:spPr>
      </p:sp>
      <p:grpSp>
        <p:nvGrpSpPr>
          <p:cNvPr id="2" name="Group 412"/>
          <p:cNvGrpSpPr/>
          <p:nvPr/>
        </p:nvGrpSpPr>
        <p:grpSpPr>
          <a:xfrm>
            <a:off x="863600" y="3644900"/>
            <a:ext cx="179388" cy="779463"/>
            <a:chOff x="544" y="1979"/>
            <a:chExt cx="113" cy="491"/>
          </a:xfrm>
        </p:grpSpPr>
        <p:sp>
          <p:nvSpPr>
            <p:cNvPr id="40062" name="AutoShape 407"/>
            <p:cNvSpPr/>
            <p:nvPr/>
          </p:nvSpPr>
          <p:spPr>
            <a:xfrm rot="-5400000">
              <a:off x="379" y="2170"/>
              <a:ext cx="442" cy="113"/>
            </a:xfrm>
            <a:prstGeom prst="wave">
              <a:avLst>
                <a:gd name="adj1" fmla="val 20644"/>
                <a:gd name="adj2" fmla="val 0"/>
              </a:avLst>
            </a:prstGeom>
            <a:solidFill>
              <a:srgbClr val="FFFF99"/>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3" name="Rectangle 408"/>
            <p:cNvSpPr/>
            <p:nvPr/>
          </p:nvSpPr>
          <p:spPr>
            <a:xfrm rot="-1426533">
              <a:off x="572" y="1979"/>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4" name="Rectangle 409"/>
            <p:cNvSpPr/>
            <p:nvPr/>
          </p:nvSpPr>
          <p:spPr>
            <a:xfrm rot="-1128348">
              <a:off x="582" y="1983"/>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5" name="Rectangle 410"/>
            <p:cNvSpPr/>
            <p:nvPr/>
          </p:nvSpPr>
          <p:spPr>
            <a:xfrm rot="-1426533">
              <a:off x="572" y="2421"/>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6" name="Rectangle 411"/>
            <p:cNvSpPr/>
            <p:nvPr/>
          </p:nvSpPr>
          <p:spPr>
            <a:xfrm rot="-1426533">
              <a:off x="580" y="2425"/>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334109" name="Line 413"/>
          <p:cNvSpPr/>
          <p:nvPr/>
        </p:nvSpPr>
        <p:spPr>
          <a:xfrm flipV="1">
            <a:off x="1360488" y="4738688"/>
            <a:ext cx="0" cy="468312"/>
          </a:xfrm>
          <a:prstGeom prst="line">
            <a:avLst/>
          </a:prstGeom>
          <a:ln w="12700" cap="flat" cmpd="sng">
            <a:solidFill>
              <a:srgbClr val="FF0000"/>
            </a:solidFill>
            <a:prstDash val="solid"/>
            <a:headEnd type="none" w="med" len="med"/>
            <a:tailEnd type="none" w="med" len="med"/>
          </a:ln>
        </p:spPr>
      </p:sp>
      <p:sp>
        <p:nvSpPr>
          <p:cNvPr id="2334110" name="Line 414"/>
          <p:cNvSpPr/>
          <p:nvPr/>
        </p:nvSpPr>
        <p:spPr>
          <a:xfrm flipH="1">
            <a:off x="1357313" y="5208588"/>
            <a:ext cx="2414587" cy="0"/>
          </a:xfrm>
          <a:prstGeom prst="line">
            <a:avLst/>
          </a:prstGeom>
          <a:ln w="12700" cap="flat" cmpd="sng">
            <a:solidFill>
              <a:srgbClr val="FF0000"/>
            </a:solidFill>
            <a:prstDash val="solid"/>
            <a:headEnd type="none" w="med" len="med"/>
            <a:tailEnd type="none" w="med" len="med"/>
          </a:ln>
        </p:spPr>
      </p:sp>
      <p:sp>
        <p:nvSpPr>
          <p:cNvPr id="2334111" name="Oval 415"/>
          <p:cNvSpPr/>
          <p:nvPr/>
        </p:nvSpPr>
        <p:spPr>
          <a:xfrm>
            <a:off x="1343025" y="4721225"/>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12" name="Oval 416"/>
          <p:cNvSpPr/>
          <p:nvPr/>
        </p:nvSpPr>
        <p:spPr>
          <a:xfrm>
            <a:off x="3759200" y="5187950"/>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15" name="Text Box 419"/>
          <p:cNvSpPr txBox="1"/>
          <p:nvPr/>
        </p:nvSpPr>
        <p:spPr>
          <a:xfrm>
            <a:off x="5783263" y="5695950"/>
            <a:ext cx="2006600" cy="396875"/>
          </a:xfrm>
          <a:prstGeom prst="rect">
            <a:avLst/>
          </a:prstGeom>
          <a:noFill/>
          <a:ln w="9525">
            <a:noFill/>
          </a:ln>
        </p:spPr>
        <p:txBody>
          <a:bodyPr wrap="none">
            <a:spAutoFit/>
          </a:bodyPr>
          <a:p>
            <a:pPr eaLnBrk="1" hangingPunct="1"/>
            <a:r>
              <a:rPr lang="en-US" altLang="zh-CN" sz="2000" b="1" dirty="0">
                <a:solidFill>
                  <a:srgbClr val="333399"/>
                </a:solidFill>
                <a:latin typeface="Times New Roman" panose="02020603050405020304" pitchFamily="18" charset="0"/>
                <a:ea typeface="宋体" panose="02010600030101010101" pitchFamily="2" charset="-122"/>
              </a:rPr>
              <a:t>b) </a:t>
            </a:r>
            <a:r>
              <a:rPr lang="zh-CN" altLang="en-US" sz="2000" b="1" dirty="0">
                <a:solidFill>
                  <a:srgbClr val="333399"/>
                </a:solidFill>
                <a:latin typeface="Times New Roman" panose="02020603050405020304" pitchFamily="18" charset="0"/>
              </a:rPr>
              <a:t>与变压器相连</a:t>
            </a:r>
            <a:endParaRPr lang="zh-CN" altLang="en-US" sz="2000" b="1" dirty="0">
              <a:solidFill>
                <a:srgbClr val="333399"/>
              </a:solidFill>
              <a:latin typeface="Times New Roman" panose="02020603050405020304" pitchFamily="18" charset="0"/>
            </a:endParaRPr>
          </a:p>
        </p:txBody>
      </p:sp>
      <p:sp>
        <p:nvSpPr>
          <p:cNvPr id="2334116" name="AutoShape 420"/>
          <p:cNvSpPr/>
          <p:nvPr/>
        </p:nvSpPr>
        <p:spPr>
          <a:xfrm rot="5400000">
            <a:off x="6351588" y="3351213"/>
            <a:ext cx="1866900" cy="13763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17" name="Rectangle 421"/>
          <p:cNvSpPr/>
          <p:nvPr/>
        </p:nvSpPr>
        <p:spPr>
          <a:xfrm>
            <a:off x="8604250" y="4229100"/>
            <a:ext cx="315913" cy="495300"/>
          </a:xfrm>
          <a:prstGeom prst="rect">
            <a:avLst/>
          </a:prstGeom>
          <a:noFill/>
          <a:ln w="9525">
            <a:noFill/>
          </a:ln>
        </p:spPr>
        <p:txBody>
          <a:bodyPr lIns="0" tIns="0" rIns="0" bIns="0">
            <a:spAutoFit/>
          </a:bodyPr>
          <a:p>
            <a:pPr eaLnBrk="1" hangingPunct="1">
              <a:lnSpc>
                <a:spcPct val="90000"/>
              </a:lnSpc>
            </a:pPr>
            <a:r>
              <a:rPr lang="zh-CN" altLang="en-US" sz="1800" b="0" dirty="0">
                <a:solidFill>
                  <a:srgbClr val="000000"/>
                </a:solidFill>
                <a:latin typeface="宋体" panose="02010600030101010101" pitchFamily="2" charset="-122"/>
                <a:ea typeface="宋体" panose="02010600030101010101" pitchFamily="2" charset="-122"/>
              </a:rPr>
              <a:t>负载</a:t>
            </a:r>
            <a:endParaRPr lang="zh-CN" altLang="en-US" sz="1800" b="1" dirty="0">
              <a:solidFill>
                <a:srgbClr val="333399"/>
              </a:solidFill>
              <a:latin typeface="Times New Roman" panose="02020603050405020304" pitchFamily="18" charset="0"/>
            </a:endParaRPr>
          </a:p>
        </p:txBody>
      </p:sp>
      <p:sp>
        <p:nvSpPr>
          <p:cNvPr id="2334121" name="Rectangle 425"/>
          <p:cNvSpPr/>
          <p:nvPr/>
        </p:nvSpPr>
        <p:spPr>
          <a:xfrm>
            <a:off x="6315075" y="3921125"/>
            <a:ext cx="107950" cy="287338"/>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22" name="Line 426"/>
          <p:cNvSpPr/>
          <p:nvPr/>
        </p:nvSpPr>
        <p:spPr>
          <a:xfrm>
            <a:off x="6357938" y="4389438"/>
            <a:ext cx="236537" cy="0"/>
          </a:xfrm>
          <a:prstGeom prst="line">
            <a:avLst/>
          </a:prstGeom>
          <a:ln w="12700" cap="flat" cmpd="sng">
            <a:solidFill>
              <a:schemeClr val="accent2"/>
            </a:solidFill>
            <a:prstDash val="solid"/>
            <a:headEnd type="none" w="med" len="med"/>
            <a:tailEnd type="none" w="med" len="med"/>
          </a:ln>
        </p:spPr>
      </p:sp>
      <p:sp>
        <p:nvSpPr>
          <p:cNvPr id="2334123" name="Line 427"/>
          <p:cNvSpPr/>
          <p:nvPr/>
        </p:nvSpPr>
        <p:spPr>
          <a:xfrm>
            <a:off x="6357938" y="3687763"/>
            <a:ext cx="0" cy="233362"/>
          </a:xfrm>
          <a:prstGeom prst="line">
            <a:avLst/>
          </a:prstGeom>
          <a:ln w="12700" cap="flat" cmpd="sng">
            <a:solidFill>
              <a:schemeClr val="accent2"/>
            </a:solidFill>
            <a:prstDash val="solid"/>
            <a:headEnd type="none" w="med" len="med"/>
            <a:tailEnd type="none" w="med" len="med"/>
          </a:ln>
        </p:spPr>
      </p:sp>
      <p:sp>
        <p:nvSpPr>
          <p:cNvPr id="2334124" name="Line 428"/>
          <p:cNvSpPr/>
          <p:nvPr/>
        </p:nvSpPr>
        <p:spPr>
          <a:xfrm>
            <a:off x="6357938" y="4208463"/>
            <a:ext cx="0" cy="180975"/>
          </a:xfrm>
          <a:prstGeom prst="line">
            <a:avLst/>
          </a:prstGeom>
          <a:ln w="12700" cap="flat" cmpd="sng">
            <a:solidFill>
              <a:schemeClr val="accent2"/>
            </a:solidFill>
            <a:prstDash val="solid"/>
            <a:headEnd type="none" w="med" len="med"/>
            <a:tailEnd type="none" w="med" len="med"/>
          </a:ln>
        </p:spPr>
      </p:sp>
      <p:sp>
        <p:nvSpPr>
          <p:cNvPr id="2334125" name="Line 429"/>
          <p:cNvSpPr/>
          <p:nvPr/>
        </p:nvSpPr>
        <p:spPr>
          <a:xfrm>
            <a:off x="6076950" y="3336925"/>
            <a:ext cx="517525" cy="0"/>
          </a:xfrm>
          <a:prstGeom prst="line">
            <a:avLst/>
          </a:prstGeom>
          <a:ln w="12700" cap="flat" cmpd="sng">
            <a:solidFill>
              <a:schemeClr val="accent2"/>
            </a:solidFill>
            <a:prstDash val="solid"/>
            <a:headEnd type="none" w="med" len="med"/>
            <a:tailEnd type="none" w="med" len="med"/>
          </a:ln>
        </p:spPr>
      </p:sp>
      <p:sp>
        <p:nvSpPr>
          <p:cNvPr id="2334126" name="Line 430"/>
          <p:cNvSpPr/>
          <p:nvPr/>
        </p:nvSpPr>
        <p:spPr>
          <a:xfrm>
            <a:off x="6076950" y="4740275"/>
            <a:ext cx="517525" cy="0"/>
          </a:xfrm>
          <a:prstGeom prst="line">
            <a:avLst/>
          </a:prstGeom>
          <a:ln w="12700" cap="flat" cmpd="sng">
            <a:solidFill>
              <a:schemeClr val="accent2"/>
            </a:solidFill>
            <a:prstDash val="solid"/>
            <a:headEnd type="none" w="med" len="med"/>
            <a:tailEnd type="none" w="med" len="med"/>
          </a:ln>
        </p:spPr>
      </p:sp>
      <p:sp>
        <p:nvSpPr>
          <p:cNvPr id="2334127" name="Line 431"/>
          <p:cNvSpPr/>
          <p:nvPr/>
        </p:nvSpPr>
        <p:spPr>
          <a:xfrm>
            <a:off x="6076950" y="3336925"/>
            <a:ext cx="0" cy="468313"/>
          </a:xfrm>
          <a:prstGeom prst="line">
            <a:avLst/>
          </a:prstGeom>
          <a:ln w="12700" cap="flat" cmpd="sng">
            <a:solidFill>
              <a:schemeClr val="accent2"/>
            </a:solidFill>
            <a:prstDash val="solid"/>
            <a:headEnd type="none" w="med" len="med"/>
            <a:tailEnd type="none" w="med" len="med"/>
          </a:ln>
        </p:spPr>
      </p:sp>
      <p:sp>
        <p:nvSpPr>
          <p:cNvPr id="2334128" name="Line 432"/>
          <p:cNvSpPr/>
          <p:nvPr/>
        </p:nvSpPr>
        <p:spPr>
          <a:xfrm>
            <a:off x="5387975" y="4271963"/>
            <a:ext cx="688975" cy="0"/>
          </a:xfrm>
          <a:prstGeom prst="line">
            <a:avLst/>
          </a:prstGeom>
          <a:ln w="12700" cap="flat" cmpd="sng">
            <a:solidFill>
              <a:schemeClr val="accent2"/>
            </a:solidFill>
            <a:prstDash val="solid"/>
            <a:headEnd type="none" w="med" len="med"/>
            <a:tailEnd type="none" w="med" len="med"/>
          </a:ln>
        </p:spPr>
      </p:sp>
      <p:sp>
        <p:nvSpPr>
          <p:cNvPr id="2334129" name="Line 433"/>
          <p:cNvSpPr/>
          <p:nvPr/>
        </p:nvSpPr>
        <p:spPr>
          <a:xfrm>
            <a:off x="5387975" y="3805238"/>
            <a:ext cx="688975" cy="0"/>
          </a:xfrm>
          <a:prstGeom prst="line">
            <a:avLst/>
          </a:prstGeom>
          <a:ln w="12700" cap="flat" cmpd="sng">
            <a:solidFill>
              <a:schemeClr val="accent2"/>
            </a:solidFill>
            <a:prstDash val="solid"/>
            <a:headEnd type="none" w="med" len="med"/>
            <a:tailEnd type="none" w="med" len="med"/>
          </a:ln>
        </p:spPr>
      </p:sp>
      <p:sp>
        <p:nvSpPr>
          <p:cNvPr id="2334130" name="Rectangle 434"/>
          <p:cNvSpPr/>
          <p:nvPr/>
        </p:nvSpPr>
        <p:spPr>
          <a:xfrm>
            <a:off x="7132638" y="3044825"/>
            <a:ext cx="341312" cy="146050"/>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31" name="Line 435"/>
          <p:cNvSpPr/>
          <p:nvPr/>
        </p:nvSpPr>
        <p:spPr>
          <a:xfrm flipV="1">
            <a:off x="6938963" y="3101975"/>
            <a:ext cx="0" cy="230188"/>
          </a:xfrm>
          <a:prstGeom prst="line">
            <a:avLst/>
          </a:prstGeom>
          <a:ln w="12700" cap="flat" cmpd="sng">
            <a:solidFill>
              <a:schemeClr val="accent2"/>
            </a:solidFill>
            <a:prstDash val="solid"/>
            <a:headEnd type="none" w="med" len="med"/>
            <a:tailEnd type="none" w="med" len="med"/>
          </a:ln>
        </p:spPr>
      </p:sp>
      <p:sp>
        <p:nvSpPr>
          <p:cNvPr id="2334132" name="Line 436"/>
          <p:cNvSpPr/>
          <p:nvPr/>
        </p:nvSpPr>
        <p:spPr>
          <a:xfrm>
            <a:off x="6938963" y="3101975"/>
            <a:ext cx="193675" cy="0"/>
          </a:xfrm>
          <a:prstGeom prst="line">
            <a:avLst/>
          </a:prstGeom>
          <a:ln w="12700" cap="flat" cmpd="sng">
            <a:solidFill>
              <a:schemeClr val="accent2"/>
            </a:solidFill>
            <a:prstDash val="solid"/>
            <a:headEnd type="none" w="med" len="med"/>
            <a:tailEnd type="none" w="med" len="med"/>
          </a:ln>
        </p:spPr>
      </p:sp>
      <p:sp>
        <p:nvSpPr>
          <p:cNvPr id="2334133" name="Line 437"/>
          <p:cNvSpPr/>
          <p:nvPr/>
        </p:nvSpPr>
        <p:spPr>
          <a:xfrm>
            <a:off x="7634288" y="3097213"/>
            <a:ext cx="0" cy="722312"/>
          </a:xfrm>
          <a:prstGeom prst="line">
            <a:avLst/>
          </a:prstGeom>
          <a:ln w="12700" cap="flat" cmpd="sng">
            <a:solidFill>
              <a:schemeClr val="accent2"/>
            </a:solidFill>
            <a:prstDash val="solid"/>
            <a:headEnd type="none" w="med" len="med"/>
            <a:tailEnd type="none" w="med" len="med"/>
          </a:ln>
        </p:spPr>
      </p:sp>
      <p:sp>
        <p:nvSpPr>
          <p:cNvPr id="2334134" name="Line 438"/>
          <p:cNvSpPr/>
          <p:nvPr/>
        </p:nvSpPr>
        <p:spPr>
          <a:xfrm>
            <a:off x="7467600" y="3097213"/>
            <a:ext cx="168275" cy="0"/>
          </a:xfrm>
          <a:prstGeom prst="line">
            <a:avLst/>
          </a:prstGeom>
          <a:ln w="12700" cap="flat" cmpd="sng">
            <a:solidFill>
              <a:schemeClr val="accent2"/>
            </a:solidFill>
            <a:prstDash val="solid"/>
            <a:headEnd type="none" w="med" len="med"/>
            <a:tailEnd type="none" w="med" len="med"/>
          </a:ln>
        </p:spPr>
      </p:sp>
      <p:sp>
        <p:nvSpPr>
          <p:cNvPr id="2334135" name="Line 439"/>
          <p:cNvSpPr/>
          <p:nvPr/>
        </p:nvSpPr>
        <p:spPr>
          <a:xfrm>
            <a:off x="7974013" y="4038600"/>
            <a:ext cx="517525" cy="0"/>
          </a:xfrm>
          <a:prstGeom prst="line">
            <a:avLst/>
          </a:prstGeom>
          <a:ln w="12700" cap="flat" cmpd="sng">
            <a:solidFill>
              <a:schemeClr val="accent2"/>
            </a:solidFill>
            <a:prstDash val="solid"/>
            <a:headEnd type="none" w="med" len="med"/>
            <a:tailEnd type="none" w="med" len="med"/>
          </a:ln>
        </p:spPr>
      </p:sp>
      <p:sp>
        <p:nvSpPr>
          <p:cNvPr id="2334136" name="Line 440"/>
          <p:cNvSpPr/>
          <p:nvPr/>
        </p:nvSpPr>
        <p:spPr>
          <a:xfrm flipV="1">
            <a:off x="7735888" y="3336925"/>
            <a:ext cx="388937" cy="525463"/>
          </a:xfrm>
          <a:prstGeom prst="line">
            <a:avLst/>
          </a:prstGeom>
          <a:ln w="12700" cap="flat" cmpd="sng">
            <a:solidFill>
              <a:schemeClr val="accent2"/>
            </a:solidFill>
            <a:prstDash val="solid"/>
            <a:headEnd type="none" w="med" len="med"/>
            <a:tailEnd type="none" w="med" len="med"/>
          </a:ln>
        </p:spPr>
      </p:sp>
      <p:sp>
        <p:nvSpPr>
          <p:cNvPr id="2334137" name="Line 441"/>
          <p:cNvSpPr/>
          <p:nvPr/>
        </p:nvSpPr>
        <p:spPr>
          <a:xfrm>
            <a:off x="8124825" y="3336925"/>
            <a:ext cx="366713" cy="0"/>
          </a:xfrm>
          <a:prstGeom prst="line">
            <a:avLst/>
          </a:prstGeom>
          <a:ln w="12700" cap="flat" cmpd="sng">
            <a:solidFill>
              <a:schemeClr val="accent2"/>
            </a:solidFill>
            <a:prstDash val="solid"/>
            <a:headEnd type="none" w="med" len="med"/>
            <a:tailEnd type="none" w="med" len="med"/>
          </a:ln>
        </p:spPr>
      </p:sp>
      <p:sp>
        <p:nvSpPr>
          <p:cNvPr id="2334138" name="Line 442"/>
          <p:cNvSpPr/>
          <p:nvPr/>
        </p:nvSpPr>
        <p:spPr>
          <a:xfrm>
            <a:off x="8491538" y="3336925"/>
            <a:ext cx="0" cy="935038"/>
          </a:xfrm>
          <a:prstGeom prst="line">
            <a:avLst/>
          </a:prstGeom>
          <a:ln w="12700" cap="flat" cmpd="sng">
            <a:solidFill>
              <a:schemeClr val="accent2"/>
            </a:solidFill>
            <a:prstDash val="solid"/>
            <a:headEnd type="none" w="med" len="med"/>
            <a:tailEnd type="none" w="med" len="med"/>
          </a:ln>
        </p:spPr>
      </p:sp>
      <p:sp>
        <p:nvSpPr>
          <p:cNvPr id="2334139" name="Rectangle 443"/>
          <p:cNvSpPr/>
          <p:nvPr/>
        </p:nvSpPr>
        <p:spPr>
          <a:xfrm>
            <a:off x="8447088" y="4271963"/>
            <a:ext cx="104775" cy="409575"/>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40" name="Line 444"/>
          <p:cNvSpPr/>
          <p:nvPr/>
        </p:nvSpPr>
        <p:spPr>
          <a:xfrm>
            <a:off x="8491538" y="4676775"/>
            <a:ext cx="0" cy="765175"/>
          </a:xfrm>
          <a:prstGeom prst="line">
            <a:avLst/>
          </a:prstGeom>
          <a:ln w="12700" cap="flat" cmpd="sng">
            <a:solidFill>
              <a:schemeClr val="accent2"/>
            </a:solidFill>
            <a:prstDash val="solid"/>
            <a:headEnd type="none" w="med" len="med"/>
            <a:tailEnd type="none" w="med" len="med"/>
          </a:ln>
        </p:spPr>
      </p:sp>
      <p:sp>
        <p:nvSpPr>
          <p:cNvPr id="2334141" name="Line 445"/>
          <p:cNvSpPr/>
          <p:nvPr/>
        </p:nvSpPr>
        <p:spPr>
          <a:xfrm>
            <a:off x="7629525" y="4271963"/>
            <a:ext cx="515938" cy="701675"/>
          </a:xfrm>
          <a:prstGeom prst="line">
            <a:avLst/>
          </a:prstGeom>
          <a:ln w="12700" cap="flat" cmpd="sng">
            <a:solidFill>
              <a:schemeClr val="accent2"/>
            </a:solidFill>
            <a:prstDash val="solid"/>
            <a:headEnd type="none" w="med" len="med"/>
            <a:tailEnd type="none" w="med" len="med"/>
          </a:ln>
        </p:spPr>
      </p:sp>
      <p:sp>
        <p:nvSpPr>
          <p:cNvPr id="2334142" name="Line 446"/>
          <p:cNvSpPr/>
          <p:nvPr/>
        </p:nvSpPr>
        <p:spPr>
          <a:xfrm>
            <a:off x="8145463" y="4973638"/>
            <a:ext cx="346075" cy="234950"/>
          </a:xfrm>
          <a:prstGeom prst="line">
            <a:avLst/>
          </a:prstGeom>
          <a:ln w="12700" cap="flat" cmpd="sng">
            <a:solidFill>
              <a:schemeClr val="accent2"/>
            </a:solidFill>
            <a:prstDash val="solid"/>
            <a:headEnd type="none" w="med" len="med"/>
            <a:tailEnd type="none" w="med" len="med"/>
          </a:ln>
        </p:spPr>
      </p:sp>
      <p:sp>
        <p:nvSpPr>
          <p:cNvPr id="2334143" name="Line 447"/>
          <p:cNvSpPr/>
          <p:nvPr/>
        </p:nvSpPr>
        <p:spPr>
          <a:xfrm flipH="1">
            <a:off x="6076950" y="5208588"/>
            <a:ext cx="2414588" cy="0"/>
          </a:xfrm>
          <a:prstGeom prst="line">
            <a:avLst/>
          </a:prstGeom>
          <a:ln w="12700" cap="flat" cmpd="sng">
            <a:solidFill>
              <a:schemeClr val="accent2"/>
            </a:solidFill>
            <a:prstDash val="solid"/>
            <a:headEnd type="none" w="med" len="med"/>
            <a:tailEnd type="none" w="med" len="med"/>
          </a:ln>
        </p:spPr>
      </p:sp>
      <p:sp>
        <p:nvSpPr>
          <p:cNvPr id="2334144" name="Line 448"/>
          <p:cNvSpPr/>
          <p:nvPr/>
        </p:nvSpPr>
        <p:spPr>
          <a:xfrm flipV="1">
            <a:off x="6076950" y="4271963"/>
            <a:ext cx="0" cy="936625"/>
          </a:xfrm>
          <a:prstGeom prst="line">
            <a:avLst/>
          </a:prstGeom>
          <a:ln w="12700" cap="flat" cmpd="sng">
            <a:solidFill>
              <a:schemeClr val="accent2"/>
            </a:solidFill>
            <a:prstDash val="solid"/>
            <a:headEnd type="none" w="med" len="med"/>
            <a:tailEnd type="none" w="med" len="med"/>
          </a:ln>
        </p:spPr>
      </p:sp>
      <p:sp>
        <p:nvSpPr>
          <p:cNvPr id="2334145" name="Rectangle 449"/>
          <p:cNvSpPr/>
          <p:nvPr/>
        </p:nvSpPr>
        <p:spPr>
          <a:xfrm>
            <a:off x="6659563" y="32496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a:t>
            </a:r>
            <a:endParaRPr lang="en-US" altLang="zh-CN" sz="1600" b="1" dirty="0">
              <a:solidFill>
                <a:srgbClr val="FF0000"/>
              </a:solidFill>
              <a:latin typeface="Times New Roman" panose="02020603050405020304" pitchFamily="18" charset="0"/>
            </a:endParaRPr>
          </a:p>
        </p:txBody>
      </p:sp>
      <p:sp>
        <p:nvSpPr>
          <p:cNvPr id="2334146" name="Rectangle 450"/>
          <p:cNvSpPr/>
          <p:nvPr/>
        </p:nvSpPr>
        <p:spPr>
          <a:xfrm>
            <a:off x="6659563" y="4579938"/>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3</a:t>
            </a:r>
            <a:endParaRPr lang="en-US" altLang="zh-CN" sz="1600" b="1" dirty="0">
              <a:solidFill>
                <a:srgbClr val="FF0000"/>
              </a:solidFill>
              <a:latin typeface="Times New Roman" panose="02020603050405020304" pitchFamily="18" charset="0"/>
            </a:endParaRPr>
          </a:p>
        </p:txBody>
      </p:sp>
      <p:sp>
        <p:nvSpPr>
          <p:cNvPr id="2334147" name="Rectangle 451"/>
          <p:cNvSpPr/>
          <p:nvPr/>
        </p:nvSpPr>
        <p:spPr>
          <a:xfrm>
            <a:off x="7812088" y="3716338"/>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12</a:t>
            </a:r>
            <a:endParaRPr lang="en-US" altLang="zh-CN" sz="1600" b="1" dirty="0">
              <a:solidFill>
                <a:srgbClr val="FF0000"/>
              </a:solidFill>
              <a:latin typeface="Times New Roman" panose="02020603050405020304" pitchFamily="18" charset="0"/>
            </a:endParaRPr>
          </a:p>
        </p:txBody>
      </p:sp>
      <p:sp>
        <p:nvSpPr>
          <p:cNvPr id="2334148" name="Rectangle 452"/>
          <p:cNvSpPr/>
          <p:nvPr/>
        </p:nvSpPr>
        <p:spPr>
          <a:xfrm>
            <a:off x="7974013" y="41259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7</a:t>
            </a:r>
            <a:endParaRPr lang="en-US" altLang="zh-CN" sz="1600" b="1" dirty="0">
              <a:solidFill>
                <a:srgbClr val="FF0000"/>
              </a:solidFill>
              <a:latin typeface="Times New Roman" panose="02020603050405020304" pitchFamily="18" charset="0"/>
            </a:endParaRPr>
          </a:p>
        </p:txBody>
      </p:sp>
      <p:sp>
        <p:nvSpPr>
          <p:cNvPr id="2334149" name="Rectangle 453"/>
          <p:cNvSpPr/>
          <p:nvPr/>
        </p:nvSpPr>
        <p:spPr>
          <a:xfrm>
            <a:off x="7510463" y="4418013"/>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11</a:t>
            </a:r>
            <a:endParaRPr lang="en-US" altLang="zh-CN" sz="1600" b="1" dirty="0">
              <a:solidFill>
                <a:srgbClr val="FF0000"/>
              </a:solidFill>
              <a:latin typeface="Times New Roman" panose="02020603050405020304" pitchFamily="18" charset="0"/>
            </a:endParaRPr>
          </a:p>
        </p:txBody>
      </p:sp>
      <p:sp>
        <p:nvSpPr>
          <p:cNvPr id="2334150" name="Rectangle 454"/>
          <p:cNvSpPr/>
          <p:nvPr/>
        </p:nvSpPr>
        <p:spPr>
          <a:xfrm>
            <a:off x="6840538" y="3937000"/>
            <a:ext cx="673100" cy="247650"/>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00"/>
                </a:solidFill>
                <a:latin typeface="Times New Roman" panose="02020603050405020304" pitchFamily="18" charset="0"/>
              </a:rPr>
              <a:t>AD521</a:t>
            </a:r>
            <a:endParaRPr lang="en-US" altLang="zh-CN" sz="1800" b="1" dirty="0">
              <a:solidFill>
                <a:srgbClr val="333399"/>
              </a:solidFill>
              <a:latin typeface="Times New Roman" panose="02020603050405020304" pitchFamily="18" charset="0"/>
            </a:endParaRPr>
          </a:p>
        </p:txBody>
      </p:sp>
      <p:sp>
        <p:nvSpPr>
          <p:cNvPr id="2334151" name="Rectangle 455"/>
          <p:cNvSpPr/>
          <p:nvPr/>
        </p:nvSpPr>
        <p:spPr>
          <a:xfrm>
            <a:off x="7186613" y="2708275"/>
            <a:ext cx="2159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S</a:t>
            </a:r>
            <a:endParaRPr lang="en-US" altLang="zh-CN" sz="1800" b="0" i="1" baseline="-25000" dirty="0">
              <a:solidFill>
                <a:srgbClr val="000000"/>
              </a:solidFill>
              <a:latin typeface="Times New Roman" panose="02020603050405020304" pitchFamily="18" charset="0"/>
            </a:endParaRPr>
          </a:p>
        </p:txBody>
      </p:sp>
      <p:sp>
        <p:nvSpPr>
          <p:cNvPr id="2334152" name="Rectangle 456"/>
          <p:cNvSpPr/>
          <p:nvPr/>
        </p:nvSpPr>
        <p:spPr>
          <a:xfrm>
            <a:off x="6019800" y="3878263"/>
            <a:ext cx="249238"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G</a:t>
            </a:r>
            <a:endParaRPr lang="en-US" altLang="zh-CN" sz="1800" b="0" i="1" baseline="-25000" dirty="0">
              <a:solidFill>
                <a:srgbClr val="000000"/>
              </a:solidFill>
              <a:latin typeface="Times New Roman" panose="02020603050405020304" pitchFamily="18" charset="0"/>
            </a:endParaRPr>
          </a:p>
        </p:txBody>
      </p:sp>
      <p:sp>
        <p:nvSpPr>
          <p:cNvPr id="2334153" name="Line 457"/>
          <p:cNvSpPr/>
          <p:nvPr/>
        </p:nvSpPr>
        <p:spPr>
          <a:xfrm>
            <a:off x="8318500" y="5441950"/>
            <a:ext cx="344488" cy="0"/>
          </a:xfrm>
          <a:prstGeom prst="line">
            <a:avLst/>
          </a:prstGeom>
          <a:ln w="12700" cap="flat" cmpd="sng">
            <a:solidFill>
              <a:schemeClr val="accent2"/>
            </a:solidFill>
            <a:prstDash val="solid"/>
            <a:headEnd type="none" w="med" len="med"/>
            <a:tailEnd type="none" w="med" len="med"/>
          </a:ln>
        </p:spPr>
      </p:sp>
      <p:sp>
        <p:nvSpPr>
          <p:cNvPr id="2334154" name="Line 458"/>
          <p:cNvSpPr/>
          <p:nvPr/>
        </p:nvSpPr>
        <p:spPr>
          <a:xfrm flipH="1">
            <a:off x="8491538" y="5441950"/>
            <a:ext cx="171450" cy="146050"/>
          </a:xfrm>
          <a:prstGeom prst="line">
            <a:avLst/>
          </a:prstGeom>
          <a:ln w="12700" cap="flat" cmpd="sng">
            <a:solidFill>
              <a:schemeClr val="accent2"/>
            </a:solidFill>
            <a:prstDash val="solid"/>
            <a:headEnd type="none" w="med" len="med"/>
            <a:tailEnd type="none" w="med" len="med"/>
          </a:ln>
        </p:spPr>
      </p:sp>
      <p:sp>
        <p:nvSpPr>
          <p:cNvPr id="2334155" name="Line 459"/>
          <p:cNvSpPr/>
          <p:nvPr/>
        </p:nvSpPr>
        <p:spPr>
          <a:xfrm flipH="1" flipV="1">
            <a:off x="8318500" y="5441950"/>
            <a:ext cx="173038" cy="146050"/>
          </a:xfrm>
          <a:prstGeom prst="line">
            <a:avLst/>
          </a:prstGeom>
          <a:ln w="12700" cap="flat" cmpd="sng">
            <a:solidFill>
              <a:schemeClr val="accent2"/>
            </a:solidFill>
            <a:prstDash val="solid"/>
            <a:headEnd type="none" w="med" len="med"/>
            <a:tailEnd type="none" w="med" len="med"/>
          </a:ln>
        </p:spPr>
      </p:sp>
      <p:sp>
        <p:nvSpPr>
          <p:cNvPr id="2334156" name="Line 460"/>
          <p:cNvSpPr/>
          <p:nvPr/>
        </p:nvSpPr>
        <p:spPr>
          <a:xfrm>
            <a:off x="6361113" y="3692525"/>
            <a:ext cx="236537" cy="0"/>
          </a:xfrm>
          <a:prstGeom prst="line">
            <a:avLst/>
          </a:prstGeom>
          <a:ln w="12700" cap="flat" cmpd="sng">
            <a:solidFill>
              <a:schemeClr val="accent2"/>
            </a:solidFill>
            <a:prstDash val="solid"/>
            <a:headEnd type="none" w="med" len="med"/>
            <a:tailEnd type="none" w="med" len="med"/>
          </a:ln>
        </p:spPr>
      </p:sp>
      <p:grpSp>
        <p:nvGrpSpPr>
          <p:cNvPr id="3" name="Group 461"/>
          <p:cNvGrpSpPr/>
          <p:nvPr/>
        </p:nvGrpSpPr>
        <p:grpSpPr>
          <a:xfrm>
            <a:off x="5580063" y="3644900"/>
            <a:ext cx="179387" cy="779463"/>
            <a:chOff x="544" y="1979"/>
            <a:chExt cx="113" cy="491"/>
          </a:xfrm>
        </p:grpSpPr>
        <p:sp>
          <p:nvSpPr>
            <p:cNvPr id="40057" name="AutoShape 462"/>
            <p:cNvSpPr/>
            <p:nvPr/>
          </p:nvSpPr>
          <p:spPr>
            <a:xfrm rot="-5400000">
              <a:off x="379" y="2170"/>
              <a:ext cx="442" cy="113"/>
            </a:xfrm>
            <a:prstGeom prst="wave">
              <a:avLst>
                <a:gd name="adj1" fmla="val 20644"/>
                <a:gd name="adj2" fmla="val 0"/>
              </a:avLst>
            </a:prstGeom>
            <a:solidFill>
              <a:srgbClr val="FFFF99"/>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58" name="Rectangle 463"/>
            <p:cNvSpPr/>
            <p:nvPr/>
          </p:nvSpPr>
          <p:spPr>
            <a:xfrm rot="-1426533">
              <a:off x="572" y="1979"/>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59" name="Rectangle 464"/>
            <p:cNvSpPr/>
            <p:nvPr/>
          </p:nvSpPr>
          <p:spPr>
            <a:xfrm rot="-1128348">
              <a:off x="582" y="1983"/>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0" name="Rectangle 465"/>
            <p:cNvSpPr/>
            <p:nvPr/>
          </p:nvSpPr>
          <p:spPr>
            <a:xfrm rot="-1426533">
              <a:off x="572" y="2421"/>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0061" name="Rectangle 466"/>
            <p:cNvSpPr/>
            <p:nvPr/>
          </p:nvSpPr>
          <p:spPr>
            <a:xfrm rot="-1426533">
              <a:off x="580" y="2425"/>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334163" name="Line 467"/>
          <p:cNvSpPr/>
          <p:nvPr/>
        </p:nvSpPr>
        <p:spPr>
          <a:xfrm flipV="1">
            <a:off x="6076950" y="4738688"/>
            <a:ext cx="0" cy="468312"/>
          </a:xfrm>
          <a:prstGeom prst="line">
            <a:avLst/>
          </a:prstGeom>
          <a:ln w="12700" cap="flat" cmpd="sng">
            <a:solidFill>
              <a:srgbClr val="FF0000"/>
            </a:solidFill>
            <a:prstDash val="solid"/>
            <a:headEnd type="none" w="med" len="med"/>
            <a:tailEnd type="none" w="med" len="med"/>
          </a:ln>
        </p:spPr>
      </p:sp>
      <p:sp>
        <p:nvSpPr>
          <p:cNvPr id="2334164" name="Line 468"/>
          <p:cNvSpPr/>
          <p:nvPr/>
        </p:nvSpPr>
        <p:spPr>
          <a:xfrm flipH="1">
            <a:off x="6073775" y="5208588"/>
            <a:ext cx="2414588" cy="0"/>
          </a:xfrm>
          <a:prstGeom prst="line">
            <a:avLst/>
          </a:prstGeom>
          <a:ln w="12700" cap="flat" cmpd="sng">
            <a:solidFill>
              <a:srgbClr val="FF0000"/>
            </a:solidFill>
            <a:prstDash val="solid"/>
            <a:headEnd type="none" w="med" len="med"/>
            <a:tailEnd type="none" w="med" len="med"/>
          </a:ln>
        </p:spPr>
      </p:sp>
      <p:sp>
        <p:nvSpPr>
          <p:cNvPr id="2334165" name="Oval 469"/>
          <p:cNvSpPr/>
          <p:nvPr/>
        </p:nvSpPr>
        <p:spPr>
          <a:xfrm>
            <a:off x="6059488" y="4721225"/>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66" name="Oval 470"/>
          <p:cNvSpPr/>
          <p:nvPr/>
        </p:nvSpPr>
        <p:spPr>
          <a:xfrm>
            <a:off x="8475663" y="5187950"/>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67" name="Line 471"/>
          <p:cNvSpPr/>
          <p:nvPr/>
        </p:nvSpPr>
        <p:spPr>
          <a:xfrm>
            <a:off x="5394325" y="4271963"/>
            <a:ext cx="0" cy="238125"/>
          </a:xfrm>
          <a:prstGeom prst="line">
            <a:avLst/>
          </a:prstGeom>
          <a:ln w="19050" cap="flat" cmpd="sng">
            <a:solidFill>
              <a:srgbClr val="000080"/>
            </a:solidFill>
            <a:prstDash val="solid"/>
            <a:headEnd type="none" w="med" len="med"/>
            <a:tailEnd type="none" w="med" len="med"/>
          </a:ln>
        </p:spPr>
      </p:sp>
      <p:sp>
        <p:nvSpPr>
          <p:cNvPr id="2334168" name="Line 472"/>
          <p:cNvSpPr/>
          <p:nvPr/>
        </p:nvSpPr>
        <p:spPr>
          <a:xfrm flipV="1">
            <a:off x="5394325" y="3554413"/>
            <a:ext cx="0" cy="250825"/>
          </a:xfrm>
          <a:prstGeom prst="line">
            <a:avLst/>
          </a:prstGeom>
          <a:ln w="19050" cap="flat" cmpd="sng">
            <a:solidFill>
              <a:srgbClr val="000080"/>
            </a:solidFill>
            <a:prstDash val="solid"/>
            <a:headEnd type="none" w="med" len="med"/>
            <a:tailEnd type="none" w="med" len="med"/>
          </a:ln>
        </p:spPr>
      </p:sp>
      <p:sp>
        <p:nvSpPr>
          <p:cNvPr id="2334169" name="Line 473"/>
          <p:cNvSpPr/>
          <p:nvPr/>
        </p:nvSpPr>
        <p:spPr>
          <a:xfrm flipH="1" flipV="1">
            <a:off x="5226050" y="4510088"/>
            <a:ext cx="168275" cy="0"/>
          </a:xfrm>
          <a:prstGeom prst="line">
            <a:avLst/>
          </a:prstGeom>
          <a:ln w="19050" cap="flat" cmpd="sng">
            <a:solidFill>
              <a:srgbClr val="000080"/>
            </a:solidFill>
            <a:prstDash val="solid"/>
            <a:headEnd type="none" w="med" len="med"/>
            <a:tailEnd type="none" w="med" len="med"/>
          </a:ln>
        </p:spPr>
      </p:sp>
      <p:sp>
        <p:nvSpPr>
          <p:cNvPr id="2334170" name="Oval 474"/>
          <p:cNvSpPr/>
          <p:nvPr/>
        </p:nvSpPr>
        <p:spPr>
          <a:xfrm>
            <a:off x="4849813" y="3668713"/>
            <a:ext cx="190500" cy="239712"/>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1" name="Oval 475"/>
          <p:cNvSpPr/>
          <p:nvPr/>
        </p:nvSpPr>
        <p:spPr>
          <a:xfrm>
            <a:off x="4849813" y="3908425"/>
            <a:ext cx="190500" cy="238125"/>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2" name="Oval 476"/>
          <p:cNvSpPr/>
          <p:nvPr/>
        </p:nvSpPr>
        <p:spPr>
          <a:xfrm>
            <a:off x="4849813" y="4146550"/>
            <a:ext cx="190500" cy="239713"/>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3" name="Rectangle 477"/>
          <p:cNvSpPr/>
          <p:nvPr/>
        </p:nvSpPr>
        <p:spPr>
          <a:xfrm>
            <a:off x="4787900" y="3644900"/>
            <a:ext cx="166688" cy="755650"/>
          </a:xfrm>
          <a:prstGeom prst="rect">
            <a:avLst/>
          </a:prstGeom>
          <a:solidFill>
            <a:srgbClr val="FFFF99"/>
          </a:solidFill>
          <a:ln w="0">
            <a:noFill/>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5" name="Oval 479"/>
          <p:cNvSpPr/>
          <p:nvPr/>
        </p:nvSpPr>
        <p:spPr>
          <a:xfrm>
            <a:off x="5149850" y="3675063"/>
            <a:ext cx="190500" cy="238125"/>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6" name="Oval 480"/>
          <p:cNvSpPr/>
          <p:nvPr/>
        </p:nvSpPr>
        <p:spPr>
          <a:xfrm>
            <a:off x="5149850" y="3913188"/>
            <a:ext cx="190500" cy="239712"/>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7" name="Oval 481"/>
          <p:cNvSpPr/>
          <p:nvPr/>
        </p:nvSpPr>
        <p:spPr>
          <a:xfrm>
            <a:off x="5149850" y="4152900"/>
            <a:ext cx="190500" cy="238125"/>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8" name="Rectangle 482"/>
          <p:cNvSpPr/>
          <p:nvPr/>
        </p:nvSpPr>
        <p:spPr>
          <a:xfrm>
            <a:off x="5230813" y="3651250"/>
            <a:ext cx="136525" cy="749300"/>
          </a:xfrm>
          <a:prstGeom prst="rect">
            <a:avLst/>
          </a:prstGeom>
          <a:solidFill>
            <a:srgbClr val="FFFF99"/>
          </a:solidFill>
          <a:ln w="0">
            <a:noFill/>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334179" name="Line 483"/>
          <p:cNvSpPr/>
          <p:nvPr/>
        </p:nvSpPr>
        <p:spPr>
          <a:xfrm>
            <a:off x="5226050" y="4389438"/>
            <a:ext cx="0" cy="120650"/>
          </a:xfrm>
          <a:prstGeom prst="line">
            <a:avLst/>
          </a:prstGeom>
          <a:ln w="19050" cap="flat" cmpd="sng">
            <a:solidFill>
              <a:srgbClr val="000080"/>
            </a:solidFill>
            <a:prstDash val="solid"/>
            <a:headEnd type="none" w="med" len="med"/>
            <a:tailEnd type="none" w="med" len="med"/>
          </a:ln>
        </p:spPr>
      </p:sp>
      <p:sp>
        <p:nvSpPr>
          <p:cNvPr id="2334180" name="Line 484"/>
          <p:cNvSpPr/>
          <p:nvPr/>
        </p:nvSpPr>
        <p:spPr>
          <a:xfrm>
            <a:off x="5226050" y="3554413"/>
            <a:ext cx="0" cy="122237"/>
          </a:xfrm>
          <a:prstGeom prst="line">
            <a:avLst/>
          </a:prstGeom>
          <a:ln w="19050" cap="flat" cmpd="sng">
            <a:solidFill>
              <a:srgbClr val="000080"/>
            </a:solidFill>
            <a:prstDash val="solid"/>
            <a:headEnd type="none" w="med" len="med"/>
            <a:tailEnd type="none" w="med" len="med"/>
          </a:ln>
        </p:spPr>
      </p:sp>
      <p:sp>
        <p:nvSpPr>
          <p:cNvPr id="2334181" name="Line 485"/>
          <p:cNvSpPr/>
          <p:nvPr/>
        </p:nvSpPr>
        <p:spPr>
          <a:xfrm>
            <a:off x="5226050" y="3554413"/>
            <a:ext cx="168275" cy="0"/>
          </a:xfrm>
          <a:prstGeom prst="line">
            <a:avLst/>
          </a:prstGeom>
          <a:ln w="19050" cap="flat" cmpd="sng">
            <a:solidFill>
              <a:srgbClr val="000080"/>
            </a:solidFill>
            <a:prstDash val="solid"/>
            <a:headEnd type="none" w="med" len="med"/>
            <a:tailEnd type="none" w="med" len="med"/>
          </a:ln>
        </p:spPr>
      </p:sp>
      <p:sp>
        <p:nvSpPr>
          <p:cNvPr id="2334182" name="Line 486"/>
          <p:cNvSpPr/>
          <p:nvPr/>
        </p:nvSpPr>
        <p:spPr>
          <a:xfrm>
            <a:off x="5094288" y="3554413"/>
            <a:ext cx="0" cy="955675"/>
          </a:xfrm>
          <a:prstGeom prst="line">
            <a:avLst/>
          </a:prstGeom>
          <a:ln w="19050" cap="flat" cmpd="sng">
            <a:solidFill>
              <a:srgbClr val="000080"/>
            </a:solidFill>
            <a:prstDash val="solid"/>
            <a:headEnd type="none" w="med" len="med"/>
            <a:tailEnd type="none" w="med" len="med"/>
          </a:ln>
        </p:spPr>
      </p:sp>
      <p:sp>
        <p:nvSpPr>
          <p:cNvPr id="2334183" name="Line 487"/>
          <p:cNvSpPr/>
          <p:nvPr/>
        </p:nvSpPr>
        <p:spPr>
          <a:xfrm>
            <a:off x="4959350" y="4386263"/>
            <a:ext cx="0" cy="123825"/>
          </a:xfrm>
          <a:prstGeom prst="line">
            <a:avLst/>
          </a:prstGeom>
          <a:ln w="19050" cap="flat" cmpd="sng">
            <a:solidFill>
              <a:srgbClr val="000080"/>
            </a:solidFill>
            <a:prstDash val="solid"/>
            <a:headEnd type="none" w="med" len="med"/>
            <a:tailEnd type="none" w="med" len="med"/>
          </a:ln>
        </p:spPr>
      </p:sp>
      <p:sp>
        <p:nvSpPr>
          <p:cNvPr id="2334184" name="Line 488"/>
          <p:cNvSpPr/>
          <p:nvPr/>
        </p:nvSpPr>
        <p:spPr>
          <a:xfrm flipH="1">
            <a:off x="4767263" y="4510088"/>
            <a:ext cx="192087" cy="0"/>
          </a:xfrm>
          <a:prstGeom prst="line">
            <a:avLst/>
          </a:prstGeom>
          <a:ln w="19050" cap="flat" cmpd="sng">
            <a:solidFill>
              <a:srgbClr val="000080"/>
            </a:solidFill>
            <a:prstDash val="solid"/>
            <a:headEnd type="none" w="med" len="med"/>
            <a:tailEnd type="none" w="med" len="med"/>
          </a:ln>
        </p:spPr>
      </p:sp>
      <p:sp>
        <p:nvSpPr>
          <p:cNvPr id="2334185" name="Line 489"/>
          <p:cNvSpPr/>
          <p:nvPr/>
        </p:nvSpPr>
        <p:spPr>
          <a:xfrm flipV="1">
            <a:off x="4957763" y="3554413"/>
            <a:ext cx="0" cy="114300"/>
          </a:xfrm>
          <a:prstGeom prst="line">
            <a:avLst/>
          </a:prstGeom>
          <a:ln w="19050" cap="flat" cmpd="sng">
            <a:solidFill>
              <a:srgbClr val="000080"/>
            </a:solidFill>
            <a:prstDash val="solid"/>
            <a:headEnd type="none" w="med" len="med"/>
            <a:tailEnd type="none" w="med" len="med"/>
          </a:ln>
        </p:spPr>
      </p:sp>
      <p:sp>
        <p:nvSpPr>
          <p:cNvPr id="2334186" name="Line 490"/>
          <p:cNvSpPr/>
          <p:nvPr/>
        </p:nvSpPr>
        <p:spPr>
          <a:xfrm flipH="1">
            <a:off x="4767263" y="3554413"/>
            <a:ext cx="190500" cy="0"/>
          </a:xfrm>
          <a:prstGeom prst="line">
            <a:avLst/>
          </a:prstGeom>
          <a:ln w="19050" cap="flat" cmpd="sng">
            <a:solidFill>
              <a:srgbClr val="000080"/>
            </a:solidFill>
            <a:prstDash val="solid"/>
            <a:headEnd type="none" w="med" len="med"/>
            <a:tailEnd type="none" w="med" len="med"/>
          </a:ln>
        </p:spPr>
      </p:sp>
      <p:grpSp>
        <p:nvGrpSpPr>
          <p:cNvPr id="4" name="Group 495"/>
          <p:cNvGrpSpPr/>
          <p:nvPr/>
        </p:nvGrpSpPr>
        <p:grpSpPr>
          <a:xfrm>
            <a:off x="3827463" y="5588000"/>
            <a:ext cx="1428750" cy="647700"/>
            <a:chOff x="2411" y="3520"/>
            <a:chExt cx="900" cy="408"/>
          </a:xfrm>
        </p:grpSpPr>
        <p:sp>
          <p:nvSpPr>
            <p:cNvPr id="40054" name="AutoShape 492"/>
            <p:cNvSpPr/>
            <p:nvPr/>
          </p:nvSpPr>
          <p:spPr>
            <a:xfrm>
              <a:off x="2416" y="3520"/>
              <a:ext cx="895" cy="408"/>
            </a:xfrm>
            <a:prstGeom prst="wedgeRoundRectCallout">
              <a:avLst>
                <a:gd name="adj1" fmla="val -130449"/>
                <a:gd name="adj2" fmla="val -10196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b="1" dirty="0">
                  <a:solidFill>
                    <a:srgbClr val="333399"/>
                  </a:solidFill>
                  <a:latin typeface="Times New Roman" panose="02020603050405020304" pitchFamily="18" charset="0"/>
                </a:rPr>
                <a:t>偏置电流回路</a:t>
              </a:r>
              <a:endParaRPr lang="zh-CN" altLang="en-US" sz="2000" b="1" dirty="0">
                <a:solidFill>
                  <a:srgbClr val="333399"/>
                </a:solidFill>
                <a:latin typeface="Times New Roman" panose="02020603050405020304" pitchFamily="18" charset="0"/>
              </a:endParaRPr>
            </a:p>
          </p:txBody>
        </p:sp>
        <p:sp>
          <p:nvSpPr>
            <p:cNvPr id="40055" name="AutoShape 493"/>
            <p:cNvSpPr/>
            <p:nvPr/>
          </p:nvSpPr>
          <p:spPr>
            <a:xfrm>
              <a:off x="2416" y="3520"/>
              <a:ext cx="895" cy="408"/>
            </a:xfrm>
            <a:prstGeom prst="wedgeRoundRectCallout">
              <a:avLst>
                <a:gd name="adj1" fmla="val 114134"/>
                <a:gd name="adj2" fmla="val -10514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b="1" dirty="0">
                  <a:solidFill>
                    <a:schemeClr val="tx1"/>
                  </a:solidFill>
                  <a:latin typeface="Times New Roman" panose="02020603050405020304" pitchFamily="18" charset="0"/>
                </a:rPr>
                <a:t>偏置电流回路</a:t>
              </a:r>
              <a:endParaRPr lang="zh-CN" altLang="en-US" sz="2000" b="1" dirty="0">
                <a:solidFill>
                  <a:schemeClr val="tx1"/>
                </a:solidFill>
                <a:latin typeface="Times New Roman" panose="02020603050405020304" pitchFamily="18" charset="0"/>
              </a:endParaRPr>
            </a:p>
          </p:txBody>
        </p:sp>
        <p:sp>
          <p:nvSpPr>
            <p:cNvPr id="40056" name="Rectangle 494"/>
            <p:cNvSpPr/>
            <p:nvPr/>
          </p:nvSpPr>
          <p:spPr>
            <a:xfrm>
              <a:off x="2411" y="3591"/>
              <a:ext cx="59" cy="92"/>
            </a:xfrm>
            <a:prstGeom prst="rect">
              <a:avLst/>
            </a:prstGeom>
            <a:solidFill>
              <a:schemeClr val="accent1"/>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3708"/>
                                        </p:tgtEl>
                                        <p:attrNameLst>
                                          <p:attrName>style.visibility</p:attrName>
                                        </p:attrNameLst>
                                      </p:cBhvr>
                                      <p:to>
                                        <p:strVal val="visible"/>
                                      </p:to>
                                    </p:set>
                                    <p:animEffect transition="in" filter="dissolve">
                                      <p:cBhvr>
                                        <p:cTn id="7" dur="500"/>
                                        <p:tgtEl>
                                          <p:spTgt spid="23337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33709"/>
                                        </p:tgtEl>
                                        <p:attrNameLst>
                                          <p:attrName>style.visibility</p:attrName>
                                        </p:attrNameLst>
                                      </p:cBhvr>
                                      <p:to>
                                        <p:strVal val="visible"/>
                                      </p:to>
                                    </p:set>
                                    <p:animEffect transition="in" filter="dissolve">
                                      <p:cBhvr>
                                        <p:cTn id="12" dur="500"/>
                                        <p:tgtEl>
                                          <p:spTgt spid="233370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34113"/>
                                        </p:tgtEl>
                                        <p:attrNameLst>
                                          <p:attrName>style.visibility</p:attrName>
                                        </p:attrNameLst>
                                      </p:cBhvr>
                                      <p:to>
                                        <p:strVal val="visible"/>
                                      </p:to>
                                    </p:set>
                                    <p:animEffect transition="in" filter="dissolve">
                                      <p:cBhvr>
                                        <p:cTn id="17" dur="500"/>
                                        <p:tgtEl>
                                          <p:spTgt spid="2334113"/>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33712"/>
                                        </p:tgtEl>
                                        <p:attrNameLst>
                                          <p:attrName>style.visibility</p:attrName>
                                        </p:attrNameLst>
                                      </p:cBhvr>
                                      <p:to>
                                        <p:strVal val="visible"/>
                                      </p:to>
                                    </p:set>
                                    <p:animEffect transition="in" filter="dissolve">
                                      <p:cBhvr>
                                        <p:cTn id="20" dur="500"/>
                                        <p:tgtEl>
                                          <p:spTgt spid="23337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334048"/>
                                        </p:tgtEl>
                                        <p:attrNameLst>
                                          <p:attrName>style.visibility</p:attrName>
                                        </p:attrNameLst>
                                      </p:cBhvr>
                                      <p:to>
                                        <p:strVal val="visible"/>
                                      </p:to>
                                    </p:set>
                                    <p:animEffect transition="in" filter="dissolve">
                                      <p:cBhvr>
                                        <p:cTn id="23" dur="500"/>
                                        <p:tgtEl>
                                          <p:spTgt spid="2334048"/>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334049"/>
                                        </p:tgtEl>
                                        <p:attrNameLst>
                                          <p:attrName>style.visibility</p:attrName>
                                        </p:attrNameLst>
                                      </p:cBhvr>
                                      <p:to>
                                        <p:strVal val="visible"/>
                                      </p:to>
                                    </p:set>
                                    <p:animEffect transition="in" filter="dissolve">
                                      <p:cBhvr>
                                        <p:cTn id="26" dur="500"/>
                                        <p:tgtEl>
                                          <p:spTgt spid="23340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2334051"/>
                                        </p:tgtEl>
                                        <p:attrNameLst>
                                          <p:attrName>style.visibility</p:attrName>
                                        </p:attrNameLst>
                                      </p:cBhvr>
                                      <p:to>
                                        <p:strVal val="visible"/>
                                      </p:to>
                                    </p:set>
                                    <p:animEffect transition="in" filter="dissolve">
                                      <p:cBhvr>
                                        <p:cTn id="29" dur="500"/>
                                        <p:tgtEl>
                                          <p:spTgt spid="2334051"/>
                                        </p:tgtEl>
                                      </p:cBhvr>
                                    </p:animEffect>
                                  </p:childTnLst>
                                </p:cTn>
                              </p:par>
                              <p:par>
                                <p:cTn id="30" presetID="9" presetClass="entr" presetSubtype="0" fill="hold" nodeType="withEffect">
                                  <p:stCondLst>
                                    <p:cond delay="0"/>
                                  </p:stCondLst>
                                  <p:childTnLst>
                                    <p:set>
                                      <p:cBhvr>
                                        <p:cTn id="31" dur="1" fill="hold">
                                          <p:stCondLst>
                                            <p:cond delay="0"/>
                                          </p:stCondLst>
                                        </p:cTn>
                                        <p:tgtEl>
                                          <p:spTgt spid="2334052"/>
                                        </p:tgtEl>
                                        <p:attrNameLst>
                                          <p:attrName>style.visibility</p:attrName>
                                        </p:attrNameLst>
                                      </p:cBhvr>
                                      <p:to>
                                        <p:strVal val="visible"/>
                                      </p:to>
                                    </p:set>
                                    <p:animEffect transition="in" filter="dissolve">
                                      <p:cBhvr>
                                        <p:cTn id="32" dur="500"/>
                                        <p:tgtEl>
                                          <p:spTgt spid="2334052"/>
                                        </p:tgtEl>
                                      </p:cBhvr>
                                    </p:animEffect>
                                  </p:childTnLst>
                                </p:cTn>
                              </p:par>
                              <p:par>
                                <p:cTn id="33" presetID="9" presetClass="entr" presetSubtype="0" fill="hold" nodeType="withEffect">
                                  <p:stCondLst>
                                    <p:cond delay="0"/>
                                  </p:stCondLst>
                                  <p:childTnLst>
                                    <p:set>
                                      <p:cBhvr>
                                        <p:cTn id="34" dur="1" fill="hold">
                                          <p:stCondLst>
                                            <p:cond delay="0"/>
                                          </p:stCondLst>
                                        </p:cTn>
                                        <p:tgtEl>
                                          <p:spTgt spid="2334053"/>
                                        </p:tgtEl>
                                        <p:attrNameLst>
                                          <p:attrName>style.visibility</p:attrName>
                                        </p:attrNameLst>
                                      </p:cBhvr>
                                      <p:to>
                                        <p:strVal val="visible"/>
                                      </p:to>
                                    </p:set>
                                    <p:animEffect transition="in" filter="dissolve">
                                      <p:cBhvr>
                                        <p:cTn id="35" dur="500"/>
                                        <p:tgtEl>
                                          <p:spTgt spid="2334053"/>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334056"/>
                                        </p:tgtEl>
                                        <p:attrNameLst>
                                          <p:attrName>style.visibility</p:attrName>
                                        </p:attrNameLst>
                                      </p:cBhvr>
                                      <p:to>
                                        <p:strVal val="visible"/>
                                      </p:to>
                                    </p:set>
                                    <p:animEffect transition="in" filter="dissolve">
                                      <p:cBhvr>
                                        <p:cTn id="38" dur="500"/>
                                        <p:tgtEl>
                                          <p:spTgt spid="2334056"/>
                                        </p:tgtEl>
                                      </p:cBhvr>
                                    </p:animEffect>
                                  </p:childTnLst>
                                </p:cTn>
                              </p:par>
                              <p:par>
                                <p:cTn id="39" presetID="9" presetClass="entr" presetSubtype="0" fill="hold" nodeType="withEffect">
                                  <p:stCondLst>
                                    <p:cond delay="0"/>
                                  </p:stCondLst>
                                  <p:childTnLst>
                                    <p:set>
                                      <p:cBhvr>
                                        <p:cTn id="40" dur="1" fill="hold">
                                          <p:stCondLst>
                                            <p:cond delay="0"/>
                                          </p:stCondLst>
                                        </p:cTn>
                                        <p:tgtEl>
                                          <p:spTgt spid="2334058"/>
                                        </p:tgtEl>
                                        <p:attrNameLst>
                                          <p:attrName>style.visibility</p:attrName>
                                        </p:attrNameLst>
                                      </p:cBhvr>
                                      <p:to>
                                        <p:strVal val="visible"/>
                                      </p:to>
                                    </p:set>
                                    <p:animEffect transition="in" filter="dissolve">
                                      <p:cBhvr>
                                        <p:cTn id="41" dur="500"/>
                                        <p:tgtEl>
                                          <p:spTgt spid="2334058"/>
                                        </p:tgtEl>
                                      </p:cBhvr>
                                    </p:animEffect>
                                  </p:childTnLst>
                                </p:cTn>
                              </p:par>
                              <p:par>
                                <p:cTn id="42" presetID="9" presetClass="entr" presetSubtype="0" fill="hold" nodeType="withEffect">
                                  <p:stCondLst>
                                    <p:cond delay="0"/>
                                  </p:stCondLst>
                                  <p:childTnLst>
                                    <p:set>
                                      <p:cBhvr>
                                        <p:cTn id="43" dur="1" fill="hold">
                                          <p:stCondLst>
                                            <p:cond delay="0"/>
                                          </p:stCondLst>
                                        </p:cTn>
                                        <p:tgtEl>
                                          <p:spTgt spid="2334059"/>
                                        </p:tgtEl>
                                        <p:attrNameLst>
                                          <p:attrName>style.visibility</p:attrName>
                                        </p:attrNameLst>
                                      </p:cBhvr>
                                      <p:to>
                                        <p:strVal val="visible"/>
                                      </p:to>
                                    </p:set>
                                    <p:animEffect transition="in" filter="dissolve">
                                      <p:cBhvr>
                                        <p:cTn id="44" dur="500"/>
                                        <p:tgtEl>
                                          <p:spTgt spid="2334059"/>
                                        </p:tgtEl>
                                      </p:cBhvr>
                                    </p:animEffect>
                                  </p:childTnLst>
                                </p:cTn>
                              </p:par>
                              <p:par>
                                <p:cTn id="45" presetID="9" presetClass="entr" presetSubtype="0" fill="hold" nodeType="withEffect">
                                  <p:stCondLst>
                                    <p:cond delay="0"/>
                                  </p:stCondLst>
                                  <p:childTnLst>
                                    <p:set>
                                      <p:cBhvr>
                                        <p:cTn id="46" dur="1" fill="hold">
                                          <p:stCondLst>
                                            <p:cond delay="0"/>
                                          </p:stCondLst>
                                        </p:cTn>
                                        <p:tgtEl>
                                          <p:spTgt spid="2334060"/>
                                        </p:tgtEl>
                                        <p:attrNameLst>
                                          <p:attrName>style.visibility</p:attrName>
                                        </p:attrNameLst>
                                      </p:cBhvr>
                                      <p:to>
                                        <p:strVal val="visible"/>
                                      </p:to>
                                    </p:set>
                                    <p:animEffect transition="in" filter="dissolve">
                                      <p:cBhvr>
                                        <p:cTn id="47" dur="500"/>
                                        <p:tgtEl>
                                          <p:spTgt spid="2334060"/>
                                        </p:tgtEl>
                                      </p:cBhvr>
                                    </p:animEffect>
                                  </p:childTnLst>
                                </p:cTn>
                              </p:par>
                              <p:par>
                                <p:cTn id="48" presetID="9" presetClass="entr" presetSubtype="0" fill="hold" nodeType="withEffect">
                                  <p:stCondLst>
                                    <p:cond delay="0"/>
                                  </p:stCondLst>
                                  <p:childTnLst>
                                    <p:set>
                                      <p:cBhvr>
                                        <p:cTn id="49" dur="1" fill="hold">
                                          <p:stCondLst>
                                            <p:cond delay="0"/>
                                          </p:stCondLst>
                                        </p:cTn>
                                        <p:tgtEl>
                                          <p:spTgt spid="2334061"/>
                                        </p:tgtEl>
                                        <p:attrNameLst>
                                          <p:attrName>style.visibility</p:attrName>
                                        </p:attrNameLst>
                                      </p:cBhvr>
                                      <p:to>
                                        <p:strVal val="visible"/>
                                      </p:to>
                                    </p:set>
                                    <p:animEffect transition="in" filter="dissolve">
                                      <p:cBhvr>
                                        <p:cTn id="50" dur="500"/>
                                        <p:tgtEl>
                                          <p:spTgt spid="2334061"/>
                                        </p:tgtEl>
                                      </p:cBhvr>
                                    </p:animEffect>
                                  </p:childTnLst>
                                </p:cTn>
                              </p:par>
                              <p:par>
                                <p:cTn id="51" presetID="9" presetClass="entr" presetSubtype="0" fill="hold" nodeType="withEffect">
                                  <p:stCondLst>
                                    <p:cond delay="0"/>
                                  </p:stCondLst>
                                  <p:childTnLst>
                                    <p:set>
                                      <p:cBhvr>
                                        <p:cTn id="52" dur="1" fill="hold">
                                          <p:stCondLst>
                                            <p:cond delay="0"/>
                                          </p:stCondLst>
                                        </p:cTn>
                                        <p:tgtEl>
                                          <p:spTgt spid="2334062"/>
                                        </p:tgtEl>
                                        <p:attrNameLst>
                                          <p:attrName>style.visibility</p:attrName>
                                        </p:attrNameLst>
                                      </p:cBhvr>
                                      <p:to>
                                        <p:strVal val="visible"/>
                                      </p:to>
                                    </p:set>
                                    <p:animEffect transition="in" filter="dissolve">
                                      <p:cBhvr>
                                        <p:cTn id="53" dur="500"/>
                                        <p:tgtEl>
                                          <p:spTgt spid="2334062"/>
                                        </p:tgtEl>
                                      </p:cBhvr>
                                    </p:animEffect>
                                  </p:childTnLst>
                                </p:cTn>
                              </p:par>
                              <p:par>
                                <p:cTn id="54" presetID="9" presetClass="entr" presetSubtype="0" fill="hold" nodeType="withEffect">
                                  <p:stCondLst>
                                    <p:cond delay="0"/>
                                  </p:stCondLst>
                                  <p:childTnLst>
                                    <p:set>
                                      <p:cBhvr>
                                        <p:cTn id="55" dur="1" fill="hold">
                                          <p:stCondLst>
                                            <p:cond delay="0"/>
                                          </p:stCondLst>
                                        </p:cTn>
                                        <p:tgtEl>
                                          <p:spTgt spid="2334063"/>
                                        </p:tgtEl>
                                        <p:attrNameLst>
                                          <p:attrName>style.visibility</p:attrName>
                                        </p:attrNameLst>
                                      </p:cBhvr>
                                      <p:to>
                                        <p:strVal val="visible"/>
                                      </p:to>
                                    </p:set>
                                    <p:animEffect transition="in" filter="dissolve">
                                      <p:cBhvr>
                                        <p:cTn id="56" dur="500"/>
                                        <p:tgtEl>
                                          <p:spTgt spid="2334063"/>
                                        </p:tgtEl>
                                      </p:cBhvr>
                                    </p:animEffect>
                                  </p:childTnLst>
                                </p:cTn>
                              </p:par>
                              <p:par>
                                <p:cTn id="57" presetID="9" presetClass="entr" presetSubtype="0" fill="hold" nodeType="withEffect">
                                  <p:stCondLst>
                                    <p:cond delay="0"/>
                                  </p:stCondLst>
                                  <p:childTnLst>
                                    <p:set>
                                      <p:cBhvr>
                                        <p:cTn id="58" dur="1" fill="hold">
                                          <p:stCondLst>
                                            <p:cond delay="0"/>
                                          </p:stCondLst>
                                        </p:cTn>
                                        <p:tgtEl>
                                          <p:spTgt spid="2334065"/>
                                        </p:tgtEl>
                                        <p:attrNameLst>
                                          <p:attrName>style.visibility</p:attrName>
                                        </p:attrNameLst>
                                      </p:cBhvr>
                                      <p:to>
                                        <p:strVal val="visible"/>
                                      </p:to>
                                    </p:set>
                                    <p:animEffect transition="in" filter="dissolve">
                                      <p:cBhvr>
                                        <p:cTn id="59" dur="500"/>
                                        <p:tgtEl>
                                          <p:spTgt spid="2334065"/>
                                        </p:tgtEl>
                                      </p:cBhvr>
                                    </p:animEffect>
                                  </p:childTnLst>
                                </p:cTn>
                              </p:par>
                              <p:par>
                                <p:cTn id="60" presetID="9" presetClass="entr" presetSubtype="0" fill="hold" nodeType="withEffect">
                                  <p:stCondLst>
                                    <p:cond delay="0"/>
                                  </p:stCondLst>
                                  <p:childTnLst>
                                    <p:set>
                                      <p:cBhvr>
                                        <p:cTn id="61" dur="1" fill="hold">
                                          <p:stCondLst>
                                            <p:cond delay="0"/>
                                          </p:stCondLst>
                                        </p:cTn>
                                        <p:tgtEl>
                                          <p:spTgt spid="2334066"/>
                                        </p:tgtEl>
                                        <p:attrNameLst>
                                          <p:attrName>style.visibility</p:attrName>
                                        </p:attrNameLst>
                                      </p:cBhvr>
                                      <p:to>
                                        <p:strVal val="visible"/>
                                      </p:to>
                                    </p:set>
                                    <p:animEffect transition="in" filter="dissolve">
                                      <p:cBhvr>
                                        <p:cTn id="62" dur="500"/>
                                        <p:tgtEl>
                                          <p:spTgt spid="2334066"/>
                                        </p:tgtEl>
                                      </p:cBhvr>
                                    </p:animEffect>
                                  </p:childTnLst>
                                </p:cTn>
                              </p:par>
                              <p:par>
                                <p:cTn id="63" presetID="9" presetClass="entr" presetSubtype="0" fill="hold" grpId="0" nodeType="withEffect">
                                  <p:stCondLst>
                                    <p:cond delay="0"/>
                                  </p:stCondLst>
                                  <p:childTnLst>
                                    <p:set>
                                      <p:cBhvr>
                                        <p:cTn id="64" dur="1" fill="hold">
                                          <p:stCondLst>
                                            <p:cond delay="0"/>
                                          </p:stCondLst>
                                        </p:cTn>
                                        <p:tgtEl>
                                          <p:spTgt spid="2334067"/>
                                        </p:tgtEl>
                                        <p:attrNameLst>
                                          <p:attrName>style.visibility</p:attrName>
                                        </p:attrNameLst>
                                      </p:cBhvr>
                                      <p:to>
                                        <p:strVal val="visible"/>
                                      </p:to>
                                    </p:set>
                                    <p:animEffect transition="in" filter="dissolve">
                                      <p:cBhvr>
                                        <p:cTn id="65" dur="500"/>
                                        <p:tgtEl>
                                          <p:spTgt spid="2334067"/>
                                        </p:tgtEl>
                                      </p:cBhvr>
                                    </p:animEffect>
                                  </p:childTnLst>
                                </p:cTn>
                              </p:par>
                              <p:par>
                                <p:cTn id="66" presetID="9" presetClass="entr" presetSubtype="0" fill="hold" nodeType="withEffect">
                                  <p:stCondLst>
                                    <p:cond delay="0"/>
                                  </p:stCondLst>
                                  <p:childTnLst>
                                    <p:set>
                                      <p:cBhvr>
                                        <p:cTn id="67" dur="1" fill="hold">
                                          <p:stCondLst>
                                            <p:cond delay="0"/>
                                          </p:stCondLst>
                                        </p:cTn>
                                        <p:tgtEl>
                                          <p:spTgt spid="2334068"/>
                                        </p:tgtEl>
                                        <p:attrNameLst>
                                          <p:attrName>style.visibility</p:attrName>
                                        </p:attrNameLst>
                                      </p:cBhvr>
                                      <p:to>
                                        <p:strVal val="visible"/>
                                      </p:to>
                                    </p:set>
                                    <p:animEffect transition="in" filter="dissolve">
                                      <p:cBhvr>
                                        <p:cTn id="68" dur="500"/>
                                        <p:tgtEl>
                                          <p:spTgt spid="2334068"/>
                                        </p:tgtEl>
                                      </p:cBhvr>
                                    </p:animEffect>
                                  </p:childTnLst>
                                </p:cTn>
                              </p:par>
                              <p:par>
                                <p:cTn id="69" presetID="9" presetClass="entr" presetSubtype="0" fill="hold" nodeType="withEffect">
                                  <p:stCondLst>
                                    <p:cond delay="0"/>
                                  </p:stCondLst>
                                  <p:childTnLst>
                                    <p:set>
                                      <p:cBhvr>
                                        <p:cTn id="70" dur="1" fill="hold">
                                          <p:stCondLst>
                                            <p:cond delay="0"/>
                                          </p:stCondLst>
                                        </p:cTn>
                                        <p:tgtEl>
                                          <p:spTgt spid="2334069"/>
                                        </p:tgtEl>
                                        <p:attrNameLst>
                                          <p:attrName>style.visibility</p:attrName>
                                        </p:attrNameLst>
                                      </p:cBhvr>
                                      <p:to>
                                        <p:strVal val="visible"/>
                                      </p:to>
                                    </p:set>
                                    <p:animEffect transition="in" filter="dissolve">
                                      <p:cBhvr>
                                        <p:cTn id="71" dur="500"/>
                                        <p:tgtEl>
                                          <p:spTgt spid="2334069"/>
                                        </p:tgtEl>
                                      </p:cBhvr>
                                    </p:animEffect>
                                  </p:childTnLst>
                                </p:cTn>
                              </p:par>
                              <p:par>
                                <p:cTn id="72" presetID="9" presetClass="entr" presetSubtype="0" fill="hold" nodeType="withEffect">
                                  <p:stCondLst>
                                    <p:cond delay="0"/>
                                  </p:stCondLst>
                                  <p:childTnLst>
                                    <p:set>
                                      <p:cBhvr>
                                        <p:cTn id="73" dur="1" fill="hold">
                                          <p:stCondLst>
                                            <p:cond delay="0"/>
                                          </p:stCondLst>
                                        </p:cTn>
                                        <p:tgtEl>
                                          <p:spTgt spid="2334070"/>
                                        </p:tgtEl>
                                        <p:attrNameLst>
                                          <p:attrName>style.visibility</p:attrName>
                                        </p:attrNameLst>
                                      </p:cBhvr>
                                      <p:to>
                                        <p:strVal val="visible"/>
                                      </p:to>
                                    </p:set>
                                    <p:animEffect transition="in" filter="dissolve">
                                      <p:cBhvr>
                                        <p:cTn id="74" dur="500"/>
                                        <p:tgtEl>
                                          <p:spTgt spid="2334070"/>
                                        </p:tgtEl>
                                      </p:cBhvr>
                                    </p:animEffect>
                                  </p:childTnLst>
                                </p:cTn>
                              </p:par>
                              <p:par>
                                <p:cTn id="75" presetID="9" presetClass="entr" presetSubtype="0" fill="hold" nodeType="withEffect">
                                  <p:stCondLst>
                                    <p:cond delay="0"/>
                                  </p:stCondLst>
                                  <p:childTnLst>
                                    <p:set>
                                      <p:cBhvr>
                                        <p:cTn id="76" dur="1" fill="hold">
                                          <p:stCondLst>
                                            <p:cond delay="0"/>
                                          </p:stCondLst>
                                        </p:cTn>
                                        <p:tgtEl>
                                          <p:spTgt spid="2334071"/>
                                        </p:tgtEl>
                                        <p:attrNameLst>
                                          <p:attrName>style.visibility</p:attrName>
                                        </p:attrNameLst>
                                      </p:cBhvr>
                                      <p:to>
                                        <p:strVal val="visible"/>
                                      </p:to>
                                    </p:set>
                                    <p:animEffect transition="in" filter="dissolve">
                                      <p:cBhvr>
                                        <p:cTn id="77" dur="500"/>
                                        <p:tgtEl>
                                          <p:spTgt spid="2334071"/>
                                        </p:tgtEl>
                                      </p:cBhvr>
                                    </p:animEffect>
                                  </p:childTnLst>
                                </p:cTn>
                              </p:par>
                              <p:par>
                                <p:cTn id="78" presetID="9" presetClass="entr" presetSubtype="0" fill="hold" nodeType="withEffect">
                                  <p:stCondLst>
                                    <p:cond delay="0"/>
                                  </p:stCondLst>
                                  <p:childTnLst>
                                    <p:set>
                                      <p:cBhvr>
                                        <p:cTn id="79" dur="1" fill="hold">
                                          <p:stCondLst>
                                            <p:cond delay="0"/>
                                          </p:stCondLst>
                                        </p:cTn>
                                        <p:tgtEl>
                                          <p:spTgt spid="2334072"/>
                                        </p:tgtEl>
                                        <p:attrNameLst>
                                          <p:attrName>style.visibility</p:attrName>
                                        </p:attrNameLst>
                                      </p:cBhvr>
                                      <p:to>
                                        <p:strVal val="visible"/>
                                      </p:to>
                                    </p:set>
                                    <p:animEffect transition="in" filter="dissolve">
                                      <p:cBhvr>
                                        <p:cTn id="80" dur="500"/>
                                        <p:tgtEl>
                                          <p:spTgt spid="2334072"/>
                                        </p:tgtEl>
                                      </p:cBhvr>
                                    </p:animEffect>
                                  </p:childTnLst>
                                </p:cTn>
                              </p:par>
                              <p:par>
                                <p:cTn id="81" presetID="9" presetClass="entr" presetSubtype="0" fill="hold" nodeType="withEffect">
                                  <p:stCondLst>
                                    <p:cond delay="0"/>
                                  </p:stCondLst>
                                  <p:childTnLst>
                                    <p:set>
                                      <p:cBhvr>
                                        <p:cTn id="82" dur="1" fill="hold">
                                          <p:stCondLst>
                                            <p:cond delay="0"/>
                                          </p:stCondLst>
                                        </p:cTn>
                                        <p:tgtEl>
                                          <p:spTgt spid="2334073"/>
                                        </p:tgtEl>
                                        <p:attrNameLst>
                                          <p:attrName>style.visibility</p:attrName>
                                        </p:attrNameLst>
                                      </p:cBhvr>
                                      <p:to>
                                        <p:strVal val="visible"/>
                                      </p:to>
                                    </p:set>
                                    <p:animEffect transition="in" filter="dissolve">
                                      <p:cBhvr>
                                        <p:cTn id="83" dur="500"/>
                                        <p:tgtEl>
                                          <p:spTgt spid="2334073"/>
                                        </p:tgtEl>
                                      </p:cBhvr>
                                    </p:animEffect>
                                  </p:childTnLst>
                                </p:cTn>
                              </p:par>
                              <p:par>
                                <p:cTn id="84" presetID="9" presetClass="entr" presetSubtype="0" fill="hold" nodeType="withEffect">
                                  <p:stCondLst>
                                    <p:cond delay="0"/>
                                  </p:stCondLst>
                                  <p:childTnLst>
                                    <p:set>
                                      <p:cBhvr>
                                        <p:cTn id="85" dur="1" fill="hold">
                                          <p:stCondLst>
                                            <p:cond delay="0"/>
                                          </p:stCondLst>
                                        </p:cTn>
                                        <p:tgtEl>
                                          <p:spTgt spid="2334074"/>
                                        </p:tgtEl>
                                        <p:attrNameLst>
                                          <p:attrName>style.visibility</p:attrName>
                                        </p:attrNameLst>
                                      </p:cBhvr>
                                      <p:to>
                                        <p:strVal val="visible"/>
                                      </p:to>
                                    </p:set>
                                    <p:animEffect transition="in" filter="dissolve">
                                      <p:cBhvr>
                                        <p:cTn id="86" dur="500"/>
                                        <p:tgtEl>
                                          <p:spTgt spid="2334074"/>
                                        </p:tgtEl>
                                      </p:cBhvr>
                                    </p:animEffect>
                                  </p:childTnLst>
                                </p:cTn>
                              </p:par>
                              <p:par>
                                <p:cTn id="87" presetID="9" presetClass="entr" presetSubtype="0" fill="hold" nodeType="withEffect">
                                  <p:stCondLst>
                                    <p:cond delay="0"/>
                                  </p:stCondLst>
                                  <p:childTnLst>
                                    <p:set>
                                      <p:cBhvr>
                                        <p:cTn id="88" dur="1" fill="hold">
                                          <p:stCondLst>
                                            <p:cond delay="0"/>
                                          </p:stCondLst>
                                        </p:cTn>
                                        <p:tgtEl>
                                          <p:spTgt spid="2334075"/>
                                        </p:tgtEl>
                                        <p:attrNameLst>
                                          <p:attrName>style.visibility</p:attrName>
                                        </p:attrNameLst>
                                      </p:cBhvr>
                                      <p:to>
                                        <p:strVal val="visible"/>
                                      </p:to>
                                    </p:set>
                                    <p:animEffect transition="in" filter="dissolve">
                                      <p:cBhvr>
                                        <p:cTn id="89" dur="500"/>
                                        <p:tgtEl>
                                          <p:spTgt spid="2334075"/>
                                        </p:tgtEl>
                                      </p:cBhvr>
                                    </p:animEffect>
                                  </p:childTnLst>
                                </p:cTn>
                              </p:par>
                              <p:par>
                                <p:cTn id="90" presetID="9" presetClass="entr" presetSubtype="0" fill="hold" grpId="0" nodeType="withEffect">
                                  <p:stCondLst>
                                    <p:cond delay="0"/>
                                  </p:stCondLst>
                                  <p:childTnLst>
                                    <p:set>
                                      <p:cBhvr>
                                        <p:cTn id="91" dur="1" fill="hold">
                                          <p:stCondLst>
                                            <p:cond delay="0"/>
                                          </p:stCondLst>
                                        </p:cTn>
                                        <p:tgtEl>
                                          <p:spTgt spid="2334076"/>
                                        </p:tgtEl>
                                        <p:attrNameLst>
                                          <p:attrName>style.visibility</p:attrName>
                                        </p:attrNameLst>
                                      </p:cBhvr>
                                      <p:to>
                                        <p:strVal val="visible"/>
                                      </p:to>
                                    </p:set>
                                    <p:animEffect transition="in" filter="dissolve">
                                      <p:cBhvr>
                                        <p:cTn id="92" dur="500"/>
                                        <p:tgtEl>
                                          <p:spTgt spid="2334076"/>
                                        </p:tgtEl>
                                      </p:cBhvr>
                                    </p:animEffect>
                                  </p:childTnLst>
                                </p:cTn>
                              </p:par>
                              <p:par>
                                <p:cTn id="93" presetID="9" presetClass="entr" presetSubtype="0" fill="hold" nodeType="withEffect">
                                  <p:stCondLst>
                                    <p:cond delay="0"/>
                                  </p:stCondLst>
                                  <p:childTnLst>
                                    <p:set>
                                      <p:cBhvr>
                                        <p:cTn id="94" dur="1" fill="hold">
                                          <p:stCondLst>
                                            <p:cond delay="0"/>
                                          </p:stCondLst>
                                        </p:cTn>
                                        <p:tgtEl>
                                          <p:spTgt spid="2334077"/>
                                        </p:tgtEl>
                                        <p:attrNameLst>
                                          <p:attrName>style.visibility</p:attrName>
                                        </p:attrNameLst>
                                      </p:cBhvr>
                                      <p:to>
                                        <p:strVal val="visible"/>
                                      </p:to>
                                    </p:set>
                                    <p:animEffect transition="in" filter="dissolve">
                                      <p:cBhvr>
                                        <p:cTn id="95" dur="500"/>
                                        <p:tgtEl>
                                          <p:spTgt spid="2334077"/>
                                        </p:tgtEl>
                                      </p:cBhvr>
                                    </p:animEffect>
                                  </p:childTnLst>
                                </p:cTn>
                              </p:par>
                              <p:par>
                                <p:cTn id="96" presetID="9" presetClass="entr" presetSubtype="0" fill="hold" nodeType="withEffect">
                                  <p:stCondLst>
                                    <p:cond delay="0"/>
                                  </p:stCondLst>
                                  <p:childTnLst>
                                    <p:set>
                                      <p:cBhvr>
                                        <p:cTn id="97" dur="1" fill="hold">
                                          <p:stCondLst>
                                            <p:cond delay="0"/>
                                          </p:stCondLst>
                                        </p:cTn>
                                        <p:tgtEl>
                                          <p:spTgt spid="2334078"/>
                                        </p:tgtEl>
                                        <p:attrNameLst>
                                          <p:attrName>style.visibility</p:attrName>
                                        </p:attrNameLst>
                                      </p:cBhvr>
                                      <p:to>
                                        <p:strVal val="visible"/>
                                      </p:to>
                                    </p:set>
                                    <p:animEffect transition="in" filter="dissolve">
                                      <p:cBhvr>
                                        <p:cTn id="98" dur="500"/>
                                        <p:tgtEl>
                                          <p:spTgt spid="2334078"/>
                                        </p:tgtEl>
                                      </p:cBhvr>
                                    </p:animEffect>
                                  </p:childTnLst>
                                </p:cTn>
                              </p:par>
                              <p:par>
                                <p:cTn id="99" presetID="9" presetClass="entr" presetSubtype="0" fill="hold" nodeType="withEffect">
                                  <p:stCondLst>
                                    <p:cond delay="0"/>
                                  </p:stCondLst>
                                  <p:childTnLst>
                                    <p:set>
                                      <p:cBhvr>
                                        <p:cTn id="100" dur="1" fill="hold">
                                          <p:stCondLst>
                                            <p:cond delay="0"/>
                                          </p:stCondLst>
                                        </p:cTn>
                                        <p:tgtEl>
                                          <p:spTgt spid="2334079"/>
                                        </p:tgtEl>
                                        <p:attrNameLst>
                                          <p:attrName>style.visibility</p:attrName>
                                        </p:attrNameLst>
                                      </p:cBhvr>
                                      <p:to>
                                        <p:strVal val="visible"/>
                                      </p:to>
                                    </p:set>
                                    <p:animEffect transition="in" filter="dissolve">
                                      <p:cBhvr>
                                        <p:cTn id="101" dur="500"/>
                                        <p:tgtEl>
                                          <p:spTgt spid="2334079"/>
                                        </p:tgtEl>
                                      </p:cBhvr>
                                    </p:animEffect>
                                  </p:childTnLst>
                                </p:cTn>
                              </p:par>
                              <p:par>
                                <p:cTn id="102" presetID="9" presetClass="entr" presetSubtype="0" fill="hold" nodeType="withEffect">
                                  <p:stCondLst>
                                    <p:cond delay="0"/>
                                  </p:stCondLst>
                                  <p:childTnLst>
                                    <p:set>
                                      <p:cBhvr>
                                        <p:cTn id="103" dur="1" fill="hold">
                                          <p:stCondLst>
                                            <p:cond delay="0"/>
                                          </p:stCondLst>
                                        </p:cTn>
                                        <p:tgtEl>
                                          <p:spTgt spid="2334080"/>
                                        </p:tgtEl>
                                        <p:attrNameLst>
                                          <p:attrName>style.visibility</p:attrName>
                                        </p:attrNameLst>
                                      </p:cBhvr>
                                      <p:to>
                                        <p:strVal val="visible"/>
                                      </p:to>
                                    </p:set>
                                    <p:animEffect transition="in" filter="dissolve">
                                      <p:cBhvr>
                                        <p:cTn id="104" dur="500"/>
                                        <p:tgtEl>
                                          <p:spTgt spid="2334080"/>
                                        </p:tgtEl>
                                      </p:cBhvr>
                                    </p:animEffect>
                                  </p:childTnLst>
                                </p:cTn>
                              </p:par>
                              <p:par>
                                <p:cTn id="105" presetID="9" presetClass="entr" presetSubtype="0" fill="hold" nodeType="withEffect">
                                  <p:stCondLst>
                                    <p:cond delay="0"/>
                                  </p:stCondLst>
                                  <p:childTnLst>
                                    <p:set>
                                      <p:cBhvr>
                                        <p:cTn id="106" dur="1" fill="hold">
                                          <p:stCondLst>
                                            <p:cond delay="0"/>
                                          </p:stCondLst>
                                        </p:cTn>
                                        <p:tgtEl>
                                          <p:spTgt spid="2334081"/>
                                        </p:tgtEl>
                                        <p:attrNameLst>
                                          <p:attrName>style.visibility</p:attrName>
                                        </p:attrNameLst>
                                      </p:cBhvr>
                                      <p:to>
                                        <p:strVal val="visible"/>
                                      </p:to>
                                    </p:set>
                                    <p:animEffect transition="in" filter="dissolve">
                                      <p:cBhvr>
                                        <p:cTn id="107" dur="500"/>
                                        <p:tgtEl>
                                          <p:spTgt spid="2334081"/>
                                        </p:tgtEl>
                                      </p:cBhvr>
                                    </p:animEffect>
                                  </p:childTnLst>
                                </p:cTn>
                              </p:par>
                              <p:par>
                                <p:cTn id="108" presetID="9" presetClass="entr" presetSubtype="0" fill="hold" grpId="0" nodeType="withEffect">
                                  <p:stCondLst>
                                    <p:cond delay="0"/>
                                  </p:stCondLst>
                                  <p:childTnLst>
                                    <p:set>
                                      <p:cBhvr>
                                        <p:cTn id="109" dur="1" fill="hold">
                                          <p:stCondLst>
                                            <p:cond delay="0"/>
                                          </p:stCondLst>
                                        </p:cTn>
                                        <p:tgtEl>
                                          <p:spTgt spid="2334082"/>
                                        </p:tgtEl>
                                        <p:attrNameLst>
                                          <p:attrName>style.visibility</p:attrName>
                                        </p:attrNameLst>
                                      </p:cBhvr>
                                      <p:to>
                                        <p:strVal val="visible"/>
                                      </p:to>
                                    </p:set>
                                    <p:animEffect transition="in" filter="dissolve">
                                      <p:cBhvr>
                                        <p:cTn id="110" dur="500"/>
                                        <p:tgtEl>
                                          <p:spTgt spid="2334082"/>
                                        </p:tgtEl>
                                      </p:cBhvr>
                                    </p:animEffect>
                                  </p:childTnLst>
                                </p:cTn>
                              </p:par>
                              <p:par>
                                <p:cTn id="111" presetID="9" presetClass="entr" presetSubtype="0" fill="hold" grpId="0" nodeType="withEffect">
                                  <p:stCondLst>
                                    <p:cond delay="0"/>
                                  </p:stCondLst>
                                  <p:childTnLst>
                                    <p:set>
                                      <p:cBhvr>
                                        <p:cTn id="112" dur="1" fill="hold">
                                          <p:stCondLst>
                                            <p:cond delay="0"/>
                                          </p:stCondLst>
                                        </p:cTn>
                                        <p:tgtEl>
                                          <p:spTgt spid="2334083"/>
                                        </p:tgtEl>
                                        <p:attrNameLst>
                                          <p:attrName>style.visibility</p:attrName>
                                        </p:attrNameLst>
                                      </p:cBhvr>
                                      <p:to>
                                        <p:strVal val="visible"/>
                                      </p:to>
                                    </p:set>
                                    <p:animEffect transition="in" filter="dissolve">
                                      <p:cBhvr>
                                        <p:cTn id="113" dur="500"/>
                                        <p:tgtEl>
                                          <p:spTgt spid="2334083"/>
                                        </p:tgtEl>
                                      </p:cBhvr>
                                    </p:animEffect>
                                  </p:childTnLst>
                                </p:cTn>
                              </p:par>
                              <p:par>
                                <p:cTn id="114" presetID="9" presetClass="entr" presetSubtype="0" fill="hold" grpId="0" nodeType="withEffect">
                                  <p:stCondLst>
                                    <p:cond delay="0"/>
                                  </p:stCondLst>
                                  <p:childTnLst>
                                    <p:set>
                                      <p:cBhvr>
                                        <p:cTn id="115" dur="1" fill="hold">
                                          <p:stCondLst>
                                            <p:cond delay="0"/>
                                          </p:stCondLst>
                                        </p:cTn>
                                        <p:tgtEl>
                                          <p:spTgt spid="2334084"/>
                                        </p:tgtEl>
                                        <p:attrNameLst>
                                          <p:attrName>style.visibility</p:attrName>
                                        </p:attrNameLst>
                                      </p:cBhvr>
                                      <p:to>
                                        <p:strVal val="visible"/>
                                      </p:to>
                                    </p:set>
                                    <p:animEffect transition="in" filter="dissolve">
                                      <p:cBhvr>
                                        <p:cTn id="116" dur="500"/>
                                        <p:tgtEl>
                                          <p:spTgt spid="2334084"/>
                                        </p:tgtEl>
                                      </p:cBhvr>
                                    </p:animEffect>
                                  </p:childTnLst>
                                </p:cTn>
                              </p:par>
                              <p:par>
                                <p:cTn id="117" presetID="9" presetClass="entr" presetSubtype="0" fill="hold" grpId="0" nodeType="withEffect">
                                  <p:stCondLst>
                                    <p:cond delay="0"/>
                                  </p:stCondLst>
                                  <p:childTnLst>
                                    <p:set>
                                      <p:cBhvr>
                                        <p:cTn id="118" dur="1" fill="hold">
                                          <p:stCondLst>
                                            <p:cond delay="0"/>
                                          </p:stCondLst>
                                        </p:cTn>
                                        <p:tgtEl>
                                          <p:spTgt spid="2334085"/>
                                        </p:tgtEl>
                                        <p:attrNameLst>
                                          <p:attrName>style.visibility</p:attrName>
                                        </p:attrNameLst>
                                      </p:cBhvr>
                                      <p:to>
                                        <p:strVal val="visible"/>
                                      </p:to>
                                    </p:set>
                                    <p:animEffect transition="in" filter="dissolve">
                                      <p:cBhvr>
                                        <p:cTn id="119" dur="500"/>
                                        <p:tgtEl>
                                          <p:spTgt spid="2334085"/>
                                        </p:tgtEl>
                                      </p:cBhvr>
                                    </p:animEffect>
                                  </p:childTnLst>
                                </p:cTn>
                              </p:par>
                              <p:par>
                                <p:cTn id="120" presetID="9" presetClass="entr" presetSubtype="0" fill="hold" grpId="0" nodeType="withEffect">
                                  <p:stCondLst>
                                    <p:cond delay="0"/>
                                  </p:stCondLst>
                                  <p:childTnLst>
                                    <p:set>
                                      <p:cBhvr>
                                        <p:cTn id="121" dur="1" fill="hold">
                                          <p:stCondLst>
                                            <p:cond delay="0"/>
                                          </p:stCondLst>
                                        </p:cTn>
                                        <p:tgtEl>
                                          <p:spTgt spid="2334086"/>
                                        </p:tgtEl>
                                        <p:attrNameLst>
                                          <p:attrName>style.visibility</p:attrName>
                                        </p:attrNameLst>
                                      </p:cBhvr>
                                      <p:to>
                                        <p:strVal val="visible"/>
                                      </p:to>
                                    </p:set>
                                    <p:animEffect transition="in" filter="dissolve">
                                      <p:cBhvr>
                                        <p:cTn id="122" dur="500"/>
                                        <p:tgtEl>
                                          <p:spTgt spid="2334086"/>
                                        </p:tgtEl>
                                      </p:cBhvr>
                                    </p:animEffect>
                                  </p:childTnLst>
                                </p:cTn>
                              </p:par>
                              <p:par>
                                <p:cTn id="123" presetID="9" presetClass="entr" presetSubtype="0" fill="hold" grpId="0" nodeType="withEffect">
                                  <p:stCondLst>
                                    <p:cond delay="0"/>
                                  </p:stCondLst>
                                  <p:childTnLst>
                                    <p:set>
                                      <p:cBhvr>
                                        <p:cTn id="124" dur="1" fill="hold">
                                          <p:stCondLst>
                                            <p:cond delay="0"/>
                                          </p:stCondLst>
                                        </p:cTn>
                                        <p:tgtEl>
                                          <p:spTgt spid="2334087"/>
                                        </p:tgtEl>
                                        <p:attrNameLst>
                                          <p:attrName>style.visibility</p:attrName>
                                        </p:attrNameLst>
                                      </p:cBhvr>
                                      <p:to>
                                        <p:strVal val="visible"/>
                                      </p:to>
                                    </p:set>
                                    <p:animEffect transition="in" filter="dissolve">
                                      <p:cBhvr>
                                        <p:cTn id="125" dur="500"/>
                                        <p:tgtEl>
                                          <p:spTgt spid="2334087"/>
                                        </p:tgtEl>
                                      </p:cBhvr>
                                    </p:animEffect>
                                  </p:childTnLst>
                                </p:cTn>
                              </p:par>
                              <p:par>
                                <p:cTn id="126" presetID="9" presetClass="entr" presetSubtype="0" fill="hold" grpId="0" nodeType="withEffect">
                                  <p:stCondLst>
                                    <p:cond delay="0"/>
                                  </p:stCondLst>
                                  <p:childTnLst>
                                    <p:set>
                                      <p:cBhvr>
                                        <p:cTn id="127" dur="1" fill="hold">
                                          <p:stCondLst>
                                            <p:cond delay="0"/>
                                          </p:stCondLst>
                                        </p:cTn>
                                        <p:tgtEl>
                                          <p:spTgt spid="2334091"/>
                                        </p:tgtEl>
                                        <p:attrNameLst>
                                          <p:attrName>style.visibility</p:attrName>
                                        </p:attrNameLst>
                                      </p:cBhvr>
                                      <p:to>
                                        <p:strVal val="visible"/>
                                      </p:to>
                                    </p:set>
                                    <p:animEffect transition="in" filter="dissolve">
                                      <p:cBhvr>
                                        <p:cTn id="128" dur="500"/>
                                        <p:tgtEl>
                                          <p:spTgt spid="2334091"/>
                                        </p:tgtEl>
                                      </p:cBhvr>
                                    </p:animEffect>
                                  </p:childTnLst>
                                </p:cTn>
                              </p:par>
                              <p:par>
                                <p:cTn id="129" presetID="9" presetClass="entr" presetSubtype="0" fill="hold" grpId="0" nodeType="withEffect">
                                  <p:stCondLst>
                                    <p:cond delay="0"/>
                                  </p:stCondLst>
                                  <p:childTnLst>
                                    <p:set>
                                      <p:cBhvr>
                                        <p:cTn id="130" dur="1" fill="hold">
                                          <p:stCondLst>
                                            <p:cond delay="0"/>
                                          </p:stCondLst>
                                        </p:cTn>
                                        <p:tgtEl>
                                          <p:spTgt spid="2334093"/>
                                        </p:tgtEl>
                                        <p:attrNameLst>
                                          <p:attrName>style.visibility</p:attrName>
                                        </p:attrNameLst>
                                      </p:cBhvr>
                                      <p:to>
                                        <p:strVal val="visible"/>
                                      </p:to>
                                    </p:set>
                                    <p:animEffect transition="in" filter="dissolve">
                                      <p:cBhvr>
                                        <p:cTn id="131" dur="500"/>
                                        <p:tgtEl>
                                          <p:spTgt spid="2334093"/>
                                        </p:tgtEl>
                                      </p:cBhvr>
                                    </p:animEffect>
                                  </p:childTnLst>
                                </p:cTn>
                              </p:par>
                              <p:par>
                                <p:cTn id="132" presetID="9" presetClass="entr" presetSubtype="0" fill="hold" nodeType="withEffect">
                                  <p:stCondLst>
                                    <p:cond delay="0"/>
                                  </p:stCondLst>
                                  <p:childTnLst>
                                    <p:set>
                                      <p:cBhvr>
                                        <p:cTn id="133" dur="1" fill="hold">
                                          <p:stCondLst>
                                            <p:cond delay="0"/>
                                          </p:stCondLst>
                                        </p:cTn>
                                        <p:tgtEl>
                                          <p:spTgt spid="2334097"/>
                                        </p:tgtEl>
                                        <p:attrNameLst>
                                          <p:attrName>style.visibility</p:attrName>
                                        </p:attrNameLst>
                                      </p:cBhvr>
                                      <p:to>
                                        <p:strVal val="visible"/>
                                      </p:to>
                                    </p:set>
                                    <p:animEffect transition="in" filter="dissolve">
                                      <p:cBhvr>
                                        <p:cTn id="134" dur="500"/>
                                        <p:tgtEl>
                                          <p:spTgt spid="2334097"/>
                                        </p:tgtEl>
                                      </p:cBhvr>
                                    </p:animEffect>
                                  </p:childTnLst>
                                </p:cTn>
                              </p:par>
                              <p:par>
                                <p:cTn id="135" presetID="9" presetClass="entr" presetSubtype="0" fill="hold" nodeType="withEffect">
                                  <p:stCondLst>
                                    <p:cond delay="0"/>
                                  </p:stCondLst>
                                  <p:childTnLst>
                                    <p:set>
                                      <p:cBhvr>
                                        <p:cTn id="136" dur="1" fill="hold">
                                          <p:stCondLst>
                                            <p:cond delay="0"/>
                                          </p:stCondLst>
                                        </p:cTn>
                                        <p:tgtEl>
                                          <p:spTgt spid="2334098"/>
                                        </p:tgtEl>
                                        <p:attrNameLst>
                                          <p:attrName>style.visibility</p:attrName>
                                        </p:attrNameLst>
                                      </p:cBhvr>
                                      <p:to>
                                        <p:strVal val="visible"/>
                                      </p:to>
                                    </p:set>
                                    <p:animEffect transition="in" filter="dissolve">
                                      <p:cBhvr>
                                        <p:cTn id="137" dur="500"/>
                                        <p:tgtEl>
                                          <p:spTgt spid="2334098"/>
                                        </p:tgtEl>
                                      </p:cBhvr>
                                    </p:animEffect>
                                  </p:childTnLst>
                                </p:cTn>
                              </p:par>
                              <p:par>
                                <p:cTn id="138" presetID="9" presetClass="entr" presetSubtype="0" fill="hold" nodeType="withEffect">
                                  <p:stCondLst>
                                    <p:cond delay="0"/>
                                  </p:stCondLst>
                                  <p:childTnLst>
                                    <p:set>
                                      <p:cBhvr>
                                        <p:cTn id="139" dur="1" fill="hold">
                                          <p:stCondLst>
                                            <p:cond delay="0"/>
                                          </p:stCondLst>
                                        </p:cTn>
                                        <p:tgtEl>
                                          <p:spTgt spid="2334099"/>
                                        </p:tgtEl>
                                        <p:attrNameLst>
                                          <p:attrName>style.visibility</p:attrName>
                                        </p:attrNameLst>
                                      </p:cBhvr>
                                      <p:to>
                                        <p:strVal val="visible"/>
                                      </p:to>
                                    </p:set>
                                    <p:animEffect transition="in" filter="dissolve">
                                      <p:cBhvr>
                                        <p:cTn id="140" dur="500"/>
                                        <p:tgtEl>
                                          <p:spTgt spid="2334099"/>
                                        </p:tgtEl>
                                      </p:cBhvr>
                                    </p:animEffect>
                                  </p:childTnLst>
                                </p:cTn>
                              </p:par>
                              <p:par>
                                <p:cTn id="141" presetID="9" presetClass="entr" presetSubtype="0" fill="hold" nodeType="withEffect">
                                  <p:stCondLst>
                                    <p:cond delay="0"/>
                                  </p:stCondLst>
                                  <p:childTnLst>
                                    <p:set>
                                      <p:cBhvr>
                                        <p:cTn id="142" dur="1" fill="hold">
                                          <p:stCondLst>
                                            <p:cond delay="0"/>
                                          </p:stCondLst>
                                        </p:cTn>
                                        <p:tgtEl>
                                          <p:spTgt spid="2334102"/>
                                        </p:tgtEl>
                                        <p:attrNameLst>
                                          <p:attrName>style.visibility</p:attrName>
                                        </p:attrNameLst>
                                      </p:cBhvr>
                                      <p:to>
                                        <p:strVal val="visible"/>
                                      </p:to>
                                    </p:set>
                                    <p:animEffect transition="in" filter="dissolve">
                                      <p:cBhvr>
                                        <p:cTn id="143" dur="500"/>
                                        <p:tgtEl>
                                          <p:spTgt spid="2334102"/>
                                        </p:tgtEl>
                                      </p:cBhvr>
                                    </p:animEffect>
                                  </p:childTnLst>
                                </p:cTn>
                              </p:par>
                              <p:par>
                                <p:cTn id="144" presetID="9" presetClass="entr" presetSubtype="0" fill="hold" nodeType="withEffect">
                                  <p:stCondLst>
                                    <p:cond delay="0"/>
                                  </p:stCondLst>
                                  <p:childTnLst>
                                    <p:set>
                                      <p:cBhvr>
                                        <p:cTn id="145" dur="1" fill="hold">
                                          <p:stCondLst>
                                            <p:cond delay="0"/>
                                          </p:stCondLst>
                                        </p:cTn>
                                        <p:tgtEl>
                                          <p:spTgt spid="2"/>
                                        </p:tgtEl>
                                        <p:attrNameLst>
                                          <p:attrName>style.visibility</p:attrName>
                                        </p:attrNameLst>
                                      </p:cBhvr>
                                      <p:to>
                                        <p:strVal val="visible"/>
                                      </p:to>
                                    </p:set>
                                    <p:animEffect transition="in" filter="dissolve">
                                      <p:cBhvr>
                                        <p:cTn id="146" dur="500"/>
                                        <p:tgtEl>
                                          <p:spTgt spid="2"/>
                                        </p:tgtEl>
                                      </p:cBhvr>
                                    </p:animEffect>
                                  </p:childTnLst>
                                </p:cTn>
                              </p:par>
                              <p:par>
                                <p:cTn id="147" presetID="9" presetClass="entr" presetSubtype="0" fill="hold" grpId="0" nodeType="withEffect">
                                  <p:stCondLst>
                                    <p:cond delay="0"/>
                                  </p:stCondLst>
                                  <p:childTnLst>
                                    <p:set>
                                      <p:cBhvr>
                                        <p:cTn id="148" dur="1" fill="hold">
                                          <p:stCondLst>
                                            <p:cond delay="0"/>
                                          </p:stCondLst>
                                        </p:cTn>
                                        <p:tgtEl>
                                          <p:spTgt spid="2334111"/>
                                        </p:tgtEl>
                                        <p:attrNameLst>
                                          <p:attrName>style.visibility</p:attrName>
                                        </p:attrNameLst>
                                      </p:cBhvr>
                                      <p:to>
                                        <p:strVal val="visible"/>
                                      </p:to>
                                    </p:set>
                                    <p:animEffect transition="in" filter="dissolve">
                                      <p:cBhvr>
                                        <p:cTn id="149" dur="500"/>
                                        <p:tgtEl>
                                          <p:spTgt spid="2334111"/>
                                        </p:tgtEl>
                                      </p:cBhvr>
                                    </p:animEffect>
                                  </p:childTnLst>
                                </p:cTn>
                              </p:par>
                              <p:par>
                                <p:cTn id="150" presetID="9" presetClass="entr" presetSubtype="0" fill="hold" grpId="0" nodeType="withEffect">
                                  <p:stCondLst>
                                    <p:cond delay="0"/>
                                  </p:stCondLst>
                                  <p:childTnLst>
                                    <p:set>
                                      <p:cBhvr>
                                        <p:cTn id="151" dur="1" fill="hold">
                                          <p:stCondLst>
                                            <p:cond delay="0"/>
                                          </p:stCondLst>
                                        </p:cTn>
                                        <p:tgtEl>
                                          <p:spTgt spid="2334112"/>
                                        </p:tgtEl>
                                        <p:attrNameLst>
                                          <p:attrName>style.visibility</p:attrName>
                                        </p:attrNameLst>
                                      </p:cBhvr>
                                      <p:to>
                                        <p:strVal val="visible"/>
                                      </p:to>
                                    </p:set>
                                    <p:animEffect transition="in" filter="dissolve">
                                      <p:cBhvr>
                                        <p:cTn id="152" dur="500"/>
                                        <p:tgtEl>
                                          <p:spTgt spid="2334112"/>
                                        </p:tgtEl>
                                      </p:cBhvr>
                                    </p:animEffect>
                                  </p:childTnLst>
                                </p:cTn>
                              </p:par>
                            </p:childTnLst>
                          </p:cTn>
                        </p:par>
                      </p:childTnLst>
                    </p:cTn>
                  </p:par>
                  <p:par>
                    <p:cTn id="153" fill="hold">
                      <p:stCondLst>
                        <p:cond delay="indefinite"/>
                      </p:stCondLst>
                      <p:childTnLst>
                        <p:par>
                          <p:cTn id="154" fill="hold">
                            <p:stCondLst>
                              <p:cond delay="0"/>
                            </p:stCondLst>
                            <p:childTnLst>
                              <p:par>
                                <p:cTn id="155" presetID="9" presetClass="entr" presetSubtype="0" fill="hold" grpId="0" nodeType="clickEffect">
                                  <p:stCondLst>
                                    <p:cond delay="0"/>
                                  </p:stCondLst>
                                  <p:childTnLst>
                                    <p:set>
                                      <p:cBhvr>
                                        <p:cTn id="156" dur="1" fill="hold">
                                          <p:stCondLst>
                                            <p:cond delay="0"/>
                                          </p:stCondLst>
                                        </p:cTn>
                                        <p:tgtEl>
                                          <p:spTgt spid="2334114"/>
                                        </p:tgtEl>
                                        <p:attrNameLst>
                                          <p:attrName>style.visibility</p:attrName>
                                        </p:attrNameLst>
                                      </p:cBhvr>
                                      <p:to>
                                        <p:strVal val="visible"/>
                                      </p:to>
                                    </p:set>
                                    <p:animEffect transition="in" filter="dissolve">
                                      <p:cBhvr>
                                        <p:cTn id="157" dur="500"/>
                                        <p:tgtEl>
                                          <p:spTgt spid="2334114"/>
                                        </p:tgtEl>
                                      </p:cBhvr>
                                    </p:animEffect>
                                  </p:childTnLst>
                                </p:cTn>
                              </p:par>
                              <p:par>
                                <p:cTn id="158" presetID="9" presetClass="entr" presetSubtype="0" fill="hold" grpId="0" nodeType="withEffect">
                                  <p:stCondLst>
                                    <p:cond delay="0"/>
                                  </p:stCondLst>
                                  <p:childTnLst>
                                    <p:set>
                                      <p:cBhvr>
                                        <p:cTn id="159" dur="1" fill="hold">
                                          <p:stCondLst>
                                            <p:cond delay="0"/>
                                          </p:stCondLst>
                                        </p:cTn>
                                        <p:tgtEl>
                                          <p:spTgt spid="2334115"/>
                                        </p:tgtEl>
                                        <p:attrNameLst>
                                          <p:attrName>style.visibility</p:attrName>
                                        </p:attrNameLst>
                                      </p:cBhvr>
                                      <p:to>
                                        <p:strVal val="visible"/>
                                      </p:to>
                                    </p:set>
                                    <p:animEffect transition="in" filter="dissolve">
                                      <p:cBhvr>
                                        <p:cTn id="160" dur="500"/>
                                        <p:tgtEl>
                                          <p:spTgt spid="2334115"/>
                                        </p:tgtEl>
                                      </p:cBhvr>
                                    </p:animEffect>
                                  </p:childTnLst>
                                </p:cTn>
                              </p:par>
                              <p:par>
                                <p:cTn id="161" presetID="9" presetClass="entr" presetSubtype="0" fill="hold" grpId="0" nodeType="withEffect">
                                  <p:stCondLst>
                                    <p:cond delay="0"/>
                                  </p:stCondLst>
                                  <p:childTnLst>
                                    <p:set>
                                      <p:cBhvr>
                                        <p:cTn id="162" dur="1" fill="hold">
                                          <p:stCondLst>
                                            <p:cond delay="0"/>
                                          </p:stCondLst>
                                        </p:cTn>
                                        <p:tgtEl>
                                          <p:spTgt spid="2334116"/>
                                        </p:tgtEl>
                                        <p:attrNameLst>
                                          <p:attrName>style.visibility</p:attrName>
                                        </p:attrNameLst>
                                      </p:cBhvr>
                                      <p:to>
                                        <p:strVal val="visible"/>
                                      </p:to>
                                    </p:set>
                                    <p:animEffect transition="in" filter="dissolve">
                                      <p:cBhvr>
                                        <p:cTn id="163" dur="500"/>
                                        <p:tgtEl>
                                          <p:spTgt spid="2334116"/>
                                        </p:tgtEl>
                                      </p:cBhvr>
                                    </p:animEffect>
                                  </p:childTnLst>
                                </p:cTn>
                              </p:par>
                              <p:par>
                                <p:cTn id="164" presetID="9" presetClass="entr" presetSubtype="0" fill="hold" grpId="0" nodeType="withEffect">
                                  <p:stCondLst>
                                    <p:cond delay="0"/>
                                  </p:stCondLst>
                                  <p:childTnLst>
                                    <p:set>
                                      <p:cBhvr>
                                        <p:cTn id="165" dur="1" fill="hold">
                                          <p:stCondLst>
                                            <p:cond delay="0"/>
                                          </p:stCondLst>
                                        </p:cTn>
                                        <p:tgtEl>
                                          <p:spTgt spid="2334117"/>
                                        </p:tgtEl>
                                        <p:attrNameLst>
                                          <p:attrName>style.visibility</p:attrName>
                                        </p:attrNameLst>
                                      </p:cBhvr>
                                      <p:to>
                                        <p:strVal val="visible"/>
                                      </p:to>
                                    </p:set>
                                    <p:animEffect transition="in" filter="dissolve">
                                      <p:cBhvr>
                                        <p:cTn id="166" dur="500"/>
                                        <p:tgtEl>
                                          <p:spTgt spid="2334117"/>
                                        </p:tgtEl>
                                      </p:cBhvr>
                                    </p:animEffect>
                                  </p:childTnLst>
                                </p:cTn>
                              </p:par>
                              <p:par>
                                <p:cTn id="167" presetID="9" presetClass="entr" presetSubtype="0" fill="hold" grpId="0" nodeType="withEffect">
                                  <p:stCondLst>
                                    <p:cond delay="0"/>
                                  </p:stCondLst>
                                  <p:childTnLst>
                                    <p:set>
                                      <p:cBhvr>
                                        <p:cTn id="168" dur="1" fill="hold">
                                          <p:stCondLst>
                                            <p:cond delay="0"/>
                                          </p:stCondLst>
                                        </p:cTn>
                                        <p:tgtEl>
                                          <p:spTgt spid="2334121"/>
                                        </p:tgtEl>
                                        <p:attrNameLst>
                                          <p:attrName>style.visibility</p:attrName>
                                        </p:attrNameLst>
                                      </p:cBhvr>
                                      <p:to>
                                        <p:strVal val="visible"/>
                                      </p:to>
                                    </p:set>
                                    <p:animEffect transition="in" filter="dissolve">
                                      <p:cBhvr>
                                        <p:cTn id="169" dur="500"/>
                                        <p:tgtEl>
                                          <p:spTgt spid="2334121"/>
                                        </p:tgtEl>
                                      </p:cBhvr>
                                    </p:animEffect>
                                  </p:childTnLst>
                                </p:cTn>
                              </p:par>
                              <p:par>
                                <p:cTn id="170" presetID="9" presetClass="entr" presetSubtype="0" fill="hold" nodeType="withEffect">
                                  <p:stCondLst>
                                    <p:cond delay="0"/>
                                  </p:stCondLst>
                                  <p:childTnLst>
                                    <p:set>
                                      <p:cBhvr>
                                        <p:cTn id="171" dur="1" fill="hold">
                                          <p:stCondLst>
                                            <p:cond delay="0"/>
                                          </p:stCondLst>
                                        </p:cTn>
                                        <p:tgtEl>
                                          <p:spTgt spid="2334122"/>
                                        </p:tgtEl>
                                        <p:attrNameLst>
                                          <p:attrName>style.visibility</p:attrName>
                                        </p:attrNameLst>
                                      </p:cBhvr>
                                      <p:to>
                                        <p:strVal val="visible"/>
                                      </p:to>
                                    </p:set>
                                    <p:animEffect transition="in" filter="dissolve">
                                      <p:cBhvr>
                                        <p:cTn id="172" dur="500"/>
                                        <p:tgtEl>
                                          <p:spTgt spid="2334122"/>
                                        </p:tgtEl>
                                      </p:cBhvr>
                                    </p:animEffect>
                                  </p:childTnLst>
                                </p:cTn>
                              </p:par>
                              <p:par>
                                <p:cTn id="173" presetID="9" presetClass="entr" presetSubtype="0" fill="hold" nodeType="withEffect">
                                  <p:stCondLst>
                                    <p:cond delay="0"/>
                                  </p:stCondLst>
                                  <p:childTnLst>
                                    <p:set>
                                      <p:cBhvr>
                                        <p:cTn id="174" dur="1" fill="hold">
                                          <p:stCondLst>
                                            <p:cond delay="0"/>
                                          </p:stCondLst>
                                        </p:cTn>
                                        <p:tgtEl>
                                          <p:spTgt spid="2334123"/>
                                        </p:tgtEl>
                                        <p:attrNameLst>
                                          <p:attrName>style.visibility</p:attrName>
                                        </p:attrNameLst>
                                      </p:cBhvr>
                                      <p:to>
                                        <p:strVal val="visible"/>
                                      </p:to>
                                    </p:set>
                                    <p:animEffect transition="in" filter="dissolve">
                                      <p:cBhvr>
                                        <p:cTn id="175" dur="500"/>
                                        <p:tgtEl>
                                          <p:spTgt spid="2334123"/>
                                        </p:tgtEl>
                                      </p:cBhvr>
                                    </p:animEffect>
                                  </p:childTnLst>
                                </p:cTn>
                              </p:par>
                              <p:par>
                                <p:cTn id="176" presetID="9" presetClass="entr" presetSubtype="0" fill="hold" nodeType="withEffect">
                                  <p:stCondLst>
                                    <p:cond delay="0"/>
                                  </p:stCondLst>
                                  <p:childTnLst>
                                    <p:set>
                                      <p:cBhvr>
                                        <p:cTn id="177" dur="1" fill="hold">
                                          <p:stCondLst>
                                            <p:cond delay="0"/>
                                          </p:stCondLst>
                                        </p:cTn>
                                        <p:tgtEl>
                                          <p:spTgt spid="2334124"/>
                                        </p:tgtEl>
                                        <p:attrNameLst>
                                          <p:attrName>style.visibility</p:attrName>
                                        </p:attrNameLst>
                                      </p:cBhvr>
                                      <p:to>
                                        <p:strVal val="visible"/>
                                      </p:to>
                                    </p:set>
                                    <p:animEffect transition="in" filter="dissolve">
                                      <p:cBhvr>
                                        <p:cTn id="178" dur="500"/>
                                        <p:tgtEl>
                                          <p:spTgt spid="2334124"/>
                                        </p:tgtEl>
                                      </p:cBhvr>
                                    </p:animEffect>
                                  </p:childTnLst>
                                </p:cTn>
                              </p:par>
                              <p:par>
                                <p:cTn id="179" presetID="9" presetClass="entr" presetSubtype="0" fill="hold" nodeType="withEffect">
                                  <p:stCondLst>
                                    <p:cond delay="0"/>
                                  </p:stCondLst>
                                  <p:childTnLst>
                                    <p:set>
                                      <p:cBhvr>
                                        <p:cTn id="180" dur="1" fill="hold">
                                          <p:stCondLst>
                                            <p:cond delay="0"/>
                                          </p:stCondLst>
                                        </p:cTn>
                                        <p:tgtEl>
                                          <p:spTgt spid="2334125"/>
                                        </p:tgtEl>
                                        <p:attrNameLst>
                                          <p:attrName>style.visibility</p:attrName>
                                        </p:attrNameLst>
                                      </p:cBhvr>
                                      <p:to>
                                        <p:strVal val="visible"/>
                                      </p:to>
                                    </p:set>
                                    <p:animEffect transition="in" filter="dissolve">
                                      <p:cBhvr>
                                        <p:cTn id="181" dur="500"/>
                                        <p:tgtEl>
                                          <p:spTgt spid="2334125"/>
                                        </p:tgtEl>
                                      </p:cBhvr>
                                    </p:animEffect>
                                  </p:childTnLst>
                                </p:cTn>
                              </p:par>
                              <p:par>
                                <p:cTn id="182" presetID="9" presetClass="entr" presetSubtype="0" fill="hold" nodeType="withEffect">
                                  <p:stCondLst>
                                    <p:cond delay="0"/>
                                  </p:stCondLst>
                                  <p:childTnLst>
                                    <p:set>
                                      <p:cBhvr>
                                        <p:cTn id="183" dur="1" fill="hold">
                                          <p:stCondLst>
                                            <p:cond delay="0"/>
                                          </p:stCondLst>
                                        </p:cTn>
                                        <p:tgtEl>
                                          <p:spTgt spid="2334126"/>
                                        </p:tgtEl>
                                        <p:attrNameLst>
                                          <p:attrName>style.visibility</p:attrName>
                                        </p:attrNameLst>
                                      </p:cBhvr>
                                      <p:to>
                                        <p:strVal val="visible"/>
                                      </p:to>
                                    </p:set>
                                    <p:animEffect transition="in" filter="dissolve">
                                      <p:cBhvr>
                                        <p:cTn id="184" dur="500"/>
                                        <p:tgtEl>
                                          <p:spTgt spid="2334126"/>
                                        </p:tgtEl>
                                      </p:cBhvr>
                                    </p:animEffect>
                                  </p:childTnLst>
                                </p:cTn>
                              </p:par>
                              <p:par>
                                <p:cTn id="185" presetID="9" presetClass="entr" presetSubtype="0" fill="hold" nodeType="withEffect">
                                  <p:stCondLst>
                                    <p:cond delay="0"/>
                                  </p:stCondLst>
                                  <p:childTnLst>
                                    <p:set>
                                      <p:cBhvr>
                                        <p:cTn id="186" dur="1" fill="hold">
                                          <p:stCondLst>
                                            <p:cond delay="0"/>
                                          </p:stCondLst>
                                        </p:cTn>
                                        <p:tgtEl>
                                          <p:spTgt spid="2334127"/>
                                        </p:tgtEl>
                                        <p:attrNameLst>
                                          <p:attrName>style.visibility</p:attrName>
                                        </p:attrNameLst>
                                      </p:cBhvr>
                                      <p:to>
                                        <p:strVal val="visible"/>
                                      </p:to>
                                    </p:set>
                                    <p:animEffect transition="in" filter="dissolve">
                                      <p:cBhvr>
                                        <p:cTn id="187" dur="500"/>
                                        <p:tgtEl>
                                          <p:spTgt spid="2334127"/>
                                        </p:tgtEl>
                                      </p:cBhvr>
                                    </p:animEffect>
                                  </p:childTnLst>
                                </p:cTn>
                              </p:par>
                              <p:par>
                                <p:cTn id="188" presetID="9" presetClass="entr" presetSubtype="0" fill="hold" nodeType="withEffect">
                                  <p:stCondLst>
                                    <p:cond delay="0"/>
                                  </p:stCondLst>
                                  <p:childTnLst>
                                    <p:set>
                                      <p:cBhvr>
                                        <p:cTn id="189" dur="1" fill="hold">
                                          <p:stCondLst>
                                            <p:cond delay="0"/>
                                          </p:stCondLst>
                                        </p:cTn>
                                        <p:tgtEl>
                                          <p:spTgt spid="2334128"/>
                                        </p:tgtEl>
                                        <p:attrNameLst>
                                          <p:attrName>style.visibility</p:attrName>
                                        </p:attrNameLst>
                                      </p:cBhvr>
                                      <p:to>
                                        <p:strVal val="visible"/>
                                      </p:to>
                                    </p:set>
                                    <p:animEffect transition="in" filter="dissolve">
                                      <p:cBhvr>
                                        <p:cTn id="190" dur="500"/>
                                        <p:tgtEl>
                                          <p:spTgt spid="2334128"/>
                                        </p:tgtEl>
                                      </p:cBhvr>
                                    </p:animEffect>
                                  </p:childTnLst>
                                </p:cTn>
                              </p:par>
                              <p:par>
                                <p:cTn id="191" presetID="9" presetClass="entr" presetSubtype="0" fill="hold" nodeType="withEffect">
                                  <p:stCondLst>
                                    <p:cond delay="0"/>
                                  </p:stCondLst>
                                  <p:childTnLst>
                                    <p:set>
                                      <p:cBhvr>
                                        <p:cTn id="192" dur="1" fill="hold">
                                          <p:stCondLst>
                                            <p:cond delay="0"/>
                                          </p:stCondLst>
                                        </p:cTn>
                                        <p:tgtEl>
                                          <p:spTgt spid="2334129"/>
                                        </p:tgtEl>
                                        <p:attrNameLst>
                                          <p:attrName>style.visibility</p:attrName>
                                        </p:attrNameLst>
                                      </p:cBhvr>
                                      <p:to>
                                        <p:strVal val="visible"/>
                                      </p:to>
                                    </p:set>
                                    <p:animEffect transition="in" filter="dissolve">
                                      <p:cBhvr>
                                        <p:cTn id="193" dur="500"/>
                                        <p:tgtEl>
                                          <p:spTgt spid="2334129"/>
                                        </p:tgtEl>
                                      </p:cBhvr>
                                    </p:animEffect>
                                  </p:childTnLst>
                                </p:cTn>
                              </p:par>
                              <p:par>
                                <p:cTn id="194" presetID="9" presetClass="entr" presetSubtype="0" fill="hold" grpId="0" nodeType="withEffect">
                                  <p:stCondLst>
                                    <p:cond delay="0"/>
                                  </p:stCondLst>
                                  <p:childTnLst>
                                    <p:set>
                                      <p:cBhvr>
                                        <p:cTn id="195" dur="1" fill="hold">
                                          <p:stCondLst>
                                            <p:cond delay="0"/>
                                          </p:stCondLst>
                                        </p:cTn>
                                        <p:tgtEl>
                                          <p:spTgt spid="2334130"/>
                                        </p:tgtEl>
                                        <p:attrNameLst>
                                          <p:attrName>style.visibility</p:attrName>
                                        </p:attrNameLst>
                                      </p:cBhvr>
                                      <p:to>
                                        <p:strVal val="visible"/>
                                      </p:to>
                                    </p:set>
                                    <p:animEffect transition="in" filter="dissolve">
                                      <p:cBhvr>
                                        <p:cTn id="196" dur="500"/>
                                        <p:tgtEl>
                                          <p:spTgt spid="2334130"/>
                                        </p:tgtEl>
                                      </p:cBhvr>
                                    </p:animEffect>
                                  </p:childTnLst>
                                </p:cTn>
                              </p:par>
                              <p:par>
                                <p:cTn id="197" presetID="9" presetClass="entr" presetSubtype="0" fill="hold" nodeType="withEffect">
                                  <p:stCondLst>
                                    <p:cond delay="0"/>
                                  </p:stCondLst>
                                  <p:childTnLst>
                                    <p:set>
                                      <p:cBhvr>
                                        <p:cTn id="198" dur="1" fill="hold">
                                          <p:stCondLst>
                                            <p:cond delay="0"/>
                                          </p:stCondLst>
                                        </p:cTn>
                                        <p:tgtEl>
                                          <p:spTgt spid="2334131"/>
                                        </p:tgtEl>
                                        <p:attrNameLst>
                                          <p:attrName>style.visibility</p:attrName>
                                        </p:attrNameLst>
                                      </p:cBhvr>
                                      <p:to>
                                        <p:strVal val="visible"/>
                                      </p:to>
                                    </p:set>
                                    <p:animEffect transition="in" filter="dissolve">
                                      <p:cBhvr>
                                        <p:cTn id="199" dur="500"/>
                                        <p:tgtEl>
                                          <p:spTgt spid="2334131"/>
                                        </p:tgtEl>
                                      </p:cBhvr>
                                    </p:animEffect>
                                  </p:childTnLst>
                                </p:cTn>
                              </p:par>
                              <p:par>
                                <p:cTn id="200" presetID="9" presetClass="entr" presetSubtype="0" fill="hold" nodeType="withEffect">
                                  <p:stCondLst>
                                    <p:cond delay="0"/>
                                  </p:stCondLst>
                                  <p:childTnLst>
                                    <p:set>
                                      <p:cBhvr>
                                        <p:cTn id="201" dur="1" fill="hold">
                                          <p:stCondLst>
                                            <p:cond delay="0"/>
                                          </p:stCondLst>
                                        </p:cTn>
                                        <p:tgtEl>
                                          <p:spTgt spid="2334132"/>
                                        </p:tgtEl>
                                        <p:attrNameLst>
                                          <p:attrName>style.visibility</p:attrName>
                                        </p:attrNameLst>
                                      </p:cBhvr>
                                      <p:to>
                                        <p:strVal val="visible"/>
                                      </p:to>
                                    </p:set>
                                    <p:animEffect transition="in" filter="dissolve">
                                      <p:cBhvr>
                                        <p:cTn id="202" dur="500"/>
                                        <p:tgtEl>
                                          <p:spTgt spid="2334132"/>
                                        </p:tgtEl>
                                      </p:cBhvr>
                                    </p:animEffect>
                                  </p:childTnLst>
                                </p:cTn>
                              </p:par>
                              <p:par>
                                <p:cTn id="203" presetID="9" presetClass="entr" presetSubtype="0" fill="hold" nodeType="withEffect">
                                  <p:stCondLst>
                                    <p:cond delay="0"/>
                                  </p:stCondLst>
                                  <p:childTnLst>
                                    <p:set>
                                      <p:cBhvr>
                                        <p:cTn id="204" dur="1" fill="hold">
                                          <p:stCondLst>
                                            <p:cond delay="0"/>
                                          </p:stCondLst>
                                        </p:cTn>
                                        <p:tgtEl>
                                          <p:spTgt spid="2334133"/>
                                        </p:tgtEl>
                                        <p:attrNameLst>
                                          <p:attrName>style.visibility</p:attrName>
                                        </p:attrNameLst>
                                      </p:cBhvr>
                                      <p:to>
                                        <p:strVal val="visible"/>
                                      </p:to>
                                    </p:set>
                                    <p:animEffect transition="in" filter="dissolve">
                                      <p:cBhvr>
                                        <p:cTn id="205" dur="500"/>
                                        <p:tgtEl>
                                          <p:spTgt spid="2334133"/>
                                        </p:tgtEl>
                                      </p:cBhvr>
                                    </p:animEffect>
                                  </p:childTnLst>
                                </p:cTn>
                              </p:par>
                              <p:par>
                                <p:cTn id="206" presetID="9" presetClass="entr" presetSubtype="0" fill="hold" nodeType="withEffect">
                                  <p:stCondLst>
                                    <p:cond delay="0"/>
                                  </p:stCondLst>
                                  <p:childTnLst>
                                    <p:set>
                                      <p:cBhvr>
                                        <p:cTn id="207" dur="1" fill="hold">
                                          <p:stCondLst>
                                            <p:cond delay="0"/>
                                          </p:stCondLst>
                                        </p:cTn>
                                        <p:tgtEl>
                                          <p:spTgt spid="2334134"/>
                                        </p:tgtEl>
                                        <p:attrNameLst>
                                          <p:attrName>style.visibility</p:attrName>
                                        </p:attrNameLst>
                                      </p:cBhvr>
                                      <p:to>
                                        <p:strVal val="visible"/>
                                      </p:to>
                                    </p:set>
                                    <p:animEffect transition="in" filter="dissolve">
                                      <p:cBhvr>
                                        <p:cTn id="208" dur="500"/>
                                        <p:tgtEl>
                                          <p:spTgt spid="2334134"/>
                                        </p:tgtEl>
                                      </p:cBhvr>
                                    </p:animEffect>
                                  </p:childTnLst>
                                </p:cTn>
                              </p:par>
                              <p:par>
                                <p:cTn id="209" presetID="9" presetClass="entr" presetSubtype="0" fill="hold" nodeType="withEffect">
                                  <p:stCondLst>
                                    <p:cond delay="0"/>
                                  </p:stCondLst>
                                  <p:childTnLst>
                                    <p:set>
                                      <p:cBhvr>
                                        <p:cTn id="210" dur="1" fill="hold">
                                          <p:stCondLst>
                                            <p:cond delay="0"/>
                                          </p:stCondLst>
                                        </p:cTn>
                                        <p:tgtEl>
                                          <p:spTgt spid="2334135"/>
                                        </p:tgtEl>
                                        <p:attrNameLst>
                                          <p:attrName>style.visibility</p:attrName>
                                        </p:attrNameLst>
                                      </p:cBhvr>
                                      <p:to>
                                        <p:strVal val="visible"/>
                                      </p:to>
                                    </p:set>
                                    <p:animEffect transition="in" filter="dissolve">
                                      <p:cBhvr>
                                        <p:cTn id="211" dur="500"/>
                                        <p:tgtEl>
                                          <p:spTgt spid="2334135"/>
                                        </p:tgtEl>
                                      </p:cBhvr>
                                    </p:animEffect>
                                  </p:childTnLst>
                                </p:cTn>
                              </p:par>
                              <p:par>
                                <p:cTn id="212" presetID="9" presetClass="entr" presetSubtype="0" fill="hold" nodeType="withEffect">
                                  <p:stCondLst>
                                    <p:cond delay="0"/>
                                  </p:stCondLst>
                                  <p:childTnLst>
                                    <p:set>
                                      <p:cBhvr>
                                        <p:cTn id="213" dur="1" fill="hold">
                                          <p:stCondLst>
                                            <p:cond delay="0"/>
                                          </p:stCondLst>
                                        </p:cTn>
                                        <p:tgtEl>
                                          <p:spTgt spid="2334136"/>
                                        </p:tgtEl>
                                        <p:attrNameLst>
                                          <p:attrName>style.visibility</p:attrName>
                                        </p:attrNameLst>
                                      </p:cBhvr>
                                      <p:to>
                                        <p:strVal val="visible"/>
                                      </p:to>
                                    </p:set>
                                    <p:animEffect transition="in" filter="dissolve">
                                      <p:cBhvr>
                                        <p:cTn id="214" dur="500"/>
                                        <p:tgtEl>
                                          <p:spTgt spid="2334136"/>
                                        </p:tgtEl>
                                      </p:cBhvr>
                                    </p:animEffect>
                                  </p:childTnLst>
                                </p:cTn>
                              </p:par>
                              <p:par>
                                <p:cTn id="215" presetID="9" presetClass="entr" presetSubtype="0" fill="hold" nodeType="withEffect">
                                  <p:stCondLst>
                                    <p:cond delay="0"/>
                                  </p:stCondLst>
                                  <p:childTnLst>
                                    <p:set>
                                      <p:cBhvr>
                                        <p:cTn id="216" dur="1" fill="hold">
                                          <p:stCondLst>
                                            <p:cond delay="0"/>
                                          </p:stCondLst>
                                        </p:cTn>
                                        <p:tgtEl>
                                          <p:spTgt spid="2334137"/>
                                        </p:tgtEl>
                                        <p:attrNameLst>
                                          <p:attrName>style.visibility</p:attrName>
                                        </p:attrNameLst>
                                      </p:cBhvr>
                                      <p:to>
                                        <p:strVal val="visible"/>
                                      </p:to>
                                    </p:set>
                                    <p:animEffect transition="in" filter="dissolve">
                                      <p:cBhvr>
                                        <p:cTn id="217" dur="500"/>
                                        <p:tgtEl>
                                          <p:spTgt spid="2334137"/>
                                        </p:tgtEl>
                                      </p:cBhvr>
                                    </p:animEffect>
                                  </p:childTnLst>
                                </p:cTn>
                              </p:par>
                              <p:par>
                                <p:cTn id="218" presetID="9" presetClass="entr" presetSubtype="0" fill="hold" nodeType="withEffect">
                                  <p:stCondLst>
                                    <p:cond delay="0"/>
                                  </p:stCondLst>
                                  <p:childTnLst>
                                    <p:set>
                                      <p:cBhvr>
                                        <p:cTn id="219" dur="1" fill="hold">
                                          <p:stCondLst>
                                            <p:cond delay="0"/>
                                          </p:stCondLst>
                                        </p:cTn>
                                        <p:tgtEl>
                                          <p:spTgt spid="2334138"/>
                                        </p:tgtEl>
                                        <p:attrNameLst>
                                          <p:attrName>style.visibility</p:attrName>
                                        </p:attrNameLst>
                                      </p:cBhvr>
                                      <p:to>
                                        <p:strVal val="visible"/>
                                      </p:to>
                                    </p:set>
                                    <p:animEffect transition="in" filter="dissolve">
                                      <p:cBhvr>
                                        <p:cTn id="220" dur="500"/>
                                        <p:tgtEl>
                                          <p:spTgt spid="2334138"/>
                                        </p:tgtEl>
                                      </p:cBhvr>
                                    </p:animEffect>
                                  </p:childTnLst>
                                </p:cTn>
                              </p:par>
                              <p:par>
                                <p:cTn id="221" presetID="9" presetClass="entr" presetSubtype="0" fill="hold" grpId="0" nodeType="withEffect">
                                  <p:stCondLst>
                                    <p:cond delay="0"/>
                                  </p:stCondLst>
                                  <p:childTnLst>
                                    <p:set>
                                      <p:cBhvr>
                                        <p:cTn id="222" dur="1" fill="hold">
                                          <p:stCondLst>
                                            <p:cond delay="0"/>
                                          </p:stCondLst>
                                        </p:cTn>
                                        <p:tgtEl>
                                          <p:spTgt spid="2334139"/>
                                        </p:tgtEl>
                                        <p:attrNameLst>
                                          <p:attrName>style.visibility</p:attrName>
                                        </p:attrNameLst>
                                      </p:cBhvr>
                                      <p:to>
                                        <p:strVal val="visible"/>
                                      </p:to>
                                    </p:set>
                                    <p:animEffect transition="in" filter="dissolve">
                                      <p:cBhvr>
                                        <p:cTn id="223" dur="500"/>
                                        <p:tgtEl>
                                          <p:spTgt spid="2334139"/>
                                        </p:tgtEl>
                                      </p:cBhvr>
                                    </p:animEffect>
                                  </p:childTnLst>
                                </p:cTn>
                              </p:par>
                              <p:par>
                                <p:cTn id="224" presetID="9" presetClass="entr" presetSubtype="0" fill="hold" nodeType="withEffect">
                                  <p:stCondLst>
                                    <p:cond delay="0"/>
                                  </p:stCondLst>
                                  <p:childTnLst>
                                    <p:set>
                                      <p:cBhvr>
                                        <p:cTn id="225" dur="1" fill="hold">
                                          <p:stCondLst>
                                            <p:cond delay="0"/>
                                          </p:stCondLst>
                                        </p:cTn>
                                        <p:tgtEl>
                                          <p:spTgt spid="2334140"/>
                                        </p:tgtEl>
                                        <p:attrNameLst>
                                          <p:attrName>style.visibility</p:attrName>
                                        </p:attrNameLst>
                                      </p:cBhvr>
                                      <p:to>
                                        <p:strVal val="visible"/>
                                      </p:to>
                                    </p:set>
                                    <p:animEffect transition="in" filter="dissolve">
                                      <p:cBhvr>
                                        <p:cTn id="226" dur="500"/>
                                        <p:tgtEl>
                                          <p:spTgt spid="2334140"/>
                                        </p:tgtEl>
                                      </p:cBhvr>
                                    </p:animEffect>
                                  </p:childTnLst>
                                </p:cTn>
                              </p:par>
                              <p:par>
                                <p:cTn id="227" presetID="9" presetClass="entr" presetSubtype="0" fill="hold" nodeType="withEffect">
                                  <p:stCondLst>
                                    <p:cond delay="0"/>
                                  </p:stCondLst>
                                  <p:childTnLst>
                                    <p:set>
                                      <p:cBhvr>
                                        <p:cTn id="228" dur="1" fill="hold">
                                          <p:stCondLst>
                                            <p:cond delay="0"/>
                                          </p:stCondLst>
                                        </p:cTn>
                                        <p:tgtEl>
                                          <p:spTgt spid="2334141"/>
                                        </p:tgtEl>
                                        <p:attrNameLst>
                                          <p:attrName>style.visibility</p:attrName>
                                        </p:attrNameLst>
                                      </p:cBhvr>
                                      <p:to>
                                        <p:strVal val="visible"/>
                                      </p:to>
                                    </p:set>
                                    <p:animEffect transition="in" filter="dissolve">
                                      <p:cBhvr>
                                        <p:cTn id="229" dur="500"/>
                                        <p:tgtEl>
                                          <p:spTgt spid="2334141"/>
                                        </p:tgtEl>
                                      </p:cBhvr>
                                    </p:animEffect>
                                  </p:childTnLst>
                                </p:cTn>
                              </p:par>
                              <p:par>
                                <p:cTn id="230" presetID="9" presetClass="entr" presetSubtype="0" fill="hold" nodeType="withEffect">
                                  <p:stCondLst>
                                    <p:cond delay="0"/>
                                  </p:stCondLst>
                                  <p:childTnLst>
                                    <p:set>
                                      <p:cBhvr>
                                        <p:cTn id="231" dur="1" fill="hold">
                                          <p:stCondLst>
                                            <p:cond delay="0"/>
                                          </p:stCondLst>
                                        </p:cTn>
                                        <p:tgtEl>
                                          <p:spTgt spid="2334142"/>
                                        </p:tgtEl>
                                        <p:attrNameLst>
                                          <p:attrName>style.visibility</p:attrName>
                                        </p:attrNameLst>
                                      </p:cBhvr>
                                      <p:to>
                                        <p:strVal val="visible"/>
                                      </p:to>
                                    </p:set>
                                    <p:animEffect transition="in" filter="dissolve">
                                      <p:cBhvr>
                                        <p:cTn id="232" dur="500"/>
                                        <p:tgtEl>
                                          <p:spTgt spid="2334142"/>
                                        </p:tgtEl>
                                      </p:cBhvr>
                                    </p:animEffect>
                                  </p:childTnLst>
                                </p:cTn>
                              </p:par>
                              <p:par>
                                <p:cTn id="233" presetID="9" presetClass="entr" presetSubtype="0" fill="hold" nodeType="withEffect">
                                  <p:stCondLst>
                                    <p:cond delay="0"/>
                                  </p:stCondLst>
                                  <p:childTnLst>
                                    <p:set>
                                      <p:cBhvr>
                                        <p:cTn id="234" dur="1" fill="hold">
                                          <p:stCondLst>
                                            <p:cond delay="0"/>
                                          </p:stCondLst>
                                        </p:cTn>
                                        <p:tgtEl>
                                          <p:spTgt spid="2334143"/>
                                        </p:tgtEl>
                                        <p:attrNameLst>
                                          <p:attrName>style.visibility</p:attrName>
                                        </p:attrNameLst>
                                      </p:cBhvr>
                                      <p:to>
                                        <p:strVal val="visible"/>
                                      </p:to>
                                    </p:set>
                                    <p:animEffect transition="in" filter="dissolve">
                                      <p:cBhvr>
                                        <p:cTn id="235" dur="500"/>
                                        <p:tgtEl>
                                          <p:spTgt spid="2334143"/>
                                        </p:tgtEl>
                                      </p:cBhvr>
                                    </p:animEffect>
                                  </p:childTnLst>
                                </p:cTn>
                              </p:par>
                              <p:par>
                                <p:cTn id="236" presetID="9" presetClass="entr" presetSubtype="0" fill="hold" nodeType="withEffect">
                                  <p:stCondLst>
                                    <p:cond delay="0"/>
                                  </p:stCondLst>
                                  <p:childTnLst>
                                    <p:set>
                                      <p:cBhvr>
                                        <p:cTn id="237" dur="1" fill="hold">
                                          <p:stCondLst>
                                            <p:cond delay="0"/>
                                          </p:stCondLst>
                                        </p:cTn>
                                        <p:tgtEl>
                                          <p:spTgt spid="2334144"/>
                                        </p:tgtEl>
                                        <p:attrNameLst>
                                          <p:attrName>style.visibility</p:attrName>
                                        </p:attrNameLst>
                                      </p:cBhvr>
                                      <p:to>
                                        <p:strVal val="visible"/>
                                      </p:to>
                                    </p:set>
                                    <p:animEffect transition="in" filter="dissolve">
                                      <p:cBhvr>
                                        <p:cTn id="238" dur="500"/>
                                        <p:tgtEl>
                                          <p:spTgt spid="2334144"/>
                                        </p:tgtEl>
                                      </p:cBhvr>
                                    </p:animEffect>
                                  </p:childTnLst>
                                </p:cTn>
                              </p:par>
                              <p:par>
                                <p:cTn id="239" presetID="9" presetClass="entr" presetSubtype="0" fill="hold" grpId="0" nodeType="withEffect">
                                  <p:stCondLst>
                                    <p:cond delay="0"/>
                                  </p:stCondLst>
                                  <p:childTnLst>
                                    <p:set>
                                      <p:cBhvr>
                                        <p:cTn id="240" dur="1" fill="hold">
                                          <p:stCondLst>
                                            <p:cond delay="0"/>
                                          </p:stCondLst>
                                        </p:cTn>
                                        <p:tgtEl>
                                          <p:spTgt spid="2334145"/>
                                        </p:tgtEl>
                                        <p:attrNameLst>
                                          <p:attrName>style.visibility</p:attrName>
                                        </p:attrNameLst>
                                      </p:cBhvr>
                                      <p:to>
                                        <p:strVal val="visible"/>
                                      </p:to>
                                    </p:set>
                                    <p:animEffect transition="in" filter="dissolve">
                                      <p:cBhvr>
                                        <p:cTn id="241" dur="500"/>
                                        <p:tgtEl>
                                          <p:spTgt spid="2334145"/>
                                        </p:tgtEl>
                                      </p:cBhvr>
                                    </p:animEffect>
                                  </p:childTnLst>
                                </p:cTn>
                              </p:par>
                              <p:par>
                                <p:cTn id="242" presetID="9" presetClass="entr" presetSubtype="0" fill="hold" grpId="0" nodeType="withEffect">
                                  <p:stCondLst>
                                    <p:cond delay="0"/>
                                  </p:stCondLst>
                                  <p:childTnLst>
                                    <p:set>
                                      <p:cBhvr>
                                        <p:cTn id="243" dur="1" fill="hold">
                                          <p:stCondLst>
                                            <p:cond delay="0"/>
                                          </p:stCondLst>
                                        </p:cTn>
                                        <p:tgtEl>
                                          <p:spTgt spid="2334146"/>
                                        </p:tgtEl>
                                        <p:attrNameLst>
                                          <p:attrName>style.visibility</p:attrName>
                                        </p:attrNameLst>
                                      </p:cBhvr>
                                      <p:to>
                                        <p:strVal val="visible"/>
                                      </p:to>
                                    </p:set>
                                    <p:animEffect transition="in" filter="dissolve">
                                      <p:cBhvr>
                                        <p:cTn id="244" dur="500"/>
                                        <p:tgtEl>
                                          <p:spTgt spid="2334146"/>
                                        </p:tgtEl>
                                      </p:cBhvr>
                                    </p:animEffect>
                                  </p:childTnLst>
                                </p:cTn>
                              </p:par>
                              <p:par>
                                <p:cTn id="245" presetID="9" presetClass="entr" presetSubtype="0" fill="hold" grpId="0" nodeType="withEffect">
                                  <p:stCondLst>
                                    <p:cond delay="0"/>
                                  </p:stCondLst>
                                  <p:childTnLst>
                                    <p:set>
                                      <p:cBhvr>
                                        <p:cTn id="246" dur="1" fill="hold">
                                          <p:stCondLst>
                                            <p:cond delay="0"/>
                                          </p:stCondLst>
                                        </p:cTn>
                                        <p:tgtEl>
                                          <p:spTgt spid="2334147"/>
                                        </p:tgtEl>
                                        <p:attrNameLst>
                                          <p:attrName>style.visibility</p:attrName>
                                        </p:attrNameLst>
                                      </p:cBhvr>
                                      <p:to>
                                        <p:strVal val="visible"/>
                                      </p:to>
                                    </p:set>
                                    <p:animEffect transition="in" filter="dissolve">
                                      <p:cBhvr>
                                        <p:cTn id="247" dur="500"/>
                                        <p:tgtEl>
                                          <p:spTgt spid="2334147"/>
                                        </p:tgtEl>
                                      </p:cBhvr>
                                    </p:animEffect>
                                  </p:childTnLst>
                                </p:cTn>
                              </p:par>
                              <p:par>
                                <p:cTn id="248" presetID="9" presetClass="entr" presetSubtype="0" fill="hold" grpId="0" nodeType="withEffect">
                                  <p:stCondLst>
                                    <p:cond delay="0"/>
                                  </p:stCondLst>
                                  <p:childTnLst>
                                    <p:set>
                                      <p:cBhvr>
                                        <p:cTn id="249" dur="1" fill="hold">
                                          <p:stCondLst>
                                            <p:cond delay="0"/>
                                          </p:stCondLst>
                                        </p:cTn>
                                        <p:tgtEl>
                                          <p:spTgt spid="2334148"/>
                                        </p:tgtEl>
                                        <p:attrNameLst>
                                          <p:attrName>style.visibility</p:attrName>
                                        </p:attrNameLst>
                                      </p:cBhvr>
                                      <p:to>
                                        <p:strVal val="visible"/>
                                      </p:to>
                                    </p:set>
                                    <p:animEffect transition="in" filter="dissolve">
                                      <p:cBhvr>
                                        <p:cTn id="250" dur="500"/>
                                        <p:tgtEl>
                                          <p:spTgt spid="2334148"/>
                                        </p:tgtEl>
                                      </p:cBhvr>
                                    </p:animEffect>
                                  </p:childTnLst>
                                </p:cTn>
                              </p:par>
                              <p:par>
                                <p:cTn id="251" presetID="9" presetClass="entr" presetSubtype="0" fill="hold" grpId="0" nodeType="withEffect">
                                  <p:stCondLst>
                                    <p:cond delay="0"/>
                                  </p:stCondLst>
                                  <p:childTnLst>
                                    <p:set>
                                      <p:cBhvr>
                                        <p:cTn id="252" dur="1" fill="hold">
                                          <p:stCondLst>
                                            <p:cond delay="0"/>
                                          </p:stCondLst>
                                        </p:cTn>
                                        <p:tgtEl>
                                          <p:spTgt spid="2334149"/>
                                        </p:tgtEl>
                                        <p:attrNameLst>
                                          <p:attrName>style.visibility</p:attrName>
                                        </p:attrNameLst>
                                      </p:cBhvr>
                                      <p:to>
                                        <p:strVal val="visible"/>
                                      </p:to>
                                    </p:set>
                                    <p:animEffect transition="in" filter="dissolve">
                                      <p:cBhvr>
                                        <p:cTn id="253" dur="500"/>
                                        <p:tgtEl>
                                          <p:spTgt spid="2334149"/>
                                        </p:tgtEl>
                                      </p:cBhvr>
                                    </p:animEffect>
                                  </p:childTnLst>
                                </p:cTn>
                              </p:par>
                              <p:par>
                                <p:cTn id="254" presetID="9" presetClass="entr" presetSubtype="0" fill="hold" grpId="0" nodeType="withEffect">
                                  <p:stCondLst>
                                    <p:cond delay="0"/>
                                  </p:stCondLst>
                                  <p:childTnLst>
                                    <p:set>
                                      <p:cBhvr>
                                        <p:cTn id="255" dur="1" fill="hold">
                                          <p:stCondLst>
                                            <p:cond delay="0"/>
                                          </p:stCondLst>
                                        </p:cTn>
                                        <p:tgtEl>
                                          <p:spTgt spid="2334150"/>
                                        </p:tgtEl>
                                        <p:attrNameLst>
                                          <p:attrName>style.visibility</p:attrName>
                                        </p:attrNameLst>
                                      </p:cBhvr>
                                      <p:to>
                                        <p:strVal val="visible"/>
                                      </p:to>
                                    </p:set>
                                    <p:animEffect transition="in" filter="dissolve">
                                      <p:cBhvr>
                                        <p:cTn id="256" dur="500"/>
                                        <p:tgtEl>
                                          <p:spTgt spid="2334150"/>
                                        </p:tgtEl>
                                      </p:cBhvr>
                                    </p:animEffect>
                                  </p:childTnLst>
                                </p:cTn>
                              </p:par>
                              <p:par>
                                <p:cTn id="257" presetID="9" presetClass="entr" presetSubtype="0" fill="hold" grpId="0" nodeType="withEffect">
                                  <p:stCondLst>
                                    <p:cond delay="0"/>
                                  </p:stCondLst>
                                  <p:childTnLst>
                                    <p:set>
                                      <p:cBhvr>
                                        <p:cTn id="258" dur="1" fill="hold">
                                          <p:stCondLst>
                                            <p:cond delay="0"/>
                                          </p:stCondLst>
                                        </p:cTn>
                                        <p:tgtEl>
                                          <p:spTgt spid="2334151"/>
                                        </p:tgtEl>
                                        <p:attrNameLst>
                                          <p:attrName>style.visibility</p:attrName>
                                        </p:attrNameLst>
                                      </p:cBhvr>
                                      <p:to>
                                        <p:strVal val="visible"/>
                                      </p:to>
                                    </p:set>
                                    <p:animEffect transition="in" filter="dissolve">
                                      <p:cBhvr>
                                        <p:cTn id="259" dur="500"/>
                                        <p:tgtEl>
                                          <p:spTgt spid="2334151"/>
                                        </p:tgtEl>
                                      </p:cBhvr>
                                    </p:animEffect>
                                  </p:childTnLst>
                                </p:cTn>
                              </p:par>
                              <p:par>
                                <p:cTn id="260" presetID="9" presetClass="entr" presetSubtype="0" fill="hold" grpId="0" nodeType="withEffect">
                                  <p:stCondLst>
                                    <p:cond delay="0"/>
                                  </p:stCondLst>
                                  <p:childTnLst>
                                    <p:set>
                                      <p:cBhvr>
                                        <p:cTn id="261" dur="1" fill="hold">
                                          <p:stCondLst>
                                            <p:cond delay="0"/>
                                          </p:stCondLst>
                                        </p:cTn>
                                        <p:tgtEl>
                                          <p:spTgt spid="2334152"/>
                                        </p:tgtEl>
                                        <p:attrNameLst>
                                          <p:attrName>style.visibility</p:attrName>
                                        </p:attrNameLst>
                                      </p:cBhvr>
                                      <p:to>
                                        <p:strVal val="visible"/>
                                      </p:to>
                                    </p:set>
                                    <p:animEffect transition="in" filter="dissolve">
                                      <p:cBhvr>
                                        <p:cTn id="262" dur="500"/>
                                        <p:tgtEl>
                                          <p:spTgt spid="2334152"/>
                                        </p:tgtEl>
                                      </p:cBhvr>
                                    </p:animEffect>
                                  </p:childTnLst>
                                </p:cTn>
                              </p:par>
                              <p:par>
                                <p:cTn id="263" presetID="9" presetClass="entr" presetSubtype="0" fill="hold" nodeType="withEffect">
                                  <p:stCondLst>
                                    <p:cond delay="0"/>
                                  </p:stCondLst>
                                  <p:childTnLst>
                                    <p:set>
                                      <p:cBhvr>
                                        <p:cTn id="264" dur="1" fill="hold">
                                          <p:stCondLst>
                                            <p:cond delay="0"/>
                                          </p:stCondLst>
                                        </p:cTn>
                                        <p:tgtEl>
                                          <p:spTgt spid="2334153"/>
                                        </p:tgtEl>
                                        <p:attrNameLst>
                                          <p:attrName>style.visibility</p:attrName>
                                        </p:attrNameLst>
                                      </p:cBhvr>
                                      <p:to>
                                        <p:strVal val="visible"/>
                                      </p:to>
                                    </p:set>
                                    <p:animEffect transition="in" filter="dissolve">
                                      <p:cBhvr>
                                        <p:cTn id="265" dur="500"/>
                                        <p:tgtEl>
                                          <p:spTgt spid="2334153"/>
                                        </p:tgtEl>
                                      </p:cBhvr>
                                    </p:animEffect>
                                  </p:childTnLst>
                                </p:cTn>
                              </p:par>
                              <p:par>
                                <p:cTn id="266" presetID="9" presetClass="entr" presetSubtype="0" fill="hold" nodeType="withEffect">
                                  <p:stCondLst>
                                    <p:cond delay="0"/>
                                  </p:stCondLst>
                                  <p:childTnLst>
                                    <p:set>
                                      <p:cBhvr>
                                        <p:cTn id="267" dur="1" fill="hold">
                                          <p:stCondLst>
                                            <p:cond delay="0"/>
                                          </p:stCondLst>
                                        </p:cTn>
                                        <p:tgtEl>
                                          <p:spTgt spid="2334154"/>
                                        </p:tgtEl>
                                        <p:attrNameLst>
                                          <p:attrName>style.visibility</p:attrName>
                                        </p:attrNameLst>
                                      </p:cBhvr>
                                      <p:to>
                                        <p:strVal val="visible"/>
                                      </p:to>
                                    </p:set>
                                    <p:animEffect transition="in" filter="dissolve">
                                      <p:cBhvr>
                                        <p:cTn id="268" dur="500"/>
                                        <p:tgtEl>
                                          <p:spTgt spid="2334154"/>
                                        </p:tgtEl>
                                      </p:cBhvr>
                                    </p:animEffect>
                                  </p:childTnLst>
                                </p:cTn>
                              </p:par>
                              <p:par>
                                <p:cTn id="269" presetID="9" presetClass="entr" presetSubtype="0" fill="hold" nodeType="withEffect">
                                  <p:stCondLst>
                                    <p:cond delay="0"/>
                                  </p:stCondLst>
                                  <p:childTnLst>
                                    <p:set>
                                      <p:cBhvr>
                                        <p:cTn id="270" dur="1" fill="hold">
                                          <p:stCondLst>
                                            <p:cond delay="0"/>
                                          </p:stCondLst>
                                        </p:cTn>
                                        <p:tgtEl>
                                          <p:spTgt spid="2334155"/>
                                        </p:tgtEl>
                                        <p:attrNameLst>
                                          <p:attrName>style.visibility</p:attrName>
                                        </p:attrNameLst>
                                      </p:cBhvr>
                                      <p:to>
                                        <p:strVal val="visible"/>
                                      </p:to>
                                    </p:set>
                                    <p:animEffect transition="in" filter="dissolve">
                                      <p:cBhvr>
                                        <p:cTn id="271" dur="500"/>
                                        <p:tgtEl>
                                          <p:spTgt spid="2334155"/>
                                        </p:tgtEl>
                                      </p:cBhvr>
                                    </p:animEffect>
                                  </p:childTnLst>
                                </p:cTn>
                              </p:par>
                              <p:par>
                                <p:cTn id="272" presetID="9" presetClass="entr" presetSubtype="0" fill="hold" nodeType="withEffect">
                                  <p:stCondLst>
                                    <p:cond delay="0"/>
                                  </p:stCondLst>
                                  <p:childTnLst>
                                    <p:set>
                                      <p:cBhvr>
                                        <p:cTn id="273" dur="1" fill="hold">
                                          <p:stCondLst>
                                            <p:cond delay="0"/>
                                          </p:stCondLst>
                                        </p:cTn>
                                        <p:tgtEl>
                                          <p:spTgt spid="2334156"/>
                                        </p:tgtEl>
                                        <p:attrNameLst>
                                          <p:attrName>style.visibility</p:attrName>
                                        </p:attrNameLst>
                                      </p:cBhvr>
                                      <p:to>
                                        <p:strVal val="visible"/>
                                      </p:to>
                                    </p:set>
                                    <p:animEffect transition="in" filter="dissolve">
                                      <p:cBhvr>
                                        <p:cTn id="274" dur="500"/>
                                        <p:tgtEl>
                                          <p:spTgt spid="2334156"/>
                                        </p:tgtEl>
                                      </p:cBhvr>
                                    </p:animEffect>
                                  </p:childTnLst>
                                </p:cTn>
                              </p:par>
                              <p:par>
                                <p:cTn id="275" presetID="9" presetClass="entr" presetSubtype="0" fill="hold" nodeType="withEffect">
                                  <p:stCondLst>
                                    <p:cond delay="0"/>
                                  </p:stCondLst>
                                  <p:childTnLst>
                                    <p:set>
                                      <p:cBhvr>
                                        <p:cTn id="276" dur="1" fill="hold">
                                          <p:stCondLst>
                                            <p:cond delay="0"/>
                                          </p:stCondLst>
                                        </p:cTn>
                                        <p:tgtEl>
                                          <p:spTgt spid="3"/>
                                        </p:tgtEl>
                                        <p:attrNameLst>
                                          <p:attrName>style.visibility</p:attrName>
                                        </p:attrNameLst>
                                      </p:cBhvr>
                                      <p:to>
                                        <p:strVal val="visible"/>
                                      </p:to>
                                    </p:set>
                                    <p:animEffect transition="in" filter="dissolve">
                                      <p:cBhvr>
                                        <p:cTn id="277" dur="500"/>
                                        <p:tgtEl>
                                          <p:spTgt spid="3"/>
                                        </p:tgtEl>
                                      </p:cBhvr>
                                    </p:animEffect>
                                  </p:childTnLst>
                                </p:cTn>
                              </p:par>
                              <p:par>
                                <p:cTn id="278" presetID="9" presetClass="entr" presetSubtype="0" fill="hold" grpId="0" nodeType="withEffect">
                                  <p:stCondLst>
                                    <p:cond delay="0"/>
                                  </p:stCondLst>
                                  <p:childTnLst>
                                    <p:set>
                                      <p:cBhvr>
                                        <p:cTn id="279" dur="1" fill="hold">
                                          <p:stCondLst>
                                            <p:cond delay="0"/>
                                          </p:stCondLst>
                                        </p:cTn>
                                        <p:tgtEl>
                                          <p:spTgt spid="2334165"/>
                                        </p:tgtEl>
                                        <p:attrNameLst>
                                          <p:attrName>style.visibility</p:attrName>
                                        </p:attrNameLst>
                                      </p:cBhvr>
                                      <p:to>
                                        <p:strVal val="visible"/>
                                      </p:to>
                                    </p:set>
                                    <p:animEffect transition="in" filter="dissolve">
                                      <p:cBhvr>
                                        <p:cTn id="280" dur="500"/>
                                        <p:tgtEl>
                                          <p:spTgt spid="2334165"/>
                                        </p:tgtEl>
                                      </p:cBhvr>
                                    </p:animEffect>
                                  </p:childTnLst>
                                </p:cTn>
                              </p:par>
                              <p:par>
                                <p:cTn id="281" presetID="9" presetClass="entr" presetSubtype="0" fill="hold" grpId="0" nodeType="withEffect">
                                  <p:stCondLst>
                                    <p:cond delay="0"/>
                                  </p:stCondLst>
                                  <p:childTnLst>
                                    <p:set>
                                      <p:cBhvr>
                                        <p:cTn id="282" dur="1" fill="hold">
                                          <p:stCondLst>
                                            <p:cond delay="0"/>
                                          </p:stCondLst>
                                        </p:cTn>
                                        <p:tgtEl>
                                          <p:spTgt spid="2334166"/>
                                        </p:tgtEl>
                                        <p:attrNameLst>
                                          <p:attrName>style.visibility</p:attrName>
                                        </p:attrNameLst>
                                      </p:cBhvr>
                                      <p:to>
                                        <p:strVal val="visible"/>
                                      </p:to>
                                    </p:set>
                                    <p:animEffect transition="in" filter="dissolve">
                                      <p:cBhvr>
                                        <p:cTn id="283" dur="500"/>
                                        <p:tgtEl>
                                          <p:spTgt spid="2334166"/>
                                        </p:tgtEl>
                                      </p:cBhvr>
                                    </p:animEffect>
                                  </p:childTnLst>
                                </p:cTn>
                              </p:par>
                              <p:par>
                                <p:cTn id="284" presetID="9" presetClass="entr" presetSubtype="0" fill="hold" nodeType="withEffect">
                                  <p:stCondLst>
                                    <p:cond delay="0"/>
                                  </p:stCondLst>
                                  <p:childTnLst>
                                    <p:set>
                                      <p:cBhvr>
                                        <p:cTn id="285" dur="1" fill="hold">
                                          <p:stCondLst>
                                            <p:cond delay="0"/>
                                          </p:stCondLst>
                                        </p:cTn>
                                        <p:tgtEl>
                                          <p:spTgt spid="2334167"/>
                                        </p:tgtEl>
                                        <p:attrNameLst>
                                          <p:attrName>style.visibility</p:attrName>
                                        </p:attrNameLst>
                                      </p:cBhvr>
                                      <p:to>
                                        <p:strVal val="visible"/>
                                      </p:to>
                                    </p:set>
                                    <p:animEffect transition="in" filter="dissolve">
                                      <p:cBhvr>
                                        <p:cTn id="286" dur="500"/>
                                        <p:tgtEl>
                                          <p:spTgt spid="2334167"/>
                                        </p:tgtEl>
                                      </p:cBhvr>
                                    </p:animEffect>
                                  </p:childTnLst>
                                </p:cTn>
                              </p:par>
                              <p:par>
                                <p:cTn id="287" presetID="9" presetClass="entr" presetSubtype="0" fill="hold" nodeType="withEffect">
                                  <p:stCondLst>
                                    <p:cond delay="0"/>
                                  </p:stCondLst>
                                  <p:childTnLst>
                                    <p:set>
                                      <p:cBhvr>
                                        <p:cTn id="288" dur="1" fill="hold">
                                          <p:stCondLst>
                                            <p:cond delay="0"/>
                                          </p:stCondLst>
                                        </p:cTn>
                                        <p:tgtEl>
                                          <p:spTgt spid="2334168"/>
                                        </p:tgtEl>
                                        <p:attrNameLst>
                                          <p:attrName>style.visibility</p:attrName>
                                        </p:attrNameLst>
                                      </p:cBhvr>
                                      <p:to>
                                        <p:strVal val="visible"/>
                                      </p:to>
                                    </p:set>
                                    <p:animEffect transition="in" filter="dissolve">
                                      <p:cBhvr>
                                        <p:cTn id="289" dur="500"/>
                                        <p:tgtEl>
                                          <p:spTgt spid="2334168"/>
                                        </p:tgtEl>
                                      </p:cBhvr>
                                    </p:animEffect>
                                  </p:childTnLst>
                                </p:cTn>
                              </p:par>
                              <p:par>
                                <p:cTn id="290" presetID="9" presetClass="entr" presetSubtype="0" fill="hold" nodeType="withEffect">
                                  <p:stCondLst>
                                    <p:cond delay="0"/>
                                  </p:stCondLst>
                                  <p:childTnLst>
                                    <p:set>
                                      <p:cBhvr>
                                        <p:cTn id="291" dur="1" fill="hold">
                                          <p:stCondLst>
                                            <p:cond delay="0"/>
                                          </p:stCondLst>
                                        </p:cTn>
                                        <p:tgtEl>
                                          <p:spTgt spid="2334169"/>
                                        </p:tgtEl>
                                        <p:attrNameLst>
                                          <p:attrName>style.visibility</p:attrName>
                                        </p:attrNameLst>
                                      </p:cBhvr>
                                      <p:to>
                                        <p:strVal val="visible"/>
                                      </p:to>
                                    </p:set>
                                    <p:animEffect transition="in" filter="dissolve">
                                      <p:cBhvr>
                                        <p:cTn id="292" dur="500"/>
                                        <p:tgtEl>
                                          <p:spTgt spid="2334169"/>
                                        </p:tgtEl>
                                      </p:cBhvr>
                                    </p:animEffect>
                                  </p:childTnLst>
                                </p:cTn>
                              </p:par>
                              <p:par>
                                <p:cTn id="293" presetID="9" presetClass="entr" presetSubtype="0" fill="hold" grpId="0" nodeType="withEffect">
                                  <p:stCondLst>
                                    <p:cond delay="0"/>
                                  </p:stCondLst>
                                  <p:childTnLst>
                                    <p:set>
                                      <p:cBhvr>
                                        <p:cTn id="294" dur="1" fill="hold">
                                          <p:stCondLst>
                                            <p:cond delay="0"/>
                                          </p:stCondLst>
                                        </p:cTn>
                                        <p:tgtEl>
                                          <p:spTgt spid="2334170"/>
                                        </p:tgtEl>
                                        <p:attrNameLst>
                                          <p:attrName>style.visibility</p:attrName>
                                        </p:attrNameLst>
                                      </p:cBhvr>
                                      <p:to>
                                        <p:strVal val="visible"/>
                                      </p:to>
                                    </p:set>
                                    <p:animEffect transition="in" filter="dissolve">
                                      <p:cBhvr>
                                        <p:cTn id="295" dur="500"/>
                                        <p:tgtEl>
                                          <p:spTgt spid="2334170"/>
                                        </p:tgtEl>
                                      </p:cBhvr>
                                    </p:animEffect>
                                  </p:childTnLst>
                                </p:cTn>
                              </p:par>
                              <p:par>
                                <p:cTn id="296" presetID="9" presetClass="entr" presetSubtype="0" fill="hold" grpId="0" nodeType="withEffect">
                                  <p:stCondLst>
                                    <p:cond delay="0"/>
                                  </p:stCondLst>
                                  <p:childTnLst>
                                    <p:set>
                                      <p:cBhvr>
                                        <p:cTn id="297" dur="1" fill="hold">
                                          <p:stCondLst>
                                            <p:cond delay="0"/>
                                          </p:stCondLst>
                                        </p:cTn>
                                        <p:tgtEl>
                                          <p:spTgt spid="2334171"/>
                                        </p:tgtEl>
                                        <p:attrNameLst>
                                          <p:attrName>style.visibility</p:attrName>
                                        </p:attrNameLst>
                                      </p:cBhvr>
                                      <p:to>
                                        <p:strVal val="visible"/>
                                      </p:to>
                                    </p:set>
                                    <p:animEffect transition="in" filter="dissolve">
                                      <p:cBhvr>
                                        <p:cTn id="298" dur="500"/>
                                        <p:tgtEl>
                                          <p:spTgt spid="2334171"/>
                                        </p:tgtEl>
                                      </p:cBhvr>
                                    </p:animEffect>
                                  </p:childTnLst>
                                </p:cTn>
                              </p:par>
                              <p:par>
                                <p:cTn id="299" presetID="9" presetClass="entr" presetSubtype="0" fill="hold" grpId="0" nodeType="withEffect">
                                  <p:stCondLst>
                                    <p:cond delay="0"/>
                                  </p:stCondLst>
                                  <p:childTnLst>
                                    <p:set>
                                      <p:cBhvr>
                                        <p:cTn id="300" dur="1" fill="hold">
                                          <p:stCondLst>
                                            <p:cond delay="0"/>
                                          </p:stCondLst>
                                        </p:cTn>
                                        <p:tgtEl>
                                          <p:spTgt spid="2334172"/>
                                        </p:tgtEl>
                                        <p:attrNameLst>
                                          <p:attrName>style.visibility</p:attrName>
                                        </p:attrNameLst>
                                      </p:cBhvr>
                                      <p:to>
                                        <p:strVal val="visible"/>
                                      </p:to>
                                    </p:set>
                                    <p:animEffect transition="in" filter="dissolve">
                                      <p:cBhvr>
                                        <p:cTn id="301" dur="500"/>
                                        <p:tgtEl>
                                          <p:spTgt spid="2334172"/>
                                        </p:tgtEl>
                                      </p:cBhvr>
                                    </p:animEffect>
                                  </p:childTnLst>
                                </p:cTn>
                              </p:par>
                              <p:par>
                                <p:cTn id="302" presetID="9" presetClass="entr" presetSubtype="0" fill="hold" grpId="0" nodeType="withEffect">
                                  <p:stCondLst>
                                    <p:cond delay="0"/>
                                  </p:stCondLst>
                                  <p:childTnLst>
                                    <p:set>
                                      <p:cBhvr>
                                        <p:cTn id="303" dur="1" fill="hold">
                                          <p:stCondLst>
                                            <p:cond delay="0"/>
                                          </p:stCondLst>
                                        </p:cTn>
                                        <p:tgtEl>
                                          <p:spTgt spid="2334173"/>
                                        </p:tgtEl>
                                        <p:attrNameLst>
                                          <p:attrName>style.visibility</p:attrName>
                                        </p:attrNameLst>
                                      </p:cBhvr>
                                      <p:to>
                                        <p:strVal val="visible"/>
                                      </p:to>
                                    </p:set>
                                    <p:animEffect transition="in" filter="dissolve">
                                      <p:cBhvr>
                                        <p:cTn id="304" dur="500"/>
                                        <p:tgtEl>
                                          <p:spTgt spid="2334173"/>
                                        </p:tgtEl>
                                      </p:cBhvr>
                                    </p:animEffect>
                                  </p:childTnLst>
                                </p:cTn>
                              </p:par>
                              <p:par>
                                <p:cTn id="305" presetID="9" presetClass="entr" presetSubtype="0" fill="hold" grpId="0" nodeType="withEffect">
                                  <p:stCondLst>
                                    <p:cond delay="0"/>
                                  </p:stCondLst>
                                  <p:childTnLst>
                                    <p:set>
                                      <p:cBhvr>
                                        <p:cTn id="306" dur="1" fill="hold">
                                          <p:stCondLst>
                                            <p:cond delay="0"/>
                                          </p:stCondLst>
                                        </p:cTn>
                                        <p:tgtEl>
                                          <p:spTgt spid="2334175"/>
                                        </p:tgtEl>
                                        <p:attrNameLst>
                                          <p:attrName>style.visibility</p:attrName>
                                        </p:attrNameLst>
                                      </p:cBhvr>
                                      <p:to>
                                        <p:strVal val="visible"/>
                                      </p:to>
                                    </p:set>
                                    <p:animEffect transition="in" filter="dissolve">
                                      <p:cBhvr>
                                        <p:cTn id="307" dur="500"/>
                                        <p:tgtEl>
                                          <p:spTgt spid="2334175"/>
                                        </p:tgtEl>
                                      </p:cBhvr>
                                    </p:animEffect>
                                  </p:childTnLst>
                                </p:cTn>
                              </p:par>
                              <p:par>
                                <p:cTn id="308" presetID="9" presetClass="entr" presetSubtype="0" fill="hold" grpId="0" nodeType="withEffect">
                                  <p:stCondLst>
                                    <p:cond delay="0"/>
                                  </p:stCondLst>
                                  <p:childTnLst>
                                    <p:set>
                                      <p:cBhvr>
                                        <p:cTn id="309" dur="1" fill="hold">
                                          <p:stCondLst>
                                            <p:cond delay="0"/>
                                          </p:stCondLst>
                                        </p:cTn>
                                        <p:tgtEl>
                                          <p:spTgt spid="2334176"/>
                                        </p:tgtEl>
                                        <p:attrNameLst>
                                          <p:attrName>style.visibility</p:attrName>
                                        </p:attrNameLst>
                                      </p:cBhvr>
                                      <p:to>
                                        <p:strVal val="visible"/>
                                      </p:to>
                                    </p:set>
                                    <p:animEffect transition="in" filter="dissolve">
                                      <p:cBhvr>
                                        <p:cTn id="310" dur="500"/>
                                        <p:tgtEl>
                                          <p:spTgt spid="2334176"/>
                                        </p:tgtEl>
                                      </p:cBhvr>
                                    </p:animEffect>
                                  </p:childTnLst>
                                </p:cTn>
                              </p:par>
                              <p:par>
                                <p:cTn id="311" presetID="9" presetClass="entr" presetSubtype="0" fill="hold" grpId="0" nodeType="withEffect">
                                  <p:stCondLst>
                                    <p:cond delay="0"/>
                                  </p:stCondLst>
                                  <p:childTnLst>
                                    <p:set>
                                      <p:cBhvr>
                                        <p:cTn id="312" dur="1" fill="hold">
                                          <p:stCondLst>
                                            <p:cond delay="0"/>
                                          </p:stCondLst>
                                        </p:cTn>
                                        <p:tgtEl>
                                          <p:spTgt spid="2334177"/>
                                        </p:tgtEl>
                                        <p:attrNameLst>
                                          <p:attrName>style.visibility</p:attrName>
                                        </p:attrNameLst>
                                      </p:cBhvr>
                                      <p:to>
                                        <p:strVal val="visible"/>
                                      </p:to>
                                    </p:set>
                                    <p:animEffect transition="in" filter="dissolve">
                                      <p:cBhvr>
                                        <p:cTn id="313" dur="500"/>
                                        <p:tgtEl>
                                          <p:spTgt spid="2334177"/>
                                        </p:tgtEl>
                                      </p:cBhvr>
                                    </p:animEffect>
                                  </p:childTnLst>
                                </p:cTn>
                              </p:par>
                              <p:par>
                                <p:cTn id="314" presetID="9" presetClass="entr" presetSubtype="0" fill="hold" grpId="0" nodeType="withEffect">
                                  <p:stCondLst>
                                    <p:cond delay="0"/>
                                  </p:stCondLst>
                                  <p:childTnLst>
                                    <p:set>
                                      <p:cBhvr>
                                        <p:cTn id="315" dur="1" fill="hold">
                                          <p:stCondLst>
                                            <p:cond delay="0"/>
                                          </p:stCondLst>
                                        </p:cTn>
                                        <p:tgtEl>
                                          <p:spTgt spid="2334178"/>
                                        </p:tgtEl>
                                        <p:attrNameLst>
                                          <p:attrName>style.visibility</p:attrName>
                                        </p:attrNameLst>
                                      </p:cBhvr>
                                      <p:to>
                                        <p:strVal val="visible"/>
                                      </p:to>
                                    </p:set>
                                    <p:animEffect transition="in" filter="dissolve">
                                      <p:cBhvr>
                                        <p:cTn id="316" dur="500"/>
                                        <p:tgtEl>
                                          <p:spTgt spid="2334178"/>
                                        </p:tgtEl>
                                      </p:cBhvr>
                                    </p:animEffect>
                                  </p:childTnLst>
                                </p:cTn>
                              </p:par>
                              <p:par>
                                <p:cTn id="317" presetID="9" presetClass="entr" presetSubtype="0" fill="hold" nodeType="withEffect">
                                  <p:stCondLst>
                                    <p:cond delay="0"/>
                                  </p:stCondLst>
                                  <p:childTnLst>
                                    <p:set>
                                      <p:cBhvr>
                                        <p:cTn id="318" dur="1" fill="hold">
                                          <p:stCondLst>
                                            <p:cond delay="0"/>
                                          </p:stCondLst>
                                        </p:cTn>
                                        <p:tgtEl>
                                          <p:spTgt spid="2334179"/>
                                        </p:tgtEl>
                                        <p:attrNameLst>
                                          <p:attrName>style.visibility</p:attrName>
                                        </p:attrNameLst>
                                      </p:cBhvr>
                                      <p:to>
                                        <p:strVal val="visible"/>
                                      </p:to>
                                    </p:set>
                                    <p:animEffect transition="in" filter="dissolve">
                                      <p:cBhvr>
                                        <p:cTn id="319" dur="500"/>
                                        <p:tgtEl>
                                          <p:spTgt spid="2334179"/>
                                        </p:tgtEl>
                                      </p:cBhvr>
                                    </p:animEffect>
                                  </p:childTnLst>
                                </p:cTn>
                              </p:par>
                              <p:par>
                                <p:cTn id="320" presetID="9" presetClass="entr" presetSubtype="0" fill="hold" nodeType="withEffect">
                                  <p:stCondLst>
                                    <p:cond delay="0"/>
                                  </p:stCondLst>
                                  <p:childTnLst>
                                    <p:set>
                                      <p:cBhvr>
                                        <p:cTn id="321" dur="1" fill="hold">
                                          <p:stCondLst>
                                            <p:cond delay="0"/>
                                          </p:stCondLst>
                                        </p:cTn>
                                        <p:tgtEl>
                                          <p:spTgt spid="2334180"/>
                                        </p:tgtEl>
                                        <p:attrNameLst>
                                          <p:attrName>style.visibility</p:attrName>
                                        </p:attrNameLst>
                                      </p:cBhvr>
                                      <p:to>
                                        <p:strVal val="visible"/>
                                      </p:to>
                                    </p:set>
                                    <p:animEffect transition="in" filter="dissolve">
                                      <p:cBhvr>
                                        <p:cTn id="322" dur="500"/>
                                        <p:tgtEl>
                                          <p:spTgt spid="2334180"/>
                                        </p:tgtEl>
                                      </p:cBhvr>
                                    </p:animEffect>
                                  </p:childTnLst>
                                </p:cTn>
                              </p:par>
                              <p:par>
                                <p:cTn id="323" presetID="9" presetClass="entr" presetSubtype="0" fill="hold" nodeType="withEffect">
                                  <p:stCondLst>
                                    <p:cond delay="0"/>
                                  </p:stCondLst>
                                  <p:childTnLst>
                                    <p:set>
                                      <p:cBhvr>
                                        <p:cTn id="324" dur="1" fill="hold">
                                          <p:stCondLst>
                                            <p:cond delay="0"/>
                                          </p:stCondLst>
                                        </p:cTn>
                                        <p:tgtEl>
                                          <p:spTgt spid="2334181"/>
                                        </p:tgtEl>
                                        <p:attrNameLst>
                                          <p:attrName>style.visibility</p:attrName>
                                        </p:attrNameLst>
                                      </p:cBhvr>
                                      <p:to>
                                        <p:strVal val="visible"/>
                                      </p:to>
                                    </p:set>
                                    <p:animEffect transition="in" filter="dissolve">
                                      <p:cBhvr>
                                        <p:cTn id="325" dur="500"/>
                                        <p:tgtEl>
                                          <p:spTgt spid="2334181"/>
                                        </p:tgtEl>
                                      </p:cBhvr>
                                    </p:animEffect>
                                  </p:childTnLst>
                                </p:cTn>
                              </p:par>
                              <p:par>
                                <p:cTn id="326" presetID="9" presetClass="entr" presetSubtype="0" fill="hold" nodeType="withEffect">
                                  <p:stCondLst>
                                    <p:cond delay="0"/>
                                  </p:stCondLst>
                                  <p:childTnLst>
                                    <p:set>
                                      <p:cBhvr>
                                        <p:cTn id="327" dur="1" fill="hold">
                                          <p:stCondLst>
                                            <p:cond delay="0"/>
                                          </p:stCondLst>
                                        </p:cTn>
                                        <p:tgtEl>
                                          <p:spTgt spid="2334182"/>
                                        </p:tgtEl>
                                        <p:attrNameLst>
                                          <p:attrName>style.visibility</p:attrName>
                                        </p:attrNameLst>
                                      </p:cBhvr>
                                      <p:to>
                                        <p:strVal val="visible"/>
                                      </p:to>
                                    </p:set>
                                    <p:animEffect transition="in" filter="dissolve">
                                      <p:cBhvr>
                                        <p:cTn id="328" dur="500"/>
                                        <p:tgtEl>
                                          <p:spTgt spid="2334182"/>
                                        </p:tgtEl>
                                      </p:cBhvr>
                                    </p:animEffect>
                                  </p:childTnLst>
                                </p:cTn>
                              </p:par>
                              <p:par>
                                <p:cTn id="329" presetID="9" presetClass="entr" presetSubtype="0" fill="hold" nodeType="withEffect">
                                  <p:stCondLst>
                                    <p:cond delay="0"/>
                                  </p:stCondLst>
                                  <p:childTnLst>
                                    <p:set>
                                      <p:cBhvr>
                                        <p:cTn id="330" dur="1" fill="hold">
                                          <p:stCondLst>
                                            <p:cond delay="0"/>
                                          </p:stCondLst>
                                        </p:cTn>
                                        <p:tgtEl>
                                          <p:spTgt spid="2334183"/>
                                        </p:tgtEl>
                                        <p:attrNameLst>
                                          <p:attrName>style.visibility</p:attrName>
                                        </p:attrNameLst>
                                      </p:cBhvr>
                                      <p:to>
                                        <p:strVal val="visible"/>
                                      </p:to>
                                    </p:set>
                                    <p:animEffect transition="in" filter="dissolve">
                                      <p:cBhvr>
                                        <p:cTn id="331" dur="500"/>
                                        <p:tgtEl>
                                          <p:spTgt spid="2334183"/>
                                        </p:tgtEl>
                                      </p:cBhvr>
                                    </p:animEffect>
                                  </p:childTnLst>
                                </p:cTn>
                              </p:par>
                              <p:par>
                                <p:cTn id="332" presetID="9" presetClass="entr" presetSubtype="0" fill="hold" nodeType="withEffect">
                                  <p:stCondLst>
                                    <p:cond delay="0"/>
                                  </p:stCondLst>
                                  <p:childTnLst>
                                    <p:set>
                                      <p:cBhvr>
                                        <p:cTn id="333" dur="1" fill="hold">
                                          <p:stCondLst>
                                            <p:cond delay="0"/>
                                          </p:stCondLst>
                                        </p:cTn>
                                        <p:tgtEl>
                                          <p:spTgt spid="2334184"/>
                                        </p:tgtEl>
                                        <p:attrNameLst>
                                          <p:attrName>style.visibility</p:attrName>
                                        </p:attrNameLst>
                                      </p:cBhvr>
                                      <p:to>
                                        <p:strVal val="visible"/>
                                      </p:to>
                                    </p:set>
                                    <p:animEffect transition="in" filter="dissolve">
                                      <p:cBhvr>
                                        <p:cTn id="334" dur="500"/>
                                        <p:tgtEl>
                                          <p:spTgt spid="2334184"/>
                                        </p:tgtEl>
                                      </p:cBhvr>
                                    </p:animEffect>
                                  </p:childTnLst>
                                </p:cTn>
                              </p:par>
                              <p:par>
                                <p:cTn id="335" presetID="9" presetClass="entr" presetSubtype="0" fill="hold" nodeType="withEffect">
                                  <p:stCondLst>
                                    <p:cond delay="0"/>
                                  </p:stCondLst>
                                  <p:childTnLst>
                                    <p:set>
                                      <p:cBhvr>
                                        <p:cTn id="336" dur="1" fill="hold">
                                          <p:stCondLst>
                                            <p:cond delay="0"/>
                                          </p:stCondLst>
                                        </p:cTn>
                                        <p:tgtEl>
                                          <p:spTgt spid="2334185"/>
                                        </p:tgtEl>
                                        <p:attrNameLst>
                                          <p:attrName>style.visibility</p:attrName>
                                        </p:attrNameLst>
                                      </p:cBhvr>
                                      <p:to>
                                        <p:strVal val="visible"/>
                                      </p:to>
                                    </p:set>
                                    <p:animEffect transition="in" filter="dissolve">
                                      <p:cBhvr>
                                        <p:cTn id="337" dur="500"/>
                                        <p:tgtEl>
                                          <p:spTgt spid="2334185"/>
                                        </p:tgtEl>
                                      </p:cBhvr>
                                    </p:animEffect>
                                  </p:childTnLst>
                                </p:cTn>
                              </p:par>
                              <p:par>
                                <p:cTn id="338" presetID="9" presetClass="entr" presetSubtype="0" fill="hold" nodeType="withEffect">
                                  <p:stCondLst>
                                    <p:cond delay="0"/>
                                  </p:stCondLst>
                                  <p:childTnLst>
                                    <p:set>
                                      <p:cBhvr>
                                        <p:cTn id="339" dur="1" fill="hold">
                                          <p:stCondLst>
                                            <p:cond delay="0"/>
                                          </p:stCondLst>
                                        </p:cTn>
                                        <p:tgtEl>
                                          <p:spTgt spid="2334186"/>
                                        </p:tgtEl>
                                        <p:attrNameLst>
                                          <p:attrName>style.visibility</p:attrName>
                                        </p:attrNameLst>
                                      </p:cBhvr>
                                      <p:to>
                                        <p:strVal val="visible"/>
                                      </p:to>
                                    </p:set>
                                    <p:animEffect transition="in" filter="dissolve">
                                      <p:cBhvr>
                                        <p:cTn id="340" dur="500"/>
                                        <p:tgtEl>
                                          <p:spTgt spid="2334186"/>
                                        </p:tgtEl>
                                      </p:cBhvr>
                                    </p:animEffect>
                                  </p:childTnLst>
                                </p:cTn>
                              </p:par>
                            </p:childTnLst>
                          </p:cTn>
                        </p:par>
                      </p:childTnLst>
                    </p:cTn>
                  </p:par>
                  <p:par>
                    <p:cTn id="341" fill="hold">
                      <p:stCondLst>
                        <p:cond delay="indefinite"/>
                      </p:stCondLst>
                      <p:childTnLst>
                        <p:par>
                          <p:cTn id="342" fill="hold">
                            <p:stCondLst>
                              <p:cond delay="0"/>
                            </p:stCondLst>
                            <p:childTnLst>
                              <p:par>
                                <p:cTn id="343" presetID="9" presetClass="entr" presetSubtype="0" fill="hold" nodeType="clickEffect">
                                  <p:stCondLst>
                                    <p:cond delay="0"/>
                                  </p:stCondLst>
                                  <p:childTnLst>
                                    <p:set>
                                      <p:cBhvr>
                                        <p:cTn id="344" dur="1" fill="hold">
                                          <p:stCondLst>
                                            <p:cond delay="0"/>
                                          </p:stCondLst>
                                        </p:cTn>
                                        <p:tgtEl>
                                          <p:spTgt spid="4"/>
                                        </p:tgtEl>
                                        <p:attrNameLst>
                                          <p:attrName>style.visibility</p:attrName>
                                        </p:attrNameLst>
                                      </p:cBhvr>
                                      <p:to>
                                        <p:strVal val="visible"/>
                                      </p:to>
                                    </p:set>
                                    <p:animEffect transition="in" filter="dissolve">
                                      <p:cBhvr>
                                        <p:cTn id="345" dur="500"/>
                                        <p:tgtEl>
                                          <p:spTgt spid="4"/>
                                        </p:tgtEl>
                                      </p:cBhvr>
                                    </p:animEffect>
                                  </p:childTnLst>
                                </p:cTn>
                              </p:par>
                            </p:childTnLst>
                          </p:cTn>
                        </p:par>
                      </p:childTnLst>
                    </p:cTn>
                  </p:par>
                  <p:par>
                    <p:cTn id="346" fill="hold">
                      <p:stCondLst>
                        <p:cond delay="indefinite"/>
                      </p:stCondLst>
                      <p:childTnLst>
                        <p:par>
                          <p:cTn id="347" fill="hold">
                            <p:stCondLst>
                              <p:cond delay="0"/>
                            </p:stCondLst>
                            <p:childTnLst>
                              <p:par>
                                <p:cTn id="348" presetID="22" presetClass="entr" presetSubtype="1" fill="hold" nodeType="clickEffect">
                                  <p:stCondLst>
                                    <p:cond delay="0"/>
                                  </p:stCondLst>
                                  <p:childTnLst>
                                    <p:set>
                                      <p:cBhvr>
                                        <p:cTn id="349" dur="1" fill="hold">
                                          <p:stCondLst>
                                            <p:cond delay="0"/>
                                          </p:stCondLst>
                                        </p:cTn>
                                        <p:tgtEl>
                                          <p:spTgt spid="2334109"/>
                                        </p:tgtEl>
                                        <p:attrNameLst>
                                          <p:attrName>style.visibility</p:attrName>
                                        </p:attrNameLst>
                                      </p:cBhvr>
                                      <p:to>
                                        <p:strVal val="visible"/>
                                      </p:to>
                                    </p:set>
                                    <p:animEffect transition="in" filter="wipe(up)">
                                      <p:cBhvr>
                                        <p:cTn id="350" dur="500"/>
                                        <p:tgtEl>
                                          <p:spTgt spid="2334109"/>
                                        </p:tgtEl>
                                      </p:cBhvr>
                                    </p:animEffect>
                                  </p:childTnLst>
                                </p:cTn>
                              </p:par>
                            </p:childTnLst>
                          </p:cTn>
                        </p:par>
                        <p:par>
                          <p:cTn id="351" fill="hold">
                            <p:stCondLst>
                              <p:cond delay="500"/>
                            </p:stCondLst>
                            <p:childTnLst>
                              <p:par>
                                <p:cTn id="352" presetID="22" presetClass="entr" presetSubtype="8" fill="hold" nodeType="afterEffect">
                                  <p:stCondLst>
                                    <p:cond delay="0"/>
                                  </p:stCondLst>
                                  <p:childTnLst>
                                    <p:set>
                                      <p:cBhvr>
                                        <p:cTn id="353" dur="1" fill="hold">
                                          <p:stCondLst>
                                            <p:cond delay="0"/>
                                          </p:stCondLst>
                                        </p:cTn>
                                        <p:tgtEl>
                                          <p:spTgt spid="2334110"/>
                                        </p:tgtEl>
                                        <p:attrNameLst>
                                          <p:attrName>style.visibility</p:attrName>
                                        </p:attrNameLst>
                                      </p:cBhvr>
                                      <p:to>
                                        <p:strVal val="visible"/>
                                      </p:to>
                                    </p:set>
                                    <p:animEffect transition="in" filter="wipe(left)">
                                      <p:cBhvr>
                                        <p:cTn id="354" dur="500"/>
                                        <p:tgtEl>
                                          <p:spTgt spid="2334110"/>
                                        </p:tgtEl>
                                      </p:cBhvr>
                                    </p:animEffect>
                                  </p:childTnLst>
                                </p:cTn>
                              </p:par>
                            </p:childTnLst>
                          </p:cTn>
                        </p:par>
                      </p:childTnLst>
                    </p:cTn>
                  </p:par>
                  <p:par>
                    <p:cTn id="355" fill="hold">
                      <p:stCondLst>
                        <p:cond delay="indefinite"/>
                      </p:stCondLst>
                      <p:childTnLst>
                        <p:par>
                          <p:cTn id="356" fill="hold">
                            <p:stCondLst>
                              <p:cond delay="0"/>
                            </p:stCondLst>
                            <p:childTnLst>
                              <p:par>
                                <p:cTn id="357" presetID="22" presetClass="entr" presetSubtype="1" fill="hold" nodeType="clickEffect">
                                  <p:stCondLst>
                                    <p:cond delay="0"/>
                                  </p:stCondLst>
                                  <p:childTnLst>
                                    <p:set>
                                      <p:cBhvr>
                                        <p:cTn id="358" dur="1" fill="hold">
                                          <p:stCondLst>
                                            <p:cond delay="0"/>
                                          </p:stCondLst>
                                        </p:cTn>
                                        <p:tgtEl>
                                          <p:spTgt spid="2334163"/>
                                        </p:tgtEl>
                                        <p:attrNameLst>
                                          <p:attrName>style.visibility</p:attrName>
                                        </p:attrNameLst>
                                      </p:cBhvr>
                                      <p:to>
                                        <p:strVal val="visible"/>
                                      </p:to>
                                    </p:set>
                                    <p:animEffect transition="in" filter="wipe(up)">
                                      <p:cBhvr>
                                        <p:cTn id="359" dur="500"/>
                                        <p:tgtEl>
                                          <p:spTgt spid="2334163"/>
                                        </p:tgtEl>
                                      </p:cBhvr>
                                    </p:animEffect>
                                  </p:childTnLst>
                                </p:cTn>
                              </p:par>
                            </p:childTnLst>
                          </p:cTn>
                        </p:par>
                        <p:par>
                          <p:cTn id="360" fill="hold">
                            <p:stCondLst>
                              <p:cond delay="500"/>
                            </p:stCondLst>
                            <p:childTnLst>
                              <p:par>
                                <p:cTn id="361" presetID="22" presetClass="entr" presetSubtype="8" fill="hold" nodeType="afterEffect">
                                  <p:stCondLst>
                                    <p:cond delay="0"/>
                                  </p:stCondLst>
                                  <p:childTnLst>
                                    <p:set>
                                      <p:cBhvr>
                                        <p:cTn id="362" dur="1" fill="hold">
                                          <p:stCondLst>
                                            <p:cond delay="0"/>
                                          </p:stCondLst>
                                        </p:cTn>
                                        <p:tgtEl>
                                          <p:spTgt spid="2334164"/>
                                        </p:tgtEl>
                                        <p:attrNameLst>
                                          <p:attrName>style.visibility</p:attrName>
                                        </p:attrNameLst>
                                      </p:cBhvr>
                                      <p:to>
                                        <p:strVal val="visible"/>
                                      </p:to>
                                    </p:set>
                                    <p:animEffect transition="in" filter="wipe(left)">
                                      <p:cBhvr>
                                        <p:cTn id="363" dur="500"/>
                                        <p:tgtEl>
                                          <p:spTgt spid="2334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114" grpId="0" bldLvl="0" animBg="1"/>
      <p:bldP spid="2334113" grpId="0" bldLvl="0" animBg="1"/>
      <p:bldP spid="2333708" grpId="0" bldLvl="0" animBg="1"/>
      <p:bldP spid="2333709" grpId="0" bldLvl="0" animBg="1"/>
      <p:bldP spid="2333712" grpId="0"/>
      <p:bldP spid="2334048" grpId="0" bldLvl="0" animBg="1"/>
      <p:bldP spid="2334049" grpId="0"/>
      <p:bldP spid="2334051" grpId="0" bldLvl="0" animBg="1"/>
      <p:bldP spid="2334056" grpId="0" bldLvl="0" animBg="1"/>
      <p:bldP spid="2334067" grpId="0" bldLvl="0" animBg="1"/>
      <p:bldP spid="2334076" grpId="0" bldLvl="0" animBg="1"/>
      <p:bldP spid="2334082" grpId="0"/>
      <p:bldP spid="2334083" grpId="0"/>
      <p:bldP spid="2334084" grpId="0"/>
      <p:bldP spid="2334085" grpId="0"/>
      <p:bldP spid="2334086" grpId="0"/>
      <p:bldP spid="2334087" grpId="0"/>
      <p:bldP spid="2334091" grpId="0"/>
      <p:bldP spid="2334093" grpId="0"/>
      <p:bldP spid="2334111" grpId="0" bldLvl="0" animBg="1"/>
      <p:bldP spid="2334112" grpId="0" bldLvl="0" animBg="1"/>
      <p:bldP spid="2334115" grpId="0"/>
      <p:bldP spid="2334116" grpId="0" bldLvl="0" animBg="1"/>
      <p:bldP spid="2334117" grpId="0"/>
      <p:bldP spid="2334121" grpId="0" bldLvl="0" animBg="1"/>
      <p:bldP spid="2334130" grpId="0" bldLvl="0" animBg="1"/>
      <p:bldP spid="2334139" grpId="0" bldLvl="0" animBg="1"/>
      <p:bldP spid="2334145" grpId="0"/>
      <p:bldP spid="2334146" grpId="0"/>
      <p:bldP spid="2334147" grpId="0"/>
      <p:bldP spid="2334148" grpId="0"/>
      <p:bldP spid="2334149" grpId="0"/>
      <p:bldP spid="2334150" grpId="0"/>
      <p:bldP spid="2334151" grpId="0"/>
      <p:bldP spid="2334152" grpId="0"/>
      <p:bldP spid="2334165" grpId="0" bldLvl="0" animBg="1"/>
      <p:bldP spid="2334166" grpId="0" bldLvl="0" animBg="1"/>
      <p:bldP spid="2334170" grpId="0" bldLvl="0" animBg="1"/>
      <p:bldP spid="2334171" grpId="0" bldLvl="0" animBg="1"/>
      <p:bldP spid="2334172" grpId="0" bldLvl="0" animBg="1"/>
      <p:bldP spid="2334173" grpId="0" bldLvl="0" animBg="1"/>
      <p:bldP spid="2334175" grpId="0" bldLvl="0" animBg="1"/>
      <p:bldP spid="2334176" grpId="0" bldLvl="0" animBg="1"/>
      <p:bldP spid="2334177" grpId="0" bldLvl="0" animBg="1"/>
      <p:bldP spid="2334178" grpId="0" bldLvl="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4595" name="Rectangle 3"/>
          <p:cNvSpPr/>
          <p:nvPr/>
        </p:nvSpPr>
        <p:spPr>
          <a:xfrm>
            <a:off x="3597275" y="2690813"/>
            <a:ext cx="4862513" cy="341947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596" name="Text Box 4"/>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4.5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测量放大器的使用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0964" name="Text Box 5"/>
          <p:cNvSpPr txBox="1"/>
          <p:nvPr/>
        </p:nvSpPr>
        <p:spPr>
          <a:xfrm>
            <a:off x="287338" y="765175"/>
            <a:ext cx="5951537"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4.5.1 AD521</a:t>
            </a:r>
            <a:r>
              <a:rPr lang="zh-CN" altLang="en-US" sz="3600" b="1" dirty="0">
                <a:solidFill>
                  <a:srgbClr val="333399"/>
                </a:solidFill>
                <a:latin typeface="Times New Roman" panose="02020603050405020304" pitchFamily="18" charset="0"/>
              </a:rPr>
              <a:t>芯片的使用示例 </a:t>
            </a:r>
            <a:endParaRPr lang="zh-CN" altLang="en-US" sz="3600" b="1" dirty="0">
              <a:solidFill>
                <a:srgbClr val="333399"/>
              </a:solidFill>
              <a:latin typeface="Times New Roman" panose="02020603050405020304" pitchFamily="18" charset="0"/>
            </a:endParaRPr>
          </a:p>
        </p:txBody>
      </p:sp>
      <p:sp>
        <p:nvSpPr>
          <p:cNvPr id="40965" name="Text Box 6"/>
          <p:cNvSpPr txBox="1"/>
          <p:nvPr/>
        </p:nvSpPr>
        <p:spPr>
          <a:xfrm>
            <a:off x="439738" y="1449388"/>
            <a:ext cx="8056562" cy="1187450"/>
          </a:xfrm>
          <a:prstGeom prst="rect">
            <a:avLst/>
          </a:prstGeom>
          <a:solidFill>
            <a:srgbClr val="CCFFFF"/>
          </a:solidFill>
          <a:ln w="9525">
            <a:noFill/>
          </a:ln>
        </p:spPr>
        <p:txBody>
          <a:bodyPr>
            <a:spAutoFit/>
          </a:bodyPr>
          <a:p>
            <a:pPr eaLnBrk="1" hangingPunct="1"/>
            <a:r>
              <a:rPr lang="zh-CN" altLang="en-US" sz="2400" b="1" dirty="0">
                <a:solidFill>
                  <a:schemeClr val="tx1"/>
                </a:solidFill>
                <a:latin typeface="黑体" panose="02010609060101010101" pitchFamily="49" charset="-122"/>
                <a:ea typeface="黑体" panose="02010609060101010101" pitchFamily="49" charset="-122"/>
              </a:rPr>
              <a:t>当使用</a:t>
            </a:r>
            <a:r>
              <a:rPr lang="en-US" altLang="zh-CN" sz="2400" b="1" dirty="0">
                <a:solidFill>
                  <a:schemeClr val="tx1"/>
                </a:solidFill>
                <a:latin typeface="黑体" panose="02010609060101010101" pitchFamily="49" charset="-122"/>
                <a:ea typeface="黑体" panose="02010609060101010101" pitchFamily="49" charset="-122"/>
              </a:rPr>
              <a:t>AD521</a:t>
            </a:r>
            <a:r>
              <a:rPr lang="zh-CN" altLang="en-US" sz="2400" b="1" dirty="0">
                <a:solidFill>
                  <a:schemeClr val="tx1"/>
                </a:solidFill>
                <a:latin typeface="黑体" panose="02010609060101010101" pitchFamily="49" charset="-122"/>
                <a:ea typeface="黑体" panose="02010609060101010101" pitchFamily="49" charset="-122"/>
              </a:rPr>
              <a:t>（或任何其他测量放大器）时，要特别注意为偏置电流提供回路。如果没有回路，偏置电流就会对杂散电容充电，使输出电压漂移得不可控制。</a:t>
            </a:r>
            <a:endParaRPr lang="zh-CN" altLang="en-US" sz="2400" b="1" dirty="0">
              <a:solidFill>
                <a:schemeClr val="tx1"/>
              </a:solidFill>
              <a:latin typeface="黑体" panose="02010609060101010101" pitchFamily="49" charset="-122"/>
              <a:ea typeface="黑体" panose="02010609060101010101" pitchFamily="49" charset="-122"/>
            </a:endParaRPr>
          </a:p>
        </p:txBody>
      </p:sp>
      <p:sp>
        <p:nvSpPr>
          <p:cNvPr id="2414599" name="Text Box 7"/>
          <p:cNvSpPr txBox="1"/>
          <p:nvPr/>
        </p:nvSpPr>
        <p:spPr>
          <a:xfrm>
            <a:off x="4949825" y="5695950"/>
            <a:ext cx="3255963" cy="396875"/>
          </a:xfrm>
          <a:prstGeom prst="rect">
            <a:avLst/>
          </a:prstGeom>
          <a:noFill/>
          <a:ln w="9525">
            <a:noFill/>
          </a:ln>
        </p:spPr>
        <p:txBody>
          <a:bodyPr wrap="none">
            <a:spAutoFit/>
          </a:bodyPr>
          <a:p>
            <a:pPr eaLnBrk="1" hangingPunct="1"/>
            <a:r>
              <a:rPr lang="en-US" altLang="zh-CN" sz="2000" b="1" dirty="0">
                <a:solidFill>
                  <a:srgbClr val="333399"/>
                </a:solidFill>
                <a:latin typeface="Times New Roman" panose="02020603050405020304" pitchFamily="18" charset="0"/>
                <a:ea typeface="宋体" panose="02010600030101010101" pitchFamily="2" charset="-122"/>
              </a:rPr>
              <a:t>c) </a:t>
            </a:r>
            <a:r>
              <a:rPr lang="zh-CN" altLang="en-US" sz="2000" b="1" dirty="0">
                <a:solidFill>
                  <a:srgbClr val="333399"/>
                </a:solidFill>
                <a:latin typeface="Times New Roman" panose="02020603050405020304" pitchFamily="18" charset="0"/>
              </a:rPr>
              <a:t>与交流信号通过电容相连</a:t>
            </a:r>
            <a:endParaRPr lang="zh-CN" altLang="en-US" sz="2000" b="1" dirty="0">
              <a:solidFill>
                <a:srgbClr val="333399"/>
              </a:solidFill>
              <a:latin typeface="Times New Roman" panose="02020603050405020304" pitchFamily="18" charset="0"/>
            </a:endParaRPr>
          </a:p>
        </p:txBody>
      </p:sp>
      <p:sp>
        <p:nvSpPr>
          <p:cNvPr id="2414600" name="AutoShape 8"/>
          <p:cNvSpPr/>
          <p:nvPr/>
        </p:nvSpPr>
        <p:spPr>
          <a:xfrm rot="5400000">
            <a:off x="5829300" y="3351213"/>
            <a:ext cx="1866900" cy="13763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601" name="Rectangle 9"/>
          <p:cNvSpPr/>
          <p:nvPr/>
        </p:nvSpPr>
        <p:spPr>
          <a:xfrm>
            <a:off x="8081963" y="4229100"/>
            <a:ext cx="315912" cy="495300"/>
          </a:xfrm>
          <a:prstGeom prst="rect">
            <a:avLst/>
          </a:prstGeom>
          <a:noFill/>
          <a:ln w="9525">
            <a:noFill/>
          </a:ln>
        </p:spPr>
        <p:txBody>
          <a:bodyPr lIns="0" tIns="0" rIns="0" bIns="0">
            <a:spAutoFit/>
          </a:bodyPr>
          <a:p>
            <a:pPr eaLnBrk="1" hangingPunct="1">
              <a:lnSpc>
                <a:spcPct val="90000"/>
              </a:lnSpc>
            </a:pPr>
            <a:r>
              <a:rPr lang="zh-CN" altLang="en-US" sz="1800" b="0" dirty="0">
                <a:solidFill>
                  <a:srgbClr val="000000"/>
                </a:solidFill>
                <a:latin typeface="宋体" panose="02010600030101010101" pitchFamily="2" charset="-122"/>
                <a:ea typeface="宋体" panose="02010600030101010101" pitchFamily="2" charset="-122"/>
              </a:rPr>
              <a:t>负载</a:t>
            </a:r>
            <a:endParaRPr lang="zh-CN" altLang="en-US" sz="1800" b="1" dirty="0">
              <a:solidFill>
                <a:srgbClr val="333399"/>
              </a:solidFill>
              <a:latin typeface="Times New Roman" panose="02020603050405020304" pitchFamily="18" charset="0"/>
            </a:endParaRPr>
          </a:p>
        </p:txBody>
      </p:sp>
      <p:sp>
        <p:nvSpPr>
          <p:cNvPr id="2414605" name="Rectangle 13"/>
          <p:cNvSpPr/>
          <p:nvPr/>
        </p:nvSpPr>
        <p:spPr>
          <a:xfrm>
            <a:off x="5792788" y="3921125"/>
            <a:ext cx="107950" cy="287338"/>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606" name="Line 14"/>
          <p:cNvSpPr/>
          <p:nvPr/>
        </p:nvSpPr>
        <p:spPr>
          <a:xfrm>
            <a:off x="5835650" y="4389438"/>
            <a:ext cx="236538" cy="0"/>
          </a:xfrm>
          <a:prstGeom prst="line">
            <a:avLst/>
          </a:prstGeom>
          <a:ln w="12700" cap="flat" cmpd="sng">
            <a:solidFill>
              <a:schemeClr val="accent2"/>
            </a:solidFill>
            <a:prstDash val="solid"/>
            <a:headEnd type="none" w="med" len="med"/>
            <a:tailEnd type="none" w="med" len="med"/>
          </a:ln>
        </p:spPr>
      </p:sp>
      <p:sp>
        <p:nvSpPr>
          <p:cNvPr id="2414607" name="Line 15"/>
          <p:cNvSpPr/>
          <p:nvPr/>
        </p:nvSpPr>
        <p:spPr>
          <a:xfrm>
            <a:off x="5835650" y="3687763"/>
            <a:ext cx="0" cy="233362"/>
          </a:xfrm>
          <a:prstGeom prst="line">
            <a:avLst/>
          </a:prstGeom>
          <a:ln w="12700" cap="flat" cmpd="sng">
            <a:solidFill>
              <a:schemeClr val="accent2"/>
            </a:solidFill>
            <a:prstDash val="solid"/>
            <a:headEnd type="none" w="med" len="med"/>
            <a:tailEnd type="none" w="med" len="med"/>
          </a:ln>
        </p:spPr>
      </p:sp>
      <p:sp>
        <p:nvSpPr>
          <p:cNvPr id="2414608" name="Line 16"/>
          <p:cNvSpPr/>
          <p:nvPr/>
        </p:nvSpPr>
        <p:spPr>
          <a:xfrm>
            <a:off x="5835650" y="4208463"/>
            <a:ext cx="0" cy="180975"/>
          </a:xfrm>
          <a:prstGeom prst="line">
            <a:avLst/>
          </a:prstGeom>
          <a:ln w="12700" cap="flat" cmpd="sng">
            <a:solidFill>
              <a:schemeClr val="accent2"/>
            </a:solidFill>
            <a:prstDash val="solid"/>
            <a:headEnd type="none" w="med" len="med"/>
            <a:tailEnd type="none" w="med" len="med"/>
          </a:ln>
        </p:spPr>
      </p:sp>
      <p:sp>
        <p:nvSpPr>
          <p:cNvPr id="2414609" name="Line 17"/>
          <p:cNvSpPr/>
          <p:nvPr/>
        </p:nvSpPr>
        <p:spPr>
          <a:xfrm>
            <a:off x="5554663" y="3336925"/>
            <a:ext cx="517525" cy="0"/>
          </a:xfrm>
          <a:prstGeom prst="line">
            <a:avLst/>
          </a:prstGeom>
          <a:ln w="12700" cap="flat" cmpd="sng">
            <a:solidFill>
              <a:schemeClr val="accent2"/>
            </a:solidFill>
            <a:prstDash val="solid"/>
            <a:headEnd type="none" w="med" len="med"/>
            <a:tailEnd type="none" w="med" len="med"/>
          </a:ln>
        </p:spPr>
      </p:sp>
      <p:sp>
        <p:nvSpPr>
          <p:cNvPr id="2414610" name="Line 18"/>
          <p:cNvSpPr/>
          <p:nvPr/>
        </p:nvSpPr>
        <p:spPr>
          <a:xfrm>
            <a:off x="5554663" y="4740275"/>
            <a:ext cx="517525" cy="0"/>
          </a:xfrm>
          <a:prstGeom prst="line">
            <a:avLst/>
          </a:prstGeom>
          <a:ln w="12700" cap="flat" cmpd="sng">
            <a:solidFill>
              <a:schemeClr val="accent2"/>
            </a:solidFill>
            <a:prstDash val="solid"/>
            <a:headEnd type="none" w="med" len="med"/>
            <a:tailEnd type="none" w="med" len="med"/>
          </a:ln>
        </p:spPr>
      </p:sp>
      <p:sp>
        <p:nvSpPr>
          <p:cNvPr id="2414611" name="Line 19"/>
          <p:cNvSpPr/>
          <p:nvPr/>
        </p:nvSpPr>
        <p:spPr>
          <a:xfrm>
            <a:off x="5554663" y="3336925"/>
            <a:ext cx="0" cy="468313"/>
          </a:xfrm>
          <a:prstGeom prst="line">
            <a:avLst/>
          </a:prstGeom>
          <a:ln w="12700" cap="flat" cmpd="sng">
            <a:solidFill>
              <a:schemeClr val="accent2"/>
            </a:solidFill>
            <a:prstDash val="solid"/>
            <a:headEnd type="none" w="med" len="med"/>
            <a:tailEnd type="none" w="med" len="med"/>
          </a:ln>
        </p:spPr>
      </p:sp>
      <p:sp>
        <p:nvSpPr>
          <p:cNvPr id="2414612" name="Line 20"/>
          <p:cNvSpPr/>
          <p:nvPr/>
        </p:nvSpPr>
        <p:spPr>
          <a:xfrm>
            <a:off x="4618038" y="4271963"/>
            <a:ext cx="936625" cy="0"/>
          </a:xfrm>
          <a:prstGeom prst="line">
            <a:avLst/>
          </a:prstGeom>
          <a:ln w="12700" cap="flat" cmpd="sng">
            <a:solidFill>
              <a:schemeClr val="accent2"/>
            </a:solidFill>
            <a:prstDash val="solid"/>
            <a:headEnd type="none" w="med" len="med"/>
            <a:tailEnd type="none" w="med" len="med"/>
          </a:ln>
        </p:spPr>
      </p:sp>
      <p:sp>
        <p:nvSpPr>
          <p:cNvPr id="2414613" name="Line 21"/>
          <p:cNvSpPr/>
          <p:nvPr/>
        </p:nvSpPr>
        <p:spPr>
          <a:xfrm>
            <a:off x="4619625" y="3805238"/>
            <a:ext cx="935038" cy="0"/>
          </a:xfrm>
          <a:prstGeom prst="line">
            <a:avLst/>
          </a:prstGeom>
          <a:ln w="12700" cap="flat" cmpd="sng">
            <a:solidFill>
              <a:schemeClr val="accent2"/>
            </a:solidFill>
            <a:prstDash val="solid"/>
            <a:headEnd type="none" w="med" len="med"/>
            <a:tailEnd type="none" w="med" len="med"/>
          </a:ln>
        </p:spPr>
      </p:sp>
      <p:sp>
        <p:nvSpPr>
          <p:cNvPr id="2414614" name="Rectangle 22"/>
          <p:cNvSpPr/>
          <p:nvPr/>
        </p:nvSpPr>
        <p:spPr>
          <a:xfrm>
            <a:off x="6610350" y="3044825"/>
            <a:ext cx="341313" cy="146050"/>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615" name="Line 23"/>
          <p:cNvSpPr/>
          <p:nvPr/>
        </p:nvSpPr>
        <p:spPr>
          <a:xfrm flipV="1">
            <a:off x="6416675" y="3101975"/>
            <a:ext cx="0" cy="230188"/>
          </a:xfrm>
          <a:prstGeom prst="line">
            <a:avLst/>
          </a:prstGeom>
          <a:ln w="12700" cap="flat" cmpd="sng">
            <a:solidFill>
              <a:schemeClr val="accent2"/>
            </a:solidFill>
            <a:prstDash val="solid"/>
            <a:headEnd type="none" w="med" len="med"/>
            <a:tailEnd type="none" w="med" len="med"/>
          </a:ln>
        </p:spPr>
      </p:sp>
      <p:sp>
        <p:nvSpPr>
          <p:cNvPr id="2414616" name="Line 24"/>
          <p:cNvSpPr/>
          <p:nvPr/>
        </p:nvSpPr>
        <p:spPr>
          <a:xfrm>
            <a:off x="6416675" y="3101975"/>
            <a:ext cx="193675" cy="0"/>
          </a:xfrm>
          <a:prstGeom prst="line">
            <a:avLst/>
          </a:prstGeom>
          <a:ln w="12700" cap="flat" cmpd="sng">
            <a:solidFill>
              <a:schemeClr val="accent2"/>
            </a:solidFill>
            <a:prstDash val="solid"/>
            <a:headEnd type="none" w="med" len="med"/>
            <a:tailEnd type="none" w="med" len="med"/>
          </a:ln>
        </p:spPr>
      </p:sp>
      <p:sp>
        <p:nvSpPr>
          <p:cNvPr id="2414617" name="Line 25"/>
          <p:cNvSpPr/>
          <p:nvPr/>
        </p:nvSpPr>
        <p:spPr>
          <a:xfrm>
            <a:off x="7112000" y="3097213"/>
            <a:ext cx="0" cy="722312"/>
          </a:xfrm>
          <a:prstGeom prst="line">
            <a:avLst/>
          </a:prstGeom>
          <a:ln w="12700" cap="flat" cmpd="sng">
            <a:solidFill>
              <a:schemeClr val="accent2"/>
            </a:solidFill>
            <a:prstDash val="solid"/>
            <a:headEnd type="none" w="med" len="med"/>
            <a:tailEnd type="none" w="med" len="med"/>
          </a:ln>
        </p:spPr>
      </p:sp>
      <p:sp>
        <p:nvSpPr>
          <p:cNvPr id="2414618" name="Line 26"/>
          <p:cNvSpPr/>
          <p:nvPr/>
        </p:nvSpPr>
        <p:spPr>
          <a:xfrm>
            <a:off x="6945313" y="3097213"/>
            <a:ext cx="168275" cy="0"/>
          </a:xfrm>
          <a:prstGeom prst="line">
            <a:avLst/>
          </a:prstGeom>
          <a:ln w="12700" cap="flat" cmpd="sng">
            <a:solidFill>
              <a:schemeClr val="accent2"/>
            </a:solidFill>
            <a:prstDash val="solid"/>
            <a:headEnd type="none" w="med" len="med"/>
            <a:tailEnd type="none" w="med" len="med"/>
          </a:ln>
        </p:spPr>
      </p:sp>
      <p:sp>
        <p:nvSpPr>
          <p:cNvPr id="2414619" name="Line 27"/>
          <p:cNvSpPr/>
          <p:nvPr/>
        </p:nvSpPr>
        <p:spPr>
          <a:xfrm>
            <a:off x="7451725" y="4038600"/>
            <a:ext cx="517525" cy="0"/>
          </a:xfrm>
          <a:prstGeom prst="line">
            <a:avLst/>
          </a:prstGeom>
          <a:ln w="12700" cap="flat" cmpd="sng">
            <a:solidFill>
              <a:schemeClr val="accent2"/>
            </a:solidFill>
            <a:prstDash val="solid"/>
            <a:headEnd type="none" w="med" len="med"/>
            <a:tailEnd type="none" w="med" len="med"/>
          </a:ln>
        </p:spPr>
      </p:sp>
      <p:sp>
        <p:nvSpPr>
          <p:cNvPr id="2414620" name="Line 28"/>
          <p:cNvSpPr/>
          <p:nvPr/>
        </p:nvSpPr>
        <p:spPr>
          <a:xfrm flipV="1">
            <a:off x="7213600" y="3336925"/>
            <a:ext cx="388938" cy="525463"/>
          </a:xfrm>
          <a:prstGeom prst="line">
            <a:avLst/>
          </a:prstGeom>
          <a:ln w="12700" cap="flat" cmpd="sng">
            <a:solidFill>
              <a:schemeClr val="accent2"/>
            </a:solidFill>
            <a:prstDash val="solid"/>
            <a:headEnd type="none" w="med" len="med"/>
            <a:tailEnd type="none" w="med" len="med"/>
          </a:ln>
        </p:spPr>
      </p:sp>
      <p:sp>
        <p:nvSpPr>
          <p:cNvPr id="2414621" name="Line 29"/>
          <p:cNvSpPr/>
          <p:nvPr/>
        </p:nvSpPr>
        <p:spPr>
          <a:xfrm>
            <a:off x="7602538" y="3336925"/>
            <a:ext cx="366712" cy="0"/>
          </a:xfrm>
          <a:prstGeom prst="line">
            <a:avLst/>
          </a:prstGeom>
          <a:ln w="12700" cap="flat" cmpd="sng">
            <a:solidFill>
              <a:schemeClr val="accent2"/>
            </a:solidFill>
            <a:prstDash val="solid"/>
            <a:headEnd type="none" w="med" len="med"/>
            <a:tailEnd type="none" w="med" len="med"/>
          </a:ln>
        </p:spPr>
      </p:sp>
      <p:sp>
        <p:nvSpPr>
          <p:cNvPr id="2414622" name="Line 30"/>
          <p:cNvSpPr/>
          <p:nvPr/>
        </p:nvSpPr>
        <p:spPr>
          <a:xfrm>
            <a:off x="7969250" y="3336925"/>
            <a:ext cx="0" cy="935038"/>
          </a:xfrm>
          <a:prstGeom prst="line">
            <a:avLst/>
          </a:prstGeom>
          <a:ln w="12700" cap="flat" cmpd="sng">
            <a:solidFill>
              <a:schemeClr val="accent2"/>
            </a:solidFill>
            <a:prstDash val="solid"/>
            <a:headEnd type="none" w="med" len="med"/>
            <a:tailEnd type="none" w="med" len="med"/>
          </a:ln>
        </p:spPr>
      </p:sp>
      <p:sp>
        <p:nvSpPr>
          <p:cNvPr id="2414623" name="Rectangle 31"/>
          <p:cNvSpPr/>
          <p:nvPr/>
        </p:nvSpPr>
        <p:spPr>
          <a:xfrm>
            <a:off x="7924800" y="4271963"/>
            <a:ext cx="104775" cy="409575"/>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624" name="Line 32"/>
          <p:cNvSpPr/>
          <p:nvPr/>
        </p:nvSpPr>
        <p:spPr>
          <a:xfrm>
            <a:off x="7969250" y="4676775"/>
            <a:ext cx="0" cy="765175"/>
          </a:xfrm>
          <a:prstGeom prst="line">
            <a:avLst/>
          </a:prstGeom>
          <a:ln w="12700" cap="flat" cmpd="sng">
            <a:solidFill>
              <a:schemeClr val="accent2"/>
            </a:solidFill>
            <a:prstDash val="solid"/>
            <a:headEnd type="none" w="med" len="med"/>
            <a:tailEnd type="none" w="med" len="med"/>
          </a:ln>
        </p:spPr>
      </p:sp>
      <p:sp>
        <p:nvSpPr>
          <p:cNvPr id="2414625" name="Line 33"/>
          <p:cNvSpPr/>
          <p:nvPr/>
        </p:nvSpPr>
        <p:spPr>
          <a:xfrm>
            <a:off x="7107238" y="4271963"/>
            <a:ext cx="515937" cy="701675"/>
          </a:xfrm>
          <a:prstGeom prst="line">
            <a:avLst/>
          </a:prstGeom>
          <a:ln w="12700" cap="flat" cmpd="sng">
            <a:solidFill>
              <a:schemeClr val="accent2"/>
            </a:solidFill>
            <a:prstDash val="solid"/>
            <a:headEnd type="none" w="med" len="med"/>
            <a:tailEnd type="none" w="med" len="med"/>
          </a:ln>
        </p:spPr>
      </p:sp>
      <p:sp>
        <p:nvSpPr>
          <p:cNvPr id="2414626" name="Line 34"/>
          <p:cNvSpPr/>
          <p:nvPr/>
        </p:nvSpPr>
        <p:spPr>
          <a:xfrm>
            <a:off x="7623175" y="4973638"/>
            <a:ext cx="346075" cy="234950"/>
          </a:xfrm>
          <a:prstGeom prst="line">
            <a:avLst/>
          </a:prstGeom>
          <a:ln w="12700" cap="flat" cmpd="sng">
            <a:solidFill>
              <a:schemeClr val="accent2"/>
            </a:solidFill>
            <a:prstDash val="solid"/>
            <a:headEnd type="none" w="med" len="med"/>
            <a:tailEnd type="none" w="med" len="med"/>
          </a:ln>
        </p:spPr>
      </p:sp>
      <p:sp>
        <p:nvSpPr>
          <p:cNvPr id="2414627" name="Line 35"/>
          <p:cNvSpPr/>
          <p:nvPr/>
        </p:nvSpPr>
        <p:spPr>
          <a:xfrm flipH="1">
            <a:off x="5554663" y="5208588"/>
            <a:ext cx="2414587" cy="0"/>
          </a:xfrm>
          <a:prstGeom prst="line">
            <a:avLst/>
          </a:prstGeom>
          <a:ln w="12700" cap="flat" cmpd="sng">
            <a:solidFill>
              <a:schemeClr val="accent2"/>
            </a:solidFill>
            <a:prstDash val="solid"/>
            <a:headEnd type="none" w="med" len="med"/>
            <a:tailEnd type="none" w="med" len="med"/>
          </a:ln>
        </p:spPr>
      </p:sp>
      <p:sp>
        <p:nvSpPr>
          <p:cNvPr id="2414628" name="Line 36"/>
          <p:cNvSpPr/>
          <p:nvPr/>
        </p:nvSpPr>
        <p:spPr>
          <a:xfrm flipV="1">
            <a:off x="5554663" y="4271963"/>
            <a:ext cx="0" cy="936625"/>
          </a:xfrm>
          <a:prstGeom prst="line">
            <a:avLst/>
          </a:prstGeom>
          <a:ln w="12700" cap="flat" cmpd="sng">
            <a:solidFill>
              <a:schemeClr val="accent2"/>
            </a:solidFill>
            <a:prstDash val="solid"/>
            <a:headEnd type="none" w="med" len="med"/>
            <a:tailEnd type="none" w="med" len="med"/>
          </a:ln>
        </p:spPr>
      </p:sp>
      <p:sp>
        <p:nvSpPr>
          <p:cNvPr id="2414629" name="Rectangle 37"/>
          <p:cNvSpPr/>
          <p:nvPr/>
        </p:nvSpPr>
        <p:spPr>
          <a:xfrm>
            <a:off x="6137275" y="32496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a:t>
            </a:r>
            <a:endParaRPr lang="en-US" altLang="zh-CN" sz="1600" b="1" dirty="0">
              <a:solidFill>
                <a:srgbClr val="FF0000"/>
              </a:solidFill>
              <a:latin typeface="Times New Roman" panose="02020603050405020304" pitchFamily="18" charset="0"/>
            </a:endParaRPr>
          </a:p>
        </p:txBody>
      </p:sp>
      <p:sp>
        <p:nvSpPr>
          <p:cNvPr id="2414630" name="Rectangle 38"/>
          <p:cNvSpPr/>
          <p:nvPr/>
        </p:nvSpPr>
        <p:spPr>
          <a:xfrm>
            <a:off x="6137275" y="4579938"/>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3</a:t>
            </a:r>
            <a:endParaRPr lang="en-US" altLang="zh-CN" sz="1600" b="1" dirty="0">
              <a:solidFill>
                <a:srgbClr val="FF0000"/>
              </a:solidFill>
              <a:latin typeface="Times New Roman" panose="02020603050405020304" pitchFamily="18" charset="0"/>
            </a:endParaRPr>
          </a:p>
        </p:txBody>
      </p:sp>
      <p:sp>
        <p:nvSpPr>
          <p:cNvPr id="2414631" name="Rectangle 39"/>
          <p:cNvSpPr/>
          <p:nvPr/>
        </p:nvSpPr>
        <p:spPr>
          <a:xfrm>
            <a:off x="7289800" y="3716338"/>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12</a:t>
            </a:r>
            <a:endParaRPr lang="en-US" altLang="zh-CN" sz="1600" b="1" dirty="0">
              <a:solidFill>
                <a:srgbClr val="FF0000"/>
              </a:solidFill>
              <a:latin typeface="Times New Roman" panose="02020603050405020304" pitchFamily="18" charset="0"/>
            </a:endParaRPr>
          </a:p>
        </p:txBody>
      </p:sp>
      <p:sp>
        <p:nvSpPr>
          <p:cNvPr id="2414632" name="Rectangle 40"/>
          <p:cNvSpPr/>
          <p:nvPr/>
        </p:nvSpPr>
        <p:spPr>
          <a:xfrm>
            <a:off x="7451725" y="4125913"/>
            <a:ext cx="1016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7</a:t>
            </a:r>
            <a:endParaRPr lang="en-US" altLang="zh-CN" sz="1600" b="1" dirty="0">
              <a:solidFill>
                <a:srgbClr val="FF0000"/>
              </a:solidFill>
              <a:latin typeface="Times New Roman" panose="02020603050405020304" pitchFamily="18" charset="0"/>
            </a:endParaRPr>
          </a:p>
        </p:txBody>
      </p:sp>
      <p:sp>
        <p:nvSpPr>
          <p:cNvPr id="2414633" name="Rectangle 41"/>
          <p:cNvSpPr/>
          <p:nvPr/>
        </p:nvSpPr>
        <p:spPr>
          <a:xfrm>
            <a:off x="6988175" y="4418013"/>
            <a:ext cx="203200" cy="220662"/>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FF0000"/>
                </a:solidFill>
                <a:latin typeface="Times New Roman" panose="02020603050405020304" pitchFamily="18" charset="0"/>
              </a:rPr>
              <a:t>11</a:t>
            </a:r>
            <a:endParaRPr lang="en-US" altLang="zh-CN" sz="1600" b="1" dirty="0">
              <a:solidFill>
                <a:srgbClr val="FF0000"/>
              </a:solidFill>
              <a:latin typeface="Times New Roman" panose="02020603050405020304" pitchFamily="18" charset="0"/>
            </a:endParaRPr>
          </a:p>
        </p:txBody>
      </p:sp>
      <p:sp>
        <p:nvSpPr>
          <p:cNvPr id="2414634" name="Rectangle 42"/>
          <p:cNvSpPr/>
          <p:nvPr/>
        </p:nvSpPr>
        <p:spPr>
          <a:xfrm>
            <a:off x="6318250" y="3937000"/>
            <a:ext cx="673100" cy="247650"/>
          </a:xfrm>
          <a:prstGeom prst="rect">
            <a:avLst/>
          </a:prstGeom>
          <a:noFill/>
          <a:ln w="9525">
            <a:noFill/>
          </a:ln>
        </p:spPr>
        <p:txBody>
          <a:bodyPr wrap="none" lIns="0" tIns="0" rIns="0" bIns="0">
            <a:spAutoFit/>
          </a:bodyPr>
          <a:p>
            <a:pPr eaLnBrk="1" hangingPunct="1">
              <a:lnSpc>
                <a:spcPct val="90000"/>
              </a:lnSpc>
            </a:pPr>
            <a:r>
              <a:rPr lang="en-US" altLang="zh-CN" sz="1800" b="0" dirty="0">
                <a:solidFill>
                  <a:srgbClr val="000000"/>
                </a:solidFill>
                <a:latin typeface="Times New Roman" panose="02020603050405020304" pitchFamily="18" charset="0"/>
              </a:rPr>
              <a:t>AD521</a:t>
            </a:r>
            <a:endParaRPr lang="en-US" altLang="zh-CN" sz="1800" b="1" dirty="0">
              <a:solidFill>
                <a:srgbClr val="333399"/>
              </a:solidFill>
              <a:latin typeface="Times New Roman" panose="02020603050405020304" pitchFamily="18" charset="0"/>
            </a:endParaRPr>
          </a:p>
        </p:txBody>
      </p:sp>
      <p:sp>
        <p:nvSpPr>
          <p:cNvPr id="2414635" name="Rectangle 43"/>
          <p:cNvSpPr/>
          <p:nvPr/>
        </p:nvSpPr>
        <p:spPr>
          <a:xfrm>
            <a:off x="6664325" y="2708275"/>
            <a:ext cx="2159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S</a:t>
            </a:r>
            <a:endParaRPr lang="en-US" altLang="zh-CN" sz="1800" b="0" i="1" baseline="-25000" dirty="0">
              <a:solidFill>
                <a:srgbClr val="000000"/>
              </a:solidFill>
              <a:latin typeface="Times New Roman" panose="02020603050405020304" pitchFamily="18" charset="0"/>
            </a:endParaRPr>
          </a:p>
        </p:txBody>
      </p:sp>
      <p:sp>
        <p:nvSpPr>
          <p:cNvPr id="2414636" name="Rectangle 44"/>
          <p:cNvSpPr/>
          <p:nvPr/>
        </p:nvSpPr>
        <p:spPr>
          <a:xfrm>
            <a:off x="5497513" y="3878263"/>
            <a:ext cx="249237"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r>
              <a:rPr lang="en-US" altLang="zh-CN" sz="1800" b="0" i="1" baseline="-25000" dirty="0">
                <a:solidFill>
                  <a:srgbClr val="000000"/>
                </a:solidFill>
                <a:latin typeface="Times New Roman" panose="02020603050405020304" pitchFamily="18" charset="0"/>
              </a:rPr>
              <a:t>G</a:t>
            </a:r>
            <a:endParaRPr lang="en-US" altLang="zh-CN" sz="1800" b="0" i="1" baseline="-25000" dirty="0">
              <a:solidFill>
                <a:srgbClr val="000000"/>
              </a:solidFill>
              <a:latin typeface="Times New Roman" panose="02020603050405020304" pitchFamily="18" charset="0"/>
            </a:endParaRPr>
          </a:p>
        </p:txBody>
      </p:sp>
      <p:sp>
        <p:nvSpPr>
          <p:cNvPr id="2414637" name="Line 45"/>
          <p:cNvSpPr/>
          <p:nvPr/>
        </p:nvSpPr>
        <p:spPr>
          <a:xfrm>
            <a:off x="7796213" y="5441950"/>
            <a:ext cx="344487" cy="0"/>
          </a:xfrm>
          <a:prstGeom prst="line">
            <a:avLst/>
          </a:prstGeom>
          <a:ln w="12700" cap="flat" cmpd="sng">
            <a:solidFill>
              <a:schemeClr val="accent2"/>
            </a:solidFill>
            <a:prstDash val="solid"/>
            <a:headEnd type="none" w="med" len="med"/>
            <a:tailEnd type="none" w="med" len="med"/>
          </a:ln>
        </p:spPr>
      </p:sp>
      <p:sp>
        <p:nvSpPr>
          <p:cNvPr id="2414638" name="Line 46"/>
          <p:cNvSpPr/>
          <p:nvPr/>
        </p:nvSpPr>
        <p:spPr>
          <a:xfrm flipH="1">
            <a:off x="7969250" y="5441950"/>
            <a:ext cx="171450" cy="146050"/>
          </a:xfrm>
          <a:prstGeom prst="line">
            <a:avLst/>
          </a:prstGeom>
          <a:ln w="12700" cap="flat" cmpd="sng">
            <a:solidFill>
              <a:schemeClr val="accent2"/>
            </a:solidFill>
            <a:prstDash val="solid"/>
            <a:headEnd type="none" w="med" len="med"/>
            <a:tailEnd type="none" w="med" len="med"/>
          </a:ln>
        </p:spPr>
      </p:sp>
      <p:sp>
        <p:nvSpPr>
          <p:cNvPr id="2414639" name="Line 47"/>
          <p:cNvSpPr/>
          <p:nvPr/>
        </p:nvSpPr>
        <p:spPr>
          <a:xfrm flipH="1" flipV="1">
            <a:off x="7796213" y="5441950"/>
            <a:ext cx="173037" cy="146050"/>
          </a:xfrm>
          <a:prstGeom prst="line">
            <a:avLst/>
          </a:prstGeom>
          <a:ln w="12700" cap="flat" cmpd="sng">
            <a:solidFill>
              <a:schemeClr val="accent2"/>
            </a:solidFill>
            <a:prstDash val="solid"/>
            <a:headEnd type="none" w="med" len="med"/>
            <a:tailEnd type="none" w="med" len="med"/>
          </a:ln>
        </p:spPr>
      </p:sp>
      <p:sp>
        <p:nvSpPr>
          <p:cNvPr id="2414640" name="Line 48"/>
          <p:cNvSpPr/>
          <p:nvPr/>
        </p:nvSpPr>
        <p:spPr>
          <a:xfrm>
            <a:off x="5838825" y="3692525"/>
            <a:ext cx="236538" cy="0"/>
          </a:xfrm>
          <a:prstGeom prst="line">
            <a:avLst/>
          </a:prstGeom>
          <a:ln w="12700" cap="flat" cmpd="sng">
            <a:solidFill>
              <a:schemeClr val="accent2"/>
            </a:solidFill>
            <a:prstDash val="solid"/>
            <a:headEnd type="none" w="med" len="med"/>
            <a:tailEnd type="none" w="med" len="med"/>
          </a:ln>
        </p:spPr>
      </p:sp>
      <p:grpSp>
        <p:nvGrpSpPr>
          <p:cNvPr id="2" name="Group 49"/>
          <p:cNvGrpSpPr/>
          <p:nvPr/>
        </p:nvGrpSpPr>
        <p:grpSpPr>
          <a:xfrm>
            <a:off x="4876800" y="3644900"/>
            <a:ext cx="179388" cy="779463"/>
            <a:chOff x="544" y="1979"/>
            <a:chExt cx="113" cy="491"/>
          </a:xfrm>
        </p:grpSpPr>
        <p:sp>
          <p:nvSpPr>
            <p:cNvPr id="41039" name="AutoShape 50"/>
            <p:cNvSpPr/>
            <p:nvPr/>
          </p:nvSpPr>
          <p:spPr>
            <a:xfrm rot="-5400000">
              <a:off x="379" y="2170"/>
              <a:ext cx="442" cy="113"/>
            </a:xfrm>
            <a:prstGeom prst="wave">
              <a:avLst>
                <a:gd name="adj1" fmla="val 20644"/>
                <a:gd name="adj2" fmla="val 0"/>
              </a:avLst>
            </a:prstGeom>
            <a:solidFill>
              <a:srgbClr val="FFFF99"/>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40" name="Rectangle 51"/>
            <p:cNvSpPr/>
            <p:nvPr/>
          </p:nvSpPr>
          <p:spPr>
            <a:xfrm rot="-1426533">
              <a:off x="572" y="1979"/>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41" name="Rectangle 52"/>
            <p:cNvSpPr/>
            <p:nvPr/>
          </p:nvSpPr>
          <p:spPr>
            <a:xfrm rot="-1128348">
              <a:off x="582" y="1983"/>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42" name="Rectangle 53"/>
            <p:cNvSpPr/>
            <p:nvPr/>
          </p:nvSpPr>
          <p:spPr>
            <a:xfrm rot="-1426533">
              <a:off x="572" y="2421"/>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043" name="Rectangle 54"/>
            <p:cNvSpPr/>
            <p:nvPr/>
          </p:nvSpPr>
          <p:spPr>
            <a:xfrm rot="-1426533">
              <a:off x="580" y="2425"/>
              <a:ext cx="46" cy="45"/>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414647" name="Line 55"/>
          <p:cNvSpPr/>
          <p:nvPr/>
        </p:nvSpPr>
        <p:spPr>
          <a:xfrm flipV="1">
            <a:off x="5554663" y="4738688"/>
            <a:ext cx="0" cy="468312"/>
          </a:xfrm>
          <a:prstGeom prst="line">
            <a:avLst/>
          </a:prstGeom>
          <a:ln w="12700" cap="flat" cmpd="sng">
            <a:solidFill>
              <a:srgbClr val="FF0000"/>
            </a:solidFill>
            <a:prstDash val="solid"/>
            <a:headEnd type="none" w="med" len="med"/>
            <a:tailEnd type="none" w="med" len="med"/>
          </a:ln>
        </p:spPr>
      </p:sp>
      <p:sp>
        <p:nvSpPr>
          <p:cNvPr id="2414648" name="Line 56"/>
          <p:cNvSpPr/>
          <p:nvPr/>
        </p:nvSpPr>
        <p:spPr>
          <a:xfrm flipH="1">
            <a:off x="5551488" y="5208588"/>
            <a:ext cx="2414587" cy="0"/>
          </a:xfrm>
          <a:prstGeom prst="line">
            <a:avLst/>
          </a:prstGeom>
          <a:ln w="12700" cap="flat" cmpd="sng">
            <a:solidFill>
              <a:srgbClr val="FF0000"/>
            </a:solidFill>
            <a:prstDash val="solid"/>
            <a:headEnd type="none" w="med" len="med"/>
            <a:tailEnd type="none" w="med" len="med"/>
          </a:ln>
        </p:spPr>
      </p:sp>
      <p:sp>
        <p:nvSpPr>
          <p:cNvPr id="2414649" name="Oval 57"/>
          <p:cNvSpPr/>
          <p:nvPr/>
        </p:nvSpPr>
        <p:spPr>
          <a:xfrm>
            <a:off x="5537200" y="4721225"/>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650" name="Oval 58"/>
          <p:cNvSpPr/>
          <p:nvPr/>
        </p:nvSpPr>
        <p:spPr>
          <a:xfrm>
            <a:off x="7953375" y="5187950"/>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20" name="AutoShape 128"/>
          <p:cNvSpPr/>
          <p:nvPr/>
        </p:nvSpPr>
        <p:spPr>
          <a:xfrm>
            <a:off x="3298825" y="5481638"/>
            <a:ext cx="1420813" cy="647700"/>
          </a:xfrm>
          <a:prstGeom prst="wedgeRoundRectCallout">
            <a:avLst>
              <a:gd name="adj1" fmla="val 88324"/>
              <a:gd name="adj2" fmla="val -8725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b="1" dirty="0">
                <a:solidFill>
                  <a:schemeClr val="tx1"/>
                </a:solidFill>
                <a:latin typeface="Times New Roman" panose="02020603050405020304" pitchFamily="18" charset="0"/>
              </a:rPr>
              <a:t>偏置电流回路</a:t>
            </a:r>
            <a:endParaRPr lang="zh-CN" altLang="en-US" sz="2000" b="1" dirty="0">
              <a:solidFill>
                <a:schemeClr val="tx1"/>
              </a:solidFill>
              <a:latin typeface="Times New Roman" panose="02020603050405020304" pitchFamily="18" charset="0"/>
            </a:endParaRPr>
          </a:p>
        </p:txBody>
      </p:sp>
      <p:sp>
        <p:nvSpPr>
          <p:cNvPr id="2414723" name="Oval 131"/>
          <p:cNvSpPr/>
          <p:nvPr/>
        </p:nvSpPr>
        <p:spPr>
          <a:xfrm>
            <a:off x="3760788" y="3798888"/>
            <a:ext cx="498475" cy="496887"/>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24" name="Rectangle 132"/>
          <p:cNvSpPr/>
          <p:nvPr/>
        </p:nvSpPr>
        <p:spPr>
          <a:xfrm>
            <a:off x="3903663" y="3816350"/>
            <a:ext cx="204787" cy="425450"/>
          </a:xfrm>
          <a:prstGeom prst="rect">
            <a:avLst/>
          </a:prstGeom>
          <a:noFill/>
          <a:ln w="9525">
            <a:noFill/>
          </a:ln>
        </p:spPr>
        <p:txBody>
          <a:bodyPr wrap="none" lIns="0" tIns="0" rIns="0" bIns="0">
            <a:spAutoFit/>
          </a:bodyPr>
          <a:p>
            <a:pPr eaLnBrk="1" hangingPunct="1">
              <a:lnSpc>
                <a:spcPct val="90000"/>
              </a:lnSpc>
            </a:pPr>
            <a:r>
              <a:rPr lang="en-US" altLang="zh-CN" sz="3100" b="1" dirty="0">
                <a:solidFill>
                  <a:srgbClr val="333399"/>
                </a:solidFill>
                <a:latin typeface="Times New Roman" panose="02020603050405020304" pitchFamily="18" charset="0"/>
              </a:rPr>
              <a:t>~</a:t>
            </a:r>
            <a:endParaRPr lang="en-US" altLang="zh-CN" sz="3100" b="1" dirty="0">
              <a:solidFill>
                <a:srgbClr val="333399"/>
              </a:solidFill>
              <a:latin typeface="Times New Roman" panose="02020603050405020304" pitchFamily="18" charset="0"/>
            </a:endParaRPr>
          </a:p>
        </p:txBody>
      </p:sp>
      <p:sp>
        <p:nvSpPr>
          <p:cNvPr id="2414725" name="Line 133"/>
          <p:cNvSpPr/>
          <p:nvPr/>
        </p:nvSpPr>
        <p:spPr>
          <a:xfrm flipV="1">
            <a:off x="4618038" y="3481388"/>
            <a:ext cx="1587" cy="323850"/>
          </a:xfrm>
          <a:prstGeom prst="line">
            <a:avLst/>
          </a:prstGeom>
          <a:ln w="12700" cap="flat" cmpd="sng">
            <a:solidFill>
              <a:schemeClr val="accent2"/>
            </a:solidFill>
            <a:prstDash val="solid"/>
            <a:headEnd type="none" w="med" len="med"/>
            <a:tailEnd type="none" w="med" len="med"/>
          </a:ln>
        </p:spPr>
      </p:sp>
      <p:sp>
        <p:nvSpPr>
          <p:cNvPr id="2414726" name="Line 134"/>
          <p:cNvSpPr/>
          <p:nvPr/>
        </p:nvSpPr>
        <p:spPr>
          <a:xfrm>
            <a:off x="4618038" y="4271963"/>
            <a:ext cx="0" cy="338137"/>
          </a:xfrm>
          <a:prstGeom prst="line">
            <a:avLst/>
          </a:prstGeom>
          <a:ln w="12700" cap="flat" cmpd="sng">
            <a:solidFill>
              <a:schemeClr val="accent2"/>
            </a:solidFill>
            <a:prstDash val="solid"/>
            <a:headEnd type="none" w="med" len="med"/>
            <a:tailEnd type="none" w="med" len="med"/>
          </a:ln>
        </p:spPr>
      </p:sp>
      <p:sp>
        <p:nvSpPr>
          <p:cNvPr id="2414727" name="Line 135"/>
          <p:cNvSpPr/>
          <p:nvPr/>
        </p:nvSpPr>
        <p:spPr>
          <a:xfrm flipV="1">
            <a:off x="4013200" y="3481388"/>
            <a:ext cx="0" cy="317500"/>
          </a:xfrm>
          <a:prstGeom prst="line">
            <a:avLst/>
          </a:prstGeom>
          <a:ln w="12700" cap="flat" cmpd="sng">
            <a:solidFill>
              <a:schemeClr val="accent2"/>
            </a:solidFill>
            <a:prstDash val="solid"/>
            <a:headEnd type="none" w="med" len="med"/>
            <a:tailEnd type="none" w="med" len="med"/>
          </a:ln>
        </p:spPr>
      </p:sp>
      <p:sp>
        <p:nvSpPr>
          <p:cNvPr id="2414728" name="Line 136"/>
          <p:cNvSpPr/>
          <p:nvPr/>
        </p:nvSpPr>
        <p:spPr>
          <a:xfrm>
            <a:off x="4013200" y="4294188"/>
            <a:ext cx="0" cy="317500"/>
          </a:xfrm>
          <a:prstGeom prst="line">
            <a:avLst/>
          </a:prstGeom>
          <a:ln w="12700" cap="flat" cmpd="sng">
            <a:solidFill>
              <a:schemeClr val="accent2"/>
            </a:solidFill>
            <a:prstDash val="solid"/>
            <a:headEnd type="none" w="med" len="med"/>
            <a:tailEnd type="none" w="med" len="med"/>
          </a:ln>
        </p:spPr>
      </p:sp>
      <p:grpSp>
        <p:nvGrpSpPr>
          <p:cNvPr id="3" name="Group 137"/>
          <p:cNvGrpSpPr/>
          <p:nvPr/>
        </p:nvGrpSpPr>
        <p:grpSpPr>
          <a:xfrm>
            <a:off x="4305300" y="3300413"/>
            <a:ext cx="85725" cy="409575"/>
            <a:chOff x="5377" y="1092"/>
            <a:chExt cx="54" cy="258"/>
          </a:xfrm>
        </p:grpSpPr>
        <p:sp>
          <p:nvSpPr>
            <p:cNvPr id="41037" name="Line 138"/>
            <p:cNvSpPr/>
            <p:nvPr/>
          </p:nvSpPr>
          <p:spPr>
            <a:xfrm>
              <a:off x="5377" y="1092"/>
              <a:ext cx="0" cy="258"/>
            </a:xfrm>
            <a:prstGeom prst="line">
              <a:avLst/>
            </a:prstGeom>
            <a:ln w="19050" cap="flat" cmpd="sng">
              <a:solidFill>
                <a:srgbClr val="000080"/>
              </a:solidFill>
              <a:prstDash val="solid"/>
              <a:headEnd type="none" w="med" len="med"/>
              <a:tailEnd type="none" w="med" len="med"/>
            </a:ln>
          </p:spPr>
        </p:sp>
        <p:sp>
          <p:nvSpPr>
            <p:cNvPr id="41038" name="Line 139"/>
            <p:cNvSpPr/>
            <p:nvPr/>
          </p:nvSpPr>
          <p:spPr>
            <a:xfrm>
              <a:off x="5431" y="1092"/>
              <a:ext cx="0" cy="258"/>
            </a:xfrm>
            <a:prstGeom prst="line">
              <a:avLst/>
            </a:prstGeom>
            <a:ln w="19050" cap="flat" cmpd="sng">
              <a:solidFill>
                <a:srgbClr val="000080"/>
              </a:solidFill>
              <a:prstDash val="solid"/>
              <a:headEnd type="none" w="med" len="med"/>
              <a:tailEnd type="none" w="med" len="med"/>
            </a:ln>
          </p:spPr>
        </p:sp>
      </p:grpSp>
      <p:grpSp>
        <p:nvGrpSpPr>
          <p:cNvPr id="4" name="Group 140"/>
          <p:cNvGrpSpPr/>
          <p:nvPr/>
        </p:nvGrpSpPr>
        <p:grpSpPr>
          <a:xfrm>
            <a:off x="4305300" y="4411663"/>
            <a:ext cx="85725" cy="409575"/>
            <a:chOff x="5391" y="1792"/>
            <a:chExt cx="54" cy="258"/>
          </a:xfrm>
        </p:grpSpPr>
        <p:sp>
          <p:nvSpPr>
            <p:cNvPr id="41035" name="Line 141"/>
            <p:cNvSpPr/>
            <p:nvPr/>
          </p:nvSpPr>
          <p:spPr>
            <a:xfrm>
              <a:off x="5391" y="1792"/>
              <a:ext cx="0" cy="258"/>
            </a:xfrm>
            <a:prstGeom prst="line">
              <a:avLst/>
            </a:prstGeom>
            <a:ln w="19050" cap="flat" cmpd="sng">
              <a:solidFill>
                <a:srgbClr val="000080"/>
              </a:solidFill>
              <a:prstDash val="solid"/>
              <a:headEnd type="none" w="med" len="med"/>
              <a:tailEnd type="none" w="med" len="med"/>
            </a:ln>
          </p:spPr>
        </p:sp>
        <p:sp>
          <p:nvSpPr>
            <p:cNvPr id="41036" name="Line 142"/>
            <p:cNvSpPr/>
            <p:nvPr/>
          </p:nvSpPr>
          <p:spPr>
            <a:xfrm>
              <a:off x="5445" y="1792"/>
              <a:ext cx="0" cy="258"/>
            </a:xfrm>
            <a:prstGeom prst="line">
              <a:avLst/>
            </a:prstGeom>
            <a:ln w="19050" cap="flat" cmpd="sng">
              <a:solidFill>
                <a:srgbClr val="000080"/>
              </a:solidFill>
              <a:prstDash val="solid"/>
              <a:headEnd type="none" w="med" len="med"/>
              <a:tailEnd type="none" w="med" len="med"/>
            </a:ln>
          </p:spPr>
        </p:sp>
      </p:grpSp>
      <p:sp>
        <p:nvSpPr>
          <p:cNvPr id="2414735" name="Rectangle 143"/>
          <p:cNvSpPr/>
          <p:nvPr/>
        </p:nvSpPr>
        <p:spPr>
          <a:xfrm>
            <a:off x="4400550" y="3036888"/>
            <a:ext cx="1524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C</a:t>
            </a:r>
            <a:endParaRPr lang="en-US" altLang="zh-CN" sz="1800" b="1" dirty="0">
              <a:solidFill>
                <a:srgbClr val="333399"/>
              </a:solidFill>
              <a:latin typeface="Times New Roman" panose="02020603050405020304" pitchFamily="18" charset="0"/>
            </a:endParaRPr>
          </a:p>
        </p:txBody>
      </p:sp>
      <p:sp>
        <p:nvSpPr>
          <p:cNvPr id="2414736" name="Rectangle 144"/>
          <p:cNvSpPr/>
          <p:nvPr/>
        </p:nvSpPr>
        <p:spPr>
          <a:xfrm>
            <a:off x="4335463" y="4837113"/>
            <a:ext cx="1524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C</a:t>
            </a:r>
            <a:endParaRPr lang="en-US" altLang="zh-CN" sz="1800" b="1" dirty="0">
              <a:solidFill>
                <a:srgbClr val="333399"/>
              </a:solidFill>
              <a:latin typeface="Times New Roman" panose="02020603050405020304" pitchFamily="18" charset="0"/>
            </a:endParaRPr>
          </a:p>
        </p:txBody>
      </p:sp>
      <p:sp>
        <p:nvSpPr>
          <p:cNvPr id="2414737" name="Line 145"/>
          <p:cNvSpPr/>
          <p:nvPr/>
        </p:nvSpPr>
        <p:spPr>
          <a:xfrm>
            <a:off x="4013200" y="3481388"/>
            <a:ext cx="292100" cy="0"/>
          </a:xfrm>
          <a:prstGeom prst="line">
            <a:avLst/>
          </a:prstGeom>
          <a:ln w="12700" cap="flat" cmpd="sng">
            <a:solidFill>
              <a:schemeClr val="accent2"/>
            </a:solidFill>
            <a:prstDash val="solid"/>
            <a:headEnd type="none" w="med" len="med"/>
            <a:tailEnd type="none" w="med" len="med"/>
          </a:ln>
        </p:spPr>
      </p:sp>
      <p:sp>
        <p:nvSpPr>
          <p:cNvPr id="2414738" name="Line 146"/>
          <p:cNvSpPr/>
          <p:nvPr/>
        </p:nvSpPr>
        <p:spPr>
          <a:xfrm flipH="1">
            <a:off x="4387850" y="3481388"/>
            <a:ext cx="231775" cy="0"/>
          </a:xfrm>
          <a:prstGeom prst="line">
            <a:avLst/>
          </a:prstGeom>
          <a:ln w="12700" cap="flat" cmpd="sng">
            <a:solidFill>
              <a:schemeClr val="accent2"/>
            </a:solidFill>
            <a:prstDash val="solid"/>
            <a:headEnd type="none" w="med" len="med"/>
            <a:tailEnd type="none" w="med" len="med"/>
          </a:ln>
        </p:spPr>
      </p:sp>
      <p:sp>
        <p:nvSpPr>
          <p:cNvPr id="2414739" name="Line 147"/>
          <p:cNvSpPr/>
          <p:nvPr/>
        </p:nvSpPr>
        <p:spPr>
          <a:xfrm flipV="1">
            <a:off x="4013200" y="4611688"/>
            <a:ext cx="292100" cy="0"/>
          </a:xfrm>
          <a:prstGeom prst="line">
            <a:avLst/>
          </a:prstGeom>
          <a:ln w="12700" cap="flat" cmpd="sng">
            <a:solidFill>
              <a:schemeClr val="accent2"/>
            </a:solidFill>
            <a:prstDash val="solid"/>
            <a:headEnd type="none" w="med" len="med"/>
            <a:tailEnd type="none" w="med" len="med"/>
          </a:ln>
        </p:spPr>
      </p:sp>
      <p:sp>
        <p:nvSpPr>
          <p:cNvPr id="2414740" name="Line 148"/>
          <p:cNvSpPr/>
          <p:nvPr/>
        </p:nvSpPr>
        <p:spPr>
          <a:xfrm>
            <a:off x="4391025" y="4611688"/>
            <a:ext cx="228600" cy="0"/>
          </a:xfrm>
          <a:prstGeom prst="line">
            <a:avLst/>
          </a:prstGeom>
          <a:ln w="12700" cap="flat" cmpd="sng">
            <a:solidFill>
              <a:schemeClr val="accent2"/>
            </a:solidFill>
            <a:prstDash val="solid"/>
            <a:headEnd type="none" w="med" len="med"/>
            <a:tailEnd type="none" w="med" len="med"/>
          </a:ln>
        </p:spPr>
      </p:sp>
      <p:sp>
        <p:nvSpPr>
          <p:cNvPr id="2414741" name="Rectangle 149"/>
          <p:cNvSpPr/>
          <p:nvPr/>
        </p:nvSpPr>
        <p:spPr>
          <a:xfrm>
            <a:off x="5500688" y="4830763"/>
            <a:ext cx="107950" cy="287337"/>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43" name="Line 151"/>
          <p:cNvSpPr/>
          <p:nvPr/>
        </p:nvSpPr>
        <p:spPr>
          <a:xfrm flipV="1">
            <a:off x="5254625" y="3805238"/>
            <a:ext cx="0" cy="1401762"/>
          </a:xfrm>
          <a:prstGeom prst="line">
            <a:avLst/>
          </a:prstGeom>
          <a:ln w="12700" cap="flat" cmpd="sng">
            <a:solidFill>
              <a:schemeClr val="accent2"/>
            </a:solidFill>
            <a:prstDash val="solid"/>
            <a:headEnd type="none" w="med" len="med"/>
            <a:tailEnd type="none" w="med" len="med"/>
          </a:ln>
        </p:spPr>
      </p:sp>
      <p:sp>
        <p:nvSpPr>
          <p:cNvPr id="2414744" name="Oval 152"/>
          <p:cNvSpPr/>
          <p:nvPr/>
        </p:nvSpPr>
        <p:spPr>
          <a:xfrm>
            <a:off x="5237163" y="3789363"/>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45" name="Rectangle 153"/>
          <p:cNvSpPr/>
          <p:nvPr/>
        </p:nvSpPr>
        <p:spPr>
          <a:xfrm>
            <a:off x="5651500" y="4849813"/>
            <a:ext cx="139700" cy="247650"/>
          </a:xfrm>
          <a:prstGeom prst="rect">
            <a:avLst/>
          </a:prstGeom>
          <a:noFill/>
          <a:ln w="9525">
            <a:noFill/>
          </a:ln>
        </p:spPr>
        <p:txBody>
          <a:bodyPr wrap="none" lIns="0" tIns="0" rIns="0" bIns="0">
            <a:spAutoFit/>
          </a:bodyPr>
          <a:p>
            <a:pPr eaLnBrk="1" hangingPunct="1">
              <a:lnSpc>
                <a:spcPct val="90000"/>
              </a:lnSpc>
            </a:pPr>
            <a:r>
              <a:rPr lang="en-US" altLang="zh-CN" sz="1800" b="0" i="1" dirty="0">
                <a:solidFill>
                  <a:srgbClr val="000000"/>
                </a:solidFill>
                <a:latin typeface="Times New Roman" panose="02020603050405020304" pitchFamily="18" charset="0"/>
              </a:rPr>
              <a:t>R</a:t>
            </a:r>
            <a:endParaRPr lang="en-US" altLang="zh-CN" sz="1800" b="0" i="1" baseline="-25000" dirty="0">
              <a:solidFill>
                <a:srgbClr val="000000"/>
              </a:solidFill>
              <a:latin typeface="Times New Roman" panose="02020603050405020304" pitchFamily="18" charset="0"/>
            </a:endParaRPr>
          </a:p>
        </p:txBody>
      </p:sp>
      <p:sp>
        <p:nvSpPr>
          <p:cNvPr id="2414746" name="Line 154"/>
          <p:cNvSpPr/>
          <p:nvPr/>
        </p:nvSpPr>
        <p:spPr>
          <a:xfrm>
            <a:off x="5254625" y="5207000"/>
            <a:ext cx="300038" cy="0"/>
          </a:xfrm>
          <a:prstGeom prst="line">
            <a:avLst/>
          </a:prstGeom>
          <a:ln w="12700" cap="flat" cmpd="sng">
            <a:solidFill>
              <a:schemeClr val="accent2"/>
            </a:solidFill>
            <a:prstDash val="solid"/>
            <a:headEnd type="none" w="med" len="med"/>
            <a:tailEnd type="none" w="med" len="med"/>
          </a:ln>
        </p:spPr>
      </p:sp>
      <p:sp>
        <p:nvSpPr>
          <p:cNvPr id="2414747" name="Line 155"/>
          <p:cNvSpPr/>
          <p:nvPr/>
        </p:nvSpPr>
        <p:spPr>
          <a:xfrm>
            <a:off x="5254625" y="5207000"/>
            <a:ext cx="300038" cy="0"/>
          </a:xfrm>
          <a:prstGeom prst="line">
            <a:avLst/>
          </a:prstGeom>
          <a:ln w="12700" cap="flat" cmpd="sng">
            <a:solidFill>
              <a:srgbClr val="FF0000"/>
            </a:solidFill>
            <a:prstDash val="solid"/>
            <a:headEnd type="none" w="med" len="med"/>
            <a:tailEnd type="none" w="med" len="med"/>
          </a:ln>
        </p:spPr>
      </p:sp>
      <p:sp>
        <p:nvSpPr>
          <p:cNvPr id="2414748" name="Line 156"/>
          <p:cNvSpPr/>
          <p:nvPr/>
        </p:nvSpPr>
        <p:spPr>
          <a:xfrm flipV="1">
            <a:off x="5254625" y="3802063"/>
            <a:ext cx="0" cy="1401762"/>
          </a:xfrm>
          <a:prstGeom prst="line">
            <a:avLst/>
          </a:prstGeom>
          <a:ln w="12700" cap="flat" cmpd="sng">
            <a:solidFill>
              <a:srgbClr val="FF0000"/>
            </a:solidFill>
            <a:prstDash val="solid"/>
            <a:headEnd type="none" w="med" len="med"/>
            <a:tailEnd type="none" w="med" len="med"/>
          </a:ln>
        </p:spPr>
      </p:sp>
      <p:sp>
        <p:nvSpPr>
          <p:cNvPr id="2414742" name="Rectangle 150"/>
          <p:cNvSpPr/>
          <p:nvPr/>
        </p:nvSpPr>
        <p:spPr>
          <a:xfrm>
            <a:off x="5200650" y="4833938"/>
            <a:ext cx="107950" cy="287337"/>
          </a:xfrm>
          <a:prstGeom prst="rect">
            <a:avLst/>
          </a:prstGeom>
          <a:solidFill>
            <a:srgbClr val="FFCC99"/>
          </a:solidFill>
          <a:ln w="19050" cap="flat" cmpd="sng">
            <a:solidFill>
              <a:srgbClr val="000080"/>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49" name="Oval 157"/>
          <p:cNvSpPr/>
          <p:nvPr/>
        </p:nvSpPr>
        <p:spPr>
          <a:xfrm>
            <a:off x="5537200" y="5191125"/>
            <a:ext cx="34925" cy="34925"/>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14750" name="Text Box 158"/>
          <p:cNvSpPr txBox="1"/>
          <p:nvPr/>
        </p:nvSpPr>
        <p:spPr>
          <a:xfrm>
            <a:off x="392113" y="3284538"/>
            <a:ext cx="2774950" cy="1800225"/>
          </a:xfrm>
          <a:prstGeom prst="rect">
            <a:avLst/>
          </a:prstGeom>
          <a:solidFill>
            <a:srgbClr val="FF99CC"/>
          </a:solidFill>
          <a:ln w="9525">
            <a:noFill/>
          </a:ln>
        </p:spPr>
        <p:txBody>
          <a:bodyPr>
            <a:spAutoFit/>
          </a:bodyPr>
          <a:p>
            <a:pPr eaLnBrk="1" hangingPunct="1"/>
            <a:r>
              <a:rPr lang="en-US" altLang="zh-CN" sz="2800" b="1" dirty="0">
                <a:solidFill>
                  <a:srgbClr val="3333FF"/>
                </a:solidFill>
                <a:latin typeface="Times New Roman" panose="02020603050405020304" pitchFamily="18" charset="0"/>
                <a:ea typeface="宋体" panose="02010600030101010101" pitchFamily="2" charset="-122"/>
              </a:rPr>
              <a:t>AD521</a:t>
            </a:r>
            <a:r>
              <a:rPr lang="zh-CN" altLang="en-US" sz="2800" b="1" dirty="0">
                <a:solidFill>
                  <a:srgbClr val="3333FF"/>
                </a:solidFill>
                <a:latin typeface="Times New Roman" panose="02020603050405020304" pitchFamily="18" charset="0"/>
              </a:rPr>
              <a:t>输入端</a:t>
            </a:r>
            <a:r>
              <a:rPr lang="en-US" altLang="zh-CN" sz="2800" b="1" dirty="0">
                <a:solidFill>
                  <a:srgbClr val="CC00CC"/>
                </a:solidFill>
                <a:latin typeface="Times New Roman" panose="02020603050405020304" pitchFamily="18" charset="0"/>
                <a:ea typeface="宋体" panose="02010600030101010101" pitchFamily="2" charset="-122"/>
              </a:rPr>
              <a:t>1</a:t>
            </a:r>
            <a:r>
              <a:rPr lang="zh-CN" altLang="en-US" sz="2800" b="1" dirty="0">
                <a:solidFill>
                  <a:srgbClr val="3333FF"/>
                </a:solidFill>
                <a:latin typeface="Times New Roman" panose="02020603050405020304" pitchFamily="18" charset="0"/>
              </a:rPr>
              <a:t>或</a:t>
            </a:r>
            <a:r>
              <a:rPr lang="en-US" altLang="zh-CN" sz="2800" b="1" dirty="0">
                <a:solidFill>
                  <a:srgbClr val="CC00CC"/>
                </a:solidFill>
                <a:latin typeface="Times New Roman" panose="02020603050405020304" pitchFamily="18" charset="0"/>
                <a:ea typeface="宋体" panose="02010600030101010101" pitchFamily="2" charset="-122"/>
              </a:rPr>
              <a:t>3</a:t>
            </a:r>
            <a:r>
              <a:rPr lang="zh-CN" altLang="en-US" sz="2800" b="1" dirty="0">
                <a:solidFill>
                  <a:srgbClr val="3333FF"/>
                </a:solidFill>
                <a:latin typeface="Times New Roman" panose="02020603050405020304" pitchFamily="18" charset="0"/>
              </a:rPr>
              <a:t>直接或通过电阻与电源的地线构成回路。</a:t>
            </a:r>
            <a:endParaRPr lang="zh-CN" altLang="en-US" sz="2800" b="1" dirty="0">
              <a:solidFill>
                <a:srgbClr val="3333FF"/>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4595"/>
                                        </p:tgtEl>
                                        <p:attrNameLst>
                                          <p:attrName>style.visibility</p:attrName>
                                        </p:attrNameLst>
                                      </p:cBhvr>
                                      <p:to>
                                        <p:strVal val="visible"/>
                                      </p:to>
                                    </p:set>
                                    <p:animEffect transition="in" filter="dissolve">
                                      <p:cBhvr>
                                        <p:cTn id="7" dur="500"/>
                                        <p:tgtEl>
                                          <p:spTgt spid="241459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414599"/>
                                        </p:tgtEl>
                                        <p:attrNameLst>
                                          <p:attrName>style.visibility</p:attrName>
                                        </p:attrNameLst>
                                      </p:cBhvr>
                                      <p:to>
                                        <p:strVal val="visible"/>
                                      </p:to>
                                    </p:set>
                                    <p:animEffect transition="in" filter="dissolve">
                                      <p:cBhvr>
                                        <p:cTn id="10" dur="500"/>
                                        <p:tgtEl>
                                          <p:spTgt spid="2414599"/>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414600"/>
                                        </p:tgtEl>
                                        <p:attrNameLst>
                                          <p:attrName>style.visibility</p:attrName>
                                        </p:attrNameLst>
                                      </p:cBhvr>
                                      <p:to>
                                        <p:strVal val="visible"/>
                                      </p:to>
                                    </p:set>
                                    <p:animEffect transition="in" filter="dissolve">
                                      <p:cBhvr>
                                        <p:cTn id="13" dur="500"/>
                                        <p:tgtEl>
                                          <p:spTgt spid="2414600"/>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414601"/>
                                        </p:tgtEl>
                                        <p:attrNameLst>
                                          <p:attrName>style.visibility</p:attrName>
                                        </p:attrNameLst>
                                      </p:cBhvr>
                                      <p:to>
                                        <p:strVal val="visible"/>
                                      </p:to>
                                    </p:set>
                                    <p:animEffect transition="in" filter="dissolve">
                                      <p:cBhvr>
                                        <p:cTn id="16" dur="500"/>
                                        <p:tgtEl>
                                          <p:spTgt spid="2414601"/>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414605"/>
                                        </p:tgtEl>
                                        <p:attrNameLst>
                                          <p:attrName>style.visibility</p:attrName>
                                        </p:attrNameLst>
                                      </p:cBhvr>
                                      <p:to>
                                        <p:strVal val="visible"/>
                                      </p:to>
                                    </p:set>
                                    <p:animEffect transition="in" filter="dissolve">
                                      <p:cBhvr>
                                        <p:cTn id="19" dur="500"/>
                                        <p:tgtEl>
                                          <p:spTgt spid="2414605"/>
                                        </p:tgtEl>
                                      </p:cBhvr>
                                    </p:animEffect>
                                  </p:childTnLst>
                                </p:cTn>
                              </p:par>
                              <p:par>
                                <p:cTn id="20" presetID="9" presetClass="entr" presetSubtype="0" fill="hold" nodeType="withEffect">
                                  <p:stCondLst>
                                    <p:cond delay="0"/>
                                  </p:stCondLst>
                                  <p:childTnLst>
                                    <p:set>
                                      <p:cBhvr>
                                        <p:cTn id="21" dur="1" fill="hold">
                                          <p:stCondLst>
                                            <p:cond delay="0"/>
                                          </p:stCondLst>
                                        </p:cTn>
                                        <p:tgtEl>
                                          <p:spTgt spid="2414606"/>
                                        </p:tgtEl>
                                        <p:attrNameLst>
                                          <p:attrName>style.visibility</p:attrName>
                                        </p:attrNameLst>
                                      </p:cBhvr>
                                      <p:to>
                                        <p:strVal val="visible"/>
                                      </p:to>
                                    </p:set>
                                    <p:animEffect transition="in" filter="dissolve">
                                      <p:cBhvr>
                                        <p:cTn id="22" dur="500"/>
                                        <p:tgtEl>
                                          <p:spTgt spid="2414606"/>
                                        </p:tgtEl>
                                      </p:cBhvr>
                                    </p:animEffect>
                                  </p:childTnLst>
                                </p:cTn>
                              </p:par>
                              <p:par>
                                <p:cTn id="23" presetID="9" presetClass="entr" presetSubtype="0" fill="hold" nodeType="withEffect">
                                  <p:stCondLst>
                                    <p:cond delay="0"/>
                                  </p:stCondLst>
                                  <p:childTnLst>
                                    <p:set>
                                      <p:cBhvr>
                                        <p:cTn id="24" dur="1" fill="hold">
                                          <p:stCondLst>
                                            <p:cond delay="0"/>
                                          </p:stCondLst>
                                        </p:cTn>
                                        <p:tgtEl>
                                          <p:spTgt spid="2414607"/>
                                        </p:tgtEl>
                                        <p:attrNameLst>
                                          <p:attrName>style.visibility</p:attrName>
                                        </p:attrNameLst>
                                      </p:cBhvr>
                                      <p:to>
                                        <p:strVal val="visible"/>
                                      </p:to>
                                    </p:set>
                                    <p:animEffect transition="in" filter="dissolve">
                                      <p:cBhvr>
                                        <p:cTn id="25" dur="500"/>
                                        <p:tgtEl>
                                          <p:spTgt spid="2414607"/>
                                        </p:tgtEl>
                                      </p:cBhvr>
                                    </p:animEffect>
                                  </p:childTnLst>
                                </p:cTn>
                              </p:par>
                              <p:par>
                                <p:cTn id="26" presetID="9" presetClass="entr" presetSubtype="0" fill="hold" nodeType="withEffect">
                                  <p:stCondLst>
                                    <p:cond delay="0"/>
                                  </p:stCondLst>
                                  <p:childTnLst>
                                    <p:set>
                                      <p:cBhvr>
                                        <p:cTn id="27" dur="1" fill="hold">
                                          <p:stCondLst>
                                            <p:cond delay="0"/>
                                          </p:stCondLst>
                                        </p:cTn>
                                        <p:tgtEl>
                                          <p:spTgt spid="2414608"/>
                                        </p:tgtEl>
                                        <p:attrNameLst>
                                          <p:attrName>style.visibility</p:attrName>
                                        </p:attrNameLst>
                                      </p:cBhvr>
                                      <p:to>
                                        <p:strVal val="visible"/>
                                      </p:to>
                                    </p:set>
                                    <p:animEffect transition="in" filter="dissolve">
                                      <p:cBhvr>
                                        <p:cTn id="28" dur="500"/>
                                        <p:tgtEl>
                                          <p:spTgt spid="2414608"/>
                                        </p:tgtEl>
                                      </p:cBhvr>
                                    </p:animEffect>
                                  </p:childTnLst>
                                </p:cTn>
                              </p:par>
                              <p:par>
                                <p:cTn id="29" presetID="9" presetClass="entr" presetSubtype="0" fill="hold" nodeType="withEffect">
                                  <p:stCondLst>
                                    <p:cond delay="0"/>
                                  </p:stCondLst>
                                  <p:childTnLst>
                                    <p:set>
                                      <p:cBhvr>
                                        <p:cTn id="30" dur="1" fill="hold">
                                          <p:stCondLst>
                                            <p:cond delay="0"/>
                                          </p:stCondLst>
                                        </p:cTn>
                                        <p:tgtEl>
                                          <p:spTgt spid="2414609"/>
                                        </p:tgtEl>
                                        <p:attrNameLst>
                                          <p:attrName>style.visibility</p:attrName>
                                        </p:attrNameLst>
                                      </p:cBhvr>
                                      <p:to>
                                        <p:strVal val="visible"/>
                                      </p:to>
                                    </p:set>
                                    <p:animEffect transition="in" filter="dissolve">
                                      <p:cBhvr>
                                        <p:cTn id="31" dur="500"/>
                                        <p:tgtEl>
                                          <p:spTgt spid="2414609"/>
                                        </p:tgtEl>
                                      </p:cBhvr>
                                    </p:animEffect>
                                  </p:childTnLst>
                                </p:cTn>
                              </p:par>
                              <p:par>
                                <p:cTn id="32" presetID="9" presetClass="entr" presetSubtype="0" fill="hold" nodeType="withEffect">
                                  <p:stCondLst>
                                    <p:cond delay="0"/>
                                  </p:stCondLst>
                                  <p:childTnLst>
                                    <p:set>
                                      <p:cBhvr>
                                        <p:cTn id="33" dur="1" fill="hold">
                                          <p:stCondLst>
                                            <p:cond delay="0"/>
                                          </p:stCondLst>
                                        </p:cTn>
                                        <p:tgtEl>
                                          <p:spTgt spid="2414610"/>
                                        </p:tgtEl>
                                        <p:attrNameLst>
                                          <p:attrName>style.visibility</p:attrName>
                                        </p:attrNameLst>
                                      </p:cBhvr>
                                      <p:to>
                                        <p:strVal val="visible"/>
                                      </p:to>
                                    </p:set>
                                    <p:animEffect transition="in" filter="dissolve">
                                      <p:cBhvr>
                                        <p:cTn id="34" dur="500"/>
                                        <p:tgtEl>
                                          <p:spTgt spid="2414610"/>
                                        </p:tgtEl>
                                      </p:cBhvr>
                                    </p:animEffect>
                                  </p:childTnLst>
                                </p:cTn>
                              </p:par>
                              <p:par>
                                <p:cTn id="35" presetID="9" presetClass="entr" presetSubtype="0" fill="hold" nodeType="withEffect">
                                  <p:stCondLst>
                                    <p:cond delay="0"/>
                                  </p:stCondLst>
                                  <p:childTnLst>
                                    <p:set>
                                      <p:cBhvr>
                                        <p:cTn id="36" dur="1" fill="hold">
                                          <p:stCondLst>
                                            <p:cond delay="0"/>
                                          </p:stCondLst>
                                        </p:cTn>
                                        <p:tgtEl>
                                          <p:spTgt spid="2414611"/>
                                        </p:tgtEl>
                                        <p:attrNameLst>
                                          <p:attrName>style.visibility</p:attrName>
                                        </p:attrNameLst>
                                      </p:cBhvr>
                                      <p:to>
                                        <p:strVal val="visible"/>
                                      </p:to>
                                    </p:set>
                                    <p:animEffect transition="in" filter="dissolve">
                                      <p:cBhvr>
                                        <p:cTn id="37" dur="500"/>
                                        <p:tgtEl>
                                          <p:spTgt spid="2414611"/>
                                        </p:tgtEl>
                                      </p:cBhvr>
                                    </p:animEffect>
                                  </p:childTnLst>
                                </p:cTn>
                              </p:par>
                              <p:par>
                                <p:cTn id="38" presetID="9" presetClass="entr" presetSubtype="0" fill="hold" nodeType="withEffect">
                                  <p:stCondLst>
                                    <p:cond delay="0"/>
                                  </p:stCondLst>
                                  <p:childTnLst>
                                    <p:set>
                                      <p:cBhvr>
                                        <p:cTn id="39" dur="1" fill="hold">
                                          <p:stCondLst>
                                            <p:cond delay="0"/>
                                          </p:stCondLst>
                                        </p:cTn>
                                        <p:tgtEl>
                                          <p:spTgt spid="2414612"/>
                                        </p:tgtEl>
                                        <p:attrNameLst>
                                          <p:attrName>style.visibility</p:attrName>
                                        </p:attrNameLst>
                                      </p:cBhvr>
                                      <p:to>
                                        <p:strVal val="visible"/>
                                      </p:to>
                                    </p:set>
                                    <p:animEffect transition="in" filter="dissolve">
                                      <p:cBhvr>
                                        <p:cTn id="40" dur="500"/>
                                        <p:tgtEl>
                                          <p:spTgt spid="2414612"/>
                                        </p:tgtEl>
                                      </p:cBhvr>
                                    </p:animEffect>
                                  </p:childTnLst>
                                </p:cTn>
                              </p:par>
                              <p:par>
                                <p:cTn id="41" presetID="9" presetClass="entr" presetSubtype="0" fill="hold" nodeType="withEffect">
                                  <p:stCondLst>
                                    <p:cond delay="0"/>
                                  </p:stCondLst>
                                  <p:childTnLst>
                                    <p:set>
                                      <p:cBhvr>
                                        <p:cTn id="42" dur="1" fill="hold">
                                          <p:stCondLst>
                                            <p:cond delay="0"/>
                                          </p:stCondLst>
                                        </p:cTn>
                                        <p:tgtEl>
                                          <p:spTgt spid="2414613"/>
                                        </p:tgtEl>
                                        <p:attrNameLst>
                                          <p:attrName>style.visibility</p:attrName>
                                        </p:attrNameLst>
                                      </p:cBhvr>
                                      <p:to>
                                        <p:strVal val="visible"/>
                                      </p:to>
                                    </p:set>
                                    <p:animEffect transition="in" filter="dissolve">
                                      <p:cBhvr>
                                        <p:cTn id="43" dur="500"/>
                                        <p:tgtEl>
                                          <p:spTgt spid="2414613"/>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414614"/>
                                        </p:tgtEl>
                                        <p:attrNameLst>
                                          <p:attrName>style.visibility</p:attrName>
                                        </p:attrNameLst>
                                      </p:cBhvr>
                                      <p:to>
                                        <p:strVal val="visible"/>
                                      </p:to>
                                    </p:set>
                                    <p:animEffect transition="in" filter="dissolve">
                                      <p:cBhvr>
                                        <p:cTn id="46" dur="500"/>
                                        <p:tgtEl>
                                          <p:spTgt spid="2414614"/>
                                        </p:tgtEl>
                                      </p:cBhvr>
                                    </p:animEffect>
                                  </p:childTnLst>
                                </p:cTn>
                              </p:par>
                              <p:par>
                                <p:cTn id="47" presetID="9" presetClass="entr" presetSubtype="0" fill="hold" nodeType="withEffect">
                                  <p:stCondLst>
                                    <p:cond delay="0"/>
                                  </p:stCondLst>
                                  <p:childTnLst>
                                    <p:set>
                                      <p:cBhvr>
                                        <p:cTn id="48" dur="1" fill="hold">
                                          <p:stCondLst>
                                            <p:cond delay="0"/>
                                          </p:stCondLst>
                                        </p:cTn>
                                        <p:tgtEl>
                                          <p:spTgt spid="2414615"/>
                                        </p:tgtEl>
                                        <p:attrNameLst>
                                          <p:attrName>style.visibility</p:attrName>
                                        </p:attrNameLst>
                                      </p:cBhvr>
                                      <p:to>
                                        <p:strVal val="visible"/>
                                      </p:to>
                                    </p:set>
                                    <p:animEffect transition="in" filter="dissolve">
                                      <p:cBhvr>
                                        <p:cTn id="49" dur="500"/>
                                        <p:tgtEl>
                                          <p:spTgt spid="2414615"/>
                                        </p:tgtEl>
                                      </p:cBhvr>
                                    </p:animEffect>
                                  </p:childTnLst>
                                </p:cTn>
                              </p:par>
                              <p:par>
                                <p:cTn id="50" presetID="9" presetClass="entr" presetSubtype="0" fill="hold" nodeType="withEffect">
                                  <p:stCondLst>
                                    <p:cond delay="0"/>
                                  </p:stCondLst>
                                  <p:childTnLst>
                                    <p:set>
                                      <p:cBhvr>
                                        <p:cTn id="51" dur="1" fill="hold">
                                          <p:stCondLst>
                                            <p:cond delay="0"/>
                                          </p:stCondLst>
                                        </p:cTn>
                                        <p:tgtEl>
                                          <p:spTgt spid="2414616"/>
                                        </p:tgtEl>
                                        <p:attrNameLst>
                                          <p:attrName>style.visibility</p:attrName>
                                        </p:attrNameLst>
                                      </p:cBhvr>
                                      <p:to>
                                        <p:strVal val="visible"/>
                                      </p:to>
                                    </p:set>
                                    <p:animEffect transition="in" filter="dissolve">
                                      <p:cBhvr>
                                        <p:cTn id="52" dur="500"/>
                                        <p:tgtEl>
                                          <p:spTgt spid="2414616"/>
                                        </p:tgtEl>
                                      </p:cBhvr>
                                    </p:animEffect>
                                  </p:childTnLst>
                                </p:cTn>
                              </p:par>
                              <p:par>
                                <p:cTn id="53" presetID="9" presetClass="entr" presetSubtype="0" fill="hold" nodeType="withEffect">
                                  <p:stCondLst>
                                    <p:cond delay="0"/>
                                  </p:stCondLst>
                                  <p:childTnLst>
                                    <p:set>
                                      <p:cBhvr>
                                        <p:cTn id="54" dur="1" fill="hold">
                                          <p:stCondLst>
                                            <p:cond delay="0"/>
                                          </p:stCondLst>
                                        </p:cTn>
                                        <p:tgtEl>
                                          <p:spTgt spid="2414617"/>
                                        </p:tgtEl>
                                        <p:attrNameLst>
                                          <p:attrName>style.visibility</p:attrName>
                                        </p:attrNameLst>
                                      </p:cBhvr>
                                      <p:to>
                                        <p:strVal val="visible"/>
                                      </p:to>
                                    </p:set>
                                    <p:animEffect transition="in" filter="dissolve">
                                      <p:cBhvr>
                                        <p:cTn id="55" dur="500"/>
                                        <p:tgtEl>
                                          <p:spTgt spid="2414617"/>
                                        </p:tgtEl>
                                      </p:cBhvr>
                                    </p:animEffect>
                                  </p:childTnLst>
                                </p:cTn>
                              </p:par>
                              <p:par>
                                <p:cTn id="56" presetID="9" presetClass="entr" presetSubtype="0" fill="hold" nodeType="withEffect">
                                  <p:stCondLst>
                                    <p:cond delay="0"/>
                                  </p:stCondLst>
                                  <p:childTnLst>
                                    <p:set>
                                      <p:cBhvr>
                                        <p:cTn id="57" dur="1" fill="hold">
                                          <p:stCondLst>
                                            <p:cond delay="0"/>
                                          </p:stCondLst>
                                        </p:cTn>
                                        <p:tgtEl>
                                          <p:spTgt spid="2414618"/>
                                        </p:tgtEl>
                                        <p:attrNameLst>
                                          <p:attrName>style.visibility</p:attrName>
                                        </p:attrNameLst>
                                      </p:cBhvr>
                                      <p:to>
                                        <p:strVal val="visible"/>
                                      </p:to>
                                    </p:set>
                                    <p:animEffect transition="in" filter="dissolve">
                                      <p:cBhvr>
                                        <p:cTn id="58" dur="500"/>
                                        <p:tgtEl>
                                          <p:spTgt spid="2414618"/>
                                        </p:tgtEl>
                                      </p:cBhvr>
                                    </p:animEffect>
                                  </p:childTnLst>
                                </p:cTn>
                              </p:par>
                              <p:par>
                                <p:cTn id="59" presetID="9" presetClass="entr" presetSubtype="0" fill="hold" nodeType="withEffect">
                                  <p:stCondLst>
                                    <p:cond delay="0"/>
                                  </p:stCondLst>
                                  <p:childTnLst>
                                    <p:set>
                                      <p:cBhvr>
                                        <p:cTn id="60" dur="1" fill="hold">
                                          <p:stCondLst>
                                            <p:cond delay="0"/>
                                          </p:stCondLst>
                                        </p:cTn>
                                        <p:tgtEl>
                                          <p:spTgt spid="2414619"/>
                                        </p:tgtEl>
                                        <p:attrNameLst>
                                          <p:attrName>style.visibility</p:attrName>
                                        </p:attrNameLst>
                                      </p:cBhvr>
                                      <p:to>
                                        <p:strVal val="visible"/>
                                      </p:to>
                                    </p:set>
                                    <p:animEffect transition="in" filter="dissolve">
                                      <p:cBhvr>
                                        <p:cTn id="61" dur="500"/>
                                        <p:tgtEl>
                                          <p:spTgt spid="2414619"/>
                                        </p:tgtEl>
                                      </p:cBhvr>
                                    </p:animEffect>
                                  </p:childTnLst>
                                </p:cTn>
                              </p:par>
                              <p:par>
                                <p:cTn id="62" presetID="9" presetClass="entr" presetSubtype="0" fill="hold" nodeType="withEffect">
                                  <p:stCondLst>
                                    <p:cond delay="0"/>
                                  </p:stCondLst>
                                  <p:childTnLst>
                                    <p:set>
                                      <p:cBhvr>
                                        <p:cTn id="63" dur="1" fill="hold">
                                          <p:stCondLst>
                                            <p:cond delay="0"/>
                                          </p:stCondLst>
                                        </p:cTn>
                                        <p:tgtEl>
                                          <p:spTgt spid="2414620"/>
                                        </p:tgtEl>
                                        <p:attrNameLst>
                                          <p:attrName>style.visibility</p:attrName>
                                        </p:attrNameLst>
                                      </p:cBhvr>
                                      <p:to>
                                        <p:strVal val="visible"/>
                                      </p:to>
                                    </p:set>
                                    <p:animEffect transition="in" filter="dissolve">
                                      <p:cBhvr>
                                        <p:cTn id="64" dur="500"/>
                                        <p:tgtEl>
                                          <p:spTgt spid="2414620"/>
                                        </p:tgtEl>
                                      </p:cBhvr>
                                    </p:animEffect>
                                  </p:childTnLst>
                                </p:cTn>
                              </p:par>
                              <p:par>
                                <p:cTn id="65" presetID="9" presetClass="entr" presetSubtype="0" fill="hold" nodeType="withEffect">
                                  <p:stCondLst>
                                    <p:cond delay="0"/>
                                  </p:stCondLst>
                                  <p:childTnLst>
                                    <p:set>
                                      <p:cBhvr>
                                        <p:cTn id="66" dur="1" fill="hold">
                                          <p:stCondLst>
                                            <p:cond delay="0"/>
                                          </p:stCondLst>
                                        </p:cTn>
                                        <p:tgtEl>
                                          <p:spTgt spid="2414621"/>
                                        </p:tgtEl>
                                        <p:attrNameLst>
                                          <p:attrName>style.visibility</p:attrName>
                                        </p:attrNameLst>
                                      </p:cBhvr>
                                      <p:to>
                                        <p:strVal val="visible"/>
                                      </p:to>
                                    </p:set>
                                    <p:animEffect transition="in" filter="dissolve">
                                      <p:cBhvr>
                                        <p:cTn id="67" dur="500"/>
                                        <p:tgtEl>
                                          <p:spTgt spid="2414621"/>
                                        </p:tgtEl>
                                      </p:cBhvr>
                                    </p:animEffect>
                                  </p:childTnLst>
                                </p:cTn>
                              </p:par>
                              <p:par>
                                <p:cTn id="68" presetID="9" presetClass="entr" presetSubtype="0" fill="hold" nodeType="withEffect">
                                  <p:stCondLst>
                                    <p:cond delay="0"/>
                                  </p:stCondLst>
                                  <p:childTnLst>
                                    <p:set>
                                      <p:cBhvr>
                                        <p:cTn id="69" dur="1" fill="hold">
                                          <p:stCondLst>
                                            <p:cond delay="0"/>
                                          </p:stCondLst>
                                        </p:cTn>
                                        <p:tgtEl>
                                          <p:spTgt spid="2414622"/>
                                        </p:tgtEl>
                                        <p:attrNameLst>
                                          <p:attrName>style.visibility</p:attrName>
                                        </p:attrNameLst>
                                      </p:cBhvr>
                                      <p:to>
                                        <p:strVal val="visible"/>
                                      </p:to>
                                    </p:set>
                                    <p:animEffect transition="in" filter="dissolve">
                                      <p:cBhvr>
                                        <p:cTn id="70" dur="500"/>
                                        <p:tgtEl>
                                          <p:spTgt spid="2414622"/>
                                        </p:tgtEl>
                                      </p:cBhvr>
                                    </p:animEffect>
                                  </p:childTnLst>
                                </p:cTn>
                              </p:par>
                              <p:par>
                                <p:cTn id="71" presetID="9" presetClass="entr" presetSubtype="0" fill="hold" grpId="0" nodeType="withEffect">
                                  <p:stCondLst>
                                    <p:cond delay="0"/>
                                  </p:stCondLst>
                                  <p:childTnLst>
                                    <p:set>
                                      <p:cBhvr>
                                        <p:cTn id="72" dur="1" fill="hold">
                                          <p:stCondLst>
                                            <p:cond delay="0"/>
                                          </p:stCondLst>
                                        </p:cTn>
                                        <p:tgtEl>
                                          <p:spTgt spid="2414623"/>
                                        </p:tgtEl>
                                        <p:attrNameLst>
                                          <p:attrName>style.visibility</p:attrName>
                                        </p:attrNameLst>
                                      </p:cBhvr>
                                      <p:to>
                                        <p:strVal val="visible"/>
                                      </p:to>
                                    </p:set>
                                    <p:animEffect transition="in" filter="dissolve">
                                      <p:cBhvr>
                                        <p:cTn id="73" dur="500"/>
                                        <p:tgtEl>
                                          <p:spTgt spid="2414623"/>
                                        </p:tgtEl>
                                      </p:cBhvr>
                                    </p:animEffect>
                                  </p:childTnLst>
                                </p:cTn>
                              </p:par>
                              <p:par>
                                <p:cTn id="74" presetID="9" presetClass="entr" presetSubtype="0" fill="hold" nodeType="withEffect">
                                  <p:stCondLst>
                                    <p:cond delay="0"/>
                                  </p:stCondLst>
                                  <p:childTnLst>
                                    <p:set>
                                      <p:cBhvr>
                                        <p:cTn id="75" dur="1" fill="hold">
                                          <p:stCondLst>
                                            <p:cond delay="0"/>
                                          </p:stCondLst>
                                        </p:cTn>
                                        <p:tgtEl>
                                          <p:spTgt spid="2414624"/>
                                        </p:tgtEl>
                                        <p:attrNameLst>
                                          <p:attrName>style.visibility</p:attrName>
                                        </p:attrNameLst>
                                      </p:cBhvr>
                                      <p:to>
                                        <p:strVal val="visible"/>
                                      </p:to>
                                    </p:set>
                                    <p:animEffect transition="in" filter="dissolve">
                                      <p:cBhvr>
                                        <p:cTn id="76" dur="500"/>
                                        <p:tgtEl>
                                          <p:spTgt spid="2414624"/>
                                        </p:tgtEl>
                                      </p:cBhvr>
                                    </p:animEffect>
                                  </p:childTnLst>
                                </p:cTn>
                              </p:par>
                              <p:par>
                                <p:cTn id="77" presetID="9" presetClass="entr" presetSubtype="0" fill="hold" nodeType="withEffect">
                                  <p:stCondLst>
                                    <p:cond delay="0"/>
                                  </p:stCondLst>
                                  <p:childTnLst>
                                    <p:set>
                                      <p:cBhvr>
                                        <p:cTn id="78" dur="1" fill="hold">
                                          <p:stCondLst>
                                            <p:cond delay="0"/>
                                          </p:stCondLst>
                                        </p:cTn>
                                        <p:tgtEl>
                                          <p:spTgt spid="2414625"/>
                                        </p:tgtEl>
                                        <p:attrNameLst>
                                          <p:attrName>style.visibility</p:attrName>
                                        </p:attrNameLst>
                                      </p:cBhvr>
                                      <p:to>
                                        <p:strVal val="visible"/>
                                      </p:to>
                                    </p:set>
                                    <p:animEffect transition="in" filter="dissolve">
                                      <p:cBhvr>
                                        <p:cTn id="79" dur="500"/>
                                        <p:tgtEl>
                                          <p:spTgt spid="2414625"/>
                                        </p:tgtEl>
                                      </p:cBhvr>
                                    </p:animEffect>
                                  </p:childTnLst>
                                </p:cTn>
                              </p:par>
                              <p:par>
                                <p:cTn id="80" presetID="9" presetClass="entr" presetSubtype="0" fill="hold" nodeType="withEffect">
                                  <p:stCondLst>
                                    <p:cond delay="0"/>
                                  </p:stCondLst>
                                  <p:childTnLst>
                                    <p:set>
                                      <p:cBhvr>
                                        <p:cTn id="81" dur="1" fill="hold">
                                          <p:stCondLst>
                                            <p:cond delay="0"/>
                                          </p:stCondLst>
                                        </p:cTn>
                                        <p:tgtEl>
                                          <p:spTgt spid="2414626"/>
                                        </p:tgtEl>
                                        <p:attrNameLst>
                                          <p:attrName>style.visibility</p:attrName>
                                        </p:attrNameLst>
                                      </p:cBhvr>
                                      <p:to>
                                        <p:strVal val="visible"/>
                                      </p:to>
                                    </p:set>
                                    <p:animEffect transition="in" filter="dissolve">
                                      <p:cBhvr>
                                        <p:cTn id="82" dur="500"/>
                                        <p:tgtEl>
                                          <p:spTgt spid="2414626"/>
                                        </p:tgtEl>
                                      </p:cBhvr>
                                    </p:animEffect>
                                  </p:childTnLst>
                                </p:cTn>
                              </p:par>
                              <p:par>
                                <p:cTn id="83" presetID="9" presetClass="entr" presetSubtype="0" fill="hold" nodeType="withEffect">
                                  <p:stCondLst>
                                    <p:cond delay="0"/>
                                  </p:stCondLst>
                                  <p:childTnLst>
                                    <p:set>
                                      <p:cBhvr>
                                        <p:cTn id="84" dur="1" fill="hold">
                                          <p:stCondLst>
                                            <p:cond delay="0"/>
                                          </p:stCondLst>
                                        </p:cTn>
                                        <p:tgtEl>
                                          <p:spTgt spid="2414627"/>
                                        </p:tgtEl>
                                        <p:attrNameLst>
                                          <p:attrName>style.visibility</p:attrName>
                                        </p:attrNameLst>
                                      </p:cBhvr>
                                      <p:to>
                                        <p:strVal val="visible"/>
                                      </p:to>
                                    </p:set>
                                    <p:animEffect transition="in" filter="dissolve">
                                      <p:cBhvr>
                                        <p:cTn id="85" dur="500"/>
                                        <p:tgtEl>
                                          <p:spTgt spid="2414627"/>
                                        </p:tgtEl>
                                      </p:cBhvr>
                                    </p:animEffect>
                                  </p:childTnLst>
                                </p:cTn>
                              </p:par>
                              <p:par>
                                <p:cTn id="86" presetID="9" presetClass="entr" presetSubtype="0" fill="hold" nodeType="withEffect">
                                  <p:stCondLst>
                                    <p:cond delay="0"/>
                                  </p:stCondLst>
                                  <p:childTnLst>
                                    <p:set>
                                      <p:cBhvr>
                                        <p:cTn id="87" dur="1" fill="hold">
                                          <p:stCondLst>
                                            <p:cond delay="0"/>
                                          </p:stCondLst>
                                        </p:cTn>
                                        <p:tgtEl>
                                          <p:spTgt spid="2414628"/>
                                        </p:tgtEl>
                                        <p:attrNameLst>
                                          <p:attrName>style.visibility</p:attrName>
                                        </p:attrNameLst>
                                      </p:cBhvr>
                                      <p:to>
                                        <p:strVal val="visible"/>
                                      </p:to>
                                    </p:set>
                                    <p:animEffect transition="in" filter="dissolve">
                                      <p:cBhvr>
                                        <p:cTn id="88" dur="500"/>
                                        <p:tgtEl>
                                          <p:spTgt spid="2414628"/>
                                        </p:tgtEl>
                                      </p:cBhvr>
                                    </p:animEffect>
                                  </p:childTnLst>
                                </p:cTn>
                              </p:par>
                              <p:par>
                                <p:cTn id="89" presetID="9" presetClass="entr" presetSubtype="0" fill="hold" grpId="0" nodeType="withEffect">
                                  <p:stCondLst>
                                    <p:cond delay="0"/>
                                  </p:stCondLst>
                                  <p:childTnLst>
                                    <p:set>
                                      <p:cBhvr>
                                        <p:cTn id="90" dur="1" fill="hold">
                                          <p:stCondLst>
                                            <p:cond delay="0"/>
                                          </p:stCondLst>
                                        </p:cTn>
                                        <p:tgtEl>
                                          <p:spTgt spid="2414629"/>
                                        </p:tgtEl>
                                        <p:attrNameLst>
                                          <p:attrName>style.visibility</p:attrName>
                                        </p:attrNameLst>
                                      </p:cBhvr>
                                      <p:to>
                                        <p:strVal val="visible"/>
                                      </p:to>
                                    </p:set>
                                    <p:animEffect transition="in" filter="dissolve">
                                      <p:cBhvr>
                                        <p:cTn id="91" dur="500"/>
                                        <p:tgtEl>
                                          <p:spTgt spid="2414629"/>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2414630"/>
                                        </p:tgtEl>
                                        <p:attrNameLst>
                                          <p:attrName>style.visibility</p:attrName>
                                        </p:attrNameLst>
                                      </p:cBhvr>
                                      <p:to>
                                        <p:strVal val="visible"/>
                                      </p:to>
                                    </p:set>
                                    <p:animEffect transition="in" filter="dissolve">
                                      <p:cBhvr>
                                        <p:cTn id="94" dur="500"/>
                                        <p:tgtEl>
                                          <p:spTgt spid="2414630"/>
                                        </p:tgtEl>
                                      </p:cBhvr>
                                    </p:animEffect>
                                  </p:childTnLst>
                                </p:cTn>
                              </p:par>
                              <p:par>
                                <p:cTn id="95" presetID="9" presetClass="entr" presetSubtype="0" fill="hold" grpId="0" nodeType="withEffect">
                                  <p:stCondLst>
                                    <p:cond delay="0"/>
                                  </p:stCondLst>
                                  <p:childTnLst>
                                    <p:set>
                                      <p:cBhvr>
                                        <p:cTn id="96" dur="1" fill="hold">
                                          <p:stCondLst>
                                            <p:cond delay="0"/>
                                          </p:stCondLst>
                                        </p:cTn>
                                        <p:tgtEl>
                                          <p:spTgt spid="2414631"/>
                                        </p:tgtEl>
                                        <p:attrNameLst>
                                          <p:attrName>style.visibility</p:attrName>
                                        </p:attrNameLst>
                                      </p:cBhvr>
                                      <p:to>
                                        <p:strVal val="visible"/>
                                      </p:to>
                                    </p:set>
                                    <p:animEffect transition="in" filter="dissolve">
                                      <p:cBhvr>
                                        <p:cTn id="97" dur="500"/>
                                        <p:tgtEl>
                                          <p:spTgt spid="2414631"/>
                                        </p:tgtEl>
                                      </p:cBhvr>
                                    </p:animEffect>
                                  </p:childTnLst>
                                </p:cTn>
                              </p:par>
                              <p:par>
                                <p:cTn id="98" presetID="9" presetClass="entr" presetSubtype="0" fill="hold" grpId="0" nodeType="withEffect">
                                  <p:stCondLst>
                                    <p:cond delay="0"/>
                                  </p:stCondLst>
                                  <p:childTnLst>
                                    <p:set>
                                      <p:cBhvr>
                                        <p:cTn id="99" dur="1" fill="hold">
                                          <p:stCondLst>
                                            <p:cond delay="0"/>
                                          </p:stCondLst>
                                        </p:cTn>
                                        <p:tgtEl>
                                          <p:spTgt spid="2414632"/>
                                        </p:tgtEl>
                                        <p:attrNameLst>
                                          <p:attrName>style.visibility</p:attrName>
                                        </p:attrNameLst>
                                      </p:cBhvr>
                                      <p:to>
                                        <p:strVal val="visible"/>
                                      </p:to>
                                    </p:set>
                                    <p:animEffect transition="in" filter="dissolve">
                                      <p:cBhvr>
                                        <p:cTn id="100" dur="500"/>
                                        <p:tgtEl>
                                          <p:spTgt spid="2414632"/>
                                        </p:tgtEl>
                                      </p:cBhvr>
                                    </p:animEffect>
                                  </p:childTnLst>
                                </p:cTn>
                              </p:par>
                              <p:par>
                                <p:cTn id="101" presetID="9" presetClass="entr" presetSubtype="0" fill="hold" grpId="0" nodeType="withEffect">
                                  <p:stCondLst>
                                    <p:cond delay="0"/>
                                  </p:stCondLst>
                                  <p:childTnLst>
                                    <p:set>
                                      <p:cBhvr>
                                        <p:cTn id="102" dur="1" fill="hold">
                                          <p:stCondLst>
                                            <p:cond delay="0"/>
                                          </p:stCondLst>
                                        </p:cTn>
                                        <p:tgtEl>
                                          <p:spTgt spid="2414633"/>
                                        </p:tgtEl>
                                        <p:attrNameLst>
                                          <p:attrName>style.visibility</p:attrName>
                                        </p:attrNameLst>
                                      </p:cBhvr>
                                      <p:to>
                                        <p:strVal val="visible"/>
                                      </p:to>
                                    </p:set>
                                    <p:animEffect transition="in" filter="dissolve">
                                      <p:cBhvr>
                                        <p:cTn id="103" dur="500"/>
                                        <p:tgtEl>
                                          <p:spTgt spid="2414633"/>
                                        </p:tgtEl>
                                      </p:cBhvr>
                                    </p:animEffect>
                                  </p:childTnLst>
                                </p:cTn>
                              </p:par>
                              <p:par>
                                <p:cTn id="104" presetID="9" presetClass="entr" presetSubtype="0" fill="hold" grpId="0" nodeType="withEffect">
                                  <p:stCondLst>
                                    <p:cond delay="0"/>
                                  </p:stCondLst>
                                  <p:childTnLst>
                                    <p:set>
                                      <p:cBhvr>
                                        <p:cTn id="105" dur="1" fill="hold">
                                          <p:stCondLst>
                                            <p:cond delay="0"/>
                                          </p:stCondLst>
                                        </p:cTn>
                                        <p:tgtEl>
                                          <p:spTgt spid="2414634"/>
                                        </p:tgtEl>
                                        <p:attrNameLst>
                                          <p:attrName>style.visibility</p:attrName>
                                        </p:attrNameLst>
                                      </p:cBhvr>
                                      <p:to>
                                        <p:strVal val="visible"/>
                                      </p:to>
                                    </p:set>
                                    <p:animEffect transition="in" filter="dissolve">
                                      <p:cBhvr>
                                        <p:cTn id="106" dur="500"/>
                                        <p:tgtEl>
                                          <p:spTgt spid="2414634"/>
                                        </p:tgtEl>
                                      </p:cBhvr>
                                    </p:animEffect>
                                  </p:childTnLst>
                                </p:cTn>
                              </p:par>
                              <p:par>
                                <p:cTn id="107" presetID="9" presetClass="entr" presetSubtype="0" fill="hold" grpId="0" nodeType="withEffect">
                                  <p:stCondLst>
                                    <p:cond delay="0"/>
                                  </p:stCondLst>
                                  <p:childTnLst>
                                    <p:set>
                                      <p:cBhvr>
                                        <p:cTn id="108" dur="1" fill="hold">
                                          <p:stCondLst>
                                            <p:cond delay="0"/>
                                          </p:stCondLst>
                                        </p:cTn>
                                        <p:tgtEl>
                                          <p:spTgt spid="2414635"/>
                                        </p:tgtEl>
                                        <p:attrNameLst>
                                          <p:attrName>style.visibility</p:attrName>
                                        </p:attrNameLst>
                                      </p:cBhvr>
                                      <p:to>
                                        <p:strVal val="visible"/>
                                      </p:to>
                                    </p:set>
                                    <p:animEffect transition="in" filter="dissolve">
                                      <p:cBhvr>
                                        <p:cTn id="109" dur="500"/>
                                        <p:tgtEl>
                                          <p:spTgt spid="2414635"/>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2414636"/>
                                        </p:tgtEl>
                                        <p:attrNameLst>
                                          <p:attrName>style.visibility</p:attrName>
                                        </p:attrNameLst>
                                      </p:cBhvr>
                                      <p:to>
                                        <p:strVal val="visible"/>
                                      </p:to>
                                    </p:set>
                                    <p:animEffect transition="in" filter="dissolve">
                                      <p:cBhvr>
                                        <p:cTn id="112" dur="500"/>
                                        <p:tgtEl>
                                          <p:spTgt spid="2414636"/>
                                        </p:tgtEl>
                                      </p:cBhvr>
                                    </p:animEffect>
                                  </p:childTnLst>
                                </p:cTn>
                              </p:par>
                              <p:par>
                                <p:cTn id="113" presetID="9" presetClass="entr" presetSubtype="0" fill="hold" nodeType="withEffect">
                                  <p:stCondLst>
                                    <p:cond delay="0"/>
                                  </p:stCondLst>
                                  <p:childTnLst>
                                    <p:set>
                                      <p:cBhvr>
                                        <p:cTn id="114" dur="1" fill="hold">
                                          <p:stCondLst>
                                            <p:cond delay="0"/>
                                          </p:stCondLst>
                                        </p:cTn>
                                        <p:tgtEl>
                                          <p:spTgt spid="2414637"/>
                                        </p:tgtEl>
                                        <p:attrNameLst>
                                          <p:attrName>style.visibility</p:attrName>
                                        </p:attrNameLst>
                                      </p:cBhvr>
                                      <p:to>
                                        <p:strVal val="visible"/>
                                      </p:to>
                                    </p:set>
                                    <p:animEffect transition="in" filter="dissolve">
                                      <p:cBhvr>
                                        <p:cTn id="115" dur="500"/>
                                        <p:tgtEl>
                                          <p:spTgt spid="2414637"/>
                                        </p:tgtEl>
                                      </p:cBhvr>
                                    </p:animEffect>
                                  </p:childTnLst>
                                </p:cTn>
                              </p:par>
                              <p:par>
                                <p:cTn id="116" presetID="9" presetClass="entr" presetSubtype="0" fill="hold" nodeType="withEffect">
                                  <p:stCondLst>
                                    <p:cond delay="0"/>
                                  </p:stCondLst>
                                  <p:childTnLst>
                                    <p:set>
                                      <p:cBhvr>
                                        <p:cTn id="117" dur="1" fill="hold">
                                          <p:stCondLst>
                                            <p:cond delay="0"/>
                                          </p:stCondLst>
                                        </p:cTn>
                                        <p:tgtEl>
                                          <p:spTgt spid="2414638"/>
                                        </p:tgtEl>
                                        <p:attrNameLst>
                                          <p:attrName>style.visibility</p:attrName>
                                        </p:attrNameLst>
                                      </p:cBhvr>
                                      <p:to>
                                        <p:strVal val="visible"/>
                                      </p:to>
                                    </p:set>
                                    <p:animEffect transition="in" filter="dissolve">
                                      <p:cBhvr>
                                        <p:cTn id="118" dur="500"/>
                                        <p:tgtEl>
                                          <p:spTgt spid="2414638"/>
                                        </p:tgtEl>
                                      </p:cBhvr>
                                    </p:animEffect>
                                  </p:childTnLst>
                                </p:cTn>
                              </p:par>
                              <p:par>
                                <p:cTn id="119" presetID="9" presetClass="entr" presetSubtype="0" fill="hold" nodeType="withEffect">
                                  <p:stCondLst>
                                    <p:cond delay="0"/>
                                  </p:stCondLst>
                                  <p:childTnLst>
                                    <p:set>
                                      <p:cBhvr>
                                        <p:cTn id="120" dur="1" fill="hold">
                                          <p:stCondLst>
                                            <p:cond delay="0"/>
                                          </p:stCondLst>
                                        </p:cTn>
                                        <p:tgtEl>
                                          <p:spTgt spid="2414639"/>
                                        </p:tgtEl>
                                        <p:attrNameLst>
                                          <p:attrName>style.visibility</p:attrName>
                                        </p:attrNameLst>
                                      </p:cBhvr>
                                      <p:to>
                                        <p:strVal val="visible"/>
                                      </p:to>
                                    </p:set>
                                    <p:animEffect transition="in" filter="dissolve">
                                      <p:cBhvr>
                                        <p:cTn id="121" dur="500"/>
                                        <p:tgtEl>
                                          <p:spTgt spid="2414639"/>
                                        </p:tgtEl>
                                      </p:cBhvr>
                                    </p:animEffect>
                                  </p:childTnLst>
                                </p:cTn>
                              </p:par>
                              <p:par>
                                <p:cTn id="122" presetID="9" presetClass="entr" presetSubtype="0" fill="hold" nodeType="withEffect">
                                  <p:stCondLst>
                                    <p:cond delay="0"/>
                                  </p:stCondLst>
                                  <p:childTnLst>
                                    <p:set>
                                      <p:cBhvr>
                                        <p:cTn id="123" dur="1" fill="hold">
                                          <p:stCondLst>
                                            <p:cond delay="0"/>
                                          </p:stCondLst>
                                        </p:cTn>
                                        <p:tgtEl>
                                          <p:spTgt spid="2414640"/>
                                        </p:tgtEl>
                                        <p:attrNameLst>
                                          <p:attrName>style.visibility</p:attrName>
                                        </p:attrNameLst>
                                      </p:cBhvr>
                                      <p:to>
                                        <p:strVal val="visible"/>
                                      </p:to>
                                    </p:set>
                                    <p:animEffect transition="in" filter="dissolve">
                                      <p:cBhvr>
                                        <p:cTn id="124" dur="500"/>
                                        <p:tgtEl>
                                          <p:spTgt spid="2414640"/>
                                        </p:tgtEl>
                                      </p:cBhvr>
                                    </p:animEffect>
                                  </p:childTnLst>
                                </p:cTn>
                              </p:par>
                              <p:par>
                                <p:cTn id="125" presetID="9" presetClass="entr" presetSubtype="0" fill="hold" nodeType="withEffect">
                                  <p:stCondLst>
                                    <p:cond delay="0"/>
                                  </p:stCondLst>
                                  <p:childTnLst>
                                    <p:set>
                                      <p:cBhvr>
                                        <p:cTn id="126" dur="1" fill="hold">
                                          <p:stCondLst>
                                            <p:cond delay="0"/>
                                          </p:stCondLst>
                                        </p:cTn>
                                        <p:tgtEl>
                                          <p:spTgt spid="2"/>
                                        </p:tgtEl>
                                        <p:attrNameLst>
                                          <p:attrName>style.visibility</p:attrName>
                                        </p:attrNameLst>
                                      </p:cBhvr>
                                      <p:to>
                                        <p:strVal val="visible"/>
                                      </p:to>
                                    </p:set>
                                    <p:animEffect transition="in" filter="dissolve">
                                      <p:cBhvr>
                                        <p:cTn id="127" dur="500"/>
                                        <p:tgtEl>
                                          <p:spTgt spid="2"/>
                                        </p:tgtEl>
                                      </p:cBhvr>
                                    </p:animEffect>
                                  </p:childTnLst>
                                </p:cTn>
                              </p:par>
                              <p:par>
                                <p:cTn id="128" presetID="9" presetClass="entr" presetSubtype="0" fill="hold" grpId="0" nodeType="withEffect">
                                  <p:stCondLst>
                                    <p:cond delay="0"/>
                                  </p:stCondLst>
                                  <p:childTnLst>
                                    <p:set>
                                      <p:cBhvr>
                                        <p:cTn id="129" dur="1" fill="hold">
                                          <p:stCondLst>
                                            <p:cond delay="0"/>
                                          </p:stCondLst>
                                        </p:cTn>
                                        <p:tgtEl>
                                          <p:spTgt spid="2414649"/>
                                        </p:tgtEl>
                                        <p:attrNameLst>
                                          <p:attrName>style.visibility</p:attrName>
                                        </p:attrNameLst>
                                      </p:cBhvr>
                                      <p:to>
                                        <p:strVal val="visible"/>
                                      </p:to>
                                    </p:set>
                                    <p:animEffect transition="in" filter="dissolve">
                                      <p:cBhvr>
                                        <p:cTn id="130" dur="500"/>
                                        <p:tgtEl>
                                          <p:spTgt spid="2414649"/>
                                        </p:tgtEl>
                                      </p:cBhvr>
                                    </p:animEffect>
                                  </p:childTnLst>
                                </p:cTn>
                              </p:par>
                              <p:par>
                                <p:cTn id="131" presetID="9" presetClass="entr" presetSubtype="0" fill="hold" grpId="0" nodeType="withEffect">
                                  <p:stCondLst>
                                    <p:cond delay="0"/>
                                  </p:stCondLst>
                                  <p:childTnLst>
                                    <p:set>
                                      <p:cBhvr>
                                        <p:cTn id="132" dur="1" fill="hold">
                                          <p:stCondLst>
                                            <p:cond delay="0"/>
                                          </p:stCondLst>
                                        </p:cTn>
                                        <p:tgtEl>
                                          <p:spTgt spid="2414650"/>
                                        </p:tgtEl>
                                        <p:attrNameLst>
                                          <p:attrName>style.visibility</p:attrName>
                                        </p:attrNameLst>
                                      </p:cBhvr>
                                      <p:to>
                                        <p:strVal val="visible"/>
                                      </p:to>
                                    </p:set>
                                    <p:animEffect transition="in" filter="dissolve">
                                      <p:cBhvr>
                                        <p:cTn id="133" dur="500"/>
                                        <p:tgtEl>
                                          <p:spTgt spid="2414650"/>
                                        </p:tgtEl>
                                      </p:cBhvr>
                                    </p:animEffect>
                                  </p:childTnLst>
                                </p:cTn>
                              </p:par>
                              <p:par>
                                <p:cTn id="134" presetID="9" presetClass="entr" presetSubtype="0" fill="hold" grpId="0" nodeType="withEffect">
                                  <p:stCondLst>
                                    <p:cond delay="0"/>
                                  </p:stCondLst>
                                  <p:childTnLst>
                                    <p:set>
                                      <p:cBhvr>
                                        <p:cTn id="135" dur="1" fill="hold">
                                          <p:stCondLst>
                                            <p:cond delay="0"/>
                                          </p:stCondLst>
                                        </p:cTn>
                                        <p:tgtEl>
                                          <p:spTgt spid="2414723"/>
                                        </p:tgtEl>
                                        <p:attrNameLst>
                                          <p:attrName>style.visibility</p:attrName>
                                        </p:attrNameLst>
                                      </p:cBhvr>
                                      <p:to>
                                        <p:strVal val="visible"/>
                                      </p:to>
                                    </p:set>
                                    <p:animEffect transition="in" filter="dissolve">
                                      <p:cBhvr>
                                        <p:cTn id="136" dur="500"/>
                                        <p:tgtEl>
                                          <p:spTgt spid="2414723"/>
                                        </p:tgtEl>
                                      </p:cBhvr>
                                    </p:animEffect>
                                  </p:childTnLst>
                                </p:cTn>
                              </p:par>
                              <p:par>
                                <p:cTn id="137" presetID="9" presetClass="entr" presetSubtype="0" fill="hold" grpId="0" nodeType="withEffect">
                                  <p:stCondLst>
                                    <p:cond delay="0"/>
                                  </p:stCondLst>
                                  <p:childTnLst>
                                    <p:set>
                                      <p:cBhvr>
                                        <p:cTn id="138" dur="1" fill="hold">
                                          <p:stCondLst>
                                            <p:cond delay="0"/>
                                          </p:stCondLst>
                                        </p:cTn>
                                        <p:tgtEl>
                                          <p:spTgt spid="2414724"/>
                                        </p:tgtEl>
                                        <p:attrNameLst>
                                          <p:attrName>style.visibility</p:attrName>
                                        </p:attrNameLst>
                                      </p:cBhvr>
                                      <p:to>
                                        <p:strVal val="visible"/>
                                      </p:to>
                                    </p:set>
                                    <p:animEffect transition="in" filter="dissolve">
                                      <p:cBhvr>
                                        <p:cTn id="139" dur="500"/>
                                        <p:tgtEl>
                                          <p:spTgt spid="2414724"/>
                                        </p:tgtEl>
                                      </p:cBhvr>
                                    </p:animEffect>
                                  </p:childTnLst>
                                </p:cTn>
                              </p:par>
                              <p:par>
                                <p:cTn id="140" presetID="9" presetClass="entr" presetSubtype="0" fill="hold" nodeType="withEffect">
                                  <p:stCondLst>
                                    <p:cond delay="0"/>
                                  </p:stCondLst>
                                  <p:childTnLst>
                                    <p:set>
                                      <p:cBhvr>
                                        <p:cTn id="141" dur="1" fill="hold">
                                          <p:stCondLst>
                                            <p:cond delay="0"/>
                                          </p:stCondLst>
                                        </p:cTn>
                                        <p:tgtEl>
                                          <p:spTgt spid="2414725"/>
                                        </p:tgtEl>
                                        <p:attrNameLst>
                                          <p:attrName>style.visibility</p:attrName>
                                        </p:attrNameLst>
                                      </p:cBhvr>
                                      <p:to>
                                        <p:strVal val="visible"/>
                                      </p:to>
                                    </p:set>
                                    <p:animEffect transition="in" filter="dissolve">
                                      <p:cBhvr>
                                        <p:cTn id="142" dur="500"/>
                                        <p:tgtEl>
                                          <p:spTgt spid="2414725"/>
                                        </p:tgtEl>
                                      </p:cBhvr>
                                    </p:animEffect>
                                  </p:childTnLst>
                                </p:cTn>
                              </p:par>
                              <p:par>
                                <p:cTn id="143" presetID="9" presetClass="entr" presetSubtype="0" fill="hold" nodeType="withEffect">
                                  <p:stCondLst>
                                    <p:cond delay="0"/>
                                  </p:stCondLst>
                                  <p:childTnLst>
                                    <p:set>
                                      <p:cBhvr>
                                        <p:cTn id="144" dur="1" fill="hold">
                                          <p:stCondLst>
                                            <p:cond delay="0"/>
                                          </p:stCondLst>
                                        </p:cTn>
                                        <p:tgtEl>
                                          <p:spTgt spid="2414726"/>
                                        </p:tgtEl>
                                        <p:attrNameLst>
                                          <p:attrName>style.visibility</p:attrName>
                                        </p:attrNameLst>
                                      </p:cBhvr>
                                      <p:to>
                                        <p:strVal val="visible"/>
                                      </p:to>
                                    </p:set>
                                    <p:animEffect transition="in" filter="dissolve">
                                      <p:cBhvr>
                                        <p:cTn id="145" dur="500"/>
                                        <p:tgtEl>
                                          <p:spTgt spid="2414726"/>
                                        </p:tgtEl>
                                      </p:cBhvr>
                                    </p:animEffect>
                                  </p:childTnLst>
                                </p:cTn>
                              </p:par>
                              <p:par>
                                <p:cTn id="146" presetID="9" presetClass="entr" presetSubtype="0" fill="hold" nodeType="withEffect">
                                  <p:stCondLst>
                                    <p:cond delay="0"/>
                                  </p:stCondLst>
                                  <p:childTnLst>
                                    <p:set>
                                      <p:cBhvr>
                                        <p:cTn id="147" dur="1" fill="hold">
                                          <p:stCondLst>
                                            <p:cond delay="0"/>
                                          </p:stCondLst>
                                        </p:cTn>
                                        <p:tgtEl>
                                          <p:spTgt spid="2414727"/>
                                        </p:tgtEl>
                                        <p:attrNameLst>
                                          <p:attrName>style.visibility</p:attrName>
                                        </p:attrNameLst>
                                      </p:cBhvr>
                                      <p:to>
                                        <p:strVal val="visible"/>
                                      </p:to>
                                    </p:set>
                                    <p:animEffect transition="in" filter="dissolve">
                                      <p:cBhvr>
                                        <p:cTn id="148" dur="500"/>
                                        <p:tgtEl>
                                          <p:spTgt spid="2414727"/>
                                        </p:tgtEl>
                                      </p:cBhvr>
                                    </p:animEffect>
                                  </p:childTnLst>
                                </p:cTn>
                              </p:par>
                              <p:par>
                                <p:cTn id="149" presetID="9" presetClass="entr" presetSubtype="0" fill="hold" nodeType="withEffect">
                                  <p:stCondLst>
                                    <p:cond delay="0"/>
                                  </p:stCondLst>
                                  <p:childTnLst>
                                    <p:set>
                                      <p:cBhvr>
                                        <p:cTn id="150" dur="1" fill="hold">
                                          <p:stCondLst>
                                            <p:cond delay="0"/>
                                          </p:stCondLst>
                                        </p:cTn>
                                        <p:tgtEl>
                                          <p:spTgt spid="2414728"/>
                                        </p:tgtEl>
                                        <p:attrNameLst>
                                          <p:attrName>style.visibility</p:attrName>
                                        </p:attrNameLst>
                                      </p:cBhvr>
                                      <p:to>
                                        <p:strVal val="visible"/>
                                      </p:to>
                                    </p:set>
                                    <p:animEffect transition="in" filter="dissolve">
                                      <p:cBhvr>
                                        <p:cTn id="151" dur="500"/>
                                        <p:tgtEl>
                                          <p:spTgt spid="2414728"/>
                                        </p:tgtEl>
                                      </p:cBhvr>
                                    </p:animEffect>
                                  </p:childTnLst>
                                </p:cTn>
                              </p:par>
                              <p:par>
                                <p:cTn id="152" presetID="9" presetClass="entr" presetSubtype="0" fill="hold" nodeType="withEffect">
                                  <p:stCondLst>
                                    <p:cond delay="0"/>
                                  </p:stCondLst>
                                  <p:childTnLst>
                                    <p:set>
                                      <p:cBhvr>
                                        <p:cTn id="153" dur="1" fill="hold">
                                          <p:stCondLst>
                                            <p:cond delay="0"/>
                                          </p:stCondLst>
                                        </p:cTn>
                                        <p:tgtEl>
                                          <p:spTgt spid="3"/>
                                        </p:tgtEl>
                                        <p:attrNameLst>
                                          <p:attrName>style.visibility</p:attrName>
                                        </p:attrNameLst>
                                      </p:cBhvr>
                                      <p:to>
                                        <p:strVal val="visible"/>
                                      </p:to>
                                    </p:set>
                                    <p:animEffect transition="in" filter="dissolve">
                                      <p:cBhvr>
                                        <p:cTn id="154" dur="500"/>
                                        <p:tgtEl>
                                          <p:spTgt spid="3"/>
                                        </p:tgtEl>
                                      </p:cBhvr>
                                    </p:animEffect>
                                  </p:childTnLst>
                                </p:cTn>
                              </p:par>
                              <p:par>
                                <p:cTn id="155" presetID="9" presetClass="entr" presetSubtype="0" fill="hold" nodeType="withEffect">
                                  <p:stCondLst>
                                    <p:cond delay="0"/>
                                  </p:stCondLst>
                                  <p:childTnLst>
                                    <p:set>
                                      <p:cBhvr>
                                        <p:cTn id="156" dur="1" fill="hold">
                                          <p:stCondLst>
                                            <p:cond delay="0"/>
                                          </p:stCondLst>
                                        </p:cTn>
                                        <p:tgtEl>
                                          <p:spTgt spid="4"/>
                                        </p:tgtEl>
                                        <p:attrNameLst>
                                          <p:attrName>style.visibility</p:attrName>
                                        </p:attrNameLst>
                                      </p:cBhvr>
                                      <p:to>
                                        <p:strVal val="visible"/>
                                      </p:to>
                                    </p:set>
                                    <p:animEffect transition="in" filter="dissolve">
                                      <p:cBhvr>
                                        <p:cTn id="157" dur="500"/>
                                        <p:tgtEl>
                                          <p:spTgt spid="4"/>
                                        </p:tgtEl>
                                      </p:cBhvr>
                                    </p:animEffect>
                                  </p:childTnLst>
                                </p:cTn>
                              </p:par>
                              <p:par>
                                <p:cTn id="158" presetID="9" presetClass="entr" presetSubtype="0" fill="hold" grpId="0" nodeType="withEffect">
                                  <p:stCondLst>
                                    <p:cond delay="0"/>
                                  </p:stCondLst>
                                  <p:childTnLst>
                                    <p:set>
                                      <p:cBhvr>
                                        <p:cTn id="159" dur="1" fill="hold">
                                          <p:stCondLst>
                                            <p:cond delay="0"/>
                                          </p:stCondLst>
                                        </p:cTn>
                                        <p:tgtEl>
                                          <p:spTgt spid="2414735"/>
                                        </p:tgtEl>
                                        <p:attrNameLst>
                                          <p:attrName>style.visibility</p:attrName>
                                        </p:attrNameLst>
                                      </p:cBhvr>
                                      <p:to>
                                        <p:strVal val="visible"/>
                                      </p:to>
                                    </p:set>
                                    <p:animEffect transition="in" filter="dissolve">
                                      <p:cBhvr>
                                        <p:cTn id="160" dur="500"/>
                                        <p:tgtEl>
                                          <p:spTgt spid="2414735"/>
                                        </p:tgtEl>
                                      </p:cBhvr>
                                    </p:animEffect>
                                  </p:childTnLst>
                                </p:cTn>
                              </p:par>
                              <p:par>
                                <p:cTn id="161" presetID="9" presetClass="entr" presetSubtype="0" fill="hold" grpId="0" nodeType="withEffect">
                                  <p:stCondLst>
                                    <p:cond delay="0"/>
                                  </p:stCondLst>
                                  <p:childTnLst>
                                    <p:set>
                                      <p:cBhvr>
                                        <p:cTn id="162" dur="1" fill="hold">
                                          <p:stCondLst>
                                            <p:cond delay="0"/>
                                          </p:stCondLst>
                                        </p:cTn>
                                        <p:tgtEl>
                                          <p:spTgt spid="2414736"/>
                                        </p:tgtEl>
                                        <p:attrNameLst>
                                          <p:attrName>style.visibility</p:attrName>
                                        </p:attrNameLst>
                                      </p:cBhvr>
                                      <p:to>
                                        <p:strVal val="visible"/>
                                      </p:to>
                                    </p:set>
                                    <p:animEffect transition="in" filter="dissolve">
                                      <p:cBhvr>
                                        <p:cTn id="163" dur="500"/>
                                        <p:tgtEl>
                                          <p:spTgt spid="2414736"/>
                                        </p:tgtEl>
                                      </p:cBhvr>
                                    </p:animEffect>
                                  </p:childTnLst>
                                </p:cTn>
                              </p:par>
                              <p:par>
                                <p:cTn id="164" presetID="9" presetClass="entr" presetSubtype="0" fill="hold" nodeType="withEffect">
                                  <p:stCondLst>
                                    <p:cond delay="0"/>
                                  </p:stCondLst>
                                  <p:childTnLst>
                                    <p:set>
                                      <p:cBhvr>
                                        <p:cTn id="165" dur="1" fill="hold">
                                          <p:stCondLst>
                                            <p:cond delay="0"/>
                                          </p:stCondLst>
                                        </p:cTn>
                                        <p:tgtEl>
                                          <p:spTgt spid="2414737"/>
                                        </p:tgtEl>
                                        <p:attrNameLst>
                                          <p:attrName>style.visibility</p:attrName>
                                        </p:attrNameLst>
                                      </p:cBhvr>
                                      <p:to>
                                        <p:strVal val="visible"/>
                                      </p:to>
                                    </p:set>
                                    <p:animEffect transition="in" filter="dissolve">
                                      <p:cBhvr>
                                        <p:cTn id="166" dur="500"/>
                                        <p:tgtEl>
                                          <p:spTgt spid="2414737"/>
                                        </p:tgtEl>
                                      </p:cBhvr>
                                    </p:animEffect>
                                  </p:childTnLst>
                                </p:cTn>
                              </p:par>
                              <p:par>
                                <p:cTn id="167" presetID="9" presetClass="entr" presetSubtype="0" fill="hold" nodeType="withEffect">
                                  <p:stCondLst>
                                    <p:cond delay="0"/>
                                  </p:stCondLst>
                                  <p:childTnLst>
                                    <p:set>
                                      <p:cBhvr>
                                        <p:cTn id="168" dur="1" fill="hold">
                                          <p:stCondLst>
                                            <p:cond delay="0"/>
                                          </p:stCondLst>
                                        </p:cTn>
                                        <p:tgtEl>
                                          <p:spTgt spid="2414738"/>
                                        </p:tgtEl>
                                        <p:attrNameLst>
                                          <p:attrName>style.visibility</p:attrName>
                                        </p:attrNameLst>
                                      </p:cBhvr>
                                      <p:to>
                                        <p:strVal val="visible"/>
                                      </p:to>
                                    </p:set>
                                    <p:animEffect transition="in" filter="dissolve">
                                      <p:cBhvr>
                                        <p:cTn id="169" dur="500"/>
                                        <p:tgtEl>
                                          <p:spTgt spid="2414738"/>
                                        </p:tgtEl>
                                      </p:cBhvr>
                                    </p:animEffect>
                                  </p:childTnLst>
                                </p:cTn>
                              </p:par>
                              <p:par>
                                <p:cTn id="170" presetID="9" presetClass="entr" presetSubtype="0" fill="hold" nodeType="withEffect">
                                  <p:stCondLst>
                                    <p:cond delay="0"/>
                                  </p:stCondLst>
                                  <p:childTnLst>
                                    <p:set>
                                      <p:cBhvr>
                                        <p:cTn id="171" dur="1" fill="hold">
                                          <p:stCondLst>
                                            <p:cond delay="0"/>
                                          </p:stCondLst>
                                        </p:cTn>
                                        <p:tgtEl>
                                          <p:spTgt spid="2414739"/>
                                        </p:tgtEl>
                                        <p:attrNameLst>
                                          <p:attrName>style.visibility</p:attrName>
                                        </p:attrNameLst>
                                      </p:cBhvr>
                                      <p:to>
                                        <p:strVal val="visible"/>
                                      </p:to>
                                    </p:set>
                                    <p:animEffect transition="in" filter="dissolve">
                                      <p:cBhvr>
                                        <p:cTn id="172" dur="500"/>
                                        <p:tgtEl>
                                          <p:spTgt spid="2414739"/>
                                        </p:tgtEl>
                                      </p:cBhvr>
                                    </p:animEffect>
                                  </p:childTnLst>
                                </p:cTn>
                              </p:par>
                              <p:par>
                                <p:cTn id="173" presetID="9" presetClass="entr" presetSubtype="0" fill="hold" nodeType="withEffect">
                                  <p:stCondLst>
                                    <p:cond delay="0"/>
                                  </p:stCondLst>
                                  <p:childTnLst>
                                    <p:set>
                                      <p:cBhvr>
                                        <p:cTn id="174" dur="1" fill="hold">
                                          <p:stCondLst>
                                            <p:cond delay="0"/>
                                          </p:stCondLst>
                                        </p:cTn>
                                        <p:tgtEl>
                                          <p:spTgt spid="2414740"/>
                                        </p:tgtEl>
                                        <p:attrNameLst>
                                          <p:attrName>style.visibility</p:attrName>
                                        </p:attrNameLst>
                                      </p:cBhvr>
                                      <p:to>
                                        <p:strVal val="visible"/>
                                      </p:to>
                                    </p:set>
                                    <p:animEffect transition="in" filter="dissolve">
                                      <p:cBhvr>
                                        <p:cTn id="175" dur="500"/>
                                        <p:tgtEl>
                                          <p:spTgt spid="2414740"/>
                                        </p:tgtEl>
                                      </p:cBhvr>
                                    </p:animEffect>
                                  </p:childTnLst>
                                </p:cTn>
                              </p:par>
                              <p:par>
                                <p:cTn id="176" presetID="9" presetClass="entr" presetSubtype="0" fill="hold" grpId="0" nodeType="withEffect">
                                  <p:stCondLst>
                                    <p:cond delay="0"/>
                                  </p:stCondLst>
                                  <p:childTnLst>
                                    <p:set>
                                      <p:cBhvr>
                                        <p:cTn id="177" dur="1" fill="hold">
                                          <p:stCondLst>
                                            <p:cond delay="0"/>
                                          </p:stCondLst>
                                        </p:cTn>
                                        <p:tgtEl>
                                          <p:spTgt spid="2414741"/>
                                        </p:tgtEl>
                                        <p:attrNameLst>
                                          <p:attrName>style.visibility</p:attrName>
                                        </p:attrNameLst>
                                      </p:cBhvr>
                                      <p:to>
                                        <p:strVal val="visible"/>
                                      </p:to>
                                    </p:set>
                                    <p:animEffect transition="in" filter="dissolve">
                                      <p:cBhvr>
                                        <p:cTn id="178" dur="500"/>
                                        <p:tgtEl>
                                          <p:spTgt spid="2414741"/>
                                        </p:tgtEl>
                                      </p:cBhvr>
                                    </p:animEffect>
                                  </p:childTnLst>
                                </p:cTn>
                              </p:par>
                              <p:par>
                                <p:cTn id="179" presetID="9" presetClass="entr" presetSubtype="0" fill="hold" nodeType="withEffect">
                                  <p:stCondLst>
                                    <p:cond delay="0"/>
                                  </p:stCondLst>
                                  <p:childTnLst>
                                    <p:set>
                                      <p:cBhvr>
                                        <p:cTn id="180" dur="1" fill="hold">
                                          <p:stCondLst>
                                            <p:cond delay="0"/>
                                          </p:stCondLst>
                                        </p:cTn>
                                        <p:tgtEl>
                                          <p:spTgt spid="2414743"/>
                                        </p:tgtEl>
                                        <p:attrNameLst>
                                          <p:attrName>style.visibility</p:attrName>
                                        </p:attrNameLst>
                                      </p:cBhvr>
                                      <p:to>
                                        <p:strVal val="visible"/>
                                      </p:to>
                                    </p:set>
                                    <p:animEffect transition="in" filter="dissolve">
                                      <p:cBhvr>
                                        <p:cTn id="181" dur="500"/>
                                        <p:tgtEl>
                                          <p:spTgt spid="2414743"/>
                                        </p:tgtEl>
                                      </p:cBhvr>
                                    </p:animEffect>
                                  </p:childTnLst>
                                </p:cTn>
                              </p:par>
                              <p:par>
                                <p:cTn id="182" presetID="9" presetClass="entr" presetSubtype="0" fill="hold" grpId="0" nodeType="withEffect">
                                  <p:stCondLst>
                                    <p:cond delay="0"/>
                                  </p:stCondLst>
                                  <p:childTnLst>
                                    <p:set>
                                      <p:cBhvr>
                                        <p:cTn id="183" dur="1" fill="hold">
                                          <p:stCondLst>
                                            <p:cond delay="0"/>
                                          </p:stCondLst>
                                        </p:cTn>
                                        <p:tgtEl>
                                          <p:spTgt spid="2414744"/>
                                        </p:tgtEl>
                                        <p:attrNameLst>
                                          <p:attrName>style.visibility</p:attrName>
                                        </p:attrNameLst>
                                      </p:cBhvr>
                                      <p:to>
                                        <p:strVal val="visible"/>
                                      </p:to>
                                    </p:set>
                                    <p:animEffect transition="in" filter="dissolve">
                                      <p:cBhvr>
                                        <p:cTn id="184" dur="500"/>
                                        <p:tgtEl>
                                          <p:spTgt spid="2414744"/>
                                        </p:tgtEl>
                                      </p:cBhvr>
                                    </p:animEffect>
                                  </p:childTnLst>
                                </p:cTn>
                              </p:par>
                              <p:par>
                                <p:cTn id="185" presetID="9" presetClass="entr" presetSubtype="0" fill="hold" grpId="0" nodeType="withEffect">
                                  <p:stCondLst>
                                    <p:cond delay="0"/>
                                  </p:stCondLst>
                                  <p:childTnLst>
                                    <p:set>
                                      <p:cBhvr>
                                        <p:cTn id="186" dur="1" fill="hold">
                                          <p:stCondLst>
                                            <p:cond delay="0"/>
                                          </p:stCondLst>
                                        </p:cTn>
                                        <p:tgtEl>
                                          <p:spTgt spid="2414745"/>
                                        </p:tgtEl>
                                        <p:attrNameLst>
                                          <p:attrName>style.visibility</p:attrName>
                                        </p:attrNameLst>
                                      </p:cBhvr>
                                      <p:to>
                                        <p:strVal val="visible"/>
                                      </p:to>
                                    </p:set>
                                    <p:animEffect transition="in" filter="dissolve">
                                      <p:cBhvr>
                                        <p:cTn id="187" dur="500"/>
                                        <p:tgtEl>
                                          <p:spTgt spid="2414745"/>
                                        </p:tgtEl>
                                      </p:cBhvr>
                                    </p:animEffect>
                                  </p:childTnLst>
                                </p:cTn>
                              </p:par>
                              <p:par>
                                <p:cTn id="188" presetID="9" presetClass="entr" presetSubtype="0" fill="hold" nodeType="withEffect">
                                  <p:stCondLst>
                                    <p:cond delay="0"/>
                                  </p:stCondLst>
                                  <p:childTnLst>
                                    <p:set>
                                      <p:cBhvr>
                                        <p:cTn id="189" dur="1" fill="hold">
                                          <p:stCondLst>
                                            <p:cond delay="0"/>
                                          </p:stCondLst>
                                        </p:cTn>
                                        <p:tgtEl>
                                          <p:spTgt spid="2414746"/>
                                        </p:tgtEl>
                                        <p:attrNameLst>
                                          <p:attrName>style.visibility</p:attrName>
                                        </p:attrNameLst>
                                      </p:cBhvr>
                                      <p:to>
                                        <p:strVal val="visible"/>
                                      </p:to>
                                    </p:set>
                                    <p:animEffect transition="in" filter="dissolve">
                                      <p:cBhvr>
                                        <p:cTn id="190" dur="500"/>
                                        <p:tgtEl>
                                          <p:spTgt spid="2414746"/>
                                        </p:tgtEl>
                                      </p:cBhvr>
                                    </p:animEffect>
                                  </p:childTnLst>
                                </p:cTn>
                              </p:par>
                              <p:par>
                                <p:cTn id="191" presetID="9" presetClass="entr" presetSubtype="0" fill="hold" grpId="0" nodeType="withEffect">
                                  <p:stCondLst>
                                    <p:cond delay="0"/>
                                  </p:stCondLst>
                                  <p:childTnLst>
                                    <p:set>
                                      <p:cBhvr>
                                        <p:cTn id="192" dur="1" fill="hold">
                                          <p:stCondLst>
                                            <p:cond delay="0"/>
                                          </p:stCondLst>
                                        </p:cTn>
                                        <p:tgtEl>
                                          <p:spTgt spid="2414742"/>
                                        </p:tgtEl>
                                        <p:attrNameLst>
                                          <p:attrName>style.visibility</p:attrName>
                                        </p:attrNameLst>
                                      </p:cBhvr>
                                      <p:to>
                                        <p:strVal val="visible"/>
                                      </p:to>
                                    </p:set>
                                    <p:animEffect transition="in" filter="dissolve">
                                      <p:cBhvr>
                                        <p:cTn id="193" dur="500"/>
                                        <p:tgtEl>
                                          <p:spTgt spid="2414742"/>
                                        </p:tgtEl>
                                      </p:cBhvr>
                                    </p:animEffect>
                                  </p:childTnLst>
                                </p:cTn>
                              </p:par>
                              <p:par>
                                <p:cTn id="194" presetID="9" presetClass="entr" presetSubtype="0" fill="hold" grpId="0" nodeType="withEffect">
                                  <p:stCondLst>
                                    <p:cond delay="0"/>
                                  </p:stCondLst>
                                  <p:childTnLst>
                                    <p:set>
                                      <p:cBhvr>
                                        <p:cTn id="195" dur="1" fill="hold">
                                          <p:stCondLst>
                                            <p:cond delay="0"/>
                                          </p:stCondLst>
                                        </p:cTn>
                                        <p:tgtEl>
                                          <p:spTgt spid="2414749"/>
                                        </p:tgtEl>
                                        <p:attrNameLst>
                                          <p:attrName>style.visibility</p:attrName>
                                        </p:attrNameLst>
                                      </p:cBhvr>
                                      <p:to>
                                        <p:strVal val="visible"/>
                                      </p:to>
                                    </p:set>
                                    <p:animEffect transition="in" filter="dissolve">
                                      <p:cBhvr>
                                        <p:cTn id="196" dur="500"/>
                                        <p:tgtEl>
                                          <p:spTgt spid="2414749"/>
                                        </p:tgtEl>
                                      </p:cBhvr>
                                    </p:animEffect>
                                  </p:childTnLst>
                                </p:cTn>
                              </p:par>
                            </p:childTnLst>
                          </p:cTn>
                        </p:par>
                      </p:childTnLst>
                    </p:cTn>
                  </p:par>
                  <p:par>
                    <p:cTn id="197" fill="hold">
                      <p:stCondLst>
                        <p:cond delay="indefinite"/>
                      </p:stCondLst>
                      <p:childTnLst>
                        <p:par>
                          <p:cTn id="198" fill="hold">
                            <p:stCondLst>
                              <p:cond delay="0"/>
                            </p:stCondLst>
                            <p:childTnLst>
                              <p:par>
                                <p:cTn id="199" presetID="9" presetClass="entr" presetSubtype="0" fill="hold" grpId="0" nodeType="clickEffect">
                                  <p:stCondLst>
                                    <p:cond delay="0"/>
                                  </p:stCondLst>
                                  <p:childTnLst>
                                    <p:set>
                                      <p:cBhvr>
                                        <p:cTn id="200" dur="1" fill="hold">
                                          <p:stCondLst>
                                            <p:cond delay="0"/>
                                          </p:stCondLst>
                                        </p:cTn>
                                        <p:tgtEl>
                                          <p:spTgt spid="2414720"/>
                                        </p:tgtEl>
                                        <p:attrNameLst>
                                          <p:attrName>style.visibility</p:attrName>
                                        </p:attrNameLst>
                                      </p:cBhvr>
                                      <p:to>
                                        <p:strVal val="visible"/>
                                      </p:to>
                                    </p:set>
                                    <p:animEffect transition="in" filter="dissolve">
                                      <p:cBhvr>
                                        <p:cTn id="201" dur="500"/>
                                        <p:tgtEl>
                                          <p:spTgt spid="2414720"/>
                                        </p:tgtEl>
                                      </p:cBhvr>
                                    </p:animEffect>
                                  </p:childTnLst>
                                </p:cTn>
                              </p:par>
                            </p:childTnLst>
                          </p:cTn>
                        </p:par>
                      </p:childTnLst>
                    </p:cTn>
                  </p:par>
                  <p:par>
                    <p:cTn id="202" fill="hold">
                      <p:stCondLst>
                        <p:cond delay="indefinite"/>
                      </p:stCondLst>
                      <p:childTnLst>
                        <p:par>
                          <p:cTn id="203" fill="hold">
                            <p:stCondLst>
                              <p:cond delay="0"/>
                            </p:stCondLst>
                            <p:childTnLst>
                              <p:par>
                                <p:cTn id="204" presetID="22" presetClass="entr" presetSubtype="1" fill="hold" nodeType="clickEffect">
                                  <p:stCondLst>
                                    <p:cond delay="0"/>
                                  </p:stCondLst>
                                  <p:childTnLst>
                                    <p:set>
                                      <p:cBhvr>
                                        <p:cTn id="205" dur="1" fill="hold">
                                          <p:stCondLst>
                                            <p:cond delay="0"/>
                                          </p:stCondLst>
                                        </p:cTn>
                                        <p:tgtEl>
                                          <p:spTgt spid="2414748"/>
                                        </p:tgtEl>
                                        <p:attrNameLst>
                                          <p:attrName>style.visibility</p:attrName>
                                        </p:attrNameLst>
                                      </p:cBhvr>
                                      <p:to>
                                        <p:strVal val="visible"/>
                                      </p:to>
                                    </p:set>
                                    <p:animEffect transition="in" filter="wipe(up)">
                                      <p:cBhvr>
                                        <p:cTn id="206" dur="500"/>
                                        <p:tgtEl>
                                          <p:spTgt spid="2414748"/>
                                        </p:tgtEl>
                                      </p:cBhvr>
                                    </p:animEffect>
                                  </p:childTnLst>
                                </p:cTn>
                              </p:par>
                              <p:par>
                                <p:cTn id="207" presetID="22" presetClass="entr" presetSubtype="1" fill="hold" nodeType="withEffect">
                                  <p:stCondLst>
                                    <p:cond delay="0"/>
                                  </p:stCondLst>
                                  <p:childTnLst>
                                    <p:set>
                                      <p:cBhvr>
                                        <p:cTn id="208" dur="1" fill="hold">
                                          <p:stCondLst>
                                            <p:cond delay="0"/>
                                          </p:stCondLst>
                                        </p:cTn>
                                        <p:tgtEl>
                                          <p:spTgt spid="2414647"/>
                                        </p:tgtEl>
                                        <p:attrNameLst>
                                          <p:attrName>style.visibility</p:attrName>
                                        </p:attrNameLst>
                                      </p:cBhvr>
                                      <p:to>
                                        <p:strVal val="visible"/>
                                      </p:to>
                                    </p:set>
                                    <p:animEffect transition="in" filter="wipe(up)">
                                      <p:cBhvr>
                                        <p:cTn id="209" dur="500"/>
                                        <p:tgtEl>
                                          <p:spTgt spid="2414647"/>
                                        </p:tgtEl>
                                      </p:cBhvr>
                                    </p:animEffect>
                                  </p:childTnLst>
                                </p:cTn>
                              </p:par>
                            </p:childTnLst>
                          </p:cTn>
                        </p:par>
                        <p:par>
                          <p:cTn id="210" fill="hold">
                            <p:stCondLst>
                              <p:cond delay="500"/>
                            </p:stCondLst>
                            <p:childTnLst>
                              <p:par>
                                <p:cTn id="211" presetID="22" presetClass="entr" presetSubtype="8" fill="hold" nodeType="afterEffect">
                                  <p:stCondLst>
                                    <p:cond delay="0"/>
                                  </p:stCondLst>
                                  <p:childTnLst>
                                    <p:set>
                                      <p:cBhvr>
                                        <p:cTn id="212" dur="1" fill="hold">
                                          <p:stCondLst>
                                            <p:cond delay="0"/>
                                          </p:stCondLst>
                                        </p:cTn>
                                        <p:tgtEl>
                                          <p:spTgt spid="2414747"/>
                                        </p:tgtEl>
                                        <p:attrNameLst>
                                          <p:attrName>style.visibility</p:attrName>
                                        </p:attrNameLst>
                                      </p:cBhvr>
                                      <p:to>
                                        <p:strVal val="visible"/>
                                      </p:to>
                                    </p:set>
                                    <p:animEffect transition="in" filter="wipe(left)">
                                      <p:cBhvr>
                                        <p:cTn id="213" dur="500"/>
                                        <p:tgtEl>
                                          <p:spTgt spid="2414747"/>
                                        </p:tgtEl>
                                      </p:cBhvr>
                                    </p:animEffect>
                                  </p:childTnLst>
                                </p:cTn>
                              </p:par>
                            </p:childTnLst>
                          </p:cTn>
                        </p:par>
                        <p:par>
                          <p:cTn id="214" fill="hold">
                            <p:stCondLst>
                              <p:cond delay="1000"/>
                            </p:stCondLst>
                            <p:childTnLst>
                              <p:par>
                                <p:cTn id="215" presetID="22" presetClass="entr" presetSubtype="8" fill="hold" nodeType="afterEffect">
                                  <p:stCondLst>
                                    <p:cond delay="0"/>
                                  </p:stCondLst>
                                  <p:childTnLst>
                                    <p:set>
                                      <p:cBhvr>
                                        <p:cTn id="216" dur="1" fill="hold">
                                          <p:stCondLst>
                                            <p:cond delay="0"/>
                                          </p:stCondLst>
                                        </p:cTn>
                                        <p:tgtEl>
                                          <p:spTgt spid="2414648"/>
                                        </p:tgtEl>
                                        <p:attrNameLst>
                                          <p:attrName>style.visibility</p:attrName>
                                        </p:attrNameLst>
                                      </p:cBhvr>
                                      <p:to>
                                        <p:strVal val="visible"/>
                                      </p:to>
                                    </p:set>
                                    <p:animEffect transition="in" filter="wipe(left)">
                                      <p:cBhvr>
                                        <p:cTn id="217" dur="500"/>
                                        <p:tgtEl>
                                          <p:spTgt spid="2414648"/>
                                        </p:tgtEl>
                                      </p:cBhvr>
                                    </p:animEffect>
                                  </p:childTnLst>
                                </p:cTn>
                              </p:par>
                            </p:childTnLst>
                          </p:cTn>
                        </p:par>
                      </p:childTnLst>
                    </p:cTn>
                  </p:par>
                  <p:par>
                    <p:cTn id="218" fill="hold">
                      <p:stCondLst>
                        <p:cond delay="indefinite"/>
                      </p:stCondLst>
                      <p:childTnLst>
                        <p:par>
                          <p:cTn id="219" fill="hold">
                            <p:stCondLst>
                              <p:cond delay="0"/>
                            </p:stCondLst>
                            <p:childTnLst>
                              <p:par>
                                <p:cTn id="220" presetID="9" presetClass="entr" presetSubtype="0" fill="hold" grpId="0" nodeType="clickEffect">
                                  <p:stCondLst>
                                    <p:cond delay="0"/>
                                  </p:stCondLst>
                                  <p:childTnLst>
                                    <p:set>
                                      <p:cBhvr>
                                        <p:cTn id="221" dur="1" fill="hold">
                                          <p:stCondLst>
                                            <p:cond delay="0"/>
                                          </p:stCondLst>
                                        </p:cTn>
                                        <p:tgtEl>
                                          <p:spTgt spid="2414750"/>
                                        </p:tgtEl>
                                        <p:attrNameLst>
                                          <p:attrName>style.visibility</p:attrName>
                                        </p:attrNameLst>
                                      </p:cBhvr>
                                      <p:to>
                                        <p:strVal val="visible"/>
                                      </p:to>
                                    </p:set>
                                    <p:animEffect transition="in" filter="dissolve">
                                      <p:cBhvr>
                                        <p:cTn id="222" dur="500"/>
                                        <p:tgtEl>
                                          <p:spTgt spid="24147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4595" grpId="0" bldLvl="0" animBg="1"/>
      <p:bldP spid="2414599" grpId="0"/>
      <p:bldP spid="2414600" grpId="0" bldLvl="0" animBg="1"/>
      <p:bldP spid="2414601" grpId="0"/>
      <p:bldP spid="2414605" grpId="0" bldLvl="0" animBg="1"/>
      <p:bldP spid="2414614" grpId="0" bldLvl="0" animBg="1"/>
      <p:bldP spid="2414623" grpId="0" bldLvl="0" animBg="1"/>
      <p:bldP spid="2414629" grpId="0"/>
      <p:bldP spid="2414630" grpId="0"/>
      <p:bldP spid="2414631" grpId="0"/>
      <p:bldP spid="2414632" grpId="0"/>
      <p:bldP spid="2414633" grpId="0"/>
      <p:bldP spid="2414634" grpId="0"/>
      <p:bldP spid="2414635" grpId="0"/>
      <p:bldP spid="2414636" grpId="0"/>
      <p:bldP spid="2414649" grpId="0" bldLvl="0" animBg="1"/>
      <p:bldP spid="2414650" grpId="0" bldLvl="0" animBg="1"/>
      <p:bldP spid="2414720" grpId="0" bldLvl="0" animBg="1"/>
      <p:bldP spid="2414723" grpId="0" bldLvl="0" animBg="1"/>
      <p:bldP spid="2414724" grpId="0"/>
      <p:bldP spid="2414735" grpId="0"/>
      <p:bldP spid="2414736" grpId="0"/>
      <p:bldP spid="2414741" grpId="0" bldLvl="0" animBg="1"/>
      <p:bldP spid="2414744" grpId="0" bldLvl="0" animBg="1"/>
      <p:bldP spid="2414745" grpId="0"/>
      <p:bldP spid="2414742" grpId="0" bldLvl="0" animBg="1"/>
      <p:bldP spid="2414749" grpId="0" bldLvl="0" animBg="1"/>
      <p:bldP spid="2414750" grpId="0" bldLvl="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5620" name="Text Box 4"/>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4.5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测量放大器的使用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15621" name="Text Box 5"/>
          <p:cNvSpPr txBox="1"/>
          <p:nvPr/>
        </p:nvSpPr>
        <p:spPr>
          <a:xfrm>
            <a:off x="287338" y="765175"/>
            <a:ext cx="5900737"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4.5.2 AD522</a:t>
            </a:r>
            <a:r>
              <a:rPr lang="zh-CN" altLang="en-US" sz="3600" b="1" dirty="0">
                <a:solidFill>
                  <a:srgbClr val="333399"/>
                </a:solidFill>
                <a:latin typeface="Times New Roman" panose="02020603050405020304" pitchFamily="18" charset="0"/>
              </a:rPr>
              <a:t>芯片的使用示例 </a:t>
            </a:r>
            <a:endParaRPr lang="zh-CN" altLang="en-US" sz="3600" b="1" dirty="0">
              <a:solidFill>
                <a:srgbClr val="333399"/>
              </a:solidFill>
              <a:latin typeface="Times New Roman" panose="02020603050405020304" pitchFamily="18" charset="0"/>
            </a:endParaRPr>
          </a:p>
        </p:txBody>
      </p:sp>
      <p:grpSp>
        <p:nvGrpSpPr>
          <p:cNvPr id="2" name="Group 260"/>
          <p:cNvGrpSpPr/>
          <p:nvPr/>
        </p:nvGrpSpPr>
        <p:grpSpPr>
          <a:xfrm>
            <a:off x="647700" y="1438275"/>
            <a:ext cx="8048625" cy="4727575"/>
            <a:chOff x="119" y="866"/>
            <a:chExt cx="5070" cy="2978"/>
          </a:xfrm>
        </p:grpSpPr>
        <p:sp>
          <p:nvSpPr>
            <p:cNvPr id="41991" name="Rectangle 132"/>
            <p:cNvSpPr/>
            <p:nvPr/>
          </p:nvSpPr>
          <p:spPr>
            <a:xfrm>
              <a:off x="119" y="866"/>
              <a:ext cx="5070" cy="2978"/>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992" name="AutoShape 133"/>
            <p:cNvSpPr/>
            <p:nvPr/>
          </p:nvSpPr>
          <p:spPr>
            <a:xfrm rot="5400000">
              <a:off x="2793" y="1586"/>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1993" name="Text Box 134"/>
            <p:cNvSpPr txBox="1"/>
            <p:nvPr/>
          </p:nvSpPr>
          <p:spPr>
            <a:xfrm>
              <a:off x="2811" y="171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41994" name="Text Box 135"/>
            <p:cNvSpPr txBox="1"/>
            <p:nvPr/>
          </p:nvSpPr>
          <p:spPr>
            <a:xfrm>
              <a:off x="2815" y="250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41995" name="Text Box 136"/>
            <p:cNvSpPr txBox="1"/>
            <p:nvPr/>
          </p:nvSpPr>
          <p:spPr>
            <a:xfrm>
              <a:off x="2807" y="281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41996" name="Text Box 137"/>
            <p:cNvSpPr txBox="1"/>
            <p:nvPr/>
          </p:nvSpPr>
          <p:spPr>
            <a:xfrm>
              <a:off x="3274" y="269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41997" name="Text Box 138"/>
            <p:cNvSpPr txBox="1"/>
            <p:nvPr/>
          </p:nvSpPr>
          <p:spPr>
            <a:xfrm>
              <a:off x="3028" y="280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41998" name="Text Box 139"/>
            <p:cNvSpPr txBox="1"/>
            <p:nvPr/>
          </p:nvSpPr>
          <p:spPr>
            <a:xfrm>
              <a:off x="3683" y="248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41999" name="Text Box 140"/>
            <p:cNvSpPr txBox="1"/>
            <p:nvPr/>
          </p:nvSpPr>
          <p:spPr>
            <a:xfrm>
              <a:off x="4109" y="226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42000" name="Text Box 141"/>
            <p:cNvSpPr txBox="1"/>
            <p:nvPr/>
          </p:nvSpPr>
          <p:spPr>
            <a:xfrm>
              <a:off x="3049" y="175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42001" name="Text Box 142"/>
            <p:cNvSpPr txBox="1"/>
            <p:nvPr/>
          </p:nvSpPr>
          <p:spPr>
            <a:xfrm>
              <a:off x="3374" y="192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9</a:t>
              </a:r>
              <a:endParaRPr lang="en-US" altLang="zh-CN" sz="1600" b="1" dirty="0">
                <a:solidFill>
                  <a:srgbClr val="333399"/>
                </a:solidFill>
                <a:latin typeface="Times New Roman" panose="02020603050405020304" pitchFamily="18" charset="0"/>
              </a:endParaRPr>
            </a:p>
          </p:txBody>
        </p:sp>
        <p:sp>
          <p:nvSpPr>
            <p:cNvPr id="42002" name="Text Box 143"/>
            <p:cNvSpPr txBox="1"/>
            <p:nvPr/>
          </p:nvSpPr>
          <p:spPr>
            <a:xfrm>
              <a:off x="3906" y="2355"/>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42003" name="Text Box 144"/>
            <p:cNvSpPr txBox="1"/>
            <p:nvPr/>
          </p:nvSpPr>
          <p:spPr>
            <a:xfrm>
              <a:off x="3901" y="216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42004" name="Text Box 145"/>
            <p:cNvSpPr txBox="1"/>
            <p:nvPr/>
          </p:nvSpPr>
          <p:spPr>
            <a:xfrm>
              <a:off x="3686" y="205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42005" name="Text Box 146"/>
            <p:cNvSpPr txBox="1"/>
            <p:nvPr/>
          </p:nvSpPr>
          <p:spPr>
            <a:xfrm>
              <a:off x="2807" y="20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42006" name="Text Box 148"/>
            <p:cNvSpPr txBox="1"/>
            <p:nvPr/>
          </p:nvSpPr>
          <p:spPr>
            <a:xfrm>
              <a:off x="2431" y="1602"/>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42007" name="Line 149"/>
            <p:cNvSpPr/>
            <p:nvPr/>
          </p:nvSpPr>
          <p:spPr>
            <a:xfrm>
              <a:off x="1949" y="1811"/>
              <a:ext cx="871" cy="0"/>
            </a:xfrm>
            <a:prstGeom prst="line">
              <a:avLst/>
            </a:prstGeom>
            <a:ln w="12700" cap="flat" cmpd="sng">
              <a:solidFill>
                <a:schemeClr val="accent2"/>
              </a:solidFill>
              <a:prstDash val="solid"/>
              <a:headEnd type="none" w="med" len="med"/>
              <a:tailEnd type="none" w="med" len="med"/>
            </a:ln>
          </p:spPr>
        </p:sp>
        <p:sp>
          <p:nvSpPr>
            <p:cNvPr id="42008" name="Text Box 150"/>
            <p:cNvSpPr txBox="1"/>
            <p:nvPr/>
          </p:nvSpPr>
          <p:spPr>
            <a:xfrm>
              <a:off x="2465" y="2917"/>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42009" name="Line 152"/>
            <p:cNvSpPr/>
            <p:nvPr/>
          </p:nvSpPr>
          <p:spPr>
            <a:xfrm>
              <a:off x="1949" y="2904"/>
              <a:ext cx="871" cy="0"/>
            </a:xfrm>
            <a:prstGeom prst="line">
              <a:avLst/>
            </a:prstGeom>
            <a:ln w="12700" cap="flat" cmpd="sng">
              <a:solidFill>
                <a:schemeClr val="accent2"/>
              </a:solidFill>
              <a:prstDash val="solid"/>
              <a:headEnd type="none" w="med" len="med"/>
              <a:tailEnd type="none" w="med" len="med"/>
            </a:ln>
          </p:spPr>
        </p:sp>
        <p:sp>
          <p:nvSpPr>
            <p:cNvPr id="42010" name="Line 153"/>
            <p:cNvSpPr/>
            <p:nvPr/>
          </p:nvSpPr>
          <p:spPr>
            <a:xfrm>
              <a:off x="2247" y="2111"/>
              <a:ext cx="573" cy="0"/>
            </a:xfrm>
            <a:prstGeom prst="line">
              <a:avLst/>
            </a:prstGeom>
            <a:ln w="12700" cap="flat" cmpd="sng">
              <a:solidFill>
                <a:schemeClr val="accent2"/>
              </a:solidFill>
              <a:prstDash val="solid"/>
              <a:headEnd type="none" w="med" len="med"/>
              <a:tailEnd type="none" w="med" len="med"/>
            </a:ln>
          </p:spPr>
        </p:sp>
        <p:sp>
          <p:nvSpPr>
            <p:cNvPr id="42011" name="Line 154"/>
            <p:cNvSpPr/>
            <p:nvPr/>
          </p:nvSpPr>
          <p:spPr>
            <a:xfrm>
              <a:off x="2249" y="2111"/>
              <a:ext cx="0" cy="159"/>
            </a:xfrm>
            <a:prstGeom prst="line">
              <a:avLst/>
            </a:prstGeom>
            <a:ln w="12700" cap="flat" cmpd="sng">
              <a:solidFill>
                <a:schemeClr val="accent2"/>
              </a:solidFill>
              <a:prstDash val="solid"/>
              <a:headEnd type="none" w="med" len="med"/>
              <a:tailEnd type="none" w="med" len="med"/>
            </a:ln>
          </p:spPr>
        </p:sp>
        <p:sp>
          <p:nvSpPr>
            <p:cNvPr id="42012" name="Rectangle 155"/>
            <p:cNvSpPr/>
            <p:nvPr/>
          </p:nvSpPr>
          <p:spPr>
            <a:xfrm>
              <a:off x="2216" y="2270"/>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13" name="Text Box 156"/>
            <p:cNvSpPr txBox="1"/>
            <p:nvPr/>
          </p:nvSpPr>
          <p:spPr>
            <a:xfrm>
              <a:off x="1949" y="2242"/>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42014" name="Line 157"/>
            <p:cNvSpPr/>
            <p:nvPr/>
          </p:nvSpPr>
          <p:spPr>
            <a:xfrm>
              <a:off x="2249" y="2437"/>
              <a:ext cx="0" cy="167"/>
            </a:xfrm>
            <a:prstGeom prst="line">
              <a:avLst/>
            </a:prstGeom>
            <a:ln w="12700" cap="flat" cmpd="sng">
              <a:solidFill>
                <a:schemeClr val="accent2"/>
              </a:solidFill>
              <a:prstDash val="solid"/>
              <a:headEnd type="none" w="med" len="med"/>
              <a:tailEnd type="none" w="med" len="med"/>
            </a:ln>
          </p:spPr>
        </p:sp>
        <p:sp>
          <p:nvSpPr>
            <p:cNvPr id="42015" name="Line 158"/>
            <p:cNvSpPr/>
            <p:nvPr/>
          </p:nvSpPr>
          <p:spPr>
            <a:xfrm>
              <a:off x="2247" y="2604"/>
              <a:ext cx="573" cy="0"/>
            </a:xfrm>
            <a:prstGeom prst="line">
              <a:avLst/>
            </a:prstGeom>
            <a:ln w="12700" cap="flat" cmpd="sng">
              <a:solidFill>
                <a:schemeClr val="accent2"/>
              </a:solidFill>
              <a:prstDash val="solid"/>
              <a:headEnd type="none" w="med" len="med"/>
              <a:tailEnd type="none" w="med" len="med"/>
            </a:ln>
          </p:spPr>
        </p:sp>
        <p:sp>
          <p:nvSpPr>
            <p:cNvPr id="42016" name="Line 159"/>
            <p:cNvSpPr/>
            <p:nvPr/>
          </p:nvSpPr>
          <p:spPr>
            <a:xfrm>
              <a:off x="3371" y="2879"/>
              <a:ext cx="0" cy="217"/>
            </a:xfrm>
            <a:prstGeom prst="line">
              <a:avLst/>
            </a:prstGeom>
            <a:ln w="12700" cap="flat" cmpd="sng">
              <a:solidFill>
                <a:schemeClr val="accent2"/>
              </a:solidFill>
              <a:prstDash val="solid"/>
              <a:headEnd type="none" w="med" len="med"/>
              <a:tailEnd type="none" w="med" len="med"/>
            </a:ln>
          </p:spPr>
        </p:sp>
        <p:sp>
          <p:nvSpPr>
            <p:cNvPr id="42017" name="Line 160"/>
            <p:cNvSpPr/>
            <p:nvPr/>
          </p:nvSpPr>
          <p:spPr>
            <a:xfrm>
              <a:off x="3371" y="3096"/>
              <a:ext cx="116" cy="0"/>
            </a:xfrm>
            <a:prstGeom prst="line">
              <a:avLst/>
            </a:prstGeom>
            <a:ln w="12700" cap="flat" cmpd="sng">
              <a:solidFill>
                <a:schemeClr val="accent2"/>
              </a:solidFill>
              <a:prstDash val="solid"/>
              <a:headEnd type="none" w="med" len="med"/>
              <a:tailEnd type="none" w="med" len="med"/>
            </a:ln>
          </p:spPr>
        </p:sp>
        <p:sp>
          <p:nvSpPr>
            <p:cNvPr id="42018" name="Rectangle 161"/>
            <p:cNvSpPr/>
            <p:nvPr/>
          </p:nvSpPr>
          <p:spPr>
            <a:xfrm>
              <a:off x="3487" y="3063"/>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19" name="Text Box 162"/>
            <p:cNvSpPr txBox="1"/>
            <p:nvPr/>
          </p:nvSpPr>
          <p:spPr>
            <a:xfrm>
              <a:off x="3363" y="2904"/>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42020" name="Line 163"/>
            <p:cNvSpPr/>
            <p:nvPr/>
          </p:nvSpPr>
          <p:spPr>
            <a:xfrm>
              <a:off x="3655" y="3096"/>
              <a:ext cx="125" cy="0"/>
            </a:xfrm>
            <a:prstGeom prst="line">
              <a:avLst/>
            </a:prstGeom>
            <a:ln w="12700" cap="flat" cmpd="sng">
              <a:solidFill>
                <a:schemeClr val="accent2"/>
              </a:solidFill>
              <a:prstDash val="solid"/>
              <a:headEnd type="none" w="med" len="med"/>
              <a:tailEnd type="none" w="med" len="med"/>
            </a:ln>
          </p:spPr>
        </p:sp>
        <p:sp>
          <p:nvSpPr>
            <p:cNvPr id="42021" name="Line 164"/>
            <p:cNvSpPr/>
            <p:nvPr/>
          </p:nvSpPr>
          <p:spPr>
            <a:xfrm flipV="1">
              <a:off x="3780" y="2662"/>
              <a:ext cx="0" cy="434"/>
            </a:xfrm>
            <a:prstGeom prst="line">
              <a:avLst/>
            </a:prstGeom>
            <a:ln w="12700" cap="flat" cmpd="sng">
              <a:solidFill>
                <a:schemeClr val="accent2"/>
              </a:solidFill>
              <a:prstDash val="solid"/>
              <a:headEnd type="none" w="med" len="med"/>
              <a:tailEnd type="none" w="med" len="med"/>
            </a:ln>
          </p:spPr>
        </p:sp>
        <p:sp>
          <p:nvSpPr>
            <p:cNvPr id="42022" name="Line 165"/>
            <p:cNvSpPr/>
            <p:nvPr/>
          </p:nvSpPr>
          <p:spPr>
            <a:xfrm>
              <a:off x="3154" y="2988"/>
              <a:ext cx="0" cy="348"/>
            </a:xfrm>
            <a:prstGeom prst="line">
              <a:avLst/>
            </a:prstGeom>
            <a:ln w="12700" cap="flat" cmpd="sng">
              <a:solidFill>
                <a:schemeClr val="accent2"/>
              </a:solidFill>
              <a:prstDash val="solid"/>
              <a:headEnd type="none" w="med" len="med"/>
              <a:tailEnd type="none" w="med" len="med"/>
            </a:ln>
          </p:spPr>
        </p:sp>
        <p:sp>
          <p:nvSpPr>
            <p:cNvPr id="42023" name="Oval 167"/>
            <p:cNvSpPr/>
            <p:nvPr/>
          </p:nvSpPr>
          <p:spPr>
            <a:xfrm>
              <a:off x="3750" y="180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24" name="Line 168"/>
            <p:cNvSpPr/>
            <p:nvPr/>
          </p:nvSpPr>
          <p:spPr>
            <a:xfrm>
              <a:off x="3571" y="3336"/>
              <a:ext cx="932" cy="0"/>
            </a:xfrm>
            <a:prstGeom prst="line">
              <a:avLst/>
            </a:prstGeom>
            <a:ln w="12700" cap="flat" cmpd="sng">
              <a:solidFill>
                <a:schemeClr val="accent2"/>
              </a:solidFill>
              <a:prstDash val="solid"/>
              <a:headEnd type="none" w="med" len="med"/>
              <a:tailEnd type="none" w="med" len="med"/>
            </a:ln>
          </p:spPr>
        </p:sp>
        <p:sp>
          <p:nvSpPr>
            <p:cNvPr id="42025" name="Line 169"/>
            <p:cNvSpPr/>
            <p:nvPr/>
          </p:nvSpPr>
          <p:spPr>
            <a:xfrm flipV="1">
              <a:off x="3571" y="3129"/>
              <a:ext cx="0" cy="210"/>
            </a:xfrm>
            <a:prstGeom prst="line">
              <a:avLst/>
            </a:prstGeom>
            <a:ln w="12700" cap="flat" cmpd="sng">
              <a:solidFill>
                <a:schemeClr val="accent2"/>
              </a:solidFill>
              <a:prstDash val="solid"/>
              <a:headEnd type="none" w="med" len="med"/>
              <a:tailEnd type="triangle" w="sm" len="lg"/>
            </a:ln>
          </p:spPr>
        </p:sp>
        <p:sp>
          <p:nvSpPr>
            <p:cNvPr id="42026" name="Line 170"/>
            <p:cNvSpPr/>
            <p:nvPr/>
          </p:nvSpPr>
          <p:spPr>
            <a:xfrm>
              <a:off x="4038" y="2529"/>
              <a:ext cx="0" cy="486"/>
            </a:xfrm>
            <a:prstGeom prst="line">
              <a:avLst/>
            </a:prstGeom>
            <a:ln w="12700" cap="flat" cmpd="sng">
              <a:solidFill>
                <a:schemeClr val="accent2"/>
              </a:solidFill>
              <a:prstDash val="solid"/>
              <a:headEnd type="none" w="med" len="med"/>
              <a:tailEnd type="none" w="med" len="med"/>
            </a:ln>
          </p:spPr>
        </p:sp>
        <p:sp>
          <p:nvSpPr>
            <p:cNvPr id="42027" name="Line 171"/>
            <p:cNvSpPr/>
            <p:nvPr/>
          </p:nvSpPr>
          <p:spPr>
            <a:xfrm>
              <a:off x="4356" y="2362"/>
              <a:ext cx="471" cy="0"/>
            </a:xfrm>
            <a:prstGeom prst="line">
              <a:avLst/>
            </a:prstGeom>
            <a:ln w="12700" cap="flat" cmpd="sng">
              <a:solidFill>
                <a:schemeClr val="accent2"/>
              </a:solidFill>
              <a:prstDash val="solid"/>
              <a:headEnd type="none" w="med" len="med"/>
              <a:tailEnd type="none" w="med" len="med"/>
            </a:ln>
          </p:spPr>
        </p:sp>
        <p:sp>
          <p:nvSpPr>
            <p:cNvPr id="42028" name="Text Box 173"/>
            <p:cNvSpPr txBox="1"/>
            <p:nvPr/>
          </p:nvSpPr>
          <p:spPr>
            <a:xfrm>
              <a:off x="4808" y="2160"/>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42029" name="Oval 174"/>
            <p:cNvSpPr/>
            <p:nvPr/>
          </p:nvSpPr>
          <p:spPr>
            <a:xfrm>
              <a:off x="4799" y="233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30" name="Line 175"/>
            <p:cNvSpPr/>
            <p:nvPr/>
          </p:nvSpPr>
          <p:spPr>
            <a:xfrm flipV="1">
              <a:off x="4827" y="2050"/>
              <a:ext cx="0" cy="965"/>
            </a:xfrm>
            <a:prstGeom prst="line">
              <a:avLst/>
            </a:prstGeom>
            <a:ln w="12700" cap="flat" cmpd="sng">
              <a:solidFill>
                <a:schemeClr val="accent2"/>
              </a:solidFill>
              <a:prstDash val="solid"/>
              <a:headEnd type="none" w="med" len="med"/>
              <a:tailEnd type="none" w="med" len="med"/>
            </a:ln>
          </p:spPr>
        </p:sp>
        <p:sp>
          <p:nvSpPr>
            <p:cNvPr id="42031" name="Line 176"/>
            <p:cNvSpPr/>
            <p:nvPr/>
          </p:nvSpPr>
          <p:spPr>
            <a:xfrm flipH="1">
              <a:off x="4038" y="2050"/>
              <a:ext cx="789" cy="1"/>
            </a:xfrm>
            <a:prstGeom prst="line">
              <a:avLst/>
            </a:prstGeom>
            <a:ln w="12700" cap="flat" cmpd="sng">
              <a:solidFill>
                <a:schemeClr val="accent2"/>
              </a:solidFill>
              <a:prstDash val="solid"/>
              <a:headEnd type="none" w="med" len="med"/>
              <a:tailEnd type="none" w="med" len="med"/>
            </a:ln>
          </p:spPr>
        </p:sp>
        <p:sp>
          <p:nvSpPr>
            <p:cNvPr id="42032" name="Line 177"/>
            <p:cNvSpPr/>
            <p:nvPr/>
          </p:nvSpPr>
          <p:spPr>
            <a:xfrm>
              <a:off x="4038" y="2051"/>
              <a:ext cx="0" cy="144"/>
            </a:xfrm>
            <a:prstGeom prst="line">
              <a:avLst/>
            </a:prstGeom>
            <a:ln w="12700" cap="flat" cmpd="sng">
              <a:solidFill>
                <a:schemeClr val="accent2"/>
              </a:solidFill>
              <a:prstDash val="solid"/>
              <a:headEnd type="none" w="med" len="med"/>
              <a:tailEnd type="none" w="med" len="med"/>
            </a:ln>
          </p:spPr>
        </p:sp>
        <p:sp>
          <p:nvSpPr>
            <p:cNvPr id="42033" name="Line 178"/>
            <p:cNvSpPr/>
            <p:nvPr/>
          </p:nvSpPr>
          <p:spPr>
            <a:xfrm flipV="1">
              <a:off x="3467" y="1064"/>
              <a:ext cx="0" cy="825"/>
            </a:xfrm>
            <a:prstGeom prst="line">
              <a:avLst/>
            </a:prstGeom>
            <a:ln w="12700" cap="flat" cmpd="sng">
              <a:solidFill>
                <a:schemeClr val="accent2"/>
              </a:solidFill>
              <a:prstDash val="solid"/>
              <a:headEnd type="none" w="med" len="med"/>
              <a:tailEnd type="none" w="med" len="med"/>
            </a:ln>
          </p:spPr>
        </p:sp>
        <p:sp>
          <p:nvSpPr>
            <p:cNvPr id="42034" name="Line 180"/>
            <p:cNvSpPr/>
            <p:nvPr/>
          </p:nvSpPr>
          <p:spPr>
            <a:xfrm>
              <a:off x="3780" y="1284"/>
              <a:ext cx="0" cy="777"/>
            </a:xfrm>
            <a:prstGeom prst="line">
              <a:avLst/>
            </a:prstGeom>
            <a:ln w="12700" cap="flat" cmpd="sng">
              <a:solidFill>
                <a:schemeClr val="accent2"/>
              </a:solidFill>
              <a:prstDash val="solid"/>
              <a:headEnd type="none" w="med" len="med"/>
              <a:tailEnd type="none" w="med" len="med"/>
            </a:ln>
          </p:spPr>
        </p:sp>
        <p:sp>
          <p:nvSpPr>
            <p:cNvPr id="42035" name="Line 181"/>
            <p:cNvSpPr/>
            <p:nvPr/>
          </p:nvSpPr>
          <p:spPr>
            <a:xfrm>
              <a:off x="3154" y="1284"/>
              <a:ext cx="0" cy="452"/>
            </a:xfrm>
            <a:prstGeom prst="line">
              <a:avLst/>
            </a:prstGeom>
            <a:ln w="12700" cap="flat" cmpd="sng">
              <a:solidFill>
                <a:schemeClr val="accent2"/>
              </a:solidFill>
              <a:prstDash val="solid"/>
              <a:headEnd type="none" w="med" len="med"/>
              <a:tailEnd type="none" w="med" len="med"/>
            </a:ln>
          </p:spPr>
        </p:sp>
        <p:sp>
          <p:nvSpPr>
            <p:cNvPr id="42036" name="Oval 182"/>
            <p:cNvSpPr/>
            <p:nvPr/>
          </p:nvSpPr>
          <p:spPr>
            <a:xfrm>
              <a:off x="3124" y="122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37" name="Text Box 183"/>
            <p:cNvSpPr txBox="1"/>
            <p:nvPr/>
          </p:nvSpPr>
          <p:spPr>
            <a:xfrm>
              <a:off x="2837" y="1117"/>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2038" name="Text Box 184"/>
            <p:cNvSpPr txBox="1"/>
            <p:nvPr/>
          </p:nvSpPr>
          <p:spPr>
            <a:xfrm>
              <a:off x="1497" y="3559"/>
              <a:ext cx="2419"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AD522</a:t>
              </a:r>
              <a:r>
                <a:rPr lang="zh-CN" altLang="en-US" sz="2400" b="1" dirty="0">
                  <a:solidFill>
                    <a:srgbClr val="000099"/>
                  </a:solidFill>
                  <a:latin typeface="Times New Roman" panose="02020603050405020304" pitchFamily="18" charset="0"/>
                </a:rPr>
                <a:t>用于测量电桥的电路</a:t>
              </a:r>
              <a:endParaRPr lang="zh-CN" altLang="en-US" sz="2400" b="1" dirty="0">
                <a:solidFill>
                  <a:srgbClr val="000099"/>
                </a:solidFill>
                <a:latin typeface="Times New Roman" panose="02020603050405020304" pitchFamily="18" charset="0"/>
              </a:endParaRPr>
            </a:p>
          </p:txBody>
        </p:sp>
        <p:sp>
          <p:nvSpPr>
            <p:cNvPr id="42039" name="Line 185"/>
            <p:cNvSpPr/>
            <p:nvPr/>
          </p:nvSpPr>
          <p:spPr>
            <a:xfrm>
              <a:off x="1777" y="1063"/>
              <a:ext cx="0" cy="184"/>
            </a:xfrm>
            <a:prstGeom prst="line">
              <a:avLst/>
            </a:prstGeom>
            <a:ln w="12700" cap="flat" cmpd="sng">
              <a:solidFill>
                <a:schemeClr val="accent2"/>
              </a:solidFill>
              <a:prstDash val="solid"/>
              <a:headEnd type="none" w="med" len="med"/>
              <a:tailEnd type="none" w="med" len="med"/>
            </a:ln>
          </p:spPr>
        </p:sp>
        <p:sp>
          <p:nvSpPr>
            <p:cNvPr id="42040" name="AutoShape 186"/>
            <p:cNvSpPr/>
            <p:nvPr/>
          </p:nvSpPr>
          <p:spPr>
            <a:xfrm rot="10800000">
              <a:off x="1635" y="1246"/>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41" name="Oval 187"/>
            <p:cNvSpPr/>
            <p:nvPr/>
          </p:nvSpPr>
          <p:spPr>
            <a:xfrm>
              <a:off x="3750" y="122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42" name="Text Box 188"/>
            <p:cNvSpPr txBox="1"/>
            <p:nvPr/>
          </p:nvSpPr>
          <p:spPr>
            <a:xfrm>
              <a:off x="3792" y="1134"/>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2043" name="Line 190"/>
            <p:cNvSpPr/>
            <p:nvPr/>
          </p:nvSpPr>
          <p:spPr>
            <a:xfrm>
              <a:off x="4503" y="1837"/>
              <a:ext cx="0" cy="1501"/>
            </a:xfrm>
            <a:prstGeom prst="line">
              <a:avLst/>
            </a:prstGeom>
            <a:ln w="12700" cap="flat" cmpd="sng">
              <a:solidFill>
                <a:schemeClr val="accent2"/>
              </a:solidFill>
              <a:prstDash val="solid"/>
              <a:headEnd type="none" w="med" len="med"/>
              <a:tailEnd type="none" w="med" len="med"/>
            </a:ln>
          </p:spPr>
        </p:sp>
        <p:sp>
          <p:nvSpPr>
            <p:cNvPr id="42044" name="Line 191"/>
            <p:cNvSpPr/>
            <p:nvPr/>
          </p:nvSpPr>
          <p:spPr>
            <a:xfrm flipH="1">
              <a:off x="3780" y="1833"/>
              <a:ext cx="724" cy="0"/>
            </a:xfrm>
            <a:prstGeom prst="line">
              <a:avLst/>
            </a:prstGeom>
            <a:ln w="12700" cap="flat" cmpd="sng">
              <a:solidFill>
                <a:schemeClr val="accent2"/>
              </a:solidFill>
              <a:prstDash val="solid"/>
              <a:headEnd type="none" w="med" len="med"/>
              <a:tailEnd type="none" w="med" len="med"/>
            </a:ln>
          </p:spPr>
        </p:sp>
        <p:sp>
          <p:nvSpPr>
            <p:cNvPr id="42045" name="AutoShape 192"/>
            <p:cNvSpPr/>
            <p:nvPr/>
          </p:nvSpPr>
          <p:spPr>
            <a:xfrm>
              <a:off x="2334" y="2050"/>
              <a:ext cx="409" cy="612"/>
            </a:xfrm>
            <a:prstGeom prst="flowChartMagneticDrum">
              <a:avLst/>
            </a:prstGeom>
            <a:noFill/>
            <a:ln w="19050" cap="flat" cmpd="sng">
              <a:solidFill>
                <a:srgbClr val="000080"/>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46" name="Line 194"/>
            <p:cNvSpPr/>
            <p:nvPr/>
          </p:nvSpPr>
          <p:spPr>
            <a:xfrm>
              <a:off x="1949" y="1811"/>
              <a:ext cx="0" cy="303"/>
            </a:xfrm>
            <a:prstGeom prst="line">
              <a:avLst/>
            </a:prstGeom>
            <a:ln w="12700" cap="flat" cmpd="sng">
              <a:solidFill>
                <a:schemeClr val="accent2"/>
              </a:solidFill>
              <a:prstDash val="solid"/>
              <a:headEnd type="none" w="med" len="med"/>
              <a:tailEnd type="none" w="med" len="med"/>
            </a:ln>
          </p:spPr>
        </p:sp>
        <p:sp>
          <p:nvSpPr>
            <p:cNvPr id="42047" name="Line 195"/>
            <p:cNvSpPr/>
            <p:nvPr/>
          </p:nvSpPr>
          <p:spPr>
            <a:xfrm>
              <a:off x="1949" y="2604"/>
              <a:ext cx="0" cy="301"/>
            </a:xfrm>
            <a:prstGeom prst="line">
              <a:avLst/>
            </a:prstGeom>
            <a:ln w="12700" cap="flat" cmpd="sng">
              <a:solidFill>
                <a:schemeClr val="accent2"/>
              </a:solidFill>
              <a:prstDash val="solid"/>
              <a:headEnd type="none" w="med" len="med"/>
              <a:tailEnd type="none" w="med" len="med"/>
            </a:ln>
          </p:spPr>
        </p:sp>
        <p:sp>
          <p:nvSpPr>
            <p:cNvPr id="42048" name="Line 196"/>
            <p:cNvSpPr/>
            <p:nvPr/>
          </p:nvSpPr>
          <p:spPr>
            <a:xfrm>
              <a:off x="1376" y="2114"/>
              <a:ext cx="573" cy="0"/>
            </a:xfrm>
            <a:prstGeom prst="line">
              <a:avLst/>
            </a:prstGeom>
            <a:ln w="12700" cap="flat" cmpd="sng">
              <a:solidFill>
                <a:schemeClr val="accent2"/>
              </a:solidFill>
              <a:prstDash val="solid"/>
              <a:headEnd type="none" w="med" len="med"/>
              <a:tailEnd type="none" w="med" len="med"/>
            </a:ln>
          </p:spPr>
        </p:sp>
        <p:sp>
          <p:nvSpPr>
            <p:cNvPr id="42049" name="Line 197"/>
            <p:cNvSpPr/>
            <p:nvPr/>
          </p:nvSpPr>
          <p:spPr>
            <a:xfrm>
              <a:off x="1114" y="2607"/>
              <a:ext cx="835" cy="0"/>
            </a:xfrm>
            <a:prstGeom prst="line">
              <a:avLst/>
            </a:prstGeom>
            <a:ln w="12700" cap="flat" cmpd="sng">
              <a:solidFill>
                <a:schemeClr val="accent2"/>
              </a:solidFill>
              <a:prstDash val="solid"/>
              <a:headEnd type="none" w="med" len="med"/>
              <a:tailEnd type="none" w="med" len="med"/>
            </a:ln>
          </p:spPr>
        </p:sp>
        <p:sp>
          <p:nvSpPr>
            <p:cNvPr id="42050" name="AutoShape 198"/>
            <p:cNvSpPr/>
            <p:nvPr/>
          </p:nvSpPr>
          <p:spPr>
            <a:xfrm>
              <a:off x="1463" y="2053"/>
              <a:ext cx="409" cy="612"/>
            </a:xfrm>
            <a:prstGeom prst="flowChartMagneticDrum">
              <a:avLst/>
            </a:prstGeom>
            <a:noFill/>
            <a:ln w="19050" cap="flat" cmpd="sng">
              <a:solidFill>
                <a:srgbClr val="000080"/>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42051" name="Group 216"/>
            <p:cNvGrpSpPr/>
            <p:nvPr/>
          </p:nvGrpSpPr>
          <p:grpSpPr>
            <a:xfrm>
              <a:off x="351" y="1934"/>
              <a:ext cx="844" cy="842"/>
              <a:chOff x="417" y="2277"/>
              <a:chExt cx="844" cy="842"/>
            </a:xfrm>
          </p:grpSpPr>
          <p:sp>
            <p:nvSpPr>
              <p:cNvPr id="42095" name="Line 205"/>
              <p:cNvSpPr/>
              <p:nvPr/>
            </p:nvSpPr>
            <p:spPr>
              <a:xfrm rot="2700000">
                <a:off x="767" y="2524"/>
                <a:ext cx="494" cy="0"/>
              </a:xfrm>
              <a:prstGeom prst="line">
                <a:avLst/>
              </a:prstGeom>
              <a:ln w="12700" cap="flat" cmpd="sng">
                <a:solidFill>
                  <a:schemeClr val="accent2"/>
                </a:solidFill>
                <a:prstDash val="solid"/>
                <a:headEnd type="none" w="med" len="med"/>
                <a:tailEnd type="none" w="med" len="med"/>
              </a:ln>
            </p:spPr>
          </p:sp>
          <p:sp>
            <p:nvSpPr>
              <p:cNvPr id="42096" name="Line 209"/>
              <p:cNvSpPr/>
              <p:nvPr/>
            </p:nvSpPr>
            <p:spPr>
              <a:xfrm rot="2700000">
                <a:off x="416" y="2872"/>
                <a:ext cx="494" cy="0"/>
              </a:xfrm>
              <a:prstGeom prst="line">
                <a:avLst/>
              </a:prstGeom>
              <a:ln w="12700" cap="flat" cmpd="sng">
                <a:solidFill>
                  <a:schemeClr val="accent2"/>
                </a:solidFill>
                <a:prstDash val="solid"/>
                <a:headEnd type="none" w="med" len="med"/>
                <a:tailEnd type="none" w="med" len="med"/>
              </a:ln>
            </p:spPr>
          </p:sp>
          <p:sp>
            <p:nvSpPr>
              <p:cNvPr id="42097" name="Line 210"/>
              <p:cNvSpPr/>
              <p:nvPr/>
            </p:nvSpPr>
            <p:spPr>
              <a:xfrm rot="-2700000">
                <a:off x="417" y="2523"/>
                <a:ext cx="494" cy="0"/>
              </a:xfrm>
              <a:prstGeom prst="line">
                <a:avLst/>
              </a:prstGeom>
              <a:ln w="12700" cap="flat" cmpd="sng">
                <a:solidFill>
                  <a:schemeClr val="accent2"/>
                </a:solidFill>
                <a:prstDash val="solid"/>
                <a:headEnd type="none" w="med" len="med"/>
                <a:tailEnd type="none" w="med" len="med"/>
              </a:ln>
            </p:spPr>
          </p:sp>
          <p:sp>
            <p:nvSpPr>
              <p:cNvPr id="42098" name="Line 211"/>
              <p:cNvSpPr/>
              <p:nvPr/>
            </p:nvSpPr>
            <p:spPr>
              <a:xfrm rot="-2700000">
                <a:off x="767" y="2874"/>
                <a:ext cx="494" cy="0"/>
              </a:xfrm>
              <a:prstGeom prst="line">
                <a:avLst/>
              </a:prstGeom>
              <a:ln w="12700" cap="flat" cmpd="sng">
                <a:solidFill>
                  <a:schemeClr val="accent2"/>
                </a:solidFill>
                <a:prstDash val="solid"/>
                <a:headEnd type="none" w="med" len="med"/>
                <a:tailEnd type="none" w="med" len="med"/>
              </a:ln>
            </p:spPr>
          </p:sp>
          <p:sp>
            <p:nvSpPr>
              <p:cNvPr id="42099" name="Rectangle 200"/>
              <p:cNvSpPr/>
              <p:nvPr/>
            </p:nvSpPr>
            <p:spPr>
              <a:xfrm rot="2700000">
                <a:off x="641" y="2428"/>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0" name="Rectangle 201"/>
              <p:cNvSpPr/>
              <p:nvPr/>
            </p:nvSpPr>
            <p:spPr>
              <a:xfrm rot="2700000">
                <a:off x="977" y="2793"/>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1" name="Rectangle 202"/>
              <p:cNvSpPr/>
              <p:nvPr/>
            </p:nvSpPr>
            <p:spPr>
              <a:xfrm rot="-2700000">
                <a:off x="640" y="2797"/>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2" name="Rectangle 203"/>
              <p:cNvSpPr/>
              <p:nvPr/>
            </p:nvSpPr>
            <p:spPr>
              <a:xfrm rot="-2700000">
                <a:off x="974" y="2432"/>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3" name="Oval 212"/>
              <p:cNvSpPr/>
              <p:nvPr/>
            </p:nvSpPr>
            <p:spPr>
              <a:xfrm>
                <a:off x="811" y="2327"/>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4" name="Oval 213"/>
              <p:cNvSpPr/>
              <p:nvPr/>
            </p:nvSpPr>
            <p:spPr>
              <a:xfrm>
                <a:off x="811" y="301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5" name="Oval 214"/>
              <p:cNvSpPr/>
              <p:nvPr/>
            </p:nvSpPr>
            <p:spPr>
              <a:xfrm>
                <a:off x="1154" y="2672"/>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106" name="Oval 215"/>
              <p:cNvSpPr/>
              <p:nvPr/>
            </p:nvSpPr>
            <p:spPr>
              <a:xfrm>
                <a:off x="469" y="267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42052" name="Line 217"/>
            <p:cNvSpPr/>
            <p:nvPr/>
          </p:nvSpPr>
          <p:spPr>
            <a:xfrm>
              <a:off x="1114" y="2359"/>
              <a:ext cx="0" cy="248"/>
            </a:xfrm>
            <a:prstGeom prst="line">
              <a:avLst/>
            </a:prstGeom>
            <a:ln w="12700" cap="flat" cmpd="sng">
              <a:solidFill>
                <a:schemeClr val="accent2"/>
              </a:solidFill>
              <a:prstDash val="solid"/>
              <a:headEnd type="none" w="med" len="med"/>
              <a:tailEnd type="none" w="med" len="med"/>
            </a:ln>
          </p:spPr>
        </p:sp>
        <p:sp>
          <p:nvSpPr>
            <p:cNvPr id="42053" name="Line 218"/>
            <p:cNvSpPr/>
            <p:nvPr/>
          </p:nvSpPr>
          <p:spPr>
            <a:xfrm>
              <a:off x="771" y="1765"/>
              <a:ext cx="0" cy="245"/>
            </a:xfrm>
            <a:prstGeom prst="line">
              <a:avLst/>
            </a:prstGeom>
            <a:ln w="12700" cap="flat" cmpd="sng">
              <a:solidFill>
                <a:schemeClr val="accent2"/>
              </a:solidFill>
              <a:prstDash val="solid"/>
              <a:headEnd type="none" w="med" len="med"/>
              <a:tailEnd type="none" w="med" len="med"/>
            </a:ln>
          </p:spPr>
        </p:sp>
        <p:sp>
          <p:nvSpPr>
            <p:cNvPr id="42054" name="Text Box 219"/>
            <p:cNvSpPr txBox="1"/>
            <p:nvPr/>
          </p:nvSpPr>
          <p:spPr>
            <a:xfrm>
              <a:off x="724" y="1693"/>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2055" name="Line 220"/>
            <p:cNvSpPr/>
            <p:nvPr/>
          </p:nvSpPr>
          <p:spPr>
            <a:xfrm>
              <a:off x="427" y="1557"/>
              <a:ext cx="0" cy="797"/>
            </a:xfrm>
            <a:prstGeom prst="line">
              <a:avLst/>
            </a:prstGeom>
            <a:ln w="12700" cap="flat" cmpd="sng">
              <a:solidFill>
                <a:schemeClr val="accent2"/>
              </a:solidFill>
              <a:prstDash val="solid"/>
              <a:headEnd type="none" w="med" len="med"/>
              <a:tailEnd type="none" w="med" len="med"/>
            </a:ln>
          </p:spPr>
        </p:sp>
        <p:sp>
          <p:nvSpPr>
            <p:cNvPr id="42056" name="Line 221"/>
            <p:cNvSpPr/>
            <p:nvPr/>
          </p:nvSpPr>
          <p:spPr>
            <a:xfrm>
              <a:off x="427" y="1557"/>
              <a:ext cx="945" cy="0"/>
            </a:xfrm>
            <a:prstGeom prst="line">
              <a:avLst/>
            </a:prstGeom>
            <a:ln w="12700" cap="flat" cmpd="sng">
              <a:solidFill>
                <a:schemeClr val="accent2"/>
              </a:solidFill>
              <a:prstDash val="solid"/>
              <a:headEnd type="none" w="med" len="med"/>
              <a:tailEnd type="none" w="med" len="med"/>
            </a:ln>
          </p:spPr>
        </p:sp>
        <p:sp>
          <p:nvSpPr>
            <p:cNvPr id="42057" name="Line 222"/>
            <p:cNvSpPr/>
            <p:nvPr/>
          </p:nvSpPr>
          <p:spPr>
            <a:xfrm>
              <a:off x="1372" y="1557"/>
              <a:ext cx="0" cy="557"/>
            </a:xfrm>
            <a:prstGeom prst="line">
              <a:avLst/>
            </a:prstGeom>
            <a:ln w="12700" cap="flat" cmpd="sng">
              <a:solidFill>
                <a:schemeClr val="accent2"/>
              </a:solidFill>
              <a:prstDash val="solid"/>
              <a:headEnd type="none" w="med" len="med"/>
              <a:tailEnd type="none" w="med" len="med"/>
            </a:ln>
          </p:spPr>
        </p:sp>
        <p:sp>
          <p:nvSpPr>
            <p:cNvPr id="42058" name="Line 223"/>
            <p:cNvSpPr/>
            <p:nvPr/>
          </p:nvSpPr>
          <p:spPr>
            <a:xfrm>
              <a:off x="771" y="2706"/>
              <a:ext cx="0" cy="245"/>
            </a:xfrm>
            <a:prstGeom prst="line">
              <a:avLst/>
            </a:prstGeom>
            <a:ln w="12700" cap="flat" cmpd="sng">
              <a:solidFill>
                <a:schemeClr val="accent2"/>
              </a:solidFill>
              <a:prstDash val="solid"/>
              <a:headEnd type="none" w="med" len="med"/>
              <a:tailEnd type="none" w="med" len="med"/>
            </a:ln>
          </p:spPr>
        </p:sp>
        <p:sp>
          <p:nvSpPr>
            <p:cNvPr id="42059" name="Line 224"/>
            <p:cNvSpPr/>
            <p:nvPr/>
          </p:nvSpPr>
          <p:spPr>
            <a:xfrm>
              <a:off x="198" y="2951"/>
              <a:ext cx="573" cy="0"/>
            </a:xfrm>
            <a:prstGeom prst="line">
              <a:avLst/>
            </a:prstGeom>
            <a:ln w="12700" cap="flat" cmpd="sng">
              <a:solidFill>
                <a:schemeClr val="accent2"/>
              </a:solidFill>
              <a:prstDash val="solid"/>
              <a:headEnd type="none" w="med" len="med"/>
              <a:tailEnd type="none" w="med" len="med"/>
            </a:ln>
          </p:spPr>
        </p:sp>
        <p:sp>
          <p:nvSpPr>
            <p:cNvPr id="42060" name="Line 225"/>
            <p:cNvSpPr/>
            <p:nvPr/>
          </p:nvSpPr>
          <p:spPr>
            <a:xfrm>
              <a:off x="198" y="1064"/>
              <a:ext cx="0" cy="1884"/>
            </a:xfrm>
            <a:prstGeom prst="line">
              <a:avLst/>
            </a:prstGeom>
            <a:ln w="12700" cap="flat" cmpd="sng">
              <a:solidFill>
                <a:schemeClr val="accent2"/>
              </a:solidFill>
              <a:prstDash val="solid"/>
              <a:headEnd type="none" w="med" len="med"/>
              <a:tailEnd type="none" w="med" len="med"/>
            </a:ln>
          </p:spPr>
        </p:sp>
        <p:sp>
          <p:nvSpPr>
            <p:cNvPr id="42061" name="Rectangle 226"/>
            <p:cNvSpPr/>
            <p:nvPr/>
          </p:nvSpPr>
          <p:spPr>
            <a:xfrm>
              <a:off x="4720" y="2502"/>
              <a:ext cx="236" cy="411"/>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algn="ctr" eaLnBrk="1" hangingPunct="1">
                <a:lnSpc>
                  <a:spcPct val="90000"/>
                </a:lnSpc>
              </a:pPr>
              <a:r>
                <a:rPr lang="zh-CN" altLang="en-US" sz="2000" b="1" dirty="0">
                  <a:solidFill>
                    <a:srgbClr val="333399"/>
                  </a:solidFill>
                  <a:latin typeface="Times New Roman" panose="02020603050405020304" pitchFamily="18" charset="0"/>
                </a:rPr>
                <a:t>负</a:t>
              </a:r>
              <a:endParaRPr lang="zh-CN" altLang="en-US" sz="2000" b="1" dirty="0">
                <a:solidFill>
                  <a:srgbClr val="333399"/>
                </a:solidFill>
                <a:latin typeface="Times New Roman" panose="02020603050405020304" pitchFamily="18" charset="0"/>
              </a:endParaRPr>
            </a:p>
            <a:p>
              <a:pPr algn="ctr" eaLnBrk="1" hangingPunct="1">
                <a:lnSpc>
                  <a:spcPct val="90000"/>
                </a:lnSpc>
              </a:pPr>
              <a:r>
                <a:rPr lang="zh-CN" altLang="en-US" sz="2000" b="1" dirty="0">
                  <a:solidFill>
                    <a:srgbClr val="333399"/>
                  </a:solidFill>
                  <a:latin typeface="Times New Roman" panose="02020603050405020304" pitchFamily="18" charset="0"/>
                </a:rPr>
                <a:t>载</a:t>
              </a:r>
              <a:endParaRPr lang="zh-CN" altLang="en-US" sz="2000" b="1" dirty="0">
                <a:solidFill>
                  <a:srgbClr val="333399"/>
                </a:solidFill>
                <a:latin typeface="Times New Roman" panose="02020603050405020304" pitchFamily="18" charset="0"/>
              </a:endParaRPr>
            </a:p>
          </p:txBody>
        </p:sp>
        <p:sp>
          <p:nvSpPr>
            <p:cNvPr id="42062" name="Line 227"/>
            <p:cNvSpPr/>
            <p:nvPr/>
          </p:nvSpPr>
          <p:spPr>
            <a:xfrm flipH="1">
              <a:off x="4038" y="3015"/>
              <a:ext cx="1077" cy="0"/>
            </a:xfrm>
            <a:prstGeom prst="line">
              <a:avLst/>
            </a:prstGeom>
            <a:ln w="12700" cap="flat" cmpd="sng">
              <a:solidFill>
                <a:schemeClr val="accent2"/>
              </a:solidFill>
              <a:prstDash val="solid"/>
              <a:headEnd type="none" w="med" len="med"/>
              <a:tailEnd type="none" w="med" len="med"/>
            </a:ln>
          </p:spPr>
        </p:sp>
        <p:sp>
          <p:nvSpPr>
            <p:cNvPr id="42063" name="Oval 228"/>
            <p:cNvSpPr/>
            <p:nvPr/>
          </p:nvSpPr>
          <p:spPr>
            <a:xfrm>
              <a:off x="4799" y="298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64" name="Line 229"/>
            <p:cNvSpPr/>
            <p:nvPr/>
          </p:nvSpPr>
          <p:spPr>
            <a:xfrm>
              <a:off x="5115" y="1063"/>
              <a:ext cx="0" cy="1951"/>
            </a:xfrm>
            <a:prstGeom prst="line">
              <a:avLst/>
            </a:prstGeom>
            <a:ln w="12700" cap="flat" cmpd="sng">
              <a:solidFill>
                <a:schemeClr val="accent2"/>
              </a:solidFill>
              <a:prstDash val="solid"/>
              <a:headEnd type="none" w="med" len="med"/>
              <a:tailEnd type="none" w="med" len="med"/>
            </a:ln>
          </p:spPr>
        </p:sp>
        <p:sp>
          <p:nvSpPr>
            <p:cNvPr id="42065" name="Line 230"/>
            <p:cNvSpPr/>
            <p:nvPr/>
          </p:nvSpPr>
          <p:spPr>
            <a:xfrm>
              <a:off x="199" y="1064"/>
              <a:ext cx="4916" cy="0"/>
            </a:xfrm>
            <a:prstGeom prst="line">
              <a:avLst/>
            </a:prstGeom>
            <a:ln w="12700" cap="flat" cmpd="sng">
              <a:solidFill>
                <a:schemeClr val="accent2"/>
              </a:solidFill>
              <a:prstDash val="solid"/>
              <a:headEnd type="none" w="med" len="med"/>
              <a:tailEnd type="none" w="med" len="med"/>
            </a:ln>
          </p:spPr>
        </p:sp>
        <p:sp>
          <p:nvSpPr>
            <p:cNvPr id="42066" name="Text Box 231"/>
            <p:cNvSpPr txBox="1"/>
            <p:nvPr/>
          </p:nvSpPr>
          <p:spPr>
            <a:xfrm>
              <a:off x="3076" y="2247"/>
              <a:ext cx="689" cy="231"/>
            </a:xfrm>
            <a:prstGeom prst="rect">
              <a:avLst/>
            </a:prstGeom>
            <a:noFill/>
            <a:ln w="9525">
              <a:noFill/>
            </a:ln>
          </p:spPr>
          <p:txBody>
            <a:bodyPr>
              <a:spAutoFit/>
            </a:bodyPr>
            <a:p>
              <a:pPr eaLnBrk="1" hangingPunct="1">
                <a:lnSpc>
                  <a:spcPct val="90000"/>
                </a:lnSpc>
                <a:spcBef>
                  <a:spcPct val="50000"/>
                </a:spcBef>
              </a:pPr>
              <a:r>
                <a:rPr lang="en-US" altLang="zh-CN" sz="2000" b="1" dirty="0">
                  <a:solidFill>
                    <a:srgbClr val="FF0000"/>
                  </a:solidFill>
                  <a:latin typeface="Times New Roman" panose="02020603050405020304" pitchFamily="18" charset="0"/>
                </a:rPr>
                <a:t>AD522</a:t>
              </a:r>
              <a:endParaRPr lang="en-US" altLang="zh-CN" sz="2000" b="1" dirty="0">
                <a:solidFill>
                  <a:srgbClr val="FF0000"/>
                </a:solidFill>
                <a:latin typeface="Times New Roman" panose="02020603050405020304" pitchFamily="18" charset="0"/>
              </a:endParaRPr>
            </a:p>
          </p:txBody>
        </p:sp>
        <p:sp>
          <p:nvSpPr>
            <p:cNvPr id="42067" name="Oval 232"/>
            <p:cNvSpPr/>
            <p:nvPr/>
          </p:nvSpPr>
          <p:spPr>
            <a:xfrm>
              <a:off x="3439" y="103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68" name="Oval 233"/>
            <p:cNvSpPr/>
            <p:nvPr/>
          </p:nvSpPr>
          <p:spPr>
            <a:xfrm>
              <a:off x="1749" y="103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69" name="Text Box 234"/>
            <p:cNvSpPr txBox="1"/>
            <p:nvPr/>
          </p:nvSpPr>
          <p:spPr>
            <a:xfrm>
              <a:off x="204" y="2319"/>
              <a:ext cx="260"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E</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42070" name="Text Box 235"/>
            <p:cNvSpPr txBox="1"/>
            <p:nvPr/>
          </p:nvSpPr>
          <p:spPr>
            <a:xfrm>
              <a:off x="1111" y="2309"/>
              <a:ext cx="260"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E</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42071" name="Text Box 236"/>
            <p:cNvSpPr txBox="1"/>
            <p:nvPr/>
          </p:nvSpPr>
          <p:spPr>
            <a:xfrm>
              <a:off x="219" y="2932"/>
              <a:ext cx="597"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信号地</a:t>
              </a:r>
              <a:endParaRPr lang="zh-CN" altLang="en-US" sz="1600" b="1" dirty="0">
                <a:solidFill>
                  <a:srgbClr val="CC00CC"/>
                </a:solidFill>
                <a:latin typeface="Times New Roman" panose="02020603050405020304" pitchFamily="18" charset="0"/>
              </a:endParaRPr>
            </a:p>
          </p:txBody>
        </p:sp>
        <p:sp>
          <p:nvSpPr>
            <p:cNvPr id="42072" name="Text Box 237"/>
            <p:cNvSpPr txBox="1"/>
            <p:nvPr/>
          </p:nvSpPr>
          <p:spPr>
            <a:xfrm>
              <a:off x="804" y="2637"/>
              <a:ext cx="829"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测量电桥</a:t>
              </a:r>
              <a:endParaRPr lang="zh-CN" altLang="en-US" sz="1600" b="1" dirty="0">
                <a:solidFill>
                  <a:srgbClr val="CC00CC"/>
                </a:solidFill>
                <a:latin typeface="Times New Roman" panose="02020603050405020304" pitchFamily="18" charset="0"/>
              </a:endParaRPr>
            </a:p>
          </p:txBody>
        </p:sp>
        <p:sp>
          <p:nvSpPr>
            <p:cNvPr id="42073" name="Text Box 238"/>
            <p:cNvSpPr txBox="1"/>
            <p:nvPr/>
          </p:nvSpPr>
          <p:spPr>
            <a:xfrm>
              <a:off x="4558" y="3045"/>
              <a:ext cx="597"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负载地</a:t>
              </a:r>
              <a:endParaRPr lang="zh-CN" altLang="en-US" sz="1600" b="1" dirty="0">
                <a:solidFill>
                  <a:srgbClr val="CC00CC"/>
                </a:solidFill>
                <a:latin typeface="Times New Roman" panose="02020603050405020304" pitchFamily="18" charset="0"/>
              </a:endParaRPr>
            </a:p>
          </p:txBody>
        </p:sp>
        <p:sp>
          <p:nvSpPr>
            <p:cNvPr id="42074" name="Text Box 239"/>
            <p:cNvSpPr txBox="1"/>
            <p:nvPr/>
          </p:nvSpPr>
          <p:spPr>
            <a:xfrm>
              <a:off x="284" y="884"/>
              <a:ext cx="774"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信号回路</a:t>
              </a:r>
              <a:endParaRPr lang="zh-CN" altLang="en-US" sz="1600" b="1" dirty="0">
                <a:solidFill>
                  <a:srgbClr val="CC00CC"/>
                </a:solidFill>
                <a:latin typeface="Times New Roman" panose="02020603050405020304" pitchFamily="18" charset="0"/>
              </a:endParaRPr>
            </a:p>
          </p:txBody>
        </p:sp>
        <p:sp>
          <p:nvSpPr>
            <p:cNvPr id="42075" name="Text Box 240"/>
            <p:cNvSpPr txBox="1"/>
            <p:nvPr/>
          </p:nvSpPr>
          <p:spPr>
            <a:xfrm>
              <a:off x="4117" y="878"/>
              <a:ext cx="774"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负载回路</a:t>
              </a:r>
              <a:endParaRPr lang="zh-CN" altLang="en-US" sz="1600" b="1" dirty="0">
                <a:solidFill>
                  <a:srgbClr val="CC00CC"/>
                </a:solidFill>
                <a:latin typeface="Times New Roman" panose="02020603050405020304" pitchFamily="18" charset="0"/>
              </a:endParaRPr>
            </a:p>
          </p:txBody>
        </p:sp>
        <p:sp>
          <p:nvSpPr>
            <p:cNvPr id="42076" name="Line 241"/>
            <p:cNvSpPr/>
            <p:nvPr/>
          </p:nvSpPr>
          <p:spPr>
            <a:xfrm>
              <a:off x="1701" y="3335"/>
              <a:ext cx="1453" cy="0"/>
            </a:xfrm>
            <a:prstGeom prst="line">
              <a:avLst/>
            </a:prstGeom>
            <a:ln w="12700" cap="flat" cmpd="sng">
              <a:solidFill>
                <a:schemeClr val="accent2"/>
              </a:solidFill>
              <a:prstDash val="solid"/>
              <a:headEnd type="none" w="med" len="med"/>
              <a:tailEnd type="none" w="med" len="med"/>
            </a:ln>
          </p:spPr>
        </p:sp>
        <p:sp>
          <p:nvSpPr>
            <p:cNvPr id="42077" name="Line 242"/>
            <p:cNvSpPr/>
            <p:nvPr/>
          </p:nvSpPr>
          <p:spPr>
            <a:xfrm>
              <a:off x="2431" y="2666"/>
              <a:ext cx="0" cy="669"/>
            </a:xfrm>
            <a:prstGeom prst="line">
              <a:avLst/>
            </a:prstGeom>
            <a:ln w="12700" cap="flat" cmpd="sng">
              <a:solidFill>
                <a:schemeClr val="accent2"/>
              </a:solidFill>
              <a:prstDash val="solid"/>
              <a:headEnd type="none" w="med" len="med"/>
              <a:tailEnd type="none" w="med" len="med"/>
            </a:ln>
          </p:spPr>
        </p:sp>
        <p:sp>
          <p:nvSpPr>
            <p:cNvPr id="42078" name="Line 243"/>
            <p:cNvSpPr/>
            <p:nvPr/>
          </p:nvSpPr>
          <p:spPr>
            <a:xfrm>
              <a:off x="1701" y="2665"/>
              <a:ext cx="0" cy="669"/>
            </a:xfrm>
            <a:prstGeom prst="line">
              <a:avLst/>
            </a:prstGeom>
            <a:ln w="12700" cap="flat" cmpd="sng">
              <a:solidFill>
                <a:schemeClr val="accent2"/>
              </a:solidFill>
              <a:prstDash val="solid"/>
              <a:headEnd type="none" w="med" len="med"/>
              <a:tailEnd type="none" w="med" len="med"/>
            </a:ln>
          </p:spPr>
        </p:sp>
        <p:sp>
          <p:nvSpPr>
            <p:cNvPr id="42079" name="Oval 244"/>
            <p:cNvSpPr/>
            <p:nvPr/>
          </p:nvSpPr>
          <p:spPr>
            <a:xfrm>
              <a:off x="2403" y="2643"/>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80" name="Oval 245"/>
            <p:cNvSpPr/>
            <p:nvPr/>
          </p:nvSpPr>
          <p:spPr>
            <a:xfrm>
              <a:off x="1673" y="264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81" name="Oval 246"/>
            <p:cNvSpPr/>
            <p:nvPr/>
          </p:nvSpPr>
          <p:spPr>
            <a:xfrm>
              <a:off x="2403" y="331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82" name="Line 247"/>
            <p:cNvSpPr/>
            <p:nvPr/>
          </p:nvSpPr>
          <p:spPr>
            <a:xfrm>
              <a:off x="3598" y="1444"/>
              <a:ext cx="0" cy="249"/>
            </a:xfrm>
            <a:prstGeom prst="line">
              <a:avLst/>
            </a:prstGeom>
            <a:ln w="19050" cap="flat" cmpd="sng">
              <a:solidFill>
                <a:srgbClr val="FF0000"/>
              </a:solidFill>
              <a:prstDash val="solid"/>
              <a:headEnd type="none" w="med" len="med"/>
              <a:tailEnd type="none" w="med" len="med"/>
            </a:ln>
          </p:spPr>
        </p:sp>
        <p:sp>
          <p:nvSpPr>
            <p:cNvPr id="42083" name="Line 248"/>
            <p:cNvSpPr/>
            <p:nvPr/>
          </p:nvSpPr>
          <p:spPr>
            <a:xfrm>
              <a:off x="3656" y="1444"/>
              <a:ext cx="0" cy="249"/>
            </a:xfrm>
            <a:prstGeom prst="line">
              <a:avLst/>
            </a:prstGeom>
            <a:ln w="19050" cap="flat" cmpd="sng">
              <a:solidFill>
                <a:srgbClr val="FF0000"/>
              </a:solidFill>
              <a:prstDash val="solid"/>
              <a:headEnd type="none" w="med" len="med"/>
              <a:tailEnd type="none" w="med" len="med"/>
            </a:ln>
          </p:spPr>
        </p:sp>
        <p:sp>
          <p:nvSpPr>
            <p:cNvPr id="42084" name="Line 249"/>
            <p:cNvSpPr/>
            <p:nvPr/>
          </p:nvSpPr>
          <p:spPr>
            <a:xfrm>
              <a:off x="3280" y="1445"/>
              <a:ext cx="0" cy="249"/>
            </a:xfrm>
            <a:prstGeom prst="line">
              <a:avLst/>
            </a:prstGeom>
            <a:ln w="19050" cap="flat" cmpd="sng">
              <a:solidFill>
                <a:srgbClr val="FF0000"/>
              </a:solidFill>
              <a:prstDash val="solid"/>
              <a:headEnd type="none" w="med" len="med"/>
              <a:tailEnd type="none" w="med" len="med"/>
            </a:ln>
          </p:spPr>
        </p:sp>
        <p:sp>
          <p:nvSpPr>
            <p:cNvPr id="42085" name="Line 250"/>
            <p:cNvSpPr/>
            <p:nvPr/>
          </p:nvSpPr>
          <p:spPr>
            <a:xfrm>
              <a:off x="3338" y="1445"/>
              <a:ext cx="0" cy="249"/>
            </a:xfrm>
            <a:prstGeom prst="line">
              <a:avLst/>
            </a:prstGeom>
            <a:ln w="19050" cap="flat" cmpd="sng">
              <a:solidFill>
                <a:srgbClr val="FF0000"/>
              </a:solidFill>
              <a:prstDash val="solid"/>
              <a:headEnd type="none" w="med" len="med"/>
              <a:tailEnd type="none" w="med" len="med"/>
            </a:ln>
          </p:spPr>
        </p:sp>
        <p:sp>
          <p:nvSpPr>
            <p:cNvPr id="42086" name="Line 251"/>
            <p:cNvSpPr/>
            <p:nvPr/>
          </p:nvSpPr>
          <p:spPr>
            <a:xfrm>
              <a:off x="3154" y="1567"/>
              <a:ext cx="120" cy="0"/>
            </a:xfrm>
            <a:prstGeom prst="line">
              <a:avLst/>
            </a:prstGeom>
            <a:ln w="12700" cap="flat" cmpd="sng">
              <a:solidFill>
                <a:srgbClr val="FF0000"/>
              </a:solidFill>
              <a:prstDash val="solid"/>
              <a:headEnd type="none" w="med" len="med"/>
              <a:tailEnd type="none" w="med" len="med"/>
            </a:ln>
          </p:spPr>
        </p:sp>
        <p:sp>
          <p:nvSpPr>
            <p:cNvPr id="42087" name="Line 252"/>
            <p:cNvSpPr/>
            <p:nvPr/>
          </p:nvSpPr>
          <p:spPr>
            <a:xfrm>
              <a:off x="3338" y="1567"/>
              <a:ext cx="260" cy="0"/>
            </a:xfrm>
            <a:prstGeom prst="line">
              <a:avLst/>
            </a:prstGeom>
            <a:ln w="12700" cap="flat" cmpd="sng">
              <a:solidFill>
                <a:srgbClr val="FF0000"/>
              </a:solidFill>
              <a:prstDash val="solid"/>
              <a:headEnd type="none" w="med" len="med"/>
              <a:tailEnd type="none" w="med" len="med"/>
            </a:ln>
          </p:spPr>
        </p:sp>
        <p:sp>
          <p:nvSpPr>
            <p:cNvPr id="42088" name="Line 253"/>
            <p:cNvSpPr/>
            <p:nvPr/>
          </p:nvSpPr>
          <p:spPr>
            <a:xfrm>
              <a:off x="3660" y="1565"/>
              <a:ext cx="120" cy="0"/>
            </a:xfrm>
            <a:prstGeom prst="line">
              <a:avLst/>
            </a:prstGeom>
            <a:ln w="12700" cap="flat" cmpd="sng">
              <a:solidFill>
                <a:srgbClr val="FF0000"/>
              </a:solidFill>
              <a:prstDash val="solid"/>
              <a:headEnd type="none" w="med" len="med"/>
              <a:tailEnd type="none" w="med" len="med"/>
            </a:ln>
          </p:spPr>
        </p:sp>
        <p:sp>
          <p:nvSpPr>
            <p:cNvPr id="42089" name="Oval 254"/>
            <p:cNvSpPr/>
            <p:nvPr/>
          </p:nvSpPr>
          <p:spPr>
            <a:xfrm>
              <a:off x="3124" y="1537"/>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90" name="Oval 255"/>
            <p:cNvSpPr/>
            <p:nvPr/>
          </p:nvSpPr>
          <p:spPr>
            <a:xfrm>
              <a:off x="3439" y="153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91" name="Oval 256"/>
            <p:cNvSpPr/>
            <p:nvPr/>
          </p:nvSpPr>
          <p:spPr>
            <a:xfrm>
              <a:off x="3753" y="153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2092" name="Text Box 257"/>
            <p:cNvSpPr txBox="1"/>
            <p:nvPr/>
          </p:nvSpPr>
          <p:spPr>
            <a:xfrm>
              <a:off x="3288" y="1363"/>
              <a:ext cx="246" cy="214"/>
            </a:xfrm>
            <a:prstGeom prst="rect">
              <a:avLst/>
            </a:prstGeom>
            <a:noFill/>
            <a:ln w="9525">
              <a:noFill/>
            </a:ln>
          </p:spPr>
          <p:txBody>
            <a:bodyPr>
              <a:spAutoFit/>
            </a:bodyPr>
            <a:p>
              <a:pPr eaLnBrk="1" hangingPunct="1">
                <a:lnSpc>
                  <a:spcPct val="90000"/>
                </a:lnSpc>
                <a:spcBef>
                  <a:spcPct val="50000"/>
                </a:spcBef>
              </a:pPr>
              <a:r>
                <a:rPr lang="en-US" altLang="zh-CN" sz="1800" b="1" dirty="0">
                  <a:solidFill>
                    <a:srgbClr val="FF0000"/>
                  </a:solidFill>
                  <a:latin typeface="黑体" panose="02010609060101010101" pitchFamily="49" charset="-122"/>
                  <a:ea typeface="黑体" panose="02010609060101010101" pitchFamily="49" charset="-122"/>
                </a:rPr>
                <a:t>+</a:t>
              </a:r>
              <a:endParaRPr lang="en-US" altLang="zh-CN" sz="1800" b="1" dirty="0">
                <a:solidFill>
                  <a:srgbClr val="FF0000"/>
                </a:solidFill>
                <a:latin typeface="黑体" panose="02010609060101010101" pitchFamily="49" charset="-122"/>
                <a:ea typeface="黑体" panose="02010609060101010101" pitchFamily="49" charset="-122"/>
              </a:endParaRPr>
            </a:p>
          </p:txBody>
        </p:sp>
        <p:sp>
          <p:nvSpPr>
            <p:cNvPr id="42093" name="Text Box 258"/>
            <p:cNvSpPr txBox="1"/>
            <p:nvPr/>
          </p:nvSpPr>
          <p:spPr>
            <a:xfrm>
              <a:off x="3609" y="1361"/>
              <a:ext cx="246" cy="214"/>
            </a:xfrm>
            <a:prstGeom prst="rect">
              <a:avLst/>
            </a:prstGeom>
            <a:noFill/>
            <a:ln w="9525">
              <a:noFill/>
            </a:ln>
          </p:spPr>
          <p:txBody>
            <a:bodyPr>
              <a:spAutoFit/>
            </a:bodyPr>
            <a:p>
              <a:pPr eaLnBrk="1" hangingPunct="1">
                <a:lnSpc>
                  <a:spcPct val="90000"/>
                </a:lnSpc>
                <a:spcBef>
                  <a:spcPct val="50000"/>
                </a:spcBef>
              </a:pPr>
              <a:r>
                <a:rPr lang="en-US" altLang="zh-CN" sz="1800" b="1" dirty="0">
                  <a:solidFill>
                    <a:srgbClr val="FF0000"/>
                  </a:solidFill>
                  <a:latin typeface="黑体" panose="02010609060101010101" pitchFamily="49" charset="-122"/>
                  <a:ea typeface="黑体" panose="02010609060101010101" pitchFamily="49" charset="-122"/>
                </a:rPr>
                <a:t>+</a:t>
              </a:r>
              <a:endParaRPr lang="en-US" altLang="zh-CN" sz="1800" b="1" dirty="0">
                <a:solidFill>
                  <a:srgbClr val="FF0000"/>
                </a:solidFill>
                <a:latin typeface="黑体" panose="02010609060101010101" pitchFamily="49" charset="-122"/>
                <a:ea typeface="黑体" panose="02010609060101010101" pitchFamily="49" charset="-122"/>
              </a:endParaRPr>
            </a:p>
          </p:txBody>
        </p:sp>
        <p:sp>
          <p:nvSpPr>
            <p:cNvPr id="42094" name="Text Box 259"/>
            <p:cNvSpPr txBox="1"/>
            <p:nvPr/>
          </p:nvSpPr>
          <p:spPr>
            <a:xfrm>
              <a:off x="3136" y="1261"/>
              <a:ext cx="804" cy="179"/>
            </a:xfrm>
            <a:prstGeom prst="rect">
              <a:avLst/>
            </a:prstGeom>
            <a:noFill/>
            <a:ln w="9525">
              <a:noFill/>
            </a:ln>
          </p:spPr>
          <p:txBody>
            <a:bodyPr>
              <a:spAutoFit/>
            </a:bodyPr>
            <a:p>
              <a:pPr eaLnBrk="1" hangingPunct="1">
                <a:lnSpc>
                  <a:spcPct val="90000"/>
                </a:lnSpc>
                <a:spcBef>
                  <a:spcPct val="50000"/>
                </a:spcBef>
              </a:pPr>
              <a:r>
                <a:rPr lang="en-US" altLang="zh-CN" sz="1400" b="1" dirty="0">
                  <a:solidFill>
                    <a:srgbClr val="CC00CC"/>
                  </a:solidFill>
                  <a:latin typeface="Times New Roman" panose="02020603050405020304" pitchFamily="18" charset="0"/>
                </a:rPr>
                <a:t>10uf    10uf</a:t>
              </a:r>
              <a:endParaRPr lang="en-US" altLang="zh-CN" sz="1400" b="1" dirty="0">
                <a:solidFill>
                  <a:srgbClr val="CC00CC"/>
                </a:solidFill>
                <a:latin typeface="Times New Roman" panose="02020603050405020304" pitchFamily="18" charset="0"/>
              </a:endParaRPr>
            </a:p>
          </p:txBody>
        </p:sp>
      </p:grpSp>
      <p:sp>
        <p:nvSpPr>
          <p:cNvPr id="2415877" name="AutoShape 261"/>
          <p:cNvSpPr/>
          <p:nvPr/>
        </p:nvSpPr>
        <p:spPr>
          <a:xfrm>
            <a:off x="279400" y="5265738"/>
            <a:ext cx="2492375" cy="923925"/>
          </a:xfrm>
          <a:prstGeom prst="wedgeRoundRectCallout">
            <a:avLst>
              <a:gd name="adj1" fmla="val 4079"/>
              <a:gd name="adj2" fmla="val -9931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b="1" dirty="0">
                <a:solidFill>
                  <a:schemeClr val="tx1"/>
                </a:solidFill>
                <a:latin typeface="Times New Roman" panose="02020603050405020304" pitchFamily="18" charset="0"/>
              </a:rPr>
              <a:t>信号地与电源地连接，为放大器的偏置电流构成回路。</a:t>
            </a:r>
            <a:endParaRPr lang="zh-CN" altLang="en-US" sz="2000" b="1" dirty="0">
              <a:solidFill>
                <a:schemeClr val="tx1"/>
              </a:solidFill>
              <a:latin typeface="Times New Roman" panose="02020603050405020304" pitchFamily="18" charset="0"/>
            </a:endParaRPr>
          </a:p>
        </p:txBody>
      </p:sp>
      <p:sp>
        <p:nvSpPr>
          <p:cNvPr id="2415878" name="AutoShape 262"/>
          <p:cNvSpPr/>
          <p:nvPr/>
        </p:nvSpPr>
        <p:spPr>
          <a:xfrm>
            <a:off x="6840538" y="5492750"/>
            <a:ext cx="2159000" cy="923925"/>
          </a:xfrm>
          <a:prstGeom prst="wedgeRoundRectCallout">
            <a:avLst>
              <a:gd name="adj1" fmla="val 12866"/>
              <a:gd name="adj2" fmla="val -85051"/>
              <a:gd name="adj3" fmla="val 16667"/>
            </a:avLst>
          </a:prstGeom>
          <a:solidFill>
            <a:schemeClr val="accent1"/>
          </a:solidFill>
          <a:ln w="9525" cap="flat" cmpd="sng">
            <a:solidFill>
              <a:schemeClr val="tx1"/>
            </a:solidFill>
            <a:prstDash val="solid"/>
            <a:miter/>
            <a:headEnd type="none" w="med" len="med"/>
            <a:tailEnd type="none" w="med" len="med"/>
          </a:ln>
        </p:spPr>
        <p:txBody>
          <a:bodyPr/>
          <a:p>
            <a:pPr eaLnBrk="1" hangingPunct="1">
              <a:lnSpc>
                <a:spcPct val="90000"/>
              </a:lnSpc>
            </a:pPr>
            <a:r>
              <a:rPr lang="zh-CN" altLang="en-US" sz="2000" b="1" dirty="0">
                <a:solidFill>
                  <a:schemeClr val="tx1"/>
                </a:solidFill>
                <a:latin typeface="Times New Roman" panose="02020603050405020304" pitchFamily="18" charset="0"/>
              </a:rPr>
              <a:t>参考端</a:t>
            </a:r>
            <a:r>
              <a:rPr lang="en-US" altLang="zh-CN" sz="2000" b="1" dirty="0">
                <a:solidFill>
                  <a:schemeClr val="tx1"/>
                </a:solidFill>
                <a:latin typeface="Times New Roman" panose="02020603050405020304" pitchFamily="18" charset="0"/>
              </a:rPr>
              <a:t>11</a:t>
            </a:r>
            <a:r>
              <a:rPr lang="zh-CN" altLang="en-US" sz="2000" b="1" dirty="0">
                <a:solidFill>
                  <a:schemeClr val="tx1"/>
                </a:solidFill>
                <a:latin typeface="Times New Roman" panose="02020603050405020304" pitchFamily="18" charset="0"/>
              </a:rPr>
              <a:t>接地，使负载电流流回电源地。</a:t>
            </a:r>
            <a:endParaRPr lang="zh-CN" altLang="en-US" sz="2000" b="1"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5621"/>
                                        </p:tgtEl>
                                        <p:attrNameLst>
                                          <p:attrName>style.visibility</p:attrName>
                                        </p:attrNameLst>
                                      </p:cBhvr>
                                      <p:to>
                                        <p:strVal val="visible"/>
                                      </p:to>
                                    </p:set>
                                    <p:animEffect transition="in" filter="dissolve">
                                      <p:cBhvr>
                                        <p:cTn id="7" dur="500"/>
                                        <p:tgtEl>
                                          <p:spTgt spid="24156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15877"/>
                                        </p:tgtEl>
                                        <p:attrNameLst>
                                          <p:attrName>style.visibility</p:attrName>
                                        </p:attrNameLst>
                                      </p:cBhvr>
                                      <p:to>
                                        <p:strVal val="visible"/>
                                      </p:to>
                                    </p:set>
                                    <p:animEffect transition="in" filter="dissolve">
                                      <p:cBhvr>
                                        <p:cTn id="17" dur="500"/>
                                        <p:tgtEl>
                                          <p:spTgt spid="24158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415878"/>
                                        </p:tgtEl>
                                        <p:attrNameLst>
                                          <p:attrName>style.visibility</p:attrName>
                                        </p:attrNameLst>
                                      </p:cBhvr>
                                      <p:to>
                                        <p:strVal val="visible"/>
                                      </p:to>
                                    </p:set>
                                    <p:animEffect transition="in" filter="dissolve">
                                      <p:cBhvr>
                                        <p:cTn id="22" dur="500"/>
                                        <p:tgtEl>
                                          <p:spTgt spid="24158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5621" grpId="0" bldLvl="0" animBg="1"/>
      <p:bldP spid="2415877" grpId="0" bldLvl="0" animBg="1"/>
      <p:bldP spid="2415878" grpId="0" bldLvl="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6642" name="Text Box 2"/>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4.5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测量放大器的使用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3011" name="Text Box 3"/>
          <p:cNvSpPr txBox="1"/>
          <p:nvPr/>
        </p:nvSpPr>
        <p:spPr>
          <a:xfrm>
            <a:off x="287338" y="765175"/>
            <a:ext cx="5900737" cy="585788"/>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4.5.2 AD522</a:t>
            </a:r>
            <a:r>
              <a:rPr lang="zh-CN" altLang="en-US" sz="3600" b="1" dirty="0">
                <a:solidFill>
                  <a:srgbClr val="333399"/>
                </a:solidFill>
                <a:latin typeface="Times New Roman" panose="02020603050405020304" pitchFamily="18" charset="0"/>
              </a:rPr>
              <a:t>芯片的使用示例 </a:t>
            </a:r>
            <a:endParaRPr lang="zh-CN" altLang="en-US" sz="3600" b="1" dirty="0">
              <a:solidFill>
                <a:srgbClr val="333399"/>
              </a:solidFill>
              <a:latin typeface="Times New Roman" panose="02020603050405020304" pitchFamily="18" charset="0"/>
            </a:endParaRPr>
          </a:p>
        </p:txBody>
      </p:sp>
      <p:grpSp>
        <p:nvGrpSpPr>
          <p:cNvPr id="43012" name="Group 4"/>
          <p:cNvGrpSpPr/>
          <p:nvPr/>
        </p:nvGrpSpPr>
        <p:grpSpPr>
          <a:xfrm>
            <a:off x="647700" y="1438275"/>
            <a:ext cx="8048625" cy="4727575"/>
            <a:chOff x="119" y="866"/>
            <a:chExt cx="5070" cy="2978"/>
          </a:xfrm>
        </p:grpSpPr>
        <p:sp>
          <p:nvSpPr>
            <p:cNvPr id="43014" name="Rectangle 5"/>
            <p:cNvSpPr/>
            <p:nvPr/>
          </p:nvSpPr>
          <p:spPr>
            <a:xfrm>
              <a:off x="119" y="866"/>
              <a:ext cx="5070" cy="2978"/>
            </a:xfrm>
            <a:prstGeom prst="rect">
              <a:avLst/>
            </a:prstGeom>
            <a:solidFill>
              <a:srgbClr val="FFFF99"/>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15" name="AutoShape 6"/>
            <p:cNvSpPr/>
            <p:nvPr/>
          </p:nvSpPr>
          <p:spPr>
            <a:xfrm rot="5400000">
              <a:off x="2793" y="1586"/>
              <a:ext cx="1603" cy="1544"/>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16" name="Text Box 7"/>
            <p:cNvSpPr txBox="1"/>
            <p:nvPr/>
          </p:nvSpPr>
          <p:spPr>
            <a:xfrm>
              <a:off x="2811" y="171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a:t>
              </a:r>
              <a:endParaRPr lang="en-US" altLang="zh-CN" sz="1600" b="1" dirty="0">
                <a:solidFill>
                  <a:srgbClr val="333399"/>
                </a:solidFill>
                <a:latin typeface="Times New Roman" panose="02020603050405020304" pitchFamily="18" charset="0"/>
              </a:endParaRPr>
            </a:p>
          </p:txBody>
        </p:sp>
        <p:sp>
          <p:nvSpPr>
            <p:cNvPr id="43017" name="Text Box 8"/>
            <p:cNvSpPr txBox="1"/>
            <p:nvPr/>
          </p:nvSpPr>
          <p:spPr>
            <a:xfrm>
              <a:off x="2815" y="250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2</a:t>
              </a:r>
              <a:endParaRPr lang="en-US" altLang="zh-CN" sz="1600" b="1" dirty="0">
                <a:solidFill>
                  <a:srgbClr val="333399"/>
                </a:solidFill>
                <a:latin typeface="Times New Roman" panose="02020603050405020304" pitchFamily="18" charset="0"/>
              </a:endParaRPr>
            </a:p>
          </p:txBody>
        </p:sp>
        <p:sp>
          <p:nvSpPr>
            <p:cNvPr id="43018" name="Text Box 9"/>
            <p:cNvSpPr txBox="1"/>
            <p:nvPr/>
          </p:nvSpPr>
          <p:spPr>
            <a:xfrm>
              <a:off x="2807" y="2818"/>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3</a:t>
              </a:r>
              <a:endParaRPr lang="en-US" altLang="zh-CN" sz="1600" b="1" dirty="0">
                <a:solidFill>
                  <a:srgbClr val="333399"/>
                </a:solidFill>
                <a:latin typeface="Times New Roman" panose="02020603050405020304" pitchFamily="18" charset="0"/>
              </a:endParaRPr>
            </a:p>
          </p:txBody>
        </p:sp>
        <p:sp>
          <p:nvSpPr>
            <p:cNvPr id="43019" name="Text Box 10"/>
            <p:cNvSpPr txBox="1"/>
            <p:nvPr/>
          </p:nvSpPr>
          <p:spPr>
            <a:xfrm>
              <a:off x="3274" y="2692"/>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4</a:t>
              </a:r>
              <a:endParaRPr lang="en-US" altLang="zh-CN" sz="1600" b="1" dirty="0">
                <a:solidFill>
                  <a:srgbClr val="333399"/>
                </a:solidFill>
                <a:latin typeface="Times New Roman" panose="02020603050405020304" pitchFamily="18" charset="0"/>
              </a:endParaRPr>
            </a:p>
          </p:txBody>
        </p:sp>
        <p:sp>
          <p:nvSpPr>
            <p:cNvPr id="43020" name="Text Box 11"/>
            <p:cNvSpPr txBox="1"/>
            <p:nvPr/>
          </p:nvSpPr>
          <p:spPr>
            <a:xfrm>
              <a:off x="3028" y="280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13</a:t>
              </a:r>
              <a:endParaRPr lang="en-US" altLang="zh-CN" sz="1600" b="1" dirty="0">
                <a:solidFill>
                  <a:srgbClr val="333399"/>
                </a:solidFill>
                <a:latin typeface="Times New Roman" panose="02020603050405020304" pitchFamily="18" charset="0"/>
              </a:endParaRPr>
            </a:p>
          </p:txBody>
        </p:sp>
        <p:sp>
          <p:nvSpPr>
            <p:cNvPr id="43021" name="Text Box 12"/>
            <p:cNvSpPr txBox="1"/>
            <p:nvPr/>
          </p:nvSpPr>
          <p:spPr>
            <a:xfrm>
              <a:off x="3683" y="2484"/>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6</a:t>
              </a:r>
              <a:endParaRPr lang="en-US" altLang="zh-CN" sz="1600" b="1" dirty="0">
                <a:solidFill>
                  <a:srgbClr val="333399"/>
                </a:solidFill>
                <a:latin typeface="Times New Roman" panose="02020603050405020304" pitchFamily="18" charset="0"/>
              </a:endParaRPr>
            </a:p>
          </p:txBody>
        </p:sp>
        <p:sp>
          <p:nvSpPr>
            <p:cNvPr id="43022" name="Text Box 13"/>
            <p:cNvSpPr txBox="1"/>
            <p:nvPr/>
          </p:nvSpPr>
          <p:spPr>
            <a:xfrm>
              <a:off x="4109" y="226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7</a:t>
              </a:r>
              <a:endParaRPr lang="en-US" altLang="zh-CN" sz="1600" b="1" dirty="0">
                <a:solidFill>
                  <a:srgbClr val="333399"/>
                </a:solidFill>
                <a:latin typeface="Times New Roman" panose="02020603050405020304" pitchFamily="18" charset="0"/>
              </a:endParaRPr>
            </a:p>
          </p:txBody>
        </p:sp>
        <p:sp>
          <p:nvSpPr>
            <p:cNvPr id="43023" name="Text Box 14"/>
            <p:cNvSpPr txBox="1"/>
            <p:nvPr/>
          </p:nvSpPr>
          <p:spPr>
            <a:xfrm>
              <a:off x="3049" y="1759"/>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5</a:t>
              </a:r>
              <a:endParaRPr lang="en-US" altLang="zh-CN" sz="1600" b="1" dirty="0">
                <a:solidFill>
                  <a:srgbClr val="333399"/>
                </a:solidFill>
                <a:latin typeface="Times New Roman" panose="02020603050405020304" pitchFamily="18" charset="0"/>
              </a:endParaRPr>
            </a:p>
          </p:txBody>
        </p:sp>
        <p:sp>
          <p:nvSpPr>
            <p:cNvPr id="43024" name="Text Box 15"/>
            <p:cNvSpPr txBox="1"/>
            <p:nvPr/>
          </p:nvSpPr>
          <p:spPr>
            <a:xfrm>
              <a:off x="3374" y="1927"/>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9</a:t>
              </a:r>
              <a:endParaRPr lang="en-US" altLang="zh-CN" sz="1600" b="1" dirty="0">
                <a:solidFill>
                  <a:srgbClr val="333399"/>
                </a:solidFill>
                <a:latin typeface="Times New Roman" panose="02020603050405020304" pitchFamily="18" charset="0"/>
              </a:endParaRPr>
            </a:p>
          </p:txBody>
        </p:sp>
        <p:sp>
          <p:nvSpPr>
            <p:cNvPr id="43025" name="Text Box 16"/>
            <p:cNvSpPr txBox="1"/>
            <p:nvPr/>
          </p:nvSpPr>
          <p:spPr>
            <a:xfrm>
              <a:off x="3906" y="2355"/>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11</a:t>
              </a:r>
              <a:endParaRPr lang="en-US" altLang="zh-CN" sz="1600" b="1" dirty="0">
                <a:solidFill>
                  <a:srgbClr val="333399"/>
                </a:solidFill>
                <a:latin typeface="Times New Roman" panose="02020603050405020304" pitchFamily="18" charset="0"/>
              </a:endParaRPr>
            </a:p>
          </p:txBody>
        </p:sp>
        <p:sp>
          <p:nvSpPr>
            <p:cNvPr id="43026" name="Text Box 17"/>
            <p:cNvSpPr txBox="1"/>
            <p:nvPr/>
          </p:nvSpPr>
          <p:spPr>
            <a:xfrm>
              <a:off x="3901" y="2167"/>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12</a:t>
              </a:r>
              <a:endParaRPr lang="en-US" altLang="zh-CN" sz="1600" b="1" dirty="0">
                <a:solidFill>
                  <a:srgbClr val="333399"/>
                </a:solidFill>
                <a:latin typeface="Times New Roman" panose="02020603050405020304" pitchFamily="18" charset="0"/>
              </a:endParaRPr>
            </a:p>
          </p:txBody>
        </p:sp>
        <p:sp>
          <p:nvSpPr>
            <p:cNvPr id="43027" name="Text Box 18"/>
            <p:cNvSpPr txBox="1"/>
            <p:nvPr/>
          </p:nvSpPr>
          <p:spPr>
            <a:xfrm>
              <a:off x="3686" y="2050"/>
              <a:ext cx="180"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8</a:t>
              </a:r>
              <a:endParaRPr lang="en-US" altLang="zh-CN" sz="1600" b="1" dirty="0">
                <a:solidFill>
                  <a:srgbClr val="333399"/>
                </a:solidFill>
                <a:latin typeface="Times New Roman" panose="02020603050405020304" pitchFamily="18" charset="0"/>
              </a:endParaRPr>
            </a:p>
          </p:txBody>
        </p:sp>
        <p:sp>
          <p:nvSpPr>
            <p:cNvPr id="43028" name="Text Box 19"/>
            <p:cNvSpPr txBox="1"/>
            <p:nvPr/>
          </p:nvSpPr>
          <p:spPr>
            <a:xfrm>
              <a:off x="2807" y="2016"/>
              <a:ext cx="244" cy="197"/>
            </a:xfrm>
            <a:prstGeom prst="rect">
              <a:avLst/>
            </a:prstGeom>
            <a:noFill/>
            <a:ln w="9525">
              <a:noFill/>
            </a:ln>
          </p:spPr>
          <p:txBody>
            <a:bodyPr wrap="none">
              <a:spAutoFit/>
            </a:bodyPr>
            <a:p>
              <a:pPr eaLnBrk="1" hangingPunct="1">
                <a:lnSpc>
                  <a:spcPct val="90000"/>
                </a:lnSpc>
              </a:pPr>
              <a:r>
                <a:rPr lang="en-US" altLang="zh-CN" sz="1600" b="1" dirty="0">
                  <a:solidFill>
                    <a:srgbClr val="333399"/>
                  </a:solidFill>
                  <a:latin typeface="Times New Roman" panose="02020603050405020304" pitchFamily="18" charset="0"/>
                </a:rPr>
                <a:t>14</a:t>
              </a:r>
              <a:endParaRPr lang="en-US" altLang="zh-CN" sz="1600" b="1" dirty="0">
                <a:solidFill>
                  <a:srgbClr val="333399"/>
                </a:solidFill>
                <a:latin typeface="Times New Roman" panose="02020603050405020304" pitchFamily="18" charset="0"/>
              </a:endParaRPr>
            </a:p>
          </p:txBody>
        </p:sp>
        <p:sp>
          <p:nvSpPr>
            <p:cNvPr id="43029" name="Text Box 20"/>
            <p:cNvSpPr txBox="1"/>
            <p:nvPr/>
          </p:nvSpPr>
          <p:spPr>
            <a:xfrm>
              <a:off x="2431" y="1602"/>
              <a:ext cx="358"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43030" name="Line 21"/>
            <p:cNvSpPr/>
            <p:nvPr/>
          </p:nvSpPr>
          <p:spPr>
            <a:xfrm>
              <a:off x="1949" y="1811"/>
              <a:ext cx="871" cy="0"/>
            </a:xfrm>
            <a:prstGeom prst="line">
              <a:avLst/>
            </a:prstGeom>
            <a:ln w="12700" cap="flat" cmpd="sng">
              <a:solidFill>
                <a:schemeClr val="accent2"/>
              </a:solidFill>
              <a:prstDash val="solid"/>
              <a:headEnd type="none" w="med" len="med"/>
              <a:tailEnd type="none" w="med" len="med"/>
            </a:ln>
          </p:spPr>
        </p:sp>
        <p:sp>
          <p:nvSpPr>
            <p:cNvPr id="43031" name="Text Box 22"/>
            <p:cNvSpPr txBox="1"/>
            <p:nvPr/>
          </p:nvSpPr>
          <p:spPr>
            <a:xfrm>
              <a:off x="2465" y="2917"/>
              <a:ext cx="324" cy="214"/>
            </a:xfrm>
            <a:prstGeom prst="rect">
              <a:avLst/>
            </a:prstGeom>
            <a:noFill/>
            <a:ln w="9525">
              <a:noFill/>
            </a:ln>
          </p:spPr>
          <p:txBody>
            <a:bodyPr wrap="none">
              <a:spAutoFit/>
            </a:bodyPr>
            <a:p>
              <a:pPr eaLnBrk="1" hangingPunct="1">
                <a:lnSpc>
                  <a:spcPct val="90000"/>
                </a:lnSpc>
              </a:pPr>
              <a:r>
                <a:rPr lang="en-US" altLang="zh-CN" sz="1800" b="1" dirty="0">
                  <a:solidFill>
                    <a:srgbClr val="FF0000"/>
                  </a:solidFill>
                  <a:latin typeface="Times New Roman" panose="02020603050405020304" pitchFamily="18" charset="0"/>
                </a:rPr>
                <a:t>-IN</a:t>
              </a:r>
              <a:endParaRPr lang="en-US" altLang="zh-CN" sz="1800" b="1" dirty="0">
                <a:solidFill>
                  <a:srgbClr val="FF0000"/>
                </a:solidFill>
                <a:latin typeface="Times New Roman" panose="02020603050405020304" pitchFamily="18" charset="0"/>
              </a:endParaRPr>
            </a:p>
          </p:txBody>
        </p:sp>
        <p:sp>
          <p:nvSpPr>
            <p:cNvPr id="43032" name="Line 23"/>
            <p:cNvSpPr/>
            <p:nvPr/>
          </p:nvSpPr>
          <p:spPr>
            <a:xfrm>
              <a:off x="1949" y="2904"/>
              <a:ext cx="871" cy="0"/>
            </a:xfrm>
            <a:prstGeom prst="line">
              <a:avLst/>
            </a:prstGeom>
            <a:ln w="12700" cap="flat" cmpd="sng">
              <a:solidFill>
                <a:schemeClr val="accent2"/>
              </a:solidFill>
              <a:prstDash val="solid"/>
              <a:headEnd type="none" w="med" len="med"/>
              <a:tailEnd type="none" w="med" len="med"/>
            </a:ln>
          </p:spPr>
        </p:sp>
        <p:sp>
          <p:nvSpPr>
            <p:cNvPr id="43033" name="Line 24"/>
            <p:cNvSpPr/>
            <p:nvPr/>
          </p:nvSpPr>
          <p:spPr>
            <a:xfrm>
              <a:off x="2247" y="2111"/>
              <a:ext cx="573" cy="0"/>
            </a:xfrm>
            <a:prstGeom prst="line">
              <a:avLst/>
            </a:prstGeom>
            <a:ln w="12700" cap="flat" cmpd="sng">
              <a:solidFill>
                <a:schemeClr val="accent2"/>
              </a:solidFill>
              <a:prstDash val="solid"/>
              <a:headEnd type="none" w="med" len="med"/>
              <a:tailEnd type="none" w="med" len="med"/>
            </a:ln>
          </p:spPr>
        </p:sp>
        <p:sp>
          <p:nvSpPr>
            <p:cNvPr id="43034" name="Line 25"/>
            <p:cNvSpPr/>
            <p:nvPr/>
          </p:nvSpPr>
          <p:spPr>
            <a:xfrm>
              <a:off x="2249" y="2111"/>
              <a:ext cx="0" cy="159"/>
            </a:xfrm>
            <a:prstGeom prst="line">
              <a:avLst/>
            </a:prstGeom>
            <a:ln w="12700" cap="flat" cmpd="sng">
              <a:solidFill>
                <a:schemeClr val="accent2"/>
              </a:solidFill>
              <a:prstDash val="solid"/>
              <a:headEnd type="none" w="med" len="med"/>
              <a:tailEnd type="none" w="med" len="med"/>
            </a:ln>
          </p:spPr>
        </p:sp>
        <p:sp>
          <p:nvSpPr>
            <p:cNvPr id="43035" name="Rectangle 26"/>
            <p:cNvSpPr/>
            <p:nvPr/>
          </p:nvSpPr>
          <p:spPr>
            <a:xfrm>
              <a:off x="2216" y="2270"/>
              <a:ext cx="64" cy="16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36" name="Text Box 27"/>
            <p:cNvSpPr txBox="1"/>
            <p:nvPr/>
          </p:nvSpPr>
          <p:spPr>
            <a:xfrm>
              <a:off x="1949" y="2242"/>
              <a:ext cx="287"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R</a:t>
              </a:r>
              <a:r>
                <a:rPr lang="en-US" altLang="zh-CN" sz="1800" b="1" baseline="-25000" dirty="0">
                  <a:solidFill>
                    <a:srgbClr val="FF0000"/>
                  </a:solidFill>
                  <a:latin typeface="Times New Roman" panose="02020603050405020304" pitchFamily="18" charset="0"/>
                </a:rPr>
                <a:t>G</a:t>
              </a:r>
              <a:endParaRPr lang="en-US" altLang="zh-CN" sz="1800" b="1" baseline="-25000" dirty="0">
                <a:solidFill>
                  <a:srgbClr val="FF0000"/>
                </a:solidFill>
                <a:latin typeface="Times New Roman" panose="02020603050405020304" pitchFamily="18" charset="0"/>
              </a:endParaRPr>
            </a:p>
          </p:txBody>
        </p:sp>
        <p:sp>
          <p:nvSpPr>
            <p:cNvPr id="43037" name="Line 28"/>
            <p:cNvSpPr/>
            <p:nvPr/>
          </p:nvSpPr>
          <p:spPr>
            <a:xfrm>
              <a:off x="2249" y="2437"/>
              <a:ext cx="0" cy="167"/>
            </a:xfrm>
            <a:prstGeom prst="line">
              <a:avLst/>
            </a:prstGeom>
            <a:ln w="12700" cap="flat" cmpd="sng">
              <a:solidFill>
                <a:schemeClr val="accent2"/>
              </a:solidFill>
              <a:prstDash val="solid"/>
              <a:headEnd type="none" w="med" len="med"/>
              <a:tailEnd type="none" w="med" len="med"/>
            </a:ln>
          </p:spPr>
        </p:sp>
        <p:sp>
          <p:nvSpPr>
            <p:cNvPr id="43038" name="Line 29"/>
            <p:cNvSpPr/>
            <p:nvPr/>
          </p:nvSpPr>
          <p:spPr>
            <a:xfrm>
              <a:off x="2247" y="2604"/>
              <a:ext cx="573" cy="0"/>
            </a:xfrm>
            <a:prstGeom prst="line">
              <a:avLst/>
            </a:prstGeom>
            <a:ln w="12700" cap="flat" cmpd="sng">
              <a:solidFill>
                <a:schemeClr val="accent2"/>
              </a:solidFill>
              <a:prstDash val="solid"/>
              <a:headEnd type="none" w="med" len="med"/>
              <a:tailEnd type="none" w="med" len="med"/>
            </a:ln>
          </p:spPr>
        </p:sp>
        <p:sp>
          <p:nvSpPr>
            <p:cNvPr id="43039" name="Line 30"/>
            <p:cNvSpPr/>
            <p:nvPr/>
          </p:nvSpPr>
          <p:spPr>
            <a:xfrm>
              <a:off x="3371" y="2879"/>
              <a:ext cx="0" cy="217"/>
            </a:xfrm>
            <a:prstGeom prst="line">
              <a:avLst/>
            </a:prstGeom>
            <a:ln w="12700" cap="flat" cmpd="sng">
              <a:solidFill>
                <a:schemeClr val="accent2"/>
              </a:solidFill>
              <a:prstDash val="solid"/>
              <a:headEnd type="none" w="med" len="med"/>
              <a:tailEnd type="none" w="med" len="med"/>
            </a:ln>
          </p:spPr>
        </p:sp>
        <p:sp>
          <p:nvSpPr>
            <p:cNvPr id="43040" name="Line 31"/>
            <p:cNvSpPr/>
            <p:nvPr/>
          </p:nvSpPr>
          <p:spPr>
            <a:xfrm>
              <a:off x="3371" y="3096"/>
              <a:ext cx="116" cy="0"/>
            </a:xfrm>
            <a:prstGeom prst="line">
              <a:avLst/>
            </a:prstGeom>
            <a:ln w="12700" cap="flat" cmpd="sng">
              <a:solidFill>
                <a:schemeClr val="accent2"/>
              </a:solidFill>
              <a:prstDash val="solid"/>
              <a:headEnd type="none" w="med" len="med"/>
              <a:tailEnd type="none" w="med" len="med"/>
            </a:ln>
          </p:spPr>
        </p:sp>
        <p:sp>
          <p:nvSpPr>
            <p:cNvPr id="43041" name="Rectangle 32"/>
            <p:cNvSpPr/>
            <p:nvPr/>
          </p:nvSpPr>
          <p:spPr>
            <a:xfrm>
              <a:off x="3487" y="3063"/>
              <a:ext cx="159" cy="66"/>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42" name="Text Box 33"/>
            <p:cNvSpPr txBox="1"/>
            <p:nvPr/>
          </p:nvSpPr>
          <p:spPr>
            <a:xfrm>
              <a:off x="3363" y="2904"/>
              <a:ext cx="427" cy="179"/>
            </a:xfrm>
            <a:prstGeom prst="rect">
              <a:avLst/>
            </a:prstGeom>
            <a:noFill/>
            <a:ln w="9525">
              <a:noFill/>
            </a:ln>
          </p:spPr>
          <p:txBody>
            <a:bodyPr wrap="none">
              <a:spAutoFit/>
            </a:bodyPr>
            <a:p>
              <a:pPr eaLnBrk="1" hangingPunct="1">
                <a:lnSpc>
                  <a:spcPct val="90000"/>
                </a:lnSpc>
                <a:buNone/>
              </a:pPr>
              <a:r>
                <a:rPr lang="en-US" altLang="zh-CN" sz="1400" b="1" dirty="0">
                  <a:solidFill>
                    <a:srgbClr val="CC00CC"/>
                  </a:solidFill>
                  <a:latin typeface="Times New Roman" panose="02020603050405020304" pitchFamily="18" charset="0"/>
                </a:rPr>
                <a:t>10K</a:t>
              </a:r>
              <a:r>
                <a:rPr lang="en-US" altLang="zh-CN" sz="1400" b="1" dirty="0">
                  <a:solidFill>
                    <a:srgbClr val="CC00CC"/>
                  </a:solidFill>
                  <a:latin typeface="Times New Roman" panose="02020603050405020304" pitchFamily="18" charset="0"/>
                  <a:ea typeface="宋体" panose="02010600030101010101" pitchFamily="2" charset="-122"/>
                </a:rPr>
                <a:t>Ω</a:t>
              </a:r>
              <a:endParaRPr lang="en-US" altLang="zh-CN" sz="1400" b="1" dirty="0">
                <a:solidFill>
                  <a:srgbClr val="CC00CC"/>
                </a:solidFill>
                <a:latin typeface="Times New Roman" panose="02020603050405020304" pitchFamily="18" charset="0"/>
                <a:ea typeface="宋体" panose="02010600030101010101" pitchFamily="2" charset="-122"/>
              </a:endParaRPr>
            </a:p>
          </p:txBody>
        </p:sp>
        <p:sp>
          <p:nvSpPr>
            <p:cNvPr id="43043" name="Line 34"/>
            <p:cNvSpPr/>
            <p:nvPr/>
          </p:nvSpPr>
          <p:spPr>
            <a:xfrm>
              <a:off x="3655" y="3096"/>
              <a:ext cx="125" cy="0"/>
            </a:xfrm>
            <a:prstGeom prst="line">
              <a:avLst/>
            </a:prstGeom>
            <a:ln w="12700" cap="flat" cmpd="sng">
              <a:solidFill>
                <a:schemeClr val="accent2"/>
              </a:solidFill>
              <a:prstDash val="solid"/>
              <a:headEnd type="none" w="med" len="med"/>
              <a:tailEnd type="none" w="med" len="med"/>
            </a:ln>
          </p:spPr>
        </p:sp>
        <p:sp>
          <p:nvSpPr>
            <p:cNvPr id="43044" name="Line 35"/>
            <p:cNvSpPr/>
            <p:nvPr/>
          </p:nvSpPr>
          <p:spPr>
            <a:xfrm flipV="1">
              <a:off x="3780" y="2662"/>
              <a:ext cx="0" cy="434"/>
            </a:xfrm>
            <a:prstGeom prst="line">
              <a:avLst/>
            </a:prstGeom>
            <a:ln w="12700" cap="flat" cmpd="sng">
              <a:solidFill>
                <a:schemeClr val="accent2"/>
              </a:solidFill>
              <a:prstDash val="solid"/>
              <a:headEnd type="none" w="med" len="med"/>
              <a:tailEnd type="none" w="med" len="med"/>
            </a:ln>
          </p:spPr>
        </p:sp>
        <p:sp>
          <p:nvSpPr>
            <p:cNvPr id="43045" name="Line 36"/>
            <p:cNvSpPr/>
            <p:nvPr/>
          </p:nvSpPr>
          <p:spPr>
            <a:xfrm>
              <a:off x="3154" y="2988"/>
              <a:ext cx="0" cy="348"/>
            </a:xfrm>
            <a:prstGeom prst="line">
              <a:avLst/>
            </a:prstGeom>
            <a:ln w="12700" cap="flat" cmpd="sng">
              <a:solidFill>
                <a:schemeClr val="accent2"/>
              </a:solidFill>
              <a:prstDash val="solid"/>
              <a:headEnd type="none" w="med" len="med"/>
              <a:tailEnd type="none" w="med" len="med"/>
            </a:ln>
          </p:spPr>
        </p:sp>
        <p:sp>
          <p:nvSpPr>
            <p:cNvPr id="43046" name="Oval 37"/>
            <p:cNvSpPr/>
            <p:nvPr/>
          </p:nvSpPr>
          <p:spPr>
            <a:xfrm>
              <a:off x="3750" y="180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47" name="Line 38"/>
            <p:cNvSpPr/>
            <p:nvPr/>
          </p:nvSpPr>
          <p:spPr>
            <a:xfrm>
              <a:off x="3571" y="3336"/>
              <a:ext cx="932" cy="0"/>
            </a:xfrm>
            <a:prstGeom prst="line">
              <a:avLst/>
            </a:prstGeom>
            <a:ln w="12700" cap="flat" cmpd="sng">
              <a:solidFill>
                <a:schemeClr val="accent2"/>
              </a:solidFill>
              <a:prstDash val="solid"/>
              <a:headEnd type="none" w="med" len="med"/>
              <a:tailEnd type="none" w="med" len="med"/>
            </a:ln>
          </p:spPr>
        </p:sp>
        <p:sp>
          <p:nvSpPr>
            <p:cNvPr id="43048" name="Line 39"/>
            <p:cNvSpPr/>
            <p:nvPr/>
          </p:nvSpPr>
          <p:spPr>
            <a:xfrm flipV="1">
              <a:off x="3571" y="3129"/>
              <a:ext cx="0" cy="210"/>
            </a:xfrm>
            <a:prstGeom prst="line">
              <a:avLst/>
            </a:prstGeom>
            <a:ln w="12700" cap="flat" cmpd="sng">
              <a:solidFill>
                <a:schemeClr val="accent2"/>
              </a:solidFill>
              <a:prstDash val="solid"/>
              <a:headEnd type="none" w="med" len="med"/>
              <a:tailEnd type="triangle" w="sm" len="lg"/>
            </a:ln>
          </p:spPr>
        </p:sp>
        <p:sp>
          <p:nvSpPr>
            <p:cNvPr id="43049" name="Line 40"/>
            <p:cNvSpPr/>
            <p:nvPr/>
          </p:nvSpPr>
          <p:spPr>
            <a:xfrm>
              <a:off x="4038" y="2529"/>
              <a:ext cx="0" cy="486"/>
            </a:xfrm>
            <a:prstGeom prst="line">
              <a:avLst/>
            </a:prstGeom>
            <a:ln w="12700" cap="flat" cmpd="sng">
              <a:solidFill>
                <a:schemeClr val="accent2"/>
              </a:solidFill>
              <a:prstDash val="solid"/>
              <a:headEnd type="none" w="med" len="med"/>
              <a:tailEnd type="none" w="med" len="med"/>
            </a:ln>
          </p:spPr>
        </p:sp>
        <p:sp>
          <p:nvSpPr>
            <p:cNvPr id="43050" name="Line 41"/>
            <p:cNvSpPr/>
            <p:nvPr/>
          </p:nvSpPr>
          <p:spPr>
            <a:xfrm>
              <a:off x="4356" y="2362"/>
              <a:ext cx="471" cy="0"/>
            </a:xfrm>
            <a:prstGeom prst="line">
              <a:avLst/>
            </a:prstGeom>
            <a:ln w="12700" cap="flat" cmpd="sng">
              <a:solidFill>
                <a:schemeClr val="accent2"/>
              </a:solidFill>
              <a:prstDash val="solid"/>
              <a:headEnd type="none" w="med" len="med"/>
              <a:tailEnd type="none" w="med" len="med"/>
            </a:ln>
          </p:spPr>
        </p:sp>
        <p:sp>
          <p:nvSpPr>
            <p:cNvPr id="43051" name="Text Box 42"/>
            <p:cNvSpPr txBox="1"/>
            <p:nvPr/>
          </p:nvSpPr>
          <p:spPr>
            <a:xfrm>
              <a:off x="4808" y="2160"/>
              <a:ext cx="295"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r>
                <a:rPr lang="en-US" altLang="zh-CN" sz="1800" b="1" baseline="-25000" dirty="0">
                  <a:solidFill>
                    <a:srgbClr val="FF0000"/>
                  </a:solidFill>
                  <a:latin typeface="Times New Roman" panose="02020603050405020304" pitchFamily="18" charset="0"/>
                </a:rPr>
                <a:t>O</a:t>
              </a:r>
              <a:endParaRPr lang="en-US" altLang="zh-CN" sz="1800" b="1" baseline="-25000" dirty="0">
                <a:solidFill>
                  <a:srgbClr val="FF0000"/>
                </a:solidFill>
                <a:latin typeface="Times New Roman" panose="02020603050405020304" pitchFamily="18" charset="0"/>
              </a:endParaRPr>
            </a:p>
          </p:txBody>
        </p:sp>
        <p:sp>
          <p:nvSpPr>
            <p:cNvPr id="43052" name="Oval 43"/>
            <p:cNvSpPr/>
            <p:nvPr/>
          </p:nvSpPr>
          <p:spPr>
            <a:xfrm>
              <a:off x="4799" y="233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53" name="Line 44"/>
            <p:cNvSpPr/>
            <p:nvPr/>
          </p:nvSpPr>
          <p:spPr>
            <a:xfrm flipV="1">
              <a:off x="4827" y="2050"/>
              <a:ext cx="0" cy="965"/>
            </a:xfrm>
            <a:prstGeom prst="line">
              <a:avLst/>
            </a:prstGeom>
            <a:ln w="12700" cap="flat" cmpd="sng">
              <a:solidFill>
                <a:schemeClr val="accent2"/>
              </a:solidFill>
              <a:prstDash val="solid"/>
              <a:headEnd type="none" w="med" len="med"/>
              <a:tailEnd type="none" w="med" len="med"/>
            </a:ln>
          </p:spPr>
        </p:sp>
        <p:sp>
          <p:nvSpPr>
            <p:cNvPr id="43054" name="Line 45"/>
            <p:cNvSpPr/>
            <p:nvPr/>
          </p:nvSpPr>
          <p:spPr>
            <a:xfrm flipH="1">
              <a:off x="4038" y="2050"/>
              <a:ext cx="789" cy="1"/>
            </a:xfrm>
            <a:prstGeom prst="line">
              <a:avLst/>
            </a:prstGeom>
            <a:ln w="12700" cap="flat" cmpd="sng">
              <a:solidFill>
                <a:schemeClr val="accent2"/>
              </a:solidFill>
              <a:prstDash val="solid"/>
              <a:headEnd type="none" w="med" len="med"/>
              <a:tailEnd type="none" w="med" len="med"/>
            </a:ln>
          </p:spPr>
        </p:sp>
        <p:sp>
          <p:nvSpPr>
            <p:cNvPr id="43055" name="Line 46"/>
            <p:cNvSpPr/>
            <p:nvPr/>
          </p:nvSpPr>
          <p:spPr>
            <a:xfrm>
              <a:off x="4038" y="2051"/>
              <a:ext cx="0" cy="144"/>
            </a:xfrm>
            <a:prstGeom prst="line">
              <a:avLst/>
            </a:prstGeom>
            <a:ln w="12700" cap="flat" cmpd="sng">
              <a:solidFill>
                <a:schemeClr val="accent2"/>
              </a:solidFill>
              <a:prstDash val="solid"/>
              <a:headEnd type="none" w="med" len="med"/>
              <a:tailEnd type="none" w="med" len="med"/>
            </a:ln>
          </p:spPr>
        </p:sp>
        <p:sp>
          <p:nvSpPr>
            <p:cNvPr id="43056" name="Line 47"/>
            <p:cNvSpPr/>
            <p:nvPr/>
          </p:nvSpPr>
          <p:spPr>
            <a:xfrm flipV="1">
              <a:off x="3467" y="1064"/>
              <a:ext cx="0" cy="825"/>
            </a:xfrm>
            <a:prstGeom prst="line">
              <a:avLst/>
            </a:prstGeom>
            <a:ln w="12700" cap="flat" cmpd="sng">
              <a:solidFill>
                <a:schemeClr val="accent2"/>
              </a:solidFill>
              <a:prstDash val="solid"/>
              <a:headEnd type="none" w="med" len="med"/>
              <a:tailEnd type="none" w="med" len="med"/>
            </a:ln>
          </p:spPr>
        </p:sp>
        <p:sp>
          <p:nvSpPr>
            <p:cNvPr id="43057" name="Line 48"/>
            <p:cNvSpPr/>
            <p:nvPr/>
          </p:nvSpPr>
          <p:spPr>
            <a:xfrm>
              <a:off x="3780" y="1284"/>
              <a:ext cx="0" cy="777"/>
            </a:xfrm>
            <a:prstGeom prst="line">
              <a:avLst/>
            </a:prstGeom>
            <a:ln w="12700" cap="flat" cmpd="sng">
              <a:solidFill>
                <a:schemeClr val="accent2"/>
              </a:solidFill>
              <a:prstDash val="solid"/>
              <a:headEnd type="none" w="med" len="med"/>
              <a:tailEnd type="none" w="med" len="med"/>
            </a:ln>
          </p:spPr>
        </p:sp>
        <p:sp>
          <p:nvSpPr>
            <p:cNvPr id="43058" name="Line 49"/>
            <p:cNvSpPr/>
            <p:nvPr/>
          </p:nvSpPr>
          <p:spPr>
            <a:xfrm>
              <a:off x="3154" y="1284"/>
              <a:ext cx="0" cy="452"/>
            </a:xfrm>
            <a:prstGeom prst="line">
              <a:avLst/>
            </a:prstGeom>
            <a:ln w="12700" cap="flat" cmpd="sng">
              <a:solidFill>
                <a:schemeClr val="accent2"/>
              </a:solidFill>
              <a:prstDash val="solid"/>
              <a:headEnd type="none" w="med" len="med"/>
              <a:tailEnd type="none" w="med" len="med"/>
            </a:ln>
          </p:spPr>
        </p:sp>
        <p:sp>
          <p:nvSpPr>
            <p:cNvPr id="43059" name="Oval 50"/>
            <p:cNvSpPr/>
            <p:nvPr/>
          </p:nvSpPr>
          <p:spPr>
            <a:xfrm>
              <a:off x="3124" y="122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60" name="Text Box 51"/>
            <p:cNvSpPr txBox="1"/>
            <p:nvPr/>
          </p:nvSpPr>
          <p:spPr>
            <a:xfrm>
              <a:off x="2837" y="1117"/>
              <a:ext cx="268"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3061" name="Text Box 52"/>
            <p:cNvSpPr txBox="1"/>
            <p:nvPr/>
          </p:nvSpPr>
          <p:spPr>
            <a:xfrm>
              <a:off x="1497" y="3559"/>
              <a:ext cx="2419" cy="265"/>
            </a:xfrm>
            <a:prstGeom prst="rect">
              <a:avLst/>
            </a:prstGeom>
            <a:noFill/>
            <a:ln w="9525">
              <a:noFill/>
            </a:ln>
          </p:spPr>
          <p:txBody>
            <a:bodyPr wrap="none">
              <a:spAutoFit/>
            </a:bodyPr>
            <a:p>
              <a:pPr eaLnBrk="1" hangingPunct="1">
                <a:lnSpc>
                  <a:spcPct val="90000"/>
                </a:lnSpc>
              </a:pPr>
              <a:r>
                <a:rPr lang="en-US" altLang="zh-CN" sz="2400" b="1" dirty="0">
                  <a:solidFill>
                    <a:srgbClr val="000099"/>
                  </a:solidFill>
                  <a:latin typeface="Times New Roman" panose="02020603050405020304" pitchFamily="18" charset="0"/>
                </a:rPr>
                <a:t>AD522</a:t>
              </a:r>
              <a:r>
                <a:rPr lang="zh-CN" altLang="en-US" sz="2400" b="1" dirty="0">
                  <a:solidFill>
                    <a:srgbClr val="000099"/>
                  </a:solidFill>
                  <a:latin typeface="Times New Roman" panose="02020603050405020304" pitchFamily="18" charset="0"/>
                </a:rPr>
                <a:t>用于测量电桥的电路</a:t>
              </a:r>
              <a:endParaRPr lang="zh-CN" altLang="en-US" sz="2400" b="1" dirty="0">
                <a:solidFill>
                  <a:srgbClr val="000099"/>
                </a:solidFill>
                <a:latin typeface="Times New Roman" panose="02020603050405020304" pitchFamily="18" charset="0"/>
              </a:endParaRPr>
            </a:p>
          </p:txBody>
        </p:sp>
        <p:sp>
          <p:nvSpPr>
            <p:cNvPr id="43062" name="Line 53"/>
            <p:cNvSpPr/>
            <p:nvPr/>
          </p:nvSpPr>
          <p:spPr>
            <a:xfrm>
              <a:off x="1777" y="1063"/>
              <a:ext cx="0" cy="184"/>
            </a:xfrm>
            <a:prstGeom prst="line">
              <a:avLst/>
            </a:prstGeom>
            <a:ln w="12700" cap="flat" cmpd="sng">
              <a:solidFill>
                <a:schemeClr val="accent2"/>
              </a:solidFill>
              <a:prstDash val="solid"/>
              <a:headEnd type="none" w="med" len="med"/>
              <a:tailEnd type="none" w="med" len="med"/>
            </a:ln>
          </p:spPr>
        </p:sp>
        <p:sp>
          <p:nvSpPr>
            <p:cNvPr id="43063" name="AutoShape 54"/>
            <p:cNvSpPr/>
            <p:nvPr/>
          </p:nvSpPr>
          <p:spPr>
            <a:xfrm rot="10800000">
              <a:off x="1635" y="1246"/>
              <a:ext cx="284" cy="142"/>
            </a:xfrm>
            <a:prstGeom prst="triangle">
              <a:avLst>
                <a:gd name="adj" fmla="val 50000"/>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64" name="Oval 55"/>
            <p:cNvSpPr/>
            <p:nvPr/>
          </p:nvSpPr>
          <p:spPr>
            <a:xfrm>
              <a:off x="3750" y="122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65" name="Text Box 56"/>
            <p:cNvSpPr txBox="1"/>
            <p:nvPr/>
          </p:nvSpPr>
          <p:spPr>
            <a:xfrm>
              <a:off x="3792" y="1134"/>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3066" name="Line 57"/>
            <p:cNvSpPr/>
            <p:nvPr/>
          </p:nvSpPr>
          <p:spPr>
            <a:xfrm>
              <a:off x="4503" y="1837"/>
              <a:ext cx="0" cy="1501"/>
            </a:xfrm>
            <a:prstGeom prst="line">
              <a:avLst/>
            </a:prstGeom>
            <a:ln w="12700" cap="flat" cmpd="sng">
              <a:solidFill>
                <a:schemeClr val="accent2"/>
              </a:solidFill>
              <a:prstDash val="solid"/>
              <a:headEnd type="none" w="med" len="med"/>
              <a:tailEnd type="none" w="med" len="med"/>
            </a:ln>
          </p:spPr>
        </p:sp>
        <p:sp>
          <p:nvSpPr>
            <p:cNvPr id="43067" name="Line 58"/>
            <p:cNvSpPr/>
            <p:nvPr/>
          </p:nvSpPr>
          <p:spPr>
            <a:xfrm flipH="1">
              <a:off x="3780" y="1833"/>
              <a:ext cx="724" cy="0"/>
            </a:xfrm>
            <a:prstGeom prst="line">
              <a:avLst/>
            </a:prstGeom>
            <a:ln w="12700" cap="flat" cmpd="sng">
              <a:solidFill>
                <a:schemeClr val="accent2"/>
              </a:solidFill>
              <a:prstDash val="solid"/>
              <a:headEnd type="none" w="med" len="med"/>
              <a:tailEnd type="none" w="med" len="med"/>
            </a:ln>
          </p:spPr>
        </p:sp>
        <p:sp>
          <p:nvSpPr>
            <p:cNvPr id="43068" name="AutoShape 59"/>
            <p:cNvSpPr/>
            <p:nvPr/>
          </p:nvSpPr>
          <p:spPr>
            <a:xfrm>
              <a:off x="2334" y="2050"/>
              <a:ext cx="409" cy="612"/>
            </a:xfrm>
            <a:prstGeom prst="flowChartMagneticDrum">
              <a:avLst/>
            </a:prstGeom>
            <a:noFill/>
            <a:ln w="19050" cap="flat" cmpd="sng">
              <a:solidFill>
                <a:srgbClr val="000080"/>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69" name="Line 60"/>
            <p:cNvSpPr/>
            <p:nvPr/>
          </p:nvSpPr>
          <p:spPr>
            <a:xfrm>
              <a:off x="1949" y="1811"/>
              <a:ext cx="0" cy="303"/>
            </a:xfrm>
            <a:prstGeom prst="line">
              <a:avLst/>
            </a:prstGeom>
            <a:ln w="12700" cap="flat" cmpd="sng">
              <a:solidFill>
                <a:schemeClr val="accent2"/>
              </a:solidFill>
              <a:prstDash val="solid"/>
              <a:headEnd type="none" w="med" len="med"/>
              <a:tailEnd type="none" w="med" len="med"/>
            </a:ln>
          </p:spPr>
        </p:sp>
        <p:sp>
          <p:nvSpPr>
            <p:cNvPr id="43070" name="Line 61"/>
            <p:cNvSpPr/>
            <p:nvPr/>
          </p:nvSpPr>
          <p:spPr>
            <a:xfrm>
              <a:off x="1949" y="2604"/>
              <a:ext cx="0" cy="301"/>
            </a:xfrm>
            <a:prstGeom prst="line">
              <a:avLst/>
            </a:prstGeom>
            <a:ln w="12700" cap="flat" cmpd="sng">
              <a:solidFill>
                <a:schemeClr val="accent2"/>
              </a:solidFill>
              <a:prstDash val="solid"/>
              <a:headEnd type="none" w="med" len="med"/>
              <a:tailEnd type="none" w="med" len="med"/>
            </a:ln>
          </p:spPr>
        </p:sp>
        <p:sp>
          <p:nvSpPr>
            <p:cNvPr id="43071" name="Line 62"/>
            <p:cNvSpPr/>
            <p:nvPr/>
          </p:nvSpPr>
          <p:spPr>
            <a:xfrm>
              <a:off x="1376" y="2114"/>
              <a:ext cx="573" cy="0"/>
            </a:xfrm>
            <a:prstGeom prst="line">
              <a:avLst/>
            </a:prstGeom>
            <a:ln w="12700" cap="flat" cmpd="sng">
              <a:solidFill>
                <a:schemeClr val="accent2"/>
              </a:solidFill>
              <a:prstDash val="solid"/>
              <a:headEnd type="none" w="med" len="med"/>
              <a:tailEnd type="none" w="med" len="med"/>
            </a:ln>
          </p:spPr>
        </p:sp>
        <p:sp>
          <p:nvSpPr>
            <p:cNvPr id="43072" name="Line 63"/>
            <p:cNvSpPr/>
            <p:nvPr/>
          </p:nvSpPr>
          <p:spPr>
            <a:xfrm>
              <a:off x="1114" y="2607"/>
              <a:ext cx="835" cy="0"/>
            </a:xfrm>
            <a:prstGeom prst="line">
              <a:avLst/>
            </a:prstGeom>
            <a:ln w="12700" cap="flat" cmpd="sng">
              <a:solidFill>
                <a:schemeClr val="accent2"/>
              </a:solidFill>
              <a:prstDash val="solid"/>
              <a:headEnd type="none" w="med" len="med"/>
              <a:tailEnd type="none" w="med" len="med"/>
            </a:ln>
          </p:spPr>
        </p:sp>
        <p:sp>
          <p:nvSpPr>
            <p:cNvPr id="43073" name="AutoShape 64"/>
            <p:cNvSpPr/>
            <p:nvPr/>
          </p:nvSpPr>
          <p:spPr>
            <a:xfrm>
              <a:off x="1463" y="2053"/>
              <a:ext cx="409" cy="612"/>
            </a:xfrm>
            <a:prstGeom prst="flowChartMagneticDrum">
              <a:avLst/>
            </a:prstGeom>
            <a:noFill/>
            <a:ln w="19050" cap="flat" cmpd="sng">
              <a:solidFill>
                <a:srgbClr val="000080"/>
              </a:solidFill>
              <a:prstDash val="solid"/>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43074" name="Group 65"/>
            <p:cNvGrpSpPr/>
            <p:nvPr/>
          </p:nvGrpSpPr>
          <p:grpSpPr>
            <a:xfrm>
              <a:off x="351" y="1934"/>
              <a:ext cx="844" cy="842"/>
              <a:chOff x="417" y="2277"/>
              <a:chExt cx="844" cy="842"/>
            </a:xfrm>
          </p:grpSpPr>
          <p:sp>
            <p:nvSpPr>
              <p:cNvPr id="43118" name="Line 66"/>
              <p:cNvSpPr/>
              <p:nvPr/>
            </p:nvSpPr>
            <p:spPr>
              <a:xfrm rot="2700000">
                <a:off x="767" y="2524"/>
                <a:ext cx="494" cy="0"/>
              </a:xfrm>
              <a:prstGeom prst="line">
                <a:avLst/>
              </a:prstGeom>
              <a:ln w="12700" cap="flat" cmpd="sng">
                <a:solidFill>
                  <a:schemeClr val="accent2"/>
                </a:solidFill>
                <a:prstDash val="solid"/>
                <a:headEnd type="none" w="med" len="med"/>
                <a:tailEnd type="none" w="med" len="med"/>
              </a:ln>
            </p:spPr>
          </p:sp>
          <p:sp>
            <p:nvSpPr>
              <p:cNvPr id="43119" name="Line 67"/>
              <p:cNvSpPr/>
              <p:nvPr/>
            </p:nvSpPr>
            <p:spPr>
              <a:xfrm rot="2700000">
                <a:off x="416" y="2872"/>
                <a:ext cx="494" cy="0"/>
              </a:xfrm>
              <a:prstGeom prst="line">
                <a:avLst/>
              </a:prstGeom>
              <a:ln w="12700" cap="flat" cmpd="sng">
                <a:solidFill>
                  <a:schemeClr val="accent2"/>
                </a:solidFill>
                <a:prstDash val="solid"/>
                <a:headEnd type="none" w="med" len="med"/>
                <a:tailEnd type="none" w="med" len="med"/>
              </a:ln>
            </p:spPr>
          </p:sp>
          <p:sp>
            <p:nvSpPr>
              <p:cNvPr id="43120" name="Line 68"/>
              <p:cNvSpPr/>
              <p:nvPr/>
            </p:nvSpPr>
            <p:spPr>
              <a:xfrm rot="-2700000">
                <a:off x="417" y="2523"/>
                <a:ext cx="494" cy="0"/>
              </a:xfrm>
              <a:prstGeom prst="line">
                <a:avLst/>
              </a:prstGeom>
              <a:ln w="12700" cap="flat" cmpd="sng">
                <a:solidFill>
                  <a:schemeClr val="accent2"/>
                </a:solidFill>
                <a:prstDash val="solid"/>
                <a:headEnd type="none" w="med" len="med"/>
                <a:tailEnd type="none" w="med" len="med"/>
              </a:ln>
            </p:spPr>
          </p:sp>
          <p:sp>
            <p:nvSpPr>
              <p:cNvPr id="43121" name="Line 69"/>
              <p:cNvSpPr/>
              <p:nvPr/>
            </p:nvSpPr>
            <p:spPr>
              <a:xfrm rot="-2700000">
                <a:off x="767" y="2874"/>
                <a:ext cx="494" cy="0"/>
              </a:xfrm>
              <a:prstGeom prst="line">
                <a:avLst/>
              </a:prstGeom>
              <a:ln w="12700" cap="flat" cmpd="sng">
                <a:solidFill>
                  <a:schemeClr val="accent2"/>
                </a:solidFill>
                <a:prstDash val="solid"/>
                <a:headEnd type="none" w="med" len="med"/>
                <a:tailEnd type="none" w="med" len="med"/>
              </a:ln>
            </p:spPr>
          </p:sp>
          <p:sp>
            <p:nvSpPr>
              <p:cNvPr id="43122" name="Rectangle 70"/>
              <p:cNvSpPr/>
              <p:nvPr/>
            </p:nvSpPr>
            <p:spPr>
              <a:xfrm rot="2700000">
                <a:off x="641" y="2428"/>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3" name="Rectangle 71"/>
              <p:cNvSpPr/>
              <p:nvPr/>
            </p:nvSpPr>
            <p:spPr>
              <a:xfrm rot="2700000">
                <a:off x="977" y="2793"/>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4" name="Rectangle 72"/>
              <p:cNvSpPr/>
              <p:nvPr/>
            </p:nvSpPr>
            <p:spPr>
              <a:xfrm rot="-2700000">
                <a:off x="640" y="2797"/>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5" name="Rectangle 73"/>
              <p:cNvSpPr/>
              <p:nvPr/>
            </p:nvSpPr>
            <p:spPr>
              <a:xfrm rot="-2700000">
                <a:off x="974" y="2432"/>
                <a:ext cx="64" cy="166"/>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6" name="Oval 74"/>
              <p:cNvSpPr/>
              <p:nvPr/>
            </p:nvSpPr>
            <p:spPr>
              <a:xfrm>
                <a:off x="811" y="2327"/>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7" name="Oval 75"/>
              <p:cNvSpPr/>
              <p:nvPr/>
            </p:nvSpPr>
            <p:spPr>
              <a:xfrm>
                <a:off x="811" y="301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8" name="Oval 76"/>
              <p:cNvSpPr/>
              <p:nvPr/>
            </p:nvSpPr>
            <p:spPr>
              <a:xfrm>
                <a:off x="1154" y="2672"/>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29" name="Oval 77"/>
              <p:cNvSpPr/>
              <p:nvPr/>
            </p:nvSpPr>
            <p:spPr>
              <a:xfrm>
                <a:off x="469" y="267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43075" name="Line 78"/>
            <p:cNvSpPr/>
            <p:nvPr/>
          </p:nvSpPr>
          <p:spPr>
            <a:xfrm>
              <a:off x="1114" y="2359"/>
              <a:ext cx="0" cy="248"/>
            </a:xfrm>
            <a:prstGeom prst="line">
              <a:avLst/>
            </a:prstGeom>
            <a:ln w="12700" cap="flat" cmpd="sng">
              <a:solidFill>
                <a:schemeClr val="accent2"/>
              </a:solidFill>
              <a:prstDash val="solid"/>
              <a:headEnd type="none" w="med" len="med"/>
              <a:tailEnd type="none" w="med" len="med"/>
            </a:ln>
          </p:spPr>
        </p:sp>
        <p:sp>
          <p:nvSpPr>
            <p:cNvPr id="43076" name="Line 79"/>
            <p:cNvSpPr/>
            <p:nvPr/>
          </p:nvSpPr>
          <p:spPr>
            <a:xfrm>
              <a:off x="771" y="1765"/>
              <a:ext cx="0" cy="245"/>
            </a:xfrm>
            <a:prstGeom prst="line">
              <a:avLst/>
            </a:prstGeom>
            <a:ln w="12700" cap="flat" cmpd="sng">
              <a:solidFill>
                <a:schemeClr val="accent2"/>
              </a:solidFill>
              <a:prstDash val="solid"/>
              <a:headEnd type="none" w="med" len="med"/>
              <a:tailEnd type="none" w="med" len="med"/>
            </a:ln>
          </p:spPr>
        </p:sp>
        <p:sp>
          <p:nvSpPr>
            <p:cNvPr id="43077" name="Text Box 80"/>
            <p:cNvSpPr txBox="1"/>
            <p:nvPr/>
          </p:nvSpPr>
          <p:spPr>
            <a:xfrm>
              <a:off x="724" y="1693"/>
              <a:ext cx="302"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U+</a:t>
              </a:r>
              <a:endParaRPr lang="en-US" altLang="zh-CN" sz="1800" b="1" i="1" dirty="0">
                <a:solidFill>
                  <a:srgbClr val="FF0000"/>
                </a:solidFill>
                <a:latin typeface="Times New Roman" panose="02020603050405020304" pitchFamily="18" charset="0"/>
              </a:endParaRPr>
            </a:p>
          </p:txBody>
        </p:sp>
        <p:sp>
          <p:nvSpPr>
            <p:cNvPr id="43078" name="Line 81"/>
            <p:cNvSpPr/>
            <p:nvPr/>
          </p:nvSpPr>
          <p:spPr>
            <a:xfrm>
              <a:off x="427" y="1557"/>
              <a:ext cx="0" cy="797"/>
            </a:xfrm>
            <a:prstGeom prst="line">
              <a:avLst/>
            </a:prstGeom>
            <a:ln w="12700" cap="flat" cmpd="sng">
              <a:solidFill>
                <a:schemeClr val="accent2"/>
              </a:solidFill>
              <a:prstDash val="solid"/>
              <a:headEnd type="none" w="med" len="med"/>
              <a:tailEnd type="none" w="med" len="med"/>
            </a:ln>
          </p:spPr>
        </p:sp>
        <p:sp>
          <p:nvSpPr>
            <p:cNvPr id="43079" name="Line 82"/>
            <p:cNvSpPr/>
            <p:nvPr/>
          </p:nvSpPr>
          <p:spPr>
            <a:xfrm>
              <a:off x="427" y="1557"/>
              <a:ext cx="945" cy="0"/>
            </a:xfrm>
            <a:prstGeom prst="line">
              <a:avLst/>
            </a:prstGeom>
            <a:ln w="12700" cap="flat" cmpd="sng">
              <a:solidFill>
                <a:schemeClr val="accent2"/>
              </a:solidFill>
              <a:prstDash val="solid"/>
              <a:headEnd type="none" w="med" len="med"/>
              <a:tailEnd type="none" w="med" len="med"/>
            </a:ln>
          </p:spPr>
        </p:sp>
        <p:sp>
          <p:nvSpPr>
            <p:cNvPr id="43080" name="Line 83"/>
            <p:cNvSpPr/>
            <p:nvPr/>
          </p:nvSpPr>
          <p:spPr>
            <a:xfrm>
              <a:off x="1372" y="1557"/>
              <a:ext cx="0" cy="557"/>
            </a:xfrm>
            <a:prstGeom prst="line">
              <a:avLst/>
            </a:prstGeom>
            <a:ln w="12700" cap="flat" cmpd="sng">
              <a:solidFill>
                <a:schemeClr val="accent2"/>
              </a:solidFill>
              <a:prstDash val="solid"/>
              <a:headEnd type="none" w="med" len="med"/>
              <a:tailEnd type="none" w="med" len="med"/>
            </a:ln>
          </p:spPr>
        </p:sp>
        <p:sp>
          <p:nvSpPr>
            <p:cNvPr id="43081" name="Line 84"/>
            <p:cNvSpPr/>
            <p:nvPr/>
          </p:nvSpPr>
          <p:spPr>
            <a:xfrm>
              <a:off x="771" y="2706"/>
              <a:ext cx="0" cy="245"/>
            </a:xfrm>
            <a:prstGeom prst="line">
              <a:avLst/>
            </a:prstGeom>
            <a:ln w="12700" cap="flat" cmpd="sng">
              <a:solidFill>
                <a:schemeClr val="accent2"/>
              </a:solidFill>
              <a:prstDash val="solid"/>
              <a:headEnd type="none" w="med" len="med"/>
              <a:tailEnd type="none" w="med" len="med"/>
            </a:ln>
          </p:spPr>
        </p:sp>
        <p:sp>
          <p:nvSpPr>
            <p:cNvPr id="43082" name="Line 85"/>
            <p:cNvSpPr/>
            <p:nvPr/>
          </p:nvSpPr>
          <p:spPr>
            <a:xfrm>
              <a:off x="198" y="2951"/>
              <a:ext cx="573" cy="0"/>
            </a:xfrm>
            <a:prstGeom prst="line">
              <a:avLst/>
            </a:prstGeom>
            <a:ln w="12700" cap="flat" cmpd="sng">
              <a:solidFill>
                <a:schemeClr val="accent2"/>
              </a:solidFill>
              <a:prstDash val="solid"/>
              <a:headEnd type="none" w="med" len="med"/>
              <a:tailEnd type="none" w="med" len="med"/>
            </a:ln>
          </p:spPr>
        </p:sp>
        <p:sp>
          <p:nvSpPr>
            <p:cNvPr id="43083" name="Line 86"/>
            <p:cNvSpPr/>
            <p:nvPr/>
          </p:nvSpPr>
          <p:spPr>
            <a:xfrm>
              <a:off x="198" y="1064"/>
              <a:ext cx="0" cy="1884"/>
            </a:xfrm>
            <a:prstGeom prst="line">
              <a:avLst/>
            </a:prstGeom>
            <a:ln w="12700" cap="flat" cmpd="sng">
              <a:solidFill>
                <a:schemeClr val="accent2"/>
              </a:solidFill>
              <a:prstDash val="solid"/>
              <a:headEnd type="none" w="med" len="med"/>
              <a:tailEnd type="none" w="med" len="med"/>
            </a:ln>
          </p:spPr>
        </p:sp>
        <p:sp>
          <p:nvSpPr>
            <p:cNvPr id="43084" name="Rectangle 87"/>
            <p:cNvSpPr/>
            <p:nvPr/>
          </p:nvSpPr>
          <p:spPr>
            <a:xfrm>
              <a:off x="4720" y="2502"/>
              <a:ext cx="236" cy="411"/>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p>
              <a:pPr algn="ctr" eaLnBrk="1" hangingPunct="1">
                <a:lnSpc>
                  <a:spcPct val="90000"/>
                </a:lnSpc>
              </a:pPr>
              <a:r>
                <a:rPr lang="zh-CN" altLang="en-US" sz="2000" b="1" dirty="0">
                  <a:solidFill>
                    <a:srgbClr val="333399"/>
                  </a:solidFill>
                  <a:latin typeface="Times New Roman" panose="02020603050405020304" pitchFamily="18" charset="0"/>
                </a:rPr>
                <a:t>负</a:t>
              </a:r>
              <a:endParaRPr lang="zh-CN" altLang="en-US" sz="2000" b="1" dirty="0">
                <a:solidFill>
                  <a:srgbClr val="333399"/>
                </a:solidFill>
                <a:latin typeface="Times New Roman" panose="02020603050405020304" pitchFamily="18" charset="0"/>
              </a:endParaRPr>
            </a:p>
            <a:p>
              <a:pPr algn="ctr" eaLnBrk="1" hangingPunct="1">
                <a:lnSpc>
                  <a:spcPct val="90000"/>
                </a:lnSpc>
              </a:pPr>
              <a:r>
                <a:rPr lang="zh-CN" altLang="en-US" sz="2000" b="1" dirty="0">
                  <a:solidFill>
                    <a:srgbClr val="333399"/>
                  </a:solidFill>
                  <a:latin typeface="Times New Roman" panose="02020603050405020304" pitchFamily="18" charset="0"/>
                </a:rPr>
                <a:t>载</a:t>
              </a:r>
              <a:endParaRPr lang="zh-CN" altLang="en-US" sz="2000" b="1" dirty="0">
                <a:solidFill>
                  <a:srgbClr val="333399"/>
                </a:solidFill>
                <a:latin typeface="Times New Roman" panose="02020603050405020304" pitchFamily="18" charset="0"/>
              </a:endParaRPr>
            </a:p>
          </p:txBody>
        </p:sp>
        <p:sp>
          <p:nvSpPr>
            <p:cNvPr id="43085" name="Line 88"/>
            <p:cNvSpPr/>
            <p:nvPr/>
          </p:nvSpPr>
          <p:spPr>
            <a:xfrm flipH="1">
              <a:off x="4038" y="3015"/>
              <a:ext cx="1077" cy="0"/>
            </a:xfrm>
            <a:prstGeom prst="line">
              <a:avLst/>
            </a:prstGeom>
            <a:ln w="12700" cap="flat" cmpd="sng">
              <a:solidFill>
                <a:schemeClr val="accent2"/>
              </a:solidFill>
              <a:prstDash val="solid"/>
              <a:headEnd type="none" w="med" len="med"/>
              <a:tailEnd type="none" w="med" len="med"/>
            </a:ln>
          </p:spPr>
        </p:sp>
        <p:sp>
          <p:nvSpPr>
            <p:cNvPr id="43086" name="Oval 89"/>
            <p:cNvSpPr/>
            <p:nvPr/>
          </p:nvSpPr>
          <p:spPr>
            <a:xfrm>
              <a:off x="4799" y="2984"/>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87" name="Line 90"/>
            <p:cNvSpPr/>
            <p:nvPr/>
          </p:nvSpPr>
          <p:spPr>
            <a:xfrm>
              <a:off x="5115" y="1063"/>
              <a:ext cx="0" cy="1951"/>
            </a:xfrm>
            <a:prstGeom prst="line">
              <a:avLst/>
            </a:prstGeom>
            <a:ln w="12700" cap="flat" cmpd="sng">
              <a:solidFill>
                <a:schemeClr val="accent2"/>
              </a:solidFill>
              <a:prstDash val="solid"/>
              <a:headEnd type="none" w="med" len="med"/>
              <a:tailEnd type="none" w="med" len="med"/>
            </a:ln>
          </p:spPr>
        </p:sp>
        <p:sp>
          <p:nvSpPr>
            <p:cNvPr id="43088" name="Line 91"/>
            <p:cNvSpPr/>
            <p:nvPr/>
          </p:nvSpPr>
          <p:spPr>
            <a:xfrm>
              <a:off x="199" y="1064"/>
              <a:ext cx="4916" cy="0"/>
            </a:xfrm>
            <a:prstGeom prst="line">
              <a:avLst/>
            </a:prstGeom>
            <a:ln w="12700" cap="flat" cmpd="sng">
              <a:solidFill>
                <a:schemeClr val="accent2"/>
              </a:solidFill>
              <a:prstDash val="solid"/>
              <a:headEnd type="none" w="med" len="med"/>
              <a:tailEnd type="none" w="med" len="med"/>
            </a:ln>
          </p:spPr>
        </p:sp>
        <p:sp>
          <p:nvSpPr>
            <p:cNvPr id="43089" name="Text Box 92"/>
            <p:cNvSpPr txBox="1"/>
            <p:nvPr/>
          </p:nvSpPr>
          <p:spPr>
            <a:xfrm>
              <a:off x="3076" y="2247"/>
              <a:ext cx="689" cy="231"/>
            </a:xfrm>
            <a:prstGeom prst="rect">
              <a:avLst/>
            </a:prstGeom>
            <a:noFill/>
            <a:ln w="9525">
              <a:noFill/>
            </a:ln>
          </p:spPr>
          <p:txBody>
            <a:bodyPr>
              <a:spAutoFit/>
            </a:bodyPr>
            <a:p>
              <a:pPr eaLnBrk="1" hangingPunct="1">
                <a:lnSpc>
                  <a:spcPct val="90000"/>
                </a:lnSpc>
                <a:spcBef>
                  <a:spcPct val="50000"/>
                </a:spcBef>
              </a:pPr>
              <a:r>
                <a:rPr lang="en-US" altLang="zh-CN" sz="2000" b="1" dirty="0">
                  <a:solidFill>
                    <a:srgbClr val="FF0000"/>
                  </a:solidFill>
                  <a:latin typeface="Times New Roman" panose="02020603050405020304" pitchFamily="18" charset="0"/>
                </a:rPr>
                <a:t>AD522</a:t>
              </a:r>
              <a:endParaRPr lang="en-US" altLang="zh-CN" sz="2000" b="1" dirty="0">
                <a:solidFill>
                  <a:srgbClr val="FF0000"/>
                </a:solidFill>
                <a:latin typeface="Times New Roman" panose="02020603050405020304" pitchFamily="18" charset="0"/>
              </a:endParaRPr>
            </a:p>
          </p:txBody>
        </p:sp>
        <p:sp>
          <p:nvSpPr>
            <p:cNvPr id="43090" name="Oval 93"/>
            <p:cNvSpPr/>
            <p:nvPr/>
          </p:nvSpPr>
          <p:spPr>
            <a:xfrm>
              <a:off x="3439" y="103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91" name="Oval 94"/>
            <p:cNvSpPr/>
            <p:nvPr/>
          </p:nvSpPr>
          <p:spPr>
            <a:xfrm>
              <a:off x="1749" y="103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092" name="Text Box 95"/>
            <p:cNvSpPr txBox="1"/>
            <p:nvPr/>
          </p:nvSpPr>
          <p:spPr>
            <a:xfrm>
              <a:off x="204" y="2319"/>
              <a:ext cx="260"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E</a:t>
              </a:r>
              <a:r>
                <a:rPr lang="en-US" altLang="zh-CN" sz="1800" b="1" baseline="-25000" dirty="0">
                  <a:solidFill>
                    <a:srgbClr val="FF0000"/>
                  </a:solidFill>
                  <a:latin typeface="Times New Roman" panose="02020603050405020304" pitchFamily="18" charset="0"/>
                </a:rPr>
                <a:t>1</a:t>
              </a:r>
              <a:endParaRPr lang="en-US" altLang="zh-CN" sz="1800" b="1" baseline="-25000" dirty="0">
                <a:solidFill>
                  <a:srgbClr val="FF0000"/>
                </a:solidFill>
                <a:latin typeface="Times New Roman" panose="02020603050405020304" pitchFamily="18" charset="0"/>
              </a:endParaRPr>
            </a:p>
          </p:txBody>
        </p:sp>
        <p:sp>
          <p:nvSpPr>
            <p:cNvPr id="43093" name="Text Box 96"/>
            <p:cNvSpPr txBox="1"/>
            <p:nvPr/>
          </p:nvSpPr>
          <p:spPr>
            <a:xfrm>
              <a:off x="1111" y="2309"/>
              <a:ext cx="260" cy="214"/>
            </a:xfrm>
            <a:prstGeom prst="rect">
              <a:avLst/>
            </a:prstGeom>
            <a:noFill/>
            <a:ln w="9525">
              <a:noFill/>
            </a:ln>
          </p:spPr>
          <p:txBody>
            <a:bodyPr wrap="none">
              <a:spAutoFit/>
            </a:bodyPr>
            <a:p>
              <a:pPr eaLnBrk="1" hangingPunct="1">
                <a:lnSpc>
                  <a:spcPct val="90000"/>
                </a:lnSpc>
              </a:pPr>
              <a:r>
                <a:rPr lang="en-US" altLang="zh-CN" sz="1800" b="1" i="1" dirty="0">
                  <a:solidFill>
                    <a:srgbClr val="FF0000"/>
                  </a:solidFill>
                  <a:latin typeface="Times New Roman" panose="02020603050405020304" pitchFamily="18" charset="0"/>
                </a:rPr>
                <a:t>E</a:t>
              </a:r>
              <a:r>
                <a:rPr lang="en-US" altLang="zh-CN" sz="1800" b="1" baseline="-25000" dirty="0">
                  <a:solidFill>
                    <a:srgbClr val="FF0000"/>
                  </a:solidFill>
                  <a:latin typeface="Times New Roman" panose="02020603050405020304" pitchFamily="18" charset="0"/>
                </a:rPr>
                <a:t>2</a:t>
              </a:r>
              <a:endParaRPr lang="en-US" altLang="zh-CN" sz="1800" b="1" baseline="-25000" dirty="0">
                <a:solidFill>
                  <a:srgbClr val="FF0000"/>
                </a:solidFill>
                <a:latin typeface="Times New Roman" panose="02020603050405020304" pitchFamily="18" charset="0"/>
              </a:endParaRPr>
            </a:p>
          </p:txBody>
        </p:sp>
        <p:sp>
          <p:nvSpPr>
            <p:cNvPr id="43094" name="Text Box 97"/>
            <p:cNvSpPr txBox="1"/>
            <p:nvPr/>
          </p:nvSpPr>
          <p:spPr>
            <a:xfrm>
              <a:off x="219" y="2932"/>
              <a:ext cx="597"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信号地</a:t>
              </a:r>
              <a:endParaRPr lang="zh-CN" altLang="en-US" sz="1600" b="1" dirty="0">
                <a:solidFill>
                  <a:srgbClr val="CC00CC"/>
                </a:solidFill>
                <a:latin typeface="Times New Roman" panose="02020603050405020304" pitchFamily="18" charset="0"/>
              </a:endParaRPr>
            </a:p>
          </p:txBody>
        </p:sp>
        <p:sp>
          <p:nvSpPr>
            <p:cNvPr id="43095" name="Text Box 98"/>
            <p:cNvSpPr txBox="1"/>
            <p:nvPr/>
          </p:nvSpPr>
          <p:spPr>
            <a:xfrm>
              <a:off x="804" y="2637"/>
              <a:ext cx="829"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测量电桥</a:t>
              </a:r>
              <a:endParaRPr lang="zh-CN" altLang="en-US" sz="1600" b="1" dirty="0">
                <a:solidFill>
                  <a:srgbClr val="CC00CC"/>
                </a:solidFill>
                <a:latin typeface="Times New Roman" panose="02020603050405020304" pitchFamily="18" charset="0"/>
              </a:endParaRPr>
            </a:p>
          </p:txBody>
        </p:sp>
        <p:sp>
          <p:nvSpPr>
            <p:cNvPr id="43096" name="Text Box 99"/>
            <p:cNvSpPr txBox="1"/>
            <p:nvPr/>
          </p:nvSpPr>
          <p:spPr>
            <a:xfrm>
              <a:off x="4558" y="3045"/>
              <a:ext cx="597"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负载地</a:t>
              </a:r>
              <a:endParaRPr lang="zh-CN" altLang="en-US" sz="1600" b="1" dirty="0">
                <a:solidFill>
                  <a:srgbClr val="CC00CC"/>
                </a:solidFill>
                <a:latin typeface="Times New Roman" panose="02020603050405020304" pitchFamily="18" charset="0"/>
              </a:endParaRPr>
            </a:p>
          </p:txBody>
        </p:sp>
        <p:sp>
          <p:nvSpPr>
            <p:cNvPr id="43097" name="Text Box 100"/>
            <p:cNvSpPr txBox="1"/>
            <p:nvPr/>
          </p:nvSpPr>
          <p:spPr>
            <a:xfrm>
              <a:off x="284" y="884"/>
              <a:ext cx="774"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信号回路</a:t>
              </a:r>
              <a:endParaRPr lang="zh-CN" altLang="en-US" sz="1600" b="1" dirty="0">
                <a:solidFill>
                  <a:srgbClr val="CC00CC"/>
                </a:solidFill>
                <a:latin typeface="Times New Roman" panose="02020603050405020304" pitchFamily="18" charset="0"/>
              </a:endParaRPr>
            </a:p>
          </p:txBody>
        </p:sp>
        <p:sp>
          <p:nvSpPr>
            <p:cNvPr id="43098" name="Text Box 101"/>
            <p:cNvSpPr txBox="1"/>
            <p:nvPr/>
          </p:nvSpPr>
          <p:spPr>
            <a:xfrm>
              <a:off x="4117" y="878"/>
              <a:ext cx="774" cy="197"/>
            </a:xfrm>
            <a:prstGeom prst="rect">
              <a:avLst/>
            </a:prstGeom>
            <a:noFill/>
            <a:ln w="9525">
              <a:noFill/>
            </a:ln>
          </p:spPr>
          <p:txBody>
            <a:bodyPr>
              <a:spAutoFit/>
            </a:bodyPr>
            <a:p>
              <a:pPr eaLnBrk="1" hangingPunct="1">
                <a:lnSpc>
                  <a:spcPct val="90000"/>
                </a:lnSpc>
                <a:spcBef>
                  <a:spcPct val="50000"/>
                </a:spcBef>
              </a:pPr>
              <a:r>
                <a:rPr lang="zh-CN" altLang="en-US" sz="1600" b="1" dirty="0">
                  <a:solidFill>
                    <a:srgbClr val="CC00CC"/>
                  </a:solidFill>
                  <a:latin typeface="Times New Roman" panose="02020603050405020304" pitchFamily="18" charset="0"/>
                </a:rPr>
                <a:t>负载回路</a:t>
              </a:r>
              <a:endParaRPr lang="zh-CN" altLang="en-US" sz="1600" b="1" dirty="0">
                <a:solidFill>
                  <a:srgbClr val="CC00CC"/>
                </a:solidFill>
                <a:latin typeface="Times New Roman" panose="02020603050405020304" pitchFamily="18" charset="0"/>
              </a:endParaRPr>
            </a:p>
          </p:txBody>
        </p:sp>
        <p:sp>
          <p:nvSpPr>
            <p:cNvPr id="43099" name="Line 102"/>
            <p:cNvSpPr/>
            <p:nvPr/>
          </p:nvSpPr>
          <p:spPr>
            <a:xfrm>
              <a:off x="1701" y="3335"/>
              <a:ext cx="1453" cy="0"/>
            </a:xfrm>
            <a:prstGeom prst="line">
              <a:avLst/>
            </a:prstGeom>
            <a:ln w="12700" cap="flat" cmpd="sng">
              <a:solidFill>
                <a:schemeClr val="accent2"/>
              </a:solidFill>
              <a:prstDash val="solid"/>
              <a:headEnd type="none" w="med" len="med"/>
              <a:tailEnd type="none" w="med" len="med"/>
            </a:ln>
          </p:spPr>
        </p:sp>
        <p:sp>
          <p:nvSpPr>
            <p:cNvPr id="43100" name="Line 103"/>
            <p:cNvSpPr/>
            <p:nvPr/>
          </p:nvSpPr>
          <p:spPr>
            <a:xfrm>
              <a:off x="2431" y="2666"/>
              <a:ext cx="0" cy="669"/>
            </a:xfrm>
            <a:prstGeom prst="line">
              <a:avLst/>
            </a:prstGeom>
            <a:ln w="12700" cap="flat" cmpd="sng">
              <a:solidFill>
                <a:schemeClr val="accent2"/>
              </a:solidFill>
              <a:prstDash val="solid"/>
              <a:headEnd type="none" w="med" len="med"/>
              <a:tailEnd type="none" w="med" len="med"/>
            </a:ln>
          </p:spPr>
        </p:sp>
        <p:sp>
          <p:nvSpPr>
            <p:cNvPr id="43101" name="Line 104"/>
            <p:cNvSpPr/>
            <p:nvPr/>
          </p:nvSpPr>
          <p:spPr>
            <a:xfrm>
              <a:off x="1701" y="2665"/>
              <a:ext cx="0" cy="669"/>
            </a:xfrm>
            <a:prstGeom prst="line">
              <a:avLst/>
            </a:prstGeom>
            <a:ln w="12700" cap="flat" cmpd="sng">
              <a:solidFill>
                <a:schemeClr val="accent2"/>
              </a:solidFill>
              <a:prstDash val="solid"/>
              <a:headEnd type="none" w="med" len="med"/>
              <a:tailEnd type="none" w="med" len="med"/>
            </a:ln>
          </p:spPr>
        </p:sp>
        <p:sp>
          <p:nvSpPr>
            <p:cNvPr id="43102" name="Oval 105"/>
            <p:cNvSpPr/>
            <p:nvPr/>
          </p:nvSpPr>
          <p:spPr>
            <a:xfrm>
              <a:off x="2403" y="2643"/>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03" name="Oval 106"/>
            <p:cNvSpPr/>
            <p:nvPr/>
          </p:nvSpPr>
          <p:spPr>
            <a:xfrm>
              <a:off x="1673" y="264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04" name="Oval 107"/>
            <p:cNvSpPr/>
            <p:nvPr/>
          </p:nvSpPr>
          <p:spPr>
            <a:xfrm>
              <a:off x="2403" y="3310"/>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05" name="Line 108"/>
            <p:cNvSpPr/>
            <p:nvPr/>
          </p:nvSpPr>
          <p:spPr>
            <a:xfrm>
              <a:off x="3598" y="1444"/>
              <a:ext cx="0" cy="249"/>
            </a:xfrm>
            <a:prstGeom prst="line">
              <a:avLst/>
            </a:prstGeom>
            <a:ln w="19050" cap="flat" cmpd="sng">
              <a:solidFill>
                <a:srgbClr val="FF0000"/>
              </a:solidFill>
              <a:prstDash val="solid"/>
              <a:headEnd type="none" w="med" len="med"/>
              <a:tailEnd type="none" w="med" len="med"/>
            </a:ln>
          </p:spPr>
        </p:sp>
        <p:sp>
          <p:nvSpPr>
            <p:cNvPr id="43106" name="Line 109"/>
            <p:cNvSpPr/>
            <p:nvPr/>
          </p:nvSpPr>
          <p:spPr>
            <a:xfrm>
              <a:off x="3656" y="1444"/>
              <a:ext cx="0" cy="249"/>
            </a:xfrm>
            <a:prstGeom prst="line">
              <a:avLst/>
            </a:prstGeom>
            <a:ln w="19050" cap="flat" cmpd="sng">
              <a:solidFill>
                <a:srgbClr val="FF0000"/>
              </a:solidFill>
              <a:prstDash val="solid"/>
              <a:headEnd type="none" w="med" len="med"/>
              <a:tailEnd type="none" w="med" len="med"/>
            </a:ln>
          </p:spPr>
        </p:sp>
        <p:sp>
          <p:nvSpPr>
            <p:cNvPr id="43107" name="Line 110"/>
            <p:cNvSpPr/>
            <p:nvPr/>
          </p:nvSpPr>
          <p:spPr>
            <a:xfrm>
              <a:off x="3280" y="1445"/>
              <a:ext cx="0" cy="249"/>
            </a:xfrm>
            <a:prstGeom prst="line">
              <a:avLst/>
            </a:prstGeom>
            <a:ln w="19050" cap="flat" cmpd="sng">
              <a:solidFill>
                <a:srgbClr val="FF0000"/>
              </a:solidFill>
              <a:prstDash val="solid"/>
              <a:headEnd type="none" w="med" len="med"/>
              <a:tailEnd type="none" w="med" len="med"/>
            </a:ln>
          </p:spPr>
        </p:sp>
        <p:sp>
          <p:nvSpPr>
            <p:cNvPr id="43108" name="Line 111"/>
            <p:cNvSpPr/>
            <p:nvPr/>
          </p:nvSpPr>
          <p:spPr>
            <a:xfrm>
              <a:off x="3338" y="1445"/>
              <a:ext cx="0" cy="249"/>
            </a:xfrm>
            <a:prstGeom prst="line">
              <a:avLst/>
            </a:prstGeom>
            <a:ln w="19050" cap="flat" cmpd="sng">
              <a:solidFill>
                <a:srgbClr val="FF0000"/>
              </a:solidFill>
              <a:prstDash val="solid"/>
              <a:headEnd type="none" w="med" len="med"/>
              <a:tailEnd type="none" w="med" len="med"/>
            </a:ln>
          </p:spPr>
        </p:sp>
        <p:sp>
          <p:nvSpPr>
            <p:cNvPr id="43109" name="Line 112"/>
            <p:cNvSpPr/>
            <p:nvPr/>
          </p:nvSpPr>
          <p:spPr>
            <a:xfrm>
              <a:off x="3154" y="1567"/>
              <a:ext cx="120" cy="0"/>
            </a:xfrm>
            <a:prstGeom prst="line">
              <a:avLst/>
            </a:prstGeom>
            <a:ln w="12700" cap="flat" cmpd="sng">
              <a:solidFill>
                <a:srgbClr val="FF0000"/>
              </a:solidFill>
              <a:prstDash val="solid"/>
              <a:headEnd type="none" w="med" len="med"/>
              <a:tailEnd type="none" w="med" len="med"/>
            </a:ln>
          </p:spPr>
        </p:sp>
        <p:sp>
          <p:nvSpPr>
            <p:cNvPr id="43110" name="Line 113"/>
            <p:cNvSpPr/>
            <p:nvPr/>
          </p:nvSpPr>
          <p:spPr>
            <a:xfrm>
              <a:off x="3338" y="1567"/>
              <a:ext cx="260" cy="0"/>
            </a:xfrm>
            <a:prstGeom prst="line">
              <a:avLst/>
            </a:prstGeom>
            <a:ln w="12700" cap="flat" cmpd="sng">
              <a:solidFill>
                <a:srgbClr val="FF0000"/>
              </a:solidFill>
              <a:prstDash val="solid"/>
              <a:headEnd type="none" w="med" len="med"/>
              <a:tailEnd type="none" w="med" len="med"/>
            </a:ln>
          </p:spPr>
        </p:sp>
        <p:sp>
          <p:nvSpPr>
            <p:cNvPr id="43111" name="Line 114"/>
            <p:cNvSpPr/>
            <p:nvPr/>
          </p:nvSpPr>
          <p:spPr>
            <a:xfrm>
              <a:off x="3660" y="1565"/>
              <a:ext cx="120" cy="0"/>
            </a:xfrm>
            <a:prstGeom prst="line">
              <a:avLst/>
            </a:prstGeom>
            <a:ln w="12700" cap="flat" cmpd="sng">
              <a:solidFill>
                <a:srgbClr val="FF0000"/>
              </a:solidFill>
              <a:prstDash val="solid"/>
              <a:headEnd type="none" w="med" len="med"/>
              <a:tailEnd type="none" w="med" len="med"/>
            </a:ln>
          </p:spPr>
        </p:sp>
        <p:sp>
          <p:nvSpPr>
            <p:cNvPr id="43112" name="Oval 115"/>
            <p:cNvSpPr/>
            <p:nvPr/>
          </p:nvSpPr>
          <p:spPr>
            <a:xfrm>
              <a:off x="3124" y="1537"/>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13" name="Oval 116"/>
            <p:cNvSpPr/>
            <p:nvPr/>
          </p:nvSpPr>
          <p:spPr>
            <a:xfrm>
              <a:off x="3439" y="153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14" name="Oval 117"/>
            <p:cNvSpPr/>
            <p:nvPr/>
          </p:nvSpPr>
          <p:spPr>
            <a:xfrm>
              <a:off x="3753" y="153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3115" name="Text Box 118"/>
            <p:cNvSpPr txBox="1"/>
            <p:nvPr/>
          </p:nvSpPr>
          <p:spPr>
            <a:xfrm>
              <a:off x="3288" y="1363"/>
              <a:ext cx="246" cy="214"/>
            </a:xfrm>
            <a:prstGeom prst="rect">
              <a:avLst/>
            </a:prstGeom>
            <a:noFill/>
            <a:ln w="9525">
              <a:noFill/>
            </a:ln>
          </p:spPr>
          <p:txBody>
            <a:bodyPr>
              <a:spAutoFit/>
            </a:bodyPr>
            <a:p>
              <a:pPr eaLnBrk="1" hangingPunct="1">
                <a:lnSpc>
                  <a:spcPct val="90000"/>
                </a:lnSpc>
                <a:spcBef>
                  <a:spcPct val="50000"/>
                </a:spcBef>
              </a:pPr>
              <a:r>
                <a:rPr lang="en-US" altLang="zh-CN" sz="1800" b="1" dirty="0">
                  <a:solidFill>
                    <a:srgbClr val="FF0000"/>
                  </a:solidFill>
                  <a:latin typeface="黑体" panose="02010609060101010101" pitchFamily="49" charset="-122"/>
                  <a:ea typeface="黑体" panose="02010609060101010101" pitchFamily="49" charset="-122"/>
                </a:rPr>
                <a:t>+</a:t>
              </a:r>
              <a:endParaRPr lang="en-US" altLang="zh-CN" sz="1800" b="1" dirty="0">
                <a:solidFill>
                  <a:srgbClr val="FF0000"/>
                </a:solidFill>
                <a:latin typeface="黑体" panose="02010609060101010101" pitchFamily="49" charset="-122"/>
                <a:ea typeface="黑体" panose="02010609060101010101" pitchFamily="49" charset="-122"/>
              </a:endParaRPr>
            </a:p>
          </p:txBody>
        </p:sp>
        <p:sp>
          <p:nvSpPr>
            <p:cNvPr id="43116" name="Text Box 119"/>
            <p:cNvSpPr txBox="1"/>
            <p:nvPr/>
          </p:nvSpPr>
          <p:spPr>
            <a:xfrm>
              <a:off x="3609" y="1361"/>
              <a:ext cx="246" cy="214"/>
            </a:xfrm>
            <a:prstGeom prst="rect">
              <a:avLst/>
            </a:prstGeom>
            <a:noFill/>
            <a:ln w="9525">
              <a:noFill/>
            </a:ln>
          </p:spPr>
          <p:txBody>
            <a:bodyPr>
              <a:spAutoFit/>
            </a:bodyPr>
            <a:p>
              <a:pPr eaLnBrk="1" hangingPunct="1">
                <a:lnSpc>
                  <a:spcPct val="90000"/>
                </a:lnSpc>
                <a:spcBef>
                  <a:spcPct val="50000"/>
                </a:spcBef>
              </a:pPr>
              <a:r>
                <a:rPr lang="en-US" altLang="zh-CN" sz="1800" b="1" dirty="0">
                  <a:solidFill>
                    <a:srgbClr val="FF0000"/>
                  </a:solidFill>
                  <a:latin typeface="黑体" panose="02010609060101010101" pitchFamily="49" charset="-122"/>
                  <a:ea typeface="黑体" panose="02010609060101010101" pitchFamily="49" charset="-122"/>
                </a:rPr>
                <a:t>+</a:t>
              </a:r>
              <a:endParaRPr lang="en-US" altLang="zh-CN" sz="1800" b="1" dirty="0">
                <a:solidFill>
                  <a:srgbClr val="FF0000"/>
                </a:solidFill>
                <a:latin typeface="黑体" panose="02010609060101010101" pitchFamily="49" charset="-122"/>
                <a:ea typeface="黑体" panose="02010609060101010101" pitchFamily="49" charset="-122"/>
              </a:endParaRPr>
            </a:p>
          </p:txBody>
        </p:sp>
        <p:sp>
          <p:nvSpPr>
            <p:cNvPr id="43117" name="Text Box 120"/>
            <p:cNvSpPr txBox="1"/>
            <p:nvPr/>
          </p:nvSpPr>
          <p:spPr>
            <a:xfrm>
              <a:off x="3136" y="1261"/>
              <a:ext cx="804" cy="179"/>
            </a:xfrm>
            <a:prstGeom prst="rect">
              <a:avLst/>
            </a:prstGeom>
            <a:noFill/>
            <a:ln w="9525">
              <a:noFill/>
            </a:ln>
          </p:spPr>
          <p:txBody>
            <a:bodyPr>
              <a:spAutoFit/>
            </a:bodyPr>
            <a:p>
              <a:pPr eaLnBrk="1" hangingPunct="1">
                <a:lnSpc>
                  <a:spcPct val="90000"/>
                </a:lnSpc>
                <a:spcBef>
                  <a:spcPct val="50000"/>
                </a:spcBef>
              </a:pPr>
              <a:r>
                <a:rPr lang="en-US" altLang="zh-CN" sz="1400" b="1" dirty="0">
                  <a:solidFill>
                    <a:srgbClr val="CC00CC"/>
                  </a:solidFill>
                  <a:latin typeface="Times New Roman" panose="02020603050405020304" pitchFamily="18" charset="0"/>
                </a:rPr>
                <a:t>10uf    10uf</a:t>
              </a:r>
              <a:endParaRPr lang="en-US" altLang="zh-CN" sz="1400" b="1" dirty="0">
                <a:solidFill>
                  <a:srgbClr val="CC00CC"/>
                </a:solidFill>
                <a:latin typeface="Times New Roman" panose="02020603050405020304" pitchFamily="18" charset="0"/>
              </a:endParaRPr>
            </a:p>
          </p:txBody>
        </p:sp>
      </p:grpSp>
      <p:sp>
        <p:nvSpPr>
          <p:cNvPr id="2416761" name="AutoShape 121"/>
          <p:cNvSpPr/>
          <p:nvPr/>
        </p:nvSpPr>
        <p:spPr>
          <a:xfrm>
            <a:off x="142875" y="5187950"/>
            <a:ext cx="2992438" cy="1625600"/>
          </a:xfrm>
          <a:prstGeom prst="wedgeRoundRectCallout">
            <a:avLst>
              <a:gd name="adj1" fmla="val 77106"/>
              <a:gd name="adj2" fmla="val -36718"/>
              <a:gd name="adj3" fmla="val 16667"/>
            </a:avLst>
          </a:prstGeom>
          <a:solidFill>
            <a:schemeClr val="accent1"/>
          </a:solidFill>
          <a:ln w="9525" cap="flat" cmpd="sng">
            <a:solidFill>
              <a:schemeClr val="tx1"/>
            </a:solidFill>
            <a:prstDash val="solid"/>
            <a:miter/>
            <a:headEnd type="none" w="med" len="med"/>
            <a:tailEnd type="none" w="med" len="med"/>
          </a:ln>
        </p:spPr>
        <p:txBody>
          <a:bodyPr/>
          <a:p>
            <a:pPr eaLnBrk="1" hangingPunct="1">
              <a:lnSpc>
                <a:spcPct val="90000"/>
              </a:lnSpc>
            </a:pPr>
            <a:r>
              <a:rPr lang="zh-CN" altLang="en-US" sz="1800" b="1" dirty="0">
                <a:solidFill>
                  <a:schemeClr val="tx1"/>
                </a:solidFill>
                <a:latin typeface="Times New Roman" panose="02020603050405020304" pitchFamily="18" charset="0"/>
              </a:rPr>
              <a:t>引脚</a:t>
            </a:r>
            <a:r>
              <a:rPr lang="en-US" altLang="zh-CN" sz="1800" b="1" dirty="0">
                <a:solidFill>
                  <a:schemeClr val="tx1"/>
                </a:solidFill>
                <a:latin typeface="Times New Roman" panose="02020603050405020304" pitchFamily="18" charset="0"/>
              </a:rPr>
              <a:t>13</a:t>
            </a:r>
            <a:r>
              <a:rPr lang="zh-CN" altLang="en-US" sz="1800" b="1" dirty="0">
                <a:solidFill>
                  <a:schemeClr val="tx1"/>
                </a:solidFill>
                <a:latin typeface="Times New Roman" panose="02020603050405020304" pitchFamily="18" charset="0"/>
              </a:rPr>
              <a:t>为数据护卫输出端，可以提供输入信号的共模分量，此共模分量传给屏蔽电缆的屏蔽体，从而提高了交流</a:t>
            </a:r>
            <a:r>
              <a:rPr lang="en-US" altLang="zh-CN" sz="1800" b="1" i="1" dirty="0">
                <a:solidFill>
                  <a:schemeClr val="tx1"/>
                </a:solidFill>
                <a:latin typeface="Times New Roman" panose="02020603050405020304" pitchFamily="18" charset="0"/>
              </a:rPr>
              <a:t>CMRR</a:t>
            </a:r>
            <a:r>
              <a:rPr lang="zh-CN" altLang="en-US" sz="1800" b="1" i="1" dirty="0">
                <a:solidFill>
                  <a:schemeClr val="tx1"/>
                </a:solidFill>
                <a:latin typeface="Times New Roman" panose="02020603050405020304" pitchFamily="18" charset="0"/>
              </a:rPr>
              <a:t>。</a:t>
            </a:r>
            <a:r>
              <a:rPr lang="zh-CN" altLang="en-US" sz="1800" b="1" dirty="0">
                <a:solidFill>
                  <a:schemeClr val="tx1"/>
                </a:solidFill>
                <a:latin typeface="Times New Roman" panose="02020603050405020304" pitchFamily="18" charset="0"/>
              </a:rPr>
              <a:t>如果不用时，此脚应空着。</a:t>
            </a:r>
            <a:endParaRPr lang="zh-CN" altLang="en-US" sz="1800" b="1" dirty="0">
              <a:solidFill>
                <a:schemeClr val="tx1"/>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6761"/>
                                        </p:tgtEl>
                                        <p:attrNameLst>
                                          <p:attrName>style.visibility</p:attrName>
                                        </p:attrNameLst>
                                      </p:cBhvr>
                                      <p:to>
                                        <p:strVal val="visible"/>
                                      </p:to>
                                    </p:set>
                                    <p:animEffect transition="in" filter="dissolve">
                                      <p:cBhvr>
                                        <p:cTn id="7" dur="500"/>
                                        <p:tgtEl>
                                          <p:spTgt spid="24167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6761" grpId="0" bldLvl="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7666" name="Text Box 2"/>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4.6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隔离放大器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17787" name="Text Box 123"/>
          <p:cNvSpPr txBox="1"/>
          <p:nvPr/>
        </p:nvSpPr>
        <p:spPr>
          <a:xfrm>
            <a:off x="576263" y="792163"/>
            <a:ext cx="8101012" cy="1628775"/>
          </a:xfrm>
          <a:prstGeom prst="rect">
            <a:avLst/>
          </a:prstGeom>
          <a:solidFill>
            <a:srgbClr val="99CCFF"/>
          </a:solidFill>
          <a:ln w="9525">
            <a:noFill/>
          </a:ln>
        </p:spPr>
        <p:txBody>
          <a:bodyPr>
            <a:spAutoFit/>
          </a:bodyPr>
          <a:p>
            <a:pPr eaLnBrk="1" hangingPunct="1">
              <a:lnSpc>
                <a:spcPct val="90000"/>
              </a:lnSpc>
              <a:spcBef>
                <a:spcPct val="50000"/>
              </a:spcBef>
            </a:pPr>
            <a:r>
              <a:rPr lang="zh-CN" altLang="en-US" sz="2800" b="1" dirty="0">
                <a:solidFill>
                  <a:srgbClr val="333399"/>
                </a:solidFill>
                <a:latin typeface="Times New Roman" panose="02020603050405020304" pitchFamily="18" charset="0"/>
                <a:ea typeface="黑体" panose="02010609060101010101" pitchFamily="49" charset="-122"/>
              </a:rPr>
              <a:t>如果输入数据采集系统的信号是微弱的模拟信号，而测试现场的干扰比较大，对信号的传递精度要求又高，这时可以考虑在模拟信号进入系统之前用隔离放大器进行隔离，以保证系统的可靠性。</a:t>
            </a:r>
            <a:endParaRPr lang="zh-CN" altLang="en-US" sz="2800" b="1" dirty="0">
              <a:solidFill>
                <a:srgbClr val="333399"/>
              </a:solidFill>
              <a:latin typeface="Times New Roman" panose="02020603050405020304" pitchFamily="18" charset="0"/>
              <a:ea typeface="黑体" panose="02010609060101010101" pitchFamily="49" charset="-122"/>
            </a:endParaRPr>
          </a:p>
        </p:txBody>
      </p:sp>
      <p:sp>
        <p:nvSpPr>
          <p:cNvPr id="2417788" name="Text Box 124"/>
          <p:cNvSpPr txBox="1"/>
          <p:nvPr/>
        </p:nvSpPr>
        <p:spPr>
          <a:xfrm>
            <a:off x="860425" y="2857500"/>
            <a:ext cx="3170238" cy="476250"/>
          </a:xfrm>
          <a:prstGeom prst="rect">
            <a:avLst/>
          </a:prstGeom>
          <a:noFill/>
          <a:ln w="9525">
            <a:noFill/>
          </a:ln>
        </p:spPr>
        <p:txBody>
          <a:bodyPr>
            <a:spAutoFit/>
          </a:bodyPr>
          <a:p>
            <a:pPr eaLnBrk="1" hangingPunct="1">
              <a:lnSpc>
                <a:spcPct val="90000"/>
              </a:lnSpc>
              <a:spcBef>
                <a:spcPct val="50000"/>
              </a:spcBef>
            </a:pPr>
            <a:r>
              <a:rPr lang="zh-CN" altLang="en-US" sz="2800" b="1" dirty="0">
                <a:solidFill>
                  <a:srgbClr val="FF0000"/>
                </a:solidFill>
                <a:latin typeface="Times New Roman" panose="02020603050405020304" pitchFamily="18" charset="0"/>
              </a:rPr>
              <a:t>隔离放大器的特点：</a:t>
            </a:r>
            <a:endParaRPr lang="zh-CN" altLang="en-US" sz="2800" b="1" dirty="0">
              <a:solidFill>
                <a:srgbClr val="FF0000"/>
              </a:solidFill>
              <a:latin typeface="Times New Roman" panose="02020603050405020304" pitchFamily="18" charset="0"/>
            </a:endParaRPr>
          </a:p>
        </p:txBody>
      </p:sp>
      <p:sp>
        <p:nvSpPr>
          <p:cNvPr id="2417789" name="Rectangle 125"/>
          <p:cNvSpPr/>
          <p:nvPr/>
        </p:nvSpPr>
        <p:spPr>
          <a:xfrm>
            <a:off x="1560513" y="3305175"/>
            <a:ext cx="6288087" cy="519113"/>
          </a:xfrm>
          <a:prstGeom prst="rect">
            <a:avLst/>
          </a:prstGeom>
          <a:noFill/>
          <a:ln w="31750">
            <a:noFill/>
          </a:ln>
        </p:spPr>
        <p:txBody>
          <a:bodyPr>
            <a:spAutoFit/>
          </a:bodyPr>
          <a:p>
            <a:pPr algn="just" eaLnBrk="1" hangingPunct="1">
              <a:spcBef>
                <a:spcPct val="50000"/>
              </a:spcBef>
            </a:pPr>
            <a:r>
              <a:rPr lang="zh-CN" altLang="en-US" sz="2800" b="1" dirty="0">
                <a:solidFill>
                  <a:schemeClr val="tx1"/>
                </a:solidFill>
                <a:latin typeface="楷体_GB2312" pitchFamily="49" charset="-122"/>
              </a:rPr>
              <a:t>输入回路与输出回路之间是电绝缘的。</a:t>
            </a:r>
            <a:endParaRPr lang="zh-CN" altLang="en-US" sz="2800" b="1" dirty="0">
              <a:solidFill>
                <a:schemeClr val="tx1"/>
              </a:solidFill>
              <a:latin typeface="楷体_GB2312" pitchFamily="49" charset="-122"/>
            </a:endParaRPr>
          </a:p>
        </p:txBody>
      </p:sp>
      <p:sp>
        <p:nvSpPr>
          <p:cNvPr id="2417790" name="Rectangle 126"/>
          <p:cNvSpPr/>
          <p:nvPr/>
        </p:nvSpPr>
        <p:spPr>
          <a:xfrm>
            <a:off x="830263" y="4062413"/>
            <a:ext cx="4533900" cy="519112"/>
          </a:xfrm>
          <a:prstGeom prst="rect">
            <a:avLst/>
          </a:prstGeom>
          <a:noFill/>
          <a:ln w="31750">
            <a:noFill/>
          </a:ln>
        </p:spPr>
        <p:txBody>
          <a:bodyPr>
            <a:spAutoFit/>
          </a:bodyPr>
          <a:p>
            <a:r>
              <a:rPr lang="zh-CN" altLang="en-US" sz="2800" b="1" dirty="0">
                <a:solidFill>
                  <a:srgbClr val="FF0000"/>
                </a:solidFill>
                <a:latin typeface="楷体_GB2312" pitchFamily="49" charset="-122"/>
              </a:rPr>
              <a:t>信号传递的主要方式：</a:t>
            </a:r>
            <a:endParaRPr lang="zh-CN" altLang="en-US" sz="2800" b="1" dirty="0">
              <a:solidFill>
                <a:srgbClr val="FF0000"/>
              </a:solidFill>
              <a:latin typeface="楷体_GB2312" pitchFamily="49" charset="-122"/>
            </a:endParaRPr>
          </a:p>
        </p:txBody>
      </p:sp>
      <p:sp>
        <p:nvSpPr>
          <p:cNvPr id="2417791" name="Rectangle 127"/>
          <p:cNvSpPr/>
          <p:nvPr/>
        </p:nvSpPr>
        <p:spPr>
          <a:xfrm>
            <a:off x="3036888" y="4673600"/>
            <a:ext cx="2722562" cy="1160463"/>
          </a:xfrm>
          <a:prstGeom prst="rect">
            <a:avLst/>
          </a:prstGeom>
          <a:noFill/>
          <a:ln w="31750">
            <a:noFill/>
          </a:ln>
        </p:spPr>
        <p:txBody>
          <a:bodyPr>
            <a:spAutoFit/>
          </a:bodyPr>
          <a:p>
            <a:pPr marL="457200" indent="-457200" eaLnBrk="1" hangingPunct="1">
              <a:spcBef>
                <a:spcPct val="50000"/>
              </a:spcBef>
              <a:buAutoNum type="arabicPeriod"/>
            </a:pPr>
            <a:r>
              <a:rPr lang="zh-CN" altLang="en-US" sz="2800" b="1" dirty="0">
                <a:solidFill>
                  <a:schemeClr val="tx1"/>
                </a:solidFill>
                <a:latin typeface="楷体_GB2312" pitchFamily="49" charset="-122"/>
              </a:rPr>
              <a:t>电磁耦合；</a:t>
            </a:r>
            <a:endParaRPr lang="zh-CN" altLang="en-US" sz="2800" b="1" dirty="0">
              <a:solidFill>
                <a:schemeClr val="tx1"/>
              </a:solidFill>
              <a:latin typeface="楷体_GB2312" pitchFamily="49" charset="-122"/>
            </a:endParaRPr>
          </a:p>
          <a:p>
            <a:pPr marL="457200" indent="-457200" eaLnBrk="1" hangingPunct="1">
              <a:spcBef>
                <a:spcPct val="50000"/>
              </a:spcBef>
              <a:buAutoNum type="arabicPeriod"/>
            </a:pPr>
            <a:r>
              <a:rPr lang="zh-CN" altLang="en-US" sz="2800" b="1" dirty="0">
                <a:solidFill>
                  <a:schemeClr val="tx1"/>
                </a:solidFill>
                <a:latin typeface="楷体_GB2312" pitchFamily="49" charset="-122"/>
              </a:rPr>
              <a:t>光电耦合。</a:t>
            </a:r>
            <a:endParaRPr lang="zh-CN" altLang="en-US" sz="2800" b="1" dirty="0">
              <a:solidFill>
                <a:schemeClr val="tx1"/>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7787"/>
                                        </p:tgtEl>
                                        <p:attrNameLst>
                                          <p:attrName>style.visibility</p:attrName>
                                        </p:attrNameLst>
                                      </p:cBhvr>
                                      <p:to>
                                        <p:strVal val="visible"/>
                                      </p:to>
                                    </p:set>
                                    <p:animEffect transition="in" filter="dissolve">
                                      <p:cBhvr>
                                        <p:cTn id="7" dur="500"/>
                                        <p:tgtEl>
                                          <p:spTgt spid="24177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17788"/>
                                        </p:tgtEl>
                                        <p:attrNameLst>
                                          <p:attrName>style.visibility</p:attrName>
                                        </p:attrNameLst>
                                      </p:cBhvr>
                                      <p:to>
                                        <p:strVal val="visible"/>
                                      </p:to>
                                    </p:set>
                                    <p:animEffect transition="in" filter="dissolve">
                                      <p:cBhvr>
                                        <p:cTn id="12" dur="500"/>
                                        <p:tgtEl>
                                          <p:spTgt spid="241778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17789"/>
                                        </p:tgtEl>
                                        <p:attrNameLst>
                                          <p:attrName>style.visibility</p:attrName>
                                        </p:attrNameLst>
                                      </p:cBhvr>
                                      <p:to>
                                        <p:strVal val="visible"/>
                                      </p:to>
                                    </p:set>
                                    <p:animEffect transition="in" filter="dissolve">
                                      <p:cBhvr>
                                        <p:cTn id="15" dur="500"/>
                                        <p:tgtEl>
                                          <p:spTgt spid="241778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17790"/>
                                        </p:tgtEl>
                                        <p:attrNameLst>
                                          <p:attrName>style.visibility</p:attrName>
                                        </p:attrNameLst>
                                      </p:cBhvr>
                                      <p:to>
                                        <p:strVal val="visible"/>
                                      </p:to>
                                    </p:set>
                                    <p:animEffect transition="in" filter="dissolve">
                                      <p:cBhvr>
                                        <p:cTn id="20" dur="500"/>
                                        <p:tgtEl>
                                          <p:spTgt spid="2417790"/>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417791"/>
                                        </p:tgtEl>
                                        <p:attrNameLst>
                                          <p:attrName>style.visibility</p:attrName>
                                        </p:attrNameLst>
                                      </p:cBhvr>
                                      <p:to>
                                        <p:strVal val="visible"/>
                                      </p:to>
                                    </p:set>
                                    <p:animEffect transition="in" filter="dissolve">
                                      <p:cBhvr>
                                        <p:cTn id="23" dur="500"/>
                                        <p:tgtEl>
                                          <p:spTgt spid="24177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7787" grpId="0" bldLvl="0" animBg="1"/>
      <p:bldP spid="2417788" grpId="0"/>
      <p:bldP spid="2417789" grpId="0"/>
      <p:bldP spid="2417790" grpId="0"/>
      <p:bldP spid="2417791"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8124" name="Rectangle 220"/>
          <p:cNvSpPr/>
          <p:nvPr/>
        </p:nvSpPr>
        <p:spPr>
          <a:xfrm>
            <a:off x="468313" y="2133600"/>
            <a:ext cx="8316912" cy="4103688"/>
          </a:xfrm>
          <a:prstGeom prst="rect">
            <a:avLst/>
          </a:prstGeom>
          <a:solidFill>
            <a:srgbClr val="3333FF"/>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27906" name="Text Box 2"/>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4.6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隔离放大器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7907" name="Text Box 3"/>
          <p:cNvSpPr txBox="1"/>
          <p:nvPr/>
        </p:nvSpPr>
        <p:spPr>
          <a:xfrm>
            <a:off x="179388" y="728663"/>
            <a:ext cx="4589462"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变压器隔离放大器</a:t>
            </a:r>
            <a:endParaRPr lang="zh-CN" altLang="en-US" sz="3600" b="1" dirty="0">
              <a:solidFill>
                <a:srgbClr val="333399"/>
              </a:solidFill>
              <a:latin typeface="Times New Roman" panose="02020603050405020304" pitchFamily="18" charset="0"/>
            </a:endParaRPr>
          </a:p>
        </p:txBody>
      </p:sp>
      <p:sp>
        <p:nvSpPr>
          <p:cNvPr id="2428048" name="Text Box 144"/>
          <p:cNvSpPr txBox="1"/>
          <p:nvPr/>
        </p:nvSpPr>
        <p:spPr>
          <a:xfrm>
            <a:off x="1146175" y="1384300"/>
            <a:ext cx="7273925" cy="749300"/>
          </a:xfrm>
          <a:prstGeom prst="rect">
            <a:avLst/>
          </a:prstGeom>
          <a:noFill/>
          <a:ln w="9525">
            <a:noFill/>
          </a:ln>
        </p:spPr>
        <p:txBody>
          <a:bodyPr>
            <a:spAutoFit/>
          </a:bodyPr>
          <a:p>
            <a:pPr eaLnBrk="1" hangingPunct="1">
              <a:lnSpc>
                <a:spcPct val="90000"/>
              </a:lnSpc>
              <a:spcBef>
                <a:spcPct val="50000"/>
              </a:spcBef>
            </a:pPr>
            <a:r>
              <a:rPr lang="zh-CN" altLang="en-US" sz="2400" b="1" dirty="0">
                <a:solidFill>
                  <a:schemeClr val="tx1"/>
                </a:solidFill>
                <a:latin typeface="Times New Roman" panose="02020603050405020304" pitchFamily="18" charset="0"/>
                <a:ea typeface="黑体" panose="02010609060101010101" pitchFamily="49" charset="-122"/>
              </a:rPr>
              <a:t>输入端与输出端之间（包括它们所使用的电源之间）无直接耦合通路，其信息传送通过磁路来实现。</a:t>
            </a:r>
            <a:endParaRPr lang="zh-CN" altLang="en-US" sz="2400" b="1" dirty="0">
              <a:solidFill>
                <a:schemeClr val="tx1"/>
              </a:solidFill>
              <a:latin typeface="Times New Roman" panose="02020603050405020304" pitchFamily="18" charset="0"/>
              <a:ea typeface="黑体" panose="02010609060101010101" pitchFamily="49" charset="-122"/>
            </a:endParaRPr>
          </a:p>
        </p:txBody>
      </p:sp>
      <p:grpSp>
        <p:nvGrpSpPr>
          <p:cNvPr id="2" name="Group 145"/>
          <p:cNvGrpSpPr/>
          <p:nvPr/>
        </p:nvGrpSpPr>
        <p:grpSpPr>
          <a:xfrm>
            <a:off x="571500" y="2268538"/>
            <a:ext cx="8172450" cy="3867150"/>
            <a:chOff x="546" y="1368"/>
            <a:chExt cx="5148" cy="2436"/>
          </a:xfrm>
        </p:grpSpPr>
        <p:sp>
          <p:nvSpPr>
            <p:cNvPr id="45068" name="Rectangle 146"/>
            <p:cNvSpPr/>
            <p:nvPr/>
          </p:nvSpPr>
          <p:spPr>
            <a:xfrm>
              <a:off x="1203" y="2196"/>
              <a:ext cx="105"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t>
              </a:r>
              <a:endParaRPr lang="en-US" altLang="zh-CN" sz="2300" b="1" dirty="0">
                <a:solidFill>
                  <a:schemeClr val="bg1"/>
                </a:solidFill>
                <a:latin typeface="Times New Roman" panose="02020603050405020304" pitchFamily="18" charset="0"/>
              </a:endParaRPr>
            </a:p>
          </p:txBody>
        </p:sp>
        <p:sp>
          <p:nvSpPr>
            <p:cNvPr id="45069" name="Rectangle 147"/>
            <p:cNvSpPr/>
            <p:nvPr/>
          </p:nvSpPr>
          <p:spPr>
            <a:xfrm>
              <a:off x="1222" y="1955"/>
              <a:ext cx="9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楷体_GB2312" pitchFamily="49" charset="-122"/>
                </a:rPr>
                <a:t>-</a:t>
              </a:r>
              <a:endParaRPr lang="en-US" altLang="zh-CN" sz="2300" b="1" dirty="0">
                <a:solidFill>
                  <a:schemeClr val="bg1"/>
                </a:solidFill>
                <a:latin typeface="楷体_GB2312" pitchFamily="49" charset="-122"/>
              </a:endParaRPr>
            </a:p>
          </p:txBody>
        </p:sp>
        <p:sp>
          <p:nvSpPr>
            <p:cNvPr id="45070" name="Rectangle 148"/>
            <p:cNvSpPr/>
            <p:nvPr/>
          </p:nvSpPr>
          <p:spPr>
            <a:xfrm>
              <a:off x="1415" y="2184"/>
              <a:ext cx="56" cy="134"/>
            </a:xfrm>
            <a:prstGeom prst="rect">
              <a:avLst/>
            </a:prstGeom>
            <a:noFill/>
            <a:ln w="38100">
              <a:noFill/>
            </a:ln>
          </p:spPr>
          <p:txBody>
            <a:bodyPr wrap="none" lIns="0" tIns="0" rIns="0" bIns="0">
              <a:spAutoFit/>
            </a:bodyPr>
            <a:p>
              <a:pPr algn="just" eaLnBrk="1" hangingPunct="1"/>
              <a:r>
                <a:rPr lang="en-US" altLang="zh-CN" sz="1400" b="1" dirty="0">
                  <a:solidFill>
                    <a:schemeClr val="bg1"/>
                  </a:solidFill>
                  <a:latin typeface="Times New Roman" panose="02020603050405020304" pitchFamily="18" charset="0"/>
                </a:rPr>
                <a:t>1</a:t>
              </a:r>
              <a:endParaRPr lang="en-US" altLang="zh-CN" sz="1400" b="1" dirty="0">
                <a:solidFill>
                  <a:schemeClr val="bg1"/>
                </a:solidFill>
                <a:latin typeface="Times New Roman" panose="02020603050405020304" pitchFamily="18" charset="0"/>
              </a:endParaRPr>
            </a:p>
          </p:txBody>
        </p:sp>
        <p:sp>
          <p:nvSpPr>
            <p:cNvPr id="45071" name="Rectangle 149"/>
            <p:cNvSpPr/>
            <p:nvPr/>
          </p:nvSpPr>
          <p:spPr>
            <a:xfrm>
              <a:off x="1289" y="2072"/>
              <a:ext cx="13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a:t>
              </a:r>
              <a:endParaRPr lang="en-US" altLang="zh-CN" sz="2300" b="1" dirty="0">
                <a:solidFill>
                  <a:schemeClr val="bg1"/>
                </a:solidFill>
                <a:latin typeface="Times New Roman" panose="02020603050405020304" pitchFamily="18" charset="0"/>
              </a:endParaRPr>
            </a:p>
          </p:txBody>
        </p:sp>
        <p:sp>
          <p:nvSpPr>
            <p:cNvPr id="45072" name="Line 150"/>
            <p:cNvSpPr/>
            <p:nvPr/>
          </p:nvSpPr>
          <p:spPr>
            <a:xfrm>
              <a:off x="1630" y="2200"/>
              <a:ext cx="191" cy="0"/>
            </a:xfrm>
            <a:prstGeom prst="line">
              <a:avLst/>
            </a:prstGeom>
            <a:ln w="38100" cap="flat" cmpd="sng">
              <a:solidFill>
                <a:schemeClr val="bg1"/>
              </a:solidFill>
              <a:prstDash val="solid"/>
              <a:headEnd type="none" w="med" len="med"/>
              <a:tailEnd type="none" w="med" len="med"/>
            </a:ln>
          </p:spPr>
        </p:sp>
        <p:sp>
          <p:nvSpPr>
            <p:cNvPr id="45073" name="Line 151"/>
            <p:cNvSpPr/>
            <p:nvPr/>
          </p:nvSpPr>
          <p:spPr>
            <a:xfrm flipH="1">
              <a:off x="739" y="2068"/>
              <a:ext cx="445" cy="1"/>
            </a:xfrm>
            <a:prstGeom prst="line">
              <a:avLst/>
            </a:prstGeom>
            <a:ln w="38100" cap="flat" cmpd="sng">
              <a:solidFill>
                <a:schemeClr val="bg1"/>
              </a:solidFill>
              <a:prstDash val="solid"/>
              <a:headEnd type="none" w="med" len="med"/>
              <a:tailEnd type="none" w="med" len="med"/>
            </a:ln>
          </p:spPr>
        </p:sp>
        <p:sp>
          <p:nvSpPr>
            <p:cNvPr id="45074" name="Line 152"/>
            <p:cNvSpPr/>
            <p:nvPr/>
          </p:nvSpPr>
          <p:spPr>
            <a:xfrm flipH="1">
              <a:off x="743" y="2332"/>
              <a:ext cx="441" cy="0"/>
            </a:xfrm>
            <a:prstGeom prst="line">
              <a:avLst/>
            </a:prstGeom>
            <a:ln w="38100" cap="flat" cmpd="sng">
              <a:solidFill>
                <a:schemeClr val="bg1"/>
              </a:solidFill>
              <a:prstDash val="solid"/>
              <a:headEnd type="none" w="med" len="med"/>
              <a:tailEnd type="none" w="med" len="med"/>
            </a:ln>
          </p:spPr>
        </p:sp>
        <p:sp>
          <p:nvSpPr>
            <p:cNvPr id="45075" name="Rectangle 153"/>
            <p:cNvSpPr/>
            <p:nvPr/>
          </p:nvSpPr>
          <p:spPr>
            <a:xfrm>
              <a:off x="1821" y="2024"/>
              <a:ext cx="626" cy="352"/>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076" name="Rectangle 154"/>
            <p:cNvSpPr/>
            <p:nvPr/>
          </p:nvSpPr>
          <p:spPr>
            <a:xfrm>
              <a:off x="1848" y="2077"/>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调制器</a:t>
              </a:r>
              <a:endParaRPr lang="zh-CN" altLang="en-US" sz="2400" b="1" dirty="0">
                <a:solidFill>
                  <a:schemeClr val="bg1"/>
                </a:solidFill>
                <a:latin typeface="宋体" panose="02010600030101010101" pitchFamily="2" charset="-122"/>
              </a:endParaRPr>
            </a:p>
          </p:txBody>
        </p:sp>
        <p:sp>
          <p:nvSpPr>
            <p:cNvPr id="45077" name="Line 155"/>
            <p:cNvSpPr/>
            <p:nvPr/>
          </p:nvSpPr>
          <p:spPr>
            <a:xfrm flipH="1" flipV="1">
              <a:off x="2447" y="2065"/>
              <a:ext cx="192" cy="1"/>
            </a:xfrm>
            <a:prstGeom prst="line">
              <a:avLst/>
            </a:prstGeom>
            <a:ln w="38100" cap="flat" cmpd="sng">
              <a:solidFill>
                <a:schemeClr val="bg1"/>
              </a:solidFill>
              <a:prstDash val="solid"/>
              <a:headEnd type="none" w="med" len="med"/>
              <a:tailEnd type="none" w="med" len="med"/>
            </a:ln>
          </p:spPr>
        </p:sp>
        <p:sp>
          <p:nvSpPr>
            <p:cNvPr id="45078" name="Rectangle 156"/>
            <p:cNvSpPr/>
            <p:nvPr/>
          </p:nvSpPr>
          <p:spPr>
            <a:xfrm>
              <a:off x="1779" y="2817"/>
              <a:ext cx="668" cy="52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079" name="Rectangle 157"/>
            <p:cNvSpPr/>
            <p:nvPr/>
          </p:nvSpPr>
          <p:spPr>
            <a:xfrm>
              <a:off x="1860" y="2862"/>
              <a:ext cx="603" cy="460"/>
            </a:xfrm>
            <a:prstGeom prst="rect">
              <a:avLst/>
            </a:prstGeom>
            <a:noFill/>
            <a:ln w="38100">
              <a:noFill/>
            </a:ln>
          </p:spPr>
          <p:txBody>
            <a:bodyPr lIns="0" tIns="0" rIns="0" bIns="0">
              <a:spAutoFit/>
            </a:bodyPr>
            <a:p>
              <a:pPr algn="just" eaLnBrk="1" hangingPunct="1"/>
              <a:r>
                <a:rPr lang="zh-CN" altLang="en-US" sz="2400" b="1" dirty="0">
                  <a:solidFill>
                    <a:schemeClr val="bg1"/>
                  </a:solidFill>
                  <a:latin typeface="楷体_GB2312" pitchFamily="49" charset="-122"/>
                </a:rPr>
                <a:t>隔 离</a:t>
              </a:r>
              <a:endParaRPr lang="zh-CN" altLang="en-US" sz="2400" b="1" dirty="0">
                <a:solidFill>
                  <a:schemeClr val="bg1"/>
                </a:solidFill>
                <a:latin typeface="楷体_GB2312" pitchFamily="49" charset="-122"/>
              </a:endParaRPr>
            </a:p>
            <a:p>
              <a:pPr algn="just" eaLnBrk="1" hangingPunct="1"/>
              <a:r>
                <a:rPr lang="zh-CN" altLang="en-US" sz="2400" b="1" dirty="0">
                  <a:solidFill>
                    <a:schemeClr val="bg1"/>
                  </a:solidFill>
                  <a:latin typeface="楷体_GB2312" pitchFamily="49" charset="-122"/>
                </a:rPr>
                <a:t>电 源</a:t>
              </a:r>
              <a:endParaRPr lang="zh-CN" altLang="en-US" sz="2400" b="1" dirty="0">
                <a:solidFill>
                  <a:schemeClr val="bg1"/>
                </a:solidFill>
                <a:latin typeface="楷体_GB2312" pitchFamily="49" charset="-122"/>
              </a:endParaRPr>
            </a:p>
          </p:txBody>
        </p:sp>
        <p:sp>
          <p:nvSpPr>
            <p:cNvPr id="45080" name="Line 158"/>
            <p:cNvSpPr/>
            <p:nvPr/>
          </p:nvSpPr>
          <p:spPr>
            <a:xfrm flipV="1">
              <a:off x="1334" y="2376"/>
              <a:ext cx="0" cy="938"/>
            </a:xfrm>
            <a:prstGeom prst="line">
              <a:avLst/>
            </a:prstGeom>
            <a:ln w="38100" cap="flat" cmpd="sng">
              <a:solidFill>
                <a:schemeClr val="bg1"/>
              </a:solidFill>
              <a:prstDash val="solid"/>
              <a:headEnd type="none" w="med" len="med"/>
              <a:tailEnd type="arrow" w="med" len="med"/>
            </a:ln>
          </p:spPr>
        </p:sp>
        <p:sp>
          <p:nvSpPr>
            <p:cNvPr id="45081" name="Line 159"/>
            <p:cNvSpPr/>
            <p:nvPr/>
          </p:nvSpPr>
          <p:spPr>
            <a:xfrm flipV="1">
              <a:off x="1479" y="2304"/>
              <a:ext cx="1" cy="563"/>
            </a:xfrm>
            <a:prstGeom prst="line">
              <a:avLst/>
            </a:prstGeom>
            <a:ln w="38100" cap="flat" cmpd="sng">
              <a:solidFill>
                <a:schemeClr val="bg1"/>
              </a:solidFill>
              <a:prstDash val="solid"/>
              <a:headEnd type="none" w="med" len="med"/>
              <a:tailEnd type="arrow" w="med" len="med"/>
            </a:ln>
          </p:spPr>
        </p:sp>
        <p:sp>
          <p:nvSpPr>
            <p:cNvPr id="45082" name="Line 160"/>
            <p:cNvSpPr/>
            <p:nvPr/>
          </p:nvSpPr>
          <p:spPr>
            <a:xfrm flipH="1">
              <a:off x="1630" y="3081"/>
              <a:ext cx="144" cy="0"/>
            </a:xfrm>
            <a:prstGeom prst="line">
              <a:avLst/>
            </a:prstGeom>
            <a:ln w="38100" cap="flat" cmpd="sng">
              <a:solidFill>
                <a:schemeClr val="bg1"/>
              </a:solidFill>
              <a:prstDash val="solid"/>
              <a:headEnd type="none" w="med" len="med"/>
              <a:tailEnd type="none" w="med" len="med"/>
            </a:ln>
          </p:spPr>
        </p:sp>
        <p:sp>
          <p:nvSpPr>
            <p:cNvPr id="45083" name="Line 161"/>
            <p:cNvSpPr/>
            <p:nvPr/>
          </p:nvSpPr>
          <p:spPr>
            <a:xfrm flipH="1">
              <a:off x="1469" y="2861"/>
              <a:ext cx="308" cy="0"/>
            </a:xfrm>
            <a:prstGeom prst="line">
              <a:avLst/>
            </a:prstGeom>
            <a:ln w="38100" cap="flat" cmpd="sng">
              <a:solidFill>
                <a:schemeClr val="bg1"/>
              </a:solidFill>
              <a:prstDash val="solid"/>
              <a:headEnd type="none" w="med" len="med"/>
              <a:tailEnd type="none" w="med" len="med"/>
            </a:ln>
          </p:spPr>
        </p:sp>
        <p:sp>
          <p:nvSpPr>
            <p:cNvPr id="45084" name="Line 162"/>
            <p:cNvSpPr/>
            <p:nvPr/>
          </p:nvSpPr>
          <p:spPr>
            <a:xfrm flipH="1">
              <a:off x="1330" y="3302"/>
              <a:ext cx="442" cy="0"/>
            </a:xfrm>
            <a:prstGeom prst="line">
              <a:avLst/>
            </a:prstGeom>
            <a:ln w="38100" cap="flat" cmpd="sng">
              <a:solidFill>
                <a:schemeClr val="bg1"/>
              </a:solidFill>
              <a:prstDash val="solid"/>
              <a:headEnd type="none" w="med" len="med"/>
              <a:tailEnd type="none" w="med" len="med"/>
            </a:ln>
          </p:spPr>
        </p:sp>
        <p:sp>
          <p:nvSpPr>
            <p:cNvPr id="45085" name="Line 163"/>
            <p:cNvSpPr/>
            <p:nvPr/>
          </p:nvSpPr>
          <p:spPr>
            <a:xfrm flipV="1">
              <a:off x="1630" y="2861"/>
              <a:ext cx="1" cy="88"/>
            </a:xfrm>
            <a:prstGeom prst="line">
              <a:avLst/>
            </a:prstGeom>
            <a:ln w="38100" cap="flat" cmpd="sng">
              <a:solidFill>
                <a:schemeClr val="bg1"/>
              </a:solidFill>
              <a:prstDash val="solid"/>
              <a:headEnd type="none" w="med" len="med"/>
              <a:tailEnd type="none" w="med" len="med"/>
            </a:ln>
          </p:spPr>
        </p:sp>
        <p:sp>
          <p:nvSpPr>
            <p:cNvPr id="45086" name="Line 164"/>
            <p:cNvSpPr/>
            <p:nvPr/>
          </p:nvSpPr>
          <p:spPr>
            <a:xfrm>
              <a:off x="1631" y="2993"/>
              <a:ext cx="0" cy="176"/>
            </a:xfrm>
            <a:prstGeom prst="line">
              <a:avLst/>
            </a:prstGeom>
            <a:ln w="38100" cap="flat" cmpd="sng">
              <a:solidFill>
                <a:schemeClr val="bg1"/>
              </a:solidFill>
              <a:prstDash val="solid"/>
              <a:headEnd type="none" w="med" len="med"/>
              <a:tailEnd type="none" w="med" len="med"/>
            </a:ln>
          </p:spPr>
        </p:sp>
        <p:sp>
          <p:nvSpPr>
            <p:cNvPr id="45087" name="Line 165"/>
            <p:cNvSpPr/>
            <p:nvPr/>
          </p:nvSpPr>
          <p:spPr>
            <a:xfrm>
              <a:off x="1560" y="3163"/>
              <a:ext cx="136" cy="1"/>
            </a:xfrm>
            <a:prstGeom prst="line">
              <a:avLst/>
            </a:prstGeom>
            <a:ln w="38100" cap="flat" cmpd="sng">
              <a:solidFill>
                <a:schemeClr val="bg1"/>
              </a:solidFill>
              <a:prstDash val="solid"/>
              <a:headEnd type="none" w="med" len="med"/>
              <a:tailEnd type="none" w="med" len="med"/>
            </a:ln>
          </p:spPr>
        </p:sp>
        <p:sp>
          <p:nvSpPr>
            <p:cNvPr id="45088" name="Line 166"/>
            <p:cNvSpPr/>
            <p:nvPr/>
          </p:nvSpPr>
          <p:spPr>
            <a:xfrm>
              <a:off x="1628" y="3213"/>
              <a:ext cx="0" cy="88"/>
            </a:xfrm>
            <a:prstGeom prst="line">
              <a:avLst/>
            </a:prstGeom>
            <a:ln w="38100" cap="flat" cmpd="sng">
              <a:solidFill>
                <a:schemeClr val="bg1"/>
              </a:solidFill>
              <a:prstDash val="solid"/>
              <a:headEnd type="none" w="med" len="med"/>
              <a:tailEnd type="none" w="med" len="med"/>
            </a:ln>
          </p:spPr>
        </p:sp>
        <p:sp>
          <p:nvSpPr>
            <p:cNvPr id="45089" name="Freeform 167"/>
            <p:cNvSpPr/>
            <p:nvPr/>
          </p:nvSpPr>
          <p:spPr>
            <a:xfrm>
              <a:off x="2614" y="2861"/>
              <a:ext cx="56" cy="440"/>
            </a:xfrm>
            <a:custGeom>
              <a:avLst/>
              <a:gdLst>
                <a:gd name="txL" fmla="*/ 0 w 56"/>
                <a:gd name="txT" fmla="*/ 0 h 440"/>
                <a:gd name="txR" fmla="*/ 56 w 56"/>
                <a:gd name="txB" fmla="*/ 440 h 440"/>
              </a:gdLst>
              <a:ahLst/>
              <a:cxnLst>
                <a:cxn ang="0">
                  <a:pos x="12" y="1"/>
                </a:cxn>
                <a:cxn ang="0">
                  <a:pos x="27" y="5"/>
                </a:cxn>
                <a:cxn ang="0">
                  <a:pos x="39" y="15"/>
                </a:cxn>
                <a:cxn ang="0">
                  <a:pos x="49" y="27"/>
                </a:cxn>
                <a:cxn ang="0">
                  <a:pos x="55" y="41"/>
                </a:cxn>
                <a:cxn ang="0">
                  <a:pos x="56" y="57"/>
                </a:cxn>
                <a:cxn ang="0">
                  <a:pos x="52" y="74"/>
                </a:cxn>
                <a:cxn ang="0">
                  <a:pos x="45" y="88"/>
                </a:cxn>
                <a:cxn ang="0">
                  <a:pos x="34" y="99"/>
                </a:cxn>
                <a:cxn ang="0">
                  <a:pos x="21" y="107"/>
                </a:cxn>
                <a:cxn ang="0">
                  <a:pos x="5" y="110"/>
                </a:cxn>
                <a:cxn ang="0">
                  <a:pos x="12" y="111"/>
                </a:cxn>
                <a:cxn ang="0">
                  <a:pos x="27" y="115"/>
                </a:cxn>
                <a:cxn ang="0">
                  <a:pos x="39" y="125"/>
                </a:cxn>
                <a:cxn ang="0">
                  <a:pos x="49" y="137"/>
                </a:cxn>
                <a:cxn ang="0">
                  <a:pos x="55" y="151"/>
                </a:cxn>
                <a:cxn ang="0">
                  <a:pos x="56" y="167"/>
                </a:cxn>
                <a:cxn ang="0">
                  <a:pos x="52" y="184"/>
                </a:cxn>
                <a:cxn ang="0">
                  <a:pos x="45" y="198"/>
                </a:cxn>
                <a:cxn ang="0">
                  <a:pos x="34" y="209"/>
                </a:cxn>
                <a:cxn ang="0">
                  <a:pos x="21" y="217"/>
                </a:cxn>
                <a:cxn ang="0">
                  <a:pos x="5" y="220"/>
                </a:cxn>
                <a:cxn ang="0">
                  <a:pos x="12" y="221"/>
                </a:cxn>
                <a:cxn ang="0">
                  <a:pos x="27" y="225"/>
                </a:cxn>
                <a:cxn ang="0">
                  <a:pos x="39" y="235"/>
                </a:cxn>
                <a:cxn ang="0">
                  <a:pos x="49" y="247"/>
                </a:cxn>
                <a:cxn ang="0">
                  <a:pos x="55" y="261"/>
                </a:cxn>
                <a:cxn ang="0">
                  <a:pos x="56" y="278"/>
                </a:cxn>
                <a:cxn ang="0">
                  <a:pos x="52" y="294"/>
                </a:cxn>
                <a:cxn ang="0">
                  <a:pos x="45" y="308"/>
                </a:cxn>
                <a:cxn ang="0">
                  <a:pos x="34" y="319"/>
                </a:cxn>
                <a:cxn ang="0">
                  <a:pos x="21" y="327"/>
                </a:cxn>
                <a:cxn ang="0">
                  <a:pos x="5" y="330"/>
                </a:cxn>
                <a:cxn ang="0">
                  <a:pos x="12" y="331"/>
                </a:cxn>
                <a:cxn ang="0">
                  <a:pos x="27" y="335"/>
                </a:cxn>
                <a:cxn ang="0">
                  <a:pos x="39" y="345"/>
                </a:cxn>
                <a:cxn ang="0">
                  <a:pos x="49" y="357"/>
                </a:cxn>
                <a:cxn ang="0">
                  <a:pos x="55" y="371"/>
                </a:cxn>
                <a:cxn ang="0">
                  <a:pos x="56" y="388"/>
                </a:cxn>
                <a:cxn ang="0">
                  <a:pos x="52" y="404"/>
                </a:cxn>
                <a:cxn ang="0">
                  <a:pos x="45" y="418"/>
                </a:cxn>
                <a:cxn ang="0">
                  <a:pos x="34" y="429"/>
                </a:cxn>
                <a:cxn ang="0">
                  <a:pos x="21" y="437"/>
                </a:cxn>
                <a:cxn ang="0">
                  <a:pos x="5" y="440"/>
                </a:cxn>
              </a:cxnLst>
              <a:rect l="txL" t="txT" r="txR" b="txB"/>
              <a:pathLst>
                <a:path w="56" h="440">
                  <a:moveTo>
                    <a:pt x="0" y="0"/>
                  </a:moveTo>
                  <a:lnTo>
                    <a:pt x="6" y="0"/>
                  </a:lnTo>
                  <a:lnTo>
                    <a:pt x="12" y="1"/>
                  </a:lnTo>
                  <a:lnTo>
                    <a:pt x="16" y="1"/>
                  </a:lnTo>
                  <a:lnTo>
                    <a:pt x="21" y="4"/>
                  </a:lnTo>
                  <a:lnTo>
                    <a:pt x="27" y="5"/>
                  </a:lnTo>
                  <a:lnTo>
                    <a:pt x="30" y="8"/>
                  </a:lnTo>
                  <a:lnTo>
                    <a:pt x="35" y="11"/>
                  </a:lnTo>
                  <a:lnTo>
                    <a:pt x="39" y="15"/>
                  </a:lnTo>
                  <a:lnTo>
                    <a:pt x="43" y="17"/>
                  </a:lnTo>
                  <a:lnTo>
                    <a:pt x="45" y="22"/>
                  </a:lnTo>
                  <a:lnTo>
                    <a:pt x="49" y="27"/>
                  </a:lnTo>
                  <a:lnTo>
                    <a:pt x="51" y="31"/>
                  </a:lnTo>
                  <a:lnTo>
                    <a:pt x="54" y="37"/>
                  </a:lnTo>
                  <a:lnTo>
                    <a:pt x="55" y="41"/>
                  </a:lnTo>
                  <a:lnTo>
                    <a:pt x="56" y="46"/>
                  </a:lnTo>
                  <a:lnTo>
                    <a:pt x="56" y="52"/>
                  </a:lnTo>
                  <a:lnTo>
                    <a:pt x="56" y="57"/>
                  </a:lnTo>
                  <a:lnTo>
                    <a:pt x="56" y="64"/>
                  </a:lnTo>
                  <a:lnTo>
                    <a:pt x="55" y="68"/>
                  </a:lnTo>
                  <a:lnTo>
                    <a:pt x="52" y="74"/>
                  </a:lnTo>
                  <a:lnTo>
                    <a:pt x="51" y="79"/>
                  </a:lnTo>
                  <a:lnTo>
                    <a:pt x="48" y="84"/>
                  </a:lnTo>
                  <a:lnTo>
                    <a:pt x="45" y="88"/>
                  </a:lnTo>
                  <a:lnTo>
                    <a:pt x="42" y="92"/>
                  </a:lnTo>
                  <a:lnTo>
                    <a:pt x="39" y="96"/>
                  </a:lnTo>
                  <a:lnTo>
                    <a:pt x="34" y="99"/>
                  </a:lnTo>
                  <a:lnTo>
                    <a:pt x="30" y="101"/>
                  </a:lnTo>
                  <a:lnTo>
                    <a:pt x="26" y="104"/>
                  </a:lnTo>
                  <a:lnTo>
                    <a:pt x="21" y="107"/>
                  </a:lnTo>
                  <a:lnTo>
                    <a:pt x="15" y="108"/>
                  </a:lnTo>
                  <a:lnTo>
                    <a:pt x="11" y="110"/>
                  </a:lnTo>
                  <a:lnTo>
                    <a:pt x="5" y="110"/>
                  </a:lnTo>
                  <a:lnTo>
                    <a:pt x="0" y="110"/>
                  </a:lnTo>
                  <a:lnTo>
                    <a:pt x="6" y="110"/>
                  </a:lnTo>
                  <a:lnTo>
                    <a:pt x="12" y="111"/>
                  </a:lnTo>
                  <a:lnTo>
                    <a:pt x="16" y="111"/>
                  </a:lnTo>
                  <a:lnTo>
                    <a:pt x="21" y="114"/>
                  </a:lnTo>
                  <a:lnTo>
                    <a:pt x="27" y="115"/>
                  </a:lnTo>
                  <a:lnTo>
                    <a:pt x="30" y="118"/>
                  </a:lnTo>
                  <a:lnTo>
                    <a:pt x="35" y="121"/>
                  </a:lnTo>
                  <a:lnTo>
                    <a:pt x="39" y="125"/>
                  </a:lnTo>
                  <a:lnTo>
                    <a:pt x="43" y="128"/>
                  </a:lnTo>
                  <a:lnTo>
                    <a:pt x="45" y="132"/>
                  </a:lnTo>
                  <a:lnTo>
                    <a:pt x="49" y="137"/>
                  </a:lnTo>
                  <a:lnTo>
                    <a:pt x="51" y="141"/>
                  </a:lnTo>
                  <a:lnTo>
                    <a:pt x="54" y="147"/>
                  </a:lnTo>
                  <a:lnTo>
                    <a:pt x="55" y="151"/>
                  </a:lnTo>
                  <a:lnTo>
                    <a:pt x="56" y="156"/>
                  </a:lnTo>
                  <a:lnTo>
                    <a:pt x="56" y="162"/>
                  </a:lnTo>
                  <a:lnTo>
                    <a:pt x="56" y="167"/>
                  </a:lnTo>
                  <a:lnTo>
                    <a:pt x="56" y="174"/>
                  </a:lnTo>
                  <a:lnTo>
                    <a:pt x="55" y="178"/>
                  </a:lnTo>
                  <a:lnTo>
                    <a:pt x="52" y="184"/>
                  </a:lnTo>
                  <a:lnTo>
                    <a:pt x="51" y="189"/>
                  </a:lnTo>
                  <a:lnTo>
                    <a:pt x="48" y="194"/>
                  </a:lnTo>
                  <a:lnTo>
                    <a:pt x="45" y="198"/>
                  </a:lnTo>
                  <a:lnTo>
                    <a:pt x="42" y="202"/>
                  </a:lnTo>
                  <a:lnTo>
                    <a:pt x="39" y="206"/>
                  </a:lnTo>
                  <a:lnTo>
                    <a:pt x="34" y="209"/>
                  </a:lnTo>
                  <a:lnTo>
                    <a:pt x="30" y="212"/>
                  </a:lnTo>
                  <a:lnTo>
                    <a:pt x="26" y="214"/>
                  </a:lnTo>
                  <a:lnTo>
                    <a:pt x="21" y="217"/>
                  </a:lnTo>
                  <a:lnTo>
                    <a:pt x="15" y="218"/>
                  </a:lnTo>
                  <a:lnTo>
                    <a:pt x="11" y="220"/>
                  </a:lnTo>
                  <a:lnTo>
                    <a:pt x="5" y="220"/>
                  </a:lnTo>
                  <a:lnTo>
                    <a:pt x="0" y="220"/>
                  </a:lnTo>
                  <a:lnTo>
                    <a:pt x="6" y="220"/>
                  </a:lnTo>
                  <a:lnTo>
                    <a:pt x="12" y="221"/>
                  </a:lnTo>
                  <a:lnTo>
                    <a:pt x="16" y="221"/>
                  </a:lnTo>
                  <a:lnTo>
                    <a:pt x="21" y="224"/>
                  </a:lnTo>
                  <a:lnTo>
                    <a:pt x="27" y="225"/>
                  </a:lnTo>
                  <a:lnTo>
                    <a:pt x="30" y="228"/>
                  </a:lnTo>
                  <a:lnTo>
                    <a:pt x="35" y="231"/>
                  </a:lnTo>
                  <a:lnTo>
                    <a:pt x="39" y="235"/>
                  </a:lnTo>
                  <a:lnTo>
                    <a:pt x="43" y="238"/>
                  </a:lnTo>
                  <a:lnTo>
                    <a:pt x="45" y="242"/>
                  </a:lnTo>
                  <a:lnTo>
                    <a:pt x="49" y="247"/>
                  </a:lnTo>
                  <a:lnTo>
                    <a:pt x="51" y="251"/>
                  </a:lnTo>
                  <a:lnTo>
                    <a:pt x="54" y="257"/>
                  </a:lnTo>
                  <a:lnTo>
                    <a:pt x="55" y="261"/>
                  </a:lnTo>
                  <a:lnTo>
                    <a:pt x="56" y="267"/>
                  </a:lnTo>
                  <a:lnTo>
                    <a:pt x="56" y="272"/>
                  </a:lnTo>
                  <a:lnTo>
                    <a:pt x="56" y="278"/>
                  </a:lnTo>
                  <a:lnTo>
                    <a:pt x="56" y="284"/>
                  </a:lnTo>
                  <a:lnTo>
                    <a:pt x="55" y="289"/>
                  </a:lnTo>
                  <a:lnTo>
                    <a:pt x="52" y="294"/>
                  </a:lnTo>
                  <a:lnTo>
                    <a:pt x="51" y="300"/>
                  </a:lnTo>
                  <a:lnTo>
                    <a:pt x="48" y="304"/>
                  </a:lnTo>
                  <a:lnTo>
                    <a:pt x="45" y="308"/>
                  </a:lnTo>
                  <a:lnTo>
                    <a:pt x="42" y="312"/>
                  </a:lnTo>
                  <a:lnTo>
                    <a:pt x="39" y="316"/>
                  </a:lnTo>
                  <a:lnTo>
                    <a:pt x="34" y="319"/>
                  </a:lnTo>
                  <a:lnTo>
                    <a:pt x="30" y="322"/>
                  </a:lnTo>
                  <a:lnTo>
                    <a:pt x="26" y="324"/>
                  </a:lnTo>
                  <a:lnTo>
                    <a:pt x="21" y="327"/>
                  </a:lnTo>
                  <a:lnTo>
                    <a:pt x="15" y="328"/>
                  </a:lnTo>
                  <a:lnTo>
                    <a:pt x="11" y="330"/>
                  </a:lnTo>
                  <a:lnTo>
                    <a:pt x="5" y="330"/>
                  </a:lnTo>
                  <a:lnTo>
                    <a:pt x="0" y="330"/>
                  </a:lnTo>
                  <a:lnTo>
                    <a:pt x="6" y="330"/>
                  </a:lnTo>
                  <a:lnTo>
                    <a:pt x="12" y="331"/>
                  </a:lnTo>
                  <a:lnTo>
                    <a:pt x="16" y="331"/>
                  </a:lnTo>
                  <a:lnTo>
                    <a:pt x="21" y="334"/>
                  </a:lnTo>
                  <a:lnTo>
                    <a:pt x="27" y="335"/>
                  </a:lnTo>
                  <a:lnTo>
                    <a:pt x="30" y="338"/>
                  </a:lnTo>
                  <a:lnTo>
                    <a:pt x="35" y="341"/>
                  </a:lnTo>
                  <a:lnTo>
                    <a:pt x="39" y="345"/>
                  </a:lnTo>
                  <a:lnTo>
                    <a:pt x="43" y="348"/>
                  </a:lnTo>
                  <a:lnTo>
                    <a:pt x="45" y="352"/>
                  </a:lnTo>
                  <a:lnTo>
                    <a:pt x="49" y="357"/>
                  </a:lnTo>
                  <a:lnTo>
                    <a:pt x="51" y="362"/>
                  </a:lnTo>
                  <a:lnTo>
                    <a:pt x="54" y="367"/>
                  </a:lnTo>
                  <a:lnTo>
                    <a:pt x="55" y="371"/>
                  </a:lnTo>
                  <a:lnTo>
                    <a:pt x="56" y="377"/>
                  </a:lnTo>
                  <a:lnTo>
                    <a:pt x="56" y="382"/>
                  </a:lnTo>
                  <a:lnTo>
                    <a:pt x="56" y="388"/>
                  </a:lnTo>
                  <a:lnTo>
                    <a:pt x="56" y="395"/>
                  </a:lnTo>
                  <a:lnTo>
                    <a:pt x="55" y="399"/>
                  </a:lnTo>
                  <a:lnTo>
                    <a:pt x="52" y="404"/>
                  </a:lnTo>
                  <a:lnTo>
                    <a:pt x="51" y="410"/>
                  </a:lnTo>
                  <a:lnTo>
                    <a:pt x="48" y="414"/>
                  </a:lnTo>
                  <a:lnTo>
                    <a:pt x="45" y="418"/>
                  </a:lnTo>
                  <a:lnTo>
                    <a:pt x="42" y="422"/>
                  </a:lnTo>
                  <a:lnTo>
                    <a:pt x="39" y="426"/>
                  </a:lnTo>
                  <a:lnTo>
                    <a:pt x="34" y="429"/>
                  </a:lnTo>
                  <a:lnTo>
                    <a:pt x="30" y="432"/>
                  </a:lnTo>
                  <a:lnTo>
                    <a:pt x="26" y="434"/>
                  </a:lnTo>
                  <a:lnTo>
                    <a:pt x="21" y="437"/>
                  </a:lnTo>
                  <a:lnTo>
                    <a:pt x="15" y="439"/>
                  </a:lnTo>
                  <a:lnTo>
                    <a:pt x="11" y="440"/>
                  </a:lnTo>
                  <a:lnTo>
                    <a:pt x="5" y="440"/>
                  </a:lnTo>
                  <a:lnTo>
                    <a:pt x="0" y="440"/>
                  </a:lnTo>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090" name="Line 168"/>
            <p:cNvSpPr/>
            <p:nvPr/>
          </p:nvSpPr>
          <p:spPr>
            <a:xfrm flipH="1">
              <a:off x="2503" y="2861"/>
              <a:ext cx="111" cy="1"/>
            </a:xfrm>
            <a:prstGeom prst="line">
              <a:avLst/>
            </a:prstGeom>
            <a:ln w="38100" cap="flat" cmpd="sng">
              <a:solidFill>
                <a:schemeClr val="bg1"/>
              </a:solidFill>
              <a:prstDash val="solid"/>
              <a:headEnd type="none" w="med" len="med"/>
              <a:tailEnd type="none" w="med" len="med"/>
            </a:ln>
          </p:spPr>
        </p:sp>
        <p:sp>
          <p:nvSpPr>
            <p:cNvPr id="45091" name="Line 169"/>
            <p:cNvSpPr/>
            <p:nvPr/>
          </p:nvSpPr>
          <p:spPr>
            <a:xfrm flipH="1">
              <a:off x="2447" y="2861"/>
              <a:ext cx="56" cy="1"/>
            </a:xfrm>
            <a:prstGeom prst="line">
              <a:avLst/>
            </a:prstGeom>
            <a:ln w="38100" cap="flat" cmpd="sng">
              <a:solidFill>
                <a:schemeClr val="bg1"/>
              </a:solidFill>
              <a:prstDash val="solid"/>
              <a:headEnd type="none" w="med" len="med"/>
              <a:tailEnd type="none" w="med" len="med"/>
            </a:ln>
          </p:spPr>
        </p:sp>
        <p:sp>
          <p:nvSpPr>
            <p:cNvPr id="45092" name="Rectangle 170"/>
            <p:cNvSpPr/>
            <p:nvPr/>
          </p:nvSpPr>
          <p:spPr>
            <a:xfrm>
              <a:off x="3127" y="2065"/>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解调器</a:t>
              </a:r>
              <a:endParaRPr lang="zh-CN" altLang="en-US" sz="2400" b="1" dirty="0">
                <a:solidFill>
                  <a:schemeClr val="bg1"/>
                </a:solidFill>
                <a:latin typeface="宋体" panose="02010600030101010101" pitchFamily="2" charset="-122"/>
              </a:endParaRPr>
            </a:p>
          </p:txBody>
        </p:sp>
        <p:sp>
          <p:nvSpPr>
            <p:cNvPr id="45093" name="Line 171"/>
            <p:cNvSpPr/>
            <p:nvPr/>
          </p:nvSpPr>
          <p:spPr>
            <a:xfrm>
              <a:off x="2959" y="2065"/>
              <a:ext cx="150" cy="1"/>
            </a:xfrm>
            <a:prstGeom prst="line">
              <a:avLst/>
            </a:prstGeom>
            <a:ln w="38100" cap="flat" cmpd="sng">
              <a:solidFill>
                <a:schemeClr val="bg1"/>
              </a:solidFill>
              <a:prstDash val="solid"/>
              <a:headEnd type="none" w="med" len="med"/>
              <a:tailEnd type="none" w="med" len="med"/>
            </a:ln>
          </p:spPr>
        </p:sp>
        <p:sp>
          <p:nvSpPr>
            <p:cNvPr id="45094" name="Freeform 172"/>
            <p:cNvSpPr/>
            <p:nvPr/>
          </p:nvSpPr>
          <p:spPr>
            <a:xfrm>
              <a:off x="2893" y="2861"/>
              <a:ext cx="55" cy="440"/>
            </a:xfrm>
            <a:custGeom>
              <a:avLst/>
              <a:gdLst>
                <a:gd name="txL" fmla="*/ 0 w 55"/>
                <a:gd name="txT" fmla="*/ 0 h 440"/>
                <a:gd name="txR" fmla="*/ 55 w 55"/>
                <a:gd name="txB" fmla="*/ 440 h 440"/>
              </a:gdLst>
              <a:ahLst/>
              <a:cxnLst>
                <a:cxn ang="0">
                  <a:pos x="45" y="1"/>
                </a:cxn>
                <a:cxn ang="0">
                  <a:pos x="30" y="5"/>
                </a:cxn>
                <a:cxn ang="0">
                  <a:pos x="17" y="15"/>
                </a:cxn>
                <a:cxn ang="0">
                  <a:pos x="8" y="27"/>
                </a:cxn>
                <a:cxn ang="0">
                  <a:pos x="2" y="41"/>
                </a:cxn>
                <a:cxn ang="0">
                  <a:pos x="0" y="57"/>
                </a:cxn>
                <a:cxn ang="0">
                  <a:pos x="3" y="74"/>
                </a:cxn>
                <a:cxn ang="0">
                  <a:pos x="11" y="88"/>
                </a:cxn>
                <a:cxn ang="0">
                  <a:pos x="22" y="99"/>
                </a:cxn>
                <a:cxn ang="0">
                  <a:pos x="36" y="107"/>
                </a:cxn>
                <a:cxn ang="0">
                  <a:pos x="52" y="110"/>
                </a:cxn>
                <a:cxn ang="0">
                  <a:pos x="45" y="111"/>
                </a:cxn>
                <a:cxn ang="0">
                  <a:pos x="30" y="115"/>
                </a:cxn>
                <a:cxn ang="0">
                  <a:pos x="17" y="125"/>
                </a:cxn>
                <a:cxn ang="0">
                  <a:pos x="8" y="137"/>
                </a:cxn>
                <a:cxn ang="0">
                  <a:pos x="2" y="151"/>
                </a:cxn>
                <a:cxn ang="0">
                  <a:pos x="0" y="167"/>
                </a:cxn>
                <a:cxn ang="0">
                  <a:pos x="3" y="184"/>
                </a:cxn>
                <a:cxn ang="0">
                  <a:pos x="11" y="198"/>
                </a:cxn>
                <a:cxn ang="0">
                  <a:pos x="22" y="209"/>
                </a:cxn>
                <a:cxn ang="0">
                  <a:pos x="36" y="217"/>
                </a:cxn>
                <a:cxn ang="0">
                  <a:pos x="52" y="220"/>
                </a:cxn>
                <a:cxn ang="0">
                  <a:pos x="45" y="221"/>
                </a:cxn>
                <a:cxn ang="0">
                  <a:pos x="30" y="225"/>
                </a:cxn>
                <a:cxn ang="0">
                  <a:pos x="17" y="235"/>
                </a:cxn>
                <a:cxn ang="0">
                  <a:pos x="8" y="247"/>
                </a:cxn>
                <a:cxn ang="0">
                  <a:pos x="2" y="261"/>
                </a:cxn>
                <a:cxn ang="0">
                  <a:pos x="0" y="278"/>
                </a:cxn>
                <a:cxn ang="0">
                  <a:pos x="3" y="294"/>
                </a:cxn>
                <a:cxn ang="0">
                  <a:pos x="11" y="308"/>
                </a:cxn>
                <a:cxn ang="0">
                  <a:pos x="22" y="319"/>
                </a:cxn>
                <a:cxn ang="0">
                  <a:pos x="36" y="327"/>
                </a:cxn>
                <a:cxn ang="0">
                  <a:pos x="52" y="330"/>
                </a:cxn>
                <a:cxn ang="0">
                  <a:pos x="45" y="331"/>
                </a:cxn>
                <a:cxn ang="0">
                  <a:pos x="30" y="335"/>
                </a:cxn>
                <a:cxn ang="0">
                  <a:pos x="17" y="345"/>
                </a:cxn>
                <a:cxn ang="0">
                  <a:pos x="8" y="357"/>
                </a:cxn>
                <a:cxn ang="0">
                  <a:pos x="2" y="371"/>
                </a:cxn>
                <a:cxn ang="0">
                  <a:pos x="0" y="388"/>
                </a:cxn>
                <a:cxn ang="0">
                  <a:pos x="3" y="404"/>
                </a:cxn>
                <a:cxn ang="0">
                  <a:pos x="11" y="418"/>
                </a:cxn>
                <a:cxn ang="0">
                  <a:pos x="22" y="429"/>
                </a:cxn>
                <a:cxn ang="0">
                  <a:pos x="36" y="437"/>
                </a:cxn>
                <a:cxn ang="0">
                  <a:pos x="52" y="440"/>
                </a:cxn>
              </a:cxnLst>
              <a:rect l="txL" t="txT" r="txR" b="txB"/>
              <a:pathLst>
                <a:path w="55" h="440">
                  <a:moveTo>
                    <a:pt x="55" y="0"/>
                  </a:moveTo>
                  <a:lnTo>
                    <a:pt x="51" y="0"/>
                  </a:lnTo>
                  <a:lnTo>
                    <a:pt x="45" y="1"/>
                  </a:lnTo>
                  <a:lnTo>
                    <a:pt x="40" y="1"/>
                  </a:lnTo>
                  <a:lnTo>
                    <a:pt x="35" y="4"/>
                  </a:lnTo>
                  <a:lnTo>
                    <a:pt x="30" y="5"/>
                  </a:lnTo>
                  <a:lnTo>
                    <a:pt x="25" y="8"/>
                  </a:lnTo>
                  <a:lnTo>
                    <a:pt x="22" y="11"/>
                  </a:lnTo>
                  <a:lnTo>
                    <a:pt x="17" y="15"/>
                  </a:lnTo>
                  <a:lnTo>
                    <a:pt x="14" y="17"/>
                  </a:lnTo>
                  <a:lnTo>
                    <a:pt x="10" y="22"/>
                  </a:lnTo>
                  <a:lnTo>
                    <a:pt x="8" y="27"/>
                  </a:lnTo>
                  <a:lnTo>
                    <a:pt x="6" y="31"/>
                  </a:lnTo>
                  <a:lnTo>
                    <a:pt x="3" y="37"/>
                  </a:lnTo>
                  <a:lnTo>
                    <a:pt x="2" y="41"/>
                  </a:lnTo>
                  <a:lnTo>
                    <a:pt x="1" y="46"/>
                  </a:lnTo>
                  <a:lnTo>
                    <a:pt x="0" y="52"/>
                  </a:lnTo>
                  <a:lnTo>
                    <a:pt x="0" y="57"/>
                  </a:lnTo>
                  <a:lnTo>
                    <a:pt x="1" y="64"/>
                  </a:lnTo>
                  <a:lnTo>
                    <a:pt x="2" y="68"/>
                  </a:lnTo>
                  <a:lnTo>
                    <a:pt x="3" y="74"/>
                  </a:lnTo>
                  <a:lnTo>
                    <a:pt x="6" y="79"/>
                  </a:lnTo>
                  <a:lnTo>
                    <a:pt x="8" y="84"/>
                  </a:lnTo>
                  <a:lnTo>
                    <a:pt x="11" y="88"/>
                  </a:lnTo>
                  <a:lnTo>
                    <a:pt x="15" y="92"/>
                  </a:lnTo>
                  <a:lnTo>
                    <a:pt x="18" y="96"/>
                  </a:lnTo>
                  <a:lnTo>
                    <a:pt x="22" y="99"/>
                  </a:lnTo>
                  <a:lnTo>
                    <a:pt x="26" y="101"/>
                  </a:lnTo>
                  <a:lnTo>
                    <a:pt x="31" y="104"/>
                  </a:lnTo>
                  <a:lnTo>
                    <a:pt x="36" y="107"/>
                  </a:lnTo>
                  <a:lnTo>
                    <a:pt x="40" y="108"/>
                  </a:lnTo>
                  <a:lnTo>
                    <a:pt x="46" y="110"/>
                  </a:lnTo>
                  <a:lnTo>
                    <a:pt x="52" y="110"/>
                  </a:lnTo>
                  <a:lnTo>
                    <a:pt x="55" y="110"/>
                  </a:lnTo>
                  <a:lnTo>
                    <a:pt x="51" y="110"/>
                  </a:lnTo>
                  <a:lnTo>
                    <a:pt x="45" y="111"/>
                  </a:lnTo>
                  <a:lnTo>
                    <a:pt x="40" y="111"/>
                  </a:lnTo>
                  <a:lnTo>
                    <a:pt x="35" y="114"/>
                  </a:lnTo>
                  <a:lnTo>
                    <a:pt x="30" y="115"/>
                  </a:lnTo>
                  <a:lnTo>
                    <a:pt x="25" y="118"/>
                  </a:lnTo>
                  <a:lnTo>
                    <a:pt x="22" y="121"/>
                  </a:lnTo>
                  <a:lnTo>
                    <a:pt x="17" y="125"/>
                  </a:lnTo>
                  <a:lnTo>
                    <a:pt x="14" y="128"/>
                  </a:lnTo>
                  <a:lnTo>
                    <a:pt x="10" y="132"/>
                  </a:lnTo>
                  <a:lnTo>
                    <a:pt x="8" y="137"/>
                  </a:lnTo>
                  <a:lnTo>
                    <a:pt x="6" y="141"/>
                  </a:lnTo>
                  <a:lnTo>
                    <a:pt x="3" y="147"/>
                  </a:lnTo>
                  <a:lnTo>
                    <a:pt x="2" y="151"/>
                  </a:lnTo>
                  <a:lnTo>
                    <a:pt x="1" y="156"/>
                  </a:lnTo>
                  <a:lnTo>
                    <a:pt x="0" y="162"/>
                  </a:lnTo>
                  <a:lnTo>
                    <a:pt x="0" y="167"/>
                  </a:lnTo>
                  <a:lnTo>
                    <a:pt x="1" y="174"/>
                  </a:lnTo>
                  <a:lnTo>
                    <a:pt x="2" y="178"/>
                  </a:lnTo>
                  <a:lnTo>
                    <a:pt x="3" y="184"/>
                  </a:lnTo>
                  <a:lnTo>
                    <a:pt x="6" y="189"/>
                  </a:lnTo>
                  <a:lnTo>
                    <a:pt x="8" y="194"/>
                  </a:lnTo>
                  <a:lnTo>
                    <a:pt x="11" y="198"/>
                  </a:lnTo>
                  <a:lnTo>
                    <a:pt x="15" y="202"/>
                  </a:lnTo>
                  <a:lnTo>
                    <a:pt x="18" y="206"/>
                  </a:lnTo>
                  <a:lnTo>
                    <a:pt x="22" y="209"/>
                  </a:lnTo>
                  <a:lnTo>
                    <a:pt x="26" y="212"/>
                  </a:lnTo>
                  <a:lnTo>
                    <a:pt x="31" y="214"/>
                  </a:lnTo>
                  <a:lnTo>
                    <a:pt x="36" y="217"/>
                  </a:lnTo>
                  <a:lnTo>
                    <a:pt x="40" y="218"/>
                  </a:lnTo>
                  <a:lnTo>
                    <a:pt x="46" y="220"/>
                  </a:lnTo>
                  <a:lnTo>
                    <a:pt x="52" y="220"/>
                  </a:lnTo>
                  <a:lnTo>
                    <a:pt x="55" y="220"/>
                  </a:lnTo>
                  <a:lnTo>
                    <a:pt x="51" y="220"/>
                  </a:lnTo>
                  <a:lnTo>
                    <a:pt x="45" y="221"/>
                  </a:lnTo>
                  <a:lnTo>
                    <a:pt x="40" y="221"/>
                  </a:lnTo>
                  <a:lnTo>
                    <a:pt x="35" y="224"/>
                  </a:lnTo>
                  <a:lnTo>
                    <a:pt x="30" y="225"/>
                  </a:lnTo>
                  <a:lnTo>
                    <a:pt x="25" y="228"/>
                  </a:lnTo>
                  <a:lnTo>
                    <a:pt x="22" y="231"/>
                  </a:lnTo>
                  <a:lnTo>
                    <a:pt x="17" y="235"/>
                  </a:lnTo>
                  <a:lnTo>
                    <a:pt x="14" y="238"/>
                  </a:lnTo>
                  <a:lnTo>
                    <a:pt x="10" y="242"/>
                  </a:lnTo>
                  <a:lnTo>
                    <a:pt x="8" y="247"/>
                  </a:lnTo>
                  <a:lnTo>
                    <a:pt x="6" y="251"/>
                  </a:lnTo>
                  <a:lnTo>
                    <a:pt x="3" y="257"/>
                  </a:lnTo>
                  <a:lnTo>
                    <a:pt x="2" y="261"/>
                  </a:lnTo>
                  <a:lnTo>
                    <a:pt x="1" y="267"/>
                  </a:lnTo>
                  <a:lnTo>
                    <a:pt x="0" y="272"/>
                  </a:lnTo>
                  <a:lnTo>
                    <a:pt x="0" y="278"/>
                  </a:lnTo>
                  <a:lnTo>
                    <a:pt x="1" y="284"/>
                  </a:lnTo>
                  <a:lnTo>
                    <a:pt x="2" y="289"/>
                  </a:lnTo>
                  <a:lnTo>
                    <a:pt x="3" y="294"/>
                  </a:lnTo>
                  <a:lnTo>
                    <a:pt x="6" y="300"/>
                  </a:lnTo>
                  <a:lnTo>
                    <a:pt x="8" y="304"/>
                  </a:lnTo>
                  <a:lnTo>
                    <a:pt x="11" y="308"/>
                  </a:lnTo>
                  <a:lnTo>
                    <a:pt x="15" y="312"/>
                  </a:lnTo>
                  <a:lnTo>
                    <a:pt x="18" y="316"/>
                  </a:lnTo>
                  <a:lnTo>
                    <a:pt x="22" y="319"/>
                  </a:lnTo>
                  <a:lnTo>
                    <a:pt x="26" y="322"/>
                  </a:lnTo>
                  <a:lnTo>
                    <a:pt x="31" y="324"/>
                  </a:lnTo>
                  <a:lnTo>
                    <a:pt x="36" y="327"/>
                  </a:lnTo>
                  <a:lnTo>
                    <a:pt x="40" y="328"/>
                  </a:lnTo>
                  <a:lnTo>
                    <a:pt x="46" y="330"/>
                  </a:lnTo>
                  <a:lnTo>
                    <a:pt x="52" y="330"/>
                  </a:lnTo>
                  <a:lnTo>
                    <a:pt x="55" y="330"/>
                  </a:lnTo>
                  <a:lnTo>
                    <a:pt x="51" y="330"/>
                  </a:lnTo>
                  <a:lnTo>
                    <a:pt x="45" y="331"/>
                  </a:lnTo>
                  <a:lnTo>
                    <a:pt x="40" y="331"/>
                  </a:lnTo>
                  <a:lnTo>
                    <a:pt x="35" y="334"/>
                  </a:lnTo>
                  <a:lnTo>
                    <a:pt x="30" y="335"/>
                  </a:lnTo>
                  <a:lnTo>
                    <a:pt x="25" y="338"/>
                  </a:lnTo>
                  <a:lnTo>
                    <a:pt x="22" y="341"/>
                  </a:lnTo>
                  <a:lnTo>
                    <a:pt x="17" y="345"/>
                  </a:lnTo>
                  <a:lnTo>
                    <a:pt x="14" y="348"/>
                  </a:lnTo>
                  <a:lnTo>
                    <a:pt x="10" y="352"/>
                  </a:lnTo>
                  <a:lnTo>
                    <a:pt x="8" y="357"/>
                  </a:lnTo>
                  <a:lnTo>
                    <a:pt x="6" y="362"/>
                  </a:lnTo>
                  <a:lnTo>
                    <a:pt x="3" y="367"/>
                  </a:lnTo>
                  <a:lnTo>
                    <a:pt x="2" y="371"/>
                  </a:lnTo>
                  <a:lnTo>
                    <a:pt x="1" y="377"/>
                  </a:lnTo>
                  <a:lnTo>
                    <a:pt x="0" y="382"/>
                  </a:lnTo>
                  <a:lnTo>
                    <a:pt x="0" y="388"/>
                  </a:lnTo>
                  <a:lnTo>
                    <a:pt x="1" y="395"/>
                  </a:lnTo>
                  <a:lnTo>
                    <a:pt x="2" y="399"/>
                  </a:lnTo>
                  <a:lnTo>
                    <a:pt x="3" y="404"/>
                  </a:lnTo>
                  <a:lnTo>
                    <a:pt x="6" y="410"/>
                  </a:lnTo>
                  <a:lnTo>
                    <a:pt x="8" y="414"/>
                  </a:lnTo>
                  <a:lnTo>
                    <a:pt x="11" y="418"/>
                  </a:lnTo>
                  <a:lnTo>
                    <a:pt x="15" y="422"/>
                  </a:lnTo>
                  <a:lnTo>
                    <a:pt x="18" y="426"/>
                  </a:lnTo>
                  <a:lnTo>
                    <a:pt x="22" y="429"/>
                  </a:lnTo>
                  <a:lnTo>
                    <a:pt x="26" y="432"/>
                  </a:lnTo>
                  <a:lnTo>
                    <a:pt x="31" y="434"/>
                  </a:lnTo>
                  <a:lnTo>
                    <a:pt x="36" y="437"/>
                  </a:lnTo>
                  <a:lnTo>
                    <a:pt x="40" y="439"/>
                  </a:lnTo>
                  <a:lnTo>
                    <a:pt x="46" y="440"/>
                  </a:lnTo>
                  <a:lnTo>
                    <a:pt x="52" y="440"/>
                  </a:lnTo>
                  <a:lnTo>
                    <a:pt x="55" y="440"/>
                  </a:lnTo>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095" name="Line 173"/>
            <p:cNvSpPr/>
            <p:nvPr/>
          </p:nvSpPr>
          <p:spPr>
            <a:xfrm>
              <a:off x="2948" y="2861"/>
              <a:ext cx="112" cy="1"/>
            </a:xfrm>
            <a:prstGeom prst="line">
              <a:avLst/>
            </a:prstGeom>
            <a:ln w="38100" cap="flat" cmpd="sng">
              <a:solidFill>
                <a:schemeClr val="bg1"/>
              </a:solidFill>
              <a:prstDash val="solid"/>
              <a:headEnd type="none" w="med" len="med"/>
              <a:tailEnd type="none" w="med" len="med"/>
            </a:ln>
          </p:spPr>
        </p:sp>
        <p:sp>
          <p:nvSpPr>
            <p:cNvPr id="45096" name="Rectangle 174"/>
            <p:cNvSpPr/>
            <p:nvPr/>
          </p:nvSpPr>
          <p:spPr>
            <a:xfrm>
              <a:off x="3109" y="2817"/>
              <a:ext cx="668" cy="52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097" name="Rectangle 175"/>
            <p:cNvSpPr/>
            <p:nvPr/>
          </p:nvSpPr>
          <p:spPr>
            <a:xfrm>
              <a:off x="3163" y="2934"/>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振荡器</a:t>
              </a:r>
              <a:endParaRPr lang="zh-CN" altLang="en-US" sz="2400" b="1" dirty="0">
                <a:solidFill>
                  <a:schemeClr val="bg1"/>
                </a:solidFill>
                <a:latin typeface="宋体" panose="02010600030101010101" pitchFamily="2" charset="-122"/>
              </a:endParaRPr>
            </a:p>
          </p:txBody>
        </p:sp>
        <p:sp>
          <p:nvSpPr>
            <p:cNvPr id="45098" name="Line 176"/>
            <p:cNvSpPr/>
            <p:nvPr/>
          </p:nvSpPr>
          <p:spPr>
            <a:xfrm flipH="1">
              <a:off x="3053" y="2861"/>
              <a:ext cx="56" cy="1"/>
            </a:xfrm>
            <a:prstGeom prst="line">
              <a:avLst/>
            </a:prstGeom>
            <a:ln w="38100" cap="flat" cmpd="sng">
              <a:solidFill>
                <a:schemeClr val="bg1"/>
              </a:solidFill>
              <a:prstDash val="solid"/>
              <a:headEnd type="none" w="med" len="med"/>
              <a:tailEnd type="none" w="med" len="med"/>
            </a:ln>
          </p:spPr>
        </p:sp>
        <p:sp>
          <p:nvSpPr>
            <p:cNvPr id="45099" name="Rectangle 177"/>
            <p:cNvSpPr/>
            <p:nvPr/>
          </p:nvSpPr>
          <p:spPr>
            <a:xfrm>
              <a:off x="3903" y="2065"/>
              <a:ext cx="250" cy="8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00" name="Line 178"/>
            <p:cNvSpPr/>
            <p:nvPr/>
          </p:nvSpPr>
          <p:spPr>
            <a:xfrm>
              <a:off x="3710" y="2112"/>
              <a:ext cx="201" cy="1"/>
            </a:xfrm>
            <a:prstGeom prst="line">
              <a:avLst/>
            </a:prstGeom>
            <a:ln w="38100" cap="flat" cmpd="sng">
              <a:solidFill>
                <a:schemeClr val="bg1"/>
              </a:solidFill>
              <a:prstDash val="solid"/>
              <a:headEnd type="none" w="med" len="med"/>
              <a:tailEnd type="none" w="med" len="med"/>
            </a:ln>
          </p:spPr>
        </p:sp>
        <p:sp>
          <p:nvSpPr>
            <p:cNvPr id="45101" name="Line 179"/>
            <p:cNvSpPr/>
            <p:nvPr/>
          </p:nvSpPr>
          <p:spPr>
            <a:xfrm>
              <a:off x="4146" y="2110"/>
              <a:ext cx="193" cy="0"/>
            </a:xfrm>
            <a:prstGeom prst="line">
              <a:avLst/>
            </a:prstGeom>
            <a:ln w="38100" cap="flat" cmpd="sng">
              <a:solidFill>
                <a:schemeClr val="bg1"/>
              </a:solidFill>
              <a:prstDash val="solid"/>
              <a:headEnd type="none" w="med" len="med"/>
              <a:tailEnd type="none" w="med" len="med"/>
            </a:ln>
          </p:spPr>
        </p:sp>
        <p:sp>
          <p:nvSpPr>
            <p:cNvPr id="45102" name="Line 180"/>
            <p:cNvSpPr/>
            <p:nvPr/>
          </p:nvSpPr>
          <p:spPr>
            <a:xfrm>
              <a:off x="3710" y="2288"/>
              <a:ext cx="631" cy="1"/>
            </a:xfrm>
            <a:prstGeom prst="line">
              <a:avLst/>
            </a:prstGeom>
            <a:ln w="38100" cap="flat" cmpd="sng">
              <a:solidFill>
                <a:schemeClr val="bg1"/>
              </a:solidFill>
              <a:prstDash val="solid"/>
              <a:headEnd type="none" w="med" len="med"/>
              <a:tailEnd type="none" w="med" len="med"/>
            </a:ln>
          </p:spPr>
        </p:sp>
        <p:sp>
          <p:nvSpPr>
            <p:cNvPr id="45103" name="Rectangle 181"/>
            <p:cNvSpPr/>
            <p:nvPr/>
          </p:nvSpPr>
          <p:spPr>
            <a:xfrm>
              <a:off x="4366" y="2196"/>
              <a:ext cx="105"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t>
              </a:r>
              <a:endParaRPr lang="en-US" altLang="zh-CN" sz="2300" b="1" dirty="0">
                <a:solidFill>
                  <a:schemeClr val="bg1"/>
                </a:solidFill>
                <a:latin typeface="Times New Roman" panose="02020603050405020304" pitchFamily="18" charset="0"/>
              </a:endParaRPr>
            </a:p>
          </p:txBody>
        </p:sp>
        <p:sp>
          <p:nvSpPr>
            <p:cNvPr id="45104" name="Rectangle 182"/>
            <p:cNvSpPr/>
            <p:nvPr/>
          </p:nvSpPr>
          <p:spPr>
            <a:xfrm>
              <a:off x="4379" y="1955"/>
              <a:ext cx="9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楷体_GB2312" pitchFamily="49" charset="-122"/>
                </a:rPr>
                <a:t>-</a:t>
              </a:r>
              <a:endParaRPr lang="en-US" altLang="zh-CN" sz="2300" b="1" dirty="0">
                <a:solidFill>
                  <a:schemeClr val="bg1"/>
                </a:solidFill>
                <a:latin typeface="楷体_GB2312" pitchFamily="49" charset="-122"/>
              </a:endParaRPr>
            </a:p>
          </p:txBody>
        </p:sp>
        <p:sp>
          <p:nvSpPr>
            <p:cNvPr id="45105" name="Rectangle 183"/>
            <p:cNvSpPr/>
            <p:nvPr/>
          </p:nvSpPr>
          <p:spPr>
            <a:xfrm>
              <a:off x="4598" y="2160"/>
              <a:ext cx="52" cy="125"/>
            </a:xfrm>
            <a:prstGeom prst="rect">
              <a:avLst/>
            </a:prstGeom>
            <a:noFill/>
            <a:ln w="38100">
              <a:noFill/>
            </a:ln>
          </p:spPr>
          <p:txBody>
            <a:bodyPr wrap="none" lIns="0" tIns="0" rIns="0" bIns="0">
              <a:spAutoFit/>
            </a:bodyPr>
            <a:p>
              <a:pPr algn="just" eaLnBrk="1" hangingPunct="1"/>
              <a:r>
                <a:rPr lang="en-US" altLang="zh-CN" sz="1300" b="1" dirty="0">
                  <a:solidFill>
                    <a:schemeClr val="bg1"/>
                  </a:solidFill>
                  <a:latin typeface="Times New Roman" panose="02020603050405020304" pitchFamily="18" charset="0"/>
                </a:rPr>
                <a:t>2</a:t>
              </a:r>
              <a:endParaRPr lang="en-US" altLang="zh-CN" sz="1300" b="1" dirty="0">
                <a:solidFill>
                  <a:schemeClr val="bg1"/>
                </a:solidFill>
                <a:latin typeface="Times New Roman" panose="02020603050405020304" pitchFamily="18" charset="0"/>
              </a:endParaRPr>
            </a:p>
          </p:txBody>
        </p:sp>
        <p:sp>
          <p:nvSpPr>
            <p:cNvPr id="45106" name="Rectangle 184"/>
            <p:cNvSpPr/>
            <p:nvPr/>
          </p:nvSpPr>
          <p:spPr>
            <a:xfrm>
              <a:off x="4453" y="2045"/>
              <a:ext cx="13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a:t>
              </a:r>
              <a:endParaRPr lang="en-US" altLang="zh-CN" sz="2300" b="1" dirty="0">
                <a:solidFill>
                  <a:schemeClr val="bg1"/>
                </a:solidFill>
                <a:latin typeface="Times New Roman" panose="02020603050405020304" pitchFamily="18" charset="0"/>
              </a:endParaRPr>
            </a:p>
          </p:txBody>
        </p:sp>
        <p:sp>
          <p:nvSpPr>
            <p:cNvPr id="45107" name="Line 185"/>
            <p:cNvSpPr/>
            <p:nvPr/>
          </p:nvSpPr>
          <p:spPr>
            <a:xfrm>
              <a:off x="4787" y="2200"/>
              <a:ext cx="420" cy="1"/>
            </a:xfrm>
            <a:prstGeom prst="line">
              <a:avLst/>
            </a:prstGeom>
            <a:ln w="38100" cap="flat" cmpd="sng">
              <a:solidFill>
                <a:schemeClr val="bg1"/>
              </a:solidFill>
              <a:prstDash val="solid"/>
              <a:headEnd type="none" w="med" len="med"/>
              <a:tailEnd type="none" w="med" len="med"/>
            </a:ln>
          </p:spPr>
        </p:sp>
        <p:sp>
          <p:nvSpPr>
            <p:cNvPr id="45108" name="Line 186"/>
            <p:cNvSpPr/>
            <p:nvPr/>
          </p:nvSpPr>
          <p:spPr>
            <a:xfrm>
              <a:off x="3777" y="3081"/>
              <a:ext cx="1433" cy="1"/>
            </a:xfrm>
            <a:prstGeom prst="line">
              <a:avLst/>
            </a:prstGeom>
            <a:ln w="38100" cap="flat" cmpd="sng">
              <a:solidFill>
                <a:schemeClr val="bg1"/>
              </a:solidFill>
              <a:prstDash val="solid"/>
              <a:headEnd type="none" w="med" len="med"/>
              <a:tailEnd type="none" w="med" len="med"/>
            </a:ln>
          </p:spPr>
        </p:sp>
        <p:sp>
          <p:nvSpPr>
            <p:cNvPr id="45109" name="Line 187"/>
            <p:cNvSpPr/>
            <p:nvPr/>
          </p:nvSpPr>
          <p:spPr>
            <a:xfrm flipV="1">
              <a:off x="4491" y="2376"/>
              <a:ext cx="0" cy="705"/>
            </a:xfrm>
            <a:prstGeom prst="line">
              <a:avLst/>
            </a:prstGeom>
            <a:ln w="38100" cap="flat" cmpd="sng">
              <a:solidFill>
                <a:schemeClr val="bg1"/>
              </a:solidFill>
              <a:prstDash val="solid"/>
              <a:headEnd type="none" w="med" len="med"/>
              <a:tailEnd type="arrow" w="med" len="med"/>
            </a:ln>
          </p:spPr>
        </p:sp>
        <p:sp>
          <p:nvSpPr>
            <p:cNvPr id="45110" name="Rectangle 188"/>
            <p:cNvSpPr/>
            <p:nvPr/>
          </p:nvSpPr>
          <p:spPr>
            <a:xfrm>
              <a:off x="1481" y="1609"/>
              <a:ext cx="772" cy="230"/>
            </a:xfrm>
            <a:prstGeom prst="rect">
              <a:avLst/>
            </a:prstGeom>
            <a:noFill/>
            <a:ln w="38100">
              <a:noFill/>
            </a:ln>
          </p:spPr>
          <p:txBody>
            <a:bodyPr wrap="none" lIns="0" tIns="0" rIns="0" bIns="0">
              <a:spAutoFit/>
            </a:bodyPr>
            <a:p>
              <a:pPr algn="just" eaLnBrk="1" hangingPunct="1"/>
              <a:r>
                <a:rPr lang="zh-CN" altLang="en-US" sz="2400" b="1" dirty="0">
                  <a:solidFill>
                    <a:srgbClr val="FF00FF"/>
                  </a:solidFill>
                  <a:latin typeface="宋体" panose="02010600030101010101" pitchFamily="2" charset="-122"/>
                </a:rPr>
                <a:t>输入屏蔽</a:t>
              </a:r>
              <a:endParaRPr lang="zh-CN" altLang="en-US" sz="2400" b="1" dirty="0">
                <a:solidFill>
                  <a:srgbClr val="FF00FF"/>
                </a:solidFill>
                <a:latin typeface="宋体" panose="02010600030101010101" pitchFamily="2" charset="-122"/>
              </a:endParaRPr>
            </a:p>
          </p:txBody>
        </p:sp>
        <p:sp>
          <p:nvSpPr>
            <p:cNvPr id="45111" name="Rectangle 189"/>
            <p:cNvSpPr/>
            <p:nvPr/>
          </p:nvSpPr>
          <p:spPr>
            <a:xfrm>
              <a:off x="2942" y="1627"/>
              <a:ext cx="772" cy="230"/>
            </a:xfrm>
            <a:prstGeom prst="rect">
              <a:avLst/>
            </a:prstGeom>
            <a:noFill/>
            <a:ln w="38100">
              <a:noFill/>
            </a:ln>
          </p:spPr>
          <p:txBody>
            <a:bodyPr wrap="none" lIns="0" tIns="0" rIns="0" bIns="0">
              <a:spAutoFit/>
            </a:bodyPr>
            <a:p>
              <a:pPr algn="just" eaLnBrk="1" hangingPunct="1"/>
              <a:r>
                <a:rPr lang="zh-CN" altLang="en-US" sz="2400" b="1" dirty="0">
                  <a:solidFill>
                    <a:srgbClr val="FFFF00"/>
                  </a:solidFill>
                  <a:latin typeface="宋体" panose="02010600030101010101" pitchFamily="2" charset="-122"/>
                </a:rPr>
                <a:t>输出屏蔽</a:t>
              </a:r>
              <a:endParaRPr lang="zh-CN" altLang="en-US" sz="2400" b="1" dirty="0">
                <a:solidFill>
                  <a:srgbClr val="FFFF00"/>
                </a:solidFill>
                <a:latin typeface="宋体" panose="02010600030101010101" pitchFamily="2" charset="-122"/>
              </a:endParaRPr>
            </a:p>
          </p:txBody>
        </p:sp>
        <p:sp>
          <p:nvSpPr>
            <p:cNvPr id="45112" name="Rectangle 190"/>
            <p:cNvSpPr/>
            <p:nvPr/>
          </p:nvSpPr>
          <p:spPr>
            <a:xfrm>
              <a:off x="5315" y="2040"/>
              <a:ext cx="207" cy="230"/>
            </a:xfrm>
            <a:prstGeom prst="rect">
              <a:avLst/>
            </a:prstGeom>
            <a:noFill/>
            <a:ln w="38100">
              <a:noFill/>
            </a:ln>
          </p:spPr>
          <p:txBody>
            <a:bodyPr wrap="none" lIns="0" tIns="0" rIns="0" bIns="0">
              <a:spAutoFit/>
            </a:bodyPr>
            <a:p>
              <a:pPr algn="just" eaLnBrk="1" hangingPunct="1"/>
              <a:r>
                <a:rPr lang="en-US" altLang="zh-CN" sz="2400" b="1" i="1" dirty="0">
                  <a:solidFill>
                    <a:schemeClr val="bg1"/>
                  </a:solidFill>
                  <a:latin typeface="Times New Roman" panose="02020603050405020304" pitchFamily="18" charset="0"/>
                </a:rPr>
                <a:t>u</a:t>
              </a:r>
              <a:r>
                <a:rPr lang="en-US" altLang="zh-CN" sz="2400" b="1" baseline="-25000" dirty="0">
                  <a:solidFill>
                    <a:schemeClr val="bg1"/>
                  </a:solidFill>
                  <a:latin typeface="Times New Roman" panose="02020603050405020304" pitchFamily="18" charset="0"/>
                </a:rPr>
                <a:t>O</a:t>
              </a:r>
              <a:endParaRPr lang="en-US" altLang="zh-CN" sz="2400" b="1" baseline="-25000" dirty="0">
                <a:solidFill>
                  <a:schemeClr val="bg1"/>
                </a:solidFill>
                <a:latin typeface="Times New Roman" panose="02020603050405020304" pitchFamily="18" charset="0"/>
              </a:endParaRPr>
            </a:p>
          </p:txBody>
        </p:sp>
        <p:sp>
          <p:nvSpPr>
            <p:cNvPr id="45113" name="Line 191"/>
            <p:cNvSpPr/>
            <p:nvPr/>
          </p:nvSpPr>
          <p:spPr>
            <a:xfrm flipH="1">
              <a:off x="2447" y="3301"/>
              <a:ext cx="192" cy="0"/>
            </a:xfrm>
            <a:prstGeom prst="line">
              <a:avLst/>
            </a:prstGeom>
            <a:ln w="38100" cap="flat" cmpd="sng">
              <a:solidFill>
                <a:schemeClr val="bg1"/>
              </a:solidFill>
              <a:prstDash val="solid"/>
              <a:headEnd type="none" w="med" len="med"/>
              <a:tailEnd type="none" w="med" len="med"/>
            </a:ln>
          </p:spPr>
        </p:sp>
        <p:sp>
          <p:nvSpPr>
            <p:cNvPr id="45114" name="Line 192"/>
            <p:cNvSpPr/>
            <p:nvPr/>
          </p:nvSpPr>
          <p:spPr>
            <a:xfrm flipV="1">
              <a:off x="2942" y="2336"/>
              <a:ext cx="167" cy="0"/>
            </a:xfrm>
            <a:prstGeom prst="line">
              <a:avLst/>
            </a:prstGeom>
            <a:ln w="38100" cap="flat" cmpd="sng">
              <a:solidFill>
                <a:schemeClr val="bg1"/>
              </a:solidFill>
              <a:prstDash val="solid"/>
              <a:headEnd type="none" w="med" len="med"/>
              <a:tailEnd type="none" w="med" len="med"/>
            </a:ln>
          </p:spPr>
        </p:sp>
        <p:sp>
          <p:nvSpPr>
            <p:cNvPr id="45115" name="Line 193"/>
            <p:cNvSpPr/>
            <p:nvPr/>
          </p:nvSpPr>
          <p:spPr>
            <a:xfrm>
              <a:off x="2926" y="3301"/>
              <a:ext cx="183" cy="0"/>
            </a:xfrm>
            <a:prstGeom prst="line">
              <a:avLst/>
            </a:prstGeom>
            <a:ln w="38100" cap="flat" cmpd="sng">
              <a:solidFill>
                <a:schemeClr val="bg1"/>
              </a:solidFill>
              <a:prstDash val="solid"/>
              <a:headEnd type="none" w="med" len="med"/>
              <a:tailEnd type="none" w="med" len="med"/>
            </a:ln>
          </p:spPr>
        </p:sp>
        <p:sp>
          <p:nvSpPr>
            <p:cNvPr id="45116" name="Rectangle 194"/>
            <p:cNvSpPr/>
            <p:nvPr/>
          </p:nvSpPr>
          <p:spPr>
            <a:xfrm>
              <a:off x="546" y="2036"/>
              <a:ext cx="157" cy="230"/>
            </a:xfrm>
            <a:prstGeom prst="rect">
              <a:avLst/>
            </a:prstGeom>
            <a:noFill/>
            <a:ln w="38100">
              <a:noFill/>
            </a:ln>
          </p:spPr>
          <p:txBody>
            <a:bodyPr wrap="none" lIns="0" tIns="0" rIns="0" bIns="0">
              <a:spAutoFit/>
            </a:bodyPr>
            <a:p>
              <a:pPr algn="just" eaLnBrk="1" hangingPunct="1"/>
              <a:r>
                <a:rPr lang="en-US" altLang="zh-CN" sz="2400" b="1" i="1" dirty="0">
                  <a:solidFill>
                    <a:schemeClr val="bg1"/>
                  </a:solidFill>
                  <a:latin typeface="Times New Roman" panose="02020603050405020304" pitchFamily="18" charset="0"/>
                </a:rPr>
                <a:t>u</a:t>
              </a:r>
              <a:r>
                <a:rPr lang="en-US" altLang="zh-CN" sz="2400" b="1" baseline="-25000" dirty="0">
                  <a:solidFill>
                    <a:schemeClr val="bg1"/>
                  </a:solidFill>
                  <a:latin typeface="Times New Roman" panose="02020603050405020304" pitchFamily="18" charset="0"/>
                </a:rPr>
                <a:t>I</a:t>
              </a:r>
              <a:endParaRPr lang="en-US" altLang="zh-CN" sz="2400" b="1" baseline="-25000" dirty="0">
                <a:solidFill>
                  <a:schemeClr val="bg1"/>
                </a:solidFill>
                <a:latin typeface="Times New Roman" panose="02020603050405020304" pitchFamily="18" charset="0"/>
              </a:endParaRPr>
            </a:p>
          </p:txBody>
        </p:sp>
        <p:sp>
          <p:nvSpPr>
            <p:cNvPr id="45117" name="Rectangle 195"/>
            <p:cNvSpPr/>
            <p:nvPr/>
          </p:nvSpPr>
          <p:spPr>
            <a:xfrm>
              <a:off x="3115" y="2024"/>
              <a:ext cx="587" cy="352"/>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45118" name="Object 196"/>
            <p:cNvGraphicFramePr>
              <a:graphicFrameLocks noChangeAspect="1"/>
            </p:cNvGraphicFramePr>
            <p:nvPr/>
          </p:nvGraphicFramePr>
          <p:xfrm>
            <a:off x="3757" y="1855"/>
            <a:ext cx="521" cy="197"/>
          </p:xfrm>
          <a:graphic>
            <a:graphicData uri="http://schemas.openxmlformats.org/presentationml/2006/ole">
              <mc:AlternateContent xmlns:mc="http://schemas.openxmlformats.org/markup-compatibility/2006">
                <mc:Choice xmlns:v="urn:schemas-microsoft-com:vml" Requires="v">
                  <p:oleObj spid="_x0000_s3079" name="" r:id="rId1" imgW="399415" imgH="139065" progId="Equation.3">
                    <p:embed/>
                  </p:oleObj>
                </mc:Choice>
                <mc:Fallback>
                  <p:oleObj name="" r:id="rId1" imgW="399415" imgH="139065" progId="Equation.3">
                    <p:embed/>
                    <p:pic>
                      <p:nvPicPr>
                        <p:cNvPr id="0" name="图片 3078"/>
                        <p:cNvPicPr/>
                        <p:nvPr/>
                      </p:nvPicPr>
                      <p:blipFill>
                        <a:blip r:embed="rId2">
                          <a:clrChange>
                            <a:clrFrom>
                              <a:srgbClr val="000000"/>
                            </a:clrFrom>
                            <a:clrTo>
                              <a:srgbClr val="FFFFFF"/>
                            </a:clrTo>
                          </a:clrChange>
                        </a:blip>
                        <a:stretch>
                          <a:fillRect/>
                        </a:stretch>
                      </p:blipFill>
                      <p:spPr>
                        <a:xfrm>
                          <a:off x="3757" y="1855"/>
                          <a:ext cx="521" cy="197"/>
                        </a:xfrm>
                        <a:prstGeom prst="rect">
                          <a:avLst/>
                        </a:prstGeom>
                        <a:noFill/>
                        <a:ln w="38100">
                          <a:noFill/>
                          <a:miter/>
                        </a:ln>
                      </p:spPr>
                    </p:pic>
                  </p:oleObj>
                </mc:Fallback>
              </mc:AlternateContent>
            </a:graphicData>
          </a:graphic>
        </p:graphicFrame>
        <p:sp>
          <p:nvSpPr>
            <p:cNvPr id="45119" name="AutoShape 197"/>
            <p:cNvSpPr/>
            <p:nvPr/>
          </p:nvSpPr>
          <p:spPr>
            <a:xfrm rot="5400000">
              <a:off x="1141" y="1975"/>
              <a:ext cx="528" cy="450"/>
            </a:xfrm>
            <a:prstGeom prst="triangle">
              <a:avLst>
                <a:gd name="adj" fmla="val 50000"/>
              </a:avLst>
            </a:prstGeom>
            <a:noFill/>
            <a:ln w="38100"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20" name="AutoShape 198"/>
            <p:cNvSpPr/>
            <p:nvPr/>
          </p:nvSpPr>
          <p:spPr>
            <a:xfrm rot="5400000">
              <a:off x="4302" y="1975"/>
              <a:ext cx="528" cy="450"/>
            </a:xfrm>
            <a:prstGeom prst="triangle">
              <a:avLst>
                <a:gd name="adj" fmla="val 50000"/>
              </a:avLst>
            </a:prstGeom>
            <a:noFill/>
            <a:ln w="38100"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21" name="Rectangle 199"/>
            <p:cNvSpPr/>
            <p:nvPr/>
          </p:nvSpPr>
          <p:spPr>
            <a:xfrm>
              <a:off x="990" y="1578"/>
              <a:ext cx="1770" cy="2004"/>
            </a:xfrm>
            <a:prstGeom prst="rect">
              <a:avLst/>
            </a:prstGeom>
            <a:noFill/>
            <a:ln w="28575" cap="flat" cmpd="sng">
              <a:solidFill>
                <a:srgbClr val="FF00FF"/>
              </a:solidFill>
              <a:prstDash val="dash"/>
              <a:miter/>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22" name="Rectangle 200"/>
            <p:cNvSpPr/>
            <p:nvPr/>
          </p:nvSpPr>
          <p:spPr>
            <a:xfrm>
              <a:off x="2832" y="1578"/>
              <a:ext cx="2064" cy="2004"/>
            </a:xfrm>
            <a:prstGeom prst="rect">
              <a:avLst/>
            </a:prstGeom>
            <a:noFill/>
            <a:ln w="28575" cap="flat" cmpd="sng">
              <a:solidFill>
                <a:srgbClr val="FFFF00"/>
              </a:solidFill>
              <a:prstDash val="dash"/>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23" name="Rectangle 201"/>
            <p:cNvSpPr/>
            <p:nvPr/>
          </p:nvSpPr>
          <p:spPr>
            <a:xfrm>
              <a:off x="864" y="1368"/>
              <a:ext cx="4230" cy="2436"/>
            </a:xfrm>
            <a:prstGeom prst="rect">
              <a:avLst/>
            </a:prstGeom>
            <a:noFill/>
            <a:ln w="38100"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45124" name="Object 202"/>
            <p:cNvGraphicFramePr>
              <a:graphicFrameLocks noChangeAspect="1"/>
            </p:cNvGraphicFramePr>
            <p:nvPr/>
          </p:nvGraphicFramePr>
          <p:xfrm>
            <a:off x="5271" y="2956"/>
            <a:ext cx="423" cy="253"/>
          </p:xfrm>
          <a:graphic>
            <a:graphicData uri="http://schemas.openxmlformats.org/presentationml/2006/ole">
              <mc:AlternateContent xmlns:mc="http://schemas.openxmlformats.org/markup-compatibility/2006">
                <mc:Choice xmlns:v="urn:schemas-microsoft-com:vml" Requires="v">
                  <p:oleObj spid="_x0000_s3080" name="" r:id="rId3" imgW="318135" imgH="185420" progId="Equation.3">
                    <p:embed/>
                  </p:oleObj>
                </mc:Choice>
                <mc:Fallback>
                  <p:oleObj name="" r:id="rId3" imgW="318135" imgH="185420" progId="Equation.3">
                    <p:embed/>
                    <p:pic>
                      <p:nvPicPr>
                        <p:cNvPr id="0" name="图片 3079"/>
                        <p:cNvPicPr/>
                        <p:nvPr/>
                      </p:nvPicPr>
                      <p:blipFill>
                        <a:blip r:embed="rId4">
                          <a:clrChange>
                            <a:clrFrom>
                              <a:srgbClr val="000000"/>
                            </a:clrFrom>
                            <a:clrTo>
                              <a:srgbClr val="FFFFFF"/>
                            </a:clrTo>
                          </a:clrChange>
                        </a:blip>
                        <a:stretch>
                          <a:fillRect/>
                        </a:stretch>
                      </p:blipFill>
                      <p:spPr>
                        <a:xfrm>
                          <a:off x="5271" y="2956"/>
                          <a:ext cx="423" cy="253"/>
                        </a:xfrm>
                        <a:prstGeom prst="rect">
                          <a:avLst/>
                        </a:prstGeom>
                        <a:noFill/>
                        <a:ln w="38100">
                          <a:noFill/>
                          <a:miter/>
                        </a:ln>
                      </p:spPr>
                    </p:pic>
                  </p:oleObj>
                </mc:Fallback>
              </mc:AlternateContent>
            </a:graphicData>
          </a:graphic>
        </p:graphicFrame>
        <p:grpSp>
          <p:nvGrpSpPr>
            <p:cNvPr id="45125" name="Group 203"/>
            <p:cNvGrpSpPr/>
            <p:nvPr/>
          </p:nvGrpSpPr>
          <p:grpSpPr>
            <a:xfrm>
              <a:off x="2633" y="2064"/>
              <a:ext cx="74" cy="272"/>
              <a:chOff x="1180" y="3301"/>
              <a:chExt cx="74" cy="333"/>
            </a:xfrm>
          </p:grpSpPr>
          <p:sp>
            <p:nvSpPr>
              <p:cNvPr id="45139" name="Arc 204"/>
              <p:cNvSpPr/>
              <p:nvPr/>
            </p:nvSpPr>
            <p:spPr>
              <a:xfrm>
                <a:off x="1180" y="3301"/>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140" name="Arc 205"/>
              <p:cNvSpPr/>
              <p:nvPr/>
            </p:nvSpPr>
            <p:spPr>
              <a:xfrm>
                <a:off x="1186" y="3409"/>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141" name="Arc 206"/>
              <p:cNvSpPr/>
              <p:nvPr/>
            </p:nvSpPr>
            <p:spPr>
              <a:xfrm>
                <a:off x="1186" y="3522"/>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grpSp>
        <p:grpSp>
          <p:nvGrpSpPr>
            <p:cNvPr id="45126" name="Group 207"/>
            <p:cNvGrpSpPr/>
            <p:nvPr/>
          </p:nvGrpSpPr>
          <p:grpSpPr>
            <a:xfrm flipH="1">
              <a:off x="2885" y="2064"/>
              <a:ext cx="74" cy="272"/>
              <a:chOff x="1180" y="3301"/>
              <a:chExt cx="74" cy="333"/>
            </a:xfrm>
          </p:grpSpPr>
          <p:sp>
            <p:nvSpPr>
              <p:cNvPr id="45136" name="Arc 208"/>
              <p:cNvSpPr/>
              <p:nvPr/>
            </p:nvSpPr>
            <p:spPr>
              <a:xfrm>
                <a:off x="1180" y="3301"/>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137" name="Arc 209"/>
              <p:cNvSpPr/>
              <p:nvPr/>
            </p:nvSpPr>
            <p:spPr>
              <a:xfrm>
                <a:off x="1186" y="3409"/>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138" name="Arc 210"/>
              <p:cNvSpPr/>
              <p:nvPr/>
            </p:nvSpPr>
            <p:spPr>
              <a:xfrm>
                <a:off x="1186" y="3522"/>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grpSp>
        <p:sp>
          <p:nvSpPr>
            <p:cNvPr id="45127" name="Freeform 211"/>
            <p:cNvSpPr/>
            <p:nvPr/>
          </p:nvSpPr>
          <p:spPr>
            <a:xfrm>
              <a:off x="1613" y="3059"/>
              <a:ext cx="34" cy="34"/>
            </a:xfrm>
            <a:custGeom>
              <a:avLst/>
              <a:gdLst>
                <a:gd name="txL" fmla="*/ 0 w 37"/>
                <a:gd name="txT" fmla="*/ 0 h 44"/>
                <a:gd name="txR" fmla="*/ 37 w 37"/>
                <a:gd name="txB" fmla="*/ 44 h 44"/>
              </a:gdLst>
              <a:ahLst/>
              <a:cxnLst>
                <a:cxn ang="0">
                  <a:pos x="24" y="6"/>
                </a:cxn>
                <a:cxn ang="0">
                  <a:pos x="24" y="5"/>
                </a:cxn>
                <a:cxn ang="0">
                  <a:pos x="24" y="4"/>
                </a:cxn>
                <a:cxn ang="0">
                  <a:pos x="22" y="2"/>
                </a:cxn>
                <a:cxn ang="0">
                  <a:pos x="20" y="2"/>
                </a:cxn>
                <a:cxn ang="0">
                  <a:pos x="19" y="2"/>
                </a:cxn>
                <a:cxn ang="0">
                  <a:pos x="17" y="1"/>
                </a:cxn>
                <a:cxn ang="0">
                  <a:pos x="15" y="0"/>
                </a:cxn>
                <a:cxn ang="0">
                  <a:pos x="13" y="0"/>
                </a:cxn>
                <a:cxn ang="0">
                  <a:pos x="9" y="0"/>
                </a:cxn>
                <a:cxn ang="0">
                  <a:pos x="6" y="1"/>
                </a:cxn>
                <a:cxn ang="0">
                  <a:pos x="6" y="2"/>
                </a:cxn>
                <a:cxn ang="0">
                  <a:pos x="5" y="2"/>
                </a:cxn>
                <a:cxn ang="0">
                  <a:pos x="2" y="2"/>
                </a:cxn>
                <a:cxn ang="0">
                  <a:pos x="1" y="4"/>
                </a:cxn>
                <a:cxn ang="0">
                  <a:pos x="0" y="5"/>
                </a:cxn>
                <a:cxn ang="0">
                  <a:pos x="0" y="6"/>
                </a:cxn>
                <a:cxn ang="0">
                  <a:pos x="0" y="7"/>
                </a:cxn>
                <a:cxn ang="0">
                  <a:pos x="1" y="9"/>
                </a:cxn>
                <a:cxn ang="0">
                  <a:pos x="2" y="9"/>
                </a:cxn>
                <a:cxn ang="0">
                  <a:pos x="5" y="10"/>
                </a:cxn>
                <a:cxn ang="0">
                  <a:pos x="6" y="12"/>
                </a:cxn>
                <a:cxn ang="0">
                  <a:pos x="6" y="12"/>
                </a:cxn>
                <a:cxn ang="0">
                  <a:pos x="9" y="12"/>
                </a:cxn>
                <a:cxn ang="0">
                  <a:pos x="13" y="12"/>
                </a:cxn>
                <a:cxn ang="0">
                  <a:pos x="15" y="12"/>
                </a:cxn>
                <a:cxn ang="0">
                  <a:pos x="17" y="12"/>
                </a:cxn>
                <a:cxn ang="0">
                  <a:pos x="19" y="12"/>
                </a:cxn>
                <a:cxn ang="0">
                  <a:pos x="20" y="10"/>
                </a:cxn>
                <a:cxn ang="0">
                  <a:pos x="22" y="9"/>
                </a:cxn>
                <a:cxn ang="0">
                  <a:pos x="24" y="9"/>
                </a:cxn>
                <a:cxn ang="0">
                  <a:pos x="24" y="7"/>
                </a:cxn>
                <a:cxn ang="0">
                  <a:pos x="24" y="6"/>
                </a:cxn>
              </a:cxnLst>
              <a:rect l="txL" t="txT" r="txR" b="txB"/>
              <a:pathLst>
                <a:path w="37" h="44">
                  <a:moveTo>
                    <a:pt x="37" y="22"/>
                  </a:moveTo>
                  <a:lnTo>
                    <a:pt x="36" y="18"/>
                  </a:lnTo>
                  <a:lnTo>
                    <a:pt x="36" y="13"/>
                  </a:lnTo>
                  <a:lnTo>
                    <a:pt x="34" y="9"/>
                  </a:lnTo>
                  <a:lnTo>
                    <a:pt x="31" y="6"/>
                  </a:lnTo>
                  <a:lnTo>
                    <a:pt x="29" y="4"/>
                  </a:lnTo>
                  <a:lnTo>
                    <a:pt x="26" y="1"/>
                  </a:lnTo>
                  <a:lnTo>
                    <a:pt x="22" y="0"/>
                  </a:lnTo>
                  <a:lnTo>
                    <a:pt x="19" y="0"/>
                  </a:lnTo>
                  <a:lnTo>
                    <a:pt x="14" y="0"/>
                  </a:lnTo>
                  <a:lnTo>
                    <a:pt x="11" y="1"/>
                  </a:lnTo>
                  <a:lnTo>
                    <a:pt x="8" y="4"/>
                  </a:lnTo>
                  <a:lnTo>
                    <a:pt x="5" y="6"/>
                  </a:lnTo>
                  <a:lnTo>
                    <a:pt x="2" y="9"/>
                  </a:lnTo>
                  <a:lnTo>
                    <a:pt x="1" y="13"/>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path>
              </a:pathLst>
            </a:custGeom>
            <a:solidFill>
              <a:schemeClr val="bg1">
                <a:alpha val="100000"/>
              </a:schemeClr>
            </a:solid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5128" name="Line 212"/>
            <p:cNvSpPr/>
            <p:nvPr/>
          </p:nvSpPr>
          <p:spPr>
            <a:xfrm>
              <a:off x="1560" y="3211"/>
              <a:ext cx="136" cy="1"/>
            </a:xfrm>
            <a:prstGeom prst="line">
              <a:avLst/>
            </a:prstGeom>
            <a:ln w="38100" cap="flat" cmpd="sng">
              <a:solidFill>
                <a:schemeClr val="bg1"/>
              </a:solidFill>
              <a:prstDash val="solid"/>
              <a:headEnd type="none" w="med" len="med"/>
              <a:tailEnd type="none" w="med" len="med"/>
            </a:ln>
          </p:spPr>
        </p:sp>
        <p:sp>
          <p:nvSpPr>
            <p:cNvPr id="45129" name="Line 213"/>
            <p:cNvSpPr/>
            <p:nvPr/>
          </p:nvSpPr>
          <p:spPr>
            <a:xfrm>
              <a:off x="1563" y="2950"/>
              <a:ext cx="136" cy="1"/>
            </a:xfrm>
            <a:prstGeom prst="line">
              <a:avLst/>
            </a:prstGeom>
            <a:ln w="38100" cap="flat" cmpd="sng">
              <a:solidFill>
                <a:schemeClr val="bg1"/>
              </a:solidFill>
              <a:prstDash val="solid"/>
              <a:headEnd type="none" w="med" len="med"/>
              <a:tailEnd type="none" w="med" len="med"/>
            </a:ln>
          </p:spPr>
        </p:sp>
        <p:sp>
          <p:nvSpPr>
            <p:cNvPr id="45130" name="Line 214"/>
            <p:cNvSpPr/>
            <p:nvPr/>
          </p:nvSpPr>
          <p:spPr>
            <a:xfrm>
              <a:off x="1563" y="2998"/>
              <a:ext cx="136" cy="1"/>
            </a:xfrm>
            <a:prstGeom prst="line">
              <a:avLst/>
            </a:prstGeom>
            <a:ln w="38100" cap="flat" cmpd="sng">
              <a:solidFill>
                <a:schemeClr val="bg1"/>
              </a:solidFill>
              <a:prstDash val="solid"/>
              <a:headEnd type="none" w="med" len="med"/>
              <a:tailEnd type="none" w="med" len="med"/>
            </a:ln>
          </p:spPr>
        </p:sp>
        <p:sp>
          <p:nvSpPr>
            <p:cNvPr id="45131" name="Line 215"/>
            <p:cNvSpPr/>
            <p:nvPr/>
          </p:nvSpPr>
          <p:spPr>
            <a:xfrm flipH="1">
              <a:off x="2444" y="2336"/>
              <a:ext cx="223" cy="0"/>
            </a:xfrm>
            <a:prstGeom prst="line">
              <a:avLst/>
            </a:prstGeom>
            <a:ln w="38100" cap="flat" cmpd="sng">
              <a:solidFill>
                <a:srgbClr val="FFFFFF"/>
              </a:solidFill>
              <a:prstDash val="solid"/>
              <a:headEnd type="none" w="med" len="med"/>
              <a:tailEnd type="none" w="med" len="med"/>
            </a:ln>
          </p:spPr>
        </p:sp>
        <p:sp>
          <p:nvSpPr>
            <p:cNvPr id="45132" name="Oval 216"/>
            <p:cNvSpPr/>
            <p:nvPr/>
          </p:nvSpPr>
          <p:spPr>
            <a:xfrm>
              <a:off x="5204" y="2161"/>
              <a:ext cx="79" cy="79"/>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33" name="Oval 217"/>
            <p:cNvSpPr/>
            <p:nvPr/>
          </p:nvSpPr>
          <p:spPr>
            <a:xfrm>
              <a:off x="665" y="2027"/>
              <a:ext cx="79" cy="79"/>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34" name="Oval 218"/>
            <p:cNvSpPr/>
            <p:nvPr/>
          </p:nvSpPr>
          <p:spPr>
            <a:xfrm>
              <a:off x="665" y="2291"/>
              <a:ext cx="79" cy="79"/>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5135" name="Oval 219"/>
            <p:cNvSpPr/>
            <p:nvPr/>
          </p:nvSpPr>
          <p:spPr>
            <a:xfrm>
              <a:off x="5202" y="3043"/>
              <a:ext cx="79" cy="79"/>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428125" name="AutoShape 221"/>
          <p:cNvSpPr/>
          <p:nvPr/>
        </p:nvSpPr>
        <p:spPr>
          <a:xfrm>
            <a:off x="1835150" y="2268538"/>
            <a:ext cx="1277938" cy="460375"/>
          </a:xfrm>
          <a:prstGeom prst="wedgeRoundRectCallout">
            <a:avLst>
              <a:gd name="adj1" fmla="val 41801"/>
              <a:gd name="adj2" fmla="val 181722"/>
              <a:gd name="adj3" fmla="val 16667"/>
            </a:avLst>
          </a:prstGeom>
          <a:solidFill>
            <a:schemeClr val="accent1"/>
          </a:solidFill>
          <a:ln w="31750">
            <a:noFill/>
          </a:ln>
        </p:spPr>
        <p:txBody>
          <a:bodyPr/>
          <a:p>
            <a:pPr algn="ctr" eaLnBrk="1" hangingPunct="1"/>
            <a:r>
              <a:rPr lang="zh-CN" altLang="en-US" sz="2400" b="1" dirty="0">
                <a:solidFill>
                  <a:schemeClr val="bg1"/>
                </a:solidFill>
                <a:latin typeface="楷体_GB2312" pitchFamily="49" charset="-122"/>
              </a:rPr>
              <a:t>调 制</a:t>
            </a:r>
            <a:endParaRPr lang="zh-CN" altLang="en-US" sz="2400" b="1" dirty="0">
              <a:solidFill>
                <a:schemeClr val="bg1"/>
              </a:solidFill>
              <a:latin typeface="楷体_GB2312" pitchFamily="49" charset="-122"/>
            </a:endParaRPr>
          </a:p>
        </p:txBody>
      </p:sp>
      <p:sp>
        <p:nvSpPr>
          <p:cNvPr id="2428126" name="AutoShape 222"/>
          <p:cNvSpPr/>
          <p:nvPr/>
        </p:nvSpPr>
        <p:spPr>
          <a:xfrm>
            <a:off x="4443413" y="5962650"/>
            <a:ext cx="2835275" cy="598488"/>
          </a:xfrm>
          <a:prstGeom prst="wedgeRoundRectCallout">
            <a:avLst>
              <a:gd name="adj1" fmla="val -27940"/>
              <a:gd name="adj2" fmla="val -144958"/>
              <a:gd name="adj3" fmla="val 16667"/>
            </a:avLst>
          </a:prstGeom>
          <a:solidFill>
            <a:schemeClr val="accent1"/>
          </a:solidFill>
          <a:ln w="31750">
            <a:noFill/>
          </a:ln>
        </p:spPr>
        <p:txBody>
          <a:bodyPr/>
          <a:p>
            <a:pPr algn="ctr" eaLnBrk="1" hangingPunct="1"/>
            <a:r>
              <a:rPr lang="zh-CN" altLang="en-US" sz="2400" b="1" dirty="0">
                <a:solidFill>
                  <a:schemeClr val="bg1"/>
                </a:solidFill>
                <a:latin typeface="Times New Roman" panose="02020603050405020304" pitchFamily="18" charset="0"/>
              </a:rPr>
              <a:t>给输入侧提供能量</a:t>
            </a:r>
            <a:endParaRPr lang="zh-CN" altLang="en-US" sz="2400" b="1" dirty="0">
              <a:solidFill>
                <a:schemeClr val="bg1"/>
              </a:solidFill>
              <a:latin typeface="Times New Roman" panose="02020603050405020304" pitchFamily="18" charset="0"/>
            </a:endParaRPr>
          </a:p>
        </p:txBody>
      </p:sp>
      <p:sp>
        <p:nvSpPr>
          <p:cNvPr id="2428127" name="AutoShape 223"/>
          <p:cNvSpPr/>
          <p:nvPr/>
        </p:nvSpPr>
        <p:spPr>
          <a:xfrm>
            <a:off x="1331913" y="5962650"/>
            <a:ext cx="2225675" cy="598488"/>
          </a:xfrm>
          <a:prstGeom prst="wedgeRoundRectCallout">
            <a:avLst>
              <a:gd name="adj1" fmla="val 26250"/>
              <a:gd name="adj2" fmla="val -150000"/>
              <a:gd name="adj3" fmla="val 16667"/>
            </a:avLst>
          </a:prstGeom>
          <a:solidFill>
            <a:schemeClr val="accent1"/>
          </a:solidFill>
          <a:ln w="31750">
            <a:noFill/>
          </a:ln>
        </p:spPr>
        <p:txBody>
          <a:bodyPr/>
          <a:p>
            <a:pPr algn="ctr" eaLnBrk="1" hangingPunct="1"/>
            <a:r>
              <a:rPr lang="zh-CN" altLang="en-US" sz="2400" b="1" dirty="0">
                <a:solidFill>
                  <a:schemeClr val="bg1"/>
                </a:solidFill>
                <a:latin typeface="Times New Roman" panose="02020603050405020304" pitchFamily="18" charset="0"/>
              </a:rPr>
              <a:t>两侧电源独立</a:t>
            </a:r>
            <a:endParaRPr lang="zh-CN" altLang="en-US" sz="2400" b="1" dirty="0">
              <a:solidFill>
                <a:schemeClr val="bg1"/>
              </a:solidFill>
              <a:latin typeface="Times New Roman" panose="02020603050405020304" pitchFamily="18" charset="0"/>
            </a:endParaRPr>
          </a:p>
        </p:txBody>
      </p:sp>
      <p:sp>
        <p:nvSpPr>
          <p:cNvPr id="2428128" name="AutoShape 224"/>
          <p:cNvSpPr/>
          <p:nvPr/>
        </p:nvSpPr>
        <p:spPr>
          <a:xfrm>
            <a:off x="5029200" y="2268538"/>
            <a:ext cx="1103313" cy="460375"/>
          </a:xfrm>
          <a:prstGeom prst="wedgeRoundRectCallout">
            <a:avLst>
              <a:gd name="adj1" fmla="val -46116"/>
              <a:gd name="adj2" fmla="val 183102"/>
              <a:gd name="adj3" fmla="val 16667"/>
            </a:avLst>
          </a:prstGeom>
          <a:solidFill>
            <a:schemeClr val="accent1"/>
          </a:solidFill>
          <a:ln w="31750">
            <a:noFill/>
          </a:ln>
        </p:spPr>
        <p:txBody>
          <a:bodyPr/>
          <a:p>
            <a:pPr algn="ctr" eaLnBrk="1" hangingPunct="1"/>
            <a:r>
              <a:rPr lang="zh-CN" altLang="en-US" sz="2400" b="1" dirty="0">
                <a:solidFill>
                  <a:schemeClr val="bg1"/>
                </a:solidFill>
                <a:latin typeface="楷体_GB2312" pitchFamily="49" charset="-122"/>
              </a:rPr>
              <a:t>解 调</a:t>
            </a:r>
            <a:endParaRPr lang="zh-CN" altLang="en-US" sz="2400" b="1" dirty="0">
              <a:solidFill>
                <a:schemeClr val="bg1"/>
              </a:solidFill>
              <a:latin typeface="楷体_GB2312" pitchFamily="49" charset="-122"/>
            </a:endParaRPr>
          </a:p>
        </p:txBody>
      </p:sp>
      <p:sp>
        <p:nvSpPr>
          <p:cNvPr id="2428129" name="AutoShape 225"/>
          <p:cNvSpPr/>
          <p:nvPr/>
        </p:nvSpPr>
        <p:spPr>
          <a:xfrm>
            <a:off x="2876550" y="3663950"/>
            <a:ext cx="2559050" cy="1204913"/>
          </a:xfrm>
          <a:prstGeom prst="wedgeRoundRectCallout">
            <a:avLst>
              <a:gd name="adj1" fmla="val -14019"/>
              <a:gd name="adj2" fmla="val 54481"/>
              <a:gd name="adj3" fmla="val 16667"/>
            </a:avLst>
          </a:prstGeom>
          <a:solidFill>
            <a:schemeClr val="accent1"/>
          </a:solidFill>
          <a:ln w="31750">
            <a:noFill/>
          </a:ln>
        </p:spPr>
        <p:txBody>
          <a:bodyPr/>
          <a:p>
            <a:pPr algn="ctr" eaLnBrk="1" hangingPunct="1"/>
            <a:r>
              <a:rPr lang="zh-CN" altLang="en-US" sz="2800" b="1" dirty="0">
                <a:solidFill>
                  <a:srgbClr val="FF0066"/>
                </a:solidFill>
                <a:latin typeface="楷体_GB2312" pitchFamily="49" charset="-122"/>
              </a:rPr>
              <a:t>输入、输出侧间电气绝缘</a:t>
            </a:r>
            <a:endParaRPr lang="zh-CN" altLang="en-US" sz="2800" b="1" dirty="0">
              <a:solidFill>
                <a:srgbClr val="FF0066"/>
              </a:solidFill>
              <a:latin typeface="楷体_GB2312"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27907"/>
                                        </p:tgtEl>
                                        <p:attrNameLst>
                                          <p:attrName>style.visibility</p:attrName>
                                        </p:attrNameLst>
                                      </p:cBhvr>
                                      <p:to>
                                        <p:strVal val="visible"/>
                                      </p:to>
                                    </p:set>
                                    <p:animEffect transition="in" filter="dissolve">
                                      <p:cBhvr>
                                        <p:cTn id="7" dur="500"/>
                                        <p:tgtEl>
                                          <p:spTgt spid="242790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28048"/>
                                        </p:tgtEl>
                                        <p:attrNameLst>
                                          <p:attrName>style.visibility</p:attrName>
                                        </p:attrNameLst>
                                      </p:cBhvr>
                                      <p:to>
                                        <p:strVal val="visible"/>
                                      </p:to>
                                    </p:set>
                                    <p:animEffect transition="in" filter="dissolve">
                                      <p:cBhvr>
                                        <p:cTn id="12" dur="500"/>
                                        <p:tgtEl>
                                          <p:spTgt spid="24280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428124"/>
                                        </p:tgtEl>
                                        <p:attrNameLst>
                                          <p:attrName>style.visibility</p:attrName>
                                        </p:attrNameLst>
                                      </p:cBhvr>
                                      <p:to>
                                        <p:strVal val="visible"/>
                                      </p:to>
                                    </p:set>
                                    <p:animEffect transition="in" filter="dissolve">
                                      <p:cBhvr>
                                        <p:cTn id="20" dur="500"/>
                                        <p:tgtEl>
                                          <p:spTgt spid="242812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428125"/>
                                        </p:tgtEl>
                                        <p:attrNameLst>
                                          <p:attrName>style.visibility</p:attrName>
                                        </p:attrNameLst>
                                      </p:cBhvr>
                                      <p:to>
                                        <p:strVal val="visible"/>
                                      </p:to>
                                    </p:set>
                                    <p:animEffect transition="in" filter="dissolve">
                                      <p:cBhvr>
                                        <p:cTn id="25" dur="500"/>
                                        <p:tgtEl>
                                          <p:spTgt spid="2428125"/>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428128"/>
                                        </p:tgtEl>
                                        <p:attrNameLst>
                                          <p:attrName>style.visibility</p:attrName>
                                        </p:attrNameLst>
                                      </p:cBhvr>
                                      <p:to>
                                        <p:strVal val="visible"/>
                                      </p:to>
                                    </p:set>
                                    <p:animEffect transition="in" filter="dissolve">
                                      <p:cBhvr>
                                        <p:cTn id="30" dur="500"/>
                                        <p:tgtEl>
                                          <p:spTgt spid="2428128"/>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428126"/>
                                        </p:tgtEl>
                                        <p:attrNameLst>
                                          <p:attrName>style.visibility</p:attrName>
                                        </p:attrNameLst>
                                      </p:cBhvr>
                                      <p:to>
                                        <p:strVal val="visible"/>
                                      </p:to>
                                    </p:set>
                                    <p:animEffect transition="in" filter="dissolve">
                                      <p:cBhvr>
                                        <p:cTn id="35" dur="500"/>
                                        <p:tgtEl>
                                          <p:spTgt spid="24281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428127"/>
                                        </p:tgtEl>
                                        <p:attrNameLst>
                                          <p:attrName>style.visibility</p:attrName>
                                        </p:attrNameLst>
                                      </p:cBhvr>
                                      <p:to>
                                        <p:strVal val="visible"/>
                                      </p:to>
                                    </p:set>
                                    <p:animEffect transition="in" filter="dissolve">
                                      <p:cBhvr>
                                        <p:cTn id="40" dur="500"/>
                                        <p:tgtEl>
                                          <p:spTgt spid="2428127"/>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428129"/>
                                        </p:tgtEl>
                                        <p:attrNameLst>
                                          <p:attrName>style.visibility</p:attrName>
                                        </p:attrNameLst>
                                      </p:cBhvr>
                                      <p:to>
                                        <p:strVal val="visible"/>
                                      </p:to>
                                    </p:set>
                                    <p:animEffect transition="in" filter="dissolve">
                                      <p:cBhvr>
                                        <p:cTn id="45" dur="500"/>
                                        <p:tgtEl>
                                          <p:spTgt spid="2428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8124" grpId="0" bldLvl="0" animBg="1"/>
      <p:bldP spid="2427907" grpId="0" bldLvl="0" animBg="1"/>
      <p:bldP spid="2428048" grpId="0"/>
      <p:bldP spid="2428125" grpId="0" bldLvl="0" animBg="1"/>
      <p:bldP spid="2428126" grpId="0" bldLvl="0" animBg="1"/>
      <p:bldP spid="2428127" grpId="0" bldLvl="0" animBg="1"/>
      <p:bldP spid="2428128" grpId="0" bldLvl="0" animBg="1"/>
      <p:bldP spid="2428129" grpId="0" bldLvl="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8930" name="Rectangle 2"/>
          <p:cNvSpPr/>
          <p:nvPr/>
        </p:nvSpPr>
        <p:spPr>
          <a:xfrm>
            <a:off x="0" y="1376363"/>
            <a:ext cx="9144000" cy="4822825"/>
          </a:xfrm>
          <a:prstGeom prst="rect">
            <a:avLst/>
          </a:prstGeom>
          <a:solidFill>
            <a:srgbClr val="3333FF"/>
          </a:solidFill>
          <a:ln w="9525">
            <a:noFill/>
          </a:ln>
        </p:spPr>
        <p:txBody>
          <a:bodyPr wrap="none" anchor="ctr" anchorCtr="0"/>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428931" name="Text Box 3"/>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4.6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隔离放大器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6084" name="Text Box 4"/>
          <p:cNvSpPr txBox="1"/>
          <p:nvPr/>
        </p:nvSpPr>
        <p:spPr>
          <a:xfrm>
            <a:off x="179388" y="728663"/>
            <a:ext cx="4589462"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变压器隔离放大器</a:t>
            </a:r>
            <a:endParaRPr lang="zh-CN" altLang="en-US" sz="3600" b="1" dirty="0">
              <a:solidFill>
                <a:srgbClr val="333399"/>
              </a:solidFill>
              <a:latin typeface="Times New Roman" panose="02020603050405020304" pitchFamily="18" charset="0"/>
            </a:endParaRPr>
          </a:p>
        </p:txBody>
      </p:sp>
      <p:grpSp>
        <p:nvGrpSpPr>
          <p:cNvPr id="2" name="Group 87"/>
          <p:cNvGrpSpPr/>
          <p:nvPr/>
        </p:nvGrpSpPr>
        <p:grpSpPr>
          <a:xfrm>
            <a:off x="23813" y="1520825"/>
            <a:ext cx="9070975" cy="4572000"/>
            <a:chOff x="15" y="825"/>
            <a:chExt cx="5714" cy="2880"/>
          </a:xfrm>
        </p:grpSpPr>
        <p:sp>
          <p:nvSpPr>
            <p:cNvPr id="46087" name="Rectangle 88"/>
            <p:cNvSpPr/>
            <p:nvPr/>
          </p:nvSpPr>
          <p:spPr>
            <a:xfrm>
              <a:off x="1044" y="2148"/>
              <a:ext cx="101"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Symbol" panose="05050102010706020507" pitchFamily="18" charset="2"/>
                </a:rPr>
                <a:t>+</a:t>
              </a:r>
              <a:endParaRPr lang="en-US" altLang="zh-CN" sz="2300" b="1" dirty="0">
                <a:solidFill>
                  <a:schemeClr val="bg1"/>
                </a:solidFill>
                <a:latin typeface="Symbol" panose="05050102010706020507" pitchFamily="18" charset="2"/>
              </a:endParaRPr>
            </a:p>
          </p:txBody>
        </p:sp>
        <p:sp>
          <p:nvSpPr>
            <p:cNvPr id="46088" name="Rectangle 89"/>
            <p:cNvSpPr/>
            <p:nvPr/>
          </p:nvSpPr>
          <p:spPr>
            <a:xfrm>
              <a:off x="1051" y="1892"/>
              <a:ext cx="101"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Symbol" panose="05050102010706020507" pitchFamily="18" charset="2"/>
                </a:rPr>
                <a:t>-</a:t>
              </a:r>
              <a:endParaRPr lang="en-US" altLang="zh-CN" sz="2300" b="1" dirty="0">
                <a:solidFill>
                  <a:schemeClr val="bg1"/>
                </a:solidFill>
                <a:latin typeface="Symbol" panose="05050102010706020507" pitchFamily="18" charset="2"/>
              </a:endParaRPr>
            </a:p>
          </p:txBody>
        </p:sp>
        <p:sp>
          <p:nvSpPr>
            <p:cNvPr id="46089" name="Rectangle 90"/>
            <p:cNvSpPr/>
            <p:nvPr/>
          </p:nvSpPr>
          <p:spPr>
            <a:xfrm>
              <a:off x="1265" y="2084"/>
              <a:ext cx="56" cy="134"/>
            </a:xfrm>
            <a:prstGeom prst="rect">
              <a:avLst/>
            </a:prstGeom>
            <a:noFill/>
            <a:ln w="38100">
              <a:noFill/>
            </a:ln>
          </p:spPr>
          <p:txBody>
            <a:bodyPr wrap="none" lIns="0" tIns="0" rIns="0" bIns="0">
              <a:spAutoFit/>
            </a:bodyPr>
            <a:p>
              <a:pPr algn="just" eaLnBrk="1" hangingPunct="1"/>
              <a:r>
                <a:rPr lang="en-US" altLang="zh-CN" sz="1400" b="1" dirty="0">
                  <a:solidFill>
                    <a:schemeClr val="bg1"/>
                  </a:solidFill>
                  <a:latin typeface="Times New Roman" panose="02020603050405020304" pitchFamily="18" charset="0"/>
                </a:rPr>
                <a:t>1</a:t>
              </a:r>
              <a:endParaRPr lang="en-US" altLang="zh-CN" sz="1400" b="1" dirty="0">
                <a:solidFill>
                  <a:schemeClr val="bg1"/>
                </a:solidFill>
                <a:latin typeface="Times New Roman" panose="02020603050405020304" pitchFamily="18" charset="0"/>
              </a:endParaRPr>
            </a:p>
          </p:txBody>
        </p:sp>
        <p:sp>
          <p:nvSpPr>
            <p:cNvPr id="46090" name="Rectangle 91"/>
            <p:cNvSpPr/>
            <p:nvPr/>
          </p:nvSpPr>
          <p:spPr>
            <a:xfrm>
              <a:off x="1136" y="2012"/>
              <a:ext cx="13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a:t>
              </a:r>
              <a:endParaRPr lang="en-US" altLang="zh-CN" sz="2300" b="1" dirty="0">
                <a:solidFill>
                  <a:schemeClr val="bg1"/>
                </a:solidFill>
                <a:latin typeface="Times New Roman" panose="02020603050405020304" pitchFamily="18" charset="0"/>
              </a:endParaRPr>
            </a:p>
          </p:txBody>
        </p:sp>
        <p:sp>
          <p:nvSpPr>
            <p:cNvPr id="46091" name="Line 92"/>
            <p:cNvSpPr/>
            <p:nvPr/>
          </p:nvSpPr>
          <p:spPr>
            <a:xfrm>
              <a:off x="1459" y="2155"/>
              <a:ext cx="230" cy="1"/>
            </a:xfrm>
            <a:prstGeom prst="line">
              <a:avLst/>
            </a:prstGeom>
            <a:ln w="38100" cap="flat" cmpd="sng">
              <a:solidFill>
                <a:schemeClr val="bg1"/>
              </a:solidFill>
              <a:prstDash val="solid"/>
              <a:headEnd type="none" w="med" len="med"/>
              <a:tailEnd type="none" w="med" len="med"/>
            </a:ln>
          </p:spPr>
        </p:sp>
        <p:sp>
          <p:nvSpPr>
            <p:cNvPr id="46092" name="Line 93"/>
            <p:cNvSpPr/>
            <p:nvPr/>
          </p:nvSpPr>
          <p:spPr>
            <a:xfrm flipH="1">
              <a:off x="580" y="2023"/>
              <a:ext cx="445" cy="1"/>
            </a:xfrm>
            <a:prstGeom prst="line">
              <a:avLst/>
            </a:prstGeom>
            <a:ln w="38100" cap="flat" cmpd="sng">
              <a:solidFill>
                <a:schemeClr val="bg1"/>
              </a:solidFill>
              <a:prstDash val="solid"/>
              <a:headEnd type="none" w="med" len="med"/>
              <a:tailEnd type="none" w="med" len="med"/>
            </a:ln>
          </p:spPr>
        </p:sp>
        <p:sp>
          <p:nvSpPr>
            <p:cNvPr id="46093" name="Line 94"/>
            <p:cNvSpPr/>
            <p:nvPr/>
          </p:nvSpPr>
          <p:spPr>
            <a:xfrm flipH="1">
              <a:off x="584" y="2287"/>
              <a:ext cx="441" cy="0"/>
            </a:xfrm>
            <a:prstGeom prst="line">
              <a:avLst/>
            </a:prstGeom>
            <a:ln w="38100" cap="flat" cmpd="sng">
              <a:solidFill>
                <a:schemeClr val="bg1"/>
              </a:solidFill>
              <a:prstDash val="solid"/>
              <a:headEnd type="none" w="med" len="med"/>
              <a:tailEnd type="none" w="med" len="med"/>
            </a:ln>
          </p:spPr>
        </p:sp>
        <p:sp>
          <p:nvSpPr>
            <p:cNvPr id="46094" name="Rectangle 95"/>
            <p:cNvSpPr/>
            <p:nvPr/>
          </p:nvSpPr>
          <p:spPr>
            <a:xfrm>
              <a:off x="1683" y="1979"/>
              <a:ext cx="605" cy="352"/>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095" name="Rectangle 96"/>
            <p:cNvSpPr/>
            <p:nvPr/>
          </p:nvSpPr>
          <p:spPr>
            <a:xfrm>
              <a:off x="1707" y="2032"/>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调制器</a:t>
              </a:r>
              <a:endParaRPr lang="zh-CN" altLang="en-US" sz="2400" b="1" dirty="0">
                <a:solidFill>
                  <a:schemeClr val="bg1"/>
                </a:solidFill>
                <a:latin typeface="宋体" panose="02010600030101010101" pitchFamily="2" charset="-122"/>
              </a:endParaRPr>
            </a:p>
          </p:txBody>
        </p:sp>
        <p:sp>
          <p:nvSpPr>
            <p:cNvPr id="46096" name="Rectangle 97"/>
            <p:cNvSpPr/>
            <p:nvPr/>
          </p:nvSpPr>
          <p:spPr>
            <a:xfrm>
              <a:off x="1620" y="2772"/>
              <a:ext cx="668" cy="52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097" name="Rectangle 98"/>
            <p:cNvSpPr/>
            <p:nvPr/>
          </p:nvSpPr>
          <p:spPr>
            <a:xfrm>
              <a:off x="1701" y="2817"/>
              <a:ext cx="603" cy="460"/>
            </a:xfrm>
            <a:prstGeom prst="rect">
              <a:avLst/>
            </a:prstGeom>
            <a:noFill/>
            <a:ln w="38100">
              <a:noFill/>
            </a:ln>
          </p:spPr>
          <p:txBody>
            <a:bodyPr lIns="0" tIns="0" rIns="0" bIns="0">
              <a:spAutoFit/>
            </a:bodyPr>
            <a:p>
              <a:pPr algn="just" eaLnBrk="1" hangingPunct="1"/>
              <a:r>
                <a:rPr lang="zh-CN" altLang="en-US" sz="2400" b="1" dirty="0">
                  <a:solidFill>
                    <a:schemeClr val="bg1"/>
                  </a:solidFill>
                  <a:latin typeface="楷体_GB2312" pitchFamily="49" charset="-122"/>
                </a:rPr>
                <a:t>隔 离</a:t>
              </a:r>
              <a:endParaRPr lang="zh-CN" altLang="en-US" sz="2400" b="1" dirty="0">
                <a:solidFill>
                  <a:schemeClr val="bg1"/>
                </a:solidFill>
                <a:latin typeface="楷体_GB2312" pitchFamily="49" charset="-122"/>
              </a:endParaRPr>
            </a:p>
            <a:p>
              <a:pPr algn="just" eaLnBrk="1" hangingPunct="1"/>
              <a:r>
                <a:rPr lang="zh-CN" altLang="en-US" sz="2400" b="1" dirty="0">
                  <a:solidFill>
                    <a:schemeClr val="bg1"/>
                  </a:solidFill>
                  <a:latin typeface="楷体_GB2312" pitchFamily="49" charset="-122"/>
                </a:rPr>
                <a:t>电 源</a:t>
              </a:r>
              <a:endParaRPr lang="zh-CN" altLang="en-US" sz="2400" b="1" dirty="0">
                <a:solidFill>
                  <a:schemeClr val="bg1"/>
                </a:solidFill>
                <a:latin typeface="楷体_GB2312" pitchFamily="49" charset="-122"/>
              </a:endParaRPr>
            </a:p>
          </p:txBody>
        </p:sp>
        <p:sp>
          <p:nvSpPr>
            <p:cNvPr id="46098" name="Line 99"/>
            <p:cNvSpPr/>
            <p:nvPr/>
          </p:nvSpPr>
          <p:spPr>
            <a:xfrm flipV="1">
              <a:off x="1175" y="2331"/>
              <a:ext cx="0" cy="932"/>
            </a:xfrm>
            <a:prstGeom prst="line">
              <a:avLst/>
            </a:prstGeom>
            <a:ln w="38100" cap="flat" cmpd="sng">
              <a:solidFill>
                <a:schemeClr val="bg1"/>
              </a:solidFill>
              <a:prstDash val="solid"/>
              <a:headEnd type="none" w="med" len="med"/>
              <a:tailEnd type="arrow" w="med" len="med"/>
            </a:ln>
          </p:spPr>
        </p:sp>
        <p:sp>
          <p:nvSpPr>
            <p:cNvPr id="46099" name="Line 100"/>
            <p:cNvSpPr/>
            <p:nvPr/>
          </p:nvSpPr>
          <p:spPr>
            <a:xfrm flipV="1">
              <a:off x="1318" y="2259"/>
              <a:ext cx="1" cy="563"/>
            </a:xfrm>
            <a:prstGeom prst="line">
              <a:avLst/>
            </a:prstGeom>
            <a:ln w="38100" cap="flat" cmpd="sng">
              <a:solidFill>
                <a:schemeClr val="bg1"/>
              </a:solidFill>
              <a:prstDash val="solid"/>
              <a:headEnd type="none" w="med" len="med"/>
              <a:tailEnd type="arrow" w="med" len="med"/>
            </a:ln>
          </p:spPr>
        </p:sp>
        <p:sp>
          <p:nvSpPr>
            <p:cNvPr id="46100" name="Line 101"/>
            <p:cNvSpPr/>
            <p:nvPr/>
          </p:nvSpPr>
          <p:spPr>
            <a:xfrm flipH="1">
              <a:off x="596" y="3036"/>
              <a:ext cx="1019" cy="0"/>
            </a:xfrm>
            <a:prstGeom prst="line">
              <a:avLst/>
            </a:prstGeom>
            <a:ln w="38100" cap="flat" cmpd="sng">
              <a:solidFill>
                <a:schemeClr val="bg1"/>
              </a:solidFill>
              <a:prstDash val="solid"/>
              <a:headEnd type="none" w="med" len="med"/>
              <a:tailEnd type="none" w="med" len="med"/>
            </a:ln>
          </p:spPr>
        </p:sp>
        <p:sp>
          <p:nvSpPr>
            <p:cNvPr id="46101" name="Line 102"/>
            <p:cNvSpPr/>
            <p:nvPr/>
          </p:nvSpPr>
          <p:spPr>
            <a:xfrm flipH="1">
              <a:off x="596" y="2816"/>
              <a:ext cx="1022" cy="0"/>
            </a:xfrm>
            <a:prstGeom prst="line">
              <a:avLst/>
            </a:prstGeom>
            <a:ln w="38100" cap="flat" cmpd="sng">
              <a:solidFill>
                <a:schemeClr val="bg1"/>
              </a:solidFill>
              <a:prstDash val="solid"/>
              <a:headEnd type="none" w="med" len="med"/>
              <a:tailEnd type="none" w="med" len="med"/>
            </a:ln>
          </p:spPr>
        </p:sp>
        <p:sp>
          <p:nvSpPr>
            <p:cNvPr id="46102" name="Line 103"/>
            <p:cNvSpPr/>
            <p:nvPr/>
          </p:nvSpPr>
          <p:spPr>
            <a:xfrm flipH="1">
              <a:off x="596" y="3256"/>
              <a:ext cx="1017" cy="0"/>
            </a:xfrm>
            <a:prstGeom prst="line">
              <a:avLst/>
            </a:prstGeom>
            <a:ln w="38100" cap="flat" cmpd="sng">
              <a:solidFill>
                <a:schemeClr val="bg1"/>
              </a:solidFill>
              <a:prstDash val="solid"/>
              <a:headEnd type="none" w="med" len="med"/>
              <a:tailEnd type="none" w="med" len="med"/>
            </a:ln>
          </p:spPr>
        </p:sp>
        <p:sp>
          <p:nvSpPr>
            <p:cNvPr id="46103" name="Line 104"/>
            <p:cNvSpPr/>
            <p:nvPr/>
          </p:nvSpPr>
          <p:spPr>
            <a:xfrm flipV="1">
              <a:off x="1471" y="2816"/>
              <a:ext cx="1" cy="88"/>
            </a:xfrm>
            <a:prstGeom prst="line">
              <a:avLst/>
            </a:prstGeom>
            <a:ln w="38100" cap="flat" cmpd="sng">
              <a:solidFill>
                <a:schemeClr val="bg1"/>
              </a:solidFill>
              <a:prstDash val="solid"/>
              <a:headEnd type="none" w="med" len="med"/>
              <a:tailEnd type="none" w="med" len="med"/>
            </a:ln>
          </p:spPr>
        </p:sp>
        <p:sp>
          <p:nvSpPr>
            <p:cNvPr id="46104" name="Line 105"/>
            <p:cNvSpPr/>
            <p:nvPr/>
          </p:nvSpPr>
          <p:spPr>
            <a:xfrm>
              <a:off x="1472" y="2943"/>
              <a:ext cx="0" cy="181"/>
            </a:xfrm>
            <a:prstGeom prst="line">
              <a:avLst/>
            </a:prstGeom>
            <a:ln w="38100" cap="flat" cmpd="sng">
              <a:solidFill>
                <a:schemeClr val="bg1"/>
              </a:solidFill>
              <a:prstDash val="solid"/>
              <a:headEnd type="none" w="med" len="med"/>
              <a:tailEnd type="none" w="med" len="med"/>
            </a:ln>
          </p:spPr>
        </p:sp>
        <p:sp>
          <p:nvSpPr>
            <p:cNvPr id="46105" name="Line 106"/>
            <p:cNvSpPr/>
            <p:nvPr/>
          </p:nvSpPr>
          <p:spPr>
            <a:xfrm>
              <a:off x="1401" y="3167"/>
              <a:ext cx="136" cy="1"/>
            </a:xfrm>
            <a:prstGeom prst="line">
              <a:avLst/>
            </a:prstGeom>
            <a:ln w="38100" cap="flat" cmpd="sng">
              <a:solidFill>
                <a:schemeClr val="bg1"/>
              </a:solidFill>
              <a:prstDash val="solid"/>
              <a:headEnd type="none" w="med" len="med"/>
              <a:tailEnd type="none" w="med" len="med"/>
            </a:ln>
          </p:spPr>
        </p:sp>
        <p:sp>
          <p:nvSpPr>
            <p:cNvPr id="46106" name="Line 107"/>
            <p:cNvSpPr/>
            <p:nvPr/>
          </p:nvSpPr>
          <p:spPr>
            <a:xfrm>
              <a:off x="1471" y="3168"/>
              <a:ext cx="1" cy="88"/>
            </a:xfrm>
            <a:prstGeom prst="line">
              <a:avLst/>
            </a:prstGeom>
            <a:ln w="38100" cap="flat" cmpd="sng">
              <a:solidFill>
                <a:schemeClr val="bg1"/>
              </a:solidFill>
              <a:prstDash val="solid"/>
              <a:headEnd type="none" w="med" len="med"/>
              <a:tailEnd type="none" w="med" len="med"/>
            </a:ln>
          </p:spPr>
        </p:sp>
        <p:sp>
          <p:nvSpPr>
            <p:cNvPr id="46107" name="Freeform 108"/>
            <p:cNvSpPr/>
            <p:nvPr/>
          </p:nvSpPr>
          <p:spPr>
            <a:xfrm>
              <a:off x="2455" y="2816"/>
              <a:ext cx="56" cy="440"/>
            </a:xfrm>
            <a:custGeom>
              <a:avLst/>
              <a:gdLst>
                <a:gd name="txL" fmla="*/ 0 w 56"/>
                <a:gd name="txT" fmla="*/ 0 h 440"/>
                <a:gd name="txR" fmla="*/ 56 w 56"/>
                <a:gd name="txB" fmla="*/ 440 h 440"/>
              </a:gdLst>
              <a:ahLst/>
              <a:cxnLst>
                <a:cxn ang="0">
                  <a:pos x="12" y="1"/>
                </a:cxn>
                <a:cxn ang="0">
                  <a:pos x="27" y="5"/>
                </a:cxn>
                <a:cxn ang="0">
                  <a:pos x="39" y="15"/>
                </a:cxn>
                <a:cxn ang="0">
                  <a:pos x="49" y="27"/>
                </a:cxn>
                <a:cxn ang="0">
                  <a:pos x="55" y="41"/>
                </a:cxn>
                <a:cxn ang="0">
                  <a:pos x="56" y="57"/>
                </a:cxn>
                <a:cxn ang="0">
                  <a:pos x="52" y="74"/>
                </a:cxn>
                <a:cxn ang="0">
                  <a:pos x="45" y="88"/>
                </a:cxn>
                <a:cxn ang="0">
                  <a:pos x="34" y="99"/>
                </a:cxn>
                <a:cxn ang="0">
                  <a:pos x="21" y="107"/>
                </a:cxn>
                <a:cxn ang="0">
                  <a:pos x="5" y="110"/>
                </a:cxn>
                <a:cxn ang="0">
                  <a:pos x="12" y="111"/>
                </a:cxn>
                <a:cxn ang="0">
                  <a:pos x="27" y="115"/>
                </a:cxn>
                <a:cxn ang="0">
                  <a:pos x="39" y="125"/>
                </a:cxn>
                <a:cxn ang="0">
                  <a:pos x="49" y="137"/>
                </a:cxn>
                <a:cxn ang="0">
                  <a:pos x="55" y="151"/>
                </a:cxn>
                <a:cxn ang="0">
                  <a:pos x="56" y="167"/>
                </a:cxn>
                <a:cxn ang="0">
                  <a:pos x="52" y="184"/>
                </a:cxn>
                <a:cxn ang="0">
                  <a:pos x="45" y="198"/>
                </a:cxn>
                <a:cxn ang="0">
                  <a:pos x="34" y="209"/>
                </a:cxn>
                <a:cxn ang="0">
                  <a:pos x="21" y="217"/>
                </a:cxn>
                <a:cxn ang="0">
                  <a:pos x="5" y="220"/>
                </a:cxn>
                <a:cxn ang="0">
                  <a:pos x="12" y="221"/>
                </a:cxn>
                <a:cxn ang="0">
                  <a:pos x="27" y="225"/>
                </a:cxn>
                <a:cxn ang="0">
                  <a:pos x="39" y="235"/>
                </a:cxn>
                <a:cxn ang="0">
                  <a:pos x="49" y="247"/>
                </a:cxn>
                <a:cxn ang="0">
                  <a:pos x="55" y="261"/>
                </a:cxn>
                <a:cxn ang="0">
                  <a:pos x="56" y="278"/>
                </a:cxn>
                <a:cxn ang="0">
                  <a:pos x="52" y="294"/>
                </a:cxn>
                <a:cxn ang="0">
                  <a:pos x="45" y="308"/>
                </a:cxn>
                <a:cxn ang="0">
                  <a:pos x="34" y="319"/>
                </a:cxn>
                <a:cxn ang="0">
                  <a:pos x="21" y="327"/>
                </a:cxn>
                <a:cxn ang="0">
                  <a:pos x="5" y="330"/>
                </a:cxn>
                <a:cxn ang="0">
                  <a:pos x="12" y="331"/>
                </a:cxn>
                <a:cxn ang="0">
                  <a:pos x="27" y="335"/>
                </a:cxn>
                <a:cxn ang="0">
                  <a:pos x="39" y="345"/>
                </a:cxn>
                <a:cxn ang="0">
                  <a:pos x="49" y="357"/>
                </a:cxn>
                <a:cxn ang="0">
                  <a:pos x="55" y="371"/>
                </a:cxn>
                <a:cxn ang="0">
                  <a:pos x="56" y="388"/>
                </a:cxn>
                <a:cxn ang="0">
                  <a:pos x="52" y="404"/>
                </a:cxn>
                <a:cxn ang="0">
                  <a:pos x="45" y="418"/>
                </a:cxn>
                <a:cxn ang="0">
                  <a:pos x="34" y="429"/>
                </a:cxn>
                <a:cxn ang="0">
                  <a:pos x="21" y="437"/>
                </a:cxn>
                <a:cxn ang="0">
                  <a:pos x="5" y="440"/>
                </a:cxn>
              </a:cxnLst>
              <a:rect l="txL" t="txT" r="txR" b="txB"/>
              <a:pathLst>
                <a:path w="56" h="440">
                  <a:moveTo>
                    <a:pt x="0" y="0"/>
                  </a:moveTo>
                  <a:lnTo>
                    <a:pt x="6" y="0"/>
                  </a:lnTo>
                  <a:lnTo>
                    <a:pt x="12" y="1"/>
                  </a:lnTo>
                  <a:lnTo>
                    <a:pt x="16" y="1"/>
                  </a:lnTo>
                  <a:lnTo>
                    <a:pt x="21" y="4"/>
                  </a:lnTo>
                  <a:lnTo>
                    <a:pt x="27" y="5"/>
                  </a:lnTo>
                  <a:lnTo>
                    <a:pt x="30" y="8"/>
                  </a:lnTo>
                  <a:lnTo>
                    <a:pt x="35" y="11"/>
                  </a:lnTo>
                  <a:lnTo>
                    <a:pt x="39" y="15"/>
                  </a:lnTo>
                  <a:lnTo>
                    <a:pt x="43" y="17"/>
                  </a:lnTo>
                  <a:lnTo>
                    <a:pt x="45" y="22"/>
                  </a:lnTo>
                  <a:lnTo>
                    <a:pt x="49" y="27"/>
                  </a:lnTo>
                  <a:lnTo>
                    <a:pt x="51" y="31"/>
                  </a:lnTo>
                  <a:lnTo>
                    <a:pt x="54" y="37"/>
                  </a:lnTo>
                  <a:lnTo>
                    <a:pt x="55" y="41"/>
                  </a:lnTo>
                  <a:lnTo>
                    <a:pt x="56" y="46"/>
                  </a:lnTo>
                  <a:lnTo>
                    <a:pt x="56" y="52"/>
                  </a:lnTo>
                  <a:lnTo>
                    <a:pt x="56" y="57"/>
                  </a:lnTo>
                  <a:lnTo>
                    <a:pt x="56" y="64"/>
                  </a:lnTo>
                  <a:lnTo>
                    <a:pt x="55" y="68"/>
                  </a:lnTo>
                  <a:lnTo>
                    <a:pt x="52" y="74"/>
                  </a:lnTo>
                  <a:lnTo>
                    <a:pt x="51" y="79"/>
                  </a:lnTo>
                  <a:lnTo>
                    <a:pt x="48" y="84"/>
                  </a:lnTo>
                  <a:lnTo>
                    <a:pt x="45" y="88"/>
                  </a:lnTo>
                  <a:lnTo>
                    <a:pt x="42" y="92"/>
                  </a:lnTo>
                  <a:lnTo>
                    <a:pt x="39" y="96"/>
                  </a:lnTo>
                  <a:lnTo>
                    <a:pt x="34" y="99"/>
                  </a:lnTo>
                  <a:lnTo>
                    <a:pt x="30" y="101"/>
                  </a:lnTo>
                  <a:lnTo>
                    <a:pt x="26" y="104"/>
                  </a:lnTo>
                  <a:lnTo>
                    <a:pt x="21" y="107"/>
                  </a:lnTo>
                  <a:lnTo>
                    <a:pt x="15" y="108"/>
                  </a:lnTo>
                  <a:lnTo>
                    <a:pt x="11" y="110"/>
                  </a:lnTo>
                  <a:lnTo>
                    <a:pt x="5" y="110"/>
                  </a:lnTo>
                  <a:lnTo>
                    <a:pt x="0" y="110"/>
                  </a:lnTo>
                  <a:lnTo>
                    <a:pt x="6" y="110"/>
                  </a:lnTo>
                  <a:lnTo>
                    <a:pt x="12" y="111"/>
                  </a:lnTo>
                  <a:lnTo>
                    <a:pt x="16" y="111"/>
                  </a:lnTo>
                  <a:lnTo>
                    <a:pt x="21" y="114"/>
                  </a:lnTo>
                  <a:lnTo>
                    <a:pt x="27" y="115"/>
                  </a:lnTo>
                  <a:lnTo>
                    <a:pt x="30" y="118"/>
                  </a:lnTo>
                  <a:lnTo>
                    <a:pt x="35" y="121"/>
                  </a:lnTo>
                  <a:lnTo>
                    <a:pt x="39" y="125"/>
                  </a:lnTo>
                  <a:lnTo>
                    <a:pt x="43" y="128"/>
                  </a:lnTo>
                  <a:lnTo>
                    <a:pt x="45" y="132"/>
                  </a:lnTo>
                  <a:lnTo>
                    <a:pt x="49" y="137"/>
                  </a:lnTo>
                  <a:lnTo>
                    <a:pt x="51" y="141"/>
                  </a:lnTo>
                  <a:lnTo>
                    <a:pt x="54" y="147"/>
                  </a:lnTo>
                  <a:lnTo>
                    <a:pt x="55" y="151"/>
                  </a:lnTo>
                  <a:lnTo>
                    <a:pt x="56" y="156"/>
                  </a:lnTo>
                  <a:lnTo>
                    <a:pt x="56" y="162"/>
                  </a:lnTo>
                  <a:lnTo>
                    <a:pt x="56" y="167"/>
                  </a:lnTo>
                  <a:lnTo>
                    <a:pt x="56" y="174"/>
                  </a:lnTo>
                  <a:lnTo>
                    <a:pt x="55" y="178"/>
                  </a:lnTo>
                  <a:lnTo>
                    <a:pt x="52" y="184"/>
                  </a:lnTo>
                  <a:lnTo>
                    <a:pt x="51" y="189"/>
                  </a:lnTo>
                  <a:lnTo>
                    <a:pt x="48" y="194"/>
                  </a:lnTo>
                  <a:lnTo>
                    <a:pt x="45" y="198"/>
                  </a:lnTo>
                  <a:lnTo>
                    <a:pt x="42" y="202"/>
                  </a:lnTo>
                  <a:lnTo>
                    <a:pt x="39" y="206"/>
                  </a:lnTo>
                  <a:lnTo>
                    <a:pt x="34" y="209"/>
                  </a:lnTo>
                  <a:lnTo>
                    <a:pt x="30" y="212"/>
                  </a:lnTo>
                  <a:lnTo>
                    <a:pt x="26" y="214"/>
                  </a:lnTo>
                  <a:lnTo>
                    <a:pt x="21" y="217"/>
                  </a:lnTo>
                  <a:lnTo>
                    <a:pt x="15" y="218"/>
                  </a:lnTo>
                  <a:lnTo>
                    <a:pt x="11" y="220"/>
                  </a:lnTo>
                  <a:lnTo>
                    <a:pt x="5" y="220"/>
                  </a:lnTo>
                  <a:lnTo>
                    <a:pt x="0" y="220"/>
                  </a:lnTo>
                  <a:lnTo>
                    <a:pt x="6" y="220"/>
                  </a:lnTo>
                  <a:lnTo>
                    <a:pt x="12" y="221"/>
                  </a:lnTo>
                  <a:lnTo>
                    <a:pt x="16" y="221"/>
                  </a:lnTo>
                  <a:lnTo>
                    <a:pt x="21" y="224"/>
                  </a:lnTo>
                  <a:lnTo>
                    <a:pt x="27" y="225"/>
                  </a:lnTo>
                  <a:lnTo>
                    <a:pt x="30" y="228"/>
                  </a:lnTo>
                  <a:lnTo>
                    <a:pt x="35" y="231"/>
                  </a:lnTo>
                  <a:lnTo>
                    <a:pt x="39" y="235"/>
                  </a:lnTo>
                  <a:lnTo>
                    <a:pt x="43" y="238"/>
                  </a:lnTo>
                  <a:lnTo>
                    <a:pt x="45" y="242"/>
                  </a:lnTo>
                  <a:lnTo>
                    <a:pt x="49" y="247"/>
                  </a:lnTo>
                  <a:lnTo>
                    <a:pt x="51" y="251"/>
                  </a:lnTo>
                  <a:lnTo>
                    <a:pt x="54" y="257"/>
                  </a:lnTo>
                  <a:lnTo>
                    <a:pt x="55" y="261"/>
                  </a:lnTo>
                  <a:lnTo>
                    <a:pt x="56" y="267"/>
                  </a:lnTo>
                  <a:lnTo>
                    <a:pt x="56" y="272"/>
                  </a:lnTo>
                  <a:lnTo>
                    <a:pt x="56" y="278"/>
                  </a:lnTo>
                  <a:lnTo>
                    <a:pt x="56" y="284"/>
                  </a:lnTo>
                  <a:lnTo>
                    <a:pt x="55" y="289"/>
                  </a:lnTo>
                  <a:lnTo>
                    <a:pt x="52" y="294"/>
                  </a:lnTo>
                  <a:lnTo>
                    <a:pt x="51" y="300"/>
                  </a:lnTo>
                  <a:lnTo>
                    <a:pt x="48" y="304"/>
                  </a:lnTo>
                  <a:lnTo>
                    <a:pt x="45" y="308"/>
                  </a:lnTo>
                  <a:lnTo>
                    <a:pt x="42" y="312"/>
                  </a:lnTo>
                  <a:lnTo>
                    <a:pt x="39" y="316"/>
                  </a:lnTo>
                  <a:lnTo>
                    <a:pt x="34" y="319"/>
                  </a:lnTo>
                  <a:lnTo>
                    <a:pt x="30" y="322"/>
                  </a:lnTo>
                  <a:lnTo>
                    <a:pt x="26" y="324"/>
                  </a:lnTo>
                  <a:lnTo>
                    <a:pt x="21" y="327"/>
                  </a:lnTo>
                  <a:lnTo>
                    <a:pt x="15" y="328"/>
                  </a:lnTo>
                  <a:lnTo>
                    <a:pt x="11" y="330"/>
                  </a:lnTo>
                  <a:lnTo>
                    <a:pt x="5" y="330"/>
                  </a:lnTo>
                  <a:lnTo>
                    <a:pt x="0" y="330"/>
                  </a:lnTo>
                  <a:lnTo>
                    <a:pt x="6" y="330"/>
                  </a:lnTo>
                  <a:lnTo>
                    <a:pt x="12" y="331"/>
                  </a:lnTo>
                  <a:lnTo>
                    <a:pt x="16" y="331"/>
                  </a:lnTo>
                  <a:lnTo>
                    <a:pt x="21" y="334"/>
                  </a:lnTo>
                  <a:lnTo>
                    <a:pt x="27" y="335"/>
                  </a:lnTo>
                  <a:lnTo>
                    <a:pt x="30" y="338"/>
                  </a:lnTo>
                  <a:lnTo>
                    <a:pt x="35" y="341"/>
                  </a:lnTo>
                  <a:lnTo>
                    <a:pt x="39" y="345"/>
                  </a:lnTo>
                  <a:lnTo>
                    <a:pt x="43" y="348"/>
                  </a:lnTo>
                  <a:lnTo>
                    <a:pt x="45" y="352"/>
                  </a:lnTo>
                  <a:lnTo>
                    <a:pt x="49" y="357"/>
                  </a:lnTo>
                  <a:lnTo>
                    <a:pt x="51" y="362"/>
                  </a:lnTo>
                  <a:lnTo>
                    <a:pt x="54" y="367"/>
                  </a:lnTo>
                  <a:lnTo>
                    <a:pt x="55" y="371"/>
                  </a:lnTo>
                  <a:lnTo>
                    <a:pt x="56" y="377"/>
                  </a:lnTo>
                  <a:lnTo>
                    <a:pt x="56" y="382"/>
                  </a:lnTo>
                  <a:lnTo>
                    <a:pt x="56" y="388"/>
                  </a:lnTo>
                  <a:lnTo>
                    <a:pt x="56" y="395"/>
                  </a:lnTo>
                  <a:lnTo>
                    <a:pt x="55" y="399"/>
                  </a:lnTo>
                  <a:lnTo>
                    <a:pt x="52" y="404"/>
                  </a:lnTo>
                  <a:lnTo>
                    <a:pt x="51" y="410"/>
                  </a:lnTo>
                  <a:lnTo>
                    <a:pt x="48" y="414"/>
                  </a:lnTo>
                  <a:lnTo>
                    <a:pt x="45" y="418"/>
                  </a:lnTo>
                  <a:lnTo>
                    <a:pt x="42" y="422"/>
                  </a:lnTo>
                  <a:lnTo>
                    <a:pt x="39" y="426"/>
                  </a:lnTo>
                  <a:lnTo>
                    <a:pt x="34" y="429"/>
                  </a:lnTo>
                  <a:lnTo>
                    <a:pt x="30" y="432"/>
                  </a:lnTo>
                  <a:lnTo>
                    <a:pt x="26" y="434"/>
                  </a:lnTo>
                  <a:lnTo>
                    <a:pt x="21" y="437"/>
                  </a:lnTo>
                  <a:lnTo>
                    <a:pt x="15" y="439"/>
                  </a:lnTo>
                  <a:lnTo>
                    <a:pt x="11" y="440"/>
                  </a:lnTo>
                  <a:lnTo>
                    <a:pt x="5" y="440"/>
                  </a:lnTo>
                  <a:lnTo>
                    <a:pt x="0" y="440"/>
                  </a:lnTo>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08" name="Line 109"/>
            <p:cNvSpPr/>
            <p:nvPr/>
          </p:nvSpPr>
          <p:spPr>
            <a:xfrm flipH="1">
              <a:off x="2344" y="2816"/>
              <a:ext cx="111" cy="1"/>
            </a:xfrm>
            <a:prstGeom prst="line">
              <a:avLst/>
            </a:prstGeom>
            <a:ln w="38100" cap="flat" cmpd="sng">
              <a:solidFill>
                <a:schemeClr val="bg1"/>
              </a:solidFill>
              <a:prstDash val="solid"/>
              <a:headEnd type="none" w="med" len="med"/>
              <a:tailEnd type="none" w="med" len="med"/>
            </a:ln>
          </p:spPr>
        </p:sp>
        <p:sp>
          <p:nvSpPr>
            <p:cNvPr id="46109" name="Line 110"/>
            <p:cNvSpPr/>
            <p:nvPr/>
          </p:nvSpPr>
          <p:spPr>
            <a:xfrm flipH="1">
              <a:off x="2288" y="2816"/>
              <a:ext cx="56" cy="1"/>
            </a:xfrm>
            <a:prstGeom prst="line">
              <a:avLst/>
            </a:prstGeom>
            <a:ln w="38100" cap="flat" cmpd="sng">
              <a:solidFill>
                <a:schemeClr val="bg1"/>
              </a:solidFill>
              <a:prstDash val="solid"/>
              <a:headEnd type="none" w="med" len="med"/>
              <a:tailEnd type="none" w="med" len="med"/>
            </a:ln>
          </p:spPr>
        </p:sp>
        <p:sp>
          <p:nvSpPr>
            <p:cNvPr id="46110" name="Rectangle 111"/>
            <p:cNvSpPr/>
            <p:nvPr/>
          </p:nvSpPr>
          <p:spPr>
            <a:xfrm>
              <a:off x="2968" y="2020"/>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解调器</a:t>
              </a:r>
              <a:endParaRPr lang="zh-CN" altLang="en-US" sz="2400" b="1" dirty="0">
                <a:solidFill>
                  <a:schemeClr val="bg1"/>
                </a:solidFill>
                <a:latin typeface="宋体" panose="02010600030101010101" pitchFamily="2" charset="-122"/>
              </a:endParaRPr>
            </a:p>
          </p:txBody>
        </p:sp>
        <p:sp>
          <p:nvSpPr>
            <p:cNvPr id="46111" name="Line 112"/>
            <p:cNvSpPr/>
            <p:nvPr/>
          </p:nvSpPr>
          <p:spPr>
            <a:xfrm flipV="1">
              <a:off x="2789" y="2018"/>
              <a:ext cx="161" cy="0"/>
            </a:xfrm>
            <a:prstGeom prst="line">
              <a:avLst/>
            </a:prstGeom>
            <a:ln w="38100" cap="flat" cmpd="sng">
              <a:solidFill>
                <a:schemeClr val="bg1"/>
              </a:solidFill>
              <a:prstDash val="solid"/>
              <a:headEnd type="none" w="med" len="med"/>
              <a:tailEnd type="none" w="med" len="med"/>
            </a:ln>
          </p:spPr>
        </p:sp>
        <p:sp>
          <p:nvSpPr>
            <p:cNvPr id="46112" name="Freeform 113"/>
            <p:cNvSpPr/>
            <p:nvPr/>
          </p:nvSpPr>
          <p:spPr>
            <a:xfrm>
              <a:off x="2734" y="2816"/>
              <a:ext cx="55" cy="440"/>
            </a:xfrm>
            <a:custGeom>
              <a:avLst/>
              <a:gdLst>
                <a:gd name="txL" fmla="*/ 0 w 55"/>
                <a:gd name="txT" fmla="*/ 0 h 440"/>
                <a:gd name="txR" fmla="*/ 55 w 55"/>
                <a:gd name="txB" fmla="*/ 440 h 440"/>
              </a:gdLst>
              <a:ahLst/>
              <a:cxnLst>
                <a:cxn ang="0">
                  <a:pos x="45" y="1"/>
                </a:cxn>
                <a:cxn ang="0">
                  <a:pos x="30" y="5"/>
                </a:cxn>
                <a:cxn ang="0">
                  <a:pos x="17" y="15"/>
                </a:cxn>
                <a:cxn ang="0">
                  <a:pos x="8" y="27"/>
                </a:cxn>
                <a:cxn ang="0">
                  <a:pos x="2" y="41"/>
                </a:cxn>
                <a:cxn ang="0">
                  <a:pos x="0" y="57"/>
                </a:cxn>
                <a:cxn ang="0">
                  <a:pos x="3" y="74"/>
                </a:cxn>
                <a:cxn ang="0">
                  <a:pos x="11" y="88"/>
                </a:cxn>
                <a:cxn ang="0">
                  <a:pos x="22" y="99"/>
                </a:cxn>
                <a:cxn ang="0">
                  <a:pos x="36" y="107"/>
                </a:cxn>
                <a:cxn ang="0">
                  <a:pos x="52" y="110"/>
                </a:cxn>
                <a:cxn ang="0">
                  <a:pos x="45" y="111"/>
                </a:cxn>
                <a:cxn ang="0">
                  <a:pos x="30" y="115"/>
                </a:cxn>
                <a:cxn ang="0">
                  <a:pos x="17" y="125"/>
                </a:cxn>
                <a:cxn ang="0">
                  <a:pos x="8" y="137"/>
                </a:cxn>
                <a:cxn ang="0">
                  <a:pos x="2" y="151"/>
                </a:cxn>
                <a:cxn ang="0">
                  <a:pos x="0" y="167"/>
                </a:cxn>
                <a:cxn ang="0">
                  <a:pos x="3" y="184"/>
                </a:cxn>
                <a:cxn ang="0">
                  <a:pos x="11" y="198"/>
                </a:cxn>
                <a:cxn ang="0">
                  <a:pos x="22" y="209"/>
                </a:cxn>
                <a:cxn ang="0">
                  <a:pos x="36" y="217"/>
                </a:cxn>
                <a:cxn ang="0">
                  <a:pos x="52" y="220"/>
                </a:cxn>
                <a:cxn ang="0">
                  <a:pos x="45" y="221"/>
                </a:cxn>
                <a:cxn ang="0">
                  <a:pos x="30" y="225"/>
                </a:cxn>
                <a:cxn ang="0">
                  <a:pos x="17" y="235"/>
                </a:cxn>
                <a:cxn ang="0">
                  <a:pos x="8" y="247"/>
                </a:cxn>
                <a:cxn ang="0">
                  <a:pos x="2" y="261"/>
                </a:cxn>
                <a:cxn ang="0">
                  <a:pos x="0" y="278"/>
                </a:cxn>
                <a:cxn ang="0">
                  <a:pos x="3" y="294"/>
                </a:cxn>
                <a:cxn ang="0">
                  <a:pos x="11" y="308"/>
                </a:cxn>
                <a:cxn ang="0">
                  <a:pos x="22" y="319"/>
                </a:cxn>
                <a:cxn ang="0">
                  <a:pos x="36" y="327"/>
                </a:cxn>
                <a:cxn ang="0">
                  <a:pos x="52" y="330"/>
                </a:cxn>
                <a:cxn ang="0">
                  <a:pos x="45" y="331"/>
                </a:cxn>
                <a:cxn ang="0">
                  <a:pos x="30" y="335"/>
                </a:cxn>
                <a:cxn ang="0">
                  <a:pos x="17" y="345"/>
                </a:cxn>
                <a:cxn ang="0">
                  <a:pos x="8" y="357"/>
                </a:cxn>
                <a:cxn ang="0">
                  <a:pos x="2" y="371"/>
                </a:cxn>
                <a:cxn ang="0">
                  <a:pos x="0" y="388"/>
                </a:cxn>
                <a:cxn ang="0">
                  <a:pos x="3" y="404"/>
                </a:cxn>
                <a:cxn ang="0">
                  <a:pos x="11" y="418"/>
                </a:cxn>
                <a:cxn ang="0">
                  <a:pos x="22" y="429"/>
                </a:cxn>
                <a:cxn ang="0">
                  <a:pos x="36" y="437"/>
                </a:cxn>
                <a:cxn ang="0">
                  <a:pos x="52" y="440"/>
                </a:cxn>
              </a:cxnLst>
              <a:rect l="txL" t="txT" r="txR" b="txB"/>
              <a:pathLst>
                <a:path w="55" h="440">
                  <a:moveTo>
                    <a:pt x="55" y="0"/>
                  </a:moveTo>
                  <a:lnTo>
                    <a:pt x="51" y="0"/>
                  </a:lnTo>
                  <a:lnTo>
                    <a:pt x="45" y="1"/>
                  </a:lnTo>
                  <a:lnTo>
                    <a:pt x="40" y="1"/>
                  </a:lnTo>
                  <a:lnTo>
                    <a:pt x="35" y="4"/>
                  </a:lnTo>
                  <a:lnTo>
                    <a:pt x="30" y="5"/>
                  </a:lnTo>
                  <a:lnTo>
                    <a:pt x="25" y="8"/>
                  </a:lnTo>
                  <a:lnTo>
                    <a:pt x="22" y="11"/>
                  </a:lnTo>
                  <a:lnTo>
                    <a:pt x="17" y="15"/>
                  </a:lnTo>
                  <a:lnTo>
                    <a:pt x="14" y="17"/>
                  </a:lnTo>
                  <a:lnTo>
                    <a:pt x="10" y="22"/>
                  </a:lnTo>
                  <a:lnTo>
                    <a:pt x="8" y="27"/>
                  </a:lnTo>
                  <a:lnTo>
                    <a:pt x="6" y="31"/>
                  </a:lnTo>
                  <a:lnTo>
                    <a:pt x="3" y="37"/>
                  </a:lnTo>
                  <a:lnTo>
                    <a:pt x="2" y="41"/>
                  </a:lnTo>
                  <a:lnTo>
                    <a:pt x="1" y="46"/>
                  </a:lnTo>
                  <a:lnTo>
                    <a:pt x="0" y="52"/>
                  </a:lnTo>
                  <a:lnTo>
                    <a:pt x="0" y="57"/>
                  </a:lnTo>
                  <a:lnTo>
                    <a:pt x="1" y="64"/>
                  </a:lnTo>
                  <a:lnTo>
                    <a:pt x="2" y="68"/>
                  </a:lnTo>
                  <a:lnTo>
                    <a:pt x="3" y="74"/>
                  </a:lnTo>
                  <a:lnTo>
                    <a:pt x="6" y="79"/>
                  </a:lnTo>
                  <a:lnTo>
                    <a:pt x="8" y="84"/>
                  </a:lnTo>
                  <a:lnTo>
                    <a:pt x="11" y="88"/>
                  </a:lnTo>
                  <a:lnTo>
                    <a:pt x="15" y="92"/>
                  </a:lnTo>
                  <a:lnTo>
                    <a:pt x="18" y="96"/>
                  </a:lnTo>
                  <a:lnTo>
                    <a:pt x="22" y="99"/>
                  </a:lnTo>
                  <a:lnTo>
                    <a:pt x="26" y="101"/>
                  </a:lnTo>
                  <a:lnTo>
                    <a:pt x="31" y="104"/>
                  </a:lnTo>
                  <a:lnTo>
                    <a:pt x="36" y="107"/>
                  </a:lnTo>
                  <a:lnTo>
                    <a:pt x="40" y="108"/>
                  </a:lnTo>
                  <a:lnTo>
                    <a:pt x="46" y="110"/>
                  </a:lnTo>
                  <a:lnTo>
                    <a:pt x="52" y="110"/>
                  </a:lnTo>
                  <a:lnTo>
                    <a:pt x="55" y="110"/>
                  </a:lnTo>
                  <a:lnTo>
                    <a:pt x="51" y="110"/>
                  </a:lnTo>
                  <a:lnTo>
                    <a:pt x="45" y="111"/>
                  </a:lnTo>
                  <a:lnTo>
                    <a:pt x="40" y="111"/>
                  </a:lnTo>
                  <a:lnTo>
                    <a:pt x="35" y="114"/>
                  </a:lnTo>
                  <a:lnTo>
                    <a:pt x="30" y="115"/>
                  </a:lnTo>
                  <a:lnTo>
                    <a:pt x="25" y="118"/>
                  </a:lnTo>
                  <a:lnTo>
                    <a:pt x="22" y="121"/>
                  </a:lnTo>
                  <a:lnTo>
                    <a:pt x="17" y="125"/>
                  </a:lnTo>
                  <a:lnTo>
                    <a:pt x="14" y="128"/>
                  </a:lnTo>
                  <a:lnTo>
                    <a:pt x="10" y="132"/>
                  </a:lnTo>
                  <a:lnTo>
                    <a:pt x="8" y="137"/>
                  </a:lnTo>
                  <a:lnTo>
                    <a:pt x="6" y="141"/>
                  </a:lnTo>
                  <a:lnTo>
                    <a:pt x="3" y="147"/>
                  </a:lnTo>
                  <a:lnTo>
                    <a:pt x="2" y="151"/>
                  </a:lnTo>
                  <a:lnTo>
                    <a:pt x="1" y="156"/>
                  </a:lnTo>
                  <a:lnTo>
                    <a:pt x="0" y="162"/>
                  </a:lnTo>
                  <a:lnTo>
                    <a:pt x="0" y="167"/>
                  </a:lnTo>
                  <a:lnTo>
                    <a:pt x="1" y="174"/>
                  </a:lnTo>
                  <a:lnTo>
                    <a:pt x="2" y="178"/>
                  </a:lnTo>
                  <a:lnTo>
                    <a:pt x="3" y="184"/>
                  </a:lnTo>
                  <a:lnTo>
                    <a:pt x="6" y="189"/>
                  </a:lnTo>
                  <a:lnTo>
                    <a:pt x="8" y="194"/>
                  </a:lnTo>
                  <a:lnTo>
                    <a:pt x="11" y="198"/>
                  </a:lnTo>
                  <a:lnTo>
                    <a:pt x="15" y="202"/>
                  </a:lnTo>
                  <a:lnTo>
                    <a:pt x="18" y="206"/>
                  </a:lnTo>
                  <a:lnTo>
                    <a:pt x="22" y="209"/>
                  </a:lnTo>
                  <a:lnTo>
                    <a:pt x="26" y="212"/>
                  </a:lnTo>
                  <a:lnTo>
                    <a:pt x="31" y="214"/>
                  </a:lnTo>
                  <a:lnTo>
                    <a:pt x="36" y="217"/>
                  </a:lnTo>
                  <a:lnTo>
                    <a:pt x="40" y="218"/>
                  </a:lnTo>
                  <a:lnTo>
                    <a:pt x="46" y="220"/>
                  </a:lnTo>
                  <a:lnTo>
                    <a:pt x="52" y="220"/>
                  </a:lnTo>
                  <a:lnTo>
                    <a:pt x="55" y="220"/>
                  </a:lnTo>
                  <a:lnTo>
                    <a:pt x="51" y="220"/>
                  </a:lnTo>
                  <a:lnTo>
                    <a:pt x="45" y="221"/>
                  </a:lnTo>
                  <a:lnTo>
                    <a:pt x="40" y="221"/>
                  </a:lnTo>
                  <a:lnTo>
                    <a:pt x="35" y="224"/>
                  </a:lnTo>
                  <a:lnTo>
                    <a:pt x="30" y="225"/>
                  </a:lnTo>
                  <a:lnTo>
                    <a:pt x="25" y="228"/>
                  </a:lnTo>
                  <a:lnTo>
                    <a:pt x="22" y="231"/>
                  </a:lnTo>
                  <a:lnTo>
                    <a:pt x="17" y="235"/>
                  </a:lnTo>
                  <a:lnTo>
                    <a:pt x="14" y="238"/>
                  </a:lnTo>
                  <a:lnTo>
                    <a:pt x="10" y="242"/>
                  </a:lnTo>
                  <a:lnTo>
                    <a:pt x="8" y="247"/>
                  </a:lnTo>
                  <a:lnTo>
                    <a:pt x="6" y="251"/>
                  </a:lnTo>
                  <a:lnTo>
                    <a:pt x="3" y="257"/>
                  </a:lnTo>
                  <a:lnTo>
                    <a:pt x="2" y="261"/>
                  </a:lnTo>
                  <a:lnTo>
                    <a:pt x="1" y="267"/>
                  </a:lnTo>
                  <a:lnTo>
                    <a:pt x="0" y="272"/>
                  </a:lnTo>
                  <a:lnTo>
                    <a:pt x="0" y="278"/>
                  </a:lnTo>
                  <a:lnTo>
                    <a:pt x="1" y="284"/>
                  </a:lnTo>
                  <a:lnTo>
                    <a:pt x="2" y="289"/>
                  </a:lnTo>
                  <a:lnTo>
                    <a:pt x="3" y="294"/>
                  </a:lnTo>
                  <a:lnTo>
                    <a:pt x="6" y="300"/>
                  </a:lnTo>
                  <a:lnTo>
                    <a:pt x="8" y="304"/>
                  </a:lnTo>
                  <a:lnTo>
                    <a:pt x="11" y="308"/>
                  </a:lnTo>
                  <a:lnTo>
                    <a:pt x="15" y="312"/>
                  </a:lnTo>
                  <a:lnTo>
                    <a:pt x="18" y="316"/>
                  </a:lnTo>
                  <a:lnTo>
                    <a:pt x="22" y="319"/>
                  </a:lnTo>
                  <a:lnTo>
                    <a:pt x="26" y="322"/>
                  </a:lnTo>
                  <a:lnTo>
                    <a:pt x="31" y="324"/>
                  </a:lnTo>
                  <a:lnTo>
                    <a:pt x="36" y="327"/>
                  </a:lnTo>
                  <a:lnTo>
                    <a:pt x="40" y="328"/>
                  </a:lnTo>
                  <a:lnTo>
                    <a:pt x="46" y="330"/>
                  </a:lnTo>
                  <a:lnTo>
                    <a:pt x="52" y="330"/>
                  </a:lnTo>
                  <a:lnTo>
                    <a:pt x="55" y="330"/>
                  </a:lnTo>
                  <a:lnTo>
                    <a:pt x="51" y="330"/>
                  </a:lnTo>
                  <a:lnTo>
                    <a:pt x="45" y="331"/>
                  </a:lnTo>
                  <a:lnTo>
                    <a:pt x="40" y="331"/>
                  </a:lnTo>
                  <a:lnTo>
                    <a:pt x="35" y="334"/>
                  </a:lnTo>
                  <a:lnTo>
                    <a:pt x="30" y="335"/>
                  </a:lnTo>
                  <a:lnTo>
                    <a:pt x="25" y="338"/>
                  </a:lnTo>
                  <a:lnTo>
                    <a:pt x="22" y="341"/>
                  </a:lnTo>
                  <a:lnTo>
                    <a:pt x="17" y="345"/>
                  </a:lnTo>
                  <a:lnTo>
                    <a:pt x="14" y="348"/>
                  </a:lnTo>
                  <a:lnTo>
                    <a:pt x="10" y="352"/>
                  </a:lnTo>
                  <a:lnTo>
                    <a:pt x="8" y="357"/>
                  </a:lnTo>
                  <a:lnTo>
                    <a:pt x="6" y="362"/>
                  </a:lnTo>
                  <a:lnTo>
                    <a:pt x="3" y="367"/>
                  </a:lnTo>
                  <a:lnTo>
                    <a:pt x="2" y="371"/>
                  </a:lnTo>
                  <a:lnTo>
                    <a:pt x="1" y="377"/>
                  </a:lnTo>
                  <a:lnTo>
                    <a:pt x="0" y="382"/>
                  </a:lnTo>
                  <a:lnTo>
                    <a:pt x="0" y="388"/>
                  </a:lnTo>
                  <a:lnTo>
                    <a:pt x="1" y="395"/>
                  </a:lnTo>
                  <a:lnTo>
                    <a:pt x="2" y="399"/>
                  </a:lnTo>
                  <a:lnTo>
                    <a:pt x="3" y="404"/>
                  </a:lnTo>
                  <a:lnTo>
                    <a:pt x="6" y="410"/>
                  </a:lnTo>
                  <a:lnTo>
                    <a:pt x="8" y="414"/>
                  </a:lnTo>
                  <a:lnTo>
                    <a:pt x="11" y="418"/>
                  </a:lnTo>
                  <a:lnTo>
                    <a:pt x="15" y="422"/>
                  </a:lnTo>
                  <a:lnTo>
                    <a:pt x="18" y="426"/>
                  </a:lnTo>
                  <a:lnTo>
                    <a:pt x="22" y="429"/>
                  </a:lnTo>
                  <a:lnTo>
                    <a:pt x="26" y="432"/>
                  </a:lnTo>
                  <a:lnTo>
                    <a:pt x="31" y="434"/>
                  </a:lnTo>
                  <a:lnTo>
                    <a:pt x="36" y="437"/>
                  </a:lnTo>
                  <a:lnTo>
                    <a:pt x="40" y="439"/>
                  </a:lnTo>
                  <a:lnTo>
                    <a:pt x="46" y="440"/>
                  </a:lnTo>
                  <a:lnTo>
                    <a:pt x="52" y="440"/>
                  </a:lnTo>
                  <a:lnTo>
                    <a:pt x="55" y="440"/>
                  </a:lnTo>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13" name="Line 114"/>
            <p:cNvSpPr/>
            <p:nvPr/>
          </p:nvSpPr>
          <p:spPr>
            <a:xfrm>
              <a:off x="2789" y="2816"/>
              <a:ext cx="112" cy="1"/>
            </a:xfrm>
            <a:prstGeom prst="line">
              <a:avLst/>
            </a:prstGeom>
            <a:ln w="38100" cap="flat" cmpd="sng">
              <a:solidFill>
                <a:schemeClr val="bg1"/>
              </a:solidFill>
              <a:prstDash val="solid"/>
              <a:headEnd type="none" w="med" len="med"/>
              <a:tailEnd type="none" w="med" len="med"/>
            </a:ln>
          </p:spPr>
        </p:sp>
        <p:sp>
          <p:nvSpPr>
            <p:cNvPr id="46114" name="Rectangle 115"/>
            <p:cNvSpPr/>
            <p:nvPr/>
          </p:nvSpPr>
          <p:spPr>
            <a:xfrm>
              <a:off x="2950" y="2772"/>
              <a:ext cx="668" cy="52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15" name="Rectangle 116"/>
            <p:cNvSpPr/>
            <p:nvPr/>
          </p:nvSpPr>
          <p:spPr>
            <a:xfrm>
              <a:off x="3004" y="2889"/>
              <a:ext cx="579" cy="230"/>
            </a:xfrm>
            <a:prstGeom prst="rect">
              <a:avLst/>
            </a:prstGeom>
            <a:noFill/>
            <a:ln w="38100">
              <a:noFill/>
            </a:ln>
          </p:spPr>
          <p:txBody>
            <a:bodyPr wrap="none" lIns="0" tIns="0" rIns="0" bIns="0">
              <a:spAutoFit/>
            </a:bodyPr>
            <a:p>
              <a:pPr algn="just" eaLnBrk="1" hangingPunct="1"/>
              <a:r>
                <a:rPr lang="zh-CN" altLang="en-US" sz="2400" b="1" dirty="0">
                  <a:solidFill>
                    <a:schemeClr val="bg1"/>
                  </a:solidFill>
                  <a:latin typeface="宋体" panose="02010600030101010101" pitchFamily="2" charset="-122"/>
                </a:rPr>
                <a:t>振荡器</a:t>
              </a:r>
              <a:endParaRPr lang="zh-CN" altLang="en-US" sz="2400" b="1" dirty="0">
                <a:solidFill>
                  <a:schemeClr val="bg1"/>
                </a:solidFill>
                <a:latin typeface="宋体" panose="02010600030101010101" pitchFamily="2" charset="-122"/>
              </a:endParaRPr>
            </a:p>
          </p:txBody>
        </p:sp>
        <p:sp>
          <p:nvSpPr>
            <p:cNvPr id="46116" name="Line 117"/>
            <p:cNvSpPr/>
            <p:nvPr/>
          </p:nvSpPr>
          <p:spPr>
            <a:xfrm flipH="1">
              <a:off x="2894" y="2816"/>
              <a:ext cx="56" cy="1"/>
            </a:xfrm>
            <a:prstGeom prst="line">
              <a:avLst/>
            </a:prstGeom>
            <a:ln w="38100" cap="flat" cmpd="sng">
              <a:solidFill>
                <a:schemeClr val="bg1"/>
              </a:solidFill>
              <a:prstDash val="solid"/>
              <a:headEnd type="none" w="med" len="med"/>
              <a:tailEnd type="none" w="med" len="med"/>
            </a:ln>
          </p:spPr>
        </p:sp>
        <p:sp>
          <p:nvSpPr>
            <p:cNvPr id="46117" name="Rectangle 118"/>
            <p:cNvSpPr/>
            <p:nvPr/>
          </p:nvSpPr>
          <p:spPr>
            <a:xfrm>
              <a:off x="3713" y="2020"/>
              <a:ext cx="263" cy="8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18" name="Line 119"/>
            <p:cNvSpPr/>
            <p:nvPr/>
          </p:nvSpPr>
          <p:spPr>
            <a:xfrm>
              <a:off x="3551" y="2067"/>
              <a:ext cx="162" cy="1"/>
            </a:xfrm>
            <a:prstGeom prst="line">
              <a:avLst/>
            </a:prstGeom>
            <a:ln w="38100" cap="flat" cmpd="sng">
              <a:solidFill>
                <a:schemeClr val="bg1"/>
              </a:solidFill>
              <a:prstDash val="solid"/>
              <a:headEnd type="none" w="med" len="med"/>
              <a:tailEnd type="none" w="med" len="med"/>
            </a:ln>
          </p:spPr>
        </p:sp>
        <p:sp>
          <p:nvSpPr>
            <p:cNvPr id="46119" name="Line 120"/>
            <p:cNvSpPr/>
            <p:nvPr/>
          </p:nvSpPr>
          <p:spPr>
            <a:xfrm>
              <a:off x="3976" y="2067"/>
              <a:ext cx="282" cy="1"/>
            </a:xfrm>
            <a:prstGeom prst="line">
              <a:avLst/>
            </a:prstGeom>
            <a:ln w="38100" cap="flat" cmpd="sng">
              <a:solidFill>
                <a:schemeClr val="bg1"/>
              </a:solidFill>
              <a:prstDash val="solid"/>
              <a:headEnd type="none" w="med" len="med"/>
              <a:tailEnd type="none" w="med" len="med"/>
            </a:ln>
          </p:spPr>
        </p:sp>
        <p:sp>
          <p:nvSpPr>
            <p:cNvPr id="46120" name="Line 121"/>
            <p:cNvSpPr/>
            <p:nvPr/>
          </p:nvSpPr>
          <p:spPr>
            <a:xfrm>
              <a:off x="3551" y="2243"/>
              <a:ext cx="707" cy="1"/>
            </a:xfrm>
            <a:prstGeom prst="line">
              <a:avLst/>
            </a:prstGeom>
            <a:ln w="38100" cap="flat" cmpd="sng">
              <a:solidFill>
                <a:schemeClr val="bg1"/>
              </a:solidFill>
              <a:prstDash val="solid"/>
              <a:headEnd type="none" w="med" len="med"/>
              <a:tailEnd type="none" w="med" len="med"/>
            </a:ln>
          </p:spPr>
        </p:sp>
        <p:sp>
          <p:nvSpPr>
            <p:cNvPr id="46121" name="Rectangle 122"/>
            <p:cNvSpPr/>
            <p:nvPr/>
          </p:nvSpPr>
          <p:spPr>
            <a:xfrm>
              <a:off x="4285" y="2151"/>
              <a:ext cx="101"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Symbol" panose="05050102010706020507" pitchFamily="18" charset="2"/>
                </a:rPr>
                <a:t>+</a:t>
              </a:r>
              <a:endParaRPr lang="en-US" altLang="zh-CN" sz="2300" b="1" dirty="0">
                <a:solidFill>
                  <a:schemeClr val="bg1"/>
                </a:solidFill>
                <a:latin typeface="Symbol" panose="05050102010706020507" pitchFamily="18" charset="2"/>
              </a:endParaRPr>
            </a:p>
          </p:txBody>
        </p:sp>
        <p:sp>
          <p:nvSpPr>
            <p:cNvPr id="46122" name="Rectangle 123"/>
            <p:cNvSpPr/>
            <p:nvPr/>
          </p:nvSpPr>
          <p:spPr>
            <a:xfrm>
              <a:off x="4286" y="1892"/>
              <a:ext cx="101"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Symbol" panose="05050102010706020507" pitchFamily="18" charset="2"/>
                </a:rPr>
                <a:t>-</a:t>
              </a:r>
              <a:endParaRPr lang="en-US" altLang="zh-CN" sz="2300" b="1" dirty="0">
                <a:solidFill>
                  <a:schemeClr val="bg1"/>
                </a:solidFill>
                <a:latin typeface="Symbol" panose="05050102010706020507" pitchFamily="18" charset="2"/>
              </a:endParaRPr>
            </a:p>
          </p:txBody>
        </p:sp>
        <p:sp>
          <p:nvSpPr>
            <p:cNvPr id="46123" name="Rectangle 124"/>
            <p:cNvSpPr/>
            <p:nvPr/>
          </p:nvSpPr>
          <p:spPr>
            <a:xfrm>
              <a:off x="4517" y="2115"/>
              <a:ext cx="52" cy="125"/>
            </a:xfrm>
            <a:prstGeom prst="rect">
              <a:avLst/>
            </a:prstGeom>
            <a:noFill/>
            <a:ln w="38100">
              <a:noFill/>
            </a:ln>
          </p:spPr>
          <p:txBody>
            <a:bodyPr wrap="none" lIns="0" tIns="0" rIns="0" bIns="0">
              <a:spAutoFit/>
            </a:bodyPr>
            <a:p>
              <a:pPr algn="just" eaLnBrk="1" hangingPunct="1"/>
              <a:r>
                <a:rPr lang="en-US" altLang="zh-CN" sz="1300" b="1" dirty="0">
                  <a:solidFill>
                    <a:schemeClr val="bg1"/>
                  </a:solidFill>
                  <a:latin typeface="Times New Roman" panose="02020603050405020304" pitchFamily="18" charset="0"/>
                </a:rPr>
                <a:t>2</a:t>
              </a:r>
              <a:endParaRPr lang="en-US" altLang="zh-CN" sz="1300" b="1" dirty="0">
                <a:solidFill>
                  <a:schemeClr val="bg1"/>
                </a:solidFill>
                <a:latin typeface="Times New Roman" panose="02020603050405020304" pitchFamily="18" charset="0"/>
              </a:endParaRPr>
            </a:p>
          </p:txBody>
        </p:sp>
        <p:sp>
          <p:nvSpPr>
            <p:cNvPr id="46124" name="Rectangle 125"/>
            <p:cNvSpPr/>
            <p:nvPr/>
          </p:nvSpPr>
          <p:spPr>
            <a:xfrm>
              <a:off x="4372" y="2000"/>
              <a:ext cx="133" cy="221"/>
            </a:xfrm>
            <a:prstGeom prst="rect">
              <a:avLst/>
            </a:prstGeom>
            <a:noFill/>
            <a:ln w="38100">
              <a:noFill/>
            </a:ln>
          </p:spPr>
          <p:txBody>
            <a:bodyPr wrap="none" lIns="0" tIns="0" rIns="0" bIns="0">
              <a:spAutoFit/>
            </a:bodyPr>
            <a:p>
              <a:pPr algn="just" eaLnBrk="1" hangingPunct="1"/>
              <a:r>
                <a:rPr lang="en-US" altLang="zh-CN" sz="2300" b="1" dirty="0">
                  <a:solidFill>
                    <a:schemeClr val="bg1"/>
                  </a:solidFill>
                  <a:latin typeface="Times New Roman" panose="02020603050405020304" pitchFamily="18" charset="0"/>
                </a:rPr>
                <a:t>A</a:t>
              </a:r>
              <a:endParaRPr lang="en-US" altLang="zh-CN" sz="2300" b="1" dirty="0">
                <a:solidFill>
                  <a:schemeClr val="bg1"/>
                </a:solidFill>
                <a:latin typeface="Times New Roman" panose="02020603050405020304" pitchFamily="18" charset="0"/>
              </a:endParaRPr>
            </a:p>
          </p:txBody>
        </p:sp>
        <p:sp>
          <p:nvSpPr>
            <p:cNvPr id="46125" name="Line 126"/>
            <p:cNvSpPr/>
            <p:nvPr/>
          </p:nvSpPr>
          <p:spPr>
            <a:xfrm>
              <a:off x="4706" y="2155"/>
              <a:ext cx="372" cy="1"/>
            </a:xfrm>
            <a:prstGeom prst="line">
              <a:avLst/>
            </a:prstGeom>
            <a:ln w="38100" cap="flat" cmpd="sng">
              <a:solidFill>
                <a:schemeClr val="bg1"/>
              </a:solidFill>
              <a:prstDash val="solid"/>
              <a:headEnd type="none" w="med" len="med"/>
              <a:tailEnd type="none" w="med" len="med"/>
            </a:ln>
          </p:spPr>
        </p:sp>
        <p:sp>
          <p:nvSpPr>
            <p:cNvPr id="46126" name="Line 127"/>
            <p:cNvSpPr/>
            <p:nvPr/>
          </p:nvSpPr>
          <p:spPr>
            <a:xfrm>
              <a:off x="3618" y="3198"/>
              <a:ext cx="1451" cy="1"/>
            </a:xfrm>
            <a:prstGeom prst="line">
              <a:avLst/>
            </a:prstGeom>
            <a:ln w="38100" cap="flat" cmpd="sng">
              <a:solidFill>
                <a:schemeClr val="bg1"/>
              </a:solidFill>
              <a:prstDash val="solid"/>
              <a:headEnd type="none" w="med" len="med"/>
              <a:tailEnd type="none" w="med" len="med"/>
            </a:ln>
          </p:spPr>
        </p:sp>
        <p:sp>
          <p:nvSpPr>
            <p:cNvPr id="46127" name="Line 128"/>
            <p:cNvSpPr/>
            <p:nvPr/>
          </p:nvSpPr>
          <p:spPr>
            <a:xfrm flipV="1">
              <a:off x="4410" y="2331"/>
              <a:ext cx="0" cy="612"/>
            </a:xfrm>
            <a:prstGeom prst="line">
              <a:avLst/>
            </a:prstGeom>
            <a:ln w="38100" cap="flat" cmpd="sng">
              <a:solidFill>
                <a:schemeClr val="bg1"/>
              </a:solidFill>
              <a:prstDash val="solid"/>
              <a:headEnd type="none" w="med" len="med"/>
              <a:tailEnd type="arrow" w="med" len="med"/>
            </a:ln>
          </p:spPr>
        </p:sp>
        <p:sp>
          <p:nvSpPr>
            <p:cNvPr id="46128" name="Rectangle 129"/>
            <p:cNvSpPr/>
            <p:nvPr/>
          </p:nvSpPr>
          <p:spPr>
            <a:xfrm>
              <a:off x="1683" y="1033"/>
              <a:ext cx="772" cy="230"/>
            </a:xfrm>
            <a:prstGeom prst="rect">
              <a:avLst/>
            </a:prstGeom>
            <a:noFill/>
            <a:ln w="38100">
              <a:noFill/>
            </a:ln>
          </p:spPr>
          <p:txBody>
            <a:bodyPr wrap="none" lIns="0" tIns="0" rIns="0" bIns="0">
              <a:spAutoFit/>
            </a:bodyPr>
            <a:p>
              <a:pPr algn="just" eaLnBrk="1" hangingPunct="1"/>
              <a:r>
                <a:rPr lang="zh-CN" altLang="en-US" sz="2400" b="1" dirty="0">
                  <a:solidFill>
                    <a:srgbClr val="FF00FF"/>
                  </a:solidFill>
                  <a:latin typeface="宋体" panose="02010600030101010101" pitchFamily="2" charset="-122"/>
                </a:rPr>
                <a:t>输入屏蔽</a:t>
              </a:r>
              <a:endParaRPr lang="zh-CN" altLang="en-US" sz="2400" b="1" dirty="0">
                <a:solidFill>
                  <a:srgbClr val="FF00FF"/>
                </a:solidFill>
                <a:latin typeface="宋体" panose="02010600030101010101" pitchFamily="2" charset="-122"/>
              </a:endParaRPr>
            </a:p>
          </p:txBody>
        </p:sp>
        <p:sp>
          <p:nvSpPr>
            <p:cNvPr id="46129" name="Rectangle 130"/>
            <p:cNvSpPr/>
            <p:nvPr/>
          </p:nvSpPr>
          <p:spPr>
            <a:xfrm>
              <a:off x="2894" y="1027"/>
              <a:ext cx="772" cy="230"/>
            </a:xfrm>
            <a:prstGeom prst="rect">
              <a:avLst/>
            </a:prstGeom>
            <a:noFill/>
            <a:ln w="38100">
              <a:noFill/>
            </a:ln>
          </p:spPr>
          <p:txBody>
            <a:bodyPr wrap="none" lIns="0" tIns="0" rIns="0" bIns="0">
              <a:spAutoFit/>
            </a:bodyPr>
            <a:p>
              <a:pPr algn="just" eaLnBrk="1" hangingPunct="1"/>
              <a:r>
                <a:rPr lang="zh-CN" altLang="en-US" sz="2400" b="1" dirty="0">
                  <a:solidFill>
                    <a:srgbClr val="FFFF00"/>
                  </a:solidFill>
                  <a:latin typeface="宋体" panose="02010600030101010101" pitchFamily="2" charset="-122"/>
                </a:rPr>
                <a:t>输出屏蔽</a:t>
              </a:r>
              <a:endParaRPr lang="zh-CN" altLang="en-US" sz="2400" b="1" dirty="0">
                <a:solidFill>
                  <a:srgbClr val="FFFF00"/>
                </a:solidFill>
                <a:latin typeface="宋体" panose="02010600030101010101" pitchFamily="2" charset="-122"/>
              </a:endParaRPr>
            </a:p>
          </p:txBody>
        </p:sp>
        <p:sp>
          <p:nvSpPr>
            <p:cNvPr id="46130" name="Line 131"/>
            <p:cNvSpPr/>
            <p:nvPr/>
          </p:nvSpPr>
          <p:spPr>
            <a:xfrm flipH="1">
              <a:off x="2282" y="3256"/>
              <a:ext cx="192" cy="0"/>
            </a:xfrm>
            <a:prstGeom prst="line">
              <a:avLst/>
            </a:prstGeom>
            <a:ln w="38100" cap="flat" cmpd="sng">
              <a:solidFill>
                <a:schemeClr val="bg1"/>
              </a:solidFill>
              <a:prstDash val="solid"/>
              <a:headEnd type="none" w="med" len="med"/>
              <a:tailEnd type="none" w="med" len="med"/>
            </a:ln>
          </p:spPr>
        </p:sp>
        <p:sp>
          <p:nvSpPr>
            <p:cNvPr id="46131" name="Line 132"/>
            <p:cNvSpPr/>
            <p:nvPr/>
          </p:nvSpPr>
          <p:spPr>
            <a:xfrm flipH="1">
              <a:off x="2284" y="2288"/>
              <a:ext cx="217" cy="0"/>
            </a:xfrm>
            <a:prstGeom prst="line">
              <a:avLst/>
            </a:prstGeom>
            <a:ln w="38100" cap="flat" cmpd="sng">
              <a:solidFill>
                <a:schemeClr val="bg1"/>
              </a:solidFill>
              <a:prstDash val="solid"/>
              <a:headEnd type="none" w="med" len="med"/>
              <a:tailEnd type="none" w="med" len="med"/>
            </a:ln>
          </p:spPr>
        </p:sp>
        <p:sp>
          <p:nvSpPr>
            <p:cNvPr id="46132" name="Line 133"/>
            <p:cNvSpPr/>
            <p:nvPr/>
          </p:nvSpPr>
          <p:spPr>
            <a:xfrm>
              <a:off x="2786" y="2290"/>
              <a:ext cx="161" cy="0"/>
            </a:xfrm>
            <a:prstGeom prst="line">
              <a:avLst/>
            </a:prstGeom>
            <a:ln w="38100" cap="flat" cmpd="sng">
              <a:solidFill>
                <a:schemeClr val="bg1"/>
              </a:solidFill>
              <a:prstDash val="solid"/>
              <a:headEnd type="none" w="med" len="med"/>
              <a:tailEnd type="none" w="med" len="med"/>
            </a:ln>
          </p:spPr>
        </p:sp>
        <p:sp>
          <p:nvSpPr>
            <p:cNvPr id="46133" name="Line 134"/>
            <p:cNvSpPr/>
            <p:nvPr/>
          </p:nvSpPr>
          <p:spPr>
            <a:xfrm>
              <a:off x="2767" y="3256"/>
              <a:ext cx="183" cy="0"/>
            </a:xfrm>
            <a:prstGeom prst="line">
              <a:avLst/>
            </a:prstGeom>
            <a:ln w="38100" cap="flat" cmpd="sng">
              <a:solidFill>
                <a:schemeClr val="bg1"/>
              </a:solidFill>
              <a:prstDash val="solid"/>
              <a:headEnd type="none" w="med" len="med"/>
              <a:tailEnd type="none" w="med" len="med"/>
            </a:ln>
          </p:spPr>
        </p:sp>
        <p:sp>
          <p:nvSpPr>
            <p:cNvPr id="46134" name="Rectangle 135"/>
            <p:cNvSpPr/>
            <p:nvPr/>
          </p:nvSpPr>
          <p:spPr>
            <a:xfrm>
              <a:off x="2956" y="1979"/>
              <a:ext cx="587" cy="352"/>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46135" name="Object 136"/>
            <p:cNvGraphicFramePr>
              <a:graphicFrameLocks noChangeAspect="1"/>
            </p:cNvGraphicFramePr>
            <p:nvPr/>
          </p:nvGraphicFramePr>
          <p:xfrm>
            <a:off x="3589" y="1810"/>
            <a:ext cx="521" cy="197"/>
          </p:xfrm>
          <a:graphic>
            <a:graphicData uri="http://schemas.openxmlformats.org/presentationml/2006/ole">
              <mc:AlternateContent xmlns:mc="http://schemas.openxmlformats.org/markup-compatibility/2006">
                <mc:Choice xmlns:v="urn:schemas-microsoft-com:vml" Requires="v">
                  <p:oleObj spid="_x0000_s3081" name="" r:id="rId1" imgW="399415" imgH="139065" progId="Equation.3">
                    <p:embed/>
                  </p:oleObj>
                </mc:Choice>
                <mc:Fallback>
                  <p:oleObj name="" r:id="rId1" imgW="399415" imgH="139065" progId="Equation.3">
                    <p:embed/>
                    <p:pic>
                      <p:nvPicPr>
                        <p:cNvPr id="0" name="图片 3080"/>
                        <p:cNvPicPr/>
                        <p:nvPr/>
                      </p:nvPicPr>
                      <p:blipFill>
                        <a:blip r:embed="rId2">
                          <a:clrChange>
                            <a:clrFrom>
                              <a:srgbClr val="000000"/>
                            </a:clrFrom>
                            <a:clrTo>
                              <a:srgbClr val="FFFFFF"/>
                            </a:clrTo>
                          </a:clrChange>
                        </a:blip>
                        <a:stretch>
                          <a:fillRect/>
                        </a:stretch>
                      </p:blipFill>
                      <p:spPr>
                        <a:xfrm>
                          <a:off x="3589" y="1810"/>
                          <a:ext cx="521" cy="197"/>
                        </a:xfrm>
                        <a:prstGeom prst="rect">
                          <a:avLst/>
                        </a:prstGeom>
                        <a:noFill/>
                        <a:ln w="38100">
                          <a:noFill/>
                          <a:miter/>
                        </a:ln>
                      </p:spPr>
                    </p:pic>
                  </p:oleObj>
                </mc:Fallback>
              </mc:AlternateContent>
            </a:graphicData>
          </a:graphic>
        </p:graphicFrame>
        <p:sp>
          <p:nvSpPr>
            <p:cNvPr id="46136" name="AutoShape 137"/>
            <p:cNvSpPr/>
            <p:nvPr/>
          </p:nvSpPr>
          <p:spPr>
            <a:xfrm rot="5400000">
              <a:off x="982" y="1930"/>
              <a:ext cx="528" cy="450"/>
            </a:xfrm>
            <a:prstGeom prst="triangle">
              <a:avLst>
                <a:gd name="adj" fmla="val 50000"/>
              </a:avLst>
            </a:prstGeom>
            <a:noFill/>
            <a:ln w="38100"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37" name="AutoShape 138"/>
            <p:cNvSpPr/>
            <p:nvPr/>
          </p:nvSpPr>
          <p:spPr>
            <a:xfrm rot="5400000">
              <a:off x="4221" y="1930"/>
              <a:ext cx="528" cy="450"/>
            </a:xfrm>
            <a:prstGeom prst="triangle">
              <a:avLst>
                <a:gd name="adj" fmla="val 50000"/>
              </a:avLst>
            </a:prstGeom>
            <a:noFill/>
            <a:ln w="38100"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38" name="Rectangle 139"/>
            <p:cNvSpPr/>
            <p:nvPr/>
          </p:nvSpPr>
          <p:spPr>
            <a:xfrm>
              <a:off x="831" y="975"/>
              <a:ext cx="1770" cy="2562"/>
            </a:xfrm>
            <a:prstGeom prst="rect">
              <a:avLst/>
            </a:prstGeom>
            <a:noFill/>
            <a:ln w="28575" cap="flat" cmpd="sng">
              <a:solidFill>
                <a:srgbClr val="FF00FF"/>
              </a:solidFill>
              <a:prstDash val="dash"/>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39" name="Rectangle 140"/>
            <p:cNvSpPr/>
            <p:nvPr/>
          </p:nvSpPr>
          <p:spPr>
            <a:xfrm>
              <a:off x="2673" y="975"/>
              <a:ext cx="2155" cy="2562"/>
            </a:xfrm>
            <a:prstGeom prst="rect">
              <a:avLst/>
            </a:prstGeom>
            <a:noFill/>
            <a:ln w="28575" cap="flat" cmpd="sng">
              <a:solidFill>
                <a:srgbClr val="FFFF00"/>
              </a:solidFill>
              <a:prstDash val="dash"/>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40" name="Rectangle 141"/>
            <p:cNvSpPr/>
            <p:nvPr/>
          </p:nvSpPr>
          <p:spPr>
            <a:xfrm>
              <a:off x="705" y="825"/>
              <a:ext cx="4230" cy="2880"/>
            </a:xfrm>
            <a:prstGeom prst="rect">
              <a:avLst/>
            </a:prstGeom>
            <a:noFill/>
            <a:ln w="28575" cap="flat" cmpd="sng">
              <a:solidFill>
                <a:schemeClr val="bg1"/>
              </a:solidFill>
              <a:prstDash val="solid"/>
              <a:miter/>
              <a:headEnd type="none" w="med" len="med"/>
              <a:tailEnd type="none" w="med" len="med"/>
            </a:ln>
          </p:spPr>
          <p:txBody>
            <a:bodyPr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nvGrpSpPr>
            <p:cNvPr id="46141" name="Group 142"/>
            <p:cNvGrpSpPr/>
            <p:nvPr/>
          </p:nvGrpSpPr>
          <p:grpSpPr>
            <a:xfrm>
              <a:off x="2474" y="2017"/>
              <a:ext cx="74" cy="272"/>
              <a:chOff x="1180" y="3301"/>
              <a:chExt cx="74" cy="333"/>
            </a:xfrm>
          </p:grpSpPr>
          <p:sp>
            <p:nvSpPr>
              <p:cNvPr id="46209" name="Arc 143"/>
              <p:cNvSpPr/>
              <p:nvPr/>
            </p:nvSpPr>
            <p:spPr>
              <a:xfrm>
                <a:off x="1180" y="3301"/>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210" name="Arc 144"/>
              <p:cNvSpPr/>
              <p:nvPr/>
            </p:nvSpPr>
            <p:spPr>
              <a:xfrm>
                <a:off x="1186" y="3409"/>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211" name="Arc 145"/>
              <p:cNvSpPr/>
              <p:nvPr/>
            </p:nvSpPr>
            <p:spPr>
              <a:xfrm>
                <a:off x="1186" y="3522"/>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grpSp>
        <p:grpSp>
          <p:nvGrpSpPr>
            <p:cNvPr id="46142" name="Group 146"/>
            <p:cNvGrpSpPr/>
            <p:nvPr/>
          </p:nvGrpSpPr>
          <p:grpSpPr>
            <a:xfrm flipH="1">
              <a:off x="2726" y="2017"/>
              <a:ext cx="74" cy="272"/>
              <a:chOff x="1180" y="3301"/>
              <a:chExt cx="74" cy="333"/>
            </a:xfrm>
          </p:grpSpPr>
          <p:sp>
            <p:nvSpPr>
              <p:cNvPr id="46206" name="Arc 147"/>
              <p:cNvSpPr/>
              <p:nvPr/>
            </p:nvSpPr>
            <p:spPr>
              <a:xfrm>
                <a:off x="1180" y="3301"/>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207" name="Arc 148"/>
              <p:cNvSpPr/>
              <p:nvPr/>
            </p:nvSpPr>
            <p:spPr>
              <a:xfrm>
                <a:off x="1186" y="3409"/>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208" name="Arc 149"/>
              <p:cNvSpPr/>
              <p:nvPr/>
            </p:nvSpPr>
            <p:spPr>
              <a:xfrm>
                <a:off x="1186" y="3522"/>
                <a:ext cx="68" cy="112"/>
              </a:xfrm>
              <a:custGeom>
                <a:avLst/>
                <a:gdLst>
                  <a:gd name="txL" fmla="*/ 0 w 21600"/>
                  <a:gd name="txT" fmla="*/ 0 h 43108"/>
                  <a:gd name="txR" fmla="*/ 21600 w 21600"/>
                  <a:gd name="txB" fmla="*/ 43108 h 43108"/>
                </a:gdLst>
                <a:ahLst/>
                <a:cxnLst>
                  <a:cxn ang="0">
                    <a:pos x="0" y="0"/>
                  </a:cxn>
                  <a:cxn ang="0">
                    <a:pos x="0" y="0"/>
                  </a:cxn>
                  <a:cxn ang="0">
                    <a:pos x="0" y="0"/>
                  </a:cxn>
                </a:cxnLst>
                <a:rect l="txL" t="txT" r="txR" b="txB"/>
                <a:pathLst>
                  <a:path w="21600" h="43108" fill="none">
                    <a:moveTo>
                      <a:pt x="-1" y="0"/>
                    </a:moveTo>
                    <a:cubicBezTo>
                      <a:pt x="11929" y="0"/>
                      <a:pt x="21600" y="9670"/>
                      <a:pt x="21600" y="21600"/>
                    </a:cubicBezTo>
                    <a:cubicBezTo>
                      <a:pt x="21600" y="32756"/>
                      <a:pt x="13103" y="42077"/>
                      <a:pt x="1994" y="43107"/>
                    </a:cubicBezTo>
                  </a:path>
                  <a:path w="21600" h="43108" stroke="0">
                    <a:moveTo>
                      <a:pt x="-1" y="0"/>
                    </a:moveTo>
                    <a:cubicBezTo>
                      <a:pt x="11929" y="0"/>
                      <a:pt x="21600" y="9670"/>
                      <a:pt x="21600" y="21600"/>
                    </a:cubicBezTo>
                    <a:cubicBezTo>
                      <a:pt x="21600" y="32756"/>
                      <a:pt x="13103" y="42077"/>
                      <a:pt x="1994" y="43107"/>
                    </a:cubicBezTo>
                    <a:lnTo>
                      <a:pt x="0" y="21600"/>
                    </a:lnTo>
                    <a:lnTo>
                      <a:pt x="-1" y="0"/>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grpSp>
        <p:sp>
          <p:nvSpPr>
            <p:cNvPr id="46143" name="Freeform 150"/>
            <p:cNvSpPr/>
            <p:nvPr/>
          </p:nvSpPr>
          <p:spPr>
            <a:xfrm>
              <a:off x="1454" y="3014"/>
              <a:ext cx="34" cy="34"/>
            </a:xfrm>
            <a:custGeom>
              <a:avLst/>
              <a:gdLst>
                <a:gd name="txL" fmla="*/ 0 w 37"/>
                <a:gd name="txT" fmla="*/ 0 h 44"/>
                <a:gd name="txR" fmla="*/ 37 w 37"/>
                <a:gd name="txB" fmla="*/ 44 h 44"/>
              </a:gdLst>
              <a:ahLst/>
              <a:cxnLst>
                <a:cxn ang="0">
                  <a:pos x="24" y="6"/>
                </a:cxn>
                <a:cxn ang="0">
                  <a:pos x="24" y="5"/>
                </a:cxn>
                <a:cxn ang="0">
                  <a:pos x="24" y="4"/>
                </a:cxn>
                <a:cxn ang="0">
                  <a:pos x="22" y="2"/>
                </a:cxn>
                <a:cxn ang="0">
                  <a:pos x="20" y="2"/>
                </a:cxn>
                <a:cxn ang="0">
                  <a:pos x="19" y="2"/>
                </a:cxn>
                <a:cxn ang="0">
                  <a:pos x="17" y="1"/>
                </a:cxn>
                <a:cxn ang="0">
                  <a:pos x="15" y="0"/>
                </a:cxn>
                <a:cxn ang="0">
                  <a:pos x="13" y="0"/>
                </a:cxn>
                <a:cxn ang="0">
                  <a:pos x="9" y="0"/>
                </a:cxn>
                <a:cxn ang="0">
                  <a:pos x="6" y="1"/>
                </a:cxn>
                <a:cxn ang="0">
                  <a:pos x="6" y="2"/>
                </a:cxn>
                <a:cxn ang="0">
                  <a:pos x="5" y="2"/>
                </a:cxn>
                <a:cxn ang="0">
                  <a:pos x="2" y="2"/>
                </a:cxn>
                <a:cxn ang="0">
                  <a:pos x="1" y="4"/>
                </a:cxn>
                <a:cxn ang="0">
                  <a:pos x="0" y="5"/>
                </a:cxn>
                <a:cxn ang="0">
                  <a:pos x="0" y="6"/>
                </a:cxn>
                <a:cxn ang="0">
                  <a:pos x="0" y="7"/>
                </a:cxn>
                <a:cxn ang="0">
                  <a:pos x="1" y="9"/>
                </a:cxn>
                <a:cxn ang="0">
                  <a:pos x="2" y="9"/>
                </a:cxn>
                <a:cxn ang="0">
                  <a:pos x="5" y="10"/>
                </a:cxn>
                <a:cxn ang="0">
                  <a:pos x="6" y="12"/>
                </a:cxn>
                <a:cxn ang="0">
                  <a:pos x="6" y="12"/>
                </a:cxn>
                <a:cxn ang="0">
                  <a:pos x="9" y="12"/>
                </a:cxn>
                <a:cxn ang="0">
                  <a:pos x="13" y="12"/>
                </a:cxn>
                <a:cxn ang="0">
                  <a:pos x="15" y="12"/>
                </a:cxn>
                <a:cxn ang="0">
                  <a:pos x="17" y="12"/>
                </a:cxn>
                <a:cxn ang="0">
                  <a:pos x="19" y="12"/>
                </a:cxn>
                <a:cxn ang="0">
                  <a:pos x="20" y="10"/>
                </a:cxn>
                <a:cxn ang="0">
                  <a:pos x="22" y="9"/>
                </a:cxn>
                <a:cxn ang="0">
                  <a:pos x="24" y="9"/>
                </a:cxn>
                <a:cxn ang="0">
                  <a:pos x="24" y="7"/>
                </a:cxn>
                <a:cxn ang="0">
                  <a:pos x="24" y="6"/>
                </a:cxn>
              </a:cxnLst>
              <a:rect l="txL" t="txT" r="txR" b="txB"/>
              <a:pathLst>
                <a:path w="37" h="44">
                  <a:moveTo>
                    <a:pt x="37" y="22"/>
                  </a:moveTo>
                  <a:lnTo>
                    <a:pt x="36" y="18"/>
                  </a:lnTo>
                  <a:lnTo>
                    <a:pt x="36" y="13"/>
                  </a:lnTo>
                  <a:lnTo>
                    <a:pt x="34" y="9"/>
                  </a:lnTo>
                  <a:lnTo>
                    <a:pt x="31" y="6"/>
                  </a:lnTo>
                  <a:lnTo>
                    <a:pt x="29" y="4"/>
                  </a:lnTo>
                  <a:lnTo>
                    <a:pt x="26" y="1"/>
                  </a:lnTo>
                  <a:lnTo>
                    <a:pt x="22" y="0"/>
                  </a:lnTo>
                  <a:lnTo>
                    <a:pt x="19" y="0"/>
                  </a:lnTo>
                  <a:lnTo>
                    <a:pt x="14" y="0"/>
                  </a:lnTo>
                  <a:lnTo>
                    <a:pt x="11" y="1"/>
                  </a:lnTo>
                  <a:lnTo>
                    <a:pt x="8" y="4"/>
                  </a:lnTo>
                  <a:lnTo>
                    <a:pt x="5" y="6"/>
                  </a:lnTo>
                  <a:lnTo>
                    <a:pt x="2" y="9"/>
                  </a:lnTo>
                  <a:lnTo>
                    <a:pt x="1" y="13"/>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path>
              </a:pathLst>
            </a:custGeom>
            <a:solidFill>
              <a:schemeClr val="bg1">
                <a:alpha val="100000"/>
              </a:schemeClr>
            </a:solid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44" name="Line 151"/>
            <p:cNvSpPr/>
            <p:nvPr/>
          </p:nvSpPr>
          <p:spPr>
            <a:xfrm>
              <a:off x="3617" y="2943"/>
              <a:ext cx="1455" cy="1"/>
            </a:xfrm>
            <a:prstGeom prst="line">
              <a:avLst/>
            </a:prstGeom>
            <a:ln w="38100" cap="flat" cmpd="sng">
              <a:solidFill>
                <a:schemeClr val="bg1"/>
              </a:solidFill>
              <a:prstDash val="solid"/>
              <a:headEnd type="none" w="med" len="med"/>
              <a:tailEnd type="none" w="med" len="med"/>
            </a:ln>
          </p:spPr>
        </p:sp>
        <p:sp>
          <p:nvSpPr>
            <p:cNvPr id="46145" name="Line 152"/>
            <p:cNvSpPr/>
            <p:nvPr/>
          </p:nvSpPr>
          <p:spPr>
            <a:xfrm>
              <a:off x="4015" y="2715"/>
              <a:ext cx="1057" cy="0"/>
            </a:xfrm>
            <a:prstGeom prst="line">
              <a:avLst/>
            </a:prstGeom>
            <a:ln w="38100" cap="flat" cmpd="sng">
              <a:solidFill>
                <a:schemeClr val="bg1"/>
              </a:solidFill>
              <a:prstDash val="solid"/>
              <a:headEnd type="none" w="med" len="med"/>
              <a:tailEnd type="none" w="med" len="med"/>
            </a:ln>
          </p:spPr>
        </p:sp>
        <p:sp>
          <p:nvSpPr>
            <p:cNvPr id="46146" name="Line 153"/>
            <p:cNvSpPr/>
            <p:nvPr/>
          </p:nvSpPr>
          <p:spPr>
            <a:xfrm flipV="1">
              <a:off x="4568" y="2246"/>
              <a:ext cx="0" cy="259"/>
            </a:xfrm>
            <a:prstGeom prst="line">
              <a:avLst/>
            </a:prstGeom>
            <a:ln w="38100" cap="flat" cmpd="sng">
              <a:solidFill>
                <a:schemeClr val="bg1"/>
              </a:solidFill>
              <a:prstDash val="solid"/>
              <a:headEnd type="none" w="med" len="med"/>
              <a:tailEnd type="arrow" w="med" len="med"/>
            </a:ln>
          </p:spPr>
        </p:sp>
        <p:sp>
          <p:nvSpPr>
            <p:cNvPr id="46147" name="Line 154"/>
            <p:cNvSpPr/>
            <p:nvPr/>
          </p:nvSpPr>
          <p:spPr>
            <a:xfrm>
              <a:off x="4557" y="2499"/>
              <a:ext cx="522" cy="0"/>
            </a:xfrm>
            <a:prstGeom prst="line">
              <a:avLst/>
            </a:prstGeom>
            <a:ln w="38100" cap="flat" cmpd="sng">
              <a:solidFill>
                <a:schemeClr val="bg1"/>
              </a:solidFill>
              <a:prstDash val="solid"/>
              <a:headEnd type="none" w="med" len="med"/>
              <a:tailEnd type="none" w="med" len="med"/>
            </a:ln>
          </p:spPr>
        </p:sp>
        <p:sp>
          <p:nvSpPr>
            <p:cNvPr id="46148" name="Line 155"/>
            <p:cNvSpPr/>
            <p:nvPr/>
          </p:nvSpPr>
          <p:spPr>
            <a:xfrm flipV="1">
              <a:off x="4026" y="2243"/>
              <a:ext cx="0" cy="478"/>
            </a:xfrm>
            <a:prstGeom prst="line">
              <a:avLst/>
            </a:prstGeom>
            <a:ln w="38100" cap="flat" cmpd="sng">
              <a:solidFill>
                <a:schemeClr val="bg1"/>
              </a:solidFill>
              <a:prstDash val="solid"/>
              <a:headEnd type="none" w="med" len="med"/>
              <a:tailEnd type="none" w="med" len="med"/>
            </a:ln>
          </p:spPr>
        </p:sp>
        <p:sp>
          <p:nvSpPr>
            <p:cNvPr id="46149" name="Line 156"/>
            <p:cNvSpPr/>
            <p:nvPr/>
          </p:nvSpPr>
          <p:spPr>
            <a:xfrm flipV="1">
              <a:off x="1546" y="1244"/>
              <a:ext cx="0" cy="909"/>
            </a:xfrm>
            <a:prstGeom prst="line">
              <a:avLst/>
            </a:prstGeom>
            <a:ln w="38100" cap="flat" cmpd="sng">
              <a:solidFill>
                <a:schemeClr val="bg1"/>
              </a:solidFill>
              <a:prstDash val="solid"/>
              <a:headEnd type="none" w="med" len="med"/>
              <a:tailEnd type="none" w="med" len="med"/>
            </a:ln>
          </p:spPr>
        </p:sp>
        <p:sp>
          <p:nvSpPr>
            <p:cNvPr id="46150" name="Line 157"/>
            <p:cNvSpPr/>
            <p:nvPr/>
          </p:nvSpPr>
          <p:spPr>
            <a:xfrm flipV="1">
              <a:off x="1247" y="1607"/>
              <a:ext cx="0" cy="418"/>
            </a:xfrm>
            <a:prstGeom prst="line">
              <a:avLst/>
            </a:prstGeom>
            <a:ln w="38100" cap="flat" cmpd="sng">
              <a:solidFill>
                <a:schemeClr val="bg1"/>
              </a:solidFill>
              <a:prstDash val="solid"/>
              <a:headEnd type="none" w="med" len="med"/>
              <a:tailEnd type="none" w="med" len="med"/>
            </a:ln>
          </p:spPr>
        </p:sp>
        <p:sp>
          <p:nvSpPr>
            <p:cNvPr id="46151" name="Line 158"/>
            <p:cNvSpPr/>
            <p:nvPr/>
          </p:nvSpPr>
          <p:spPr>
            <a:xfrm flipV="1">
              <a:off x="1371" y="1428"/>
              <a:ext cx="0" cy="660"/>
            </a:xfrm>
            <a:prstGeom prst="line">
              <a:avLst/>
            </a:prstGeom>
            <a:ln w="38100" cap="flat" cmpd="sng">
              <a:solidFill>
                <a:schemeClr val="bg1"/>
              </a:solidFill>
              <a:prstDash val="solid"/>
              <a:headEnd type="none" w="med" len="med"/>
              <a:tailEnd type="none" w="med" len="med"/>
            </a:ln>
          </p:spPr>
        </p:sp>
        <p:sp>
          <p:nvSpPr>
            <p:cNvPr id="46152" name="Line 159"/>
            <p:cNvSpPr/>
            <p:nvPr/>
          </p:nvSpPr>
          <p:spPr>
            <a:xfrm flipV="1">
              <a:off x="1124" y="1779"/>
              <a:ext cx="0" cy="172"/>
            </a:xfrm>
            <a:prstGeom prst="line">
              <a:avLst/>
            </a:prstGeom>
            <a:ln w="38100" cap="flat" cmpd="sng">
              <a:solidFill>
                <a:schemeClr val="bg1"/>
              </a:solidFill>
              <a:prstDash val="solid"/>
              <a:headEnd type="none" w="med" len="med"/>
              <a:tailEnd type="none" w="med" len="med"/>
            </a:ln>
          </p:spPr>
        </p:sp>
        <p:sp>
          <p:nvSpPr>
            <p:cNvPr id="46153" name="Line 160"/>
            <p:cNvSpPr/>
            <p:nvPr/>
          </p:nvSpPr>
          <p:spPr>
            <a:xfrm>
              <a:off x="580" y="1257"/>
              <a:ext cx="976" cy="0"/>
            </a:xfrm>
            <a:prstGeom prst="line">
              <a:avLst/>
            </a:prstGeom>
            <a:ln w="38100" cap="flat" cmpd="sng">
              <a:solidFill>
                <a:schemeClr val="bg1"/>
              </a:solidFill>
              <a:prstDash val="solid"/>
              <a:headEnd type="none" w="med" len="med"/>
              <a:tailEnd type="none" w="med" len="med"/>
            </a:ln>
          </p:spPr>
        </p:sp>
        <p:sp>
          <p:nvSpPr>
            <p:cNvPr id="46154" name="Line 161"/>
            <p:cNvSpPr/>
            <p:nvPr/>
          </p:nvSpPr>
          <p:spPr>
            <a:xfrm>
              <a:off x="580" y="1607"/>
              <a:ext cx="679" cy="0"/>
            </a:xfrm>
            <a:prstGeom prst="line">
              <a:avLst/>
            </a:prstGeom>
            <a:ln w="38100" cap="flat" cmpd="sng">
              <a:solidFill>
                <a:schemeClr val="bg1"/>
              </a:solidFill>
              <a:prstDash val="solid"/>
              <a:headEnd type="none" w="med" len="med"/>
              <a:tailEnd type="none" w="med" len="med"/>
            </a:ln>
          </p:spPr>
        </p:sp>
        <p:sp>
          <p:nvSpPr>
            <p:cNvPr id="46155" name="Line 162"/>
            <p:cNvSpPr/>
            <p:nvPr/>
          </p:nvSpPr>
          <p:spPr>
            <a:xfrm>
              <a:off x="580" y="1779"/>
              <a:ext cx="556" cy="0"/>
            </a:xfrm>
            <a:prstGeom prst="line">
              <a:avLst/>
            </a:prstGeom>
            <a:ln w="38100" cap="flat" cmpd="sng">
              <a:solidFill>
                <a:schemeClr val="bg1"/>
              </a:solidFill>
              <a:prstDash val="solid"/>
              <a:headEnd type="none" w="med" len="med"/>
              <a:tailEnd type="none" w="med" len="med"/>
            </a:ln>
          </p:spPr>
        </p:sp>
        <p:sp>
          <p:nvSpPr>
            <p:cNvPr id="46156" name="Line 163"/>
            <p:cNvSpPr/>
            <p:nvPr/>
          </p:nvSpPr>
          <p:spPr>
            <a:xfrm>
              <a:off x="586" y="1431"/>
              <a:ext cx="796" cy="0"/>
            </a:xfrm>
            <a:prstGeom prst="line">
              <a:avLst/>
            </a:prstGeom>
            <a:ln w="38100" cap="flat" cmpd="sng">
              <a:solidFill>
                <a:schemeClr val="bg1"/>
              </a:solidFill>
              <a:prstDash val="solid"/>
              <a:headEnd type="none" w="med" len="med"/>
              <a:tailEnd type="none" w="med" len="med"/>
            </a:ln>
          </p:spPr>
        </p:sp>
        <p:sp>
          <p:nvSpPr>
            <p:cNvPr id="46157" name="Freeform 164"/>
            <p:cNvSpPr/>
            <p:nvPr/>
          </p:nvSpPr>
          <p:spPr>
            <a:xfrm>
              <a:off x="539" y="1574"/>
              <a:ext cx="57" cy="57"/>
            </a:xfrm>
            <a:custGeom>
              <a:avLst/>
              <a:gdLst>
                <a:gd name="txL" fmla="*/ 0 w 37"/>
                <a:gd name="txT" fmla="*/ 0 h 44"/>
                <a:gd name="txR" fmla="*/ 37 w 37"/>
                <a:gd name="txB" fmla="*/ 44 h 44"/>
              </a:gdLst>
              <a:ahLst/>
              <a:cxnLst>
                <a:cxn ang="0">
                  <a:pos x="324" y="82"/>
                </a:cxn>
                <a:cxn ang="0">
                  <a:pos x="311" y="66"/>
                </a:cxn>
                <a:cxn ang="0">
                  <a:pos x="311" y="51"/>
                </a:cxn>
                <a:cxn ang="0">
                  <a:pos x="291" y="35"/>
                </a:cxn>
                <a:cxn ang="0">
                  <a:pos x="271" y="27"/>
                </a:cxn>
                <a:cxn ang="0">
                  <a:pos x="251" y="13"/>
                </a:cxn>
                <a:cxn ang="0">
                  <a:pos x="228" y="1"/>
                </a:cxn>
                <a:cxn ang="0">
                  <a:pos x="189" y="0"/>
                </a:cxn>
                <a:cxn ang="0">
                  <a:pos x="163" y="0"/>
                </a:cxn>
                <a:cxn ang="0">
                  <a:pos x="123" y="0"/>
                </a:cxn>
                <a:cxn ang="0">
                  <a:pos x="96" y="1"/>
                </a:cxn>
                <a:cxn ang="0">
                  <a:pos x="66" y="13"/>
                </a:cxn>
                <a:cxn ang="0">
                  <a:pos x="43" y="27"/>
                </a:cxn>
                <a:cxn ang="0">
                  <a:pos x="18" y="35"/>
                </a:cxn>
                <a:cxn ang="0">
                  <a:pos x="12" y="51"/>
                </a:cxn>
                <a:cxn ang="0">
                  <a:pos x="0" y="66"/>
                </a:cxn>
                <a:cxn ang="0">
                  <a:pos x="0" y="82"/>
                </a:cxn>
                <a:cxn ang="0">
                  <a:pos x="0" y="96"/>
                </a:cxn>
                <a:cxn ang="0">
                  <a:pos x="12" y="111"/>
                </a:cxn>
                <a:cxn ang="0">
                  <a:pos x="18" y="124"/>
                </a:cxn>
                <a:cxn ang="0">
                  <a:pos x="43" y="135"/>
                </a:cxn>
                <a:cxn ang="0">
                  <a:pos x="66" y="146"/>
                </a:cxn>
                <a:cxn ang="0">
                  <a:pos x="96" y="153"/>
                </a:cxn>
                <a:cxn ang="0">
                  <a:pos x="123" y="161"/>
                </a:cxn>
                <a:cxn ang="0">
                  <a:pos x="163" y="161"/>
                </a:cxn>
                <a:cxn ang="0">
                  <a:pos x="189" y="161"/>
                </a:cxn>
                <a:cxn ang="0">
                  <a:pos x="228" y="153"/>
                </a:cxn>
                <a:cxn ang="0">
                  <a:pos x="251" y="146"/>
                </a:cxn>
                <a:cxn ang="0">
                  <a:pos x="271" y="135"/>
                </a:cxn>
                <a:cxn ang="0">
                  <a:pos x="291" y="124"/>
                </a:cxn>
                <a:cxn ang="0">
                  <a:pos x="311" y="111"/>
                </a:cxn>
                <a:cxn ang="0">
                  <a:pos x="311" y="96"/>
                </a:cxn>
                <a:cxn ang="0">
                  <a:pos x="324" y="82"/>
                </a:cxn>
              </a:cxnLst>
              <a:rect l="txL" t="txT" r="txR" b="txB"/>
              <a:pathLst>
                <a:path w="37" h="44">
                  <a:moveTo>
                    <a:pt x="37" y="22"/>
                  </a:moveTo>
                  <a:lnTo>
                    <a:pt x="36" y="18"/>
                  </a:lnTo>
                  <a:lnTo>
                    <a:pt x="36" y="14"/>
                  </a:lnTo>
                  <a:lnTo>
                    <a:pt x="34" y="9"/>
                  </a:lnTo>
                  <a:lnTo>
                    <a:pt x="31" y="7"/>
                  </a:lnTo>
                  <a:lnTo>
                    <a:pt x="29" y="4"/>
                  </a:lnTo>
                  <a:lnTo>
                    <a:pt x="26" y="1"/>
                  </a:lnTo>
                  <a:lnTo>
                    <a:pt x="22" y="0"/>
                  </a:lnTo>
                  <a:lnTo>
                    <a:pt x="19" y="0"/>
                  </a:lnTo>
                  <a:lnTo>
                    <a:pt x="14" y="0"/>
                  </a:lnTo>
                  <a:lnTo>
                    <a:pt x="11" y="1"/>
                  </a:lnTo>
                  <a:lnTo>
                    <a:pt x="8" y="4"/>
                  </a:lnTo>
                  <a:lnTo>
                    <a:pt x="5" y="7"/>
                  </a:lnTo>
                  <a:lnTo>
                    <a:pt x="2" y="9"/>
                  </a:lnTo>
                  <a:lnTo>
                    <a:pt x="1" y="14"/>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58" name="Freeform 165"/>
            <p:cNvSpPr/>
            <p:nvPr/>
          </p:nvSpPr>
          <p:spPr>
            <a:xfrm>
              <a:off x="539" y="1228"/>
              <a:ext cx="57" cy="57"/>
            </a:xfrm>
            <a:custGeom>
              <a:avLst/>
              <a:gdLst>
                <a:gd name="txL" fmla="*/ 0 w 37"/>
                <a:gd name="txT" fmla="*/ 0 h 44"/>
                <a:gd name="txR" fmla="*/ 37 w 37"/>
                <a:gd name="txB" fmla="*/ 44 h 44"/>
              </a:gdLst>
              <a:ahLst/>
              <a:cxnLst>
                <a:cxn ang="0">
                  <a:pos x="324" y="82"/>
                </a:cxn>
                <a:cxn ang="0">
                  <a:pos x="311" y="66"/>
                </a:cxn>
                <a:cxn ang="0">
                  <a:pos x="311" y="51"/>
                </a:cxn>
                <a:cxn ang="0">
                  <a:pos x="291" y="35"/>
                </a:cxn>
                <a:cxn ang="0">
                  <a:pos x="271" y="27"/>
                </a:cxn>
                <a:cxn ang="0">
                  <a:pos x="251" y="13"/>
                </a:cxn>
                <a:cxn ang="0">
                  <a:pos x="228" y="1"/>
                </a:cxn>
                <a:cxn ang="0">
                  <a:pos x="189" y="0"/>
                </a:cxn>
                <a:cxn ang="0">
                  <a:pos x="163" y="0"/>
                </a:cxn>
                <a:cxn ang="0">
                  <a:pos x="123" y="0"/>
                </a:cxn>
                <a:cxn ang="0">
                  <a:pos x="96" y="1"/>
                </a:cxn>
                <a:cxn ang="0">
                  <a:pos x="66" y="13"/>
                </a:cxn>
                <a:cxn ang="0">
                  <a:pos x="43" y="27"/>
                </a:cxn>
                <a:cxn ang="0">
                  <a:pos x="18" y="35"/>
                </a:cxn>
                <a:cxn ang="0">
                  <a:pos x="12" y="51"/>
                </a:cxn>
                <a:cxn ang="0">
                  <a:pos x="0" y="66"/>
                </a:cxn>
                <a:cxn ang="0">
                  <a:pos x="0" y="82"/>
                </a:cxn>
                <a:cxn ang="0">
                  <a:pos x="0" y="96"/>
                </a:cxn>
                <a:cxn ang="0">
                  <a:pos x="12" y="111"/>
                </a:cxn>
                <a:cxn ang="0">
                  <a:pos x="18" y="124"/>
                </a:cxn>
                <a:cxn ang="0">
                  <a:pos x="43" y="135"/>
                </a:cxn>
                <a:cxn ang="0">
                  <a:pos x="66" y="146"/>
                </a:cxn>
                <a:cxn ang="0">
                  <a:pos x="96" y="153"/>
                </a:cxn>
                <a:cxn ang="0">
                  <a:pos x="123" y="161"/>
                </a:cxn>
                <a:cxn ang="0">
                  <a:pos x="163" y="161"/>
                </a:cxn>
                <a:cxn ang="0">
                  <a:pos x="189" y="161"/>
                </a:cxn>
                <a:cxn ang="0">
                  <a:pos x="228" y="153"/>
                </a:cxn>
                <a:cxn ang="0">
                  <a:pos x="251" y="146"/>
                </a:cxn>
                <a:cxn ang="0">
                  <a:pos x="271" y="135"/>
                </a:cxn>
                <a:cxn ang="0">
                  <a:pos x="291" y="124"/>
                </a:cxn>
                <a:cxn ang="0">
                  <a:pos x="311" y="111"/>
                </a:cxn>
                <a:cxn ang="0">
                  <a:pos x="311" y="96"/>
                </a:cxn>
                <a:cxn ang="0">
                  <a:pos x="324" y="82"/>
                </a:cxn>
              </a:cxnLst>
              <a:rect l="txL" t="txT" r="txR" b="txB"/>
              <a:pathLst>
                <a:path w="37" h="44">
                  <a:moveTo>
                    <a:pt x="37" y="22"/>
                  </a:moveTo>
                  <a:lnTo>
                    <a:pt x="36" y="18"/>
                  </a:lnTo>
                  <a:lnTo>
                    <a:pt x="36" y="14"/>
                  </a:lnTo>
                  <a:lnTo>
                    <a:pt x="34" y="9"/>
                  </a:lnTo>
                  <a:lnTo>
                    <a:pt x="31" y="7"/>
                  </a:lnTo>
                  <a:lnTo>
                    <a:pt x="29" y="4"/>
                  </a:lnTo>
                  <a:lnTo>
                    <a:pt x="26" y="1"/>
                  </a:lnTo>
                  <a:lnTo>
                    <a:pt x="22" y="0"/>
                  </a:lnTo>
                  <a:lnTo>
                    <a:pt x="19" y="0"/>
                  </a:lnTo>
                  <a:lnTo>
                    <a:pt x="14" y="0"/>
                  </a:lnTo>
                  <a:lnTo>
                    <a:pt x="11" y="1"/>
                  </a:lnTo>
                  <a:lnTo>
                    <a:pt x="8" y="4"/>
                  </a:lnTo>
                  <a:lnTo>
                    <a:pt x="5" y="7"/>
                  </a:lnTo>
                  <a:lnTo>
                    <a:pt x="2" y="9"/>
                  </a:lnTo>
                  <a:lnTo>
                    <a:pt x="1" y="14"/>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59" name="Freeform 166"/>
            <p:cNvSpPr/>
            <p:nvPr/>
          </p:nvSpPr>
          <p:spPr>
            <a:xfrm>
              <a:off x="529" y="1402"/>
              <a:ext cx="57" cy="57"/>
            </a:xfrm>
            <a:custGeom>
              <a:avLst/>
              <a:gdLst>
                <a:gd name="txL" fmla="*/ 0 w 37"/>
                <a:gd name="txT" fmla="*/ 0 h 44"/>
                <a:gd name="txR" fmla="*/ 37 w 37"/>
                <a:gd name="txB" fmla="*/ 44 h 44"/>
              </a:gdLst>
              <a:ahLst/>
              <a:cxnLst>
                <a:cxn ang="0">
                  <a:pos x="324" y="82"/>
                </a:cxn>
                <a:cxn ang="0">
                  <a:pos x="311" y="66"/>
                </a:cxn>
                <a:cxn ang="0">
                  <a:pos x="311" y="51"/>
                </a:cxn>
                <a:cxn ang="0">
                  <a:pos x="291" y="35"/>
                </a:cxn>
                <a:cxn ang="0">
                  <a:pos x="271" y="27"/>
                </a:cxn>
                <a:cxn ang="0">
                  <a:pos x="251" y="13"/>
                </a:cxn>
                <a:cxn ang="0">
                  <a:pos x="228" y="1"/>
                </a:cxn>
                <a:cxn ang="0">
                  <a:pos x="189" y="0"/>
                </a:cxn>
                <a:cxn ang="0">
                  <a:pos x="163" y="0"/>
                </a:cxn>
                <a:cxn ang="0">
                  <a:pos x="123" y="0"/>
                </a:cxn>
                <a:cxn ang="0">
                  <a:pos x="96" y="1"/>
                </a:cxn>
                <a:cxn ang="0">
                  <a:pos x="66" y="13"/>
                </a:cxn>
                <a:cxn ang="0">
                  <a:pos x="43" y="27"/>
                </a:cxn>
                <a:cxn ang="0">
                  <a:pos x="18" y="35"/>
                </a:cxn>
                <a:cxn ang="0">
                  <a:pos x="12" y="51"/>
                </a:cxn>
                <a:cxn ang="0">
                  <a:pos x="0" y="66"/>
                </a:cxn>
                <a:cxn ang="0">
                  <a:pos x="0" y="82"/>
                </a:cxn>
                <a:cxn ang="0">
                  <a:pos x="0" y="96"/>
                </a:cxn>
                <a:cxn ang="0">
                  <a:pos x="12" y="111"/>
                </a:cxn>
                <a:cxn ang="0">
                  <a:pos x="18" y="124"/>
                </a:cxn>
                <a:cxn ang="0">
                  <a:pos x="43" y="135"/>
                </a:cxn>
                <a:cxn ang="0">
                  <a:pos x="66" y="146"/>
                </a:cxn>
                <a:cxn ang="0">
                  <a:pos x="96" y="153"/>
                </a:cxn>
                <a:cxn ang="0">
                  <a:pos x="123" y="161"/>
                </a:cxn>
                <a:cxn ang="0">
                  <a:pos x="163" y="161"/>
                </a:cxn>
                <a:cxn ang="0">
                  <a:pos x="189" y="161"/>
                </a:cxn>
                <a:cxn ang="0">
                  <a:pos x="228" y="153"/>
                </a:cxn>
                <a:cxn ang="0">
                  <a:pos x="251" y="146"/>
                </a:cxn>
                <a:cxn ang="0">
                  <a:pos x="271" y="135"/>
                </a:cxn>
                <a:cxn ang="0">
                  <a:pos x="291" y="124"/>
                </a:cxn>
                <a:cxn ang="0">
                  <a:pos x="311" y="111"/>
                </a:cxn>
                <a:cxn ang="0">
                  <a:pos x="311" y="96"/>
                </a:cxn>
                <a:cxn ang="0">
                  <a:pos x="324" y="82"/>
                </a:cxn>
              </a:cxnLst>
              <a:rect l="txL" t="txT" r="txR" b="txB"/>
              <a:pathLst>
                <a:path w="37" h="44">
                  <a:moveTo>
                    <a:pt x="37" y="22"/>
                  </a:moveTo>
                  <a:lnTo>
                    <a:pt x="36" y="18"/>
                  </a:lnTo>
                  <a:lnTo>
                    <a:pt x="36" y="14"/>
                  </a:lnTo>
                  <a:lnTo>
                    <a:pt x="34" y="9"/>
                  </a:lnTo>
                  <a:lnTo>
                    <a:pt x="31" y="7"/>
                  </a:lnTo>
                  <a:lnTo>
                    <a:pt x="29" y="4"/>
                  </a:lnTo>
                  <a:lnTo>
                    <a:pt x="26" y="1"/>
                  </a:lnTo>
                  <a:lnTo>
                    <a:pt x="22" y="0"/>
                  </a:lnTo>
                  <a:lnTo>
                    <a:pt x="19" y="0"/>
                  </a:lnTo>
                  <a:lnTo>
                    <a:pt x="14" y="0"/>
                  </a:lnTo>
                  <a:lnTo>
                    <a:pt x="11" y="1"/>
                  </a:lnTo>
                  <a:lnTo>
                    <a:pt x="8" y="4"/>
                  </a:lnTo>
                  <a:lnTo>
                    <a:pt x="5" y="7"/>
                  </a:lnTo>
                  <a:lnTo>
                    <a:pt x="2" y="9"/>
                  </a:lnTo>
                  <a:lnTo>
                    <a:pt x="1" y="14"/>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60" name="Line 167"/>
            <p:cNvSpPr/>
            <p:nvPr/>
          </p:nvSpPr>
          <p:spPr>
            <a:xfrm flipV="1">
              <a:off x="4144" y="1366"/>
              <a:ext cx="0" cy="702"/>
            </a:xfrm>
            <a:prstGeom prst="line">
              <a:avLst/>
            </a:prstGeom>
            <a:ln w="38100" cap="flat" cmpd="sng">
              <a:solidFill>
                <a:schemeClr val="bg1"/>
              </a:solidFill>
              <a:prstDash val="solid"/>
              <a:headEnd type="none" w="med" len="med"/>
              <a:tailEnd type="none" w="med" len="med"/>
            </a:ln>
          </p:spPr>
        </p:sp>
        <p:sp>
          <p:nvSpPr>
            <p:cNvPr id="46161" name="Rectangle 168"/>
            <p:cNvSpPr/>
            <p:nvPr/>
          </p:nvSpPr>
          <p:spPr>
            <a:xfrm>
              <a:off x="4387" y="1558"/>
              <a:ext cx="185" cy="8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46162" name="Object 169"/>
            <p:cNvGraphicFramePr>
              <a:graphicFrameLocks noChangeAspect="1"/>
            </p:cNvGraphicFramePr>
            <p:nvPr/>
          </p:nvGraphicFramePr>
          <p:xfrm>
            <a:off x="4232" y="1661"/>
            <a:ext cx="521" cy="197"/>
          </p:xfrm>
          <a:graphic>
            <a:graphicData uri="http://schemas.openxmlformats.org/presentationml/2006/ole">
              <mc:AlternateContent xmlns:mc="http://schemas.openxmlformats.org/markup-compatibility/2006">
                <mc:Choice xmlns:v="urn:schemas-microsoft-com:vml" Requires="v">
                  <p:oleObj spid="_x0000_s3082" name="" r:id="rId3" imgW="399415" imgH="139065" progId="Equation.3">
                    <p:embed/>
                  </p:oleObj>
                </mc:Choice>
                <mc:Fallback>
                  <p:oleObj name="" r:id="rId3" imgW="399415" imgH="139065" progId="Equation.3">
                    <p:embed/>
                    <p:pic>
                      <p:nvPicPr>
                        <p:cNvPr id="0" name="图片 3081"/>
                        <p:cNvPicPr/>
                        <p:nvPr/>
                      </p:nvPicPr>
                      <p:blipFill>
                        <a:blip r:embed="rId4">
                          <a:clrChange>
                            <a:clrFrom>
                              <a:srgbClr val="000000"/>
                            </a:clrFrom>
                            <a:clrTo>
                              <a:srgbClr val="FFFFFF"/>
                            </a:clrTo>
                          </a:clrChange>
                        </a:blip>
                        <a:stretch>
                          <a:fillRect/>
                        </a:stretch>
                      </p:blipFill>
                      <p:spPr>
                        <a:xfrm>
                          <a:off x="4232" y="1661"/>
                          <a:ext cx="521" cy="197"/>
                        </a:xfrm>
                        <a:prstGeom prst="rect">
                          <a:avLst/>
                        </a:prstGeom>
                        <a:noFill/>
                        <a:ln w="38100">
                          <a:noFill/>
                          <a:miter/>
                        </a:ln>
                      </p:spPr>
                    </p:pic>
                  </p:oleObj>
                </mc:Fallback>
              </mc:AlternateContent>
            </a:graphicData>
          </a:graphic>
        </p:graphicFrame>
        <p:sp>
          <p:nvSpPr>
            <p:cNvPr id="46163" name="Rectangle 170"/>
            <p:cNvSpPr/>
            <p:nvPr/>
          </p:nvSpPr>
          <p:spPr>
            <a:xfrm>
              <a:off x="4387" y="1324"/>
              <a:ext cx="185" cy="88"/>
            </a:xfrm>
            <a:prstGeom prst="rect">
              <a:avLst/>
            </a:prstGeom>
            <a:noFill/>
            <a:ln w="38100" cap="flat" cmpd="sng">
              <a:solidFill>
                <a:schemeClr val="bg1"/>
              </a:solidFill>
              <a:prstDash val="solid"/>
              <a:miter/>
              <a:headEnd type="none" w="med" len="med"/>
              <a:tailEnd type="none" w="med" len="med"/>
            </a:ln>
          </p:spPr>
          <p:txBody>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64" name="Line 171"/>
            <p:cNvSpPr/>
            <p:nvPr/>
          </p:nvSpPr>
          <p:spPr>
            <a:xfrm>
              <a:off x="4145" y="1603"/>
              <a:ext cx="242" cy="0"/>
            </a:xfrm>
            <a:prstGeom prst="line">
              <a:avLst/>
            </a:prstGeom>
            <a:ln w="38100" cap="flat" cmpd="sng">
              <a:solidFill>
                <a:schemeClr val="bg1"/>
              </a:solidFill>
              <a:prstDash val="solid"/>
              <a:headEnd type="none" w="med" len="med"/>
              <a:tailEnd type="none" w="med" len="med"/>
            </a:ln>
          </p:spPr>
        </p:sp>
        <p:sp>
          <p:nvSpPr>
            <p:cNvPr id="46165" name="Line 172"/>
            <p:cNvSpPr/>
            <p:nvPr/>
          </p:nvSpPr>
          <p:spPr>
            <a:xfrm>
              <a:off x="4132" y="1369"/>
              <a:ext cx="254" cy="0"/>
            </a:xfrm>
            <a:prstGeom prst="line">
              <a:avLst/>
            </a:prstGeom>
            <a:ln w="38100" cap="flat" cmpd="sng">
              <a:solidFill>
                <a:schemeClr val="bg1"/>
              </a:solidFill>
              <a:prstDash val="solid"/>
              <a:headEnd type="none" w="med" len="med"/>
              <a:tailEnd type="none" w="med" len="med"/>
            </a:ln>
          </p:spPr>
        </p:sp>
        <p:graphicFrame>
          <p:nvGraphicFramePr>
            <p:cNvPr id="46166" name="Object 173"/>
            <p:cNvGraphicFramePr>
              <a:graphicFrameLocks noChangeAspect="1"/>
            </p:cNvGraphicFramePr>
            <p:nvPr/>
          </p:nvGraphicFramePr>
          <p:xfrm>
            <a:off x="4281" y="1113"/>
            <a:ext cx="422" cy="183"/>
          </p:xfrm>
          <a:graphic>
            <a:graphicData uri="http://schemas.openxmlformats.org/presentationml/2006/ole">
              <mc:AlternateContent xmlns:mc="http://schemas.openxmlformats.org/markup-compatibility/2006">
                <mc:Choice xmlns:v="urn:schemas-microsoft-com:vml" Requires="v">
                  <p:oleObj spid="_x0000_s3083" name="" r:id="rId5" imgW="318135" imgH="121285" progId="Equation.3">
                    <p:embed/>
                  </p:oleObj>
                </mc:Choice>
                <mc:Fallback>
                  <p:oleObj name="" r:id="rId5" imgW="318135" imgH="121285" progId="Equation.3">
                    <p:embed/>
                    <p:pic>
                      <p:nvPicPr>
                        <p:cNvPr id="0" name="图片 3082"/>
                        <p:cNvPicPr/>
                        <p:nvPr/>
                      </p:nvPicPr>
                      <p:blipFill>
                        <a:blip r:embed="rId6">
                          <a:clrChange>
                            <a:clrFrom>
                              <a:srgbClr val="000000"/>
                            </a:clrFrom>
                            <a:clrTo>
                              <a:srgbClr val="FFFFFF"/>
                            </a:clrTo>
                          </a:clrChange>
                        </a:blip>
                        <a:stretch>
                          <a:fillRect/>
                        </a:stretch>
                      </p:blipFill>
                      <p:spPr>
                        <a:xfrm>
                          <a:off x="4281" y="1113"/>
                          <a:ext cx="422" cy="183"/>
                        </a:xfrm>
                        <a:prstGeom prst="rect">
                          <a:avLst/>
                        </a:prstGeom>
                        <a:noFill/>
                        <a:ln w="38100">
                          <a:noFill/>
                          <a:miter/>
                        </a:ln>
                      </p:spPr>
                    </p:pic>
                  </p:oleObj>
                </mc:Fallback>
              </mc:AlternateContent>
            </a:graphicData>
          </a:graphic>
        </p:graphicFrame>
        <p:sp>
          <p:nvSpPr>
            <p:cNvPr id="46167" name="Line 174"/>
            <p:cNvSpPr/>
            <p:nvPr/>
          </p:nvSpPr>
          <p:spPr>
            <a:xfrm>
              <a:off x="4569" y="1604"/>
              <a:ext cx="516" cy="0"/>
            </a:xfrm>
            <a:prstGeom prst="line">
              <a:avLst/>
            </a:prstGeom>
            <a:ln w="38100" cap="flat" cmpd="sng">
              <a:solidFill>
                <a:schemeClr val="bg1"/>
              </a:solidFill>
              <a:prstDash val="solid"/>
              <a:headEnd type="none" w="med" len="med"/>
              <a:tailEnd type="none" w="med" len="med"/>
            </a:ln>
          </p:spPr>
        </p:sp>
        <p:sp>
          <p:nvSpPr>
            <p:cNvPr id="46168" name="Freeform 175"/>
            <p:cNvSpPr/>
            <p:nvPr/>
          </p:nvSpPr>
          <p:spPr>
            <a:xfrm>
              <a:off x="5072" y="1578"/>
              <a:ext cx="57" cy="57"/>
            </a:xfrm>
            <a:custGeom>
              <a:avLst/>
              <a:gdLst>
                <a:gd name="txL" fmla="*/ 0 w 37"/>
                <a:gd name="txT" fmla="*/ 0 h 44"/>
                <a:gd name="txR" fmla="*/ 37 w 37"/>
                <a:gd name="txB" fmla="*/ 44 h 44"/>
              </a:gdLst>
              <a:ahLst/>
              <a:cxnLst>
                <a:cxn ang="0">
                  <a:pos x="324" y="82"/>
                </a:cxn>
                <a:cxn ang="0">
                  <a:pos x="311" y="66"/>
                </a:cxn>
                <a:cxn ang="0">
                  <a:pos x="311" y="49"/>
                </a:cxn>
                <a:cxn ang="0">
                  <a:pos x="291" y="35"/>
                </a:cxn>
                <a:cxn ang="0">
                  <a:pos x="271" y="22"/>
                </a:cxn>
                <a:cxn ang="0">
                  <a:pos x="251" y="13"/>
                </a:cxn>
                <a:cxn ang="0">
                  <a:pos x="228" y="1"/>
                </a:cxn>
                <a:cxn ang="0">
                  <a:pos x="189" y="0"/>
                </a:cxn>
                <a:cxn ang="0">
                  <a:pos x="163" y="0"/>
                </a:cxn>
                <a:cxn ang="0">
                  <a:pos x="123" y="0"/>
                </a:cxn>
                <a:cxn ang="0">
                  <a:pos x="96" y="1"/>
                </a:cxn>
                <a:cxn ang="0">
                  <a:pos x="66" y="13"/>
                </a:cxn>
                <a:cxn ang="0">
                  <a:pos x="43" y="22"/>
                </a:cxn>
                <a:cxn ang="0">
                  <a:pos x="18" y="35"/>
                </a:cxn>
                <a:cxn ang="0">
                  <a:pos x="12" y="49"/>
                </a:cxn>
                <a:cxn ang="0">
                  <a:pos x="0" y="66"/>
                </a:cxn>
                <a:cxn ang="0">
                  <a:pos x="0" y="82"/>
                </a:cxn>
                <a:cxn ang="0">
                  <a:pos x="0" y="96"/>
                </a:cxn>
                <a:cxn ang="0">
                  <a:pos x="12" y="111"/>
                </a:cxn>
                <a:cxn ang="0">
                  <a:pos x="18" y="124"/>
                </a:cxn>
                <a:cxn ang="0">
                  <a:pos x="43" y="135"/>
                </a:cxn>
                <a:cxn ang="0">
                  <a:pos x="66" y="146"/>
                </a:cxn>
                <a:cxn ang="0">
                  <a:pos x="96" y="153"/>
                </a:cxn>
                <a:cxn ang="0">
                  <a:pos x="123" y="161"/>
                </a:cxn>
                <a:cxn ang="0">
                  <a:pos x="163" y="161"/>
                </a:cxn>
                <a:cxn ang="0">
                  <a:pos x="189" y="161"/>
                </a:cxn>
                <a:cxn ang="0">
                  <a:pos x="228" y="153"/>
                </a:cxn>
                <a:cxn ang="0">
                  <a:pos x="251" y="146"/>
                </a:cxn>
                <a:cxn ang="0">
                  <a:pos x="271" y="135"/>
                </a:cxn>
                <a:cxn ang="0">
                  <a:pos x="291" y="124"/>
                </a:cxn>
                <a:cxn ang="0">
                  <a:pos x="311" y="111"/>
                </a:cxn>
                <a:cxn ang="0">
                  <a:pos x="311" y="96"/>
                </a:cxn>
                <a:cxn ang="0">
                  <a:pos x="324" y="82"/>
                </a:cxn>
              </a:cxnLst>
              <a:rect l="txL" t="txT" r="txR" b="txB"/>
              <a:pathLst>
                <a:path w="37" h="44">
                  <a:moveTo>
                    <a:pt x="37" y="22"/>
                  </a:moveTo>
                  <a:lnTo>
                    <a:pt x="36" y="18"/>
                  </a:lnTo>
                  <a:lnTo>
                    <a:pt x="36" y="13"/>
                  </a:lnTo>
                  <a:lnTo>
                    <a:pt x="34" y="9"/>
                  </a:lnTo>
                  <a:lnTo>
                    <a:pt x="31" y="6"/>
                  </a:lnTo>
                  <a:lnTo>
                    <a:pt x="29" y="4"/>
                  </a:lnTo>
                  <a:lnTo>
                    <a:pt x="26" y="1"/>
                  </a:lnTo>
                  <a:lnTo>
                    <a:pt x="22" y="0"/>
                  </a:lnTo>
                  <a:lnTo>
                    <a:pt x="19" y="0"/>
                  </a:lnTo>
                  <a:lnTo>
                    <a:pt x="14" y="0"/>
                  </a:lnTo>
                  <a:lnTo>
                    <a:pt x="11" y="1"/>
                  </a:lnTo>
                  <a:lnTo>
                    <a:pt x="8" y="4"/>
                  </a:lnTo>
                  <a:lnTo>
                    <a:pt x="5" y="6"/>
                  </a:lnTo>
                  <a:lnTo>
                    <a:pt x="2" y="9"/>
                  </a:lnTo>
                  <a:lnTo>
                    <a:pt x="1" y="13"/>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69" name="Line 176"/>
            <p:cNvSpPr/>
            <p:nvPr/>
          </p:nvSpPr>
          <p:spPr>
            <a:xfrm>
              <a:off x="4569" y="1374"/>
              <a:ext cx="522" cy="0"/>
            </a:xfrm>
            <a:prstGeom prst="line">
              <a:avLst/>
            </a:prstGeom>
            <a:ln w="38100" cap="flat" cmpd="sng">
              <a:solidFill>
                <a:schemeClr val="bg1"/>
              </a:solidFill>
              <a:prstDash val="solid"/>
              <a:headEnd type="none" w="med" len="med"/>
              <a:tailEnd type="none" w="med" len="med"/>
            </a:ln>
          </p:spPr>
        </p:sp>
        <p:sp>
          <p:nvSpPr>
            <p:cNvPr id="46170" name="Freeform 177"/>
            <p:cNvSpPr/>
            <p:nvPr/>
          </p:nvSpPr>
          <p:spPr>
            <a:xfrm>
              <a:off x="5078" y="1345"/>
              <a:ext cx="57" cy="57"/>
            </a:xfrm>
            <a:custGeom>
              <a:avLst/>
              <a:gdLst>
                <a:gd name="txL" fmla="*/ 0 w 37"/>
                <a:gd name="txT" fmla="*/ 0 h 44"/>
                <a:gd name="txR" fmla="*/ 37 w 37"/>
                <a:gd name="txB" fmla="*/ 44 h 44"/>
              </a:gdLst>
              <a:ahLst/>
              <a:cxnLst>
                <a:cxn ang="0">
                  <a:pos x="324" y="82"/>
                </a:cxn>
                <a:cxn ang="0">
                  <a:pos x="311" y="66"/>
                </a:cxn>
                <a:cxn ang="0">
                  <a:pos x="311" y="49"/>
                </a:cxn>
                <a:cxn ang="0">
                  <a:pos x="291" y="35"/>
                </a:cxn>
                <a:cxn ang="0">
                  <a:pos x="271" y="22"/>
                </a:cxn>
                <a:cxn ang="0">
                  <a:pos x="251" y="13"/>
                </a:cxn>
                <a:cxn ang="0">
                  <a:pos x="228" y="1"/>
                </a:cxn>
                <a:cxn ang="0">
                  <a:pos x="189" y="0"/>
                </a:cxn>
                <a:cxn ang="0">
                  <a:pos x="163" y="0"/>
                </a:cxn>
                <a:cxn ang="0">
                  <a:pos x="123" y="0"/>
                </a:cxn>
                <a:cxn ang="0">
                  <a:pos x="96" y="1"/>
                </a:cxn>
                <a:cxn ang="0">
                  <a:pos x="66" y="13"/>
                </a:cxn>
                <a:cxn ang="0">
                  <a:pos x="43" y="22"/>
                </a:cxn>
                <a:cxn ang="0">
                  <a:pos x="18" y="35"/>
                </a:cxn>
                <a:cxn ang="0">
                  <a:pos x="12" y="49"/>
                </a:cxn>
                <a:cxn ang="0">
                  <a:pos x="0" y="66"/>
                </a:cxn>
                <a:cxn ang="0">
                  <a:pos x="0" y="82"/>
                </a:cxn>
                <a:cxn ang="0">
                  <a:pos x="0" y="96"/>
                </a:cxn>
                <a:cxn ang="0">
                  <a:pos x="12" y="111"/>
                </a:cxn>
                <a:cxn ang="0">
                  <a:pos x="18" y="124"/>
                </a:cxn>
                <a:cxn ang="0">
                  <a:pos x="43" y="135"/>
                </a:cxn>
                <a:cxn ang="0">
                  <a:pos x="66" y="146"/>
                </a:cxn>
                <a:cxn ang="0">
                  <a:pos x="96" y="153"/>
                </a:cxn>
                <a:cxn ang="0">
                  <a:pos x="123" y="161"/>
                </a:cxn>
                <a:cxn ang="0">
                  <a:pos x="163" y="161"/>
                </a:cxn>
                <a:cxn ang="0">
                  <a:pos x="189" y="161"/>
                </a:cxn>
                <a:cxn ang="0">
                  <a:pos x="228" y="153"/>
                </a:cxn>
                <a:cxn ang="0">
                  <a:pos x="251" y="146"/>
                </a:cxn>
                <a:cxn ang="0">
                  <a:pos x="271" y="135"/>
                </a:cxn>
                <a:cxn ang="0">
                  <a:pos x="291" y="124"/>
                </a:cxn>
                <a:cxn ang="0">
                  <a:pos x="311" y="111"/>
                </a:cxn>
                <a:cxn ang="0">
                  <a:pos x="311" y="96"/>
                </a:cxn>
                <a:cxn ang="0">
                  <a:pos x="324" y="82"/>
                </a:cxn>
              </a:cxnLst>
              <a:rect l="txL" t="txT" r="txR" b="txB"/>
              <a:pathLst>
                <a:path w="37" h="44">
                  <a:moveTo>
                    <a:pt x="37" y="22"/>
                  </a:moveTo>
                  <a:lnTo>
                    <a:pt x="36" y="18"/>
                  </a:lnTo>
                  <a:lnTo>
                    <a:pt x="36" y="13"/>
                  </a:lnTo>
                  <a:lnTo>
                    <a:pt x="34" y="9"/>
                  </a:lnTo>
                  <a:lnTo>
                    <a:pt x="31" y="6"/>
                  </a:lnTo>
                  <a:lnTo>
                    <a:pt x="29" y="4"/>
                  </a:lnTo>
                  <a:lnTo>
                    <a:pt x="26" y="1"/>
                  </a:lnTo>
                  <a:lnTo>
                    <a:pt x="22" y="0"/>
                  </a:lnTo>
                  <a:lnTo>
                    <a:pt x="19" y="0"/>
                  </a:lnTo>
                  <a:lnTo>
                    <a:pt x="14" y="0"/>
                  </a:lnTo>
                  <a:lnTo>
                    <a:pt x="11" y="1"/>
                  </a:lnTo>
                  <a:lnTo>
                    <a:pt x="8" y="4"/>
                  </a:lnTo>
                  <a:lnTo>
                    <a:pt x="5" y="6"/>
                  </a:lnTo>
                  <a:lnTo>
                    <a:pt x="2" y="9"/>
                  </a:lnTo>
                  <a:lnTo>
                    <a:pt x="1" y="13"/>
                  </a:lnTo>
                  <a:lnTo>
                    <a:pt x="0" y="18"/>
                  </a:lnTo>
                  <a:lnTo>
                    <a:pt x="0" y="22"/>
                  </a:lnTo>
                  <a:lnTo>
                    <a:pt x="0" y="26"/>
                  </a:lnTo>
                  <a:lnTo>
                    <a:pt x="1" y="30"/>
                  </a:lnTo>
                  <a:lnTo>
                    <a:pt x="2" y="34"/>
                  </a:lnTo>
                  <a:lnTo>
                    <a:pt x="5" y="37"/>
                  </a:lnTo>
                  <a:lnTo>
                    <a:pt x="8" y="40"/>
                  </a:lnTo>
                  <a:lnTo>
                    <a:pt x="11" y="42"/>
                  </a:lnTo>
                  <a:lnTo>
                    <a:pt x="14" y="44"/>
                  </a:lnTo>
                  <a:lnTo>
                    <a:pt x="19" y="44"/>
                  </a:lnTo>
                  <a:lnTo>
                    <a:pt x="22" y="44"/>
                  </a:lnTo>
                  <a:lnTo>
                    <a:pt x="26" y="42"/>
                  </a:lnTo>
                  <a:lnTo>
                    <a:pt x="29" y="40"/>
                  </a:lnTo>
                  <a:lnTo>
                    <a:pt x="31" y="37"/>
                  </a:lnTo>
                  <a:lnTo>
                    <a:pt x="34" y="34"/>
                  </a:lnTo>
                  <a:lnTo>
                    <a:pt x="36" y="30"/>
                  </a:lnTo>
                  <a:lnTo>
                    <a:pt x="36" y="26"/>
                  </a:lnTo>
                  <a:lnTo>
                    <a:pt x="37" y="22"/>
                  </a:lnTo>
                  <a:close/>
                </a:path>
              </a:pathLst>
            </a:custGeom>
            <a:noFill/>
            <a:ln w="38100" cap="flat" cmpd="sng">
              <a:solidFill>
                <a:schemeClr val="bg1">
                  <a:alpha val="100000"/>
                </a:schemeClr>
              </a:solidFill>
              <a:prstDash val="solid"/>
              <a:round/>
              <a:headEnd type="none" w="med" len="med"/>
              <a:tailEnd type="none" w="med" len="med"/>
            </a:ln>
          </p:spPr>
          <p:txBody>
            <a:bodyPr/>
            <a:p>
              <a:endParaRPr lang="zh-CN" altLang="en-US" sz="2000" b="1">
                <a:solidFill>
                  <a:srgbClr val="333399"/>
                </a:solidFill>
              </a:endParaRPr>
            </a:p>
          </p:txBody>
        </p:sp>
        <p:sp>
          <p:nvSpPr>
            <p:cNvPr id="46171" name="Rectangle 178"/>
            <p:cNvSpPr/>
            <p:nvPr/>
          </p:nvSpPr>
          <p:spPr>
            <a:xfrm>
              <a:off x="5163" y="3095"/>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16</a:t>
              </a:r>
              <a:endParaRPr lang="en-US" altLang="zh-CN" sz="2000" b="1" dirty="0">
                <a:solidFill>
                  <a:schemeClr val="bg1"/>
                </a:solidFill>
                <a:latin typeface="Times New Roman" panose="02020603050405020304" pitchFamily="18" charset="0"/>
              </a:endParaRPr>
            </a:p>
          </p:txBody>
        </p:sp>
        <p:sp>
          <p:nvSpPr>
            <p:cNvPr id="46172" name="Rectangle 179"/>
            <p:cNvSpPr/>
            <p:nvPr/>
          </p:nvSpPr>
          <p:spPr>
            <a:xfrm>
              <a:off x="5144" y="2846"/>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15</a:t>
              </a:r>
              <a:endParaRPr lang="en-US" altLang="zh-CN" sz="2000" b="1" dirty="0">
                <a:solidFill>
                  <a:schemeClr val="bg1"/>
                </a:solidFill>
                <a:latin typeface="Times New Roman" panose="02020603050405020304" pitchFamily="18" charset="0"/>
              </a:endParaRPr>
            </a:p>
          </p:txBody>
        </p:sp>
        <p:sp>
          <p:nvSpPr>
            <p:cNvPr id="46173" name="Rectangle 180"/>
            <p:cNvSpPr/>
            <p:nvPr/>
          </p:nvSpPr>
          <p:spPr>
            <a:xfrm>
              <a:off x="5158" y="2614"/>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11</a:t>
              </a:r>
              <a:endParaRPr lang="en-US" altLang="zh-CN" sz="2000" b="1" dirty="0">
                <a:solidFill>
                  <a:schemeClr val="bg1"/>
                </a:solidFill>
                <a:latin typeface="Times New Roman" panose="02020603050405020304" pitchFamily="18" charset="0"/>
              </a:endParaRPr>
            </a:p>
          </p:txBody>
        </p:sp>
        <p:sp>
          <p:nvSpPr>
            <p:cNvPr id="46174" name="Rectangle 181"/>
            <p:cNvSpPr/>
            <p:nvPr/>
          </p:nvSpPr>
          <p:spPr>
            <a:xfrm>
              <a:off x="5149" y="2378"/>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14</a:t>
              </a:r>
              <a:endParaRPr lang="en-US" altLang="zh-CN" sz="2000" b="1" dirty="0">
                <a:solidFill>
                  <a:schemeClr val="bg1"/>
                </a:solidFill>
                <a:latin typeface="Times New Roman" panose="02020603050405020304" pitchFamily="18" charset="0"/>
              </a:endParaRPr>
            </a:p>
          </p:txBody>
        </p:sp>
        <p:sp>
          <p:nvSpPr>
            <p:cNvPr id="46175" name="Rectangle 182"/>
            <p:cNvSpPr/>
            <p:nvPr/>
          </p:nvSpPr>
          <p:spPr>
            <a:xfrm>
              <a:off x="5151" y="2050"/>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10</a:t>
              </a:r>
              <a:endParaRPr lang="en-US" altLang="zh-CN" sz="2000" b="1" dirty="0">
                <a:solidFill>
                  <a:schemeClr val="bg1"/>
                </a:solidFill>
                <a:latin typeface="Times New Roman" panose="02020603050405020304" pitchFamily="18" charset="0"/>
              </a:endParaRPr>
            </a:p>
          </p:txBody>
        </p:sp>
        <p:sp>
          <p:nvSpPr>
            <p:cNvPr id="46176" name="Rectangle 183"/>
            <p:cNvSpPr/>
            <p:nvPr/>
          </p:nvSpPr>
          <p:spPr>
            <a:xfrm>
              <a:off x="5150" y="1511"/>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12</a:t>
              </a:r>
              <a:endParaRPr lang="en-US" altLang="zh-CN" sz="2000" b="1" dirty="0">
                <a:solidFill>
                  <a:schemeClr val="bg1"/>
                </a:solidFill>
                <a:latin typeface="Times New Roman" panose="02020603050405020304" pitchFamily="18" charset="0"/>
              </a:endParaRPr>
            </a:p>
          </p:txBody>
        </p:sp>
        <p:sp>
          <p:nvSpPr>
            <p:cNvPr id="46177" name="Rectangle 184"/>
            <p:cNvSpPr/>
            <p:nvPr/>
          </p:nvSpPr>
          <p:spPr>
            <a:xfrm>
              <a:off x="5151" y="1260"/>
              <a:ext cx="16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13</a:t>
              </a:r>
              <a:endParaRPr lang="en-US" altLang="zh-CN" sz="2000" b="1" dirty="0">
                <a:solidFill>
                  <a:schemeClr val="bg1"/>
                </a:solidFill>
                <a:latin typeface="Times New Roman" panose="02020603050405020304" pitchFamily="18" charset="0"/>
              </a:endParaRPr>
            </a:p>
          </p:txBody>
        </p:sp>
        <p:sp>
          <p:nvSpPr>
            <p:cNvPr id="46178" name="Rectangle 185"/>
            <p:cNvSpPr/>
            <p:nvPr/>
          </p:nvSpPr>
          <p:spPr>
            <a:xfrm>
              <a:off x="5317" y="2852"/>
              <a:ext cx="412" cy="173"/>
            </a:xfrm>
            <a:prstGeom prst="rect">
              <a:avLst/>
            </a:prstGeom>
            <a:noFill/>
            <a:ln w="19050">
              <a:noFill/>
            </a:ln>
          </p:spPr>
          <p:txBody>
            <a:bodyPr wrap="none" lIns="0" tIns="0" rIns="0" bIns="0">
              <a:spAutoFit/>
            </a:bodyPr>
            <a:p>
              <a:pPr algn="just" eaLnBrk="1" hangingPunct="1"/>
              <a:r>
                <a:rPr lang="en-US" altLang="zh-CN" sz="1800" b="1" dirty="0">
                  <a:solidFill>
                    <a:schemeClr val="bg1"/>
                  </a:solidFill>
                  <a:latin typeface="Times New Roman" panose="02020603050405020304" pitchFamily="18" charset="0"/>
                </a:rPr>
                <a:t>(+</a:t>
              </a:r>
              <a:r>
                <a:rPr lang="en-US" altLang="zh-CN" sz="1800" b="1" i="1" dirty="0">
                  <a:solidFill>
                    <a:schemeClr val="bg1"/>
                  </a:solidFill>
                  <a:latin typeface="Times New Roman" panose="02020603050405020304" pitchFamily="18" charset="0"/>
                </a:rPr>
                <a:t>V</a:t>
              </a:r>
              <a:r>
                <a:rPr lang="en-US" altLang="zh-CN" sz="1800" b="1" baseline="-25000" dirty="0">
                  <a:solidFill>
                    <a:schemeClr val="bg1"/>
                  </a:solidFill>
                  <a:latin typeface="Times New Roman" panose="02020603050405020304" pitchFamily="18" charset="0"/>
                </a:rPr>
                <a:t>CC</a:t>
              </a:r>
              <a:r>
                <a:rPr lang="en-US" altLang="zh-CN" sz="1800" b="1" dirty="0">
                  <a:solidFill>
                    <a:schemeClr val="bg1"/>
                  </a:solidFill>
                  <a:latin typeface="Times New Roman" panose="02020603050405020304" pitchFamily="18" charset="0"/>
                </a:rPr>
                <a:t>)</a:t>
              </a:r>
              <a:endParaRPr lang="en-US" altLang="zh-CN" sz="1800" b="1" dirty="0">
                <a:solidFill>
                  <a:schemeClr val="bg1"/>
                </a:solidFill>
                <a:latin typeface="Times New Roman" panose="02020603050405020304" pitchFamily="18" charset="0"/>
              </a:endParaRPr>
            </a:p>
          </p:txBody>
        </p:sp>
        <p:sp>
          <p:nvSpPr>
            <p:cNvPr id="46179" name="Rectangle 186"/>
            <p:cNvSpPr/>
            <p:nvPr/>
          </p:nvSpPr>
          <p:spPr>
            <a:xfrm>
              <a:off x="439" y="2698"/>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1</a:t>
              </a:r>
              <a:endParaRPr lang="en-US" altLang="zh-CN" sz="2000" b="1" dirty="0">
                <a:solidFill>
                  <a:schemeClr val="bg1"/>
                </a:solidFill>
                <a:latin typeface="Times New Roman" panose="02020603050405020304" pitchFamily="18" charset="0"/>
              </a:endParaRPr>
            </a:p>
          </p:txBody>
        </p:sp>
        <p:sp>
          <p:nvSpPr>
            <p:cNvPr id="46180" name="Rectangle 187"/>
            <p:cNvSpPr/>
            <p:nvPr/>
          </p:nvSpPr>
          <p:spPr>
            <a:xfrm>
              <a:off x="437" y="1150"/>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2</a:t>
              </a:r>
              <a:endParaRPr lang="en-US" altLang="zh-CN" sz="2000" b="1" dirty="0">
                <a:solidFill>
                  <a:schemeClr val="bg1"/>
                </a:solidFill>
                <a:latin typeface="Times New Roman" panose="02020603050405020304" pitchFamily="18" charset="0"/>
              </a:endParaRPr>
            </a:p>
          </p:txBody>
        </p:sp>
        <p:sp>
          <p:nvSpPr>
            <p:cNvPr id="46181" name="Rectangle 188"/>
            <p:cNvSpPr/>
            <p:nvPr/>
          </p:nvSpPr>
          <p:spPr>
            <a:xfrm>
              <a:off x="421" y="1323"/>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6</a:t>
              </a:r>
              <a:endParaRPr lang="en-US" altLang="zh-CN" sz="2000" b="1" dirty="0">
                <a:solidFill>
                  <a:schemeClr val="bg1"/>
                </a:solidFill>
                <a:latin typeface="Times New Roman" panose="02020603050405020304" pitchFamily="18" charset="0"/>
              </a:endParaRPr>
            </a:p>
          </p:txBody>
        </p:sp>
        <p:sp>
          <p:nvSpPr>
            <p:cNvPr id="46182" name="Rectangle 189"/>
            <p:cNvSpPr/>
            <p:nvPr/>
          </p:nvSpPr>
          <p:spPr>
            <a:xfrm>
              <a:off x="420" y="1501"/>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8</a:t>
              </a:r>
              <a:endParaRPr lang="en-US" altLang="zh-CN" sz="2000" b="1" dirty="0">
                <a:solidFill>
                  <a:schemeClr val="bg1"/>
                </a:solidFill>
                <a:latin typeface="Times New Roman" panose="02020603050405020304" pitchFamily="18" charset="0"/>
              </a:endParaRPr>
            </a:p>
          </p:txBody>
        </p:sp>
        <p:sp>
          <p:nvSpPr>
            <p:cNvPr id="46183" name="Rectangle 190"/>
            <p:cNvSpPr/>
            <p:nvPr/>
          </p:nvSpPr>
          <p:spPr>
            <a:xfrm>
              <a:off x="413" y="1680"/>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7</a:t>
              </a:r>
              <a:endParaRPr lang="en-US" altLang="zh-CN" sz="2000" b="1" dirty="0">
                <a:solidFill>
                  <a:schemeClr val="bg1"/>
                </a:solidFill>
                <a:latin typeface="Times New Roman" panose="02020603050405020304" pitchFamily="18" charset="0"/>
              </a:endParaRPr>
            </a:p>
          </p:txBody>
        </p:sp>
        <p:sp>
          <p:nvSpPr>
            <p:cNvPr id="46184" name="Rectangle 191"/>
            <p:cNvSpPr/>
            <p:nvPr/>
          </p:nvSpPr>
          <p:spPr>
            <a:xfrm>
              <a:off x="426" y="1915"/>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3</a:t>
              </a:r>
              <a:endParaRPr lang="en-US" altLang="zh-CN" sz="2000" b="1" dirty="0">
                <a:solidFill>
                  <a:schemeClr val="bg1"/>
                </a:solidFill>
                <a:latin typeface="Times New Roman" panose="02020603050405020304" pitchFamily="18" charset="0"/>
              </a:endParaRPr>
            </a:p>
          </p:txBody>
        </p:sp>
        <p:sp>
          <p:nvSpPr>
            <p:cNvPr id="46185" name="Rectangle 192"/>
            <p:cNvSpPr/>
            <p:nvPr/>
          </p:nvSpPr>
          <p:spPr>
            <a:xfrm>
              <a:off x="419" y="2180"/>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4</a:t>
              </a:r>
              <a:endParaRPr lang="en-US" altLang="zh-CN" sz="2000" b="1" dirty="0">
                <a:solidFill>
                  <a:schemeClr val="bg1"/>
                </a:solidFill>
                <a:latin typeface="Times New Roman" panose="02020603050405020304" pitchFamily="18" charset="0"/>
              </a:endParaRPr>
            </a:p>
          </p:txBody>
        </p:sp>
        <p:sp>
          <p:nvSpPr>
            <p:cNvPr id="46186" name="Rectangle 193"/>
            <p:cNvSpPr/>
            <p:nvPr/>
          </p:nvSpPr>
          <p:spPr>
            <a:xfrm>
              <a:off x="430" y="2917"/>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9</a:t>
              </a:r>
              <a:endParaRPr lang="en-US" altLang="zh-CN" sz="2000" b="1" dirty="0">
                <a:solidFill>
                  <a:schemeClr val="bg1"/>
                </a:solidFill>
                <a:latin typeface="Times New Roman" panose="02020603050405020304" pitchFamily="18" charset="0"/>
              </a:endParaRPr>
            </a:p>
          </p:txBody>
        </p:sp>
        <p:sp>
          <p:nvSpPr>
            <p:cNvPr id="46187" name="Rectangle 194"/>
            <p:cNvSpPr/>
            <p:nvPr/>
          </p:nvSpPr>
          <p:spPr>
            <a:xfrm>
              <a:off x="424" y="3145"/>
              <a:ext cx="80" cy="192"/>
            </a:xfrm>
            <a:prstGeom prst="rect">
              <a:avLst/>
            </a:prstGeom>
            <a:noFill/>
            <a:ln w="19050">
              <a:noFill/>
            </a:ln>
          </p:spPr>
          <p:txBody>
            <a:bodyPr wrap="none" lIns="0" tIns="0" rIns="0" bIns="0">
              <a:spAutoFit/>
            </a:bodyPr>
            <a:p>
              <a:pPr algn="just" eaLnBrk="1" hangingPunct="1"/>
              <a:r>
                <a:rPr lang="en-US" altLang="zh-CN" sz="2000" b="1" dirty="0">
                  <a:solidFill>
                    <a:schemeClr val="bg1"/>
                  </a:solidFill>
                  <a:latin typeface="Times New Roman" panose="02020603050405020304" pitchFamily="18" charset="0"/>
                </a:rPr>
                <a:t>5</a:t>
              </a:r>
              <a:endParaRPr lang="en-US" altLang="zh-CN" sz="2000" b="1" dirty="0">
                <a:solidFill>
                  <a:schemeClr val="bg1"/>
                </a:solidFill>
                <a:latin typeface="Times New Roman" panose="02020603050405020304" pitchFamily="18" charset="0"/>
              </a:endParaRPr>
            </a:p>
          </p:txBody>
        </p:sp>
        <p:sp>
          <p:nvSpPr>
            <p:cNvPr id="46188" name="Rectangle 195"/>
            <p:cNvSpPr/>
            <p:nvPr/>
          </p:nvSpPr>
          <p:spPr>
            <a:xfrm>
              <a:off x="15" y="2693"/>
              <a:ext cx="426" cy="173"/>
            </a:xfrm>
            <a:prstGeom prst="rect">
              <a:avLst/>
            </a:prstGeom>
            <a:noFill/>
            <a:ln w="19050">
              <a:noFill/>
            </a:ln>
          </p:spPr>
          <p:txBody>
            <a:bodyPr wrap="none" lIns="0" tIns="0" rIns="0" bIns="0">
              <a:spAutoFit/>
            </a:bodyPr>
            <a:p>
              <a:pPr algn="just" eaLnBrk="1" hangingPunct="1"/>
              <a:r>
                <a:rPr lang="en-US" altLang="zh-CN" sz="1800" b="1" dirty="0">
                  <a:solidFill>
                    <a:schemeClr val="bg1"/>
                  </a:solidFill>
                  <a:latin typeface="Times New Roman" panose="02020603050405020304" pitchFamily="18" charset="0"/>
                </a:rPr>
                <a:t>(+15V)</a:t>
              </a:r>
              <a:endParaRPr lang="en-US" altLang="zh-CN" sz="1800" b="1" dirty="0">
                <a:solidFill>
                  <a:schemeClr val="bg1"/>
                </a:solidFill>
                <a:latin typeface="Times New Roman" panose="02020603050405020304" pitchFamily="18" charset="0"/>
              </a:endParaRPr>
            </a:p>
          </p:txBody>
        </p:sp>
        <p:sp>
          <p:nvSpPr>
            <p:cNvPr id="46189" name="Rectangle 196"/>
            <p:cNvSpPr/>
            <p:nvPr/>
          </p:nvSpPr>
          <p:spPr>
            <a:xfrm>
              <a:off x="17" y="3144"/>
              <a:ext cx="392" cy="173"/>
            </a:xfrm>
            <a:prstGeom prst="rect">
              <a:avLst/>
            </a:prstGeom>
            <a:noFill/>
            <a:ln w="19050">
              <a:noFill/>
            </a:ln>
          </p:spPr>
          <p:txBody>
            <a:bodyPr wrap="none" lIns="0" tIns="0" rIns="0" bIns="0">
              <a:spAutoFit/>
            </a:bodyPr>
            <a:p>
              <a:pPr algn="just" eaLnBrk="1" hangingPunct="1"/>
              <a:r>
                <a:rPr lang="en-US" altLang="zh-CN" sz="1800" b="1" dirty="0">
                  <a:solidFill>
                    <a:schemeClr val="bg1"/>
                  </a:solidFill>
                  <a:latin typeface="Times New Roman" panose="02020603050405020304" pitchFamily="18" charset="0"/>
                </a:rPr>
                <a:t>(-15V)</a:t>
              </a:r>
              <a:endParaRPr lang="en-US" altLang="zh-CN" sz="1800" b="1" dirty="0">
                <a:solidFill>
                  <a:schemeClr val="bg1"/>
                </a:solidFill>
                <a:latin typeface="Times New Roman" panose="02020603050405020304" pitchFamily="18" charset="0"/>
              </a:endParaRPr>
            </a:p>
          </p:txBody>
        </p:sp>
        <p:sp>
          <p:nvSpPr>
            <p:cNvPr id="46190" name="Rectangle 197"/>
            <p:cNvSpPr/>
            <p:nvPr/>
          </p:nvSpPr>
          <p:spPr>
            <a:xfrm>
              <a:off x="5334" y="2400"/>
              <a:ext cx="392" cy="173"/>
            </a:xfrm>
            <a:prstGeom prst="rect">
              <a:avLst/>
            </a:prstGeom>
            <a:noFill/>
            <a:ln w="19050">
              <a:noFill/>
            </a:ln>
          </p:spPr>
          <p:txBody>
            <a:bodyPr wrap="none" lIns="0" tIns="0" rIns="0" bIns="0">
              <a:spAutoFit/>
            </a:bodyPr>
            <a:p>
              <a:pPr algn="just" eaLnBrk="1" hangingPunct="1">
                <a:buNone/>
              </a:pPr>
              <a:r>
                <a:rPr lang="en-US" altLang="zh-CN" sz="1800" b="1" dirty="0">
                  <a:solidFill>
                    <a:schemeClr val="bg1"/>
                  </a:solidFill>
                  <a:latin typeface="Times New Roman" panose="02020603050405020304" pitchFamily="18" charset="0"/>
                </a:rPr>
                <a:t>(</a:t>
              </a:r>
              <a:r>
                <a:rPr lang="en-US" altLang="zh-CN" sz="1800" b="1" dirty="0">
                  <a:solidFill>
                    <a:schemeClr val="bg1"/>
                  </a:solidFill>
                  <a:latin typeface="Times New Roman" panose="02020603050405020304" pitchFamily="18" charset="0"/>
                  <a:ea typeface="宋体" panose="02010600030101010101" pitchFamily="2" charset="-122"/>
                </a:rPr>
                <a:t>–</a:t>
              </a:r>
              <a:r>
                <a:rPr lang="en-US" altLang="zh-CN" sz="1800" b="1" i="1" dirty="0">
                  <a:solidFill>
                    <a:schemeClr val="bg1"/>
                  </a:solidFill>
                  <a:latin typeface="Times New Roman" panose="02020603050405020304" pitchFamily="18" charset="0"/>
                </a:rPr>
                <a:t>V</a:t>
              </a:r>
              <a:r>
                <a:rPr lang="en-US" altLang="zh-CN" sz="1800" b="1" baseline="-25000" dirty="0">
                  <a:solidFill>
                    <a:schemeClr val="bg1"/>
                  </a:solidFill>
                  <a:latin typeface="Times New Roman" panose="02020603050405020304" pitchFamily="18" charset="0"/>
                </a:rPr>
                <a:t>EE</a:t>
              </a:r>
              <a:r>
                <a:rPr lang="en-US" altLang="zh-CN" sz="1800" b="1" dirty="0">
                  <a:solidFill>
                    <a:schemeClr val="bg1"/>
                  </a:solidFill>
                  <a:latin typeface="Times New Roman" panose="02020603050405020304" pitchFamily="18" charset="0"/>
                </a:rPr>
                <a:t>)</a:t>
              </a:r>
              <a:endParaRPr lang="en-US" altLang="zh-CN" sz="1800" b="1" dirty="0">
                <a:solidFill>
                  <a:schemeClr val="bg1"/>
                </a:solidFill>
                <a:latin typeface="Times New Roman" panose="02020603050405020304" pitchFamily="18" charset="0"/>
              </a:endParaRPr>
            </a:p>
          </p:txBody>
        </p:sp>
        <p:sp>
          <p:nvSpPr>
            <p:cNvPr id="46191" name="Line 198"/>
            <p:cNvSpPr/>
            <p:nvPr/>
          </p:nvSpPr>
          <p:spPr>
            <a:xfrm flipH="1">
              <a:off x="2294" y="2020"/>
              <a:ext cx="192" cy="0"/>
            </a:xfrm>
            <a:prstGeom prst="line">
              <a:avLst/>
            </a:prstGeom>
            <a:ln w="38100" cap="flat" cmpd="sng">
              <a:solidFill>
                <a:schemeClr val="bg1"/>
              </a:solidFill>
              <a:prstDash val="solid"/>
              <a:headEnd type="none" w="med" len="med"/>
              <a:tailEnd type="none" w="med" len="med"/>
            </a:ln>
          </p:spPr>
        </p:sp>
        <p:sp>
          <p:nvSpPr>
            <p:cNvPr id="46192" name="Line 199"/>
            <p:cNvSpPr/>
            <p:nvPr/>
          </p:nvSpPr>
          <p:spPr>
            <a:xfrm>
              <a:off x="1401" y="3125"/>
              <a:ext cx="136" cy="1"/>
            </a:xfrm>
            <a:prstGeom prst="line">
              <a:avLst/>
            </a:prstGeom>
            <a:ln w="38100" cap="flat" cmpd="sng">
              <a:solidFill>
                <a:schemeClr val="bg1"/>
              </a:solidFill>
              <a:prstDash val="solid"/>
              <a:headEnd type="none" w="med" len="med"/>
              <a:tailEnd type="none" w="med" len="med"/>
            </a:ln>
          </p:spPr>
        </p:sp>
        <p:sp>
          <p:nvSpPr>
            <p:cNvPr id="46193" name="Line 200"/>
            <p:cNvSpPr/>
            <p:nvPr/>
          </p:nvSpPr>
          <p:spPr>
            <a:xfrm>
              <a:off x="1407" y="2894"/>
              <a:ext cx="136" cy="1"/>
            </a:xfrm>
            <a:prstGeom prst="line">
              <a:avLst/>
            </a:prstGeom>
            <a:ln w="38100" cap="flat" cmpd="sng">
              <a:solidFill>
                <a:schemeClr val="bg1"/>
              </a:solidFill>
              <a:prstDash val="solid"/>
              <a:headEnd type="none" w="med" len="med"/>
              <a:tailEnd type="none" w="med" len="med"/>
            </a:ln>
          </p:spPr>
        </p:sp>
        <p:sp>
          <p:nvSpPr>
            <p:cNvPr id="46194" name="Line 201"/>
            <p:cNvSpPr/>
            <p:nvPr/>
          </p:nvSpPr>
          <p:spPr>
            <a:xfrm>
              <a:off x="1407" y="2936"/>
              <a:ext cx="136" cy="1"/>
            </a:xfrm>
            <a:prstGeom prst="line">
              <a:avLst/>
            </a:prstGeom>
            <a:ln w="38100" cap="flat" cmpd="sng">
              <a:solidFill>
                <a:schemeClr val="bg1"/>
              </a:solidFill>
              <a:prstDash val="solid"/>
              <a:headEnd type="none" w="med" len="med"/>
              <a:tailEnd type="none" w="med" len="med"/>
            </a:ln>
          </p:spPr>
        </p:sp>
        <p:sp>
          <p:nvSpPr>
            <p:cNvPr id="46195" name="Oval 202"/>
            <p:cNvSpPr/>
            <p:nvPr/>
          </p:nvSpPr>
          <p:spPr>
            <a:xfrm>
              <a:off x="5067" y="2121"/>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96" name="Oval 203"/>
            <p:cNvSpPr/>
            <p:nvPr/>
          </p:nvSpPr>
          <p:spPr>
            <a:xfrm>
              <a:off x="5076" y="2463"/>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97" name="Oval 204"/>
            <p:cNvSpPr/>
            <p:nvPr/>
          </p:nvSpPr>
          <p:spPr>
            <a:xfrm>
              <a:off x="5068" y="2679"/>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98" name="Oval 205"/>
            <p:cNvSpPr/>
            <p:nvPr/>
          </p:nvSpPr>
          <p:spPr>
            <a:xfrm>
              <a:off x="5069" y="2911"/>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199" name="Oval 206"/>
            <p:cNvSpPr/>
            <p:nvPr/>
          </p:nvSpPr>
          <p:spPr>
            <a:xfrm>
              <a:off x="5065" y="3164"/>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0" name="Oval 207"/>
            <p:cNvSpPr/>
            <p:nvPr/>
          </p:nvSpPr>
          <p:spPr>
            <a:xfrm>
              <a:off x="512" y="1747"/>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1" name="Oval 208"/>
            <p:cNvSpPr/>
            <p:nvPr/>
          </p:nvSpPr>
          <p:spPr>
            <a:xfrm>
              <a:off x="519" y="1990"/>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2" name="Oval 209"/>
            <p:cNvSpPr/>
            <p:nvPr/>
          </p:nvSpPr>
          <p:spPr>
            <a:xfrm>
              <a:off x="518" y="2256"/>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3" name="Oval 210"/>
            <p:cNvSpPr/>
            <p:nvPr/>
          </p:nvSpPr>
          <p:spPr>
            <a:xfrm>
              <a:off x="528" y="2782"/>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4" name="Oval 211"/>
            <p:cNvSpPr/>
            <p:nvPr/>
          </p:nvSpPr>
          <p:spPr>
            <a:xfrm>
              <a:off x="528" y="3002"/>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6205" name="Oval 212"/>
            <p:cNvSpPr/>
            <p:nvPr/>
          </p:nvSpPr>
          <p:spPr>
            <a:xfrm>
              <a:off x="529" y="3222"/>
              <a:ext cx="68" cy="68"/>
            </a:xfrm>
            <a:prstGeom prst="ellipse">
              <a:avLst/>
            </a:prstGeom>
            <a:noFill/>
            <a:ln w="38100" cap="flat" cmpd="sng">
              <a:solidFill>
                <a:schemeClr val="bg1"/>
              </a:solidFill>
              <a:prstDash val="solid"/>
              <a:headEnd type="none" w="med" len="med"/>
              <a:tailEnd type="none" w="med" len="med"/>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pSp>
      <p:sp>
        <p:nvSpPr>
          <p:cNvPr id="2429141" name="Rectangle 213"/>
          <p:cNvSpPr/>
          <p:nvPr/>
        </p:nvSpPr>
        <p:spPr>
          <a:xfrm>
            <a:off x="5508625" y="728663"/>
            <a:ext cx="2947988" cy="641350"/>
          </a:xfrm>
          <a:prstGeom prst="rect">
            <a:avLst/>
          </a:prstGeom>
          <a:solidFill>
            <a:srgbClr val="FFCC99"/>
          </a:solidFill>
          <a:ln w="9525">
            <a:noFill/>
          </a:ln>
        </p:spPr>
        <p:txBody>
          <a:bodyPr>
            <a:spAutoFit/>
          </a:bodyPr>
          <a:p>
            <a:pPr eaLnBrk="1" hangingPunct="1">
              <a:lnSpc>
                <a:spcPct val="90000"/>
              </a:lnSpc>
            </a:pPr>
            <a:r>
              <a:rPr lang="zh-CN" altLang="en-US" sz="2000" b="1" dirty="0">
                <a:solidFill>
                  <a:schemeClr val="tx2"/>
                </a:solidFill>
                <a:latin typeface="黑体" panose="02010609060101010101" pitchFamily="49" charset="-122"/>
                <a:ea typeface="黑体" panose="02010609060101010101" pitchFamily="49" charset="-122"/>
              </a:rPr>
              <a:t>变压器隔离放大器</a:t>
            </a:r>
            <a:r>
              <a:rPr lang="en-US" altLang="zh-CN" sz="2000" b="1" dirty="0">
                <a:solidFill>
                  <a:schemeClr val="tx2"/>
                </a:solidFill>
                <a:latin typeface="黑体" panose="02010609060101010101" pitchFamily="49" charset="-122"/>
                <a:ea typeface="黑体" panose="02010609060101010101" pitchFamily="49" charset="-122"/>
              </a:rPr>
              <a:t>AD277</a:t>
            </a:r>
            <a:r>
              <a:rPr lang="zh-CN" altLang="en-US" sz="2000" b="1" dirty="0">
                <a:solidFill>
                  <a:schemeClr val="tx2"/>
                </a:solidFill>
                <a:latin typeface="黑体" panose="02010609060101010101" pitchFamily="49" charset="-122"/>
                <a:ea typeface="黑体" panose="02010609060101010101" pitchFamily="49" charset="-122"/>
              </a:rPr>
              <a:t>原理图和引脚</a:t>
            </a:r>
            <a:endParaRPr lang="zh-CN" altLang="en-US" sz="2000" b="1" dirty="0">
              <a:solidFill>
                <a:schemeClr val="tx2"/>
              </a:solidFill>
              <a:latin typeface="黑体" panose="02010609060101010101" pitchFamily="49" charset="-122"/>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29141"/>
                                        </p:tgtEl>
                                        <p:attrNameLst>
                                          <p:attrName>style.visibility</p:attrName>
                                        </p:attrNameLst>
                                      </p:cBhvr>
                                      <p:to>
                                        <p:strVal val="visible"/>
                                      </p:to>
                                    </p:set>
                                    <p:animEffect transition="in" filter="dissolve">
                                      <p:cBhvr>
                                        <p:cTn id="7" dur="500"/>
                                        <p:tgtEl>
                                          <p:spTgt spid="24291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28930"/>
                                        </p:tgtEl>
                                        <p:attrNameLst>
                                          <p:attrName>style.visibility</p:attrName>
                                        </p:attrNameLst>
                                      </p:cBhvr>
                                      <p:to>
                                        <p:strVal val="visible"/>
                                      </p:to>
                                    </p:set>
                                    <p:animEffect transition="in" filter="dissolve">
                                      <p:cBhvr>
                                        <p:cTn id="12" dur="500"/>
                                        <p:tgtEl>
                                          <p:spTgt spid="2428930"/>
                                        </p:tgtEl>
                                      </p:cBhvr>
                                    </p:animEffect>
                                  </p:childTnLst>
                                </p:cTn>
                              </p:par>
                              <p:par>
                                <p:cTn id="13" presetID="9" presetClass="entr" presetSubtype="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dissolv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8930" grpId="0" bldLvl="0" animBg="1"/>
      <p:bldP spid="2429141" grpId="0" bldLvl="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9955" name="Text Box 3"/>
          <p:cNvSpPr txBox="1">
            <a:spLocks noChangeArrowheads="1"/>
          </p:cNvSpPr>
          <p:nvPr/>
        </p:nvSpPr>
        <p:spPr bwMode="auto">
          <a:xfrm>
            <a:off x="1835150" y="63500"/>
            <a:ext cx="5664200" cy="701675"/>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4.6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隔离放大器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7107" name="Text Box 4"/>
          <p:cNvSpPr txBox="1"/>
          <p:nvPr/>
        </p:nvSpPr>
        <p:spPr>
          <a:xfrm>
            <a:off x="179388" y="728663"/>
            <a:ext cx="4589462" cy="5857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3600" b="1" dirty="0">
                <a:solidFill>
                  <a:srgbClr val="333399"/>
                </a:solidFill>
                <a:latin typeface="Times New Roman" panose="02020603050405020304" pitchFamily="18" charset="0"/>
              </a:rPr>
              <a:t>1. </a:t>
            </a:r>
            <a:r>
              <a:rPr lang="zh-CN" altLang="en-US" sz="3600" b="1" dirty="0">
                <a:solidFill>
                  <a:srgbClr val="333399"/>
                </a:solidFill>
                <a:latin typeface="Times New Roman" panose="02020603050405020304" pitchFamily="18" charset="0"/>
              </a:rPr>
              <a:t>变压器隔离放大器</a:t>
            </a:r>
            <a:endParaRPr lang="zh-CN" altLang="en-US" sz="3600" b="1" dirty="0">
              <a:solidFill>
                <a:srgbClr val="333399"/>
              </a:solidFill>
              <a:latin typeface="Times New Roman" panose="02020603050405020304" pitchFamily="18" charset="0"/>
            </a:endParaRPr>
          </a:p>
        </p:txBody>
      </p:sp>
      <p:sp>
        <p:nvSpPr>
          <p:cNvPr id="2430084" name="Text Box 132"/>
          <p:cNvSpPr txBox="1"/>
          <p:nvPr/>
        </p:nvSpPr>
        <p:spPr>
          <a:xfrm>
            <a:off x="576263" y="1476375"/>
            <a:ext cx="6767512" cy="476250"/>
          </a:xfrm>
          <a:prstGeom prst="rect">
            <a:avLst/>
          </a:prstGeom>
          <a:noFill/>
          <a:ln w="9525">
            <a:noFill/>
          </a:ln>
        </p:spPr>
        <p:txBody>
          <a:bodyPr>
            <a:spAutoFit/>
          </a:bodyPr>
          <a:p>
            <a:pPr eaLnBrk="1" hangingPunct="1">
              <a:lnSpc>
                <a:spcPct val="90000"/>
              </a:lnSpc>
              <a:spcBef>
                <a:spcPct val="50000"/>
              </a:spcBef>
            </a:pPr>
            <a:r>
              <a:rPr lang="en-US" altLang="zh-CN" sz="2800" b="1" dirty="0">
                <a:solidFill>
                  <a:schemeClr val="tx2"/>
                </a:solidFill>
                <a:latin typeface="黑体" panose="02010609060101010101" pitchFamily="49" charset="-122"/>
                <a:ea typeface="黑体" panose="02010609060101010101" pitchFamily="49" charset="-122"/>
              </a:rPr>
              <a:t>AD277</a:t>
            </a:r>
            <a:r>
              <a:rPr lang="zh-CN" altLang="en-US" sz="2800" b="1" dirty="0">
                <a:solidFill>
                  <a:schemeClr val="tx2"/>
                </a:solidFill>
                <a:latin typeface="黑体" panose="02010609060101010101" pitchFamily="49" charset="-122"/>
                <a:ea typeface="黑体" panose="02010609060101010101" pitchFamily="49" charset="-122"/>
              </a:rPr>
              <a:t>隔离放大器的主要技术指标：</a:t>
            </a:r>
            <a:endParaRPr lang="zh-CN" altLang="en-US" sz="2800" b="1" dirty="0">
              <a:solidFill>
                <a:schemeClr val="tx2"/>
              </a:solidFill>
              <a:latin typeface="黑体" panose="02010609060101010101" pitchFamily="49" charset="-122"/>
              <a:ea typeface="黑体" panose="02010609060101010101" pitchFamily="49" charset="-122"/>
            </a:endParaRPr>
          </a:p>
        </p:txBody>
      </p:sp>
      <p:graphicFrame>
        <p:nvGraphicFramePr>
          <p:cNvPr id="2430116" name="Group 164"/>
          <p:cNvGraphicFramePr>
            <a:graphicFrameLocks noGrp="1"/>
          </p:cNvGraphicFramePr>
          <p:nvPr/>
        </p:nvGraphicFramePr>
        <p:xfrm>
          <a:off x="215900" y="2095500"/>
          <a:ext cx="8712200" cy="3781425"/>
        </p:xfrm>
        <a:graphic>
          <a:graphicData uri="http://schemas.openxmlformats.org/drawingml/2006/table">
            <a:tbl>
              <a:tblPr/>
              <a:tblGrid>
                <a:gridCol w="3825875"/>
                <a:gridCol w="4886325"/>
              </a:tblGrid>
              <a:tr h="542925">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zh-CN" altLang="en-US" sz="2800" b="1" i="0" u="none" strike="noStrike" cap="none" normalizeH="0" baseline="0">
                          <a:ln>
                            <a:noFill/>
                          </a:ln>
                          <a:solidFill>
                            <a:schemeClr val="tx1"/>
                          </a:solidFill>
                          <a:effectLst/>
                          <a:latin typeface="Arial" panose="020B0604020202020204" pitchFamily="34" charset="0"/>
                          <a:ea typeface="黑体" panose="02010609060101010101" pitchFamily="49" charset="-122"/>
                        </a:rPr>
                        <a:t>输入回路</a:t>
                      </a:r>
                      <a:endParaRPr kumimoji="1" lang="zh-CN" altLang="en-US" sz="28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zh-CN" altLang="en-US" sz="2800" b="1" i="0" u="none" strike="noStrike" cap="none" normalizeH="0" baseline="0">
                          <a:ln>
                            <a:noFill/>
                          </a:ln>
                          <a:solidFill>
                            <a:schemeClr val="tx1"/>
                          </a:solidFill>
                          <a:effectLst/>
                          <a:latin typeface="Arial" panose="020B0604020202020204" pitchFamily="34" charset="0"/>
                          <a:ea typeface="黑体" panose="02010609060101010101" pitchFamily="49" charset="-122"/>
                        </a:rPr>
                        <a:t>输出回路</a:t>
                      </a:r>
                      <a:endParaRPr kumimoji="1" lang="zh-CN" altLang="en-US" sz="28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3238500">
                <a:tc>
                  <a:txBody>
                    <a:bodyPr/>
                    <a:lstStyle/>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开环增益：</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&gt;106dB</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失调电压：</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±1.5uV</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温漂系数：</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±3uV/℃</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偏置电流：</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±60nA</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差动输入阻抗：</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4M </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sym typeface="Symbol" panose="05050102010706020507" pitchFamily="18" charset="2"/>
                        </a:rPr>
                        <a:t>共模输入阻抗：</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100M </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隔离电阻：</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10</a:t>
                      </a:r>
                      <a:r>
                        <a:rPr kumimoji="1" lang="en-US" altLang="zh-CN" sz="2400" b="1" i="0" u="none" strike="noStrike" cap="none" normalizeH="0" baseline="3000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12</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 </a:t>
                      </a:r>
                      <a:r>
                        <a:rPr kumimoji="1" lang="en-US" altLang="zh-CN"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小信号带宽：</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2.5kHz</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满功率带宽：</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1.5kHz</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供电电源电压：</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±14V~ ±16V</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rPr>
                        <a:t>供电电源电流：</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35mA</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endParaRPr>
                    </a:p>
                    <a:p>
                      <a:pPr marL="0" marR="0" lvl="0" indent="0" algn="l" defTabSz="678180" rtl="0" eaLnBrk="1" fontAlgn="base" latinLnBrk="0" hangingPunct="1">
                        <a:lnSpc>
                          <a:spcPct val="100000"/>
                        </a:lnSpc>
                        <a:spcBef>
                          <a:spcPct val="35000"/>
                        </a:spcBef>
                        <a:spcAft>
                          <a:spcPct val="0"/>
                        </a:spcAft>
                        <a:buClr>
                          <a:srgbClr val="FF0000"/>
                        </a:buClr>
                        <a:buSzPct val="75000"/>
                        <a:buFont typeface="Wingdings" panose="05000000000000000000" pitchFamily="2" charset="2"/>
                        <a:buChar char="u"/>
                      </a:pPr>
                      <a:r>
                        <a:rPr kumimoji="1" lang="zh-CN" altLang="en-US" sz="2400" b="1" i="0" u="none" strike="noStrike" cap="none" normalizeH="0" baseline="0">
                          <a:ln>
                            <a:noFill/>
                          </a:ln>
                          <a:solidFill>
                            <a:srgbClr val="333399"/>
                          </a:solidFill>
                          <a:effectLst/>
                          <a:latin typeface="Arial" panose="020B0604020202020204" pitchFamily="34" charset="0"/>
                          <a:ea typeface="黑体" panose="02010609060101010101" pitchFamily="49" charset="-122"/>
                          <a:sym typeface="Symbol" panose="05050102010706020507" pitchFamily="18" charset="2"/>
                        </a:rPr>
                        <a:t>工作温度范围：</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sym typeface="Symbol" panose="05050102010706020507" pitchFamily="18" charset="2"/>
                        </a:rPr>
                        <a:t>-25</a:t>
                      </a:r>
                      <a:r>
                        <a:rPr kumimoji="1" lang="en-US" altLang="zh-CN" sz="2400" b="1" i="0" u="none" strike="noStrike" cap="none" normalizeH="0" baseline="0">
                          <a:ln>
                            <a:noFill/>
                          </a:ln>
                          <a:solidFill>
                            <a:srgbClr val="FF0000"/>
                          </a:solidFill>
                          <a:effectLst/>
                          <a:latin typeface="Arial" panose="020B0604020202020204" pitchFamily="34" charset="0"/>
                          <a:ea typeface="宋体" panose="02010600030101010101" pitchFamily="2" charset="-122"/>
                        </a:rPr>
                        <a:t>℃~+85℃</a:t>
                      </a:r>
                      <a:r>
                        <a:rPr kumimoji="1" lang="en-US" altLang="zh-CN"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rPr>
                        <a:t> </a:t>
                      </a:r>
                      <a:r>
                        <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rPr>
                        <a:t>。</a:t>
                      </a:r>
                      <a:endParaRPr kumimoji="1" lang="zh-CN" altLang="en-US" sz="2400" b="1" i="0" u="none" strike="noStrike" cap="none" normalizeH="0" baseline="0">
                        <a:ln>
                          <a:noFill/>
                        </a:ln>
                        <a:solidFill>
                          <a:srgbClr val="333399"/>
                        </a:solidFill>
                        <a:effectLst/>
                        <a:latin typeface="Arial" panose="020B0604020202020204" pitchFamily="34" charset="0"/>
                        <a:ea typeface="宋体" panose="02010600030101010101" pitchFamily="2" charset="-122"/>
                        <a:sym typeface="Symbol" panose="05050102010706020507" pitchFamily="18" charset="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30084"/>
                                        </p:tgtEl>
                                        <p:attrNameLst>
                                          <p:attrName>style.visibility</p:attrName>
                                        </p:attrNameLst>
                                      </p:cBhvr>
                                      <p:to>
                                        <p:strVal val="visible"/>
                                      </p:to>
                                    </p:set>
                                    <p:animEffect transition="in" filter="dissolve">
                                      <p:cBhvr>
                                        <p:cTn id="7" dur="500"/>
                                        <p:tgtEl>
                                          <p:spTgt spid="243008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0116"/>
                                        </p:tgtEl>
                                        <p:attrNameLst>
                                          <p:attrName>style.visibility</p:attrName>
                                        </p:attrNameLst>
                                      </p:cBhvr>
                                      <p:to>
                                        <p:strVal val="visible"/>
                                      </p:to>
                                    </p:set>
                                    <p:animEffect transition="in" filter="dissolve">
                                      <p:cBhvr>
                                        <p:cTn id="12" dur="500"/>
                                        <p:tgtEl>
                                          <p:spTgt spid="2430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0084"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9155"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48131"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49157" name="对象 2"/>
          <p:cNvGraphicFramePr>
            <a:graphicFrameLocks noChangeAspect="1"/>
          </p:cNvGraphicFramePr>
          <p:nvPr/>
        </p:nvGraphicFramePr>
        <p:xfrm>
          <a:off x="4392613" y="3608388"/>
          <a:ext cx="4699000" cy="2520950"/>
        </p:xfrm>
        <a:graphic>
          <a:graphicData uri="http://schemas.openxmlformats.org/presentationml/2006/ole">
            <mc:AlternateContent xmlns:mc="http://schemas.openxmlformats.org/markup-compatibility/2006">
              <mc:Choice xmlns:v="urn:schemas-microsoft-com:vml" Requires="v">
                <p:oleObj spid="_x0000_s3085" name="" r:id="rId1" imgW="4671060" imgH="2496185" progId="Visio.Drawing.11">
                  <p:embed/>
                </p:oleObj>
              </mc:Choice>
              <mc:Fallback>
                <p:oleObj name="" r:id="rId1" imgW="4671060" imgH="2496185" progId="Visio.Drawing.11">
                  <p:embed/>
                  <p:pic>
                    <p:nvPicPr>
                      <p:cNvPr id="0" name="图片 3084"/>
                      <p:cNvPicPr/>
                      <p:nvPr/>
                    </p:nvPicPr>
                    <p:blipFill>
                      <a:blip r:embed="rId2"/>
                      <a:stretch>
                        <a:fillRect/>
                      </a:stretch>
                    </p:blipFill>
                    <p:spPr>
                      <a:xfrm>
                        <a:off x="4392613" y="3608388"/>
                        <a:ext cx="4699000" cy="2520950"/>
                      </a:xfrm>
                      <a:prstGeom prst="rect">
                        <a:avLst/>
                      </a:prstGeom>
                      <a:noFill/>
                      <a:ln w="38100">
                        <a:noFill/>
                        <a:miter/>
                      </a:ln>
                    </p:spPr>
                  </p:pic>
                </p:oleObj>
              </mc:Fallback>
            </mc:AlternateContent>
          </a:graphicData>
        </a:graphic>
      </p:graphicFrame>
      <p:sp>
        <p:nvSpPr>
          <p:cNvPr id="49158"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49159" name="矩形 4"/>
          <p:cNvSpPr/>
          <p:nvPr/>
        </p:nvSpPr>
        <p:spPr>
          <a:xfrm>
            <a:off x="503238" y="1916113"/>
            <a:ext cx="3586162" cy="420687"/>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49160" name="矩形 5"/>
          <p:cNvSpPr/>
          <p:nvPr/>
        </p:nvSpPr>
        <p:spPr>
          <a:xfrm>
            <a:off x="503238" y="2311400"/>
            <a:ext cx="8208962" cy="1077913"/>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3" name="矩形 2"/>
          <p:cNvSpPr/>
          <p:nvPr/>
        </p:nvSpPr>
        <p:spPr>
          <a:xfrm>
            <a:off x="287338" y="3543300"/>
            <a:ext cx="644525" cy="420688"/>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4" name="矩形 3"/>
          <p:cNvSpPr/>
          <p:nvPr/>
        </p:nvSpPr>
        <p:spPr>
          <a:xfrm>
            <a:off x="935038" y="3525838"/>
            <a:ext cx="3082925" cy="366712"/>
          </a:xfrm>
          <a:prstGeom prst="rect">
            <a:avLst/>
          </a:prstGeom>
          <a:noFill/>
          <a:ln w="9525">
            <a:noFill/>
          </a:ln>
        </p:spPr>
        <p:txBody>
          <a:bodyPr wrap="none">
            <a:spAutoFit/>
          </a:bodyPr>
          <a:p>
            <a:pPr eaLnBrk="1" hangingPunct="1">
              <a:lnSpc>
                <a:spcPct val="90000"/>
              </a:lnSpc>
            </a:pPr>
            <a:r>
              <a:rPr lang="en-US" altLang="zh-CN" sz="2000" b="1" dirty="0">
                <a:solidFill>
                  <a:srgbClr val="333399"/>
                </a:solidFill>
                <a:latin typeface="Times New Roman" panose="02020603050405020304" pitchFamily="18" charset="0"/>
              </a:rPr>
              <a:t>(1) </a:t>
            </a:r>
            <a:r>
              <a:rPr lang="zh-CN" altLang="zh-CN" sz="2000" b="1" dirty="0">
                <a:solidFill>
                  <a:srgbClr val="333399"/>
                </a:solidFill>
                <a:latin typeface="Times New Roman" panose="02020603050405020304" pitchFamily="18" charset="0"/>
              </a:rPr>
              <a:t>测量放大器的增益为：</a:t>
            </a:r>
            <a:endParaRPr lang="zh-CN" altLang="zh-CN" sz="2000" b="1" dirty="0">
              <a:solidFill>
                <a:srgbClr val="333399"/>
              </a:solidFill>
              <a:latin typeface="Times New Roman" panose="02020603050405020304" pitchFamily="18" charset="0"/>
            </a:endParaRPr>
          </a:p>
        </p:txBody>
      </p:sp>
      <p:sp>
        <p:nvSpPr>
          <p:cNvPr id="48138"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6" name="对象 5"/>
          <p:cNvGraphicFramePr>
            <a:graphicFrameLocks noChangeAspect="1"/>
          </p:cNvGraphicFramePr>
          <p:nvPr/>
        </p:nvGraphicFramePr>
        <p:xfrm>
          <a:off x="603250" y="4025900"/>
          <a:ext cx="3348038" cy="2078038"/>
        </p:xfrm>
        <a:graphic>
          <a:graphicData uri="http://schemas.openxmlformats.org/presentationml/2006/ole">
            <mc:AlternateContent xmlns:mc="http://schemas.openxmlformats.org/markup-compatibility/2006">
              <mc:Choice xmlns:v="urn:schemas-microsoft-com:vml" Requires="v">
                <p:oleObj spid="_x0000_s3084" name="" r:id="rId3" imgW="1879600" imgH="1155700" progId="Equation.3">
                  <p:embed/>
                </p:oleObj>
              </mc:Choice>
              <mc:Fallback>
                <p:oleObj name="" r:id="rId3" imgW="1879600" imgH="1155700" progId="Equation.3">
                  <p:embed/>
                  <p:pic>
                    <p:nvPicPr>
                      <p:cNvPr id="0" name="图片 3083"/>
                      <p:cNvPicPr/>
                      <p:nvPr/>
                    </p:nvPicPr>
                    <p:blipFill>
                      <a:blip r:embed="rId4"/>
                      <a:stretch>
                        <a:fillRect/>
                      </a:stretch>
                    </p:blipFill>
                    <p:spPr>
                      <a:xfrm>
                        <a:off x="603250" y="4025900"/>
                        <a:ext cx="3348038" cy="2078038"/>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155"/>
                                        </p:tgtEl>
                                        <p:attrNameLst>
                                          <p:attrName>style.visibility</p:attrName>
                                        </p:attrNameLst>
                                      </p:cBhvr>
                                      <p:to>
                                        <p:strVal val="visible"/>
                                      </p:to>
                                    </p:set>
                                    <p:animEffect transition="in" filter="fade">
                                      <p:cBhvr>
                                        <p:cTn id="7" dur="500"/>
                                        <p:tgtEl>
                                          <p:spTgt spid="4915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158"/>
                                        </p:tgtEl>
                                        <p:attrNameLst>
                                          <p:attrName>style.visibility</p:attrName>
                                        </p:attrNameLst>
                                      </p:cBhvr>
                                      <p:to>
                                        <p:strVal val="visible"/>
                                      </p:to>
                                    </p:set>
                                    <p:animEffect transition="in" filter="fade">
                                      <p:cBhvr>
                                        <p:cTn id="12" dur="500"/>
                                        <p:tgtEl>
                                          <p:spTgt spid="4915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9157"/>
                                        </p:tgtEl>
                                        <p:attrNameLst>
                                          <p:attrName>style.visibility</p:attrName>
                                        </p:attrNameLst>
                                      </p:cBhvr>
                                      <p:to>
                                        <p:strVal val="visible"/>
                                      </p:to>
                                    </p:set>
                                    <p:animEffect transition="in" filter="fade">
                                      <p:cBhvr>
                                        <p:cTn id="17" dur="500"/>
                                        <p:tgtEl>
                                          <p:spTgt spid="4915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9159"/>
                                        </p:tgtEl>
                                        <p:attrNameLst>
                                          <p:attrName>style.visibility</p:attrName>
                                        </p:attrNameLst>
                                      </p:cBhvr>
                                      <p:to>
                                        <p:strVal val="visible"/>
                                      </p:to>
                                    </p:set>
                                    <p:animEffect transition="in" filter="fade">
                                      <p:cBhvr>
                                        <p:cTn id="22" dur="500"/>
                                        <p:tgtEl>
                                          <p:spTgt spid="4915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9160"/>
                                        </p:tgtEl>
                                        <p:attrNameLst>
                                          <p:attrName>style.visibility</p:attrName>
                                        </p:attrNameLst>
                                      </p:cBhvr>
                                      <p:to>
                                        <p:strVal val="visible"/>
                                      </p:to>
                                    </p:set>
                                    <p:animEffect transition="in" filter="fade">
                                      <p:cBhvr>
                                        <p:cTn id="27" dur="500"/>
                                        <p:tgtEl>
                                          <p:spTgt spid="4916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fade">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5" grpId="0" bldLvl="0" animBg="1"/>
      <p:bldP spid="49158" grpId="0"/>
      <p:bldP spid="49159" grpId="0"/>
      <p:bldP spid="49160" grpId="0"/>
      <p:bldP spid="3" grpId="0"/>
      <p:bldP spid="4"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9154"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49155"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49156"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49157" name="矩形 4"/>
          <p:cNvSpPr/>
          <p:nvPr/>
        </p:nvSpPr>
        <p:spPr>
          <a:xfrm>
            <a:off x="503238" y="1851025"/>
            <a:ext cx="3586162" cy="420688"/>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49158" name="矩形 5"/>
          <p:cNvSpPr/>
          <p:nvPr/>
        </p:nvSpPr>
        <p:spPr>
          <a:xfrm>
            <a:off x="503238" y="2246313"/>
            <a:ext cx="8208962" cy="1077912"/>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49159" name="矩形 2"/>
          <p:cNvSpPr/>
          <p:nvPr/>
        </p:nvSpPr>
        <p:spPr>
          <a:xfrm>
            <a:off x="287338" y="3478213"/>
            <a:ext cx="644525" cy="420687"/>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49160"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2" name="矩形 1"/>
          <p:cNvSpPr/>
          <p:nvPr/>
        </p:nvSpPr>
        <p:spPr>
          <a:xfrm>
            <a:off x="871538" y="3478213"/>
            <a:ext cx="7588250" cy="1077912"/>
          </a:xfrm>
          <a:prstGeom prst="rect">
            <a:avLst/>
          </a:prstGeom>
          <a:noFill/>
          <a:ln w="9525">
            <a:noFill/>
          </a:ln>
        </p:spPr>
        <p:txBody>
          <a:bodyPr>
            <a:spAutoFit/>
          </a:bodyPr>
          <a:p>
            <a:pPr eaLnBrk="1" hangingPunct="1">
              <a:lnSpc>
                <a:spcPct val="90000"/>
              </a:lnSpc>
            </a:pPr>
            <a:r>
              <a:rPr lang="en-US" altLang="zh-CN" sz="2400" b="1" dirty="0">
                <a:solidFill>
                  <a:srgbClr val="333399"/>
                </a:solidFill>
                <a:latin typeface="Times New Roman" panose="02020603050405020304" pitchFamily="18" charset="0"/>
              </a:rPr>
              <a:t>(2) </a:t>
            </a:r>
            <a:r>
              <a:rPr lang="zh-CN" altLang="zh-CN" sz="2400" b="1" dirty="0">
                <a:solidFill>
                  <a:srgbClr val="333399"/>
                </a:solidFill>
                <a:latin typeface="Times New Roman" panose="02020603050405020304" pitchFamily="18" charset="0"/>
              </a:rPr>
              <a:t>放大器的差模电压增益与共模电压增益之比称为共模抑制比。共模抑制比</a:t>
            </a:r>
            <a:r>
              <a:rPr lang="en-US" altLang="zh-CN" sz="2400" b="1" dirty="0">
                <a:solidFill>
                  <a:srgbClr val="333399"/>
                </a:solidFill>
                <a:latin typeface="Times New Roman" panose="02020603050405020304" pitchFamily="18" charset="0"/>
              </a:rPr>
              <a:t>CMRR</a:t>
            </a:r>
            <a:r>
              <a:rPr lang="zh-CN" altLang="zh-CN" sz="2400" b="1" dirty="0">
                <a:solidFill>
                  <a:srgbClr val="333399"/>
                </a:solidFill>
                <a:latin typeface="Times New Roman" panose="02020603050405020304" pitchFamily="18" charset="0"/>
              </a:rPr>
              <a:t>用来衡量一个放大器抑制共模干扰的能力，表示为：</a:t>
            </a:r>
            <a:endParaRPr lang="zh-CN" altLang="zh-CN" sz="2400" b="1" dirty="0">
              <a:solidFill>
                <a:srgbClr val="333399"/>
              </a:solidFill>
              <a:latin typeface="Times New Roman" panose="02020603050405020304" pitchFamily="18" charset="0"/>
            </a:endParaRPr>
          </a:p>
        </p:txBody>
      </p:sp>
      <p:sp>
        <p:nvSpPr>
          <p:cNvPr id="49162"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8" name="对象 7"/>
          <p:cNvGraphicFramePr>
            <a:graphicFrameLocks noChangeAspect="1"/>
          </p:cNvGraphicFramePr>
          <p:nvPr/>
        </p:nvGraphicFramePr>
        <p:xfrm>
          <a:off x="1490663" y="4514850"/>
          <a:ext cx="5811837" cy="900113"/>
        </p:xfrm>
        <a:graphic>
          <a:graphicData uri="http://schemas.openxmlformats.org/presentationml/2006/ole">
            <mc:AlternateContent xmlns:mc="http://schemas.openxmlformats.org/markup-compatibility/2006">
              <mc:Choice xmlns:v="urn:schemas-microsoft-com:vml" Requires="v">
                <p:oleObj spid="_x0000_s3087" name="" r:id="rId1" imgW="2933700" imgH="482600" progId="Equation.3">
                  <p:embed/>
                </p:oleObj>
              </mc:Choice>
              <mc:Fallback>
                <p:oleObj name="" r:id="rId1" imgW="2933700" imgH="482600" progId="Equation.3">
                  <p:embed/>
                  <p:pic>
                    <p:nvPicPr>
                      <p:cNvPr id="0" name="图片 3086"/>
                      <p:cNvPicPr/>
                      <p:nvPr/>
                    </p:nvPicPr>
                    <p:blipFill>
                      <a:blip r:embed="rId2"/>
                      <a:stretch>
                        <a:fillRect/>
                      </a:stretch>
                    </p:blipFill>
                    <p:spPr>
                      <a:xfrm>
                        <a:off x="1490663" y="4514850"/>
                        <a:ext cx="5811837" cy="900113"/>
                      </a:xfrm>
                      <a:prstGeom prst="rect">
                        <a:avLst/>
                      </a:prstGeom>
                      <a:noFill/>
                      <a:ln w="38100">
                        <a:noFill/>
                        <a:miter/>
                      </a:ln>
                    </p:spPr>
                  </p:pic>
                </p:oleObj>
              </mc:Fallback>
            </mc:AlternateContent>
          </a:graphicData>
        </a:graphic>
      </p:graphicFrame>
      <p:sp>
        <p:nvSpPr>
          <p:cNvPr id="9" name="矩形 8"/>
          <p:cNvSpPr/>
          <p:nvPr/>
        </p:nvSpPr>
        <p:spPr>
          <a:xfrm>
            <a:off x="792163" y="5559425"/>
            <a:ext cx="7839075" cy="641350"/>
          </a:xfrm>
          <a:prstGeom prst="rect">
            <a:avLst/>
          </a:prstGeom>
          <a:noFill/>
          <a:ln w="9525">
            <a:noFill/>
          </a:ln>
        </p:spPr>
        <p:txBody>
          <a:bodyPr>
            <a:spAutoFit/>
          </a:bodyPr>
          <a:p>
            <a:pPr eaLnBrk="1" hangingPunct="1">
              <a:lnSpc>
                <a:spcPct val="90000"/>
              </a:lnSpc>
            </a:pPr>
            <a:r>
              <a:rPr lang="zh-CN" altLang="zh-CN" sz="2000" b="1" dirty="0">
                <a:solidFill>
                  <a:srgbClr val="333399"/>
                </a:solidFill>
                <a:latin typeface="Times New Roman" panose="02020603050405020304" pitchFamily="18" charset="0"/>
              </a:rPr>
              <a:t>其中，</a:t>
            </a:r>
            <a:r>
              <a:rPr lang="en-US" altLang="zh-CN" sz="2000" b="1" i="1" dirty="0">
                <a:solidFill>
                  <a:srgbClr val="333399"/>
                </a:solidFill>
                <a:latin typeface="Times New Roman" panose="02020603050405020304" pitchFamily="18" charset="0"/>
              </a:rPr>
              <a:t>U</a:t>
            </a:r>
            <a:r>
              <a:rPr lang="en-US" altLang="zh-CN" sz="2000" b="1" baseline="-25000" dirty="0">
                <a:solidFill>
                  <a:srgbClr val="333399"/>
                </a:solidFill>
                <a:latin typeface="Times New Roman" panose="02020603050405020304" pitchFamily="18" charset="0"/>
              </a:rPr>
              <a:t>cm</a:t>
            </a:r>
            <a:r>
              <a:rPr lang="zh-CN" altLang="zh-CN" sz="2000" b="1" dirty="0">
                <a:solidFill>
                  <a:srgbClr val="333399"/>
                </a:solidFill>
                <a:latin typeface="Times New Roman" panose="02020603050405020304" pitchFamily="18" charset="0"/>
              </a:rPr>
              <a:t>是共模干扰电压，</a:t>
            </a:r>
            <a:r>
              <a:rPr lang="en-US" altLang="zh-CN" sz="2000" b="1" i="1" dirty="0">
                <a:solidFill>
                  <a:srgbClr val="333399"/>
                </a:solidFill>
                <a:latin typeface="Times New Roman" panose="02020603050405020304" pitchFamily="18" charset="0"/>
              </a:rPr>
              <a:t>U</a:t>
            </a:r>
            <a:r>
              <a:rPr lang="en-US" altLang="zh-CN" sz="2000" b="1" baseline="-25000" dirty="0">
                <a:solidFill>
                  <a:srgbClr val="333399"/>
                </a:solidFill>
                <a:latin typeface="Times New Roman" panose="02020603050405020304" pitchFamily="18" charset="0"/>
              </a:rPr>
              <a:t>n</a:t>
            </a:r>
            <a:r>
              <a:rPr lang="zh-CN" altLang="zh-CN" sz="2000" b="1" dirty="0">
                <a:solidFill>
                  <a:srgbClr val="333399"/>
                </a:solidFill>
                <a:latin typeface="Times New Roman" panose="02020603050405020304" pitchFamily="18" charset="0"/>
              </a:rPr>
              <a:t>是由</a:t>
            </a:r>
            <a:r>
              <a:rPr lang="en-US" altLang="zh-CN" sz="2000" b="1" i="1" dirty="0">
                <a:solidFill>
                  <a:srgbClr val="333399"/>
                </a:solidFill>
                <a:latin typeface="Times New Roman" panose="02020603050405020304" pitchFamily="18" charset="0"/>
              </a:rPr>
              <a:t>U</a:t>
            </a:r>
            <a:r>
              <a:rPr lang="en-US" altLang="zh-CN" sz="2000" b="1" baseline="-25000" dirty="0">
                <a:solidFill>
                  <a:srgbClr val="333399"/>
                </a:solidFill>
                <a:latin typeface="Times New Roman" panose="02020603050405020304" pitchFamily="18" charset="0"/>
              </a:rPr>
              <a:t>cm</a:t>
            </a:r>
            <a:r>
              <a:rPr lang="zh-CN" altLang="zh-CN" sz="2000" b="1" dirty="0">
                <a:solidFill>
                  <a:srgbClr val="333399"/>
                </a:solidFill>
                <a:latin typeface="Times New Roman" panose="02020603050405020304" pitchFamily="18" charset="0"/>
              </a:rPr>
              <a:t>转化成的差模干扰电压。</a:t>
            </a:r>
            <a:r>
              <a:rPr lang="en-US" altLang="zh-CN" sz="2000" b="1" i="1" dirty="0">
                <a:solidFill>
                  <a:srgbClr val="333399"/>
                </a:solidFill>
                <a:latin typeface="Times New Roman" panose="02020603050405020304" pitchFamily="18" charset="0"/>
              </a:rPr>
              <a:t>U</a:t>
            </a:r>
            <a:r>
              <a:rPr lang="en-US" altLang="zh-CN" sz="2000" b="1" baseline="-25000" dirty="0">
                <a:solidFill>
                  <a:srgbClr val="333399"/>
                </a:solidFill>
                <a:latin typeface="Times New Roman" panose="02020603050405020304" pitchFamily="18" charset="0"/>
              </a:rPr>
              <a:t>O</a:t>
            </a:r>
            <a:r>
              <a:rPr lang="zh-CN" altLang="zh-CN" sz="2000" b="1" dirty="0">
                <a:solidFill>
                  <a:srgbClr val="333399"/>
                </a:solidFill>
                <a:latin typeface="Times New Roman" panose="02020603050405020304" pitchFamily="18" charset="0"/>
              </a:rPr>
              <a:t>是输出电压，</a:t>
            </a:r>
            <a:r>
              <a:rPr lang="en-US" altLang="zh-CN" sz="2000" b="1" i="1" dirty="0">
                <a:solidFill>
                  <a:srgbClr val="333399"/>
                </a:solidFill>
                <a:latin typeface="Times New Roman" panose="02020603050405020304" pitchFamily="18" charset="0"/>
              </a:rPr>
              <a:t>A</a:t>
            </a:r>
            <a:r>
              <a:rPr lang="en-US" altLang="zh-CN" sz="2000" b="1" baseline="-25000" dirty="0">
                <a:solidFill>
                  <a:srgbClr val="333399"/>
                </a:solidFill>
                <a:latin typeface="Times New Roman" panose="02020603050405020304" pitchFamily="18" charset="0"/>
              </a:rPr>
              <a:t>ud</a:t>
            </a:r>
            <a:r>
              <a:rPr lang="zh-CN" altLang="zh-CN" sz="2000" b="1" dirty="0">
                <a:solidFill>
                  <a:srgbClr val="333399"/>
                </a:solidFill>
                <a:latin typeface="Times New Roman" panose="02020603050405020304" pitchFamily="18" charset="0"/>
              </a:rPr>
              <a:t>是差模信号放大倍率，</a:t>
            </a:r>
            <a:r>
              <a:rPr lang="en-US" altLang="zh-CN" sz="2000" b="1" i="1" dirty="0">
                <a:solidFill>
                  <a:srgbClr val="333399"/>
                </a:solidFill>
                <a:latin typeface="Times New Roman" panose="02020603050405020304" pitchFamily="18" charset="0"/>
              </a:rPr>
              <a:t>A</a:t>
            </a:r>
            <a:r>
              <a:rPr lang="en-US" altLang="zh-CN" sz="2000" b="1" baseline="-25000" dirty="0">
                <a:solidFill>
                  <a:srgbClr val="333399"/>
                </a:solidFill>
                <a:latin typeface="Times New Roman" panose="02020603050405020304" pitchFamily="18" charset="0"/>
              </a:rPr>
              <a:t>uc</a:t>
            </a:r>
            <a:r>
              <a:rPr lang="zh-CN" altLang="zh-CN" sz="2000" b="1" dirty="0">
                <a:solidFill>
                  <a:srgbClr val="333399"/>
                </a:solidFill>
                <a:latin typeface="Times New Roman" panose="02020603050405020304" pitchFamily="18" charset="0"/>
              </a:rPr>
              <a:t>是共模信号放大倍率。</a:t>
            </a:r>
            <a:endParaRPr lang="zh-CN" altLang="zh-CN" sz="2000" b="1" dirty="0">
              <a:solidFill>
                <a:srgbClr val="333399"/>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0178"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50179"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0180"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50181" name="矩形 4"/>
          <p:cNvSpPr/>
          <p:nvPr/>
        </p:nvSpPr>
        <p:spPr>
          <a:xfrm>
            <a:off x="503238" y="1916113"/>
            <a:ext cx="3586162" cy="420687"/>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50182" name="矩形 5"/>
          <p:cNvSpPr/>
          <p:nvPr/>
        </p:nvSpPr>
        <p:spPr>
          <a:xfrm>
            <a:off x="503238" y="2311400"/>
            <a:ext cx="8208962" cy="1077913"/>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50183" name="矩形 2"/>
          <p:cNvSpPr/>
          <p:nvPr/>
        </p:nvSpPr>
        <p:spPr>
          <a:xfrm>
            <a:off x="287338" y="3543300"/>
            <a:ext cx="644525" cy="420688"/>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50184"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0185"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50186" name="对象 3"/>
          <p:cNvGraphicFramePr>
            <a:graphicFrameLocks noChangeAspect="1"/>
          </p:cNvGraphicFramePr>
          <p:nvPr/>
        </p:nvGraphicFramePr>
        <p:xfrm>
          <a:off x="4392613" y="3608388"/>
          <a:ext cx="4699000" cy="2520950"/>
        </p:xfrm>
        <a:graphic>
          <a:graphicData uri="http://schemas.openxmlformats.org/presentationml/2006/ole">
            <mc:AlternateContent xmlns:mc="http://schemas.openxmlformats.org/markup-compatibility/2006">
              <mc:Choice xmlns:v="urn:schemas-microsoft-com:vml" Requires="v">
                <p:oleObj spid="_x0000_s3086" name="" r:id="rId1" imgW="4671060" imgH="2496185" progId="Visio.Drawing.11">
                  <p:embed/>
                </p:oleObj>
              </mc:Choice>
              <mc:Fallback>
                <p:oleObj name="" r:id="rId1" imgW="4671060" imgH="2496185" progId="Visio.Drawing.11">
                  <p:embed/>
                  <p:pic>
                    <p:nvPicPr>
                      <p:cNvPr id="0" name="图片 3085"/>
                      <p:cNvPicPr/>
                      <p:nvPr/>
                    </p:nvPicPr>
                    <p:blipFill>
                      <a:blip r:embed="rId2"/>
                      <a:stretch>
                        <a:fillRect/>
                      </a:stretch>
                    </p:blipFill>
                    <p:spPr>
                      <a:xfrm>
                        <a:off x="4392613" y="3608388"/>
                        <a:ext cx="4699000" cy="2520950"/>
                      </a:xfrm>
                      <a:prstGeom prst="rect">
                        <a:avLst/>
                      </a:prstGeom>
                      <a:noFill/>
                      <a:ln w="38100">
                        <a:noFill/>
                        <a:miter/>
                      </a:ln>
                    </p:spPr>
                  </p:pic>
                </p:oleObj>
              </mc:Fallback>
            </mc:AlternateContent>
          </a:graphicData>
        </a:graphic>
      </p:graphicFrame>
      <p:sp>
        <p:nvSpPr>
          <p:cNvPr id="6" name="矩形 5"/>
          <p:cNvSpPr/>
          <p:nvPr/>
        </p:nvSpPr>
        <p:spPr>
          <a:xfrm>
            <a:off x="887413" y="3536950"/>
            <a:ext cx="3505200" cy="641350"/>
          </a:xfrm>
          <a:prstGeom prst="rect">
            <a:avLst/>
          </a:prstGeom>
          <a:noFill/>
          <a:ln w="9525">
            <a:noFill/>
          </a:ln>
        </p:spPr>
        <p:txBody>
          <a:bodyPr>
            <a:spAutoFit/>
          </a:bodyPr>
          <a:p>
            <a:pPr eaLnBrk="1" hangingPunct="1">
              <a:lnSpc>
                <a:spcPct val="90000"/>
              </a:lnSpc>
            </a:pPr>
            <a:r>
              <a:rPr lang="zh-CN" altLang="zh-CN" sz="2000" b="1" dirty="0">
                <a:solidFill>
                  <a:srgbClr val="333399"/>
                </a:solidFill>
                <a:latin typeface="Times New Roman" panose="02020603050405020304" pitchFamily="18" charset="0"/>
              </a:rPr>
              <a:t>对于该测量放大器，已经求得</a:t>
            </a:r>
            <a:r>
              <a:rPr lang="en-US" altLang="zh-CN" sz="2000" b="1" i="1" dirty="0">
                <a:solidFill>
                  <a:srgbClr val="333399"/>
                </a:solidFill>
                <a:latin typeface="Times New Roman" panose="02020603050405020304" pitchFamily="18" charset="0"/>
              </a:rPr>
              <a:t>A</a:t>
            </a:r>
            <a:r>
              <a:rPr lang="en-US" altLang="zh-CN" sz="2000" b="1" baseline="-25000" dirty="0">
                <a:solidFill>
                  <a:srgbClr val="333399"/>
                </a:solidFill>
                <a:latin typeface="Times New Roman" panose="02020603050405020304" pitchFamily="18" charset="0"/>
              </a:rPr>
              <a:t>ud</a:t>
            </a:r>
            <a:r>
              <a:rPr lang="en-US" altLang="zh-CN" sz="2000" b="1" dirty="0">
                <a:solidFill>
                  <a:srgbClr val="333399"/>
                </a:solidFill>
                <a:latin typeface="Times New Roman" panose="02020603050405020304" pitchFamily="18" charset="0"/>
              </a:rPr>
              <a:t>=</a:t>
            </a:r>
            <a:r>
              <a:rPr lang="en-US" altLang="zh-CN" sz="2000" b="1" i="1" dirty="0">
                <a:solidFill>
                  <a:srgbClr val="333399"/>
                </a:solidFill>
                <a:latin typeface="Times New Roman" panose="02020603050405020304" pitchFamily="18" charset="0"/>
              </a:rPr>
              <a:t>K</a:t>
            </a:r>
            <a:r>
              <a:rPr lang="en-US" altLang="zh-CN" sz="2000" b="1" dirty="0">
                <a:solidFill>
                  <a:srgbClr val="333399"/>
                </a:solidFill>
                <a:latin typeface="Times New Roman" panose="02020603050405020304" pitchFamily="18" charset="0"/>
              </a:rPr>
              <a:t>=-2.2</a:t>
            </a:r>
            <a:r>
              <a:rPr lang="zh-CN" altLang="zh-CN" sz="2000" b="1" dirty="0">
                <a:solidFill>
                  <a:srgbClr val="333399"/>
                </a:solidFill>
                <a:latin typeface="Times New Roman" panose="02020603050405020304" pitchFamily="18" charset="0"/>
              </a:rPr>
              <a:t>。下面求</a:t>
            </a:r>
            <a:r>
              <a:rPr lang="en-US" altLang="zh-CN" sz="2000" b="1" i="1" dirty="0">
                <a:solidFill>
                  <a:srgbClr val="333399"/>
                </a:solidFill>
                <a:latin typeface="Times New Roman" panose="02020603050405020304" pitchFamily="18" charset="0"/>
              </a:rPr>
              <a:t>A</a:t>
            </a:r>
            <a:r>
              <a:rPr lang="en-US" altLang="zh-CN" sz="2000" b="1" baseline="-25000" dirty="0">
                <a:solidFill>
                  <a:srgbClr val="333399"/>
                </a:solidFill>
                <a:latin typeface="Times New Roman" panose="02020603050405020304" pitchFamily="18" charset="0"/>
              </a:rPr>
              <a:t>uc</a:t>
            </a:r>
            <a:r>
              <a:rPr lang="zh-CN" altLang="zh-CN" sz="2000" b="1" dirty="0">
                <a:solidFill>
                  <a:srgbClr val="333399"/>
                </a:solidFill>
                <a:latin typeface="Times New Roman" panose="02020603050405020304" pitchFamily="18" charset="0"/>
              </a:rPr>
              <a:t>：</a:t>
            </a:r>
            <a:endParaRPr lang="zh-CN" altLang="zh-CN" sz="2000" b="1" dirty="0">
              <a:solidFill>
                <a:srgbClr val="333399"/>
              </a:solidFill>
              <a:latin typeface="Times New Roman" panose="02020603050405020304" pitchFamily="18" charset="0"/>
            </a:endParaRPr>
          </a:p>
        </p:txBody>
      </p:sp>
      <p:sp>
        <p:nvSpPr>
          <p:cNvPr id="50188" name="Rectangle 4"/>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0189" name="Rectangle 6"/>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13" name="对象 12"/>
          <p:cNvGraphicFramePr>
            <a:graphicFrameLocks noChangeAspect="1"/>
          </p:cNvGraphicFramePr>
          <p:nvPr/>
        </p:nvGraphicFramePr>
        <p:xfrm>
          <a:off x="1212850" y="4838700"/>
          <a:ext cx="2206625" cy="508000"/>
        </p:xfrm>
        <a:graphic>
          <a:graphicData uri="http://schemas.openxmlformats.org/presentationml/2006/ole">
            <mc:AlternateContent xmlns:mc="http://schemas.openxmlformats.org/markup-compatibility/2006">
              <mc:Choice xmlns:v="urn:schemas-microsoft-com:vml" Requires="v">
                <p:oleObj spid="_x0000_s3088" name="" r:id="rId3" imgW="990600" imgH="228600" progId="Equation.3">
                  <p:embed/>
                </p:oleObj>
              </mc:Choice>
              <mc:Fallback>
                <p:oleObj name="" r:id="rId3" imgW="990600" imgH="228600" progId="Equation.3">
                  <p:embed/>
                  <p:pic>
                    <p:nvPicPr>
                      <p:cNvPr id="0" name="图片 3087"/>
                      <p:cNvPicPr/>
                      <p:nvPr/>
                    </p:nvPicPr>
                    <p:blipFill>
                      <a:blip r:embed="rId4"/>
                      <a:stretch>
                        <a:fillRect/>
                      </a:stretch>
                    </p:blipFill>
                    <p:spPr>
                      <a:xfrm>
                        <a:off x="1212850" y="4838700"/>
                        <a:ext cx="2206625" cy="508000"/>
                      </a:xfrm>
                      <a:prstGeom prst="rect">
                        <a:avLst/>
                      </a:prstGeom>
                      <a:noFill/>
                      <a:ln w="38100">
                        <a:noFill/>
                        <a:miter/>
                      </a:ln>
                    </p:spPr>
                  </p:pic>
                </p:oleObj>
              </mc:Fallback>
            </mc:AlternateContent>
          </a:graphicData>
        </a:graphic>
      </p:graphicFrame>
      <p:sp>
        <p:nvSpPr>
          <p:cNvPr id="50191" name="Rectangle 8"/>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15" name="对象 14"/>
          <p:cNvGraphicFramePr>
            <a:graphicFrameLocks noChangeAspect="1"/>
          </p:cNvGraphicFramePr>
          <p:nvPr/>
        </p:nvGraphicFramePr>
        <p:xfrm>
          <a:off x="1212850" y="4292600"/>
          <a:ext cx="2171700" cy="520700"/>
        </p:xfrm>
        <a:graphic>
          <a:graphicData uri="http://schemas.openxmlformats.org/presentationml/2006/ole">
            <mc:AlternateContent xmlns:mc="http://schemas.openxmlformats.org/markup-compatibility/2006">
              <mc:Choice xmlns:v="urn:schemas-microsoft-com:vml" Requires="v">
                <p:oleObj spid="_x0000_s3089" name="" r:id="rId5" imgW="951865" imgH="228600" progId="Equation.3">
                  <p:embed/>
                </p:oleObj>
              </mc:Choice>
              <mc:Fallback>
                <p:oleObj name="" r:id="rId5" imgW="951865" imgH="228600" progId="Equation.3">
                  <p:embed/>
                  <p:pic>
                    <p:nvPicPr>
                      <p:cNvPr id="0" name="图片 3088"/>
                      <p:cNvPicPr/>
                      <p:nvPr/>
                    </p:nvPicPr>
                    <p:blipFill>
                      <a:blip r:embed="rId6"/>
                      <a:stretch>
                        <a:fillRect/>
                      </a:stretch>
                    </p:blipFill>
                    <p:spPr>
                      <a:xfrm>
                        <a:off x="1212850" y="4292600"/>
                        <a:ext cx="2171700" cy="520700"/>
                      </a:xfrm>
                      <a:prstGeom prst="rect">
                        <a:avLst/>
                      </a:prstGeom>
                      <a:noFill/>
                      <a:ln w="38100">
                        <a:noFill/>
                        <a:miter/>
                      </a:ln>
                    </p:spPr>
                  </p:pic>
                </p:oleObj>
              </mc:Fallback>
            </mc:AlternateContent>
          </a:graphicData>
        </a:graphic>
      </p:graphicFrame>
      <p:sp>
        <p:nvSpPr>
          <p:cNvPr id="16" name="Rectangle 10"/>
          <p:cNvSpPr/>
          <p:nvPr/>
        </p:nvSpPr>
        <p:spPr>
          <a:xfrm>
            <a:off x="287338" y="5264150"/>
            <a:ext cx="817562" cy="366713"/>
          </a:xfrm>
          <a:prstGeom prst="rect">
            <a:avLst/>
          </a:prstGeom>
          <a:noFill/>
          <a:ln w="9525">
            <a:noFill/>
          </a:ln>
        </p:spPr>
        <p:txBody>
          <a:bodyPr>
            <a:spAutoFit/>
          </a:bodyPr>
          <a:p>
            <a:pPr eaLnBrk="1" hangingPunct="1">
              <a:lnSpc>
                <a:spcPct val="90000"/>
              </a:lnSpc>
            </a:pPr>
            <a:r>
              <a:rPr lang="zh-CN" altLang="en-US" sz="2000" b="1" dirty="0">
                <a:solidFill>
                  <a:srgbClr val="333399"/>
                </a:solidFill>
                <a:latin typeface="Times New Roman" panose="02020603050405020304" pitchFamily="18" charset="0"/>
              </a:rPr>
              <a:t>所以： </a:t>
            </a:r>
            <a:endParaRPr lang="zh-CN" altLang="en-US" sz="2000" b="1" dirty="0">
              <a:solidFill>
                <a:srgbClr val="333399"/>
              </a:solidFill>
              <a:latin typeface="Times New Roman" panose="02020603050405020304" pitchFamily="18" charset="0"/>
            </a:endParaRPr>
          </a:p>
        </p:txBody>
      </p:sp>
      <p:graphicFrame>
        <p:nvGraphicFramePr>
          <p:cNvPr id="17" name="对象 16"/>
          <p:cNvGraphicFramePr>
            <a:graphicFrameLocks noChangeAspect="1"/>
          </p:cNvGraphicFramePr>
          <p:nvPr/>
        </p:nvGraphicFramePr>
        <p:xfrm>
          <a:off x="433388" y="5695950"/>
          <a:ext cx="3754437" cy="423863"/>
        </p:xfrm>
        <a:graphic>
          <a:graphicData uri="http://schemas.openxmlformats.org/presentationml/2006/ole">
            <mc:AlternateContent xmlns:mc="http://schemas.openxmlformats.org/markup-compatibility/2006">
              <mc:Choice xmlns:v="urn:schemas-microsoft-com:vml" Requires="v">
                <p:oleObj spid="_x0000_s3090" name="" r:id="rId7" imgW="2019300" imgH="228600" progId="Equation.3">
                  <p:embed/>
                </p:oleObj>
              </mc:Choice>
              <mc:Fallback>
                <p:oleObj name="" r:id="rId7" imgW="2019300" imgH="228600" progId="Equation.3">
                  <p:embed/>
                  <p:pic>
                    <p:nvPicPr>
                      <p:cNvPr id="0" name="图片 3089"/>
                      <p:cNvPicPr/>
                      <p:nvPr/>
                    </p:nvPicPr>
                    <p:blipFill>
                      <a:blip r:embed="rId8"/>
                      <a:stretch>
                        <a:fillRect/>
                      </a:stretch>
                    </p:blipFill>
                    <p:spPr>
                      <a:xfrm>
                        <a:off x="433388" y="5695950"/>
                        <a:ext cx="3754437" cy="423863"/>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par>
                                <p:cTn id="23" presetID="10" presetClass="entr" presetSubtype="0" fill="hold"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6"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1202"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51203"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1204"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51205" name="矩形 4"/>
          <p:cNvSpPr/>
          <p:nvPr/>
        </p:nvSpPr>
        <p:spPr>
          <a:xfrm>
            <a:off x="503238" y="1916113"/>
            <a:ext cx="3586162" cy="420687"/>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51206" name="矩形 5"/>
          <p:cNvSpPr/>
          <p:nvPr/>
        </p:nvSpPr>
        <p:spPr>
          <a:xfrm>
            <a:off x="503238" y="2311400"/>
            <a:ext cx="8208962" cy="1077913"/>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51207" name="矩形 2"/>
          <p:cNvSpPr/>
          <p:nvPr/>
        </p:nvSpPr>
        <p:spPr>
          <a:xfrm>
            <a:off x="287338" y="3543300"/>
            <a:ext cx="644525" cy="420688"/>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51208"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1209"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51210" name="对象 3"/>
          <p:cNvGraphicFramePr>
            <a:graphicFrameLocks noChangeAspect="1"/>
          </p:cNvGraphicFramePr>
          <p:nvPr/>
        </p:nvGraphicFramePr>
        <p:xfrm>
          <a:off x="4392613" y="3608388"/>
          <a:ext cx="4699000" cy="2520950"/>
        </p:xfrm>
        <a:graphic>
          <a:graphicData uri="http://schemas.openxmlformats.org/presentationml/2006/ole">
            <mc:AlternateContent xmlns:mc="http://schemas.openxmlformats.org/markup-compatibility/2006">
              <mc:Choice xmlns:v="urn:schemas-microsoft-com:vml" Requires="v">
                <p:oleObj spid="_x0000_s3096" name="" r:id="rId1" imgW="4671060" imgH="2496185" progId="Visio.Drawing.11">
                  <p:embed/>
                </p:oleObj>
              </mc:Choice>
              <mc:Fallback>
                <p:oleObj name="" r:id="rId1" imgW="4671060" imgH="2496185" progId="Visio.Drawing.11">
                  <p:embed/>
                  <p:pic>
                    <p:nvPicPr>
                      <p:cNvPr id="0" name="图片 3095"/>
                      <p:cNvPicPr/>
                      <p:nvPr/>
                    </p:nvPicPr>
                    <p:blipFill>
                      <a:blip r:embed="rId2"/>
                      <a:stretch>
                        <a:fillRect/>
                      </a:stretch>
                    </p:blipFill>
                    <p:spPr>
                      <a:xfrm>
                        <a:off x="4392613" y="3608388"/>
                        <a:ext cx="4699000" cy="2520950"/>
                      </a:xfrm>
                      <a:prstGeom prst="rect">
                        <a:avLst/>
                      </a:prstGeom>
                      <a:noFill/>
                      <a:ln w="38100">
                        <a:noFill/>
                        <a:miter/>
                      </a:ln>
                    </p:spPr>
                  </p:pic>
                </p:oleObj>
              </mc:Fallback>
            </mc:AlternateContent>
          </a:graphicData>
        </a:graphic>
      </p:graphicFrame>
      <p:sp>
        <p:nvSpPr>
          <p:cNvPr id="51211" name="Rectangle 4"/>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1212" name="Rectangle 6"/>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2" name="对象 1"/>
          <p:cNvGraphicFramePr>
            <a:graphicFrameLocks noChangeAspect="1"/>
          </p:cNvGraphicFramePr>
          <p:nvPr/>
        </p:nvGraphicFramePr>
        <p:xfrm>
          <a:off x="1331913" y="4003675"/>
          <a:ext cx="1638300" cy="468313"/>
        </p:xfrm>
        <a:graphic>
          <a:graphicData uri="http://schemas.openxmlformats.org/presentationml/2006/ole">
            <mc:AlternateContent xmlns:mc="http://schemas.openxmlformats.org/markup-compatibility/2006">
              <mc:Choice xmlns:v="urn:schemas-microsoft-com:vml" Requires="v">
                <p:oleObj spid="_x0000_s3092" name="" r:id="rId3" imgW="800100" imgH="228600" progId="Equation.3">
                  <p:embed/>
                </p:oleObj>
              </mc:Choice>
              <mc:Fallback>
                <p:oleObj name="" r:id="rId3" imgW="800100" imgH="228600" progId="Equation.3">
                  <p:embed/>
                  <p:pic>
                    <p:nvPicPr>
                      <p:cNvPr id="0" name="图片 3091"/>
                      <p:cNvPicPr/>
                      <p:nvPr/>
                    </p:nvPicPr>
                    <p:blipFill>
                      <a:blip r:embed="rId4"/>
                      <a:stretch>
                        <a:fillRect/>
                      </a:stretch>
                    </p:blipFill>
                    <p:spPr>
                      <a:xfrm>
                        <a:off x="1331913" y="4003675"/>
                        <a:ext cx="1638300" cy="468313"/>
                      </a:xfrm>
                      <a:prstGeom prst="rect">
                        <a:avLst/>
                      </a:prstGeom>
                      <a:noFill/>
                      <a:ln w="38100">
                        <a:noFill/>
                        <a:miter/>
                      </a:ln>
                    </p:spPr>
                  </p:pic>
                </p:oleObj>
              </mc:Fallback>
            </mc:AlternateContent>
          </a:graphicData>
        </a:graphic>
      </p:graphicFrame>
      <p:graphicFrame>
        <p:nvGraphicFramePr>
          <p:cNvPr id="8" name="对象 7"/>
          <p:cNvGraphicFramePr>
            <a:graphicFrameLocks noChangeAspect="1"/>
          </p:cNvGraphicFramePr>
          <p:nvPr/>
        </p:nvGraphicFramePr>
        <p:xfrm>
          <a:off x="1344613" y="4471988"/>
          <a:ext cx="2163762" cy="828675"/>
        </p:xfrm>
        <a:graphic>
          <a:graphicData uri="http://schemas.openxmlformats.org/presentationml/2006/ole">
            <mc:AlternateContent xmlns:mc="http://schemas.openxmlformats.org/markup-compatibility/2006">
              <mc:Choice xmlns:v="urn:schemas-microsoft-com:vml" Requires="v">
                <p:oleObj spid="_x0000_s3091" name="" r:id="rId5" imgW="1117600" imgH="431800" progId="Equation.3">
                  <p:embed/>
                </p:oleObj>
              </mc:Choice>
              <mc:Fallback>
                <p:oleObj name="" r:id="rId5" imgW="1117600" imgH="431800" progId="Equation.3">
                  <p:embed/>
                  <p:pic>
                    <p:nvPicPr>
                      <p:cNvPr id="0" name="图片 3090"/>
                      <p:cNvPicPr/>
                      <p:nvPr/>
                    </p:nvPicPr>
                    <p:blipFill>
                      <a:blip r:embed="rId6"/>
                      <a:stretch>
                        <a:fillRect/>
                      </a:stretch>
                    </p:blipFill>
                    <p:spPr>
                      <a:xfrm>
                        <a:off x="1344613" y="4471988"/>
                        <a:ext cx="2163762" cy="828675"/>
                      </a:xfrm>
                      <a:prstGeom prst="rect">
                        <a:avLst/>
                      </a:prstGeom>
                      <a:noFill/>
                      <a:ln w="38100">
                        <a:noFill/>
                        <a:miter/>
                      </a:ln>
                    </p:spPr>
                  </p:pic>
                </p:oleObj>
              </mc:Fallback>
            </mc:AlternateContent>
          </a:graphicData>
        </a:graphic>
      </p:graphicFrame>
      <p:sp>
        <p:nvSpPr>
          <p:cNvPr id="9" name="Rectangle 3"/>
          <p:cNvSpPr/>
          <p:nvPr/>
        </p:nvSpPr>
        <p:spPr>
          <a:xfrm>
            <a:off x="1079500" y="3571875"/>
            <a:ext cx="2635250" cy="366713"/>
          </a:xfrm>
          <a:prstGeom prst="rect">
            <a:avLst/>
          </a:prstGeom>
          <a:noFill/>
          <a:ln w="9525">
            <a:noFill/>
          </a:ln>
        </p:spPr>
        <p:txBody>
          <a:bodyPr>
            <a:spAutoFit/>
          </a:bodyPr>
          <a:p>
            <a:pPr eaLnBrk="1" hangingPunct="1">
              <a:lnSpc>
                <a:spcPct val="90000"/>
              </a:lnSpc>
            </a:pPr>
            <a:r>
              <a:rPr lang="zh-CN" altLang="en-US" sz="2000" b="1" dirty="0">
                <a:solidFill>
                  <a:srgbClr val="333399"/>
                </a:solidFill>
                <a:latin typeface="Times New Roman" panose="02020603050405020304" pitchFamily="18" charset="0"/>
              </a:rPr>
              <a:t>对于共模干扰电压，</a:t>
            </a:r>
            <a:endParaRPr lang="zh-CN" altLang="en-US" sz="2000" b="1" dirty="0">
              <a:solidFill>
                <a:srgbClr val="333399"/>
              </a:solidFill>
              <a:latin typeface="Times New Roman" panose="02020603050405020304" pitchFamily="18" charset="0"/>
            </a:endParaRPr>
          </a:p>
        </p:txBody>
      </p:sp>
      <p:sp>
        <p:nvSpPr>
          <p:cNvPr id="51216" name="Rectangle 5"/>
          <p:cNvSpPr/>
          <p:nvPr/>
        </p:nvSpPr>
        <p:spPr>
          <a:xfrm>
            <a:off x="0" y="1114425"/>
            <a:ext cx="9144000" cy="0"/>
          </a:xfrm>
          <a:prstGeom prst="rect">
            <a:avLst/>
          </a:prstGeom>
          <a:noFill/>
          <a:ln w="9525">
            <a:noFill/>
          </a:ln>
        </p:spPr>
        <p:txBody>
          <a:bodyPr wrap="none" anchor="ctr" anchorCtr="0">
            <a:spAutoFit/>
          </a:bodyPr>
          <a:p>
            <a:pPr>
              <a:lnSpc>
                <a:spcPct val="90000"/>
              </a:lnSpc>
            </a:pPr>
            <a:r>
              <a:rPr lang="zh-CN" altLang="zh-CN" sz="800" b="1" dirty="0">
                <a:solidFill>
                  <a:srgbClr val="333399"/>
                </a:solidFill>
                <a:latin typeface="Times New Roman" panose="02020603050405020304" pitchFamily="18" charset="0"/>
              </a:rPr>
              <a:t> </a:t>
            </a:r>
            <a:endParaRPr lang="zh-CN" altLang="zh-CN" sz="800" b="1" dirty="0">
              <a:solidFill>
                <a:srgbClr val="333399"/>
              </a:solidFill>
              <a:latin typeface="Times New Roman" panose="02020603050405020304" pitchFamily="18" charset="0"/>
            </a:endParaRPr>
          </a:p>
        </p:txBody>
      </p:sp>
      <p:sp>
        <p:nvSpPr>
          <p:cNvPr id="19" name="Rectangle 7"/>
          <p:cNvSpPr/>
          <p:nvPr/>
        </p:nvSpPr>
        <p:spPr>
          <a:xfrm>
            <a:off x="287338" y="5187950"/>
            <a:ext cx="884237" cy="368300"/>
          </a:xfrm>
          <a:prstGeom prst="rect">
            <a:avLst/>
          </a:prstGeom>
          <a:noFill/>
          <a:ln w="9525">
            <a:noFill/>
          </a:ln>
        </p:spPr>
        <p:txBody>
          <a:bodyPr>
            <a:spAutoFit/>
          </a:bodyPr>
          <a:p>
            <a:pPr eaLnBrk="1" hangingPunct="1">
              <a:lnSpc>
                <a:spcPct val="90000"/>
              </a:lnSpc>
            </a:pPr>
            <a:r>
              <a:rPr lang="zh-CN" altLang="en-US" sz="2000" b="1" dirty="0">
                <a:solidFill>
                  <a:srgbClr val="333399"/>
                </a:solidFill>
                <a:latin typeface="Times New Roman" panose="02020603050405020304" pitchFamily="18" charset="0"/>
              </a:rPr>
              <a:t>所以： </a:t>
            </a:r>
            <a:endParaRPr lang="zh-CN" altLang="en-US" sz="2000" b="1" dirty="0">
              <a:solidFill>
                <a:srgbClr val="333399"/>
              </a:solidFill>
              <a:latin typeface="Times New Roman" panose="02020603050405020304" pitchFamily="18" charset="0"/>
            </a:endParaRPr>
          </a:p>
        </p:txBody>
      </p:sp>
      <p:graphicFrame>
        <p:nvGraphicFramePr>
          <p:cNvPr id="20" name="对象 19"/>
          <p:cNvGraphicFramePr>
            <a:graphicFrameLocks noChangeAspect="1"/>
          </p:cNvGraphicFramePr>
          <p:nvPr/>
        </p:nvGraphicFramePr>
        <p:xfrm>
          <a:off x="1011238" y="5588000"/>
          <a:ext cx="2879725" cy="539750"/>
        </p:xfrm>
        <a:graphic>
          <a:graphicData uri="http://schemas.openxmlformats.org/presentationml/2006/ole">
            <mc:AlternateContent xmlns:mc="http://schemas.openxmlformats.org/markup-compatibility/2006">
              <mc:Choice xmlns:v="urn:schemas-microsoft-com:vml" Requires="v">
                <p:oleObj spid="_x0000_s3095" name="" r:id="rId7" imgW="1219200" imgH="228600" progId="Equation.3">
                  <p:embed/>
                </p:oleObj>
              </mc:Choice>
              <mc:Fallback>
                <p:oleObj name="" r:id="rId7" imgW="1219200" imgH="228600" progId="Equation.3">
                  <p:embed/>
                  <p:pic>
                    <p:nvPicPr>
                      <p:cNvPr id="0" name="图片 3094"/>
                      <p:cNvPicPr/>
                      <p:nvPr/>
                    </p:nvPicPr>
                    <p:blipFill>
                      <a:blip r:embed="rId8"/>
                      <a:stretch>
                        <a:fillRect/>
                      </a:stretch>
                    </p:blipFill>
                    <p:spPr>
                      <a:xfrm>
                        <a:off x="1011238" y="5588000"/>
                        <a:ext cx="2879725" cy="539750"/>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2226"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52227"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2228"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52229" name="矩形 4"/>
          <p:cNvSpPr/>
          <p:nvPr/>
        </p:nvSpPr>
        <p:spPr>
          <a:xfrm>
            <a:off x="503238" y="1908175"/>
            <a:ext cx="3586162" cy="420688"/>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52230" name="矩形 5"/>
          <p:cNvSpPr/>
          <p:nvPr/>
        </p:nvSpPr>
        <p:spPr>
          <a:xfrm>
            <a:off x="503238" y="2303463"/>
            <a:ext cx="8208962" cy="1077912"/>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52231" name="矩形 2"/>
          <p:cNvSpPr/>
          <p:nvPr/>
        </p:nvSpPr>
        <p:spPr>
          <a:xfrm>
            <a:off x="287338" y="3535363"/>
            <a:ext cx="644525" cy="420687"/>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52232"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2233"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52234" name="对象 3"/>
          <p:cNvGraphicFramePr>
            <a:graphicFrameLocks noChangeAspect="1"/>
          </p:cNvGraphicFramePr>
          <p:nvPr/>
        </p:nvGraphicFramePr>
        <p:xfrm>
          <a:off x="4392613" y="3600450"/>
          <a:ext cx="4699000" cy="2520950"/>
        </p:xfrm>
        <a:graphic>
          <a:graphicData uri="http://schemas.openxmlformats.org/presentationml/2006/ole">
            <mc:AlternateContent xmlns:mc="http://schemas.openxmlformats.org/markup-compatibility/2006">
              <mc:Choice xmlns:v="urn:schemas-microsoft-com:vml" Requires="v">
                <p:oleObj spid="_x0000_s3094" name="" r:id="rId1" imgW="4671060" imgH="2496185" progId="Visio.Drawing.11">
                  <p:embed/>
                </p:oleObj>
              </mc:Choice>
              <mc:Fallback>
                <p:oleObj name="" r:id="rId1" imgW="4671060" imgH="2496185" progId="Visio.Drawing.11">
                  <p:embed/>
                  <p:pic>
                    <p:nvPicPr>
                      <p:cNvPr id="0" name="图片 3093"/>
                      <p:cNvPicPr/>
                      <p:nvPr/>
                    </p:nvPicPr>
                    <p:blipFill>
                      <a:blip r:embed="rId2"/>
                      <a:stretch>
                        <a:fillRect/>
                      </a:stretch>
                    </p:blipFill>
                    <p:spPr>
                      <a:xfrm>
                        <a:off x="4392613" y="3600450"/>
                        <a:ext cx="4699000" cy="2520950"/>
                      </a:xfrm>
                      <a:prstGeom prst="rect">
                        <a:avLst/>
                      </a:prstGeom>
                      <a:noFill/>
                      <a:ln w="38100">
                        <a:noFill/>
                        <a:miter/>
                      </a:ln>
                    </p:spPr>
                  </p:pic>
                </p:oleObj>
              </mc:Fallback>
            </mc:AlternateContent>
          </a:graphicData>
        </a:graphic>
      </p:graphicFrame>
      <p:sp>
        <p:nvSpPr>
          <p:cNvPr id="52235" name="Rectangle 4"/>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2236" name="Rectangle 6"/>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2237" name="Rectangle 5"/>
          <p:cNvSpPr/>
          <p:nvPr/>
        </p:nvSpPr>
        <p:spPr>
          <a:xfrm>
            <a:off x="0" y="1114425"/>
            <a:ext cx="9144000" cy="0"/>
          </a:xfrm>
          <a:prstGeom prst="rect">
            <a:avLst/>
          </a:prstGeom>
          <a:noFill/>
          <a:ln w="9525">
            <a:noFill/>
          </a:ln>
        </p:spPr>
        <p:txBody>
          <a:bodyPr wrap="none" anchor="ctr" anchorCtr="0">
            <a:spAutoFit/>
          </a:bodyPr>
          <a:p>
            <a:pPr>
              <a:lnSpc>
                <a:spcPct val="90000"/>
              </a:lnSpc>
            </a:pPr>
            <a:r>
              <a:rPr lang="zh-CN" altLang="zh-CN" sz="800" b="1" dirty="0">
                <a:solidFill>
                  <a:srgbClr val="333399"/>
                </a:solidFill>
                <a:latin typeface="Times New Roman" panose="02020603050405020304" pitchFamily="18" charset="0"/>
              </a:rPr>
              <a:t> </a:t>
            </a:r>
            <a:endParaRPr lang="zh-CN" altLang="zh-CN" sz="800" b="1" dirty="0">
              <a:solidFill>
                <a:srgbClr val="333399"/>
              </a:solidFill>
              <a:latin typeface="Times New Roman" panose="02020603050405020304" pitchFamily="18" charset="0"/>
            </a:endParaRPr>
          </a:p>
        </p:txBody>
      </p:sp>
      <p:sp>
        <p:nvSpPr>
          <p:cNvPr id="52238" name="Rectangle 2"/>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11" name="对象 10"/>
          <p:cNvGraphicFramePr>
            <a:graphicFrameLocks noChangeAspect="1"/>
          </p:cNvGraphicFramePr>
          <p:nvPr/>
        </p:nvGraphicFramePr>
        <p:xfrm>
          <a:off x="487363" y="3716338"/>
          <a:ext cx="3629025" cy="2528887"/>
        </p:xfrm>
        <a:graphic>
          <a:graphicData uri="http://schemas.openxmlformats.org/presentationml/2006/ole">
            <mc:AlternateContent xmlns:mc="http://schemas.openxmlformats.org/markup-compatibility/2006">
              <mc:Choice xmlns:v="urn:schemas-microsoft-com:vml" Requires="v">
                <p:oleObj spid="_x0000_s3093" name="" r:id="rId3" imgW="2184400" imgH="1524000" progId="Equation.3">
                  <p:embed/>
                </p:oleObj>
              </mc:Choice>
              <mc:Fallback>
                <p:oleObj name="" r:id="rId3" imgW="2184400" imgH="1524000" progId="Equation.3">
                  <p:embed/>
                  <p:pic>
                    <p:nvPicPr>
                      <p:cNvPr id="0" name="图片 3092"/>
                      <p:cNvPicPr/>
                      <p:nvPr/>
                    </p:nvPicPr>
                    <p:blipFill>
                      <a:blip r:embed="rId4"/>
                      <a:stretch>
                        <a:fillRect/>
                      </a:stretch>
                    </p:blipFill>
                    <p:spPr>
                      <a:xfrm>
                        <a:off x="487363" y="3716338"/>
                        <a:ext cx="3629025" cy="2528887"/>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3250"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53251"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3252"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53253" name="矩形 4"/>
          <p:cNvSpPr/>
          <p:nvPr/>
        </p:nvSpPr>
        <p:spPr>
          <a:xfrm>
            <a:off x="503238" y="1916113"/>
            <a:ext cx="3586162" cy="420687"/>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53254" name="矩形 5"/>
          <p:cNvSpPr/>
          <p:nvPr/>
        </p:nvSpPr>
        <p:spPr>
          <a:xfrm>
            <a:off x="503238" y="2311400"/>
            <a:ext cx="8208962" cy="1077913"/>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53255" name="矩形 2"/>
          <p:cNvSpPr/>
          <p:nvPr/>
        </p:nvSpPr>
        <p:spPr>
          <a:xfrm>
            <a:off x="287338" y="3543300"/>
            <a:ext cx="644525" cy="420688"/>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53256"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3257"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53258" name="对象 3"/>
          <p:cNvGraphicFramePr>
            <a:graphicFrameLocks noChangeAspect="1"/>
          </p:cNvGraphicFramePr>
          <p:nvPr/>
        </p:nvGraphicFramePr>
        <p:xfrm>
          <a:off x="4392613" y="3608388"/>
          <a:ext cx="4699000" cy="2520950"/>
        </p:xfrm>
        <a:graphic>
          <a:graphicData uri="http://schemas.openxmlformats.org/presentationml/2006/ole">
            <mc:AlternateContent xmlns:mc="http://schemas.openxmlformats.org/markup-compatibility/2006">
              <mc:Choice xmlns:v="urn:schemas-microsoft-com:vml" Requires="v">
                <p:oleObj spid="_x0000_s3100" name="" r:id="rId1" imgW="4671060" imgH="2496185" progId="Visio.Drawing.11">
                  <p:embed/>
                </p:oleObj>
              </mc:Choice>
              <mc:Fallback>
                <p:oleObj name="" r:id="rId1" imgW="4671060" imgH="2496185" progId="Visio.Drawing.11">
                  <p:embed/>
                  <p:pic>
                    <p:nvPicPr>
                      <p:cNvPr id="0" name="图片 3099"/>
                      <p:cNvPicPr/>
                      <p:nvPr/>
                    </p:nvPicPr>
                    <p:blipFill>
                      <a:blip r:embed="rId2"/>
                      <a:stretch>
                        <a:fillRect/>
                      </a:stretch>
                    </p:blipFill>
                    <p:spPr>
                      <a:xfrm>
                        <a:off x="4392613" y="3608388"/>
                        <a:ext cx="4699000" cy="2520950"/>
                      </a:xfrm>
                      <a:prstGeom prst="rect">
                        <a:avLst/>
                      </a:prstGeom>
                      <a:noFill/>
                      <a:ln w="38100">
                        <a:noFill/>
                        <a:miter/>
                      </a:ln>
                    </p:spPr>
                  </p:pic>
                </p:oleObj>
              </mc:Fallback>
            </mc:AlternateContent>
          </a:graphicData>
        </a:graphic>
      </p:graphicFrame>
      <p:sp>
        <p:nvSpPr>
          <p:cNvPr id="53259" name="Rectangle 4"/>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3260" name="Rectangle 6"/>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3261" name="Rectangle 5"/>
          <p:cNvSpPr/>
          <p:nvPr/>
        </p:nvSpPr>
        <p:spPr>
          <a:xfrm>
            <a:off x="0" y="1114425"/>
            <a:ext cx="9144000" cy="0"/>
          </a:xfrm>
          <a:prstGeom prst="rect">
            <a:avLst/>
          </a:prstGeom>
          <a:noFill/>
          <a:ln w="9525">
            <a:noFill/>
          </a:ln>
        </p:spPr>
        <p:txBody>
          <a:bodyPr wrap="none" anchor="ctr" anchorCtr="0">
            <a:spAutoFit/>
          </a:bodyPr>
          <a:p>
            <a:pPr>
              <a:lnSpc>
                <a:spcPct val="90000"/>
              </a:lnSpc>
            </a:pPr>
            <a:r>
              <a:rPr lang="zh-CN" altLang="zh-CN" sz="800" b="1" dirty="0">
                <a:solidFill>
                  <a:srgbClr val="333399"/>
                </a:solidFill>
                <a:latin typeface="Times New Roman" panose="02020603050405020304" pitchFamily="18" charset="0"/>
              </a:rPr>
              <a:t> </a:t>
            </a:r>
            <a:endParaRPr lang="zh-CN" altLang="zh-CN" sz="800" b="1" dirty="0">
              <a:solidFill>
                <a:srgbClr val="333399"/>
              </a:solidFill>
              <a:latin typeface="Times New Roman" panose="02020603050405020304" pitchFamily="18" charset="0"/>
            </a:endParaRPr>
          </a:p>
        </p:txBody>
      </p:sp>
      <p:sp>
        <p:nvSpPr>
          <p:cNvPr id="53262" name="Rectangle 2"/>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3263" name="Rectangle 2"/>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8" name="对象 7"/>
          <p:cNvGraphicFramePr>
            <a:graphicFrameLocks noChangeAspect="1"/>
          </p:cNvGraphicFramePr>
          <p:nvPr/>
        </p:nvGraphicFramePr>
        <p:xfrm>
          <a:off x="712788" y="3895725"/>
          <a:ext cx="3305175" cy="2087563"/>
        </p:xfrm>
        <a:graphic>
          <a:graphicData uri="http://schemas.openxmlformats.org/presentationml/2006/ole">
            <mc:AlternateContent xmlns:mc="http://schemas.openxmlformats.org/markup-compatibility/2006">
              <mc:Choice xmlns:v="urn:schemas-microsoft-com:vml" Requires="v">
                <p:oleObj spid="_x0000_s3097" name="" r:id="rId3" imgW="1714500" imgH="1092200" progId="Equation.3">
                  <p:embed/>
                </p:oleObj>
              </mc:Choice>
              <mc:Fallback>
                <p:oleObj name="" r:id="rId3" imgW="1714500" imgH="1092200" progId="Equation.3">
                  <p:embed/>
                  <p:pic>
                    <p:nvPicPr>
                      <p:cNvPr id="0" name="图片 3096"/>
                      <p:cNvPicPr/>
                      <p:nvPr/>
                    </p:nvPicPr>
                    <p:blipFill>
                      <a:blip r:embed="rId4"/>
                      <a:stretch>
                        <a:fillRect/>
                      </a:stretch>
                    </p:blipFill>
                    <p:spPr>
                      <a:xfrm>
                        <a:off x="712788" y="3895725"/>
                        <a:ext cx="3305175" cy="2087563"/>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4274" name="Text Box 4"/>
          <p:cNvSpPr txBox="1"/>
          <p:nvPr/>
        </p:nvSpPr>
        <p:spPr>
          <a:xfrm>
            <a:off x="179388" y="47625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sz="3600" b="1" dirty="0">
                <a:solidFill>
                  <a:srgbClr val="333399"/>
                </a:solidFill>
                <a:latin typeface="Times New Roman" panose="02020603050405020304" pitchFamily="18" charset="0"/>
              </a:rPr>
              <a:t>习题：</a:t>
            </a:r>
            <a:endParaRPr lang="zh-CN" altLang="en-US" sz="3600" b="1" dirty="0">
              <a:solidFill>
                <a:srgbClr val="333399"/>
              </a:solidFill>
              <a:latin typeface="Times New Roman" panose="02020603050405020304" pitchFamily="18" charset="0"/>
            </a:endParaRPr>
          </a:p>
        </p:txBody>
      </p:sp>
      <p:sp>
        <p:nvSpPr>
          <p:cNvPr id="54275"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76" name="矩形 3"/>
          <p:cNvSpPr/>
          <p:nvPr/>
        </p:nvSpPr>
        <p:spPr>
          <a:xfrm>
            <a:off x="1727200" y="835025"/>
            <a:ext cx="6589713" cy="757238"/>
          </a:xfrm>
          <a:prstGeom prst="rect">
            <a:avLst/>
          </a:prstGeom>
          <a:noFill/>
          <a:ln w="9525">
            <a:noFill/>
          </a:ln>
        </p:spPr>
        <p:txBody>
          <a:bodyPr>
            <a:spAutoFit/>
          </a:bodyPr>
          <a:p>
            <a:pPr eaLnBrk="1" hangingPunct="1">
              <a:lnSpc>
                <a:spcPct val="90000"/>
              </a:lnSpc>
            </a:pPr>
            <a:r>
              <a:rPr lang="zh-CN" altLang="zh-CN" sz="2400" b="1" dirty="0">
                <a:solidFill>
                  <a:schemeClr val="tx1"/>
                </a:solidFill>
                <a:latin typeface="Times New Roman" panose="02020603050405020304" pitchFamily="18" charset="0"/>
              </a:rPr>
              <a:t>设有一测量放大器如图所示，已知</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1</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2</a:t>
            </a:r>
            <a:r>
              <a:rPr lang="en-US" altLang="zh-CN" sz="2400" b="1" dirty="0">
                <a:solidFill>
                  <a:schemeClr val="tx1"/>
                </a:solidFill>
                <a:latin typeface="Times New Roman" panose="02020603050405020304" pitchFamily="18" charset="0"/>
              </a:rPr>
              <a:t>=5kΩ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G</a:t>
            </a:r>
            <a:r>
              <a:rPr lang="en-US" altLang="zh-CN" sz="2400" b="1" dirty="0">
                <a:solidFill>
                  <a:schemeClr val="tx1"/>
                </a:solidFill>
                <a:latin typeface="Times New Roman" panose="02020603050405020304" pitchFamily="18" charset="0"/>
              </a:rPr>
              <a:t>=100kΩ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3</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4</a:t>
            </a:r>
            <a:r>
              <a:rPr lang="en-US" altLang="zh-CN" sz="2400" b="1" dirty="0">
                <a:solidFill>
                  <a:schemeClr val="tx1"/>
                </a:solidFill>
                <a:latin typeface="Times New Roman" panose="02020603050405020304" pitchFamily="18" charset="0"/>
              </a:rPr>
              <a:t>=10kΩ</a:t>
            </a:r>
            <a:r>
              <a:rPr lang="zh-CN"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5</a:t>
            </a:r>
            <a:r>
              <a:rPr lang="en-US" altLang="zh-CN" sz="2400" b="1" dirty="0">
                <a:solidFill>
                  <a:schemeClr val="tx1"/>
                </a:solidFill>
                <a:latin typeface="Times New Roman" panose="02020603050405020304" pitchFamily="18" charset="0"/>
              </a:rPr>
              <a:t>=</a:t>
            </a:r>
            <a:r>
              <a:rPr lang="en-US" altLang="zh-CN" sz="2400" b="1" i="1" dirty="0">
                <a:solidFill>
                  <a:schemeClr val="tx1"/>
                </a:solidFill>
                <a:latin typeface="Times New Roman" panose="02020603050405020304" pitchFamily="18" charset="0"/>
              </a:rPr>
              <a:t>R</a:t>
            </a:r>
            <a:r>
              <a:rPr lang="en-US" altLang="zh-CN" sz="2400" b="1" baseline="-25000" dirty="0">
                <a:solidFill>
                  <a:schemeClr val="tx1"/>
                </a:solidFill>
                <a:latin typeface="Times New Roman" panose="02020603050405020304" pitchFamily="18" charset="0"/>
              </a:rPr>
              <a:t>6</a:t>
            </a:r>
            <a:r>
              <a:rPr lang="en-US" altLang="zh-CN" sz="2400" b="1" dirty="0">
                <a:solidFill>
                  <a:schemeClr val="tx1"/>
                </a:solidFill>
                <a:latin typeface="Times New Roman" panose="02020603050405020304" pitchFamily="18" charset="0"/>
              </a:rPr>
              <a:t>=20kΩ</a:t>
            </a:r>
            <a:r>
              <a:rPr lang="zh-CN" altLang="zh-CN" sz="2400" b="1" dirty="0">
                <a:solidFill>
                  <a:schemeClr val="tx1"/>
                </a:solidFill>
                <a:latin typeface="Times New Roman" panose="02020603050405020304" pitchFamily="18" charset="0"/>
              </a:rPr>
              <a:t>，求：</a:t>
            </a:r>
            <a:endParaRPr lang="zh-CN" altLang="zh-CN" sz="2400" b="1" dirty="0">
              <a:solidFill>
                <a:schemeClr val="tx1"/>
              </a:solidFill>
              <a:latin typeface="Times New Roman" panose="02020603050405020304" pitchFamily="18" charset="0"/>
            </a:endParaRPr>
          </a:p>
        </p:txBody>
      </p:sp>
      <p:sp>
        <p:nvSpPr>
          <p:cNvPr id="54277" name="矩形 4"/>
          <p:cNvSpPr/>
          <p:nvPr/>
        </p:nvSpPr>
        <p:spPr>
          <a:xfrm>
            <a:off x="503238" y="1917700"/>
            <a:ext cx="3586162" cy="420688"/>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1.  </a:t>
            </a:r>
            <a:r>
              <a:rPr lang="zh-CN" altLang="zh-CN" sz="2400" b="1" dirty="0">
                <a:solidFill>
                  <a:schemeClr val="tx1"/>
                </a:solidFill>
                <a:latin typeface="Times New Roman" panose="02020603050405020304" pitchFamily="18" charset="0"/>
              </a:rPr>
              <a:t>此测量放大器的增益。</a:t>
            </a:r>
            <a:endParaRPr lang="zh-CN" altLang="zh-CN" sz="2400" b="1" dirty="0">
              <a:solidFill>
                <a:schemeClr val="tx1"/>
              </a:solidFill>
              <a:latin typeface="Times New Roman" panose="02020603050405020304" pitchFamily="18" charset="0"/>
            </a:endParaRPr>
          </a:p>
        </p:txBody>
      </p:sp>
      <p:sp>
        <p:nvSpPr>
          <p:cNvPr id="54278" name="矩形 5"/>
          <p:cNvSpPr/>
          <p:nvPr/>
        </p:nvSpPr>
        <p:spPr>
          <a:xfrm>
            <a:off x="503238" y="2312988"/>
            <a:ext cx="8208962" cy="1077912"/>
          </a:xfrm>
          <a:prstGeom prst="rect">
            <a:avLst/>
          </a:prstGeom>
          <a:noFill/>
          <a:ln w="9525">
            <a:noFill/>
          </a:ln>
        </p:spPr>
        <p:txBody>
          <a:bodyPr>
            <a:spAutoFit/>
          </a:bodyPr>
          <a:p>
            <a:pPr eaLnBrk="1" hangingPunct="1">
              <a:lnSpc>
                <a:spcPct val="90000"/>
              </a:lnSpc>
            </a:pPr>
            <a:r>
              <a:rPr lang="en-US" altLang="zh-CN" sz="2400" b="1" dirty="0">
                <a:solidFill>
                  <a:schemeClr val="tx1"/>
                </a:solidFill>
                <a:latin typeface="Times New Roman" panose="02020603050405020304" pitchFamily="18" charset="0"/>
              </a:rPr>
              <a:t>2.  </a:t>
            </a:r>
            <a:r>
              <a:rPr lang="zh-CN" altLang="zh-CN" sz="2400" b="1" dirty="0">
                <a:solidFill>
                  <a:schemeClr val="tx1"/>
                </a:solidFill>
                <a:latin typeface="Times New Roman" panose="02020603050405020304" pitchFamily="18" charset="0"/>
              </a:rPr>
              <a:t>什么是测量放大器的共模抑制比</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？若</a:t>
            </a:r>
            <a:r>
              <a:rPr lang="en-US" altLang="zh-CN" sz="2400" b="1" dirty="0">
                <a:solidFill>
                  <a:schemeClr val="tx1"/>
                </a:solidFill>
                <a:latin typeface="Times New Roman" panose="02020603050405020304" pitchFamily="18" charset="0"/>
              </a:rPr>
              <a:t>R4</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10.01 kΩ</a:t>
            </a:r>
            <a:r>
              <a:rPr lang="zh-CN" altLang="zh-CN" sz="2400" b="1" dirty="0">
                <a:solidFill>
                  <a:schemeClr val="tx1"/>
                </a:solidFill>
                <a:latin typeface="Times New Roman" panose="02020603050405020304" pitchFamily="18" charset="0"/>
              </a:rPr>
              <a:t>，</a:t>
            </a:r>
            <a:r>
              <a:rPr lang="en-US" altLang="zh-CN" sz="2400" b="1" dirty="0">
                <a:solidFill>
                  <a:schemeClr val="tx1"/>
                </a:solidFill>
                <a:latin typeface="Times New Roman" panose="02020603050405020304" pitchFamily="18" charset="0"/>
              </a:rPr>
              <a:t>R5</a:t>
            </a:r>
            <a:r>
              <a:rPr lang="zh-CN" altLang="zh-CN" sz="2400" b="1" dirty="0">
                <a:solidFill>
                  <a:schemeClr val="tx1"/>
                </a:solidFill>
                <a:latin typeface="Times New Roman" panose="02020603050405020304" pitchFamily="18" charset="0"/>
              </a:rPr>
              <a:t>的实际测量值为</a:t>
            </a:r>
            <a:r>
              <a:rPr lang="en-US" altLang="zh-CN" sz="2400" b="1" dirty="0">
                <a:solidFill>
                  <a:schemeClr val="tx1"/>
                </a:solidFill>
                <a:latin typeface="Times New Roman" panose="02020603050405020304" pitchFamily="18" charset="0"/>
              </a:rPr>
              <a:t>20.02 kΩ</a:t>
            </a:r>
            <a:r>
              <a:rPr lang="zh-CN" altLang="zh-CN" sz="2400" b="1" dirty="0">
                <a:solidFill>
                  <a:schemeClr val="tx1"/>
                </a:solidFill>
                <a:latin typeface="Times New Roman" panose="02020603050405020304" pitchFamily="18" charset="0"/>
              </a:rPr>
              <a:t>，其他电阻以及运放都假设为理想精度，求此测量放大器的</a:t>
            </a:r>
            <a:r>
              <a:rPr lang="en-US" altLang="zh-CN" sz="2400" b="1" dirty="0">
                <a:solidFill>
                  <a:schemeClr val="tx1"/>
                </a:solidFill>
                <a:latin typeface="Times New Roman" panose="02020603050405020304" pitchFamily="18" charset="0"/>
              </a:rPr>
              <a:t>CMRR</a:t>
            </a:r>
            <a:r>
              <a:rPr lang="zh-CN" altLang="zh-CN" sz="2400" b="1" dirty="0">
                <a:solidFill>
                  <a:schemeClr val="tx1"/>
                </a:solidFill>
                <a:latin typeface="Times New Roman" panose="02020603050405020304" pitchFamily="18" charset="0"/>
              </a:rPr>
              <a:t>。</a:t>
            </a:r>
            <a:endParaRPr lang="zh-CN" altLang="zh-CN" sz="2400" b="1" dirty="0">
              <a:solidFill>
                <a:schemeClr val="tx1"/>
              </a:solidFill>
              <a:latin typeface="Times New Roman" panose="02020603050405020304" pitchFamily="18" charset="0"/>
            </a:endParaRPr>
          </a:p>
        </p:txBody>
      </p:sp>
      <p:sp>
        <p:nvSpPr>
          <p:cNvPr id="54279" name="矩形 2"/>
          <p:cNvSpPr/>
          <p:nvPr/>
        </p:nvSpPr>
        <p:spPr>
          <a:xfrm>
            <a:off x="287338" y="3544888"/>
            <a:ext cx="644525" cy="420687"/>
          </a:xfrm>
          <a:prstGeom prst="rect">
            <a:avLst/>
          </a:prstGeom>
          <a:noFill/>
          <a:ln w="9525">
            <a:noFill/>
          </a:ln>
        </p:spPr>
        <p:txBody>
          <a:bodyPr wrap="none">
            <a:spAutoFit/>
          </a:bodyPr>
          <a:p>
            <a:pPr eaLnBrk="1" hangingPunct="1">
              <a:lnSpc>
                <a:spcPct val="90000"/>
              </a:lnSpc>
            </a:pPr>
            <a:r>
              <a:rPr lang="zh-CN" altLang="zh-CN" sz="2400" b="1" dirty="0">
                <a:solidFill>
                  <a:srgbClr val="FF0000"/>
                </a:solidFill>
                <a:latin typeface="Adobe 黑体 Std R" pitchFamily="34" charset="-122"/>
                <a:ea typeface="Adobe 黑体 Std R" pitchFamily="34" charset="-122"/>
              </a:rPr>
              <a:t>答</a:t>
            </a:r>
            <a:r>
              <a:rPr lang="en-US" altLang="zh-CN" sz="2400" b="1" dirty="0">
                <a:solidFill>
                  <a:srgbClr val="FF0000"/>
                </a:solidFill>
                <a:latin typeface="Adobe 黑体 Std R" pitchFamily="34" charset="-122"/>
                <a:ea typeface="Adobe 黑体 Std R" pitchFamily="34" charset="-122"/>
              </a:rPr>
              <a:t>:</a:t>
            </a:r>
            <a:endParaRPr lang="en-US" altLang="zh-CN" sz="2400" b="1" dirty="0">
              <a:solidFill>
                <a:srgbClr val="FF0000"/>
              </a:solidFill>
              <a:latin typeface="Adobe 黑体 Std R" pitchFamily="34" charset="-122"/>
              <a:ea typeface="Adobe 黑体 Std R" pitchFamily="34" charset="-122"/>
            </a:endParaRPr>
          </a:p>
        </p:txBody>
      </p:sp>
      <p:sp>
        <p:nvSpPr>
          <p:cNvPr id="54280" name="Rectangle 10"/>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81"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54282" name="对象 3"/>
          <p:cNvGraphicFramePr>
            <a:graphicFrameLocks noChangeAspect="1"/>
          </p:cNvGraphicFramePr>
          <p:nvPr/>
        </p:nvGraphicFramePr>
        <p:xfrm>
          <a:off x="4392613" y="3609975"/>
          <a:ext cx="4699000" cy="2520950"/>
        </p:xfrm>
        <a:graphic>
          <a:graphicData uri="http://schemas.openxmlformats.org/presentationml/2006/ole">
            <mc:AlternateContent xmlns:mc="http://schemas.openxmlformats.org/markup-compatibility/2006">
              <mc:Choice xmlns:v="urn:schemas-microsoft-com:vml" Requires="v">
                <p:oleObj spid="_x0000_s3099" name="" r:id="rId1" imgW="4671060" imgH="2496185" progId="Visio.Drawing.11">
                  <p:embed/>
                </p:oleObj>
              </mc:Choice>
              <mc:Fallback>
                <p:oleObj name="" r:id="rId1" imgW="4671060" imgH="2496185" progId="Visio.Drawing.11">
                  <p:embed/>
                  <p:pic>
                    <p:nvPicPr>
                      <p:cNvPr id="0" name="图片 3098"/>
                      <p:cNvPicPr/>
                      <p:nvPr/>
                    </p:nvPicPr>
                    <p:blipFill>
                      <a:blip r:embed="rId2"/>
                      <a:stretch>
                        <a:fillRect/>
                      </a:stretch>
                    </p:blipFill>
                    <p:spPr>
                      <a:xfrm>
                        <a:off x="4392613" y="3609975"/>
                        <a:ext cx="4699000" cy="2520950"/>
                      </a:xfrm>
                      <a:prstGeom prst="rect">
                        <a:avLst/>
                      </a:prstGeom>
                      <a:noFill/>
                      <a:ln w="38100">
                        <a:noFill/>
                        <a:miter/>
                      </a:ln>
                    </p:spPr>
                  </p:pic>
                </p:oleObj>
              </mc:Fallback>
            </mc:AlternateContent>
          </a:graphicData>
        </a:graphic>
      </p:graphicFrame>
      <p:sp>
        <p:nvSpPr>
          <p:cNvPr id="54283" name="Rectangle 4"/>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84" name="Rectangle 6"/>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85" name="Rectangle 5"/>
          <p:cNvSpPr/>
          <p:nvPr/>
        </p:nvSpPr>
        <p:spPr>
          <a:xfrm>
            <a:off x="0" y="1114425"/>
            <a:ext cx="9144000" cy="0"/>
          </a:xfrm>
          <a:prstGeom prst="rect">
            <a:avLst/>
          </a:prstGeom>
          <a:noFill/>
          <a:ln w="9525">
            <a:noFill/>
          </a:ln>
        </p:spPr>
        <p:txBody>
          <a:bodyPr wrap="none" anchor="ctr" anchorCtr="0">
            <a:spAutoFit/>
          </a:bodyPr>
          <a:p>
            <a:pPr>
              <a:lnSpc>
                <a:spcPct val="90000"/>
              </a:lnSpc>
            </a:pPr>
            <a:r>
              <a:rPr lang="zh-CN" altLang="zh-CN" sz="800" b="1" dirty="0">
                <a:solidFill>
                  <a:srgbClr val="333399"/>
                </a:solidFill>
                <a:latin typeface="Times New Roman" panose="02020603050405020304" pitchFamily="18" charset="0"/>
              </a:rPr>
              <a:t> </a:t>
            </a:r>
            <a:endParaRPr lang="zh-CN" altLang="zh-CN" sz="800" b="1" dirty="0">
              <a:solidFill>
                <a:srgbClr val="333399"/>
              </a:solidFill>
              <a:latin typeface="Times New Roman" panose="02020603050405020304" pitchFamily="18" charset="0"/>
            </a:endParaRPr>
          </a:p>
        </p:txBody>
      </p:sp>
      <p:sp>
        <p:nvSpPr>
          <p:cNvPr id="54286" name="Rectangle 2"/>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87" name="Rectangle 2"/>
          <p:cNvSpPr/>
          <p:nvPr/>
        </p:nvSpPr>
        <p:spPr>
          <a:xfrm>
            <a:off x="0" y="0"/>
            <a:ext cx="9144000" cy="45720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sp>
        <p:nvSpPr>
          <p:cNvPr id="54288" name="Rectangle 2"/>
          <p:cNvSpPr/>
          <p:nvPr/>
        </p:nvSpPr>
        <p:spPr>
          <a:xfrm>
            <a:off x="0" y="0"/>
            <a:ext cx="9144000" cy="0"/>
          </a:xfrm>
          <a:prstGeom prst="rect">
            <a:avLst/>
          </a:prstGeom>
          <a:noFill/>
          <a:ln w="9525">
            <a:noFill/>
          </a:ln>
        </p:spPr>
        <p:txBody>
          <a:bodyPr wrap="none" anchor="ctr" anchorCtr="0">
            <a:spAutoFit/>
          </a:bodyPr>
          <a:p>
            <a:pPr eaLnBrk="1" hangingPunct="1">
              <a:lnSpc>
                <a:spcPct val="90000"/>
              </a:lnSpc>
            </a:pPr>
            <a:endParaRPr lang="zh-CN" altLang="en-US" sz="2000" b="1" dirty="0">
              <a:solidFill>
                <a:srgbClr val="333399"/>
              </a:solidFill>
              <a:latin typeface="Times New Roman" panose="02020603050405020304" pitchFamily="18" charset="0"/>
            </a:endParaRPr>
          </a:p>
        </p:txBody>
      </p:sp>
      <p:graphicFrame>
        <p:nvGraphicFramePr>
          <p:cNvPr id="11" name="对象 10"/>
          <p:cNvGraphicFramePr>
            <a:graphicFrameLocks noChangeAspect="1"/>
          </p:cNvGraphicFramePr>
          <p:nvPr/>
        </p:nvGraphicFramePr>
        <p:xfrm>
          <a:off x="768350" y="3665538"/>
          <a:ext cx="3122613" cy="2543175"/>
        </p:xfrm>
        <a:graphic>
          <a:graphicData uri="http://schemas.openxmlformats.org/presentationml/2006/ole">
            <mc:AlternateContent xmlns:mc="http://schemas.openxmlformats.org/markup-compatibility/2006">
              <mc:Choice xmlns:v="urn:schemas-microsoft-com:vml" Requires="v">
                <p:oleObj spid="_x0000_s3098" name="" r:id="rId3" imgW="1333500" imgH="1155700" progId="Equation.3">
                  <p:embed/>
                </p:oleObj>
              </mc:Choice>
              <mc:Fallback>
                <p:oleObj name="" r:id="rId3" imgW="1333500" imgH="1155700" progId="Equation.3">
                  <p:embed/>
                  <p:pic>
                    <p:nvPicPr>
                      <p:cNvPr id="0" name="图片 3097"/>
                      <p:cNvPicPr/>
                      <p:nvPr/>
                    </p:nvPicPr>
                    <p:blipFill>
                      <a:blip r:embed="rId4"/>
                      <a:stretch>
                        <a:fillRect/>
                      </a:stretch>
                    </p:blipFill>
                    <p:spPr>
                      <a:xfrm>
                        <a:off x="768350" y="3665538"/>
                        <a:ext cx="3122613" cy="2543175"/>
                      </a:xfrm>
                      <a:prstGeom prst="rect">
                        <a:avLst/>
                      </a:prstGeom>
                      <a:no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074" name="Picture 2" descr="Turm_blau_hell"/>
          <p:cNvPicPr>
            <a:picLocks noChangeAspect="1"/>
          </p:cNvPicPr>
          <p:nvPr/>
        </p:nvPicPr>
        <p:blipFill>
          <a:blip r:embed="rId1"/>
          <a:stretch>
            <a:fillRect/>
          </a:stretch>
        </p:blipFill>
        <p:spPr>
          <a:xfrm>
            <a:off x="3606800" y="852488"/>
            <a:ext cx="5537200" cy="5295900"/>
          </a:xfrm>
          <a:prstGeom prst="rect">
            <a:avLst/>
          </a:prstGeom>
          <a:noFill/>
          <a:ln w="9525">
            <a:noFill/>
          </a:ln>
        </p:spPr>
      </p:pic>
      <p:sp>
        <p:nvSpPr>
          <p:cNvPr id="3075" name="Freeform 4"/>
          <p:cNvSpPr/>
          <p:nvPr/>
        </p:nvSpPr>
        <p:spPr>
          <a:xfrm>
            <a:off x="236538" y="661988"/>
            <a:ext cx="6934200" cy="381000"/>
          </a:xfrm>
          <a:custGeom>
            <a:avLst/>
            <a:gdLst/>
            <a:ahLst/>
            <a:cxnLst>
              <a:cxn ang="0">
                <a:pos x="0" y="0"/>
              </a:cxn>
              <a:cxn ang="0">
                <a:pos x="2147483646" y="0"/>
              </a:cxn>
              <a:cxn ang="0">
                <a:pos x="2147483646" y="2147483646"/>
              </a:cxn>
              <a:cxn ang="0">
                <a:pos x="2147483646" y="2147483646"/>
              </a:cxn>
            </a:cxnLst>
            <a:pathLst>
              <a:path w="4272" h="1008">
                <a:moveTo>
                  <a:pt x="0" y="0"/>
                </a:moveTo>
                <a:lnTo>
                  <a:pt x="384" y="0"/>
                </a:lnTo>
                <a:lnTo>
                  <a:pt x="384" y="1008"/>
                </a:lnTo>
                <a:lnTo>
                  <a:pt x="4272" y="1008"/>
                </a:lnTo>
              </a:path>
            </a:pathLst>
          </a:custGeom>
          <a:noFill/>
          <a:ln w="12700" cap="flat" cmpd="sng">
            <a:solidFill>
              <a:schemeClr val="bg2">
                <a:alpha val="100000"/>
              </a:schemeClr>
            </a:solidFill>
            <a:prstDash val="solid"/>
            <a:round/>
            <a:headEnd type="none" w="med" len="med"/>
            <a:tailEnd type="diamond" w="med" len="med"/>
          </a:ln>
        </p:spPr>
        <p:txBody>
          <a:bodyPr/>
          <a:p>
            <a:endParaRPr lang="zh-CN" altLang="en-US"/>
          </a:p>
        </p:txBody>
      </p:sp>
      <p:sp>
        <p:nvSpPr>
          <p:cNvPr id="3076" name="Freeform 5"/>
          <p:cNvSpPr/>
          <p:nvPr/>
        </p:nvSpPr>
        <p:spPr>
          <a:xfrm>
            <a:off x="1054100" y="1047750"/>
            <a:ext cx="228600" cy="508000"/>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77" name="Freeform 6"/>
          <p:cNvSpPr/>
          <p:nvPr/>
        </p:nvSpPr>
        <p:spPr>
          <a:xfrm>
            <a:off x="1065213" y="1539875"/>
            <a:ext cx="217487" cy="742950"/>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785" name="Rectangle 9"/>
          <p:cNvSpPr>
            <a:spLocks noGrp="1" noChangeArrowheads="1"/>
          </p:cNvSpPr>
          <p:nvPr>
            <p:ph type="subTitle" idx="1"/>
          </p:nvPr>
        </p:nvSpPr>
        <p:spPr bwMode="auto">
          <a:xfrm>
            <a:off x="1774825" y="1135063"/>
            <a:ext cx="5695950" cy="625475"/>
          </a:xfrm>
        </p:spPr>
        <p:txBody>
          <a:bodyPr vert="horz" wrap="square" lIns="82550" tIns="41275" rIns="82550" bIns="41275" numCol="1" anchor="t" anchorCtr="0" compatLnSpc="1"/>
          <a:lstStyle/>
          <a:p>
            <a:pPr marL="476250" marR="0" lvl="0" indent="-476250" algn="l" defTabSz="678180" rtl="0" eaLnBrk="1" fontAlgn="base" latinLnBrk="0" hangingPunct="1">
              <a:lnSpc>
                <a:spcPct val="130000"/>
              </a:lnSpc>
              <a:spcBef>
                <a:spcPct val="0"/>
              </a:spcBef>
              <a:spcAft>
                <a:spcPct val="0"/>
              </a:spcAft>
              <a:buClr>
                <a:srgbClr val="000066"/>
              </a:buClr>
              <a:buSzPct val="75000"/>
              <a:buFont typeface="Wingdings" panose="05000000000000000000" pitchFamily="2" charset="2"/>
              <a:buNone/>
              <a:defRPr/>
            </a:pPr>
            <a:r>
              <a:rPr kumimoji="0" lang="en-US" altLang="zh-CN" sz="3600" b="1" i="0" u="none" strike="noStrike" kern="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mn-ea"/>
                <a:cs typeface="+mn-cs"/>
              </a:rPr>
              <a:t>5.1 </a:t>
            </a:r>
            <a:r>
              <a:rPr kumimoji="0" lang="zh-CN" altLang="en-US" sz="3600" b="1" i="0" u="none" strike="noStrike" kern="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楷体_GB2312" pitchFamily="49" charset="-122"/>
                <a:cs typeface="+mn-cs"/>
              </a:rPr>
              <a:t>概述</a:t>
            </a:r>
            <a:endParaRPr kumimoji="0" lang="zh-CN" altLang="en-US" sz="3600" b="1" i="0" u="none" strike="noStrike" kern="0" cap="none" spc="0" normalizeH="0" baseline="0" noProof="0">
              <a:ln>
                <a:noFill/>
              </a:ln>
              <a:solidFill>
                <a:srgbClr val="000066"/>
              </a:solidFill>
              <a:effectLst/>
              <a:uLnTx/>
              <a:uFillTx/>
              <a:latin typeface="Arial Black" panose="020B0A04020102020204" pitchFamily="34" charset="0"/>
              <a:ea typeface="楷体_GB2312" pitchFamily="49" charset="-122"/>
              <a:cs typeface="+mn-cs"/>
            </a:endParaRPr>
          </a:p>
        </p:txBody>
      </p:sp>
      <p:pic>
        <p:nvPicPr>
          <p:cNvPr id="3079" name="Picture 17" descr="kugel_blau"/>
          <p:cNvPicPr>
            <a:picLocks noChangeAspect="1"/>
          </p:cNvPicPr>
          <p:nvPr/>
        </p:nvPicPr>
        <p:blipFill>
          <a:blip r:embed="rId2"/>
          <a:stretch>
            <a:fillRect/>
          </a:stretch>
        </p:blipFill>
        <p:spPr>
          <a:xfrm>
            <a:off x="1373188" y="1398588"/>
            <a:ext cx="457200" cy="315912"/>
          </a:xfrm>
          <a:prstGeom prst="rect">
            <a:avLst/>
          </a:prstGeom>
          <a:noFill/>
          <a:ln w="9525">
            <a:noFill/>
          </a:ln>
        </p:spPr>
      </p:pic>
      <p:pic>
        <p:nvPicPr>
          <p:cNvPr id="3080" name="Picture 18" descr="kugel_blau"/>
          <p:cNvPicPr>
            <a:picLocks noChangeAspect="1"/>
          </p:cNvPicPr>
          <p:nvPr/>
        </p:nvPicPr>
        <p:blipFill>
          <a:blip r:embed="rId2"/>
          <a:stretch>
            <a:fillRect/>
          </a:stretch>
        </p:blipFill>
        <p:spPr>
          <a:xfrm>
            <a:off x="1341438" y="2132013"/>
            <a:ext cx="457200" cy="315912"/>
          </a:xfrm>
          <a:prstGeom prst="rect">
            <a:avLst/>
          </a:prstGeom>
          <a:noFill/>
          <a:ln w="9525">
            <a:noFill/>
          </a:ln>
        </p:spPr>
      </p:pic>
      <p:sp>
        <p:nvSpPr>
          <p:cNvPr id="1483798" name="Rectangle 22"/>
          <p:cNvSpPr>
            <a:spLocks noChangeArrowheads="1"/>
          </p:cNvSpPr>
          <p:nvPr/>
        </p:nvSpPr>
        <p:spPr bwMode="auto">
          <a:xfrm>
            <a:off x="1727200" y="1855788"/>
            <a:ext cx="63817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5.2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采样</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保持器的工作原理</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pic>
        <p:nvPicPr>
          <p:cNvPr id="3082" name="Picture 27" descr="kugel_blau"/>
          <p:cNvPicPr>
            <a:picLocks noChangeAspect="1"/>
          </p:cNvPicPr>
          <p:nvPr/>
        </p:nvPicPr>
        <p:blipFill>
          <a:blip r:embed="rId2"/>
          <a:stretch>
            <a:fillRect/>
          </a:stretch>
        </p:blipFill>
        <p:spPr>
          <a:xfrm>
            <a:off x="1347788" y="2897188"/>
            <a:ext cx="457200" cy="315912"/>
          </a:xfrm>
          <a:prstGeom prst="rect">
            <a:avLst/>
          </a:prstGeom>
          <a:noFill/>
          <a:ln w="9525">
            <a:noFill/>
          </a:ln>
        </p:spPr>
      </p:pic>
      <p:sp>
        <p:nvSpPr>
          <p:cNvPr id="1483804" name="Rectangle 28"/>
          <p:cNvSpPr>
            <a:spLocks noChangeArrowheads="1"/>
          </p:cNvSpPr>
          <p:nvPr/>
        </p:nvSpPr>
        <p:spPr bwMode="auto">
          <a:xfrm>
            <a:off x="1747838" y="2635250"/>
            <a:ext cx="5749925"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5.3 </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类型和主要性能参数</a:t>
            </a:r>
            <a:endPar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084" name="Freeform 31"/>
          <p:cNvSpPr/>
          <p:nvPr/>
        </p:nvSpPr>
        <p:spPr>
          <a:xfrm>
            <a:off x="1054100" y="2247900"/>
            <a:ext cx="242888" cy="825500"/>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809" name="Rectangle 33"/>
          <p:cNvSpPr>
            <a:spLocks noChangeArrowheads="1"/>
          </p:cNvSpPr>
          <p:nvPr/>
        </p:nvSpPr>
        <p:spPr bwMode="auto">
          <a:xfrm>
            <a:off x="1733550" y="242888"/>
            <a:ext cx="6156325" cy="628650"/>
          </a:xfrm>
          <a:prstGeom prst="rect">
            <a:avLst/>
          </a:prstGeom>
          <a:noFill/>
          <a:ln>
            <a:noFill/>
          </a:ln>
          <a:effec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采样</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保持</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3086" name="Picture 34" descr="kugel_blau"/>
          <p:cNvPicPr>
            <a:picLocks noChangeAspect="1"/>
          </p:cNvPicPr>
          <p:nvPr/>
        </p:nvPicPr>
        <p:blipFill>
          <a:blip r:embed="rId2"/>
          <a:stretch>
            <a:fillRect/>
          </a:stretch>
        </p:blipFill>
        <p:spPr>
          <a:xfrm>
            <a:off x="1354138" y="3724275"/>
            <a:ext cx="457200" cy="315913"/>
          </a:xfrm>
          <a:prstGeom prst="rect">
            <a:avLst/>
          </a:prstGeom>
          <a:noFill/>
          <a:ln w="9525">
            <a:noFill/>
          </a:ln>
        </p:spPr>
      </p:pic>
      <p:pic>
        <p:nvPicPr>
          <p:cNvPr id="3087" name="Picture 35" descr="kugel_blau"/>
          <p:cNvPicPr>
            <a:picLocks noChangeAspect="1"/>
          </p:cNvPicPr>
          <p:nvPr/>
        </p:nvPicPr>
        <p:blipFill>
          <a:blip r:embed="rId2"/>
          <a:stretch>
            <a:fillRect/>
          </a:stretch>
        </p:blipFill>
        <p:spPr>
          <a:xfrm>
            <a:off x="1349375" y="4498975"/>
            <a:ext cx="457200" cy="315913"/>
          </a:xfrm>
          <a:prstGeom prst="rect">
            <a:avLst/>
          </a:prstGeom>
          <a:noFill/>
          <a:ln w="9525">
            <a:noFill/>
          </a:ln>
        </p:spPr>
      </p:pic>
      <p:sp>
        <p:nvSpPr>
          <p:cNvPr id="1483813" name="Rectangle 37"/>
          <p:cNvSpPr>
            <a:spLocks noChangeArrowheads="1"/>
          </p:cNvSpPr>
          <p:nvPr/>
        </p:nvSpPr>
        <p:spPr bwMode="auto">
          <a:xfrm>
            <a:off x="1728788" y="3567113"/>
            <a:ext cx="7415213" cy="625475"/>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95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5.4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采集速率与采样</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保持器的关系</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sp>
        <p:nvSpPr>
          <p:cNvPr id="1483814" name="Rectangle 38"/>
          <p:cNvSpPr>
            <a:spLocks noChangeArrowheads="1"/>
          </p:cNvSpPr>
          <p:nvPr/>
        </p:nvSpPr>
        <p:spPr bwMode="auto">
          <a:xfrm>
            <a:off x="1741488" y="4229100"/>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5.5 </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090" name="Freeform 40"/>
          <p:cNvSpPr/>
          <p:nvPr/>
        </p:nvSpPr>
        <p:spPr>
          <a:xfrm>
            <a:off x="1054100" y="3057525"/>
            <a:ext cx="217488" cy="847725"/>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91" name="Freeform 41"/>
          <p:cNvSpPr/>
          <p:nvPr/>
        </p:nvSpPr>
        <p:spPr>
          <a:xfrm>
            <a:off x="1054100" y="3863975"/>
            <a:ext cx="217488" cy="808038"/>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pic>
        <p:nvPicPr>
          <p:cNvPr id="3092" name="Picture 43" descr="kugel_blau"/>
          <p:cNvPicPr>
            <a:picLocks noChangeAspect="1"/>
          </p:cNvPicPr>
          <p:nvPr/>
        </p:nvPicPr>
        <p:blipFill>
          <a:blip r:embed="rId2"/>
          <a:stretch>
            <a:fillRect/>
          </a:stretch>
        </p:blipFill>
        <p:spPr>
          <a:xfrm>
            <a:off x="1355725" y="5286375"/>
            <a:ext cx="457200" cy="315913"/>
          </a:xfrm>
          <a:prstGeom prst="rect">
            <a:avLst/>
          </a:prstGeom>
          <a:noFill/>
          <a:ln w="9525">
            <a:noFill/>
          </a:ln>
        </p:spPr>
      </p:pic>
      <p:sp>
        <p:nvSpPr>
          <p:cNvPr id="1483820" name="Rectangle 44"/>
          <p:cNvSpPr>
            <a:spLocks noChangeArrowheads="1"/>
          </p:cNvSpPr>
          <p:nvPr/>
        </p:nvSpPr>
        <p:spPr bwMode="auto">
          <a:xfrm>
            <a:off x="1747838" y="5016500"/>
            <a:ext cx="569595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5.6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使用中应注意的问题</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094" name="Freeform 45"/>
          <p:cNvSpPr/>
          <p:nvPr/>
        </p:nvSpPr>
        <p:spPr>
          <a:xfrm>
            <a:off x="1054100" y="4640263"/>
            <a:ext cx="217488" cy="808037"/>
          </a:xfrm>
          <a:custGeom>
            <a:avLst/>
            <a:gdLst/>
            <a:ahLst/>
            <a:cxnLst>
              <a:cxn ang="0">
                <a:pos x="0" y="0"/>
              </a:cxn>
              <a:cxn ang="0">
                <a:pos x="0" y="2147483646"/>
              </a:cxn>
              <a:cxn ang="0">
                <a:pos x="214748364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95" name="Rectangle 3"/>
          <p:cNvSpPr/>
          <p:nvPr/>
        </p:nvSpPr>
        <p:spPr>
          <a:xfrm>
            <a:off x="0" y="455613"/>
            <a:ext cx="609600" cy="5486400"/>
          </a:xfrm>
          <a:prstGeom prst="rect">
            <a:avLst/>
          </a:prstGeom>
          <a:solidFill>
            <a:schemeClr val="folHlink"/>
          </a:solidFill>
          <a:ln w="12700">
            <a:noFill/>
          </a:ln>
        </p:spPr>
        <p:txBody>
          <a:bodyPr wrap="none" anchor="ctr" anchorCtr="0"/>
          <a:p>
            <a:pP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3576638" y="49213"/>
            <a:ext cx="248602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5.1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概述</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19" name="Text Box 87"/>
          <p:cNvSpPr txBox="1"/>
          <p:nvPr/>
        </p:nvSpPr>
        <p:spPr>
          <a:xfrm>
            <a:off x="736600" y="885825"/>
            <a:ext cx="7870825" cy="1800225"/>
          </a:xfrm>
          <a:prstGeom prst="rect">
            <a:avLst/>
          </a:prstGeom>
          <a:solidFill>
            <a:srgbClr val="99CCFF"/>
          </a:solidFill>
          <a:ln w="9525">
            <a:noFill/>
          </a:ln>
        </p:spPr>
        <p:txBody>
          <a:bodyPr>
            <a:spAutoFit/>
          </a:bodyPr>
          <a:p>
            <a:pPr marL="1076325" indent="-1076325" eaLnBrk="1" hangingPunct="1"/>
            <a:r>
              <a:rPr lang="zh-CN" altLang="en-US" sz="2800" dirty="0">
                <a:solidFill>
                  <a:srgbClr val="FF0000"/>
                </a:solidFill>
                <a:latin typeface="黑体" panose="02010609060101010101" pitchFamily="49" charset="-122"/>
                <a:ea typeface="黑体" panose="02010609060101010101" pitchFamily="49" charset="-122"/>
              </a:rPr>
              <a:t>问题：</a:t>
            </a:r>
            <a:r>
              <a:rPr lang="zh-CN" altLang="en-US" sz="2800" dirty="0">
                <a:solidFill>
                  <a:schemeClr val="tx1"/>
                </a:solidFill>
                <a:latin typeface="黑体" panose="02010609060101010101" pitchFamily="49" charset="-122"/>
                <a:ea typeface="黑体" panose="02010609060101010101" pitchFamily="49" charset="-122"/>
              </a:rPr>
              <a:t>模拟信号进行</a:t>
            </a:r>
            <a:r>
              <a:rPr lang="en-US" altLang="zh-CN" sz="2800" dirty="0">
                <a:solidFill>
                  <a:schemeClr val="tx1"/>
                </a:solidFill>
                <a:latin typeface="黑体" panose="02010609060101010101" pitchFamily="49" charset="-122"/>
                <a:ea typeface="黑体" panose="02010609060101010101" pitchFamily="49" charset="-122"/>
              </a:rPr>
              <a:t>A/D</a:t>
            </a:r>
            <a:r>
              <a:rPr lang="zh-CN" altLang="en-US" sz="2800" dirty="0">
                <a:solidFill>
                  <a:schemeClr val="tx1"/>
                </a:solidFill>
                <a:latin typeface="黑体" panose="02010609060101010101" pitchFamily="49" charset="-122"/>
                <a:ea typeface="黑体" panose="02010609060101010101" pitchFamily="49" charset="-122"/>
              </a:rPr>
              <a:t>转换时，从启动转换到转换结束输出数字量，需要一定的转换时间，在转换时间内，模拟信号必须保持不变，否则会造成转换误差。</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1554525" name="Text Box 93"/>
          <p:cNvSpPr txBox="1"/>
          <p:nvPr/>
        </p:nvSpPr>
        <p:spPr>
          <a:xfrm>
            <a:off x="746125" y="2889250"/>
            <a:ext cx="7832725" cy="1373188"/>
          </a:xfrm>
          <a:prstGeom prst="rect">
            <a:avLst/>
          </a:prstGeom>
          <a:solidFill>
            <a:srgbClr val="CCFFFF"/>
          </a:solidFill>
          <a:ln w="9525">
            <a:noFill/>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解决方法：</a:t>
            </a:r>
            <a:r>
              <a:rPr lang="zh-CN" altLang="en-US" sz="2800" dirty="0">
                <a:solidFill>
                  <a:srgbClr val="000099"/>
                </a:solidFill>
                <a:latin typeface="黑体" panose="02010609060101010101" pitchFamily="49" charset="-122"/>
                <a:ea typeface="黑体" panose="02010609060101010101" pitchFamily="49" charset="-122"/>
              </a:rPr>
              <a:t>采用一种器件，在</a:t>
            </a:r>
            <a:r>
              <a:rPr lang="en-US" altLang="zh-CN" sz="2800" dirty="0">
                <a:solidFill>
                  <a:srgbClr val="000099"/>
                </a:solidFill>
                <a:latin typeface="黑体" panose="02010609060101010101" pitchFamily="49" charset="-122"/>
                <a:ea typeface="黑体" panose="02010609060101010101" pitchFamily="49" charset="-122"/>
              </a:rPr>
              <a:t>A/D</a:t>
            </a:r>
            <a:r>
              <a:rPr lang="zh-CN" altLang="en-US" sz="2800" dirty="0">
                <a:solidFill>
                  <a:srgbClr val="000099"/>
                </a:solidFill>
                <a:latin typeface="黑体" panose="02010609060101010101" pitchFamily="49" charset="-122"/>
                <a:ea typeface="黑体" panose="02010609060101010101" pitchFamily="49" charset="-122"/>
              </a:rPr>
              <a:t>转换时保持住输入信号电平，在</a:t>
            </a:r>
            <a:r>
              <a:rPr lang="en-US" altLang="zh-CN" sz="2800" dirty="0">
                <a:solidFill>
                  <a:srgbClr val="000099"/>
                </a:solidFill>
                <a:latin typeface="黑体" panose="02010609060101010101" pitchFamily="49" charset="-122"/>
                <a:ea typeface="黑体" panose="02010609060101010101" pitchFamily="49" charset="-122"/>
              </a:rPr>
              <a:t>A/D</a:t>
            </a:r>
            <a:r>
              <a:rPr lang="zh-CN" altLang="en-US" sz="2800" dirty="0">
                <a:solidFill>
                  <a:srgbClr val="000099"/>
                </a:solidFill>
                <a:latin typeface="黑体" panose="02010609060101010101" pitchFamily="49" charset="-122"/>
                <a:ea typeface="黑体" panose="02010609060101010101" pitchFamily="49" charset="-122"/>
              </a:rPr>
              <a:t>转换结束后跟踪输入信号的变化。“</a:t>
            </a:r>
            <a:r>
              <a:rPr lang="zh-CN" altLang="en-US" sz="2800" dirty="0">
                <a:solidFill>
                  <a:srgbClr val="FF0000"/>
                </a:solidFill>
                <a:latin typeface="黑体" panose="02010609060101010101" pitchFamily="49" charset="-122"/>
                <a:ea typeface="黑体" panose="02010609060101010101" pitchFamily="49" charset="-122"/>
              </a:rPr>
              <a:t>模拟信号存储器</a:t>
            </a:r>
            <a:r>
              <a:rPr lang="zh-CN" altLang="en-US" sz="2800" dirty="0">
                <a:solidFill>
                  <a:srgbClr val="000099"/>
                </a:solidFill>
                <a:latin typeface="黑体" panose="02010609060101010101" pitchFamily="49" charset="-122"/>
                <a:ea typeface="黑体" panose="02010609060101010101" pitchFamily="49" charset="-122"/>
              </a:rPr>
              <a:t>”</a:t>
            </a:r>
            <a:endParaRPr lang="zh-CN" altLang="en-US" sz="2800" dirty="0">
              <a:solidFill>
                <a:srgbClr val="000099"/>
              </a:solidFill>
              <a:latin typeface="黑体" panose="02010609060101010101" pitchFamily="49" charset="-122"/>
              <a:ea typeface="黑体" panose="02010609060101010101" pitchFamily="49" charset="-122"/>
            </a:endParaRPr>
          </a:p>
        </p:txBody>
      </p:sp>
      <p:sp>
        <p:nvSpPr>
          <p:cNvPr id="1554526" name="Text Box 94"/>
          <p:cNvSpPr txBox="1"/>
          <p:nvPr/>
        </p:nvSpPr>
        <p:spPr>
          <a:xfrm>
            <a:off x="558800" y="4530725"/>
            <a:ext cx="8108950" cy="1382713"/>
          </a:xfrm>
          <a:prstGeom prst="rect">
            <a:avLst/>
          </a:prstGeom>
          <a:solidFill>
            <a:srgbClr val="FFFF99"/>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Times New Roman" panose="02020603050405020304" pitchFamily="18" charset="0"/>
              </a:rPr>
              <a:t>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r>
              <a:rPr lang="zh-CN" altLang="en-US" sz="2800" dirty="0">
                <a:solidFill>
                  <a:schemeClr val="tx2"/>
                </a:solidFill>
                <a:latin typeface="Times New Roman" panose="02020603050405020304" pitchFamily="18" charset="0"/>
              </a:rPr>
              <a:t>：用于对模拟输入信号进行采样，然后根据逻辑控制信号指令保持瞬态值，保证模数转换期间以最小的衰减保持信号的一种器件。</a:t>
            </a:r>
            <a:endParaRPr lang="zh-CN" altLang="en-US" sz="2800" dirty="0">
              <a:solidFill>
                <a:schemeClr val="tx2"/>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54519"/>
                                        </p:tgtEl>
                                        <p:attrNameLst>
                                          <p:attrName>style.visibility</p:attrName>
                                        </p:attrNameLst>
                                      </p:cBhvr>
                                      <p:to>
                                        <p:strVal val="visible"/>
                                      </p:to>
                                    </p:set>
                                    <p:animEffect transition="in" filter="dissolve">
                                      <p:cBhvr>
                                        <p:cTn id="7" dur="500"/>
                                        <p:tgtEl>
                                          <p:spTgt spid="15545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54525"/>
                                        </p:tgtEl>
                                        <p:attrNameLst>
                                          <p:attrName>style.visibility</p:attrName>
                                        </p:attrNameLst>
                                      </p:cBhvr>
                                      <p:to>
                                        <p:strVal val="visible"/>
                                      </p:to>
                                    </p:set>
                                    <p:animEffect transition="in" filter="dissolve">
                                      <p:cBhvr>
                                        <p:cTn id="12" dur="500"/>
                                        <p:tgtEl>
                                          <p:spTgt spid="15545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554526"/>
                                        </p:tgtEl>
                                        <p:attrNameLst>
                                          <p:attrName>style.visibility</p:attrName>
                                        </p:attrNameLst>
                                      </p:cBhvr>
                                      <p:to>
                                        <p:strVal val="visible"/>
                                      </p:to>
                                    </p:set>
                                    <p:animEffect transition="in" filter="dissolve">
                                      <p:cBhvr>
                                        <p:cTn id="17" dur="500"/>
                                        <p:tgtEl>
                                          <p:spTgt spid="1554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19" grpId="0" animBg="1"/>
      <p:bldP spid="1554525" grpId="0" animBg="1"/>
      <p:bldP spid="1554526"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77" name="Rectangle 69"/>
          <p:cNvSpPr/>
          <p:nvPr/>
        </p:nvSpPr>
        <p:spPr>
          <a:xfrm>
            <a:off x="390525" y="2981325"/>
            <a:ext cx="8420100" cy="320992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38" name="Text Box 30"/>
          <p:cNvSpPr txBox="1">
            <a:spLocks noChangeArrowheads="1"/>
          </p:cNvSpPr>
          <p:nvPr/>
        </p:nvSpPr>
        <p:spPr bwMode="auto">
          <a:xfrm>
            <a:off x="1352550" y="47625"/>
            <a:ext cx="6713538"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5.2  </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保持器的工作原理</a:t>
            </a:r>
            <a:endPar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4641" name="Text Box 33"/>
          <p:cNvSpPr txBox="1"/>
          <p:nvPr/>
        </p:nvSpPr>
        <p:spPr>
          <a:xfrm>
            <a:off x="415925" y="3565525"/>
            <a:ext cx="1206500" cy="366713"/>
          </a:xfrm>
          <a:prstGeom prst="rect">
            <a:avLst/>
          </a:prstGeom>
          <a:noFill/>
          <a:ln w="9525">
            <a:noFill/>
          </a:ln>
        </p:spPr>
        <p:txBody>
          <a:bodyPr wrap="none">
            <a:spAutoFit/>
          </a:bodyPr>
          <a:p>
            <a:pPr eaLnBrk="1" hangingPunct="1">
              <a:lnSpc>
                <a:spcPct val="90000"/>
              </a:lnSpc>
            </a:pPr>
            <a:r>
              <a:rPr lang="zh-CN" altLang="en-US" sz="2000" dirty="0">
                <a:solidFill>
                  <a:srgbClr val="CC00CC"/>
                </a:solidFill>
                <a:latin typeface="Times New Roman" panose="02020603050405020304" pitchFamily="18" charset="0"/>
              </a:rPr>
              <a:t>模拟信号</a:t>
            </a:r>
            <a:endParaRPr lang="zh-CN" altLang="en-US" sz="2000" dirty="0">
              <a:solidFill>
                <a:srgbClr val="CC00CC"/>
              </a:solidFill>
              <a:latin typeface="Times New Roman" panose="02020603050405020304" pitchFamily="18" charset="0"/>
            </a:endParaRPr>
          </a:p>
        </p:txBody>
      </p:sp>
      <p:sp>
        <p:nvSpPr>
          <p:cNvPr id="2244642" name="Text Box 34"/>
          <p:cNvSpPr txBox="1"/>
          <p:nvPr/>
        </p:nvSpPr>
        <p:spPr>
          <a:xfrm>
            <a:off x="1568450" y="3592513"/>
            <a:ext cx="414338" cy="366712"/>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i</a:t>
            </a:r>
            <a:endParaRPr lang="en-US" altLang="zh-CN" sz="2000" i="1" baseline="-25000" dirty="0">
              <a:solidFill>
                <a:srgbClr val="CC00CC"/>
              </a:solidFill>
              <a:latin typeface="Times New Roman" panose="02020603050405020304" pitchFamily="18" charset="0"/>
            </a:endParaRPr>
          </a:p>
        </p:txBody>
      </p:sp>
      <p:sp>
        <p:nvSpPr>
          <p:cNvPr id="2244643" name="Oval 35"/>
          <p:cNvSpPr/>
          <p:nvPr/>
        </p:nvSpPr>
        <p:spPr>
          <a:xfrm>
            <a:off x="2014538" y="37322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45" name="Rectangle 37"/>
          <p:cNvSpPr/>
          <p:nvPr/>
        </p:nvSpPr>
        <p:spPr>
          <a:xfrm>
            <a:off x="2838450" y="3409950"/>
            <a:ext cx="1273175" cy="728663"/>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46" name="Oval 38"/>
          <p:cNvSpPr/>
          <p:nvPr/>
        </p:nvSpPr>
        <p:spPr>
          <a:xfrm>
            <a:off x="3152775" y="3733800"/>
            <a:ext cx="88900" cy="88900"/>
          </a:xfrm>
          <a:prstGeom prst="ellipse">
            <a:avLst/>
          </a:prstGeom>
          <a:no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47" name="Line 39"/>
          <p:cNvSpPr/>
          <p:nvPr/>
        </p:nvSpPr>
        <p:spPr>
          <a:xfrm>
            <a:off x="2838450" y="3779838"/>
            <a:ext cx="317500" cy="0"/>
          </a:xfrm>
          <a:prstGeom prst="line">
            <a:avLst/>
          </a:prstGeom>
          <a:ln w="12700" cap="flat" cmpd="sng">
            <a:solidFill>
              <a:schemeClr val="accent2"/>
            </a:solidFill>
            <a:prstDash val="solid"/>
            <a:headEnd type="none" w="med" len="med"/>
            <a:tailEnd type="none" w="med" len="med"/>
          </a:ln>
        </p:spPr>
      </p:sp>
      <p:sp>
        <p:nvSpPr>
          <p:cNvPr id="2244648" name="Line 40"/>
          <p:cNvSpPr/>
          <p:nvPr/>
        </p:nvSpPr>
        <p:spPr>
          <a:xfrm flipV="1">
            <a:off x="3235325" y="3541713"/>
            <a:ext cx="438150" cy="200025"/>
          </a:xfrm>
          <a:prstGeom prst="line">
            <a:avLst/>
          </a:prstGeom>
          <a:ln w="19050" cap="flat" cmpd="sng">
            <a:solidFill>
              <a:schemeClr val="accent2"/>
            </a:solidFill>
            <a:prstDash val="solid"/>
            <a:headEnd type="none" w="med" len="med"/>
            <a:tailEnd type="none" w="med" len="med"/>
          </a:ln>
        </p:spPr>
      </p:sp>
      <p:sp>
        <p:nvSpPr>
          <p:cNvPr id="2244649" name="Oval 41"/>
          <p:cNvSpPr/>
          <p:nvPr/>
        </p:nvSpPr>
        <p:spPr>
          <a:xfrm>
            <a:off x="3624263" y="3740150"/>
            <a:ext cx="88900" cy="88900"/>
          </a:xfrm>
          <a:prstGeom prst="ellipse">
            <a:avLst/>
          </a:prstGeom>
          <a:no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50" name="Text Box 42"/>
          <p:cNvSpPr txBox="1"/>
          <p:nvPr/>
        </p:nvSpPr>
        <p:spPr>
          <a:xfrm>
            <a:off x="3355975" y="2965450"/>
            <a:ext cx="387350" cy="420688"/>
          </a:xfrm>
          <a:prstGeom prst="rect">
            <a:avLst/>
          </a:prstGeom>
          <a:noFill/>
          <a:ln w="9525">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K</a:t>
            </a:r>
            <a:endParaRPr lang="en-US" altLang="zh-CN" sz="2400" i="1" dirty="0">
              <a:solidFill>
                <a:srgbClr val="FF0000"/>
              </a:solidFill>
              <a:latin typeface="Times New Roman" panose="02020603050405020304" pitchFamily="18" charset="0"/>
            </a:endParaRPr>
          </a:p>
        </p:txBody>
      </p:sp>
      <p:sp>
        <p:nvSpPr>
          <p:cNvPr id="2244651" name="Text Box 43"/>
          <p:cNvSpPr txBox="1"/>
          <p:nvPr/>
        </p:nvSpPr>
        <p:spPr>
          <a:xfrm>
            <a:off x="1403350" y="4430713"/>
            <a:ext cx="1206500" cy="366712"/>
          </a:xfrm>
          <a:prstGeom prst="rect">
            <a:avLst/>
          </a:prstGeom>
          <a:noFill/>
          <a:ln w="9525">
            <a:noFill/>
          </a:ln>
        </p:spPr>
        <p:txBody>
          <a:bodyPr wrap="none">
            <a:spAutoFit/>
          </a:bodyPr>
          <a:p>
            <a:pPr eaLnBrk="1" hangingPunct="1">
              <a:lnSpc>
                <a:spcPct val="90000"/>
              </a:lnSpc>
            </a:pPr>
            <a:r>
              <a:rPr lang="zh-CN" altLang="en-US" sz="2000" dirty="0">
                <a:solidFill>
                  <a:srgbClr val="CC00CC"/>
                </a:solidFill>
                <a:latin typeface="Times New Roman" panose="02020603050405020304" pitchFamily="18" charset="0"/>
              </a:rPr>
              <a:t>驱动信号</a:t>
            </a:r>
            <a:endParaRPr lang="zh-CN" altLang="en-US" sz="2000" dirty="0">
              <a:solidFill>
                <a:srgbClr val="CC00CC"/>
              </a:solidFill>
              <a:latin typeface="Times New Roman" panose="02020603050405020304" pitchFamily="18" charset="0"/>
            </a:endParaRPr>
          </a:p>
        </p:txBody>
      </p:sp>
      <p:sp>
        <p:nvSpPr>
          <p:cNvPr id="2244652" name="Oval 44"/>
          <p:cNvSpPr/>
          <p:nvPr/>
        </p:nvSpPr>
        <p:spPr>
          <a:xfrm>
            <a:off x="2647950" y="45831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53" name="Line 45"/>
          <p:cNvSpPr/>
          <p:nvPr/>
        </p:nvSpPr>
        <p:spPr>
          <a:xfrm>
            <a:off x="2746375" y="4629150"/>
            <a:ext cx="728663" cy="0"/>
          </a:xfrm>
          <a:prstGeom prst="line">
            <a:avLst/>
          </a:prstGeom>
          <a:ln w="12700" cap="flat" cmpd="sng">
            <a:solidFill>
              <a:schemeClr val="accent2"/>
            </a:solidFill>
            <a:prstDash val="solid"/>
            <a:headEnd type="none" w="med" len="med"/>
            <a:tailEnd type="none" w="med" len="med"/>
          </a:ln>
        </p:spPr>
      </p:sp>
      <p:sp>
        <p:nvSpPr>
          <p:cNvPr id="2244654" name="Line 46"/>
          <p:cNvSpPr/>
          <p:nvPr/>
        </p:nvSpPr>
        <p:spPr>
          <a:xfrm flipV="1">
            <a:off x="3475038" y="4125913"/>
            <a:ext cx="0" cy="503237"/>
          </a:xfrm>
          <a:prstGeom prst="line">
            <a:avLst/>
          </a:prstGeom>
          <a:ln w="12700" cap="flat" cmpd="sng">
            <a:solidFill>
              <a:schemeClr val="accent2"/>
            </a:solidFill>
            <a:prstDash val="solid"/>
            <a:headEnd type="none" w="med" len="med"/>
            <a:tailEnd type="stealth" w="med" len="lg"/>
          </a:ln>
        </p:spPr>
      </p:sp>
      <p:sp>
        <p:nvSpPr>
          <p:cNvPr id="2244655" name="Line 47"/>
          <p:cNvSpPr/>
          <p:nvPr/>
        </p:nvSpPr>
        <p:spPr>
          <a:xfrm flipV="1">
            <a:off x="3475038" y="3660775"/>
            <a:ext cx="0" cy="463550"/>
          </a:xfrm>
          <a:prstGeom prst="line">
            <a:avLst/>
          </a:prstGeom>
          <a:ln w="12700" cap="flat" cmpd="sng">
            <a:solidFill>
              <a:schemeClr val="accent2"/>
            </a:solidFill>
            <a:prstDash val="dash"/>
            <a:headEnd type="none" w="med" len="med"/>
            <a:tailEnd type="none" w="med" len="med"/>
          </a:ln>
        </p:spPr>
      </p:sp>
      <p:sp>
        <p:nvSpPr>
          <p:cNvPr id="2244656" name="Line 48"/>
          <p:cNvSpPr/>
          <p:nvPr/>
        </p:nvSpPr>
        <p:spPr>
          <a:xfrm>
            <a:off x="3713163" y="3779838"/>
            <a:ext cx="2465387" cy="0"/>
          </a:xfrm>
          <a:prstGeom prst="line">
            <a:avLst/>
          </a:prstGeom>
          <a:ln w="12700" cap="flat" cmpd="sng">
            <a:solidFill>
              <a:schemeClr val="accent2"/>
            </a:solidFill>
            <a:prstDash val="solid"/>
            <a:headEnd type="none" w="med" len="med"/>
            <a:tailEnd type="none" w="med" len="med"/>
          </a:ln>
        </p:spPr>
      </p:sp>
      <p:sp>
        <p:nvSpPr>
          <p:cNvPr id="2244657" name="AutoShape 49"/>
          <p:cNvSpPr/>
          <p:nvPr/>
        </p:nvSpPr>
        <p:spPr>
          <a:xfrm rot="5400000">
            <a:off x="6283325" y="3249613"/>
            <a:ext cx="849313" cy="1060450"/>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58" name="Text Box 50"/>
          <p:cNvSpPr txBox="1"/>
          <p:nvPr/>
        </p:nvSpPr>
        <p:spPr>
          <a:xfrm>
            <a:off x="6329363" y="3579813"/>
            <a:ext cx="387350" cy="420687"/>
          </a:xfrm>
          <a:prstGeom prst="rect">
            <a:avLst/>
          </a:prstGeom>
          <a:noFill/>
          <a:ln w="19050">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A</a:t>
            </a:r>
            <a:endParaRPr lang="en-US" altLang="zh-CN" sz="2400" i="1" dirty="0">
              <a:solidFill>
                <a:srgbClr val="FF0000"/>
              </a:solidFill>
              <a:latin typeface="Times New Roman" panose="02020603050405020304" pitchFamily="18" charset="0"/>
            </a:endParaRPr>
          </a:p>
        </p:txBody>
      </p:sp>
      <p:sp>
        <p:nvSpPr>
          <p:cNvPr id="2244659" name="Oval 51"/>
          <p:cNvSpPr/>
          <p:nvPr/>
        </p:nvSpPr>
        <p:spPr>
          <a:xfrm>
            <a:off x="5413375" y="3741738"/>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60" name="Line 52"/>
          <p:cNvSpPr/>
          <p:nvPr/>
        </p:nvSpPr>
        <p:spPr>
          <a:xfrm>
            <a:off x="5462588" y="3779838"/>
            <a:ext cx="0" cy="849312"/>
          </a:xfrm>
          <a:prstGeom prst="line">
            <a:avLst/>
          </a:prstGeom>
          <a:ln w="12700" cap="flat" cmpd="sng">
            <a:solidFill>
              <a:schemeClr val="accent2"/>
            </a:solidFill>
            <a:prstDash val="solid"/>
            <a:headEnd type="none" w="med" len="med"/>
            <a:tailEnd type="none" w="med" len="med"/>
          </a:ln>
        </p:spPr>
      </p:sp>
      <p:sp>
        <p:nvSpPr>
          <p:cNvPr id="2244663" name="Line 55"/>
          <p:cNvSpPr/>
          <p:nvPr/>
        </p:nvSpPr>
        <p:spPr>
          <a:xfrm>
            <a:off x="5462588" y="4708525"/>
            <a:ext cx="0" cy="555625"/>
          </a:xfrm>
          <a:prstGeom prst="line">
            <a:avLst/>
          </a:prstGeom>
          <a:ln w="12700" cap="flat" cmpd="sng">
            <a:solidFill>
              <a:schemeClr val="accent2"/>
            </a:solidFill>
            <a:prstDash val="solid"/>
            <a:headEnd type="none" w="med" len="med"/>
            <a:tailEnd type="none" w="med" len="med"/>
          </a:ln>
        </p:spPr>
      </p:sp>
      <p:sp>
        <p:nvSpPr>
          <p:cNvPr id="2244664" name="AutoShape 56"/>
          <p:cNvSpPr/>
          <p:nvPr/>
        </p:nvSpPr>
        <p:spPr>
          <a:xfrm rot="10800000">
            <a:off x="5251450" y="5265738"/>
            <a:ext cx="449263" cy="223837"/>
          </a:xfrm>
          <a:prstGeom prst="triangle">
            <a:avLst>
              <a:gd name="adj" fmla="val 50000"/>
            </a:avLst>
          </a:prstGeom>
          <a:no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61" name="Line 53"/>
          <p:cNvSpPr/>
          <p:nvPr/>
        </p:nvSpPr>
        <p:spPr>
          <a:xfrm>
            <a:off x="5289550" y="4629150"/>
            <a:ext cx="371475" cy="0"/>
          </a:xfrm>
          <a:prstGeom prst="line">
            <a:avLst/>
          </a:prstGeom>
          <a:ln w="19050" cap="flat" cmpd="sng">
            <a:solidFill>
              <a:srgbClr val="000080"/>
            </a:solidFill>
            <a:prstDash val="solid"/>
            <a:headEnd type="none" w="med" len="med"/>
            <a:tailEnd type="none" w="med" len="med"/>
          </a:ln>
        </p:spPr>
      </p:sp>
      <p:sp>
        <p:nvSpPr>
          <p:cNvPr id="2244662" name="Line 54"/>
          <p:cNvSpPr/>
          <p:nvPr/>
        </p:nvSpPr>
        <p:spPr>
          <a:xfrm>
            <a:off x="5297488" y="4702175"/>
            <a:ext cx="371475" cy="0"/>
          </a:xfrm>
          <a:prstGeom prst="line">
            <a:avLst/>
          </a:prstGeom>
          <a:ln w="19050" cap="flat" cmpd="sng">
            <a:solidFill>
              <a:srgbClr val="000080"/>
            </a:solidFill>
            <a:prstDash val="solid"/>
            <a:headEnd type="none" w="med" len="med"/>
            <a:tailEnd type="none" w="med" len="med"/>
          </a:ln>
        </p:spPr>
      </p:sp>
      <p:sp>
        <p:nvSpPr>
          <p:cNvPr id="2244665" name="Text Box 57"/>
          <p:cNvSpPr txBox="1"/>
          <p:nvPr/>
        </p:nvSpPr>
        <p:spPr>
          <a:xfrm>
            <a:off x="5675313" y="4437063"/>
            <a:ext cx="546100" cy="420687"/>
          </a:xfrm>
          <a:prstGeom prst="rect">
            <a:avLst/>
          </a:prstGeom>
          <a:noFill/>
          <a:ln w="9525">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endParaRPr lang="en-US" altLang="zh-CN" sz="2400" baseline="-25000" dirty="0">
              <a:solidFill>
                <a:srgbClr val="FF0000"/>
              </a:solidFill>
              <a:latin typeface="Times New Roman" panose="02020603050405020304" pitchFamily="18" charset="0"/>
            </a:endParaRPr>
          </a:p>
        </p:txBody>
      </p:sp>
      <p:sp>
        <p:nvSpPr>
          <p:cNvPr id="2244666" name="Text Box 58"/>
          <p:cNvSpPr txBox="1"/>
          <p:nvPr/>
        </p:nvSpPr>
        <p:spPr>
          <a:xfrm>
            <a:off x="5724525" y="5175250"/>
            <a:ext cx="950913" cy="366713"/>
          </a:xfrm>
          <a:prstGeom prst="rect">
            <a:avLst/>
          </a:prstGeom>
          <a:noFill/>
          <a:ln w="9525">
            <a:noFill/>
          </a:ln>
        </p:spPr>
        <p:txBody>
          <a:bodyPr wrap="none">
            <a:spAutoFit/>
          </a:bodyPr>
          <a:p>
            <a:pPr eaLnBrk="1" hangingPunct="1">
              <a:lnSpc>
                <a:spcPct val="90000"/>
              </a:lnSpc>
            </a:pPr>
            <a:r>
              <a:rPr lang="zh-CN" altLang="en-US" sz="2000" dirty="0">
                <a:solidFill>
                  <a:srgbClr val="CC00CC"/>
                </a:solidFill>
                <a:latin typeface="Times New Roman" panose="02020603050405020304" pitchFamily="18" charset="0"/>
              </a:rPr>
              <a:t>模拟地</a:t>
            </a:r>
            <a:endParaRPr lang="zh-CN" altLang="en-US" sz="2000" dirty="0">
              <a:solidFill>
                <a:srgbClr val="CC00CC"/>
              </a:solidFill>
              <a:latin typeface="Times New Roman" panose="02020603050405020304" pitchFamily="18" charset="0"/>
            </a:endParaRPr>
          </a:p>
        </p:txBody>
      </p:sp>
      <p:sp>
        <p:nvSpPr>
          <p:cNvPr id="2244667" name="Line 59"/>
          <p:cNvSpPr/>
          <p:nvPr/>
        </p:nvSpPr>
        <p:spPr>
          <a:xfrm>
            <a:off x="7224713" y="3779838"/>
            <a:ext cx="849312" cy="0"/>
          </a:xfrm>
          <a:prstGeom prst="line">
            <a:avLst/>
          </a:prstGeom>
          <a:ln w="12700" cap="flat" cmpd="sng">
            <a:solidFill>
              <a:schemeClr val="accent2"/>
            </a:solidFill>
            <a:prstDash val="solid"/>
            <a:headEnd type="none" w="med" len="med"/>
            <a:tailEnd type="none" w="med" len="med"/>
          </a:ln>
        </p:spPr>
      </p:sp>
      <p:sp>
        <p:nvSpPr>
          <p:cNvPr id="2244668" name="Oval 60"/>
          <p:cNvSpPr/>
          <p:nvPr/>
        </p:nvSpPr>
        <p:spPr>
          <a:xfrm>
            <a:off x="8069263" y="37353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44669" name="Text Box 61"/>
          <p:cNvSpPr txBox="1"/>
          <p:nvPr/>
        </p:nvSpPr>
        <p:spPr>
          <a:xfrm>
            <a:off x="8207375" y="3589338"/>
            <a:ext cx="496888" cy="366712"/>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baseline="-25000" dirty="0">
                <a:solidFill>
                  <a:srgbClr val="CC00CC"/>
                </a:solidFill>
                <a:latin typeface="Times New Roman" panose="02020603050405020304" pitchFamily="18" charset="0"/>
              </a:rPr>
              <a:t>O</a:t>
            </a:r>
            <a:endParaRPr lang="en-US" altLang="zh-CN" sz="2000" baseline="-25000" dirty="0">
              <a:solidFill>
                <a:srgbClr val="CC00CC"/>
              </a:solidFill>
              <a:latin typeface="Times New Roman" panose="02020603050405020304" pitchFamily="18" charset="0"/>
            </a:endParaRPr>
          </a:p>
        </p:txBody>
      </p:sp>
      <p:sp>
        <p:nvSpPr>
          <p:cNvPr id="2244670" name="Text Box 62"/>
          <p:cNvSpPr txBox="1"/>
          <p:nvPr/>
        </p:nvSpPr>
        <p:spPr>
          <a:xfrm>
            <a:off x="2509838" y="5702300"/>
            <a:ext cx="4276725" cy="420688"/>
          </a:xfrm>
          <a:prstGeom prst="rect">
            <a:avLst/>
          </a:prstGeom>
          <a:noFill/>
          <a:ln w="9525">
            <a:noFill/>
          </a:ln>
        </p:spPr>
        <p:txBody>
          <a:bodyPr>
            <a:spAutoFit/>
          </a:bodyPr>
          <a:p>
            <a:pPr eaLnBrk="1" hangingPunct="1">
              <a:lnSpc>
                <a:spcPct val="90000"/>
              </a:lnSpc>
            </a:pPr>
            <a:r>
              <a:rPr lang="zh-CN" altLang="en-US" sz="2400" dirty="0">
                <a:solidFill>
                  <a:srgbClr val="000099"/>
                </a:solidFill>
                <a:latin typeface="Times New Roman" panose="02020603050405020304" pitchFamily="18" charset="0"/>
              </a:rPr>
              <a:t>采样／保持器的一般结构形式</a:t>
            </a:r>
            <a:endParaRPr lang="zh-CN" altLang="en-US" sz="2400" dirty="0">
              <a:solidFill>
                <a:srgbClr val="000099"/>
              </a:solidFill>
              <a:latin typeface="Times New Roman" panose="02020603050405020304" pitchFamily="18" charset="0"/>
            </a:endParaRPr>
          </a:p>
        </p:txBody>
      </p:sp>
      <p:sp>
        <p:nvSpPr>
          <p:cNvPr id="2244644" name="Line 36"/>
          <p:cNvSpPr/>
          <p:nvPr/>
        </p:nvSpPr>
        <p:spPr>
          <a:xfrm>
            <a:off x="2109788" y="3779838"/>
            <a:ext cx="728662" cy="0"/>
          </a:xfrm>
          <a:prstGeom prst="line">
            <a:avLst/>
          </a:prstGeom>
          <a:ln w="12700" cap="flat" cmpd="sng">
            <a:solidFill>
              <a:schemeClr val="accent2"/>
            </a:solidFill>
            <a:prstDash val="solid"/>
            <a:headEnd type="none" w="med" len="med"/>
            <a:tailEnd type="stealth" w="med" len="lg"/>
          </a:ln>
        </p:spPr>
      </p:sp>
      <p:sp>
        <p:nvSpPr>
          <p:cNvPr id="2244675" name="Text Box 67"/>
          <p:cNvSpPr txBox="1"/>
          <p:nvPr/>
        </p:nvSpPr>
        <p:spPr>
          <a:xfrm>
            <a:off x="962025" y="876300"/>
            <a:ext cx="7315200" cy="860425"/>
          </a:xfrm>
          <a:prstGeom prst="rect">
            <a:avLst/>
          </a:prstGeom>
          <a:solidFill>
            <a:srgbClr val="99CCFF"/>
          </a:solidFill>
          <a:ln w="9525">
            <a:noFill/>
          </a:ln>
        </p:spPr>
        <p:txBody>
          <a:bodyPr>
            <a:spAutoFit/>
          </a:bodyPr>
          <a:p>
            <a:pPr eaLnBrk="1" hangingPunct="1">
              <a:lnSpc>
                <a:spcPct val="90000"/>
              </a:lnSpc>
              <a:spcBef>
                <a:spcPct val="50000"/>
              </a:spcBef>
            </a:pPr>
            <a:r>
              <a:rPr lang="zh-CN" altLang="en-US" sz="2800" dirty="0">
                <a:solidFill>
                  <a:schemeClr val="tx2"/>
                </a:solidFill>
                <a:latin typeface="黑体" panose="02010609060101010101" pitchFamily="49" charset="-122"/>
                <a:ea typeface="黑体" panose="02010609060101010101" pitchFamily="49" charset="-122"/>
              </a:rPr>
              <a:t>采样</a:t>
            </a:r>
            <a:r>
              <a:rPr lang="en-US" altLang="zh-CN" sz="2800" dirty="0">
                <a:solidFill>
                  <a:schemeClr val="tx2"/>
                </a:solidFill>
                <a:latin typeface="黑体" panose="02010609060101010101" pitchFamily="49" charset="-122"/>
                <a:ea typeface="黑体" panose="02010609060101010101" pitchFamily="49" charset="-122"/>
              </a:rPr>
              <a:t>/</a:t>
            </a:r>
            <a:r>
              <a:rPr lang="zh-CN" altLang="en-US" sz="2800" dirty="0">
                <a:solidFill>
                  <a:schemeClr val="tx2"/>
                </a:solidFill>
                <a:latin typeface="黑体" panose="02010609060101010101" pitchFamily="49" charset="-122"/>
                <a:ea typeface="黑体" panose="02010609060101010101" pitchFamily="49" charset="-122"/>
              </a:rPr>
              <a:t>保持器是一种具有信号输入、信号输出以及由外部指令控制的模拟门电路。</a:t>
            </a:r>
            <a:endParaRPr lang="zh-CN" altLang="en-US" sz="2800" dirty="0">
              <a:solidFill>
                <a:schemeClr val="tx2"/>
              </a:solidFill>
              <a:latin typeface="黑体" panose="02010609060101010101" pitchFamily="49" charset="-122"/>
              <a:ea typeface="黑体" panose="02010609060101010101" pitchFamily="49" charset="-122"/>
            </a:endParaRPr>
          </a:p>
        </p:txBody>
      </p:sp>
      <p:sp>
        <p:nvSpPr>
          <p:cNvPr id="2244676" name="Text Box 68"/>
          <p:cNvSpPr txBox="1"/>
          <p:nvPr/>
        </p:nvSpPr>
        <p:spPr>
          <a:xfrm>
            <a:off x="1085850" y="1971675"/>
            <a:ext cx="7086600" cy="4857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组成</a:t>
            </a:r>
            <a:r>
              <a:rPr lang="zh-CN" altLang="en-US" sz="2800" dirty="0">
                <a:latin typeface="Times New Roman" panose="02020603050405020304" pitchFamily="18" charset="0"/>
              </a:rPr>
              <a:t>：模拟开关</a:t>
            </a:r>
            <a:r>
              <a:rPr lang="en-US" altLang="zh-CN" sz="2800" dirty="0">
                <a:solidFill>
                  <a:srgbClr val="FF0000"/>
                </a:solidFill>
                <a:latin typeface="Times New Roman" panose="02020603050405020304" pitchFamily="18" charset="0"/>
              </a:rPr>
              <a:t>K</a:t>
            </a:r>
            <a:r>
              <a:rPr lang="zh-CN" altLang="en-US" sz="2800" dirty="0">
                <a:latin typeface="Times New Roman" panose="02020603050405020304" pitchFamily="18" charset="0"/>
              </a:rPr>
              <a:t>、电容</a:t>
            </a:r>
            <a:r>
              <a:rPr lang="en-US" altLang="zh-CN" sz="2800" i="1" dirty="0">
                <a:solidFill>
                  <a:srgbClr val="FF0000"/>
                </a:solidFill>
                <a:latin typeface="Times New Roman" panose="02020603050405020304" pitchFamily="18" charset="0"/>
              </a:rPr>
              <a:t>C</a:t>
            </a:r>
            <a:r>
              <a:rPr lang="en-US" altLang="zh-CN" sz="2800" baseline="-25000" dirty="0">
                <a:solidFill>
                  <a:srgbClr val="FF0000"/>
                </a:solidFill>
                <a:latin typeface="Times New Roman" panose="02020603050405020304" pitchFamily="18" charset="0"/>
              </a:rPr>
              <a:t>H</a:t>
            </a:r>
            <a:r>
              <a:rPr lang="zh-CN" altLang="en-US" sz="2800" dirty="0">
                <a:latin typeface="Times New Roman" panose="02020603050405020304" pitchFamily="18" charset="0"/>
              </a:rPr>
              <a:t>和缓冲放大器</a:t>
            </a:r>
            <a:r>
              <a:rPr lang="en-US" altLang="zh-CN" sz="2800" dirty="0">
                <a:solidFill>
                  <a:srgbClr val="FF0000"/>
                </a:solidFill>
                <a:latin typeface="Times New Roman" panose="02020603050405020304" pitchFamily="18" charset="0"/>
              </a:rPr>
              <a:t>A</a:t>
            </a:r>
            <a:r>
              <a:rPr lang="zh-CN" altLang="en-US" sz="2800" dirty="0">
                <a:solidFill>
                  <a:schemeClr val="accent2"/>
                </a:solidFill>
                <a:latin typeface="Times New Roman" panose="02020603050405020304" pitchFamily="18" charset="0"/>
              </a:rPr>
              <a:t>。</a:t>
            </a:r>
            <a:endParaRPr lang="zh-CN" altLang="en-US" sz="2800" dirty="0">
              <a:solidFill>
                <a:schemeClr val="accent2"/>
              </a:solidFill>
              <a:latin typeface="Times New Roman" panose="02020603050405020304" pitchFamily="18" charset="0"/>
            </a:endParaRPr>
          </a:p>
        </p:txBody>
      </p:sp>
      <p:sp>
        <p:nvSpPr>
          <p:cNvPr id="2244678" name="Text Box 70"/>
          <p:cNvSpPr txBox="1"/>
          <p:nvPr/>
        </p:nvSpPr>
        <p:spPr>
          <a:xfrm>
            <a:off x="5194300" y="3357563"/>
            <a:ext cx="487363" cy="366712"/>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baseline="-25000" dirty="0">
                <a:solidFill>
                  <a:srgbClr val="CC00CC"/>
                </a:solidFill>
                <a:latin typeface="Times New Roman" panose="02020603050405020304" pitchFamily="18" charset="0"/>
              </a:rPr>
              <a:t>C</a:t>
            </a:r>
            <a:endParaRPr lang="en-US" altLang="zh-CN" sz="2000" baseline="-25000" dirty="0">
              <a:solidFill>
                <a:srgbClr val="CC00CC"/>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4675"/>
                                        </p:tgtEl>
                                        <p:attrNameLst>
                                          <p:attrName>style.visibility</p:attrName>
                                        </p:attrNameLst>
                                      </p:cBhvr>
                                      <p:to>
                                        <p:strVal val="visible"/>
                                      </p:to>
                                    </p:set>
                                    <p:animEffect transition="in" filter="dissolve">
                                      <p:cBhvr>
                                        <p:cTn id="7" dur="500"/>
                                        <p:tgtEl>
                                          <p:spTgt spid="224467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4676"/>
                                        </p:tgtEl>
                                        <p:attrNameLst>
                                          <p:attrName>style.visibility</p:attrName>
                                        </p:attrNameLst>
                                      </p:cBhvr>
                                      <p:to>
                                        <p:strVal val="visible"/>
                                      </p:to>
                                    </p:set>
                                    <p:animEffect transition="in" filter="dissolve">
                                      <p:cBhvr>
                                        <p:cTn id="12" dur="500"/>
                                        <p:tgtEl>
                                          <p:spTgt spid="224467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4677"/>
                                        </p:tgtEl>
                                        <p:attrNameLst>
                                          <p:attrName>style.visibility</p:attrName>
                                        </p:attrNameLst>
                                      </p:cBhvr>
                                      <p:to>
                                        <p:strVal val="visible"/>
                                      </p:to>
                                    </p:set>
                                    <p:animEffect transition="in" filter="dissolve">
                                      <p:cBhvr>
                                        <p:cTn id="17" dur="500"/>
                                        <p:tgtEl>
                                          <p:spTgt spid="2244677"/>
                                        </p:tgtEl>
                                      </p:cBhvr>
                                    </p:animEffect>
                                  </p:childTnLst>
                                </p:cTn>
                              </p:par>
                              <p:par>
                                <p:cTn id="18" presetID="9" presetClass="entr" presetSubtype="0" fill="hold" nodeType="withEffect">
                                  <p:stCondLst>
                                    <p:cond delay="0"/>
                                  </p:stCondLst>
                                  <p:childTnLst>
                                    <p:set>
                                      <p:cBhvr>
                                        <p:cTn id="19" dur="1" fill="hold">
                                          <p:stCondLst>
                                            <p:cond delay="0"/>
                                          </p:stCondLst>
                                        </p:cTn>
                                        <p:tgtEl>
                                          <p:spTgt spid="2244641"/>
                                        </p:tgtEl>
                                        <p:attrNameLst>
                                          <p:attrName>style.visibility</p:attrName>
                                        </p:attrNameLst>
                                      </p:cBhvr>
                                      <p:to>
                                        <p:strVal val="visible"/>
                                      </p:to>
                                    </p:set>
                                    <p:animEffect transition="in" filter="dissolve">
                                      <p:cBhvr>
                                        <p:cTn id="20" dur="500"/>
                                        <p:tgtEl>
                                          <p:spTgt spid="2244641"/>
                                        </p:tgtEl>
                                      </p:cBhvr>
                                    </p:animEffect>
                                  </p:childTnLst>
                                </p:cTn>
                              </p:par>
                              <p:par>
                                <p:cTn id="21" presetID="9" presetClass="entr" presetSubtype="0" fill="hold" nodeType="withEffect">
                                  <p:stCondLst>
                                    <p:cond delay="0"/>
                                  </p:stCondLst>
                                  <p:childTnLst>
                                    <p:set>
                                      <p:cBhvr>
                                        <p:cTn id="22" dur="1" fill="hold">
                                          <p:stCondLst>
                                            <p:cond delay="0"/>
                                          </p:stCondLst>
                                        </p:cTn>
                                        <p:tgtEl>
                                          <p:spTgt spid="2244642"/>
                                        </p:tgtEl>
                                        <p:attrNameLst>
                                          <p:attrName>style.visibility</p:attrName>
                                        </p:attrNameLst>
                                      </p:cBhvr>
                                      <p:to>
                                        <p:strVal val="visible"/>
                                      </p:to>
                                    </p:set>
                                    <p:animEffect transition="in" filter="dissolve">
                                      <p:cBhvr>
                                        <p:cTn id="23" dur="500"/>
                                        <p:tgtEl>
                                          <p:spTgt spid="2244642"/>
                                        </p:tgtEl>
                                      </p:cBhvr>
                                    </p:animEffect>
                                  </p:childTnLst>
                                </p:cTn>
                              </p:par>
                              <p:par>
                                <p:cTn id="24" presetID="9" presetClass="entr" presetSubtype="0" fill="hold" nodeType="withEffect">
                                  <p:stCondLst>
                                    <p:cond delay="0"/>
                                  </p:stCondLst>
                                  <p:childTnLst>
                                    <p:set>
                                      <p:cBhvr>
                                        <p:cTn id="25" dur="1" fill="hold">
                                          <p:stCondLst>
                                            <p:cond delay="0"/>
                                          </p:stCondLst>
                                        </p:cTn>
                                        <p:tgtEl>
                                          <p:spTgt spid="2244643"/>
                                        </p:tgtEl>
                                        <p:attrNameLst>
                                          <p:attrName>style.visibility</p:attrName>
                                        </p:attrNameLst>
                                      </p:cBhvr>
                                      <p:to>
                                        <p:strVal val="visible"/>
                                      </p:to>
                                    </p:set>
                                    <p:animEffect transition="in" filter="dissolve">
                                      <p:cBhvr>
                                        <p:cTn id="26" dur="500"/>
                                        <p:tgtEl>
                                          <p:spTgt spid="2244643"/>
                                        </p:tgtEl>
                                      </p:cBhvr>
                                    </p:animEffect>
                                  </p:childTnLst>
                                </p:cTn>
                              </p:par>
                              <p:par>
                                <p:cTn id="27" presetID="9" presetClass="entr" presetSubtype="0" fill="hold" nodeType="withEffect">
                                  <p:stCondLst>
                                    <p:cond delay="0"/>
                                  </p:stCondLst>
                                  <p:childTnLst>
                                    <p:set>
                                      <p:cBhvr>
                                        <p:cTn id="28" dur="1" fill="hold">
                                          <p:stCondLst>
                                            <p:cond delay="0"/>
                                          </p:stCondLst>
                                        </p:cTn>
                                        <p:tgtEl>
                                          <p:spTgt spid="2244645"/>
                                        </p:tgtEl>
                                        <p:attrNameLst>
                                          <p:attrName>style.visibility</p:attrName>
                                        </p:attrNameLst>
                                      </p:cBhvr>
                                      <p:to>
                                        <p:strVal val="visible"/>
                                      </p:to>
                                    </p:set>
                                    <p:animEffect transition="in" filter="dissolve">
                                      <p:cBhvr>
                                        <p:cTn id="29" dur="500"/>
                                        <p:tgtEl>
                                          <p:spTgt spid="2244645"/>
                                        </p:tgtEl>
                                      </p:cBhvr>
                                    </p:animEffect>
                                  </p:childTnLst>
                                </p:cTn>
                              </p:par>
                              <p:par>
                                <p:cTn id="30" presetID="9" presetClass="entr" presetSubtype="0" fill="hold" nodeType="withEffect">
                                  <p:stCondLst>
                                    <p:cond delay="0"/>
                                  </p:stCondLst>
                                  <p:childTnLst>
                                    <p:set>
                                      <p:cBhvr>
                                        <p:cTn id="31" dur="1" fill="hold">
                                          <p:stCondLst>
                                            <p:cond delay="0"/>
                                          </p:stCondLst>
                                        </p:cTn>
                                        <p:tgtEl>
                                          <p:spTgt spid="2244646"/>
                                        </p:tgtEl>
                                        <p:attrNameLst>
                                          <p:attrName>style.visibility</p:attrName>
                                        </p:attrNameLst>
                                      </p:cBhvr>
                                      <p:to>
                                        <p:strVal val="visible"/>
                                      </p:to>
                                    </p:set>
                                    <p:animEffect transition="in" filter="dissolve">
                                      <p:cBhvr>
                                        <p:cTn id="32" dur="500"/>
                                        <p:tgtEl>
                                          <p:spTgt spid="2244646"/>
                                        </p:tgtEl>
                                      </p:cBhvr>
                                    </p:animEffect>
                                  </p:childTnLst>
                                </p:cTn>
                              </p:par>
                              <p:par>
                                <p:cTn id="33" presetID="9" presetClass="entr" presetSubtype="0" fill="hold" nodeType="withEffect">
                                  <p:stCondLst>
                                    <p:cond delay="0"/>
                                  </p:stCondLst>
                                  <p:childTnLst>
                                    <p:set>
                                      <p:cBhvr>
                                        <p:cTn id="34" dur="1" fill="hold">
                                          <p:stCondLst>
                                            <p:cond delay="0"/>
                                          </p:stCondLst>
                                        </p:cTn>
                                        <p:tgtEl>
                                          <p:spTgt spid="2244647"/>
                                        </p:tgtEl>
                                        <p:attrNameLst>
                                          <p:attrName>style.visibility</p:attrName>
                                        </p:attrNameLst>
                                      </p:cBhvr>
                                      <p:to>
                                        <p:strVal val="visible"/>
                                      </p:to>
                                    </p:set>
                                    <p:animEffect transition="in" filter="dissolve">
                                      <p:cBhvr>
                                        <p:cTn id="35" dur="500"/>
                                        <p:tgtEl>
                                          <p:spTgt spid="2244647"/>
                                        </p:tgtEl>
                                      </p:cBhvr>
                                    </p:animEffect>
                                  </p:childTnLst>
                                </p:cTn>
                              </p:par>
                              <p:par>
                                <p:cTn id="36" presetID="9" presetClass="entr" presetSubtype="0" fill="hold" nodeType="withEffect">
                                  <p:stCondLst>
                                    <p:cond delay="0"/>
                                  </p:stCondLst>
                                  <p:childTnLst>
                                    <p:set>
                                      <p:cBhvr>
                                        <p:cTn id="37" dur="1" fill="hold">
                                          <p:stCondLst>
                                            <p:cond delay="0"/>
                                          </p:stCondLst>
                                        </p:cTn>
                                        <p:tgtEl>
                                          <p:spTgt spid="2244648"/>
                                        </p:tgtEl>
                                        <p:attrNameLst>
                                          <p:attrName>style.visibility</p:attrName>
                                        </p:attrNameLst>
                                      </p:cBhvr>
                                      <p:to>
                                        <p:strVal val="visible"/>
                                      </p:to>
                                    </p:set>
                                    <p:animEffect transition="in" filter="dissolve">
                                      <p:cBhvr>
                                        <p:cTn id="38" dur="500"/>
                                        <p:tgtEl>
                                          <p:spTgt spid="2244648"/>
                                        </p:tgtEl>
                                      </p:cBhvr>
                                    </p:animEffect>
                                  </p:childTnLst>
                                </p:cTn>
                              </p:par>
                              <p:par>
                                <p:cTn id="39" presetID="9" presetClass="entr" presetSubtype="0" fill="hold" nodeType="withEffect">
                                  <p:stCondLst>
                                    <p:cond delay="0"/>
                                  </p:stCondLst>
                                  <p:childTnLst>
                                    <p:set>
                                      <p:cBhvr>
                                        <p:cTn id="40" dur="1" fill="hold">
                                          <p:stCondLst>
                                            <p:cond delay="0"/>
                                          </p:stCondLst>
                                        </p:cTn>
                                        <p:tgtEl>
                                          <p:spTgt spid="2244649"/>
                                        </p:tgtEl>
                                        <p:attrNameLst>
                                          <p:attrName>style.visibility</p:attrName>
                                        </p:attrNameLst>
                                      </p:cBhvr>
                                      <p:to>
                                        <p:strVal val="visible"/>
                                      </p:to>
                                    </p:set>
                                    <p:animEffect transition="in" filter="dissolve">
                                      <p:cBhvr>
                                        <p:cTn id="41" dur="500"/>
                                        <p:tgtEl>
                                          <p:spTgt spid="2244649"/>
                                        </p:tgtEl>
                                      </p:cBhvr>
                                    </p:animEffect>
                                  </p:childTnLst>
                                </p:cTn>
                              </p:par>
                              <p:par>
                                <p:cTn id="42" presetID="9" presetClass="entr" presetSubtype="0" fill="hold" nodeType="withEffect">
                                  <p:stCondLst>
                                    <p:cond delay="0"/>
                                  </p:stCondLst>
                                  <p:childTnLst>
                                    <p:set>
                                      <p:cBhvr>
                                        <p:cTn id="43" dur="1" fill="hold">
                                          <p:stCondLst>
                                            <p:cond delay="0"/>
                                          </p:stCondLst>
                                        </p:cTn>
                                        <p:tgtEl>
                                          <p:spTgt spid="2244650"/>
                                        </p:tgtEl>
                                        <p:attrNameLst>
                                          <p:attrName>style.visibility</p:attrName>
                                        </p:attrNameLst>
                                      </p:cBhvr>
                                      <p:to>
                                        <p:strVal val="visible"/>
                                      </p:to>
                                    </p:set>
                                    <p:animEffect transition="in" filter="dissolve">
                                      <p:cBhvr>
                                        <p:cTn id="44" dur="500"/>
                                        <p:tgtEl>
                                          <p:spTgt spid="2244650"/>
                                        </p:tgtEl>
                                      </p:cBhvr>
                                    </p:animEffect>
                                  </p:childTnLst>
                                </p:cTn>
                              </p:par>
                              <p:par>
                                <p:cTn id="45" presetID="9" presetClass="entr" presetSubtype="0" fill="hold" nodeType="withEffect">
                                  <p:stCondLst>
                                    <p:cond delay="0"/>
                                  </p:stCondLst>
                                  <p:childTnLst>
                                    <p:set>
                                      <p:cBhvr>
                                        <p:cTn id="46" dur="1" fill="hold">
                                          <p:stCondLst>
                                            <p:cond delay="0"/>
                                          </p:stCondLst>
                                        </p:cTn>
                                        <p:tgtEl>
                                          <p:spTgt spid="2244651"/>
                                        </p:tgtEl>
                                        <p:attrNameLst>
                                          <p:attrName>style.visibility</p:attrName>
                                        </p:attrNameLst>
                                      </p:cBhvr>
                                      <p:to>
                                        <p:strVal val="visible"/>
                                      </p:to>
                                    </p:set>
                                    <p:animEffect transition="in" filter="dissolve">
                                      <p:cBhvr>
                                        <p:cTn id="47" dur="500"/>
                                        <p:tgtEl>
                                          <p:spTgt spid="2244651"/>
                                        </p:tgtEl>
                                      </p:cBhvr>
                                    </p:animEffect>
                                  </p:childTnLst>
                                </p:cTn>
                              </p:par>
                              <p:par>
                                <p:cTn id="48" presetID="9" presetClass="entr" presetSubtype="0" fill="hold" nodeType="withEffect">
                                  <p:stCondLst>
                                    <p:cond delay="0"/>
                                  </p:stCondLst>
                                  <p:childTnLst>
                                    <p:set>
                                      <p:cBhvr>
                                        <p:cTn id="49" dur="1" fill="hold">
                                          <p:stCondLst>
                                            <p:cond delay="0"/>
                                          </p:stCondLst>
                                        </p:cTn>
                                        <p:tgtEl>
                                          <p:spTgt spid="2244652"/>
                                        </p:tgtEl>
                                        <p:attrNameLst>
                                          <p:attrName>style.visibility</p:attrName>
                                        </p:attrNameLst>
                                      </p:cBhvr>
                                      <p:to>
                                        <p:strVal val="visible"/>
                                      </p:to>
                                    </p:set>
                                    <p:animEffect transition="in" filter="dissolve">
                                      <p:cBhvr>
                                        <p:cTn id="50" dur="500"/>
                                        <p:tgtEl>
                                          <p:spTgt spid="2244652"/>
                                        </p:tgtEl>
                                      </p:cBhvr>
                                    </p:animEffect>
                                  </p:childTnLst>
                                </p:cTn>
                              </p:par>
                              <p:par>
                                <p:cTn id="51" presetID="9" presetClass="entr" presetSubtype="0" fill="hold" nodeType="withEffect">
                                  <p:stCondLst>
                                    <p:cond delay="0"/>
                                  </p:stCondLst>
                                  <p:childTnLst>
                                    <p:set>
                                      <p:cBhvr>
                                        <p:cTn id="52" dur="1" fill="hold">
                                          <p:stCondLst>
                                            <p:cond delay="0"/>
                                          </p:stCondLst>
                                        </p:cTn>
                                        <p:tgtEl>
                                          <p:spTgt spid="2244653"/>
                                        </p:tgtEl>
                                        <p:attrNameLst>
                                          <p:attrName>style.visibility</p:attrName>
                                        </p:attrNameLst>
                                      </p:cBhvr>
                                      <p:to>
                                        <p:strVal val="visible"/>
                                      </p:to>
                                    </p:set>
                                    <p:animEffect transition="in" filter="dissolve">
                                      <p:cBhvr>
                                        <p:cTn id="53" dur="500"/>
                                        <p:tgtEl>
                                          <p:spTgt spid="2244653"/>
                                        </p:tgtEl>
                                      </p:cBhvr>
                                    </p:animEffect>
                                  </p:childTnLst>
                                </p:cTn>
                              </p:par>
                              <p:par>
                                <p:cTn id="54" presetID="9" presetClass="entr" presetSubtype="0" fill="hold" nodeType="withEffect">
                                  <p:stCondLst>
                                    <p:cond delay="0"/>
                                  </p:stCondLst>
                                  <p:childTnLst>
                                    <p:set>
                                      <p:cBhvr>
                                        <p:cTn id="55" dur="1" fill="hold">
                                          <p:stCondLst>
                                            <p:cond delay="0"/>
                                          </p:stCondLst>
                                        </p:cTn>
                                        <p:tgtEl>
                                          <p:spTgt spid="2244654"/>
                                        </p:tgtEl>
                                        <p:attrNameLst>
                                          <p:attrName>style.visibility</p:attrName>
                                        </p:attrNameLst>
                                      </p:cBhvr>
                                      <p:to>
                                        <p:strVal val="visible"/>
                                      </p:to>
                                    </p:set>
                                    <p:animEffect transition="in" filter="dissolve">
                                      <p:cBhvr>
                                        <p:cTn id="56" dur="500"/>
                                        <p:tgtEl>
                                          <p:spTgt spid="2244654"/>
                                        </p:tgtEl>
                                      </p:cBhvr>
                                    </p:animEffect>
                                  </p:childTnLst>
                                </p:cTn>
                              </p:par>
                              <p:par>
                                <p:cTn id="57" presetID="9" presetClass="entr" presetSubtype="0" fill="hold" nodeType="withEffect">
                                  <p:stCondLst>
                                    <p:cond delay="0"/>
                                  </p:stCondLst>
                                  <p:childTnLst>
                                    <p:set>
                                      <p:cBhvr>
                                        <p:cTn id="58" dur="1" fill="hold">
                                          <p:stCondLst>
                                            <p:cond delay="0"/>
                                          </p:stCondLst>
                                        </p:cTn>
                                        <p:tgtEl>
                                          <p:spTgt spid="2244655"/>
                                        </p:tgtEl>
                                        <p:attrNameLst>
                                          <p:attrName>style.visibility</p:attrName>
                                        </p:attrNameLst>
                                      </p:cBhvr>
                                      <p:to>
                                        <p:strVal val="visible"/>
                                      </p:to>
                                    </p:set>
                                    <p:animEffect transition="in" filter="dissolve">
                                      <p:cBhvr>
                                        <p:cTn id="59" dur="500"/>
                                        <p:tgtEl>
                                          <p:spTgt spid="2244655"/>
                                        </p:tgtEl>
                                      </p:cBhvr>
                                    </p:animEffect>
                                  </p:childTnLst>
                                </p:cTn>
                              </p:par>
                              <p:par>
                                <p:cTn id="60" presetID="9" presetClass="entr" presetSubtype="0" fill="hold" nodeType="withEffect">
                                  <p:stCondLst>
                                    <p:cond delay="0"/>
                                  </p:stCondLst>
                                  <p:childTnLst>
                                    <p:set>
                                      <p:cBhvr>
                                        <p:cTn id="61" dur="1" fill="hold">
                                          <p:stCondLst>
                                            <p:cond delay="0"/>
                                          </p:stCondLst>
                                        </p:cTn>
                                        <p:tgtEl>
                                          <p:spTgt spid="2244656"/>
                                        </p:tgtEl>
                                        <p:attrNameLst>
                                          <p:attrName>style.visibility</p:attrName>
                                        </p:attrNameLst>
                                      </p:cBhvr>
                                      <p:to>
                                        <p:strVal val="visible"/>
                                      </p:to>
                                    </p:set>
                                    <p:animEffect transition="in" filter="dissolve">
                                      <p:cBhvr>
                                        <p:cTn id="62" dur="500"/>
                                        <p:tgtEl>
                                          <p:spTgt spid="2244656"/>
                                        </p:tgtEl>
                                      </p:cBhvr>
                                    </p:animEffect>
                                  </p:childTnLst>
                                </p:cTn>
                              </p:par>
                              <p:par>
                                <p:cTn id="63" presetID="9" presetClass="entr" presetSubtype="0" fill="hold" nodeType="withEffect">
                                  <p:stCondLst>
                                    <p:cond delay="0"/>
                                  </p:stCondLst>
                                  <p:childTnLst>
                                    <p:set>
                                      <p:cBhvr>
                                        <p:cTn id="64" dur="1" fill="hold">
                                          <p:stCondLst>
                                            <p:cond delay="0"/>
                                          </p:stCondLst>
                                        </p:cTn>
                                        <p:tgtEl>
                                          <p:spTgt spid="2244657"/>
                                        </p:tgtEl>
                                        <p:attrNameLst>
                                          <p:attrName>style.visibility</p:attrName>
                                        </p:attrNameLst>
                                      </p:cBhvr>
                                      <p:to>
                                        <p:strVal val="visible"/>
                                      </p:to>
                                    </p:set>
                                    <p:animEffect transition="in" filter="dissolve">
                                      <p:cBhvr>
                                        <p:cTn id="65" dur="500"/>
                                        <p:tgtEl>
                                          <p:spTgt spid="2244657"/>
                                        </p:tgtEl>
                                      </p:cBhvr>
                                    </p:animEffect>
                                  </p:childTnLst>
                                </p:cTn>
                              </p:par>
                              <p:par>
                                <p:cTn id="66" presetID="9" presetClass="entr" presetSubtype="0" fill="hold" nodeType="withEffect">
                                  <p:stCondLst>
                                    <p:cond delay="0"/>
                                  </p:stCondLst>
                                  <p:childTnLst>
                                    <p:set>
                                      <p:cBhvr>
                                        <p:cTn id="67" dur="1" fill="hold">
                                          <p:stCondLst>
                                            <p:cond delay="0"/>
                                          </p:stCondLst>
                                        </p:cTn>
                                        <p:tgtEl>
                                          <p:spTgt spid="2244658"/>
                                        </p:tgtEl>
                                        <p:attrNameLst>
                                          <p:attrName>style.visibility</p:attrName>
                                        </p:attrNameLst>
                                      </p:cBhvr>
                                      <p:to>
                                        <p:strVal val="visible"/>
                                      </p:to>
                                    </p:set>
                                    <p:animEffect transition="in" filter="dissolve">
                                      <p:cBhvr>
                                        <p:cTn id="68" dur="500"/>
                                        <p:tgtEl>
                                          <p:spTgt spid="2244658"/>
                                        </p:tgtEl>
                                      </p:cBhvr>
                                    </p:animEffect>
                                  </p:childTnLst>
                                </p:cTn>
                              </p:par>
                              <p:par>
                                <p:cTn id="69" presetID="9" presetClass="entr" presetSubtype="0" fill="hold" nodeType="withEffect">
                                  <p:stCondLst>
                                    <p:cond delay="0"/>
                                  </p:stCondLst>
                                  <p:childTnLst>
                                    <p:set>
                                      <p:cBhvr>
                                        <p:cTn id="70" dur="1" fill="hold">
                                          <p:stCondLst>
                                            <p:cond delay="0"/>
                                          </p:stCondLst>
                                        </p:cTn>
                                        <p:tgtEl>
                                          <p:spTgt spid="2244659"/>
                                        </p:tgtEl>
                                        <p:attrNameLst>
                                          <p:attrName>style.visibility</p:attrName>
                                        </p:attrNameLst>
                                      </p:cBhvr>
                                      <p:to>
                                        <p:strVal val="visible"/>
                                      </p:to>
                                    </p:set>
                                    <p:animEffect transition="in" filter="dissolve">
                                      <p:cBhvr>
                                        <p:cTn id="71" dur="500"/>
                                        <p:tgtEl>
                                          <p:spTgt spid="2244659"/>
                                        </p:tgtEl>
                                      </p:cBhvr>
                                    </p:animEffect>
                                  </p:childTnLst>
                                </p:cTn>
                              </p:par>
                              <p:par>
                                <p:cTn id="72" presetID="9" presetClass="entr" presetSubtype="0" fill="hold" nodeType="withEffect">
                                  <p:stCondLst>
                                    <p:cond delay="0"/>
                                  </p:stCondLst>
                                  <p:childTnLst>
                                    <p:set>
                                      <p:cBhvr>
                                        <p:cTn id="73" dur="1" fill="hold">
                                          <p:stCondLst>
                                            <p:cond delay="0"/>
                                          </p:stCondLst>
                                        </p:cTn>
                                        <p:tgtEl>
                                          <p:spTgt spid="2244660"/>
                                        </p:tgtEl>
                                        <p:attrNameLst>
                                          <p:attrName>style.visibility</p:attrName>
                                        </p:attrNameLst>
                                      </p:cBhvr>
                                      <p:to>
                                        <p:strVal val="visible"/>
                                      </p:to>
                                    </p:set>
                                    <p:animEffect transition="in" filter="dissolve">
                                      <p:cBhvr>
                                        <p:cTn id="74" dur="500"/>
                                        <p:tgtEl>
                                          <p:spTgt spid="2244660"/>
                                        </p:tgtEl>
                                      </p:cBhvr>
                                    </p:animEffect>
                                  </p:childTnLst>
                                </p:cTn>
                              </p:par>
                              <p:par>
                                <p:cTn id="75" presetID="9" presetClass="entr" presetSubtype="0" fill="hold" nodeType="withEffect">
                                  <p:stCondLst>
                                    <p:cond delay="0"/>
                                  </p:stCondLst>
                                  <p:childTnLst>
                                    <p:set>
                                      <p:cBhvr>
                                        <p:cTn id="76" dur="1" fill="hold">
                                          <p:stCondLst>
                                            <p:cond delay="0"/>
                                          </p:stCondLst>
                                        </p:cTn>
                                        <p:tgtEl>
                                          <p:spTgt spid="2244663"/>
                                        </p:tgtEl>
                                        <p:attrNameLst>
                                          <p:attrName>style.visibility</p:attrName>
                                        </p:attrNameLst>
                                      </p:cBhvr>
                                      <p:to>
                                        <p:strVal val="visible"/>
                                      </p:to>
                                    </p:set>
                                    <p:animEffect transition="in" filter="dissolve">
                                      <p:cBhvr>
                                        <p:cTn id="77" dur="500"/>
                                        <p:tgtEl>
                                          <p:spTgt spid="2244663"/>
                                        </p:tgtEl>
                                      </p:cBhvr>
                                    </p:animEffect>
                                  </p:childTnLst>
                                </p:cTn>
                              </p:par>
                              <p:par>
                                <p:cTn id="78" presetID="9" presetClass="entr" presetSubtype="0" fill="hold" nodeType="withEffect">
                                  <p:stCondLst>
                                    <p:cond delay="0"/>
                                  </p:stCondLst>
                                  <p:childTnLst>
                                    <p:set>
                                      <p:cBhvr>
                                        <p:cTn id="79" dur="1" fill="hold">
                                          <p:stCondLst>
                                            <p:cond delay="0"/>
                                          </p:stCondLst>
                                        </p:cTn>
                                        <p:tgtEl>
                                          <p:spTgt spid="2244664"/>
                                        </p:tgtEl>
                                        <p:attrNameLst>
                                          <p:attrName>style.visibility</p:attrName>
                                        </p:attrNameLst>
                                      </p:cBhvr>
                                      <p:to>
                                        <p:strVal val="visible"/>
                                      </p:to>
                                    </p:set>
                                    <p:animEffect transition="in" filter="dissolve">
                                      <p:cBhvr>
                                        <p:cTn id="80" dur="500"/>
                                        <p:tgtEl>
                                          <p:spTgt spid="2244664"/>
                                        </p:tgtEl>
                                      </p:cBhvr>
                                    </p:animEffect>
                                  </p:childTnLst>
                                </p:cTn>
                              </p:par>
                              <p:par>
                                <p:cTn id="81" presetID="9" presetClass="entr" presetSubtype="0" fill="hold" nodeType="withEffect">
                                  <p:stCondLst>
                                    <p:cond delay="0"/>
                                  </p:stCondLst>
                                  <p:childTnLst>
                                    <p:set>
                                      <p:cBhvr>
                                        <p:cTn id="82" dur="1" fill="hold">
                                          <p:stCondLst>
                                            <p:cond delay="0"/>
                                          </p:stCondLst>
                                        </p:cTn>
                                        <p:tgtEl>
                                          <p:spTgt spid="2244661"/>
                                        </p:tgtEl>
                                        <p:attrNameLst>
                                          <p:attrName>style.visibility</p:attrName>
                                        </p:attrNameLst>
                                      </p:cBhvr>
                                      <p:to>
                                        <p:strVal val="visible"/>
                                      </p:to>
                                    </p:set>
                                    <p:animEffect transition="in" filter="dissolve">
                                      <p:cBhvr>
                                        <p:cTn id="83" dur="500"/>
                                        <p:tgtEl>
                                          <p:spTgt spid="2244661"/>
                                        </p:tgtEl>
                                      </p:cBhvr>
                                    </p:animEffect>
                                  </p:childTnLst>
                                </p:cTn>
                              </p:par>
                              <p:par>
                                <p:cTn id="84" presetID="9" presetClass="entr" presetSubtype="0" fill="hold" nodeType="withEffect">
                                  <p:stCondLst>
                                    <p:cond delay="0"/>
                                  </p:stCondLst>
                                  <p:childTnLst>
                                    <p:set>
                                      <p:cBhvr>
                                        <p:cTn id="85" dur="1" fill="hold">
                                          <p:stCondLst>
                                            <p:cond delay="0"/>
                                          </p:stCondLst>
                                        </p:cTn>
                                        <p:tgtEl>
                                          <p:spTgt spid="2244662"/>
                                        </p:tgtEl>
                                        <p:attrNameLst>
                                          <p:attrName>style.visibility</p:attrName>
                                        </p:attrNameLst>
                                      </p:cBhvr>
                                      <p:to>
                                        <p:strVal val="visible"/>
                                      </p:to>
                                    </p:set>
                                    <p:animEffect transition="in" filter="dissolve">
                                      <p:cBhvr>
                                        <p:cTn id="86" dur="500"/>
                                        <p:tgtEl>
                                          <p:spTgt spid="2244662"/>
                                        </p:tgtEl>
                                      </p:cBhvr>
                                    </p:animEffect>
                                  </p:childTnLst>
                                </p:cTn>
                              </p:par>
                              <p:par>
                                <p:cTn id="87" presetID="9" presetClass="entr" presetSubtype="0" fill="hold" nodeType="withEffect">
                                  <p:stCondLst>
                                    <p:cond delay="0"/>
                                  </p:stCondLst>
                                  <p:childTnLst>
                                    <p:set>
                                      <p:cBhvr>
                                        <p:cTn id="88" dur="1" fill="hold">
                                          <p:stCondLst>
                                            <p:cond delay="0"/>
                                          </p:stCondLst>
                                        </p:cTn>
                                        <p:tgtEl>
                                          <p:spTgt spid="2244665"/>
                                        </p:tgtEl>
                                        <p:attrNameLst>
                                          <p:attrName>style.visibility</p:attrName>
                                        </p:attrNameLst>
                                      </p:cBhvr>
                                      <p:to>
                                        <p:strVal val="visible"/>
                                      </p:to>
                                    </p:set>
                                    <p:animEffect transition="in" filter="dissolve">
                                      <p:cBhvr>
                                        <p:cTn id="89" dur="500"/>
                                        <p:tgtEl>
                                          <p:spTgt spid="2244665"/>
                                        </p:tgtEl>
                                      </p:cBhvr>
                                    </p:animEffect>
                                  </p:childTnLst>
                                </p:cTn>
                              </p:par>
                              <p:par>
                                <p:cTn id="90" presetID="9" presetClass="entr" presetSubtype="0" fill="hold" nodeType="withEffect">
                                  <p:stCondLst>
                                    <p:cond delay="0"/>
                                  </p:stCondLst>
                                  <p:childTnLst>
                                    <p:set>
                                      <p:cBhvr>
                                        <p:cTn id="91" dur="1" fill="hold">
                                          <p:stCondLst>
                                            <p:cond delay="0"/>
                                          </p:stCondLst>
                                        </p:cTn>
                                        <p:tgtEl>
                                          <p:spTgt spid="2244666"/>
                                        </p:tgtEl>
                                        <p:attrNameLst>
                                          <p:attrName>style.visibility</p:attrName>
                                        </p:attrNameLst>
                                      </p:cBhvr>
                                      <p:to>
                                        <p:strVal val="visible"/>
                                      </p:to>
                                    </p:set>
                                    <p:animEffect transition="in" filter="dissolve">
                                      <p:cBhvr>
                                        <p:cTn id="92" dur="500"/>
                                        <p:tgtEl>
                                          <p:spTgt spid="2244666"/>
                                        </p:tgtEl>
                                      </p:cBhvr>
                                    </p:animEffect>
                                  </p:childTnLst>
                                </p:cTn>
                              </p:par>
                              <p:par>
                                <p:cTn id="93" presetID="9" presetClass="entr" presetSubtype="0" fill="hold" nodeType="withEffect">
                                  <p:stCondLst>
                                    <p:cond delay="0"/>
                                  </p:stCondLst>
                                  <p:childTnLst>
                                    <p:set>
                                      <p:cBhvr>
                                        <p:cTn id="94" dur="1" fill="hold">
                                          <p:stCondLst>
                                            <p:cond delay="0"/>
                                          </p:stCondLst>
                                        </p:cTn>
                                        <p:tgtEl>
                                          <p:spTgt spid="2244667"/>
                                        </p:tgtEl>
                                        <p:attrNameLst>
                                          <p:attrName>style.visibility</p:attrName>
                                        </p:attrNameLst>
                                      </p:cBhvr>
                                      <p:to>
                                        <p:strVal val="visible"/>
                                      </p:to>
                                    </p:set>
                                    <p:animEffect transition="in" filter="dissolve">
                                      <p:cBhvr>
                                        <p:cTn id="95" dur="500"/>
                                        <p:tgtEl>
                                          <p:spTgt spid="2244667"/>
                                        </p:tgtEl>
                                      </p:cBhvr>
                                    </p:animEffect>
                                  </p:childTnLst>
                                </p:cTn>
                              </p:par>
                              <p:par>
                                <p:cTn id="96" presetID="9" presetClass="entr" presetSubtype="0" fill="hold" nodeType="withEffect">
                                  <p:stCondLst>
                                    <p:cond delay="0"/>
                                  </p:stCondLst>
                                  <p:childTnLst>
                                    <p:set>
                                      <p:cBhvr>
                                        <p:cTn id="97" dur="1" fill="hold">
                                          <p:stCondLst>
                                            <p:cond delay="0"/>
                                          </p:stCondLst>
                                        </p:cTn>
                                        <p:tgtEl>
                                          <p:spTgt spid="2244668"/>
                                        </p:tgtEl>
                                        <p:attrNameLst>
                                          <p:attrName>style.visibility</p:attrName>
                                        </p:attrNameLst>
                                      </p:cBhvr>
                                      <p:to>
                                        <p:strVal val="visible"/>
                                      </p:to>
                                    </p:set>
                                    <p:animEffect transition="in" filter="dissolve">
                                      <p:cBhvr>
                                        <p:cTn id="98" dur="500"/>
                                        <p:tgtEl>
                                          <p:spTgt spid="2244668"/>
                                        </p:tgtEl>
                                      </p:cBhvr>
                                    </p:animEffect>
                                  </p:childTnLst>
                                </p:cTn>
                              </p:par>
                              <p:par>
                                <p:cTn id="99" presetID="9" presetClass="entr" presetSubtype="0" fill="hold" nodeType="withEffect">
                                  <p:stCondLst>
                                    <p:cond delay="0"/>
                                  </p:stCondLst>
                                  <p:childTnLst>
                                    <p:set>
                                      <p:cBhvr>
                                        <p:cTn id="100" dur="1" fill="hold">
                                          <p:stCondLst>
                                            <p:cond delay="0"/>
                                          </p:stCondLst>
                                        </p:cTn>
                                        <p:tgtEl>
                                          <p:spTgt spid="2244669"/>
                                        </p:tgtEl>
                                        <p:attrNameLst>
                                          <p:attrName>style.visibility</p:attrName>
                                        </p:attrNameLst>
                                      </p:cBhvr>
                                      <p:to>
                                        <p:strVal val="visible"/>
                                      </p:to>
                                    </p:set>
                                    <p:animEffect transition="in" filter="dissolve">
                                      <p:cBhvr>
                                        <p:cTn id="101" dur="500"/>
                                        <p:tgtEl>
                                          <p:spTgt spid="2244669"/>
                                        </p:tgtEl>
                                      </p:cBhvr>
                                    </p:animEffect>
                                  </p:childTnLst>
                                </p:cTn>
                              </p:par>
                              <p:par>
                                <p:cTn id="102" presetID="9" presetClass="entr" presetSubtype="0" fill="hold" nodeType="withEffect">
                                  <p:stCondLst>
                                    <p:cond delay="0"/>
                                  </p:stCondLst>
                                  <p:childTnLst>
                                    <p:set>
                                      <p:cBhvr>
                                        <p:cTn id="103" dur="1" fill="hold">
                                          <p:stCondLst>
                                            <p:cond delay="0"/>
                                          </p:stCondLst>
                                        </p:cTn>
                                        <p:tgtEl>
                                          <p:spTgt spid="2244670"/>
                                        </p:tgtEl>
                                        <p:attrNameLst>
                                          <p:attrName>style.visibility</p:attrName>
                                        </p:attrNameLst>
                                      </p:cBhvr>
                                      <p:to>
                                        <p:strVal val="visible"/>
                                      </p:to>
                                    </p:set>
                                    <p:animEffect transition="in" filter="dissolve">
                                      <p:cBhvr>
                                        <p:cTn id="104" dur="500"/>
                                        <p:tgtEl>
                                          <p:spTgt spid="2244670"/>
                                        </p:tgtEl>
                                      </p:cBhvr>
                                    </p:animEffect>
                                  </p:childTnLst>
                                </p:cTn>
                              </p:par>
                              <p:par>
                                <p:cTn id="105" presetID="9" presetClass="entr" presetSubtype="0" fill="hold" nodeType="withEffect">
                                  <p:stCondLst>
                                    <p:cond delay="0"/>
                                  </p:stCondLst>
                                  <p:childTnLst>
                                    <p:set>
                                      <p:cBhvr>
                                        <p:cTn id="106" dur="1" fill="hold">
                                          <p:stCondLst>
                                            <p:cond delay="0"/>
                                          </p:stCondLst>
                                        </p:cTn>
                                        <p:tgtEl>
                                          <p:spTgt spid="2244644"/>
                                        </p:tgtEl>
                                        <p:attrNameLst>
                                          <p:attrName>style.visibility</p:attrName>
                                        </p:attrNameLst>
                                      </p:cBhvr>
                                      <p:to>
                                        <p:strVal val="visible"/>
                                      </p:to>
                                    </p:set>
                                    <p:animEffect transition="in" filter="dissolve">
                                      <p:cBhvr>
                                        <p:cTn id="107" dur="500"/>
                                        <p:tgtEl>
                                          <p:spTgt spid="2244644"/>
                                        </p:tgtEl>
                                      </p:cBhvr>
                                    </p:animEffect>
                                  </p:childTnLst>
                                </p:cTn>
                              </p:par>
                              <p:par>
                                <p:cTn id="108" presetID="9" presetClass="entr" presetSubtype="0" fill="hold" nodeType="withEffect">
                                  <p:stCondLst>
                                    <p:cond delay="0"/>
                                  </p:stCondLst>
                                  <p:childTnLst>
                                    <p:set>
                                      <p:cBhvr>
                                        <p:cTn id="109" dur="1" fill="hold">
                                          <p:stCondLst>
                                            <p:cond delay="0"/>
                                          </p:stCondLst>
                                        </p:cTn>
                                        <p:tgtEl>
                                          <p:spTgt spid="2244678"/>
                                        </p:tgtEl>
                                        <p:attrNameLst>
                                          <p:attrName>style.visibility</p:attrName>
                                        </p:attrNameLst>
                                      </p:cBhvr>
                                      <p:to>
                                        <p:strVal val="visible"/>
                                      </p:to>
                                    </p:set>
                                    <p:animEffect transition="in" filter="dissolve">
                                      <p:cBhvr>
                                        <p:cTn id="110" dur="500"/>
                                        <p:tgtEl>
                                          <p:spTgt spid="22446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77" grpId="0" animBg="1"/>
      <p:bldP spid="2244641" grpId="0"/>
      <p:bldP spid="2244642" grpId="0"/>
      <p:bldP spid="2244643" grpId="0" animBg="1"/>
      <p:bldP spid="2244645" grpId="0" animBg="1"/>
      <p:bldP spid="2244646" grpId="0" animBg="1"/>
      <p:bldP spid="2244649" grpId="0" animBg="1"/>
      <p:bldP spid="2244650" grpId="0"/>
      <p:bldP spid="2244651" grpId="0"/>
      <p:bldP spid="2244652" grpId="0" animBg="1"/>
      <p:bldP spid="2244657" grpId="0" animBg="1"/>
      <p:bldP spid="2244658" grpId="0"/>
      <p:bldP spid="2244659" grpId="0" animBg="1"/>
      <p:bldP spid="2244664" grpId="0" animBg="1"/>
      <p:bldP spid="2244665" grpId="0"/>
      <p:bldP spid="2244666" grpId="0"/>
      <p:bldP spid="2244668" grpId="0" animBg="1"/>
      <p:bldP spid="2244669" grpId="0"/>
      <p:bldP spid="2244670" grpId="0"/>
      <p:bldP spid="2244675" grpId="0" animBg="1"/>
      <p:bldP spid="2244676" grpId="0" animBg="1"/>
      <p:bldP spid="2244678"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5670" name="Text Box 1062"/>
          <p:cNvSpPr txBox="1">
            <a:spLocks noChangeArrowheads="1"/>
          </p:cNvSpPr>
          <p:nvPr/>
        </p:nvSpPr>
        <p:spPr bwMode="auto">
          <a:xfrm>
            <a:off x="1352550" y="47625"/>
            <a:ext cx="6713538"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5.2  </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保持器的工作原理</a:t>
            </a:r>
            <a:endPar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245703" name="Group 1095"/>
          <p:cNvGrpSpPr/>
          <p:nvPr/>
        </p:nvGrpSpPr>
        <p:grpSpPr>
          <a:xfrm>
            <a:off x="4533900" y="657225"/>
            <a:ext cx="4610100" cy="2546350"/>
            <a:chOff x="1945" y="1871"/>
            <a:chExt cx="2904" cy="1604"/>
          </a:xfrm>
        </p:grpSpPr>
        <p:sp>
          <p:nvSpPr>
            <p:cNvPr id="7231" name="Rectangle 1063"/>
            <p:cNvSpPr/>
            <p:nvPr/>
          </p:nvSpPr>
          <p:spPr>
            <a:xfrm>
              <a:off x="1945" y="1878"/>
              <a:ext cx="2904" cy="1597"/>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7232" name="Text Box 1065"/>
            <p:cNvSpPr txBox="1"/>
            <p:nvPr/>
          </p:nvSpPr>
          <p:spPr>
            <a:xfrm>
              <a:off x="1945" y="2390"/>
              <a:ext cx="261" cy="231"/>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i</a:t>
              </a:r>
              <a:endParaRPr lang="en-US" altLang="zh-CN" sz="2000" i="1" baseline="-25000" dirty="0">
                <a:solidFill>
                  <a:srgbClr val="CC00CC"/>
                </a:solidFill>
                <a:latin typeface="Times New Roman" panose="02020603050405020304" pitchFamily="18" charset="0"/>
              </a:endParaRPr>
            </a:p>
          </p:txBody>
        </p:sp>
        <p:sp>
          <p:nvSpPr>
            <p:cNvPr id="7233" name="Oval 1066"/>
            <p:cNvSpPr/>
            <p:nvPr/>
          </p:nvSpPr>
          <p:spPr>
            <a:xfrm>
              <a:off x="2084" y="235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34" name="Rectangle 1067"/>
            <p:cNvSpPr/>
            <p:nvPr/>
          </p:nvSpPr>
          <p:spPr>
            <a:xfrm>
              <a:off x="2418" y="2151"/>
              <a:ext cx="802" cy="459"/>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35" name="Oval 1068"/>
            <p:cNvSpPr/>
            <p:nvPr/>
          </p:nvSpPr>
          <p:spPr>
            <a:xfrm>
              <a:off x="2616" y="2355"/>
              <a:ext cx="56" cy="56"/>
            </a:xfrm>
            <a:prstGeom prst="ellipse">
              <a:avLst/>
            </a:prstGeom>
            <a:noFill/>
            <a:ln w="19050" cap="flat" cmpd="sng">
              <a:solidFill>
                <a:srgbClr val="003366"/>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36" name="Line 1069"/>
            <p:cNvSpPr/>
            <p:nvPr/>
          </p:nvSpPr>
          <p:spPr>
            <a:xfrm>
              <a:off x="2418" y="2384"/>
              <a:ext cx="200" cy="0"/>
            </a:xfrm>
            <a:prstGeom prst="line">
              <a:avLst/>
            </a:prstGeom>
            <a:ln w="12700" cap="flat" cmpd="sng">
              <a:solidFill>
                <a:schemeClr val="accent2"/>
              </a:solidFill>
              <a:prstDash val="solid"/>
              <a:headEnd type="none" w="med" len="med"/>
              <a:tailEnd type="none" w="med" len="med"/>
            </a:ln>
          </p:spPr>
        </p:sp>
        <p:sp>
          <p:nvSpPr>
            <p:cNvPr id="7237" name="Line 1070"/>
            <p:cNvSpPr/>
            <p:nvPr/>
          </p:nvSpPr>
          <p:spPr>
            <a:xfrm flipV="1">
              <a:off x="2668" y="2234"/>
              <a:ext cx="276" cy="126"/>
            </a:xfrm>
            <a:prstGeom prst="line">
              <a:avLst/>
            </a:prstGeom>
            <a:ln w="19050" cap="flat" cmpd="sng">
              <a:solidFill>
                <a:schemeClr val="accent2"/>
              </a:solidFill>
              <a:prstDash val="solid"/>
              <a:headEnd type="none" w="med" len="med"/>
              <a:tailEnd type="none" w="med" len="med"/>
            </a:ln>
          </p:spPr>
        </p:sp>
        <p:sp>
          <p:nvSpPr>
            <p:cNvPr id="7238" name="Oval 1071"/>
            <p:cNvSpPr/>
            <p:nvPr/>
          </p:nvSpPr>
          <p:spPr>
            <a:xfrm>
              <a:off x="2913" y="2353"/>
              <a:ext cx="56" cy="56"/>
            </a:xfrm>
            <a:prstGeom prst="ellipse">
              <a:avLst/>
            </a:prstGeom>
            <a:noFill/>
            <a:ln w="19050" cap="flat" cmpd="sng">
              <a:solidFill>
                <a:srgbClr val="003366"/>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39" name="Text Box 1072"/>
            <p:cNvSpPr txBox="1"/>
            <p:nvPr/>
          </p:nvSpPr>
          <p:spPr>
            <a:xfrm>
              <a:off x="2744" y="1871"/>
              <a:ext cx="244" cy="265"/>
            </a:xfrm>
            <a:prstGeom prst="rect">
              <a:avLst/>
            </a:prstGeom>
            <a:noFill/>
            <a:ln w="9525">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K</a:t>
              </a:r>
              <a:endParaRPr lang="en-US" altLang="zh-CN" sz="2400" i="1" dirty="0">
                <a:solidFill>
                  <a:srgbClr val="FF0000"/>
                </a:solidFill>
                <a:latin typeface="Times New Roman" panose="02020603050405020304" pitchFamily="18" charset="0"/>
              </a:endParaRPr>
            </a:p>
          </p:txBody>
        </p:sp>
        <p:sp>
          <p:nvSpPr>
            <p:cNvPr id="7240" name="Text Box 1073"/>
            <p:cNvSpPr txBox="1"/>
            <p:nvPr/>
          </p:nvSpPr>
          <p:spPr>
            <a:xfrm>
              <a:off x="1952" y="2968"/>
              <a:ext cx="760" cy="231"/>
            </a:xfrm>
            <a:prstGeom prst="rect">
              <a:avLst/>
            </a:prstGeom>
            <a:noFill/>
            <a:ln w="9525">
              <a:noFill/>
            </a:ln>
          </p:spPr>
          <p:txBody>
            <a:bodyPr wrap="none">
              <a:spAutoFit/>
            </a:bodyPr>
            <a:p>
              <a:pPr eaLnBrk="1" hangingPunct="1">
                <a:lnSpc>
                  <a:spcPct val="90000"/>
                </a:lnSpc>
              </a:pPr>
              <a:r>
                <a:rPr lang="zh-CN" altLang="en-US" sz="2000" dirty="0">
                  <a:solidFill>
                    <a:srgbClr val="CC00CC"/>
                  </a:solidFill>
                  <a:latin typeface="Times New Roman" panose="02020603050405020304" pitchFamily="18" charset="0"/>
                </a:rPr>
                <a:t>驱动信号</a:t>
              </a:r>
              <a:endParaRPr lang="zh-CN" altLang="en-US" sz="2000" dirty="0">
                <a:solidFill>
                  <a:srgbClr val="CC00CC"/>
                </a:solidFill>
                <a:latin typeface="Times New Roman" panose="02020603050405020304" pitchFamily="18" charset="0"/>
              </a:endParaRPr>
            </a:p>
          </p:txBody>
        </p:sp>
        <p:sp>
          <p:nvSpPr>
            <p:cNvPr id="7241" name="Oval 1074"/>
            <p:cNvSpPr/>
            <p:nvPr/>
          </p:nvSpPr>
          <p:spPr>
            <a:xfrm>
              <a:off x="2298" y="2890"/>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42" name="Line 1075"/>
            <p:cNvSpPr/>
            <p:nvPr/>
          </p:nvSpPr>
          <p:spPr>
            <a:xfrm>
              <a:off x="2360" y="2919"/>
              <a:ext cx="459" cy="0"/>
            </a:xfrm>
            <a:prstGeom prst="line">
              <a:avLst/>
            </a:prstGeom>
            <a:ln w="12700" cap="flat" cmpd="sng">
              <a:solidFill>
                <a:schemeClr val="accent2"/>
              </a:solidFill>
              <a:prstDash val="solid"/>
              <a:headEnd type="none" w="med" len="med"/>
              <a:tailEnd type="none" w="med" len="med"/>
            </a:ln>
          </p:spPr>
        </p:sp>
        <p:sp>
          <p:nvSpPr>
            <p:cNvPr id="7243" name="Line 1076"/>
            <p:cNvSpPr/>
            <p:nvPr/>
          </p:nvSpPr>
          <p:spPr>
            <a:xfrm flipV="1">
              <a:off x="2819" y="2602"/>
              <a:ext cx="0" cy="317"/>
            </a:xfrm>
            <a:prstGeom prst="line">
              <a:avLst/>
            </a:prstGeom>
            <a:ln w="12700" cap="flat" cmpd="sng">
              <a:solidFill>
                <a:schemeClr val="accent2"/>
              </a:solidFill>
              <a:prstDash val="solid"/>
              <a:headEnd type="none" w="med" len="med"/>
              <a:tailEnd type="stealth" w="med" len="lg"/>
            </a:ln>
          </p:spPr>
        </p:sp>
        <p:sp>
          <p:nvSpPr>
            <p:cNvPr id="7244" name="Line 1077"/>
            <p:cNvSpPr/>
            <p:nvPr/>
          </p:nvSpPr>
          <p:spPr>
            <a:xfrm flipV="1">
              <a:off x="2819" y="2309"/>
              <a:ext cx="0" cy="292"/>
            </a:xfrm>
            <a:prstGeom prst="line">
              <a:avLst/>
            </a:prstGeom>
            <a:ln w="12700" cap="flat" cmpd="sng">
              <a:solidFill>
                <a:schemeClr val="accent2"/>
              </a:solidFill>
              <a:prstDash val="dash"/>
              <a:headEnd type="none" w="med" len="med"/>
              <a:tailEnd type="none" w="med" len="med"/>
            </a:ln>
          </p:spPr>
        </p:sp>
        <p:sp>
          <p:nvSpPr>
            <p:cNvPr id="7245" name="Line 1078"/>
            <p:cNvSpPr/>
            <p:nvPr/>
          </p:nvSpPr>
          <p:spPr>
            <a:xfrm flipV="1">
              <a:off x="2969" y="2381"/>
              <a:ext cx="923" cy="0"/>
            </a:xfrm>
            <a:prstGeom prst="line">
              <a:avLst/>
            </a:prstGeom>
            <a:ln w="12700" cap="flat" cmpd="sng">
              <a:solidFill>
                <a:schemeClr val="accent2"/>
              </a:solidFill>
              <a:prstDash val="solid"/>
              <a:headEnd type="none" w="med" len="med"/>
              <a:tailEnd type="none" w="med" len="med"/>
            </a:ln>
          </p:spPr>
        </p:sp>
        <p:sp>
          <p:nvSpPr>
            <p:cNvPr id="7246" name="Oval 1081"/>
            <p:cNvSpPr/>
            <p:nvPr/>
          </p:nvSpPr>
          <p:spPr>
            <a:xfrm>
              <a:off x="3410" y="2357"/>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47" name="Line 1082"/>
            <p:cNvSpPr/>
            <p:nvPr/>
          </p:nvSpPr>
          <p:spPr>
            <a:xfrm>
              <a:off x="3441" y="2381"/>
              <a:ext cx="0" cy="444"/>
            </a:xfrm>
            <a:prstGeom prst="line">
              <a:avLst/>
            </a:prstGeom>
            <a:ln w="12700" cap="flat" cmpd="sng">
              <a:solidFill>
                <a:schemeClr val="accent2"/>
              </a:solidFill>
              <a:prstDash val="solid"/>
              <a:headEnd type="none" w="med" len="med"/>
              <a:tailEnd type="none" w="med" len="med"/>
            </a:ln>
          </p:spPr>
        </p:sp>
        <p:sp>
          <p:nvSpPr>
            <p:cNvPr id="7248" name="Line 1083"/>
            <p:cNvSpPr/>
            <p:nvPr/>
          </p:nvSpPr>
          <p:spPr>
            <a:xfrm>
              <a:off x="3441" y="2875"/>
              <a:ext cx="0" cy="350"/>
            </a:xfrm>
            <a:prstGeom prst="line">
              <a:avLst/>
            </a:prstGeom>
            <a:ln w="12700" cap="flat" cmpd="sng">
              <a:solidFill>
                <a:schemeClr val="accent2"/>
              </a:solidFill>
              <a:prstDash val="solid"/>
              <a:headEnd type="none" w="med" len="med"/>
              <a:tailEnd type="none" w="med" len="med"/>
            </a:ln>
          </p:spPr>
        </p:sp>
        <p:sp>
          <p:nvSpPr>
            <p:cNvPr id="7249" name="AutoShape 1084"/>
            <p:cNvSpPr/>
            <p:nvPr/>
          </p:nvSpPr>
          <p:spPr>
            <a:xfrm rot="10800000">
              <a:off x="3308" y="3226"/>
              <a:ext cx="283" cy="141"/>
            </a:xfrm>
            <a:prstGeom prst="triangle">
              <a:avLst>
                <a:gd name="adj" fmla="val 50000"/>
              </a:avLst>
            </a:prstGeom>
            <a:no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7250" name="Line 1085"/>
            <p:cNvSpPr/>
            <p:nvPr/>
          </p:nvSpPr>
          <p:spPr>
            <a:xfrm>
              <a:off x="3332" y="2825"/>
              <a:ext cx="234" cy="0"/>
            </a:xfrm>
            <a:prstGeom prst="line">
              <a:avLst/>
            </a:prstGeom>
            <a:ln w="19050" cap="flat" cmpd="sng">
              <a:solidFill>
                <a:srgbClr val="000080"/>
              </a:solidFill>
              <a:prstDash val="solid"/>
              <a:headEnd type="none" w="med" len="med"/>
              <a:tailEnd type="none" w="med" len="med"/>
            </a:ln>
          </p:spPr>
        </p:sp>
        <p:sp>
          <p:nvSpPr>
            <p:cNvPr id="7251" name="Line 1086"/>
            <p:cNvSpPr/>
            <p:nvPr/>
          </p:nvSpPr>
          <p:spPr>
            <a:xfrm>
              <a:off x="3337" y="2871"/>
              <a:ext cx="234" cy="0"/>
            </a:xfrm>
            <a:prstGeom prst="line">
              <a:avLst/>
            </a:prstGeom>
            <a:ln w="19050" cap="flat" cmpd="sng">
              <a:solidFill>
                <a:srgbClr val="000080"/>
              </a:solidFill>
              <a:prstDash val="solid"/>
              <a:headEnd type="none" w="med" len="med"/>
              <a:tailEnd type="none" w="med" len="med"/>
            </a:ln>
          </p:spPr>
        </p:sp>
        <p:sp>
          <p:nvSpPr>
            <p:cNvPr id="7252" name="Text Box 1087"/>
            <p:cNvSpPr txBox="1"/>
            <p:nvPr/>
          </p:nvSpPr>
          <p:spPr>
            <a:xfrm>
              <a:off x="3575" y="2704"/>
              <a:ext cx="344" cy="265"/>
            </a:xfrm>
            <a:prstGeom prst="rect">
              <a:avLst/>
            </a:prstGeom>
            <a:noFill/>
            <a:ln w="9525">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endParaRPr lang="en-US" altLang="zh-CN" sz="2400" baseline="-25000" dirty="0">
                <a:solidFill>
                  <a:srgbClr val="FF0000"/>
                </a:solidFill>
                <a:latin typeface="Times New Roman" panose="02020603050405020304" pitchFamily="18" charset="0"/>
              </a:endParaRPr>
            </a:p>
          </p:txBody>
        </p:sp>
        <p:sp>
          <p:nvSpPr>
            <p:cNvPr id="7253" name="Text Box 1088"/>
            <p:cNvSpPr txBox="1"/>
            <p:nvPr/>
          </p:nvSpPr>
          <p:spPr>
            <a:xfrm>
              <a:off x="3606" y="3169"/>
              <a:ext cx="599" cy="231"/>
            </a:xfrm>
            <a:prstGeom prst="rect">
              <a:avLst/>
            </a:prstGeom>
            <a:noFill/>
            <a:ln w="9525">
              <a:noFill/>
            </a:ln>
          </p:spPr>
          <p:txBody>
            <a:bodyPr wrap="none">
              <a:spAutoFit/>
            </a:bodyPr>
            <a:p>
              <a:pPr eaLnBrk="1" hangingPunct="1">
                <a:lnSpc>
                  <a:spcPct val="90000"/>
                </a:lnSpc>
              </a:pPr>
              <a:r>
                <a:rPr lang="zh-CN" altLang="en-US" sz="2000" dirty="0">
                  <a:solidFill>
                    <a:srgbClr val="CC00CC"/>
                  </a:solidFill>
                  <a:latin typeface="Times New Roman" panose="02020603050405020304" pitchFamily="18" charset="0"/>
                </a:rPr>
                <a:t>模拟地</a:t>
              </a:r>
              <a:endParaRPr lang="zh-CN" altLang="en-US" sz="2000" dirty="0">
                <a:solidFill>
                  <a:srgbClr val="CC00CC"/>
                </a:solidFill>
                <a:latin typeface="Times New Roman" panose="02020603050405020304" pitchFamily="18" charset="0"/>
              </a:endParaRPr>
            </a:p>
          </p:txBody>
        </p:sp>
        <p:sp>
          <p:nvSpPr>
            <p:cNvPr id="7254" name="Line 1089"/>
            <p:cNvSpPr/>
            <p:nvPr/>
          </p:nvSpPr>
          <p:spPr>
            <a:xfrm>
              <a:off x="4127" y="2381"/>
              <a:ext cx="535" cy="0"/>
            </a:xfrm>
            <a:prstGeom prst="line">
              <a:avLst/>
            </a:prstGeom>
            <a:ln w="12700" cap="flat" cmpd="sng">
              <a:solidFill>
                <a:schemeClr val="accent2"/>
              </a:solidFill>
              <a:prstDash val="solid"/>
              <a:headEnd type="none" w="med" len="med"/>
              <a:tailEnd type="none" w="med" len="med"/>
            </a:ln>
          </p:spPr>
        </p:sp>
        <p:sp>
          <p:nvSpPr>
            <p:cNvPr id="7255" name="Oval 1090"/>
            <p:cNvSpPr/>
            <p:nvPr/>
          </p:nvSpPr>
          <p:spPr>
            <a:xfrm>
              <a:off x="4659" y="235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7256" name="Text Box 1091"/>
            <p:cNvSpPr txBox="1"/>
            <p:nvPr/>
          </p:nvSpPr>
          <p:spPr>
            <a:xfrm>
              <a:off x="4536" y="2404"/>
              <a:ext cx="313" cy="231"/>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baseline="-25000" dirty="0">
                  <a:solidFill>
                    <a:srgbClr val="CC00CC"/>
                  </a:solidFill>
                  <a:latin typeface="Times New Roman" panose="02020603050405020304" pitchFamily="18" charset="0"/>
                </a:rPr>
                <a:t>O</a:t>
              </a:r>
              <a:endParaRPr lang="en-US" altLang="zh-CN" sz="2000" baseline="-25000" dirty="0">
                <a:solidFill>
                  <a:srgbClr val="CC00CC"/>
                </a:solidFill>
                <a:latin typeface="Times New Roman" panose="02020603050405020304" pitchFamily="18" charset="0"/>
              </a:endParaRPr>
            </a:p>
          </p:txBody>
        </p:sp>
        <p:sp>
          <p:nvSpPr>
            <p:cNvPr id="7257" name="Line 1093"/>
            <p:cNvSpPr/>
            <p:nvPr/>
          </p:nvSpPr>
          <p:spPr>
            <a:xfrm>
              <a:off x="2142" y="2384"/>
              <a:ext cx="276" cy="0"/>
            </a:xfrm>
            <a:prstGeom prst="line">
              <a:avLst/>
            </a:prstGeom>
            <a:ln w="12700" cap="flat" cmpd="sng">
              <a:solidFill>
                <a:schemeClr val="accent2"/>
              </a:solidFill>
              <a:prstDash val="solid"/>
              <a:headEnd type="none" w="med" len="med"/>
              <a:tailEnd type="stealth" w="med" len="lg"/>
            </a:ln>
          </p:spPr>
        </p:sp>
        <p:sp>
          <p:nvSpPr>
            <p:cNvPr id="7258" name="AutoShape 1079"/>
            <p:cNvSpPr/>
            <p:nvPr/>
          </p:nvSpPr>
          <p:spPr>
            <a:xfrm rot="5400000">
              <a:off x="3831" y="2047"/>
              <a:ext cx="535" cy="668"/>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7259" name="Text Box 1094"/>
            <p:cNvSpPr txBox="1"/>
            <p:nvPr/>
          </p:nvSpPr>
          <p:spPr>
            <a:xfrm>
              <a:off x="3272" y="2115"/>
              <a:ext cx="307" cy="231"/>
            </a:xfrm>
            <a:prstGeom prst="rect">
              <a:avLst/>
            </a:prstGeom>
            <a:noFill/>
            <a:ln w="9525">
              <a:noFill/>
            </a:ln>
          </p:spPr>
          <p:txBody>
            <a:bodyPr wrap="none">
              <a:spAutoFit/>
            </a:bodyPr>
            <a:p>
              <a:pPr eaLnBrk="1" hangingPunct="1">
                <a:lnSpc>
                  <a:spcPct val="90000"/>
                </a:lnSpc>
              </a:pPr>
              <a:r>
                <a:rPr lang="en-US" altLang="zh-CN" sz="2000" i="1" dirty="0">
                  <a:solidFill>
                    <a:srgbClr val="CC00CC"/>
                  </a:solidFill>
                  <a:latin typeface="Times New Roman" panose="02020603050405020304" pitchFamily="18" charset="0"/>
                </a:rPr>
                <a:t>U</a:t>
              </a:r>
              <a:r>
                <a:rPr lang="en-US" altLang="zh-CN" sz="2000" baseline="-25000" dirty="0">
                  <a:solidFill>
                    <a:srgbClr val="CC00CC"/>
                  </a:solidFill>
                  <a:latin typeface="Times New Roman" panose="02020603050405020304" pitchFamily="18" charset="0"/>
                </a:rPr>
                <a:t>C</a:t>
              </a:r>
              <a:endParaRPr lang="en-US" altLang="zh-CN" sz="2000" baseline="-25000" dirty="0">
                <a:solidFill>
                  <a:srgbClr val="CC00CC"/>
                </a:solidFill>
                <a:latin typeface="Times New Roman" panose="02020603050405020304" pitchFamily="18" charset="0"/>
              </a:endParaRPr>
            </a:p>
          </p:txBody>
        </p:sp>
        <p:sp>
          <p:nvSpPr>
            <p:cNvPr id="7260" name="Text Box 1080"/>
            <p:cNvSpPr txBox="1"/>
            <p:nvPr/>
          </p:nvSpPr>
          <p:spPr>
            <a:xfrm>
              <a:off x="3860" y="2255"/>
              <a:ext cx="244" cy="265"/>
            </a:xfrm>
            <a:prstGeom prst="rect">
              <a:avLst/>
            </a:prstGeom>
            <a:noFill/>
            <a:ln w="19050">
              <a:noFill/>
            </a:ln>
          </p:spPr>
          <p:txBody>
            <a:bodyPr wrap="none">
              <a:spAutoFit/>
            </a:bodyPr>
            <a:p>
              <a:pPr eaLnBrk="1" hangingPunct="1">
                <a:lnSpc>
                  <a:spcPct val="90000"/>
                </a:lnSpc>
              </a:pPr>
              <a:r>
                <a:rPr lang="en-US" altLang="zh-CN" sz="2400" i="1" dirty="0">
                  <a:solidFill>
                    <a:srgbClr val="FF0000"/>
                  </a:solidFill>
                  <a:latin typeface="Times New Roman" panose="02020603050405020304" pitchFamily="18" charset="0"/>
                </a:rPr>
                <a:t>A</a:t>
              </a:r>
              <a:endParaRPr lang="en-US" altLang="zh-CN" sz="2400" i="1" dirty="0">
                <a:solidFill>
                  <a:srgbClr val="FF0000"/>
                </a:solidFill>
                <a:latin typeface="Times New Roman" panose="02020603050405020304" pitchFamily="18" charset="0"/>
              </a:endParaRPr>
            </a:p>
          </p:txBody>
        </p:sp>
      </p:grpSp>
      <p:sp>
        <p:nvSpPr>
          <p:cNvPr id="2245704" name="Line 1096"/>
          <p:cNvSpPr/>
          <p:nvPr/>
        </p:nvSpPr>
        <p:spPr>
          <a:xfrm>
            <a:off x="639763" y="2349500"/>
            <a:ext cx="3630612" cy="0"/>
          </a:xfrm>
          <a:prstGeom prst="line">
            <a:avLst/>
          </a:prstGeom>
          <a:ln w="9525" cap="flat" cmpd="sng">
            <a:solidFill>
              <a:schemeClr val="accent2"/>
            </a:solidFill>
            <a:prstDash val="solid"/>
            <a:headEnd type="none" w="med" len="med"/>
            <a:tailEnd type="stealth" w="sm" len="lg"/>
          </a:ln>
        </p:spPr>
      </p:sp>
      <p:sp>
        <p:nvSpPr>
          <p:cNvPr id="2245705" name="Text Box 1097"/>
          <p:cNvSpPr txBox="1"/>
          <p:nvPr/>
        </p:nvSpPr>
        <p:spPr>
          <a:xfrm>
            <a:off x="4244975" y="2201863"/>
            <a:ext cx="254000"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2245706" name="Line 1098"/>
          <p:cNvSpPr/>
          <p:nvPr/>
        </p:nvSpPr>
        <p:spPr>
          <a:xfrm flipV="1">
            <a:off x="639763" y="1368425"/>
            <a:ext cx="0" cy="981075"/>
          </a:xfrm>
          <a:prstGeom prst="line">
            <a:avLst/>
          </a:prstGeom>
          <a:ln w="9525" cap="flat" cmpd="sng">
            <a:solidFill>
              <a:schemeClr val="accent2"/>
            </a:solidFill>
            <a:prstDash val="solid"/>
            <a:headEnd type="none" w="med" len="med"/>
            <a:tailEnd type="stealth" w="sm" len="lg"/>
          </a:ln>
        </p:spPr>
      </p:sp>
      <p:sp>
        <p:nvSpPr>
          <p:cNvPr id="2245707" name="Text Box 1099"/>
          <p:cNvSpPr txBox="1"/>
          <p:nvPr/>
        </p:nvSpPr>
        <p:spPr>
          <a:xfrm>
            <a:off x="0" y="1304925"/>
            <a:ext cx="388938" cy="974725"/>
          </a:xfrm>
          <a:prstGeom prst="rect">
            <a:avLst/>
          </a:prstGeom>
          <a:noFill/>
          <a:ln w="9525">
            <a:noFill/>
          </a:ln>
        </p:spPr>
        <p:txBody>
          <a:bodyPr wrap="none">
            <a:spAutoFit/>
          </a:bodyPr>
          <a:p>
            <a:pPr eaLnBrk="1" hangingPunct="1">
              <a:lnSpc>
                <a:spcPct val="90000"/>
              </a:lnSpc>
            </a:pPr>
            <a:r>
              <a:rPr lang="zh-CN" altLang="en-US" sz="1600" dirty="0">
                <a:solidFill>
                  <a:srgbClr val="CC00CC"/>
                </a:solidFill>
                <a:latin typeface="Times New Roman" panose="02020603050405020304" pitchFamily="18" charset="0"/>
              </a:rPr>
              <a:t>控</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制</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信</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号</a:t>
            </a:r>
            <a:endParaRPr lang="zh-CN" altLang="en-US" sz="1600" dirty="0">
              <a:solidFill>
                <a:srgbClr val="CC00CC"/>
              </a:solidFill>
              <a:latin typeface="Times New Roman" panose="02020603050405020304" pitchFamily="18" charset="0"/>
            </a:endParaRPr>
          </a:p>
        </p:txBody>
      </p:sp>
      <p:sp>
        <p:nvSpPr>
          <p:cNvPr id="2245708" name="Line 1100"/>
          <p:cNvSpPr/>
          <p:nvPr/>
        </p:nvSpPr>
        <p:spPr>
          <a:xfrm>
            <a:off x="639763" y="4129088"/>
            <a:ext cx="3657600" cy="0"/>
          </a:xfrm>
          <a:prstGeom prst="line">
            <a:avLst/>
          </a:prstGeom>
          <a:ln w="9525" cap="flat" cmpd="sng">
            <a:solidFill>
              <a:schemeClr val="accent2"/>
            </a:solidFill>
            <a:prstDash val="solid"/>
            <a:headEnd type="none" w="med" len="med"/>
            <a:tailEnd type="stealth" w="sm" len="lg"/>
          </a:ln>
        </p:spPr>
      </p:sp>
      <p:sp>
        <p:nvSpPr>
          <p:cNvPr id="2245709" name="Text Box 1101"/>
          <p:cNvSpPr txBox="1"/>
          <p:nvPr/>
        </p:nvSpPr>
        <p:spPr>
          <a:xfrm>
            <a:off x="4278313" y="3959225"/>
            <a:ext cx="2540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2245710" name="Line 1102"/>
          <p:cNvSpPr/>
          <p:nvPr/>
        </p:nvSpPr>
        <p:spPr>
          <a:xfrm flipV="1">
            <a:off x="639763" y="2484438"/>
            <a:ext cx="0" cy="1644650"/>
          </a:xfrm>
          <a:prstGeom prst="line">
            <a:avLst/>
          </a:prstGeom>
          <a:ln w="9525" cap="flat" cmpd="sng">
            <a:solidFill>
              <a:schemeClr val="accent2"/>
            </a:solidFill>
            <a:prstDash val="solid"/>
            <a:headEnd type="none" w="med" len="med"/>
            <a:tailEnd type="stealth" w="sm" len="lg"/>
          </a:ln>
        </p:spPr>
      </p:sp>
      <p:sp>
        <p:nvSpPr>
          <p:cNvPr id="2245711" name="Text Box 1103"/>
          <p:cNvSpPr txBox="1"/>
          <p:nvPr/>
        </p:nvSpPr>
        <p:spPr>
          <a:xfrm>
            <a:off x="0" y="2727325"/>
            <a:ext cx="388938" cy="974725"/>
          </a:xfrm>
          <a:prstGeom prst="rect">
            <a:avLst/>
          </a:prstGeom>
          <a:noFill/>
          <a:ln w="9525">
            <a:noFill/>
          </a:ln>
        </p:spPr>
        <p:txBody>
          <a:bodyPr wrap="none">
            <a:spAutoFit/>
          </a:bodyPr>
          <a:p>
            <a:pPr eaLnBrk="1" hangingPunct="1">
              <a:lnSpc>
                <a:spcPct val="90000"/>
              </a:lnSpc>
            </a:pPr>
            <a:r>
              <a:rPr lang="zh-CN" altLang="en-US" sz="1600" dirty="0">
                <a:solidFill>
                  <a:srgbClr val="CC00CC"/>
                </a:solidFill>
                <a:latin typeface="Times New Roman" panose="02020603050405020304" pitchFamily="18" charset="0"/>
              </a:rPr>
              <a:t>模</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拟</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输</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入</a:t>
            </a:r>
            <a:endParaRPr lang="zh-CN" altLang="en-US" sz="1600" dirty="0">
              <a:solidFill>
                <a:srgbClr val="CC00CC"/>
              </a:solidFill>
              <a:latin typeface="Times New Roman" panose="02020603050405020304" pitchFamily="18" charset="0"/>
            </a:endParaRPr>
          </a:p>
        </p:txBody>
      </p:sp>
      <p:sp>
        <p:nvSpPr>
          <p:cNvPr id="2245712" name="Text Box 1104"/>
          <p:cNvSpPr txBox="1"/>
          <p:nvPr/>
        </p:nvSpPr>
        <p:spPr>
          <a:xfrm>
            <a:off x="320675" y="2406650"/>
            <a:ext cx="330200" cy="312738"/>
          </a:xfrm>
          <a:prstGeom prst="rect">
            <a:avLst/>
          </a:prstGeom>
          <a:noFill/>
          <a:ln w="9525">
            <a:noFill/>
          </a:ln>
        </p:spPr>
        <p:txBody>
          <a:bodyPr wrap="none">
            <a:spAutoFit/>
          </a:bodyPr>
          <a:p>
            <a:pPr eaLnBrk="1" hangingPunct="1">
              <a:lnSpc>
                <a:spcPct val="90000"/>
              </a:lnSpc>
            </a:pPr>
            <a:r>
              <a:rPr lang="en-US" altLang="zh-CN" sz="1600" dirty="0">
                <a:solidFill>
                  <a:srgbClr val="FF0000"/>
                </a:solidFill>
                <a:latin typeface="Times New Roman" panose="02020603050405020304" pitchFamily="18" charset="0"/>
              </a:rPr>
              <a:t>A</a:t>
            </a:r>
            <a:endParaRPr lang="en-US" altLang="zh-CN" sz="1600" dirty="0">
              <a:solidFill>
                <a:srgbClr val="FF0000"/>
              </a:solidFill>
              <a:latin typeface="Times New Roman" panose="02020603050405020304" pitchFamily="18" charset="0"/>
            </a:endParaRPr>
          </a:p>
        </p:txBody>
      </p:sp>
      <p:sp>
        <p:nvSpPr>
          <p:cNvPr id="2245713" name="Line 1105"/>
          <p:cNvSpPr/>
          <p:nvPr/>
        </p:nvSpPr>
        <p:spPr>
          <a:xfrm>
            <a:off x="639763" y="5902325"/>
            <a:ext cx="3643312" cy="0"/>
          </a:xfrm>
          <a:prstGeom prst="line">
            <a:avLst/>
          </a:prstGeom>
          <a:ln w="9525" cap="flat" cmpd="sng">
            <a:solidFill>
              <a:schemeClr val="accent2"/>
            </a:solidFill>
            <a:prstDash val="solid"/>
            <a:headEnd type="none" w="med" len="med"/>
            <a:tailEnd type="stealth" w="sm" len="lg"/>
          </a:ln>
        </p:spPr>
      </p:sp>
      <p:sp>
        <p:nvSpPr>
          <p:cNvPr id="2245714" name="Text Box 1106"/>
          <p:cNvSpPr txBox="1"/>
          <p:nvPr/>
        </p:nvSpPr>
        <p:spPr>
          <a:xfrm>
            <a:off x="4270375" y="5738813"/>
            <a:ext cx="254000"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2245715" name="Line 1107"/>
          <p:cNvSpPr/>
          <p:nvPr/>
        </p:nvSpPr>
        <p:spPr>
          <a:xfrm flipV="1">
            <a:off x="639763" y="4283075"/>
            <a:ext cx="0" cy="1619250"/>
          </a:xfrm>
          <a:prstGeom prst="line">
            <a:avLst/>
          </a:prstGeom>
          <a:ln w="9525" cap="flat" cmpd="sng">
            <a:solidFill>
              <a:schemeClr val="accent2"/>
            </a:solidFill>
            <a:prstDash val="solid"/>
            <a:headEnd type="none" w="med" len="med"/>
            <a:tailEnd type="stealth" w="sm" len="lg"/>
          </a:ln>
        </p:spPr>
      </p:sp>
      <p:sp>
        <p:nvSpPr>
          <p:cNvPr id="2245716" name="Text Box 1108"/>
          <p:cNvSpPr txBox="1"/>
          <p:nvPr/>
        </p:nvSpPr>
        <p:spPr>
          <a:xfrm>
            <a:off x="34925" y="4652963"/>
            <a:ext cx="388938" cy="974725"/>
          </a:xfrm>
          <a:prstGeom prst="rect">
            <a:avLst/>
          </a:prstGeom>
          <a:noFill/>
          <a:ln w="9525">
            <a:noFill/>
          </a:ln>
        </p:spPr>
        <p:txBody>
          <a:bodyPr wrap="none">
            <a:spAutoFit/>
          </a:bodyPr>
          <a:p>
            <a:pPr eaLnBrk="1" hangingPunct="1">
              <a:lnSpc>
                <a:spcPct val="90000"/>
              </a:lnSpc>
            </a:pPr>
            <a:r>
              <a:rPr lang="zh-CN" altLang="en-US" sz="1600" dirty="0">
                <a:solidFill>
                  <a:srgbClr val="CC00CC"/>
                </a:solidFill>
                <a:latin typeface="Times New Roman" panose="02020603050405020304" pitchFamily="18" charset="0"/>
              </a:rPr>
              <a:t>采</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样</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输</a:t>
            </a:r>
            <a:endParaRPr lang="zh-CN" altLang="en-US" sz="1600" dirty="0">
              <a:solidFill>
                <a:srgbClr val="CC00CC"/>
              </a:solidFill>
              <a:latin typeface="Times New Roman" panose="02020603050405020304" pitchFamily="18" charset="0"/>
            </a:endParaRPr>
          </a:p>
          <a:p>
            <a:pPr eaLnBrk="1" hangingPunct="1">
              <a:lnSpc>
                <a:spcPct val="90000"/>
              </a:lnSpc>
            </a:pPr>
            <a:r>
              <a:rPr lang="zh-CN" altLang="en-US" sz="1600" dirty="0">
                <a:solidFill>
                  <a:srgbClr val="CC00CC"/>
                </a:solidFill>
                <a:latin typeface="Times New Roman" panose="02020603050405020304" pitchFamily="18" charset="0"/>
              </a:rPr>
              <a:t>出</a:t>
            </a:r>
            <a:endParaRPr lang="zh-CN" altLang="en-US" sz="1600" dirty="0">
              <a:solidFill>
                <a:srgbClr val="CC00CC"/>
              </a:solidFill>
              <a:latin typeface="Times New Roman" panose="02020603050405020304" pitchFamily="18" charset="0"/>
            </a:endParaRPr>
          </a:p>
        </p:txBody>
      </p:sp>
      <p:sp>
        <p:nvSpPr>
          <p:cNvPr id="2245717" name="Line 1109"/>
          <p:cNvSpPr/>
          <p:nvPr/>
        </p:nvSpPr>
        <p:spPr>
          <a:xfrm>
            <a:off x="639763" y="1806575"/>
            <a:ext cx="768350" cy="0"/>
          </a:xfrm>
          <a:prstGeom prst="line">
            <a:avLst/>
          </a:prstGeom>
          <a:ln w="9525" cap="flat" cmpd="sng">
            <a:solidFill>
              <a:srgbClr val="CC00CC"/>
            </a:solidFill>
            <a:prstDash val="solid"/>
            <a:headEnd type="none" w="med" len="med"/>
            <a:tailEnd type="none" w="med" len="med"/>
          </a:ln>
        </p:spPr>
      </p:sp>
      <p:sp>
        <p:nvSpPr>
          <p:cNvPr id="2245718" name="Text Box 1110"/>
          <p:cNvSpPr txBox="1"/>
          <p:nvPr/>
        </p:nvSpPr>
        <p:spPr>
          <a:xfrm>
            <a:off x="739775" y="1477963"/>
            <a:ext cx="682625" cy="312737"/>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跟踪</a:t>
            </a:r>
            <a:endParaRPr lang="zh-CN" altLang="en-US" sz="1600" dirty="0">
              <a:latin typeface="Times New Roman" panose="02020603050405020304" pitchFamily="18" charset="0"/>
            </a:endParaRPr>
          </a:p>
        </p:txBody>
      </p:sp>
      <p:sp>
        <p:nvSpPr>
          <p:cNvPr id="2245719" name="Line 1111"/>
          <p:cNvSpPr/>
          <p:nvPr/>
        </p:nvSpPr>
        <p:spPr>
          <a:xfrm>
            <a:off x="1408113" y="1806575"/>
            <a:ext cx="0" cy="542925"/>
          </a:xfrm>
          <a:prstGeom prst="line">
            <a:avLst/>
          </a:prstGeom>
          <a:ln w="9525" cap="flat" cmpd="sng">
            <a:solidFill>
              <a:srgbClr val="CC00CC"/>
            </a:solidFill>
            <a:prstDash val="solid"/>
            <a:headEnd type="none" w="med" len="med"/>
            <a:tailEnd type="none" w="med" len="med"/>
          </a:ln>
        </p:spPr>
      </p:sp>
      <p:sp>
        <p:nvSpPr>
          <p:cNvPr id="2245720" name="Line 1112"/>
          <p:cNvSpPr/>
          <p:nvPr/>
        </p:nvSpPr>
        <p:spPr>
          <a:xfrm>
            <a:off x="1408113" y="2349500"/>
            <a:ext cx="0" cy="3552825"/>
          </a:xfrm>
          <a:prstGeom prst="line">
            <a:avLst/>
          </a:prstGeom>
          <a:ln w="9525" cap="flat" cmpd="sng">
            <a:solidFill>
              <a:schemeClr val="accent2"/>
            </a:solidFill>
            <a:prstDash val="sysDot"/>
            <a:headEnd type="none" w="med" len="med"/>
            <a:tailEnd type="none" w="med" len="med"/>
          </a:ln>
        </p:spPr>
      </p:sp>
      <p:sp>
        <p:nvSpPr>
          <p:cNvPr id="2245721" name="Text Box 1113"/>
          <p:cNvSpPr txBox="1"/>
          <p:nvPr/>
        </p:nvSpPr>
        <p:spPr>
          <a:xfrm>
            <a:off x="1230313" y="5851525"/>
            <a:ext cx="336550" cy="366713"/>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2245722" name="Line 1114"/>
          <p:cNvSpPr/>
          <p:nvPr/>
        </p:nvSpPr>
        <p:spPr>
          <a:xfrm>
            <a:off x="1395413" y="5095875"/>
            <a:ext cx="639762" cy="0"/>
          </a:xfrm>
          <a:prstGeom prst="line">
            <a:avLst/>
          </a:prstGeom>
          <a:ln w="25400" cap="flat" cmpd="sng">
            <a:solidFill>
              <a:srgbClr val="CC00CC"/>
            </a:solidFill>
            <a:prstDash val="solid"/>
            <a:headEnd type="none" w="med" len="med"/>
            <a:tailEnd type="none" w="med" len="med"/>
          </a:ln>
        </p:spPr>
      </p:sp>
      <p:sp>
        <p:nvSpPr>
          <p:cNvPr id="2245723" name="Line 1115"/>
          <p:cNvSpPr/>
          <p:nvPr/>
        </p:nvSpPr>
        <p:spPr>
          <a:xfrm flipH="1">
            <a:off x="639763" y="5095875"/>
            <a:ext cx="781050" cy="0"/>
          </a:xfrm>
          <a:prstGeom prst="line">
            <a:avLst/>
          </a:prstGeom>
          <a:ln w="9525" cap="flat" cmpd="sng">
            <a:solidFill>
              <a:srgbClr val="008080"/>
            </a:solidFill>
            <a:prstDash val="sysDot"/>
            <a:headEnd type="none" w="med" len="med"/>
            <a:tailEnd type="none" w="med" len="med"/>
          </a:ln>
        </p:spPr>
      </p:sp>
      <p:sp>
        <p:nvSpPr>
          <p:cNvPr id="2245724" name="Text Box 1116"/>
          <p:cNvSpPr txBox="1"/>
          <p:nvPr/>
        </p:nvSpPr>
        <p:spPr>
          <a:xfrm>
            <a:off x="293688" y="4864100"/>
            <a:ext cx="400050" cy="312738"/>
          </a:xfrm>
          <a:prstGeom prst="rect">
            <a:avLst/>
          </a:prstGeom>
          <a:noFill/>
          <a:ln w="9525">
            <a:noFill/>
          </a:ln>
        </p:spPr>
        <p:txBody>
          <a:bodyPr wrap="none">
            <a:spAutoFit/>
          </a:bodyPr>
          <a:p>
            <a:pPr eaLnBrk="1" hangingPunct="1">
              <a:lnSpc>
                <a:spcPct val="90000"/>
              </a:lnSpc>
            </a:pPr>
            <a:r>
              <a:rPr lang="en-US" altLang="zh-CN" sz="1600" dirty="0">
                <a:latin typeface="Times New Roman" panose="02020603050405020304" pitchFamily="18" charset="0"/>
              </a:rPr>
              <a:t>A</a:t>
            </a:r>
            <a:r>
              <a:rPr lang="en-US" altLang="zh-CN" sz="1600" baseline="-25000" dirty="0">
                <a:latin typeface="Times New Roman" panose="02020603050405020304" pitchFamily="18" charset="0"/>
              </a:rPr>
              <a:t>2</a:t>
            </a:r>
            <a:endParaRPr lang="en-US" altLang="zh-CN" sz="1600" baseline="-25000" dirty="0">
              <a:latin typeface="Times New Roman" panose="02020603050405020304" pitchFamily="18" charset="0"/>
            </a:endParaRPr>
          </a:p>
        </p:txBody>
      </p:sp>
      <p:sp>
        <p:nvSpPr>
          <p:cNvPr id="2245725" name="Line 1117"/>
          <p:cNvSpPr/>
          <p:nvPr/>
        </p:nvSpPr>
        <p:spPr>
          <a:xfrm>
            <a:off x="2036763" y="2349500"/>
            <a:ext cx="0" cy="3552825"/>
          </a:xfrm>
          <a:prstGeom prst="line">
            <a:avLst/>
          </a:prstGeom>
          <a:ln w="9525" cap="flat" cmpd="sng">
            <a:solidFill>
              <a:schemeClr val="accent2"/>
            </a:solidFill>
            <a:prstDash val="sysDot"/>
            <a:headEnd type="none" w="med" len="med"/>
            <a:tailEnd type="none" w="med" len="med"/>
          </a:ln>
        </p:spPr>
      </p:sp>
      <p:sp>
        <p:nvSpPr>
          <p:cNvPr id="2245726" name="Text Box 1118"/>
          <p:cNvSpPr txBox="1"/>
          <p:nvPr/>
        </p:nvSpPr>
        <p:spPr>
          <a:xfrm>
            <a:off x="1893888" y="5859463"/>
            <a:ext cx="33655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2245727" name="Line 1119"/>
          <p:cNvSpPr/>
          <p:nvPr/>
        </p:nvSpPr>
        <p:spPr>
          <a:xfrm flipV="1">
            <a:off x="2036763" y="1806575"/>
            <a:ext cx="0" cy="542925"/>
          </a:xfrm>
          <a:prstGeom prst="line">
            <a:avLst/>
          </a:prstGeom>
          <a:ln w="9525" cap="flat" cmpd="sng">
            <a:solidFill>
              <a:srgbClr val="CC00CC"/>
            </a:solidFill>
            <a:prstDash val="solid"/>
            <a:headEnd type="none" w="med" len="med"/>
            <a:tailEnd type="none" w="med" len="med"/>
          </a:ln>
        </p:spPr>
      </p:sp>
      <p:sp>
        <p:nvSpPr>
          <p:cNvPr id="2245728" name="Line 1120"/>
          <p:cNvSpPr/>
          <p:nvPr/>
        </p:nvSpPr>
        <p:spPr>
          <a:xfrm flipV="1">
            <a:off x="2036763" y="4697413"/>
            <a:ext cx="1587" cy="398462"/>
          </a:xfrm>
          <a:prstGeom prst="line">
            <a:avLst/>
          </a:prstGeom>
          <a:ln w="25400" cap="flat" cmpd="sng">
            <a:solidFill>
              <a:srgbClr val="CC00CC"/>
            </a:solidFill>
            <a:prstDash val="solid"/>
            <a:headEnd type="none" w="med" len="med"/>
            <a:tailEnd type="none" w="med" len="med"/>
          </a:ln>
        </p:spPr>
      </p:sp>
      <p:sp>
        <p:nvSpPr>
          <p:cNvPr id="2245729" name="Line 1121"/>
          <p:cNvSpPr/>
          <p:nvPr/>
        </p:nvSpPr>
        <p:spPr>
          <a:xfrm flipH="1">
            <a:off x="639763" y="4711700"/>
            <a:ext cx="1398587" cy="0"/>
          </a:xfrm>
          <a:prstGeom prst="line">
            <a:avLst/>
          </a:prstGeom>
          <a:ln w="9525" cap="flat" cmpd="sng">
            <a:solidFill>
              <a:srgbClr val="008080"/>
            </a:solidFill>
            <a:prstDash val="sysDot"/>
            <a:headEnd type="none" w="med" len="med"/>
            <a:tailEnd type="none" w="med" len="med"/>
          </a:ln>
        </p:spPr>
      </p:sp>
      <p:sp>
        <p:nvSpPr>
          <p:cNvPr id="2245730" name="Text Box 1122"/>
          <p:cNvSpPr txBox="1"/>
          <p:nvPr/>
        </p:nvSpPr>
        <p:spPr>
          <a:xfrm>
            <a:off x="314325" y="4500563"/>
            <a:ext cx="400050" cy="312737"/>
          </a:xfrm>
          <a:prstGeom prst="rect">
            <a:avLst/>
          </a:prstGeom>
          <a:noFill/>
          <a:ln w="9525">
            <a:noFill/>
          </a:ln>
        </p:spPr>
        <p:txBody>
          <a:bodyPr wrap="none">
            <a:spAutoFit/>
          </a:bodyPr>
          <a:p>
            <a:pPr eaLnBrk="1" hangingPunct="1">
              <a:lnSpc>
                <a:spcPct val="90000"/>
              </a:lnSpc>
            </a:pPr>
            <a:r>
              <a:rPr lang="en-US" altLang="zh-CN" sz="1600" dirty="0">
                <a:latin typeface="Times New Roman" panose="02020603050405020304" pitchFamily="18" charset="0"/>
              </a:rPr>
              <a:t>A</a:t>
            </a:r>
            <a:r>
              <a:rPr lang="en-US" altLang="zh-CN" sz="1600" baseline="-25000" dirty="0">
                <a:latin typeface="Times New Roman" panose="02020603050405020304" pitchFamily="18" charset="0"/>
              </a:rPr>
              <a:t>1</a:t>
            </a:r>
            <a:endParaRPr lang="en-US" altLang="zh-CN" sz="1600" baseline="-25000" dirty="0">
              <a:latin typeface="Times New Roman" panose="02020603050405020304" pitchFamily="18" charset="0"/>
            </a:endParaRPr>
          </a:p>
        </p:txBody>
      </p:sp>
      <p:sp>
        <p:nvSpPr>
          <p:cNvPr id="2245731" name="Line 1123"/>
          <p:cNvSpPr/>
          <p:nvPr/>
        </p:nvSpPr>
        <p:spPr>
          <a:xfrm>
            <a:off x="2036763" y="1806575"/>
            <a:ext cx="609600" cy="0"/>
          </a:xfrm>
          <a:prstGeom prst="line">
            <a:avLst/>
          </a:prstGeom>
          <a:ln w="9525" cap="flat" cmpd="sng">
            <a:solidFill>
              <a:srgbClr val="CC00CC"/>
            </a:solidFill>
            <a:prstDash val="solid"/>
            <a:headEnd type="none" w="med" len="med"/>
            <a:tailEnd type="none" w="med" len="med"/>
          </a:ln>
        </p:spPr>
      </p:sp>
      <p:sp>
        <p:nvSpPr>
          <p:cNvPr id="2245732" name="Line 1124"/>
          <p:cNvSpPr/>
          <p:nvPr/>
        </p:nvSpPr>
        <p:spPr>
          <a:xfrm flipH="1" flipV="1">
            <a:off x="2646363" y="2349500"/>
            <a:ext cx="1587" cy="3552825"/>
          </a:xfrm>
          <a:prstGeom prst="line">
            <a:avLst/>
          </a:prstGeom>
          <a:ln w="9525" cap="flat" cmpd="sng">
            <a:solidFill>
              <a:schemeClr val="accent2"/>
            </a:solidFill>
            <a:prstDash val="sysDot"/>
            <a:headEnd type="none" w="med" len="med"/>
            <a:tailEnd type="none" w="med" len="med"/>
          </a:ln>
        </p:spPr>
      </p:sp>
      <p:sp>
        <p:nvSpPr>
          <p:cNvPr id="2245733" name="Text Box 1125"/>
          <p:cNvSpPr txBox="1"/>
          <p:nvPr/>
        </p:nvSpPr>
        <p:spPr>
          <a:xfrm>
            <a:off x="2471738" y="5853113"/>
            <a:ext cx="33655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3</a:t>
            </a:r>
            <a:endParaRPr lang="en-US" altLang="zh-CN" sz="2000" baseline="-25000" dirty="0">
              <a:latin typeface="Times New Roman" panose="02020603050405020304" pitchFamily="18" charset="0"/>
            </a:endParaRPr>
          </a:p>
        </p:txBody>
      </p:sp>
      <p:sp>
        <p:nvSpPr>
          <p:cNvPr id="2245734" name="Line 1126"/>
          <p:cNvSpPr/>
          <p:nvPr/>
        </p:nvSpPr>
        <p:spPr>
          <a:xfrm>
            <a:off x="2644775" y="1806575"/>
            <a:ext cx="0" cy="542925"/>
          </a:xfrm>
          <a:prstGeom prst="line">
            <a:avLst/>
          </a:prstGeom>
          <a:ln w="9525" cap="flat" cmpd="sng">
            <a:solidFill>
              <a:srgbClr val="CC00CC"/>
            </a:solidFill>
            <a:prstDash val="solid"/>
            <a:headEnd type="none" w="med" len="med"/>
            <a:tailEnd type="none" w="med" len="med"/>
          </a:ln>
        </p:spPr>
      </p:sp>
      <p:sp>
        <p:nvSpPr>
          <p:cNvPr id="2245735" name="Text Box 1127"/>
          <p:cNvSpPr txBox="1"/>
          <p:nvPr/>
        </p:nvSpPr>
        <p:spPr>
          <a:xfrm>
            <a:off x="1422400" y="1479550"/>
            <a:ext cx="808038" cy="312738"/>
          </a:xfrm>
          <a:prstGeom prst="rect">
            <a:avLst/>
          </a:prstGeom>
          <a:noFill/>
          <a:ln w="9525">
            <a:noFill/>
          </a:ln>
        </p:spPr>
        <p:txBody>
          <a:bodyPr>
            <a:spAutoFit/>
          </a:bodyPr>
          <a:p>
            <a:pPr eaLnBrk="1" hangingPunct="1">
              <a:lnSpc>
                <a:spcPct val="90000"/>
              </a:lnSpc>
            </a:pPr>
            <a:r>
              <a:rPr lang="zh-CN" altLang="en-US" sz="1600" dirty="0">
                <a:solidFill>
                  <a:srgbClr val="CC00CC"/>
                </a:solidFill>
                <a:latin typeface="Times New Roman" panose="02020603050405020304" pitchFamily="18" charset="0"/>
              </a:rPr>
              <a:t>保持</a:t>
            </a:r>
            <a:endParaRPr lang="zh-CN" altLang="en-US" sz="1600" dirty="0">
              <a:solidFill>
                <a:srgbClr val="CC00CC"/>
              </a:solidFill>
              <a:latin typeface="Times New Roman" panose="02020603050405020304" pitchFamily="18" charset="0"/>
            </a:endParaRPr>
          </a:p>
        </p:txBody>
      </p:sp>
      <p:sp>
        <p:nvSpPr>
          <p:cNvPr id="2245736" name="Line 1128"/>
          <p:cNvSpPr/>
          <p:nvPr/>
        </p:nvSpPr>
        <p:spPr>
          <a:xfrm>
            <a:off x="2640013" y="5175250"/>
            <a:ext cx="822325" cy="0"/>
          </a:xfrm>
          <a:prstGeom prst="line">
            <a:avLst/>
          </a:prstGeom>
          <a:ln w="25400" cap="flat" cmpd="sng">
            <a:solidFill>
              <a:srgbClr val="CC00CC"/>
            </a:solidFill>
            <a:prstDash val="solid"/>
            <a:headEnd type="none" w="med" len="med"/>
            <a:tailEnd type="none" w="med" len="med"/>
          </a:ln>
        </p:spPr>
      </p:sp>
      <p:sp>
        <p:nvSpPr>
          <p:cNvPr id="2245737" name="Line 1129"/>
          <p:cNvSpPr/>
          <p:nvPr/>
        </p:nvSpPr>
        <p:spPr>
          <a:xfrm flipH="1">
            <a:off x="639763" y="5175250"/>
            <a:ext cx="2000250" cy="0"/>
          </a:xfrm>
          <a:prstGeom prst="line">
            <a:avLst/>
          </a:prstGeom>
          <a:ln w="9525" cap="flat" cmpd="sng">
            <a:solidFill>
              <a:srgbClr val="008080"/>
            </a:solidFill>
            <a:prstDash val="sysDot"/>
            <a:headEnd type="none" w="med" len="med"/>
            <a:tailEnd type="none" w="med" len="med"/>
          </a:ln>
        </p:spPr>
      </p:sp>
      <p:sp>
        <p:nvSpPr>
          <p:cNvPr id="2245738" name="Text Box 1130"/>
          <p:cNvSpPr txBox="1"/>
          <p:nvPr/>
        </p:nvSpPr>
        <p:spPr>
          <a:xfrm>
            <a:off x="295275" y="5022850"/>
            <a:ext cx="400050" cy="312738"/>
          </a:xfrm>
          <a:prstGeom prst="rect">
            <a:avLst/>
          </a:prstGeom>
          <a:noFill/>
          <a:ln w="9525">
            <a:noFill/>
          </a:ln>
        </p:spPr>
        <p:txBody>
          <a:bodyPr wrap="none">
            <a:spAutoFit/>
          </a:bodyPr>
          <a:p>
            <a:pPr eaLnBrk="1" hangingPunct="1">
              <a:lnSpc>
                <a:spcPct val="90000"/>
              </a:lnSpc>
            </a:pPr>
            <a:r>
              <a:rPr lang="en-US" altLang="zh-CN" sz="1600" dirty="0">
                <a:latin typeface="Times New Roman" panose="02020603050405020304" pitchFamily="18" charset="0"/>
              </a:rPr>
              <a:t>A</a:t>
            </a:r>
            <a:r>
              <a:rPr lang="en-US" altLang="zh-CN" sz="1600" baseline="-25000" dirty="0">
                <a:latin typeface="Times New Roman" panose="02020603050405020304" pitchFamily="18" charset="0"/>
              </a:rPr>
              <a:t>3</a:t>
            </a:r>
            <a:endParaRPr lang="en-US" altLang="zh-CN" sz="1600" baseline="-25000" dirty="0">
              <a:latin typeface="Times New Roman" panose="02020603050405020304" pitchFamily="18" charset="0"/>
            </a:endParaRPr>
          </a:p>
        </p:txBody>
      </p:sp>
      <p:sp>
        <p:nvSpPr>
          <p:cNvPr id="2245739" name="Line 1131"/>
          <p:cNvSpPr/>
          <p:nvPr/>
        </p:nvSpPr>
        <p:spPr>
          <a:xfrm>
            <a:off x="3448050" y="2349500"/>
            <a:ext cx="14288" cy="3552825"/>
          </a:xfrm>
          <a:prstGeom prst="line">
            <a:avLst/>
          </a:prstGeom>
          <a:ln w="9525" cap="flat" cmpd="sng">
            <a:solidFill>
              <a:schemeClr val="accent2"/>
            </a:solidFill>
            <a:prstDash val="sysDot"/>
            <a:headEnd type="none" w="med" len="med"/>
            <a:tailEnd type="none" w="med" len="med"/>
          </a:ln>
        </p:spPr>
      </p:sp>
      <p:sp>
        <p:nvSpPr>
          <p:cNvPr id="2245740" name="Text Box 1132"/>
          <p:cNvSpPr txBox="1"/>
          <p:nvPr/>
        </p:nvSpPr>
        <p:spPr>
          <a:xfrm>
            <a:off x="3294063" y="5857875"/>
            <a:ext cx="336550" cy="366713"/>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4</a:t>
            </a:r>
            <a:endParaRPr lang="en-US" altLang="zh-CN" sz="2000" baseline="-25000" dirty="0">
              <a:latin typeface="Times New Roman" panose="02020603050405020304" pitchFamily="18" charset="0"/>
            </a:endParaRPr>
          </a:p>
        </p:txBody>
      </p:sp>
      <p:sp>
        <p:nvSpPr>
          <p:cNvPr id="2245741" name="Line 1133"/>
          <p:cNvSpPr/>
          <p:nvPr/>
        </p:nvSpPr>
        <p:spPr>
          <a:xfrm flipV="1">
            <a:off x="3448050" y="1806575"/>
            <a:ext cx="0" cy="542925"/>
          </a:xfrm>
          <a:prstGeom prst="line">
            <a:avLst/>
          </a:prstGeom>
          <a:ln w="9525" cap="flat" cmpd="sng">
            <a:solidFill>
              <a:srgbClr val="CC00CC"/>
            </a:solidFill>
            <a:prstDash val="solid"/>
            <a:headEnd type="none" w="med" len="med"/>
            <a:tailEnd type="none" w="med" len="med"/>
          </a:ln>
        </p:spPr>
      </p:sp>
      <p:sp>
        <p:nvSpPr>
          <p:cNvPr id="2245742" name="Line 1134"/>
          <p:cNvSpPr/>
          <p:nvPr/>
        </p:nvSpPr>
        <p:spPr>
          <a:xfrm>
            <a:off x="3448050" y="1806575"/>
            <a:ext cx="517525" cy="0"/>
          </a:xfrm>
          <a:prstGeom prst="line">
            <a:avLst/>
          </a:prstGeom>
          <a:ln w="9525" cap="flat" cmpd="sng">
            <a:solidFill>
              <a:srgbClr val="CC00CC"/>
            </a:solidFill>
            <a:prstDash val="solid"/>
            <a:headEnd type="none" w="med" len="med"/>
            <a:tailEnd type="none" w="med" len="med"/>
          </a:ln>
        </p:spPr>
      </p:sp>
      <p:sp>
        <p:nvSpPr>
          <p:cNvPr id="2245743" name="Freeform 1135"/>
          <p:cNvSpPr/>
          <p:nvPr/>
        </p:nvSpPr>
        <p:spPr>
          <a:xfrm>
            <a:off x="1209675" y="5095875"/>
            <a:ext cx="198438" cy="436563"/>
          </a:xfrm>
          <a:custGeom>
            <a:avLst/>
            <a:gdLst/>
            <a:ahLst/>
            <a:cxnLst>
              <a:cxn ang="0">
                <a:pos x="0" y="2147483646"/>
              </a:cxn>
              <a:cxn ang="0">
                <a:pos x="2147483646" y="2147483646"/>
              </a:cxn>
              <a:cxn ang="0">
                <a:pos x="2147483646" y="2147483646"/>
              </a:cxn>
              <a:cxn ang="0">
                <a:pos x="2147483646" y="0"/>
              </a:cxn>
            </a:cxnLst>
            <a:pathLst>
              <a:path w="125" h="275">
                <a:moveTo>
                  <a:pt x="0" y="275"/>
                </a:moveTo>
                <a:cubicBezTo>
                  <a:pt x="21" y="252"/>
                  <a:pt x="43" y="229"/>
                  <a:pt x="58" y="200"/>
                </a:cubicBezTo>
                <a:cubicBezTo>
                  <a:pt x="73" y="171"/>
                  <a:pt x="81" y="133"/>
                  <a:pt x="92" y="100"/>
                </a:cubicBezTo>
                <a:cubicBezTo>
                  <a:pt x="103" y="67"/>
                  <a:pt x="120" y="17"/>
                  <a:pt x="125" y="0"/>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44" name="Freeform 1136"/>
          <p:cNvSpPr/>
          <p:nvPr/>
        </p:nvSpPr>
        <p:spPr>
          <a:xfrm>
            <a:off x="1408113" y="4433888"/>
            <a:ext cx="630237" cy="661987"/>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275" h="417">
                <a:moveTo>
                  <a:pt x="0" y="417"/>
                </a:moveTo>
                <a:cubicBezTo>
                  <a:pt x="5" y="376"/>
                  <a:pt x="10" y="335"/>
                  <a:pt x="17" y="300"/>
                </a:cubicBezTo>
                <a:cubicBezTo>
                  <a:pt x="24" y="265"/>
                  <a:pt x="35" y="234"/>
                  <a:pt x="42" y="208"/>
                </a:cubicBezTo>
                <a:cubicBezTo>
                  <a:pt x="49" y="182"/>
                  <a:pt x="50" y="165"/>
                  <a:pt x="58" y="141"/>
                </a:cubicBezTo>
                <a:cubicBezTo>
                  <a:pt x="66" y="117"/>
                  <a:pt x="80" y="88"/>
                  <a:pt x="92" y="66"/>
                </a:cubicBezTo>
                <a:cubicBezTo>
                  <a:pt x="104" y="44"/>
                  <a:pt x="118" y="16"/>
                  <a:pt x="133" y="8"/>
                </a:cubicBezTo>
                <a:cubicBezTo>
                  <a:pt x="148" y="0"/>
                  <a:pt x="164" y="4"/>
                  <a:pt x="184" y="16"/>
                </a:cubicBezTo>
                <a:cubicBezTo>
                  <a:pt x="204" y="28"/>
                  <a:pt x="235" y="57"/>
                  <a:pt x="250" y="83"/>
                </a:cubicBezTo>
                <a:cubicBezTo>
                  <a:pt x="265" y="109"/>
                  <a:pt x="271" y="160"/>
                  <a:pt x="275" y="175"/>
                </a:cubicBezTo>
              </a:path>
            </a:pathLst>
          </a:custGeom>
          <a:noFill/>
          <a:ln w="9525" cap="flat" cmpd="sng">
            <a:solidFill>
              <a:srgbClr val="FF0000">
                <a:alpha val="100000"/>
              </a:srgbClr>
            </a:solidFill>
            <a:prstDash val="sysDot"/>
            <a:round/>
            <a:headEnd type="none" w="med" len="med"/>
            <a:tailEnd type="none" w="med" len="med"/>
          </a:ln>
        </p:spPr>
        <p:txBody>
          <a:bodyPr/>
          <a:p>
            <a:endParaRPr lang="zh-CN" altLang="en-US"/>
          </a:p>
        </p:txBody>
      </p:sp>
      <p:sp>
        <p:nvSpPr>
          <p:cNvPr id="2245745" name="Freeform 1137"/>
          <p:cNvSpPr/>
          <p:nvPr/>
        </p:nvSpPr>
        <p:spPr>
          <a:xfrm>
            <a:off x="2640013" y="4935538"/>
            <a:ext cx="822325" cy="396875"/>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635" h="250">
                <a:moveTo>
                  <a:pt x="0" y="151"/>
                </a:moveTo>
                <a:cubicBezTo>
                  <a:pt x="15" y="119"/>
                  <a:pt x="31" y="88"/>
                  <a:pt x="42" y="67"/>
                </a:cubicBezTo>
                <a:cubicBezTo>
                  <a:pt x="53" y="46"/>
                  <a:pt x="53" y="37"/>
                  <a:pt x="67" y="26"/>
                </a:cubicBezTo>
                <a:cubicBezTo>
                  <a:pt x="81" y="15"/>
                  <a:pt x="102" y="0"/>
                  <a:pt x="126" y="1"/>
                </a:cubicBezTo>
                <a:cubicBezTo>
                  <a:pt x="150" y="2"/>
                  <a:pt x="183" y="17"/>
                  <a:pt x="209" y="34"/>
                </a:cubicBezTo>
                <a:cubicBezTo>
                  <a:pt x="235" y="51"/>
                  <a:pt x="262" y="82"/>
                  <a:pt x="284" y="101"/>
                </a:cubicBezTo>
                <a:cubicBezTo>
                  <a:pt x="306" y="120"/>
                  <a:pt x="322" y="133"/>
                  <a:pt x="343" y="151"/>
                </a:cubicBezTo>
                <a:cubicBezTo>
                  <a:pt x="364" y="169"/>
                  <a:pt x="391" y="194"/>
                  <a:pt x="409" y="209"/>
                </a:cubicBezTo>
                <a:cubicBezTo>
                  <a:pt x="427" y="224"/>
                  <a:pt x="433" y="237"/>
                  <a:pt x="451" y="243"/>
                </a:cubicBezTo>
                <a:cubicBezTo>
                  <a:pt x="469" y="249"/>
                  <a:pt x="499" y="250"/>
                  <a:pt x="518" y="243"/>
                </a:cubicBezTo>
                <a:cubicBezTo>
                  <a:pt x="537" y="236"/>
                  <a:pt x="548" y="216"/>
                  <a:pt x="568" y="201"/>
                </a:cubicBezTo>
                <a:cubicBezTo>
                  <a:pt x="588" y="186"/>
                  <a:pt x="624" y="159"/>
                  <a:pt x="635" y="151"/>
                </a:cubicBezTo>
              </a:path>
            </a:pathLst>
          </a:custGeom>
          <a:noFill/>
          <a:ln w="9525" cap="flat" cmpd="sng">
            <a:solidFill>
              <a:srgbClr val="FF0000">
                <a:alpha val="100000"/>
              </a:srgbClr>
            </a:solidFill>
            <a:prstDash val="sysDot"/>
            <a:round/>
            <a:headEnd type="none" w="med" len="med"/>
            <a:tailEnd type="none" w="med" len="med"/>
          </a:ln>
        </p:spPr>
        <p:txBody>
          <a:bodyPr/>
          <a:p>
            <a:endParaRPr lang="zh-CN" altLang="en-US"/>
          </a:p>
        </p:txBody>
      </p:sp>
      <p:sp>
        <p:nvSpPr>
          <p:cNvPr id="2245746" name="Freeform 1138"/>
          <p:cNvSpPr/>
          <p:nvPr/>
        </p:nvSpPr>
        <p:spPr>
          <a:xfrm>
            <a:off x="3462338" y="4910138"/>
            <a:ext cx="357187" cy="265112"/>
          </a:xfrm>
          <a:custGeom>
            <a:avLst/>
            <a:gdLst/>
            <a:ahLst/>
            <a:cxnLst>
              <a:cxn ang="0">
                <a:pos x="0" y="2147483646"/>
              </a:cxn>
              <a:cxn ang="0">
                <a:pos x="2147483646" y="2147483646"/>
              </a:cxn>
              <a:cxn ang="0">
                <a:pos x="2147483646" y="2147483646"/>
              </a:cxn>
              <a:cxn ang="0">
                <a:pos x="2147483646" y="0"/>
              </a:cxn>
            </a:cxnLst>
            <a:pathLst>
              <a:path w="225" h="167">
                <a:moveTo>
                  <a:pt x="0" y="167"/>
                </a:moveTo>
                <a:cubicBezTo>
                  <a:pt x="28" y="138"/>
                  <a:pt x="56" y="110"/>
                  <a:pt x="75" y="92"/>
                </a:cubicBezTo>
                <a:cubicBezTo>
                  <a:pt x="94" y="74"/>
                  <a:pt x="92" y="73"/>
                  <a:pt x="117" y="58"/>
                </a:cubicBezTo>
                <a:cubicBezTo>
                  <a:pt x="142" y="43"/>
                  <a:pt x="207" y="10"/>
                  <a:pt x="225" y="0"/>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47" name="Freeform 1139"/>
          <p:cNvSpPr/>
          <p:nvPr/>
        </p:nvSpPr>
        <p:spPr>
          <a:xfrm>
            <a:off x="2035175" y="4711700"/>
            <a:ext cx="609600" cy="811213"/>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84" h="511">
                <a:moveTo>
                  <a:pt x="0" y="0"/>
                </a:moveTo>
                <a:cubicBezTo>
                  <a:pt x="16" y="32"/>
                  <a:pt x="32" y="64"/>
                  <a:pt x="42" y="92"/>
                </a:cubicBezTo>
                <a:cubicBezTo>
                  <a:pt x="52" y="120"/>
                  <a:pt x="51" y="138"/>
                  <a:pt x="59" y="167"/>
                </a:cubicBezTo>
                <a:cubicBezTo>
                  <a:pt x="67" y="196"/>
                  <a:pt x="82" y="237"/>
                  <a:pt x="92" y="267"/>
                </a:cubicBezTo>
                <a:cubicBezTo>
                  <a:pt x="102" y="297"/>
                  <a:pt x="109" y="322"/>
                  <a:pt x="117" y="350"/>
                </a:cubicBezTo>
                <a:cubicBezTo>
                  <a:pt x="125" y="378"/>
                  <a:pt x="129" y="409"/>
                  <a:pt x="142" y="434"/>
                </a:cubicBezTo>
                <a:cubicBezTo>
                  <a:pt x="155" y="459"/>
                  <a:pt x="171" y="491"/>
                  <a:pt x="192" y="501"/>
                </a:cubicBezTo>
                <a:cubicBezTo>
                  <a:pt x="213" y="511"/>
                  <a:pt x="246" y="510"/>
                  <a:pt x="268" y="492"/>
                </a:cubicBezTo>
                <a:cubicBezTo>
                  <a:pt x="290" y="474"/>
                  <a:pt x="307" y="425"/>
                  <a:pt x="326" y="392"/>
                </a:cubicBezTo>
                <a:cubicBezTo>
                  <a:pt x="345" y="359"/>
                  <a:pt x="374" y="308"/>
                  <a:pt x="384" y="292"/>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48" name="Text Box 1140"/>
          <p:cNvSpPr txBox="1"/>
          <p:nvPr/>
        </p:nvSpPr>
        <p:spPr>
          <a:xfrm>
            <a:off x="312738" y="4175125"/>
            <a:ext cx="330200" cy="312738"/>
          </a:xfrm>
          <a:prstGeom prst="rect">
            <a:avLst/>
          </a:prstGeom>
          <a:noFill/>
          <a:ln w="9525">
            <a:noFill/>
          </a:ln>
        </p:spPr>
        <p:txBody>
          <a:bodyPr wrap="none">
            <a:spAutoFit/>
          </a:bodyPr>
          <a:p>
            <a:pPr eaLnBrk="1" hangingPunct="1">
              <a:lnSpc>
                <a:spcPct val="90000"/>
              </a:lnSpc>
            </a:pPr>
            <a:r>
              <a:rPr lang="en-US" altLang="zh-CN" sz="1600" dirty="0">
                <a:solidFill>
                  <a:srgbClr val="FF0000"/>
                </a:solidFill>
                <a:latin typeface="Times New Roman" panose="02020603050405020304" pitchFamily="18" charset="0"/>
              </a:rPr>
              <a:t>A</a:t>
            </a:r>
            <a:endParaRPr lang="en-US" altLang="zh-CN" sz="1600" dirty="0">
              <a:solidFill>
                <a:srgbClr val="FF0000"/>
              </a:solidFill>
              <a:latin typeface="Times New Roman" panose="02020603050405020304" pitchFamily="18" charset="0"/>
            </a:endParaRPr>
          </a:p>
        </p:txBody>
      </p:sp>
      <p:sp>
        <p:nvSpPr>
          <p:cNvPr id="2245749" name="Freeform 1141"/>
          <p:cNvSpPr/>
          <p:nvPr/>
        </p:nvSpPr>
        <p:spPr>
          <a:xfrm>
            <a:off x="1212850" y="3303588"/>
            <a:ext cx="198438" cy="436562"/>
          </a:xfrm>
          <a:custGeom>
            <a:avLst/>
            <a:gdLst/>
            <a:ahLst/>
            <a:cxnLst>
              <a:cxn ang="0">
                <a:pos x="0" y="2147483646"/>
              </a:cxn>
              <a:cxn ang="0">
                <a:pos x="2147483646" y="2147483646"/>
              </a:cxn>
              <a:cxn ang="0">
                <a:pos x="2147483646" y="2147483646"/>
              </a:cxn>
              <a:cxn ang="0">
                <a:pos x="2147483646" y="0"/>
              </a:cxn>
            </a:cxnLst>
            <a:pathLst>
              <a:path w="125" h="275">
                <a:moveTo>
                  <a:pt x="0" y="275"/>
                </a:moveTo>
                <a:cubicBezTo>
                  <a:pt x="21" y="252"/>
                  <a:pt x="43" y="229"/>
                  <a:pt x="58" y="200"/>
                </a:cubicBezTo>
                <a:cubicBezTo>
                  <a:pt x="73" y="171"/>
                  <a:pt x="81" y="133"/>
                  <a:pt x="92" y="100"/>
                </a:cubicBezTo>
                <a:cubicBezTo>
                  <a:pt x="103" y="67"/>
                  <a:pt x="120" y="17"/>
                  <a:pt x="125" y="0"/>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50" name="Freeform 1142"/>
          <p:cNvSpPr/>
          <p:nvPr/>
        </p:nvSpPr>
        <p:spPr>
          <a:xfrm>
            <a:off x="2038350" y="2917825"/>
            <a:ext cx="609600" cy="811213"/>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84" h="511">
                <a:moveTo>
                  <a:pt x="0" y="0"/>
                </a:moveTo>
                <a:cubicBezTo>
                  <a:pt x="16" y="32"/>
                  <a:pt x="32" y="64"/>
                  <a:pt x="42" y="92"/>
                </a:cubicBezTo>
                <a:cubicBezTo>
                  <a:pt x="52" y="120"/>
                  <a:pt x="51" y="138"/>
                  <a:pt x="59" y="167"/>
                </a:cubicBezTo>
                <a:cubicBezTo>
                  <a:pt x="67" y="196"/>
                  <a:pt x="82" y="237"/>
                  <a:pt x="92" y="267"/>
                </a:cubicBezTo>
                <a:cubicBezTo>
                  <a:pt x="102" y="297"/>
                  <a:pt x="109" y="322"/>
                  <a:pt x="117" y="350"/>
                </a:cubicBezTo>
                <a:cubicBezTo>
                  <a:pt x="125" y="378"/>
                  <a:pt x="129" y="409"/>
                  <a:pt x="142" y="434"/>
                </a:cubicBezTo>
                <a:cubicBezTo>
                  <a:pt x="155" y="459"/>
                  <a:pt x="171" y="491"/>
                  <a:pt x="192" y="501"/>
                </a:cubicBezTo>
                <a:cubicBezTo>
                  <a:pt x="213" y="511"/>
                  <a:pt x="246" y="510"/>
                  <a:pt x="268" y="492"/>
                </a:cubicBezTo>
                <a:cubicBezTo>
                  <a:pt x="290" y="474"/>
                  <a:pt x="307" y="425"/>
                  <a:pt x="326" y="392"/>
                </a:cubicBezTo>
                <a:cubicBezTo>
                  <a:pt x="345" y="359"/>
                  <a:pt x="374" y="308"/>
                  <a:pt x="384" y="292"/>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51" name="Freeform 1143"/>
          <p:cNvSpPr/>
          <p:nvPr/>
        </p:nvSpPr>
        <p:spPr>
          <a:xfrm>
            <a:off x="2640013" y="3165475"/>
            <a:ext cx="825500" cy="396875"/>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635" h="250">
                <a:moveTo>
                  <a:pt x="0" y="151"/>
                </a:moveTo>
                <a:cubicBezTo>
                  <a:pt x="15" y="119"/>
                  <a:pt x="31" y="88"/>
                  <a:pt x="42" y="67"/>
                </a:cubicBezTo>
                <a:cubicBezTo>
                  <a:pt x="53" y="46"/>
                  <a:pt x="53" y="37"/>
                  <a:pt x="67" y="26"/>
                </a:cubicBezTo>
                <a:cubicBezTo>
                  <a:pt x="81" y="15"/>
                  <a:pt x="102" y="0"/>
                  <a:pt x="126" y="1"/>
                </a:cubicBezTo>
                <a:cubicBezTo>
                  <a:pt x="150" y="2"/>
                  <a:pt x="183" y="17"/>
                  <a:pt x="209" y="34"/>
                </a:cubicBezTo>
                <a:cubicBezTo>
                  <a:pt x="235" y="51"/>
                  <a:pt x="262" y="82"/>
                  <a:pt x="284" y="101"/>
                </a:cubicBezTo>
                <a:cubicBezTo>
                  <a:pt x="306" y="120"/>
                  <a:pt x="322" y="133"/>
                  <a:pt x="343" y="151"/>
                </a:cubicBezTo>
                <a:cubicBezTo>
                  <a:pt x="364" y="169"/>
                  <a:pt x="391" y="194"/>
                  <a:pt x="409" y="209"/>
                </a:cubicBezTo>
                <a:cubicBezTo>
                  <a:pt x="427" y="224"/>
                  <a:pt x="433" y="237"/>
                  <a:pt x="451" y="243"/>
                </a:cubicBezTo>
                <a:cubicBezTo>
                  <a:pt x="469" y="249"/>
                  <a:pt x="499" y="250"/>
                  <a:pt x="518" y="243"/>
                </a:cubicBezTo>
                <a:cubicBezTo>
                  <a:pt x="537" y="236"/>
                  <a:pt x="548" y="216"/>
                  <a:pt x="568" y="201"/>
                </a:cubicBezTo>
                <a:cubicBezTo>
                  <a:pt x="588" y="186"/>
                  <a:pt x="624" y="159"/>
                  <a:pt x="635" y="151"/>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52" name="Freeform 1144"/>
          <p:cNvSpPr/>
          <p:nvPr/>
        </p:nvSpPr>
        <p:spPr>
          <a:xfrm>
            <a:off x="3468688" y="3141663"/>
            <a:ext cx="357187" cy="265112"/>
          </a:xfrm>
          <a:custGeom>
            <a:avLst/>
            <a:gdLst/>
            <a:ahLst/>
            <a:cxnLst>
              <a:cxn ang="0">
                <a:pos x="0" y="2147483646"/>
              </a:cxn>
              <a:cxn ang="0">
                <a:pos x="2147483646" y="2147483646"/>
              </a:cxn>
              <a:cxn ang="0">
                <a:pos x="2147483646" y="2147483646"/>
              </a:cxn>
              <a:cxn ang="0">
                <a:pos x="2147483646" y="0"/>
              </a:cxn>
            </a:cxnLst>
            <a:pathLst>
              <a:path w="225" h="167">
                <a:moveTo>
                  <a:pt x="0" y="167"/>
                </a:moveTo>
                <a:cubicBezTo>
                  <a:pt x="28" y="138"/>
                  <a:pt x="56" y="110"/>
                  <a:pt x="75" y="92"/>
                </a:cubicBezTo>
                <a:cubicBezTo>
                  <a:pt x="94" y="74"/>
                  <a:pt x="92" y="73"/>
                  <a:pt x="117" y="58"/>
                </a:cubicBezTo>
                <a:cubicBezTo>
                  <a:pt x="142" y="43"/>
                  <a:pt x="207" y="10"/>
                  <a:pt x="225" y="0"/>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53" name="Text Box 1145"/>
          <p:cNvSpPr txBox="1"/>
          <p:nvPr/>
        </p:nvSpPr>
        <p:spPr>
          <a:xfrm>
            <a:off x="292100" y="692150"/>
            <a:ext cx="3884613" cy="476250"/>
          </a:xfrm>
          <a:prstGeom prst="rect">
            <a:avLst/>
          </a:prstGeom>
          <a:solidFill>
            <a:srgbClr val="99CCFF"/>
          </a:solidFill>
          <a:ln w="9525">
            <a:noFill/>
          </a:ln>
        </p:spPr>
        <p:txBody>
          <a:bodyPr>
            <a:spAutoFit/>
          </a:bodyPr>
          <a:p>
            <a:pPr eaLnBrk="1" hangingPunct="1">
              <a:lnSpc>
                <a:spcPct val="90000"/>
              </a:lnSpc>
            </a:pPr>
            <a:r>
              <a:rPr lang="zh-CN" altLang="en-US" sz="2800" dirty="0">
                <a:solidFill>
                  <a:srgbClr val="000099"/>
                </a:solidFill>
                <a:latin typeface="Times New Roman" panose="02020603050405020304" pitchFamily="18" charset="0"/>
              </a:rPr>
              <a:t>采样</a:t>
            </a:r>
            <a:r>
              <a:rPr lang="en-US" altLang="zh-CN" sz="2800" dirty="0">
                <a:solidFill>
                  <a:srgbClr val="000099"/>
                </a:solidFill>
                <a:latin typeface="Times New Roman" panose="02020603050405020304" pitchFamily="18" charset="0"/>
              </a:rPr>
              <a:t>/</a:t>
            </a:r>
            <a:r>
              <a:rPr lang="zh-CN" altLang="en-US" sz="2800" dirty="0">
                <a:solidFill>
                  <a:srgbClr val="000099"/>
                </a:solidFill>
                <a:latin typeface="Times New Roman" panose="02020603050405020304" pitchFamily="18" charset="0"/>
              </a:rPr>
              <a:t>保持器工作原理</a:t>
            </a:r>
            <a:endParaRPr lang="zh-CN" altLang="en-US" sz="2800" dirty="0">
              <a:solidFill>
                <a:srgbClr val="000099"/>
              </a:solidFill>
              <a:latin typeface="Times New Roman" panose="02020603050405020304" pitchFamily="18" charset="0"/>
            </a:endParaRPr>
          </a:p>
        </p:txBody>
      </p:sp>
      <p:sp>
        <p:nvSpPr>
          <p:cNvPr id="2245754" name="Freeform 1146"/>
          <p:cNvSpPr/>
          <p:nvPr/>
        </p:nvSpPr>
        <p:spPr>
          <a:xfrm>
            <a:off x="1414463" y="2638425"/>
            <a:ext cx="623887" cy="661988"/>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275" h="417">
                <a:moveTo>
                  <a:pt x="0" y="417"/>
                </a:moveTo>
                <a:cubicBezTo>
                  <a:pt x="5" y="376"/>
                  <a:pt x="10" y="335"/>
                  <a:pt x="17" y="300"/>
                </a:cubicBezTo>
                <a:cubicBezTo>
                  <a:pt x="24" y="265"/>
                  <a:pt x="35" y="234"/>
                  <a:pt x="42" y="208"/>
                </a:cubicBezTo>
                <a:cubicBezTo>
                  <a:pt x="49" y="182"/>
                  <a:pt x="50" y="165"/>
                  <a:pt x="58" y="141"/>
                </a:cubicBezTo>
                <a:cubicBezTo>
                  <a:pt x="66" y="117"/>
                  <a:pt x="80" y="88"/>
                  <a:pt x="92" y="66"/>
                </a:cubicBezTo>
                <a:cubicBezTo>
                  <a:pt x="104" y="44"/>
                  <a:pt x="118" y="16"/>
                  <a:pt x="133" y="8"/>
                </a:cubicBezTo>
                <a:cubicBezTo>
                  <a:pt x="148" y="0"/>
                  <a:pt x="164" y="4"/>
                  <a:pt x="184" y="16"/>
                </a:cubicBezTo>
                <a:cubicBezTo>
                  <a:pt x="204" y="28"/>
                  <a:pt x="235" y="57"/>
                  <a:pt x="250" y="83"/>
                </a:cubicBezTo>
                <a:cubicBezTo>
                  <a:pt x="265" y="109"/>
                  <a:pt x="271" y="160"/>
                  <a:pt x="275" y="175"/>
                </a:cubicBezTo>
              </a:path>
            </a:pathLst>
          </a:custGeom>
          <a:noFill/>
          <a:ln w="25400" cap="flat" cmpd="sng">
            <a:solidFill>
              <a:srgbClr val="FF0000">
                <a:alpha val="100000"/>
              </a:srgbClr>
            </a:solidFill>
            <a:prstDash val="solid"/>
            <a:round/>
            <a:headEnd type="none" w="med" len="med"/>
            <a:tailEnd type="none" w="med" len="med"/>
          </a:ln>
        </p:spPr>
        <p:txBody>
          <a:bodyPr/>
          <a:p>
            <a:endParaRPr lang="zh-CN" altLang="en-US"/>
          </a:p>
        </p:txBody>
      </p:sp>
      <p:sp>
        <p:nvSpPr>
          <p:cNvPr id="2245755" name="Text Box 1147"/>
          <p:cNvSpPr txBox="1"/>
          <p:nvPr/>
        </p:nvSpPr>
        <p:spPr>
          <a:xfrm>
            <a:off x="2054225" y="1481138"/>
            <a:ext cx="754063" cy="312737"/>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跟踪</a:t>
            </a:r>
            <a:endParaRPr lang="zh-CN" altLang="en-US" sz="1600" dirty="0">
              <a:latin typeface="Times New Roman" panose="02020603050405020304" pitchFamily="18" charset="0"/>
            </a:endParaRPr>
          </a:p>
        </p:txBody>
      </p:sp>
      <p:sp>
        <p:nvSpPr>
          <p:cNvPr id="2245756" name="Text Box 1148"/>
          <p:cNvSpPr txBox="1"/>
          <p:nvPr/>
        </p:nvSpPr>
        <p:spPr>
          <a:xfrm>
            <a:off x="2757488" y="1484313"/>
            <a:ext cx="690562" cy="312737"/>
          </a:xfrm>
          <a:prstGeom prst="rect">
            <a:avLst/>
          </a:prstGeom>
          <a:noFill/>
          <a:ln w="9525">
            <a:noFill/>
          </a:ln>
        </p:spPr>
        <p:txBody>
          <a:bodyPr>
            <a:spAutoFit/>
          </a:bodyPr>
          <a:p>
            <a:pPr eaLnBrk="1" hangingPunct="1">
              <a:lnSpc>
                <a:spcPct val="90000"/>
              </a:lnSpc>
            </a:pPr>
            <a:r>
              <a:rPr lang="zh-CN" altLang="en-US" sz="1600" dirty="0">
                <a:solidFill>
                  <a:srgbClr val="CC00CC"/>
                </a:solidFill>
                <a:latin typeface="Times New Roman" panose="02020603050405020304" pitchFamily="18" charset="0"/>
              </a:rPr>
              <a:t>保持</a:t>
            </a:r>
            <a:endParaRPr lang="zh-CN" altLang="en-US" sz="1600" dirty="0">
              <a:solidFill>
                <a:srgbClr val="CC00CC"/>
              </a:solidFill>
              <a:latin typeface="Times New Roman" panose="02020603050405020304" pitchFamily="18" charset="0"/>
            </a:endParaRPr>
          </a:p>
        </p:txBody>
      </p:sp>
      <p:sp>
        <p:nvSpPr>
          <p:cNvPr id="2245757" name="Text Box 1149"/>
          <p:cNvSpPr txBox="1"/>
          <p:nvPr/>
        </p:nvSpPr>
        <p:spPr>
          <a:xfrm>
            <a:off x="3375025" y="1484313"/>
            <a:ext cx="801688" cy="312737"/>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跟踪</a:t>
            </a:r>
            <a:endParaRPr lang="zh-CN" altLang="en-US" sz="1600" dirty="0">
              <a:latin typeface="Times New Roman" panose="02020603050405020304" pitchFamily="18" charset="0"/>
            </a:endParaRPr>
          </a:p>
        </p:txBody>
      </p:sp>
      <p:sp>
        <p:nvSpPr>
          <p:cNvPr id="2245758" name="Text Box 1150"/>
          <p:cNvSpPr txBox="1"/>
          <p:nvPr/>
        </p:nvSpPr>
        <p:spPr>
          <a:xfrm>
            <a:off x="4787900" y="3846513"/>
            <a:ext cx="4013200" cy="2282825"/>
          </a:xfrm>
          <a:prstGeom prst="rect">
            <a:avLst/>
          </a:prstGeom>
          <a:solidFill>
            <a:schemeClr val="bg1"/>
          </a:solidFill>
          <a:ln w="9525">
            <a:noFill/>
          </a:ln>
        </p:spPr>
        <p:txBody>
          <a:bodyPr>
            <a:spAutoFit/>
          </a:bodyPr>
          <a:p>
            <a:pPr marL="357505" indent="-357505" eaLnBrk="1" hangingPunct="1">
              <a:buClr>
                <a:srgbClr val="FF0000"/>
              </a:buClr>
              <a:buFont typeface="Wingdings" panose="05000000000000000000" pitchFamily="2" charset="2"/>
              <a:buChar char="u"/>
            </a:pPr>
            <a:r>
              <a:rPr lang="zh-CN" altLang="en-US" sz="2400" dirty="0">
                <a:latin typeface="Times New Roman" panose="02020603050405020304" pitchFamily="18" charset="0"/>
              </a:rPr>
              <a:t>在</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zh-CN" altLang="en-US" sz="2400" dirty="0">
                <a:latin typeface="Times New Roman" panose="02020603050405020304" pitchFamily="18" charset="0"/>
              </a:rPr>
              <a:t>时刻前</a:t>
            </a:r>
            <a:r>
              <a:rPr lang="zh-CN" altLang="en-US" sz="2400" dirty="0">
                <a:latin typeface="Times New Roman" panose="02020603050405020304" pitchFamily="18" charset="0"/>
                <a:ea typeface="宋体" panose="02010600030101010101" pitchFamily="2" charset="-122"/>
              </a:rPr>
              <a:t>，</a:t>
            </a:r>
            <a:r>
              <a:rPr lang="zh-CN" altLang="en-US" sz="2400" dirty="0">
                <a:latin typeface="楷体_GB2312" pitchFamily="49" charset="-122"/>
              </a:rPr>
              <a:t>控制电路的驱动信号为高电平时，</a:t>
            </a:r>
            <a:r>
              <a:rPr lang="zh-CN" altLang="en-US" sz="2400" dirty="0">
                <a:latin typeface="Times New Roman" panose="02020603050405020304" pitchFamily="18" charset="0"/>
              </a:rPr>
              <a:t>模拟开关</a:t>
            </a:r>
            <a:r>
              <a:rPr lang="en-US" altLang="zh-CN" sz="2400" i="1" dirty="0">
                <a:solidFill>
                  <a:srgbClr val="CC00CC"/>
                </a:solidFill>
                <a:latin typeface="Times New Roman" panose="02020603050405020304" pitchFamily="18" charset="0"/>
                <a:ea typeface="宋体" panose="02010600030101010101" pitchFamily="2" charset="-122"/>
              </a:rPr>
              <a:t>K</a:t>
            </a:r>
            <a:r>
              <a:rPr lang="en-US" altLang="zh-CN" sz="2400" i="1" dirty="0">
                <a:latin typeface="Times New Roman" panose="02020603050405020304" pitchFamily="18" charset="0"/>
                <a:ea typeface="宋体" panose="02010600030101010101" pitchFamily="2" charset="-122"/>
              </a:rPr>
              <a:t> </a:t>
            </a:r>
            <a:r>
              <a:rPr lang="zh-CN" altLang="en-US" sz="2400" dirty="0">
                <a:latin typeface="楷体_GB2312" pitchFamily="49" charset="-122"/>
              </a:rPr>
              <a:t>闭合，模拟输入信号</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楷体_GB2312" pitchFamily="49" charset="-122"/>
              </a:rPr>
              <a:t>通过模拟开关加到电容</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i="1" baseline="-25000" dirty="0">
                <a:solidFill>
                  <a:srgbClr val="CC00CC"/>
                </a:solidFill>
                <a:latin typeface="Times New Roman" panose="02020603050405020304" pitchFamily="18" charset="0"/>
                <a:ea typeface="宋体" panose="02010600030101010101" pitchFamily="2" charset="-122"/>
              </a:rPr>
              <a:t>H </a:t>
            </a:r>
            <a:r>
              <a:rPr lang="zh-CN" altLang="en-US" sz="2400" dirty="0">
                <a:latin typeface="Times New Roman" panose="02020603050405020304" pitchFamily="18" charset="0"/>
              </a:rPr>
              <a:t>上，使得</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i="1" baseline="-25000" dirty="0">
                <a:solidFill>
                  <a:srgbClr val="CC00CC"/>
                </a:solidFill>
                <a:latin typeface="Times New Roman" panose="02020603050405020304" pitchFamily="18" charset="0"/>
                <a:ea typeface="宋体" panose="02010600030101010101" pitchFamily="2" charset="-122"/>
              </a:rPr>
              <a:t>H</a:t>
            </a:r>
            <a:r>
              <a:rPr lang="zh-CN" altLang="en-US" sz="2400" dirty="0">
                <a:latin typeface="Times New Roman" panose="02020603050405020304" pitchFamily="18" charset="0"/>
              </a:rPr>
              <a:t>端电压</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 </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Times New Roman" panose="02020603050405020304" pitchFamily="18" charset="0"/>
              </a:rPr>
              <a:t>跟随</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 </a:t>
            </a:r>
            <a:r>
              <a:rPr lang="zh-CN" altLang="en-US" sz="2400" dirty="0">
                <a:latin typeface="楷体_GB2312" pitchFamily="49" charset="-122"/>
              </a:rPr>
              <a:t>变化而变化。</a:t>
            </a:r>
            <a:endParaRPr lang="zh-CN" altLang="en-US" sz="2400" dirty="0">
              <a:latin typeface="楷体_GB2312" pitchFamily="49" charset="-122"/>
            </a:endParaRPr>
          </a:p>
        </p:txBody>
      </p:sp>
      <p:sp>
        <p:nvSpPr>
          <p:cNvPr id="2245759" name="Text Box 1151"/>
          <p:cNvSpPr txBox="1"/>
          <p:nvPr/>
        </p:nvSpPr>
        <p:spPr>
          <a:xfrm>
            <a:off x="4754563" y="3313113"/>
            <a:ext cx="2819400" cy="47625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ea typeface="黑体" panose="02010609060101010101" pitchFamily="49" charset="-122"/>
              </a:rPr>
              <a:t>工作原理如下：</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245760" name="Text Box 1152"/>
          <p:cNvSpPr txBox="1"/>
          <p:nvPr/>
        </p:nvSpPr>
        <p:spPr>
          <a:xfrm>
            <a:off x="4779963" y="3824288"/>
            <a:ext cx="4062412" cy="2282825"/>
          </a:xfrm>
          <a:prstGeom prst="rect">
            <a:avLst/>
          </a:prstGeom>
          <a:solidFill>
            <a:schemeClr val="bg1"/>
          </a:solidFill>
          <a:ln w="9525">
            <a:noFill/>
          </a:ln>
        </p:spPr>
        <p:txBody>
          <a:bodyPr>
            <a:spAutoFit/>
          </a:bodyPr>
          <a:p>
            <a:pPr marL="354330" indent="-354330" eaLnBrk="1" hangingPunct="1">
              <a:buClr>
                <a:srgbClr val="FF0000"/>
              </a:buClr>
              <a:buFont typeface="Wingdings" panose="05000000000000000000" pitchFamily="2" charset="2"/>
              <a:buChar char="u"/>
            </a:pPr>
            <a:r>
              <a:rPr lang="zh-CN" altLang="en-US" sz="2400" dirty="0">
                <a:latin typeface="Times New Roman" panose="02020603050405020304" pitchFamily="18" charset="0"/>
              </a:rPr>
              <a:t>在</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1</a:t>
            </a:r>
            <a:r>
              <a:rPr lang="zh-CN" altLang="en-US" sz="2400" dirty="0">
                <a:latin typeface="楷体_GB2312" pitchFamily="49" charset="-122"/>
              </a:rPr>
              <a:t>时刻，驱动信号为低电平，模拟开关</a:t>
            </a:r>
            <a:r>
              <a:rPr lang="en-US" altLang="zh-CN" sz="2400" i="1" dirty="0">
                <a:solidFill>
                  <a:srgbClr val="CC00CC"/>
                </a:solidFill>
                <a:latin typeface="Times New Roman" panose="02020603050405020304" pitchFamily="18" charset="0"/>
                <a:ea typeface="宋体" panose="02010600030101010101" pitchFamily="2" charset="-122"/>
              </a:rPr>
              <a:t>K</a:t>
            </a:r>
            <a:r>
              <a:rPr lang="zh-CN" altLang="en-US" sz="2400" dirty="0">
                <a:latin typeface="楷体_GB2312" pitchFamily="49" charset="-122"/>
              </a:rPr>
              <a:t>断开</a:t>
            </a:r>
            <a:r>
              <a:rPr lang="zh-CN" altLang="en-US"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rPr>
              <a:t>此时电容</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i="1" baseline="-25000" dirty="0">
                <a:solidFill>
                  <a:srgbClr val="CC00CC"/>
                </a:solidFill>
                <a:latin typeface="Times New Roman" panose="02020603050405020304" pitchFamily="18" charset="0"/>
                <a:ea typeface="宋体" panose="02010600030101010101" pitchFamily="2" charset="-122"/>
              </a:rPr>
              <a:t>H </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楷体_GB2312" pitchFamily="49" charset="-122"/>
              </a:rPr>
              <a:t>上的电压</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楷体_GB2312" pitchFamily="49" charset="-122"/>
              </a:rPr>
              <a:t>保持模拟开关断开瞬间的</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 </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楷体_GB2312" pitchFamily="49" charset="-122"/>
              </a:rPr>
              <a:t>值不变并等待</a:t>
            </a:r>
            <a:r>
              <a:rPr lang="en-US" altLang="zh-CN" sz="2400" dirty="0">
                <a:latin typeface="Times New Roman" panose="02020603050405020304" pitchFamily="18" charset="0"/>
                <a:ea typeface="宋体" panose="02010600030101010101" pitchFamily="2" charset="-122"/>
              </a:rPr>
              <a:t>A/D</a:t>
            </a:r>
            <a:r>
              <a:rPr lang="zh-CN" altLang="en-US" sz="2400" dirty="0">
                <a:latin typeface="Times New Roman" panose="02020603050405020304" pitchFamily="18" charset="0"/>
              </a:rPr>
              <a:t>转换器转换</a:t>
            </a:r>
            <a:r>
              <a:rPr lang="zh-CN" altLang="en-US" sz="2400" dirty="0">
                <a:latin typeface="Times New Roman" panose="02020603050405020304" pitchFamily="18" charset="0"/>
                <a:ea typeface="宋体" panose="02010600030101010101" pitchFamily="2" charset="-122"/>
              </a:rPr>
              <a:t>。</a:t>
            </a:r>
            <a:endParaRPr lang="zh-CN" altLang="en-US" sz="2400" dirty="0">
              <a:latin typeface="Times New Roman" panose="02020603050405020304" pitchFamily="18" charset="0"/>
              <a:ea typeface="宋体" panose="02010600030101010101" pitchFamily="2" charset="-122"/>
            </a:endParaRPr>
          </a:p>
        </p:txBody>
      </p:sp>
      <p:sp>
        <p:nvSpPr>
          <p:cNvPr id="2245761" name="Text Box 1153"/>
          <p:cNvSpPr txBox="1"/>
          <p:nvPr/>
        </p:nvSpPr>
        <p:spPr>
          <a:xfrm>
            <a:off x="4787900" y="3925888"/>
            <a:ext cx="3859213" cy="2282825"/>
          </a:xfrm>
          <a:prstGeom prst="rect">
            <a:avLst/>
          </a:prstGeom>
          <a:solidFill>
            <a:schemeClr val="bg1"/>
          </a:solidFill>
          <a:ln w="9525">
            <a:noFill/>
          </a:ln>
        </p:spPr>
        <p:txBody>
          <a:bodyPr>
            <a:spAutoFit/>
          </a:bodyPr>
          <a:p>
            <a:pPr marL="360680" indent="-360680" eaLnBrk="1" hangingPunct="1">
              <a:buClr>
                <a:srgbClr val="FF0000"/>
              </a:buClr>
              <a:buFont typeface="Wingdings" panose="05000000000000000000" pitchFamily="2" charset="2"/>
              <a:buChar char="u"/>
            </a:pPr>
            <a:r>
              <a:rPr lang="zh-CN" altLang="en-US" sz="2400" dirty="0">
                <a:latin typeface="Times New Roman" panose="02020603050405020304" pitchFamily="18" charset="0"/>
              </a:rPr>
              <a:t>而在</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2</a:t>
            </a:r>
            <a:r>
              <a:rPr lang="zh-CN" altLang="en-US" sz="2400" dirty="0">
                <a:latin typeface="Times New Roman" panose="02020603050405020304" pitchFamily="18" charset="0"/>
              </a:rPr>
              <a:t>时刻，保持结束，新一个跟踪时刻到来，此时驱动信号又为高电平，模拟开关</a:t>
            </a:r>
            <a:r>
              <a:rPr lang="en-US" altLang="zh-CN" sz="2400" i="1" dirty="0">
                <a:solidFill>
                  <a:srgbClr val="CC00CC"/>
                </a:solidFill>
                <a:latin typeface="Times New Roman" panose="02020603050405020304" pitchFamily="18" charset="0"/>
                <a:ea typeface="宋体" panose="02010600030101010101" pitchFamily="2" charset="-122"/>
              </a:rPr>
              <a:t>K</a:t>
            </a:r>
            <a:r>
              <a:rPr lang="zh-CN" altLang="en-US" sz="2400" dirty="0">
                <a:latin typeface="Times New Roman" panose="02020603050405020304" pitchFamily="18" charset="0"/>
              </a:rPr>
              <a:t>重新闭合，</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i="1" baseline="-25000" dirty="0">
                <a:solidFill>
                  <a:srgbClr val="CC00CC"/>
                </a:solidFill>
                <a:latin typeface="Times New Roman" panose="02020603050405020304" pitchFamily="18" charset="0"/>
                <a:ea typeface="宋体" panose="02010600030101010101" pitchFamily="2" charset="-122"/>
              </a:rPr>
              <a:t>H</a:t>
            </a:r>
            <a:r>
              <a:rPr lang="en-US" altLang="zh-CN" sz="2400" i="1" baseline="-25000" dirty="0">
                <a:latin typeface="Times New Roman" panose="02020603050405020304" pitchFamily="18" charset="0"/>
                <a:ea typeface="宋体" panose="02010600030101010101" pitchFamily="2" charset="-122"/>
              </a:rPr>
              <a:t> </a:t>
            </a:r>
            <a:r>
              <a:rPr lang="zh-CN" altLang="en-US" sz="2400" dirty="0">
                <a:latin typeface="Times New Roman" panose="02020603050405020304" pitchFamily="18" charset="0"/>
              </a:rPr>
              <a:t>端电压</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C </a:t>
            </a:r>
            <a:r>
              <a:rPr lang="zh-CN" altLang="en-US" sz="2400" dirty="0">
                <a:latin typeface="楷体_GB2312" pitchFamily="49" charset="-122"/>
              </a:rPr>
              <a:t>又跟随</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 </a:t>
            </a:r>
            <a:r>
              <a:rPr lang="zh-CN" altLang="en-US" sz="2400" dirty="0">
                <a:latin typeface="Times New Roman" panose="02020603050405020304" pitchFamily="18" charset="0"/>
              </a:rPr>
              <a:t>变化而变；</a:t>
            </a:r>
            <a:endParaRPr lang="zh-CN" altLang="en-US" sz="2400" dirty="0">
              <a:latin typeface="Times New Roman" panose="02020603050405020304" pitchFamily="18" charset="0"/>
              <a:ea typeface="宋体" panose="02010600030101010101" pitchFamily="2" charset="-122"/>
            </a:endParaRPr>
          </a:p>
        </p:txBody>
      </p:sp>
      <p:sp>
        <p:nvSpPr>
          <p:cNvPr id="2245762" name="Rectangle 1154"/>
          <p:cNvSpPr/>
          <p:nvPr/>
        </p:nvSpPr>
        <p:spPr>
          <a:xfrm>
            <a:off x="4787900" y="3897313"/>
            <a:ext cx="3529013" cy="1187450"/>
          </a:xfrm>
          <a:prstGeom prst="rect">
            <a:avLst/>
          </a:prstGeom>
          <a:solidFill>
            <a:schemeClr val="bg1"/>
          </a:solidFill>
          <a:ln w="9525">
            <a:noFill/>
          </a:ln>
        </p:spPr>
        <p:txBody>
          <a:bodyPr>
            <a:spAutoFit/>
          </a:bodyPr>
          <a:p>
            <a:pPr marL="360680" indent="-360680" eaLnBrk="1" hangingPunct="1">
              <a:spcBef>
                <a:spcPct val="50000"/>
              </a:spcBef>
              <a:buClr>
                <a:srgbClr val="FF0000"/>
              </a:buClr>
              <a:buFont typeface="Wingdings" panose="05000000000000000000" pitchFamily="2" charset="2"/>
              <a:buChar char="u"/>
            </a:pP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3</a:t>
            </a:r>
            <a:r>
              <a:rPr lang="zh-CN" altLang="en-US" sz="2400" dirty="0">
                <a:latin typeface="楷体_GB2312" pitchFamily="49" charset="-122"/>
              </a:rPr>
              <a:t>时刻，驱动信号为低电平时，模拟开关</a:t>
            </a:r>
            <a:r>
              <a:rPr lang="en-US" altLang="zh-CN" sz="2400" i="1" dirty="0">
                <a:solidFill>
                  <a:srgbClr val="CC00CC"/>
                </a:solidFill>
                <a:latin typeface="Times New Roman" panose="02020603050405020304" pitchFamily="18" charset="0"/>
                <a:ea typeface="宋体" panose="02010600030101010101" pitchFamily="2" charset="-122"/>
              </a:rPr>
              <a:t>K</a:t>
            </a:r>
            <a:r>
              <a:rPr lang="zh-CN" altLang="en-US" sz="2400" dirty="0">
                <a:latin typeface="Times New Roman" panose="02020603050405020304" pitchFamily="18" charset="0"/>
              </a:rPr>
              <a:t>断开</a:t>
            </a:r>
            <a:r>
              <a:rPr lang="zh-CN" altLang="en-US" sz="2400" dirty="0">
                <a:latin typeface="Times New Roman" panose="02020603050405020304" pitchFamily="18" charset="0"/>
                <a:ea typeface="宋体" panose="02010600030101010101" pitchFamily="2" charset="-122"/>
              </a:rPr>
              <a:t>，</a:t>
            </a:r>
            <a:r>
              <a:rPr lang="en-US" altLang="zh-CN"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ea typeface="宋体" panose="02010600030101010101" pitchFamily="2" charset="-122"/>
              </a:rPr>
              <a:t>。 </a:t>
            </a:r>
            <a:endParaRPr lang="zh-CN" altLang="en-US" sz="2400" dirty="0">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5753"/>
                                        </p:tgtEl>
                                        <p:attrNameLst>
                                          <p:attrName>style.visibility</p:attrName>
                                        </p:attrNameLst>
                                      </p:cBhvr>
                                      <p:to>
                                        <p:strVal val="visible"/>
                                      </p:to>
                                    </p:set>
                                    <p:animEffect transition="in" filter="dissolve">
                                      <p:cBhvr>
                                        <p:cTn id="7" dur="500"/>
                                        <p:tgtEl>
                                          <p:spTgt spid="22457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5703"/>
                                        </p:tgtEl>
                                        <p:attrNameLst>
                                          <p:attrName>style.visibility</p:attrName>
                                        </p:attrNameLst>
                                      </p:cBhvr>
                                      <p:to>
                                        <p:strVal val="visible"/>
                                      </p:to>
                                    </p:set>
                                    <p:animEffect transition="in" filter="dissolve">
                                      <p:cBhvr>
                                        <p:cTn id="12" dur="500"/>
                                        <p:tgtEl>
                                          <p:spTgt spid="224570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5759"/>
                                        </p:tgtEl>
                                        <p:attrNameLst>
                                          <p:attrName>style.visibility</p:attrName>
                                        </p:attrNameLst>
                                      </p:cBhvr>
                                      <p:to>
                                        <p:strVal val="visible"/>
                                      </p:to>
                                    </p:set>
                                    <p:animEffect transition="in" filter="dissolve">
                                      <p:cBhvr>
                                        <p:cTn id="17" dur="500"/>
                                        <p:tgtEl>
                                          <p:spTgt spid="2245759"/>
                                        </p:tgtEl>
                                      </p:cBhvr>
                                    </p:animEffect>
                                  </p:childTnLst>
                                </p:cTn>
                              </p:par>
                              <p:par>
                                <p:cTn id="18" presetID="17" presetClass="entr" presetSubtype="8" fill="hold" nodeType="withEffect">
                                  <p:stCondLst>
                                    <p:cond delay="0"/>
                                  </p:stCondLst>
                                  <p:childTnLst>
                                    <p:set>
                                      <p:cBhvr>
                                        <p:cTn id="19" dur="1" fill="hold">
                                          <p:stCondLst>
                                            <p:cond delay="0"/>
                                          </p:stCondLst>
                                        </p:cTn>
                                        <p:tgtEl>
                                          <p:spTgt spid="2245704"/>
                                        </p:tgtEl>
                                        <p:attrNameLst>
                                          <p:attrName>style.visibility</p:attrName>
                                        </p:attrNameLst>
                                      </p:cBhvr>
                                      <p:to>
                                        <p:strVal val="visible"/>
                                      </p:to>
                                    </p:set>
                                    <p:anim calcmode="lin" valueType="num">
                                      <p:cBhvr>
                                        <p:cTn id="20" dur="500" fill="hold"/>
                                        <p:tgtEl>
                                          <p:spTgt spid="2245704"/>
                                        </p:tgtEl>
                                        <p:attrNameLst>
                                          <p:attrName>ppt_x</p:attrName>
                                        </p:attrNameLst>
                                      </p:cBhvr>
                                      <p:tavLst>
                                        <p:tav tm="0">
                                          <p:val>
                                            <p:strVal val="#ppt_x-#ppt_w/2"/>
                                          </p:val>
                                        </p:tav>
                                        <p:tav tm="100000">
                                          <p:val>
                                            <p:strVal val="#ppt_x"/>
                                          </p:val>
                                        </p:tav>
                                      </p:tavLst>
                                    </p:anim>
                                    <p:anim calcmode="lin" valueType="num">
                                      <p:cBhvr>
                                        <p:cTn id="21" dur="500" fill="hold"/>
                                        <p:tgtEl>
                                          <p:spTgt spid="2245704"/>
                                        </p:tgtEl>
                                        <p:attrNameLst>
                                          <p:attrName>ppt_y</p:attrName>
                                        </p:attrNameLst>
                                      </p:cBhvr>
                                      <p:tavLst>
                                        <p:tav tm="0">
                                          <p:val>
                                            <p:strVal val="#ppt_y"/>
                                          </p:val>
                                        </p:tav>
                                        <p:tav tm="100000">
                                          <p:val>
                                            <p:strVal val="#ppt_y"/>
                                          </p:val>
                                        </p:tav>
                                      </p:tavLst>
                                    </p:anim>
                                    <p:anim calcmode="lin" valueType="num">
                                      <p:cBhvr>
                                        <p:cTn id="22" dur="500" fill="hold"/>
                                        <p:tgtEl>
                                          <p:spTgt spid="2245704"/>
                                        </p:tgtEl>
                                        <p:attrNameLst>
                                          <p:attrName>ppt_w</p:attrName>
                                        </p:attrNameLst>
                                      </p:cBhvr>
                                      <p:tavLst>
                                        <p:tav tm="0">
                                          <p:val>
                                            <p:fltVal val="0.000000"/>
                                          </p:val>
                                        </p:tav>
                                        <p:tav tm="100000">
                                          <p:val>
                                            <p:strVal val="#ppt_w"/>
                                          </p:val>
                                        </p:tav>
                                      </p:tavLst>
                                    </p:anim>
                                    <p:anim calcmode="lin" valueType="num">
                                      <p:cBhvr>
                                        <p:cTn id="23" dur="500" fill="hold"/>
                                        <p:tgtEl>
                                          <p:spTgt spid="2245704"/>
                                        </p:tgtEl>
                                        <p:attrNameLst>
                                          <p:attrName>ppt_h</p:attrName>
                                        </p:attrNameLst>
                                      </p:cBhvr>
                                      <p:tavLst>
                                        <p:tav tm="0">
                                          <p:val>
                                            <p:strVal val="#ppt_h"/>
                                          </p:val>
                                        </p:tav>
                                        <p:tav tm="100000">
                                          <p:val>
                                            <p:strVal val="#ppt_h"/>
                                          </p:val>
                                        </p:tav>
                                      </p:tavLst>
                                    </p:anim>
                                  </p:childTnLst>
                                </p:cTn>
                              </p:par>
                              <p:par>
                                <p:cTn id="24" presetID="9" presetClass="entr" presetSubtype="0" fill="hold" nodeType="withEffect">
                                  <p:stCondLst>
                                    <p:cond delay="0"/>
                                  </p:stCondLst>
                                  <p:childTnLst>
                                    <p:set>
                                      <p:cBhvr>
                                        <p:cTn id="25" dur="1" fill="hold">
                                          <p:stCondLst>
                                            <p:cond delay="0"/>
                                          </p:stCondLst>
                                        </p:cTn>
                                        <p:tgtEl>
                                          <p:spTgt spid="2245705"/>
                                        </p:tgtEl>
                                        <p:attrNameLst>
                                          <p:attrName>style.visibility</p:attrName>
                                        </p:attrNameLst>
                                      </p:cBhvr>
                                      <p:to>
                                        <p:strVal val="visible"/>
                                      </p:to>
                                    </p:set>
                                    <p:animEffect transition="in" filter="dissolve">
                                      <p:cBhvr>
                                        <p:cTn id="26" dur="500"/>
                                        <p:tgtEl>
                                          <p:spTgt spid="2245705"/>
                                        </p:tgtEl>
                                      </p:cBhvr>
                                    </p:animEffect>
                                  </p:childTnLst>
                                </p:cTn>
                              </p:par>
                              <p:par>
                                <p:cTn id="27" presetID="17" presetClass="entr" presetSubtype="4" fill="hold" nodeType="withEffect">
                                  <p:stCondLst>
                                    <p:cond delay="0"/>
                                  </p:stCondLst>
                                  <p:childTnLst>
                                    <p:set>
                                      <p:cBhvr>
                                        <p:cTn id="28" dur="1" fill="hold">
                                          <p:stCondLst>
                                            <p:cond delay="0"/>
                                          </p:stCondLst>
                                        </p:cTn>
                                        <p:tgtEl>
                                          <p:spTgt spid="2245706"/>
                                        </p:tgtEl>
                                        <p:attrNameLst>
                                          <p:attrName>style.visibility</p:attrName>
                                        </p:attrNameLst>
                                      </p:cBhvr>
                                      <p:to>
                                        <p:strVal val="visible"/>
                                      </p:to>
                                    </p:set>
                                    <p:anim calcmode="lin" valueType="num">
                                      <p:cBhvr>
                                        <p:cTn id="29" dur="500" fill="hold"/>
                                        <p:tgtEl>
                                          <p:spTgt spid="2245706"/>
                                        </p:tgtEl>
                                        <p:attrNameLst>
                                          <p:attrName>ppt_x</p:attrName>
                                        </p:attrNameLst>
                                      </p:cBhvr>
                                      <p:tavLst>
                                        <p:tav tm="0">
                                          <p:val>
                                            <p:strVal val="#ppt_x"/>
                                          </p:val>
                                        </p:tav>
                                        <p:tav tm="100000">
                                          <p:val>
                                            <p:strVal val="#ppt_x"/>
                                          </p:val>
                                        </p:tav>
                                      </p:tavLst>
                                    </p:anim>
                                    <p:anim calcmode="lin" valueType="num">
                                      <p:cBhvr>
                                        <p:cTn id="30" dur="500" fill="hold"/>
                                        <p:tgtEl>
                                          <p:spTgt spid="2245706"/>
                                        </p:tgtEl>
                                        <p:attrNameLst>
                                          <p:attrName>ppt_y</p:attrName>
                                        </p:attrNameLst>
                                      </p:cBhvr>
                                      <p:tavLst>
                                        <p:tav tm="0">
                                          <p:val>
                                            <p:strVal val="#ppt_y+#ppt_h/2"/>
                                          </p:val>
                                        </p:tav>
                                        <p:tav tm="100000">
                                          <p:val>
                                            <p:strVal val="#ppt_y"/>
                                          </p:val>
                                        </p:tav>
                                      </p:tavLst>
                                    </p:anim>
                                    <p:anim calcmode="lin" valueType="num">
                                      <p:cBhvr>
                                        <p:cTn id="31" dur="500" fill="hold"/>
                                        <p:tgtEl>
                                          <p:spTgt spid="2245706"/>
                                        </p:tgtEl>
                                        <p:attrNameLst>
                                          <p:attrName>ppt_w</p:attrName>
                                        </p:attrNameLst>
                                      </p:cBhvr>
                                      <p:tavLst>
                                        <p:tav tm="0">
                                          <p:val>
                                            <p:strVal val="#ppt_w"/>
                                          </p:val>
                                        </p:tav>
                                        <p:tav tm="100000">
                                          <p:val>
                                            <p:strVal val="#ppt_w"/>
                                          </p:val>
                                        </p:tav>
                                      </p:tavLst>
                                    </p:anim>
                                    <p:anim calcmode="lin" valueType="num">
                                      <p:cBhvr>
                                        <p:cTn id="32" dur="500" fill="hold"/>
                                        <p:tgtEl>
                                          <p:spTgt spid="2245706"/>
                                        </p:tgtEl>
                                        <p:attrNameLst>
                                          <p:attrName>ppt_h</p:attrName>
                                        </p:attrNameLst>
                                      </p:cBhvr>
                                      <p:tavLst>
                                        <p:tav tm="0">
                                          <p:val>
                                            <p:fltVal val="0.000000"/>
                                          </p:val>
                                        </p:tav>
                                        <p:tav tm="100000">
                                          <p:val>
                                            <p:strVal val="#ppt_h"/>
                                          </p:val>
                                        </p:tav>
                                      </p:tavLst>
                                    </p:anim>
                                  </p:childTnLst>
                                </p:cTn>
                              </p:par>
                              <p:par>
                                <p:cTn id="33" presetID="9" presetClass="entr" presetSubtype="0" fill="hold" nodeType="withEffect">
                                  <p:stCondLst>
                                    <p:cond delay="0"/>
                                  </p:stCondLst>
                                  <p:childTnLst>
                                    <p:set>
                                      <p:cBhvr>
                                        <p:cTn id="34" dur="1" fill="hold">
                                          <p:stCondLst>
                                            <p:cond delay="0"/>
                                          </p:stCondLst>
                                        </p:cTn>
                                        <p:tgtEl>
                                          <p:spTgt spid="2245707"/>
                                        </p:tgtEl>
                                        <p:attrNameLst>
                                          <p:attrName>style.visibility</p:attrName>
                                        </p:attrNameLst>
                                      </p:cBhvr>
                                      <p:to>
                                        <p:strVal val="visible"/>
                                      </p:to>
                                    </p:set>
                                    <p:animEffect transition="in" filter="dissolve">
                                      <p:cBhvr>
                                        <p:cTn id="35" dur="500"/>
                                        <p:tgtEl>
                                          <p:spTgt spid="2245707"/>
                                        </p:tgtEl>
                                      </p:cBhvr>
                                    </p:animEffect>
                                  </p:childTnLst>
                                </p:cTn>
                              </p:par>
                              <p:par>
                                <p:cTn id="36" presetID="17" presetClass="entr" presetSubtype="8" fill="hold" nodeType="withEffect">
                                  <p:stCondLst>
                                    <p:cond delay="0"/>
                                  </p:stCondLst>
                                  <p:childTnLst>
                                    <p:set>
                                      <p:cBhvr>
                                        <p:cTn id="37" dur="1" fill="hold">
                                          <p:stCondLst>
                                            <p:cond delay="0"/>
                                          </p:stCondLst>
                                        </p:cTn>
                                        <p:tgtEl>
                                          <p:spTgt spid="2245708"/>
                                        </p:tgtEl>
                                        <p:attrNameLst>
                                          <p:attrName>style.visibility</p:attrName>
                                        </p:attrNameLst>
                                      </p:cBhvr>
                                      <p:to>
                                        <p:strVal val="visible"/>
                                      </p:to>
                                    </p:set>
                                    <p:anim calcmode="lin" valueType="num">
                                      <p:cBhvr>
                                        <p:cTn id="38" dur="500" fill="hold"/>
                                        <p:tgtEl>
                                          <p:spTgt spid="2245708"/>
                                        </p:tgtEl>
                                        <p:attrNameLst>
                                          <p:attrName>ppt_x</p:attrName>
                                        </p:attrNameLst>
                                      </p:cBhvr>
                                      <p:tavLst>
                                        <p:tav tm="0">
                                          <p:val>
                                            <p:strVal val="#ppt_x-#ppt_w/2"/>
                                          </p:val>
                                        </p:tav>
                                        <p:tav tm="100000">
                                          <p:val>
                                            <p:strVal val="#ppt_x"/>
                                          </p:val>
                                        </p:tav>
                                      </p:tavLst>
                                    </p:anim>
                                    <p:anim calcmode="lin" valueType="num">
                                      <p:cBhvr>
                                        <p:cTn id="39" dur="500" fill="hold"/>
                                        <p:tgtEl>
                                          <p:spTgt spid="2245708"/>
                                        </p:tgtEl>
                                        <p:attrNameLst>
                                          <p:attrName>ppt_y</p:attrName>
                                        </p:attrNameLst>
                                      </p:cBhvr>
                                      <p:tavLst>
                                        <p:tav tm="0">
                                          <p:val>
                                            <p:strVal val="#ppt_y"/>
                                          </p:val>
                                        </p:tav>
                                        <p:tav tm="100000">
                                          <p:val>
                                            <p:strVal val="#ppt_y"/>
                                          </p:val>
                                        </p:tav>
                                      </p:tavLst>
                                    </p:anim>
                                    <p:anim calcmode="lin" valueType="num">
                                      <p:cBhvr>
                                        <p:cTn id="40" dur="500" fill="hold"/>
                                        <p:tgtEl>
                                          <p:spTgt spid="2245708"/>
                                        </p:tgtEl>
                                        <p:attrNameLst>
                                          <p:attrName>ppt_w</p:attrName>
                                        </p:attrNameLst>
                                      </p:cBhvr>
                                      <p:tavLst>
                                        <p:tav tm="0">
                                          <p:val>
                                            <p:fltVal val="0.000000"/>
                                          </p:val>
                                        </p:tav>
                                        <p:tav tm="100000">
                                          <p:val>
                                            <p:strVal val="#ppt_w"/>
                                          </p:val>
                                        </p:tav>
                                      </p:tavLst>
                                    </p:anim>
                                    <p:anim calcmode="lin" valueType="num">
                                      <p:cBhvr>
                                        <p:cTn id="41" dur="500" fill="hold"/>
                                        <p:tgtEl>
                                          <p:spTgt spid="2245708"/>
                                        </p:tgtEl>
                                        <p:attrNameLst>
                                          <p:attrName>ppt_h</p:attrName>
                                        </p:attrNameLst>
                                      </p:cBhvr>
                                      <p:tavLst>
                                        <p:tav tm="0">
                                          <p:val>
                                            <p:strVal val="#ppt_h"/>
                                          </p:val>
                                        </p:tav>
                                        <p:tav tm="100000">
                                          <p:val>
                                            <p:strVal val="#ppt_h"/>
                                          </p:val>
                                        </p:tav>
                                      </p:tavLst>
                                    </p:anim>
                                  </p:childTnLst>
                                </p:cTn>
                              </p:par>
                              <p:par>
                                <p:cTn id="42" presetID="9" presetClass="entr" presetSubtype="0" fill="hold" nodeType="withEffect">
                                  <p:stCondLst>
                                    <p:cond delay="0"/>
                                  </p:stCondLst>
                                  <p:childTnLst>
                                    <p:set>
                                      <p:cBhvr>
                                        <p:cTn id="43" dur="1" fill="hold">
                                          <p:stCondLst>
                                            <p:cond delay="0"/>
                                          </p:stCondLst>
                                        </p:cTn>
                                        <p:tgtEl>
                                          <p:spTgt spid="2245709"/>
                                        </p:tgtEl>
                                        <p:attrNameLst>
                                          <p:attrName>style.visibility</p:attrName>
                                        </p:attrNameLst>
                                      </p:cBhvr>
                                      <p:to>
                                        <p:strVal val="visible"/>
                                      </p:to>
                                    </p:set>
                                    <p:animEffect transition="in" filter="dissolve">
                                      <p:cBhvr>
                                        <p:cTn id="44" dur="500"/>
                                        <p:tgtEl>
                                          <p:spTgt spid="2245709"/>
                                        </p:tgtEl>
                                      </p:cBhvr>
                                    </p:animEffect>
                                  </p:childTnLst>
                                </p:cTn>
                              </p:par>
                              <p:par>
                                <p:cTn id="45" presetID="17" presetClass="entr" presetSubtype="4" fill="hold" nodeType="withEffect">
                                  <p:stCondLst>
                                    <p:cond delay="0"/>
                                  </p:stCondLst>
                                  <p:childTnLst>
                                    <p:set>
                                      <p:cBhvr>
                                        <p:cTn id="46" dur="1" fill="hold">
                                          <p:stCondLst>
                                            <p:cond delay="0"/>
                                          </p:stCondLst>
                                        </p:cTn>
                                        <p:tgtEl>
                                          <p:spTgt spid="2245710"/>
                                        </p:tgtEl>
                                        <p:attrNameLst>
                                          <p:attrName>style.visibility</p:attrName>
                                        </p:attrNameLst>
                                      </p:cBhvr>
                                      <p:to>
                                        <p:strVal val="visible"/>
                                      </p:to>
                                    </p:set>
                                    <p:anim calcmode="lin" valueType="num">
                                      <p:cBhvr>
                                        <p:cTn id="47" dur="500" fill="hold"/>
                                        <p:tgtEl>
                                          <p:spTgt spid="2245710"/>
                                        </p:tgtEl>
                                        <p:attrNameLst>
                                          <p:attrName>ppt_x</p:attrName>
                                        </p:attrNameLst>
                                      </p:cBhvr>
                                      <p:tavLst>
                                        <p:tav tm="0">
                                          <p:val>
                                            <p:strVal val="#ppt_x"/>
                                          </p:val>
                                        </p:tav>
                                        <p:tav tm="100000">
                                          <p:val>
                                            <p:strVal val="#ppt_x"/>
                                          </p:val>
                                        </p:tav>
                                      </p:tavLst>
                                    </p:anim>
                                    <p:anim calcmode="lin" valueType="num">
                                      <p:cBhvr>
                                        <p:cTn id="48" dur="500" fill="hold"/>
                                        <p:tgtEl>
                                          <p:spTgt spid="2245710"/>
                                        </p:tgtEl>
                                        <p:attrNameLst>
                                          <p:attrName>ppt_y</p:attrName>
                                        </p:attrNameLst>
                                      </p:cBhvr>
                                      <p:tavLst>
                                        <p:tav tm="0">
                                          <p:val>
                                            <p:strVal val="#ppt_y+#ppt_h/2"/>
                                          </p:val>
                                        </p:tav>
                                        <p:tav tm="100000">
                                          <p:val>
                                            <p:strVal val="#ppt_y"/>
                                          </p:val>
                                        </p:tav>
                                      </p:tavLst>
                                    </p:anim>
                                    <p:anim calcmode="lin" valueType="num">
                                      <p:cBhvr>
                                        <p:cTn id="49" dur="500" fill="hold"/>
                                        <p:tgtEl>
                                          <p:spTgt spid="2245710"/>
                                        </p:tgtEl>
                                        <p:attrNameLst>
                                          <p:attrName>ppt_w</p:attrName>
                                        </p:attrNameLst>
                                      </p:cBhvr>
                                      <p:tavLst>
                                        <p:tav tm="0">
                                          <p:val>
                                            <p:strVal val="#ppt_w"/>
                                          </p:val>
                                        </p:tav>
                                        <p:tav tm="100000">
                                          <p:val>
                                            <p:strVal val="#ppt_w"/>
                                          </p:val>
                                        </p:tav>
                                      </p:tavLst>
                                    </p:anim>
                                    <p:anim calcmode="lin" valueType="num">
                                      <p:cBhvr>
                                        <p:cTn id="50" dur="500" fill="hold"/>
                                        <p:tgtEl>
                                          <p:spTgt spid="2245710"/>
                                        </p:tgtEl>
                                        <p:attrNameLst>
                                          <p:attrName>ppt_h</p:attrName>
                                        </p:attrNameLst>
                                      </p:cBhvr>
                                      <p:tavLst>
                                        <p:tav tm="0">
                                          <p:val>
                                            <p:fltVal val="0.000000"/>
                                          </p:val>
                                        </p:tav>
                                        <p:tav tm="100000">
                                          <p:val>
                                            <p:strVal val="#ppt_h"/>
                                          </p:val>
                                        </p:tav>
                                      </p:tavLst>
                                    </p:anim>
                                  </p:childTnLst>
                                </p:cTn>
                              </p:par>
                              <p:par>
                                <p:cTn id="51" presetID="9" presetClass="entr" presetSubtype="0" fill="hold" nodeType="withEffect">
                                  <p:stCondLst>
                                    <p:cond delay="0"/>
                                  </p:stCondLst>
                                  <p:childTnLst>
                                    <p:set>
                                      <p:cBhvr>
                                        <p:cTn id="52" dur="1" fill="hold">
                                          <p:stCondLst>
                                            <p:cond delay="0"/>
                                          </p:stCondLst>
                                        </p:cTn>
                                        <p:tgtEl>
                                          <p:spTgt spid="2245712"/>
                                        </p:tgtEl>
                                        <p:attrNameLst>
                                          <p:attrName>style.visibility</p:attrName>
                                        </p:attrNameLst>
                                      </p:cBhvr>
                                      <p:to>
                                        <p:strVal val="visible"/>
                                      </p:to>
                                    </p:set>
                                    <p:animEffect transition="in" filter="dissolve">
                                      <p:cBhvr>
                                        <p:cTn id="53" dur="500"/>
                                        <p:tgtEl>
                                          <p:spTgt spid="2245712"/>
                                        </p:tgtEl>
                                      </p:cBhvr>
                                    </p:animEffect>
                                  </p:childTnLst>
                                </p:cTn>
                              </p:par>
                              <p:par>
                                <p:cTn id="54" presetID="9" presetClass="entr" presetSubtype="0" fill="hold" nodeType="withEffect">
                                  <p:stCondLst>
                                    <p:cond delay="0"/>
                                  </p:stCondLst>
                                  <p:childTnLst>
                                    <p:set>
                                      <p:cBhvr>
                                        <p:cTn id="55" dur="1" fill="hold">
                                          <p:stCondLst>
                                            <p:cond delay="0"/>
                                          </p:stCondLst>
                                        </p:cTn>
                                        <p:tgtEl>
                                          <p:spTgt spid="2245711"/>
                                        </p:tgtEl>
                                        <p:attrNameLst>
                                          <p:attrName>style.visibility</p:attrName>
                                        </p:attrNameLst>
                                      </p:cBhvr>
                                      <p:to>
                                        <p:strVal val="visible"/>
                                      </p:to>
                                    </p:set>
                                    <p:animEffect transition="in" filter="dissolve">
                                      <p:cBhvr>
                                        <p:cTn id="56" dur="500"/>
                                        <p:tgtEl>
                                          <p:spTgt spid="2245711"/>
                                        </p:tgtEl>
                                      </p:cBhvr>
                                    </p:animEffect>
                                  </p:childTnLst>
                                </p:cTn>
                              </p:par>
                              <p:par>
                                <p:cTn id="57" presetID="17" presetClass="entr" presetSubtype="8" fill="hold" nodeType="withEffect">
                                  <p:stCondLst>
                                    <p:cond delay="0"/>
                                  </p:stCondLst>
                                  <p:childTnLst>
                                    <p:set>
                                      <p:cBhvr>
                                        <p:cTn id="58" dur="1" fill="hold">
                                          <p:stCondLst>
                                            <p:cond delay="0"/>
                                          </p:stCondLst>
                                        </p:cTn>
                                        <p:tgtEl>
                                          <p:spTgt spid="2245713"/>
                                        </p:tgtEl>
                                        <p:attrNameLst>
                                          <p:attrName>style.visibility</p:attrName>
                                        </p:attrNameLst>
                                      </p:cBhvr>
                                      <p:to>
                                        <p:strVal val="visible"/>
                                      </p:to>
                                    </p:set>
                                    <p:anim calcmode="lin" valueType="num">
                                      <p:cBhvr>
                                        <p:cTn id="59" dur="500" fill="hold"/>
                                        <p:tgtEl>
                                          <p:spTgt spid="2245713"/>
                                        </p:tgtEl>
                                        <p:attrNameLst>
                                          <p:attrName>ppt_x</p:attrName>
                                        </p:attrNameLst>
                                      </p:cBhvr>
                                      <p:tavLst>
                                        <p:tav tm="0">
                                          <p:val>
                                            <p:strVal val="#ppt_x-#ppt_w/2"/>
                                          </p:val>
                                        </p:tav>
                                        <p:tav tm="100000">
                                          <p:val>
                                            <p:strVal val="#ppt_x"/>
                                          </p:val>
                                        </p:tav>
                                      </p:tavLst>
                                    </p:anim>
                                    <p:anim calcmode="lin" valueType="num">
                                      <p:cBhvr>
                                        <p:cTn id="60" dur="500" fill="hold"/>
                                        <p:tgtEl>
                                          <p:spTgt spid="2245713"/>
                                        </p:tgtEl>
                                        <p:attrNameLst>
                                          <p:attrName>ppt_y</p:attrName>
                                        </p:attrNameLst>
                                      </p:cBhvr>
                                      <p:tavLst>
                                        <p:tav tm="0">
                                          <p:val>
                                            <p:strVal val="#ppt_y"/>
                                          </p:val>
                                        </p:tav>
                                        <p:tav tm="100000">
                                          <p:val>
                                            <p:strVal val="#ppt_y"/>
                                          </p:val>
                                        </p:tav>
                                      </p:tavLst>
                                    </p:anim>
                                    <p:anim calcmode="lin" valueType="num">
                                      <p:cBhvr>
                                        <p:cTn id="61" dur="500" fill="hold"/>
                                        <p:tgtEl>
                                          <p:spTgt spid="2245713"/>
                                        </p:tgtEl>
                                        <p:attrNameLst>
                                          <p:attrName>ppt_w</p:attrName>
                                        </p:attrNameLst>
                                      </p:cBhvr>
                                      <p:tavLst>
                                        <p:tav tm="0">
                                          <p:val>
                                            <p:fltVal val="0.000000"/>
                                          </p:val>
                                        </p:tav>
                                        <p:tav tm="100000">
                                          <p:val>
                                            <p:strVal val="#ppt_w"/>
                                          </p:val>
                                        </p:tav>
                                      </p:tavLst>
                                    </p:anim>
                                    <p:anim calcmode="lin" valueType="num">
                                      <p:cBhvr>
                                        <p:cTn id="62" dur="500" fill="hold"/>
                                        <p:tgtEl>
                                          <p:spTgt spid="2245713"/>
                                        </p:tgtEl>
                                        <p:attrNameLst>
                                          <p:attrName>ppt_h</p:attrName>
                                        </p:attrNameLst>
                                      </p:cBhvr>
                                      <p:tavLst>
                                        <p:tav tm="0">
                                          <p:val>
                                            <p:strVal val="#ppt_h"/>
                                          </p:val>
                                        </p:tav>
                                        <p:tav tm="100000">
                                          <p:val>
                                            <p:strVal val="#ppt_h"/>
                                          </p:val>
                                        </p:tav>
                                      </p:tavLst>
                                    </p:anim>
                                  </p:childTnLst>
                                </p:cTn>
                              </p:par>
                              <p:par>
                                <p:cTn id="63" presetID="9" presetClass="entr" presetSubtype="0" fill="hold" nodeType="withEffect">
                                  <p:stCondLst>
                                    <p:cond delay="0"/>
                                  </p:stCondLst>
                                  <p:childTnLst>
                                    <p:set>
                                      <p:cBhvr>
                                        <p:cTn id="64" dur="1" fill="hold">
                                          <p:stCondLst>
                                            <p:cond delay="0"/>
                                          </p:stCondLst>
                                        </p:cTn>
                                        <p:tgtEl>
                                          <p:spTgt spid="2245714"/>
                                        </p:tgtEl>
                                        <p:attrNameLst>
                                          <p:attrName>style.visibility</p:attrName>
                                        </p:attrNameLst>
                                      </p:cBhvr>
                                      <p:to>
                                        <p:strVal val="visible"/>
                                      </p:to>
                                    </p:set>
                                    <p:animEffect transition="in" filter="dissolve">
                                      <p:cBhvr>
                                        <p:cTn id="65" dur="500"/>
                                        <p:tgtEl>
                                          <p:spTgt spid="2245714"/>
                                        </p:tgtEl>
                                      </p:cBhvr>
                                    </p:animEffect>
                                  </p:childTnLst>
                                </p:cTn>
                              </p:par>
                              <p:par>
                                <p:cTn id="66" presetID="17" presetClass="entr" presetSubtype="4" fill="hold" nodeType="withEffect">
                                  <p:stCondLst>
                                    <p:cond delay="0"/>
                                  </p:stCondLst>
                                  <p:childTnLst>
                                    <p:set>
                                      <p:cBhvr>
                                        <p:cTn id="67" dur="1" fill="hold">
                                          <p:stCondLst>
                                            <p:cond delay="0"/>
                                          </p:stCondLst>
                                        </p:cTn>
                                        <p:tgtEl>
                                          <p:spTgt spid="2245715"/>
                                        </p:tgtEl>
                                        <p:attrNameLst>
                                          <p:attrName>style.visibility</p:attrName>
                                        </p:attrNameLst>
                                      </p:cBhvr>
                                      <p:to>
                                        <p:strVal val="visible"/>
                                      </p:to>
                                    </p:set>
                                    <p:anim calcmode="lin" valueType="num">
                                      <p:cBhvr>
                                        <p:cTn id="68" dur="500" fill="hold"/>
                                        <p:tgtEl>
                                          <p:spTgt spid="2245715"/>
                                        </p:tgtEl>
                                        <p:attrNameLst>
                                          <p:attrName>ppt_x</p:attrName>
                                        </p:attrNameLst>
                                      </p:cBhvr>
                                      <p:tavLst>
                                        <p:tav tm="0">
                                          <p:val>
                                            <p:strVal val="#ppt_x"/>
                                          </p:val>
                                        </p:tav>
                                        <p:tav tm="100000">
                                          <p:val>
                                            <p:strVal val="#ppt_x"/>
                                          </p:val>
                                        </p:tav>
                                      </p:tavLst>
                                    </p:anim>
                                    <p:anim calcmode="lin" valueType="num">
                                      <p:cBhvr>
                                        <p:cTn id="69" dur="500" fill="hold"/>
                                        <p:tgtEl>
                                          <p:spTgt spid="2245715"/>
                                        </p:tgtEl>
                                        <p:attrNameLst>
                                          <p:attrName>ppt_y</p:attrName>
                                        </p:attrNameLst>
                                      </p:cBhvr>
                                      <p:tavLst>
                                        <p:tav tm="0">
                                          <p:val>
                                            <p:strVal val="#ppt_y+#ppt_h/2"/>
                                          </p:val>
                                        </p:tav>
                                        <p:tav tm="100000">
                                          <p:val>
                                            <p:strVal val="#ppt_y"/>
                                          </p:val>
                                        </p:tav>
                                      </p:tavLst>
                                    </p:anim>
                                    <p:anim calcmode="lin" valueType="num">
                                      <p:cBhvr>
                                        <p:cTn id="70" dur="500" fill="hold"/>
                                        <p:tgtEl>
                                          <p:spTgt spid="2245715"/>
                                        </p:tgtEl>
                                        <p:attrNameLst>
                                          <p:attrName>ppt_w</p:attrName>
                                        </p:attrNameLst>
                                      </p:cBhvr>
                                      <p:tavLst>
                                        <p:tav tm="0">
                                          <p:val>
                                            <p:strVal val="#ppt_w"/>
                                          </p:val>
                                        </p:tav>
                                        <p:tav tm="100000">
                                          <p:val>
                                            <p:strVal val="#ppt_w"/>
                                          </p:val>
                                        </p:tav>
                                      </p:tavLst>
                                    </p:anim>
                                    <p:anim calcmode="lin" valueType="num">
                                      <p:cBhvr>
                                        <p:cTn id="71" dur="500" fill="hold"/>
                                        <p:tgtEl>
                                          <p:spTgt spid="2245715"/>
                                        </p:tgtEl>
                                        <p:attrNameLst>
                                          <p:attrName>ppt_h</p:attrName>
                                        </p:attrNameLst>
                                      </p:cBhvr>
                                      <p:tavLst>
                                        <p:tav tm="0">
                                          <p:val>
                                            <p:fltVal val="0.000000"/>
                                          </p:val>
                                        </p:tav>
                                        <p:tav tm="100000">
                                          <p:val>
                                            <p:strVal val="#ppt_h"/>
                                          </p:val>
                                        </p:tav>
                                      </p:tavLst>
                                    </p:anim>
                                  </p:childTnLst>
                                </p:cTn>
                              </p:par>
                              <p:par>
                                <p:cTn id="72" presetID="9" presetClass="entr" presetSubtype="0" fill="hold" nodeType="withEffect">
                                  <p:stCondLst>
                                    <p:cond delay="0"/>
                                  </p:stCondLst>
                                  <p:childTnLst>
                                    <p:set>
                                      <p:cBhvr>
                                        <p:cTn id="73" dur="1" fill="hold">
                                          <p:stCondLst>
                                            <p:cond delay="0"/>
                                          </p:stCondLst>
                                        </p:cTn>
                                        <p:tgtEl>
                                          <p:spTgt spid="2245748"/>
                                        </p:tgtEl>
                                        <p:attrNameLst>
                                          <p:attrName>style.visibility</p:attrName>
                                        </p:attrNameLst>
                                      </p:cBhvr>
                                      <p:to>
                                        <p:strVal val="visible"/>
                                      </p:to>
                                    </p:set>
                                    <p:animEffect transition="in" filter="dissolve">
                                      <p:cBhvr>
                                        <p:cTn id="74" dur="500"/>
                                        <p:tgtEl>
                                          <p:spTgt spid="2245748"/>
                                        </p:tgtEl>
                                      </p:cBhvr>
                                    </p:animEffect>
                                  </p:childTnLst>
                                </p:cTn>
                              </p:par>
                              <p:par>
                                <p:cTn id="75" presetID="9" presetClass="entr" presetSubtype="0" fill="hold" nodeType="withEffect">
                                  <p:stCondLst>
                                    <p:cond delay="0"/>
                                  </p:stCondLst>
                                  <p:childTnLst>
                                    <p:set>
                                      <p:cBhvr>
                                        <p:cTn id="76" dur="1" fill="hold">
                                          <p:stCondLst>
                                            <p:cond delay="0"/>
                                          </p:stCondLst>
                                        </p:cTn>
                                        <p:tgtEl>
                                          <p:spTgt spid="2245716"/>
                                        </p:tgtEl>
                                        <p:attrNameLst>
                                          <p:attrName>style.visibility</p:attrName>
                                        </p:attrNameLst>
                                      </p:cBhvr>
                                      <p:to>
                                        <p:strVal val="visible"/>
                                      </p:to>
                                    </p:set>
                                    <p:animEffect transition="in" filter="dissolve">
                                      <p:cBhvr>
                                        <p:cTn id="77" dur="500"/>
                                        <p:tgtEl>
                                          <p:spTgt spid="2245716"/>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nodeType="clickEffect">
                                  <p:stCondLst>
                                    <p:cond delay="0"/>
                                  </p:stCondLst>
                                  <p:childTnLst>
                                    <p:set>
                                      <p:cBhvr>
                                        <p:cTn id="81" dur="1" fill="hold">
                                          <p:stCondLst>
                                            <p:cond delay="0"/>
                                          </p:stCondLst>
                                        </p:cTn>
                                        <p:tgtEl>
                                          <p:spTgt spid="2245758"/>
                                        </p:tgtEl>
                                        <p:attrNameLst>
                                          <p:attrName>style.visibility</p:attrName>
                                        </p:attrNameLst>
                                      </p:cBhvr>
                                      <p:to>
                                        <p:strVal val="visible"/>
                                      </p:to>
                                    </p:set>
                                    <p:animEffect transition="in" filter="dissolve">
                                      <p:cBhvr>
                                        <p:cTn id="82" dur="500"/>
                                        <p:tgtEl>
                                          <p:spTgt spid="2245758"/>
                                        </p:tgtEl>
                                      </p:cBhvr>
                                    </p:animEffect>
                                  </p:childTnLst>
                                </p:cTn>
                              </p:par>
                              <p:par>
                                <p:cTn id="83" presetID="9" presetClass="entr" presetSubtype="0" fill="hold" nodeType="withEffect">
                                  <p:stCondLst>
                                    <p:cond delay="0"/>
                                  </p:stCondLst>
                                  <p:childTnLst>
                                    <p:set>
                                      <p:cBhvr>
                                        <p:cTn id="84" dur="1" fill="hold">
                                          <p:stCondLst>
                                            <p:cond delay="0"/>
                                          </p:stCondLst>
                                        </p:cTn>
                                        <p:tgtEl>
                                          <p:spTgt spid="2245721"/>
                                        </p:tgtEl>
                                        <p:attrNameLst>
                                          <p:attrName>style.visibility</p:attrName>
                                        </p:attrNameLst>
                                      </p:cBhvr>
                                      <p:to>
                                        <p:strVal val="visible"/>
                                      </p:to>
                                    </p:set>
                                    <p:animEffect transition="in" filter="dissolve">
                                      <p:cBhvr>
                                        <p:cTn id="85" dur="500"/>
                                        <p:tgtEl>
                                          <p:spTgt spid="2245721"/>
                                        </p:tgtEl>
                                      </p:cBhvr>
                                    </p:animEffect>
                                  </p:childTnLst>
                                </p:cTn>
                              </p:par>
                              <p:par>
                                <p:cTn id="86" presetID="17" presetClass="entr" presetSubtype="4" fill="hold" nodeType="withEffect">
                                  <p:stCondLst>
                                    <p:cond delay="0"/>
                                  </p:stCondLst>
                                  <p:childTnLst>
                                    <p:set>
                                      <p:cBhvr>
                                        <p:cTn id="87" dur="1" fill="hold">
                                          <p:stCondLst>
                                            <p:cond delay="0"/>
                                          </p:stCondLst>
                                        </p:cTn>
                                        <p:tgtEl>
                                          <p:spTgt spid="2245720"/>
                                        </p:tgtEl>
                                        <p:attrNameLst>
                                          <p:attrName>style.visibility</p:attrName>
                                        </p:attrNameLst>
                                      </p:cBhvr>
                                      <p:to>
                                        <p:strVal val="visible"/>
                                      </p:to>
                                    </p:set>
                                    <p:anim calcmode="lin" valueType="num">
                                      <p:cBhvr>
                                        <p:cTn id="88" dur="500" fill="hold"/>
                                        <p:tgtEl>
                                          <p:spTgt spid="2245720"/>
                                        </p:tgtEl>
                                        <p:attrNameLst>
                                          <p:attrName>ppt_x</p:attrName>
                                        </p:attrNameLst>
                                      </p:cBhvr>
                                      <p:tavLst>
                                        <p:tav tm="0">
                                          <p:val>
                                            <p:strVal val="#ppt_x"/>
                                          </p:val>
                                        </p:tav>
                                        <p:tav tm="100000">
                                          <p:val>
                                            <p:strVal val="#ppt_x"/>
                                          </p:val>
                                        </p:tav>
                                      </p:tavLst>
                                    </p:anim>
                                    <p:anim calcmode="lin" valueType="num">
                                      <p:cBhvr>
                                        <p:cTn id="89" dur="500" fill="hold"/>
                                        <p:tgtEl>
                                          <p:spTgt spid="2245720"/>
                                        </p:tgtEl>
                                        <p:attrNameLst>
                                          <p:attrName>ppt_y</p:attrName>
                                        </p:attrNameLst>
                                      </p:cBhvr>
                                      <p:tavLst>
                                        <p:tav tm="0">
                                          <p:val>
                                            <p:strVal val="#ppt_y+#ppt_h/2"/>
                                          </p:val>
                                        </p:tav>
                                        <p:tav tm="100000">
                                          <p:val>
                                            <p:strVal val="#ppt_y"/>
                                          </p:val>
                                        </p:tav>
                                      </p:tavLst>
                                    </p:anim>
                                    <p:anim calcmode="lin" valueType="num">
                                      <p:cBhvr>
                                        <p:cTn id="90" dur="500" fill="hold"/>
                                        <p:tgtEl>
                                          <p:spTgt spid="2245720"/>
                                        </p:tgtEl>
                                        <p:attrNameLst>
                                          <p:attrName>ppt_w</p:attrName>
                                        </p:attrNameLst>
                                      </p:cBhvr>
                                      <p:tavLst>
                                        <p:tav tm="0">
                                          <p:val>
                                            <p:strVal val="#ppt_w"/>
                                          </p:val>
                                        </p:tav>
                                        <p:tav tm="100000">
                                          <p:val>
                                            <p:strVal val="#ppt_w"/>
                                          </p:val>
                                        </p:tav>
                                      </p:tavLst>
                                    </p:anim>
                                    <p:anim calcmode="lin" valueType="num">
                                      <p:cBhvr>
                                        <p:cTn id="91" dur="500" fill="hold"/>
                                        <p:tgtEl>
                                          <p:spTgt spid="2245720"/>
                                        </p:tgtEl>
                                        <p:attrNameLst>
                                          <p:attrName>ppt_h</p:attrName>
                                        </p:attrNameLst>
                                      </p:cBhvr>
                                      <p:tavLst>
                                        <p:tav tm="0">
                                          <p:val>
                                            <p:fltVal val="0.000000"/>
                                          </p:val>
                                        </p:tav>
                                        <p:tav tm="100000">
                                          <p:val>
                                            <p:strVal val="#ppt_h"/>
                                          </p:val>
                                        </p:tav>
                                      </p:tavLst>
                                    </p:anim>
                                  </p:childTnLst>
                                </p:cTn>
                              </p:par>
                              <p:par>
                                <p:cTn id="92" presetID="17" presetClass="entr" presetSubtype="8" fill="hold" nodeType="withEffect">
                                  <p:stCondLst>
                                    <p:cond delay="0"/>
                                  </p:stCondLst>
                                  <p:childTnLst>
                                    <p:set>
                                      <p:cBhvr>
                                        <p:cTn id="93" dur="1" fill="hold">
                                          <p:stCondLst>
                                            <p:cond delay="0"/>
                                          </p:stCondLst>
                                        </p:cTn>
                                        <p:tgtEl>
                                          <p:spTgt spid="2245717"/>
                                        </p:tgtEl>
                                        <p:attrNameLst>
                                          <p:attrName>style.visibility</p:attrName>
                                        </p:attrNameLst>
                                      </p:cBhvr>
                                      <p:to>
                                        <p:strVal val="visible"/>
                                      </p:to>
                                    </p:set>
                                    <p:anim calcmode="lin" valueType="num">
                                      <p:cBhvr>
                                        <p:cTn id="94" dur="500" fill="hold"/>
                                        <p:tgtEl>
                                          <p:spTgt spid="2245717"/>
                                        </p:tgtEl>
                                        <p:attrNameLst>
                                          <p:attrName>ppt_x</p:attrName>
                                        </p:attrNameLst>
                                      </p:cBhvr>
                                      <p:tavLst>
                                        <p:tav tm="0">
                                          <p:val>
                                            <p:strVal val="#ppt_x-#ppt_w/2"/>
                                          </p:val>
                                        </p:tav>
                                        <p:tav tm="100000">
                                          <p:val>
                                            <p:strVal val="#ppt_x"/>
                                          </p:val>
                                        </p:tav>
                                      </p:tavLst>
                                    </p:anim>
                                    <p:anim calcmode="lin" valueType="num">
                                      <p:cBhvr>
                                        <p:cTn id="95" dur="500" fill="hold"/>
                                        <p:tgtEl>
                                          <p:spTgt spid="2245717"/>
                                        </p:tgtEl>
                                        <p:attrNameLst>
                                          <p:attrName>ppt_y</p:attrName>
                                        </p:attrNameLst>
                                      </p:cBhvr>
                                      <p:tavLst>
                                        <p:tav tm="0">
                                          <p:val>
                                            <p:strVal val="#ppt_y"/>
                                          </p:val>
                                        </p:tav>
                                        <p:tav tm="100000">
                                          <p:val>
                                            <p:strVal val="#ppt_y"/>
                                          </p:val>
                                        </p:tav>
                                      </p:tavLst>
                                    </p:anim>
                                    <p:anim calcmode="lin" valueType="num">
                                      <p:cBhvr>
                                        <p:cTn id="96" dur="500" fill="hold"/>
                                        <p:tgtEl>
                                          <p:spTgt spid="2245717"/>
                                        </p:tgtEl>
                                        <p:attrNameLst>
                                          <p:attrName>ppt_w</p:attrName>
                                        </p:attrNameLst>
                                      </p:cBhvr>
                                      <p:tavLst>
                                        <p:tav tm="0">
                                          <p:val>
                                            <p:fltVal val="0.000000"/>
                                          </p:val>
                                        </p:tav>
                                        <p:tav tm="100000">
                                          <p:val>
                                            <p:strVal val="#ppt_w"/>
                                          </p:val>
                                        </p:tav>
                                      </p:tavLst>
                                    </p:anim>
                                    <p:anim calcmode="lin" valueType="num">
                                      <p:cBhvr>
                                        <p:cTn id="97" dur="500" fill="hold"/>
                                        <p:tgtEl>
                                          <p:spTgt spid="2245717"/>
                                        </p:tgtEl>
                                        <p:attrNameLst>
                                          <p:attrName>ppt_h</p:attrName>
                                        </p:attrNameLst>
                                      </p:cBhvr>
                                      <p:tavLst>
                                        <p:tav tm="0">
                                          <p:val>
                                            <p:strVal val="#ppt_h"/>
                                          </p:val>
                                        </p:tav>
                                        <p:tav tm="100000">
                                          <p:val>
                                            <p:strVal val="#ppt_h"/>
                                          </p:val>
                                        </p:tav>
                                      </p:tavLst>
                                    </p:anim>
                                  </p:childTnLst>
                                </p:cTn>
                              </p:par>
                              <p:par>
                                <p:cTn id="98" presetID="9" presetClass="entr" presetSubtype="0" fill="hold" nodeType="withEffect">
                                  <p:stCondLst>
                                    <p:cond delay="0"/>
                                  </p:stCondLst>
                                  <p:childTnLst>
                                    <p:set>
                                      <p:cBhvr>
                                        <p:cTn id="99" dur="1" fill="hold">
                                          <p:stCondLst>
                                            <p:cond delay="0"/>
                                          </p:stCondLst>
                                        </p:cTn>
                                        <p:tgtEl>
                                          <p:spTgt spid="2245718"/>
                                        </p:tgtEl>
                                        <p:attrNameLst>
                                          <p:attrName>style.visibility</p:attrName>
                                        </p:attrNameLst>
                                      </p:cBhvr>
                                      <p:to>
                                        <p:strVal val="visible"/>
                                      </p:to>
                                    </p:set>
                                    <p:animEffect transition="in" filter="dissolve">
                                      <p:cBhvr>
                                        <p:cTn id="100" dur="500"/>
                                        <p:tgtEl>
                                          <p:spTgt spid="2245718"/>
                                        </p:tgtEl>
                                      </p:cBhvr>
                                    </p:animEffect>
                                  </p:childTnLst>
                                </p:cTn>
                              </p:par>
                            </p:childTnLst>
                          </p:cTn>
                        </p:par>
                        <p:par>
                          <p:cTn id="101" fill="hold">
                            <p:stCondLst>
                              <p:cond delay="500"/>
                            </p:stCondLst>
                            <p:childTnLst>
                              <p:par>
                                <p:cTn id="102" presetID="22" presetClass="entr" presetSubtype="8" fill="hold" nodeType="afterEffect">
                                  <p:stCondLst>
                                    <p:cond delay="0"/>
                                  </p:stCondLst>
                                  <p:childTnLst>
                                    <p:set>
                                      <p:cBhvr>
                                        <p:cTn id="103" dur="1" fill="hold">
                                          <p:stCondLst>
                                            <p:cond delay="0"/>
                                          </p:stCondLst>
                                        </p:cTn>
                                        <p:tgtEl>
                                          <p:spTgt spid="2245749"/>
                                        </p:tgtEl>
                                        <p:attrNameLst>
                                          <p:attrName>style.visibility</p:attrName>
                                        </p:attrNameLst>
                                      </p:cBhvr>
                                      <p:to>
                                        <p:strVal val="visible"/>
                                      </p:to>
                                    </p:set>
                                    <p:animEffect transition="in" filter="wipe(left)">
                                      <p:cBhvr>
                                        <p:cTn id="104" dur="500"/>
                                        <p:tgtEl>
                                          <p:spTgt spid="2245749"/>
                                        </p:tgtEl>
                                      </p:cBhvr>
                                    </p:animEffect>
                                  </p:childTnLst>
                                </p:cTn>
                              </p:par>
                            </p:childTnLst>
                          </p:cTn>
                        </p:par>
                        <p:par>
                          <p:cTn id="105" fill="hold">
                            <p:stCondLst>
                              <p:cond delay="1000"/>
                            </p:stCondLst>
                            <p:childTnLst>
                              <p:par>
                                <p:cTn id="106" presetID="22" presetClass="entr" presetSubtype="8" fill="hold" nodeType="afterEffect">
                                  <p:stCondLst>
                                    <p:cond delay="0"/>
                                  </p:stCondLst>
                                  <p:childTnLst>
                                    <p:set>
                                      <p:cBhvr>
                                        <p:cTn id="107" dur="1" fill="hold">
                                          <p:stCondLst>
                                            <p:cond delay="0"/>
                                          </p:stCondLst>
                                        </p:cTn>
                                        <p:tgtEl>
                                          <p:spTgt spid="2245743"/>
                                        </p:tgtEl>
                                        <p:attrNameLst>
                                          <p:attrName>style.visibility</p:attrName>
                                        </p:attrNameLst>
                                      </p:cBhvr>
                                      <p:to>
                                        <p:strVal val="visible"/>
                                      </p:to>
                                    </p:set>
                                    <p:animEffect transition="in" filter="wipe(left)">
                                      <p:cBhvr>
                                        <p:cTn id="108" dur="500"/>
                                        <p:tgtEl>
                                          <p:spTgt spid="2245743"/>
                                        </p:tgtEl>
                                      </p:cBhvr>
                                    </p:animEffect>
                                  </p:childTnLst>
                                </p:cTn>
                              </p:par>
                            </p:childTnLst>
                          </p:cTn>
                        </p:par>
                      </p:childTnLst>
                    </p:cTn>
                  </p:par>
                  <p:par>
                    <p:cTn id="109" fill="hold">
                      <p:stCondLst>
                        <p:cond delay="indefinite"/>
                      </p:stCondLst>
                      <p:childTnLst>
                        <p:par>
                          <p:cTn id="110" fill="hold">
                            <p:stCondLst>
                              <p:cond delay="0"/>
                            </p:stCondLst>
                            <p:childTnLst>
                              <p:par>
                                <p:cTn id="111" presetID="3" presetClass="exit" presetSubtype="10" fill="hold" nodeType="clickEffect">
                                  <p:stCondLst>
                                    <p:cond delay="0"/>
                                  </p:stCondLst>
                                  <p:childTnLst>
                                    <p:animEffect transition="out" filter="blinds(horizontal)">
                                      <p:cBhvr>
                                        <p:cTn id="112" dur="500"/>
                                        <p:tgtEl>
                                          <p:spTgt spid="2245758"/>
                                        </p:tgtEl>
                                      </p:cBhvr>
                                    </p:animEffect>
                                    <p:set>
                                      <p:cBhvr>
                                        <p:cTn id="113" dur="1" fill="hold">
                                          <p:stCondLst>
                                            <p:cond delay="499"/>
                                          </p:stCondLst>
                                        </p:cTn>
                                        <p:tgtEl>
                                          <p:spTgt spid="2245758"/>
                                        </p:tgtEl>
                                        <p:attrNameLst>
                                          <p:attrName>style.visibility</p:attrName>
                                        </p:attrNameLst>
                                      </p:cBhvr>
                                      <p:to>
                                        <p:strVal val="hidden"/>
                                      </p:to>
                                    </p:set>
                                  </p:childTnLst>
                                </p:cTn>
                              </p:par>
                            </p:childTnLst>
                          </p:cTn>
                        </p:par>
                        <p:par>
                          <p:cTn id="114" fill="hold">
                            <p:stCondLst>
                              <p:cond delay="500"/>
                            </p:stCondLst>
                            <p:childTnLst>
                              <p:par>
                                <p:cTn id="115" presetID="9" presetClass="entr" presetSubtype="0" fill="hold" nodeType="afterEffect">
                                  <p:stCondLst>
                                    <p:cond delay="0"/>
                                  </p:stCondLst>
                                  <p:childTnLst>
                                    <p:set>
                                      <p:cBhvr>
                                        <p:cTn id="116" dur="1" fill="hold">
                                          <p:stCondLst>
                                            <p:cond delay="0"/>
                                          </p:stCondLst>
                                        </p:cTn>
                                        <p:tgtEl>
                                          <p:spTgt spid="2245760"/>
                                        </p:tgtEl>
                                        <p:attrNameLst>
                                          <p:attrName>style.visibility</p:attrName>
                                        </p:attrNameLst>
                                      </p:cBhvr>
                                      <p:to>
                                        <p:strVal val="visible"/>
                                      </p:to>
                                    </p:set>
                                    <p:animEffect transition="in" filter="dissolve">
                                      <p:cBhvr>
                                        <p:cTn id="117" dur="500"/>
                                        <p:tgtEl>
                                          <p:spTgt spid="2245760"/>
                                        </p:tgtEl>
                                      </p:cBhvr>
                                    </p:animEffect>
                                  </p:childTnLst>
                                </p:cTn>
                              </p:par>
                              <p:par>
                                <p:cTn id="118" presetID="17" presetClass="entr" presetSubtype="1" fill="hold" nodeType="withEffect">
                                  <p:stCondLst>
                                    <p:cond delay="0"/>
                                  </p:stCondLst>
                                  <p:childTnLst>
                                    <p:set>
                                      <p:cBhvr>
                                        <p:cTn id="119" dur="1" fill="hold">
                                          <p:stCondLst>
                                            <p:cond delay="0"/>
                                          </p:stCondLst>
                                        </p:cTn>
                                        <p:tgtEl>
                                          <p:spTgt spid="2245719"/>
                                        </p:tgtEl>
                                        <p:attrNameLst>
                                          <p:attrName>style.visibility</p:attrName>
                                        </p:attrNameLst>
                                      </p:cBhvr>
                                      <p:to>
                                        <p:strVal val="visible"/>
                                      </p:to>
                                    </p:set>
                                    <p:anim calcmode="lin" valueType="num">
                                      <p:cBhvr>
                                        <p:cTn id="120" dur="500" fill="hold"/>
                                        <p:tgtEl>
                                          <p:spTgt spid="2245719"/>
                                        </p:tgtEl>
                                        <p:attrNameLst>
                                          <p:attrName>ppt_x</p:attrName>
                                        </p:attrNameLst>
                                      </p:cBhvr>
                                      <p:tavLst>
                                        <p:tav tm="0">
                                          <p:val>
                                            <p:strVal val="#ppt_x"/>
                                          </p:val>
                                        </p:tav>
                                        <p:tav tm="100000">
                                          <p:val>
                                            <p:strVal val="#ppt_x"/>
                                          </p:val>
                                        </p:tav>
                                      </p:tavLst>
                                    </p:anim>
                                    <p:anim calcmode="lin" valueType="num">
                                      <p:cBhvr>
                                        <p:cTn id="121" dur="500" fill="hold"/>
                                        <p:tgtEl>
                                          <p:spTgt spid="2245719"/>
                                        </p:tgtEl>
                                        <p:attrNameLst>
                                          <p:attrName>ppt_y</p:attrName>
                                        </p:attrNameLst>
                                      </p:cBhvr>
                                      <p:tavLst>
                                        <p:tav tm="0">
                                          <p:val>
                                            <p:strVal val="#ppt_y-#ppt_h/2"/>
                                          </p:val>
                                        </p:tav>
                                        <p:tav tm="100000">
                                          <p:val>
                                            <p:strVal val="#ppt_y"/>
                                          </p:val>
                                        </p:tav>
                                      </p:tavLst>
                                    </p:anim>
                                    <p:anim calcmode="lin" valueType="num">
                                      <p:cBhvr>
                                        <p:cTn id="122" dur="500" fill="hold"/>
                                        <p:tgtEl>
                                          <p:spTgt spid="2245719"/>
                                        </p:tgtEl>
                                        <p:attrNameLst>
                                          <p:attrName>ppt_w</p:attrName>
                                        </p:attrNameLst>
                                      </p:cBhvr>
                                      <p:tavLst>
                                        <p:tav tm="0">
                                          <p:val>
                                            <p:strVal val="#ppt_w"/>
                                          </p:val>
                                        </p:tav>
                                        <p:tav tm="100000">
                                          <p:val>
                                            <p:strVal val="#ppt_w"/>
                                          </p:val>
                                        </p:tav>
                                      </p:tavLst>
                                    </p:anim>
                                    <p:anim calcmode="lin" valueType="num">
                                      <p:cBhvr>
                                        <p:cTn id="123" dur="500" fill="hold"/>
                                        <p:tgtEl>
                                          <p:spTgt spid="2245719"/>
                                        </p:tgtEl>
                                        <p:attrNameLst>
                                          <p:attrName>ppt_h</p:attrName>
                                        </p:attrNameLst>
                                      </p:cBhvr>
                                      <p:tavLst>
                                        <p:tav tm="0">
                                          <p:val>
                                            <p:fltVal val="0.000000"/>
                                          </p:val>
                                        </p:tav>
                                        <p:tav tm="100000">
                                          <p:val>
                                            <p:strVal val="#ppt_h"/>
                                          </p:val>
                                        </p:tav>
                                      </p:tavLst>
                                    </p:anim>
                                  </p:childTnLst>
                                </p:cTn>
                              </p:par>
                              <p:par>
                                <p:cTn id="124" presetID="9" presetClass="entr" presetSubtype="0" fill="hold" nodeType="withEffect">
                                  <p:stCondLst>
                                    <p:cond delay="0"/>
                                  </p:stCondLst>
                                  <p:childTnLst>
                                    <p:set>
                                      <p:cBhvr>
                                        <p:cTn id="125" dur="1" fill="hold">
                                          <p:stCondLst>
                                            <p:cond delay="0"/>
                                          </p:stCondLst>
                                        </p:cTn>
                                        <p:tgtEl>
                                          <p:spTgt spid="2245735"/>
                                        </p:tgtEl>
                                        <p:attrNameLst>
                                          <p:attrName>style.visibility</p:attrName>
                                        </p:attrNameLst>
                                      </p:cBhvr>
                                      <p:to>
                                        <p:strVal val="visible"/>
                                      </p:to>
                                    </p:set>
                                    <p:animEffect transition="in" filter="dissolve">
                                      <p:cBhvr>
                                        <p:cTn id="126" dur="500"/>
                                        <p:tgtEl>
                                          <p:spTgt spid="2245735"/>
                                        </p:tgtEl>
                                      </p:cBhvr>
                                    </p:animEffect>
                                  </p:childTnLst>
                                </p:cTn>
                              </p:par>
                            </p:childTnLst>
                          </p:cTn>
                        </p:par>
                        <p:par>
                          <p:cTn id="127" fill="hold">
                            <p:stCondLst>
                              <p:cond delay="1000"/>
                            </p:stCondLst>
                            <p:childTnLst>
                              <p:par>
                                <p:cTn id="128" presetID="22" presetClass="entr" presetSubtype="8" fill="hold" nodeType="afterEffect">
                                  <p:stCondLst>
                                    <p:cond delay="0"/>
                                  </p:stCondLst>
                                  <p:childTnLst>
                                    <p:set>
                                      <p:cBhvr>
                                        <p:cTn id="129" dur="1" fill="hold">
                                          <p:stCondLst>
                                            <p:cond delay="0"/>
                                          </p:stCondLst>
                                        </p:cTn>
                                        <p:tgtEl>
                                          <p:spTgt spid="2245754"/>
                                        </p:tgtEl>
                                        <p:attrNameLst>
                                          <p:attrName>style.visibility</p:attrName>
                                        </p:attrNameLst>
                                      </p:cBhvr>
                                      <p:to>
                                        <p:strVal val="visible"/>
                                      </p:to>
                                    </p:set>
                                    <p:animEffect transition="in" filter="wipe(left)">
                                      <p:cBhvr>
                                        <p:cTn id="130" dur="500"/>
                                        <p:tgtEl>
                                          <p:spTgt spid="2245754"/>
                                        </p:tgtEl>
                                      </p:cBhvr>
                                    </p:animEffect>
                                  </p:childTnLst>
                                </p:cTn>
                              </p:par>
                            </p:childTnLst>
                          </p:cTn>
                        </p:par>
                        <p:par>
                          <p:cTn id="131" fill="hold">
                            <p:stCondLst>
                              <p:cond delay="1500"/>
                            </p:stCondLst>
                            <p:childTnLst>
                              <p:par>
                                <p:cTn id="132" presetID="22" presetClass="entr" presetSubtype="8" fill="hold" nodeType="afterEffect">
                                  <p:stCondLst>
                                    <p:cond delay="0"/>
                                  </p:stCondLst>
                                  <p:childTnLst>
                                    <p:set>
                                      <p:cBhvr>
                                        <p:cTn id="133" dur="1" fill="hold">
                                          <p:stCondLst>
                                            <p:cond delay="0"/>
                                          </p:stCondLst>
                                        </p:cTn>
                                        <p:tgtEl>
                                          <p:spTgt spid="2245744"/>
                                        </p:tgtEl>
                                        <p:attrNameLst>
                                          <p:attrName>style.visibility</p:attrName>
                                        </p:attrNameLst>
                                      </p:cBhvr>
                                      <p:to>
                                        <p:strVal val="visible"/>
                                      </p:to>
                                    </p:set>
                                    <p:animEffect transition="in" filter="wipe(left)">
                                      <p:cBhvr>
                                        <p:cTn id="134" dur="500"/>
                                        <p:tgtEl>
                                          <p:spTgt spid="2245744"/>
                                        </p:tgtEl>
                                      </p:cBhvr>
                                    </p:animEffect>
                                  </p:childTnLst>
                                </p:cTn>
                              </p:par>
                            </p:childTnLst>
                          </p:cTn>
                        </p:par>
                        <p:par>
                          <p:cTn id="135" fill="hold">
                            <p:stCondLst>
                              <p:cond delay="2000"/>
                            </p:stCondLst>
                            <p:childTnLst>
                              <p:par>
                                <p:cTn id="136" presetID="17" presetClass="entr" presetSubtype="8" fill="hold" nodeType="afterEffect">
                                  <p:stCondLst>
                                    <p:cond delay="0"/>
                                  </p:stCondLst>
                                  <p:childTnLst>
                                    <p:set>
                                      <p:cBhvr>
                                        <p:cTn id="137" dur="1" fill="hold">
                                          <p:stCondLst>
                                            <p:cond delay="0"/>
                                          </p:stCondLst>
                                        </p:cTn>
                                        <p:tgtEl>
                                          <p:spTgt spid="2245722"/>
                                        </p:tgtEl>
                                        <p:attrNameLst>
                                          <p:attrName>style.visibility</p:attrName>
                                        </p:attrNameLst>
                                      </p:cBhvr>
                                      <p:to>
                                        <p:strVal val="visible"/>
                                      </p:to>
                                    </p:set>
                                    <p:anim calcmode="lin" valueType="num">
                                      <p:cBhvr>
                                        <p:cTn id="138" dur="500" fill="hold"/>
                                        <p:tgtEl>
                                          <p:spTgt spid="2245722"/>
                                        </p:tgtEl>
                                        <p:attrNameLst>
                                          <p:attrName>ppt_x</p:attrName>
                                        </p:attrNameLst>
                                      </p:cBhvr>
                                      <p:tavLst>
                                        <p:tav tm="0">
                                          <p:val>
                                            <p:strVal val="#ppt_x-#ppt_w/2"/>
                                          </p:val>
                                        </p:tav>
                                        <p:tav tm="100000">
                                          <p:val>
                                            <p:strVal val="#ppt_x"/>
                                          </p:val>
                                        </p:tav>
                                      </p:tavLst>
                                    </p:anim>
                                    <p:anim calcmode="lin" valueType="num">
                                      <p:cBhvr>
                                        <p:cTn id="139" dur="500" fill="hold"/>
                                        <p:tgtEl>
                                          <p:spTgt spid="2245722"/>
                                        </p:tgtEl>
                                        <p:attrNameLst>
                                          <p:attrName>ppt_y</p:attrName>
                                        </p:attrNameLst>
                                      </p:cBhvr>
                                      <p:tavLst>
                                        <p:tav tm="0">
                                          <p:val>
                                            <p:strVal val="#ppt_y"/>
                                          </p:val>
                                        </p:tav>
                                        <p:tav tm="100000">
                                          <p:val>
                                            <p:strVal val="#ppt_y"/>
                                          </p:val>
                                        </p:tav>
                                      </p:tavLst>
                                    </p:anim>
                                    <p:anim calcmode="lin" valueType="num">
                                      <p:cBhvr>
                                        <p:cTn id="140" dur="500" fill="hold"/>
                                        <p:tgtEl>
                                          <p:spTgt spid="2245722"/>
                                        </p:tgtEl>
                                        <p:attrNameLst>
                                          <p:attrName>ppt_w</p:attrName>
                                        </p:attrNameLst>
                                      </p:cBhvr>
                                      <p:tavLst>
                                        <p:tav tm="0">
                                          <p:val>
                                            <p:fltVal val="0.000000"/>
                                          </p:val>
                                        </p:tav>
                                        <p:tav tm="100000">
                                          <p:val>
                                            <p:strVal val="#ppt_w"/>
                                          </p:val>
                                        </p:tav>
                                      </p:tavLst>
                                    </p:anim>
                                    <p:anim calcmode="lin" valueType="num">
                                      <p:cBhvr>
                                        <p:cTn id="141" dur="500" fill="hold"/>
                                        <p:tgtEl>
                                          <p:spTgt spid="2245722"/>
                                        </p:tgtEl>
                                        <p:attrNameLst>
                                          <p:attrName>ppt_h</p:attrName>
                                        </p:attrNameLst>
                                      </p:cBhvr>
                                      <p:tavLst>
                                        <p:tav tm="0">
                                          <p:val>
                                            <p:strVal val="#ppt_h"/>
                                          </p:val>
                                        </p:tav>
                                        <p:tav tm="100000">
                                          <p:val>
                                            <p:strVal val="#ppt_h"/>
                                          </p:val>
                                        </p:tav>
                                      </p:tavLst>
                                    </p:anim>
                                  </p:childTnLst>
                                </p:cTn>
                              </p:par>
                              <p:par>
                                <p:cTn id="142" presetID="17" presetClass="entr" presetSubtype="2" fill="hold" nodeType="withEffect">
                                  <p:stCondLst>
                                    <p:cond delay="0"/>
                                  </p:stCondLst>
                                  <p:childTnLst>
                                    <p:set>
                                      <p:cBhvr>
                                        <p:cTn id="143" dur="1" fill="hold">
                                          <p:stCondLst>
                                            <p:cond delay="0"/>
                                          </p:stCondLst>
                                        </p:cTn>
                                        <p:tgtEl>
                                          <p:spTgt spid="2245723"/>
                                        </p:tgtEl>
                                        <p:attrNameLst>
                                          <p:attrName>style.visibility</p:attrName>
                                        </p:attrNameLst>
                                      </p:cBhvr>
                                      <p:to>
                                        <p:strVal val="visible"/>
                                      </p:to>
                                    </p:set>
                                    <p:anim calcmode="lin" valueType="num">
                                      <p:cBhvr>
                                        <p:cTn id="144" dur="500" fill="hold"/>
                                        <p:tgtEl>
                                          <p:spTgt spid="2245723"/>
                                        </p:tgtEl>
                                        <p:attrNameLst>
                                          <p:attrName>ppt_x</p:attrName>
                                        </p:attrNameLst>
                                      </p:cBhvr>
                                      <p:tavLst>
                                        <p:tav tm="0">
                                          <p:val>
                                            <p:strVal val="#ppt_x+#ppt_w/2"/>
                                          </p:val>
                                        </p:tav>
                                        <p:tav tm="100000">
                                          <p:val>
                                            <p:strVal val="#ppt_x"/>
                                          </p:val>
                                        </p:tav>
                                      </p:tavLst>
                                    </p:anim>
                                    <p:anim calcmode="lin" valueType="num">
                                      <p:cBhvr>
                                        <p:cTn id="145" dur="500" fill="hold"/>
                                        <p:tgtEl>
                                          <p:spTgt spid="2245723"/>
                                        </p:tgtEl>
                                        <p:attrNameLst>
                                          <p:attrName>ppt_y</p:attrName>
                                        </p:attrNameLst>
                                      </p:cBhvr>
                                      <p:tavLst>
                                        <p:tav tm="0">
                                          <p:val>
                                            <p:strVal val="#ppt_y"/>
                                          </p:val>
                                        </p:tav>
                                        <p:tav tm="100000">
                                          <p:val>
                                            <p:strVal val="#ppt_y"/>
                                          </p:val>
                                        </p:tav>
                                      </p:tavLst>
                                    </p:anim>
                                    <p:anim calcmode="lin" valueType="num">
                                      <p:cBhvr>
                                        <p:cTn id="146" dur="500" fill="hold"/>
                                        <p:tgtEl>
                                          <p:spTgt spid="2245723"/>
                                        </p:tgtEl>
                                        <p:attrNameLst>
                                          <p:attrName>ppt_w</p:attrName>
                                        </p:attrNameLst>
                                      </p:cBhvr>
                                      <p:tavLst>
                                        <p:tav tm="0">
                                          <p:val>
                                            <p:fltVal val="0.000000"/>
                                          </p:val>
                                        </p:tav>
                                        <p:tav tm="100000">
                                          <p:val>
                                            <p:strVal val="#ppt_w"/>
                                          </p:val>
                                        </p:tav>
                                      </p:tavLst>
                                    </p:anim>
                                    <p:anim calcmode="lin" valueType="num">
                                      <p:cBhvr>
                                        <p:cTn id="147" dur="500" fill="hold"/>
                                        <p:tgtEl>
                                          <p:spTgt spid="2245723"/>
                                        </p:tgtEl>
                                        <p:attrNameLst>
                                          <p:attrName>ppt_h</p:attrName>
                                        </p:attrNameLst>
                                      </p:cBhvr>
                                      <p:tavLst>
                                        <p:tav tm="0">
                                          <p:val>
                                            <p:strVal val="#ppt_h"/>
                                          </p:val>
                                        </p:tav>
                                        <p:tav tm="100000">
                                          <p:val>
                                            <p:strVal val="#ppt_h"/>
                                          </p:val>
                                        </p:tav>
                                      </p:tavLst>
                                    </p:anim>
                                  </p:childTnLst>
                                </p:cTn>
                              </p:par>
                              <p:par>
                                <p:cTn id="148" presetID="9" presetClass="entr" presetSubtype="0" fill="hold" nodeType="withEffect">
                                  <p:stCondLst>
                                    <p:cond delay="0"/>
                                  </p:stCondLst>
                                  <p:childTnLst>
                                    <p:set>
                                      <p:cBhvr>
                                        <p:cTn id="149" dur="1" fill="hold">
                                          <p:stCondLst>
                                            <p:cond delay="0"/>
                                          </p:stCondLst>
                                        </p:cTn>
                                        <p:tgtEl>
                                          <p:spTgt spid="2245724"/>
                                        </p:tgtEl>
                                        <p:attrNameLst>
                                          <p:attrName>style.visibility</p:attrName>
                                        </p:attrNameLst>
                                      </p:cBhvr>
                                      <p:to>
                                        <p:strVal val="visible"/>
                                      </p:to>
                                    </p:set>
                                    <p:animEffect transition="in" filter="dissolve">
                                      <p:cBhvr>
                                        <p:cTn id="150" dur="500"/>
                                        <p:tgtEl>
                                          <p:spTgt spid="2245724"/>
                                        </p:tgtEl>
                                      </p:cBhvr>
                                    </p:animEffect>
                                  </p:childTnLst>
                                </p:cTn>
                              </p:par>
                            </p:childTnLst>
                          </p:cTn>
                        </p:par>
                      </p:childTnLst>
                    </p:cTn>
                  </p:par>
                  <p:par>
                    <p:cTn id="151" fill="hold">
                      <p:stCondLst>
                        <p:cond delay="indefinite"/>
                      </p:stCondLst>
                      <p:childTnLst>
                        <p:par>
                          <p:cTn id="152" fill="hold">
                            <p:stCondLst>
                              <p:cond delay="0"/>
                            </p:stCondLst>
                            <p:childTnLst>
                              <p:par>
                                <p:cTn id="153" presetID="3" presetClass="exit" presetSubtype="10" fill="hold" nodeType="clickEffect">
                                  <p:stCondLst>
                                    <p:cond delay="0"/>
                                  </p:stCondLst>
                                  <p:childTnLst>
                                    <p:animEffect transition="out" filter="blinds(horizontal)">
                                      <p:cBhvr>
                                        <p:cTn id="154" dur="500"/>
                                        <p:tgtEl>
                                          <p:spTgt spid="2245760"/>
                                        </p:tgtEl>
                                      </p:cBhvr>
                                    </p:animEffect>
                                    <p:set>
                                      <p:cBhvr>
                                        <p:cTn id="155" dur="1" fill="hold">
                                          <p:stCondLst>
                                            <p:cond delay="499"/>
                                          </p:stCondLst>
                                        </p:cTn>
                                        <p:tgtEl>
                                          <p:spTgt spid="2245760"/>
                                        </p:tgtEl>
                                        <p:attrNameLst>
                                          <p:attrName>style.visibility</p:attrName>
                                        </p:attrNameLst>
                                      </p:cBhvr>
                                      <p:to>
                                        <p:strVal val="hidden"/>
                                      </p:to>
                                    </p:set>
                                  </p:childTnLst>
                                </p:cTn>
                              </p:par>
                            </p:childTnLst>
                          </p:cTn>
                        </p:par>
                        <p:par>
                          <p:cTn id="156" fill="hold">
                            <p:stCondLst>
                              <p:cond delay="500"/>
                            </p:stCondLst>
                            <p:childTnLst>
                              <p:par>
                                <p:cTn id="157" presetID="9" presetClass="entr" presetSubtype="0" fill="hold" nodeType="afterEffect">
                                  <p:stCondLst>
                                    <p:cond delay="0"/>
                                  </p:stCondLst>
                                  <p:childTnLst>
                                    <p:set>
                                      <p:cBhvr>
                                        <p:cTn id="158" dur="1" fill="hold">
                                          <p:stCondLst>
                                            <p:cond delay="0"/>
                                          </p:stCondLst>
                                        </p:cTn>
                                        <p:tgtEl>
                                          <p:spTgt spid="2245761"/>
                                        </p:tgtEl>
                                        <p:attrNameLst>
                                          <p:attrName>style.visibility</p:attrName>
                                        </p:attrNameLst>
                                      </p:cBhvr>
                                      <p:to>
                                        <p:strVal val="visible"/>
                                      </p:to>
                                    </p:set>
                                    <p:animEffect transition="in" filter="dissolve">
                                      <p:cBhvr>
                                        <p:cTn id="159" dur="500"/>
                                        <p:tgtEl>
                                          <p:spTgt spid="2245761"/>
                                        </p:tgtEl>
                                      </p:cBhvr>
                                    </p:animEffect>
                                  </p:childTnLst>
                                </p:cTn>
                              </p:par>
                              <p:par>
                                <p:cTn id="160" presetID="9" presetClass="entr" presetSubtype="0" fill="hold" nodeType="withEffect">
                                  <p:stCondLst>
                                    <p:cond delay="0"/>
                                  </p:stCondLst>
                                  <p:childTnLst>
                                    <p:set>
                                      <p:cBhvr>
                                        <p:cTn id="161" dur="1" fill="hold">
                                          <p:stCondLst>
                                            <p:cond delay="0"/>
                                          </p:stCondLst>
                                        </p:cTn>
                                        <p:tgtEl>
                                          <p:spTgt spid="2245726"/>
                                        </p:tgtEl>
                                        <p:attrNameLst>
                                          <p:attrName>style.visibility</p:attrName>
                                        </p:attrNameLst>
                                      </p:cBhvr>
                                      <p:to>
                                        <p:strVal val="visible"/>
                                      </p:to>
                                    </p:set>
                                    <p:animEffect transition="in" filter="dissolve">
                                      <p:cBhvr>
                                        <p:cTn id="162" dur="500"/>
                                        <p:tgtEl>
                                          <p:spTgt spid="2245726"/>
                                        </p:tgtEl>
                                      </p:cBhvr>
                                    </p:animEffect>
                                  </p:childTnLst>
                                </p:cTn>
                              </p:par>
                              <p:par>
                                <p:cTn id="163" presetID="17" presetClass="entr" presetSubtype="4" fill="hold" nodeType="withEffect">
                                  <p:stCondLst>
                                    <p:cond delay="0"/>
                                  </p:stCondLst>
                                  <p:childTnLst>
                                    <p:set>
                                      <p:cBhvr>
                                        <p:cTn id="164" dur="1" fill="hold">
                                          <p:stCondLst>
                                            <p:cond delay="0"/>
                                          </p:stCondLst>
                                        </p:cTn>
                                        <p:tgtEl>
                                          <p:spTgt spid="2245725"/>
                                        </p:tgtEl>
                                        <p:attrNameLst>
                                          <p:attrName>style.visibility</p:attrName>
                                        </p:attrNameLst>
                                      </p:cBhvr>
                                      <p:to>
                                        <p:strVal val="visible"/>
                                      </p:to>
                                    </p:set>
                                    <p:anim calcmode="lin" valueType="num">
                                      <p:cBhvr>
                                        <p:cTn id="165" dur="500" fill="hold"/>
                                        <p:tgtEl>
                                          <p:spTgt spid="2245725"/>
                                        </p:tgtEl>
                                        <p:attrNameLst>
                                          <p:attrName>ppt_x</p:attrName>
                                        </p:attrNameLst>
                                      </p:cBhvr>
                                      <p:tavLst>
                                        <p:tav tm="0">
                                          <p:val>
                                            <p:strVal val="#ppt_x"/>
                                          </p:val>
                                        </p:tav>
                                        <p:tav tm="100000">
                                          <p:val>
                                            <p:strVal val="#ppt_x"/>
                                          </p:val>
                                        </p:tav>
                                      </p:tavLst>
                                    </p:anim>
                                    <p:anim calcmode="lin" valueType="num">
                                      <p:cBhvr>
                                        <p:cTn id="166" dur="500" fill="hold"/>
                                        <p:tgtEl>
                                          <p:spTgt spid="2245725"/>
                                        </p:tgtEl>
                                        <p:attrNameLst>
                                          <p:attrName>ppt_y</p:attrName>
                                        </p:attrNameLst>
                                      </p:cBhvr>
                                      <p:tavLst>
                                        <p:tav tm="0">
                                          <p:val>
                                            <p:strVal val="#ppt_y+#ppt_h/2"/>
                                          </p:val>
                                        </p:tav>
                                        <p:tav tm="100000">
                                          <p:val>
                                            <p:strVal val="#ppt_y"/>
                                          </p:val>
                                        </p:tav>
                                      </p:tavLst>
                                    </p:anim>
                                    <p:anim calcmode="lin" valueType="num">
                                      <p:cBhvr>
                                        <p:cTn id="167" dur="500" fill="hold"/>
                                        <p:tgtEl>
                                          <p:spTgt spid="2245725"/>
                                        </p:tgtEl>
                                        <p:attrNameLst>
                                          <p:attrName>ppt_w</p:attrName>
                                        </p:attrNameLst>
                                      </p:cBhvr>
                                      <p:tavLst>
                                        <p:tav tm="0">
                                          <p:val>
                                            <p:strVal val="#ppt_w"/>
                                          </p:val>
                                        </p:tav>
                                        <p:tav tm="100000">
                                          <p:val>
                                            <p:strVal val="#ppt_w"/>
                                          </p:val>
                                        </p:tav>
                                      </p:tavLst>
                                    </p:anim>
                                    <p:anim calcmode="lin" valueType="num">
                                      <p:cBhvr>
                                        <p:cTn id="168" dur="500" fill="hold"/>
                                        <p:tgtEl>
                                          <p:spTgt spid="2245725"/>
                                        </p:tgtEl>
                                        <p:attrNameLst>
                                          <p:attrName>ppt_h</p:attrName>
                                        </p:attrNameLst>
                                      </p:cBhvr>
                                      <p:tavLst>
                                        <p:tav tm="0">
                                          <p:val>
                                            <p:fltVal val="0.000000"/>
                                          </p:val>
                                        </p:tav>
                                        <p:tav tm="100000">
                                          <p:val>
                                            <p:strVal val="#ppt_h"/>
                                          </p:val>
                                        </p:tav>
                                      </p:tavLst>
                                    </p:anim>
                                  </p:childTnLst>
                                </p:cTn>
                              </p:par>
                              <p:par>
                                <p:cTn id="169" presetID="17" presetClass="entr" presetSubtype="4" fill="hold" nodeType="withEffect">
                                  <p:stCondLst>
                                    <p:cond delay="0"/>
                                  </p:stCondLst>
                                  <p:childTnLst>
                                    <p:set>
                                      <p:cBhvr>
                                        <p:cTn id="170" dur="1" fill="hold">
                                          <p:stCondLst>
                                            <p:cond delay="0"/>
                                          </p:stCondLst>
                                        </p:cTn>
                                        <p:tgtEl>
                                          <p:spTgt spid="2245727"/>
                                        </p:tgtEl>
                                        <p:attrNameLst>
                                          <p:attrName>style.visibility</p:attrName>
                                        </p:attrNameLst>
                                      </p:cBhvr>
                                      <p:to>
                                        <p:strVal val="visible"/>
                                      </p:to>
                                    </p:set>
                                    <p:anim calcmode="lin" valueType="num">
                                      <p:cBhvr>
                                        <p:cTn id="171" dur="500" fill="hold"/>
                                        <p:tgtEl>
                                          <p:spTgt spid="2245727"/>
                                        </p:tgtEl>
                                        <p:attrNameLst>
                                          <p:attrName>ppt_x</p:attrName>
                                        </p:attrNameLst>
                                      </p:cBhvr>
                                      <p:tavLst>
                                        <p:tav tm="0">
                                          <p:val>
                                            <p:strVal val="#ppt_x"/>
                                          </p:val>
                                        </p:tav>
                                        <p:tav tm="100000">
                                          <p:val>
                                            <p:strVal val="#ppt_x"/>
                                          </p:val>
                                        </p:tav>
                                      </p:tavLst>
                                    </p:anim>
                                    <p:anim calcmode="lin" valueType="num">
                                      <p:cBhvr>
                                        <p:cTn id="172" dur="500" fill="hold"/>
                                        <p:tgtEl>
                                          <p:spTgt spid="2245727"/>
                                        </p:tgtEl>
                                        <p:attrNameLst>
                                          <p:attrName>ppt_y</p:attrName>
                                        </p:attrNameLst>
                                      </p:cBhvr>
                                      <p:tavLst>
                                        <p:tav tm="0">
                                          <p:val>
                                            <p:strVal val="#ppt_y+#ppt_h/2"/>
                                          </p:val>
                                        </p:tav>
                                        <p:tav tm="100000">
                                          <p:val>
                                            <p:strVal val="#ppt_y"/>
                                          </p:val>
                                        </p:tav>
                                      </p:tavLst>
                                    </p:anim>
                                    <p:anim calcmode="lin" valueType="num">
                                      <p:cBhvr>
                                        <p:cTn id="173" dur="500" fill="hold"/>
                                        <p:tgtEl>
                                          <p:spTgt spid="2245727"/>
                                        </p:tgtEl>
                                        <p:attrNameLst>
                                          <p:attrName>ppt_w</p:attrName>
                                        </p:attrNameLst>
                                      </p:cBhvr>
                                      <p:tavLst>
                                        <p:tav tm="0">
                                          <p:val>
                                            <p:strVal val="#ppt_w"/>
                                          </p:val>
                                        </p:tav>
                                        <p:tav tm="100000">
                                          <p:val>
                                            <p:strVal val="#ppt_w"/>
                                          </p:val>
                                        </p:tav>
                                      </p:tavLst>
                                    </p:anim>
                                    <p:anim calcmode="lin" valueType="num">
                                      <p:cBhvr>
                                        <p:cTn id="174" dur="500" fill="hold"/>
                                        <p:tgtEl>
                                          <p:spTgt spid="2245727"/>
                                        </p:tgtEl>
                                        <p:attrNameLst>
                                          <p:attrName>ppt_h</p:attrName>
                                        </p:attrNameLst>
                                      </p:cBhvr>
                                      <p:tavLst>
                                        <p:tav tm="0">
                                          <p:val>
                                            <p:fltVal val="0.000000"/>
                                          </p:val>
                                        </p:tav>
                                        <p:tav tm="100000">
                                          <p:val>
                                            <p:strVal val="#ppt_h"/>
                                          </p:val>
                                        </p:tav>
                                      </p:tavLst>
                                    </p:anim>
                                  </p:childTnLst>
                                </p:cTn>
                              </p:par>
                              <p:par>
                                <p:cTn id="175" presetID="17" presetClass="entr" presetSubtype="4" fill="hold" nodeType="withEffect">
                                  <p:stCondLst>
                                    <p:cond delay="0"/>
                                  </p:stCondLst>
                                  <p:childTnLst>
                                    <p:set>
                                      <p:cBhvr>
                                        <p:cTn id="176" dur="1" fill="hold">
                                          <p:stCondLst>
                                            <p:cond delay="0"/>
                                          </p:stCondLst>
                                        </p:cTn>
                                        <p:tgtEl>
                                          <p:spTgt spid="2245728"/>
                                        </p:tgtEl>
                                        <p:attrNameLst>
                                          <p:attrName>style.visibility</p:attrName>
                                        </p:attrNameLst>
                                      </p:cBhvr>
                                      <p:to>
                                        <p:strVal val="visible"/>
                                      </p:to>
                                    </p:set>
                                    <p:anim calcmode="lin" valueType="num">
                                      <p:cBhvr>
                                        <p:cTn id="177" dur="500" fill="hold"/>
                                        <p:tgtEl>
                                          <p:spTgt spid="2245728"/>
                                        </p:tgtEl>
                                        <p:attrNameLst>
                                          <p:attrName>ppt_x</p:attrName>
                                        </p:attrNameLst>
                                      </p:cBhvr>
                                      <p:tavLst>
                                        <p:tav tm="0">
                                          <p:val>
                                            <p:strVal val="#ppt_x"/>
                                          </p:val>
                                        </p:tav>
                                        <p:tav tm="100000">
                                          <p:val>
                                            <p:strVal val="#ppt_x"/>
                                          </p:val>
                                        </p:tav>
                                      </p:tavLst>
                                    </p:anim>
                                    <p:anim calcmode="lin" valueType="num">
                                      <p:cBhvr>
                                        <p:cTn id="178" dur="500" fill="hold"/>
                                        <p:tgtEl>
                                          <p:spTgt spid="2245728"/>
                                        </p:tgtEl>
                                        <p:attrNameLst>
                                          <p:attrName>ppt_y</p:attrName>
                                        </p:attrNameLst>
                                      </p:cBhvr>
                                      <p:tavLst>
                                        <p:tav tm="0">
                                          <p:val>
                                            <p:strVal val="#ppt_y+#ppt_h/2"/>
                                          </p:val>
                                        </p:tav>
                                        <p:tav tm="100000">
                                          <p:val>
                                            <p:strVal val="#ppt_y"/>
                                          </p:val>
                                        </p:tav>
                                      </p:tavLst>
                                    </p:anim>
                                    <p:anim calcmode="lin" valueType="num">
                                      <p:cBhvr>
                                        <p:cTn id="179" dur="500" fill="hold"/>
                                        <p:tgtEl>
                                          <p:spTgt spid="2245728"/>
                                        </p:tgtEl>
                                        <p:attrNameLst>
                                          <p:attrName>ppt_w</p:attrName>
                                        </p:attrNameLst>
                                      </p:cBhvr>
                                      <p:tavLst>
                                        <p:tav tm="0">
                                          <p:val>
                                            <p:strVal val="#ppt_w"/>
                                          </p:val>
                                        </p:tav>
                                        <p:tav tm="100000">
                                          <p:val>
                                            <p:strVal val="#ppt_w"/>
                                          </p:val>
                                        </p:tav>
                                      </p:tavLst>
                                    </p:anim>
                                    <p:anim calcmode="lin" valueType="num">
                                      <p:cBhvr>
                                        <p:cTn id="180" dur="500" fill="hold"/>
                                        <p:tgtEl>
                                          <p:spTgt spid="2245728"/>
                                        </p:tgtEl>
                                        <p:attrNameLst>
                                          <p:attrName>ppt_h</p:attrName>
                                        </p:attrNameLst>
                                      </p:cBhvr>
                                      <p:tavLst>
                                        <p:tav tm="0">
                                          <p:val>
                                            <p:fltVal val="0.000000"/>
                                          </p:val>
                                        </p:tav>
                                        <p:tav tm="100000">
                                          <p:val>
                                            <p:strVal val="#ppt_h"/>
                                          </p:val>
                                        </p:tav>
                                      </p:tavLst>
                                    </p:anim>
                                  </p:childTnLst>
                                </p:cTn>
                              </p:par>
                              <p:par>
                                <p:cTn id="181" presetID="17" presetClass="entr" presetSubtype="2" fill="hold" nodeType="withEffect">
                                  <p:stCondLst>
                                    <p:cond delay="0"/>
                                  </p:stCondLst>
                                  <p:childTnLst>
                                    <p:set>
                                      <p:cBhvr>
                                        <p:cTn id="182" dur="1" fill="hold">
                                          <p:stCondLst>
                                            <p:cond delay="0"/>
                                          </p:stCondLst>
                                        </p:cTn>
                                        <p:tgtEl>
                                          <p:spTgt spid="2245729"/>
                                        </p:tgtEl>
                                        <p:attrNameLst>
                                          <p:attrName>style.visibility</p:attrName>
                                        </p:attrNameLst>
                                      </p:cBhvr>
                                      <p:to>
                                        <p:strVal val="visible"/>
                                      </p:to>
                                    </p:set>
                                    <p:anim calcmode="lin" valueType="num">
                                      <p:cBhvr>
                                        <p:cTn id="183" dur="500" fill="hold"/>
                                        <p:tgtEl>
                                          <p:spTgt spid="2245729"/>
                                        </p:tgtEl>
                                        <p:attrNameLst>
                                          <p:attrName>ppt_x</p:attrName>
                                        </p:attrNameLst>
                                      </p:cBhvr>
                                      <p:tavLst>
                                        <p:tav tm="0">
                                          <p:val>
                                            <p:strVal val="#ppt_x+#ppt_w/2"/>
                                          </p:val>
                                        </p:tav>
                                        <p:tav tm="100000">
                                          <p:val>
                                            <p:strVal val="#ppt_x"/>
                                          </p:val>
                                        </p:tav>
                                      </p:tavLst>
                                    </p:anim>
                                    <p:anim calcmode="lin" valueType="num">
                                      <p:cBhvr>
                                        <p:cTn id="184" dur="500" fill="hold"/>
                                        <p:tgtEl>
                                          <p:spTgt spid="2245729"/>
                                        </p:tgtEl>
                                        <p:attrNameLst>
                                          <p:attrName>ppt_y</p:attrName>
                                        </p:attrNameLst>
                                      </p:cBhvr>
                                      <p:tavLst>
                                        <p:tav tm="0">
                                          <p:val>
                                            <p:strVal val="#ppt_y"/>
                                          </p:val>
                                        </p:tav>
                                        <p:tav tm="100000">
                                          <p:val>
                                            <p:strVal val="#ppt_y"/>
                                          </p:val>
                                        </p:tav>
                                      </p:tavLst>
                                    </p:anim>
                                    <p:anim calcmode="lin" valueType="num">
                                      <p:cBhvr>
                                        <p:cTn id="185" dur="500" fill="hold"/>
                                        <p:tgtEl>
                                          <p:spTgt spid="2245729"/>
                                        </p:tgtEl>
                                        <p:attrNameLst>
                                          <p:attrName>ppt_w</p:attrName>
                                        </p:attrNameLst>
                                      </p:cBhvr>
                                      <p:tavLst>
                                        <p:tav tm="0">
                                          <p:val>
                                            <p:fltVal val="0.000000"/>
                                          </p:val>
                                        </p:tav>
                                        <p:tav tm="100000">
                                          <p:val>
                                            <p:strVal val="#ppt_w"/>
                                          </p:val>
                                        </p:tav>
                                      </p:tavLst>
                                    </p:anim>
                                    <p:anim calcmode="lin" valueType="num">
                                      <p:cBhvr>
                                        <p:cTn id="186" dur="500" fill="hold"/>
                                        <p:tgtEl>
                                          <p:spTgt spid="2245729"/>
                                        </p:tgtEl>
                                        <p:attrNameLst>
                                          <p:attrName>ppt_h</p:attrName>
                                        </p:attrNameLst>
                                      </p:cBhvr>
                                      <p:tavLst>
                                        <p:tav tm="0">
                                          <p:val>
                                            <p:strVal val="#ppt_h"/>
                                          </p:val>
                                        </p:tav>
                                        <p:tav tm="100000">
                                          <p:val>
                                            <p:strVal val="#ppt_h"/>
                                          </p:val>
                                        </p:tav>
                                      </p:tavLst>
                                    </p:anim>
                                  </p:childTnLst>
                                </p:cTn>
                              </p:par>
                              <p:par>
                                <p:cTn id="187" presetID="9" presetClass="entr" presetSubtype="0" fill="hold" nodeType="withEffect">
                                  <p:stCondLst>
                                    <p:cond delay="0"/>
                                  </p:stCondLst>
                                  <p:childTnLst>
                                    <p:set>
                                      <p:cBhvr>
                                        <p:cTn id="188" dur="1" fill="hold">
                                          <p:stCondLst>
                                            <p:cond delay="0"/>
                                          </p:stCondLst>
                                        </p:cTn>
                                        <p:tgtEl>
                                          <p:spTgt spid="2245730"/>
                                        </p:tgtEl>
                                        <p:attrNameLst>
                                          <p:attrName>style.visibility</p:attrName>
                                        </p:attrNameLst>
                                      </p:cBhvr>
                                      <p:to>
                                        <p:strVal val="visible"/>
                                      </p:to>
                                    </p:set>
                                    <p:animEffect transition="in" filter="dissolve">
                                      <p:cBhvr>
                                        <p:cTn id="189" dur="500"/>
                                        <p:tgtEl>
                                          <p:spTgt spid="2245730"/>
                                        </p:tgtEl>
                                      </p:cBhvr>
                                    </p:animEffect>
                                  </p:childTnLst>
                                </p:cTn>
                              </p:par>
                              <p:par>
                                <p:cTn id="190" presetID="17" presetClass="entr" presetSubtype="8" fill="hold" nodeType="withEffect">
                                  <p:stCondLst>
                                    <p:cond delay="0"/>
                                  </p:stCondLst>
                                  <p:childTnLst>
                                    <p:set>
                                      <p:cBhvr>
                                        <p:cTn id="191" dur="1" fill="hold">
                                          <p:stCondLst>
                                            <p:cond delay="0"/>
                                          </p:stCondLst>
                                        </p:cTn>
                                        <p:tgtEl>
                                          <p:spTgt spid="2245731"/>
                                        </p:tgtEl>
                                        <p:attrNameLst>
                                          <p:attrName>style.visibility</p:attrName>
                                        </p:attrNameLst>
                                      </p:cBhvr>
                                      <p:to>
                                        <p:strVal val="visible"/>
                                      </p:to>
                                    </p:set>
                                    <p:anim calcmode="lin" valueType="num">
                                      <p:cBhvr>
                                        <p:cTn id="192" dur="500" fill="hold"/>
                                        <p:tgtEl>
                                          <p:spTgt spid="2245731"/>
                                        </p:tgtEl>
                                        <p:attrNameLst>
                                          <p:attrName>ppt_x</p:attrName>
                                        </p:attrNameLst>
                                      </p:cBhvr>
                                      <p:tavLst>
                                        <p:tav tm="0">
                                          <p:val>
                                            <p:strVal val="#ppt_x-#ppt_w/2"/>
                                          </p:val>
                                        </p:tav>
                                        <p:tav tm="100000">
                                          <p:val>
                                            <p:strVal val="#ppt_x"/>
                                          </p:val>
                                        </p:tav>
                                      </p:tavLst>
                                    </p:anim>
                                    <p:anim calcmode="lin" valueType="num">
                                      <p:cBhvr>
                                        <p:cTn id="193" dur="500" fill="hold"/>
                                        <p:tgtEl>
                                          <p:spTgt spid="2245731"/>
                                        </p:tgtEl>
                                        <p:attrNameLst>
                                          <p:attrName>ppt_y</p:attrName>
                                        </p:attrNameLst>
                                      </p:cBhvr>
                                      <p:tavLst>
                                        <p:tav tm="0">
                                          <p:val>
                                            <p:strVal val="#ppt_y"/>
                                          </p:val>
                                        </p:tav>
                                        <p:tav tm="100000">
                                          <p:val>
                                            <p:strVal val="#ppt_y"/>
                                          </p:val>
                                        </p:tav>
                                      </p:tavLst>
                                    </p:anim>
                                    <p:anim calcmode="lin" valueType="num">
                                      <p:cBhvr>
                                        <p:cTn id="194" dur="500" fill="hold"/>
                                        <p:tgtEl>
                                          <p:spTgt spid="2245731"/>
                                        </p:tgtEl>
                                        <p:attrNameLst>
                                          <p:attrName>ppt_w</p:attrName>
                                        </p:attrNameLst>
                                      </p:cBhvr>
                                      <p:tavLst>
                                        <p:tav tm="0">
                                          <p:val>
                                            <p:fltVal val="0.000000"/>
                                          </p:val>
                                        </p:tav>
                                        <p:tav tm="100000">
                                          <p:val>
                                            <p:strVal val="#ppt_w"/>
                                          </p:val>
                                        </p:tav>
                                      </p:tavLst>
                                    </p:anim>
                                    <p:anim calcmode="lin" valueType="num">
                                      <p:cBhvr>
                                        <p:cTn id="195" dur="500" fill="hold"/>
                                        <p:tgtEl>
                                          <p:spTgt spid="2245731"/>
                                        </p:tgtEl>
                                        <p:attrNameLst>
                                          <p:attrName>ppt_h</p:attrName>
                                        </p:attrNameLst>
                                      </p:cBhvr>
                                      <p:tavLst>
                                        <p:tav tm="0">
                                          <p:val>
                                            <p:strVal val="#ppt_h"/>
                                          </p:val>
                                        </p:tav>
                                        <p:tav tm="100000">
                                          <p:val>
                                            <p:strVal val="#ppt_h"/>
                                          </p:val>
                                        </p:tav>
                                      </p:tavLst>
                                    </p:anim>
                                  </p:childTnLst>
                                </p:cTn>
                              </p:par>
                              <p:par>
                                <p:cTn id="196" presetID="9" presetClass="entr" presetSubtype="0" fill="hold" nodeType="withEffect">
                                  <p:stCondLst>
                                    <p:cond delay="0"/>
                                  </p:stCondLst>
                                  <p:childTnLst>
                                    <p:set>
                                      <p:cBhvr>
                                        <p:cTn id="197" dur="1" fill="hold">
                                          <p:stCondLst>
                                            <p:cond delay="0"/>
                                          </p:stCondLst>
                                        </p:cTn>
                                        <p:tgtEl>
                                          <p:spTgt spid="2245755"/>
                                        </p:tgtEl>
                                        <p:attrNameLst>
                                          <p:attrName>style.visibility</p:attrName>
                                        </p:attrNameLst>
                                      </p:cBhvr>
                                      <p:to>
                                        <p:strVal val="visible"/>
                                      </p:to>
                                    </p:set>
                                    <p:animEffect transition="in" filter="dissolve">
                                      <p:cBhvr>
                                        <p:cTn id="198" dur="500"/>
                                        <p:tgtEl>
                                          <p:spTgt spid="2245755"/>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8" fill="hold" nodeType="clickEffect">
                                  <p:stCondLst>
                                    <p:cond delay="0"/>
                                  </p:stCondLst>
                                  <p:childTnLst>
                                    <p:set>
                                      <p:cBhvr>
                                        <p:cTn id="202" dur="1" fill="hold">
                                          <p:stCondLst>
                                            <p:cond delay="0"/>
                                          </p:stCondLst>
                                        </p:cTn>
                                        <p:tgtEl>
                                          <p:spTgt spid="2245750"/>
                                        </p:tgtEl>
                                        <p:attrNameLst>
                                          <p:attrName>style.visibility</p:attrName>
                                        </p:attrNameLst>
                                      </p:cBhvr>
                                      <p:to>
                                        <p:strVal val="visible"/>
                                      </p:to>
                                    </p:set>
                                    <p:animEffect transition="in" filter="wipe(left)">
                                      <p:cBhvr>
                                        <p:cTn id="203" dur="500"/>
                                        <p:tgtEl>
                                          <p:spTgt spid="2245750"/>
                                        </p:tgtEl>
                                      </p:cBhvr>
                                    </p:animEffect>
                                  </p:childTnLst>
                                </p:cTn>
                              </p:par>
                            </p:childTnLst>
                          </p:cTn>
                        </p:par>
                        <p:par>
                          <p:cTn id="204" fill="hold">
                            <p:stCondLst>
                              <p:cond delay="500"/>
                            </p:stCondLst>
                            <p:childTnLst>
                              <p:par>
                                <p:cTn id="205" presetID="22" presetClass="entr" presetSubtype="8" fill="hold" nodeType="afterEffect">
                                  <p:stCondLst>
                                    <p:cond delay="0"/>
                                  </p:stCondLst>
                                  <p:childTnLst>
                                    <p:set>
                                      <p:cBhvr>
                                        <p:cTn id="206" dur="1" fill="hold">
                                          <p:stCondLst>
                                            <p:cond delay="0"/>
                                          </p:stCondLst>
                                        </p:cTn>
                                        <p:tgtEl>
                                          <p:spTgt spid="2245747"/>
                                        </p:tgtEl>
                                        <p:attrNameLst>
                                          <p:attrName>style.visibility</p:attrName>
                                        </p:attrNameLst>
                                      </p:cBhvr>
                                      <p:to>
                                        <p:strVal val="visible"/>
                                      </p:to>
                                    </p:set>
                                    <p:animEffect transition="in" filter="wipe(left)">
                                      <p:cBhvr>
                                        <p:cTn id="207" dur="500"/>
                                        <p:tgtEl>
                                          <p:spTgt spid="2245747"/>
                                        </p:tgtEl>
                                      </p:cBhvr>
                                    </p:animEffect>
                                  </p:childTnLst>
                                </p:cTn>
                              </p:par>
                            </p:childTnLst>
                          </p:cTn>
                        </p:par>
                      </p:childTnLst>
                    </p:cTn>
                  </p:par>
                  <p:par>
                    <p:cTn id="208" fill="hold">
                      <p:stCondLst>
                        <p:cond delay="indefinite"/>
                      </p:stCondLst>
                      <p:childTnLst>
                        <p:par>
                          <p:cTn id="209" fill="hold">
                            <p:stCondLst>
                              <p:cond delay="0"/>
                            </p:stCondLst>
                            <p:childTnLst>
                              <p:par>
                                <p:cTn id="210" presetID="3" presetClass="exit" presetSubtype="10" fill="hold" nodeType="clickEffect">
                                  <p:stCondLst>
                                    <p:cond delay="0"/>
                                  </p:stCondLst>
                                  <p:childTnLst>
                                    <p:animEffect transition="out" filter="blinds(horizontal)">
                                      <p:cBhvr>
                                        <p:cTn id="211" dur="500"/>
                                        <p:tgtEl>
                                          <p:spTgt spid="2245761"/>
                                        </p:tgtEl>
                                      </p:cBhvr>
                                    </p:animEffect>
                                    <p:set>
                                      <p:cBhvr>
                                        <p:cTn id="212" dur="1" fill="hold">
                                          <p:stCondLst>
                                            <p:cond delay="499"/>
                                          </p:stCondLst>
                                        </p:cTn>
                                        <p:tgtEl>
                                          <p:spTgt spid="2245761"/>
                                        </p:tgtEl>
                                        <p:attrNameLst>
                                          <p:attrName>style.visibility</p:attrName>
                                        </p:attrNameLst>
                                      </p:cBhvr>
                                      <p:to>
                                        <p:strVal val="hidden"/>
                                      </p:to>
                                    </p:set>
                                  </p:childTnLst>
                                </p:cTn>
                              </p:par>
                            </p:childTnLst>
                          </p:cTn>
                        </p:par>
                        <p:par>
                          <p:cTn id="213" fill="hold">
                            <p:stCondLst>
                              <p:cond delay="500"/>
                            </p:stCondLst>
                            <p:childTnLst>
                              <p:par>
                                <p:cTn id="214" presetID="9" presetClass="entr" presetSubtype="0" fill="hold" nodeType="afterEffect">
                                  <p:stCondLst>
                                    <p:cond delay="0"/>
                                  </p:stCondLst>
                                  <p:childTnLst>
                                    <p:set>
                                      <p:cBhvr>
                                        <p:cTn id="215" dur="1" fill="hold">
                                          <p:stCondLst>
                                            <p:cond delay="0"/>
                                          </p:stCondLst>
                                        </p:cTn>
                                        <p:tgtEl>
                                          <p:spTgt spid="2245762"/>
                                        </p:tgtEl>
                                        <p:attrNameLst>
                                          <p:attrName>style.visibility</p:attrName>
                                        </p:attrNameLst>
                                      </p:cBhvr>
                                      <p:to>
                                        <p:strVal val="visible"/>
                                      </p:to>
                                    </p:set>
                                    <p:animEffect transition="in" filter="dissolve">
                                      <p:cBhvr>
                                        <p:cTn id="216" dur="500"/>
                                        <p:tgtEl>
                                          <p:spTgt spid="2245762"/>
                                        </p:tgtEl>
                                      </p:cBhvr>
                                    </p:animEffect>
                                  </p:childTnLst>
                                </p:cTn>
                              </p:par>
                              <p:par>
                                <p:cTn id="217" presetID="9" presetClass="entr" presetSubtype="0" fill="hold" nodeType="withEffect">
                                  <p:stCondLst>
                                    <p:cond delay="0"/>
                                  </p:stCondLst>
                                  <p:childTnLst>
                                    <p:set>
                                      <p:cBhvr>
                                        <p:cTn id="218" dur="1" fill="hold">
                                          <p:stCondLst>
                                            <p:cond delay="0"/>
                                          </p:stCondLst>
                                        </p:cTn>
                                        <p:tgtEl>
                                          <p:spTgt spid="2245733"/>
                                        </p:tgtEl>
                                        <p:attrNameLst>
                                          <p:attrName>style.visibility</p:attrName>
                                        </p:attrNameLst>
                                      </p:cBhvr>
                                      <p:to>
                                        <p:strVal val="visible"/>
                                      </p:to>
                                    </p:set>
                                    <p:animEffect transition="in" filter="dissolve">
                                      <p:cBhvr>
                                        <p:cTn id="219" dur="500"/>
                                        <p:tgtEl>
                                          <p:spTgt spid="2245733"/>
                                        </p:tgtEl>
                                      </p:cBhvr>
                                    </p:animEffect>
                                  </p:childTnLst>
                                </p:cTn>
                              </p:par>
                              <p:par>
                                <p:cTn id="220" presetID="17" presetClass="entr" presetSubtype="4" fill="hold" nodeType="withEffect">
                                  <p:stCondLst>
                                    <p:cond delay="0"/>
                                  </p:stCondLst>
                                  <p:childTnLst>
                                    <p:set>
                                      <p:cBhvr>
                                        <p:cTn id="221" dur="1" fill="hold">
                                          <p:stCondLst>
                                            <p:cond delay="0"/>
                                          </p:stCondLst>
                                        </p:cTn>
                                        <p:tgtEl>
                                          <p:spTgt spid="2245732"/>
                                        </p:tgtEl>
                                        <p:attrNameLst>
                                          <p:attrName>style.visibility</p:attrName>
                                        </p:attrNameLst>
                                      </p:cBhvr>
                                      <p:to>
                                        <p:strVal val="visible"/>
                                      </p:to>
                                    </p:set>
                                    <p:anim calcmode="lin" valueType="num">
                                      <p:cBhvr>
                                        <p:cTn id="222" dur="500" fill="hold"/>
                                        <p:tgtEl>
                                          <p:spTgt spid="2245732"/>
                                        </p:tgtEl>
                                        <p:attrNameLst>
                                          <p:attrName>ppt_x</p:attrName>
                                        </p:attrNameLst>
                                      </p:cBhvr>
                                      <p:tavLst>
                                        <p:tav tm="0">
                                          <p:val>
                                            <p:strVal val="#ppt_x"/>
                                          </p:val>
                                        </p:tav>
                                        <p:tav tm="100000">
                                          <p:val>
                                            <p:strVal val="#ppt_x"/>
                                          </p:val>
                                        </p:tav>
                                      </p:tavLst>
                                    </p:anim>
                                    <p:anim calcmode="lin" valueType="num">
                                      <p:cBhvr>
                                        <p:cTn id="223" dur="500" fill="hold"/>
                                        <p:tgtEl>
                                          <p:spTgt spid="2245732"/>
                                        </p:tgtEl>
                                        <p:attrNameLst>
                                          <p:attrName>ppt_y</p:attrName>
                                        </p:attrNameLst>
                                      </p:cBhvr>
                                      <p:tavLst>
                                        <p:tav tm="0">
                                          <p:val>
                                            <p:strVal val="#ppt_y+#ppt_h/2"/>
                                          </p:val>
                                        </p:tav>
                                        <p:tav tm="100000">
                                          <p:val>
                                            <p:strVal val="#ppt_y"/>
                                          </p:val>
                                        </p:tav>
                                      </p:tavLst>
                                    </p:anim>
                                    <p:anim calcmode="lin" valueType="num">
                                      <p:cBhvr>
                                        <p:cTn id="224" dur="500" fill="hold"/>
                                        <p:tgtEl>
                                          <p:spTgt spid="2245732"/>
                                        </p:tgtEl>
                                        <p:attrNameLst>
                                          <p:attrName>ppt_w</p:attrName>
                                        </p:attrNameLst>
                                      </p:cBhvr>
                                      <p:tavLst>
                                        <p:tav tm="0">
                                          <p:val>
                                            <p:strVal val="#ppt_w"/>
                                          </p:val>
                                        </p:tav>
                                        <p:tav tm="100000">
                                          <p:val>
                                            <p:strVal val="#ppt_w"/>
                                          </p:val>
                                        </p:tav>
                                      </p:tavLst>
                                    </p:anim>
                                    <p:anim calcmode="lin" valueType="num">
                                      <p:cBhvr>
                                        <p:cTn id="225" dur="500" fill="hold"/>
                                        <p:tgtEl>
                                          <p:spTgt spid="2245732"/>
                                        </p:tgtEl>
                                        <p:attrNameLst>
                                          <p:attrName>ppt_h</p:attrName>
                                        </p:attrNameLst>
                                      </p:cBhvr>
                                      <p:tavLst>
                                        <p:tav tm="0">
                                          <p:val>
                                            <p:fltVal val="0.000000"/>
                                          </p:val>
                                        </p:tav>
                                        <p:tav tm="100000">
                                          <p:val>
                                            <p:strVal val="#ppt_h"/>
                                          </p:val>
                                        </p:tav>
                                      </p:tavLst>
                                    </p:anim>
                                  </p:childTnLst>
                                </p:cTn>
                              </p:par>
                              <p:par>
                                <p:cTn id="226" presetID="17" presetClass="entr" presetSubtype="1" fill="hold" nodeType="withEffect">
                                  <p:stCondLst>
                                    <p:cond delay="0"/>
                                  </p:stCondLst>
                                  <p:childTnLst>
                                    <p:set>
                                      <p:cBhvr>
                                        <p:cTn id="227" dur="1" fill="hold">
                                          <p:stCondLst>
                                            <p:cond delay="0"/>
                                          </p:stCondLst>
                                        </p:cTn>
                                        <p:tgtEl>
                                          <p:spTgt spid="2245734"/>
                                        </p:tgtEl>
                                        <p:attrNameLst>
                                          <p:attrName>style.visibility</p:attrName>
                                        </p:attrNameLst>
                                      </p:cBhvr>
                                      <p:to>
                                        <p:strVal val="visible"/>
                                      </p:to>
                                    </p:set>
                                    <p:anim calcmode="lin" valueType="num">
                                      <p:cBhvr>
                                        <p:cTn id="228" dur="500" fill="hold"/>
                                        <p:tgtEl>
                                          <p:spTgt spid="2245734"/>
                                        </p:tgtEl>
                                        <p:attrNameLst>
                                          <p:attrName>ppt_x</p:attrName>
                                        </p:attrNameLst>
                                      </p:cBhvr>
                                      <p:tavLst>
                                        <p:tav tm="0">
                                          <p:val>
                                            <p:strVal val="#ppt_x"/>
                                          </p:val>
                                        </p:tav>
                                        <p:tav tm="100000">
                                          <p:val>
                                            <p:strVal val="#ppt_x"/>
                                          </p:val>
                                        </p:tav>
                                      </p:tavLst>
                                    </p:anim>
                                    <p:anim calcmode="lin" valueType="num">
                                      <p:cBhvr>
                                        <p:cTn id="229" dur="500" fill="hold"/>
                                        <p:tgtEl>
                                          <p:spTgt spid="2245734"/>
                                        </p:tgtEl>
                                        <p:attrNameLst>
                                          <p:attrName>ppt_y</p:attrName>
                                        </p:attrNameLst>
                                      </p:cBhvr>
                                      <p:tavLst>
                                        <p:tav tm="0">
                                          <p:val>
                                            <p:strVal val="#ppt_y-#ppt_h/2"/>
                                          </p:val>
                                        </p:tav>
                                        <p:tav tm="100000">
                                          <p:val>
                                            <p:strVal val="#ppt_y"/>
                                          </p:val>
                                        </p:tav>
                                      </p:tavLst>
                                    </p:anim>
                                    <p:anim calcmode="lin" valueType="num">
                                      <p:cBhvr>
                                        <p:cTn id="230" dur="500" fill="hold"/>
                                        <p:tgtEl>
                                          <p:spTgt spid="2245734"/>
                                        </p:tgtEl>
                                        <p:attrNameLst>
                                          <p:attrName>ppt_w</p:attrName>
                                        </p:attrNameLst>
                                      </p:cBhvr>
                                      <p:tavLst>
                                        <p:tav tm="0">
                                          <p:val>
                                            <p:strVal val="#ppt_w"/>
                                          </p:val>
                                        </p:tav>
                                        <p:tav tm="100000">
                                          <p:val>
                                            <p:strVal val="#ppt_w"/>
                                          </p:val>
                                        </p:tav>
                                      </p:tavLst>
                                    </p:anim>
                                    <p:anim calcmode="lin" valueType="num">
                                      <p:cBhvr>
                                        <p:cTn id="231" dur="500" fill="hold"/>
                                        <p:tgtEl>
                                          <p:spTgt spid="2245734"/>
                                        </p:tgtEl>
                                        <p:attrNameLst>
                                          <p:attrName>ppt_h</p:attrName>
                                        </p:attrNameLst>
                                      </p:cBhvr>
                                      <p:tavLst>
                                        <p:tav tm="0">
                                          <p:val>
                                            <p:fltVal val="0.000000"/>
                                          </p:val>
                                        </p:tav>
                                        <p:tav tm="100000">
                                          <p:val>
                                            <p:strVal val="#ppt_h"/>
                                          </p:val>
                                        </p:tav>
                                      </p:tavLst>
                                    </p:anim>
                                  </p:childTnLst>
                                </p:cTn>
                              </p:par>
                              <p:par>
                                <p:cTn id="232" presetID="9" presetClass="entr" presetSubtype="0" fill="hold" nodeType="withEffect">
                                  <p:stCondLst>
                                    <p:cond delay="0"/>
                                  </p:stCondLst>
                                  <p:childTnLst>
                                    <p:set>
                                      <p:cBhvr>
                                        <p:cTn id="233" dur="1" fill="hold">
                                          <p:stCondLst>
                                            <p:cond delay="0"/>
                                          </p:stCondLst>
                                        </p:cTn>
                                        <p:tgtEl>
                                          <p:spTgt spid="2245756"/>
                                        </p:tgtEl>
                                        <p:attrNameLst>
                                          <p:attrName>style.visibility</p:attrName>
                                        </p:attrNameLst>
                                      </p:cBhvr>
                                      <p:to>
                                        <p:strVal val="visible"/>
                                      </p:to>
                                    </p:set>
                                    <p:animEffect transition="in" filter="dissolve">
                                      <p:cBhvr>
                                        <p:cTn id="234" dur="500"/>
                                        <p:tgtEl>
                                          <p:spTgt spid="2245756"/>
                                        </p:tgtEl>
                                      </p:cBhvr>
                                    </p:animEffect>
                                  </p:childTnLst>
                                </p:cTn>
                              </p:par>
                            </p:childTnLst>
                          </p:cTn>
                        </p:par>
                      </p:childTnLst>
                    </p:cTn>
                  </p:par>
                  <p:par>
                    <p:cTn id="235" fill="hold">
                      <p:stCondLst>
                        <p:cond delay="indefinite"/>
                      </p:stCondLst>
                      <p:childTnLst>
                        <p:par>
                          <p:cTn id="236" fill="hold">
                            <p:stCondLst>
                              <p:cond delay="0"/>
                            </p:stCondLst>
                            <p:childTnLst>
                              <p:par>
                                <p:cTn id="237" presetID="22" presetClass="entr" presetSubtype="8" fill="hold" nodeType="clickEffect">
                                  <p:stCondLst>
                                    <p:cond delay="0"/>
                                  </p:stCondLst>
                                  <p:childTnLst>
                                    <p:set>
                                      <p:cBhvr>
                                        <p:cTn id="238" dur="1" fill="hold">
                                          <p:stCondLst>
                                            <p:cond delay="0"/>
                                          </p:stCondLst>
                                        </p:cTn>
                                        <p:tgtEl>
                                          <p:spTgt spid="2245751"/>
                                        </p:tgtEl>
                                        <p:attrNameLst>
                                          <p:attrName>style.visibility</p:attrName>
                                        </p:attrNameLst>
                                      </p:cBhvr>
                                      <p:to>
                                        <p:strVal val="visible"/>
                                      </p:to>
                                    </p:set>
                                    <p:animEffect transition="in" filter="wipe(left)">
                                      <p:cBhvr>
                                        <p:cTn id="239" dur="500"/>
                                        <p:tgtEl>
                                          <p:spTgt spid="2245751"/>
                                        </p:tgtEl>
                                      </p:cBhvr>
                                    </p:animEffect>
                                  </p:childTnLst>
                                </p:cTn>
                              </p:par>
                            </p:childTnLst>
                          </p:cTn>
                        </p:par>
                        <p:par>
                          <p:cTn id="240" fill="hold">
                            <p:stCondLst>
                              <p:cond delay="500"/>
                            </p:stCondLst>
                            <p:childTnLst>
                              <p:par>
                                <p:cTn id="241" presetID="22" presetClass="entr" presetSubtype="8" fill="hold" nodeType="afterEffect">
                                  <p:stCondLst>
                                    <p:cond delay="0"/>
                                  </p:stCondLst>
                                  <p:childTnLst>
                                    <p:set>
                                      <p:cBhvr>
                                        <p:cTn id="242" dur="1" fill="hold">
                                          <p:stCondLst>
                                            <p:cond delay="0"/>
                                          </p:stCondLst>
                                        </p:cTn>
                                        <p:tgtEl>
                                          <p:spTgt spid="2245745"/>
                                        </p:tgtEl>
                                        <p:attrNameLst>
                                          <p:attrName>style.visibility</p:attrName>
                                        </p:attrNameLst>
                                      </p:cBhvr>
                                      <p:to>
                                        <p:strVal val="visible"/>
                                      </p:to>
                                    </p:set>
                                    <p:animEffect transition="in" filter="wipe(left)">
                                      <p:cBhvr>
                                        <p:cTn id="243" dur="500"/>
                                        <p:tgtEl>
                                          <p:spTgt spid="2245745"/>
                                        </p:tgtEl>
                                      </p:cBhvr>
                                    </p:animEffect>
                                  </p:childTnLst>
                                </p:cTn>
                              </p:par>
                              <p:par>
                                <p:cTn id="244" presetID="17" presetClass="entr" presetSubtype="8" fill="hold" nodeType="withEffect">
                                  <p:stCondLst>
                                    <p:cond delay="0"/>
                                  </p:stCondLst>
                                  <p:childTnLst>
                                    <p:set>
                                      <p:cBhvr>
                                        <p:cTn id="245" dur="1" fill="hold">
                                          <p:stCondLst>
                                            <p:cond delay="0"/>
                                          </p:stCondLst>
                                        </p:cTn>
                                        <p:tgtEl>
                                          <p:spTgt spid="2245736"/>
                                        </p:tgtEl>
                                        <p:attrNameLst>
                                          <p:attrName>style.visibility</p:attrName>
                                        </p:attrNameLst>
                                      </p:cBhvr>
                                      <p:to>
                                        <p:strVal val="visible"/>
                                      </p:to>
                                    </p:set>
                                    <p:anim calcmode="lin" valueType="num">
                                      <p:cBhvr>
                                        <p:cTn id="246" dur="500" fill="hold"/>
                                        <p:tgtEl>
                                          <p:spTgt spid="2245736"/>
                                        </p:tgtEl>
                                        <p:attrNameLst>
                                          <p:attrName>ppt_x</p:attrName>
                                        </p:attrNameLst>
                                      </p:cBhvr>
                                      <p:tavLst>
                                        <p:tav tm="0">
                                          <p:val>
                                            <p:strVal val="#ppt_x-#ppt_w/2"/>
                                          </p:val>
                                        </p:tav>
                                        <p:tav tm="100000">
                                          <p:val>
                                            <p:strVal val="#ppt_x"/>
                                          </p:val>
                                        </p:tav>
                                      </p:tavLst>
                                    </p:anim>
                                    <p:anim calcmode="lin" valueType="num">
                                      <p:cBhvr>
                                        <p:cTn id="247" dur="500" fill="hold"/>
                                        <p:tgtEl>
                                          <p:spTgt spid="2245736"/>
                                        </p:tgtEl>
                                        <p:attrNameLst>
                                          <p:attrName>ppt_y</p:attrName>
                                        </p:attrNameLst>
                                      </p:cBhvr>
                                      <p:tavLst>
                                        <p:tav tm="0">
                                          <p:val>
                                            <p:strVal val="#ppt_y"/>
                                          </p:val>
                                        </p:tav>
                                        <p:tav tm="100000">
                                          <p:val>
                                            <p:strVal val="#ppt_y"/>
                                          </p:val>
                                        </p:tav>
                                      </p:tavLst>
                                    </p:anim>
                                    <p:anim calcmode="lin" valueType="num">
                                      <p:cBhvr>
                                        <p:cTn id="248" dur="500" fill="hold"/>
                                        <p:tgtEl>
                                          <p:spTgt spid="2245736"/>
                                        </p:tgtEl>
                                        <p:attrNameLst>
                                          <p:attrName>ppt_w</p:attrName>
                                        </p:attrNameLst>
                                      </p:cBhvr>
                                      <p:tavLst>
                                        <p:tav tm="0">
                                          <p:val>
                                            <p:fltVal val="0.000000"/>
                                          </p:val>
                                        </p:tav>
                                        <p:tav tm="100000">
                                          <p:val>
                                            <p:strVal val="#ppt_w"/>
                                          </p:val>
                                        </p:tav>
                                      </p:tavLst>
                                    </p:anim>
                                    <p:anim calcmode="lin" valueType="num">
                                      <p:cBhvr>
                                        <p:cTn id="249" dur="500" fill="hold"/>
                                        <p:tgtEl>
                                          <p:spTgt spid="2245736"/>
                                        </p:tgtEl>
                                        <p:attrNameLst>
                                          <p:attrName>ppt_h</p:attrName>
                                        </p:attrNameLst>
                                      </p:cBhvr>
                                      <p:tavLst>
                                        <p:tav tm="0">
                                          <p:val>
                                            <p:strVal val="#ppt_h"/>
                                          </p:val>
                                        </p:tav>
                                        <p:tav tm="100000">
                                          <p:val>
                                            <p:strVal val="#ppt_h"/>
                                          </p:val>
                                        </p:tav>
                                      </p:tavLst>
                                    </p:anim>
                                  </p:childTnLst>
                                </p:cTn>
                              </p:par>
                              <p:par>
                                <p:cTn id="250" presetID="17" presetClass="entr" presetSubtype="2" fill="hold" nodeType="withEffect">
                                  <p:stCondLst>
                                    <p:cond delay="0"/>
                                  </p:stCondLst>
                                  <p:childTnLst>
                                    <p:set>
                                      <p:cBhvr>
                                        <p:cTn id="251" dur="1" fill="hold">
                                          <p:stCondLst>
                                            <p:cond delay="0"/>
                                          </p:stCondLst>
                                        </p:cTn>
                                        <p:tgtEl>
                                          <p:spTgt spid="2245737"/>
                                        </p:tgtEl>
                                        <p:attrNameLst>
                                          <p:attrName>style.visibility</p:attrName>
                                        </p:attrNameLst>
                                      </p:cBhvr>
                                      <p:to>
                                        <p:strVal val="visible"/>
                                      </p:to>
                                    </p:set>
                                    <p:anim calcmode="lin" valueType="num">
                                      <p:cBhvr>
                                        <p:cTn id="252" dur="500" fill="hold"/>
                                        <p:tgtEl>
                                          <p:spTgt spid="2245737"/>
                                        </p:tgtEl>
                                        <p:attrNameLst>
                                          <p:attrName>ppt_x</p:attrName>
                                        </p:attrNameLst>
                                      </p:cBhvr>
                                      <p:tavLst>
                                        <p:tav tm="0">
                                          <p:val>
                                            <p:strVal val="#ppt_x+#ppt_w/2"/>
                                          </p:val>
                                        </p:tav>
                                        <p:tav tm="100000">
                                          <p:val>
                                            <p:strVal val="#ppt_x"/>
                                          </p:val>
                                        </p:tav>
                                      </p:tavLst>
                                    </p:anim>
                                    <p:anim calcmode="lin" valueType="num">
                                      <p:cBhvr>
                                        <p:cTn id="253" dur="500" fill="hold"/>
                                        <p:tgtEl>
                                          <p:spTgt spid="2245737"/>
                                        </p:tgtEl>
                                        <p:attrNameLst>
                                          <p:attrName>ppt_y</p:attrName>
                                        </p:attrNameLst>
                                      </p:cBhvr>
                                      <p:tavLst>
                                        <p:tav tm="0">
                                          <p:val>
                                            <p:strVal val="#ppt_y"/>
                                          </p:val>
                                        </p:tav>
                                        <p:tav tm="100000">
                                          <p:val>
                                            <p:strVal val="#ppt_y"/>
                                          </p:val>
                                        </p:tav>
                                      </p:tavLst>
                                    </p:anim>
                                    <p:anim calcmode="lin" valueType="num">
                                      <p:cBhvr>
                                        <p:cTn id="254" dur="500" fill="hold"/>
                                        <p:tgtEl>
                                          <p:spTgt spid="2245737"/>
                                        </p:tgtEl>
                                        <p:attrNameLst>
                                          <p:attrName>ppt_w</p:attrName>
                                        </p:attrNameLst>
                                      </p:cBhvr>
                                      <p:tavLst>
                                        <p:tav tm="0">
                                          <p:val>
                                            <p:fltVal val="0.000000"/>
                                          </p:val>
                                        </p:tav>
                                        <p:tav tm="100000">
                                          <p:val>
                                            <p:strVal val="#ppt_w"/>
                                          </p:val>
                                        </p:tav>
                                      </p:tavLst>
                                    </p:anim>
                                    <p:anim calcmode="lin" valueType="num">
                                      <p:cBhvr>
                                        <p:cTn id="255" dur="500" fill="hold"/>
                                        <p:tgtEl>
                                          <p:spTgt spid="2245737"/>
                                        </p:tgtEl>
                                        <p:attrNameLst>
                                          <p:attrName>ppt_h</p:attrName>
                                        </p:attrNameLst>
                                      </p:cBhvr>
                                      <p:tavLst>
                                        <p:tav tm="0">
                                          <p:val>
                                            <p:strVal val="#ppt_h"/>
                                          </p:val>
                                        </p:tav>
                                        <p:tav tm="100000">
                                          <p:val>
                                            <p:strVal val="#ppt_h"/>
                                          </p:val>
                                        </p:tav>
                                      </p:tavLst>
                                    </p:anim>
                                  </p:childTnLst>
                                </p:cTn>
                              </p:par>
                              <p:par>
                                <p:cTn id="256" presetID="9" presetClass="entr" presetSubtype="0" fill="hold" nodeType="withEffect">
                                  <p:stCondLst>
                                    <p:cond delay="0"/>
                                  </p:stCondLst>
                                  <p:childTnLst>
                                    <p:set>
                                      <p:cBhvr>
                                        <p:cTn id="257" dur="1" fill="hold">
                                          <p:stCondLst>
                                            <p:cond delay="0"/>
                                          </p:stCondLst>
                                        </p:cTn>
                                        <p:tgtEl>
                                          <p:spTgt spid="2245738"/>
                                        </p:tgtEl>
                                        <p:attrNameLst>
                                          <p:attrName>style.visibility</p:attrName>
                                        </p:attrNameLst>
                                      </p:cBhvr>
                                      <p:to>
                                        <p:strVal val="visible"/>
                                      </p:to>
                                    </p:set>
                                    <p:animEffect transition="in" filter="dissolve">
                                      <p:cBhvr>
                                        <p:cTn id="258" dur="500"/>
                                        <p:tgtEl>
                                          <p:spTgt spid="2245738"/>
                                        </p:tgtEl>
                                      </p:cBhvr>
                                    </p:animEffect>
                                  </p:childTnLst>
                                </p:cTn>
                              </p:par>
                              <p:par>
                                <p:cTn id="259" presetID="9" presetClass="entr" presetSubtype="0" fill="hold" nodeType="withEffect">
                                  <p:stCondLst>
                                    <p:cond delay="0"/>
                                  </p:stCondLst>
                                  <p:childTnLst>
                                    <p:set>
                                      <p:cBhvr>
                                        <p:cTn id="260" dur="1" fill="hold">
                                          <p:stCondLst>
                                            <p:cond delay="0"/>
                                          </p:stCondLst>
                                        </p:cTn>
                                        <p:tgtEl>
                                          <p:spTgt spid="2245740"/>
                                        </p:tgtEl>
                                        <p:attrNameLst>
                                          <p:attrName>style.visibility</p:attrName>
                                        </p:attrNameLst>
                                      </p:cBhvr>
                                      <p:to>
                                        <p:strVal val="visible"/>
                                      </p:to>
                                    </p:set>
                                    <p:animEffect transition="in" filter="dissolve">
                                      <p:cBhvr>
                                        <p:cTn id="261" dur="500"/>
                                        <p:tgtEl>
                                          <p:spTgt spid="2245740"/>
                                        </p:tgtEl>
                                      </p:cBhvr>
                                    </p:animEffect>
                                  </p:childTnLst>
                                </p:cTn>
                              </p:par>
                              <p:par>
                                <p:cTn id="262" presetID="17" presetClass="entr" presetSubtype="4" fill="hold" nodeType="withEffect">
                                  <p:stCondLst>
                                    <p:cond delay="0"/>
                                  </p:stCondLst>
                                  <p:childTnLst>
                                    <p:set>
                                      <p:cBhvr>
                                        <p:cTn id="263" dur="1" fill="hold">
                                          <p:stCondLst>
                                            <p:cond delay="0"/>
                                          </p:stCondLst>
                                        </p:cTn>
                                        <p:tgtEl>
                                          <p:spTgt spid="2245739"/>
                                        </p:tgtEl>
                                        <p:attrNameLst>
                                          <p:attrName>style.visibility</p:attrName>
                                        </p:attrNameLst>
                                      </p:cBhvr>
                                      <p:to>
                                        <p:strVal val="visible"/>
                                      </p:to>
                                    </p:set>
                                    <p:anim calcmode="lin" valueType="num">
                                      <p:cBhvr>
                                        <p:cTn id="264" dur="500" fill="hold"/>
                                        <p:tgtEl>
                                          <p:spTgt spid="2245739"/>
                                        </p:tgtEl>
                                        <p:attrNameLst>
                                          <p:attrName>ppt_x</p:attrName>
                                        </p:attrNameLst>
                                      </p:cBhvr>
                                      <p:tavLst>
                                        <p:tav tm="0">
                                          <p:val>
                                            <p:strVal val="#ppt_x"/>
                                          </p:val>
                                        </p:tav>
                                        <p:tav tm="100000">
                                          <p:val>
                                            <p:strVal val="#ppt_x"/>
                                          </p:val>
                                        </p:tav>
                                      </p:tavLst>
                                    </p:anim>
                                    <p:anim calcmode="lin" valueType="num">
                                      <p:cBhvr>
                                        <p:cTn id="265" dur="500" fill="hold"/>
                                        <p:tgtEl>
                                          <p:spTgt spid="2245739"/>
                                        </p:tgtEl>
                                        <p:attrNameLst>
                                          <p:attrName>ppt_y</p:attrName>
                                        </p:attrNameLst>
                                      </p:cBhvr>
                                      <p:tavLst>
                                        <p:tav tm="0">
                                          <p:val>
                                            <p:strVal val="#ppt_y+#ppt_h/2"/>
                                          </p:val>
                                        </p:tav>
                                        <p:tav tm="100000">
                                          <p:val>
                                            <p:strVal val="#ppt_y"/>
                                          </p:val>
                                        </p:tav>
                                      </p:tavLst>
                                    </p:anim>
                                    <p:anim calcmode="lin" valueType="num">
                                      <p:cBhvr>
                                        <p:cTn id="266" dur="500" fill="hold"/>
                                        <p:tgtEl>
                                          <p:spTgt spid="2245739"/>
                                        </p:tgtEl>
                                        <p:attrNameLst>
                                          <p:attrName>ppt_w</p:attrName>
                                        </p:attrNameLst>
                                      </p:cBhvr>
                                      <p:tavLst>
                                        <p:tav tm="0">
                                          <p:val>
                                            <p:strVal val="#ppt_w"/>
                                          </p:val>
                                        </p:tav>
                                        <p:tav tm="100000">
                                          <p:val>
                                            <p:strVal val="#ppt_w"/>
                                          </p:val>
                                        </p:tav>
                                      </p:tavLst>
                                    </p:anim>
                                    <p:anim calcmode="lin" valueType="num">
                                      <p:cBhvr>
                                        <p:cTn id="267" dur="500" fill="hold"/>
                                        <p:tgtEl>
                                          <p:spTgt spid="2245739"/>
                                        </p:tgtEl>
                                        <p:attrNameLst>
                                          <p:attrName>ppt_h</p:attrName>
                                        </p:attrNameLst>
                                      </p:cBhvr>
                                      <p:tavLst>
                                        <p:tav tm="0">
                                          <p:val>
                                            <p:fltVal val="0.000000"/>
                                          </p:val>
                                        </p:tav>
                                        <p:tav tm="100000">
                                          <p:val>
                                            <p:strVal val="#ppt_h"/>
                                          </p:val>
                                        </p:tav>
                                      </p:tavLst>
                                    </p:anim>
                                  </p:childTnLst>
                                </p:cTn>
                              </p:par>
                              <p:par>
                                <p:cTn id="268" presetID="17" presetClass="entr" presetSubtype="4" fill="hold" nodeType="withEffect">
                                  <p:stCondLst>
                                    <p:cond delay="0"/>
                                  </p:stCondLst>
                                  <p:childTnLst>
                                    <p:set>
                                      <p:cBhvr>
                                        <p:cTn id="269" dur="1" fill="hold">
                                          <p:stCondLst>
                                            <p:cond delay="0"/>
                                          </p:stCondLst>
                                        </p:cTn>
                                        <p:tgtEl>
                                          <p:spTgt spid="2245741"/>
                                        </p:tgtEl>
                                        <p:attrNameLst>
                                          <p:attrName>style.visibility</p:attrName>
                                        </p:attrNameLst>
                                      </p:cBhvr>
                                      <p:to>
                                        <p:strVal val="visible"/>
                                      </p:to>
                                    </p:set>
                                    <p:anim calcmode="lin" valueType="num">
                                      <p:cBhvr>
                                        <p:cTn id="270" dur="500" fill="hold"/>
                                        <p:tgtEl>
                                          <p:spTgt spid="2245741"/>
                                        </p:tgtEl>
                                        <p:attrNameLst>
                                          <p:attrName>ppt_x</p:attrName>
                                        </p:attrNameLst>
                                      </p:cBhvr>
                                      <p:tavLst>
                                        <p:tav tm="0">
                                          <p:val>
                                            <p:strVal val="#ppt_x"/>
                                          </p:val>
                                        </p:tav>
                                        <p:tav tm="100000">
                                          <p:val>
                                            <p:strVal val="#ppt_x"/>
                                          </p:val>
                                        </p:tav>
                                      </p:tavLst>
                                    </p:anim>
                                    <p:anim calcmode="lin" valueType="num">
                                      <p:cBhvr>
                                        <p:cTn id="271" dur="500" fill="hold"/>
                                        <p:tgtEl>
                                          <p:spTgt spid="2245741"/>
                                        </p:tgtEl>
                                        <p:attrNameLst>
                                          <p:attrName>ppt_y</p:attrName>
                                        </p:attrNameLst>
                                      </p:cBhvr>
                                      <p:tavLst>
                                        <p:tav tm="0">
                                          <p:val>
                                            <p:strVal val="#ppt_y+#ppt_h/2"/>
                                          </p:val>
                                        </p:tav>
                                        <p:tav tm="100000">
                                          <p:val>
                                            <p:strVal val="#ppt_y"/>
                                          </p:val>
                                        </p:tav>
                                      </p:tavLst>
                                    </p:anim>
                                    <p:anim calcmode="lin" valueType="num">
                                      <p:cBhvr>
                                        <p:cTn id="272" dur="500" fill="hold"/>
                                        <p:tgtEl>
                                          <p:spTgt spid="2245741"/>
                                        </p:tgtEl>
                                        <p:attrNameLst>
                                          <p:attrName>ppt_w</p:attrName>
                                        </p:attrNameLst>
                                      </p:cBhvr>
                                      <p:tavLst>
                                        <p:tav tm="0">
                                          <p:val>
                                            <p:strVal val="#ppt_w"/>
                                          </p:val>
                                        </p:tav>
                                        <p:tav tm="100000">
                                          <p:val>
                                            <p:strVal val="#ppt_w"/>
                                          </p:val>
                                        </p:tav>
                                      </p:tavLst>
                                    </p:anim>
                                    <p:anim calcmode="lin" valueType="num">
                                      <p:cBhvr>
                                        <p:cTn id="273" dur="500" fill="hold"/>
                                        <p:tgtEl>
                                          <p:spTgt spid="2245741"/>
                                        </p:tgtEl>
                                        <p:attrNameLst>
                                          <p:attrName>ppt_h</p:attrName>
                                        </p:attrNameLst>
                                      </p:cBhvr>
                                      <p:tavLst>
                                        <p:tav tm="0">
                                          <p:val>
                                            <p:fltVal val="0.000000"/>
                                          </p:val>
                                        </p:tav>
                                        <p:tav tm="100000">
                                          <p:val>
                                            <p:strVal val="#ppt_h"/>
                                          </p:val>
                                        </p:tav>
                                      </p:tavLst>
                                    </p:anim>
                                  </p:childTnLst>
                                </p:cTn>
                              </p:par>
                              <p:par>
                                <p:cTn id="274" presetID="17" presetClass="entr" presetSubtype="8" fill="hold" nodeType="withEffect">
                                  <p:stCondLst>
                                    <p:cond delay="0"/>
                                  </p:stCondLst>
                                  <p:childTnLst>
                                    <p:set>
                                      <p:cBhvr>
                                        <p:cTn id="275" dur="1" fill="hold">
                                          <p:stCondLst>
                                            <p:cond delay="0"/>
                                          </p:stCondLst>
                                        </p:cTn>
                                        <p:tgtEl>
                                          <p:spTgt spid="2245742"/>
                                        </p:tgtEl>
                                        <p:attrNameLst>
                                          <p:attrName>style.visibility</p:attrName>
                                        </p:attrNameLst>
                                      </p:cBhvr>
                                      <p:to>
                                        <p:strVal val="visible"/>
                                      </p:to>
                                    </p:set>
                                    <p:anim calcmode="lin" valueType="num">
                                      <p:cBhvr>
                                        <p:cTn id="276" dur="500" fill="hold"/>
                                        <p:tgtEl>
                                          <p:spTgt spid="2245742"/>
                                        </p:tgtEl>
                                        <p:attrNameLst>
                                          <p:attrName>ppt_x</p:attrName>
                                        </p:attrNameLst>
                                      </p:cBhvr>
                                      <p:tavLst>
                                        <p:tav tm="0">
                                          <p:val>
                                            <p:strVal val="#ppt_x-#ppt_w/2"/>
                                          </p:val>
                                        </p:tav>
                                        <p:tav tm="100000">
                                          <p:val>
                                            <p:strVal val="#ppt_x"/>
                                          </p:val>
                                        </p:tav>
                                      </p:tavLst>
                                    </p:anim>
                                    <p:anim calcmode="lin" valueType="num">
                                      <p:cBhvr>
                                        <p:cTn id="277" dur="500" fill="hold"/>
                                        <p:tgtEl>
                                          <p:spTgt spid="2245742"/>
                                        </p:tgtEl>
                                        <p:attrNameLst>
                                          <p:attrName>ppt_y</p:attrName>
                                        </p:attrNameLst>
                                      </p:cBhvr>
                                      <p:tavLst>
                                        <p:tav tm="0">
                                          <p:val>
                                            <p:strVal val="#ppt_y"/>
                                          </p:val>
                                        </p:tav>
                                        <p:tav tm="100000">
                                          <p:val>
                                            <p:strVal val="#ppt_y"/>
                                          </p:val>
                                        </p:tav>
                                      </p:tavLst>
                                    </p:anim>
                                    <p:anim calcmode="lin" valueType="num">
                                      <p:cBhvr>
                                        <p:cTn id="278" dur="500" fill="hold"/>
                                        <p:tgtEl>
                                          <p:spTgt spid="2245742"/>
                                        </p:tgtEl>
                                        <p:attrNameLst>
                                          <p:attrName>ppt_w</p:attrName>
                                        </p:attrNameLst>
                                      </p:cBhvr>
                                      <p:tavLst>
                                        <p:tav tm="0">
                                          <p:val>
                                            <p:fltVal val="0.000000"/>
                                          </p:val>
                                        </p:tav>
                                        <p:tav tm="100000">
                                          <p:val>
                                            <p:strVal val="#ppt_w"/>
                                          </p:val>
                                        </p:tav>
                                      </p:tavLst>
                                    </p:anim>
                                    <p:anim calcmode="lin" valueType="num">
                                      <p:cBhvr>
                                        <p:cTn id="279" dur="500" fill="hold"/>
                                        <p:tgtEl>
                                          <p:spTgt spid="2245742"/>
                                        </p:tgtEl>
                                        <p:attrNameLst>
                                          <p:attrName>ppt_h</p:attrName>
                                        </p:attrNameLst>
                                      </p:cBhvr>
                                      <p:tavLst>
                                        <p:tav tm="0">
                                          <p:val>
                                            <p:strVal val="#ppt_h"/>
                                          </p:val>
                                        </p:tav>
                                        <p:tav tm="100000">
                                          <p:val>
                                            <p:strVal val="#ppt_h"/>
                                          </p:val>
                                        </p:tav>
                                      </p:tavLst>
                                    </p:anim>
                                  </p:childTnLst>
                                </p:cTn>
                              </p:par>
                              <p:par>
                                <p:cTn id="280" presetID="9" presetClass="entr" presetSubtype="0" fill="hold" nodeType="withEffect">
                                  <p:stCondLst>
                                    <p:cond delay="0"/>
                                  </p:stCondLst>
                                  <p:childTnLst>
                                    <p:set>
                                      <p:cBhvr>
                                        <p:cTn id="281" dur="1" fill="hold">
                                          <p:stCondLst>
                                            <p:cond delay="0"/>
                                          </p:stCondLst>
                                        </p:cTn>
                                        <p:tgtEl>
                                          <p:spTgt spid="2245757"/>
                                        </p:tgtEl>
                                        <p:attrNameLst>
                                          <p:attrName>style.visibility</p:attrName>
                                        </p:attrNameLst>
                                      </p:cBhvr>
                                      <p:to>
                                        <p:strVal val="visible"/>
                                      </p:to>
                                    </p:set>
                                    <p:animEffect transition="in" filter="dissolve">
                                      <p:cBhvr>
                                        <p:cTn id="282" dur="500"/>
                                        <p:tgtEl>
                                          <p:spTgt spid="2245757"/>
                                        </p:tgtEl>
                                      </p:cBhvr>
                                    </p:animEffect>
                                  </p:childTnLst>
                                </p:cTn>
                              </p:par>
                            </p:childTnLst>
                          </p:cTn>
                        </p:par>
                      </p:childTnLst>
                    </p:cTn>
                  </p:par>
                  <p:par>
                    <p:cTn id="283" fill="hold">
                      <p:stCondLst>
                        <p:cond delay="indefinite"/>
                      </p:stCondLst>
                      <p:childTnLst>
                        <p:par>
                          <p:cTn id="284" fill="hold">
                            <p:stCondLst>
                              <p:cond delay="0"/>
                            </p:stCondLst>
                            <p:childTnLst>
                              <p:par>
                                <p:cTn id="285" presetID="22" presetClass="entr" presetSubtype="8" fill="hold" nodeType="clickEffect">
                                  <p:stCondLst>
                                    <p:cond delay="0"/>
                                  </p:stCondLst>
                                  <p:childTnLst>
                                    <p:set>
                                      <p:cBhvr>
                                        <p:cTn id="286" dur="1" fill="hold">
                                          <p:stCondLst>
                                            <p:cond delay="0"/>
                                          </p:stCondLst>
                                        </p:cTn>
                                        <p:tgtEl>
                                          <p:spTgt spid="2245752"/>
                                        </p:tgtEl>
                                        <p:attrNameLst>
                                          <p:attrName>style.visibility</p:attrName>
                                        </p:attrNameLst>
                                      </p:cBhvr>
                                      <p:to>
                                        <p:strVal val="visible"/>
                                      </p:to>
                                    </p:set>
                                    <p:animEffect transition="in" filter="wipe(left)">
                                      <p:cBhvr>
                                        <p:cTn id="287" dur="500"/>
                                        <p:tgtEl>
                                          <p:spTgt spid="2245752"/>
                                        </p:tgtEl>
                                      </p:cBhvr>
                                    </p:animEffect>
                                  </p:childTnLst>
                                </p:cTn>
                              </p:par>
                            </p:childTnLst>
                          </p:cTn>
                        </p:par>
                        <p:par>
                          <p:cTn id="288" fill="hold">
                            <p:stCondLst>
                              <p:cond delay="500"/>
                            </p:stCondLst>
                            <p:childTnLst>
                              <p:par>
                                <p:cTn id="289" presetID="22" presetClass="entr" presetSubtype="8" fill="hold" nodeType="afterEffect">
                                  <p:stCondLst>
                                    <p:cond delay="0"/>
                                  </p:stCondLst>
                                  <p:childTnLst>
                                    <p:set>
                                      <p:cBhvr>
                                        <p:cTn id="290" dur="1" fill="hold">
                                          <p:stCondLst>
                                            <p:cond delay="0"/>
                                          </p:stCondLst>
                                        </p:cTn>
                                        <p:tgtEl>
                                          <p:spTgt spid="2245746"/>
                                        </p:tgtEl>
                                        <p:attrNameLst>
                                          <p:attrName>style.visibility</p:attrName>
                                        </p:attrNameLst>
                                      </p:cBhvr>
                                      <p:to>
                                        <p:strVal val="visible"/>
                                      </p:to>
                                    </p:set>
                                    <p:animEffect transition="in" filter="wipe(left)">
                                      <p:cBhvr>
                                        <p:cTn id="291" dur="500"/>
                                        <p:tgtEl>
                                          <p:spTgt spid="2245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5705" grpId="0"/>
      <p:bldP spid="2245707" grpId="0"/>
      <p:bldP spid="2245709" grpId="0"/>
      <p:bldP spid="2245711" grpId="0"/>
      <p:bldP spid="2245712" grpId="0"/>
      <p:bldP spid="2245714" grpId="0"/>
      <p:bldP spid="2245716" grpId="0"/>
      <p:bldP spid="2245718" grpId="0"/>
      <p:bldP spid="2245721" grpId="0"/>
      <p:bldP spid="2245724" grpId="0"/>
      <p:bldP spid="2245726" grpId="0"/>
      <p:bldP spid="2245730" grpId="0"/>
      <p:bldP spid="2245733" grpId="0"/>
      <p:bldP spid="2245735" grpId="0"/>
      <p:bldP spid="2245738" grpId="0"/>
      <p:bldP spid="2245740" grpId="0"/>
      <p:bldP spid="2245748" grpId="0"/>
      <p:bldP spid="2245753" grpId="0" animBg="1"/>
      <p:bldP spid="2245755" grpId="0"/>
      <p:bldP spid="2245756" grpId="0"/>
      <p:bldP spid="2245757" grpId="0"/>
      <p:bldP spid="2245758" grpId="0" animBg="1"/>
      <p:bldP spid="2245758" grpId="1" animBg="1"/>
      <p:bldP spid="2245759" grpId="0" animBg="1"/>
      <p:bldP spid="2245760" grpId="0" animBg="1"/>
      <p:bldP spid="2245760" grpId="1" animBg="1"/>
      <p:bldP spid="2245761" grpId="0" animBg="1"/>
      <p:bldP spid="2245761" grpId="1" animBg="1"/>
      <p:bldP spid="2245762"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7713" name="Text Box 11297"/>
          <p:cNvSpPr txBox="1"/>
          <p:nvPr/>
        </p:nvSpPr>
        <p:spPr>
          <a:xfrm>
            <a:off x="935038" y="827088"/>
            <a:ext cx="7381875" cy="946150"/>
          </a:xfrm>
          <a:prstGeom prst="rect">
            <a:avLst/>
          </a:prstGeom>
          <a:solidFill>
            <a:srgbClr val="99CCFF"/>
          </a:solid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采样</a:t>
            </a:r>
            <a:r>
              <a:rPr lang="en-US" altLang="zh-CN" sz="2800" dirty="0">
                <a:latin typeface="黑体" panose="02010609060101010101" pitchFamily="49" charset="-122"/>
                <a:ea typeface="黑体" panose="02010609060101010101" pitchFamily="49" charset="-122"/>
              </a:rPr>
              <a:t>/</a:t>
            </a:r>
            <a:r>
              <a:rPr lang="zh-CN" altLang="en-US" sz="2800" dirty="0">
                <a:latin typeface="黑体" panose="02010609060101010101" pitchFamily="49" charset="-122"/>
                <a:ea typeface="黑体" panose="02010609060101010101" pitchFamily="49" charset="-122"/>
              </a:rPr>
              <a:t>保持器是一种用逻辑电平控制其工作状态的器件。 </a:t>
            </a:r>
            <a:endParaRPr lang="zh-CN" altLang="en-US" sz="2800" dirty="0">
              <a:latin typeface="黑体" panose="02010609060101010101" pitchFamily="49" charset="-122"/>
              <a:ea typeface="黑体" panose="02010609060101010101" pitchFamily="49" charset="-122"/>
            </a:endParaRPr>
          </a:p>
        </p:txBody>
      </p:sp>
      <p:sp>
        <p:nvSpPr>
          <p:cNvPr id="2247715" name="Text Box 11299"/>
          <p:cNvSpPr txBox="1">
            <a:spLocks noChangeArrowheads="1"/>
          </p:cNvSpPr>
          <p:nvPr/>
        </p:nvSpPr>
        <p:spPr bwMode="auto">
          <a:xfrm>
            <a:off x="1352550" y="47625"/>
            <a:ext cx="6713538"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5.2  </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保持器的工作原理</a:t>
            </a:r>
            <a:endPar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47716" name="Text Box 11300"/>
          <p:cNvSpPr txBox="1"/>
          <p:nvPr/>
        </p:nvSpPr>
        <p:spPr>
          <a:xfrm>
            <a:off x="719138" y="1808163"/>
            <a:ext cx="4827587" cy="519112"/>
          </a:xfrm>
          <a:prstGeom prst="rect">
            <a:avLst/>
          </a:prstGeom>
          <a:noFill/>
          <a:ln w="9525">
            <a:noFill/>
          </a:ln>
        </p:spPr>
        <p:txBody>
          <a:bodyPr wrap="none">
            <a:spAutoFit/>
          </a:bodyPr>
          <a:p>
            <a:pPr eaLnBrk="1" hangingPunct="1"/>
            <a:r>
              <a:rPr lang="zh-CN" altLang="en-US" sz="2800" dirty="0">
                <a:solidFill>
                  <a:schemeClr val="tx1"/>
                </a:solidFill>
                <a:latin typeface="Times New Roman" panose="02020603050405020304" pitchFamily="18" charset="0"/>
              </a:rPr>
              <a:t>它具有两个稳定的工作状态：</a:t>
            </a:r>
            <a:endParaRPr lang="zh-CN" altLang="en-US" sz="2800" dirty="0">
              <a:solidFill>
                <a:schemeClr val="tx1"/>
              </a:solidFill>
              <a:latin typeface="Times New Roman" panose="02020603050405020304" pitchFamily="18" charset="0"/>
            </a:endParaRPr>
          </a:p>
        </p:txBody>
      </p:sp>
      <p:sp>
        <p:nvSpPr>
          <p:cNvPr id="2247717" name="Text Box 11301"/>
          <p:cNvSpPr txBox="1"/>
          <p:nvPr/>
        </p:nvSpPr>
        <p:spPr>
          <a:xfrm>
            <a:off x="1476375" y="2312988"/>
            <a:ext cx="6840538" cy="1628775"/>
          </a:xfrm>
          <a:prstGeom prst="rect">
            <a:avLst/>
          </a:prstGeom>
          <a:noFill/>
          <a:ln w="9525">
            <a:noFill/>
          </a:ln>
        </p:spPr>
        <p:txBody>
          <a:bodyPr>
            <a:spAutoFit/>
          </a:bodyPr>
          <a:p>
            <a:pPr marL="1792605" indent="-1792605" eaLnBrk="1" hangingPunct="1">
              <a:lnSpc>
                <a:spcPct val="90000"/>
              </a:lnSpc>
            </a:pPr>
            <a:r>
              <a:rPr lang="zh-CN" altLang="en-US" sz="2800" dirty="0">
                <a:solidFill>
                  <a:srgbClr val="FF0000"/>
                </a:solidFill>
                <a:latin typeface="楷体_GB2312" pitchFamily="49" charset="-122"/>
              </a:rPr>
              <a:t>跟踪状态：</a:t>
            </a:r>
            <a:r>
              <a:rPr lang="zh-CN" altLang="en-US" sz="2800" dirty="0">
                <a:solidFill>
                  <a:srgbClr val="3333FF"/>
                </a:solidFill>
                <a:latin typeface="楷体_GB2312" pitchFamily="49" charset="-122"/>
              </a:rPr>
              <a:t>在此期间它尽可能快地接收模拟输入信号，并精确地跟踪模拟输入信号的变化，一直到接到保持指令为止。 </a:t>
            </a:r>
            <a:endParaRPr lang="zh-CN" altLang="en-US" sz="2800" dirty="0">
              <a:solidFill>
                <a:srgbClr val="3333FF"/>
              </a:solidFill>
              <a:latin typeface="楷体_GB2312" pitchFamily="49" charset="-122"/>
            </a:endParaRPr>
          </a:p>
        </p:txBody>
      </p:sp>
      <p:pic>
        <p:nvPicPr>
          <p:cNvPr id="2247718" name="Picture 11302" descr="kugel_blau"/>
          <p:cNvPicPr>
            <a:picLocks noChangeAspect="1"/>
          </p:cNvPicPr>
          <p:nvPr/>
        </p:nvPicPr>
        <p:blipFill>
          <a:blip r:embed="rId1"/>
          <a:stretch>
            <a:fillRect/>
          </a:stretch>
        </p:blipFill>
        <p:spPr>
          <a:xfrm>
            <a:off x="1109663" y="2457450"/>
            <a:ext cx="312737" cy="215900"/>
          </a:xfrm>
          <a:prstGeom prst="rect">
            <a:avLst/>
          </a:prstGeom>
          <a:noFill/>
          <a:ln w="9525">
            <a:noFill/>
          </a:ln>
        </p:spPr>
      </p:pic>
      <p:sp>
        <p:nvSpPr>
          <p:cNvPr id="2247719" name="Text Box 11303"/>
          <p:cNvSpPr txBox="1"/>
          <p:nvPr/>
        </p:nvSpPr>
        <p:spPr>
          <a:xfrm>
            <a:off x="1476375" y="3968750"/>
            <a:ext cx="6473825" cy="860425"/>
          </a:xfrm>
          <a:prstGeom prst="rect">
            <a:avLst/>
          </a:prstGeom>
          <a:noFill/>
          <a:ln w="9525">
            <a:noFill/>
          </a:ln>
        </p:spPr>
        <p:txBody>
          <a:bodyPr>
            <a:spAutoFit/>
          </a:bodyPr>
          <a:p>
            <a:pPr marL="1792605" indent="-1792605" eaLnBrk="1" hangingPunct="1">
              <a:lnSpc>
                <a:spcPct val="90000"/>
              </a:lnSpc>
            </a:pPr>
            <a:r>
              <a:rPr lang="zh-CN" altLang="en-US" sz="2800" dirty="0">
                <a:solidFill>
                  <a:srgbClr val="FF0000"/>
                </a:solidFill>
                <a:latin typeface="楷体_GB2312" pitchFamily="49" charset="-122"/>
              </a:rPr>
              <a:t>保持状态：</a:t>
            </a:r>
            <a:r>
              <a:rPr lang="zh-CN" altLang="en-US" sz="2800" dirty="0">
                <a:solidFill>
                  <a:srgbClr val="3333FF"/>
                </a:solidFill>
                <a:latin typeface="楷体_GB2312" pitchFamily="49" charset="-122"/>
              </a:rPr>
              <a:t>对接收到保持指令前一瞬间的模拟输入信号进行保持。</a:t>
            </a:r>
            <a:endParaRPr lang="zh-CN" altLang="en-US" sz="2800" dirty="0">
              <a:solidFill>
                <a:srgbClr val="3333FF"/>
              </a:solidFill>
              <a:latin typeface="楷体_GB2312" pitchFamily="49" charset="-122"/>
            </a:endParaRPr>
          </a:p>
        </p:txBody>
      </p:sp>
      <p:pic>
        <p:nvPicPr>
          <p:cNvPr id="2247720" name="Picture 11304" descr="kugel_blau"/>
          <p:cNvPicPr>
            <a:picLocks noChangeAspect="1"/>
          </p:cNvPicPr>
          <p:nvPr/>
        </p:nvPicPr>
        <p:blipFill>
          <a:blip r:embed="rId1"/>
          <a:stretch>
            <a:fillRect/>
          </a:stretch>
        </p:blipFill>
        <p:spPr>
          <a:xfrm>
            <a:off x="1131888" y="4113213"/>
            <a:ext cx="312737" cy="215900"/>
          </a:xfrm>
          <a:prstGeom prst="rect">
            <a:avLst/>
          </a:prstGeom>
          <a:noFill/>
          <a:ln w="9525">
            <a:noFill/>
          </a:ln>
        </p:spPr>
      </p:pic>
      <p:sp>
        <p:nvSpPr>
          <p:cNvPr id="2247721" name="Text Box 11305"/>
          <p:cNvSpPr txBox="1"/>
          <p:nvPr/>
        </p:nvSpPr>
        <p:spPr>
          <a:xfrm>
            <a:off x="935038" y="4979988"/>
            <a:ext cx="7489825" cy="1077912"/>
          </a:xfrm>
          <a:prstGeom prst="rect">
            <a:avLst/>
          </a:prstGeom>
          <a:solidFill>
            <a:srgbClr val="CCFFCC"/>
          </a:solid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因此，采样</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保持器是在</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命令发出的瞬间进行采样，而在</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跟踪</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命令发出时，采样</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保持器跟踪模拟输入量，为下次采样做准备。</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47713"/>
                                        </p:tgtEl>
                                        <p:attrNameLst>
                                          <p:attrName>style.visibility</p:attrName>
                                        </p:attrNameLst>
                                      </p:cBhvr>
                                      <p:to>
                                        <p:strVal val="visible"/>
                                      </p:to>
                                    </p:set>
                                    <p:animEffect transition="in" filter="dissolve">
                                      <p:cBhvr>
                                        <p:cTn id="7" dur="500"/>
                                        <p:tgtEl>
                                          <p:spTgt spid="224771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7716"/>
                                        </p:tgtEl>
                                        <p:attrNameLst>
                                          <p:attrName>style.visibility</p:attrName>
                                        </p:attrNameLst>
                                      </p:cBhvr>
                                      <p:to>
                                        <p:strVal val="visible"/>
                                      </p:to>
                                    </p:set>
                                    <p:animEffect transition="in" filter="dissolve">
                                      <p:cBhvr>
                                        <p:cTn id="12" dur="500"/>
                                        <p:tgtEl>
                                          <p:spTgt spid="22477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47718"/>
                                        </p:tgtEl>
                                        <p:attrNameLst>
                                          <p:attrName>style.visibility</p:attrName>
                                        </p:attrNameLst>
                                      </p:cBhvr>
                                      <p:to>
                                        <p:strVal val="visible"/>
                                      </p:to>
                                    </p:set>
                                    <p:animEffect transition="in" filter="dissolve">
                                      <p:cBhvr>
                                        <p:cTn id="17" dur="500"/>
                                        <p:tgtEl>
                                          <p:spTgt spid="2247718"/>
                                        </p:tgtEl>
                                      </p:cBhvr>
                                    </p:animEffect>
                                  </p:childTnLst>
                                </p:cTn>
                              </p:par>
                              <p:par>
                                <p:cTn id="18" presetID="9" presetClass="entr" presetSubtype="0" fill="hold" nodeType="withEffect">
                                  <p:stCondLst>
                                    <p:cond delay="0"/>
                                  </p:stCondLst>
                                  <p:childTnLst>
                                    <p:set>
                                      <p:cBhvr>
                                        <p:cTn id="19" dur="1" fill="hold">
                                          <p:stCondLst>
                                            <p:cond delay="0"/>
                                          </p:stCondLst>
                                        </p:cTn>
                                        <p:tgtEl>
                                          <p:spTgt spid="2247717"/>
                                        </p:tgtEl>
                                        <p:attrNameLst>
                                          <p:attrName>style.visibility</p:attrName>
                                        </p:attrNameLst>
                                      </p:cBhvr>
                                      <p:to>
                                        <p:strVal val="visible"/>
                                      </p:to>
                                    </p:set>
                                    <p:animEffect transition="in" filter="dissolve">
                                      <p:cBhvr>
                                        <p:cTn id="20" dur="500"/>
                                        <p:tgtEl>
                                          <p:spTgt spid="224771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47720"/>
                                        </p:tgtEl>
                                        <p:attrNameLst>
                                          <p:attrName>style.visibility</p:attrName>
                                        </p:attrNameLst>
                                      </p:cBhvr>
                                      <p:to>
                                        <p:strVal val="visible"/>
                                      </p:to>
                                    </p:set>
                                    <p:animEffect transition="in" filter="dissolve">
                                      <p:cBhvr>
                                        <p:cTn id="25" dur="500"/>
                                        <p:tgtEl>
                                          <p:spTgt spid="2247720"/>
                                        </p:tgtEl>
                                      </p:cBhvr>
                                    </p:animEffect>
                                  </p:childTnLst>
                                </p:cTn>
                              </p:par>
                              <p:par>
                                <p:cTn id="26" presetID="9" presetClass="entr" presetSubtype="0" fill="hold" nodeType="withEffect">
                                  <p:stCondLst>
                                    <p:cond delay="0"/>
                                  </p:stCondLst>
                                  <p:childTnLst>
                                    <p:set>
                                      <p:cBhvr>
                                        <p:cTn id="27" dur="1" fill="hold">
                                          <p:stCondLst>
                                            <p:cond delay="0"/>
                                          </p:stCondLst>
                                        </p:cTn>
                                        <p:tgtEl>
                                          <p:spTgt spid="2247719"/>
                                        </p:tgtEl>
                                        <p:attrNameLst>
                                          <p:attrName>style.visibility</p:attrName>
                                        </p:attrNameLst>
                                      </p:cBhvr>
                                      <p:to>
                                        <p:strVal val="visible"/>
                                      </p:to>
                                    </p:set>
                                    <p:animEffect transition="in" filter="dissolve">
                                      <p:cBhvr>
                                        <p:cTn id="28" dur="500"/>
                                        <p:tgtEl>
                                          <p:spTgt spid="224771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247721"/>
                                        </p:tgtEl>
                                        <p:attrNameLst>
                                          <p:attrName>style.visibility</p:attrName>
                                        </p:attrNameLst>
                                      </p:cBhvr>
                                      <p:to>
                                        <p:strVal val="visible"/>
                                      </p:to>
                                    </p:set>
                                    <p:animEffect transition="in" filter="dissolve">
                                      <p:cBhvr>
                                        <p:cTn id="33" dur="500"/>
                                        <p:tgtEl>
                                          <p:spTgt spid="22477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7713" grpId="0" animBg="1"/>
      <p:bldP spid="2247716" grpId="0"/>
      <p:bldP spid="2247717" grpId="0"/>
      <p:bldP spid="2247719" grpId="0"/>
      <p:bldP spid="2247721"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78765" name="Text Box 13"/>
          <p:cNvSpPr txBox="1"/>
          <p:nvPr/>
        </p:nvSpPr>
        <p:spPr>
          <a:xfrm>
            <a:off x="425450" y="728663"/>
            <a:ext cx="6018213" cy="519112"/>
          </a:xfrm>
          <a:prstGeom prst="rect">
            <a:avLst/>
          </a:prstGeom>
          <a:solidFill>
            <a:srgbClr val="99CCFF"/>
          </a:solid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采样</a:t>
            </a:r>
            <a:r>
              <a:rPr lang="en-US" altLang="zh-CN" sz="2800" dirty="0">
                <a:latin typeface="黑体" panose="02010609060101010101" pitchFamily="49" charset="-122"/>
                <a:ea typeface="黑体" panose="02010609060101010101" pitchFamily="49" charset="-122"/>
              </a:rPr>
              <a:t>/</a:t>
            </a:r>
            <a:r>
              <a:rPr lang="zh-CN" altLang="en-US" sz="2800" dirty="0">
                <a:latin typeface="黑体" panose="02010609060101010101" pitchFamily="49" charset="-122"/>
                <a:ea typeface="黑体" panose="02010609060101010101" pitchFamily="49" charset="-122"/>
              </a:rPr>
              <a:t>保持器主要起以下两种作用：</a:t>
            </a:r>
            <a:endParaRPr lang="zh-CN" altLang="en-US" sz="2800" dirty="0">
              <a:latin typeface="黑体" panose="02010609060101010101" pitchFamily="49" charset="-122"/>
              <a:ea typeface="黑体" panose="02010609060101010101" pitchFamily="49" charset="-122"/>
            </a:endParaRPr>
          </a:p>
        </p:txBody>
      </p:sp>
      <p:sp>
        <p:nvSpPr>
          <p:cNvPr id="2378766" name="Text Box 14"/>
          <p:cNvSpPr txBox="1"/>
          <p:nvPr/>
        </p:nvSpPr>
        <p:spPr>
          <a:xfrm>
            <a:off x="1547813" y="1335088"/>
            <a:ext cx="6948487" cy="457200"/>
          </a:xfrm>
          <a:prstGeom prst="rect">
            <a:avLst/>
          </a:prstGeom>
          <a:noFill/>
          <a:ln w="9525">
            <a:noFill/>
          </a:ln>
        </p:spPr>
        <p:txBody>
          <a:bodyPr>
            <a:spAutoFit/>
          </a:bodyPr>
          <a:p>
            <a:pPr eaLnBrk="1" hangingPunct="1"/>
            <a:r>
              <a:rPr lang="en-US" altLang="zh-CN" sz="2400" dirty="0">
                <a:solidFill>
                  <a:schemeClr val="tx1"/>
                </a:solidFill>
                <a:latin typeface="Times New Roman" panose="02020603050405020304" pitchFamily="18" charset="0"/>
              </a:rPr>
              <a:t>“</a:t>
            </a:r>
            <a:r>
              <a:rPr lang="zh-CN" altLang="en-US" sz="2400" dirty="0">
                <a:solidFill>
                  <a:schemeClr val="tx1"/>
                </a:solidFill>
                <a:latin typeface="楷体_GB2312" pitchFamily="49" charset="-122"/>
              </a:rPr>
              <a:t>稳定</a:t>
            </a:r>
            <a:r>
              <a:rPr lang="zh-CN" altLang="en-US" sz="2400" dirty="0">
                <a:solidFill>
                  <a:schemeClr val="tx1"/>
                </a:solidFill>
                <a:latin typeface="Times New Roman" panose="02020603050405020304" pitchFamily="18" charset="0"/>
              </a:rPr>
              <a:t>”</a:t>
            </a:r>
            <a:r>
              <a:rPr lang="zh-CN" altLang="en-US" sz="2400" dirty="0">
                <a:solidFill>
                  <a:schemeClr val="tx1"/>
                </a:solidFill>
                <a:latin typeface="楷体_GB2312" pitchFamily="49" charset="-122"/>
              </a:rPr>
              <a:t> 快速变化的输入信号，以减少转换误差。 </a:t>
            </a:r>
            <a:endParaRPr lang="zh-CN" altLang="en-US" sz="2400" dirty="0">
              <a:solidFill>
                <a:schemeClr val="tx1"/>
              </a:solidFill>
              <a:latin typeface="楷体_GB2312" pitchFamily="49" charset="-122"/>
            </a:endParaRPr>
          </a:p>
        </p:txBody>
      </p:sp>
      <p:sp>
        <p:nvSpPr>
          <p:cNvPr id="2378767" name="Text Box 15"/>
          <p:cNvSpPr txBox="1"/>
          <p:nvPr/>
        </p:nvSpPr>
        <p:spPr>
          <a:xfrm>
            <a:off x="1547813" y="1739900"/>
            <a:ext cx="6948487" cy="822325"/>
          </a:xfrm>
          <a:prstGeom prst="rect">
            <a:avLst/>
          </a:prstGeom>
          <a:noFill/>
          <a:ln w="9525">
            <a:noFill/>
          </a:ln>
        </p:spPr>
        <p:txBody>
          <a:bodyPr>
            <a:spAutoFit/>
          </a:bodyPr>
          <a:p>
            <a:pPr eaLnBrk="1" hangingPunct="1"/>
            <a:r>
              <a:rPr lang="zh-CN" altLang="en-US" sz="2400" dirty="0">
                <a:solidFill>
                  <a:schemeClr val="tx1"/>
                </a:solidFill>
                <a:latin typeface="楷体_GB2312" pitchFamily="49" charset="-122"/>
              </a:rPr>
              <a:t>用来储存模拟多路开关输出的模拟信号，以便模拟多路开关切换下一个模拟信号。</a:t>
            </a:r>
            <a:endParaRPr lang="zh-CN" altLang="en-US" sz="2400" dirty="0">
              <a:solidFill>
                <a:schemeClr val="tx1"/>
              </a:solidFill>
              <a:latin typeface="楷体_GB2312" pitchFamily="49" charset="-122"/>
            </a:endParaRPr>
          </a:p>
        </p:txBody>
      </p:sp>
      <p:pic>
        <p:nvPicPr>
          <p:cNvPr id="2378768" name="Picture 16" descr="kugel_blau"/>
          <p:cNvPicPr>
            <a:picLocks noChangeAspect="1"/>
          </p:cNvPicPr>
          <p:nvPr/>
        </p:nvPicPr>
        <p:blipFill>
          <a:blip r:embed="rId1"/>
          <a:stretch>
            <a:fillRect/>
          </a:stretch>
        </p:blipFill>
        <p:spPr>
          <a:xfrm>
            <a:off x="1135063" y="1465263"/>
            <a:ext cx="312737" cy="215900"/>
          </a:xfrm>
          <a:prstGeom prst="rect">
            <a:avLst/>
          </a:prstGeom>
          <a:noFill/>
          <a:ln w="9525">
            <a:noFill/>
          </a:ln>
        </p:spPr>
      </p:pic>
      <p:sp>
        <p:nvSpPr>
          <p:cNvPr id="2378770" name="Text Box 18"/>
          <p:cNvSpPr txBox="1">
            <a:spLocks noChangeArrowheads="1"/>
          </p:cNvSpPr>
          <p:nvPr/>
        </p:nvSpPr>
        <p:spPr bwMode="auto">
          <a:xfrm>
            <a:off x="1352550" y="47625"/>
            <a:ext cx="6713538" cy="641350"/>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5.2  </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保持器的工作原理</a:t>
            </a:r>
            <a:endParaRPr kumimoji="1" lang="zh-CN" altLang="en-US" sz="40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2378771" name="Picture 19" descr="kugel_blau"/>
          <p:cNvPicPr>
            <a:picLocks noChangeAspect="1"/>
          </p:cNvPicPr>
          <p:nvPr/>
        </p:nvPicPr>
        <p:blipFill>
          <a:blip r:embed="rId1"/>
          <a:stretch>
            <a:fillRect/>
          </a:stretch>
        </p:blipFill>
        <p:spPr>
          <a:xfrm>
            <a:off x="1135063" y="1885950"/>
            <a:ext cx="312737" cy="215900"/>
          </a:xfrm>
          <a:prstGeom prst="rect">
            <a:avLst/>
          </a:prstGeom>
          <a:noFill/>
          <a:ln w="9525">
            <a:noFill/>
          </a:ln>
        </p:spPr>
      </p:pic>
      <p:sp>
        <p:nvSpPr>
          <p:cNvPr id="2378772" name="Text Box 20"/>
          <p:cNvSpPr txBox="1"/>
          <p:nvPr/>
        </p:nvSpPr>
        <p:spPr>
          <a:xfrm>
            <a:off x="425450" y="2640013"/>
            <a:ext cx="3671888" cy="519112"/>
          </a:xfrm>
          <a:prstGeom prst="rect">
            <a:avLst/>
          </a:prstGeom>
          <a:solidFill>
            <a:srgbClr val="99CCFF"/>
          </a:solid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电容</a:t>
            </a:r>
            <a:r>
              <a:rPr lang="en-US" altLang="zh-CN" sz="2800" i="1" dirty="0">
                <a:solidFill>
                  <a:srgbClr val="FF0000"/>
                </a:solidFill>
                <a:latin typeface="Times New Roman" panose="02020603050405020304" pitchFamily="18" charset="0"/>
                <a:ea typeface="黑体" panose="02010609060101010101" pitchFamily="49" charset="-122"/>
              </a:rPr>
              <a:t>C</a:t>
            </a:r>
            <a:r>
              <a:rPr lang="en-US" altLang="zh-CN" sz="2800" baseline="-25000" dirty="0">
                <a:solidFill>
                  <a:srgbClr val="FF0000"/>
                </a:solidFill>
                <a:latin typeface="Times New Roman" panose="02020603050405020304" pitchFamily="18" charset="0"/>
                <a:ea typeface="黑体" panose="02010609060101010101" pitchFamily="49" charset="-122"/>
              </a:rPr>
              <a:t>H</a:t>
            </a:r>
            <a:r>
              <a:rPr lang="zh-CN" altLang="en-US" sz="2800" dirty="0">
                <a:latin typeface="黑体" panose="02010609060101010101" pitchFamily="49" charset="-122"/>
                <a:ea typeface="黑体" panose="02010609060101010101" pitchFamily="49" charset="-122"/>
              </a:rPr>
              <a:t>对精度的影响：</a:t>
            </a:r>
            <a:endParaRPr lang="zh-CN" altLang="en-US" sz="2800" dirty="0">
              <a:latin typeface="黑体" panose="02010609060101010101" pitchFamily="49" charset="-122"/>
              <a:ea typeface="黑体" panose="02010609060101010101" pitchFamily="49" charset="-122"/>
            </a:endParaRPr>
          </a:p>
        </p:txBody>
      </p:sp>
      <p:sp>
        <p:nvSpPr>
          <p:cNvPr id="2378773" name="Text Box 21"/>
          <p:cNvSpPr txBox="1"/>
          <p:nvPr/>
        </p:nvSpPr>
        <p:spPr>
          <a:xfrm>
            <a:off x="1547813" y="3232150"/>
            <a:ext cx="7331075" cy="1406525"/>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如果电容值过大，则其时间常数大，当模拟信号频率高时，由于电容充放电时间长，将会影响电容对输入信号的跟踪特性，而且在跟踪的瞬间，电容两端的电压会与输入信号电压有一定的误差。</a:t>
            </a:r>
            <a:endParaRPr lang="zh-CN" altLang="en-US" sz="2400" dirty="0">
              <a:solidFill>
                <a:schemeClr val="tx1"/>
              </a:solidFill>
              <a:latin typeface="Times New Roman" panose="02020603050405020304" pitchFamily="18" charset="0"/>
            </a:endParaRPr>
          </a:p>
        </p:txBody>
      </p:sp>
      <p:sp>
        <p:nvSpPr>
          <p:cNvPr id="2378774" name="Text Box 22"/>
          <p:cNvSpPr txBox="1"/>
          <p:nvPr/>
        </p:nvSpPr>
        <p:spPr>
          <a:xfrm>
            <a:off x="1555750" y="4652963"/>
            <a:ext cx="7219950" cy="1077912"/>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如果电容值过小，在保持状态时，由于电容漏电流的存在或者负载内阻太小的影响，会引起保持信号电平的变化。</a:t>
            </a:r>
            <a:endParaRPr lang="zh-CN" altLang="en-US" sz="2400" dirty="0">
              <a:solidFill>
                <a:schemeClr val="tx1"/>
              </a:solidFill>
              <a:latin typeface="Times New Roman" panose="02020603050405020304" pitchFamily="18" charset="0"/>
            </a:endParaRPr>
          </a:p>
        </p:txBody>
      </p:sp>
      <p:pic>
        <p:nvPicPr>
          <p:cNvPr id="2378775" name="Picture 23" descr="kugel_blau"/>
          <p:cNvPicPr>
            <a:picLocks noChangeAspect="1"/>
          </p:cNvPicPr>
          <p:nvPr/>
        </p:nvPicPr>
        <p:blipFill>
          <a:blip r:embed="rId1"/>
          <a:stretch>
            <a:fillRect/>
          </a:stretch>
        </p:blipFill>
        <p:spPr>
          <a:xfrm>
            <a:off x="1127125" y="3368675"/>
            <a:ext cx="312738" cy="215900"/>
          </a:xfrm>
          <a:prstGeom prst="rect">
            <a:avLst/>
          </a:prstGeom>
          <a:noFill/>
          <a:ln w="9525">
            <a:noFill/>
          </a:ln>
        </p:spPr>
      </p:pic>
      <p:pic>
        <p:nvPicPr>
          <p:cNvPr id="2378776" name="Picture 24" descr="kugel_blau"/>
          <p:cNvPicPr>
            <a:picLocks noChangeAspect="1"/>
          </p:cNvPicPr>
          <p:nvPr/>
        </p:nvPicPr>
        <p:blipFill>
          <a:blip r:embed="rId1"/>
          <a:stretch>
            <a:fillRect/>
          </a:stretch>
        </p:blipFill>
        <p:spPr>
          <a:xfrm>
            <a:off x="1127125" y="4770438"/>
            <a:ext cx="312738" cy="215900"/>
          </a:xfrm>
          <a:prstGeom prst="rect">
            <a:avLst/>
          </a:prstGeom>
          <a:noFill/>
          <a:ln w="9525">
            <a:noFill/>
          </a:ln>
        </p:spPr>
      </p:pic>
      <p:sp>
        <p:nvSpPr>
          <p:cNvPr id="2378777" name="Text Box 25"/>
          <p:cNvSpPr txBox="1"/>
          <p:nvPr/>
        </p:nvSpPr>
        <p:spPr>
          <a:xfrm>
            <a:off x="863600" y="3752850"/>
            <a:ext cx="7632700" cy="749300"/>
          </a:xfrm>
          <a:prstGeom prst="rect">
            <a:avLst/>
          </a:prstGeom>
          <a:solidFill>
            <a:srgbClr val="CCFFFF"/>
          </a:solidFill>
          <a:ln w="9525">
            <a:noFill/>
          </a:ln>
        </p:spPr>
        <p:txBody>
          <a:bodyPr>
            <a:spAutoFit/>
          </a:bodyPr>
          <a:p>
            <a:pPr marL="535305" indent="-53530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在选择电容时，容量大小要适宜，以保证其时间常数适中，并选用泄露小的电容。</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378778" name="Rectangle 26"/>
          <p:cNvSpPr/>
          <p:nvPr/>
        </p:nvSpPr>
        <p:spPr>
          <a:xfrm>
            <a:off x="863600" y="4502150"/>
            <a:ext cx="7632700" cy="749300"/>
          </a:xfrm>
          <a:prstGeom prst="rect">
            <a:avLst/>
          </a:prstGeom>
          <a:solidFill>
            <a:srgbClr val="CCFFFF"/>
          </a:solidFill>
          <a:ln w="9525">
            <a:noFill/>
          </a:ln>
        </p:spPr>
        <p:txBody>
          <a:bodyPr>
            <a:spAutoFit/>
          </a:bodyPr>
          <a:p>
            <a:pPr marL="535305" indent="-53530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另外，一般在输入端和输出端均采用缓冲器，以减少输出阻抗，增加输入阻抗。</a:t>
            </a:r>
            <a:endParaRPr lang="zh-CN" altLang="en-US" sz="24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78765"/>
                                        </p:tgtEl>
                                        <p:attrNameLst>
                                          <p:attrName>style.visibility</p:attrName>
                                        </p:attrNameLst>
                                      </p:cBhvr>
                                      <p:to>
                                        <p:strVal val="visible"/>
                                      </p:to>
                                    </p:set>
                                    <p:animEffect transition="in" filter="dissolve">
                                      <p:cBhvr>
                                        <p:cTn id="7" dur="500"/>
                                        <p:tgtEl>
                                          <p:spTgt spid="23787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78768"/>
                                        </p:tgtEl>
                                        <p:attrNameLst>
                                          <p:attrName>style.visibility</p:attrName>
                                        </p:attrNameLst>
                                      </p:cBhvr>
                                      <p:to>
                                        <p:strVal val="visible"/>
                                      </p:to>
                                    </p:set>
                                    <p:animEffect transition="in" filter="dissolve">
                                      <p:cBhvr>
                                        <p:cTn id="12" dur="500"/>
                                        <p:tgtEl>
                                          <p:spTgt spid="2378768"/>
                                        </p:tgtEl>
                                      </p:cBhvr>
                                    </p:animEffect>
                                  </p:childTnLst>
                                </p:cTn>
                              </p:par>
                              <p:par>
                                <p:cTn id="13" presetID="9" presetClass="entr" presetSubtype="0" fill="hold" nodeType="withEffect">
                                  <p:stCondLst>
                                    <p:cond delay="0"/>
                                  </p:stCondLst>
                                  <p:childTnLst>
                                    <p:set>
                                      <p:cBhvr>
                                        <p:cTn id="14" dur="1" fill="hold">
                                          <p:stCondLst>
                                            <p:cond delay="0"/>
                                          </p:stCondLst>
                                        </p:cTn>
                                        <p:tgtEl>
                                          <p:spTgt spid="2378766"/>
                                        </p:tgtEl>
                                        <p:attrNameLst>
                                          <p:attrName>style.visibility</p:attrName>
                                        </p:attrNameLst>
                                      </p:cBhvr>
                                      <p:to>
                                        <p:strVal val="visible"/>
                                      </p:to>
                                    </p:set>
                                    <p:animEffect transition="in" filter="dissolve">
                                      <p:cBhvr>
                                        <p:cTn id="15" dur="500"/>
                                        <p:tgtEl>
                                          <p:spTgt spid="2378766"/>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78767"/>
                                        </p:tgtEl>
                                        <p:attrNameLst>
                                          <p:attrName>style.visibility</p:attrName>
                                        </p:attrNameLst>
                                      </p:cBhvr>
                                      <p:to>
                                        <p:strVal val="visible"/>
                                      </p:to>
                                    </p:set>
                                    <p:animEffect transition="in" filter="dissolve">
                                      <p:cBhvr>
                                        <p:cTn id="20" dur="500"/>
                                        <p:tgtEl>
                                          <p:spTgt spid="2378767"/>
                                        </p:tgtEl>
                                      </p:cBhvr>
                                    </p:animEffect>
                                  </p:childTnLst>
                                </p:cTn>
                              </p:par>
                              <p:par>
                                <p:cTn id="21" presetID="9" presetClass="entr" presetSubtype="0" fill="hold" nodeType="withEffect">
                                  <p:stCondLst>
                                    <p:cond delay="0"/>
                                  </p:stCondLst>
                                  <p:childTnLst>
                                    <p:set>
                                      <p:cBhvr>
                                        <p:cTn id="22" dur="1" fill="hold">
                                          <p:stCondLst>
                                            <p:cond delay="0"/>
                                          </p:stCondLst>
                                        </p:cTn>
                                        <p:tgtEl>
                                          <p:spTgt spid="2378771"/>
                                        </p:tgtEl>
                                        <p:attrNameLst>
                                          <p:attrName>style.visibility</p:attrName>
                                        </p:attrNameLst>
                                      </p:cBhvr>
                                      <p:to>
                                        <p:strVal val="visible"/>
                                      </p:to>
                                    </p:set>
                                    <p:animEffect transition="in" filter="dissolve">
                                      <p:cBhvr>
                                        <p:cTn id="23" dur="500"/>
                                        <p:tgtEl>
                                          <p:spTgt spid="237877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78772"/>
                                        </p:tgtEl>
                                        <p:attrNameLst>
                                          <p:attrName>style.visibility</p:attrName>
                                        </p:attrNameLst>
                                      </p:cBhvr>
                                      <p:to>
                                        <p:strVal val="visible"/>
                                      </p:to>
                                    </p:set>
                                    <p:animEffect transition="in" filter="dissolve">
                                      <p:cBhvr>
                                        <p:cTn id="28" dur="500"/>
                                        <p:tgtEl>
                                          <p:spTgt spid="2378772"/>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378773"/>
                                        </p:tgtEl>
                                        <p:attrNameLst>
                                          <p:attrName>style.visibility</p:attrName>
                                        </p:attrNameLst>
                                      </p:cBhvr>
                                      <p:to>
                                        <p:strVal val="visible"/>
                                      </p:to>
                                    </p:set>
                                    <p:animEffect transition="in" filter="dissolve">
                                      <p:cBhvr>
                                        <p:cTn id="33" dur="500"/>
                                        <p:tgtEl>
                                          <p:spTgt spid="2378773"/>
                                        </p:tgtEl>
                                      </p:cBhvr>
                                    </p:animEffect>
                                  </p:childTnLst>
                                </p:cTn>
                              </p:par>
                              <p:par>
                                <p:cTn id="34" presetID="9" presetClass="entr" presetSubtype="0" fill="hold" nodeType="withEffect">
                                  <p:stCondLst>
                                    <p:cond delay="0"/>
                                  </p:stCondLst>
                                  <p:childTnLst>
                                    <p:set>
                                      <p:cBhvr>
                                        <p:cTn id="35" dur="1" fill="hold">
                                          <p:stCondLst>
                                            <p:cond delay="0"/>
                                          </p:stCondLst>
                                        </p:cTn>
                                        <p:tgtEl>
                                          <p:spTgt spid="2378775"/>
                                        </p:tgtEl>
                                        <p:attrNameLst>
                                          <p:attrName>style.visibility</p:attrName>
                                        </p:attrNameLst>
                                      </p:cBhvr>
                                      <p:to>
                                        <p:strVal val="visible"/>
                                      </p:to>
                                    </p:set>
                                    <p:animEffect transition="in" filter="dissolve">
                                      <p:cBhvr>
                                        <p:cTn id="36" dur="500"/>
                                        <p:tgtEl>
                                          <p:spTgt spid="23787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378774"/>
                                        </p:tgtEl>
                                        <p:attrNameLst>
                                          <p:attrName>style.visibility</p:attrName>
                                        </p:attrNameLst>
                                      </p:cBhvr>
                                      <p:to>
                                        <p:strVal val="visible"/>
                                      </p:to>
                                    </p:set>
                                    <p:animEffect transition="in" filter="dissolve">
                                      <p:cBhvr>
                                        <p:cTn id="41" dur="500"/>
                                        <p:tgtEl>
                                          <p:spTgt spid="2378774"/>
                                        </p:tgtEl>
                                      </p:cBhvr>
                                    </p:animEffect>
                                  </p:childTnLst>
                                </p:cTn>
                              </p:par>
                              <p:par>
                                <p:cTn id="42" presetID="9" presetClass="entr" presetSubtype="0" fill="hold" nodeType="withEffect">
                                  <p:stCondLst>
                                    <p:cond delay="0"/>
                                  </p:stCondLst>
                                  <p:childTnLst>
                                    <p:set>
                                      <p:cBhvr>
                                        <p:cTn id="43" dur="1" fill="hold">
                                          <p:stCondLst>
                                            <p:cond delay="0"/>
                                          </p:stCondLst>
                                        </p:cTn>
                                        <p:tgtEl>
                                          <p:spTgt spid="2378776"/>
                                        </p:tgtEl>
                                        <p:attrNameLst>
                                          <p:attrName>style.visibility</p:attrName>
                                        </p:attrNameLst>
                                      </p:cBhvr>
                                      <p:to>
                                        <p:strVal val="visible"/>
                                      </p:to>
                                    </p:set>
                                    <p:animEffect transition="in" filter="dissolve">
                                      <p:cBhvr>
                                        <p:cTn id="44" dur="500"/>
                                        <p:tgtEl>
                                          <p:spTgt spid="2378776"/>
                                        </p:tgtEl>
                                      </p:cBhvr>
                                    </p:animEffect>
                                  </p:childTnLst>
                                </p:cTn>
                              </p:par>
                            </p:childTnLst>
                          </p:cTn>
                        </p:par>
                      </p:childTnLst>
                    </p:cTn>
                  </p:par>
                  <p:par>
                    <p:cTn id="45" fill="hold">
                      <p:stCondLst>
                        <p:cond delay="indefinite"/>
                      </p:stCondLst>
                      <p:childTnLst>
                        <p:par>
                          <p:cTn id="46" fill="hold">
                            <p:stCondLst>
                              <p:cond delay="0"/>
                            </p:stCondLst>
                            <p:childTnLst>
                              <p:par>
                                <p:cTn id="47" presetID="3" presetClass="exit" presetSubtype="10" fill="hold" nodeType="clickEffect">
                                  <p:stCondLst>
                                    <p:cond delay="0"/>
                                  </p:stCondLst>
                                  <p:childTnLst>
                                    <p:animEffect transition="out" filter="blinds(horizontal)">
                                      <p:cBhvr>
                                        <p:cTn id="48" dur="500"/>
                                        <p:tgtEl>
                                          <p:spTgt spid="2378773"/>
                                        </p:tgtEl>
                                      </p:cBhvr>
                                    </p:animEffect>
                                    <p:set>
                                      <p:cBhvr>
                                        <p:cTn id="49" dur="1" fill="hold">
                                          <p:stCondLst>
                                            <p:cond delay="499"/>
                                          </p:stCondLst>
                                        </p:cTn>
                                        <p:tgtEl>
                                          <p:spTgt spid="2378773"/>
                                        </p:tgtEl>
                                        <p:attrNameLst>
                                          <p:attrName>style.visibility</p:attrName>
                                        </p:attrNameLst>
                                      </p:cBhvr>
                                      <p:to>
                                        <p:strVal val="hidden"/>
                                      </p:to>
                                    </p:set>
                                  </p:childTnLst>
                                </p:cTn>
                              </p:par>
                              <p:par>
                                <p:cTn id="50" presetID="3" presetClass="exit" presetSubtype="10" fill="hold" nodeType="withEffect">
                                  <p:stCondLst>
                                    <p:cond delay="0"/>
                                  </p:stCondLst>
                                  <p:childTnLst>
                                    <p:animEffect transition="out" filter="blinds(horizontal)">
                                      <p:cBhvr>
                                        <p:cTn id="51" dur="500"/>
                                        <p:tgtEl>
                                          <p:spTgt spid="2378774"/>
                                        </p:tgtEl>
                                      </p:cBhvr>
                                    </p:animEffect>
                                    <p:set>
                                      <p:cBhvr>
                                        <p:cTn id="52" dur="1" fill="hold">
                                          <p:stCondLst>
                                            <p:cond delay="499"/>
                                          </p:stCondLst>
                                        </p:cTn>
                                        <p:tgtEl>
                                          <p:spTgt spid="2378774"/>
                                        </p:tgtEl>
                                        <p:attrNameLst>
                                          <p:attrName>style.visibility</p:attrName>
                                        </p:attrNameLst>
                                      </p:cBhvr>
                                      <p:to>
                                        <p:strVal val="hidden"/>
                                      </p:to>
                                    </p:set>
                                  </p:childTnLst>
                                </p:cTn>
                              </p:par>
                              <p:par>
                                <p:cTn id="53" presetID="3" presetClass="exit" presetSubtype="10" fill="hold" nodeType="withEffect">
                                  <p:stCondLst>
                                    <p:cond delay="0"/>
                                  </p:stCondLst>
                                  <p:childTnLst>
                                    <p:animEffect transition="out" filter="blinds(horizontal)">
                                      <p:cBhvr>
                                        <p:cTn id="54" dur="500"/>
                                        <p:tgtEl>
                                          <p:spTgt spid="2378775"/>
                                        </p:tgtEl>
                                      </p:cBhvr>
                                    </p:animEffect>
                                    <p:set>
                                      <p:cBhvr>
                                        <p:cTn id="55" dur="1" fill="hold">
                                          <p:stCondLst>
                                            <p:cond delay="499"/>
                                          </p:stCondLst>
                                        </p:cTn>
                                        <p:tgtEl>
                                          <p:spTgt spid="2378775"/>
                                        </p:tgtEl>
                                        <p:attrNameLst>
                                          <p:attrName>style.visibility</p:attrName>
                                        </p:attrNameLst>
                                      </p:cBhvr>
                                      <p:to>
                                        <p:strVal val="hidden"/>
                                      </p:to>
                                    </p:set>
                                  </p:childTnLst>
                                </p:cTn>
                              </p:par>
                              <p:par>
                                <p:cTn id="56" presetID="3" presetClass="exit" presetSubtype="10" fill="hold" nodeType="withEffect">
                                  <p:stCondLst>
                                    <p:cond delay="0"/>
                                  </p:stCondLst>
                                  <p:childTnLst>
                                    <p:animEffect transition="out" filter="blinds(horizontal)">
                                      <p:cBhvr>
                                        <p:cTn id="57" dur="500"/>
                                        <p:tgtEl>
                                          <p:spTgt spid="2378776"/>
                                        </p:tgtEl>
                                      </p:cBhvr>
                                    </p:animEffect>
                                    <p:set>
                                      <p:cBhvr>
                                        <p:cTn id="58" dur="1" fill="hold">
                                          <p:stCondLst>
                                            <p:cond delay="499"/>
                                          </p:stCondLst>
                                        </p:cTn>
                                        <p:tgtEl>
                                          <p:spTgt spid="2378776"/>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2378777"/>
                                        </p:tgtEl>
                                        <p:attrNameLst>
                                          <p:attrName>style.visibility</p:attrName>
                                        </p:attrNameLst>
                                      </p:cBhvr>
                                      <p:to>
                                        <p:strVal val="visible"/>
                                      </p:to>
                                    </p:set>
                                    <p:animEffect transition="in" filter="dissolve">
                                      <p:cBhvr>
                                        <p:cTn id="63" dur="500"/>
                                        <p:tgtEl>
                                          <p:spTgt spid="2378777"/>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2378778"/>
                                        </p:tgtEl>
                                        <p:attrNameLst>
                                          <p:attrName>style.visibility</p:attrName>
                                        </p:attrNameLst>
                                      </p:cBhvr>
                                      <p:to>
                                        <p:strVal val="visible"/>
                                      </p:to>
                                    </p:set>
                                    <p:animEffect transition="in" filter="dissolve">
                                      <p:cBhvr>
                                        <p:cTn id="68" dur="500"/>
                                        <p:tgtEl>
                                          <p:spTgt spid="2378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8765" grpId="0" animBg="1"/>
      <p:bldP spid="2378766" grpId="0"/>
      <p:bldP spid="2378767" grpId="0"/>
      <p:bldP spid="2378772" grpId="0" animBg="1"/>
      <p:bldP spid="2378773" grpId="0"/>
      <p:bldP spid="2378773" grpId="1"/>
      <p:bldP spid="2378774" grpId="0"/>
      <p:bldP spid="2378774" grpId="1"/>
      <p:bldP spid="2378777" grpId="0" animBg="1"/>
      <p:bldP spid="2378778"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79794" name="Text Box 18"/>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79795" name="Text Box 19"/>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
        <p:nvSpPr>
          <p:cNvPr id="2379796" name="Text Box 20"/>
          <p:cNvSpPr txBox="1"/>
          <p:nvPr/>
        </p:nvSpPr>
        <p:spPr>
          <a:xfrm>
            <a:off x="647700" y="1484313"/>
            <a:ext cx="3402013" cy="457200"/>
          </a:xfrm>
          <a:prstGeom prst="rect">
            <a:avLst/>
          </a:prstGeom>
          <a:noFill/>
          <a:ln w="9525">
            <a:noFill/>
          </a:ln>
        </p:spPr>
        <p:txBody>
          <a:bodyPr wrap="none">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按结构分为两种类型：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379797" name="Text Box 21"/>
          <p:cNvSpPr txBox="1"/>
          <p:nvPr/>
        </p:nvSpPr>
        <p:spPr>
          <a:xfrm>
            <a:off x="900113" y="1941513"/>
            <a:ext cx="4537075" cy="519112"/>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1. </a:t>
            </a:r>
            <a:r>
              <a:rPr lang="zh-CN" altLang="en-US" sz="2800" dirty="0">
                <a:solidFill>
                  <a:srgbClr val="FF0000"/>
                </a:solidFill>
                <a:latin typeface="Times New Roman" panose="02020603050405020304" pitchFamily="18" charset="0"/>
              </a:rPr>
              <a:t>串联型采样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grpSp>
        <p:nvGrpSpPr>
          <p:cNvPr id="2379846" name="Group 70"/>
          <p:cNvGrpSpPr/>
          <p:nvPr/>
        </p:nvGrpSpPr>
        <p:grpSpPr>
          <a:xfrm>
            <a:off x="663575" y="2462213"/>
            <a:ext cx="7904163" cy="2262187"/>
            <a:chOff x="408" y="1551"/>
            <a:chExt cx="4979" cy="1425"/>
          </a:xfrm>
        </p:grpSpPr>
        <p:sp>
          <p:nvSpPr>
            <p:cNvPr id="10248" name="Rectangle 69"/>
            <p:cNvSpPr/>
            <p:nvPr/>
          </p:nvSpPr>
          <p:spPr>
            <a:xfrm>
              <a:off x="408" y="1551"/>
              <a:ext cx="4979" cy="142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49" name="Text Box 24"/>
            <p:cNvSpPr txBox="1"/>
            <p:nvPr/>
          </p:nvSpPr>
          <p:spPr>
            <a:xfrm>
              <a:off x="408" y="2073"/>
              <a:ext cx="26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0250" name="Oval 25"/>
            <p:cNvSpPr/>
            <p:nvPr/>
          </p:nvSpPr>
          <p:spPr>
            <a:xfrm>
              <a:off x="669"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51" name="AutoShape 27"/>
            <p:cNvSpPr/>
            <p:nvPr/>
          </p:nvSpPr>
          <p:spPr>
            <a:xfrm rot="5400000">
              <a:off x="1174" y="1814"/>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52" name="Text Box 28"/>
            <p:cNvSpPr txBox="1"/>
            <p:nvPr/>
          </p:nvSpPr>
          <p:spPr>
            <a:xfrm>
              <a:off x="1157" y="1848"/>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0253" name="Text Box 29"/>
            <p:cNvSpPr txBox="1"/>
            <p:nvPr/>
          </p:nvSpPr>
          <p:spPr>
            <a:xfrm>
              <a:off x="1290" y="1956"/>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10254" name="Line 30"/>
            <p:cNvSpPr/>
            <p:nvPr/>
          </p:nvSpPr>
          <p:spPr>
            <a:xfrm>
              <a:off x="1750" y="2106"/>
              <a:ext cx="450" cy="0"/>
            </a:xfrm>
            <a:prstGeom prst="line">
              <a:avLst/>
            </a:prstGeom>
            <a:ln w="12700" cap="flat" cmpd="sng">
              <a:solidFill>
                <a:schemeClr val="accent2"/>
              </a:solidFill>
              <a:prstDash val="solid"/>
              <a:headEnd type="none" w="med" len="med"/>
              <a:tailEnd type="none" w="med" len="med"/>
            </a:ln>
          </p:spPr>
        </p:sp>
        <p:sp>
          <p:nvSpPr>
            <p:cNvPr id="10255" name="Line 31"/>
            <p:cNvSpPr/>
            <p:nvPr/>
          </p:nvSpPr>
          <p:spPr>
            <a:xfrm>
              <a:off x="2200" y="2107"/>
              <a:ext cx="0" cy="100"/>
            </a:xfrm>
            <a:prstGeom prst="line">
              <a:avLst/>
            </a:prstGeom>
            <a:ln w="12700" cap="flat" cmpd="sng">
              <a:solidFill>
                <a:schemeClr val="accent2"/>
              </a:solidFill>
              <a:prstDash val="solid"/>
              <a:headEnd type="none" w="med" len="med"/>
              <a:tailEnd type="none" w="med" len="med"/>
            </a:ln>
          </p:spPr>
        </p:sp>
        <p:sp>
          <p:nvSpPr>
            <p:cNvPr id="10256" name="Line 32"/>
            <p:cNvSpPr/>
            <p:nvPr/>
          </p:nvSpPr>
          <p:spPr>
            <a:xfrm>
              <a:off x="2200" y="2207"/>
              <a:ext cx="435" cy="0"/>
            </a:xfrm>
            <a:prstGeom prst="line">
              <a:avLst/>
            </a:prstGeom>
            <a:ln w="12700" cap="flat" cmpd="sng">
              <a:solidFill>
                <a:schemeClr val="accent2"/>
              </a:solidFill>
              <a:prstDash val="solid"/>
              <a:headEnd type="none" w="med" len="med"/>
              <a:tailEnd type="none" w="med" len="med"/>
            </a:ln>
          </p:spPr>
        </p:sp>
        <p:sp>
          <p:nvSpPr>
            <p:cNvPr id="10257" name="Oval 33"/>
            <p:cNvSpPr/>
            <p:nvPr/>
          </p:nvSpPr>
          <p:spPr>
            <a:xfrm>
              <a:off x="2640"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58" name="Line 34"/>
            <p:cNvSpPr/>
            <p:nvPr/>
          </p:nvSpPr>
          <p:spPr>
            <a:xfrm flipV="1">
              <a:off x="2693" y="2074"/>
              <a:ext cx="250" cy="116"/>
            </a:xfrm>
            <a:prstGeom prst="line">
              <a:avLst/>
            </a:prstGeom>
            <a:ln w="19050" cap="flat" cmpd="sng">
              <a:solidFill>
                <a:srgbClr val="000080"/>
              </a:solidFill>
              <a:prstDash val="solid"/>
              <a:headEnd type="none" w="med" len="med"/>
              <a:tailEnd type="none" w="med" len="med"/>
            </a:ln>
          </p:spPr>
        </p:sp>
        <p:sp>
          <p:nvSpPr>
            <p:cNvPr id="10259" name="Text Box 35"/>
            <p:cNvSpPr txBox="1"/>
            <p:nvPr/>
          </p:nvSpPr>
          <p:spPr>
            <a:xfrm>
              <a:off x="2677" y="2239"/>
              <a:ext cx="22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endParaRPr lang="en-US" altLang="zh-CN" sz="2000" i="1" dirty="0">
                <a:latin typeface="Times New Roman" panose="02020603050405020304" pitchFamily="18" charset="0"/>
              </a:endParaRPr>
            </a:p>
          </p:txBody>
        </p:sp>
        <p:sp>
          <p:nvSpPr>
            <p:cNvPr id="10260" name="Line 36"/>
            <p:cNvSpPr/>
            <p:nvPr/>
          </p:nvSpPr>
          <p:spPr>
            <a:xfrm flipV="1">
              <a:off x="2200" y="1698"/>
              <a:ext cx="0" cy="408"/>
            </a:xfrm>
            <a:prstGeom prst="line">
              <a:avLst/>
            </a:prstGeom>
            <a:ln w="12700" cap="flat" cmpd="sng">
              <a:solidFill>
                <a:schemeClr val="accent2"/>
              </a:solidFill>
              <a:prstDash val="solid"/>
              <a:headEnd type="none" w="med" len="med"/>
              <a:tailEnd type="none" w="med" len="med"/>
            </a:ln>
          </p:spPr>
        </p:sp>
        <p:sp>
          <p:nvSpPr>
            <p:cNvPr id="10261" name="Line 37"/>
            <p:cNvSpPr/>
            <p:nvPr/>
          </p:nvSpPr>
          <p:spPr>
            <a:xfrm flipH="1">
              <a:off x="948" y="1698"/>
              <a:ext cx="1252" cy="0"/>
            </a:xfrm>
            <a:prstGeom prst="line">
              <a:avLst/>
            </a:prstGeom>
            <a:ln w="12700" cap="flat" cmpd="sng">
              <a:solidFill>
                <a:schemeClr val="accent2"/>
              </a:solidFill>
              <a:prstDash val="solid"/>
              <a:headEnd type="none" w="med" len="med"/>
              <a:tailEnd type="none" w="med" len="med"/>
            </a:ln>
          </p:spPr>
        </p:sp>
        <p:sp>
          <p:nvSpPr>
            <p:cNvPr id="10262" name="Line 38"/>
            <p:cNvSpPr/>
            <p:nvPr/>
          </p:nvSpPr>
          <p:spPr>
            <a:xfrm>
              <a:off x="948" y="1698"/>
              <a:ext cx="0" cy="284"/>
            </a:xfrm>
            <a:prstGeom prst="line">
              <a:avLst/>
            </a:prstGeom>
            <a:ln w="12700" cap="flat" cmpd="sng">
              <a:solidFill>
                <a:schemeClr val="accent2"/>
              </a:solidFill>
              <a:prstDash val="solid"/>
              <a:headEnd type="none" w="med" len="med"/>
              <a:tailEnd type="none" w="med" len="med"/>
            </a:ln>
          </p:spPr>
        </p:sp>
        <p:sp>
          <p:nvSpPr>
            <p:cNvPr id="10263" name="Line 39"/>
            <p:cNvSpPr/>
            <p:nvPr/>
          </p:nvSpPr>
          <p:spPr>
            <a:xfrm>
              <a:off x="948" y="1982"/>
              <a:ext cx="226" cy="0"/>
            </a:xfrm>
            <a:prstGeom prst="line">
              <a:avLst/>
            </a:prstGeom>
            <a:ln w="12700" cap="flat" cmpd="sng">
              <a:solidFill>
                <a:schemeClr val="accent2"/>
              </a:solidFill>
              <a:prstDash val="solid"/>
              <a:headEnd type="none" w="med" len="med"/>
              <a:tailEnd type="none" w="med" len="med"/>
            </a:ln>
          </p:spPr>
        </p:sp>
        <p:sp>
          <p:nvSpPr>
            <p:cNvPr id="10264" name="Line 40"/>
            <p:cNvSpPr/>
            <p:nvPr/>
          </p:nvSpPr>
          <p:spPr>
            <a:xfrm>
              <a:off x="2835" y="1756"/>
              <a:ext cx="0" cy="368"/>
            </a:xfrm>
            <a:prstGeom prst="line">
              <a:avLst/>
            </a:prstGeom>
            <a:ln w="12700" cap="flat" cmpd="sng">
              <a:solidFill>
                <a:srgbClr val="008080"/>
              </a:solidFill>
              <a:prstDash val="dash"/>
              <a:headEnd type="none" w="med" len="med"/>
              <a:tailEnd type="none" w="med" len="med"/>
            </a:ln>
          </p:spPr>
        </p:sp>
        <p:sp>
          <p:nvSpPr>
            <p:cNvPr id="10265" name="Text Box 41"/>
            <p:cNvSpPr txBox="1"/>
            <p:nvPr/>
          </p:nvSpPr>
          <p:spPr>
            <a:xfrm>
              <a:off x="2715" y="1551"/>
              <a:ext cx="30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0266" name="Oval 42"/>
            <p:cNvSpPr/>
            <p:nvPr/>
          </p:nvSpPr>
          <p:spPr>
            <a:xfrm>
              <a:off x="2862" y="218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67" name="AutoShape 44"/>
            <p:cNvSpPr/>
            <p:nvPr/>
          </p:nvSpPr>
          <p:spPr>
            <a:xfrm rot="5400000">
              <a:off x="3724" y="1810"/>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68" name="Text Box 45"/>
            <p:cNvSpPr txBox="1"/>
            <p:nvPr/>
          </p:nvSpPr>
          <p:spPr>
            <a:xfrm>
              <a:off x="3707" y="1836"/>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0269" name="Text Box 46"/>
            <p:cNvSpPr txBox="1"/>
            <p:nvPr/>
          </p:nvSpPr>
          <p:spPr>
            <a:xfrm>
              <a:off x="3831" y="1953"/>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10270" name="Oval 47"/>
            <p:cNvSpPr/>
            <p:nvPr/>
          </p:nvSpPr>
          <p:spPr>
            <a:xfrm>
              <a:off x="3352" y="218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71" name="Line 48"/>
            <p:cNvSpPr/>
            <p:nvPr/>
          </p:nvSpPr>
          <p:spPr>
            <a:xfrm>
              <a:off x="3378" y="2207"/>
              <a:ext cx="0" cy="226"/>
            </a:xfrm>
            <a:prstGeom prst="line">
              <a:avLst/>
            </a:prstGeom>
            <a:ln w="12700" cap="flat" cmpd="sng">
              <a:solidFill>
                <a:schemeClr val="accent2"/>
              </a:solidFill>
              <a:prstDash val="solid"/>
              <a:headEnd type="none" w="med" len="med"/>
              <a:tailEnd type="none" w="med" len="med"/>
            </a:ln>
          </p:spPr>
        </p:sp>
        <p:sp>
          <p:nvSpPr>
            <p:cNvPr id="10272" name="Line 49"/>
            <p:cNvSpPr/>
            <p:nvPr/>
          </p:nvSpPr>
          <p:spPr>
            <a:xfrm>
              <a:off x="3378" y="2474"/>
              <a:ext cx="0" cy="260"/>
            </a:xfrm>
            <a:prstGeom prst="line">
              <a:avLst/>
            </a:prstGeom>
            <a:ln w="12700" cap="flat" cmpd="sng">
              <a:solidFill>
                <a:schemeClr val="accent2"/>
              </a:solidFill>
              <a:prstDash val="solid"/>
              <a:headEnd type="none" w="med" len="med"/>
              <a:tailEnd type="none" w="med" len="med"/>
            </a:ln>
          </p:spPr>
        </p:sp>
        <p:sp>
          <p:nvSpPr>
            <p:cNvPr id="10273" name="AutoShape 50"/>
            <p:cNvSpPr/>
            <p:nvPr/>
          </p:nvSpPr>
          <p:spPr>
            <a:xfrm rot="10800000">
              <a:off x="3224" y="2734"/>
              <a:ext cx="301" cy="150"/>
            </a:xfrm>
            <a:prstGeom prst="triangle">
              <a:avLst>
                <a:gd name="adj" fmla="val 50000"/>
              </a:avLst>
            </a:prstGeom>
            <a:no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74" name="Line 53"/>
            <p:cNvSpPr/>
            <p:nvPr/>
          </p:nvSpPr>
          <p:spPr>
            <a:xfrm>
              <a:off x="3279" y="2471"/>
              <a:ext cx="191" cy="0"/>
            </a:xfrm>
            <a:prstGeom prst="line">
              <a:avLst/>
            </a:prstGeom>
            <a:ln w="19050" cap="flat" cmpd="sng">
              <a:solidFill>
                <a:srgbClr val="000080"/>
              </a:solidFill>
              <a:prstDash val="solid"/>
              <a:headEnd type="none" w="med" len="med"/>
              <a:tailEnd type="none" w="med" len="med"/>
            </a:ln>
          </p:spPr>
        </p:sp>
        <p:sp>
          <p:nvSpPr>
            <p:cNvPr id="10275" name="Text Box 54"/>
            <p:cNvSpPr txBox="1"/>
            <p:nvPr/>
          </p:nvSpPr>
          <p:spPr>
            <a:xfrm>
              <a:off x="3428" y="2331"/>
              <a:ext cx="304"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0276" name="Text Box 55"/>
            <p:cNvSpPr txBox="1"/>
            <p:nvPr/>
          </p:nvSpPr>
          <p:spPr>
            <a:xfrm>
              <a:off x="3524" y="2682"/>
              <a:ext cx="551" cy="214"/>
            </a:xfrm>
            <a:prstGeom prst="rect">
              <a:avLst/>
            </a:prstGeom>
            <a:noFill/>
            <a:ln w="9525">
              <a:noFill/>
            </a:ln>
          </p:spPr>
          <p:txBody>
            <a:bodyPr wrap="none">
              <a:spAutoFit/>
            </a:bodyPr>
            <a:p>
              <a:pPr eaLnBrk="1" hangingPunct="1">
                <a:lnSpc>
                  <a:spcPct val="90000"/>
                </a:lnSpc>
              </a:pPr>
              <a:r>
                <a:rPr lang="zh-CN" altLang="en-US" sz="1800" dirty="0">
                  <a:latin typeface="Times New Roman" panose="02020603050405020304" pitchFamily="18" charset="0"/>
                </a:rPr>
                <a:t>模拟地</a:t>
              </a:r>
              <a:endParaRPr lang="zh-CN" altLang="en-US" sz="1800" baseline="-25000" dirty="0">
                <a:latin typeface="Times New Roman" panose="02020603050405020304" pitchFamily="18" charset="0"/>
              </a:endParaRPr>
            </a:p>
          </p:txBody>
        </p:sp>
        <p:sp>
          <p:nvSpPr>
            <p:cNvPr id="10277" name="Line 56"/>
            <p:cNvSpPr/>
            <p:nvPr/>
          </p:nvSpPr>
          <p:spPr>
            <a:xfrm flipV="1">
              <a:off x="4304" y="2098"/>
              <a:ext cx="708" cy="2"/>
            </a:xfrm>
            <a:prstGeom prst="line">
              <a:avLst/>
            </a:prstGeom>
            <a:ln w="12700" cap="flat" cmpd="sng">
              <a:solidFill>
                <a:schemeClr val="accent2"/>
              </a:solidFill>
              <a:prstDash val="solid"/>
              <a:headEnd type="none" w="med" len="med"/>
              <a:tailEnd type="none" w="med" len="med"/>
            </a:ln>
          </p:spPr>
        </p:sp>
        <p:sp>
          <p:nvSpPr>
            <p:cNvPr id="10278" name="Oval 57"/>
            <p:cNvSpPr/>
            <p:nvPr/>
          </p:nvSpPr>
          <p:spPr>
            <a:xfrm>
              <a:off x="5012" y="207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79" name="Text Box 58"/>
            <p:cNvSpPr txBox="1"/>
            <p:nvPr/>
          </p:nvSpPr>
          <p:spPr>
            <a:xfrm>
              <a:off x="5074" y="1977"/>
              <a:ext cx="313"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0280" name="Oval 59"/>
            <p:cNvSpPr/>
            <p:nvPr/>
          </p:nvSpPr>
          <p:spPr>
            <a:xfrm>
              <a:off x="4717" y="206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0281" name="Line 60"/>
            <p:cNvSpPr/>
            <p:nvPr/>
          </p:nvSpPr>
          <p:spPr>
            <a:xfrm flipV="1">
              <a:off x="4747" y="1684"/>
              <a:ext cx="0" cy="406"/>
            </a:xfrm>
            <a:prstGeom prst="line">
              <a:avLst/>
            </a:prstGeom>
            <a:ln w="12700" cap="flat" cmpd="sng">
              <a:solidFill>
                <a:schemeClr val="accent2"/>
              </a:solidFill>
              <a:prstDash val="solid"/>
              <a:headEnd type="none" w="med" len="med"/>
              <a:tailEnd type="none" w="med" len="med"/>
            </a:ln>
          </p:spPr>
        </p:sp>
        <p:sp>
          <p:nvSpPr>
            <p:cNvPr id="10282" name="Line 61"/>
            <p:cNvSpPr/>
            <p:nvPr/>
          </p:nvSpPr>
          <p:spPr>
            <a:xfrm flipH="1">
              <a:off x="3486" y="1684"/>
              <a:ext cx="1261" cy="0"/>
            </a:xfrm>
            <a:prstGeom prst="line">
              <a:avLst/>
            </a:prstGeom>
            <a:ln w="12700" cap="flat" cmpd="sng">
              <a:solidFill>
                <a:schemeClr val="accent2"/>
              </a:solidFill>
              <a:prstDash val="solid"/>
              <a:headEnd type="none" w="med" len="med"/>
              <a:tailEnd type="none" w="med" len="med"/>
            </a:ln>
          </p:spPr>
        </p:sp>
        <p:sp>
          <p:nvSpPr>
            <p:cNvPr id="10283" name="Line 62"/>
            <p:cNvSpPr/>
            <p:nvPr/>
          </p:nvSpPr>
          <p:spPr>
            <a:xfrm>
              <a:off x="3486" y="1684"/>
              <a:ext cx="0" cy="298"/>
            </a:xfrm>
            <a:prstGeom prst="line">
              <a:avLst/>
            </a:prstGeom>
            <a:ln w="12700" cap="flat" cmpd="sng">
              <a:solidFill>
                <a:schemeClr val="accent2"/>
              </a:solidFill>
              <a:prstDash val="solid"/>
              <a:headEnd type="none" w="med" len="med"/>
              <a:tailEnd type="none" w="med" len="med"/>
            </a:ln>
          </p:spPr>
        </p:sp>
        <p:sp>
          <p:nvSpPr>
            <p:cNvPr id="10284" name="Line 63"/>
            <p:cNvSpPr/>
            <p:nvPr/>
          </p:nvSpPr>
          <p:spPr>
            <a:xfrm>
              <a:off x="3486" y="1982"/>
              <a:ext cx="234" cy="0"/>
            </a:xfrm>
            <a:prstGeom prst="line">
              <a:avLst/>
            </a:prstGeom>
            <a:ln w="12700" cap="flat" cmpd="sng">
              <a:solidFill>
                <a:schemeClr val="accent2"/>
              </a:solidFill>
              <a:prstDash val="solid"/>
              <a:headEnd type="none" w="med" len="med"/>
              <a:tailEnd type="none" w="med" len="med"/>
            </a:ln>
          </p:spPr>
        </p:sp>
        <p:sp>
          <p:nvSpPr>
            <p:cNvPr id="10285" name="Text Box 64"/>
            <p:cNvSpPr txBox="1"/>
            <p:nvPr/>
          </p:nvSpPr>
          <p:spPr>
            <a:xfrm>
              <a:off x="605" y="2711"/>
              <a:ext cx="1920" cy="231"/>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串联型采样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0286" name="Line 65"/>
            <p:cNvSpPr/>
            <p:nvPr/>
          </p:nvSpPr>
          <p:spPr>
            <a:xfrm flipV="1">
              <a:off x="725" y="2207"/>
              <a:ext cx="449" cy="1"/>
            </a:xfrm>
            <a:prstGeom prst="line">
              <a:avLst/>
            </a:prstGeom>
            <a:ln w="12700" cap="flat" cmpd="sng">
              <a:solidFill>
                <a:schemeClr val="accent2"/>
              </a:solidFill>
              <a:prstDash val="solid"/>
              <a:headEnd type="none" w="med" len="med"/>
              <a:tailEnd type="none" w="med" len="med"/>
            </a:ln>
          </p:spPr>
        </p:sp>
        <p:sp>
          <p:nvSpPr>
            <p:cNvPr id="10287" name="Line 66"/>
            <p:cNvSpPr/>
            <p:nvPr/>
          </p:nvSpPr>
          <p:spPr>
            <a:xfrm>
              <a:off x="2927" y="2207"/>
              <a:ext cx="793" cy="0"/>
            </a:xfrm>
            <a:prstGeom prst="line">
              <a:avLst/>
            </a:prstGeom>
            <a:ln w="12700" cap="flat" cmpd="sng">
              <a:solidFill>
                <a:schemeClr val="accent2"/>
              </a:solidFill>
              <a:prstDash val="solid"/>
              <a:headEnd type="none" w="med" len="med"/>
              <a:tailEnd type="none" w="med" len="med"/>
            </a:ln>
          </p:spPr>
        </p:sp>
        <p:sp>
          <p:nvSpPr>
            <p:cNvPr id="10288" name="Line 67"/>
            <p:cNvSpPr/>
            <p:nvPr/>
          </p:nvSpPr>
          <p:spPr>
            <a:xfrm>
              <a:off x="3279" y="2433"/>
              <a:ext cx="191" cy="0"/>
            </a:xfrm>
            <a:prstGeom prst="line">
              <a:avLst/>
            </a:prstGeom>
            <a:ln w="19050" cap="flat" cmpd="sng">
              <a:solidFill>
                <a:srgbClr val="000080"/>
              </a:solidFill>
              <a:prstDash val="solid"/>
              <a:headEnd type="none" w="med" len="med"/>
              <a:tailEnd type="none" w="med" len="med"/>
            </a:ln>
          </p:spPr>
        </p:sp>
        <p:sp>
          <p:nvSpPr>
            <p:cNvPr id="10289" name="Oval 68"/>
            <p:cNvSpPr/>
            <p:nvPr/>
          </p:nvSpPr>
          <p:spPr>
            <a:xfrm>
              <a:off x="2172" y="207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379847" name="Text Box 71"/>
          <p:cNvSpPr txBox="1"/>
          <p:nvPr/>
        </p:nvSpPr>
        <p:spPr>
          <a:xfrm>
            <a:off x="684213" y="4868863"/>
            <a:ext cx="7885112" cy="1187450"/>
          </a:xfrm>
          <a:prstGeom prst="rect">
            <a:avLst/>
          </a:prstGeom>
          <a:noFill/>
          <a:ln w="9525">
            <a:noFill/>
          </a:ln>
        </p:spPr>
        <p:txBody>
          <a:bodyPr>
            <a:spAutoFit/>
          </a:bodyPr>
          <a:p>
            <a:pPr eaLnBrk="1" hangingPunct="1"/>
            <a:r>
              <a:rPr lang="en-US" altLang="zh-CN" sz="2400" i="1" dirty="0">
                <a:solidFill>
                  <a:srgbClr val="FF0000"/>
                </a:solidFill>
                <a:latin typeface="Times New Roman" panose="02020603050405020304" pitchFamily="18" charset="0"/>
                <a:ea typeface="宋体" panose="02010600030101010101" pitchFamily="2" charset="-122"/>
              </a:rPr>
              <a:t>A</a:t>
            </a:r>
            <a:r>
              <a:rPr lang="en-US" altLang="zh-CN" sz="2400" baseline="-25000" dirty="0">
                <a:solidFill>
                  <a:srgbClr val="FF0000"/>
                </a:solidFill>
                <a:latin typeface="Times New Roman" panose="02020603050405020304" pitchFamily="18" charset="0"/>
                <a:ea typeface="宋体" panose="02010600030101010101" pitchFamily="2" charset="-122"/>
              </a:rPr>
              <a:t>1</a:t>
            </a:r>
            <a:r>
              <a:rPr lang="zh-CN" altLang="en-US" sz="2400" dirty="0">
                <a:solidFill>
                  <a:schemeClr val="tx1"/>
                </a:solidFill>
                <a:latin typeface="Times New Roman" panose="02020603050405020304" pitchFamily="18" charset="0"/>
              </a:rPr>
              <a:t>和</a:t>
            </a:r>
            <a:r>
              <a:rPr lang="en-US" altLang="zh-CN" sz="2400" i="1" dirty="0">
                <a:solidFill>
                  <a:srgbClr val="FF0000"/>
                </a:solidFill>
                <a:latin typeface="Times New Roman" panose="02020603050405020304" pitchFamily="18" charset="0"/>
                <a:ea typeface="宋体" panose="02010600030101010101" pitchFamily="2" charset="-122"/>
              </a:rPr>
              <a:t>A</a:t>
            </a:r>
            <a:r>
              <a:rPr lang="en-US" altLang="zh-CN" sz="2400" baseline="-25000" dirty="0">
                <a:solidFill>
                  <a:srgbClr val="FF0000"/>
                </a:solidFill>
                <a:latin typeface="Times New Roman" panose="02020603050405020304" pitchFamily="18" charset="0"/>
                <a:ea typeface="宋体" panose="02010600030101010101" pitchFamily="2" charset="-122"/>
              </a:rPr>
              <a:t>2</a:t>
            </a:r>
            <a:r>
              <a:rPr lang="zh-CN" altLang="en-US" sz="2400" dirty="0">
                <a:solidFill>
                  <a:schemeClr val="tx1"/>
                </a:solidFill>
                <a:latin typeface="Times New Roman" panose="02020603050405020304" pitchFamily="18" charset="0"/>
              </a:rPr>
              <a:t>分别是输入和输出缓冲放大器，用以提高采样</a:t>
            </a:r>
            <a:r>
              <a:rPr lang="en-US" altLang="zh-CN" sz="2400" dirty="0">
                <a:solidFill>
                  <a:schemeClr val="tx1"/>
                </a:solidFill>
                <a:latin typeface="Times New Roman" panose="02020603050405020304" pitchFamily="18" charset="0"/>
              </a:rPr>
              <a:t>/</a:t>
            </a:r>
            <a:r>
              <a:rPr lang="zh-CN" altLang="en-US" sz="2400" dirty="0">
                <a:solidFill>
                  <a:schemeClr val="tx1"/>
                </a:solidFill>
                <a:latin typeface="Times New Roman" panose="02020603050405020304" pitchFamily="18" charset="0"/>
              </a:rPr>
              <a:t>保持器的输入阻抗，减小输出阻抗，以便与信号源和负载连接。</a:t>
            </a:r>
            <a:endParaRPr lang="zh-CN" altLang="en-US" sz="24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79795"/>
                                        </p:tgtEl>
                                        <p:attrNameLst>
                                          <p:attrName>style.visibility</p:attrName>
                                        </p:attrNameLst>
                                      </p:cBhvr>
                                      <p:to>
                                        <p:strVal val="visible"/>
                                      </p:to>
                                    </p:set>
                                    <p:animEffect transition="in" filter="dissolve">
                                      <p:cBhvr>
                                        <p:cTn id="7" dur="500"/>
                                        <p:tgtEl>
                                          <p:spTgt spid="23797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79796"/>
                                        </p:tgtEl>
                                        <p:attrNameLst>
                                          <p:attrName>style.visibility</p:attrName>
                                        </p:attrNameLst>
                                      </p:cBhvr>
                                      <p:to>
                                        <p:strVal val="visible"/>
                                      </p:to>
                                    </p:set>
                                    <p:animEffect transition="in" filter="dissolve">
                                      <p:cBhvr>
                                        <p:cTn id="12" dur="500"/>
                                        <p:tgtEl>
                                          <p:spTgt spid="237979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79797"/>
                                        </p:tgtEl>
                                        <p:attrNameLst>
                                          <p:attrName>style.visibility</p:attrName>
                                        </p:attrNameLst>
                                      </p:cBhvr>
                                      <p:to>
                                        <p:strVal val="visible"/>
                                      </p:to>
                                    </p:set>
                                    <p:animEffect transition="in" filter="dissolve">
                                      <p:cBhvr>
                                        <p:cTn id="17" dur="500"/>
                                        <p:tgtEl>
                                          <p:spTgt spid="237979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79846"/>
                                        </p:tgtEl>
                                        <p:attrNameLst>
                                          <p:attrName>style.visibility</p:attrName>
                                        </p:attrNameLst>
                                      </p:cBhvr>
                                      <p:to>
                                        <p:strVal val="visible"/>
                                      </p:to>
                                    </p:set>
                                    <p:animEffect transition="in" filter="dissolve">
                                      <p:cBhvr>
                                        <p:cTn id="22" dur="500"/>
                                        <p:tgtEl>
                                          <p:spTgt spid="237984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79847"/>
                                        </p:tgtEl>
                                        <p:attrNameLst>
                                          <p:attrName>style.visibility</p:attrName>
                                        </p:attrNameLst>
                                      </p:cBhvr>
                                      <p:to>
                                        <p:strVal val="visible"/>
                                      </p:to>
                                    </p:set>
                                    <p:animEffect transition="in" filter="dissolve">
                                      <p:cBhvr>
                                        <p:cTn id="27" dur="500"/>
                                        <p:tgtEl>
                                          <p:spTgt spid="23798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9795" grpId="0" animBg="1"/>
      <p:bldP spid="2379796" grpId="0"/>
      <p:bldP spid="2379797" grpId="0"/>
      <p:bldP spid="2379847"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5618" name="Text Box 2"/>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1267"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
        <p:nvSpPr>
          <p:cNvPr id="11268" name="Text Box 4"/>
          <p:cNvSpPr txBox="1"/>
          <p:nvPr/>
        </p:nvSpPr>
        <p:spPr>
          <a:xfrm>
            <a:off x="647700" y="1484313"/>
            <a:ext cx="3402013" cy="457200"/>
          </a:xfrm>
          <a:prstGeom prst="rect">
            <a:avLst/>
          </a:prstGeom>
          <a:noFill/>
          <a:ln w="9525">
            <a:noFill/>
          </a:ln>
        </p:spPr>
        <p:txBody>
          <a:bodyPr wrap="none">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按结构分为两种类型：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1269" name="Text Box 5"/>
          <p:cNvSpPr txBox="1"/>
          <p:nvPr/>
        </p:nvSpPr>
        <p:spPr>
          <a:xfrm>
            <a:off x="900113" y="1941513"/>
            <a:ext cx="4537075" cy="519112"/>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1. </a:t>
            </a:r>
            <a:r>
              <a:rPr lang="zh-CN" altLang="en-US" sz="2800" dirty="0">
                <a:solidFill>
                  <a:srgbClr val="FF0000"/>
                </a:solidFill>
                <a:latin typeface="Times New Roman" panose="02020603050405020304" pitchFamily="18" charset="0"/>
              </a:rPr>
              <a:t>串联型采样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grpSp>
        <p:nvGrpSpPr>
          <p:cNvPr id="11270" name="Group 6"/>
          <p:cNvGrpSpPr/>
          <p:nvPr/>
        </p:nvGrpSpPr>
        <p:grpSpPr>
          <a:xfrm>
            <a:off x="663575" y="2462213"/>
            <a:ext cx="7904163" cy="2262187"/>
            <a:chOff x="408" y="1551"/>
            <a:chExt cx="4979" cy="1425"/>
          </a:xfrm>
        </p:grpSpPr>
        <p:sp>
          <p:nvSpPr>
            <p:cNvPr id="11272" name="Rectangle 7"/>
            <p:cNvSpPr/>
            <p:nvPr/>
          </p:nvSpPr>
          <p:spPr>
            <a:xfrm>
              <a:off x="408" y="1551"/>
              <a:ext cx="4979" cy="142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73" name="Text Box 8"/>
            <p:cNvSpPr txBox="1"/>
            <p:nvPr/>
          </p:nvSpPr>
          <p:spPr>
            <a:xfrm>
              <a:off x="408" y="2073"/>
              <a:ext cx="26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1274" name="Oval 9"/>
            <p:cNvSpPr/>
            <p:nvPr/>
          </p:nvSpPr>
          <p:spPr>
            <a:xfrm>
              <a:off x="669"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75" name="AutoShape 10"/>
            <p:cNvSpPr/>
            <p:nvPr/>
          </p:nvSpPr>
          <p:spPr>
            <a:xfrm rot="5400000">
              <a:off x="1174" y="1814"/>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76" name="Text Box 11"/>
            <p:cNvSpPr txBox="1"/>
            <p:nvPr/>
          </p:nvSpPr>
          <p:spPr>
            <a:xfrm>
              <a:off x="1157" y="1848"/>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1277" name="Text Box 12"/>
            <p:cNvSpPr txBox="1"/>
            <p:nvPr/>
          </p:nvSpPr>
          <p:spPr>
            <a:xfrm>
              <a:off x="1290" y="1956"/>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11278" name="Line 13"/>
            <p:cNvSpPr/>
            <p:nvPr/>
          </p:nvSpPr>
          <p:spPr>
            <a:xfrm>
              <a:off x="1750" y="2106"/>
              <a:ext cx="450" cy="0"/>
            </a:xfrm>
            <a:prstGeom prst="line">
              <a:avLst/>
            </a:prstGeom>
            <a:ln w="12700" cap="flat" cmpd="sng">
              <a:solidFill>
                <a:schemeClr val="accent2"/>
              </a:solidFill>
              <a:prstDash val="solid"/>
              <a:headEnd type="none" w="med" len="med"/>
              <a:tailEnd type="none" w="med" len="med"/>
            </a:ln>
          </p:spPr>
        </p:sp>
        <p:sp>
          <p:nvSpPr>
            <p:cNvPr id="11279" name="Line 14"/>
            <p:cNvSpPr/>
            <p:nvPr/>
          </p:nvSpPr>
          <p:spPr>
            <a:xfrm>
              <a:off x="2200" y="2107"/>
              <a:ext cx="0" cy="100"/>
            </a:xfrm>
            <a:prstGeom prst="line">
              <a:avLst/>
            </a:prstGeom>
            <a:ln w="12700" cap="flat" cmpd="sng">
              <a:solidFill>
                <a:schemeClr val="accent2"/>
              </a:solidFill>
              <a:prstDash val="solid"/>
              <a:headEnd type="none" w="med" len="med"/>
              <a:tailEnd type="none" w="med" len="med"/>
            </a:ln>
          </p:spPr>
        </p:sp>
        <p:sp>
          <p:nvSpPr>
            <p:cNvPr id="11280" name="Line 15"/>
            <p:cNvSpPr/>
            <p:nvPr/>
          </p:nvSpPr>
          <p:spPr>
            <a:xfrm>
              <a:off x="2200" y="2207"/>
              <a:ext cx="435" cy="0"/>
            </a:xfrm>
            <a:prstGeom prst="line">
              <a:avLst/>
            </a:prstGeom>
            <a:ln w="12700" cap="flat" cmpd="sng">
              <a:solidFill>
                <a:schemeClr val="accent2"/>
              </a:solidFill>
              <a:prstDash val="solid"/>
              <a:headEnd type="none" w="med" len="med"/>
              <a:tailEnd type="none" w="med" len="med"/>
            </a:ln>
          </p:spPr>
        </p:sp>
        <p:sp>
          <p:nvSpPr>
            <p:cNvPr id="11281" name="Oval 16"/>
            <p:cNvSpPr/>
            <p:nvPr/>
          </p:nvSpPr>
          <p:spPr>
            <a:xfrm>
              <a:off x="2640"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82" name="Line 17"/>
            <p:cNvSpPr/>
            <p:nvPr/>
          </p:nvSpPr>
          <p:spPr>
            <a:xfrm flipV="1">
              <a:off x="2693" y="2074"/>
              <a:ext cx="250" cy="116"/>
            </a:xfrm>
            <a:prstGeom prst="line">
              <a:avLst/>
            </a:prstGeom>
            <a:ln w="19050" cap="flat" cmpd="sng">
              <a:solidFill>
                <a:srgbClr val="000080"/>
              </a:solidFill>
              <a:prstDash val="solid"/>
              <a:headEnd type="none" w="med" len="med"/>
              <a:tailEnd type="none" w="med" len="med"/>
            </a:ln>
          </p:spPr>
        </p:sp>
        <p:sp>
          <p:nvSpPr>
            <p:cNvPr id="11283" name="Text Box 18"/>
            <p:cNvSpPr txBox="1"/>
            <p:nvPr/>
          </p:nvSpPr>
          <p:spPr>
            <a:xfrm>
              <a:off x="2677" y="2239"/>
              <a:ext cx="22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endParaRPr lang="en-US" altLang="zh-CN" sz="2000" i="1" dirty="0">
                <a:latin typeface="Times New Roman" panose="02020603050405020304" pitchFamily="18" charset="0"/>
              </a:endParaRPr>
            </a:p>
          </p:txBody>
        </p:sp>
        <p:sp>
          <p:nvSpPr>
            <p:cNvPr id="11284" name="Line 19"/>
            <p:cNvSpPr/>
            <p:nvPr/>
          </p:nvSpPr>
          <p:spPr>
            <a:xfrm flipV="1">
              <a:off x="2200" y="1698"/>
              <a:ext cx="0" cy="408"/>
            </a:xfrm>
            <a:prstGeom prst="line">
              <a:avLst/>
            </a:prstGeom>
            <a:ln w="12700" cap="flat" cmpd="sng">
              <a:solidFill>
                <a:schemeClr val="accent2"/>
              </a:solidFill>
              <a:prstDash val="solid"/>
              <a:headEnd type="none" w="med" len="med"/>
              <a:tailEnd type="none" w="med" len="med"/>
            </a:ln>
          </p:spPr>
        </p:sp>
        <p:sp>
          <p:nvSpPr>
            <p:cNvPr id="11285" name="Line 20"/>
            <p:cNvSpPr/>
            <p:nvPr/>
          </p:nvSpPr>
          <p:spPr>
            <a:xfrm flipH="1">
              <a:off x="948" y="1698"/>
              <a:ext cx="1252" cy="0"/>
            </a:xfrm>
            <a:prstGeom prst="line">
              <a:avLst/>
            </a:prstGeom>
            <a:ln w="12700" cap="flat" cmpd="sng">
              <a:solidFill>
                <a:schemeClr val="accent2"/>
              </a:solidFill>
              <a:prstDash val="solid"/>
              <a:headEnd type="none" w="med" len="med"/>
              <a:tailEnd type="none" w="med" len="med"/>
            </a:ln>
          </p:spPr>
        </p:sp>
        <p:sp>
          <p:nvSpPr>
            <p:cNvPr id="11286" name="Line 21"/>
            <p:cNvSpPr/>
            <p:nvPr/>
          </p:nvSpPr>
          <p:spPr>
            <a:xfrm>
              <a:off x="948" y="1698"/>
              <a:ext cx="0" cy="284"/>
            </a:xfrm>
            <a:prstGeom prst="line">
              <a:avLst/>
            </a:prstGeom>
            <a:ln w="12700" cap="flat" cmpd="sng">
              <a:solidFill>
                <a:schemeClr val="accent2"/>
              </a:solidFill>
              <a:prstDash val="solid"/>
              <a:headEnd type="none" w="med" len="med"/>
              <a:tailEnd type="none" w="med" len="med"/>
            </a:ln>
          </p:spPr>
        </p:sp>
        <p:sp>
          <p:nvSpPr>
            <p:cNvPr id="11287" name="Line 22"/>
            <p:cNvSpPr/>
            <p:nvPr/>
          </p:nvSpPr>
          <p:spPr>
            <a:xfrm>
              <a:off x="948" y="1982"/>
              <a:ext cx="226" cy="0"/>
            </a:xfrm>
            <a:prstGeom prst="line">
              <a:avLst/>
            </a:prstGeom>
            <a:ln w="12700" cap="flat" cmpd="sng">
              <a:solidFill>
                <a:schemeClr val="accent2"/>
              </a:solidFill>
              <a:prstDash val="solid"/>
              <a:headEnd type="none" w="med" len="med"/>
              <a:tailEnd type="none" w="med" len="med"/>
            </a:ln>
          </p:spPr>
        </p:sp>
        <p:sp>
          <p:nvSpPr>
            <p:cNvPr id="11288" name="Line 23"/>
            <p:cNvSpPr/>
            <p:nvPr/>
          </p:nvSpPr>
          <p:spPr>
            <a:xfrm>
              <a:off x="2835" y="1756"/>
              <a:ext cx="0" cy="368"/>
            </a:xfrm>
            <a:prstGeom prst="line">
              <a:avLst/>
            </a:prstGeom>
            <a:ln w="12700" cap="flat" cmpd="sng">
              <a:solidFill>
                <a:srgbClr val="008080"/>
              </a:solidFill>
              <a:prstDash val="dash"/>
              <a:headEnd type="none" w="med" len="med"/>
              <a:tailEnd type="none" w="med" len="med"/>
            </a:ln>
          </p:spPr>
        </p:sp>
        <p:sp>
          <p:nvSpPr>
            <p:cNvPr id="11289" name="Text Box 24"/>
            <p:cNvSpPr txBox="1"/>
            <p:nvPr/>
          </p:nvSpPr>
          <p:spPr>
            <a:xfrm>
              <a:off x="2715" y="1551"/>
              <a:ext cx="30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1290" name="Oval 25"/>
            <p:cNvSpPr/>
            <p:nvPr/>
          </p:nvSpPr>
          <p:spPr>
            <a:xfrm>
              <a:off x="2862" y="218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91" name="AutoShape 26"/>
            <p:cNvSpPr/>
            <p:nvPr/>
          </p:nvSpPr>
          <p:spPr>
            <a:xfrm rot="5400000">
              <a:off x="3724" y="1810"/>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92" name="Text Box 27"/>
            <p:cNvSpPr txBox="1"/>
            <p:nvPr/>
          </p:nvSpPr>
          <p:spPr>
            <a:xfrm>
              <a:off x="3707" y="1836"/>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1293" name="Text Box 28"/>
            <p:cNvSpPr txBox="1"/>
            <p:nvPr/>
          </p:nvSpPr>
          <p:spPr>
            <a:xfrm>
              <a:off x="3831" y="1953"/>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11294" name="Oval 29"/>
            <p:cNvSpPr/>
            <p:nvPr/>
          </p:nvSpPr>
          <p:spPr>
            <a:xfrm>
              <a:off x="3352" y="218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95" name="Line 30"/>
            <p:cNvSpPr/>
            <p:nvPr/>
          </p:nvSpPr>
          <p:spPr>
            <a:xfrm>
              <a:off x="3378" y="2207"/>
              <a:ext cx="0" cy="226"/>
            </a:xfrm>
            <a:prstGeom prst="line">
              <a:avLst/>
            </a:prstGeom>
            <a:ln w="12700" cap="flat" cmpd="sng">
              <a:solidFill>
                <a:schemeClr val="accent2"/>
              </a:solidFill>
              <a:prstDash val="solid"/>
              <a:headEnd type="none" w="med" len="med"/>
              <a:tailEnd type="none" w="med" len="med"/>
            </a:ln>
          </p:spPr>
        </p:sp>
        <p:sp>
          <p:nvSpPr>
            <p:cNvPr id="11296" name="Line 31"/>
            <p:cNvSpPr/>
            <p:nvPr/>
          </p:nvSpPr>
          <p:spPr>
            <a:xfrm>
              <a:off x="3378" y="2474"/>
              <a:ext cx="0" cy="260"/>
            </a:xfrm>
            <a:prstGeom prst="line">
              <a:avLst/>
            </a:prstGeom>
            <a:ln w="12700" cap="flat" cmpd="sng">
              <a:solidFill>
                <a:schemeClr val="accent2"/>
              </a:solidFill>
              <a:prstDash val="solid"/>
              <a:headEnd type="none" w="med" len="med"/>
              <a:tailEnd type="none" w="med" len="med"/>
            </a:ln>
          </p:spPr>
        </p:sp>
        <p:sp>
          <p:nvSpPr>
            <p:cNvPr id="11297" name="AutoShape 32"/>
            <p:cNvSpPr/>
            <p:nvPr/>
          </p:nvSpPr>
          <p:spPr>
            <a:xfrm rot="10800000">
              <a:off x="3224" y="2734"/>
              <a:ext cx="301" cy="150"/>
            </a:xfrm>
            <a:prstGeom prst="triangle">
              <a:avLst>
                <a:gd name="adj" fmla="val 50000"/>
              </a:avLst>
            </a:prstGeom>
            <a:no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98" name="Line 33"/>
            <p:cNvSpPr/>
            <p:nvPr/>
          </p:nvSpPr>
          <p:spPr>
            <a:xfrm>
              <a:off x="3279" y="2471"/>
              <a:ext cx="191" cy="0"/>
            </a:xfrm>
            <a:prstGeom prst="line">
              <a:avLst/>
            </a:prstGeom>
            <a:ln w="19050" cap="flat" cmpd="sng">
              <a:solidFill>
                <a:srgbClr val="000080"/>
              </a:solidFill>
              <a:prstDash val="solid"/>
              <a:headEnd type="none" w="med" len="med"/>
              <a:tailEnd type="none" w="med" len="med"/>
            </a:ln>
          </p:spPr>
        </p:sp>
        <p:sp>
          <p:nvSpPr>
            <p:cNvPr id="11299" name="Text Box 34"/>
            <p:cNvSpPr txBox="1"/>
            <p:nvPr/>
          </p:nvSpPr>
          <p:spPr>
            <a:xfrm>
              <a:off x="3428" y="2331"/>
              <a:ext cx="304"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1300" name="Text Box 35"/>
            <p:cNvSpPr txBox="1"/>
            <p:nvPr/>
          </p:nvSpPr>
          <p:spPr>
            <a:xfrm>
              <a:off x="3524" y="2682"/>
              <a:ext cx="551" cy="214"/>
            </a:xfrm>
            <a:prstGeom prst="rect">
              <a:avLst/>
            </a:prstGeom>
            <a:noFill/>
            <a:ln w="9525">
              <a:noFill/>
            </a:ln>
          </p:spPr>
          <p:txBody>
            <a:bodyPr wrap="none">
              <a:spAutoFit/>
            </a:bodyPr>
            <a:p>
              <a:pPr eaLnBrk="1" hangingPunct="1">
                <a:lnSpc>
                  <a:spcPct val="90000"/>
                </a:lnSpc>
              </a:pPr>
              <a:r>
                <a:rPr lang="zh-CN" altLang="en-US" sz="1800" dirty="0">
                  <a:latin typeface="Times New Roman" panose="02020603050405020304" pitchFamily="18" charset="0"/>
                </a:rPr>
                <a:t>模拟地</a:t>
              </a:r>
              <a:endParaRPr lang="zh-CN" altLang="en-US" sz="1800" baseline="-25000" dirty="0">
                <a:latin typeface="Times New Roman" panose="02020603050405020304" pitchFamily="18" charset="0"/>
              </a:endParaRPr>
            </a:p>
          </p:txBody>
        </p:sp>
        <p:sp>
          <p:nvSpPr>
            <p:cNvPr id="11301" name="Line 36"/>
            <p:cNvSpPr/>
            <p:nvPr/>
          </p:nvSpPr>
          <p:spPr>
            <a:xfrm flipV="1">
              <a:off x="4304" y="2098"/>
              <a:ext cx="708" cy="2"/>
            </a:xfrm>
            <a:prstGeom prst="line">
              <a:avLst/>
            </a:prstGeom>
            <a:ln w="12700" cap="flat" cmpd="sng">
              <a:solidFill>
                <a:schemeClr val="accent2"/>
              </a:solidFill>
              <a:prstDash val="solid"/>
              <a:headEnd type="none" w="med" len="med"/>
              <a:tailEnd type="none" w="med" len="med"/>
            </a:ln>
          </p:spPr>
        </p:sp>
        <p:sp>
          <p:nvSpPr>
            <p:cNvPr id="11302" name="Oval 37"/>
            <p:cNvSpPr/>
            <p:nvPr/>
          </p:nvSpPr>
          <p:spPr>
            <a:xfrm>
              <a:off x="5012" y="207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03" name="Text Box 38"/>
            <p:cNvSpPr txBox="1"/>
            <p:nvPr/>
          </p:nvSpPr>
          <p:spPr>
            <a:xfrm>
              <a:off x="5074" y="1977"/>
              <a:ext cx="313"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1304" name="Oval 39"/>
            <p:cNvSpPr/>
            <p:nvPr/>
          </p:nvSpPr>
          <p:spPr>
            <a:xfrm>
              <a:off x="4717" y="206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05" name="Line 40"/>
            <p:cNvSpPr/>
            <p:nvPr/>
          </p:nvSpPr>
          <p:spPr>
            <a:xfrm flipV="1">
              <a:off x="4747" y="1684"/>
              <a:ext cx="0" cy="406"/>
            </a:xfrm>
            <a:prstGeom prst="line">
              <a:avLst/>
            </a:prstGeom>
            <a:ln w="12700" cap="flat" cmpd="sng">
              <a:solidFill>
                <a:schemeClr val="accent2"/>
              </a:solidFill>
              <a:prstDash val="solid"/>
              <a:headEnd type="none" w="med" len="med"/>
              <a:tailEnd type="none" w="med" len="med"/>
            </a:ln>
          </p:spPr>
        </p:sp>
        <p:sp>
          <p:nvSpPr>
            <p:cNvPr id="11306" name="Line 41"/>
            <p:cNvSpPr/>
            <p:nvPr/>
          </p:nvSpPr>
          <p:spPr>
            <a:xfrm flipH="1">
              <a:off x="3486" y="1684"/>
              <a:ext cx="1261" cy="0"/>
            </a:xfrm>
            <a:prstGeom prst="line">
              <a:avLst/>
            </a:prstGeom>
            <a:ln w="12700" cap="flat" cmpd="sng">
              <a:solidFill>
                <a:schemeClr val="accent2"/>
              </a:solidFill>
              <a:prstDash val="solid"/>
              <a:headEnd type="none" w="med" len="med"/>
              <a:tailEnd type="none" w="med" len="med"/>
            </a:ln>
          </p:spPr>
        </p:sp>
        <p:sp>
          <p:nvSpPr>
            <p:cNvPr id="11307" name="Line 42"/>
            <p:cNvSpPr/>
            <p:nvPr/>
          </p:nvSpPr>
          <p:spPr>
            <a:xfrm>
              <a:off x="3486" y="1684"/>
              <a:ext cx="0" cy="298"/>
            </a:xfrm>
            <a:prstGeom prst="line">
              <a:avLst/>
            </a:prstGeom>
            <a:ln w="12700" cap="flat" cmpd="sng">
              <a:solidFill>
                <a:schemeClr val="accent2"/>
              </a:solidFill>
              <a:prstDash val="solid"/>
              <a:headEnd type="none" w="med" len="med"/>
              <a:tailEnd type="none" w="med" len="med"/>
            </a:ln>
          </p:spPr>
        </p:sp>
        <p:sp>
          <p:nvSpPr>
            <p:cNvPr id="11308" name="Line 43"/>
            <p:cNvSpPr/>
            <p:nvPr/>
          </p:nvSpPr>
          <p:spPr>
            <a:xfrm>
              <a:off x="3486" y="1982"/>
              <a:ext cx="234" cy="0"/>
            </a:xfrm>
            <a:prstGeom prst="line">
              <a:avLst/>
            </a:prstGeom>
            <a:ln w="12700" cap="flat" cmpd="sng">
              <a:solidFill>
                <a:schemeClr val="accent2"/>
              </a:solidFill>
              <a:prstDash val="solid"/>
              <a:headEnd type="none" w="med" len="med"/>
              <a:tailEnd type="none" w="med" len="med"/>
            </a:ln>
          </p:spPr>
        </p:sp>
        <p:sp>
          <p:nvSpPr>
            <p:cNvPr id="11309" name="Text Box 44"/>
            <p:cNvSpPr txBox="1"/>
            <p:nvPr/>
          </p:nvSpPr>
          <p:spPr>
            <a:xfrm>
              <a:off x="605" y="2711"/>
              <a:ext cx="1920" cy="231"/>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串联型采样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1310" name="Line 45"/>
            <p:cNvSpPr/>
            <p:nvPr/>
          </p:nvSpPr>
          <p:spPr>
            <a:xfrm flipV="1">
              <a:off x="725" y="2207"/>
              <a:ext cx="449" cy="1"/>
            </a:xfrm>
            <a:prstGeom prst="line">
              <a:avLst/>
            </a:prstGeom>
            <a:ln w="12700" cap="flat" cmpd="sng">
              <a:solidFill>
                <a:schemeClr val="accent2"/>
              </a:solidFill>
              <a:prstDash val="solid"/>
              <a:headEnd type="none" w="med" len="med"/>
              <a:tailEnd type="none" w="med" len="med"/>
            </a:ln>
          </p:spPr>
        </p:sp>
        <p:sp>
          <p:nvSpPr>
            <p:cNvPr id="11311" name="Line 46"/>
            <p:cNvSpPr/>
            <p:nvPr/>
          </p:nvSpPr>
          <p:spPr>
            <a:xfrm>
              <a:off x="2927" y="2207"/>
              <a:ext cx="793" cy="0"/>
            </a:xfrm>
            <a:prstGeom prst="line">
              <a:avLst/>
            </a:prstGeom>
            <a:ln w="12700" cap="flat" cmpd="sng">
              <a:solidFill>
                <a:schemeClr val="accent2"/>
              </a:solidFill>
              <a:prstDash val="solid"/>
              <a:headEnd type="none" w="med" len="med"/>
              <a:tailEnd type="none" w="med" len="med"/>
            </a:ln>
          </p:spPr>
        </p:sp>
        <p:sp>
          <p:nvSpPr>
            <p:cNvPr id="11312" name="Line 47"/>
            <p:cNvSpPr/>
            <p:nvPr/>
          </p:nvSpPr>
          <p:spPr>
            <a:xfrm>
              <a:off x="3279" y="2433"/>
              <a:ext cx="191" cy="0"/>
            </a:xfrm>
            <a:prstGeom prst="line">
              <a:avLst/>
            </a:prstGeom>
            <a:ln w="19050" cap="flat" cmpd="sng">
              <a:solidFill>
                <a:srgbClr val="000080"/>
              </a:solidFill>
              <a:prstDash val="solid"/>
              <a:headEnd type="none" w="med" len="med"/>
              <a:tailEnd type="none" w="med" len="med"/>
            </a:ln>
          </p:spPr>
        </p:sp>
        <p:sp>
          <p:nvSpPr>
            <p:cNvPr id="11313" name="Oval 48"/>
            <p:cNvSpPr/>
            <p:nvPr/>
          </p:nvSpPr>
          <p:spPr>
            <a:xfrm>
              <a:off x="2172" y="207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15666" name="Text Box 50"/>
          <p:cNvSpPr txBox="1"/>
          <p:nvPr/>
        </p:nvSpPr>
        <p:spPr>
          <a:xfrm>
            <a:off x="976313" y="4941888"/>
            <a:ext cx="7451725" cy="822325"/>
          </a:xfrm>
          <a:prstGeom prst="rect">
            <a:avLst/>
          </a:prstGeom>
          <a:noFill/>
          <a:ln w="9525">
            <a:noFill/>
          </a:ln>
        </p:spPr>
        <p:txBody>
          <a:bodyPr>
            <a:spAutoFit/>
          </a:bodyPr>
          <a:p>
            <a:pPr eaLnBrk="1" hangingPunct="1"/>
            <a:r>
              <a:rPr lang="en-US" altLang="zh-CN" sz="2400" i="1" dirty="0">
                <a:solidFill>
                  <a:srgbClr val="FF0000"/>
                </a:solidFill>
                <a:latin typeface="Times New Roman" panose="02020603050405020304" pitchFamily="18" charset="0"/>
                <a:ea typeface="宋体" panose="02010600030101010101" pitchFamily="2" charset="-122"/>
              </a:rPr>
              <a:t>K</a:t>
            </a:r>
            <a:r>
              <a:rPr lang="zh-CN" altLang="en-US" sz="2400" dirty="0">
                <a:solidFill>
                  <a:schemeClr val="tx1"/>
                </a:solidFill>
                <a:latin typeface="Times New Roman" panose="02020603050405020304" pitchFamily="18" charset="0"/>
              </a:rPr>
              <a:t>是模拟开关，由控制信号电压</a:t>
            </a:r>
            <a:r>
              <a:rPr lang="en-US" altLang="zh-CN" sz="2400" i="1" dirty="0">
                <a:solidFill>
                  <a:srgbClr val="FF0000"/>
                </a:solidFill>
                <a:latin typeface="Times New Roman" panose="02020603050405020304" pitchFamily="18" charset="0"/>
                <a:ea typeface="宋体" panose="02010600030101010101" pitchFamily="2" charset="-122"/>
              </a:rPr>
              <a:t>U</a:t>
            </a:r>
            <a:r>
              <a:rPr lang="en-US" altLang="zh-CN" sz="2400" i="1" baseline="-25000" dirty="0">
                <a:solidFill>
                  <a:srgbClr val="FF0000"/>
                </a:solidFill>
                <a:latin typeface="Times New Roman" panose="02020603050405020304" pitchFamily="18" charset="0"/>
                <a:ea typeface="宋体" panose="02010600030101010101" pitchFamily="2" charset="-122"/>
              </a:rPr>
              <a:t>K</a:t>
            </a:r>
            <a:r>
              <a:rPr lang="zh-CN" altLang="en-US" sz="2400" dirty="0">
                <a:solidFill>
                  <a:schemeClr val="tx1"/>
                </a:solidFill>
                <a:latin typeface="Times New Roman" panose="02020603050405020304" pitchFamily="18" charset="0"/>
              </a:rPr>
              <a:t>控制其断开或闭合</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i="1" baseline="-25000" dirty="0">
                <a:solidFill>
                  <a:srgbClr val="FF0000"/>
                </a:solidFill>
                <a:latin typeface="Times New Roman" panose="02020603050405020304" pitchFamily="18" charset="0"/>
                <a:ea typeface="宋体" panose="02010600030101010101" pitchFamily="2" charset="-122"/>
              </a:rPr>
              <a:t>H</a:t>
            </a:r>
            <a:r>
              <a:rPr lang="zh-CN" altLang="en-US" sz="2400" dirty="0">
                <a:solidFill>
                  <a:schemeClr val="tx1"/>
                </a:solidFill>
                <a:latin typeface="Times New Roman" panose="02020603050405020304" pitchFamily="18" charset="0"/>
              </a:rPr>
              <a:t>是保持电容器</a:t>
            </a:r>
            <a:r>
              <a:rPr lang="zh-CN" altLang="en-US" sz="2400" dirty="0">
                <a:solidFill>
                  <a:schemeClr val="tx1"/>
                </a:solidFill>
                <a:latin typeface="Times New Roman" panose="02020603050405020304" pitchFamily="18" charset="0"/>
                <a:ea typeface="宋体" panose="02010600030101010101" pitchFamily="2" charset="-122"/>
              </a:rPr>
              <a:t>。 </a:t>
            </a:r>
            <a:endParaRPr lang="zh-CN" altLang="en-US" sz="2400" dirty="0">
              <a:solidFill>
                <a:schemeClr val="tx1"/>
              </a:solidFill>
              <a:latin typeface="Times New Roman" panose="02020603050405020304" pitchFamily="18" charset="0"/>
              <a:ea typeface="宋体" panose="02010600030101010101" pitchFamily="2"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5666"/>
                                        </p:tgtEl>
                                        <p:attrNameLst>
                                          <p:attrName>style.visibility</p:attrName>
                                        </p:attrNameLst>
                                      </p:cBhvr>
                                      <p:to>
                                        <p:strVal val="visible"/>
                                      </p:to>
                                    </p:set>
                                    <p:animEffect transition="in" filter="dissolve">
                                      <p:cBhvr>
                                        <p:cTn id="7" dur="500"/>
                                        <p:tgtEl>
                                          <p:spTgt spid="24156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5666"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6642" name="Text Box 2"/>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2291" name="Text Box 4"/>
          <p:cNvSpPr txBox="1"/>
          <p:nvPr/>
        </p:nvSpPr>
        <p:spPr>
          <a:xfrm>
            <a:off x="647700" y="1484313"/>
            <a:ext cx="3402013" cy="457200"/>
          </a:xfrm>
          <a:prstGeom prst="rect">
            <a:avLst/>
          </a:prstGeom>
          <a:noFill/>
          <a:ln w="9525">
            <a:noFill/>
          </a:ln>
        </p:spPr>
        <p:txBody>
          <a:bodyPr wrap="none">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按结构分为两种类型：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2292" name="Text Box 5"/>
          <p:cNvSpPr txBox="1"/>
          <p:nvPr/>
        </p:nvSpPr>
        <p:spPr>
          <a:xfrm>
            <a:off x="900113" y="1941513"/>
            <a:ext cx="4537075" cy="519112"/>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1. </a:t>
            </a:r>
            <a:r>
              <a:rPr lang="zh-CN" altLang="en-US" sz="2800" dirty="0">
                <a:solidFill>
                  <a:srgbClr val="FF0000"/>
                </a:solidFill>
                <a:latin typeface="Times New Roman" panose="02020603050405020304" pitchFamily="18" charset="0"/>
              </a:rPr>
              <a:t>串联型采样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grpSp>
        <p:nvGrpSpPr>
          <p:cNvPr id="12293" name="Group 6"/>
          <p:cNvGrpSpPr/>
          <p:nvPr/>
        </p:nvGrpSpPr>
        <p:grpSpPr>
          <a:xfrm>
            <a:off x="663575" y="2462213"/>
            <a:ext cx="7904163" cy="2262187"/>
            <a:chOff x="408" y="1551"/>
            <a:chExt cx="4979" cy="1425"/>
          </a:xfrm>
        </p:grpSpPr>
        <p:sp>
          <p:nvSpPr>
            <p:cNvPr id="12296" name="Rectangle 7"/>
            <p:cNvSpPr/>
            <p:nvPr/>
          </p:nvSpPr>
          <p:spPr>
            <a:xfrm>
              <a:off x="408" y="1551"/>
              <a:ext cx="4979" cy="142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297" name="Text Box 8"/>
            <p:cNvSpPr txBox="1"/>
            <p:nvPr/>
          </p:nvSpPr>
          <p:spPr>
            <a:xfrm>
              <a:off x="408" y="2073"/>
              <a:ext cx="26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2298" name="Oval 9"/>
            <p:cNvSpPr/>
            <p:nvPr/>
          </p:nvSpPr>
          <p:spPr>
            <a:xfrm>
              <a:off x="669"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299" name="AutoShape 10"/>
            <p:cNvSpPr/>
            <p:nvPr/>
          </p:nvSpPr>
          <p:spPr>
            <a:xfrm rot="5400000">
              <a:off x="1174" y="1814"/>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00" name="Text Box 11"/>
            <p:cNvSpPr txBox="1"/>
            <p:nvPr/>
          </p:nvSpPr>
          <p:spPr>
            <a:xfrm>
              <a:off x="1157" y="1848"/>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2301" name="Text Box 12"/>
            <p:cNvSpPr txBox="1"/>
            <p:nvPr/>
          </p:nvSpPr>
          <p:spPr>
            <a:xfrm>
              <a:off x="1290" y="1956"/>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12302" name="Line 13"/>
            <p:cNvSpPr/>
            <p:nvPr/>
          </p:nvSpPr>
          <p:spPr>
            <a:xfrm>
              <a:off x="1750" y="2106"/>
              <a:ext cx="450" cy="0"/>
            </a:xfrm>
            <a:prstGeom prst="line">
              <a:avLst/>
            </a:prstGeom>
            <a:ln w="12700" cap="flat" cmpd="sng">
              <a:solidFill>
                <a:schemeClr val="accent2"/>
              </a:solidFill>
              <a:prstDash val="solid"/>
              <a:headEnd type="none" w="med" len="med"/>
              <a:tailEnd type="none" w="med" len="med"/>
            </a:ln>
          </p:spPr>
        </p:sp>
        <p:sp>
          <p:nvSpPr>
            <p:cNvPr id="12303" name="Line 14"/>
            <p:cNvSpPr/>
            <p:nvPr/>
          </p:nvSpPr>
          <p:spPr>
            <a:xfrm>
              <a:off x="2200" y="2107"/>
              <a:ext cx="0" cy="100"/>
            </a:xfrm>
            <a:prstGeom prst="line">
              <a:avLst/>
            </a:prstGeom>
            <a:ln w="12700" cap="flat" cmpd="sng">
              <a:solidFill>
                <a:schemeClr val="accent2"/>
              </a:solidFill>
              <a:prstDash val="solid"/>
              <a:headEnd type="none" w="med" len="med"/>
              <a:tailEnd type="none" w="med" len="med"/>
            </a:ln>
          </p:spPr>
        </p:sp>
        <p:sp>
          <p:nvSpPr>
            <p:cNvPr id="12304" name="Line 15"/>
            <p:cNvSpPr/>
            <p:nvPr/>
          </p:nvSpPr>
          <p:spPr>
            <a:xfrm>
              <a:off x="2200" y="2207"/>
              <a:ext cx="435" cy="0"/>
            </a:xfrm>
            <a:prstGeom prst="line">
              <a:avLst/>
            </a:prstGeom>
            <a:ln w="12700" cap="flat" cmpd="sng">
              <a:solidFill>
                <a:schemeClr val="accent2"/>
              </a:solidFill>
              <a:prstDash val="solid"/>
              <a:headEnd type="none" w="med" len="med"/>
              <a:tailEnd type="none" w="med" len="med"/>
            </a:ln>
          </p:spPr>
        </p:sp>
        <p:sp>
          <p:nvSpPr>
            <p:cNvPr id="12305" name="Oval 16"/>
            <p:cNvSpPr/>
            <p:nvPr/>
          </p:nvSpPr>
          <p:spPr>
            <a:xfrm>
              <a:off x="2640"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06" name="Line 17"/>
            <p:cNvSpPr/>
            <p:nvPr/>
          </p:nvSpPr>
          <p:spPr>
            <a:xfrm flipV="1">
              <a:off x="2693" y="2074"/>
              <a:ext cx="250" cy="116"/>
            </a:xfrm>
            <a:prstGeom prst="line">
              <a:avLst/>
            </a:prstGeom>
            <a:ln w="19050" cap="flat" cmpd="sng">
              <a:solidFill>
                <a:srgbClr val="000080"/>
              </a:solidFill>
              <a:prstDash val="solid"/>
              <a:headEnd type="none" w="med" len="med"/>
              <a:tailEnd type="none" w="med" len="med"/>
            </a:ln>
          </p:spPr>
        </p:sp>
        <p:sp>
          <p:nvSpPr>
            <p:cNvPr id="12307" name="Text Box 18"/>
            <p:cNvSpPr txBox="1"/>
            <p:nvPr/>
          </p:nvSpPr>
          <p:spPr>
            <a:xfrm>
              <a:off x="2677" y="2239"/>
              <a:ext cx="22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endParaRPr lang="en-US" altLang="zh-CN" sz="2000" i="1" dirty="0">
                <a:latin typeface="Times New Roman" panose="02020603050405020304" pitchFamily="18" charset="0"/>
              </a:endParaRPr>
            </a:p>
          </p:txBody>
        </p:sp>
        <p:sp>
          <p:nvSpPr>
            <p:cNvPr id="12308" name="Line 19"/>
            <p:cNvSpPr/>
            <p:nvPr/>
          </p:nvSpPr>
          <p:spPr>
            <a:xfrm flipV="1">
              <a:off x="2200" y="1698"/>
              <a:ext cx="0" cy="408"/>
            </a:xfrm>
            <a:prstGeom prst="line">
              <a:avLst/>
            </a:prstGeom>
            <a:ln w="12700" cap="flat" cmpd="sng">
              <a:solidFill>
                <a:schemeClr val="accent2"/>
              </a:solidFill>
              <a:prstDash val="solid"/>
              <a:headEnd type="none" w="med" len="med"/>
              <a:tailEnd type="none" w="med" len="med"/>
            </a:ln>
          </p:spPr>
        </p:sp>
        <p:sp>
          <p:nvSpPr>
            <p:cNvPr id="12309" name="Line 20"/>
            <p:cNvSpPr/>
            <p:nvPr/>
          </p:nvSpPr>
          <p:spPr>
            <a:xfrm flipH="1">
              <a:off x="948" y="1698"/>
              <a:ext cx="1252" cy="0"/>
            </a:xfrm>
            <a:prstGeom prst="line">
              <a:avLst/>
            </a:prstGeom>
            <a:ln w="12700" cap="flat" cmpd="sng">
              <a:solidFill>
                <a:schemeClr val="accent2"/>
              </a:solidFill>
              <a:prstDash val="solid"/>
              <a:headEnd type="none" w="med" len="med"/>
              <a:tailEnd type="none" w="med" len="med"/>
            </a:ln>
          </p:spPr>
        </p:sp>
        <p:sp>
          <p:nvSpPr>
            <p:cNvPr id="12310" name="Line 21"/>
            <p:cNvSpPr/>
            <p:nvPr/>
          </p:nvSpPr>
          <p:spPr>
            <a:xfrm>
              <a:off x="948" y="1698"/>
              <a:ext cx="0" cy="284"/>
            </a:xfrm>
            <a:prstGeom prst="line">
              <a:avLst/>
            </a:prstGeom>
            <a:ln w="12700" cap="flat" cmpd="sng">
              <a:solidFill>
                <a:schemeClr val="accent2"/>
              </a:solidFill>
              <a:prstDash val="solid"/>
              <a:headEnd type="none" w="med" len="med"/>
              <a:tailEnd type="none" w="med" len="med"/>
            </a:ln>
          </p:spPr>
        </p:sp>
        <p:sp>
          <p:nvSpPr>
            <p:cNvPr id="12311" name="Line 22"/>
            <p:cNvSpPr/>
            <p:nvPr/>
          </p:nvSpPr>
          <p:spPr>
            <a:xfrm>
              <a:off x="948" y="1982"/>
              <a:ext cx="226" cy="0"/>
            </a:xfrm>
            <a:prstGeom prst="line">
              <a:avLst/>
            </a:prstGeom>
            <a:ln w="12700" cap="flat" cmpd="sng">
              <a:solidFill>
                <a:schemeClr val="accent2"/>
              </a:solidFill>
              <a:prstDash val="solid"/>
              <a:headEnd type="none" w="med" len="med"/>
              <a:tailEnd type="none" w="med" len="med"/>
            </a:ln>
          </p:spPr>
        </p:sp>
        <p:sp>
          <p:nvSpPr>
            <p:cNvPr id="12312" name="Line 23"/>
            <p:cNvSpPr/>
            <p:nvPr/>
          </p:nvSpPr>
          <p:spPr>
            <a:xfrm>
              <a:off x="2835" y="1756"/>
              <a:ext cx="0" cy="368"/>
            </a:xfrm>
            <a:prstGeom prst="line">
              <a:avLst/>
            </a:prstGeom>
            <a:ln w="12700" cap="flat" cmpd="sng">
              <a:solidFill>
                <a:srgbClr val="008080"/>
              </a:solidFill>
              <a:prstDash val="dash"/>
              <a:headEnd type="none" w="med" len="med"/>
              <a:tailEnd type="none" w="med" len="med"/>
            </a:ln>
          </p:spPr>
        </p:sp>
        <p:sp>
          <p:nvSpPr>
            <p:cNvPr id="12313" name="Text Box 24"/>
            <p:cNvSpPr txBox="1"/>
            <p:nvPr/>
          </p:nvSpPr>
          <p:spPr>
            <a:xfrm>
              <a:off x="2715" y="1551"/>
              <a:ext cx="30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2314" name="Oval 25"/>
            <p:cNvSpPr/>
            <p:nvPr/>
          </p:nvSpPr>
          <p:spPr>
            <a:xfrm>
              <a:off x="2862" y="218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15" name="AutoShape 26"/>
            <p:cNvSpPr/>
            <p:nvPr/>
          </p:nvSpPr>
          <p:spPr>
            <a:xfrm rot="5400000">
              <a:off x="3724" y="1810"/>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16" name="Text Box 27"/>
            <p:cNvSpPr txBox="1"/>
            <p:nvPr/>
          </p:nvSpPr>
          <p:spPr>
            <a:xfrm>
              <a:off x="3707" y="1836"/>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2317" name="Text Box 28"/>
            <p:cNvSpPr txBox="1"/>
            <p:nvPr/>
          </p:nvSpPr>
          <p:spPr>
            <a:xfrm>
              <a:off x="3831" y="1953"/>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12318" name="Oval 29"/>
            <p:cNvSpPr/>
            <p:nvPr/>
          </p:nvSpPr>
          <p:spPr>
            <a:xfrm>
              <a:off x="3352" y="218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19" name="Line 30"/>
            <p:cNvSpPr/>
            <p:nvPr/>
          </p:nvSpPr>
          <p:spPr>
            <a:xfrm>
              <a:off x="3378" y="2207"/>
              <a:ext cx="0" cy="226"/>
            </a:xfrm>
            <a:prstGeom prst="line">
              <a:avLst/>
            </a:prstGeom>
            <a:ln w="12700" cap="flat" cmpd="sng">
              <a:solidFill>
                <a:schemeClr val="accent2"/>
              </a:solidFill>
              <a:prstDash val="solid"/>
              <a:headEnd type="none" w="med" len="med"/>
              <a:tailEnd type="none" w="med" len="med"/>
            </a:ln>
          </p:spPr>
        </p:sp>
        <p:sp>
          <p:nvSpPr>
            <p:cNvPr id="12320" name="Line 31"/>
            <p:cNvSpPr/>
            <p:nvPr/>
          </p:nvSpPr>
          <p:spPr>
            <a:xfrm>
              <a:off x="3378" y="2474"/>
              <a:ext cx="0" cy="260"/>
            </a:xfrm>
            <a:prstGeom prst="line">
              <a:avLst/>
            </a:prstGeom>
            <a:ln w="12700" cap="flat" cmpd="sng">
              <a:solidFill>
                <a:schemeClr val="accent2"/>
              </a:solidFill>
              <a:prstDash val="solid"/>
              <a:headEnd type="none" w="med" len="med"/>
              <a:tailEnd type="none" w="med" len="med"/>
            </a:ln>
          </p:spPr>
        </p:sp>
        <p:sp>
          <p:nvSpPr>
            <p:cNvPr id="12321" name="AutoShape 32"/>
            <p:cNvSpPr/>
            <p:nvPr/>
          </p:nvSpPr>
          <p:spPr>
            <a:xfrm rot="10800000">
              <a:off x="3224" y="2734"/>
              <a:ext cx="301" cy="150"/>
            </a:xfrm>
            <a:prstGeom prst="triangle">
              <a:avLst>
                <a:gd name="adj" fmla="val 50000"/>
              </a:avLst>
            </a:prstGeom>
            <a:no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22" name="Line 33"/>
            <p:cNvSpPr/>
            <p:nvPr/>
          </p:nvSpPr>
          <p:spPr>
            <a:xfrm>
              <a:off x="3279" y="2471"/>
              <a:ext cx="191" cy="0"/>
            </a:xfrm>
            <a:prstGeom prst="line">
              <a:avLst/>
            </a:prstGeom>
            <a:ln w="19050" cap="flat" cmpd="sng">
              <a:solidFill>
                <a:srgbClr val="000080"/>
              </a:solidFill>
              <a:prstDash val="solid"/>
              <a:headEnd type="none" w="med" len="med"/>
              <a:tailEnd type="none" w="med" len="med"/>
            </a:ln>
          </p:spPr>
        </p:sp>
        <p:sp>
          <p:nvSpPr>
            <p:cNvPr id="12323" name="Text Box 34"/>
            <p:cNvSpPr txBox="1"/>
            <p:nvPr/>
          </p:nvSpPr>
          <p:spPr>
            <a:xfrm>
              <a:off x="3428" y="2331"/>
              <a:ext cx="304"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2324" name="Text Box 35"/>
            <p:cNvSpPr txBox="1"/>
            <p:nvPr/>
          </p:nvSpPr>
          <p:spPr>
            <a:xfrm>
              <a:off x="3524" y="2682"/>
              <a:ext cx="551" cy="214"/>
            </a:xfrm>
            <a:prstGeom prst="rect">
              <a:avLst/>
            </a:prstGeom>
            <a:noFill/>
            <a:ln w="9525">
              <a:noFill/>
            </a:ln>
          </p:spPr>
          <p:txBody>
            <a:bodyPr wrap="none">
              <a:spAutoFit/>
            </a:bodyPr>
            <a:p>
              <a:pPr eaLnBrk="1" hangingPunct="1">
                <a:lnSpc>
                  <a:spcPct val="90000"/>
                </a:lnSpc>
              </a:pPr>
              <a:r>
                <a:rPr lang="zh-CN" altLang="en-US" sz="1800" dirty="0">
                  <a:latin typeface="Times New Roman" panose="02020603050405020304" pitchFamily="18" charset="0"/>
                </a:rPr>
                <a:t>模拟地</a:t>
              </a:r>
              <a:endParaRPr lang="zh-CN" altLang="en-US" sz="1800" baseline="-25000" dirty="0">
                <a:latin typeface="Times New Roman" panose="02020603050405020304" pitchFamily="18" charset="0"/>
              </a:endParaRPr>
            </a:p>
          </p:txBody>
        </p:sp>
        <p:sp>
          <p:nvSpPr>
            <p:cNvPr id="12325" name="Line 36"/>
            <p:cNvSpPr/>
            <p:nvPr/>
          </p:nvSpPr>
          <p:spPr>
            <a:xfrm flipV="1">
              <a:off x="4304" y="2098"/>
              <a:ext cx="708" cy="2"/>
            </a:xfrm>
            <a:prstGeom prst="line">
              <a:avLst/>
            </a:prstGeom>
            <a:ln w="12700" cap="flat" cmpd="sng">
              <a:solidFill>
                <a:schemeClr val="accent2"/>
              </a:solidFill>
              <a:prstDash val="solid"/>
              <a:headEnd type="none" w="med" len="med"/>
              <a:tailEnd type="none" w="med" len="med"/>
            </a:ln>
          </p:spPr>
        </p:sp>
        <p:sp>
          <p:nvSpPr>
            <p:cNvPr id="12326" name="Oval 37"/>
            <p:cNvSpPr/>
            <p:nvPr/>
          </p:nvSpPr>
          <p:spPr>
            <a:xfrm>
              <a:off x="5012" y="207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27" name="Text Box 38"/>
            <p:cNvSpPr txBox="1"/>
            <p:nvPr/>
          </p:nvSpPr>
          <p:spPr>
            <a:xfrm>
              <a:off x="5074" y="1977"/>
              <a:ext cx="313"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2328" name="Oval 39"/>
            <p:cNvSpPr/>
            <p:nvPr/>
          </p:nvSpPr>
          <p:spPr>
            <a:xfrm>
              <a:off x="4717" y="206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2329" name="Line 40"/>
            <p:cNvSpPr/>
            <p:nvPr/>
          </p:nvSpPr>
          <p:spPr>
            <a:xfrm flipV="1">
              <a:off x="4747" y="1684"/>
              <a:ext cx="0" cy="406"/>
            </a:xfrm>
            <a:prstGeom prst="line">
              <a:avLst/>
            </a:prstGeom>
            <a:ln w="12700" cap="flat" cmpd="sng">
              <a:solidFill>
                <a:schemeClr val="accent2"/>
              </a:solidFill>
              <a:prstDash val="solid"/>
              <a:headEnd type="none" w="med" len="med"/>
              <a:tailEnd type="none" w="med" len="med"/>
            </a:ln>
          </p:spPr>
        </p:sp>
        <p:sp>
          <p:nvSpPr>
            <p:cNvPr id="12330" name="Line 41"/>
            <p:cNvSpPr/>
            <p:nvPr/>
          </p:nvSpPr>
          <p:spPr>
            <a:xfrm flipH="1">
              <a:off x="3486" y="1684"/>
              <a:ext cx="1261" cy="0"/>
            </a:xfrm>
            <a:prstGeom prst="line">
              <a:avLst/>
            </a:prstGeom>
            <a:ln w="12700" cap="flat" cmpd="sng">
              <a:solidFill>
                <a:schemeClr val="accent2"/>
              </a:solidFill>
              <a:prstDash val="solid"/>
              <a:headEnd type="none" w="med" len="med"/>
              <a:tailEnd type="none" w="med" len="med"/>
            </a:ln>
          </p:spPr>
        </p:sp>
        <p:sp>
          <p:nvSpPr>
            <p:cNvPr id="12331" name="Line 42"/>
            <p:cNvSpPr/>
            <p:nvPr/>
          </p:nvSpPr>
          <p:spPr>
            <a:xfrm>
              <a:off x="3486" y="1684"/>
              <a:ext cx="0" cy="298"/>
            </a:xfrm>
            <a:prstGeom prst="line">
              <a:avLst/>
            </a:prstGeom>
            <a:ln w="12700" cap="flat" cmpd="sng">
              <a:solidFill>
                <a:schemeClr val="accent2"/>
              </a:solidFill>
              <a:prstDash val="solid"/>
              <a:headEnd type="none" w="med" len="med"/>
              <a:tailEnd type="none" w="med" len="med"/>
            </a:ln>
          </p:spPr>
        </p:sp>
        <p:sp>
          <p:nvSpPr>
            <p:cNvPr id="12332" name="Line 43"/>
            <p:cNvSpPr/>
            <p:nvPr/>
          </p:nvSpPr>
          <p:spPr>
            <a:xfrm>
              <a:off x="3486" y="1982"/>
              <a:ext cx="234" cy="0"/>
            </a:xfrm>
            <a:prstGeom prst="line">
              <a:avLst/>
            </a:prstGeom>
            <a:ln w="12700" cap="flat" cmpd="sng">
              <a:solidFill>
                <a:schemeClr val="accent2"/>
              </a:solidFill>
              <a:prstDash val="solid"/>
              <a:headEnd type="none" w="med" len="med"/>
              <a:tailEnd type="none" w="med" len="med"/>
            </a:ln>
          </p:spPr>
        </p:sp>
        <p:sp>
          <p:nvSpPr>
            <p:cNvPr id="12333" name="Text Box 44"/>
            <p:cNvSpPr txBox="1"/>
            <p:nvPr/>
          </p:nvSpPr>
          <p:spPr>
            <a:xfrm>
              <a:off x="605" y="2711"/>
              <a:ext cx="1920" cy="231"/>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串联型采样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2334" name="Line 45"/>
            <p:cNvSpPr/>
            <p:nvPr/>
          </p:nvSpPr>
          <p:spPr>
            <a:xfrm flipV="1">
              <a:off x="725" y="2207"/>
              <a:ext cx="449" cy="1"/>
            </a:xfrm>
            <a:prstGeom prst="line">
              <a:avLst/>
            </a:prstGeom>
            <a:ln w="12700" cap="flat" cmpd="sng">
              <a:solidFill>
                <a:schemeClr val="accent2"/>
              </a:solidFill>
              <a:prstDash val="solid"/>
              <a:headEnd type="none" w="med" len="med"/>
              <a:tailEnd type="none" w="med" len="med"/>
            </a:ln>
          </p:spPr>
        </p:sp>
        <p:sp>
          <p:nvSpPr>
            <p:cNvPr id="12335" name="Line 46"/>
            <p:cNvSpPr/>
            <p:nvPr/>
          </p:nvSpPr>
          <p:spPr>
            <a:xfrm>
              <a:off x="2927" y="2207"/>
              <a:ext cx="793" cy="0"/>
            </a:xfrm>
            <a:prstGeom prst="line">
              <a:avLst/>
            </a:prstGeom>
            <a:ln w="12700" cap="flat" cmpd="sng">
              <a:solidFill>
                <a:schemeClr val="accent2"/>
              </a:solidFill>
              <a:prstDash val="solid"/>
              <a:headEnd type="none" w="med" len="med"/>
              <a:tailEnd type="none" w="med" len="med"/>
            </a:ln>
          </p:spPr>
        </p:sp>
        <p:sp>
          <p:nvSpPr>
            <p:cNvPr id="12336" name="Line 47"/>
            <p:cNvSpPr/>
            <p:nvPr/>
          </p:nvSpPr>
          <p:spPr>
            <a:xfrm>
              <a:off x="3279" y="2433"/>
              <a:ext cx="191" cy="0"/>
            </a:xfrm>
            <a:prstGeom prst="line">
              <a:avLst/>
            </a:prstGeom>
            <a:ln w="19050" cap="flat" cmpd="sng">
              <a:solidFill>
                <a:srgbClr val="000080"/>
              </a:solidFill>
              <a:prstDash val="solid"/>
              <a:headEnd type="none" w="med" len="med"/>
              <a:tailEnd type="none" w="med" len="med"/>
            </a:ln>
          </p:spPr>
        </p:sp>
        <p:sp>
          <p:nvSpPr>
            <p:cNvPr id="12337" name="Oval 48"/>
            <p:cNvSpPr/>
            <p:nvPr/>
          </p:nvSpPr>
          <p:spPr>
            <a:xfrm>
              <a:off x="2172" y="207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16689" name="Text Box 49"/>
          <p:cNvSpPr txBox="1"/>
          <p:nvPr/>
        </p:nvSpPr>
        <p:spPr>
          <a:xfrm>
            <a:off x="566738" y="4868863"/>
            <a:ext cx="8218487" cy="1187450"/>
          </a:xfrm>
          <a:prstGeom prst="rect">
            <a:avLst/>
          </a:prstGeom>
          <a:noFill/>
          <a:ln w="9525">
            <a:noFill/>
          </a:ln>
        </p:spPr>
        <p:txBody>
          <a:bodyPr>
            <a:spAutoFit/>
          </a:bodyPr>
          <a:p>
            <a:pPr eaLnBrk="1" hangingPunct="1"/>
            <a:r>
              <a:rPr lang="zh-CN" altLang="en-US" sz="2400" dirty="0">
                <a:solidFill>
                  <a:schemeClr val="tx1"/>
                </a:solidFill>
                <a:latin typeface="楷体_GB2312" pitchFamily="49" charset="-122"/>
              </a:rPr>
              <a:t>当开关</a:t>
            </a:r>
            <a:r>
              <a:rPr lang="en-US" altLang="zh-CN" sz="2400" i="1" dirty="0">
                <a:solidFill>
                  <a:srgbClr val="FF0000"/>
                </a:solidFill>
                <a:latin typeface="Times New Roman" panose="02020603050405020304" pitchFamily="18" charset="0"/>
              </a:rPr>
              <a:t>K</a:t>
            </a:r>
            <a:r>
              <a:rPr lang="zh-CN" altLang="en-US" sz="2400" dirty="0">
                <a:solidFill>
                  <a:schemeClr val="tx1"/>
                </a:solidFill>
                <a:latin typeface="楷体_GB2312" pitchFamily="49" charset="-122"/>
              </a:rPr>
              <a:t>闭合时，采样</a:t>
            </a:r>
            <a:r>
              <a:rPr lang="en-US" altLang="zh-CN" sz="2400" dirty="0">
                <a:solidFill>
                  <a:schemeClr val="tx1"/>
                </a:solidFill>
                <a:latin typeface="楷体_GB2312" pitchFamily="49" charset="-122"/>
              </a:rPr>
              <a:t>/</a:t>
            </a:r>
            <a:r>
              <a:rPr lang="zh-CN" altLang="en-US" sz="2400" dirty="0">
                <a:solidFill>
                  <a:schemeClr val="tx1"/>
                </a:solidFill>
                <a:latin typeface="楷体_GB2312" pitchFamily="49" charset="-122"/>
              </a:rPr>
              <a:t>保持器为跟踪状态。由于</a:t>
            </a:r>
            <a:r>
              <a:rPr lang="en-US" altLang="zh-CN" sz="2400" i="1"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1</a:t>
            </a:r>
            <a:r>
              <a:rPr lang="zh-CN" altLang="en-US" sz="2400" dirty="0">
                <a:solidFill>
                  <a:schemeClr val="tx1"/>
                </a:solidFill>
                <a:latin typeface="楷体_GB2312" pitchFamily="49" charset="-122"/>
              </a:rPr>
              <a:t>是高增益放大器，其输出电阻和开关</a:t>
            </a:r>
            <a:r>
              <a:rPr lang="en-US" altLang="zh-CN" sz="2400" dirty="0">
                <a:solidFill>
                  <a:schemeClr val="tx1"/>
                </a:solidFill>
                <a:latin typeface="楷体_GB2312" pitchFamily="49" charset="-122"/>
              </a:rPr>
              <a:t>K</a:t>
            </a:r>
            <a:r>
              <a:rPr lang="zh-CN" altLang="en-US" sz="2400" dirty="0">
                <a:solidFill>
                  <a:schemeClr val="tx1"/>
                </a:solidFill>
                <a:latin typeface="楷体_GB2312" pitchFamily="49" charset="-122"/>
              </a:rPr>
              <a:t>的导通电阻</a:t>
            </a:r>
            <a:r>
              <a:rPr lang="en-US" altLang="zh-CN" sz="2400" i="1"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ON</a:t>
            </a:r>
            <a:r>
              <a:rPr lang="zh-CN" altLang="en-US" sz="2400" dirty="0">
                <a:solidFill>
                  <a:schemeClr val="tx1"/>
                </a:solidFill>
                <a:latin typeface="楷体_GB2312" pitchFamily="49" charset="-122"/>
              </a:rPr>
              <a:t>很小，输入信号</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solidFill>
                  <a:schemeClr val="tx1"/>
                </a:solidFill>
                <a:latin typeface="楷体_GB2312" pitchFamily="49" charset="-122"/>
              </a:rPr>
              <a:t>通过</a:t>
            </a:r>
            <a:r>
              <a:rPr lang="en-US" altLang="zh-CN" sz="2400" i="1"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1</a:t>
            </a:r>
            <a:r>
              <a:rPr lang="zh-CN" altLang="en-US" sz="2400" dirty="0">
                <a:solidFill>
                  <a:schemeClr val="tx1"/>
                </a:solidFill>
                <a:latin typeface="楷体_GB2312" pitchFamily="49" charset="-122"/>
              </a:rPr>
              <a:t>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solidFill>
                  <a:schemeClr val="tx1"/>
                </a:solidFill>
                <a:latin typeface="楷体_GB2312" pitchFamily="49" charset="-122"/>
              </a:rPr>
              <a:t>的充电速度很快，</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solidFill>
                  <a:schemeClr val="tx1"/>
                </a:solidFill>
                <a:latin typeface="楷体_GB2312" pitchFamily="49" charset="-122"/>
              </a:rPr>
              <a:t>的电压将跟踪</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solidFill>
                  <a:schemeClr val="tx1"/>
                </a:solidFill>
                <a:latin typeface="楷体_GB2312" pitchFamily="49" charset="-122"/>
              </a:rPr>
              <a:t>的变化。 </a:t>
            </a:r>
            <a:endParaRPr lang="zh-CN" altLang="en-US" sz="2400" dirty="0">
              <a:solidFill>
                <a:schemeClr val="tx1"/>
              </a:solidFill>
              <a:latin typeface="楷体_GB2312" pitchFamily="49" charset="-122"/>
            </a:endParaRPr>
          </a:p>
        </p:txBody>
      </p:sp>
      <p:sp>
        <p:nvSpPr>
          <p:cNvPr id="12295"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6689"/>
                                        </p:tgtEl>
                                        <p:attrNameLst>
                                          <p:attrName>style.visibility</p:attrName>
                                        </p:attrNameLst>
                                      </p:cBhvr>
                                      <p:to>
                                        <p:strVal val="visible"/>
                                      </p:to>
                                    </p:set>
                                    <p:animEffect transition="in" filter="dissolve">
                                      <p:cBhvr>
                                        <p:cTn id="7" dur="500"/>
                                        <p:tgtEl>
                                          <p:spTgt spid="2416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6689"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7666" name="Text Box 2"/>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3315" name="Text Box 4"/>
          <p:cNvSpPr txBox="1"/>
          <p:nvPr/>
        </p:nvSpPr>
        <p:spPr>
          <a:xfrm>
            <a:off x="647700" y="1484313"/>
            <a:ext cx="3402013" cy="457200"/>
          </a:xfrm>
          <a:prstGeom prst="rect">
            <a:avLst/>
          </a:prstGeom>
          <a:noFill/>
          <a:ln w="9525">
            <a:noFill/>
          </a:ln>
        </p:spPr>
        <p:txBody>
          <a:bodyPr wrap="none">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按结构分为两种类型：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3316" name="Text Box 5"/>
          <p:cNvSpPr txBox="1"/>
          <p:nvPr/>
        </p:nvSpPr>
        <p:spPr>
          <a:xfrm>
            <a:off x="900113" y="1941513"/>
            <a:ext cx="4537075" cy="519112"/>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1. </a:t>
            </a:r>
            <a:r>
              <a:rPr lang="zh-CN" altLang="en-US" sz="2800" dirty="0">
                <a:solidFill>
                  <a:srgbClr val="FF0000"/>
                </a:solidFill>
                <a:latin typeface="Times New Roman" panose="02020603050405020304" pitchFamily="18" charset="0"/>
              </a:rPr>
              <a:t>串联型采样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grpSp>
        <p:nvGrpSpPr>
          <p:cNvPr id="13317" name="Group 6"/>
          <p:cNvGrpSpPr/>
          <p:nvPr/>
        </p:nvGrpSpPr>
        <p:grpSpPr>
          <a:xfrm>
            <a:off x="663575" y="2462213"/>
            <a:ext cx="7904163" cy="2262187"/>
            <a:chOff x="408" y="1551"/>
            <a:chExt cx="4979" cy="1425"/>
          </a:xfrm>
        </p:grpSpPr>
        <p:sp>
          <p:nvSpPr>
            <p:cNvPr id="13320" name="Rectangle 7"/>
            <p:cNvSpPr/>
            <p:nvPr/>
          </p:nvSpPr>
          <p:spPr>
            <a:xfrm>
              <a:off x="408" y="1551"/>
              <a:ext cx="4979" cy="142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21" name="Text Box 8"/>
            <p:cNvSpPr txBox="1"/>
            <p:nvPr/>
          </p:nvSpPr>
          <p:spPr>
            <a:xfrm>
              <a:off x="408" y="2073"/>
              <a:ext cx="26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3322" name="Oval 9"/>
            <p:cNvSpPr/>
            <p:nvPr/>
          </p:nvSpPr>
          <p:spPr>
            <a:xfrm>
              <a:off x="669"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23" name="AutoShape 10"/>
            <p:cNvSpPr/>
            <p:nvPr/>
          </p:nvSpPr>
          <p:spPr>
            <a:xfrm rot="5400000">
              <a:off x="1174" y="1814"/>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24" name="Text Box 11"/>
            <p:cNvSpPr txBox="1"/>
            <p:nvPr/>
          </p:nvSpPr>
          <p:spPr>
            <a:xfrm>
              <a:off x="1157" y="1848"/>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3325" name="Text Box 12"/>
            <p:cNvSpPr txBox="1"/>
            <p:nvPr/>
          </p:nvSpPr>
          <p:spPr>
            <a:xfrm>
              <a:off x="1290" y="1956"/>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13326" name="Line 13"/>
            <p:cNvSpPr/>
            <p:nvPr/>
          </p:nvSpPr>
          <p:spPr>
            <a:xfrm>
              <a:off x="1750" y="2106"/>
              <a:ext cx="450" cy="0"/>
            </a:xfrm>
            <a:prstGeom prst="line">
              <a:avLst/>
            </a:prstGeom>
            <a:ln w="12700" cap="flat" cmpd="sng">
              <a:solidFill>
                <a:schemeClr val="accent2"/>
              </a:solidFill>
              <a:prstDash val="solid"/>
              <a:headEnd type="none" w="med" len="med"/>
              <a:tailEnd type="none" w="med" len="med"/>
            </a:ln>
          </p:spPr>
        </p:sp>
        <p:sp>
          <p:nvSpPr>
            <p:cNvPr id="13327" name="Line 14"/>
            <p:cNvSpPr/>
            <p:nvPr/>
          </p:nvSpPr>
          <p:spPr>
            <a:xfrm>
              <a:off x="2200" y="2107"/>
              <a:ext cx="0" cy="100"/>
            </a:xfrm>
            <a:prstGeom prst="line">
              <a:avLst/>
            </a:prstGeom>
            <a:ln w="12700" cap="flat" cmpd="sng">
              <a:solidFill>
                <a:schemeClr val="accent2"/>
              </a:solidFill>
              <a:prstDash val="solid"/>
              <a:headEnd type="none" w="med" len="med"/>
              <a:tailEnd type="none" w="med" len="med"/>
            </a:ln>
          </p:spPr>
        </p:sp>
        <p:sp>
          <p:nvSpPr>
            <p:cNvPr id="13328" name="Line 15"/>
            <p:cNvSpPr/>
            <p:nvPr/>
          </p:nvSpPr>
          <p:spPr>
            <a:xfrm>
              <a:off x="2200" y="2207"/>
              <a:ext cx="435" cy="0"/>
            </a:xfrm>
            <a:prstGeom prst="line">
              <a:avLst/>
            </a:prstGeom>
            <a:ln w="12700" cap="flat" cmpd="sng">
              <a:solidFill>
                <a:schemeClr val="accent2"/>
              </a:solidFill>
              <a:prstDash val="solid"/>
              <a:headEnd type="none" w="med" len="med"/>
              <a:tailEnd type="none" w="med" len="med"/>
            </a:ln>
          </p:spPr>
        </p:sp>
        <p:sp>
          <p:nvSpPr>
            <p:cNvPr id="13329" name="Oval 16"/>
            <p:cNvSpPr/>
            <p:nvPr/>
          </p:nvSpPr>
          <p:spPr>
            <a:xfrm>
              <a:off x="2640" y="217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30" name="Line 17"/>
            <p:cNvSpPr/>
            <p:nvPr/>
          </p:nvSpPr>
          <p:spPr>
            <a:xfrm flipV="1">
              <a:off x="2693" y="2074"/>
              <a:ext cx="250" cy="116"/>
            </a:xfrm>
            <a:prstGeom prst="line">
              <a:avLst/>
            </a:prstGeom>
            <a:ln w="19050" cap="flat" cmpd="sng">
              <a:solidFill>
                <a:srgbClr val="000080"/>
              </a:solidFill>
              <a:prstDash val="solid"/>
              <a:headEnd type="none" w="med" len="med"/>
              <a:tailEnd type="none" w="med" len="med"/>
            </a:ln>
          </p:spPr>
        </p:sp>
        <p:sp>
          <p:nvSpPr>
            <p:cNvPr id="13331" name="Text Box 18"/>
            <p:cNvSpPr txBox="1"/>
            <p:nvPr/>
          </p:nvSpPr>
          <p:spPr>
            <a:xfrm>
              <a:off x="2677" y="2239"/>
              <a:ext cx="22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endParaRPr lang="en-US" altLang="zh-CN" sz="2000" i="1" dirty="0">
                <a:latin typeface="Times New Roman" panose="02020603050405020304" pitchFamily="18" charset="0"/>
              </a:endParaRPr>
            </a:p>
          </p:txBody>
        </p:sp>
        <p:sp>
          <p:nvSpPr>
            <p:cNvPr id="13332" name="Line 19"/>
            <p:cNvSpPr/>
            <p:nvPr/>
          </p:nvSpPr>
          <p:spPr>
            <a:xfrm flipV="1">
              <a:off x="2200" y="1698"/>
              <a:ext cx="0" cy="408"/>
            </a:xfrm>
            <a:prstGeom prst="line">
              <a:avLst/>
            </a:prstGeom>
            <a:ln w="12700" cap="flat" cmpd="sng">
              <a:solidFill>
                <a:schemeClr val="accent2"/>
              </a:solidFill>
              <a:prstDash val="solid"/>
              <a:headEnd type="none" w="med" len="med"/>
              <a:tailEnd type="none" w="med" len="med"/>
            </a:ln>
          </p:spPr>
        </p:sp>
        <p:sp>
          <p:nvSpPr>
            <p:cNvPr id="13333" name="Line 20"/>
            <p:cNvSpPr/>
            <p:nvPr/>
          </p:nvSpPr>
          <p:spPr>
            <a:xfrm flipH="1">
              <a:off x="948" y="1698"/>
              <a:ext cx="1252" cy="0"/>
            </a:xfrm>
            <a:prstGeom prst="line">
              <a:avLst/>
            </a:prstGeom>
            <a:ln w="12700" cap="flat" cmpd="sng">
              <a:solidFill>
                <a:schemeClr val="accent2"/>
              </a:solidFill>
              <a:prstDash val="solid"/>
              <a:headEnd type="none" w="med" len="med"/>
              <a:tailEnd type="none" w="med" len="med"/>
            </a:ln>
          </p:spPr>
        </p:sp>
        <p:sp>
          <p:nvSpPr>
            <p:cNvPr id="13334" name="Line 21"/>
            <p:cNvSpPr/>
            <p:nvPr/>
          </p:nvSpPr>
          <p:spPr>
            <a:xfrm>
              <a:off x="948" y="1698"/>
              <a:ext cx="0" cy="284"/>
            </a:xfrm>
            <a:prstGeom prst="line">
              <a:avLst/>
            </a:prstGeom>
            <a:ln w="12700" cap="flat" cmpd="sng">
              <a:solidFill>
                <a:schemeClr val="accent2"/>
              </a:solidFill>
              <a:prstDash val="solid"/>
              <a:headEnd type="none" w="med" len="med"/>
              <a:tailEnd type="none" w="med" len="med"/>
            </a:ln>
          </p:spPr>
        </p:sp>
        <p:sp>
          <p:nvSpPr>
            <p:cNvPr id="13335" name="Line 22"/>
            <p:cNvSpPr/>
            <p:nvPr/>
          </p:nvSpPr>
          <p:spPr>
            <a:xfrm>
              <a:off x="948" y="1982"/>
              <a:ext cx="226" cy="0"/>
            </a:xfrm>
            <a:prstGeom prst="line">
              <a:avLst/>
            </a:prstGeom>
            <a:ln w="12700" cap="flat" cmpd="sng">
              <a:solidFill>
                <a:schemeClr val="accent2"/>
              </a:solidFill>
              <a:prstDash val="solid"/>
              <a:headEnd type="none" w="med" len="med"/>
              <a:tailEnd type="none" w="med" len="med"/>
            </a:ln>
          </p:spPr>
        </p:sp>
        <p:sp>
          <p:nvSpPr>
            <p:cNvPr id="13336" name="Line 23"/>
            <p:cNvSpPr/>
            <p:nvPr/>
          </p:nvSpPr>
          <p:spPr>
            <a:xfrm>
              <a:off x="2835" y="1756"/>
              <a:ext cx="0" cy="368"/>
            </a:xfrm>
            <a:prstGeom prst="line">
              <a:avLst/>
            </a:prstGeom>
            <a:ln w="12700" cap="flat" cmpd="sng">
              <a:solidFill>
                <a:srgbClr val="008080"/>
              </a:solidFill>
              <a:prstDash val="dash"/>
              <a:headEnd type="none" w="med" len="med"/>
              <a:tailEnd type="none" w="med" len="med"/>
            </a:ln>
          </p:spPr>
        </p:sp>
        <p:sp>
          <p:nvSpPr>
            <p:cNvPr id="13337" name="Text Box 24"/>
            <p:cNvSpPr txBox="1"/>
            <p:nvPr/>
          </p:nvSpPr>
          <p:spPr>
            <a:xfrm>
              <a:off x="2715" y="1551"/>
              <a:ext cx="30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3338" name="Oval 25"/>
            <p:cNvSpPr/>
            <p:nvPr/>
          </p:nvSpPr>
          <p:spPr>
            <a:xfrm>
              <a:off x="2862" y="218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39" name="AutoShape 26"/>
            <p:cNvSpPr/>
            <p:nvPr/>
          </p:nvSpPr>
          <p:spPr>
            <a:xfrm rot="5400000">
              <a:off x="3724" y="1810"/>
              <a:ext cx="567" cy="576"/>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40" name="Text Box 27"/>
            <p:cNvSpPr txBox="1"/>
            <p:nvPr/>
          </p:nvSpPr>
          <p:spPr>
            <a:xfrm>
              <a:off x="3707" y="1836"/>
              <a:ext cx="207" cy="473"/>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eaLnBrk="1" hangingPunct="1">
                <a:lnSpc>
                  <a:spcPct val="90000"/>
                </a:lnSpc>
              </a:pPr>
              <a:endParaRPr lang="en-US" altLang="zh-CN" sz="800" dirty="0">
                <a:latin typeface="Times New Roman" panose="02020603050405020304" pitchFamily="18" charset="0"/>
              </a:endParaRPr>
            </a:p>
            <a:p>
              <a:pPr eaLnBrk="1" hangingPunct="1">
                <a:lnSpc>
                  <a:spcPct val="90000"/>
                </a:lnSpc>
              </a:pP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3341" name="Text Box 28"/>
            <p:cNvSpPr txBox="1"/>
            <p:nvPr/>
          </p:nvSpPr>
          <p:spPr>
            <a:xfrm>
              <a:off x="3831" y="1953"/>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13342" name="Oval 29"/>
            <p:cNvSpPr/>
            <p:nvPr/>
          </p:nvSpPr>
          <p:spPr>
            <a:xfrm>
              <a:off x="3352" y="2186"/>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43" name="Line 30"/>
            <p:cNvSpPr/>
            <p:nvPr/>
          </p:nvSpPr>
          <p:spPr>
            <a:xfrm>
              <a:off x="3378" y="2207"/>
              <a:ext cx="0" cy="226"/>
            </a:xfrm>
            <a:prstGeom prst="line">
              <a:avLst/>
            </a:prstGeom>
            <a:ln w="12700" cap="flat" cmpd="sng">
              <a:solidFill>
                <a:schemeClr val="accent2"/>
              </a:solidFill>
              <a:prstDash val="solid"/>
              <a:headEnd type="none" w="med" len="med"/>
              <a:tailEnd type="none" w="med" len="med"/>
            </a:ln>
          </p:spPr>
        </p:sp>
        <p:sp>
          <p:nvSpPr>
            <p:cNvPr id="13344" name="Line 31"/>
            <p:cNvSpPr/>
            <p:nvPr/>
          </p:nvSpPr>
          <p:spPr>
            <a:xfrm>
              <a:off x="3378" y="2474"/>
              <a:ext cx="0" cy="260"/>
            </a:xfrm>
            <a:prstGeom prst="line">
              <a:avLst/>
            </a:prstGeom>
            <a:ln w="12700" cap="flat" cmpd="sng">
              <a:solidFill>
                <a:schemeClr val="accent2"/>
              </a:solidFill>
              <a:prstDash val="solid"/>
              <a:headEnd type="none" w="med" len="med"/>
              <a:tailEnd type="none" w="med" len="med"/>
            </a:ln>
          </p:spPr>
        </p:sp>
        <p:sp>
          <p:nvSpPr>
            <p:cNvPr id="13345" name="AutoShape 32"/>
            <p:cNvSpPr/>
            <p:nvPr/>
          </p:nvSpPr>
          <p:spPr>
            <a:xfrm rot="10800000">
              <a:off x="3224" y="2734"/>
              <a:ext cx="301" cy="150"/>
            </a:xfrm>
            <a:prstGeom prst="triangle">
              <a:avLst>
                <a:gd name="adj" fmla="val 50000"/>
              </a:avLst>
            </a:prstGeom>
            <a:no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46" name="Line 33"/>
            <p:cNvSpPr/>
            <p:nvPr/>
          </p:nvSpPr>
          <p:spPr>
            <a:xfrm>
              <a:off x="3279" y="2471"/>
              <a:ext cx="191" cy="0"/>
            </a:xfrm>
            <a:prstGeom prst="line">
              <a:avLst/>
            </a:prstGeom>
            <a:ln w="19050" cap="flat" cmpd="sng">
              <a:solidFill>
                <a:srgbClr val="000080"/>
              </a:solidFill>
              <a:prstDash val="solid"/>
              <a:headEnd type="none" w="med" len="med"/>
              <a:tailEnd type="none" w="med" len="med"/>
            </a:ln>
          </p:spPr>
        </p:sp>
        <p:sp>
          <p:nvSpPr>
            <p:cNvPr id="13347" name="Text Box 34"/>
            <p:cNvSpPr txBox="1"/>
            <p:nvPr/>
          </p:nvSpPr>
          <p:spPr>
            <a:xfrm>
              <a:off x="3428" y="2331"/>
              <a:ext cx="304"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3348" name="Text Box 35"/>
            <p:cNvSpPr txBox="1"/>
            <p:nvPr/>
          </p:nvSpPr>
          <p:spPr>
            <a:xfrm>
              <a:off x="3524" y="2682"/>
              <a:ext cx="551" cy="214"/>
            </a:xfrm>
            <a:prstGeom prst="rect">
              <a:avLst/>
            </a:prstGeom>
            <a:noFill/>
            <a:ln w="9525">
              <a:noFill/>
            </a:ln>
          </p:spPr>
          <p:txBody>
            <a:bodyPr wrap="none">
              <a:spAutoFit/>
            </a:bodyPr>
            <a:p>
              <a:pPr eaLnBrk="1" hangingPunct="1">
                <a:lnSpc>
                  <a:spcPct val="90000"/>
                </a:lnSpc>
              </a:pPr>
              <a:r>
                <a:rPr lang="zh-CN" altLang="en-US" sz="1800" dirty="0">
                  <a:latin typeface="Times New Roman" panose="02020603050405020304" pitchFamily="18" charset="0"/>
                </a:rPr>
                <a:t>模拟地</a:t>
              </a:r>
              <a:endParaRPr lang="zh-CN" altLang="en-US" sz="1800" baseline="-25000" dirty="0">
                <a:latin typeface="Times New Roman" panose="02020603050405020304" pitchFamily="18" charset="0"/>
              </a:endParaRPr>
            </a:p>
          </p:txBody>
        </p:sp>
        <p:sp>
          <p:nvSpPr>
            <p:cNvPr id="13349" name="Line 36"/>
            <p:cNvSpPr/>
            <p:nvPr/>
          </p:nvSpPr>
          <p:spPr>
            <a:xfrm flipV="1">
              <a:off x="4304" y="2098"/>
              <a:ext cx="708" cy="2"/>
            </a:xfrm>
            <a:prstGeom prst="line">
              <a:avLst/>
            </a:prstGeom>
            <a:ln w="12700" cap="flat" cmpd="sng">
              <a:solidFill>
                <a:schemeClr val="accent2"/>
              </a:solidFill>
              <a:prstDash val="solid"/>
              <a:headEnd type="none" w="med" len="med"/>
              <a:tailEnd type="none" w="med" len="med"/>
            </a:ln>
          </p:spPr>
        </p:sp>
        <p:sp>
          <p:nvSpPr>
            <p:cNvPr id="13350" name="Oval 37"/>
            <p:cNvSpPr/>
            <p:nvPr/>
          </p:nvSpPr>
          <p:spPr>
            <a:xfrm>
              <a:off x="5012" y="207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51" name="Text Box 38"/>
            <p:cNvSpPr txBox="1"/>
            <p:nvPr/>
          </p:nvSpPr>
          <p:spPr>
            <a:xfrm>
              <a:off x="5074" y="1977"/>
              <a:ext cx="313"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3352" name="Oval 39"/>
            <p:cNvSpPr/>
            <p:nvPr/>
          </p:nvSpPr>
          <p:spPr>
            <a:xfrm>
              <a:off x="4717" y="2065"/>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3353" name="Line 40"/>
            <p:cNvSpPr/>
            <p:nvPr/>
          </p:nvSpPr>
          <p:spPr>
            <a:xfrm flipV="1">
              <a:off x="4747" y="1684"/>
              <a:ext cx="0" cy="406"/>
            </a:xfrm>
            <a:prstGeom prst="line">
              <a:avLst/>
            </a:prstGeom>
            <a:ln w="12700" cap="flat" cmpd="sng">
              <a:solidFill>
                <a:schemeClr val="accent2"/>
              </a:solidFill>
              <a:prstDash val="solid"/>
              <a:headEnd type="none" w="med" len="med"/>
              <a:tailEnd type="none" w="med" len="med"/>
            </a:ln>
          </p:spPr>
        </p:sp>
        <p:sp>
          <p:nvSpPr>
            <p:cNvPr id="13354" name="Line 41"/>
            <p:cNvSpPr/>
            <p:nvPr/>
          </p:nvSpPr>
          <p:spPr>
            <a:xfrm flipH="1">
              <a:off x="3486" y="1684"/>
              <a:ext cx="1261" cy="0"/>
            </a:xfrm>
            <a:prstGeom prst="line">
              <a:avLst/>
            </a:prstGeom>
            <a:ln w="12700" cap="flat" cmpd="sng">
              <a:solidFill>
                <a:schemeClr val="accent2"/>
              </a:solidFill>
              <a:prstDash val="solid"/>
              <a:headEnd type="none" w="med" len="med"/>
              <a:tailEnd type="none" w="med" len="med"/>
            </a:ln>
          </p:spPr>
        </p:sp>
        <p:sp>
          <p:nvSpPr>
            <p:cNvPr id="13355" name="Line 42"/>
            <p:cNvSpPr/>
            <p:nvPr/>
          </p:nvSpPr>
          <p:spPr>
            <a:xfrm>
              <a:off x="3486" y="1684"/>
              <a:ext cx="0" cy="298"/>
            </a:xfrm>
            <a:prstGeom prst="line">
              <a:avLst/>
            </a:prstGeom>
            <a:ln w="12700" cap="flat" cmpd="sng">
              <a:solidFill>
                <a:schemeClr val="accent2"/>
              </a:solidFill>
              <a:prstDash val="solid"/>
              <a:headEnd type="none" w="med" len="med"/>
              <a:tailEnd type="none" w="med" len="med"/>
            </a:ln>
          </p:spPr>
        </p:sp>
        <p:sp>
          <p:nvSpPr>
            <p:cNvPr id="13356" name="Line 43"/>
            <p:cNvSpPr/>
            <p:nvPr/>
          </p:nvSpPr>
          <p:spPr>
            <a:xfrm>
              <a:off x="3486" y="1982"/>
              <a:ext cx="234" cy="0"/>
            </a:xfrm>
            <a:prstGeom prst="line">
              <a:avLst/>
            </a:prstGeom>
            <a:ln w="12700" cap="flat" cmpd="sng">
              <a:solidFill>
                <a:schemeClr val="accent2"/>
              </a:solidFill>
              <a:prstDash val="solid"/>
              <a:headEnd type="none" w="med" len="med"/>
              <a:tailEnd type="none" w="med" len="med"/>
            </a:ln>
          </p:spPr>
        </p:sp>
        <p:sp>
          <p:nvSpPr>
            <p:cNvPr id="13357" name="Text Box 44"/>
            <p:cNvSpPr txBox="1"/>
            <p:nvPr/>
          </p:nvSpPr>
          <p:spPr>
            <a:xfrm>
              <a:off x="605" y="2711"/>
              <a:ext cx="1920" cy="231"/>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串联型采样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3358" name="Line 45"/>
            <p:cNvSpPr/>
            <p:nvPr/>
          </p:nvSpPr>
          <p:spPr>
            <a:xfrm flipV="1">
              <a:off x="725" y="2207"/>
              <a:ext cx="449" cy="1"/>
            </a:xfrm>
            <a:prstGeom prst="line">
              <a:avLst/>
            </a:prstGeom>
            <a:ln w="12700" cap="flat" cmpd="sng">
              <a:solidFill>
                <a:schemeClr val="accent2"/>
              </a:solidFill>
              <a:prstDash val="solid"/>
              <a:headEnd type="none" w="med" len="med"/>
              <a:tailEnd type="none" w="med" len="med"/>
            </a:ln>
          </p:spPr>
        </p:sp>
        <p:sp>
          <p:nvSpPr>
            <p:cNvPr id="13359" name="Line 46"/>
            <p:cNvSpPr/>
            <p:nvPr/>
          </p:nvSpPr>
          <p:spPr>
            <a:xfrm>
              <a:off x="2927" y="2207"/>
              <a:ext cx="793" cy="0"/>
            </a:xfrm>
            <a:prstGeom prst="line">
              <a:avLst/>
            </a:prstGeom>
            <a:ln w="12700" cap="flat" cmpd="sng">
              <a:solidFill>
                <a:schemeClr val="accent2"/>
              </a:solidFill>
              <a:prstDash val="solid"/>
              <a:headEnd type="none" w="med" len="med"/>
              <a:tailEnd type="none" w="med" len="med"/>
            </a:ln>
          </p:spPr>
        </p:sp>
        <p:sp>
          <p:nvSpPr>
            <p:cNvPr id="13360" name="Line 47"/>
            <p:cNvSpPr/>
            <p:nvPr/>
          </p:nvSpPr>
          <p:spPr>
            <a:xfrm>
              <a:off x="3279" y="2433"/>
              <a:ext cx="191" cy="0"/>
            </a:xfrm>
            <a:prstGeom prst="line">
              <a:avLst/>
            </a:prstGeom>
            <a:ln w="19050" cap="flat" cmpd="sng">
              <a:solidFill>
                <a:srgbClr val="000080"/>
              </a:solidFill>
              <a:prstDash val="solid"/>
              <a:headEnd type="none" w="med" len="med"/>
              <a:tailEnd type="none" w="med" len="med"/>
            </a:ln>
          </p:spPr>
        </p:sp>
        <p:sp>
          <p:nvSpPr>
            <p:cNvPr id="13361" name="Oval 48"/>
            <p:cNvSpPr/>
            <p:nvPr/>
          </p:nvSpPr>
          <p:spPr>
            <a:xfrm>
              <a:off x="2172" y="2079"/>
              <a:ext cx="56" cy="56"/>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17713" name="Text Box 49"/>
          <p:cNvSpPr txBox="1"/>
          <p:nvPr/>
        </p:nvSpPr>
        <p:spPr>
          <a:xfrm>
            <a:off x="890588" y="4868863"/>
            <a:ext cx="7713662" cy="1187450"/>
          </a:xfrm>
          <a:prstGeom prst="rect">
            <a:avLst/>
          </a:prstGeom>
          <a:noFill/>
          <a:ln w="9525">
            <a:noFill/>
          </a:ln>
        </p:spPr>
        <p:txBody>
          <a:bodyPr>
            <a:spAutoFit/>
          </a:bodyPr>
          <a:p>
            <a:pPr eaLnBrk="1" hangingPunct="1"/>
            <a:r>
              <a:rPr lang="zh-CN" altLang="en-US" sz="2400" dirty="0">
                <a:solidFill>
                  <a:schemeClr val="tx1"/>
                </a:solidFill>
                <a:latin typeface="楷体_GB2312" pitchFamily="49" charset="-122"/>
              </a:rPr>
              <a:t>当</a:t>
            </a:r>
            <a:r>
              <a:rPr lang="en-US" altLang="zh-CN" sz="2400" i="1" dirty="0">
                <a:solidFill>
                  <a:srgbClr val="FF0000"/>
                </a:solidFill>
                <a:latin typeface="Times New Roman" panose="02020603050405020304" pitchFamily="18" charset="0"/>
              </a:rPr>
              <a:t>K</a:t>
            </a:r>
            <a:r>
              <a:rPr lang="zh-CN" altLang="en-US" sz="2400" dirty="0">
                <a:solidFill>
                  <a:schemeClr val="tx1"/>
                </a:solidFill>
                <a:latin typeface="Times New Roman" panose="02020603050405020304" pitchFamily="18" charset="0"/>
              </a:rPr>
              <a:t>断开</a:t>
            </a:r>
            <a:r>
              <a:rPr lang="zh-CN" altLang="en-US" sz="2400" dirty="0">
                <a:solidFill>
                  <a:schemeClr val="tx1"/>
                </a:solidFill>
                <a:latin typeface="楷体_GB2312" pitchFamily="49" charset="-122"/>
              </a:rPr>
              <a:t>时，采样</a:t>
            </a:r>
            <a:r>
              <a:rPr lang="en-US" altLang="zh-CN" sz="2400" dirty="0">
                <a:solidFill>
                  <a:schemeClr val="tx1"/>
                </a:solidFill>
                <a:latin typeface="楷体_GB2312" pitchFamily="49" charset="-122"/>
              </a:rPr>
              <a:t>/</a:t>
            </a:r>
            <a:r>
              <a:rPr lang="zh-CN" altLang="en-US" sz="2400" dirty="0">
                <a:solidFill>
                  <a:schemeClr val="tx1"/>
                </a:solidFill>
                <a:latin typeface="楷体_GB2312" pitchFamily="49" charset="-122"/>
              </a:rPr>
              <a:t>保持器从跟踪状态变为保持状态，这时</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solidFill>
                  <a:schemeClr val="tx1"/>
                </a:solidFill>
                <a:latin typeface="楷体_GB2312" pitchFamily="49" charset="-122"/>
              </a:rPr>
              <a:t>没有充放电回路，在理想情况下，</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solidFill>
                  <a:schemeClr val="tx1"/>
                </a:solidFill>
                <a:latin typeface="楷体_GB2312" pitchFamily="49" charset="-122"/>
              </a:rPr>
              <a:t>的电压将一直保持在</a:t>
            </a:r>
            <a:r>
              <a:rPr lang="en-US" altLang="zh-CN" sz="2400" dirty="0">
                <a:solidFill>
                  <a:schemeClr val="tx1"/>
                </a:solidFill>
                <a:latin typeface="楷体_GB2312" pitchFamily="49" charset="-122"/>
              </a:rPr>
              <a:t>K</a:t>
            </a:r>
            <a:r>
              <a:rPr lang="zh-CN" altLang="en-US" sz="2400" dirty="0">
                <a:solidFill>
                  <a:schemeClr val="tx1"/>
                </a:solidFill>
                <a:latin typeface="楷体_GB2312" pitchFamily="49" charset="-122"/>
              </a:rPr>
              <a:t>断开瞬间</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solidFill>
                  <a:schemeClr val="tx1"/>
                </a:solidFill>
                <a:latin typeface="楷体_GB2312" pitchFamily="49" charset="-122"/>
              </a:rPr>
              <a:t>的最终值上。 </a:t>
            </a:r>
            <a:endParaRPr lang="zh-CN" altLang="en-US" sz="2400" dirty="0">
              <a:solidFill>
                <a:schemeClr val="tx1"/>
              </a:solidFill>
              <a:latin typeface="楷体_GB2312" pitchFamily="49" charset="-122"/>
            </a:endParaRPr>
          </a:p>
        </p:txBody>
      </p:sp>
      <p:sp>
        <p:nvSpPr>
          <p:cNvPr id="13319"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7713"/>
                                        </p:tgtEl>
                                        <p:attrNameLst>
                                          <p:attrName>style.visibility</p:attrName>
                                        </p:attrNameLst>
                                      </p:cBhvr>
                                      <p:to>
                                        <p:strVal val="visible"/>
                                      </p:to>
                                    </p:set>
                                    <p:animEffect transition="in" filter="dissolve">
                                      <p:cBhvr>
                                        <p:cTn id="7" dur="500"/>
                                        <p:tgtEl>
                                          <p:spTgt spid="24177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7713"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2840" name="Text Box 40"/>
          <p:cNvSpPr txBox="1"/>
          <p:nvPr/>
        </p:nvSpPr>
        <p:spPr>
          <a:xfrm>
            <a:off x="1631950" y="2525713"/>
            <a:ext cx="3805238" cy="519112"/>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ea typeface="黑体" panose="02010609060101010101" pitchFamily="49" charset="-122"/>
              </a:rPr>
              <a:t>优点：</a:t>
            </a:r>
            <a:r>
              <a:rPr lang="zh-CN" altLang="en-US" sz="2800" dirty="0">
                <a:solidFill>
                  <a:srgbClr val="3333CC"/>
                </a:solidFill>
                <a:latin typeface="Times New Roman" panose="02020603050405020304" pitchFamily="18" charset="0"/>
                <a:ea typeface="黑体" panose="02010609060101010101" pitchFamily="49" charset="-122"/>
              </a:rPr>
              <a:t>结构简单。</a:t>
            </a:r>
            <a:endParaRPr lang="zh-CN" altLang="en-US" sz="2800" dirty="0">
              <a:solidFill>
                <a:srgbClr val="3333CC"/>
              </a:solidFill>
              <a:latin typeface="Times New Roman" panose="02020603050405020304" pitchFamily="18" charset="0"/>
              <a:ea typeface="黑体" panose="02010609060101010101" pitchFamily="49" charset="-122"/>
            </a:endParaRPr>
          </a:p>
        </p:txBody>
      </p:sp>
      <p:sp>
        <p:nvSpPr>
          <p:cNvPr id="2252841" name="Text Box 41"/>
          <p:cNvSpPr txBox="1"/>
          <p:nvPr/>
        </p:nvSpPr>
        <p:spPr>
          <a:xfrm>
            <a:off x="1631950" y="3213100"/>
            <a:ext cx="1790700" cy="519113"/>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ea typeface="黑体" panose="02010609060101010101" pitchFamily="49" charset="-122"/>
              </a:rPr>
              <a:t>缺点：</a:t>
            </a:r>
            <a:r>
              <a:rPr lang="zh-CN" altLang="en-US" sz="2800" dirty="0">
                <a:latin typeface="Times New Roman" panose="02020603050405020304" pitchFamily="18" charset="0"/>
                <a:ea typeface="黑体" panose="02010609060101010101" pitchFamily="49" charset="-122"/>
              </a:rPr>
              <a:t> </a:t>
            </a:r>
            <a:endParaRPr lang="zh-CN" altLang="en-US" sz="2800" dirty="0">
              <a:latin typeface="Times New Roman" panose="02020603050405020304" pitchFamily="18" charset="0"/>
              <a:ea typeface="黑体" panose="02010609060101010101" pitchFamily="49" charset="-122"/>
            </a:endParaRPr>
          </a:p>
        </p:txBody>
      </p:sp>
      <p:sp>
        <p:nvSpPr>
          <p:cNvPr id="2252842" name="Text Box 42"/>
          <p:cNvSpPr txBox="1"/>
          <p:nvPr/>
        </p:nvSpPr>
        <p:spPr>
          <a:xfrm>
            <a:off x="2159000" y="3789363"/>
            <a:ext cx="5921375" cy="1971675"/>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Ø"/>
            </a:pPr>
            <a:r>
              <a:rPr lang="zh-CN" altLang="en-US" sz="2800" dirty="0">
                <a:solidFill>
                  <a:srgbClr val="3333CC"/>
                </a:solidFill>
                <a:latin typeface="黑体" panose="02010609060101010101" pitchFamily="49" charset="-122"/>
                <a:ea typeface="黑体" panose="02010609060101010101" pitchFamily="49" charset="-122"/>
              </a:rPr>
              <a:t>其失调电压为两个运放失调电压之和，比较大，影响到采样</a:t>
            </a:r>
            <a:r>
              <a:rPr lang="en-US" altLang="zh-CN" sz="2800" dirty="0">
                <a:solidFill>
                  <a:srgbClr val="3333CC"/>
                </a:solidFill>
                <a:latin typeface="黑体" panose="02010609060101010101" pitchFamily="49" charset="-122"/>
                <a:ea typeface="黑体" panose="02010609060101010101" pitchFamily="49" charset="-122"/>
              </a:rPr>
              <a:t>/</a:t>
            </a:r>
            <a:r>
              <a:rPr lang="zh-CN" altLang="en-US" sz="2800" dirty="0">
                <a:solidFill>
                  <a:srgbClr val="3333CC"/>
                </a:solidFill>
                <a:latin typeface="黑体" panose="02010609060101010101" pitchFamily="49" charset="-122"/>
                <a:ea typeface="黑体" panose="02010609060101010101" pitchFamily="49" charset="-122"/>
              </a:rPr>
              <a:t>保持器的精度。</a:t>
            </a:r>
            <a:endParaRPr lang="zh-CN" altLang="en-US" sz="2800" dirty="0">
              <a:solidFill>
                <a:srgbClr val="3333CC"/>
              </a:solidFill>
              <a:latin typeface="黑体" panose="02010609060101010101" pitchFamily="49" charset="-122"/>
              <a:ea typeface="黑体" panose="02010609060101010101" pitchFamily="49" charset="-122"/>
            </a:endParaRPr>
          </a:p>
          <a:p>
            <a:pPr marL="542925" indent="-542925" eaLnBrk="1" hangingPunct="1">
              <a:spcBef>
                <a:spcPct val="40000"/>
              </a:spcBef>
              <a:buClr>
                <a:srgbClr val="FF0000"/>
              </a:buClr>
              <a:buFont typeface="Wingdings" panose="05000000000000000000" pitchFamily="2" charset="2"/>
              <a:buChar char="Ø"/>
            </a:pPr>
            <a:r>
              <a:rPr lang="zh-CN" altLang="en-US" sz="2800" dirty="0">
                <a:solidFill>
                  <a:srgbClr val="3333CC"/>
                </a:solidFill>
                <a:latin typeface="黑体" panose="02010609060101010101" pitchFamily="49" charset="-122"/>
                <a:ea typeface="黑体" panose="02010609060101010101" pitchFamily="49" charset="-122"/>
              </a:rPr>
              <a:t>跟踪速度也较低。</a:t>
            </a:r>
            <a:endParaRPr lang="zh-CN" altLang="en-US" sz="2800" dirty="0">
              <a:solidFill>
                <a:srgbClr val="3333CC"/>
              </a:solidFill>
              <a:latin typeface="黑体" panose="02010609060101010101" pitchFamily="49" charset="-122"/>
              <a:ea typeface="黑体" panose="02010609060101010101" pitchFamily="49" charset="-122"/>
            </a:endParaRPr>
          </a:p>
        </p:txBody>
      </p:sp>
      <p:sp>
        <p:nvSpPr>
          <p:cNvPr id="2252850" name="Text Box 50"/>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4342" name="Text Box 52"/>
          <p:cNvSpPr txBox="1"/>
          <p:nvPr/>
        </p:nvSpPr>
        <p:spPr>
          <a:xfrm>
            <a:off x="647700" y="1484313"/>
            <a:ext cx="3402013" cy="457200"/>
          </a:xfrm>
          <a:prstGeom prst="rect">
            <a:avLst/>
          </a:prstGeom>
          <a:noFill/>
          <a:ln w="9525">
            <a:noFill/>
          </a:ln>
        </p:spPr>
        <p:txBody>
          <a:bodyPr wrap="none">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按结构分为两种类型：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4343" name="Text Box 53"/>
          <p:cNvSpPr txBox="1"/>
          <p:nvPr/>
        </p:nvSpPr>
        <p:spPr>
          <a:xfrm>
            <a:off x="900113" y="1941513"/>
            <a:ext cx="4537075" cy="519112"/>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1. </a:t>
            </a:r>
            <a:r>
              <a:rPr lang="zh-CN" altLang="en-US" sz="2800" dirty="0">
                <a:solidFill>
                  <a:srgbClr val="FF0000"/>
                </a:solidFill>
                <a:latin typeface="Times New Roman" panose="02020603050405020304" pitchFamily="18" charset="0"/>
              </a:rPr>
              <a:t>串联型采样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sp>
        <p:nvSpPr>
          <p:cNvPr id="14344"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2840"/>
                                        </p:tgtEl>
                                        <p:attrNameLst>
                                          <p:attrName>style.visibility</p:attrName>
                                        </p:attrNameLst>
                                      </p:cBhvr>
                                      <p:to>
                                        <p:strVal val="visible"/>
                                      </p:to>
                                    </p:set>
                                    <p:animEffect transition="in" filter="dissolve">
                                      <p:cBhvr>
                                        <p:cTn id="7" dur="500"/>
                                        <p:tgtEl>
                                          <p:spTgt spid="22528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2841"/>
                                        </p:tgtEl>
                                        <p:attrNameLst>
                                          <p:attrName>style.visibility</p:attrName>
                                        </p:attrNameLst>
                                      </p:cBhvr>
                                      <p:to>
                                        <p:strVal val="visible"/>
                                      </p:to>
                                    </p:set>
                                    <p:animEffect transition="in" filter="dissolve">
                                      <p:cBhvr>
                                        <p:cTn id="12" dur="500"/>
                                        <p:tgtEl>
                                          <p:spTgt spid="22528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2842">
                                            <p:txEl>
                                              <p:charRg st="0" end="35"/>
                                            </p:txEl>
                                          </p:spTgt>
                                        </p:tgtEl>
                                        <p:attrNameLst>
                                          <p:attrName>style.visibility</p:attrName>
                                        </p:attrNameLst>
                                      </p:cBhvr>
                                      <p:to>
                                        <p:strVal val="visible"/>
                                      </p:to>
                                    </p:set>
                                    <p:animEffect transition="in" filter="dissolve">
                                      <p:cBhvr>
                                        <p:cTn id="17" dur="500"/>
                                        <p:tgtEl>
                                          <p:spTgt spid="2252842">
                                            <p:txEl>
                                              <p:charRg st="0" end="3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52842">
                                            <p:txEl>
                                              <p:charRg st="35" end="44"/>
                                            </p:txEl>
                                          </p:spTgt>
                                        </p:tgtEl>
                                        <p:attrNameLst>
                                          <p:attrName>style.visibility</p:attrName>
                                        </p:attrNameLst>
                                      </p:cBhvr>
                                      <p:to>
                                        <p:strVal val="visible"/>
                                      </p:to>
                                    </p:set>
                                    <p:animEffect transition="in" filter="dissolve">
                                      <p:cBhvr>
                                        <p:cTn id="22" dur="500"/>
                                        <p:tgtEl>
                                          <p:spTgt spid="2252842">
                                            <p:txEl>
                                              <p:charRg st="35" end="4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40" grpId="0"/>
      <p:bldP spid="2252841"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3954" name="Rectangle 130"/>
          <p:cNvSpPr/>
          <p:nvPr/>
        </p:nvSpPr>
        <p:spPr>
          <a:xfrm>
            <a:off x="215900" y="1928813"/>
            <a:ext cx="8729663" cy="286861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54" name="Text Box 30"/>
          <p:cNvSpPr txBox="1"/>
          <p:nvPr/>
        </p:nvSpPr>
        <p:spPr>
          <a:xfrm>
            <a:off x="503238" y="4833938"/>
            <a:ext cx="8362950" cy="457200"/>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其输出电压反馈到输入端，使</a:t>
            </a:r>
            <a:r>
              <a:rPr lang="en-US" altLang="zh-CN" sz="2400" i="1" dirty="0">
                <a:solidFill>
                  <a:srgbClr val="FF0000"/>
                </a:solidFill>
                <a:latin typeface="Times New Roman" panose="02020603050405020304" pitchFamily="18" charset="0"/>
                <a:ea typeface="黑体" panose="02010609060101010101" pitchFamily="49" charset="-122"/>
              </a:rPr>
              <a:t>A</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和</a:t>
            </a:r>
            <a:r>
              <a:rPr lang="en-US" altLang="zh-CN" sz="2400" i="1" dirty="0">
                <a:solidFill>
                  <a:srgbClr val="FF0000"/>
                </a:solidFill>
                <a:latin typeface="Times New Roman" panose="02020603050405020304" pitchFamily="18" charset="0"/>
                <a:ea typeface="黑体" panose="02010609060101010101" pitchFamily="49" charset="-122"/>
              </a:rPr>
              <a:t>A</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共同组成一个跟随器。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253855" name="Text Box 31"/>
          <p:cNvSpPr txBox="1"/>
          <p:nvPr/>
        </p:nvSpPr>
        <p:spPr>
          <a:xfrm>
            <a:off x="503238" y="5292725"/>
            <a:ext cx="4011612" cy="457200"/>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开关</a:t>
            </a:r>
            <a:r>
              <a:rPr lang="en-US" altLang="zh-CN" sz="2400" dirty="0">
                <a:solidFill>
                  <a:schemeClr val="tx1"/>
                </a:solidFill>
                <a:latin typeface="黑体" panose="02010609060101010101" pitchFamily="49" charset="-122"/>
                <a:ea typeface="黑体" panose="02010609060101010101" pitchFamily="49" charset="-122"/>
              </a:rPr>
              <a:t>K1</a:t>
            </a:r>
            <a:r>
              <a:rPr lang="zh-CN" altLang="en-US" sz="2400" dirty="0">
                <a:solidFill>
                  <a:schemeClr val="tx1"/>
                </a:solidFill>
                <a:latin typeface="黑体" panose="02010609060101010101" pitchFamily="49" charset="-122"/>
                <a:ea typeface="黑体" panose="02010609060101010101" pitchFamily="49" charset="-122"/>
              </a:rPr>
              <a:t>和</a:t>
            </a:r>
            <a:r>
              <a:rPr lang="en-US" altLang="zh-CN" sz="2400" dirty="0">
                <a:solidFill>
                  <a:schemeClr val="tx1"/>
                </a:solidFill>
                <a:latin typeface="黑体" panose="02010609060101010101" pitchFamily="49" charset="-122"/>
                <a:ea typeface="黑体" panose="02010609060101010101" pitchFamily="49" charset="-122"/>
              </a:rPr>
              <a:t>K2</a:t>
            </a:r>
            <a:r>
              <a:rPr lang="zh-CN" altLang="en-US" sz="2400" dirty="0">
                <a:solidFill>
                  <a:schemeClr val="tx1"/>
                </a:solidFill>
                <a:latin typeface="黑体" panose="02010609060101010101" pitchFamily="49" charset="-122"/>
                <a:ea typeface="黑体" panose="02010609060101010101" pitchFamily="49" charset="-122"/>
              </a:rPr>
              <a:t>有互补的关系： </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253856" name="Text Box 32"/>
          <p:cNvSpPr txBox="1"/>
          <p:nvPr/>
        </p:nvSpPr>
        <p:spPr>
          <a:xfrm>
            <a:off x="4514850" y="5284788"/>
            <a:ext cx="2479675" cy="457200"/>
          </a:xfrm>
          <a:prstGeom prst="rect">
            <a:avLst/>
          </a:prstGeom>
          <a:noFill/>
          <a:ln w="9525">
            <a:noFill/>
          </a:ln>
        </p:spPr>
        <p:txBody>
          <a:bodyPr wrap="none">
            <a:spAutoFit/>
          </a:bodyPr>
          <a:p>
            <a:pPr eaLnBrk="1" hangingPunct="1"/>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闭合，</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断开</a:t>
            </a:r>
            <a:r>
              <a:rPr lang="en-US" altLang="zh-CN" sz="2400" dirty="0">
                <a:solidFill>
                  <a:schemeClr val="tx1"/>
                </a:solidFill>
                <a:latin typeface="黑体" panose="02010609060101010101" pitchFamily="49" charset="-122"/>
                <a:ea typeface="黑体" panose="02010609060101010101" pitchFamily="49" charset="-122"/>
              </a:rPr>
              <a:t>;</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2253857" name="Text Box 33"/>
          <p:cNvSpPr txBox="1"/>
          <p:nvPr/>
        </p:nvSpPr>
        <p:spPr>
          <a:xfrm>
            <a:off x="4503738" y="5745163"/>
            <a:ext cx="2479675" cy="457200"/>
          </a:xfrm>
          <a:prstGeom prst="rect">
            <a:avLst/>
          </a:prstGeom>
          <a:noFill/>
          <a:ln w="9525">
            <a:noFill/>
          </a:ln>
        </p:spPr>
        <p:txBody>
          <a:bodyPr wrap="none">
            <a:spAutoFit/>
          </a:bodyPr>
          <a:p>
            <a:pPr eaLnBrk="1" hangingPunct="1"/>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断开，</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闭合</a:t>
            </a:r>
            <a:r>
              <a:rPr lang="en-US" altLang="zh-CN" sz="2400" dirty="0">
                <a:solidFill>
                  <a:schemeClr val="tx1"/>
                </a:solidFill>
                <a:latin typeface="黑体" panose="02010609060101010101" pitchFamily="49" charset="-122"/>
                <a:ea typeface="黑体" panose="02010609060101010101" pitchFamily="49" charset="-122"/>
              </a:rPr>
              <a:t>;</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2253858" name="Text Box 34"/>
          <p:cNvSpPr txBox="1"/>
          <p:nvPr/>
        </p:nvSpPr>
        <p:spPr>
          <a:xfrm>
            <a:off x="2744788" y="4430713"/>
            <a:ext cx="3048000" cy="366712"/>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反馈型采样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2253859" name="Text Box 35"/>
          <p:cNvSpPr txBox="1"/>
          <p:nvPr/>
        </p:nvSpPr>
        <p:spPr>
          <a:xfrm>
            <a:off x="187325" y="2867025"/>
            <a:ext cx="414338"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2253860" name="Oval 36"/>
          <p:cNvSpPr/>
          <p:nvPr/>
        </p:nvSpPr>
        <p:spPr>
          <a:xfrm>
            <a:off x="565150" y="2992438"/>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61" name="Line 37"/>
          <p:cNvSpPr/>
          <p:nvPr/>
        </p:nvSpPr>
        <p:spPr>
          <a:xfrm>
            <a:off x="661988" y="3041650"/>
            <a:ext cx="1206500" cy="0"/>
          </a:xfrm>
          <a:prstGeom prst="line">
            <a:avLst/>
          </a:prstGeom>
          <a:ln w="12700" cap="flat" cmpd="sng">
            <a:solidFill>
              <a:schemeClr val="accent2"/>
            </a:solidFill>
            <a:prstDash val="solid"/>
            <a:headEnd type="none" w="med" len="med"/>
            <a:tailEnd type="none" w="med" len="med"/>
          </a:ln>
        </p:spPr>
      </p:sp>
      <p:sp>
        <p:nvSpPr>
          <p:cNvPr id="2253862" name="AutoShape 38"/>
          <p:cNvSpPr/>
          <p:nvPr/>
        </p:nvSpPr>
        <p:spPr>
          <a:xfrm rot="5400000">
            <a:off x="1849438" y="249078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63" name="Text Box 39"/>
          <p:cNvSpPr txBox="1"/>
          <p:nvPr/>
        </p:nvSpPr>
        <p:spPr>
          <a:xfrm>
            <a:off x="1816100" y="2517775"/>
            <a:ext cx="314325" cy="723900"/>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253864" name="Text Box 40"/>
          <p:cNvSpPr txBox="1"/>
          <p:nvPr/>
        </p:nvSpPr>
        <p:spPr>
          <a:xfrm>
            <a:off x="2001838" y="270510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1</a:t>
            </a:r>
            <a:endParaRPr lang="en-US" altLang="zh-CN" sz="1800" baseline="-25000" dirty="0">
              <a:latin typeface="Times New Roman" panose="02020603050405020304" pitchFamily="18" charset="0"/>
            </a:endParaRPr>
          </a:p>
        </p:txBody>
      </p:sp>
      <p:sp>
        <p:nvSpPr>
          <p:cNvPr id="2253865" name="Oval 41"/>
          <p:cNvSpPr/>
          <p:nvPr/>
        </p:nvSpPr>
        <p:spPr>
          <a:xfrm>
            <a:off x="1101725" y="289560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66" name="Text Box 42"/>
          <p:cNvSpPr txBox="1"/>
          <p:nvPr/>
        </p:nvSpPr>
        <p:spPr>
          <a:xfrm>
            <a:off x="927100" y="2724150"/>
            <a:ext cx="730250" cy="366713"/>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2253867" name="Text Box 43"/>
          <p:cNvSpPr txBox="1"/>
          <p:nvPr/>
        </p:nvSpPr>
        <p:spPr>
          <a:xfrm>
            <a:off x="971550"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OS1</a:t>
            </a:r>
            <a:endParaRPr lang="en-US" altLang="zh-CN" sz="2000" baseline="-25000" dirty="0">
              <a:solidFill>
                <a:srgbClr val="FF0000"/>
              </a:solidFill>
              <a:latin typeface="Times New Roman" panose="02020603050405020304" pitchFamily="18" charset="0"/>
            </a:endParaRPr>
          </a:p>
        </p:txBody>
      </p:sp>
      <p:sp>
        <p:nvSpPr>
          <p:cNvPr id="2253868" name="Line 44"/>
          <p:cNvSpPr/>
          <p:nvPr/>
        </p:nvSpPr>
        <p:spPr>
          <a:xfrm>
            <a:off x="2651125" y="2882900"/>
            <a:ext cx="649288" cy="0"/>
          </a:xfrm>
          <a:prstGeom prst="line">
            <a:avLst/>
          </a:prstGeom>
          <a:ln w="12700" cap="flat" cmpd="sng">
            <a:solidFill>
              <a:schemeClr val="accent2"/>
            </a:solidFill>
            <a:prstDash val="solid"/>
            <a:headEnd type="none" w="med" len="med"/>
            <a:tailEnd type="none" w="med" len="med"/>
          </a:ln>
        </p:spPr>
      </p:sp>
      <p:sp>
        <p:nvSpPr>
          <p:cNvPr id="2253869" name="Line 45"/>
          <p:cNvSpPr/>
          <p:nvPr/>
        </p:nvSpPr>
        <p:spPr>
          <a:xfrm>
            <a:off x="3300413" y="2882900"/>
            <a:ext cx="0" cy="158750"/>
          </a:xfrm>
          <a:prstGeom prst="line">
            <a:avLst/>
          </a:prstGeom>
          <a:ln w="12700" cap="flat" cmpd="sng">
            <a:solidFill>
              <a:schemeClr val="accent2"/>
            </a:solidFill>
            <a:prstDash val="solid"/>
            <a:headEnd type="none" w="med" len="med"/>
            <a:tailEnd type="none" w="med" len="med"/>
          </a:ln>
        </p:spPr>
      </p:sp>
      <p:sp>
        <p:nvSpPr>
          <p:cNvPr id="2253870" name="Line 46"/>
          <p:cNvSpPr/>
          <p:nvPr/>
        </p:nvSpPr>
        <p:spPr>
          <a:xfrm>
            <a:off x="3300413" y="3041650"/>
            <a:ext cx="609600" cy="0"/>
          </a:xfrm>
          <a:prstGeom prst="line">
            <a:avLst/>
          </a:prstGeom>
          <a:ln w="12700" cap="flat" cmpd="sng">
            <a:solidFill>
              <a:schemeClr val="accent2"/>
            </a:solidFill>
            <a:prstDash val="solid"/>
            <a:headEnd type="none" w="med" len="med"/>
            <a:tailEnd type="none" w="med" len="med"/>
          </a:ln>
        </p:spPr>
      </p:sp>
      <p:sp>
        <p:nvSpPr>
          <p:cNvPr id="2253871" name="Oval 47"/>
          <p:cNvSpPr/>
          <p:nvPr/>
        </p:nvSpPr>
        <p:spPr>
          <a:xfrm>
            <a:off x="3905250" y="29987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72" name="Line 48"/>
          <p:cNvSpPr/>
          <p:nvPr/>
        </p:nvSpPr>
        <p:spPr>
          <a:xfrm flipV="1">
            <a:off x="3989388" y="2838450"/>
            <a:ext cx="290512" cy="176213"/>
          </a:xfrm>
          <a:prstGeom prst="line">
            <a:avLst/>
          </a:prstGeom>
          <a:ln w="19050" cap="flat" cmpd="sng">
            <a:solidFill>
              <a:srgbClr val="000080"/>
            </a:solidFill>
            <a:prstDash val="solid"/>
            <a:headEnd type="none" w="med" len="med"/>
            <a:tailEnd type="none" w="med" len="med"/>
          </a:ln>
        </p:spPr>
      </p:sp>
      <p:sp>
        <p:nvSpPr>
          <p:cNvPr id="2253873" name="Oval 49"/>
          <p:cNvSpPr/>
          <p:nvPr/>
        </p:nvSpPr>
        <p:spPr>
          <a:xfrm>
            <a:off x="4216400" y="29924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74" name="Line 50"/>
          <p:cNvSpPr/>
          <p:nvPr/>
        </p:nvSpPr>
        <p:spPr>
          <a:xfrm>
            <a:off x="4313238" y="3041650"/>
            <a:ext cx="2041525" cy="0"/>
          </a:xfrm>
          <a:prstGeom prst="line">
            <a:avLst/>
          </a:prstGeom>
          <a:ln w="12700" cap="flat" cmpd="sng">
            <a:solidFill>
              <a:schemeClr val="accent2"/>
            </a:solidFill>
            <a:prstDash val="solid"/>
            <a:headEnd type="none" w="med" len="med"/>
            <a:tailEnd type="none" w="med" len="med"/>
          </a:ln>
        </p:spPr>
      </p:sp>
      <p:sp>
        <p:nvSpPr>
          <p:cNvPr id="2253875" name="AutoShape 51"/>
          <p:cNvSpPr/>
          <p:nvPr/>
        </p:nvSpPr>
        <p:spPr>
          <a:xfrm rot="5400000">
            <a:off x="6335713" y="249713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76" name="Text Box 52"/>
          <p:cNvSpPr txBox="1"/>
          <p:nvPr/>
        </p:nvSpPr>
        <p:spPr>
          <a:xfrm>
            <a:off x="6329363" y="2524125"/>
            <a:ext cx="314325" cy="723900"/>
          </a:xfrm>
          <a:prstGeom prst="rect">
            <a:avLst/>
          </a:prstGeom>
          <a:noFill/>
          <a:ln w="12700">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253877" name="Text Box 53"/>
          <p:cNvSpPr txBox="1"/>
          <p:nvPr/>
        </p:nvSpPr>
        <p:spPr>
          <a:xfrm>
            <a:off x="6500813" y="272415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2</a:t>
            </a:r>
            <a:endParaRPr lang="en-US" altLang="zh-CN" sz="1800" baseline="-25000" dirty="0">
              <a:latin typeface="Times New Roman" panose="02020603050405020304" pitchFamily="18" charset="0"/>
            </a:endParaRPr>
          </a:p>
        </p:txBody>
      </p:sp>
      <p:sp>
        <p:nvSpPr>
          <p:cNvPr id="2253878" name="Oval 54"/>
          <p:cNvSpPr/>
          <p:nvPr/>
        </p:nvSpPr>
        <p:spPr>
          <a:xfrm>
            <a:off x="4937125" y="299561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79" name="Line 55"/>
          <p:cNvSpPr/>
          <p:nvPr/>
        </p:nvSpPr>
        <p:spPr>
          <a:xfrm>
            <a:off x="4983163" y="3041650"/>
            <a:ext cx="0" cy="476250"/>
          </a:xfrm>
          <a:prstGeom prst="line">
            <a:avLst/>
          </a:prstGeom>
          <a:ln w="12700" cap="flat" cmpd="sng">
            <a:solidFill>
              <a:schemeClr val="accent2"/>
            </a:solidFill>
            <a:prstDash val="solid"/>
            <a:headEnd type="none" w="med" len="med"/>
            <a:tailEnd type="none" w="med" len="med"/>
          </a:ln>
        </p:spPr>
      </p:sp>
      <p:sp>
        <p:nvSpPr>
          <p:cNvPr id="2253882" name="Line 58"/>
          <p:cNvSpPr/>
          <p:nvPr/>
        </p:nvSpPr>
        <p:spPr>
          <a:xfrm>
            <a:off x="4983163" y="3597275"/>
            <a:ext cx="0" cy="411163"/>
          </a:xfrm>
          <a:prstGeom prst="line">
            <a:avLst/>
          </a:prstGeom>
          <a:ln w="12700" cap="flat" cmpd="sng">
            <a:solidFill>
              <a:schemeClr val="accent2"/>
            </a:solidFill>
            <a:prstDash val="solid"/>
            <a:headEnd type="none" w="med" len="med"/>
            <a:tailEnd type="none" w="med" len="med"/>
          </a:ln>
        </p:spPr>
      </p:sp>
      <p:sp>
        <p:nvSpPr>
          <p:cNvPr id="2253883" name="AutoShape 59"/>
          <p:cNvSpPr/>
          <p:nvPr/>
        </p:nvSpPr>
        <p:spPr>
          <a:xfrm rot="10800000">
            <a:off x="4784725" y="4008438"/>
            <a:ext cx="396875" cy="198437"/>
          </a:xfrm>
          <a:prstGeom prst="triangle">
            <a:avLst>
              <a:gd name="adj" fmla="val 50000"/>
            </a:avLst>
          </a:prstGeom>
          <a:no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81" name="Line 57"/>
          <p:cNvSpPr/>
          <p:nvPr/>
        </p:nvSpPr>
        <p:spPr>
          <a:xfrm flipV="1">
            <a:off x="4826000" y="3592513"/>
            <a:ext cx="300038" cy="0"/>
          </a:xfrm>
          <a:prstGeom prst="line">
            <a:avLst/>
          </a:prstGeom>
          <a:ln w="19050" cap="flat" cmpd="sng">
            <a:solidFill>
              <a:srgbClr val="000080"/>
            </a:solidFill>
            <a:prstDash val="solid"/>
            <a:headEnd type="none" w="med" len="med"/>
            <a:tailEnd type="none" w="med" len="med"/>
          </a:ln>
        </p:spPr>
      </p:sp>
      <p:sp>
        <p:nvSpPr>
          <p:cNvPr id="2253884" name="Text Box 60"/>
          <p:cNvSpPr txBox="1"/>
          <p:nvPr/>
        </p:nvSpPr>
        <p:spPr>
          <a:xfrm>
            <a:off x="5075238" y="3371850"/>
            <a:ext cx="482600" cy="366713"/>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2253885" name="Text Box 61"/>
          <p:cNvSpPr txBox="1"/>
          <p:nvPr/>
        </p:nvSpPr>
        <p:spPr>
          <a:xfrm>
            <a:off x="5116513" y="3859213"/>
            <a:ext cx="1017587" cy="366712"/>
          </a:xfrm>
          <a:prstGeom prst="rect">
            <a:avLst/>
          </a:prstGeom>
          <a:noFill/>
          <a:ln w="9525">
            <a:noFill/>
          </a:ln>
        </p:spPr>
        <p:txBody>
          <a:bodyPr>
            <a:spAutoFit/>
          </a:bodyPr>
          <a:p>
            <a:pPr eaLnBrk="1" hangingPunct="1">
              <a:lnSpc>
                <a:spcPct val="90000"/>
              </a:lnSpc>
            </a:pPr>
            <a:r>
              <a:rPr lang="zh-CN" altLang="en-US" sz="2000" dirty="0">
                <a:latin typeface="Times New Roman" panose="02020603050405020304" pitchFamily="18" charset="0"/>
              </a:rPr>
              <a:t>模拟地</a:t>
            </a:r>
            <a:endParaRPr lang="zh-CN" altLang="en-US" sz="2000" dirty="0">
              <a:latin typeface="Times New Roman" panose="02020603050405020304" pitchFamily="18" charset="0"/>
            </a:endParaRPr>
          </a:p>
        </p:txBody>
      </p:sp>
      <p:sp>
        <p:nvSpPr>
          <p:cNvPr id="2253886" name="Oval 62"/>
          <p:cNvSpPr/>
          <p:nvPr/>
        </p:nvSpPr>
        <p:spPr>
          <a:xfrm>
            <a:off x="5719763" y="291465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87" name="Text Box 63"/>
          <p:cNvSpPr txBox="1"/>
          <p:nvPr/>
        </p:nvSpPr>
        <p:spPr>
          <a:xfrm>
            <a:off x="5532438" y="2678113"/>
            <a:ext cx="730250" cy="366712"/>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2253888" name="Text Box 64"/>
          <p:cNvSpPr txBox="1"/>
          <p:nvPr/>
        </p:nvSpPr>
        <p:spPr>
          <a:xfrm>
            <a:off x="5580063"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OS2</a:t>
            </a:r>
            <a:endParaRPr lang="en-US" altLang="zh-CN" sz="2000" baseline="-25000" dirty="0">
              <a:solidFill>
                <a:srgbClr val="FF0000"/>
              </a:solidFill>
              <a:latin typeface="Times New Roman" panose="02020603050405020304" pitchFamily="18" charset="0"/>
            </a:endParaRPr>
          </a:p>
        </p:txBody>
      </p:sp>
      <p:sp>
        <p:nvSpPr>
          <p:cNvPr id="2253890" name="Oval 66"/>
          <p:cNvSpPr/>
          <p:nvPr/>
        </p:nvSpPr>
        <p:spPr>
          <a:xfrm>
            <a:off x="2935288" y="412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92" name="Line 68"/>
          <p:cNvSpPr/>
          <p:nvPr/>
        </p:nvSpPr>
        <p:spPr>
          <a:xfrm>
            <a:off x="2981325" y="3927475"/>
            <a:ext cx="1127125" cy="0"/>
          </a:xfrm>
          <a:prstGeom prst="line">
            <a:avLst/>
          </a:prstGeom>
          <a:ln w="12700" cap="flat" cmpd="sng">
            <a:solidFill>
              <a:srgbClr val="008080"/>
            </a:solidFill>
            <a:prstDash val="dash"/>
            <a:headEnd type="none" w="med" len="med"/>
            <a:tailEnd type="none" w="med" len="med"/>
          </a:ln>
        </p:spPr>
      </p:sp>
      <p:sp>
        <p:nvSpPr>
          <p:cNvPr id="2253893" name="Line 69"/>
          <p:cNvSpPr/>
          <p:nvPr/>
        </p:nvSpPr>
        <p:spPr>
          <a:xfrm flipV="1">
            <a:off x="4108450" y="2947988"/>
            <a:ext cx="0" cy="979487"/>
          </a:xfrm>
          <a:prstGeom prst="line">
            <a:avLst/>
          </a:prstGeom>
          <a:ln w="12700" cap="flat" cmpd="sng">
            <a:solidFill>
              <a:srgbClr val="008080"/>
            </a:solidFill>
            <a:prstDash val="dash"/>
            <a:headEnd type="none" w="med" len="med"/>
            <a:tailEnd type="none" w="med" len="med"/>
          </a:ln>
        </p:spPr>
      </p:sp>
      <p:sp>
        <p:nvSpPr>
          <p:cNvPr id="2253894" name="Text Box 70"/>
          <p:cNvSpPr txBox="1"/>
          <p:nvPr/>
        </p:nvSpPr>
        <p:spPr>
          <a:xfrm>
            <a:off x="3843338" y="2547938"/>
            <a:ext cx="436562"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1</a:t>
            </a:r>
            <a:endParaRPr lang="en-US" altLang="zh-CN" sz="2000" baseline="-25000" dirty="0">
              <a:solidFill>
                <a:srgbClr val="FF0000"/>
              </a:solidFill>
              <a:latin typeface="Times New Roman" panose="02020603050405020304" pitchFamily="18" charset="0"/>
            </a:endParaRPr>
          </a:p>
        </p:txBody>
      </p:sp>
      <p:sp>
        <p:nvSpPr>
          <p:cNvPr id="2253895" name="Text Box 71"/>
          <p:cNvSpPr txBox="1"/>
          <p:nvPr/>
        </p:nvSpPr>
        <p:spPr>
          <a:xfrm>
            <a:off x="3043238" y="3998913"/>
            <a:ext cx="477837"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2253896" name="Text Box 72"/>
          <p:cNvSpPr txBox="1"/>
          <p:nvPr/>
        </p:nvSpPr>
        <p:spPr>
          <a:xfrm>
            <a:off x="4787900" y="2640013"/>
            <a:ext cx="4873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C</a:t>
            </a:r>
            <a:endParaRPr lang="en-US" altLang="zh-CN" sz="2000" baseline="-25000" dirty="0">
              <a:solidFill>
                <a:srgbClr val="FF0000"/>
              </a:solidFill>
              <a:latin typeface="Times New Roman" panose="02020603050405020304" pitchFamily="18" charset="0"/>
            </a:endParaRPr>
          </a:p>
        </p:txBody>
      </p:sp>
      <p:sp>
        <p:nvSpPr>
          <p:cNvPr id="2253897" name="Line 73"/>
          <p:cNvSpPr/>
          <p:nvPr/>
        </p:nvSpPr>
        <p:spPr>
          <a:xfrm>
            <a:off x="7158038" y="2897188"/>
            <a:ext cx="1244600" cy="0"/>
          </a:xfrm>
          <a:prstGeom prst="line">
            <a:avLst/>
          </a:prstGeom>
          <a:ln w="12700" cap="flat" cmpd="sng">
            <a:solidFill>
              <a:schemeClr val="accent2"/>
            </a:solidFill>
            <a:prstDash val="solid"/>
            <a:headEnd type="none" w="med" len="med"/>
            <a:tailEnd type="none" w="med" len="med"/>
          </a:ln>
        </p:spPr>
      </p:sp>
      <p:sp>
        <p:nvSpPr>
          <p:cNvPr id="2253898" name="Oval 74"/>
          <p:cNvSpPr/>
          <p:nvPr/>
        </p:nvSpPr>
        <p:spPr>
          <a:xfrm>
            <a:off x="8407400" y="285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899" name="Text Box 75"/>
          <p:cNvSpPr txBox="1"/>
          <p:nvPr/>
        </p:nvSpPr>
        <p:spPr>
          <a:xfrm>
            <a:off x="8474075" y="2713038"/>
            <a:ext cx="574675" cy="366712"/>
          </a:xfrm>
          <a:prstGeom prst="rect">
            <a:avLst/>
          </a:prstGeom>
          <a:noFill/>
          <a:ln w="9525">
            <a:noFill/>
          </a:ln>
        </p:spPr>
        <p:txBody>
          <a:bodyPr>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2253900" name="Oval 76"/>
          <p:cNvSpPr/>
          <p:nvPr/>
        </p:nvSpPr>
        <p:spPr>
          <a:xfrm>
            <a:off x="7745413" y="28511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01" name="Line 77"/>
          <p:cNvSpPr/>
          <p:nvPr/>
        </p:nvSpPr>
        <p:spPr>
          <a:xfrm flipV="1">
            <a:off x="7793038" y="2246313"/>
            <a:ext cx="0" cy="636587"/>
          </a:xfrm>
          <a:prstGeom prst="line">
            <a:avLst/>
          </a:prstGeom>
          <a:ln w="12700" cap="flat" cmpd="sng">
            <a:solidFill>
              <a:schemeClr val="accent2"/>
            </a:solidFill>
            <a:prstDash val="solid"/>
            <a:headEnd type="none" w="med" len="med"/>
            <a:tailEnd type="none" w="med" len="med"/>
          </a:ln>
        </p:spPr>
      </p:sp>
      <p:sp>
        <p:nvSpPr>
          <p:cNvPr id="2253902" name="Line 78"/>
          <p:cNvSpPr/>
          <p:nvPr/>
        </p:nvSpPr>
        <p:spPr>
          <a:xfrm flipH="1">
            <a:off x="6043613" y="2246313"/>
            <a:ext cx="1749425" cy="0"/>
          </a:xfrm>
          <a:prstGeom prst="line">
            <a:avLst/>
          </a:prstGeom>
          <a:ln w="12700" cap="flat" cmpd="sng">
            <a:solidFill>
              <a:schemeClr val="accent2"/>
            </a:solidFill>
            <a:prstDash val="solid"/>
            <a:headEnd type="none" w="med" len="med"/>
            <a:tailEnd type="none" w="med" len="med"/>
          </a:ln>
        </p:spPr>
      </p:sp>
      <p:sp>
        <p:nvSpPr>
          <p:cNvPr id="2253903" name="Line 79"/>
          <p:cNvSpPr/>
          <p:nvPr/>
        </p:nvSpPr>
        <p:spPr>
          <a:xfrm>
            <a:off x="6043613" y="2246313"/>
            <a:ext cx="0" cy="477837"/>
          </a:xfrm>
          <a:prstGeom prst="line">
            <a:avLst/>
          </a:prstGeom>
          <a:ln w="12700" cap="flat" cmpd="sng">
            <a:solidFill>
              <a:schemeClr val="accent2"/>
            </a:solidFill>
            <a:prstDash val="solid"/>
            <a:headEnd type="none" w="med" len="med"/>
            <a:tailEnd type="none" w="med" len="med"/>
          </a:ln>
        </p:spPr>
      </p:sp>
      <p:sp>
        <p:nvSpPr>
          <p:cNvPr id="2253904" name="Line 80"/>
          <p:cNvSpPr/>
          <p:nvPr/>
        </p:nvSpPr>
        <p:spPr>
          <a:xfrm>
            <a:off x="6043613" y="2724150"/>
            <a:ext cx="317500" cy="0"/>
          </a:xfrm>
          <a:prstGeom prst="line">
            <a:avLst/>
          </a:prstGeom>
          <a:ln w="12700" cap="flat" cmpd="sng">
            <a:solidFill>
              <a:schemeClr val="accent2"/>
            </a:solidFill>
            <a:prstDash val="solid"/>
            <a:headEnd type="none" w="med" len="med"/>
            <a:tailEnd type="none" w="med" len="med"/>
          </a:ln>
        </p:spPr>
      </p:sp>
      <p:sp>
        <p:nvSpPr>
          <p:cNvPr id="2253905" name="Line 81"/>
          <p:cNvSpPr/>
          <p:nvPr/>
        </p:nvSpPr>
        <p:spPr>
          <a:xfrm flipH="1">
            <a:off x="4094163" y="2246313"/>
            <a:ext cx="1949450" cy="0"/>
          </a:xfrm>
          <a:prstGeom prst="line">
            <a:avLst/>
          </a:prstGeom>
          <a:ln w="12700" cap="flat" cmpd="sng">
            <a:solidFill>
              <a:schemeClr val="accent2"/>
            </a:solidFill>
            <a:prstDash val="solid"/>
            <a:headEnd type="none" w="med" len="med"/>
            <a:tailEnd type="none" w="med" len="med"/>
          </a:ln>
        </p:spPr>
      </p:sp>
      <p:sp>
        <p:nvSpPr>
          <p:cNvPr id="2253906" name="Rectangle 82"/>
          <p:cNvSpPr/>
          <p:nvPr/>
        </p:nvSpPr>
        <p:spPr>
          <a:xfrm>
            <a:off x="3843338" y="2206625"/>
            <a:ext cx="369887" cy="889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07" name="Text Box 83"/>
          <p:cNvSpPr txBox="1"/>
          <p:nvPr/>
        </p:nvSpPr>
        <p:spPr>
          <a:xfrm>
            <a:off x="3851275" y="1903413"/>
            <a:ext cx="354013"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R</a:t>
            </a:r>
            <a:endParaRPr lang="en-US" altLang="zh-CN" sz="2000" i="1" dirty="0">
              <a:latin typeface="Times New Roman" panose="02020603050405020304" pitchFamily="18" charset="0"/>
            </a:endParaRPr>
          </a:p>
        </p:txBody>
      </p:sp>
      <p:sp>
        <p:nvSpPr>
          <p:cNvPr id="2253908" name="Line 84"/>
          <p:cNvSpPr/>
          <p:nvPr/>
        </p:nvSpPr>
        <p:spPr>
          <a:xfrm flipH="1">
            <a:off x="1550988" y="2246313"/>
            <a:ext cx="2279650" cy="0"/>
          </a:xfrm>
          <a:prstGeom prst="line">
            <a:avLst/>
          </a:prstGeom>
          <a:ln w="12700" cap="flat" cmpd="sng">
            <a:solidFill>
              <a:schemeClr val="accent2"/>
            </a:solidFill>
            <a:prstDash val="solid"/>
            <a:headEnd type="none" w="med" len="med"/>
            <a:tailEnd type="none" w="med" len="med"/>
          </a:ln>
        </p:spPr>
      </p:sp>
      <p:sp>
        <p:nvSpPr>
          <p:cNvPr id="2253909" name="Line 85"/>
          <p:cNvSpPr/>
          <p:nvPr/>
        </p:nvSpPr>
        <p:spPr>
          <a:xfrm>
            <a:off x="1550988" y="2246313"/>
            <a:ext cx="0" cy="477837"/>
          </a:xfrm>
          <a:prstGeom prst="line">
            <a:avLst/>
          </a:prstGeom>
          <a:ln w="12700" cap="flat" cmpd="sng">
            <a:solidFill>
              <a:schemeClr val="accent2"/>
            </a:solidFill>
            <a:prstDash val="solid"/>
            <a:headEnd type="none" w="med" len="med"/>
            <a:tailEnd type="none" w="med" len="med"/>
          </a:ln>
        </p:spPr>
      </p:sp>
      <p:sp>
        <p:nvSpPr>
          <p:cNvPr id="2253910" name="Line 86"/>
          <p:cNvSpPr/>
          <p:nvPr/>
        </p:nvSpPr>
        <p:spPr>
          <a:xfrm>
            <a:off x="1550988" y="2724150"/>
            <a:ext cx="317500" cy="0"/>
          </a:xfrm>
          <a:prstGeom prst="line">
            <a:avLst/>
          </a:prstGeom>
          <a:ln w="12700" cap="flat" cmpd="sng">
            <a:solidFill>
              <a:schemeClr val="accent2"/>
            </a:solidFill>
            <a:prstDash val="solid"/>
            <a:headEnd type="none" w="med" len="med"/>
            <a:tailEnd type="none" w="med" len="med"/>
          </a:ln>
        </p:spPr>
      </p:sp>
      <p:sp>
        <p:nvSpPr>
          <p:cNvPr id="2253911" name="Line 87"/>
          <p:cNvSpPr/>
          <p:nvPr/>
        </p:nvSpPr>
        <p:spPr>
          <a:xfrm>
            <a:off x="3300413" y="2246313"/>
            <a:ext cx="0" cy="158750"/>
          </a:xfrm>
          <a:prstGeom prst="line">
            <a:avLst/>
          </a:prstGeom>
          <a:ln w="9525" cap="flat" cmpd="sng">
            <a:solidFill>
              <a:schemeClr val="accent2"/>
            </a:solidFill>
            <a:prstDash val="solid"/>
            <a:headEnd type="none" w="med" len="med"/>
            <a:tailEnd type="none" w="med" len="med"/>
          </a:ln>
        </p:spPr>
      </p:sp>
      <p:sp>
        <p:nvSpPr>
          <p:cNvPr id="2253913" name="Oval 89"/>
          <p:cNvSpPr/>
          <p:nvPr/>
        </p:nvSpPr>
        <p:spPr>
          <a:xfrm>
            <a:off x="3252788" y="2400300"/>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14" name="Oval 90"/>
          <p:cNvSpPr/>
          <p:nvPr/>
        </p:nvSpPr>
        <p:spPr>
          <a:xfrm>
            <a:off x="3254375" y="2638425"/>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15" name="Line 91"/>
          <p:cNvSpPr/>
          <p:nvPr/>
        </p:nvSpPr>
        <p:spPr>
          <a:xfrm flipV="1">
            <a:off x="3306763" y="2405063"/>
            <a:ext cx="214312" cy="233362"/>
          </a:xfrm>
          <a:prstGeom prst="line">
            <a:avLst/>
          </a:prstGeom>
          <a:ln w="19050" cap="flat" cmpd="sng">
            <a:solidFill>
              <a:srgbClr val="000080"/>
            </a:solidFill>
            <a:prstDash val="solid"/>
            <a:headEnd type="none" w="med" len="med"/>
            <a:tailEnd type="none" w="med" len="med"/>
          </a:ln>
        </p:spPr>
      </p:sp>
      <p:sp>
        <p:nvSpPr>
          <p:cNvPr id="2253916" name="Line 92"/>
          <p:cNvSpPr/>
          <p:nvPr/>
        </p:nvSpPr>
        <p:spPr>
          <a:xfrm>
            <a:off x="3300413" y="2736850"/>
            <a:ext cx="0" cy="146050"/>
          </a:xfrm>
          <a:prstGeom prst="line">
            <a:avLst/>
          </a:prstGeom>
          <a:ln w="12700" cap="flat" cmpd="sng">
            <a:solidFill>
              <a:schemeClr val="accent2"/>
            </a:solidFill>
            <a:prstDash val="solid"/>
            <a:headEnd type="none" w="med" len="med"/>
            <a:tailEnd type="none" w="med" len="med"/>
          </a:ln>
        </p:spPr>
      </p:sp>
      <p:sp>
        <p:nvSpPr>
          <p:cNvPr id="2253919" name="Line 95"/>
          <p:cNvSpPr/>
          <p:nvPr/>
        </p:nvSpPr>
        <p:spPr>
          <a:xfrm flipV="1">
            <a:off x="2981325" y="2563813"/>
            <a:ext cx="0" cy="1557337"/>
          </a:xfrm>
          <a:prstGeom prst="line">
            <a:avLst/>
          </a:prstGeom>
          <a:ln w="12700" cap="flat" cmpd="sng">
            <a:solidFill>
              <a:srgbClr val="008080"/>
            </a:solidFill>
            <a:prstDash val="dash"/>
            <a:headEnd type="none" w="med" len="med"/>
            <a:tailEnd type="none" w="med" len="med"/>
          </a:ln>
        </p:spPr>
      </p:sp>
      <p:sp>
        <p:nvSpPr>
          <p:cNvPr id="2253920" name="Line 96"/>
          <p:cNvSpPr/>
          <p:nvPr/>
        </p:nvSpPr>
        <p:spPr>
          <a:xfrm>
            <a:off x="2981325" y="2563813"/>
            <a:ext cx="360363" cy="0"/>
          </a:xfrm>
          <a:prstGeom prst="line">
            <a:avLst/>
          </a:prstGeom>
          <a:ln w="12700" cap="flat" cmpd="sng">
            <a:solidFill>
              <a:srgbClr val="008080"/>
            </a:solidFill>
            <a:prstDash val="dash"/>
            <a:headEnd type="none" w="med" len="med"/>
            <a:tailEnd type="none" w="med" len="med"/>
          </a:ln>
        </p:spPr>
      </p:sp>
      <p:sp>
        <p:nvSpPr>
          <p:cNvPr id="2253928" name="Text Box 104"/>
          <p:cNvSpPr txBox="1"/>
          <p:nvPr/>
        </p:nvSpPr>
        <p:spPr>
          <a:xfrm>
            <a:off x="3438525" y="2316163"/>
            <a:ext cx="4365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2</a:t>
            </a:r>
            <a:endParaRPr lang="en-US" altLang="zh-CN" sz="2000" baseline="-25000" dirty="0">
              <a:solidFill>
                <a:srgbClr val="FF0000"/>
              </a:solidFill>
              <a:latin typeface="Times New Roman" panose="02020603050405020304" pitchFamily="18" charset="0"/>
            </a:endParaRPr>
          </a:p>
        </p:txBody>
      </p:sp>
      <p:sp>
        <p:nvSpPr>
          <p:cNvPr id="2253945" name="Text Box 121"/>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3948" name="Text Box 124"/>
          <p:cNvSpPr txBox="1"/>
          <p:nvPr/>
        </p:nvSpPr>
        <p:spPr>
          <a:xfrm>
            <a:off x="900113" y="1412875"/>
            <a:ext cx="4537075" cy="519113"/>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2. </a:t>
            </a:r>
            <a:r>
              <a:rPr lang="zh-CN" altLang="en-US" sz="2800" dirty="0">
                <a:solidFill>
                  <a:srgbClr val="FF0000"/>
                </a:solidFill>
                <a:latin typeface="Times New Roman" panose="02020603050405020304" pitchFamily="18" charset="0"/>
              </a:rPr>
              <a:t>反馈型采样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sp>
        <p:nvSpPr>
          <p:cNvPr id="2253949" name="Line 125"/>
          <p:cNvSpPr/>
          <p:nvPr/>
        </p:nvSpPr>
        <p:spPr>
          <a:xfrm flipV="1">
            <a:off x="4826000" y="3517900"/>
            <a:ext cx="300038" cy="0"/>
          </a:xfrm>
          <a:prstGeom prst="line">
            <a:avLst/>
          </a:prstGeom>
          <a:ln w="19050" cap="flat" cmpd="sng">
            <a:solidFill>
              <a:srgbClr val="000080"/>
            </a:solidFill>
            <a:prstDash val="solid"/>
            <a:headEnd type="none" w="med" len="med"/>
            <a:tailEnd type="none" w="med" len="med"/>
          </a:ln>
        </p:spPr>
      </p:sp>
      <p:sp>
        <p:nvSpPr>
          <p:cNvPr id="2253917" name="AutoShape 93"/>
          <p:cNvSpPr/>
          <p:nvPr/>
        </p:nvSpPr>
        <p:spPr>
          <a:xfrm>
            <a:off x="2781300" y="3340100"/>
            <a:ext cx="398463" cy="35877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18" name="Oval 94"/>
          <p:cNvSpPr/>
          <p:nvPr/>
        </p:nvSpPr>
        <p:spPr>
          <a:xfrm>
            <a:off x="2933700" y="3243263"/>
            <a:ext cx="88900" cy="889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50" name="Oval 126"/>
          <p:cNvSpPr/>
          <p:nvPr/>
        </p:nvSpPr>
        <p:spPr>
          <a:xfrm>
            <a:off x="5999163"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51" name="Oval 127"/>
          <p:cNvSpPr/>
          <p:nvPr/>
        </p:nvSpPr>
        <p:spPr>
          <a:xfrm>
            <a:off x="3260725"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52" name="Oval 128"/>
          <p:cNvSpPr/>
          <p:nvPr/>
        </p:nvSpPr>
        <p:spPr>
          <a:xfrm>
            <a:off x="3260725" y="28384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55" name="AutoShape 131"/>
          <p:cNvSpPr/>
          <p:nvPr/>
        </p:nvSpPr>
        <p:spPr>
          <a:xfrm>
            <a:off x="315913" y="3998913"/>
            <a:ext cx="1685925" cy="722312"/>
          </a:xfrm>
          <a:prstGeom prst="wedgeRoundRectCallout">
            <a:avLst>
              <a:gd name="adj1" fmla="val 9889"/>
              <a:gd name="adj2" fmla="val -11417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en-US" altLang="zh-CN" sz="2400" i="1"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1</a:t>
            </a:r>
            <a:r>
              <a:rPr lang="zh-CN" altLang="en-US" sz="2400" dirty="0">
                <a:solidFill>
                  <a:schemeClr val="tx2"/>
                </a:solidFill>
                <a:latin typeface="Times New Roman" panose="02020603050405020304" pitchFamily="18" charset="0"/>
              </a:rPr>
              <a:t>的输入失调电压</a:t>
            </a:r>
            <a:endParaRPr lang="zh-CN" altLang="en-US" sz="2400" dirty="0">
              <a:solidFill>
                <a:schemeClr val="tx2"/>
              </a:solidFill>
              <a:latin typeface="Times New Roman" panose="02020603050405020304" pitchFamily="18" charset="0"/>
            </a:endParaRPr>
          </a:p>
        </p:txBody>
      </p:sp>
      <p:sp>
        <p:nvSpPr>
          <p:cNvPr id="2253956" name="AutoShape 132"/>
          <p:cNvSpPr/>
          <p:nvPr/>
        </p:nvSpPr>
        <p:spPr>
          <a:xfrm>
            <a:off x="6643688" y="4008438"/>
            <a:ext cx="1685925" cy="722312"/>
          </a:xfrm>
          <a:prstGeom prst="wedgeRoundRectCallout">
            <a:avLst>
              <a:gd name="adj1" fmla="val -76556"/>
              <a:gd name="adj2" fmla="val -11483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en-US" altLang="zh-CN" sz="2400" i="1"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2</a:t>
            </a:r>
            <a:r>
              <a:rPr lang="zh-CN" altLang="en-US" sz="2400" dirty="0">
                <a:solidFill>
                  <a:schemeClr val="tx2"/>
                </a:solidFill>
                <a:latin typeface="Times New Roman" panose="02020603050405020304" pitchFamily="18" charset="0"/>
              </a:rPr>
              <a:t>的输入失调电压</a:t>
            </a:r>
            <a:endParaRPr lang="zh-CN" altLang="en-US" sz="2400" dirty="0">
              <a:solidFill>
                <a:schemeClr val="tx2"/>
              </a:solidFill>
              <a:latin typeface="Times New Roman" panose="02020603050405020304" pitchFamily="18" charset="0"/>
            </a:endParaRPr>
          </a:p>
        </p:txBody>
      </p:sp>
      <p:sp>
        <p:nvSpPr>
          <p:cNvPr id="15435"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3948"/>
                                        </p:tgtEl>
                                        <p:attrNameLst>
                                          <p:attrName>style.visibility</p:attrName>
                                        </p:attrNameLst>
                                      </p:cBhvr>
                                      <p:to>
                                        <p:strVal val="visible"/>
                                      </p:to>
                                    </p:set>
                                    <p:animEffect transition="in" filter="dissolve">
                                      <p:cBhvr>
                                        <p:cTn id="7" dur="500"/>
                                        <p:tgtEl>
                                          <p:spTgt spid="22539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3954"/>
                                        </p:tgtEl>
                                        <p:attrNameLst>
                                          <p:attrName>style.visibility</p:attrName>
                                        </p:attrNameLst>
                                      </p:cBhvr>
                                      <p:to>
                                        <p:strVal val="visible"/>
                                      </p:to>
                                    </p:set>
                                    <p:animEffect transition="in" filter="dissolve">
                                      <p:cBhvr>
                                        <p:cTn id="12" dur="500"/>
                                        <p:tgtEl>
                                          <p:spTgt spid="2253954"/>
                                        </p:tgtEl>
                                      </p:cBhvr>
                                    </p:animEffect>
                                  </p:childTnLst>
                                </p:cTn>
                              </p:par>
                              <p:par>
                                <p:cTn id="13" presetID="9" presetClass="entr" presetSubtype="0" fill="hold" nodeType="withEffect">
                                  <p:stCondLst>
                                    <p:cond delay="0"/>
                                  </p:stCondLst>
                                  <p:childTnLst>
                                    <p:set>
                                      <p:cBhvr>
                                        <p:cTn id="14" dur="1" fill="hold">
                                          <p:stCondLst>
                                            <p:cond delay="0"/>
                                          </p:stCondLst>
                                        </p:cTn>
                                        <p:tgtEl>
                                          <p:spTgt spid="2253858"/>
                                        </p:tgtEl>
                                        <p:attrNameLst>
                                          <p:attrName>style.visibility</p:attrName>
                                        </p:attrNameLst>
                                      </p:cBhvr>
                                      <p:to>
                                        <p:strVal val="visible"/>
                                      </p:to>
                                    </p:set>
                                    <p:animEffect transition="in" filter="dissolve">
                                      <p:cBhvr>
                                        <p:cTn id="15" dur="500"/>
                                        <p:tgtEl>
                                          <p:spTgt spid="2253858"/>
                                        </p:tgtEl>
                                      </p:cBhvr>
                                    </p:animEffect>
                                  </p:childTnLst>
                                </p:cTn>
                              </p:par>
                              <p:par>
                                <p:cTn id="16" presetID="9" presetClass="entr" presetSubtype="0" fill="hold" nodeType="withEffect">
                                  <p:stCondLst>
                                    <p:cond delay="0"/>
                                  </p:stCondLst>
                                  <p:childTnLst>
                                    <p:set>
                                      <p:cBhvr>
                                        <p:cTn id="17" dur="1" fill="hold">
                                          <p:stCondLst>
                                            <p:cond delay="0"/>
                                          </p:stCondLst>
                                        </p:cTn>
                                        <p:tgtEl>
                                          <p:spTgt spid="2253859"/>
                                        </p:tgtEl>
                                        <p:attrNameLst>
                                          <p:attrName>style.visibility</p:attrName>
                                        </p:attrNameLst>
                                      </p:cBhvr>
                                      <p:to>
                                        <p:strVal val="visible"/>
                                      </p:to>
                                    </p:set>
                                    <p:animEffect transition="in" filter="dissolve">
                                      <p:cBhvr>
                                        <p:cTn id="18" dur="500"/>
                                        <p:tgtEl>
                                          <p:spTgt spid="2253859"/>
                                        </p:tgtEl>
                                      </p:cBhvr>
                                    </p:animEffect>
                                  </p:childTnLst>
                                </p:cTn>
                              </p:par>
                              <p:par>
                                <p:cTn id="19" presetID="9" presetClass="entr" presetSubtype="0" fill="hold" nodeType="withEffect">
                                  <p:stCondLst>
                                    <p:cond delay="0"/>
                                  </p:stCondLst>
                                  <p:childTnLst>
                                    <p:set>
                                      <p:cBhvr>
                                        <p:cTn id="20" dur="1" fill="hold">
                                          <p:stCondLst>
                                            <p:cond delay="0"/>
                                          </p:stCondLst>
                                        </p:cTn>
                                        <p:tgtEl>
                                          <p:spTgt spid="2253860"/>
                                        </p:tgtEl>
                                        <p:attrNameLst>
                                          <p:attrName>style.visibility</p:attrName>
                                        </p:attrNameLst>
                                      </p:cBhvr>
                                      <p:to>
                                        <p:strVal val="visible"/>
                                      </p:to>
                                    </p:set>
                                    <p:animEffect transition="in" filter="dissolve">
                                      <p:cBhvr>
                                        <p:cTn id="21" dur="500"/>
                                        <p:tgtEl>
                                          <p:spTgt spid="2253860"/>
                                        </p:tgtEl>
                                      </p:cBhvr>
                                    </p:animEffect>
                                  </p:childTnLst>
                                </p:cTn>
                              </p:par>
                              <p:par>
                                <p:cTn id="22" presetID="9" presetClass="entr" presetSubtype="0" fill="hold" nodeType="withEffect">
                                  <p:stCondLst>
                                    <p:cond delay="0"/>
                                  </p:stCondLst>
                                  <p:childTnLst>
                                    <p:set>
                                      <p:cBhvr>
                                        <p:cTn id="23" dur="1" fill="hold">
                                          <p:stCondLst>
                                            <p:cond delay="0"/>
                                          </p:stCondLst>
                                        </p:cTn>
                                        <p:tgtEl>
                                          <p:spTgt spid="2253861"/>
                                        </p:tgtEl>
                                        <p:attrNameLst>
                                          <p:attrName>style.visibility</p:attrName>
                                        </p:attrNameLst>
                                      </p:cBhvr>
                                      <p:to>
                                        <p:strVal val="visible"/>
                                      </p:to>
                                    </p:set>
                                    <p:animEffect transition="in" filter="dissolve">
                                      <p:cBhvr>
                                        <p:cTn id="24" dur="500"/>
                                        <p:tgtEl>
                                          <p:spTgt spid="2253861"/>
                                        </p:tgtEl>
                                      </p:cBhvr>
                                    </p:animEffect>
                                  </p:childTnLst>
                                </p:cTn>
                              </p:par>
                              <p:par>
                                <p:cTn id="25" presetID="9" presetClass="entr" presetSubtype="0" fill="hold" nodeType="withEffect">
                                  <p:stCondLst>
                                    <p:cond delay="0"/>
                                  </p:stCondLst>
                                  <p:childTnLst>
                                    <p:set>
                                      <p:cBhvr>
                                        <p:cTn id="26" dur="1" fill="hold">
                                          <p:stCondLst>
                                            <p:cond delay="0"/>
                                          </p:stCondLst>
                                        </p:cTn>
                                        <p:tgtEl>
                                          <p:spTgt spid="2253862"/>
                                        </p:tgtEl>
                                        <p:attrNameLst>
                                          <p:attrName>style.visibility</p:attrName>
                                        </p:attrNameLst>
                                      </p:cBhvr>
                                      <p:to>
                                        <p:strVal val="visible"/>
                                      </p:to>
                                    </p:set>
                                    <p:animEffect transition="in" filter="dissolve">
                                      <p:cBhvr>
                                        <p:cTn id="27" dur="500"/>
                                        <p:tgtEl>
                                          <p:spTgt spid="2253862"/>
                                        </p:tgtEl>
                                      </p:cBhvr>
                                    </p:animEffect>
                                  </p:childTnLst>
                                </p:cTn>
                              </p:par>
                              <p:par>
                                <p:cTn id="28" presetID="9" presetClass="entr" presetSubtype="0" fill="hold" nodeType="withEffect">
                                  <p:stCondLst>
                                    <p:cond delay="0"/>
                                  </p:stCondLst>
                                  <p:childTnLst>
                                    <p:set>
                                      <p:cBhvr>
                                        <p:cTn id="29" dur="1" fill="hold">
                                          <p:stCondLst>
                                            <p:cond delay="0"/>
                                          </p:stCondLst>
                                        </p:cTn>
                                        <p:tgtEl>
                                          <p:spTgt spid="2253863"/>
                                        </p:tgtEl>
                                        <p:attrNameLst>
                                          <p:attrName>style.visibility</p:attrName>
                                        </p:attrNameLst>
                                      </p:cBhvr>
                                      <p:to>
                                        <p:strVal val="visible"/>
                                      </p:to>
                                    </p:set>
                                    <p:animEffect transition="in" filter="dissolve">
                                      <p:cBhvr>
                                        <p:cTn id="30" dur="500"/>
                                        <p:tgtEl>
                                          <p:spTgt spid="2253863"/>
                                        </p:tgtEl>
                                      </p:cBhvr>
                                    </p:animEffect>
                                  </p:childTnLst>
                                </p:cTn>
                              </p:par>
                              <p:par>
                                <p:cTn id="31" presetID="9" presetClass="entr" presetSubtype="0" fill="hold" nodeType="withEffect">
                                  <p:stCondLst>
                                    <p:cond delay="0"/>
                                  </p:stCondLst>
                                  <p:childTnLst>
                                    <p:set>
                                      <p:cBhvr>
                                        <p:cTn id="32" dur="1" fill="hold">
                                          <p:stCondLst>
                                            <p:cond delay="0"/>
                                          </p:stCondLst>
                                        </p:cTn>
                                        <p:tgtEl>
                                          <p:spTgt spid="2253864"/>
                                        </p:tgtEl>
                                        <p:attrNameLst>
                                          <p:attrName>style.visibility</p:attrName>
                                        </p:attrNameLst>
                                      </p:cBhvr>
                                      <p:to>
                                        <p:strVal val="visible"/>
                                      </p:to>
                                    </p:set>
                                    <p:animEffect transition="in" filter="dissolve">
                                      <p:cBhvr>
                                        <p:cTn id="33" dur="500"/>
                                        <p:tgtEl>
                                          <p:spTgt spid="2253864"/>
                                        </p:tgtEl>
                                      </p:cBhvr>
                                    </p:animEffect>
                                  </p:childTnLst>
                                </p:cTn>
                              </p:par>
                              <p:par>
                                <p:cTn id="34" presetID="9" presetClass="entr" presetSubtype="0" fill="hold" nodeType="withEffect">
                                  <p:stCondLst>
                                    <p:cond delay="0"/>
                                  </p:stCondLst>
                                  <p:childTnLst>
                                    <p:set>
                                      <p:cBhvr>
                                        <p:cTn id="35" dur="1" fill="hold">
                                          <p:stCondLst>
                                            <p:cond delay="0"/>
                                          </p:stCondLst>
                                        </p:cTn>
                                        <p:tgtEl>
                                          <p:spTgt spid="2253865"/>
                                        </p:tgtEl>
                                        <p:attrNameLst>
                                          <p:attrName>style.visibility</p:attrName>
                                        </p:attrNameLst>
                                      </p:cBhvr>
                                      <p:to>
                                        <p:strVal val="visible"/>
                                      </p:to>
                                    </p:set>
                                    <p:animEffect transition="in" filter="dissolve">
                                      <p:cBhvr>
                                        <p:cTn id="36" dur="500"/>
                                        <p:tgtEl>
                                          <p:spTgt spid="2253865"/>
                                        </p:tgtEl>
                                      </p:cBhvr>
                                    </p:animEffect>
                                  </p:childTnLst>
                                </p:cTn>
                              </p:par>
                              <p:par>
                                <p:cTn id="37" presetID="9" presetClass="entr" presetSubtype="0" fill="hold" nodeType="withEffect">
                                  <p:stCondLst>
                                    <p:cond delay="0"/>
                                  </p:stCondLst>
                                  <p:childTnLst>
                                    <p:set>
                                      <p:cBhvr>
                                        <p:cTn id="38" dur="1" fill="hold">
                                          <p:stCondLst>
                                            <p:cond delay="0"/>
                                          </p:stCondLst>
                                        </p:cTn>
                                        <p:tgtEl>
                                          <p:spTgt spid="2253866"/>
                                        </p:tgtEl>
                                        <p:attrNameLst>
                                          <p:attrName>style.visibility</p:attrName>
                                        </p:attrNameLst>
                                      </p:cBhvr>
                                      <p:to>
                                        <p:strVal val="visible"/>
                                      </p:to>
                                    </p:set>
                                    <p:animEffect transition="in" filter="dissolve">
                                      <p:cBhvr>
                                        <p:cTn id="39" dur="500"/>
                                        <p:tgtEl>
                                          <p:spTgt spid="2253866"/>
                                        </p:tgtEl>
                                      </p:cBhvr>
                                    </p:animEffect>
                                  </p:childTnLst>
                                </p:cTn>
                              </p:par>
                              <p:par>
                                <p:cTn id="40" presetID="9" presetClass="entr" presetSubtype="0" fill="hold" nodeType="withEffect">
                                  <p:stCondLst>
                                    <p:cond delay="0"/>
                                  </p:stCondLst>
                                  <p:childTnLst>
                                    <p:set>
                                      <p:cBhvr>
                                        <p:cTn id="41" dur="1" fill="hold">
                                          <p:stCondLst>
                                            <p:cond delay="0"/>
                                          </p:stCondLst>
                                        </p:cTn>
                                        <p:tgtEl>
                                          <p:spTgt spid="2253867"/>
                                        </p:tgtEl>
                                        <p:attrNameLst>
                                          <p:attrName>style.visibility</p:attrName>
                                        </p:attrNameLst>
                                      </p:cBhvr>
                                      <p:to>
                                        <p:strVal val="visible"/>
                                      </p:to>
                                    </p:set>
                                    <p:animEffect transition="in" filter="dissolve">
                                      <p:cBhvr>
                                        <p:cTn id="42" dur="500"/>
                                        <p:tgtEl>
                                          <p:spTgt spid="2253867"/>
                                        </p:tgtEl>
                                      </p:cBhvr>
                                    </p:animEffect>
                                  </p:childTnLst>
                                </p:cTn>
                              </p:par>
                              <p:par>
                                <p:cTn id="43" presetID="9" presetClass="entr" presetSubtype="0" fill="hold" nodeType="withEffect">
                                  <p:stCondLst>
                                    <p:cond delay="0"/>
                                  </p:stCondLst>
                                  <p:childTnLst>
                                    <p:set>
                                      <p:cBhvr>
                                        <p:cTn id="44" dur="1" fill="hold">
                                          <p:stCondLst>
                                            <p:cond delay="0"/>
                                          </p:stCondLst>
                                        </p:cTn>
                                        <p:tgtEl>
                                          <p:spTgt spid="2253868"/>
                                        </p:tgtEl>
                                        <p:attrNameLst>
                                          <p:attrName>style.visibility</p:attrName>
                                        </p:attrNameLst>
                                      </p:cBhvr>
                                      <p:to>
                                        <p:strVal val="visible"/>
                                      </p:to>
                                    </p:set>
                                    <p:animEffect transition="in" filter="dissolve">
                                      <p:cBhvr>
                                        <p:cTn id="45" dur="500"/>
                                        <p:tgtEl>
                                          <p:spTgt spid="2253868"/>
                                        </p:tgtEl>
                                      </p:cBhvr>
                                    </p:animEffect>
                                  </p:childTnLst>
                                </p:cTn>
                              </p:par>
                              <p:par>
                                <p:cTn id="46" presetID="9" presetClass="entr" presetSubtype="0" fill="hold" nodeType="withEffect">
                                  <p:stCondLst>
                                    <p:cond delay="0"/>
                                  </p:stCondLst>
                                  <p:childTnLst>
                                    <p:set>
                                      <p:cBhvr>
                                        <p:cTn id="47" dur="1" fill="hold">
                                          <p:stCondLst>
                                            <p:cond delay="0"/>
                                          </p:stCondLst>
                                        </p:cTn>
                                        <p:tgtEl>
                                          <p:spTgt spid="2253869"/>
                                        </p:tgtEl>
                                        <p:attrNameLst>
                                          <p:attrName>style.visibility</p:attrName>
                                        </p:attrNameLst>
                                      </p:cBhvr>
                                      <p:to>
                                        <p:strVal val="visible"/>
                                      </p:to>
                                    </p:set>
                                    <p:animEffect transition="in" filter="dissolve">
                                      <p:cBhvr>
                                        <p:cTn id="48" dur="500"/>
                                        <p:tgtEl>
                                          <p:spTgt spid="2253869"/>
                                        </p:tgtEl>
                                      </p:cBhvr>
                                    </p:animEffect>
                                  </p:childTnLst>
                                </p:cTn>
                              </p:par>
                              <p:par>
                                <p:cTn id="49" presetID="9" presetClass="entr" presetSubtype="0" fill="hold" nodeType="withEffect">
                                  <p:stCondLst>
                                    <p:cond delay="0"/>
                                  </p:stCondLst>
                                  <p:childTnLst>
                                    <p:set>
                                      <p:cBhvr>
                                        <p:cTn id="50" dur="1" fill="hold">
                                          <p:stCondLst>
                                            <p:cond delay="0"/>
                                          </p:stCondLst>
                                        </p:cTn>
                                        <p:tgtEl>
                                          <p:spTgt spid="2253870"/>
                                        </p:tgtEl>
                                        <p:attrNameLst>
                                          <p:attrName>style.visibility</p:attrName>
                                        </p:attrNameLst>
                                      </p:cBhvr>
                                      <p:to>
                                        <p:strVal val="visible"/>
                                      </p:to>
                                    </p:set>
                                    <p:animEffect transition="in" filter="dissolve">
                                      <p:cBhvr>
                                        <p:cTn id="51" dur="500"/>
                                        <p:tgtEl>
                                          <p:spTgt spid="2253870"/>
                                        </p:tgtEl>
                                      </p:cBhvr>
                                    </p:animEffect>
                                  </p:childTnLst>
                                </p:cTn>
                              </p:par>
                              <p:par>
                                <p:cTn id="52" presetID="9" presetClass="entr" presetSubtype="0" fill="hold" nodeType="withEffect">
                                  <p:stCondLst>
                                    <p:cond delay="0"/>
                                  </p:stCondLst>
                                  <p:childTnLst>
                                    <p:set>
                                      <p:cBhvr>
                                        <p:cTn id="53" dur="1" fill="hold">
                                          <p:stCondLst>
                                            <p:cond delay="0"/>
                                          </p:stCondLst>
                                        </p:cTn>
                                        <p:tgtEl>
                                          <p:spTgt spid="2253871"/>
                                        </p:tgtEl>
                                        <p:attrNameLst>
                                          <p:attrName>style.visibility</p:attrName>
                                        </p:attrNameLst>
                                      </p:cBhvr>
                                      <p:to>
                                        <p:strVal val="visible"/>
                                      </p:to>
                                    </p:set>
                                    <p:animEffect transition="in" filter="dissolve">
                                      <p:cBhvr>
                                        <p:cTn id="54" dur="500"/>
                                        <p:tgtEl>
                                          <p:spTgt spid="2253871"/>
                                        </p:tgtEl>
                                      </p:cBhvr>
                                    </p:animEffect>
                                  </p:childTnLst>
                                </p:cTn>
                              </p:par>
                              <p:par>
                                <p:cTn id="55" presetID="9" presetClass="entr" presetSubtype="0" fill="hold" nodeType="withEffect">
                                  <p:stCondLst>
                                    <p:cond delay="0"/>
                                  </p:stCondLst>
                                  <p:childTnLst>
                                    <p:set>
                                      <p:cBhvr>
                                        <p:cTn id="56" dur="1" fill="hold">
                                          <p:stCondLst>
                                            <p:cond delay="0"/>
                                          </p:stCondLst>
                                        </p:cTn>
                                        <p:tgtEl>
                                          <p:spTgt spid="2253872"/>
                                        </p:tgtEl>
                                        <p:attrNameLst>
                                          <p:attrName>style.visibility</p:attrName>
                                        </p:attrNameLst>
                                      </p:cBhvr>
                                      <p:to>
                                        <p:strVal val="visible"/>
                                      </p:to>
                                    </p:set>
                                    <p:animEffect transition="in" filter="dissolve">
                                      <p:cBhvr>
                                        <p:cTn id="57" dur="500"/>
                                        <p:tgtEl>
                                          <p:spTgt spid="2253872"/>
                                        </p:tgtEl>
                                      </p:cBhvr>
                                    </p:animEffect>
                                  </p:childTnLst>
                                </p:cTn>
                              </p:par>
                              <p:par>
                                <p:cTn id="58" presetID="9" presetClass="entr" presetSubtype="0" fill="hold" nodeType="withEffect">
                                  <p:stCondLst>
                                    <p:cond delay="0"/>
                                  </p:stCondLst>
                                  <p:childTnLst>
                                    <p:set>
                                      <p:cBhvr>
                                        <p:cTn id="59" dur="1" fill="hold">
                                          <p:stCondLst>
                                            <p:cond delay="0"/>
                                          </p:stCondLst>
                                        </p:cTn>
                                        <p:tgtEl>
                                          <p:spTgt spid="2253873"/>
                                        </p:tgtEl>
                                        <p:attrNameLst>
                                          <p:attrName>style.visibility</p:attrName>
                                        </p:attrNameLst>
                                      </p:cBhvr>
                                      <p:to>
                                        <p:strVal val="visible"/>
                                      </p:to>
                                    </p:set>
                                    <p:animEffect transition="in" filter="dissolve">
                                      <p:cBhvr>
                                        <p:cTn id="60" dur="500"/>
                                        <p:tgtEl>
                                          <p:spTgt spid="2253873"/>
                                        </p:tgtEl>
                                      </p:cBhvr>
                                    </p:animEffect>
                                  </p:childTnLst>
                                </p:cTn>
                              </p:par>
                              <p:par>
                                <p:cTn id="61" presetID="9" presetClass="entr" presetSubtype="0" fill="hold" nodeType="withEffect">
                                  <p:stCondLst>
                                    <p:cond delay="0"/>
                                  </p:stCondLst>
                                  <p:childTnLst>
                                    <p:set>
                                      <p:cBhvr>
                                        <p:cTn id="62" dur="1" fill="hold">
                                          <p:stCondLst>
                                            <p:cond delay="0"/>
                                          </p:stCondLst>
                                        </p:cTn>
                                        <p:tgtEl>
                                          <p:spTgt spid="2253874"/>
                                        </p:tgtEl>
                                        <p:attrNameLst>
                                          <p:attrName>style.visibility</p:attrName>
                                        </p:attrNameLst>
                                      </p:cBhvr>
                                      <p:to>
                                        <p:strVal val="visible"/>
                                      </p:to>
                                    </p:set>
                                    <p:animEffect transition="in" filter="dissolve">
                                      <p:cBhvr>
                                        <p:cTn id="63" dur="500"/>
                                        <p:tgtEl>
                                          <p:spTgt spid="2253874"/>
                                        </p:tgtEl>
                                      </p:cBhvr>
                                    </p:animEffect>
                                  </p:childTnLst>
                                </p:cTn>
                              </p:par>
                              <p:par>
                                <p:cTn id="64" presetID="9" presetClass="entr" presetSubtype="0" fill="hold" nodeType="withEffect">
                                  <p:stCondLst>
                                    <p:cond delay="0"/>
                                  </p:stCondLst>
                                  <p:childTnLst>
                                    <p:set>
                                      <p:cBhvr>
                                        <p:cTn id="65" dur="1" fill="hold">
                                          <p:stCondLst>
                                            <p:cond delay="0"/>
                                          </p:stCondLst>
                                        </p:cTn>
                                        <p:tgtEl>
                                          <p:spTgt spid="2253875"/>
                                        </p:tgtEl>
                                        <p:attrNameLst>
                                          <p:attrName>style.visibility</p:attrName>
                                        </p:attrNameLst>
                                      </p:cBhvr>
                                      <p:to>
                                        <p:strVal val="visible"/>
                                      </p:to>
                                    </p:set>
                                    <p:animEffect transition="in" filter="dissolve">
                                      <p:cBhvr>
                                        <p:cTn id="66" dur="500"/>
                                        <p:tgtEl>
                                          <p:spTgt spid="2253875"/>
                                        </p:tgtEl>
                                      </p:cBhvr>
                                    </p:animEffect>
                                  </p:childTnLst>
                                </p:cTn>
                              </p:par>
                              <p:par>
                                <p:cTn id="67" presetID="9" presetClass="entr" presetSubtype="0" fill="hold" nodeType="withEffect">
                                  <p:stCondLst>
                                    <p:cond delay="0"/>
                                  </p:stCondLst>
                                  <p:childTnLst>
                                    <p:set>
                                      <p:cBhvr>
                                        <p:cTn id="68" dur="1" fill="hold">
                                          <p:stCondLst>
                                            <p:cond delay="0"/>
                                          </p:stCondLst>
                                        </p:cTn>
                                        <p:tgtEl>
                                          <p:spTgt spid="2253876"/>
                                        </p:tgtEl>
                                        <p:attrNameLst>
                                          <p:attrName>style.visibility</p:attrName>
                                        </p:attrNameLst>
                                      </p:cBhvr>
                                      <p:to>
                                        <p:strVal val="visible"/>
                                      </p:to>
                                    </p:set>
                                    <p:animEffect transition="in" filter="dissolve">
                                      <p:cBhvr>
                                        <p:cTn id="69" dur="500"/>
                                        <p:tgtEl>
                                          <p:spTgt spid="2253876"/>
                                        </p:tgtEl>
                                      </p:cBhvr>
                                    </p:animEffect>
                                  </p:childTnLst>
                                </p:cTn>
                              </p:par>
                              <p:par>
                                <p:cTn id="70" presetID="9" presetClass="entr" presetSubtype="0" fill="hold" nodeType="withEffect">
                                  <p:stCondLst>
                                    <p:cond delay="0"/>
                                  </p:stCondLst>
                                  <p:childTnLst>
                                    <p:set>
                                      <p:cBhvr>
                                        <p:cTn id="71" dur="1" fill="hold">
                                          <p:stCondLst>
                                            <p:cond delay="0"/>
                                          </p:stCondLst>
                                        </p:cTn>
                                        <p:tgtEl>
                                          <p:spTgt spid="2253877"/>
                                        </p:tgtEl>
                                        <p:attrNameLst>
                                          <p:attrName>style.visibility</p:attrName>
                                        </p:attrNameLst>
                                      </p:cBhvr>
                                      <p:to>
                                        <p:strVal val="visible"/>
                                      </p:to>
                                    </p:set>
                                    <p:animEffect transition="in" filter="dissolve">
                                      <p:cBhvr>
                                        <p:cTn id="72" dur="500"/>
                                        <p:tgtEl>
                                          <p:spTgt spid="2253877"/>
                                        </p:tgtEl>
                                      </p:cBhvr>
                                    </p:animEffect>
                                  </p:childTnLst>
                                </p:cTn>
                              </p:par>
                              <p:par>
                                <p:cTn id="73" presetID="9" presetClass="entr" presetSubtype="0" fill="hold" nodeType="withEffect">
                                  <p:stCondLst>
                                    <p:cond delay="0"/>
                                  </p:stCondLst>
                                  <p:childTnLst>
                                    <p:set>
                                      <p:cBhvr>
                                        <p:cTn id="74" dur="1" fill="hold">
                                          <p:stCondLst>
                                            <p:cond delay="0"/>
                                          </p:stCondLst>
                                        </p:cTn>
                                        <p:tgtEl>
                                          <p:spTgt spid="2253878"/>
                                        </p:tgtEl>
                                        <p:attrNameLst>
                                          <p:attrName>style.visibility</p:attrName>
                                        </p:attrNameLst>
                                      </p:cBhvr>
                                      <p:to>
                                        <p:strVal val="visible"/>
                                      </p:to>
                                    </p:set>
                                    <p:animEffect transition="in" filter="dissolve">
                                      <p:cBhvr>
                                        <p:cTn id="75" dur="500"/>
                                        <p:tgtEl>
                                          <p:spTgt spid="2253878"/>
                                        </p:tgtEl>
                                      </p:cBhvr>
                                    </p:animEffect>
                                  </p:childTnLst>
                                </p:cTn>
                              </p:par>
                              <p:par>
                                <p:cTn id="76" presetID="9" presetClass="entr" presetSubtype="0" fill="hold" nodeType="withEffect">
                                  <p:stCondLst>
                                    <p:cond delay="0"/>
                                  </p:stCondLst>
                                  <p:childTnLst>
                                    <p:set>
                                      <p:cBhvr>
                                        <p:cTn id="77" dur="1" fill="hold">
                                          <p:stCondLst>
                                            <p:cond delay="0"/>
                                          </p:stCondLst>
                                        </p:cTn>
                                        <p:tgtEl>
                                          <p:spTgt spid="2253879"/>
                                        </p:tgtEl>
                                        <p:attrNameLst>
                                          <p:attrName>style.visibility</p:attrName>
                                        </p:attrNameLst>
                                      </p:cBhvr>
                                      <p:to>
                                        <p:strVal val="visible"/>
                                      </p:to>
                                    </p:set>
                                    <p:animEffect transition="in" filter="dissolve">
                                      <p:cBhvr>
                                        <p:cTn id="78" dur="500"/>
                                        <p:tgtEl>
                                          <p:spTgt spid="2253879"/>
                                        </p:tgtEl>
                                      </p:cBhvr>
                                    </p:animEffect>
                                  </p:childTnLst>
                                </p:cTn>
                              </p:par>
                              <p:par>
                                <p:cTn id="79" presetID="9" presetClass="entr" presetSubtype="0" fill="hold" nodeType="withEffect">
                                  <p:stCondLst>
                                    <p:cond delay="0"/>
                                  </p:stCondLst>
                                  <p:childTnLst>
                                    <p:set>
                                      <p:cBhvr>
                                        <p:cTn id="80" dur="1" fill="hold">
                                          <p:stCondLst>
                                            <p:cond delay="0"/>
                                          </p:stCondLst>
                                        </p:cTn>
                                        <p:tgtEl>
                                          <p:spTgt spid="2253882"/>
                                        </p:tgtEl>
                                        <p:attrNameLst>
                                          <p:attrName>style.visibility</p:attrName>
                                        </p:attrNameLst>
                                      </p:cBhvr>
                                      <p:to>
                                        <p:strVal val="visible"/>
                                      </p:to>
                                    </p:set>
                                    <p:animEffect transition="in" filter="dissolve">
                                      <p:cBhvr>
                                        <p:cTn id="81" dur="500"/>
                                        <p:tgtEl>
                                          <p:spTgt spid="2253882"/>
                                        </p:tgtEl>
                                      </p:cBhvr>
                                    </p:animEffect>
                                  </p:childTnLst>
                                </p:cTn>
                              </p:par>
                              <p:par>
                                <p:cTn id="82" presetID="9" presetClass="entr" presetSubtype="0" fill="hold" nodeType="withEffect">
                                  <p:stCondLst>
                                    <p:cond delay="0"/>
                                  </p:stCondLst>
                                  <p:childTnLst>
                                    <p:set>
                                      <p:cBhvr>
                                        <p:cTn id="83" dur="1" fill="hold">
                                          <p:stCondLst>
                                            <p:cond delay="0"/>
                                          </p:stCondLst>
                                        </p:cTn>
                                        <p:tgtEl>
                                          <p:spTgt spid="2253883"/>
                                        </p:tgtEl>
                                        <p:attrNameLst>
                                          <p:attrName>style.visibility</p:attrName>
                                        </p:attrNameLst>
                                      </p:cBhvr>
                                      <p:to>
                                        <p:strVal val="visible"/>
                                      </p:to>
                                    </p:set>
                                    <p:animEffect transition="in" filter="dissolve">
                                      <p:cBhvr>
                                        <p:cTn id="84" dur="500"/>
                                        <p:tgtEl>
                                          <p:spTgt spid="2253883"/>
                                        </p:tgtEl>
                                      </p:cBhvr>
                                    </p:animEffect>
                                  </p:childTnLst>
                                </p:cTn>
                              </p:par>
                              <p:par>
                                <p:cTn id="85" presetID="9" presetClass="entr" presetSubtype="0" fill="hold" nodeType="withEffect">
                                  <p:stCondLst>
                                    <p:cond delay="0"/>
                                  </p:stCondLst>
                                  <p:childTnLst>
                                    <p:set>
                                      <p:cBhvr>
                                        <p:cTn id="86" dur="1" fill="hold">
                                          <p:stCondLst>
                                            <p:cond delay="0"/>
                                          </p:stCondLst>
                                        </p:cTn>
                                        <p:tgtEl>
                                          <p:spTgt spid="2253881"/>
                                        </p:tgtEl>
                                        <p:attrNameLst>
                                          <p:attrName>style.visibility</p:attrName>
                                        </p:attrNameLst>
                                      </p:cBhvr>
                                      <p:to>
                                        <p:strVal val="visible"/>
                                      </p:to>
                                    </p:set>
                                    <p:animEffect transition="in" filter="dissolve">
                                      <p:cBhvr>
                                        <p:cTn id="87" dur="500"/>
                                        <p:tgtEl>
                                          <p:spTgt spid="2253881"/>
                                        </p:tgtEl>
                                      </p:cBhvr>
                                    </p:animEffect>
                                  </p:childTnLst>
                                </p:cTn>
                              </p:par>
                              <p:par>
                                <p:cTn id="88" presetID="9" presetClass="entr" presetSubtype="0" fill="hold" nodeType="withEffect">
                                  <p:stCondLst>
                                    <p:cond delay="0"/>
                                  </p:stCondLst>
                                  <p:childTnLst>
                                    <p:set>
                                      <p:cBhvr>
                                        <p:cTn id="89" dur="1" fill="hold">
                                          <p:stCondLst>
                                            <p:cond delay="0"/>
                                          </p:stCondLst>
                                        </p:cTn>
                                        <p:tgtEl>
                                          <p:spTgt spid="2253884"/>
                                        </p:tgtEl>
                                        <p:attrNameLst>
                                          <p:attrName>style.visibility</p:attrName>
                                        </p:attrNameLst>
                                      </p:cBhvr>
                                      <p:to>
                                        <p:strVal val="visible"/>
                                      </p:to>
                                    </p:set>
                                    <p:animEffect transition="in" filter="dissolve">
                                      <p:cBhvr>
                                        <p:cTn id="90" dur="500"/>
                                        <p:tgtEl>
                                          <p:spTgt spid="2253884"/>
                                        </p:tgtEl>
                                      </p:cBhvr>
                                    </p:animEffect>
                                  </p:childTnLst>
                                </p:cTn>
                              </p:par>
                              <p:par>
                                <p:cTn id="91" presetID="9" presetClass="entr" presetSubtype="0" fill="hold" nodeType="withEffect">
                                  <p:stCondLst>
                                    <p:cond delay="0"/>
                                  </p:stCondLst>
                                  <p:childTnLst>
                                    <p:set>
                                      <p:cBhvr>
                                        <p:cTn id="92" dur="1" fill="hold">
                                          <p:stCondLst>
                                            <p:cond delay="0"/>
                                          </p:stCondLst>
                                        </p:cTn>
                                        <p:tgtEl>
                                          <p:spTgt spid="2253885"/>
                                        </p:tgtEl>
                                        <p:attrNameLst>
                                          <p:attrName>style.visibility</p:attrName>
                                        </p:attrNameLst>
                                      </p:cBhvr>
                                      <p:to>
                                        <p:strVal val="visible"/>
                                      </p:to>
                                    </p:set>
                                    <p:animEffect transition="in" filter="dissolve">
                                      <p:cBhvr>
                                        <p:cTn id="93" dur="500"/>
                                        <p:tgtEl>
                                          <p:spTgt spid="2253885"/>
                                        </p:tgtEl>
                                      </p:cBhvr>
                                    </p:animEffect>
                                  </p:childTnLst>
                                </p:cTn>
                              </p:par>
                              <p:par>
                                <p:cTn id="94" presetID="9" presetClass="entr" presetSubtype="0" fill="hold" nodeType="withEffect">
                                  <p:stCondLst>
                                    <p:cond delay="0"/>
                                  </p:stCondLst>
                                  <p:childTnLst>
                                    <p:set>
                                      <p:cBhvr>
                                        <p:cTn id="95" dur="1" fill="hold">
                                          <p:stCondLst>
                                            <p:cond delay="0"/>
                                          </p:stCondLst>
                                        </p:cTn>
                                        <p:tgtEl>
                                          <p:spTgt spid="2253886"/>
                                        </p:tgtEl>
                                        <p:attrNameLst>
                                          <p:attrName>style.visibility</p:attrName>
                                        </p:attrNameLst>
                                      </p:cBhvr>
                                      <p:to>
                                        <p:strVal val="visible"/>
                                      </p:to>
                                    </p:set>
                                    <p:animEffect transition="in" filter="dissolve">
                                      <p:cBhvr>
                                        <p:cTn id="96" dur="500"/>
                                        <p:tgtEl>
                                          <p:spTgt spid="2253886"/>
                                        </p:tgtEl>
                                      </p:cBhvr>
                                    </p:animEffect>
                                  </p:childTnLst>
                                </p:cTn>
                              </p:par>
                              <p:par>
                                <p:cTn id="97" presetID="9" presetClass="entr" presetSubtype="0" fill="hold" nodeType="withEffect">
                                  <p:stCondLst>
                                    <p:cond delay="0"/>
                                  </p:stCondLst>
                                  <p:childTnLst>
                                    <p:set>
                                      <p:cBhvr>
                                        <p:cTn id="98" dur="1" fill="hold">
                                          <p:stCondLst>
                                            <p:cond delay="0"/>
                                          </p:stCondLst>
                                        </p:cTn>
                                        <p:tgtEl>
                                          <p:spTgt spid="2253887"/>
                                        </p:tgtEl>
                                        <p:attrNameLst>
                                          <p:attrName>style.visibility</p:attrName>
                                        </p:attrNameLst>
                                      </p:cBhvr>
                                      <p:to>
                                        <p:strVal val="visible"/>
                                      </p:to>
                                    </p:set>
                                    <p:animEffect transition="in" filter="dissolve">
                                      <p:cBhvr>
                                        <p:cTn id="99" dur="500"/>
                                        <p:tgtEl>
                                          <p:spTgt spid="2253887"/>
                                        </p:tgtEl>
                                      </p:cBhvr>
                                    </p:animEffect>
                                  </p:childTnLst>
                                </p:cTn>
                              </p:par>
                              <p:par>
                                <p:cTn id="100" presetID="9" presetClass="entr" presetSubtype="0" fill="hold" nodeType="withEffect">
                                  <p:stCondLst>
                                    <p:cond delay="0"/>
                                  </p:stCondLst>
                                  <p:childTnLst>
                                    <p:set>
                                      <p:cBhvr>
                                        <p:cTn id="101" dur="1" fill="hold">
                                          <p:stCondLst>
                                            <p:cond delay="0"/>
                                          </p:stCondLst>
                                        </p:cTn>
                                        <p:tgtEl>
                                          <p:spTgt spid="2253888"/>
                                        </p:tgtEl>
                                        <p:attrNameLst>
                                          <p:attrName>style.visibility</p:attrName>
                                        </p:attrNameLst>
                                      </p:cBhvr>
                                      <p:to>
                                        <p:strVal val="visible"/>
                                      </p:to>
                                    </p:set>
                                    <p:animEffect transition="in" filter="dissolve">
                                      <p:cBhvr>
                                        <p:cTn id="102" dur="500"/>
                                        <p:tgtEl>
                                          <p:spTgt spid="2253888"/>
                                        </p:tgtEl>
                                      </p:cBhvr>
                                    </p:animEffect>
                                  </p:childTnLst>
                                </p:cTn>
                              </p:par>
                              <p:par>
                                <p:cTn id="103" presetID="9" presetClass="entr" presetSubtype="0" fill="hold" nodeType="withEffect">
                                  <p:stCondLst>
                                    <p:cond delay="0"/>
                                  </p:stCondLst>
                                  <p:childTnLst>
                                    <p:set>
                                      <p:cBhvr>
                                        <p:cTn id="104" dur="1" fill="hold">
                                          <p:stCondLst>
                                            <p:cond delay="0"/>
                                          </p:stCondLst>
                                        </p:cTn>
                                        <p:tgtEl>
                                          <p:spTgt spid="2253890"/>
                                        </p:tgtEl>
                                        <p:attrNameLst>
                                          <p:attrName>style.visibility</p:attrName>
                                        </p:attrNameLst>
                                      </p:cBhvr>
                                      <p:to>
                                        <p:strVal val="visible"/>
                                      </p:to>
                                    </p:set>
                                    <p:animEffect transition="in" filter="dissolve">
                                      <p:cBhvr>
                                        <p:cTn id="105" dur="500"/>
                                        <p:tgtEl>
                                          <p:spTgt spid="2253890"/>
                                        </p:tgtEl>
                                      </p:cBhvr>
                                    </p:animEffect>
                                  </p:childTnLst>
                                </p:cTn>
                              </p:par>
                              <p:par>
                                <p:cTn id="106" presetID="9" presetClass="entr" presetSubtype="0" fill="hold" nodeType="withEffect">
                                  <p:stCondLst>
                                    <p:cond delay="0"/>
                                  </p:stCondLst>
                                  <p:childTnLst>
                                    <p:set>
                                      <p:cBhvr>
                                        <p:cTn id="107" dur="1" fill="hold">
                                          <p:stCondLst>
                                            <p:cond delay="0"/>
                                          </p:stCondLst>
                                        </p:cTn>
                                        <p:tgtEl>
                                          <p:spTgt spid="2253892"/>
                                        </p:tgtEl>
                                        <p:attrNameLst>
                                          <p:attrName>style.visibility</p:attrName>
                                        </p:attrNameLst>
                                      </p:cBhvr>
                                      <p:to>
                                        <p:strVal val="visible"/>
                                      </p:to>
                                    </p:set>
                                    <p:animEffect transition="in" filter="dissolve">
                                      <p:cBhvr>
                                        <p:cTn id="108" dur="500"/>
                                        <p:tgtEl>
                                          <p:spTgt spid="2253892"/>
                                        </p:tgtEl>
                                      </p:cBhvr>
                                    </p:animEffect>
                                  </p:childTnLst>
                                </p:cTn>
                              </p:par>
                              <p:par>
                                <p:cTn id="109" presetID="9" presetClass="entr" presetSubtype="0" fill="hold" nodeType="withEffect">
                                  <p:stCondLst>
                                    <p:cond delay="0"/>
                                  </p:stCondLst>
                                  <p:childTnLst>
                                    <p:set>
                                      <p:cBhvr>
                                        <p:cTn id="110" dur="1" fill="hold">
                                          <p:stCondLst>
                                            <p:cond delay="0"/>
                                          </p:stCondLst>
                                        </p:cTn>
                                        <p:tgtEl>
                                          <p:spTgt spid="2253893"/>
                                        </p:tgtEl>
                                        <p:attrNameLst>
                                          <p:attrName>style.visibility</p:attrName>
                                        </p:attrNameLst>
                                      </p:cBhvr>
                                      <p:to>
                                        <p:strVal val="visible"/>
                                      </p:to>
                                    </p:set>
                                    <p:animEffect transition="in" filter="dissolve">
                                      <p:cBhvr>
                                        <p:cTn id="111" dur="500"/>
                                        <p:tgtEl>
                                          <p:spTgt spid="2253893"/>
                                        </p:tgtEl>
                                      </p:cBhvr>
                                    </p:animEffect>
                                  </p:childTnLst>
                                </p:cTn>
                              </p:par>
                              <p:par>
                                <p:cTn id="112" presetID="9" presetClass="entr" presetSubtype="0" fill="hold" nodeType="withEffect">
                                  <p:stCondLst>
                                    <p:cond delay="0"/>
                                  </p:stCondLst>
                                  <p:childTnLst>
                                    <p:set>
                                      <p:cBhvr>
                                        <p:cTn id="113" dur="1" fill="hold">
                                          <p:stCondLst>
                                            <p:cond delay="0"/>
                                          </p:stCondLst>
                                        </p:cTn>
                                        <p:tgtEl>
                                          <p:spTgt spid="2253894"/>
                                        </p:tgtEl>
                                        <p:attrNameLst>
                                          <p:attrName>style.visibility</p:attrName>
                                        </p:attrNameLst>
                                      </p:cBhvr>
                                      <p:to>
                                        <p:strVal val="visible"/>
                                      </p:to>
                                    </p:set>
                                    <p:animEffect transition="in" filter="dissolve">
                                      <p:cBhvr>
                                        <p:cTn id="114" dur="500"/>
                                        <p:tgtEl>
                                          <p:spTgt spid="2253894"/>
                                        </p:tgtEl>
                                      </p:cBhvr>
                                    </p:animEffect>
                                  </p:childTnLst>
                                </p:cTn>
                              </p:par>
                              <p:par>
                                <p:cTn id="115" presetID="9" presetClass="entr" presetSubtype="0" fill="hold" nodeType="withEffect">
                                  <p:stCondLst>
                                    <p:cond delay="0"/>
                                  </p:stCondLst>
                                  <p:childTnLst>
                                    <p:set>
                                      <p:cBhvr>
                                        <p:cTn id="116" dur="1" fill="hold">
                                          <p:stCondLst>
                                            <p:cond delay="0"/>
                                          </p:stCondLst>
                                        </p:cTn>
                                        <p:tgtEl>
                                          <p:spTgt spid="2253895"/>
                                        </p:tgtEl>
                                        <p:attrNameLst>
                                          <p:attrName>style.visibility</p:attrName>
                                        </p:attrNameLst>
                                      </p:cBhvr>
                                      <p:to>
                                        <p:strVal val="visible"/>
                                      </p:to>
                                    </p:set>
                                    <p:animEffect transition="in" filter="dissolve">
                                      <p:cBhvr>
                                        <p:cTn id="117" dur="500"/>
                                        <p:tgtEl>
                                          <p:spTgt spid="2253895"/>
                                        </p:tgtEl>
                                      </p:cBhvr>
                                    </p:animEffect>
                                  </p:childTnLst>
                                </p:cTn>
                              </p:par>
                              <p:par>
                                <p:cTn id="118" presetID="9" presetClass="entr" presetSubtype="0" fill="hold" nodeType="withEffect">
                                  <p:stCondLst>
                                    <p:cond delay="0"/>
                                  </p:stCondLst>
                                  <p:childTnLst>
                                    <p:set>
                                      <p:cBhvr>
                                        <p:cTn id="119" dur="1" fill="hold">
                                          <p:stCondLst>
                                            <p:cond delay="0"/>
                                          </p:stCondLst>
                                        </p:cTn>
                                        <p:tgtEl>
                                          <p:spTgt spid="2253896"/>
                                        </p:tgtEl>
                                        <p:attrNameLst>
                                          <p:attrName>style.visibility</p:attrName>
                                        </p:attrNameLst>
                                      </p:cBhvr>
                                      <p:to>
                                        <p:strVal val="visible"/>
                                      </p:to>
                                    </p:set>
                                    <p:animEffect transition="in" filter="dissolve">
                                      <p:cBhvr>
                                        <p:cTn id="120" dur="500"/>
                                        <p:tgtEl>
                                          <p:spTgt spid="2253896"/>
                                        </p:tgtEl>
                                      </p:cBhvr>
                                    </p:animEffect>
                                  </p:childTnLst>
                                </p:cTn>
                              </p:par>
                              <p:par>
                                <p:cTn id="121" presetID="9" presetClass="entr" presetSubtype="0" fill="hold" nodeType="withEffect">
                                  <p:stCondLst>
                                    <p:cond delay="0"/>
                                  </p:stCondLst>
                                  <p:childTnLst>
                                    <p:set>
                                      <p:cBhvr>
                                        <p:cTn id="122" dur="1" fill="hold">
                                          <p:stCondLst>
                                            <p:cond delay="0"/>
                                          </p:stCondLst>
                                        </p:cTn>
                                        <p:tgtEl>
                                          <p:spTgt spid="2253897"/>
                                        </p:tgtEl>
                                        <p:attrNameLst>
                                          <p:attrName>style.visibility</p:attrName>
                                        </p:attrNameLst>
                                      </p:cBhvr>
                                      <p:to>
                                        <p:strVal val="visible"/>
                                      </p:to>
                                    </p:set>
                                    <p:animEffect transition="in" filter="dissolve">
                                      <p:cBhvr>
                                        <p:cTn id="123" dur="500"/>
                                        <p:tgtEl>
                                          <p:spTgt spid="2253897"/>
                                        </p:tgtEl>
                                      </p:cBhvr>
                                    </p:animEffect>
                                  </p:childTnLst>
                                </p:cTn>
                              </p:par>
                              <p:par>
                                <p:cTn id="124" presetID="9" presetClass="entr" presetSubtype="0" fill="hold" nodeType="withEffect">
                                  <p:stCondLst>
                                    <p:cond delay="0"/>
                                  </p:stCondLst>
                                  <p:childTnLst>
                                    <p:set>
                                      <p:cBhvr>
                                        <p:cTn id="125" dur="1" fill="hold">
                                          <p:stCondLst>
                                            <p:cond delay="0"/>
                                          </p:stCondLst>
                                        </p:cTn>
                                        <p:tgtEl>
                                          <p:spTgt spid="2253898"/>
                                        </p:tgtEl>
                                        <p:attrNameLst>
                                          <p:attrName>style.visibility</p:attrName>
                                        </p:attrNameLst>
                                      </p:cBhvr>
                                      <p:to>
                                        <p:strVal val="visible"/>
                                      </p:to>
                                    </p:set>
                                    <p:animEffect transition="in" filter="dissolve">
                                      <p:cBhvr>
                                        <p:cTn id="126" dur="500"/>
                                        <p:tgtEl>
                                          <p:spTgt spid="2253898"/>
                                        </p:tgtEl>
                                      </p:cBhvr>
                                    </p:animEffect>
                                  </p:childTnLst>
                                </p:cTn>
                              </p:par>
                              <p:par>
                                <p:cTn id="127" presetID="9" presetClass="entr" presetSubtype="0" fill="hold" nodeType="withEffect">
                                  <p:stCondLst>
                                    <p:cond delay="0"/>
                                  </p:stCondLst>
                                  <p:childTnLst>
                                    <p:set>
                                      <p:cBhvr>
                                        <p:cTn id="128" dur="1" fill="hold">
                                          <p:stCondLst>
                                            <p:cond delay="0"/>
                                          </p:stCondLst>
                                        </p:cTn>
                                        <p:tgtEl>
                                          <p:spTgt spid="2253899"/>
                                        </p:tgtEl>
                                        <p:attrNameLst>
                                          <p:attrName>style.visibility</p:attrName>
                                        </p:attrNameLst>
                                      </p:cBhvr>
                                      <p:to>
                                        <p:strVal val="visible"/>
                                      </p:to>
                                    </p:set>
                                    <p:animEffect transition="in" filter="dissolve">
                                      <p:cBhvr>
                                        <p:cTn id="129" dur="500"/>
                                        <p:tgtEl>
                                          <p:spTgt spid="2253899"/>
                                        </p:tgtEl>
                                      </p:cBhvr>
                                    </p:animEffect>
                                  </p:childTnLst>
                                </p:cTn>
                              </p:par>
                              <p:par>
                                <p:cTn id="130" presetID="9" presetClass="entr" presetSubtype="0" fill="hold" nodeType="withEffect">
                                  <p:stCondLst>
                                    <p:cond delay="0"/>
                                  </p:stCondLst>
                                  <p:childTnLst>
                                    <p:set>
                                      <p:cBhvr>
                                        <p:cTn id="131" dur="1" fill="hold">
                                          <p:stCondLst>
                                            <p:cond delay="0"/>
                                          </p:stCondLst>
                                        </p:cTn>
                                        <p:tgtEl>
                                          <p:spTgt spid="2253900"/>
                                        </p:tgtEl>
                                        <p:attrNameLst>
                                          <p:attrName>style.visibility</p:attrName>
                                        </p:attrNameLst>
                                      </p:cBhvr>
                                      <p:to>
                                        <p:strVal val="visible"/>
                                      </p:to>
                                    </p:set>
                                    <p:animEffect transition="in" filter="dissolve">
                                      <p:cBhvr>
                                        <p:cTn id="132" dur="500"/>
                                        <p:tgtEl>
                                          <p:spTgt spid="2253900"/>
                                        </p:tgtEl>
                                      </p:cBhvr>
                                    </p:animEffect>
                                  </p:childTnLst>
                                </p:cTn>
                              </p:par>
                              <p:par>
                                <p:cTn id="133" presetID="9" presetClass="entr" presetSubtype="0" fill="hold" nodeType="withEffect">
                                  <p:stCondLst>
                                    <p:cond delay="0"/>
                                  </p:stCondLst>
                                  <p:childTnLst>
                                    <p:set>
                                      <p:cBhvr>
                                        <p:cTn id="134" dur="1" fill="hold">
                                          <p:stCondLst>
                                            <p:cond delay="0"/>
                                          </p:stCondLst>
                                        </p:cTn>
                                        <p:tgtEl>
                                          <p:spTgt spid="2253901"/>
                                        </p:tgtEl>
                                        <p:attrNameLst>
                                          <p:attrName>style.visibility</p:attrName>
                                        </p:attrNameLst>
                                      </p:cBhvr>
                                      <p:to>
                                        <p:strVal val="visible"/>
                                      </p:to>
                                    </p:set>
                                    <p:animEffect transition="in" filter="dissolve">
                                      <p:cBhvr>
                                        <p:cTn id="135" dur="500"/>
                                        <p:tgtEl>
                                          <p:spTgt spid="2253901"/>
                                        </p:tgtEl>
                                      </p:cBhvr>
                                    </p:animEffect>
                                  </p:childTnLst>
                                </p:cTn>
                              </p:par>
                              <p:par>
                                <p:cTn id="136" presetID="9" presetClass="entr" presetSubtype="0" fill="hold" nodeType="withEffect">
                                  <p:stCondLst>
                                    <p:cond delay="0"/>
                                  </p:stCondLst>
                                  <p:childTnLst>
                                    <p:set>
                                      <p:cBhvr>
                                        <p:cTn id="137" dur="1" fill="hold">
                                          <p:stCondLst>
                                            <p:cond delay="0"/>
                                          </p:stCondLst>
                                        </p:cTn>
                                        <p:tgtEl>
                                          <p:spTgt spid="2253902"/>
                                        </p:tgtEl>
                                        <p:attrNameLst>
                                          <p:attrName>style.visibility</p:attrName>
                                        </p:attrNameLst>
                                      </p:cBhvr>
                                      <p:to>
                                        <p:strVal val="visible"/>
                                      </p:to>
                                    </p:set>
                                    <p:animEffect transition="in" filter="dissolve">
                                      <p:cBhvr>
                                        <p:cTn id="138" dur="500"/>
                                        <p:tgtEl>
                                          <p:spTgt spid="2253902"/>
                                        </p:tgtEl>
                                      </p:cBhvr>
                                    </p:animEffect>
                                  </p:childTnLst>
                                </p:cTn>
                              </p:par>
                              <p:par>
                                <p:cTn id="139" presetID="9" presetClass="entr" presetSubtype="0" fill="hold" nodeType="withEffect">
                                  <p:stCondLst>
                                    <p:cond delay="0"/>
                                  </p:stCondLst>
                                  <p:childTnLst>
                                    <p:set>
                                      <p:cBhvr>
                                        <p:cTn id="140" dur="1" fill="hold">
                                          <p:stCondLst>
                                            <p:cond delay="0"/>
                                          </p:stCondLst>
                                        </p:cTn>
                                        <p:tgtEl>
                                          <p:spTgt spid="2253903"/>
                                        </p:tgtEl>
                                        <p:attrNameLst>
                                          <p:attrName>style.visibility</p:attrName>
                                        </p:attrNameLst>
                                      </p:cBhvr>
                                      <p:to>
                                        <p:strVal val="visible"/>
                                      </p:to>
                                    </p:set>
                                    <p:animEffect transition="in" filter="dissolve">
                                      <p:cBhvr>
                                        <p:cTn id="141" dur="500"/>
                                        <p:tgtEl>
                                          <p:spTgt spid="2253903"/>
                                        </p:tgtEl>
                                      </p:cBhvr>
                                    </p:animEffect>
                                  </p:childTnLst>
                                </p:cTn>
                              </p:par>
                              <p:par>
                                <p:cTn id="142" presetID="9" presetClass="entr" presetSubtype="0" fill="hold" nodeType="withEffect">
                                  <p:stCondLst>
                                    <p:cond delay="0"/>
                                  </p:stCondLst>
                                  <p:childTnLst>
                                    <p:set>
                                      <p:cBhvr>
                                        <p:cTn id="143" dur="1" fill="hold">
                                          <p:stCondLst>
                                            <p:cond delay="0"/>
                                          </p:stCondLst>
                                        </p:cTn>
                                        <p:tgtEl>
                                          <p:spTgt spid="2253904"/>
                                        </p:tgtEl>
                                        <p:attrNameLst>
                                          <p:attrName>style.visibility</p:attrName>
                                        </p:attrNameLst>
                                      </p:cBhvr>
                                      <p:to>
                                        <p:strVal val="visible"/>
                                      </p:to>
                                    </p:set>
                                    <p:animEffect transition="in" filter="dissolve">
                                      <p:cBhvr>
                                        <p:cTn id="144" dur="500"/>
                                        <p:tgtEl>
                                          <p:spTgt spid="2253904"/>
                                        </p:tgtEl>
                                      </p:cBhvr>
                                    </p:animEffect>
                                  </p:childTnLst>
                                </p:cTn>
                              </p:par>
                              <p:par>
                                <p:cTn id="145" presetID="9" presetClass="entr" presetSubtype="0" fill="hold" nodeType="withEffect">
                                  <p:stCondLst>
                                    <p:cond delay="0"/>
                                  </p:stCondLst>
                                  <p:childTnLst>
                                    <p:set>
                                      <p:cBhvr>
                                        <p:cTn id="146" dur="1" fill="hold">
                                          <p:stCondLst>
                                            <p:cond delay="0"/>
                                          </p:stCondLst>
                                        </p:cTn>
                                        <p:tgtEl>
                                          <p:spTgt spid="2253905"/>
                                        </p:tgtEl>
                                        <p:attrNameLst>
                                          <p:attrName>style.visibility</p:attrName>
                                        </p:attrNameLst>
                                      </p:cBhvr>
                                      <p:to>
                                        <p:strVal val="visible"/>
                                      </p:to>
                                    </p:set>
                                    <p:animEffect transition="in" filter="dissolve">
                                      <p:cBhvr>
                                        <p:cTn id="147" dur="500"/>
                                        <p:tgtEl>
                                          <p:spTgt spid="2253905"/>
                                        </p:tgtEl>
                                      </p:cBhvr>
                                    </p:animEffect>
                                  </p:childTnLst>
                                </p:cTn>
                              </p:par>
                              <p:par>
                                <p:cTn id="148" presetID="9" presetClass="entr" presetSubtype="0" fill="hold" nodeType="withEffect">
                                  <p:stCondLst>
                                    <p:cond delay="0"/>
                                  </p:stCondLst>
                                  <p:childTnLst>
                                    <p:set>
                                      <p:cBhvr>
                                        <p:cTn id="149" dur="1" fill="hold">
                                          <p:stCondLst>
                                            <p:cond delay="0"/>
                                          </p:stCondLst>
                                        </p:cTn>
                                        <p:tgtEl>
                                          <p:spTgt spid="2253906"/>
                                        </p:tgtEl>
                                        <p:attrNameLst>
                                          <p:attrName>style.visibility</p:attrName>
                                        </p:attrNameLst>
                                      </p:cBhvr>
                                      <p:to>
                                        <p:strVal val="visible"/>
                                      </p:to>
                                    </p:set>
                                    <p:animEffect transition="in" filter="dissolve">
                                      <p:cBhvr>
                                        <p:cTn id="150" dur="500"/>
                                        <p:tgtEl>
                                          <p:spTgt spid="2253906"/>
                                        </p:tgtEl>
                                      </p:cBhvr>
                                    </p:animEffect>
                                  </p:childTnLst>
                                </p:cTn>
                              </p:par>
                              <p:par>
                                <p:cTn id="151" presetID="9" presetClass="entr" presetSubtype="0" fill="hold" nodeType="withEffect">
                                  <p:stCondLst>
                                    <p:cond delay="0"/>
                                  </p:stCondLst>
                                  <p:childTnLst>
                                    <p:set>
                                      <p:cBhvr>
                                        <p:cTn id="152" dur="1" fill="hold">
                                          <p:stCondLst>
                                            <p:cond delay="0"/>
                                          </p:stCondLst>
                                        </p:cTn>
                                        <p:tgtEl>
                                          <p:spTgt spid="2253907"/>
                                        </p:tgtEl>
                                        <p:attrNameLst>
                                          <p:attrName>style.visibility</p:attrName>
                                        </p:attrNameLst>
                                      </p:cBhvr>
                                      <p:to>
                                        <p:strVal val="visible"/>
                                      </p:to>
                                    </p:set>
                                    <p:animEffect transition="in" filter="dissolve">
                                      <p:cBhvr>
                                        <p:cTn id="153" dur="500"/>
                                        <p:tgtEl>
                                          <p:spTgt spid="2253907"/>
                                        </p:tgtEl>
                                      </p:cBhvr>
                                    </p:animEffect>
                                  </p:childTnLst>
                                </p:cTn>
                              </p:par>
                              <p:par>
                                <p:cTn id="154" presetID="9" presetClass="entr" presetSubtype="0" fill="hold" nodeType="withEffect">
                                  <p:stCondLst>
                                    <p:cond delay="0"/>
                                  </p:stCondLst>
                                  <p:childTnLst>
                                    <p:set>
                                      <p:cBhvr>
                                        <p:cTn id="155" dur="1" fill="hold">
                                          <p:stCondLst>
                                            <p:cond delay="0"/>
                                          </p:stCondLst>
                                        </p:cTn>
                                        <p:tgtEl>
                                          <p:spTgt spid="2253908"/>
                                        </p:tgtEl>
                                        <p:attrNameLst>
                                          <p:attrName>style.visibility</p:attrName>
                                        </p:attrNameLst>
                                      </p:cBhvr>
                                      <p:to>
                                        <p:strVal val="visible"/>
                                      </p:to>
                                    </p:set>
                                    <p:animEffect transition="in" filter="dissolve">
                                      <p:cBhvr>
                                        <p:cTn id="156" dur="500"/>
                                        <p:tgtEl>
                                          <p:spTgt spid="2253908"/>
                                        </p:tgtEl>
                                      </p:cBhvr>
                                    </p:animEffect>
                                  </p:childTnLst>
                                </p:cTn>
                              </p:par>
                              <p:par>
                                <p:cTn id="157" presetID="9" presetClass="entr" presetSubtype="0" fill="hold" nodeType="withEffect">
                                  <p:stCondLst>
                                    <p:cond delay="0"/>
                                  </p:stCondLst>
                                  <p:childTnLst>
                                    <p:set>
                                      <p:cBhvr>
                                        <p:cTn id="158" dur="1" fill="hold">
                                          <p:stCondLst>
                                            <p:cond delay="0"/>
                                          </p:stCondLst>
                                        </p:cTn>
                                        <p:tgtEl>
                                          <p:spTgt spid="2253909"/>
                                        </p:tgtEl>
                                        <p:attrNameLst>
                                          <p:attrName>style.visibility</p:attrName>
                                        </p:attrNameLst>
                                      </p:cBhvr>
                                      <p:to>
                                        <p:strVal val="visible"/>
                                      </p:to>
                                    </p:set>
                                    <p:animEffect transition="in" filter="dissolve">
                                      <p:cBhvr>
                                        <p:cTn id="159" dur="500"/>
                                        <p:tgtEl>
                                          <p:spTgt spid="2253909"/>
                                        </p:tgtEl>
                                      </p:cBhvr>
                                    </p:animEffect>
                                  </p:childTnLst>
                                </p:cTn>
                              </p:par>
                              <p:par>
                                <p:cTn id="160" presetID="9" presetClass="entr" presetSubtype="0" fill="hold" nodeType="withEffect">
                                  <p:stCondLst>
                                    <p:cond delay="0"/>
                                  </p:stCondLst>
                                  <p:childTnLst>
                                    <p:set>
                                      <p:cBhvr>
                                        <p:cTn id="161" dur="1" fill="hold">
                                          <p:stCondLst>
                                            <p:cond delay="0"/>
                                          </p:stCondLst>
                                        </p:cTn>
                                        <p:tgtEl>
                                          <p:spTgt spid="2253910"/>
                                        </p:tgtEl>
                                        <p:attrNameLst>
                                          <p:attrName>style.visibility</p:attrName>
                                        </p:attrNameLst>
                                      </p:cBhvr>
                                      <p:to>
                                        <p:strVal val="visible"/>
                                      </p:to>
                                    </p:set>
                                    <p:animEffect transition="in" filter="dissolve">
                                      <p:cBhvr>
                                        <p:cTn id="162" dur="500"/>
                                        <p:tgtEl>
                                          <p:spTgt spid="2253910"/>
                                        </p:tgtEl>
                                      </p:cBhvr>
                                    </p:animEffect>
                                  </p:childTnLst>
                                </p:cTn>
                              </p:par>
                              <p:par>
                                <p:cTn id="163" presetID="9" presetClass="entr" presetSubtype="0" fill="hold" nodeType="withEffect">
                                  <p:stCondLst>
                                    <p:cond delay="0"/>
                                  </p:stCondLst>
                                  <p:childTnLst>
                                    <p:set>
                                      <p:cBhvr>
                                        <p:cTn id="164" dur="1" fill="hold">
                                          <p:stCondLst>
                                            <p:cond delay="0"/>
                                          </p:stCondLst>
                                        </p:cTn>
                                        <p:tgtEl>
                                          <p:spTgt spid="2253911"/>
                                        </p:tgtEl>
                                        <p:attrNameLst>
                                          <p:attrName>style.visibility</p:attrName>
                                        </p:attrNameLst>
                                      </p:cBhvr>
                                      <p:to>
                                        <p:strVal val="visible"/>
                                      </p:to>
                                    </p:set>
                                    <p:animEffect transition="in" filter="dissolve">
                                      <p:cBhvr>
                                        <p:cTn id="165" dur="500"/>
                                        <p:tgtEl>
                                          <p:spTgt spid="2253911"/>
                                        </p:tgtEl>
                                      </p:cBhvr>
                                    </p:animEffect>
                                  </p:childTnLst>
                                </p:cTn>
                              </p:par>
                              <p:par>
                                <p:cTn id="166" presetID="9" presetClass="entr" presetSubtype="0" fill="hold" nodeType="withEffect">
                                  <p:stCondLst>
                                    <p:cond delay="0"/>
                                  </p:stCondLst>
                                  <p:childTnLst>
                                    <p:set>
                                      <p:cBhvr>
                                        <p:cTn id="167" dur="1" fill="hold">
                                          <p:stCondLst>
                                            <p:cond delay="0"/>
                                          </p:stCondLst>
                                        </p:cTn>
                                        <p:tgtEl>
                                          <p:spTgt spid="2253913"/>
                                        </p:tgtEl>
                                        <p:attrNameLst>
                                          <p:attrName>style.visibility</p:attrName>
                                        </p:attrNameLst>
                                      </p:cBhvr>
                                      <p:to>
                                        <p:strVal val="visible"/>
                                      </p:to>
                                    </p:set>
                                    <p:animEffect transition="in" filter="dissolve">
                                      <p:cBhvr>
                                        <p:cTn id="168" dur="500"/>
                                        <p:tgtEl>
                                          <p:spTgt spid="2253913"/>
                                        </p:tgtEl>
                                      </p:cBhvr>
                                    </p:animEffect>
                                  </p:childTnLst>
                                </p:cTn>
                              </p:par>
                              <p:par>
                                <p:cTn id="169" presetID="9" presetClass="entr" presetSubtype="0" fill="hold" nodeType="withEffect">
                                  <p:stCondLst>
                                    <p:cond delay="0"/>
                                  </p:stCondLst>
                                  <p:childTnLst>
                                    <p:set>
                                      <p:cBhvr>
                                        <p:cTn id="170" dur="1" fill="hold">
                                          <p:stCondLst>
                                            <p:cond delay="0"/>
                                          </p:stCondLst>
                                        </p:cTn>
                                        <p:tgtEl>
                                          <p:spTgt spid="2253914"/>
                                        </p:tgtEl>
                                        <p:attrNameLst>
                                          <p:attrName>style.visibility</p:attrName>
                                        </p:attrNameLst>
                                      </p:cBhvr>
                                      <p:to>
                                        <p:strVal val="visible"/>
                                      </p:to>
                                    </p:set>
                                    <p:animEffect transition="in" filter="dissolve">
                                      <p:cBhvr>
                                        <p:cTn id="171" dur="500"/>
                                        <p:tgtEl>
                                          <p:spTgt spid="2253914"/>
                                        </p:tgtEl>
                                      </p:cBhvr>
                                    </p:animEffect>
                                  </p:childTnLst>
                                </p:cTn>
                              </p:par>
                              <p:par>
                                <p:cTn id="172" presetID="9" presetClass="entr" presetSubtype="0" fill="hold" nodeType="withEffect">
                                  <p:stCondLst>
                                    <p:cond delay="0"/>
                                  </p:stCondLst>
                                  <p:childTnLst>
                                    <p:set>
                                      <p:cBhvr>
                                        <p:cTn id="173" dur="1" fill="hold">
                                          <p:stCondLst>
                                            <p:cond delay="0"/>
                                          </p:stCondLst>
                                        </p:cTn>
                                        <p:tgtEl>
                                          <p:spTgt spid="2253915"/>
                                        </p:tgtEl>
                                        <p:attrNameLst>
                                          <p:attrName>style.visibility</p:attrName>
                                        </p:attrNameLst>
                                      </p:cBhvr>
                                      <p:to>
                                        <p:strVal val="visible"/>
                                      </p:to>
                                    </p:set>
                                    <p:animEffect transition="in" filter="dissolve">
                                      <p:cBhvr>
                                        <p:cTn id="174" dur="500"/>
                                        <p:tgtEl>
                                          <p:spTgt spid="2253915"/>
                                        </p:tgtEl>
                                      </p:cBhvr>
                                    </p:animEffect>
                                  </p:childTnLst>
                                </p:cTn>
                              </p:par>
                              <p:par>
                                <p:cTn id="175" presetID="9" presetClass="entr" presetSubtype="0" fill="hold" nodeType="withEffect">
                                  <p:stCondLst>
                                    <p:cond delay="0"/>
                                  </p:stCondLst>
                                  <p:childTnLst>
                                    <p:set>
                                      <p:cBhvr>
                                        <p:cTn id="176" dur="1" fill="hold">
                                          <p:stCondLst>
                                            <p:cond delay="0"/>
                                          </p:stCondLst>
                                        </p:cTn>
                                        <p:tgtEl>
                                          <p:spTgt spid="2253916"/>
                                        </p:tgtEl>
                                        <p:attrNameLst>
                                          <p:attrName>style.visibility</p:attrName>
                                        </p:attrNameLst>
                                      </p:cBhvr>
                                      <p:to>
                                        <p:strVal val="visible"/>
                                      </p:to>
                                    </p:set>
                                    <p:animEffect transition="in" filter="dissolve">
                                      <p:cBhvr>
                                        <p:cTn id="177" dur="500"/>
                                        <p:tgtEl>
                                          <p:spTgt spid="2253916"/>
                                        </p:tgtEl>
                                      </p:cBhvr>
                                    </p:animEffect>
                                  </p:childTnLst>
                                </p:cTn>
                              </p:par>
                              <p:par>
                                <p:cTn id="178" presetID="9" presetClass="entr" presetSubtype="0" fill="hold" nodeType="withEffect">
                                  <p:stCondLst>
                                    <p:cond delay="0"/>
                                  </p:stCondLst>
                                  <p:childTnLst>
                                    <p:set>
                                      <p:cBhvr>
                                        <p:cTn id="179" dur="1" fill="hold">
                                          <p:stCondLst>
                                            <p:cond delay="0"/>
                                          </p:stCondLst>
                                        </p:cTn>
                                        <p:tgtEl>
                                          <p:spTgt spid="2253919"/>
                                        </p:tgtEl>
                                        <p:attrNameLst>
                                          <p:attrName>style.visibility</p:attrName>
                                        </p:attrNameLst>
                                      </p:cBhvr>
                                      <p:to>
                                        <p:strVal val="visible"/>
                                      </p:to>
                                    </p:set>
                                    <p:animEffect transition="in" filter="dissolve">
                                      <p:cBhvr>
                                        <p:cTn id="180" dur="500"/>
                                        <p:tgtEl>
                                          <p:spTgt spid="2253919"/>
                                        </p:tgtEl>
                                      </p:cBhvr>
                                    </p:animEffect>
                                  </p:childTnLst>
                                </p:cTn>
                              </p:par>
                              <p:par>
                                <p:cTn id="181" presetID="9" presetClass="entr" presetSubtype="0" fill="hold" nodeType="withEffect">
                                  <p:stCondLst>
                                    <p:cond delay="0"/>
                                  </p:stCondLst>
                                  <p:childTnLst>
                                    <p:set>
                                      <p:cBhvr>
                                        <p:cTn id="182" dur="1" fill="hold">
                                          <p:stCondLst>
                                            <p:cond delay="0"/>
                                          </p:stCondLst>
                                        </p:cTn>
                                        <p:tgtEl>
                                          <p:spTgt spid="2253920"/>
                                        </p:tgtEl>
                                        <p:attrNameLst>
                                          <p:attrName>style.visibility</p:attrName>
                                        </p:attrNameLst>
                                      </p:cBhvr>
                                      <p:to>
                                        <p:strVal val="visible"/>
                                      </p:to>
                                    </p:set>
                                    <p:animEffect transition="in" filter="dissolve">
                                      <p:cBhvr>
                                        <p:cTn id="183" dur="500"/>
                                        <p:tgtEl>
                                          <p:spTgt spid="2253920"/>
                                        </p:tgtEl>
                                      </p:cBhvr>
                                    </p:animEffect>
                                  </p:childTnLst>
                                </p:cTn>
                              </p:par>
                              <p:par>
                                <p:cTn id="184" presetID="9" presetClass="entr" presetSubtype="0" fill="hold" nodeType="withEffect">
                                  <p:stCondLst>
                                    <p:cond delay="0"/>
                                  </p:stCondLst>
                                  <p:childTnLst>
                                    <p:set>
                                      <p:cBhvr>
                                        <p:cTn id="185" dur="1" fill="hold">
                                          <p:stCondLst>
                                            <p:cond delay="0"/>
                                          </p:stCondLst>
                                        </p:cTn>
                                        <p:tgtEl>
                                          <p:spTgt spid="2253928"/>
                                        </p:tgtEl>
                                        <p:attrNameLst>
                                          <p:attrName>style.visibility</p:attrName>
                                        </p:attrNameLst>
                                      </p:cBhvr>
                                      <p:to>
                                        <p:strVal val="visible"/>
                                      </p:to>
                                    </p:set>
                                    <p:animEffect transition="in" filter="dissolve">
                                      <p:cBhvr>
                                        <p:cTn id="186" dur="500"/>
                                        <p:tgtEl>
                                          <p:spTgt spid="2253928"/>
                                        </p:tgtEl>
                                      </p:cBhvr>
                                    </p:animEffect>
                                  </p:childTnLst>
                                </p:cTn>
                              </p:par>
                              <p:par>
                                <p:cTn id="187" presetID="9" presetClass="entr" presetSubtype="0" fill="hold" nodeType="withEffect">
                                  <p:stCondLst>
                                    <p:cond delay="0"/>
                                  </p:stCondLst>
                                  <p:childTnLst>
                                    <p:set>
                                      <p:cBhvr>
                                        <p:cTn id="188" dur="1" fill="hold">
                                          <p:stCondLst>
                                            <p:cond delay="0"/>
                                          </p:stCondLst>
                                        </p:cTn>
                                        <p:tgtEl>
                                          <p:spTgt spid="2253949"/>
                                        </p:tgtEl>
                                        <p:attrNameLst>
                                          <p:attrName>style.visibility</p:attrName>
                                        </p:attrNameLst>
                                      </p:cBhvr>
                                      <p:to>
                                        <p:strVal val="visible"/>
                                      </p:to>
                                    </p:set>
                                    <p:animEffect transition="in" filter="dissolve">
                                      <p:cBhvr>
                                        <p:cTn id="189" dur="500"/>
                                        <p:tgtEl>
                                          <p:spTgt spid="2253949"/>
                                        </p:tgtEl>
                                      </p:cBhvr>
                                    </p:animEffect>
                                  </p:childTnLst>
                                </p:cTn>
                              </p:par>
                              <p:par>
                                <p:cTn id="190" presetID="9" presetClass="entr" presetSubtype="0" fill="hold" nodeType="withEffect">
                                  <p:stCondLst>
                                    <p:cond delay="0"/>
                                  </p:stCondLst>
                                  <p:childTnLst>
                                    <p:set>
                                      <p:cBhvr>
                                        <p:cTn id="191" dur="1" fill="hold">
                                          <p:stCondLst>
                                            <p:cond delay="0"/>
                                          </p:stCondLst>
                                        </p:cTn>
                                        <p:tgtEl>
                                          <p:spTgt spid="2253917"/>
                                        </p:tgtEl>
                                        <p:attrNameLst>
                                          <p:attrName>style.visibility</p:attrName>
                                        </p:attrNameLst>
                                      </p:cBhvr>
                                      <p:to>
                                        <p:strVal val="visible"/>
                                      </p:to>
                                    </p:set>
                                    <p:animEffect transition="in" filter="dissolve">
                                      <p:cBhvr>
                                        <p:cTn id="192" dur="500"/>
                                        <p:tgtEl>
                                          <p:spTgt spid="2253917"/>
                                        </p:tgtEl>
                                      </p:cBhvr>
                                    </p:animEffect>
                                  </p:childTnLst>
                                </p:cTn>
                              </p:par>
                              <p:par>
                                <p:cTn id="193" presetID="9" presetClass="entr" presetSubtype="0" fill="hold" nodeType="withEffect">
                                  <p:stCondLst>
                                    <p:cond delay="0"/>
                                  </p:stCondLst>
                                  <p:childTnLst>
                                    <p:set>
                                      <p:cBhvr>
                                        <p:cTn id="194" dur="1" fill="hold">
                                          <p:stCondLst>
                                            <p:cond delay="0"/>
                                          </p:stCondLst>
                                        </p:cTn>
                                        <p:tgtEl>
                                          <p:spTgt spid="2253918"/>
                                        </p:tgtEl>
                                        <p:attrNameLst>
                                          <p:attrName>style.visibility</p:attrName>
                                        </p:attrNameLst>
                                      </p:cBhvr>
                                      <p:to>
                                        <p:strVal val="visible"/>
                                      </p:to>
                                    </p:set>
                                    <p:animEffect transition="in" filter="dissolve">
                                      <p:cBhvr>
                                        <p:cTn id="195" dur="500"/>
                                        <p:tgtEl>
                                          <p:spTgt spid="2253918"/>
                                        </p:tgtEl>
                                      </p:cBhvr>
                                    </p:animEffect>
                                  </p:childTnLst>
                                </p:cTn>
                              </p:par>
                              <p:par>
                                <p:cTn id="196" presetID="9" presetClass="entr" presetSubtype="0" fill="hold" nodeType="withEffect">
                                  <p:stCondLst>
                                    <p:cond delay="0"/>
                                  </p:stCondLst>
                                  <p:childTnLst>
                                    <p:set>
                                      <p:cBhvr>
                                        <p:cTn id="197" dur="1" fill="hold">
                                          <p:stCondLst>
                                            <p:cond delay="0"/>
                                          </p:stCondLst>
                                        </p:cTn>
                                        <p:tgtEl>
                                          <p:spTgt spid="2253950"/>
                                        </p:tgtEl>
                                        <p:attrNameLst>
                                          <p:attrName>style.visibility</p:attrName>
                                        </p:attrNameLst>
                                      </p:cBhvr>
                                      <p:to>
                                        <p:strVal val="visible"/>
                                      </p:to>
                                    </p:set>
                                    <p:animEffect transition="in" filter="dissolve">
                                      <p:cBhvr>
                                        <p:cTn id="198" dur="500"/>
                                        <p:tgtEl>
                                          <p:spTgt spid="2253950"/>
                                        </p:tgtEl>
                                      </p:cBhvr>
                                    </p:animEffect>
                                  </p:childTnLst>
                                </p:cTn>
                              </p:par>
                              <p:par>
                                <p:cTn id="199" presetID="9" presetClass="entr" presetSubtype="0" fill="hold" nodeType="withEffect">
                                  <p:stCondLst>
                                    <p:cond delay="0"/>
                                  </p:stCondLst>
                                  <p:childTnLst>
                                    <p:set>
                                      <p:cBhvr>
                                        <p:cTn id="200" dur="1" fill="hold">
                                          <p:stCondLst>
                                            <p:cond delay="0"/>
                                          </p:stCondLst>
                                        </p:cTn>
                                        <p:tgtEl>
                                          <p:spTgt spid="2253951"/>
                                        </p:tgtEl>
                                        <p:attrNameLst>
                                          <p:attrName>style.visibility</p:attrName>
                                        </p:attrNameLst>
                                      </p:cBhvr>
                                      <p:to>
                                        <p:strVal val="visible"/>
                                      </p:to>
                                    </p:set>
                                    <p:animEffect transition="in" filter="dissolve">
                                      <p:cBhvr>
                                        <p:cTn id="201" dur="500"/>
                                        <p:tgtEl>
                                          <p:spTgt spid="2253951"/>
                                        </p:tgtEl>
                                      </p:cBhvr>
                                    </p:animEffect>
                                  </p:childTnLst>
                                </p:cTn>
                              </p:par>
                              <p:par>
                                <p:cTn id="202" presetID="9" presetClass="entr" presetSubtype="0" fill="hold" nodeType="withEffect">
                                  <p:stCondLst>
                                    <p:cond delay="0"/>
                                  </p:stCondLst>
                                  <p:childTnLst>
                                    <p:set>
                                      <p:cBhvr>
                                        <p:cTn id="203" dur="1" fill="hold">
                                          <p:stCondLst>
                                            <p:cond delay="0"/>
                                          </p:stCondLst>
                                        </p:cTn>
                                        <p:tgtEl>
                                          <p:spTgt spid="2253952"/>
                                        </p:tgtEl>
                                        <p:attrNameLst>
                                          <p:attrName>style.visibility</p:attrName>
                                        </p:attrNameLst>
                                      </p:cBhvr>
                                      <p:to>
                                        <p:strVal val="visible"/>
                                      </p:to>
                                    </p:set>
                                    <p:animEffect transition="in" filter="dissolve">
                                      <p:cBhvr>
                                        <p:cTn id="204" dur="500"/>
                                        <p:tgtEl>
                                          <p:spTgt spid="2253952"/>
                                        </p:tgtEl>
                                      </p:cBhvr>
                                    </p:animEffect>
                                  </p:childTnLst>
                                </p:cTn>
                              </p:par>
                            </p:childTnLst>
                          </p:cTn>
                        </p:par>
                      </p:childTnLst>
                    </p:cTn>
                  </p:par>
                  <p:par>
                    <p:cTn id="205" fill="hold">
                      <p:stCondLst>
                        <p:cond delay="indefinite"/>
                      </p:stCondLst>
                      <p:childTnLst>
                        <p:par>
                          <p:cTn id="206" fill="hold">
                            <p:stCondLst>
                              <p:cond delay="0"/>
                            </p:stCondLst>
                            <p:childTnLst>
                              <p:par>
                                <p:cTn id="207" presetID="9" presetClass="entr" presetSubtype="0" fill="hold" nodeType="clickEffect">
                                  <p:stCondLst>
                                    <p:cond delay="0"/>
                                  </p:stCondLst>
                                  <p:childTnLst>
                                    <p:set>
                                      <p:cBhvr>
                                        <p:cTn id="208" dur="1" fill="hold">
                                          <p:stCondLst>
                                            <p:cond delay="0"/>
                                          </p:stCondLst>
                                        </p:cTn>
                                        <p:tgtEl>
                                          <p:spTgt spid="2253955"/>
                                        </p:tgtEl>
                                        <p:attrNameLst>
                                          <p:attrName>style.visibility</p:attrName>
                                        </p:attrNameLst>
                                      </p:cBhvr>
                                      <p:to>
                                        <p:strVal val="visible"/>
                                      </p:to>
                                    </p:set>
                                    <p:animEffect transition="in" filter="dissolve">
                                      <p:cBhvr>
                                        <p:cTn id="209" dur="500"/>
                                        <p:tgtEl>
                                          <p:spTgt spid="2253955"/>
                                        </p:tgtEl>
                                      </p:cBhvr>
                                    </p:animEffect>
                                  </p:childTnLst>
                                </p:cTn>
                              </p:par>
                            </p:childTnLst>
                          </p:cTn>
                        </p:par>
                      </p:childTnLst>
                    </p:cTn>
                  </p:par>
                  <p:par>
                    <p:cTn id="210" fill="hold">
                      <p:stCondLst>
                        <p:cond delay="indefinite"/>
                      </p:stCondLst>
                      <p:childTnLst>
                        <p:par>
                          <p:cTn id="211" fill="hold">
                            <p:stCondLst>
                              <p:cond delay="0"/>
                            </p:stCondLst>
                            <p:childTnLst>
                              <p:par>
                                <p:cTn id="212" presetID="9" presetClass="entr" presetSubtype="0" fill="hold" nodeType="clickEffect">
                                  <p:stCondLst>
                                    <p:cond delay="0"/>
                                  </p:stCondLst>
                                  <p:childTnLst>
                                    <p:set>
                                      <p:cBhvr>
                                        <p:cTn id="213" dur="1" fill="hold">
                                          <p:stCondLst>
                                            <p:cond delay="0"/>
                                          </p:stCondLst>
                                        </p:cTn>
                                        <p:tgtEl>
                                          <p:spTgt spid="2253956"/>
                                        </p:tgtEl>
                                        <p:attrNameLst>
                                          <p:attrName>style.visibility</p:attrName>
                                        </p:attrNameLst>
                                      </p:cBhvr>
                                      <p:to>
                                        <p:strVal val="visible"/>
                                      </p:to>
                                    </p:set>
                                    <p:animEffect transition="in" filter="dissolve">
                                      <p:cBhvr>
                                        <p:cTn id="214" dur="500"/>
                                        <p:tgtEl>
                                          <p:spTgt spid="2253956"/>
                                        </p:tgtEl>
                                      </p:cBhvr>
                                    </p:animEffect>
                                  </p:childTnLst>
                                </p:cTn>
                              </p:par>
                            </p:childTnLst>
                          </p:cTn>
                        </p:par>
                      </p:childTnLst>
                    </p:cTn>
                  </p:par>
                  <p:par>
                    <p:cTn id="215" fill="hold">
                      <p:stCondLst>
                        <p:cond delay="indefinite"/>
                      </p:stCondLst>
                      <p:childTnLst>
                        <p:par>
                          <p:cTn id="216" fill="hold">
                            <p:stCondLst>
                              <p:cond delay="0"/>
                            </p:stCondLst>
                            <p:childTnLst>
                              <p:par>
                                <p:cTn id="217" presetID="9" presetClass="entr" presetSubtype="0" fill="hold" nodeType="clickEffect">
                                  <p:stCondLst>
                                    <p:cond delay="0"/>
                                  </p:stCondLst>
                                  <p:childTnLst>
                                    <p:set>
                                      <p:cBhvr>
                                        <p:cTn id="218" dur="1" fill="hold">
                                          <p:stCondLst>
                                            <p:cond delay="0"/>
                                          </p:stCondLst>
                                        </p:cTn>
                                        <p:tgtEl>
                                          <p:spTgt spid="2253854"/>
                                        </p:tgtEl>
                                        <p:attrNameLst>
                                          <p:attrName>style.visibility</p:attrName>
                                        </p:attrNameLst>
                                      </p:cBhvr>
                                      <p:to>
                                        <p:strVal val="visible"/>
                                      </p:to>
                                    </p:set>
                                    <p:animEffect transition="in" filter="dissolve">
                                      <p:cBhvr>
                                        <p:cTn id="219" dur="500"/>
                                        <p:tgtEl>
                                          <p:spTgt spid="2253854"/>
                                        </p:tgtEl>
                                      </p:cBhvr>
                                    </p:animEffect>
                                  </p:childTnLst>
                                </p:cTn>
                              </p:par>
                            </p:childTnLst>
                          </p:cTn>
                        </p:par>
                      </p:childTnLst>
                    </p:cTn>
                  </p:par>
                  <p:par>
                    <p:cTn id="220" fill="hold">
                      <p:stCondLst>
                        <p:cond delay="indefinite"/>
                      </p:stCondLst>
                      <p:childTnLst>
                        <p:par>
                          <p:cTn id="221" fill="hold">
                            <p:stCondLst>
                              <p:cond delay="0"/>
                            </p:stCondLst>
                            <p:childTnLst>
                              <p:par>
                                <p:cTn id="222" presetID="9" presetClass="entr" presetSubtype="0" fill="hold" nodeType="clickEffect">
                                  <p:stCondLst>
                                    <p:cond delay="0"/>
                                  </p:stCondLst>
                                  <p:childTnLst>
                                    <p:set>
                                      <p:cBhvr>
                                        <p:cTn id="223" dur="1" fill="hold">
                                          <p:stCondLst>
                                            <p:cond delay="0"/>
                                          </p:stCondLst>
                                        </p:cTn>
                                        <p:tgtEl>
                                          <p:spTgt spid="2253855"/>
                                        </p:tgtEl>
                                        <p:attrNameLst>
                                          <p:attrName>style.visibility</p:attrName>
                                        </p:attrNameLst>
                                      </p:cBhvr>
                                      <p:to>
                                        <p:strVal val="visible"/>
                                      </p:to>
                                    </p:set>
                                    <p:animEffect transition="in" filter="dissolve">
                                      <p:cBhvr>
                                        <p:cTn id="224" dur="500"/>
                                        <p:tgtEl>
                                          <p:spTgt spid="2253855"/>
                                        </p:tgtEl>
                                      </p:cBhvr>
                                    </p:animEffect>
                                  </p:childTnLst>
                                </p:cTn>
                              </p:par>
                            </p:childTnLst>
                          </p:cTn>
                        </p:par>
                      </p:childTnLst>
                    </p:cTn>
                  </p:par>
                  <p:par>
                    <p:cTn id="225" fill="hold">
                      <p:stCondLst>
                        <p:cond delay="indefinite"/>
                      </p:stCondLst>
                      <p:childTnLst>
                        <p:par>
                          <p:cTn id="226" fill="hold">
                            <p:stCondLst>
                              <p:cond delay="0"/>
                            </p:stCondLst>
                            <p:childTnLst>
                              <p:par>
                                <p:cTn id="227" presetID="9" presetClass="entr" presetSubtype="0" fill="hold" nodeType="clickEffect">
                                  <p:stCondLst>
                                    <p:cond delay="0"/>
                                  </p:stCondLst>
                                  <p:childTnLst>
                                    <p:set>
                                      <p:cBhvr>
                                        <p:cTn id="228" dur="1" fill="hold">
                                          <p:stCondLst>
                                            <p:cond delay="0"/>
                                          </p:stCondLst>
                                        </p:cTn>
                                        <p:tgtEl>
                                          <p:spTgt spid="2253856"/>
                                        </p:tgtEl>
                                        <p:attrNameLst>
                                          <p:attrName>style.visibility</p:attrName>
                                        </p:attrNameLst>
                                      </p:cBhvr>
                                      <p:to>
                                        <p:strVal val="visible"/>
                                      </p:to>
                                    </p:set>
                                    <p:animEffect transition="in" filter="dissolve">
                                      <p:cBhvr>
                                        <p:cTn id="229" dur="500"/>
                                        <p:tgtEl>
                                          <p:spTgt spid="2253856"/>
                                        </p:tgtEl>
                                      </p:cBhvr>
                                    </p:animEffect>
                                  </p:childTnLst>
                                </p:cTn>
                              </p:par>
                            </p:childTnLst>
                          </p:cTn>
                        </p:par>
                      </p:childTnLst>
                    </p:cTn>
                  </p:par>
                  <p:par>
                    <p:cTn id="230" fill="hold">
                      <p:stCondLst>
                        <p:cond delay="indefinite"/>
                      </p:stCondLst>
                      <p:childTnLst>
                        <p:par>
                          <p:cTn id="231" fill="hold">
                            <p:stCondLst>
                              <p:cond delay="0"/>
                            </p:stCondLst>
                            <p:childTnLst>
                              <p:par>
                                <p:cTn id="232" presetID="9" presetClass="entr" presetSubtype="0" fill="hold" nodeType="clickEffect">
                                  <p:stCondLst>
                                    <p:cond delay="0"/>
                                  </p:stCondLst>
                                  <p:childTnLst>
                                    <p:set>
                                      <p:cBhvr>
                                        <p:cTn id="233" dur="1" fill="hold">
                                          <p:stCondLst>
                                            <p:cond delay="0"/>
                                          </p:stCondLst>
                                        </p:cTn>
                                        <p:tgtEl>
                                          <p:spTgt spid="2253857"/>
                                        </p:tgtEl>
                                        <p:attrNameLst>
                                          <p:attrName>style.visibility</p:attrName>
                                        </p:attrNameLst>
                                      </p:cBhvr>
                                      <p:to>
                                        <p:strVal val="visible"/>
                                      </p:to>
                                    </p:set>
                                    <p:animEffect transition="in" filter="dissolve">
                                      <p:cBhvr>
                                        <p:cTn id="234" dur="500"/>
                                        <p:tgtEl>
                                          <p:spTgt spid="22538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954" grpId="0" animBg="1"/>
      <p:bldP spid="2253854" grpId="0"/>
      <p:bldP spid="2253855" grpId="0"/>
      <p:bldP spid="2253856" grpId="0"/>
      <p:bldP spid="2253857" grpId="0"/>
      <p:bldP spid="2253858" grpId="0"/>
      <p:bldP spid="2253859" grpId="0"/>
      <p:bldP spid="2253860" grpId="0" animBg="1"/>
      <p:bldP spid="2253862" grpId="0" animBg="1"/>
      <p:bldP spid="2253863" grpId="0"/>
      <p:bldP spid="2253864" grpId="0"/>
      <p:bldP spid="2253865" grpId="0" animBg="1"/>
      <p:bldP spid="2253866" grpId="0"/>
      <p:bldP spid="2253867" grpId="0"/>
      <p:bldP spid="2253871" grpId="0" animBg="1"/>
      <p:bldP spid="2253873" grpId="0" animBg="1"/>
      <p:bldP spid="2253875" grpId="0" animBg="1"/>
      <p:bldP spid="2253876" grpId="0"/>
      <p:bldP spid="2253877" grpId="0"/>
      <p:bldP spid="2253878" grpId="0" animBg="1"/>
      <p:bldP spid="2253883" grpId="0" animBg="1"/>
      <p:bldP spid="2253884" grpId="0"/>
      <p:bldP spid="2253885" grpId="0"/>
      <p:bldP spid="2253886" grpId="0" animBg="1"/>
      <p:bldP spid="2253887" grpId="0"/>
      <p:bldP spid="2253888" grpId="0"/>
      <p:bldP spid="2253890" grpId="0" animBg="1"/>
      <p:bldP spid="2253894" grpId="0"/>
      <p:bldP spid="2253895" grpId="0"/>
      <p:bldP spid="2253896" grpId="0"/>
      <p:bldP spid="2253898" grpId="0" animBg="1"/>
      <p:bldP spid="2253899" grpId="0"/>
      <p:bldP spid="2253900" grpId="0" animBg="1"/>
      <p:bldP spid="2253906" grpId="0" animBg="1"/>
      <p:bldP spid="2253907" grpId="0"/>
      <p:bldP spid="2253913" grpId="0" animBg="1"/>
      <p:bldP spid="2253914" grpId="0" animBg="1"/>
      <p:bldP spid="2253928" grpId="0"/>
      <p:bldP spid="2253948" grpId="0"/>
      <p:bldP spid="2253917" grpId="0" animBg="1"/>
      <p:bldP spid="2253918" grpId="0" animBg="1"/>
      <p:bldP spid="2253950" grpId="0" animBg="1"/>
      <p:bldP spid="2253951" grpId="0" animBg="1"/>
      <p:bldP spid="2253952" grpId="0" animBg="1"/>
      <p:bldP spid="2253955" grpId="0" animBg="1"/>
      <p:bldP spid="225395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6386" name="Rectangle 2"/>
          <p:cNvSpPr/>
          <p:nvPr/>
        </p:nvSpPr>
        <p:spPr>
          <a:xfrm>
            <a:off x="215900" y="1928813"/>
            <a:ext cx="8729663" cy="286861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387" name="Text Box 7"/>
          <p:cNvSpPr txBox="1"/>
          <p:nvPr/>
        </p:nvSpPr>
        <p:spPr>
          <a:xfrm>
            <a:off x="2744788" y="4430713"/>
            <a:ext cx="3048000" cy="366712"/>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反馈型采样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6388" name="Text Box 8"/>
          <p:cNvSpPr txBox="1"/>
          <p:nvPr/>
        </p:nvSpPr>
        <p:spPr>
          <a:xfrm>
            <a:off x="187325" y="2867025"/>
            <a:ext cx="414338"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6389" name="Oval 9"/>
          <p:cNvSpPr/>
          <p:nvPr/>
        </p:nvSpPr>
        <p:spPr>
          <a:xfrm>
            <a:off x="565150" y="2992438"/>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390" name="Line 10"/>
          <p:cNvSpPr/>
          <p:nvPr/>
        </p:nvSpPr>
        <p:spPr>
          <a:xfrm>
            <a:off x="661988" y="3041650"/>
            <a:ext cx="1206500" cy="0"/>
          </a:xfrm>
          <a:prstGeom prst="line">
            <a:avLst/>
          </a:prstGeom>
          <a:ln w="12700" cap="flat" cmpd="sng">
            <a:solidFill>
              <a:schemeClr val="accent2"/>
            </a:solidFill>
            <a:prstDash val="solid"/>
            <a:headEnd type="none" w="med" len="med"/>
            <a:tailEnd type="none" w="med" len="med"/>
          </a:ln>
        </p:spPr>
      </p:sp>
      <p:sp>
        <p:nvSpPr>
          <p:cNvPr id="16391" name="AutoShape 11"/>
          <p:cNvSpPr/>
          <p:nvPr/>
        </p:nvSpPr>
        <p:spPr>
          <a:xfrm rot="5400000">
            <a:off x="1849438" y="249078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392" name="Text Box 12"/>
          <p:cNvSpPr txBox="1"/>
          <p:nvPr/>
        </p:nvSpPr>
        <p:spPr>
          <a:xfrm>
            <a:off x="1816100" y="2517775"/>
            <a:ext cx="314325" cy="723900"/>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16393" name="Text Box 13"/>
          <p:cNvSpPr txBox="1"/>
          <p:nvPr/>
        </p:nvSpPr>
        <p:spPr>
          <a:xfrm>
            <a:off x="2001838" y="270510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1</a:t>
            </a:r>
            <a:endParaRPr lang="en-US" altLang="zh-CN" sz="1800" baseline="-25000" dirty="0">
              <a:latin typeface="Times New Roman" panose="02020603050405020304" pitchFamily="18" charset="0"/>
            </a:endParaRPr>
          </a:p>
        </p:txBody>
      </p:sp>
      <p:sp>
        <p:nvSpPr>
          <p:cNvPr id="16394" name="Oval 14"/>
          <p:cNvSpPr/>
          <p:nvPr/>
        </p:nvSpPr>
        <p:spPr>
          <a:xfrm>
            <a:off x="1101725" y="289560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395" name="Text Box 15"/>
          <p:cNvSpPr txBox="1"/>
          <p:nvPr/>
        </p:nvSpPr>
        <p:spPr>
          <a:xfrm>
            <a:off x="927100" y="2724150"/>
            <a:ext cx="730250" cy="366713"/>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16396" name="Text Box 16"/>
          <p:cNvSpPr txBox="1"/>
          <p:nvPr/>
        </p:nvSpPr>
        <p:spPr>
          <a:xfrm>
            <a:off x="971550"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OS1</a:t>
            </a:r>
            <a:endParaRPr lang="en-US" altLang="zh-CN" sz="2000" baseline="-25000" dirty="0">
              <a:solidFill>
                <a:srgbClr val="FF0000"/>
              </a:solidFill>
              <a:latin typeface="Times New Roman" panose="02020603050405020304" pitchFamily="18" charset="0"/>
            </a:endParaRPr>
          </a:p>
        </p:txBody>
      </p:sp>
      <p:sp>
        <p:nvSpPr>
          <p:cNvPr id="16397" name="Line 17"/>
          <p:cNvSpPr/>
          <p:nvPr/>
        </p:nvSpPr>
        <p:spPr>
          <a:xfrm>
            <a:off x="2651125" y="2882900"/>
            <a:ext cx="649288" cy="0"/>
          </a:xfrm>
          <a:prstGeom prst="line">
            <a:avLst/>
          </a:prstGeom>
          <a:ln w="12700" cap="flat" cmpd="sng">
            <a:solidFill>
              <a:schemeClr val="accent2"/>
            </a:solidFill>
            <a:prstDash val="solid"/>
            <a:headEnd type="none" w="med" len="med"/>
            <a:tailEnd type="none" w="med" len="med"/>
          </a:ln>
        </p:spPr>
      </p:sp>
      <p:sp>
        <p:nvSpPr>
          <p:cNvPr id="16398" name="Line 18"/>
          <p:cNvSpPr/>
          <p:nvPr/>
        </p:nvSpPr>
        <p:spPr>
          <a:xfrm>
            <a:off x="3300413" y="2882900"/>
            <a:ext cx="0" cy="158750"/>
          </a:xfrm>
          <a:prstGeom prst="line">
            <a:avLst/>
          </a:prstGeom>
          <a:ln w="12700" cap="flat" cmpd="sng">
            <a:solidFill>
              <a:schemeClr val="accent2"/>
            </a:solidFill>
            <a:prstDash val="solid"/>
            <a:headEnd type="none" w="med" len="med"/>
            <a:tailEnd type="none" w="med" len="med"/>
          </a:ln>
        </p:spPr>
      </p:sp>
      <p:sp>
        <p:nvSpPr>
          <p:cNvPr id="16399" name="Line 19"/>
          <p:cNvSpPr/>
          <p:nvPr/>
        </p:nvSpPr>
        <p:spPr>
          <a:xfrm>
            <a:off x="3300413" y="3041650"/>
            <a:ext cx="609600" cy="0"/>
          </a:xfrm>
          <a:prstGeom prst="line">
            <a:avLst/>
          </a:prstGeom>
          <a:ln w="12700" cap="flat" cmpd="sng">
            <a:solidFill>
              <a:schemeClr val="accent2"/>
            </a:solidFill>
            <a:prstDash val="solid"/>
            <a:headEnd type="none" w="med" len="med"/>
            <a:tailEnd type="none" w="med" len="med"/>
          </a:ln>
        </p:spPr>
      </p:sp>
      <p:sp>
        <p:nvSpPr>
          <p:cNvPr id="16400" name="Oval 20"/>
          <p:cNvSpPr/>
          <p:nvPr/>
        </p:nvSpPr>
        <p:spPr>
          <a:xfrm>
            <a:off x="3905250" y="29987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8709" name="Line 21"/>
          <p:cNvSpPr/>
          <p:nvPr/>
        </p:nvSpPr>
        <p:spPr>
          <a:xfrm flipV="1">
            <a:off x="3989388" y="2838450"/>
            <a:ext cx="290512" cy="176213"/>
          </a:xfrm>
          <a:prstGeom prst="line">
            <a:avLst/>
          </a:prstGeom>
          <a:ln w="19050" cap="flat" cmpd="sng">
            <a:solidFill>
              <a:srgbClr val="000080"/>
            </a:solidFill>
            <a:prstDash val="solid"/>
            <a:headEnd type="none" w="med" len="med"/>
            <a:tailEnd type="none" w="med" len="med"/>
          </a:ln>
        </p:spPr>
      </p:sp>
      <p:sp>
        <p:nvSpPr>
          <p:cNvPr id="16402" name="Oval 22"/>
          <p:cNvSpPr/>
          <p:nvPr/>
        </p:nvSpPr>
        <p:spPr>
          <a:xfrm>
            <a:off x="4216400" y="29924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03" name="Line 23"/>
          <p:cNvSpPr/>
          <p:nvPr/>
        </p:nvSpPr>
        <p:spPr>
          <a:xfrm>
            <a:off x="4313238" y="3041650"/>
            <a:ext cx="2041525" cy="0"/>
          </a:xfrm>
          <a:prstGeom prst="line">
            <a:avLst/>
          </a:prstGeom>
          <a:ln w="12700" cap="flat" cmpd="sng">
            <a:solidFill>
              <a:schemeClr val="accent2"/>
            </a:solidFill>
            <a:prstDash val="solid"/>
            <a:headEnd type="none" w="med" len="med"/>
            <a:tailEnd type="none" w="med" len="med"/>
          </a:ln>
        </p:spPr>
      </p:sp>
      <p:sp>
        <p:nvSpPr>
          <p:cNvPr id="16404" name="AutoShape 24"/>
          <p:cNvSpPr/>
          <p:nvPr/>
        </p:nvSpPr>
        <p:spPr>
          <a:xfrm rot="5400000">
            <a:off x="6335713" y="249713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05" name="Text Box 25"/>
          <p:cNvSpPr txBox="1"/>
          <p:nvPr/>
        </p:nvSpPr>
        <p:spPr>
          <a:xfrm>
            <a:off x="6329363" y="2524125"/>
            <a:ext cx="314325" cy="723900"/>
          </a:xfrm>
          <a:prstGeom prst="rect">
            <a:avLst/>
          </a:prstGeom>
          <a:noFill/>
          <a:ln w="12700">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16406" name="Text Box 26"/>
          <p:cNvSpPr txBox="1"/>
          <p:nvPr/>
        </p:nvSpPr>
        <p:spPr>
          <a:xfrm>
            <a:off x="6500813" y="272415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2</a:t>
            </a:r>
            <a:endParaRPr lang="en-US" altLang="zh-CN" sz="1800" baseline="-25000" dirty="0">
              <a:latin typeface="Times New Roman" panose="02020603050405020304" pitchFamily="18" charset="0"/>
            </a:endParaRPr>
          </a:p>
        </p:txBody>
      </p:sp>
      <p:sp>
        <p:nvSpPr>
          <p:cNvPr id="16407" name="Oval 27"/>
          <p:cNvSpPr/>
          <p:nvPr/>
        </p:nvSpPr>
        <p:spPr>
          <a:xfrm>
            <a:off x="4937125" y="299561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08" name="Line 28"/>
          <p:cNvSpPr/>
          <p:nvPr/>
        </p:nvSpPr>
        <p:spPr>
          <a:xfrm>
            <a:off x="4983163" y="3041650"/>
            <a:ext cx="0" cy="476250"/>
          </a:xfrm>
          <a:prstGeom prst="line">
            <a:avLst/>
          </a:prstGeom>
          <a:ln w="12700" cap="flat" cmpd="sng">
            <a:solidFill>
              <a:schemeClr val="accent2"/>
            </a:solidFill>
            <a:prstDash val="solid"/>
            <a:headEnd type="none" w="med" len="med"/>
            <a:tailEnd type="none" w="med" len="med"/>
          </a:ln>
        </p:spPr>
      </p:sp>
      <p:sp>
        <p:nvSpPr>
          <p:cNvPr id="16409" name="Line 29"/>
          <p:cNvSpPr/>
          <p:nvPr/>
        </p:nvSpPr>
        <p:spPr>
          <a:xfrm>
            <a:off x="4983163" y="3597275"/>
            <a:ext cx="0" cy="411163"/>
          </a:xfrm>
          <a:prstGeom prst="line">
            <a:avLst/>
          </a:prstGeom>
          <a:ln w="12700" cap="flat" cmpd="sng">
            <a:solidFill>
              <a:schemeClr val="accent2"/>
            </a:solidFill>
            <a:prstDash val="solid"/>
            <a:headEnd type="none" w="med" len="med"/>
            <a:tailEnd type="none" w="med" len="med"/>
          </a:ln>
        </p:spPr>
      </p:sp>
      <p:sp>
        <p:nvSpPr>
          <p:cNvPr id="16410" name="AutoShape 30"/>
          <p:cNvSpPr/>
          <p:nvPr/>
        </p:nvSpPr>
        <p:spPr>
          <a:xfrm rot="10800000">
            <a:off x="4784725" y="4008438"/>
            <a:ext cx="396875" cy="198437"/>
          </a:xfrm>
          <a:prstGeom prst="triangle">
            <a:avLst>
              <a:gd name="adj" fmla="val 50000"/>
            </a:avLst>
          </a:prstGeom>
          <a:no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11" name="Line 31"/>
          <p:cNvSpPr/>
          <p:nvPr/>
        </p:nvSpPr>
        <p:spPr>
          <a:xfrm flipV="1">
            <a:off x="4826000" y="3592513"/>
            <a:ext cx="300038" cy="0"/>
          </a:xfrm>
          <a:prstGeom prst="line">
            <a:avLst/>
          </a:prstGeom>
          <a:ln w="19050" cap="flat" cmpd="sng">
            <a:solidFill>
              <a:srgbClr val="000080"/>
            </a:solidFill>
            <a:prstDash val="solid"/>
            <a:headEnd type="none" w="med" len="med"/>
            <a:tailEnd type="none" w="med" len="med"/>
          </a:ln>
        </p:spPr>
      </p:sp>
      <p:sp>
        <p:nvSpPr>
          <p:cNvPr id="16412" name="Text Box 32"/>
          <p:cNvSpPr txBox="1"/>
          <p:nvPr/>
        </p:nvSpPr>
        <p:spPr>
          <a:xfrm>
            <a:off x="5075238" y="3371850"/>
            <a:ext cx="482600" cy="366713"/>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6413" name="Text Box 33"/>
          <p:cNvSpPr txBox="1"/>
          <p:nvPr/>
        </p:nvSpPr>
        <p:spPr>
          <a:xfrm>
            <a:off x="5116513" y="3859213"/>
            <a:ext cx="1017587" cy="366712"/>
          </a:xfrm>
          <a:prstGeom prst="rect">
            <a:avLst/>
          </a:prstGeom>
          <a:noFill/>
          <a:ln w="9525">
            <a:noFill/>
          </a:ln>
        </p:spPr>
        <p:txBody>
          <a:bodyPr>
            <a:spAutoFit/>
          </a:bodyPr>
          <a:p>
            <a:pPr eaLnBrk="1" hangingPunct="1">
              <a:lnSpc>
                <a:spcPct val="90000"/>
              </a:lnSpc>
            </a:pPr>
            <a:r>
              <a:rPr lang="zh-CN" altLang="en-US" sz="2000" dirty="0">
                <a:latin typeface="Times New Roman" panose="02020603050405020304" pitchFamily="18" charset="0"/>
              </a:rPr>
              <a:t>模拟地</a:t>
            </a:r>
            <a:endParaRPr lang="zh-CN" altLang="en-US" sz="2000" dirty="0">
              <a:latin typeface="Times New Roman" panose="02020603050405020304" pitchFamily="18" charset="0"/>
            </a:endParaRPr>
          </a:p>
        </p:txBody>
      </p:sp>
      <p:sp>
        <p:nvSpPr>
          <p:cNvPr id="16414" name="Oval 34"/>
          <p:cNvSpPr/>
          <p:nvPr/>
        </p:nvSpPr>
        <p:spPr>
          <a:xfrm>
            <a:off x="5719763" y="291465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15" name="Text Box 35"/>
          <p:cNvSpPr txBox="1"/>
          <p:nvPr/>
        </p:nvSpPr>
        <p:spPr>
          <a:xfrm>
            <a:off x="5532438" y="2678113"/>
            <a:ext cx="730250" cy="366712"/>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16416" name="Text Box 36"/>
          <p:cNvSpPr txBox="1"/>
          <p:nvPr/>
        </p:nvSpPr>
        <p:spPr>
          <a:xfrm>
            <a:off x="5580063"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OS2</a:t>
            </a:r>
            <a:endParaRPr lang="en-US" altLang="zh-CN" sz="2000" baseline="-25000" dirty="0">
              <a:solidFill>
                <a:srgbClr val="FF0000"/>
              </a:solidFill>
              <a:latin typeface="Times New Roman" panose="02020603050405020304" pitchFamily="18" charset="0"/>
            </a:endParaRPr>
          </a:p>
        </p:txBody>
      </p:sp>
      <p:sp>
        <p:nvSpPr>
          <p:cNvPr id="16417" name="Oval 37"/>
          <p:cNvSpPr/>
          <p:nvPr/>
        </p:nvSpPr>
        <p:spPr>
          <a:xfrm>
            <a:off x="2935288" y="412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18" name="Line 38"/>
          <p:cNvSpPr/>
          <p:nvPr/>
        </p:nvSpPr>
        <p:spPr>
          <a:xfrm>
            <a:off x="2981325" y="3927475"/>
            <a:ext cx="1127125" cy="0"/>
          </a:xfrm>
          <a:prstGeom prst="line">
            <a:avLst/>
          </a:prstGeom>
          <a:ln w="12700" cap="flat" cmpd="sng">
            <a:solidFill>
              <a:srgbClr val="008080"/>
            </a:solidFill>
            <a:prstDash val="dash"/>
            <a:headEnd type="none" w="med" len="med"/>
            <a:tailEnd type="none" w="med" len="med"/>
          </a:ln>
        </p:spPr>
      </p:sp>
      <p:sp>
        <p:nvSpPr>
          <p:cNvPr id="16419" name="Line 39"/>
          <p:cNvSpPr/>
          <p:nvPr/>
        </p:nvSpPr>
        <p:spPr>
          <a:xfrm flipV="1">
            <a:off x="4108450" y="2941638"/>
            <a:ext cx="0" cy="985837"/>
          </a:xfrm>
          <a:prstGeom prst="line">
            <a:avLst/>
          </a:prstGeom>
          <a:ln w="12700" cap="flat" cmpd="sng">
            <a:solidFill>
              <a:srgbClr val="008080"/>
            </a:solidFill>
            <a:prstDash val="dash"/>
            <a:headEnd type="none" w="med" len="med"/>
            <a:tailEnd type="none" w="med" len="med"/>
          </a:ln>
        </p:spPr>
      </p:sp>
      <p:sp>
        <p:nvSpPr>
          <p:cNvPr id="16420" name="Text Box 40"/>
          <p:cNvSpPr txBox="1"/>
          <p:nvPr/>
        </p:nvSpPr>
        <p:spPr>
          <a:xfrm>
            <a:off x="3843338" y="2547938"/>
            <a:ext cx="436562"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1</a:t>
            </a:r>
            <a:endParaRPr lang="en-US" altLang="zh-CN" sz="2000" baseline="-25000" dirty="0">
              <a:solidFill>
                <a:srgbClr val="FF0000"/>
              </a:solidFill>
              <a:latin typeface="Times New Roman" panose="02020603050405020304" pitchFamily="18" charset="0"/>
            </a:endParaRPr>
          </a:p>
        </p:txBody>
      </p:sp>
      <p:sp>
        <p:nvSpPr>
          <p:cNvPr id="16421" name="Text Box 41"/>
          <p:cNvSpPr txBox="1"/>
          <p:nvPr/>
        </p:nvSpPr>
        <p:spPr>
          <a:xfrm>
            <a:off x="3043238" y="3998913"/>
            <a:ext cx="477837"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6422" name="Text Box 42"/>
          <p:cNvSpPr txBox="1"/>
          <p:nvPr/>
        </p:nvSpPr>
        <p:spPr>
          <a:xfrm>
            <a:off x="4787900" y="2640013"/>
            <a:ext cx="4873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C</a:t>
            </a:r>
            <a:endParaRPr lang="en-US" altLang="zh-CN" sz="2000" baseline="-25000" dirty="0">
              <a:solidFill>
                <a:srgbClr val="FF0000"/>
              </a:solidFill>
              <a:latin typeface="Times New Roman" panose="02020603050405020304" pitchFamily="18" charset="0"/>
            </a:endParaRPr>
          </a:p>
        </p:txBody>
      </p:sp>
      <p:sp>
        <p:nvSpPr>
          <p:cNvPr id="16423" name="Line 43"/>
          <p:cNvSpPr/>
          <p:nvPr/>
        </p:nvSpPr>
        <p:spPr>
          <a:xfrm>
            <a:off x="7158038" y="2897188"/>
            <a:ext cx="1244600" cy="0"/>
          </a:xfrm>
          <a:prstGeom prst="line">
            <a:avLst/>
          </a:prstGeom>
          <a:ln w="12700" cap="flat" cmpd="sng">
            <a:solidFill>
              <a:schemeClr val="accent2"/>
            </a:solidFill>
            <a:prstDash val="solid"/>
            <a:headEnd type="none" w="med" len="med"/>
            <a:tailEnd type="none" w="med" len="med"/>
          </a:ln>
        </p:spPr>
      </p:sp>
      <p:sp>
        <p:nvSpPr>
          <p:cNvPr id="16424" name="Oval 44"/>
          <p:cNvSpPr/>
          <p:nvPr/>
        </p:nvSpPr>
        <p:spPr>
          <a:xfrm>
            <a:off x="8407400" y="285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25" name="Text Box 45"/>
          <p:cNvSpPr txBox="1"/>
          <p:nvPr/>
        </p:nvSpPr>
        <p:spPr>
          <a:xfrm>
            <a:off x="8474075" y="2713038"/>
            <a:ext cx="539750" cy="366712"/>
          </a:xfrm>
          <a:prstGeom prst="rect">
            <a:avLst/>
          </a:prstGeom>
          <a:noFill/>
          <a:ln w="9525">
            <a:noFill/>
          </a:ln>
        </p:spPr>
        <p:txBody>
          <a:bodyPr>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6426" name="Oval 46"/>
          <p:cNvSpPr/>
          <p:nvPr/>
        </p:nvSpPr>
        <p:spPr>
          <a:xfrm>
            <a:off x="7745413" y="28511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27" name="Line 47"/>
          <p:cNvSpPr/>
          <p:nvPr/>
        </p:nvSpPr>
        <p:spPr>
          <a:xfrm flipV="1">
            <a:off x="7793038" y="2246313"/>
            <a:ext cx="0" cy="636587"/>
          </a:xfrm>
          <a:prstGeom prst="line">
            <a:avLst/>
          </a:prstGeom>
          <a:ln w="12700" cap="flat" cmpd="sng">
            <a:solidFill>
              <a:schemeClr val="accent2"/>
            </a:solidFill>
            <a:prstDash val="solid"/>
            <a:headEnd type="none" w="med" len="med"/>
            <a:tailEnd type="none" w="med" len="med"/>
          </a:ln>
        </p:spPr>
      </p:sp>
      <p:sp>
        <p:nvSpPr>
          <p:cNvPr id="16428" name="Line 48"/>
          <p:cNvSpPr/>
          <p:nvPr/>
        </p:nvSpPr>
        <p:spPr>
          <a:xfrm flipH="1">
            <a:off x="6043613" y="2246313"/>
            <a:ext cx="1749425" cy="0"/>
          </a:xfrm>
          <a:prstGeom prst="line">
            <a:avLst/>
          </a:prstGeom>
          <a:ln w="12700" cap="flat" cmpd="sng">
            <a:solidFill>
              <a:schemeClr val="accent2"/>
            </a:solidFill>
            <a:prstDash val="solid"/>
            <a:headEnd type="none" w="med" len="med"/>
            <a:tailEnd type="none" w="med" len="med"/>
          </a:ln>
        </p:spPr>
      </p:sp>
      <p:sp>
        <p:nvSpPr>
          <p:cNvPr id="16429" name="Line 49"/>
          <p:cNvSpPr/>
          <p:nvPr/>
        </p:nvSpPr>
        <p:spPr>
          <a:xfrm>
            <a:off x="6043613" y="2246313"/>
            <a:ext cx="0" cy="477837"/>
          </a:xfrm>
          <a:prstGeom prst="line">
            <a:avLst/>
          </a:prstGeom>
          <a:ln w="12700" cap="flat" cmpd="sng">
            <a:solidFill>
              <a:schemeClr val="accent2"/>
            </a:solidFill>
            <a:prstDash val="solid"/>
            <a:headEnd type="none" w="med" len="med"/>
            <a:tailEnd type="none" w="med" len="med"/>
          </a:ln>
        </p:spPr>
      </p:sp>
      <p:sp>
        <p:nvSpPr>
          <p:cNvPr id="16430" name="Line 50"/>
          <p:cNvSpPr/>
          <p:nvPr/>
        </p:nvSpPr>
        <p:spPr>
          <a:xfrm>
            <a:off x="6043613" y="2724150"/>
            <a:ext cx="317500" cy="0"/>
          </a:xfrm>
          <a:prstGeom prst="line">
            <a:avLst/>
          </a:prstGeom>
          <a:ln w="12700" cap="flat" cmpd="sng">
            <a:solidFill>
              <a:schemeClr val="accent2"/>
            </a:solidFill>
            <a:prstDash val="solid"/>
            <a:headEnd type="none" w="med" len="med"/>
            <a:tailEnd type="none" w="med" len="med"/>
          </a:ln>
        </p:spPr>
      </p:sp>
      <p:sp>
        <p:nvSpPr>
          <p:cNvPr id="16431" name="Line 51"/>
          <p:cNvSpPr/>
          <p:nvPr/>
        </p:nvSpPr>
        <p:spPr>
          <a:xfrm flipH="1">
            <a:off x="4094163" y="2246313"/>
            <a:ext cx="1949450" cy="0"/>
          </a:xfrm>
          <a:prstGeom prst="line">
            <a:avLst/>
          </a:prstGeom>
          <a:ln w="12700" cap="flat" cmpd="sng">
            <a:solidFill>
              <a:schemeClr val="accent2"/>
            </a:solidFill>
            <a:prstDash val="solid"/>
            <a:headEnd type="none" w="med" len="med"/>
            <a:tailEnd type="none" w="med" len="med"/>
          </a:ln>
        </p:spPr>
      </p:sp>
      <p:sp>
        <p:nvSpPr>
          <p:cNvPr id="16432" name="Rectangle 52"/>
          <p:cNvSpPr/>
          <p:nvPr/>
        </p:nvSpPr>
        <p:spPr>
          <a:xfrm>
            <a:off x="3843338" y="2206625"/>
            <a:ext cx="369887" cy="889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33" name="Text Box 53"/>
          <p:cNvSpPr txBox="1"/>
          <p:nvPr/>
        </p:nvSpPr>
        <p:spPr>
          <a:xfrm>
            <a:off x="3851275" y="1903413"/>
            <a:ext cx="354013"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R</a:t>
            </a:r>
            <a:endParaRPr lang="en-US" altLang="zh-CN" sz="2000" i="1" dirty="0">
              <a:latin typeface="Times New Roman" panose="02020603050405020304" pitchFamily="18" charset="0"/>
            </a:endParaRPr>
          </a:p>
        </p:txBody>
      </p:sp>
      <p:sp>
        <p:nvSpPr>
          <p:cNvPr id="16434" name="Line 54"/>
          <p:cNvSpPr/>
          <p:nvPr/>
        </p:nvSpPr>
        <p:spPr>
          <a:xfrm flipH="1">
            <a:off x="1550988" y="2246313"/>
            <a:ext cx="2279650" cy="0"/>
          </a:xfrm>
          <a:prstGeom prst="line">
            <a:avLst/>
          </a:prstGeom>
          <a:ln w="12700" cap="flat" cmpd="sng">
            <a:solidFill>
              <a:schemeClr val="accent2"/>
            </a:solidFill>
            <a:prstDash val="solid"/>
            <a:headEnd type="none" w="med" len="med"/>
            <a:tailEnd type="none" w="med" len="med"/>
          </a:ln>
        </p:spPr>
      </p:sp>
      <p:sp>
        <p:nvSpPr>
          <p:cNvPr id="16435" name="Line 55"/>
          <p:cNvSpPr/>
          <p:nvPr/>
        </p:nvSpPr>
        <p:spPr>
          <a:xfrm>
            <a:off x="1550988" y="2246313"/>
            <a:ext cx="0" cy="477837"/>
          </a:xfrm>
          <a:prstGeom prst="line">
            <a:avLst/>
          </a:prstGeom>
          <a:ln w="12700" cap="flat" cmpd="sng">
            <a:solidFill>
              <a:schemeClr val="accent2"/>
            </a:solidFill>
            <a:prstDash val="solid"/>
            <a:headEnd type="none" w="med" len="med"/>
            <a:tailEnd type="none" w="med" len="med"/>
          </a:ln>
        </p:spPr>
      </p:sp>
      <p:sp>
        <p:nvSpPr>
          <p:cNvPr id="16436" name="Line 56"/>
          <p:cNvSpPr/>
          <p:nvPr/>
        </p:nvSpPr>
        <p:spPr>
          <a:xfrm>
            <a:off x="1550988" y="2724150"/>
            <a:ext cx="317500" cy="0"/>
          </a:xfrm>
          <a:prstGeom prst="line">
            <a:avLst/>
          </a:prstGeom>
          <a:ln w="12700" cap="flat" cmpd="sng">
            <a:solidFill>
              <a:schemeClr val="accent2"/>
            </a:solidFill>
            <a:prstDash val="solid"/>
            <a:headEnd type="none" w="med" len="med"/>
            <a:tailEnd type="none" w="med" len="med"/>
          </a:ln>
        </p:spPr>
      </p:sp>
      <p:sp>
        <p:nvSpPr>
          <p:cNvPr id="16437" name="Line 57"/>
          <p:cNvSpPr/>
          <p:nvPr/>
        </p:nvSpPr>
        <p:spPr>
          <a:xfrm>
            <a:off x="3300413" y="2246313"/>
            <a:ext cx="0" cy="158750"/>
          </a:xfrm>
          <a:prstGeom prst="line">
            <a:avLst/>
          </a:prstGeom>
          <a:ln w="9525" cap="flat" cmpd="sng">
            <a:solidFill>
              <a:schemeClr val="accent2"/>
            </a:solidFill>
            <a:prstDash val="solid"/>
            <a:headEnd type="none" w="med" len="med"/>
            <a:tailEnd type="none" w="med" len="med"/>
          </a:ln>
        </p:spPr>
      </p:sp>
      <p:sp>
        <p:nvSpPr>
          <p:cNvPr id="16438" name="Oval 58"/>
          <p:cNvSpPr/>
          <p:nvPr/>
        </p:nvSpPr>
        <p:spPr>
          <a:xfrm>
            <a:off x="3252788" y="2400300"/>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39" name="Oval 59"/>
          <p:cNvSpPr/>
          <p:nvPr/>
        </p:nvSpPr>
        <p:spPr>
          <a:xfrm>
            <a:off x="3254375" y="2638425"/>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40" name="Line 60"/>
          <p:cNvSpPr/>
          <p:nvPr/>
        </p:nvSpPr>
        <p:spPr>
          <a:xfrm flipV="1">
            <a:off x="3306763" y="2430463"/>
            <a:ext cx="214312" cy="207962"/>
          </a:xfrm>
          <a:prstGeom prst="line">
            <a:avLst/>
          </a:prstGeom>
          <a:ln w="19050" cap="flat" cmpd="sng">
            <a:solidFill>
              <a:srgbClr val="000080"/>
            </a:solidFill>
            <a:prstDash val="solid"/>
            <a:headEnd type="none" w="med" len="med"/>
            <a:tailEnd type="none" w="med" len="med"/>
          </a:ln>
        </p:spPr>
      </p:sp>
      <p:sp>
        <p:nvSpPr>
          <p:cNvPr id="16441" name="Line 61"/>
          <p:cNvSpPr/>
          <p:nvPr/>
        </p:nvSpPr>
        <p:spPr>
          <a:xfrm>
            <a:off x="3300413" y="2736850"/>
            <a:ext cx="0" cy="146050"/>
          </a:xfrm>
          <a:prstGeom prst="line">
            <a:avLst/>
          </a:prstGeom>
          <a:ln w="12700" cap="flat" cmpd="sng">
            <a:solidFill>
              <a:schemeClr val="accent2"/>
            </a:solidFill>
            <a:prstDash val="solid"/>
            <a:headEnd type="none" w="med" len="med"/>
            <a:tailEnd type="none" w="med" len="med"/>
          </a:ln>
        </p:spPr>
      </p:sp>
      <p:sp>
        <p:nvSpPr>
          <p:cNvPr id="16442" name="Line 62"/>
          <p:cNvSpPr/>
          <p:nvPr/>
        </p:nvSpPr>
        <p:spPr>
          <a:xfrm flipV="1">
            <a:off x="2981325" y="2563813"/>
            <a:ext cx="0" cy="1557337"/>
          </a:xfrm>
          <a:prstGeom prst="line">
            <a:avLst/>
          </a:prstGeom>
          <a:ln w="12700" cap="flat" cmpd="sng">
            <a:solidFill>
              <a:srgbClr val="008080"/>
            </a:solidFill>
            <a:prstDash val="dash"/>
            <a:headEnd type="none" w="med" len="med"/>
            <a:tailEnd type="none" w="med" len="med"/>
          </a:ln>
        </p:spPr>
      </p:sp>
      <p:sp>
        <p:nvSpPr>
          <p:cNvPr id="16443" name="Line 63"/>
          <p:cNvSpPr/>
          <p:nvPr/>
        </p:nvSpPr>
        <p:spPr>
          <a:xfrm>
            <a:off x="2981325" y="2563813"/>
            <a:ext cx="388938" cy="0"/>
          </a:xfrm>
          <a:prstGeom prst="line">
            <a:avLst/>
          </a:prstGeom>
          <a:ln w="12700" cap="flat" cmpd="sng">
            <a:solidFill>
              <a:srgbClr val="008080"/>
            </a:solidFill>
            <a:prstDash val="dash"/>
            <a:headEnd type="none" w="med" len="med"/>
            <a:tailEnd type="none" w="med" len="med"/>
          </a:ln>
        </p:spPr>
      </p:sp>
      <p:sp>
        <p:nvSpPr>
          <p:cNvPr id="16444" name="Text Box 64"/>
          <p:cNvSpPr txBox="1"/>
          <p:nvPr/>
        </p:nvSpPr>
        <p:spPr>
          <a:xfrm>
            <a:off x="3438525" y="2316163"/>
            <a:ext cx="4365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2</a:t>
            </a:r>
            <a:endParaRPr lang="en-US" altLang="zh-CN" sz="2000" baseline="-25000" dirty="0">
              <a:solidFill>
                <a:srgbClr val="FF0000"/>
              </a:solidFill>
              <a:latin typeface="Times New Roman" panose="02020603050405020304" pitchFamily="18" charset="0"/>
            </a:endParaRPr>
          </a:p>
        </p:txBody>
      </p:sp>
      <p:sp>
        <p:nvSpPr>
          <p:cNvPr id="2418754" name="Text Box 66"/>
          <p:cNvSpPr txBox="1"/>
          <p:nvPr/>
        </p:nvSpPr>
        <p:spPr>
          <a:xfrm>
            <a:off x="315913" y="4797425"/>
            <a:ext cx="8566150" cy="457200"/>
          </a:xfrm>
          <a:prstGeom prst="rect">
            <a:avLst/>
          </a:prstGeom>
          <a:noFill/>
          <a:ln w="9525">
            <a:noFill/>
          </a:ln>
        </p:spPr>
        <p:txBody>
          <a:bodyPr>
            <a:spAutoFit/>
          </a:bodyPr>
          <a:p>
            <a:pPr marL="449580" indent="-449580" eaLnBrk="1" hangingPunct="1">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当</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闭合，</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断开时，</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2418757" name="Object 69"/>
          <p:cNvGraphicFramePr>
            <a:graphicFrameLocks noChangeAspect="1"/>
          </p:cNvGraphicFramePr>
          <p:nvPr/>
        </p:nvGraphicFramePr>
        <p:xfrm>
          <a:off x="2663825" y="5589588"/>
          <a:ext cx="3735388" cy="631825"/>
        </p:xfrm>
        <a:graphic>
          <a:graphicData uri="http://schemas.openxmlformats.org/presentationml/2006/ole">
            <mc:AlternateContent xmlns:mc="http://schemas.openxmlformats.org/markup-compatibility/2006">
              <mc:Choice xmlns:v="urn:schemas-microsoft-com:vml" Requires="v">
                <p:oleObj spid="_x0000_s3076" name="" r:id="rId1" imgW="1295400" imgH="228600" progId="Equation.3">
                  <p:embed/>
                </p:oleObj>
              </mc:Choice>
              <mc:Fallback>
                <p:oleObj name="" r:id="rId1" imgW="1295400" imgH="228600" progId="Equation.3">
                  <p:embed/>
                  <p:pic>
                    <p:nvPicPr>
                      <p:cNvPr id="0" name="图片 3075"/>
                      <p:cNvPicPr/>
                      <p:nvPr/>
                    </p:nvPicPr>
                    <p:blipFill>
                      <a:blip r:embed="rId2"/>
                      <a:stretch>
                        <a:fillRect/>
                      </a:stretch>
                    </p:blipFill>
                    <p:spPr>
                      <a:xfrm>
                        <a:off x="2663825" y="5589588"/>
                        <a:ext cx="3735388" cy="631825"/>
                      </a:xfrm>
                      <a:prstGeom prst="rect">
                        <a:avLst/>
                      </a:prstGeom>
                      <a:solidFill>
                        <a:srgbClr val="CCFFCC"/>
                      </a:solidFill>
                      <a:ln w="38100">
                        <a:noFill/>
                        <a:miter/>
                      </a:ln>
                    </p:spPr>
                  </p:pic>
                </p:oleObj>
              </mc:Fallback>
            </mc:AlternateContent>
          </a:graphicData>
        </a:graphic>
      </p:graphicFrame>
      <p:sp>
        <p:nvSpPr>
          <p:cNvPr id="2418763" name="Text Box 75"/>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6448" name="Text Box 77"/>
          <p:cNvSpPr txBox="1"/>
          <p:nvPr/>
        </p:nvSpPr>
        <p:spPr>
          <a:xfrm>
            <a:off x="900113" y="1412875"/>
            <a:ext cx="4537075" cy="519113"/>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2. </a:t>
            </a:r>
            <a:r>
              <a:rPr lang="zh-CN" altLang="en-US" sz="2800" dirty="0">
                <a:solidFill>
                  <a:srgbClr val="FF0000"/>
                </a:solidFill>
                <a:latin typeface="Times New Roman" panose="02020603050405020304" pitchFamily="18" charset="0"/>
              </a:rPr>
              <a:t>反馈型采样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sp>
        <p:nvSpPr>
          <p:cNvPr id="16449" name="Line 78"/>
          <p:cNvSpPr/>
          <p:nvPr/>
        </p:nvSpPr>
        <p:spPr>
          <a:xfrm flipV="1">
            <a:off x="4826000" y="3517900"/>
            <a:ext cx="300038" cy="0"/>
          </a:xfrm>
          <a:prstGeom prst="line">
            <a:avLst/>
          </a:prstGeom>
          <a:ln w="19050" cap="flat" cmpd="sng">
            <a:solidFill>
              <a:srgbClr val="000080"/>
            </a:solidFill>
            <a:prstDash val="solid"/>
            <a:headEnd type="none" w="med" len="med"/>
            <a:tailEnd type="none" w="med" len="med"/>
          </a:ln>
        </p:spPr>
      </p:sp>
      <p:sp>
        <p:nvSpPr>
          <p:cNvPr id="16450" name="AutoShape 79"/>
          <p:cNvSpPr/>
          <p:nvPr/>
        </p:nvSpPr>
        <p:spPr>
          <a:xfrm>
            <a:off x="2781300" y="3340100"/>
            <a:ext cx="398463" cy="35877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51" name="Oval 80"/>
          <p:cNvSpPr/>
          <p:nvPr/>
        </p:nvSpPr>
        <p:spPr>
          <a:xfrm>
            <a:off x="2933700" y="3243263"/>
            <a:ext cx="88900" cy="889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52" name="Oval 81"/>
          <p:cNvSpPr/>
          <p:nvPr/>
        </p:nvSpPr>
        <p:spPr>
          <a:xfrm>
            <a:off x="5999163"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53" name="Oval 82"/>
          <p:cNvSpPr/>
          <p:nvPr/>
        </p:nvSpPr>
        <p:spPr>
          <a:xfrm>
            <a:off x="3260725"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6454" name="Oval 83"/>
          <p:cNvSpPr/>
          <p:nvPr/>
        </p:nvSpPr>
        <p:spPr>
          <a:xfrm>
            <a:off x="3260725" y="28384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18774" name="Text Box 86"/>
          <p:cNvSpPr txBox="1"/>
          <p:nvPr/>
        </p:nvSpPr>
        <p:spPr>
          <a:xfrm>
            <a:off x="4103688" y="5167313"/>
            <a:ext cx="4910137" cy="457200"/>
          </a:xfrm>
          <a:prstGeom prst="rect">
            <a:avLst/>
          </a:prstGeom>
          <a:noFill/>
          <a:ln w="9525">
            <a:noFill/>
          </a:ln>
        </p:spPr>
        <p:txBody>
          <a:bodyPr>
            <a:spAutoFit/>
          </a:bodyPr>
          <a:p>
            <a:pPr marL="449580" indent="-449580" eaLnBrk="1" hangingPunct="1">
              <a:buClr>
                <a:srgbClr val="FF0000"/>
              </a:buClr>
              <a:buFont typeface="Wingdings" panose="05000000000000000000" pitchFamily="2" charset="2"/>
            </a:pPr>
            <a:r>
              <a:rPr lang="zh-CN" altLang="en-US" sz="2400" dirty="0">
                <a:solidFill>
                  <a:schemeClr val="tx1"/>
                </a:solidFill>
                <a:latin typeface="黑体" panose="02010609060101010101" pitchFamily="49" charset="-122"/>
                <a:ea typeface="黑体" panose="02010609060101010101" pitchFamily="49" charset="-122"/>
              </a:rPr>
              <a:t>此时，保持电容</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baseline="-25000" dirty="0">
                <a:solidFill>
                  <a:srgbClr val="FF0000"/>
                </a:solidFill>
                <a:latin typeface="Times New Roman" panose="02020603050405020304" pitchFamily="18" charset="0"/>
                <a:ea typeface="黑体" panose="02010609060101010101" pitchFamily="49" charset="-122"/>
              </a:rPr>
              <a:t>H</a:t>
            </a:r>
            <a:r>
              <a:rPr lang="zh-CN" altLang="en-US" sz="2400" dirty="0">
                <a:solidFill>
                  <a:schemeClr val="tx1"/>
                </a:solidFill>
                <a:latin typeface="黑体" panose="02010609060101010101" pitchFamily="49" charset="-122"/>
                <a:ea typeface="黑体" panose="02010609060101010101" pitchFamily="49" charset="-122"/>
              </a:rPr>
              <a:t>的端电压为：</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18775" name="Text Box 87"/>
          <p:cNvSpPr txBox="1"/>
          <p:nvPr/>
        </p:nvSpPr>
        <p:spPr>
          <a:xfrm>
            <a:off x="290513" y="4797425"/>
            <a:ext cx="8566150" cy="822325"/>
          </a:xfrm>
          <a:prstGeom prst="rect">
            <a:avLst/>
          </a:prstGeom>
          <a:noFill/>
          <a:ln w="9525">
            <a:noFill/>
          </a:ln>
        </p:spPr>
        <p:txBody>
          <a:bodyPr>
            <a:spAutoFit/>
          </a:bodyPr>
          <a:p>
            <a:pPr marL="449580" indent="-449580" eaLnBrk="1" hangingPunct="1">
              <a:buClr>
                <a:srgbClr val="FF0000"/>
              </a:buClr>
              <a:buFont typeface="Wingdings" panose="05000000000000000000" pitchFamily="2" charset="2"/>
            </a:pPr>
            <a:r>
              <a:rPr lang="en-US" altLang="zh-CN" sz="2400" i="1" dirty="0">
                <a:solidFill>
                  <a:srgbClr val="FF0000"/>
                </a:solidFill>
                <a:latin typeface="Times New Roman" panose="02020603050405020304" pitchFamily="18" charset="0"/>
                <a:ea typeface="黑体" panose="02010609060101010101" pitchFamily="49" charset="-122"/>
              </a:rPr>
              <a:t>                                              A</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和</a:t>
            </a:r>
            <a:r>
              <a:rPr lang="en-US" altLang="zh-CN" sz="2400" i="1" dirty="0">
                <a:solidFill>
                  <a:srgbClr val="FF0000"/>
                </a:solidFill>
                <a:latin typeface="Times New Roman" panose="02020603050405020304" pitchFamily="18" charset="0"/>
                <a:ea typeface="黑体" panose="02010609060101010101" pitchFamily="49" charset="-122"/>
              </a:rPr>
              <a:t>A</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共同组成一个跟随器，采样</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保持器工作于跟踪状态。</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18776" name="Line 88"/>
          <p:cNvSpPr/>
          <p:nvPr/>
        </p:nvSpPr>
        <p:spPr>
          <a:xfrm flipV="1">
            <a:off x="3989388" y="2965450"/>
            <a:ext cx="360362" cy="61913"/>
          </a:xfrm>
          <a:prstGeom prst="line">
            <a:avLst/>
          </a:prstGeom>
          <a:ln w="19050" cap="flat" cmpd="sng">
            <a:solidFill>
              <a:srgbClr val="CC00CC"/>
            </a:solidFill>
            <a:prstDash val="solid"/>
            <a:headEnd type="none" w="med" len="med"/>
            <a:tailEnd type="none" w="med" len="med"/>
          </a:ln>
        </p:spPr>
      </p:sp>
      <p:sp>
        <p:nvSpPr>
          <p:cNvPr id="16458"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8754">
                                            <p:txEl>
                                              <p:charRg st="0" end="13"/>
                                            </p:txEl>
                                          </p:spTgt>
                                        </p:tgtEl>
                                        <p:attrNameLst>
                                          <p:attrName>style.visibility</p:attrName>
                                        </p:attrNameLst>
                                      </p:cBhvr>
                                      <p:to>
                                        <p:strVal val="visible"/>
                                      </p:to>
                                    </p:set>
                                    <p:animEffect transition="in" filter="dissolve">
                                      <p:cBhvr>
                                        <p:cTn id="7" dur="500"/>
                                        <p:tgtEl>
                                          <p:spTgt spid="2418754">
                                            <p:txEl>
                                              <p:charRg st="0" end="13"/>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xit" presetSubtype="2" fill="hold" nodeType="clickEffect">
                                  <p:stCondLst>
                                    <p:cond delay="0"/>
                                  </p:stCondLst>
                                  <p:childTnLst>
                                    <p:animEffect transition="out" filter="wipe(right)">
                                      <p:cBhvr>
                                        <p:cTn id="11" dur="500"/>
                                        <p:tgtEl>
                                          <p:spTgt spid="2418709"/>
                                        </p:tgtEl>
                                      </p:cBhvr>
                                    </p:animEffect>
                                    <p:set>
                                      <p:cBhvr>
                                        <p:cTn id="12" dur="1" fill="hold">
                                          <p:stCondLst>
                                            <p:cond delay="499"/>
                                          </p:stCondLst>
                                        </p:cTn>
                                        <p:tgtEl>
                                          <p:spTgt spid="2418709"/>
                                        </p:tgtEl>
                                        <p:attrNameLst>
                                          <p:attrName>style.visibility</p:attrName>
                                        </p:attrNameLst>
                                      </p:cBhvr>
                                      <p:to>
                                        <p:strVal val="hidden"/>
                                      </p:to>
                                    </p:se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418776"/>
                                        </p:tgtEl>
                                        <p:attrNameLst>
                                          <p:attrName>style.visibility</p:attrName>
                                        </p:attrNameLst>
                                      </p:cBhvr>
                                      <p:to>
                                        <p:strVal val="visible"/>
                                      </p:to>
                                    </p:set>
                                    <p:animEffect transition="in" filter="wipe(left)">
                                      <p:cBhvr>
                                        <p:cTn id="16" dur="500"/>
                                        <p:tgtEl>
                                          <p:spTgt spid="241877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2418775">
                                            <p:txEl>
                                              <p:charRg st="0" end="76"/>
                                            </p:txEl>
                                          </p:spTgt>
                                        </p:tgtEl>
                                        <p:attrNameLst>
                                          <p:attrName>style.visibility</p:attrName>
                                        </p:attrNameLst>
                                      </p:cBhvr>
                                      <p:to>
                                        <p:strVal val="visible"/>
                                      </p:to>
                                    </p:set>
                                    <p:animEffect transition="in" filter="dissolve">
                                      <p:cBhvr>
                                        <p:cTn id="21" dur="500"/>
                                        <p:tgtEl>
                                          <p:spTgt spid="2418775">
                                            <p:txEl>
                                              <p:charRg st="0" end="7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418774">
                                            <p:txEl>
                                              <p:charRg st="0" end="16"/>
                                            </p:txEl>
                                          </p:spTgt>
                                        </p:tgtEl>
                                        <p:attrNameLst>
                                          <p:attrName>style.visibility</p:attrName>
                                        </p:attrNameLst>
                                      </p:cBhvr>
                                      <p:to>
                                        <p:strVal val="visible"/>
                                      </p:to>
                                    </p:set>
                                    <p:animEffect transition="in" filter="dissolve">
                                      <p:cBhvr>
                                        <p:cTn id="26" dur="500"/>
                                        <p:tgtEl>
                                          <p:spTgt spid="2418774">
                                            <p:txEl>
                                              <p:charRg st="0" end="1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418757"/>
                                        </p:tgtEl>
                                        <p:attrNameLst>
                                          <p:attrName>style.visibility</p:attrName>
                                        </p:attrNameLst>
                                      </p:cBhvr>
                                      <p:to>
                                        <p:strVal val="visible"/>
                                      </p:to>
                                    </p:set>
                                    <p:animEffect transition="in" filter="dissolve">
                                      <p:cBhvr>
                                        <p:cTn id="31" dur="500"/>
                                        <p:tgtEl>
                                          <p:spTgt spid="2418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7410" name="Rectangle 2"/>
          <p:cNvSpPr/>
          <p:nvPr/>
        </p:nvSpPr>
        <p:spPr>
          <a:xfrm>
            <a:off x="215900" y="1928813"/>
            <a:ext cx="8729663" cy="286861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11" name="Text Box 3"/>
          <p:cNvSpPr txBox="1"/>
          <p:nvPr/>
        </p:nvSpPr>
        <p:spPr>
          <a:xfrm>
            <a:off x="2744788" y="4430713"/>
            <a:ext cx="3048000" cy="366712"/>
          </a:xfrm>
          <a:prstGeom prst="rect">
            <a:avLst/>
          </a:prstGeom>
          <a:noFill/>
          <a:ln w="9525">
            <a:noFill/>
          </a:ln>
        </p:spPr>
        <p:txBody>
          <a:bodyPr wrap="none">
            <a:spAutoFit/>
          </a:bodyPr>
          <a:p>
            <a:pPr eaLnBrk="1" hangingPunct="1">
              <a:lnSpc>
                <a:spcPct val="90000"/>
              </a:lnSpc>
            </a:pPr>
            <a:r>
              <a:rPr lang="zh-CN" altLang="en-US" sz="2000" dirty="0">
                <a:solidFill>
                  <a:srgbClr val="000099"/>
                </a:solidFill>
                <a:latin typeface="Times New Roman" panose="02020603050405020304" pitchFamily="18" charset="0"/>
              </a:rPr>
              <a:t>反馈型采样</a:t>
            </a:r>
            <a:r>
              <a:rPr lang="en-US" altLang="zh-CN" sz="2000" dirty="0">
                <a:solidFill>
                  <a:srgbClr val="000099"/>
                </a:solidFill>
                <a:latin typeface="Times New Roman" panose="02020603050405020304" pitchFamily="18" charset="0"/>
              </a:rPr>
              <a:t>/</a:t>
            </a:r>
            <a:r>
              <a:rPr lang="zh-CN" altLang="en-US" sz="2000" dirty="0">
                <a:solidFill>
                  <a:srgbClr val="000099"/>
                </a:solidFill>
                <a:latin typeface="Times New Roman" panose="02020603050405020304" pitchFamily="18" charset="0"/>
              </a:rPr>
              <a:t>保持器的结构</a:t>
            </a:r>
            <a:endParaRPr lang="zh-CN" altLang="en-US" sz="2000" dirty="0">
              <a:solidFill>
                <a:srgbClr val="000099"/>
              </a:solidFill>
              <a:latin typeface="Times New Roman" panose="02020603050405020304" pitchFamily="18" charset="0"/>
            </a:endParaRPr>
          </a:p>
        </p:txBody>
      </p:sp>
      <p:sp>
        <p:nvSpPr>
          <p:cNvPr id="17412" name="Text Box 4"/>
          <p:cNvSpPr txBox="1"/>
          <p:nvPr/>
        </p:nvSpPr>
        <p:spPr>
          <a:xfrm>
            <a:off x="187325" y="2867025"/>
            <a:ext cx="414338"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17413" name="Oval 5"/>
          <p:cNvSpPr/>
          <p:nvPr/>
        </p:nvSpPr>
        <p:spPr>
          <a:xfrm>
            <a:off x="565150" y="2992438"/>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14" name="Line 6"/>
          <p:cNvSpPr/>
          <p:nvPr/>
        </p:nvSpPr>
        <p:spPr>
          <a:xfrm>
            <a:off x="661988" y="3041650"/>
            <a:ext cx="1206500" cy="0"/>
          </a:xfrm>
          <a:prstGeom prst="line">
            <a:avLst/>
          </a:prstGeom>
          <a:ln w="12700" cap="flat" cmpd="sng">
            <a:solidFill>
              <a:schemeClr val="accent2"/>
            </a:solidFill>
            <a:prstDash val="solid"/>
            <a:headEnd type="none" w="med" len="med"/>
            <a:tailEnd type="none" w="med" len="med"/>
          </a:ln>
        </p:spPr>
      </p:sp>
      <p:sp>
        <p:nvSpPr>
          <p:cNvPr id="17415" name="AutoShape 7"/>
          <p:cNvSpPr/>
          <p:nvPr/>
        </p:nvSpPr>
        <p:spPr>
          <a:xfrm rot="5400000">
            <a:off x="1849438" y="249078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16" name="Text Box 8"/>
          <p:cNvSpPr txBox="1"/>
          <p:nvPr/>
        </p:nvSpPr>
        <p:spPr>
          <a:xfrm>
            <a:off x="1816100" y="2517775"/>
            <a:ext cx="314325" cy="723900"/>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17417" name="Text Box 9"/>
          <p:cNvSpPr txBox="1"/>
          <p:nvPr/>
        </p:nvSpPr>
        <p:spPr>
          <a:xfrm>
            <a:off x="2001838" y="270510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1</a:t>
            </a:r>
            <a:endParaRPr lang="en-US" altLang="zh-CN" sz="1800" baseline="-25000" dirty="0">
              <a:latin typeface="Times New Roman" panose="02020603050405020304" pitchFamily="18" charset="0"/>
            </a:endParaRPr>
          </a:p>
        </p:txBody>
      </p:sp>
      <p:sp>
        <p:nvSpPr>
          <p:cNvPr id="17418" name="Oval 10"/>
          <p:cNvSpPr/>
          <p:nvPr/>
        </p:nvSpPr>
        <p:spPr>
          <a:xfrm>
            <a:off x="1101725" y="289560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19" name="Text Box 11"/>
          <p:cNvSpPr txBox="1"/>
          <p:nvPr/>
        </p:nvSpPr>
        <p:spPr>
          <a:xfrm>
            <a:off x="927100" y="2724150"/>
            <a:ext cx="730250" cy="366713"/>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17420" name="Text Box 12"/>
          <p:cNvSpPr txBox="1"/>
          <p:nvPr/>
        </p:nvSpPr>
        <p:spPr>
          <a:xfrm>
            <a:off x="971550"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OS1</a:t>
            </a:r>
            <a:endParaRPr lang="en-US" altLang="zh-CN" sz="2000" baseline="-25000" dirty="0">
              <a:solidFill>
                <a:srgbClr val="FF0000"/>
              </a:solidFill>
              <a:latin typeface="Times New Roman" panose="02020603050405020304" pitchFamily="18" charset="0"/>
            </a:endParaRPr>
          </a:p>
        </p:txBody>
      </p:sp>
      <p:sp>
        <p:nvSpPr>
          <p:cNvPr id="17421" name="Line 13"/>
          <p:cNvSpPr/>
          <p:nvPr/>
        </p:nvSpPr>
        <p:spPr>
          <a:xfrm>
            <a:off x="2651125" y="2882900"/>
            <a:ext cx="649288" cy="0"/>
          </a:xfrm>
          <a:prstGeom prst="line">
            <a:avLst/>
          </a:prstGeom>
          <a:ln w="12700" cap="flat" cmpd="sng">
            <a:solidFill>
              <a:schemeClr val="accent2"/>
            </a:solidFill>
            <a:prstDash val="solid"/>
            <a:headEnd type="none" w="med" len="med"/>
            <a:tailEnd type="none" w="med" len="med"/>
          </a:ln>
        </p:spPr>
      </p:sp>
      <p:sp>
        <p:nvSpPr>
          <p:cNvPr id="17422" name="Line 14"/>
          <p:cNvSpPr/>
          <p:nvPr/>
        </p:nvSpPr>
        <p:spPr>
          <a:xfrm>
            <a:off x="3300413" y="2882900"/>
            <a:ext cx="0" cy="158750"/>
          </a:xfrm>
          <a:prstGeom prst="line">
            <a:avLst/>
          </a:prstGeom>
          <a:ln w="12700" cap="flat" cmpd="sng">
            <a:solidFill>
              <a:schemeClr val="accent2"/>
            </a:solidFill>
            <a:prstDash val="solid"/>
            <a:headEnd type="none" w="med" len="med"/>
            <a:tailEnd type="none" w="med" len="med"/>
          </a:ln>
        </p:spPr>
      </p:sp>
      <p:sp>
        <p:nvSpPr>
          <p:cNvPr id="17423" name="Line 15"/>
          <p:cNvSpPr/>
          <p:nvPr/>
        </p:nvSpPr>
        <p:spPr>
          <a:xfrm>
            <a:off x="3300413" y="3041650"/>
            <a:ext cx="609600" cy="0"/>
          </a:xfrm>
          <a:prstGeom prst="line">
            <a:avLst/>
          </a:prstGeom>
          <a:ln w="12700" cap="flat" cmpd="sng">
            <a:solidFill>
              <a:schemeClr val="accent2"/>
            </a:solidFill>
            <a:prstDash val="solid"/>
            <a:headEnd type="none" w="med" len="med"/>
            <a:tailEnd type="none" w="med" len="med"/>
          </a:ln>
        </p:spPr>
      </p:sp>
      <p:sp>
        <p:nvSpPr>
          <p:cNvPr id="17424" name="Oval 16"/>
          <p:cNvSpPr/>
          <p:nvPr/>
        </p:nvSpPr>
        <p:spPr>
          <a:xfrm>
            <a:off x="3905250" y="29987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25" name="Line 17"/>
          <p:cNvSpPr/>
          <p:nvPr/>
        </p:nvSpPr>
        <p:spPr>
          <a:xfrm flipV="1">
            <a:off x="3989388" y="2838450"/>
            <a:ext cx="290512" cy="176213"/>
          </a:xfrm>
          <a:prstGeom prst="line">
            <a:avLst/>
          </a:prstGeom>
          <a:ln w="19050" cap="flat" cmpd="sng">
            <a:solidFill>
              <a:srgbClr val="000080"/>
            </a:solidFill>
            <a:prstDash val="solid"/>
            <a:headEnd type="none" w="med" len="med"/>
            <a:tailEnd type="none" w="med" len="med"/>
          </a:ln>
        </p:spPr>
      </p:sp>
      <p:sp>
        <p:nvSpPr>
          <p:cNvPr id="17426" name="Oval 18"/>
          <p:cNvSpPr/>
          <p:nvPr/>
        </p:nvSpPr>
        <p:spPr>
          <a:xfrm>
            <a:off x="4216400" y="29924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27" name="Line 19"/>
          <p:cNvSpPr/>
          <p:nvPr/>
        </p:nvSpPr>
        <p:spPr>
          <a:xfrm>
            <a:off x="4313238" y="3041650"/>
            <a:ext cx="2041525" cy="0"/>
          </a:xfrm>
          <a:prstGeom prst="line">
            <a:avLst/>
          </a:prstGeom>
          <a:ln w="12700" cap="flat" cmpd="sng">
            <a:solidFill>
              <a:schemeClr val="accent2"/>
            </a:solidFill>
            <a:prstDash val="solid"/>
            <a:headEnd type="none" w="med" len="med"/>
            <a:tailEnd type="none" w="med" len="med"/>
          </a:ln>
        </p:spPr>
      </p:sp>
      <p:sp>
        <p:nvSpPr>
          <p:cNvPr id="17428" name="AutoShape 20"/>
          <p:cNvSpPr/>
          <p:nvPr/>
        </p:nvSpPr>
        <p:spPr>
          <a:xfrm rot="5400000">
            <a:off x="6335713" y="2497138"/>
            <a:ext cx="833437" cy="795337"/>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29" name="Text Box 21"/>
          <p:cNvSpPr txBox="1"/>
          <p:nvPr/>
        </p:nvSpPr>
        <p:spPr>
          <a:xfrm>
            <a:off x="6329363" y="2524125"/>
            <a:ext cx="314325" cy="723900"/>
          </a:xfrm>
          <a:prstGeom prst="rect">
            <a:avLst/>
          </a:prstGeom>
          <a:noFill/>
          <a:ln w="12700">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17430" name="Text Box 22"/>
          <p:cNvSpPr txBox="1"/>
          <p:nvPr/>
        </p:nvSpPr>
        <p:spPr>
          <a:xfrm>
            <a:off x="6500813" y="2724150"/>
            <a:ext cx="4127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A</a:t>
            </a:r>
            <a:r>
              <a:rPr lang="en-US" altLang="zh-CN" sz="1800" baseline="-25000" dirty="0">
                <a:latin typeface="Times New Roman" panose="02020603050405020304" pitchFamily="18" charset="0"/>
              </a:rPr>
              <a:t>2</a:t>
            </a:r>
            <a:endParaRPr lang="en-US" altLang="zh-CN" sz="1800" baseline="-25000" dirty="0">
              <a:latin typeface="Times New Roman" panose="02020603050405020304" pitchFamily="18" charset="0"/>
            </a:endParaRPr>
          </a:p>
        </p:txBody>
      </p:sp>
      <p:sp>
        <p:nvSpPr>
          <p:cNvPr id="17431" name="Oval 23"/>
          <p:cNvSpPr/>
          <p:nvPr/>
        </p:nvSpPr>
        <p:spPr>
          <a:xfrm>
            <a:off x="4937125" y="299561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32" name="Line 24"/>
          <p:cNvSpPr/>
          <p:nvPr/>
        </p:nvSpPr>
        <p:spPr>
          <a:xfrm>
            <a:off x="4983163" y="3041650"/>
            <a:ext cx="0" cy="476250"/>
          </a:xfrm>
          <a:prstGeom prst="line">
            <a:avLst/>
          </a:prstGeom>
          <a:ln w="12700" cap="flat" cmpd="sng">
            <a:solidFill>
              <a:schemeClr val="accent2"/>
            </a:solidFill>
            <a:prstDash val="solid"/>
            <a:headEnd type="none" w="med" len="med"/>
            <a:tailEnd type="none" w="med" len="med"/>
          </a:ln>
        </p:spPr>
      </p:sp>
      <p:sp>
        <p:nvSpPr>
          <p:cNvPr id="17433" name="Line 25"/>
          <p:cNvSpPr/>
          <p:nvPr/>
        </p:nvSpPr>
        <p:spPr>
          <a:xfrm>
            <a:off x="4983163" y="3597275"/>
            <a:ext cx="0" cy="411163"/>
          </a:xfrm>
          <a:prstGeom prst="line">
            <a:avLst/>
          </a:prstGeom>
          <a:ln w="12700" cap="flat" cmpd="sng">
            <a:solidFill>
              <a:schemeClr val="accent2"/>
            </a:solidFill>
            <a:prstDash val="solid"/>
            <a:headEnd type="none" w="med" len="med"/>
            <a:tailEnd type="none" w="med" len="med"/>
          </a:ln>
        </p:spPr>
      </p:sp>
      <p:sp>
        <p:nvSpPr>
          <p:cNvPr id="17434" name="AutoShape 26"/>
          <p:cNvSpPr/>
          <p:nvPr/>
        </p:nvSpPr>
        <p:spPr>
          <a:xfrm rot="10800000">
            <a:off x="4784725" y="4008438"/>
            <a:ext cx="396875" cy="198437"/>
          </a:xfrm>
          <a:prstGeom prst="triangle">
            <a:avLst>
              <a:gd name="adj" fmla="val 50000"/>
            </a:avLst>
          </a:prstGeom>
          <a:no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35" name="Line 27"/>
          <p:cNvSpPr/>
          <p:nvPr/>
        </p:nvSpPr>
        <p:spPr>
          <a:xfrm flipV="1">
            <a:off x="4826000" y="3592513"/>
            <a:ext cx="300038" cy="0"/>
          </a:xfrm>
          <a:prstGeom prst="line">
            <a:avLst/>
          </a:prstGeom>
          <a:ln w="19050" cap="flat" cmpd="sng">
            <a:solidFill>
              <a:srgbClr val="000080"/>
            </a:solidFill>
            <a:prstDash val="solid"/>
            <a:headEnd type="none" w="med" len="med"/>
            <a:tailEnd type="none" w="med" len="med"/>
          </a:ln>
        </p:spPr>
      </p:sp>
      <p:sp>
        <p:nvSpPr>
          <p:cNvPr id="17436" name="Text Box 28"/>
          <p:cNvSpPr txBox="1"/>
          <p:nvPr/>
        </p:nvSpPr>
        <p:spPr>
          <a:xfrm>
            <a:off x="5075238" y="3371850"/>
            <a:ext cx="482600" cy="366713"/>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C</a:t>
            </a:r>
            <a:r>
              <a:rPr lang="en-US" altLang="zh-CN" sz="2000" baseline="-25000" dirty="0">
                <a:latin typeface="Times New Roman" panose="02020603050405020304" pitchFamily="18" charset="0"/>
              </a:rPr>
              <a:t>H</a:t>
            </a:r>
            <a:endParaRPr lang="en-US" altLang="zh-CN" sz="2000" baseline="-25000" dirty="0">
              <a:latin typeface="Times New Roman" panose="02020603050405020304" pitchFamily="18" charset="0"/>
            </a:endParaRPr>
          </a:p>
        </p:txBody>
      </p:sp>
      <p:sp>
        <p:nvSpPr>
          <p:cNvPr id="17437" name="Text Box 29"/>
          <p:cNvSpPr txBox="1"/>
          <p:nvPr/>
        </p:nvSpPr>
        <p:spPr>
          <a:xfrm>
            <a:off x="5116513" y="3859213"/>
            <a:ext cx="1017587" cy="366712"/>
          </a:xfrm>
          <a:prstGeom prst="rect">
            <a:avLst/>
          </a:prstGeom>
          <a:noFill/>
          <a:ln w="9525">
            <a:noFill/>
          </a:ln>
        </p:spPr>
        <p:txBody>
          <a:bodyPr>
            <a:spAutoFit/>
          </a:bodyPr>
          <a:p>
            <a:pPr eaLnBrk="1" hangingPunct="1">
              <a:lnSpc>
                <a:spcPct val="90000"/>
              </a:lnSpc>
            </a:pPr>
            <a:r>
              <a:rPr lang="zh-CN" altLang="en-US" sz="2000" dirty="0">
                <a:latin typeface="Times New Roman" panose="02020603050405020304" pitchFamily="18" charset="0"/>
              </a:rPr>
              <a:t>模拟地</a:t>
            </a:r>
            <a:endParaRPr lang="zh-CN" altLang="en-US" sz="2000" dirty="0">
              <a:latin typeface="Times New Roman" panose="02020603050405020304" pitchFamily="18" charset="0"/>
            </a:endParaRPr>
          </a:p>
        </p:txBody>
      </p:sp>
      <p:sp>
        <p:nvSpPr>
          <p:cNvPr id="17438" name="Oval 30"/>
          <p:cNvSpPr/>
          <p:nvPr/>
        </p:nvSpPr>
        <p:spPr>
          <a:xfrm>
            <a:off x="5719763" y="2914650"/>
            <a:ext cx="304800" cy="3048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39" name="Text Box 31"/>
          <p:cNvSpPr txBox="1"/>
          <p:nvPr/>
        </p:nvSpPr>
        <p:spPr>
          <a:xfrm>
            <a:off x="5532438" y="2678113"/>
            <a:ext cx="730250" cy="366712"/>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     +</a:t>
            </a:r>
            <a:endParaRPr lang="en-US" altLang="zh-CN" sz="2000" dirty="0">
              <a:solidFill>
                <a:srgbClr val="FF0000"/>
              </a:solidFill>
              <a:latin typeface="Times New Roman" panose="02020603050405020304" pitchFamily="18" charset="0"/>
            </a:endParaRPr>
          </a:p>
        </p:txBody>
      </p:sp>
      <p:sp>
        <p:nvSpPr>
          <p:cNvPr id="17440" name="Text Box 32"/>
          <p:cNvSpPr txBox="1"/>
          <p:nvPr/>
        </p:nvSpPr>
        <p:spPr>
          <a:xfrm>
            <a:off x="5580063" y="3135313"/>
            <a:ext cx="6000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e</a:t>
            </a:r>
            <a:r>
              <a:rPr lang="en-US" altLang="zh-CN" sz="2000" baseline="-25000" dirty="0">
                <a:solidFill>
                  <a:srgbClr val="FF0000"/>
                </a:solidFill>
                <a:latin typeface="Times New Roman" panose="02020603050405020304" pitchFamily="18" charset="0"/>
              </a:rPr>
              <a:t>OS2</a:t>
            </a:r>
            <a:endParaRPr lang="en-US" altLang="zh-CN" sz="2000" baseline="-25000" dirty="0">
              <a:solidFill>
                <a:srgbClr val="FF0000"/>
              </a:solidFill>
              <a:latin typeface="Times New Roman" panose="02020603050405020304" pitchFamily="18" charset="0"/>
            </a:endParaRPr>
          </a:p>
        </p:txBody>
      </p:sp>
      <p:sp>
        <p:nvSpPr>
          <p:cNvPr id="17441" name="Oval 33"/>
          <p:cNvSpPr/>
          <p:nvPr/>
        </p:nvSpPr>
        <p:spPr>
          <a:xfrm>
            <a:off x="2935288" y="412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42" name="Line 34"/>
          <p:cNvSpPr/>
          <p:nvPr/>
        </p:nvSpPr>
        <p:spPr>
          <a:xfrm>
            <a:off x="2981325" y="3927475"/>
            <a:ext cx="1127125" cy="0"/>
          </a:xfrm>
          <a:prstGeom prst="line">
            <a:avLst/>
          </a:prstGeom>
          <a:ln w="12700" cap="flat" cmpd="sng">
            <a:solidFill>
              <a:srgbClr val="008080"/>
            </a:solidFill>
            <a:prstDash val="dash"/>
            <a:headEnd type="none" w="med" len="med"/>
            <a:tailEnd type="none" w="med" len="med"/>
          </a:ln>
        </p:spPr>
      </p:sp>
      <p:sp>
        <p:nvSpPr>
          <p:cNvPr id="17443" name="Line 35"/>
          <p:cNvSpPr/>
          <p:nvPr/>
        </p:nvSpPr>
        <p:spPr>
          <a:xfrm flipV="1">
            <a:off x="4108450" y="2941638"/>
            <a:ext cx="0" cy="985837"/>
          </a:xfrm>
          <a:prstGeom prst="line">
            <a:avLst/>
          </a:prstGeom>
          <a:ln w="12700" cap="flat" cmpd="sng">
            <a:solidFill>
              <a:srgbClr val="008080"/>
            </a:solidFill>
            <a:prstDash val="dash"/>
            <a:headEnd type="none" w="med" len="med"/>
            <a:tailEnd type="none" w="med" len="med"/>
          </a:ln>
        </p:spPr>
      </p:sp>
      <p:sp>
        <p:nvSpPr>
          <p:cNvPr id="17444" name="Text Box 36"/>
          <p:cNvSpPr txBox="1"/>
          <p:nvPr/>
        </p:nvSpPr>
        <p:spPr>
          <a:xfrm>
            <a:off x="3843338" y="2547938"/>
            <a:ext cx="436562"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1</a:t>
            </a:r>
            <a:endParaRPr lang="en-US" altLang="zh-CN" sz="2000" baseline="-25000" dirty="0">
              <a:solidFill>
                <a:srgbClr val="FF0000"/>
              </a:solidFill>
              <a:latin typeface="Times New Roman" panose="02020603050405020304" pitchFamily="18" charset="0"/>
            </a:endParaRPr>
          </a:p>
        </p:txBody>
      </p:sp>
      <p:sp>
        <p:nvSpPr>
          <p:cNvPr id="17445" name="Text Box 37"/>
          <p:cNvSpPr txBox="1"/>
          <p:nvPr/>
        </p:nvSpPr>
        <p:spPr>
          <a:xfrm>
            <a:off x="3043238" y="3998913"/>
            <a:ext cx="477837"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K</a:t>
            </a:r>
            <a:endParaRPr lang="en-US" altLang="zh-CN" sz="2000" i="1" baseline="-25000" dirty="0">
              <a:solidFill>
                <a:srgbClr val="FF0000"/>
              </a:solidFill>
              <a:latin typeface="Times New Roman" panose="02020603050405020304" pitchFamily="18" charset="0"/>
            </a:endParaRPr>
          </a:p>
        </p:txBody>
      </p:sp>
      <p:sp>
        <p:nvSpPr>
          <p:cNvPr id="17446" name="Text Box 38"/>
          <p:cNvSpPr txBox="1"/>
          <p:nvPr/>
        </p:nvSpPr>
        <p:spPr>
          <a:xfrm>
            <a:off x="4787900" y="2640013"/>
            <a:ext cx="4873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C</a:t>
            </a:r>
            <a:endParaRPr lang="en-US" altLang="zh-CN" sz="2000" baseline="-25000" dirty="0">
              <a:solidFill>
                <a:srgbClr val="FF0000"/>
              </a:solidFill>
              <a:latin typeface="Times New Roman" panose="02020603050405020304" pitchFamily="18" charset="0"/>
            </a:endParaRPr>
          </a:p>
        </p:txBody>
      </p:sp>
      <p:sp>
        <p:nvSpPr>
          <p:cNvPr id="17447" name="Line 39"/>
          <p:cNvSpPr/>
          <p:nvPr/>
        </p:nvSpPr>
        <p:spPr>
          <a:xfrm>
            <a:off x="7158038" y="2897188"/>
            <a:ext cx="1244600" cy="0"/>
          </a:xfrm>
          <a:prstGeom prst="line">
            <a:avLst/>
          </a:prstGeom>
          <a:ln w="12700" cap="flat" cmpd="sng">
            <a:solidFill>
              <a:schemeClr val="accent2"/>
            </a:solidFill>
            <a:prstDash val="solid"/>
            <a:headEnd type="none" w="med" len="med"/>
            <a:tailEnd type="none" w="med" len="med"/>
          </a:ln>
        </p:spPr>
      </p:sp>
      <p:sp>
        <p:nvSpPr>
          <p:cNvPr id="17448" name="Oval 40"/>
          <p:cNvSpPr/>
          <p:nvPr/>
        </p:nvSpPr>
        <p:spPr>
          <a:xfrm>
            <a:off x="8407400" y="28511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49" name="Text Box 41"/>
          <p:cNvSpPr txBox="1"/>
          <p:nvPr/>
        </p:nvSpPr>
        <p:spPr>
          <a:xfrm>
            <a:off x="8474075" y="2713038"/>
            <a:ext cx="574675" cy="366712"/>
          </a:xfrm>
          <a:prstGeom prst="rect">
            <a:avLst/>
          </a:prstGeom>
          <a:noFill/>
          <a:ln w="9525">
            <a:noFill/>
          </a:ln>
        </p:spPr>
        <p:txBody>
          <a:bodyPr>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17450" name="Oval 42"/>
          <p:cNvSpPr/>
          <p:nvPr/>
        </p:nvSpPr>
        <p:spPr>
          <a:xfrm>
            <a:off x="7745413" y="28511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51" name="Line 43"/>
          <p:cNvSpPr/>
          <p:nvPr/>
        </p:nvSpPr>
        <p:spPr>
          <a:xfrm flipV="1">
            <a:off x="7793038" y="2246313"/>
            <a:ext cx="0" cy="636587"/>
          </a:xfrm>
          <a:prstGeom prst="line">
            <a:avLst/>
          </a:prstGeom>
          <a:ln w="12700" cap="flat" cmpd="sng">
            <a:solidFill>
              <a:schemeClr val="accent2"/>
            </a:solidFill>
            <a:prstDash val="solid"/>
            <a:headEnd type="none" w="med" len="med"/>
            <a:tailEnd type="none" w="med" len="med"/>
          </a:ln>
        </p:spPr>
      </p:sp>
      <p:sp>
        <p:nvSpPr>
          <p:cNvPr id="17452" name="Line 44"/>
          <p:cNvSpPr/>
          <p:nvPr/>
        </p:nvSpPr>
        <p:spPr>
          <a:xfrm flipH="1">
            <a:off x="6043613" y="2246313"/>
            <a:ext cx="1749425" cy="0"/>
          </a:xfrm>
          <a:prstGeom prst="line">
            <a:avLst/>
          </a:prstGeom>
          <a:ln w="12700" cap="flat" cmpd="sng">
            <a:solidFill>
              <a:schemeClr val="accent2"/>
            </a:solidFill>
            <a:prstDash val="solid"/>
            <a:headEnd type="none" w="med" len="med"/>
            <a:tailEnd type="none" w="med" len="med"/>
          </a:ln>
        </p:spPr>
      </p:sp>
      <p:sp>
        <p:nvSpPr>
          <p:cNvPr id="17453" name="Line 45"/>
          <p:cNvSpPr/>
          <p:nvPr/>
        </p:nvSpPr>
        <p:spPr>
          <a:xfrm>
            <a:off x="6043613" y="2246313"/>
            <a:ext cx="0" cy="477837"/>
          </a:xfrm>
          <a:prstGeom prst="line">
            <a:avLst/>
          </a:prstGeom>
          <a:ln w="12700" cap="flat" cmpd="sng">
            <a:solidFill>
              <a:schemeClr val="accent2"/>
            </a:solidFill>
            <a:prstDash val="solid"/>
            <a:headEnd type="none" w="med" len="med"/>
            <a:tailEnd type="none" w="med" len="med"/>
          </a:ln>
        </p:spPr>
      </p:sp>
      <p:sp>
        <p:nvSpPr>
          <p:cNvPr id="17454" name="Line 46"/>
          <p:cNvSpPr/>
          <p:nvPr/>
        </p:nvSpPr>
        <p:spPr>
          <a:xfrm>
            <a:off x="6043613" y="2724150"/>
            <a:ext cx="317500" cy="0"/>
          </a:xfrm>
          <a:prstGeom prst="line">
            <a:avLst/>
          </a:prstGeom>
          <a:ln w="12700" cap="flat" cmpd="sng">
            <a:solidFill>
              <a:schemeClr val="accent2"/>
            </a:solidFill>
            <a:prstDash val="solid"/>
            <a:headEnd type="none" w="med" len="med"/>
            <a:tailEnd type="none" w="med" len="med"/>
          </a:ln>
        </p:spPr>
      </p:sp>
      <p:sp>
        <p:nvSpPr>
          <p:cNvPr id="17455" name="Line 47"/>
          <p:cNvSpPr/>
          <p:nvPr/>
        </p:nvSpPr>
        <p:spPr>
          <a:xfrm flipH="1">
            <a:off x="4094163" y="2246313"/>
            <a:ext cx="1949450" cy="0"/>
          </a:xfrm>
          <a:prstGeom prst="line">
            <a:avLst/>
          </a:prstGeom>
          <a:ln w="12700" cap="flat" cmpd="sng">
            <a:solidFill>
              <a:schemeClr val="accent2"/>
            </a:solidFill>
            <a:prstDash val="solid"/>
            <a:headEnd type="none" w="med" len="med"/>
            <a:tailEnd type="none" w="med" len="med"/>
          </a:ln>
        </p:spPr>
      </p:sp>
      <p:sp>
        <p:nvSpPr>
          <p:cNvPr id="17456" name="Rectangle 48"/>
          <p:cNvSpPr/>
          <p:nvPr/>
        </p:nvSpPr>
        <p:spPr>
          <a:xfrm>
            <a:off x="3843338" y="2206625"/>
            <a:ext cx="369887" cy="889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57" name="Text Box 49"/>
          <p:cNvSpPr txBox="1"/>
          <p:nvPr/>
        </p:nvSpPr>
        <p:spPr>
          <a:xfrm>
            <a:off x="3851275" y="1903413"/>
            <a:ext cx="354013"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R</a:t>
            </a:r>
            <a:endParaRPr lang="en-US" altLang="zh-CN" sz="2000" i="1" dirty="0">
              <a:latin typeface="Times New Roman" panose="02020603050405020304" pitchFamily="18" charset="0"/>
            </a:endParaRPr>
          </a:p>
        </p:txBody>
      </p:sp>
      <p:sp>
        <p:nvSpPr>
          <p:cNvPr id="17458" name="Line 50"/>
          <p:cNvSpPr/>
          <p:nvPr/>
        </p:nvSpPr>
        <p:spPr>
          <a:xfrm flipH="1">
            <a:off x="1550988" y="2246313"/>
            <a:ext cx="2279650" cy="0"/>
          </a:xfrm>
          <a:prstGeom prst="line">
            <a:avLst/>
          </a:prstGeom>
          <a:ln w="12700" cap="flat" cmpd="sng">
            <a:solidFill>
              <a:schemeClr val="accent2"/>
            </a:solidFill>
            <a:prstDash val="solid"/>
            <a:headEnd type="none" w="med" len="med"/>
            <a:tailEnd type="none" w="med" len="med"/>
          </a:ln>
        </p:spPr>
      </p:sp>
      <p:sp>
        <p:nvSpPr>
          <p:cNvPr id="17459" name="Line 51"/>
          <p:cNvSpPr/>
          <p:nvPr/>
        </p:nvSpPr>
        <p:spPr>
          <a:xfrm>
            <a:off x="1550988" y="2246313"/>
            <a:ext cx="0" cy="477837"/>
          </a:xfrm>
          <a:prstGeom prst="line">
            <a:avLst/>
          </a:prstGeom>
          <a:ln w="12700" cap="flat" cmpd="sng">
            <a:solidFill>
              <a:schemeClr val="accent2"/>
            </a:solidFill>
            <a:prstDash val="solid"/>
            <a:headEnd type="none" w="med" len="med"/>
            <a:tailEnd type="none" w="med" len="med"/>
          </a:ln>
        </p:spPr>
      </p:sp>
      <p:sp>
        <p:nvSpPr>
          <p:cNvPr id="17460" name="Line 52"/>
          <p:cNvSpPr/>
          <p:nvPr/>
        </p:nvSpPr>
        <p:spPr>
          <a:xfrm>
            <a:off x="1550988" y="2724150"/>
            <a:ext cx="317500" cy="0"/>
          </a:xfrm>
          <a:prstGeom prst="line">
            <a:avLst/>
          </a:prstGeom>
          <a:ln w="12700" cap="flat" cmpd="sng">
            <a:solidFill>
              <a:schemeClr val="accent2"/>
            </a:solidFill>
            <a:prstDash val="solid"/>
            <a:headEnd type="none" w="med" len="med"/>
            <a:tailEnd type="none" w="med" len="med"/>
          </a:ln>
        </p:spPr>
      </p:sp>
      <p:sp>
        <p:nvSpPr>
          <p:cNvPr id="17461" name="Line 53"/>
          <p:cNvSpPr/>
          <p:nvPr/>
        </p:nvSpPr>
        <p:spPr>
          <a:xfrm>
            <a:off x="3300413" y="2246313"/>
            <a:ext cx="0" cy="158750"/>
          </a:xfrm>
          <a:prstGeom prst="line">
            <a:avLst/>
          </a:prstGeom>
          <a:ln w="9525" cap="flat" cmpd="sng">
            <a:solidFill>
              <a:schemeClr val="accent2"/>
            </a:solidFill>
            <a:prstDash val="solid"/>
            <a:headEnd type="none" w="med" len="med"/>
            <a:tailEnd type="none" w="med" len="med"/>
          </a:ln>
        </p:spPr>
      </p:sp>
      <p:sp>
        <p:nvSpPr>
          <p:cNvPr id="17462" name="Oval 54"/>
          <p:cNvSpPr/>
          <p:nvPr/>
        </p:nvSpPr>
        <p:spPr>
          <a:xfrm>
            <a:off x="3252788" y="2400300"/>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63" name="Oval 55"/>
          <p:cNvSpPr/>
          <p:nvPr/>
        </p:nvSpPr>
        <p:spPr>
          <a:xfrm>
            <a:off x="3254375" y="2638425"/>
            <a:ext cx="88900" cy="88900"/>
          </a:xfrm>
          <a:prstGeom prst="ellipse">
            <a:avLst/>
          </a:prstGeom>
          <a:no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0792" name="Line 56"/>
          <p:cNvSpPr/>
          <p:nvPr/>
        </p:nvSpPr>
        <p:spPr>
          <a:xfrm flipV="1">
            <a:off x="3306763" y="2430463"/>
            <a:ext cx="214312" cy="207962"/>
          </a:xfrm>
          <a:prstGeom prst="line">
            <a:avLst/>
          </a:prstGeom>
          <a:ln w="19050" cap="flat" cmpd="sng">
            <a:solidFill>
              <a:srgbClr val="000080"/>
            </a:solidFill>
            <a:prstDash val="solid"/>
            <a:headEnd type="none" w="med" len="med"/>
            <a:tailEnd type="none" w="med" len="med"/>
          </a:ln>
        </p:spPr>
      </p:sp>
      <p:sp>
        <p:nvSpPr>
          <p:cNvPr id="17465" name="Line 57"/>
          <p:cNvSpPr/>
          <p:nvPr/>
        </p:nvSpPr>
        <p:spPr>
          <a:xfrm>
            <a:off x="3300413" y="2736850"/>
            <a:ext cx="0" cy="146050"/>
          </a:xfrm>
          <a:prstGeom prst="line">
            <a:avLst/>
          </a:prstGeom>
          <a:ln w="12700" cap="flat" cmpd="sng">
            <a:solidFill>
              <a:schemeClr val="accent2"/>
            </a:solidFill>
            <a:prstDash val="solid"/>
            <a:headEnd type="none" w="med" len="med"/>
            <a:tailEnd type="none" w="med" len="med"/>
          </a:ln>
        </p:spPr>
      </p:sp>
      <p:sp>
        <p:nvSpPr>
          <p:cNvPr id="17466" name="Line 58"/>
          <p:cNvSpPr/>
          <p:nvPr/>
        </p:nvSpPr>
        <p:spPr>
          <a:xfrm flipV="1">
            <a:off x="2981325" y="2563813"/>
            <a:ext cx="0" cy="1557337"/>
          </a:xfrm>
          <a:prstGeom prst="line">
            <a:avLst/>
          </a:prstGeom>
          <a:ln w="12700" cap="flat" cmpd="sng">
            <a:solidFill>
              <a:srgbClr val="008080"/>
            </a:solidFill>
            <a:prstDash val="dash"/>
            <a:headEnd type="none" w="med" len="med"/>
            <a:tailEnd type="none" w="med" len="med"/>
          </a:ln>
        </p:spPr>
      </p:sp>
      <p:sp>
        <p:nvSpPr>
          <p:cNvPr id="17467" name="Line 59"/>
          <p:cNvSpPr/>
          <p:nvPr/>
        </p:nvSpPr>
        <p:spPr>
          <a:xfrm>
            <a:off x="2981325" y="2563813"/>
            <a:ext cx="388938" cy="0"/>
          </a:xfrm>
          <a:prstGeom prst="line">
            <a:avLst/>
          </a:prstGeom>
          <a:ln w="12700" cap="flat" cmpd="sng">
            <a:solidFill>
              <a:srgbClr val="008080"/>
            </a:solidFill>
            <a:prstDash val="dash"/>
            <a:headEnd type="none" w="med" len="med"/>
            <a:tailEnd type="none" w="med" len="med"/>
          </a:ln>
        </p:spPr>
      </p:sp>
      <p:sp>
        <p:nvSpPr>
          <p:cNvPr id="17468" name="Text Box 60"/>
          <p:cNvSpPr txBox="1"/>
          <p:nvPr/>
        </p:nvSpPr>
        <p:spPr>
          <a:xfrm>
            <a:off x="3438525" y="2316163"/>
            <a:ext cx="436563"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K</a:t>
            </a:r>
            <a:r>
              <a:rPr lang="en-US" altLang="zh-CN" sz="2000" baseline="-25000" dirty="0">
                <a:solidFill>
                  <a:srgbClr val="FF0000"/>
                </a:solidFill>
                <a:latin typeface="Times New Roman" panose="02020603050405020304" pitchFamily="18" charset="0"/>
              </a:rPr>
              <a:t>2</a:t>
            </a:r>
            <a:endParaRPr lang="en-US" altLang="zh-CN" sz="2000" baseline="-25000" dirty="0">
              <a:solidFill>
                <a:srgbClr val="FF0000"/>
              </a:solidFill>
              <a:latin typeface="Times New Roman" panose="02020603050405020304" pitchFamily="18" charset="0"/>
            </a:endParaRPr>
          </a:p>
        </p:txBody>
      </p:sp>
      <p:sp>
        <p:nvSpPr>
          <p:cNvPr id="2420797" name="Text Box 61"/>
          <p:cNvSpPr txBox="1"/>
          <p:nvPr/>
        </p:nvSpPr>
        <p:spPr>
          <a:xfrm>
            <a:off x="582613" y="4797425"/>
            <a:ext cx="3813175" cy="457200"/>
          </a:xfrm>
          <a:prstGeom prst="rect">
            <a:avLst/>
          </a:prstGeom>
          <a:noFill/>
          <a:ln w="9525">
            <a:noFill/>
          </a:ln>
        </p:spPr>
        <p:txBody>
          <a:bodyPr>
            <a:spAutoFit/>
          </a:bodyPr>
          <a:p>
            <a:pPr marL="449580" indent="-449580" eaLnBrk="1" hangingPunct="1">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当</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断开，</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闭合时，</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20799" name="Text Box 63"/>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7471" name="Text Box 65"/>
          <p:cNvSpPr txBox="1"/>
          <p:nvPr/>
        </p:nvSpPr>
        <p:spPr>
          <a:xfrm>
            <a:off x="900113" y="1412875"/>
            <a:ext cx="4537075" cy="519113"/>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2. </a:t>
            </a:r>
            <a:r>
              <a:rPr lang="zh-CN" altLang="en-US" sz="2800" dirty="0">
                <a:solidFill>
                  <a:srgbClr val="FF0000"/>
                </a:solidFill>
                <a:latin typeface="Times New Roman" panose="02020603050405020304" pitchFamily="18" charset="0"/>
              </a:rPr>
              <a:t>反馈型采样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sp>
        <p:nvSpPr>
          <p:cNvPr id="17472" name="Line 66"/>
          <p:cNvSpPr/>
          <p:nvPr/>
        </p:nvSpPr>
        <p:spPr>
          <a:xfrm flipV="1">
            <a:off x="4826000" y="3517900"/>
            <a:ext cx="300038" cy="0"/>
          </a:xfrm>
          <a:prstGeom prst="line">
            <a:avLst/>
          </a:prstGeom>
          <a:ln w="19050" cap="flat" cmpd="sng">
            <a:solidFill>
              <a:srgbClr val="000080"/>
            </a:solidFill>
            <a:prstDash val="solid"/>
            <a:headEnd type="none" w="med" len="med"/>
            <a:tailEnd type="none" w="med" len="med"/>
          </a:ln>
        </p:spPr>
      </p:sp>
      <p:sp>
        <p:nvSpPr>
          <p:cNvPr id="17473" name="AutoShape 67"/>
          <p:cNvSpPr/>
          <p:nvPr/>
        </p:nvSpPr>
        <p:spPr>
          <a:xfrm>
            <a:off x="2781300" y="3340100"/>
            <a:ext cx="398463" cy="35877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74" name="Oval 68"/>
          <p:cNvSpPr/>
          <p:nvPr/>
        </p:nvSpPr>
        <p:spPr>
          <a:xfrm>
            <a:off x="2933700" y="3243263"/>
            <a:ext cx="88900" cy="88900"/>
          </a:xfrm>
          <a:prstGeom prst="ellipse">
            <a:avLst/>
          </a:prstGeom>
          <a:solidFill>
            <a:srgbClr val="FFCC99"/>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75" name="Oval 69"/>
          <p:cNvSpPr/>
          <p:nvPr/>
        </p:nvSpPr>
        <p:spPr>
          <a:xfrm>
            <a:off x="5999163"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76" name="Oval 70"/>
          <p:cNvSpPr/>
          <p:nvPr/>
        </p:nvSpPr>
        <p:spPr>
          <a:xfrm>
            <a:off x="3260725" y="2201863"/>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7477" name="Oval 71"/>
          <p:cNvSpPr/>
          <p:nvPr/>
        </p:nvSpPr>
        <p:spPr>
          <a:xfrm>
            <a:off x="3260725" y="2838450"/>
            <a:ext cx="88900" cy="88900"/>
          </a:xfrm>
          <a:prstGeom prst="ellipse">
            <a:avLst/>
          </a:prstGeom>
          <a:solidFill>
            <a:schemeClr val="accent2"/>
          </a:solidFill>
          <a:ln w="9525"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0808" name="Text Box 72"/>
          <p:cNvSpPr txBox="1"/>
          <p:nvPr/>
        </p:nvSpPr>
        <p:spPr>
          <a:xfrm>
            <a:off x="1027113" y="5157788"/>
            <a:ext cx="7291387" cy="457200"/>
          </a:xfrm>
          <a:prstGeom prst="rect">
            <a:avLst/>
          </a:prstGeom>
          <a:noFill/>
          <a:ln w="9525">
            <a:noFill/>
          </a:ln>
        </p:spPr>
        <p:txBody>
          <a:bodyPr>
            <a:spAutoFit/>
          </a:bodyPr>
          <a:p>
            <a:pPr marL="449580" indent="-449580" eaLnBrk="1" hangingPunct="1">
              <a:buClr>
                <a:srgbClr val="FF0000"/>
              </a:buClr>
              <a:buFont typeface="Wingdings" panose="05000000000000000000" pitchFamily="2" charset="2"/>
            </a:pPr>
            <a:r>
              <a:rPr lang="zh-CN" altLang="en-US" sz="2400" dirty="0">
                <a:solidFill>
                  <a:schemeClr val="tx1"/>
                </a:solidFill>
                <a:latin typeface="黑体" panose="02010609060101010101" pitchFamily="49" charset="-122"/>
                <a:ea typeface="黑体" panose="02010609060101010101" pitchFamily="49" charset="-122"/>
              </a:rPr>
              <a:t>此时，</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baseline="-25000" dirty="0">
                <a:solidFill>
                  <a:srgbClr val="FF0000"/>
                </a:solidFill>
                <a:latin typeface="Times New Roman" panose="02020603050405020304" pitchFamily="18" charset="0"/>
                <a:ea typeface="黑体" panose="02010609060101010101" pitchFamily="49" charset="-122"/>
              </a:rPr>
              <a:t>H</a:t>
            </a:r>
            <a:r>
              <a:rPr lang="zh-CN" altLang="en-US" sz="2400" dirty="0">
                <a:solidFill>
                  <a:schemeClr val="tx1"/>
                </a:solidFill>
                <a:latin typeface="黑体" panose="02010609060101010101" pitchFamily="49" charset="-122"/>
                <a:ea typeface="黑体" panose="02010609060101010101" pitchFamily="49" charset="-122"/>
              </a:rPr>
              <a:t>的端电压保持在</a:t>
            </a:r>
            <a:r>
              <a:rPr lang="en-US" altLang="zh-CN" sz="2400" i="1" dirty="0">
                <a:solidFill>
                  <a:srgbClr val="FF0000"/>
                </a:solidFill>
                <a:latin typeface="Times New Roman" panose="02020603050405020304" pitchFamily="18" charset="0"/>
                <a:ea typeface="黑体" panose="02010609060101010101" pitchFamily="49" charset="-122"/>
              </a:rPr>
              <a:t>K</a:t>
            </a:r>
            <a:r>
              <a:rPr lang="en-US" altLang="zh-CN" sz="2400" baseline="-25000" dirty="0">
                <a:solidFill>
                  <a:srgbClr val="FF0000"/>
                </a:solidFill>
                <a:latin typeface="Times New Roman" panose="02020603050405020304" pitchFamily="18" charset="0"/>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断开瞬间</a:t>
            </a:r>
            <a:r>
              <a:rPr lang="en-US" altLang="zh-CN" sz="2400" i="1" dirty="0">
                <a:solidFill>
                  <a:srgbClr val="FF0000"/>
                </a:solidFill>
                <a:latin typeface="Times New Roman" panose="02020603050405020304" pitchFamily="18" charset="0"/>
                <a:ea typeface="黑体" panose="02010609060101010101" pitchFamily="49" charset="-122"/>
              </a:rPr>
              <a:t>U</a:t>
            </a:r>
            <a:r>
              <a:rPr lang="en-US" altLang="zh-CN" sz="2400" baseline="-25000" dirty="0">
                <a:solidFill>
                  <a:srgbClr val="FF0000"/>
                </a:solidFill>
                <a:latin typeface="Times New Roman" panose="02020603050405020304" pitchFamily="18" charset="0"/>
                <a:ea typeface="黑体" panose="02010609060101010101" pitchFamily="49" charset="-122"/>
              </a:rPr>
              <a:t>C</a:t>
            </a:r>
            <a:r>
              <a:rPr lang="zh-CN" altLang="en-US" sz="2400" dirty="0">
                <a:solidFill>
                  <a:schemeClr val="tx1"/>
                </a:solidFill>
                <a:latin typeface="黑体" panose="02010609060101010101" pitchFamily="49" charset="-122"/>
                <a:ea typeface="黑体" panose="02010609060101010101" pitchFamily="49" charset="-122"/>
              </a:rPr>
              <a:t>的值上，则：</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20809" name="Text Box 73"/>
          <p:cNvSpPr txBox="1"/>
          <p:nvPr/>
        </p:nvSpPr>
        <p:spPr>
          <a:xfrm>
            <a:off x="4110038" y="4781550"/>
            <a:ext cx="4375150" cy="457200"/>
          </a:xfrm>
          <a:prstGeom prst="rect">
            <a:avLst/>
          </a:prstGeom>
          <a:noFill/>
          <a:ln w="9525">
            <a:noFill/>
          </a:ln>
        </p:spPr>
        <p:txBody>
          <a:bodyPr>
            <a:spAutoFit/>
          </a:bodyPr>
          <a:p>
            <a:pPr marL="449580" indent="-449580" eaLnBrk="1" hangingPunct="1">
              <a:buClr>
                <a:srgbClr val="FF0000"/>
              </a:buClr>
              <a:buFont typeface="Wingdings" panose="05000000000000000000" pitchFamily="2" charset="2"/>
            </a:pPr>
            <a:r>
              <a:rPr lang="zh-CN" altLang="en-US" sz="2400" dirty="0">
                <a:solidFill>
                  <a:schemeClr val="tx1"/>
                </a:solidFill>
                <a:latin typeface="黑体" panose="02010609060101010101" pitchFamily="49" charset="-122"/>
                <a:ea typeface="黑体" panose="02010609060101010101" pitchFamily="49" charset="-122"/>
              </a:rPr>
              <a:t>采样</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保持器工作于保持状态。</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20810" name="Line 74"/>
          <p:cNvSpPr/>
          <p:nvPr/>
        </p:nvSpPr>
        <p:spPr>
          <a:xfrm flipV="1">
            <a:off x="3294063" y="2365375"/>
            <a:ext cx="74612" cy="266700"/>
          </a:xfrm>
          <a:prstGeom prst="line">
            <a:avLst/>
          </a:prstGeom>
          <a:ln w="19050" cap="flat" cmpd="sng">
            <a:solidFill>
              <a:srgbClr val="CC00CC"/>
            </a:solidFill>
            <a:prstDash val="solid"/>
            <a:headEnd type="none" w="med" len="med"/>
            <a:tailEnd type="none" w="med" len="med"/>
          </a:ln>
        </p:spPr>
      </p:sp>
      <p:graphicFrame>
        <p:nvGraphicFramePr>
          <p:cNvPr id="2420811" name="Object 75"/>
          <p:cNvGraphicFramePr>
            <a:graphicFrameLocks noChangeAspect="1"/>
          </p:cNvGraphicFramePr>
          <p:nvPr/>
        </p:nvGraphicFramePr>
        <p:xfrm>
          <a:off x="2595563" y="5611813"/>
          <a:ext cx="3910012" cy="596900"/>
        </p:xfrm>
        <a:graphic>
          <a:graphicData uri="http://schemas.openxmlformats.org/presentationml/2006/ole">
            <mc:AlternateContent xmlns:mc="http://schemas.openxmlformats.org/markup-compatibility/2006">
              <mc:Choice xmlns:v="urn:schemas-microsoft-com:vml" Requires="v">
                <p:oleObj spid="_x0000_s3077" name="" r:id="rId1" imgW="1625600" imgH="228600" progId="Equation.3">
                  <p:embed/>
                </p:oleObj>
              </mc:Choice>
              <mc:Fallback>
                <p:oleObj name="" r:id="rId1" imgW="1625600" imgH="228600" progId="Equation.3">
                  <p:embed/>
                  <p:pic>
                    <p:nvPicPr>
                      <p:cNvPr id="0" name="图片 3076"/>
                      <p:cNvPicPr/>
                      <p:nvPr/>
                    </p:nvPicPr>
                    <p:blipFill>
                      <a:blip r:embed="rId2"/>
                      <a:stretch>
                        <a:fillRect/>
                      </a:stretch>
                    </p:blipFill>
                    <p:spPr>
                      <a:xfrm>
                        <a:off x="2595563" y="5611813"/>
                        <a:ext cx="3910012" cy="596900"/>
                      </a:xfrm>
                      <a:prstGeom prst="rect">
                        <a:avLst/>
                      </a:prstGeom>
                      <a:solidFill>
                        <a:srgbClr val="CCFFCC"/>
                      </a:solidFill>
                      <a:ln w="38100">
                        <a:noFill/>
                        <a:miter/>
                      </a:ln>
                    </p:spPr>
                  </p:pic>
                </p:oleObj>
              </mc:Fallback>
            </mc:AlternateContent>
          </a:graphicData>
        </a:graphic>
      </p:graphicFrame>
      <p:sp>
        <p:nvSpPr>
          <p:cNvPr id="2420812" name="AutoShape 76"/>
          <p:cNvSpPr/>
          <p:nvPr/>
        </p:nvSpPr>
        <p:spPr>
          <a:xfrm>
            <a:off x="4784725" y="657225"/>
            <a:ext cx="4186238" cy="1190625"/>
          </a:xfrm>
          <a:prstGeom prst="wedgeRoundRectCallout">
            <a:avLst>
              <a:gd name="adj1" fmla="val -80111"/>
              <a:gd name="adj2" fmla="val 93065"/>
              <a:gd name="adj3" fmla="val 16667"/>
            </a:avLst>
          </a:prstGeom>
          <a:solidFill>
            <a:schemeClr val="accent1"/>
          </a:solidFill>
          <a:ln w="9525" cap="flat" cmpd="sng">
            <a:solidFill>
              <a:schemeClr val="tx1"/>
            </a:solidFill>
            <a:prstDash val="solid"/>
            <a:miter/>
            <a:headEnd type="none" w="med" len="med"/>
            <a:tailEnd type="none" w="med" len="med"/>
          </a:ln>
        </p:spPr>
        <p:txBody>
          <a:bodyPr/>
          <a:p>
            <a:pPr eaLnBrk="1" hangingPunct="1">
              <a:lnSpc>
                <a:spcPct val="90000"/>
              </a:lnSpc>
            </a:pPr>
            <a:endParaRPr lang="zh-CN" altLang="zh-CN" sz="2000" dirty="0">
              <a:latin typeface="黑体" panose="02010609060101010101" pitchFamily="49" charset="-122"/>
              <a:ea typeface="黑体" panose="02010609060101010101" pitchFamily="49" charset="-122"/>
            </a:endParaRPr>
          </a:p>
        </p:txBody>
      </p:sp>
      <p:sp>
        <p:nvSpPr>
          <p:cNvPr id="2420813" name="Rectangle 77"/>
          <p:cNvSpPr/>
          <p:nvPr/>
        </p:nvSpPr>
        <p:spPr>
          <a:xfrm>
            <a:off x="4784725" y="657225"/>
            <a:ext cx="4186238" cy="1190625"/>
          </a:xfrm>
          <a:prstGeom prst="rect">
            <a:avLst/>
          </a:prstGeom>
          <a:noFill/>
          <a:ln w="9525">
            <a:noFill/>
          </a:ln>
        </p:spPr>
        <p:txBody>
          <a:bodyPr>
            <a:spAutoFit/>
          </a:bodyPr>
          <a:p>
            <a:pPr eaLnBrk="1" hangingPunct="1">
              <a:lnSpc>
                <a:spcPct val="90000"/>
              </a:lnSpc>
            </a:pPr>
            <a:r>
              <a:rPr lang="zh-CN" altLang="en-US" sz="2000" dirty="0">
                <a:latin typeface="Times New Roman" panose="02020603050405020304" pitchFamily="18" charset="0"/>
              </a:rPr>
              <a:t>在保持状态，</a:t>
            </a:r>
            <a:r>
              <a:rPr lang="en-US" altLang="zh-CN" sz="2000" dirty="0">
                <a:latin typeface="Times New Roman" panose="02020603050405020304" pitchFamily="18" charset="0"/>
              </a:rPr>
              <a:t>K</a:t>
            </a:r>
            <a:r>
              <a:rPr lang="en-US" altLang="zh-CN" sz="2000" baseline="-25000" dirty="0">
                <a:latin typeface="Times New Roman" panose="02020603050405020304" pitchFamily="18" charset="0"/>
              </a:rPr>
              <a:t>2</a:t>
            </a:r>
            <a:r>
              <a:rPr lang="zh-CN" altLang="en-US" sz="2000" dirty="0">
                <a:latin typeface="Times New Roman" panose="02020603050405020304" pitchFamily="18" charset="0"/>
              </a:rPr>
              <a:t>闭合，放大器</a:t>
            </a:r>
            <a:r>
              <a:rPr lang="en-US" altLang="zh-CN" sz="2000" dirty="0">
                <a:latin typeface="Times New Roman" panose="02020603050405020304" pitchFamily="18" charset="0"/>
              </a:rPr>
              <a:t>A</a:t>
            </a:r>
            <a:r>
              <a:rPr lang="en-US" altLang="zh-CN" sz="2000" baseline="-25000" dirty="0">
                <a:latin typeface="Times New Roman" panose="02020603050405020304" pitchFamily="18" charset="0"/>
              </a:rPr>
              <a:t>1</a:t>
            </a:r>
            <a:r>
              <a:rPr lang="zh-CN" altLang="en-US" sz="2000" dirty="0">
                <a:latin typeface="Times New Roman" panose="02020603050405020304" pitchFamily="18" charset="0"/>
              </a:rPr>
              <a:t>的输出仍在跟踪输入，避免</a:t>
            </a:r>
            <a:r>
              <a:rPr lang="en-US" altLang="zh-CN" sz="2000" dirty="0">
                <a:latin typeface="Times New Roman" panose="02020603050405020304" pitchFamily="18" charset="0"/>
              </a:rPr>
              <a:t>A</a:t>
            </a:r>
            <a:r>
              <a:rPr lang="en-US" altLang="zh-CN" sz="2000" baseline="-25000" dirty="0">
                <a:latin typeface="Times New Roman" panose="02020603050405020304" pitchFamily="18" charset="0"/>
              </a:rPr>
              <a:t>1</a:t>
            </a:r>
            <a:r>
              <a:rPr lang="zh-CN" altLang="en-US" sz="2000" dirty="0">
                <a:latin typeface="Times New Roman" panose="02020603050405020304" pitchFamily="18" charset="0"/>
              </a:rPr>
              <a:t>开环而进入饱和，使得当采样</a:t>
            </a:r>
            <a:r>
              <a:rPr lang="en-US" altLang="zh-CN" sz="2000" dirty="0">
                <a:latin typeface="Times New Roman" panose="02020603050405020304" pitchFamily="18" charset="0"/>
              </a:rPr>
              <a:t>/</a:t>
            </a:r>
            <a:r>
              <a:rPr lang="zh-CN" altLang="en-US" sz="2000" dirty="0">
                <a:latin typeface="Times New Roman" panose="02020603050405020304" pitchFamily="18" charset="0"/>
              </a:rPr>
              <a:t>保持器再次转入跟踪状态时，</a:t>
            </a:r>
            <a:r>
              <a:rPr lang="en-US" altLang="zh-CN" sz="2000" dirty="0">
                <a:latin typeface="Times New Roman" panose="02020603050405020304" pitchFamily="18" charset="0"/>
              </a:rPr>
              <a:t>A</a:t>
            </a:r>
            <a:r>
              <a:rPr lang="en-US" altLang="zh-CN" sz="2000" baseline="-25000" dirty="0">
                <a:latin typeface="Times New Roman" panose="02020603050405020304" pitchFamily="18" charset="0"/>
              </a:rPr>
              <a:t>1</a:t>
            </a:r>
            <a:r>
              <a:rPr lang="zh-CN" altLang="en-US" sz="2000" dirty="0">
                <a:latin typeface="Times New Roman" panose="02020603050405020304" pitchFamily="18" charset="0"/>
              </a:rPr>
              <a:t>能立即跟踪</a:t>
            </a:r>
            <a:r>
              <a:rPr lang="en-US" altLang="zh-CN" sz="2000" dirty="0">
                <a:latin typeface="Times New Roman" panose="02020603050405020304" pitchFamily="18" charset="0"/>
              </a:rPr>
              <a:t>U</a:t>
            </a:r>
            <a:r>
              <a:rPr lang="en-US" altLang="zh-CN" sz="2000" baseline="-25000" dirty="0">
                <a:latin typeface="Times New Roman" panose="02020603050405020304" pitchFamily="18" charset="0"/>
              </a:rPr>
              <a:t>1</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17484"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420797"/>
                                        </p:tgtEl>
                                        <p:attrNameLst>
                                          <p:attrName>style.visibility</p:attrName>
                                        </p:attrNameLst>
                                      </p:cBhvr>
                                      <p:to>
                                        <p:strVal val="visible"/>
                                      </p:to>
                                    </p:set>
                                    <p:animEffect transition="in" filter="wipe(left)">
                                      <p:cBhvr>
                                        <p:cTn id="7" dur="500"/>
                                        <p:tgtEl>
                                          <p:spTgt spid="242079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nodeType="clickEffect">
                                  <p:stCondLst>
                                    <p:cond delay="0"/>
                                  </p:stCondLst>
                                  <p:childTnLst>
                                    <p:animEffect transition="out" filter="wipe(up)">
                                      <p:cBhvr>
                                        <p:cTn id="11" dur="500"/>
                                        <p:tgtEl>
                                          <p:spTgt spid="2420792"/>
                                        </p:tgtEl>
                                      </p:cBhvr>
                                    </p:animEffect>
                                    <p:set>
                                      <p:cBhvr>
                                        <p:cTn id="12" dur="1" fill="hold">
                                          <p:stCondLst>
                                            <p:cond delay="499"/>
                                          </p:stCondLst>
                                        </p:cTn>
                                        <p:tgtEl>
                                          <p:spTgt spid="2420792"/>
                                        </p:tgtEl>
                                        <p:attrNameLst>
                                          <p:attrName>style.visibility</p:attrName>
                                        </p:attrNameLst>
                                      </p:cBhvr>
                                      <p:to>
                                        <p:strVal val="hidden"/>
                                      </p:to>
                                    </p:set>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2420810"/>
                                        </p:tgtEl>
                                        <p:attrNameLst>
                                          <p:attrName>style.visibility</p:attrName>
                                        </p:attrNameLst>
                                      </p:cBhvr>
                                      <p:to>
                                        <p:strVal val="visible"/>
                                      </p:to>
                                    </p:set>
                                    <p:animEffect transition="in" filter="wipe(down)">
                                      <p:cBhvr>
                                        <p:cTn id="16" dur="500"/>
                                        <p:tgtEl>
                                          <p:spTgt spid="242081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420809"/>
                                        </p:tgtEl>
                                        <p:attrNameLst>
                                          <p:attrName>style.visibility</p:attrName>
                                        </p:attrNameLst>
                                      </p:cBhvr>
                                      <p:to>
                                        <p:strVal val="visible"/>
                                      </p:to>
                                    </p:set>
                                    <p:animEffect transition="in" filter="wipe(left)">
                                      <p:cBhvr>
                                        <p:cTn id="21" dur="500"/>
                                        <p:tgtEl>
                                          <p:spTgt spid="242080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420808"/>
                                        </p:tgtEl>
                                        <p:attrNameLst>
                                          <p:attrName>style.visibility</p:attrName>
                                        </p:attrNameLst>
                                      </p:cBhvr>
                                      <p:to>
                                        <p:strVal val="visible"/>
                                      </p:to>
                                    </p:set>
                                    <p:animEffect transition="in" filter="wipe(left)">
                                      <p:cBhvr>
                                        <p:cTn id="26" dur="500"/>
                                        <p:tgtEl>
                                          <p:spTgt spid="242080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420811"/>
                                        </p:tgtEl>
                                        <p:attrNameLst>
                                          <p:attrName>style.visibility</p:attrName>
                                        </p:attrNameLst>
                                      </p:cBhvr>
                                      <p:to>
                                        <p:strVal val="visible"/>
                                      </p:to>
                                    </p:set>
                                    <p:animEffect transition="in" filter="dissolve">
                                      <p:cBhvr>
                                        <p:cTn id="31" dur="500"/>
                                        <p:tgtEl>
                                          <p:spTgt spid="24208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420813"/>
                                        </p:tgtEl>
                                        <p:attrNameLst>
                                          <p:attrName>style.visibility</p:attrName>
                                        </p:attrNameLst>
                                      </p:cBhvr>
                                      <p:to>
                                        <p:strVal val="visible"/>
                                      </p:to>
                                    </p:set>
                                    <p:animEffect transition="in" filter="dissolve">
                                      <p:cBhvr>
                                        <p:cTn id="36" dur="500"/>
                                        <p:tgtEl>
                                          <p:spTgt spid="2420813"/>
                                        </p:tgtEl>
                                      </p:cBhvr>
                                    </p:animEffect>
                                  </p:childTnLst>
                                </p:cTn>
                              </p:par>
                              <p:par>
                                <p:cTn id="37" presetID="9" presetClass="entr" presetSubtype="0" fill="hold" nodeType="withEffect">
                                  <p:stCondLst>
                                    <p:cond delay="0"/>
                                  </p:stCondLst>
                                  <p:childTnLst>
                                    <p:set>
                                      <p:cBhvr>
                                        <p:cTn id="38" dur="1" fill="hold">
                                          <p:stCondLst>
                                            <p:cond delay="0"/>
                                          </p:stCondLst>
                                        </p:cTn>
                                        <p:tgtEl>
                                          <p:spTgt spid="2420812"/>
                                        </p:tgtEl>
                                        <p:attrNameLst>
                                          <p:attrName>style.visibility</p:attrName>
                                        </p:attrNameLst>
                                      </p:cBhvr>
                                      <p:to>
                                        <p:strVal val="visible"/>
                                      </p:to>
                                    </p:set>
                                    <p:animEffect transition="in" filter="dissolve">
                                      <p:cBhvr>
                                        <p:cTn id="39" dur="500"/>
                                        <p:tgtEl>
                                          <p:spTgt spid="24208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0797" grpId="0"/>
      <p:bldP spid="2420808" grpId="0"/>
      <p:bldP spid="2420809" grpId="0"/>
      <p:bldP spid="2420812" grpId="0" animBg="1"/>
      <p:bldP spid="2420813"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4875" name="Text Box 1051"/>
          <p:cNvSpPr txBox="1"/>
          <p:nvPr/>
        </p:nvSpPr>
        <p:spPr>
          <a:xfrm>
            <a:off x="514350" y="1933575"/>
            <a:ext cx="1612900" cy="579438"/>
          </a:xfrm>
          <a:prstGeom prst="rect">
            <a:avLst/>
          </a:prstGeom>
          <a:noFill/>
          <a:ln w="9525">
            <a:noFill/>
          </a:ln>
        </p:spPr>
        <p:txBody>
          <a:bodyPr wrap="none">
            <a:spAutoFit/>
          </a:bodyPr>
          <a:p>
            <a:pPr eaLnBrk="1" hangingPunct="1"/>
            <a:r>
              <a:rPr lang="zh-CN" altLang="en-US" sz="3200" dirty="0">
                <a:solidFill>
                  <a:schemeClr val="tx1"/>
                </a:solidFill>
                <a:latin typeface="黑体" panose="02010609060101010101" pitchFamily="49" charset="-122"/>
                <a:ea typeface="黑体" panose="02010609060101010101" pitchFamily="49" charset="-122"/>
              </a:rPr>
              <a:t>优点： </a:t>
            </a:r>
            <a:endParaRPr lang="zh-CN" altLang="en-US" sz="3200" dirty="0">
              <a:solidFill>
                <a:schemeClr val="tx1"/>
              </a:solidFill>
              <a:latin typeface="黑体" panose="02010609060101010101" pitchFamily="49" charset="-122"/>
              <a:ea typeface="黑体" panose="02010609060101010101" pitchFamily="49" charset="-122"/>
            </a:endParaRPr>
          </a:p>
        </p:txBody>
      </p:sp>
      <p:sp>
        <p:nvSpPr>
          <p:cNvPr id="2254876" name="Text Box 1052"/>
          <p:cNvSpPr txBox="1"/>
          <p:nvPr/>
        </p:nvSpPr>
        <p:spPr>
          <a:xfrm>
            <a:off x="1265238" y="2640013"/>
            <a:ext cx="7445375" cy="1949450"/>
          </a:xfrm>
          <a:prstGeom prst="rect">
            <a:avLst/>
          </a:prstGeom>
          <a:noFill/>
          <a:ln w="9525">
            <a:noFill/>
          </a:ln>
        </p:spPr>
        <p:txBody>
          <a:bodyPr>
            <a:spAutoFit/>
          </a:bodyPr>
          <a:p>
            <a:pPr marL="2155825" indent="-2155825" eaLnBrk="1" hangingPunct="1">
              <a:spcBef>
                <a:spcPct val="35000"/>
              </a:spcBef>
            </a:pPr>
            <a:r>
              <a:rPr lang="zh-CN" altLang="en-US" sz="2800" dirty="0">
                <a:solidFill>
                  <a:srgbClr val="FF0000"/>
                </a:solidFill>
                <a:latin typeface="楷体_GB2312" pitchFamily="49" charset="-122"/>
              </a:rPr>
              <a:t>采样</a:t>
            </a:r>
            <a:r>
              <a:rPr lang="en-US" altLang="zh-CN" sz="2800" dirty="0">
                <a:solidFill>
                  <a:srgbClr val="FF0000"/>
                </a:solidFill>
                <a:latin typeface="楷体_GB2312" pitchFamily="49" charset="-122"/>
              </a:rPr>
              <a:t>/</a:t>
            </a:r>
            <a:r>
              <a:rPr lang="zh-CN" altLang="en-US" sz="2800" dirty="0">
                <a:solidFill>
                  <a:srgbClr val="FF0000"/>
                </a:solidFill>
                <a:latin typeface="楷体_GB2312" pitchFamily="49" charset="-122"/>
              </a:rPr>
              <a:t>保持精度高：</a:t>
            </a:r>
            <a:r>
              <a:rPr lang="zh-CN" altLang="en-US" sz="2800" dirty="0">
                <a:solidFill>
                  <a:srgbClr val="000099"/>
                </a:solidFill>
                <a:latin typeface="楷体_GB2312" pitchFamily="49" charset="-122"/>
              </a:rPr>
              <a:t>原因是只有</a:t>
            </a:r>
            <a:r>
              <a:rPr lang="en-US" altLang="zh-CN" sz="2800" i="1" dirty="0">
                <a:solidFill>
                  <a:srgbClr val="FF0000"/>
                </a:solidFill>
                <a:latin typeface="Times New Roman" panose="02020603050405020304" pitchFamily="18" charset="0"/>
              </a:rPr>
              <a:t>e</a:t>
            </a:r>
            <a:r>
              <a:rPr lang="en-US" altLang="zh-CN" sz="2800" baseline="-25000" dirty="0">
                <a:solidFill>
                  <a:srgbClr val="FF0000"/>
                </a:solidFill>
                <a:latin typeface="Times New Roman" panose="02020603050405020304" pitchFamily="18" charset="0"/>
              </a:rPr>
              <a:t>OS1</a:t>
            </a:r>
            <a:r>
              <a:rPr lang="zh-CN" altLang="en-US" sz="2800" dirty="0">
                <a:solidFill>
                  <a:srgbClr val="000099"/>
                </a:solidFill>
                <a:latin typeface="楷体_GB2312" pitchFamily="49" charset="-122"/>
              </a:rPr>
              <a:t>影响精度。</a:t>
            </a:r>
            <a:endParaRPr lang="zh-CN" altLang="en-US" sz="2800" dirty="0">
              <a:solidFill>
                <a:srgbClr val="000099"/>
              </a:solidFill>
              <a:latin typeface="楷体_GB2312" pitchFamily="49" charset="-122"/>
            </a:endParaRPr>
          </a:p>
          <a:p>
            <a:pPr marL="2155825" indent="-2155825" eaLnBrk="1" hangingPunct="1">
              <a:spcBef>
                <a:spcPct val="35000"/>
              </a:spcBef>
            </a:pPr>
            <a:r>
              <a:rPr lang="zh-CN" altLang="en-US" sz="2800" dirty="0">
                <a:solidFill>
                  <a:srgbClr val="FF0000"/>
                </a:solidFill>
                <a:latin typeface="楷体_GB2312" pitchFamily="49" charset="-122"/>
              </a:rPr>
              <a:t>跟踪速度快：</a:t>
            </a:r>
            <a:r>
              <a:rPr lang="zh-CN" altLang="en-US" sz="2800" dirty="0">
                <a:solidFill>
                  <a:srgbClr val="000099"/>
                </a:solidFill>
                <a:latin typeface="楷体_GB2312" pitchFamily="49" charset="-122"/>
              </a:rPr>
              <a:t>因为是全反馈，直接把输出</a:t>
            </a:r>
            <a:r>
              <a:rPr lang="en-US" altLang="zh-CN" sz="2800" i="1" dirty="0">
                <a:solidFill>
                  <a:srgbClr val="FF0000"/>
                </a:solidFill>
                <a:latin typeface="Times New Roman" panose="02020603050405020304" pitchFamily="18" charset="0"/>
              </a:rPr>
              <a:t>U</a:t>
            </a:r>
            <a:r>
              <a:rPr lang="en-US" altLang="zh-CN" sz="2800" baseline="-25000" dirty="0">
                <a:solidFill>
                  <a:srgbClr val="FF0000"/>
                </a:solidFill>
                <a:latin typeface="Times New Roman" panose="02020603050405020304" pitchFamily="18" charset="0"/>
              </a:rPr>
              <a:t>0</a:t>
            </a:r>
            <a:r>
              <a:rPr lang="zh-CN" altLang="en-US" sz="2800" dirty="0">
                <a:solidFill>
                  <a:srgbClr val="000099"/>
                </a:solidFill>
                <a:latin typeface="楷体_GB2312" pitchFamily="49" charset="-122"/>
              </a:rPr>
              <a:t>与输入</a:t>
            </a:r>
            <a:r>
              <a:rPr lang="en-US" altLang="zh-CN" sz="2800" i="1" dirty="0">
                <a:solidFill>
                  <a:srgbClr val="FF0000"/>
                </a:solidFill>
                <a:latin typeface="Times New Roman" panose="02020603050405020304" pitchFamily="18" charset="0"/>
              </a:rPr>
              <a:t>U</a:t>
            </a:r>
            <a:r>
              <a:rPr lang="en-US" altLang="zh-CN" sz="2800" baseline="-25000" dirty="0">
                <a:solidFill>
                  <a:srgbClr val="FF0000"/>
                </a:solidFill>
                <a:latin typeface="Times New Roman" panose="02020603050405020304" pitchFamily="18" charset="0"/>
              </a:rPr>
              <a:t>i</a:t>
            </a:r>
            <a:r>
              <a:rPr lang="zh-CN" altLang="en-US" sz="2800" dirty="0">
                <a:solidFill>
                  <a:srgbClr val="000099"/>
                </a:solidFill>
                <a:latin typeface="楷体_GB2312" pitchFamily="49" charset="-122"/>
              </a:rPr>
              <a:t>比较，如果</a:t>
            </a:r>
            <a:r>
              <a:rPr lang="en-US" altLang="zh-CN" sz="2800" i="1" dirty="0">
                <a:solidFill>
                  <a:srgbClr val="FF0000"/>
                </a:solidFill>
                <a:latin typeface="Times New Roman" panose="02020603050405020304" pitchFamily="18" charset="0"/>
              </a:rPr>
              <a:t>U</a:t>
            </a:r>
            <a:r>
              <a:rPr lang="en-US" altLang="zh-CN" sz="2800" baseline="-25000" dirty="0">
                <a:solidFill>
                  <a:srgbClr val="FF0000"/>
                </a:solidFill>
                <a:latin typeface="Times New Roman" panose="02020603050405020304" pitchFamily="18" charset="0"/>
              </a:rPr>
              <a:t>0</a:t>
            </a:r>
            <a:r>
              <a:rPr lang="en-US" altLang="zh-CN" sz="2800" dirty="0">
                <a:solidFill>
                  <a:srgbClr val="000099"/>
                </a:solidFill>
                <a:latin typeface="楷体_GB2312" pitchFamily="49" charset="-122"/>
              </a:rPr>
              <a:t>≠</a:t>
            </a:r>
            <a:r>
              <a:rPr lang="en-US" altLang="zh-CN" sz="2800" i="1" dirty="0">
                <a:solidFill>
                  <a:srgbClr val="FF0000"/>
                </a:solidFill>
                <a:latin typeface="Times New Roman" panose="02020603050405020304" pitchFamily="18" charset="0"/>
              </a:rPr>
              <a:t>U</a:t>
            </a:r>
            <a:r>
              <a:rPr lang="en-US" altLang="zh-CN" sz="2800" baseline="-25000" dirty="0">
                <a:solidFill>
                  <a:srgbClr val="FF0000"/>
                </a:solidFill>
                <a:latin typeface="Times New Roman" panose="02020603050405020304" pitchFamily="18" charset="0"/>
              </a:rPr>
              <a:t>i</a:t>
            </a:r>
            <a:r>
              <a:rPr lang="zh-CN" altLang="en-US" sz="2800" dirty="0">
                <a:solidFill>
                  <a:srgbClr val="000099"/>
                </a:solidFill>
                <a:latin typeface="楷体_GB2312" pitchFamily="49" charset="-122"/>
              </a:rPr>
              <a:t>，则其差被</a:t>
            </a:r>
            <a:r>
              <a:rPr lang="en-US" altLang="zh-CN" sz="2800" i="1" dirty="0">
                <a:solidFill>
                  <a:srgbClr val="FF0000"/>
                </a:solidFill>
                <a:latin typeface="Times New Roman" panose="02020603050405020304" pitchFamily="18" charset="0"/>
              </a:rPr>
              <a:t>A</a:t>
            </a:r>
            <a:r>
              <a:rPr lang="en-US" altLang="zh-CN" sz="2800" baseline="-25000" dirty="0">
                <a:solidFill>
                  <a:srgbClr val="FF0000"/>
                </a:solidFill>
                <a:latin typeface="Times New Roman" panose="02020603050405020304" pitchFamily="18" charset="0"/>
              </a:rPr>
              <a:t>1</a:t>
            </a:r>
            <a:r>
              <a:rPr lang="zh-CN" altLang="en-US" sz="2800" dirty="0">
                <a:solidFill>
                  <a:srgbClr val="000099"/>
                </a:solidFill>
                <a:latin typeface="楷体_GB2312" pitchFamily="49" charset="-122"/>
              </a:rPr>
              <a:t>放大，迅速对</a:t>
            </a:r>
            <a:r>
              <a:rPr lang="en-US" altLang="zh-CN" sz="2800" i="1" dirty="0">
                <a:solidFill>
                  <a:srgbClr val="FF0000"/>
                </a:solidFill>
                <a:latin typeface="Times New Roman" panose="02020603050405020304" pitchFamily="18" charset="0"/>
              </a:rPr>
              <a:t>C</a:t>
            </a:r>
            <a:r>
              <a:rPr lang="en-US" altLang="zh-CN" sz="2800" baseline="-25000" dirty="0">
                <a:solidFill>
                  <a:srgbClr val="FF0000"/>
                </a:solidFill>
                <a:latin typeface="Times New Roman" panose="02020603050405020304" pitchFamily="18" charset="0"/>
              </a:rPr>
              <a:t>H</a:t>
            </a:r>
            <a:r>
              <a:rPr lang="zh-CN" altLang="en-US" sz="2800" dirty="0">
                <a:solidFill>
                  <a:srgbClr val="000099"/>
                </a:solidFill>
                <a:latin typeface="楷体_GB2312" pitchFamily="49" charset="-122"/>
              </a:rPr>
              <a:t>充电。</a:t>
            </a:r>
            <a:endParaRPr lang="zh-CN" altLang="en-US" sz="2800" dirty="0">
              <a:solidFill>
                <a:srgbClr val="000099"/>
              </a:solidFill>
              <a:latin typeface="楷体_GB2312" pitchFamily="49" charset="-122"/>
            </a:endParaRPr>
          </a:p>
        </p:txBody>
      </p:sp>
      <p:sp>
        <p:nvSpPr>
          <p:cNvPr id="2254878" name="Text Box 1054"/>
          <p:cNvSpPr txBox="1"/>
          <p:nvPr/>
        </p:nvSpPr>
        <p:spPr>
          <a:xfrm>
            <a:off x="500063" y="4524375"/>
            <a:ext cx="1408112" cy="579438"/>
          </a:xfrm>
          <a:prstGeom prst="rect">
            <a:avLst/>
          </a:prstGeom>
          <a:noFill/>
          <a:ln w="9525">
            <a:noFill/>
          </a:ln>
        </p:spPr>
        <p:txBody>
          <a:bodyPr wrap="none">
            <a:spAutoFit/>
          </a:bodyPr>
          <a:p>
            <a:pPr eaLnBrk="1" hangingPunct="1"/>
            <a:r>
              <a:rPr lang="zh-CN" altLang="en-US" sz="3200" dirty="0">
                <a:solidFill>
                  <a:schemeClr val="tx1"/>
                </a:solidFill>
                <a:latin typeface="黑体" panose="02010609060101010101" pitchFamily="49" charset="-122"/>
                <a:ea typeface="黑体" panose="02010609060101010101" pitchFamily="49" charset="-122"/>
              </a:rPr>
              <a:t>缺点：</a:t>
            </a:r>
            <a:endParaRPr lang="zh-CN" altLang="en-US" sz="3200" dirty="0">
              <a:solidFill>
                <a:schemeClr val="tx1"/>
              </a:solidFill>
              <a:latin typeface="黑体" panose="02010609060101010101" pitchFamily="49" charset="-122"/>
              <a:ea typeface="黑体" panose="02010609060101010101" pitchFamily="49" charset="-122"/>
            </a:endParaRPr>
          </a:p>
        </p:txBody>
      </p:sp>
      <p:sp>
        <p:nvSpPr>
          <p:cNvPr id="2254879" name="Text Box 1055"/>
          <p:cNvSpPr txBox="1"/>
          <p:nvPr/>
        </p:nvSpPr>
        <p:spPr>
          <a:xfrm>
            <a:off x="741363" y="5148263"/>
            <a:ext cx="2498725" cy="476250"/>
          </a:xfrm>
          <a:prstGeom prst="rect">
            <a:avLst/>
          </a:prstGeom>
          <a:noFill/>
          <a:ln w="9525">
            <a:noFill/>
          </a:ln>
        </p:spPr>
        <p:txBody>
          <a:bodyPr wrap="none">
            <a:spAutoFit/>
          </a:bodyPr>
          <a:p>
            <a:pPr eaLnBrk="1" hangingPunct="1">
              <a:lnSpc>
                <a:spcPct val="90000"/>
              </a:lnSpc>
              <a:buFont typeface="Wingdings" panose="05000000000000000000" pitchFamily="2" charset="2"/>
              <a:buChar char="u"/>
            </a:pPr>
            <a:r>
              <a:rPr lang="en-US" altLang="zh-CN" sz="2800" dirty="0">
                <a:solidFill>
                  <a:srgbClr val="FF0000"/>
                </a:solidFill>
                <a:latin typeface="Times New Roman" panose="02020603050405020304" pitchFamily="18" charset="0"/>
              </a:rPr>
              <a:t>  </a:t>
            </a:r>
            <a:r>
              <a:rPr lang="zh-CN" altLang="en-US" sz="2800" dirty="0">
                <a:solidFill>
                  <a:srgbClr val="FF0000"/>
                </a:solidFill>
                <a:latin typeface="Times New Roman" panose="02020603050405020304" pitchFamily="18" charset="0"/>
              </a:rPr>
              <a:t>结构复杂。</a:t>
            </a:r>
            <a:endParaRPr lang="zh-CN" altLang="en-US" sz="2800" dirty="0">
              <a:solidFill>
                <a:srgbClr val="FF0000"/>
              </a:solidFill>
              <a:latin typeface="Times New Roman" panose="02020603050405020304" pitchFamily="18" charset="0"/>
            </a:endParaRPr>
          </a:p>
        </p:txBody>
      </p:sp>
      <p:sp>
        <p:nvSpPr>
          <p:cNvPr id="2254884" name="Text Box 1060"/>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8439" name="Text Box 1062"/>
          <p:cNvSpPr txBox="1"/>
          <p:nvPr/>
        </p:nvSpPr>
        <p:spPr>
          <a:xfrm>
            <a:off x="900113" y="1412875"/>
            <a:ext cx="4537075" cy="519113"/>
          </a:xfrm>
          <a:prstGeom prst="rect">
            <a:avLst/>
          </a:prstGeom>
          <a:noFill/>
          <a:ln w="9525">
            <a:noFill/>
          </a:ln>
        </p:spPr>
        <p:txBody>
          <a:bodyPr>
            <a:spAutoFit/>
          </a:bodyPr>
          <a:p>
            <a:pPr eaLnBrk="1" hangingPunct="1">
              <a:buFont typeface="Wingdings" panose="05000000000000000000" pitchFamily="2" charset="2"/>
            </a:pPr>
            <a:r>
              <a:rPr lang="en-US" altLang="zh-CN" sz="2800" dirty="0">
                <a:solidFill>
                  <a:srgbClr val="FF0000"/>
                </a:solidFill>
                <a:latin typeface="Times New Roman" panose="02020603050405020304" pitchFamily="18" charset="0"/>
              </a:rPr>
              <a:t>2. </a:t>
            </a:r>
            <a:r>
              <a:rPr lang="zh-CN" altLang="en-US" sz="2800" dirty="0">
                <a:solidFill>
                  <a:srgbClr val="FF0000"/>
                </a:solidFill>
                <a:latin typeface="Times New Roman" panose="02020603050405020304" pitchFamily="18" charset="0"/>
              </a:rPr>
              <a:t>反馈型采样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保持器</a:t>
            </a:r>
            <a:endParaRPr lang="zh-CN" altLang="en-US" sz="2800" dirty="0">
              <a:solidFill>
                <a:srgbClr val="FF0000"/>
              </a:solidFill>
              <a:latin typeface="Times New Roman" panose="02020603050405020304" pitchFamily="18" charset="0"/>
            </a:endParaRPr>
          </a:p>
        </p:txBody>
      </p:sp>
      <p:sp>
        <p:nvSpPr>
          <p:cNvPr id="2254887" name="Text Box 1063"/>
          <p:cNvSpPr txBox="1"/>
          <p:nvPr/>
        </p:nvSpPr>
        <p:spPr>
          <a:xfrm>
            <a:off x="758825" y="2689225"/>
            <a:ext cx="788988"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254888" name="Text Box 1064"/>
          <p:cNvSpPr txBox="1"/>
          <p:nvPr/>
        </p:nvSpPr>
        <p:spPr>
          <a:xfrm>
            <a:off x="755650" y="3262313"/>
            <a:ext cx="788988"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18442" name="Text Box 3"/>
          <p:cNvSpPr txBox="1"/>
          <p:nvPr/>
        </p:nvSpPr>
        <p:spPr>
          <a:xfrm>
            <a:off x="315913" y="836613"/>
            <a:ext cx="4564062" cy="579437"/>
          </a:xfrm>
          <a:prstGeom prst="rect">
            <a:avLst/>
          </a:prstGeom>
          <a:solidFill>
            <a:srgbClr val="99CCFF"/>
          </a:solidFill>
          <a:ln w="9525">
            <a:noFill/>
          </a:ln>
        </p:spPr>
        <p:txBody>
          <a:bodyPr wrap="none">
            <a:spAutoFit/>
          </a:bodyPr>
          <a:p>
            <a:pPr eaLnBrk="1" hangingPunct="1"/>
            <a:r>
              <a:rPr lang="en-US" altLang="zh-CN" sz="3200" dirty="0">
                <a:latin typeface="Times New Roman" panose="02020603050405020304" pitchFamily="18" charset="0"/>
                <a:ea typeface="黑体" panose="02010609060101010101" pitchFamily="49" charset="-122"/>
              </a:rPr>
              <a:t>5.3.1 </a:t>
            </a:r>
            <a:r>
              <a:rPr lang="zh-CN" altLang="en-US" sz="3200" dirty="0">
                <a:latin typeface="Times New Roman" panose="02020603050405020304" pitchFamily="18" charset="0"/>
              </a:rPr>
              <a:t>采样</a:t>
            </a:r>
            <a:r>
              <a:rPr lang="en-US" altLang="zh-CN" sz="3200" dirty="0">
                <a:latin typeface="Times New Roman" panose="02020603050405020304" pitchFamily="18" charset="0"/>
                <a:ea typeface="宋体" panose="02010600030101010101" pitchFamily="2" charset="-122"/>
              </a:rPr>
              <a:t>/</a:t>
            </a:r>
            <a:r>
              <a:rPr lang="zh-CN" altLang="en-US" sz="3200" dirty="0">
                <a:latin typeface="Times New Roman" panose="02020603050405020304" pitchFamily="18" charset="0"/>
              </a:rPr>
              <a:t>保持器的类型</a:t>
            </a:r>
            <a:r>
              <a:rPr lang="zh-CN" altLang="en-US" sz="3200" dirty="0">
                <a:latin typeface="Times New Roman" panose="02020603050405020304" pitchFamily="18" charset="0"/>
                <a:ea typeface="宋体" panose="02010600030101010101" pitchFamily="2" charset="-122"/>
              </a:rPr>
              <a:t> </a:t>
            </a:r>
            <a:endParaRPr lang="zh-CN" altLang="en-US" sz="3200" dirty="0">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4875"/>
                                        </p:tgtEl>
                                        <p:attrNameLst>
                                          <p:attrName>style.visibility</p:attrName>
                                        </p:attrNameLst>
                                      </p:cBhvr>
                                      <p:to>
                                        <p:strVal val="visible"/>
                                      </p:to>
                                    </p:set>
                                    <p:animEffect transition="in" filter="dissolve">
                                      <p:cBhvr>
                                        <p:cTn id="7" dur="500"/>
                                        <p:tgtEl>
                                          <p:spTgt spid="225487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4876">
                                            <p:txEl>
                                              <p:charRg st="0" end="24"/>
                                            </p:txEl>
                                          </p:spTgt>
                                        </p:tgtEl>
                                        <p:attrNameLst>
                                          <p:attrName>style.visibility</p:attrName>
                                        </p:attrNameLst>
                                      </p:cBhvr>
                                      <p:to>
                                        <p:strVal val="visible"/>
                                      </p:to>
                                    </p:set>
                                    <p:animEffect transition="in" filter="dissolve">
                                      <p:cBhvr>
                                        <p:cTn id="12" dur="500"/>
                                        <p:tgtEl>
                                          <p:spTgt spid="2254876">
                                            <p:txEl>
                                              <p:charRg st="0" end="2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254887"/>
                                        </p:tgtEl>
                                        <p:attrNameLst>
                                          <p:attrName>style.visibility</p:attrName>
                                        </p:attrNameLst>
                                      </p:cBhvr>
                                      <p:to>
                                        <p:strVal val="visible"/>
                                      </p:to>
                                    </p:set>
                                    <p:animEffect transition="in" filter="dissolve">
                                      <p:cBhvr>
                                        <p:cTn id="15" dur="500"/>
                                        <p:tgtEl>
                                          <p:spTgt spid="225488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254888"/>
                                        </p:tgtEl>
                                        <p:attrNameLst>
                                          <p:attrName>style.visibility</p:attrName>
                                        </p:attrNameLst>
                                      </p:cBhvr>
                                      <p:to>
                                        <p:strVal val="visible"/>
                                      </p:to>
                                    </p:set>
                                    <p:animEffect transition="in" filter="dissolve">
                                      <p:cBhvr>
                                        <p:cTn id="20" dur="500"/>
                                        <p:tgtEl>
                                          <p:spTgt spid="2254888"/>
                                        </p:tgtEl>
                                      </p:cBhvr>
                                    </p:animEffect>
                                  </p:childTnLst>
                                </p:cTn>
                              </p:par>
                              <p:par>
                                <p:cTn id="21" presetID="9" presetClass="entr" presetSubtype="0" fill="hold" nodeType="withEffect">
                                  <p:stCondLst>
                                    <p:cond delay="0"/>
                                  </p:stCondLst>
                                  <p:childTnLst>
                                    <p:set>
                                      <p:cBhvr>
                                        <p:cTn id="22" dur="1" fill="hold">
                                          <p:stCondLst>
                                            <p:cond delay="0"/>
                                          </p:stCondLst>
                                        </p:cTn>
                                        <p:tgtEl>
                                          <p:spTgt spid="2254876">
                                            <p:txEl>
                                              <p:charRg st="24" end="78"/>
                                            </p:txEl>
                                          </p:spTgt>
                                        </p:tgtEl>
                                        <p:attrNameLst>
                                          <p:attrName>style.visibility</p:attrName>
                                        </p:attrNameLst>
                                      </p:cBhvr>
                                      <p:to>
                                        <p:strVal val="visible"/>
                                      </p:to>
                                    </p:set>
                                    <p:animEffect transition="in" filter="dissolve">
                                      <p:cBhvr>
                                        <p:cTn id="23" dur="500"/>
                                        <p:tgtEl>
                                          <p:spTgt spid="2254876">
                                            <p:txEl>
                                              <p:charRg st="24" end="78"/>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254878"/>
                                        </p:tgtEl>
                                        <p:attrNameLst>
                                          <p:attrName>style.visibility</p:attrName>
                                        </p:attrNameLst>
                                      </p:cBhvr>
                                      <p:to>
                                        <p:strVal val="visible"/>
                                      </p:to>
                                    </p:set>
                                    <p:animEffect transition="in" filter="dissolve">
                                      <p:cBhvr>
                                        <p:cTn id="28" dur="500"/>
                                        <p:tgtEl>
                                          <p:spTgt spid="225487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254879"/>
                                        </p:tgtEl>
                                        <p:attrNameLst>
                                          <p:attrName>style.visibility</p:attrName>
                                        </p:attrNameLst>
                                      </p:cBhvr>
                                      <p:to>
                                        <p:strVal val="visible"/>
                                      </p:to>
                                    </p:set>
                                    <p:animEffect transition="in" filter="dissolve">
                                      <p:cBhvr>
                                        <p:cTn id="33" dur="500"/>
                                        <p:tgtEl>
                                          <p:spTgt spid="22548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4875" grpId="0"/>
      <p:bldP spid="2254878" grpId="0"/>
      <p:bldP spid="2254879" grpId="0"/>
      <p:bldP spid="2254887" grpId="0"/>
      <p:bldP spid="2254888"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931" name="Text Box 1083"/>
          <p:cNvSpPr txBox="1"/>
          <p:nvPr/>
        </p:nvSpPr>
        <p:spPr>
          <a:xfrm>
            <a:off x="250825" y="1989138"/>
            <a:ext cx="3203575" cy="18097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孔径时间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r>
              <a:rPr lang="zh-CN" altLang="en-US" sz="2800" dirty="0">
                <a:solidFill>
                  <a:schemeClr val="tx1"/>
                </a:solidFill>
                <a:latin typeface="黑体" panose="02010609060101010101" pitchFamily="49" charset="-122"/>
                <a:ea typeface="黑体" panose="02010609060101010101" pitchFamily="49" charset="-122"/>
              </a:rPr>
              <a:t>：保持指令给出瞬间到模拟开关有效切断所经历的时间。</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255933" name="Text Box 1085"/>
          <p:cNvSpPr txBox="1"/>
          <p:nvPr/>
        </p:nvSpPr>
        <p:spPr>
          <a:xfrm>
            <a:off x="358775" y="728663"/>
            <a:ext cx="61642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
        <p:nvSpPr>
          <p:cNvPr id="2255934" name="Text Box 1086"/>
          <p:cNvSpPr txBox="1"/>
          <p:nvPr/>
        </p:nvSpPr>
        <p:spPr>
          <a:xfrm>
            <a:off x="647700" y="1397000"/>
            <a:ext cx="3419475"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1.</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孔径时间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endParaRPr lang="en-US" altLang="zh-CN" sz="2800" baseline="-25000" dirty="0">
              <a:solidFill>
                <a:srgbClr val="FF0000"/>
              </a:solidFill>
              <a:latin typeface="Times New Roman" panose="02020603050405020304" pitchFamily="18" charset="0"/>
              <a:ea typeface="黑体" panose="02010609060101010101" pitchFamily="49" charset="-122"/>
            </a:endParaRPr>
          </a:p>
        </p:txBody>
      </p:sp>
      <p:sp>
        <p:nvSpPr>
          <p:cNvPr id="2255937" name="Text Box 1089"/>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256001" name="Text Box 1153"/>
          <p:cNvSpPr txBox="1"/>
          <p:nvPr/>
        </p:nvSpPr>
        <p:spPr>
          <a:xfrm>
            <a:off x="179388" y="3824288"/>
            <a:ext cx="3349625" cy="239236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latin typeface="Times New Roman" panose="02020603050405020304" pitchFamily="18" charset="0"/>
              </a:rPr>
              <a:t>模拟开关从闭合到完全断开需要一定时间，当接到保持指令时，采样</a:t>
            </a:r>
            <a:r>
              <a:rPr lang="en-US" altLang="zh-CN" sz="2400" dirty="0">
                <a:latin typeface="Times New Roman" panose="02020603050405020304" pitchFamily="18" charset="0"/>
              </a:rPr>
              <a:t>/</a:t>
            </a:r>
            <a:r>
              <a:rPr lang="zh-CN" altLang="en-US" sz="2400" dirty="0">
                <a:latin typeface="Times New Roman" panose="02020603050405020304" pitchFamily="18" charset="0"/>
              </a:rPr>
              <a:t>保持器的输出并不保持在指令发出瞬时的输入值上，而是会跟着输入变化一段时间；</a:t>
            </a:r>
            <a:endParaRPr lang="zh-CN" altLang="en-US" sz="2400" dirty="0">
              <a:latin typeface="Times New Roman" panose="02020603050405020304" pitchFamily="18" charset="0"/>
            </a:endParaRPr>
          </a:p>
        </p:txBody>
      </p:sp>
      <p:sp>
        <p:nvSpPr>
          <p:cNvPr id="2256003" name="Text Box 1155"/>
          <p:cNvSpPr txBox="1"/>
          <p:nvPr/>
        </p:nvSpPr>
        <p:spPr>
          <a:xfrm>
            <a:off x="179388" y="3933825"/>
            <a:ext cx="3203575" cy="1406525"/>
          </a:xfrm>
          <a:prstGeom prst="rect">
            <a:avLst/>
          </a:prstGeom>
          <a:solidFill>
            <a:schemeClr val="bg1"/>
          </a:solid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在</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AP</a:t>
            </a:r>
            <a:r>
              <a:rPr lang="zh-CN" altLang="en-US" sz="2400" dirty="0">
                <a:latin typeface="Times New Roman" panose="02020603050405020304" pitchFamily="18" charset="0"/>
              </a:rPr>
              <a:t>后的输出还有一段波动，经过一定时间后才保持稳定。</a:t>
            </a:r>
            <a:endParaRPr lang="zh-CN" altLang="en-US" sz="2400" dirty="0">
              <a:latin typeface="Times New Roman" panose="02020603050405020304" pitchFamily="18" charset="0"/>
            </a:endParaRPr>
          </a:p>
        </p:txBody>
      </p:sp>
      <p:sp>
        <p:nvSpPr>
          <p:cNvPr id="2256007" name="Text Box 1159"/>
          <p:cNvSpPr txBox="1"/>
          <p:nvPr/>
        </p:nvSpPr>
        <p:spPr>
          <a:xfrm>
            <a:off x="179388" y="3860800"/>
            <a:ext cx="3349625" cy="1406525"/>
          </a:xfrm>
          <a:prstGeom prst="rect">
            <a:avLst/>
          </a:prstGeom>
          <a:solidFill>
            <a:schemeClr val="bg1"/>
          </a:solid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solidFill>
                  <a:srgbClr val="FF0000"/>
                </a:solidFill>
                <a:latin typeface="Times New Roman" panose="02020603050405020304" pitchFamily="18" charset="0"/>
              </a:rPr>
              <a:t>保持建立时间</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ST</a:t>
            </a:r>
            <a:r>
              <a:rPr lang="zh-CN" altLang="en-US" sz="2400" dirty="0">
                <a:latin typeface="Times New Roman" panose="02020603050405020304" pitchFamily="18" charset="0"/>
              </a:rPr>
              <a:t>：在</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AP</a:t>
            </a:r>
            <a:r>
              <a:rPr lang="zh-CN" altLang="en-US" sz="2400" dirty="0">
                <a:latin typeface="Times New Roman" panose="02020603050405020304" pitchFamily="18" charset="0"/>
              </a:rPr>
              <a:t>之后，到输出在规定的误差带内达到稳定所需要的时间；</a:t>
            </a:r>
            <a:endParaRPr lang="zh-CN" altLang="en-US" sz="2400" dirty="0">
              <a:latin typeface="Times New Roman" panose="02020603050405020304" pitchFamily="18" charset="0"/>
            </a:endParaRPr>
          </a:p>
        </p:txBody>
      </p:sp>
      <p:sp>
        <p:nvSpPr>
          <p:cNvPr id="2256004" name="Text Box 1156"/>
          <p:cNvSpPr txBox="1"/>
          <p:nvPr/>
        </p:nvSpPr>
        <p:spPr>
          <a:xfrm>
            <a:off x="139700" y="3838575"/>
            <a:ext cx="3349625" cy="2063750"/>
          </a:xfrm>
          <a:prstGeom prst="rect">
            <a:avLst/>
          </a:prstGeom>
          <a:solidFill>
            <a:schemeClr val="bg1"/>
          </a:solid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latin typeface="Times New Roman" panose="02020603050405020304" pitchFamily="18" charset="0"/>
              </a:rPr>
              <a:t>由于孔径时间的存在，采样</a:t>
            </a:r>
            <a:r>
              <a:rPr lang="en-US" altLang="zh-CN" sz="2400" dirty="0">
                <a:latin typeface="Times New Roman" panose="02020603050405020304" pitchFamily="18" charset="0"/>
              </a:rPr>
              <a:t>/</a:t>
            </a:r>
            <a:r>
              <a:rPr lang="zh-CN" altLang="en-US" sz="2400" dirty="0">
                <a:latin typeface="Times New Roman" panose="02020603050405020304" pitchFamily="18" charset="0"/>
              </a:rPr>
              <a:t>保持器实际保持的输出值与希望的输入值之间存在一定的误差，该误差称为</a:t>
            </a:r>
            <a:r>
              <a:rPr lang="zh-CN" altLang="en-US" sz="2400" dirty="0">
                <a:solidFill>
                  <a:srgbClr val="FF0000"/>
                </a:solidFill>
                <a:latin typeface="Times New Roman" panose="02020603050405020304" pitchFamily="18" charset="0"/>
              </a:rPr>
              <a:t>孔径误差</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p:txBody>
      </p:sp>
      <p:sp>
        <p:nvSpPr>
          <p:cNvPr id="19466" name="Rectangle 53"/>
          <p:cNvSpPr/>
          <p:nvPr/>
        </p:nvSpPr>
        <p:spPr>
          <a:xfrm>
            <a:off x="3635375" y="1341438"/>
            <a:ext cx="5473700" cy="486727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9467" name="AutoShape 54"/>
          <p:cNvSpPr/>
          <p:nvPr/>
        </p:nvSpPr>
        <p:spPr>
          <a:xfrm>
            <a:off x="4449763" y="1352550"/>
            <a:ext cx="1223962" cy="439738"/>
          </a:xfrm>
          <a:prstGeom prst="wedgeRoundRectCallout">
            <a:avLst>
              <a:gd name="adj1" fmla="val 58949"/>
              <a:gd name="adj2" fmla="val 13700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19468" name="Line 55"/>
          <p:cNvSpPr/>
          <p:nvPr/>
        </p:nvSpPr>
        <p:spPr>
          <a:xfrm>
            <a:off x="3775075" y="5448300"/>
            <a:ext cx="4267200" cy="0"/>
          </a:xfrm>
          <a:prstGeom prst="line">
            <a:avLst/>
          </a:prstGeom>
          <a:ln w="9525" cap="flat" cmpd="sng">
            <a:solidFill>
              <a:srgbClr val="0000FF"/>
            </a:solidFill>
            <a:prstDash val="solid"/>
            <a:headEnd type="none" w="med" len="med"/>
            <a:tailEnd type="stealth" w="sm" len="lg"/>
          </a:ln>
        </p:spPr>
      </p:sp>
      <p:sp>
        <p:nvSpPr>
          <p:cNvPr id="19469" name="Text Box 56"/>
          <p:cNvSpPr txBox="1"/>
          <p:nvPr/>
        </p:nvSpPr>
        <p:spPr>
          <a:xfrm>
            <a:off x="8043863" y="5275263"/>
            <a:ext cx="2540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19470" name="Line 57"/>
          <p:cNvSpPr/>
          <p:nvPr/>
        </p:nvSpPr>
        <p:spPr>
          <a:xfrm flipV="1">
            <a:off x="3775075" y="1830388"/>
            <a:ext cx="0" cy="3617912"/>
          </a:xfrm>
          <a:prstGeom prst="line">
            <a:avLst/>
          </a:prstGeom>
          <a:ln w="9525" cap="flat" cmpd="sng">
            <a:solidFill>
              <a:srgbClr val="0000FF"/>
            </a:solidFill>
            <a:prstDash val="solid"/>
            <a:headEnd type="none" w="med" len="med"/>
            <a:tailEnd type="stealth" w="sm" len="lg"/>
          </a:ln>
        </p:spPr>
      </p:sp>
      <p:sp>
        <p:nvSpPr>
          <p:cNvPr id="19471" name="Text Box 58"/>
          <p:cNvSpPr txBox="1"/>
          <p:nvPr/>
        </p:nvSpPr>
        <p:spPr>
          <a:xfrm>
            <a:off x="3600450" y="1449388"/>
            <a:ext cx="3683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19472" name="Freeform 59"/>
          <p:cNvSpPr/>
          <p:nvPr/>
        </p:nvSpPr>
        <p:spPr>
          <a:xfrm>
            <a:off x="3775075" y="2143125"/>
            <a:ext cx="2889250" cy="2425700"/>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820" h="1528">
                <a:moveTo>
                  <a:pt x="0" y="1406"/>
                </a:moveTo>
                <a:cubicBezTo>
                  <a:pt x="14" y="1423"/>
                  <a:pt x="28" y="1441"/>
                  <a:pt x="50" y="1456"/>
                </a:cubicBezTo>
                <a:cubicBezTo>
                  <a:pt x="72" y="1471"/>
                  <a:pt x="112" y="1488"/>
                  <a:pt x="134" y="1498"/>
                </a:cubicBezTo>
                <a:cubicBezTo>
                  <a:pt x="156" y="1508"/>
                  <a:pt x="167" y="1511"/>
                  <a:pt x="184" y="1515"/>
                </a:cubicBezTo>
                <a:cubicBezTo>
                  <a:pt x="201" y="1519"/>
                  <a:pt x="217" y="1522"/>
                  <a:pt x="234" y="1523"/>
                </a:cubicBezTo>
                <a:cubicBezTo>
                  <a:pt x="251" y="1524"/>
                  <a:pt x="266" y="1523"/>
                  <a:pt x="284" y="1523"/>
                </a:cubicBezTo>
                <a:cubicBezTo>
                  <a:pt x="302" y="1523"/>
                  <a:pt x="320" y="1528"/>
                  <a:pt x="342" y="1523"/>
                </a:cubicBezTo>
                <a:cubicBezTo>
                  <a:pt x="364" y="1518"/>
                  <a:pt x="396" y="1501"/>
                  <a:pt x="417" y="1490"/>
                </a:cubicBezTo>
                <a:cubicBezTo>
                  <a:pt x="438" y="1479"/>
                  <a:pt x="450" y="1469"/>
                  <a:pt x="468" y="1456"/>
                </a:cubicBezTo>
                <a:cubicBezTo>
                  <a:pt x="486" y="1443"/>
                  <a:pt x="505" y="1433"/>
                  <a:pt x="526" y="1414"/>
                </a:cubicBezTo>
                <a:cubicBezTo>
                  <a:pt x="547" y="1395"/>
                  <a:pt x="574" y="1365"/>
                  <a:pt x="593" y="1339"/>
                </a:cubicBezTo>
                <a:cubicBezTo>
                  <a:pt x="612" y="1313"/>
                  <a:pt x="625" y="1288"/>
                  <a:pt x="643" y="1256"/>
                </a:cubicBezTo>
                <a:cubicBezTo>
                  <a:pt x="661" y="1224"/>
                  <a:pt x="675" y="1214"/>
                  <a:pt x="701" y="1147"/>
                </a:cubicBezTo>
                <a:cubicBezTo>
                  <a:pt x="727" y="1080"/>
                  <a:pt x="775" y="937"/>
                  <a:pt x="801" y="855"/>
                </a:cubicBezTo>
                <a:cubicBezTo>
                  <a:pt x="827" y="773"/>
                  <a:pt x="836" y="726"/>
                  <a:pt x="860" y="655"/>
                </a:cubicBezTo>
                <a:cubicBezTo>
                  <a:pt x="884" y="584"/>
                  <a:pt x="922" y="486"/>
                  <a:pt x="943" y="429"/>
                </a:cubicBezTo>
                <a:cubicBezTo>
                  <a:pt x="964" y="372"/>
                  <a:pt x="968" y="349"/>
                  <a:pt x="985" y="313"/>
                </a:cubicBezTo>
                <a:cubicBezTo>
                  <a:pt x="1002" y="277"/>
                  <a:pt x="1019" y="246"/>
                  <a:pt x="1044" y="212"/>
                </a:cubicBezTo>
                <a:cubicBezTo>
                  <a:pt x="1069" y="178"/>
                  <a:pt x="1109" y="136"/>
                  <a:pt x="1135" y="112"/>
                </a:cubicBezTo>
                <a:cubicBezTo>
                  <a:pt x="1161" y="88"/>
                  <a:pt x="1180" y="84"/>
                  <a:pt x="1202" y="70"/>
                </a:cubicBezTo>
                <a:cubicBezTo>
                  <a:pt x="1224" y="56"/>
                  <a:pt x="1249" y="37"/>
                  <a:pt x="1269" y="29"/>
                </a:cubicBezTo>
                <a:cubicBezTo>
                  <a:pt x="1289" y="21"/>
                  <a:pt x="1297" y="24"/>
                  <a:pt x="1319" y="20"/>
                </a:cubicBezTo>
                <a:cubicBezTo>
                  <a:pt x="1341" y="16"/>
                  <a:pt x="1364" y="0"/>
                  <a:pt x="1403" y="4"/>
                </a:cubicBezTo>
                <a:cubicBezTo>
                  <a:pt x="1442" y="8"/>
                  <a:pt x="1513" y="27"/>
                  <a:pt x="1553" y="45"/>
                </a:cubicBezTo>
                <a:cubicBezTo>
                  <a:pt x="1593" y="63"/>
                  <a:pt x="1613" y="86"/>
                  <a:pt x="1645" y="112"/>
                </a:cubicBezTo>
                <a:cubicBezTo>
                  <a:pt x="1677" y="138"/>
                  <a:pt x="1716" y="166"/>
                  <a:pt x="1745" y="204"/>
                </a:cubicBezTo>
                <a:cubicBezTo>
                  <a:pt x="1774" y="242"/>
                  <a:pt x="1808" y="316"/>
                  <a:pt x="1820" y="338"/>
                </a:cubicBezTo>
              </a:path>
            </a:pathLst>
          </a:custGeom>
          <a:noFill/>
          <a:ln w="19050" cap="flat" cmpd="sng">
            <a:solidFill>
              <a:srgbClr val="0000FF">
                <a:alpha val="100000"/>
              </a:srgbClr>
            </a:solidFill>
            <a:prstDash val="dash"/>
            <a:round/>
            <a:headEnd type="none" w="med" len="med"/>
            <a:tailEnd type="none" w="med" len="med"/>
          </a:ln>
        </p:spPr>
        <p:txBody>
          <a:bodyPr/>
          <a:p>
            <a:endParaRPr lang="zh-CN" altLang="en-US"/>
          </a:p>
        </p:txBody>
      </p:sp>
      <p:sp>
        <p:nvSpPr>
          <p:cNvPr id="19473" name="Line 60"/>
          <p:cNvSpPr/>
          <p:nvPr/>
        </p:nvSpPr>
        <p:spPr>
          <a:xfrm>
            <a:off x="3775075" y="3898900"/>
            <a:ext cx="1139825" cy="0"/>
          </a:xfrm>
          <a:prstGeom prst="line">
            <a:avLst/>
          </a:prstGeom>
          <a:ln w="31750" cap="flat" cmpd="sng">
            <a:solidFill>
              <a:srgbClr val="FF0000"/>
            </a:solidFill>
            <a:prstDash val="solid"/>
            <a:headEnd type="none" w="med" len="med"/>
            <a:tailEnd type="none" w="med" len="med"/>
          </a:ln>
        </p:spPr>
      </p:sp>
      <p:sp>
        <p:nvSpPr>
          <p:cNvPr id="19474" name="Arc 61"/>
          <p:cNvSpPr/>
          <p:nvPr/>
        </p:nvSpPr>
        <p:spPr>
          <a:xfrm flipV="1">
            <a:off x="5021263" y="3725863"/>
            <a:ext cx="157162" cy="173037"/>
          </a:xfrm>
          <a:custGeom>
            <a:avLst/>
            <a:gdLst/>
            <a:ahLst/>
            <a:cxnLst>
              <a:cxn ang="0">
                <a:pos x="0" y="0"/>
              </a:cxn>
              <a:cxn ang="0">
                <a:pos x="2147483646" y="2147483646"/>
              </a:cxn>
              <a:cxn ang="0">
                <a:pos x="0" y="2147483646"/>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19475" name="Freeform 62"/>
          <p:cNvSpPr/>
          <p:nvPr/>
        </p:nvSpPr>
        <p:spPr>
          <a:xfrm>
            <a:off x="5180013" y="2819400"/>
            <a:ext cx="71437" cy="908050"/>
          </a:xfrm>
          <a:custGeom>
            <a:avLst/>
            <a:gdLst/>
            <a:ahLst/>
            <a:cxnLst>
              <a:cxn ang="0">
                <a:pos x="0" y="2147483646"/>
              </a:cxn>
              <a:cxn ang="0">
                <a:pos x="2147483646" y="2147483646"/>
              </a:cxn>
              <a:cxn ang="0">
                <a:pos x="2147483646" y="0"/>
              </a:cxn>
            </a:cxnLst>
            <a:pathLst>
              <a:path w="45" h="572">
                <a:moveTo>
                  <a:pt x="0" y="572"/>
                </a:moveTo>
                <a:lnTo>
                  <a:pt x="37" y="54"/>
                </a:lnTo>
                <a:lnTo>
                  <a:pt x="45"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19476" name="Line 63"/>
          <p:cNvSpPr/>
          <p:nvPr/>
        </p:nvSpPr>
        <p:spPr>
          <a:xfrm>
            <a:off x="7046913" y="1658938"/>
            <a:ext cx="0" cy="703262"/>
          </a:xfrm>
          <a:prstGeom prst="line">
            <a:avLst/>
          </a:prstGeom>
          <a:ln w="9525" cap="flat" cmpd="sng">
            <a:solidFill>
              <a:srgbClr val="0000FF"/>
            </a:solidFill>
            <a:prstDash val="solid"/>
            <a:headEnd type="none" w="med" len="med"/>
            <a:tailEnd type="stealth" w="sm" len="lg"/>
          </a:ln>
        </p:spPr>
      </p:sp>
      <p:sp>
        <p:nvSpPr>
          <p:cNvPr id="19477" name="Line 64"/>
          <p:cNvSpPr/>
          <p:nvPr/>
        </p:nvSpPr>
        <p:spPr>
          <a:xfrm flipV="1">
            <a:off x="7046913" y="2506663"/>
            <a:ext cx="0" cy="530225"/>
          </a:xfrm>
          <a:prstGeom prst="line">
            <a:avLst/>
          </a:prstGeom>
          <a:ln w="9525" cap="flat" cmpd="sng">
            <a:solidFill>
              <a:srgbClr val="0000FF"/>
            </a:solidFill>
            <a:prstDash val="solid"/>
            <a:headEnd type="none" w="med" len="med"/>
            <a:tailEnd type="stealth" w="sm" len="lg"/>
          </a:ln>
        </p:spPr>
      </p:sp>
      <p:sp>
        <p:nvSpPr>
          <p:cNvPr id="19478" name="Text Box 65"/>
          <p:cNvSpPr txBox="1"/>
          <p:nvPr/>
        </p:nvSpPr>
        <p:spPr>
          <a:xfrm rot="-5400000">
            <a:off x="6350000" y="1704975"/>
            <a:ext cx="1050925" cy="312738"/>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孔径误差</a:t>
            </a:r>
            <a:endParaRPr lang="zh-CN" altLang="en-US" sz="1600" dirty="0">
              <a:latin typeface="Times New Roman" panose="02020603050405020304" pitchFamily="18" charset="0"/>
            </a:endParaRPr>
          </a:p>
        </p:txBody>
      </p:sp>
      <p:sp>
        <p:nvSpPr>
          <p:cNvPr id="2422850" name="Text Box 66"/>
          <p:cNvSpPr txBox="1">
            <a:spLocks noChangeArrowheads="1"/>
          </p:cNvSpPr>
          <p:nvPr/>
        </p:nvSpPr>
        <p:spPr bwMode="auto">
          <a:xfrm>
            <a:off x="4467225" y="1376363"/>
            <a:ext cx="1216025"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模拟信号</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9480" name="Line 67"/>
          <p:cNvSpPr/>
          <p:nvPr/>
        </p:nvSpPr>
        <p:spPr>
          <a:xfrm>
            <a:off x="3775075" y="5435600"/>
            <a:ext cx="1139825" cy="0"/>
          </a:xfrm>
          <a:prstGeom prst="line">
            <a:avLst/>
          </a:prstGeom>
          <a:ln w="31750" cap="flat" cmpd="sng">
            <a:solidFill>
              <a:srgbClr val="CC00CC"/>
            </a:solidFill>
            <a:prstDash val="solid"/>
            <a:headEnd type="none" w="med" len="med"/>
            <a:tailEnd type="none" w="med" len="med"/>
          </a:ln>
        </p:spPr>
      </p:sp>
      <p:sp>
        <p:nvSpPr>
          <p:cNvPr id="19481" name="Text Box 68"/>
          <p:cNvSpPr txBox="1"/>
          <p:nvPr/>
        </p:nvSpPr>
        <p:spPr>
          <a:xfrm>
            <a:off x="4016375" y="5083175"/>
            <a:ext cx="682625"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19482" name="Line 69"/>
          <p:cNvSpPr/>
          <p:nvPr/>
        </p:nvSpPr>
        <p:spPr>
          <a:xfrm flipV="1">
            <a:off x="4914900" y="4759325"/>
            <a:ext cx="0" cy="676275"/>
          </a:xfrm>
          <a:prstGeom prst="line">
            <a:avLst/>
          </a:prstGeom>
          <a:ln w="31750" cap="flat" cmpd="sng">
            <a:solidFill>
              <a:srgbClr val="CC00CC"/>
            </a:solidFill>
            <a:prstDash val="solid"/>
            <a:headEnd type="none" w="med" len="med"/>
            <a:tailEnd type="none" w="med" len="med"/>
          </a:ln>
        </p:spPr>
      </p:sp>
      <p:sp>
        <p:nvSpPr>
          <p:cNvPr id="19483" name="Line 70"/>
          <p:cNvSpPr/>
          <p:nvPr/>
        </p:nvSpPr>
        <p:spPr>
          <a:xfrm flipV="1">
            <a:off x="4914900" y="3898900"/>
            <a:ext cx="0" cy="874713"/>
          </a:xfrm>
          <a:prstGeom prst="line">
            <a:avLst/>
          </a:prstGeom>
          <a:ln w="9525" cap="flat" cmpd="sng">
            <a:solidFill>
              <a:srgbClr val="008080"/>
            </a:solidFill>
            <a:prstDash val="sysDot"/>
            <a:headEnd type="none" w="med" len="med"/>
            <a:tailEnd type="none" w="med" len="med"/>
          </a:ln>
        </p:spPr>
      </p:sp>
      <p:sp>
        <p:nvSpPr>
          <p:cNvPr id="19484" name="Line 71"/>
          <p:cNvSpPr/>
          <p:nvPr/>
        </p:nvSpPr>
        <p:spPr>
          <a:xfrm>
            <a:off x="4927600" y="4773613"/>
            <a:ext cx="490538" cy="0"/>
          </a:xfrm>
          <a:prstGeom prst="line">
            <a:avLst/>
          </a:prstGeom>
          <a:ln w="31750" cap="flat" cmpd="sng">
            <a:solidFill>
              <a:srgbClr val="CC00CC"/>
            </a:solidFill>
            <a:prstDash val="solid"/>
            <a:headEnd type="none" w="med" len="med"/>
            <a:tailEnd type="none" w="med" len="med"/>
          </a:ln>
        </p:spPr>
      </p:sp>
      <p:sp>
        <p:nvSpPr>
          <p:cNvPr id="19485" name="Text Box 72"/>
          <p:cNvSpPr txBox="1"/>
          <p:nvPr/>
        </p:nvSpPr>
        <p:spPr>
          <a:xfrm>
            <a:off x="4845050" y="4773613"/>
            <a:ext cx="682625"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跟踪</a:t>
            </a:r>
            <a:endParaRPr lang="zh-CN" altLang="en-US" sz="1800" dirty="0">
              <a:latin typeface="Times New Roman" panose="02020603050405020304" pitchFamily="18" charset="0"/>
            </a:endParaRPr>
          </a:p>
        </p:txBody>
      </p:sp>
      <p:sp>
        <p:nvSpPr>
          <p:cNvPr id="19486" name="Line 73"/>
          <p:cNvSpPr/>
          <p:nvPr/>
        </p:nvSpPr>
        <p:spPr>
          <a:xfrm flipV="1">
            <a:off x="5418138" y="5514975"/>
            <a:ext cx="0" cy="330200"/>
          </a:xfrm>
          <a:prstGeom prst="line">
            <a:avLst/>
          </a:prstGeom>
          <a:ln w="19050" cap="flat" cmpd="sng">
            <a:solidFill>
              <a:srgbClr val="FF0000"/>
            </a:solidFill>
            <a:prstDash val="solid"/>
            <a:headEnd type="none" w="med" len="med"/>
            <a:tailEnd type="triangle" w="sm" len="lg"/>
          </a:ln>
        </p:spPr>
      </p:sp>
      <p:sp>
        <p:nvSpPr>
          <p:cNvPr id="19487" name="Text Box 74"/>
          <p:cNvSpPr txBox="1"/>
          <p:nvPr/>
        </p:nvSpPr>
        <p:spPr>
          <a:xfrm>
            <a:off x="5391150" y="5537200"/>
            <a:ext cx="2025650" cy="339725"/>
          </a:xfrm>
          <a:prstGeom prst="rect">
            <a:avLst/>
          </a:prstGeom>
          <a:noFill/>
          <a:ln w="9525">
            <a:noFill/>
          </a:ln>
        </p:spPr>
        <p:txBody>
          <a:bodyPr wrap="none">
            <a:spAutoFit/>
          </a:bodyPr>
          <a:p>
            <a:pPr eaLnBrk="1" hangingPunct="1">
              <a:lnSpc>
                <a:spcPct val="90000"/>
              </a:lnSpc>
            </a:pPr>
            <a:r>
              <a:rPr lang="zh-CN" altLang="en-US" sz="1800" dirty="0">
                <a:solidFill>
                  <a:srgbClr val="FF0000"/>
                </a:solidFill>
                <a:latin typeface="Times New Roman" panose="02020603050405020304" pitchFamily="18" charset="0"/>
              </a:rPr>
              <a:t>保持指令发出时刻</a:t>
            </a:r>
            <a:endParaRPr lang="zh-CN" altLang="en-US" sz="1800" dirty="0">
              <a:solidFill>
                <a:srgbClr val="FF0000"/>
              </a:solidFill>
              <a:latin typeface="Times New Roman" panose="02020603050405020304" pitchFamily="18" charset="0"/>
            </a:endParaRPr>
          </a:p>
        </p:txBody>
      </p:sp>
      <p:sp>
        <p:nvSpPr>
          <p:cNvPr id="19488" name="Line 75"/>
          <p:cNvSpPr/>
          <p:nvPr/>
        </p:nvSpPr>
        <p:spPr>
          <a:xfrm>
            <a:off x="5418138" y="4773613"/>
            <a:ext cx="0" cy="661987"/>
          </a:xfrm>
          <a:prstGeom prst="line">
            <a:avLst/>
          </a:prstGeom>
          <a:ln w="31750" cap="flat" cmpd="sng">
            <a:solidFill>
              <a:srgbClr val="CC00CC"/>
            </a:solidFill>
            <a:prstDash val="solid"/>
            <a:headEnd type="none" w="med" len="med"/>
            <a:tailEnd type="none" w="med" len="med"/>
          </a:ln>
        </p:spPr>
      </p:sp>
      <p:sp>
        <p:nvSpPr>
          <p:cNvPr id="19489" name="Line 76"/>
          <p:cNvSpPr/>
          <p:nvPr/>
        </p:nvSpPr>
        <p:spPr>
          <a:xfrm flipV="1">
            <a:off x="5418138" y="2505075"/>
            <a:ext cx="0" cy="2268538"/>
          </a:xfrm>
          <a:prstGeom prst="line">
            <a:avLst/>
          </a:prstGeom>
          <a:ln w="9525" cap="flat" cmpd="sng">
            <a:solidFill>
              <a:srgbClr val="008080"/>
            </a:solidFill>
            <a:prstDash val="sysDot"/>
            <a:headEnd type="none" w="med" len="med"/>
            <a:tailEnd type="none" w="med" len="med"/>
          </a:ln>
        </p:spPr>
      </p:sp>
      <p:sp>
        <p:nvSpPr>
          <p:cNvPr id="19490" name="Line 77"/>
          <p:cNvSpPr/>
          <p:nvPr/>
        </p:nvSpPr>
        <p:spPr>
          <a:xfrm>
            <a:off x="5656263" y="2266950"/>
            <a:ext cx="1587" cy="2533650"/>
          </a:xfrm>
          <a:prstGeom prst="line">
            <a:avLst/>
          </a:prstGeom>
          <a:ln w="9525" cap="flat" cmpd="sng">
            <a:solidFill>
              <a:srgbClr val="FF0000"/>
            </a:solidFill>
            <a:prstDash val="sysDot"/>
            <a:headEnd type="none" w="med" len="med"/>
            <a:tailEnd type="none" w="med" len="med"/>
          </a:ln>
        </p:spPr>
      </p:sp>
      <p:sp>
        <p:nvSpPr>
          <p:cNvPr id="19491" name="Line 78"/>
          <p:cNvSpPr/>
          <p:nvPr/>
        </p:nvSpPr>
        <p:spPr>
          <a:xfrm>
            <a:off x="5219700" y="4640263"/>
            <a:ext cx="198438" cy="0"/>
          </a:xfrm>
          <a:prstGeom prst="line">
            <a:avLst/>
          </a:prstGeom>
          <a:ln w="12700" cap="flat" cmpd="sng">
            <a:solidFill>
              <a:schemeClr val="tx1"/>
            </a:solidFill>
            <a:prstDash val="solid"/>
            <a:headEnd type="none" w="med" len="med"/>
            <a:tailEnd type="stealth" w="med" len="lg"/>
          </a:ln>
        </p:spPr>
      </p:sp>
      <p:sp>
        <p:nvSpPr>
          <p:cNvPr id="19492" name="Line 79"/>
          <p:cNvSpPr/>
          <p:nvPr/>
        </p:nvSpPr>
        <p:spPr>
          <a:xfrm flipH="1">
            <a:off x="5657850" y="4640263"/>
            <a:ext cx="411163" cy="0"/>
          </a:xfrm>
          <a:prstGeom prst="line">
            <a:avLst/>
          </a:prstGeom>
          <a:ln w="12700" cap="flat" cmpd="sng">
            <a:solidFill>
              <a:schemeClr val="tx1"/>
            </a:solidFill>
            <a:prstDash val="solid"/>
            <a:headEnd type="none" w="med" len="med"/>
            <a:tailEnd type="stealth" w="med" len="lg"/>
          </a:ln>
        </p:spPr>
      </p:sp>
      <p:sp>
        <p:nvSpPr>
          <p:cNvPr id="19493" name="Text Box 80"/>
          <p:cNvSpPr txBox="1"/>
          <p:nvPr/>
        </p:nvSpPr>
        <p:spPr>
          <a:xfrm>
            <a:off x="5684838" y="4303713"/>
            <a:ext cx="4508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19494" name="Line 81"/>
          <p:cNvSpPr/>
          <p:nvPr/>
        </p:nvSpPr>
        <p:spPr>
          <a:xfrm flipH="1">
            <a:off x="6213475" y="2351088"/>
            <a:ext cx="3175" cy="1455737"/>
          </a:xfrm>
          <a:prstGeom prst="line">
            <a:avLst/>
          </a:prstGeom>
          <a:ln w="9525" cap="flat" cmpd="sng">
            <a:solidFill>
              <a:srgbClr val="FF0000"/>
            </a:solidFill>
            <a:prstDash val="sysDot"/>
            <a:headEnd type="none" w="med" len="med"/>
            <a:tailEnd type="none" w="med" len="med"/>
          </a:ln>
        </p:spPr>
      </p:sp>
      <p:sp>
        <p:nvSpPr>
          <p:cNvPr id="19495" name="Line 82"/>
          <p:cNvSpPr/>
          <p:nvPr/>
        </p:nvSpPr>
        <p:spPr>
          <a:xfrm>
            <a:off x="5646738" y="3676650"/>
            <a:ext cx="566737" cy="9525"/>
          </a:xfrm>
          <a:prstGeom prst="line">
            <a:avLst/>
          </a:prstGeom>
          <a:ln w="12700" cap="flat" cmpd="sng">
            <a:solidFill>
              <a:schemeClr val="tx1"/>
            </a:solidFill>
            <a:prstDash val="solid"/>
            <a:headEnd type="stealth" w="sm" len="lg"/>
            <a:tailEnd type="stealth" w="med" len="lg"/>
          </a:ln>
        </p:spPr>
      </p:sp>
      <p:sp>
        <p:nvSpPr>
          <p:cNvPr id="19496" name="Text Box 83"/>
          <p:cNvSpPr txBox="1"/>
          <p:nvPr/>
        </p:nvSpPr>
        <p:spPr>
          <a:xfrm>
            <a:off x="5616575" y="3341688"/>
            <a:ext cx="433388"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ST</a:t>
            </a:r>
            <a:endParaRPr lang="en-US" altLang="zh-CN" sz="1800" baseline="-25000" dirty="0">
              <a:solidFill>
                <a:srgbClr val="FF0000"/>
              </a:solidFill>
              <a:latin typeface="Times New Roman" panose="02020603050405020304" pitchFamily="18" charset="0"/>
            </a:endParaRPr>
          </a:p>
        </p:txBody>
      </p:sp>
      <p:sp>
        <p:nvSpPr>
          <p:cNvPr id="19497" name="Text Box 84"/>
          <p:cNvSpPr txBox="1"/>
          <p:nvPr/>
        </p:nvSpPr>
        <p:spPr>
          <a:xfrm>
            <a:off x="5930900" y="5103813"/>
            <a:ext cx="711200"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19498" name="Line 85"/>
          <p:cNvSpPr/>
          <p:nvPr/>
        </p:nvSpPr>
        <p:spPr>
          <a:xfrm>
            <a:off x="5418138" y="5435600"/>
            <a:ext cx="1987550" cy="0"/>
          </a:xfrm>
          <a:prstGeom prst="line">
            <a:avLst/>
          </a:prstGeom>
          <a:ln w="31750" cap="flat" cmpd="sng">
            <a:solidFill>
              <a:srgbClr val="CC00CC"/>
            </a:solidFill>
            <a:prstDash val="solid"/>
            <a:headEnd type="none" w="med" len="med"/>
            <a:tailEnd type="none" w="med" len="med"/>
          </a:ln>
        </p:spPr>
      </p:sp>
      <p:sp>
        <p:nvSpPr>
          <p:cNvPr id="19499" name="Line 86"/>
          <p:cNvSpPr/>
          <p:nvPr/>
        </p:nvSpPr>
        <p:spPr>
          <a:xfrm>
            <a:off x="5418138" y="2505075"/>
            <a:ext cx="2638425" cy="0"/>
          </a:xfrm>
          <a:prstGeom prst="line">
            <a:avLst/>
          </a:prstGeom>
          <a:ln w="12700" cap="flat" cmpd="sng">
            <a:solidFill>
              <a:schemeClr val="tx1"/>
            </a:solidFill>
            <a:prstDash val="sysDot"/>
            <a:headEnd type="none" w="med" len="med"/>
            <a:tailEnd type="none" w="med" len="med"/>
          </a:ln>
        </p:spPr>
      </p:sp>
      <p:sp>
        <p:nvSpPr>
          <p:cNvPr id="19500" name="Line 87"/>
          <p:cNvSpPr/>
          <p:nvPr/>
        </p:nvSpPr>
        <p:spPr>
          <a:xfrm>
            <a:off x="4875213" y="3898900"/>
            <a:ext cx="146050" cy="0"/>
          </a:xfrm>
          <a:prstGeom prst="line">
            <a:avLst/>
          </a:prstGeom>
          <a:ln w="31750" cap="flat" cmpd="sng">
            <a:solidFill>
              <a:srgbClr val="FF0000"/>
            </a:solidFill>
            <a:prstDash val="solid"/>
            <a:headEnd type="none" w="med" len="med"/>
            <a:tailEnd type="none" w="med" len="med"/>
          </a:ln>
        </p:spPr>
      </p:sp>
      <p:sp>
        <p:nvSpPr>
          <p:cNvPr id="19501" name="Freeform 88"/>
          <p:cNvSpPr/>
          <p:nvPr/>
        </p:nvSpPr>
        <p:spPr>
          <a:xfrm>
            <a:off x="5414963" y="2274888"/>
            <a:ext cx="238125" cy="225425"/>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50" h="142">
                <a:moveTo>
                  <a:pt x="0" y="142"/>
                </a:moveTo>
                <a:cubicBezTo>
                  <a:pt x="4" y="137"/>
                  <a:pt x="19" y="120"/>
                  <a:pt x="27" y="111"/>
                </a:cubicBezTo>
                <a:cubicBezTo>
                  <a:pt x="35" y="102"/>
                  <a:pt x="40" y="95"/>
                  <a:pt x="47" y="87"/>
                </a:cubicBezTo>
                <a:cubicBezTo>
                  <a:pt x="54" y="79"/>
                  <a:pt x="62" y="70"/>
                  <a:pt x="69" y="63"/>
                </a:cubicBezTo>
                <a:cubicBezTo>
                  <a:pt x="76" y="56"/>
                  <a:pt x="82" y="50"/>
                  <a:pt x="90" y="43"/>
                </a:cubicBezTo>
                <a:cubicBezTo>
                  <a:pt x="98" y="36"/>
                  <a:pt x="107" y="25"/>
                  <a:pt x="117" y="18"/>
                </a:cubicBezTo>
                <a:cubicBezTo>
                  <a:pt x="127" y="11"/>
                  <a:pt x="143" y="4"/>
                  <a:pt x="150"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19502" name="Freeform 89"/>
          <p:cNvSpPr/>
          <p:nvPr/>
        </p:nvSpPr>
        <p:spPr>
          <a:xfrm>
            <a:off x="5653088" y="2271713"/>
            <a:ext cx="563562" cy="144462"/>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55" h="91">
                <a:moveTo>
                  <a:pt x="0" y="0"/>
                </a:moveTo>
                <a:cubicBezTo>
                  <a:pt x="5" y="1"/>
                  <a:pt x="22" y="3"/>
                  <a:pt x="31" y="9"/>
                </a:cubicBezTo>
                <a:cubicBezTo>
                  <a:pt x="40" y="15"/>
                  <a:pt x="46" y="31"/>
                  <a:pt x="53" y="39"/>
                </a:cubicBezTo>
                <a:cubicBezTo>
                  <a:pt x="59" y="47"/>
                  <a:pt x="63" y="53"/>
                  <a:pt x="68" y="59"/>
                </a:cubicBezTo>
                <a:cubicBezTo>
                  <a:pt x="73" y="64"/>
                  <a:pt x="77" y="69"/>
                  <a:pt x="82" y="73"/>
                </a:cubicBezTo>
                <a:cubicBezTo>
                  <a:pt x="88" y="77"/>
                  <a:pt x="95" y="80"/>
                  <a:pt x="101" y="83"/>
                </a:cubicBezTo>
                <a:cubicBezTo>
                  <a:pt x="107" y="86"/>
                  <a:pt x="112" y="91"/>
                  <a:pt x="119" y="91"/>
                </a:cubicBezTo>
                <a:cubicBezTo>
                  <a:pt x="125" y="90"/>
                  <a:pt x="137" y="85"/>
                  <a:pt x="141" y="81"/>
                </a:cubicBezTo>
                <a:cubicBezTo>
                  <a:pt x="146" y="77"/>
                  <a:pt x="142" y="72"/>
                  <a:pt x="145" y="66"/>
                </a:cubicBezTo>
                <a:cubicBezTo>
                  <a:pt x="148" y="60"/>
                  <a:pt x="155" y="52"/>
                  <a:pt x="159" y="46"/>
                </a:cubicBezTo>
                <a:cubicBezTo>
                  <a:pt x="164" y="41"/>
                  <a:pt x="167" y="39"/>
                  <a:pt x="171" y="34"/>
                </a:cubicBezTo>
                <a:cubicBezTo>
                  <a:pt x="174" y="30"/>
                  <a:pt x="175" y="23"/>
                  <a:pt x="182" y="19"/>
                </a:cubicBezTo>
                <a:cubicBezTo>
                  <a:pt x="188" y="15"/>
                  <a:pt x="199" y="12"/>
                  <a:pt x="208" y="12"/>
                </a:cubicBezTo>
                <a:cubicBezTo>
                  <a:pt x="216" y="12"/>
                  <a:pt x="225" y="15"/>
                  <a:pt x="233" y="19"/>
                </a:cubicBezTo>
                <a:cubicBezTo>
                  <a:pt x="241" y="23"/>
                  <a:pt x="248" y="31"/>
                  <a:pt x="255" y="34"/>
                </a:cubicBezTo>
                <a:cubicBezTo>
                  <a:pt x="263" y="37"/>
                  <a:pt x="270" y="35"/>
                  <a:pt x="277" y="36"/>
                </a:cubicBezTo>
                <a:cubicBezTo>
                  <a:pt x="285" y="38"/>
                  <a:pt x="292" y="42"/>
                  <a:pt x="299" y="44"/>
                </a:cubicBezTo>
                <a:cubicBezTo>
                  <a:pt x="307" y="46"/>
                  <a:pt x="313" y="48"/>
                  <a:pt x="322" y="49"/>
                </a:cubicBezTo>
                <a:cubicBezTo>
                  <a:pt x="331" y="50"/>
                  <a:pt x="350" y="51"/>
                  <a:pt x="355" y="51"/>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19503" name="Line 90"/>
          <p:cNvSpPr/>
          <p:nvPr/>
        </p:nvSpPr>
        <p:spPr>
          <a:xfrm>
            <a:off x="6213475" y="2351088"/>
            <a:ext cx="1497013" cy="0"/>
          </a:xfrm>
          <a:prstGeom prst="line">
            <a:avLst/>
          </a:prstGeom>
          <a:ln w="31750" cap="flat" cmpd="sng">
            <a:solidFill>
              <a:srgbClr val="FF0000"/>
            </a:solidFill>
            <a:prstDash val="solid"/>
            <a:headEnd type="none" w="med" len="med"/>
            <a:tailEnd type="none" w="med" len="med"/>
          </a:ln>
        </p:spPr>
      </p:sp>
      <p:sp>
        <p:nvSpPr>
          <p:cNvPr id="19504" name="Rectangle 91"/>
          <p:cNvSpPr/>
          <p:nvPr/>
        </p:nvSpPr>
        <p:spPr>
          <a:xfrm>
            <a:off x="5222875" y="5876925"/>
            <a:ext cx="2281238" cy="366713"/>
          </a:xfrm>
          <a:prstGeom prst="rect">
            <a:avLst/>
          </a:prstGeom>
          <a:noFill/>
          <a:ln w="9525">
            <a:noFill/>
          </a:ln>
        </p:spPr>
        <p:txBody>
          <a:bodyPr>
            <a:spAutoFit/>
          </a:bodyPr>
          <a:p>
            <a:pPr eaLnBrk="1" hangingPunct="1">
              <a:lnSpc>
                <a:spcPct val="90000"/>
              </a:lnSpc>
            </a:pPr>
            <a:r>
              <a:rPr lang="zh-CN" altLang="en-US" sz="2000" dirty="0">
                <a:solidFill>
                  <a:srgbClr val="000099"/>
                </a:solidFill>
                <a:latin typeface="Times New Roman" panose="02020603050405020304" pitchFamily="18" charset="0"/>
              </a:rPr>
              <a:t>采样／保持全过程</a:t>
            </a:r>
            <a:endParaRPr lang="zh-CN" altLang="en-US" sz="2000" dirty="0">
              <a:solidFill>
                <a:srgbClr val="000099"/>
              </a:solidFill>
              <a:latin typeface="Times New Roman" panose="02020603050405020304" pitchFamily="18" charset="0"/>
            </a:endParaRPr>
          </a:p>
        </p:txBody>
      </p:sp>
      <p:sp>
        <p:nvSpPr>
          <p:cNvPr id="19505" name="AutoShape 92"/>
          <p:cNvSpPr/>
          <p:nvPr/>
        </p:nvSpPr>
        <p:spPr>
          <a:xfrm>
            <a:off x="7616825" y="1531938"/>
            <a:ext cx="1223963" cy="439737"/>
          </a:xfrm>
          <a:prstGeom prst="wedgeRoundRectCallout">
            <a:avLst>
              <a:gd name="adj1" fmla="val -65306"/>
              <a:gd name="adj2" fmla="val 13483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77" name="Text Box 93"/>
          <p:cNvSpPr txBox="1">
            <a:spLocks noChangeArrowheads="1"/>
          </p:cNvSpPr>
          <p:nvPr/>
        </p:nvSpPr>
        <p:spPr bwMode="auto">
          <a:xfrm>
            <a:off x="7632700" y="1558925"/>
            <a:ext cx="1254125"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实际输出</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9507" name="AutoShape 94"/>
          <p:cNvSpPr/>
          <p:nvPr/>
        </p:nvSpPr>
        <p:spPr>
          <a:xfrm>
            <a:off x="7667625" y="2908300"/>
            <a:ext cx="1398588" cy="439738"/>
          </a:xfrm>
          <a:prstGeom prst="wedgeRoundRectCallout">
            <a:avLst>
              <a:gd name="adj1" fmla="val -56810"/>
              <a:gd name="adj2" fmla="val -13881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79" name="Text Box 95"/>
          <p:cNvSpPr txBox="1">
            <a:spLocks noChangeArrowheads="1"/>
          </p:cNvSpPr>
          <p:nvPr/>
        </p:nvSpPr>
        <p:spPr bwMode="auto">
          <a:xfrm>
            <a:off x="7646988" y="2949575"/>
            <a:ext cx="1497013"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希望的输出</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9509" name="AutoShape 96"/>
          <p:cNvSpPr/>
          <p:nvPr/>
        </p:nvSpPr>
        <p:spPr>
          <a:xfrm>
            <a:off x="7016750" y="4113213"/>
            <a:ext cx="1792288" cy="698500"/>
          </a:xfrm>
          <a:prstGeom prst="wedgeRoundRectCallout">
            <a:avLst>
              <a:gd name="adj1" fmla="val -109963"/>
              <a:gd name="adj2" fmla="val -98407"/>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81" name="Text Box 97"/>
          <p:cNvSpPr txBox="1">
            <a:spLocks noChangeArrowheads="1"/>
          </p:cNvSpPr>
          <p:nvPr/>
        </p:nvSpPr>
        <p:spPr bwMode="auto">
          <a:xfrm>
            <a:off x="6986588" y="4151313"/>
            <a:ext cx="1812925" cy="641350"/>
          </a:xfrm>
          <a:prstGeom prst="rect">
            <a:avLst/>
          </a:prstGeom>
          <a:noFill/>
          <a:ln>
            <a:noFill/>
          </a:ln>
          <a:effectLst/>
        </p:spPr>
        <p:txBody>
          <a:bodyPr>
            <a:spAutoFit/>
          </a:bodyPr>
          <a:lstStyle/>
          <a:p>
            <a:pPr marR="0" algn="ctr"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保持建立时间</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设定时间</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9511" name="Freeform 98"/>
          <p:cNvSpPr/>
          <p:nvPr/>
        </p:nvSpPr>
        <p:spPr>
          <a:xfrm>
            <a:off x="5251450" y="2500313"/>
            <a:ext cx="166688" cy="323850"/>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05" h="204">
                <a:moveTo>
                  <a:pt x="0" y="204"/>
                </a:moveTo>
                <a:cubicBezTo>
                  <a:pt x="4" y="196"/>
                  <a:pt x="19" y="168"/>
                  <a:pt x="25" y="156"/>
                </a:cubicBezTo>
                <a:cubicBezTo>
                  <a:pt x="31" y="144"/>
                  <a:pt x="35" y="140"/>
                  <a:pt x="39" y="131"/>
                </a:cubicBezTo>
                <a:cubicBezTo>
                  <a:pt x="43" y="122"/>
                  <a:pt x="44" y="111"/>
                  <a:pt x="48" y="101"/>
                </a:cubicBezTo>
                <a:cubicBezTo>
                  <a:pt x="52" y="91"/>
                  <a:pt x="56" y="81"/>
                  <a:pt x="61" y="69"/>
                </a:cubicBezTo>
                <a:cubicBezTo>
                  <a:pt x="66" y="57"/>
                  <a:pt x="75" y="40"/>
                  <a:pt x="81" y="30"/>
                </a:cubicBezTo>
                <a:cubicBezTo>
                  <a:pt x="87" y="20"/>
                  <a:pt x="92" y="13"/>
                  <a:pt x="96" y="8"/>
                </a:cubicBezTo>
                <a:cubicBezTo>
                  <a:pt x="100" y="3"/>
                  <a:pt x="104" y="1"/>
                  <a:pt x="105"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5933"/>
                                        </p:tgtEl>
                                        <p:attrNameLst>
                                          <p:attrName>style.visibility</p:attrName>
                                        </p:attrNameLst>
                                      </p:cBhvr>
                                      <p:to>
                                        <p:strVal val="visible"/>
                                      </p:to>
                                    </p:set>
                                    <p:animEffect transition="in" filter="dissolve">
                                      <p:cBhvr>
                                        <p:cTn id="7" dur="500"/>
                                        <p:tgtEl>
                                          <p:spTgt spid="22559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5934"/>
                                        </p:tgtEl>
                                        <p:attrNameLst>
                                          <p:attrName>style.visibility</p:attrName>
                                        </p:attrNameLst>
                                      </p:cBhvr>
                                      <p:to>
                                        <p:strVal val="visible"/>
                                      </p:to>
                                    </p:set>
                                    <p:animEffect transition="in" filter="dissolve">
                                      <p:cBhvr>
                                        <p:cTn id="12" dur="500"/>
                                        <p:tgtEl>
                                          <p:spTgt spid="22559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55931"/>
                                        </p:tgtEl>
                                        <p:attrNameLst>
                                          <p:attrName>style.visibility</p:attrName>
                                        </p:attrNameLst>
                                      </p:cBhvr>
                                      <p:to>
                                        <p:strVal val="visible"/>
                                      </p:to>
                                    </p:set>
                                    <p:animEffect transition="in" filter="dissolve">
                                      <p:cBhvr>
                                        <p:cTn id="17" dur="500"/>
                                        <p:tgtEl>
                                          <p:spTgt spid="225593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56001"/>
                                        </p:tgtEl>
                                        <p:attrNameLst>
                                          <p:attrName>style.visibility</p:attrName>
                                        </p:attrNameLst>
                                      </p:cBhvr>
                                      <p:to>
                                        <p:strVal val="visible"/>
                                      </p:to>
                                    </p:set>
                                    <p:animEffect transition="in" filter="dissolve">
                                      <p:cBhvr>
                                        <p:cTn id="22" dur="500"/>
                                        <p:tgtEl>
                                          <p:spTgt spid="2256001"/>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xit" presetSubtype="10" fill="hold" nodeType="clickEffect">
                                  <p:stCondLst>
                                    <p:cond delay="0"/>
                                  </p:stCondLst>
                                  <p:childTnLst>
                                    <p:animEffect transition="out" filter="blinds(horizontal)">
                                      <p:cBhvr>
                                        <p:cTn id="26" dur="500"/>
                                        <p:tgtEl>
                                          <p:spTgt spid="2256001"/>
                                        </p:tgtEl>
                                      </p:cBhvr>
                                    </p:animEffect>
                                    <p:set>
                                      <p:cBhvr>
                                        <p:cTn id="27" dur="1" fill="hold">
                                          <p:stCondLst>
                                            <p:cond delay="499"/>
                                          </p:stCondLst>
                                        </p:cTn>
                                        <p:tgtEl>
                                          <p:spTgt spid="225600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256003"/>
                                        </p:tgtEl>
                                        <p:attrNameLst>
                                          <p:attrName>style.visibility</p:attrName>
                                        </p:attrNameLst>
                                      </p:cBhvr>
                                      <p:to>
                                        <p:strVal val="visible"/>
                                      </p:to>
                                    </p:set>
                                    <p:animEffect transition="in" filter="dissolve">
                                      <p:cBhvr>
                                        <p:cTn id="32" dur="500"/>
                                        <p:tgtEl>
                                          <p:spTgt spid="2256003"/>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xit" presetSubtype="10" fill="hold" nodeType="clickEffect">
                                  <p:stCondLst>
                                    <p:cond delay="0"/>
                                  </p:stCondLst>
                                  <p:childTnLst>
                                    <p:animEffect transition="out" filter="blinds(horizontal)">
                                      <p:cBhvr>
                                        <p:cTn id="36" dur="500"/>
                                        <p:tgtEl>
                                          <p:spTgt spid="2256003"/>
                                        </p:tgtEl>
                                      </p:cBhvr>
                                    </p:animEffect>
                                    <p:set>
                                      <p:cBhvr>
                                        <p:cTn id="37" dur="1" fill="hold">
                                          <p:stCondLst>
                                            <p:cond delay="499"/>
                                          </p:stCondLst>
                                        </p:cTn>
                                        <p:tgtEl>
                                          <p:spTgt spid="2256003"/>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256007"/>
                                        </p:tgtEl>
                                        <p:attrNameLst>
                                          <p:attrName>style.visibility</p:attrName>
                                        </p:attrNameLst>
                                      </p:cBhvr>
                                      <p:to>
                                        <p:strVal val="visible"/>
                                      </p:to>
                                    </p:set>
                                    <p:animEffect transition="in" filter="dissolve">
                                      <p:cBhvr>
                                        <p:cTn id="42" dur="500"/>
                                        <p:tgtEl>
                                          <p:spTgt spid="2256007"/>
                                        </p:tgtEl>
                                      </p:cBhvr>
                                    </p:animEffect>
                                  </p:childTnLst>
                                </p:cTn>
                              </p:par>
                            </p:childTnLst>
                          </p:cTn>
                        </p:par>
                      </p:childTnLst>
                    </p:cTn>
                  </p:par>
                  <p:par>
                    <p:cTn id="43" fill="hold">
                      <p:stCondLst>
                        <p:cond delay="indefinite"/>
                      </p:stCondLst>
                      <p:childTnLst>
                        <p:par>
                          <p:cTn id="44" fill="hold">
                            <p:stCondLst>
                              <p:cond delay="0"/>
                            </p:stCondLst>
                            <p:childTnLst>
                              <p:par>
                                <p:cTn id="45" presetID="3" presetClass="exit" presetSubtype="10" fill="hold" nodeType="clickEffect">
                                  <p:stCondLst>
                                    <p:cond delay="0"/>
                                  </p:stCondLst>
                                  <p:childTnLst>
                                    <p:animEffect transition="out" filter="blinds(horizontal)">
                                      <p:cBhvr>
                                        <p:cTn id="46" dur="500"/>
                                        <p:tgtEl>
                                          <p:spTgt spid="2256007"/>
                                        </p:tgtEl>
                                      </p:cBhvr>
                                    </p:animEffect>
                                    <p:set>
                                      <p:cBhvr>
                                        <p:cTn id="47" dur="1" fill="hold">
                                          <p:stCondLst>
                                            <p:cond delay="499"/>
                                          </p:stCondLst>
                                        </p:cTn>
                                        <p:tgtEl>
                                          <p:spTgt spid="2256007"/>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256004"/>
                                        </p:tgtEl>
                                        <p:attrNameLst>
                                          <p:attrName>style.visibility</p:attrName>
                                        </p:attrNameLst>
                                      </p:cBhvr>
                                      <p:to>
                                        <p:strVal val="visible"/>
                                      </p:to>
                                    </p:set>
                                    <p:animEffect transition="in" filter="dissolve">
                                      <p:cBhvr>
                                        <p:cTn id="52" dur="500"/>
                                        <p:tgtEl>
                                          <p:spTgt spid="22560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931" grpId="0" animBg="1"/>
      <p:bldP spid="2255933" grpId="0" animBg="1"/>
      <p:bldP spid="2255934" grpId="0"/>
      <p:bldP spid="2256001" grpId="0"/>
      <p:bldP spid="2256001" grpId="1"/>
      <p:bldP spid="2256003" grpId="0" animBg="1"/>
      <p:bldP spid="2256003" grpId="1" animBg="1"/>
      <p:bldP spid="2256007" grpId="0" animBg="1"/>
      <p:bldP spid="2256007" grpId="1" animBg="1"/>
      <p:bldP spid="2256004"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0482" name="Text Box 4"/>
          <p:cNvSpPr txBox="1"/>
          <p:nvPr/>
        </p:nvSpPr>
        <p:spPr>
          <a:xfrm>
            <a:off x="250825" y="1989138"/>
            <a:ext cx="3203575" cy="18097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孔径时间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r>
              <a:rPr lang="zh-CN" altLang="en-US" sz="2800" dirty="0">
                <a:solidFill>
                  <a:schemeClr val="tx1"/>
                </a:solidFill>
                <a:latin typeface="黑体" panose="02010609060101010101" pitchFamily="49" charset="-122"/>
                <a:ea typeface="黑体" panose="02010609060101010101" pitchFamily="49" charset="-122"/>
              </a:rPr>
              <a:t>：保持指令给出瞬间到模拟开关有效切断所经历的时间。</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0483" name="Text Box 5"/>
          <p:cNvSpPr txBox="1"/>
          <p:nvPr/>
        </p:nvSpPr>
        <p:spPr>
          <a:xfrm>
            <a:off x="358775" y="728663"/>
            <a:ext cx="62277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
        <p:nvSpPr>
          <p:cNvPr id="20484" name="Text Box 6"/>
          <p:cNvSpPr txBox="1"/>
          <p:nvPr/>
        </p:nvSpPr>
        <p:spPr>
          <a:xfrm>
            <a:off x="647700" y="1397000"/>
            <a:ext cx="3419475"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1.</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孔径时间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endParaRPr lang="en-US" altLang="zh-CN" sz="2800" baseline="-25000" dirty="0">
              <a:solidFill>
                <a:srgbClr val="FF0000"/>
              </a:solidFill>
              <a:latin typeface="Times New Roman" panose="02020603050405020304" pitchFamily="18" charset="0"/>
              <a:ea typeface="黑体" panose="02010609060101010101" pitchFamily="49" charset="-122"/>
            </a:endParaRPr>
          </a:p>
        </p:txBody>
      </p:sp>
      <p:sp>
        <p:nvSpPr>
          <p:cNvPr id="2422791" name="Text Box 7"/>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2833" name="Text Box 49"/>
          <p:cNvSpPr txBox="1"/>
          <p:nvPr/>
        </p:nvSpPr>
        <p:spPr>
          <a:xfrm>
            <a:off x="177800" y="3921125"/>
            <a:ext cx="3349625" cy="1406525"/>
          </a:xfrm>
          <a:prstGeom prst="rect">
            <a:avLst/>
          </a:prstGeom>
          <a:solidFill>
            <a:schemeClr val="bg1"/>
          </a:solid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为了量化的准确，应在发出保持指令后延迟一段时间，再启动</a:t>
            </a:r>
            <a:r>
              <a:rPr lang="en-US" altLang="zh-CN" sz="2400" dirty="0">
                <a:latin typeface="Times New Roman" panose="02020603050405020304" pitchFamily="18" charset="0"/>
              </a:rPr>
              <a:t>A/D</a:t>
            </a:r>
            <a:r>
              <a:rPr lang="zh-CN" altLang="en-US" sz="2400" dirty="0">
                <a:latin typeface="Times New Roman" panose="02020603050405020304" pitchFamily="18" charset="0"/>
              </a:rPr>
              <a:t>转换。</a:t>
            </a:r>
            <a:endParaRPr lang="zh-CN" altLang="en-US" sz="2400" dirty="0">
              <a:latin typeface="Times New Roman" panose="02020603050405020304" pitchFamily="18" charset="0"/>
            </a:endParaRPr>
          </a:p>
        </p:txBody>
      </p:sp>
      <p:sp>
        <p:nvSpPr>
          <p:cNvPr id="2422834" name="Text Box 50"/>
          <p:cNvSpPr txBox="1"/>
          <p:nvPr/>
        </p:nvSpPr>
        <p:spPr>
          <a:xfrm>
            <a:off x="142875" y="3808413"/>
            <a:ext cx="3457575" cy="2392362"/>
          </a:xfrm>
          <a:prstGeom prst="rect">
            <a:avLst/>
          </a:prstGeom>
          <a:solidFill>
            <a:schemeClr val="bg1"/>
          </a:solid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latin typeface="Times New Roman" panose="02020603050405020304" pitchFamily="18" charset="0"/>
              </a:rPr>
              <a:t>孔径时间只是使采样时刻延迟，如果每次采样的延迟时间都相同，则对总的采样结果的精确性不会有影响。改变保持指令发出时间，即可消除孔径时间。</a:t>
            </a:r>
            <a:endParaRPr lang="zh-CN" altLang="en-US" sz="2400" dirty="0">
              <a:latin typeface="Times New Roman" panose="02020603050405020304" pitchFamily="18" charset="0"/>
            </a:endParaRPr>
          </a:p>
        </p:txBody>
      </p:sp>
      <p:sp>
        <p:nvSpPr>
          <p:cNvPr id="20488" name="Rectangle 53"/>
          <p:cNvSpPr/>
          <p:nvPr/>
        </p:nvSpPr>
        <p:spPr>
          <a:xfrm>
            <a:off x="3635375" y="1341438"/>
            <a:ext cx="5473700" cy="486727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0489" name="AutoShape 54"/>
          <p:cNvSpPr/>
          <p:nvPr/>
        </p:nvSpPr>
        <p:spPr>
          <a:xfrm>
            <a:off x="4449763" y="1352550"/>
            <a:ext cx="1223962" cy="439738"/>
          </a:xfrm>
          <a:prstGeom prst="wedgeRoundRectCallout">
            <a:avLst>
              <a:gd name="adj1" fmla="val 58949"/>
              <a:gd name="adj2" fmla="val 13700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0490" name="Line 55"/>
          <p:cNvSpPr/>
          <p:nvPr/>
        </p:nvSpPr>
        <p:spPr>
          <a:xfrm>
            <a:off x="3775075" y="5448300"/>
            <a:ext cx="4267200" cy="0"/>
          </a:xfrm>
          <a:prstGeom prst="line">
            <a:avLst/>
          </a:prstGeom>
          <a:ln w="9525" cap="flat" cmpd="sng">
            <a:solidFill>
              <a:srgbClr val="0000FF"/>
            </a:solidFill>
            <a:prstDash val="solid"/>
            <a:headEnd type="none" w="med" len="med"/>
            <a:tailEnd type="stealth" w="sm" len="lg"/>
          </a:ln>
        </p:spPr>
      </p:sp>
      <p:sp>
        <p:nvSpPr>
          <p:cNvPr id="20491" name="Text Box 56"/>
          <p:cNvSpPr txBox="1"/>
          <p:nvPr/>
        </p:nvSpPr>
        <p:spPr>
          <a:xfrm>
            <a:off x="8043863" y="5275263"/>
            <a:ext cx="2540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0492" name="Line 57"/>
          <p:cNvSpPr/>
          <p:nvPr/>
        </p:nvSpPr>
        <p:spPr>
          <a:xfrm flipV="1">
            <a:off x="3775075" y="1830388"/>
            <a:ext cx="0" cy="3617912"/>
          </a:xfrm>
          <a:prstGeom prst="line">
            <a:avLst/>
          </a:prstGeom>
          <a:ln w="9525" cap="flat" cmpd="sng">
            <a:solidFill>
              <a:srgbClr val="0000FF"/>
            </a:solidFill>
            <a:prstDash val="solid"/>
            <a:headEnd type="none" w="med" len="med"/>
            <a:tailEnd type="stealth" w="sm" len="lg"/>
          </a:ln>
        </p:spPr>
      </p:sp>
      <p:sp>
        <p:nvSpPr>
          <p:cNvPr id="20493" name="Text Box 58"/>
          <p:cNvSpPr txBox="1"/>
          <p:nvPr/>
        </p:nvSpPr>
        <p:spPr>
          <a:xfrm>
            <a:off x="3600450" y="1449388"/>
            <a:ext cx="3683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20494" name="Freeform 59"/>
          <p:cNvSpPr/>
          <p:nvPr/>
        </p:nvSpPr>
        <p:spPr>
          <a:xfrm>
            <a:off x="3775075" y="2143125"/>
            <a:ext cx="2889250" cy="2425700"/>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820" h="1528">
                <a:moveTo>
                  <a:pt x="0" y="1406"/>
                </a:moveTo>
                <a:cubicBezTo>
                  <a:pt x="14" y="1423"/>
                  <a:pt x="28" y="1441"/>
                  <a:pt x="50" y="1456"/>
                </a:cubicBezTo>
                <a:cubicBezTo>
                  <a:pt x="72" y="1471"/>
                  <a:pt x="112" y="1488"/>
                  <a:pt x="134" y="1498"/>
                </a:cubicBezTo>
                <a:cubicBezTo>
                  <a:pt x="156" y="1508"/>
                  <a:pt x="167" y="1511"/>
                  <a:pt x="184" y="1515"/>
                </a:cubicBezTo>
                <a:cubicBezTo>
                  <a:pt x="201" y="1519"/>
                  <a:pt x="217" y="1522"/>
                  <a:pt x="234" y="1523"/>
                </a:cubicBezTo>
                <a:cubicBezTo>
                  <a:pt x="251" y="1524"/>
                  <a:pt x="266" y="1523"/>
                  <a:pt x="284" y="1523"/>
                </a:cubicBezTo>
                <a:cubicBezTo>
                  <a:pt x="302" y="1523"/>
                  <a:pt x="320" y="1528"/>
                  <a:pt x="342" y="1523"/>
                </a:cubicBezTo>
                <a:cubicBezTo>
                  <a:pt x="364" y="1518"/>
                  <a:pt x="396" y="1501"/>
                  <a:pt x="417" y="1490"/>
                </a:cubicBezTo>
                <a:cubicBezTo>
                  <a:pt x="438" y="1479"/>
                  <a:pt x="450" y="1469"/>
                  <a:pt x="468" y="1456"/>
                </a:cubicBezTo>
                <a:cubicBezTo>
                  <a:pt x="486" y="1443"/>
                  <a:pt x="505" y="1433"/>
                  <a:pt x="526" y="1414"/>
                </a:cubicBezTo>
                <a:cubicBezTo>
                  <a:pt x="547" y="1395"/>
                  <a:pt x="574" y="1365"/>
                  <a:pt x="593" y="1339"/>
                </a:cubicBezTo>
                <a:cubicBezTo>
                  <a:pt x="612" y="1313"/>
                  <a:pt x="625" y="1288"/>
                  <a:pt x="643" y="1256"/>
                </a:cubicBezTo>
                <a:cubicBezTo>
                  <a:pt x="661" y="1224"/>
                  <a:pt x="675" y="1214"/>
                  <a:pt x="701" y="1147"/>
                </a:cubicBezTo>
                <a:cubicBezTo>
                  <a:pt x="727" y="1080"/>
                  <a:pt x="775" y="937"/>
                  <a:pt x="801" y="855"/>
                </a:cubicBezTo>
                <a:cubicBezTo>
                  <a:pt x="827" y="773"/>
                  <a:pt x="836" y="726"/>
                  <a:pt x="860" y="655"/>
                </a:cubicBezTo>
                <a:cubicBezTo>
                  <a:pt x="884" y="584"/>
                  <a:pt x="922" y="486"/>
                  <a:pt x="943" y="429"/>
                </a:cubicBezTo>
                <a:cubicBezTo>
                  <a:pt x="964" y="372"/>
                  <a:pt x="968" y="349"/>
                  <a:pt x="985" y="313"/>
                </a:cubicBezTo>
                <a:cubicBezTo>
                  <a:pt x="1002" y="277"/>
                  <a:pt x="1019" y="246"/>
                  <a:pt x="1044" y="212"/>
                </a:cubicBezTo>
                <a:cubicBezTo>
                  <a:pt x="1069" y="178"/>
                  <a:pt x="1109" y="136"/>
                  <a:pt x="1135" y="112"/>
                </a:cubicBezTo>
                <a:cubicBezTo>
                  <a:pt x="1161" y="88"/>
                  <a:pt x="1180" y="84"/>
                  <a:pt x="1202" y="70"/>
                </a:cubicBezTo>
                <a:cubicBezTo>
                  <a:pt x="1224" y="56"/>
                  <a:pt x="1249" y="37"/>
                  <a:pt x="1269" y="29"/>
                </a:cubicBezTo>
                <a:cubicBezTo>
                  <a:pt x="1289" y="21"/>
                  <a:pt x="1297" y="24"/>
                  <a:pt x="1319" y="20"/>
                </a:cubicBezTo>
                <a:cubicBezTo>
                  <a:pt x="1341" y="16"/>
                  <a:pt x="1364" y="0"/>
                  <a:pt x="1403" y="4"/>
                </a:cubicBezTo>
                <a:cubicBezTo>
                  <a:pt x="1442" y="8"/>
                  <a:pt x="1513" y="27"/>
                  <a:pt x="1553" y="45"/>
                </a:cubicBezTo>
                <a:cubicBezTo>
                  <a:pt x="1593" y="63"/>
                  <a:pt x="1613" y="86"/>
                  <a:pt x="1645" y="112"/>
                </a:cubicBezTo>
                <a:cubicBezTo>
                  <a:pt x="1677" y="138"/>
                  <a:pt x="1716" y="166"/>
                  <a:pt x="1745" y="204"/>
                </a:cubicBezTo>
                <a:cubicBezTo>
                  <a:pt x="1774" y="242"/>
                  <a:pt x="1808" y="316"/>
                  <a:pt x="1820" y="338"/>
                </a:cubicBezTo>
              </a:path>
            </a:pathLst>
          </a:custGeom>
          <a:noFill/>
          <a:ln w="19050" cap="flat" cmpd="sng">
            <a:solidFill>
              <a:srgbClr val="0000FF">
                <a:alpha val="100000"/>
              </a:srgbClr>
            </a:solidFill>
            <a:prstDash val="dash"/>
            <a:round/>
            <a:headEnd type="none" w="med" len="med"/>
            <a:tailEnd type="none" w="med" len="med"/>
          </a:ln>
        </p:spPr>
        <p:txBody>
          <a:bodyPr/>
          <a:p>
            <a:endParaRPr lang="zh-CN" altLang="en-US"/>
          </a:p>
        </p:txBody>
      </p:sp>
      <p:sp>
        <p:nvSpPr>
          <p:cNvPr id="20495" name="Line 60"/>
          <p:cNvSpPr/>
          <p:nvPr/>
        </p:nvSpPr>
        <p:spPr>
          <a:xfrm>
            <a:off x="3775075" y="3898900"/>
            <a:ext cx="1139825" cy="0"/>
          </a:xfrm>
          <a:prstGeom prst="line">
            <a:avLst/>
          </a:prstGeom>
          <a:ln w="31750" cap="flat" cmpd="sng">
            <a:solidFill>
              <a:srgbClr val="FF0000"/>
            </a:solidFill>
            <a:prstDash val="solid"/>
            <a:headEnd type="none" w="med" len="med"/>
            <a:tailEnd type="none" w="med" len="med"/>
          </a:ln>
        </p:spPr>
      </p:sp>
      <p:sp>
        <p:nvSpPr>
          <p:cNvPr id="20496" name="Arc 61"/>
          <p:cNvSpPr/>
          <p:nvPr/>
        </p:nvSpPr>
        <p:spPr>
          <a:xfrm flipV="1">
            <a:off x="5021263" y="3725863"/>
            <a:ext cx="157162" cy="173037"/>
          </a:xfrm>
          <a:custGeom>
            <a:avLst/>
            <a:gdLst/>
            <a:ahLst/>
            <a:cxnLst>
              <a:cxn ang="0">
                <a:pos x="0" y="0"/>
              </a:cxn>
              <a:cxn ang="0">
                <a:pos x="2147483646" y="2147483646"/>
              </a:cxn>
              <a:cxn ang="0">
                <a:pos x="0" y="2147483646"/>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0497" name="Freeform 62"/>
          <p:cNvSpPr/>
          <p:nvPr/>
        </p:nvSpPr>
        <p:spPr>
          <a:xfrm>
            <a:off x="5180013" y="2819400"/>
            <a:ext cx="71437" cy="908050"/>
          </a:xfrm>
          <a:custGeom>
            <a:avLst/>
            <a:gdLst/>
            <a:ahLst/>
            <a:cxnLst>
              <a:cxn ang="0">
                <a:pos x="0" y="2147483646"/>
              </a:cxn>
              <a:cxn ang="0">
                <a:pos x="2147483646" y="2147483646"/>
              </a:cxn>
              <a:cxn ang="0">
                <a:pos x="2147483646" y="0"/>
              </a:cxn>
            </a:cxnLst>
            <a:pathLst>
              <a:path w="45" h="572">
                <a:moveTo>
                  <a:pt x="0" y="572"/>
                </a:moveTo>
                <a:lnTo>
                  <a:pt x="37" y="54"/>
                </a:lnTo>
                <a:lnTo>
                  <a:pt x="45"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0498" name="Line 63"/>
          <p:cNvSpPr/>
          <p:nvPr/>
        </p:nvSpPr>
        <p:spPr>
          <a:xfrm>
            <a:off x="7046913" y="1658938"/>
            <a:ext cx="0" cy="703262"/>
          </a:xfrm>
          <a:prstGeom prst="line">
            <a:avLst/>
          </a:prstGeom>
          <a:ln w="9525" cap="flat" cmpd="sng">
            <a:solidFill>
              <a:srgbClr val="0000FF"/>
            </a:solidFill>
            <a:prstDash val="solid"/>
            <a:headEnd type="none" w="med" len="med"/>
            <a:tailEnd type="stealth" w="sm" len="lg"/>
          </a:ln>
        </p:spPr>
      </p:sp>
      <p:sp>
        <p:nvSpPr>
          <p:cNvPr id="20499" name="Line 64"/>
          <p:cNvSpPr/>
          <p:nvPr/>
        </p:nvSpPr>
        <p:spPr>
          <a:xfrm flipV="1">
            <a:off x="7046913" y="2506663"/>
            <a:ext cx="0" cy="530225"/>
          </a:xfrm>
          <a:prstGeom prst="line">
            <a:avLst/>
          </a:prstGeom>
          <a:ln w="9525" cap="flat" cmpd="sng">
            <a:solidFill>
              <a:srgbClr val="0000FF"/>
            </a:solidFill>
            <a:prstDash val="solid"/>
            <a:headEnd type="none" w="med" len="med"/>
            <a:tailEnd type="stealth" w="sm" len="lg"/>
          </a:ln>
        </p:spPr>
      </p:sp>
      <p:sp>
        <p:nvSpPr>
          <p:cNvPr id="20500" name="Text Box 65"/>
          <p:cNvSpPr txBox="1"/>
          <p:nvPr/>
        </p:nvSpPr>
        <p:spPr>
          <a:xfrm rot="-5400000">
            <a:off x="6350000" y="1704975"/>
            <a:ext cx="1050925" cy="312738"/>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孔径误差</a:t>
            </a:r>
            <a:endParaRPr lang="zh-CN" altLang="en-US" sz="1600" dirty="0">
              <a:latin typeface="Times New Roman" panose="02020603050405020304" pitchFamily="18" charset="0"/>
            </a:endParaRPr>
          </a:p>
        </p:txBody>
      </p:sp>
      <p:sp>
        <p:nvSpPr>
          <p:cNvPr id="2422850" name="Text Box 66"/>
          <p:cNvSpPr txBox="1">
            <a:spLocks noChangeArrowheads="1"/>
          </p:cNvSpPr>
          <p:nvPr/>
        </p:nvSpPr>
        <p:spPr bwMode="auto">
          <a:xfrm>
            <a:off x="4467225" y="1376363"/>
            <a:ext cx="1216025"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模拟信号</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0502" name="Line 67"/>
          <p:cNvSpPr/>
          <p:nvPr/>
        </p:nvSpPr>
        <p:spPr>
          <a:xfrm>
            <a:off x="3775075" y="5435600"/>
            <a:ext cx="1139825" cy="0"/>
          </a:xfrm>
          <a:prstGeom prst="line">
            <a:avLst/>
          </a:prstGeom>
          <a:ln w="31750" cap="flat" cmpd="sng">
            <a:solidFill>
              <a:srgbClr val="CC00CC"/>
            </a:solidFill>
            <a:prstDash val="solid"/>
            <a:headEnd type="none" w="med" len="med"/>
            <a:tailEnd type="none" w="med" len="med"/>
          </a:ln>
        </p:spPr>
      </p:sp>
      <p:sp>
        <p:nvSpPr>
          <p:cNvPr id="20503" name="Text Box 68"/>
          <p:cNvSpPr txBox="1"/>
          <p:nvPr/>
        </p:nvSpPr>
        <p:spPr>
          <a:xfrm>
            <a:off x="4016375" y="5083175"/>
            <a:ext cx="682625"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0504" name="Line 69"/>
          <p:cNvSpPr/>
          <p:nvPr/>
        </p:nvSpPr>
        <p:spPr>
          <a:xfrm flipV="1">
            <a:off x="4914900" y="4759325"/>
            <a:ext cx="0" cy="676275"/>
          </a:xfrm>
          <a:prstGeom prst="line">
            <a:avLst/>
          </a:prstGeom>
          <a:ln w="31750" cap="flat" cmpd="sng">
            <a:solidFill>
              <a:srgbClr val="CC00CC"/>
            </a:solidFill>
            <a:prstDash val="solid"/>
            <a:headEnd type="none" w="med" len="med"/>
            <a:tailEnd type="none" w="med" len="med"/>
          </a:ln>
        </p:spPr>
      </p:sp>
      <p:sp>
        <p:nvSpPr>
          <p:cNvPr id="20505" name="Line 70"/>
          <p:cNvSpPr/>
          <p:nvPr/>
        </p:nvSpPr>
        <p:spPr>
          <a:xfrm flipV="1">
            <a:off x="4914900" y="3898900"/>
            <a:ext cx="0" cy="874713"/>
          </a:xfrm>
          <a:prstGeom prst="line">
            <a:avLst/>
          </a:prstGeom>
          <a:ln w="9525" cap="flat" cmpd="sng">
            <a:solidFill>
              <a:srgbClr val="008080"/>
            </a:solidFill>
            <a:prstDash val="sysDot"/>
            <a:headEnd type="none" w="med" len="med"/>
            <a:tailEnd type="none" w="med" len="med"/>
          </a:ln>
        </p:spPr>
      </p:sp>
      <p:sp>
        <p:nvSpPr>
          <p:cNvPr id="20506" name="Line 71"/>
          <p:cNvSpPr/>
          <p:nvPr/>
        </p:nvSpPr>
        <p:spPr>
          <a:xfrm>
            <a:off x="4927600" y="4773613"/>
            <a:ext cx="490538" cy="0"/>
          </a:xfrm>
          <a:prstGeom prst="line">
            <a:avLst/>
          </a:prstGeom>
          <a:ln w="31750" cap="flat" cmpd="sng">
            <a:solidFill>
              <a:srgbClr val="CC00CC"/>
            </a:solidFill>
            <a:prstDash val="solid"/>
            <a:headEnd type="none" w="med" len="med"/>
            <a:tailEnd type="none" w="med" len="med"/>
          </a:ln>
        </p:spPr>
      </p:sp>
      <p:sp>
        <p:nvSpPr>
          <p:cNvPr id="20507" name="Text Box 72"/>
          <p:cNvSpPr txBox="1"/>
          <p:nvPr/>
        </p:nvSpPr>
        <p:spPr>
          <a:xfrm>
            <a:off x="4845050" y="4773613"/>
            <a:ext cx="682625"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跟踪</a:t>
            </a:r>
            <a:endParaRPr lang="zh-CN" altLang="en-US" sz="1800" dirty="0">
              <a:latin typeface="Times New Roman" panose="02020603050405020304" pitchFamily="18" charset="0"/>
            </a:endParaRPr>
          </a:p>
        </p:txBody>
      </p:sp>
      <p:sp>
        <p:nvSpPr>
          <p:cNvPr id="20508" name="Line 73"/>
          <p:cNvSpPr/>
          <p:nvPr/>
        </p:nvSpPr>
        <p:spPr>
          <a:xfrm flipV="1">
            <a:off x="5418138" y="5514975"/>
            <a:ext cx="0" cy="330200"/>
          </a:xfrm>
          <a:prstGeom prst="line">
            <a:avLst/>
          </a:prstGeom>
          <a:ln w="19050" cap="flat" cmpd="sng">
            <a:solidFill>
              <a:srgbClr val="FF0000"/>
            </a:solidFill>
            <a:prstDash val="solid"/>
            <a:headEnd type="none" w="med" len="med"/>
            <a:tailEnd type="triangle" w="sm" len="lg"/>
          </a:ln>
        </p:spPr>
      </p:sp>
      <p:sp>
        <p:nvSpPr>
          <p:cNvPr id="20509" name="Text Box 74"/>
          <p:cNvSpPr txBox="1"/>
          <p:nvPr/>
        </p:nvSpPr>
        <p:spPr>
          <a:xfrm>
            <a:off x="5391150" y="5537200"/>
            <a:ext cx="2025650" cy="339725"/>
          </a:xfrm>
          <a:prstGeom prst="rect">
            <a:avLst/>
          </a:prstGeom>
          <a:noFill/>
          <a:ln w="9525">
            <a:noFill/>
          </a:ln>
        </p:spPr>
        <p:txBody>
          <a:bodyPr wrap="none">
            <a:spAutoFit/>
          </a:bodyPr>
          <a:p>
            <a:pPr eaLnBrk="1" hangingPunct="1">
              <a:lnSpc>
                <a:spcPct val="90000"/>
              </a:lnSpc>
            </a:pPr>
            <a:r>
              <a:rPr lang="zh-CN" altLang="en-US" sz="1800" dirty="0">
                <a:solidFill>
                  <a:srgbClr val="FF0000"/>
                </a:solidFill>
                <a:latin typeface="Times New Roman" panose="02020603050405020304" pitchFamily="18" charset="0"/>
              </a:rPr>
              <a:t>保持指令发出时刻</a:t>
            </a:r>
            <a:endParaRPr lang="zh-CN" altLang="en-US" sz="1800" dirty="0">
              <a:solidFill>
                <a:srgbClr val="FF0000"/>
              </a:solidFill>
              <a:latin typeface="Times New Roman" panose="02020603050405020304" pitchFamily="18" charset="0"/>
            </a:endParaRPr>
          </a:p>
        </p:txBody>
      </p:sp>
      <p:sp>
        <p:nvSpPr>
          <p:cNvPr id="20510" name="Line 75"/>
          <p:cNvSpPr/>
          <p:nvPr/>
        </p:nvSpPr>
        <p:spPr>
          <a:xfrm>
            <a:off x="5418138" y="4773613"/>
            <a:ext cx="0" cy="661987"/>
          </a:xfrm>
          <a:prstGeom prst="line">
            <a:avLst/>
          </a:prstGeom>
          <a:ln w="31750" cap="flat" cmpd="sng">
            <a:solidFill>
              <a:srgbClr val="CC00CC"/>
            </a:solidFill>
            <a:prstDash val="solid"/>
            <a:headEnd type="none" w="med" len="med"/>
            <a:tailEnd type="none" w="med" len="med"/>
          </a:ln>
        </p:spPr>
      </p:sp>
      <p:sp>
        <p:nvSpPr>
          <p:cNvPr id="20511" name="Line 76"/>
          <p:cNvSpPr/>
          <p:nvPr/>
        </p:nvSpPr>
        <p:spPr>
          <a:xfrm flipV="1">
            <a:off x="5418138" y="2505075"/>
            <a:ext cx="0" cy="2268538"/>
          </a:xfrm>
          <a:prstGeom prst="line">
            <a:avLst/>
          </a:prstGeom>
          <a:ln w="9525" cap="flat" cmpd="sng">
            <a:solidFill>
              <a:srgbClr val="008080"/>
            </a:solidFill>
            <a:prstDash val="sysDot"/>
            <a:headEnd type="none" w="med" len="med"/>
            <a:tailEnd type="none" w="med" len="med"/>
          </a:ln>
        </p:spPr>
      </p:sp>
      <p:sp>
        <p:nvSpPr>
          <p:cNvPr id="20512" name="Line 77"/>
          <p:cNvSpPr/>
          <p:nvPr/>
        </p:nvSpPr>
        <p:spPr>
          <a:xfrm>
            <a:off x="5656263" y="2266950"/>
            <a:ext cx="1587" cy="2533650"/>
          </a:xfrm>
          <a:prstGeom prst="line">
            <a:avLst/>
          </a:prstGeom>
          <a:ln w="9525" cap="flat" cmpd="sng">
            <a:solidFill>
              <a:srgbClr val="FF0000"/>
            </a:solidFill>
            <a:prstDash val="sysDot"/>
            <a:headEnd type="none" w="med" len="med"/>
            <a:tailEnd type="none" w="med" len="med"/>
          </a:ln>
        </p:spPr>
      </p:sp>
      <p:sp>
        <p:nvSpPr>
          <p:cNvPr id="20513" name="Line 78"/>
          <p:cNvSpPr/>
          <p:nvPr/>
        </p:nvSpPr>
        <p:spPr>
          <a:xfrm>
            <a:off x="5219700" y="4640263"/>
            <a:ext cx="198438" cy="0"/>
          </a:xfrm>
          <a:prstGeom prst="line">
            <a:avLst/>
          </a:prstGeom>
          <a:ln w="12700" cap="flat" cmpd="sng">
            <a:solidFill>
              <a:schemeClr val="tx1"/>
            </a:solidFill>
            <a:prstDash val="solid"/>
            <a:headEnd type="none" w="med" len="med"/>
            <a:tailEnd type="stealth" w="med" len="lg"/>
          </a:ln>
        </p:spPr>
      </p:sp>
      <p:sp>
        <p:nvSpPr>
          <p:cNvPr id="20514" name="Line 79"/>
          <p:cNvSpPr/>
          <p:nvPr/>
        </p:nvSpPr>
        <p:spPr>
          <a:xfrm flipH="1">
            <a:off x="5657850" y="4640263"/>
            <a:ext cx="411163" cy="0"/>
          </a:xfrm>
          <a:prstGeom prst="line">
            <a:avLst/>
          </a:prstGeom>
          <a:ln w="12700" cap="flat" cmpd="sng">
            <a:solidFill>
              <a:schemeClr val="tx1"/>
            </a:solidFill>
            <a:prstDash val="solid"/>
            <a:headEnd type="none" w="med" len="med"/>
            <a:tailEnd type="stealth" w="med" len="lg"/>
          </a:ln>
        </p:spPr>
      </p:sp>
      <p:sp>
        <p:nvSpPr>
          <p:cNvPr id="20515" name="Text Box 80"/>
          <p:cNvSpPr txBox="1"/>
          <p:nvPr/>
        </p:nvSpPr>
        <p:spPr>
          <a:xfrm>
            <a:off x="5684838" y="4303713"/>
            <a:ext cx="4508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0516" name="Line 81"/>
          <p:cNvSpPr/>
          <p:nvPr/>
        </p:nvSpPr>
        <p:spPr>
          <a:xfrm flipH="1">
            <a:off x="6213475" y="2351088"/>
            <a:ext cx="3175" cy="1455737"/>
          </a:xfrm>
          <a:prstGeom prst="line">
            <a:avLst/>
          </a:prstGeom>
          <a:ln w="9525" cap="flat" cmpd="sng">
            <a:solidFill>
              <a:srgbClr val="FF0000"/>
            </a:solidFill>
            <a:prstDash val="sysDot"/>
            <a:headEnd type="none" w="med" len="med"/>
            <a:tailEnd type="none" w="med" len="med"/>
          </a:ln>
        </p:spPr>
      </p:sp>
      <p:sp>
        <p:nvSpPr>
          <p:cNvPr id="20517" name="Line 82"/>
          <p:cNvSpPr/>
          <p:nvPr/>
        </p:nvSpPr>
        <p:spPr>
          <a:xfrm>
            <a:off x="5646738" y="3676650"/>
            <a:ext cx="566737" cy="9525"/>
          </a:xfrm>
          <a:prstGeom prst="line">
            <a:avLst/>
          </a:prstGeom>
          <a:ln w="12700" cap="flat" cmpd="sng">
            <a:solidFill>
              <a:schemeClr val="tx1"/>
            </a:solidFill>
            <a:prstDash val="solid"/>
            <a:headEnd type="stealth" w="sm" len="lg"/>
            <a:tailEnd type="stealth" w="med" len="lg"/>
          </a:ln>
        </p:spPr>
      </p:sp>
      <p:sp>
        <p:nvSpPr>
          <p:cNvPr id="20518" name="Text Box 83"/>
          <p:cNvSpPr txBox="1"/>
          <p:nvPr/>
        </p:nvSpPr>
        <p:spPr>
          <a:xfrm>
            <a:off x="5616575" y="3341688"/>
            <a:ext cx="433388"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ST</a:t>
            </a:r>
            <a:endParaRPr lang="en-US" altLang="zh-CN" sz="1800" baseline="-25000" dirty="0">
              <a:solidFill>
                <a:srgbClr val="FF0000"/>
              </a:solidFill>
              <a:latin typeface="Times New Roman" panose="02020603050405020304" pitchFamily="18" charset="0"/>
            </a:endParaRPr>
          </a:p>
        </p:txBody>
      </p:sp>
      <p:sp>
        <p:nvSpPr>
          <p:cNvPr id="20519" name="Text Box 84"/>
          <p:cNvSpPr txBox="1"/>
          <p:nvPr/>
        </p:nvSpPr>
        <p:spPr>
          <a:xfrm>
            <a:off x="5930900" y="5103813"/>
            <a:ext cx="711200" cy="33972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0520" name="Line 85"/>
          <p:cNvSpPr/>
          <p:nvPr/>
        </p:nvSpPr>
        <p:spPr>
          <a:xfrm>
            <a:off x="5418138" y="5435600"/>
            <a:ext cx="1987550" cy="0"/>
          </a:xfrm>
          <a:prstGeom prst="line">
            <a:avLst/>
          </a:prstGeom>
          <a:ln w="31750" cap="flat" cmpd="sng">
            <a:solidFill>
              <a:srgbClr val="CC00CC"/>
            </a:solidFill>
            <a:prstDash val="solid"/>
            <a:headEnd type="none" w="med" len="med"/>
            <a:tailEnd type="none" w="med" len="med"/>
          </a:ln>
        </p:spPr>
      </p:sp>
      <p:sp>
        <p:nvSpPr>
          <p:cNvPr id="20521" name="Line 86"/>
          <p:cNvSpPr/>
          <p:nvPr/>
        </p:nvSpPr>
        <p:spPr>
          <a:xfrm>
            <a:off x="5418138" y="2505075"/>
            <a:ext cx="2638425" cy="0"/>
          </a:xfrm>
          <a:prstGeom prst="line">
            <a:avLst/>
          </a:prstGeom>
          <a:ln w="12700" cap="flat" cmpd="sng">
            <a:solidFill>
              <a:schemeClr val="tx1"/>
            </a:solidFill>
            <a:prstDash val="sysDot"/>
            <a:headEnd type="none" w="med" len="med"/>
            <a:tailEnd type="none" w="med" len="med"/>
          </a:ln>
        </p:spPr>
      </p:sp>
      <p:sp>
        <p:nvSpPr>
          <p:cNvPr id="20522" name="Line 87"/>
          <p:cNvSpPr/>
          <p:nvPr/>
        </p:nvSpPr>
        <p:spPr>
          <a:xfrm>
            <a:off x="4875213" y="3898900"/>
            <a:ext cx="146050" cy="0"/>
          </a:xfrm>
          <a:prstGeom prst="line">
            <a:avLst/>
          </a:prstGeom>
          <a:ln w="31750" cap="flat" cmpd="sng">
            <a:solidFill>
              <a:srgbClr val="FF0000"/>
            </a:solidFill>
            <a:prstDash val="solid"/>
            <a:headEnd type="none" w="med" len="med"/>
            <a:tailEnd type="none" w="med" len="med"/>
          </a:ln>
        </p:spPr>
      </p:sp>
      <p:sp>
        <p:nvSpPr>
          <p:cNvPr id="20523" name="Freeform 88"/>
          <p:cNvSpPr/>
          <p:nvPr/>
        </p:nvSpPr>
        <p:spPr>
          <a:xfrm>
            <a:off x="5414963" y="2274888"/>
            <a:ext cx="238125" cy="225425"/>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50" h="142">
                <a:moveTo>
                  <a:pt x="0" y="142"/>
                </a:moveTo>
                <a:cubicBezTo>
                  <a:pt x="4" y="137"/>
                  <a:pt x="19" y="120"/>
                  <a:pt x="27" y="111"/>
                </a:cubicBezTo>
                <a:cubicBezTo>
                  <a:pt x="35" y="102"/>
                  <a:pt x="40" y="95"/>
                  <a:pt x="47" y="87"/>
                </a:cubicBezTo>
                <a:cubicBezTo>
                  <a:pt x="54" y="79"/>
                  <a:pt x="62" y="70"/>
                  <a:pt x="69" y="63"/>
                </a:cubicBezTo>
                <a:cubicBezTo>
                  <a:pt x="76" y="56"/>
                  <a:pt x="82" y="50"/>
                  <a:pt x="90" y="43"/>
                </a:cubicBezTo>
                <a:cubicBezTo>
                  <a:pt x="98" y="36"/>
                  <a:pt x="107" y="25"/>
                  <a:pt x="117" y="18"/>
                </a:cubicBezTo>
                <a:cubicBezTo>
                  <a:pt x="127" y="11"/>
                  <a:pt x="143" y="4"/>
                  <a:pt x="150"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0524" name="Freeform 89"/>
          <p:cNvSpPr/>
          <p:nvPr/>
        </p:nvSpPr>
        <p:spPr>
          <a:xfrm>
            <a:off x="5653088" y="2271713"/>
            <a:ext cx="563562" cy="144462"/>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55" h="91">
                <a:moveTo>
                  <a:pt x="0" y="0"/>
                </a:moveTo>
                <a:cubicBezTo>
                  <a:pt x="5" y="1"/>
                  <a:pt x="22" y="3"/>
                  <a:pt x="31" y="9"/>
                </a:cubicBezTo>
                <a:cubicBezTo>
                  <a:pt x="40" y="15"/>
                  <a:pt x="46" y="31"/>
                  <a:pt x="53" y="39"/>
                </a:cubicBezTo>
                <a:cubicBezTo>
                  <a:pt x="59" y="47"/>
                  <a:pt x="63" y="53"/>
                  <a:pt x="68" y="59"/>
                </a:cubicBezTo>
                <a:cubicBezTo>
                  <a:pt x="73" y="64"/>
                  <a:pt x="77" y="69"/>
                  <a:pt x="82" y="73"/>
                </a:cubicBezTo>
                <a:cubicBezTo>
                  <a:pt x="88" y="77"/>
                  <a:pt x="95" y="80"/>
                  <a:pt x="101" y="83"/>
                </a:cubicBezTo>
                <a:cubicBezTo>
                  <a:pt x="107" y="86"/>
                  <a:pt x="112" y="91"/>
                  <a:pt x="119" y="91"/>
                </a:cubicBezTo>
                <a:cubicBezTo>
                  <a:pt x="125" y="90"/>
                  <a:pt x="137" y="85"/>
                  <a:pt x="141" y="81"/>
                </a:cubicBezTo>
                <a:cubicBezTo>
                  <a:pt x="146" y="77"/>
                  <a:pt x="142" y="72"/>
                  <a:pt x="145" y="66"/>
                </a:cubicBezTo>
                <a:cubicBezTo>
                  <a:pt x="148" y="60"/>
                  <a:pt x="155" y="52"/>
                  <a:pt x="159" y="46"/>
                </a:cubicBezTo>
                <a:cubicBezTo>
                  <a:pt x="164" y="41"/>
                  <a:pt x="167" y="39"/>
                  <a:pt x="171" y="34"/>
                </a:cubicBezTo>
                <a:cubicBezTo>
                  <a:pt x="174" y="30"/>
                  <a:pt x="175" y="23"/>
                  <a:pt x="182" y="19"/>
                </a:cubicBezTo>
                <a:cubicBezTo>
                  <a:pt x="188" y="15"/>
                  <a:pt x="199" y="12"/>
                  <a:pt x="208" y="12"/>
                </a:cubicBezTo>
                <a:cubicBezTo>
                  <a:pt x="216" y="12"/>
                  <a:pt x="225" y="15"/>
                  <a:pt x="233" y="19"/>
                </a:cubicBezTo>
                <a:cubicBezTo>
                  <a:pt x="241" y="23"/>
                  <a:pt x="248" y="31"/>
                  <a:pt x="255" y="34"/>
                </a:cubicBezTo>
                <a:cubicBezTo>
                  <a:pt x="263" y="37"/>
                  <a:pt x="270" y="35"/>
                  <a:pt x="277" y="36"/>
                </a:cubicBezTo>
                <a:cubicBezTo>
                  <a:pt x="285" y="38"/>
                  <a:pt x="292" y="42"/>
                  <a:pt x="299" y="44"/>
                </a:cubicBezTo>
                <a:cubicBezTo>
                  <a:pt x="307" y="46"/>
                  <a:pt x="313" y="48"/>
                  <a:pt x="322" y="49"/>
                </a:cubicBezTo>
                <a:cubicBezTo>
                  <a:pt x="331" y="50"/>
                  <a:pt x="350" y="51"/>
                  <a:pt x="355" y="51"/>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0525" name="Line 90"/>
          <p:cNvSpPr/>
          <p:nvPr/>
        </p:nvSpPr>
        <p:spPr>
          <a:xfrm>
            <a:off x="6213475" y="2351088"/>
            <a:ext cx="1497013" cy="0"/>
          </a:xfrm>
          <a:prstGeom prst="line">
            <a:avLst/>
          </a:prstGeom>
          <a:ln w="31750" cap="flat" cmpd="sng">
            <a:solidFill>
              <a:srgbClr val="FF0000"/>
            </a:solidFill>
            <a:prstDash val="solid"/>
            <a:headEnd type="none" w="med" len="med"/>
            <a:tailEnd type="none" w="med" len="med"/>
          </a:ln>
        </p:spPr>
      </p:sp>
      <p:sp>
        <p:nvSpPr>
          <p:cNvPr id="20526" name="Rectangle 91"/>
          <p:cNvSpPr/>
          <p:nvPr/>
        </p:nvSpPr>
        <p:spPr>
          <a:xfrm>
            <a:off x="5222875" y="5876925"/>
            <a:ext cx="2281238" cy="366713"/>
          </a:xfrm>
          <a:prstGeom prst="rect">
            <a:avLst/>
          </a:prstGeom>
          <a:noFill/>
          <a:ln w="9525">
            <a:noFill/>
          </a:ln>
        </p:spPr>
        <p:txBody>
          <a:bodyPr>
            <a:spAutoFit/>
          </a:bodyPr>
          <a:p>
            <a:pPr eaLnBrk="1" hangingPunct="1">
              <a:lnSpc>
                <a:spcPct val="90000"/>
              </a:lnSpc>
            </a:pPr>
            <a:r>
              <a:rPr lang="zh-CN" altLang="en-US" sz="2000" dirty="0">
                <a:solidFill>
                  <a:srgbClr val="000099"/>
                </a:solidFill>
                <a:latin typeface="Times New Roman" panose="02020603050405020304" pitchFamily="18" charset="0"/>
              </a:rPr>
              <a:t>采样／保持全过程</a:t>
            </a:r>
            <a:endParaRPr lang="zh-CN" altLang="en-US" sz="2000" dirty="0">
              <a:solidFill>
                <a:srgbClr val="000099"/>
              </a:solidFill>
              <a:latin typeface="Times New Roman" panose="02020603050405020304" pitchFamily="18" charset="0"/>
            </a:endParaRPr>
          </a:p>
        </p:txBody>
      </p:sp>
      <p:sp>
        <p:nvSpPr>
          <p:cNvPr id="20527" name="AutoShape 92"/>
          <p:cNvSpPr/>
          <p:nvPr/>
        </p:nvSpPr>
        <p:spPr>
          <a:xfrm>
            <a:off x="7616825" y="1531938"/>
            <a:ext cx="1223963" cy="439737"/>
          </a:xfrm>
          <a:prstGeom prst="wedgeRoundRectCallout">
            <a:avLst>
              <a:gd name="adj1" fmla="val -65306"/>
              <a:gd name="adj2" fmla="val 13483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77" name="Text Box 93"/>
          <p:cNvSpPr txBox="1">
            <a:spLocks noChangeArrowheads="1"/>
          </p:cNvSpPr>
          <p:nvPr/>
        </p:nvSpPr>
        <p:spPr bwMode="auto">
          <a:xfrm>
            <a:off x="7632700" y="1558925"/>
            <a:ext cx="1254125"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实际输出</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0529" name="AutoShape 94"/>
          <p:cNvSpPr/>
          <p:nvPr/>
        </p:nvSpPr>
        <p:spPr>
          <a:xfrm>
            <a:off x="7667625" y="2908300"/>
            <a:ext cx="1398588" cy="439738"/>
          </a:xfrm>
          <a:prstGeom prst="wedgeRoundRectCallout">
            <a:avLst>
              <a:gd name="adj1" fmla="val -56810"/>
              <a:gd name="adj2" fmla="val -13881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79" name="Text Box 95"/>
          <p:cNvSpPr txBox="1">
            <a:spLocks noChangeArrowheads="1"/>
          </p:cNvSpPr>
          <p:nvPr/>
        </p:nvSpPr>
        <p:spPr bwMode="auto">
          <a:xfrm>
            <a:off x="7646988" y="2949575"/>
            <a:ext cx="1497013" cy="366713"/>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希望的输出</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0531" name="AutoShape 96"/>
          <p:cNvSpPr/>
          <p:nvPr/>
        </p:nvSpPr>
        <p:spPr>
          <a:xfrm>
            <a:off x="7016750" y="4113213"/>
            <a:ext cx="1792288" cy="698500"/>
          </a:xfrm>
          <a:prstGeom prst="wedgeRoundRectCallout">
            <a:avLst>
              <a:gd name="adj1" fmla="val -109963"/>
              <a:gd name="adj2" fmla="val -98407"/>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2881" name="Text Box 97"/>
          <p:cNvSpPr txBox="1">
            <a:spLocks noChangeArrowheads="1"/>
          </p:cNvSpPr>
          <p:nvPr/>
        </p:nvSpPr>
        <p:spPr bwMode="auto">
          <a:xfrm>
            <a:off x="6986588" y="4151313"/>
            <a:ext cx="1812925" cy="641350"/>
          </a:xfrm>
          <a:prstGeom prst="rect">
            <a:avLst/>
          </a:prstGeom>
          <a:noFill/>
          <a:ln>
            <a:noFill/>
          </a:ln>
          <a:effectLst/>
        </p:spPr>
        <p:txBody>
          <a:bodyPr>
            <a:spAutoFit/>
          </a:bodyPr>
          <a:lstStyle/>
          <a:p>
            <a:pPr marR="0" algn="ctr"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保持建立时间</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设定时间</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0533" name="Freeform 98"/>
          <p:cNvSpPr/>
          <p:nvPr/>
        </p:nvSpPr>
        <p:spPr>
          <a:xfrm>
            <a:off x="5251450" y="2500313"/>
            <a:ext cx="166688" cy="323850"/>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05" h="204">
                <a:moveTo>
                  <a:pt x="0" y="204"/>
                </a:moveTo>
                <a:cubicBezTo>
                  <a:pt x="4" y="196"/>
                  <a:pt x="19" y="168"/>
                  <a:pt x="25" y="156"/>
                </a:cubicBezTo>
                <a:cubicBezTo>
                  <a:pt x="31" y="144"/>
                  <a:pt x="35" y="140"/>
                  <a:pt x="39" y="131"/>
                </a:cubicBezTo>
                <a:cubicBezTo>
                  <a:pt x="43" y="122"/>
                  <a:pt x="44" y="111"/>
                  <a:pt x="48" y="101"/>
                </a:cubicBezTo>
                <a:cubicBezTo>
                  <a:pt x="52" y="91"/>
                  <a:pt x="56" y="81"/>
                  <a:pt x="61" y="69"/>
                </a:cubicBezTo>
                <a:cubicBezTo>
                  <a:pt x="66" y="57"/>
                  <a:pt x="75" y="40"/>
                  <a:pt x="81" y="30"/>
                </a:cubicBezTo>
                <a:cubicBezTo>
                  <a:pt x="87" y="20"/>
                  <a:pt x="92" y="13"/>
                  <a:pt x="96" y="8"/>
                </a:cubicBezTo>
                <a:cubicBezTo>
                  <a:pt x="100" y="3"/>
                  <a:pt x="104" y="1"/>
                  <a:pt x="105"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2833"/>
                                        </p:tgtEl>
                                        <p:attrNameLst>
                                          <p:attrName>style.visibility</p:attrName>
                                        </p:attrNameLst>
                                      </p:cBhvr>
                                      <p:to>
                                        <p:strVal val="visible"/>
                                      </p:to>
                                    </p:set>
                                    <p:animEffect transition="in" filter="dissolve">
                                      <p:cBhvr>
                                        <p:cTn id="7" dur="500"/>
                                        <p:tgtEl>
                                          <p:spTgt spid="242283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xit" presetSubtype="10" fill="hold" nodeType="clickEffect">
                                  <p:stCondLst>
                                    <p:cond delay="0"/>
                                  </p:stCondLst>
                                  <p:childTnLst>
                                    <p:animEffect transition="out" filter="blinds(horizontal)">
                                      <p:cBhvr>
                                        <p:cTn id="11" dur="500"/>
                                        <p:tgtEl>
                                          <p:spTgt spid="2422833"/>
                                        </p:tgtEl>
                                      </p:cBhvr>
                                    </p:animEffect>
                                    <p:set>
                                      <p:cBhvr>
                                        <p:cTn id="12" dur="1" fill="hold">
                                          <p:stCondLst>
                                            <p:cond delay="499"/>
                                          </p:stCondLst>
                                        </p:cTn>
                                        <p:tgtEl>
                                          <p:spTgt spid="242283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2834"/>
                                        </p:tgtEl>
                                        <p:attrNameLst>
                                          <p:attrName>style.visibility</p:attrName>
                                        </p:attrNameLst>
                                      </p:cBhvr>
                                      <p:to>
                                        <p:strVal val="visible"/>
                                      </p:to>
                                    </p:set>
                                    <p:animEffect transition="in" filter="dissolve">
                                      <p:cBhvr>
                                        <p:cTn id="17" dur="500"/>
                                        <p:tgtEl>
                                          <p:spTgt spid="24228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2833" grpId="0" animBg="1"/>
      <p:bldP spid="2422833" grpId="1" animBg="1"/>
      <p:bldP spid="2422834"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3810" name="Text Box 2"/>
          <p:cNvSpPr txBox="1"/>
          <p:nvPr/>
        </p:nvSpPr>
        <p:spPr>
          <a:xfrm>
            <a:off x="250825" y="1989138"/>
            <a:ext cx="3203575"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孔径不定</a:t>
            </a:r>
            <a:r>
              <a:rPr lang="zh-CN" altLang="en-US" sz="2800" dirty="0">
                <a:solidFill>
                  <a:srgbClr val="FF0000"/>
                </a:solidFill>
                <a:latin typeface="Times New Roman" panose="02020603050405020304" pitchFamily="18" charset="0"/>
              </a:rPr>
              <a:t>△</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r>
              <a:rPr lang="zh-CN" altLang="en-US" sz="2800" dirty="0">
                <a:solidFill>
                  <a:schemeClr val="tx1"/>
                </a:solidFill>
                <a:latin typeface="黑体" panose="02010609060101010101" pitchFamily="49" charset="-122"/>
                <a:ea typeface="黑体" panose="02010609060101010101" pitchFamily="49" charset="-122"/>
              </a:rPr>
              <a:t>：孔径时间的变化范围。</a:t>
            </a:r>
            <a:r>
              <a:rPr lang="zh-CN" altLang="en-US" sz="2800" dirty="0">
                <a:solidFill>
                  <a:srgbClr val="FF0000"/>
                </a:solidFill>
                <a:latin typeface="黑体" panose="02010609060101010101" pitchFamily="49" charset="-122"/>
                <a:ea typeface="黑体" panose="02010609060101010101" pitchFamily="49" charset="-122"/>
              </a:rPr>
              <a:t>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423812" name="Text Box 4"/>
          <p:cNvSpPr txBox="1"/>
          <p:nvPr/>
        </p:nvSpPr>
        <p:spPr>
          <a:xfrm>
            <a:off x="584200" y="1397000"/>
            <a:ext cx="3419475"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2.</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孔径不定</a:t>
            </a:r>
            <a:r>
              <a:rPr lang="zh-CN" altLang="en-US" sz="2800" dirty="0">
                <a:solidFill>
                  <a:srgbClr val="FF0000"/>
                </a:solidFill>
                <a:latin typeface="Times New Roman" panose="02020603050405020304" pitchFamily="18" charset="0"/>
                <a:ea typeface="黑体" panose="02010609060101010101" pitchFamily="49" charset="-122"/>
              </a:rPr>
              <a:t>△</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endParaRPr lang="en-US" altLang="zh-CN" sz="2800" baseline="-25000" dirty="0">
              <a:solidFill>
                <a:srgbClr val="FF0000"/>
              </a:solidFill>
              <a:latin typeface="Times New Roman" panose="02020603050405020304" pitchFamily="18" charset="0"/>
              <a:ea typeface="黑体" panose="02010609060101010101" pitchFamily="49" charset="-122"/>
            </a:endParaRPr>
          </a:p>
        </p:txBody>
      </p:sp>
      <p:sp>
        <p:nvSpPr>
          <p:cNvPr id="2423813" name="Text Box 5"/>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1509" name="Group 55"/>
          <p:cNvGrpSpPr/>
          <p:nvPr/>
        </p:nvGrpSpPr>
        <p:grpSpPr>
          <a:xfrm>
            <a:off x="3600450" y="1260475"/>
            <a:ext cx="5508625" cy="4983163"/>
            <a:chOff x="2268" y="794"/>
            <a:chExt cx="3470" cy="3139"/>
          </a:xfrm>
        </p:grpSpPr>
        <p:sp>
          <p:nvSpPr>
            <p:cNvPr id="21512" name="Rectangle 8"/>
            <p:cNvSpPr/>
            <p:nvPr/>
          </p:nvSpPr>
          <p:spPr>
            <a:xfrm>
              <a:off x="2290" y="845"/>
              <a:ext cx="3448" cy="3066"/>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1513" name="Rectangle 46"/>
            <p:cNvSpPr/>
            <p:nvPr/>
          </p:nvSpPr>
          <p:spPr>
            <a:xfrm>
              <a:off x="3290" y="3702"/>
              <a:ext cx="1437" cy="231"/>
            </a:xfrm>
            <a:prstGeom prst="rect">
              <a:avLst/>
            </a:prstGeom>
            <a:noFill/>
            <a:ln w="9525">
              <a:noFill/>
            </a:ln>
          </p:spPr>
          <p:txBody>
            <a:bodyPr>
              <a:spAutoFit/>
            </a:bodyPr>
            <a:p>
              <a:pPr eaLnBrk="1" hangingPunct="1">
                <a:lnSpc>
                  <a:spcPct val="90000"/>
                </a:lnSpc>
              </a:pPr>
              <a:r>
                <a:rPr lang="zh-CN" altLang="en-US" sz="2000" dirty="0">
                  <a:solidFill>
                    <a:srgbClr val="000099"/>
                  </a:solidFill>
                  <a:latin typeface="Times New Roman" panose="02020603050405020304" pitchFamily="18" charset="0"/>
                </a:rPr>
                <a:t>采样／保持全过程</a:t>
              </a:r>
              <a:endParaRPr lang="zh-CN" altLang="en-US" sz="2000" dirty="0">
                <a:solidFill>
                  <a:srgbClr val="000099"/>
                </a:solidFill>
                <a:latin typeface="Times New Roman" panose="02020603050405020304" pitchFamily="18" charset="0"/>
              </a:endParaRPr>
            </a:p>
          </p:txBody>
        </p:sp>
        <p:grpSp>
          <p:nvGrpSpPr>
            <p:cNvPr id="21514" name="Group 54"/>
            <p:cNvGrpSpPr/>
            <p:nvPr/>
          </p:nvGrpSpPr>
          <p:grpSpPr>
            <a:xfrm>
              <a:off x="2268" y="794"/>
              <a:ext cx="2959" cy="2908"/>
              <a:chOff x="2268" y="794"/>
              <a:chExt cx="2959" cy="2908"/>
            </a:xfrm>
          </p:grpSpPr>
          <p:sp>
            <p:nvSpPr>
              <p:cNvPr id="21515" name="Line 10"/>
              <p:cNvSpPr/>
              <p:nvPr/>
            </p:nvSpPr>
            <p:spPr>
              <a:xfrm>
                <a:off x="2378" y="3432"/>
                <a:ext cx="2688" cy="0"/>
              </a:xfrm>
              <a:prstGeom prst="line">
                <a:avLst/>
              </a:prstGeom>
              <a:ln w="9525" cap="flat" cmpd="sng">
                <a:solidFill>
                  <a:srgbClr val="0000FF"/>
                </a:solidFill>
                <a:prstDash val="solid"/>
                <a:headEnd type="none" w="med" len="med"/>
                <a:tailEnd type="stealth" w="sm" len="lg"/>
              </a:ln>
            </p:spPr>
          </p:sp>
          <p:sp>
            <p:nvSpPr>
              <p:cNvPr id="21516" name="Text Box 11"/>
              <p:cNvSpPr txBox="1"/>
              <p:nvPr/>
            </p:nvSpPr>
            <p:spPr>
              <a:xfrm>
                <a:off x="5067" y="3323"/>
                <a:ext cx="160"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1517" name="Line 12"/>
              <p:cNvSpPr/>
              <p:nvPr/>
            </p:nvSpPr>
            <p:spPr>
              <a:xfrm flipV="1">
                <a:off x="2378" y="1153"/>
                <a:ext cx="0" cy="2279"/>
              </a:xfrm>
              <a:prstGeom prst="line">
                <a:avLst/>
              </a:prstGeom>
              <a:ln w="9525" cap="flat" cmpd="sng">
                <a:solidFill>
                  <a:srgbClr val="0000FF"/>
                </a:solidFill>
                <a:prstDash val="solid"/>
                <a:headEnd type="none" w="med" len="med"/>
                <a:tailEnd type="stealth" w="sm" len="lg"/>
              </a:ln>
            </p:spPr>
          </p:sp>
          <p:sp>
            <p:nvSpPr>
              <p:cNvPr id="21518" name="Text Box 13"/>
              <p:cNvSpPr txBox="1"/>
              <p:nvPr/>
            </p:nvSpPr>
            <p:spPr>
              <a:xfrm>
                <a:off x="2268" y="913"/>
                <a:ext cx="23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21519" name="Freeform 14"/>
              <p:cNvSpPr/>
              <p:nvPr/>
            </p:nvSpPr>
            <p:spPr>
              <a:xfrm>
                <a:off x="2378" y="1350"/>
                <a:ext cx="1820" cy="1528"/>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820" h="1528">
                    <a:moveTo>
                      <a:pt x="0" y="1406"/>
                    </a:moveTo>
                    <a:cubicBezTo>
                      <a:pt x="14" y="1423"/>
                      <a:pt x="28" y="1441"/>
                      <a:pt x="50" y="1456"/>
                    </a:cubicBezTo>
                    <a:cubicBezTo>
                      <a:pt x="72" y="1471"/>
                      <a:pt x="112" y="1488"/>
                      <a:pt x="134" y="1498"/>
                    </a:cubicBezTo>
                    <a:cubicBezTo>
                      <a:pt x="156" y="1508"/>
                      <a:pt x="167" y="1511"/>
                      <a:pt x="184" y="1515"/>
                    </a:cubicBezTo>
                    <a:cubicBezTo>
                      <a:pt x="201" y="1519"/>
                      <a:pt x="217" y="1522"/>
                      <a:pt x="234" y="1523"/>
                    </a:cubicBezTo>
                    <a:cubicBezTo>
                      <a:pt x="251" y="1524"/>
                      <a:pt x="266" y="1523"/>
                      <a:pt x="284" y="1523"/>
                    </a:cubicBezTo>
                    <a:cubicBezTo>
                      <a:pt x="302" y="1523"/>
                      <a:pt x="320" y="1528"/>
                      <a:pt x="342" y="1523"/>
                    </a:cubicBezTo>
                    <a:cubicBezTo>
                      <a:pt x="364" y="1518"/>
                      <a:pt x="396" y="1501"/>
                      <a:pt x="417" y="1490"/>
                    </a:cubicBezTo>
                    <a:cubicBezTo>
                      <a:pt x="438" y="1479"/>
                      <a:pt x="450" y="1469"/>
                      <a:pt x="468" y="1456"/>
                    </a:cubicBezTo>
                    <a:cubicBezTo>
                      <a:pt x="486" y="1443"/>
                      <a:pt x="505" y="1433"/>
                      <a:pt x="526" y="1414"/>
                    </a:cubicBezTo>
                    <a:cubicBezTo>
                      <a:pt x="547" y="1395"/>
                      <a:pt x="574" y="1365"/>
                      <a:pt x="593" y="1339"/>
                    </a:cubicBezTo>
                    <a:cubicBezTo>
                      <a:pt x="612" y="1313"/>
                      <a:pt x="625" y="1288"/>
                      <a:pt x="643" y="1256"/>
                    </a:cubicBezTo>
                    <a:cubicBezTo>
                      <a:pt x="661" y="1224"/>
                      <a:pt x="675" y="1214"/>
                      <a:pt x="701" y="1147"/>
                    </a:cubicBezTo>
                    <a:cubicBezTo>
                      <a:pt x="727" y="1080"/>
                      <a:pt x="775" y="937"/>
                      <a:pt x="801" y="855"/>
                    </a:cubicBezTo>
                    <a:cubicBezTo>
                      <a:pt x="827" y="773"/>
                      <a:pt x="836" y="726"/>
                      <a:pt x="860" y="655"/>
                    </a:cubicBezTo>
                    <a:cubicBezTo>
                      <a:pt x="884" y="584"/>
                      <a:pt x="922" y="486"/>
                      <a:pt x="943" y="429"/>
                    </a:cubicBezTo>
                    <a:cubicBezTo>
                      <a:pt x="964" y="372"/>
                      <a:pt x="968" y="349"/>
                      <a:pt x="985" y="313"/>
                    </a:cubicBezTo>
                    <a:cubicBezTo>
                      <a:pt x="1002" y="277"/>
                      <a:pt x="1019" y="246"/>
                      <a:pt x="1044" y="212"/>
                    </a:cubicBezTo>
                    <a:cubicBezTo>
                      <a:pt x="1069" y="178"/>
                      <a:pt x="1109" y="136"/>
                      <a:pt x="1135" y="112"/>
                    </a:cubicBezTo>
                    <a:cubicBezTo>
                      <a:pt x="1161" y="88"/>
                      <a:pt x="1180" y="84"/>
                      <a:pt x="1202" y="70"/>
                    </a:cubicBezTo>
                    <a:cubicBezTo>
                      <a:pt x="1224" y="56"/>
                      <a:pt x="1249" y="37"/>
                      <a:pt x="1269" y="29"/>
                    </a:cubicBezTo>
                    <a:cubicBezTo>
                      <a:pt x="1289" y="21"/>
                      <a:pt x="1297" y="24"/>
                      <a:pt x="1319" y="20"/>
                    </a:cubicBezTo>
                    <a:cubicBezTo>
                      <a:pt x="1341" y="16"/>
                      <a:pt x="1364" y="0"/>
                      <a:pt x="1403" y="4"/>
                    </a:cubicBezTo>
                    <a:cubicBezTo>
                      <a:pt x="1442" y="8"/>
                      <a:pt x="1513" y="27"/>
                      <a:pt x="1553" y="45"/>
                    </a:cubicBezTo>
                    <a:cubicBezTo>
                      <a:pt x="1593" y="63"/>
                      <a:pt x="1613" y="86"/>
                      <a:pt x="1645" y="112"/>
                    </a:cubicBezTo>
                    <a:cubicBezTo>
                      <a:pt x="1677" y="138"/>
                      <a:pt x="1716" y="166"/>
                      <a:pt x="1745" y="204"/>
                    </a:cubicBezTo>
                    <a:cubicBezTo>
                      <a:pt x="1774" y="242"/>
                      <a:pt x="1808" y="316"/>
                      <a:pt x="1820" y="338"/>
                    </a:cubicBezTo>
                  </a:path>
                </a:pathLst>
              </a:custGeom>
              <a:noFill/>
              <a:ln w="19050" cap="flat" cmpd="sng">
                <a:solidFill>
                  <a:srgbClr val="0000FF">
                    <a:alpha val="100000"/>
                  </a:srgbClr>
                </a:solidFill>
                <a:prstDash val="dash"/>
                <a:round/>
                <a:headEnd type="none" w="med" len="med"/>
                <a:tailEnd type="none" w="med" len="med"/>
              </a:ln>
            </p:spPr>
            <p:txBody>
              <a:bodyPr/>
              <a:p>
                <a:endParaRPr lang="zh-CN" altLang="en-US"/>
              </a:p>
            </p:txBody>
          </p:sp>
          <p:sp>
            <p:nvSpPr>
              <p:cNvPr id="21520" name="Line 15"/>
              <p:cNvSpPr/>
              <p:nvPr/>
            </p:nvSpPr>
            <p:spPr>
              <a:xfrm>
                <a:off x="2378" y="2456"/>
                <a:ext cx="718" cy="0"/>
              </a:xfrm>
              <a:prstGeom prst="line">
                <a:avLst/>
              </a:prstGeom>
              <a:ln w="31750" cap="flat" cmpd="sng">
                <a:solidFill>
                  <a:srgbClr val="FF0000"/>
                </a:solidFill>
                <a:prstDash val="solid"/>
                <a:headEnd type="none" w="med" len="med"/>
                <a:tailEnd type="none" w="med" len="med"/>
              </a:ln>
            </p:spPr>
          </p:sp>
          <p:sp>
            <p:nvSpPr>
              <p:cNvPr id="21521" name="Arc 16"/>
              <p:cNvSpPr/>
              <p:nvPr/>
            </p:nvSpPr>
            <p:spPr>
              <a:xfrm flipV="1">
                <a:off x="3163" y="2347"/>
                <a:ext cx="99" cy="109"/>
              </a:xfrm>
              <a:custGeom>
                <a:avLst/>
                <a:gdLst/>
                <a:ahLst/>
                <a:cxnLst>
                  <a:cxn ang="0">
                    <a:pos x="0" y="0"/>
                  </a:cxn>
                  <a:cxn ang="0">
                    <a:pos x="1272" y="2265"/>
                  </a:cxn>
                  <a:cxn ang="0">
                    <a:pos x="0" y="2265"/>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1522" name="Freeform 17"/>
              <p:cNvSpPr/>
              <p:nvPr/>
            </p:nvSpPr>
            <p:spPr>
              <a:xfrm>
                <a:off x="3263" y="1776"/>
                <a:ext cx="45" cy="572"/>
              </a:xfrm>
              <a:custGeom>
                <a:avLst/>
                <a:gdLst/>
                <a:ahLst/>
                <a:cxnLst>
                  <a:cxn ang="0">
                    <a:pos x="0" y="2147483646"/>
                  </a:cxn>
                  <a:cxn ang="0">
                    <a:pos x="2147483646" y="2147483646"/>
                  </a:cxn>
                  <a:cxn ang="0">
                    <a:pos x="2147483646" y="0"/>
                  </a:cxn>
                </a:cxnLst>
                <a:pathLst>
                  <a:path w="45" h="572">
                    <a:moveTo>
                      <a:pt x="0" y="572"/>
                    </a:moveTo>
                    <a:lnTo>
                      <a:pt x="37" y="54"/>
                    </a:lnTo>
                    <a:lnTo>
                      <a:pt x="45"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1523" name="Line 18"/>
              <p:cNvSpPr/>
              <p:nvPr/>
            </p:nvSpPr>
            <p:spPr>
              <a:xfrm>
                <a:off x="4439" y="1045"/>
                <a:ext cx="0" cy="443"/>
              </a:xfrm>
              <a:prstGeom prst="line">
                <a:avLst/>
              </a:prstGeom>
              <a:ln w="9525" cap="flat" cmpd="sng">
                <a:solidFill>
                  <a:srgbClr val="0000FF"/>
                </a:solidFill>
                <a:prstDash val="solid"/>
                <a:headEnd type="none" w="med" len="med"/>
                <a:tailEnd type="stealth" w="sm" len="lg"/>
              </a:ln>
            </p:spPr>
          </p:sp>
          <p:sp>
            <p:nvSpPr>
              <p:cNvPr id="21524" name="Line 19"/>
              <p:cNvSpPr/>
              <p:nvPr/>
            </p:nvSpPr>
            <p:spPr>
              <a:xfrm flipV="1">
                <a:off x="4439" y="1579"/>
                <a:ext cx="0" cy="334"/>
              </a:xfrm>
              <a:prstGeom prst="line">
                <a:avLst/>
              </a:prstGeom>
              <a:ln w="9525" cap="flat" cmpd="sng">
                <a:solidFill>
                  <a:srgbClr val="0000FF"/>
                </a:solidFill>
                <a:prstDash val="solid"/>
                <a:headEnd type="none" w="med" len="med"/>
                <a:tailEnd type="stealth" w="sm" len="lg"/>
              </a:ln>
            </p:spPr>
          </p:sp>
          <p:sp>
            <p:nvSpPr>
              <p:cNvPr id="21525" name="Text Box 20"/>
              <p:cNvSpPr txBox="1"/>
              <p:nvPr/>
            </p:nvSpPr>
            <p:spPr>
              <a:xfrm rot="-5400000">
                <a:off x="3976" y="1050"/>
                <a:ext cx="710" cy="197"/>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孔径误差</a:t>
                </a:r>
                <a:endParaRPr lang="zh-CN" altLang="en-US" sz="1600" dirty="0">
                  <a:latin typeface="Times New Roman" panose="02020603050405020304" pitchFamily="18" charset="0"/>
                </a:endParaRPr>
              </a:p>
            </p:txBody>
          </p:sp>
          <p:sp>
            <p:nvSpPr>
              <p:cNvPr id="21526" name="Line 22"/>
              <p:cNvSpPr/>
              <p:nvPr/>
            </p:nvSpPr>
            <p:spPr>
              <a:xfrm>
                <a:off x="2378" y="3424"/>
                <a:ext cx="718" cy="0"/>
              </a:xfrm>
              <a:prstGeom prst="line">
                <a:avLst/>
              </a:prstGeom>
              <a:ln w="31750" cap="flat" cmpd="sng">
                <a:solidFill>
                  <a:srgbClr val="CC00CC"/>
                </a:solidFill>
                <a:prstDash val="solid"/>
                <a:headEnd type="none" w="med" len="med"/>
                <a:tailEnd type="none" w="med" len="med"/>
              </a:ln>
            </p:spPr>
          </p:sp>
          <p:sp>
            <p:nvSpPr>
              <p:cNvPr id="21527" name="Text Box 23"/>
              <p:cNvSpPr txBox="1"/>
              <p:nvPr/>
            </p:nvSpPr>
            <p:spPr>
              <a:xfrm>
                <a:off x="2530" y="3202"/>
                <a:ext cx="466"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1528" name="Line 24"/>
              <p:cNvSpPr/>
              <p:nvPr/>
            </p:nvSpPr>
            <p:spPr>
              <a:xfrm flipV="1">
                <a:off x="3096" y="2998"/>
                <a:ext cx="0" cy="426"/>
              </a:xfrm>
              <a:prstGeom prst="line">
                <a:avLst/>
              </a:prstGeom>
              <a:ln w="31750" cap="flat" cmpd="sng">
                <a:solidFill>
                  <a:srgbClr val="CC00CC"/>
                </a:solidFill>
                <a:prstDash val="solid"/>
                <a:headEnd type="none" w="med" len="med"/>
                <a:tailEnd type="none" w="med" len="med"/>
              </a:ln>
            </p:spPr>
          </p:sp>
          <p:sp>
            <p:nvSpPr>
              <p:cNvPr id="21529" name="Line 25"/>
              <p:cNvSpPr/>
              <p:nvPr/>
            </p:nvSpPr>
            <p:spPr>
              <a:xfrm flipV="1">
                <a:off x="3096" y="2456"/>
                <a:ext cx="0" cy="551"/>
              </a:xfrm>
              <a:prstGeom prst="line">
                <a:avLst/>
              </a:prstGeom>
              <a:ln w="9525" cap="flat" cmpd="sng">
                <a:solidFill>
                  <a:srgbClr val="008080"/>
                </a:solidFill>
                <a:prstDash val="sysDot"/>
                <a:headEnd type="none" w="med" len="med"/>
                <a:tailEnd type="none" w="med" len="med"/>
              </a:ln>
            </p:spPr>
          </p:sp>
          <p:sp>
            <p:nvSpPr>
              <p:cNvPr id="21530" name="Line 26"/>
              <p:cNvSpPr/>
              <p:nvPr/>
            </p:nvSpPr>
            <p:spPr>
              <a:xfrm>
                <a:off x="3104" y="3007"/>
                <a:ext cx="309" cy="0"/>
              </a:xfrm>
              <a:prstGeom prst="line">
                <a:avLst/>
              </a:prstGeom>
              <a:ln w="31750" cap="flat" cmpd="sng">
                <a:solidFill>
                  <a:srgbClr val="CC00CC"/>
                </a:solidFill>
                <a:prstDash val="solid"/>
                <a:headEnd type="none" w="med" len="med"/>
                <a:tailEnd type="none" w="med" len="med"/>
              </a:ln>
            </p:spPr>
          </p:sp>
          <p:sp>
            <p:nvSpPr>
              <p:cNvPr id="21531" name="Text Box 27"/>
              <p:cNvSpPr txBox="1"/>
              <p:nvPr/>
            </p:nvSpPr>
            <p:spPr>
              <a:xfrm>
                <a:off x="3052" y="3007"/>
                <a:ext cx="460"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跟踪</a:t>
                </a:r>
                <a:endParaRPr lang="zh-CN" altLang="en-US" sz="1800" dirty="0">
                  <a:latin typeface="Times New Roman" panose="02020603050405020304" pitchFamily="18" charset="0"/>
                </a:endParaRPr>
              </a:p>
            </p:txBody>
          </p:sp>
          <p:sp>
            <p:nvSpPr>
              <p:cNvPr id="21532" name="Line 28"/>
              <p:cNvSpPr/>
              <p:nvPr/>
            </p:nvSpPr>
            <p:spPr>
              <a:xfrm flipV="1">
                <a:off x="3413" y="3474"/>
                <a:ext cx="0" cy="208"/>
              </a:xfrm>
              <a:prstGeom prst="line">
                <a:avLst/>
              </a:prstGeom>
              <a:ln w="19050" cap="flat" cmpd="sng">
                <a:solidFill>
                  <a:srgbClr val="FF0000"/>
                </a:solidFill>
                <a:prstDash val="solid"/>
                <a:headEnd type="none" w="med" len="med"/>
                <a:tailEnd type="triangle" w="sm" len="lg"/>
              </a:ln>
            </p:spPr>
          </p:sp>
          <p:sp>
            <p:nvSpPr>
              <p:cNvPr id="21533" name="Text Box 29"/>
              <p:cNvSpPr txBox="1"/>
              <p:nvPr/>
            </p:nvSpPr>
            <p:spPr>
              <a:xfrm>
                <a:off x="3396" y="3488"/>
                <a:ext cx="1276" cy="214"/>
              </a:xfrm>
              <a:prstGeom prst="rect">
                <a:avLst/>
              </a:prstGeom>
              <a:noFill/>
              <a:ln w="9525">
                <a:noFill/>
              </a:ln>
            </p:spPr>
            <p:txBody>
              <a:bodyPr wrap="none">
                <a:spAutoFit/>
              </a:bodyPr>
              <a:p>
                <a:pPr eaLnBrk="1" hangingPunct="1">
                  <a:lnSpc>
                    <a:spcPct val="90000"/>
                  </a:lnSpc>
                </a:pPr>
                <a:r>
                  <a:rPr lang="zh-CN" altLang="en-US" sz="1800" dirty="0">
                    <a:solidFill>
                      <a:srgbClr val="FF0000"/>
                    </a:solidFill>
                    <a:latin typeface="Times New Roman" panose="02020603050405020304" pitchFamily="18" charset="0"/>
                  </a:rPr>
                  <a:t>保持指令发出时刻</a:t>
                </a:r>
                <a:endParaRPr lang="zh-CN" altLang="en-US" sz="1800" dirty="0">
                  <a:solidFill>
                    <a:srgbClr val="FF0000"/>
                  </a:solidFill>
                  <a:latin typeface="Times New Roman" panose="02020603050405020304" pitchFamily="18" charset="0"/>
                </a:endParaRPr>
              </a:p>
            </p:txBody>
          </p:sp>
          <p:sp>
            <p:nvSpPr>
              <p:cNvPr id="21534" name="Line 30"/>
              <p:cNvSpPr/>
              <p:nvPr/>
            </p:nvSpPr>
            <p:spPr>
              <a:xfrm>
                <a:off x="3413" y="3007"/>
                <a:ext cx="0" cy="417"/>
              </a:xfrm>
              <a:prstGeom prst="line">
                <a:avLst/>
              </a:prstGeom>
              <a:ln w="31750" cap="flat" cmpd="sng">
                <a:solidFill>
                  <a:srgbClr val="CC00CC"/>
                </a:solidFill>
                <a:prstDash val="solid"/>
                <a:headEnd type="none" w="med" len="med"/>
                <a:tailEnd type="none" w="med" len="med"/>
              </a:ln>
            </p:spPr>
          </p:sp>
          <p:sp>
            <p:nvSpPr>
              <p:cNvPr id="21535" name="Line 31"/>
              <p:cNvSpPr/>
              <p:nvPr/>
            </p:nvSpPr>
            <p:spPr>
              <a:xfrm flipV="1">
                <a:off x="3413" y="1578"/>
                <a:ext cx="0" cy="1429"/>
              </a:xfrm>
              <a:prstGeom prst="line">
                <a:avLst/>
              </a:prstGeom>
              <a:ln w="9525" cap="flat" cmpd="sng">
                <a:solidFill>
                  <a:srgbClr val="008080"/>
                </a:solidFill>
                <a:prstDash val="sysDot"/>
                <a:headEnd type="none" w="med" len="med"/>
                <a:tailEnd type="none" w="med" len="med"/>
              </a:ln>
            </p:spPr>
          </p:sp>
          <p:sp>
            <p:nvSpPr>
              <p:cNvPr id="21536" name="Line 32"/>
              <p:cNvSpPr/>
              <p:nvPr/>
            </p:nvSpPr>
            <p:spPr>
              <a:xfrm>
                <a:off x="3563" y="1428"/>
                <a:ext cx="1" cy="1596"/>
              </a:xfrm>
              <a:prstGeom prst="line">
                <a:avLst/>
              </a:prstGeom>
              <a:ln w="9525" cap="flat" cmpd="sng">
                <a:solidFill>
                  <a:srgbClr val="FF0000"/>
                </a:solidFill>
                <a:prstDash val="sysDot"/>
                <a:headEnd type="none" w="med" len="med"/>
                <a:tailEnd type="none" w="med" len="med"/>
              </a:ln>
            </p:spPr>
          </p:sp>
          <p:sp>
            <p:nvSpPr>
              <p:cNvPr id="21537" name="Line 33"/>
              <p:cNvSpPr/>
              <p:nvPr/>
            </p:nvSpPr>
            <p:spPr>
              <a:xfrm>
                <a:off x="3288" y="2923"/>
                <a:ext cx="125" cy="0"/>
              </a:xfrm>
              <a:prstGeom prst="line">
                <a:avLst/>
              </a:prstGeom>
              <a:ln w="12700" cap="flat" cmpd="sng">
                <a:solidFill>
                  <a:schemeClr val="tx1"/>
                </a:solidFill>
                <a:prstDash val="solid"/>
                <a:headEnd type="none" w="med" len="med"/>
                <a:tailEnd type="stealth" w="med" len="lg"/>
              </a:ln>
            </p:spPr>
          </p:sp>
          <p:sp>
            <p:nvSpPr>
              <p:cNvPr id="21538" name="Line 34"/>
              <p:cNvSpPr/>
              <p:nvPr/>
            </p:nvSpPr>
            <p:spPr>
              <a:xfrm flipH="1">
                <a:off x="3564" y="2923"/>
                <a:ext cx="259" cy="0"/>
              </a:xfrm>
              <a:prstGeom prst="line">
                <a:avLst/>
              </a:prstGeom>
              <a:ln w="12700" cap="flat" cmpd="sng">
                <a:solidFill>
                  <a:schemeClr val="tx1"/>
                </a:solidFill>
                <a:prstDash val="solid"/>
                <a:headEnd type="none" w="med" len="med"/>
                <a:tailEnd type="stealth" w="med" len="lg"/>
              </a:ln>
            </p:spPr>
          </p:sp>
          <p:sp>
            <p:nvSpPr>
              <p:cNvPr id="21539" name="Text Box 35"/>
              <p:cNvSpPr txBox="1"/>
              <p:nvPr/>
            </p:nvSpPr>
            <p:spPr>
              <a:xfrm>
                <a:off x="3581" y="2711"/>
                <a:ext cx="284"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1540" name="Line 36"/>
              <p:cNvSpPr/>
              <p:nvPr/>
            </p:nvSpPr>
            <p:spPr>
              <a:xfrm flipH="1">
                <a:off x="3914" y="1481"/>
                <a:ext cx="2" cy="917"/>
              </a:xfrm>
              <a:prstGeom prst="line">
                <a:avLst/>
              </a:prstGeom>
              <a:ln w="9525" cap="flat" cmpd="sng">
                <a:solidFill>
                  <a:srgbClr val="FF0000"/>
                </a:solidFill>
                <a:prstDash val="sysDot"/>
                <a:headEnd type="none" w="med" len="med"/>
                <a:tailEnd type="none" w="med" len="med"/>
              </a:ln>
            </p:spPr>
          </p:sp>
          <p:sp>
            <p:nvSpPr>
              <p:cNvPr id="21541" name="Line 37"/>
              <p:cNvSpPr/>
              <p:nvPr/>
            </p:nvSpPr>
            <p:spPr>
              <a:xfrm>
                <a:off x="3411" y="2322"/>
                <a:ext cx="503" cy="0"/>
              </a:xfrm>
              <a:prstGeom prst="line">
                <a:avLst/>
              </a:prstGeom>
              <a:ln w="12700" cap="flat" cmpd="sng">
                <a:solidFill>
                  <a:schemeClr val="tx1"/>
                </a:solidFill>
                <a:prstDash val="solid"/>
                <a:headEnd type="stealth" w="sm" len="lg"/>
                <a:tailEnd type="stealth" w="med" len="lg"/>
              </a:ln>
            </p:spPr>
          </p:sp>
          <p:sp>
            <p:nvSpPr>
              <p:cNvPr id="21542" name="Text Box 38"/>
              <p:cNvSpPr txBox="1"/>
              <p:nvPr/>
            </p:nvSpPr>
            <p:spPr>
              <a:xfrm>
                <a:off x="3537" y="2105"/>
                <a:ext cx="273"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ST</a:t>
                </a:r>
                <a:endParaRPr lang="en-US" altLang="zh-CN" sz="1800" baseline="-25000" dirty="0">
                  <a:solidFill>
                    <a:srgbClr val="FF0000"/>
                  </a:solidFill>
                  <a:latin typeface="Times New Roman" panose="02020603050405020304" pitchFamily="18" charset="0"/>
                </a:endParaRPr>
              </a:p>
            </p:txBody>
          </p:sp>
          <p:sp>
            <p:nvSpPr>
              <p:cNvPr id="21543" name="Text Box 39"/>
              <p:cNvSpPr txBox="1"/>
              <p:nvPr/>
            </p:nvSpPr>
            <p:spPr>
              <a:xfrm>
                <a:off x="3736" y="3215"/>
                <a:ext cx="454"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1544" name="Line 40"/>
              <p:cNvSpPr/>
              <p:nvPr/>
            </p:nvSpPr>
            <p:spPr>
              <a:xfrm>
                <a:off x="3413" y="3424"/>
                <a:ext cx="1252" cy="0"/>
              </a:xfrm>
              <a:prstGeom prst="line">
                <a:avLst/>
              </a:prstGeom>
              <a:ln w="31750" cap="flat" cmpd="sng">
                <a:solidFill>
                  <a:srgbClr val="CC00CC"/>
                </a:solidFill>
                <a:prstDash val="solid"/>
                <a:headEnd type="none" w="med" len="med"/>
                <a:tailEnd type="none" w="med" len="med"/>
              </a:ln>
            </p:spPr>
          </p:sp>
          <p:sp>
            <p:nvSpPr>
              <p:cNvPr id="21545" name="Line 41"/>
              <p:cNvSpPr/>
              <p:nvPr/>
            </p:nvSpPr>
            <p:spPr>
              <a:xfrm>
                <a:off x="3413" y="1578"/>
                <a:ext cx="1662" cy="0"/>
              </a:xfrm>
              <a:prstGeom prst="line">
                <a:avLst/>
              </a:prstGeom>
              <a:ln w="12700" cap="flat" cmpd="sng">
                <a:solidFill>
                  <a:schemeClr val="tx1"/>
                </a:solidFill>
                <a:prstDash val="sysDot"/>
                <a:headEnd type="none" w="med" len="med"/>
                <a:tailEnd type="none" w="med" len="med"/>
              </a:ln>
            </p:spPr>
          </p:sp>
          <p:sp>
            <p:nvSpPr>
              <p:cNvPr id="21546" name="Line 42"/>
              <p:cNvSpPr/>
              <p:nvPr/>
            </p:nvSpPr>
            <p:spPr>
              <a:xfrm>
                <a:off x="3071" y="2456"/>
                <a:ext cx="92" cy="0"/>
              </a:xfrm>
              <a:prstGeom prst="line">
                <a:avLst/>
              </a:prstGeom>
              <a:ln w="31750" cap="flat" cmpd="sng">
                <a:solidFill>
                  <a:srgbClr val="FF0000"/>
                </a:solidFill>
                <a:prstDash val="solid"/>
                <a:headEnd type="none" w="med" len="med"/>
                <a:tailEnd type="none" w="med" len="med"/>
              </a:ln>
            </p:spPr>
          </p:sp>
          <p:sp>
            <p:nvSpPr>
              <p:cNvPr id="21547" name="Freeform 43"/>
              <p:cNvSpPr/>
              <p:nvPr/>
            </p:nvSpPr>
            <p:spPr>
              <a:xfrm>
                <a:off x="3411" y="1433"/>
                <a:ext cx="150" cy="142"/>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50" h="142">
                    <a:moveTo>
                      <a:pt x="0" y="142"/>
                    </a:moveTo>
                    <a:cubicBezTo>
                      <a:pt x="4" y="137"/>
                      <a:pt x="19" y="120"/>
                      <a:pt x="27" y="111"/>
                    </a:cubicBezTo>
                    <a:cubicBezTo>
                      <a:pt x="35" y="102"/>
                      <a:pt x="40" y="95"/>
                      <a:pt x="47" y="87"/>
                    </a:cubicBezTo>
                    <a:cubicBezTo>
                      <a:pt x="54" y="79"/>
                      <a:pt x="62" y="70"/>
                      <a:pt x="69" y="63"/>
                    </a:cubicBezTo>
                    <a:cubicBezTo>
                      <a:pt x="76" y="56"/>
                      <a:pt x="82" y="50"/>
                      <a:pt x="90" y="43"/>
                    </a:cubicBezTo>
                    <a:cubicBezTo>
                      <a:pt x="98" y="36"/>
                      <a:pt x="107" y="25"/>
                      <a:pt x="117" y="18"/>
                    </a:cubicBezTo>
                    <a:cubicBezTo>
                      <a:pt x="127" y="11"/>
                      <a:pt x="143" y="4"/>
                      <a:pt x="150"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1548" name="Freeform 44"/>
              <p:cNvSpPr/>
              <p:nvPr/>
            </p:nvSpPr>
            <p:spPr>
              <a:xfrm>
                <a:off x="3561" y="1431"/>
                <a:ext cx="355" cy="91"/>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55" h="91">
                    <a:moveTo>
                      <a:pt x="0" y="0"/>
                    </a:moveTo>
                    <a:cubicBezTo>
                      <a:pt x="5" y="1"/>
                      <a:pt x="22" y="3"/>
                      <a:pt x="31" y="9"/>
                    </a:cubicBezTo>
                    <a:cubicBezTo>
                      <a:pt x="40" y="15"/>
                      <a:pt x="46" y="31"/>
                      <a:pt x="53" y="39"/>
                    </a:cubicBezTo>
                    <a:cubicBezTo>
                      <a:pt x="59" y="47"/>
                      <a:pt x="63" y="53"/>
                      <a:pt x="68" y="59"/>
                    </a:cubicBezTo>
                    <a:cubicBezTo>
                      <a:pt x="73" y="64"/>
                      <a:pt x="77" y="69"/>
                      <a:pt x="82" y="73"/>
                    </a:cubicBezTo>
                    <a:cubicBezTo>
                      <a:pt x="88" y="77"/>
                      <a:pt x="95" y="80"/>
                      <a:pt x="101" y="83"/>
                    </a:cubicBezTo>
                    <a:cubicBezTo>
                      <a:pt x="107" y="86"/>
                      <a:pt x="112" y="91"/>
                      <a:pt x="119" y="91"/>
                    </a:cubicBezTo>
                    <a:cubicBezTo>
                      <a:pt x="125" y="90"/>
                      <a:pt x="137" y="85"/>
                      <a:pt x="141" y="81"/>
                    </a:cubicBezTo>
                    <a:cubicBezTo>
                      <a:pt x="146" y="77"/>
                      <a:pt x="142" y="72"/>
                      <a:pt x="145" y="66"/>
                    </a:cubicBezTo>
                    <a:cubicBezTo>
                      <a:pt x="148" y="60"/>
                      <a:pt x="155" y="52"/>
                      <a:pt x="159" y="46"/>
                    </a:cubicBezTo>
                    <a:cubicBezTo>
                      <a:pt x="164" y="41"/>
                      <a:pt x="167" y="39"/>
                      <a:pt x="171" y="34"/>
                    </a:cubicBezTo>
                    <a:cubicBezTo>
                      <a:pt x="174" y="30"/>
                      <a:pt x="175" y="23"/>
                      <a:pt x="182" y="19"/>
                    </a:cubicBezTo>
                    <a:cubicBezTo>
                      <a:pt x="188" y="15"/>
                      <a:pt x="199" y="12"/>
                      <a:pt x="208" y="12"/>
                    </a:cubicBezTo>
                    <a:cubicBezTo>
                      <a:pt x="216" y="12"/>
                      <a:pt x="225" y="15"/>
                      <a:pt x="233" y="19"/>
                    </a:cubicBezTo>
                    <a:cubicBezTo>
                      <a:pt x="241" y="23"/>
                      <a:pt x="248" y="31"/>
                      <a:pt x="255" y="34"/>
                    </a:cubicBezTo>
                    <a:cubicBezTo>
                      <a:pt x="263" y="37"/>
                      <a:pt x="270" y="35"/>
                      <a:pt x="277" y="36"/>
                    </a:cubicBezTo>
                    <a:cubicBezTo>
                      <a:pt x="285" y="38"/>
                      <a:pt x="292" y="42"/>
                      <a:pt x="299" y="44"/>
                    </a:cubicBezTo>
                    <a:cubicBezTo>
                      <a:pt x="307" y="46"/>
                      <a:pt x="313" y="48"/>
                      <a:pt x="322" y="49"/>
                    </a:cubicBezTo>
                    <a:cubicBezTo>
                      <a:pt x="331" y="50"/>
                      <a:pt x="350" y="51"/>
                      <a:pt x="355" y="51"/>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1549" name="Line 45"/>
              <p:cNvSpPr/>
              <p:nvPr/>
            </p:nvSpPr>
            <p:spPr>
              <a:xfrm>
                <a:off x="3914" y="1481"/>
                <a:ext cx="943" cy="0"/>
              </a:xfrm>
              <a:prstGeom prst="line">
                <a:avLst/>
              </a:prstGeom>
              <a:ln w="31750" cap="flat" cmpd="sng">
                <a:solidFill>
                  <a:srgbClr val="FF0000"/>
                </a:solidFill>
                <a:prstDash val="solid"/>
                <a:headEnd type="none" w="med" len="med"/>
                <a:tailEnd type="none" w="med" len="med"/>
              </a:ln>
            </p:spPr>
          </p:sp>
          <p:sp>
            <p:nvSpPr>
              <p:cNvPr id="21550" name="Freeform 53"/>
              <p:cNvSpPr/>
              <p:nvPr/>
            </p:nvSpPr>
            <p:spPr>
              <a:xfrm>
                <a:off x="3308" y="1575"/>
                <a:ext cx="105" cy="204"/>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05" h="204">
                    <a:moveTo>
                      <a:pt x="0" y="204"/>
                    </a:moveTo>
                    <a:cubicBezTo>
                      <a:pt x="4" y="196"/>
                      <a:pt x="19" y="168"/>
                      <a:pt x="25" y="156"/>
                    </a:cubicBezTo>
                    <a:cubicBezTo>
                      <a:pt x="31" y="144"/>
                      <a:pt x="35" y="140"/>
                      <a:pt x="39" y="131"/>
                    </a:cubicBezTo>
                    <a:cubicBezTo>
                      <a:pt x="43" y="122"/>
                      <a:pt x="44" y="111"/>
                      <a:pt x="48" y="101"/>
                    </a:cubicBezTo>
                    <a:cubicBezTo>
                      <a:pt x="52" y="91"/>
                      <a:pt x="56" y="81"/>
                      <a:pt x="61" y="69"/>
                    </a:cubicBezTo>
                    <a:cubicBezTo>
                      <a:pt x="66" y="57"/>
                      <a:pt x="75" y="40"/>
                      <a:pt x="81" y="30"/>
                    </a:cubicBezTo>
                    <a:cubicBezTo>
                      <a:pt x="87" y="20"/>
                      <a:pt x="92" y="13"/>
                      <a:pt x="96" y="8"/>
                    </a:cubicBezTo>
                    <a:cubicBezTo>
                      <a:pt x="100" y="3"/>
                      <a:pt x="104" y="1"/>
                      <a:pt x="105"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1551" name="Line 54"/>
              <p:cNvSpPr/>
              <p:nvPr/>
            </p:nvSpPr>
            <p:spPr>
              <a:xfrm>
                <a:off x="3497" y="1604"/>
                <a:ext cx="0" cy="443"/>
              </a:xfrm>
              <a:prstGeom prst="line">
                <a:avLst/>
              </a:prstGeom>
              <a:ln w="12700" cap="flat" cmpd="sng">
                <a:solidFill>
                  <a:srgbClr val="FF00FF"/>
                </a:solidFill>
                <a:prstDash val="sysDot"/>
                <a:headEnd type="none" w="med" len="med"/>
                <a:tailEnd type="none" w="med" len="med"/>
              </a:ln>
            </p:spPr>
          </p:sp>
          <p:sp>
            <p:nvSpPr>
              <p:cNvPr id="21552" name="Line 55"/>
              <p:cNvSpPr/>
              <p:nvPr/>
            </p:nvSpPr>
            <p:spPr>
              <a:xfrm>
                <a:off x="3622" y="1604"/>
                <a:ext cx="0" cy="451"/>
              </a:xfrm>
              <a:prstGeom prst="line">
                <a:avLst/>
              </a:prstGeom>
              <a:ln w="12700" cap="flat" cmpd="sng">
                <a:solidFill>
                  <a:srgbClr val="FF00FF"/>
                </a:solidFill>
                <a:prstDash val="sysDot"/>
                <a:headEnd type="none" w="med" len="med"/>
                <a:tailEnd type="none" w="med" len="med"/>
              </a:ln>
            </p:spPr>
          </p:sp>
          <p:sp>
            <p:nvSpPr>
              <p:cNvPr id="21553" name="Line 56"/>
              <p:cNvSpPr/>
              <p:nvPr/>
            </p:nvSpPr>
            <p:spPr>
              <a:xfrm>
                <a:off x="3380" y="1980"/>
                <a:ext cx="117" cy="0"/>
              </a:xfrm>
              <a:prstGeom prst="line">
                <a:avLst/>
              </a:prstGeom>
              <a:ln w="12700" cap="flat" cmpd="sng">
                <a:solidFill>
                  <a:schemeClr val="tx1"/>
                </a:solidFill>
                <a:prstDash val="solid"/>
                <a:headEnd type="none" w="med" len="med"/>
                <a:tailEnd type="stealth" w="med" len="lg"/>
              </a:ln>
            </p:spPr>
          </p:sp>
          <p:sp>
            <p:nvSpPr>
              <p:cNvPr id="21554" name="Text Box 57"/>
              <p:cNvSpPr txBox="1"/>
              <p:nvPr/>
            </p:nvSpPr>
            <p:spPr>
              <a:xfrm>
                <a:off x="3560" y="1771"/>
                <a:ext cx="429" cy="214"/>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a:t>
                </a: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1555" name="Line 58"/>
              <p:cNvSpPr/>
              <p:nvPr/>
            </p:nvSpPr>
            <p:spPr>
              <a:xfrm flipH="1">
                <a:off x="3622" y="1988"/>
                <a:ext cx="209" cy="0"/>
              </a:xfrm>
              <a:prstGeom prst="line">
                <a:avLst/>
              </a:prstGeom>
              <a:ln w="12700" cap="flat" cmpd="sng">
                <a:solidFill>
                  <a:schemeClr val="tx1"/>
                </a:solidFill>
                <a:prstDash val="solid"/>
                <a:headEnd type="none" w="med" len="med"/>
                <a:tailEnd type="stealth" w="med" len="lg"/>
              </a:ln>
            </p:spPr>
          </p:sp>
          <p:sp>
            <p:nvSpPr>
              <p:cNvPr id="21556" name="AutoShape 62"/>
              <p:cNvSpPr/>
              <p:nvPr/>
            </p:nvSpPr>
            <p:spPr>
              <a:xfrm>
                <a:off x="4254" y="2234"/>
                <a:ext cx="743" cy="277"/>
              </a:xfrm>
              <a:prstGeom prst="wedgeRoundRectCallout">
                <a:avLst>
                  <a:gd name="adj1" fmla="val -108949"/>
                  <a:gd name="adj2" fmla="val -13014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3871" name="Text Box 63"/>
              <p:cNvSpPr txBox="1">
                <a:spLocks noChangeArrowheads="1"/>
              </p:cNvSpPr>
              <p:nvPr/>
            </p:nvSpPr>
            <p:spPr bwMode="auto">
              <a:xfrm>
                <a:off x="4241" y="2260"/>
                <a:ext cx="943"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孔径不定</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sp>
        <p:nvSpPr>
          <p:cNvPr id="2423872" name="Text Box 64"/>
          <p:cNvSpPr txBox="1"/>
          <p:nvPr/>
        </p:nvSpPr>
        <p:spPr>
          <a:xfrm>
            <a:off x="333375" y="3209925"/>
            <a:ext cx="2847975" cy="2574925"/>
          </a:xfrm>
          <a:prstGeom prst="rect">
            <a:avLst/>
          </a:prstGeom>
          <a:no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若孔径时间在变化，则对精度会造成影响；</a:t>
            </a:r>
            <a:endParaRPr lang="zh-CN" altLang="en-US" sz="2400" dirty="0">
              <a:latin typeface="Times New Roman" panose="02020603050405020304" pitchFamily="18" charset="0"/>
            </a:endParaRPr>
          </a:p>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尤其，在高速采集系统中孔径时间的变化影响很大。</a:t>
            </a:r>
            <a:endParaRPr lang="zh-CN" altLang="en-US" sz="2400" dirty="0">
              <a:latin typeface="Times New Roman" panose="02020603050405020304" pitchFamily="18" charset="0"/>
            </a:endParaRPr>
          </a:p>
        </p:txBody>
      </p:sp>
      <p:sp>
        <p:nvSpPr>
          <p:cNvPr id="21511" name="Text Box 5"/>
          <p:cNvSpPr txBox="1"/>
          <p:nvPr/>
        </p:nvSpPr>
        <p:spPr>
          <a:xfrm>
            <a:off x="358775" y="728663"/>
            <a:ext cx="62150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3812"/>
                                        </p:tgtEl>
                                        <p:attrNameLst>
                                          <p:attrName>style.visibility</p:attrName>
                                        </p:attrNameLst>
                                      </p:cBhvr>
                                      <p:to>
                                        <p:strVal val="visible"/>
                                      </p:to>
                                    </p:set>
                                    <p:animEffect transition="in" filter="dissolve">
                                      <p:cBhvr>
                                        <p:cTn id="7" dur="500"/>
                                        <p:tgtEl>
                                          <p:spTgt spid="24238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3810"/>
                                        </p:tgtEl>
                                        <p:attrNameLst>
                                          <p:attrName>style.visibility</p:attrName>
                                        </p:attrNameLst>
                                      </p:cBhvr>
                                      <p:to>
                                        <p:strVal val="visible"/>
                                      </p:to>
                                    </p:set>
                                    <p:animEffect transition="in" filter="dissolve">
                                      <p:cBhvr>
                                        <p:cTn id="12" dur="500"/>
                                        <p:tgtEl>
                                          <p:spTgt spid="24238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3872">
                                            <p:txEl>
                                              <p:charRg st="0" end="20"/>
                                            </p:txEl>
                                          </p:spTgt>
                                        </p:tgtEl>
                                        <p:attrNameLst>
                                          <p:attrName>style.visibility</p:attrName>
                                        </p:attrNameLst>
                                      </p:cBhvr>
                                      <p:to>
                                        <p:strVal val="visible"/>
                                      </p:to>
                                    </p:set>
                                    <p:animEffect transition="in" filter="dissolve">
                                      <p:cBhvr>
                                        <p:cTn id="17" dur="500"/>
                                        <p:tgtEl>
                                          <p:spTgt spid="2423872">
                                            <p:txEl>
                                              <p:charRg st="0" end="2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23872">
                                            <p:txEl>
                                              <p:charRg st="20" end="44"/>
                                            </p:txEl>
                                          </p:spTgt>
                                        </p:tgtEl>
                                        <p:attrNameLst>
                                          <p:attrName>style.visibility</p:attrName>
                                        </p:attrNameLst>
                                      </p:cBhvr>
                                      <p:to>
                                        <p:strVal val="visible"/>
                                      </p:to>
                                    </p:set>
                                    <p:animEffect transition="in" filter="dissolve">
                                      <p:cBhvr>
                                        <p:cTn id="22" dur="500"/>
                                        <p:tgtEl>
                                          <p:spTgt spid="2423872">
                                            <p:txEl>
                                              <p:charRg st="20" end="4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3810" grpId="0" animBg="1"/>
      <p:bldP spid="2423812"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4834" name="Text Box 2"/>
          <p:cNvSpPr txBox="1"/>
          <p:nvPr/>
        </p:nvSpPr>
        <p:spPr>
          <a:xfrm>
            <a:off x="250825" y="1989138"/>
            <a:ext cx="3203575" cy="279082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pPr>
            <a:r>
              <a:rPr lang="zh-CN" altLang="en-US" sz="2800" dirty="0">
                <a:solidFill>
                  <a:srgbClr val="FF0000"/>
                </a:solidFill>
                <a:latin typeface="黑体" panose="02010609060101010101" pitchFamily="49" charset="-122"/>
                <a:ea typeface="黑体" panose="02010609060101010101" pitchFamily="49" charset="-122"/>
              </a:rPr>
              <a:t>捕捉时间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AC</a:t>
            </a:r>
            <a:r>
              <a:rPr lang="zh-CN" altLang="en-US" sz="2800" dirty="0">
                <a:solidFill>
                  <a:schemeClr val="tx1"/>
                </a:solidFill>
                <a:latin typeface="黑体" panose="02010609060101010101" pitchFamily="49" charset="-122"/>
                <a:ea typeface="黑体" panose="02010609060101010101" pitchFamily="49" charset="-122"/>
              </a:rPr>
              <a:t>：指当采样</a:t>
            </a:r>
            <a:r>
              <a:rPr lang="en-US" altLang="zh-CN" sz="2800" dirty="0">
                <a:solidFill>
                  <a:schemeClr val="tx1"/>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保持器从保持状态转到跟踪状态时，输出电压开始跟踪输入电压，并达到误差范围内所需要的最小时间。</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24836" name="Text Box 4"/>
          <p:cNvSpPr txBox="1"/>
          <p:nvPr/>
        </p:nvSpPr>
        <p:spPr>
          <a:xfrm>
            <a:off x="584200" y="1397000"/>
            <a:ext cx="3419475"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3.</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捕捉时间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AC</a:t>
            </a:r>
            <a:endParaRPr lang="en-US" altLang="zh-CN" sz="2800" baseline="-25000" dirty="0">
              <a:solidFill>
                <a:srgbClr val="FF0000"/>
              </a:solidFill>
              <a:latin typeface="Times New Roman" panose="02020603050405020304" pitchFamily="18" charset="0"/>
              <a:ea typeface="黑体" panose="02010609060101010101" pitchFamily="49" charset="-122"/>
            </a:endParaRPr>
          </a:p>
        </p:txBody>
      </p:sp>
      <p:sp>
        <p:nvSpPr>
          <p:cNvPr id="2424837" name="Text Box 5"/>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4883" name="Text Box 51"/>
          <p:cNvSpPr txBox="1"/>
          <p:nvPr/>
        </p:nvSpPr>
        <p:spPr>
          <a:xfrm>
            <a:off x="107950" y="2082800"/>
            <a:ext cx="3425825" cy="1077913"/>
          </a:xfrm>
          <a:prstGeom prst="rect">
            <a:avLst/>
          </a:prstGeom>
          <a:solidFill>
            <a:schemeClr val="bg1"/>
          </a:solid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捕捉时间不影响采样精度，但对采样频率的提高有影响；</a:t>
            </a:r>
            <a:endParaRPr lang="zh-CN" altLang="en-US" sz="2400" dirty="0">
              <a:latin typeface="Times New Roman" panose="02020603050405020304" pitchFamily="18" charset="0"/>
            </a:endParaRPr>
          </a:p>
        </p:txBody>
      </p:sp>
      <p:grpSp>
        <p:nvGrpSpPr>
          <p:cNvPr id="22534" name="Group 59"/>
          <p:cNvGrpSpPr/>
          <p:nvPr/>
        </p:nvGrpSpPr>
        <p:grpSpPr>
          <a:xfrm>
            <a:off x="3600450" y="1260475"/>
            <a:ext cx="5508625" cy="4983163"/>
            <a:chOff x="2268" y="794"/>
            <a:chExt cx="3470" cy="3139"/>
          </a:xfrm>
        </p:grpSpPr>
        <p:sp>
          <p:nvSpPr>
            <p:cNvPr id="22538" name="Rectangle 6"/>
            <p:cNvSpPr/>
            <p:nvPr/>
          </p:nvSpPr>
          <p:spPr>
            <a:xfrm>
              <a:off x="2290" y="845"/>
              <a:ext cx="3448" cy="3066"/>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39" name="Line 7"/>
            <p:cNvSpPr/>
            <p:nvPr/>
          </p:nvSpPr>
          <p:spPr>
            <a:xfrm>
              <a:off x="2378" y="3432"/>
              <a:ext cx="2688" cy="0"/>
            </a:xfrm>
            <a:prstGeom prst="line">
              <a:avLst/>
            </a:prstGeom>
            <a:ln w="9525" cap="flat" cmpd="sng">
              <a:solidFill>
                <a:srgbClr val="0000FF"/>
              </a:solidFill>
              <a:prstDash val="solid"/>
              <a:headEnd type="none" w="med" len="med"/>
              <a:tailEnd type="stealth" w="sm" len="lg"/>
            </a:ln>
          </p:spPr>
        </p:sp>
        <p:sp>
          <p:nvSpPr>
            <p:cNvPr id="22540" name="Text Box 8"/>
            <p:cNvSpPr txBox="1"/>
            <p:nvPr/>
          </p:nvSpPr>
          <p:spPr>
            <a:xfrm>
              <a:off x="5067" y="3323"/>
              <a:ext cx="160"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2541" name="Line 9"/>
            <p:cNvSpPr/>
            <p:nvPr/>
          </p:nvSpPr>
          <p:spPr>
            <a:xfrm flipV="1">
              <a:off x="2378" y="1153"/>
              <a:ext cx="0" cy="2279"/>
            </a:xfrm>
            <a:prstGeom prst="line">
              <a:avLst/>
            </a:prstGeom>
            <a:ln w="9525" cap="flat" cmpd="sng">
              <a:solidFill>
                <a:srgbClr val="0000FF"/>
              </a:solidFill>
              <a:prstDash val="solid"/>
              <a:headEnd type="none" w="med" len="med"/>
              <a:tailEnd type="stealth" w="sm" len="lg"/>
            </a:ln>
          </p:spPr>
        </p:sp>
        <p:sp>
          <p:nvSpPr>
            <p:cNvPr id="22542" name="Text Box 10"/>
            <p:cNvSpPr txBox="1"/>
            <p:nvPr/>
          </p:nvSpPr>
          <p:spPr>
            <a:xfrm>
              <a:off x="2268" y="913"/>
              <a:ext cx="23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22543" name="Freeform 11"/>
            <p:cNvSpPr/>
            <p:nvPr/>
          </p:nvSpPr>
          <p:spPr>
            <a:xfrm>
              <a:off x="2378" y="1350"/>
              <a:ext cx="1820" cy="1528"/>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820" h="1528">
                  <a:moveTo>
                    <a:pt x="0" y="1406"/>
                  </a:moveTo>
                  <a:cubicBezTo>
                    <a:pt x="14" y="1423"/>
                    <a:pt x="28" y="1441"/>
                    <a:pt x="50" y="1456"/>
                  </a:cubicBezTo>
                  <a:cubicBezTo>
                    <a:pt x="72" y="1471"/>
                    <a:pt x="112" y="1488"/>
                    <a:pt x="134" y="1498"/>
                  </a:cubicBezTo>
                  <a:cubicBezTo>
                    <a:pt x="156" y="1508"/>
                    <a:pt x="167" y="1511"/>
                    <a:pt x="184" y="1515"/>
                  </a:cubicBezTo>
                  <a:cubicBezTo>
                    <a:pt x="201" y="1519"/>
                    <a:pt x="217" y="1522"/>
                    <a:pt x="234" y="1523"/>
                  </a:cubicBezTo>
                  <a:cubicBezTo>
                    <a:pt x="251" y="1524"/>
                    <a:pt x="266" y="1523"/>
                    <a:pt x="284" y="1523"/>
                  </a:cubicBezTo>
                  <a:cubicBezTo>
                    <a:pt x="302" y="1523"/>
                    <a:pt x="320" y="1528"/>
                    <a:pt x="342" y="1523"/>
                  </a:cubicBezTo>
                  <a:cubicBezTo>
                    <a:pt x="364" y="1518"/>
                    <a:pt x="396" y="1501"/>
                    <a:pt x="417" y="1490"/>
                  </a:cubicBezTo>
                  <a:cubicBezTo>
                    <a:pt x="438" y="1479"/>
                    <a:pt x="450" y="1469"/>
                    <a:pt x="468" y="1456"/>
                  </a:cubicBezTo>
                  <a:cubicBezTo>
                    <a:pt x="486" y="1443"/>
                    <a:pt x="505" y="1433"/>
                    <a:pt x="526" y="1414"/>
                  </a:cubicBezTo>
                  <a:cubicBezTo>
                    <a:pt x="547" y="1395"/>
                    <a:pt x="574" y="1365"/>
                    <a:pt x="593" y="1339"/>
                  </a:cubicBezTo>
                  <a:cubicBezTo>
                    <a:pt x="612" y="1313"/>
                    <a:pt x="625" y="1288"/>
                    <a:pt x="643" y="1256"/>
                  </a:cubicBezTo>
                  <a:cubicBezTo>
                    <a:pt x="661" y="1224"/>
                    <a:pt x="675" y="1214"/>
                    <a:pt x="701" y="1147"/>
                  </a:cubicBezTo>
                  <a:cubicBezTo>
                    <a:pt x="727" y="1080"/>
                    <a:pt x="775" y="937"/>
                    <a:pt x="801" y="855"/>
                  </a:cubicBezTo>
                  <a:cubicBezTo>
                    <a:pt x="827" y="773"/>
                    <a:pt x="836" y="726"/>
                    <a:pt x="860" y="655"/>
                  </a:cubicBezTo>
                  <a:cubicBezTo>
                    <a:pt x="884" y="584"/>
                    <a:pt x="922" y="486"/>
                    <a:pt x="943" y="429"/>
                  </a:cubicBezTo>
                  <a:cubicBezTo>
                    <a:pt x="964" y="372"/>
                    <a:pt x="968" y="349"/>
                    <a:pt x="985" y="313"/>
                  </a:cubicBezTo>
                  <a:cubicBezTo>
                    <a:pt x="1002" y="277"/>
                    <a:pt x="1019" y="246"/>
                    <a:pt x="1044" y="212"/>
                  </a:cubicBezTo>
                  <a:cubicBezTo>
                    <a:pt x="1069" y="178"/>
                    <a:pt x="1109" y="136"/>
                    <a:pt x="1135" y="112"/>
                  </a:cubicBezTo>
                  <a:cubicBezTo>
                    <a:pt x="1161" y="88"/>
                    <a:pt x="1180" y="84"/>
                    <a:pt x="1202" y="70"/>
                  </a:cubicBezTo>
                  <a:cubicBezTo>
                    <a:pt x="1224" y="56"/>
                    <a:pt x="1249" y="37"/>
                    <a:pt x="1269" y="29"/>
                  </a:cubicBezTo>
                  <a:cubicBezTo>
                    <a:pt x="1289" y="21"/>
                    <a:pt x="1297" y="24"/>
                    <a:pt x="1319" y="20"/>
                  </a:cubicBezTo>
                  <a:cubicBezTo>
                    <a:pt x="1341" y="16"/>
                    <a:pt x="1364" y="0"/>
                    <a:pt x="1403" y="4"/>
                  </a:cubicBezTo>
                  <a:cubicBezTo>
                    <a:pt x="1442" y="8"/>
                    <a:pt x="1513" y="27"/>
                    <a:pt x="1553" y="45"/>
                  </a:cubicBezTo>
                  <a:cubicBezTo>
                    <a:pt x="1593" y="63"/>
                    <a:pt x="1613" y="86"/>
                    <a:pt x="1645" y="112"/>
                  </a:cubicBezTo>
                  <a:cubicBezTo>
                    <a:pt x="1677" y="138"/>
                    <a:pt x="1716" y="166"/>
                    <a:pt x="1745" y="204"/>
                  </a:cubicBezTo>
                  <a:cubicBezTo>
                    <a:pt x="1774" y="242"/>
                    <a:pt x="1808" y="316"/>
                    <a:pt x="1820" y="338"/>
                  </a:cubicBezTo>
                </a:path>
              </a:pathLst>
            </a:custGeom>
            <a:noFill/>
            <a:ln w="19050" cap="flat" cmpd="sng">
              <a:solidFill>
                <a:srgbClr val="0000FF">
                  <a:alpha val="100000"/>
                </a:srgbClr>
              </a:solidFill>
              <a:prstDash val="dash"/>
              <a:round/>
              <a:headEnd type="none" w="med" len="med"/>
              <a:tailEnd type="none" w="med" len="med"/>
            </a:ln>
          </p:spPr>
          <p:txBody>
            <a:bodyPr/>
            <a:p>
              <a:endParaRPr lang="zh-CN" altLang="en-US"/>
            </a:p>
          </p:txBody>
        </p:sp>
        <p:sp>
          <p:nvSpPr>
            <p:cNvPr id="22544" name="Line 12"/>
            <p:cNvSpPr/>
            <p:nvPr/>
          </p:nvSpPr>
          <p:spPr>
            <a:xfrm>
              <a:off x="2378" y="2456"/>
              <a:ext cx="718" cy="0"/>
            </a:xfrm>
            <a:prstGeom prst="line">
              <a:avLst/>
            </a:prstGeom>
            <a:ln w="31750" cap="flat" cmpd="sng">
              <a:solidFill>
                <a:srgbClr val="FF0000"/>
              </a:solidFill>
              <a:prstDash val="solid"/>
              <a:headEnd type="none" w="med" len="med"/>
              <a:tailEnd type="none" w="med" len="med"/>
            </a:ln>
          </p:spPr>
        </p:sp>
        <p:sp>
          <p:nvSpPr>
            <p:cNvPr id="22545" name="Arc 13"/>
            <p:cNvSpPr/>
            <p:nvPr/>
          </p:nvSpPr>
          <p:spPr>
            <a:xfrm flipV="1">
              <a:off x="3163" y="2347"/>
              <a:ext cx="99" cy="109"/>
            </a:xfrm>
            <a:custGeom>
              <a:avLst/>
              <a:gdLst/>
              <a:ahLst/>
              <a:cxnLst>
                <a:cxn ang="0">
                  <a:pos x="0" y="0"/>
                </a:cxn>
                <a:cxn ang="0">
                  <a:pos x="1272" y="2265"/>
                </a:cxn>
                <a:cxn ang="0">
                  <a:pos x="0" y="2265"/>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2546" name="Freeform 14"/>
            <p:cNvSpPr/>
            <p:nvPr/>
          </p:nvSpPr>
          <p:spPr>
            <a:xfrm>
              <a:off x="3263" y="1776"/>
              <a:ext cx="45" cy="572"/>
            </a:xfrm>
            <a:custGeom>
              <a:avLst/>
              <a:gdLst/>
              <a:ahLst/>
              <a:cxnLst>
                <a:cxn ang="0">
                  <a:pos x="0" y="2147483646"/>
                </a:cxn>
                <a:cxn ang="0">
                  <a:pos x="2147483646" y="2147483646"/>
                </a:cxn>
                <a:cxn ang="0">
                  <a:pos x="2147483646" y="0"/>
                </a:cxn>
              </a:cxnLst>
              <a:pathLst>
                <a:path w="45" h="572">
                  <a:moveTo>
                    <a:pt x="0" y="572"/>
                  </a:moveTo>
                  <a:lnTo>
                    <a:pt x="37" y="54"/>
                  </a:lnTo>
                  <a:lnTo>
                    <a:pt x="45"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2547" name="Line 15"/>
            <p:cNvSpPr/>
            <p:nvPr/>
          </p:nvSpPr>
          <p:spPr>
            <a:xfrm>
              <a:off x="4439" y="1045"/>
              <a:ext cx="0" cy="443"/>
            </a:xfrm>
            <a:prstGeom prst="line">
              <a:avLst/>
            </a:prstGeom>
            <a:ln w="9525" cap="flat" cmpd="sng">
              <a:solidFill>
                <a:srgbClr val="0000FF"/>
              </a:solidFill>
              <a:prstDash val="solid"/>
              <a:headEnd type="none" w="med" len="med"/>
              <a:tailEnd type="stealth" w="sm" len="lg"/>
            </a:ln>
          </p:spPr>
        </p:sp>
        <p:sp>
          <p:nvSpPr>
            <p:cNvPr id="22548" name="Line 16"/>
            <p:cNvSpPr/>
            <p:nvPr/>
          </p:nvSpPr>
          <p:spPr>
            <a:xfrm flipV="1">
              <a:off x="4439" y="1579"/>
              <a:ext cx="0" cy="334"/>
            </a:xfrm>
            <a:prstGeom prst="line">
              <a:avLst/>
            </a:prstGeom>
            <a:ln w="9525" cap="flat" cmpd="sng">
              <a:solidFill>
                <a:srgbClr val="0000FF"/>
              </a:solidFill>
              <a:prstDash val="solid"/>
              <a:headEnd type="none" w="med" len="med"/>
              <a:tailEnd type="stealth" w="sm" len="lg"/>
            </a:ln>
          </p:spPr>
        </p:sp>
        <p:sp>
          <p:nvSpPr>
            <p:cNvPr id="22549" name="Text Box 17"/>
            <p:cNvSpPr txBox="1"/>
            <p:nvPr/>
          </p:nvSpPr>
          <p:spPr>
            <a:xfrm rot="-5400000">
              <a:off x="3976" y="1050"/>
              <a:ext cx="710" cy="197"/>
            </a:xfrm>
            <a:prstGeom prst="rect">
              <a:avLst/>
            </a:prstGeom>
            <a:noFill/>
            <a:ln w="9525">
              <a:noFill/>
            </a:ln>
          </p:spPr>
          <p:txBody>
            <a:bodyPr>
              <a:spAutoFit/>
            </a:bodyPr>
            <a:p>
              <a:pPr eaLnBrk="1" hangingPunct="1">
                <a:lnSpc>
                  <a:spcPct val="90000"/>
                </a:lnSpc>
              </a:pPr>
              <a:r>
                <a:rPr lang="zh-CN" altLang="en-US" sz="1600" dirty="0">
                  <a:latin typeface="Times New Roman" panose="02020603050405020304" pitchFamily="18" charset="0"/>
                </a:rPr>
                <a:t>孔径误差</a:t>
              </a:r>
              <a:endParaRPr lang="zh-CN" altLang="en-US" sz="1600" dirty="0">
                <a:latin typeface="Times New Roman" panose="02020603050405020304" pitchFamily="18" charset="0"/>
              </a:endParaRPr>
            </a:p>
          </p:txBody>
        </p:sp>
        <p:sp>
          <p:nvSpPr>
            <p:cNvPr id="22550" name="Line 18"/>
            <p:cNvSpPr/>
            <p:nvPr/>
          </p:nvSpPr>
          <p:spPr>
            <a:xfrm flipV="1">
              <a:off x="2378" y="3424"/>
              <a:ext cx="664" cy="0"/>
            </a:xfrm>
            <a:prstGeom prst="line">
              <a:avLst/>
            </a:prstGeom>
            <a:ln w="31750" cap="flat" cmpd="sng">
              <a:solidFill>
                <a:srgbClr val="CC00CC"/>
              </a:solidFill>
              <a:prstDash val="solid"/>
              <a:headEnd type="none" w="med" len="med"/>
              <a:tailEnd type="none" w="med" len="med"/>
            </a:ln>
          </p:spPr>
        </p:sp>
        <p:sp>
          <p:nvSpPr>
            <p:cNvPr id="22551" name="Text Box 19"/>
            <p:cNvSpPr txBox="1"/>
            <p:nvPr/>
          </p:nvSpPr>
          <p:spPr>
            <a:xfrm>
              <a:off x="2530" y="3202"/>
              <a:ext cx="466"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2552" name="Line 20"/>
            <p:cNvSpPr/>
            <p:nvPr/>
          </p:nvSpPr>
          <p:spPr>
            <a:xfrm flipV="1">
              <a:off x="3048" y="2998"/>
              <a:ext cx="0" cy="426"/>
            </a:xfrm>
            <a:prstGeom prst="line">
              <a:avLst/>
            </a:prstGeom>
            <a:ln w="31750" cap="flat" cmpd="sng">
              <a:solidFill>
                <a:srgbClr val="CC00CC"/>
              </a:solidFill>
              <a:prstDash val="solid"/>
              <a:headEnd type="none" w="med" len="med"/>
              <a:tailEnd type="none" w="med" len="med"/>
            </a:ln>
          </p:spPr>
        </p:sp>
        <p:sp>
          <p:nvSpPr>
            <p:cNvPr id="22553" name="Line 21"/>
            <p:cNvSpPr/>
            <p:nvPr/>
          </p:nvSpPr>
          <p:spPr>
            <a:xfrm flipV="1">
              <a:off x="3048" y="2456"/>
              <a:ext cx="0" cy="551"/>
            </a:xfrm>
            <a:prstGeom prst="line">
              <a:avLst/>
            </a:prstGeom>
            <a:ln w="12700" cap="flat" cmpd="sng">
              <a:solidFill>
                <a:srgbClr val="008080"/>
              </a:solidFill>
              <a:prstDash val="sysDot"/>
              <a:headEnd type="none" w="med" len="med"/>
              <a:tailEnd type="none" w="med" len="med"/>
            </a:ln>
          </p:spPr>
        </p:sp>
        <p:sp>
          <p:nvSpPr>
            <p:cNvPr id="22554" name="Line 22"/>
            <p:cNvSpPr/>
            <p:nvPr/>
          </p:nvSpPr>
          <p:spPr>
            <a:xfrm>
              <a:off x="3052" y="3007"/>
              <a:ext cx="361" cy="0"/>
            </a:xfrm>
            <a:prstGeom prst="line">
              <a:avLst/>
            </a:prstGeom>
            <a:ln w="31750" cap="flat" cmpd="sng">
              <a:solidFill>
                <a:srgbClr val="CC00CC"/>
              </a:solidFill>
              <a:prstDash val="solid"/>
              <a:headEnd type="none" w="med" len="med"/>
              <a:tailEnd type="none" w="med" len="med"/>
            </a:ln>
          </p:spPr>
        </p:sp>
        <p:sp>
          <p:nvSpPr>
            <p:cNvPr id="22555" name="Text Box 23"/>
            <p:cNvSpPr txBox="1"/>
            <p:nvPr/>
          </p:nvSpPr>
          <p:spPr>
            <a:xfrm>
              <a:off x="3052" y="3007"/>
              <a:ext cx="460"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跟踪</a:t>
              </a:r>
              <a:endParaRPr lang="zh-CN" altLang="en-US" sz="1800" dirty="0">
                <a:latin typeface="Times New Roman" panose="02020603050405020304" pitchFamily="18" charset="0"/>
              </a:endParaRPr>
            </a:p>
          </p:txBody>
        </p:sp>
        <p:sp>
          <p:nvSpPr>
            <p:cNvPr id="22556" name="Line 24"/>
            <p:cNvSpPr/>
            <p:nvPr/>
          </p:nvSpPr>
          <p:spPr>
            <a:xfrm flipV="1">
              <a:off x="3413" y="3474"/>
              <a:ext cx="0" cy="208"/>
            </a:xfrm>
            <a:prstGeom prst="line">
              <a:avLst/>
            </a:prstGeom>
            <a:ln w="19050" cap="flat" cmpd="sng">
              <a:solidFill>
                <a:srgbClr val="FF0000"/>
              </a:solidFill>
              <a:prstDash val="solid"/>
              <a:headEnd type="none" w="med" len="med"/>
              <a:tailEnd type="triangle" w="sm" len="lg"/>
            </a:ln>
          </p:spPr>
        </p:sp>
        <p:sp>
          <p:nvSpPr>
            <p:cNvPr id="22557" name="Text Box 25"/>
            <p:cNvSpPr txBox="1"/>
            <p:nvPr/>
          </p:nvSpPr>
          <p:spPr>
            <a:xfrm>
              <a:off x="3396" y="3488"/>
              <a:ext cx="1276" cy="214"/>
            </a:xfrm>
            <a:prstGeom prst="rect">
              <a:avLst/>
            </a:prstGeom>
            <a:noFill/>
            <a:ln w="9525">
              <a:noFill/>
            </a:ln>
          </p:spPr>
          <p:txBody>
            <a:bodyPr wrap="none">
              <a:spAutoFit/>
            </a:bodyPr>
            <a:p>
              <a:pPr eaLnBrk="1" hangingPunct="1">
                <a:lnSpc>
                  <a:spcPct val="90000"/>
                </a:lnSpc>
              </a:pPr>
              <a:r>
                <a:rPr lang="zh-CN" altLang="en-US" sz="1800" dirty="0">
                  <a:solidFill>
                    <a:srgbClr val="FF0000"/>
                  </a:solidFill>
                  <a:latin typeface="Times New Roman" panose="02020603050405020304" pitchFamily="18" charset="0"/>
                </a:rPr>
                <a:t>保持指令发出时刻</a:t>
              </a:r>
              <a:endParaRPr lang="zh-CN" altLang="en-US" sz="1800" dirty="0">
                <a:solidFill>
                  <a:srgbClr val="FF0000"/>
                </a:solidFill>
                <a:latin typeface="Times New Roman" panose="02020603050405020304" pitchFamily="18" charset="0"/>
              </a:endParaRPr>
            </a:p>
          </p:txBody>
        </p:sp>
        <p:sp>
          <p:nvSpPr>
            <p:cNvPr id="22558" name="Line 26"/>
            <p:cNvSpPr/>
            <p:nvPr/>
          </p:nvSpPr>
          <p:spPr>
            <a:xfrm>
              <a:off x="3413" y="3007"/>
              <a:ext cx="0" cy="417"/>
            </a:xfrm>
            <a:prstGeom prst="line">
              <a:avLst/>
            </a:prstGeom>
            <a:ln w="31750" cap="flat" cmpd="sng">
              <a:solidFill>
                <a:srgbClr val="CC00CC"/>
              </a:solidFill>
              <a:prstDash val="solid"/>
              <a:headEnd type="none" w="med" len="med"/>
              <a:tailEnd type="none" w="med" len="med"/>
            </a:ln>
          </p:spPr>
        </p:sp>
        <p:sp>
          <p:nvSpPr>
            <p:cNvPr id="22559" name="Line 27"/>
            <p:cNvSpPr/>
            <p:nvPr/>
          </p:nvSpPr>
          <p:spPr>
            <a:xfrm flipV="1">
              <a:off x="3413" y="1578"/>
              <a:ext cx="0" cy="1429"/>
            </a:xfrm>
            <a:prstGeom prst="line">
              <a:avLst/>
            </a:prstGeom>
            <a:ln w="9525" cap="flat" cmpd="sng">
              <a:solidFill>
                <a:srgbClr val="008080"/>
              </a:solidFill>
              <a:prstDash val="sysDot"/>
              <a:headEnd type="none" w="med" len="med"/>
              <a:tailEnd type="none" w="med" len="med"/>
            </a:ln>
          </p:spPr>
        </p:sp>
        <p:sp>
          <p:nvSpPr>
            <p:cNvPr id="22560" name="Line 28"/>
            <p:cNvSpPr/>
            <p:nvPr/>
          </p:nvSpPr>
          <p:spPr>
            <a:xfrm>
              <a:off x="3563" y="1428"/>
              <a:ext cx="1" cy="1596"/>
            </a:xfrm>
            <a:prstGeom prst="line">
              <a:avLst/>
            </a:prstGeom>
            <a:ln w="9525" cap="flat" cmpd="sng">
              <a:solidFill>
                <a:srgbClr val="FF0000"/>
              </a:solidFill>
              <a:prstDash val="sysDot"/>
              <a:headEnd type="none" w="med" len="med"/>
              <a:tailEnd type="none" w="med" len="med"/>
            </a:ln>
          </p:spPr>
        </p:sp>
        <p:sp>
          <p:nvSpPr>
            <p:cNvPr id="22561" name="Line 29"/>
            <p:cNvSpPr/>
            <p:nvPr/>
          </p:nvSpPr>
          <p:spPr>
            <a:xfrm>
              <a:off x="3288" y="2923"/>
              <a:ext cx="125" cy="0"/>
            </a:xfrm>
            <a:prstGeom prst="line">
              <a:avLst/>
            </a:prstGeom>
            <a:ln w="12700" cap="flat" cmpd="sng">
              <a:solidFill>
                <a:schemeClr val="tx1"/>
              </a:solidFill>
              <a:prstDash val="solid"/>
              <a:headEnd type="none" w="med" len="med"/>
              <a:tailEnd type="stealth" w="med" len="lg"/>
            </a:ln>
          </p:spPr>
        </p:sp>
        <p:sp>
          <p:nvSpPr>
            <p:cNvPr id="22562" name="Line 30"/>
            <p:cNvSpPr/>
            <p:nvPr/>
          </p:nvSpPr>
          <p:spPr>
            <a:xfrm flipH="1">
              <a:off x="3564" y="2923"/>
              <a:ext cx="259" cy="0"/>
            </a:xfrm>
            <a:prstGeom prst="line">
              <a:avLst/>
            </a:prstGeom>
            <a:ln w="12700" cap="flat" cmpd="sng">
              <a:solidFill>
                <a:schemeClr val="tx1"/>
              </a:solidFill>
              <a:prstDash val="solid"/>
              <a:headEnd type="none" w="med" len="med"/>
              <a:tailEnd type="stealth" w="med" len="lg"/>
            </a:ln>
          </p:spPr>
        </p:sp>
        <p:sp>
          <p:nvSpPr>
            <p:cNvPr id="22563" name="Text Box 31"/>
            <p:cNvSpPr txBox="1"/>
            <p:nvPr/>
          </p:nvSpPr>
          <p:spPr>
            <a:xfrm>
              <a:off x="3581" y="2711"/>
              <a:ext cx="284"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2564" name="Line 32"/>
            <p:cNvSpPr/>
            <p:nvPr/>
          </p:nvSpPr>
          <p:spPr>
            <a:xfrm flipH="1">
              <a:off x="3914" y="1481"/>
              <a:ext cx="2" cy="917"/>
            </a:xfrm>
            <a:prstGeom prst="line">
              <a:avLst/>
            </a:prstGeom>
            <a:ln w="9525" cap="flat" cmpd="sng">
              <a:solidFill>
                <a:srgbClr val="FF0000"/>
              </a:solidFill>
              <a:prstDash val="sysDot"/>
              <a:headEnd type="none" w="med" len="med"/>
              <a:tailEnd type="none" w="med" len="med"/>
            </a:ln>
          </p:spPr>
        </p:sp>
        <p:sp>
          <p:nvSpPr>
            <p:cNvPr id="22565" name="Line 33"/>
            <p:cNvSpPr/>
            <p:nvPr/>
          </p:nvSpPr>
          <p:spPr>
            <a:xfrm>
              <a:off x="3411" y="2322"/>
              <a:ext cx="503" cy="0"/>
            </a:xfrm>
            <a:prstGeom prst="line">
              <a:avLst/>
            </a:prstGeom>
            <a:ln w="12700" cap="flat" cmpd="sng">
              <a:solidFill>
                <a:schemeClr val="tx1"/>
              </a:solidFill>
              <a:prstDash val="solid"/>
              <a:headEnd type="stealth" w="sm" len="lg"/>
              <a:tailEnd type="stealth" w="med" len="lg"/>
            </a:ln>
          </p:spPr>
        </p:sp>
        <p:sp>
          <p:nvSpPr>
            <p:cNvPr id="22566" name="Text Box 34"/>
            <p:cNvSpPr txBox="1"/>
            <p:nvPr/>
          </p:nvSpPr>
          <p:spPr>
            <a:xfrm>
              <a:off x="3538" y="2105"/>
              <a:ext cx="273"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ST</a:t>
              </a:r>
              <a:endParaRPr lang="en-US" altLang="zh-CN" sz="1800" baseline="-25000" dirty="0">
                <a:solidFill>
                  <a:srgbClr val="FF0000"/>
                </a:solidFill>
                <a:latin typeface="Times New Roman" panose="02020603050405020304" pitchFamily="18" charset="0"/>
              </a:endParaRPr>
            </a:p>
          </p:txBody>
        </p:sp>
        <p:sp>
          <p:nvSpPr>
            <p:cNvPr id="22567" name="Text Box 35"/>
            <p:cNvSpPr txBox="1"/>
            <p:nvPr/>
          </p:nvSpPr>
          <p:spPr>
            <a:xfrm>
              <a:off x="3736" y="3215"/>
              <a:ext cx="454"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2568" name="Line 36"/>
            <p:cNvSpPr/>
            <p:nvPr/>
          </p:nvSpPr>
          <p:spPr>
            <a:xfrm>
              <a:off x="3413" y="3424"/>
              <a:ext cx="1252" cy="0"/>
            </a:xfrm>
            <a:prstGeom prst="line">
              <a:avLst/>
            </a:prstGeom>
            <a:ln w="31750" cap="flat" cmpd="sng">
              <a:solidFill>
                <a:srgbClr val="CC00CC"/>
              </a:solidFill>
              <a:prstDash val="solid"/>
              <a:headEnd type="none" w="med" len="med"/>
              <a:tailEnd type="none" w="med" len="med"/>
            </a:ln>
          </p:spPr>
        </p:sp>
        <p:sp>
          <p:nvSpPr>
            <p:cNvPr id="22569" name="Line 37"/>
            <p:cNvSpPr/>
            <p:nvPr/>
          </p:nvSpPr>
          <p:spPr>
            <a:xfrm>
              <a:off x="3413" y="1578"/>
              <a:ext cx="1662" cy="0"/>
            </a:xfrm>
            <a:prstGeom prst="line">
              <a:avLst/>
            </a:prstGeom>
            <a:ln w="12700" cap="flat" cmpd="sng">
              <a:solidFill>
                <a:schemeClr val="tx1"/>
              </a:solidFill>
              <a:prstDash val="sysDot"/>
              <a:headEnd type="none" w="med" len="med"/>
              <a:tailEnd type="none" w="med" len="med"/>
            </a:ln>
          </p:spPr>
        </p:sp>
        <p:sp>
          <p:nvSpPr>
            <p:cNvPr id="22570" name="Line 38"/>
            <p:cNvSpPr/>
            <p:nvPr/>
          </p:nvSpPr>
          <p:spPr>
            <a:xfrm>
              <a:off x="3071" y="2456"/>
              <a:ext cx="92" cy="0"/>
            </a:xfrm>
            <a:prstGeom prst="line">
              <a:avLst/>
            </a:prstGeom>
            <a:ln w="31750" cap="flat" cmpd="sng">
              <a:solidFill>
                <a:srgbClr val="FF0000"/>
              </a:solidFill>
              <a:prstDash val="solid"/>
              <a:headEnd type="none" w="med" len="med"/>
              <a:tailEnd type="none" w="med" len="med"/>
            </a:ln>
          </p:spPr>
        </p:sp>
        <p:sp>
          <p:nvSpPr>
            <p:cNvPr id="22571" name="Freeform 39"/>
            <p:cNvSpPr/>
            <p:nvPr/>
          </p:nvSpPr>
          <p:spPr>
            <a:xfrm>
              <a:off x="3411" y="1433"/>
              <a:ext cx="150" cy="142"/>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50" h="142">
                  <a:moveTo>
                    <a:pt x="0" y="142"/>
                  </a:moveTo>
                  <a:cubicBezTo>
                    <a:pt x="4" y="137"/>
                    <a:pt x="19" y="120"/>
                    <a:pt x="27" y="111"/>
                  </a:cubicBezTo>
                  <a:cubicBezTo>
                    <a:pt x="35" y="102"/>
                    <a:pt x="40" y="95"/>
                    <a:pt x="47" y="87"/>
                  </a:cubicBezTo>
                  <a:cubicBezTo>
                    <a:pt x="54" y="79"/>
                    <a:pt x="62" y="70"/>
                    <a:pt x="69" y="63"/>
                  </a:cubicBezTo>
                  <a:cubicBezTo>
                    <a:pt x="76" y="56"/>
                    <a:pt x="82" y="50"/>
                    <a:pt x="90" y="43"/>
                  </a:cubicBezTo>
                  <a:cubicBezTo>
                    <a:pt x="98" y="36"/>
                    <a:pt x="107" y="25"/>
                    <a:pt x="117" y="18"/>
                  </a:cubicBezTo>
                  <a:cubicBezTo>
                    <a:pt x="127" y="11"/>
                    <a:pt x="143" y="4"/>
                    <a:pt x="150"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2572" name="Freeform 40"/>
            <p:cNvSpPr/>
            <p:nvPr/>
          </p:nvSpPr>
          <p:spPr>
            <a:xfrm>
              <a:off x="3561" y="1431"/>
              <a:ext cx="355" cy="91"/>
            </a:xfrm>
            <a:custGeom>
              <a:avLst/>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355" h="91">
                  <a:moveTo>
                    <a:pt x="0" y="0"/>
                  </a:moveTo>
                  <a:cubicBezTo>
                    <a:pt x="5" y="1"/>
                    <a:pt x="22" y="3"/>
                    <a:pt x="31" y="9"/>
                  </a:cubicBezTo>
                  <a:cubicBezTo>
                    <a:pt x="40" y="15"/>
                    <a:pt x="46" y="31"/>
                    <a:pt x="53" y="39"/>
                  </a:cubicBezTo>
                  <a:cubicBezTo>
                    <a:pt x="59" y="47"/>
                    <a:pt x="63" y="53"/>
                    <a:pt x="68" y="59"/>
                  </a:cubicBezTo>
                  <a:cubicBezTo>
                    <a:pt x="73" y="64"/>
                    <a:pt x="77" y="69"/>
                    <a:pt x="82" y="73"/>
                  </a:cubicBezTo>
                  <a:cubicBezTo>
                    <a:pt x="88" y="77"/>
                    <a:pt x="95" y="80"/>
                    <a:pt x="101" y="83"/>
                  </a:cubicBezTo>
                  <a:cubicBezTo>
                    <a:pt x="107" y="86"/>
                    <a:pt x="112" y="91"/>
                    <a:pt x="119" y="91"/>
                  </a:cubicBezTo>
                  <a:cubicBezTo>
                    <a:pt x="125" y="90"/>
                    <a:pt x="137" y="85"/>
                    <a:pt x="141" y="81"/>
                  </a:cubicBezTo>
                  <a:cubicBezTo>
                    <a:pt x="146" y="77"/>
                    <a:pt x="142" y="72"/>
                    <a:pt x="145" y="66"/>
                  </a:cubicBezTo>
                  <a:cubicBezTo>
                    <a:pt x="148" y="60"/>
                    <a:pt x="155" y="52"/>
                    <a:pt x="159" y="46"/>
                  </a:cubicBezTo>
                  <a:cubicBezTo>
                    <a:pt x="164" y="41"/>
                    <a:pt x="167" y="39"/>
                    <a:pt x="171" y="34"/>
                  </a:cubicBezTo>
                  <a:cubicBezTo>
                    <a:pt x="174" y="30"/>
                    <a:pt x="175" y="23"/>
                    <a:pt x="182" y="19"/>
                  </a:cubicBezTo>
                  <a:cubicBezTo>
                    <a:pt x="188" y="15"/>
                    <a:pt x="199" y="12"/>
                    <a:pt x="208" y="12"/>
                  </a:cubicBezTo>
                  <a:cubicBezTo>
                    <a:pt x="216" y="12"/>
                    <a:pt x="225" y="15"/>
                    <a:pt x="233" y="19"/>
                  </a:cubicBezTo>
                  <a:cubicBezTo>
                    <a:pt x="241" y="23"/>
                    <a:pt x="248" y="31"/>
                    <a:pt x="255" y="34"/>
                  </a:cubicBezTo>
                  <a:cubicBezTo>
                    <a:pt x="263" y="37"/>
                    <a:pt x="270" y="35"/>
                    <a:pt x="277" y="36"/>
                  </a:cubicBezTo>
                  <a:cubicBezTo>
                    <a:pt x="285" y="38"/>
                    <a:pt x="292" y="42"/>
                    <a:pt x="299" y="44"/>
                  </a:cubicBezTo>
                  <a:cubicBezTo>
                    <a:pt x="307" y="46"/>
                    <a:pt x="313" y="48"/>
                    <a:pt x="322" y="49"/>
                  </a:cubicBezTo>
                  <a:cubicBezTo>
                    <a:pt x="331" y="50"/>
                    <a:pt x="350" y="51"/>
                    <a:pt x="355" y="51"/>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2573" name="Line 41"/>
            <p:cNvSpPr/>
            <p:nvPr/>
          </p:nvSpPr>
          <p:spPr>
            <a:xfrm>
              <a:off x="3914" y="1481"/>
              <a:ext cx="943" cy="0"/>
            </a:xfrm>
            <a:prstGeom prst="line">
              <a:avLst/>
            </a:prstGeom>
            <a:ln w="31750" cap="flat" cmpd="sng">
              <a:solidFill>
                <a:srgbClr val="FF0000"/>
              </a:solidFill>
              <a:prstDash val="solid"/>
              <a:headEnd type="none" w="med" len="med"/>
              <a:tailEnd type="none" w="med" len="med"/>
            </a:ln>
          </p:spPr>
        </p:sp>
        <p:sp>
          <p:nvSpPr>
            <p:cNvPr id="22574" name="Rectangle 42"/>
            <p:cNvSpPr/>
            <p:nvPr/>
          </p:nvSpPr>
          <p:spPr>
            <a:xfrm>
              <a:off x="3290" y="3702"/>
              <a:ext cx="1437" cy="231"/>
            </a:xfrm>
            <a:prstGeom prst="rect">
              <a:avLst/>
            </a:prstGeom>
            <a:noFill/>
            <a:ln w="9525">
              <a:noFill/>
            </a:ln>
          </p:spPr>
          <p:txBody>
            <a:bodyPr>
              <a:spAutoFit/>
            </a:bodyPr>
            <a:p>
              <a:pPr eaLnBrk="1" hangingPunct="1">
                <a:lnSpc>
                  <a:spcPct val="90000"/>
                </a:lnSpc>
              </a:pPr>
              <a:r>
                <a:rPr lang="zh-CN" altLang="en-US" sz="2000" dirty="0">
                  <a:solidFill>
                    <a:srgbClr val="000099"/>
                  </a:solidFill>
                  <a:latin typeface="Times New Roman" panose="02020603050405020304" pitchFamily="18" charset="0"/>
                </a:rPr>
                <a:t>采样／保持全过程</a:t>
              </a:r>
              <a:endParaRPr lang="zh-CN" altLang="en-US" sz="2000" dirty="0">
                <a:solidFill>
                  <a:srgbClr val="000099"/>
                </a:solidFill>
                <a:latin typeface="Times New Roman" panose="02020603050405020304" pitchFamily="18" charset="0"/>
              </a:endParaRPr>
            </a:p>
          </p:txBody>
        </p:sp>
        <p:sp>
          <p:nvSpPr>
            <p:cNvPr id="22575" name="Freeform 43"/>
            <p:cNvSpPr/>
            <p:nvPr/>
          </p:nvSpPr>
          <p:spPr>
            <a:xfrm>
              <a:off x="3308" y="1575"/>
              <a:ext cx="105" cy="204"/>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105" h="204">
                  <a:moveTo>
                    <a:pt x="0" y="204"/>
                  </a:moveTo>
                  <a:cubicBezTo>
                    <a:pt x="4" y="196"/>
                    <a:pt x="19" y="168"/>
                    <a:pt x="25" y="156"/>
                  </a:cubicBezTo>
                  <a:cubicBezTo>
                    <a:pt x="31" y="144"/>
                    <a:pt x="35" y="140"/>
                    <a:pt x="39" y="131"/>
                  </a:cubicBezTo>
                  <a:cubicBezTo>
                    <a:pt x="43" y="122"/>
                    <a:pt x="44" y="111"/>
                    <a:pt x="48" y="101"/>
                  </a:cubicBezTo>
                  <a:cubicBezTo>
                    <a:pt x="52" y="91"/>
                    <a:pt x="56" y="81"/>
                    <a:pt x="61" y="69"/>
                  </a:cubicBezTo>
                  <a:cubicBezTo>
                    <a:pt x="66" y="57"/>
                    <a:pt x="75" y="40"/>
                    <a:pt x="81" y="30"/>
                  </a:cubicBezTo>
                  <a:cubicBezTo>
                    <a:pt x="87" y="20"/>
                    <a:pt x="92" y="13"/>
                    <a:pt x="96" y="8"/>
                  </a:cubicBezTo>
                  <a:cubicBezTo>
                    <a:pt x="100" y="3"/>
                    <a:pt x="104" y="1"/>
                    <a:pt x="105"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2576" name="Line 44"/>
            <p:cNvSpPr/>
            <p:nvPr/>
          </p:nvSpPr>
          <p:spPr>
            <a:xfrm>
              <a:off x="3497" y="1604"/>
              <a:ext cx="0" cy="443"/>
            </a:xfrm>
            <a:prstGeom prst="line">
              <a:avLst/>
            </a:prstGeom>
            <a:ln w="12700" cap="flat" cmpd="sng">
              <a:solidFill>
                <a:srgbClr val="FF00FF"/>
              </a:solidFill>
              <a:prstDash val="sysDot"/>
              <a:headEnd type="none" w="med" len="med"/>
              <a:tailEnd type="none" w="med" len="med"/>
            </a:ln>
          </p:spPr>
        </p:sp>
        <p:sp>
          <p:nvSpPr>
            <p:cNvPr id="22577" name="Line 45"/>
            <p:cNvSpPr/>
            <p:nvPr/>
          </p:nvSpPr>
          <p:spPr>
            <a:xfrm>
              <a:off x="3622" y="1604"/>
              <a:ext cx="0" cy="451"/>
            </a:xfrm>
            <a:prstGeom prst="line">
              <a:avLst/>
            </a:prstGeom>
            <a:ln w="12700" cap="flat" cmpd="sng">
              <a:solidFill>
                <a:srgbClr val="FF00FF"/>
              </a:solidFill>
              <a:prstDash val="sysDot"/>
              <a:headEnd type="none" w="med" len="med"/>
              <a:tailEnd type="none" w="med" len="med"/>
            </a:ln>
          </p:spPr>
        </p:sp>
        <p:sp>
          <p:nvSpPr>
            <p:cNvPr id="22578" name="Line 46"/>
            <p:cNvSpPr/>
            <p:nvPr/>
          </p:nvSpPr>
          <p:spPr>
            <a:xfrm>
              <a:off x="3380" y="1980"/>
              <a:ext cx="117" cy="0"/>
            </a:xfrm>
            <a:prstGeom prst="line">
              <a:avLst/>
            </a:prstGeom>
            <a:ln w="12700" cap="flat" cmpd="sng">
              <a:solidFill>
                <a:schemeClr val="tx1"/>
              </a:solidFill>
              <a:prstDash val="solid"/>
              <a:headEnd type="none" w="med" len="med"/>
              <a:tailEnd type="stealth" w="med" len="lg"/>
            </a:ln>
          </p:spPr>
        </p:sp>
        <p:sp>
          <p:nvSpPr>
            <p:cNvPr id="22579" name="Text Box 47"/>
            <p:cNvSpPr txBox="1"/>
            <p:nvPr/>
          </p:nvSpPr>
          <p:spPr>
            <a:xfrm>
              <a:off x="3560" y="1771"/>
              <a:ext cx="429" cy="214"/>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a:t>
              </a: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2580" name="Line 48"/>
            <p:cNvSpPr/>
            <p:nvPr/>
          </p:nvSpPr>
          <p:spPr>
            <a:xfrm flipH="1">
              <a:off x="3622" y="1988"/>
              <a:ext cx="209" cy="0"/>
            </a:xfrm>
            <a:prstGeom prst="line">
              <a:avLst/>
            </a:prstGeom>
            <a:ln w="12700" cap="flat" cmpd="sng">
              <a:solidFill>
                <a:schemeClr val="tx1"/>
              </a:solidFill>
              <a:prstDash val="solid"/>
              <a:headEnd type="none" w="med" len="med"/>
              <a:tailEnd type="stealth" w="med" len="lg"/>
            </a:ln>
          </p:spPr>
        </p:sp>
        <p:sp>
          <p:nvSpPr>
            <p:cNvPr id="22581" name="AutoShape 49"/>
            <p:cNvSpPr/>
            <p:nvPr/>
          </p:nvSpPr>
          <p:spPr>
            <a:xfrm>
              <a:off x="4254" y="2614"/>
              <a:ext cx="743" cy="277"/>
            </a:xfrm>
            <a:prstGeom prst="wedgeRoundRectCallout">
              <a:avLst>
                <a:gd name="adj1" fmla="val -176782"/>
                <a:gd name="adj2" fmla="val -2833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24882" name="Text Box 50"/>
            <p:cNvSpPr txBox="1">
              <a:spLocks noChangeArrowheads="1"/>
            </p:cNvSpPr>
            <p:nvPr/>
          </p:nvSpPr>
          <p:spPr bwMode="auto">
            <a:xfrm>
              <a:off x="4241" y="2640"/>
              <a:ext cx="943"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捕捉时间</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2583" name="Line 52"/>
            <p:cNvSpPr/>
            <p:nvPr/>
          </p:nvSpPr>
          <p:spPr>
            <a:xfrm flipV="1">
              <a:off x="3350" y="1703"/>
              <a:ext cx="0" cy="1112"/>
            </a:xfrm>
            <a:prstGeom prst="line">
              <a:avLst/>
            </a:prstGeom>
            <a:ln w="12700" cap="flat" cmpd="sng">
              <a:solidFill>
                <a:srgbClr val="FF0000"/>
              </a:solidFill>
              <a:prstDash val="sysDot"/>
              <a:headEnd type="none" w="med" len="med"/>
              <a:tailEnd type="none" w="med" len="med"/>
            </a:ln>
          </p:spPr>
        </p:sp>
        <p:sp>
          <p:nvSpPr>
            <p:cNvPr id="22584" name="Line 53"/>
            <p:cNvSpPr/>
            <p:nvPr/>
          </p:nvSpPr>
          <p:spPr>
            <a:xfrm flipH="1">
              <a:off x="3047" y="2747"/>
              <a:ext cx="303" cy="0"/>
            </a:xfrm>
            <a:prstGeom prst="line">
              <a:avLst/>
            </a:prstGeom>
            <a:ln w="12700" cap="flat" cmpd="sng">
              <a:solidFill>
                <a:srgbClr val="3333FF"/>
              </a:solidFill>
              <a:prstDash val="solid"/>
              <a:headEnd type="stealth" w="sm" len="lg"/>
              <a:tailEnd type="stealth" w="med" len="lg"/>
            </a:ln>
          </p:spPr>
        </p:sp>
        <p:sp>
          <p:nvSpPr>
            <p:cNvPr id="22585" name="Text Box 54"/>
            <p:cNvSpPr txBox="1"/>
            <p:nvPr/>
          </p:nvSpPr>
          <p:spPr>
            <a:xfrm>
              <a:off x="3039" y="2513"/>
              <a:ext cx="294"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AC</a:t>
              </a:r>
              <a:endParaRPr lang="en-US" altLang="zh-CN" sz="1800" baseline="-25000" dirty="0">
                <a:solidFill>
                  <a:srgbClr val="FF0000"/>
                </a:solidFill>
                <a:latin typeface="Times New Roman" panose="02020603050405020304" pitchFamily="18" charset="0"/>
              </a:endParaRPr>
            </a:p>
          </p:txBody>
        </p:sp>
      </p:grpSp>
      <p:sp>
        <p:nvSpPr>
          <p:cNvPr id="2424888" name="Text Box 56"/>
          <p:cNvSpPr txBox="1"/>
          <p:nvPr/>
        </p:nvSpPr>
        <p:spPr>
          <a:xfrm>
            <a:off x="107950" y="3268663"/>
            <a:ext cx="3425825" cy="2392362"/>
          </a:xfrm>
          <a:prstGeom prst="rect">
            <a:avLst/>
          </a:prstGeom>
          <a:solidFill>
            <a:schemeClr val="bg1"/>
          </a:solid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如果在保持状态时的输出为</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FSR</a:t>
            </a:r>
            <a:r>
              <a:rPr lang="zh-CN" altLang="en-US" sz="2400" dirty="0">
                <a:latin typeface="Times New Roman" panose="02020603050405020304" pitchFamily="18" charset="0"/>
              </a:rPr>
              <a:t>，而在保持状态结束时输入已变至</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FSR</a:t>
            </a:r>
            <a:r>
              <a:rPr lang="zh-CN" altLang="en-US" sz="2400" dirty="0">
                <a:latin typeface="Times New Roman" panose="02020603050405020304" pitchFamily="18" charset="0"/>
              </a:rPr>
              <a:t>，则所需的捕捉时间最长。而这就是产品手册上给出的</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AC</a:t>
            </a:r>
            <a:r>
              <a:rPr lang="zh-CN" altLang="en-US" sz="2400" dirty="0">
                <a:latin typeface="Times New Roman" panose="02020603050405020304" pitchFamily="18" charset="0"/>
              </a:rPr>
              <a:t>值。</a:t>
            </a:r>
            <a:endParaRPr lang="zh-CN" altLang="en-US" sz="2400" dirty="0">
              <a:latin typeface="Times New Roman" panose="02020603050405020304" pitchFamily="18" charset="0"/>
            </a:endParaRPr>
          </a:p>
        </p:txBody>
      </p:sp>
      <p:sp>
        <p:nvSpPr>
          <p:cNvPr id="2424889" name="Text Box 57"/>
          <p:cNvSpPr txBox="1"/>
          <p:nvPr/>
        </p:nvSpPr>
        <p:spPr>
          <a:xfrm>
            <a:off x="358775" y="4908550"/>
            <a:ext cx="2808288" cy="1077913"/>
          </a:xfrm>
          <a:prstGeom prst="rect">
            <a:avLst/>
          </a:prstGeom>
          <a:solidFill>
            <a:schemeClr val="bg1"/>
          </a:solid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u"/>
            </a:pP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AC</a:t>
            </a:r>
            <a:r>
              <a:rPr lang="zh-CN" altLang="en-US" sz="2400" dirty="0">
                <a:latin typeface="Times New Roman" panose="02020603050405020304" pitchFamily="18" charset="0"/>
              </a:rPr>
              <a:t>与规定误差范围、保持电容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Times New Roman" panose="02020603050405020304" pitchFamily="18" charset="0"/>
              </a:rPr>
              <a:t>的大小有关。</a:t>
            </a:r>
            <a:endParaRPr lang="zh-CN" altLang="en-US" sz="2400" dirty="0">
              <a:latin typeface="Times New Roman" panose="02020603050405020304" pitchFamily="18" charset="0"/>
            </a:endParaRPr>
          </a:p>
        </p:txBody>
      </p:sp>
      <p:sp>
        <p:nvSpPr>
          <p:cNvPr id="22537" name="Text Box 5"/>
          <p:cNvSpPr txBox="1"/>
          <p:nvPr/>
        </p:nvSpPr>
        <p:spPr>
          <a:xfrm>
            <a:off x="358775" y="728663"/>
            <a:ext cx="62277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4836"/>
                                        </p:tgtEl>
                                        <p:attrNameLst>
                                          <p:attrName>style.visibility</p:attrName>
                                        </p:attrNameLst>
                                      </p:cBhvr>
                                      <p:to>
                                        <p:strVal val="visible"/>
                                      </p:to>
                                    </p:set>
                                    <p:animEffect transition="in" filter="dissolve">
                                      <p:cBhvr>
                                        <p:cTn id="7" dur="500"/>
                                        <p:tgtEl>
                                          <p:spTgt spid="24248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4834"/>
                                        </p:tgtEl>
                                        <p:attrNameLst>
                                          <p:attrName>style.visibility</p:attrName>
                                        </p:attrNameLst>
                                      </p:cBhvr>
                                      <p:to>
                                        <p:strVal val="visible"/>
                                      </p:to>
                                    </p:set>
                                    <p:animEffect transition="in" filter="dissolve">
                                      <p:cBhvr>
                                        <p:cTn id="12" dur="500"/>
                                        <p:tgtEl>
                                          <p:spTgt spid="24248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4889"/>
                                        </p:tgtEl>
                                        <p:attrNameLst>
                                          <p:attrName>style.visibility</p:attrName>
                                        </p:attrNameLst>
                                      </p:cBhvr>
                                      <p:to>
                                        <p:strVal val="visible"/>
                                      </p:to>
                                    </p:set>
                                    <p:animEffect transition="in" filter="dissolve">
                                      <p:cBhvr>
                                        <p:cTn id="17" dur="500"/>
                                        <p:tgtEl>
                                          <p:spTgt spid="2424889"/>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xit" presetSubtype="10" fill="hold" nodeType="clickEffect">
                                  <p:stCondLst>
                                    <p:cond delay="0"/>
                                  </p:stCondLst>
                                  <p:childTnLst>
                                    <p:animEffect transition="out" filter="blinds(horizontal)">
                                      <p:cBhvr>
                                        <p:cTn id="21" dur="500"/>
                                        <p:tgtEl>
                                          <p:spTgt spid="2424834"/>
                                        </p:tgtEl>
                                      </p:cBhvr>
                                    </p:animEffect>
                                    <p:set>
                                      <p:cBhvr>
                                        <p:cTn id="22" dur="1" fill="hold">
                                          <p:stCondLst>
                                            <p:cond delay="499"/>
                                          </p:stCondLst>
                                        </p:cTn>
                                        <p:tgtEl>
                                          <p:spTgt spid="2424834"/>
                                        </p:tgtEl>
                                        <p:attrNameLst>
                                          <p:attrName>style.visibility</p:attrName>
                                        </p:attrNameLst>
                                      </p:cBhvr>
                                      <p:to>
                                        <p:strVal val="hidden"/>
                                      </p:to>
                                    </p:set>
                                  </p:childTnLst>
                                </p:cTn>
                              </p:par>
                              <p:par>
                                <p:cTn id="23" presetID="3" presetClass="exit" presetSubtype="10" fill="hold" nodeType="withEffect">
                                  <p:stCondLst>
                                    <p:cond delay="0"/>
                                  </p:stCondLst>
                                  <p:childTnLst>
                                    <p:animEffect transition="out" filter="blinds(horizontal)">
                                      <p:cBhvr>
                                        <p:cTn id="24" dur="500"/>
                                        <p:tgtEl>
                                          <p:spTgt spid="2424889"/>
                                        </p:tgtEl>
                                      </p:cBhvr>
                                    </p:animEffect>
                                    <p:set>
                                      <p:cBhvr>
                                        <p:cTn id="25" dur="1" fill="hold">
                                          <p:stCondLst>
                                            <p:cond delay="499"/>
                                          </p:stCondLst>
                                        </p:cTn>
                                        <p:tgtEl>
                                          <p:spTgt spid="2424889"/>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424883"/>
                                        </p:tgtEl>
                                        <p:attrNameLst>
                                          <p:attrName>style.visibility</p:attrName>
                                        </p:attrNameLst>
                                      </p:cBhvr>
                                      <p:to>
                                        <p:strVal val="visible"/>
                                      </p:to>
                                    </p:set>
                                    <p:animEffect transition="in" filter="dissolve">
                                      <p:cBhvr>
                                        <p:cTn id="30" dur="500"/>
                                        <p:tgtEl>
                                          <p:spTgt spid="242488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24888"/>
                                        </p:tgtEl>
                                        <p:attrNameLst>
                                          <p:attrName>style.visibility</p:attrName>
                                        </p:attrNameLst>
                                      </p:cBhvr>
                                      <p:to>
                                        <p:strVal val="visible"/>
                                      </p:to>
                                    </p:set>
                                    <p:animEffect transition="in" filter="dissolve">
                                      <p:cBhvr>
                                        <p:cTn id="35" dur="500"/>
                                        <p:tgtEl>
                                          <p:spTgt spid="24248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4834" grpId="0" animBg="1"/>
      <p:bldP spid="2424834" grpId="1" animBg="1"/>
      <p:bldP spid="2424836" grpId="0"/>
      <p:bldP spid="2424883" grpId="0" animBg="1"/>
      <p:bldP spid="2424888" grpId="0" animBg="1"/>
      <p:bldP spid="2424889" grpId="0" animBg="1"/>
      <p:bldP spid="2424889" grpId="1"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2724" name="Text Box 52"/>
          <p:cNvSpPr txBox="1"/>
          <p:nvPr/>
        </p:nvSpPr>
        <p:spPr>
          <a:xfrm>
            <a:off x="450850" y="1938338"/>
            <a:ext cx="8297863" cy="138271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当采样</a:t>
            </a:r>
            <a:r>
              <a:rPr lang="en-US" altLang="zh-CN" sz="2800" dirty="0">
                <a:solidFill>
                  <a:schemeClr val="tx1"/>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保持器处在保持状态时，由于漏电流使保持电压值下降，下降值随保持时间增大而增加，常用保持电压的下降率来表示。</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32729" name="Text Box 57"/>
          <p:cNvSpPr txBox="1"/>
          <p:nvPr/>
        </p:nvSpPr>
        <p:spPr>
          <a:xfrm>
            <a:off x="584200" y="1397000"/>
            <a:ext cx="3419475"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4.</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保持电压的下降</a:t>
            </a:r>
            <a:endParaRPr lang="zh-CN" altLang="en-US" sz="2800" baseline="-25000" dirty="0">
              <a:solidFill>
                <a:srgbClr val="FF0000"/>
              </a:solidFill>
              <a:latin typeface="Times New Roman" panose="02020603050405020304" pitchFamily="18" charset="0"/>
              <a:ea typeface="黑体" panose="02010609060101010101" pitchFamily="49" charset="-122"/>
            </a:endParaRPr>
          </a:p>
        </p:txBody>
      </p:sp>
      <p:sp>
        <p:nvSpPr>
          <p:cNvPr id="2332730" name="Text Box 58"/>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32736" name="Group 64"/>
          <p:cNvGrpSpPr/>
          <p:nvPr/>
        </p:nvGrpSpPr>
        <p:grpSpPr>
          <a:xfrm>
            <a:off x="863600" y="3465513"/>
            <a:ext cx="5668963" cy="960437"/>
            <a:chOff x="368" y="2228"/>
            <a:chExt cx="3571" cy="605"/>
          </a:xfrm>
        </p:grpSpPr>
        <p:sp>
          <p:nvSpPr>
            <p:cNvPr id="23562" name="Rectangle 63"/>
            <p:cNvSpPr/>
            <p:nvPr/>
          </p:nvSpPr>
          <p:spPr>
            <a:xfrm>
              <a:off x="368" y="2228"/>
              <a:ext cx="3571" cy="605"/>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23563" name="Object 53"/>
            <p:cNvGraphicFramePr>
              <a:graphicFrameLocks noChangeAspect="1"/>
            </p:cNvGraphicFramePr>
            <p:nvPr/>
          </p:nvGraphicFramePr>
          <p:xfrm>
            <a:off x="1746" y="2228"/>
            <a:ext cx="2132" cy="605"/>
          </p:xfrm>
          <a:graphic>
            <a:graphicData uri="http://schemas.openxmlformats.org/presentationml/2006/ole">
              <mc:AlternateContent xmlns:mc="http://schemas.openxmlformats.org/markup-compatibility/2006">
                <mc:Choice xmlns:v="urn:schemas-microsoft-com:vml" Requires="v">
                  <p:oleObj spid="_x0000_s3078" name="" r:id="rId1" imgW="1307465" imgH="431800" progId="Equation.3">
                    <p:embed/>
                  </p:oleObj>
                </mc:Choice>
                <mc:Fallback>
                  <p:oleObj name="" r:id="rId1" imgW="1307465" imgH="431800" progId="Equation.3">
                    <p:embed/>
                    <p:pic>
                      <p:nvPicPr>
                        <p:cNvPr id="0" name="图片 3077"/>
                        <p:cNvPicPr/>
                        <p:nvPr/>
                      </p:nvPicPr>
                      <p:blipFill>
                        <a:blip r:embed="rId2"/>
                        <a:stretch>
                          <a:fillRect/>
                        </a:stretch>
                      </p:blipFill>
                      <p:spPr>
                        <a:xfrm>
                          <a:off x="1746" y="2228"/>
                          <a:ext cx="2132" cy="605"/>
                        </a:xfrm>
                        <a:prstGeom prst="rect">
                          <a:avLst/>
                        </a:prstGeom>
                        <a:solidFill>
                          <a:srgbClr val="FFFF99"/>
                        </a:solidFill>
                        <a:ln w="38100">
                          <a:noFill/>
                          <a:miter/>
                        </a:ln>
                      </p:spPr>
                    </p:pic>
                  </p:oleObj>
                </mc:Fallback>
              </mc:AlternateContent>
            </a:graphicData>
          </a:graphic>
        </p:graphicFrame>
        <p:sp>
          <p:nvSpPr>
            <p:cNvPr id="23564" name="Rectangle 59"/>
            <p:cNvSpPr/>
            <p:nvPr/>
          </p:nvSpPr>
          <p:spPr>
            <a:xfrm>
              <a:off x="459" y="2247"/>
              <a:ext cx="1219" cy="542"/>
            </a:xfrm>
            <a:prstGeom prst="rect">
              <a:avLst/>
            </a:prstGeom>
            <a:solidFill>
              <a:srgbClr val="FFFF99"/>
            </a:solidFill>
            <a:ln w="9525">
              <a:noFill/>
            </a:ln>
          </p:spPr>
          <p:txBody>
            <a:bodyPr>
              <a:spAutoFit/>
            </a:bodyPr>
            <a:p>
              <a:pPr eaLnBrk="1" hangingPunct="1">
                <a:lnSpc>
                  <a:spcPct val="90000"/>
                </a:lnSpc>
              </a:pPr>
              <a:r>
                <a:rPr lang="zh-CN" altLang="en-US" sz="2800" dirty="0">
                  <a:solidFill>
                    <a:srgbClr val="FF0000"/>
                  </a:solidFill>
                  <a:latin typeface="Times New Roman" panose="02020603050405020304" pitchFamily="18" charset="0"/>
                </a:rPr>
                <a:t>保持电压的下降率：</a:t>
              </a:r>
              <a:endParaRPr lang="zh-CN" altLang="en-US" sz="2800" dirty="0">
                <a:solidFill>
                  <a:srgbClr val="FF0000"/>
                </a:solidFill>
                <a:latin typeface="Times New Roman" panose="02020603050405020304" pitchFamily="18" charset="0"/>
              </a:endParaRPr>
            </a:p>
          </p:txBody>
        </p:sp>
      </p:grpSp>
      <p:sp>
        <p:nvSpPr>
          <p:cNvPr id="2332732" name="AutoShape 60"/>
          <p:cNvSpPr/>
          <p:nvPr/>
        </p:nvSpPr>
        <p:spPr>
          <a:xfrm>
            <a:off x="6840538" y="3465513"/>
            <a:ext cx="1897062" cy="827087"/>
          </a:xfrm>
          <a:prstGeom prst="wedgeRoundRectCallout">
            <a:avLst>
              <a:gd name="adj1" fmla="val -77532"/>
              <a:gd name="adj2" fmla="val -2101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32733" name="Rectangle 61"/>
          <p:cNvSpPr/>
          <p:nvPr/>
        </p:nvSpPr>
        <p:spPr>
          <a:xfrm>
            <a:off x="6840538" y="3498850"/>
            <a:ext cx="1897062" cy="749300"/>
          </a:xfrm>
          <a:prstGeom prst="rect">
            <a:avLst/>
          </a:prstGeom>
          <a:noFill/>
          <a:ln w="9525">
            <a:noFill/>
          </a:ln>
        </p:spPr>
        <p:txBody>
          <a:bodyPr>
            <a:spAutoFit/>
          </a:bodyPr>
          <a:p>
            <a:pPr eaLnBrk="1" hangingPunct="1">
              <a:lnSpc>
                <a:spcPct val="90000"/>
              </a:lnSpc>
            </a:pPr>
            <a:r>
              <a:rPr lang="zh-CN" altLang="en-US" sz="2400" dirty="0">
                <a:latin typeface="Times New Roman" panose="02020603050405020304" pitchFamily="18" charset="0"/>
              </a:rPr>
              <a:t>保持电容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Times New Roman" panose="02020603050405020304" pitchFamily="18" charset="0"/>
              </a:rPr>
              <a:t>的漏电流</a:t>
            </a:r>
            <a:endParaRPr lang="zh-CN" altLang="en-US" sz="2400" dirty="0">
              <a:latin typeface="Times New Roman" panose="02020603050405020304" pitchFamily="18" charset="0"/>
            </a:endParaRPr>
          </a:p>
        </p:txBody>
      </p:sp>
      <p:sp>
        <p:nvSpPr>
          <p:cNvPr id="2332734" name="Text Box 62"/>
          <p:cNvSpPr txBox="1"/>
          <p:nvPr/>
        </p:nvSpPr>
        <p:spPr>
          <a:xfrm>
            <a:off x="1223963" y="4503738"/>
            <a:ext cx="6910387" cy="1589087"/>
          </a:xfrm>
          <a:prstGeom prst="rect">
            <a:avLst/>
          </a:prstGeom>
          <a:noFill/>
          <a:ln w="9525">
            <a:noFill/>
          </a:ln>
        </p:spPr>
        <p:txBody>
          <a:bodyPr>
            <a:spAutoFit/>
          </a:bodyPr>
          <a:p>
            <a:pPr marL="457200" indent="-457200" eaLnBrk="1" hangingPunct="1">
              <a:buClr>
                <a:srgbClr val="FF0000"/>
              </a:buClr>
              <a:buFont typeface="Wingdings" panose="05000000000000000000" pitchFamily="2" charset="2"/>
              <a:buChar char="u"/>
            </a:pPr>
            <a:r>
              <a:rPr lang="zh-CN" altLang="en-US" sz="2400" dirty="0">
                <a:latin typeface="楷体_GB2312" pitchFamily="49" charset="-122"/>
              </a:rPr>
              <a:t>为了使保持状态的保持电压的变化率不超过允许范围，须选用优质电容。</a:t>
            </a:r>
            <a:endParaRPr lang="zh-CN" altLang="en-US" sz="2400" dirty="0">
              <a:latin typeface="楷体_GB2312" pitchFamily="49" charset="-122"/>
            </a:endParaRPr>
          </a:p>
          <a:p>
            <a:pPr marL="457200" indent="-457200" eaLnBrk="1" hangingPunct="1">
              <a:lnSpc>
                <a:spcPct val="90000"/>
              </a:lnSpc>
              <a:spcBef>
                <a:spcPct val="30000"/>
              </a:spcBef>
              <a:buClr>
                <a:srgbClr val="FF0000"/>
              </a:buClr>
              <a:buFont typeface="Wingdings" panose="05000000000000000000" pitchFamily="2" charset="2"/>
              <a:buChar char="u"/>
            </a:pPr>
            <a:r>
              <a:rPr lang="zh-CN" altLang="en-US" sz="2400" dirty="0">
                <a:latin typeface="楷体_GB2312" pitchFamily="49" charset="-122"/>
              </a:rPr>
              <a:t>增加</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楷体_GB2312" pitchFamily="49" charset="-122"/>
              </a:rPr>
              <a:t>的值可使保持电压的变化率不大，但将使跟踪的速度下降。</a:t>
            </a:r>
            <a:endParaRPr lang="zh-CN" altLang="en-US" sz="2400" dirty="0">
              <a:latin typeface="楷体_GB2312" pitchFamily="49" charset="-122"/>
            </a:endParaRPr>
          </a:p>
        </p:txBody>
      </p:sp>
      <p:sp>
        <p:nvSpPr>
          <p:cNvPr id="23561" name="Text Box 5"/>
          <p:cNvSpPr txBox="1"/>
          <p:nvPr/>
        </p:nvSpPr>
        <p:spPr>
          <a:xfrm>
            <a:off x="358775" y="728663"/>
            <a:ext cx="62531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2729"/>
                                        </p:tgtEl>
                                        <p:attrNameLst>
                                          <p:attrName>style.visibility</p:attrName>
                                        </p:attrNameLst>
                                      </p:cBhvr>
                                      <p:to>
                                        <p:strVal val="visible"/>
                                      </p:to>
                                    </p:set>
                                    <p:animEffect transition="in" filter="dissolve">
                                      <p:cBhvr>
                                        <p:cTn id="7" dur="500"/>
                                        <p:tgtEl>
                                          <p:spTgt spid="23327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2724"/>
                                        </p:tgtEl>
                                        <p:attrNameLst>
                                          <p:attrName>style.visibility</p:attrName>
                                        </p:attrNameLst>
                                      </p:cBhvr>
                                      <p:to>
                                        <p:strVal val="visible"/>
                                      </p:to>
                                    </p:set>
                                    <p:animEffect transition="in" filter="dissolve">
                                      <p:cBhvr>
                                        <p:cTn id="12" dur="500"/>
                                        <p:tgtEl>
                                          <p:spTgt spid="23327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2736"/>
                                        </p:tgtEl>
                                        <p:attrNameLst>
                                          <p:attrName>style.visibility</p:attrName>
                                        </p:attrNameLst>
                                      </p:cBhvr>
                                      <p:to>
                                        <p:strVal val="visible"/>
                                      </p:to>
                                    </p:set>
                                    <p:animEffect transition="in" filter="dissolve">
                                      <p:cBhvr>
                                        <p:cTn id="17" dur="500"/>
                                        <p:tgtEl>
                                          <p:spTgt spid="23327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32733"/>
                                        </p:tgtEl>
                                        <p:attrNameLst>
                                          <p:attrName>style.visibility</p:attrName>
                                        </p:attrNameLst>
                                      </p:cBhvr>
                                      <p:to>
                                        <p:strVal val="visible"/>
                                      </p:to>
                                    </p:set>
                                    <p:animEffect transition="in" filter="dissolve">
                                      <p:cBhvr>
                                        <p:cTn id="22" dur="500"/>
                                        <p:tgtEl>
                                          <p:spTgt spid="2332733"/>
                                        </p:tgtEl>
                                      </p:cBhvr>
                                    </p:animEffect>
                                  </p:childTnLst>
                                </p:cTn>
                              </p:par>
                              <p:par>
                                <p:cTn id="23" presetID="9" presetClass="entr" presetSubtype="0" fill="hold" nodeType="withEffect">
                                  <p:stCondLst>
                                    <p:cond delay="0"/>
                                  </p:stCondLst>
                                  <p:childTnLst>
                                    <p:set>
                                      <p:cBhvr>
                                        <p:cTn id="24" dur="1" fill="hold">
                                          <p:stCondLst>
                                            <p:cond delay="0"/>
                                          </p:stCondLst>
                                        </p:cTn>
                                        <p:tgtEl>
                                          <p:spTgt spid="2332732"/>
                                        </p:tgtEl>
                                        <p:attrNameLst>
                                          <p:attrName>style.visibility</p:attrName>
                                        </p:attrNameLst>
                                      </p:cBhvr>
                                      <p:to>
                                        <p:strVal val="visible"/>
                                      </p:to>
                                    </p:set>
                                    <p:animEffect transition="in" filter="dissolve">
                                      <p:cBhvr>
                                        <p:cTn id="25" dur="500"/>
                                        <p:tgtEl>
                                          <p:spTgt spid="233273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32734">
                                            <p:txEl>
                                              <p:charRg st="0" end="33"/>
                                            </p:txEl>
                                          </p:spTgt>
                                        </p:tgtEl>
                                        <p:attrNameLst>
                                          <p:attrName>style.visibility</p:attrName>
                                        </p:attrNameLst>
                                      </p:cBhvr>
                                      <p:to>
                                        <p:strVal val="visible"/>
                                      </p:to>
                                    </p:set>
                                    <p:animEffect transition="in" filter="dissolve">
                                      <p:cBhvr>
                                        <p:cTn id="30" dur="500"/>
                                        <p:tgtEl>
                                          <p:spTgt spid="2332734">
                                            <p:txEl>
                                              <p:charRg st="0" end="33"/>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332734">
                                            <p:txEl>
                                              <p:charRg st="33" end="64"/>
                                            </p:txEl>
                                          </p:spTgt>
                                        </p:tgtEl>
                                        <p:attrNameLst>
                                          <p:attrName>style.visibility</p:attrName>
                                        </p:attrNameLst>
                                      </p:cBhvr>
                                      <p:to>
                                        <p:strVal val="visible"/>
                                      </p:to>
                                    </p:set>
                                    <p:animEffect transition="in" filter="dissolve">
                                      <p:cBhvr>
                                        <p:cTn id="35" dur="500"/>
                                        <p:tgtEl>
                                          <p:spTgt spid="2332734">
                                            <p:txEl>
                                              <p:charRg st="33" end="6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2724" grpId="0" animBg="1"/>
      <p:bldP spid="2332729" grpId="0"/>
      <p:bldP spid="2332732" grpId="0" animBg="1"/>
      <p:bldP spid="2332733" grpId="0"/>
      <p:bldP spid="2332734" grpId="0" build="p"/>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3715" name="Text Box 19"/>
          <p:cNvSpPr txBox="1"/>
          <p:nvPr/>
        </p:nvSpPr>
        <p:spPr>
          <a:xfrm>
            <a:off x="827088" y="1895475"/>
            <a:ext cx="7453312" cy="1382713"/>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馈送</a:t>
            </a:r>
            <a:r>
              <a:rPr lang="zh-CN" altLang="en-US" sz="2800" dirty="0">
                <a:solidFill>
                  <a:schemeClr val="tx1"/>
                </a:solidFill>
                <a:latin typeface="黑体" panose="02010609060101010101" pitchFamily="49" charset="-122"/>
                <a:ea typeface="黑体" panose="02010609060101010101" pitchFamily="49" charset="-122"/>
              </a:rPr>
              <a:t>：指在保持状态时，输入电压</a:t>
            </a:r>
            <a:r>
              <a:rPr lang="en-US" altLang="zh-CN" sz="2800" i="1" dirty="0">
                <a:solidFill>
                  <a:srgbClr val="FF0000"/>
                </a:solidFill>
                <a:latin typeface="Times New Roman" panose="02020603050405020304" pitchFamily="18" charset="0"/>
                <a:ea typeface="黑体" panose="02010609060101010101" pitchFamily="49" charset="-122"/>
              </a:rPr>
              <a:t>U</a:t>
            </a:r>
            <a:r>
              <a:rPr lang="en-US" altLang="zh-CN" sz="2800" i="1" baseline="-25000" dirty="0">
                <a:solidFill>
                  <a:srgbClr val="FF0000"/>
                </a:solidFill>
                <a:latin typeface="Times New Roman" panose="02020603050405020304" pitchFamily="18" charset="0"/>
                <a:ea typeface="黑体" panose="02010609060101010101" pitchFamily="49" charset="-122"/>
              </a:rPr>
              <a:t>i</a:t>
            </a:r>
            <a:r>
              <a:rPr lang="zh-CN" altLang="en-US" sz="2800" dirty="0">
                <a:solidFill>
                  <a:schemeClr val="tx1"/>
                </a:solidFill>
                <a:latin typeface="黑体" panose="02010609060101010101" pitchFamily="49" charset="-122"/>
                <a:ea typeface="黑体" panose="02010609060101010101" pitchFamily="49" charset="-122"/>
              </a:rPr>
              <a:t>的交流分量通过开关</a:t>
            </a:r>
            <a:r>
              <a:rPr lang="en-US" altLang="zh-CN" sz="2800" i="1" dirty="0">
                <a:solidFill>
                  <a:srgbClr val="FF0000"/>
                </a:solidFill>
                <a:latin typeface="Times New Roman" panose="02020603050405020304" pitchFamily="18" charset="0"/>
                <a:ea typeface="黑体" panose="02010609060101010101" pitchFamily="49" charset="-122"/>
              </a:rPr>
              <a:t>K</a:t>
            </a:r>
            <a:r>
              <a:rPr lang="zh-CN" altLang="en-US" sz="2800" dirty="0">
                <a:solidFill>
                  <a:schemeClr val="tx1"/>
                </a:solidFill>
                <a:latin typeface="黑体" panose="02010609060101010101" pitchFamily="49" charset="-122"/>
                <a:ea typeface="黑体" panose="02010609060101010101" pitchFamily="49" charset="-122"/>
              </a:rPr>
              <a:t>的寄生电容</a:t>
            </a:r>
            <a:r>
              <a:rPr lang="en-US" altLang="zh-CN" sz="2800" i="1" dirty="0">
                <a:solidFill>
                  <a:srgbClr val="FF0000"/>
                </a:solidFill>
                <a:latin typeface="Times New Roman" panose="02020603050405020304" pitchFamily="18" charset="0"/>
                <a:ea typeface="黑体" panose="02010609060101010101" pitchFamily="49" charset="-122"/>
              </a:rPr>
              <a:t>C</a:t>
            </a:r>
            <a:r>
              <a:rPr lang="en-US" altLang="zh-CN" sz="2800" baseline="-25000" dirty="0">
                <a:solidFill>
                  <a:srgbClr val="FF0000"/>
                </a:solidFill>
                <a:latin typeface="Times New Roman" panose="02020603050405020304" pitchFamily="18" charset="0"/>
                <a:ea typeface="黑体" panose="02010609060101010101" pitchFamily="49" charset="-122"/>
              </a:rPr>
              <a:t>S</a:t>
            </a:r>
            <a:r>
              <a:rPr lang="zh-CN" altLang="en-US" sz="2800" dirty="0">
                <a:solidFill>
                  <a:schemeClr val="tx1"/>
                </a:solidFill>
                <a:latin typeface="黑体" panose="02010609060101010101" pitchFamily="49" charset="-122"/>
                <a:ea typeface="黑体" panose="02010609060101010101" pitchFamily="49" charset="-122"/>
              </a:rPr>
              <a:t>加到</a:t>
            </a:r>
            <a:r>
              <a:rPr lang="en-US" altLang="zh-CN" sz="2800" i="1" dirty="0">
                <a:solidFill>
                  <a:srgbClr val="FF0000"/>
                </a:solidFill>
                <a:latin typeface="Times New Roman" panose="02020603050405020304" pitchFamily="18" charset="0"/>
                <a:ea typeface="黑体" panose="02010609060101010101" pitchFamily="49" charset="-122"/>
              </a:rPr>
              <a:t>C</a:t>
            </a:r>
            <a:r>
              <a:rPr lang="en-US" altLang="zh-CN" sz="2800" baseline="-25000" dirty="0">
                <a:solidFill>
                  <a:srgbClr val="FF0000"/>
                </a:solidFill>
                <a:latin typeface="Times New Roman" panose="02020603050405020304" pitchFamily="18" charset="0"/>
                <a:ea typeface="黑体" panose="02010609060101010101" pitchFamily="49" charset="-122"/>
              </a:rPr>
              <a:t>H</a:t>
            </a:r>
            <a:r>
              <a:rPr lang="zh-CN" altLang="en-US" sz="2800" dirty="0">
                <a:solidFill>
                  <a:schemeClr val="tx1"/>
                </a:solidFill>
                <a:latin typeface="黑体" panose="02010609060101010101" pitchFamily="49" charset="-122"/>
                <a:ea typeface="黑体" panose="02010609060101010101" pitchFamily="49" charset="-122"/>
              </a:rPr>
              <a:t>上，使得</a:t>
            </a:r>
            <a:r>
              <a:rPr lang="en-US" altLang="zh-CN" sz="2800" i="1" dirty="0">
                <a:solidFill>
                  <a:srgbClr val="FF0000"/>
                </a:solidFill>
                <a:latin typeface="Times New Roman" panose="02020603050405020304" pitchFamily="18" charset="0"/>
                <a:ea typeface="黑体" panose="02010609060101010101" pitchFamily="49" charset="-122"/>
              </a:rPr>
              <a:t>U</a:t>
            </a:r>
            <a:r>
              <a:rPr lang="en-US" altLang="zh-CN" sz="2800" i="1" baseline="-25000" dirty="0">
                <a:solidFill>
                  <a:srgbClr val="FF0000"/>
                </a:solidFill>
                <a:latin typeface="Times New Roman" panose="02020603050405020304" pitchFamily="18" charset="0"/>
                <a:ea typeface="黑体" panose="02010609060101010101" pitchFamily="49" charset="-122"/>
              </a:rPr>
              <a:t>i</a:t>
            </a:r>
            <a:r>
              <a:rPr lang="zh-CN" altLang="en-US" sz="2800" dirty="0">
                <a:solidFill>
                  <a:schemeClr val="tx1"/>
                </a:solidFill>
                <a:latin typeface="黑体" panose="02010609060101010101" pitchFamily="49" charset="-122"/>
                <a:ea typeface="黑体" panose="02010609060101010101" pitchFamily="49" charset="-122"/>
              </a:rPr>
              <a:t>的变化引起输出电压</a:t>
            </a:r>
            <a:r>
              <a:rPr lang="en-US" altLang="zh-CN" sz="2800" i="1" dirty="0">
                <a:solidFill>
                  <a:srgbClr val="FF0000"/>
                </a:solidFill>
                <a:latin typeface="Times New Roman" panose="02020603050405020304" pitchFamily="18" charset="0"/>
                <a:ea typeface="黑体" panose="02010609060101010101" pitchFamily="49" charset="-122"/>
              </a:rPr>
              <a:t>U</a:t>
            </a:r>
            <a:r>
              <a:rPr lang="en-US" altLang="zh-CN" sz="2800" baseline="-25000" dirty="0">
                <a:solidFill>
                  <a:srgbClr val="FF0000"/>
                </a:solidFill>
                <a:latin typeface="Times New Roman" panose="02020603050405020304" pitchFamily="18" charset="0"/>
                <a:ea typeface="黑体" panose="02010609060101010101" pitchFamily="49" charset="-122"/>
              </a:rPr>
              <a:t>O</a:t>
            </a:r>
            <a:r>
              <a:rPr lang="zh-CN" altLang="en-US" sz="2800" dirty="0">
                <a:solidFill>
                  <a:schemeClr val="tx1"/>
                </a:solidFill>
                <a:latin typeface="黑体" panose="02010609060101010101" pitchFamily="49" charset="-122"/>
                <a:ea typeface="黑体" panose="02010609060101010101" pitchFamily="49" charset="-122"/>
              </a:rPr>
              <a:t>的微小变化。</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33718" name="Text Box 22"/>
          <p:cNvSpPr txBox="1"/>
          <p:nvPr/>
        </p:nvSpPr>
        <p:spPr>
          <a:xfrm>
            <a:off x="584200" y="1376363"/>
            <a:ext cx="3419475" cy="519112"/>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5.</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馈送</a:t>
            </a:r>
            <a:endParaRPr lang="zh-CN" altLang="en-US" sz="2800" baseline="-25000" dirty="0">
              <a:solidFill>
                <a:srgbClr val="FF0000"/>
              </a:solidFill>
              <a:latin typeface="Times New Roman" panose="02020603050405020304" pitchFamily="18" charset="0"/>
              <a:ea typeface="黑体" panose="02010609060101010101" pitchFamily="49" charset="-122"/>
            </a:endParaRPr>
          </a:p>
        </p:txBody>
      </p:sp>
      <p:sp>
        <p:nvSpPr>
          <p:cNvPr id="2333719" name="Text Box 23"/>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33720" name="Group 24"/>
          <p:cNvGrpSpPr/>
          <p:nvPr/>
        </p:nvGrpSpPr>
        <p:grpSpPr>
          <a:xfrm>
            <a:off x="1555750" y="3321050"/>
            <a:ext cx="6096000" cy="2082800"/>
            <a:chOff x="1099" y="478"/>
            <a:chExt cx="3840" cy="1312"/>
          </a:xfrm>
        </p:grpSpPr>
        <p:sp>
          <p:nvSpPr>
            <p:cNvPr id="24584" name="Rectangle 25"/>
            <p:cNvSpPr/>
            <p:nvPr/>
          </p:nvSpPr>
          <p:spPr>
            <a:xfrm>
              <a:off x="1099" y="478"/>
              <a:ext cx="3840" cy="131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85" name="Text Box 26"/>
            <p:cNvSpPr txBox="1"/>
            <p:nvPr/>
          </p:nvSpPr>
          <p:spPr>
            <a:xfrm>
              <a:off x="3288" y="1525"/>
              <a:ext cx="1361" cy="265"/>
            </a:xfrm>
            <a:prstGeom prst="rect">
              <a:avLst/>
            </a:prstGeom>
            <a:noFill/>
            <a:ln w="9525">
              <a:noFill/>
            </a:ln>
          </p:spPr>
          <p:txBody>
            <a:bodyPr>
              <a:spAutoFit/>
            </a:bodyPr>
            <a:p>
              <a:pPr eaLnBrk="1" hangingPunct="1">
                <a:lnSpc>
                  <a:spcPct val="90000"/>
                </a:lnSpc>
              </a:pPr>
              <a:r>
                <a:rPr lang="zh-CN" altLang="en-US" sz="2400" dirty="0">
                  <a:solidFill>
                    <a:srgbClr val="000099"/>
                  </a:solidFill>
                  <a:latin typeface="Times New Roman" panose="02020603050405020304" pitchFamily="18" charset="0"/>
                </a:rPr>
                <a:t>馈送的通路</a:t>
              </a:r>
              <a:endParaRPr lang="zh-CN" altLang="en-US" sz="2400" dirty="0">
                <a:solidFill>
                  <a:srgbClr val="000099"/>
                </a:solidFill>
                <a:latin typeface="Times New Roman" panose="02020603050405020304" pitchFamily="18" charset="0"/>
              </a:endParaRPr>
            </a:p>
          </p:txBody>
        </p:sp>
        <p:sp>
          <p:nvSpPr>
            <p:cNvPr id="24586" name="Text Box 27"/>
            <p:cNvSpPr txBox="1"/>
            <p:nvPr/>
          </p:nvSpPr>
          <p:spPr>
            <a:xfrm>
              <a:off x="1099" y="1025"/>
              <a:ext cx="26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endParaRPr lang="en-US" altLang="zh-CN" sz="2000" i="1" baseline="-25000" dirty="0">
                <a:solidFill>
                  <a:srgbClr val="FF0000"/>
                </a:solidFill>
                <a:latin typeface="Times New Roman" panose="02020603050405020304" pitchFamily="18" charset="0"/>
              </a:endParaRPr>
            </a:p>
          </p:txBody>
        </p:sp>
        <p:sp>
          <p:nvSpPr>
            <p:cNvPr id="24587" name="Oval 28"/>
            <p:cNvSpPr/>
            <p:nvPr/>
          </p:nvSpPr>
          <p:spPr>
            <a:xfrm>
              <a:off x="1361" y="112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88" name="Line 29"/>
            <p:cNvSpPr/>
            <p:nvPr/>
          </p:nvSpPr>
          <p:spPr>
            <a:xfrm>
              <a:off x="1419" y="1152"/>
              <a:ext cx="484" cy="0"/>
            </a:xfrm>
            <a:prstGeom prst="line">
              <a:avLst/>
            </a:prstGeom>
            <a:ln w="12700" cap="flat" cmpd="sng">
              <a:solidFill>
                <a:srgbClr val="3333FF"/>
              </a:solidFill>
              <a:prstDash val="solid"/>
              <a:headEnd type="none" w="med" len="med"/>
              <a:tailEnd type="none" w="med" len="med"/>
            </a:ln>
          </p:spPr>
        </p:sp>
        <p:sp>
          <p:nvSpPr>
            <p:cNvPr id="24589" name="Oval 30"/>
            <p:cNvSpPr/>
            <p:nvPr/>
          </p:nvSpPr>
          <p:spPr>
            <a:xfrm>
              <a:off x="1908" y="1131"/>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90" name="Line 31"/>
            <p:cNvSpPr/>
            <p:nvPr/>
          </p:nvSpPr>
          <p:spPr>
            <a:xfrm flipV="1">
              <a:off x="1956" y="1022"/>
              <a:ext cx="251" cy="117"/>
            </a:xfrm>
            <a:prstGeom prst="line">
              <a:avLst/>
            </a:prstGeom>
            <a:ln w="19050" cap="flat" cmpd="sng">
              <a:solidFill>
                <a:srgbClr val="000080"/>
              </a:solidFill>
              <a:prstDash val="solid"/>
              <a:headEnd type="none" w="med" len="med"/>
              <a:tailEnd type="none" w="med" len="med"/>
            </a:ln>
          </p:spPr>
        </p:sp>
        <p:sp>
          <p:nvSpPr>
            <p:cNvPr id="24591" name="Oval 32"/>
            <p:cNvSpPr/>
            <p:nvPr/>
          </p:nvSpPr>
          <p:spPr>
            <a:xfrm>
              <a:off x="2221" y="1135"/>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92" name="Line 33"/>
            <p:cNvSpPr/>
            <p:nvPr/>
          </p:nvSpPr>
          <p:spPr>
            <a:xfrm>
              <a:off x="2279" y="1152"/>
              <a:ext cx="735" cy="0"/>
            </a:xfrm>
            <a:prstGeom prst="line">
              <a:avLst/>
            </a:prstGeom>
            <a:ln w="12700" cap="flat" cmpd="sng">
              <a:solidFill>
                <a:srgbClr val="3333FF"/>
              </a:solidFill>
              <a:prstDash val="solid"/>
              <a:headEnd type="none" w="med" len="med"/>
              <a:tailEnd type="none" w="med" len="med"/>
            </a:ln>
          </p:spPr>
        </p:sp>
        <p:sp>
          <p:nvSpPr>
            <p:cNvPr id="24593" name="AutoShape 34"/>
            <p:cNvSpPr/>
            <p:nvPr/>
          </p:nvSpPr>
          <p:spPr>
            <a:xfrm rot="5400000">
              <a:off x="3056" y="667"/>
              <a:ext cx="659" cy="75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94" name="Text Box 35"/>
            <p:cNvSpPr txBox="1"/>
            <p:nvPr/>
          </p:nvSpPr>
          <p:spPr>
            <a:xfrm>
              <a:off x="3014" y="797"/>
              <a:ext cx="198" cy="456"/>
            </a:xfrm>
            <a:prstGeom prst="rect">
              <a:avLst/>
            </a:prstGeom>
            <a:noFill/>
            <a:ln w="9525">
              <a:noFill/>
            </a:ln>
          </p:spPr>
          <p:txBody>
            <a:bodyPr wrap="none">
              <a:spAutoFit/>
            </a:bodyPr>
            <a:p>
              <a:pPr eaLnBrk="1" hangingPunct="1">
                <a:lnSpc>
                  <a:spcPct val="90000"/>
                </a:lnSpc>
              </a:pPr>
              <a:r>
                <a:rPr lang="en-US" altLang="zh-CN" sz="8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0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4595" name="Text Box 36"/>
            <p:cNvSpPr txBox="1"/>
            <p:nvPr/>
          </p:nvSpPr>
          <p:spPr>
            <a:xfrm>
              <a:off x="3190" y="909"/>
              <a:ext cx="275"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A</a:t>
              </a:r>
              <a:r>
                <a:rPr lang="en-US" altLang="zh-CN" sz="2000" baseline="-25000" dirty="0">
                  <a:latin typeface="Times New Roman" panose="02020603050405020304" pitchFamily="18" charset="0"/>
                </a:rPr>
                <a:t>2</a:t>
              </a:r>
              <a:endParaRPr lang="en-US" altLang="zh-CN" sz="2000" baseline="-25000" dirty="0">
                <a:latin typeface="Times New Roman" panose="02020603050405020304" pitchFamily="18" charset="0"/>
              </a:endParaRPr>
            </a:p>
          </p:txBody>
        </p:sp>
        <p:sp>
          <p:nvSpPr>
            <p:cNvPr id="24596" name="Oval 37"/>
            <p:cNvSpPr/>
            <p:nvPr/>
          </p:nvSpPr>
          <p:spPr>
            <a:xfrm>
              <a:off x="2491" y="1122"/>
              <a:ext cx="56" cy="56"/>
            </a:xfrm>
            <a:prstGeom prst="ellipse">
              <a:avLst/>
            </a:prstGeom>
            <a:solidFill>
              <a:srgbClr val="3333FF"/>
            </a:solidFill>
            <a:ln w="9525"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97" name="Line 38"/>
            <p:cNvSpPr/>
            <p:nvPr/>
          </p:nvSpPr>
          <p:spPr>
            <a:xfrm>
              <a:off x="2521" y="1152"/>
              <a:ext cx="0" cy="260"/>
            </a:xfrm>
            <a:prstGeom prst="line">
              <a:avLst/>
            </a:prstGeom>
            <a:ln w="12700" cap="flat" cmpd="sng">
              <a:solidFill>
                <a:srgbClr val="3333FF"/>
              </a:solidFill>
              <a:prstDash val="solid"/>
              <a:headEnd type="none" w="med" len="med"/>
              <a:tailEnd type="none" w="med" len="med"/>
            </a:ln>
          </p:spPr>
        </p:sp>
        <p:sp>
          <p:nvSpPr>
            <p:cNvPr id="24598" name="Line 39"/>
            <p:cNvSpPr/>
            <p:nvPr/>
          </p:nvSpPr>
          <p:spPr>
            <a:xfrm>
              <a:off x="2423" y="1412"/>
              <a:ext cx="187" cy="0"/>
            </a:xfrm>
            <a:prstGeom prst="line">
              <a:avLst/>
            </a:prstGeom>
            <a:ln w="19050" cap="flat" cmpd="sng">
              <a:solidFill>
                <a:srgbClr val="000080"/>
              </a:solidFill>
              <a:prstDash val="solid"/>
              <a:headEnd type="none" w="med" len="med"/>
              <a:tailEnd type="none" w="med" len="med"/>
            </a:ln>
          </p:spPr>
        </p:sp>
        <p:sp>
          <p:nvSpPr>
            <p:cNvPr id="24599" name="Line 40"/>
            <p:cNvSpPr/>
            <p:nvPr/>
          </p:nvSpPr>
          <p:spPr>
            <a:xfrm>
              <a:off x="2423" y="1458"/>
              <a:ext cx="187" cy="0"/>
            </a:xfrm>
            <a:prstGeom prst="line">
              <a:avLst/>
            </a:prstGeom>
            <a:ln w="19050" cap="flat" cmpd="sng">
              <a:solidFill>
                <a:srgbClr val="000080"/>
              </a:solidFill>
              <a:prstDash val="solid"/>
              <a:headEnd type="none" w="med" len="med"/>
              <a:tailEnd type="none" w="med" len="med"/>
            </a:ln>
          </p:spPr>
        </p:sp>
        <p:sp>
          <p:nvSpPr>
            <p:cNvPr id="24600" name="Text Box 41"/>
            <p:cNvSpPr txBox="1"/>
            <p:nvPr/>
          </p:nvSpPr>
          <p:spPr>
            <a:xfrm>
              <a:off x="2596" y="1321"/>
              <a:ext cx="304"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C</a:t>
              </a:r>
              <a:r>
                <a:rPr lang="en-US" altLang="zh-CN" sz="2000" baseline="-25000" dirty="0">
                  <a:solidFill>
                    <a:srgbClr val="FF0000"/>
                  </a:solidFill>
                  <a:latin typeface="Times New Roman" panose="02020603050405020304" pitchFamily="18" charset="0"/>
                </a:rPr>
                <a:t>H</a:t>
              </a:r>
              <a:endParaRPr lang="en-US" altLang="zh-CN" sz="2000" baseline="-25000" dirty="0">
                <a:solidFill>
                  <a:srgbClr val="FF0000"/>
                </a:solidFill>
                <a:latin typeface="Times New Roman" panose="02020603050405020304" pitchFamily="18" charset="0"/>
              </a:endParaRPr>
            </a:p>
          </p:txBody>
        </p:sp>
        <p:sp>
          <p:nvSpPr>
            <p:cNvPr id="24601" name="Line 42"/>
            <p:cNvSpPr/>
            <p:nvPr/>
          </p:nvSpPr>
          <p:spPr>
            <a:xfrm>
              <a:off x="2521" y="1457"/>
              <a:ext cx="0" cy="181"/>
            </a:xfrm>
            <a:prstGeom prst="line">
              <a:avLst/>
            </a:prstGeom>
            <a:ln w="12700" cap="flat" cmpd="sng">
              <a:solidFill>
                <a:srgbClr val="3333FF"/>
              </a:solidFill>
              <a:prstDash val="solid"/>
              <a:headEnd type="none" w="med" len="med"/>
              <a:tailEnd type="none" w="med" len="med"/>
            </a:ln>
          </p:spPr>
        </p:sp>
        <p:sp>
          <p:nvSpPr>
            <p:cNvPr id="24602" name="AutoShape 43"/>
            <p:cNvSpPr/>
            <p:nvPr/>
          </p:nvSpPr>
          <p:spPr>
            <a:xfrm rot="10800000">
              <a:off x="2430" y="1638"/>
              <a:ext cx="184" cy="92"/>
            </a:xfrm>
            <a:prstGeom prst="triangle">
              <a:avLst>
                <a:gd name="adj" fmla="val 50000"/>
              </a:avLst>
            </a:prstGeom>
            <a:no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603" name="Line 44"/>
            <p:cNvSpPr/>
            <p:nvPr/>
          </p:nvSpPr>
          <p:spPr>
            <a:xfrm>
              <a:off x="3765" y="1044"/>
              <a:ext cx="826" cy="0"/>
            </a:xfrm>
            <a:prstGeom prst="line">
              <a:avLst/>
            </a:prstGeom>
            <a:ln w="12700" cap="flat" cmpd="sng">
              <a:solidFill>
                <a:srgbClr val="3333FF"/>
              </a:solidFill>
              <a:prstDash val="solid"/>
              <a:headEnd type="none" w="med" len="med"/>
              <a:tailEnd type="none" w="med" len="med"/>
            </a:ln>
          </p:spPr>
        </p:sp>
        <p:sp>
          <p:nvSpPr>
            <p:cNvPr id="24604" name="Oval 45"/>
            <p:cNvSpPr/>
            <p:nvPr/>
          </p:nvSpPr>
          <p:spPr>
            <a:xfrm>
              <a:off x="4588" y="101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605" name="Text Box 46"/>
            <p:cNvSpPr txBox="1"/>
            <p:nvPr/>
          </p:nvSpPr>
          <p:spPr>
            <a:xfrm>
              <a:off x="4626" y="928"/>
              <a:ext cx="313"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O</a:t>
              </a:r>
              <a:endParaRPr lang="en-US" altLang="zh-CN" sz="2000" baseline="-25000" dirty="0">
                <a:solidFill>
                  <a:srgbClr val="FF0000"/>
                </a:solidFill>
                <a:latin typeface="Times New Roman" panose="02020603050405020304" pitchFamily="18" charset="0"/>
              </a:endParaRPr>
            </a:p>
          </p:txBody>
        </p:sp>
        <p:sp>
          <p:nvSpPr>
            <p:cNvPr id="24606" name="Oval 47"/>
            <p:cNvSpPr/>
            <p:nvPr/>
          </p:nvSpPr>
          <p:spPr>
            <a:xfrm>
              <a:off x="4181" y="1017"/>
              <a:ext cx="56" cy="56"/>
            </a:xfrm>
            <a:prstGeom prst="ellipse">
              <a:avLst/>
            </a:prstGeom>
            <a:solidFill>
              <a:srgbClr val="3333FF"/>
            </a:solidFill>
            <a:ln w="9525"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607" name="Line 48"/>
            <p:cNvSpPr/>
            <p:nvPr/>
          </p:nvSpPr>
          <p:spPr>
            <a:xfrm flipV="1">
              <a:off x="4216" y="551"/>
              <a:ext cx="0" cy="484"/>
            </a:xfrm>
            <a:prstGeom prst="line">
              <a:avLst/>
            </a:prstGeom>
            <a:ln w="12700" cap="flat" cmpd="sng">
              <a:solidFill>
                <a:srgbClr val="3333FF"/>
              </a:solidFill>
              <a:prstDash val="solid"/>
              <a:headEnd type="none" w="med" len="med"/>
              <a:tailEnd type="none" w="med" len="med"/>
            </a:ln>
          </p:spPr>
        </p:sp>
        <p:sp>
          <p:nvSpPr>
            <p:cNvPr id="24608" name="Line 49"/>
            <p:cNvSpPr/>
            <p:nvPr/>
          </p:nvSpPr>
          <p:spPr>
            <a:xfrm flipH="1">
              <a:off x="2797" y="551"/>
              <a:ext cx="1419" cy="0"/>
            </a:xfrm>
            <a:prstGeom prst="line">
              <a:avLst/>
            </a:prstGeom>
            <a:ln w="12700" cap="flat" cmpd="sng">
              <a:solidFill>
                <a:srgbClr val="3333FF"/>
              </a:solidFill>
              <a:prstDash val="solid"/>
              <a:headEnd type="none" w="med" len="med"/>
              <a:tailEnd type="none" w="med" len="med"/>
            </a:ln>
          </p:spPr>
        </p:sp>
        <p:sp>
          <p:nvSpPr>
            <p:cNvPr id="24609" name="Line 50"/>
            <p:cNvSpPr/>
            <p:nvPr/>
          </p:nvSpPr>
          <p:spPr>
            <a:xfrm>
              <a:off x="2797" y="551"/>
              <a:ext cx="0" cy="359"/>
            </a:xfrm>
            <a:prstGeom prst="line">
              <a:avLst/>
            </a:prstGeom>
            <a:ln w="12700" cap="flat" cmpd="sng">
              <a:solidFill>
                <a:srgbClr val="3333FF"/>
              </a:solidFill>
              <a:prstDash val="solid"/>
              <a:headEnd type="none" w="med" len="med"/>
              <a:tailEnd type="none" w="med" len="med"/>
            </a:ln>
          </p:spPr>
        </p:sp>
        <p:sp>
          <p:nvSpPr>
            <p:cNvPr id="24610" name="Line 51"/>
            <p:cNvSpPr/>
            <p:nvPr/>
          </p:nvSpPr>
          <p:spPr>
            <a:xfrm>
              <a:off x="2797" y="910"/>
              <a:ext cx="217" cy="0"/>
            </a:xfrm>
            <a:prstGeom prst="line">
              <a:avLst/>
            </a:prstGeom>
            <a:ln w="12700" cap="flat" cmpd="sng">
              <a:solidFill>
                <a:srgbClr val="3333FF"/>
              </a:solidFill>
              <a:prstDash val="solid"/>
              <a:headEnd type="none" w="med" len="med"/>
              <a:tailEnd type="none" w="med" len="med"/>
            </a:ln>
          </p:spPr>
        </p:sp>
        <p:sp>
          <p:nvSpPr>
            <p:cNvPr id="24611" name="Line 52"/>
            <p:cNvSpPr/>
            <p:nvPr/>
          </p:nvSpPr>
          <p:spPr>
            <a:xfrm flipV="1">
              <a:off x="1653" y="735"/>
              <a:ext cx="0" cy="417"/>
            </a:xfrm>
            <a:prstGeom prst="line">
              <a:avLst/>
            </a:prstGeom>
            <a:ln w="12700" cap="flat" cmpd="sng">
              <a:solidFill>
                <a:srgbClr val="CC00CC"/>
              </a:solidFill>
              <a:prstDash val="dash"/>
              <a:headEnd type="none" w="med" len="med"/>
              <a:tailEnd type="none" w="med" len="med"/>
            </a:ln>
          </p:spPr>
        </p:sp>
        <p:sp>
          <p:nvSpPr>
            <p:cNvPr id="24612" name="Line 53"/>
            <p:cNvSpPr/>
            <p:nvPr/>
          </p:nvSpPr>
          <p:spPr>
            <a:xfrm>
              <a:off x="1653" y="735"/>
              <a:ext cx="434" cy="0"/>
            </a:xfrm>
            <a:prstGeom prst="line">
              <a:avLst/>
            </a:prstGeom>
            <a:ln w="12700" cap="flat" cmpd="sng">
              <a:solidFill>
                <a:srgbClr val="CC00CC"/>
              </a:solidFill>
              <a:prstDash val="dash"/>
              <a:headEnd type="none" w="med" len="med"/>
              <a:tailEnd type="none" w="med" len="med"/>
            </a:ln>
          </p:spPr>
        </p:sp>
        <p:sp>
          <p:nvSpPr>
            <p:cNvPr id="24613" name="Line 54"/>
            <p:cNvSpPr/>
            <p:nvPr/>
          </p:nvSpPr>
          <p:spPr>
            <a:xfrm>
              <a:off x="2087" y="607"/>
              <a:ext cx="0" cy="242"/>
            </a:xfrm>
            <a:prstGeom prst="line">
              <a:avLst/>
            </a:prstGeom>
            <a:ln w="19050" cap="flat" cmpd="sng">
              <a:solidFill>
                <a:srgbClr val="CC00CC"/>
              </a:solidFill>
              <a:prstDash val="solid"/>
              <a:headEnd type="none" w="med" len="med"/>
              <a:tailEnd type="none" w="med" len="med"/>
            </a:ln>
          </p:spPr>
        </p:sp>
        <p:sp>
          <p:nvSpPr>
            <p:cNvPr id="24614" name="Line 55"/>
            <p:cNvSpPr/>
            <p:nvPr/>
          </p:nvSpPr>
          <p:spPr>
            <a:xfrm>
              <a:off x="2125" y="606"/>
              <a:ext cx="0" cy="242"/>
            </a:xfrm>
            <a:prstGeom prst="line">
              <a:avLst/>
            </a:prstGeom>
            <a:ln w="19050" cap="flat" cmpd="sng">
              <a:solidFill>
                <a:srgbClr val="CC00CC"/>
              </a:solidFill>
              <a:prstDash val="solid"/>
              <a:headEnd type="none" w="med" len="med"/>
              <a:tailEnd type="none" w="med" len="med"/>
            </a:ln>
          </p:spPr>
        </p:sp>
        <p:sp>
          <p:nvSpPr>
            <p:cNvPr id="24615" name="Text Box 56"/>
            <p:cNvSpPr txBox="1"/>
            <p:nvPr/>
          </p:nvSpPr>
          <p:spPr>
            <a:xfrm>
              <a:off x="2086" y="478"/>
              <a:ext cx="28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C</a:t>
              </a:r>
              <a:r>
                <a:rPr lang="en-US" altLang="zh-CN" sz="2000" baseline="-25000" dirty="0">
                  <a:solidFill>
                    <a:srgbClr val="FF0000"/>
                  </a:solidFill>
                  <a:latin typeface="Times New Roman" panose="02020603050405020304" pitchFamily="18" charset="0"/>
                </a:rPr>
                <a:t>S</a:t>
              </a:r>
              <a:endParaRPr lang="en-US" altLang="zh-CN" sz="2000" baseline="-25000" dirty="0">
                <a:solidFill>
                  <a:srgbClr val="FF0000"/>
                </a:solidFill>
                <a:latin typeface="Times New Roman" panose="02020603050405020304" pitchFamily="18" charset="0"/>
              </a:endParaRPr>
            </a:p>
          </p:txBody>
        </p:sp>
        <p:sp>
          <p:nvSpPr>
            <p:cNvPr id="24616" name="Text Box 57"/>
            <p:cNvSpPr txBox="1"/>
            <p:nvPr/>
          </p:nvSpPr>
          <p:spPr>
            <a:xfrm>
              <a:off x="2004" y="1168"/>
              <a:ext cx="22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endParaRPr lang="en-US" altLang="zh-CN" sz="2000" i="1" dirty="0">
                <a:latin typeface="Times New Roman" panose="02020603050405020304" pitchFamily="18" charset="0"/>
              </a:endParaRPr>
            </a:p>
          </p:txBody>
        </p:sp>
        <p:sp>
          <p:nvSpPr>
            <p:cNvPr id="24617" name="Arc 58"/>
            <p:cNvSpPr/>
            <p:nvPr/>
          </p:nvSpPr>
          <p:spPr>
            <a:xfrm>
              <a:off x="2120" y="877"/>
              <a:ext cx="326" cy="192"/>
            </a:xfrm>
            <a:custGeom>
              <a:avLst/>
              <a:gdLst/>
              <a:ahLst/>
              <a:cxnLst>
                <a:cxn ang="0">
                  <a:pos x="0" y="0"/>
                </a:cxn>
                <a:cxn ang="0">
                  <a:pos x="0" y="0"/>
                </a:cxn>
                <a:cxn ang="0">
                  <a:pos x="0" y="0"/>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9525" cap="flat" cmpd="sng">
              <a:solidFill>
                <a:srgbClr val="FF0000">
                  <a:alpha val="100000"/>
                </a:srgbClr>
              </a:solidFill>
              <a:prstDash val="solid"/>
              <a:round/>
              <a:headEnd type="none" w="med" len="med"/>
              <a:tailEnd type="stealth" w="sm" len="lg"/>
            </a:ln>
          </p:spPr>
          <p:txBody>
            <a:bodyPr/>
            <a:p>
              <a:endParaRPr lang="zh-CN" altLang="en-US"/>
            </a:p>
          </p:txBody>
        </p:sp>
        <p:sp>
          <p:nvSpPr>
            <p:cNvPr id="24618" name="Line 59"/>
            <p:cNvSpPr/>
            <p:nvPr/>
          </p:nvSpPr>
          <p:spPr>
            <a:xfrm>
              <a:off x="2129" y="735"/>
              <a:ext cx="392" cy="0"/>
            </a:xfrm>
            <a:prstGeom prst="line">
              <a:avLst/>
            </a:prstGeom>
            <a:ln w="12700" cap="flat" cmpd="sng">
              <a:solidFill>
                <a:srgbClr val="CC00CC"/>
              </a:solidFill>
              <a:prstDash val="dash"/>
              <a:headEnd type="none" w="med" len="med"/>
              <a:tailEnd type="none" w="med" len="med"/>
            </a:ln>
          </p:spPr>
        </p:sp>
        <p:sp>
          <p:nvSpPr>
            <p:cNvPr id="24619" name="Line 60"/>
            <p:cNvSpPr/>
            <p:nvPr/>
          </p:nvSpPr>
          <p:spPr>
            <a:xfrm flipV="1">
              <a:off x="2521" y="735"/>
              <a:ext cx="0" cy="417"/>
            </a:xfrm>
            <a:prstGeom prst="line">
              <a:avLst/>
            </a:prstGeom>
            <a:ln w="12700" cap="flat" cmpd="sng">
              <a:solidFill>
                <a:srgbClr val="CC00CC"/>
              </a:solidFill>
              <a:prstDash val="dash"/>
              <a:headEnd type="none" w="med" len="med"/>
              <a:tailEnd type="none" w="med" len="med"/>
            </a:ln>
          </p:spPr>
        </p:sp>
        <p:sp>
          <p:nvSpPr>
            <p:cNvPr id="24620" name="Text Box 61"/>
            <p:cNvSpPr txBox="1"/>
            <p:nvPr/>
          </p:nvSpPr>
          <p:spPr>
            <a:xfrm>
              <a:off x="2494" y="913"/>
              <a:ext cx="301"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C</a:t>
              </a:r>
              <a:endParaRPr lang="en-US" altLang="zh-CN" sz="2000" i="1" baseline="-25000" dirty="0">
                <a:solidFill>
                  <a:srgbClr val="FF0000"/>
                </a:solidFill>
                <a:latin typeface="Times New Roman" panose="02020603050405020304" pitchFamily="18" charset="0"/>
              </a:endParaRPr>
            </a:p>
          </p:txBody>
        </p:sp>
      </p:grpSp>
      <p:sp>
        <p:nvSpPr>
          <p:cNvPr id="2333758" name="Text Box 62"/>
          <p:cNvSpPr txBox="1"/>
          <p:nvPr/>
        </p:nvSpPr>
        <p:spPr>
          <a:xfrm>
            <a:off x="958850" y="5414963"/>
            <a:ext cx="7358063" cy="822325"/>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增大保持电容器</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baseline="-25000" dirty="0">
                <a:solidFill>
                  <a:srgbClr val="FF0000"/>
                </a:solidFill>
                <a:latin typeface="Times New Roman" panose="02020603050405020304" pitchFamily="18" charset="0"/>
                <a:ea typeface="宋体" panose="02010600030101010101" pitchFamily="2" charset="-122"/>
              </a:rPr>
              <a:t>H</a:t>
            </a:r>
            <a:r>
              <a:rPr lang="zh-CN" altLang="en-US" sz="2400" dirty="0">
                <a:solidFill>
                  <a:schemeClr val="tx1"/>
                </a:solidFill>
                <a:latin typeface="Times New Roman" panose="02020603050405020304" pitchFamily="18" charset="0"/>
              </a:rPr>
              <a:t>有利于减少馈送，但不利于采样频率的提高。</a:t>
            </a:r>
            <a:endParaRPr lang="zh-CN" altLang="en-US" sz="2400" dirty="0">
              <a:solidFill>
                <a:schemeClr val="tx1"/>
              </a:solidFill>
              <a:latin typeface="Times New Roman" panose="02020603050405020304" pitchFamily="18" charset="0"/>
            </a:endParaRPr>
          </a:p>
        </p:txBody>
      </p:sp>
      <p:sp>
        <p:nvSpPr>
          <p:cNvPr id="24583" name="Text Box 5"/>
          <p:cNvSpPr txBox="1"/>
          <p:nvPr/>
        </p:nvSpPr>
        <p:spPr>
          <a:xfrm>
            <a:off x="358775" y="728663"/>
            <a:ext cx="62150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3718"/>
                                        </p:tgtEl>
                                        <p:attrNameLst>
                                          <p:attrName>style.visibility</p:attrName>
                                        </p:attrNameLst>
                                      </p:cBhvr>
                                      <p:to>
                                        <p:strVal val="visible"/>
                                      </p:to>
                                    </p:set>
                                    <p:animEffect transition="in" filter="dissolve">
                                      <p:cBhvr>
                                        <p:cTn id="7" dur="500"/>
                                        <p:tgtEl>
                                          <p:spTgt spid="23337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3715"/>
                                        </p:tgtEl>
                                        <p:attrNameLst>
                                          <p:attrName>style.visibility</p:attrName>
                                        </p:attrNameLst>
                                      </p:cBhvr>
                                      <p:to>
                                        <p:strVal val="visible"/>
                                      </p:to>
                                    </p:set>
                                    <p:animEffect transition="in" filter="dissolve">
                                      <p:cBhvr>
                                        <p:cTn id="12" dur="500"/>
                                        <p:tgtEl>
                                          <p:spTgt spid="233371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3720"/>
                                        </p:tgtEl>
                                        <p:attrNameLst>
                                          <p:attrName>style.visibility</p:attrName>
                                        </p:attrNameLst>
                                      </p:cBhvr>
                                      <p:to>
                                        <p:strVal val="visible"/>
                                      </p:to>
                                    </p:set>
                                    <p:animEffect transition="in" filter="dissolve">
                                      <p:cBhvr>
                                        <p:cTn id="17" dur="500"/>
                                        <p:tgtEl>
                                          <p:spTgt spid="233372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33758"/>
                                        </p:tgtEl>
                                        <p:attrNameLst>
                                          <p:attrName>style.visibility</p:attrName>
                                        </p:attrNameLst>
                                      </p:cBhvr>
                                      <p:to>
                                        <p:strVal val="visible"/>
                                      </p:to>
                                    </p:set>
                                    <p:animEffect transition="in" filter="dissolve">
                                      <p:cBhvr>
                                        <p:cTn id="22" dur="500"/>
                                        <p:tgtEl>
                                          <p:spTgt spid="23337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715" grpId="0" animBg="1"/>
      <p:bldP spid="2333718" grpId="0"/>
      <p:bldP spid="2333758"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5766" name="Text Box 22"/>
          <p:cNvSpPr txBox="1"/>
          <p:nvPr/>
        </p:nvSpPr>
        <p:spPr>
          <a:xfrm>
            <a:off x="215900" y="2097088"/>
            <a:ext cx="3779838" cy="18097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跟踪到保持的偏差</a:t>
            </a:r>
            <a:r>
              <a:rPr lang="zh-CN" altLang="en-US" sz="2800" dirty="0">
                <a:solidFill>
                  <a:schemeClr val="tx1"/>
                </a:solidFill>
                <a:latin typeface="黑体" panose="02010609060101010101" pitchFamily="49" charset="-122"/>
                <a:ea typeface="黑体" panose="02010609060101010101" pitchFamily="49" charset="-122"/>
              </a:rPr>
              <a:t>：跟踪最终值与建立保持状态时的保持值之间的偏差电压。</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35767" name="Text Box 23"/>
          <p:cNvSpPr txBox="1"/>
          <p:nvPr/>
        </p:nvSpPr>
        <p:spPr>
          <a:xfrm>
            <a:off x="395288" y="4149725"/>
            <a:ext cx="3455987" cy="1373188"/>
          </a:xfrm>
          <a:prstGeom prst="rect">
            <a:avLst/>
          </a:prstGeom>
          <a:noFill/>
          <a:ln w="9525">
            <a:noFill/>
          </a:ln>
        </p:spPr>
        <p:txBody>
          <a:bodyPr>
            <a:spAutoFit/>
          </a:bodyPr>
          <a:p>
            <a:pPr eaLnBrk="1" hangingPunct="1"/>
            <a:r>
              <a:rPr lang="zh-CN" altLang="en-US" sz="2800" dirty="0">
                <a:latin typeface="楷体_GB2312" pitchFamily="49" charset="-122"/>
              </a:rPr>
              <a:t>该误差与输入信号有关，是一个不可预估的误差。 </a:t>
            </a:r>
            <a:endParaRPr lang="zh-CN" altLang="en-US" sz="2800" dirty="0">
              <a:latin typeface="楷体_GB2312" pitchFamily="49" charset="-122"/>
            </a:endParaRPr>
          </a:p>
        </p:txBody>
      </p:sp>
      <p:sp>
        <p:nvSpPr>
          <p:cNvPr id="2335770" name="Text Box 26"/>
          <p:cNvSpPr txBox="1"/>
          <p:nvPr/>
        </p:nvSpPr>
        <p:spPr>
          <a:xfrm>
            <a:off x="431800" y="1465263"/>
            <a:ext cx="3808413" cy="519112"/>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6.</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跟踪到保持的偏差</a:t>
            </a:r>
            <a:endParaRPr lang="zh-CN" altLang="en-US" sz="2800" baseline="-25000" dirty="0">
              <a:solidFill>
                <a:srgbClr val="FF0000"/>
              </a:solidFill>
              <a:latin typeface="Times New Roman" panose="02020603050405020304" pitchFamily="18" charset="0"/>
              <a:ea typeface="黑体" panose="02010609060101010101" pitchFamily="49" charset="-122"/>
            </a:endParaRPr>
          </a:p>
        </p:txBody>
      </p:sp>
      <p:sp>
        <p:nvSpPr>
          <p:cNvPr id="2335771" name="Text Box 27"/>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5606" name="Group 54"/>
          <p:cNvGrpSpPr/>
          <p:nvPr/>
        </p:nvGrpSpPr>
        <p:grpSpPr>
          <a:xfrm>
            <a:off x="4240213" y="1446213"/>
            <a:ext cx="4641850" cy="4762500"/>
            <a:chOff x="2671" y="911"/>
            <a:chExt cx="2924" cy="3000"/>
          </a:xfrm>
        </p:grpSpPr>
        <p:grpSp>
          <p:nvGrpSpPr>
            <p:cNvPr id="25608" name="Group 79"/>
            <p:cNvGrpSpPr/>
            <p:nvPr/>
          </p:nvGrpSpPr>
          <p:grpSpPr>
            <a:xfrm>
              <a:off x="2671" y="1250"/>
              <a:ext cx="2924" cy="2661"/>
              <a:chOff x="2671" y="1250"/>
              <a:chExt cx="2924" cy="2661"/>
            </a:xfrm>
          </p:grpSpPr>
          <p:sp>
            <p:nvSpPr>
              <p:cNvPr id="25614" name="Rectangle 28"/>
              <p:cNvSpPr/>
              <p:nvPr/>
            </p:nvSpPr>
            <p:spPr>
              <a:xfrm>
                <a:off x="2671" y="1250"/>
                <a:ext cx="2924" cy="2661"/>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5615" name="Line 29"/>
              <p:cNvSpPr/>
              <p:nvPr/>
            </p:nvSpPr>
            <p:spPr>
              <a:xfrm>
                <a:off x="2741" y="3591"/>
                <a:ext cx="2688" cy="0"/>
              </a:xfrm>
              <a:prstGeom prst="line">
                <a:avLst/>
              </a:prstGeom>
              <a:ln w="9525" cap="flat" cmpd="sng">
                <a:solidFill>
                  <a:srgbClr val="0000FF"/>
                </a:solidFill>
                <a:prstDash val="solid"/>
                <a:headEnd type="none" w="med" len="med"/>
                <a:tailEnd type="stealth" w="sm" len="lg"/>
              </a:ln>
            </p:spPr>
          </p:sp>
          <p:sp>
            <p:nvSpPr>
              <p:cNvPr id="25616" name="Text Box 30"/>
              <p:cNvSpPr txBox="1"/>
              <p:nvPr/>
            </p:nvSpPr>
            <p:spPr>
              <a:xfrm>
                <a:off x="5430" y="3482"/>
                <a:ext cx="160"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5617" name="Line 31"/>
              <p:cNvSpPr/>
              <p:nvPr/>
            </p:nvSpPr>
            <p:spPr>
              <a:xfrm flipV="1">
                <a:off x="2741" y="1312"/>
                <a:ext cx="0" cy="2279"/>
              </a:xfrm>
              <a:prstGeom prst="line">
                <a:avLst/>
              </a:prstGeom>
              <a:ln w="9525" cap="flat" cmpd="sng">
                <a:solidFill>
                  <a:srgbClr val="0000FF"/>
                </a:solidFill>
                <a:prstDash val="solid"/>
                <a:headEnd type="none" w="med" len="med"/>
                <a:tailEnd type="stealth" w="sm" len="lg"/>
              </a:ln>
            </p:spPr>
          </p:sp>
          <p:sp>
            <p:nvSpPr>
              <p:cNvPr id="25618" name="Text Box 32"/>
              <p:cNvSpPr txBox="1"/>
              <p:nvPr/>
            </p:nvSpPr>
            <p:spPr>
              <a:xfrm>
                <a:off x="2721" y="1272"/>
                <a:ext cx="23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25619" name="Freeform 33"/>
              <p:cNvSpPr/>
              <p:nvPr/>
            </p:nvSpPr>
            <p:spPr>
              <a:xfrm>
                <a:off x="2741" y="1509"/>
                <a:ext cx="1820" cy="1528"/>
              </a:xfrm>
              <a:custGeom>
                <a:avLst/>
                <a:gdLst/>
                <a:ahLst/>
                <a:cxnLst>
                  <a:cxn ang="0">
                    <a:pos x="0" y="1406"/>
                  </a:cxn>
                  <a:cxn ang="0">
                    <a:pos x="50" y="1456"/>
                  </a:cxn>
                  <a:cxn ang="0">
                    <a:pos x="134" y="1498"/>
                  </a:cxn>
                  <a:cxn ang="0">
                    <a:pos x="184" y="1515"/>
                  </a:cxn>
                  <a:cxn ang="0">
                    <a:pos x="234" y="1523"/>
                  </a:cxn>
                  <a:cxn ang="0">
                    <a:pos x="284" y="1523"/>
                  </a:cxn>
                  <a:cxn ang="0">
                    <a:pos x="342" y="1523"/>
                  </a:cxn>
                  <a:cxn ang="0">
                    <a:pos x="417" y="1490"/>
                  </a:cxn>
                  <a:cxn ang="0">
                    <a:pos x="468" y="1456"/>
                  </a:cxn>
                  <a:cxn ang="0">
                    <a:pos x="526" y="1414"/>
                  </a:cxn>
                  <a:cxn ang="0">
                    <a:pos x="593" y="1339"/>
                  </a:cxn>
                  <a:cxn ang="0">
                    <a:pos x="643" y="1256"/>
                  </a:cxn>
                  <a:cxn ang="0">
                    <a:pos x="701" y="1147"/>
                  </a:cxn>
                  <a:cxn ang="0">
                    <a:pos x="801" y="855"/>
                  </a:cxn>
                  <a:cxn ang="0">
                    <a:pos x="860" y="655"/>
                  </a:cxn>
                  <a:cxn ang="0">
                    <a:pos x="943" y="429"/>
                  </a:cxn>
                  <a:cxn ang="0">
                    <a:pos x="985" y="313"/>
                  </a:cxn>
                  <a:cxn ang="0">
                    <a:pos x="1044" y="212"/>
                  </a:cxn>
                  <a:cxn ang="0">
                    <a:pos x="1135" y="112"/>
                  </a:cxn>
                  <a:cxn ang="0">
                    <a:pos x="1202" y="70"/>
                  </a:cxn>
                  <a:cxn ang="0">
                    <a:pos x="1269" y="29"/>
                  </a:cxn>
                  <a:cxn ang="0">
                    <a:pos x="1319" y="20"/>
                  </a:cxn>
                  <a:cxn ang="0">
                    <a:pos x="1403" y="4"/>
                  </a:cxn>
                  <a:cxn ang="0">
                    <a:pos x="1553" y="45"/>
                  </a:cxn>
                  <a:cxn ang="0">
                    <a:pos x="1645" y="112"/>
                  </a:cxn>
                  <a:cxn ang="0">
                    <a:pos x="1745" y="204"/>
                  </a:cxn>
                  <a:cxn ang="0">
                    <a:pos x="1820" y="338"/>
                  </a:cxn>
                </a:cxnLst>
                <a:pathLst>
                  <a:path w="1820" h="1528">
                    <a:moveTo>
                      <a:pt x="0" y="1406"/>
                    </a:moveTo>
                    <a:cubicBezTo>
                      <a:pt x="14" y="1423"/>
                      <a:pt x="28" y="1441"/>
                      <a:pt x="50" y="1456"/>
                    </a:cubicBezTo>
                    <a:cubicBezTo>
                      <a:pt x="72" y="1471"/>
                      <a:pt x="112" y="1488"/>
                      <a:pt x="134" y="1498"/>
                    </a:cubicBezTo>
                    <a:cubicBezTo>
                      <a:pt x="156" y="1508"/>
                      <a:pt x="167" y="1511"/>
                      <a:pt x="184" y="1515"/>
                    </a:cubicBezTo>
                    <a:cubicBezTo>
                      <a:pt x="201" y="1519"/>
                      <a:pt x="217" y="1522"/>
                      <a:pt x="234" y="1523"/>
                    </a:cubicBezTo>
                    <a:cubicBezTo>
                      <a:pt x="251" y="1524"/>
                      <a:pt x="266" y="1523"/>
                      <a:pt x="284" y="1523"/>
                    </a:cubicBezTo>
                    <a:cubicBezTo>
                      <a:pt x="302" y="1523"/>
                      <a:pt x="320" y="1528"/>
                      <a:pt x="342" y="1523"/>
                    </a:cubicBezTo>
                    <a:cubicBezTo>
                      <a:pt x="364" y="1518"/>
                      <a:pt x="396" y="1501"/>
                      <a:pt x="417" y="1490"/>
                    </a:cubicBezTo>
                    <a:cubicBezTo>
                      <a:pt x="438" y="1479"/>
                      <a:pt x="450" y="1469"/>
                      <a:pt x="468" y="1456"/>
                    </a:cubicBezTo>
                    <a:cubicBezTo>
                      <a:pt x="486" y="1443"/>
                      <a:pt x="505" y="1433"/>
                      <a:pt x="526" y="1414"/>
                    </a:cubicBezTo>
                    <a:cubicBezTo>
                      <a:pt x="547" y="1395"/>
                      <a:pt x="574" y="1365"/>
                      <a:pt x="593" y="1339"/>
                    </a:cubicBezTo>
                    <a:cubicBezTo>
                      <a:pt x="612" y="1313"/>
                      <a:pt x="625" y="1288"/>
                      <a:pt x="643" y="1256"/>
                    </a:cubicBezTo>
                    <a:cubicBezTo>
                      <a:pt x="661" y="1224"/>
                      <a:pt x="675" y="1214"/>
                      <a:pt x="701" y="1147"/>
                    </a:cubicBezTo>
                    <a:cubicBezTo>
                      <a:pt x="727" y="1080"/>
                      <a:pt x="775" y="937"/>
                      <a:pt x="801" y="855"/>
                    </a:cubicBezTo>
                    <a:cubicBezTo>
                      <a:pt x="827" y="773"/>
                      <a:pt x="836" y="726"/>
                      <a:pt x="860" y="655"/>
                    </a:cubicBezTo>
                    <a:cubicBezTo>
                      <a:pt x="884" y="584"/>
                      <a:pt x="922" y="486"/>
                      <a:pt x="943" y="429"/>
                    </a:cubicBezTo>
                    <a:cubicBezTo>
                      <a:pt x="964" y="372"/>
                      <a:pt x="968" y="349"/>
                      <a:pt x="985" y="313"/>
                    </a:cubicBezTo>
                    <a:cubicBezTo>
                      <a:pt x="1002" y="277"/>
                      <a:pt x="1019" y="246"/>
                      <a:pt x="1044" y="212"/>
                    </a:cubicBezTo>
                    <a:cubicBezTo>
                      <a:pt x="1069" y="178"/>
                      <a:pt x="1109" y="136"/>
                      <a:pt x="1135" y="112"/>
                    </a:cubicBezTo>
                    <a:cubicBezTo>
                      <a:pt x="1161" y="88"/>
                      <a:pt x="1180" y="84"/>
                      <a:pt x="1202" y="70"/>
                    </a:cubicBezTo>
                    <a:cubicBezTo>
                      <a:pt x="1224" y="56"/>
                      <a:pt x="1249" y="37"/>
                      <a:pt x="1269" y="29"/>
                    </a:cubicBezTo>
                    <a:cubicBezTo>
                      <a:pt x="1289" y="21"/>
                      <a:pt x="1297" y="24"/>
                      <a:pt x="1319" y="20"/>
                    </a:cubicBezTo>
                    <a:cubicBezTo>
                      <a:pt x="1341" y="16"/>
                      <a:pt x="1364" y="0"/>
                      <a:pt x="1403" y="4"/>
                    </a:cubicBezTo>
                    <a:cubicBezTo>
                      <a:pt x="1442" y="8"/>
                      <a:pt x="1513" y="27"/>
                      <a:pt x="1553" y="45"/>
                    </a:cubicBezTo>
                    <a:cubicBezTo>
                      <a:pt x="1593" y="63"/>
                      <a:pt x="1613" y="86"/>
                      <a:pt x="1645" y="112"/>
                    </a:cubicBezTo>
                    <a:cubicBezTo>
                      <a:pt x="1677" y="138"/>
                      <a:pt x="1716" y="166"/>
                      <a:pt x="1745" y="204"/>
                    </a:cubicBezTo>
                    <a:cubicBezTo>
                      <a:pt x="1774" y="242"/>
                      <a:pt x="1808" y="316"/>
                      <a:pt x="1820" y="338"/>
                    </a:cubicBezTo>
                  </a:path>
                </a:pathLst>
              </a:custGeom>
              <a:noFill/>
              <a:ln w="19050" cap="flat" cmpd="sng">
                <a:solidFill>
                  <a:srgbClr val="0000FF">
                    <a:alpha val="100000"/>
                  </a:srgbClr>
                </a:solidFill>
                <a:prstDash val="dash"/>
                <a:round/>
                <a:headEnd type="none" w="med" len="med"/>
                <a:tailEnd type="none" w="med" len="med"/>
              </a:ln>
            </p:spPr>
            <p:txBody>
              <a:bodyPr/>
              <a:p>
                <a:endParaRPr lang="zh-CN" altLang="en-US"/>
              </a:p>
            </p:txBody>
          </p:sp>
          <p:sp>
            <p:nvSpPr>
              <p:cNvPr id="25620" name="Line 34"/>
              <p:cNvSpPr/>
              <p:nvPr/>
            </p:nvSpPr>
            <p:spPr>
              <a:xfrm>
                <a:off x="2741" y="2615"/>
                <a:ext cx="718" cy="0"/>
              </a:xfrm>
              <a:prstGeom prst="line">
                <a:avLst/>
              </a:prstGeom>
              <a:ln w="31750" cap="flat" cmpd="sng">
                <a:solidFill>
                  <a:srgbClr val="FF0000"/>
                </a:solidFill>
                <a:prstDash val="solid"/>
                <a:headEnd type="none" w="med" len="med"/>
                <a:tailEnd type="none" w="med" len="med"/>
              </a:ln>
            </p:spPr>
          </p:sp>
          <p:sp>
            <p:nvSpPr>
              <p:cNvPr id="25621" name="Arc 35"/>
              <p:cNvSpPr/>
              <p:nvPr/>
            </p:nvSpPr>
            <p:spPr>
              <a:xfrm flipV="1">
                <a:off x="3526" y="2506"/>
                <a:ext cx="99" cy="109"/>
              </a:xfrm>
              <a:custGeom>
                <a:avLst/>
                <a:gdLst/>
                <a:ahLst/>
                <a:cxnLst>
                  <a:cxn ang="0">
                    <a:pos x="0" y="0"/>
                  </a:cxn>
                  <a:cxn ang="0">
                    <a:pos x="0" y="0"/>
                  </a:cxn>
                  <a:cxn ang="0">
                    <a:pos x="0" y="0"/>
                  </a:cxn>
                </a:cxnLst>
                <a:pathLst>
                  <a:path w="21600" h="21600" fill="none">
                    <a:moveTo>
                      <a:pt x="-1" y="0"/>
                    </a:moveTo>
                    <a:cubicBezTo>
                      <a:pt x="11929" y="0"/>
                      <a:pt x="21600" y="9670"/>
                      <a:pt x="21600" y="21600"/>
                    </a:cubicBezTo>
                  </a:path>
                  <a:path w="21600" h="21600" stroke="0">
                    <a:moveTo>
                      <a:pt x="-1" y="0"/>
                    </a:moveTo>
                    <a:cubicBezTo>
                      <a:pt x="11929" y="0"/>
                      <a:pt x="21600" y="9670"/>
                      <a:pt x="21600" y="21600"/>
                    </a:cubicBezTo>
                    <a:lnTo>
                      <a:pt x="0" y="21600"/>
                    </a:lnTo>
                    <a:lnTo>
                      <a:pt x="-1" y="0"/>
                    </a:lnTo>
                    <a:close/>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5622" name="Freeform 36"/>
              <p:cNvSpPr/>
              <p:nvPr/>
            </p:nvSpPr>
            <p:spPr>
              <a:xfrm>
                <a:off x="3626" y="1935"/>
                <a:ext cx="45" cy="572"/>
              </a:xfrm>
              <a:custGeom>
                <a:avLst/>
                <a:gdLst/>
                <a:ahLst/>
                <a:cxnLst>
                  <a:cxn ang="0">
                    <a:pos x="0" y="572"/>
                  </a:cxn>
                  <a:cxn ang="0">
                    <a:pos x="37" y="54"/>
                  </a:cxn>
                  <a:cxn ang="0">
                    <a:pos x="45" y="0"/>
                  </a:cxn>
                </a:cxnLst>
                <a:pathLst>
                  <a:path w="45" h="572">
                    <a:moveTo>
                      <a:pt x="0" y="572"/>
                    </a:moveTo>
                    <a:lnTo>
                      <a:pt x="37" y="54"/>
                    </a:lnTo>
                    <a:lnTo>
                      <a:pt x="45"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5623" name="Line 40"/>
              <p:cNvSpPr/>
              <p:nvPr/>
            </p:nvSpPr>
            <p:spPr>
              <a:xfrm>
                <a:off x="2741" y="3583"/>
                <a:ext cx="718" cy="0"/>
              </a:xfrm>
              <a:prstGeom prst="line">
                <a:avLst/>
              </a:prstGeom>
              <a:ln w="31750" cap="flat" cmpd="sng">
                <a:solidFill>
                  <a:srgbClr val="CC00CC"/>
                </a:solidFill>
                <a:prstDash val="solid"/>
                <a:headEnd type="none" w="med" len="med"/>
                <a:tailEnd type="none" w="med" len="med"/>
              </a:ln>
            </p:spPr>
          </p:sp>
          <p:sp>
            <p:nvSpPr>
              <p:cNvPr id="25624" name="Text Box 41"/>
              <p:cNvSpPr txBox="1"/>
              <p:nvPr/>
            </p:nvSpPr>
            <p:spPr>
              <a:xfrm>
                <a:off x="2893" y="3361"/>
                <a:ext cx="466"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5625" name="Line 42"/>
              <p:cNvSpPr/>
              <p:nvPr/>
            </p:nvSpPr>
            <p:spPr>
              <a:xfrm flipV="1">
                <a:off x="3459" y="3157"/>
                <a:ext cx="0" cy="426"/>
              </a:xfrm>
              <a:prstGeom prst="line">
                <a:avLst/>
              </a:prstGeom>
              <a:ln w="31750" cap="flat" cmpd="sng">
                <a:solidFill>
                  <a:srgbClr val="CC00CC"/>
                </a:solidFill>
                <a:prstDash val="solid"/>
                <a:headEnd type="none" w="med" len="med"/>
                <a:tailEnd type="none" w="med" len="med"/>
              </a:ln>
            </p:spPr>
          </p:sp>
          <p:sp>
            <p:nvSpPr>
              <p:cNvPr id="25626" name="Line 43"/>
              <p:cNvSpPr/>
              <p:nvPr/>
            </p:nvSpPr>
            <p:spPr>
              <a:xfrm flipV="1">
                <a:off x="3459" y="2615"/>
                <a:ext cx="0" cy="551"/>
              </a:xfrm>
              <a:prstGeom prst="line">
                <a:avLst/>
              </a:prstGeom>
              <a:ln w="9525" cap="flat" cmpd="sng">
                <a:solidFill>
                  <a:srgbClr val="008080"/>
                </a:solidFill>
                <a:prstDash val="sysDot"/>
                <a:headEnd type="none" w="med" len="med"/>
                <a:tailEnd type="none" w="med" len="med"/>
              </a:ln>
            </p:spPr>
          </p:sp>
          <p:sp>
            <p:nvSpPr>
              <p:cNvPr id="25627" name="Line 44"/>
              <p:cNvSpPr/>
              <p:nvPr/>
            </p:nvSpPr>
            <p:spPr>
              <a:xfrm>
                <a:off x="3467" y="3166"/>
                <a:ext cx="309" cy="0"/>
              </a:xfrm>
              <a:prstGeom prst="line">
                <a:avLst/>
              </a:prstGeom>
              <a:ln w="31750" cap="flat" cmpd="sng">
                <a:solidFill>
                  <a:srgbClr val="CC00CC"/>
                </a:solidFill>
                <a:prstDash val="solid"/>
                <a:headEnd type="none" w="med" len="med"/>
                <a:tailEnd type="none" w="med" len="med"/>
              </a:ln>
            </p:spPr>
          </p:sp>
          <p:sp>
            <p:nvSpPr>
              <p:cNvPr id="25628" name="Text Box 45"/>
              <p:cNvSpPr txBox="1"/>
              <p:nvPr/>
            </p:nvSpPr>
            <p:spPr>
              <a:xfrm>
                <a:off x="3415" y="3166"/>
                <a:ext cx="460"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跟踪</a:t>
                </a:r>
                <a:endParaRPr lang="zh-CN" altLang="en-US" sz="1800" dirty="0">
                  <a:latin typeface="Times New Roman" panose="02020603050405020304" pitchFamily="18" charset="0"/>
                </a:endParaRPr>
              </a:p>
            </p:txBody>
          </p:sp>
          <p:sp>
            <p:nvSpPr>
              <p:cNvPr id="25629" name="Line 46"/>
              <p:cNvSpPr/>
              <p:nvPr/>
            </p:nvSpPr>
            <p:spPr>
              <a:xfrm flipV="1">
                <a:off x="3776" y="3633"/>
                <a:ext cx="0" cy="208"/>
              </a:xfrm>
              <a:prstGeom prst="line">
                <a:avLst/>
              </a:prstGeom>
              <a:ln w="19050" cap="flat" cmpd="sng">
                <a:solidFill>
                  <a:srgbClr val="FF0000"/>
                </a:solidFill>
                <a:prstDash val="solid"/>
                <a:headEnd type="none" w="med" len="med"/>
                <a:tailEnd type="triangle" w="sm" len="lg"/>
              </a:ln>
            </p:spPr>
          </p:sp>
          <p:sp>
            <p:nvSpPr>
              <p:cNvPr id="25630" name="Text Box 47"/>
              <p:cNvSpPr txBox="1"/>
              <p:nvPr/>
            </p:nvSpPr>
            <p:spPr>
              <a:xfrm>
                <a:off x="3759" y="3647"/>
                <a:ext cx="1276" cy="214"/>
              </a:xfrm>
              <a:prstGeom prst="rect">
                <a:avLst/>
              </a:prstGeom>
              <a:noFill/>
              <a:ln w="9525">
                <a:noFill/>
              </a:ln>
            </p:spPr>
            <p:txBody>
              <a:bodyPr wrap="none">
                <a:spAutoFit/>
              </a:bodyPr>
              <a:p>
                <a:pPr eaLnBrk="1" hangingPunct="1">
                  <a:lnSpc>
                    <a:spcPct val="90000"/>
                  </a:lnSpc>
                </a:pPr>
                <a:r>
                  <a:rPr lang="zh-CN" altLang="en-US" sz="1800" dirty="0">
                    <a:solidFill>
                      <a:srgbClr val="FF0000"/>
                    </a:solidFill>
                    <a:latin typeface="Times New Roman" panose="02020603050405020304" pitchFamily="18" charset="0"/>
                  </a:rPr>
                  <a:t>保持指令发出时刻</a:t>
                </a:r>
                <a:endParaRPr lang="zh-CN" altLang="en-US" sz="1800" dirty="0">
                  <a:solidFill>
                    <a:srgbClr val="FF0000"/>
                  </a:solidFill>
                  <a:latin typeface="Times New Roman" panose="02020603050405020304" pitchFamily="18" charset="0"/>
                </a:endParaRPr>
              </a:p>
            </p:txBody>
          </p:sp>
          <p:sp>
            <p:nvSpPr>
              <p:cNvPr id="25631" name="Line 48"/>
              <p:cNvSpPr/>
              <p:nvPr/>
            </p:nvSpPr>
            <p:spPr>
              <a:xfrm>
                <a:off x="3776" y="3166"/>
                <a:ext cx="0" cy="417"/>
              </a:xfrm>
              <a:prstGeom prst="line">
                <a:avLst/>
              </a:prstGeom>
              <a:ln w="31750" cap="flat" cmpd="sng">
                <a:solidFill>
                  <a:srgbClr val="CC00CC"/>
                </a:solidFill>
                <a:prstDash val="solid"/>
                <a:headEnd type="none" w="med" len="med"/>
                <a:tailEnd type="none" w="med" len="med"/>
              </a:ln>
            </p:spPr>
          </p:sp>
          <p:sp>
            <p:nvSpPr>
              <p:cNvPr id="25632" name="Line 49"/>
              <p:cNvSpPr/>
              <p:nvPr/>
            </p:nvSpPr>
            <p:spPr>
              <a:xfrm flipV="1">
                <a:off x="3776" y="1737"/>
                <a:ext cx="0" cy="1429"/>
              </a:xfrm>
              <a:prstGeom prst="line">
                <a:avLst/>
              </a:prstGeom>
              <a:ln w="9525" cap="flat" cmpd="sng">
                <a:solidFill>
                  <a:srgbClr val="008080"/>
                </a:solidFill>
                <a:prstDash val="sysDot"/>
                <a:headEnd type="none" w="med" len="med"/>
                <a:tailEnd type="none" w="med" len="med"/>
              </a:ln>
            </p:spPr>
          </p:sp>
          <p:sp>
            <p:nvSpPr>
              <p:cNvPr id="25633" name="Line 50"/>
              <p:cNvSpPr/>
              <p:nvPr/>
            </p:nvSpPr>
            <p:spPr>
              <a:xfrm>
                <a:off x="3926" y="1587"/>
                <a:ext cx="1" cy="1596"/>
              </a:xfrm>
              <a:prstGeom prst="line">
                <a:avLst/>
              </a:prstGeom>
              <a:ln w="9525" cap="flat" cmpd="sng">
                <a:solidFill>
                  <a:srgbClr val="FF0000"/>
                </a:solidFill>
                <a:prstDash val="sysDot"/>
                <a:headEnd type="none" w="med" len="med"/>
                <a:tailEnd type="none" w="med" len="med"/>
              </a:ln>
            </p:spPr>
          </p:sp>
          <p:sp>
            <p:nvSpPr>
              <p:cNvPr id="25634" name="Line 51"/>
              <p:cNvSpPr/>
              <p:nvPr/>
            </p:nvSpPr>
            <p:spPr>
              <a:xfrm>
                <a:off x="3651" y="3082"/>
                <a:ext cx="125" cy="0"/>
              </a:xfrm>
              <a:prstGeom prst="line">
                <a:avLst/>
              </a:prstGeom>
              <a:ln w="12700" cap="flat" cmpd="sng">
                <a:solidFill>
                  <a:schemeClr val="tx1"/>
                </a:solidFill>
                <a:prstDash val="solid"/>
                <a:headEnd type="none" w="med" len="med"/>
                <a:tailEnd type="stealth" w="med" len="lg"/>
              </a:ln>
            </p:spPr>
          </p:sp>
          <p:sp>
            <p:nvSpPr>
              <p:cNvPr id="25635" name="Line 52"/>
              <p:cNvSpPr/>
              <p:nvPr/>
            </p:nvSpPr>
            <p:spPr>
              <a:xfrm flipH="1">
                <a:off x="3927" y="3082"/>
                <a:ext cx="259" cy="0"/>
              </a:xfrm>
              <a:prstGeom prst="line">
                <a:avLst/>
              </a:prstGeom>
              <a:ln w="12700" cap="flat" cmpd="sng">
                <a:solidFill>
                  <a:schemeClr val="tx1"/>
                </a:solidFill>
                <a:prstDash val="solid"/>
                <a:headEnd type="none" w="med" len="med"/>
                <a:tailEnd type="stealth" w="med" len="lg"/>
              </a:ln>
            </p:spPr>
          </p:sp>
          <p:sp>
            <p:nvSpPr>
              <p:cNvPr id="25636" name="Text Box 53"/>
              <p:cNvSpPr txBox="1"/>
              <p:nvPr/>
            </p:nvSpPr>
            <p:spPr>
              <a:xfrm>
                <a:off x="3944" y="2870"/>
                <a:ext cx="284"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5637" name="Line 54"/>
              <p:cNvSpPr/>
              <p:nvPr/>
            </p:nvSpPr>
            <p:spPr>
              <a:xfrm flipH="1">
                <a:off x="4277" y="1640"/>
                <a:ext cx="2" cy="917"/>
              </a:xfrm>
              <a:prstGeom prst="line">
                <a:avLst/>
              </a:prstGeom>
              <a:ln w="9525" cap="flat" cmpd="sng">
                <a:solidFill>
                  <a:srgbClr val="FF0000"/>
                </a:solidFill>
                <a:prstDash val="sysDot"/>
                <a:headEnd type="none" w="med" len="med"/>
                <a:tailEnd type="none" w="med" len="med"/>
              </a:ln>
            </p:spPr>
          </p:sp>
          <p:sp>
            <p:nvSpPr>
              <p:cNvPr id="25638" name="Line 55"/>
              <p:cNvSpPr/>
              <p:nvPr/>
            </p:nvSpPr>
            <p:spPr>
              <a:xfrm>
                <a:off x="3926" y="2481"/>
                <a:ext cx="351" cy="0"/>
              </a:xfrm>
              <a:prstGeom prst="line">
                <a:avLst/>
              </a:prstGeom>
              <a:ln w="12700" cap="flat" cmpd="sng">
                <a:solidFill>
                  <a:schemeClr val="tx1"/>
                </a:solidFill>
                <a:prstDash val="solid"/>
                <a:headEnd type="stealth" w="sm" len="lg"/>
                <a:tailEnd type="stealth" w="med" len="lg"/>
              </a:ln>
            </p:spPr>
          </p:sp>
          <p:sp>
            <p:nvSpPr>
              <p:cNvPr id="25639" name="Text Box 56"/>
              <p:cNvSpPr txBox="1"/>
              <p:nvPr/>
            </p:nvSpPr>
            <p:spPr>
              <a:xfrm>
                <a:off x="3966" y="2264"/>
                <a:ext cx="273"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ST</a:t>
                </a:r>
                <a:endParaRPr lang="en-US" altLang="zh-CN" sz="1800" baseline="-25000" dirty="0">
                  <a:solidFill>
                    <a:srgbClr val="FF0000"/>
                  </a:solidFill>
                  <a:latin typeface="Times New Roman" panose="02020603050405020304" pitchFamily="18" charset="0"/>
                </a:endParaRPr>
              </a:p>
            </p:txBody>
          </p:sp>
          <p:sp>
            <p:nvSpPr>
              <p:cNvPr id="25640" name="Text Box 57"/>
              <p:cNvSpPr txBox="1"/>
              <p:nvPr/>
            </p:nvSpPr>
            <p:spPr>
              <a:xfrm>
                <a:off x="4099" y="3374"/>
                <a:ext cx="454"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保持</a:t>
                </a:r>
                <a:endParaRPr lang="zh-CN" altLang="en-US" sz="1800" dirty="0">
                  <a:latin typeface="Times New Roman" panose="02020603050405020304" pitchFamily="18" charset="0"/>
                </a:endParaRPr>
              </a:p>
            </p:txBody>
          </p:sp>
          <p:sp>
            <p:nvSpPr>
              <p:cNvPr id="25641" name="Line 58"/>
              <p:cNvSpPr/>
              <p:nvPr/>
            </p:nvSpPr>
            <p:spPr>
              <a:xfrm>
                <a:off x="3776" y="3583"/>
                <a:ext cx="1252" cy="0"/>
              </a:xfrm>
              <a:prstGeom prst="line">
                <a:avLst/>
              </a:prstGeom>
              <a:ln w="31750" cap="flat" cmpd="sng">
                <a:solidFill>
                  <a:srgbClr val="CC00CC"/>
                </a:solidFill>
                <a:prstDash val="solid"/>
                <a:headEnd type="none" w="med" len="med"/>
                <a:tailEnd type="none" w="med" len="med"/>
              </a:ln>
            </p:spPr>
          </p:sp>
          <p:sp>
            <p:nvSpPr>
              <p:cNvPr id="25642" name="Line 59"/>
              <p:cNvSpPr/>
              <p:nvPr/>
            </p:nvSpPr>
            <p:spPr>
              <a:xfrm>
                <a:off x="3776" y="1737"/>
                <a:ext cx="1662" cy="0"/>
              </a:xfrm>
              <a:prstGeom prst="line">
                <a:avLst/>
              </a:prstGeom>
              <a:ln w="12700" cap="flat" cmpd="sng">
                <a:solidFill>
                  <a:schemeClr val="tx1"/>
                </a:solidFill>
                <a:prstDash val="sysDot"/>
                <a:headEnd type="none" w="med" len="med"/>
                <a:tailEnd type="none" w="med" len="med"/>
              </a:ln>
            </p:spPr>
          </p:sp>
          <p:sp>
            <p:nvSpPr>
              <p:cNvPr id="25643" name="Line 60"/>
              <p:cNvSpPr/>
              <p:nvPr/>
            </p:nvSpPr>
            <p:spPr>
              <a:xfrm>
                <a:off x="3434" y="2615"/>
                <a:ext cx="92" cy="0"/>
              </a:xfrm>
              <a:prstGeom prst="line">
                <a:avLst/>
              </a:prstGeom>
              <a:ln w="31750" cap="flat" cmpd="sng">
                <a:solidFill>
                  <a:srgbClr val="FF0000"/>
                </a:solidFill>
                <a:prstDash val="solid"/>
                <a:headEnd type="none" w="med" len="med"/>
                <a:tailEnd type="none" w="med" len="med"/>
              </a:ln>
            </p:spPr>
          </p:sp>
          <p:sp>
            <p:nvSpPr>
              <p:cNvPr id="25644" name="Freeform 61"/>
              <p:cNvSpPr/>
              <p:nvPr/>
            </p:nvSpPr>
            <p:spPr>
              <a:xfrm>
                <a:off x="3774" y="1592"/>
                <a:ext cx="150" cy="142"/>
              </a:xfrm>
              <a:custGeom>
                <a:avLst/>
                <a:gdLst/>
                <a:ahLst/>
                <a:cxnLst>
                  <a:cxn ang="0">
                    <a:pos x="0" y="142"/>
                  </a:cxn>
                  <a:cxn ang="0">
                    <a:pos x="27" y="111"/>
                  </a:cxn>
                  <a:cxn ang="0">
                    <a:pos x="47" y="87"/>
                  </a:cxn>
                  <a:cxn ang="0">
                    <a:pos x="69" y="63"/>
                  </a:cxn>
                  <a:cxn ang="0">
                    <a:pos x="90" y="43"/>
                  </a:cxn>
                  <a:cxn ang="0">
                    <a:pos x="117" y="18"/>
                  </a:cxn>
                  <a:cxn ang="0">
                    <a:pos x="150" y="0"/>
                  </a:cxn>
                </a:cxnLst>
                <a:pathLst>
                  <a:path w="150" h="142">
                    <a:moveTo>
                      <a:pt x="0" y="142"/>
                    </a:moveTo>
                    <a:cubicBezTo>
                      <a:pt x="4" y="137"/>
                      <a:pt x="19" y="120"/>
                      <a:pt x="27" y="111"/>
                    </a:cubicBezTo>
                    <a:cubicBezTo>
                      <a:pt x="35" y="102"/>
                      <a:pt x="40" y="95"/>
                      <a:pt x="47" y="87"/>
                    </a:cubicBezTo>
                    <a:cubicBezTo>
                      <a:pt x="54" y="79"/>
                      <a:pt x="62" y="70"/>
                      <a:pt x="69" y="63"/>
                    </a:cubicBezTo>
                    <a:cubicBezTo>
                      <a:pt x="76" y="56"/>
                      <a:pt x="82" y="50"/>
                      <a:pt x="90" y="43"/>
                    </a:cubicBezTo>
                    <a:cubicBezTo>
                      <a:pt x="98" y="36"/>
                      <a:pt x="107" y="25"/>
                      <a:pt x="117" y="18"/>
                    </a:cubicBezTo>
                    <a:cubicBezTo>
                      <a:pt x="127" y="11"/>
                      <a:pt x="143" y="4"/>
                      <a:pt x="150"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5645" name="Freeform 62"/>
              <p:cNvSpPr/>
              <p:nvPr/>
            </p:nvSpPr>
            <p:spPr>
              <a:xfrm>
                <a:off x="3924" y="1590"/>
                <a:ext cx="355" cy="91"/>
              </a:xfrm>
              <a:custGeom>
                <a:avLst/>
                <a:gdLst/>
                <a:ahLst/>
                <a:cxnLst>
                  <a:cxn ang="0">
                    <a:pos x="0" y="0"/>
                  </a:cxn>
                  <a:cxn ang="0">
                    <a:pos x="31" y="9"/>
                  </a:cxn>
                  <a:cxn ang="0">
                    <a:pos x="53" y="39"/>
                  </a:cxn>
                  <a:cxn ang="0">
                    <a:pos x="68" y="59"/>
                  </a:cxn>
                  <a:cxn ang="0">
                    <a:pos x="82" y="73"/>
                  </a:cxn>
                  <a:cxn ang="0">
                    <a:pos x="101" y="83"/>
                  </a:cxn>
                  <a:cxn ang="0">
                    <a:pos x="119" y="91"/>
                  </a:cxn>
                  <a:cxn ang="0">
                    <a:pos x="141" y="81"/>
                  </a:cxn>
                  <a:cxn ang="0">
                    <a:pos x="145" y="66"/>
                  </a:cxn>
                  <a:cxn ang="0">
                    <a:pos x="159" y="46"/>
                  </a:cxn>
                  <a:cxn ang="0">
                    <a:pos x="171" y="34"/>
                  </a:cxn>
                  <a:cxn ang="0">
                    <a:pos x="182" y="19"/>
                  </a:cxn>
                  <a:cxn ang="0">
                    <a:pos x="208" y="12"/>
                  </a:cxn>
                  <a:cxn ang="0">
                    <a:pos x="233" y="19"/>
                  </a:cxn>
                  <a:cxn ang="0">
                    <a:pos x="255" y="34"/>
                  </a:cxn>
                  <a:cxn ang="0">
                    <a:pos x="277" y="36"/>
                  </a:cxn>
                  <a:cxn ang="0">
                    <a:pos x="299" y="44"/>
                  </a:cxn>
                  <a:cxn ang="0">
                    <a:pos x="322" y="49"/>
                  </a:cxn>
                  <a:cxn ang="0">
                    <a:pos x="355" y="51"/>
                  </a:cxn>
                </a:cxnLst>
                <a:pathLst>
                  <a:path w="355" h="91">
                    <a:moveTo>
                      <a:pt x="0" y="0"/>
                    </a:moveTo>
                    <a:cubicBezTo>
                      <a:pt x="5" y="1"/>
                      <a:pt x="22" y="3"/>
                      <a:pt x="31" y="9"/>
                    </a:cubicBezTo>
                    <a:cubicBezTo>
                      <a:pt x="40" y="15"/>
                      <a:pt x="46" y="31"/>
                      <a:pt x="53" y="39"/>
                    </a:cubicBezTo>
                    <a:cubicBezTo>
                      <a:pt x="59" y="47"/>
                      <a:pt x="63" y="53"/>
                      <a:pt x="68" y="59"/>
                    </a:cubicBezTo>
                    <a:cubicBezTo>
                      <a:pt x="73" y="64"/>
                      <a:pt x="77" y="69"/>
                      <a:pt x="82" y="73"/>
                    </a:cubicBezTo>
                    <a:cubicBezTo>
                      <a:pt x="88" y="77"/>
                      <a:pt x="95" y="80"/>
                      <a:pt x="101" y="83"/>
                    </a:cubicBezTo>
                    <a:cubicBezTo>
                      <a:pt x="107" y="86"/>
                      <a:pt x="112" y="91"/>
                      <a:pt x="119" y="91"/>
                    </a:cubicBezTo>
                    <a:cubicBezTo>
                      <a:pt x="125" y="90"/>
                      <a:pt x="137" y="85"/>
                      <a:pt x="141" y="81"/>
                    </a:cubicBezTo>
                    <a:cubicBezTo>
                      <a:pt x="146" y="77"/>
                      <a:pt x="142" y="72"/>
                      <a:pt x="145" y="66"/>
                    </a:cubicBezTo>
                    <a:cubicBezTo>
                      <a:pt x="148" y="60"/>
                      <a:pt x="155" y="52"/>
                      <a:pt x="159" y="46"/>
                    </a:cubicBezTo>
                    <a:cubicBezTo>
                      <a:pt x="164" y="41"/>
                      <a:pt x="167" y="39"/>
                      <a:pt x="171" y="34"/>
                    </a:cubicBezTo>
                    <a:cubicBezTo>
                      <a:pt x="174" y="30"/>
                      <a:pt x="175" y="23"/>
                      <a:pt x="182" y="19"/>
                    </a:cubicBezTo>
                    <a:cubicBezTo>
                      <a:pt x="188" y="15"/>
                      <a:pt x="199" y="12"/>
                      <a:pt x="208" y="12"/>
                    </a:cubicBezTo>
                    <a:cubicBezTo>
                      <a:pt x="216" y="12"/>
                      <a:pt x="225" y="15"/>
                      <a:pt x="233" y="19"/>
                    </a:cubicBezTo>
                    <a:cubicBezTo>
                      <a:pt x="241" y="23"/>
                      <a:pt x="248" y="31"/>
                      <a:pt x="255" y="34"/>
                    </a:cubicBezTo>
                    <a:cubicBezTo>
                      <a:pt x="263" y="37"/>
                      <a:pt x="270" y="35"/>
                      <a:pt x="277" y="36"/>
                    </a:cubicBezTo>
                    <a:cubicBezTo>
                      <a:pt x="285" y="38"/>
                      <a:pt x="292" y="42"/>
                      <a:pt x="299" y="44"/>
                    </a:cubicBezTo>
                    <a:cubicBezTo>
                      <a:pt x="307" y="46"/>
                      <a:pt x="313" y="48"/>
                      <a:pt x="322" y="49"/>
                    </a:cubicBezTo>
                    <a:cubicBezTo>
                      <a:pt x="331" y="50"/>
                      <a:pt x="350" y="51"/>
                      <a:pt x="355" y="51"/>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5646" name="Line 63"/>
              <p:cNvSpPr/>
              <p:nvPr/>
            </p:nvSpPr>
            <p:spPr>
              <a:xfrm>
                <a:off x="4277" y="1640"/>
                <a:ext cx="943" cy="0"/>
              </a:xfrm>
              <a:prstGeom prst="line">
                <a:avLst/>
              </a:prstGeom>
              <a:ln w="31750" cap="flat" cmpd="sng">
                <a:solidFill>
                  <a:srgbClr val="FF0000"/>
                </a:solidFill>
                <a:prstDash val="solid"/>
                <a:headEnd type="none" w="med" len="med"/>
                <a:tailEnd type="none" w="med" len="med"/>
              </a:ln>
            </p:spPr>
          </p:sp>
          <p:sp>
            <p:nvSpPr>
              <p:cNvPr id="25647" name="Freeform 65"/>
              <p:cNvSpPr/>
              <p:nvPr/>
            </p:nvSpPr>
            <p:spPr>
              <a:xfrm>
                <a:off x="3671" y="1734"/>
                <a:ext cx="105" cy="204"/>
              </a:xfrm>
              <a:custGeom>
                <a:avLst/>
                <a:gdLst/>
                <a:ahLst/>
                <a:cxnLst>
                  <a:cxn ang="0">
                    <a:pos x="0" y="204"/>
                  </a:cxn>
                  <a:cxn ang="0">
                    <a:pos x="25" y="156"/>
                  </a:cxn>
                  <a:cxn ang="0">
                    <a:pos x="39" y="131"/>
                  </a:cxn>
                  <a:cxn ang="0">
                    <a:pos x="48" y="101"/>
                  </a:cxn>
                  <a:cxn ang="0">
                    <a:pos x="61" y="69"/>
                  </a:cxn>
                  <a:cxn ang="0">
                    <a:pos x="81" y="30"/>
                  </a:cxn>
                  <a:cxn ang="0">
                    <a:pos x="96" y="8"/>
                  </a:cxn>
                  <a:cxn ang="0">
                    <a:pos x="105" y="0"/>
                  </a:cxn>
                </a:cxnLst>
                <a:pathLst>
                  <a:path w="105" h="204">
                    <a:moveTo>
                      <a:pt x="0" y="204"/>
                    </a:moveTo>
                    <a:cubicBezTo>
                      <a:pt x="4" y="196"/>
                      <a:pt x="19" y="168"/>
                      <a:pt x="25" y="156"/>
                    </a:cubicBezTo>
                    <a:cubicBezTo>
                      <a:pt x="31" y="144"/>
                      <a:pt x="35" y="140"/>
                      <a:pt x="39" y="131"/>
                    </a:cubicBezTo>
                    <a:cubicBezTo>
                      <a:pt x="43" y="122"/>
                      <a:pt x="44" y="111"/>
                      <a:pt x="48" y="101"/>
                    </a:cubicBezTo>
                    <a:cubicBezTo>
                      <a:pt x="52" y="91"/>
                      <a:pt x="56" y="81"/>
                      <a:pt x="61" y="69"/>
                    </a:cubicBezTo>
                    <a:cubicBezTo>
                      <a:pt x="66" y="57"/>
                      <a:pt x="75" y="40"/>
                      <a:pt x="81" y="30"/>
                    </a:cubicBezTo>
                    <a:cubicBezTo>
                      <a:pt x="87" y="20"/>
                      <a:pt x="92" y="13"/>
                      <a:pt x="96" y="8"/>
                    </a:cubicBezTo>
                    <a:cubicBezTo>
                      <a:pt x="100" y="3"/>
                      <a:pt x="104" y="1"/>
                      <a:pt x="105" y="0"/>
                    </a:cubicBez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5648" name="Line 66"/>
              <p:cNvSpPr/>
              <p:nvPr/>
            </p:nvSpPr>
            <p:spPr>
              <a:xfrm>
                <a:off x="3860" y="1763"/>
                <a:ext cx="0" cy="443"/>
              </a:xfrm>
              <a:prstGeom prst="line">
                <a:avLst/>
              </a:prstGeom>
              <a:ln w="12700" cap="flat" cmpd="sng">
                <a:solidFill>
                  <a:srgbClr val="FF00FF"/>
                </a:solidFill>
                <a:prstDash val="sysDot"/>
                <a:headEnd type="none" w="med" len="med"/>
                <a:tailEnd type="none" w="med" len="med"/>
              </a:ln>
            </p:spPr>
          </p:sp>
          <p:sp>
            <p:nvSpPr>
              <p:cNvPr id="25649" name="Line 67"/>
              <p:cNvSpPr/>
              <p:nvPr/>
            </p:nvSpPr>
            <p:spPr>
              <a:xfrm>
                <a:off x="3985" y="1763"/>
                <a:ext cx="0" cy="451"/>
              </a:xfrm>
              <a:prstGeom prst="line">
                <a:avLst/>
              </a:prstGeom>
              <a:ln w="12700" cap="flat" cmpd="sng">
                <a:solidFill>
                  <a:srgbClr val="FF00FF"/>
                </a:solidFill>
                <a:prstDash val="sysDot"/>
                <a:headEnd type="none" w="med" len="med"/>
                <a:tailEnd type="none" w="med" len="med"/>
              </a:ln>
            </p:spPr>
          </p:sp>
          <p:sp>
            <p:nvSpPr>
              <p:cNvPr id="25650" name="Line 68"/>
              <p:cNvSpPr/>
              <p:nvPr/>
            </p:nvSpPr>
            <p:spPr>
              <a:xfrm>
                <a:off x="3743" y="2139"/>
                <a:ext cx="117" cy="0"/>
              </a:xfrm>
              <a:prstGeom prst="line">
                <a:avLst/>
              </a:prstGeom>
              <a:ln w="12700" cap="flat" cmpd="sng">
                <a:solidFill>
                  <a:schemeClr val="tx1"/>
                </a:solidFill>
                <a:prstDash val="solid"/>
                <a:headEnd type="none" w="med" len="med"/>
                <a:tailEnd type="stealth" w="med" len="lg"/>
              </a:ln>
            </p:spPr>
          </p:sp>
          <p:sp>
            <p:nvSpPr>
              <p:cNvPr id="25651" name="Text Box 69"/>
              <p:cNvSpPr txBox="1"/>
              <p:nvPr/>
            </p:nvSpPr>
            <p:spPr>
              <a:xfrm>
                <a:off x="3923" y="1930"/>
                <a:ext cx="429" cy="214"/>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a:t>
                </a:r>
                <a:r>
                  <a:rPr lang="en-US" altLang="zh-CN" sz="1800" i="1" dirty="0">
                    <a:solidFill>
                      <a:srgbClr val="FF0000"/>
                    </a:solidFill>
                    <a:latin typeface="Times New Roman" panose="02020603050405020304" pitchFamily="18" charset="0"/>
                  </a:rPr>
                  <a:t>t</a:t>
                </a:r>
                <a:r>
                  <a:rPr lang="en-US" altLang="zh-CN" sz="1800" baseline="-25000" dirty="0">
                    <a:solidFill>
                      <a:srgbClr val="FF0000"/>
                    </a:solidFill>
                    <a:latin typeface="Times New Roman" panose="02020603050405020304" pitchFamily="18" charset="0"/>
                  </a:rPr>
                  <a:t>AP</a:t>
                </a:r>
                <a:endParaRPr lang="en-US" altLang="zh-CN" sz="1800" baseline="-25000" dirty="0">
                  <a:solidFill>
                    <a:srgbClr val="FF0000"/>
                  </a:solidFill>
                  <a:latin typeface="Times New Roman" panose="02020603050405020304" pitchFamily="18" charset="0"/>
                </a:endParaRPr>
              </a:p>
            </p:txBody>
          </p:sp>
          <p:sp>
            <p:nvSpPr>
              <p:cNvPr id="25652" name="Line 70"/>
              <p:cNvSpPr/>
              <p:nvPr/>
            </p:nvSpPr>
            <p:spPr>
              <a:xfrm flipH="1">
                <a:off x="3985" y="2147"/>
                <a:ext cx="209" cy="0"/>
              </a:xfrm>
              <a:prstGeom prst="line">
                <a:avLst/>
              </a:prstGeom>
              <a:ln w="12700" cap="flat" cmpd="sng">
                <a:solidFill>
                  <a:schemeClr val="tx1"/>
                </a:solidFill>
                <a:prstDash val="solid"/>
                <a:headEnd type="none" w="med" len="med"/>
                <a:tailEnd type="stealth" w="med" len="lg"/>
              </a:ln>
            </p:spPr>
          </p:sp>
        </p:grpSp>
        <p:sp>
          <p:nvSpPr>
            <p:cNvPr id="25609" name="Line 74"/>
            <p:cNvSpPr/>
            <p:nvPr/>
          </p:nvSpPr>
          <p:spPr>
            <a:xfrm>
              <a:off x="5112" y="1434"/>
              <a:ext cx="0" cy="153"/>
            </a:xfrm>
            <a:prstGeom prst="line">
              <a:avLst/>
            </a:prstGeom>
            <a:ln w="12700" cap="flat" cmpd="sng">
              <a:solidFill>
                <a:schemeClr val="tx1"/>
              </a:solidFill>
              <a:prstDash val="solid"/>
              <a:headEnd type="none" w="med" len="med"/>
              <a:tailEnd type="stealth" w="med" len="lg"/>
            </a:ln>
          </p:spPr>
        </p:sp>
        <p:sp>
          <p:nvSpPr>
            <p:cNvPr id="25610" name="Line 75"/>
            <p:cNvSpPr/>
            <p:nvPr/>
          </p:nvSpPr>
          <p:spPr>
            <a:xfrm>
              <a:off x="5112" y="1643"/>
              <a:ext cx="0" cy="199"/>
            </a:xfrm>
            <a:prstGeom prst="line">
              <a:avLst/>
            </a:prstGeom>
            <a:ln w="12700" cap="flat" cmpd="sng">
              <a:solidFill>
                <a:schemeClr val="tx1"/>
              </a:solidFill>
              <a:prstDash val="solid"/>
              <a:headEnd type="stealth" w="med" len="lg"/>
              <a:tailEnd type="none" w="med" len="lg"/>
            </a:ln>
          </p:spPr>
        </p:sp>
        <p:sp>
          <p:nvSpPr>
            <p:cNvPr id="25611" name="Line 73"/>
            <p:cNvSpPr/>
            <p:nvPr/>
          </p:nvSpPr>
          <p:spPr>
            <a:xfrm>
              <a:off x="3923" y="1587"/>
              <a:ext cx="1407" cy="0"/>
            </a:xfrm>
            <a:prstGeom prst="line">
              <a:avLst/>
            </a:prstGeom>
            <a:ln w="12700" cap="flat" cmpd="sng">
              <a:solidFill>
                <a:srgbClr val="FF00FF"/>
              </a:solidFill>
              <a:prstDash val="dash"/>
              <a:headEnd type="none" w="med" len="med"/>
              <a:tailEnd type="none" w="med" len="med"/>
            </a:ln>
          </p:spPr>
        </p:sp>
        <p:sp>
          <p:nvSpPr>
            <p:cNvPr id="25612" name="AutoShape 77"/>
            <p:cNvSpPr/>
            <p:nvPr/>
          </p:nvSpPr>
          <p:spPr>
            <a:xfrm>
              <a:off x="4246" y="911"/>
              <a:ext cx="789" cy="410"/>
            </a:xfrm>
            <a:prstGeom prst="wedgeRoundRectCallout">
              <a:avLst>
                <a:gd name="adj1" fmla="val 52917"/>
                <a:gd name="adj2" fmla="val 10170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5613" name="Text Box 76"/>
            <p:cNvSpPr txBox="1"/>
            <p:nvPr/>
          </p:nvSpPr>
          <p:spPr>
            <a:xfrm>
              <a:off x="4239" y="911"/>
              <a:ext cx="816" cy="404"/>
            </a:xfrm>
            <a:prstGeom prst="rect">
              <a:avLst/>
            </a:prstGeom>
            <a:noFill/>
            <a:ln w="9525">
              <a:noFill/>
            </a:ln>
          </p:spPr>
          <p:txBody>
            <a:bodyPr>
              <a:spAutoFit/>
            </a:bodyPr>
            <a:p>
              <a:pPr algn="ctr" eaLnBrk="1" hangingPunct="1">
                <a:lnSpc>
                  <a:spcPct val="90000"/>
                </a:lnSpc>
                <a:spcBef>
                  <a:spcPct val="50000"/>
                </a:spcBef>
              </a:pPr>
              <a:r>
                <a:rPr lang="zh-CN" altLang="en-US" sz="2000" dirty="0">
                  <a:latin typeface="Times New Roman" panose="02020603050405020304" pitchFamily="18" charset="0"/>
                </a:rPr>
                <a:t>跟踪到保持的偏差</a:t>
              </a:r>
              <a:endParaRPr lang="zh-CN" altLang="en-US" sz="2000" dirty="0">
                <a:latin typeface="Times New Roman" panose="02020603050405020304" pitchFamily="18" charset="0"/>
              </a:endParaRPr>
            </a:p>
          </p:txBody>
        </p:sp>
      </p:grpSp>
      <p:sp>
        <p:nvSpPr>
          <p:cNvPr id="25607" name="Text Box 5"/>
          <p:cNvSpPr txBox="1"/>
          <p:nvPr/>
        </p:nvSpPr>
        <p:spPr>
          <a:xfrm>
            <a:off x="358775" y="728663"/>
            <a:ext cx="61769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35770"/>
                                        </p:tgtEl>
                                        <p:attrNameLst>
                                          <p:attrName>style.visibility</p:attrName>
                                        </p:attrNameLst>
                                      </p:cBhvr>
                                      <p:to>
                                        <p:strVal val="visible"/>
                                      </p:to>
                                    </p:set>
                                    <p:animEffect transition="in" filter="dissolve">
                                      <p:cBhvr>
                                        <p:cTn id="7" dur="500"/>
                                        <p:tgtEl>
                                          <p:spTgt spid="23357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35766"/>
                                        </p:tgtEl>
                                        <p:attrNameLst>
                                          <p:attrName>style.visibility</p:attrName>
                                        </p:attrNameLst>
                                      </p:cBhvr>
                                      <p:to>
                                        <p:strVal val="visible"/>
                                      </p:to>
                                    </p:set>
                                    <p:animEffect transition="in" filter="dissolve">
                                      <p:cBhvr>
                                        <p:cTn id="12" dur="500"/>
                                        <p:tgtEl>
                                          <p:spTgt spid="233576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5767">
                                            <p:txEl>
                                              <p:charRg st="0" end="24"/>
                                            </p:txEl>
                                          </p:spTgt>
                                        </p:tgtEl>
                                        <p:attrNameLst>
                                          <p:attrName>style.visibility</p:attrName>
                                        </p:attrNameLst>
                                      </p:cBhvr>
                                      <p:to>
                                        <p:strVal val="visible"/>
                                      </p:to>
                                    </p:set>
                                    <p:animEffect transition="in" filter="dissolve">
                                      <p:cBhvr>
                                        <p:cTn id="17" dur="500"/>
                                        <p:tgtEl>
                                          <p:spTgt spid="2335767">
                                            <p:txEl>
                                              <p:charRg st="0" end="2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766" grpId="0" animBg="1"/>
      <p:bldP spid="2335767" grpId="0" build="p"/>
      <p:bldP spid="2335770"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0803" name="Text Box 3"/>
          <p:cNvSpPr txBox="1"/>
          <p:nvPr/>
        </p:nvSpPr>
        <p:spPr>
          <a:xfrm>
            <a:off x="582613" y="1393825"/>
            <a:ext cx="3060700" cy="519113"/>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7.</a:t>
            </a:r>
            <a:r>
              <a:rPr lang="en-US" altLang="zh-CN" sz="2800" dirty="0">
                <a:solidFill>
                  <a:srgbClr val="FF0000"/>
                </a:solidFill>
                <a:latin typeface="黑体" panose="02010609060101010101" pitchFamily="49" charset="-122"/>
                <a:ea typeface="黑体" panose="02010609060101010101" pitchFamily="49" charset="-122"/>
              </a:rPr>
              <a:t> </a:t>
            </a:r>
            <a:r>
              <a:rPr lang="zh-CN" altLang="en-US" sz="2800" dirty="0">
                <a:solidFill>
                  <a:srgbClr val="FF0000"/>
                </a:solidFill>
                <a:latin typeface="黑体" panose="02010609060101010101" pitchFamily="49" charset="-122"/>
                <a:ea typeface="黑体" panose="02010609060101010101" pitchFamily="49" charset="-122"/>
              </a:rPr>
              <a:t>电荷转移偏差 </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380805" name="Text Box 5"/>
          <p:cNvSpPr txBox="1"/>
          <p:nvPr/>
        </p:nvSpPr>
        <p:spPr>
          <a:xfrm>
            <a:off x="3414713" y="1338263"/>
            <a:ext cx="5392737" cy="8318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在保持状态时，电荷通过开关</a:t>
            </a:r>
            <a:r>
              <a:rPr lang="en-US" altLang="zh-CN" sz="2400" i="1" dirty="0">
                <a:solidFill>
                  <a:srgbClr val="FF0000"/>
                </a:solidFill>
                <a:latin typeface="Times New Roman" panose="02020603050405020304" pitchFamily="18" charset="0"/>
                <a:ea typeface="黑体" panose="02010609060101010101" pitchFamily="49" charset="-122"/>
              </a:rPr>
              <a:t>K</a:t>
            </a:r>
            <a:r>
              <a:rPr lang="zh-CN" altLang="en-US" sz="2400" dirty="0">
                <a:solidFill>
                  <a:schemeClr val="tx1"/>
                </a:solidFill>
                <a:latin typeface="黑体" panose="02010609060101010101" pitchFamily="49" charset="-122"/>
                <a:ea typeface="黑体" panose="02010609060101010101" pitchFamily="49" charset="-122"/>
              </a:rPr>
              <a:t>的寄生电容转移到保持电容器上引起的误差。</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380808" name="Text Box 8"/>
          <p:cNvSpPr txBox="1"/>
          <p:nvPr/>
        </p:nvSpPr>
        <p:spPr>
          <a:xfrm>
            <a:off x="762000" y="2327275"/>
            <a:ext cx="8007350" cy="1077913"/>
          </a:xfrm>
          <a:prstGeom prst="rect">
            <a:avLst/>
          </a:prstGeom>
          <a:noFill/>
          <a:ln w="9525">
            <a:noFill/>
          </a:ln>
        </p:spPr>
        <p:txBody>
          <a:bodyPr>
            <a:spAutoFit/>
          </a:bodyPr>
          <a:p>
            <a:pPr eaLnBrk="1" hangingPunct="1">
              <a:lnSpc>
                <a:spcPct val="90000"/>
              </a:lnSpc>
            </a:pPr>
            <a:r>
              <a:rPr lang="zh-CN" altLang="en-US" sz="2400" dirty="0">
                <a:solidFill>
                  <a:schemeClr val="tx1"/>
                </a:solidFill>
                <a:latin typeface="Times New Roman" panose="02020603050405020304" pitchFamily="18" charset="0"/>
              </a:rPr>
              <a:t>采样</a:t>
            </a:r>
            <a:r>
              <a:rPr lang="en-US" altLang="zh-CN" sz="2400" dirty="0">
                <a:solidFill>
                  <a:schemeClr val="tx1"/>
                </a:solidFill>
                <a:latin typeface="Times New Roman" panose="02020603050405020304" pitchFamily="18" charset="0"/>
              </a:rPr>
              <a:t>/</a:t>
            </a:r>
            <a:r>
              <a:rPr lang="zh-CN" altLang="en-US" sz="2400" dirty="0">
                <a:solidFill>
                  <a:schemeClr val="tx1"/>
                </a:solidFill>
                <a:latin typeface="Times New Roman" panose="02020603050405020304" pitchFamily="18" charset="0"/>
              </a:rPr>
              <a:t>保持器的开关为场效应管，栅、漏极间存在寄生电容。在保持指令发出时，栅极电位有一个大的变化，使一个显著的电荷通过寄生电容转移到保持电容器上。 </a:t>
            </a:r>
            <a:endParaRPr lang="zh-CN" altLang="en-US" sz="2400" dirty="0">
              <a:solidFill>
                <a:schemeClr val="tx1"/>
              </a:solidFill>
              <a:latin typeface="楷体_GB2312" pitchFamily="49" charset="-122"/>
            </a:endParaRPr>
          </a:p>
        </p:txBody>
      </p:sp>
      <p:sp>
        <p:nvSpPr>
          <p:cNvPr id="2380811" name="Text Box 11"/>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0812" name="Text Box 12"/>
          <p:cNvSpPr txBox="1"/>
          <p:nvPr/>
        </p:nvSpPr>
        <p:spPr>
          <a:xfrm>
            <a:off x="5499100" y="4883150"/>
            <a:ext cx="3390900" cy="1187450"/>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增大</a:t>
            </a:r>
            <a:r>
              <a:rPr lang="en-US" altLang="zh-CN" sz="2400" i="1" dirty="0">
                <a:solidFill>
                  <a:srgbClr val="FF0000"/>
                </a:solidFill>
                <a:latin typeface="Times New Roman" panose="02020603050405020304" pitchFamily="18" charset="0"/>
                <a:ea typeface="宋体" panose="02010600030101010101" pitchFamily="2" charset="-122"/>
              </a:rPr>
              <a:t>C</a:t>
            </a:r>
            <a:r>
              <a:rPr lang="en-US" altLang="zh-CN" sz="2400" baseline="-25000" dirty="0">
                <a:solidFill>
                  <a:srgbClr val="FF0000"/>
                </a:solidFill>
                <a:latin typeface="Times New Roman" panose="02020603050405020304" pitchFamily="18" charset="0"/>
                <a:ea typeface="宋体" panose="02010600030101010101" pitchFamily="2" charset="-122"/>
              </a:rPr>
              <a:t>H</a:t>
            </a:r>
            <a:r>
              <a:rPr lang="zh-CN" altLang="en-US" sz="2400" dirty="0">
                <a:solidFill>
                  <a:schemeClr val="tx1"/>
                </a:solidFill>
                <a:latin typeface="Times New Roman" panose="02020603050405020304" pitchFamily="18" charset="0"/>
              </a:rPr>
              <a:t>有利于减少电荷转移偏差，但也增大了响应时间。</a:t>
            </a:r>
            <a:endParaRPr lang="zh-CN" altLang="en-US" sz="2400" dirty="0">
              <a:solidFill>
                <a:schemeClr val="tx1"/>
              </a:solidFill>
              <a:latin typeface="Times New Roman" panose="02020603050405020304" pitchFamily="18" charset="0"/>
            </a:endParaRPr>
          </a:p>
        </p:txBody>
      </p:sp>
      <p:sp>
        <p:nvSpPr>
          <p:cNvPr id="26631" name="Text Box 5"/>
          <p:cNvSpPr txBox="1"/>
          <p:nvPr/>
        </p:nvSpPr>
        <p:spPr>
          <a:xfrm>
            <a:off x="358775" y="728663"/>
            <a:ext cx="61896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grpSp>
        <p:nvGrpSpPr>
          <p:cNvPr id="24672" name="Group 96"/>
          <p:cNvGrpSpPr/>
          <p:nvPr/>
        </p:nvGrpSpPr>
        <p:grpSpPr>
          <a:xfrm>
            <a:off x="755650" y="3492500"/>
            <a:ext cx="7585075" cy="2443163"/>
            <a:chOff x="476" y="2200"/>
            <a:chExt cx="4778" cy="1539"/>
          </a:xfrm>
        </p:grpSpPr>
        <p:sp>
          <p:nvSpPr>
            <p:cNvPr id="24629" name="AutoShape 53"/>
            <p:cNvSpPr>
              <a:spLocks noChangeArrowheads="1"/>
            </p:cNvSpPr>
            <p:nvPr/>
          </p:nvSpPr>
          <p:spPr bwMode="auto">
            <a:xfrm>
              <a:off x="1292" y="3513"/>
              <a:ext cx="861" cy="226"/>
            </a:xfrm>
            <a:prstGeom prst="wedgeRectCallout">
              <a:avLst>
                <a:gd name="adj1" fmla="val 66028"/>
                <a:gd name="adj2" fmla="val -145574"/>
              </a:avLst>
            </a:prstGeom>
            <a:solidFill>
              <a:schemeClr val="hlink"/>
            </a:solidFill>
            <a:ln w="9525">
              <a:solidFill>
                <a:schemeClr val="tx1"/>
              </a:solidFill>
              <a:miter lim="800000"/>
            </a:ln>
            <a:effectLst/>
          </p:spPr>
          <p:txBody>
            <a:bodyPr/>
            <a:lstStyle/>
            <a:p>
              <a:pPr marL="0" marR="0" lvl="0" indent="0" algn="ctr" defTabSz="914400" rtl="0" eaLnBrk="1" fontAlgn="base" latinLnBrk="0" hangingPunct="1">
                <a:lnSpc>
                  <a:spcPct val="90000"/>
                </a:lnSpc>
                <a:spcBef>
                  <a:spcPct val="0"/>
                </a:spcBef>
                <a:spcAft>
                  <a:spcPct val="0"/>
                </a:spcAft>
                <a:buClrTx/>
                <a:buSzTx/>
                <a:buFontTx/>
                <a:buNone/>
                <a:defRPr/>
              </a:pPr>
              <a:r>
                <a:rPr kumimoji="0" lang="zh-CN" altLang="en-US" sz="1800" b="1" i="0" u="none" strike="noStrike" kern="1200" cap="none" spc="0" normalizeH="0" baseline="0" noProof="0">
                  <a:ln>
                    <a:noFill/>
                  </a:ln>
                  <a:solidFill>
                    <a:schemeClr val="tx1"/>
                  </a:solidFill>
                  <a:effectLst>
                    <a:outerShdw blurRad="38100" dist="38100" dir="2700000" algn="tl">
                      <a:srgbClr val="FFFFFF"/>
                    </a:outerShdw>
                  </a:effectLst>
                  <a:uLnTx/>
                  <a:uFillTx/>
                  <a:latin typeface="Arial" panose="020B0604020202020204" pitchFamily="34" charset="0"/>
                  <a:ea typeface="楷体_GB2312" pitchFamily="49" charset="-122"/>
                  <a:cs typeface="+mn-cs"/>
                </a:rPr>
                <a:t>寄生电容</a:t>
              </a:r>
              <a:endParaRPr kumimoji="0" lang="zh-CN" altLang="en-US" sz="1800" b="1" i="0" u="none" strike="noStrike" kern="1200" cap="none" spc="0" normalizeH="0" baseline="0" noProof="0">
                <a:ln>
                  <a:noFill/>
                </a:ln>
                <a:solidFill>
                  <a:schemeClr val="tx1"/>
                </a:solidFill>
                <a:effectLst>
                  <a:outerShdw blurRad="38100" dist="38100" dir="2700000" algn="tl">
                    <a:srgbClr val="FFFFFF"/>
                  </a:outerShdw>
                </a:effectLst>
                <a:uLnTx/>
                <a:uFillTx/>
                <a:latin typeface="Arial" panose="020B0604020202020204" pitchFamily="34" charset="0"/>
                <a:ea typeface="楷体_GB2312" pitchFamily="49" charset="-122"/>
                <a:cs typeface="+mn-cs"/>
              </a:endParaRPr>
            </a:p>
          </p:txBody>
        </p:sp>
        <p:sp>
          <p:nvSpPr>
            <p:cNvPr id="24630" name="Text Box 54"/>
            <p:cNvSpPr txBox="1">
              <a:spLocks noChangeArrowheads="1"/>
            </p:cNvSpPr>
            <p:nvPr/>
          </p:nvSpPr>
          <p:spPr bwMode="auto">
            <a:xfrm>
              <a:off x="852" y="2646"/>
              <a:ext cx="291" cy="265"/>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4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U</a:t>
              </a:r>
              <a:r>
                <a:rPr kumimoji="1" lang="en-US" altLang="zh-CN" sz="2400" i="1"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i</a:t>
              </a:r>
              <a:endParaRPr kumimoji="1" lang="en-US" altLang="zh-CN" sz="2400" i="1"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6635" name="Oval 55"/>
            <p:cNvSpPr/>
            <p:nvPr/>
          </p:nvSpPr>
          <p:spPr>
            <a:xfrm>
              <a:off x="1144" y="2775"/>
              <a:ext cx="56" cy="56"/>
            </a:xfrm>
            <a:prstGeom prst="ellipse">
              <a:avLst/>
            </a:prstGeom>
            <a:noFill/>
            <a:ln w="19050"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nvGrpSpPr>
            <p:cNvPr id="26636" name="Group 56"/>
            <p:cNvGrpSpPr/>
            <p:nvPr/>
          </p:nvGrpSpPr>
          <p:grpSpPr>
            <a:xfrm>
              <a:off x="3238" y="2363"/>
              <a:ext cx="752" cy="659"/>
              <a:chOff x="3010" y="714"/>
              <a:chExt cx="752" cy="659"/>
            </a:xfrm>
          </p:grpSpPr>
          <p:sp>
            <p:nvSpPr>
              <p:cNvPr id="26673" name="AutoShape 57"/>
              <p:cNvSpPr/>
              <p:nvPr/>
            </p:nvSpPr>
            <p:spPr>
              <a:xfrm rot="5400000">
                <a:off x="3056" y="667"/>
                <a:ext cx="659" cy="752"/>
              </a:xfrm>
              <a:prstGeom prst="triangle">
                <a:avLst>
                  <a:gd name="adj" fmla="val 50000"/>
                </a:avLst>
              </a:prstGeom>
              <a:solidFill>
                <a:schemeClr val="bg1"/>
              </a:solidFill>
              <a:ln w="19050" cap="flat" cmpd="sng">
                <a:solidFill>
                  <a:srgbClr val="3333FF"/>
                </a:solidFill>
                <a:prstDash val="solid"/>
                <a:miter/>
                <a:headEnd type="none" w="med" len="med"/>
                <a:tailEnd type="none" w="med" len="med"/>
              </a:ln>
              <a:effectLst>
                <a:outerShdw dist="107763" dir="13499999" algn="ctr" rotWithShape="0">
                  <a:schemeClr val="bg2"/>
                </a:outerShdw>
              </a:effectLst>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634" name="Text Box 58"/>
              <p:cNvSpPr txBox="1">
                <a:spLocks noChangeArrowheads="1"/>
              </p:cNvSpPr>
              <p:nvPr/>
            </p:nvSpPr>
            <p:spPr bwMode="auto">
              <a:xfrm>
                <a:off x="3014" y="797"/>
                <a:ext cx="198" cy="456"/>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8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en-US" altLang="zh-CN" sz="18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en-US" altLang="zh-CN" sz="18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endParaRPr kumimoji="1" lang="en-US" altLang="zh-CN" sz="1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en-US" altLang="zh-CN" sz="18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en-US" altLang="zh-CN" sz="18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35" name="Text Box 59"/>
              <p:cNvSpPr txBox="1">
                <a:spLocks noChangeArrowheads="1"/>
              </p:cNvSpPr>
              <p:nvPr/>
            </p:nvSpPr>
            <p:spPr bwMode="auto">
              <a:xfrm>
                <a:off x="3190" y="909"/>
                <a:ext cx="275"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0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a:t>
                </a:r>
                <a:r>
                  <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2</a:t>
                </a:r>
                <a:endPar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sp>
          <p:nvSpPr>
            <p:cNvPr id="26637" name="Line 60"/>
            <p:cNvSpPr/>
            <p:nvPr/>
          </p:nvSpPr>
          <p:spPr>
            <a:xfrm>
              <a:off x="2749" y="2801"/>
              <a:ext cx="0" cy="367"/>
            </a:xfrm>
            <a:prstGeom prst="line">
              <a:avLst/>
            </a:prstGeom>
            <a:ln w="19050" cap="flat" cmpd="sng">
              <a:solidFill>
                <a:srgbClr val="3333FF"/>
              </a:solidFill>
              <a:prstDash val="solid"/>
              <a:headEnd type="none" w="med" len="med"/>
              <a:tailEnd type="none" w="med" len="med"/>
            </a:ln>
          </p:spPr>
        </p:sp>
        <p:grpSp>
          <p:nvGrpSpPr>
            <p:cNvPr id="26638" name="Group 61"/>
            <p:cNvGrpSpPr/>
            <p:nvPr/>
          </p:nvGrpSpPr>
          <p:grpSpPr>
            <a:xfrm>
              <a:off x="2666" y="3075"/>
              <a:ext cx="462" cy="231"/>
              <a:chOff x="2438" y="1426"/>
              <a:chExt cx="462" cy="231"/>
            </a:xfrm>
          </p:grpSpPr>
          <p:sp>
            <p:nvSpPr>
              <p:cNvPr id="26670" name="Line 62"/>
              <p:cNvSpPr/>
              <p:nvPr/>
            </p:nvSpPr>
            <p:spPr>
              <a:xfrm>
                <a:off x="2438" y="1519"/>
                <a:ext cx="175" cy="0"/>
              </a:xfrm>
              <a:prstGeom prst="line">
                <a:avLst/>
              </a:prstGeom>
              <a:ln w="19050" cap="flat" cmpd="sng">
                <a:solidFill>
                  <a:srgbClr val="3333FF"/>
                </a:solidFill>
                <a:prstDash val="solid"/>
                <a:headEnd type="none" w="med" len="med"/>
                <a:tailEnd type="none" w="med" len="med"/>
              </a:ln>
            </p:spPr>
          </p:sp>
          <p:sp>
            <p:nvSpPr>
              <p:cNvPr id="26671" name="Line 63"/>
              <p:cNvSpPr/>
              <p:nvPr/>
            </p:nvSpPr>
            <p:spPr>
              <a:xfrm>
                <a:off x="2442" y="1565"/>
                <a:ext cx="175" cy="0"/>
              </a:xfrm>
              <a:prstGeom prst="line">
                <a:avLst/>
              </a:prstGeom>
              <a:ln w="19050" cap="flat" cmpd="sng">
                <a:solidFill>
                  <a:srgbClr val="3333FF"/>
                </a:solidFill>
                <a:prstDash val="solid"/>
                <a:headEnd type="none" w="med" len="med"/>
                <a:tailEnd type="none" w="med" len="med"/>
              </a:ln>
            </p:spPr>
          </p:sp>
          <p:sp>
            <p:nvSpPr>
              <p:cNvPr id="24640" name="Text Box 64"/>
              <p:cNvSpPr txBox="1">
                <a:spLocks noChangeArrowheads="1"/>
              </p:cNvSpPr>
              <p:nvPr/>
            </p:nvSpPr>
            <p:spPr bwMode="auto">
              <a:xfrm>
                <a:off x="2596" y="1426"/>
                <a:ext cx="304"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0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C</a:t>
                </a:r>
                <a:r>
                  <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H</a:t>
                </a:r>
                <a:endPar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sp>
          <p:nvSpPr>
            <p:cNvPr id="26639" name="Line 65"/>
            <p:cNvSpPr/>
            <p:nvPr/>
          </p:nvSpPr>
          <p:spPr>
            <a:xfrm>
              <a:off x="2749" y="3210"/>
              <a:ext cx="0" cy="259"/>
            </a:xfrm>
            <a:prstGeom prst="line">
              <a:avLst/>
            </a:prstGeom>
            <a:ln w="19050" cap="flat" cmpd="sng">
              <a:solidFill>
                <a:srgbClr val="3333FF"/>
              </a:solidFill>
              <a:prstDash val="solid"/>
              <a:headEnd type="none" w="med" len="med"/>
              <a:tailEnd type="none" w="med" len="med"/>
            </a:ln>
          </p:spPr>
        </p:sp>
        <p:sp>
          <p:nvSpPr>
            <p:cNvPr id="26640" name="AutoShape 66"/>
            <p:cNvSpPr/>
            <p:nvPr/>
          </p:nvSpPr>
          <p:spPr>
            <a:xfrm rot="10800000">
              <a:off x="2658" y="3468"/>
              <a:ext cx="184" cy="92"/>
            </a:xfrm>
            <a:prstGeom prst="triangle">
              <a:avLst>
                <a:gd name="adj" fmla="val 50000"/>
              </a:avLst>
            </a:prstGeom>
            <a:noFill/>
            <a:ln w="19050" cap="flat" cmpd="sng">
              <a:solidFill>
                <a:srgbClr val="3333FF"/>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6641" name="Line 67"/>
            <p:cNvSpPr/>
            <p:nvPr/>
          </p:nvSpPr>
          <p:spPr>
            <a:xfrm>
              <a:off x="3993" y="2693"/>
              <a:ext cx="826" cy="0"/>
            </a:xfrm>
            <a:prstGeom prst="line">
              <a:avLst/>
            </a:prstGeom>
            <a:ln w="19050" cap="flat" cmpd="sng">
              <a:solidFill>
                <a:srgbClr val="3333FF"/>
              </a:solidFill>
              <a:prstDash val="solid"/>
              <a:headEnd type="none" w="med" len="med"/>
              <a:tailEnd type="none" w="med" len="med"/>
            </a:ln>
          </p:spPr>
        </p:sp>
        <p:sp>
          <p:nvSpPr>
            <p:cNvPr id="26642" name="Oval 68"/>
            <p:cNvSpPr/>
            <p:nvPr/>
          </p:nvSpPr>
          <p:spPr>
            <a:xfrm>
              <a:off x="4816" y="2663"/>
              <a:ext cx="56" cy="56"/>
            </a:xfrm>
            <a:prstGeom prst="ellipse">
              <a:avLst/>
            </a:prstGeom>
            <a:noFill/>
            <a:ln w="19050"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645" name="Text Box 69"/>
            <p:cNvSpPr txBox="1">
              <a:spLocks noChangeArrowheads="1"/>
            </p:cNvSpPr>
            <p:nvPr/>
          </p:nvSpPr>
          <p:spPr bwMode="auto">
            <a:xfrm>
              <a:off x="4899" y="2549"/>
              <a:ext cx="355" cy="265"/>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4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U</a:t>
              </a:r>
              <a:r>
                <a:rPr kumimoji="1" lang="en-US" altLang="zh-CN" sz="24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O</a:t>
              </a:r>
              <a:endParaRPr kumimoji="1" lang="en-US" altLang="zh-CN" sz="24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6644" name="Oval 70"/>
            <p:cNvSpPr/>
            <p:nvPr/>
          </p:nvSpPr>
          <p:spPr>
            <a:xfrm>
              <a:off x="4409" y="2666"/>
              <a:ext cx="56" cy="56"/>
            </a:xfrm>
            <a:prstGeom prst="ellipse">
              <a:avLst/>
            </a:prstGeom>
            <a:solidFill>
              <a:srgbClr val="3333FF"/>
            </a:solidFill>
            <a:ln w="9525"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6645" name="Line 71"/>
            <p:cNvSpPr/>
            <p:nvPr/>
          </p:nvSpPr>
          <p:spPr>
            <a:xfrm flipV="1">
              <a:off x="4444" y="2200"/>
              <a:ext cx="0" cy="484"/>
            </a:xfrm>
            <a:prstGeom prst="line">
              <a:avLst/>
            </a:prstGeom>
            <a:ln w="19050" cap="flat" cmpd="sng">
              <a:solidFill>
                <a:srgbClr val="3333FF"/>
              </a:solidFill>
              <a:prstDash val="solid"/>
              <a:headEnd type="none" w="med" len="med"/>
              <a:tailEnd type="none" w="med" len="med"/>
            </a:ln>
          </p:spPr>
        </p:sp>
        <p:sp>
          <p:nvSpPr>
            <p:cNvPr id="26646" name="Line 72"/>
            <p:cNvSpPr/>
            <p:nvPr/>
          </p:nvSpPr>
          <p:spPr>
            <a:xfrm flipH="1">
              <a:off x="3025" y="2200"/>
              <a:ext cx="1419" cy="0"/>
            </a:xfrm>
            <a:prstGeom prst="line">
              <a:avLst/>
            </a:prstGeom>
            <a:ln w="19050" cap="flat" cmpd="sng">
              <a:solidFill>
                <a:srgbClr val="3333FF"/>
              </a:solidFill>
              <a:prstDash val="solid"/>
              <a:headEnd type="none" w="med" len="med"/>
              <a:tailEnd type="none" w="med" len="med"/>
            </a:ln>
          </p:spPr>
        </p:sp>
        <p:sp>
          <p:nvSpPr>
            <p:cNvPr id="26647" name="Line 73"/>
            <p:cNvSpPr/>
            <p:nvPr/>
          </p:nvSpPr>
          <p:spPr>
            <a:xfrm>
              <a:off x="3025" y="2200"/>
              <a:ext cx="0" cy="359"/>
            </a:xfrm>
            <a:prstGeom prst="line">
              <a:avLst/>
            </a:prstGeom>
            <a:ln w="19050" cap="flat" cmpd="sng">
              <a:solidFill>
                <a:srgbClr val="3333FF"/>
              </a:solidFill>
              <a:prstDash val="solid"/>
              <a:headEnd type="none" w="med" len="med"/>
              <a:tailEnd type="none" w="med" len="med"/>
            </a:ln>
          </p:spPr>
        </p:sp>
        <p:sp>
          <p:nvSpPr>
            <p:cNvPr id="26648" name="Line 74"/>
            <p:cNvSpPr/>
            <p:nvPr/>
          </p:nvSpPr>
          <p:spPr>
            <a:xfrm>
              <a:off x="3025" y="2559"/>
              <a:ext cx="217" cy="0"/>
            </a:xfrm>
            <a:prstGeom prst="line">
              <a:avLst/>
            </a:prstGeom>
            <a:ln w="19050" cap="flat" cmpd="sng">
              <a:solidFill>
                <a:srgbClr val="3333FF"/>
              </a:solidFill>
              <a:prstDash val="solid"/>
              <a:headEnd type="none" w="med" len="med"/>
              <a:tailEnd type="none" w="med" len="med"/>
            </a:ln>
          </p:spPr>
        </p:sp>
        <p:sp>
          <p:nvSpPr>
            <p:cNvPr id="26649" name="Line 75"/>
            <p:cNvSpPr/>
            <p:nvPr/>
          </p:nvSpPr>
          <p:spPr>
            <a:xfrm>
              <a:off x="1587" y="2798"/>
              <a:ext cx="0" cy="136"/>
            </a:xfrm>
            <a:prstGeom prst="line">
              <a:avLst/>
            </a:prstGeom>
            <a:ln w="19050" cap="flat" cmpd="sng">
              <a:solidFill>
                <a:srgbClr val="0000FF"/>
              </a:solidFill>
              <a:prstDash val="solid"/>
              <a:headEnd type="none" w="med" len="med"/>
              <a:tailEnd type="none" w="med" len="med"/>
            </a:ln>
          </p:spPr>
        </p:sp>
        <p:sp>
          <p:nvSpPr>
            <p:cNvPr id="26650" name="Line 76"/>
            <p:cNvSpPr/>
            <p:nvPr/>
          </p:nvSpPr>
          <p:spPr>
            <a:xfrm>
              <a:off x="1532" y="2934"/>
              <a:ext cx="363" cy="0"/>
            </a:xfrm>
            <a:prstGeom prst="line">
              <a:avLst/>
            </a:prstGeom>
            <a:ln w="28575" cap="flat" cmpd="sng">
              <a:solidFill>
                <a:srgbClr val="0000FF"/>
              </a:solidFill>
              <a:prstDash val="solid"/>
              <a:headEnd type="none" w="med" len="med"/>
              <a:tailEnd type="none" w="med" len="med"/>
            </a:ln>
          </p:spPr>
        </p:sp>
        <p:sp>
          <p:nvSpPr>
            <p:cNvPr id="26651" name="Line 77"/>
            <p:cNvSpPr/>
            <p:nvPr/>
          </p:nvSpPr>
          <p:spPr>
            <a:xfrm>
              <a:off x="1820" y="2798"/>
              <a:ext cx="0" cy="136"/>
            </a:xfrm>
            <a:prstGeom prst="line">
              <a:avLst/>
            </a:prstGeom>
            <a:ln w="19050" cap="flat" cmpd="sng">
              <a:solidFill>
                <a:srgbClr val="0000FF"/>
              </a:solidFill>
              <a:prstDash val="solid"/>
              <a:headEnd type="none" w="med" len="med"/>
              <a:tailEnd type="none" w="med" len="med"/>
            </a:ln>
          </p:spPr>
        </p:sp>
        <p:sp>
          <p:nvSpPr>
            <p:cNvPr id="26652" name="Line 78"/>
            <p:cNvSpPr/>
            <p:nvPr/>
          </p:nvSpPr>
          <p:spPr>
            <a:xfrm>
              <a:off x="1817" y="2802"/>
              <a:ext cx="1406" cy="0"/>
            </a:xfrm>
            <a:prstGeom prst="line">
              <a:avLst/>
            </a:prstGeom>
            <a:ln w="19050" cap="flat" cmpd="sng">
              <a:solidFill>
                <a:srgbClr val="0000FF"/>
              </a:solidFill>
              <a:prstDash val="solid"/>
              <a:headEnd type="none" w="med" len="med"/>
              <a:tailEnd type="none" w="med" len="med"/>
            </a:ln>
          </p:spPr>
        </p:sp>
        <p:sp>
          <p:nvSpPr>
            <p:cNvPr id="26653" name="Line 79"/>
            <p:cNvSpPr/>
            <p:nvPr/>
          </p:nvSpPr>
          <p:spPr>
            <a:xfrm>
              <a:off x="1203" y="2802"/>
              <a:ext cx="385" cy="0"/>
            </a:xfrm>
            <a:prstGeom prst="line">
              <a:avLst/>
            </a:prstGeom>
            <a:ln w="19050" cap="flat" cmpd="sng">
              <a:solidFill>
                <a:srgbClr val="0000FF"/>
              </a:solidFill>
              <a:prstDash val="solid"/>
              <a:headEnd type="none" w="med" len="med"/>
              <a:tailEnd type="none" w="med" len="med"/>
            </a:ln>
          </p:spPr>
        </p:sp>
        <p:sp>
          <p:nvSpPr>
            <p:cNvPr id="26654" name="Oval 80"/>
            <p:cNvSpPr/>
            <p:nvPr/>
          </p:nvSpPr>
          <p:spPr>
            <a:xfrm>
              <a:off x="2719" y="2771"/>
              <a:ext cx="56" cy="56"/>
            </a:xfrm>
            <a:prstGeom prst="ellipse">
              <a:avLst/>
            </a:prstGeom>
            <a:solidFill>
              <a:srgbClr val="3333FF"/>
            </a:solidFill>
            <a:ln w="9525"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6655" name="Line 81"/>
            <p:cNvSpPr/>
            <p:nvPr/>
          </p:nvSpPr>
          <p:spPr>
            <a:xfrm flipV="1">
              <a:off x="1714" y="2934"/>
              <a:ext cx="0" cy="408"/>
            </a:xfrm>
            <a:prstGeom prst="line">
              <a:avLst/>
            </a:prstGeom>
            <a:ln w="19050" cap="flat" cmpd="sng">
              <a:solidFill>
                <a:srgbClr val="0000FF"/>
              </a:solidFill>
              <a:prstDash val="solid"/>
              <a:headEnd type="none" w="med" len="med"/>
              <a:tailEnd type="stealth" w="med" len="lg"/>
            </a:ln>
          </p:spPr>
        </p:sp>
        <p:sp>
          <p:nvSpPr>
            <p:cNvPr id="26656" name="Oval 82"/>
            <p:cNvSpPr/>
            <p:nvPr/>
          </p:nvSpPr>
          <p:spPr>
            <a:xfrm>
              <a:off x="1686" y="3341"/>
              <a:ext cx="56" cy="56"/>
            </a:xfrm>
            <a:prstGeom prst="ellipse">
              <a:avLst/>
            </a:prstGeom>
            <a:noFill/>
            <a:ln w="19050" cap="flat" cmpd="sng">
              <a:solidFill>
                <a:srgbClr val="3333FF"/>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nvGrpSpPr>
            <p:cNvPr id="26657" name="Group 83"/>
            <p:cNvGrpSpPr/>
            <p:nvPr/>
          </p:nvGrpSpPr>
          <p:grpSpPr>
            <a:xfrm>
              <a:off x="2030" y="3030"/>
              <a:ext cx="439" cy="318"/>
              <a:chOff x="1926" y="3262"/>
              <a:chExt cx="439" cy="318"/>
            </a:xfrm>
          </p:grpSpPr>
          <p:sp>
            <p:nvSpPr>
              <p:cNvPr id="24660" name="Text Box 84"/>
              <p:cNvSpPr txBox="1">
                <a:spLocks noChangeArrowheads="1"/>
              </p:cNvSpPr>
              <p:nvPr/>
            </p:nvSpPr>
            <p:spPr bwMode="auto">
              <a:xfrm>
                <a:off x="2032" y="3349"/>
                <a:ext cx="333"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20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C</a:t>
                </a:r>
                <a:r>
                  <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dg</a:t>
                </a:r>
                <a:endParaRPr kumimoji="1" lang="en-US" altLang="zh-CN" sz="20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6668" name="Line 85"/>
              <p:cNvSpPr/>
              <p:nvPr/>
            </p:nvSpPr>
            <p:spPr>
              <a:xfrm>
                <a:off x="1926" y="3298"/>
                <a:ext cx="136" cy="136"/>
              </a:xfrm>
              <a:prstGeom prst="line">
                <a:avLst/>
              </a:prstGeom>
              <a:ln w="19050" cap="flat" cmpd="sng">
                <a:solidFill>
                  <a:srgbClr val="D60093"/>
                </a:solidFill>
                <a:prstDash val="sysDot"/>
                <a:headEnd type="none" w="med" len="med"/>
                <a:tailEnd type="none" w="med" len="med"/>
              </a:ln>
            </p:spPr>
          </p:sp>
          <p:sp>
            <p:nvSpPr>
              <p:cNvPr id="26669" name="Line 86"/>
              <p:cNvSpPr/>
              <p:nvPr/>
            </p:nvSpPr>
            <p:spPr>
              <a:xfrm>
                <a:off x="1965" y="3262"/>
                <a:ext cx="136" cy="136"/>
              </a:xfrm>
              <a:prstGeom prst="line">
                <a:avLst/>
              </a:prstGeom>
              <a:ln w="19050" cap="flat" cmpd="sng">
                <a:solidFill>
                  <a:srgbClr val="D60093"/>
                </a:solidFill>
                <a:prstDash val="sysDot"/>
                <a:headEnd type="none" w="med" len="med"/>
                <a:tailEnd type="none" w="med" len="med"/>
              </a:ln>
            </p:spPr>
          </p:sp>
        </p:grpSp>
        <p:sp>
          <p:nvSpPr>
            <p:cNvPr id="26658" name="Freeform 87"/>
            <p:cNvSpPr/>
            <p:nvPr/>
          </p:nvSpPr>
          <p:spPr>
            <a:xfrm rot="-347509">
              <a:off x="1714" y="3153"/>
              <a:ext cx="385" cy="97"/>
            </a:xfrm>
            <a:custGeom>
              <a:avLst/>
              <a:gdLst/>
              <a:ahLst/>
              <a:cxnLst>
                <a:cxn ang="0">
                  <a:pos x="0" y="90"/>
                </a:cxn>
                <a:cxn ang="0">
                  <a:pos x="121" y="90"/>
                </a:cxn>
                <a:cxn ang="0">
                  <a:pos x="282" y="45"/>
                </a:cxn>
                <a:cxn ang="0">
                  <a:pos x="363" y="0"/>
                </a:cxn>
              </a:cxnLst>
              <a:pathLst>
                <a:path w="408" h="97">
                  <a:moveTo>
                    <a:pt x="0" y="90"/>
                  </a:moveTo>
                  <a:cubicBezTo>
                    <a:pt x="41" y="93"/>
                    <a:pt x="83" y="97"/>
                    <a:pt x="136" y="90"/>
                  </a:cubicBezTo>
                  <a:cubicBezTo>
                    <a:pt x="189" y="83"/>
                    <a:pt x="272" y="60"/>
                    <a:pt x="317" y="45"/>
                  </a:cubicBezTo>
                  <a:cubicBezTo>
                    <a:pt x="362" y="30"/>
                    <a:pt x="385" y="15"/>
                    <a:pt x="408" y="0"/>
                  </a:cubicBezTo>
                </a:path>
              </a:pathLst>
            </a:custGeom>
            <a:noFill/>
            <a:ln w="19050" cap="rnd" cmpd="sng">
              <a:solidFill>
                <a:srgbClr val="D60093">
                  <a:alpha val="100000"/>
                </a:srgbClr>
              </a:solidFill>
              <a:prstDash val="sysDot"/>
              <a:round/>
              <a:headEnd type="none" w="med" len="med"/>
              <a:tailEnd type="none" w="med" len="med"/>
            </a:ln>
          </p:spPr>
          <p:txBody>
            <a:bodyPr/>
            <a:p>
              <a:endParaRPr lang="zh-CN" altLang="en-US"/>
            </a:p>
          </p:txBody>
        </p:sp>
        <p:sp>
          <p:nvSpPr>
            <p:cNvPr id="26659" name="Freeform 88"/>
            <p:cNvSpPr/>
            <p:nvPr/>
          </p:nvSpPr>
          <p:spPr>
            <a:xfrm rot="-2480516">
              <a:off x="2072" y="2908"/>
              <a:ext cx="367" cy="91"/>
            </a:xfrm>
            <a:custGeom>
              <a:avLst/>
              <a:gdLst/>
              <a:ahLst/>
              <a:cxnLst>
                <a:cxn ang="0">
                  <a:pos x="0" y="79"/>
                </a:cxn>
                <a:cxn ang="0">
                  <a:pos x="110" y="79"/>
                </a:cxn>
                <a:cxn ang="0">
                  <a:pos x="256" y="39"/>
                </a:cxn>
                <a:cxn ang="0">
                  <a:pos x="330" y="0"/>
                </a:cxn>
              </a:cxnLst>
              <a:pathLst>
                <a:path w="408" h="97">
                  <a:moveTo>
                    <a:pt x="0" y="90"/>
                  </a:moveTo>
                  <a:cubicBezTo>
                    <a:pt x="41" y="93"/>
                    <a:pt x="83" y="97"/>
                    <a:pt x="136" y="90"/>
                  </a:cubicBezTo>
                  <a:cubicBezTo>
                    <a:pt x="189" y="83"/>
                    <a:pt x="272" y="60"/>
                    <a:pt x="317" y="45"/>
                  </a:cubicBezTo>
                  <a:cubicBezTo>
                    <a:pt x="362" y="30"/>
                    <a:pt x="385" y="15"/>
                    <a:pt x="408" y="0"/>
                  </a:cubicBezTo>
                </a:path>
              </a:pathLst>
            </a:custGeom>
            <a:noFill/>
            <a:ln w="19050" cap="rnd" cmpd="sng">
              <a:solidFill>
                <a:srgbClr val="D60093">
                  <a:alpha val="100000"/>
                </a:srgbClr>
              </a:solidFill>
              <a:prstDash val="sysDot"/>
              <a:round/>
              <a:headEnd type="none" w="med" len="med"/>
              <a:tailEnd type="none" w="med" len="med"/>
            </a:ln>
          </p:spPr>
          <p:txBody>
            <a:bodyPr/>
            <a:p>
              <a:endParaRPr lang="zh-CN" altLang="en-US"/>
            </a:p>
          </p:txBody>
        </p:sp>
        <p:sp>
          <p:nvSpPr>
            <p:cNvPr id="24665" name="Text Box 89"/>
            <p:cNvSpPr txBox="1">
              <a:spLocks noChangeArrowheads="1"/>
            </p:cNvSpPr>
            <p:nvPr/>
          </p:nvSpPr>
          <p:spPr bwMode="auto">
            <a:xfrm>
              <a:off x="1396" y="2644"/>
              <a:ext cx="178" cy="179"/>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1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S</a:t>
              </a:r>
              <a:endParaRPr kumimoji="1" lang="en-US" altLang="zh-CN" sz="14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66" name="Text Box 90"/>
            <p:cNvSpPr txBox="1">
              <a:spLocks noChangeArrowheads="1"/>
            </p:cNvSpPr>
            <p:nvPr/>
          </p:nvSpPr>
          <p:spPr bwMode="auto">
            <a:xfrm>
              <a:off x="1853" y="2646"/>
              <a:ext cx="178" cy="179"/>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1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a:t>
              </a:r>
              <a:endParaRPr kumimoji="1" lang="en-US" altLang="zh-CN" sz="14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67" name="Text Box 91"/>
            <p:cNvSpPr txBox="1">
              <a:spLocks noChangeArrowheads="1"/>
            </p:cNvSpPr>
            <p:nvPr/>
          </p:nvSpPr>
          <p:spPr bwMode="auto">
            <a:xfrm>
              <a:off x="1533" y="3289"/>
              <a:ext cx="172" cy="179"/>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1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g</a:t>
              </a:r>
              <a:endParaRPr kumimoji="1" lang="en-US" altLang="zh-CN" sz="1400" kern="1200" cap="none" spc="0" normalizeH="0" baseline="-2500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nvGrpSpPr>
            <p:cNvPr id="26663" name="Group 92"/>
            <p:cNvGrpSpPr/>
            <p:nvPr/>
          </p:nvGrpSpPr>
          <p:grpSpPr>
            <a:xfrm>
              <a:off x="476" y="3332"/>
              <a:ext cx="726" cy="317"/>
              <a:chOff x="476" y="3612"/>
              <a:chExt cx="726" cy="317"/>
            </a:xfrm>
          </p:grpSpPr>
          <p:sp>
            <p:nvSpPr>
              <p:cNvPr id="26664" name="Line 93"/>
              <p:cNvSpPr/>
              <p:nvPr/>
            </p:nvSpPr>
            <p:spPr>
              <a:xfrm>
                <a:off x="476" y="3929"/>
                <a:ext cx="363" cy="0"/>
              </a:xfrm>
              <a:prstGeom prst="line">
                <a:avLst/>
              </a:prstGeom>
              <a:ln w="19050" cap="flat" cmpd="sng">
                <a:solidFill>
                  <a:srgbClr val="FF0000"/>
                </a:solidFill>
                <a:prstDash val="solid"/>
                <a:headEnd type="none" w="med" len="med"/>
                <a:tailEnd type="none" w="med" len="med"/>
              </a:ln>
            </p:spPr>
          </p:sp>
          <p:sp>
            <p:nvSpPr>
              <p:cNvPr id="26665" name="Line 94"/>
              <p:cNvSpPr/>
              <p:nvPr/>
            </p:nvSpPr>
            <p:spPr>
              <a:xfrm flipV="1">
                <a:off x="839" y="3612"/>
                <a:ext cx="0" cy="317"/>
              </a:xfrm>
              <a:prstGeom prst="line">
                <a:avLst/>
              </a:prstGeom>
              <a:ln w="19050" cap="flat" cmpd="sng">
                <a:solidFill>
                  <a:srgbClr val="FF0000"/>
                </a:solidFill>
                <a:prstDash val="solid"/>
                <a:headEnd type="none" w="med" len="med"/>
                <a:tailEnd type="none" w="med" len="med"/>
              </a:ln>
            </p:spPr>
          </p:sp>
          <p:sp>
            <p:nvSpPr>
              <p:cNvPr id="26666" name="Line 95"/>
              <p:cNvSpPr/>
              <p:nvPr/>
            </p:nvSpPr>
            <p:spPr>
              <a:xfrm>
                <a:off x="839" y="3612"/>
                <a:ext cx="363" cy="0"/>
              </a:xfrm>
              <a:prstGeom prst="line">
                <a:avLst/>
              </a:prstGeom>
              <a:ln w="19050" cap="flat" cmpd="sng">
                <a:solidFill>
                  <a:srgbClr val="FF0000"/>
                </a:solidFill>
                <a:prstDash val="solid"/>
                <a:headEnd type="none" w="med" len="med"/>
                <a:tailEnd type="none" w="med" len="med"/>
              </a:ln>
            </p:spPr>
          </p:sp>
        </p:gr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80803"/>
                                        </p:tgtEl>
                                        <p:attrNameLst>
                                          <p:attrName>style.visibility</p:attrName>
                                        </p:attrNameLst>
                                      </p:cBhvr>
                                      <p:to>
                                        <p:strVal val="visible"/>
                                      </p:to>
                                    </p:set>
                                    <p:animEffect transition="in" filter="dissolve">
                                      <p:cBhvr>
                                        <p:cTn id="7" dur="500"/>
                                        <p:tgtEl>
                                          <p:spTgt spid="23808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0805"/>
                                        </p:tgtEl>
                                        <p:attrNameLst>
                                          <p:attrName>style.visibility</p:attrName>
                                        </p:attrNameLst>
                                      </p:cBhvr>
                                      <p:to>
                                        <p:strVal val="visible"/>
                                      </p:to>
                                    </p:set>
                                    <p:animEffect transition="in" filter="dissolve">
                                      <p:cBhvr>
                                        <p:cTn id="12" dur="500"/>
                                        <p:tgtEl>
                                          <p:spTgt spid="238080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80808"/>
                                        </p:tgtEl>
                                        <p:attrNameLst>
                                          <p:attrName>style.visibility</p:attrName>
                                        </p:attrNameLst>
                                      </p:cBhvr>
                                      <p:to>
                                        <p:strVal val="visible"/>
                                      </p:to>
                                    </p:set>
                                    <p:animEffect transition="in" filter="dissolve">
                                      <p:cBhvr>
                                        <p:cTn id="17" dur="500"/>
                                        <p:tgtEl>
                                          <p:spTgt spid="2380808"/>
                                        </p:tgtEl>
                                      </p:cBhvr>
                                    </p:animEffect>
                                  </p:childTnLst>
                                </p:cTn>
                              </p:par>
                              <p:par>
                                <p:cTn id="18" presetID="9" presetClass="entr" presetSubtype="0" fill="hold" nodeType="withEffect">
                                  <p:stCondLst>
                                    <p:cond delay="0"/>
                                  </p:stCondLst>
                                  <p:childTnLst>
                                    <p:set>
                                      <p:cBhvr>
                                        <p:cTn id="19" dur="1" fill="hold">
                                          <p:stCondLst>
                                            <p:cond delay="0"/>
                                          </p:stCondLst>
                                        </p:cTn>
                                        <p:tgtEl>
                                          <p:spTgt spid="24672"/>
                                        </p:tgtEl>
                                        <p:attrNameLst>
                                          <p:attrName>style.visibility</p:attrName>
                                        </p:attrNameLst>
                                      </p:cBhvr>
                                      <p:to>
                                        <p:strVal val="visible"/>
                                      </p:to>
                                    </p:set>
                                    <p:animEffect transition="in" filter="dissolve">
                                      <p:cBhvr>
                                        <p:cTn id="20" dur="500"/>
                                        <p:tgtEl>
                                          <p:spTgt spid="2467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380812"/>
                                        </p:tgtEl>
                                        <p:attrNameLst>
                                          <p:attrName>style.visibility</p:attrName>
                                        </p:attrNameLst>
                                      </p:cBhvr>
                                      <p:to>
                                        <p:strVal val="visible"/>
                                      </p:to>
                                    </p:set>
                                    <p:animEffect transition="in" filter="dissolve">
                                      <p:cBhvr>
                                        <p:cTn id="25" dur="500"/>
                                        <p:tgtEl>
                                          <p:spTgt spid="23808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0803" grpId="0"/>
      <p:bldP spid="2380805" grpId="0" animBg="1"/>
      <p:bldP spid="2380808" grpId="0"/>
      <p:bldP spid="2380812"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1827" name="Text Box 3"/>
          <p:cNvSpPr txBox="1"/>
          <p:nvPr/>
        </p:nvSpPr>
        <p:spPr>
          <a:xfrm>
            <a:off x="611188" y="1449388"/>
            <a:ext cx="8077200" cy="1373187"/>
          </a:xfrm>
          <a:prstGeom prst="rect">
            <a:avLst/>
          </a:prstGeom>
          <a:solidFill>
            <a:srgbClr val="FFCC99"/>
          </a:solidFill>
          <a:ln w="9525">
            <a:noFill/>
          </a:ln>
        </p:spPr>
        <p:txBody>
          <a:bodyPr>
            <a:spAutoFit/>
          </a:bodyPr>
          <a:p>
            <a:pPr eaLnBrk="1" hangingPunct="1"/>
            <a:r>
              <a:rPr lang="zh-CN" altLang="en-US" sz="2800" dirty="0">
                <a:latin typeface="黑体" panose="02010609060101010101" pitchFamily="49" charset="-122"/>
                <a:ea typeface="黑体" panose="02010609060101010101" pitchFamily="49" charset="-122"/>
              </a:rPr>
              <a:t>由以上讨论可以看出，</a:t>
            </a:r>
            <a:r>
              <a:rPr lang="zh-CN" altLang="en-US" sz="2800" dirty="0">
                <a:solidFill>
                  <a:srgbClr val="FF0000"/>
                </a:solidFill>
                <a:latin typeface="黑体" panose="02010609060101010101" pitchFamily="49" charset="-122"/>
                <a:ea typeface="黑体" panose="02010609060101010101" pitchFamily="49" charset="-122"/>
              </a:rPr>
              <a:t>采样</a:t>
            </a:r>
            <a:r>
              <a:rPr lang="en-US" altLang="zh-CN" sz="2800" dirty="0">
                <a:solidFill>
                  <a:srgbClr val="FF0000"/>
                </a:solidFill>
                <a:latin typeface="黑体" panose="02010609060101010101" pitchFamily="49" charset="-122"/>
                <a:ea typeface="黑体" panose="02010609060101010101" pitchFamily="49" charset="-122"/>
              </a:rPr>
              <a:t>/</a:t>
            </a:r>
            <a:r>
              <a:rPr lang="zh-CN" altLang="en-US" sz="2800" dirty="0">
                <a:solidFill>
                  <a:srgbClr val="FF0000"/>
                </a:solidFill>
                <a:latin typeface="黑体" panose="02010609060101010101" pitchFamily="49" charset="-122"/>
                <a:ea typeface="黑体" panose="02010609060101010101" pitchFamily="49" charset="-122"/>
              </a:rPr>
              <a:t>保持器的性能</a:t>
            </a:r>
            <a:r>
              <a:rPr lang="zh-CN" altLang="en-US" sz="2800" dirty="0">
                <a:latin typeface="黑体" panose="02010609060101010101" pitchFamily="49" charset="-122"/>
                <a:ea typeface="黑体" panose="02010609060101010101" pitchFamily="49" charset="-122"/>
              </a:rPr>
              <a:t>在很大程度上取决于</a:t>
            </a:r>
            <a:r>
              <a:rPr lang="zh-CN" altLang="en-US" sz="2800" dirty="0">
                <a:solidFill>
                  <a:srgbClr val="FF0000"/>
                </a:solidFill>
                <a:latin typeface="黑体" panose="02010609060101010101" pitchFamily="49" charset="-122"/>
                <a:ea typeface="黑体" panose="02010609060101010101" pitchFamily="49" charset="-122"/>
              </a:rPr>
              <a:t>保持电容器的质量</a:t>
            </a:r>
            <a:r>
              <a:rPr lang="zh-CN" altLang="en-US" sz="2800" dirty="0">
                <a:latin typeface="黑体" panose="02010609060101010101" pitchFamily="49" charset="-122"/>
                <a:ea typeface="黑体" panose="02010609060101010101" pitchFamily="49" charset="-122"/>
              </a:rPr>
              <a:t>。因此，应该选择优质电容器。</a:t>
            </a:r>
            <a:endParaRPr lang="zh-CN" altLang="en-US" sz="2800" dirty="0">
              <a:latin typeface="黑体" panose="02010609060101010101" pitchFamily="49" charset="-122"/>
              <a:ea typeface="黑体" panose="02010609060101010101" pitchFamily="49" charset="-122"/>
            </a:endParaRPr>
          </a:p>
        </p:txBody>
      </p:sp>
      <p:sp>
        <p:nvSpPr>
          <p:cNvPr id="2381829" name="Text Box 5"/>
          <p:cNvSpPr txBox="1">
            <a:spLocks noChangeArrowheads="1"/>
          </p:cNvSpPr>
          <p:nvPr/>
        </p:nvSpPr>
        <p:spPr bwMode="auto">
          <a:xfrm>
            <a:off x="431800" y="71438"/>
            <a:ext cx="8450263"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5.3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保持器的类型和主要性能参数 </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1830" name="Text Box 6"/>
          <p:cNvSpPr txBox="1"/>
          <p:nvPr/>
        </p:nvSpPr>
        <p:spPr>
          <a:xfrm>
            <a:off x="358775" y="2938463"/>
            <a:ext cx="4860925" cy="476250"/>
          </a:xfrm>
          <a:prstGeom prst="rect">
            <a:avLst/>
          </a:prstGeom>
          <a:noFill/>
          <a:ln w="9525">
            <a:noFill/>
          </a:ln>
        </p:spPr>
        <p:txBody>
          <a:bodyPr>
            <a:spAutoFit/>
          </a:bodyPr>
          <a:p>
            <a:pPr eaLnBrk="1" hangingPunct="1">
              <a:lnSpc>
                <a:spcPct val="90000"/>
              </a:lnSpc>
              <a:spcBef>
                <a:spcPct val="50000"/>
              </a:spcBef>
            </a:pPr>
            <a:r>
              <a:rPr lang="zh-CN" altLang="en-US" sz="2800" dirty="0">
                <a:solidFill>
                  <a:schemeClr val="tx2"/>
                </a:solidFill>
                <a:latin typeface="Times New Roman" panose="02020603050405020304" pitchFamily="18" charset="0"/>
              </a:rPr>
              <a:t>选择保持电容器，重点考虑：</a:t>
            </a:r>
            <a:endParaRPr lang="zh-CN" altLang="en-US" sz="2800" dirty="0">
              <a:solidFill>
                <a:schemeClr val="tx2"/>
              </a:solidFill>
              <a:latin typeface="Times New Roman" panose="02020603050405020304" pitchFamily="18" charset="0"/>
            </a:endParaRPr>
          </a:p>
        </p:txBody>
      </p:sp>
      <p:sp>
        <p:nvSpPr>
          <p:cNvPr id="2381831" name="Text Box 7"/>
          <p:cNvSpPr txBox="1"/>
          <p:nvPr/>
        </p:nvSpPr>
        <p:spPr>
          <a:xfrm>
            <a:off x="503238" y="3451225"/>
            <a:ext cx="5148262" cy="841375"/>
          </a:xfrm>
          <a:prstGeom prst="rect">
            <a:avLst/>
          </a:prstGeom>
          <a:noFill/>
          <a:ln w="9525">
            <a:noFill/>
          </a:ln>
        </p:spPr>
        <p:txBody>
          <a:bodyPr>
            <a:spAutoFit/>
          </a:bodyPr>
          <a:p>
            <a:pPr eaLnBrk="1" hangingPunct="1">
              <a:lnSpc>
                <a:spcPct val="90000"/>
              </a:lnSpc>
              <a:spcBef>
                <a:spcPct val="50000"/>
              </a:spcBef>
              <a:buFont typeface="Wingdings" panose="05000000000000000000" pitchFamily="2" charset="2"/>
              <a:buChar char="u"/>
            </a:pPr>
            <a:r>
              <a:rPr lang="en-US" altLang="zh-CN" sz="2400" dirty="0">
                <a:solidFill>
                  <a:srgbClr val="FF0000"/>
                </a:solidFill>
                <a:latin typeface="Times New Roman" panose="02020603050405020304" pitchFamily="18" charset="0"/>
                <a:ea typeface="黑体" panose="02010609060101010101" pitchFamily="49" charset="-122"/>
              </a:rPr>
              <a:t> </a:t>
            </a:r>
            <a:r>
              <a:rPr lang="zh-CN" altLang="en-US" sz="2400" dirty="0">
                <a:solidFill>
                  <a:srgbClr val="FF0000"/>
                </a:solidFill>
                <a:latin typeface="Times New Roman" panose="02020603050405020304" pitchFamily="18" charset="0"/>
                <a:ea typeface="黑体" panose="02010609060101010101" pitchFamily="49" charset="-122"/>
              </a:rPr>
              <a:t>绝缘电阻</a:t>
            </a:r>
            <a:r>
              <a:rPr lang="zh-CN" altLang="en-US" sz="2400" dirty="0">
                <a:latin typeface="Times New Roman" panose="02020603050405020304" pitchFamily="18" charset="0"/>
                <a:ea typeface="黑体" panose="02010609060101010101" pitchFamily="49" charset="-122"/>
              </a:rPr>
              <a:t>：减少电容漏电流；</a:t>
            </a:r>
            <a:endParaRPr lang="zh-CN" altLang="en-US" sz="2400" dirty="0">
              <a:latin typeface="Times New Roman" panose="02020603050405020304" pitchFamily="18" charset="0"/>
              <a:ea typeface="黑体" panose="02010609060101010101" pitchFamily="49" charset="-122"/>
            </a:endParaRPr>
          </a:p>
          <a:p>
            <a:pPr eaLnBrk="1" hangingPunct="1">
              <a:lnSpc>
                <a:spcPct val="90000"/>
              </a:lnSpc>
              <a:spcBef>
                <a:spcPct val="25000"/>
              </a:spcBef>
              <a:buFont typeface="Wingdings" panose="05000000000000000000" pitchFamily="2" charset="2"/>
              <a:buChar char="u"/>
            </a:pPr>
            <a:r>
              <a:rPr lang="zh-CN" altLang="en-US" sz="2400" dirty="0">
                <a:solidFill>
                  <a:srgbClr val="FF0000"/>
                </a:solidFill>
                <a:latin typeface="Times New Roman" panose="02020603050405020304" pitchFamily="18" charset="0"/>
                <a:ea typeface="黑体" panose="02010609060101010101" pitchFamily="49" charset="-122"/>
              </a:rPr>
              <a:t> 介质吸收</a:t>
            </a:r>
            <a:r>
              <a:rPr lang="zh-CN" altLang="en-US" sz="2400" dirty="0">
                <a:latin typeface="Times New Roman" panose="02020603050405020304" pitchFamily="18" charset="0"/>
                <a:ea typeface="黑体" panose="02010609060101010101" pitchFamily="49" charset="-122"/>
              </a:rPr>
              <a:t>：对保持电压有影响。</a:t>
            </a:r>
            <a:endParaRPr lang="zh-CN" altLang="en-US" sz="2400" dirty="0">
              <a:latin typeface="Times New Roman" panose="02020603050405020304" pitchFamily="18" charset="0"/>
              <a:ea typeface="黑体" panose="02010609060101010101" pitchFamily="49" charset="-122"/>
            </a:endParaRPr>
          </a:p>
        </p:txBody>
      </p:sp>
      <p:sp>
        <p:nvSpPr>
          <p:cNvPr id="2381832" name="Text Box 8"/>
          <p:cNvSpPr txBox="1"/>
          <p:nvPr/>
        </p:nvSpPr>
        <p:spPr>
          <a:xfrm>
            <a:off x="179388" y="4437063"/>
            <a:ext cx="5173662" cy="174466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lnSpc>
                <a:spcPct val="90000"/>
              </a:lnSpc>
              <a:spcBef>
                <a:spcPct val="50000"/>
              </a:spcBef>
            </a:pPr>
            <a:r>
              <a:rPr lang="zh-CN" altLang="en-US" sz="2400" dirty="0">
                <a:latin typeface="Times New Roman" panose="02020603050405020304" pitchFamily="18" charset="0"/>
              </a:rPr>
              <a:t>如果对一个电容器充电到一定电压</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e</a:t>
            </a:r>
            <a:r>
              <a:rPr lang="zh-CN" altLang="en-US" sz="2400" dirty="0">
                <a:latin typeface="Times New Roman" panose="02020603050405020304" pitchFamily="18" charset="0"/>
              </a:rPr>
              <a:t>，然后对它短路放电一定时间后再开路，电容器上的电压将从零往</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e</a:t>
            </a:r>
            <a:r>
              <a:rPr lang="zh-CN" altLang="en-US" sz="2400" dirty="0">
                <a:latin typeface="Times New Roman" panose="02020603050405020304" pitchFamily="18" charset="0"/>
              </a:rPr>
              <a:t>方向缓变。电容器表现出来的“</a:t>
            </a:r>
            <a:r>
              <a:rPr lang="zh-CN" altLang="en-US" sz="2400" dirty="0">
                <a:solidFill>
                  <a:srgbClr val="FF0000"/>
                </a:solidFill>
                <a:latin typeface="Times New Roman" panose="02020603050405020304" pitchFamily="18" charset="0"/>
              </a:rPr>
              <a:t>电压记忆</a:t>
            </a:r>
            <a:r>
              <a:rPr lang="zh-CN" altLang="en-US" sz="2400" dirty="0">
                <a:latin typeface="Times New Roman" panose="02020603050405020304" pitchFamily="18" charset="0"/>
              </a:rPr>
              <a:t>”特性称为电容器的</a:t>
            </a:r>
            <a:r>
              <a:rPr lang="zh-CN" altLang="en-US" sz="2400" dirty="0">
                <a:solidFill>
                  <a:srgbClr val="FF0000"/>
                </a:solidFill>
                <a:latin typeface="Times New Roman" panose="02020603050405020304" pitchFamily="18" charset="0"/>
              </a:rPr>
              <a:t>介质吸收</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p:txBody>
      </p:sp>
      <p:grpSp>
        <p:nvGrpSpPr>
          <p:cNvPr id="2381855" name="Group 31"/>
          <p:cNvGrpSpPr/>
          <p:nvPr/>
        </p:nvGrpSpPr>
        <p:grpSpPr>
          <a:xfrm>
            <a:off x="5435600" y="2938463"/>
            <a:ext cx="3565525" cy="3270250"/>
            <a:chOff x="3424" y="1851"/>
            <a:chExt cx="2246" cy="2060"/>
          </a:xfrm>
        </p:grpSpPr>
        <p:sp>
          <p:nvSpPr>
            <p:cNvPr id="27657" name="Rectangle 30"/>
            <p:cNvSpPr/>
            <p:nvPr/>
          </p:nvSpPr>
          <p:spPr>
            <a:xfrm>
              <a:off x="3424" y="1851"/>
              <a:ext cx="2246" cy="2060"/>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7658" name="Line 9"/>
            <p:cNvSpPr/>
            <p:nvPr/>
          </p:nvSpPr>
          <p:spPr>
            <a:xfrm>
              <a:off x="3810" y="2795"/>
              <a:ext cx="1663" cy="0"/>
            </a:xfrm>
            <a:prstGeom prst="line">
              <a:avLst/>
            </a:prstGeom>
            <a:ln w="12700" cap="flat" cmpd="sng">
              <a:solidFill>
                <a:schemeClr val="tx1"/>
              </a:solidFill>
              <a:prstDash val="solid"/>
              <a:headEnd type="none" w="med" len="med"/>
              <a:tailEnd type="stealth" w="med" len="lg"/>
            </a:ln>
          </p:spPr>
        </p:sp>
        <p:sp>
          <p:nvSpPr>
            <p:cNvPr id="27659" name="Line 10"/>
            <p:cNvSpPr/>
            <p:nvPr/>
          </p:nvSpPr>
          <p:spPr>
            <a:xfrm flipV="1">
              <a:off x="3810" y="1933"/>
              <a:ext cx="0" cy="1679"/>
            </a:xfrm>
            <a:prstGeom prst="line">
              <a:avLst/>
            </a:prstGeom>
            <a:ln w="12700" cap="flat" cmpd="sng">
              <a:solidFill>
                <a:schemeClr val="tx1"/>
              </a:solidFill>
              <a:prstDash val="solid"/>
              <a:headEnd type="none" w="med" len="med"/>
              <a:tailEnd type="stealth" w="med" len="lg"/>
            </a:ln>
          </p:spPr>
        </p:sp>
        <p:sp>
          <p:nvSpPr>
            <p:cNvPr id="27660" name="Text Box 11"/>
            <p:cNvSpPr txBox="1"/>
            <p:nvPr/>
          </p:nvSpPr>
          <p:spPr>
            <a:xfrm>
              <a:off x="3628" y="2682"/>
              <a:ext cx="250"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0</a:t>
              </a:r>
              <a:endParaRPr lang="en-US" altLang="zh-CN" sz="1800" dirty="0">
                <a:latin typeface="Times New Roman" panose="02020603050405020304" pitchFamily="18" charset="0"/>
              </a:endParaRPr>
            </a:p>
          </p:txBody>
        </p:sp>
        <p:sp>
          <p:nvSpPr>
            <p:cNvPr id="27661" name="Text Box 12"/>
            <p:cNvSpPr txBox="1"/>
            <p:nvPr/>
          </p:nvSpPr>
          <p:spPr>
            <a:xfrm>
              <a:off x="3583" y="1884"/>
              <a:ext cx="250" cy="231"/>
            </a:xfrm>
            <a:prstGeom prst="rect">
              <a:avLst/>
            </a:prstGeom>
            <a:noFill/>
            <a:ln w="9525">
              <a:noFill/>
            </a:ln>
          </p:spPr>
          <p:txBody>
            <a:bodyPr>
              <a:spAutoFit/>
            </a:bodyPr>
            <a:p>
              <a:pPr eaLnBrk="1" hangingPunct="1">
                <a:lnSpc>
                  <a:spcPct val="90000"/>
                </a:lnSpc>
                <a:spcBef>
                  <a:spcPct val="50000"/>
                </a:spcBef>
              </a:pPr>
              <a:r>
                <a:rPr lang="en-US" altLang="zh-CN" sz="2000" i="1" dirty="0">
                  <a:latin typeface="Times New Roman" panose="02020603050405020304" pitchFamily="18" charset="0"/>
                </a:rPr>
                <a:t>U</a:t>
              </a:r>
              <a:endParaRPr lang="en-US" altLang="zh-CN" sz="2000" i="1" dirty="0">
                <a:latin typeface="Times New Roman" panose="02020603050405020304" pitchFamily="18" charset="0"/>
              </a:endParaRPr>
            </a:p>
          </p:txBody>
        </p:sp>
        <p:sp>
          <p:nvSpPr>
            <p:cNvPr id="27662" name="Text Box 13"/>
            <p:cNvSpPr txBox="1"/>
            <p:nvPr/>
          </p:nvSpPr>
          <p:spPr>
            <a:xfrm>
              <a:off x="3560" y="2174"/>
              <a:ext cx="379"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5V</a:t>
              </a:r>
              <a:endParaRPr lang="en-US" altLang="zh-CN" sz="1800" dirty="0">
                <a:latin typeface="Times New Roman" panose="02020603050405020304" pitchFamily="18" charset="0"/>
              </a:endParaRPr>
            </a:p>
          </p:txBody>
        </p:sp>
        <p:sp>
          <p:nvSpPr>
            <p:cNvPr id="27663" name="Text Box 14"/>
            <p:cNvSpPr txBox="1"/>
            <p:nvPr/>
          </p:nvSpPr>
          <p:spPr>
            <a:xfrm>
              <a:off x="3515" y="3239"/>
              <a:ext cx="379"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-5V</a:t>
              </a:r>
              <a:endParaRPr lang="en-US" altLang="zh-CN" sz="1800" dirty="0">
                <a:latin typeface="Times New Roman" panose="02020603050405020304" pitchFamily="18" charset="0"/>
              </a:endParaRPr>
            </a:p>
          </p:txBody>
        </p:sp>
        <p:sp>
          <p:nvSpPr>
            <p:cNvPr id="27664" name="Line 15"/>
            <p:cNvSpPr/>
            <p:nvPr/>
          </p:nvSpPr>
          <p:spPr>
            <a:xfrm>
              <a:off x="3810" y="2251"/>
              <a:ext cx="317" cy="0"/>
            </a:xfrm>
            <a:prstGeom prst="line">
              <a:avLst/>
            </a:prstGeom>
            <a:ln w="31750" cap="flat" cmpd="sng">
              <a:solidFill>
                <a:srgbClr val="FF0000"/>
              </a:solidFill>
              <a:prstDash val="solid"/>
              <a:headEnd type="none" w="med" len="med"/>
              <a:tailEnd type="none" w="med" len="med"/>
            </a:ln>
          </p:spPr>
        </p:sp>
        <p:sp>
          <p:nvSpPr>
            <p:cNvPr id="27665" name="Line 16"/>
            <p:cNvSpPr/>
            <p:nvPr/>
          </p:nvSpPr>
          <p:spPr>
            <a:xfrm>
              <a:off x="3810" y="3339"/>
              <a:ext cx="1542" cy="0"/>
            </a:xfrm>
            <a:prstGeom prst="line">
              <a:avLst/>
            </a:prstGeom>
            <a:ln w="9525" cap="flat" cmpd="sng">
              <a:solidFill>
                <a:srgbClr val="0000FF"/>
              </a:solidFill>
              <a:prstDash val="dash"/>
              <a:headEnd type="none" w="med" len="med"/>
              <a:tailEnd type="none" w="med" len="med"/>
            </a:ln>
          </p:spPr>
        </p:sp>
        <p:sp>
          <p:nvSpPr>
            <p:cNvPr id="27666" name="Freeform 17"/>
            <p:cNvSpPr/>
            <p:nvPr/>
          </p:nvSpPr>
          <p:spPr>
            <a:xfrm>
              <a:off x="4127" y="2251"/>
              <a:ext cx="273" cy="1088"/>
            </a:xfrm>
            <a:custGeom>
              <a:avLst/>
              <a:gdLst/>
              <a:ahLst/>
              <a:cxnLst>
                <a:cxn ang="0">
                  <a:pos x="0" y="0"/>
                </a:cxn>
                <a:cxn ang="0">
                  <a:pos x="2941" y="1052"/>
                </a:cxn>
                <a:cxn ang="0">
                  <a:pos x="3160" y="1067"/>
                </a:cxn>
                <a:cxn ang="0">
                  <a:pos x="3502" y="1081"/>
                </a:cxn>
                <a:cxn ang="0">
                  <a:pos x="3935" y="1088"/>
                </a:cxn>
                <a:cxn ang="0">
                  <a:pos x="5456" y="1088"/>
                </a:cxn>
              </a:cxnLst>
              <a:pathLst>
                <a:path w="150" h="1088">
                  <a:moveTo>
                    <a:pt x="0" y="0"/>
                  </a:moveTo>
                  <a:lnTo>
                    <a:pt x="81" y="1052"/>
                  </a:lnTo>
                  <a:lnTo>
                    <a:pt x="87" y="1067"/>
                  </a:lnTo>
                  <a:lnTo>
                    <a:pt x="96" y="1081"/>
                  </a:lnTo>
                  <a:lnTo>
                    <a:pt x="108" y="1088"/>
                  </a:lnTo>
                  <a:lnTo>
                    <a:pt x="150" y="1088"/>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7667" name="Line 19"/>
            <p:cNvSpPr/>
            <p:nvPr/>
          </p:nvSpPr>
          <p:spPr>
            <a:xfrm>
              <a:off x="4127" y="2115"/>
              <a:ext cx="0" cy="1338"/>
            </a:xfrm>
            <a:prstGeom prst="line">
              <a:avLst/>
            </a:prstGeom>
            <a:ln w="9525" cap="flat" cmpd="sng">
              <a:solidFill>
                <a:srgbClr val="008080"/>
              </a:solidFill>
              <a:prstDash val="sysDot"/>
              <a:headEnd type="none" w="med" len="med"/>
              <a:tailEnd type="none" w="med" len="med"/>
            </a:ln>
          </p:spPr>
        </p:sp>
        <p:sp>
          <p:nvSpPr>
            <p:cNvPr id="27668" name="Line 20"/>
            <p:cNvSpPr/>
            <p:nvPr/>
          </p:nvSpPr>
          <p:spPr>
            <a:xfrm>
              <a:off x="4400" y="2115"/>
              <a:ext cx="0" cy="1338"/>
            </a:xfrm>
            <a:prstGeom prst="line">
              <a:avLst/>
            </a:prstGeom>
            <a:ln w="9525" cap="flat" cmpd="sng">
              <a:solidFill>
                <a:srgbClr val="008080"/>
              </a:solidFill>
              <a:prstDash val="sysDot"/>
              <a:headEnd type="none" w="med" len="med"/>
              <a:tailEnd type="none" w="med" len="med"/>
            </a:ln>
          </p:spPr>
        </p:sp>
        <p:sp>
          <p:nvSpPr>
            <p:cNvPr id="27669" name="Freeform 21"/>
            <p:cNvSpPr/>
            <p:nvPr/>
          </p:nvSpPr>
          <p:spPr>
            <a:xfrm>
              <a:off x="4398" y="3295"/>
              <a:ext cx="840" cy="44"/>
            </a:xfrm>
            <a:custGeom>
              <a:avLst/>
              <a:gdLst/>
              <a:ahLst/>
              <a:cxnLst>
                <a:cxn ang="0">
                  <a:pos x="0" y="39"/>
                </a:cxn>
                <a:cxn ang="0">
                  <a:pos x="90" y="35"/>
                </a:cxn>
                <a:cxn ang="0">
                  <a:pos x="214" y="28"/>
                </a:cxn>
                <a:cxn ang="0">
                  <a:pos x="343" y="22"/>
                </a:cxn>
                <a:cxn ang="0">
                  <a:pos x="510" y="22"/>
                </a:cxn>
                <a:cxn ang="0">
                  <a:pos x="748" y="16"/>
                </a:cxn>
                <a:cxn ang="0">
                  <a:pos x="1135" y="8"/>
                </a:cxn>
                <a:cxn ang="0">
                  <a:pos x="1919" y="0"/>
                </a:cxn>
              </a:cxnLst>
              <a:pathLst>
                <a:path w="712" h="45">
                  <a:moveTo>
                    <a:pt x="0" y="45"/>
                  </a:moveTo>
                  <a:lnTo>
                    <a:pt x="33" y="41"/>
                  </a:lnTo>
                  <a:lnTo>
                    <a:pt x="79" y="34"/>
                  </a:lnTo>
                  <a:lnTo>
                    <a:pt x="127" y="28"/>
                  </a:lnTo>
                  <a:lnTo>
                    <a:pt x="189" y="23"/>
                  </a:lnTo>
                  <a:lnTo>
                    <a:pt x="277" y="16"/>
                  </a:lnTo>
                  <a:lnTo>
                    <a:pt x="421" y="8"/>
                  </a:lnTo>
                  <a:lnTo>
                    <a:pt x="712" y="0"/>
                  </a:lnTo>
                </a:path>
              </a:pathLst>
            </a:custGeom>
            <a:noFill/>
            <a:ln w="31750" cap="flat" cmpd="sng">
              <a:solidFill>
                <a:srgbClr val="FF0000">
                  <a:alpha val="100000"/>
                </a:srgbClr>
              </a:solidFill>
              <a:prstDash val="solid"/>
              <a:round/>
              <a:headEnd type="none" w="med" len="med"/>
              <a:tailEnd type="none" w="med" len="med"/>
            </a:ln>
          </p:spPr>
          <p:txBody>
            <a:bodyPr/>
            <a:p>
              <a:endParaRPr lang="zh-CN" altLang="en-US"/>
            </a:p>
          </p:txBody>
        </p:sp>
        <p:sp>
          <p:nvSpPr>
            <p:cNvPr id="27670" name="Text Box 22"/>
            <p:cNvSpPr txBox="1"/>
            <p:nvPr/>
          </p:nvSpPr>
          <p:spPr>
            <a:xfrm>
              <a:off x="3781" y="2054"/>
              <a:ext cx="408" cy="19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保持</a:t>
              </a:r>
              <a:endParaRPr lang="zh-CN" altLang="en-US" sz="1600" dirty="0">
                <a:latin typeface="Times New Roman" panose="02020603050405020304" pitchFamily="18" charset="0"/>
              </a:endParaRPr>
            </a:p>
          </p:txBody>
        </p:sp>
        <p:sp>
          <p:nvSpPr>
            <p:cNvPr id="27671" name="Text Box 23"/>
            <p:cNvSpPr txBox="1"/>
            <p:nvPr/>
          </p:nvSpPr>
          <p:spPr>
            <a:xfrm>
              <a:off x="4082" y="2057"/>
              <a:ext cx="408" cy="19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跟踪</a:t>
              </a:r>
              <a:endParaRPr lang="zh-CN" altLang="en-US" sz="1600" dirty="0">
                <a:latin typeface="Times New Roman" panose="02020603050405020304" pitchFamily="18" charset="0"/>
              </a:endParaRPr>
            </a:p>
          </p:txBody>
        </p:sp>
        <p:sp>
          <p:nvSpPr>
            <p:cNvPr id="27672" name="Text Box 24"/>
            <p:cNvSpPr txBox="1"/>
            <p:nvPr/>
          </p:nvSpPr>
          <p:spPr>
            <a:xfrm>
              <a:off x="4377" y="2057"/>
              <a:ext cx="408" cy="19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保持</a:t>
              </a:r>
              <a:endParaRPr lang="zh-CN" altLang="en-US" sz="1600" dirty="0">
                <a:latin typeface="Times New Roman" panose="02020603050405020304" pitchFamily="18" charset="0"/>
              </a:endParaRPr>
            </a:p>
          </p:txBody>
        </p:sp>
        <p:sp>
          <p:nvSpPr>
            <p:cNvPr id="27673" name="Text Box 25"/>
            <p:cNvSpPr txBox="1"/>
            <p:nvPr/>
          </p:nvSpPr>
          <p:spPr>
            <a:xfrm>
              <a:off x="4445" y="3090"/>
              <a:ext cx="710" cy="197"/>
            </a:xfrm>
            <a:prstGeom prst="rect">
              <a:avLst/>
            </a:prstGeom>
            <a:noFill/>
            <a:ln w="9525">
              <a:noFill/>
            </a:ln>
          </p:spPr>
          <p:txBody>
            <a:bodyPr>
              <a:spAutoFit/>
            </a:bodyPr>
            <a:p>
              <a:pPr eaLnBrk="1" hangingPunct="1">
                <a:lnSpc>
                  <a:spcPct val="90000"/>
                </a:lnSpc>
                <a:spcBef>
                  <a:spcPct val="50000"/>
                </a:spcBef>
              </a:pPr>
              <a:r>
                <a:rPr lang="zh-CN" altLang="en-US" sz="1600" dirty="0">
                  <a:solidFill>
                    <a:srgbClr val="CC00CC"/>
                  </a:solidFill>
                  <a:latin typeface="Times New Roman" panose="02020603050405020304" pitchFamily="18" charset="0"/>
                </a:rPr>
                <a:t>介质吸收</a:t>
              </a:r>
              <a:endParaRPr lang="zh-CN" altLang="en-US" sz="1600" dirty="0">
                <a:solidFill>
                  <a:srgbClr val="CC00CC"/>
                </a:solidFill>
                <a:latin typeface="Times New Roman" panose="02020603050405020304" pitchFamily="18" charset="0"/>
              </a:endParaRPr>
            </a:p>
          </p:txBody>
        </p:sp>
        <p:sp>
          <p:nvSpPr>
            <p:cNvPr id="27674" name="Line 26"/>
            <p:cNvSpPr/>
            <p:nvPr/>
          </p:nvSpPr>
          <p:spPr>
            <a:xfrm>
              <a:off x="5193" y="3136"/>
              <a:ext cx="0" cy="153"/>
            </a:xfrm>
            <a:prstGeom prst="line">
              <a:avLst/>
            </a:prstGeom>
            <a:ln w="12700" cap="flat" cmpd="sng">
              <a:solidFill>
                <a:schemeClr val="tx1"/>
              </a:solidFill>
              <a:prstDash val="solid"/>
              <a:headEnd type="none" w="med" len="med"/>
              <a:tailEnd type="stealth" w="med" len="lg"/>
            </a:ln>
          </p:spPr>
        </p:sp>
        <p:sp>
          <p:nvSpPr>
            <p:cNvPr id="27675" name="Line 27"/>
            <p:cNvSpPr/>
            <p:nvPr/>
          </p:nvSpPr>
          <p:spPr>
            <a:xfrm>
              <a:off x="5193" y="3339"/>
              <a:ext cx="0" cy="199"/>
            </a:xfrm>
            <a:prstGeom prst="line">
              <a:avLst/>
            </a:prstGeom>
            <a:ln w="12700" cap="flat" cmpd="sng">
              <a:solidFill>
                <a:schemeClr val="tx1"/>
              </a:solidFill>
              <a:prstDash val="solid"/>
              <a:headEnd type="stealth" w="med" len="lg"/>
              <a:tailEnd type="none" w="med" len="lg"/>
            </a:ln>
          </p:spPr>
        </p:sp>
        <p:sp>
          <p:nvSpPr>
            <p:cNvPr id="27676" name="Text Box 28"/>
            <p:cNvSpPr txBox="1"/>
            <p:nvPr/>
          </p:nvSpPr>
          <p:spPr>
            <a:xfrm>
              <a:off x="5186" y="3354"/>
              <a:ext cx="393" cy="197"/>
            </a:xfrm>
            <a:prstGeom prst="rect">
              <a:avLst/>
            </a:prstGeom>
            <a:noFill/>
            <a:ln w="9525">
              <a:noFill/>
            </a:ln>
          </p:spPr>
          <p:txBody>
            <a:bodyPr>
              <a:spAutoFit/>
            </a:bodyPr>
            <a:p>
              <a:pPr eaLnBrk="1" hangingPunct="1">
                <a:lnSpc>
                  <a:spcPct val="90000"/>
                </a:lnSpc>
                <a:spcBef>
                  <a:spcPct val="50000"/>
                </a:spcBef>
              </a:pPr>
              <a:r>
                <a:rPr lang="zh-CN" altLang="en-US" sz="1600" dirty="0">
                  <a:solidFill>
                    <a:srgbClr val="CC00CC"/>
                  </a:solidFill>
                  <a:latin typeface="Times New Roman" panose="02020603050405020304" pitchFamily="18" charset="0"/>
                </a:rPr>
                <a:t>误差</a:t>
              </a:r>
              <a:endParaRPr lang="zh-CN" altLang="en-US" sz="1600" dirty="0">
                <a:solidFill>
                  <a:srgbClr val="CC00CC"/>
                </a:solidFill>
                <a:latin typeface="Times New Roman" panose="02020603050405020304" pitchFamily="18" charset="0"/>
              </a:endParaRPr>
            </a:p>
          </p:txBody>
        </p:sp>
        <p:sp>
          <p:nvSpPr>
            <p:cNvPr id="27677" name="Text Box 29"/>
            <p:cNvSpPr txBox="1"/>
            <p:nvPr/>
          </p:nvSpPr>
          <p:spPr>
            <a:xfrm>
              <a:off x="3855" y="3680"/>
              <a:ext cx="1692"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电容器的介质吸收</a:t>
              </a:r>
              <a:endParaRPr lang="zh-CN" altLang="en-US" sz="2000" dirty="0">
                <a:solidFill>
                  <a:srgbClr val="000099"/>
                </a:solidFill>
                <a:latin typeface="Times New Roman" panose="02020603050405020304" pitchFamily="18" charset="0"/>
              </a:endParaRPr>
            </a:p>
          </p:txBody>
        </p:sp>
      </p:grpSp>
      <p:sp>
        <p:nvSpPr>
          <p:cNvPr id="27656" name="Text Box 5"/>
          <p:cNvSpPr txBox="1"/>
          <p:nvPr/>
        </p:nvSpPr>
        <p:spPr>
          <a:xfrm>
            <a:off x="358775" y="728663"/>
            <a:ext cx="62404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5.3.2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保持器的主要性能参数</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81827"/>
                                        </p:tgtEl>
                                        <p:attrNameLst>
                                          <p:attrName>style.visibility</p:attrName>
                                        </p:attrNameLst>
                                      </p:cBhvr>
                                      <p:to>
                                        <p:strVal val="visible"/>
                                      </p:to>
                                    </p:set>
                                    <p:animEffect transition="in" filter="dissolve">
                                      <p:cBhvr>
                                        <p:cTn id="7" dur="500"/>
                                        <p:tgtEl>
                                          <p:spTgt spid="23818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1830"/>
                                        </p:tgtEl>
                                        <p:attrNameLst>
                                          <p:attrName>style.visibility</p:attrName>
                                        </p:attrNameLst>
                                      </p:cBhvr>
                                      <p:to>
                                        <p:strVal val="visible"/>
                                      </p:to>
                                    </p:set>
                                    <p:animEffect transition="in" filter="dissolve">
                                      <p:cBhvr>
                                        <p:cTn id="12" dur="500"/>
                                        <p:tgtEl>
                                          <p:spTgt spid="238183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81831">
                                            <p:txEl>
                                              <p:charRg st="0" end="15"/>
                                            </p:txEl>
                                          </p:spTgt>
                                        </p:tgtEl>
                                        <p:attrNameLst>
                                          <p:attrName>style.visibility</p:attrName>
                                        </p:attrNameLst>
                                      </p:cBhvr>
                                      <p:to>
                                        <p:strVal val="visible"/>
                                      </p:to>
                                    </p:set>
                                    <p:animEffect transition="in" filter="dissolve">
                                      <p:cBhvr>
                                        <p:cTn id="17" dur="500"/>
                                        <p:tgtEl>
                                          <p:spTgt spid="2381831">
                                            <p:txEl>
                                              <p:charRg st="0" end="1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81831">
                                            <p:txEl>
                                              <p:charRg st="15" end="31"/>
                                            </p:txEl>
                                          </p:spTgt>
                                        </p:tgtEl>
                                        <p:attrNameLst>
                                          <p:attrName>style.visibility</p:attrName>
                                        </p:attrNameLst>
                                      </p:cBhvr>
                                      <p:to>
                                        <p:strVal val="visible"/>
                                      </p:to>
                                    </p:set>
                                    <p:animEffect transition="in" filter="dissolve">
                                      <p:cBhvr>
                                        <p:cTn id="22" dur="500"/>
                                        <p:tgtEl>
                                          <p:spTgt spid="2381831">
                                            <p:txEl>
                                              <p:charRg st="15" end="3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81832"/>
                                        </p:tgtEl>
                                        <p:attrNameLst>
                                          <p:attrName>style.visibility</p:attrName>
                                        </p:attrNameLst>
                                      </p:cBhvr>
                                      <p:to>
                                        <p:strVal val="visible"/>
                                      </p:to>
                                    </p:set>
                                    <p:animEffect transition="in" filter="dissolve">
                                      <p:cBhvr>
                                        <p:cTn id="27" dur="500"/>
                                        <p:tgtEl>
                                          <p:spTgt spid="238183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81855"/>
                                        </p:tgtEl>
                                        <p:attrNameLst>
                                          <p:attrName>style.visibility</p:attrName>
                                        </p:attrNameLst>
                                      </p:cBhvr>
                                      <p:to>
                                        <p:strVal val="visible"/>
                                      </p:to>
                                    </p:set>
                                    <p:animEffect transition="in" filter="dissolve">
                                      <p:cBhvr>
                                        <p:cTn id="32" dur="500"/>
                                        <p:tgtEl>
                                          <p:spTgt spid="23818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1827" grpId="0" animBg="1"/>
      <p:bldP spid="2381830" grpId="0"/>
      <p:bldP spid="2381832"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2851"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2852" name="Text Box 4"/>
          <p:cNvSpPr txBox="1"/>
          <p:nvPr/>
        </p:nvSpPr>
        <p:spPr>
          <a:xfrm>
            <a:off x="358775" y="2097088"/>
            <a:ext cx="6948488" cy="519112"/>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endParaRPr lang="zh-CN" altLang="en-US" sz="2800" dirty="0">
              <a:solidFill>
                <a:srgbClr val="FF0000"/>
              </a:solidFill>
              <a:latin typeface="Times New Roman" panose="02020603050405020304" pitchFamily="18" charset="0"/>
            </a:endParaRPr>
          </a:p>
        </p:txBody>
      </p:sp>
      <p:sp>
        <p:nvSpPr>
          <p:cNvPr id="2382854" name="Text Box 6"/>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zh-CN" altLang="en-US" sz="2400" dirty="0">
                <a:latin typeface="黑体" panose="02010609060101010101" pitchFamily="49" charset="-122"/>
                <a:ea typeface="黑体" panose="02010609060101010101" pitchFamily="49" charset="-122"/>
              </a:rPr>
              <a:t>。</a:t>
            </a:r>
            <a:endParaRPr lang="zh-CN" altLang="en-US" sz="2400" dirty="0">
              <a:latin typeface="黑体" panose="02010609060101010101" pitchFamily="49" charset="-122"/>
              <a:ea typeface="黑体" panose="02010609060101010101" pitchFamily="49" charset="-122"/>
            </a:endParaRPr>
          </a:p>
        </p:txBody>
      </p:sp>
      <p:sp>
        <p:nvSpPr>
          <p:cNvPr id="2382856" name="Text Box 8"/>
          <p:cNvSpPr txBox="1"/>
          <p:nvPr/>
        </p:nvSpPr>
        <p:spPr>
          <a:xfrm>
            <a:off x="361950" y="2708275"/>
            <a:ext cx="3994150" cy="2392363"/>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任何一种</a:t>
            </a:r>
            <a:r>
              <a:rPr lang="en-US" altLang="zh-CN" sz="2400" dirty="0">
                <a:solidFill>
                  <a:srgbClr val="FF0000"/>
                </a:solidFill>
                <a:latin typeface="Times New Roman" panose="02020603050405020304" pitchFamily="18" charset="0"/>
                <a:ea typeface="黑体" panose="02010609060101010101" pitchFamily="49" charset="-122"/>
              </a:rPr>
              <a:t>A/D</a:t>
            </a:r>
            <a:r>
              <a:rPr lang="zh-CN" altLang="en-US" sz="2400" dirty="0">
                <a:solidFill>
                  <a:schemeClr val="tx1"/>
                </a:solidFill>
                <a:latin typeface="黑体" panose="02010609060101010101" pitchFamily="49" charset="-122"/>
                <a:ea typeface="黑体" panose="02010609060101010101" pitchFamily="49" charset="-122"/>
              </a:rPr>
              <a:t>转换器都需要一定的转换时间来完成量化和编码等过程。设转换时间为</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CONV </a:t>
            </a:r>
            <a:r>
              <a:rPr lang="zh-CN" altLang="en-US" sz="2400" dirty="0">
                <a:solidFill>
                  <a:schemeClr val="tx1"/>
                </a:solidFill>
                <a:latin typeface="黑体" panose="02010609060101010101" pitchFamily="49" charset="-122"/>
                <a:ea typeface="黑体" panose="02010609060101010101" pitchFamily="49" charset="-122"/>
              </a:rPr>
              <a:t>。如果在转换时间内，输入的模拟信号仍在变化，此时进行量化就会产生一定误差。</a:t>
            </a:r>
            <a:endParaRPr lang="zh-CN" altLang="en-US" sz="2400" dirty="0">
              <a:solidFill>
                <a:schemeClr val="tx1"/>
              </a:solidFill>
              <a:latin typeface="黑体" panose="02010609060101010101" pitchFamily="49" charset="-122"/>
              <a:ea typeface="黑体" panose="02010609060101010101" pitchFamily="49" charset="-122"/>
            </a:endParaRPr>
          </a:p>
        </p:txBody>
      </p:sp>
      <p:grpSp>
        <p:nvGrpSpPr>
          <p:cNvPr id="2382896" name="Group 48"/>
          <p:cNvGrpSpPr/>
          <p:nvPr/>
        </p:nvGrpSpPr>
        <p:grpSpPr>
          <a:xfrm>
            <a:off x="468313" y="5121275"/>
            <a:ext cx="3887787" cy="969963"/>
            <a:chOff x="295" y="3226"/>
            <a:chExt cx="2449" cy="611"/>
          </a:xfrm>
        </p:grpSpPr>
        <p:sp>
          <p:nvSpPr>
            <p:cNvPr id="28701" name="Rectangle 47"/>
            <p:cNvSpPr/>
            <p:nvPr/>
          </p:nvSpPr>
          <p:spPr>
            <a:xfrm>
              <a:off x="295" y="3238"/>
              <a:ext cx="2358" cy="599"/>
            </a:xfrm>
            <a:prstGeom prst="rect">
              <a:avLst/>
            </a:prstGeom>
            <a:solidFill>
              <a:srgbClr val="CCFFFF"/>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8702" name="Text Box 39"/>
            <p:cNvSpPr txBox="1"/>
            <p:nvPr/>
          </p:nvSpPr>
          <p:spPr>
            <a:xfrm>
              <a:off x="295" y="3294"/>
              <a:ext cx="2449" cy="542"/>
            </a:xfrm>
            <a:prstGeom prst="rect">
              <a:avLst/>
            </a:prstGeom>
            <a:no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rPr>
                <a:t>对正弦信号                  采样：</a:t>
              </a:r>
              <a:endParaRPr lang="zh-CN" altLang="en-US" sz="2800" dirty="0">
                <a:latin typeface="Times New Roman" panose="02020603050405020304" pitchFamily="18" charset="0"/>
              </a:endParaRPr>
            </a:p>
          </p:txBody>
        </p:sp>
        <p:grpSp>
          <p:nvGrpSpPr>
            <p:cNvPr id="28703" name="Group 10"/>
            <p:cNvGrpSpPr/>
            <p:nvPr/>
          </p:nvGrpSpPr>
          <p:grpSpPr>
            <a:xfrm>
              <a:off x="1452" y="3226"/>
              <a:ext cx="1085" cy="424"/>
              <a:chOff x="618" y="2097"/>
              <a:chExt cx="1085" cy="424"/>
            </a:xfrm>
          </p:grpSpPr>
          <p:sp>
            <p:nvSpPr>
              <p:cNvPr id="28704" name="Text Box 11"/>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i="1" baseline="-25000" dirty="0">
                    <a:solidFill>
                      <a:srgbClr val="FF0000"/>
                    </a:solidFill>
                    <a:latin typeface="Times New Roman" panose="02020603050405020304" pitchFamily="18" charset="0"/>
                  </a:rPr>
                  <a:t>i</a:t>
                </a:r>
                <a:r>
                  <a:rPr lang="en-US" altLang="zh-CN" sz="2000" i="1" dirty="0">
                    <a:solidFill>
                      <a:srgbClr val="FF0000"/>
                    </a:solidFill>
                    <a:latin typeface="Times New Roman" panose="02020603050405020304" pitchFamily="18" charset="0"/>
                  </a:rPr>
                  <a:t>=</a:t>
                </a:r>
                <a:endParaRPr lang="en-US" altLang="zh-CN" sz="2000" i="1" baseline="-25000" dirty="0">
                  <a:solidFill>
                    <a:srgbClr val="FF0000"/>
                  </a:solidFill>
                  <a:latin typeface="Times New Roman" panose="02020603050405020304" pitchFamily="18" charset="0"/>
                </a:endParaRPr>
              </a:p>
            </p:txBody>
          </p:sp>
          <p:grpSp>
            <p:nvGrpSpPr>
              <p:cNvPr id="28705" name="Group 12"/>
              <p:cNvGrpSpPr/>
              <p:nvPr/>
            </p:nvGrpSpPr>
            <p:grpSpPr>
              <a:xfrm>
                <a:off x="933" y="2097"/>
                <a:ext cx="319" cy="424"/>
                <a:chOff x="618" y="2002"/>
                <a:chExt cx="319" cy="424"/>
              </a:xfrm>
            </p:grpSpPr>
            <p:sp>
              <p:nvSpPr>
                <p:cNvPr id="28707" name="Text Box 1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m</a:t>
                  </a:r>
                  <a:endParaRPr lang="en-US" altLang="zh-CN" sz="2000" baseline="-25000" dirty="0">
                    <a:solidFill>
                      <a:srgbClr val="FF0000"/>
                    </a:solidFill>
                    <a:latin typeface="Times New Roman" panose="02020603050405020304" pitchFamily="18" charset="0"/>
                  </a:endParaRPr>
                </a:p>
              </p:txBody>
            </p:sp>
            <p:sp>
              <p:nvSpPr>
                <p:cNvPr id="28708" name="Text Box 1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solidFill>
                        <a:srgbClr val="FF0000"/>
                      </a:solidFill>
                      <a:latin typeface="Times New Roman" panose="02020603050405020304" pitchFamily="18" charset="0"/>
                    </a:rPr>
                    <a:t>2</a:t>
                  </a:r>
                  <a:endParaRPr lang="en-US" altLang="zh-CN" sz="2000" dirty="0">
                    <a:solidFill>
                      <a:srgbClr val="FF0000"/>
                    </a:solidFill>
                    <a:latin typeface="Times New Roman" panose="02020603050405020304" pitchFamily="18" charset="0"/>
                  </a:endParaRPr>
                </a:p>
              </p:txBody>
            </p:sp>
            <p:sp>
              <p:nvSpPr>
                <p:cNvPr id="28709" name="Line 15"/>
                <p:cNvSpPr/>
                <p:nvPr/>
              </p:nvSpPr>
              <p:spPr>
                <a:xfrm>
                  <a:off x="643" y="2221"/>
                  <a:ext cx="250" cy="0"/>
                </a:xfrm>
                <a:prstGeom prst="line">
                  <a:avLst/>
                </a:prstGeom>
                <a:ln w="9525" cap="flat" cmpd="sng">
                  <a:solidFill>
                    <a:srgbClr val="FF0000"/>
                  </a:solidFill>
                  <a:prstDash val="solid"/>
                  <a:headEnd type="none" w="med" len="med"/>
                  <a:tailEnd type="none" w="med" len="med"/>
                </a:ln>
              </p:spPr>
            </p:sp>
          </p:grpSp>
          <p:sp>
            <p:nvSpPr>
              <p:cNvPr id="28706" name="Text Box 16"/>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solidFill>
                      <a:srgbClr val="FF0000"/>
                    </a:solidFill>
                    <a:latin typeface="Times New Roman" panose="02020603050405020304" pitchFamily="18" charset="0"/>
                  </a:rPr>
                  <a:t>sin</a:t>
                </a:r>
                <a:r>
                  <a:rPr lang="en-US" altLang="zh-CN" sz="2000" dirty="0">
                    <a:solidFill>
                      <a:srgbClr val="FF0000"/>
                    </a:solidFill>
                    <a:latin typeface="Times New Roman" panose="02020603050405020304" pitchFamily="18" charset="0"/>
                    <a:ea typeface="宋体" panose="02010600030101010101" pitchFamily="2" charset="-122"/>
                  </a:rPr>
                  <a:t>ωt</a:t>
                </a:r>
                <a:endParaRPr lang="en-US" altLang="zh-CN" sz="2000" dirty="0">
                  <a:solidFill>
                    <a:srgbClr val="FF0000"/>
                  </a:solidFill>
                  <a:latin typeface="Times New Roman" panose="02020603050405020304" pitchFamily="18" charset="0"/>
                </a:endParaRPr>
              </a:p>
            </p:txBody>
          </p:sp>
        </p:grpSp>
      </p:grpSp>
      <p:grpSp>
        <p:nvGrpSpPr>
          <p:cNvPr id="26662" name="Group 38"/>
          <p:cNvGrpSpPr/>
          <p:nvPr/>
        </p:nvGrpSpPr>
        <p:grpSpPr>
          <a:xfrm>
            <a:off x="4572000" y="2641600"/>
            <a:ext cx="4432300" cy="3487738"/>
            <a:chOff x="2880" y="1664"/>
            <a:chExt cx="2792" cy="2197"/>
          </a:xfrm>
        </p:grpSpPr>
        <p:sp>
          <p:nvSpPr>
            <p:cNvPr id="28680" name="Rectangle 38"/>
            <p:cNvSpPr/>
            <p:nvPr/>
          </p:nvSpPr>
          <p:spPr>
            <a:xfrm>
              <a:off x="2880" y="1664"/>
              <a:ext cx="2792" cy="2197"/>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8681" name="AutoShape 9"/>
            <p:cNvSpPr/>
            <p:nvPr/>
          </p:nvSpPr>
          <p:spPr>
            <a:xfrm>
              <a:off x="4425" y="1762"/>
              <a:ext cx="1038" cy="381"/>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8682" name="Line 17"/>
            <p:cNvSpPr/>
            <p:nvPr/>
          </p:nvSpPr>
          <p:spPr>
            <a:xfrm>
              <a:off x="3116" y="2721"/>
              <a:ext cx="2421" cy="0"/>
            </a:xfrm>
            <a:prstGeom prst="line">
              <a:avLst/>
            </a:prstGeom>
            <a:ln w="12700" cap="flat" cmpd="sng">
              <a:solidFill>
                <a:schemeClr val="accent2"/>
              </a:solidFill>
              <a:prstDash val="solid"/>
              <a:headEnd type="none" w="med" len="med"/>
              <a:tailEnd type="stealth" w="med" len="lg"/>
            </a:ln>
          </p:spPr>
        </p:sp>
        <p:sp>
          <p:nvSpPr>
            <p:cNvPr id="28683" name="Text Box 18"/>
            <p:cNvSpPr txBox="1"/>
            <p:nvPr/>
          </p:nvSpPr>
          <p:spPr>
            <a:xfrm>
              <a:off x="5512" y="2612"/>
              <a:ext cx="160"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28684" name="Line 19"/>
            <p:cNvSpPr/>
            <p:nvPr/>
          </p:nvSpPr>
          <p:spPr>
            <a:xfrm flipV="1">
              <a:off x="3116" y="1727"/>
              <a:ext cx="0" cy="994"/>
            </a:xfrm>
            <a:prstGeom prst="line">
              <a:avLst/>
            </a:prstGeom>
            <a:ln w="12700" cap="flat" cmpd="sng">
              <a:solidFill>
                <a:schemeClr val="accent2"/>
              </a:solidFill>
              <a:prstDash val="solid"/>
              <a:headEnd type="none" w="med" len="med"/>
              <a:tailEnd type="stealth" w="med" len="lg"/>
            </a:ln>
          </p:spPr>
        </p:sp>
        <p:sp>
          <p:nvSpPr>
            <p:cNvPr id="28685" name="Freeform 26"/>
            <p:cNvSpPr/>
            <p:nvPr/>
          </p:nvSpPr>
          <p:spPr>
            <a:xfrm>
              <a:off x="3316" y="2011"/>
              <a:ext cx="593" cy="1361"/>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28686" name="Freeform 27"/>
            <p:cNvSpPr/>
            <p:nvPr/>
          </p:nvSpPr>
          <p:spPr>
            <a:xfrm>
              <a:off x="3316" y="1996"/>
              <a:ext cx="1937" cy="1451"/>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28687" name="Text Box 36"/>
            <p:cNvSpPr txBox="1"/>
            <p:nvPr/>
          </p:nvSpPr>
          <p:spPr>
            <a:xfrm>
              <a:off x="2880" y="1664"/>
              <a:ext cx="232"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grpSp>
          <p:nvGrpSpPr>
            <p:cNvPr id="28688" name="Group 40"/>
            <p:cNvGrpSpPr/>
            <p:nvPr/>
          </p:nvGrpSpPr>
          <p:grpSpPr>
            <a:xfrm>
              <a:off x="4394" y="1742"/>
              <a:ext cx="1085" cy="424"/>
              <a:chOff x="618" y="2097"/>
              <a:chExt cx="1085" cy="424"/>
            </a:xfrm>
          </p:grpSpPr>
          <p:sp>
            <p:nvSpPr>
              <p:cNvPr id="28695" name="Text Box 41"/>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28696" name="Group 42"/>
              <p:cNvGrpSpPr/>
              <p:nvPr/>
            </p:nvGrpSpPr>
            <p:grpSpPr>
              <a:xfrm>
                <a:off x="933" y="2097"/>
                <a:ext cx="319" cy="424"/>
                <a:chOff x="618" y="2002"/>
                <a:chExt cx="319" cy="424"/>
              </a:xfrm>
            </p:grpSpPr>
            <p:sp>
              <p:nvSpPr>
                <p:cNvPr id="28698" name="Text Box 4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28699" name="Text Box 4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8700" name="Line 45"/>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28697" name="Text Box 46"/>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sp>
          <p:nvSpPr>
            <p:cNvPr id="28689" name="Line 49"/>
            <p:cNvSpPr/>
            <p:nvPr/>
          </p:nvSpPr>
          <p:spPr>
            <a:xfrm>
              <a:off x="3433" y="2003"/>
              <a:ext cx="518" cy="0"/>
            </a:xfrm>
            <a:prstGeom prst="line">
              <a:avLst/>
            </a:prstGeom>
            <a:ln w="12700" cap="flat" cmpd="sng">
              <a:solidFill>
                <a:srgbClr val="FF0000"/>
              </a:solidFill>
              <a:prstDash val="dash"/>
              <a:headEnd type="none" w="med" len="med"/>
              <a:tailEnd type="none" w="med" len="med"/>
            </a:ln>
          </p:spPr>
        </p:sp>
        <p:sp>
          <p:nvSpPr>
            <p:cNvPr id="28690" name="Line 50"/>
            <p:cNvSpPr/>
            <p:nvPr/>
          </p:nvSpPr>
          <p:spPr>
            <a:xfrm flipV="1">
              <a:off x="3475" y="2003"/>
              <a:ext cx="0" cy="718"/>
            </a:xfrm>
            <a:prstGeom prst="line">
              <a:avLst/>
            </a:prstGeom>
            <a:ln w="9525" cap="flat" cmpd="sng">
              <a:solidFill>
                <a:srgbClr val="FF0000"/>
              </a:solidFill>
              <a:prstDash val="solid"/>
              <a:headEnd type="stealth" w="sm" len="lg"/>
              <a:tailEnd type="stealth" w="sm" len="lg"/>
            </a:ln>
          </p:spPr>
        </p:sp>
        <p:grpSp>
          <p:nvGrpSpPr>
            <p:cNvPr id="28691" name="Group 51"/>
            <p:cNvGrpSpPr/>
            <p:nvPr/>
          </p:nvGrpSpPr>
          <p:grpSpPr>
            <a:xfrm>
              <a:off x="3158" y="2143"/>
              <a:ext cx="319" cy="424"/>
              <a:chOff x="618" y="2002"/>
              <a:chExt cx="319" cy="424"/>
            </a:xfrm>
          </p:grpSpPr>
          <p:sp>
            <p:nvSpPr>
              <p:cNvPr id="28692" name="Text Box 52"/>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28693" name="Text Box 53"/>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8694" name="Line 54"/>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82854"/>
                                        </p:tgtEl>
                                        <p:attrNameLst>
                                          <p:attrName>style.visibility</p:attrName>
                                        </p:attrNameLst>
                                      </p:cBhvr>
                                      <p:to>
                                        <p:strVal val="visible"/>
                                      </p:to>
                                    </p:set>
                                    <p:animEffect transition="in" filter="dissolve">
                                      <p:cBhvr>
                                        <p:cTn id="7" dur="500"/>
                                        <p:tgtEl>
                                          <p:spTgt spid="23828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2852">
                                            <p:txEl>
                                              <p:charRg st="0" end="20"/>
                                            </p:txEl>
                                          </p:spTgt>
                                        </p:tgtEl>
                                        <p:attrNameLst>
                                          <p:attrName>style.visibility</p:attrName>
                                        </p:attrNameLst>
                                      </p:cBhvr>
                                      <p:to>
                                        <p:strVal val="visible"/>
                                      </p:to>
                                    </p:set>
                                    <p:animEffect transition="in" filter="dissolve">
                                      <p:cBhvr>
                                        <p:cTn id="12" dur="500"/>
                                        <p:tgtEl>
                                          <p:spTgt spid="2382852">
                                            <p:txEl>
                                              <p:charRg st="0" end="2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82856"/>
                                        </p:tgtEl>
                                        <p:attrNameLst>
                                          <p:attrName>style.visibility</p:attrName>
                                        </p:attrNameLst>
                                      </p:cBhvr>
                                      <p:to>
                                        <p:strVal val="visible"/>
                                      </p:to>
                                    </p:set>
                                    <p:animEffect transition="in" filter="dissolve">
                                      <p:cBhvr>
                                        <p:cTn id="17" dur="500"/>
                                        <p:tgtEl>
                                          <p:spTgt spid="238285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82896"/>
                                        </p:tgtEl>
                                        <p:attrNameLst>
                                          <p:attrName>style.visibility</p:attrName>
                                        </p:attrNameLst>
                                      </p:cBhvr>
                                      <p:to>
                                        <p:strVal val="visible"/>
                                      </p:to>
                                    </p:set>
                                    <p:animEffect transition="in" filter="dissolve">
                                      <p:cBhvr>
                                        <p:cTn id="22" dur="500"/>
                                        <p:tgtEl>
                                          <p:spTgt spid="2382896"/>
                                        </p:tgtEl>
                                      </p:cBhvr>
                                    </p:animEffect>
                                  </p:childTnLst>
                                </p:cTn>
                              </p:par>
                              <p:par>
                                <p:cTn id="23" presetID="9" presetClass="entr" presetSubtype="0" fill="hold" nodeType="withEffect">
                                  <p:stCondLst>
                                    <p:cond delay="0"/>
                                  </p:stCondLst>
                                  <p:childTnLst>
                                    <p:set>
                                      <p:cBhvr>
                                        <p:cTn id="24" dur="1" fill="hold">
                                          <p:stCondLst>
                                            <p:cond delay="0"/>
                                          </p:stCondLst>
                                        </p:cTn>
                                        <p:tgtEl>
                                          <p:spTgt spid="26662"/>
                                        </p:tgtEl>
                                        <p:attrNameLst>
                                          <p:attrName>style.visibility</p:attrName>
                                        </p:attrNameLst>
                                      </p:cBhvr>
                                      <p:to>
                                        <p:strVal val="visible"/>
                                      </p:to>
                                    </p:set>
                                    <p:animEffect transition="in" filter="dissolve">
                                      <p:cBhvr>
                                        <p:cTn id="25" dur="500"/>
                                        <p:tgtEl>
                                          <p:spTgt spid="266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2852" grpId="0" build="p"/>
      <p:bldP spid="2382854" grpId="0" animBg="1"/>
      <p:bldP spid="2382856"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5859"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9699" name="Text Box 4"/>
          <p:cNvSpPr txBox="1"/>
          <p:nvPr/>
        </p:nvSpPr>
        <p:spPr>
          <a:xfrm>
            <a:off x="358775" y="2024063"/>
            <a:ext cx="6948488" cy="519112"/>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r>
              <a:rPr lang="en-US" altLang="zh-CN" sz="2800" dirty="0">
                <a:solidFill>
                  <a:srgbClr val="FF0000"/>
                </a:solidFill>
                <a:latin typeface="Times New Roman" panose="02020603050405020304" pitchFamily="18" charset="0"/>
              </a:rPr>
              <a:t>:</a:t>
            </a:r>
            <a:endParaRPr lang="en-US" altLang="zh-CN" sz="2800" dirty="0">
              <a:solidFill>
                <a:srgbClr val="FF0000"/>
              </a:solidFill>
              <a:latin typeface="Times New Roman" panose="02020603050405020304" pitchFamily="18" charset="0"/>
            </a:endParaRPr>
          </a:p>
        </p:txBody>
      </p:sp>
      <p:sp>
        <p:nvSpPr>
          <p:cNvPr id="29700" name="Text Box 5"/>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en-US" altLang="zh-CN" sz="2400" dirty="0">
                <a:latin typeface="黑体" panose="02010609060101010101" pitchFamily="49" charset="-122"/>
                <a:ea typeface="黑体" panose="02010609060101010101" pitchFamily="49" charset="-122"/>
              </a:rPr>
              <a:t>.</a:t>
            </a:r>
            <a:endParaRPr lang="en-US" altLang="zh-CN" sz="2400" dirty="0">
              <a:latin typeface="黑体" panose="02010609060101010101" pitchFamily="49" charset="-122"/>
              <a:ea typeface="黑体" panose="02010609060101010101" pitchFamily="49" charset="-122"/>
            </a:endParaRPr>
          </a:p>
        </p:txBody>
      </p:sp>
      <p:grpSp>
        <p:nvGrpSpPr>
          <p:cNvPr id="59431" name="Group 39"/>
          <p:cNvGrpSpPr/>
          <p:nvPr/>
        </p:nvGrpSpPr>
        <p:grpSpPr>
          <a:xfrm>
            <a:off x="4572000" y="2641600"/>
            <a:ext cx="4432300" cy="3487738"/>
            <a:chOff x="2880" y="1664"/>
            <a:chExt cx="2792" cy="2197"/>
          </a:xfrm>
        </p:grpSpPr>
        <p:sp>
          <p:nvSpPr>
            <p:cNvPr id="29706" name="Rectangle 2"/>
            <p:cNvSpPr/>
            <p:nvPr/>
          </p:nvSpPr>
          <p:spPr>
            <a:xfrm>
              <a:off x="2880" y="1664"/>
              <a:ext cx="2792" cy="2197"/>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9707" name="AutoShape 7"/>
            <p:cNvSpPr/>
            <p:nvPr/>
          </p:nvSpPr>
          <p:spPr>
            <a:xfrm>
              <a:off x="4425" y="1762"/>
              <a:ext cx="1038" cy="381"/>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9708" name="Line 8"/>
            <p:cNvSpPr/>
            <p:nvPr/>
          </p:nvSpPr>
          <p:spPr>
            <a:xfrm>
              <a:off x="3116" y="2721"/>
              <a:ext cx="2421" cy="0"/>
            </a:xfrm>
            <a:prstGeom prst="line">
              <a:avLst/>
            </a:prstGeom>
            <a:ln w="12700" cap="flat" cmpd="sng">
              <a:solidFill>
                <a:schemeClr val="accent2"/>
              </a:solidFill>
              <a:prstDash val="solid"/>
              <a:headEnd type="none" w="med" len="med"/>
              <a:tailEnd type="stealth" w="med" len="lg"/>
            </a:ln>
          </p:spPr>
        </p:sp>
        <p:sp>
          <p:nvSpPr>
            <p:cNvPr id="29709" name="Text Box 9"/>
            <p:cNvSpPr txBox="1"/>
            <p:nvPr/>
          </p:nvSpPr>
          <p:spPr>
            <a:xfrm>
              <a:off x="5512" y="2612"/>
              <a:ext cx="160"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29710" name="Line 10"/>
            <p:cNvSpPr/>
            <p:nvPr/>
          </p:nvSpPr>
          <p:spPr>
            <a:xfrm flipV="1">
              <a:off x="3116" y="1727"/>
              <a:ext cx="0" cy="994"/>
            </a:xfrm>
            <a:prstGeom prst="line">
              <a:avLst/>
            </a:prstGeom>
            <a:ln w="12700" cap="flat" cmpd="sng">
              <a:solidFill>
                <a:schemeClr val="accent2"/>
              </a:solidFill>
              <a:prstDash val="solid"/>
              <a:headEnd type="none" w="med" len="med"/>
              <a:tailEnd type="stealth" w="med" len="lg"/>
            </a:ln>
          </p:spPr>
        </p:sp>
        <p:sp>
          <p:nvSpPr>
            <p:cNvPr id="29711" name="Line 11"/>
            <p:cNvSpPr/>
            <p:nvPr/>
          </p:nvSpPr>
          <p:spPr>
            <a:xfrm>
              <a:off x="3433" y="2003"/>
              <a:ext cx="518" cy="0"/>
            </a:xfrm>
            <a:prstGeom prst="line">
              <a:avLst/>
            </a:prstGeom>
            <a:ln w="12700" cap="flat" cmpd="sng">
              <a:solidFill>
                <a:srgbClr val="FF0000"/>
              </a:solidFill>
              <a:prstDash val="dash"/>
              <a:headEnd type="none" w="med" len="med"/>
              <a:tailEnd type="none" w="med" len="med"/>
            </a:ln>
          </p:spPr>
        </p:sp>
        <p:sp>
          <p:nvSpPr>
            <p:cNvPr id="29712" name="Line 12"/>
            <p:cNvSpPr/>
            <p:nvPr/>
          </p:nvSpPr>
          <p:spPr>
            <a:xfrm flipV="1">
              <a:off x="3475" y="2003"/>
              <a:ext cx="0" cy="718"/>
            </a:xfrm>
            <a:prstGeom prst="line">
              <a:avLst/>
            </a:prstGeom>
            <a:ln w="9525" cap="flat" cmpd="sng">
              <a:solidFill>
                <a:srgbClr val="FF0000"/>
              </a:solidFill>
              <a:prstDash val="solid"/>
              <a:headEnd type="stealth" w="sm" len="lg"/>
              <a:tailEnd type="stealth" w="sm" len="lg"/>
            </a:ln>
          </p:spPr>
        </p:sp>
        <p:grpSp>
          <p:nvGrpSpPr>
            <p:cNvPr id="29713" name="Group 13"/>
            <p:cNvGrpSpPr/>
            <p:nvPr/>
          </p:nvGrpSpPr>
          <p:grpSpPr>
            <a:xfrm>
              <a:off x="3158" y="2143"/>
              <a:ext cx="319" cy="424"/>
              <a:chOff x="618" y="2002"/>
              <a:chExt cx="319" cy="424"/>
            </a:xfrm>
          </p:grpSpPr>
          <p:sp>
            <p:nvSpPr>
              <p:cNvPr id="29733" name="Text Box 14"/>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29734" name="Text Box 15"/>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9735" name="Line 16"/>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29714" name="Freeform 17"/>
            <p:cNvSpPr/>
            <p:nvPr/>
          </p:nvSpPr>
          <p:spPr>
            <a:xfrm>
              <a:off x="3316" y="2011"/>
              <a:ext cx="593" cy="1361"/>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29715" name="Freeform 18"/>
            <p:cNvSpPr/>
            <p:nvPr/>
          </p:nvSpPr>
          <p:spPr>
            <a:xfrm>
              <a:off x="3316" y="1996"/>
              <a:ext cx="1937" cy="1451"/>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29716" name="Line 19"/>
            <p:cNvSpPr/>
            <p:nvPr/>
          </p:nvSpPr>
          <p:spPr>
            <a:xfrm>
              <a:off x="3567" y="2721"/>
              <a:ext cx="0" cy="751"/>
            </a:xfrm>
            <a:prstGeom prst="line">
              <a:avLst/>
            </a:prstGeom>
            <a:ln w="12700" cap="flat" cmpd="sng">
              <a:solidFill>
                <a:srgbClr val="FF0000"/>
              </a:solidFill>
              <a:prstDash val="dash"/>
              <a:headEnd type="none" w="med" len="med"/>
              <a:tailEnd type="none" w="med" len="med"/>
            </a:ln>
          </p:spPr>
        </p:sp>
        <p:sp>
          <p:nvSpPr>
            <p:cNvPr id="29717" name="Line 20"/>
            <p:cNvSpPr/>
            <p:nvPr/>
          </p:nvSpPr>
          <p:spPr>
            <a:xfrm>
              <a:off x="3692" y="2278"/>
              <a:ext cx="0" cy="1202"/>
            </a:xfrm>
            <a:prstGeom prst="line">
              <a:avLst/>
            </a:prstGeom>
            <a:ln w="12700" cap="flat" cmpd="sng">
              <a:solidFill>
                <a:srgbClr val="FF0000"/>
              </a:solidFill>
              <a:prstDash val="dash"/>
              <a:headEnd type="none" w="med" len="med"/>
              <a:tailEnd type="none" w="med" len="med"/>
            </a:ln>
          </p:spPr>
        </p:sp>
        <p:sp>
          <p:nvSpPr>
            <p:cNvPr id="29718" name="Line 21"/>
            <p:cNvSpPr/>
            <p:nvPr/>
          </p:nvSpPr>
          <p:spPr>
            <a:xfrm>
              <a:off x="3375" y="3430"/>
              <a:ext cx="192" cy="0"/>
            </a:xfrm>
            <a:prstGeom prst="line">
              <a:avLst/>
            </a:prstGeom>
            <a:ln w="9525" cap="flat" cmpd="sng">
              <a:solidFill>
                <a:srgbClr val="FF0000"/>
              </a:solidFill>
              <a:prstDash val="solid"/>
              <a:headEnd type="none" w="med" len="med"/>
              <a:tailEnd type="stealth" w="sm" len="lg"/>
            </a:ln>
          </p:spPr>
        </p:sp>
        <p:sp>
          <p:nvSpPr>
            <p:cNvPr id="29719" name="Line 22"/>
            <p:cNvSpPr/>
            <p:nvPr/>
          </p:nvSpPr>
          <p:spPr>
            <a:xfrm flipH="1">
              <a:off x="3692" y="3430"/>
              <a:ext cx="234" cy="0"/>
            </a:xfrm>
            <a:prstGeom prst="line">
              <a:avLst/>
            </a:prstGeom>
            <a:ln w="9525" cap="flat" cmpd="sng">
              <a:solidFill>
                <a:srgbClr val="FF0000"/>
              </a:solidFill>
              <a:prstDash val="solid"/>
              <a:headEnd type="none" w="med" len="med"/>
              <a:tailEnd type="stealth" w="sm" len="lg"/>
            </a:ln>
          </p:spPr>
        </p:sp>
        <p:sp>
          <p:nvSpPr>
            <p:cNvPr id="29720" name="Text Box 23"/>
            <p:cNvSpPr txBox="1"/>
            <p:nvPr/>
          </p:nvSpPr>
          <p:spPr>
            <a:xfrm>
              <a:off x="3702" y="3262"/>
              <a:ext cx="431" cy="19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t</a:t>
              </a:r>
              <a:endParaRPr lang="en-US" altLang="zh-CN" sz="1600" i="1" dirty="0">
                <a:latin typeface="Times New Roman" panose="02020603050405020304" pitchFamily="18" charset="0"/>
              </a:endParaRPr>
            </a:p>
          </p:txBody>
        </p:sp>
        <p:sp>
          <p:nvSpPr>
            <p:cNvPr id="29721" name="Line 24"/>
            <p:cNvSpPr/>
            <p:nvPr/>
          </p:nvSpPr>
          <p:spPr>
            <a:xfrm>
              <a:off x="3692" y="2278"/>
              <a:ext cx="275" cy="0"/>
            </a:xfrm>
            <a:prstGeom prst="line">
              <a:avLst/>
            </a:prstGeom>
            <a:ln w="12700" cap="flat" cmpd="sng">
              <a:solidFill>
                <a:srgbClr val="FF0000"/>
              </a:solidFill>
              <a:prstDash val="dash"/>
              <a:headEnd type="none" w="med" len="med"/>
              <a:tailEnd type="none" w="med" len="med"/>
            </a:ln>
          </p:spPr>
        </p:sp>
        <p:sp>
          <p:nvSpPr>
            <p:cNvPr id="29722" name="Line 25"/>
            <p:cNvSpPr/>
            <p:nvPr/>
          </p:nvSpPr>
          <p:spPr>
            <a:xfrm>
              <a:off x="3884" y="2278"/>
              <a:ext cx="0" cy="443"/>
            </a:xfrm>
            <a:prstGeom prst="line">
              <a:avLst/>
            </a:prstGeom>
            <a:ln w="9525" cap="flat" cmpd="sng">
              <a:solidFill>
                <a:srgbClr val="FF0000"/>
              </a:solidFill>
              <a:prstDash val="solid"/>
              <a:headEnd type="stealth" w="sm" len="lg"/>
              <a:tailEnd type="stealth" w="sm" len="lg"/>
            </a:ln>
          </p:spPr>
        </p:sp>
        <p:sp>
          <p:nvSpPr>
            <p:cNvPr id="29723" name="Text Box 26"/>
            <p:cNvSpPr txBox="1"/>
            <p:nvPr/>
          </p:nvSpPr>
          <p:spPr>
            <a:xfrm>
              <a:off x="3822" y="2389"/>
              <a:ext cx="447" cy="19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U</a:t>
              </a:r>
              <a:endParaRPr lang="en-US" altLang="zh-CN" sz="1600" i="1" dirty="0">
                <a:latin typeface="Times New Roman" panose="02020603050405020304" pitchFamily="18" charset="0"/>
              </a:endParaRPr>
            </a:p>
          </p:txBody>
        </p:sp>
        <p:sp>
          <p:nvSpPr>
            <p:cNvPr id="29724" name="Text Box 27"/>
            <p:cNvSpPr txBox="1"/>
            <p:nvPr/>
          </p:nvSpPr>
          <p:spPr>
            <a:xfrm>
              <a:off x="2880" y="1664"/>
              <a:ext cx="232"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29725" name="Text Box 28"/>
            <p:cNvSpPr txBox="1"/>
            <p:nvPr/>
          </p:nvSpPr>
          <p:spPr>
            <a:xfrm>
              <a:off x="3221" y="3596"/>
              <a:ext cx="2046" cy="265"/>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正弦信号的最大变化率</a:t>
              </a:r>
              <a:endParaRPr lang="zh-CN" altLang="en-US" sz="2400" dirty="0">
                <a:solidFill>
                  <a:srgbClr val="000099"/>
                </a:solidFill>
                <a:latin typeface="Times New Roman" panose="02020603050405020304" pitchFamily="18" charset="0"/>
              </a:endParaRPr>
            </a:p>
          </p:txBody>
        </p:sp>
        <p:grpSp>
          <p:nvGrpSpPr>
            <p:cNvPr id="29726" name="Group 29"/>
            <p:cNvGrpSpPr/>
            <p:nvPr/>
          </p:nvGrpSpPr>
          <p:grpSpPr>
            <a:xfrm>
              <a:off x="4394" y="1742"/>
              <a:ext cx="1085" cy="424"/>
              <a:chOff x="618" y="2097"/>
              <a:chExt cx="1085" cy="424"/>
            </a:xfrm>
          </p:grpSpPr>
          <p:sp>
            <p:nvSpPr>
              <p:cNvPr id="29727" name="Text Box 30"/>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29728" name="Group 31"/>
              <p:cNvGrpSpPr/>
              <p:nvPr/>
            </p:nvGrpSpPr>
            <p:grpSpPr>
              <a:xfrm>
                <a:off x="933" y="2097"/>
                <a:ext cx="319" cy="424"/>
                <a:chOff x="618" y="2002"/>
                <a:chExt cx="319" cy="424"/>
              </a:xfrm>
            </p:grpSpPr>
            <p:sp>
              <p:nvSpPr>
                <p:cNvPr id="29730" name="Text Box 32"/>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29731" name="Text Box 33"/>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9732" name="Line 34"/>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29729" name="Text Box 35"/>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grpSp>
      <p:sp>
        <p:nvSpPr>
          <p:cNvPr id="2425902" name="Rectangle 46"/>
          <p:cNvSpPr/>
          <p:nvPr/>
        </p:nvSpPr>
        <p:spPr>
          <a:xfrm>
            <a:off x="358775" y="2528888"/>
            <a:ext cx="4033838" cy="749300"/>
          </a:xfrm>
          <a:prstGeom prst="rect">
            <a:avLst/>
          </a:prstGeom>
          <a:noFill/>
          <a:ln w="9525">
            <a:noFill/>
          </a:ln>
        </p:spPr>
        <p:txBody>
          <a:bodyPr>
            <a:spAutoFit/>
          </a:bodyPr>
          <a:p>
            <a:pPr eaLnBrk="1" hangingPunct="1">
              <a:lnSpc>
                <a:spcPct val="90000"/>
              </a:lnSpc>
            </a:pPr>
            <a:r>
              <a:rPr lang="zh-CN" altLang="en-US" sz="2400" dirty="0">
                <a:latin typeface="Times New Roman" panose="02020603050405020304" pitchFamily="18" charset="0"/>
              </a:rPr>
              <a:t>模拟信号电压的最大变化率发生在正弦信号过零时：</a:t>
            </a:r>
            <a:endParaRPr lang="zh-CN" altLang="en-US" sz="2400" dirty="0">
              <a:latin typeface="Times New Roman" panose="02020603050405020304" pitchFamily="18" charset="0"/>
            </a:endParaRPr>
          </a:p>
        </p:txBody>
      </p:sp>
      <p:graphicFrame>
        <p:nvGraphicFramePr>
          <p:cNvPr id="2425903" name="Object 47"/>
          <p:cNvGraphicFramePr>
            <a:graphicFrameLocks noChangeAspect="1"/>
          </p:cNvGraphicFramePr>
          <p:nvPr/>
        </p:nvGraphicFramePr>
        <p:xfrm>
          <a:off x="450850" y="3286125"/>
          <a:ext cx="3725863" cy="815975"/>
        </p:xfrm>
        <a:graphic>
          <a:graphicData uri="http://schemas.openxmlformats.org/presentationml/2006/ole">
            <mc:AlternateContent xmlns:mc="http://schemas.openxmlformats.org/markup-compatibility/2006">
              <mc:Choice xmlns:v="urn:schemas-microsoft-com:vml" Requires="v">
                <p:oleObj spid="_x0000_s3079" name="" r:id="rId1" imgW="1866900" imgH="431800" progId="Equation.3">
                  <p:embed/>
                </p:oleObj>
              </mc:Choice>
              <mc:Fallback>
                <p:oleObj name="" r:id="rId1" imgW="1866900" imgH="431800" progId="Equation.3">
                  <p:embed/>
                  <p:pic>
                    <p:nvPicPr>
                      <p:cNvPr id="0" name="图片 3078"/>
                      <p:cNvPicPr/>
                      <p:nvPr/>
                    </p:nvPicPr>
                    <p:blipFill>
                      <a:blip r:embed="rId2"/>
                      <a:stretch>
                        <a:fillRect/>
                      </a:stretch>
                    </p:blipFill>
                    <p:spPr>
                      <a:xfrm>
                        <a:off x="450850" y="3286125"/>
                        <a:ext cx="3725863" cy="815975"/>
                      </a:xfrm>
                      <a:prstGeom prst="rect">
                        <a:avLst/>
                      </a:prstGeom>
                      <a:solidFill>
                        <a:srgbClr val="CCFFFF"/>
                      </a:solidFill>
                      <a:ln w="38100">
                        <a:noFill/>
                        <a:miter/>
                      </a:ln>
                    </p:spPr>
                  </p:pic>
                </p:oleObj>
              </mc:Fallback>
            </mc:AlternateContent>
          </a:graphicData>
        </a:graphic>
      </p:graphicFrame>
      <p:sp>
        <p:nvSpPr>
          <p:cNvPr id="2425904" name="Text Box 48"/>
          <p:cNvSpPr txBox="1"/>
          <p:nvPr/>
        </p:nvSpPr>
        <p:spPr>
          <a:xfrm>
            <a:off x="358775" y="4113213"/>
            <a:ext cx="3565525" cy="1187450"/>
          </a:xfrm>
          <a:prstGeom prst="rect">
            <a:avLst/>
          </a:prstGeom>
          <a:noFill/>
          <a:ln w="9525">
            <a:noFill/>
          </a:ln>
        </p:spPr>
        <p:txBody>
          <a:bodyPr>
            <a:spAutoFit/>
          </a:bodyPr>
          <a:p>
            <a:pPr eaLnBrk="1" hangingPunct="1">
              <a:buNone/>
            </a:pPr>
            <a:r>
              <a:rPr lang="zh-CN" altLang="en-US" sz="2400" dirty="0">
                <a:latin typeface="Times New Roman" panose="02020603050405020304" pitchFamily="18" charset="0"/>
              </a:rPr>
              <a:t>由于在正弦信号过零时</a:t>
            </a:r>
            <a:r>
              <a:rPr lang="zh-CN" altLang="en-US" sz="2400" dirty="0">
                <a:latin typeface="Times New Roman" panose="02020603050405020304" pitchFamily="18" charset="0"/>
                <a:ea typeface="宋体" panose="02010600030101010101" pitchFamily="2" charset="-122"/>
              </a:rPr>
              <a:t>，</a:t>
            </a:r>
            <a:r>
              <a:rPr lang="en-US" altLang="zh-CN" sz="2400" i="1" dirty="0">
                <a:solidFill>
                  <a:srgbClr val="CC00CC"/>
                </a:solidFill>
                <a:latin typeface="Times New Roman" panose="02020603050405020304" pitchFamily="18" charset="0"/>
                <a:ea typeface="宋体" panose="02010600030101010101" pitchFamily="2" charset="-122"/>
              </a:rPr>
              <a:t>ωt</a:t>
            </a:r>
            <a:r>
              <a:rPr lang="en-US" altLang="zh-CN" sz="2400" dirty="0">
                <a:solidFill>
                  <a:srgbClr val="CC00CC"/>
                </a:solidFill>
                <a:latin typeface="Times New Roman" panose="02020603050405020304" pitchFamily="18" charset="0"/>
                <a:ea typeface="宋体" panose="02010600030101010101" pitchFamily="2" charset="-122"/>
              </a:rPr>
              <a:t> = ±</a:t>
            </a:r>
            <a:r>
              <a:rPr lang="en-US" altLang="zh-CN" sz="2400" i="1" dirty="0">
                <a:solidFill>
                  <a:srgbClr val="CC00CC"/>
                </a:solidFill>
                <a:latin typeface="Times New Roman" panose="02020603050405020304" pitchFamily="18" charset="0"/>
                <a:ea typeface="宋体" panose="02010600030101010101" pitchFamily="2" charset="-122"/>
              </a:rPr>
              <a:t>n</a:t>
            </a:r>
            <a:r>
              <a:rPr lang="en-US" altLang="zh-CN" sz="2400" dirty="0">
                <a:solidFill>
                  <a:srgbClr val="CC00CC"/>
                </a:solidFill>
                <a:latin typeface="Times New Roman" panose="02020603050405020304" pitchFamily="18" charset="0"/>
                <a:ea typeface="宋体" panose="02010600030101010101" pitchFamily="2" charset="-122"/>
              </a:rPr>
              <a:t>π</a:t>
            </a:r>
            <a:r>
              <a:rPr lang="zh-CN" altLang="en-US" sz="2400" dirty="0">
                <a:latin typeface="Times New Roman" panose="02020603050405020304" pitchFamily="18" charset="0"/>
                <a:ea typeface="宋体" panose="02010600030101010101" pitchFamily="2" charset="-122"/>
              </a:rPr>
              <a:t>，</a:t>
            </a:r>
            <a:r>
              <a:rPr lang="en-US" altLang="zh-CN" sz="2400" dirty="0">
                <a:solidFill>
                  <a:srgbClr val="CC00CC"/>
                </a:solidFill>
                <a:latin typeface="Times New Roman" panose="02020603050405020304" pitchFamily="18" charset="0"/>
                <a:ea typeface="宋体" panose="02010600030101010101" pitchFamily="2" charset="-122"/>
              </a:rPr>
              <a:t>|cos(±</a:t>
            </a:r>
            <a:r>
              <a:rPr lang="en-US" altLang="zh-CN" sz="2400" i="1" dirty="0">
                <a:solidFill>
                  <a:srgbClr val="CC00CC"/>
                </a:solidFill>
                <a:latin typeface="Times New Roman" panose="02020603050405020304" pitchFamily="18" charset="0"/>
                <a:ea typeface="宋体" panose="02010600030101010101" pitchFamily="2" charset="-122"/>
              </a:rPr>
              <a:t>n</a:t>
            </a:r>
            <a:r>
              <a:rPr lang="en-US" altLang="zh-CN" sz="2400" dirty="0">
                <a:solidFill>
                  <a:srgbClr val="CC00CC"/>
                </a:solidFill>
                <a:latin typeface="Times New Roman" panose="02020603050405020304" pitchFamily="18" charset="0"/>
                <a:ea typeface="宋体" panose="02010600030101010101" pitchFamily="2" charset="-122"/>
              </a:rPr>
              <a:t>π)| =1</a:t>
            </a:r>
            <a:r>
              <a:rPr lang="zh-CN" altLang="en-US"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rPr>
              <a:t>所以：</a:t>
            </a:r>
            <a:endParaRPr lang="zh-CN" altLang="en-US" sz="2400" dirty="0">
              <a:latin typeface="Times New Roman" panose="02020603050405020304" pitchFamily="18" charset="0"/>
            </a:endParaRPr>
          </a:p>
        </p:txBody>
      </p:sp>
      <p:graphicFrame>
        <p:nvGraphicFramePr>
          <p:cNvPr id="2425905" name="Object 49"/>
          <p:cNvGraphicFramePr>
            <a:graphicFrameLocks noChangeAspect="1"/>
          </p:cNvGraphicFramePr>
          <p:nvPr/>
        </p:nvGraphicFramePr>
        <p:xfrm>
          <a:off x="536575" y="5265738"/>
          <a:ext cx="3554413" cy="857250"/>
        </p:xfrm>
        <a:graphic>
          <a:graphicData uri="http://schemas.openxmlformats.org/presentationml/2006/ole">
            <mc:AlternateContent xmlns:mc="http://schemas.openxmlformats.org/markup-compatibility/2006">
              <mc:Choice xmlns:v="urn:schemas-microsoft-com:vml" Requires="v">
                <p:oleObj spid="_x0000_s3080" name="" r:id="rId3" imgW="1841500" imgH="431800" progId="Equation.3">
                  <p:embed/>
                </p:oleObj>
              </mc:Choice>
              <mc:Fallback>
                <p:oleObj name="" r:id="rId3" imgW="1841500" imgH="431800" progId="Equation.3">
                  <p:embed/>
                  <p:pic>
                    <p:nvPicPr>
                      <p:cNvPr id="0" name="图片 3079"/>
                      <p:cNvPicPr/>
                      <p:nvPr/>
                    </p:nvPicPr>
                    <p:blipFill>
                      <a:blip r:embed="rId4"/>
                      <a:stretch>
                        <a:fillRect/>
                      </a:stretch>
                    </p:blipFill>
                    <p:spPr>
                      <a:xfrm>
                        <a:off x="536575" y="5265738"/>
                        <a:ext cx="3554413" cy="857250"/>
                      </a:xfrm>
                      <a:prstGeom prst="rect">
                        <a:avLst/>
                      </a:prstGeom>
                      <a:solidFill>
                        <a:srgbClr val="CCFFFF"/>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9431"/>
                                        </p:tgtEl>
                                        <p:attrNameLst>
                                          <p:attrName>style.visibility</p:attrName>
                                        </p:attrNameLst>
                                      </p:cBhvr>
                                      <p:to>
                                        <p:strVal val="visible"/>
                                      </p:to>
                                    </p:set>
                                    <p:animEffect transition="in" filter="dissolve">
                                      <p:cBhvr>
                                        <p:cTn id="7" dur="500"/>
                                        <p:tgtEl>
                                          <p:spTgt spid="5943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5902"/>
                                        </p:tgtEl>
                                        <p:attrNameLst>
                                          <p:attrName>style.visibility</p:attrName>
                                        </p:attrNameLst>
                                      </p:cBhvr>
                                      <p:to>
                                        <p:strVal val="visible"/>
                                      </p:to>
                                    </p:set>
                                    <p:animEffect transition="in" filter="dissolve">
                                      <p:cBhvr>
                                        <p:cTn id="12" dur="500"/>
                                        <p:tgtEl>
                                          <p:spTgt spid="24259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5903"/>
                                        </p:tgtEl>
                                        <p:attrNameLst>
                                          <p:attrName>style.visibility</p:attrName>
                                        </p:attrNameLst>
                                      </p:cBhvr>
                                      <p:to>
                                        <p:strVal val="visible"/>
                                      </p:to>
                                    </p:set>
                                    <p:animEffect transition="in" filter="dissolve">
                                      <p:cBhvr>
                                        <p:cTn id="17" dur="500"/>
                                        <p:tgtEl>
                                          <p:spTgt spid="242590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25904">
                                            <p:txEl>
                                              <p:charRg st="0" end="38"/>
                                            </p:txEl>
                                          </p:spTgt>
                                        </p:tgtEl>
                                        <p:attrNameLst>
                                          <p:attrName>style.visibility</p:attrName>
                                        </p:attrNameLst>
                                      </p:cBhvr>
                                      <p:to>
                                        <p:strVal val="visible"/>
                                      </p:to>
                                    </p:set>
                                    <p:animEffect transition="in" filter="dissolve">
                                      <p:cBhvr>
                                        <p:cTn id="22" dur="500"/>
                                        <p:tgtEl>
                                          <p:spTgt spid="2425904">
                                            <p:txEl>
                                              <p:charRg st="0" end="38"/>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25905"/>
                                        </p:tgtEl>
                                        <p:attrNameLst>
                                          <p:attrName>style.visibility</p:attrName>
                                        </p:attrNameLst>
                                      </p:cBhvr>
                                      <p:to>
                                        <p:strVal val="visible"/>
                                      </p:to>
                                    </p:set>
                                    <p:animEffect transition="in" filter="dissolve">
                                      <p:cBhvr>
                                        <p:cTn id="27" dur="500"/>
                                        <p:tgtEl>
                                          <p:spTgt spid="24259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5902" grpId="0"/>
      <p:bldP spid="2425904" grpId="0" build="p"/>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722" name="Rectangle 2"/>
          <p:cNvSpPr/>
          <p:nvPr/>
        </p:nvSpPr>
        <p:spPr>
          <a:xfrm>
            <a:off x="4572000" y="2641600"/>
            <a:ext cx="4432300" cy="348773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7907"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0724" name="Text Box 4"/>
          <p:cNvSpPr txBox="1"/>
          <p:nvPr/>
        </p:nvSpPr>
        <p:spPr>
          <a:xfrm>
            <a:off x="358775" y="2024063"/>
            <a:ext cx="6948488" cy="519112"/>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r>
              <a:rPr lang="en-US" altLang="zh-CN" sz="2800" dirty="0">
                <a:solidFill>
                  <a:srgbClr val="FF0000"/>
                </a:solidFill>
                <a:latin typeface="Times New Roman" panose="02020603050405020304" pitchFamily="18" charset="0"/>
              </a:rPr>
              <a:t>:</a:t>
            </a:r>
            <a:endParaRPr lang="en-US" altLang="zh-CN" sz="2800" dirty="0">
              <a:solidFill>
                <a:srgbClr val="FF0000"/>
              </a:solidFill>
              <a:latin typeface="Times New Roman" panose="02020603050405020304" pitchFamily="18" charset="0"/>
            </a:endParaRPr>
          </a:p>
        </p:txBody>
      </p:sp>
      <p:sp>
        <p:nvSpPr>
          <p:cNvPr id="30725" name="Text Box 5"/>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en-US" altLang="zh-CN" sz="2400" dirty="0">
                <a:latin typeface="黑体" panose="02010609060101010101" pitchFamily="49" charset="-122"/>
                <a:ea typeface="黑体" panose="02010609060101010101" pitchFamily="49" charset="-122"/>
              </a:rPr>
              <a:t>.</a:t>
            </a:r>
            <a:endParaRPr lang="en-US" altLang="zh-CN" sz="2400" dirty="0">
              <a:latin typeface="黑体" panose="02010609060101010101" pitchFamily="49" charset="-122"/>
              <a:ea typeface="黑体" panose="02010609060101010101" pitchFamily="49" charset="-122"/>
            </a:endParaRPr>
          </a:p>
        </p:txBody>
      </p:sp>
      <p:sp>
        <p:nvSpPr>
          <p:cNvPr id="30726" name="AutoShape 6"/>
          <p:cNvSpPr/>
          <p:nvPr/>
        </p:nvSpPr>
        <p:spPr>
          <a:xfrm>
            <a:off x="7024688" y="2797175"/>
            <a:ext cx="1647825" cy="604838"/>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0727" name="Line 7"/>
          <p:cNvSpPr/>
          <p:nvPr/>
        </p:nvSpPr>
        <p:spPr>
          <a:xfrm>
            <a:off x="4946650" y="4319588"/>
            <a:ext cx="3843338" cy="0"/>
          </a:xfrm>
          <a:prstGeom prst="line">
            <a:avLst/>
          </a:prstGeom>
          <a:ln w="12700" cap="flat" cmpd="sng">
            <a:solidFill>
              <a:schemeClr val="accent2"/>
            </a:solidFill>
            <a:prstDash val="solid"/>
            <a:headEnd type="none" w="med" len="med"/>
            <a:tailEnd type="stealth" w="med" len="lg"/>
          </a:ln>
        </p:spPr>
      </p:sp>
      <p:sp>
        <p:nvSpPr>
          <p:cNvPr id="30728" name="Text Box 8"/>
          <p:cNvSpPr txBox="1"/>
          <p:nvPr/>
        </p:nvSpPr>
        <p:spPr>
          <a:xfrm>
            <a:off x="8750300" y="4146550"/>
            <a:ext cx="2540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30729" name="Line 9"/>
          <p:cNvSpPr/>
          <p:nvPr/>
        </p:nvSpPr>
        <p:spPr>
          <a:xfrm flipV="1">
            <a:off x="4946650" y="2741613"/>
            <a:ext cx="0" cy="1577975"/>
          </a:xfrm>
          <a:prstGeom prst="line">
            <a:avLst/>
          </a:prstGeom>
          <a:ln w="12700" cap="flat" cmpd="sng">
            <a:solidFill>
              <a:schemeClr val="accent2"/>
            </a:solidFill>
            <a:prstDash val="solid"/>
            <a:headEnd type="none" w="med" len="med"/>
            <a:tailEnd type="stealth" w="med" len="lg"/>
          </a:ln>
        </p:spPr>
      </p:sp>
      <p:sp>
        <p:nvSpPr>
          <p:cNvPr id="30730" name="Line 10"/>
          <p:cNvSpPr/>
          <p:nvPr/>
        </p:nvSpPr>
        <p:spPr>
          <a:xfrm>
            <a:off x="5449888" y="3179763"/>
            <a:ext cx="822325" cy="0"/>
          </a:xfrm>
          <a:prstGeom prst="line">
            <a:avLst/>
          </a:prstGeom>
          <a:ln w="12700" cap="flat" cmpd="sng">
            <a:solidFill>
              <a:srgbClr val="FF0000"/>
            </a:solidFill>
            <a:prstDash val="dash"/>
            <a:headEnd type="none" w="med" len="med"/>
            <a:tailEnd type="none" w="med" len="med"/>
          </a:ln>
        </p:spPr>
      </p:sp>
      <p:sp>
        <p:nvSpPr>
          <p:cNvPr id="30731" name="Line 11"/>
          <p:cNvSpPr/>
          <p:nvPr/>
        </p:nvSpPr>
        <p:spPr>
          <a:xfrm flipV="1">
            <a:off x="5516563" y="3179763"/>
            <a:ext cx="0" cy="1139825"/>
          </a:xfrm>
          <a:prstGeom prst="line">
            <a:avLst/>
          </a:prstGeom>
          <a:ln w="9525" cap="flat" cmpd="sng">
            <a:solidFill>
              <a:srgbClr val="FF0000"/>
            </a:solidFill>
            <a:prstDash val="solid"/>
            <a:headEnd type="stealth" w="sm" len="lg"/>
            <a:tailEnd type="stealth" w="sm" len="lg"/>
          </a:ln>
        </p:spPr>
      </p:sp>
      <p:grpSp>
        <p:nvGrpSpPr>
          <p:cNvPr id="30732" name="Group 12"/>
          <p:cNvGrpSpPr/>
          <p:nvPr/>
        </p:nvGrpSpPr>
        <p:grpSpPr>
          <a:xfrm>
            <a:off x="5013325" y="3402013"/>
            <a:ext cx="506413" cy="673100"/>
            <a:chOff x="618" y="2002"/>
            <a:chExt cx="319" cy="424"/>
          </a:xfrm>
        </p:grpSpPr>
        <p:sp>
          <p:nvSpPr>
            <p:cNvPr id="30756" name="Text Box 1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0757" name="Text Box 1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0758" name="Line 15"/>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0733" name="Freeform 16"/>
          <p:cNvSpPr/>
          <p:nvPr/>
        </p:nvSpPr>
        <p:spPr>
          <a:xfrm>
            <a:off x="5264150" y="3192463"/>
            <a:ext cx="941388" cy="2160587"/>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30734" name="Freeform 17"/>
          <p:cNvSpPr/>
          <p:nvPr/>
        </p:nvSpPr>
        <p:spPr>
          <a:xfrm>
            <a:off x="5264150" y="3168650"/>
            <a:ext cx="3074988" cy="2303463"/>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30735" name="Line 18"/>
          <p:cNvSpPr/>
          <p:nvPr/>
        </p:nvSpPr>
        <p:spPr>
          <a:xfrm>
            <a:off x="5662613" y="4319588"/>
            <a:ext cx="0" cy="1192212"/>
          </a:xfrm>
          <a:prstGeom prst="line">
            <a:avLst/>
          </a:prstGeom>
          <a:ln w="12700" cap="flat" cmpd="sng">
            <a:solidFill>
              <a:srgbClr val="FF0000"/>
            </a:solidFill>
            <a:prstDash val="dash"/>
            <a:headEnd type="none" w="med" len="med"/>
            <a:tailEnd type="none" w="med" len="med"/>
          </a:ln>
        </p:spPr>
      </p:sp>
      <p:sp>
        <p:nvSpPr>
          <p:cNvPr id="30736" name="Line 19"/>
          <p:cNvSpPr/>
          <p:nvPr/>
        </p:nvSpPr>
        <p:spPr>
          <a:xfrm>
            <a:off x="5861050" y="3616325"/>
            <a:ext cx="0" cy="1908175"/>
          </a:xfrm>
          <a:prstGeom prst="line">
            <a:avLst/>
          </a:prstGeom>
          <a:ln w="12700" cap="flat" cmpd="sng">
            <a:solidFill>
              <a:srgbClr val="FF0000"/>
            </a:solidFill>
            <a:prstDash val="dash"/>
            <a:headEnd type="none" w="med" len="med"/>
            <a:tailEnd type="none" w="med" len="med"/>
          </a:ln>
        </p:spPr>
      </p:sp>
      <p:sp>
        <p:nvSpPr>
          <p:cNvPr id="30737" name="Line 20"/>
          <p:cNvSpPr/>
          <p:nvPr/>
        </p:nvSpPr>
        <p:spPr>
          <a:xfrm>
            <a:off x="5357813" y="5445125"/>
            <a:ext cx="304800" cy="0"/>
          </a:xfrm>
          <a:prstGeom prst="line">
            <a:avLst/>
          </a:prstGeom>
          <a:ln w="9525" cap="flat" cmpd="sng">
            <a:solidFill>
              <a:srgbClr val="FF0000"/>
            </a:solidFill>
            <a:prstDash val="solid"/>
            <a:headEnd type="none" w="med" len="med"/>
            <a:tailEnd type="stealth" w="sm" len="lg"/>
          </a:ln>
        </p:spPr>
      </p:sp>
      <p:sp>
        <p:nvSpPr>
          <p:cNvPr id="30738" name="Line 21"/>
          <p:cNvSpPr/>
          <p:nvPr/>
        </p:nvSpPr>
        <p:spPr>
          <a:xfrm flipH="1">
            <a:off x="5861050" y="5445125"/>
            <a:ext cx="371475" cy="0"/>
          </a:xfrm>
          <a:prstGeom prst="line">
            <a:avLst/>
          </a:prstGeom>
          <a:ln w="9525" cap="flat" cmpd="sng">
            <a:solidFill>
              <a:srgbClr val="FF0000"/>
            </a:solidFill>
            <a:prstDash val="solid"/>
            <a:headEnd type="none" w="med" len="med"/>
            <a:tailEnd type="stealth" w="sm" len="lg"/>
          </a:ln>
        </p:spPr>
      </p:sp>
      <p:sp>
        <p:nvSpPr>
          <p:cNvPr id="30739" name="Text Box 22"/>
          <p:cNvSpPr txBox="1"/>
          <p:nvPr/>
        </p:nvSpPr>
        <p:spPr>
          <a:xfrm>
            <a:off x="5876925" y="5178425"/>
            <a:ext cx="684213" cy="312738"/>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t</a:t>
            </a:r>
            <a:endParaRPr lang="en-US" altLang="zh-CN" sz="1600" i="1" dirty="0">
              <a:latin typeface="Times New Roman" panose="02020603050405020304" pitchFamily="18" charset="0"/>
            </a:endParaRPr>
          </a:p>
        </p:txBody>
      </p:sp>
      <p:sp>
        <p:nvSpPr>
          <p:cNvPr id="30740" name="Line 23"/>
          <p:cNvSpPr/>
          <p:nvPr/>
        </p:nvSpPr>
        <p:spPr>
          <a:xfrm>
            <a:off x="5861050" y="3616325"/>
            <a:ext cx="436563" cy="0"/>
          </a:xfrm>
          <a:prstGeom prst="line">
            <a:avLst/>
          </a:prstGeom>
          <a:ln w="12700" cap="flat" cmpd="sng">
            <a:solidFill>
              <a:srgbClr val="FF0000"/>
            </a:solidFill>
            <a:prstDash val="dash"/>
            <a:headEnd type="none" w="med" len="med"/>
            <a:tailEnd type="none" w="med" len="med"/>
          </a:ln>
        </p:spPr>
      </p:sp>
      <p:sp>
        <p:nvSpPr>
          <p:cNvPr id="30741" name="Line 24"/>
          <p:cNvSpPr/>
          <p:nvPr/>
        </p:nvSpPr>
        <p:spPr>
          <a:xfrm>
            <a:off x="6165850" y="3616325"/>
            <a:ext cx="0" cy="703263"/>
          </a:xfrm>
          <a:prstGeom prst="line">
            <a:avLst/>
          </a:prstGeom>
          <a:ln w="9525" cap="flat" cmpd="sng">
            <a:solidFill>
              <a:srgbClr val="FF0000"/>
            </a:solidFill>
            <a:prstDash val="solid"/>
            <a:headEnd type="stealth" w="sm" len="lg"/>
            <a:tailEnd type="stealth" w="sm" len="lg"/>
          </a:ln>
        </p:spPr>
      </p:sp>
      <p:sp>
        <p:nvSpPr>
          <p:cNvPr id="30742" name="Text Box 25"/>
          <p:cNvSpPr txBox="1"/>
          <p:nvPr/>
        </p:nvSpPr>
        <p:spPr>
          <a:xfrm>
            <a:off x="6067425" y="3792538"/>
            <a:ext cx="709613" cy="31273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U</a:t>
            </a:r>
            <a:endParaRPr lang="en-US" altLang="zh-CN" sz="1600" i="1" dirty="0">
              <a:latin typeface="Times New Roman" panose="02020603050405020304" pitchFamily="18" charset="0"/>
            </a:endParaRPr>
          </a:p>
        </p:txBody>
      </p:sp>
      <p:sp>
        <p:nvSpPr>
          <p:cNvPr id="30743" name="Text Box 26"/>
          <p:cNvSpPr txBox="1"/>
          <p:nvPr/>
        </p:nvSpPr>
        <p:spPr>
          <a:xfrm>
            <a:off x="4572000" y="2641600"/>
            <a:ext cx="3683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30744" name="Text Box 27"/>
          <p:cNvSpPr txBox="1"/>
          <p:nvPr/>
        </p:nvSpPr>
        <p:spPr>
          <a:xfrm>
            <a:off x="5113338" y="5708650"/>
            <a:ext cx="3248025" cy="420688"/>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正弦信号的最大变化率</a:t>
            </a:r>
            <a:endParaRPr lang="zh-CN" altLang="en-US" sz="2400" dirty="0">
              <a:solidFill>
                <a:srgbClr val="000099"/>
              </a:solidFill>
              <a:latin typeface="Times New Roman" panose="02020603050405020304" pitchFamily="18" charset="0"/>
            </a:endParaRPr>
          </a:p>
        </p:txBody>
      </p:sp>
      <p:grpSp>
        <p:nvGrpSpPr>
          <p:cNvPr id="30745" name="Group 28"/>
          <p:cNvGrpSpPr/>
          <p:nvPr/>
        </p:nvGrpSpPr>
        <p:grpSpPr>
          <a:xfrm>
            <a:off x="6975475" y="2765425"/>
            <a:ext cx="1722438" cy="673100"/>
            <a:chOff x="618" y="2097"/>
            <a:chExt cx="1085" cy="424"/>
          </a:xfrm>
        </p:grpSpPr>
        <p:sp>
          <p:nvSpPr>
            <p:cNvPr id="30750" name="Text Box 29"/>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30751" name="Group 30"/>
            <p:cNvGrpSpPr/>
            <p:nvPr/>
          </p:nvGrpSpPr>
          <p:grpSpPr>
            <a:xfrm>
              <a:off x="933" y="2097"/>
              <a:ext cx="319" cy="424"/>
              <a:chOff x="618" y="2002"/>
              <a:chExt cx="319" cy="424"/>
            </a:xfrm>
          </p:grpSpPr>
          <p:sp>
            <p:nvSpPr>
              <p:cNvPr id="30753" name="Text Box 31"/>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0754" name="Text Box 32"/>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0755" name="Line 33"/>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0752" name="Text Box 34"/>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sp>
        <p:nvSpPr>
          <p:cNvPr id="2427939" name="Text Box 35"/>
          <p:cNvSpPr txBox="1"/>
          <p:nvPr/>
        </p:nvSpPr>
        <p:spPr>
          <a:xfrm>
            <a:off x="215900" y="2625725"/>
            <a:ext cx="4213225" cy="1187450"/>
          </a:xfrm>
          <a:prstGeom prst="rect">
            <a:avLst/>
          </a:prstGeom>
          <a:noFill/>
          <a:ln w="9525">
            <a:noFill/>
          </a:ln>
        </p:spPr>
        <p:txBody>
          <a:bodyPr>
            <a:spAutoFit/>
          </a:bodyPr>
          <a:p>
            <a:pPr eaLnBrk="1" hangingPunct="1"/>
            <a:r>
              <a:rPr lang="zh-CN" altLang="en-US" sz="2400" dirty="0">
                <a:latin typeface="Times New Roman" panose="02020603050405020304" pitchFamily="18" charset="0"/>
              </a:rPr>
              <a:t>而在</a:t>
            </a:r>
            <a:r>
              <a:rPr lang="en-US" altLang="zh-CN" sz="2400" dirty="0">
                <a:latin typeface="Times New Roman" panose="02020603050405020304" pitchFamily="18" charset="0"/>
                <a:ea typeface="宋体" panose="02010600030101010101" pitchFamily="2" charset="-122"/>
              </a:rPr>
              <a:t>A/D</a:t>
            </a:r>
            <a:r>
              <a:rPr lang="zh-CN" altLang="en-US" sz="2400" dirty="0">
                <a:latin typeface="Times New Roman" panose="02020603050405020304" pitchFamily="18" charset="0"/>
              </a:rPr>
              <a:t>转换时间</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CONV</a:t>
            </a:r>
            <a:r>
              <a:rPr lang="zh-CN" altLang="en-US" sz="2400" dirty="0">
                <a:latin typeface="Times New Roman" panose="02020603050405020304" pitchFamily="18" charset="0"/>
              </a:rPr>
              <a:t>内</a:t>
            </a:r>
            <a:r>
              <a:rPr lang="zh-CN" altLang="en-US"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rPr>
              <a:t>输入的正弦信号电压最大变化率可能为：</a:t>
            </a:r>
            <a:endParaRPr lang="zh-CN" altLang="en-US" sz="2400" dirty="0">
              <a:latin typeface="Times New Roman" panose="02020603050405020304" pitchFamily="18" charset="0"/>
            </a:endParaRPr>
          </a:p>
        </p:txBody>
      </p:sp>
      <p:graphicFrame>
        <p:nvGraphicFramePr>
          <p:cNvPr id="2427940" name="Object 36"/>
          <p:cNvGraphicFramePr>
            <a:graphicFrameLocks noChangeAspect="1"/>
          </p:cNvGraphicFramePr>
          <p:nvPr/>
        </p:nvGraphicFramePr>
        <p:xfrm>
          <a:off x="207963" y="3781425"/>
          <a:ext cx="5983287" cy="869950"/>
        </p:xfrm>
        <a:graphic>
          <a:graphicData uri="http://schemas.openxmlformats.org/presentationml/2006/ole">
            <mc:AlternateContent xmlns:mc="http://schemas.openxmlformats.org/markup-compatibility/2006">
              <mc:Choice xmlns:v="urn:schemas-microsoft-com:vml" Requires="v">
                <p:oleObj spid="_x0000_s3081" name="" r:id="rId1" imgW="2413000" imgH="393700" progId="Equation.3">
                  <p:embed/>
                </p:oleObj>
              </mc:Choice>
              <mc:Fallback>
                <p:oleObj name="" r:id="rId1" imgW="2413000" imgH="393700" progId="Equation.3">
                  <p:embed/>
                  <p:pic>
                    <p:nvPicPr>
                      <p:cNvPr id="0" name="图片 3080"/>
                      <p:cNvPicPr/>
                      <p:nvPr/>
                    </p:nvPicPr>
                    <p:blipFill>
                      <a:blip r:embed="rId2"/>
                      <a:stretch>
                        <a:fillRect/>
                      </a:stretch>
                    </p:blipFill>
                    <p:spPr>
                      <a:xfrm>
                        <a:off x="207963" y="3781425"/>
                        <a:ext cx="5983287" cy="869950"/>
                      </a:xfrm>
                      <a:prstGeom prst="rect">
                        <a:avLst/>
                      </a:prstGeom>
                      <a:solidFill>
                        <a:srgbClr val="CCFFFF"/>
                      </a:solidFill>
                      <a:ln w="38100">
                        <a:noFill/>
                        <a:miter/>
                      </a:ln>
                    </p:spPr>
                  </p:pic>
                </p:oleObj>
              </mc:Fallback>
            </mc:AlternateContent>
          </a:graphicData>
        </a:graphic>
      </p:graphicFrame>
      <p:sp>
        <p:nvSpPr>
          <p:cNvPr id="2427941" name="Text Box 37"/>
          <p:cNvSpPr txBox="1"/>
          <p:nvPr/>
        </p:nvSpPr>
        <p:spPr>
          <a:xfrm>
            <a:off x="215900" y="4652963"/>
            <a:ext cx="2165350" cy="457200"/>
          </a:xfrm>
          <a:prstGeom prst="rect">
            <a:avLst/>
          </a:prstGeom>
          <a:noFill/>
          <a:ln w="9525">
            <a:noFill/>
          </a:ln>
        </p:spPr>
        <p:txBody>
          <a:bodyPr wrap="none">
            <a:spAutoFit/>
          </a:bodyPr>
          <a:p>
            <a:pPr eaLnBrk="1" hangingPunct="1"/>
            <a:r>
              <a:rPr lang="zh-CN" altLang="en-US" sz="2400" dirty="0">
                <a:latin typeface="楷体_GB2312" pitchFamily="49" charset="-122"/>
              </a:rPr>
              <a:t>由此可得出： </a:t>
            </a:r>
            <a:endParaRPr lang="zh-CN" altLang="en-US" sz="2400" dirty="0">
              <a:latin typeface="楷体_GB2312" pitchFamily="49" charset="-122"/>
            </a:endParaRPr>
          </a:p>
        </p:txBody>
      </p:sp>
      <p:graphicFrame>
        <p:nvGraphicFramePr>
          <p:cNvPr id="2427942" name="Object 38"/>
          <p:cNvGraphicFramePr>
            <a:graphicFrameLocks noChangeAspect="1"/>
          </p:cNvGraphicFramePr>
          <p:nvPr/>
        </p:nvGraphicFramePr>
        <p:xfrm>
          <a:off x="804863" y="5146675"/>
          <a:ext cx="3051175" cy="874713"/>
        </p:xfrm>
        <a:graphic>
          <a:graphicData uri="http://schemas.openxmlformats.org/presentationml/2006/ole">
            <mc:AlternateContent xmlns:mc="http://schemas.openxmlformats.org/markup-compatibility/2006">
              <mc:Choice xmlns:v="urn:schemas-microsoft-com:vml" Requires="v">
                <p:oleObj spid="_x0000_s3082" name="" r:id="rId3" imgW="1129665" imgH="431800" progId="Equation.3">
                  <p:embed/>
                </p:oleObj>
              </mc:Choice>
              <mc:Fallback>
                <p:oleObj name="" r:id="rId3" imgW="1129665" imgH="431800" progId="Equation.3">
                  <p:embed/>
                  <p:pic>
                    <p:nvPicPr>
                      <p:cNvPr id="0" name="图片 3081"/>
                      <p:cNvPicPr/>
                      <p:nvPr/>
                    </p:nvPicPr>
                    <p:blipFill>
                      <a:blip r:embed="rId4"/>
                      <a:stretch>
                        <a:fillRect/>
                      </a:stretch>
                    </p:blipFill>
                    <p:spPr>
                      <a:xfrm>
                        <a:off x="804863" y="5146675"/>
                        <a:ext cx="3051175" cy="874713"/>
                      </a:xfrm>
                      <a:prstGeom prst="rect">
                        <a:avLst/>
                      </a:prstGeom>
                      <a:solidFill>
                        <a:srgbClr val="CCFFFF"/>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7939">
                                            <p:txEl>
                                              <p:charRg st="0" end="35"/>
                                            </p:txEl>
                                          </p:spTgt>
                                        </p:tgtEl>
                                        <p:attrNameLst>
                                          <p:attrName>style.visibility</p:attrName>
                                        </p:attrNameLst>
                                      </p:cBhvr>
                                      <p:to>
                                        <p:strVal val="visible"/>
                                      </p:to>
                                    </p:set>
                                    <p:animEffect transition="in" filter="dissolve">
                                      <p:cBhvr>
                                        <p:cTn id="7" dur="500"/>
                                        <p:tgtEl>
                                          <p:spTgt spid="2427939">
                                            <p:txEl>
                                              <p:charRg st="0" end="35"/>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7940"/>
                                        </p:tgtEl>
                                        <p:attrNameLst>
                                          <p:attrName>style.visibility</p:attrName>
                                        </p:attrNameLst>
                                      </p:cBhvr>
                                      <p:to>
                                        <p:strVal val="visible"/>
                                      </p:to>
                                    </p:set>
                                    <p:animEffect transition="in" filter="dissolve">
                                      <p:cBhvr>
                                        <p:cTn id="12" dur="500"/>
                                        <p:tgtEl>
                                          <p:spTgt spid="242794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7941"/>
                                        </p:tgtEl>
                                        <p:attrNameLst>
                                          <p:attrName>style.visibility</p:attrName>
                                        </p:attrNameLst>
                                      </p:cBhvr>
                                      <p:to>
                                        <p:strVal val="visible"/>
                                      </p:to>
                                    </p:set>
                                    <p:animEffect transition="in" filter="dissolve">
                                      <p:cBhvr>
                                        <p:cTn id="17" dur="500"/>
                                        <p:tgtEl>
                                          <p:spTgt spid="242794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27942"/>
                                        </p:tgtEl>
                                        <p:attrNameLst>
                                          <p:attrName>style.visibility</p:attrName>
                                        </p:attrNameLst>
                                      </p:cBhvr>
                                      <p:to>
                                        <p:strVal val="visible"/>
                                      </p:to>
                                    </p:set>
                                    <p:animEffect transition="in" filter="dissolve">
                                      <p:cBhvr>
                                        <p:cTn id="22" dur="500"/>
                                        <p:tgtEl>
                                          <p:spTgt spid="24279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939" grpId="0" build="p"/>
      <p:bldP spid="2427941"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746" name="Rectangle 2"/>
          <p:cNvSpPr/>
          <p:nvPr/>
        </p:nvSpPr>
        <p:spPr>
          <a:xfrm>
            <a:off x="4572000" y="2641600"/>
            <a:ext cx="4432300" cy="348773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6883"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1748" name="Text Box 4"/>
          <p:cNvSpPr txBox="1"/>
          <p:nvPr/>
        </p:nvSpPr>
        <p:spPr>
          <a:xfrm>
            <a:off x="358775" y="1952625"/>
            <a:ext cx="6948488" cy="519113"/>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r>
              <a:rPr lang="en-US" altLang="zh-CN" sz="2800" dirty="0">
                <a:solidFill>
                  <a:srgbClr val="FF0000"/>
                </a:solidFill>
                <a:latin typeface="Times New Roman" panose="02020603050405020304" pitchFamily="18" charset="0"/>
              </a:rPr>
              <a:t>:</a:t>
            </a:r>
            <a:endParaRPr lang="en-US" altLang="zh-CN" sz="2800" dirty="0">
              <a:solidFill>
                <a:srgbClr val="FF0000"/>
              </a:solidFill>
              <a:latin typeface="Times New Roman" panose="02020603050405020304" pitchFamily="18" charset="0"/>
            </a:endParaRPr>
          </a:p>
        </p:txBody>
      </p:sp>
      <p:sp>
        <p:nvSpPr>
          <p:cNvPr id="31749" name="Text Box 5"/>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en-US" altLang="zh-CN" sz="2400" dirty="0">
                <a:latin typeface="黑体" panose="02010609060101010101" pitchFamily="49" charset="-122"/>
                <a:ea typeface="黑体" panose="02010609060101010101" pitchFamily="49" charset="-122"/>
              </a:rPr>
              <a:t>.</a:t>
            </a:r>
            <a:endParaRPr lang="en-US" altLang="zh-CN" sz="2400" dirty="0">
              <a:latin typeface="黑体" panose="02010609060101010101" pitchFamily="49" charset="-122"/>
              <a:ea typeface="黑体" panose="02010609060101010101" pitchFamily="49" charset="-122"/>
            </a:endParaRPr>
          </a:p>
        </p:txBody>
      </p:sp>
      <p:sp>
        <p:nvSpPr>
          <p:cNvPr id="31750" name="AutoShape 6"/>
          <p:cNvSpPr/>
          <p:nvPr/>
        </p:nvSpPr>
        <p:spPr>
          <a:xfrm>
            <a:off x="7024688" y="2797175"/>
            <a:ext cx="1647825" cy="604838"/>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1751" name="Line 7"/>
          <p:cNvSpPr/>
          <p:nvPr/>
        </p:nvSpPr>
        <p:spPr>
          <a:xfrm>
            <a:off x="4946650" y="4319588"/>
            <a:ext cx="3843338" cy="0"/>
          </a:xfrm>
          <a:prstGeom prst="line">
            <a:avLst/>
          </a:prstGeom>
          <a:ln w="12700" cap="flat" cmpd="sng">
            <a:solidFill>
              <a:schemeClr val="accent2"/>
            </a:solidFill>
            <a:prstDash val="solid"/>
            <a:headEnd type="none" w="med" len="med"/>
            <a:tailEnd type="stealth" w="med" len="lg"/>
          </a:ln>
        </p:spPr>
      </p:sp>
      <p:sp>
        <p:nvSpPr>
          <p:cNvPr id="31752" name="Text Box 8"/>
          <p:cNvSpPr txBox="1"/>
          <p:nvPr/>
        </p:nvSpPr>
        <p:spPr>
          <a:xfrm>
            <a:off x="8750300" y="4146550"/>
            <a:ext cx="2540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31753" name="Line 9"/>
          <p:cNvSpPr/>
          <p:nvPr/>
        </p:nvSpPr>
        <p:spPr>
          <a:xfrm flipV="1">
            <a:off x="4946650" y="2741613"/>
            <a:ext cx="0" cy="1577975"/>
          </a:xfrm>
          <a:prstGeom prst="line">
            <a:avLst/>
          </a:prstGeom>
          <a:ln w="12700" cap="flat" cmpd="sng">
            <a:solidFill>
              <a:schemeClr val="accent2"/>
            </a:solidFill>
            <a:prstDash val="solid"/>
            <a:headEnd type="none" w="med" len="med"/>
            <a:tailEnd type="stealth" w="med" len="lg"/>
          </a:ln>
        </p:spPr>
      </p:sp>
      <p:sp>
        <p:nvSpPr>
          <p:cNvPr id="31754" name="Line 10"/>
          <p:cNvSpPr/>
          <p:nvPr/>
        </p:nvSpPr>
        <p:spPr>
          <a:xfrm>
            <a:off x="5449888" y="3179763"/>
            <a:ext cx="822325" cy="0"/>
          </a:xfrm>
          <a:prstGeom prst="line">
            <a:avLst/>
          </a:prstGeom>
          <a:ln w="12700" cap="flat" cmpd="sng">
            <a:solidFill>
              <a:srgbClr val="FF0000"/>
            </a:solidFill>
            <a:prstDash val="dash"/>
            <a:headEnd type="none" w="med" len="med"/>
            <a:tailEnd type="none" w="med" len="med"/>
          </a:ln>
        </p:spPr>
      </p:sp>
      <p:sp>
        <p:nvSpPr>
          <p:cNvPr id="31755" name="Line 11"/>
          <p:cNvSpPr/>
          <p:nvPr/>
        </p:nvSpPr>
        <p:spPr>
          <a:xfrm flipV="1">
            <a:off x="5516563" y="3179763"/>
            <a:ext cx="0" cy="1139825"/>
          </a:xfrm>
          <a:prstGeom prst="line">
            <a:avLst/>
          </a:prstGeom>
          <a:ln w="9525" cap="flat" cmpd="sng">
            <a:solidFill>
              <a:srgbClr val="FF0000"/>
            </a:solidFill>
            <a:prstDash val="solid"/>
            <a:headEnd type="stealth" w="sm" len="lg"/>
            <a:tailEnd type="stealth" w="sm" len="lg"/>
          </a:ln>
        </p:spPr>
      </p:sp>
      <p:grpSp>
        <p:nvGrpSpPr>
          <p:cNvPr id="31756" name="Group 12"/>
          <p:cNvGrpSpPr/>
          <p:nvPr/>
        </p:nvGrpSpPr>
        <p:grpSpPr>
          <a:xfrm>
            <a:off x="5013325" y="3402013"/>
            <a:ext cx="506413" cy="673100"/>
            <a:chOff x="618" y="2002"/>
            <a:chExt cx="319" cy="424"/>
          </a:xfrm>
        </p:grpSpPr>
        <p:sp>
          <p:nvSpPr>
            <p:cNvPr id="31779" name="Text Box 1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1780" name="Text Box 1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1781" name="Line 15"/>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1757" name="Freeform 16"/>
          <p:cNvSpPr/>
          <p:nvPr/>
        </p:nvSpPr>
        <p:spPr>
          <a:xfrm>
            <a:off x="5264150" y="3192463"/>
            <a:ext cx="941388" cy="2160587"/>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31758" name="Freeform 17"/>
          <p:cNvSpPr/>
          <p:nvPr/>
        </p:nvSpPr>
        <p:spPr>
          <a:xfrm>
            <a:off x="5264150" y="3168650"/>
            <a:ext cx="3074988" cy="2303463"/>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31759" name="Line 18"/>
          <p:cNvSpPr/>
          <p:nvPr/>
        </p:nvSpPr>
        <p:spPr>
          <a:xfrm>
            <a:off x="5662613" y="4319588"/>
            <a:ext cx="0" cy="1192212"/>
          </a:xfrm>
          <a:prstGeom prst="line">
            <a:avLst/>
          </a:prstGeom>
          <a:ln w="12700" cap="flat" cmpd="sng">
            <a:solidFill>
              <a:srgbClr val="FF0000"/>
            </a:solidFill>
            <a:prstDash val="dash"/>
            <a:headEnd type="none" w="med" len="med"/>
            <a:tailEnd type="none" w="med" len="med"/>
          </a:ln>
        </p:spPr>
      </p:sp>
      <p:sp>
        <p:nvSpPr>
          <p:cNvPr id="31760" name="Line 19"/>
          <p:cNvSpPr/>
          <p:nvPr/>
        </p:nvSpPr>
        <p:spPr>
          <a:xfrm>
            <a:off x="5861050" y="3616325"/>
            <a:ext cx="0" cy="1908175"/>
          </a:xfrm>
          <a:prstGeom prst="line">
            <a:avLst/>
          </a:prstGeom>
          <a:ln w="12700" cap="flat" cmpd="sng">
            <a:solidFill>
              <a:srgbClr val="FF0000"/>
            </a:solidFill>
            <a:prstDash val="dash"/>
            <a:headEnd type="none" w="med" len="med"/>
            <a:tailEnd type="none" w="med" len="med"/>
          </a:ln>
        </p:spPr>
      </p:sp>
      <p:sp>
        <p:nvSpPr>
          <p:cNvPr id="31761" name="Line 20"/>
          <p:cNvSpPr/>
          <p:nvPr/>
        </p:nvSpPr>
        <p:spPr>
          <a:xfrm>
            <a:off x="5357813" y="5445125"/>
            <a:ext cx="304800" cy="0"/>
          </a:xfrm>
          <a:prstGeom prst="line">
            <a:avLst/>
          </a:prstGeom>
          <a:ln w="9525" cap="flat" cmpd="sng">
            <a:solidFill>
              <a:srgbClr val="FF0000"/>
            </a:solidFill>
            <a:prstDash val="solid"/>
            <a:headEnd type="none" w="med" len="med"/>
            <a:tailEnd type="stealth" w="sm" len="lg"/>
          </a:ln>
        </p:spPr>
      </p:sp>
      <p:sp>
        <p:nvSpPr>
          <p:cNvPr id="31762" name="Line 21"/>
          <p:cNvSpPr/>
          <p:nvPr/>
        </p:nvSpPr>
        <p:spPr>
          <a:xfrm flipH="1">
            <a:off x="5861050" y="5445125"/>
            <a:ext cx="371475" cy="0"/>
          </a:xfrm>
          <a:prstGeom prst="line">
            <a:avLst/>
          </a:prstGeom>
          <a:ln w="9525" cap="flat" cmpd="sng">
            <a:solidFill>
              <a:srgbClr val="FF0000"/>
            </a:solidFill>
            <a:prstDash val="solid"/>
            <a:headEnd type="none" w="med" len="med"/>
            <a:tailEnd type="stealth" w="sm" len="lg"/>
          </a:ln>
        </p:spPr>
      </p:sp>
      <p:sp>
        <p:nvSpPr>
          <p:cNvPr id="31763" name="Text Box 22"/>
          <p:cNvSpPr txBox="1"/>
          <p:nvPr/>
        </p:nvSpPr>
        <p:spPr>
          <a:xfrm>
            <a:off x="5876925" y="5178425"/>
            <a:ext cx="684213" cy="312738"/>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t</a:t>
            </a:r>
            <a:endParaRPr lang="en-US" altLang="zh-CN" sz="1600" i="1" dirty="0">
              <a:latin typeface="Times New Roman" panose="02020603050405020304" pitchFamily="18" charset="0"/>
            </a:endParaRPr>
          </a:p>
        </p:txBody>
      </p:sp>
      <p:sp>
        <p:nvSpPr>
          <p:cNvPr id="31764" name="Line 23"/>
          <p:cNvSpPr/>
          <p:nvPr/>
        </p:nvSpPr>
        <p:spPr>
          <a:xfrm>
            <a:off x="5861050" y="3616325"/>
            <a:ext cx="436563" cy="0"/>
          </a:xfrm>
          <a:prstGeom prst="line">
            <a:avLst/>
          </a:prstGeom>
          <a:ln w="12700" cap="flat" cmpd="sng">
            <a:solidFill>
              <a:srgbClr val="FF0000"/>
            </a:solidFill>
            <a:prstDash val="dash"/>
            <a:headEnd type="none" w="med" len="med"/>
            <a:tailEnd type="none" w="med" len="med"/>
          </a:ln>
        </p:spPr>
      </p:sp>
      <p:sp>
        <p:nvSpPr>
          <p:cNvPr id="31765" name="Line 24"/>
          <p:cNvSpPr/>
          <p:nvPr/>
        </p:nvSpPr>
        <p:spPr>
          <a:xfrm>
            <a:off x="6165850" y="3616325"/>
            <a:ext cx="0" cy="703263"/>
          </a:xfrm>
          <a:prstGeom prst="line">
            <a:avLst/>
          </a:prstGeom>
          <a:ln w="9525" cap="flat" cmpd="sng">
            <a:solidFill>
              <a:srgbClr val="FF0000"/>
            </a:solidFill>
            <a:prstDash val="solid"/>
            <a:headEnd type="stealth" w="sm" len="lg"/>
            <a:tailEnd type="stealth" w="sm" len="lg"/>
          </a:ln>
        </p:spPr>
      </p:sp>
      <p:sp>
        <p:nvSpPr>
          <p:cNvPr id="31766" name="Text Box 25"/>
          <p:cNvSpPr txBox="1"/>
          <p:nvPr/>
        </p:nvSpPr>
        <p:spPr>
          <a:xfrm>
            <a:off x="6067425" y="3792538"/>
            <a:ext cx="709613" cy="31273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U</a:t>
            </a:r>
            <a:endParaRPr lang="en-US" altLang="zh-CN" sz="1600" i="1" dirty="0">
              <a:latin typeface="Times New Roman" panose="02020603050405020304" pitchFamily="18" charset="0"/>
            </a:endParaRPr>
          </a:p>
        </p:txBody>
      </p:sp>
      <p:sp>
        <p:nvSpPr>
          <p:cNvPr id="31767" name="Text Box 26"/>
          <p:cNvSpPr txBox="1"/>
          <p:nvPr/>
        </p:nvSpPr>
        <p:spPr>
          <a:xfrm>
            <a:off x="4572000" y="2641600"/>
            <a:ext cx="3683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31768" name="Text Box 27"/>
          <p:cNvSpPr txBox="1"/>
          <p:nvPr/>
        </p:nvSpPr>
        <p:spPr>
          <a:xfrm>
            <a:off x="5113338" y="5708650"/>
            <a:ext cx="3248025" cy="420688"/>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正弦信号的最大变化率</a:t>
            </a:r>
            <a:endParaRPr lang="zh-CN" altLang="en-US" sz="2400" dirty="0">
              <a:solidFill>
                <a:srgbClr val="000099"/>
              </a:solidFill>
              <a:latin typeface="Times New Roman" panose="02020603050405020304" pitchFamily="18" charset="0"/>
            </a:endParaRPr>
          </a:p>
        </p:txBody>
      </p:sp>
      <p:grpSp>
        <p:nvGrpSpPr>
          <p:cNvPr id="31769" name="Group 28"/>
          <p:cNvGrpSpPr/>
          <p:nvPr/>
        </p:nvGrpSpPr>
        <p:grpSpPr>
          <a:xfrm>
            <a:off x="6975475" y="2765425"/>
            <a:ext cx="1722438" cy="673100"/>
            <a:chOff x="618" y="2097"/>
            <a:chExt cx="1085" cy="424"/>
          </a:xfrm>
        </p:grpSpPr>
        <p:sp>
          <p:nvSpPr>
            <p:cNvPr id="31773" name="Text Box 29"/>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31774" name="Group 30"/>
            <p:cNvGrpSpPr/>
            <p:nvPr/>
          </p:nvGrpSpPr>
          <p:grpSpPr>
            <a:xfrm>
              <a:off x="933" y="2097"/>
              <a:ext cx="319" cy="424"/>
              <a:chOff x="618" y="2002"/>
              <a:chExt cx="319" cy="424"/>
            </a:xfrm>
          </p:grpSpPr>
          <p:sp>
            <p:nvSpPr>
              <p:cNvPr id="31776" name="Text Box 31"/>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1777" name="Text Box 32"/>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1778" name="Line 33"/>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1775" name="Text Box 34"/>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sp>
        <p:nvSpPr>
          <p:cNvPr id="2426923" name="Text Box 43"/>
          <p:cNvSpPr txBox="1"/>
          <p:nvPr/>
        </p:nvSpPr>
        <p:spPr>
          <a:xfrm>
            <a:off x="250825" y="2384425"/>
            <a:ext cx="4213225" cy="1552575"/>
          </a:xfrm>
          <a:prstGeom prst="rect">
            <a:avLst/>
          </a:prstGeom>
          <a:noFill/>
          <a:ln w="9525">
            <a:noFill/>
          </a:ln>
        </p:spPr>
        <p:txBody>
          <a:bodyPr>
            <a:spAutoFit/>
          </a:bodyPr>
          <a:p>
            <a:pPr eaLnBrk="1" hangingPunct="1"/>
            <a:r>
              <a:rPr lang="zh-CN" altLang="en-US" sz="2400" dirty="0">
                <a:latin typeface="Times New Roman" panose="02020603050405020304" pitchFamily="18" charset="0"/>
              </a:rPr>
              <a:t>如果一个</a:t>
            </a:r>
            <a:r>
              <a:rPr lang="en-US" altLang="zh-CN" sz="2400" i="1" dirty="0">
                <a:solidFill>
                  <a:srgbClr val="FF0000"/>
                </a:solidFill>
                <a:latin typeface="Times New Roman" panose="02020603050405020304" pitchFamily="18" charset="0"/>
              </a:rPr>
              <a:t>n</a:t>
            </a:r>
            <a:r>
              <a:rPr lang="zh-CN" altLang="en-US" sz="2400" dirty="0">
                <a:latin typeface="Times New Roman" panose="02020603050405020304" pitchFamily="18" charset="0"/>
              </a:rPr>
              <a:t>位的</a:t>
            </a:r>
            <a:r>
              <a:rPr lang="en-US" altLang="zh-CN" sz="2400" dirty="0">
                <a:solidFill>
                  <a:srgbClr val="FF0000"/>
                </a:solidFill>
                <a:latin typeface="Times New Roman" panose="02020603050405020304" pitchFamily="18" charset="0"/>
              </a:rPr>
              <a:t>A/D</a:t>
            </a:r>
            <a:r>
              <a:rPr lang="zh-CN" altLang="en-US" sz="2400" dirty="0">
                <a:latin typeface="Times New Roman" panose="02020603050405020304" pitchFamily="18" charset="0"/>
              </a:rPr>
              <a:t>转换器，满量程电压为</a:t>
            </a:r>
            <a:r>
              <a:rPr lang="en-US" altLang="zh-CN" sz="2400" i="1" dirty="0">
                <a:solidFill>
                  <a:srgbClr val="FF0000"/>
                </a:solidFill>
                <a:latin typeface="Times New Roman" panose="02020603050405020304" pitchFamily="18" charset="0"/>
              </a:rPr>
              <a:t>FSR</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m</a:t>
            </a:r>
            <a:r>
              <a:rPr lang="zh-CN" altLang="en-US" sz="2400" dirty="0">
                <a:latin typeface="Times New Roman" panose="02020603050405020304" pitchFamily="18" charset="0"/>
              </a:rPr>
              <a:t>，则它的“量化单位”</a:t>
            </a:r>
            <a:r>
              <a:rPr lang="en-US" altLang="zh-CN" sz="2400" i="1" dirty="0">
                <a:solidFill>
                  <a:srgbClr val="FF0000"/>
                </a:solidFill>
                <a:latin typeface="Times New Roman" panose="02020603050405020304" pitchFamily="18" charset="0"/>
              </a:rPr>
              <a:t>LSB</a:t>
            </a:r>
            <a:r>
              <a:rPr lang="zh-CN" altLang="en-US" sz="2400" dirty="0">
                <a:latin typeface="Times New Roman" panose="02020603050405020304" pitchFamily="18" charset="0"/>
              </a:rPr>
              <a:t>所代表的电压</a:t>
            </a:r>
            <a:r>
              <a:rPr lang="zh-CN" altLang="en-US"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m</a:t>
            </a:r>
            <a:r>
              <a:rPr lang="en-US" altLang="zh-CN" sz="2400" dirty="0">
                <a:solidFill>
                  <a:srgbClr val="FF0000"/>
                </a:solidFill>
                <a:latin typeface="Times New Roman" panose="02020603050405020304" pitchFamily="18" charset="0"/>
              </a:rPr>
              <a:t>/2</a:t>
            </a:r>
            <a:r>
              <a:rPr lang="en-US" altLang="zh-CN" sz="2400" i="1" baseline="30000" dirty="0">
                <a:solidFill>
                  <a:srgbClr val="FF0000"/>
                </a:solidFill>
                <a:latin typeface="Times New Roman" panose="02020603050405020304" pitchFamily="18" charset="0"/>
              </a:rPr>
              <a:t>n</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p:txBody>
      </p:sp>
      <p:graphicFrame>
        <p:nvGraphicFramePr>
          <p:cNvPr id="2426925" name="Object 45"/>
          <p:cNvGraphicFramePr>
            <a:graphicFrameLocks noChangeAspect="1"/>
          </p:cNvGraphicFramePr>
          <p:nvPr/>
        </p:nvGraphicFramePr>
        <p:xfrm>
          <a:off x="989013" y="5259388"/>
          <a:ext cx="2484437" cy="774700"/>
        </p:xfrm>
        <a:graphic>
          <a:graphicData uri="http://schemas.openxmlformats.org/presentationml/2006/ole">
            <mc:AlternateContent xmlns:mc="http://schemas.openxmlformats.org/markup-compatibility/2006">
              <mc:Choice xmlns:v="urn:schemas-microsoft-com:vml" Requires="v">
                <p:oleObj spid="_x0000_s3084" name="" r:id="rId1" imgW="876300" imgH="431800" progId="Equation.DSMT4">
                  <p:embed/>
                </p:oleObj>
              </mc:Choice>
              <mc:Fallback>
                <p:oleObj name="" r:id="rId1" imgW="876300" imgH="431800" progId="Equation.DSMT4">
                  <p:embed/>
                  <p:pic>
                    <p:nvPicPr>
                      <p:cNvPr id="0" name="图片 3083"/>
                      <p:cNvPicPr/>
                      <p:nvPr/>
                    </p:nvPicPr>
                    <p:blipFill>
                      <a:blip r:embed="rId2"/>
                      <a:stretch>
                        <a:fillRect/>
                      </a:stretch>
                    </p:blipFill>
                    <p:spPr>
                      <a:xfrm>
                        <a:off x="989013" y="5259388"/>
                        <a:ext cx="2484437" cy="774700"/>
                      </a:xfrm>
                      <a:prstGeom prst="rect">
                        <a:avLst/>
                      </a:prstGeom>
                      <a:solidFill>
                        <a:srgbClr val="CCFFCC"/>
                      </a:solidFill>
                      <a:ln w="38100">
                        <a:noFill/>
                        <a:miter/>
                      </a:ln>
                    </p:spPr>
                  </p:pic>
                </p:oleObj>
              </mc:Fallback>
            </mc:AlternateContent>
          </a:graphicData>
        </a:graphic>
      </p:graphicFrame>
      <p:graphicFrame>
        <p:nvGraphicFramePr>
          <p:cNvPr id="2427942" name="Object 38"/>
          <p:cNvGraphicFramePr>
            <a:graphicFrameLocks noChangeAspect="1"/>
          </p:cNvGraphicFramePr>
          <p:nvPr/>
        </p:nvGraphicFramePr>
        <p:xfrm>
          <a:off x="103188" y="4041775"/>
          <a:ext cx="4456112" cy="874713"/>
        </p:xfrm>
        <a:graphic>
          <a:graphicData uri="http://schemas.openxmlformats.org/presentationml/2006/ole">
            <mc:AlternateContent xmlns:mc="http://schemas.openxmlformats.org/markup-compatibility/2006">
              <mc:Choice xmlns:v="urn:schemas-microsoft-com:vml" Requires="v">
                <p:oleObj spid="_x0000_s3083" name="" r:id="rId3" imgW="1651000" imgH="431800" progId="Equation.DSMT4">
                  <p:embed/>
                </p:oleObj>
              </mc:Choice>
              <mc:Fallback>
                <p:oleObj name="" r:id="rId3" imgW="1651000" imgH="431800" progId="Equation.DSMT4">
                  <p:embed/>
                  <p:pic>
                    <p:nvPicPr>
                      <p:cNvPr id="0" name="图片 3082"/>
                      <p:cNvPicPr/>
                      <p:nvPr/>
                    </p:nvPicPr>
                    <p:blipFill>
                      <a:blip r:embed="rId4"/>
                      <a:stretch>
                        <a:fillRect/>
                      </a:stretch>
                    </p:blipFill>
                    <p:spPr>
                      <a:xfrm>
                        <a:off x="103188" y="4041775"/>
                        <a:ext cx="4456112" cy="874713"/>
                      </a:xfrm>
                      <a:prstGeom prst="rect">
                        <a:avLst/>
                      </a:prstGeom>
                      <a:solidFill>
                        <a:srgbClr val="CCFFFF"/>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6923">
                                            <p:txEl>
                                              <p:charRg st="0" end="56"/>
                                            </p:txEl>
                                          </p:spTgt>
                                        </p:tgtEl>
                                        <p:attrNameLst>
                                          <p:attrName>style.visibility</p:attrName>
                                        </p:attrNameLst>
                                      </p:cBhvr>
                                      <p:to>
                                        <p:strVal val="visible"/>
                                      </p:to>
                                    </p:set>
                                    <p:animEffect transition="in" filter="dissolve">
                                      <p:cBhvr>
                                        <p:cTn id="7" dur="500"/>
                                        <p:tgtEl>
                                          <p:spTgt spid="2426923">
                                            <p:txEl>
                                              <p:charRg st="0" end="56"/>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7942"/>
                                        </p:tgtEl>
                                        <p:attrNameLst>
                                          <p:attrName>style.visibility</p:attrName>
                                        </p:attrNameLst>
                                      </p:cBhvr>
                                      <p:to>
                                        <p:strVal val="visible"/>
                                      </p:to>
                                    </p:set>
                                    <p:animEffect transition="in" filter="dissolve">
                                      <p:cBhvr>
                                        <p:cTn id="12" dur="500"/>
                                        <p:tgtEl>
                                          <p:spTgt spid="242794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6925"/>
                                        </p:tgtEl>
                                        <p:attrNameLst>
                                          <p:attrName>style.visibility</p:attrName>
                                        </p:attrNameLst>
                                      </p:cBhvr>
                                      <p:to>
                                        <p:strVal val="visible"/>
                                      </p:to>
                                    </p:set>
                                    <p:animEffect transition="in" filter="dissolve">
                                      <p:cBhvr>
                                        <p:cTn id="17" dur="500"/>
                                        <p:tgtEl>
                                          <p:spTgt spid="2426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23" grpId="0" build="p"/>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770" name="Rectangle 2"/>
          <p:cNvSpPr/>
          <p:nvPr/>
        </p:nvSpPr>
        <p:spPr>
          <a:xfrm>
            <a:off x="4572000" y="2641600"/>
            <a:ext cx="4432300" cy="348773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6883"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2772" name="Text Box 4"/>
          <p:cNvSpPr txBox="1"/>
          <p:nvPr/>
        </p:nvSpPr>
        <p:spPr>
          <a:xfrm>
            <a:off x="358775" y="1952625"/>
            <a:ext cx="6948488" cy="519113"/>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r>
              <a:rPr lang="en-US" altLang="zh-CN" sz="2800" dirty="0">
                <a:solidFill>
                  <a:srgbClr val="FF0000"/>
                </a:solidFill>
                <a:latin typeface="Times New Roman" panose="02020603050405020304" pitchFamily="18" charset="0"/>
              </a:rPr>
              <a:t>:</a:t>
            </a:r>
            <a:endParaRPr lang="en-US" altLang="zh-CN" sz="2800" dirty="0">
              <a:solidFill>
                <a:srgbClr val="FF0000"/>
              </a:solidFill>
              <a:latin typeface="Times New Roman" panose="02020603050405020304" pitchFamily="18" charset="0"/>
            </a:endParaRPr>
          </a:p>
        </p:txBody>
      </p:sp>
      <p:sp>
        <p:nvSpPr>
          <p:cNvPr id="32773" name="Text Box 5"/>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en-US" altLang="zh-CN" sz="2400" dirty="0">
                <a:latin typeface="黑体" panose="02010609060101010101" pitchFamily="49" charset="-122"/>
                <a:ea typeface="黑体" panose="02010609060101010101" pitchFamily="49" charset="-122"/>
              </a:rPr>
              <a:t>.</a:t>
            </a:r>
            <a:endParaRPr lang="en-US" altLang="zh-CN" sz="2400" dirty="0">
              <a:latin typeface="黑体" panose="02010609060101010101" pitchFamily="49" charset="-122"/>
              <a:ea typeface="黑体" panose="02010609060101010101" pitchFamily="49" charset="-122"/>
            </a:endParaRPr>
          </a:p>
        </p:txBody>
      </p:sp>
      <p:sp>
        <p:nvSpPr>
          <p:cNvPr id="32774" name="AutoShape 6"/>
          <p:cNvSpPr/>
          <p:nvPr/>
        </p:nvSpPr>
        <p:spPr>
          <a:xfrm>
            <a:off x="7024688" y="2797175"/>
            <a:ext cx="1647825" cy="604838"/>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2775" name="Line 7"/>
          <p:cNvSpPr/>
          <p:nvPr/>
        </p:nvSpPr>
        <p:spPr>
          <a:xfrm>
            <a:off x="4946650" y="4319588"/>
            <a:ext cx="3843338" cy="0"/>
          </a:xfrm>
          <a:prstGeom prst="line">
            <a:avLst/>
          </a:prstGeom>
          <a:ln w="12700" cap="flat" cmpd="sng">
            <a:solidFill>
              <a:schemeClr val="accent2"/>
            </a:solidFill>
            <a:prstDash val="solid"/>
            <a:headEnd type="none" w="med" len="med"/>
            <a:tailEnd type="stealth" w="med" len="lg"/>
          </a:ln>
        </p:spPr>
      </p:sp>
      <p:sp>
        <p:nvSpPr>
          <p:cNvPr id="32776" name="Text Box 8"/>
          <p:cNvSpPr txBox="1"/>
          <p:nvPr/>
        </p:nvSpPr>
        <p:spPr>
          <a:xfrm>
            <a:off x="8750300" y="4146550"/>
            <a:ext cx="2540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32777" name="Line 9"/>
          <p:cNvSpPr/>
          <p:nvPr/>
        </p:nvSpPr>
        <p:spPr>
          <a:xfrm flipV="1">
            <a:off x="4946650" y="2741613"/>
            <a:ext cx="0" cy="1577975"/>
          </a:xfrm>
          <a:prstGeom prst="line">
            <a:avLst/>
          </a:prstGeom>
          <a:ln w="12700" cap="flat" cmpd="sng">
            <a:solidFill>
              <a:schemeClr val="accent2"/>
            </a:solidFill>
            <a:prstDash val="solid"/>
            <a:headEnd type="none" w="med" len="med"/>
            <a:tailEnd type="stealth" w="med" len="lg"/>
          </a:ln>
        </p:spPr>
      </p:sp>
      <p:sp>
        <p:nvSpPr>
          <p:cNvPr id="32778" name="Line 10"/>
          <p:cNvSpPr/>
          <p:nvPr/>
        </p:nvSpPr>
        <p:spPr>
          <a:xfrm>
            <a:off x="5449888" y="3179763"/>
            <a:ext cx="822325" cy="0"/>
          </a:xfrm>
          <a:prstGeom prst="line">
            <a:avLst/>
          </a:prstGeom>
          <a:ln w="12700" cap="flat" cmpd="sng">
            <a:solidFill>
              <a:srgbClr val="FF0000"/>
            </a:solidFill>
            <a:prstDash val="dash"/>
            <a:headEnd type="none" w="med" len="med"/>
            <a:tailEnd type="none" w="med" len="med"/>
          </a:ln>
        </p:spPr>
      </p:sp>
      <p:sp>
        <p:nvSpPr>
          <p:cNvPr id="32779" name="Line 11"/>
          <p:cNvSpPr/>
          <p:nvPr/>
        </p:nvSpPr>
        <p:spPr>
          <a:xfrm flipV="1">
            <a:off x="5516563" y="3179763"/>
            <a:ext cx="0" cy="1139825"/>
          </a:xfrm>
          <a:prstGeom prst="line">
            <a:avLst/>
          </a:prstGeom>
          <a:ln w="9525" cap="flat" cmpd="sng">
            <a:solidFill>
              <a:srgbClr val="FF0000"/>
            </a:solidFill>
            <a:prstDash val="solid"/>
            <a:headEnd type="stealth" w="sm" len="lg"/>
            <a:tailEnd type="stealth" w="sm" len="lg"/>
          </a:ln>
        </p:spPr>
      </p:sp>
      <p:grpSp>
        <p:nvGrpSpPr>
          <p:cNvPr id="32780" name="Group 12"/>
          <p:cNvGrpSpPr/>
          <p:nvPr/>
        </p:nvGrpSpPr>
        <p:grpSpPr>
          <a:xfrm>
            <a:off x="5013325" y="3402013"/>
            <a:ext cx="506413" cy="673100"/>
            <a:chOff x="618" y="2002"/>
            <a:chExt cx="319" cy="424"/>
          </a:xfrm>
        </p:grpSpPr>
        <p:sp>
          <p:nvSpPr>
            <p:cNvPr id="32802" name="Text Box 1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2803" name="Text Box 1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2804" name="Line 15"/>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2781" name="Freeform 16"/>
          <p:cNvSpPr/>
          <p:nvPr/>
        </p:nvSpPr>
        <p:spPr>
          <a:xfrm>
            <a:off x="5264150" y="3192463"/>
            <a:ext cx="941388" cy="2160587"/>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32782" name="Freeform 17"/>
          <p:cNvSpPr/>
          <p:nvPr/>
        </p:nvSpPr>
        <p:spPr>
          <a:xfrm>
            <a:off x="5264150" y="3168650"/>
            <a:ext cx="3074988" cy="2303463"/>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32783" name="Line 18"/>
          <p:cNvSpPr/>
          <p:nvPr/>
        </p:nvSpPr>
        <p:spPr>
          <a:xfrm>
            <a:off x="5662613" y="4319588"/>
            <a:ext cx="0" cy="1192212"/>
          </a:xfrm>
          <a:prstGeom prst="line">
            <a:avLst/>
          </a:prstGeom>
          <a:ln w="12700" cap="flat" cmpd="sng">
            <a:solidFill>
              <a:srgbClr val="FF0000"/>
            </a:solidFill>
            <a:prstDash val="dash"/>
            <a:headEnd type="none" w="med" len="med"/>
            <a:tailEnd type="none" w="med" len="med"/>
          </a:ln>
        </p:spPr>
      </p:sp>
      <p:sp>
        <p:nvSpPr>
          <p:cNvPr id="32784" name="Line 19"/>
          <p:cNvSpPr/>
          <p:nvPr/>
        </p:nvSpPr>
        <p:spPr>
          <a:xfrm>
            <a:off x="5861050" y="3616325"/>
            <a:ext cx="0" cy="1908175"/>
          </a:xfrm>
          <a:prstGeom prst="line">
            <a:avLst/>
          </a:prstGeom>
          <a:ln w="12700" cap="flat" cmpd="sng">
            <a:solidFill>
              <a:srgbClr val="FF0000"/>
            </a:solidFill>
            <a:prstDash val="dash"/>
            <a:headEnd type="none" w="med" len="med"/>
            <a:tailEnd type="none" w="med" len="med"/>
          </a:ln>
        </p:spPr>
      </p:sp>
      <p:sp>
        <p:nvSpPr>
          <p:cNvPr id="32785" name="Line 20"/>
          <p:cNvSpPr/>
          <p:nvPr/>
        </p:nvSpPr>
        <p:spPr>
          <a:xfrm>
            <a:off x="5357813" y="5445125"/>
            <a:ext cx="304800" cy="0"/>
          </a:xfrm>
          <a:prstGeom prst="line">
            <a:avLst/>
          </a:prstGeom>
          <a:ln w="9525" cap="flat" cmpd="sng">
            <a:solidFill>
              <a:srgbClr val="FF0000"/>
            </a:solidFill>
            <a:prstDash val="solid"/>
            <a:headEnd type="none" w="med" len="med"/>
            <a:tailEnd type="stealth" w="sm" len="lg"/>
          </a:ln>
        </p:spPr>
      </p:sp>
      <p:sp>
        <p:nvSpPr>
          <p:cNvPr id="32786" name="Line 21"/>
          <p:cNvSpPr/>
          <p:nvPr/>
        </p:nvSpPr>
        <p:spPr>
          <a:xfrm flipH="1">
            <a:off x="5861050" y="5445125"/>
            <a:ext cx="371475" cy="0"/>
          </a:xfrm>
          <a:prstGeom prst="line">
            <a:avLst/>
          </a:prstGeom>
          <a:ln w="9525" cap="flat" cmpd="sng">
            <a:solidFill>
              <a:srgbClr val="FF0000"/>
            </a:solidFill>
            <a:prstDash val="solid"/>
            <a:headEnd type="none" w="med" len="med"/>
            <a:tailEnd type="stealth" w="sm" len="lg"/>
          </a:ln>
        </p:spPr>
      </p:sp>
      <p:sp>
        <p:nvSpPr>
          <p:cNvPr id="32787" name="Text Box 22"/>
          <p:cNvSpPr txBox="1"/>
          <p:nvPr/>
        </p:nvSpPr>
        <p:spPr>
          <a:xfrm>
            <a:off x="5876925" y="5178425"/>
            <a:ext cx="684213" cy="312738"/>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t</a:t>
            </a:r>
            <a:endParaRPr lang="en-US" altLang="zh-CN" sz="1600" i="1" dirty="0">
              <a:latin typeface="Times New Roman" panose="02020603050405020304" pitchFamily="18" charset="0"/>
            </a:endParaRPr>
          </a:p>
        </p:txBody>
      </p:sp>
      <p:sp>
        <p:nvSpPr>
          <p:cNvPr id="32788" name="Line 23"/>
          <p:cNvSpPr/>
          <p:nvPr/>
        </p:nvSpPr>
        <p:spPr>
          <a:xfrm>
            <a:off x="5861050" y="3616325"/>
            <a:ext cx="436563" cy="0"/>
          </a:xfrm>
          <a:prstGeom prst="line">
            <a:avLst/>
          </a:prstGeom>
          <a:ln w="12700" cap="flat" cmpd="sng">
            <a:solidFill>
              <a:srgbClr val="FF0000"/>
            </a:solidFill>
            <a:prstDash val="dash"/>
            <a:headEnd type="none" w="med" len="med"/>
            <a:tailEnd type="none" w="med" len="med"/>
          </a:ln>
        </p:spPr>
      </p:sp>
      <p:sp>
        <p:nvSpPr>
          <p:cNvPr id="32789" name="Line 24"/>
          <p:cNvSpPr/>
          <p:nvPr/>
        </p:nvSpPr>
        <p:spPr>
          <a:xfrm>
            <a:off x="6165850" y="3616325"/>
            <a:ext cx="0" cy="703263"/>
          </a:xfrm>
          <a:prstGeom prst="line">
            <a:avLst/>
          </a:prstGeom>
          <a:ln w="9525" cap="flat" cmpd="sng">
            <a:solidFill>
              <a:srgbClr val="FF0000"/>
            </a:solidFill>
            <a:prstDash val="solid"/>
            <a:headEnd type="stealth" w="sm" len="lg"/>
            <a:tailEnd type="stealth" w="sm" len="lg"/>
          </a:ln>
        </p:spPr>
      </p:sp>
      <p:sp>
        <p:nvSpPr>
          <p:cNvPr id="32790" name="Text Box 25"/>
          <p:cNvSpPr txBox="1"/>
          <p:nvPr/>
        </p:nvSpPr>
        <p:spPr>
          <a:xfrm>
            <a:off x="6067425" y="3792538"/>
            <a:ext cx="709613" cy="31273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U</a:t>
            </a:r>
            <a:endParaRPr lang="en-US" altLang="zh-CN" sz="1600" i="1" dirty="0">
              <a:latin typeface="Times New Roman" panose="02020603050405020304" pitchFamily="18" charset="0"/>
            </a:endParaRPr>
          </a:p>
        </p:txBody>
      </p:sp>
      <p:sp>
        <p:nvSpPr>
          <p:cNvPr id="32791" name="Text Box 26"/>
          <p:cNvSpPr txBox="1"/>
          <p:nvPr/>
        </p:nvSpPr>
        <p:spPr>
          <a:xfrm>
            <a:off x="4572000" y="2641600"/>
            <a:ext cx="3683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32792" name="Text Box 27"/>
          <p:cNvSpPr txBox="1"/>
          <p:nvPr/>
        </p:nvSpPr>
        <p:spPr>
          <a:xfrm>
            <a:off x="5113338" y="5708650"/>
            <a:ext cx="3248025" cy="420688"/>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正弦信号的最大变化率</a:t>
            </a:r>
            <a:endParaRPr lang="zh-CN" altLang="en-US" sz="2400" dirty="0">
              <a:solidFill>
                <a:srgbClr val="000099"/>
              </a:solidFill>
              <a:latin typeface="Times New Roman" panose="02020603050405020304" pitchFamily="18" charset="0"/>
            </a:endParaRPr>
          </a:p>
        </p:txBody>
      </p:sp>
      <p:grpSp>
        <p:nvGrpSpPr>
          <p:cNvPr id="32793" name="Group 28"/>
          <p:cNvGrpSpPr/>
          <p:nvPr/>
        </p:nvGrpSpPr>
        <p:grpSpPr>
          <a:xfrm>
            <a:off x="6975475" y="2765425"/>
            <a:ext cx="1722438" cy="673100"/>
            <a:chOff x="618" y="2097"/>
            <a:chExt cx="1085" cy="424"/>
          </a:xfrm>
        </p:grpSpPr>
        <p:sp>
          <p:nvSpPr>
            <p:cNvPr id="32796" name="Text Box 29"/>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32797" name="Group 30"/>
            <p:cNvGrpSpPr/>
            <p:nvPr/>
          </p:nvGrpSpPr>
          <p:grpSpPr>
            <a:xfrm>
              <a:off x="933" y="2097"/>
              <a:ext cx="319" cy="424"/>
              <a:chOff x="618" y="2002"/>
              <a:chExt cx="319" cy="424"/>
            </a:xfrm>
          </p:grpSpPr>
          <p:sp>
            <p:nvSpPr>
              <p:cNvPr id="32799" name="Text Box 31"/>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2800" name="Text Box 32"/>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2801" name="Line 33"/>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2798" name="Text Box 34"/>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sp>
        <p:nvSpPr>
          <p:cNvPr id="2426924" name="Text Box 44"/>
          <p:cNvSpPr txBox="1"/>
          <p:nvPr/>
        </p:nvSpPr>
        <p:spPr>
          <a:xfrm>
            <a:off x="241300" y="2686050"/>
            <a:ext cx="4213225" cy="1552575"/>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如果在转换时间</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CONV</a:t>
            </a:r>
            <a:r>
              <a:rPr lang="zh-CN" altLang="en-US" sz="2400" dirty="0">
                <a:solidFill>
                  <a:schemeClr val="tx1"/>
                </a:solidFill>
                <a:latin typeface="Times New Roman" panose="02020603050405020304" pitchFamily="18" charset="0"/>
              </a:rPr>
              <a:t>内</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允许的电压的最大变化不超过</a:t>
            </a:r>
            <a:r>
              <a:rPr lang="en-US" altLang="zh-CN" sz="2400" dirty="0">
                <a:solidFill>
                  <a:srgbClr val="CC00CC"/>
                </a:solidFill>
                <a:latin typeface="Times New Roman" panose="02020603050405020304" pitchFamily="18" charset="0"/>
                <a:ea typeface="宋体" panose="02010600030101010101" pitchFamily="2" charset="-122"/>
              </a:rPr>
              <a:t>1</a:t>
            </a:r>
            <a:r>
              <a:rPr lang="en-US" altLang="zh-CN" sz="2400" i="1" dirty="0">
                <a:solidFill>
                  <a:srgbClr val="CC00CC"/>
                </a:solidFill>
                <a:latin typeface="Times New Roman" panose="02020603050405020304" pitchFamily="18" charset="0"/>
                <a:ea typeface="宋体" panose="02010600030101010101" pitchFamily="2" charset="-122"/>
              </a:rPr>
              <a:t>LSB</a:t>
            </a:r>
            <a:r>
              <a:rPr lang="zh-CN" altLang="en-US" sz="2400" dirty="0">
                <a:solidFill>
                  <a:schemeClr val="tx1"/>
                </a:solidFill>
                <a:latin typeface="Times New Roman" panose="02020603050405020304" pitchFamily="18" charset="0"/>
              </a:rPr>
              <a:t>所代表的电压</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则系统可采集的最高信号频率为：</a:t>
            </a:r>
            <a:endParaRPr lang="zh-CN" altLang="en-US" sz="2400" dirty="0">
              <a:solidFill>
                <a:schemeClr val="tx1"/>
              </a:solidFill>
              <a:latin typeface="Times New Roman" panose="02020603050405020304" pitchFamily="18" charset="0"/>
            </a:endParaRPr>
          </a:p>
        </p:txBody>
      </p:sp>
      <p:graphicFrame>
        <p:nvGraphicFramePr>
          <p:cNvPr id="2426925" name="Object 45"/>
          <p:cNvGraphicFramePr>
            <a:graphicFrameLocks noChangeAspect="1"/>
          </p:cNvGraphicFramePr>
          <p:nvPr/>
        </p:nvGraphicFramePr>
        <p:xfrm>
          <a:off x="792163" y="4789488"/>
          <a:ext cx="2879725" cy="774700"/>
        </p:xfrm>
        <a:graphic>
          <a:graphicData uri="http://schemas.openxmlformats.org/presentationml/2006/ole">
            <mc:AlternateContent xmlns:mc="http://schemas.openxmlformats.org/markup-compatibility/2006">
              <mc:Choice xmlns:v="urn:schemas-microsoft-com:vml" Requires="v">
                <p:oleObj spid="_x0000_s3085" name="" r:id="rId1" imgW="1016000" imgH="431800" progId="Equation.3">
                  <p:embed/>
                </p:oleObj>
              </mc:Choice>
              <mc:Fallback>
                <p:oleObj name="" r:id="rId1" imgW="1016000" imgH="431800" progId="Equation.3">
                  <p:embed/>
                  <p:pic>
                    <p:nvPicPr>
                      <p:cNvPr id="0" name="图片 3084"/>
                      <p:cNvPicPr/>
                      <p:nvPr/>
                    </p:nvPicPr>
                    <p:blipFill>
                      <a:blip r:embed="rId2"/>
                      <a:stretch>
                        <a:fillRect/>
                      </a:stretch>
                    </p:blipFill>
                    <p:spPr>
                      <a:xfrm>
                        <a:off x="792163" y="4789488"/>
                        <a:ext cx="2879725" cy="774700"/>
                      </a:xfrm>
                      <a:prstGeom prst="rect">
                        <a:avLst/>
                      </a:prstGeom>
                      <a:solidFill>
                        <a:srgbClr val="CCFFCC"/>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6924">
                                            <p:txEl>
                                              <p:charRg st="0" end="54"/>
                                            </p:txEl>
                                          </p:spTgt>
                                        </p:tgtEl>
                                        <p:attrNameLst>
                                          <p:attrName>style.visibility</p:attrName>
                                        </p:attrNameLst>
                                      </p:cBhvr>
                                      <p:to>
                                        <p:strVal val="visible"/>
                                      </p:to>
                                    </p:set>
                                    <p:animEffect transition="in" filter="dissolve">
                                      <p:cBhvr>
                                        <p:cTn id="7" dur="500"/>
                                        <p:tgtEl>
                                          <p:spTgt spid="2426924">
                                            <p:txEl>
                                              <p:charRg st="0" end="54"/>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6925"/>
                                        </p:tgtEl>
                                        <p:attrNameLst>
                                          <p:attrName>style.visibility</p:attrName>
                                        </p:attrNameLst>
                                      </p:cBhvr>
                                      <p:to>
                                        <p:strVal val="visible"/>
                                      </p:to>
                                    </p:set>
                                    <p:animEffect transition="in" filter="dissolve">
                                      <p:cBhvr>
                                        <p:cTn id="12" dur="500"/>
                                        <p:tgtEl>
                                          <p:spTgt spid="2426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24" grpId="0" build="p"/>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3794" name="Rectangle 2"/>
          <p:cNvSpPr/>
          <p:nvPr/>
        </p:nvSpPr>
        <p:spPr>
          <a:xfrm>
            <a:off x="4572000" y="2641600"/>
            <a:ext cx="4432300" cy="348773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28931"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3796" name="Text Box 4"/>
          <p:cNvSpPr txBox="1"/>
          <p:nvPr/>
        </p:nvSpPr>
        <p:spPr>
          <a:xfrm>
            <a:off x="358775" y="1952625"/>
            <a:ext cx="6948488" cy="519113"/>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直接用</a:t>
            </a:r>
            <a:r>
              <a:rPr lang="en-US" altLang="zh-CN" sz="2800" dirty="0">
                <a:solidFill>
                  <a:srgbClr val="FF0000"/>
                </a:solidFill>
                <a:latin typeface="Times New Roman" panose="02020603050405020304" pitchFamily="18" charset="0"/>
                <a:ea typeface="宋体" panose="02010600030101010101" pitchFamily="2" charset="-122"/>
              </a:rPr>
              <a:t>A/D</a:t>
            </a:r>
            <a:r>
              <a:rPr lang="zh-CN" altLang="en-US" sz="2800" dirty="0">
                <a:solidFill>
                  <a:srgbClr val="FF0000"/>
                </a:solidFill>
                <a:latin typeface="Times New Roman" panose="02020603050405020304" pitchFamily="18" charset="0"/>
              </a:rPr>
              <a:t>转换器对模拟信号进行转换</a:t>
            </a:r>
            <a:r>
              <a:rPr lang="en-US" altLang="zh-CN" sz="2800" dirty="0">
                <a:solidFill>
                  <a:srgbClr val="FF0000"/>
                </a:solidFill>
                <a:latin typeface="Times New Roman" panose="02020603050405020304" pitchFamily="18" charset="0"/>
              </a:rPr>
              <a:t>:</a:t>
            </a:r>
            <a:endParaRPr lang="en-US" altLang="zh-CN" sz="2800" dirty="0">
              <a:solidFill>
                <a:srgbClr val="FF0000"/>
              </a:solidFill>
              <a:latin typeface="Times New Roman" panose="02020603050405020304" pitchFamily="18" charset="0"/>
            </a:endParaRPr>
          </a:p>
        </p:txBody>
      </p:sp>
      <p:sp>
        <p:nvSpPr>
          <p:cNvPr id="33797" name="Text Box 5"/>
          <p:cNvSpPr txBox="1"/>
          <p:nvPr/>
        </p:nvSpPr>
        <p:spPr>
          <a:xfrm>
            <a:off x="358775" y="800100"/>
            <a:ext cx="8497888" cy="1077913"/>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latin typeface="黑体" panose="02010609060101010101" pitchFamily="49" charset="-122"/>
                <a:ea typeface="黑体" panose="02010609060101010101" pitchFamily="49" charset="-122"/>
              </a:rPr>
              <a:t>如果模拟信号不经过采样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保持器而直接输入</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转换器，系统允许该模拟信号的变化率就得降低。要保证</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转换的精度</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必须确保</a:t>
            </a:r>
            <a:r>
              <a:rPr lang="en-US" altLang="zh-CN" sz="2400" dirty="0">
                <a:latin typeface="黑体" panose="02010609060101010101" pitchFamily="49" charset="-122"/>
                <a:ea typeface="黑体" panose="02010609060101010101" pitchFamily="49" charset="-122"/>
              </a:rPr>
              <a:t>A/D</a:t>
            </a:r>
            <a:r>
              <a:rPr lang="zh-CN" altLang="en-US" sz="2400" dirty="0">
                <a:latin typeface="黑体" panose="02010609060101010101" pitchFamily="49" charset="-122"/>
                <a:ea typeface="黑体" panose="02010609060101010101" pitchFamily="49" charset="-122"/>
              </a:rPr>
              <a:t>转换过程中模拟信号的变化量不得大于</a:t>
            </a:r>
            <a:r>
              <a:rPr lang="en-US" altLang="zh-CN" sz="2400" dirty="0">
                <a:solidFill>
                  <a:srgbClr val="FF0000"/>
                </a:solidFill>
                <a:latin typeface="Times New Roman" panose="02020603050405020304" pitchFamily="18" charset="0"/>
                <a:ea typeface="黑体" panose="02010609060101010101" pitchFamily="49" charset="-122"/>
              </a:rPr>
              <a:t>LSB/2</a:t>
            </a:r>
            <a:r>
              <a:rPr lang="en-US" altLang="zh-CN" sz="2400" dirty="0">
                <a:latin typeface="黑体" panose="02010609060101010101" pitchFamily="49" charset="-122"/>
                <a:ea typeface="黑体" panose="02010609060101010101" pitchFamily="49" charset="-122"/>
              </a:rPr>
              <a:t>.</a:t>
            </a:r>
            <a:endParaRPr lang="en-US" altLang="zh-CN" sz="2400" dirty="0">
              <a:latin typeface="黑体" panose="02010609060101010101" pitchFamily="49" charset="-122"/>
              <a:ea typeface="黑体" panose="02010609060101010101" pitchFamily="49" charset="-122"/>
            </a:endParaRPr>
          </a:p>
        </p:txBody>
      </p:sp>
      <p:sp>
        <p:nvSpPr>
          <p:cNvPr id="33798" name="AutoShape 6"/>
          <p:cNvSpPr/>
          <p:nvPr/>
        </p:nvSpPr>
        <p:spPr>
          <a:xfrm>
            <a:off x="7024688" y="2797175"/>
            <a:ext cx="1647825" cy="604838"/>
          </a:xfrm>
          <a:prstGeom prst="wedgeRoundRectCallout">
            <a:avLst>
              <a:gd name="adj1" fmla="val -70231"/>
              <a:gd name="adj2" fmla="val 5393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3799" name="Line 7"/>
          <p:cNvSpPr/>
          <p:nvPr/>
        </p:nvSpPr>
        <p:spPr>
          <a:xfrm>
            <a:off x="4946650" y="4319588"/>
            <a:ext cx="3843338" cy="0"/>
          </a:xfrm>
          <a:prstGeom prst="line">
            <a:avLst/>
          </a:prstGeom>
          <a:ln w="12700" cap="flat" cmpd="sng">
            <a:solidFill>
              <a:schemeClr val="accent2"/>
            </a:solidFill>
            <a:prstDash val="solid"/>
            <a:headEnd type="none" w="med" len="med"/>
            <a:tailEnd type="stealth" w="med" len="lg"/>
          </a:ln>
        </p:spPr>
      </p:sp>
      <p:sp>
        <p:nvSpPr>
          <p:cNvPr id="33800" name="Text Box 8"/>
          <p:cNvSpPr txBox="1"/>
          <p:nvPr/>
        </p:nvSpPr>
        <p:spPr>
          <a:xfrm>
            <a:off x="8750300" y="4146550"/>
            <a:ext cx="2540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endParaRPr lang="en-US" altLang="zh-CN" sz="2000" i="1" dirty="0">
              <a:solidFill>
                <a:srgbClr val="FF0000"/>
              </a:solidFill>
              <a:latin typeface="Times New Roman" panose="02020603050405020304" pitchFamily="18" charset="0"/>
            </a:endParaRPr>
          </a:p>
        </p:txBody>
      </p:sp>
      <p:sp>
        <p:nvSpPr>
          <p:cNvPr id="33801" name="Line 9"/>
          <p:cNvSpPr/>
          <p:nvPr/>
        </p:nvSpPr>
        <p:spPr>
          <a:xfrm flipV="1">
            <a:off x="4946650" y="2741613"/>
            <a:ext cx="0" cy="1577975"/>
          </a:xfrm>
          <a:prstGeom prst="line">
            <a:avLst/>
          </a:prstGeom>
          <a:ln w="12700" cap="flat" cmpd="sng">
            <a:solidFill>
              <a:schemeClr val="accent2"/>
            </a:solidFill>
            <a:prstDash val="solid"/>
            <a:headEnd type="none" w="med" len="med"/>
            <a:tailEnd type="stealth" w="med" len="lg"/>
          </a:ln>
        </p:spPr>
      </p:sp>
      <p:sp>
        <p:nvSpPr>
          <p:cNvPr id="33802" name="Line 10"/>
          <p:cNvSpPr/>
          <p:nvPr/>
        </p:nvSpPr>
        <p:spPr>
          <a:xfrm>
            <a:off x="5449888" y="3179763"/>
            <a:ext cx="822325" cy="0"/>
          </a:xfrm>
          <a:prstGeom prst="line">
            <a:avLst/>
          </a:prstGeom>
          <a:ln w="12700" cap="flat" cmpd="sng">
            <a:solidFill>
              <a:srgbClr val="FF0000"/>
            </a:solidFill>
            <a:prstDash val="dash"/>
            <a:headEnd type="none" w="med" len="med"/>
            <a:tailEnd type="none" w="med" len="med"/>
          </a:ln>
        </p:spPr>
      </p:sp>
      <p:sp>
        <p:nvSpPr>
          <p:cNvPr id="33803" name="Line 11"/>
          <p:cNvSpPr/>
          <p:nvPr/>
        </p:nvSpPr>
        <p:spPr>
          <a:xfrm flipV="1">
            <a:off x="5516563" y="3179763"/>
            <a:ext cx="0" cy="1139825"/>
          </a:xfrm>
          <a:prstGeom prst="line">
            <a:avLst/>
          </a:prstGeom>
          <a:ln w="9525" cap="flat" cmpd="sng">
            <a:solidFill>
              <a:srgbClr val="FF0000"/>
            </a:solidFill>
            <a:prstDash val="solid"/>
            <a:headEnd type="stealth" w="sm" len="lg"/>
            <a:tailEnd type="stealth" w="sm" len="lg"/>
          </a:ln>
        </p:spPr>
      </p:sp>
      <p:grpSp>
        <p:nvGrpSpPr>
          <p:cNvPr id="33804" name="Group 12"/>
          <p:cNvGrpSpPr/>
          <p:nvPr/>
        </p:nvGrpSpPr>
        <p:grpSpPr>
          <a:xfrm>
            <a:off x="5013325" y="3402013"/>
            <a:ext cx="506413" cy="673100"/>
            <a:chOff x="618" y="2002"/>
            <a:chExt cx="319" cy="424"/>
          </a:xfrm>
        </p:grpSpPr>
        <p:sp>
          <p:nvSpPr>
            <p:cNvPr id="33827" name="Text Box 13"/>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3828" name="Text Box 14"/>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3829" name="Line 15"/>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3805" name="Freeform 16"/>
          <p:cNvSpPr/>
          <p:nvPr/>
        </p:nvSpPr>
        <p:spPr>
          <a:xfrm>
            <a:off x="5264150" y="3192463"/>
            <a:ext cx="941388" cy="2160587"/>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pathLst>
              <a:path w="593" h="1361">
                <a:moveTo>
                  <a:pt x="0" y="1361"/>
                </a:moveTo>
                <a:cubicBezTo>
                  <a:pt x="14" y="1345"/>
                  <a:pt x="28" y="1329"/>
                  <a:pt x="42" y="1311"/>
                </a:cubicBezTo>
                <a:cubicBezTo>
                  <a:pt x="56" y="1293"/>
                  <a:pt x="73" y="1269"/>
                  <a:pt x="84" y="1252"/>
                </a:cubicBezTo>
                <a:cubicBezTo>
                  <a:pt x="95" y="1235"/>
                  <a:pt x="99" y="1229"/>
                  <a:pt x="109" y="1211"/>
                </a:cubicBezTo>
                <a:cubicBezTo>
                  <a:pt x="119" y="1193"/>
                  <a:pt x="134" y="1165"/>
                  <a:pt x="142" y="1144"/>
                </a:cubicBezTo>
                <a:cubicBezTo>
                  <a:pt x="150" y="1123"/>
                  <a:pt x="152" y="1106"/>
                  <a:pt x="159" y="1085"/>
                </a:cubicBezTo>
                <a:cubicBezTo>
                  <a:pt x="166" y="1064"/>
                  <a:pt x="177" y="1041"/>
                  <a:pt x="184" y="1019"/>
                </a:cubicBezTo>
                <a:cubicBezTo>
                  <a:pt x="191" y="997"/>
                  <a:pt x="196" y="971"/>
                  <a:pt x="200" y="952"/>
                </a:cubicBezTo>
                <a:cubicBezTo>
                  <a:pt x="204" y="933"/>
                  <a:pt x="201" y="942"/>
                  <a:pt x="209" y="902"/>
                </a:cubicBezTo>
                <a:cubicBezTo>
                  <a:pt x="217" y="862"/>
                  <a:pt x="236" y="780"/>
                  <a:pt x="251" y="710"/>
                </a:cubicBezTo>
                <a:cubicBezTo>
                  <a:pt x="266" y="640"/>
                  <a:pt x="282" y="558"/>
                  <a:pt x="301" y="484"/>
                </a:cubicBezTo>
                <a:cubicBezTo>
                  <a:pt x="320" y="410"/>
                  <a:pt x="343" y="325"/>
                  <a:pt x="367" y="267"/>
                </a:cubicBezTo>
                <a:cubicBezTo>
                  <a:pt x="391" y="209"/>
                  <a:pt x="417" y="171"/>
                  <a:pt x="443" y="134"/>
                </a:cubicBezTo>
                <a:cubicBezTo>
                  <a:pt x="469" y="97"/>
                  <a:pt x="501" y="64"/>
                  <a:pt x="526" y="42"/>
                </a:cubicBezTo>
                <a:cubicBezTo>
                  <a:pt x="551" y="20"/>
                  <a:pt x="569" y="8"/>
                  <a:pt x="593" y="0"/>
                </a:cubicBezTo>
              </a:path>
            </a:pathLst>
          </a:custGeom>
          <a:noFill/>
          <a:ln w="9525">
            <a:noFill/>
          </a:ln>
        </p:spPr>
        <p:txBody>
          <a:bodyPr/>
          <a:p>
            <a:endParaRPr lang="zh-CN" altLang="en-US"/>
          </a:p>
        </p:txBody>
      </p:sp>
      <p:sp>
        <p:nvSpPr>
          <p:cNvPr id="33806" name="Freeform 17"/>
          <p:cNvSpPr/>
          <p:nvPr/>
        </p:nvSpPr>
        <p:spPr>
          <a:xfrm>
            <a:off x="5264150" y="3168650"/>
            <a:ext cx="3074988" cy="2303463"/>
          </a:xfrm>
          <a:custGeom>
            <a:avLst/>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pathLst>
              <a:path w="1937" h="1451">
                <a:moveTo>
                  <a:pt x="0" y="1376"/>
                </a:moveTo>
                <a:cubicBezTo>
                  <a:pt x="22" y="1355"/>
                  <a:pt x="45" y="1334"/>
                  <a:pt x="59" y="1317"/>
                </a:cubicBezTo>
                <a:cubicBezTo>
                  <a:pt x="73" y="1300"/>
                  <a:pt x="72" y="1299"/>
                  <a:pt x="84" y="1276"/>
                </a:cubicBezTo>
                <a:cubicBezTo>
                  <a:pt x="96" y="1253"/>
                  <a:pt x="117" y="1215"/>
                  <a:pt x="134" y="1176"/>
                </a:cubicBezTo>
                <a:cubicBezTo>
                  <a:pt x="151" y="1137"/>
                  <a:pt x="170" y="1091"/>
                  <a:pt x="184" y="1042"/>
                </a:cubicBezTo>
                <a:cubicBezTo>
                  <a:pt x="198" y="993"/>
                  <a:pt x="206" y="936"/>
                  <a:pt x="217" y="883"/>
                </a:cubicBezTo>
                <a:cubicBezTo>
                  <a:pt x="228" y="830"/>
                  <a:pt x="241" y="774"/>
                  <a:pt x="251" y="725"/>
                </a:cubicBezTo>
                <a:cubicBezTo>
                  <a:pt x="261" y="676"/>
                  <a:pt x="266" y="635"/>
                  <a:pt x="276" y="591"/>
                </a:cubicBezTo>
                <a:cubicBezTo>
                  <a:pt x="286" y="547"/>
                  <a:pt x="294" y="509"/>
                  <a:pt x="309" y="458"/>
                </a:cubicBezTo>
                <a:cubicBezTo>
                  <a:pt x="324" y="407"/>
                  <a:pt x="346" y="331"/>
                  <a:pt x="367" y="282"/>
                </a:cubicBezTo>
                <a:cubicBezTo>
                  <a:pt x="388" y="233"/>
                  <a:pt x="409" y="202"/>
                  <a:pt x="434" y="165"/>
                </a:cubicBezTo>
                <a:cubicBezTo>
                  <a:pt x="459" y="128"/>
                  <a:pt x="489" y="83"/>
                  <a:pt x="518" y="57"/>
                </a:cubicBezTo>
                <a:cubicBezTo>
                  <a:pt x="547" y="31"/>
                  <a:pt x="575" y="14"/>
                  <a:pt x="610" y="7"/>
                </a:cubicBezTo>
                <a:cubicBezTo>
                  <a:pt x="645" y="0"/>
                  <a:pt x="693" y="4"/>
                  <a:pt x="726" y="15"/>
                </a:cubicBezTo>
                <a:cubicBezTo>
                  <a:pt x="759" y="26"/>
                  <a:pt x="782" y="49"/>
                  <a:pt x="810" y="74"/>
                </a:cubicBezTo>
                <a:cubicBezTo>
                  <a:pt x="838" y="99"/>
                  <a:pt x="871" y="130"/>
                  <a:pt x="893" y="165"/>
                </a:cubicBezTo>
                <a:cubicBezTo>
                  <a:pt x="915" y="200"/>
                  <a:pt x="926" y="243"/>
                  <a:pt x="943" y="282"/>
                </a:cubicBezTo>
                <a:cubicBezTo>
                  <a:pt x="960" y="321"/>
                  <a:pt x="972" y="325"/>
                  <a:pt x="994" y="399"/>
                </a:cubicBezTo>
                <a:cubicBezTo>
                  <a:pt x="1016" y="473"/>
                  <a:pt x="1049" y="614"/>
                  <a:pt x="1077" y="725"/>
                </a:cubicBezTo>
                <a:cubicBezTo>
                  <a:pt x="1105" y="836"/>
                  <a:pt x="1135" y="984"/>
                  <a:pt x="1160" y="1067"/>
                </a:cubicBezTo>
                <a:cubicBezTo>
                  <a:pt x="1185" y="1150"/>
                  <a:pt x="1205" y="1182"/>
                  <a:pt x="1227" y="1226"/>
                </a:cubicBezTo>
                <a:cubicBezTo>
                  <a:pt x="1249" y="1270"/>
                  <a:pt x="1273" y="1306"/>
                  <a:pt x="1294" y="1334"/>
                </a:cubicBezTo>
                <a:cubicBezTo>
                  <a:pt x="1315" y="1362"/>
                  <a:pt x="1324" y="1375"/>
                  <a:pt x="1352" y="1393"/>
                </a:cubicBezTo>
                <a:cubicBezTo>
                  <a:pt x="1380" y="1411"/>
                  <a:pt x="1435" y="1435"/>
                  <a:pt x="1461" y="1443"/>
                </a:cubicBezTo>
                <a:cubicBezTo>
                  <a:pt x="1487" y="1451"/>
                  <a:pt x="1489" y="1447"/>
                  <a:pt x="1511" y="1443"/>
                </a:cubicBezTo>
                <a:cubicBezTo>
                  <a:pt x="1533" y="1439"/>
                  <a:pt x="1564" y="1437"/>
                  <a:pt x="1595" y="1418"/>
                </a:cubicBezTo>
                <a:cubicBezTo>
                  <a:pt x="1626" y="1399"/>
                  <a:pt x="1664" y="1364"/>
                  <a:pt x="1695" y="1326"/>
                </a:cubicBezTo>
                <a:cubicBezTo>
                  <a:pt x="1726" y="1288"/>
                  <a:pt x="1756" y="1239"/>
                  <a:pt x="1778" y="1192"/>
                </a:cubicBezTo>
                <a:cubicBezTo>
                  <a:pt x="1800" y="1145"/>
                  <a:pt x="1801" y="1144"/>
                  <a:pt x="1828" y="1042"/>
                </a:cubicBezTo>
                <a:cubicBezTo>
                  <a:pt x="1855" y="940"/>
                  <a:pt x="1919" y="659"/>
                  <a:pt x="1937" y="583"/>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33807" name="Line 18"/>
          <p:cNvSpPr/>
          <p:nvPr/>
        </p:nvSpPr>
        <p:spPr>
          <a:xfrm>
            <a:off x="5662613" y="4319588"/>
            <a:ext cx="0" cy="1192212"/>
          </a:xfrm>
          <a:prstGeom prst="line">
            <a:avLst/>
          </a:prstGeom>
          <a:ln w="12700" cap="flat" cmpd="sng">
            <a:solidFill>
              <a:srgbClr val="FF0000"/>
            </a:solidFill>
            <a:prstDash val="dash"/>
            <a:headEnd type="none" w="med" len="med"/>
            <a:tailEnd type="none" w="med" len="med"/>
          </a:ln>
        </p:spPr>
      </p:sp>
      <p:sp>
        <p:nvSpPr>
          <p:cNvPr id="33808" name="Line 19"/>
          <p:cNvSpPr/>
          <p:nvPr/>
        </p:nvSpPr>
        <p:spPr>
          <a:xfrm>
            <a:off x="5861050" y="3616325"/>
            <a:ext cx="0" cy="1908175"/>
          </a:xfrm>
          <a:prstGeom prst="line">
            <a:avLst/>
          </a:prstGeom>
          <a:ln w="12700" cap="flat" cmpd="sng">
            <a:solidFill>
              <a:srgbClr val="FF0000"/>
            </a:solidFill>
            <a:prstDash val="dash"/>
            <a:headEnd type="none" w="med" len="med"/>
            <a:tailEnd type="none" w="med" len="med"/>
          </a:ln>
        </p:spPr>
      </p:sp>
      <p:sp>
        <p:nvSpPr>
          <p:cNvPr id="33809" name="Line 20"/>
          <p:cNvSpPr/>
          <p:nvPr/>
        </p:nvSpPr>
        <p:spPr>
          <a:xfrm>
            <a:off x="5357813" y="5445125"/>
            <a:ext cx="304800" cy="0"/>
          </a:xfrm>
          <a:prstGeom prst="line">
            <a:avLst/>
          </a:prstGeom>
          <a:ln w="9525" cap="flat" cmpd="sng">
            <a:solidFill>
              <a:srgbClr val="FF0000"/>
            </a:solidFill>
            <a:prstDash val="solid"/>
            <a:headEnd type="none" w="med" len="med"/>
            <a:tailEnd type="stealth" w="sm" len="lg"/>
          </a:ln>
        </p:spPr>
      </p:sp>
      <p:sp>
        <p:nvSpPr>
          <p:cNvPr id="33810" name="Line 21"/>
          <p:cNvSpPr/>
          <p:nvPr/>
        </p:nvSpPr>
        <p:spPr>
          <a:xfrm flipH="1">
            <a:off x="5861050" y="5445125"/>
            <a:ext cx="371475" cy="0"/>
          </a:xfrm>
          <a:prstGeom prst="line">
            <a:avLst/>
          </a:prstGeom>
          <a:ln w="9525" cap="flat" cmpd="sng">
            <a:solidFill>
              <a:srgbClr val="FF0000"/>
            </a:solidFill>
            <a:prstDash val="solid"/>
            <a:headEnd type="none" w="med" len="med"/>
            <a:tailEnd type="stealth" w="sm" len="lg"/>
          </a:ln>
        </p:spPr>
      </p:sp>
      <p:sp>
        <p:nvSpPr>
          <p:cNvPr id="33811" name="Text Box 22"/>
          <p:cNvSpPr txBox="1"/>
          <p:nvPr/>
        </p:nvSpPr>
        <p:spPr>
          <a:xfrm>
            <a:off x="5876925" y="5178425"/>
            <a:ext cx="684213" cy="312738"/>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t</a:t>
            </a:r>
            <a:endParaRPr lang="en-US" altLang="zh-CN" sz="1600" i="1" dirty="0">
              <a:latin typeface="Times New Roman" panose="02020603050405020304" pitchFamily="18" charset="0"/>
            </a:endParaRPr>
          </a:p>
        </p:txBody>
      </p:sp>
      <p:sp>
        <p:nvSpPr>
          <p:cNvPr id="33812" name="Line 23"/>
          <p:cNvSpPr/>
          <p:nvPr/>
        </p:nvSpPr>
        <p:spPr>
          <a:xfrm>
            <a:off x="5861050" y="3616325"/>
            <a:ext cx="436563" cy="0"/>
          </a:xfrm>
          <a:prstGeom prst="line">
            <a:avLst/>
          </a:prstGeom>
          <a:ln w="12700" cap="flat" cmpd="sng">
            <a:solidFill>
              <a:srgbClr val="FF0000"/>
            </a:solidFill>
            <a:prstDash val="dash"/>
            <a:headEnd type="none" w="med" len="med"/>
            <a:tailEnd type="none" w="med" len="med"/>
          </a:ln>
        </p:spPr>
      </p:sp>
      <p:sp>
        <p:nvSpPr>
          <p:cNvPr id="33813" name="Line 24"/>
          <p:cNvSpPr/>
          <p:nvPr/>
        </p:nvSpPr>
        <p:spPr>
          <a:xfrm>
            <a:off x="6165850" y="3616325"/>
            <a:ext cx="0" cy="703263"/>
          </a:xfrm>
          <a:prstGeom prst="line">
            <a:avLst/>
          </a:prstGeom>
          <a:ln w="9525" cap="flat" cmpd="sng">
            <a:solidFill>
              <a:srgbClr val="FF0000"/>
            </a:solidFill>
            <a:prstDash val="solid"/>
            <a:headEnd type="stealth" w="sm" len="lg"/>
            <a:tailEnd type="stealth" w="sm" len="lg"/>
          </a:ln>
        </p:spPr>
      </p:sp>
      <p:sp>
        <p:nvSpPr>
          <p:cNvPr id="33814" name="Text Box 25"/>
          <p:cNvSpPr txBox="1"/>
          <p:nvPr/>
        </p:nvSpPr>
        <p:spPr>
          <a:xfrm>
            <a:off x="6067425" y="3792538"/>
            <a:ext cx="709613" cy="312737"/>
          </a:xfrm>
          <a:prstGeom prst="rect">
            <a:avLst/>
          </a:prstGeom>
          <a:noFill/>
          <a:ln w="9525">
            <a:noFill/>
          </a:ln>
        </p:spPr>
        <p:txBody>
          <a:bodyPr>
            <a:spAutoFit/>
          </a:bodyPr>
          <a:p>
            <a:pPr eaLnBrk="1" hangingPunct="1">
              <a:lnSpc>
                <a:spcPct val="90000"/>
              </a:lnSpc>
            </a:pPr>
            <a:r>
              <a:rPr lang="en-US" altLang="zh-CN" sz="1600" dirty="0">
                <a:latin typeface="Times New Roman" panose="02020603050405020304" pitchFamily="18" charset="0"/>
              </a:rPr>
              <a:t>△</a:t>
            </a:r>
            <a:r>
              <a:rPr lang="en-US" altLang="zh-CN" sz="1600" i="1" dirty="0">
                <a:latin typeface="Times New Roman" panose="02020603050405020304" pitchFamily="18" charset="0"/>
              </a:rPr>
              <a:t>U</a:t>
            </a:r>
            <a:endParaRPr lang="en-US" altLang="zh-CN" sz="1600" i="1" dirty="0">
              <a:latin typeface="Times New Roman" panose="02020603050405020304" pitchFamily="18" charset="0"/>
            </a:endParaRPr>
          </a:p>
        </p:txBody>
      </p:sp>
      <p:sp>
        <p:nvSpPr>
          <p:cNvPr id="33815" name="Text Box 26"/>
          <p:cNvSpPr txBox="1"/>
          <p:nvPr/>
        </p:nvSpPr>
        <p:spPr>
          <a:xfrm>
            <a:off x="4572000" y="2641600"/>
            <a:ext cx="368300" cy="366713"/>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33816" name="Text Box 27"/>
          <p:cNvSpPr txBox="1"/>
          <p:nvPr/>
        </p:nvSpPr>
        <p:spPr>
          <a:xfrm>
            <a:off x="5113338" y="5708650"/>
            <a:ext cx="3248025" cy="420688"/>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正弦信号的最大变化率</a:t>
            </a:r>
            <a:endParaRPr lang="zh-CN" altLang="en-US" sz="2400" dirty="0">
              <a:solidFill>
                <a:srgbClr val="000099"/>
              </a:solidFill>
              <a:latin typeface="Times New Roman" panose="02020603050405020304" pitchFamily="18" charset="0"/>
            </a:endParaRPr>
          </a:p>
        </p:txBody>
      </p:sp>
      <p:grpSp>
        <p:nvGrpSpPr>
          <p:cNvPr id="33817" name="Group 28"/>
          <p:cNvGrpSpPr/>
          <p:nvPr/>
        </p:nvGrpSpPr>
        <p:grpSpPr>
          <a:xfrm>
            <a:off x="6975475" y="2765425"/>
            <a:ext cx="1722438" cy="673100"/>
            <a:chOff x="618" y="2097"/>
            <a:chExt cx="1085" cy="424"/>
          </a:xfrm>
        </p:grpSpPr>
        <p:sp>
          <p:nvSpPr>
            <p:cNvPr id="33821" name="Text Box 29"/>
            <p:cNvSpPr txBox="1"/>
            <p:nvPr/>
          </p:nvSpPr>
          <p:spPr>
            <a:xfrm>
              <a:off x="618" y="2203"/>
              <a:ext cx="35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r>
                <a:rPr lang="en-US" altLang="zh-CN" sz="2000" i="1" dirty="0">
                  <a:latin typeface="Times New Roman" panose="02020603050405020304" pitchFamily="18" charset="0"/>
                </a:rPr>
                <a:t>=</a:t>
              </a:r>
              <a:endParaRPr lang="en-US" altLang="zh-CN" sz="2000" i="1" baseline="-25000" dirty="0">
                <a:latin typeface="Times New Roman" panose="02020603050405020304" pitchFamily="18" charset="0"/>
              </a:endParaRPr>
            </a:p>
          </p:txBody>
        </p:sp>
        <p:grpSp>
          <p:nvGrpSpPr>
            <p:cNvPr id="33822" name="Group 30"/>
            <p:cNvGrpSpPr/>
            <p:nvPr/>
          </p:nvGrpSpPr>
          <p:grpSpPr>
            <a:xfrm>
              <a:off x="933" y="2097"/>
              <a:ext cx="319" cy="424"/>
              <a:chOff x="618" y="2002"/>
              <a:chExt cx="319" cy="424"/>
            </a:xfrm>
          </p:grpSpPr>
          <p:sp>
            <p:nvSpPr>
              <p:cNvPr id="33824" name="Text Box 31"/>
              <p:cNvSpPr txBox="1"/>
              <p:nvPr/>
            </p:nvSpPr>
            <p:spPr>
              <a:xfrm>
                <a:off x="618" y="2002"/>
                <a:ext cx="319"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baseline="-25000" dirty="0">
                    <a:latin typeface="Times New Roman" panose="02020603050405020304" pitchFamily="18" charset="0"/>
                  </a:rPr>
                  <a:t>m</a:t>
                </a:r>
                <a:endParaRPr lang="en-US" altLang="zh-CN" sz="2000" baseline="-25000" dirty="0">
                  <a:latin typeface="Times New Roman" panose="02020603050405020304" pitchFamily="18" charset="0"/>
                </a:endParaRPr>
              </a:p>
            </p:txBody>
          </p:sp>
          <p:sp>
            <p:nvSpPr>
              <p:cNvPr id="33825" name="Text Box 32"/>
              <p:cNvSpPr txBox="1"/>
              <p:nvPr/>
            </p:nvSpPr>
            <p:spPr>
              <a:xfrm>
                <a:off x="660" y="2195"/>
                <a:ext cx="196" cy="231"/>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33826" name="Line 33"/>
              <p:cNvSpPr/>
              <p:nvPr/>
            </p:nvSpPr>
            <p:spPr>
              <a:xfrm>
                <a:off x="643" y="2221"/>
                <a:ext cx="250" cy="0"/>
              </a:xfrm>
              <a:prstGeom prst="line">
                <a:avLst/>
              </a:prstGeom>
              <a:ln w="9525" cap="flat" cmpd="sng">
                <a:solidFill>
                  <a:schemeClr val="accent2"/>
                </a:solidFill>
                <a:prstDash val="solid"/>
                <a:headEnd type="none" w="med" len="med"/>
                <a:tailEnd type="none" w="med" len="med"/>
              </a:ln>
            </p:spPr>
          </p:sp>
        </p:grpSp>
        <p:sp>
          <p:nvSpPr>
            <p:cNvPr id="33823" name="Text Box 34"/>
            <p:cNvSpPr txBox="1"/>
            <p:nvPr/>
          </p:nvSpPr>
          <p:spPr>
            <a:xfrm>
              <a:off x="1178" y="2186"/>
              <a:ext cx="525"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dirty="0">
                  <a:latin typeface="Times New Roman" panose="02020603050405020304" pitchFamily="18" charset="0"/>
                  <a:ea typeface="宋体" panose="02010600030101010101" pitchFamily="2" charset="-122"/>
                </a:rPr>
                <a:t>ωt</a:t>
              </a:r>
              <a:endParaRPr lang="en-US" altLang="zh-CN" sz="2000" dirty="0">
                <a:latin typeface="Times New Roman" panose="02020603050405020304" pitchFamily="18" charset="0"/>
              </a:endParaRPr>
            </a:p>
          </p:txBody>
        </p:sp>
      </p:grpSp>
      <p:sp>
        <p:nvSpPr>
          <p:cNvPr id="2428963" name="Text Box 35"/>
          <p:cNvSpPr txBox="1"/>
          <p:nvPr/>
        </p:nvSpPr>
        <p:spPr>
          <a:xfrm>
            <a:off x="358775" y="2420938"/>
            <a:ext cx="3960813" cy="1187450"/>
          </a:xfrm>
          <a:prstGeom prst="rect">
            <a:avLst/>
          </a:prstGeom>
          <a:noFill/>
          <a:ln w="9525">
            <a:noFill/>
          </a:ln>
        </p:spPr>
        <p:txBody>
          <a:bodyPr>
            <a:spAutoFit/>
          </a:bodyPr>
          <a:p>
            <a:pPr eaLnBrk="1" hangingPunct="1"/>
            <a:r>
              <a:rPr lang="zh-CN" altLang="en-US" sz="2400" dirty="0">
                <a:latin typeface="Times New Roman" panose="02020603050405020304" pitchFamily="18" charset="0"/>
              </a:rPr>
              <a:t>如果允许正弦信号电压变化</a:t>
            </a:r>
            <a:r>
              <a:rPr lang="en-US" altLang="zh-CN" sz="2400" dirty="0">
                <a:solidFill>
                  <a:srgbClr val="FF0000"/>
                </a:solidFill>
                <a:latin typeface="Times New Roman" panose="02020603050405020304" pitchFamily="18" charset="0"/>
              </a:rPr>
              <a:t>0.5</a:t>
            </a:r>
            <a:r>
              <a:rPr lang="en-US" altLang="zh-CN" sz="2400" i="1" dirty="0">
                <a:solidFill>
                  <a:srgbClr val="FF0000"/>
                </a:solidFill>
                <a:latin typeface="Times New Roman" panose="02020603050405020304" pitchFamily="18" charset="0"/>
              </a:rPr>
              <a:t>LSB</a:t>
            </a:r>
            <a:r>
              <a:rPr lang="zh-CN" altLang="en-US" sz="2400" dirty="0">
                <a:latin typeface="Times New Roman" panose="02020603050405020304" pitchFamily="18" charset="0"/>
              </a:rPr>
              <a:t>，则系统可采集的最高信号频率为：</a:t>
            </a:r>
            <a:endParaRPr lang="zh-CN" altLang="en-US" sz="2400" dirty="0">
              <a:latin typeface="Times New Roman" panose="02020603050405020304" pitchFamily="18" charset="0"/>
            </a:endParaRPr>
          </a:p>
        </p:txBody>
      </p:sp>
      <p:graphicFrame>
        <p:nvGraphicFramePr>
          <p:cNvPr id="2428966" name="Object 38"/>
          <p:cNvGraphicFramePr>
            <a:graphicFrameLocks noChangeAspect="1"/>
          </p:cNvGraphicFramePr>
          <p:nvPr/>
        </p:nvGraphicFramePr>
        <p:xfrm>
          <a:off x="900113" y="3616325"/>
          <a:ext cx="2770187" cy="942975"/>
        </p:xfrm>
        <a:graphic>
          <a:graphicData uri="http://schemas.openxmlformats.org/presentationml/2006/ole">
            <mc:AlternateContent xmlns:mc="http://schemas.openxmlformats.org/markup-compatibility/2006">
              <mc:Choice xmlns:v="urn:schemas-microsoft-com:vml" Requires="v">
                <p:oleObj spid="_x0000_s3086" name="" r:id="rId1" imgW="1104900" imgH="431800" progId="Equation.3">
                  <p:embed/>
                </p:oleObj>
              </mc:Choice>
              <mc:Fallback>
                <p:oleObj name="" r:id="rId1" imgW="1104900" imgH="431800" progId="Equation.3">
                  <p:embed/>
                  <p:pic>
                    <p:nvPicPr>
                      <p:cNvPr id="0" name="图片 3085"/>
                      <p:cNvPicPr/>
                      <p:nvPr/>
                    </p:nvPicPr>
                    <p:blipFill>
                      <a:blip r:embed="rId2"/>
                      <a:stretch>
                        <a:fillRect/>
                      </a:stretch>
                    </p:blipFill>
                    <p:spPr>
                      <a:xfrm>
                        <a:off x="900113" y="3616325"/>
                        <a:ext cx="2770187" cy="942975"/>
                      </a:xfrm>
                      <a:prstGeom prst="rect">
                        <a:avLst/>
                      </a:prstGeom>
                      <a:solidFill>
                        <a:srgbClr val="CCFFCC"/>
                      </a:solidFill>
                      <a:ln w="38100">
                        <a:noFill/>
                        <a:miter/>
                      </a:ln>
                    </p:spPr>
                  </p:pic>
                </p:oleObj>
              </mc:Fallback>
            </mc:AlternateContent>
          </a:graphicData>
        </a:graphic>
      </p:graphicFrame>
      <p:sp>
        <p:nvSpPr>
          <p:cNvPr id="2428967" name="Rectangle 39"/>
          <p:cNvSpPr/>
          <p:nvPr/>
        </p:nvSpPr>
        <p:spPr>
          <a:xfrm>
            <a:off x="466725" y="4799013"/>
            <a:ext cx="3600450" cy="1077912"/>
          </a:xfrm>
          <a:prstGeom prst="rect">
            <a:avLst/>
          </a:prstGeom>
          <a:solidFill>
            <a:srgbClr val="FFCC99"/>
          </a:solidFill>
          <a:ln w="9525">
            <a:noFill/>
          </a:ln>
        </p:spPr>
        <p:txBody>
          <a:bodyPr>
            <a:spAutoFit/>
          </a:bodyPr>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系统可采集的最高信号频率受</a:t>
            </a:r>
            <a:r>
              <a:rPr lang="en-US" altLang="zh-CN" sz="2400" dirty="0">
                <a:solidFill>
                  <a:srgbClr val="FF0000"/>
                </a:solidFill>
                <a:latin typeface="Times New Roman" panose="02020603050405020304" pitchFamily="18" charset="0"/>
                <a:ea typeface="黑体" panose="02010609060101010101" pitchFamily="49" charset="-122"/>
              </a:rPr>
              <a:t>A/D</a:t>
            </a:r>
            <a:r>
              <a:rPr lang="zh-CN" altLang="en-US" sz="2400" dirty="0">
                <a:solidFill>
                  <a:schemeClr val="tx1"/>
                </a:solidFill>
                <a:latin typeface="黑体" panose="02010609060101010101" pitchFamily="49" charset="-122"/>
                <a:ea typeface="黑体" panose="02010609060101010101" pitchFamily="49" charset="-122"/>
              </a:rPr>
              <a:t>转换器的位数和转换时间的限制。</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8963">
                                            <p:txEl>
                                              <p:charRg st="0" end="35"/>
                                            </p:txEl>
                                          </p:spTgt>
                                        </p:tgtEl>
                                        <p:attrNameLst>
                                          <p:attrName>style.visibility</p:attrName>
                                        </p:attrNameLst>
                                      </p:cBhvr>
                                      <p:to>
                                        <p:strVal val="visible"/>
                                      </p:to>
                                    </p:set>
                                    <p:animEffect transition="in" filter="dissolve">
                                      <p:cBhvr>
                                        <p:cTn id="7" dur="500"/>
                                        <p:tgtEl>
                                          <p:spTgt spid="2428963">
                                            <p:txEl>
                                              <p:charRg st="0" end="35"/>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8966"/>
                                        </p:tgtEl>
                                        <p:attrNameLst>
                                          <p:attrName>style.visibility</p:attrName>
                                        </p:attrNameLst>
                                      </p:cBhvr>
                                      <p:to>
                                        <p:strVal val="visible"/>
                                      </p:to>
                                    </p:set>
                                    <p:animEffect transition="in" filter="dissolve">
                                      <p:cBhvr>
                                        <p:cTn id="12" dur="500"/>
                                        <p:tgtEl>
                                          <p:spTgt spid="242896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8967"/>
                                        </p:tgtEl>
                                        <p:attrNameLst>
                                          <p:attrName>style.visibility</p:attrName>
                                        </p:attrNameLst>
                                      </p:cBhvr>
                                      <p:to>
                                        <p:strVal val="visible"/>
                                      </p:to>
                                    </p:set>
                                    <p:animEffect transition="in" filter="dissolve">
                                      <p:cBhvr>
                                        <p:cTn id="17" dur="500"/>
                                        <p:tgtEl>
                                          <p:spTgt spid="24289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8963" grpId="0" build="p"/>
      <p:bldP spid="2428967"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8995" name="Text Box 3"/>
          <p:cNvSpPr txBox="1"/>
          <p:nvPr/>
        </p:nvSpPr>
        <p:spPr>
          <a:xfrm>
            <a:off x="1800225" y="765175"/>
            <a:ext cx="7045325" cy="1800225"/>
          </a:xfrm>
          <a:prstGeom prst="rect">
            <a:avLst/>
          </a:prstGeom>
          <a:noFill/>
          <a:ln w="9525">
            <a:noFill/>
          </a:ln>
        </p:spPr>
        <p:txBody>
          <a:bodyPr>
            <a:spAutoFit/>
          </a:bodyPr>
          <a:p>
            <a:pPr eaLnBrk="1" hangingPunct="1"/>
            <a:r>
              <a:rPr lang="zh-CN" altLang="en-US" sz="2800" dirty="0">
                <a:latin typeface="Times New Roman" panose="02020603050405020304" pitchFamily="18" charset="0"/>
              </a:rPr>
              <a:t>已知</a:t>
            </a:r>
            <a:r>
              <a:rPr lang="en-US" altLang="zh-CN" sz="2800" dirty="0">
                <a:latin typeface="Times New Roman" panose="02020603050405020304" pitchFamily="18" charset="0"/>
                <a:ea typeface="宋体" panose="02010600030101010101" pitchFamily="2" charset="-122"/>
              </a:rPr>
              <a:t>A/D</a:t>
            </a:r>
            <a:r>
              <a:rPr lang="zh-CN" altLang="en-US" sz="2800" dirty="0">
                <a:latin typeface="Times New Roman" panose="02020603050405020304" pitchFamily="18" charset="0"/>
              </a:rPr>
              <a:t>转换器的型号为</a:t>
            </a:r>
            <a:r>
              <a:rPr lang="en-US" altLang="zh-CN" sz="2800" dirty="0">
                <a:solidFill>
                  <a:srgbClr val="FF0000"/>
                </a:solidFill>
                <a:latin typeface="Times New Roman" panose="02020603050405020304" pitchFamily="18" charset="0"/>
                <a:ea typeface="宋体" panose="02010600030101010101" pitchFamily="2" charset="-122"/>
              </a:rPr>
              <a:t>ADC0804</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其转换时间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CONV</a:t>
            </a:r>
            <a:r>
              <a:rPr lang="en-US" altLang="zh-CN" sz="2800" dirty="0">
                <a:solidFill>
                  <a:srgbClr val="FF0000"/>
                </a:solidFill>
                <a:latin typeface="Times New Roman" panose="02020603050405020304" pitchFamily="18" charset="0"/>
                <a:ea typeface="宋体" panose="02010600030101010101" pitchFamily="2" charset="-122"/>
              </a:rPr>
              <a:t>=100</a:t>
            </a:r>
            <a:r>
              <a:rPr lang="en-US" altLang="zh-CN" sz="2800" dirty="0">
                <a:solidFill>
                  <a:srgbClr val="FF0000"/>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FF0000"/>
                </a:solidFill>
                <a:latin typeface="Times New Roman" panose="02020603050405020304" pitchFamily="18" charset="0"/>
                <a:ea typeface="宋体" panose="02010600030101010101" pitchFamily="2" charset="-122"/>
              </a:rPr>
              <a:t>s</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时钟频率为</a:t>
            </a:r>
            <a:r>
              <a:rPr lang="en-US" altLang="zh-CN" sz="2800" dirty="0">
                <a:latin typeface="Times New Roman" panose="02020603050405020304" pitchFamily="18" charset="0"/>
                <a:ea typeface="宋体" panose="02010600030101010101" pitchFamily="2" charset="-122"/>
              </a:rPr>
              <a:t>640kHz</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位数</a:t>
            </a:r>
            <a:r>
              <a:rPr lang="en-US" altLang="zh-CN" sz="2800" i="1" dirty="0">
                <a:solidFill>
                  <a:srgbClr val="FF0000"/>
                </a:solidFill>
                <a:latin typeface="Times New Roman" panose="02020603050405020304" pitchFamily="18" charset="0"/>
                <a:ea typeface="宋体" panose="02010600030101010101" pitchFamily="2" charset="-122"/>
              </a:rPr>
              <a:t>n </a:t>
            </a:r>
            <a:r>
              <a:rPr lang="en-US" altLang="zh-CN" sz="2800" dirty="0">
                <a:solidFill>
                  <a:srgbClr val="FF0000"/>
                </a:solidFill>
                <a:latin typeface="Times New Roman" panose="02020603050405020304" pitchFamily="18" charset="0"/>
                <a:ea typeface="宋体" panose="02010600030101010101" pitchFamily="2" charset="-122"/>
              </a:rPr>
              <a:t>= 8</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允许信号变化为</a:t>
            </a:r>
            <a:r>
              <a:rPr lang="en-US" altLang="zh-CN" sz="2800" dirty="0">
                <a:solidFill>
                  <a:srgbClr val="FF0000"/>
                </a:solidFill>
                <a:latin typeface="Times New Roman" panose="02020603050405020304" pitchFamily="18" charset="0"/>
              </a:rPr>
              <a:t>LSB/2</a:t>
            </a:r>
            <a:r>
              <a:rPr lang="zh-CN" altLang="en-US" sz="2800" dirty="0">
                <a:latin typeface="Times New Roman" panose="02020603050405020304" pitchFamily="18" charset="0"/>
              </a:rPr>
              <a:t>，计算系统可采集的最高信号频率。</a:t>
            </a:r>
            <a:endParaRPr lang="zh-CN" altLang="en-US" sz="2800" dirty="0">
              <a:latin typeface="Times New Roman" panose="02020603050405020304" pitchFamily="18" charset="0"/>
            </a:endParaRPr>
          </a:p>
        </p:txBody>
      </p:sp>
      <p:sp>
        <p:nvSpPr>
          <p:cNvPr id="2389000" name="Text Box 8"/>
          <p:cNvSpPr txBox="1"/>
          <p:nvPr/>
        </p:nvSpPr>
        <p:spPr>
          <a:xfrm>
            <a:off x="431800" y="2744788"/>
            <a:ext cx="1000125" cy="579437"/>
          </a:xfrm>
          <a:prstGeom prst="rect">
            <a:avLst/>
          </a:prstGeom>
          <a:noFill/>
          <a:ln w="9525">
            <a:noFill/>
          </a:ln>
        </p:spPr>
        <p:txBody>
          <a:bodyPr wrap="none">
            <a:spAutoFit/>
          </a:bodyPr>
          <a:p>
            <a:pPr eaLnBrk="1" hangingPunct="1"/>
            <a:r>
              <a:rPr lang="zh-CN" altLang="en-US" sz="3200" dirty="0">
                <a:solidFill>
                  <a:srgbClr val="FF0000"/>
                </a:solidFill>
                <a:latin typeface="Times New Roman" panose="02020603050405020304" pitchFamily="18" charset="0"/>
              </a:rPr>
              <a:t>解：</a:t>
            </a:r>
            <a:endParaRPr lang="zh-CN" altLang="en-US" sz="3200" dirty="0">
              <a:solidFill>
                <a:srgbClr val="FF0000"/>
              </a:solidFill>
              <a:latin typeface="Times New Roman" panose="02020603050405020304" pitchFamily="18" charset="0"/>
              <a:ea typeface="宋体" panose="02010600030101010101" pitchFamily="2" charset="-122"/>
            </a:endParaRPr>
          </a:p>
        </p:txBody>
      </p:sp>
      <p:sp>
        <p:nvSpPr>
          <p:cNvPr id="2389002" name="Text Box 10"/>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89003" name="Text Box 11"/>
          <p:cNvSpPr txBox="1"/>
          <p:nvPr/>
        </p:nvSpPr>
        <p:spPr>
          <a:xfrm>
            <a:off x="323850" y="873125"/>
            <a:ext cx="1260475"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例子：</a:t>
            </a:r>
            <a:endParaRPr lang="zh-CN" altLang="en-US" dirty="0">
              <a:solidFill>
                <a:schemeClr val="tx1"/>
              </a:solidFill>
              <a:latin typeface="Times New Roman" panose="02020603050405020304" pitchFamily="18" charset="0"/>
            </a:endParaRPr>
          </a:p>
        </p:txBody>
      </p:sp>
      <p:graphicFrame>
        <p:nvGraphicFramePr>
          <p:cNvPr id="2389004" name="Object 12"/>
          <p:cNvGraphicFramePr>
            <a:graphicFrameLocks noChangeAspect="1"/>
          </p:cNvGraphicFramePr>
          <p:nvPr/>
        </p:nvGraphicFramePr>
        <p:xfrm>
          <a:off x="784225" y="3536950"/>
          <a:ext cx="7939088" cy="1066800"/>
        </p:xfrm>
        <a:graphic>
          <a:graphicData uri="http://schemas.openxmlformats.org/presentationml/2006/ole">
            <mc:AlternateContent xmlns:mc="http://schemas.openxmlformats.org/markup-compatibility/2006">
              <mc:Choice xmlns:v="urn:schemas-microsoft-com:vml" Requires="v">
                <p:oleObj spid="_x0000_s3091" name="" r:id="rId1" imgW="3302000" imgH="431800" progId="Equation.3">
                  <p:embed/>
                </p:oleObj>
              </mc:Choice>
              <mc:Fallback>
                <p:oleObj name="" r:id="rId1" imgW="3302000" imgH="431800" progId="Equation.3">
                  <p:embed/>
                  <p:pic>
                    <p:nvPicPr>
                      <p:cNvPr id="0" name="图片 3090"/>
                      <p:cNvPicPr/>
                      <p:nvPr/>
                    </p:nvPicPr>
                    <p:blipFill>
                      <a:blip r:embed="rId2"/>
                      <a:stretch>
                        <a:fillRect/>
                      </a:stretch>
                    </p:blipFill>
                    <p:spPr>
                      <a:xfrm>
                        <a:off x="784225" y="3536950"/>
                        <a:ext cx="7939088" cy="1066800"/>
                      </a:xfrm>
                      <a:prstGeom prst="rect">
                        <a:avLst/>
                      </a:prstGeom>
                      <a:solidFill>
                        <a:srgbClr val="CCFFFF"/>
                      </a:solidFill>
                      <a:ln w="38100">
                        <a:noFill/>
                        <a:miter/>
                      </a:ln>
                    </p:spPr>
                  </p:pic>
                </p:oleObj>
              </mc:Fallback>
            </mc:AlternateContent>
          </a:graphicData>
        </a:graphic>
      </p:graphicFrame>
      <p:sp>
        <p:nvSpPr>
          <p:cNvPr id="2389005" name="Text Box 13"/>
          <p:cNvSpPr txBox="1"/>
          <p:nvPr/>
        </p:nvSpPr>
        <p:spPr>
          <a:xfrm>
            <a:off x="900113" y="5013325"/>
            <a:ext cx="7632700" cy="860425"/>
          </a:xfrm>
          <a:prstGeom prst="rect">
            <a:avLst/>
          </a:prstGeom>
          <a:noFill/>
          <a:ln w="9525">
            <a:noFill/>
          </a:ln>
        </p:spPr>
        <p:txBody>
          <a:bodyPr>
            <a:spAutoFit/>
          </a:bodyPr>
          <a:p>
            <a:pPr eaLnBrk="1" hangingPunct="1">
              <a:lnSpc>
                <a:spcPct val="90000"/>
              </a:lnSpc>
              <a:spcBef>
                <a:spcPct val="50000"/>
              </a:spcBef>
            </a:pPr>
            <a:r>
              <a:rPr lang="zh-CN" altLang="en-US" sz="2800" dirty="0">
                <a:latin typeface="黑体" panose="02010609060101010101" pitchFamily="49" charset="-122"/>
                <a:ea typeface="黑体" panose="02010609060101010101" pitchFamily="49" charset="-122"/>
              </a:rPr>
              <a:t>该系统无采样</a:t>
            </a:r>
            <a:r>
              <a:rPr lang="en-US" altLang="zh-CN" sz="2800" dirty="0">
                <a:latin typeface="黑体" panose="02010609060101010101" pitchFamily="49" charset="-122"/>
                <a:ea typeface="黑体" panose="02010609060101010101" pitchFamily="49" charset="-122"/>
              </a:rPr>
              <a:t>/</a:t>
            </a:r>
            <a:r>
              <a:rPr lang="zh-CN" altLang="en-US" sz="2800" dirty="0">
                <a:latin typeface="黑体" panose="02010609060101010101" pitchFamily="49" charset="-122"/>
                <a:ea typeface="黑体" panose="02010609060101010101" pitchFamily="49" charset="-122"/>
              </a:rPr>
              <a:t>保持器，只能对频率低于</a:t>
            </a:r>
            <a:r>
              <a:rPr lang="en-US" altLang="zh-CN" sz="2800" dirty="0">
                <a:latin typeface="Times New Roman" panose="02020603050405020304" pitchFamily="18" charset="0"/>
                <a:ea typeface="黑体" panose="02010609060101010101" pitchFamily="49" charset="-122"/>
              </a:rPr>
              <a:t>6.22Hz</a:t>
            </a:r>
            <a:r>
              <a:rPr lang="zh-CN" altLang="en-US" sz="2800" dirty="0">
                <a:latin typeface="黑体" panose="02010609060101010101" pitchFamily="49" charset="-122"/>
                <a:ea typeface="黑体" panose="02010609060101010101" pitchFamily="49" charset="-122"/>
              </a:rPr>
              <a:t>的信号进行采样。</a:t>
            </a:r>
            <a:endParaRPr lang="zh-CN" altLang="en-US" sz="2800" dirty="0">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89003"/>
                                        </p:tgtEl>
                                        <p:attrNameLst>
                                          <p:attrName>style.visibility</p:attrName>
                                        </p:attrNameLst>
                                      </p:cBhvr>
                                      <p:to>
                                        <p:strVal val="visible"/>
                                      </p:to>
                                    </p:set>
                                    <p:animEffect transition="in" filter="dissolve">
                                      <p:cBhvr>
                                        <p:cTn id="7" dur="500"/>
                                        <p:tgtEl>
                                          <p:spTgt spid="23890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88995"/>
                                        </p:tgtEl>
                                        <p:attrNameLst>
                                          <p:attrName>style.visibility</p:attrName>
                                        </p:attrNameLst>
                                      </p:cBhvr>
                                      <p:to>
                                        <p:strVal val="visible"/>
                                      </p:to>
                                    </p:set>
                                    <p:animEffect transition="in" filter="dissolve">
                                      <p:cBhvr>
                                        <p:cTn id="12" dur="500"/>
                                        <p:tgtEl>
                                          <p:spTgt spid="238899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89000"/>
                                        </p:tgtEl>
                                        <p:attrNameLst>
                                          <p:attrName>style.visibility</p:attrName>
                                        </p:attrNameLst>
                                      </p:cBhvr>
                                      <p:to>
                                        <p:strVal val="visible"/>
                                      </p:to>
                                    </p:set>
                                    <p:animEffect transition="in" filter="dissolve">
                                      <p:cBhvr>
                                        <p:cTn id="17" dur="500"/>
                                        <p:tgtEl>
                                          <p:spTgt spid="238900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89004"/>
                                        </p:tgtEl>
                                        <p:attrNameLst>
                                          <p:attrName>style.visibility</p:attrName>
                                        </p:attrNameLst>
                                      </p:cBhvr>
                                      <p:to>
                                        <p:strVal val="visible"/>
                                      </p:to>
                                    </p:set>
                                    <p:animEffect transition="in" filter="dissolve">
                                      <p:cBhvr>
                                        <p:cTn id="22" dur="500"/>
                                        <p:tgtEl>
                                          <p:spTgt spid="238900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89005"/>
                                        </p:tgtEl>
                                        <p:attrNameLst>
                                          <p:attrName>style.visibility</p:attrName>
                                        </p:attrNameLst>
                                      </p:cBhvr>
                                      <p:to>
                                        <p:strVal val="visible"/>
                                      </p:to>
                                    </p:set>
                                    <p:animEffect transition="in" filter="dissolve">
                                      <p:cBhvr>
                                        <p:cTn id="27" dur="500"/>
                                        <p:tgtEl>
                                          <p:spTgt spid="23890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8995" grpId="0"/>
      <p:bldP spid="2389000" grpId="0"/>
      <p:bldP spid="2389003" grpId="0" animBg="1"/>
      <p:bldP spid="2389005"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0020" name="Text Box 4"/>
          <p:cNvSpPr txBox="1"/>
          <p:nvPr/>
        </p:nvSpPr>
        <p:spPr>
          <a:xfrm>
            <a:off x="506413" y="800100"/>
            <a:ext cx="8242300" cy="1244600"/>
          </a:xfrm>
          <a:prstGeom prst="rect">
            <a:avLst/>
          </a:prstGeom>
          <a:solidFill>
            <a:srgbClr val="99CCFF"/>
          </a:solidFill>
          <a:ln w="9525">
            <a:noFill/>
          </a:ln>
        </p:spPr>
        <p:txBody>
          <a:bodyPr>
            <a:spAutoFit/>
          </a:bodyPr>
          <a:p>
            <a:pPr eaLnBrk="1" hangingPunct="1">
              <a:lnSpc>
                <a:spcPct val="90000"/>
              </a:lnSpc>
            </a:pPr>
            <a:r>
              <a:rPr lang="zh-CN" altLang="en-US" sz="2800" dirty="0">
                <a:latin typeface="Times New Roman" panose="02020603050405020304" pitchFamily="18" charset="0"/>
              </a:rPr>
              <a:t>如果在</a:t>
            </a:r>
            <a:r>
              <a:rPr lang="en-US" altLang="zh-CN" sz="2800" dirty="0">
                <a:latin typeface="Times New Roman" panose="02020603050405020304" pitchFamily="18" charset="0"/>
                <a:ea typeface="宋体" panose="02010600030101010101" pitchFamily="2" charset="-122"/>
              </a:rPr>
              <a:t>A/D</a:t>
            </a:r>
            <a:r>
              <a:rPr lang="zh-CN" altLang="en-US" sz="2800" dirty="0">
                <a:latin typeface="Times New Roman" panose="02020603050405020304" pitchFamily="18" charset="0"/>
              </a:rPr>
              <a:t>转换器的前面加一个采样</a:t>
            </a:r>
            <a:r>
              <a:rPr lang="en-US" altLang="zh-CN"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保持器，这样就变成在</a:t>
            </a:r>
            <a:r>
              <a:rPr lang="zh-CN" altLang="en-US" sz="2800" dirty="0">
                <a:solidFill>
                  <a:srgbClr val="CC00CC"/>
                </a:solidFill>
                <a:latin typeface="Times New Roman" panose="02020603050405020304" pitchFamily="18" charset="0"/>
              </a:rPr>
              <a:t>△</a:t>
            </a:r>
            <a:r>
              <a:rPr lang="en-US" altLang="zh-CN" sz="2800" i="1" dirty="0">
                <a:solidFill>
                  <a:srgbClr val="CC00CC"/>
                </a:solidFill>
                <a:latin typeface="Times New Roman" panose="02020603050405020304" pitchFamily="18" charset="0"/>
              </a:rPr>
              <a:t>t</a:t>
            </a:r>
            <a:r>
              <a:rPr lang="en-US" altLang="zh-CN" sz="900" i="1" dirty="0">
                <a:solidFill>
                  <a:srgbClr val="CC00CC"/>
                </a:solidFill>
                <a:latin typeface="Times New Roman" panose="02020603050405020304" pitchFamily="18" charset="0"/>
              </a:rPr>
              <a:t>  </a:t>
            </a:r>
            <a:r>
              <a:rPr lang="en-US" altLang="zh-CN" sz="2800" i="1" dirty="0">
                <a:solidFill>
                  <a:srgbClr val="CC00CC"/>
                </a:solidFill>
                <a:latin typeface="Times New Roman" panose="02020603050405020304" pitchFamily="18" charset="0"/>
              </a:rPr>
              <a:t>=</a:t>
            </a:r>
            <a:r>
              <a:rPr lang="en-US" altLang="zh-CN" sz="900" i="1" dirty="0">
                <a:solidFill>
                  <a:srgbClr val="CC00CC"/>
                </a:solidFill>
                <a:latin typeface="Times New Roman" panose="02020603050405020304" pitchFamily="18" charset="0"/>
              </a:rPr>
              <a:t> </a:t>
            </a:r>
            <a:r>
              <a:rPr lang="en-US" altLang="zh-CN" sz="2800" i="1" dirty="0">
                <a:solidFill>
                  <a:srgbClr val="CC00CC"/>
                </a:solidFill>
                <a:latin typeface="Times New Roman" panose="02020603050405020304" pitchFamily="18" charset="0"/>
              </a:rPr>
              <a:t>t</a:t>
            </a:r>
            <a:r>
              <a:rPr lang="en-US" altLang="zh-CN" sz="2800" baseline="-25000" dirty="0">
                <a:solidFill>
                  <a:srgbClr val="CC00CC"/>
                </a:solidFill>
                <a:latin typeface="Times New Roman" panose="02020603050405020304" pitchFamily="18" charset="0"/>
              </a:rPr>
              <a:t>AP</a:t>
            </a:r>
            <a:r>
              <a:rPr lang="zh-CN" altLang="en-US" sz="2800" dirty="0">
                <a:latin typeface="Times New Roman" panose="02020603050405020304" pitchFamily="18" charset="0"/>
              </a:rPr>
              <a:t>内讨论系统可采集模拟信号的最高频率</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则系统可采集的信号最高频率为：</a:t>
            </a:r>
            <a:endParaRPr lang="zh-CN" altLang="en-US" sz="2800" dirty="0">
              <a:latin typeface="Times New Roman" panose="02020603050405020304" pitchFamily="18" charset="0"/>
            </a:endParaRPr>
          </a:p>
        </p:txBody>
      </p:sp>
      <p:sp>
        <p:nvSpPr>
          <p:cNvPr id="2390022" name="Text Box 6"/>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90030" name="Group 14"/>
          <p:cNvGrpSpPr/>
          <p:nvPr/>
        </p:nvGrpSpPr>
        <p:grpSpPr>
          <a:xfrm>
            <a:off x="1439863" y="2193925"/>
            <a:ext cx="6408737" cy="1019175"/>
            <a:chOff x="521" y="1382"/>
            <a:chExt cx="4037" cy="642"/>
          </a:xfrm>
        </p:grpSpPr>
        <p:sp>
          <p:nvSpPr>
            <p:cNvPr id="35851" name="Rectangle 13"/>
            <p:cNvSpPr/>
            <p:nvPr/>
          </p:nvSpPr>
          <p:spPr>
            <a:xfrm>
              <a:off x="521" y="1382"/>
              <a:ext cx="4037" cy="642"/>
            </a:xfrm>
            <a:prstGeom prst="rect">
              <a:avLst/>
            </a:prstGeom>
            <a:solidFill>
              <a:srgbClr val="CCFF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35852" name="Object 7"/>
            <p:cNvGraphicFramePr>
              <a:graphicFrameLocks noChangeAspect="1"/>
            </p:cNvGraphicFramePr>
            <p:nvPr/>
          </p:nvGraphicFramePr>
          <p:xfrm>
            <a:off x="642" y="1550"/>
            <a:ext cx="1285" cy="286"/>
          </p:xfrm>
          <a:graphic>
            <a:graphicData uri="http://schemas.openxmlformats.org/presentationml/2006/ole">
              <mc:AlternateContent xmlns:mc="http://schemas.openxmlformats.org/markup-compatibility/2006">
                <mc:Choice xmlns:v="urn:schemas-microsoft-com:vml" Requires="v">
                  <p:oleObj spid="_x0000_s3087" name="" r:id="rId1" imgW="735965" imgH="177800" progId="Equation.3">
                    <p:embed/>
                  </p:oleObj>
                </mc:Choice>
                <mc:Fallback>
                  <p:oleObj name="" r:id="rId1" imgW="735965" imgH="177800" progId="Equation.3">
                    <p:embed/>
                    <p:pic>
                      <p:nvPicPr>
                        <p:cNvPr id="0" name="图片 3086"/>
                        <p:cNvPicPr/>
                        <p:nvPr/>
                      </p:nvPicPr>
                      <p:blipFill>
                        <a:blip r:embed="rId2"/>
                        <a:stretch>
                          <a:fillRect/>
                        </a:stretch>
                      </p:blipFill>
                      <p:spPr>
                        <a:xfrm>
                          <a:off x="642" y="1550"/>
                          <a:ext cx="1285" cy="286"/>
                        </a:xfrm>
                        <a:prstGeom prst="rect">
                          <a:avLst/>
                        </a:prstGeom>
                        <a:noFill/>
                        <a:ln w="38100">
                          <a:noFill/>
                          <a:miter/>
                        </a:ln>
                      </p:spPr>
                    </p:pic>
                  </p:oleObj>
                </mc:Fallback>
              </mc:AlternateContent>
            </a:graphicData>
          </a:graphic>
        </p:graphicFrame>
        <p:graphicFrame>
          <p:nvGraphicFramePr>
            <p:cNvPr id="35853" name="Object 8"/>
            <p:cNvGraphicFramePr>
              <a:graphicFrameLocks noChangeAspect="1"/>
            </p:cNvGraphicFramePr>
            <p:nvPr/>
          </p:nvGraphicFramePr>
          <p:xfrm>
            <a:off x="2404" y="1382"/>
            <a:ext cx="2072" cy="642"/>
          </p:xfrm>
          <a:graphic>
            <a:graphicData uri="http://schemas.openxmlformats.org/presentationml/2006/ole">
              <mc:AlternateContent xmlns:mc="http://schemas.openxmlformats.org/markup-compatibility/2006">
                <mc:Choice xmlns:v="urn:schemas-microsoft-com:vml" Requires="v">
                  <p:oleObj spid="_x0000_s3092" name="" r:id="rId3" imgW="1180465" imgH="431800" progId="Equation.3">
                    <p:embed/>
                  </p:oleObj>
                </mc:Choice>
                <mc:Fallback>
                  <p:oleObj name="" r:id="rId3" imgW="1180465" imgH="431800" progId="Equation.3">
                    <p:embed/>
                    <p:pic>
                      <p:nvPicPr>
                        <p:cNvPr id="0" name="图片 3091"/>
                        <p:cNvPicPr/>
                        <p:nvPr/>
                      </p:nvPicPr>
                      <p:blipFill>
                        <a:blip r:embed="rId4"/>
                        <a:stretch>
                          <a:fillRect/>
                        </a:stretch>
                      </p:blipFill>
                      <p:spPr>
                        <a:xfrm>
                          <a:off x="2404" y="1382"/>
                          <a:ext cx="2072" cy="642"/>
                        </a:xfrm>
                        <a:prstGeom prst="rect">
                          <a:avLst/>
                        </a:prstGeom>
                        <a:noFill/>
                        <a:ln w="38100">
                          <a:noFill/>
                          <a:miter/>
                        </a:ln>
                      </p:spPr>
                    </p:pic>
                  </p:oleObj>
                </mc:Fallback>
              </mc:AlternateContent>
            </a:graphicData>
          </a:graphic>
        </p:graphicFrame>
        <p:sp>
          <p:nvSpPr>
            <p:cNvPr id="35854" name="Text Box 11"/>
            <p:cNvSpPr txBox="1"/>
            <p:nvPr/>
          </p:nvSpPr>
          <p:spPr>
            <a:xfrm>
              <a:off x="1950" y="1480"/>
              <a:ext cx="386" cy="369"/>
            </a:xfrm>
            <a:prstGeom prst="rect">
              <a:avLst/>
            </a:prstGeom>
            <a:no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a:t>
              </a:r>
              <a:endParaRPr lang="zh-CN" altLang="en-US" dirty="0">
                <a:solidFill>
                  <a:schemeClr val="tx1"/>
                </a:solidFill>
                <a:latin typeface="Times New Roman" panose="02020603050405020304" pitchFamily="18" charset="0"/>
              </a:endParaRPr>
            </a:p>
          </p:txBody>
        </p:sp>
      </p:grpSp>
      <p:grpSp>
        <p:nvGrpSpPr>
          <p:cNvPr id="2390032" name="Group 16"/>
          <p:cNvGrpSpPr/>
          <p:nvPr/>
        </p:nvGrpSpPr>
        <p:grpSpPr>
          <a:xfrm>
            <a:off x="1439863" y="3311525"/>
            <a:ext cx="6408737" cy="1054100"/>
            <a:chOff x="521" y="2018"/>
            <a:chExt cx="4037" cy="664"/>
          </a:xfrm>
        </p:grpSpPr>
        <p:sp>
          <p:nvSpPr>
            <p:cNvPr id="35847" name="Rectangle 15"/>
            <p:cNvSpPr/>
            <p:nvPr/>
          </p:nvSpPr>
          <p:spPr>
            <a:xfrm>
              <a:off x="521" y="2024"/>
              <a:ext cx="4037" cy="658"/>
            </a:xfrm>
            <a:prstGeom prst="rect">
              <a:avLst/>
            </a:prstGeom>
            <a:solidFill>
              <a:srgbClr val="CCFFFF"/>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35848" name="Object 9"/>
            <p:cNvGraphicFramePr>
              <a:graphicFrameLocks noChangeAspect="1"/>
            </p:cNvGraphicFramePr>
            <p:nvPr/>
          </p:nvGraphicFramePr>
          <p:xfrm>
            <a:off x="622" y="2051"/>
            <a:ext cx="1374" cy="602"/>
          </p:xfrm>
          <a:graphic>
            <a:graphicData uri="http://schemas.openxmlformats.org/presentationml/2006/ole">
              <mc:AlternateContent xmlns:mc="http://schemas.openxmlformats.org/markup-compatibility/2006">
                <mc:Choice xmlns:v="urn:schemas-microsoft-com:vml" Requires="v">
                  <p:oleObj spid="_x0000_s3089" name="" r:id="rId5" imgW="799465" imgH="393700" progId="Equation.3">
                    <p:embed/>
                  </p:oleObj>
                </mc:Choice>
                <mc:Fallback>
                  <p:oleObj name="" r:id="rId5" imgW="799465" imgH="393700" progId="Equation.3">
                    <p:embed/>
                    <p:pic>
                      <p:nvPicPr>
                        <p:cNvPr id="0" name="图片 3088"/>
                        <p:cNvPicPr/>
                        <p:nvPr/>
                      </p:nvPicPr>
                      <p:blipFill>
                        <a:blip r:embed="rId6"/>
                        <a:stretch>
                          <a:fillRect/>
                        </a:stretch>
                      </p:blipFill>
                      <p:spPr>
                        <a:xfrm>
                          <a:off x="622" y="2051"/>
                          <a:ext cx="1374" cy="602"/>
                        </a:xfrm>
                        <a:prstGeom prst="rect">
                          <a:avLst/>
                        </a:prstGeom>
                        <a:noFill/>
                        <a:ln w="38100">
                          <a:noFill/>
                          <a:miter/>
                        </a:ln>
                      </p:spPr>
                    </p:pic>
                  </p:oleObj>
                </mc:Fallback>
              </mc:AlternateContent>
            </a:graphicData>
          </a:graphic>
        </p:graphicFrame>
        <p:graphicFrame>
          <p:nvGraphicFramePr>
            <p:cNvPr id="35849" name="Object 10"/>
            <p:cNvGraphicFramePr>
              <a:graphicFrameLocks noChangeAspect="1"/>
            </p:cNvGraphicFramePr>
            <p:nvPr/>
          </p:nvGraphicFramePr>
          <p:xfrm>
            <a:off x="2358" y="2018"/>
            <a:ext cx="2125" cy="641"/>
          </p:xfrm>
          <a:graphic>
            <a:graphicData uri="http://schemas.openxmlformats.org/presentationml/2006/ole">
              <mc:AlternateContent xmlns:mc="http://schemas.openxmlformats.org/markup-compatibility/2006">
                <mc:Choice xmlns:v="urn:schemas-microsoft-com:vml" Requires="v">
                  <p:oleObj spid="_x0000_s3090" name="" r:id="rId7" imgW="1269365" imgH="431800" progId="Equation.3">
                    <p:embed/>
                  </p:oleObj>
                </mc:Choice>
                <mc:Fallback>
                  <p:oleObj name="" r:id="rId7" imgW="1269365" imgH="431800" progId="Equation.3">
                    <p:embed/>
                    <p:pic>
                      <p:nvPicPr>
                        <p:cNvPr id="0" name="图片 3089"/>
                        <p:cNvPicPr/>
                        <p:nvPr/>
                      </p:nvPicPr>
                      <p:blipFill>
                        <a:blip r:embed="rId8"/>
                        <a:stretch>
                          <a:fillRect/>
                        </a:stretch>
                      </p:blipFill>
                      <p:spPr>
                        <a:xfrm>
                          <a:off x="2358" y="2018"/>
                          <a:ext cx="2125" cy="641"/>
                        </a:xfrm>
                        <a:prstGeom prst="rect">
                          <a:avLst/>
                        </a:prstGeom>
                        <a:noFill/>
                        <a:ln w="38100">
                          <a:noFill/>
                          <a:miter/>
                        </a:ln>
                      </p:spPr>
                    </p:pic>
                  </p:oleObj>
                </mc:Fallback>
              </mc:AlternateContent>
            </a:graphicData>
          </a:graphic>
        </p:graphicFrame>
        <p:sp>
          <p:nvSpPr>
            <p:cNvPr id="35850" name="Text Box 12"/>
            <p:cNvSpPr txBox="1"/>
            <p:nvPr/>
          </p:nvSpPr>
          <p:spPr>
            <a:xfrm>
              <a:off x="1972" y="2119"/>
              <a:ext cx="386" cy="369"/>
            </a:xfrm>
            <a:prstGeom prst="rect">
              <a:avLst/>
            </a:prstGeom>
            <a:no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a:t>
              </a:r>
              <a:endParaRPr lang="zh-CN" altLang="en-US" dirty="0">
                <a:solidFill>
                  <a:schemeClr val="tx1"/>
                </a:solidFill>
                <a:latin typeface="Times New Roman" panose="02020603050405020304" pitchFamily="18" charset="0"/>
              </a:endParaRPr>
            </a:p>
          </p:txBody>
        </p:sp>
      </p:grpSp>
      <p:sp>
        <p:nvSpPr>
          <p:cNvPr id="2390033" name="Text Box 17"/>
          <p:cNvSpPr txBox="1"/>
          <p:nvPr/>
        </p:nvSpPr>
        <p:spPr>
          <a:xfrm>
            <a:off x="539750" y="4616450"/>
            <a:ext cx="8242300" cy="1373188"/>
          </a:xfrm>
          <a:prstGeom prst="rect">
            <a:avLst/>
          </a:prstGeom>
          <a:noFill/>
          <a:ln w="9525">
            <a:noFill/>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因为</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r>
              <a:rPr lang="zh-CN" altLang="en-US" sz="2800" dirty="0">
                <a:solidFill>
                  <a:schemeClr val="tx1"/>
                </a:solidFill>
                <a:latin typeface="黑体" panose="02010609060101010101" pitchFamily="49" charset="-122"/>
                <a:ea typeface="黑体" panose="02010609060101010101" pitchFamily="49" charset="-122"/>
              </a:rPr>
              <a:t>一般远远小于</a:t>
            </a:r>
            <a:r>
              <a:rPr lang="en-US" altLang="zh-CN" sz="2800" dirty="0">
                <a:solidFill>
                  <a:srgbClr val="FF0000"/>
                </a:solidFill>
                <a:latin typeface="Times New Roman" panose="02020603050405020304" pitchFamily="18" charset="0"/>
                <a:ea typeface="黑体" panose="02010609060101010101" pitchFamily="49" charset="-122"/>
              </a:rPr>
              <a:t>A/D</a:t>
            </a:r>
            <a:r>
              <a:rPr lang="zh-CN" altLang="en-US" sz="2800" dirty="0">
                <a:solidFill>
                  <a:schemeClr val="tx1"/>
                </a:solidFill>
                <a:latin typeface="黑体" panose="02010609060101010101" pitchFamily="49" charset="-122"/>
                <a:ea typeface="黑体" panose="02010609060101010101" pitchFamily="49" charset="-122"/>
              </a:rPr>
              <a:t>转换器的转换时间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CONV</a:t>
            </a:r>
            <a:r>
              <a:rPr lang="zh-CN" altLang="en-US" sz="2800" dirty="0">
                <a:solidFill>
                  <a:schemeClr val="tx1"/>
                </a:solidFill>
                <a:latin typeface="黑体" panose="02010609060101010101" pitchFamily="49" charset="-122"/>
                <a:ea typeface="黑体" panose="02010609060101010101" pitchFamily="49" charset="-122"/>
              </a:rPr>
              <a:t>，所以，有采样</a:t>
            </a:r>
            <a:r>
              <a:rPr lang="en-US" altLang="zh-CN" sz="2800" dirty="0">
                <a:solidFill>
                  <a:schemeClr val="tx1"/>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保持器的系统可采集的信号最高频率要大于未加采样</a:t>
            </a:r>
            <a:r>
              <a:rPr lang="en-US" altLang="zh-CN" sz="2800" dirty="0">
                <a:solidFill>
                  <a:schemeClr val="tx1"/>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保持器的系统。</a:t>
            </a:r>
            <a:endParaRPr lang="zh-CN" altLang="en-US" sz="28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0020"/>
                                        </p:tgtEl>
                                        <p:attrNameLst>
                                          <p:attrName>style.visibility</p:attrName>
                                        </p:attrNameLst>
                                      </p:cBhvr>
                                      <p:to>
                                        <p:strVal val="visible"/>
                                      </p:to>
                                    </p:set>
                                    <p:animEffect transition="in" filter="dissolve">
                                      <p:cBhvr>
                                        <p:cTn id="7" dur="500"/>
                                        <p:tgtEl>
                                          <p:spTgt spid="23900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0030"/>
                                        </p:tgtEl>
                                        <p:attrNameLst>
                                          <p:attrName>style.visibility</p:attrName>
                                        </p:attrNameLst>
                                      </p:cBhvr>
                                      <p:to>
                                        <p:strVal val="visible"/>
                                      </p:to>
                                    </p:set>
                                    <p:animEffect transition="in" filter="dissolve">
                                      <p:cBhvr>
                                        <p:cTn id="12" dur="500"/>
                                        <p:tgtEl>
                                          <p:spTgt spid="239003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0032"/>
                                        </p:tgtEl>
                                        <p:attrNameLst>
                                          <p:attrName>style.visibility</p:attrName>
                                        </p:attrNameLst>
                                      </p:cBhvr>
                                      <p:to>
                                        <p:strVal val="visible"/>
                                      </p:to>
                                    </p:set>
                                    <p:animEffect transition="in" filter="dissolve">
                                      <p:cBhvr>
                                        <p:cTn id="17" dur="500"/>
                                        <p:tgtEl>
                                          <p:spTgt spid="239003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0033"/>
                                        </p:tgtEl>
                                        <p:attrNameLst>
                                          <p:attrName>style.visibility</p:attrName>
                                        </p:attrNameLst>
                                      </p:cBhvr>
                                      <p:to>
                                        <p:strVal val="visible"/>
                                      </p:to>
                                    </p:set>
                                    <p:animEffect transition="in" filter="dissolve">
                                      <p:cBhvr>
                                        <p:cTn id="22" dur="500"/>
                                        <p:tgtEl>
                                          <p:spTgt spid="2390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0020" grpId="0" animBg="1"/>
      <p:bldP spid="2390033"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29955" name="Text Box 3"/>
          <p:cNvSpPr txBox="1"/>
          <p:nvPr/>
        </p:nvSpPr>
        <p:spPr>
          <a:xfrm>
            <a:off x="431800" y="2921000"/>
            <a:ext cx="1000125" cy="579438"/>
          </a:xfrm>
          <a:prstGeom prst="rect">
            <a:avLst/>
          </a:prstGeom>
          <a:noFill/>
          <a:ln w="9525">
            <a:noFill/>
          </a:ln>
        </p:spPr>
        <p:txBody>
          <a:bodyPr wrap="none">
            <a:spAutoFit/>
          </a:bodyPr>
          <a:p>
            <a:pPr eaLnBrk="1" hangingPunct="1"/>
            <a:r>
              <a:rPr lang="zh-CN" altLang="en-US" sz="3200" dirty="0">
                <a:solidFill>
                  <a:srgbClr val="FF0000"/>
                </a:solidFill>
                <a:latin typeface="Times New Roman" panose="02020603050405020304" pitchFamily="18" charset="0"/>
              </a:rPr>
              <a:t>解：</a:t>
            </a:r>
            <a:endParaRPr lang="zh-CN" altLang="en-US" sz="3200" dirty="0">
              <a:solidFill>
                <a:srgbClr val="FF0000"/>
              </a:solidFill>
              <a:latin typeface="Times New Roman" panose="02020603050405020304" pitchFamily="18" charset="0"/>
              <a:ea typeface="宋体" panose="02010600030101010101" pitchFamily="2" charset="-122"/>
            </a:endParaRPr>
          </a:p>
        </p:txBody>
      </p:sp>
      <p:sp>
        <p:nvSpPr>
          <p:cNvPr id="2429956" name="Text Box 4"/>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29957" name="Text Box 5"/>
          <p:cNvSpPr txBox="1"/>
          <p:nvPr/>
        </p:nvSpPr>
        <p:spPr>
          <a:xfrm>
            <a:off x="323850" y="873125"/>
            <a:ext cx="1260475"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例子：</a:t>
            </a:r>
            <a:endParaRPr lang="zh-CN" altLang="en-US" dirty="0">
              <a:solidFill>
                <a:schemeClr val="tx1"/>
              </a:solidFill>
              <a:latin typeface="Times New Roman" panose="02020603050405020304" pitchFamily="18" charset="0"/>
            </a:endParaRPr>
          </a:p>
        </p:txBody>
      </p:sp>
      <p:sp>
        <p:nvSpPr>
          <p:cNvPr id="2429959" name="Text Box 7"/>
          <p:cNvSpPr txBox="1"/>
          <p:nvPr/>
        </p:nvSpPr>
        <p:spPr>
          <a:xfrm>
            <a:off x="971550" y="4724400"/>
            <a:ext cx="7380288" cy="1244600"/>
          </a:xfrm>
          <a:prstGeom prst="rect">
            <a:avLst/>
          </a:prstGeom>
          <a:noFill/>
          <a:ln w="9525">
            <a:noFill/>
          </a:ln>
        </p:spPr>
        <p:txBody>
          <a:bodyPr>
            <a:spAutoFit/>
          </a:bodyPr>
          <a:p>
            <a:pPr eaLnBrk="1" hangingPunct="1">
              <a:lnSpc>
                <a:spcPct val="90000"/>
              </a:lnSpc>
              <a:spcBef>
                <a:spcPct val="50000"/>
              </a:spcBef>
            </a:pPr>
            <a:r>
              <a:rPr lang="zh-CN" altLang="en-US" sz="2800" dirty="0">
                <a:latin typeface="黑体" panose="02010609060101010101" pitchFamily="49" charset="-122"/>
                <a:ea typeface="黑体" panose="02010609060101010101" pitchFamily="49" charset="-122"/>
              </a:rPr>
              <a:t>使用采样</a:t>
            </a:r>
            <a:r>
              <a:rPr lang="en-US" altLang="zh-CN" sz="2800" dirty="0">
                <a:latin typeface="黑体" panose="02010609060101010101" pitchFamily="49" charset="-122"/>
                <a:ea typeface="黑体" panose="02010609060101010101" pitchFamily="49" charset="-122"/>
              </a:rPr>
              <a:t>/</a:t>
            </a:r>
            <a:r>
              <a:rPr lang="zh-CN" altLang="en-US" sz="2800" dirty="0">
                <a:latin typeface="黑体" panose="02010609060101010101" pitchFamily="49" charset="-122"/>
                <a:ea typeface="黑体" panose="02010609060101010101" pitchFamily="49" charset="-122"/>
              </a:rPr>
              <a:t>保持器之后，系统能对频率不高于</a:t>
            </a:r>
            <a:r>
              <a:rPr lang="en-US" altLang="zh-CN" sz="2800" dirty="0">
                <a:latin typeface="黑体" panose="02010609060101010101" pitchFamily="49" charset="-122"/>
                <a:ea typeface="黑体" panose="02010609060101010101" pitchFamily="49" charset="-122"/>
              </a:rPr>
              <a:t>12.44k</a:t>
            </a:r>
            <a:r>
              <a:rPr lang="en-US" altLang="zh-CN" sz="2800" dirty="0">
                <a:latin typeface="Times New Roman" panose="02020603050405020304" pitchFamily="18" charset="0"/>
                <a:ea typeface="黑体" panose="02010609060101010101" pitchFamily="49" charset="-122"/>
              </a:rPr>
              <a:t>Hz</a:t>
            </a:r>
            <a:r>
              <a:rPr lang="zh-CN" altLang="en-US" sz="2800" dirty="0">
                <a:latin typeface="黑体" panose="02010609060101010101" pitchFamily="49" charset="-122"/>
                <a:ea typeface="黑体" panose="02010609060101010101" pitchFamily="49" charset="-122"/>
              </a:rPr>
              <a:t>的信号进行采样，使系统可采集的信号频率提高了很多倍，大大改善了采样速率。</a:t>
            </a:r>
            <a:endParaRPr lang="zh-CN" altLang="en-US" sz="2800" dirty="0">
              <a:latin typeface="黑体" panose="02010609060101010101" pitchFamily="49" charset="-122"/>
              <a:ea typeface="黑体" panose="02010609060101010101" pitchFamily="49" charset="-122"/>
            </a:endParaRPr>
          </a:p>
        </p:txBody>
      </p:sp>
      <p:sp>
        <p:nvSpPr>
          <p:cNvPr id="2429960" name="Text Box 8"/>
          <p:cNvSpPr txBox="1"/>
          <p:nvPr/>
        </p:nvSpPr>
        <p:spPr>
          <a:xfrm>
            <a:off x="1763713" y="828675"/>
            <a:ext cx="7208837" cy="2227263"/>
          </a:xfrm>
          <a:prstGeom prst="rect">
            <a:avLst/>
          </a:prstGeom>
          <a:noFill/>
          <a:ln w="9525">
            <a:noFill/>
          </a:ln>
        </p:spPr>
        <p:txBody>
          <a:bodyPr>
            <a:spAutoFit/>
          </a:bodyPr>
          <a:p>
            <a:pPr eaLnBrk="1" hangingPunct="1"/>
            <a:r>
              <a:rPr lang="zh-CN" altLang="en-US" sz="2800" dirty="0">
                <a:latin typeface="Times New Roman" panose="02020603050405020304" pitchFamily="18" charset="0"/>
              </a:rPr>
              <a:t>用采样</a:t>
            </a:r>
            <a:r>
              <a:rPr lang="en-US" altLang="zh-CN" sz="2800" dirty="0">
                <a:latin typeface="Times New Roman" panose="02020603050405020304" pitchFamily="18" charset="0"/>
              </a:rPr>
              <a:t>/</a:t>
            </a:r>
            <a:r>
              <a:rPr lang="zh-CN" altLang="en-US" sz="2800" dirty="0">
                <a:latin typeface="Times New Roman" panose="02020603050405020304" pitchFamily="18" charset="0"/>
              </a:rPr>
              <a:t>保持器芯片</a:t>
            </a:r>
            <a:r>
              <a:rPr lang="en-US" altLang="zh-CN" sz="2800" dirty="0">
                <a:solidFill>
                  <a:srgbClr val="FF0000"/>
                </a:solidFill>
                <a:latin typeface="Times New Roman" panose="02020603050405020304" pitchFamily="18" charset="0"/>
                <a:ea typeface="宋体" panose="02010600030101010101" pitchFamily="2" charset="-122"/>
              </a:rPr>
              <a:t>AD582</a:t>
            </a:r>
            <a:r>
              <a:rPr lang="zh-CN" altLang="en-US" sz="2800" dirty="0">
                <a:latin typeface="Times New Roman" panose="02020603050405020304" pitchFamily="18" charset="0"/>
              </a:rPr>
              <a:t>和</a:t>
            </a:r>
            <a:r>
              <a:rPr lang="en-US" altLang="zh-CN" sz="2800" dirty="0">
                <a:latin typeface="Times New Roman" panose="02020603050405020304" pitchFamily="18" charset="0"/>
                <a:ea typeface="宋体" panose="02010600030101010101" pitchFamily="2" charset="-122"/>
              </a:rPr>
              <a:t>A/D</a:t>
            </a:r>
            <a:r>
              <a:rPr lang="zh-CN" altLang="en-US" sz="2800" dirty="0">
                <a:latin typeface="Times New Roman" panose="02020603050405020304" pitchFamily="18" charset="0"/>
              </a:rPr>
              <a:t>转换器芯片</a:t>
            </a:r>
            <a:r>
              <a:rPr lang="en-US" altLang="zh-CN" sz="2800" dirty="0">
                <a:solidFill>
                  <a:srgbClr val="FF0000"/>
                </a:solidFill>
                <a:latin typeface="Times New Roman" panose="02020603050405020304" pitchFamily="18" charset="0"/>
                <a:ea typeface="宋体" panose="02010600030101010101" pitchFamily="2" charset="-122"/>
              </a:rPr>
              <a:t>ADC0804</a:t>
            </a:r>
            <a:r>
              <a:rPr lang="zh-CN" altLang="en-US" sz="2800" dirty="0">
                <a:latin typeface="Times New Roman" panose="02020603050405020304" pitchFamily="18" charset="0"/>
              </a:rPr>
              <a:t>组成一个采集系统</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已知</a:t>
            </a:r>
            <a:r>
              <a:rPr lang="en-US" altLang="zh-CN" sz="2800" dirty="0">
                <a:solidFill>
                  <a:srgbClr val="FF0000"/>
                </a:solidFill>
                <a:latin typeface="Times New Roman" panose="02020603050405020304" pitchFamily="18" charset="0"/>
                <a:ea typeface="宋体" panose="02010600030101010101" pitchFamily="2" charset="-122"/>
              </a:rPr>
              <a:t>AD582</a:t>
            </a:r>
            <a:r>
              <a:rPr lang="zh-CN" altLang="en-US" sz="2800" dirty="0">
                <a:latin typeface="Times New Roman" panose="02020603050405020304" pitchFamily="18" charset="0"/>
              </a:rPr>
              <a:t>的孔径时间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AP</a:t>
            </a:r>
            <a:r>
              <a:rPr lang="en-US" altLang="zh-CN" sz="2800" dirty="0">
                <a:solidFill>
                  <a:srgbClr val="FF0000"/>
                </a:solidFill>
                <a:latin typeface="Times New Roman" panose="02020603050405020304" pitchFamily="18" charset="0"/>
                <a:ea typeface="宋体" panose="02010600030101010101" pitchFamily="2" charset="-122"/>
              </a:rPr>
              <a:t> =50ns</a:t>
            </a:r>
            <a:r>
              <a:rPr lang="zh-CN" altLang="en-US" sz="2800" dirty="0">
                <a:latin typeface="Times New Roman" panose="02020603050405020304" pitchFamily="18" charset="0"/>
                <a:ea typeface="宋体" panose="02010600030101010101" pitchFamily="2" charset="-122"/>
              </a:rPr>
              <a:t>，</a:t>
            </a:r>
            <a:r>
              <a:rPr lang="en-US" altLang="zh-CN" sz="2800" dirty="0">
                <a:solidFill>
                  <a:srgbClr val="FF0000"/>
                </a:solidFill>
                <a:latin typeface="Times New Roman" panose="02020603050405020304" pitchFamily="18" charset="0"/>
                <a:ea typeface="宋体" panose="02010600030101010101" pitchFamily="2" charset="-122"/>
              </a:rPr>
              <a:t>ADC0804</a:t>
            </a:r>
            <a:r>
              <a:rPr lang="zh-CN" altLang="en-US" sz="2800" dirty="0">
                <a:latin typeface="Times New Roman" panose="02020603050405020304" pitchFamily="18" charset="0"/>
              </a:rPr>
              <a:t>的转换时间  </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CONV</a:t>
            </a:r>
            <a:r>
              <a:rPr lang="en-US" altLang="zh-CN" sz="2800" dirty="0">
                <a:solidFill>
                  <a:srgbClr val="FF0000"/>
                </a:solidFill>
                <a:latin typeface="Times New Roman" panose="02020603050405020304" pitchFamily="18" charset="0"/>
                <a:ea typeface="宋体" panose="02010600030101010101" pitchFamily="2" charset="-122"/>
              </a:rPr>
              <a:t> =100</a:t>
            </a:r>
            <a:r>
              <a:rPr lang="en-US" altLang="zh-CN" sz="2800" dirty="0">
                <a:solidFill>
                  <a:srgbClr val="FF0000"/>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FF0000"/>
                </a:solidFill>
                <a:latin typeface="Times New Roman" panose="02020603050405020304" pitchFamily="18" charset="0"/>
                <a:ea typeface="宋体" panose="02010600030101010101" pitchFamily="2" charset="-122"/>
              </a:rPr>
              <a:t>s</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时钟频率为</a:t>
            </a:r>
            <a:r>
              <a:rPr lang="en-US" altLang="zh-CN" sz="2800" dirty="0">
                <a:latin typeface="Times New Roman" panose="02020603050405020304" pitchFamily="18" charset="0"/>
                <a:ea typeface="宋体" panose="02010600030101010101" pitchFamily="2" charset="-122"/>
              </a:rPr>
              <a:t>640kHz</a:t>
            </a:r>
            <a:r>
              <a:rPr lang="zh-CN" altLang="en-US" sz="2800" dirty="0">
                <a:latin typeface="Times New Roman" panose="02020603050405020304" pitchFamily="18" charset="0"/>
                <a:ea typeface="宋体" panose="02010600030101010101" pitchFamily="2" charset="-122"/>
              </a:rPr>
              <a:t>），</a:t>
            </a:r>
            <a:r>
              <a:rPr lang="zh-CN" altLang="en-US" sz="2800" dirty="0">
                <a:latin typeface="楷体_GB2312" pitchFamily="49" charset="-122"/>
              </a:rPr>
              <a:t>计算系统可采集的最高信号频率。 </a:t>
            </a:r>
            <a:endParaRPr lang="zh-CN" altLang="en-US" sz="2800" dirty="0">
              <a:latin typeface="楷体_GB2312" pitchFamily="49" charset="-122"/>
            </a:endParaRPr>
          </a:p>
        </p:txBody>
      </p:sp>
      <p:graphicFrame>
        <p:nvGraphicFramePr>
          <p:cNvPr id="2429961" name="Object 9"/>
          <p:cNvGraphicFramePr>
            <a:graphicFrameLocks noChangeAspect="1"/>
          </p:cNvGraphicFramePr>
          <p:nvPr/>
        </p:nvGraphicFramePr>
        <p:xfrm>
          <a:off x="1150938" y="3500438"/>
          <a:ext cx="7200900" cy="1044575"/>
        </p:xfrm>
        <a:graphic>
          <a:graphicData uri="http://schemas.openxmlformats.org/presentationml/2006/ole">
            <mc:AlternateContent xmlns:mc="http://schemas.openxmlformats.org/markup-compatibility/2006">
              <mc:Choice xmlns:v="urn:schemas-microsoft-com:vml" Requires="v">
                <p:oleObj spid="_x0000_s3088" name="" r:id="rId1" imgW="3225800" imgH="431800" progId="Equation.3">
                  <p:embed/>
                </p:oleObj>
              </mc:Choice>
              <mc:Fallback>
                <p:oleObj name="" r:id="rId1" imgW="3225800" imgH="431800" progId="Equation.3">
                  <p:embed/>
                  <p:pic>
                    <p:nvPicPr>
                      <p:cNvPr id="0" name="图片 3087"/>
                      <p:cNvPicPr/>
                      <p:nvPr/>
                    </p:nvPicPr>
                    <p:blipFill>
                      <a:blip r:embed="rId2"/>
                      <a:stretch>
                        <a:fillRect/>
                      </a:stretch>
                    </p:blipFill>
                    <p:spPr>
                      <a:xfrm>
                        <a:off x="1150938" y="3500438"/>
                        <a:ext cx="7200900" cy="1044575"/>
                      </a:xfrm>
                      <a:prstGeom prst="rect">
                        <a:avLst/>
                      </a:prstGeom>
                      <a:solidFill>
                        <a:srgbClr val="CCFFFF"/>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9957"/>
                                        </p:tgtEl>
                                        <p:attrNameLst>
                                          <p:attrName>style.visibility</p:attrName>
                                        </p:attrNameLst>
                                      </p:cBhvr>
                                      <p:to>
                                        <p:strVal val="visible"/>
                                      </p:to>
                                    </p:set>
                                    <p:animEffect transition="in" filter="dissolve">
                                      <p:cBhvr>
                                        <p:cTn id="7" dur="500"/>
                                        <p:tgtEl>
                                          <p:spTgt spid="242995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29960">
                                            <p:txEl>
                                              <p:charRg st="0" end="118"/>
                                            </p:txEl>
                                          </p:spTgt>
                                        </p:tgtEl>
                                        <p:attrNameLst>
                                          <p:attrName>style.visibility</p:attrName>
                                        </p:attrNameLst>
                                      </p:cBhvr>
                                      <p:to>
                                        <p:strVal val="visible"/>
                                      </p:to>
                                    </p:set>
                                    <p:animEffect transition="in" filter="dissolve">
                                      <p:cBhvr>
                                        <p:cTn id="12" dur="500"/>
                                        <p:tgtEl>
                                          <p:spTgt spid="2429960">
                                            <p:txEl>
                                              <p:charRg st="0" end="11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29955"/>
                                        </p:tgtEl>
                                        <p:attrNameLst>
                                          <p:attrName>style.visibility</p:attrName>
                                        </p:attrNameLst>
                                      </p:cBhvr>
                                      <p:to>
                                        <p:strVal val="visible"/>
                                      </p:to>
                                    </p:set>
                                    <p:animEffect transition="in" filter="dissolve">
                                      <p:cBhvr>
                                        <p:cTn id="17" dur="500"/>
                                        <p:tgtEl>
                                          <p:spTgt spid="242995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29961"/>
                                        </p:tgtEl>
                                        <p:attrNameLst>
                                          <p:attrName>style.visibility</p:attrName>
                                        </p:attrNameLst>
                                      </p:cBhvr>
                                      <p:to>
                                        <p:strVal val="visible"/>
                                      </p:to>
                                    </p:set>
                                    <p:animEffect transition="in" filter="dissolve">
                                      <p:cBhvr>
                                        <p:cTn id="22" dur="500"/>
                                        <p:tgtEl>
                                          <p:spTgt spid="242996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29959"/>
                                        </p:tgtEl>
                                        <p:attrNameLst>
                                          <p:attrName>style.visibility</p:attrName>
                                        </p:attrNameLst>
                                      </p:cBhvr>
                                      <p:to>
                                        <p:strVal val="visible"/>
                                      </p:to>
                                    </p:set>
                                    <p:animEffect transition="in" filter="dissolve">
                                      <p:cBhvr>
                                        <p:cTn id="27" dur="500"/>
                                        <p:tgtEl>
                                          <p:spTgt spid="24299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9955" grpId="0"/>
      <p:bldP spid="2429957" grpId="0" animBg="1"/>
      <p:bldP spid="2429959" grpId="0"/>
      <p:bldP spid="2429960" grpId="0" build="p"/>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3092" name="Text Box 4"/>
          <p:cNvSpPr txBox="1"/>
          <p:nvPr/>
        </p:nvSpPr>
        <p:spPr>
          <a:xfrm>
            <a:off x="719138" y="800100"/>
            <a:ext cx="7793037" cy="946150"/>
          </a:xfrm>
          <a:prstGeom prst="rect">
            <a:avLst/>
          </a:prstGeom>
          <a:solidFill>
            <a:srgbClr val="99CCFF"/>
          </a:solidFill>
          <a:ln w="9525">
            <a:noFill/>
          </a:ln>
        </p:spPr>
        <p:txBody>
          <a:bodyPr>
            <a:spAutoFit/>
          </a:bodyPr>
          <a:p>
            <a:pPr eaLnBrk="1" hangingPunct="1"/>
            <a:r>
              <a:rPr lang="zh-CN" altLang="en-US" sz="2800" dirty="0">
                <a:solidFill>
                  <a:schemeClr val="tx1"/>
                </a:solidFill>
                <a:latin typeface="黑体" panose="02010609060101010101" pitchFamily="49" charset="-122"/>
                <a:ea typeface="黑体" panose="02010609060101010101" pitchFamily="49" charset="-122"/>
              </a:rPr>
              <a:t>根据采样定理，采集一个有限带宽的模拟信号，采样频率至少应两倍于最高信号频率。 </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393093" name="Text Box 5"/>
          <p:cNvSpPr txBox="1"/>
          <p:nvPr/>
        </p:nvSpPr>
        <p:spPr>
          <a:xfrm>
            <a:off x="1017588" y="1916113"/>
            <a:ext cx="7191375" cy="946150"/>
          </a:xfrm>
          <a:prstGeom prst="rect">
            <a:avLst/>
          </a:prstGeom>
          <a:noFill/>
          <a:ln w="9525">
            <a:noFill/>
          </a:ln>
        </p:spPr>
        <p:txBody>
          <a:bodyPr>
            <a:spAutoFit/>
          </a:bodyPr>
          <a:p>
            <a:pPr eaLnBrk="1" hangingPunct="1"/>
            <a:r>
              <a:rPr lang="zh-CN" altLang="en-US" sz="2800" dirty="0">
                <a:latin typeface="楷体_GB2312" pitchFamily="49" charset="-122"/>
              </a:rPr>
              <a:t>这意味着带采样</a:t>
            </a:r>
            <a:r>
              <a:rPr lang="en-US" altLang="zh-CN" sz="2800" dirty="0">
                <a:latin typeface="楷体_GB2312" pitchFamily="49" charset="-122"/>
              </a:rPr>
              <a:t>/</a:t>
            </a:r>
            <a:r>
              <a:rPr lang="zh-CN" altLang="en-US" sz="2800" dirty="0">
                <a:latin typeface="楷体_GB2312" pitchFamily="49" charset="-122"/>
              </a:rPr>
              <a:t>保持器的数据采集系统能处理的最高输入信号频率应为：</a:t>
            </a:r>
            <a:endParaRPr lang="zh-CN" altLang="en-US" sz="2800" dirty="0">
              <a:latin typeface="楷体_GB2312" pitchFamily="49" charset="-122"/>
            </a:endParaRPr>
          </a:p>
        </p:txBody>
      </p:sp>
      <p:graphicFrame>
        <p:nvGraphicFramePr>
          <p:cNvPr id="2393094" name="Object 6"/>
          <p:cNvGraphicFramePr>
            <a:graphicFrameLocks noChangeAspect="1"/>
          </p:cNvGraphicFramePr>
          <p:nvPr/>
        </p:nvGraphicFramePr>
        <p:xfrm>
          <a:off x="1846263" y="2960688"/>
          <a:ext cx="5200650" cy="1133475"/>
        </p:xfrm>
        <a:graphic>
          <a:graphicData uri="http://schemas.openxmlformats.org/presentationml/2006/ole">
            <mc:AlternateContent xmlns:mc="http://schemas.openxmlformats.org/markup-compatibility/2006">
              <mc:Choice xmlns:v="urn:schemas-microsoft-com:vml" Requires="v">
                <p:oleObj spid="_x0000_s3094" name="" r:id="rId1" imgW="1879600" imgH="431800" progId="Equation.DSMT4">
                  <p:embed/>
                </p:oleObj>
              </mc:Choice>
              <mc:Fallback>
                <p:oleObj name="" r:id="rId1" imgW="1879600" imgH="431800" progId="Equation.DSMT4">
                  <p:embed/>
                  <p:pic>
                    <p:nvPicPr>
                      <p:cNvPr id="0" name="图片 3093"/>
                      <p:cNvPicPr/>
                      <p:nvPr/>
                    </p:nvPicPr>
                    <p:blipFill>
                      <a:blip r:embed="rId2"/>
                      <a:stretch>
                        <a:fillRect/>
                      </a:stretch>
                    </p:blipFill>
                    <p:spPr>
                      <a:xfrm>
                        <a:off x="1846263" y="2960688"/>
                        <a:ext cx="5200650" cy="1133475"/>
                      </a:xfrm>
                      <a:prstGeom prst="rect">
                        <a:avLst/>
                      </a:prstGeom>
                      <a:solidFill>
                        <a:srgbClr val="CCFFFF"/>
                      </a:solidFill>
                      <a:ln w="38100">
                        <a:noFill/>
                        <a:miter/>
                      </a:ln>
                    </p:spPr>
                  </p:pic>
                </p:oleObj>
              </mc:Fallback>
            </mc:AlternateContent>
          </a:graphicData>
        </a:graphic>
      </p:graphicFrame>
      <p:sp>
        <p:nvSpPr>
          <p:cNvPr id="2393095" name="Text Box 7"/>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3096" name="Text Box 8"/>
          <p:cNvSpPr txBox="1"/>
          <p:nvPr/>
        </p:nvSpPr>
        <p:spPr>
          <a:xfrm>
            <a:off x="1835150" y="4184650"/>
            <a:ext cx="5616575" cy="1841500"/>
          </a:xfrm>
          <a:prstGeom prst="rect">
            <a:avLst/>
          </a:prstGeom>
          <a:noFill/>
          <a:ln w="9525">
            <a:noFill/>
          </a:ln>
        </p:spPr>
        <p:txBody>
          <a:bodyPr>
            <a:spAutoFit/>
          </a:bodyPr>
          <a:p>
            <a:pPr marL="990600" indent="-990600" eaLnBrk="1" hangingPunct="1">
              <a:lnSpc>
                <a:spcPct val="90000"/>
              </a:lnSpc>
              <a:spcBef>
                <a:spcPct val="25000"/>
              </a:spcBef>
              <a:buClr>
                <a:srgbClr val="FF0000"/>
              </a:buClr>
              <a:buFont typeface="Wingdings" panose="05000000000000000000" pitchFamily="2" charset="2"/>
            </a:pP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AC</a:t>
            </a:r>
            <a:r>
              <a:rPr lang="zh-CN" altLang="en-US" sz="2800" dirty="0">
                <a:solidFill>
                  <a:srgbClr val="3333CC"/>
                </a:solidFill>
                <a:latin typeface="Times New Roman" panose="02020603050405020304" pitchFamily="18" charset="0"/>
              </a:rPr>
              <a:t>：采样</a:t>
            </a:r>
            <a:r>
              <a:rPr lang="en-US" altLang="zh-CN" sz="2800" dirty="0">
                <a:solidFill>
                  <a:srgbClr val="3333CC"/>
                </a:solidFill>
                <a:latin typeface="Times New Roman" panose="02020603050405020304" pitchFamily="18" charset="0"/>
              </a:rPr>
              <a:t>/</a:t>
            </a:r>
            <a:r>
              <a:rPr lang="zh-CN" altLang="en-US" sz="2800" dirty="0">
                <a:solidFill>
                  <a:srgbClr val="3333CC"/>
                </a:solidFill>
                <a:latin typeface="Times New Roman" panose="02020603050405020304" pitchFamily="18" charset="0"/>
              </a:rPr>
              <a:t>保持器的捕捉时间；</a:t>
            </a:r>
            <a:endParaRPr lang="zh-CN" altLang="en-US" sz="2800" dirty="0">
              <a:solidFill>
                <a:srgbClr val="3333CC"/>
              </a:solidFill>
              <a:latin typeface="Times New Roman" panose="02020603050405020304" pitchFamily="18" charset="0"/>
            </a:endParaRPr>
          </a:p>
          <a:p>
            <a:pPr marL="990600" indent="-990600" eaLnBrk="1" hangingPunct="1">
              <a:lnSpc>
                <a:spcPct val="90000"/>
              </a:lnSpc>
              <a:spcBef>
                <a:spcPct val="25000"/>
              </a:spcBef>
              <a:buClr>
                <a:srgbClr val="FF0000"/>
              </a:buClr>
              <a:buFont typeface="Wingdings" panose="05000000000000000000" pitchFamily="2" charset="2"/>
            </a:pP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AP</a:t>
            </a:r>
            <a:r>
              <a:rPr lang="zh-CN" altLang="en-US" sz="2800" dirty="0">
                <a:solidFill>
                  <a:srgbClr val="3333CC"/>
                </a:solidFill>
                <a:latin typeface="Times New Roman" panose="02020603050405020304" pitchFamily="18" charset="0"/>
              </a:rPr>
              <a:t>：采样</a:t>
            </a:r>
            <a:r>
              <a:rPr lang="en-US" altLang="zh-CN" sz="2800" dirty="0">
                <a:solidFill>
                  <a:srgbClr val="3333CC"/>
                </a:solidFill>
                <a:latin typeface="Times New Roman" panose="02020603050405020304" pitchFamily="18" charset="0"/>
              </a:rPr>
              <a:t>/</a:t>
            </a:r>
            <a:r>
              <a:rPr lang="zh-CN" altLang="en-US" sz="2800" dirty="0">
                <a:solidFill>
                  <a:srgbClr val="3333CC"/>
                </a:solidFill>
                <a:latin typeface="Times New Roman" panose="02020603050405020304" pitchFamily="18" charset="0"/>
              </a:rPr>
              <a:t>保持器的最大孔径时间（包括抖动时间）；</a:t>
            </a:r>
            <a:endParaRPr lang="zh-CN" altLang="en-US" sz="2800" dirty="0">
              <a:solidFill>
                <a:srgbClr val="3333CC"/>
              </a:solidFill>
              <a:latin typeface="Times New Roman" panose="02020603050405020304" pitchFamily="18" charset="0"/>
            </a:endParaRPr>
          </a:p>
          <a:p>
            <a:pPr marL="990600" indent="-990600" eaLnBrk="1" hangingPunct="1">
              <a:lnSpc>
                <a:spcPct val="90000"/>
              </a:lnSpc>
              <a:spcBef>
                <a:spcPct val="25000"/>
              </a:spcBef>
              <a:buClr>
                <a:srgbClr val="FF0000"/>
              </a:buClr>
              <a:buFont typeface="Wingdings" panose="05000000000000000000" pitchFamily="2" charset="2"/>
            </a:pP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CONV</a:t>
            </a:r>
            <a:r>
              <a:rPr lang="zh-CN" altLang="en-US" sz="2800" dirty="0">
                <a:solidFill>
                  <a:srgbClr val="3333CC"/>
                </a:solidFill>
                <a:latin typeface="Times New Roman" panose="02020603050405020304" pitchFamily="18" charset="0"/>
              </a:rPr>
              <a:t>：</a:t>
            </a:r>
            <a:r>
              <a:rPr lang="en-US" altLang="zh-CN" sz="2800" dirty="0">
                <a:solidFill>
                  <a:srgbClr val="3333CC"/>
                </a:solidFill>
                <a:latin typeface="Times New Roman" panose="02020603050405020304" pitchFamily="18" charset="0"/>
              </a:rPr>
              <a:t>A/D</a:t>
            </a:r>
            <a:r>
              <a:rPr lang="zh-CN" altLang="en-US" sz="2800" dirty="0">
                <a:solidFill>
                  <a:srgbClr val="3333CC"/>
                </a:solidFill>
                <a:latin typeface="Times New Roman" panose="02020603050405020304" pitchFamily="18" charset="0"/>
              </a:rPr>
              <a:t>转换器的转换时间。</a:t>
            </a:r>
            <a:endParaRPr lang="zh-CN" altLang="en-US" sz="2800" dirty="0">
              <a:solidFill>
                <a:srgbClr val="3333CC"/>
              </a:solidFill>
              <a:latin typeface="Times New Roman" panose="02020603050405020304" pitchFamily="18" charset="0"/>
            </a:endParaRPr>
          </a:p>
        </p:txBody>
      </p:sp>
      <p:sp>
        <p:nvSpPr>
          <p:cNvPr id="2393098" name="AutoShape 10"/>
          <p:cNvSpPr/>
          <p:nvPr/>
        </p:nvSpPr>
        <p:spPr>
          <a:xfrm>
            <a:off x="7164388" y="3800475"/>
            <a:ext cx="1476375" cy="708025"/>
          </a:xfrm>
          <a:prstGeom prst="wedgeRoundRectCallout">
            <a:avLst>
              <a:gd name="adj1" fmla="val -76130"/>
              <a:gd name="adj2" fmla="val -4506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93097" name="Text Box 9"/>
          <p:cNvSpPr txBox="1"/>
          <p:nvPr/>
        </p:nvSpPr>
        <p:spPr>
          <a:xfrm>
            <a:off x="7416800" y="3800475"/>
            <a:ext cx="1095375" cy="585788"/>
          </a:xfrm>
          <a:prstGeom prst="rect">
            <a:avLst/>
          </a:prstGeom>
          <a:noFill/>
          <a:ln w="9525">
            <a:noFill/>
          </a:ln>
        </p:spPr>
        <p:txBody>
          <a:bodyPr>
            <a:spAutoFit/>
          </a:bodyPr>
          <a:p>
            <a:pPr eaLnBrk="1" hangingPunct="1">
              <a:lnSpc>
                <a:spcPct val="90000"/>
              </a:lnSpc>
              <a:spcBef>
                <a:spcPct val="50000"/>
              </a:spcBef>
            </a:pPr>
            <a:r>
              <a:rPr lang="en-US" altLang="zh-CN" i="1" dirty="0">
                <a:solidFill>
                  <a:srgbClr val="FF0000"/>
                </a:solidFill>
                <a:latin typeface="Times New Roman" panose="02020603050405020304" pitchFamily="18" charset="0"/>
              </a:rPr>
              <a:t>t</a:t>
            </a:r>
            <a:r>
              <a:rPr lang="en-US" altLang="zh-CN" baseline="-25000" dirty="0">
                <a:solidFill>
                  <a:srgbClr val="FF0000"/>
                </a:solidFill>
                <a:latin typeface="Times New Roman" panose="02020603050405020304" pitchFamily="18" charset="0"/>
              </a:rPr>
              <a:t>ST </a:t>
            </a:r>
            <a:r>
              <a:rPr lang="en-US" altLang="zh-CN" dirty="0">
                <a:solidFill>
                  <a:srgbClr val="FF0000"/>
                </a:solidFill>
                <a:latin typeface="Times New Roman" panose="02020603050405020304" pitchFamily="18" charset="0"/>
              </a:rPr>
              <a:t>?</a:t>
            </a:r>
            <a:endParaRPr lang="en-US" altLang="zh-CN"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3092">
                                            <p:txEl>
                                              <p:charRg st="0" end="40"/>
                                            </p:txEl>
                                          </p:spTgt>
                                        </p:tgtEl>
                                        <p:attrNameLst>
                                          <p:attrName>style.visibility</p:attrName>
                                        </p:attrNameLst>
                                      </p:cBhvr>
                                      <p:to>
                                        <p:strVal val="visible"/>
                                      </p:to>
                                    </p:set>
                                    <p:animEffect transition="in" filter="dissolve">
                                      <p:cBhvr>
                                        <p:cTn id="7" dur="500"/>
                                        <p:tgtEl>
                                          <p:spTgt spid="2393092">
                                            <p:txEl>
                                              <p:charRg st="0" end="4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3093">
                                            <p:txEl>
                                              <p:charRg st="0" end="34"/>
                                            </p:txEl>
                                          </p:spTgt>
                                        </p:tgtEl>
                                        <p:attrNameLst>
                                          <p:attrName>style.visibility</p:attrName>
                                        </p:attrNameLst>
                                      </p:cBhvr>
                                      <p:to>
                                        <p:strVal val="visible"/>
                                      </p:to>
                                    </p:set>
                                    <p:animEffect transition="in" filter="dissolve">
                                      <p:cBhvr>
                                        <p:cTn id="12" dur="500"/>
                                        <p:tgtEl>
                                          <p:spTgt spid="2393093">
                                            <p:txEl>
                                              <p:charRg st="0" end="3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3094"/>
                                        </p:tgtEl>
                                        <p:attrNameLst>
                                          <p:attrName>style.visibility</p:attrName>
                                        </p:attrNameLst>
                                      </p:cBhvr>
                                      <p:to>
                                        <p:strVal val="visible"/>
                                      </p:to>
                                    </p:set>
                                    <p:animEffect transition="in" filter="dissolve">
                                      <p:cBhvr>
                                        <p:cTn id="17" dur="500"/>
                                        <p:tgtEl>
                                          <p:spTgt spid="23930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3096">
                                            <p:txEl>
                                              <p:charRg st="0" end="17"/>
                                            </p:txEl>
                                          </p:spTgt>
                                        </p:tgtEl>
                                        <p:attrNameLst>
                                          <p:attrName>style.visibility</p:attrName>
                                        </p:attrNameLst>
                                      </p:cBhvr>
                                      <p:to>
                                        <p:strVal val="visible"/>
                                      </p:to>
                                    </p:set>
                                    <p:animEffect transition="in" filter="dissolve">
                                      <p:cBhvr>
                                        <p:cTn id="22" dur="500"/>
                                        <p:tgtEl>
                                          <p:spTgt spid="2393096">
                                            <p:txEl>
                                              <p:charRg st="0" end="17"/>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93096">
                                            <p:txEl>
                                              <p:charRg st="17" end="44"/>
                                            </p:txEl>
                                          </p:spTgt>
                                        </p:tgtEl>
                                        <p:attrNameLst>
                                          <p:attrName>style.visibility</p:attrName>
                                        </p:attrNameLst>
                                      </p:cBhvr>
                                      <p:to>
                                        <p:strVal val="visible"/>
                                      </p:to>
                                    </p:set>
                                    <p:animEffect transition="in" filter="dissolve">
                                      <p:cBhvr>
                                        <p:cTn id="27" dur="500"/>
                                        <p:tgtEl>
                                          <p:spTgt spid="2393096">
                                            <p:txEl>
                                              <p:charRg st="17" end="4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93098"/>
                                        </p:tgtEl>
                                        <p:attrNameLst>
                                          <p:attrName>style.visibility</p:attrName>
                                        </p:attrNameLst>
                                      </p:cBhvr>
                                      <p:to>
                                        <p:strVal val="visible"/>
                                      </p:to>
                                    </p:set>
                                    <p:animEffect transition="in" filter="dissolve">
                                      <p:cBhvr>
                                        <p:cTn id="32" dur="500"/>
                                        <p:tgtEl>
                                          <p:spTgt spid="2393098"/>
                                        </p:tgtEl>
                                      </p:cBhvr>
                                    </p:animEffect>
                                  </p:childTnLst>
                                </p:cTn>
                              </p:par>
                              <p:par>
                                <p:cTn id="33" presetID="9" presetClass="entr" presetSubtype="0" fill="hold" nodeType="withEffect">
                                  <p:stCondLst>
                                    <p:cond delay="0"/>
                                  </p:stCondLst>
                                  <p:childTnLst>
                                    <p:set>
                                      <p:cBhvr>
                                        <p:cTn id="34" dur="1" fill="hold">
                                          <p:stCondLst>
                                            <p:cond delay="0"/>
                                          </p:stCondLst>
                                        </p:cTn>
                                        <p:tgtEl>
                                          <p:spTgt spid="2393097"/>
                                        </p:tgtEl>
                                        <p:attrNameLst>
                                          <p:attrName>style.visibility</p:attrName>
                                        </p:attrNameLst>
                                      </p:cBhvr>
                                      <p:to>
                                        <p:strVal val="visible"/>
                                      </p:to>
                                    </p:set>
                                    <p:animEffect transition="in" filter="dissolve">
                                      <p:cBhvr>
                                        <p:cTn id="35" dur="500"/>
                                        <p:tgtEl>
                                          <p:spTgt spid="239309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2393096">
                                            <p:txEl>
                                              <p:charRg st="44" end="63"/>
                                            </p:txEl>
                                          </p:spTgt>
                                        </p:tgtEl>
                                        <p:attrNameLst>
                                          <p:attrName>style.visibility</p:attrName>
                                        </p:attrNameLst>
                                      </p:cBhvr>
                                      <p:to>
                                        <p:strVal val="visible"/>
                                      </p:to>
                                    </p:set>
                                    <p:animEffect transition="in" filter="dissolve">
                                      <p:cBhvr>
                                        <p:cTn id="40" dur="500"/>
                                        <p:tgtEl>
                                          <p:spTgt spid="2393096">
                                            <p:txEl>
                                              <p:charRg st="44" end="6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3092" grpId="0" build="p"/>
      <p:bldP spid="2393093" grpId="0" build="p"/>
      <p:bldP spid="2393098" grpId="0" animBg="1"/>
      <p:bldP spid="2393097"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0978" name="Text Box 2"/>
          <p:cNvSpPr txBox="1"/>
          <p:nvPr/>
        </p:nvSpPr>
        <p:spPr>
          <a:xfrm>
            <a:off x="1439863" y="3116263"/>
            <a:ext cx="6408737" cy="457200"/>
          </a:xfrm>
          <a:prstGeom prst="rect">
            <a:avLst/>
          </a:prstGeom>
          <a:noFill/>
          <a:ln w="9525">
            <a:noFill/>
          </a:ln>
        </p:spPr>
        <p:txBody>
          <a:bodyPr>
            <a:spAutoFit/>
          </a:bodyPr>
          <a:p>
            <a:pPr eaLnBrk="1" hangingPunct="1"/>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AP</a:t>
            </a:r>
            <a:r>
              <a:rPr lang="zh-CN" altLang="en-US" sz="2400" dirty="0">
                <a:solidFill>
                  <a:schemeClr val="tx1"/>
                </a:solidFill>
                <a:latin typeface="Times New Roman" panose="02020603050405020304" pitchFamily="18" charset="0"/>
              </a:rPr>
              <a:t>与</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AC</a:t>
            </a:r>
            <a:r>
              <a:rPr lang="zh-CN" altLang="en-US" sz="2400" dirty="0">
                <a:solidFill>
                  <a:schemeClr val="tx1"/>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CONV</a:t>
            </a:r>
            <a:r>
              <a:rPr lang="zh-CN" altLang="en-US" sz="2400" dirty="0">
                <a:solidFill>
                  <a:schemeClr val="tx1"/>
                </a:solidFill>
                <a:latin typeface="Times New Roman" panose="02020603050405020304" pitchFamily="18" charset="0"/>
              </a:rPr>
              <a:t>相比，可以忽略。</a:t>
            </a:r>
            <a:endParaRPr lang="zh-CN" altLang="en-US" sz="2400" dirty="0">
              <a:solidFill>
                <a:schemeClr val="tx1"/>
              </a:solidFill>
              <a:latin typeface="Times New Roman" panose="02020603050405020304" pitchFamily="18" charset="0"/>
              <a:ea typeface="宋体" panose="02010600030101010101" pitchFamily="2" charset="-122"/>
            </a:endParaRPr>
          </a:p>
        </p:txBody>
      </p:sp>
      <p:sp>
        <p:nvSpPr>
          <p:cNvPr id="2430979" name="Text Box 3"/>
          <p:cNvSpPr txBox="1">
            <a:spLocks noChangeArrowheads="1"/>
          </p:cNvSpPr>
          <p:nvPr/>
        </p:nvSpPr>
        <p:spPr bwMode="auto">
          <a:xfrm>
            <a:off x="506413" y="44450"/>
            <a:ext cx="8350250"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5.4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系统采集速率与采样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保持器的关系</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30980" name="Text Box 4"/>
          <p:cNvSpPr txBox="1"/>
          <p:nvPr/>
        </p:nvSpPr>
        <p:spPr>
          <a:xfrm>
            <a:off x="179388" y="873125"/>
            <a:ext cx="1260475" cy="585788"/>
          </a:xfrm>
          <a:prstGeom prst="rect">
            <a:avLst/>
          </a:prstGeom>
          <a:solidFill>
            <a:srgbClr val="FF99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例子：</a:t>
            </a:r>
            <a:endParaRPr lang="zh-CN" altLang="en-US" dirty="0">
              <a:solidFill>
                <a:schemeClr val="tx1"/>
              </a:solidFill>
              <a:latin typeface="Times New Roman" panose="02020603050405020304" pitchFamily="18" charset="0"/>
            </a:endParaRPr>
          </a:p>
        </p:txBody>
      </p:sp>
      <p:sp>
        <p:nvSpPr>
          <p:cNvPr id="2430981" name="Text Box 5"/>
          <p:cNvSpPr txBox="1"/>
          <p:nvPr/>
        </p:nvSpPr>
        <p:spPr>
          <a:xfrm>
            <a:off x="971550" y="4833938"/>
            <a:ext cx="7380288" cy="1244600"/>
          </a:xfrm>
          <a:prstGeom prst="rect">
            <a:avLst/>
          </a:prstGeom>
          <a:noFill/>
          <a:ln w="9525">
            <a:noFill/>
          </a:ln>
        </p:spPr>
        <p:txBody>
          <a:bodyPr>
            <a:spAutoFit/>
          </a:bodyPr>
          <a:p>
            <a:pPr eaLnBrk="1" hangingPunct="1">
              <a:lnSpc>
                <a:spcPct val="90000"/>
              </a:lnSpc>
              <a:spcBef>
                <a:spcPct val="50000"/>
              </a:spcBef>
            </a:pPr>
            <a:r>
              <a:rPr lang="zh-CN" altLang="en-US" sz="2800" dirty="0">
                <a:latin typeface="黑体" panose="02010609060101010101" pitchFamily="49" charset="-122"/>
                <a:ea typeface="黑体" panose="02010609060101010101" pitchFamily="49" charset="-122"/>
              </a:rPr>
              <a:t>数据采集系统能够采集的信号的最高频率既要受到采样</a:t>
            </a:r>
            <a:r>
              <a:rPr lang="en-US" altLang="zh-CN" sz="2800" dirty="0">
                <a:latin typeface="黑体" panose="02010609060101010101" pitchFamily="49" charset="-122"/>
                <a:ea typeface="黑体" panose="02010609060101010101" pitchFamily="49" charset="-122"/>
              </a:rPr>
              <a:t>/</a:t>
            </a:r>
            <a:r>
              <a:rPr lang="zh-CN" altLang="en-US" sz="2800" dirty="0">
                <a:latin typeface="黑体" panose="02010609060101010101" pitchFamily="49" charset="-122"/>
                <a:ea typeface="黑体" panose="02010609060101010101" pitchFamily="49" charset="-122"/>
              </a:rPr>
              <a:t>保持器的孔径时间</a:t>
            </a:r>
            <a:r>
              <a:rPr lang="en-US" altLang="zh-CN" sz="2800" i="1" dirty="0">
                <a:solidFill>
                  <a:srgbClr val="FF0000"/>
                </a:solidFill>
                <a:latin typeface="Times New Roman" panose="02020603050405020304" pitchFamily="18" charset="0"/>
                <a:ea typeface="黑体" panose="02010609060101010101" pitchFamily="49" charset="-122"/>
              </a:rPr>
              <a:t>t</a:t>
            </a:r>
            <a:r>
              <a:rPr lang="en-US" altLang="zh-CN" sz="2800" baseline="-25000" dirty="0">
                <a:solidFill>
                  <a:srgbClr val="FF0000"/>
                </a:solidFill>
                <a:latin typeface="Times New Roman" panose="02020603050405020304" pitchFamily="18" charset="0"/>
                <a:ea typeface="黑体" panose="02010609060101010101" pitchFamily="49" charset="-122"/>
              </a:rPr>
              <a:t>AP</a:t>
            </a:r>
            <a:r>
              <a:rPr lang="zh-CN" altLang="en-US" sz="2800" dirty="0">
                <a:latin typeface="黑体" panose="02010609060101010101" pitchFamily="49" charset="-122"/>
                <a:ea typeface="黑体" panose="02010609060101010101" pitchFamily="49" charset="-122"/>
              </a:rPr>
              <a:t>和采样精度</a:t>
            </a:r>
            <a:r>
              <a:rPr lang="en-US" altLang="zh-CN" sz="2800" i="1" dirty="0">
                <a:solidFill>
                  <a:srgbClr val="FF0000"/>
                </a:solidFill>
                <a:latin typeface="Times New Roman" panose="02020603050405020304" pitchFamily="18" charset="0"/>
                <a:ea typeface="黑体" panose="02010609060101010101" pitchFamily="49" charset="-122"/>
              </a:rPr>
              <a:t>n</a:t>
            </a:r>
            <a:r>
              <a:rPr lang="zh-CN" altLang="en-US" sz="2800" dirty="0">
                <a:latin typeface="黑体" panose="02010609060101010101" pitchFamily="49" charset="-122"/>
                <a:ea typeface="黑体" panose="02010609060101010101" pitchFamily="49" charset="-122"/>
              </a:rPr>
              <a:t>的限制，也要受到采样定理的限制。</a:t>
            </a:r>
            <a:endParaRPr lang="zh-CN" altLang="en-US" sz="2800" dirty="0">
              <a:latin typeface="黑体" panose="02010609060101010101" pitchFamily="49" charset="-122"/>
              <a:ea typeface="黑体" panose="02010609060101010101" pitchFamily="49" charset="-122"/>
            </a:endParaRPr>
          </a:p>
        </p:txBody>
      </p:sp>
      <p:sp>
        <p:nvSpPr>
          <p:cNvPr id="2430982" name="Text Box 6"/>
          <p:cNvSpPr txBox="1"/>
          <p:nvPr/>
        </p:nvSpPr>
        <p:spPr>
          <a:xfrm>
            <a:off x="1503363" y="765175"/>
            <a:ext cx="7532687" cy="2227263"/>
          </a:xfrm>
          <a:prstGeom prst="rect">
            <a:avLst/>
          </a:prstGeom>
          <a:noFill/>
          <a:ln w="9525">
            <a:noFill/>
          </a:ln>
        </p:spPr>
        <p:txBody>
          <a:bodyPr>
            <a:spAutoFit/>
          </a:bodyPr>
          <a:p>
            <a:pPr eaLnBrk="1" hangingPunct="1"/>
            <a:r>
              <a:rPr lang="zh-CN" altLang="en-US" sz="2800" dirty="0">
                <a:latin typeface="Times New Roman" panose="02020603050405020304" pitchFamily="18" charset="0"/>
              </a:rPr>
              <a:t>用采样</a:t>
            </a:r>
            <a:r>
              <a:rPr lang="en-US" altLang="zh-CN" sz="2800" dirty="0">
                <a:latin typeface="Times New Roman" panose="02020603050405020304" pitchFamily="18" charset="0"/>
              </a:rPr>
              <a:t>/</a:t>
            </a:r>
            <a:r>
              <a:rPr lang="zh-CN" altLang="en-US" sz="2800" dirty="0">
                <a:latin typeface="Times New Roman" panose="02020603050405020304" pitchFamily="18" charset="0"/>
              </a:rPr>
              <a:t>保持器芯片</a:t>
            </a:r>
            <a:r>
              <a:rPr lang="en-US" altLang="zh-CN" sz="2800" dirty="0">
                <a:solidFill>
                  <a:srgbClr val="FF0000"/>
                </a:solidFill>
                <a:latin typeface="Times New Roman" panose="02020603050405020304" pitchFamily="18" charset="0"/>
                <a:ea typeface="宋体" panose="02010600030101010101" pitchFamily="2" charset="-122"/>
              </a:rPr>
              <a:t>AD582</a:t>
            </a:r>
            <a:r>
              <a:rPr lang="zh-CN" altLang="en-US" sz="2800" dirty="0">
                <a:latin typeface="Times New Roman" panose="02020603050405020304" pitchFamily="18" charset="0"/>
              </a:rPr>
              <a:t>和</a:t>
            </a:r>
            <a:r>
              <a:rPr lang="en-US" altLang="zh-CN" sz="2800" dirty="0">
                <a:latin typeface="Times New Roman" panose="02020603050405020304" pitchFamily="18" charset="0"/>
                <a:ea typeface="宋体" panose="02010600030101010101" pitchFamily="2" charset="-122"/>
              </a:rPr>
              <a:t>A/D</a:t>
            </a:r>
            <a:r>
              <a:rPr lang="zh-CN" altLang="en-US" sz="2800" dirty="0">
                <a:latin typeface="Times New Roman" panose="02020603050405020304" pitchFamily="18" charset="0"/>
              </a:rPr>
              <a:t>转换器芯片</a:t>
            </a:r>
            <a:r>
              <a:rPr lang="en-US" altLang="zh-CN" sz="2800" dirty="0">
                <a:solidFill>
                  <a:srgbClr val="FF0000"/>
                </a:solidFill>
                <a:latin typeface="Times New Roman" panose="02020603050405020304" pitchFamily="18" charset="0"/>
                <a:ea typeface="宋体" panose="02010600030101010101" pitchFamily="2" charset="-122"/>
              </a:rPr>
              <a:t>ADC0804</a:t>
            </a:r>
            <a:r>
              <a:rPr lang="zh-CN" altLang="en-US" sz="2800" dirty="0">
                <a:latin typeface="Times New Roman" panose="02020603050405020304" pitchFamily="18" charset="0"/>
              </a:rPr>
              <a:t>组成一个采集系统</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已知</a:t>
            </a:r>
            <a:r>
              <a:rPr lang="en-US" altLang="zh-CN" sz="2800" dirty="0">
                <a:solidFill>
                  <a:srgbClr val="FF0000"/>
                </a:solidFill>
                <a:latin typeface="Times New Roman" panose="02020603050405020304" pitchFamily="18" charset="0"/>
                <a:ea typeface="宋体" panose="02010600030101010101" pitchFamily="2" charset="-122"/>
              </a:rPr>
              <a:t>AD582</a:t>
            </a:r>
            <a:r>
              <a:rPr lang="zh-CN" altLang="en-US" sz="2800" dirty="0">
                <a:latin typeface="Times New Roman" panose="02020603050405020304" pitchFamily="18" charset="0"/>
              </a:rPr>
              <a:t>的捕捉时间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AC</a:t>
            </a:r>
            <a:r>
              <a:rPr lang="en-US" altLang="zh-CN" sz="2800" dirty="0">
                <a:solidFill>
                  <a:srgbClr val="FF0000"/>
                </a:solidFill>
                <a:latin typeface="Times New Roman" panose="02020603050405020304" pitchFamily="18" charset="0"/>
                <a:ea typeface="宋体" panose="02010600030101010101" pitchFamily="2" charset="-122"/>
              </a:rPr>
              <a:t>=6</a:t>
            </a:r>
            <a:r>
              <a:rPr lang="en-US" altLang="zh-CN" sz="2800" dirty="0">
                <a:solidFill>
                  <a:srgbClr val="FF0000"/>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FF0000"/>
                </a:solidFill>
                <a:latin typeface="Times New Roman" panose="02020603050405020304" pitchFamily="18" charset="0"/>
                <a:ea typeface="宋体" panose="02010600030101010101" pitchFamily="2" charset="-122"/>
              </a:rPr>
              <a:t>s</a:t>
            </a:r>
            <a:r>
              <a:rPr lang="zh-CN" altLang="en-US" sz="2800" dirty="0">
                <a:latin typeface="Times New Roman" panose="02020603050405020304" pitchFamily="18" charset="0"/>
              </a:rPr>
              <a:t>，孔径时间</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AP</a:t>
            </a:r>
            <a:r>
              <a:rPr lang="en-US" altLang="zh-CN" sz="2800" dirty="0">
                <a:solidFill>
                  <a:srgbClr val="FF0000"/>
                </a:solidFill>
                <a:latin typeface="Times New Roman" panose="02020603050405020304" pitchFamily="18" charset="0"/>
                <a:ea typeface="宋体" panose="02010600030101010101" pitchFamily="2" charset="-122"/>
              </a:rPr>
              <a:t> =50ns</a:t>
            </a:r>
            <a:r>
              <a:rPr lang="zh-CN" altLang="en-US" sz="2800" dirty="0">
                <a:latin typeface="Times New Roman" panose="02020603050405020304" pitchFamily="18" charset="0"/>
                <a:ea typeface="宋体" panose="02010600030101010101" pitchFamily="2" charset="-122"/>
              </a:rPr>
              <a:t>，</a:t>
            </a:r>
            <a:r>
              <a:rPr lang="en-US" altLang="zh-CN" sz="2800" dirty="0">
                <a:solidFill>
                  <a:srgbClr val="FF0000"/>
                </a:solidFill>
                <a:latin typeface="Times New Roman" panose="02020603050405020304" pitchFamily="18" charset="0"/>
                <a:ea typeface="宋体" panose="02010600030101010101" pitchFamily="2" charset="-122"/>
              </a:rPr>
              <a:t>ADC0804</a:t>
            </a:r>
            <a:r>
              <a:rPr lang="zh-CN" altLang="en-US" sz="2800" dirty="0">
                <a:latin typeface="Times New Roman" panose="02020603050405020304" pitchFamily="18" charset="0"/>
              </a:rPr>
              <a:t>的转换时间  </a:t>
            </a:r>
            <a:r>
              <a:rPr lang="en-US" altLang="zh-CN" sz="2800" i="1" dirty="0">
                <a:solidFill>
                  <a:srgbClr val="FF0000"/>
                </a:solidFill>
                <a:latin typeface="Times New Roman" panose="02020603050405020304" pitchFamily="18" charset="0"/>
                <a:ea typeface="宋体" panose="02010600030101010101" pitchFamily="2" charset="-122"/>
              </a:rPr>
              <a:t>t</a:t>
            </a:r>
            <a:r>
              <a:rPr lang="en-US" altLang="zh-CN" sz="2800" baseline="-25000" dirty="0">
                <a:solidFill>
                  <a:srgbClr val="FF0000"/>
                </a:solidFill>
                <a:latin typeface="Times New Roman" panose="02020603050405020304" pitchFamily="18" charset="0"/>
                <a:ea typeface="宋体" panose="02010600030101010101" pitchFamily="2" charset="-122"/>
              </a:rPr>
              <a:t>CONV</a:t>
            </a:r>
            <a:r>
              <a:rPr lang="en-US" altLang="zh-CN" sz="2800" dirty="0">
                <a:solidFill>
                  <a:srgbClr val="FF0000"/>
                </a:solidFill>
                <a:latin typeface="Times New Roman" panose="02020603050405020304" pitchFamily="18" charset="0"/>
                <a:ea typeface="宋体" panose="02010600030101010101" pitchFamily="2" charset="-122"/>
              </a:rPr>
              <a:t> =100</a:t>
            </a:r>
            <a:r>
              <a:rPr lang="en-US" altLang="zh-CN" sz="2800" dirty="0">
                <a:solidFill>
                  <a:srgbClr val="FF0000"/>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FF0000"/>
                </a:solidFill>
                <a:latin typeface="Times New Roman" panose="02020603050405020304" pitchFamily="18" charset="0"/>
                <a:ea typeface="宋体" panose="02010600030101010101" pitchFamily="2" charset="-122"/>
              </a:rPr>
              <a:t>s</a:t>
            </a:r>
            <a:r>
              <a:rPr lang="zh-CN" altLang="en-US" sz="2800" dirty="0">
                <a:latin typeface="Times New Roman" panose="02020603050405020304" pitchFamily="18" charset="0"/>
                <a:ea typeface="宋体" panose="02010600030101010101" pitchFamily="2" charset="-122"/>
              </a:rPr>
              <a:t>（</a:t>
            </a:r>
            <a:r>
              <a:rPr lang="zh-CN" altLang="en-US" sz="2800" dirty="0">
                <a:latin typeface="Times New Roman" panose="02020603050405020304" pitchFamily="18" charset="0"/>
              </a:rPr>
              <a:t>时钟频率为</a:t>
            </a:r>
            <a:r>
              <a:rPr lang="en-US" altLang="zh-CN" sz="2800" dirty="0">
                <a:latin typeface="Times New Roman" panose="02020603050405020304" pitchFamily="18" charset="0"/>
                <a:ea typeface="宋体" panose="02010600030101010101" pitchFamily="2" charset="-122"/>
              </a:rPr>
              <a:t>640kHz</a:t>
            </a:r>
            <a:r>
              <a:rPr lang="zh-CN" altLang="en-US" sz="2800" dirty="0">
                <a:latin typeface="Times New Roman" panose="02020603050405020304" pitchFamily="18" charset="0"/>
                <a:ea typeface="宋体" panose="02010600030101010101" pitchFamily="2" charset="-122"/>
              </a:rPr>
              <a:t>），</a:t>
            </a:r>
            <a:r>
              <a:rPr lang="zh-CN" altLang="en-US" sz="2800" dirty="0">
                <a:latin typeface="楷体_GB2312" pitchFamily="49" charset="-122"/>
              </a:rPr>
              <a:t>计算系统可采集的最高信号频率。 </a:t>
            </a:r>
            <a:endParaRPr lang="zh-CN" altLang="en-US" sz="2800" dirty="0">
              <a:latin typeface="楷体_GB2312" pitchFamily="49" charset="-122"/>
            </a:endParaRPr>
          </a:p>
        </p:txBody>
      </p:sp>
      <p:graphicFrame>
        <p:nvGraphicFramePr>
          <p:cNvPr id="2430983" name="Object 7"/>
          <p:cNvGraphicFramePr>
            <a:graphicFrameLocks noChangeAspect="1"/>
          </p:cNvGraphicFramePr>
          <p:nvPr/>
        </p:nvGraphicFramePr>
        <p:xfrm>
          <a:off x="971550" y="3609975"/>
          <a:ext cx="7380288" cy="971550"/>
        </p:xfrm>
        <a:graphic>
          <a:graphicData uri="http://schemas.openxmlformats.org/presentationml/2006/ole">
            <mc:AlternateContent xmlns:mc="http://schemas.openxmlformats.org/markup-compatibility/2006">
              <mc:Choice xmlns:v="urn:schemas-microsoft-com:vml" Requires="v">
                <p:oleObj spid="_x0000_s3093" name="" r:id="rId1" imgW="3670300" imgH="431800" progId="Equation.3">
                  <p:embed/>
                </p:oleObj>
              </mc:Choice>
              <mc:Fallback>
                <p:oleObj name="" r:id="rId1" imgW="3670300" imgH="431800" progId="Equation.3">
                  <p:embed/>
                  <p:pic>
                    <p:nvPicPr>
                      <p:cNvPr id="0" name="图片 3092"/>
                      <p:cNvPicPr/>
                      <p:nvPr/>
                    </p:nvPicPr>
                    <p:blipFill>
                      <a:blip r:embed="rId2"/>
                      <a:stretch>
                        <a:fillRect/>
                      </a:stretch>
                    </p:blipFill>
                    <p:spPr>
                      <a:xfrm>
                        <a:off x="971550" y="3609975"/>
                        <a:ext cx="7380288" cy="971550"/>
                      </a:xfrm>
                      <a:prstGeom prst="rect">
                        <a:avLst/>
                      </a:prstGeom>
                      <a:solidFill>
                        <a:srgbClr val="CCFFFF"/>
                      </a:solidFill>
                      <a:ln w="38100">
                        <a:noFill/>
                        <a:miter/>
                      </a:ln>
                    </p:spPr>
                  </p:pic>
                </p:oleObj>
              </mc:Fallback>
            </mc:AlternateContent>
          </a:graphicData>
        </a:graphic>
      </p:graphicFrame>
      <p:sp>
        <p:nvSpPr>
          <p:cNvPr id="2430984" name="Rectangle 8"/>
          <p:cNvSpPr/>
          <p:nvPr/>
        </p:nvSpPr>
        <p:spPr>
          <a:xfrm>
            <a:off x="338138" y="2987675"/>
            <a:ext cx="1101725" cy="585788"/>
          </a:xfrm>
          <a:prstGeom prst="rect">
            <a:avLst/>
          </a:prstGeom>
          <a:no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rPr>
              <a:t>解：</a:t>
            </a:r>
            <a:endParaRPr lang="zh-CN" altLang="en-US"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0980"/>
                                        </p:tgtEl>
                                        <p:attrNameLst>
                                          <p:attrName>style.visibility</p:attrName>
                                        </p:attrNameLst>
                                      </p:cBhvr>
                                      <p:to>
                                        <p:strVal val="visible"/>
                                      </p:to>
                                    </p:set>
                                    <p:animEffect transition="in" filter="dissolve">
                                      <p:cBhvr>
                                        <p:cTn id="7" dur="500"/>
                                        <p:tgtEl>
                                          <p:spTgt spid="243098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0982">
                                            <p:txEl>
                                              <p:charRg st="0" end="130"/>
                                            </p:txEl>
                                          </p:spTgt>
                                        </p:tgtEl>
                                        <p:attrNameLst>
                                          <p:attrName>style.visibility</p:attrName>
                                        </p:attrNameLst>
                                      </p:cBhvr>
                                      <p:to>
                                        <p:strVal val="visible"/>
                                      </p:to>
                                    </p:set>
                                    <p:animEffect transition="in" filter="dissolve">
                                      <p:cBhvr>
                                        <p:cTn id="12" dur="500"/>
                                        <p:tgtEl>
                                          <p:spTgt spid="2430982">
                                            <p:txEl>
                                              <p:charRg st="0" end="13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0984"/>
                                        </p:tgtEl>
                                        <p:attrNameLst>
                                          <p:attrName>style.visibility</p:attrName>
                                        </p:attrNameLst>
                                      </p:cBhvr>
                                      <p:to>
                                        <p:strVal val="visible"/>
                                      </p:to>
                                    </p:set>
                                    <p:animEffect transition="in" filter="dissolve">
                                      <p:cBhvr>
                                        <p:cTn id="17" dur="500"/>
                                        <p:tgtEl>
                                          <p:spTgt spid="243098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30978"/>
                                        </p:tgtEl>
                                        <p:attrNameLst>
                                          <p:attrName>style.visibility</p:attrName>
                                        </p:attrNameLst>
                                      </p:cBhvr>
                                      <p:to>
                                        <p:strVal val="visible"/>
                                      </p:to>
                                    </p:set>
                                    <p:animEffect transition="in" filter="dissolve">
                                      <p:cBhvr>
                                        <p:cTn id="22" dur="500"/>
                                        <p:tgtEl>
                                          <p:spTgt spid="243097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30983"/>
                                        </p:tgtEl>
                                        <p:attrNameLst>
                                          <p:attrName>style.visibility</p:attrName>
                                        </p:attrNameLst>
                                      </p:cBhvr>
                                      <p:to>
                                        <p:strVal val="visible"/>
                                      </p:to>
                                    </p:set>
                                    <p:animEffect transition="in" filter="dissolve">
                                      <p:cBhvr>
                                        <p:cTn id="27" dur="500"/>
                                        <p:tgtEl>
                                          <p:spTgt spid="243098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30981"/>
                                        </p:tgtEl>
                                        <p:attrNameLst>
                                          <p:attrName>style.visibility</p:attrName>
                                        </p:attrNameLst>
                                      </p:cBhvr>
                                      <p:to>
                                        <p:strVal val="visible"/>
                                      </p:to>
                                    </p:set>
                                    <p:animEffect transition="in" filter="dissolve">
                                      <p:cBhvr>
                                        <p:cTn id="32" dur="500"/>
                                        <p:tgtEl>
                                          <p:spTgt spid="24309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0978" grpId="0"/>
      <p:bldP spid="2430980" grpId="0" animBg="1"/>
      <p:bldP spid="2430981" grpId="0"/>
      <p:bldP spid="2430982" grpId="0" build="p"/>
      <p:bldP spid="2430984"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4115" name="Text Box 3"/>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4233" name="Rectangle 121"/>
          <p:cNvSpPr/>
          <p:nvPr/>
        </p:nvSpPr>
        <p:spPr>
          <a:xfrm>
            <a:off x="684213" y="708025"/>
            <a:ext cx="7596187" cy="1244600"/>
          </a:xfrm>
          <a:prstGeom prst="rect">
            <a:avLst/>
          </a:prstGeom>
          <a:solidFill>
            <a:srgbClr val="CCFFFF"/>
          </a:solidFill>
          <a:ln w="9525">
            <a:noFill/>
          </a:ln>
        </p:spPr>
        <p:txBody>
          <a:bodyPr>
            <a:spAutoFit/>
          </a:bodyPr>
          <a:p>
            <a:pPr eaLnBrk="1" hangingPunct="1">
              <a:lnSpc>
                <a:spcPct val="90000"/>
              </a:lnSpc>
            </a:pPr>
            <a:r>
              <a:rPr lang="zh-CN" altLang="en-US" sz="2800" dirty="0">
                <a:solidFill>
                  <a:schemeClr val="tx1"/>
                </a:solidFill>
                <a:latin typeface="黑体" panose="02010609060101010101" pitchFamily="49" charset="-122"/>
                <a:ea typeface="黑体" panose="02010609060101010101" pitchFamily="49" charset="-122"/>
              </a:rPr>
              <a:t>目前，采样</a:t>
            </a:r>
            <a:r>
              <a:rPr lang="en-US" altLang="zh-CN" sz="2800" dirty="0">
                <a:solidFill>
                  <a:schemeClr val="tx1"/>
                </a:solidFill>
                <a:latin typeface="黑体" panose="02010609060101010101" pitchFamily="49" charset="-122"/>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保持器大多数是集成在一块芯片，芯片内不包含保持电容器，保持电容器是由用户根据需要自选并外接在芯片上。</a:t>
            </a:r>
            <a:endParaRPr lang="zh-CN" altLang="en-US" sz="2800" dirty="0">
              <a:solidFill>
                <a:schemeClr val="tx1"/>
              </a:solidFill>
              <a:latin typeface="黑体" panose="02010609060101010101" pitchFamily="49" charset="-122"/>
              <a:ea typeface="黑体" panose="02010609060101010101" pitchFamily="49" charset="-122"/>
            </a:endParaRPr>
          </a:p>
        </p:txBody>
      </p:sp>
      <p:graphicFrame>
        <p:nvGraphicFramePr>
          <p:cNvPr id="2394265" name="Group 153"/>
          <p:cNvGraphicFramePr>
            <a:graphicFrameLocks noGrp="1"/>
          </p:cNvGraphicFramePr>
          <p:nvPr/>
        </p:nvGraphicFramePr>
        <p:xfrm>
          <a:off x="525463" y="2349500"/>
          <a:ext cx="8078788" cy="3074988"/>
        </p:xfrm>
        <a:graphic>
          <a:graphicData uri="http://schemas.openxmlformats.org/drawingml/2006/table">
            <a:tbl>
              <a:tblPr/>
              <a:tblGrid>
                <a:gridCol w="1601787"/>
                <a:gridCol w="3416300"/>
                <a:gridCol w="3060700"/>
              </a:tblGrid>
              <a:tr h="566855">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种类</a:t>
                      </a:r>
                      <a:endPar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芯片</a:t>
                      </a:r>
                      <a:endPar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主要指标、用途</a:t>
                      </a:r>
                      <a:endParaRPr kumimoji="0" lang="zh-CN" altLang="en-US" sz="24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853616">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rPr>
                        <a:t>通用型</a:t>
                      </a:r>
                      <a:endPar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endParaRPr>
                    </a:p>
                  </a:txBody>
                  <a:tcPr marT="45729" marB="4572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AD582,  AD583, </a:t>
                      </a:r>
                      <a:endPar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LF198,  LF398</a:t>
                      </a:r>
                      <a:endPar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1" u="none" strike="noStrike" cap="none" normalizeH="0" baseline="0">
                          <a:ln>
                            <a:noFill/>
                          </a:ln>
                          <a:solidFill>
                            <a:srgbClr val="FF0000"/>
                          </a:solidFill>
                          <a:effectLst/>
                          <a:latin typeface="Times New Roman" panose="02020603050405020304" pitchFamily="18" charset="0"/>
                          <a:ea typeface="黑体" panose="02010609060101010101" pitchFamily="49" charset="-122"/>
                        </a:rPr>
                        <a:t>T</a:t>
                      </a:r>
                      <a:r>
                        <a:rPr kumimoji="0" lang="en-US" altLang="zh-CN" sz="2000" b="1" i="0" u="none" strike="noStrike" cap="none" normalizeH="0" baseline="-25000">
                          <a:ln>
                            <a:noFill/>
                          </a:ln>
                          <a:solidFill>
                            <a:srgbClr val="FF0000"/>
                          </a:solidFill>
                          <a:effectLst/>
                          <a:latin typeface="黑体" panose="02010609060101010101" pitchFamily="49" charset="-122"/>
                          <a:ea typeface="黑体" panose="02010609060101010101" pitchFamily="49" charset="-122"/>
                        </a:rPr>
                        <a:t>AC</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在几</a:t>
                      </a:r>
                      <a:r>
                        <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us,</a:t>
                      </a:r>
                      <a:endPar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1" u="none" strike="noStrike" cap="none" normalizeH="0" baseline="0">
                          <a:ln>
                            <a:noFill/>
                          </a:ln>
                          <a:solidFill>
                            <a:srgbClr val="FF0000"/>
                          </a:solidFill>
                          <a:effectLst/>
                          <a:latin typeface="Times New Roman" panose="02020603050405020304" pitchFamily="18" charset="0"/>
                          <a:ea typeface="黑体" panose="02010609060101010101" pitchFamily="49" charset="-122"/>
                        </a:rPr>
                        <a:t>T</a:t>
                      </a:r>
                      <a:r>
                        <a:rPr kumimoji="0" lang="en-US" altLang="zh-CN" sz="2000" b="1" i="0" u="none" strike="noStrike" cap="none" normalizeH="0" baseline="-25000">
                          <a:ln>
                            <a:noFill/>
                          </a:ln>
                          <a:solidFill>
                            <a:srgbClr val="FF0000"/>
                          </a:solidFill>
                          <a:effectLst/>
                          <a:latin typeface="黑体" panose="02010609060101010101" pitchFamily="49" charset="-122"/>
                          <a:ea typeface="黑体" panose="02010609060101010101" pitchFamily="49" charset="-122"/>
                        </a:rPr>
                        <a:t>AP</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为几十至</a:t>
                      </a:r>
                      <a:r>
                        <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100</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多</a:t>
                      </a:r>
                      <a:r>
                        <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ns;</a:t>
                      </a:r>
                      <a:endPar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1100365">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rPr>
                        <a:t>高速型</a:t>
                      </a:r>
                      <a:endPar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endParaRPr>
                    </a:p>
                  </a:txBody>
                  <a:tcPr marT="45729" marB="4572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THS-0025,  THS-0060,</a:t>
                      </a:r>
                      <a:endPar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THC-0030,  THC-1500</a:t>
                      </a:r>
                      <a:endPar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1" u="none" strike="noStrike" cap="none" normalizeH="0" baseline="0">
                          <a:ln>
                            <a:noFill/>
                          </a:ln>
                          <a:solidFill>
                            <a:srgbClr val="FF0000"/>
                          </a:solidFill>
                          <a:effectLst/>
                          <a:latin typeface="Times New Roman" panose="02020603050405020304" pitchFamily="18" charset="0"/>
                          <a:ea typeface="黑体" panose="02010609060101010101" pitchFamily="49" charset="-122"/>
                        </a:rPr>
                        <a:t>T</a:t>
                      </a:r>
                      <a:r>
                        <a:rPr kumimoji="0" lang="en-US" altLang="zh-CN" sz="2000" b="1" i="0" u="none" strike="noStrike" cap="none" normalizeH="0" baseline="-25000">
                          <a:ln>
                            <a:noFill/>
                          </a:ln>
                          <a:solidFill>
                            <a:srgbClr val="FF0000"/>
                          </a:solidFill>
                          <a:effectLst/>
                          <a:latin typeface="黑体" panose="02010609060101010101" pitchFamily="49" charset="-122"/>
                          <a:ea typeface="黑体" panose="02010609060101010101" pitchFamily="49" charset="-122"/>
                        </a:rPr>
                        <a:t>AC</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a:t>
                      </a:r>
                      <a:r>
                        <a:rPr kumimoji="0" lang="en-US" altLang="zh-CN" sz="2000" b="1" i="1" u="none" strike="noStrike" cap="none" normalizeH="0" baseline="0">
                          <a:ln>
                            <a:noFill/>
                          </a:ln>
                          <a:solidFill>
                            <a:srgbClr val="FF0000"/>
                          </a:solidFill>
                          <a:effectLst/>
                          <a:latin typeface="Times New Roman" panose="02020603050405020304" pitchFamily="18" charset="0"/>
                          <a:ea typeface="黑体" panose="02010609060101010101" pitchFamily="49" charset="-122"/>
                        </a:rPr>
                        <a:t>T</a:t>
                      </a:r>
                      <a:r>
                        <a:rPr kumimoji="0" lang="en-US" altLang="zh-CN" sz="2000" b="1" i="0" u="none" strike="noStrike" cap="none" normalizeH="0" baseline="-25000">
                          <a:ln>
                            <a:noFill/>
                          </a:ln>
                          <a:solidFill>
                            <a:srgbClr val="FF0000"/>
                          </a:solidFill>
                          <a:effectLst/>
                          <a:latin typeface="黑体" panose="02010609060101010101" pitchFamily="49" charset="-122"/>
                          <a:ea typeface="黑体" panose="02010609060101010101" pitchFamily="49" charset="-122"/>
                        </a:rPr>
                        <a:t>AP</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均为</a:t>
                      </a:r>
                      <a:r>
                        <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20-30ns</a:t>
                      </a:r>
                      <a:endPar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54152">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rPr>
                        <a:t>高分辨率型</a:t>
                      </a:r>
                      <a:endParaRPr kumimoji="0" lang="zh-CN" altLang="en-US" sz="2000" b="1" i="0" u="none" strike="noStrike" cap="none" normalizeH="0" baseline="0">
                        <a:ln>
                          <a:noFill/>
                        </a:ln>
                        <a:solidFill>
                          <a:srgbClr val="FF0000"/>
                        </a:solidFill>
                        <a:effectLst/>
                        <a:latin typeface="黑体" panose="02010609060101010101" pitchFamily="49" charset="-122"/>
                        <a:ea typeface="黑体" panose="02010609060101010101" pitchFamily="49" charset="-122"/>
                      </a:endParaRPr>
                    </a:p>
                  </a:txBody>
                  <a:tcPr marT="45729" marB="4572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rPr>
                        <a:t>SHA1144</a:t>
                      </a:r>
                      <a:endParaRPr kumimoji="0" lang="en-US" altLang="zh-CN" sz="2000" b="1" i="0" u="none" strike="noStrike" cap="none" normalizeH="0" baseline="0">
                        <a:ln>
                          <a:noFill/>
                        </a:ln>
                        <a:solidFill>
                          <a:srgbClr val="000066"/>
                        </a:solidFill>
                        <a:effectLst/>
                        <a:latin typeface="Times New Roman" panose="02020603050405020304" pitchFamily="18" charset="0"/>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为</a:t>
                      </a:r>
                      <a:r>
                        <a:rPr kumimoji="0" lang="en-US" altLang="zh-CN"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14</a:t>
                      </a:r>
                      <a:r>
                        <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rPr>
                        <a:t>位分辨率设计</a:t>
                      </a:r>
                      <a:endParaRPr kumimoji="0" lang="zh-CN" altLang="en-US" sz="2000" b="1" i="0" u="none" strike="noStrike" cap="none" normalizeH="0" baseline="0">
                        <a:ln>
                          <a:noFill/>
                        </a:ln>
                        <a:solidFill>
                          <a:srgbClr val="000066"/>
                        </a:solidFill>
                        <a:effectLst/>
                        <a:latin typeface="黑体" panose="02010609060101010101" pitchFamily="49" charset="-122"/>
                        <a:ea typeface="黑体" panose="02010609060101010101" pitchFamily="49" charset="-122"/>
                      </a:endParaRPr>
                    </a:p>
                  </a:txBody>
                  <a:tcPr marT="45729" marB="45729"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4233"/>
                                        </p:tgtEl>
                                        <p:attrNameLst>
                                          <p:attrName>style.visibility</p:attrName>
                                        </p:attrNameLst>
                                      </p:cBhvr>
                                      <p:to>
                                        <p:strVal val="visible"/>
                                      </p:to>
                                    </p:set>
                                    <p:animEffect transition="in" filter="dissolve">
                                      <p:cBhvr>
                                        <p:cTn id="7" dur="500"/>
                                        <p:tgtEl>
                                          <p:spTgt spid="23942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4265"/>
                                        </p:tgtEl>
                                        <p:attrNameLst>
                                          <p:attrName>style.visibility</p:attrName>
                                        </p:attrNameLst>
                                      </p:cBhvr>
                                      <p:to>
                                        <p:strVal val="visible"/>
                                      </p:to>
                                    </p:set>
                                    <p:animEffect transition="in" filter="dissolve">
                                      <p:cBhvr>
                                        <p:cTn id="12" dur="500"/>
                                        <p:tgtEl>
                                          <p:spTgt spid="2394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4233"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6098" name="Text Box 2"/>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436100" name="Text Box 4"/>
          <p:cNvSpPr txBox="1"/>
          <p:nvPr/>
        </p:nvSpPr>
        <p:spPr>
          <a:xfrm>
            <a:off x="107950" y="1916113"/>
            <a:ext cx="4502150" cy="860425"/>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en-US" altLang="zh-CN" sz="2800" dirty="0">
                <a:latin typeface="Times New Roman" panose="02020603050405020304" pitchFamily="18" charset="0"/>
                <a:ea typeface="宋体" panose="02010600030101010101" pitchFamily="2" charset="-122"/>
              </a:rPr>
              <a:t>AD582</a:t>
            </a:r>
            <a:r>
              <a:rPr lang="zh-CN" altLang="en-US" sz="2800" dirty="0">
                <a:latin typeface="Times New Roman" panose="02020603050405020304" pitchFamily="18" charset="0"/>
              </a:rPr>
              <a:t>是通用型采样</a:t>
            </a:r>
            <a:r>
              <a:rPr lang="en-US" altLang="zh-CN" sz="2800" dirty="0">
                <a:latin typeface="Times New Roman" panose="02020603050405020304" pitchFamily="18" charset="0"/>
              </a:rPr>
              <a:t>/</a:t>
            </a:r>
            <a:r>
              <a:rPr lang="zh-CN" altLang="en-US" sz="2800" dirty="0">
                <a:latin typeface="Times New Roman" panose="02020603050405020304" pitchFamily="18" charset="0"/>
              </a:rPr>
              <a:t>保持器</a:t>
            </a:r>
            <a:r>
              <a:rPr lang="en-US" altLang="zh-CN" sz="2800" dirty="0">
                <a:latin typeface="Times New Roman" panose="02020603050405020304" pitchFamily="18" charset="0"/>
              </a:rPr>
              <a:t>(</a:t>
            </a:r>
            <a:r>
              <a:rPr lang="zh-CN" altLang="en-US" sz="2800" dirty="0">
                <a:latin typeface="Times New Roman" panose="02020603050405020304" pitchFamily="18" charset="0"/>
              </a:rPr>
              <a:t>国产型号</a:t>
            </a:r>
            <a:r>
              <a:rPr lang="en-US" altLang="zh-CN" sz="2800" dirty="0">
                <a:latin typeface="Times New Roman" panose="02020603050405020304" pitchFamily="18" charset="0"/>
              </a:rPr>
              <a:t>5G582)</a:t>
            </a:r>
            <a:r>
              <a:rPr lang="zh-CN" altLang="en-US" sz="2800" dirty="0">
                <a:latin typeface="Times New Roman" panose="02020603050405020304" pitchFamily="18" charset="0"/>
                <a:ea typeface="宋体" panose="02010600030101010101" pitchFamily="2" charset="-122"/>
              </a:rPr>
              <a:t>。 </a:t>
            </a:r>
            <a:endParaRPr lang="zh-CN" altLang="en-US" sz="2800" dirty="0">
              <a:latin typeface="Times New Roman" panose="02020603050405020304" pitchFamily="18" charset="0"/>
              <a:ea typeface="宋体" panose="02010600030101010101" pitchFamily="2" charset="-122"/>
            </a:endParaRPr>
          </a:p>
        </p:txBody>
      </p:sp>
      <p:grpSp>
        <p:nvGrpSpPr>
          <p:cNvPr id="2436101" name="Group 5"/>
          <p:cNvGrpSpPr/>
          <p:nvPr/>
        </p:nvGrpSpPr>
        <p:grpSpPr>
          <a:xfrm>
            <a:off x="4392613" y="1654175"/>
            <a:ext cx="4316412" cy="3935413"/>
            <a:chOff x="2767" y="1347"/>
            <a:chExt cx="2719" cy="2479"/>
          </a:xfrm>
        </p:grpSpPr>
        <p:sp>
          <p:nvSpPr>
            <p:cNvPr id="40968" name="AutoShape 6"/>
            <p:cNvSpPr>
              <a:spLocks noChangeAspect="1" noTextEdit="1"/>
            </p:cNvSpPr>
            <p:nvPr/>
          </p:nvSpPr>
          <p:spPr>
            <a:xfrm>
              <a:off x="2767" y="1347"/>
              <a:ext cx="2719" cy="2479"/>
            </a:xfrm>
            <a:prstGeom prst="rect">
              <a:avLst/>
            </a:prstGeom>
            <a:solidFill>
              <a:srgbClr val="FFFF99"/>
            </a:solidFill>
            <a:ln w="9525">
              <a:noFill/>
            </a:ln>
          </p:spPr>
          <p:txBody>
            <a:bodyPr/>
            <a:p>
              <a:endParaRPr lang="zh-CN" altLang="en-US"/>
            </a:p>
          </p:txBody>
        </p:sp>
        <p:sp>
          <p:nvSpPr>
            <p:cNvPr id="40969" name="Line 7"/>
            <p:cNvSpPr/>
            <p:nvPr/>
          </p:nvSpPr>
          <p:spPr>
            <a:xfrm flipV="1">
              <a:off x="3819" y="1548"/>
              <a:ext cx="0" cy="239"/>
            </a:xfrm>
            <a:prstGeom prst="line">
              <a:avLst/>
            </a:prstGeom>
            <a:ln w="12700" cap="flat" cmpd="sng">
              <a:solidFill>
                <a:srgbClr val="FF00FF"/>
              </a:solidFill>
              <a:prstDash val="solid"/>
              <a:headEnd type="none" w="med" len="med"/>
              <a:tailEnd type="none" w="med" len="med"/>
            </a:ln>
          </p:spPr>
        </p:sp>
        <p:sp>
          <p:nvSpPr>
            <p:cNvPr id="40970" name="Line 8"/>
            <p:cNvSpPr/>
            <p:nvPr/>
          </p:nvSpPr>
          <p:spPr>
            <a:xfrm>
              <a:off x="3224" y="2348"/>
              <a:ext cx="1489" cy="0"/>
            </a:xfrm>
            <a:prstGeom prst="line">
              <a:avLst/>
            </a:prstGeom>
            <a:ln w="12700" cap="flat" cmpd="sng">
              <a:solidFill>
                <a:srgbClr val="000000"/>
              </a:solidFill>
              <a:prstDash val="solid"/>
              <a:headEnd type="none" w="med" len="med"/>
              <a:tailEnd type="none" w="med" len="med"/>
            </a:ln>
          </p:spPr>
        </p:sp>
        <p:sp>
          <p:nvSpPr>
            <p:cNvPr id="40971" name="Oval 9"/>
            <p:cNvSpPr/>
            <p:nvPr/>
          </p:nvSpPr>
          <p:spPr>
            <a:xfrm>
              <a:off x="3894" y="2601"/>
              <a:ext cx="62" cy="70"/>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72" name="Line 10"/>
            <p:cNvSpPr/>
            <p:nvPr/>
          </p:nvSpPr>
          <p:spPr>
            <a:xfrm>
              <a:off x="3956" y="2629"/>
              <a:ext cx="459" cy="0"/>
            </a:xfrm>
            <a:prstGeom prst="line">
              <a:avLst/>
            </a:prstGeom>
            <a:ln w="12700" cap="flat" cmpd="sng">
              <a:solidFill>
                <a:srgbClr val="000000"/>
              </a:solidFill>
              <a:prstDash val="solid"/>
              <a:headEnd type="none" w="med" len="med"/>
              <a:tailEnd type="none" w="med" len="med"/>
            </a:ln>
          </p:spPr>
        </p:sp>
        <p:sp>
          <p:nvSpPr>
            <p:cNvPr id="40973" name="Line 11"/>
            <p:cNvSpPr/>
            <p:nvPr/>
          </p:nvSpPr>
          <p:spPr>
            <a:xfrm>
              <a:off x="3571" y="2797"/>
              <a:ext cx="546" cy="0"/>
            </a:xfrm>
            <a:prstGeom prst="line">
              <a:avLst/>
            </a:prstGeom>
            <a:ln w="12700" cap="flat" cmpd="sng">
              <a:solidFill>
                <a:srgbClr val="000000"/>
              </a:solidFill>
              <a:prstDash val="solid"/>
              <a:headEnd type="none" w="med" len="med"/>
              <a:tailEnd type="none" w="med" len="med"/>
            </a:ln>
          </p:spPr>
        </p:sp>
        <p:sp>
          <p:nvSpPr>
            <p:cNvPr id="40974" name="Line 12"/>
            <p:cNvSpPr/>
            <p:nvPr/>
          </p:nvSpPr>
          <p:spPr>
            <a:xfrm>
              <a:off x="3224" y="2572"/>
              <a:ext cx="149" cy="0"/>
            </a:xfrm>
            <a:prstGeom prst="line">
              <a:avLst/>
            </a:prstGeom>
            <a:ln w="12700" cap="flat" cmpd="sng">
              <a:solidFill>
                <a:srgbClr val="000000"/>
              </a:solidFill>
              <a:prstDash val="solid"/>
              <a:headEnd type="none" w="med" len="med"/>
              <a:tailEnd type="none" w="med" len="med"/>
            </a:ln>
          </p:spPr>
        </p:sp>
        <p:sp>
          <p:nvSpPr>
            <p:cNvPr id="40975" name="Line 13"/>
            <p:cNvSpPr/>
            <p:nvPr/>
          </p:nvSpPr>
          <p:spPr>
            <a:xfrm>
              <a:off x="3621" y="2629"/>
              <a:ext cx="99" cy="0"/>
            </a:xfrm>
            <a:prstGeom prst="line">
              <a:avLst/>
            </a:prstGeom>
            <a:ln w="12700" cap="flat" cmpd="sng">
              <a:solidFill>
                <a:srgbClr val="000000"/>
              </a:solidFill>
              <a:prstDash val="solid"/>
              <a:headEnd type="none" w="med" len="med"/>
              <a:tailEnd type="none" w="med" len="med"/>
            </a:ln>
          </p:spPr>
        </p:sp>
        <p:sp>
          <p:nvSpPr>
            <p:cNvPr id="40976" name="Oval 14"/>
            <p:cNvSpPr/>
            <p:nvPr/>
          </p:nvSpPr>
          <p:spPr>
            <a:xfrm>
              <a:off x="3720" y="2601"/>
              <a:ext cx="62" cy="70"/>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0977" name="Line 15"/>
            <p:cNvSpPr/>
            <p:nvPr/>
          </p:nvSpPr>
          <p:spPr>
            <a:xfrm flipV="1">
              <a:off x="3772" y="2500"/>
              <a:ext cx="186" cy="112"/>
            </a:xfrm>
            <a:prstGeom prst="line">
              <a:avLst/>
            </a:prstGeom>
            <a:ln w="19050" cap="flat" cmpd="sng">
              <a:solidFill>
                <a:srgbClr val="000000"/>
              </a:solidFill>
              <a:prstDash val="solid"/>
              <a:headEnd type="none" w="med" len="med"/>
              <a:tailEnd type="none" w="med" len="med"/>
            </a:ln>
          </p:spPr>
        </p:sp>
        <p:sp>
          <p:nvSpPr>
            <p:cNvPr id="40978" name="Line 16"/>
            <p:cNvSpPr/>
            <p:nvPr/>
          </p:nvSpPr>
          <p:spPr>
            <a:xfrm>
              <a:off x="3819" y="2139"/>
              <a:ext cx="0" cy="448"/>
            </a:xfrm>
            <a:prstGeom prst="line">
              <a:avLst/>
            </a:prstGeom>
            <a:ln w="12700" cap="flat" cmpd="sng">
              <a:solidFill>
                <a:srgbClr val="000000"/>
              </a:solidFill>
              <a:prstDash val="dash"/>
              <a:headEnd type="none" w="med" len="med"/>
              <a:tailEnd type="none" w="med" len="med"/>
            </a:ln>
          </p:spPr>
        </p:sp>
        <p:sp>
          <p:nvSpPr>
            <p:cNvPr id="40979" name="Line 17"/>
            <p:cNvSpPr/>
            <p:nvPr/>
          </p:nvSpPr>
          <p:spPr>
            <a:xfrm>
              <a:off x="3224" y="3021"/>
              <a:ext cx="0" cy="225"/>
            </a:xfrm>
            <a:prstGeom prst="line">
              <a:avLst/>
            </a:prstGeom>
            <a:ln w="12700" cap="flat" cmpd="sng">
              <a:solidFill>
                <a:srgbClr val="FF00FF"/>
              </a:solidFill>
              <a:prstDash val="solid"/>
              <a:headEnd type="none" w="med" len="med"/>
              <a:tailEnd type="none" w="med" len="med"/>
            </a:ln>
          </p:spPr>
        </p:sp>
        <p:sp>
          <p:nvSpPr>
            <p:cNvPr id="40980" name="Line 18"/>
            <p:cNvSpPr/>
            <p:nvPr/>
          </p:nvSpPr>
          <p:spPr>
            <a:xfrm>
              <a:off x="3224" y="2348"/>
              <a:ext cx="0" cy="224"/>
            </a:xfrm>
            <a:prstGeom prst="line">
              <a:avLst/>
            </a:prstGeom>
            <a:ln w="12700" cap="flat" cmpd="sng">
              <a:solidFill>
                <a:srgbClr val="000000"/>
              </a:solidFill>
              <a:prstDash val="solid"/>
              <a:headEnd type="none" w="med" len="med"/>
              <a:tailEnd type="none" w="med" len="med"/>
            </a:ln>
          </p:spPr>
        </p:sp>
        <p:sp>
          <p:nvSpPr>
            <p:cNvPr id="40981" name="Line 19"/>
            <p:cNvSpPr/>
            <p:nvPr/>
          </p:nvSpPr>
          <p:spPr>
            <a:xfrm flipH="1">
              <a:off x="3224" y="2685"/>
              <a:ext cx="149" cy="0"/>
            </a:xfrm>
            <a:prstGeom prst="line">
              <a:avLst/>
            </a:prstGeom>
            <a:ln w="12700" cap="flat" cmpd="sng">
              <a:solidFill>
                <a:srgbClr val="000000"/>
              </a:solidFill>
              <a:prstDash val="solid"/>
              <a:headEnd type="none" w="med" len="med"/>
              <a:tailEnd type="none" w="med" len="med"/>
            </a:ln>
          </p:spPr>
        </p:sp>
        <p:sp>
          <p:nvSpPr>
            <p:cNvPr id="40982" name="Line 20"/>
            <p:cNvSpPr/>
            <p:nvPr/>
          </p:nvSpPr>
          <p:spPr>
            <a:xfrm>
              <a:off x="3570" y="2662"/>
              <a:ext cx="0" cy="133"/>
            </a:xfrm>
            <a:prstGeom prst="line">
              <a:avLst/>
            </a:prstGeom>
            <a:ln w="12700" cap="flat" cmpd="sng">
              <a:solidFill>
                <a:srgbClr val="000000"/>
              </a:solidFill>
              <a:prstDash val="solid"/>
              <a:headEnd type="none" w="med" len="med"/>
              <a:tailEnd type="none" w="med" len="med"/>
            </a:ln>
          </p:spPr>
        </p:sp>
        <p:sp>
          <p:nvSpPr>
            <p:cNvPr id="40983" name="Line 21"/>
            <p:cNvSpPr/>
            <p:nvPr/>
          </p:nvSpPr>
          <p:spPr>
            <a:xfrm flipH="1">
              <a:off x="3460" y="2743"/>
              <a:ext cx="0" cy="166"/>
            </a:xfrm>
            <a:prstGeom prst="line">
              <a:avLst/>
            </a:prstGeom>
            <a:ln w="12700" cap="flat" cmpd="sng">
              <a:solidFill>
                <a:srgbClr val="000000"/>
              </a:solidFill>
              <a:prstDash val="solid"/>
              <a:headEnd type="none" w="med" len="med"/>
              <a:tailEnd type="none" w="med" len="med"/>
            </a:ln>
          </p:spPr>
        </p:sp>
        <p:sp>
          <p:nvSpPr>
            <p:cNvPr id="40984" name="Line 22"/>
            <p:cNvSpPr/>
            <p:nvPr/>
          </p:nvSpPr>
          <p:spPr>
            <a:xfrm>
              <a:off x="3460" y="2909"/>
              <a:ext cx="359" cy="0"/>
            </a:xfrm>
            <a:prstGeom prst="line">
              <a:avLst/>
            </a:prstGeom>
            <a:ln w="12700" cap="flat" cmpd="sng">
              <a:solidFill>
                <a:srgbClr val="000000"/>
              </a:solidFill>
              <a:prstDash val="solid"/>
              <a:headEnd type="none" w="med" len="med"/>
              <a:tailEnd type="none" w="med" len="med"/>
            </a:ln>
          </p:spPr>
        </p:sp>
        <p:sp>
          <p:nvSpPr>
            <p:cNvPr id="40985" name="Line 23"/>
            <p:cNvSpPr/>
            <p:nvPr/>
          </p:nvSpPr>
          <p:spPr>
            <a:xfrm>
              <a:off x="4216" y="2629"/>
              <a:ext cx="0" cy="285"/>
            </a:xfrm>
            <a:prstGeom prst="line">
              <a:avLst/>
            </a:prstGeom>
            <a:ln w="12700" cap="flat" cmpd="sng">
              <a:solidFill>
                <a:srgbClr val="000000"/>
              </a:solidFill>
              <a:prstDash val="solid"/>
              <a:headEnd type="none" w="med" len="med"/>
              <a:tailEnd type="none" w="med" len="med"/>
            </a:ln>
          </p:spPr>
        </p:sp>
        <p:sp>
          <p:nvSpPr>
            <p:cNvPr id="40986" name="Line 24"/>
            <p:cNvSpPr/>
            <p:nvPr/>
          </p:nvSpPr>
          <p:spPr>
            <a:xfrm>
              <a:off x="4216" y="2909"/>
              <a:ext cx="497" cy="0"/>
            </a:xfrm>
            <a:prstGeom prst="line">
              <a:avLst/>
            </a:prstGeom>
            <a:ln w="12700" cap="flat" cmpd="sng">
              <a:solidFill>
                <a:srgbClr val="000000"/>
              </a:solidFill>
              <a:prstDash val="solid"/>
              <a:headEnd type="none" w="med" len="med"/>
              <a:tailEnd type="none" w="med" len="med"/>
            </a:ln>
          </p:spPr>
        </p:sp>
        <p:sp>
          <p:nvSpPr>
            <p:cNvPr id="40987" name="Line 25"/>
            <p:cNvSpPr/>
            <p:nvPr/>
          </p:nvSpPr>
          <p:spPr>
            <a:xfrm>
              <a:off x="3522" y="3021"/>
              <a:ext cx="0" cy="239"/>
            </a:xfrm>
            <a:prstGeom prst="line">
              <a:avLst/>
            </a:prstGeom>
            <a:ln w="12700" cap="flat" cmpd="sng">
              <a:solidFill>
                <a:srgbClr val="FF00FF"/>
              </a:solidFill>
              <a:prstDash val="solid"/>
              <a:headEnd type="none" w="med" len="med"/>
              <a:tailEnd type="none" w="med" len="med"/>
            </a:ln>
          </p:spPr>
        </p:sp>
        <p:sp>
          <p:nvSpPr>
            <p:cNvPr id="40988" name="Line 26"/>
            <p:cNvSpPr/>
            <p:nvPr/>
          </p:nvSpPr>
          <p:spPr>
            <a:xfrm>
              <a:off x="3819" y="3021"/>
              <a:ext cx="0" cy="239"/>
            </a:xfrm>
            <a:prstGeom prst="line">
              <a:avLst/>
            </a:prstGeom>
            <a:ln w="12700" cap="flat" cmpd="sng">
              <a:solidFill>
                <a:srgbClr val="FF00FF"/>
              </a:solidFill>
              <a:prstDash val="solid"/>
              <a:headEnd type="none" w="med" len="med"/>
              <a:tailEnd type="none" w="med" len="med"/>
            </a:ln>
          </p:spPr>
        </p:sp>
        <p:sp>
          <p:nvSpPr>
            <p:cNvPr id="40989" name="Line 27"/>
            <p:cNvSpPr/>
            <p:nvPr/>
          </p:nvSpPr>
          <p:spPr>
            <a:xfrm>
              <a:off x="4117" y="3021"/>
              <a:ext cx="0" cy="239"/>
            </a:xfrm>
            <a:prstGeom prst="line">
              <a:avLst/>
            </a:prstGeom>
            <a:ln w="12700" cap="flat" cmpd="sng">
              <a:solidFill>
                <a:srgbClr val="FF00FF"/>
              </a:solidFill>
              <a:prstDash val="solid"/>
              <a:headEnd type="none" w="med" len="med"/>
              <a:tailEnd type="none" w="med" len="med"/>
            </a:ln>
          </p:spPr>
        </p:sp>
        <p:sp>
          <p:nvSpPr>
            <p:cNvPr id="40990" name="Line 28"/>
            <p:cNvSpPr/>
            <p:nvPr/>
          </p:nvSpPr>
          <p:spPr>
            <a:xfrm>
              <a:off x="4415" y="3021"/>
              <a:ext cx="0" cy="239"/>
            </a:xfrm>
            <a:prstGeom prst="line">
              <a:avLst/>
            </a:prstGeom>
            <a:ln w="12700" cap="flat" cmpd="sng">
              <a:solidFill>
                <a:srgbClr val="FF00FF"/>
              </a:solidFill>
              <a:prstDash val="solid"/>
              <a:headEnd type="none" w="med" len="med"/>
              <a:tailEnd type="none" w="med" len="med"/>
            </a:ln>
          </p:spPr>
        </p:sp>
        <p:sp>
          <p:nvSpPr>
            <p:cNvPr id="40991" name="Line 29"/>
            <p:cNvSpPr/>
            <p:nvPr/>
          </p:nvSpPr>
          <p:spPr>
            <a:xfrm>
              <a:off x="4713" y="3021"/>
              <a:ext cx="0" cy="239"/>
            </a:xfrm>
            <a:prstGeom prst="line">
              <a:avLst/>
            </a:prstGeom>
            <a:ln w="12700" cap="flat" cmpd="sng">
              <a:solidFill>
                <a:srgbClr val="FF00FF"/>
              </a:solidFill>
              <a:prstDash val="solid"/>
              <a:headEnd type="none" w="med" len="med"/>
              <a:tailEnd type="none" w="med" len="med"/>
            </a:ln>
          </p:spPr>
        </p:sp>
        <p:sp>
          <p:nvSpPr>
            <p:cNvPr id="40992" name="Line 30"/>
            <p:cNvSpPr/>
            <p:nvPr/>
          </p:nvSpPr>
          <p:spPr>
            <a:xfrm>
              <a:off x="5010" y="3021"/>
              <a:ext cx="0" cy="239"/>
            </a:xfrm>
            <a:prstGeom prst="line">
              <a:avLst/>
            </a:prstGeom>
            <a:ln w="12700" cap="flat" cmpd="sng">
              <a:solidFill>
                <a:srgbClr val="FF00FF"/>
              </a:solidFill>
              <a:prstDash val="solid"/>
              <a:headEnd type="none" w="med" len="med"/>
              <a:tailEnd type="none" w="med" len="med"/>
            </a:ln>
          </p:spPr>
        </p:sp>
        <p:sp>
          <p:nvSpPr>
            <p:cNvPr id="40993" name="Line 31"/>
            <p:cNvSpPr/>
            <p:nvPr/>
          </p:nvSpPr>
          <p:spPr>
            <a:xfrm flipV="1">
              <a:off x="3224" y="1548"/>
              <a:ext cx="0" cy="239"/>
            </a:xfrm>
            <a:prstGeom prst="line">
              <a:avLst/>
            </a:prstGeom>
            <a:ln w="12700" cap="flat" cmpd="sng">
              <a:solidFill>
                <a:srgbClr val="FF00FF"/>
              </a:solidFill>
              <a:prstDash val="solid"/>
              <a:headEnd type="none" w="med" len="med"/>
              <a:tailEnd type="none" w="med" len="med"/>
            </a:ln>
          </p:spPr>
        </p:sp>
        <p:sp>
          <p:nvSpPr>
            <p:cNvPr id="40994" name="Line 32"/>
            <p:cNvSpPr/>
            <p:nvPr/>
          </p:nvSpPr>
          <p:spPr>
            <a:xfrm flipV="1">
              <a:off x="3522" y="1548"/>
              <a:ext cx="0" cy="239"/>
            </a:xfrm>
            <a:prstGeom prst="line">
              <a:avLst/>
            </a:prstGeom>
            <a:ln w="12700" cap="flat" cmpd="sng">
              <a:solidFill>
                <a:srgbClr val="FF00FF"/>
              </a:solidFill>
              <a:prstDash val="solid"/>
              <a:headEnd type="none" w="med" len="med"/>
              <a:tailEnd type="none" w="med" len="med"/>
            </a:ln>
          </p:spPr>
        </p:sp>
        <p:sp>
          <p:nvSpPr>
            <p:cNvPr id="40995" name="Line 33"/>
            <p:cNvSpPr/>
            <p:nvPr/>
          </p:nvSpPr>
          <p:spPr>
            <a:xfrm flipV="1">
              <a:off x="4117" y="1548"/>
              <a:ext cx="0" cy="239"/>
            </a:xfrm>
            <a:prstGeom prst="line">
              <a:avLst/>
            </a:prstGeom>
            <a:ln w="12700" cap="flat" cmpd="sng">
              <a:solidFill>
                <a:srgbClr val="FF00FF"/>
              </a:solidFill>
              <a:prstDash val="solid"/>
              <a:headEnd type="none" w="med" len="med"/>
              <a:tailEnd type="none" w="med" len="med"/>
            </a:ln>
          </p:spPr>
        </p:sp>
        <p:sp>
          <p:nvSpPr>
            <p:cNvPr id="40996" name="Line 34"/>
            <p:cNvSpPr/>
            <p:nvPr/>
          </p:nvSpPr>
          <p:spPr>
            <a:xfrm flipV="1">
              <a:off x="4415" y="1548"/>
              <a:ext cx="0" cy="239"/>
            </a:xfrm>
            <a:prstGeom prst="line">
              <a:avLst/>
            </a:prstGeom>
            <a:ln w="12700" cap="flat" cmpd="sng">
              <a:solidFill>
                <a:srgbClr val="FF00FF"/>
              </a:solidFill>
              <a:prstDash val="solid"/>
              <a:headEnd type="none" w="med" len="med"/>
              <a:tailEnd type="none" w="med" len="med"/>
            </a:ln>
          </p:spPr>
        </p:sp>
        <p:sp>
          <p:nvSpPr>
            <p:cNvPr id="40997" name="Line 35"/>
            <p:cNvSpPr/>
            <p:nvPr/>
          </p:nvSpPr>
          <p:spPr>
            <a:xfrm flipV="1">
              <a:off x="4713" y="1548"/>
              <a:ext cx="0" cy="239"/>
            </a:xfrm>
            <a:prstGeom prst="line">
              <a:avLst/>
            </a:prstGeom>
            <a:ln w="12700" cap="flat" cmpd="sng">
              <a:solidFill>
                <a:srgbClr val="FF00FF"/>
              </a:solidFill>
              <a:prstDash val="solid"/>
              <a:headEnd type="none" w="med" len="med"/>
              <a:tailEnd type="none" w="med" len="med"/>
            </a:ln>
          </p:spPr>
        </p:sp>
        <p:sp>
          <p:nvSpPr>
            <p:cNvPr id="40998" name="Line 36"/>
            <p:cNvSpPr/>
            <p:nvPr/>
          </p:nvSpPr>
          <p:spPr>
            <a:xfrm flipV="1">
              <a:off x="5010" y="1548"/>
              <a:ext cx="0" cy="239"/>
            </a:xfrm>
            <a:prstGeom prst="line">
              <a:avLst/>
            </a:prstGeom>
            <a:ln w="12700" cap="flat" cmpd="sng">
              <a:solidFill>
                <a:srgbClr val="FF00FF"/>
              </a:solidFill>
              <a:prstDash val="solid"/>
              <a:headEnd type="none" w="med" len="med"/>
              <a:tailEnd type="none" w="med" len="med"/>
            </a:ln>
          </p:spPr>
        </p:sp>
        <p:sp>
          <p:nvSpPr>
            <p:cNvPr id="40999" name="Line 37"/>
            <p:cNvSpPr/>
            <p:nvPr/>
          </p:nvSpPr>
          <p:spPr>
            <a:xfrm>
              <a:off x="5010" y="1787"/>
              <a:ext cx="0" cy="842"/>
            </a:xfrm>
            <a:prstGeom prst="line">
              <a:avLst/>
            </a:prstGeom>
            <a:ln w="12700" cap="flat" cmpd="sng">
              <a:solidFill>
                <a:srgbClr val="000000"/>
              </a:solidFill>
              <a:prstDash val="solid"/>
              <a:headEnd type="none" w="med" len="med"/>
              <a:tailEnd type="none" w="med" len="med"/>
            </a:ln>
          </p:spPr>
        </p:sp>
        <p:sp>
          <p:nvSpPr>
            <p:cNvPr id="41000" name="Line 38"/>
            <p:cNvSpPr/>
            <p:nvPr/>
          </p:nvSpPr>
          <p:spPr>
            <a:xfrm>
              <a:off x="4713" y="1787"/>
              <a:ext cx="0" cy="566"/>
            </a:xfrm>
            <a:prstGeom prst="line">
              <a:avLst/>
            </a:prstGeom>
            <a:ln w="12700" cap="flat" cmpd="sng">
              <a:solidFill>
                <a:srgbClr val="000000"/>
              </a:solidFill>
              <a:prstDash val="solid"/>
              <a:headEnd type="none" w="med" len="med"/>
              <a:tailEnd type="none" w="med" len="med"/>
            </a:ln>
          </p:spPr>
        </p:sp>
        <p:sp>
          <p:nvSpPr>
            <p:cNvPr id="41001" name="Line 39"/>
            <p:cNvSpPr/>
            <p:nvPr/>
          </p:nvSpPr>
          <p:spPr>
            <a:xfrm>
              <a:off x="3931" y="2011"/>
              <a:ext cx="186" cy="0"/>
            </a:xfrm>
            <a:prstGeom prst="line">
              <a:avLst/>
            </a:prstGeom>
            <a:ln w="12700" cap="flat" cmpd="sng">
              <a:solidFill>
                <a:srgbClr val="000000"/>
              </a:solidFill>
              <a:prstDash val="solid"/>
              <a:headEnd type="none" w="med" len="med"/>
              <a:tailEnd type="none" w="med" len="med"/>
            </a:ln>
          </p:spPr>
        </p:sp>
        <p:sp>
          <p:nvSpPr>
            <p:cNvPr id="41002" name="Line 40"/>
            <p:cNvSpPr/>
            <p:nvPr/>
          </p:nvSpPr>
          <p:spPr>
            <a:xfrm flipV="1">
              <a:off x="4117" y="1787"/>
              <a:ext cx="0" cy="224"/>
            </a:xfrm>
            <a:prstGeom prst="line">
              <a:avLst/>
            </a:prstGeom>
            <a:ln w="12700" cap="flat" cmpd="sng">
              <a:solidFill>
                <a:srgbClr val="000000"/>
              </a:solidFill>
              <a:prstDash val="solid"/>
              <a:headEnd type="none" w="med" len="med"/>
              <a:tailEnd type="none" w="med" len="med"/>
            </a:ln>
          </p:spPr>
        </p:sp>
        <p:sp>
          <p:nvSpPr>
            <p:cNvPr id="41003" name="Rectangle 41"/>
            <p:cNvSpPr/>
            <p:nvPr/>
          </p:nvSpPr>
          <p:spPr>
            <a:xfrm>
              <a:off x="3150"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1004" name="Rectangle 42"/>
            <p:cNvSpPr/>
            <p:nvPr/>
          </p:nvSpPr>
          <p:spPr>
            <a:xfrm>
              <a:off x="3422"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2</a:t>
              </a:r>
              <a:endParaRPr lang="en-US" altLang="zh-CN" dirty="0">
                <a:latin typeface="Times New Roman" panose="02020603050405020304" pitchFamily="18" charset="0"/>
              </a:endParaRPr>
            </a:p>
          </p:txBody>
        </p:sp>
        <p:sp>
          <p:nvSpPr>
            <p:cNvPr id="41005" name="Rectangle 43"/>
            <p:cNvSpPr/>
            <p:nvPr/>
          </p:nvSpPr>
          <p:spPr>
            <a:xfrm>
              <a:off x="3720"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3</a:t>
              </a:r>
              <a:endParaRPr lang="en-US" altLang="zh-CN" dirty="0">
                <a:latin typeface="Times New Roman" panose="02020603050405020304" pitchFamily="18" charset="0"/>
              </a:endParaRPr>
            </a:p>
          </p:txBody>
        </p:sp>
        <p:sp>
          <p:nvSpPr>
            <p:cNvPr id="41006" name="Rectangle 44"/>
            <p:cNvSpPr/>
            <p:nvPr/>
          </p:nvSpPr>
          <p:spPr>
            <a:xfrm>
              <a:off x="4018"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4</a:t>
              </a:r>
              <a:endParaRPr lang="en-US" altLang="zh-CN" dirty="0">
                <a:latin typeface="Times New Roman" panose="02020603050405020304" pitchFamily="18" charset="0"/>
              </a:endParaRPr>
            </a:p>
          </p:txBody>
        </p:sp>
        <p:sp>
          <p:nvSpPr>
            <p:cNvPr id="41007" name="Rectangle 45"/>
            <p:cNvSpPr/>
            <p:nvPr/>
          </p:nvSpPr>
          <p:spPr>
            <a:xfrm>
              <a:off x="4316"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5</a:t>
              </a:r>
              <a:endParaRPr lang="en-US" altLang="zh-CN" dirty="0">
                <a:latin typeface="Times New Roman" panose="02020603050405020304" pitchFamily="18" charset="0"/>
              </a:endParaRPr>
            </a:p>
          </p:txBody>
        </p:sp>
        <p:sp>
          <p:nvSpPr>
            <p:cNvPr id="41008" name="Rectangle 46"/>
            <p:cNvSpPr/>
            <p:nvPr/>
          </p:nvSpPr>
          <p:spPr>
            <a:xfrm>
              <a:off x="4613"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6</a:t>
              </a:r>
              <a:endParaRPr lang="en-US" altLang="zh-CN" dirty="0">
                <a:latin typeface="Times New Roman" panose="02020603050405020304" pitchFamily="18" charset="0"/>
              </a:endParaRPr>
            </a:p>
          </p:txBody>
        </p:sp>
        <p:sp>
          <p:nvSpPr>
            <p:cNvPr id="41009" name="Rectangle 47"/>
            <p:cNvSpPr/>
            <p:nvPr/>
          </p:nvSpPr>
          <p:spPr>
            <a:xfrm>
              <a:off x="4911" y="3050"/>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7</a:t>
              </a:r>
              <a:endParaRPr lang="en-US" altLang="zh-CN" dirty="0">
                <a:latin typeface="Times New Roman" panose="02020603050405020304" pitchFamily="18" charset="0"/>
              </a:endParaRPr>
            </a:p>
          </p:txBody>
        </p:sp>
        <p:sp>
          <p:nvSpPr>
            <p:cNvPr id="41010" name="Rectangle 48"/>
            <p:cNvSpPr/>
            <p:nvPr/>
          </p:nvSpPr>
          <p:spPr>
            <a:xfrm>
              <a:off x="4911" y="1632"/>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8</a:t>
              </a:r>
              <a:endParaRPr lang="en-US" altLang="zh-CN" dirty="0">
                <a:latin typeface="Times New Roman" panose="02020603050405020304" pitchFamily="18" charset="0"/>
              </a:endParaRPr>
            </a:p>
          </p:txBody>
        </p:sp>
        <p:sp>
          <p:nvSpPr>
            <p:cNvPr id="41011" name="Rectangle 49"/>
            <p:cNvSpPr/>
            <p:nvPr/>
          </p:nvSpPr>
          <p:spPr>
            <a:xfrm>
              <a:off x="4613" y="1632"/>
              <a:ext cx="56"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9</a:t>
              </a:r>
              <a:endParaRPr lang="en-US" altLang="zh-CN" dirty="0">
                <a:latin typeface="Times New Roman" panose="02020603050405020304" pitchFamily="18" charset="0"/>
              </a:endParaRPr>
            </a:p>
          </p:txBody>
        </p:sp>
        <p:sp>
          <p:nvSpPr>
            <p:cNvPr id="41012" name="Rectangle 50"/>
            <p:cNvSpPr/>
            <p:nvPr/>
          </p:nvSpPr>
          <p:spPr>
            <a:xfrm>
              <a:off x="4278" y="1632"/>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10</a:t>
              </a:r>
              <a:endParaRPr lang="en-US" altLang="zh-CN" dirty="0">
                <a:latin typeface="Times New Roman" panose="02020603050405020304" pitchFamily="18" charset="0"/>
              </a:endParaRPr>
            </a:p>
          </p:txBody>
        </p:sp>
        <p:sp>
          <p:nvSpPr>
            <p:cNvPr id="41013" name="Rectangle 51"/>
            <p:cNvSpPr/>
            <p:nvPr/>
          </p:nvSpPr>
          <p:spPr>
            <a:xfrm>
              <a:off x="3981" y="1632"/>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11</a:t>
              </a:r>
              <a:endParaRPr lang="en-US" altLang="zh-CN" dirty="0">
                <a:latin typeface="Times New Roman" panose="02020603050405020304" pitchFamily="18" charset="0"/>
              </a:endParaRPr>
            </a:p>
          </p:txBody>
        </p:sp>
        <p:sp>
          <p:nvSpPr>
            <p:cNvPr id="41014" name="Rectangle 52"/>
            <p:cNvSpPr/>
            <p:nvPr/>
          </p:nvSpPr>
          <p:spPr>
            <a:xfrm>
              <a:off x="3671" y="1632"/>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12</a:t>
              </a:r>
              <a:endParaRPr lang="en-US" altLang="zh-CN" dirty="0">
                <a:latin typeface="Times New Roman" panose="02020603050405020304" pitchFamily="18" charset="0"/>
              </a:endParaRPr>
            </a:p>
          </p:txBody>
        </p:sp>
        <p:sp>
          <p:nvSpPr>
            <p:cNvPr id="41015" name="Rectangle 53"/>
            <p:cNvSpPr/>
            <p:nvPr/>
          </p:nvSpPr>
          <p:spPr>
            <a:xfrm>
              <a:off x="3385" y="1632"/>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13</a:t>
              </a:r>
              <a:endParaRPr lang="en-US" altLang="zh-CN" dirty="0">
                <a:latin typeface="Times New Roman" panose="02020603050405020304" pitchFamily="18" charset="0"/>
              </a:endParaRPr>
            </a:p>
          </p:txBody>
        </p:sp>
        <p:sp>
          <p:nvSpPr>
            <p:cNvPr id="41016" name="Rectangle 54"/>
            <p:cNvSpPr/>
            <p:nvPr/>
          </p:nvSpPr>
          <p:spPr>
            <a:xfrm>
              <a:off x="3087" y="1632"/>
              <a:ext cx="112" cy="121"/>
            </a:xfrm>
            <a:prstGeom prst="rect">
              <a:avLst/>
            </a:prstGeom>
            <a:noFill/>
            <a:ln w="9525">
              <a:noFill/>
            </a:ln>
          </p:spPr>
          <p:txBody>
            <a:bodyPr wrap="none" lIns="0" tIns="0" rIns="0" bIns="0">
              <a:spAutoFit/>
            </a:bodyPr>
            <a:p>
              <a:pPr eaLnBrk="1" hangingPunct="1">
                <a:lnSpc>
                  <a:spcPct val="90000"/>
                </a:lnSpc>
              </a:pPr>
              <a:r>
                <a:rPr lang="en-US" altLang="zh-CN" sz="1400" b="0" dirty="0">
                  <a:solidFill>
                    <a:srgbClr val="000000"/>
                  </a:solidFill>
                  <a:latin typeface="Times New Roman" panose="02020603050405020304" pitchFamily="18" charset="0"/>
                </a:rPr>
                <a:t>14</a:t>
              </a:r>
              <a:endParaRPr lang="en-US" altLang="zh-CN" dirty="0">
                <a:latin typeface="Times New Roman" panose="02020603050405020304" pitchFamily="18" charset="0"/>
              </a:endParaRPr>
            </a:p>
          </p:txBody>
        </p:sp>
        <p:sp>
          <p:nvSpPr>
            <p:cNvPr id="41017" name="Rectangle 55"/>
            <p:cNvSpPr/>
            <p:nvPr/>
          </p:nvSpPr>
          <p:spPr>
            <a:xfrm>
              <a:off x="3087" y="3274"/>
              <a:ext cx="247"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+IN</a:t>
              </a:r>
              <a:endParaRPr lang="en-US" altLang="zh-CN" dirty="0">
                <a:latin typeface="Times New Roman" panose="02020603050405020304" pitchFamily="18" charset="0"/>
              </a:endParaRPr>
            </a:p>
          </p:txBody>
        </p:sp>
        <p:sp>
          <p:nvSpPr>
            <p:cNvPr id="41018" name="Rectangle 56"/>
            <p:cNvSpPr/>
            <p:nvPr/>
          </p:nvSpPr>
          <p:spPr>
            <a:xfrm>
              <a:off x="3807" y="3281"/>
              <a:ext cx="406"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NULL</a:t>
              </a:r>
              <a:endParaRPr lang="en-US" altLang="zh-CN" dirty="0">
                <a:latin typeface="Times New Roman" panose="02020603050405020304" pitchFamily="18" charset="0"/>
              </a:endParaRPr>
            </a:p>
          </p:txBody>
        </p:sp>
        <p:sp>
          <p:nvSpPr>
            <p:cNvPr id="41019" name="Rectangle 57"/>
            <p:cNvSpPr/>
            <p:nvPr/>
          </p:nvSpPr>
          <p:spPr>
            <a:xfrm>
              <a:off x="4862" y="1380"/>
              <a:ext cx="601"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OUTPUT</a:t>
              </a:r>
              <a:endParaRPr lang="en-US" altLang="zh-CN" dirty="0">
                <a:latin typeface="Times New Roman" panose="02020603050405020304" pitchFamily="18" charset="0"/>
              </a:endParaRPr>
            </a:p>
          </p:txBody>
        </p:sp>
        <p:sp>
          <p:nvSpPr>
            <p:cNvPr id="41020" name="Rectangle 58"/>
            <p:cNvSpPr/>
            <p:nvPr/>
          </p:nvSpPr>
          <p:spPr>
            <a:xfrm>
              <a:off x="4601" y="1380"/>
              <a:ext cx="212"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-IN</a:t>
              </a:r>
              <a:endParaRPr lang="en-US" altLang="zh-CN" dirty="0">
                <a:latin typeface="Times New Roman" panose="02020603050405020304" pitchFamily="18" charset="0"/>
              </a:endParaRPr>
            </a:p>
          </p:txBody>
        </p:sp>
        <p:grpSp>
          <p:nvGrpSpPr>
            <p:cNvPr id="41021" name="Group 59"/>
            <p:cNvGrpSpPr/>
            <p:nvPr/>
          </p:nvGrpSpPr>
          <p:grpSpPr>
            <a:xfrm>
              <a:off x="4651" y="3281"/>
              <a:ext cx="155" cy="164"/>
              <a:chOff x="4634" y="3281"/>
              <a:chExt cx="155" cy="164"/>
            </a:xfrm>
          </p:grpSpPr>
          <p:sp>
            <p:nvSpPr>
              <p:cNvPr id="41060" name="Rectangle 60"/>
              <p:cNvSpPr/>
              <p:nvPr/>
            </p:nvSpPr>
            <p:spPr>
              <a:xfrm>
                <a:off x="4634" y="3281"/>
                <a:ext cx="101"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sp>
            <p:nvSpPr>
              <p:cNvPr id="41061" name="Rectangle 61"/>
              <p:cNvSpPr/>
              <p:nvPr/>
            </p:nvSpPr>
            <p:spPr>
              <a:xfrm>
                <a:off x="4720" y="3337"/>
                <a:ext cx="6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H</a:t>
                </a:r>
                <a:endParaRPr lang="en-US" altLang="zh-CN" dirty="0">
                  <a:latin typeface="Times New Roman" panose="02020603050405020304" pitchFamily="18" charset="0"/>
                </a:endParaRPr>
              </a:p>
            </p:txBody>
          </p:sp>
        </p:grpSp>
        <p:grpSp>
          <p:nvGrpSpPr>
            <p:cNvPr id="41022" name="Group 62"/>
            <p:cNvGrpSpPr/>
            <p:nvPr/>
          </p:nvGrpSpPr>
          <p:grpSpPr>
            <a:xfrm>
              <a:off x="4948" y="3288"/>
              <a:ext cx="157" cy="164"/>
              <a:chOff x="4931" y="3288"/>
              <a:chExt cx="157" cy="164"/>
            </a:xfrm>
          </p:grpSpPr>
          <p:sp>
            <p:nvSpPr>
              <p:cNvPr id="41058" name="Rectangle 63"/>
              <p:cNvSpPr/>
              <p:nvPr/>
            </p:nvSpPr>
            <p:spPr>
              <a:xfrm>
                <a:off x="4931" y="3288"/>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N</a:t>
                </a:r>
                <a:endParaRPr lang="en-US" altLang="zh-CN" dirty="0">
                  <a:latin typeface="Times New Roman" panose="02020603050405020304" pitchFamily="18" charset="0"/>
                </a:endParaRPr>
              </a:p>
            </p:txBody>
          </p:sp>
          <p:sp>
            <p:nvSpPr>
              <p:cNvPr id="41059" name="Rectangle 64"/>
              <p:cNvSpPr/>
              <p:nvPr/>
            </p:nvSpPr>
            <p:spPr>
              <a:xfrm>
                <a:off x="5024" y="3337"/>
                <a:ext cx="6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grpSp>
        <p:sp>
          <p:nvSpPr>
            <p:cNvPr id="41023" name="Rectangle 65"/>
            <p:cNvSpPr/>
            <p:nvPr/>
          </p:nvSpPr>
          <p:spPr>
            <a:xfrm>
              <a:off x="3162" y="1380"/>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N</a:t>
              </a:r>
              <a:endParaRPr lang="en-US" altLang="zh-CN" dirty="0">
                <a:latin typeface="Times New Roman" panose="02020603050405020304" pitchFamily="18" charset="0"/>
              </a:endParaRPr>
            </a:p>
          </p:txBody>
        </p:sp>
        <p:sp>
          <p:nvSpPr>
            <p:cNvPr id="41024" name="Rectangle 66"/>
            <p:cNvSpPr/>
            <p:nvPr/>
          </p:nvSpPr>
          <p:spPr>
            <a:xfrm>
              <a:off x="3255" y="1429"/>
              <a:ext cx="6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sp>
          <p:nvSpPr>
            <p:cNvPr id="41025" name="Rectangle 67"/>
            <p:cNvSpPr/>
            <p:nvPr/>
          </p:nvSpPr>
          <p:spPr>
            <a:xfrm>
              <a:off x="3460" y="1380"/>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N</a:t>
              </a:r>
              <a:endParaRPr lang="en-US" altLang="zh-CN" dirty="0">
                <a:latin typeface="Times New Roman" panose="02020603050405020304" pitchFamily="18" charset="0"/>
              </a:endParaRPr>
            </a:p>
          </p:txBody>
        </p:sp>
        <p:sp>
          <p:nvSpPr>
            <p:cNvPr id="41026" name="Rectangle 68"/>
            <p:cNvSpPr/>
            <p:nvPr/>
          </p:nvSpPr>
          <p:spPr>
            <a:xfrm>
              <a:off x="3553" y="1429"/>
              <a:ext cx="6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grpSp>
          <p:nvGrpSpPr>
            <p:cNvPr id="41027" name="Group 69"/>
            <p:cNvGrpSpPr/>
            <p:nvPr/>
          </p:nvGrpSpPr>
          <p:grpSpPr>
            <a:xfrm>
              <a:off x="3460" y="3274"/>
              <a:ext cx="157" cy="164"/>
              <a:chOff x="3443" y="3274"/>
              <a:chExt cx="157" cy="164"/>
            </a:xfrm>
          </p:grpSpPr>
          <p:sp>
            <p:nvSpPr>
              <p:cNvPr id="41056" name="Rectangle 70"/>
              <p:cNvSpPr/>
              <p:nvPr/>
            </p:nvSpPr>
            <p:spPr>
              <a:xfrm>
                <a:off x="3443" y="3274"/>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N</a:t>
                </a:r>
                <a:endParaRPr lang="en-US" altLang="zh-CN" dirty="0">
                  <a:latin typeface="Times New Roman" panose="02020603050405020304" pitchFamily="18" charset="0"/>
                </a:endParaRPr>
              </a:p>
            </p:txBody>
          </p:sp>
          <p:sp>
            <p:nvSpPr>
              <p:cNvPr id="41057" name="Rectangle 71"/>
              <p:cNvSpPr/>
              <p:nvPr/>
            </p:nvSpPr>
            <p:spPr>
              <a:xfrm>
                <a:off x="3536" y="3323"/>
                <a:ext cx="6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grpSp>
        <p:sp>
          <p:nvSpPr>
            <p:cNvPr id="41028" name="Rectangle 72"/>
            <p:cNvSpPr/>
            <p:nvPr/>
          </p:nvSpPr>
          <p:spPr>
            <a:xfrm>
              <a:off x="4303" y="1408"/>
              <a:ext cx="5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1029" name="Rectangle 73"/>
            <p:cNvSpPr/>
            <p:nvPr/>
          </p:nvSpPr>
          <p:spPr>
            <a:xfrm>
              <a:off x="4446" y="1436"/>
              <a:ext cx="5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S</a:t>
              </a:r>
              <a:endParaRPr lang="en-US" altLang="zh-CN" dirty="0">
                <a:latin typeface="Times New Roman" panose="02020603050405020304" pitchFamily="18" charset="0"/>
              </a:endParaRPr>
            </a:p>
          </p:txBody>
        </p:sp>
        <p:sp>
          <p:nvSpPr>
            <p:cNvPr id="41030" name="Rectangle 74"/>
            <p:cNvSpPr/>
            <p:nvPr/>
          </p:nvSpPr>
          <p:spPr>
            <a:xfrm>
              <a:off x="4353" y="1380"/>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U</a:t>
              </a:r>
              <a:endParaRPr lang="en-US" altLang="zh-CN" dirty="0">
                <a:latin typeface="Times New Roman" panose="02020603050405020304" pitchFamily="18" charset="0"/>
              </a:endParaRPr>
            </a:p>
          </p:txBody>
        </p:sp>
        <p:grpSp>
          <p:nvGrpSpPr>
            <p:cNvPr id="41031" name="Group 75"/>
            <p:cNvGrpSpPr/>
            <p:nvPr/>
          </p:nvGrpSpPr>
          <p:grpSpPr>
            <a:xfrm>
              <a:off x="4303" y="3281"/>
              <a:ext cx="208" cy="164"/>
              <a:chOff x="4286" y="3281"/>
              <a:chExt cx="208" cy="164"/>
            </a:xfrm>
          </p:grpSpPr>
          <p:sp>
            <p:nvSpPr>
              <p:cNvPr id="41053" name="Rectangle 76"/>
              <p:cNvSpPr/>
              <p:nvPr/>
            </p:nvSpPr>
            <p:spPr>
              <a:xfrm>
                <a:off x="4286" y="3295"/>
                <a:ext cx="64"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41054" name="Rectangle 77"/>
              <p:cNvSpPr/>
              <p:nvPr/>
            </p:nvSpPr>
            <p:spPr>
              <a:xfrm>
                <a:off x="4441" y="3330"/>
                <a:ext cx="53"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S</a:t>
                </a:r>
                <a:endParaRPr lang="en-US" altLang="zh-CN" dirty="0">
                  <a:latin typeface="Times New Roman" panose="02020603050405020304" pitchFamily="18" charset="0"/>
                </a:endParaRPr>
              </a:p>
            </p:txBody>
          </p:sp>
          <p:sp>
            <p:nvSpPr>
              <p:cNvPr id="41055" name="Rectangle 78"/>
              <p:cNvSpPr/>
              <p:nvPr/>
            </p:nvSpPr>
            <p:spPr>
              <a:xfrm>
                <a:off x="4348" y="3281"/>
                <a:ext cx="110"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U</a:t>
                </a:r>
                <a:endParaRPr lang="en-US" altLang="zh-CN" dirty="0">
                  <a:latin typeface="Times New Roman" panose="02020603050405020304" pitchFamily="18" charset="0"/>
                </a:endParaRPr>
              </a:p>
            </p:txBody>
          </p:sp>
        </p:grpSp>
        <p:sp>
          <p:nvSpPr>
            <p:cNvPr id="41032" name="Rectangle 79"/>
            <p:cNvSpPr/>
            <p:nvPr/>
          </p:nvSpPr>
          <p:spPr>
            <a:xfrm>
              <a:off x="3770" y="1380"/>
              <a:ext cx="93"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L</a:t>
              </a:r>
              <a:endParaRPr lang="en-US" altLang="zh-CN" dirty="0">
                <a:latin typeface="Times New Roman" panose="02020603050405020304" pitchFamily="18" charset="0"/>
              </a:endParaRPr>
            </a:p>
          </p:txBody>
        </p:sp>
        <p:sp>
          <p:nvSpPr>
            <p:cNvPr id="41033" name="Rectangle 80"/>
            <p:cNvSpPr/>
            <p:nvPr/>
          </p:nvSpPr>
          <p:spPr>
            <a:xfrm>
              <a:off x="3850" y="1408"/>
              <a:ext cx="5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1034" name="Rectangle 81"/>
            <p:cNvSpPr/>
            <p:nvPr/>
          </p:nvSpPr>
          <p:spPr>
            <a:xfrm>
              <a:off x="4068" y="1366"/>
              <a:ext cx="93" cy="164"/>
            </a:xfrm>
            <a:prstGeom prst="rect">
              <a:avLst/>
            </a:prstGeom>
            <a:noFill/>
            <a:ln w="9525">
              <a:noFill/>
            </a:ln>
          </p:spPr>
          <p:txBody>
            <a:bodyPr wrap="none" lIns="0" tIns="0" rIns="0" bIns="0">
              <a:spAutoFit/>
            </a:bodyPr>
            <a:p>
              <a:pPr eaLnBrk="1" hangingPunct="1">
                <a:lnSpc>
                  <a:spcPct val="90000"/>
                </a:lnSpc>
              </a:pPr>
              <a:r>
                <a:rPr lang="en-US" altLang="zh-CN" sz="1900" b="0" dirty="0">
                  <a:solidFill>
                    <a:srgbClr val="000000"/>
                  </a:solidFill>
                  <a:latin typeface="Times New Roman" panose="02020603050405020304" pitchFamily="18" charset="0"/>
                </a:rPr>
                <a:t>L</a:t>
              </a:r>
              <a:endParaRPr lang="en-US" altLang="zh-CN" dirty="0">
                <a:latin typeface="Times New Roman" panose="02020603050405020304" pitchFamily="18" charset="0"/>
              </a:endParaRPr>
            </a:p>
          </p:txBody>
        </p:sp>
        <p:sp>
          <p:nvSpPr>
            <p:cNvPr id="41035" name="Rectangle 82"/>
            <p:cNvSpPr/>
            <p:nvPr/>
          </p:nvSpPr>
          <p:spPr>
            <a:xfrm>
              <a:off x="4161" y="1387"/>
              <a:ext cx="32"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1036" name="Oval 83"/>
            <p:cNvSpPr/>
            <p:nvPr/>
          </p:nvSpPr>
          <p:spPr>
            <a:xfrm>
              <a:off x="2790" y="2264"/>
              <a:ext cx="248" cy="266"/>
            </a:xfrm>
            <a:prstGeom prst="ellipse">
              <a:avLst/>
            </a:prstGeom>
            <a:noFill/>
            <a:ln w="19050" cap="flat" cmpd="sng">
              <a:solidFill>
                <a:srgbClr val="00008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1037" name="Line 84"/>
            <p:cNvSpPr/>
            <p:nvPr/>
          </p:nvSpPr>
          <p:spPr>
            <a:xfrm>
              <a:off x="2926" y="1787"/>
              <a:ext cx="2382" cy="0"/>
            </a:xfrm>
            <a:prstGeom prst="line">
              <a:avLst/>
            </a:prstGeom>
            <a:ln w="19050" cap="flat" cmpd="sng">
              <a:solidFill>
                <a:srgbClr val="000080"/>
              </a:solidFill>
              <a:prstDash val="solid"/>
              <a:headEnd type="none" w="med" len="med"/>
              <a:tailEnd type="none" w="med" len="med"/>
            </a:ln>
          </p:spPr>
        </p:sp>
        <p:sp>
          <p:nvSpPr>
            <p:cNvPr id="41038" name="Line 85"/>
            <p:cNvSpPr/>
            <p:nvPr/>
          </p:nvSpPr>
          <p:spPr>
            <a:xfrm>
              <a:off x="5308" y="1787"/>
              <a:ext cx="0" cy="1234"/>
            </a:xfrm>
            <a:prstGeom prst="line">
              <a:avLst/>
            </a:prstGeom>
            <a:ln w="19050" cap="flat" cmpd="sng">
              <a:solidFill>
                <a:srgbClr val="000080"/>
              </a:solidFill>
              <a:prstDash val="solid"/>
              <a:headEnd type="none" w="med" len="med"/>
              <a:tailEnd type="none" w="med" len="med"/>
            </a:ln>
          </p:spPr>
        </p:sp>
        <p:sp>
          <p:nvSpPr>
            <p:cNvPr id="41039" name="Line 86"/>
            <p:cNvSpPr/>
            <p:nvPr/>
          </p:nvSpPr>
          <p:spPr>
            <a:xfrm flipH="1">
              <a:off x="2926" y="3021"/>
              <a:ext cx="2382" cy="0"/>
            </a:xfrm>
            <a:prstGeom prst="line">
              <a:avLst/>
            </a:prstGeom>
            <a:ln w="19050" cap="flat" cmpd="sng">
              <a:solidFill>
                <a:srgbClr val="000080"/>
              </a:solidFill>
              <a:prstDash val="solid"/>
              <a:headEnd type="none" w="med" len="med"/>
              <a:tailEnd type="none" w="med" len="med"/>
            </a:ln>
          </p:spPr>
        </p:sp>
        <p:sp>
          <p:nvSpPr>
            <p:cNvPr id="41040" name="Line 87"/>
            <p:cNvSpPr/>
            <p:nvPr/>
          </p:nvSpPr>
          <p:spPr>
            <a:xfrm flipV="1">
              <a:off x="2926" y="2530"/>
              <a:ext cx="0" cy="491"/>
            </a:xfrm>
            <a:prstGeom prst="line">
              <a:avLst/>
            </a:prstGeom>
            <a:ln w="19050" cap="flat" cmpd="sng">
              <a:solidFill>
                <a:srgbClr val="000080"/>
              </a:solidFill>
              <a:prstDash val="solid"/>
              <a:headEnd type="none" w="med" len="med"/>
              <a:tailEnd type="none" w="med" len="med"/>
            </a:ln>
          </p:spPr>
        </p:sp>
        <p:sp>
          <p:nvSpPr>
            <p:cNvPr id="41041" name="Line 88"/>
            <p:cNvSpPr/>
            <p:nvPr/>
          </p:nvSpPr>
          <p:spPr>
            <a:xfrm flipV="1">
              <a:off x="2926" y="1787"/>
              <a:ext cx="0" cy="477"/>
            </a:xfrm>
            <a:prstGeom prst="line">
              <a:avLst/>
            </a:prstGeom>
            <a:ln w="19050" cap="flat" cmpd="sng">
              <a:solidFill>
                <a:srgbClr val="000080"/>
              </a:solidFill>
              <a:prstDash val="solid"/>
              <a:headEnd type="none" w="med" len="med"/>
              <a:tailEnd type="none" w="med" len="med"/>
            </a:ln>
          </p:spPr>
        </p:sp>
        <p:sp>
          <p:nvSpPr>
            <p:cNvPr id="41042" name="Rectangle 89"/>
            <p:cNvSpPr/>
            <p:nvPr/>
          </p:nvSpPr>
          <p:spPr>
            <a:xfrm>
              <a:off x="2779" y="2184"/>
              <a:ext cx="142" cy="379"/>
            </a:xfrm>
            <a:prstGeom prst="rect">
              <a:avLst/>
            </a:prstGeom>
            <a:solidFill>
              <a:srgbClr val="FFFF99"/>
            </a:solidFill>
            <a:ln w="0">
              <a:noFill/>
            </a:ln>
          </p:spPr>
          <p:txBody>
            <a:bodyPr/>
            <a:p>
              <a:pPr eaLnBrk="1" hangingPunct="1">
                <a:lnSpc>
                  <a:spcPct val="90000"/>
                </a:lnSpc>
              </a:pPr>
              <a:endParaRPr lang="zh-CN" altLang="en-US" dirty="0">
                <a:latin typeface="Times New Roman" panose="02020603050405020304" pitchFamily="18" charset="0"/>
              </a:endParaRPr>
            </a:p>
          </p:txBody>
        </p:sp>
        <p:sp>
          <p:nvSpPr>
            <p:cNvPr id="41043" name="Line 90"/>
            <p:cNvSpPr/>
            <p:nvPr/>
          </p:nvSpPr>
          <p:spPr>
            <a:xfrm>
              <a:off x="4669" y="2628"/>
              <a:ext cx="341" cy="0"/>
            </a:xfrm>
            <a:prstGeom prst="line">
              <a:avLst/>
            </a:prstGeom>
            <a:ln w="12700" cap="flat" cmpd="sng">
              <a:solidFill>
                <a:srgbClr val="000000"/>
              </a:solidFill>
              <a:prstDash val="solid"/>
              <a:headEnd type="none" w="med" len="med"/>
              <a:tailEnd type="none" w="med" len="med"/>
            </a:ln>
          </p:spPr>
        </p:sp>
        <p:sp>
          <p:nvSpPr>
            <p:cNvPr id="41044" name="Rectangle 91"/>
            <p:cNvSpPr/>
            <p:nvPr/>
          </p:nvSpPr>
          <p:spPr>
            <a:xfrm>
              <a:off x="3198" y="3594"/>
              <a:ext cx="1760" cy="199"/>
            </a:xfrm>
            <a:prstGeom prst="rect">
              <a:avLst/>
            </a:prstGeom>
            <a:noFill/>
            <a:ln w="9525">
              <a:noFill/>
            </a:ln>
          </p:spPr>
          <p:txBody>
            <a:bodyPr wrap="none" lIns="0" tIns="0" rIns="0" bIns="0">
              <a:spAutoFit/>
            </a:bodyPr>
            <a:p>
              <a:pPr eaLnBrk="1" hangingPunct="1">
                <a:lnSpc>
                  <a:spcPct val="90000"/>
                </a:lnSpc>
              </a:pPr>
              <a:r>
                <a:rPr lang="en-US" altLang="zh-CN" sz="2300" dirty="0">
                  <a:solidFill>
                    <a:srgbClr val="000080"/>
                  </a:solidFill>
                  <a:latin typeface="楷体_GB2312" pitchFamily="49" charset="-122"/>
                </a:rPr>
                <a:t>AD582</a:t>
              </a:r>
              <a:r>
                <a:rPr lang="zh-CN" altLang="en-US" sz="2300" dirty="0">
                  <a:solidFill>
                    <a:srgbClr val="000080"/>
                  </a:solidFill>
                  <a:latin typeface="楷体_GB2312" pitchFamily="49" charset="-122"/>
                </a:rPr>
                <a:t>管脚及结构示意</a:t>
              </a:r>
              <a:endParaRPr lang="zh-CN" altLang="en-US" dirty="0">
                <a:latin typeface="Times New Roman" panose="02020603050405020304" pitchFamily="18" charset="0"/>
              </a:endParaRPr>
            </a:p>
          </p:txBody>
        </p:sp>
        <p:sp>
          <p:nvSpPr>
            <p:cNvPr id="41045" name="AutoShape 92"/>
            <p:cNvSpPr/>
            <p:nvPr/>
          </p:nvSpPr>
          <p:spPr>
            <a:xfrm rot="5400000">
              <a:off x="3699" y="1907"/>
              <a:ext cx="240" cy="224"/>
            </a:xfrm>
            <a:prstGeom prst="flowChartDelay">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46" name="AutoShape 93"/>
            <p:cNvSpPr/>
            <p:nvPr/>
          </p:nvSpPr>
          <p:spPr>
            <a:xfrm rot="5400000">
              <a:off x="3326" y="2506"/>
              <a:ext cx="337" cy="244"/>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47" name="AutoShape 94"/>
            <p:cNvSpPr/>
            <p:nvPr/>
          </p:nvSpPr>
          <p:spPr>
            <a:xfrm rot="5400000">
              <a:off x="4368" y="2506"/>
              <a:ext cx="337" cy="244"/>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48" name="Line 95"/>
            <p:cNvSpPr/>
            <p:nvPr/>
          </p:nvSpPr>
          <p:spPr>
            <a:xfrm flipH="1">
              <a:off x="3819" y="1787"/>
              <a:ext cx="0" cy="112"/>
            </a:xfrm>
            <a:prstGeom prst="line">
              <a:avLst/>
            </a:prstGeom>
            <a:ln w="12700" cap="flat" cmpd="sng">
              <a:solidFill>
                <a:srgbClr val="000000"/>
              </a:solidFill>
              <a:prstDash val="solid"/>
              <a:headEnd type="none" w="med" len="med"/>
              <a:tailEnd type="none" w="med" len="med"/>
            </a:ln>
          </p:spPr>
        </p:sp>
        <p:sp>
          <p:nvSpPr>
            <p:cNvPr id="41049" name="Line 96"/>
            <p:cNvSpPr/>
            <p:nvPr/>
          </p:nvSpPr>
          <p:spPr>
            <a:xfrm flipH="1">
              <a:off x="3224" y="2685"/>
              <a:ext cx="0" cy="336"/>
            </a:xfrm>
            <a:prstGeom prst="line">
              <a:avLst/>
            </a:prstGeom>
            <a:ln w="12700" cap="flat" cmpd="sng">
              <a:solidFill>
                <a:srgbClr val="000000"/>
              </a:solidFill>
              <a:prstDash val="solid"/>
              <a:headEnd type="none" w="med" len="med"/>
              <a:tailEnd type="none" w="med" len="med"/>
            </a:ln>
          </p:spPr>
        </p:sp>
        <p:sp>
          <p:nvSpPr>
            <p:cNvPr id="41050" name="Line 97"/>
            <p:cNvSpPr/>
            <p:nvPr/>
          </p:nvSpPr>
          <p:spPr>
            <a:xfrm>
              <a:off x="3819" y="2908"/>
              <a:ext cx="0" cy="113"/>
            </a:xfrm>
            <a:prstGeom prst="line">
              <a:avLst/>
            </a:prstGeom>
            <a:ln w="12700" cap="flat" cmpd="sng">
              <a:solidFill>
                <a:srgbClr val="000000"/>
              </a:solidFill>
              <a:prstDash val="solid"/>
              <a:headEnd type="none" w="med" len="med"/>
              <a:tailEnd type="none" w="med" len="med"/>
            </a:ln>
          </p:spPr>
        </p:sp>
        <p:sp>
          <p:nvSpPr>
            <p:cNvPr id="41051" name="Line 98"/>
            <p:cNvSpPr/>
            <p:nvPr/>
          </p:nvSpPr>
          <p:spPr>
            <a:xfrm>
              <a:off x="4117" y="2796"/>
              <a:ext cx="0" cy="224"/>
            </a:xfrm>
            <a:prstGeom prst="line">
              <a:avLst/>
            </a:prstGeom>
            <a:ln w="12700" cap="flat" cmpd="sng">
              <a:solidFill>
                <a:srgbClr val="000000"/>
              </a:solidFill>
              <a:prstDash val="solid"/>
              <a:headEnd type="none" w="med" len="med"/>
              <a:tailEnd type="none" w="med" len="med"/>
            </a:ln>
          </p:spPr>
        </p:sp>
        <p:sp>
          <p:nvSpPr>
            <p:cNvPr id="41052" name="Line 99"/>
            <p:cNvSpPr/>
            <p:nvPr/>
          </p:nvSpPr>
          <p:spPr>
            <a:xfrm>
              <a:off x="4713" y="2909"/>
              <a:ext cx="0" cy="110"/>
            </a:xfrm>
            <a:prstGeom prst="line">
              <a:avLst/>
            </a:prstGeom>
            <a:ln w="12700" cap="flat" cmpd="sng">
              <a:solidFill>
                <a:srgbClr val="000000"/>
              </a:solidFill>
              <a:prstDash val="solid"/>
              <a:headEnd type="none" w="med" len="med"/>
              <a:tailEnd type="none" w="med" len="med"/>
            </a:ln>
          </p:spPr>
        </p:sp>
      </p:grpSp>
      <p:sp>
        <p:nvSpPr>
          <p:cNvPr id="2436197" name="Rectangle 101"/>
          <p:cNvSpPr/>
          <p:nvPr/>
        </p:nvSpPr>
        <p:spPr>
          <a:xfrm>
            <a:off x="106363" y="2781300"/>
            <a:ext cx="4286250" cy="2397125"/>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zh-CN" altLang="en-US" sz="2800" dirty="0">
                <a:latin typeface="Times New Roman" panose="02020603050405020304" pitchFamily="18" charset="0"/>
              </a:rPr>
              <a:t>它由一个</a:t>
            </a:r>
            <a:r>
              <a:rPr lang="zh-CN" altLang="en-US" sz="2800" dirty="0">
                <a:solidFill>
                  <a:srgbClr val="FF0000"/>
                </a:solidFill>
                <a:latin typeface="Times New Roman" panose="02020603050405020304" pitchFamily="18" charset="0"/>
              </a:rPr>
              <a:t>高性能的运算放大器</a:t>
            </a:r>
            <a:r>
              <a:rPr lang="zh-CN" altLang="en-US" sz="2800" dirty="0">
                <a:latin typeface="Times New Roman" panose="02020603050405020304" pitchFamily="18" charset="0"/>
              </a:rPr>
              <a:t>、</a:t>
            </a:r>
            <a:r>
              <a:rPr lang="zh-CN" altLang="en-US" sz="2800" dirty="0">
                <a:solidFill>
                  <a:srgbClr val="FF0000"/>
                </a:solidFill>
                <a:latin typeface="Times New Roman" panose="02020603050405020304" pitchFamily="18" charset="0"/>
              </a:rPr>
              <a:t>低漏电流的模拟开关</a:t>
            </a:r>
            <a:r>
              <a:rPr lang="zh-CN" altLang="en-US" sz="2800" dirty="0">
                <a:latin typeface="Times New Roman" panose="02020603050405020304" pitchFamily="18" charset="0"/>
              </a:rPr>
              <a:t>和</a:t>
            </a:r>
            <a:r>
              <a:rPr lang="zh-CN" altLang="en-US" sz="2800" dirty="0">
                <a:solidFill>
                  <a:srgbClr val="FF0000"/>
                </a:solidFill>
                <a:latin typeface="Times New Roman" panose="02020603050405020304" pitchFamily="18" charset="0"/>
              </a:rPr>
              <a:t>一个由结型场效应管集成的放大器</a:t>
            </a:r>
            <a:r>
              <a:rPr lang="zh-CN" altLang="en-US" sz="2800" dirty="0">
                <a:latin typeface="Times New Roman" panose="02020603050405020304" pitchFamily="18" charset="0"/>
              </a:rPr>
              <a:t>组成。它采用</a:t>
            </a:r>
            <a:r>
              <a:rPr lang="en-US" altLang="zh-CN" sz="2800" dirty="0">
                <a:latin typeface="Times New Roman" panose="02020603050405020304" pitchFamily="18" charset="0"/>
              </a:rPr>
              <a:t>14</a:t>
            </a:r>
            <a:r>
              <a:rPr lang="zh-CN" altLang="en-US" sz="2800" dirty="0">
                <a:latin typeface="Times New Roman" panose="02020603050405020304" pitchFamily="18" charset="0"/>
              </a:rPr>
              <a:t>脚双列直插式封装</a:t>
            </a:r>
            <a:r>
              <a:rPr lang="en-US" altLang="zh-CN" sz="2800" dirty="0">
                <a:latin typeface="Times New Roman" panose="02020603050405020304" pitchFamily="18" charset="0"/>
              </a:rPr>
              <a:t>.</a:t>
            </a:r>
            <a:endParaRPr lang="en-US" altLang="zh-CN" sz="2800" dirty="0">
              <a:latin typeface="Times New Roman" panose="02020603050405020304" pitchFamily="18" charset="0"/>
            </a:endParaRPr>
          </a:p>
        </p:txBody>
      </p:sp>
      <p:sp>
        <p:nvSpPr>
          <p:cNvPr id="2436198" name="Text Box 102"/>
          <p:cNvSpPr txBox="1"/>
          <p:nvPr/>
        </p:nvSpPr>
        <p:spPr>
          <a:xfrm>
            <a:off x="179388" y="1916113"/>
            <a:ext cx="3959225" cy="3305175"/>
          </a:xfrm>
          <a:prstGeom prst="rect">
            <a:avLst/>
          </a:prstGeom>
          <a:solidFill>
            <a:schemeClr val="bg1"/>
          </a:solidFill>
          <a:ln w="9525">
            <a:noFill/>
          </a:ln>
        </p:spPr>
        <p:txBody>
          <a:bodyPr>
            <a:spAutoFit/>
          </a:bodyPr>
          <a:p>
            <a:pPr marL="361950" indent="-361950" eaLnBrk="1" hangingPunct="1">
              <a:lnSpc>
                <a:spcPct val="11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其中脚</a:t>
            </a:r>
            <a:r>
              <a:rPr lang="en-US" altLang="zh-CN" sz="2400" dirty="0">
                <a:latin typeface="黑体" panose="02010609060101010101" pitchFamily="49" charset="-122"/>
                <a:ea typeface="黑体" panose="02010609060101010101" pitchFamily="49" charset="-122"/>
              </a:rPr>
              <a:t>1</a:t>
            </a:r>
            <a:r>
              <a:rPr lang="zh-CN" altLang="en-US" sz="2400" dirty="0">
                <a:latin typeface="黑体" panose="02010609060101010101" pitchFamily="49" charset="-122"/>
                <a:ea typeface="黑体" panose="02010609060101010101" pitchFamily="49" charset="-122"/>
              </a:rPr>
              <a:t>是同相输入端，脚</a:t>
            </a:r>
            <a:r>
              <a:rPr lang="en-US" altLang="zh-CN" sz="2400" dirty="0">
                <a:latin typeface="黑体" panose="02010609060101010101" pitchFamily="49" charset="-122"/>
                <a:ea typeface="黑体" panose="02010609060101010101" pitchFamily="49" charset="-122"/>
              </a:rPr>
              <a:t>9</a:t>
            </a:r>
            <a:r>
              <a:rPr lang="zh-CN" altLang="en-US" sz="2400" dirty="0">
                <a:latin typeface="黑体" panose="02010609060101010101" pitchFamily="49" charset="-122"/>
                <a:ea typeface="黑体" panose="02010609060101010101" pitchFamily="49" charset="-122"/>
              </a:rPr>
              <a:t>是反相输入端，保持电容</a:t>
            </a:r>
            <a:r>
              <a:rPr lang="en-US" altLang="zh-CN" sz="2400" i="1" dirty="0">
                <a:solidFill>
                  <a:srgbClr val="FF0000"/>
                </a:solidFill>
                <a:latin typeface="Times New Roman" panose="02020603050405020304" pitchFamily="18" charset="0"/>
                <a:ea typeface="黑体" panose="02010609060101010101" pitchFamily="49" charset="-122"/>
              </a:rPr>
              <a:t>C</a:t>
            </a:r>
            <a:r>
              <a:rPr lang="en-US" altLang="zh-CN" sz="2400" baseline="-25000" dirty="0">
                <a:solidFill>
                  <a:srgbClr val="FF0000"/>
                </a:solidFill>
                <a:latin typeface="Times New Roman" panose="02020603050405020304" pitchFamily="18" charset="0"/>
                <a:ea typeface="黑体" panose="02010609060101010101" pitchFamily="49" charset="-122"/>
              </a:rPr>
              <a:t>H</a:t>
            </a:r>
            <a:r>
              <a:rPr lang="zh-CN" altLang="en-US" sz="2400" dirty="0">
                <a:latin typeface="黑体" panose="02010609060101010101" pitchFamily="49" charset="-122"/>
                <a:ea typeface="黑体" panose="02010609060101010101" pitchFamily="49" charset="-122"/>
              </a:rPr>
              <a:t>接在脚</a:t>
            </a:r>
            <a:r>
              <a:rPr lang="en-US" altLang="zh-CN" sz="2400" dirty="0">
                <a:latin typeface="黑体" panose="02010609060101010101" pitchFamily="49" charset="-122"/>
                <a:ea typeface="黑体" panose="02010609060101010101" pitchFamily="49" charset="-122"/>
              </a:rPr>
              <a:t>6</a:t>
            </a:r>
            <a:r>
              <a:rPr lang="zh-CN" altLang="en-US" sz="2400" dirty="0">
                <a:latin typeface="黑体" panose="02010609060101010101" pitchFamily="49" charset="-122"/>
                <a:ea typeface="黑体" panose="02010609060101010101" pitchFamily="49" charset="-122"/>
              </a:rPr>
              <a:t>与脚</a:t>
            </a:r>
            <a:r>
              <a:rPr lang="en-US" altLang="zh-CN" sz="2400" dirty="0">
                <a:latin typeface="黑体" panose="02010609060101010101" pitchFamily="49" charset="-122"/>
                <a:ea typeface="黑体" panose="02010609060101010101" pitchFamily="49" charset="-122"/>
              </a:rPr>
              <a:t>8</a:t>
            </a:r>
            <a:r>
              <a:rPr lang="zh-CN" altLang="en-US" sz="2400" dirty="0">
                <a:latin typeface="黑体" panose="02010609060101010101" pitchFamily="49" charset="-122"/>
                <a:ea typeface="黑体" panose="02010609060101010101" pitchFamily="49" charset="-122"/>
              </a:rPr>
              <a:t>之间，脚</a:t>
            </a:r>
            <a:r>
              <a:rPr lang="en-US" altLang="zh-CN" sz="2400" dirty="0">
                <a:latin typeface="黑体" panose="02010609060101010101" pitchFamily="49" charset="-122"/>
                <a:ea typeface="黑体" panose="02010609060101010101" pitchFamily="49" charset="-122"/>
              </a:rPr>
              <a:t>10</a:t>
            </a:r>
            <a:r>
              <a:rPr lang="zh-CN" altLang="en-US" sz="2400" dirty="0">
                <a:latin typeface="黑体" panose="02010609060101010101" pitchFamily="49" charset="-122"/>
                <a:ea typeface="黑体" panose="02010609060101010101" pitchFamily="49" charset="-122"/>
              </a:rPr>
              <a:t>和脚</a:t>
            </a:r>
            <a:r>
              <a:rPr lang="en-US" altLang="zh-CN" sz="2400" dirty="0">
                <a:latin typeface="黑体" panose="02010609060101010101" pitchFamily="49" charset="-122"/>
                <a:ea typeface="黑体" panose="02010609060101010101" pitchFamily="49" charset="-122"/>
              </a:rPr>
              <a:t>5</a:t>
            </a:r>
            <a:r>
              <a:rPr lang="zh-CN" altLang="en-US" sz="2400" dirty="0">
                <a:latin typeface="黑体" panose="02010609060101010101" pitchFamily="49" charset="-122"/>
                <a:ea typeface="黑体" panose="02010609060101010101" pitchFamily="49" charset="-122"/>
              </a:rPr>
              <a:t>是正负电源，脚</a:t>
            </a:r>
            <a:r>
              <a:rPr lang="en-US" altLang="zh-CN" sz="2400" dirty="0">
                <a:latin typeface="黑体" panose="02010609060101010101" pitchFamily="49" charset="-122"/>
                <a:ea typeface="黑体" panose="02010609060101010101" pitchFamily="49" charset="-122"/>
              </a:rPr>
              <a:t>11</a:t>
            </a:r>
            <a:r>
              <a:rPr lang="zh-CN" altLang="en-US" sz="2400" dirty="0">
                <a:latin typeface="黑体" panose="02010609060101010101" pitchFamily="49" charset="-122"/>
                <a:ea typeface="黑体" panose="02010609060101010101" pitchFamily="49" charset="-122"/>
              </a:rPr>
              <a:t>和脚</a:t>
            </a:r>
            <a:r>
              <a:rPr lang="en-US" altLang="zh-CN" sz="2400" dirty="0">
                <a:latin typeface="黑体" panose="02010609060101010101" pitchFamily="49" charset="-122"/>
                <a:ea typeface="黑体" panose="02010609060101010101" pitchFamily="49" charset="-122"/>
              </a:rPr>
              <a:t>12</a:t>
            </a:r>
            <a:r>
              <a:rPr lang="zh-CN" altLang="en-US" sz="2400" dirty="0">
                <a:latin typeface="黑体" panose="02010609060101010101" pitchFamily="49" charset="-122"/>
                <a:ea typeface="黑体" panose="02010609060101010101" pitchFamily="49" charset="-122"/>
              </a:rPr>
              <a:t>是逻辑控制端，脚</a:t>
            </a:r>
            <a:r>
              <a:rPr lang="en-US" altLang="zh-CN" sz="2400" dirty="0">
                <a:latin typeface="黑体" panose="02010609060101010101" pitchFamily="49" charset="-122"/>
                <a:ea typeface="黑体" panose="02010609060101010101" pitchFamily="49" charset="-122"/>
              </a:rPr>
              <a:t>3</a:t>
            </a:r>
            <a:r>
              <a:rPr lang="zh-CN" altLang="en-US" sz="2400" dirty="0">
                <a:latin typeface="黑体" panose="02010609060101010101" pitchFamily="49" charset="-122"/>
                <a:ea typeface="黑体" panose="02010609060101010101" pitchFamily="49" charset="-122"/>
              </a:rPr>
              <a:t>和脚</a:t>
            </a:r>
            <a:r>
              <a:rPr lang="en-US" altLang="zh-CN" sz="2400" dirty="0">
                <a:latin typeface="黑体" panose="02010609060101010101" pitchFamily="49" charset="-122"/>
                <a:ea typeface="黑体" panose="02010609060101010101" pitchFamily="49" charset="-122"/>
              </a:rPr>
              <a:t>4</a:t>
            </a:r>
            <a:r>
              <a:rPr lang="zh-CN" altLang="en-US" sz="2400" dirty="0">
                <a:latin typeface="黑体" panose="02010609060101010101" pitchFamily="49" charset="-122"/>
                <a:ea typeface="黑体" panose="02010609060101010101" pitchFamily="49" charset="-122"/>
              </a:rPr>
              <a:t>接直流调零电位器，脚</a:t>
            </a:r>
            <a:r>
              <a:rPr lang="en-US" altLang="zh-CN" sz="2400" dirty="0">
                <a:latin typeface="黑体" panose="02010609060101010101" pitchFamily="49" charset="-122"/>
                <a:ea typeface="黑体" panose="02010609060101010101" pitchFamily="49" charset="-122"/>
              </a:rPr>
              <a:t>2</a:t>
            </a:r>
            <a:r>
              <a:rPr lang="zh-CN" altLang="en-US" sz="2400" dirty="0">
                <a:latin typeface="黑体" panose="02010609060101010101" pitchFamily="49" charset="-122"/>
                <a:ea typeface="黑体" panose="02010609060101010101" pitchFamily="49" charset="-122"/>
              </a:rPr>
              <a:t>，</a:t>
            </a:r>
            <a:r>
              <a:rPr lang="en-US" altLang="zh-CN" sz="2400" dirty="0">
                <a:latin typeface="黑体" panose="02010609060101010101" pitchFamily="49" charset="-122"/>
                <a:ea typeface="黑体" panose="02010609060101010101" pitchFamily="49" charset="-122"/>
              </a:rPr>
              <a:t>7</a:t>
            </a:r>
            <a:r>
              <a:rPr lang="zh-CN" altLang="en-US" sz="2400" dirty="0">
                <a:latin typeface="黑体" panose="02010609060101010101" pitchFamily="49" charset="-122"/>
                <a:ea typeface="黑体" panose="02010609060101010101" pitchFamily="49" charset="-122"/>
              </a:rPr>
              <a:t>，</a:t>
            </a:r>
            <a:r>
              <a:rPr lang="en-US" altLang="zh-CN" sz="2400" dirty="0">
                <a:latin typeface="黑体" panose="02010609060101010101" pitchFamily="49" charset="-122"/>
                <a:ea typeface="黑体" panose="02010609060101010101" pitchFamily="49" charset="-122"/>
              </a:rPr>
              <a:t>13</a:t>
            </a:r>
            <a:r>
              <a:rPr lang="zh-CN" altLang="en-US" sz="2400" dirty="0">
                <a:latin typeface="黑体" panose="02010609060101010101" pitchFamily="49" charset="-122"/>
                <a:ea typeface="黑体" panose="02010609060101010101" pitchFamily="49" charset="-122"/>
              </a:rPr>
              <a:t>，</a:t>
            </a:r>
            <a:r>
              <a:rPr lang="en-US" altLang="zh-CN" sz="2400" dirty="0">
                <a:latin typeface="黑体" panose="02010609060101010101" pitchFamily="49" charset="-122"/>
                <a:ea typeface="黑体" panose="02010609060101010101" pitchFamily="49" charset="-122"/>
              </a:rPr>
              <a:t>14</a:t>
            </a:r>
            <a:r>
              <a:rPr lang="zh-CN" altLang="en-US" sz="2400" dirty="0">
                <a:latin typeface="黑体" panose="02010609060101010101" pitchFamily="49" charset="-122"/>
                <a:ea typeface="黑体" panose="02010609060101010101" pitchFamily="49" charset="-122"/>
              </a:rPr>
              <a:t>为空脚</a:t>
            </a:r>
            <a:r>
              <a:rPr lang="en-US" altLang="zh-CN" sz="2400" dirty="0">
                <a:latin typeface="黑体" panose="02010609060101010101" pitchFamily="49" charset="-122"/>
                <a:ea typeface="黑体" panose="02010609060101010101" pitchFamily="49" charset="-122"/>
              </a:rPr>
              <a:t>(Nc)</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p:txBody>
      </p:sp>
      <p:sp>
        <p:nvSpPr>
          <p:cNvPr id="2397195" name="Text Box 11"/>
          <p:cNvSpPr txBox="1"/>
          <p:nvPr/>
        </p:nvSpPr>
        <p:spPr>
          <a:xfrm>
            <a:off x="358775" y="758825"/>
            <a:ext cx="44545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5.5.1 AD582</a:t>
            </a:r>
            <a:r>
              <a:rPr lang="zh-CN" altLang="en-US" sz="3200" dirty="0">
                <a:latin typeface="Times New Roman" panose="02020603050405020304" pitchFamily="18" charset="0"/>
              </a:rPr>
              <a:t>的实用电路</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7195"/>
                                        </p:tgtEl>
                                        <p:attrNameLst>
                                          <p:attrName>style.visibility</p:attrName>
                                        </p:attrNameLst>
                                      </p:cBhvr>
                                      <p:to>
                                        <p:strVal val="visible"/>
                                      </p:to>
                                    </p:set>
                                    <p:animEffect transition="in" filter="dissolve">
                                      <p:cBhvr>
                                        <p:cTn id="7" dur="500"/>
                                        <p:tgtEl>
                                          <p:spTgt spid="23971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6101"/>
                                        </p:tgtEl>
                                        <p:attrNameLst>
                                          <p:attrName>style.visibility</p:attrName>
                                        </p:attrNameLst>
                                      </p:cBhvr>
                                      <p:to>
                                        <p:strVal val="visible"/>
                                      </p:to>
                                    </p:set>
                                    <p:animEffect transition="in" filter="dissolve">
                                      <p:cBhvr>
                                        <p:cTn id="12" dur="500"/>
                                        <p:tgtEl>
                                          <p:spTgt spid="243610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6100"/>
                                        </p:tgtEl>
                                        <p:attrNameLst>
                                          <p:attrName>style.visibility</p:attrName>
                                        </p:attrNameLst>
                                      </p:cBhvr>
                                      <p:to>
                                        <p:strVal val="visible"/>
                                      </p:to>
                                    </p:set>
                                    <p:animEffect transition="in" filter="dissolve">
                                      <p:cBhvr>
                                        <p:cTn id="17" dur="500"/>
                                        <p:tgtEl>
                                          <p:spTgt spid="243610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36197"/>
                                        </p:tgtEl>
                                        <p:attrNameLst>
                                          <p:attrName>style.visibility</p:attrName>
                                        </p:attrNameLst>
                                      </p:cBhvr>
                                      <p:to>
                                        <p:strVal val="visible"/>
                                      </p:to>
                                    </p:set>
                                    <p:animEffect transition="in" filter="dissolve">
                                      <p:cBhvr>
                                        <p:cTn id="22" dur="500"/>
                                        <p:tgtEl>
                                          <p:spTgt spid="2436197"/>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xit" presetSubtype="10" fill="hold" nodeType="clickEffect">
                                  <p:stCondLst>
                                    <p:cond delay="0"/>
                                  </p:stCondLst>
                                  <p:childTnLst>
                                    <p:animEffect transition="out" filter="blinds(horizontal)">
                                      <p:cBhvr>
                                        <p:cTn id="26" dur="500"/>
                                        <p:tgtEl>
                                          <p:spTgt spid="2436100"/>
                                        </p:tgtEl>
                                      </p:cBhvr>
                                    </p:animEffect>
                                    <p:set>
                                      <p:cBhvr>
                                        <p:cTn id="27" dur="1" fill="hold">
                                          <p:stCondLst>
                                            <p:cond delay="499"/>
                                          </p:stCondLst>
                                        </p:cTn>
                                        <p:tgtEl>
                                          <p:spTgt spid="2436100"/>
                                        </p:tgtEl>
                                        <p:attrNameLst>
                                          <p:attrName>style.visibility</p:attrName>
                                        </p:attrNameLst>
                                      </p:cBhvr>
                                      <p:to>
                                        <p:strVal val="hidden"/>
                                      </p:to>
                                    </p:set>
                                  </p:childTnLst>
                                </p:cTn>
                              </p:par>
                              <p:par>
                                <p:cTn id="28" presetID="3" presetClass="exit" presetSubtype="10" fill="hold" nodeType="withEffect">
                                  <p:stCondLst>
                                    <p:cond delay="0"/>
                                  </p:stCondLst>
                                  <p:childTnLst>
                                    <p:animEffect transition="out" filter="blinds(horizontal)">
                                      <p:cBhvr>
                                        <p:cTn id="29" dur="500"/>
                                        <p:tgtEl>
                                          <p:spTgt spid="2436197"/>
                                        </p:tgtEl>
                                      </p:cBhvr>
                                    </p:animEffect>
                                    <p:set>
                                      <p:cBhvr>
                                        <p:cTn id="30" dur="1" fill="hold">
                                          <p:stCondLst>
                                            <p:cond delay="499"/>
                                          </p:stCondLst>
                                        </p:cTn>
                                        <p:tgtEl>
                                          <p:spTgt spid="2436197"/>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36198"/>
                                        </p:tgtEl>
                                        <p:attrNameLst>
                                          <p:attrName>style.visibility</p:attrName>
                                        </p:attrNameLst>
                                      </p:cBhvr>
                                      <p:to>
                                        <p:strVal val="visible"/>
                                      </p:to>
                                    </p:set>
                                    <p:animEffect transition="in" filter="dissolve">
                                      <p:cBhvr>
                                        <p:cTn id="35" dur="500"/>
                                        <p:tgtEl>
                                          <p:spTgt spid="2436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6100" grpId="0"/>
      <p:bldP spid="2436100" grpId="1"/>
      <p:bldP spid="2436197" grpId="0"/>
      <p:bldP spid="2436197" grpId="1"/>
      <p:bldP spid="2436198" grpId="0" animBg="1"/>
      <p:bldP spid="2397195"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6163" name="Text Box 3"/>
          <p:cNvSpPr txBox="1"/>
          <p:nvPr/>
        </p:nvSpPr>
        <p:spPr>
          <a:xfrm>
            <a:off x="539750" y="1412875"/>
            <a:ext cx="3375025" cy="519113"/>
          </a:xfrm>
          <a:prstGeom prst="rect">
            <a:avLst/>
          </a:prstGeom>
          <a:noFill/>
          <a:ln w="9525">
            <a:noFill/>
          </a:ln>
        </p:spPr>
        <p:txBody>
          <a:bodyPr wrap="none">
            <a:spAutoFit/>
          </a:bodyPr>
          <a:p>
            <a:pPr eaLnBrk="1" hangingPunct="1"/>
            <a:r>
              <a:rPr lang="en-US" altLang="zh-CN" sz="2800" dirty="0">
                <a:solidFill>
                  <a:srgbClr val="FF0000"/>
                </a:solidFill>
                <a:latin typeface="Times New Roman" panose="02020603050405020304" pitchFamily="18" charset="0"/>
                <a:ea typeface="黑体" panose="02010609060101010101" pitchFamily="49" charset="-122"/>
              </a:rPr>
              <a:t>AD582</a:t>
            </a:r>
            <a:r>
              <a:rPr lang="zh-CN" altLang="en-US" sz="2800" dirty="0">
                <a:solidFill>
                  <a:srgbClr val="FF0000"/>
                </a:solidFill>
                <a:latin typeface="黑体" panose="02010609060101010101" pitchFamily="49" charset="-122"/>
                <a:ea typeface="黑体" panose="02010609060101010101" pitchFamily="49" charset="-122"/>
              </a:rPr>
              <a:t>的特性如下：</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396164" name="Text Box 4"/>
          <p:cNvSpPr txBox="1"/>
          <p:nvPr/>
        </p:nvSpPr>
        <p:spPr>
          <a:xfrm>
            <a:off x="827088" y="1930400"/>
            <a:ext cx="6884987" cy="4146550"/>
          </a:xfrm>
          <a:prstGeom prst="rect">
            <a:avLst/>
          </a:prstGeom>
          <a:noFill/>
          <a:ln w="9525">
            <a:noFill/>
          </a:ln>
        </p:spPr>
        <p:txBody>
          <a:bodyPr>
            <a:spAutoFit/>
          </a:bodyPr>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有较短的信号</a:t>
            </a:r>
            <a:r>
              <a:rPr lang="zh-CN" altLang="en-US" sz="2800" dirty="0">
                <a:solidFill>
                  <a:srgbClr val="FF0000"/>
                </a:solidFill>
                <a:latin typeface="Times New Roman" panose="02020603050405020304" pitchFamily="18" charset="0"/>
              </a:rPr>
              <a:t>捕捉时间</a:t>
            </a:r>
            <a:r>
              <a:rPr lang="zh-CN" altLang="en-US" sz="2800" dirty="0">
                <a:solidFill>
                  <a:schemeClr val="tx1"/>
                </a:solidFill>
                <a:latin typeface="Times New Roman" panose="02020603050405020304" pitchFamily="18" charset="0"/>
              </a:rPr>
              <a:t>，最短达</a:t>
            </a:r>
            <a:r>
              <a:rPr lang="en-US" altLang="zh-CN" sz="2800" dirty="0">
                <a:solidFill>
                  <a:schemeClr val="tx1"/>
                </a:solidFill>
                <a:latin typeface="Times New Roman" panose="02020603050405020304" pitchFamily="18" charset="0"/>
                <a:ea typeface="宋体" panose="02010600030101010101" pitchFamily="2" charset="-122"/>
              </a:rPr>
              <a:t>6</a:t>
            </a:r>
            <a:r>
              <a:rPr lang="en-US" altLang="zh-CN" sz="2800" i="1" dirty="0">
                <a:solidFill>
                  <a:schemeClr val="tx1"/>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chemeClr val="tx1"/>
                </a:solidFill>
                <a:latin typeface="Times New Roman" panose="02020603050405020304" pitchFamily="18" charset="0"/>
                <a:ea typeface="宋体" panose="02010600030101010101" pitchFamily="2" charset="-122"/>
              </a:rPr>
              <a:t>s</a:t>
            </a:r>
            <a:r>
              <a:rPr lang="zh-CN" altLang="en-US" sz="2800" dirty="0">
                <a:solidFill>
                  <a:schemeClr val="tx1"/>
                </a:solidFill>
                <a:latin typeface="Times New Roman" panose="02020603050405020304" pitchFamily="18" charset="0"/>
                <a:ea typeface="宋体" panose="02010600030101010101" pitchFamily="2" charset="-122"/>
              </a:rPr>
              <a:t>；</a:t>
            </a:r>
            <a:endParaRPr lang="zh-CN" altLang="en-US" sz="2800" dirty="0">
              <a:solidFill>
                <a:schemeClr val="tx1"/>
              </a:solidFill>
              <a:latin typeface="Times New Roman" panose="02020603050405020304" pitchFamily="18" charset="0"/>
              <a:ea typeface="宋体" panose="02010600030101010101" pitchFamily="2" charset="-122"/>
            </a:endParaRPr>
          </a:p>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有较高的</a:t>
            </a:r>
            <a:r>
              <a:rPr lang="zh-CN" altLang="en-US" sz="2800" dirty="0">
                <a:solidFill>
                  <a:srgbClr val="FF0000"/>
                </a:solidFill>
                <a:latin typeface="Times New Roman" panose="02020603050405020304" pitchFamily="18" charset="0"/>
              </a:rPr>
              <a:t>采样</a:t>
            </a:r>
            <a:r>
              <a:rPr lang="en-US" altLang="zh-CN" sz="2800" dirty="0">
                <a:solidFill>
                  <a:srgbClr val="FF0000"/>
                </a:solidFill>
                <a:latin typeface="Times New Roman" panose="02020603050405020304" pitchFamily="18" charset="0"/>
              </a:rPr>
              <a:t>/</a:t>
            </a:r>
            <a:r>
              <a:rPr lang="zh-CN" altLang="en-US" sz="2800" dirty="0">
                <a:solidFill>
                  <a:srgbClr val="FF0000"/>
                </a:solidFill>
                <a:latin typeface="Times New Roman" panose="02020603050405020304" pitchFamily="18" charset="0"/>
              </a:rPr>
              <a:t>保持电流比</a:t>
            </a:r>
            <a:r>
              <a:rPr lang="zh-CN" altLang="en-US" sz="2800" dirty="0">
                <a:solidFill>
                  <a:schemeClr val="tx1"/>
                </a:solidFill>
                <a:latin typeface="Times New Roman" panose="02020603050405020304" pitchFamily="18" charset="0"/>
              </a:rPr>
              <a:t>，可达</a:t>
            </a:r>
            <a:r>
              <a:rPr lang="en-US" altLang="zh-CN" sz="2800" dirty="0">
                <a:solidFill>
                  <a:schemeClr val="tx1"/>
                </a:solidFill>
                <a:latin typeface="Times New Roman" panose="02020603050405020304" pitchFamily="18" charset="0"/>
              </a:rPr>
              <a:t>10</a:t>
            </a:r>
            <a:r>
              <a:rPr lang="en-US" altLang="zh-CN" sz="2800" baseline="30000" dirty="0">
                <a:solidFill>
                  <a:schemeClr val="tx1"/>
                </a:solidFill>
                <a:latin typeface="Times New Roman" panose="02020603050405020304" pitchFamily="18" charset="0"/>
              </a:rPr>
              <a:t>7</a:t>
            </a:r>
            <a:r>
              <a:rPr lang="zh-CN" altLang="en-US" sz="2800" dirty="0">
                <a:solidFill>
                  <a:schemeClr val="tx1"/>
                </a:solidFill>
                <a:latin typeface="Times New Roman" panose="02020603050405020304" pitchFamily="18" charset="0"/>
              </a:rPr>
              <a:t>；</a:t>
            </a:r>
            <a:endParaRPr lang="zh-CN" altLang="en-US" sz="2800" dirty="0">
              <a:solidFill>
                <a:schemeClr val="tx1"/>
              </a:solidFill>
              <a:latin typeface="Times New Roman" panose="02020603050405020304" pitchFamily="18" charset="0"/>
            </a:endParaRPr>
          </a:p>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有较高的输入阻抗，约</a:t>
            </a:r>
            <a:r>
              <a:rPr lang="en-US" altLang="zh-CN" sz="2800" dirty="0">
                <a:solidFill>
                  <a:schemeClr val="tx1"/>
                </a:solidFill>
                <a:latin typeface="Times New Roman" panose="02020603050405020304" pitchFamily="18" charset="0"/>
              </a:rPr>
              <a:t>30M</a:t>
            </a:r>
            <a:r>
              <a:rPr lang="el-GR" altLang="zh-CN" sz="2800" dirty="0">
                <a:solidFill>
                  <a:schemeClr val="tx1"/>
                </a:solidFill>
                <a:latin typeface="Times New Roman" panose="02020603050405020304" pitchFamily="18" charset="0"/>
                <a:cs typeface="Times New Roman" panose="02020603050405020304" pitchFamily="18" charset="0"/>
              </a:rPr>
              <a:t>Ω</a:t>
            </a:r>
            <a:r>
              <a:rPr lang="zh-CN" altLang="en-US" sz="2800" dirty="0">
                <a:solidFill>
                  <a:schemeClr val="tx1"/>
                </a:solidFill>
                <a:latin typeface="Times New Roman" panose="02020603050405020304" pitchFamily="18" charset="0"/>
                <a:cs typeface="Times New Roman" panose="02020603050405020304" pitchFamily="18" charset="0"/>
              </a:rPr>
              <a:t>；</a:t>
            </a:r>
            <a:endParaRPr lang="en-US" altLang="el-GR" sz="2800" dirty="0">
              <a:solidFill>
                <a:schemeClr val="tx1"/>
              </a:solidFill>
              <a:latin typeface="Times New Roman" panose="02020603050405020304" pitchFamily="18" charset="0"/>
              <a:cs typeface="Times New Roman" panose="02020603050405020304" pitchFamily="18" charset="0"/>
            </a:endParaRPr>
          </a:p>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输入信号电平可为电源电压</a:t>
            </a:r>
            <a:r>
              <a:rPr lang="en-US" altLang="zh-CN" sz="2800" dirty="0">
                <a:solidFill>
                  <a:schemeClr val="tx1"/>
                </a:solidFill>
                <a:latin typeface="Times New Roman" panose="02020603050405020304" pitchFamily="18" charset="0"/>
              </a:rPr>
              <a:t>±</a:t>
            </a:r>
            <a:r>
              <a:rPr lang="en-US" altLang="zh-CN" sz="2800" i="1" dirty="0">
                <a:solidFill>
                  <a:schemeClr val="tx1"/>
                </a:solidFill>
                <a:latin typeface="Times New Roman" panose="02020603050405020304" pitchFamily="18" charset="0"/>
              </a:rPr>
              <a:t>U</a:t>
            </a:r>
            <a:r>
              <a:rPr lang="en-US" altLang="zh-CN" sz="2800" baseline="-25000" dirty="0">
                <a:solidFill>
                  <a:schemeClr val="tx1"/>
                </a:solidFill>
                <a:latin typeface="Times New Roman" panose="02020603050405020304" pitchFamily="18" charset="0"/>
              </a:rPr>
              <a:t>S</a:t>
            </a:r>
            <a:r>
              <a:rPr lang="zh-CN" altLang="en-US" sz="2800" dirty="0">
                <a:solidFill>
                  <a:schemeClr val="tx1"/>
                </a:solidFill>
                <a:latin typeface="Times New Roman" panose="02020603050405020304" pitchFamily="18" charset="0"/>
              </a:rPr>
              <a:t>；</a:t>
            </a:r>
            <a:endParaRPr lang="zh-CN" altLang="en-US" sz="2800" dirty="0">
              <a:solidFill>
                <a:schemeClr val="tx1"/>
              </a:solidFill>
              <a:latin typeface="Times New Roman" panose="02020603050405020304" pitchFamily="18" charset="0"/>
            </a:endParaRPr>
          </a:p>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具有相互隔开的模拟地、数字地，从而提高了抗干扰能力；</a:t>
            </a:r>
            <a:endParaRPr lang="zh-CN" altLang="en-US" sz="2800" dirty="0">
              <a:solidFill>
                <a:schemeClr val="tx1"/>
              </a:solidFill>
              <a:latin typeface="Times New Roman" panose="02020603050405020304" pitchFamily="18" charset="0"/>
            </a:endParaRPr>
          </a:p>
          <a:p>
            <a:pPr marL="628650" indent="-628650" eaLnBrk="1" hangingPunct="1">
              <a:spcBef>
                <a:spcPct val="25000"/>
              </a:spcBef>
              <a:buClr>
                <a:srgbClr val="FF0000"/>
              </a:buClr>
              <a:buFont typeface="Wingdings" panose="05000000000000000000" pitchFamily="2" charset="2"/>
              <a:buChar char="u"/>
            </a:pPr>
            <a:r>
              <a:rPr lang="zh-CN" altLang="en-US" sz="2800" dirty="0">
                <a:solidFill>
                  <a:schemeClr val="tx1"/>
                </a:solidFill>
                <a:latin typeface="Times New Roman" panose="02020603050405020304" pitchFamily="18" charset="0"/>
              </a:rPr>
              <a:t>具有差动的逻辑输入端；</a:t>
            </a:r>
            <a:endParaRPr lang="zh-CN" altLang="en-US" sz="2800" dirty="0">
              <a:solidFill>
                <a:schemeClr val="tx1"/>
              </a:solidFill>
              <a:latin typeface="Times New Roman" panose="02020603050405020304" pitchFamily="18" charset="0"/>
            </a:endParaRPr>
          </a:p>
          <a:p>
            <a:pPr marL="628650" indent="-628650" eaLnBrk="1" hangingPunct="1">
              <a:spcBef>
                <a:spcPct val="25000"/>
              </a:spcBef>
              <a:buClr>
                <a:srgbClr val="FF0000"/>
              </a:buClr>
              <a:buFont typeface="Wingdings" panose="05000000000000000000" pitchFamily="2" charset="2"/>
              <a:buChar char="u"/>
            </a:pPr>
            <a:r>
              <a:rPr lang="en-US" altLang="zh-CN" sz="2800" dirty="0">
                <a:solidFill>
                  <a:schemeClr val="tx1"/>
                </a:solidFill>
                <a:latin typeface="Times New Roman" panose="02020603050405020304" pitchFamily="18" charset="0"/>
              </a:rPr>
              <a:t>AD582</a:t>
            </a:r>
            <a:r>
              <a:rPr lang="zh-CN" altLang="en-US" sz="2800" dirty="0">
                <a:solidFill>
                  <a:schemeClr val="tx1"/>
                </a:solidFill>
                <a:latin typeface="Times New Roman" panose="02020603050405020304" pitchFamily="18" charset="0"/>
              </a:rPr>
              <a:t>可与任何独立的运算放大器连接。</a:t>
            </a:r>
            <a:endParaRPr lang="zh-CN" altLang="en-US" sz="2800" dirty="0">
              <a:solidFill>
                <a:schemeClr val="tx1"/>
              </a:solidFill>
              <a:latin typeface="Times New Roman" panose="02020603050405020304" pitchFamily="18" charset="0"/>
            </a:endParaRPr>
          </a:p>
        </p:txBody>
      </p:sp>
      <p:sp>
        <p:nvSpPr>
          <p:cNvPr id="2396182" name="Text Box 22"/>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396184" name="AutoShape 24"/>
          <p:cNvSpPr/>
          <p:nvPr/>
        </p:nvSpPr>
        <p:spPr>
          <a:xfrm>
            <a:off x="4824413" y="887413"/>
            <a:ext cx="2555875" cy="841375"/>
          </a:xfrm>
          <a:prstGeom prst="wedgeRoundRectCallout">
            <a:avLst>
              <a:gd name="adj1" fmla="val -46523"/>
              <a:gd name="adj2" fmla="val 8150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400" dirty="0">
                <a:latin typeface="Times New Roman" panose="02020603050405020304" pitchFamily="18" charset="0"/>
              </a:rPr>
              <a:t>该时间与所选的保持电容有关</a:t>
            </a:r>
            <a:endParaRPr lang="zh-CN" altLang="en-US" sz="2400" dirty="0">
              <a:latin typeface="Times New Roman" panose="02020603050405020304" pitchFamily="18" charset="0"/>
            </a:endParaRPr>
          </a:p>
        </p:txBody>
      </p:sp>
      <p:sp>
        <p:nvSpPr>
          <p:cNvPr id="2396185" name="AutoShape 25"/>
          <p:cNvSpPr/>
          <p:nvPr/>
        </p:nvSpPr>
        <p:spPr>
          <a:xfrm>
            <a:off x="5156200" y="1089025"/>
            <a:ext cx="3448050" cy="1165225"/>
          </a:xfrm>
          <a:prstGeom prst="wedgeRoundRectCallout">
            <a:avLst>
              <a:gd name="adj1" fmla="val -47421"/>
              <a:gd name="adj2" fmla="val 7275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400" dirty="0">
                <a:latin typeface="Times New Roman" panose="02020603050405020304" pitchFamily="18" charset="0"/>
              </a:rPr>
              <a:t>保持电容器充电电流与保持模式时电容漏电流之间的比值</a:t>
            </a:r>
            <a:endParaRPr lang="zh-CN" altLang="en-US" sz="2400" dirty="0">
              <a:latin typeface="Times New Roman" panose="02020603050405020304" pitchFamily="18" charset="0"/>
            </a:endParaRPr>
          </a:p>
        </p:txBody>
      </p:sp>
      <p:sp>
        <p:nvSpPr>
          <p:cNvPr id="2396186" name="AutoShape 26"/>
          <p:cNvSpPr/>
          <p:nvPr/>
        </p:nvSpPr>
        <p:spPr>
          <a:xfrm>
            <a:off x="3635375" y="3025775"/>
            <a:ext cx="4968875" cy="1590675"/>
          </a:xfrm>
          <a:prstGeom prst="wedgeRoundRectCallout">
            <a:avLst>
              <a:gd name="adj1" fmla="val -35273"/>
              <a:gd name="adj2" fmla="val 83931"/>
              <a:gd name="adj3" fmla="val 16667"/>
            </a:avLst>
          </a:prstGeom>
          <a:solidFill>
            <a:schemeClr val="accent1"/>
          </a:solidFill>
          <a:ln w="9525" cap="flat" cmpd="sng">
            <a:solidFill>
              <a:schemeClr val="tx1"/>
            </a:solidFill>
            <a:prstDash val="solid"/>
            <a:miter/>
            <a:headEnd type="none" w="med" len="med"/>
            <a:tailEnd type="none" w="med" len="med"/>
          </a:ln>
        </p:spPr>
        <p:txBody>
          <a:bodyPr/>
          <a:p>
            <a:pPr eaLnBrk="1" hangingPunct="1">
              <a:lnSpc>
                <a:spcPct val="90000"/>
              </a:lnSpc>
            </a:pPr>
            <a:r>
              <a:rPr lang="en-US" altLang="zh-CN" sz="2400" dirty="0">
                <a:solidFill>
                  <a:srgbClr val="FF0000"/>
                </a:solidFill>
                <a:latin typeface="Times New Roman" panose="02020603050405020304" pitchFamily="18" charset="0"/>
              </a:rPr>
              <a:t>L+</a:t>
            </a:r>
            <a:r>
              <a:rPr lang="zh-CN" altLang="en-US" sz="2400" dirty="0">
                <a:latin typeface="Times New Roman" panose="02020603050405020304" pitchFamily="18" charset="0"/>
              </a:rPr>
              <a:t>相对</a:t>
            </a:r>
            <a:r>
              <a:rPr lang="en-US" altLang="zh-CN" sz="2400" dirty="0">
                <a:solidFill>
                  <a:srgbClr val="FF0000"/>
                </a:solidFill>
                <a:latin typeface="Times New Roman" panose="02020603050405020304" pitchFamily="18" charset="0"/>
              </a:rPr>
              <a:t>L-</a:t>
            </a:r>
            <a:r>
              <a:rPr lang="zh-CN" altLang="en-US" sz="2400" dirty="0">
                <a:latin typeface="Times New Roman" panose="02020603050405020304" pitchFamily="18" charset="0"/>
              </a:rPr>
              <a:t>的输入电压在</a:t>
            </a:r>
            <a:r>
              <a:rPr lang="en-US" altLang="zh-CN" sz="2400" dirty="0">
                <a:solidFill>
                  <a:srgbClr val="FF0000"/>
                </a:solidFill>
                <a:latin typeface="Times New Roman" panose="02020603050405020304" pitchFamily="18" charset="0"/>
              </a:rPr>
              <a:t>-6V~0.8V</a:t>
            </a:r>
            <a:r>
              <a:rPr lang="zh-CN" altLang="en-US" sz="2400" dirty="0">
                <a:latin typeface="Times New Roman" panose="02020603050405020304" pitchFamily="18" charset="0"/>
              </a:rPr>
              <a:t>时，处于跟踪模式，</a:t>
            </a:r>
            <a:r>
              <a:rPr lang="en-US" altLang="zh-CN" sz="2400" dirty="0">
                <a:solidFill>
                  <a:srgbClr val="FF0000"/>
                </a:solidFill>
                <a:latin typeface="Times New Roman" panose="02020603050405020304" pitchFamily="18" charset="0"/>
              </a:rPr>
              <a:t>L+</a:t>
            </a:r>
            <a:r>
              <a:rPr lang="zh-CN" altLang="en-US" sz="2400" dirty="0">
                <a:latin typeface="Times New Roman" panose="02020603050405020304" pitchFamily="18" charset="0"/>
              </a:rPr>
              <a:t>相对于</a:t>
            </a:r>
            <a:r>
              <a:rPr lang="en-US" altLang="zh-CN" sz="2400" dirty="0">
                <a:solidFill>
                  <a:srgbClr val="FF0000"/>
                </a:solidFill>
                <a:latin typeface="Times New Roman" panose="02020603050405020304" pitchFamily="18" charset="0"/>
              </a:rPr>
              <a:t>L-</a:t>
            </a:r>
            <a:r>
              <a:rPr lang="zh-CN" altLang="en-US" sz="2400" dirty="0">
                <a:latin typeface="Times New Roman" panose="02020603050405020304" pitchFamily="18" charset="0"/>
              </a:rPr>
              <a:t>的输入电压在</a:t>
            </a:r>
            <a:r>
              <a:rPr lang="en-US" altLang="zh-CN" sz="2400" dirty="0">
                <a:solidFill>
                  <a:srgbClr val="FF0000"/>
                </a:solidFill>
                <a:latin typeface="Times New Roman" panose="02020603050405020304" pitchFamily="18" charset="0"/>
              </a:rPr>
              <a:t>+2V~+</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S</a:t>
            </a:r>
            <a:r>
              <a:rPr lang="en-US" altLang="zh-CN" sz="2400" dirty="0">
                <a:solidFill>
                  <a:srgbClr val="FF0000"/>
                </a:solidFill>
                <a:latin typeface="Times New Roman" panose="02020603050405020304" pitchFamily="18" charset="0"/>
              </a:rPr>
              <a:t>-3V</a:t>
            </a:r>
            <a:r>
              <a:rPr lang="zh-CN" altLang="en-US" sz="2400" dirty="0">
                <a:latin typeface="Times New Roman" panose="02020603050405020304" pitchFamily="18" charset="0"/>
              </a:rPr>
              <a:t>之间时，处于保持模式。</a:t>
            </a:r>
            <a:endParaRPr lang="zh-CN" altLang="en-US" sz="2400" dirty="0">
              <a:latin typeface="Times New Roman" panose="02020603050405020304" pitchFamily="18" charset="0"/>
            </a:endParaRPr>
          </a:p>
        </p:txBody>
      </p:sp>
      <p:sp>
        <p:nvSpPr>
          <p:cNvPr id="41992" name="Text Box 11"/>
          <p:cNvSpPr txBox="1"/>
          <p:nvPr/>
        </p:nvSpPr>
        <p:spPr>
          <a:xfrm>
            <a:off x="358775" y="657225"/>
            <a:ext cx="44545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5.5.1 AD582</a:t>
            </a:r>
            <a:r>
              <a:rPr lang="zh-CN" altLang="en-US" sz="3200" dirty="0">
                <a:latin typeface="Times New Roman" panose="02020603050405020304" pitchFamily="18" charset="0"/>
              </a:rPr>
              <a:t>的实用电路</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6163"/>
                                        </p:tgtEl>
                                        <p:attrNameLst>
                                          <p:attrName>style.visibility</p:attrName>
                                        </p:attrNameLst>
                                      </p:cBhvr>
                                      <p:to>
                                        <p:strVal val="visible"/>
                                      </p:to>
                                    </p:set>
                                    <p:animEffect transition="in" filter="dissolve">
                                      <p:cBhvr>
                                        <p:cTn id="7" dur="500"/>
                                        <p:tgtEl>
                                          <p:spTgt spid="23961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6164">
                                            <p:txEl>
                                              <p:charRg st="0" end="19"/>
                                            </p:txEl>
                                          </p:spTgt>
                                        </p:tgtEl>
                                        <p:attrNameLst>
                                          <p:attrName>style.visibility</p:attrName>
                                        </p:attrNameLst>
                                      </p:cBhvr>
                                      <p:to>
                                        <p:strVal val="visible"/>
                                      </p:to>
                                    </p:set>
                                    <p:animEffect transition="in" filter="dissolve">
                                      <p:cBhvr>
                                        <p:cTn id="12" dur="500"/>
                                        <p:tgtEl>
                                          <p:spTgt spid="2396164">
                                            <p:txEl>
                                              <p:charRg st="0" end="19"/>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6184"/>
                                        </p:tgtEl>
                                        <p:attrNameLst>
                                          <p:attrName>style.visibility</p:attrName>
                                        </p:attrNameLst>
                                      </p:cBhvr>
                                      <p:to>
                                        <p:strVal val="visible"/>
                                      </p:to>
                                    </p:set>
                                    <p:animEffect transition="in" filter="dissolve">
                                      <p:cBhvr>
                                        <p:cTn id="17" dur="500"/>
                                        <p:tgtEl>
                                          <p:spTgt spid="2396184"/>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xit" presetSubtype="10" fill="hold" nodeType="clickEffect">
                                  <p:stCondLst>
                                    <p:cond delay="0"/>
                                  </p:stCondLst>
                                  <p:childTnLst>
                                    <p:animEffect transition="out" filter="blinds(horizontal)">
                                      <p:cBhvr>
                                        <p:cTn id="21" dur="500"/>
                                        <p:tgtEl>
                                          <p:spTgt spid="2396184"/>
                                        </p:tgtEl>
                                      </p:cBhvr>
                                    </p:animEffect>
                                    <p:set>
                                      <p:cBhvr>
                                        <p:cTn id="22" dur="1" fill="hold">
                                          <p:stCondLst>
                                            <p:cond delay="499"/>
                                          </p:stCondLst>
                                        </p:cTn>
                                        <p:tgtEl>
                                          <p:spTgt spid="2396184"/>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96164">
                                            <p:txEl>
                                              <p:charRg st="19" end="39"/>
                                            </p:txEl>
                                          </p:spTgt>
                                        </p:tgtEl>
                                        <p:attrNameLst>
                                          <p:attrName>style.visibility</p:attrName>
                                        </p:attrNameLst>
                                      </p:cBhvr>
                                      <p:to>
                                        <p:strVal val="visible"/>
                                      </p:to>
                                    </p:set>
                                    <p:animEffect transition="in" filter="dissolve">
                                      <p:cBhvr>
                                        <p:cTn id="27" dur="500"/>
                                        <p:tgtEl>
                                          <p:spTgt spid="2396164">
                                            <p:txEl>
                                              <p:charRg st="19" end="39"/>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96185"/>
                                        </p:tgtEl>
                                        <p:attrNameLst>
                                          <p:attrName>style.visibility</p:attrName>
                                        </p:attrNameLst>
                                      </p:cBhvr>
                                      <p:to>
                                        <p:strVal val="visible"/>
                                      </p:to>
                                    </p:set>
                                    <p:animEffect transition="in" filter="dissolve">
                                      <p:cBhvr>
                                        <p:cTn id="32" dur="500"/>
                                        <p:tgtEl>
                                          <p:spTgt spid="2396185"/>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xit" presetSubtype="10" fill="hold" nodeType="clickEffect">
                                  <p:stCondLst>
                                    <p:cond delay="0"/>
                                  </p:stCondLst>
                                  <p:childTnLst>
                                    <p:animEffect transition="out" filter="blinds(horizontal)">
                                      <p:cBhvr>
                                        <p:cTn id="36" dur="500"/>
                                        <p:tgtEl>
                                          <p:spTgt spid="2396185"/>
                                        </p:tgtEl>
                                      </p:cBhvr>
                                    </p:animEffect>
                                    <p:set>
                                      <p:cBhvr>
                                        <p:cTn id="37" dur="1" fill="hold">
                                          <p:stCondLst>
                                            <p:cond delay="499"/>
                                          </p:stCondLst>
                                        </p:cTn>
                                        <p:tgtEl>
                                          <p:spTgt spid="2396185"/>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396164">
                                            <p:txEl>
                                              <p:charRg st="39" end="55"/>
                                            </p:txEl>
                                          </p:spTgt>
                                        </p:tgtEl>
                                        <p:attrNameLst>
                                          <p:attrName>style.visibility</p:attrName>
                                        </p:attrNameLst>
                                      </p:cBhvr>
                                      <p:to>
                                        <p:strVal val="visible"/>
                                      </p:to>
                                    </p:set>
                                    <p:animEffect transition="in" filter="dissolve">
                                      <p:cBhvr>
                                        <p:cTn id="42" dur="500"/>
                                        <p:tgtEl>
                                          <p:spTgt spid="2396164">
                                            <p:txEl>
                                              <p:charRg st="39" end="55"/>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2396164">
                                            <p:txEl>
                                              <p:charRg st="55" end="72"/>
                                            </p:txEl>
                                          </p:spTgt>
                                        </p:tgtEl>
                                        <p:attrNameLst>
                                          <p:attrName>style.visibility</p:attrName>
                                        </p:attrNameLst>
                                      </p:cBhvr>
                                      <p:to>
                                        <p:strVal val="visible"/>
                                      </p:to>
                                    </p:set>
                                    <p:animEffect transition="in" filter="dissolve">
                                      <p:cBhvr>
                                        <p:cTn id="47" dur="500"/>
                                        <p:tgtEl>
                                          <p:spTgt spid="2396164">
                                            <p:txEl>
                                              <p:charRg st="55" end="72"/>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396164">
                                            <p:txEl>
                                              <p:charRg st="72" end="99"/>
                                            </p:txEl>
                                          </p:spTgt>
                                        </p:tgtEl>
                                        <p:attrNameLst>
                                          <p:attrName>style.visibility</p:attrName>
                                        </p:attrNameLst>
                                      </p:cBhvr>
                                      <p:to>
                                        <p:strVal val="visible"/>
                                      </p:to>
                                    </p:set>
                                    <p:animEffect transition="in" filter="dissolve">
                                      <p:cBhvr>
                                        <p:cTn id="52" dur="500"/>
                                        <p:tgtEl>
                                          <p:spTgt spid="2396164">
                                            <p:txEl>
                                              <p:charRg st="72" end="99"/>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396164">
                                            <p:txEl>
                                              <p:charRg st="99" end="111"/>
                                            </p:txEl>
                                          </p:spTgt>
                                        </p:tgtEl>
                                        <p:attrNameLst>
                                          <p:attrName>style.visibility</p:attrName>
                                        </p:attrNameLst>
                                      </p:cBhvr>
                                      <p:to>
                                        <p:strVal val="visible"/>
                                      </p:to>
                                    </p:set>
                                    <p:animEffect transition="in" filter="dissolve">
                                      <p:cBhvr>
                                        <p:cTn id="57" dur="500"/>
                                        <p:tgtEl>
                                          <p:spTgt spid="2396164">
                                            <p:txEl>
                                              <p:charRg st="99" end="111"/>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2396186"/>
                                        </p:tgtEl>
                                        <p:attrNameLst>
                                          <p:attrName>style.visibility</p:attrName>
                                        </p:attrNameLst>
                                      </p:cBhvr>
                                      <p:to>
                                        <p:strVal val="visible"/>
                                      </p:to>
                                    </p:set>
                                    <p:animEffect transition="in" filter="dissolve">
                                      <p:cBhvr>
                                        <p:cTn id="62" dur="500"/>
                                        <p:tgtEl>
                                          <p:spTgt spid="2396186"/>
                                        </p:tgtEl>
                                      </p:cBhvr>
                                    </p:animEffect>
                                  </p:childTnLst>
                                </p:cTn>
                              </p:par>
                            </p:childTnLst>
                          </p:cTn>
                        </p:par>
                      </p:childTnLst>
                    </p:cTn>
                  </p:par>
                  <p:par>
                    <p:cTn id="63" fill="hold">
                      <p:stCondLst>
                        <p:cond delay="indefinite"/>
                      </p:stCondLst>
                      <p:childTnLst>
                        <p:par>
                          <p:cTn id="64" fill="hold">
                            <p:stCondLst>
                              <p:cond delay="0"/>
                            </p:stCondLst>
                            <p:childTnLst>
                              <p:par>
                                <p:cTn id="65" presetID="3" presetClass="exit" presetSubtype="10" fill="hold" nodeType="clickEffect">
                                  <p:stCondLst>
                                    <p:cond delay="0"/>
                                  </p:stCondLst>
                                  <p:childTnLst>
                                    <p:animEffect transition="out" filter="blinds(horizontal)">
                                      <p:cBhvr>
                                        <p:cTn id="66" dur="500"/>
                                        <p:tgtEl>
                                          <p:spTgt spid="2396186"/>
                                        </p:tgtEl>
                                      </p:cBhvr>
                                    </p:animEffect>
                                    <p:set>
                                      <p:cBhvr>
                                        <p:cTn id="67" dur="1" fill="hold">
                                          <p:stCondLst>
                                            <p:cond delay="499"/>
                                          </p:stCondLst>
                                        </p:cTn>
                                        <p:tgtEl>
                                          <p:spTgt spid="2396186"/>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2396164">
                                            <p:txEl>
                                              <p:charRg st="111" end="132"/>
                                            </p:txEl>
                                          </p:spTgt>
                                        </p:tgtEl>
                                        <p:attrNameLst>
                                          <p:attrName>style.visibility</p:attrName>
                                        </p:attrNameLst>
                                      </p:cBhvr>
                                      <p:to>
                                        <p:strVal val="visible"/>
                                      </p:to>
                                    </p:set>
                                    <p:animEffect transition="in" filter="dissolve">
                                      <p:cBhvr>
                                        <p:cTn id="72" dur="500"/>
                                        <p:tgtEl>
                                          <p:spTgt spid="2396164">
                                            <p:txEl>
                                              <p:charRg st="111" end="13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163" grpId="0"/>
      <p:bldP spid="2396184" grpId="0" animBg="1"/>
      <p:bldP spid="2396184" grpId="1" animBg="1"/>
      <p:bldP spid="2396185" grpId="0" animBg="1"/>
      <p:bldP spid="2396185" grpId="1" animBg="1"/>
      <p:bldP spid="2396186" grpId="0" animBg="1"/>
      <p:bldP spid="2396186" grpId="1"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7194" name="Text Box 10"/>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97458" name="Group 274"/>
          <p:cNvGrpSpPr/>
          <p:nvPr/>
        </p:nvGrpSpPr>
        <p:grpSpPr>
          <a:xfrm>
            <a:off x="2954338" y="1484313"/>
            <a:ext cx="6081712" cy="4246562"/>
            <a:chOff x="975" y="1043"/>
            <a:chExt cx="3831" cy="2675"/>
          </a:xfrm>
        </p:grpSpPr>
        <p:sp>
          <p:nvSpPr>
            <p:cNvPr id="43018" name="Rectangle 273"/>
            <p:cNvSpPr/>
            <p:nvPr/>
          </p:nvSpPr>
          <p:spPr>
            <a:xfrm>
              <a:off x="975" y="1043"/>
              <a:ext cx="3831" cy="267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19" name="AutoShape 271"/>
            <p:cNvSpPr/>
            <p:nvPr/>
          </p:nvSpPr>
          <p:spPr>
            <a:xfrm rot="5400000">
              <a:off x="2931" y="1959"/>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20" name="AutoShape 270"/>
            <p:cNvSpPr/>
            <p:nvPr/>
          </p:nvSpPr>
          <p:spPr>
            <a:xfrm rot="5400000">
              <a:off x="1897" y="1961"/>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21" name="Rectangle 112"/>
            <p:cNvSpPr/>
            <p:nvPr/>
          </p:nvSpPr>
          <p:spPr>
            <a:xfrm>
              <a:off x="2457" y="1587"/>
              <a:ext cx="200" cy="108"/>
            </a:xfrm>
            <a:prstGeom prst="rect">
              <a:avLst/>
            </a:prstGeom>
            <a:solidFill>
              <a:srgbClr val="FFFFFF"/>
            </a:solidFill>
            <a:ln w="0" cap="flat" cmpd="sng">
              <a:solidFill>
                <a:srgbClr val="FFFF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22" name="Line 116"/>
            <p:cNvSpPr/>
            <p:nvPr/>
          </p:nvSpPr>
          <p:spPr>
            <a:xfrm>
              <a:off x="2552" y="1780"/>
              <a:ext cx="0" cy="334"/>
            </a:xfrm>
            <a:prstGeom prst="line">
              <a:avLst/>
            </a:prstGeom>
            <a:ln w="12700" cap="flat" cmpd="sng">
              <a:solidFill>
                <a:srgbClr val="FF0000"/>
              </a:solidFill>
              <a:prstDash val="dash"/>
              <a:headEnd type="none" w="med" len="med"/>
              <a:tailEnd type="none" w="med" len="med"/>
            </a:ln>
          </p:spPr>
        </p:sp>
        <p:sp>
          <p:nvSpPr>
            <p:cNvPr id="43023" name="Line 125"/>
            <p:cNvSpPr/>
            <p:nvPr/>
          </p:nvSpPr>
          <p:spPr>
            <a:xfrm>
              <a:off x="2267" y="2149"/>
              <a:ext cx="166" cy="0"/>
            </a:xfrm>
            <a:prstGeom prst="line">
              <a:avLst/>
            </a:prstGeom>
            <a:ln w="0" cap="flat" cmpd="sng">
              <a:solidFill>
                <a:srgbClr val="000000"/>
              </a:solidFill>
              <a:prstDash val="solid"/>
              <a:headEnd type="none" w="med" len="med"/>
              <a:tailEnd type="none" w="med" len="med"/>
            </a:ln>
          </p:spPr>
        </p:sp>
        <p:sp>
          <p:nvSpPr>
            <p:cNvPr id="43024" name="Oval 126"/>
            <p:cNvSpPr/>
            <p:nvPr/>
          </p:nvSpPr>
          <p:spPr>
            <a:xfrm>
              <a:off x="2433" y="212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25" name="Oval 127"/>
            <p:cNvSpPr/>
            <p:nvPr/>
          </p:nvSpPr>
          <p:spPr>
            <a:xfrm>
              <a:off x="2623" y="2126"/>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26" name="Line 128"/>
            <p:cNvSpPr/>
            <p:nvPr/>
          </p:nvSpPr>
          <p:spPr>
            <a:xfrm flipV="1">
              <a:off x="2493" y="2055"/>
              <a:ext cx="178" cy="88"/>
            </a:xfrm>
            <a:prstGeom prst="line">
              <a:avLst/>
            </a:prstGeom>
            <a:ln w="19050" cap="flat" cmpd="sng">
              <a:solidFill>
                <a:srgbClr val="000000"/>
              </a:solidFill>
              <a:prstDash val="solid"/>
              <a:headEnd type="none" w="med" len="med"/>
              <a:tailEnd type="none" w="med" len="med"/>
            </a:ln>
          </p:spPr>
        </p:sp>
        <p:sp>
          <p:nvSpPr>
            <p:cNvPr id="43027" name="Line 129"/>
            <p:cNvSpPr/>
            <p:nvPr/>
          </p:nvSpPr>
          <p:spPr>
            <a:xfrm>
              <a:off x="2682" y="2149"/>
              <a:ext cx="250" cy="0"/>
            </a:xfrm>
            <a:prstGeom prst="line">
              <a:avLst/>
            </a:prstGeom>
            <a:ln w="12700" cap="flat" cmpd="sng">
              <a:solidFill>
                <a:srgbClr val="000080"/>
              </a:solidFill>
              <a:prstDash val="solid"/>
              <a:headEnd type="none" w="med" len="med"/>
              <a:tailEnd type="none" w="med" len="med"/>
            </a:ln>
          </p:spPr>
        </p:sp>
        <p:sp>
          <p:nvSpPr>
            <p:cNvPr id="43028" name="Line 130"/>
            <p:cNvSpPr/>
            <p:nvPr/>
          </p:nvSpPr>
          <p:spPr>
            <a:xfrm>
              <a:off x="3311" y="2149"/>
              <a:ext cx="261" cy="0"/>
            </a:xfrm>
            <a:prstGeom prst="line">
              <a:avLst/>
            </a:prstGeom>
            <a:ln w="12700" cap="flat" cmpd="sng">
              <a:solidFill>
                <a:srgbClr val="000080"/>
              </a:solidFill>
              <a:prstDash val="solid"/>
              <a:headEnd type="none" w="med" len="med"/>
              <a:tailEnd type="none" w="med" len="med"/>
            </a:ln>
          </p:spPr>
        </p:sp>
        <p:sp>
          <p:nvSpPr>
            <p:cNvPr id="43029" name="Line 131"/>
            <p:cNvSpPr/>
            <p:nvPr/>
          </p:nvSpPr>
          <p:spPr>
            <a:xfrm flipH="1">
              <a:off x="1697" y="2091"/>
              <a:ext cx="190" cy="0"/>
            </a:xfrm>
            <a:prstGeom prst="line">
              <a:avLst/>
            </a:prstGeom>
            <a:ln w="12700" cap="flat" cmpd="sng">
              <a:solidFill>
                <a:srgbClr val="000080"/>
              </a:solidFill>
              <a:prstDash val="solid"/>
              <a:headEnd type="none" w="med" len="med"/>
              <a:tailEnd type="none" w="med" len="med"/>
            </a:ln>
          </p:spPr>
        </p:sp>
        <p:sp>
          <p:nvSpPr>
            <p:cNvPr id="43030" name="Line 132"/>
            <p:cNvSpPr/>
            <p:nvPr/>
          </p:nvSpPr>
          <p:spPr>
            <a:xfrm flipV="1">
              <a:off x="1697" y="1868"/>
              <a:ext cx="0" cy="223"/>
            </a:xfrm>
            <a:prstGeom prst="line">
              <a:avLst/>
            </a:prstGeom>
            <a:ln w="12700" cap="flat" cmpd="sng">
              <a:solidFill>
                <a:srgbClr val="000080"/>
              </a:solidFill>
              <a:prstDash val="solid"/>
              <a:headEnd type="none" w="med" len="med"/>
              <a:tailEnd type="none" w="med" len="med"/>
            </a:ln>
          </p:spPr>
        </p:sp>
        <p:sp>
          <p:nvSpPr>
            <p:cNvPr id="43031" name="Line 133"/>
            <p:cNvSpPr/>
            <p:nvPr/>
          </p:nvSpPr>
          <p:spPr>
            <a:xfrm>
              <a:off x="1697" y="1868"/>
              <a:ext cx="1881" cy="0"/>
            </a:xfrm>
            <a:prstGeom prst="line">
              <a:avLst/>
            </a:prstGeom>
            <a:ln w="12700" cap="flat" cmpd="sng">
              <a:solidFill>
                <a:srgbClr val="000080"/>
              </a:solidFill>
              <a:prstDash val="solid"/>
              <a:headEnd type="none" w="med" len="med"/>
              <a:tailEnd type="none" w="med" len="med"/>
            </a:ln>
          </p:spPr>
        </p:sp>
        <p:sp>
          <p:nvSpPr>
            <p:cNvPr id="43032" name="Oval 134"/>
            <p:cNvSpPr/>
            <p:nvPr/>
          </p:nvSpPr>
          <p:spPr>
            <a:xfrm>
              <a:off x="2518" y="1377"/>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3" name="Oval 135"/>
            <p:cNvSpPr/>
            <p:nvPr/>
          </p:nvSpPr>
          <p:spPr>
            <a:xfrm>
              <a:off x="2898" y="1377"/>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4" name="Oval 136"/>
            <p:cNvSpPr/>
            <p:nvPr/>
          </p:nvSpPr>
          <p:spPr>
            <a:xfrm>
              <a:off x="3572" y="212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5" name="Oval 137"/>
            <p:cNvSpPr/>
            <p:nvPr/>
          </p:nvSpPr>
          <p:spPr>
            <a:xfrm>
              <a:off x="3572" y="1845"/>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6" name="Oval 138"/>
            <p:cNvSpPr/>
            <p:nvPr/>
          </p:nvSpPr>
          <p:spPr>
            <a:xfrm>
              <a:off x="3567" y="2495"/>
              <a:ext cx="60" cy="59"/>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7" name="Oval 139"/>
            <p:cNvSpPr/>
            <p:nvPr/>
          </p:nvSpPr>
          <p:spPr>
            <a:xfrm>
              <a:off x="1954"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8" name="Oval 140"/>
            <p:cNvSpPr/>
            <p:nvPr/>
          </p:nvSpPr>
          <p:spPr>
            <a:xfrm>
              <a:off x="1431" y="219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39" name="Oval 141"/>
            <p:cNvSpPr/>
            <p:nvPr/>
          </p:nvSpPr>
          <p:spPr>
            <a:xfrm>
              <a:off x="2333" y="2681"/>
              <a:ext cx="60"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40" name="Oval 142"/>
            <p:cNvSpPr/>
            <p:nvPr/>
          </p:nvSpPr>
          <p:spPr>
            <a:xfrm>
              <a:off x="2718"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41" name="Line 143"/>
            <p:cNvSpPr/>
            <p:nvPr/>
          </p:nvSpPr>
          <p:spPr>
            <a:xfrm>
              <a:off x="1982" y="2301"/>
              <a:ext cx="0" cy="386"/>
            </a:xfrm>
            <a:prstGeom prst="line">
              <a:avLst/>
            </a:prstGeom>
            <a:ln w="12700" cap="flat" cmpd="sng">
              <a:solidFill>
                <a:srgbClr val="000080"/>
              </a:solidFill>
              <a:prstDash val="solid"/>
              <a:headEnd type="none" w="med" len="med"/>
              <a:tailEnd type="none" w="med" len="med"/>
            </a:ln>
          </p:spPr>
        </p:sp>
        <p:sp>
          <p:nvSpPr>
            <p:cNvPr id="43042" name="Line 144"/>
            <p:cNvSpPr/>
            <p:nvPr/>
          </p:nvSpPr>
          <p:spPr>
            <a:xfrm>
              <a:off x="2172" y="2196"/>
              <a:ext cx="0" cy="327"/>
            </a:xfrm>
            <a:prstGeom prst="line">
              <a:avLst/>
            </a:prstGeom>
            <a:ln w="12700" cap="flat" cmpd="sng">
              <a:solidFill>
                <a:srgbClr val="000080"/>
              </a:solidFill>
              <a:prstDash val="solid"/>
              <a:headEnd type="none" w="med" len="med"/>
              <a:tailEnd type="none" w="med" len="med"/>
            </a:ln>
          </p:spPr>
        </p:sp>
        <p:sp>
          <p:nvSpPr>
            <p:cNvPr id="43043" name="Line 145"/>
            <p:cNvSpPr/>
            <p:nvPr/>
          </p:nvSpPr>
          <p:spPr>
            <a:xfrm>
              <a:off x="2362" y="2523"/>
              <a:ext cx="0" cy="164"/>
            </a:xfrm>
            <a:prstGeom prst="line">
              <a:avLst/>
            </a:prstGeom>
            <a:ln w="12700" cap="flat" cmpd="sng">
              <a:solidFill>
                <a:srgbClr val="000080"/>
              </a:solidFill>
              <a:prstDash val="solid"/>
              <a:headEnd type="none" w="med" len="med"/>
              <a:tailEnd type="none" w="med" len="med"/>
            </a:ln>
          </p:spPr>
        </p:sp>
        <p:sp>
          <p:nvSpPr>
            <p:cNvPr id="43044" name="Oval 146"/>
            <p:cNvSpPr/>
            <p:nvPr/>
          </p:nvSpPr>
          <p:spPr>
            <a:xfrm>
              <a:off x="3088"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45" name="Line 147"/>
            <p:cNvSpPr/>
            <p:nvPr/>
          </p:nvSpPr>
          <p:spPr>
            <a:xfrm>
              <a:off x="2932" y="1435"/>
              <a:ext cx="0" cy="250"/>
            </a:xfrm>
            <a:prstGeom prst="line">
              <a:avLst/>
            </a:prstGeom>
            <a:ln w="12700" cap="flat" cmpd="sng">
              <a:solidFill>
                <a:srgbClr val="000080"/>
              </a:solidFill>
              <a:prstDash val="solid"/>
              <a:headEnd type="none" w="med" len="med"/>
              <a:tailEnd type="none" w="med" len="med"/>
            </a:ln>
          </p:spPr>
        </p:sp>
        <p:sp>
          <p:nvSpPr>
            <p:cNvPr id="43046" name="Line 148"/>
            <p:cNvSpPr/>
            <p:nvPr/>
          </p:nvSpPr>
          <p:spPr>
            <a:xfrm>
              <a:off x="1460" y="1400"/>
              <a:ext cx="1068" cy="0"/>
            </a:xfrm>
            <a:prstGeom prst="line">
              <a:avLst/>
            </a:prstGeom>
            <a:ln w="19050" cap="flat" cmpd="sng">
              <a:solidFill>
                <a:srgbClr val="FF00FF"/>
              </a:solidFill>
              <a:prstDash val="dash"/>
              <a:headEnd type="none" w="med" len="med"/>
              <a:tailEnd type="none" w="med" len="med"/>
            </a:ln>
          </p:spPr>
        </p:sp>
        <p:sp>
          <p:nvSpPr>
            <p:cNvPr id="43047" name="Line 149"/>
            <p:cNvSpPr/>
            <p:nvPr/>
          </p:nvSpPr>
          <p:spPr>
            <a:xfrm>
              <a:off x="2582" y="1400"/>
              <a:ext cx="326" cy="0"/>
            </a:xfrm>
            <a:prstGeom prst="line">
              <a:avLst/>
            </a:prstGeom>
            <a:ln w="19050" cap="flat" cmpd="sng">
              <a:solidFill>
                <a:srgbClr val="FF00FF"/>
              </a:solidFill>
              <a:prstDash val="dash"/>
              <a:headEnd type="none" w="med" len="med"/>
              <a:tailEnd type="none" w="med" len="med"/>
            </a:ln>
          </p:spPr>
        </p:sp>
        <p:sp>
          <p:nvSpPr>
            <p:cNvPr id="43048" name="Line 150"/>
            <p:cNvSpPr/>
            <p:nvPr/>
          </p:nvSpPr>
          <p:spPr>
            <a:xfrm>
              <a:off x="2967" y="1400"/>
              <a:ext cx="629" cy="0"/>
            </a:xfrm>
            <a:prstGeom prst="line">
              <a:avLst/>
            </a:prstGeom>
            <a:ln w="19050" cap="flat" cmpd="sng">
              <a:solidFill>
                <a:srgbClr val="FF00FF"/>
              </a:solidFill>
              <a:prstDash val="dash"/>
              <a:headEnd type="none" w="med" len="med"/>
              <a:tailEnd type="none" w="med" len="med"/>
            </a:ln>
          </p:spPr>
        </p:sp>
        <p:sp>
          <p:nvSpPr>
            <p:cNvPr id="43049" name="Line 151"/>
            <p:cNvSpPr/>
            <p:nvPr/>
          </p:nvSpPr>
          <p:spPr>
            <a:xfrm>
              <a:off x="3596" y="1400"/>
              <a:ext cx="0" cy="457"/>
            </a:xfrm>
            <a:prstGeom prst="line">
              <a:avLst/>
            </a:prstGeom>
            <a:ln w="19050" cap="flat" cmpd="sng">
              <a:solidFill>
                <a:srgbClr val="FF00FF"/>
              </a:solidFill>
              <a:prstDash val="dash"/>
              <a:headEnd type="none" w="med" len="med"/>
              <a:tailEnd type="none" w="med" len="med"/>
            </a:ln>
          </p:spPr>
        </p:sp>
        <p:sp>
          <p:nvSpPr>
            <p:cNvPr id="43050" name="Line 152"/>
            <p:cNvSpPr/>
            <p:nvPr/>
          </p:nvSpPr>
          <p:spPr>
            <a:xfrm>
              <a:off x="3596" y="1897"/>
              <a:ext cx="0" cy="229"/>
            </a:xfrm>
            <a:prstGeom prst="line">
              <a:avLst/>
            </a:prstGeom>
            <a:ln w="19050" cap="flat" cmpd="sng">
              <a:solidFill>
                <a:srgbClr val="FF00FF"/>
              </a:solidFill>
              <a:prstDash val="dash"/>
              <a:headEnd type="none" w="med" len="med"/>
              <a:tailEnd type="none" w="med" len="med"/>
            </a:ln>
          </p:spPr>
        </p:sp>
        <p:sp>
          <p:nvSpPr>
            <p:cNvPr id="43051" name="Line 153"/>
            <p:cNvSpPr/>
            <p:nvPr/>
          </p:nvSpPr>
          <p:spPr>
            <a:xfrm>
              <a:off x="3596" y="2184"/>
              <a:ext cx="0" cy="318"/>
            </a:xfrm>
            <a:prstGeom prst="line">
              <a:avLst/>
            </a:prstGeom>
            <a:ln w="19050" cap="flat" cmpd="sng">
              <a:solidFill>
                <a:srgbClr val="FF00FF"/>
              </a:solidFill>
              <a:prstDash val="dash"/>
              <a:headEnd type="none" w="med" len="med"/>
              <a:tailEnd type="none" w="med" len="med"/>
            </a:ln>
          </p:spPr>
        </p:sp>
        <p:sp>
          <p:nvSpPr>
            <p:cNvPr id="43052" name="Line 154"/>
            <p:cNvSpPr/>
            <p:nvPr/>
          </p:nvSpPr>
          <p:spPr>
            <a:xfrm>
              <a:off x="3596" y="2559"/>
              <a:ext cx="0" cy="157"/>
            </a:xfrm>
            <a:prstGeom prst="line">
              <a:avLst/>
            </a:prstGeom>
            <a:ln w="19050" cap="flat" cmpd="sng">
              <a:solidFill>
                <a:srgbClr val="FF00FF"/>
              </a:solidFill>
              <a:prstDash val="dash"/>
              <a:headEnd type="none" w="med" len="med"/>
              <a:tailEnd type="none" w="med" len="med"/>
            </a:ln>
          </p:spPr>
        </p:sp>
        <p:sp>
          <p:nvSpPr>
            <p:cNvPr id="43053" name="Line 155"/>
            <p:cNvSpPr/>
            <p:nvPr/>
          </p:nvSpPr>
          <p:spPr>
            <a:xfrm flipH="1">
              <a:off x="3145" y="2711"/>
              <a:ext cx="451" cy="0"/>
            </a:xfrm>
            <a:prstGeom prst="line">
              <a:avLst/>
            </a:prstGeom>
            <a:ln w="19050" cap="flat" cmpd="sng">
              <a:solidFill>
                <a:srgbClr val="FF00FF"/>
              </a:solidFill>
              <a:prstDash val="dash"/>
              <a:headEnd type="none" w="med" len="med"/>
              <a:tailEnd type="none" w="med" len="med"/>
            </a:ln>
          </p:spPr>
        </p:sp>
        <p:sp>
          <p:nvSpPr>
            <p:cNvPr id="43054" name="Line 156"/>
            <p:cNvSpPr/>
            <p:nvPr/>
          </p:nvSpPr>
          <p:spPr>
            <a:xfrm flipH="1">
              <a:off x="2777" y="2711"/>
              <a:ext cx="309" cy="0"/>
            </a:xfrm>
            <a:prstGeom prst="line">
              <a:avLst/>
            </a:prstGeom>
            <a:ln w="19050" cap="flat" cmpd="sng">
              <a:solidFill>
                <a:srgbClr val="FF00FF"/>
              </a:solidFill>
              <a:prstDash val="dash"/>
              <a:headEnd type="none" w="med" len="med"/>
              <a:tailEnd type="none" w="med" len="med"/>
            </a:ln>
          </p:spPr>
        </p:sp>
        <p:sp>
          <p:nvSpPr>
            <p:cNvPr id="43055" name="Line 157"/>
            <p:cNvSpPr/>
            <p:nvPr/>
          </p:nvSpPr>
          <p:spPr>
            <a:xfrm>
              <a:off x="2398" y="2711"/>
              <a:ext cx="320" cy="0"/>
            </a:xfrm>
            <a:prstGeom prst="line">
              <a:avLst/>
            </a:prstGeom>
            <a:ln w="19050" cap="flat" cmpd="sng">
              <a:solidFill>
                <a:srgbClr val="FF00FF"/>
              </a:solidFill>
              <a:prstDash val="dash"/>
              <a:headEnd type="none" w="med" len="med"/>
              <a:tailEnd type="none" w="med" len="med"/>
            </a:ln>
          </p:spPr>
        </p:sp>
        <p:sp>
          <p:nvSpPr>
            <p:cNvPr id="43056" name="Line 158"/>
            <p:cNvSpPr/>
            <p:nvPr/>
          </p:nvSpPr>
          <p:spPr>
            <a:xfrm flipV="1">
              <a:off x="2014" y="2711"/>
              <a:ext cx="324" cy="2"/>
            </a:xfrm>
            <a:prstGeom prst="line">
              <a:avLst/>
            </a:prstGeom>
            <a:ln w="19050" cap="flat" cmpd="sng">
              <a:solidFill>
                <a:srgbClr val="FF00FF"/>
              </a:solidFill>
              <a:prstDash val="dash"/>
              <a:headEnd type="none" w="med" len="med"/>
              <a:tailEnd type="none" w="med" len="med"/>
            </a:ln>
          </p:spPr>
        </p:sp>
        <p:sp>
          <p:nvSpPr>
            <p:cNvPr id="43057" name="Line 159"/>
            <p:cNvSpPr/>
            <p:nvPr/>
          </p:nvSpPr>
          <p:spPr>
            <a:xfrm>
              <a:off x="1460" y="1400"/>
              <a:ext cx="0" cy="796"/>
            </a:xfrm>
            <a:prstGeom prst="line">
              <a:avLst/>
            </a:prstGeom>
            <a:ln w="19050" cap="flat" cmpd="sng">
              <a:solidFill>
                <a:srgbClr val="FF00FF"/>
              </a:solidFill>
              <a:prstDash val="dash"/>
              <a:headEnd type="none" w="med" len="med"/>
              <a:tailEnd type="none" w="med" len="med"/>
            </a:ln>
          </p:spPr>
        </p:sp>
        <p:sp>
          <p:nvSpPr>
            <p:cNvPr id="43058" name="Line 160"/>
            <p:cNvSpPr/>
            <p:nvPr/>
          </p:nvSpPr>
          <p:spPr>
            <a:xfrm>
              <a:off x="1460" y="2252"/>
              <a:ext cx="0" cy="459"/>
            </a:xfrm>
            <a:prstGeom prst="line">
              <a:avLst/>
            </a:prstGeom>
            <a:ln w="19050" cap="flat" cmpd="sng">
              <a:solidFill>
                <a:srgbClr val="FF00FF"/>
              </a:solidFill>
              <a:prstDash val="dash"/>
              <a:headEnd type="none" w="med" len="med"/>
              <a:tailEnd type="none" w="med" len="med"/>
            </a:ln>
          </p:spPr>
        </p:sp>
        <p:sp>
          <p:nvSpPr>
            <p:cNvPr id="43059" name="Line 161"/>
            <p:cNvSpPr/>
            <p:nvPr/>
          </p:nvSpPr>
          <p:spPr>
            <a:xfrm>
              <a:off x="1460" y="2711"/>
              <a:ext cx="499" cy="0"/>
            </a:xfrm>
            <a:prstGeom prst="line">
              <a:avLst/>
            </a:prstGeom>
            <a:ln w="19050" cap="flat" cmpd="sng">
              <a:solidFill>
                <a:srgbClr val="FF00FF"/>
              </a:solidFill>
              <a:prstDash val="dash"/>
              <a:headEnd type="none" w="med" len="med"/>
              <a:tailEnd type="none" w="med" len="med"/>
            </a:ln>
          </p:spPr>
        </p:sp>
        <p:sp>
          <p:nvSpPr>
            <p:cNvPr id="43060" name="Line 162"/>
            <p:cNvSpPr/>
            <p:nvPr/>
          </p:nvSpPr>
          <p:spPr>
            <a:xfrm>
              <a:off x="2742" y="2740"/>
              <a:ext cx="0" cy="439"/>
            </a:xfrm>
            <a:prstGeom prst="line">
              <a:avLst/>
            </a:prstGeom>
            <a:ln w="12700" cap="flat" cmpd="sng">
              <a:solidFill>
                <a:srgbClr val="000080"/>
              </a:solidFill>
              <a:prstDash val="solid"/>
              <a:headEnd type="none" w="med" len="med"/>
              <a:tailEnd type="none" w="med" len="med"/>
            </a:ln>
          </p:spPr>
        </p:sp>
        <p:sp>
          <p:nvSpPr>
            <p:cNvPr id="43061" name="Line 163"/>
            <p:cNvSpPr/>
            <p:nvPr/>
          </p:nvSpPr>
          <p:spPr>
            <a:xfrm>
              <a:off x="2742" y="2898"/>
              <a:ext cx="154" cy="0"/>
            </a:xfrm>
            <a:prstGeom prst="line">
              <a:avLst/>
            </a:prstGeom>
            <a:ln w="12700" cap="flat" cmpd="sng">
              <a:solidFill>
                <a:srgbClr val="000080"/>
              </a:solidFill>
              <a:prstDash val="solid"/>
              <a:headEnd type="none" w="med" len="med"/>
              <a:tailEnd type="none" w="med" len="med"/>
            </a:ln>
          </p:spPr>
        </p:sp>
        <p:sp>
          <p:nvSpPr>
            <p:cNvPr id="43062" name="Line 164"/>
            <p:cNvSpPr/>
            <p:nvPr/>
          </p:nvSpPr>
          <p:spPr>
            <a:xfrm>
              <a:off x="2896" y="2898"/>
              <a:ext cx="0" cy="82"/>
            </a:xfrm>
            <a:prstGeom prst="line">
              <a:avLst/>
            </a:prstGeom>
            <a:ln w="12700" cap="flat" cmpd="sng">
              <a:solidFill>
                <a:srgbClr val="000080"/>
              </a:solidFill>
              <a:prstDash val="solid"/>
              <a:headEnd type="none" w="med" len="med"/>
              <a:tailEnd type="none" w="med" len="med"/>
            </a:ln>
          </p:spPr>
        </p:sp>
        <p:sp>
          <p:nvSpPr>
            <p:cNvPr id="43063" name="Line 165"/>
            <p:cNvSpPr/>
            <p:nvPr/>
          </p:nvSpPr>
          <p:spPr>
            <a:xfrm>
              <a:off x="2849" y="2980"/>
              <a:ext cx="106" cy="0"/>
            </a:xfrm>
            <a:prstGeom prst="line">
              <a:avLst/>
            </a:prstGeom>
            <a:ln w="19050" cap="flat" cmpd="sng">
              <a:solidFill>
                <a:srgbClr val="000000"/>
              </a:solidFill>
              <a:prstDash val="solid"/>
              <a:headEnd type="none" w="med" len="med"/>
              <a:tailEnd type="none" w="med" len="med"/>
            </a:ln>
          </p:spPr>
        </p:sp>
        <p:sp>
          <p:nvSpPr>
            <p:cNvPr id="43064" name="Line 166"/>
            <p:cNvSpPr/>
            <p:nvPr/>
          </p:nvSpPr>
          <p:spPr>
            <a:xfrm>
              <a:off x="2849" y="3003"/>
              <a:ext cx="106" cy="0"/>
            </a:xfrm>
            <a:prstGeom prst="line">
              <a:avLst/>
            </a:prstGeom>
            <a:ln w="19050" cap="flat" cmpd="sng">
              <a:solidFill>
                <a:srgbClr val="000000"/>
              </a:solidFill>
              <a:prstDash val="solid"/>
              <a:headEnd type="none" w="med" len="med"/>
              <a:tailEnd type="none" w="med" len="med"/>
            </a:ln>
          </p:spPr>
        </p:sp>
        <p:sp>
          <p:nvSpPr>
            <p:cNvPr id="43065" name="Line 167"/>
            <p:cNvSpPr/>
            <p:nvPr/>
          </p:nvSpPr>
          <p:spPr>
            <a:xfrm>
              <a:off x="2896" y="3003"/>
              <a:ext cx="0" cy="129"/>
            </a:xfrm>
            <a:prstGeom prst="line">
              <a:avLst/>
            </a:prstGeom>
            <a:ln w="12700" cap="flat" cmpd="sng">
              <a:solidFill>
                <a:srgbClr val="000080"/>
              </a:solidFill>
              <a:prstDash val="solid"/>
              <a:headEnd type="none" w="med" len="med"/>
              <a:tailEnd type="none" w="med" len="med"/>
            </a:ln>
          </p:spPr>
        </p:sp>
        <p:sp>
          <p:nvSpPr>
            <p:cNvPr id="43066" name="Line 168"/>
            <p:cNvSpPr/>
            <p:nvPr/>
          </p:nvSpPr>
          <p:spPr>
            <a:xfrm>
              <a:off x="3121" y="2898"/>
              <a:ext cx="155" cy="0"/>
            </a:xfrm>
            <a:prstGeom prst="line">
              <a:avLst/>
            </a:prstGeom>
            <a:ln w="12700" cap="flat" cmpd="sng">
              <a:solidFill>
                <a:srgbClr val="000080"/>
              </a:solidFill>
              <a:prstDash val="solid"/>
              <a:headEnd type="none" w="med" len="med"/>
              <a:tailEnd type="none" w="med" len="med"/>
            </a:ln>
          </p:spPr>
        </p:sp>
        <p:sp>
          <p:nvSpPr>
            <p:cNvPr id="43067" name="Line 169"/>
            <p:cNvSpPr/>
            <p:nvPr/>
          </p:nvSpPr>
          <p:spPr>
            <a:xfrm>
              <a:off x="3276" y="2898"/>
              <a:ext cx="0" cy="82"/>
            </a:xfrm>
            <a:prstGeom prst="line">
              <a:avLst/>
            </a:prstGeom>
            <a:ln w="12700" cap="flat" cmpd="sng">
              <a:solidFill>
                <a:srgbClr val="000080"/>
              </a:solidFill>
              <a:prstDash val="solid"/>
              <a:headEnd type="none" w="med" len="med"/>
              <a:tailEnd type="none" w="med" len="med"/>
            </a:ln>
          </p:spPr>
        </p:sp>
        <p:sp>
          <p:nvSpPr>
            <p:cNvPr id="43068" name="Line 170"/>
            <p:cNvSpPr/>
            <p:nvPr/>
          </p:nvSpPr>
          <p:spPr>
            <a:xfrm>
              <a:off x="3228" y="2980"/>
              <a:ext cx="107" cy="0"/>
            </a:xfrm>
            <a:prstGeom prst="line">
              <a:avLst/>
            </a:prstGeom>
            <a:ln w="19050" cap="flat" cmpd="sng">
              <a:solidFill>
                <a:srgbClr val="000000"/>
              </a:solidFill>
              <a:prstDash val="solid"/>
              <a:headEnd type="none" w="med" len="med"/>
              <a:tailEnd type="none" w="med" len="med"/>
            </a:ln>
          </p:spPr>
        </p:sp>
        <p:sp>
          <p:nvSpPr>
            <p:cNvPr id="43069" name="Line 171"/>
            <p:cNvSpPr/>
            <p:nvPr/>
          </p:nvSpPr>
          <p:spPr>
            <a:xfrm>
              <a:off x="3228" y="3003"/>
              <a:ext cx="107" cy="0"/>
            </a:xfrm>
            <a:prstGeom prst="line">
              <a:avLst/>
            </a:prstGeom>
            <a:ln w="19050" cap="flat" cmpd="sng">
              <a:solidFill>
                <a:srgbClr val="000000"/>
              </a:solidFill>
              <a:prstDash val="solid"/>
              <a:headEnd type="none" w="med" len="med"/>
              <a:tailEnd type="none" w="med" len="med"/>
            </a:ln>
          </p:spPr>
        </p:sp>
        <p:sp>
          <p:nvSpPr>
            <p:cNvPr id="43070" name="Line 172"/>
            <p:cNvSpPr/>
            <p:nvPr/>
          </p:nvSpPr>
          <p:spPr>
            <a:xfrm>
              <a:off x="3276" y="3003"/>
              <a:ext cx="0" cy="129"/>
            </a:xfrm>
            <a:prstGeom prst="line">
              <a:avLst/>
            </a:prstGeom>
            <a:ln w="12700" cap="flat" cmpd="sng">
              <a:solidFill>
                <a:srgbClr val="000080"/>
              </a:solidFill>
              <a:prstDash val="solid"/>
              <a:headEnd type="none" w="med" len="med"/>
              <a:tailEnd type="none" w="med" len="med"/>
            </a:ln>
          </p:spPr>
        </p:sp>
        <p:sp>
          <p:nvSpPr>
            <p:cNvPr id="43071" name="Line 173"/>
            <p:cNvSpPr/>
            <p:nvPr/>
          </p:nvSpPr>
          <p:spPr>
            <a:xfrm>
              <a:off x="3121" y="2742"/>
              <a:ext cx="0" cy="437"/>
            </a:xfrm>
            <a:prstGeom prst="line">
              <a:avLst/>
            </a:prstGeom>
            <a:ln w="12700" cap="flat" cmpd="sng">
              <a:solidFill>
                <a:srgbClr val="000080"/>
              </a:solidFill>
              <a:prstDash val="solid"/>
              <a:headEnd type="none" w="med" len="med"/>
              <a:tailEnd type="none" w="med" len="med"/>
            </a:ln>
          </p:spPr>
        </p:sp>
        <p:sp>
          <p:nvSpPr>
            <p:cNvPr id="43072" name="Line 174"/>
            <p:cNvSpPr/>
            <p:nvPr/>
          </p:nvSpPr>
          <p:spPr>
            <a:xfrm>
              <a:off x="2362" y="2742"/>
              <a:ext cx="0" cy="156"/>
            </a:xfrm>
            <a:prstGeom prst="line">
              <a:avLst/>
            </a:prstGeom>
            <a:ln w="12700" cap="flat" cmpd="sng">
              <a:solidFill>
                <a:srgbClr val="000080"/>
              </a:solidFill>
              <a:prstDash val="solid"/>
              <a:headEnd type="none" w="med" len="med"/>
              <a:tailEnd type="none" w="med" len="med"/>
            </a:ln>
          </p:spPr>
        </p:sp>
        <p:sp>
          <p:nvSpPr>
            <p:cNvPr id="43073" name="Rectangle 175"/>
            <p:cNvSpPr/>
            <p:nvPr/>
          </p:nvSpPr>
          <p:spPr>
            <a:xfrm>
              <a:off x="2077" y="2874"/>
              <a:ext cx="178" cy="59"/>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74" name="Line 176"/>
            <p:cNvSpPr/>
            <p:nvPr/>
          </p:nvSpPr>
          <p:spPr>
            <a:xfrm>
              <a:off x="1982" y="2898"/>
              <a:ext cx="95" cy="0"/>
            </a:xfrm>
            <a:prstGeom prst="line">
              <a:avLst/>
            </a:prstGeom>
            <a:ln w="12700" cap="flat" cmpd="sng">
              <a:solidFill>
                <a:srgbClr val="000080"/>
              </a:solidFill>
              <a:prstDash val="solid"/>
              <a:headEnd type="none" w="med" len="med"/>
              <a:tailEnd type="none" w="med" len="med"/>
            </a:ln>
          </p:spPr>
        </p:sp>
        <p:sp>
          <p:nvSpPr>
            <p:cNvPr id="43075" name="Line 177"/>
            <p:cNvSpPr/>
            <p:nvPr/>
          </p:nvSpPr>
          <p:spPr>
            <a:xfrm>
              <a:off x="2253" y="2900"/>
              <a:ext cx="111" cy="0"/>
            </a:xfrm>
            <a:prstGeom prst="line">
              <a:avLst/>
            </a:prstGeom>
            <a:ln w="12700" cap="flat" cmpd="sng">
              <a:solidFill>
                <a:srgbClr val="000080"/>
              </a:solidFill>
              <a:prstDash val="solid"/>
              <a:headEnd type="none" w="med" len="med"/>
              <a:tailEnd type="none" w="med" len="med"/>
            </a:ln>
          </p:spPr>
        </p:sp>
        <p:sp>
          <p:nvSpPr>
            <p:cNvPr id="43076" name="Line 178"/>
            <p:cNvSpPr/>
            <p:nvPr/>
          </p:nvSpPr>
          <p:spPr>
            <a:xfrm>
              <a:off x="2166" y="3085"/>
              <a:ext cx="338" cy="0"/>
            </a:xfrm>
            <a:prstGeom prst="line">
              <a:avLst/>
            </a:prstGeom>
            <a:ln w="12700" cap="flat" cmpd="sng">
              <a:solidFill>
                <a:srgbClr val="000080"/>
              </a:solidFill>
              <a:prstDash val="solid"/>
              <a:headEnd type="none" w="med" len="med"/>
              <a:tailEnd type="none" w="med" len="med"/>
            </a:ln>
          </p:spPr>
        </p:sp>
        <p:sp>
          <p:nvSpPr>
            <p:cNvPr id="43077" name="Line 179"/>
            <p:cNvSpPr/>
            <p:nvPr/>
          </p:nvSpPr>
          <p:spPr>
            <a:xfrm flipV="1">
              <a:off x="2504" y="2734"/>
              <a:ext cx="232" cy="351"/>
            </a:xfrm>
            <a:prstGeom prst="line">
              <a:avLst/>
            </a:prstGeom>
            <a:ln w="12700" cap="flat" cmpd="sng">
              <a:solidFill>
                <a:srgbClr val="000080"/>
              </a:solidFill>
              <a:prstDash val="solid"/>
              <a:headEnd type="none" w="med" len="med"/>
              <a:tailEnd type="none" w="med" len="med"/>
            </a:ln>
          </p:spPr>
        </p:sp>
        <p:sp>
          <p:nvSpPr>
            <p:cNvPr id="43078" name="Line 180"/>
            <p:cNvSpPr/>
            <p:nvPr/>
          </p:nvSpPr>
          <p:spPr>
            <a:xfrm>
              <a:off x="2166" y="2933"/>
              <a:ext cx="0" cy="152"/>
            </a:xfrm>
            <a:prstGeom prst="line">
              <a:avLst/>
            </a:prstGeom>
            <a:ln w="12700" cap="flat" cmpd="sng">
              <a:solidFill>
                <a:srgbClr val="000080"/>
              </a:solidFill>
              <a:prstDash val="solid"/>
              <a:headEnd type="stealth" w="med" len="lg"/>
              <a:tailEnd type="none" w="med" len="lg"/>
            </a:ln>
          </p:spPr>
        </p:sp>
        <p:sp>
          <p:nvSpPr>
            <p:cNvPr id="43079" name="Oval 183"/>
            <p:cNvSpPr/>
            <p:nvPr/>
          </p:nvSpPr>
          <p:spPr>
            <a:xfrm>
              <a:off x="3805" y="212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80" name="Line 184"/>
            <p:cNvSpPr/>
            <p:nvPr/>
          </p:nvSpPr>
          <p:spPr>
            <a:xfrm>
              <a:off x="3869" y="2149"/>
              <a:ext cx="273" cy="0"/>
            </a:xfrm>
            <a:prstGeom prst="line">
              <a:avLst/>
            </a:prstGeom>
            <a:ln w="12700" cap="flat" cmpd="sng">
              <a:solidFill>
                <a:srgbClr val="000080"/>
              </a:solidFill>
              <a:prstDash val="solid"/>
              <a:headEnd type="none" w="med" len="med"/>
              <a:tailEnd type="none" w="med" len="med"/>
            </a:ln>
          </p:spPr>
        </p:sp>
        <p:sp>
          <p:nvSpPr>
            <p:cNvPr id="43081" name="Line 185"/>
            <p:cNvSpPr/>
            <p:nvPr/>
          </p:nvSpPr>
          <p:spPr>
            <a:xfrm>
              <a:off x="3833" y="2182"/>
              <a:ext cx="0" cy="154"/>
            </a:xfrm>
            <a:prstGeom prst="line">
              <a:avLst/>
            </a:prstGeom>
            <a:ln w="12700" cap="flat" cmpd="sng">
              <a:solidFill>
                <a:srgbClr val="000080"/>
              </a:solidFill>
              <a:prstDash val="solid"/>
              <a:headEnd type="none" w="med" len="med"/>
              <a:tailEnd type="none" w="med" len="med"/>
            </a:ln>
          </p:spPr>
        </p:sp>
        <p:sp>
          <p:nvSpPr>
            <p:cNvPr id="43082" name="Line 186"/>
            <p:cNvSpPr/>
            <p:nvPr/>
          </p:nvSpPr>
          <p:spPr>
            <a:xfrm>
              <a:off x="3774" y="2336"/>
              <a:ext cx="131" cy="0"/>
            </a:xfrm>
            <a:prstGeom prst="line">
              <a:avLst/>
            </a:prstGeom>
            <a:ln w="19050" cap="flat" cmpd="sng">
              <a:solidFill>
                <a:srgbClr val="000000"/>
              </a:solidFill>
              <a:prstDash val="solid"/>
              <a:headEnd type="none" w="med" len="med"/>
              <a:tailEnd type="none" w="med" len="med"/>
            </a:ln>
          </p:spPr>
        </p:sp>
        <p:sp>
          <p:nvSpPr>
            <p:cNvPr id="43083" name="Line 187"/>
            <p:cNvSpPr/>
            <p:nvPr/>
          </p:nvSpPr>
          <p:spPr>
            <a:xfrm>
              <a:off x="3774" y="2371"/>
              <a:ext cx="131" cy="0"/>
            </a:xfrm>
            <a:prstGeom prst="line">
              <a:avLst/>
            </a:prstGeom>
            <a:ln w="19050" cap="flat" cmpd="sng">
              <a:solidFill>
                <a:srgbClr val="000000"/>
              </a:solidFill>
              <a:prstDash val="solid"/>
              <a:headEnd type="none" w="med" len="med"/>
              <a:tailEnd type="none" w="med" len="med"/>
            </a:ln>
          </p:spPr>
        </p:sp>
        <p:sp>
          <p:nvSpPr>
            <p:cNvPr id="43084" name="Line 188"/>
            <p:cNvSpPr/>
            <p:nvPr/>
          </p:nvSpPr>
          <p:spPr>
            <a:xfrm>
              <a:off x="3833" y="2371"/>
              <a:ext cx="0" cy="154"/>
            </a:xfrm>
            <a:prstGeom prst="line">
              <a:avLst/>
            </a:prstGeom>
            <a:ln w="12700" cap="flat" cmpd="sng">
              <a:solidFill>
                <a:srgbClr val="000080"/>
              </a:solidFill>
              <a:prstDash val="solid"/>
              <a:headEnd type="none" w="med" len="med"/>
              <a:tailEnd type="none" w="med" len="med"/>
            </a:ln>
          </p:spPr>
        </p:sp>
        <p:sp>
          <p:nvSpPr>
            <p:cNvPr id="43085" name="Oval 189"/>
            <p:cNvSpPr/>
            <p:nvPr/>
          </p:nvSpPr>
          <p:spPr>
            <a:xfrm>
              <a:off x="4137" y="212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86" name="Oval 190"/>
            <p:cNvSpPr/>
            <p:nvPr/>
          </p:nvSpPr>
          <p:spPr>
            <a:xfrm>
              <a:off x="4522" y="2116"/>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87" name="Line 191"/>
            <p:cNvSpPr/>
            <p:nvPr/>
          </p:nvSpPr>
          <p:spPr>
            <a:xfrm>
              <a:off x="4166" y="2182"/>
              <a:ext cx="0" cy="154"/>
            </a:xfrm>
            <a:prstGeom prst="line">
              <a:avLst/>
            </a:prstGeom>
            <a:ln w="12700" cap="flat" cmpd="sng">
              <a:solidFill>
                <a:srgbClr val="000080"/>
              </a:solidFill>
              <a:prstDash val="solid"/>
              <a:headEnd type="none" w="med" len="med"/>
              <a:tailEnd type="none" w="med" len="med"/>
            </a:ln>
          </p:spPr>
        </p:sp>
        <p:sp>
          <p:nvSpPr>
            <p:cNvPr id="43088" name="Rectangle 192"/>
            <p:cNvSpPr/>
            <p:nvPr/>
          </p:nvSpPr>
          <p:spPr>
            <a:xfrm>
              <a:off x="4142" y="2336"/>
              <a:ext cx="59" cy="164"/>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89" name="Line 193"/>
            <p:cNvSpPr/>
            <p:nvPr/>
          </p:nvSpPr>
          <p:spPr>
            <a:xfrm>
              <a:off x="4166" y="2498"/>
              <a:ext cx="0" cy="218"/>
            </a:xfrm>
            <a:prstGeom prst="line">
              <a:avLst/>
            </a:prstGeom>
            <a:ln w="12700" cap="flat" cmpd="sng">
              <a:solidFill>
                <a:srgbClr val="000080"/>
              </a:solidFill>
              <a:prstDash val="solid"/>
              <a:headEnd type="none" w="med" len="med"/>
              <a:tailEnd type="none" w="med" len="med"/>
            </a:ln>
          </p:spPr>
        </p:sp>
        <p:sp>
          <p:nvSpPr>
            <p:cNvPr id="43090" name="Line 194"/>
            <p:cNvSpPr/>
            <p:nvPr/>
          </p:nvSpPr>
          <p:spPr>
            <a:xfrm>
              <a:off x="4098" y="2715"/>
              <a:ext cx="68" cy="66"/>
            </a:xfrm>
            <a:prstGeom prst="line">
              <a:avLst/>
            </a:prstGeom>
            <a:ln w="19050" cap="flat" cmpd="sng">
              <a:solidFill>
                <a:srgbClr val="000000"/>
              </a:solidFill>
              <a:prstDash val="solid"/>
              <a:headEnd type="none" w="med" len="med"/>
              <a:tailEnd type="none" w="med" len="med"/>
            </a:ln>
          </p:spPr>
        </p:sp>
        <p:sp>
          <p:nvSpPr>
            <p:cNvPr id="43091" name="Line 195"/>
            <p:cNvSpPr/>
            <p:nvPr/>
          </p:nvSpPr>
          <p:spPr>
            <a:xfrm flipV="1">
              <a:off x="4166" y="2709"/>
              <a:ext cx="75" cy="72"/>
            </a:xfrm>
            <a:prstGeom prst="line">
              <a:avLst/>
            </a:prstGeom>
            <a:ln w="19050" cap="flat" cmpd="sng">
              <a:solidFill>
                <a:srgbClr val="000000"/>
              </a:solidFill>
              <a:prstDash val="solid"/>
              <a:headEnd type="none" w="med" len="med"/>
              <a:tailEnd type="none" w="med" len="med"/>
            </a:ln>
          </p:spPr>
        </p:sp>
        <p:sp>
          <p:nvSpPr>
            <p:cNvPr id="43092" name="Line 196"/>
            <p:cNvSpPr/>
            <p:nvPr/>
          </p:nvSpPr>
          <p:spPr>
            <a:xfrm flipV="1">
              <a:off x="2552" y="1213"/>
              <a:ext cx="0" cy="164"/>
            </a:xfrm>
            <a:prstGeom prst="line">
              <a:avLst/>
            </a:prstGeom>
            <a:ln w="12700" cap="flat" cmpd="sng">
              <a:solidFill>
                <a:srgbClr val="000080"/>
              </a:solidFill>
              <a:prstDash val="solid"/>
              <a:headEnd type="none" w="med" len="med"/>
              <a:tailEnd type="none" w="med" len="med"/>
            </a:ln>
          </p:spPr>
        </p:sp>
        <p:sp>
          <p:nvSpPr>
            <p:cNvPr id="43093" name="Line 197"/>
            <p:cNvSpPr/>
            <p:nvPr/>
          </p:nvSpPr>
          <p:spPr>
            <a:xfrm flipH="1">
              <a:off x="2277" y="1213"/>
              <a:ext cx="275" cy="0"/>
            </a:xfrm>
            <a:prstGeom prst="line">
              <a:avLst/>
            </a:prstGeom>
            <a:ln w="12700" cap="flat" cmpd="sng">
              <a:solidFill>
                <a:srgbClr val="000080"/>
              </a:solidFill>
              <a:prstDash val="solid"/>
              <a:headEnd type="none" w="med" len="med"/>
              <a:tailEnd type="none" w="med" len="med"/>
            </a:ln>
          </p:spPr>
        </p:sp>
        <p:sp>
          <p:nvSpPr>
            <p:cNvPr id="43094" name="Oval 198"/>
            <p:cNvSpPr/>
            <p:nvPr/>
          </p:nvSpPr>
          <p:spPr>
            <a:xfrm>
              <a:off x="2220" y="1180"/>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095" name="Line 199"/>
            <p:cNvSpPr/>
            <p:nvPr/>
          </p:nvSpPr>
          <p:spPr>
            <a:xfrm flipV="1">
              <a:off x="2932" y="1213"/>
              <a:ext cx="0" cy="164"/>
            </a:xfrm>
            <a:prstGeom prst="line">
              <a:avLst/>
            </a:prstGeom>
            <a:ln w="12700" cap="flat" cmpd="sng">
              <a:solidFill>
                <a:srgbClr val="000080"/>
              </a:solidFill>
              <a:prstDash val="solid"/>
              <a:headEnd type="none" w="med" len="med"/>
              <a:tailEnd type="none" w="med" len="med"/>
            </a:ln>
          </p:spPr>
        </p:sp>
        <p:sp>
          <p:nvSpPr>
            <p:cNvPr id="43096" name="Line 200"/>
            <p:cNvSpPr/>
            <p:nvPr/>
          </p:nvSpPr>
          <p:spPr>
            <a:xfrm>
              <a:off x="2932" y="1213"/>
              <a:ext cx="379" cy="0"/>
            </a:xfrm>
            <a:prstGeom prst="line">
              <a:avLst/>
            </a:prstGeom>
            <a:ln w="12700" cap="flat" cmpd="sng">
              <a:solidFill>
                <a:srgbClr val="000080"/>
              </a:solidFill>
              <a:prstDash val="solid"/>
              <a:headEnd type="none" w="med" len="med"/>
              <a:tailEnd type="none" w="med" len="med"/>
            </a:ln>
          </p:spPr>
        </p:sp>
        <p:sp>
          <p:nvSpPr>
            <p:cNvPr id="43097" name="Line 201"/>
            <p:cNvSpPr/>
            <p:nvPr/>
          </p:nvSpPr>
          <p:spPr>
            <a:xfrm>
              <a:off x="3311" y="1213"/>
              <a:ext cx="0" cy="70"/>
            </a:xfrm>
            <a:prstGeom prst="line">
              <a:avLst/>
            </a:prstGeom>
            <a:ln w="12700" cap="flat" cmpd="sng">
              <a:solidFill>
                <a:srgbClr val="000080"/>
              </a:solidFill>
              <a:prstDash val="solid"/>
              <a:headEnd type="none" w="med" len="med"/>
              <a:tailEnd type="none" w="med" len="med"/>
            </a:ln>
          </p:spPr>
        </p:sp>
        <p:sp>
          <p:nvSpPr>
            <p:cNvPr id="43098" name="Line 202"/>
            <p:cNvSpPr/>
            <p:nvPr/>
          </p:nvSpPr>
          <p:spPr>
            <a:xfrm>
              <a:off x="3240" y="1283"/>
              <a:ext cx="154" cy="0"/>
            </a:xfrm>
            <a:prstGeom prst="line">
              <a:avLst/>
            </a:prstGeom>
            <a:ln w="19050" cap="flat" cmpd="sng">
              <a:solidFill>
                <a:srgbClr val="000000"/>
              </a:solidFill>
              <a:prstDash val="solid"/>
              <a:headEnd type="none" w="med" len="med"/>
              <a:tailEnd type="none" w="med" len="med"/>
            </a:ln>
          </p:spPr>
        </p:sp>
        <p:sp>
          <p:nvSpPr>
            <p:cNvPr id="43099" name="Line 203"/>
            <p:cNvSpPr/>
            <p:nvPr/>
          </p:nvSpPr>
          <p:spPr>
            <a:xfrm>
              <a:off x="3205" y="3132"/>
              <a:ext cx="142" cy="0"/>
            </a:xfrm>
            <a:prstGeom prst="line">
              <a:avLst/>
            </a:prstGeom>
            <a:ln w="19050" cap="flat" cmpd="sng">
              <a:solidFill>
                <a:srgbClr val="000000"/>
              </a:solidFill>
              <a:prstDash val="solid"/>
              <a:headEnd type="none" w="med" len="med"/>
              <a:tailEnd type="none" w="med" len="med"/>
            </a:ln>
          </p:spPr>
        </p:sp>
        <p:sp>
          <p:nvSpPr>
            <p:cNvPr id="43100" name="Line 204"/>
            <p:cNvSpPr/>
            <p:nvPr/>
          </p:nvSpPr>
          <p:spPr>
            <a:xfrm>
              <a:off x="3205" y="3132"/>
              <a:ext cx="71" cy="70"/>
            </a:xfrm>
            <a:prstGeom prst="line">
              <a:avLst/>
            </a:prstGeom>
            <a:ln w="19050" cap="flat" cmpd="sng">
              <a:solidFill>
                <a:srgbClr val="000000"/>
              </a:solidFill>
              <a:prstDash val="solid"/>
              <a:headEnd type="none" w="med" len="med"/>
              <a:tailEnd type="none" w="med" len="med"/>
            </a:ln>
          </p:spPr>
        </p:sp>
        <p:sp>
          <p:nvSpPr>
            <p:cNvPr id="43101" name="Line 205"/>
            <p:cNvSpPr/>
            <p:nvPr/>
          </p:nvSpPr>
          <p:spPr>
            <a:xfrm flipV="1">
              <a:off x="3276" y="3134"/>
              <a:ext cx="71" cy="68"/>
            </a:xfrm>
            <a:prstGeom prst="line">
              <a:avLst/>
            </a:prstGeom>
            <a:ln w="19050" cap="flat" cmpd="sng">
              <a:solidFill>
                <a:srgbClr val="000000"/>
              </a:solidFill>
              <a:prstDash val="solid"/>
              <a:headEnd type="none" w="med" len="med"/>
              <a:tailEnd type="none" w="med" len="med"/>
            </a:ln>
          </p:spPr>
        </p:sp>
        <p:sp>
          <p:nvSpPr>
            <p:cNvPr id="43102" name="Line 206"/>
            <p:cNvSpPr/>
            <p:nvPr/>
          </p:nvSpPr>
          <p:spPr>
            <a:xfrm>
              <a:off x="2831" y="3132"/>
              <a:ext cx="136" cy="0"/>
            </a:xfrm>
            <a:prstGeom prst="line">
              <a:avLst/>
            </a:prstGeom>
            <a:ln w="19050" cap="flat" cmpd="sng">
              <a:solidFill>
                <a:srgbClr val="000000"/>
              </a:solidFill>
              <a:prstDash val="solid"/>
              <a:headEnd type="none" w="med" len="med"/>
              <a:tailEnd type="none" w="med" len="med"/>
            </a:ln>
          </p:spPr>
        </p:sp>
        <p:sp>
          <p:nvSpPr>
            <p:cNvPr id="43103" name="Line 207"/>
            <p:cNvSpPr/>
            <p:nvPr/>
          </p:nvSpPr>
          <p:spPr>
            <a:xfrm>
              <a:off x="2825" y="3132"/>
              <a:ext cx="71" cy="70"/>
            </a:xfrm>
            <a:prstGeom prst="line">
              <a:avLst/>
            </a:prstGeom>
            <a:ln w="19050" cap="flat" cmpd="sng">
              <a:solidFill>
                <a:srgbClr val="000000"/>
              </a:solidFill>
              <a:prstDash val="solid"/>
              <a:headEnd type="none" w="med" len="med"/>
              <a:tailEnd type="none" w="med" len="med"/>
            </a:ln>
          </p:spPr>
        </p:sp>
        <p:sp>
          <p:nvSpPr>
            <p:cNvPr id="43104" name="Line 208"/>
            <p:cNvSpPr/>
            <p:nvPr/>
          </p:nvSpPr>
          <p:spPr>
            <a:xfrm flipV="1">
              <a:off x="2896" y="3134"/>
              <a:ext cx="71" cy="68"/>
            </a:xfrm>
            <a:prstGeom prst="line">
              <a:avLst/>
            </a:prstGeom>
            <a:ln w="19050" cap="flat" cmpd="sng">
              <a:solidFill>
                <a:srgbClr val="000000"/>
              </a:solidFill>
              <a:prstDash val="solid"/>
              <a:headEnd type="none" w="med" len="med"/>
              <a:tailEnd type="none" w="med" len="med"/>
            </a:ln>
          </p:spPr>
        </p:sp>
        <p:sp>
          <p:nvSpPr>
            <p:cNvPr id="43105" name="Line 209"/>
            <p:cNvSpPr/>
            <p:nvPr/>
          </p:nvSpPr>
          <p:spPr>
            <a:xfrm flipH="1">
              <a:off x="1223" y="2222"/>
              <a:ext cx="213" cy="0"/>
            </a:xfrm>
            <a:prstGeom prst="line">
              <a:avLst/>
            </a:prstGeom>
            <a:ln w="12700" cap="flat" cmpd="sng">
              <a:solidFill>
                <a:srgbClr val="000080"/>
              </a:solidFill>
              <a:prstDash val="solid"/>
              <a:headEnd type="none" w="med" len="med"/>
              <a:tailEnd type="none" w="med" len="med"/>
            </a:ln>
          </p:spPr>
        </p:sp>
        <p:sp>
          <p:nvSpPr>
            <p:cNvPr id="43106" name="Line 210"/>
            <p:cNvSpPr/>
            <p:nvPr/>
          </p:nvSpPr>
          <p:spPr>
            <a:xfrm>
              <a:off x="1223" y="2219"/>
              <a:ext cx="0" cy="223"/>
            </a:xfrm>
            <a:prstGeom prst="line">
              <a:avLst/>
            </a:prstGeom>
            <a:ln w="12700" cap="flat" cmpd="sng">
              <a:solidFill>
                <a:srgbClr val="000080"/>
              </a:solidFill>
              <a:prstDash val="solid"/>
              <a:headEnd type="none" w="med" len="med"/>
              <a:tailEnd type="none" w="med" len="med"/>
            </a:ln>
          </p:spPr>
        </p:sp>
        <p:sp>
          <p:nvSpPr>
            <p:cNvPr id="43107" name="Oval 211"/>
            <p:cNvSpPr/>
            <p:nvPr/>
          </p:nvSpPr>
          <p:spPr>
            <a:xfrm>
              <a:off x="1116" y="2442"/>
              <a:ext cx="214" cy="198"/>
            </a:xfrm>
            <a:prstGeom prst="ellipse">
              <a:avLst/>
            </a:prstGeom>
            <a:solidFill>
              <a:srgbClr val="FFCC99"/>
            </a:solid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08" name="Line 212"/>
            <p:cNvSpPr/>
            <p:nvPr/>
          </p:nvSpPr>
          <p:spPr>
            <a:xfrm>
              <a:off x="1223" y="2638"/>
              <a:ext cx="0" cy="272"/>
            </a:xfrm>
            <a:prstGeom prst="line">
              <a:avLst/>
            </a:prstGeom>
            <a:ln w="12700" cap="flat" cmpd="sng">
              <a:solidFill>
                <a:srgbClr val="000080"/>
              </a:solidFill>
              <a:prstDash val="solid"/>
              <a:headEnd type="none" w="med" len="med"/>
              <a:tailEnd type="none" w="med" len="med"/>
            </a:ln>
          </p:spPr>
        </p:sp>
        <p:sp>
          <p:nvSpPr>
            <p:cNvPr id="43109" name="Line 213"/>
            <p:cNvSpPr/>
            <p:nvPr/>
          </p:nvSpPr>
          <p:spPr>
            <a:xfrm>
              <a:off x="1156" y="2911"/>
              <a:ext cx="136" cy="0"/>
            </a:xfrm>
            <a:prstGeom prst="line">
              <a:avLst/>
            </a:prstGeom>
            <a:ln w="19050" cap="flat" cmpd="sng">
              <a:solidFill>
                <a:srgbClr val="000000"/>
              </a:solidFill>
              <a:prstDash val="solid"/>
              <a:headEnd type="none" w="med" len="med"/>
              <a:tailEnd type="none" w="med" len="med"/>
            </a:ln>
          </p:spPr>
        </p:sp>
        <p:sp>
          <p:nvSpPr>
            <p:cNvPr id="43110" name="Line 214"/>
            <p:cNvSpPr/>
            <p:nvPr/>
          </p:nvSpPr>
          <p:spPr>
            <a:xfrm>
              <a:off x="1152" y="2910"/>
              <a:ext cx="71" cy="70"/>
            </a:xfrm>
            <a:prstGeom prst="line">
              <a:avLst/>
            </a:prstGeom>
            <a:ln w="19050" cap="flat" cmpd="sng">
              <a:solidFill>
                <a:srgbClr val="000000"/>
              </a:solidFill>
              <a:prstDash val="solid"/>
              <a:headEnd type="none" w="med" len="med"/>
              <a:tailEnd type="none" w="med" len="med"/>
            </a:ln>
          </p:spPr>
        </p:sp>
        <p:sp>
          <p:nvSpPr>
            <p:cNvPr id="43111" name="Line 215"/>
            <p:cNvSpPr/>
            <p:nvPr/>
          </p:nvSpPr>
          <p:spPr>
            <a:xfrm>
              <a:off x="1792" y="1307"/>
              <a:ext cx="190" cy="0"/>
            </a:xfrm>
            <a:prstGeom prst="line">
              <a:avLst/>
            </a:prstGeom>
            <a:ln w="22225" cap="flat" cmpd="sng">
              <a:solidFill>
                <a:srgbClr val="FF0000"/>
              </a:solidFill>
              <a:prstDash val="solid"/>
              <a:headEnd type="none" w="med" len="med"/>
              <a:tailEnd type="none" w="med" len="med"/>
            </a:ln>
          </p:spPr>
        </p:sp>
        <p:sp>
          <p:nvSpPr>
            <p:cNvPr id="43112" name="Line 216"/>
            <p:cNvSpPr/>
            <p:nvPr/>
          </p:nvSpPr>
          <p:spPr>
            <a:xfrm flipV="1">
              <a:off x="1982" y="1119"/>
              <a:ext cx="0" cy="188"/>
            </a:xfrm>
            <a:prstGeom prst="line">
              <a:avLst/>
            </a:prstGeom>
            <a:ln w="22225" cap="flat" cmpd="sng">
              <a:solidFill>
                <a:srgbClr val="FF0000"/>
              </a:solidFill>
              <a:prstDash val="solid"/>
              <a:headEnd type="none" w="med" len="med"/>
              <a:tailEnd type="none" w="med" len="med"/>
            </a:ln>
          </p:spPr>
        </p:sp>
        <p:sp>
          <p:nvSpPr>
            <p:cNvPr id="43113" name="Line 217"/>
            <p:cNvSpPr/>
            <p:nvPr/>
          </p:nvSpPr>
          <p:spPr>
            <a:xfrm>
              <a:off x="1982" y="1119"/>
              <a:ext cx="190" cy="0"/>
            </a:xfrm>
            <a:prstGeom prst="line">
              <a:avLst/>
            </a:prstGeom>
            <a:ln w="22225" cap="flat" cmpd="sng">
              <a:solidFill>
                <a:srgbClr val="FF0000"/>
              </a:solidFill>
              <a:prstDash val="solid"/>
              <a:headEnd type="none" w="med" len="med"/>
              <a:tailEnd type="none" w="med" len="med"/>
            </a:ln>
          </p:spPr>
        </p:sp>
        <p:sp>
          <p:nvSpPr>
            <p:cNvPr id="43114" name="Rectangle 218"/>
            <p:cNvSpPr/>
            <p:nvPr/>
          </p:nvSpPr>
          <p:spPr>
            <a:xfrm>
              <a:off x="3371" y="1073"/>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数字地</a:t>
              </a:r>
              <a:endParaRPr lang="zh-CN" altLang="en-US" dirty="0">
                <a:solidFill>
                  <a:srgbClr val="FF0000"/>
                </a:solidFill>
                <a:latin typeface="Times New Roman" panose="02020603050405020304" pitchFamily="18" charset="0"/>
              </a:endParaRPr>
            </a:p>
          </p:txBody>
        </p:sp>
        <p:sp>
          <p:nvSpPr>
            <p:cNvPr id="43115" name="Rectangle 219"/>
            <p:cNvSpPr/>
            <p:nvPr/>
          </p:nvSpPr>
          <p:spPr>
            <a:xfrm>
              <a:off x="1377" y="209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3116" name="Rectangle 220"/>
            <p:cNvSpPr/>
            <p:nvPr/>
          </p:nvSpPr>
          <p:spPr>
            <a:xfrm>
              <a:off x="2398" y="274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3</a:t>
              </a:r>
              <a:endParaRPr lang="en-US" altLang="zh-CN" dirty="0">
                <a:latin typeface="Times New Roman" panose="02020603050405020304" pitchFamily="18" charset="0"/>
              </a:endParaRPr>
            </a:p>
          </p:txBody>
        </p:sp>
        <p:sp>
          <p:nvSpPr>
            <p:cNvPr id="43117" name="Rectangle 221"/>
            <p:cNvSpPr/>
            <p:nvPr/>
          </p:nvSpPr>
          <p:spPr>
            <a:xfrm>
              <a:off x="1864" y="274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4</a:t>
              </a:r>
              <a:endParaRPr lang="en-US" altLang="zh-CN" dirty="0">
                <a:latin typeface="Times New Roman" panose="02020603050405020304" pitchFamily="18" charset="0"/>
              </a:endParaRPr>
            </a:p>
          </p:txBody>
        </p:sp>
        <p:sp>
          <p:nvSpPr>
            <p:cNvPr id="43118" name="Rectangle 222"/>
            <p:cNvSpPr/>
            <p:nvPr/>
          </p:nvSpPr>
          <p:spPr>
            <a:xfrm>
              <a:off x="2789" y="273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5</a:t>
              </a:r>
              <a:endParaRPr lang="en-US" altLang="zh-CN" dirty="0">
                <a:latin typeface="Times New Roman" panose="02020603050405020304" pitchFamily="18" charset="0"/>
              </a:endParaRPr>
            </a:p>
          </p:txBody>
        </p:sp>
        <p:sp>
          <p:nvSpPr>
            <p:cNvPr id="43119" name="Rectangle 223"/>
            <p:cNvSpPr/>
            <p:nvPr/>
          </p:nvSpPr>
          <p:spPr>
            <a:xfrm>
              <a:off x="3655" y="2547"/>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6</a:t>
              </a:r>
              <a:endParaRPr lang="en-US" altLang="zh-CN" dirty="0">
                <a:latin typeface="Times New Roman" panose="02020603050405020304" pitchFamily="18" charset="0"/>
              </a:endParaRPr>
            </a:p>
          </p:txBody>
        </p:sp>
        <p:sp>
          <p:nvSpPr>
            <p:cNvPr id="43120" name="Rectangle 224"/>
            <p:cNvSpPr/>
            <p:nvPr/>
          </p:nvSpPr>
          <p:spPr>
            <a:xfrm>
              <a:off x="3655" y="217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8</a:t>
              </a:r>
              <a:endParaRPr lang="en-US" altLang="zh-CN" dirty="0">
                <a:latin typeface="Times New Roman" panose="02020603050405020304" pitchFamily="18" charset="0"/>
              </a:endParaRPr>
            </a:p>
          </p:txBody>
        </p:sp>
        <p:sp>
          <p:nvSpPr>
            <p:cNvPr id="43121" name="Rectangle 225"/>
            <p:cNvSpPr/>
            <p:nvPr/>
          </p:nvSpPr>
          <p:spPr>
            <a:xfrm>
              <a:off x="3667" y="174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9</a:t>
              </a:r>
              <a:endParaRPr lang="en-US" altLang="zh-CN" dirty="0">
                <a:latin typeface="Times New Roman" panose="02020603050405020304" pitchFamily="18" charset="0"/>
              </a:endParaRPr>
            </a:p>
          </p:txBody>
        </p:sp>
        <p:sp>
          <p:nvSpPr>
            <p:cNvPr id="43122" name="Rectangle 226"/>
            <p:cNvSpPr/>
            <p:nvPr/>
          </p:nvSpPr>
          <p:spPr>
            <a:xfrm>
              <a:off x="3169" y="2734"/>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a:t>
              </a:r>
              <a:endParaRPr lang="en-US" altLang="zh-CN" dirty="0">
                <a:latin typeface="Times New Roman" panose="02020603050405020304" pitchFamily="18" charset="0"/>
              </a:endParaRPr>
            </a:p>
          </p:txBody>
        </p:sp>
        <p:sp>
          <p:nvSpPr>
            <p:cNvPr id="43123" name="Rectangle 227"/>
            <p:cNvSpPr/>
            <p:nvPr/>
          </p:nvSpPr>
          <p:spPr>
            <a:xfrm>
              <a:off x="2967" y="126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11</a:t>
              </a:r>
              <a:endParaRPr lang="en-US" altLang="zh-CN" dirty="0">
                <a:latin typeface="Times New Roman" panose="02020603050405020304" pitchFamily="18" charset="0"/>
              </a:endParaRPr>
            </a:p>
          </p:txBody>
        </p:sp>
        <p:sp>
          <p:nvSpPr>
            <p:cNvPr id="43124" name="Rectangle 228"/>
            <p:cNvSpPr/>
            <p:nvPr/>
          </p:nvSpPr>
          <p:spPr>
            <a:xfrm>
              <a:off x="2576" y="126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12</a:t>
              </a:r>
              <a:endParaRPr lang="en-US" altLang="zh-CN" dirty="0">
                <a:latin typeface="Times New Roman" panose="02020603050405020304" pitchFamily="18" charset="0"/>
              </a:endParaRPr>
            </a:p>
          </p:txBody>
        </p:sp>
        <p:sp>
          <p:nvSpPr>
            <p:cNvPr id="43125" name="Line 229"/>
            <p:cNvSpPr/>
            <p:nvPr/>
          </p:nvSpPr>
          <p:spPr>
            <a:xfrm>
              <a:off x="3628" y="1868"/>
              <a:ext cx="207" cy="0"/>
            </a:xfrm>
            <a:prstGeom prst="line">
              <a:avLst/>
            </a:prstGeom>
            <a:ln w="12700" cap="flat" cmpd="sng">
              <a:solidFill>
                <a:srgbClr val="000080"/>
              </a:solidFill>
              <a:prstDash val="solid"/>
              <a:headEnd type="none" w="med" len="med"/>
              <a:tailEnd type="none" w="med" len="med"/>
            </a:ln>
          </p:spPr>
        </p:sp>
        <p:sp>
          <p:nvSpPr>
            <p:cNvPr id="43126" name="Line 230"/>
            <p:cNvSpPr/>
            <p:nvPr/>
          </p:nvSpPr>
          <p:spPr>
            <a:xfrm>
              <a:off x="3833" y="1868"/>
              <a:ext cx="0" cy="258"/>
            </a:xfrm>
            <a:prstGeom prst="line">
              <a:avLst/>
            </a:prstGeom>
            <a:ln w="12700" cap="flat" cmpd="sng">
              <a:solidFill>
                <a:srgbClr val="000080"/>
              </a:solidFill>
              <a:prstDash val="solid"/>
              <a:headEnd type="none" w="med" len="med"/>
              <a:tailEnd type="none" w="med" len="med"/>
            </a:ln>
          </p:spPr>
        </p:sp>
        <p:sp>
          <p:nvSpPr>
            <p:cNvPr id="43127" name="Rectangle 231"/>
            <p:cNvSpPr/>
            <p:nvPr/>
          </p:nvSpPr>
          <p:spPr>
            <a:xfrm>
              <a:off x="3922" y="2295"/>
              <a:ext cx="85"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sp>
          <p:nvSpPr>
            <p:cNvPr id="43128" name="Rectangle 232"/>
            <p:cNvSpPr/>
            <p:nvPr/>
          </p:nvSpPr>
          <p:spPr>
            <a:xfrm>
              <a:off x="4011" y="2342"/>
              <a:ext cx="58"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H</a:t>
              </a:r>
              <a:endParaRPr lang="en-US" altLang="zh-CN" dirty="0">
                <a:latin typeface="Times New Roman" panose="02020603050405020304" pitchFamily="18" charset="0"/>
              </a:endParaRPr>
            </a:p>
          </p:txBody>
        </p:sp>
        <p:sp>
          <p:nvSpPr>
            <p:cNvPr id="43129" name="Rectangle 233"/>
            <p:cNvSpPr/>
            <p:nvPr/>
          </p:nvSpPr>
          <p:spPr>
            <a:xfrm>
              <a:off x="4225" y="2348"/>
              <a:ext cx="78"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R</a:t>
              </a:r>
              <a:endParaRPr lang="en-US" altLang="zh-CN" dirty="0">
                <a:latin typeface="Times New Roman" panose="02020603050405020304" pitchFamily="18" charset="0"/>
              </a:endParaRPr>
            </a:p>
          </p:txBody>
        </p:sp>
        <p:sp>
          <p:nvSpPr>
            <p:cNvPr id="43130" name="Rectangle 234"/>
            <p:cNvSpPr/>
            <p:nvPr/>
          </p:nvSpPr>
          <p:spPr>
            <a:xfrm>
              <a:off x="4314" y="2395"/>
              <a:ext cx="49"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L</a:t>
              </a:r>
              <a:endParaRPr lang="en-US" altLang="zh-CN" dirty="0">
                <a:latin typeface="Times New Roman" panose="02020603050405020304" pitchFamily="18" charset="0"/>
              </a:endParaRPr>
            </a:p>
          </p:txBody>
        </p:sp>
        <p:sp>
          <p:nvSpPr>
            <p:cNvPr id="43131" name="Rectangle 235"/>
            <p:cNvSpPr/>
            <p:nvPr/>
          </p:nvSpPr>
          <p:spPr>
            <a:xfrm>
              <a:off x="1098" y="2067"/>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3132" name="Rectangle 236"/>
            <p:cNvSpPr/>
            <p:nvPr/>
          </p:nvSpPr>
          <p:spPr>
            <a:xfrm>
              <a:off x="1193" y="2114"/>
              <a:ext cx="22"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i</a:t>
              </a:r>
              <a:endParaRPr lang="en-US" altLang="zh-CN" dirty="0">
                <a:solidFill>
                  <a:srgbClr val="FF0000"/>
                </a:solidFill>
                <a:latin typeface="Times New Roman" panose="02020603050405020304" pitchFamily="18" charset="0"/>
              </a:endParaRPr>
            </a:p>
          </p:txBody>
        </p:sp>
        <p:sp>
          <p:nvSpPr>
            <p:cNvPr id="43133" name="Rectangle 237"/>
            <p:cNvSpPr/>
            <p:nvPr/>
          </p:nvSpPr>
          <p:spPr>
            <a:xfrm>
              <a:off x="2000" y="208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3134" name="Rectangle 238"/>
            <p:cNvSpPr/>
            <p:nvPr/>
          </p:nvSpPr>
          <p:spPr>
            <a:xfrm>
              <a:off x="2095" y="213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3135" name="Rectangle 239"/>
            <p:cNvSpPr/>
            <p:nvPr/>
          </p:nvSpPr>
          <p:spPr>
            <a:xfrm>
              <a:off x="4700" y="214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43136" name="Rectangle 240"/>
            <p:cNvSpPr/>
            <p:nvPr/>
          </p:nvSpPr>
          <p:spPr>
            <a:xfrm>
              <a:off x="4611" y="2091"/>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3137" name="Rectangle 241"/>
            <p:cNvSpPr/>
            <p:nvPr/>
          </p:nvSpPr>
          <p:spPr>
            <a:xfrm>
              <a:off x="3094" y="213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2</a:t>
              </a:r>
              <a:endParaRPr lang="en-US" altLang="zh-CN" dirty="0">
                <a:latin typeface="Times New Roman" panose="02020603050405020304" pitchFamily="18" charset="0"/>
              </a:endParaRPr>
            </a:p>
          </p:txBody>
        </p:sp>
        <p:sp>
          <p:nvSpPr>
            <p:cNvPr id="43138" name="Rectangle 242"/>
            <p:cNvSpPr/>
            <p:nvPr/>
          </p:nvSpPr>
          <p:spPr>
            <a:xfrm>
              <a:off x="2997" y="208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3139" name="Rectangle 243"/>
            <p:cNvSpPr/>
            <p:nvPr/>
          </p:nvSpPr>
          <p:spPr>
            <a:xfrm>
              <a:off x="1917" y="2167"/>
              <a:ext cx="5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3140" name="Rectangle 244"/>
            <p:cNvSpPr/>
            <p:nvPr/>
          </p:nvSpPr>
          <p:spPr>
            <a:xfrm>
              <a:off x="1923" y="204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43141" name="Rectangle 245"/>
            <p:cNvSpPr/>
            <p:nvPr/>
          </p:nvSpPr>
          <p:spPr>
            <a:xfrm>
              <a:off x="4362" y="2360"/>
              <a:ext cx="7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3142" name="Rectangle 246"/>
            <p:cNvSpPr/>
            <p:nvPr/>
          </p:nvSpPr>
          <p:spPr>
            <a:xfrm>
              <a:off x="4454" y="237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2k</a:t>
              </a:r>
              <a:endParaRPr lang="en-US" altLang="zh-CN" dirty="0">
                <a:latin typeface="Times New Roman" panose="02020603050405020304" pitchFamily="18" charset="0"/>
              </a:endParaRPr>
            </a:p>
          </p:txBody>
        </p:sp>
        <p:sp>
          <p:nvSpPr>
            <p:cNvPr id="43143" name="Rectangle 247"/>
            <p:cNvSpPr/>
            <p:nvPr/>
          </p:nvSpPr>
          <p:spPr>
            <a:xfrm>
              <a:off x="3015" y="3272"/>
              <a:ext cx="21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3144" name="Rectangle 248"/>
            <p:cNvSpPr/>
            <p:nvPr/>
          </p:nvSpPr>
          <p:spPr>
            <a:xfrm>
              <a:off x="2647" y="3261"/>
              <a:ext cx="197"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3145" name="Rectangle 249"/>
            <p:cNvSpPr/>
            <p:nvPr/>
          </p:nvSpPr>
          <p:spPr>
            <a:xfrm>
              <a:off x="3359" y="2921"/>
              <a:ext cx="26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0.05uF</a:t>
              </a:r>
              <a:endParaRPr lang="en-US" altLang="zh-CN" dirty="0">
                <a:latin typeface="Times New Roman" panose="02020603050405020304" pitchFamily="18" charset="0"/>
              </a:endParaRPr>
            </a:p>
          </p:txBody>
        </p:sp>
        <p:sp>
          <p:nvSpPr>
            <p:cNvPr id="43146" name="Oval 250"/>
            <p:cNvSpPr/>
            <p:nvPr/>
          </p:nvSpPr>
          <p:spPr>
            <a:xfrm>
              <a:off x="2718" y="317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47" name="Oval 251"/>
            <p:cNvSpPr/>
            <p:nvPr/>
          </p:nvSpPr>
          <p:spPr>
            <a:xfrm>
              <a:off x="3098" y="317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3148" name="Rectangle 252"/>
            <p:cNvSpPr/>
            <p:nvPr/>
          </p:nvSpPr>
          <p:spPr>
            <a:xfrm>
              <a:off x="2077" y="2769"/>
              <a:ext cx="14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10k</a:t>
              </a:r>
              <a:endParaRPr lang="en-US" altLang="zh-CN" dirty="0">
                <a:latin typeface="Times New Roman" panose="02020603050405020304" pitchFamily="18" charset="0"/>
              </a:endParaRPr>
            </a:p>
          </p:txBody>
        </p:sp>
        <p:sp>
          <p:nvSpPr>
            <p:cNvPr id="43149" name="Rectangle 253"/>
            <p:cNvSpPr/>
            <p:nvPr/>
          </p:nvSpPr>
          <p:spPr>
            <a:xfrm>
              <a:off x="1045" y="3015"/>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模拟地</a:t>
              </a:r>
              <a:endParaRPr lang="zh-CN" altLang="en-US" dirty="0">
                <a:solidFill>
                  <a:srgbClr val="FF0000"/>
                </a:solidFill>
                <a:latin typeface="Times New Roman" panose="02020603050405020304" pitchFamily="18" charset="0"/>
              </a:endParaRPr>
            </a:p>
          </p:txBody>
        </p:sp>
        <p:sp>
          <p:nvSpPr>
            <p:cNvPr id="43150" name="Line 254"/>
            <p:cNvSpPr/>
            <p:nvPr/>
          </p:nvSpPr>
          <p:spPr>
            <a:xfrm flipV="1">
              <a:off x="1223" y="2910"/>
              <a:ext cx="65" cy="64"/>
            </a:xfrm>
            <a:prstGeom prst="line">
              <a:avLst/>
            </a:prstGeom>
            <a:ln w="19050" cap="flat" cmpd="sng">
              <a:solidFill>
                <a:srgbClr val="000000"/>
              </a:solidFill>
              <a:prstDash val="solid"/>
              <a:headEnd type="none" w="med" len="med"/>
              <a:tailEnd type="none" w="med" len="med"/>
            </a:ln>
          </p:spPr>
        </p:sp>
        <p:sp>
          <p:nvSpPr>
            <p:cNvPr id="43151" name="Line 255"/>
            <p:cNvSpPr/>
            <p:nvPr/>
          </p:nvSpPr>
          <p:spPr>
            <a:xfrm>
              <a:off x="2795" y="2149"/>
              <a:ext cx="0" cy="374"/>
            </a:xfrm>
            <a:prstGeom prst="line">
              <a:avLst/>
            </a:prstGeom>
            <a:ln w="12700" cap="flat" cmpd="sng">
              <a:solidFill>
                <a:srgbClr val="000080"/>
              </a:solidFill>
              <a:prstDash val="solid"/>
              <a:headEnd type="none" w="med" len="med"/>
              <a:tailEnd type="none" w="med" len="med"/>
            </a:ln>
          </p:spPr>
        </p:sp>
        <p:sp>
          <p:nvSpPr>
            <p:cNvPr id="43152" name="Line 256"/>
            <p:cNvSpPr/>
            <p:nvPr/>
          </p:nvSpPr>
          <p:spPr>
            <a:xfrm>
              <a:off x="2795" y="2523"/>
              <a:ext cx="772" cy="0"/>
            </a:xfrm>
            <a:prstGeom prst="line">
              <a:avLst/>
            </a:prstGeom>
            <a:ln w="12700" cap="flat" cmpd="sng">
              <a:solidFill>
                <a:srgbClr val="000080"/>
              </a:solidFill>
              <a:prstDash val="solid"/>
              <a:headEnd type="none" w="med" len="med"/>
              <a:tailEnd type="none" w="med" len="med"/>
            </a:ln>
          </p:spPr>
        </p:sp>
        <p:sp>
          <p:nvSpPr>
            <p:cNvPr id="43153" name="Line 257"/>
            <p:cNvSpPr/>
            <p:nvPr/>
          </p:nvSpPr>
          <p:spPr>
            <a:xfrm>
              <a:off x="4095" y="2713"/>
              <a:ext cx="142" cy="0"/>
            </a:xfrm>
            <a:prstGeom prst="line">
              <a:avLst/>
            </a:prstGeom>
            <a:ln w="19050" cap="flat" cmpd="sng">
              <a:solidFill>
                <a:srgbClr val="000000"/>
              </a:solidFill>
              <a:prstDash val="solid"/>
              <a:headEnd type="none" w="med" len="med"/>
              <a:tailEnd type="none" w="med" len="med"/>
            </a:ln>
          </p:spPr>
        </p:sp>
        <p:sp>
          <p:nvSpPr>
            <p:cNvPr id="43154" name="Rectangle 258"/>
            <p:cNvSpPr/>
            <p:nvPr/>
          </p:nvSpPr>
          <p:spPr>
            <a:xfrm>
              <a:off x="4540" y="238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3155" name="Rectangle 259"/>
            <p:cNvSpPr/>
            <p:nvPr/>
          </p:nvSpPr>
          <p:spPr>
            <a:xfrm>
              <a:off x="2204" y="277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3156" name="Line 260"/>
            <p:cNvSpPr/>
            <p:nvPr/>
          </p:nvSpPr>
          <p:spPr>
            <a:xfrm>
              <a:off x="4199" y="2149"/>
              <a:ext cx="323" cy="0"/>
            </a:xfrm>
            <a:prstGeom prst="line">
              <a:avLst/>
            </a:prstGeom>
            <a:ln w="12700" cap="flat" cmpd="sng">
              <a:solidFill>
                <a:srgbClr val="000080"/>
              </a:solidFill>
              <a:prstDash val="solid"/>
              <a:headEnd type="none" w="med" len="med"/>
              <a:tailEnd type="none" w="med" len="med"/>
            </a:ln>
          </p:spPr>
        </p:sp>
        <p:sp>
          <p:nvSpPr>
            <p:cNvPr id="43157" name="Line 261"/>
            <p:cNvSpPr/>
            <p:nvPr/>
          </p:nvSpPr>
          <p:spPr>
            <a:xfrm>
              <a:off x="3626" y="2149"/>
              <a:ext cx="184" cy="0"/>
            </a:xfrm>
            <a:prstGeom prst="line">
              <a:avLst/>
            </a:prstGeom>
            <a:ln w="12700" cap="flat" cmpd="sng">
              <a:solidFill>
                <a:srgbClr val="000080"/>
              </a:solidFill>
              <a:prstDash val="solid"/>
              <a:headEnd type="none" w="med" len="med"/>
              <a:tailEnd type="none" w="med" len="med"/>
            </a:ln>
          </p:spPr>
        </p:sp>
        <p:sp>
          <p:nvSpPr>
            <p:cNvPr id="43158" name="Line 262"/>
            <p:cNvSpPr/>
            <p:nvPr/>
          </p:nvSpPr>
          <p:spPr>
            <a:xfrm>
              <a:off x="2653" y="1681"/>
              <a:ext cx="279" cy="0"/>
            </a:xfrm>
            <a:prstGeom prst="line">
              <a:avLst/>
            </a:prstGeom>
            <a:ln w="12700" cap="flat" cmpd="sng">
              <a:solidFill>
                <a:srgbClr val="000080"/>
              </a:solidFill>
              <a:prstDash val="solid"/>
              <a:headEnd type="none" w="med" len="med"/>
              <a:tailEnd type="none" w="med" len="med"/>
            </a:ln>
          </p:spPr>
        </p:sp>
        <p:sp>
          <p:nvSpPr>
            <p:cNvPr id="43159" name="Line 263"/>
            <p:cNvSpPr/>
            <p:nvPr/>
          </p:nvSpPr>
          <p:spPr>
            <a:xfrm>
              <a:off x="2172" y="2523"/>
              <a:ext cx="190" cy="0"/>
            </a:xfrm>
            <a:prstGeom prst="line">
              <a:avLst/>
            </a:prstGeom>
            <a:ln w="12700" cap="flat" cmpd="sng">
              <a:solidFill>
                <a:srgbClr val="000080"/>
              </a:solidFill>
              <a:prstDash val="solid"/>
              <a:headEnd type="none" w="med" len="med"/>
              <a:tailEnd type="none" w="med" len="med"/>
            </a:ln>
          </p:spPr>
        </p:sp>
        <p:sp>
          <p:nvSpPr>
            <p:cNvPr id="43160" name="Line 264"/>
            <p:cNvSpPr/>
            <p:nvPr/>
          </p:nvSpPr>
          <p:spPr>
            <a:xfrm>
              <a:off x="1982" y="2740"/>
              <a:ext cx="0" cy="158"/>
            </a:xfrm>
            <a:prstGeom prst="line">
              <a:avLst/>
            </a:prstGeom>
            <a:ln w="12700" cap="flat" cmpd="sng">
              <a:solidFill>
                <a:srgbClr val="000080"/>
              </a:solidFill>
              <a:prstDash val="solid"/>
              <a:headEnd type="none" w="med" len="med"/>
              <a:tailEnd type="none" w="med" len="med"/>
            </a:ln>
          </p:spPr>
        </p:sp>
        <p:sp>
          <p:nvSpPr>
            <p:cNvPr id="43161" name="Line 265"/>
            <p:cNvSpPr/>
            <p:nvPr/>
          </p:nvSpPr>
          <p:spPr>
            <a:xfrm flipV="1">
              <a:off x="1491" y="2224"/>
              <a:ext cx="402" cy="0"/>
            </a:xfrm>
            <a:prstGeom prst="line">
              <a:avLst/>
            </a:prstGeom>
            <a:ln w="12700" cap="flat" cmpd="sng">
              <a:solidFill>
                <a:srgbClr val="000080"/>
              </a:solidFill>
              <a:prstDash val="solid"/>
              <a:headEnd type="none" w="med" len="med"/>
              <a:tailEnd type="none" w="med" len="med"/>
            </a:ln>
          </p:spPr>
        </p:sp>
        <p:sp>
          <p:nvSpPr>
            <p:cNvPr id="43162" name="Line 266"/>
            <p:cNvSpPr/>
            <p:nvPr/>
          </p:nvSpPr>
          <p:spPr>
            <a:xfrm>
              <a:off x="2552" y="1435"/>
              <a:ext cx="0" cy="152"/>
            </a:xfrm>
            <a:prstGeom prst="line">
              <a:avLst/>
            </a:prstGeom>
            <a:ln w="12700" cap="flat" cmpd="sng">
              <a:solidFill>
                <a:srgbClr val="000080"/>
              </a:solidFill>
              <a:prstDash val="solid"/>
              <a:headEnd type="none" w="med" len="med"/>
              <a:tailEnd type="none" w="med" len="med"/>
            </a:ln>
          </p:spPr>
        </p:sp>
        <p:sp>
          <p:nvSpPr>
            <p:cNvPr id="43163" name="Line 267"/>
            <p:cNvSpPr/>
            <p:nvPr/>
          </p:nvSpPr>
          <p:spPr>
            <a:xfrm>
              <a:off x="3630" y="2523"/>
              <a:ext cx="203" cy="0"/>
            </a:xfrm>
            <a:prstGeom prst="line">
              <a:avLst/>
            </a:prstGeom>
            <a:ln w="12700" cap="flat" cmpd="sng">
              <a:solidFill>
                <a:srgbClr val="000080"/>
              </a:solidFill>
              <a:prstDash val="solid"/>
              <a:headEnd type="none" w="med" len="med"/>
              <a:tailEnd type="none" w="med" len="med"/>
            </a:ln>
          </p:spPr>
        </p:sp>
        <p:sp>
          <p:nvSpPr>
            <p:cNvPr id="43164" name="Rectangle 268"/>
            <p:cNvSpPr/>
            <p:nvPr/>
          </p:nvSpPr>
          <p:spPr>
            <a:xfrm>
              <a:off x="2096" y="3498"/>
              <a:ext cx="1532" cy="173"/>
            </a:xfrm>
            <a:prstGeom prst="rect">
              <a:avLst/>
            </a:prstGeom>
            <a:noFill/>
            <a:ln w="9525">
              <a:noFill/>
            </a:ln>
          </p:spPr>
          <p:txBody>
            <a:bodyPr wrap="none" lIns="0" tIns="0" rIns="0" bIns="0">
              <a:spAutoFit/>
            </a:bodyPr>
            <a:p>
              <a:pPr eaLnBrk="1" hangingPunct="1">
                <a:lnSpc>
                  <a:spcPct val="90000"/>
                </a:lnSpc>
              </a:pPr>
              <a:r>
                <a:rPr lang="en-US" altLang="zh-CN" sz="2000" dirty="0">
                  <a:solidFill>
                    <a:srgbClr val="000080"/>
                  </a:solidFill>
                  <a:latin typeface="楷体_GB2312" pitchFamily="49" charset="-122"/>
                </a:rPr>
                <a:t>AD582</a:t>
              </a:r>
              <a:r>
                <a:rPr lang="zh-CN" altLang="en-US" sz="2000" dirty="0">
                  <a:solidFill>
                    <a:srgbClr val="000080"/>
                  </a:solidFill>
                  <a:latin typeface="楷体_GB2312" pitchFamily="49" charset="-122"/>
                </a:rPr>
                <a:t>实用电路（一）</a:t>
              </a:r>
              <a:endParaRPr lang="zh-CN" altLang="en-US" dirty="0">
                <a:latin typeface="Times New Roman" panose="02020603050405020304" pitchFamily="18" charset="0"/>
              </a:endParaRPr>
            </a:p>
          </p:txBody>
        </p:sp>
        <p:sp>
          <p:nvSpPr>
            <p:cNvPr id="43165" name="AutoShape 269"/>
            <p:cNvSpPr/>
            <p:nvPr/>
          </p:nvSpPr>
          <p:spPr>
            <a:xfrm rot="5400000">
              <a:off x="2438" y="1565"/>
              <a:ext cx="240" cy="224"/>
            </a:xfrm>
            <a:prstGeom prst="flowChartDelay">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166" name="Text Box 272"/>
            <p:cNvSpPr txBox="1"/>
            <p:nvPr/>
          </p:nvSpPr>
          <p:spPr>
            <a:xfrm>
              <a:off x="1111" y="2395"/>
              <a:ext cx="290"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grpSp>
      <p:sp>
        <p:nvSpPr>
          <p:cNvPr id="2397459" name="Text Box 275"/>
          <p:cNvSpPr txBox="1"/>
          <p:nvPr/>
        </p:nvSpPr>
        <p:spPr>
          <a:xfrm>
            <a:off x="177800" y="1341438"/>
            <a:ext cx="2776538" cy="2647950"/>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是反馈型采样</a:t>
            </a:r>
            <a:r>
              <a:rPr lang="en-US" altLang="zh-CN" sz="2400" dirty="0">
                <a:solidFill>
                  <a:schemeClr val="tx1"/>
                </a:solidFill>
                <a:latin typeface="Times New Roman" panose="02020603050405020304" pitchFamily="18" charset="0"/>
              </a:rPr>
              <a:t>/</a:t>
            </a:r>
            <a:r>
              <a:rPr lang="zh-CN" altLang="en-US" sz="2400" dirty="0">
                <a:solidFill>
                  <a:schemeClr val="tx1"/>
                </a:solidFill>
                <a:latin typeface="Times New Roman" panose="02020603050405020304" pitchFamily="18" charset="0"/>
              </a:rPr>
              <a:t>保持器，增益为</a:t>
            </a:r>
            <a:r>
              <a:rPr lang="en-US" altLang="zh-CN" sz="2400" dirty="0">
                <a:solidFill>
                  <a:schemeClr val="tx1"/>
                </a:solidFill>
                <a:latin typeface="Times New Roman" panose="02020603050405020304" pitchFamily="18" charset="0"/>
              </a:rPr>
              <a:t>1</a:t>
            </a:r>
            <a:r>
              <a:rPr lang="zh-CN" altLang="en-US" sz="2400" dirty="0">
                <a:solidFill>
                  <a:schemeClr val="tx1"/>
                </a:solidFill>
                <a:latin typeface="Times New Roman" panose="02020603050405020304" pitchFamily="18" charset="0"/>
              </a:rPr>
              <a:t>，输出不反相的连接线路。保持电容接在运放的输出端</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脚</a:t>
            </a:r>
            <a:r>
              <a:rPr lang="en-US" altLang="zh-CN" sz="2400" dirty="0">
                <a:solidFill>
                  <a:schemeClr val="tx1"/>
                </a:solidFill>
                <a:latin typeface="Times New Roman" panose="02020603050405020304" pitchFamily="18" charset="0"/>
                <a:ea typeface="宋体" panose="02010600030101010101" pitchFamily="2" charset="-122"/>
              </a:rPr>
              <a:t>8</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与反相输入端</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脚</a:t>
            </a:r>
            <a:r>
              <a:rPr lang="en-US" altLang="zh-CN" sz="2400" dirty="0">
                <a:solidFill>
                  <a:schemeClr val="tx1"/>
                </a:solidFill>
                <a:latin typeface="Times New Roman" panose="02020603050405020304" pitchFamily="18" charset="0"/>
                <a:ea typeface="宋体" panose="02010600030101010101" pitchFamily="2" charset="-122"/>
              </a:rPr>
              <a:t>6</a:t>
            </a:r>
            <a:r>
              <a:rPr lang="zh-CN" altLang="en-US" sz="2400" dirty="0">
                <a:solidFill>
                  <a:schemeClr val="tx1"/>
                </a:solidFill>
                <a:latin typeface="Times New Roman" panose="02020603050405020304" pitchFamily="18" charset="0"/>
                <a:ea typeface="宋体" panose="02010600030101010101" pitchFamily="2" charset="-122"/>
              </a:rPr>
              <a:t>）</a:t>
            </a:r>
            <a:r>
              <a:rPr lang="zh-CN" altLang="en-US" sz="2400" dirty="0">
                <a:solidFill>
                  <a:schemeClr val="tx1"/>
                </a:solidFill>
                <a:latin typeface="Times New Roman" panose="02020603050405020304" pitchFamily="18" charset="0"/>
              </a:rPr>
              <a:t>之间</a:t>
            </a:r>
            <a:r>
              <a:rPr lang="zh-CN" altLang="en-US" sz="2400" dirty="0">
                <a:solidFill>
                  <a:schemeClr val="tx1"/>
                </a:solidFill>
                <a:latin typeface="Times New Roman" panose="02020603050405020304" pitchFamily="18" charset="0"/>
                <a:ea typeface="宋体" panose="02010600030101010101" pitchFamily="2" charset="-122"/>
              </a:rPr>
              <a:t>。</a:t>
            </a:r>
            <a:endParaRPr lang="zh-CN" altLang="en-US" sz="2400" dirty="0">
              <a:solidFill>
                <a:schemeClr val="tx1"/>
              </a:solidFill>
              <a:latin typeface="Times New Roman" panose="02020603050405020304" pitchFamily="18" charset="0"/>
              <a:ea typeface="宋体" panose="02010600030101010101" pitchFamily="2" charset="-122"/>
            </a:endParaRPr>
          </a:p>
        </p:txBody>
      </p:sp>
      <p:sp>
        <p:nvSpPr>
          <p:cNvPr id="2397460" name="Text Box 276"/>
          <p:cNvSpPr txBox="1"/>
          <p:nvPr/>
        </p:nvSpPr>
        <p:spPr>
          <a:xfrm>
            <a:off x="177800" y="4041775"/>
            <a:ext cx="2776538" cy="1917700"/>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latin typeface="楷体_GB2312" pitchFamily="49" charset="-122"/>
              </a:rPr>
              <a:t>根据</a:t>
            </a:r>
            <a:r>
              <a:rPr lang="zh-CN" altLang="en-US" sz="2400" dirty="0">
                <a:latin typeface="Times New Roman" panose="02020603050405020304" pitchFamily="18" charset="0"/>
              </a:rPr>
              <a:t>“</a:t>
            </a:r>
            <a:r>
              <a:rPr lang="zh-CN" altLang="en-US" sz="2400" dirty="0">
                <a:solidFill>
                  <a:srgbClr val="FF0000"/>
                </a:solidFill>
                <a:latin typeface="楷体_GB2312" pitchFamily="49" charset="-122"/>
              </a:rPr>
              <a:t>密勒效应</a:t>
            </a:r>
            <a:r>
              <a:rPr lang="zh-CN" altLang="en-US" sz="2400" dirty="0">
                <a:latin typeface="Times New Roman" panose="02020603050405020304" pitchFamily="18" charset="0"/>
              </a:rPr>
              <a:t>”</a:t>
            </a:r>
            <a:r>
              <a:rPr lang="zh-CN" altLang="en-US" sz="2400" dirty="0">
                <a:latin typeface="楷体_GB2312" pitchFamily="49" charset="-122"/>
              </a:rPr>
              <a:t>，这样的接法相当于</a:t>
            </a:r>
            <a:r>
              <a:rPr lang="zh-CN" altLang="en-US" sz="2400" dirty="0">
                <a:latin typeface="Times New Roman" panose="02020603050405020304" pitchFamily="18" charset="0"/>
              </a:rPr>
              <a:t>在</a:t>
            </a:r>
            <a:r>
              <a:rPr lang="en-US" altLang="zh-CN" sz="2400"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的输入端接有电容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en-US" altLang="zh-CN" sz="2400" dirty="0">
                <a:solidFill>
                  <a:srgbClr val="FF0000"/>
                </a:solidFill>
                <a:latin typeface="Times New Roman" panose="02020603050405020304" pitchFamily="18" charset="0"/>
              </a:rPr>
              <a:t>’=(1+</a:t>
            </a:r>
            <a:r>
              <a:rPr lang="en-US" altLang="zh-CN" sz="2400" i="1" dirty="0">
                <a:solidFill>
                  <a:srgbClr val="FF0000"/>
                </a:solidFill>
                <a:latin typeface="Times New Roman" panose="02020603050405020304" pitchFamily="18" charset="0"/>
              </a:rPr>
              <a:t>A</a:t>
            </a:r>
            <a:r>
              <a:rPr lang="en-US" altLang="zh-CN" sz="2400" baseline="-25000" dirty="0">
                <a:solidFill>
                  <a:srgbClr val="FF0000"/>
                </a:solidFill>
                <a:latin typeface="Times New Roman" panose="02020603050405020304" pitchFamily="18" charset="0"/>
              </a:rPr>
              <a:t>2</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p:txBody>
      </p:sp>
      <p:sp>
        <p:nvSpPr>
          <p:cNvPr id="2397463" name="AutoShape 279"/>
          <p:cNvSpPr/>
          <p:nvPr/>
        </p:nvSpPr>
        <p:spPr>
          <a:xfrm>
            <a:off x="3230563" y="4875213"/>
            <a:ext cx="1252537" cy="712787"/>
          </a:xfrm>
          <a:prstGeom prst="wedgeRoundRectCallout">
            <a:avLst>
              <a:gd name="adj1" fmla="val 64574"/>
              <a:gd name="adj2" fmla="val -9810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400" dirty="0">
                <a:solidFill>
                  <a:srgbClr val="FF0000"/>
                </a:solidFill>
                <a:latin typeface="Times New Roman" panose="02020603050405020304" pitchFamily="18" charset="0"/>
              </a:rPr>
              <a:t>调零电位器</a:t>
            </a:r>
            <a:endParaRPr lang="zh-CN" altLang="en-US" sz="2400" dirty="0">
              <a:solidFill>
                <a:srgbClr val="FF0000"/>
              </a:solidFill>
              <a:latin typeface="Times New Roman" panose="02020603050405020304" pitchFamily="18" charset="0"/>
            </a:endParaRPr>
          </a:p>
        </p:txBody>
      </p:sp>
      <p:sp>
        <p:nvSpPr>
          <p:cNvPr id="2397461" name="AutoShape 277"/>
          <p:cNvSpPr/>
          <p:nvPr/>
        </p:nvSpPr>
        <p:spPr>
          <a:xfrm>
            <a:off x="3065463" y="1416050"/>
            <a:ext cx="5970587" cy="4568825"/>
          </a:xfrm>
          <a:prstGeom prst="wedgeRoundRectCallout">
            <a:avLst>
              <a:gd name="adj1" fmla="val -61648"/>
              <a:gd name="adj2" fmla="val 1202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397462" name="Text Box 278"/>
          <p:cNvSpPr txBox="1"/>
          <p:nvPr/>
        </p:nvSpPr>
        <p:spPr>
          <a:xfrm>
            <a:off x="3230563" y="1628775"/>
            <a:ext cx="5700712" cy="4254500"/>
          </a:xfrm>
          <a:prstGeom prst="rect">
            <a:avLst/>
          </a:prstGeom>
          <a:noFill/>
          <a:ln w="9525">
            <a:noFill/>
          </a:ln>
        </p:spPr>
        <p:txBody>
          <a:bodyPr>
            <a:spAutoFit/>
          </a:bodyPr>
          <a:p>
            <a:pPr marL="808355" indent="-808355" defTabSz="914400" eaLnBrk="1" hangingPunct="1">
              <a:lnSpc>
                <a:spcPct val="90000"/>
              </a:lnSpc>
              <a:spcBef>
                <a:spcPct val="20000"/>
              </a:spcBef>
              <a:tabLst>
                <a:tab pos="808355" algn="l"/>
              </a:tabLst>
            </a:pPr>
            <a:r>
              <a:rPr lang="zh-CN" altLang="en-US" sz="2400" dirty="0">
                <a:solidFill>
                  <a:srgbClr val="FF0000"/>
                </a:solidFill>
                <a:latin typeface="Times New Roman" panose="02020603050405020304" pitchFamily="18" charset="0"/>
              </a:rPr>
              <a:t>密勒效应：</a:t>
            </a:r>
            <a:r>
              <a:rPr lang="zh-CN" altLang="en-US" sz="2400" dirty="0">
                <a:latin typeface="Times New Roman" panose="02020603050405020304" pitchFamily="18" charset="0"/>
              </a:rPr>
              <a:t>反相放大电路中，输入与输出之间的分布电容或寄生电容由于放大器的放大作用，其等效到输入端的电容值会扩大</a:t>
            </a:r>
            <a:r>
              <a:rPr lang="en-US" altLang="zh-CN" sz="2400" dirty="0">
                <a:solidFill>
                  <a:srgbClr val="FF0000"/>
                </a:solidFill>
                <a:latin typeface="Times New Roman" panose="02020603050405020304" pitchFamily="18" charset="0"/>
              </a:rPr>
              <a:t>1+K</a:t>
            </a:r>
            <a:r>
              <a:rPr lang="zh-CN" altLang="en-US" sz="2400" dirty="0">
                <a:latin typeface="Times New Roman" panose="02020603050405020304" pitchFamily="18" charset="0"/>
              </a:rPr>
              <a:t>倍，其中</a:t>
            </a:r>
            <a:r>
              <a:rPr lang="en-US" altLang="zh-CN" sz="2400" dirty="0">
                <a:solidFill>
                  <a:srgbClr val="FF0000"/>
                </a:solidFill>
                <a:latin typeface="Times New Roman" panose="02020603050405020304" pitchFamily="18" charset="0"/>
              </a:rPr>
              <a:t>K</a:t>
            </a:r>
            <a:r>
              <a:rPr lang="zh-CN" altLang="en-US" sz="2400" dirty="0">
                <a:latin typeface="Times New Roman" panose="02020603050405020304" pitchFamily="18" charset="0"/>
              </a:rPr>
              <a:t>是该级放大电路电压放大倍数。</a:t>
            </a:r>
            <a:endParaRPr lang="zh-CN" altLang="en-US" sz="2400" dirty="0">
              <a:latin typeface="Times New Roman" panose="02020603050405020304" pitchFamily="18" charset="0"/>
            </a:endParaRPr>
          </a:p>
          <a:p>
            <a:pPr marL="808355" indent="-808355" defTabSz="914400" eaLnBrk="1" hangingPunct="1">
              <a:lnSpc>
                <a:spcPct val="90000"/>
              </a:lnSpc>
              <a:spcBef>
                <a:spcPct val="20000"/>
              </a:spcBef>
              <a:tabLst>
                <a:tab pos="808355" algn="l"/>
              </a:tabLst>
            </a:pPr>
            <a:r>
              <a:rPr lang="zh-CN" altLang="en-US" sz="2400" dirty="0">
                <a:solidFill>
                  <a:srgbClr val="FF0000"/>
                </a:solidFill>
                <a:latin typeface="Times New Roman" panose="02020603050405020304" pitchFamily="18" charset="0"/>
              </a:rPr>
              <a:t>坏处：</a:t>
            </a:r>
            <a:r>
              <a:rPr lang="zh-CN" altLang="en-US" sz="2400" dirty="0">
                <a:latin typeface="Times New Roman" panose="02020603050405020304" pitchFamily="18" charset="0"/>
              </a:rPr>
              <a:t>密勒电容对器件的频率特性有直接的影响。  </a:t>
            </a:r>
            <a:endParaRPr lang="zh-CN" altLang="en-US" sz="2400" dirty="0">
              <a:latin typeface="Times New Roman" panose="02020603050405020304" pitchFamily="18" charset="0"/>
            </a:endParaRPr>
          </a:p>
          <a:p>
            <a:pPr marL="808355" indent="-808355" defTabSz="914400" eaLnBrk="1" hangingPunct="1">
              <a:lnSpc>
                <a:spcPct val="90000"/>
              </a:lnSpc>
              <a:spcBef>
                <a:spcPct val="20000"/>
              </a:spcBef>
              <a:tabLst>
                <a:tab pos="808355" algn="l"/>
              </a:tabLst>
            </a:pPr>
            <a:r>
              <a:rPr lang="zh-CN" altLang="en-US" sz="2400" dirty="0">
                <a:solidFill>
                  <a:srgbClr val="FF0000"/>
                </a:solidFill>
                <a:latin typeface="Times New Roman" panose="02020603050405020304" pitchFamily="18" charset="0"/>
              </a:rPr>
              <a:t>好处：</a:t>
            </a:r>
            <a:r>
              <a:rPr lang="en-US" altLang="zh-CN" sz="2400" dirty="0">
                <a:solidFill>
                  <a:srgbClr val="FF0000"/>
                </a:solidFill>
                <a:latin typeface="Times New Roman" panose="02020603050405020304" pitchFamily="18" charset="0"/>
              </a:rPr>
              <a:t>1. </a:t>
            </a:r>
            <a:r>
              <a:rPr lang="zh-CN" altLang="en-US" sz="2400" dirty="0">
                <a:latin typeface="Times New Roman" panose="02020603050405020304" pitchFamily="18" charset="0"/>
              </a:rPr>
              <a:t>采用较小的电容来获得较大的电容，这种技术在</a:t>
            </a:r>
            <a:r>
              <a:rPr lang="en-US" altLang="zh-CN" sz="2400" dirty="0">
                <a:latin typeface="Times New Roman" panose="02020603050405020304" pitchFamily="18" charset="0"/>
              </a:rPr>
              <a:t>IC</a:t>
            </a:r>
            <a:r>
              <a:rPr lang="zh-CN" altLang="en-US" sz="2400" dirty="0">
                <a:latin typeface="Times New Roman" panose="02020603050405020304" pitchFamily="18" charset="0"/>
              </a:rPr>
              <a:t>设计中具有重要的意义（可以减小芯片面积）；</a:t>
            </a:r>
            <a:endParaRPr lang="zh-CN" altLang="en-US" sz="2400" dirty="0">
              <a:latin typeface="Times New Roman" panose="02020603050405020304" pitchFamily="18" charset="0"/>
            </a:endParaRPr>
          </a:p>
          <a:p>
            <a:pPr marL="808355" indent="-808355" defTabSz="914400" eaLnBrk="1" hangingPunct="1">
              <a:lnSpc>
                <a:spcPct val="90000"/>
              </a:lnSpc>
              <a:spcBef>
                <a:spcPct val="20000"/>
              </a:spcBef>
              <a:tabLst>
                <a:tab pos="808355" algn="l"/>
              </a:tabLst>
            </a:pPr>
            <a:r>
              <a:rPr lang="zh-CN" altLang="en-US" sz="2400" dirty="0">
                <a:latin typeface="Times New Roman" panose="02020603050405020304" pitchFamily="18" charset="0"/>
              </a:rPr>
              <a:t>	</a:t>
            </a:r>
            <a:r>
              <a:rPr lang="en-US" altLang="zh-CN" sz="2400" dirty="0">
                <a:solidFill>
                  <a:srgbClr val="FF0000"/>
                </a:solidFill>
                <a:latin typeface="Times New Roman" panose="02020603050405020304" pitchFamily="18" charset="0"/>
              </a:rPr>
              <a:t>2.</a:t>
            </a:r>
            <a:r>
              <a:rPr lang="en-US" altLang="zh-CN" sz="2400" dirty="0">
                <a:latin typeface="Times New Roman" panose="02020603050405020304" pitchFamily="18" charset="0"/>
              </a:rPr>
              <a:t> </a:t>
            </a:r>
            <a:r>
              <a:rPr lang="zh-CN" altLang="en-US" sz="2400" dirty="0">
                <a:latin typeface="Times New Roman" panose="02020603050405020304" pitchFamily="18" charset="0"/>
              </a:rPr>
              <a:t>获得可控电容 </a:t>
            </a:r>
            <a:r>
              <a:rPr lang="en-US" altLang="zh-CN" sz="2400" dirty="0">
                <a:latin typeface="Times New Roman" panose="02020603050405020304" pitchFamily="18" charset="0"/>
              </a:rPr>
              <a:t>(</a:t>
            </a:r>
            <a:r>
              <a:rPr lang="zh-CN" altLang="en-US" sz="2400" dirty="0">
                <a:latin typeface="Times New Roman" panose="02020603050405020304" pitchFamily="18" charset="0"/>
              </a:rPr>
              <a:t>例如受电压或电流控制的电容</a:t>
            </a:r>
            <a:r>
              <a:rPr lang="en-US" altLang="zh-CN" sz="2400" dirty="0">
                <a:latin typeface="Times New Roman" panose="02020603050405020304" pitchFamily="18" charset="0"/>
              </a:rPr>
              <a:t>) </a:t>
            </a:r>
            <a:r>
              <a:rPr lang="zh-CN" altLang="en-US" sz="2400" dirty="0">
                <a:latin typeface="Times New Roman" panose="02020603050405020304" pitchFamily="18" charset="0"/>
              </a:rPr>
              <a:t>。  </a:t>
            </a:r>
            <a:endParaRPr lang="zh-CN" altLang="en-US" sz="2400" dirty="0">
              <a:latin typeface="Times New Roman" panose="02020603050405020304" pitchFamily="18" charset="0"/>
            </a:endParaRPr>
          </a:p>
        </p:txBody>
      </p:sp>
      <p:sp>
        <p:nvSpPr>
          <p:cNvPr id="43017" name="Text Box 11"/>
          <p:cNvSpPr txBox="1"/>
          <p:nvPr/>
        </p:nvSpPr>
        <p:spPr>
          <a:xfrm>
            <a:off x="358775" y="657225"/>
            <a:ext cx="44545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5.5.1 AD582</a:t>
            </a:r>
            <a:r>
              <a:rPr lang="zh-CN" altLang="en-US" sz="3200" dirty="0">
                <a:latin typeface="Times New Roman" panose="02020603050405020304" pitchFamily="18" charset="0"/>
              </a:rPr>
              <a:t>的实用电路</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7458"/>
                                        </p:tgtEl>
                                        <p:attrNameLst>
                                          <p:attrName>style.visibility</p:attrName>
                                        </p:attrNameLst>
                                      </p:cBhvr>
                                      <p:to>
                                        <p:strVal val="visible"/>
                                      </p:to>
                                    </p:set>
                                    <p:animEffect transition="in" filter="dissolve">
                                      <p:cBhvr>
                                        <p:cTn id="7" dur="500"/>
                                        <p:tgtEl>
                                          <p:spTgt spid="239745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7463"/>
                                        </p:tgtEl>
                                        <p:attrNameLst>
                                          <p:attrName>style.visibility</p:attrName>
                                        </p:attrNameLst>
                                      </p:cBhvr>
                                      <p:to>
                                        <p:strVal val="visible"/>
                                      </p:to>
                                    </p:set>
                                    <p:animEffect transition="in" filter="dissolve">
                                      <p:cBhvr>
                                        <p:cTn id="12" dur="500"/>
                                        <p:tgtEl>
                                          <p:spTgt spid="239746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7459"/>
                                        </p:tgtEl>
                                        <p:attrNameLst>
                                          <p:attrName>style.visibility</p:attrName>
                                        </p:attrNameLst>
                                      </p:cBhvr>
                                      <p:to>
                                        <p:strVal val="visible"/>
                                      </p:to>
                                    </p:set>
                                    <p:animEffect transition="in" filter="dissolve">
                                      <p:cBhvr>
                                        <p:cTn id="17" dur="500"/>
                                        <p:tgtEl>
                                          <p:spTgt spid="23974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7460"/>
                                        </p:tgtEl>
                                        <p:attrNameLst>
                                          <p:attrName>style.visibility</p:attrName>
                                        </p:attrNameLst>
                                      </p:cBhvr>
                                      <p:to>
                                        <p:strVal val="visible"/>
                                      </p:to>
                                    </p:set>
                                    <p:animEffect transition="in" filter="dissolve">
                                      <p:cBhvr>
                                        <p:cTn id="22" dur="500"/>
                                        <p:tgtEl>
                                          <p:spTgt spid="239746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97461"/>
                                        </p:tgtEl>
                                        <p:attrNameLst>
                                          <p:attrName>style.visibility</p:attrName>
                                        </p:attrNameLst>
                                      </p:cBhvr>
                                      <p:to>
                                        <p:strVal val="visible"/>
                                      </p:to>
                                    </p:set>
                                    <p:animEffect transition="in" filter="dissolve">
                                      <p:cBhvr>
                                        <p:cTn id="27" dur="500"/>
                                        <p:tgtEl>
                                          <p:spTgt spid="2397461"/>
                                        </p:tgtEl>
                                      </p:cBhvr>
                                    </p:animEffect>
                                  </p:childTnLst>
                                </p:cTn>
                              </p:par>
                              <p:par>
                                <p:cTn id="28" presetID="9" presetClass="entr" presetSubtype="0" fill="hold" nodeType="withEffect">
                                  <p:stCondLst>
                                    <p:cond delay="0"/>
                                  </p:stCondLst>
                                  <p:childTnLst>
                                    <p:set>
                                      <p:cBhvr>
                                        <p:cTn id="29" dur="1" fill="hold">
                                          <p:stCondLst>
                                            <p:cond delay="0"/>
                                          </p:stCondLst>
                                        </p:cTn>
                                        <p:tgtEl>
                                          <p:spTgt spid="2397462"/>
                                        </p:tgtEl>
                                        <p:attrNameLst>
                                          <p:attrName>style.visibility</p:attrName>
                                        </p:attrNameLst>
                                      </p:cBhvr>
                                      <p:to>
                                        <p:strVal val="visible"/>
                                      </p:to>
                                    </p:set>
                                    <p:animEffect transition="in" filter="dissolve">
                                      <p:cBhvr>
                                        <p:cTn id="30" dur="500"/>
                                        <p:tgtEl>
                                          <p:spTgt spid="2397462"/>
                                        </p:tgtEl>
                                      </p:cBhvr>
                                    </p:animEffect>
                                  </p:childTnLst>
                                </p:cTn>
                              </p:par>
                            </p:childTnLst>
                          </p:cTn>
                        </p:par>
                      </p:childTnLst>
                    </p:cTn>
                  </p:par>
                  <p:par>
                    <p:cTn id="31" fill="hold">
                      <p:stCondLst>
                        <p:cond delay="indefinite"/>
                      </p:stCondLst>
                      <p:childTnLst>
                        <p:par>
                          <p:cTn id="32" fill="hold">
                            <p:stCondLst>
                              <p:cond delay="0"/>
                            </p:stCondLst>
                            <p:childTnLst>
                              <p:par>
                                <p:cTn id="33" presetID="3" presetClass="exit" presetSubtype="10" fill="hold" nodeType="clickEffect">
                                  <p:stCondLst>
                                    <p:cond delay="0"/>
                                  </p:stCondLst>
                                  <p:childTnLst>
                                    <p:animEffect transition="out" filter="blinds(horizontal)">
                                      <p:cBhvr>
                                        <p:cTn id="34" dur="500"/>
                                        <p:tgtEl>
                                          <p:spTgt spid="2397461"/>
                                        </p:tgtEl>
                                      </p:cBhvr>
                                    </p:animEffect>
                                    <p:set>
                                      <p:cBhvr>
                                        <p:cTn id="35" dur="1" fill="hold">
                                          <p:stCondLst>
                                            <p:cond delay="499"/>
                                          </p:stCondLst>
                                        </p:cTn>
                                        <p:tgtEl>
                                          <p:spTgt spid="2397461"/>
                                        </p:tgtEl>
                                        <p:attrNameLst>
                                          <p:attrName>style.visibility</p:attrName>
                                        </p:attrNameLst>
                                      </p:cBhvr>
                                      <p:to>
                                        <p:strVal val="hidden"/>
                                      </p:to>
                                    </p:set>
                                  </p:childTnLst>
                                </p:cTn>
                              </p:par>
                              <p:par>
                                <p:cTn id="36" presetID="3" presetClass="exit" presetSubtype="10" fill="hold" nodeType="withEffect">
                                  <p:stCondLst>
                                    <p:cond delay="0"/>
                                  </p:stCondLst>
                                  <p:childTnLst>
                                    <p:animEffect transition="out" filter="blinds(horizontal)">
                                      <p:cBhvr>
                                        <p:cTn id="37" dur="500"/>
                                        <p:tgtEl>
                                          <p:spTgt spid="2397462"/>
                                        </p:tgtEl>
                                      </p:cBhvr>
                                    </p:animEffect>
                                    <p:set>
                                      <p:cBhvr>
                                        <p:cTn id="38" dur="1" fill="hold">
                                          <p:stCondLst>
                                            <p:cond delay="499"/>
                                          </p:stCondLst>
                                        </p:cTn>
                                        <p:tgtEl>
                                          <p:spTgt spid="239746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7459" grpId="0"/>
      <p:bldP spid="2397460" grpId="0"/>
      <p:bldP spid="2397463" grpId="0" animBg="1"/>
      <p:bldP spid="2397461" grpId="0" animBg="1"/>
      <p:bldP spid="2397461" grpId="1" animBg="1"/>
      <p:bldP spid="2397462" grpId="0"/>
      <p:bldP spid="2397462" grpId="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3026" name="Text Box 2"/>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44035" name="Group 4"/>
          <p:cNvGrpSpPr/>
          <p:nvPr/>
        </p:nvGrpSpPr>
        <p:grpSpPr>
          <a:xfrm>
            <a:off x="2954338" y="1676400"/>
            <a:ext cx="6081712" cy="4246563"/>
            <a:chOff x="975" y="1043"/>
            <a:chExt cx="3831" cy="2675"/>
          </a:xfrm>
        </p:grpSpPr>
        <p:sp>
          <p:nvSpPr>
            <p:cNvPr id="44040" name="Rectangle 5"/>
            <p:cNvSpPr/>
            <p:nvPr/>
          </p:nvSpPr>
          <p:spPr>
            <a:xfrm>
              <a:off x="975" y="1043"/>
              <a:ext cx="3831" cy="267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4041" name="AutoShape 6"/>
            <p:cNvSpPr/>
            <p:nvPr/>
          </p:nvSpPr>
          <p:spPr>
            <a:xfrm rot="5400000">
              <a:off x="2931" y="1959"/>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4042" name="AutoShape 7"/>
            <p:cNvSpPr/>
            <p:nvPr/>
          </p:nvSpPr>
          <p:spPr>
            <a:xfrm rot="5400000">
              <a:off x="1897" y="1961"/>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4043" name="Rectangle 8"/>
            <p:cNvSpPr/>
            <p:nvPr/>
          </p:nvSpPr>
          <p:spPr>
            <a:xfrm>
              <a:off x="2457" y="1587"/>
              <a:ext cx="200" cy="108"/>
            </a:xfrm>
            <a:prstGeom prst="rect">
              <a:avLst/>
            </a:prstGeom>
            <a:solidFill>
              <a:srgbClr val="FFFFFF"/>
            </a:solidFill>
            <a:ln w="0" cap="flat" cmpd="sng">
              <a:solidFill>
                <a:srgbClr val="FFFF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4" name="Line 9"/>
            <p:cNvSpPr/>
            <p:nvPr/>
          </p:nvSpPr>
          <p:spPr>
            <a:xfrm>
              <a:off x="2552" y="1780"/>
              <a:ext cx="0" cy="334"/>
            </a:xfrm>
            <a:prstGeom prst="line">
              <a:avLst/>
            </a:prstGeom>
            <a:ln w="12700" cap="flat" cmpd="sng">
              <a:solidFill>
                <a:srgbClr val="FF0000"/>
              </a:solidFill>
              <a:prstDash val="dash"/>
              <a:headEnd type="none" w="med" len="med"/>
              <a:tailEnd type="none" w="med" len="med"/>
            </a:ln>
          </p:spPr>
        </p:sp>
        <p:sp>
          <p:nvSpPr>
            <p:cNvPr id="44045" name="Line 10"/>
            <p:cNvSpPr/>
            <p:nvPr/>
          </p:nvSpPr>
          <p:spPr>
            <a:xfrm>
              <a:off x="2267" y="2149"/>
              <a:ext cx="166" cy="0"/>
            </a:xfrm>
            <a:prstGeom prst="line">
              <a:avLst/>
            </a:prstGeom>
            <a:ln w="0" cap="flat" cmpd="sng">
              <a:solidFill>
                <a:srgbClr val="000000"/>
              </a:solidFill>
              <a:prstDash val="solid"/>
              <a:headEnd type="none" w="med" len="med"/>
              <a:tailEnd type="none" w="med" len="med"/>
            </a:ln>
          </p:spPr>
        </p:sp>
        <p:sp>
          <p:nvSpPr>
            <p:cNvPr id="44046" name="Oval 11"/>
            <p:cNvSpPr/>
            <p:nvPr/>
          </p:nvSpPr>
          <p:spPr>
            <a:xfrm>
              <a:off x="2433" y="212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7" name="Oval 12"/>
            <p:cNvSpPr/>
            <p:nvPr/>
          </p:nvSpPr>
          <p:spPr>
            <a:xfrm>
              <a:off x="2623" y="2126"/>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48" name="Line 13"/>
            <p:cNvSpPr/>
            <p:nvPr/>
          </p:nvSpPr>
          <p:spPr>
            <a:xfrm flipV="1">
              <a:off x="2493" y="2055"/>
              <a:ext cx="178" cy="88"/>
            </a:xfrm>
            <a:prstGeom prst="line">
              <a:avLst/>
            </a:prstGeom>
            <a:ln w="19050" cap="flat" cmpd="sng">
              <a:solidFill>
                <a:srgbClr val="000000"/>
              </a:solidFill>
              <a:prstDash val="solid"/>
              <a:headEnd type="none" w="med" len="med"/>
              <a:tailEnd type="none" w="med" len="med"/>
            </a:ln>
          </p:spPr>
        </p:sp>
        <p:sp>
          <p:nvSpPr>
            <p:cNvPr id="44049" name="Line 14"/>
            <p:cNvSpPr/>
            <p:nvPr/>
          </p:nvSpPr>
          <p:spPr>
            <a:xfrm>
              <a:off x="2682" y="2149"/>
              <a:ext cx="250" cy="0"/>
            </a:xfrm>
            <a:prstGeom prst="line">
              <a:avLst/>
            </a:prstGeom>
            <a:ln w="12700" cap="flat" cmpd="sng">
              <a:solidFill>
                <a:srgbClr val="000080"/>
              </a:solidFill>
              <a:prstDash val="solid"/>
              <a:headEnd type="none" w="med" len="med"/>
              <a:tailEnd type="none" w="med" len="med"/>
            </a:ln>
          </p:spPr>
        </p:sp>
        <p:sp>
          <p:nvSpPr>
            <p:cNvPr id="44050" name="Line 15"/>
            <p:cNvSpPr/>
            <p:nvPr/>
          </p:nvSpPr>
          <p:spPr>
            <a:xfrm>
              <a:off x="3311" y="2149"/>
              <a:ext cx="261" cy="0"/>
            </a:xfrm>
            <a:prstGeom prst="line">
              <a:avLst/>
            </a:prstGeom>
            <a:ln w="12700" cap="flat" cmpd="sng">
              <a:solidFill>
                <a:srgbClr val="000080"/>
              </a:solidFill>
              <a:prstDash val="solid"/>
              <a:headEnd type="none" w="med" len="med"/>
              <a:tailEnd type="none" w="med" len="med"/>
            </a:ln>
          </p:spPr>
        </p:sp>
        <p:sp>
          <p:nvSpPr>
            <p:cNvPr id="44051" name="Line 16"/>
            <p:cNvSpPr/>
            <p:nvPr/>
          </p:nvSpPr>
          <p:spPr>
            <a:xfrm flipH="1">
              <a:off x="1697" y="2091"/>
              <a:ext cx="190" cy="0"/>
            </a:xfrm>
            <a:prstGeom prst="line">
              <a:avLst/>
            </a:prstGeom>
            <a:ln w="12700" cap="flat" cmpd="sng">
              <a:solidFill>
                <a:srgbClr val="000080"/>
              </a:solidFill>
              <a:prstDash val="solid"/>
              <a:headEnd type="none" w="med" len="med"/>
              <a:tailEnd type="none" w="med" len="med"/>
            </a:ln>
          </p:spPr>
        </p:sp>
        <p:sp>
          <p:nvSpPr>
            <p:cNvPr id="44052" name="Line 17"/>
            <p:cNvSpPr/>
            <p:nvPr/>
          </p:nvSpPr>
          <p:spPr>
            <a:xfrm flipV="1">
              <a:off x="1697" y="1868"/>
              <a:ext cx="0" cy="223"/>
            </a:xfrm>
            <a:prstGeom prst="line">
              <a:avLst/>
            </a:prstGeom>
            <a:ln w="12700" cap="flat" cmpd="sng">
              <a:solidFill>
                <a:srgbClr val="000080"/>
              </a:solidFill>
              <a:prstDash val="solid"/>
              <a:headEnd type="none" w="med" len="med"/>
              <a:tailEnd type="none" w="med" len="med"/>
            </a:ln>
          </p:spPr>
        </p:sp>
        <p:sp>
          <p:nvSpPr>
            <p:cNvPr id="44053" name="Line 18"/>
            <p:cNvSpPr/>
            <p:nvPr/>
          </p:nvSpPr>
          <p:spPr>
            <a:xfrm>
              <a:off x="1697" y="1868"/>
              <a:ext cx="1881" cy="0"/>
            </a:xfrm>
            <a:prstGeom prst="line">
              <a:avLst/>
            </a:prstGeom>
            <a:ln w="12700" cap="flat" cmpd="sng">
              <a:solidFill>
                <a:srgbClr val="000080"/>
              </a:solidFill>
              <a:prstDash val="solid"/>
              <a:headEnd type="none" w="med" len="med"/>
              <a:tailEnd type="none" w="med" len="med"/>
            </a:ln>
          </p:spPr>
        </p:sp>
        <p:sp>
          <p:nvSpPr>
            <p:cNvPr id="44054" name="Oval 19"/>
            <p:cNvSpPr/>
            <p:nvPr/>
          </p:nvSpPr>
          <p:spPr>
            <a:xfrm>
              <a:off x="2518" y="1377"/>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5" name="Oval 20"/>
            <p:cNvSpPr/>
            <p:nvPr/>
          </p:nvSpPr>
          <p:spPr>
            <a:xfrm>
              <a:off x="2898" y="1377"/>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6" name="Oval 21"/>
            <p:cNvSpPr/>
            <p:nvPr/>
          </p:nvSpPr>
          <p:spPr>
            <a:xfrm>
              <a:off x="3572" y="212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7" name="Oval 22"/>
            <p:cNvSpPr/>
            <p:nvPr/>
          </p:nvSpPr>
          <p:spPr>
            <a:xfrm>
              <a:off x="3572" y="1845"/>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8" name="Oval 23"/>
            <p:cNvSpPr/>
            <p:nvPr/>
          </p:nvSpPr>
          <p:spPr>
            <a:xfrm>
              <a:off x="3567" y="2495"/>
              <a:ext cx="60" cy="59"/>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59" name="Oval 24"/>
            <p:cNvSpPr/>
            <p:nvPr/>
          </p:nvSpPr>
          <p:spPr>
            <a:xfrm>
              <a:off x="1954"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60" name="Oval 25"/>
            <p:cNvSpPr/>
            <p:nvPr/>
          </p:nvSpPr>
          <p:spPr>
            <a:xfrm>
              <a:off x="1431" y="2196"/>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61" name="Oval 26"/>
            <p:cNvSpPr/>
            <p:nvPr/>
          </p:nvSpPr>
          <p:spPr>
            <a:xfrm>
              <a:off x="2333" y="2681"/>
              <a:ext cx="60"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62" name="Oval 27"/>
            <p:cNvSpPr/>
            <p:nvPr/>
          </p:nvSpPr>
          <p:spPr>
            <a:xfrm>
              <a:off x="2718"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63" name="Line 28"/>
            <p:cNvSpPr/>
            <p:nvPr/>
          </p:nvSpPr>
          <p:spPr>
            <a:xfrm>
              <a:off x="1982" y="2301"/>
              <a:ext cx="0" cy="386"/>
            </a:xfrm>
            <a:prstGeom prst="line">
              <a:avLst/>
            </a:prstGeom>
            <a:ln w="12700" cap="flat" cmpd="sng">
              <a:solidFill>
                <a:srgbClr val="000080"/>
              </a:solidFill>
              <a:prstDash val="solid"/>
              <a:headEnd type="none" w="med" len="med"/>
              <a:tailEnd type="none" w="med" len="med"/>
            </a:ln>
          </p:spPr>
        </p:sp>
        <p:sp>
          <p:nvSpPr>
            <p:cNvPr id="44064" name="Line 29"/>
            <p:cNvSpPr/>
            <p:nvPr/>
          </p:nvSpPr>
          <p:spPr>
            <a:xfrm>
              <a:off x="2172" y="2196"/>
              <a:ext cx="0" cy="327"/>
            </a:xfrm>
            <a:prstGeom prst="line">
              <a:avLst/>
            </a:prstGeom>
            <a:ln w="12700" cap="flat" cmpd="sng">
              <a:solidFill>
                <a:srgbClr val="000080"/>
              </a:solidFill>
              <a:prstDash val="solid"/>
              <a:headEnd type="none" w="med" len="med"/>
              <a:tailEnd type="none" w="med" len="med"/>
            </a:ln>
          </p:spPr>
        </p:sp>
        <p:sp>
          <p:nvSpPr>
            <p:cNvPr id="44065" name="Line 30"/>
            <p:cNvSpPr/>
            <p:nvPr/>
          </p:nvSpPr>
          <p:spPr>
            <a:xfrm>
              <a:off x="2362" y="2523"/>
              <a:ext cx="0" cy="164"/>
            </a:xfrm>
            <a:prstGeom prst="line">
              <a:avLst/>
            </a:prstGeom>
            <a:ln w="12700" cap="flat" cmpd="sng">
              <a:solidFill>
                <a:srgbClr val="000080"/>
              </a:solidFill>
              <a:prstDash val="solid"/>
              <a:headEnd type="none" w="med" len="med"/>
              <a:tailEnd type="none" w="med" len="med"/>
            </a:ln>
          </p:spPr>
        </p:sp>
        <p:sp>
          <p:nvSpPr>
            <p:cNvPr id="44066" name="Oval 31"/>
            <p:cNvSpPr/>
            <p:nvPr/>
          </p:nvSpPr>
          <p:spPr>
            <a:xfrm>
              <a:off x="3088" y="2681"/>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67" name="Line 32"/>
            <p:cNvSpPr/>
            <p:nvPr/>
          </p:nvSpPr>
          <p:spPr>
            <a:xfrm>
              <a:off x="2932" y="1435"/>
              <a:ext cx="0" cy="250"/>
            </a:xfrm>
            <a:prstGeom prst="line">
              <a:avLst/>
            </a:prstGeom>
            <a:ln w="12700" cap="flat" cmpd="sng">
              <a:solidFill>
                <a:srgbClr val="000080"/>
              </a:solidFill>
              <a:prstDash val="solid"/>
              <a:headEnd type="none" w="med" len="med"/>
              <a:tailEnd type="none" w="med" len="med"/>
            </a:ln>
          </p:spPr>
        </p:sp>
        <p:sp>
          <p:nvSpPr>
            <p:cNvPr id="44068" name="Line 33"/>
            <p:cNvSpPr/>
            <p:nvPr/>
          </p:nvSpPr>
          <p:spPr>
            <a:xfrm>
              <a:off x="1460" y="1400"/>
              <a:ext cx="1068" cy="0"/>
            </a:xfrm>
            <a:prstGeom prst="line">
              <a:avLst/>
            </a:prstGeom>
            <a:ln w="19050" cap="flat" cmpd="sng">
              <a:solidFill>
                <a:srgbClr val="FF00FF"/>
              </a:solidFill>
              <a:prstDash val="dash"/>
              <a:headEnd type="none" w="med" len="med"/>
              <a:tailEnd type="none" w="med" len="med"/>
            </a:ln>
          </p:spPr>
        </p:sp>
        <p:sp>
          <p:nvSpPr>
            <p:cNvPr id="44069" name="Line 34"/>
            <p:cNvSpPr/>
            <p:nvPr/>
          </p:nvSpPr>
          <p:spPr>
            <a:xfrm>
              <a:off x="2582" y="1400"/>
              <a:ext cx="326" cy="0"/>
            </a:xfrm>
            <a:prstGeom prst="line">
              <a:avLst/>
            </a:prstGeom>
            <a:ln w="19050" cap="flat" cmpd="sng">
              <a:solidFill>
                <a:srgbClr val="FF00FF"/>
              </a:solidFill>
              <a:prstDash val="dash"/>
              <a:headEnd type="none" w="med" len="med"/>
              <a:tailEnd type="none" w="med" len="med"/>
            </a:ln>
          </p:spPr>
        </p:sp>
        <p:sp>
          <p:nvSpPr>
            <p:cNvPr id="44070" name="Line 35"/>
            <p:cNvSpPr/>
            <p:nvPr/>
          </p:nvSpPr>
          <p:spPr>
            <a:xfrm>
              <a:off x="2967" y="1400"/>
              <a:ext cx="629" cy="0"/>
            </a:xfrm>
            <a:prstGeom prst="line">
              <a:avLst/>
            </a:prstGeom>
            <a:ln w="19050" cap="flat" cmpd="sng">
              <a:solidFill>
                <a:srgbClr val="FF00FF"/>
              </a:solidFill>
              <a:prstDash val="dash"/>
              <a:headEnd type="none" w="med" len="med"/>
              <a:tailEnd type="none" w="med" len="med"/>
            </a:ln>
          </p:spPr>
        </p:sp>
        <p:sp>
          <p:nvSpPr>
            <p:cNvPr id="44071" name="Line 36"/>
            <p:cNvSpPr/>
            <p:nvPr/>
          </p:nvSpPr>
          <p:spPr>
            <a:xfrm>
              <a:off x="3596" y="1400"/>
              <a:ext cx="0" cy="457"/>
            </a:xfrm>
            <a:prstGeom prst="line">
              <a:avLst/>
            </a:prstGeom>
            <a:ln w="19050" cap="flat" cmpd="sng">
              <a:solidFill>
                <a:srgbClr val="FF00FF"/>
              </a:solidFill>
              <a:prstDash val="dash"/>
              <a:headEnd type="none" w="med" len="med"/>
              <a:tailEnd type="none" w="med" len="med"/>
            </a:ln>
          </p:spPr>
        </p:sp>
        <p:sp>
          <p:nvSpPr>
            <p:cNvPr id="44072" name="Line 37"/>
            <p:cNvSpPr/>
            <p:nvPr/>
          </p:nvSpPr>
          <p:spPr>
            <a:xfrm>
              <a:off x="3596" y="1897"/>
              <a:ext cx="0" cy="229"/>
            </a:xfrm>
            <a:prstGeom prst="line">
              <a:avLst/>
            </a:prstGeom>
            <a:ln w="19050" cap="flat" cmpd="sng">
              <a:solidFill>
                <a:srgbClr val="FF00FF"/>
              </a:solidFill>
              <a:prstDash val="dash"/>
              <a:headEnd type="none" w="med" len="med"/>
              <a:tailEnd type="none" w="med" len="med"/>
            </a:ln>
          </p:spPr>
        </p:sp>
        <p:sp>
          <p:nvSpPr>
            <p:cNvPr id="44073" name="Line 38"/>
            <p:cNvSpPr/>
            <p:nvPr/>
          </p:nvSpPr>
          <p:spPr>
            <a:xfrm>
              <a:off x="3596" y="2184"/>
              <a:ext cx="0" cy="318"/>
            </a:xfrm>
            <a:prstGeom prst="line">
              <a:avLst/>
            </a:prstGeom>
            <a:ln w="19050" cap="flat" cmpd="sng">
              <a:solidFill>
                <a:srgbClr val="FF00FF"/>
              </a:solidFill>
              <a:prstDash val="dash"/>
              <a:headEnd type="none" w="med" len="med"/>
              <a:tailEnd type="none" w="med" len="med"/>
            </a:ln>
          </p:spPr>
        </p:sp>
        <p:sp>
          <p:nvSpPr>
            <p:cNvPr id="44074" name="Line 39"/>
            <p:cNvSpPr/>
            <p:nvPr/>
          </p:nvSpPr>
          <p:spPr>
            <a:xfrm>
              <a:off x="3596" y="2559"/>
              <a:ext cx="0" cy="157"/>
            </a:xfrm>
            <a:prstGeom prst="line">
              <a:avLst/>
            </a:prstGeom>
            <a:ln w="19050" cap="flat" cmpd="sng">
              <a:solidFill>
                <a:srgbClr val="FF00FF"/>
              </a:solidFill>
              <a:prstDash val="dash"/>
              <a:headEnd type="none" w="med" len="med"/>
              <a:tailEnd type="none" w="med" len="med"/>
            </a:ln>
          </p:spPr>
        </p:sp>
        <p:sp>
          <p:nvSpPr>
            <p:cNvPr id="44075" name="Line 40"/>
            <p:cNvSpPr/>
            <p:nvPr/>
          </p:nvSpPr>
          <p:spPr>
            <a:xfrm flipH="1">
              <a:off x="3145" y="2711"/>
              <a:ext cx="451" cy="0"/>
            </a:xfrm>
            <a:prstGeom prst="line">
              <a:avLst/>
            </a:prstGeom>
            <a:ln w="19050" cap="flat" cmpd="sng">
              <a:solidFill>
                <a:srgbClr val="FF00FF"/>
              </a:solidFill>
              <a:prstDash val="dash"/>
              <a:headEnd type="none" w="med" len="med"/>
              <a:tailEnd type="none" w="med" len="med"/>
            </a:ln>
          </p:spPr>
        </p:sp>
        <p:sp>
          <p:nvSpPr>
            <p:cNvPr id="44076" name="Line 41"/>
            <p:cNvSpPr/>
            <p:nvPr/>
          </p:nvSpPr>
          <p:spPr>
            <a:xfrm flipH="1">
              <a:off x="2777" y="2711"/>
              <a:ext cx="309" cy="0"/>
            </a:xfrm>
            <a:prstGeom prst="line">
              <a:avLst/>
            </a:prstGeom>
            <a:ln w="19050" cap="flat" cmpd="sng">
              <a:solidFill>
                <a:srgbClr val="FF00FF"/>
              </a:solidFill>
              <a:prstDash val="dash"/>
              <a:headEnd type="none" w="med" len="med"/>
              <a:tailEnd type="none" w="med" len="med"/>
            </a:ln>
          </p:spPr>
        </p:sp>
        <p:sp>
          <p:nvSpPr>
            <p:cNvPr id="44077" name="Line 42"/>
            <p:cNvSpPr/>
            <p:nvPr/>
          </p:nvSpPr>
          <p:spPr>
            <a:xfrm>
              <a:off x="2398" y="2711"/>
              <a:ext cx="320" cy="0"/>
            </a:xfrm>
            <a:prstGeom prst="line">
              <a:avLst/>
            </a:prstGeom>
            <a:ln w="19050" cap="flat" cmpd="sng">
              <a:solidFill>
                <a:srgbClr val="FF00FF"/>
              </a:solidFill>
              <a:prstDash val="dash"/>
              <a:headEnd type="none" w="med" len="med"/>
              <a:tailEnd type="none" w="med" len="med"/>
            </a:ln>
          </p:spPr>
        </p:sp>
        <p:sp>
          <p:nvSpPr>
            <p:cNvPr id="44078" name="Line 43"/>
            <p:cNvSpPr/>
            <p:nvPr/>
          </p:nvSpPr>
          <p:spPr>
            <a:xfrm flipV="1">
              <a:off x="2014" y="2711"/>
              <a:ext cx="324" cy="2"/>
            </a:xfrm>
            <a:prstGeom prst="line">
              <a:avLst/>
            </a:prstGeom>
            <a:ln w="19050" cap="flat" cmpd="sng">
              <a:solidFill>
                <a:srgbClr val="FF00FF"/>
              </a:solidFill>
              <a:prstDash val="dash"/>
              <a:headEnd type="none" w="med" len="med"/>
              <a:tailEnd type="none" w="med" len="med"/>
            </a:ln>
          </p:spPr>
        </p:sp>
        <p:sp>
          <p:nvSpPr>
            <p:cNvPr id="44079" name="Line 44"/>
            <p:cNvSpPr/>
            <p:nvPr/>
          </p:nvSpPr>
          <p:spPr>
            <a:xfrm>
              <a:off x="1460" y="1400"/>
              <a:ext cx="0" cy="796"/>
            </a:xfrm>
            <a:prstGeom prst="line">
              <a:avLst/>
            </a:prstGeom>
            <a:ln w="19050" cap="flat" cmpd="sng">
              <a:solidFill>
                <a:srgbClr val="FF00FF"/>
              </a:solidFill>
              <a:prstDash val="dash"/>
              <a:headEnd type="none" w="med" len="med"/>
              <a:tailEnd type="none" w="med" len="med"/>
            </a:ln>
          </p:spPr>
        </p:sp>
        <p:sp>
          <p:nvSpPr>
            <p:cNvPr id="44080" name="Line 45"/>
            <p:cNvSpPr/>
            <p:nvPr/>
          </p:nvSpPr>
          <p:spPr>
            <a:xfrm>
              <a:off x="1460" y="2252"/>
              <a:ext cx="0" cy="459"/>
            </a:xfrm>
            <a:prstGeom prst="line">
              <a:avLst/>
            </a:prstGeom>
            <a:ln w="19050" cap="flat" cmpd="sng">
              <a:solidFill>
                <a:srgbClr val="FF00FF"/>
              </a:solidFill>
              <a:prstDash val="dash"/>
              <a:headEnd type="none" w="med" len="med"/>
              <a:tailEnd type="none" w="med" len="med"/>
            </a:ln>
          </p:spPr>
        </p:sp>
        <p:sp>
          <p:nvSpPr>
            <p:cNvPr id="44081" name="Line 46"/>
            <p:cNvSpPr/>
            <p:nvPr/>
          </p:nvSpPr>
          <p:spPr>
            <a:xfrm>
              <a:off x="1460" y="2711"/>
              <a:ext cx="499" cy="0"/>
            </a:xfrm>
            <a:prstGeom prst="line">
              <a:avLst/>
            </a:prstGeom>
            <a:ln w="19050" cap="flat" cmpd="sng">
              <a:solidFill>
                <a:srgbClr val="FF00FF"/>
              </a:solidFill>
              <a:prstDash val="dash"/>
              <a:headEnd type="none" w="med" len="med"/>
              <a:tailEnd type="none" w="med" len="med"/>
            </a:ln>
          </p:spPr>
        </p:sp>
        <p:sp>
          <p:nvSpPr>
            <p:cNvPr id="44082" name="Line 47"/>
            <p:cNvSpPr/>
            <p:nvPr/>
          </p:nvSpPr>
          <p:spPr>
            <a:xfrm>
              <a:off x="2742" y="2740"/>
              <a:ext cx="0" cy="439"/>
            </a:xfrm>
            <a:prstGeom prst="line">
              <a:avLst/>
            </a:prstGeom>
            <a:ln w="12700" cap="flat" cmpd="sng">
              <a:solidFill>
                <a:srgbClr val="000080"/>
              </a:solidFill>
              <a:prstDash val="solid"/>
              <a:headEnd type="none" w="med" len="med"/>
              <a:tailEnd type="none" w="med" len="med"/>
            </a:ln>
          </p:spPr>
        </p:sp>
        <p:sp>
          <p:nvSpPr>
            <p:cNvPr id="44083" name="Line 48"/>
            <p:cNvSpPr/>
            <p:nvPr/>
          </p:nvSpPr>
          <p:spPr>
            <a:xfrm>
              <a:off x="2742" y="2898"/>
              <a:ext cx="154" cy="0"/>
            </a:xfrm>
            <a:prstGeom prst="line">
              <a:avLst/>
            </a:prstGeom>
            <a:ln w="12700" cap="flat" cmpd="sng">
              <a:solidFill>
                <a:srgbClr val="000080"/>
              </a:solidFill>
              <a:prstDash val="solid"/>
              <a:headEnd type="none" w="med" len="med"/>
              <a:tailEnd type="none" w="med" len="med"/>
            </a:ln>
          </p:spPr>
        </p:sp>
        <p:sp>
          <p:nvSpPr>
            <p:cNvPr id="44084" name="Line 49"/>
            <p:cNvSpPr/>
            <p:nvPr/>
          </p:nvSpPr>
          <p:spPr>
            <a:xfrm>
              <a:off x="2896" y="2898"/>
              <a:ext cx="0" cy="82"/>
            </a:xfrm>
            <a:prstGeom prst="line">
              <a:avLst/>
            </a:prstGeom>
            <a:ln w="12700" cap="flat" cmpd="sng">
              <a:solidFill>
                <a:srgbClr val="000080"/>
              </a:solidFill>
              <a:prstDash val="solid"/>
              <a:headEnd type="none" w="med" len="med"/>
              <a:tailEnd type="none" w="med" len="med"/>
            </a:ln>
          </p:spPr>
        </p:sp>
        <p:sp>
          <p:nvSpPr>
            <p:cNvPr id="44085" name="Line 50"/>
            <p:cNvSpPr/>
            <p:nvPr/>
          </p:nvSpPr>
          <p:spPr>
            <a:xfrm>
              <a:off x="2849" y="2980"/>
              <a:ext cx="106" cy="0"/>
            </a:xfrm>
            <a:prstGeom prst="line">
              <a:avLst/>
            </a:prstGeom>
            <a:ln w="19050" cap="flat" cmpd="sng">
              <a:solidFill>
                <a:srgbClr val="000000"/>
              </a:solidFill>
              <a:prstDash val="solid"/>
              <a:headEnd type="none" w="med" len="med"/>
              <a:tailEnd type="none" w="med" len="med"/>
            </a:ln>
          </p:spPr>
        </p:sp>
        <p:sp>
          <p:nvSpPr>
            <p:cNvPr id="44086" name="Line 51"/>
            <p:cNvSpPr/>
            <p:nvPr/>
          </p:nvSpPr>
          <p:spPr>
            <a:xfrm>
              <a:off x="2849" y="3003"/>
              <a:ext cx="106" cy="0"/>
            </a:xfrm>
            <a:prstGeom prst="line">
              <a:avLst/>
            </a:prstGeom>
            <a:ln w="19050" cap="flat" cmpd="sng">
              <a:solidFill>
                <a:srgbClr val="000000"/>
              </a:solidFill>
              <a:prstDash val="solid"/>
              <a:headEnd type="none" w="med" len="med"/>
              <a:tailEnd type="none" w="med" len="med"/>
            </a:ln>
          </p:spPr>
        </p:sp>
        <p:sp>
          <p:nvSpPr>
            <p:cNvPr id="44087" name="Line 52"/>
            <p:cNvSpPr/>
            <p:nvPr/>
          </p:nvSpPr>
          <p:spPr>
            <a:xfrm>
              <a:off x="2896" y="3003"/>
              <a:ext cx="0" cy="129"/>
            </a:xfrm>
            <a:prstGeom prst="line">
              <a:avLst/>
            </a:prstGeom>
            <a:ln w="12700" cap="flat" cmpd="sng">
              <a:solidFill>
                <a:srgbClr val="000080"/>
              </a:solidFill>
              <a:prstDash val="solid"/>
              <a:headEnd type="none" w="med" len="med"/>
              <a:tailEnd type="none" w="med" len="med"/>
            </a:ln>
          </p:spPr>
        </p:sp>
        <p:sp>
          <p:nvSpPr>
            <p:cNvPr id="44088" name="Line 53"/>
            <p:cNvSpPr/>
            <p:nvPr/>
          </p:nvSpPr>
          <p:spPr>
            <a:xfrm>
              <a:off x="3121" y="2898"/>
              <a:ext cx="155" cy="0"/>
            </a:xfrm>
            <a:prstGeom prst="line">
              <a:avLst/>
            </a:prstGeom>
            <a:ln w="12700" cap="flat" cmpd="sng">
              <a:solidFill>
                <a:srgbClr val="000080"/>
              </a:solidFill>
              <a:prstDash val="solid"/>
              <a:headEnd type="none" w="med" len="med"/>
              <a:tailEnd type="none" w="med" len="med"/>
            </a:ln>
          </p:spPr>
        </p:sp>
        <p:sp>
          <p:nvSpPr>
            <p:cNvPr id="44089" name="Line 54"/>
            <p:cNvSpPr/>
            <p:nvPr/>
          </p:nvSpPr>
          <p:spPr>
            <a:xfrm>
              <a:off x="3276" y="2898"/>
              <a:ext cx="0" cy="82"/>
            </a:xfrm>
            <a:prstGeom prst="line">
              <a:avLst/>
            </a:prstGeom>
            <a:ln w="12700" cap="flat" cmpd="sng">
              <a:solidFill>
                <a:srgbClr val="000080"/>
              </a:solidFill>
              <a:prstDash val="solid"/>
              <a:headEnd type="none" w="med" len="med"/>
              <a:tailEnd type="none" w="med" len="med"/>
            </a:ln>
          </p:spPr>
        </p:sp>
        <p:sp>
          <p:nvSpPr>
            <p:cNvPr id="44090" name="Line 55"/>
            <p:cNvSpPr/>
            <p:nvPr/>
          </p:nvSpPr>
          <p:spPr>
            <a:xfrm>
              <a:off x="3228" y="2980"/>
              <a:ext cx="107" cy="0"/>
            </a:xfrm>
            <a:prstGeom prst="line">
              <a:avLst/>
            </a:prstGeom>
            <a:ln w="19050" cap="flat" cmpd="sng">
              <a:solidFill>
                <a:srgbClr val="000000"/>
              </a:solidFill>
              <a:prstDash val="solid"/>
              <a:headEnd type="none" w="med" len="med"/>
              <a:tailEnd type="none" w="med" len="med"/>
            </a:ln>
          </p:spPr>
        </p:sp>
        <p:sp>
          <p:nvSpPr>
            <p:cNvPr id="44091" name="Line 56"/>
            <p:cNvSpPr/>
            <p:nvPr/>
          </p:nvSpPr>
          <p:spPr>
            <a:xfrm>
              <a:off x="3228" y="3003"/>
              <a:ext cx="107" cy="0"/>
            </a:xfrm>
            <a:prstGeom prst="line">
              <a:avLst/>
            </a:prstGeom>
            <a:ln w="19050" cap="flat" cmpd="sng">
              <a:solidFill>
                <a:srgbClr val="000000"/>
              </a:solidFill>
              <a:prstDash val="solid"/>
              <a:headEnd type="none" w="med" len="med"/>
              <a:tailEnd type="none" w="med" len="med"/>
            </a:ln>
          </p:spPr>
        </p:sp>
        <p:sp>
          <p:nvSpPr>
            <p:cNvPr id="44092" name="Line 57"/>
            <p:cNvSpPr/>
            <p:nvPr/>
          </p:nvSpPr>
          <p:spPr>
            <a:xfrm>
              <a:off x="3276" y="3003"/>
              <a:ext cx="0" cy="129"/>
            </a:xfrm>
            <a:prstGeom prst="line">
              <a:avLst/>
            </a:prstGeom>
            <a:ln w="12700" cap="flat" cmpd="sng">
              <a:solidFill>
                <a:srgbClr val="000080"/>
              </a:solidFill>
              <a:prstDash val="solid"/>
              <a:headEnd type="none" w="med" len="med"/>
              <a:tailEnd type="none" w="med" len="med"/>
            </a:ln>
          </p:spPr>
        </p:sp>
        <p:sp>
          <p:nvSpPr>
            <p:cNvPr id="44093" name="Line 58"/>
            <p:cNvSpPr/>
            <p:nvPr/>
          </p:nvSpPr>
          <p:spPr>
            <a:xfrm>
              <a:off x="3121" y="2742"/>
              <a:ext cx="0" cy="437"/>
            </a:xfrm>
            <a:prstGeom prst="line">
              <a:avLst/>
            </a:prstGeom>
            <a:ln w="12700" cap="flat" cmpd="sng">
              <a:solidFill>
                <a:srgbClr val="000080"/>
              </a:solidFill>
              <a:prstDash val="solid"/>
              <a:headEnd type="none" w="med" len="med"/>
              <a:tailEnd type="none" w="med" len="med"/>
            </a:ln>
          </p:spPr>
        </p:sp>
        <p:sp>
          <p:nvSpPr>
            <p:cNvPr id="44094" name="Line 59"/>
            <p:cNvSpPr/>
            <p:nvPr/>
          </p:nvSpPr>
          <p:spPr>
            <a:xfrm>
              <a:off x="2362" y="2742"/>
              <a:ext cx="0" cy="156"/>
            </a:xfrm>
            <a:prstGeom prst="line">
              <a:avLst/>
            </a:prstGeom>
            <a:ln w="12700" cap="flat" cmpd="sng">
              <a:solidFill>
                <a:srgbClr val="000080"/>
              </a:solidFill>
              <a:prstDash val="solid"/>
              <a:headEnd type="none" w="med" len="med"/>
              <a:tailEnd type="none" w="med" len="med"/>
            </a:ln>
          </p:spPr>
        </p:sp>
        <p:sp>
          <p:nvSpPr>
            <p:cNvPr id="44095" name="Rectangle 60"/>
            <p:cNvSpPr/>
            <p:nvPr/>
          </p:nvSpPr>
          <p:spPr>
            <a:xfrm>
              <a:off x="2077" y="2874"/>
              <a:ext cx="178" cy="59"/>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096" name="Line 61"/>
            <p:cNvSpPr/>
            <p:nvPr/>
          </p:nvSpPr>
          <p:spPr>
            <a:xfrm>
              <a:off x="1982" y="2898"/>
              <a:ext cx="95" cy="0"/>
            </a:xfrm>
            <a:prstGeom prst="line">
              <a:avLst/>
            </a:prstGeom>
            <a:ln w="12700" cap="flat" cmpd="sng">
              <a:solidFill>
                <a:srgbClr val="000080"/>
              </a:solidFill>
              <a:prstDash val="solid"/>
              <a:headEnd type="none" w="med" len="med"/>
              <a:tailEnd type="none" w="med" len="med"/>
            </a:ln>
          </p:spPr>
        </p:sp>
        <p:sp>
          <p:nvSpPr>
            <p:cNvPr id="44097" name="Line 62"/>
            <p:cNvSpPr/>
            <p:nvPr/>
          </p:nvSpPr>
          <p:spPr>
            <a:xfrm>
              <a:off x="2253" y="2900"/>
              <a:ext cx="111" cy="0"/>
            </a:xfrm>
            <a:prstGeom prst="line">
              <a:avLst/>
            </a:prstGeom>
            <a:ln w="12700" cap="flat" cmpd="sng">
              <a:solidFill>
                <a:srgbClr val="000080"/>
              </a:solidFill>
              <a:prstDash val="solid"/>
              <a:headEnd type="none" w="med" len="med"/>
              <a:tailEnd type="none" w="med" len="med"/>
            </a:ln>
          </p:spPr>
        </p:sp>
        <p:sp>
          <p:nvSpPr>
            <p:cNvPr id="44098" name="Line 63"/>
            <p:cNvSpPr/>
            <p:nvPr/>
          </p:nvSpPr>
          <p:spPr>
            <a:xfrm>
              <a:off x="2166" y="3085"/>
              <a:ext cx="338" cy="0"/>
            </a:xfrm>
            <a:prstGeom prst="line">
              <a:avLst/>
            </a:prstGeom>
            <a:ln w="12700" cap="flat" cmpd="sng">
              <a:solidFill>
                <a:srgbClr val="000080"/>
              </a:solidFill>
              <a:prstDash val="solid"/>
              <a:headEnd type="none" w="med" len="med"/>
              <a:tailEnd type="none" w="med" len="med"/>
            </a:ln>
          </p:spPr>
        </p:sp>
        <p:sp>
          <p:nvSpPr>
            <p:cNvPr id="44099" name="Line 64"/>
            <p:cNvSpPr/>
            <p:nvPr/>
          </p:nvSpPr>
          <p:spPr>
            <a:xfrm flipV="1">
              <a:off x="2504" y="2734"/>
              <a:ext cx="232" cy="351"/>
            </a:xfrm>
            <a:prstGeom prst="line">
              <a:avLst/>
            </a:prstGeom>
            <a:ln w="12700" cap="flat" cmpd="sng">
              <a:solidFill>
                <a:srgbClr val="000080"/>
              </a:solidFill>
              <a:prstDash val="solid"/>
              <a:headEnd type="none" w="med" len="med"/>
              <a:tailEnd type="none" w="med" len="med"/>
            </a:ln>
          </p:spPr>
        </p:sp>
        <p:sp>
          <p:nvSpPr>
            <p:cNvPr id="44100" name="Line 65"/>
            <p:cNvSpPr/>
            <p:nvPr/>
          </p:nvSpPr>
          <p:spPr>
            <a:xfrm>
              <a:off x="2166" y="2933"/>
              <a:ext cx="0" cy="152"/>
            </a:xfrm>
            <a:prstGeom prst="line">
              <a:avLst/>
            </a:prstGeom>
            <a:ln w="12700" cap="flat" cmpd="sng">
              <a:solidFill>
                <a:srgbClr val="000080"/>
              </a:solidFill>
              <a:prstDash val="solid"/>
              <a:headEnd type="stealth" w="med" len="lg"/>
              <a:tailEnd type="none" w="med" len="lg"/>
            </a:ln>
          </p:spPr>
        </p:sp>
        <p:sp>
          <p:nvSpPr>
            <p:cNvPr id="44101" name="Oval 66"/>
            <p:cNvSpPr/>
            <p:nvPr/>
          </p:nvSpPr>
          <p:spPr>
            <a:xfrm>
              <a:off x="3805" y="212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02" name="Line 67"/>
            <p:cNvSpPr/>
            <p:nvPr/>
          </p:nvSpPr>
          <p:spPr>
            <a:xfrm>
              <a:off x="3869" y="2149"/>
              <a:ext cx="273" cy="0"/>
            </a:xfrm>
            <a:prstGeom prst="line">
              <a:avLst/>
            </a:prstGeom>
            <a:ln w="12700" cap="flat" cmpd="sng">
              <a:solidFill>
                <a:srgbClr val="000080"/>
              </a:solidFill>
              <a:prstDash val="solid"/>
              <a:headEnd type="none" w="med" len="med"/>
              <a:tailEnd type="none" w="med" len="med"/>
            </a:ln>
          </p:spPr>
        </p:sp>
        <p:sp>
          <p:nvSpPr>
            <p:cNvPr id="44103" name="Line 68"/>
            <p:cNvSpPr/>
            <p:nvPr/>
          </p:nvSpPr>
          <p:spPr>
            <a:xfrm>
              <a:off x="3833" y="2182"/>
              <a:ext cx="0" cy="154"/>
            </a:xfrm>
            <a:prstGeom prst="line">
              <a:avLst/>
            </a:prstGeom>
            <a:ln w="12700" cap="flat" cmpd="sng">
              <a:solidFill>
                <a:srgbClr val="000080"/>
              </a:solidFill>
              <a:prstDash val="solid"/>
              <a:headEnd type="none" w="med" len="med"/>
              <a:tailEnd type="none" w="med" len="med"/>
            </a:ln>
          </p:spPr>
        </p:sp>
        <p:sp>
          <p:nvSpPr>
            <p:cNvPr id="44104" name="Line 69"/>
            <p:cNvSpPr/>
            <p:nvPr/>
          </p:nvSpPr>
          <p:spPr>
            <a:xfrm>
              <a:off x="3774" y="2336"/>
              <a:ext cx="131" cy="0"/>
            </a:xfrm>
            <a:prstGeom prst="line">
              <a:avLst/>
            </a:prstGeom>
            <a:ln w="19050" cap="flat" cmpd="sng">
              <a:solidFill>
                <a:srgbClr val="000000"/>
              </a:solidFill>
              <a:prstDash val="solid"/>
              <a:headEnd type="none" w="med" len="med"/>
              <a:tailEnd type="none" w="med" len="med"/>
            </a:ln>
          </p:spPr>
        </p:sp>
        <p:sp>
          <p:nvSpPr>
            <p:cNvPr id="44105" name="Line 70"/>
            <p:cNvSpPr/>
            <p:nvPr/>
          </p:nvSpPr>
          <p:spPr>
            <a:xfrm>
              <a:off x="3774" y="2371"/>
              <a:ext cx="131" cy="0"/>
            </a:xfrm>
            <a:prstGeom prst="line">
              <a:avLst/>
            </a:prstGeom>
            <a:ln w="19050" cap="flat" cmpd="sng">
              <a:solidFill>
                <a:srgbClr val="000000"/>
              </a:solidFill>
              <a:prstDash val="solid"/>
              <a:headEnd type="none" w="med" len="med"/>
              <a:tailEnd type="none" w="med" len="med"/>
            </a:ln>
          </p:spPr>
        </p:sp>
        <p:sp>
          <p:nvSpPr>
            <p:cNvPr id="44106" name="Line 71"/>
            <p:cNvSpPr/>
            <p:nvPr/>
          </p:nvSpPr>
          <p:spPr>
            <a:xfrm>
              <a:off x="3833" y="2371"/>
              <a:ext cx="0" cy="154"/>
            </a:xfrm>
            <a:prstGeom prst="line">
              <a:avLst/>
            </a:prstGeom>
            <a:ln w="12700" cap="flat" cmpd="sng">
              <a:solidFill>
                <a:srgbClr val="000080"/>
              </a:solidFill>
              <a:prstDash val="solid"/>
              <a:headEnd type="none" w="med" len="med"/>
              <a:tailEnd type="none" w="med" len="med"/>
            </a:ln>
          </p:spPr>
        </p:sp>
        <p:sp>
          <p:nvSpPr>
            <p:cNvPr id="44107" name="Oval 72"/>
            <p:cNvSpPr/>
            <p:nvPr/>
          </p:nvSpPr>
          <p:spPr>
            <a:xfrm>
              <a:off x="4137" y="212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08" name="Oval 73"/>
            <p:cNvSpPr/>
            <p:nvPr/>
          </p:nvSpPr>
          <p:spPr>
            <a:xfrm>
              <a:off x="4522" y="2116"/>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09" name="Line 74"/>
            <p:cNvSpPr/>
            <p:nvPr/>
          </p:nvSpPr>
          <p:spPr>
            <a:xfrm>
              <a:off x="4166" y="2182"/>
              <a:ext cx="0" cy="154"/>
            </a:xfrm>
            <a:prstGeom prst="line">
              <a:avLst/>
            </a:prstGeom>
            <a:ln w="12700" cap="flat" cmpd="sng">
              <a:solidFill>
                <a:srgbClr val="000080"/>
              </a:solidFill>
              <a:prstDash val="solid"/>
              <a:headEnd type="none" w="med" len="med"/>
              <a:tailEnd type="none" w="med" len="med"/>
            </a:ln>
          </p:spPr>
        </p:sp>
        <p:sp>
          <p:nvSpPr>
            <p:cNvPr id="44110" name="Rectangle 75"/>
            <p:cNvSpPr/>
            <p:nvPr/>
          </p:nvSpPr>
          <p:spPr>
            <a:xfrm>
              <a:off x="4142" y="2336"/>
              <a:ext cx="59" cy="164"/>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11" name="Line 76"/>
            <p:cNvSpPr/>
            <p:nvPr/>
          </p:nvSpPr>
          <p:spPr>
            <a:xfrm>
              <a:off x="4166" y="2498"/>
              <a:ext cx="0" cy="218"/>
            </a:xfrm>
            <a:prstGeom prst="line">
              <a:avLst/>
            </a:prstGeom>
            <a:ln w="12700" cap="flat" cmpd="sng">
              <a:solidFill>
                <a:srgbClr val="000080"/>
              </a:solidFill>
              <a:prstDash val="solid"/>
              <a:headEnd type="none" w="med" len="med"/>
              <a:tailEnd type="none" w="med" len="med"/>
            </a:ln>
          </p:spPr>
        </p:sp>
        <p:sp>
          <p:nvSpPr>
            <p:cNvPr id="44112" name="Line 77"/>
            <p:cNvSpPr/>
            <p:nvPr/>
          </p:nvSpPr>
          <p:spPr>
            <a:xfrm>
              <a:off x="4098" y="2715"/>
              <a:ext cx="68" cy="66"/>
            </a:xfrm>
            <a:prstGeom prst="line">
              <a:avLst/>
            </a:prstGeom>
            <a:ln w="19050" cap="flat" cmpd="sng">
              <a:solidFill>
                <a:srgbClr val="000000"/>
              </a:solidFill>
              <a:prstDash val="solid"/>
              <a:headEnd type="none" w="med" len="med"/>
              <a:tailEnd type="none" w="med" len="med"/>
            </a:ln>
          </p:spPr>
        </p:sp>
        <p:sp>
          <p:nvSpPr>
            <p:cNvPr id="44113" name="Line 78"/>
            <p:cNvSpPr/>
            <p:nvPr/>
          </p:nvSpPr>
          <p:spPr>
            <a:xfrm flipV="1">
              <a:off x="4166" y="2709"/>
              <a:ext cx="75" cy="72"/>
            </a:xfrm>
            <a:prstGeom prst="line">
              <a:avLst/>
            </a:prstGeom>
            <a:ln w="19050" cap="flat" cmpd="sng">
              <a:solidFill>
                <a:srgbClr val="000000"/>
              </a:solidFill>
              <a:prstDash val="solid"/>
              <a:headEnd type="none" w="med" len="med"/>
              <a:tailEnd type="none" w="med" len="med"/>
            </a:ln>
          </p:spPr>
        </p:sp>
        <p:sp>
          <p:nvSpPr>
            <p:cNvPr id="44114" name="Line 79"/>
            <p:cNvSpPr/>
            <p:nvPr/>
          </p:nvSpPr>
          <p:spPr>
            <a:xfrm flipV="1">
              <a:off x="2552" y="1213"/>
              <a:ext cx="0" cy="164"/>
            </a:xfrm>
            <a:prstGeom prst="line">
              <a:avLst/>
            </a:prstGeom>
            <a:ln w="12700" cap="flat" cmpd="sng">
              <a:solidFill>
                <a:srgbClr val="000080"/>
              </a:solidFill>
              <a:prstDash val="solid"/>
              <a:headEnd type="none" w="med" len="med"/>
              <a:tailEnd type="none" w="med" len="med"/>
            </a:ln>
          </p:spPr>
        </p:sp>
        <p:sp>
          <p:nvSpPr>
            <p:cNvPr id="44115" name="Line 80"/>
            <p:cNvSpPr/>
            <p:nvPr/>
          </p:nvSpPr>
          <p:spPr>
            <a:xfrm flipH="1">
              <a:off x="2277" y="1213"/>
              <a:ext cx="275" cy="0"/>
            </a:xfrm>
            <a:prstGeom prst="line">
              <a:avLst/>
            </a:prstGeom>
            <a:ln w="12700" cap="flat" cmpd="sng">
              <a:solidFill>
                <a:srgbClr val="000080"/>
              </a:solidFill>
              <a:prstDash val="solid"/>
              <a:headEnd type="none" w="med" len="med"/>
              <a:tailEnd type="none" w="med" len="med"/>
            </a:ln>
          </p:spPr>
        </p:sp>
        <p:sp>
          <p:nvSpPr>
            <p:cNvPr id="44116" name="Oval 81"/>
            <p:cNvSpPr/>
            <p:nvPr/>
          </p:nvSpPr>
          <p:spPr>
            <a:xfrm>
              <a:off x="2220" y="1180"/>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17" name="Line 82"/>
            <p:cNvSpPr/>
            <p:nvPr/>
          </p:nvSpPr>
          <p:spPr>
            <a:xfrm flipV="1">
              <a:off x="2932" y="1213"/>
              <a:ext cx="0" cy="164"/>
            </a:xfrm>
            <a:prstGeom prst="line">
              <a:avLst/>
            </a:prstGeom>
            <a:ln w="12700" cap="flat" cmpd="sng">
              <a:solidFill>
                <a:srgbClr val="000080"/>
              </a:solidFill>
              <a:prstDash val="solid"/>
              <a:headEnd type="none" w="med" len="med"/>
              <a:tailEnd type="none" w="med" len="med"/>
            </a:ln>
          </p:spPr>
        </p:sp>
        <p:sp>
          <p:nvSpPr>
            <p:cNvPr id="44118" name="Line 83"/>
            <p:cNvSpPr/>
            <p:nvPr/>
          </p:nvSpPr>
          <p:spPr>
            <a:xfrm>
              <a:off x="2932" y="1213"/>
              <a:ext cx="379" cy="0"/>
            </a:xfrm>
            <a:prstGeom prst="line">
              <a:avLst/>
            </a:prstGeom>
            <a:ln w="12700" cap="flat" cmpd="sng">
              <a:solidFill>
                <a:srgbClr val="000080"/>
              </a:solidFill>
              <a:prstDash val="solid"/>
              <a:headEnd type="none" w="med" len="med"/>
              <a:tailEnd type="none" w="med" len="med"/>
            </a:ln>
          </p:spPr>
        </p:sp>
        <p:sp>
          <p:nvSpPr>
            <p:cNvPr id="44119" name="Line 84"/>
            <p:cNvSpPr/>
            <p:nvPr/>
          </p:nvSpPr>
          <p:spPr>
            <a:xfrm>
              <a:off x="3311" y="1213"/>
              <a:ext cx="0" cy="70"/>
            </a:xfrm>
            <a:prstGeom prst="line">
              <a:avLst/>
            </a:prstGeom>
            <a:ln w="12700" cap="flat" cmpd="sng">
              <a:solidFill>
                <a:srgbClr val="000080"/>
              </a:solidFill>
              <a:prstDash val="solid"/>
              <a:headEnd type="none" w="med" len="med"/>
              <a:tailEnd type="none" w="med" len="med"/>
            </a:ln>
          </p:spPr>
        </p:sp>
        <p:sp>
          <p:nvSpPr>
            <p:cNvPr id="44120" name="Line 85"/>
            <p:cNvSpPr/>
            <p:nvPr/>
          </p:nvSpPr>
          <p:spPr>
            <a:xfrm>
              <a:off x="3240" y="1283"/>
              <a:ext cx="154" cy="0"/>
            </a:xfrm>
            <a:prstGeom prst="line">
              <a:avLst/>
            </a:prstGeom>
            <a:ln w="19050" cap="flat" cmpd="sng">
              <a:solidFill>
                <a:srgbClr val="000000"/>
              </a:solidFill>
              <a:prstDash val="solid"/>
              <a:headEnd type="none" w="med" len="med"/>
              <a:tailEnd type="none" w="med" len="med"/>
            </a:ln>
          </p:spPr>
        </p:sp>
        <p:sp>
          <p:nvSpPr>
            <p:cNvPr id="44121" name="Line 86"/>
            <p:cNvSpPr/>
            <p:nvPr/>
          </p:nvSpPr>
          <p:spPr>
            <a:xfrm>
              <a:off x="3205" y="3132"/>
              <a:ext cx="142" cy="0"/>
            </a:xfrm>
            <a:prstGeom prst="line">
              <a:avLst/>
            </a:prstGeom>
            <a:ln w="19050" cap="flat" cmpd="sng">
              <a:solidFill>
                <a:srgbClr val="000000"/>
              </a:solidFill>
              <a:prstDash val="solid"/>
              <a:headEnd type="none" w="med" len="med"/>
              <a:tailEnd type="none" w="med" len="med"/>
            </a:ln>
          </p:spPr>
        </p:sp>
        <p:sp>
          <p:nvSpPr>
            <p:cNvPr id="44122" name="Line 87"/>
            <p:cNvSpPr/>
            <p:nvPr/>
          </p:nvSpPr>
          <p:spPr>
            <a:xfrm>
              <a:off x="3205" y="3132"/>
              <a:ext cx="71" cy="70"/>
            </a:xfrm>
            <a:prstGeom prst="line">
              <a:avLst/>
            </a:prstGeom>
            <a:ln w="19050" cap="flat" cmpd="sng">
              <a:solidFill>
                <a:srgbClr val="000000"/>
              </a:solidFill>
              <a:prstDash val="solid"/>
              <a:headEnd type="none" w="med" len="med"/>
              <a:tailEnd type="none" w="med" len="med"/>
            </a:ln>
          </p:spPr>
        </p:sp>
        <p:sp>
          <p:nvSpPr>
            <p:cNvPr id="44123" name="Line 88"/>
            <p:cNvSpPr/>
            <p:nvPr/>
          </p:nvSpPr>
          <p:spPr>
            <a:xfrm flipV="1">
              <a:off x="3276" y="3134"/>
              <a:ext cx="71" cy="68"/>
            </a:xfrm>
            <a:prstGeom prst="line">
              <a:avLst/>
            </a:prstGeom>
            <a:ln w="19050" cap="flat" cmpd="sng">
              <a:solidFill>
                <a:srgbClr val="000000"/>
              </a:solidFill>
              <a:prstDash val="solid"/>
              <a:headEnd type="none" w="med" len="med"/>
              <a:tailEnd type="none" w="med" len="med"/>
            </a:ln>
          </p:spPr>
        </p:sp>
        <p:sp>
          <p:nvSpPr>
            <p:cNvPr id="44124" name="Line 89"/>
            <p:cNvSpPr/>
            <p:nvPr/>
          </p:nvSpPr>
          <p:spPr>
            <a:xfrm>
              <a:off x="2831" y="3132"/>
              <a:ext cx="136" cy="0"/>
            </a:xfrm>
            <a:prstGeom prst="line">
              <a:avLst/>
            </a:prstGeom>
            <a:ln w="19050" cap="flat" cmpd="sng">
              <a:solidFill>
                <a:srgbClr val="000000"/>
              </a:solidFill>
              <a:prstDash val="solid"/>
              <a:headEnd type="none" w="med" len="med"/>
              <a:tailEnd type="none" w="med" len="med"/>
            </a:ln>
          </p:spPr>
        </p:sp>
        <p:sp>
          <p:nvSpPr>
            <p:cNvPr id="44125" name="Line 90"/>
            <p:cNvSpPr/>
            <p:nvPr/>
          </p:nvSpPr>
          <p:spPr>
            <a:xfrm>
              <a:off x="2825" y="3132"/>
              <a:ext cx="71" cy="70"/>
            </a:xfrm>
            <a:prstGeom prst="line">
              <a:avLst/>
            </a:prstGeom>
            <a:ln w="19050" cap="flat" cmpd="sng">
              <a:solidFill>
                <a:srgbClr val="000000"/>
              </a:solidFill>
              <a:prstDash val="solid"/>
              <a:headEnd type="none" w="med" len="med"/>
              <a:tailEnd type="none" w="med" len="med"/>
            </a:ln>
          </p:spPr>
        </p:sp>
        <p:sp>
          <p:nvSpPr>
            <p:cNvPr id="44126" name="Line 91"/>
            <p:cNvSpPr/>
            <p:nvPr/>
          </p:nvSpPr>
          <p:spPr>
            <a:xfrm flipV="1">
              <a:off x="2896" y="3134"/>
              <a:ext cx="71" cy="68"/>
            </a:xfrm>
            <a:prstGeom prst="line">
              <a:avLst/>
            </a:prstGeom>
            <a:ln w="19050" cap="flat" cmpd="sng">
              <a:solidFill>
                <a:srgbClr val="000000"/>
              </a:solidFill>
              <a:prstDash val="solid"/>
              <a:headEnd type="none" w="med" len="med"/>
              <a:tailEnd type="none" w="med" len="med"/>
            </a:ln>
          </p:spPr>
        </p:sp>
        <p:sp>
          <p:nvSpPr>
            <p:cNvPr id="44127" name="Line 92"/>
            <p:cNvSpPr/>
            <p:nvPr/>
          </p:nvSpPr>
          <p:spPr>
            <a:xfrm flipH="1">
              <a:off x="1223" y="2222"/>
              <a:ext cx="213" cy="0"/>
            </a:xfrm>
            <a:prstGeom prst="line">
              <a:avLst/>
            </a:prstGeom>
            <a:ln w="12700" cap="flat" cmpd="sng">
              <a:solidFill>
                <a:srgbClr val="000080"/>
              </a:solidFill>
              <a:prstDash val="solid"/>
              <a:headEnd type="none" w="med" len="med"/>
              <a:tailEnd type="none" w="med" len="med"/>
            </a:ln>
          </p:spPr>
        </p:sp>
        <p:sp>
          <p:nvSpPr>
            <p:cNvPr id="44128" name="Line 93"/>
            <p:cNvSpPr/>
            <p:nvPr/>
          </p:nvSpPr>
          <p:spPr>
            <a:xfrm>
              <a:off x="1223" y="2219"/>
              <a:ext cx="0" cy="223"/>
            </a:xfrm>
            <a:prstGeom prst="line">
              <a:avLst/>
            </a:prstGeom>
            <a:ln w="12700" cap="flat" cmpd="sng">
              <a:solidFill>
                <a:srgbClr val="000080"/>
              </a:solidFill>
              <a:prstDash val="solid"/>
              <a:headEnd type="none" w="med" len="med"/>
              <a:tailEnd type="none" w="med" len="med"/>
            </a:ln>
          </p:spPr>
        </p:sp>
        <p:sp>
          <p:nvSpPr>
            <p:cNvPr id="44129" name="Oval 94"/>
            <p:cNvSpPr/>
            <p:nvPr/>
          </p:nvSpPr>
          <p:spPr>
            <a:xfrm>
              <a:off x="1116" y="2442"/>
              <a:ext cx="214" cy="198"/>
            </a:xfrm>
            <a:prstGeom prst="ellipse">
              <a:avLst/>
            </a:prstGeom>
            <a:solidFill>
              <a:srgbClr val="FFCC99"/>
            </a:solid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30" name="Line 95"/>
            <p:cNvSpPr/>
            <p:nvPr/>
          </p:nvSpPr>
          <p:spPr>
            <a:xfrm>
              <a:off x="1223" y="2638"/>
              <a:ext cx="0" cy="272"/>
            </a:xfrm>
            <a:prstGeom prst="line">
              <a:avLst/>
            </a:prstGeom>
            <a:ln w="12700" cap="flat" cmpd="sng">
              <a:solidFill>
                <a:srgbClr val="000080"/>
              </a:solidFill>
              <a:prstDash val="solid"/>
              <a:headEnd type="none" w="med" len="med"/>
              <a:tailEnd type="none" w="med" len="med"/>
            </a:ln>
          </p:spPr>
        </p:sp>
        <p:sp>
          <p:nvSpPr>
            <p:cNvPr id="44131" name="Line 96"/>
            <p:cNvSpPr/>
            <p:nvPr/>
          </p:nvSpPr>
          <p:spPr>
            <a:xfrm>
              <a:off x="1156" y="2911"/>
              <a:ext cx="136" cy="0"/>
            </a:xfrm>
            <a:prstGeom prst="line">
              <a:avLst/>
            </a:prstGeom>
            <a:ln w="19050" cap="flat" cmpd="sng">
              <a:solidFill>
                <a:srgbClr val="000000"/>
              </a:solidFill>
              <a:prstDash val="solid"/>
              <a:headEnd type="none" w="med" len="med"/>
              <a:tailEnd type="none" w="med" len="med"/>
            </a:ln>
          </p:spPr>
        </p:sp>
        <p:sp>
          <p:nvSpPr>
            <p:cNvPr id="44132" name="Line 97"/>
            <p:cNvSpPr/>
            <p:nvPr/>
          </p:nvSpPr>
          <p:spPr>
            <a:xfrm>
              <a:off x="1152" y="2910"/>
              <a:ext cx="71" cy="70"/>
            </a:xfrm>
            <a:prstGeom prst="line">
              <a:avLst/>
            </a:prstGeom>
            <a:ln w="19050" cap="flat" cmpd="sng">
              <a:solidFill>
                <a:srgbClr val="000000"/>
              </a:solidFill>
              <a:prstDash val="solid"/>
              <a:headEnd type="none" w="med" len="med"/>
              <a:tailEnd type="none" w="med" len="med"/>
            </a:ln>
          </p:spPr>
        </p:sp>
        <p:sp>
          <p:nvSpPr>
            <p:cNvPr id="44133" name="Line 98"/>
            <p:cNvSpPr/>
            <p:nvPr/>
          </p:nvSpPr>
          <p:spPr>
            <a:xfrm>
              <a:off x="1792" y="1307"/>
              <a:ext cx="190" cy="0"/>
            </a:xfrm>
            <a:prstGeom prst="line">
              <a:avLst/>
            </a:prstGeom>
            <a:ln w="22225" cap="flat" cmpd="sng">
              <a:solidFill>
                <a:srgbClr val="FF0000"/>
              </a:solidFill>
              <a:prstDash val="solid"/>
              <a:headEnd type="none" w="med" len="med"/>
              <a:tailEnd type="none" w="med" len="med"/>
            </a:ln>
          </p:spPr>
        </p:sp>
        <p:sp>
          <p:nvSpPr>
            <p:cNvPr id="44134" name="Line 99"/>
            <p:cNvSpPr/>
            <p:nvPr/>
          </p:nvSpPr>
          <p:spPr>
            <a:xfrm flipV="1">
              <a:off x="1982" y="1119"/>
              <a:ext cx="0" cy="188"/>
            </a:xfrm>
            <a:prstGeom prst="line">
              <a:avLst/>
            </a:prstGeom>
            <a:ln w="22225" cap="flat" cmpd="sng">
              <a:solidFill>
                <a:srgbClr val="FF0000"/>
              </a:solidFill>
              <a:prstDash val="solid"/>
              <a:headEnd type="none" w="med" len="med"/>
              <a:tailEnd type="none" w="med" len="med"/>
            </a:ln>
          </p:spPr>
        </p:sp>
        <p:sp>
          <p:nvSpPr>
            <p:cNvPr id="44135" name="Line 100"/>
            <p:cNvSpPr/>
            <p:nvPr/>
          </p:nvSpPr>
          <p:spPr>
            <a:xfrm>
              <a:off x="1982" y="1119"/>
              <a:ext cx="190" cy="0"/>
            </a:xfrm>
            <a:prstGeom prst="line">
              <a:avLst/>
            </a:prstGeom>
            <a:ln w="22225" cap="flat" cmpd="sng">
              <a:solidFill>
                <a:srgbClr val="FF0000"/>
              </a:solidFill>
              <a:prstDash val="solid"/>
              <a:headEnd type="none" w="med" len="med"/>
              <a:tailEnd type="none" w="med" len="med"/>
            </a:ln>
          </p:spPr>
        </p:sp>
        <p:sp>
          <p:nvSpPr>
            <p:cNvPr id="44136" name="Rectangle 101"/>
            <p:cNvSpPr/>
            <p:nvPr/>
          </p:nvSpPr>
          <p:spPr>
            <a:xfrm>
              <a:off x="3371" y="1073"/>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数字地</a:t>
              </a:r>
              <a:endParaRPr lang="zh-CN" altLang="en-US" dirty="0">
                <a:solidFill>
                  <a:srgbClr val="FF0000"/>
                </a:solidFill>
                <a:latin typeface="Times New Roman" panose="02020603050405020304" pitchFamily="18" charset="0"/>
              </a:endParaRPr>
            </a:p>
          </p:txBody>
        </p:sp>
        <p:sp>
          <p:nvSpPr>
            <p:cNvPr id="44137" name="Rectangle 102"/>
            <p:cNvSpPr/>
            <p:nvPr/>
          </p:nvSpPr>
          <p:spPr>
            <a:xfrm>
              <a:off x="1377" y="2091"/>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4138" name="Rectangle 103"/>
            <p:cNvSpPr/>
            <p:nvPr/>
          </p:nvSpPr>
          <p:spPr>
            <a:xfrm>
              <a:off x="2398" y="274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3</a:t>
              </a:r>
              <a:endParaRPr lang="en-US" altLang="zh-CN" dirty="0">
                <a:latin typeface="Times New Roman" panose="02020603050405020304" pitchFamily="18" charset="0"/>
              </a:endParaRPr>
            </a:p>
          </p:txBody>
        </p:sp>
        <p:sp>
          <p:nvSpPr>
            <p:cNvPr id="44139" name="Rectangle 104"/>
            <p:cNvSpPr/>
            <p:nvPr/>
          </p:nvSpPr>
          <p:spPr>
            <a:xfrm>
              <a:off x="1864" y="274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4</a:t>
              </a:r>
              <a:endParaRPr lang="en-US" altLang="zh-CN" dirty="0">
                <a:latin typeface="Times New Roman" panose="02020603050405020304" pitchFamily="18" charset="0"/>
              </a:endParaRPr>
            </a:p>
          </p:txBody>
        </p:sp>
        <p:sp>
          <p:nvSpPr>
            <p:cNvPr id="44140" name="Rectangle 105"/>
            <p:cNvSpPr/>
            <p:nvPr/>
          </p:nvSpPr>
          <p:spPr>
            <a:xfrm>
              <a:off x="2789" y="273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5</a:t>
              </a:r>
              <a:endParaRPr lang="en-US" altLang="zh-CN" dirty="0">
                <a:latin typeface="Times New Roman" panose="02020603050405020304" pitchFamily="18" charset="0"/>
              </a:endParaRPr>
            </a:p>
          </p:txBody>
        </p:sp>
        <p:sp>
          <p:nvSpPr>
            <p:cNvPr id="44141" name="Rectangle 106"/>
            <p:cNvSpPr/>
            <p:nvPr/>
          </p:nvSpPr>
          <p:spPr>
            <a:xfrm>
              <a:off x="3655" y="2547"/>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6</a:t>
              </a:r>
              <a:endParaRPr lang="en-US" altLang="zh-CN" dirty="0">
                <a:latin typeface="Times New Roman" panose="02020603050405020304" pitchFamily="18" charset="0"/>
              </a:endParaRPr>
            </a:p>
          </p:txBody>
        </p:sp>
        <p:sp>
          <p:nvSpPr>
            <p:cNvPr id="44142" name="Rectangle 107"/>
            <p:cNvSpPr/>
            <p:nvPr/>
          </p:nvSpPr>
          <p:spPr>
            <a:xfrm>
              <a:off x="3655" y="217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8</a:t>
              </a:r>
              <a:endParaRPr lang="en-US" altLang="zh-CN" dirty="0">
                <a:latin typeface="Times New Roman" panose="02020603050405020304" pitchFamily="18" charset="0"/>
              </a:endParaRPr>
            </a:p>
          </p:txBody>
        </p:sp>
        <p:sp>
          <p:nvSpPr>
            <p:cNvPr id="44143" name="Rectangle 108"/>
            <p:cNvSpPr/>
            <p:nvPr/>
          </p:nvSpPr>
          <p:spPr>
            <a:xfrm>
              <a:off x="3667" y="1740"/>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9</a:t>
              </a:r>
              <a:endParaRPr lang="en-US" altLang="zh-CN" dirty="0">
                <a:latin typeface="Times New Roman" panose="02020603050405020304" pitchFamily="18" charset="0"/>
              </a:endParaRPr>
            </a:p>
          </p:txBody>
        </p:sp>
        <p:sp>
          <p:nvSpPr>
            <p:cNvPr id="44144" name="Rectangle 109"/>
            <p:cNvSpPr/>
            <p:nvPr/>
          </p:nvSpPr>
          <p:spPr>
            <a:xfrm>
              <a:off x="3169" y="2734"/>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a:t>
              </a:r>
              <a:endParaRPr lang="en-US" altLang="zh-CN" dirty="0">
                <a:latin typeface="Times New Roman" panose="02020603050405020304" pitchFamily="18" charset="0"/>
              </a:endParaRPr>
            </a:p>
          </p:txBody>
        </p:sp>
        <p:sp>
          <p:nvSpPr>
            <p:cNvPr id="44145" name="Rectangle 110"/>
            <p:cNvSpPr/>
            <p:nvPr/>
          </p:nvSpPr>
          <p:spPr>
            <a:xfrm>
              <a:off x="2967" y="126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11</a:t>
              </a:r>
              <a:endParaRPr lang="en-US" altLang="zh-CN" dirty="0">
                <a:latin typeface="Times New Roman" panose="02020603050405020304" pitchFamily="18" charset="0"/>
              </a:endParaRPr>
            </a:p>
          </p:txBody>
        </p:sp>
        <p:sp>
          <p:nvSpPr>
            <p:cNvPr id="44146" name="Rectangle 111"/>
            <p:cNvSpPr/>
            <p:nvPr/>
          </p:nvSpPr>
          <p:spPr>
            <a:xfrm>
              <a:off x="2576" y="1260"/>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12</a:t>
              </a:r>
              <a:endParaRPr lang="en-US" altLang="zh-CN" dirty="0">
                <a:latin typeface="Times New Roman" panose="02020603050405020304" pitchFamily="18" charset="0"/>
              </a:endParaRPr>
            </a:p>
          </p:txBody>
        </p:sp>
        <p:sp>
          <p:nvSpPr>
            <p:cNvPr id="44147" name="Line 112"/>
            <p:cNvSpPr/>
            <p:nvPr/>
          </p:nvSpPr>
          <p:spPr>
            <a:xfrm>
              <a:off x="3628" y="1868"/>
              <a:ext cx="207" cy="0"/>
            </a:xfrm>
            <a:prstGeom prst="line">
              <a:avLst/>
            </a:prstGeom>
            <a:ln w="12700" cap="flat" cmpd="sng">
              <a:solidFill>
                <a:srgbClr val="000080"/>
              </a:solidFill>
              <a:prstDash val="solid"/>
              <a:headEnd type="none" w="med" len="med"/>
              <a:tailEnd type="none" w="med" len="med"/>
            </a:ln>
          </p:spPr>
        </p:sp>
        <p:sp>
          <p:nvSpPr>
            <p:cNvPr id="44148" name="Line 113"/>
            <p:cNvSpPr/>
            <p:nvPr/>
          </p:nvSpPr>
          <p:spPr>
            <a:xfrm>
              <a:off x="3833" y="1868"/>
              <a:ext cx="0" cy="258"/>
            </a:xfrm>
            <a:prstGeom prst="line">
              <a:avLst/>
            </a:prstGeom>
            <a:ln w="12700" cap="flat" cmpd="sng">
              <a:solidFill>
                <a:srgbClr val="000080"/>
              </a:solidFill>
              <a:prstDash val="solid"/>
              <a:headEnd type="none" w="med" len="med"/>
              <a:tailEnd type="none" w="med" len="med"/>
            </a:ln>
          </p:spPr>
        </p:sp>
        <p:sp>
          <p:nvSpPr>
            <p:cNvPr id="44149" name="Rectangle 114"/>
            <p:cNvSpPr/>
            <p:nvPr/>
          </p:nvSpPr>
          <p:spPr>
            <a:xfrm>
              <a:off x="3922" y="2295"/>
              <a:ext cx="85"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sp>
          <p:nvSpPr>
            <p:cNvPr id="44150" name="Rectangle 115"/>
            <p:cNvSpPr/>
            <p:nvPr/>
          </p:nvSpPr>
          <p:spPr>
            <a:xfrm>
              <a:off x="4011" y="2342"/>
              <a:ext cx="58"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H</a:t>
              </a:r>
              <a:endParaRPr lang="en-US" altLang="zh-CN" dirty="0">
                <a:latin typeface="Times New Roman" panose="02020603050405020304" pitchFamily="18" charset="0"/>
              </a:endParaRPr>
            </a:p>
          </p:txBody>
        </p:sp>
        <p:sp>
          <p:nvSpPr>
            <p:cNvPr id="44151" name="Rectangle 116"/>
            <p:cNvSpPr/>
            <p:nvPr/>
          </p:nvSpPr>
          <p:spPr>
            <a:xfrm>
              <a:off x="4225" y="2348"/>
              <a:ext cx="78"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R</a:t>
              </a:r>
              <a:endParaRPr lang="en-US" altLang="zh-CN" dirty="0">
                <a:latin typeface="Times New Roman" panose="02020603050405020304" pitchFamily="18" charset="0"/>
              </a:endParaRPr>
            </a:p>
          </p:txBody>
        </p:sp>
        <p:sp>
          <p:nvSpPr>
            <p:cNvPr id="44152" name="Rectangle 117"/>
            <p:cNvSpPr/>
            <p:nvPr/>
          </p:nvSpPr>
          <p:spPr>
            <a:xfrm>
              <a:off x="4314" y="2395"/>
              <a:ext cx="49"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L</a:t>
              </a:r>
              <a:endParaRPr lang="en-US" altLang="zh-CN" dirty="0">
                <a:latin typeface="Times New Roman" panose="02020603050405020304" pitchFamily="18" charset="0"/>
              </a:endParaRPr>
            </a:p>
          </p:txBody>
        </p:sp>
        <p:sp>
          <p:nvSpPr>
            <p:cNvPr id="44153" name="Rectangle 118"/>
            <p:cNvSpPr/>
            <p:nvPr/>
          </p:nvSpPr>
          <p:spPr>
            <a:xfrm>
              <a:off x="1098" y="2067"/>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4154" name="Rectangle 119"/>
            <p:cNvSpPr/>
            <p:nvPr/>
          </p:nvSpPr>
          <p:spPr>
            <a:xfrm>
              <a:off x="1193" y="2114"/>
              <a:ext cx="22"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i</a:t>
              </a:r>
              <a:endParaRPr lang="en-US" altLang="zh-CN" dirty="0">
                <a:solidFill>
                  <a:srgbClr val="FF0000"/>
                </a:solidFill>
                <a:latin typeface="Times New Roman" panose="02020603050405020304" pitchFamily="18" charset="0"/>
              </a:endParaRPr>
            </a:p>
          </p:txBody>
        </p:sp>
        <p:sp>
          <p:nvSpPr>
            <p:cNvPr id="44155" name="Rectangle 120"/>
            <p:cNvSpPr/>
            <p:nvPr/>
          </p:nvSpPr>
          <p:spPr>
            <a:xfrm>
              <a:off x="2000" y="208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4156" name="Rectangle 121"/>
            <p:cNvSpPr/>
            <p:nvPr/>
          </p:nvSpPr>
          <p:spPr>
            <a:xfrm>
              <a:off x="2095" y="213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4157" name="Rectangle 122"/>
            <p:cNvSpPr/>
            <p:nvPr/>
          </p:nvSpPr>
          <p:spPr>
            <a:xfrm>
              <a:off x="4700" y="214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44158" name="Rectangle 123"/>
            <p:cNvSpPr/>
            <p:nvPr/>
          </p:nvSpPr>
          <p:spPr>
            <a:xfrm>
              <a:off x="4611" y="2091"/>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4159" name="Rectangle 124"/>
            <p:cNvSpPr/>
            <p:nvPr/>
          </p:nvSpPr>
          <p:spPr>
            <a:xfrm>
              <a:off x="3094" y="2131"/>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2</a:t>
              </a:r>
              <a:endParaRPr lang="en-US" altLang="zh-CN" dirty="0">
                <a:latin typeface="Times New Roman" panose="02020603050405020304" pitchFamily="18" charset="0"/>
              </a:endParaRPr>
            </a:p>
          </p:txBody>
        </p:sp>
        <p:sp>
          <p:nvSpPr>
            <p:cNvPr id="44160" name="Rectangle 125"/>
            <p:cNvSpPr/>
            <p:nvPr/>
          </p:nvSpPr>
          <p:spPr>
            <a:xfrm>
              <a:off x="2997" y="2085"/>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4161" name="Rectangle 126"/>
            <p:cNvSpPr/>
            <p:nvPr/>
          </p:nvSpPr>
          <p:spPr>
            <a:xfrm>
              <a:off x="1917" y="2167"/>
              <a:ext cx="5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4162" name="Rectangle 127"/>
            <p:cNvSpPr/>
            <p:nvPr/>
          </p:nvSpPr>
          <p:spPr>
            <a:xfrm>
              <a:off x="1923" y="204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44163" name="Rectangle 128"/>
            <p:cNvSpPr/>
            <p:nvPr/>
          </p:nvSpPr>
          <p:spPr>
            <a:xfrm>
              <a:off x="4362" y="2360"/>
              <a:ext cx="7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4164" name="Rectangle 129"/>
            <p:cNvSpPr/>
            <p:nvPr/>
          </p:nvSpPr>
          <p:spPr>
            <a:xfrm>
              <a:off x="4454" y="2379"/>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2k</a:t>
              </a:r>
              <a:endParaRPr lang="en-US" altLang="zh-CN" dirty="0">
                <a:latin typeface="Times New Roman" panose="02020603050405020304" pitchFamily="18" charset="0"/>
              </a:endParaRPr>
            </a:p>
          </p:txBody>
        </p:sp>
        <p:sp>
          <p:nvSpPr>
            <p:cNvPr id="44165" name="Rectangle 130"/>
            <p:cNvSpPr/>
            <p:nvPr/>
          </p:nvSpPr>
          <p:spPr>
            <a:xfrm>
              <a:off x="3015" y="3272"/>
              <a:ext cx="21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4166" name="Rectangle 131"/>
            <p:cNvSpPr/>
            <p:nvPr/>
          </p:nvSpPr>
          <p:spPr>
            <a:xfrm>
              <a:off x="2647" y="3261"/>
              <a:ext cx="197"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4167" name="Rectangle 132"/>
            <p:cNvSpPr/>
            <p:nvPr/>
          </p:nvSpPr>
          <p:spPr>
            <a:xfrm>
              <a:off x="3359" y="2921"/>
              <a:ext cx="26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0.05uF</a:t>
              </a:r>
              <a:endParaRPr lang="en-US" altLang="zh-CN" dirty="0">
                <a:latin typeface="Times New Roman" panose="02020603050405020304" pitchFamily="18" charset="0"/>
              </a:endParaRPr>
            </a:p>
          </p:txBody>
        </p:sp>
        <p:sp>
          <p:nvSpPr>
            <p:cNvPr id="44168" name="Oval 133"/>
            <p:cNvSpPr/>
            <p:nvPr/>
          </p:nvSpPr>
          <p:spPr>
            <a:xfrm>
              <a:off x="2718" y="317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69" name="Oval 134"/>
            <p:cNvSpPr/>
            <p:nvPr/>
          </p:nvSpPr>
          <p:spPr>
            <a:xfrm>
              <a:off x="3098" y="317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4170" name="Rectangle 135"/>
            <p:cNvSpPr/>
            <p:nvPr/>
          </p:nvSpPr>
          <p:spPr>
            <a:xfrm>
              <a:off x="2077" y="2769"/>
              <a:ext cx="14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10k</a:t>
              </a:r>
              <a:endParaRPr lang="en-US" altLang="zh-CN" dirty="0">
                <a:latin typeface="Times New Roman" panose="02020603050405020304" pitchFamily="18" charset="0"/>
              </a:endParaRPr>
            </a:p>
          </p:txBody>
        </p:sp>
        <p:sp>
          <p:nvSpPr>
            <p:cNvPr id="44171" name="Rectangle 136"/>
            <p:cNvSpPr/>
            <p:nvPr/>
          </p:nvSpPr>
          <p:spPr>
            <a:xfrm>
              <a:off x="1045" y="3015"/>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模拟地</a:t>
              </a:r>
              <a:endParaRPr lang="zh-CN" altLang="en-US" dirty="0">
                <a:solidFill>
                  <a:srgbClr val="FF0000"/>
                </a:solidFill>
                <a:latin typeface="Times New Roman" panose="02020603050405020304" pitchFamily="18" charset="0"/>
              </a:endParaRPr>
            </a:p>
          </p:txBody>
        </p:sp>
        <p:sp>
          <p:nvSpPr>
            <p:cNvPr id="44172" name="Line 137"/>
            <p:cNvSpPr/>
            <p:nvPr/>
          </p:nvSpPr>
          <p:spPr>
            <a:xfrm flipV="1">
              <a:off x="1223" y="2910"/>
              <a:ext cx="65" cy="64"/>
            </a:xfrm>
            <a:prstGeom prst="line">
              <a:avLst/>
            </a:prstGeom>
            <a:ln w="19050" cap="flat" cmpd="sng">
              <a:solidFill>
                <a:srgbClr val="000000"/>
              </a:solidFill>
              <a:prstDash val="solid"/>
              <a:headEnd type="none" w="med" len="med"/>
              <a:tailEnd type="none" w="med" len="med"/>
            </a:ln>
          </p:spPr>
        </p:sp>
        <p:sp>
          <p:nvSpPr>
            <p:cNvPr id="44173" name="Line 138"/>
            <p:cNvSpPr/>
            <p:nvPr/>
          </p:nvSpPr>
          <p:spPr>
            <a:xfrm>
              <a:off x="2795" y="2149"/>
              <a:ext cx="0" cy="374"/>
            </a:xfrm>
            <a:prstGeom prst="line">
              <a:avLst/>
            </a:prstGeom>
            <a:ln w="12700" cap="flat" cmpd="sng">
              <a:solidFill>
                <a:srgbClr val="000080"/>
              </a:solidFill>
              <a:prstDash val="solid"/>
              <a:headEnd type="none" w="med" len="med"/>
              <a:tailEnd type="none" w="med" len="med"/>
            </a:ln>
          </p:spPr>
        </p:sp>
        <p:sp>
          <p:nvSpPr>
            <p:cNvPr id="44174" name="Line 139"/>
            <p:cNvSpPr/>
            <p:nvPr/>
          </p:nvSpPr>
          <p:spPr>
            <a:xfrm>
              <a:off x="2795" y="2523"/>
              <a:ext cx="772" cy="0"/>
            </a:xfrm>
            <a:prstGeom prst="line">
              <a:avLst/>
            </a:prstGeom>
            <a:ln w="12700" cap="flat" cmpd="sng">
              <a:solidFill>
                <a:srgbClr val="000080"/>
              </a:solidFill>
              <a:prstDash val="solid"/>
              <a:headEnd type="none" w="med" len="med"/>
              <a:tailEnd type="none" w="med" len="med"/>
            </a:ln>
          </p:spPr>
        </p:sp>
        <p:sp>
          <p:nvSpPr>
            <p:cNvPr id="44175" name="Line 140"/>
            <p:cNvSpPr/>
            <p:nvPr/>
          </p:nvSpPr>
          <p:spPr>
            <a:xfrm>
              <a:off x="4095" y="2713"/>
              <a:ext cx="142" cy="0"/>
            </a:xfrm>
            <a:prstGeom prst="line">
              <a:avLst/>
            </a:prstGeom>
            <a:ln w="19050" cap="flat" cmpd="sng">
              <a:solidFill>
                <a:srgbClr val="000000"/>
              </a:solidFill>
              <a:prstDash val="solid"/>
              <a:headEnd type="none" w="med" len="med"/>
              <a:tailEnd type="none" w="med" len="med"/>
            </a:ln>
          </p:spPr>
        </p:sp>
        <p:sp>
          <p:nvSpPr>
            <p:cNvPr id="44176" name="Rectangle 141"/>
            <p:cNvSpPr/>
            <p:nvPr/>
          </p:nvSpPr>
          <p:spPr>
            <a:xfrm>
              <a:off x="4540" y="238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4177" name="Rectangle 142"/>
            <p:cNvSpPr/>
            <p:nvPr/>
          </p:nvSpPr>
          <p:spPr>
            <a:xfrm>
              <a:off x="2204" y="2773"/>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4178" name="Line 143"/>
            <p:cNvSpPr/>
            <p:nvPr/>
          </p:nvSpPr>
          <p:spPr>
            <a:xfrm>
              <a:off x="4199" y="2149"/>
              <a:ext cx="323" cy="0"/>
            </a:xfrm>
            <a:prstGeom prst="line">
              <a:avLst/>
            </a:prstGeom>
            <a:ln w="12700" cap="flat" cmpd="sng">
              <a:solidFill>
                <a:srgbClr val="000080"/>
              </a:solidFill>
              <a:prstDash val="solid"/>
              <a:headEnd type="none" w="med" len="med"/>
              <a:tailEnd type="none" w="med" len="med"/>
            </a:ln>
          </p:spPr>
        </p:sp>
        <p:sp>
          <p:nvSpPr>
            <p:cNvPr id="44179" name="Line 144"/>
            <p:cNvSpPr/>
            <p:nvPr/>
          </p:nvSpPr>
          <p:spPr>
            <a:xfrm>
              <a:off x="3626" y="2149"/>
              <a:ext cx="184" cy="0"/>
            </a:xfrm>
            <a:prstGeom prst="line">
              <a:avLst/>
            </a:prstGeom>
            <a:ln w="12700" cap="flat" cmpd="sng">
              <a:solidFill>
                <a:srgbClr val="000080"/>
              </a:solidFill>
              <a:prstDash val="solid"/>
              <a:headEnd type="none" w="med" len="med"/>
              <a:tailEnd type="none" w="med" len="med"/>
            </a:ln>
          </p:spPr>
        </p:sp>
        <p:sp>
          <p:nvSpPr>
            <p:cNvPr id="44180" name="Line 145"/>
            <p:cNvSpPr/>
            <p:nvPr/>
          </p:nvSpPr>
          <p:spPr>
            <a:xfrm>
              <a:off x="2653" y="1681"/>
              <a:ext cx="279" cy="0"/>
            </a:xfrm>
            <a:prstGeom prst="line">
              <a:avLst/>
            </a:prstGeom>
            <a:ln w="12700" cap="flat" cmpd="sng">
              <a:solidFill>
                <a:srgbClr val="000080"/>
              </a:solidFill>
              <a:prstDash val="solid"/>
              <a:headEnd type="none" w="med" len="med"/>
              <a:tailEnd type="none" w="med" len="med"/>
            </a:ln>
          </p:spPr>
        </p:sp>
        <p:sp>
          <p:nvSpPr>
            <p:cNvPr id="44181" name="Line 146"/>
            <p:cNvSpPr/>
            <p:nvPr/>
          </p:nvSpPr>
          <p:spPr>
            <a:xfrm>
              <a:off x="2172" y="2523"/>
              <a:ext cx="190" cy="0"/>
            </a:xfrm>
            <a:prstGeom prst="line">
              <a:avLst/>
            </a:prstGeom>
            <a:ln w="12700" cap="flat" cmpd="sng">
              <a:solidFill>
                <a:srgbClr val="000080"/>
              </a:solidFill>
              <a:prstDash val="solid"/>
              <a:headEnd type="none" w="med" len="med"/>
              <a:tailEnd type="none" w="med" len="med"/>
            </a:ln>
          </p:spPr>
        </p:sp>
        <p:sp>
          <p:nvSpPr>
            <p:cNvPr id="44182" name="Line 147"/>
            <p:cNvSpPr/>
            <p:nvPr/>
          </p:nvSpPr>
          <p:spPr>
            <a:xfrm>
              <a:off x="1982" y="2740"/>
              <a:ext cx="0" cy="158"/>
            </a:xfrm>
            <a:prstGeom prst="line">
              <a:avLst/>
            </a:prstGeom>
            <a:ln w="12700" cap="flat" cmpd="sng">
              <a:solidFill>
                <a:srgbClr val="000080"/>
              </a:solidFill>
              <a:prstDash val="solid"/>
              <a:headEnd type="none" w="med" len="med"/>
              <a:tailEnd type="none" w="med" len="med"/>
            </a:ln>
          </p:spPr>
        </p:sp>
        <p:sp>
          <p:nvSpPr>
            <p:cNvPr id="44183" name="Line 148"/>
            <p:cNvSpPr/>
            <p:nvPr/>
          </p:nvSpPr>
          <p:spPr>
            <a:xfrm flipV="1">
              <a:off x="1491" y="2224"/>
              <a:ext cx="402" cy="0"/>
            </a:xfrm>
            <a:prstGeom prst="line">
              <a:avLst/>
            </a:prstGeom>
            <a:ln w="12700" cap="flat" cmpd="sng">
              <a:solidFill>
                <a:srgbClr val="000080"/>
              </a:solidFill>
              <a:prstDash val="solid"/>
              <a:headEnd type="none" w="med" len="med"/>
              <a:tailEnd type="none" w="med" len="med"/>
            </a:ln>
          </p:spPr>
        </p:sp>
        <p:sp>
          <p:nvSpPr>
            <p:cNvPr id="44184" name="Line 149"/>
            <p:cNvSpPr/>
            <p:nvPr/>
          </p:nvSpPr>
          <p:spPr>
            <a:xfrm>
              <a:off x="2552" y="1435"/>
              <a:ext cx="0" cy="152"/>
            </a:xfrm>
            <a:prstGeom prst="line">
              <a:avLst/>
            </a:prstGeom>
            <a:ln w="12700" cap="flat" cmpd="sng">
              <a:solidFill>
                <a:srgbClr val="000080"/>
              </a:solidFill>
              <a:prstDash val="solid"/>
              <a:headEnd type="none" w="med" len="med"/>
              <a:tailEnd type="none" w="med" len="med"/>
            </a:ln>
          </p:spPr>
        </p:sp>
        <p:sp>
          <p:nvSpPr>
            <p:cNvPr id="44185" name="Line 150"/>
            <p:cNvSpPr/>
            <p:nvPr/>
          </p:nvSpPr>
          <p:spPr>
            <a:xfrm>
              <a:off x="3630" y="2523"/>
              <a:ext cx="203" cy="0"/>
            </a:xfrm>
            <a:prstGeom prst="line">
              <a:avLst/>
            </a:prstGeom>
            <a:ln w="12700" cap="flat" cmpd="sng">
              <a:solidFill>
                <a:srgbClr val="000080"/>
              </a:solidFill>
              <a:prstDash val="solid"/>
              <a:headEnd type="none" w="med" len="med"/>
              <a:tailEnd type="none" w="med" len="med"/>
            </a:ln>
          </p:spPr>
        </p:sp>
        <p:sp>
          <p:nvSpPr>
            <p:cNvPr id="44186" name="Rectangle 151"/>
            <p:cNvSpPr/>
            <p:nvPr/>
          </p:nvSpPr>
          <p:spPr>
            <a:xfrm>
              <a:off x="2096" y="3498"/>
              <a:ext cx="1532" cy="173"/>
            </a:xfrm>
            <a:prstGeom prst="rect">
              <a:avLst/>
            </a:prstGeom>
            <a:noFill/>
            <a:ln w="9525">
              <a:noFill/>
            </a:ln>
          </p:spPr>
          <p:txBody>
            <a:bodyPr wrap="none" lIns="0" tIns="0" rIns="0" bIns="0">
              <a:spAutoFit/>
            </a:bodyPr>
            <a:p>
              <a:pPr eaLnBrk="1" hangingPunct="1">
                <a:lnSpc>
                  <a:spcPct val="90000"/>
                </a:lnSpc>
              </a:pPr>
              <a:r>
                <a:rPr lang="en-US" altLang="zh-CN" sz="2000" dirty="0">
                  <a:solidFill>
                    <a:srgbClr val="000080"/>
                  </a:solidFill>
                  <a:latin typeface="楷体_GB2312" pitchFamily="49" charset="-122"/>
                </a:rPr>
                <a:t>AD582</a:t>
              </a:r>
              <a:r>
                <a:rPr lang="zh-CN" altLang="en-US" sz="2000" dirty="0">
                  <a:solidFill>
                    <a:srgbClr val="000080"/>
                  </a:solidFill>
                  <a:latin typeface="楷体_GB2312" pitchFamily="49" charset="-122"/>
                </a:rPr>
                <a:t>实用电路（一）</a:t>
              </a:r>
              <a:endParaRPr lang="zh-CN" altLang="en-US" dirty="0">
                <a:latin typeface="Times New Roman" panose="02020603050405020304" pitchFamily="18" charset="0"/>
              </a:endParaRPr>
            </a:p>
          </p:txBody>
        </p:sp>
        <p:sp>
          <p:nvSpPr>
            <p:cNvPr id="44187" name="AutoShape 152"/>
            <p:cNvSpPr/>
            <p:nvPr/>
          </p:nvSpPr>
          <p:spPr>
            <a:xfrm rot="5400000">
              <a:off x="2438" y="1565"/>
              <a:ext cx="240" cy="224"/>
            </a:xfrm>
            <a:prstGeom prst="flowChartDelay">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4188" name="Text Box 153"/>
            <p:cNvSpPr txBox="1"/>
            <p:nvPr/>
          </p:nvSpPr>
          <p:spPr>
            <a:xfrm>
              <a:off x="1111" y="2395"/>
              <a:ext cx="290"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grpSp>
      <p:sp>
        <p:nvSpPr>
          <p:cNvPr id="2433178" name="Text Box 154"/>
          <p:cNvSpPr txBox="1"/>
          <p:nvPr/>
        </p:nvSpPr>
        <p:spPr>
          <a:xfrm>
            <a:off x="177800" y="1341438"/>
            <a:ext cx="2776538" cy="1552575"/>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所以只需要外接较小的电容，因此可获得较高的采样速率</a:t>
            </a:r>
            <a:endParaRPr lang="zh-CN" altLang="en-US" sz="2400" dirty="0">
              <a:solidFill>
                <a:schemeClr val="tx1"/>
              </a:solidFill>
              <a:latin typeface="Times New Roman" panose="02020603050405020304" pitchFamily="18" charset="0"/>
            </a:endParaRPr>
          </a:p>
        </p:txBody>
      </p:sp>
      <p:sp>
        <p:nvSpPr>
          <p:cNvPr id="2433182" name="Text Box 158"/>
          <p:cNvSpPr txBox="1"/>
          <p:nvPr/>
        </p:nvSpPr>
        <p:spPr>
          <a:xfrm>
            <a:off x="160338" y="1376363"/>
            <a:ext cx="2755900" cy="2282825"/>
          </a:xfrm>
          <a:prstGeom prst="rect">
            <a:avLst/>
          </a:prstGeom>
          <a:solidFill>
            <a:schemeClr val="bg1"/>
          </a:solid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rgbClr val="3333FF"/>
                </a:solidFill>
                <a:latin typeface="Times New Roman" panose="02020603050405020304" pitchFamily="18" charset="0"/>
              </a:rPr>
              <a:t>当精度要求不太高</a:t>
            </a:r>
            <a:r>
              <a:rPr lang="zh-CN" altLang="en-US" sz="2400" dirty="0">
                <a:solidFill>
                  <a:srgbClr val="3333FF"/>
                </a:solidFill>
                <a:latin typeface="Times New Roman" panose="02020603050405020304" pitchFamily="18" charset="0"/>
                <a:ea typeface="宋体" panose="02010600030101010101" pitchFamily="2" charset="-122"/>
              </a:rPr>
              <a:t>（</a:t>
            </a:r>
            <a:r>
              <a:rPr lang="en-US" altLang="zh-CN" sz="2400" dirty="0">
                <a:solidFill>
                  <a:srgbClr val="CC00CC"/>
                </a:solidFill>
                <a:latin typeface="Times New Roman" panose="02020603050405020304" pitchFamily="18" charset="0"/>
                <a:ea typeface="宋体" panose="02010600030101010101" pitchFamily="2" charset="-122"/>
              </a:rPr>
              <a:t>±0.1%</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Times New Roman" panose="02020603050405020304" pitchFamily="18" charset="0"/>
              </a:rPr>
              <a:t>而速度要求较高时</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楷体_GB2312" pitchFamily="49" charset="-122"/>
              </a:rPr>
              <a:t>可选</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H</a:t>
            </a:r>
            <a:r>
              <a:rPr lang="en-US" altLang="zh-CN" sz="2400" dirty="0">
                <a:solidFill>
                  <a:srgbClr val="CC00CC"/>
                </a:solidFill>
                <a:latin typeface="Times New Roman" panose="02020603050405020304" pitchFamily="18" charset="0"/>
                <a:ea typeface="宋体" panose="02010600030101010101" pitchFamily="2" charset="-122"/>
              </a:rPr>
              <a:t> = 100pF</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Times New Roman" panose="02020603050405020304" pitchFamily="18" charset="0"/>
              </a:rPr>
              <a:t>这时的捕捉时间</a:t>
            </a:r>
            <a:r>
              <a:rPr lang="en-US" altLang="zh-CN" sz="2400" i="1" dirty="0">
                <a:solidFill>
                  <a:srgbClr val="CC00CC"/>
                </a:solidFill>
                <a:latin typeface="Times New Roman" panose="02020603050405020304" pitchFamily="18" charset="0"/>
                <a:ea typeface="宋体" panose="02010600030101010101" pitchFamily="2" charset="-122"/>
              </a:rPr>
              <a:t>t</a:t>
            </a:r>
            <a:r>
              <a:rPr lang="en-US" altLang="zh-CN" sz="2400" baseline="-25000" dirty="0">
                <a:solidFill>
                  <a:srgbClr val="CC00CC"/>
                </a:solidFill>
                <a:latin typeface="Times New Roman" panose="02020603050405020304" pitchFamily="18" charset="0"/>
                <a:ea typeface="宋体" panose="02010600030101010101" pitchFamily="2" charset="-122"/>
              </a:rPr>
              <a:t>AC</a:t>
            </a:r>
            <a:r>
              <a:rPr lang="en-US" altLang="zh-CN" sz="2400" dirty="0">
                <a:solidFill>
                  <a:srgbClr val="CC00CC"/>
                </a:solidFill>
                <a:latin typeface="Times New Roman" panose="02020603050405020304" pitchFamily="18" charset="0"/>
                <a:ea typeface="宋体" panose="02010600030101010101" pitchFamily="2" charset="-122"/>
              </a:rPr>
              <a:t>≤6</a:t>
            </a:r>
            <a:r>
              <a:rPr lang="en-US" altLang="zh-CN" sz="2400"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400" dirty="0">
                <a:solidFill>
                  <a:srgbClr val="CC00CC"/>
                </a:solidFill>
                <a:latin typeface="Times New Roman" panose="02020603050405020304" pitchFamily="18" charset="0"/>
                <a:ea typeface="宋体" panose="02010600030101010101" pitchFamily="2" charset="-122"/>
              </a:rPr>
              <a:t>s</a:t>
            </a:r>
            <a:r>
              <a:rPr lang="zh-CN" altLang="en-US" sz="2400" dirty="0">
                <a:solidFill>
                  <a:srgbClr val="3333FF"/>
                </a:solidFill>
                <a:latin typeface="Times New Roman" panose="02020603050405020304" pitchFamily="18" charset="0"/>
                <a:ea typeface="宋体" panose="02010600030101010101" pitchFamily="2" charset="-122"/>
              </a:rPr>
              <a:t>。</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2433183" name="Text Box 159"/>
          <p:cNvSpPr txBox="1"/>
          <p:nvPr/>
        </p:nvSpPr>
        <p:spPr>
          <a:xfrm>
            <a:off x="161925" y="3789363"/>
            <a:ext cx="2735263" cy="2282825"/>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solidFill>
                  <a:srgbClr val="3333FF"/>
                </a:solidFill>
                <a:latin typeface="Times New Roman" panose="02020603050405020304" pitchFamily="18" charset="0"/>
              </a:rPr>
              <a:t>当精度要求较高</a:t>
            </a:r>
            <a:r>
              <a:rPr lang="zh-CN" altLang="en-US" sz="2400" dirty="0">
                <a:solidFill>
                  <a:srgbClr val="3333FF"/>
                </a:solidFill>
                <a:latin typeface="Times New Roman" panose="02020603050405020304" pitchFamily="18" charset="0"/>
                <a:ea typeface="宋体" panose="02010600030101010101" pitchFamily="2" charset="-122"/>
              </a:rPr>
              <a:t>（</a:t>
            </a:r>
            <a:r>
              <a:rPr lang="en-US" altLang="zh-CN" sz="2400" dirty="0">
                <a:solidFill>
                  <a:srgbClr val="CC00CC"/>
                </a:solidFill>
                <a:latin typeface="Times New Roman" panose="02020603050405020304" pitchFamily="18" charset="0"/>
                <a:ea typeface="宋体" panose="02010600030101010101" pitchFamily="2" charset="-122"/>
              </a:rPr>
              <a:t>±0.01%</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Times New Roman" panose="02020603050405020304" pitchFamily="18" charset="0"/>
              </a:rPr>
              <a:t>时</a:t>
            </a:r>
            <a:r>
              <a:rPr lang="zh-CN" altLang="en-US" sz="2400" dirty="0">
                <a:solidFill>
                  <a:srgbClr val="3333FF"/>
                </a:solidFill>
                <a:latin typeface="Times New Roman" panose="02020603050405020304" pitchFamily="18" charset="0"/>
                <a:ea typeface="宋体" panose="02010600030101010101" pitchFamily="2" charset="-122"/>
              </a:rPr>
              <a:t>，</a:t>
            </a:r>
            <a:r>
              <a:rPr lang="zh-CN" altLang="en-US" sz="2400" dirty="0">
                <a:solidFill>
                  <a:srgbClr val="3333FF"/>
                </a:solidFill>
                <a:latin typeface="楷体_GB2312" pitchFamily="49" charset="-122"/>
              </a:rPr>
              <a:t>为减小馈送的影响和减缓保持电压的下降，应取</a:t>
            </a:r>
            <a:r>
              <a:rPr lang="en-US" altLang="zh-CN" sz="2400" i="1" dirty="0">
                <a:solidFill>
                  <a:srgbClr val="CC00CC"/>
                </a:solidFill>
                <a:latin typeface="Times New Roman" panose="02020603050405020304" pitchFamily="18" charset="0"/>
                <a:ea typeface="宋体" panose="02010600030101010101" pitchFamily="2" charset="-122"/>
              </a:rPr>
              <a:t>C</a:t>
            </a:r>
            <a:r>
              <a:rPr lang="en-US" altLang="zh-CN" sz="2400" baseline="-25000" dirty="0">
                <a:solidFill>
                  <a:srgbClr val="CC00CC"/>
                </a:solidFill>
                <a:latin typeface="Times New Roman" panose="02020603050405020304" pitchFamily="18" charset="0"/>
                <a:ea typeface="宋体" panose="02010600030101010101" pitchFamily="2" charset="-122"/>
              </a:rPr>
              <a:t>H</a:t>
            </a:r>
            <a:r>
              <a:rPr lang="en-US" altLang="zh-CN" sz="2400" dirty="0">
                <a:solidFill>
                  <a:srgbClr val="CC00CC"/>
                </a:solidFill>
                <a:latin typeface="Times New Roman" panose="02020603050405020304" pitchFamily="18" charset="0"/>
                <a:ea typeface="宋体" panose="02010600030101010101" pitchFamily="2" charset="-122"/>
              </a:rPr>
              <a:t> = 1000pF</a:t>
            </a:r>
            <a:r>
              <a:rPr lang="en-US" altLang="zh-CN" sz="2400" dirty="0">
                <a:solidFill>
                  <a:srgbClr val="3333FF"/>
                </a:solidFill>
                <a:latin typeface="Times New Roman" panose="02020603050405020304" pitchFamily="18" charset="0"/>
                <a:ea typeface="宋体" panose="02010600030101010101" pitchFamily="2" charset="-122"/>
              </a:rPr>
              <a:t> </a:t>
            </a:r>
            <a:r>
              <a:rPr lang="zh-CN" altLang="en-US" sz="2400" dirty="0">
                <a:solidFill>
                  <a:srgbClr val="3333FF"/>
                </a:solidFill>
                <a:latin typeface="Times New Roman" panose="02020603050405020304" pitchFamily="18" charset="0"/>
                <a:ea typeface="宋体" panose="02010600030101010101" pitchFamily="2" charset="-122"/>
              </a:rPr>
              <a:t>。</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44039" name="Text Box 11"/>
          <p:cNvSpPr txBox="1"/>
          <p:nvPr/>
        </p:nvSpPr>
        <p:spPr>
          <a:xfrm>
            <a:off x="358775" y="657225"/>
            <a:ext cx="44545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5.5.1 AD582</a:t>
            </a:r>
            <a:r>
              <a:rPr lang="zh-CN" altLang="en-US" sz="3200" dirty="0">
                <a:latin typeface="Times New Roman" panose="02020603050405020304" pitchFamily="18" charset="0"/>
              </a:rPr>
              <a:t>的实用电路</a:t>
            </a:r>
            <a:endParaRPr lang="zh-CN" altLang="en-US"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3178"/>
                                        </p:tgtEl>
                                        <p:attrNameLst>
                                          <p:attrName>style.visibility</p:attrName>
                                        </p:attrNameLst>
                                      </p:cBhvr>
                                      <p:to>
                                        <p:strVal val="visible"/>
                                      </p:to>
                                    </p:set>
                                    <p:animEffect transition="in" filter="dissolve">
                                      <p:cBhvr>
                                        <p:cTn id="7" dur="500"/>
                                        <p:tgtEl>
                                          <p:spTgt spid="2433178"/>
                                        </p:tgtEl>
                                      </p:cBhvr>
                                    </p:animEffect>
                                  </p:childTnLst>
                                </p:cTn>
                              </p:par>
                            </p:childTnLst>
                          </p:cTn>
                        </p:par>
                      </p:childTnLst>
                    </p:cTn>
                  </p:par>
                  <p:par>
                    <p:cTn id="8" fill="hold">
                      <p:stCondLst>
                        <p:cond delay="indefinite"/>
                      </p:stCondLst>
                      <p:childTnLst>
                        <p:par>
                          <p:cTn id="9" fill="hold">
                            <p:stCondLst>
                              <p:cond delay="0"/>
                            </p:stCondLst>
                            <p:childTnLst>
                              <p:par>
                                <p:cTn id="10" presetID="3" presetClass="exit" presetSubtype="10" fill="hold" nodeType="clickEffect">
                                  <p:stCondLst>
                                    <p:cond delay="0"/>
                                  </p:stCondLst>
                                  <p:childTnLst>
                                    <p:animEffect transition="out" filter="blinds(horizontal)">
                                      <p:cBhvr>
                                        <p:cTn id="11" dur="500"/>
                                        <p:tgtEl>
                                          <p:spTgt spid="2433178"/>
                                        </p:tgtEl>
                                      </p:cBhvr>
                                    </p:animEffect>
                                    <p:set>
                                      <p:cBhvr>
                                        <p:cTn id="12" dur="1" fill="hold">
                                          <p:stCondLst>
                                            <p:cond delay="499"/>
                                          </p:stCondLst>
                                        </p:cTn>
                                        <p:tgtEl>
                                          <p:spTgt spid="243317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3182"/>
                                        </p:tgtEl>
                                        <p:attrNameLst>
                                          <p:attrName>style.visibility</p:attrName>
                                        </p:attrNameLst>
                                      </p:cBhvr>
                                      <p:to>
                                        <p:strVal val="visible"/>
                                      </p:to>
                                    </p:set>
                                    <p:animEffect transition="in" filter="dissolve">
                                      <p:cBhvr>
                                        <p:cTn id="17" dur="500"/>
                                        <p:tgtEl>
                                          <p:spTgt spid="243318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33183"/>
                                        </p:tgtEl>
                                        <p:attrNameLst>
                                          <p:attrName>style.visibility</p:attrName>
                                        </p:attrNameLst>
                                      </p:cBhvr>
                                      <p:to>
                                        <p:strVal val="visible"/>
                                      </p:to>
                                    </p:set>
                                    <p:animEffect transition="in" filter="dissolve">
                                      <p:cBhvr>
                                        <p:cTn id="22" dur="500"/>
                                        <p:tgtEl>
                                          <p:spTgt spid="2433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3178" grpId="0"/>
      <p:bldP spid="2433178" grpId="1"/>
      <p:bldP spid="2433182" grpId="0" animBg="1"/>
      <p:bldP spid="2433183"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4050" name="Text Box 2"/>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434215" name="Group 167"/>
          <p:cNvGrpSpPr/>
          <p:nvPr/>
        </p:nvGrpSpPr>
        <p:grpSpPr>
          <a:xfrm>
            <a:off x="2954338" y="1484313"/>
            <a:ext cx="6081712" cy="4246562"/>
            <a:chOff x="1861" y="935"/>
            <a:chExt cx="3831" cy="2675"/>
          </a:xfrm>
        </p:grpSpPr>
        <p:sp>
          <p:nvSpPr>
            <p:cNvPr id="45063" name="Rectangle 5"/>
            <p:cNvSpPr/>
            <p:nvPr/>
          </p:nvSpPr>
          <p:spPr>
            <a:xfrm>
              <a:off x="1861" y="935"/>
              <a:ext cx="3831" cy="267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4" name="AutoShape 6"/>
            <p:cNvSpPr/>
            <p:nvPr/>
          </p:nvSpPr>
          <p:spPr>
            <a:xfrm rot="5400000">
              <a:off x="3817" y="1851"/>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5" name="AutoShape 7"/>
            <p:cNvSpPr/>
            <p:nvPr/>
          </p:nvSpPr>
          <p:spPr>
            <a:xfrm rot="5400000">
              <a:off x="2783" y="1853"/>
              <a:ext cx="380" cy="380"/>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6" name="Rectangle 8"/>
            <p:cNvSpPr/>
            <p:nvPr/>
          </p:nvSpPr>
          <p:spPr>
            <a:xfrm>
              <a:off x="3343" y="1479"/>
              <a:ext cx="200" cy="108"/>
            </a:xfrm>
            <a:prstGeom prst="rect">
              <a:avLst/>
            </a:prstGeom>
            <a:solidFill>
              <a:srgbClr val="FFFFFF"/>
            </a:solidFill>
            <a:ln w="0" cap="flat" cmpd="sng">
              <a:solidFill>
                <a:srgbClr val="FFFFFF"/>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67" name="Line 9"/>
            <p:cNvSpPr/>
            <p:nvPr/>
          </p:nvSpPr>
          <p:spPr>
            <a:xfrm>
              <a:off x="3438" y="1672"/>
              <a:ext cx="0" cy="334"/>
            </a:xfrm>
            <a:prstGeom prst="line">
              <a:avLst/>
            </a:prstGeom>
            <a:ln w="12700" cap="flat" cmpd="sng">
              <a:solidFill>
                <a:srgbClr val="FF0000"/>
              </a:solidFill>
              <a:prstDash val="dash"/>
              <a:headEnd type="none" w="med" len="med"/>
              <a:tailEnd type="none" w="med" len="med"/>
            </a:ln>
          </p:spPr>
        </p:sp>
        <p:sp>
          <p:nvSpPr>
            <p:cNvPr id="45068" name="Line 10"/>
            <p:cNvSpPr/>
            <p:nvPr/>
          </p:nvSpPr>
          <p:spPr>
            <a:xfrm>
              <a:off x="3153" y="2041"/>
              <a:ext cx="166" cy="0"/>
            </a:xfrm>
            <a:prstGeom prst="line">
              <a:avLst/>
            </a:prstGeom>
            <a:ln w="0" cap="flat" cmpd="sng">
              <a:solidFill>
                <a:srgbClr val="000000"/>
              </a:solidFill>
              <a:prstDash val="solid"/>
              <a:headEnd type="none" w="med" len="med"/>
              <a:tailEnd type="none" w="med" len="med"/>
            </a:ln>
          </p:spPr>
        </p:sp>
        <p:sp>
          <p:nvSpPr>
            <p:cNvPr id="45069" name="Oval 11"/>
            <p:cNvSpPr/>
            <p:nvPr/>
          </p:nvSpPr>
          <p:spPr>
            <a:xfrm>
              <a:off x="3319" y="2018"/>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70" name="Oval 12"/>
            <p:cNvSpPr/>
            <p:nvPr/>
          </p:nvSpPr>
          <p:spPr>
            <a:xfrm>
              <a:off x="3509" y="2018"/>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71" name="Line 13"/>
            <p:cNvSpPr/>
            <p:nvPr/>
          </p:nvSpPr>
          <p:spPr>
            <a:xfrm flipV="1">
              <a:off x="3379" y="1947"/>
              <a:ext cx="178" cy="88"/>
            </a:xfrm>
            <a:prstGeom prst="line">
              <a:avLst/>
            </a:prstGeom>
            <a:ln w="19050" cap="flat" cmpd="sng">
              <a:solidFill>
                <a:srgbClr val="000000"/>
              </a:solidFill>
              <a:prstDash val="solid"/>
              <a:headEnd type="none" w="med" len="med"/>
              <a:tailEnd type="none" w="med" len="med"/>
            </a:ln>
          </p:spPr>
        </p:sp>
        <p:sp>
          <p:nvSpPr>
            <p:cNvPr id="45072" name="Line 14"/>
            <p:cNvSpPr/>
            <p:nvPr/>
          </p:nvSpPr>
          <p:spPr>
            <a:xfrm>
              <a:off x="3568" y="2041"/>
              <a:ext cx="250" cy="0"/>
            </a:xfrm>
            <a:prstGeom prst="line">
              <a:avLst/>
            </a:prstGeom>
            <a:ln w="12700" cap="flat" cmpd="sng">
              <a:solidFill>
                <a:srgbClr val="000080"/>
              </a:solidFill>
              <a:prstDash val="solid"/>
              <a:headEnd type="none" w="med" len="med"/>
              <a:tailEnd type="none" w="med" len="med"/>
            </a:ln>
          </p:spPr>
        </p:sp>
        <p:sp>
          <p:nvSpPr>
            <p:cNvPr id="45073" name="Line 15"/>
            <p:cNvSpPr/>
            <p:nvPr/>
          </p:nvSpPr>
          <p:spPr>
            <a:xfrm>
              <a:off x="4197" y="2041"/>
              <a:ext cx="261" cy="0"/>
            </a:xfrm>
            <a:prstGeom prst="line">
              <a:avLst/>
            </a:prstGeom>
            <a:ln w="12700" cap="flat" cmpd="sng">
              <a:solidFill>
                <a:srgbClr val="000080"/>
              </a:solidFill>
              <a:prstDash val="solid"/>
              <a:headEnd type="none" w="med" len="med"/>
              <a:tailEnd type="none" w="med" len="med"/>
            </a:ln>
          </p:spPr>
        </p:sp>
        <p:sp>
          <p:nvSpPr>
            <p:cNvPr id="45074" name="Line 16"/>
            <p:cNvSpPr/>
            <p:nvPr/>
          </p:nvSpPr>
          <p:spPr>
            <a:xfrm flipH="1">
              <a:off x="2583" y="1983"/>
              <a:ext cx="190" cy="0"/>
            </a:xfrm>
            <a:prstGeom prst="line">
              <a:avLst/>
            </a:prstGeom>
            <a:ln w="12700" cap="flat" cmpd="sng">
              <a:solidFill>
                <a:srgbClr val="000080"/>
              </a:solidFill>
              <a:prstDash val="solid"/>
              <a:headEnd type="none" w="med" len="med"/>
              <a:tailEnd type="none" w="med" len="med"/>
            </a:ln>
          </p:spPr>
        </p:sp>
        <p:sp>
          <p:nvSpPr>
            <p:cNvPr id="45075" name="Line 17"/>
            <p:cNvSpPr/>
            <p:nvPr/>
          </p:nvSpPr>
          <p:spPr>
            <a:xfrm flipV="1">
              <a:off x="2583" y="1760"/>
              <a:ext cx="0" cy="223"/>
            </a:xfrm>
            <a:prstGeom prst="line">
              <a:avLst/>
            </a:prstGeom>
            <a:ln w="12700" cap="flat" cmpd="sng">
              <a:solidFill>
                <a:srgbClr val="000080"/>
              </a:solidFill>
              <a:prstDash val="solid"/>
              <a:headEnd type="none" w="med" len="med"/>
              <a:tailEnd type="none" w="med" len="med"/>
            </a:ln>
          </p:spPr>
        </p:sp>
        <p:sp>
          <p:nvSpPr>
            <p:cNvPr id="45076" name="Line 18"/>
            <p:cNvSpPr/>
            <p:nvPr/>
          </p:nvSpPr>
          <p:spPr>
            <a:xfrm>
              <a:off x="2583" y="1760"/>
              <a:ext cx="1881" cy="0"/>
            </a:xfrm>
            <a:prstGeom prst="line">
              <a:avLst/>
            </a:prstGeom>
            <a:ln w="12700" cap="flat" cmpd="sng">
              <a:solidFill>
                <a:srgbClr val="000080"/>
              </a:solidFill>
              <a:prstDash val="solid"/>
              <a:headEnd type="none" w="med" len="med"/>
              <a:tailEnd type="none" w="med" len="med"/>
            </a:ln>
          </p:spPr>
        </p:sp>
        <p:sp>
          <p:nvSpPr>
            <p:cNvPr id="45077" name="Oval 19"/>
            <p:cNvSpPr/>
            <p:nvPr/>
          </p:nvSpPr>
          <p:spPr>
            <a:xfrm>
              <a:off x="3404" y="126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78" name="Oval 20"/>
            <p:cNvSpPr/>
            <p:nvPr/>
          </p:nvSpPr>
          <p:spPr>
            <a:xfrm>
              <a:off x="3784" y="1269"/>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79" name="Oval 21"/>
            <p:cNvSpPr/>
            <p:nvPr/>
          </p:nvSpPr>
          <p:spPr>
            <a:xfrm>
              <a:off x="4458" y="2018"/>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0" name="Oval 22"/>
            <p:cNvSpPr/>
            <p:nvPr/>
          </p:nvSpPr>
          <p:spPr>
            <a:xfrm>
              <a:off x="4458" y="1737"/>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1" name="Oval 23"/>
            <p:cNvSpPr/>
            <p:nvPr/>
          </p:nvSpPr>
          <p:spPr>
            <a:xfrm>
              <a:off x="4453" y="2387"/>
              <a:ext cx="60" cy="59"/>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2" name="Oval 24"/>
            <p:cNvSpPr/>
            <p:nvPr/>
          </p:nvSpPr>
          <p:spPr>
            <a:xfrm>
              <a:off x="2840" y="2573"/>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3" name="Oval 25"/>
            <p:cNvSpPr/>
            <p:nvPr/>
          </p:nvSpPr>
          <p:spPr>
            <a:xfrm>
              <a:off x="2317" y="2088"/>
              <a:ext cx="60"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4" name="Oval 26"/>
            <p:cNvSpPr/>
            <p:nvPr/>
          </p:nvSpPr>
          <p:spPr>
            <a:xfrm>
              <a:off x="3219" y="2573"/>
              <a:ext cx="60"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5" name="Oval 27"/>
            <p:cNvSpPr/>
            <p:nvPr/>
          </p:nvSpPr>
          <p:spPr>
            <a:xfrm>
              <a:off x="3604" y="2573"/>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86" name="Line 28"/>
            <p:cNvSpPr/>
            <p:nvPr/>
          </p:nvSpPr>
          <p:spPr>
            <a:xfrm>
              <a:off x="2868" y="2193"/>
              <a:ext cx="0" cy="386"/>
            </a:xfrm>
            <a:prstGeom prst="line">
              <a:avLst/>
            </a:prstGeom>
            <a:ln w="12700" cap="flat" cmpd="sng">
              <a:solidFill>
                <a:srgbClr val="000080"/>
              </a:solidFill>
              <a:prstDash val="solid"/>
              <a:headEnd type="none" w="med" len="med"/>
              <a:tailEnd type="none" w="med" len="med"/>
            </a:ln>
          </p:spPr>
        </p:sp>
        <p:sp>
          <p:nvSpPr>
            <p:cNvPr id="45087" name="Line 29"/>
            <p:cNvSpPr/>
            <p:nvPr/>
          </p:nvSpPr>
          <p:spPr>
            <a:xfrm>
              <a:off x="3058" y="2088"/>
              <a:ext cx="0" cy="327"/>
            </a:xfrm>
            <a:prstGeom prst="line">
              <a:avLst/>
            </a:prstGeom>
            <a:ln w="12700" cap="flat" cmpd="sng">
              <a:solidFill>
                <a:srgbClr val="000080"/>
              </a:solidFill>
              <a:prstDash val="solid"/>
              <a:headEnd type="none" w="med" len="med"/>
              <a:tailEnd type="none" w="med" len="med"/>
            </a:ln>
          </p:spPr>
        </p:sp>
        <p:sp>
          <p:nvSpPr>
            <p:cNvPr id="45088" name="Line 30"/>
            <p:cNvSpPr/>
            <p:nvPr/>
          </p:nvSpPr>
          <p:spPr>
            <a:xfrm>
              <a:off x="3248" y="2415"/>
              <a:ext cx="0" cy="164"/>
            </a:xfrm>
            <a:prstGeom prst="line">
              <a:avLst/>
            </a:prstGeom>
            <a:ln w="12700" cap="flat" cmpd="sng">
              <a:solidFill>
                <a:srgbClr val="000080"/>
              </a:solidFill>
              <a:prstDash val="solid"/>
              <a:headEnd type="none" w="med" len="med"/>
              <a:tailEnd type="none" w="med" len="med"/>
            </a:ln>
          </p:spPr>
        </p:sp>
        <p:sp>
          <p:nvSpPr>
            <p:cNvPr id="45089" name="Oval 31"/>
            <p:cNvSpPr/>
            <p:nvPr/>
          </p:nvSpPr>
          <p:spPr>
            <a:xfrm>
              <a:off x="3974" y="2573"/>
              <a:ext cx="59" cy="63"/>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090" name="Line 32"/>
            <p:cNvSpPr/>
            <p:nvPr/>
          </p:nvSpPr>
          <p:spPr>
            <a:xfrm>
              <a:off x="3818" y="1327"/>
              <a:ext cx="0" cy="250"/>
            </a:xfrm>
            <a:prstGeom prst="line">
              <a:avLst/>
            </a:prstGeom>
            <a:ln w="12700" cap="flat" cmpd="sng">
              <a:solidFill>
                <a:srgbClr val="000080"/>
              </a:solidFill>
              <a:prstDash val="solid"/>
              <a:headEnd type="none" w="med" len="med"/>
              <a:tailEnd type="none" w="med" len="med"/>
            </a:ln>
          </p:spPr>
        </p:sp>
        <p:sp>
          <p:nvSpPr>
            <p:cNvPr id="45091" name="Line 33"/>
            <p:cNvSpPr/>
            <p:nvPr/>
          </p:nvSpPr>
          <p:spPr>
            <a:xfrm>
              <a:off x="2346" y="1292"/>
              <a:ext cx="1068" cy="0"/>
            </a:xfrm>
            <a:prstGeom prst="line">
              <a:avLst/>
            </a:prstGeom>
            <a:ln w="19050" cap="flat" cmpd="sng">
              <a:solidFill>
                <a:srgbClr val="FF00FF"/>
              </a:solidFill>
              <a:prstDash val="dash"/>
              <a:headEnd type="none" w="med" len="med"/>
              <a:tailEnd type="none" w="med" len="med"/>
            </a:ln>
          </p:spPr>
        </p:sp>
        <p:sp>
          <p:nvSpPr>
            <p:cNvPr id="45092" name="Line 34"/>
            <p:cNvSpPr/>
            <p:nvPr/>
          </p:nvSpPr>
          <p:spPr>
            <a:xfrm>
              <a:off x="3468" y="1292"/>
              <a:ext cx="326" cy="0"/>
            </a:xfrm>
            <a:prstGeom prst="line">
              <a:avLst/>
            </a:prstGeom>
            <a:ln w="19050" cap="flat" cmpd="sng">
              <a:solidFill>
                <a:srgbClr val="FF00FF"/>
              </a:solidFill>
              <a:prstDash val="dash"/>
              <a:headEnd type="none" w="med" len="med"/>
              <a:tailEnd type="none" w="med" len="med"/>
            </a:ln>
          </p:spPr>
        </p:sp>
        <p:sp>
          <p:nvSpPr>
            <p:cNvPr id="45093" name="Line 35"/>
            <p:cNvSpPr/>
            <p:nvPr/>
          </p:nvSpPr>
          <p:spPr>
            <a:xfrm>
              <a:off x="3853" y="1292"/>
              <a:ext cx="629" cy="0"/>
            </a:xfrm>
            <a:prstGeom prst="line">
              <a:avLst/>
            </a:prstGeom>
            <a:ln w="19050" cap="flat" cmpd="sng">
              <a:solidFill>
                <a:srgbClr val="FF00FF"/>
              </a:solidFill>
              <a:prstDash val="dash"/>
              <a:headEnd type="none" w="med" len="med"/>
              <a:tailEnd type="none" w="med" len="med"/>
            </a:ln>
          </p:spPr>
        </p:sp>
        <p:sp>
          <p:nvSpPr>
            <p:cNvPr id="45094" name="Line 36"/>
            <p:cNvSpPr/>
            <p:nvPr/>
          </p:nvSpPr>
          <p:spPr>
            <a:xfrm>
              <a:off x="4482" y="1292"/>
              <a:ext cx="0" cy="457"/>
            </a:xfrm>
            <a:prstGeom prst="line">
              <a:avLst/>
            </a:prstGeom>
            <a:ln w="19050" cap="flat" cmpd="sng">
              <a:solidFill>
                <a:srgbClr val="FF00FF"/>
              </a:solidFill>
              <a:prstDash val="dash"/>
              <a:headEnd type="none" w="med" len="med"/>
              <a:tailEnd type="none" w="med" len="med"/>
            </a:ln>
          </p:spPr>
        </p:sp>
        <p:sp>
          <p:nvSpPr>
            <p:cNvPr id="45095" name="Line 37"/>
            <p:cNvSpPr/>
            <p:nvPr/>
          </p:nvSpPr>
          <p:spPr>
            <a:xfrm>
              <a:off x="4482" y="1789"/>
              <a:ext cx="0" cy="229"/>
            </a:xfrm>
            <a:prstGeom prst="line">
              <a:avLst/>
            </a:prstGeom>
            <a:ln w="19050" cap="flat" cmpd="sng">
              <a:solidFill>
                <a:srgbClr val="FF00FF"/>
              </a:solidFill>
              <a:prstDash val="dash"/>
              <a:headEnd type="none" w="med" len="med"/>
              <a:tailEnd type="none" w="med" len="med"/>
            </a:ln>
          </p:spPr>
        </p:sp>
        <p:sp>
          <p:nvSpPr>
            <p:cNvPr id="45096" name="Line 38"/>
            <p:cNvSpPr/>
            <p:nvPr/>
          </p:nvSpPr>
          <p:spPr>
            <a:xfrm>
              <a:off x="4482" y="2076"/>
              <a:ext cx="0" cy="318"/>
            </a:xfrm>
            <a:prstGeom prst="line">
              <a:avLst/>
            </a:prstGeom>
            <a:ln w="19050" cap="flat" cmpd="sng">
              <a:solidFill>
                <a:srgbClr val="FF00FF"/>
              </a:solidFill>
              <a:prstDash val="dash"/>
              <a:headEnd type="none" w="med" len="med"/>
              <a:tailEnd type="none" w="med" len="med"/>
            </a:ln>
          </p:spPr>
        </p:sp>
        <p:sp>
          <p:nvSpPr>
            <p:cNvPr id="45097" name="Line 39"/>
            <p:cNvSpPr/>
            <p:nvPr/>
          </p:nvSpPr>
          <p:spPr>
            <a:xfrm>
              <a:off x="4482" y="2451"/>
              <a:ext cx="0" cy="157"/>
            </a:xfrm>
            <a:prstGeom prst="line">
              <a:avLst/>
            </a:prstGeom>
            <a:ln w="19050" cap="flat" cmpd="sng">
              <a:solidFill>
                <a:srgbClr val="FF00FF"/>
              </a:solidFill>
              <a:prstDash val="dash"/>
              <a:headEnd type="none" w="med" len="med"/>
              <a:tailEnd type="none" w="med" len="med"/>
            </a:ln>
          </p:spPr>
        </p:sp>
        <p:sp>
          <p:nvSpPr>
            <p:cNvPr id="45098" name="Line 40"/>
            <p:cNvSpPr/>
            <p:nvPr/>
          </p:nvSpPr>
          <p:spPr>
            <a:xfrm flipH="1">
              <a:off x="4031" y="2603"/>
              <a:ext cx="451" cy="0"/>
            </a:xfrm>
            <a:prstGeom prst="line">
              <a:avLst/>
            </a:prstGeom>
            <a:ln w="19050" cap="flat" cmpd="sng">
              <a:solidFill>
                <a:srgbClr val="FF00FF"/>
              </a:solidFill>
              <a:prstDash val="dash"/>
              <a:headEnd type="none" w="med" len="med"/>
              <a:tailEnd type="none" w="med" len="med"/>
            </a:ln>
          </p:spPr>
        </p:sp>
        <p:sp>
          <p:nvSpPr>
            <p:cNvPr id="45099" name="Line 41"/>
            <p:cNvSpPr/>
            <p:nvPr/>
          </p:nvSpPr>
          <p:spPr>
            <a:xfrm flipH="1">
              <a:off x="3663" y="2603"/>
              <a:ext cx="309" cy="0"/>
            </a:xfrm>
            <a:prstGeom prst="line">
              <a:avLst/>
            </a:prstGeom>
            <a:ln w="19050" cap="flat" cmpd="sng">
              <a:solidFill>
                <a:srgbClr val="FF00FF"/>
              </a:solidFill>
              <a:prstDash val="dash"/>
              <a:headEnd type="none" w="med" len="med"/>
              <a:tailEnd type="none" w="med" len="med"/>
            </a:ln>
          </p:spPr>
        </p:sp>
        <p:sp>
          <p:nvSpPr>
            <p:cNvPr id="45100" name="Line 42"/>
            <p:cNvSpPr/>
            <p:nvPr/>
          </p:nvSpPr>
          <p:spPr>
            <a:xfrm>
              <a:off x="3284" y="2603"/>
              <a:ext cx="320" cy="0"/>
            </a:xfrm>
            <a:prstGeom prst="line">
              <a:avLst/>
            </a:prstGeom>
            <a:ln w="19050" cap="flat" cmpd="sng">
              <a:solidFill>
                <a:srgbClr val="FF00FF"/>
              </a:solidFill>
              <a:prstDash val="dash"/>
              <a:headEnd type="none" w="med" len="med"/>
              <a:tailEnd type="none" w="med" len="med"/>
            </a:ln>
          </p:spPr>
        </p:sp>
        <p:sp>
          <p:nvSpPr>
            <p:cNvPr id="45101" name="Line 43"/>
            <p:cNvSpPr/>
            <p:nvPr/>
          </p:nvSpPr>
          <p:spPr>
            <a:xfrm flipV="1">
              <a:off x="2900" y="2603"/>
              <a:ext cx="324" cy="2"/>
            </a:xfrm>
            <a:prstGeom prst="line">
              <a:avLst/>
            </a:prstGeom>
            <a:ln w="19050" cap="flat" cmpd="sng">
              <a:solidFill>
                <a:srgbClr val="FF00FF"/>
              </a:solidFill>
              <a:prstDash val="dash"/>
              <a:headEnd type="none" w="med" len="med"/>
              <a:tailEnd type="none" w="med" len="med"/>
            </a:ln>
          </p:spPr>
        </p:sp>
        <p:sp>
          <p:nvSpPr>
            <p:cNvPr id="45102" name="Line 44"/>
            <p:cNvSpPr/>
            <p:nvPr/>
          </p:nvSpPr>
          <p:spPr>
            <a:xfrm>
              <a:off x="2346" y="1292"/>
              <a:ext cx="0" cy="796"/>
            </a:xfrm>
            <a:prstGeom prst="line">
              <a:avLst/>
            </a:prstGeom>
            <a:ln w="19050" cap="flat" cmpd="sng">
              <a:solidFill>
                <a:srgbClr val="FF00FF"/>
              </a:solidFill>
              <a:prstDash val="dash"/>
              <a:headEnd type="none" w="med" len="med"/>
              <a:tailEnd type="none" w="med" len="med"/>
            </a:ln>
          </p:spPr>
        </p:sp>
        <p:sp>
          <p:nvSpPr>
            <p:cNvPr id="45103" name="Line 45"/>
            <p:cNvSpPr/>
            <p:nvPr/>
          </p:nvSpPr>
          <p:spPr>
            <a:xfrm>
              <a:off x="2346" y="2144"/>
              <a:ext cx="0" cy="459"/>
            </a:xfrm>
            <a:prstGeom prst="line">
              <a:avLst/>
            </a:prstGeom>
            <a:ln w="19050" cap="flat" cmpd="sng">
              <a:solidFill>
                <a:srgbClr val="FF00FF"/>
              </a:solidFill>
              <a:prstDash val="dash"/>
              <a:headEnd type="none" w="med" len="med"/>
              <a:tailEnd type="none" w="med" len="med"/>
            </a:ln>
          </p:spPr>
        </p:sp>
        <p:sp>
          <p:nvSpPr>
            <p:cNvPr id="45104" name="Line 46"/>
            <p:cNvSpPr/>
            <p:nvPr/>
          </p:nvSpPr>
          <p:spPr>
            <a:xfrm>
              <a:off x="2346" y="2603"/>
              <a:ext cx="499" cy="0"/>
            </a:xfrm>
            <a:prstGeom prst="line">
              <a:avLst/>
            </a:prstGeom>
            <a:ln w="19050" cap="flat" cmpd="sng">
              <a:solidFill>
                <a:srgbClr val="FF00FF"/>
              </a:solidFill>
              <a:prstDash val="dash"/>
              <a:headEnd type="none" w="med" len="med"/>
              <a:tailEnd type="none" w="med" len="med"/>
            </a:ln>
          </p:spPr>
        </p:sp>
        <p:sp>
          <p:nvSpPr>
            <p:cNvPr id="45105" name="Line 47"/>
            <p:cNvSpPr/>
            <p:nvPr/>
          </p:nvSpPr>
          <p:spPr>
            <a:xfrm>
              <a:off x="3628" y="2632"/>
              <a:ext cx="0" cy="439"/>
            </a:xfrm>
            <a:prstGeom prst="line">
              <a:avLst/>
            </a:prstGeom>
            <a:ln w="12700" cap="flat" cmpd="sng">
              <a:solidFill>
                <a:srgbClr val="000080"/>
              </a:solidFill>
              <a:prstDash val="solid"/>
              <a:headEnd type="none" w="med" len="med"/>
              <a:tailEnd type="none" w="med" len="med"/>
            </a:ln>
          </p:spPr>
        </p:sp>
        <p:sp>
          <p:nvSpPr>
            <p:cNvPr id="45106" name="Line 48"/>
            <p:cNvSpPr/>
            <p:nvPr/>
          </p:nvSpPr>
          <p:spPr>
            <a:xfrm>
              <a:off x="3628" y="2790"/>
              <a:ext cx="154" cy="0"/>
            </a:xfrm>
            <a:prstGeom prst="line">
              <a:avLst/>
            </a:prstGeom>
            <a:ln w="12700" cap="flat" cmpd="sng">
              <a:solidFill>
                <a:srgbClr val="000080"/>
              </a:solidFill>
              <a:prstDash val="solid"/>
              <a:headEnd type="none" w="med" len="med"/>
              <a:tailEnd type="none" w="med" len="med"/>
            </a:ln>
          </p:spPr>
        </p:sp>
        <p:sp>
          <p:nvSpPr>
            <p:cNvPr id="45107" name="Line 49"/>
            <p:cNvSpPr/>
            <p:nvPr/>
          </p:nvSpPr>
          <p:spPr>
            <a:xfrm>
              <a:off x="3782" y="2790"/>
              <a:ext cx="0" cy="82"/>
            </a:xfrm>
            <a:prstGeom prst="line">
              <a:avLst/>
            </a:prstGeom>
            <a:ln w="12700" cap="flat" cmpd="sng">
              <a:solidFill>
                <a:srgbClr val="000080"/>
              </a:solidFill>
              <a:prstDash val="solid"/>
              <a:headEnd type="none" w="med" len="med"/>
              <a:tailEnd type="none" w="med" len="med"/>
            </a:ln>
          </p:spPr>
        </p:sp>
        <p:sp>
          <p:nvSpPr>
            <p:cNvPr id="45108" name="Line 50"/>
            <p:cNvSpPr/>
            <p:nvPr/>
          </p:nvSpPr>
          <p:spPr>
            <a:xfrm>
              <a:off x="3735" y="2872"/>
              <a:ext cx="106" cy="0"/>
            </a:xfrm>
            <a:prstGeom prst="line">
              <a:avLst/>
            </a:prstGeom>
            <a:ln w="19050" cap="flat" cmpd="sng">
              <a:solidFill>
                <a:srgbClr val="000000"/>
              </a:solidFill>
              <a:prstDash val="solid"/>
              <a:headEnd type="none" w="med" len="med"/>
              <a:tailEnd type="none" w="med" len="med"/>
            </a:ln>
          </p:spPr>
        </p:sp>
        <p:sp>
          <p:nvSpPr>
            <p:cNvPr id="45109" name="Line 51"/>
            <p:cNvSpPr/>
            <p:nvPr/>
          </p:nvSpPr>
          <p:spPr>
            <a:xfrm>
              <a:off x="3735" y="2895"/>
              <a:ext cx="106" cy="0"/>
            </a:xfrm>
            <a:prstGeom prst="line">
              <a:avLst/>
            </a:prstGeom>
            <a:ln w="19050" cap="flat" cmpd="sng">
              <a:solidFill>
                <a:srgbClr val="000000"/>
              </a:solidFill>
              <a:prstDash val="solid"/>
              <a:headEnd type="none" w="med" len="med"/>
              <a:tailEnd type="none" w="med" len="med"/>
            </a:ln>
          </p:spPr>
        </p:sp>
        <p:sp>
          <p:nvSpPr>
            <p:cNvPr id="45110" name="Line 52"/>
            <p:cNvSpPr/>
            <p:nvPr/>
          </p:nvSpPr>
          <p:spPr>
            <a:xfrm>
              <a:off x="3782" y="2895"/>
              <a:ext cx="0" cy="129"/>
            </a:xfrm>
            <a:prstGeom prst="line">
              <a:avLst/>
            </a:prstGeom>
            <a:ln w="12700" cap="flat" cmpd="sng">
              <a:solidFill>
                <a:srgbClr val="000080"/>
              </a:solidFill>
              <a:prstDash val="solid"/>
              <a:headEnd type="none" w="med" len="med"/>
              <a:tailEnd type="none" w="med" len="med"/>
            </a:ln>
          </p:spPr>
        </p:sp>
        <p:sp>
          <p:nvSpPr>
            <p:cNvPr id="45111" name="Line 53"/>
            <p:cNvSpPr/>
            <p:nvPr/>
          </p:nvSpPr>
          <p:spPr>
            <a:xfrm>
              <a:off x="4007" y="2790"/>
              <a:ext cx="155" cy="0"/>
            </a:xfrm>
            <a:prstGeom prst="line">
              <a:avLst/>
            </a:prstGeom>
            <a:ln w="12700" cap="flat" cmpd="sng">
              <a:solidFill>
                <a:srgbClr val="000080"/>
              </a:solidFill>
              <a:prstDash val="solid"/>
              <a:headEnd type="none" w="med" len="med"/>
              <a:tailEnd type="none" w="med" len="med"/>
            </a:ln>
          </p:spPr>
        </p:sp>
        <p:sp>
          <p:nvSpPr>
            <p:cNvPr id="45112" name="Line 54"/>
            <p:cNvSpPr/>
            <p:nvPr/>
          </p:nvSpPr>
          <p:spPr>
            <a:xfrm>
              <a:off x="4162" y="2790"/>
              <a:ext cx="0" cy="82"/>
            </a:xfrm>
            <a:prstGeom prst="line">
              <a:avLst/>
            </a:prstGeom>
            <a:ln w="12700" cap="flat" cmpd="sng">
              <a:solidFill>
                <a:srgbClr val="000080"/>
              </a:solidFill>
              <a:prstDash val="solid"/>
              <a:headEnd type="none" w="med" len="med"/>
              <a:tailEnd type="none" w="med" len="med"/>
            </a:ln>
          </p:spPr>
        </p:sp>
        <p:sp>
          <p:nvSpPr>
            <p:cNvPr id="45113" name="Line 55"/>
            <p:cNvSpPr/>
            <p:nvPr/>
          </p:nvSpPr>
          <p:spPr>
            <a:xfrm>
              <a:off x="4114" y="2872"/>
              <a:ext cx="107" cy="0"/>
            </a:xfrm>
            <a:prstGeom prst="line">
              <a:avLst/>
            </a:prstGeom>
            <a:ln w="19050" cap="flat" cmpd="sng">
              <a:solidFill>
                <a:srgbClr val="000000"/>
              </a:solidFill>
              <a:prstDash val="solid"/>
              <a:headEnd type="none" w="med" len="med"/>
              <a:tailEnd type="none" w="med" len="med"/>
            </a:ln>
          </p:spPr>
        </p:sp>
        <p:sp>
          <p:nvSpPr>
            <p:cNvPr id="45114" name="Line 56"/>
            <p:cNvSpPr/>
            <p:nvPr/>
          </p:nvSpPr>
          <p:spPr>
            <a:xfrm>
              <a:off x="4114" y="2895"/>
              <a:ext cx="107" cy="0"/>
            </a:xfrm>
            <a:prstGeom prst="line">
              <a:avLst/>
            </a:prstGeom>
            <a:ln w="19050" cap="flat" cmpd="sng">
              <a:solidFill>
                <a:srgbClr val="000000"/>
              </a:solidFill>
              <a:prstDash val="solid"/>
              <a:headEnd type="none" w="med" len="med"/>
              <a:tailEnd type="none" w="med" len="med"/>
            </a:ln>
          </p:spPr>
        </p:sp>
        <p:sp>
          <p:nvSpPr>
            <p:cNvPr id="45115" name="Line 57"/>
            <p:cNvSpPr/>
            <p:nvPr/>
          </p:nvSpPr>
          <p:spPr>
            <a:xfrm>
              <a:off x="4162" y="2895"/>
              <a:ext cx="0" cy="129"/>
            </a:xfrm>
            <a:prstGeom prst="line">
              <a:avLst/>
            </a:prstGeom>
            <a:ln w="12700" cap="flat" cmpd="sng">
              <a:solidFill>
                <a:srgbClr val="000080"/>
              </a:solidFill>
              <a:prstDash val="solid"/>
              <a:headEnd type="none" w="med" len="med"/>
              <a:tailEnd type="none" w="med" len="med"/>
            </a:ln>
          </p:spPr>
        </p:sp>
        <p:sp>
          <p:nvSpPr>
            <p:cNvPr id="45116" name="Line 58"/>
            <p:cNvSpPr/>
            <p:nvPr/>
          </p:nvSpPr>
          <p:spPr>
            <a:xfrm>
              <a:off x="4007" y="2634"/>
              <a:ext cx="0" cy="437"/>
            </a:xfrm>
            <a:prstGeom prst="line">
              <a:avLst/>
            </a:prstGeom>
            <a:ln w="12700" cap="flat" cmpd="sng">
              <a:solidFill>
                <a:srgbClr val="000080"/>
              </a:solidFill>
              <a:prstDash val="solid"/>
              <a:headEnd type="none" w="med" len="med"/>
              <a:tailEnd type="none" w="med" len="med"/>
            </a:ln>
          </p:spPr>
        </p:sp>
        <p:sp>
          <p:nvSpPr>
            <p:cNvPr id="45117" name="Line 59"/>
            <p:cNvSpPr/>
            <p:nvPr/>
          </p:nvSpPr>
          <p:spPr>
            <a:xfrm>
              <a:off x="3248" y="2634"/>
              <a:ext cx="0" cy="156"/>
            </a:xfrm>
            <a:prstGeom prst="line">
              <a:avLst/>
            </a:prstGeom>
            <a:ln w="12700" cap="flat" cmpd="sng">
              <a:solidFill>
                <a:srgbClr val="000080"/>
              </a:solidFill>
              <a:prstDash val="solid"/>
              <a:headEnd type="none" w="med" len="med"/>
              <a:tailEnd type="none" w="med" len="med"/>
            </a:ln>
          </p:spPr>
        </p:sp>
        <p:sp>
          <p:nvSpPr>
            <p:cNvPr id="45118" name="Rectangle 60"/>
            <p:cNvSpPr/>
            <p:nvPr/>
          </p:nvSpPr>
          <p:spPr>
            <a:xfrm>
              <a:off x="2963" y="2766"/>
              <a:ext cx="178" cy="59"/>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19" name="Line 61"/>
            <p:cNvSpPr/>
            <p:nvPr/>
          </p:nvSpPr>
          <p:spPr>
            <a:xfrm>
              <a:off x="2868" y="2790"/>
              <a:ext cx="95" cy="0"/>
            </a:xfrm>
            <a:prstGeom prst="line">
              <a:avLst/>
            </a:prstGeom>
            <a:ln w="12700" cap="flat" cmpd="sng">
              <a:solidFill>
                <a:srgbClr val="000080"/>
              </a:solidFill>
              <a:prstDash val="solid"/>
              <a:headEnd type="none" w="med" len="med"/>
              <a:tailEnd type="none" w="med" len="med"/>
            </a:ln>
          </p:spPr>
        </p:sp>
        <p:sp>
          <p:nvSpPr>
            <p:cNvPr id="45120" name="Line 62"/>
            <p:cNvSpPr/>
            <p:nvPr/>
          </p:nvSpPr>
          <p:spPr>
            <a:xfrm>
              <a:off x="3139" y="2792"/>
              <a:ext cx="111" cy="0"/>
            </a:xfrm>
            <a:prstGeom prst="line">
              <a:avLst/>
            </a:prstGeom>
            <a:ln w="12700" cap="flat" cmpd="sng">
              <a:solidFill>
                <a:srgbClr val="000080"/>
              </a:solidFill>
              <a:prstDash val="solid"/>
              <a:headEnd type="none" w="med" len="med"/>
              <a:tailEnd type="none" w="med" len="med"/>
            </a:ln>
          </p:spPr>
        </p:sp>
        <p:sp>
          <p:nvSpPr>
            <p:cNvPr id="45121" name="Line 63"/>
            <p:cNvSpPr/>
            <p:nvPr/>
          </p:nvSpPr>
          <p:spPr>
            <a:xfrm>
              <a:off x="3052" y="2977"/>
              <a:ext cx="338" cy="0"/>
            </a:xfrm>
            <a:prstGeom prst="line">
              <a:avLst/>
            </a:prstGeom>
            <a:ln w="12700" cap="flat" cmpd="sng">
              <a:solidFill>
                <a:srgbClr val="000080"/>
              </a:solidFill>
              <a:prstDash val="solid"/>
              <a:headEnd type="none" w="med" len="med"/>
              <a:tailEnd type="none" w="med" len="med"/>
            </a:ln>
          </p:spPr>
        </p:sp>
        <p:sp>
          <p:nvSpPr>
            <p:cNvPr id="45122" name="Line 64"/>
            <p:cNvSpPr/>
            <p:nvPr/>
          </p:nvSpPr>
          <p:spPr>
            <a:xfrm flipV="1">
              <a:off x="3390" y="2626"/>
              <a:ext cx="232" cy="351"/>
            </a:xfrm>
            <a:prstGeom prst="line">
              <a:avLst/>
            </a:prstGeom>
            <a:ln w="12700" cap="flat" cmpd="sng">
              <a:solidFill>
                <a:srgbClr val="000080"/>
              </a:solidFill>
              <a:prstDash val="solid"/>
              <a:headEnd type="none" w="med" len="med"/>
              <a:tailEnd type="none" w="med" len="med"/>
            </a:ln>
          </p:spPr>
        </p:sp>
        <p:sp>
          <p:nvSpPr>
            <p:cNvPr id="45123" name="Line 65"/>
            <p:cNvSpPr/>
            <p:nvPr/>
          </p:nvSpPr>
          <p:spPr>
            <a:xfrm>
              <a:off x="3052" y="2825"/>
              <a:ext cx="0" cy="152"/>
            </a:xfrm>
            <a:prstGeom prst="line">
              <a:avLst/>
            </a:prstGeom>
            <a:ln w="12700" cap="flat" cmpd="sng">
              <a:solidFill>
                <a:srgbClr val="000080"/>
              </a:solidFill>
              <a:prstDash val="solid"/>
              <a:headEnd type="stealth" w="med" len="lg"/>
              <a:tailEnd type="none" w="med" len="lg"/>
            </a:ln>
          </p:spPr>
        </p:sp>
        <p:sp>
          <p:nvSpPr>
            <p:cNvPr id="45124" name="Oval 66"/>
            <p:cNvSpPr/>
            <p:nvPr/>
          </p:nvSpPr>
          <p:spPr>
            <a:xfrm>
              <a:off x="4691" y="2013"/>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25" name="Line 67"/>
            <p:cNvSpPr/>
            <p:nvPr/>
          </p:nvSpPr>
          <p:spPr>
            <a:xfrm>
              <a:off x="4755" y="2041"/>
              <a:ext cx="273" cy="0"/>
            </a:xfrm>
            <a:prstGeom prst="line">
              <a:avLst/>
            </a:prstGeom>
            <a:ln w="12700" cap="flat" cmpd="sng">
              <a:solidFill>
                <a:srgbClr val="000080"/>
              </a:solidFill>
              <a:prstDash val="solid"/>
              <a:headEnd type="none" w="med" len="med"/>
              <a:tailEnd type="none" w="med" len="med"/>
            </a:ln>
          </p:spPr>
        </p:sp>
        <p:sp>
          <p:nvSpPr>
            <p:cNvPr id="45126" name="Line 68"/>
            <p:cNvSpPr/>
            <p:nvPr/>
          </p:nvSpPr>
          <p:spPr>
            <a:xfrm>
              <a:off x="4719" y="2074"/>
              <a:ext cx="0" cy="154"/>
            </a:xfrm>
            <a:prstGeom prst="line">
              <a:avLst/>
            </a:prstGeom>
            <a:ln w="12700" cap="flat" cmpd="sng">
              <a:solidFill>
                <a:srgbClr val="000080"/>
              </a:solidFill>
              <a:prstDash val="solid"/>
              <a:headEnd type="none" w="med" len="med"/>
              <a:tailEnd type="none" w="med" len="med"/>
            </a:ln>
          </p:spPr>
        </p:sp>
        <p:sp>
          <p:nvSpPr>
            <p:cNvPr id="45127" name="Line 69"/>
            <p:cNvSpPr/>
            <p:nvPr/>
          </p:nvSpPr>
          <p:spPr>
            <a:xfrm>
              <a:off x="4660" y="2228"/>
              <a:ext cx="131" cy="0"/>
            </a:xfrm>
            <a:prstGeom prst="line">
              <a:avLst/>
            </a:prstGeom>
            <a:ln w="19050" cap="flat" cmpd="sng">
              <a:solidFill>
                <a:srgbClr val="000000"/>
              </a:solidFill>
              <a:prstDash val="solid"/>
              <a:headEnd type="none" w="med" len="med"/>
              <a:tailEnd type="none" w="med" len="med"/>
            </a:ln>
          </p:spPr>
        </p:sp>
        <p:sp>
          <p:nvSpPr>
            <p:cNvPr id="45128" name="Line 70"/>
            <p:cNvSpPr/>
            <p:nvPr/>
          </p:nvSpPr>
          <p:spPr>
            <a:xfrm>
              <a:off x="4660" y="2263"/>
              <a:ext cx="131" cy="0"/>
            </a:xfrm>
            <a:prstGeom prst="line">
              <a:avLst/>
            </a:prstGeom>
            <a:ln w="19050" cap="flat" cmpd="sng">
              <a:solidFill>
                <a:srgbClr val="000000"/>
              </a:solidFill>
              <a:prstDash val="solid"/>
              <a:headEnd type="none" w="med" len="med"/>
              <a:tailEnd type="none" w="med" len="med"/>
            </a:ln>
          </p:spPr>
        </p:sp>
        <p:sp>
          <p:nvSpPr>
            <p:cNvPr id="45129" name="Line 71"/>
            <p:cNvSpPr/>
            <p:nvPr/>
          </p:nvSpPr>
          <p:spPr>
            <a:xfrm>
              <a:off x="4719" y="2263"/>
              <a:ext cx="0" cy="154"/>
            </a:xfrm>
            <a:prstGeom prst="line">
              <a:avLst/>
            </a:prstGeom>
            <a:ln w="12700" cap="flat" cmpd="sng">
              <a:solidFill>
                <a:srgbClr val="000080"/>
              </a:solidFill>
              <a:prstDash val="solid"/>
              <a:headEnd type="none" w="med" len="med"/>
              <a:tailEnd type="none" w="med" len="med"/>
            </a:ln>
          </p:spPr>
        </p:sp>
        <p:sp>
          <p:nvSpPr>
            <p:cNvPr id="45130" name="Oval 72"/>
            <p:cNvSpPr/>
            <p:nvPr/>
          </p:nvSpPr>
          <p:spPr>
            <a:xfrm>
              <a:off x="5023" y="2013"/>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31" name="Oval 73"/>
            <p:cNvSpPr/>
            <p:nvPr/>
          </p:nvSpPr>
          <p:spPr>
            <a:xfrm>
              <a:off x="5408" y="2008"/>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32" name="Line 74"/>
            <p:cNvSpPr/>
            <p:nvPr/>
          </p:nvSpPr>
          <p:spPr>
            <a:xfrm>
              <a:off x="5052" y="2074"/>
              <a:ext cx="0" cy="154"/>
            </a:xfrm>
            <a:prstGeom prst="line">
              <a:avLst/>
            </a:prstGeom>
            <a:ln w="12700" cap="flat" cmpd="sng">
              <a:solidFill>
                <a:srgbClr val="000080"/>
              </a:solidFill>
              <a:prstDash val="solid"/>
              <a:headEnd type="none" w="med" len="med"/>
              <a:tailEnd type="none" w="med" len="med"/>
            </a:ln>
          </p:spPr>
        </p:sp>
        <p:sp>
          <p:nvSpPr>
            <p:cNvPr id="45133" name="Rectangle 75"/>
            <p:cNvSpPr/>
            <p:nvPr/>
          </p:nvSpPr>
          <p:spPr>
            <a:xfrm>
              <a:off x="5028" y="2228"/>
              <a:ext cx="59" cy="164"/>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34" name="Line 76"/>
            <p:cNvSpPr/>
            <p:nvPr/>
          </p:nvSpPr>
          <p:spPr>
            <a:xfrm>
              <a:off x="5052" y="2390"/>
              <a:ext cx="0" cy="218"/>
            </a:xfrm>
            <a:prstGeom prst="line">
              <a:avLst/>
            </a:prstGeom>
            <a:ln w="12700" cap="flat" cmpd="sng">
              <a:solidFill>
                <a:srgbClr val="000080"/>
              </a:solidFill>
              <a:prstDash val="solid"/>
              <a:headEnd type="none" w="med" len="med"/>
              <a:tailEnd type="none" w="med" len="med"/>
            </a:ln>
          </p:spPr>
        </p:sp>
        <p:sp>
          <p:nvSpPr>
            <p:cNvPr id="45135" name="Line 77"/>
            <p:cNvSpPr/>
            <p:nvPr/>
          </p:nvSpPr>
          <p:spPr>
            <a:xfrm>
              <a:off x="4984" y="2607"/>
              <a:ext cx="68" cy="66"/>
            </a:xfrm>
            <a:prstGeom prst="line">
              <a:avLst/>
            </a:prstGeom>
            <a:ln w="19050" cap="flat" cmpd="sng">
              <a:solidFill>
                <a:srgbClr val="000000"/>
              </a:solidFill>
              <a:prstDash val="solid"/>
              <a:headEnd type="none" w="med" len="med"/>
              <a:tailEnd type="none" w="med" len="med"/>
            </a:ln>
          </p:spPr>
        </p:sp>
        <p:sp>
          <p:nvSpPr>
            <p:cNvPr id="45136" name="Line 78"/>
            <p:cNvSpPr/>
            <p:nvPr/>
          </p:nvSpPr>
          <p:spPr>
            <a:xfrm flipV="1">
              <a:off x="5052" y="2601"/>
              <a:ext cx="75" cy="72"/>
            </a:xfrm>
            <a:prstGeom prst="line">
              <a:avLst/>
            </a:prstGeom>
            <a:ln w="19050" cap="flat" cmpd="sng">
              <a:solidFill>
                <a:srgbClr val="000000"/>
              </a:solidFill>
              <a:prstDash val="solid"/>
              <a:headEnd type="none" w="med" len="med"/>
              <a:tailEnd type="none" w="med" len="med"/>
            </a:ln>
          </p:spPr>
        </p:sp>
        <p:sp>
          <p:nvSpPr>
            <p:cNvPr id="45137" name="Line 79"/>
            <p:cNvSpPr/>
            <p:nvPr/>
          </p:nvSpPr>
          <p:spPr>
            <a:xfrm flipV="1">
              <a:off x="3438" y="1105"/>
              <a:ext cx="0" cy="164"/>
            </a:xfrm>
            <a:prstGeom prst="line">
              <a:avLst/>
            </a:prstGeom>
            <a:ln w="12700" cap="flat" cmpd="sng">
              <a:solidFill>
                <a:srgbClr val="000080"/>
              </a:solidFill>
              <a:prstDash val="solid"/>
              <a:headEnd type="none" w="med" len="med"/>
              <a:tailEnd type="none" w="med" len="med"/>
            </a:ln>
          </p:spPr>
        </p:sp>
        <p:sp>
          <p:nvSpPr>
            <p:cNvPr id="45138" name="Line 80"/>
            <p:cNvSpPr/>
            <p:nvPr/>
          </p:nvSpPr>
          <p:spPr>
            <a:xfrm flipH="1">
              <a:off x="3163" y="1105"/>
              <a:ext cx="275" cy="0"/>
            </a:xfrm>
            <a:prstGeom prst="line">
              <a:avLst/>
            </a:prstGeom>
            <a:ln w="12700" cap="flat" cmpd="sng">
              <a:solidFill>
                <a:srgbClr val="000080"/>
              </a:solidFill>
              <a:prstDash val="solid"/>
              <a:headEnd type="none" w="med" len="med"/>
              <a:tailEnd type="none" w="med" len="med"/>
            </a:ln>
          </p:spPr>
        </p:sp>
        <p:sp>
          <p:nvSpPr>
            <p:cNvPr id="45139" name="Oval 81"/>
            <p:cNvSpPr/>
            <p:nvPr/>
          </p:nvSpPr>
          <p:spPr>
            <a:xfrm>
              <a:off x="3106" y="1072"/>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40" name="Line 82"/>
            <p:cNvSpPr/>
            <p:nvPr/>
          </p:nvSpPr>
          <p:spPr>
            <a:xfrm flipV="1">
              <a:off x="3818" y="1105"/>
              <a:ext cx="0" cy="164"/>
            </a:xfrm>
            <a:prstGeom prst="line">
              <a:avLst/>
            </a:prstGeom>
            <a:ln w="12700" cap="flat" cmpd="sng">
              <a:solidFill>
                <a:srgbClr val="000080"/>
              </a:solidFill>
              <a:prstDash val="solid"/>
              <a:headEnd type="none" w="med" len="med"/>
              <a:tailEnd type="none" w="med" len="med"/>
            </a:ln>
          </p:spPr>
        </p:sp>
        <p:sp>
          <p:nvSpPr>
            <p:cNvPr id="45141" name="Line 83"/>
            <p:cNvSpPr/>
            <p:nvPr/>
          </p:nvSpPr>
          <p:spPr>
            <a:xfrm>
              <a:off x="3818" y="1105"/>
              <a:ext cx="379" cy="0"/>
            </a:xfrm>
            <a:prstGeom prst="line">
              <a:avLst/>
            </a:prstGeom>
            <a:ln w="12700" cap="flat" cmpd="sng">
              <a:solidFill>
                <a:srgbClr val="000080"/>
              </a:solidFill>
              <a:prstDash val="solid"/>
              <a:headEnd type="none" w="med" len="med"/>
              <a:tailEnd type="none" w="med" len="med"/>
            </a:ln>
          </p:spPr>
        </p:sp>
        <p:sp>
          <p:nvSpPr>
            <p:cNvPr id="45142" name="Line 84"/>
            <p:cNvSpPr/>
            <p:nvPr/>
          </p:nvSpPr>
          <p:spPr>
            <a:xfrm>
              <a:off x="4197" y="1105"/>
              <a:ext cx="0" cy="70"/>
            </a:xfrm>
            <a:prstGeom prst="line">
              <a:avLst/>
            </a:prstGeom>
            <a:ln w="12700" cap="flat" cmpd="sng">
              <a:solidFill>
                <a:srgbClr val="000080"/>
              </a:solidFill>
              <a:prstDash val="solid"/>
              <a:headEnd type="none" w="med" len="med"/>
              <a:tailEnd type="none" w="med" len="med"/>
            </a:ln>
          </p:spPr>
        </p:sp>
        <p:sp>
          <p:nvSpPr>
            <p:cNvPr id="45143" name="Line 85"/>
            <p:cNvSpPr/>
            <p:nvPr/>
          </p:nvSpPr>
          <p:spPr>
            <a:xfrm>
              <a:off x="4126" y="1175"/>
              <a:ext cx="154" cy="0"/>
            </a:xfrm>
            <a:prstGeom prst="line">
              <a:avLst/>
            </a:prstGeom>
            <a:ln w="19050" cap="flat" cmpd="sng">
              <a:solidFill>
                <a:srgbClr val="000000"/>
              </a:solidFill>
              <a:prstDash val="solid"/>
              <a:headEnd type="none" w="med" len="med"/>
              <a:tailEnd type="none" w="med" len="med"/>
            </a:ln>
          </p:spPr>
        </p:sp>
        <p:sp>
          <p:nvSpPr>
            <p:cNvPr id="45144" name="Line 86"/>
            <p:cNvSpPr/>
            <p:nvPr/>
          </p:nvSpPr>
          <p:spPr>
            <a:xfrm>
              <a:off x="4091" y="3024"/>
              <a:ext cx="142" cy="0"/>
            </a:xfrm>
            <a:prstGeom prst="line">
              <a:avLst/>
            </a:prstGeom>
            <a:ln w="19050" cap="flat" cmpd="sng">
              <a:solidFill>
                <a:srgbClr val="000000"/>
              </a:solidFill>
              <a:prstDash val="solid"/>
              <a:headEnd type="none" w="med" len="med"/>
              <a:tailEnd type="none" w="med" len="med"/>
            </a:ln>
          </p:spPr>
        </p:sp>
        <p:sp>
          <p:nvSpPr>
            <p:cNvPr id="45145" name="Line 87"/>
            <p:cNvSpPr/>
            <p:nvPr/>
          </p:nvSpPr>
          <p:spPr>
            <a:xfrm>
              <a:off x="4091" y="3024"/>
              <a:ext cx="71" cy="70"/>
            </a:xfrm>
            <a:prstGeom prst="line">
              <a:avLst/>
            </a:prstGeom>
            <a:ln w="19050" cap="flat" cmpd="sng">
              <a:solidFill>
                <a:srgbClr val="000000"/>
              </a:solidFill>
              <a:prstDash val="solid"/>
              <a:headEnd type="none" w="med" len="med"/>
              <a:tailEnd type="none" w="med" len="med"/>
            </a:ln>
          </p:spPr>
        </p:sp>
        <p:sp>
          <p:nvSpPr>
            <p:cNvPr id="45146" name="Line 88"/>
            <p:cNvSpPr/>
            <p:nvPr/>
          </p:nvSpPr>
          <p:spPr>
            <a:xfrm flipV="1">
              <a:off x="4162" y="3026"/>
              <a:ext cx="71" cy="68"/>
            </a:xfrm>
            <a:prstGeom prst="line">
              <a:avLst/>
            </a:prstGeom>
            <a:ln w="19050" cap="flat" cmpd="sng">
              <a:solidFill>
                <a:srgbClr val="000000"/>
              </a:solidFill>
              <a:prstDash val="solid"/>
              <a:headEnd type="none" w="med" len="med"/>
              <a:tailEnd type="none" w="med" len="med"/>
            </a:ln>
          </p:spPr>
        </p:sp>
        <p:sp>
          <p:nvSpPr>
            <p:cNvPr id="45147" name="Line 89"/>
            <p:cNvSpPr/>
            <p:nvPr/>
          </p:nvSpPr>
          <p:spPr>
            <a:xfrm>
              <a:off x="3717" y="3024"/>
              <a:ext cx="136" cy="0"/>
            </a:xfrm>
            <a:prstGeom prst="line">
              <a:avLst/>
            </a:prstGeom>
            <a:ln w="19050" cap="flat" cmpd="sng">
              <a:solidFill>
                <a:srgbClr val="000000"/>
              </a:solidFill>
              <a:prstDash val="solid"/>
              <a:headEnd type="none" w="med" len="med"/>
              <a:tailEnd type="none" w="med" len="med"/>
            </a:ln>
          </p:spPr>
        </p:sp>
        <p:sp>
          <p:nvSpPr>
            <p:cNvPr id="45148" name="Line 90"/>
            <p:cNvSpPr/>
            <p:nvPr/>
          </p:nvSpPr>
          <p:spPr>
            <a:xfrm>
              <a:off x="3711" y="3024"/>
              <a:ext cx="71" cy="70"/>
            </a:xfrm>
            <a:prstGeom prst="line">
              <a:avLst/>
            </a:prstGeom>
            <a:ln w="19050" cap="flat" cmpd="sng">
              <a:solidFill>
                <a:srgbClr val="000000"/>
              </a:solidFill>
              <a:prstDash val="solid"/>
              <a:headEnd type="none" w="med" len="med"/>
              <a:tailEnd type="none" w="med" len="med"/>
            </a:ln>
          </p:spPr>
        </p:sp>
        <p:sp>
          <p:nvSpPr>
            <p:cNvPr id="45149" name="Line 91"/>
            <p:cNvSpPr/>
            <p:nvPr/>
          </p:nvSpPr>
          <p:spPr>
            <a:xfrm flipV="1">
              <a:off x="3782" y="3026"/>
              <a:ext cx="71" cy="68"/>
            </a:xfrm>
            <a:prstGeom prst="line">
              <a:avLst/>
            </a:prstGeom>
            <a:ln w="19050" cap="flat" cmpd="sng">
              <a:solidFill>
                <a:srgbClr val="000000"/>
              </a:solidFill>
              <a:prstDash val="solid"/>
              <a:headEnd type="none" w="med" len="med"/>
              <a:tailEnd type="none" w="med" len="med"/>
            </a:ln>
          </p:spPr>
        </p:sp>
        <p:sp>
          <p:nvSpPr>
            <p:cNvPr id="45150" name="Line 92"/>
            <p:cNvSpPr/>
            <p:nvPr/>
          </p:nvSpPr>
          <p:spPr>
            <a:xfrm flipH="1">
              <a:off x="2109" y="2114"/>
              <a:ext cx="213" cy="0"/>
            </a:xfrm>
            <a:prstGeom prst="line">
              <a:avLst/>
            </a:prstGeom>
            <a:ln w="12700" cap="flat" cmpd="sng">
              <a:solidFill>
                <a:srgbClr val="000080"/>
              </a:solidFill>
              <a:prstDash val="solid"/>
              <a:headEnd type="none" w="med" len="med"/>
              <a:tailEnd type="none" w="med" len="med"/>
            </a:ln>
          </p:spPr>
        </p:sp>
        <p:sp>
          <p:nvSpPr>
            <p:cNvPr id="45151" name="Line 93"/>
            <p:cNvSpPr/>
            <p:nvPr/>
          </p:nvSpPr>
          <p:spPr>
            <a:xfrm>
              <a:off x="2109" y="2111"/>
              <a:ext cx="0" cy="223"/>
            </a:xfrm>
            <a:prstGeom prst="line">
              <a:avLst/>
            </a:prstGeom>
            <a:ln w="12700" cap="flat" cmpd="sng">
              <a:solidFill>
                <a:srgbClr val="000080"/>
              </a:solidFill>
              <a:prstDash val="solid"/>
              <a:headEnd type="none" w="med" len="med"/>
              <a:tailEnd type="none" w="med" len="med"/>
            </a:ln>
          </p:spPr>
        </p:sp>
        <p:sp>
          <p:nvSpPr>
            <p:cNvPr id="45152" name="Oval 94"/>
            <p:cNvSpPr/>
            <p:nvPr/>
          </p:nvSpPr>
          <p:spPr>
            <a:xfrm>
              <a:off x="2002" y="2334"/>
              <a:ext cx="214" cy="198"/>
            </a:xfrm>
            <a:prstGeom prst="ellipse">
              <a:avLst/>
            </a:prstGeom>
            <a:solidFill>
              <a:srgbClr val="FFCC99"/>
            </a:solid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53" name="Line 95"/>
            <p:cNvSpPr/>
            <p:nvPr/>
          </p:nvSpPr>
          <p:spPr>
            <a:xfrm>
              <a:off x="2109" y="2530"/>
              <a:ext cx="0" cy="272"/>
            </a:xfrm>
            <a:prstGeom prst="line">
              <a:avLst/>
            </a:prstGeom>
            <a:ln w="12700" cap="flat" cmpd="sng">
              <a:solidFill>
                <a:srgbClr val="000080"/>
              </a:solidFill>
              <a:prstDash val="solid"/>
              <a:headEnd type="none" w="med" len="med"/>
              <a:tailEnd type="none" w="med" len="med"/>
            </a:ln>
          </p:spPr>
        </p:sp>
        <p:sp>
          <p:nvSpPr>
            <p:cNvPr id="45154" name="Line 96"/>
            <p:cNvSpPr/>
            <p:nvPr/>
          </p:nvSpPr>
          <p:spPr>
            <a:xfrm>
              <a:off x="2042" y="2803"/>
              <a:ext cx="136" cy="0"/>
            </a:xfrm>
            <a:prstGeom prst="line">
              <a:avLst/>
            </a:prstGeom>
            <a:ln w="19050" cap="flat" cmpd="sng">
              <a:solidFill>
                <a:srgbClr val="000000"/>
              </a:solidFill>
              <a:prstDash val="solid"/>
              <a:headEnd type="none" w="med" len="med"/>
              <a:tailEnd type="none" w="med" len="med"/>
            </a:ln>
          </p:spPr>
        </p:sp>
        <p:sp>
          <p:nvSpPr>
            <p:cNvPr id="45155" name="Line 97"/>
            <p:cNvSpPr/>
            <p:nvPr/>
          </p:nvSpPr>
          <p:spPr>
            <a:xfrm>
              <a:off x="2038" y="2802"/>
              <a:ext cx="71" cy="70"/>
            </a:xfrm>
            <a:prstGeom prst="line">
              <a:avLst/>
            </a:prstGeom>
            <a:ln w="19050" cap="flat" cmpd="sng">
              <a:solidFill>
                <a:srgbClr val="000000"/>
              </a:solidFill>
              <a:prstDash val="solid"/>
              <a:headEnd type="none" w="med" len="med"/>
              <a:tailEnd type="none" w="med" len="med"/>
            </a:ln>
          </p:spPr>
        </p:sp>
        <p:sp>
          <p:nvSpPr>
            <p:cNvPr id="45156" name="Line 98"/>
            <p:cNvSpPr/>
            <p:nvPr/>
          </p:nvSpPr>
          <p:spPr>
            <a:xfrm>
              <a:off x="2678" y="1199"/>
              <a:ext cx="190" cy="0"/>
            </a:xfrm>
            <a:prstGeom prst="line">
              <a:avLst/>
            </a:prstGeom>
            <a:ln w="22225" cap="flat" cmpd="sng">
              <a:solidFill>
                <a:srgbClr val="FF0000"/>
              </a:solidFill>
              <a:prstDash val="solid"/>
              <a:headEnd type="none" w="med" len="med"/>
              <a:tailEnd type="none" w="med" len="med"/>
            </a:ln>
          </p:spPr>
        </p:sp>
        <p:sp>
          <p:nvSpPr>
            <p:cNvPr id="45157" name="Line 99"/>
            <p:cNvSpPr/>
            <p:nvPr/>
          </p:nvSpPr>
          <p:spPr>
            <a:xfrm flipV="1">
              <a:off x="2868" y="1011"/>
              <a:ext cx="0" cy="188"/>
            </a:xfrm>
            <a:prstGeom prst="line">
              <a:avLst/>
            </a:prstGeom>
            <a:ln w="22225" cap="flat" cmpd="sng">
              <a:solidFill>
                <a:srgbClr val="FF0000"/>
              </a:solidFill>
              <a:prstDash val="solid"/>
              <a:headEnd type="none" w="med" len="med"/>
              <a:tailEnd type="none" w="med" len="med"/>
            </a:ln>
          </p:spPr>
        </p:sp>
        <p:sp>
          <p:nvSpPr>
            <p:cNvPr id="45158" name="Line 100"/>
            <p:cNvSpPr/>
            <p:nvPr/>
          </p:nvSpPr>
          <p:spPr>
            <a:xfrm>
              <a:off x="2868" y="1011"/>
              <a:ext cx="190" cy="0"/>
            </a:xfrm>
            <a:prstGeom prst="line">
              <a:avLst/>
            </a:prstGeom>
            <a:ln w="22225" cap="flat" cmpd="sng">
              <a:solidFill>
                <a:srgbClr val="FF0000"/>
              </a:solidFill>
              <a:prstDash val="solid"/>
              <a:headEnd type="none" w="med" len="med"/>
              <a:tailEnd type="none" w="med" len="med"/>
            </a:ln>
          </p:spPr>
        </p:sp>
        <p:sp>
          <p:nvSpPr>
            <p:cNvPr id="45159" name="Rectangle 101"/>
            <p:cNvSpPr/>
            <p:nvPr/>
          </p:nvSpPr>
          <p:spPr>
            <a:xfrm>
              <a:off x="4257" y="965"/>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数字地</a:t>
              </a:r>
              <a:endParaRPr lang="zh-CN" altLang="en-US" dirty="0">
                <a:solidFill>
                  <a:srgbClr val="FF0000"/>
                </a:solidFill>
                <a:latin typeface="Times New Roman" panose="02020603050405020304" pitchFamily="18" charset="0"/>
              </a:endParaRPr>
            </a:p>
          </p:txBody>
        </p:sp>
        <p:sp>
          <p:nvSpPr>
            <p:cNvPr id="45160" name="Rectangle 102"/>
            <p:cNvSpPr/>
            <p:nvPr/>
          </p:nvSpPr>
          <p:spPr>
            <a:xfrm>
              <a:off x="2263" y="1983"/>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5161" name="Rectangle 103"/>
            <p:cNvSpPr/>
            <p:nvPr/>
          </p:nvSpPr>
          <p:spPr>
            <a:xfrm>
              <a:off x="3284" y="263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3</a:t>
              </a:r>
              <a:endParaRPr lang="en-US" altLang="zh-CN" dirty="0">
                <a:latin typeface="Times New Roman" panose="02020603050405020304" pitchFamily="18" charset="0"/>
              </a:endParaRPr>
            </a:p>
          </p:txBody>
        </p:sp>
        <p:sp>
          <p:nvSpPr>
            <p:cNvPr id="45162" name="Rectangle 104"/>
            <p:cNvSpPr/>
            <p:nvPr/>
          </p:nvSpPr>
          <p:spPr>
            <a:xfrm>
              <a:off x="2750" y="2638"/>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4</a:t>
              </a:r>
              <a:endParaRPr lang="en-US" altLang="zh-CN" dirty="0">
                <a:latin typeface="Times New Roman" panose="02020603050405020304" pitchFamily="18" charset="0"/>
              </a:endParaRPr>
            </a:p>
          </p:txBody>
        </p:sp>
        <p:sp>
          <p:nvSpPr>
            <p:cNvPr id="45163" name="Rectangle 105"/>
            <p:cNvSpPr/>
            <p:nvPr/>
          </p:nvSpPr>
          <p:spPr>
            <a:xfrm>
              <a:off x="3675" y="262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5</a:t>
              </a:r>
              <a:endParaRPr lang="en-US" altLang="zh-CN" dirty="0">
                <a:latin typeface="Times New Roman" panose="02020603050405020304" pitchFamily="18" charset="0"/>
              </a:endParaRPr>
            </a:p>
          </p:txBody>
        </p:sp>
        <p:sp>
          <p:nvSpPr>
            <p:cNvPr id="45164" name="Rectangle 106"/>
            <p:cNvSpPr/>
            <p:nvPr/>
          </p:nvSpPr>
          <p:spPr>
            <a:xfrm>
              <a:off x="4541" y="2439"/>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6</a:t>
              </a:r>
              <a:endParaRPr lang="en-US" altLang="zh-CN" dirty="0">
                <a:latin typeface="Times New Roman" panose="02020603050405020304" pitchFamily="18" charset="0"/>
              </a:endParaRPr>
            </a:p>
          </p:txBody>
        </p:sp>
        <p:sp>
          <p:nvSpPr>
            <p:cNvPr id="45165" name="Rectangle 107"/>
            <p:cNvSpPr/>
            <p:nvPr/>
          </p:nvSpPr>
          <p:spPr>
            <a:xfrm>
              <a:off x="4541" y="2064"/>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8</a:t>
              </a:r>
              <a:endParaRPr lang="en-US" altLang="zh-CN" dirty="0">
                <a:latin typeface="Times New Roman" panose="02020603050405020304" pitchFamily="18" charset="0"/>
              </a:endParaRPr>
            </a:p>
          </p:txBody>
        </p:sp>
        <p:sp>
          <p:nvSpPr>
            <p:cNvPr id="45166" name="Rectangle 108"/>
            <p:cNvSpPr/>
            <p:nvPr/>
          </p:nvSpPr>
          <p:spPr>
            <a:xfrm>
              <a:off x="4553" y="1632"/>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9</a:t>
              </a:r>
              <a:endParaRPr lang="en-US" altLang="zh-CN" dirty="0">
                <a:latin typeface="Times New Roman" panose="02020603050405020304" pitchFamily="18" charset="0"/>
              </a:endParaRPr>
            </a:p>
          </p:txBody>
        </p:sp>
        <p:sp>
          <p:nvSpPr>
            <p:cNvPr id="45167" name="Rectangle 109"/>
            <p:cNvSpPr/>
            <p:nvPr/>
          </p:nvSpPr>
          <p:spPr>
            <a:xfrm>
              <a:off x="4055" y="2626"/>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a:t>
              </a:r>
              <a:endParaRPr lang="en-US" altLang="zh-CN" dirty="0">
                <a:latin typeface="Times New Roman" panose="02020603050405020304" pitchFamily="18" charset="0"/>
              </a:endParaRPr>
            </a:p>
          </p:txBody>
        </p:sp>
        <p:sp>
          <p:nvSpPr>
            <p:cNvPr id="45168" name="Rectangle 110"/>
            <p:cNvSpPr/>
            <p:nvPr/>
          </p:nvSpPr>
          <p:spPr>
            <a:xfrm>
              <a:off x="3853" y="1152"/>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11</a:t>
              </a:r>
              <a:endParaRPr lang="en-US" altLang="zh-CN" dirty="0">
                <a:latin typeface="Times New Roman" panose="02020603050405020304" pitchFamily="18" charset="0"/>
              </a:endParaRPr>
            </a:p>
          </p:txBody>
        </p:sp>
        <p:sp>
          <p:nvSpPr>
            <p:cNvPr id="45169" name="Rectangle 111"/>
            <p:cNvSpPr/>
            <p:nvPr/>
          </p:nvSpPr>
          <p:spPr>
            <a:xfrm>
              <a:off x="3462" y="1152"/>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12</a:t>
              </a:r>
              <a:endParaRPr lang="en-US" altLang="zh-CN" dirty="0">
                <a:latin typeface="Times New Roman" panose="02020603050405020304" pitchFamily="18" charset="0"/>
              </a:endParaRPr>
            </a:p>
          </p:txBody>
        </p:sp>
        <p:sp>
          <p:nvSpPr>
            <p:cNvPr id="45170" name="Line 112"/>
            <p:cNvSpPr/>
            <p:nvPr/>
          </p:nvSpPr>
          <p:spPr>
            <a:xfrm>
              <a:off x="4514" y="1760"/>
              <a:ext cx="537" cy="0"/>
            </a:xfrm>
            <a:prstGeom prst="line">
              <a:avLst/>
            </a:prstGeom>
            <a:ln w="12700" cap="flat" cmpd="sng">
              <a:solidFill>
                <a:srgbClr val="000080"/>
              </a:solidFill>
              <a:prstDash val="solid"/>
              <a:headEnd type="none" w="med" len="med"/>
              <a:tailEnd type="none" w="med" len="med"/>
            </a:ln>
          </p:spPr>
        </p:sp>
        <p:sp>
          <p:nvSpPr>
            <p:cNvPr id="45171" name="Line 113"/>
            <p:cNvSpPr/>
            <p:nvPr/>
          </p:nvSpPr>
          <p:spPr>
            <a:xfrm>
              <a:off x="5051" y="1327"/>
              <a:ext cx="0" cy="686"/>
            </a:xfrm>
            <a:prstGeom prst="line">
              <a:avLst/>
            </a:prstGeom>
            <a:ln w="12700" cap="flat" cmpd="sng">
              <a:solidFill>
                <a:srgbClr val="000080"/>
              </a:solidFill>
              <a:prstDash val="solid"/>
              <a:headEnd type="none" w="med" len="med"/>
              <a:tailEnd type="none" w="med" len="med"/>
            </a:ln>
          </p:spPr>
        </p:sp>
        <p:sp>
          <p:nvSpPr>
            <p:cNvPr id="45172" name="Rectangle 114"/>
            <p:cNvSpPr/>
            <p:nvPr/>
          </p:nvSpPr>
          <p:spPr>
            <a:xfrm>
              <a:off x="4808" y="2187"/>
              <a:ext cx="85"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C</a:t>
              </a:r>
              <a:endParaRPr lang="en-US" altLang="zh-CN" dirty="0">
                <a:latin typeface="Times New Roman" panose="02020603050405020304" pitchFamily="18" charset="0"/>
              </a:endParaRPr>
            </a:p>
          </p:txBody>
        </p:sp>
        <p:sp>
          <p:nvSpPr>
            <p:cNvPr id="45173" name="Rectangle 115"/>
            <p:cNvSpPr/>
            <p:nvPr/>
          </p:nvSpPr>
          <p:spPr>
            <a:xfrm>
              <a:off x="4897" y="2234"/>
              <a:ext cx="58"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H</a:t>
              </a:r>
              <a:endParaRPr lang="en-US" altLang="zh-CN" dirty="0">
                <a:latin typeface="Times New Roman" panose="02020603050405020304" pitchFamily="18" charset="0"/>
              </a:endParaRPr>
            </a:p>
          </p:txBody>
        </p:sp>
        <p:sp>
          <p:nvSpPr>
            <p:cNvPr id="45174" name="Rectangle 116"/>
            <p:cNvSpPr/>
            <p:nvPr/>
          </p:nvSpPr>
          <p:spPr>
            <a:xfrm>
              <a:off x="5111" y="2240"/>
              <a:ext cx="78"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000000"/>
                  </a:solidFill>
                  <a:latin typeface="Times New Roman" panose="02020603050405020304" pitchFamily="18" charset="0"/>
                </a:rPr>
                <a:t>R</a:t>
              </a:r>
              <a:endParaRPr lang="en-US" altLang="zh-CN" dirty="0">
                <a:latin typeface="Times New Roman" panose="02020603050405020304" pitchFamily="18" charset="0"/>
              </a:endParaRPr>
            </a:p>
          </p:txBody>
        </p:sp>
        <p:sp>
          <p:nvSpPr>
            <p:cNvPr id="45175" name="Rectangle 117"/>
            <p:cNvSpPr/>
            <p:nvPr/>
          </p:nvSpPr>
          <p:spPr>
            <a:xfrm>
              <a:off x="5200" y="2287"/>
              <a:ext cx="49"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L</a:t>
              </a:r>
              <a:endParaRPr lang="en-US" altLang="zh-CN" dirty="0">
                <a:latin typeface="Times New Roman" panose="02020603050405020304" pitchFamily="18" charset="0"/>
              </a:endParaRPr>
            </a:p>
          </p:txBody>
        </p:sp>
        <p:sp>
          <p:nvSpPr>
            <p:cNvPr id="45176" name="Rectangle 118"/>
            <p:cNvSpPr/>
            <p:nvPr/>
          </p:nvSpPr>
          <p:spPr>
            <a:xfrm>
              <a:off x="1984" y="1959"/>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5177" name="Rectangle 119"/>
            <p:cNvSpPr/>
            <p:nvPr/>
          </p:nvSpPr>
          <p:spPr>
            <a:xfrm>
              <a:off x="2079" y="2006"/>
              <a:ext cx="22"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i</a:t>
              </a:r>
              <a:endParaRPr lang="en-US" altLang="zh-CN" dirty="0">
                <a:solidFill>
                  <a:srgbClr val="FF0000"/>
                </a:solidFill>
                <a:latin typeface="Times New Roman" panose="02020603050405020304" pitchFamily="18" charset="0"/>
              </a:endParaRPr>
            </a:p>
          </p:txBody>
        </p:sp>
        <p:sp>
          <p:nvSpPr>
            <p:cNvPr id="45178" name="Rectangle 120"/>
            <p:cNvSpPr/>
            <p:nvPr/>
          </p:nvSpPr>
          <p:spPr>
            <a:xfrm>
              <a:off x="2886" y="1977"/>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5179" name="Rectangle 121"/>
            <p:cNvSpPr/>
            <p:nvPr/>
          </p:nvSpPr>
          <p:spPr>
            <a:xfrm>
              <a:off x="2981" y="2023"/>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1</a:t>
              </a:r>
              <a:endParaRPr lang="en-US" altLang="zh-CN" dirty="0">
                <a:latin typeface="Times New Roman" panose="02020603050405020304" pitchFamily="18" charset="0"/>
              </a:endParaRPr>
            </a:p>
          </p:txBody>
        </p:sp>
        <p:sp>
          <p:nvSpPr>
            <p:cNvPr id="45180" name="Rectangle 122"/>
            <p:cNvSpPr/>
            <p:nvPr/>
          </p:nvSpPr>
          <p:spPr>
            <a:xfrm>
              <a:off x="5586" y="2033"/>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FF0000"/>
                  </a:solidFill>
                  <a:latin typeface="Times New Roman" panose="02020603050405020304" pitchFamily="18" charset="0"/>
                </a:rPr>
                <a:t>o</a:t>
              </a:r>
              <a:endParaRPr lang="en-US" altLang="zh-CN" dirty="0">
                <a:solidFill>
                  <a:srgbClr val="FF0000"/>
                </a:solidFill>
                <a:latin typeface="Times New Roman" panose="02020603050405020304" pitchFamily="18" charset="0"/>
              </a:endParaRPr>
            </a:p>
          </p:txBody>
        </p:sp>
        <p:sp>
          <p:nvSpPr>
            <p:cNvPr id="45181" name="Rectangle 123"/>
            <p:cNvSpPr/>
            <p:nvPr/>
          </p:nvSpPr>
          <p:spPr>
            <a:xfrm>
              <a:off x="5497" y="1983"/>
              <a:ext cx="92" cy="139"/>
            </a:xfrm>
            <a:prstGeom prst="rect">
              <a:avLst/>
            </a:prstGeom>
            <a:noFill/>
            <a:ln w="9525">
              <a:noFill/>
            </a:ln>
          </p:spPr>
          <p:txBody>
            <a:bodyPr wrap="none" lIns="0" tIns="0" rIns="0" bIns="0">
              <a:spAutoFit/>
            </a:bodyPr>
            <a:p>
              <a:pPr eaLnBrk="1" hangingPunct="1">
                <a:lnSpc>
                  <a:spcPct val="90000"/>
                </a:lnSpc>
              </a:pPr>
              <a:r>
                <a:rPr lang="en-US" altLang="zh-CN" sz="1600" b="0" i="1" dirty="0">
                  <a:solidFill>
                    <a:srgbClr val="FF0000"/>
                  </a:solidFill>
                  <a:latin typeface="Times New Roman" panose="02020603050405020304" pitchFamily="18" charset="0"/>
                </a:rPr>
                <a:t>U</a:t>
              </a:r>
              <a:endParaRPr lang="en-US" altLang="zh-CN" dirty="0">
                <a:solidFill>
                  <a:srgbClr val="FF0000"/>
                </a:solidFill>
                <a:latin typeface="Times New Roman" panose="02020603050405020304" pitchFamily="18" charset="0"/>
              </a:endParaRPr>
            </a:p>
          </p:txBody>
        </p:sp>
        <p:sp>
          <p:nvSpPr>
            <p:cNvPr id="45182" name="Rectangle 124"/>
            <p:cNvSpPr/>
            <p:nvPr/>
          </p:nvSpPr>
          <p:spPr>
            <a:xfrm>
              <a:off x="3980" y="2023"/>
              <a:ext cx="40" cy="86"/>
            </a:xfrm>
            <a:prstGeom prst="rect">
              <a:avLst/>
            </a:prstGeom>
            <a:noFill/>
            <a:ln w="9525">
              <a:noFill/>
            </a:ln>
          </p:spPr>
          <p:txBody>
            <a:bodyPr wrap="none" lIns="0" tIns="0" rIns="0" bIns="0">
              <a:spAutoFit/>
            </a:bodyPr>
            <a:p>
              <a:pPr eaLnBrk="1" hangingPunct="1">
                <a:lnSpc>
                  <a:spcPct val="90000"/>
                </a:lnSpc>
              </a:pPr>
              <a:r>
                <a:rPr lang="en-US" altLang="zh-CN" sz="1000" b="0" dirty="0">
                  <a:solidFill>
                    <a:srgbClr val="000000"/>
                  </a:solidFill>
                  <a:latin typeface="Times New Roman" panose="02020603050405020304" pitchFamily="18" charset="0"/>
                </a:rPr>
                <a:t>2</a:t>
              </a:r>
              <a:endParaRPr lang="en-US" altLang="zh-CN" dirty="0">
                <a:latin typeface="Times New Roman" panose="02020603050405020304" pitchFamily="18" charset="0"/>
              </a:endParaRPr>
            </a:p>
          </p:txBody>
        </p:sp>
        <p:sp>
          <p:nvSpPr>
            <p:cNvPr id="45183" name="Rectangle 125"/>
            <p:cNvSpPr/>
            <p:nvPr/>
          </p:nvSpPr>
          <p:spPr>
            <a:xfrm>
              <a:off x="3883" y="1977"/>
              <a:ext cx="9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45184" name="Rectangle 126"/>
            <p:cNvSpPr/>
            <p:nvPr/>
          </p:nvSpPr>
          <p:spPr>
            <a:xfrm>
              <a:off x="2803" y="2059"/>
              <a:ext cx="5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5185" name="Rectangle 127"/>
            <p:cNvSpPr/>
            <p:nvPr/>
          </p:nvSpPr>
          <p:spPr>
            <a:xfrm>
              <a:off x="2809" y="1936"/>
              <a:ext cx="48"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宋体" panose="02010600030101010101" pitchFamily="2" charset="-122"/>
                  <a:ea typeface="宋体" panose="02010600030101010101" pitchFamily="2" charset="-122"/>
                </a:rPr>
                <a:t>-</a:t>
              </a:r>
              <a:endParaRPr lang="en-US" altLang="zh-CN" dirty="0">
                <a:latin typeface="Times New Roman" panose="02020603050405020304" pitchFamily="18" charset="0"/>
              </a:endParaRPr>
            </a:p>
          </p:txBody>
        </p:sp>
        <p:sp>
          <p:nvSpPr>
            <p:cNvPr id="45186" name="Rectangle 128"/>
            <p:cNvSpPr/>
            <p:nvPr/>
          </p:nvSpPr>
          <p:spPr>
            <a:xfrm>
              <a:off x="5248" y="2252"/>
              <a:ext cx="72" cy="139"/>
            </a:xfrm>
            <a:prstGeom prst="rect">
              <a:avLst/>
            </a:prstGeom>
            <a:noFill/>
            <a:ln w="9525">
              <a:noFill/>
            </a:ln>
          </p:spPr>
          <p:txBody>
            <a:bodyPr wrap="none" lIns="0" tIns="0" rIns="0" bIns="0">
              <a:spAutoFit/>
            </a:bodyPr>
            <a:p>
              <a:pPr eaLnBrk="1" hangingPunct="1">
                <a:lnSpc>
                  <a:spcPct val="90000"/>
                </a:lnSpc>
              </a:pPr>
              <a:r>
                <a:rPr lang="en-US" altLang="zh-CN" sz="1600" b="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45187" name="Rectangle 129"/>
            <p:cNvSpPr/>
            <p:nvPr/>
          </p:nvSpPr>
          <p:spPr>
            <a:xfrm>
              <a:off x="5340" y="2271"/>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2k</a:t>
              </a:r>
              <a:endParaRPr lang="en-US" altLang="zh-CN" dirty="0">
                <a:latin typeface="Times New Roman" panose="02020603050405020304" pitchFamily="18" charset="0"/>
              </a:endParaRPr>
            </a:p>
          </p:txBody>
        </p:sp>
        <p:sp>
          <p:nvSpPr>
            <p:cNvPr id="45188" name="Rectangle 130"/>
            <p:cNvSpPr/>
            <p:nvPr/>
          </p:nvSpPr>
          <p:spPr>
            <a:xfrm>
              <a:off x="3901" y="3164"/>
              <a:ext cx="21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5189" name="Rectangle 131"/>
            <p:cNvSpPr/>
            <p:nvPr/>
          </p:nvSpPr>
          <p:spPr>
            <a:xfrm>
              <a:off x="3533" y="3153"/>
              <a:ext cx="197"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45190" name="Rectangle 132"/>
            <p:cNvSpPr/>
            <p:nvPr/>
          </p:nvSpPr>
          <p:spPr>
            <a:xfrm>
              <a:off x="4245" y="2813"/>
              <a:ext cx="269"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0.05uF</a:t>
              </a:r>
              <a:endParaRPr lang="en-US" altLang="zh-CN" dirty="0">
                <a:latin typeface="Times New Roman" panose="02020603050405020304" pitchFamily="18" charset="0"/>
              </a:endParaRPr>
            </a:p>
          </p:txBody>
        </p:sp>
        <p:sp>
          <p:nvSpPr>
            <p:cNvPr id="45191" name="Oval 133"/>
            <p:cNvSpPr/>
            <p:nvPr/>
          </p:nvSpPr>
          <p:spPr>
            <a:xfrm>
              <a:off x="3604" y="307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92" name="Oval 134"/>
            <p:cNvSpPr/>
            <p:nvPr/>
          </p:nvSpPr>
          <p:spPr>
            <a:xfrm>
              <a:off x="3984" y="3071"/>
              <a:ext cx="59" cy="58"/>
            </a:xfrm>
            <a:prstGeom prst="ellipse">
              <a:avLst/>
            </a:prstGeom>
            <a:noFill/>
            <a:ln w="1905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193" name="Rectangle 135"/>
            <p:cNvSpPr/>
            <p:nvPr/>
          </p:nvSpPr>
          <p:spPr>
            <a:xfrm>
              <a:off x="2963" y="2661"/>
              <a:ext cx="144"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Times New Roman" panose="02020603050405020304" pitchFamily="18" charset="0"/>
                </a:rPr>
                <a:t>10k</a:t>
              </a:r>
              <a:endParaRPr lang="en-US" altLang="zh-CN" dirty="0">
                <a:latin typeface="Times New Roman" panose="02020603050405020304" pitchFamily="18" charset="0"/>
              </a:endParaRPr>
            </a:p>
          </p:txBody>
        </p:sp>
        <p:sp>
          <p:nvSpPr>
            <p:cNvPr id="45194" name="Rectangle 136"/>
            <p:cNvSpPr/>
            <p:nvPr/>
          </p:nvSpPr>
          <p:spPr>
            <a:xfrm>
              <a:off x="1931" y="2907"/>
              <a:ext cx="384" cy="139"/>
            </a:xfrm>
            <a:prstGeom prst="rect">
              <a:avLst/>
            </a:prstGeom>
            <a:noFill/>
            <a:ln w="9525">
              <a:noFill/>
            </a:ln>
          </p:spPr>
          <p:txBody>
            <a:bodyPr wrap="none" lIns="0" tIns="0" rIns="0" bIns="0">
              <a:spAutoFit/>
            </a:bodyPr>
            <a:p>
              <a:pPr eaLnBrk="1" hangingPunct="1">
                <a:lnSpc>
                  <a:spcPct val="90000"/>
                </a:lnSpc>
              </a:pPr>
              <a:r>
                <a:rPr lang="zh-CN" altLang="en-US" sz="1600" b="0" dirty="0">
                  <a:solidFill>
                    <a:srgbClr val="FF0000"/>
                  </a:solidFill>
                  <a:latin typeface="宋体" panose="02010600030101010101" pitchFamily="2" charset="-122"/>
                  <a:ea typeface="宋体" panose="02010600030101010101" pitchFamily="2" charset="-122"/>
                </a:rPr>
                <a:t>模拟地</a:t>
              </a:r>
              <a:endParaRPr lang="zh-CN" altLang="en-US" dirty="0">
                <a:solidFill>
                  <a:srgbClr val="FF0000"/>
                </a:solidFill>
                <a:latin typeface="Times New Roman" panose="02020603050405020304" pitchFamily="18" charset="0"/>
              </a:endParaRPr>
            </a:p>
          </p:txBody>
        </p:sp>
        <p:sp>
          <p:nvSpPr>
            <p:cNvPr id="45195" name="Line 137"/>
            <p:cNvSpPr/>
            <p:nvPr/>
          </p:nvSpPr>
          <p:spPr>
            <a:xfrm flipV="1">
              <a:off x="2109" y="2802"/>
              <a:ext cx="65" cy="64"/>
            </a:xfrm>
            <a:prstGeom prst="line">
              <a:avLst/>
            </a:prstGeom>
            <a:ln w="19050" cap="flat" cmpd="sng">
              <a:solidFill>
                <a:srgbClr val="000000"/>
              </a:solidFill>
              <a:prstDash val="solid"/>
              <a:headEnd type="none" w="med" len="med"/>
              <a:tailEnd type="none" w="med" len="med"/>
            </a:ln>
          </p:spPr>
        </p:sp>
        <p:sp>
          <p:nvSpPr>
            <p:cNvPr id="45196" name="Line 138"/>
            <p:cNvSpPr/>
            <p:nvPr/>
          </p:nvSpPr>
          <p:spPr>
            <a:xfrm>
              <a:off x="3681" y="2041"/>
              <a:ext cx="0" cy="374"/>
            </a:xfrm>
            <a:prstGeom prst="line">
              <a:avLst/>
            </a:prstGeom>
            <a:ln w="12700" cap="flat" cmpd="sng">
              <a:solidFill>
                <a:srgbClr val="000080"/>
              </a:solidFill>
              <a:prstDash val="solid"/>
              <a:headEnd type="none" w="med" len="med"/>
              <a:tailEnd type="none" w="med" len="med"/>
            </a:ln>
          </p:spPr>
        </p:sp>
        <p:sp>
          <p:nvSpPr>
            <p:cNvPr id="45197" name="Line 139"/>
            <p:cNvSpPr/>
            <p:nvPr/>
          </p:nvSpPr>
          <p:spPr>
            <a:xfrm>
              <a:off x="3681" y="2415"/>
              <a:ext cx="772" cy="0"/>
            </a:xfrm>
            <a:prstGeom prst="line">
              <a:avLst/>
            </a:prstGeom>
            <a:ln w="12700" cap="flat" cmpd="sng">
              <a:solidFill>
                <a:srgbClr val="000080"/>
              </a:solidFill>
              <a:prstDash val="solid"/>
              <a:headEnd type="none" w="med" len="med"/>
              <a:tailEnd type="none" w="med" len="med"/>
            </a:ln>
          </p:spPr>
        </p:sp>
        <p:sp>
          <p:nvSpPr>
            <p:cNvPr id="45198" name="Line 140"/>
            <p:cNvSpPr/>
            <p:nvPr/>
          </p:nvSpPr>
          <p:spPr>
            <a:xfrm>
              <a:off x="4981" y="2605"/>
              <a:ext cx="142" cy="0"/>
            </a:xfrm>
            <a:prstGeom prst="line">
              <a:avLst/>
            </a:prstGeom>
            <a:ln w="19050" cap="flat" cmpd="sng">
              <a:solidFill>
                <a:srgbClr val="000000"/>
              </a:solidFill>
              <a:prstDash val="solid"/>
              <a:headEnd type="none" w="med" len="med"/>
              <a:tailEnd type="none" w="med" len="med"/>
            </a:ln>
          </p:spPr>
        </p:sp>
        <p:sp>
          <p:nvSpPr>
            <p:cNvPr id="45199" name="Rectangle 141"/>
            <p:cNvSpPr/>
            <p:nvPr/>
          </p:nvSpPr>
          <p:spPr>
            <a:xfrm>
              <a:off x="5426" y="227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5200" name="Rectangle 142"/>
            <p:cNvSpPr/>
            <p:nvPr/>
          </p:nvSpPr>
          <p:spPr>
            <a:xfrm>
              <a:off x="3090" y="2665"/>
              <a:ext cx="96" cy="104"/>
            </a:xfrm>
            <a:prstGeom prst="rect">
              <a:avLst/>
            </a:prstGeom>
            <a:noFill/>
            <a:ln w="9525">
              <a:noFill/>
            </a:ln>
          </p:spPr>
          <p:txBody>
            <a:bodyPr wrap="none" lIns="0" tIns="0" rIns="0" bIns="0">
              <a:spAutoFit/>
            </a:bodyPr>
            <a:p>
              <a:pPr eaLnBrk="1" hangingPunct="1">
                <a:lnSpc>
                  <a:spcPct val="90000"/>
                </a:lnSpc>
              </a:pPr>
              <a:r>
                <a:rPr lang="en-US" altLang="zh-CN" sz="1200" b="0" dirty="0">
                  <a:solidFill>
                    <a:srgbClr val="000000"/>
                  </a:solidFill>
                  <a:latin typeface="黑体" panose="02010609060101010101" pitchFamily="49" charset="-122"/>
                  <a:ea typeface="黑体" panose="02010609060101010101" pitchFamily="49" charset="-122"/>
                </a:rPr>
                <a:t>Ω</a:t>
              </a:r>
              <a:endParaRPr lang="en-US" altLang="zh-CN" dirty="0">
                <a:latin typeface="Times New Roman" panose="02020603050405020304" pitchFamily="18" charset="0"/>
              </a:endParaRPr>
            </a:p>
          </p:txBody>
        </p:sp>
        <p:sp>
          <p:nvSpPr>
            <p:cNvPr id="45201" name="Line 143"/>
            <p:cNvSpPr/>
            <p:nvPr/>
          </p:nvSpPr>
          <p:spPr>
            <a:xfrm>
              <a:off x="5085" y="2041"/>
              <a:ext cx="323" cy="0"/>
            </a:xfrm>
            <a:prstGeom prst="line">
              <a:avLst/>
            </a:prstGeom>
            <a:ln w="12700" cap="flat" cmpd="sng">
              <a:solidFill>
                <a:srgbClr val="000080"/>
              </a:solidFill>
              <a:prstDash val="solid"/>
              <a:headEnd type="none" w="med" len="med"/>
              <a:tailEnd type="none" w="med" len="med"/>
            </a:ln>
          </p:spPr>
        </p:sp>
        <p:sp>
          <p:nvSpPr>
            <p:cNvPr id="45202" name="Line 144"/>
            <p:cNvSpPr/>
            <p:nvPr/>
          </p:nvSpPr>
          <p:spPr>
            <a:xfrm>
              <a:off x="4512" y="2041"/>
              <a:ext cx="184" cy="0"/>
            </a:xfrm>
            <a:prstGeom prst="line">
              <a:avLst/>
            </a:prstGeom>
            <a:ln w="12700" cap="flat" cmpd="sng">
              <a:solidFill>
                <a:srgbClr val="000080"/>
              </a:solidFill>
              <a:prstDash val="solid"/>
              <a:headEnd type="none" w="med" len="med"/>
              <a:tailEnd type="none" w="med" len="med"/>
            </a:ln>
          </p:spPr>
        </p:sp>
        <p:sp>
          <p:nvSpPr>
            <p:cNvPr id="45203" name="Line 145"/>
            <p:cNvSpPr/>
            <p:nvPr/>
          </p:nvSpPr>
          <p:spPr>
            <a:xfrm>
              <a:off x="3539" y="1573"/>
              <a:ext cx="279" cy="0"/>
            </a:xfrm>
            <a:prstGeom prst="line">
              <a:avLst/>
            </a:prstGeom>
            <a:ln w="12700" cap="flat" cmpd="sng">
              <a:solidFill>
                <a:srgbClr val="000080"/>
              </a:solidFill>
              <a:prstDash val="solid"/>
              <a:headEnd type="none" w="med" len="med"/>
              <a:tailEnd type="none" w="med" len="med"/>
            </a:ln>
          </p:spPr>
        </p:sp>
        <p:sp>
          <p:nvSpPr>
            <p:cNvPr id="45204" name="Line 146"/>
            <p:cNvSpPr/>
            <p:nvPr/>
          </p:nvSpPr>
          <p:spPr>
            <a:xfrm>
              <a:off x="3058" y="2415"/>
              <a:ext cx="190" cy="0"/>
            </a:xfrm>
            <a:prstGeom prst="line">
              <a:avLst/>
            </a:prstGeom>
            <a:ln w="12700" cap="flat" cmpd="sng">
              <a:solidFill>
                <a:srgbClr val="000080"/>
              </a:solidFill>
              <a:prstDash val="solid"/>
              <a:headEnd type="none" w="med" len="med"/>
              <a:tailEnd type="none" w="med" len="med"/>
            </a:ln>
          </p:spPr>
        </p:sp>
        <p:sp>
          <p:nvSpPr>
            <p:cNvPr id="45205" name="Line 147"/>
            <p:cNvSpPr/>
            <p:nvPr/>
          </p:nvSpPr>
          <p:spPr>
            <a:xfrm>
              <a:off x="2868" y="2632"/>
              <a:ext cx="0" cy="158"/>
            </a:xfrm>
            <a:prstGeom prst="line">
              <a:avLst/>
            </a:prstGeom>
            <a:ln w="12700" cap="flat" cmpd="sng">
              <a:solidFill>
                <a:srgbClr val="000080"/>
              </a:solidFill>
              <a:prstDash val="solid"/>
              <a:headEnd type="none" w="med" len="med"/>
              <a:tailEnd type="none" w="med" len="med"/>
            </a:ln>
          </p:spPr>
        </p:sp>
        <p:sp>
          <p:nvSpPr>
            <p:cNvPr id="45206" name="Line 148"/>
            <p:cNvSpPr/>
            <p:nvPr/>
          </p:nvSpPr>
          <p:spPr>
            <a:xfrm flipV="1">
              <a:off x="2377" y="2116"/>
              <a:ext cx="402" cy="0"/>
            </a:xfrm>
            <a:prstGeom prst="line">
              <a:avLst/>
            </a:prstGeom>
            <a:ln w="12700" cap="flat" cmpd="sng">
              <a:solidFill>
                <a:srgbClr val="000080"/>
              </a:solidFill>
              <a:prstDash val="solid"/>
              <a:headEnd type="none" w="med" len="med"/>
              <a:tailEnd type="none" w="med" len="med"/>
            </a:ln>
          </p:spPr>
        </p:sp>
        <p:sp>
          <p:nvSpPr>
            <p:cNvPr id="45207" name="Line 149"/>
            <p:cNvSpPr/>
            <p:nvPr/>
          </p:nvSpPr>
          <p:spPr>
            <a:xfrm>
              <a:off x="3438" y="1327"/>
              <a:ext cx="0" cy="152"/>
            </a:xfrm>
            <a:prstGeom prst="line">
              <a:avLst/>
            </a:prstGeom>
            <a:ln w="12700" cap="flat" cmpd="sng">
              <a:solidFill>
                <a:srgbClr val="000080"/>
              </a:solidFill>
              <a:prstDash val="solid"/>
              <a:headEnd type="none" w="med" len="med"/>
              <a:tailEnd type="none" w="med" len="med"/>
            </a:ln>
          </p:spPr>
        </p:sp>
        <p:sp>
          <p:nvSpPr>
            <p:cNvPr id="45208" name="Line 150"/>
            <p:cNvSpPr/>
            <p:nvPr/>
          </p:nvSpPr>
          <p:spPr>
            <a:xfrm>
              <a:off x="4516" y="2415"/>
              <a:ext cx="203" cy="0"/>
            </a:xfrm>
            <a:prstGeom prst="line">
              <a:avLst/>
            </a:prstGeom>
            <a:ln w="12700" cap="flat" cmpd="sng">
              <a:solidFill>
                <a:srgbClr val="000080"/>
              </a:solidFill>
              <a:prstDash val="solid"/>
              <a:headEnd type="none" w="med" len="med"/>
              <a:tailEnd type="none" w="med" len="med"/>
            </a:ln>
          </p:spPr>
        </p:sp>
        <p:sp>
          <p:nvSpPr>
            <p:cNvPr id="45209" name="Rectangle 151"/>
            <p:cNvSpPr/>
            <p:nvPr/>
          </p:nvSpPr>
          <p:spPr>
            <a:xfrm>
              <a:off x="2982" y="3390"/>
              <a:ext cx="1532" cy="173"/>
            </a:xfrm>
            <a:prstGeom prst="rect">
              <a:avLst/>
            </a:prstGeom>
            <a:noFill/>
            <a:ln w="9525">
              <a:noFill/>
            </a:ln>
          </p:spPr>
          <p:txBody>
            <a:bodyPr wrap="none" lIns="0" tIns="0" rIns="0" bIns="0">
              <a:spAutoFit/>
            </a:bodyPr>
            <a:p>
              <a:pPr eaLnBrk="1" hangingPunct="1">
                <a:lnSpc>
                  <a:spcPct val="90000"/>
                </a:lnSpc>
              </a:pPr>
              <a:r>
                <a:rPr lang="en-US" altLang="zh-CN" sz="2000" dirty="0">
                  <a:solidFill>
                    <a:srgbClr val="000080"/>
                  </a:solidFill>
                  <a:latin typeface="楷体_GB2312" pitchFamily="49" charset="-122"/>
                </a:rPr>
                <a:t>AD582</a:t>
              </a:r>
              <a:r>
                <a:rPr lang="zh-CN" altLang="en-US" sz="2000" dirty="0">
                  <a:solidFill>
                    <a:srgbClr val="000080"/>
                  </a:solidFill>
                  <a:latin typeface="楷体_GB2312" pitchFamily="49" charset="-122"/>
                </a:rPr>
                <a:t>实用电路（二）</a:t>
              </a:r>
              <a:endParaRPr lang="zh-CN" altLang="en-US" dirty="0">
                <a:latin typeface="Times New Roman" panose="02020603050405020304" pitchFamily="18" charset="0"/>
              </a:endParaRPr>
            </a:p>
          </p:txBody>
        </p:sp>
        <p:sp>
          <p:nvSpPr>
            <p:cNvPr id="45210" name="AutoShape 152"/>
            <p:cNvSpPr/>
            <p:nvPr/>
          </p:nvSpPr>
          <p:spPr>
            <a:xfrm rot="5400000">
              <a:off x="3324" y="1457"/>
              <a:ext cx="240" cy="224"/>
            </a:xfrm>
            <a:prstGeom prst="flowChartDelay">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211" name="Text Box 153"/>
            <p:cNvSpPr txBox="1"/>
            <p:nvPr/>
          </p:nvSpPr>
          <p:spPr>
            <a:xfrm>
              <a:off x="1997" y="2287"/>
              <a:ext cx="290"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sp>
          <p:nvSpPr>
            <p:cNvPr id="45212" name="Rectangle 157"/>
            <p:cNvSpPr/>
            <p:nvPr/>
          </p:nvSpPr>
          <p:spPr>
            <a:xfrm>
              <a:off x="5021" y="1807"/>
              <a:ext cx="59" cy="164"/>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213" name="Rectangle 158"/>
            <p:cNvSpPr/>
            <p:nvPr/>
          </p:nvSpPr>
          <p:spPr>
            <a:xfrm>
              <a:off x="5022" y="1474"/>
              <a:ext cx="59" cy="164"/>
            </a:xfrm>
            <a:prstGeom prst="rect">
              <a:avLst/>
            </a:prstGeom>
            <a:solidFill>
              <a:srgbClr val="FFCC99"/>
            </a:solidFill>
            <a:ln w="1905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214" name="Line 159"/>
            <p:cNvSpPr/>
            <p:nvPr/>
          </p:nvSpPr>
          <p:spPr>
            <a:xfrm>
              <a:off x="5047" y="1325"/>
              <a:ext cx="221" cy="0"/>
            </a:xfrm>
            <a:prstGeom prst="line">
              <a:avLst/>
            </a:prstGeom>
            <a:ln w="12700" cap="flat" cmpd="sng">
              <a:solidFill>
                <a:srgbClr val="000080"/>
              </a:solidFill>
              <a:prstDash val="solid"/>
              <a:headEnd type="none" w="med" len="med"/>
              <a:tailEnd type="none" w="med" len="med"/>
            </a:ln>
          </p:spPr>
        </p:sp>
        <p:sp>
          <p:nvSpPr>
            <p:cNvPr id="45215" name="Line 160"/>
            <p:cNvSpPr/>
            <p:nvPr/>
          </p:nvSpPr>
          <p:spPr>
            <a:xfrm>
              <a:off x="5268" y="1325"/>
              <a:ext cx="0" cy="109"/>
            </a:xfrm>
            <a:prstGeom prst="line">
              <a:avLst/>
            </a:prstGeom>
            <a:ln w="12700" cap="flat" cmpd="sng">
              <a:solidFill>
                <a:srgbClr val="000080"/>
              </a:solidFill>
              <a:prstDash val="solid"/>
              <a:headEnd type="none" w="med" len="med"/>
              <a:tailEnd type="none" w="med" len="med"/>
            </a:ln>
          </p:spPr>
        </p:sp>
        <p:sp>
          <p:nvSpPr>
            <p:cNvPr id="45216" name="Line 161"/>
            <p:cNvSpPr/>
            <p:nvPr/>
          </p:nvSpPr>
          <p:spPr>
            <a:xfrm>
              <a:off x="5200" y="1433"/>
              <a:ext cx="68" cy="66"/>
            </a:xfrm>
            <a:prstGeom prst="line">
              <a:avLst/>
            </a:prstGeom>
            <a:ln w="19050" cap="flat" cmpd="sng">
              <a:solidFill>
                <a:srgbClr val="000000"/>
              </a:solidFill>
              <a:prstDash val="solid"/>
              <a:headEnd type="none" w="med" len="med"/>
              <a:tailEnd type="none" w="med" len="med"/>
            </a:ln>
          </p:spPr>
        </p:sp>
        <p:sp>
          <p:nvSpPr>
            <p:cNvPr id="45217" name="Line 162"/>
            <p:cNvSpPr/>
            <p:nvPr/>
          </p:nvSpPr>
          <p:spPr>
            <a:xfrm flipV="1">
              <a:off x="5268" y="1427"/>
              <a:ext cx="75" cy="72"/>
            </a:xfrm>
            <a:prstGeom prst="line">
              <a:avLst/>
            </a:prstGeom>
            <a:ln w="19050" cap="flat" cmpd="sng">
              <a:solidFill>
                <a:srgbClr val="000000"/>
              </a:solidFill>
              <a:prstDash val="solid"/>
              <a:headEnd type="none" w="med" len="med"/>
              <a:tailEnd type="none" w="med" len="med"/>
            </a:ln>
          </p:spPr>
        </p:sp>
        <p:sp>
          <p:nvSpPr>
            <p:cNvPr id="45218" name="Line 163"/>
            <p:cNvSpPr/>
            <p:nvPr/>
          </p:nvSpPr>
          <p:spPr>
            <a:xfrm>
              <a:off x="5197" y="1431"/>
              <a:ext cx="142" cy="0"/>
            </a:xfrm>
            <a:prstGeom prst="line">
              <a:avLst/>
            </a:prstGeom>
            <a:ln w="19050" cap="flat" cmpd="sng">
              <a:solidFill>
                <a:srgbClr val="000000"/>
              </a:solidFill>
              <a:prstDash val="solid"/>
              <a:headEnd type="none" w="med" len="med"/>
              <a:tailEnd type="none" w="med" len="med"/>
            </a:ln>
          </p:spPr>
        </p:sp>
        <p:sp>
          <p:nvSpPr>
            <p:cNvPr id="45219" name="Oval 164"/>
            <p:cNvSpPr/>
            <p:nvPr/>
          </p:nvSpPr>
          <p:spPr>
            <a:xfrm>
              <a:off x="5041" y="1748"/>
              <a:ext cx="23" cy="23"/>
            </a:xfrm>
            <a:prstGeom prst="ellipse">
              <a:avLst/>
            </a:prstGeom>
            <a:solidFill>
              <a:schemeClr val="tx2"/>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45220" name="Rectangle 165"/>
            <p:cNvSpPr/>
            <p:nvPr/>
          </p:nvSpPr>
          <p:spPr>
            <a:xfrm>
              <a:off x="5119" y="1808"/>
              <a:ext cx="139" cy="139"/>
            </a:xfrm>
            <a:prstGeom prst="rect">
              <a:avLst/>
            </a:prstGeom>
            <a:noFill/>
            <a:ln w="9525">
              <a:noFill/>
            </a:ln>
          </p:spPr>
          <p:txBody>
            <a:bodyPr wrap="none" lIns="0" tIns="0" rIns="0" bIns="0">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F</a:t>
              </a:r>
              <a:endParaRPr lang="en-US" altLang="zh-CN" sz="1600" baseline="-25000" dirty="0">
                <a:solidFill>
                  <a:srgbClr val="FF0000"/>
                </a:solidFill>
                <a:latin typeface="Times New Roman" panose="02020603050405020304" pitchFamily="18" charset="0"/>
              </a:endParaRPr>
            </a:p>
          </p:txBody>
        </p:sp>
        <p:sp>
          <p:nvSpPr>
            <p:cNvPr id="45221" name="Rectangle 166"/>
            <p:cNvSpPr/>
            <p:nvPr/>
          </p:nvSpPr>
          <p:spPr>
            <a:xfrm>
              <a:off x="5111" y="1505"/>
              <a:ext cx="129" cy="139"/>
            </a:xfrm>
            <a:prstGeom prst="rect">
              <a:avLst/>
            </a:prstGeom>
            <a:noFill/>
            <a:ln w="9525">
              <a:noFill/>
            </a:ln>
          </p:spPr>
          <p:txBody>
            <a:bodyPr wrap="none" lIns="0" tIns="0" rIns="0" bIns="0">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grpSp>
      <p:sp>
        <p:nvSpPr>
          <p:cNvPr id="2434216" name="Rectangle 168"/>
          <p:cNvSpPr/>
          <p:nvPr/>
        </p:nvSpPr>
        <p:spPr>
          <a:xfrm>
            <a:off x="287338" y="1584325"/>
            <a:ext cx="2413000" cy="1628775"/>
          </a:xfrm>
          <a:prstGeom prst="rect">
            <a:avLst/>
          </a:prstGeom>
          <a:noFill/>
          <a:ln w="9525">
            <a:noFill/>
          </a:ln>
        </p:spPr>
        <p:txBody>
          <a:bodyPr>
            <a:spAutoFit/>
          </a:bodyPr>
          <a:p>
            <a:pPr eaLnBrk="1" hangingPunct="1">
              <a:lnSpc>
                <a:spcPct val="90000"/>
              </a:lnSpc>
            </a:pPr>
            <a:r>
              <a:rPr lang="zh-CN" altLang="en-US" sz="2800" dirty="0">
                <a:latin typeface="Times New Roman" panose="02020603050405020304" pitchFamily="18" charset="0"/>
              </a:rPr>
              <a:t>输出不反相电路，电路增益可由外接电阻来选择：</a:t>
            </a:r>
            <a:endParaRPr lang="zh-CN" altLang="en-US" sz="2800" dirty="0">
              <a:latin typeface="Times New Roman" panose="02020603050405020304" pitchFamily="18" charset="0"/>
            </a:endParaRPr>
          </a:p>
        </p:txBody>
      </p:sp>
      <p:graphicFrame>
        <p:nvGraphicFramePr>
          <p:cNvPr id="2434217" name="Object 169"/>
          <p:cNvGraphicFramePr>
            <a:graphicFrameLocks noChangeAspect="1"/>
          </p:cNvGraphicFramePr>
          <p:nvPr/>
        </p:nvGraphicFramePr>
        <p:xfrm>
          <a:off x="387350" y="3394075"/>
          <a:ext cx="2132013" cy="1090613"/>
        </p:xfrm>
        <a:graphic>
          <a:graphicData uri="http://schemas.openxmlformats.org/presentationml/2006/ole">
            <mc:AlternateContent xmlns:mc="http://schemas.openxmlformats.org/markup-compatibility/2006">
              <mc:Choice xmlns:v="urn:schemas-microsoft-com:vml" Requires="v">
                <p:oleObj spid="_x0000_s3095" name="" r:id="rId1" imgW="799465" imgH="431800" progId="Equation.3">
                  <p:embed/>
                </p:oleObj>
              </mc:Choice>
              <mc:Fallback>
                <p:oleObj name="" r:id="rId1" imgW="799465" imgH="431800" progId="Equation.3">
                  <p:embed/>
                  <p:pic>
                    <p:nvPicPr>
                      <p:cNvPr id="0" name="图片 3094"/>
                      <p:cNvPicPr/>
                      <p:nvPr/>
                    </p:nvPicPr>
                    <p:blipFill>
                      <a:blip r:embed="rId2"/>
                      <a:stretch>
                        <a:fillRect/>
                      </a:stretch>
                    </p:blipFill>
                    <p:spPr>
                      <a:xfrm>
                        <a:off x="387350" y="3394075"/>
                        <a:ext cx="2132013" cy="1090613"/>
                      </a:xfrm>
                      <a:prstGeom prst="rect">
                        <a:avLst/>
                      </a:prstGeom>
                      <a:solidFill>
                        <a:srgbClr val="CCFFFF"/>
                      </a:solidFill>
                      <a:ln w="38100">
                        <a:noFill/>
                        <a:miter/>
                      </a:ln>
                    </p:spPr>
                  </p:pic>
                </p:oleObj>
              </mc:Fallback>
            </mc:AlternateContent>
          </a:graphicData>
        </a:graphic>
      </p:graphicFrame>
      <p:sp>
        <p:nvSpPr>
          <p:cNvPr id="45062" name="Text Box 11"/>
          <p:cNvSpPr txBox="1"/>
          <p:nvPr/>
        </p:nvSpPr>
        <p:spPr>
          <a:xfrm>
            <a:off x="358775" y="657225"/>
            <a:ext cx="44545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5.5.1 AD582</a:t>
            </a:r>
            <a:r>
              <a:rPr lang="zh-CN" altLang="en-US" sz="3200" dirty="0">
                <a:latin typeface="Times New Roman" panose="02020603050405020304" pitchFamily="18" charset="0"/>
              </a:rPr>
              <a:t>的实用电路</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4215"/>
                                        </p:tgtEl>
                                        <p:attrNameLst>
                                          <p:attrName>style.visibility</p:attrName>
                                        </p:attrNameLst>
                                      </p:cBhvr>
                                      <p:to>
                                        <p:strVal val="visible"/>
                                      </p:to>
                                    </p:set>
                                    <p:animEffect transition="in" filter="dissolve">
                                      <p:cBhvr>
                                        <p:cTn id="7" dur="500"/>
                                        <p:tgtEl>
                                          <p:spTgt spid="24342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4216"/>
                                        </p:tgtEl>
                                        <p:attrNameLst>
                                          <p:attrName>style.visibility</p:attrName>
                                        </p:attrNameLst>
                                      </p:cBhvr>
                                      <p:to>
                                        <p:strVal val="visible"/>
                                      </p:to>
                                    </p:set>
                                    <p:animEffect transition="in" filter="dissolve">
                                      <p:cBhvr>
                                        <p:cTn id="12" dur="500"/>
                                        <p:tgtEl>
                                          <p:spTgt spid="24342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4217"/>
                                        </p:tgtEl>
                                        <p:attrNameLst>
                                          <p:attrName>style.visibility</p:attrName>
                                        </p:attrNameLst>
                                      </p:cBhvr>
                                      <p:to>
                                        <p:strVal val="visible"/>
                                      </p:to>
                                    </p:set>
                                    <p:animEffect transition="in" filter="dissolve">
                                      <p:cBhvr>
                                        <p:cTn id="17" dur="500"/>
                                        <p:tgtEl>
                                          <p:spTgt spid="2434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4216"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9240" name="Text Box 8"/>
          <p:cNvSpPr txBox="1"/>
          <p:nvPr/>
        </p:nvSpPr>
        <p:spPr>
          <a:xfrm>
            <a:off x="395288" y="836613"/>
            <a:ext cx="48244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5.5.2 LF198(LF298, LF398)</a:t>
            </a:r>
            <a:endParaRPr lang="en-US" altLang="zh-CN" sz="3200" dirty="0">
              <a:latin typeface="Times New Roman" panose="02020603050405020304" pitchFamily="18" charset="0"/>
            </a:endParaRPr>
          </a:p>
        </p:txBody>
      </p:sp>
      <p:sp>
        <p:nvSpPr>
          <p:cNvPr id="2399241" name="Text Box 9"/>
          <p:cNvSpPr txBox="1"/>
          <p:nvPr/>
        </p:nvSpPr>
        <p:spPr>
          <a:xfrm>
            <a:off x="142875" y="1592263"/>
            <a:ext cx="2413000" cy="4583112"/>
          </a:xfrm>
          <a:prstGeom prst="rect">
            <a:avLst/>
          </a:prstGeom>
          <a:noFill/>
          <a:ln w="9525">
            <a:noFill/>
          </a:ln>
        </p:spPr>
        <p:txBody>
          <a:bodyPr>
            <a:spAutoFit/>
          </a:bodyPr>
          <a:p>
            <a:pPr marL="266700" indent="-266700" eaLnBrk="1" hangingPunct="1">
              <a:buClr>
                <a:srgbClr val="FF0000"/>
              </a:buClr>
              <a:buFont typeface="Wingdings" panose="05000000000000000000" pitchFamily="2" charset="2"/>
              <a:buChar char="u"/>
            </a:pPr>
            <a:r>
              <a:rPr lang="en-US" altLang="zh-CN" sz="2400" dirty="0">
                <a:latin typeface="Times New Roman" panose="02020603050405020304" pitchFamily="18" charset="0"/>
                <a:ea typeface="宋体" panose="02010600030101010101" pitchFamily="2" charset="-122"/>
              </a:rPr>
              <a:t>LF198</a:t>
            </a:r>
            <a:r>
              <a:rPr lang="zh-CN" altLang="en-US" sz="2400" dirty="0">
                <a:latin typeface="Times New Roman" panose="02020603050405020304" pitchFamily="18" charset="0"/>
              </a:rPr>
              <a:t>也是反馈型采样</a:t>
            </a:r>
            <a:r>
              <a:rPr lang="en-US" altLang="zh-CN" sz="2400" dirty="0">
                <a:latin typeface="Times New Roman" panose="02020603050405020304" pitchFamily="18" charset="0"/>
              </a:rPr>
              <a:t>/</a:t>
            </a:r>
            <a:r>
              <a:rPr lang="zh-CN" altLang="en-US" sz="2400" dirty="0">
                <a:latin typeface="Times New Roman" panose="02020603050405020304" pitchFamily="18" charset="0"/>
              </a:rPr>
              <a:t>保持器，用二极管</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代替模拟开关</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ea typeface="宋体" panose="02010600030101010101" pitchFamily="2" charset="-122"/>
              </a:rPr>
              <a:t>。</a:t>
            </a:r>
            <a:endParaRPr lang="zh-CN" altLang="en-US" sz="2400" dirty="0">
              <a:latin typeface="Times New Roman" panose="02020603050405020304" pitchFamily="18" charset="0"/>
              <a:ea typeface="宋体" panose="02010600030101010101" pitchFamily="2" charset="-122"/>
            </a:endParaRPr>
          </a:p>
          <a:p>
            <a:pPr marL="266700" indent="-266700" eaLnBrk="1" hangingPunct="1">
              <a:spcBef>
                <a:spcPct val="30000"/>
              </a:spcBef>
              <a:buClr>
                <a:srgbClr val="FF0000"/>
              </a:buClr>
              <a:buFont typeface="Wingdings" panose="05000000000000000000" pitchFamily="2" charset="2"/>
              <a:buChar char="u"/>
            </a:pPr>
            <a:r>
              <a:rPr lang="zh-CN" altLang="en-US" sz="2400" dirty="0">
                <a:latin typeface="Times New Roman" panose="02020603050405020304" pitchFamily="18" charset="0"/>
              </a:rPr>
              <a:t>当处于跟踪状态时，</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0</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1</a:t>
            </a:r>
            <a:r>
              <a:rPr lang="en-US" altLang="zh-CN" sz="2400" dirty="0">
                <a:latin typeface="Times New Roman" panose="02020603050405020304" pitchFamily="18" charset="0"/>
              </a:rPr>
              <a:t>, </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均不导通。当处于保持状态时，</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或</a:t>
            </a:r>
            <a:r>
              <a:rPr lang="en-US" altLang="zh-CN" sz="2400" i="1" dirty="0">
                <a:solidFill>
                  <a:srgbClr val="FF0000"/>
                </a:solidFill>
                <a:latin typeface="Times New Roman" panose="02020603050405020304" pitchFamily="18" charset="0"/>
              </a:rPr>
              <a:t>D</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之一导通</a:t>
            </a:r>
            <a:r>
              <a:rPr lang="en-US" altLang="zh-CN" sz="2400" dirty="0">
                <a:latin typeface="Times New Roman" panose="02020603050405020304" pitchFamily="18" charset="0"/>
              </a:rPr>
              <a:t>(</a:t>
            </a:r>
            <a:r>
              <a:rPr lang="zh-CN" altLang="en-US" sz="2400" dirty="0">
                <a:latin typeface="Times New Roman" panose="02020603050405020304" pitchFamily="18" charset="0"/>
              </a:rPr>
              <a:t>根据</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IN</a:t>
            </a:r>
            <a:r>
              <a:rPr lang="zh-CN" altLang="en-US" sz="2400" dirty="0">
                <a:latin typeface="Times New Roman" panose="02020603050405020304" pitchFamily="18" charset="0"/>
              </a:rPr>
              <a:t>正负</a:t>
            </a: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sp>
        <p:nvSpPr>
          <p:cNvPr id="2399242" name="Text Box 10"/>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2399246" name="Group 14"/>
          <p:cNvGrpSpPr/>
          <p:nvPr/>
        </p:nvGrpSpPr>
        <p:grpSpPr>
          <a:xfrm>
            <a:off x="2663825" y="1500188"/>
            <a:ext cx="6372225" cy="4665662"/>
            <a:chOff x="1678" y="892"/>
            <a:chExt cx="4014" cy="2939"/>
          </a:xfrm>
        </p:grpSpPr>
        <p:pic>
          <p:nvPicPr>
            <p:cNvPr id="46087" name="Picture 11"/>
            <p:cNvPicPr>
              <a:picLocks noChangeAspect="1"/>
            </p:cNvPicPr>
            <p:nvPr/>
          </p:nvPicPr>
          <p:blipFill>
            <a:blip r:embed="rId1"/>
            <a:stretch>
              <a:fillRect/>
            </a:stretch>
          </p:blipFill>
          <p:spPr>
            <a:xfrm>
              <a:off x="1678" y="935"/>
              <a:ext cx="4014" cy="2575"/>
            </a:xfrm>
            <a:prstGeom prst="rect">
              <a:avLst/>
            </a:prstGeom>
            <a:noFill/>
            <a:ln w="9525">
              <a:noFill/>
            </a:ln>
          </p:spPr>
        </p:pic>
        <p:sp>
          <p:nvSpPr>
            <p:cNvPr id="46088" name="Text Box 12"/>
            <p:cNvSpPr txBox="1"/>
            <p:nvPr/>
          </p:nvSpPr>
          <p:spPr>
            <a:xfrm>
              <a:off x="3107" y="3566"/>
              <a:ext cx="1429"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LF198</a:t>
              </a:r>
              <a:r>
                <a:rPr lang="zh-CN" altLang="en-US" sz="2400" dirty="0">
                  <a:latin typeface="Times New Roman" panose="02020603050405020304" pitchFamily="18" charset="0"/>
                </a:rPr>
                <a:t>的结构</a:t>
              </a:r>
              <a:endParaRPr lang="zh-CN" altLang="en-US" sz="2400" dirty="0">
                <a:latin typeface="Times New Roman" panose="02020603050405020304" pitchFamily="18" charset="0"/>
              </a:endParaRPr>
            </a:p>
          </p:txBody>
        </p:sp>
        <p:sp>
          <p:nvSpPr>
            <p:cNvPr id="46089" name="Rectangle 13"/>
            <p:cNvSpPr/>
            <p:nvPr/>
          </p:nvSpPr>
          <p:spPr>
            <a:xfrm>
              <a:off x="1678" y="892"/>
              <a:ext cx="4014" cy="2939"/>
            </a:xfrm>
            <a:prstGeom prst="rect">
              <a:avLst/>
            </a:prstGeom>
            <a:no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399247" name="Rectangle 15"/>
          <p:cNvSpPr/>
          <p:nvPr/>
        </p:nvSpPr>
        <p:spPr>
          <a:xfrm>
            <a:off x="28575" y="1592263"/>
            <a:ext cx="2555875" cy="3743325"/>
          </a:xfrm>
          <a:prstGeom prst="rect">
            <a:avLst/>
          </a:prstGeom>
          <a:solidFill>
            <a:schemeClr val="bg1"/>
          </a:solidFill>
          <a:ln w="9525">
            <a:noFill/>
          </a:ln>
        </p:spPr>
        <p:txBody>
          <a:bodyPr>
            <a:spAutoFit/>
          </a:bodyPr>
          <a:p>
            <a:pPr marL="266700" indent="-266700" eaLnBrk="1" hangingPunct="1">
              <a:spcBef>
                <a:spcPct val="30000"/>
              </a:spcBef>
              <a:buClr>
                <a:srgbClr val="FF0000"/>
              </a:buClr>
              <a:buFont typeface="Wingdings" panose="05000000000000000000" pitchFamily="2" charset="2"/>
              <a:buChar char="u"/>
            </a:pPr>
            <a:r>
              <a:rPr lang="en-US" altLang="zh-CN" sz="2400" dirty="0">
                <a:latin typeface="Times New Roman" panose="02020603050405020304" pitchFamily="18" charset="0"/>
              </a:rPr>
              <a:t>LF198</a:t>
            </a:r>
            <a:r>
              <a:rPr lang="zh-CN" altLang="en-US" sz="2400" dirty="0">
                <a:latin typeface="Times New Roman" panose="02020603050405020304" pitchFamily="18" charset="0"/>
              </a:rPr>
              <a:t>的供电电压为</a:t>
            </a:r>
            <a:r>
              <a:rPr lang="en-US" altLang="zh-CN" sz="2400" dirty="0">
                <a:solidFill>
                  <a:srgbClr val="FF0000"/>
                </a:solidFill>
                <a:latin typeface="Times New Roman" panose="02020603050405020304" pitchFamily="18" charset="0"/>
              </a:rPr>
              <a:t>5V</a:t>
            </a:r>
            <a:r>
              <a:rPr lang="zh-CN" altLang="en-US" sz="2400" dirty="0">
                <a:solidFill>
                  <a:srgbClr val="FF0000"/>
                </a:solidFill>
                <a:latin typeface="Times New Roman" panose="02020603050405020304" pitchFamily="18" charset="0"/>
              </a:rPr>
              <a:t>～</a:t>
            </a:r>
            <a:r>
              <a:rPr lang="en-US" altLang="zh-CN" sz="2400" dirty="0">
                <a:solidFill>
                  <a:srgbClr val="FF0000"/>
                </a:solidFill>
                <a:latin typeface="Times New Roman" panose="02020603050405020304" pitchFamily="18" charset="0"/>
              </a:rPr>
              <a:t>18V</a:t>
            </a:r>
            <a:r>
              <a:rPr lang="zh-CN" altLang="en-US" sz="2400" dirty="0">
                <a:latin typeface="Times New Roman" panose="02020603050405020304" pitchFamily="18" charset="0"/>
              </a:rPr>
              <a:t>。控制电压</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K</a:t>
            </a:r>
            <a:r>
              <a:rPr lang="zh-CN" altLang="en-US" sz="2400" dirty="0">
                <a:latin typeface="Times New Roman" panose="02020603050405020304" pitchFamily="18" charset="0"/>
              </a:rPr>
              <a:t>为</a:t>
            </a:r>
            <a:r>
              <a:rPr lang="en-US" altLang="zh-CN" sz="2400" dirty="0">
                <a:solidFill>
                  <a:srgbClr val="FF0000"/>
                </a:solidFill>
                <a:latin typeface="Times New Roman" panose="02020603050405020304" pitchFamily="18" charset="0"/>
              </a:rPr>
              <a:t>TTL</a:t>
            </a:r>
            <a:r>
              <a:rPr lang="zh-CN" altLang="en-US" sz="2400" dirty="0">
                <a:latin typeface="Times New Roman" panose="02020603050405020304" pitchFamily="18" charset="0"/>
              </a:rPr>
              <a:t>电平，当</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K</a:t>
            </a:r>
            <a:r>
              <a:rPr lang="en-US" altLang="zh-CN" sz="2400" dirty="0">
                <a:solidFill>
                  <a:srgbClr val="FF0000"/>
                </a:solidFill>
                <a:latin typeface="Times New Roman" panose="02020603050405020304" pitchFamily="18" charset="0"/>
              </a:rPr>
              <a:t>&gt;1.4V</a:t>
            </a:r>
            <a:r>
              <a:rPr lang="zh-CN" altLang="en-US" sz="2400" dirty="0">
                <a:latin typeface="Times New Roman" panose="02020603050405020304" pitchFamily="18" charset="0"/>
              </a:rPr>
              <a:t>时，</a:t>
            </a:r>
            <a:r>
              <a:rPr lang="en-US" altLang="zh-CN" sz="2400" dirty="0">
                <a:latin typeface="Times New Roman" panose="02020603050405020304" pitchFamily="18" charset="0"/>
              </a:rPr>
              <a:t>LF198</a:t>
            </a:r>
            <a:r>
              <a:rPr lang="zh-CN" altLang="en-US" sz="2400" dirty="0">
                <a:latin typeface="Times New Roman" panose="02020603050405020304" pitchFamily="18" charset="0"/>
              </a:rPr>
              <a:t>处于跟踪状态，当</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K</a:t>
            </a:r>
            <a:r>
              <a:rPr lang="zh-CN" altLang="en-US" sz="2400" dirty="0">
                <a:latin typeface="Times New Roman" panose="02020603050405020304" pitchFamily="18" charset="0"/>
              </a:rPr>
              <a:t>负跳变</a:t>
            </a:r>
            <a:r>
              <a:rPr lang="en-US" altLang="zh-CN" sz="2400" dirty="0">
                <a:latin typeface="Times New Roman" panose="02020603050405020304" pitchFamily="18" charset="0"/>
              </a:rPr>
              <a:t>(</a:t>
            </a:r>
            <a:r>
              <a:rPr lang="zh-CN" altLang="en-US" sz="2400" dirty="0">
                <a:latin typeface="Times New Roman" panose="02020603050405020304" pitchFamily="18" charset="0"/>
              </a:rPr>
              <a:t>从“</a:t>
            </a:r>
            <a:r>
              <a:rPr lang="en-US" altLang="zh-CN" sz="2400" dirty="0">
                <a:solidFill>
                  <a:srgbClr val="FF0000"/>
                </a:solidFill>
                <a:latin typeface="Times New Roman" panose="02020603050405020304" pitchFamily="18" charset="0"/>
              </a:rPr>
              <a:t>1</a:t>
            </a:r>
            <a:r>
              <a:rPr lang="en-US" altLang="zh-CN" sz="2400" dirty="0">
                <a:latin typeface="Times New Roman" panose="02020603050405020304" pitchFamily="18" charset="0"/>
              </a:rPr>
              <a:t>”</a:t>
            </a:r>
            <a:r>
              <a:rPr lang="zh-CN" altLang="en-US" sz="2400" dirty="0">
                <a:latin typeface="Times New Roman" panose="02020603050405020304" pitchFamily="18" charset="0"/>
              </a:rPr>
              <a:t>变为“</a:t>
            </a:r>
            <a:r>
              <a:rPr lang="en-US" altLang="zh-CN" sz="2400" dirty="0">
                <a:solidFill>
                  <a:srgbClr val="FF0000"/>
                </a:solidFill>
                <a:latin typeface="Times New Roman" panose="02020603050405020304" pitchFamily="18" charset="0"/>
              </a:rPr>
              <a:t>0</a:t>
            </a:r>
            <a:r>
              <a:rPr lang="en-US" altLang="zh-CN" sz="2400" dirty="0">
                <a:latin typeface="Times New Roman" panose="02020603050405020304" pitchFamily="18" charset="0"/>
              </a:rPr>
              <a:t>”)</a:t>
            </a:r>
            <a:r>
              <a:rPr lang="zh-CN" altLang="en-US" sz="2400" dirty="0">
                <a:latin typeface="Times New Roman" panose="02020603050405020304" pitchFamily="18" charset="0"/>
              </a:rPr>
              <a:t>时，转向保持状态。 </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9240"/>
                                        </p:tgtEl>
                                        <p:attrNameLst>
                                          <p:attrName>style.visibility</p:attrName>
                                        </p:attrNameLst>
                                      </p:cBhvr>
                                      <p:to>
                                        <p:strVal val="visible"/>
                                      </p:to>
                                    </p:set>
                                    <p:animEffect transition="in" filter="dissolve">
                                      <p:cBhvr>
                                        <p:cTn id="7" dur="500"/>
                                        <p:tgtEl>
                                          <p:spTgt spid="23992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399246"/>
                                        </p:tgtEl>
                                        <p:attrNameLst>
                                          <p:attrName>style.visibility</p:attrName>
                                        </p:attrNameLst>
                                      </p:cBhvr>
                                      <p:to>
                                        <p:strVal val="visible"/>
                                      </p:to>
                                    </p:set>
                                    <p:animEffect transition="in" filter="dissolve">
                                      <p:cBhvr>
                                        <p:cTn id="12" dur="500"/>
                                        <p:tgtEl>
                                          <p:spTgt spid="239924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99241">
                                            <p:txEl>
                                              <p:charRg st="0" end="36"/>
                                            </p:txEl>
                                          </p:spTgt>
                                        </p:tgtEl>
                                        <p:attrNameLst>
                                          <p:attrName>style.visibility</p:attrName>
                                        </p:attrNameLst>
                                      </p:cBhvr>
                                      <p:to>
                                        <p:strVal val="visible"/>
                                      </p:to>
                                    </p:set>
                                    <p:animEffect transition="in" filter="dissolve">
                                      <p:cBhvr>
                                        <p:cTn id="17" dur="500"/>
                                        <p:tgtEl>
                                          <p:spTgt spid="2399241">
                                            <p:txEl>
                                              <p:charRg st="0" end="3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399241">
                                            <p:txEl>
                                              <p:charRg st="36" end="90"/>
                                            </p:txEl>
                                          </p:spTgt>
                                        </p:tgtEl>
                                        <p:attrNameLst>
                                          <p:attrName>style.visibility</p:attrName>
                                        </p:attrNameLst>
                                      </p:cBhvr>
                                      <p:to>
                                        <p:strVal val="visible"/>
                                      </p:to>
                                    </p:set>
                                    <p:animEffect transition="in" filter="dissolve">
                                      <p:cBhvr>
                                        <p:cTn id="22" dur="500"/>
                                        <p:tgtEl>
                                          <p:spTgt spid="2399241">
                                            <p:txEl>
                                              <p:charRg st="36" end="9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xit" presetSubtype="10" fill="hold" nodeType="clickEffect">
                                  <p:stCondLst>
                                    <p:cond delay="0"/>
                                  </p:stCondLst>
                                  <p:childTnLst>
                                    <p:animEffect transition="out" filter="blinds(horizontal)">
                                      <p:cBhvr>
                                        <p:cTn id="26" dur="500"/>
                                        <p:tgtEl>
                                          <p:spTgt spid="2399241">
                                            <p:txEl>
                                              <p:charRg st="0" end="36"/>
                                            </p:txEl>
                                          </p:spTgt>
                                        </p:tgtEl>
                                      </p:cBhvr>
                                    </p:animEffect>
                                    <p:set>
                                      <p:cBhvr>
                                        <p:cTn id="27" dur="1" fill="hold">
                                          <p:stCondLst>
                                            <p:cond delay="499"/>
                                          </p:stCondLst>
                                        </p:cTn>
                                        <p:tgtEl>
                                          <p:spTgt spid="2399241">
                                            <p:txEl>
                                              <p:charRg st="0" end="36"/>
                                            </p:txEl>
                                          </p:spTgt>
                                        </p:tgtEl>
                                        <p:attrNameLst>
                                          <p:attrName>style.visibility</p:attrName>
                                        </p:attrNameLst>
                                      </p:cBhvr>
                                      <p:to>
                                        <p:strVal val="hidden"/>
                                      </p:to>
                                    </p:set>
                                  </p:childTnLst>
                                </p:cTn>
                              </p:par>
                              <p:par>
                                <p:cTn id="28" presetID="3" presetClass="exit" presetSubtype="10" fill="hold" nodeType="withEffect">
                                  <p:stCondLst>
                                    <p:cond delay="0"/>
                                  </p:stCondLst>
                                  <p:childTnLst>
                                    <p:animEffect transition="out" filter="blinds(horizontal)">
                                      <p:cBhvr>
                                        <p:cTn id="29" dur="500"/>
                                        <p:tgtEl>
                                          <p:spTgt spid="2399241">
                                            <p:txEl>
                                              <p:charRg st="36" end="90"/>
                                            </p:txEl>
                                          </p:spTgt>
                                        </p:tgtEl>
                                      </p:cBhvr>
                                    </p:animEffect>
                                    <p:set>
                                      <p:cBhvr>
                                        <p:cTn id="30" dur="1" fill="hold">
                                          <p:stCondLst>
                                            <p:cond delay="499"/>
                                          </p:stCondLst>
                                        </p:cTn>
                                        <p:tgtEl>
                                          <p:spTgt spid="2399241">
                                            <p:txEl>
                                              <p:charRg st="36" end="90"/>
                                            </p:txEl>
                                          </p:spTgt>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399247"/>
                                        </p:tgtEl>
                                        <p:attrNameLst>
                                          <p:attrName>style.visibility</p:attrName>
                                        </p:attrNameLst>
                                      </p:cBhvr>
                                      <p:to>
                                        <p:strVal val="visible"/>
                                      </p:to>
                                    </p:set>
                                    <p:animEffect transition="in" filter="dissolve">
                                      <p:cBhvr>
                                        <p:cTn id="35" dur="500"/>
                                        <p:tgtEl>
                                          <p:spTgt spid="23992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9240" grpId="0" animBg="1"/>
      <p:bldP spid="2399241" grpId="0" build="allAtOnce"/>
      <p:bldP spid="2399247"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5075" name="Text Box 3"/>
          <p:cNvSpPr txBox="1"/>
          <p:nvPr/>
        </p:nvSpPr>
        <p:spPr>
          <a:xfrm>
            <a:off x="71438" y="1592263"/>
            <a:ext cx="2520950" cy="3013075"/>
          </a:xfrm>
          <a:prstGeom prst="rect">
            <a:avLst/>
          </a:prstGeom>
          <a:noFill/>
          <a:ln w="9525">
            <a:noFill/>
          </a:ln>
        </p:spPr>
        <p:txBody>
          <a:bodyPr>
            <a:spAutoFit/>
          </a:bodyPr>
          <a:p>
            <a:pPr marL="266700" indent="-266700" eaLnBrk="1" hangingPunct="1">
              <a:buClr>
                <a:srgbClr val="FF0000"/>
              </a:buClr>
              <a:buFont typeface="Wingdings" panose="05000000000000000000" pitchFamily="2" charset="2"/>
              <a:buChar char="u"/>
            </a:pPr>
            <a:r>
              <a:rPr lang="en-US" altLang="en-US" sz="2400" dirty="0">
                <a:latin typeface="Times New Roman" panose="02020603050405020304" pitchFamily="18" charset="0"/>
              </a:rPr>
              <a:t>LFl98</a:t>
            </a:r>
            <a:r>
              <a:rPr lang="en-US" altLang="en-US" sz="2400" dirty="0">
                <a:latin typeface="楷体_GB2312" pitchFamily="49" charset="-122"/>
              </a:rPr>
              <a:t>可外接电位器作直流和交流的凋零。</a:t>
            </a:r>
            <a:endParaRPr lang="zh-CN" altLang="en-US" sz="2400" dirty="0">
              <a:latin typeface="楷体_GB2312" pitchFamily="49" charset="-122"/>
            </a:endParaRPr>
          </a:p>
          <a:p>
            <a:pPr marL="266700" indent="-266700" eaLnBrk="1" hangingPunct="1">
              <a:buClr>
                <a:srgbClr val="FF0000"/>
              </a:buClr>
              <a:buFont typeface="Wingdings" panose="05000000000000000000" pitchFamily="2" charset="2"/>
              <a:buChar char="u"/>
            </a:pPr>
            <a:r>
              <a:rPr lang="en-US" altLang="en-US" sz="2400" dirty="0">
                <a:latin typeface="楷体_GB2312" pitchFamily="49" charset="-122"/>
              </a:rPr>
              <a:t>直流凋零是补偿运算放大器的失调电压，与一般运放的调零相同。</a:t>
            </a:r>
            <a:endParaRPr lang="zh-CN" altLang="en-US" sz="2400" dirty="0">
              <a:latin typeface="楷体_GB2312" pitchFamily="49" charset="-122"/>
            </a:endParaRPr>
          </a:p>
        </p:txBody>
      </p:sp>
      <p:sp>
        <p:nvSpPr>
          <p:cNvPr id="2435076" name="Text Box 4"/>
          <p:cNvSpPr txBox="1">
            <a:spLocks noChangeArrowheads="1"/>
          </p:cNvSpPr>
          <p:nvPr/>
        </p:nvSpPr>
        <p:spPr bwMode="auto">
          <a:xfrm>
            <a:off x="1792288" y="71438"/>
            <a:ext cx="6200775" cy="585788"/>
          </a:xfrm>
          <a:prstGeom prst="rect">
            <a:avLst/>
          </a:prstGeom>
          <a:noFill/>
          <a:ln>
            <a:noFill/>
          </a:ln>
          <a:effectLst/>
        </p:spPr>
        <p:txBody>
          <a:bodyPr>
            <a:spAutoFit/>
          </a:bodyPr>
          <a:lstStyle>
            <a:lvl1pPr eaLnBrk="0" hangingPunct="0">
              <a:defRPr kumimoji="1" sz="3600" b="1">
                <a:solidFill>
                  <a:srgbClr val="333399"/>
                </a:solidFill>
                <a:latin typeface="Times New Roman" panose="02020603050405020304" pitchFamily="18" charset="0"/>
                <a:ea typeface="楷体_GB2312" pitchFamily="49" charset="-122"/>
              </a:defRPr>
            </a:lvl1pPr>
            <a:lvl2pPr marL="742950" indent="-285750" eaLnBrk="0" hangingPunct="0">
              <a:defRPr kumimoji="1" sz="3600" b="1">
                <a:solidFill>
                  <a:srgbClr val="333399"/>
                </a:solidFill>
                <a:latin typeface="Times New Roman" panose="02020603050405020304" pitchFamily="18" charset="0"/>
                <a:ea typeface="楷体_GB2312" pitchFamily="49" charset="-122"/>
              </a:defRPr>
            </a:lvl2pPr>
            <a:lvl3pPr marL="1143000" indent="-228600" eaLnBrk="0" hangingPunct="0">
              <a:defRPr kumimoji="1" sz="3600" b="1">
                <a:solidFill>
                  <a:srgbClr val="333399"/>
                </a:solidFill>
                <a:latin typeface="Times New Roman" panose="02020603050405020304" pitchFamily="18" charset="0"/>
                <a:ea typeface="楷体_GB2312" pitchFamily="49" charset="-122"/>
              </a:defRPr>
            </a:lvl3pPr>
            <a:lvl4pPr marL="1600200" indent="-228600" eaLnBrk="0" hangingPunct="0">
              <a:defRPr kumimoji="1" sz="3600" b="1">
                <a:solidFill>
                  <a:srgbClr val="333399"/>
                </a:solidFill>
                <a:latin typeface="Times New Roman" panose="02020603050405020304" pitchFamily="18" charset="0"/>
                <a:ea typeface="楷体_GB2312" pitchFamily="49" charset="-122"/>
              </a:defRPr>
            </a:lvl4pPr>
            <a:lvl5pPr marL="2057400" indent="-228600" eaLnBrk="0" hangingPunct="0">
              <a:defRPr kumimoji="1" sz="3600" b="1">
                <a:solidFill>
                  <a:srgbClr val="333399"/>
                </a:solidFill>
                <a:latin typeface="Times New Roman" panose="02020603050405020304" pitchFamily="18" charset="0"/>
                <a:ea typeface="楷体_GB2312" pitchFamily="49" charset="-122"/>
              </a:defRPr>
            </a:lvl5pPr>
            <a:lvl6pPr marL="25146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6pPr>
            <a:lvl7pPr marL="29718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7pPr>
            <a:lvl8pPr marL="34290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8pPr>
            <a:lvl9pPr marL="3886200" indent="-228600" eaLnBrk="0" fontAlgn="base" hangingPunct="0">
              <a:lnSpc>
                <a:spcPct val="90000"/>
              </a:lnSpc>
              <a:spcBef>
                <a:spcPct val="0"/>
              </a:spcBef>
              <a:spcAft>
                <a:spcPct val="0"/>
              </a:spcAft>
              <a:defRPr kumimoji="1" sz="3600" b="1">
                <a:solidFill>
                  <a:srgbClr val="333399"/>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5.5  </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采样</a:t>
            </a:r>
            <a:r>
              <a:rPr kumimoji="1" lang="en-US" altLang="zh-CN"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保持器集成芯片</a:t>
            </a:r>
            <a:endParaRPr kumimoji="1" lang="zh-CN" altLang="en-US" sz="36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pSp>
        <p:nvGrpSpPr>
          <p:cNvPr id="47108" name="Group 5"/>
          <p:cNvGrpSpPr/>
          <p:nvPr/>
        </p:nvGrpSpPr>
        <p:grpSpPr>
          <a:xfrm>
            <a:off x="2663825" y="1500188"/>
            <a:ext cx="6372225" cy="4665662"/>
            <a:chOff x="1678" y="892"/>
            <a:chExt cx="4014" cy="2939"/>
          </a:xfrm>
        </p:grpSpPr>
        <p:pic>
          <p:nvPicPr>
            <p:cNvPr id="47113" name="Picture 6"/>
            <p:cNvPicPr>
              <a:picLocks noChangeAspect="1"/>
            </p:cNvPicPr>
            <p:nvPr/>
          </p:nvPicPr>
          <p:blipFill>
            <a:blip r:embed="rId1"/>
            <a:stretch>
              <a:fillRect/>
            </a:stretch>
          </p:blipFill>
          <p:spPr>
            <a:xfrm>
              <a:off x="1678" y="935"/>
              <a:ext cx="4014" cy="2575"/>
            </a:xfrm>
            <a:prstGeom prst="rect">
              <a:avLst/>
            </a:prstGeom>
            <a:noFill/>
            <a:ln w="9525">
              <a:noFill/>
            </a:ln>
          </p:spPr>
        </p:pic>
        <p:sp>
          <p:nvSpPr>
            <p:cNvPr id="47114" name="Text Box 7"/>
            <p:cNvSpPr txBox="1"/>
            <p:nvPr/>
          </p:nvSpPr>
          <p:spPr>
            <a:xfrm>
              <a:off x="3107" y="3566"/>
              <a:ext cx="1429"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LF198</a:t>
              </a:r>
              <a:r>
                <a:rPr lang="zh-CN" altLang="en-US" sz="2400" dirty="0">
                  <a:latin typeface="Times New Roman" panose="02020603050405020304" pitchFamily="18" charset="0"/>
                </a:rPr>
                <a:t>的结构</a:t>
              </a:r>
              <a:endParaRPr lang="zh-CN" altLang="en-US" sz="2400" dirty="0">
                <a:latin typeface="Times New Roman" panose="02020603050405020304" pitchFamily="18" charset="0"/>
              </a:endParaRPr>
            </a:p>
          </p:txBody>
        </p:sp>
        <p:sp>
          <p:nvSpPr>
            <p:cNvPr id="47115" name="Rectangle 8"/>
            <p:cNvSpPr/>
            <p:nvPr/>
          </p:nvSpPr>
          <p:spPr>
            <a:xfrm>
              <a:off x="1678" y="892"/>
              <a:ext cx="4014" cy="2939"/>
            </a:xfrm>
            <a:prstGeom prst="rect">
              <a:avLst/>
            </a:prstGeom>
            <a:no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35081" name="AutoShape 9"/>
          <p:cNvSpPr/>
          <p:nvPr/>
        </p:nvSpPr>
        <p:spPr>
          <a:xfrm>
            <a:off x="5580063" y="836613"/>
            <a:ext cx="1763712" cy="468312"/>
          </a:xfrm>
          <a:prstGeom prst="wedgeRoundRectCallout">
            <a:avLst>
              <a:gd name="adj1" fmla="val -77273"/>
              <a:gd name="adj2" fmla="val 176102"/>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800" dirty="0">
                <a:solidFill>
                  <a:srgbClr val="FF0000"/>
                </a:solidFill>
                <a:latin typeface="Times New Roman" panose="02020603050405020304" pitchFamily="18" charset="0"/>
              </a:rPr>
              <a:t>直流调零</a:t>
            </a:r>
            <a:endParaRPr lang="zh-CN" altLang="en-US" sz="2800" dirty="0">
              <a:solidFill>
                <a:srgbClr val="FF0000"/>
              </a:solidFill>
              <a:latin typeface="Times New Roman" panose="02020603050405020304" pitchFamily="18" charset="0"/>
            </a:endParaRPr>
          </a:p>
        </p:txBody>
      </p:sp>
      <p:sp>
        <p:nvSpPr>
          <p:cNvPr id="2435082" name="AutoShape 10"/>
          <p:cNvSpPr/>
          <p:nvPr/>
        </p:nvSpPr>
        <p:spPr>
          <a:xfrm>
            <a:off x="2771775" y="5697538"/>
            <a:ext cx="1763713" cy="468312"/>
          </a:xfrm>
          <a:prstGeom prst="wedgeRoundRectCallout">
            <a:avLst>
              <a:gd name="adj1" fmla="val 64042"/>
              <a:gd name="adj2" fmla="val -10152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800" dirty="0">
                <a:solidFill>
                  <a:srgbClr val="FF0000"/>
                </a:solidFill>
                <a:latin typeface="Times New Roman" panose="02020603050405020304" pitchFamily="18" charset="0"/>
              </a:rPr>
              <a:t>交流调零</a:t>
            </a:r>
            <a:endParaRPr lang="zh-CN" altLang="en-US" sz="2800" dirty="0">
              <a:solidFill>
                <a:srgbClr val="FF0000"/>
              </a:solidFill>
              <a:latin typeface="Times New Roman" panose="02020603050405020304" pitchFamily="18" charset="0"/>
            </a:endParaRPr>
          </a:p>
        </p:txBody>
      </p:sp>
      <p:sp>
        <p:nvSpPr>
          <p:cNvPr id="2435083" name="Rectangle 11"/>
          <p:cNvSpPr/>
          <p:nvPr/>
        </p:nvSpPr>
        <p:spPr>
          <a:xfrm>
            <a:off x="34925" y="1557338"/>
            <a:ext cx="2700338" cy="4524375"/>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zh-CN" altLang="en-US" sz="2400" dirty="0">
                <a:latin typeface="楷体_GB2312" pitchFamily="49" charset="-122"/>
              </a:rPr>
              <a:t>交流调零方法是把模拟开关的控制电压</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K</a:t>
            </a:r>
            <a:r>
              <a:rPr lang="zh-CN" altLang="en-US" sz="2400" dirty="0">
                <a:latin typeface="楷体_GB2312" pitchFamily="49" charset="-122"/>
              </a:rPr>
              <a:t>加到一反相器上，在反相器的输入与输出间接了一个</a:t>
            </a:r>
            <a:r>
              <a:rPr lang="en-US" altLang="zh-CN" sz="2400" dirty="0">
                <a:solidFill>
                  <a:srgbClr val="FF0000"/>
                </a:solidFill>
                <a:latin typeface="Times New Roman" panose="02020603050405020304" pitchFamily="18" charset="0"/>
              </a:rPr>
              <a:t>10k</a:t>
            </a:r>
            <a:r>
              <a:rPr lang="zh-CN" altLang="en-US" sz="2400" dirty="0">
                <a:latin typeface="楷体_GB2312" pitchFamily="49" charset="-122"/>
              </a:rPr>
              <a:t>欧姆电位器，电位器的中心抽头经</a:t>
            </a:r>
            <a:r>
              <a:rPr lang="en-US" altLang="zh-CN" sz="2400" dirty="0">
                <a:solidFill>
                  <a:srgbClr val="FF0000"/>
                </a:solidFill>
                <a:latin typeface="Times New Roman" panose="02020603050405020304" pitchFamily="18" charset="0"/>
              </a:rPr>
              <a:t>10pF</a:t>
            </a:r>
            <a:r>
              <a:rPr lang="zh-CN" altLang="en-US" sz="2400" dirty="0">
                <a:latin typeface="楷体_GB2312" pitchFamily="49" charset="-122"/>
              </a:rPr>
              <a:t>小电容与保持电容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楷体_GB2312" pitchFamily="49" charset="-122"/>
              </a:rPr>
              <a:t>端连接，这是用以补偿</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o</a:t>
            </a:r>
            <a:r>
              <a:rPr lang="zh-CN" altLang="en-US" sz="2400" dirty="0">
                <a:latin typeface="楷体_GB2312" pitchFamily="49" charset="-122"/>
              </a:rPr>
              <a:t>跳变时加到</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楷体_GB2312" pitchFamily="49" charset="-122"/>
              </a:rPr>
              <a:t>上的脉冲。</a:t>
            </a:r>
            <a:endParaRPr lang="zh-CN" altLang="en-US" sz="2400" dirty="0">
              <a:latin typeface="楷体_GB2312" pitchFamily="49" charset="-122"/>
            </a:endParaRPr>
          </a:p>
        </p:txBody>
      </p:sp>
      <p:sp>
        <p:nvSpPr>
          <p:cNvPr id="47112" name="Text Box 8"/>
          <p:cNvSpPr txBox="1"/>
          <p:nvPr/>
        </p:nvSpPr>
        <p:spPr>
          <a:xfrm>
            <a:off x="395288" y="836613"/>
            <a:ext cx="4824412"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5.5.2 LF198(LF298, LF398)</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5075">
                                            <p:txEl>
                                              <p:charRg st="0" end="22"/>
                                            </p:txEl>
                                          </p:spTgt>
                                        </p:tgtEl>
                                        <p:attrNameLst>
                                          <p:attrName>style.visibility</p:attrName>
                                        </p:attrNameLst>
                                      </p:cBhvr>
                                      <p:to>
                                        <p:strVal val="visible"/>
                                      </p:to>
                                    </p:set>
                                    <p:animEffect transition="in" filter="dissolve">
                                      <p:cBhvr>
                                        <p:cTn id="7" dur="500"/>
                                        <p:tgtEl>
                                          <p:spTgt spid="2435075">
                                            <p:txEl>
                                              <p:charRg st="0" end="2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5075">
                                            <p:txEl>
                                              <p:charRg st="22" end="52"/>
                                            </p:txEl>
                                          </p:spTgt>
                                        </p:tgtEl>
                                        <p:attrNameLst>
                                          <p:attrName>style.visibility</p:attrName>
                                        </p:attrNameLst>
                                      </p:cBhvr>
                                      <p:to>
                                        <p:strVal val="visible"/>
                                      </p:to>
                                    </p:set>
                                    <p:animEffect transition="in" filter="dissolve">
                                      <p:cBhvr>
                                        <p:cTn id="12" dur="500"/>
                                        <p:tgtEl>
                                          <p:spTgt spid="2435075">
                                            <p:txEl>
                                              <p:charRg st="22" end="5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5081"/>
                                        </p:tgtEl>
                                        <p:attrNameLst>
                                          <p:attrName>style.visibility</p:attrName>
                                        </p:attrNameLst>
                                      </p:cBhvr>
                                      <p:to>
                                        <p:strVal val="visible"/>
                                      </p:to>
                                    </p:set>
                                    <p:animEffect transition="in" filter="dissolve">
                                      <p:cBhvr>
                                        <p:cTn id="17" dur="500"/>
                                        <p:tgtEl>
                                          <p:spTgt spid="2435081"/>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xit" presetSubtype="10" fill="hold" nodeType="clickEffect">
                                  <p:stCondLst>
                                    <p:cond delay="0"/>
                                  </p:stCondLst>
                                  <p:childTnLst>
                                    <p:animEffect transition="out" filter="blinds(horizontal)">
                                      <p:cBhvr>
                                        <p:cTn id="21" dur="500"/>
                                        <p:tgtEl>
                                          <p:spTgt spid="2435075">
                                            <p:txEl>
                                              <p:charRg st="0" end="22"/>
                                            </p:txEl>
                                          </p:spTgt>
                                        </p:tgtEl>
                                      </p:cBhvr>
                                    </p:animEffect>
                                    <p:set>
                                      <p:cBhvr>
                                        <p:cTn id="22" dur="1" fill="hold">
                                          <p:stCondLst>
                                            <p:cond delay="499"/>
                                          </p:stCondLst>
                                        </p:cTn>
                                        <p:tgtEl>
                                          <p:spTgt spid="2435075">
                                            <p:txEl>
                                              <p:charRg st="0" end="22"/>
                                            </p:txEl>
                                          </p:spTgt>
                                        </p:tgtEl>
                                        <p:attrNameLst>
                                          <p:attrName>style.visibility</p:attrName>
                                        </p:attrNameLst>
                                      </p:cBhvr>
                                      <p:to>
                                        <p:strVal val="hidden"/>
                                      </p:to>
                                    </p:set>
                                  </p:childTnLst>
                                </p:cTn>
                              </p:par>
                              <p:par>
                                <p:cTn id="23" presetID="3" presetClass="exit" presetSubtype="10" fill="hold" nodeType="withEffect">
                                  <p:stCondLst>
                                    <p:cond delay="0"/>
                                  </p:stCondLst>
                                  <p:childTnLst>
                                    <p:animEffect transition="out" filter="blinds(horizontal)">
                                      <p:cBhvr>
                                        <p:cTn id="24" dur="500"/>
                                        <p:tgtEl>
                                          <p:spTgt spid="2435075">
                                            <p:txEl>
                                              <p:charRg st="22" end="52"/>
                                            </p:txEl>
                                          </p:spTgt>
                                        </p:tgtEl>
                                      </p:cBhvr>
                                    </p:animEffect>
                                    <p:set>
                                      <p:cBhvr>
                                        <p:cTn id="25" dur="1" fill="hold">
                                          <p:stCondLst>
                                            <p:cond delay="499"/>
                                          </p:stCondLst>
                                        </p:cTn>
                                        <p:tgtEl>
                                          <p:spTgt spid="2435075">
                                            <p:txEl>
                                              <p:charRg st="22" end="52"/>
                                            </p:txEl>
                                          </p:spTgt>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435083"/>
                                        </p:tgtEl>
                                        <p:attrNameLst>
                                          <p:attrName>style.visibility</p:attrName>
                                        </p:attrNameLst>
                                      </p:cBhvr>
                                      <p:to>
                                        <p:strVal val="visible"/>
                                      </p:to>
                                    </p:set>
                                    <p:animEffect transition="in" filter="dissolve">
                                      <p:cBhvr>
                                        <p:cTn id="30" dur="500"/>
                                        <p:tgtEl>
                                          <p:spTgt spid="243508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35082"/>
                                        </p:tgtEl>
                                        <p:attrNameLst>
                                          <p:attrName>style.visibility</p:attrName>
                                        </p:attrNameLst>
                                      </p:cBhvr>
                                      <p:to>
                                        <p:strVal val="visible"/>
                                      </p:to>
                                    </p:set>
                                    <p:animEffect transition="in" filter="dissolve">
                                      <p:cBhvr>
                                        <p:cTn id="35" dur="500"/>
                                        <p:tgtEl>
                                          <p:spTgt spid="24350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5075" grpId="0" build="allAtOnce"/>
      <p:bldP spid="2435081" grpId="0" animBg="1"/>
      <p:bldP spid="2435082" grpId="0" animBg="1"/>
      <p:bldP spid="2435083"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1284" name="Text Box 4"/>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01285" name="Text Box 5"/>
          <p:cNvSpPr txBox="1"/>
          <p:nvPr/>
        </p:nvSpPr>
        <p:spPr>
          <a:xfrm>
            <a:off x="287338" y="765175"/>
            <a:ext cx="6948487"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5.6.1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保持器选用时应注意的问题</a:t>
            </a:r>
            <a:endParaRPr lang="zh-CN" altLang="en-US" sz="3200" dirty="0">
              <a:latin typeface="Times New Roman" panose="02020603050405020304" pitchFamily="18" charset="0"/>
            </a:endParaRPr>
          </a:p>
        </p:txBody>
      </p:sp>
      <p:sp>
        <p:nvSpPr>
          <p:cNvPr id="2401294" name="Rectangle 14"/>
          <p:cNvSpPr/>
          <p:nvPr/>
        </p:nvSpPr>
        <p:spPr>
          <a:xfrm>
            <a:off x="708025" y="1484313"/>
            <a:ext cx="8045450" cy="1077912"/>
          </a:xfrm>
          <a:prstGeom prst="rect">
            <a:avLst/>
          </a:prstGeom>
          <a:noFill/>
          <a:ln w="9525">
            <a:noFill/>
          </a:ln>
        </p:spPr>
        <p:txBody>
          <a:bodyPr>
            <a:spAutoFit/>
          </a:bodyPr>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每一次数据采集过程都包括一次采样和一次</a:t>
            </a:r>
            <a:r>
              <a:rPr lang="en-US" altLang="zh-CN" sz="2400" dirty="0">
                <a:solidFill>
                  <a:schemeClr val="tx1"/>
                </a:solidFill>
                <a:latin typeface="黑体" panose="02010609060101010101" pitchFamily="49" charset="-122"/>
                <a:ea typeface="黑体" panose="02010609060101010101" pitchFamily="49" charset="-122"/>
              </a:rPr>
              <a:t>A/D</a:t>
            </a:r>
            <a:r>
              <a:rPr lang="zh-CN" altLang="en-US" sz="2400" dirty="0">
                <a:solidFill>
                  <a:schemeClr val="tx1"/>
                </a:solidFill>
                <a:latin typeface="黑体" panose="02010609060101010101" pitchFamily="49" charset="-122"/>
                <a:ea typeface="黑体" panose="02010609060101010101" pitchFamily="49" charset="-122"/>
              </a:rPr>
              <a:t>转换，所以采样</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保持器和</a:t>
            </a:r>
            <a:r>
              <a:rPr lang="en-US" altLang="zh-CN" sz="2400" dirty="0">
                <a:solidFill>
                  <a:schemeClr val="tx1"/>
                </a:solidFill>
                <a:latin typeface="黑体" panose="02010609060101010101" pitchFamily="49" charset="-122"/>
                <a:ea typeface="黑体" panose="02010609060101010101" pitchFamily="49" charset="-122"/>
              </a:rPr>
              <a:t>A/D</a:t>
            </a:r>
            <a:r>
              <a:rPr lang="zh-CN" altLang="en-US" sz="2400" dirty="0">
                <a:solidFill>
                  <a:schemeClr val="tx1"/>
                </a:solidFill>
                <a:latin typeface="黑体" panose="02010609060101010101" pitchFamily="49" charset="-122"/>
                <a:ea typeface="黑体" panose="02010609060101010101" pitchFamily="49" charset="-122"/>
              </a:rPr>
              <a:t>转换器各完成一次动作所需时间之和应小于采样周期</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s</a:t>
            </a:r>
            <a:r>
              <a:rPr lang="zh-CN" altLang="en-US" sz="2400" dirty="0">
                <a:solidFill>
                  <a:schemeClr val="tx1"/>
                </a:solidFill>
                <a:latin typeface="黑体" panose="02010609060101010101" pitchFamily="49" charset="-122"/>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2401295" name="Object 15"/>
          <p:cNvGraphicFramePr>
            <a:graphicFrameLocks noChangeAspect="1"/>
          </p:cNvGraphicFramePr>
          <p:nvPr/>
        </p:nvGraphicFramePr>
        <p:xfrm>
          <a:off x="1657350" y="2663825"/>
          <a:ext cx="5302250" cy="814388"/>
        </p:xfrm>
        <a:graphic>
          <a:graphicData uri="http://schemas.openxmlformats.org/presentationml/2006/ole">
            <mc:AlternateContent xmlns:mc="http://schemas.openxmlformats.org/markup-compatibility/2006">
              <mc:Choice xmlns:v="urn:schemas-microsoft-com:vml" Requires="v">
                <p:oleObj spid="_x0000_s3096" name="" r:id="rId1" imgW="1536700" imgH="228600" progId="Equation.DSMT4">
                  <p:embed/>
                </p:oleObj>
              </mc:Choice>
              <mc:Fallback>
                <p:oleObj name="" r:id="rId1" imgW="1536700" imgH="228600" progId="Equation.DSMT4">
                  <p:embed/>
                  <p:pic>
                    <p:nvPicPr>
                      <p:cNvPr id="0" name="图片 3095"/>
                      <p:cNvPicPr/>
                      <p:nvPr/>
                    </p:nvPicPr>
                    <p:blipFill>
                      <a:blip r:embed="rId2"/>
                      <a:stretch>
                        <a:fillRect/>
                      </a:stretch>
                    </p:blipFill>
                    <p:spPr>
                      <a:xfrm>
                        <a:off x="1657350" y="2663825"/>
                        <a:ext cx="5302250" cy="814388"/>
                      </a:xfrm>
                      <a:prstGeom prst="rect">
                        <a:avLst/>
                      </a:prstGeom>
                      <a:solidFill>
                        <a:srgbClr val="CCFFCC"/>
                      </a:solidFill>
                      <a:ln w="38100">
                        <a:noFill/>
                        <a:miter/>
                      </a:ln>
                    </p:spPr>
                  </p:pic>
                </p:oleObj>
              </mc:Fallback>
            </mc:AlternateContent>
          </a:graphicData>
        </a:graphic>
      </p:graphicFrame>
      <p:sp>
        <p:nvSpPr>
          <p:cNvPr id="2401296" name="AutoShape 16"/>
          <p:cNvSpPr/>
          <p:nvPr/>
        </p:nvSpPr>
        <p:spPr>
          <a:xfrm>
            <a:off x="798513" y="3743325"/>
            <a:ext cx="1549400" cy="539750"/>
          </a:xfrm>
          <a:prstGeom prst="wedgeRoundRectCallout">
            <a:avLst>
              <a:gd name="adj1" fmla="val 26741"/>
              <a:gd name="adj2" fmla="val -11176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400" dirty="0">
                <a:latin typeface="Times New Roman" panose="02020603050405020304" pitchFamily="18" charset="0"/>
              </a:rPr>
              <a:t>捕捉时间</a:t>
            </a:r>
            <a:endParaRPr lang="zh-CN" altLang="en-US" sz="2400" dirty="0">
              <a:latin typeface="Times New Roman" panose="02020603050405020304" pitchFamily="18" charset="0"/>
            </a:endParaRPr>
          </a:p>
        </p:txBody>
      </p:sp>
      <p:sp>
        <p:nvSpPr>
          <p:cNvPr id="2401297" name="AutoShape 17"/>
          <p:cNvSpPr/>
          <p:nvPr/>
        </p:nvSpPr>
        <p:spPr>
          <a:xfrm>
            <a:off x="2916238" y="3752850"/>
            <a:ext cx="2195512" cy="539750"/>
          </a:xfrm>
          <a:prstGeom prst="wedgeRoundRectCallout">
            <a:avLst>
              <a:gd name="adj1" fmla="val 37"/>
              <a:gd name="adj2" fmla="val -12088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400" dirty="0">
                <a:latin typeface="Times New Roman" panose="02020603050405020304" pitchFamily="18" charset="0"/>
              </a:rPr>
              <a:t>保持建立时间</a:t>
            </a:r>
            <a:endParaRPr lang="zh-CN" altLang="en-US" sz="2400" dirty="0">
              <a:latin typeface="Times New Roman" panose="02020603050405020304" pitchFamily="18" charset="0"/>
            </a:endParaRPr>
          </a:p>
        </p:txBody>
      </p:sp>
      <p:sp>
        <p:nvSpPr>
          <p:cNvPr id="2401298" name="AutoShape 18"/>
          <p:cNvSpPr/>
          <p:nvPr/>
        </p:nvSpPr>
        <p:spPr>
          <a:xfrm>
            <a:off x="5327650" y="3752850"/>
            <a:ext cx="2197100" cy="539750"/>
          </a:xfrm>
          <a:prstGeom prst="wedgeRoundRectCallout">
            <a:avLst>
              <a:gd name="adj1" fmla="val -55130"/>
              <a:gd name="adj2" fmla="val -11206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en-US" altLang="zh-CN" sz="2400" dirty="0">
                <a:latin typeface="Times New Roman" panose="02020603050405020304" pitchFamily="18" charset="0"/>
              </a:rPr>
              <a:t>A/D</a:t>
            </a:r>
            <a:r>
              <a:rPr lang="zh-CN" altLang="en-US" sz="2400" dirty="0">
                <a:latin typeface="Times New Roman" panose="02020603050405020304" pitchFamily="18" charset="0"/>
              </a:rPr>
              <a:t>转换时间</a:t>
            </a:r>
            <a:endParaRPr lang="zh-CN" altLang="en-US" sz="2400" dirty="0">
              <a:latin typeface="Times New Roman" panose="02020603050405020304" pitchFamily="18" charset="0"/>
            </a:endParaRPr>
          </a:p>
        </p:txBody>
      </p:sp>
      <p:sp>
        <p:nvSpPr>
          <p:cNvPr id="2401299" name="Rectangle 19"/>
          <p:cNvSpPr/>
          <p:nvPr/>
        </p:nvSpPr>
        <p:spPr>
          <a:xfrm>
            <a:off x="827088" y="4689475"/>
            <a:ext cx="7669212" cy="1244600"/>
          </a:xfrm>
          <a:prstGeom prst="rect">
            <a:avLst/>
          </a:prstGeom>
          <a:solidFill>
            <a:srgbClr val="CCFFFF"/>
          </a:solidFill>
          <a:ln w="9525">
            <a:noFill/>
          </a:ln>
        </p:spPr>
        <p:txBody>
          <a:bodyPr>
            <a:spAutoFit/>
          </a:bodyPr>
          <a:p>
            <a:pPr eaLnBrk="1" hangingPunct="1">
              <a:lnSpc>
                <a:spcPct val="90000"/>
              </a:lnSpc>
            </a:pP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AC</a:t>
            </a:r>
            <a:r>
              <a:rPr lang="zh-CN" altLang="en-US" sz="2800" dirty="0">
                <a:solidFill>
                  <a:srgbClr val="3333FF"/>
                </a:solidFill>
                <a:latin typeface="Times New Roman" panose="02020603050405020304" pitchFamily="18" charset="0"/>
              </a:rPr>
              <a:t>与规定误差范围有关。因此，</a:t>
            </a: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AC</a:t>
            </a:r>
            <a:r>
              <a:rPr lang="zh-CN" altLang="en-US" sz="2800" dirty="0">
                <a:solidFill>
                  <a:srgbClr val="3333FF"/>
                </a:solidFill>
                <a:latin typeface="Times New Roman" panose="02020603050405020304" pitchFamily="18" charset="0"/>
              </a:rPr>
              <a:t>的大小应与</a:t>
            </a:r>
            <a:r>
              <a:rPr lang="en-US" altLang="zh-CN" sz="2800" dirty="0">
                <a:solidFill>
                  <a:srgbClr val="3333FF"/>
                </a:solidFill>
                <a:latin typeface="Times New Roman" panose="02020603050405020304" pitchFamily="18" charset="0"/>
              </a:rPr>
              <a:t>A/D</a:t>
            </a:r>
            <a:r>
              <a:rPr lang="zh-CN" altLang="en-US" sz="2800" dirty="0">
                <a:solidFill>
                  <a:srgbClr val="3333FF"/>
                </a:solidFill>
                <a:latin typeface="Times New Roman" panose="02020603050405020304" pitchFamily="18" charset="0"/>
              </a:rPr>
              <a:t>转换器的精度配合。同时， </a:t>
            </a: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AC</a:t>
            </a:r>
            <a:r>
              <a:rPr lang="zh-CN" altLang="en-US" sz="2800" dirty="0">
                <a:solidFill>
                  <a:srgbClr val="3333FF"/>
                </a:solidFill>
                <a:latin typeface="Times New Roman" panose="02020603050405020304" pitchFamily="18" charset="0"/>
              </a:rPr>
              <a:t>也与采样</a:t>
            </a:r>
            <a:r>
              <a:rPr lang="en-US" altLang="zh-CN" sz="2800" dirty="0">
                <a:solidFill>
                  <a:srgbClr val="3333FF"/>
                </a:solidFill>
                <a:latin typeface="Times New Roman" panose="02020603050405020304" pitchFamily="18" charset="0"/>
              </a:rPr>
              <a:t>/</a:t>
            </a:r>
            <a:r>
              <a:rPr lang="zh-CN" altLang="en-US" sz="2800" dirty="0">
                <a:solidFill>
                  <a:srgbClr val="3333FF"/>
                </a:solidFill>
                <a:latin typeface="Times New Roman" panose="02020603050405020304" pitchFamily="18" charset="0"/>
              </a:rPr>
              <a:t>保持器所选保持电容</a:t>
            </a:r>
            <a:r>
              <a:rPr lang="en-US" altLang="zh-CN" sz="2800" i="1" dirty="0">
                <a:solidFill>
                  <a:srgbClr val="FF0000"/>
                </a:solidFill>
                <a:latin typeface="Times New Roman" panose="02020603050405020304" pitchFamily="18" charset="0"/>
              </a:rPr>
              <a:t>C</a:t>
            </a:r>
            <a:r>
              <a:rPr lang="en-US" altLang="zh-CN" sz="2800" baseline="-25000" dirty="0">
                <a:solidFill>
                  <a:srgbClr val="FF0000"/>
                </a:solidFill>
                <a:latin typeface="Times New Roman" panose="02020603050405020304" pitchFamily="18" charset="0"/>
              </a:rPr>
              <a:t>H</a:t>
            </a:r>
            <a:r>
              <a:rPr lang="zh-CN" altLang="en-US" sz="2800" dirty="0">
                <a:solidFill>
                  <a:srgbClr val="3333FF"/>
                </a:solidFill>
                <a:latin typeface="Times New Roman" panose="02020603050405020304" pitchFamily="18" charset="0"/>
              </a:rPr>
              <a:t>的大小有关。</a:t>
            </a:r>
            <a:endParaRPr lang="zh-CN" altLang="en-US" sz="2800" dirty="0">
              <a:solidFill>
                <a:srgbClr val="3333FF"/>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1285"/>
                                        </p:tgtEl>
                                        <p:attrNameLst>
                                          <p:attrName>style.visibility</p:attrName>
                                        </p:attrNameLst>
                                      </p:cBhvr>
                                      <p:to>
                                        <p:strVal val="visible"/>
                                      </p:to>
                                    </p:set>
                                    <p:animEffect transition="in" filter="dissolve">
                                      <p:cBhvr>
                                        <p:cTn id="7" dur="500"/>
                                        <p:tgtEl>
                                          <p:spTgt spid="24012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1294"/>
                                        </p:tgtEl>
                                        <p:attrNameLst>
                                          <p:attrName>style.visibility</p:attrName>
                                        </p:attrNameLst>
                                      </p:cBhvr>
                                      <p:to>
                                        <p:strVal val="visible"/>
                                      </p:to>
                                    </p:set>
                                    <p:animEffect transition="in" filter="dissolve">
                                      <p:cBhvr>
                                        <p:cTn id="12" dur="500"/>
                                        <p:tgtEl>
                                          <p:spTgt spid="240129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1295"/>
                                        </p:tgtEl>
                                        <p:attrNameLst>
                                          <p:attrName>style.visibility</p:attrName>
                                        </p:attrNameLst>
                                      </p:cBhvr>
                                      <p:to>
                                        <p:strVal val="visible"/>
                                      </p:to>
                                    </p:set>
                                    <p:animEffect transition="in" filter="dissolve">
                                      <p:cBhvr>
                                        <p:cTn id="17" dur="500"/>
                                        <p:tgtEl>
                                          <p:spTgt spid="240129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1296"/>
                                        </p:tgtEl>
                                        <p:attrNameLst>
                                          <p:attrName>style.visibility</p:attrName>
                                        </p:attrNameLst>
                                      </p:cBhvr>
                                      <p:to>
                                        <p:strVal val="visible"/>
                                      </p:to>
                                    </p:set>
                                    <p:animEffect transition="in" filter="dissolve">
                                      <p:cBhvr>
                                        <p:cTn id="22" dur="500"/>
                                        <p:tgtEl>
                                          <p:spTgt spid="240129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1297"/>
                                        </p:tgtEl>
                                        <p:attrNameLst>
                                          <p:attrName>style.visibility</p:attrName>
                                        </p:attrNameLst>
                                      </p:cBhvr>
                                      <p:to>
                                        <p:strVal val="visible"/>
                                      </p:to>
                                    </p:set>
                                    <p:animEffect transition="in" filter="dissolve">
                                      <p:cBhvr>
                                        <p:cTn id="27" dur="500"/>
                                        <p:tgtEl>
                                          <p:spTgt spid="240129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01298"/>
                                        </p:tgtEl>
                                        <p:attrNameLst>
                                          <p:attrName>style.visibility</p:attrName>
                                        </p:attrNameLst>
                                      </p:cBhvr>
                                      <p:to>
                                        <p:strVal val="visible"/>
                                      </p:to>
                                    </p:set>
                                    <p:animEffect transition="in" filter="dissolve">
                                      <p:cBhvr>
                                        <p:cTn id="32" dur="500"/>
                                        <p:tgtEl>
                                          <p:spTgt spid="2401298"/>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01299"/>
                                        </p:tgtEl>
                                        <p:attrNameLst>
                                          <p:attrName>style.visibility</p:attrName>
                                        </p:attrNameLst>
                                      </p:cBhvr>
                                      <p:to>
                                        <p:strVal val="visible"/>
                                      </p:to>
                                    </p:set>
                                    <p:animEffect transition="in" filter="dissolve">
                                      <p:cBhvr>
                                        <p:cTn id="37" dur="500"/>
                                        <p:tgtEl>
                                          <p:spTgt spid="2401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1285" grpId="0" animBg="1"/>
      <p:bldP spid="2401294" grpId="0"/>
      <p:bldP spid="2401296" grpId="0" animBg="1"/>
      <p:bldP spid="2401297" grpId="0" animBg="1"/>
      <p:bldP spid="2401298" grpId="0" animBg="1"/>
      <p:bldP spid="2401299"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3331" name="Text Box 3"/>
          <p:cNvSpPr txBox="1"/>
          <p:nvPr/>
        </p:nvSpPr>
        <p:spPr>
          <a:xfrm>
            <a:off x="468313" y="1649413"/>
            <a:ext cx="8243887" cy="860425"/>
          </a:xfrm>
          <a:prstGeom prst="rect">
            <a:avLst/>
          </a:prstGeom>
          <a:noFill/>
          <a:ln w="9525">
            <a:noFill/>
          </a:ln>
        </p:spPr>
        <p:txBody>
          <a:bodyPr>
            <a:spAutoFit/>
          </a:bodyPr>
          <a:p>
            <a:pPr eaLnBrk="1" hangingPunct="1">
              <a:lnSpc>
                <a:spcPct val="90000"/>
              </a:lnSpc>
            </a:pPr>
            <a:r>
              <a:rPr lang="en-US" altLang="zh-CN" sz="2800" dirty="0">
                <a:solidFill>
                  <a:srgbClr val="FF0000"/>
                </a:solidFill>
                <a:latin typeface="Times New Roman" panose="02020603050405020304" pitchFamily="18" charset="0"/>
              </a:rPr>
              <a:t>8</a:t>
            </a:r>
            <a:r>
              <a:rPr lang="zh-CN" altLang="en-US" sz="2800" dirty="0">
                <a:solidFill>
                  <a:srgbClr val="3333FF"/>
                </a:solidFill>
                <a:latin typeface="楷体_GB2312" pitchFamily="49" charset="-122"/>
              </a:rPr>
              <a:t>位</a:t>
            </a:r>
            <a:r>
              <a:rPr lang="en-US" altLang="zh-CN" sz="2800" dirty="0">
                <a:solidFill>
                  <a:srgbClr val="3333FF"/>
                </a:solidFill>
                <a:latin typeface="Times New Roman" panose="02020603050405020304" pitchFamily="18" charset="0"/>
                <a:ea typeface="宋体" panose="02010600030101010101" pitchFamily="2" charset="-122"/>
              </a:rPr>
              <a:t>A/D</a:t>
            </a:r>
            <a:r>
              <a:rPr lang="zh-CN" altLang="en-US" sz="2800" dirty="0">
                <a:solidFill>
                  <a:srgbClr val="3333FF"/>
                </a:solidFill>
                <a:latin typeface="Times New Roman" panose="02020603050405020304" pitchFamily="18" charset="0"/>
              </a:rPr>
              <a:t>转换器的精度等于</a:t>
            </a:r>
            <a:r>
              <a:rPr lang="en-US" altLang="zh-CN" sz="2800" dirty="0">
                <a:solidFill>
                  <a:srgbClr val="FF0000"/>
                </a:solidFill>
                <a:latin typeface="Times New Roman" panose="02020603050405020304" pitchFamily="18" charset="0"/>
              </a:rPr>
              <a:t>2</a:t>
            </a:r>
            <a:r>
              <a:rPr lang="en-US" altLang="zh-CN" sz="2800" baseline="30000" dirty="0">
                <a:solidFill>
                  <a:srgbClr val="FF0000"/>
                </a:solidFill>
                <a:latin typeface="Times New Roman" panose="02020603050405020304" pitchFamily="18" charset="0"/>
              </a:rPr>
              <a:t>-8</a:t>
            </a:r>
            <a:r>
              <a:rPr lang="en-US" altLang="zh-CN" sz="2800" dirty="0">
                <a:solidFill>
                  <a:srgbClr val="FF0000"/>
                </a:solidFill>
                <a:latin typeface="Times New Roman" panose="02020603050405020304" pitchFamily="18" charset="0"/>
              </a:rPr>
              <a:t>=1/256=0.39%</a:t>
            </a:r>
            <a:r>
              <a:rPr lang="zh-CN" altLang="en-US" sz="2800" dirty="0">
                <a:solidFill>
                  <a:srgbClr val="3333FF"/>
                </a:solidFill>
                <a:latin typeface="Times New Roman" panose="02020603050405020304" pitchFamily="18" charset="0"/>
              </a:rPr>
              <a:t>，与之相配的采样</a:t>
            </a:r>
            <a:r>
              <a:rPr lang="en-US" altLang="zh-CN" sz="2800" dirty="0">
                <a:solidFill>
                  <a:srgbClr val="3333FF"/>
                </a:solidFill>
                <a:latin typeface="Times New Roman" panose="02020603050405020304" pitchFamily="18" charset="0"/>
              </a:rPr>
              <a:t>/</a:t>
            </a:r>
            <a:r>
              <a:rPr lang="zh-CN" altLang="en-US" sz="2800" dirty="0">
                <a:solidFill>
                  <a:srgbClr val="3333FF"/>
                </a:solidFill>
                <a:latin typeface="Times New Roman" panose="02020603050405020304" pitchFamily="18" charset="0"/>
              </a:rPr>
              <a:t>保持器的误差带可取为</a:t>
            </a:r>
            <a:r>
              <a:rPr lang="en-US" altLang="zh-CN" sz="2800" dirty="0">
                <a:solidFill>
                  <a:srgbClr val="FF0000"/>
                </a:solidFill>
                <a:latin typeface="Times New Roman" panose="02020603050405020304" pitchFamily="18" charset="0"/>
              </a:rPr>
              <a:t>0.2%(±0.1%)</a:t>
            </a:r>
            <a:r>
              <a:rPr lang="zh-CN" altLang="en-US" sz="2800" dirty="0">
                <a:solidFill>
                  <a:srgbClr val="3333FF"/>
                </a:solidFill>
                <a:latin typeface="Times New Roman" panose="02020603050405020304" pitchFamily="18" charset="0"/>
              </a:rPr>
              <a:t>。</a:t>
            </a:r>
            <a:endParaRPr lang="zh-CN" altLang="en-US" sz="2800" dirty="0">
              <a:solidFill>
                <a:srgbClr val="3333FF"/>
              </a:solidFill>
              <a:latin typeface="Times New Roman" panose="02020603050405020304" pitchFamily="18" charset="0"/>
            </a:endParaRPr>
          </a:p>
        </p:txBody>
      </p:sp>
      <p:sp>
        <p:nvSpPr>
          <p:cNvPr id="2403334" name="Text Box 6"/>
          <p:cNvSpPr txBox="1"/>
          <p:nvPr/>
        </p:nvSpPr>
        <p:spPr>
          <a:xfrm>
            <a:off x="647700" y="2636838"/>
            <a:ext cx="7859713" cy="519112"/>
          </a:xfrm>
          <a:prstGeom prst="rect">
            <a:avLst/>
          </a:prstGeom>
          <a:solidFill>
            <a:srgbClr val="CCFFCC"/>
          </a:solidFill>
          <a:ln w="9525">
            <a:noFill/>
          </a:ln>
        </p:spPr>
        <p:txBody>
          <a:bodyPr>
            <a:spAutoFit/>
          </a:bodyPr>
          <a:p>
            <a:pPr eaLnBrk="1" hangingPunct="1"/>
            <a:r>
              <a:rPr lang="en-US" altLang="zh-CN" sz="2800" dirty="0">
                <a:solidFill>
                  <a:schemeClr val="tx1"/>
                </a:solidFill>
                <a:latin typeface="Times New Roman" panose="02020603050405020304" pitchFamily="18" charset="0"/>
                <a:ea typeface="宋体" panose="02010600030101010101" pitchFamily="2" charset="-122"/>
              </a:rPr>
              <a:t>AD582</a:t>
            </a:r>
            <a:r>
              <a:rPr lang="zh-CN" altLang="en-US" sz="2800" dirty="0">
                <a:solidFill>
                  <a:schemeClr val="tx1"/>
                </a:solidFill>
                <a:latin typeface="Times New Roman" panose="02020603050405020304" pitchFamily="18" charset="0"/>
              </a:rPr>
              <a:t>在</a:t>
            </a:r>
            <a:r>
              <a:rPr lang="en-US" altLang="zh-CN" sz="2800" i="1" dirty="0">
                <a:solidFill>
                  <a:srgbClr val="CC00CC"/>
                </a:solidFill>
                <a:latin typeface="Times New Roman" panose="02020603050405020304" pitchFamily="18" charset="0"/>
                <a:ea typeface="宋体" panose="02010600030101010101" pitchFamily="2" charset="-122"/>
              </a:rPr>
              <a:t>C</a:t>
            </a:r>
            <a:r>
              <a:rPr lang="en-US" altLang="zh-CN" sz="2800" baseline="-25000" dirty="0">
                <a:solidFill>
                  <a:srgbClr val="CC00CC"/>
                </a:solidFill>
                <a:latin typeface="Times New Roman" panose="02020603050405020304" pitchFamily="18" charset="0"/>
                <a:ea typeface="宋体" panose="02010600030101010101" pitchFamily="2" charset="-122"/>
              </a:rPr>
              <a:t>H</a:t>
            </a:r>
            <a:r>
              <a:rPr lang="en-US" altLang="zh-CN" sz="2800" dirty="0">
                <a:solidFill>
                  <a:srgbClr val="CC00CC"/>
                </a:solidFill>
                <a:latin typeface="Times New Roman" panose="02020603050405020304" pitchFamily="18" charset="0"/>
                <a:ea typeface="宋体" panose="02010600030101010101" pitchFamily="2" charset="-122"/>
              </a:rPr>
              <a:t>=10pF</a:t>
            </a:r>
            <a:r>
              <a:rPr lang="zh-CN" altLang="en-US" sz="2800" dirty="0">
                <a:solidFill>
                  <a:schemeClr val="tx1"/>
                </a:solidFill>
                <a:latin typeface="Times New Roman" panose="02020603050405020304" pitchFamily="18" charset="0"/>
              </a:rPr>
              <a:t>时，可达到该精度，</a:t>
            </a:r>
            <a:r>
              <a:rPr lang="en-US" altLang="zh-CN" sz="2800" i="1" dirty="0">
                <a:solidFill>
                  <a:srgbClr val="CC00CC"/>
                </a:solidFill>
                <a:latin typeface="Times New Roman" panose="02020603050405020304" pitchFamily="18" charset="0"/>
                <a:ea typeface="宋体" panose="02010600030101010101" pitchFamily="2" charset="-122"/>
              </a:rPr>
              <a:t>t</a:t>
            </a:r>
            <a:r>
              <a:rPr lang="en-US" altLang="zh-CN" sz="2800" baseline="-25000" dirty="0">
                <a:solidFill>
                  <a:srgbClr val="CC00CC"/>
                </a:solidFill>
                <a:latin typeface="Times New Roman" panose="02020603050405020304" pitchFamily="18" charset="0"/>
                <a:ea typeface="宋体" panose="02010600030101010101" pitchFamily="2" charset="-122"/>
              </a:rPr>
              <a:t>AC</a:t>
            </a:r>
            <a:r>
              <a:rPr lang="en-US" altLang="zh-CN" sz="2800" dirty="0">
                <a:solidFill>
                  <a:srgbClr val="CC00CC"/>
                </a:solidFill>
                <a:latin typeface="Times New Roman" panose="02020603050405020304" pitchFamily="18" charset="0"/>
                <a:ea typeface="宋体" panose="02010600030101010101" pitchFamily="2" charset="-122"/>
              </a:rPr>
              <a:t> =6</a:t>
            </a:r>
            <a:r>
              <a:rPr lang="en-US" altLang="zh-CN" sz="2800"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CC00CC"/>
                </a:solidFill>
                <a:latin typeface="Times New Roman" panose="02020603050405020304" pitchFamily="18" charset="0"/>
                <a:ea typeface="宋体" panose="02010600030101010101" pitchFamily="2" charset="-122"/>
              </a:rPr>
              <a:t>s</a:t>
            </a:r>
            <a:r>
              <a:rPr lang="zh-CN" altLang="en-US" sz="2800" dirty="0">
                <a:solidFill>
                  <a:schemeClr val="tx1"/>
                </a:solidFill>
                <a:latin typeface="Times New Roman" panose="02020603050405020304" pitchFamily="18" charset="0"/>
                <a:ea typeface="宋体" panose="02010600030101010101" pitchFamily="2" charset="-122"/>
              </a:rPr>
              <a:t>。</a:t>
            </a:r>
            <a:endParaRPr lang="zh-CN" altLang="en-US" sz="2800" dirty="0">
              <a:solidFill>
                <a:schemeClr val="tx1"/>
              </a:solidFill>
              <a:latin typeface="Times New Roman" panose="02020603050405020304" pitchFamily="18" charset="0"/>
              <a:ea typeface="宋体" panose="02010600030101010101" pitchFamily="2" charset="-122"/>
            </a:endParaRPr>
          </a:p>
        </p:txBody>
      </p:sp>
      <p:sp>
        <p:nvSpPr>
          <p:cNvPr id="2403339" name="Text Box 11"/>
          <p:cNvSpPr txBox="1"/>
          <p:nvPr/>
        </p:nvSpPr>
        <p:spPr>
          <a:xfrm>
            <a:off x="468313" y="3665538"/>
            <a:ext cx="8424862" cy="946150"/>
          </a:xfrm>
          <a:prstGeom prst="rect">
            <a:avLst/>
          </a:prstGeom>
          <a:noFill/>
          <a:ln w="9525">
            <a:noFill/>
          </a:ln>
        </p:spPr>
        <p:txBody>
          <a:bodyPr>
            <a:spAutoFit/>
          </a:bodyPr>
          <a:p>
            <a:pPr eaLnBrk="1" hangingPunct="1"/>
            <a:r>
              <a:rPr lang="en-US" altLang="zh-CN" sz="2800" dirty="0">
                <a:solidFill>
                  <a:srgbClr val="FF0000"/>
                </a:solidFill>
                <a:latin typeface="Times New Roman" panose="02020603050405020304" pitchFamily="18" charset="0"/>
                <a:ea typeface="宋体" panose="02010600030101010101" pitchFamily="2" charset="-122"/>
              </a:rPr>
              <a:t>12</a:t>
            </a:r>
            <a:r>
              <a:rPr lang="zh-CN" altLang="en-US" sz="2800" dirty="0">
                <a:solidFill>
                  <a:srgbClr val="3333FF"/>
                </a:solidFill>
                <a:latin typeface="Times New Roman" panose="02020603050405020304" pitchFamily="18" charset="0"/>
              </a:rPr>
              <a:t>位的</a:t>
            </a:r>
            <a:r>
              <a:rPr lang="en-US" altLang="zh-CN" sz="2800" dirty="0">
                <a:solidFill>
                  <a:srgbClr val="3333FF"/>
                </a:solidFill>
                <a:latin typeface="Times New Roman" panose="02020603050405020304" pitchFamily="18" charset="0"/>
                <a:ea typeface="宋体" panose="02010600030101010101" pitchFamily="2" charset="-122"/>
              </a:rPr>
              <a:t>A/D</a:t>
            </a:r>
            <a:r>
              <a:rPr lang="zh-CN" altLang="en-US" sz="2800" dirty="0">
                <a:solidFill>
                  <a:srgbClr val="3333FF"/>
                </a:solidFill>
                <a:latin typeface="Times New Roman" panose="02020603050405020304" pitchFamily="18" charset="0"/>
              </a:rPr>
              <a:t>转换器，精度等于</a:t>
            </a:r>
            <a:r>
              <a:rPr lang="en-US" altLang="zh-CN" sz="2800" dirty="0">
                <a:solidFill>
                  <a:srgbClr val="FF0000"/>
                </a:solidFill>
                <a:latin typeface="Times New Roman" panose="02020603050405020304" pitchFamily="18" charset="0"/>
                <a:ea typeface="宋体" panose="02010600030101010101" pitchFamily="2" charset="-122"/>
              </a:rPr>
              <a:t>2</a:t>
            </a:r>
            <a:r>
              <a:rPr lang="en-US" altLang="zh-CN" sz="2800" baseline="30000" dirty="0">
                <a:solidFill>
                  <a:srgbClr val="FF0000"/>
                </a:solidFill>
                <a:latin typeface="Times New Roman" panose="02020603050405020304" pitchFamily="18" charset="0"/>
                <a:ea typeface="宋体" panose="02010600030101010101" pitchFamily="2" charset="-122"/>
              </a:rPr>
              <a:t>-12</a:t>
            </a:r>
            <a:r>
              <a:rPr lang="en-US" altLang="zh-CN" sz="2800" dirty="0">
                <a:solidFill>
                  <a:srgbClr val="FF0000"/>
                </a:solidFill>
                <a:latin typeface="Times New Roman" panose="02020603050405020304" pitchFamily="18" charset="0"/>
                <a:ea typeface="宋体" panose="02010600030101010101" pitchFamily="2" charset="-122"/>
              </a:rPr>
              <a:t>×100% = 0.024%</a:t>
            </a:r>
            <a:r>
              <a:rPr lang="en-US" altLang="zh-CN" sz="2800" dirty="0">
                <a:solidFill>
                  <a:srgbClr val="3333FF"/>
                </a:solidFill>
                <a:latin typeface="Times New Roman" panose="02020603050405020304" pitchFamily="18" charset="0"/>
                <a:ea typeface="宋体" panose="02010600030101010101" pitchFamily="2" charset="-122"/>
              </a:rPr>
              <a:t>, </a:t>
            </a:r>
            <a:r>
              <a:rPr lang="zh-CN" altLang="en-US" sz="2800" dirty="0">
                <a:solidFill>
                  <a:srgbClr val="3333FF"/>
                </a:solidFill>
                <a:latin typeface="Times New Roman" panose="02020603050405020304" pitchFamily="18" charset="0"/>
              </a:rPr>
              <a:t>则应取采样</a:t>
            </a:r>
            <a:r>
              <a:rPr lang="en-US" altLang="zh-CN" sz="2800" dirty="0">
                <a:solidFill>
                  <a:srgbClr val="3333FF"/>
                </a:solidFill>
                <a:latin typeface="Times New Roman" panose="02020603050405020304" pitchFamily="18" charset="0"/>
              </a:rPr>
              <a:t>/</a:t>
            </a:r>
            <a:r>
              <a:rPr lang="zh-CN" altLang="en-US" sz="2800" dirty="0">
                <a:solidFill>
                  <a:srgbClr val="3333FF"/>
                </a:solidFill>
                <a:latin typeface="Times New Roman" panose="02020603050405020304" pitchFamily="18" charset="0"/>
              </a:rPr>
              <a:t>保持器的误差带为</a:t>
            </a:r>
            <a:r>
              <a:rPr lang="en-US" altLang="zh-CN" sz="2800" dirty="0">
                <a:solidFill>
                  <a:srgbClr val="FF0000"/>
                </a:solidFill>
                <a:latin typeface="Times New Roman" panose="02020603050405020304" pitchFamily="18" charset="0"/>
                <a:ea typeface="宋体" panose="02010600030101010101" pitchFamily="2" charset="-122"/>
              </a:rPr>
              <a:t>0.01%(±0.005%)</a:t>
            </a:r>
            <a:r>
              <a:rPr lang="zh-CN" altLang="en-US" sz="2800" dirty="0">
                <a:solidFill>
                  <a:srgbClr val="3333FF"/>
                </a:solidFill>
                <a:latin typeface="Times New Roman" panose="02020603050405020304" pitchFamily="18" charset="0"/>
                <a:ea typeface="宋体" panose="02010600030101010101" pitchFamily="2" charset="-122"/>
              </a:rPr>
              <a:t>。</a:t>
            </a:r>
            <a:endParaRPr lang="zh-CN" altLang="en-US" sz="2800" dirty="0">
              <a:solidFill>
                <a:srgbClr val="3333FF"/>
              </a:solidFill>
              <a:latin typeface="Times New Roman" panose="02020603050405020304" pitchFamily="18" charset="0"/>
              <a:ea typeface="宋体" panose="02010600030101010101" pitchFamily="2" charset="-122"/>
            </a:endParaRPr>
          </a:p>
        </p:txBody>
      </p:sp>
      <p:sp>
        <p:nvSpPr>
          <p:cNvPr id="2403340" name="Text Box 12"/>
          <p:cNvSpPr txBox="1"/>
          <p:nvPr/>
        </p:nvSpPr>
        <p:spPr>
          <a:xfrm>
            <a:off x="468313" y="4746625"/>
            <a:ext cx="8243887" cy="519113"/>
          </a:xfrm>
          <a:prstGeom prst="rect">
            <a:avLst/>
          </a:prstGeom>
          <a:solidFill>
            <a:srgbClr val="CCFFCC"/>
          </a:solidFill>
          <a:ln w="9525">
            <a:noFill/>
          </a:ln>
        </p:spPr>
        <p:txBody>
          <a:bodyPr>
            <a:spAutoFit/>
          </a:bodyPr>
          <a:p>
            <a:pPr eaLnBrk="1" hangingPunct="1"/>
            <a:r>
              <a:rPr lang="en-US" altLang="zh-CN" sz="2800" dirty="0">
                <a:solidFill>
                  <a:srgbClr val="3333FF"/>
                </a:solidFill>
                <a:latin typeface="Times New Roman" panose="02020603050405020304" pitchFamily="18" charset="0"/>
              </a:rPr>
              <a:t>AD582</a:t>
            </a:r>
            <a:r>
              <a:rPr lang="zh-CN" altLang="en-US" sz="2800" dirty="0">
                <a:solidFill>
                  <a:srgbClr val="3333FF"/>
                </a:solidFill>
                <a:latin typeface="Times New Roman" panose="02020603050405020304" pitchFamily="18" charset="0"/>
              </a:rPr>
              <a:t>在</a:t>
            </a:r>
            <a:r>
              <a:rPr lang="en-US" altLang="zh-CN" sz="2800" i="1" dirty="0">
                <a:solidFill>
                  <a:srgbClr val="CC00CC"/>
                </a:solidFill>
                <a:latin typeface="Times New Roman" panose="02020603050405020304" pitchFamily="18" charset="0"/>
                <a:ea typeface="宋体" panose="02010600030101010101" pitchFamily="2" charset="-122"/>
              </a:rPr>
              <a:t>C</a:t>
            </a:r>
            <a:r>
              <a:rPr lang="en-US" altLang="zh-CN" sz="2800" baseline="-25000" dirty="0">
                <a:solidFill>
                  <a:srgbClr val="CC00CC"/>
                </a:solidFill>
                <a:latin typeface="Times New Roman" panose="02020603050405020304" pitchFamily="18" charset="0"/>
                <a:ea typeface="宋体" panose="02010600030101010101" pitchFamily="2" charset="-122"/>
              </a:rPr>
              <a:t>H </a:t>
            </a:r>
            <a:r>
              <a:rPr lang="en-US" altLang="zh-CN" sz="2800" dirty="0">
                <a:solidFill>
                  <a:srgbClr val="CC00CC"/>
                </a:solidFill>
                <a:latin typeface="Times New Roman" panose="02020603050405020304" pitchFamily="18" charset="0"/>
                <a:ea typeface="宋体" panose="02010600030101010101" pitchFamily="2" charset="-122"/>
              </a:rPr>
              <a:t>= 1000pF</a:t>
            </a:r>
            <a:r>
              <a:rPr lang="zh-CN" altLang="en-US" sz="2800" dirty="0">
                <a:solidFill>
                  <a:srgbClr val="3333FF"/>
                </a:solidFill>
                <a:latin typeface="Times New Roman" panose="02020603050405020304" pitchFamily="18" charset="0"/>
              </a:rPr>
              <a:t>时，可达到该精度，</a:t>
            </a:r>
            <a:r>
              <a:rPr lang="en-US" altLang="zh-CN" sz="2800" i="1" dirty="0">
                <a:solidFill>
                  <a:srgbClr val="CC00CC"/>
                </a:solidFill>
                <a:latin typeface="Times New Roman" panose="02020603050405020304" pitchFamily="18" charset="0"/>
                <a:ea typeface="宋体" panose="02010600030101010101" pitchFamily="2" charset="-122"/>
              </a:rPr>
              <a:t>t</a:t>
            </a:r>
            <a:r>
              <a:rPr lang="en-US" altLang="zh-CN" sz="2800" baseline="-25000" dirty="0">
                <a:solidFill>
                  <a:srgbClr val="CC00CC"/>
                </a:solidFill>
                <a:latin typeface="Times New Roman" panose="02020603050405020304" pitchFamily="18" charset="0"/>
                <a:ea typeface="宋体" panose="02010600030101010101" pitchFamily="2" charset="-122"/>
              </a:rPr>
              <a:t>AC</a:t>
            </a:r>
            <a:r>
              <a:rPr lang="en-US" altLang="zh-CN" sz="2800" dirty="0">
                <a:solidFill>
                  <a:srgbClr val="CC00CC"/>
                </a:solidFill>
                <a:latin typeface="Times New Roman" panose="02020603050405020304" pitchFamily="18" charset="0"/>
                <a:ea typeface="宋体" panose="02010600030101010101" pitchFamily="2" charset="-122"/>
              </a:rPr>
              <a:t>=25</a:t>
            </a:r>
            <a:r>
              <a:rPr lang="en-US" altLang="zh-CN" sz="2800" dirty="0">
                <a:solidFill>
                  <a:srgbClr val="CC00CC"/>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dirty="0">
                <a:solidFill>
                  <a:srgbClr val="CC00CC"/>
                </a:solidFill>
                <a:latin typeface="Times New Roman" panose="02020603050405020304" pitchFamily="18" charset="0"/>
                <a:ea typeface="宋体" panose="02010600030101010101" pitchFamily="2" charset="-122"/>
              </a:rPr>
              <a:t>s</a:t>
            </a:r>
            <a:r>
              <a:rPr lang="zh-CN" altLang="en-US" sz="2800" dirty="0">
                <a:solidFill>
                  <a:srgbClr val="3333FF"/>
                </a:solidFill>
                <a:latin typeface="Times New Roman" panose="02020603050405020304" pitchFamily="18" charset="0"/>
                <a:ea typeface="宋体" panose="02010600030101010101" pitchFamily="2" charset="-122"/>
              </a:rPr>
              <a:t>。</a:t>
            </a:r>
            <a:endParaRPr lang="zh-CN" altLang="en-US" sz="2800" dirty="0">
              <a:solidFill>
                <a:srgbClr val="3333FF"/>
              </a:solidFill>
              <a:latin typeface="Times New Roman" panose="02020603050405020304" pitchFamily="18" charset="0"/>
              <a:ea typeface="宋体" panose="02010600030101010101" pitchFamily="2" charset="-122"/>
            </a:endParaRPr>
          </a:p>
        </p:txBody>
      </p:sp>
      <p:sp>
        <p:nvSpPr>
          <p:cNvPr id="2403344" name="Text Box 16"/>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49159" name="Text Box 5"/>
          <p:cNvSpPr txBox="1"/>
          <p:nvPr/>
        </p:nvSpPr>
        <p:spPr>
          <a:xfrm>
            <a:off x="287338" y="765175"/>
            <a:ext cx="6948487"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5.6.1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保持器选用时应注意的问题</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3331"/>
                                        </p:tgtEl>
                                        <p:attrNameLst>
                                          <p:attrName>style.visibility</p:attrName>
                                        </p:attrNameLst>
                                      </p:cBhvr>
                                      <p:to>
                                        <p:strVal val="visible"/>
                                      </p:to>
                                    </p:set>
                                    <p:animEffect transition="in" filter="dissolve">
                                      <p:cBhvr>
                                        <p:cTn id="7" dur="500"/>
                                        <p:tgtEl>
                                          <p:spTgt spid="240333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3334"/>
                                        </p:tgtEl>
                                        <p:attrNameLst>
                                          <p:attrName>style.visibility</p:attrName>
                                        </p:attrNameLst>
                                      </p:cBhvr>
                                      <p:to>
                                        <p:strVal val="visible"/>
                                      </p:to>
                                    </p:set>
                                    <p:animEffect transition="in" filter="dissolve">
                                      <p:cBhvr>
                                        <p:cTn id="12" dur="500"/>
                                        <p:tgtEl>
                                          <p:spTgt spid="24033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3339">
                                            <p:txEl>
                                              <p:charRg st="0" end="65"/>
                                            </p:txEl>
                                          </p:spTgt>
                                        </p:tgtEl>
                                        <p:attrNameLst>
                                          <p:attrName>style.visibility</p:attrName>
                                        </p:attrNameLst>
                                      </p:cBhvr>
                                      <p:to>
                                        <p:strVal val="visible"/>
                                      </p:to>
                                    </p:set>
                                    <p:animEffect transition="in" filter="dissolve">
                                      <p:cBhvr>
                                        <p:cTn id="17" dur="500"/>
                                        <p:tgtEl>
                                          <p:spTgt spid="2403339">
                                            <p:txEl>
                                              <p:charRg st="0" end="6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3340"/>
                                        </p:tgtEl>
                                        <p:attrNameLst>
                                          <p:attrName>style.visibility</p:attrName>
                                        </p:attrNameLst>
                                      </p:cBhvr>
                                      <p:to>
                                        <p:strVal val="visible"/>
                                      </p:to>
                                    </p:set>
                                    <p:animEffect transition="in" filter="dissolve">
                                      <p:cBhvr>
                                        <p:cTn id="22" dur="500"/>
                                        <p:tgtEl>
                                          <p:spTgt spid="24033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3331" grpId="0"/>
      <p:bldP spid="2403334" grpId="0" animBg="1"/>
      <p:bldP spid="2403339" grpId="0" build="p"/>
      <p:bldP spid="2403340"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7122" name="Text Box 2"/>
          <p:cNvSpPr txBox="1"/>
          <p:nvPr/>
        </p:nvSpPr>
        <p:spPr>
          <a:xfrm>
            <a:off x="576263" y="1412875"/>
            <a:ext cx="7667625" cy="946150"/>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dirty="0">
                <a:solidFill>
                  <a:schemeClr val="tx1"/>
                </a:solidFill>
                <a:latin typeface="黑体" panose="02010609060101010101" pitchFamily="49" charset="-122"/>
                <a:ea typeface="黑体" panose="02010609060101010101" pitchFamily="49" charset="-122"/>
              </a:rPr>
              <a:t>保持电压下降率对</a:t>
            </a:r>
            <a:r>
              <a:rPr lang="en-US" altLang="zh-CN" sz="2800" dirty="0">
                <a:solidFill>
                  <a:schemeClr val="tx1"/>
                </a:solidFill>
                <a:latin typeface="黑体" panose="02010609060101010101" pitchFamily="49" charset="-122"/>
                <a:ea typeface="黑体" panose="02010609060101010101" pitchFamily="49" charset="-122"/>
              </a:rPr>
              <a:t>A/D</a:t>
            </a:r>
            <a:r>
              <a:rPr lang="zh-CN" altLang="en-US" sz="2800" dirty="0">
                <a:solidFill>
                  <a:schemeClr val="tx1"/>
                </a:solidFill>
                <a:latin typeface="黑体" panose="02010609060101010101" pitchFamily="49" charset="-122"/>
                <a:ea typeface="黑体" panose="02010609060101010101" pitchFamily="49" charset="-122"/>
              </a:rPr>
              <a:t>转换器输入端的电压稳定度的影响。</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37123" name="Text Box 3"/>
          <p:cNvSpPr txBox="1"/>
          <p:nvPr/>
        </p:nvSpPr>
        <p:spPr>
          <a:xfrm>
            <a:off x="900113" y="2528888"/>
            <a:ext cx="7596187" cy="1373187"/>
          </a:xfrm>
          <a:prstGeom prst="rect">
            <a:avLst/>
          </a:prstGeom>
          <a:noFill/>
          <a:ln w="9525">
            <a:noFill/>
          </a:ln>
        </p:spPr>
        <p:txBody>
          <a:bodyPr>
            <a:spAutoFit/>
          </a:bodyPr>
          <a:p>
            <a:pPr eaLnBrk="1" hangingPunct="1"/>
            <a:r>
              <a:rPr lang="zh-CN" altLang="en-US" sz="2800" dirty="0">
                <a:solidFill>
                  <a:srgbClr val="3333FF"/>
                </a:solidFill>
                <a:latin typeface="楷体_GB2312" pitchFamily="49" charset="-122"/>
              </a:rPr>
              <a:t>为了保证数据采集精度，应使在</a:t>
            </a:r>
            <a:r>
              <a:rPr lang="en-US" altLang="zh-CN" sz="2800" dirty="0">
                <a:solidFill>
                  <a:srgbClr val="3333FF"/>
                </a:solidFill>
                <a:latin typeface="Times New Roman" panose="02020603050405020304" pitchFamily="18" charset="0"/>
              </a:rPr>
              <a:t>A/D</a:t>
            </a:r>
            <a:r>
              <a:rPr lang="zh-CN" altLang="en-US" sz="2800" dirty="0">
                <a:solidFill>
                  <a:srgbClr val="3333FF"/>
                </a:solidFill>
                <a:latin typeface="楷体_GB2312" pitchFamily="49" charset="-122"/>
              </a:rPr>
              <a:t>转换时间</a:t>
            </a: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CONV</a:t>
            </a:r>
            <a:r>
              <a:rPr lang="zh-CN" altLang="en-US" sz="2800" dirty="0">
                <a:solidFill>
                  <a:srgbClr val="3333FF"/>
                </a:solidFill>
                <a:latin typeface="楷体_GB2312" pitchFamily="49" charset="-122"/>
              </a:rPr>
              <a:t>内，采样</a:t>
            </a:r>
            <a:r>
              <a:rPr lang="en-US" altLang="zh-CN" sz="2800" dirty="0">
                <a:solidFill>
                  <a:srgbClr val="3333FF"/>
                </a:solidFill>
                <a:latin typeface="楷体_GB2312" pitchFamily="49" charset="-122"/>
              </a:rPr>
              <a:t>/</a:t>
            </a:r>
            <a:r>
              <a:rPr lang="zh-CN" altLang="en-US" sz="2800" dirty="0">
                <a:solidFill>
                  <a:srgbClr val="3333FF"/>
                </a:solidFill>
                <a:latin typeface="楷体_GB2312" pitchFamily="49" charset="-122"/>
              </a:rPr>
              <a:t>保持器的保持电压下降不超过</a:t>
            </a:r>
            <a:r>
              <a:rPr lang="en-US" altLang="zh-CN" sz="2800" i="1" dirty="0">
                <a:solidFill>
                  <a:srgbClr val="FF0000"/>
                </a:solidFill>
                <a:latin typeface="Times New Roman" panose="02020603050405020304" pitchFamily="18" charset="0"/>
              </a:rPr>
              <a:t>LSB</a:t>
            </a:r>
            <a:r>
              <a:rPr lang="en-US" altLang="zh-CN" sz="2800" dirty="0">
                <a:solidFill>
                  <a:srgbClr val="FF0000"/>
                </a:solidFill>
                <a:latin typeface="Times New Roman" panose="02020603050405020304" pitchFamily="18" charset="0"/>
              </a:rPr>
              <a:t>/2</a:t>
            </a:r>
            <a:r>
              <a:rPr lang="zh-CN" altLang="en-US" sz="2800" dirty="0">
                <a:solidFill>
                  <a:srgbClr val="3333FF"/>
                </a:solidFill>
                <a:latin typeface="楷体_GB2312" pitchFamily="49" charset="-122"/>
              </a:rPr>
              <a:t>，即保持电压下降率为： </a:t>
            </a:r>
            <a:endParaRPr lang="zh-CN" altLang="en-US" sz="2800" dirty="0">
              <a:solidFill>
                <a:srgbClr val="3333FF"/>
              </a:solidFill>
              <a:latin typeface="楷体_GB2312" pitchFamily="49" charset="-122"/>
            </a:endParaRPr>
          </a:p>
        </p:txBody>
      </p:sp>
      <p:graphicFrame>
        <p:nvGraphicFramePr>
          <p:cNvPr id="2437124" name="Object 4"/>
          <p:cNvGraphicFramePr>
            <a:graphicFrameLocks noChangeAspect="1"/>
          </p:cNvGraphicFramePr>
          <p:nvPr/>
        </p:nvGraphicFramePr>
        <p:xfrm>
          <a:off x="2808288" y="3968750"/>
          <a:ext cx="2376487" cy="900113"/>
        </p:xfrm>
        <a:graphic>
          <a:graphicData uri="http://schemas.openxmlformats.org/presentationml/2006/ole">
            <mc:AlternateContent xmlns:mc="http://schemas.openxmlformats.org/markup-compatibility/2006">
              <mc:Choice xmlns:v="urn:schemas-microsoft-com:vml" Requires="v">
                <p:oleObj spid="_x0000_s3097" name="" r:id="rId1" imgW="888365" imgH="431800" progId="Equation.3">
                  <p:embed/>
                </p:oleObj>
              </mc:Choice>
              <mc:Fallback>
                <p:oleObj name="" r:id="rId1" imgW="888365" imgH="431800" progId="Equation.3">
                  <p:embed/>
                  <p:pic>
                    <p:nvPicPr>
                      <p:cNvPr id="0" name="图片 3096"/>
                      <p:cNvPicPr/>
                      <p:nvPr/>
                    </p:nvPicPr>
                    <p:blipFill>
                      <a:blip r:embed="rId2"/>
                      <a:stretch>
                        <a:fillRect/>
                      </a:stretch>
                    </p:blipFill>
                    <p:spPr>
                      <a:xfrm>
                        <a:off x="2808288" y="3968750"/>
                        <a:ext cx="2376487" cy="900113"/>
                      </a:xfrm>
                      <a:prstGeom prst="rect">
                        <a:avLst/>
                      </a:prstGeom>
                      <a:solidFill>
                        <a:srgbClr val="CCFFFF"/>
                      </a:solidFill>
                      <a:ln w="38100">
                        <a:noFill/>
                        <a:miter/>
                      </a:ln>
                    </p:spPr>
                  </p:pic>
                </p:oleObj>
              </mc:Fallback>
            </mc:AlternateContent>
          </a:graphicData>
        </a:graphic>
      </p:graphicFrame>
      <p:sp>
        <p:nvSpPr>
          <p:cNvPr id="2437125" name="Text Box 5"/>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37127" name="Rectangle 7"/>
          <p:cNvSpPr/>
          <p:nvPr/>
        </p:nvSpPr>
        <p:spPr>
          <a:xfrm>
            <a:off x="3059113" y="5013325"/>
            <a:ext cx="3617912" cy="960438"/>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2437128" name="Object 8"/>
          <p:cNvGraphicFramePr>
            <a:graphicFrameLocks noChangeAspect="1"/>
          </p:cNvGraphicFramePr>
          <p:nvPr/>
        </p:nvGraphicFramePr>
        <p:xfrm>
          <a:off x="3195638" y="5013325"/>
          <a:ext cx="3384550" cy="960438"/>
        </p:xfrm>
        <a:graphic>
          <a:graphicData uri="http://schemas.openxmlformats.org/presentationml/2006/ole">
            <mc:AlternateContent xmlns:mc="http://schemas.openxmlformats.org/markup-compatibility/2006">
              <mc:Choice xmlns:v="urn:schemas-microsoft-com:vml" Requires="v">
                <p:oleObj spid="_x0000_s3098" name="" r:id="rId3" imgW="1307465" imgH="431800" progId="Equation.3">
                  <p:embed/>
                </p:oleObj>
              </mc:Choice>
              <mc:Fallback>
                <p:oleObj name="" r:id="rId3" imgW="1307465" imgH="431800" progId="Equation.3">
                  <p:embed/>
                  <p:pic>
                    <p:nvPicPr>
                      <p:cNvPr id="0" name="图片 3097"/>
                      <p:cNvPicPr/>
                      <p:nvPr/>
                    </p:nvPicPr>
                    <p:blipFill>
                      <a:blip r:embed="rId4"/>
                      <a:stretch>
                        <a:fillRect/>
                      </a:stretch>
                    </p:blipFill>
                    <p:spPr>
                      <a:xfrm>
                        <a:off x="3195638" y="5013325"/>
                        <a:ext cx="3384550" cy="960438"/>
                      </a:xfrm>
                      <a:prstGeom prst="rect">
                        <a:avLst/>
                      </a:prstGeom>
                      <a:solidFill>
                        <a:srgbClr val="FFFF99"/>
                      </a:solidFill>
                      <a:ln w="38100">
                        <a:noFill/>
                        <a:miter/>
                      </a:ln>
                    </p:spPr>
                  </p:pic>
                </p:oleObj>
              </mc:Fallback>
            </mc:AlternateContent>
          </a:graphicData>
        </a:graphic>
      </p:graphicFrame>
      <p:sp>
        <p:nvSpPr>
          <p:cNvPr id="2437129" name="Rectangle 9"/>
          <p:cNvSpPr/>
          <p:nvPr/>
        </p:nvSpPr>
        <p:spPr>
          <a:xfrm>
            <a:off x="287338" y="5053013"/>
            <a:ext cx="2771775" cy="860425"/>
          </a:xfrm>
          <a:prstGeom prst="rect">
            <a:avLst/>
          </a:prstGeom>
          <a:noFill/>
          <a:ln w="9525">
            <a:noFill/>
          </a:ln>
        </p:spPr>
        <p:txBody>
          <a:bodyPr>
            <a:spAutoFit/>
          </a:bodyPr>
          <a:p>
            <a:pPr eaLnBrk="1" hangingPunct="1">
              <a:lnSpc>
                <a:spcPct val="90000"/>
              </a:lnSpc>
            </a:pPr>
            <a:r>
              <a:rPr lang="zh-CN" altLang="en-US" sz="2800" dirty="0">
                <a:solidFill>
                  <a:srgbClr val="3333FF"/>
                </a:solidFill>
                <a:latin typeface="楷体_GB2312" pitchFamily="49" charset="-122"/>
              </a:rPr>
              <a:t>然后根据如下公式校核</a:t>
            </a:r>
            <a:r>
              <a:rPr lang="en-US" altLang="zh-CN" sz="2800" i="1" dirty="0">
                <a:solidFill>
                  <a:srgbClr val="FF0000"/>
                </a:solidFill>
                <a:latin typeface="Times New Roman" panose="02020603050405020304" pitchFamily="18" charset="0"/>
              </a:rPr>
              <a:t>C</a:t>
            </a:r>
            <a:r>
              <a:rPr lang="en-US" altLang="zh-CN" sz="2800" baseline="-25000" dirty="0">
                <a:solidFill>
                  <a:srgbClr val="FF0000"/>
                </a:solidFill>
                <a:latin typeface="Times New Roman" panose="02020603050405020304" pitchFamily="18" charset="0"/>
              </a:rPr>
              <a:t>H</a:t>
            </a:r>
            <a:r>
              <a:rPr lang="zh-CN" altLang="en-US" sz="2800" dirty="0">
                <a:solidFill>
                  <a:srgbClr val="3333FF"/>
                </a:solidFill>
                <a:latin typeface="楷体_GB2312" pitchFamily="49" charset="-122"/>
              </a:rPr>
              <a:t>的值：</a:t>
            </a:r>
            <a:endParaRPr lang="zh-CN" altLang="en-US" sz="2800" dirty="0">
              <a:solidFill>
                <a:srgbClr val="3333FF"/>
              </a:solidFill>
              <a:latin typeface="楷体_GB2312" pitchFamily="49" charset="-122"/>
            </a:endParaRPr>
          </a:p>
        </p:txBody>
      </p:sp>
      <p:sp>
        <p:nvSpPr>
          <p:cNvPr id="2437130" name="AutoShape 10"/>
          <p:cNvSpPr/>
          <p:nvPr/>
        </p:nvSpPr>
        <p:spPr>
          <a:xfrm>
            <a:off x="6996113" y="5013325"/>
            <a:ext cx="1897062" cy="827088"/>
          </a:xfrm>
          <a:prstGeom prst="wedgeRoundRectCallout">
            <a:avLst>
              <a:gd name="adj1" fmla="val -77532"/>
              <a:gd name="adj2" fmla="val -2101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37131" name="Rectangle 11"/>
          <p:cNvSpPr/>
          <p:nvPr/>
        </p:nvSpPr>
        <p:spPr>
          <a:xfrm>
            <a:off x="6996113" y="5046663"/>
            <a:ext cx="1897062" cy="749300"/>
          </a:xfrm>
          <a:prstGeom prst="rect">
            <a:avLst/>
          </a:prstGeom>
          <a:noFill/>
          <a:ln w="9525">
            <a:noFill/>
          </a:ln>
        </p:spPr>
        <p:txBody>
          <a:bodyPr>
            <a:spAutoFit/>
          </a:bodyPr>
          <a:p>
            <a:pPr eaLnBrk="1" hangingPunct="1">
              <a:lnSpc>
                <a:spcPct val="90000"/>
              </a:lnSpc>
            </a:pPr>
            <a:r>
              <a:rPr lang="zh-CN" altLang="en-US" sz="2400" dirty="0">
                <a:latin typeface="Times New Roman" panose="02020603050405020304" pitchFamily="18" charset="0"/>
              </a:rPr>
              <a:t>保持电容</a:t>
            </a:r>
            <a:r>
              <a:rPr lang="en-US" altLang="zh-CN" sz="2400" i="1" dirty="0">
                <a:solidFill>
                  <a:srgbClr val="FF0000"/>
                </a:solidFill>
                <a:latin typeface="Times New Roman" panose="02020603050405020304" pitchFamily="18" charset="0"/>
              </a:rPr>
              <a:t>C</a:t>
            </a:r>
            <a:r>
              <a:rPr lang="en-US" altLang="zh-CN" sz="2400" baseline="-25000" dirty="0">
                <a:solidFill>
                  <a:srgbClr val="FF0000"/>
                </a:solidFill>
                <a:latin typeface="Times New Roman" panose="02020603050405020304" pitchFamily="18" charset="0"/>
              </a:rPr>
              <a:t>H</a:t>
            </a:r>
            <a:r>
              <a:rPr lang="zh-CN" altLang="en-US" sz="2400" dirty="0">
                <a:latin typeface="Times New Roman" panose="02020603050405020304" pitchFamily="18" charset="0"/>
              </a:rPr>
              <a:t>的漏电流</a:t>
            </a:r>
            <a:endParaRPr lang="zh-CN" altLang="en-US" sz="2400" dirty="0">
              <a:latin typeface="Times New Roman" panose="02020603050405020304" pitchFamily="18" charset="0"/>
            </a:endParaRPr>
          </a:p>
        </p:txBody>
      </p:sp>
      <p:sp>
        <p:nvSpPr>
          <p:cNvPr id="2437132" name="AutoShape 12"/>
          <p:cNvSpPr/>
          <p:nvPr/>
        </p:nvSpPr>
        <p:spPr>
          <a:xfrm>
            <a:off x="6346825" y="3868738"/>
            <a:ext cx="1897063" cy="827087"/>
          </a:xfrm>
          <a:prstGeom prst="wedgeRoundRectCallout">
            <a:avLst>
              <a:gd name="adj1" fmla="val -99625"/>
              <a:gd name="adj2" fmla="val 1698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37133" name="Rectangle 13"/>
          <p:cNvSpPr/>
          <p:nvPr/>
        </p:nvSpPr>
        <p:spPr>
          <a:xfrm>
            <a:off x="6337300" y="3902075"/>
            <a:ext cx="2005013" cy="749300"/>
          </a:xfrm>
          <a:prstGeom prst="rect">
            <a:avLst/>
          </a:prstGeom>
          <a:noFill/>
          <a:ln w="9525">
            <a:noFill/>
          </a:ln>
        </p:spPr>
        <p:txBody>
          <a:bodyPr>
            <a:spAutoFit/>
          </a:bodyPr>
          <a:p>
            <a:pPr eaLnBrk="1" hangingPunct="1">
              <a:lnSpc>
                <a:spcPct val="90000"/>
              </a:lnSpc>
            </a:pPr>
            <a:r>
              <a:rPr lang="zh-CN" altLang="en-US" sz="2400" dirty="0">
                <a:latin typeface="Times New Roman" panose="02020603050405020304" pitchFamily="18" charset="0"/>
              </a:rPr>
              <a:t>根据</a:t>
            </a:r>
            <a:r>
              <a:rPr lang="en-US" altLang="zh-CN" sz="2400" i="1" dirty="0">
                <a:solidFill>
                  <a:srgbClr val="FF0000"/>
                </a:solidFill>
                <a:latin typeface="Times New Roman" panose="02020603050405020304" pitchFamily="18" charset="0"/>
              </a:rPr>
              <a:t>LSB</a:t>
            </a:r>
            <a:r>
              <a:rPr lang="zh-CN" altLang="en-US" sz="2400" dirty="0">
                <a:latin typeface="Times New Roman" panose="02020603050405020304" pitchFamily="18" charset="0"/>
              </a:rPr>
              <a:t>可以定出</a:t>
            </a:r>
            <a:r>
              <a:rPr lang="en-US" altLang="zh-CN" sz="2400" dirty="0">
                <a:solidFill>
                  <a:srgbClr val="FF0000"/>
                </a:solidFill>
                <a:latin typeface="Times New Roman" panose="02020603050405020304" pitchFamily="18" charset="0"/>
              </a:rPr>
              <a:t>d</a:t>
            </a:r>
            <a:r>
              <a:rPr lang="en-US" altLang="zh-CN" sz="2400" i="1" dirty="0">
                <a:solidFill>
                  <a:srgbClr val="FF0000"/>
                </a:solidFill>
                <a:latin typeface="Times New Roman" panose="02020603050405020304" pitchFamily="18" charset="0"/>
              </a:rPr>
              <a:t>U</a:t>
            </a:r>
            <a:r>
              <a:rPr lang="en-US" altLang="zh-CN" sz="2400" dirty="0">
                <a:solidFill>
                  <a:srgbClr val="FF0000"/>
                </a:solidFill>
                <a:latin typeface="Times New Roman" panose="02020603050405020304" pitchFamily="18" charset="0"/>
              </a:rPr>
              <a:t>/d</a:t>
            </a:r>
            <a:r>
              <a:rPr lang="en-US" altLang="zh-CN" sz="2400" i="1" dirty="0">
                <a:solidFill>
                  <a:srgbClr val="FF0000"/>
                </a:solidFill>
                <a:latin typeface="Times New Roman" panose="02020603050405020304" pitchFamily="18" charset="0"/>
              </a:rPr>
              <a:t>t</a:t>
            </a:r>
            <a:endParaRPr lang="en-US" altLang="zh-CN" sz="2400" i="1" dirty="0">
              <a:solidFill>
                <a:srgbClr val="FF0000"/>
              </a:solidFill>
              <a:latin typeface="Times New Roman" panose="02020603050405020304" pitchFamily="18" charset="0"/>
            </a:endParaRPr>
          </a:p>
        </p:txBody>
      </p:sp>
      <p:sp>
        <p:nvSpPr>
          <p:cNvPr id="2401285" name="Text Box 5"/>
          <p:cNvSpPr txBox="1"/>
          <p:nvPr/>
        </p:nvSpPr>
        <p:spPr>
          <a:xfrm>
            <a:off x="287338" y="765175"/>
            <a:ext cx="6948487"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5.6.1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保持器选用时应注意的问题</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1285"/>
                                        </p:tgtEl>
                                        <p:attrNameLst>
                                          <p:attrName>style.visibility</p:attrName>
                                        </p:attrNameLst>
                                      </p:cBhvr>
                                      <p:to>
                                        <p:strVal val="visible"/>
                                      </p:to>
                                    </p:set>
                                    <p:animEffect transition="in" filter="dissolve">
                                      <p:cBhvr>
                                        <p:cTn id="7" dur="500"/>
                                        <p:tgtEl>
                                          <p:spTgt spid="24012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7122"/>
                                        </p:tgtEl>
                                        <p:attrNameLst>
                                          <p:attrName>style.visibility</p:attrName>
                                        </p:attrNameLst>
                                      </p:cBhvr>
                                      <p:to>
                                        <p:strVal val="visible"/>
                                      </p:to>
                                    </p:set>
                                    <p:animEffect transition="in" filter="dissolve">
                                      <p:cBhvr>
                                        <p:cTn id="12" dur="500"/>
                                        <p:tgtEl>
                                          <p:spTgt spid="24371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7123"/>
                                        </p:tgtEl>
                                        <p:attrNameLst>
                                          <p:attrName>style.visibility</p:attrName>
                                        </p:attrNameLst>
                                      </p:cBhvr>
                                      <p:to>
                                        <p:strVal val="visible"/>
                                      </p:to>
                                    </p:set>
                                    <p:animEffect transition="in" filter="dissolve">
                                      <p:cBhvr>
                                        <p:cTn id="17" dur="500"/>
                                        <p:tgtEl>
                                          <p:spTgt spid="243712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37124"/>
                                        </p:tgtEl>
                                        <p:attrNameLst>
                                          <p:attrName>style.visibility</p:attrName>
                                        </p:attrNameLst>
                                      </p:cBhvr>
                                      <p:to>
                                        <p:strVal val="visible"/>
                                      </p:to>
                                    </p:set>
                                    <p:animEffect transition="in" filter="dissolve">
                                      <p:cBhvr>
                                        <p:cTn id="22" dur="500"/>
                                        <p:tgtEl>
                                          <p:spTgt spid="243712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37133"/>
                                        </p:tgtEl>
                                        <p:attrNameLst>
                                          <p:attrName>style.visibility</p:attrName>
                                        </p:attrNameLst>
                                      </p:cBhvr>
                                      <p:to>
                                        <p:strVal val="visible"/>
                                      </p:to>
                                    </p:set>
                                    <p:animEffect transition="in" filter="dissolve">
                                      <p:cBhvr>
                                        <p:cTn id="27" dur="500"/>
                                        <p:tgtEl>
                                          <p:spTgt spid="2437133"/>
                                        </p:tgtEl>
                                      </p:cBhvr>
                                    </p:animEffect>
                                  </p:childTnLst>
                                </p:cTn>
                              </p:par>
                              <p:par>
                                <p:cTn id="28" presetID="9" presetClass="entr" presetSubtype="0" fill="hold" nodeType="withEffect">
                                  <p:stCondLst>
                                    <p:cond delay="0"/>
                                  </p:stCondLst>
                                  <p:childTnLst>
                                    <p:set>
                                      <p:cBhvr>
                                        <p:cTn id="29" dur="1" fill="hold">
                                          <p:stCondLst>
                                            <p:cond delay="0"/>
                                          </p:stCondLst>
                                        </p:cTn>
                                        <p:tgtEl>
                                          <p:spTgt spid="2437132"/>
                                        </p:tgtEl>
                                        <p:attrNameLst>
                                          <p:attrName>style.visibility</p:attrName>
                                        </p:attrNameLst>
                                      </p:cBhvr>
                                      <p:to>
                                        <p:strVal val="visible"/>
                                      </p:to>
                                    </p:set>
                                    <p:animEffect transition="in" filter="dissolve">
                                      <p:cBhvr>
                                        <p:cTn id="30" dur="500"/>
                                        <p:tgtEl>
                                          <p:spTgt spid="2437132"/>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437129"/>
                                        </p:tgtEl>
                                        <p:attrNameLst>
                                          <p:attrName>style.visibility</p:attrName>
                                        </p:attrNameLst>
                                      </p:cBhvr>
                                      <p:to>
                                        <p:strVal val="visible"/>
                                      </p:to>
                                    </p:set>
                                    <p:animEffect transition="in" filter="dissolve">
                                      <p:cBhvr>
                                        <p:cTn id="35" dur="500"/>
                                        <p:tgtEl>
                                          <p:spTgt spid="2437129"/>
                                        </p:tgtEl>
                                      </p:cBhvr>
                                    </p:animEffect>
                                  </p:childTnLst>
                                </p:cTn>
                              </p:par>
                              <p:par>
                                <p:cTn id="36" presetID="9" presetClass="entr" presetSubtype="0" fill="hold" nodeType="withEffect">
                                  <p:stCondLst>
                                    <p:cond delay="0"/>
                                  </p:stCondLst>
                                  <p:childTnLst>
                                    <p:set>
                                      <p:cBhvr>
                                        <p:cTn id="37" dur="1" fill="hold">
                                          <p:stCondLst>
                                            <p:cond delay="0"/>
                                          </p:stCondLst>
                                        </p:cTn>
                                        <p:tgtEl>
                                          <p:spTgt spid="2437128"/>
                                        </p:tgtEl>
                                        <p:attrNameLst>
                                          <p:attrName>style.visibility</p:attrName>
                                        </p:attrNameLst>
                                      </p:cBhvr>
                                      <p:to>
                                        <p:strVal val="visible"/>
                                      </p:to>
                                    </p:set>
                                    <p:animEffect transition="in" filter="dissolve">
                                      <p:cBhvr>
                                        <p:cTn id="38" dur="500"/>
                                        <p:tgtEl>
                                          <p:spTgt spid="2437128"/>
                                        </p:tgtEl>
                                      </p:cBhvr>
                                    </p:animEffect>
                                  </p:childTnLst>
                                </p:cTn>
                              </p:par>
                              <p:par>
                                <p:cTn id="39" presetID="9" presetClass="entr" presetSubtype="0" fill="hold" nodeType="withEffect">
                                  <p:stCondLst>
                                    <p:cond delay="0"/>
                                  </p:stCondLst>
                                  <p:childTnLst>
                                    <p:set>
                                      <p:cBhvr>
                                        <p:cTn id="40" dur="1" fill="hold">
                                          <p:stCondLst>
                                            <p:cond delay="0"/>
                                          </p:stCondLst>
                                        </p:cTn>
                                        <p:tgtEl>
                                          <p:spTgt spid="2437131"/>
                                        </p:tgtEl>
                                        <p:attrNameLst>
                                          <p:attrName>style.visibility</p:attrName>
                                        </p:attrNameLst>
                                      </p:cBhvr>
                                      <p:to>
                                        <p:strVal val="visible"/>
                                      </p:to>
                                    </p:set>
                                    <p:animEffect transition="in" filter="dissolve">
                                      <p:cBhvr>
                                        <p:cTn id="41" dur="500"/>
                                        <p:tgtEl>
                                          <p:spTgt spid="2437131"/>
                                        </p:tgtEl>
                                      </p:cBhvr>
                                    </p:animEffect>
                                  </p:childTnLst>
                                </p:cTn>
                              </p:par>
                              <p:par>
                                <p:cTn id="42" presetID="9" presetClass="entr" presetSubtype="0" fill="hold" nodeType="withEffect">
                                  <p:stCondLst>
                                    <p:cond delay="0"/>
                                  </p:stCondLst>
                                  <p:childTnLst>
                                    <p:set>
                                      <p:cBhvr>
                                        <p:cTn id="43" dur="1" fill="hold">
                                          <p:stCondLst>
                                            <p:cond delay="0"/>
                                          </p:stCondLst>
                                        </p:cTn>
                                        <p:tgtEl>
                                          <p:spTgt spid="2437130"/>
                                        </p:tgtEl>
                                        <p:attrNameLst>
                                          <p:attrName>style.visibility</p:attrName>
                                        </p:attrNameLst>
                                      </p:cBhvr>
                                      <p:to>
                                        <p:strVal val="visible"/>
                                      </p:to>
                                    </p:set>
                                    <p:animEffect transition="in" filter="dissolve">
                                      <p:cBhvr>
                                        <p:cTn id="44" dur="500"/>
                                        <p:tgtEl>
                                          <p:spTgt spid="2437130"/>
                                        </p:tgtEl>
                                      </p:cBhvr>
                                    </p:animEffect>
                                  </p:childTnLst>
                                </p:cTn>
                              </p:par>
                              <p:par>
                                <p:cTn id="45" presetID="9" presetClass="entr" presetSubtype="0" fill="hold" nodeType="withEffect">
                                  <p:stCondLst>
                                    <p:cond delay="0"/>
                                  </p:stCondLst>
                                  <p:childTnLst>
                                    <p:set>
                                      <p:cBhvr>
                                        <p:cTn id="46" dur="1" fill="hold">
                                          <p:stCondLst>
                                            <p:cond delay="0"/>
                                          </p:stCondLst>
                                        </p:cTn>
                                        <p:tgtEl>
                                          <p:spTgt spid="2437127"/>
                                        </p:tgtEl>
                                        <p:attrNameLst>
                                          <p:attrName>style.visibility</p:attrName>
                                        </p:attrNameLst>
                                      </p:cBhvr>
                                      <p:to>
                                        <p:strVal val="visible"/>
                                      </p:to>
                                    </p:set>
                                    <p:animEffect transition="in" filter="dissolve">
                                      <p:cBhvr>
                                        <p:cTn id="47" dur="500"/>
                                        <p:tgtEl>
                                          <p:spTgt spid="2437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22" grpId="0"/>
      <p:bldP spid="2437123" grpId="0"/>
      <p:bldP spid="2437127" grpId="0" animBg="1"/>
      <p:bldP spid="2437129" grpId="0"/>
      <p:bldP spid="2437130" grpId="0" animBg="1"/>
      <p:bldP spid="2437131" grpId="0"/>
      <p:bldP spid="2437132" grpId="0" animBg="1"/>
      <p:bldP spid="2437133" grpId="0"/>
      <p:bldP spid="2401285"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4355" name="Text Box 3"/>
          <p:cNvSpPr txBox="1"/>
          <p:nvPr/>
        </p:nvSpPr>
        <p:spPr>
          <a:xfrm>
            <a:off x="576263" y="1412875"/>
            <a:ext cx="7667625" cy="519113"/>
          </a:xfrm>
          <a:prstGeom prst="rect">
            <a:avLst/>
          </a:prstGeom>
          <a:noFill/>
          <a:ln w="9525">
            <a:noFill/>
          </a:ln>
        </p:spPr>
        <p:txBody>
          <a:bodyPr>
            <a:spAutoFit/>
          </a:bodyPr>
          <a:p>
            <a:pPr marL="542925" indent="-542925" eaLnBrk="1" hangingPunct="1">
              <a:buClr>
                <a:srgbClr val="FF0000"/>
              </a:buClr>
              <a:buFont typeface="Wingdings" panose="05000000000000000000" pitchFamily="2" charset="2"/>
              <a:buChar char="u"/>
            </a:pPr>
            <a:r>
              <a:rPr lang="zh-CN" altLang="en-US" sz="2800" dirty="0">
                <a:solidFill>
                  <a:schemeClr val="tx1"/>
                </a:solidFill>
                <a:latin typeface="黑体" panose="02010609060101010101" pitchFamily="49" charset="-122"/>
                <a:ea typeface="黑体" panose="02010609060101010101" pitchFamily="49" charset="-122"/>
              </a:rPr>
              <a:t>孔径时间与精度、信号的最大变化率的关系。</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04361" name="Text Box 9"/>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04369" name="Text Box 17"/>
          <p:cNvSpPr txBox="1"/>
          <p:nvPr/>
        </p:nvSpPr>
        <p:spPr>
          <a:xfrm>
            <a:off x="633413" y="2159000"/>
            <a:ext cx="7778750" cy="946150"/>
          </a:xfrm>
          <a:prstGeom prst="rect">
            <a:avLst/>
          </a:prstGeom>
          <a:noFill/>
          <a:ln w="9525">
            <a:noFill/>
          </a:ln>
        </p:spPr>
        <p:txBody>
          <a:bodyPr>
            <a:spAutoFit/>
          </a:bodyPr>
          <a:p>
            <a:pPr eaLnBrk="1" hangingPunct="1"/>
            <a:r>
              <a:rPr lang="zh-CN" altLang="en-US" sz="2800" dirty="0">
                <a:solidFill>
                  <a:srgbClr val="3333FF"/>
                </a:solidFill>
                <a:latin typeface="楷体_GB2312" pitchFamily="49" charset="-122"/>
              </a:rPr>
              <a:t>设输入信号的最大变化率为</a:t>
            </a:r>
            <a:r>
              <a:rPr lang="en-US" altLang="zh-CN" sz="2800" dirty="0">
                <a:solidFill>
                  <a:srgbClr val="FF0000"/>
                </a:solidFill>
                <a:latin typeface="Times New Roman" panose="02020603050405020304" pitchFamily="18" charset="0"/>
              </a:rPr>
              <a:t>(d</a:t>
            </a:r>
            <a:r>
              <a:rPr lang="en-US" altLang="zh-CN" sz="2800" i="1" dirty="0">
                <a:solidFill>
                  <a:srgbClr val="FF0000"/>
                </a:solidFill>
                <a:latin typeface="Times New Roman" panose="02020603050405020304" pitchFamily="18" charset="0"/>
              </a:rPr>
              <a:t>U</a:t>
            </a:r>
            <a:r>
              <a:rPr lang="en-US" altLang="zh-CN" sz="2800" i="1" baseline="-25000" dirty="0">
                <a:solidFill>
                  <a:srgbClr val="FF0000"/>
                </a:solidFill>
                <a:latin typeface="Times New Roman" panose="02020603050405020304" pitchFamily="18" charset="0"/>
              </a:rPr>
              <a:t>i</a:t>
            </a:r>
            <a:r>
              <a:rPr lang="en-US" altLang="zh-CN" sz="2800" dirty="0">
                <a:solidFill>
                  <a:srgbClr val="FF0000"/>
                </a:solidFill>
                <a:latin typeface="Times New Roman" panose="02020603050405020304" pitchFamily="18" charset="0"/>
              </a:rPr>
              <a:t>/d</a:t>
            </a:r>
            <a:r>
              <a:rPr lang="en-US" altLang="zh-CN" sz="2800" i="1" dirty="0">
                <a:solidFill>
                  <a:srgbClr val="FF0000"/>
                </a:solidFill>
                <a:latin typeface="Times New Roman" panose="02020603050405020304" pitchFamily="18" charset="0"/>
              </a:rPr>
              <a:t>t</a:t>
            </a:r>
            <a:r>
              <a:rPr lang="en-US" altLang="zh-CN" sz="2800" dirty="0">
                <a:solidFill>
                  <a:srgbClr val="FF0000"/>
                </a:solidFill>
                <a:latin typeface="Times New Roman" panose="02020603050405020304" pitchFamily="18" charset="0"/>
              </a:rPr>
              <a:t>)</a:t>
            </a:r>
            <a:r>
              <a:rPr lang="en-US" altLang="zh-CN" sz="2800" baseline="-25000" dirty="0">
                <a:solidFill>
                  <a:srgbClr val="FF0000"/>
                </a:solidFill>
                <a:latin typeface="Times New Roman" panose="02020603050405020304" pitchFamily="18" charset="0"/>
              </a:rPr>
              <a:t>max</a:t>
            </a:r>
            <a:r>
              <a:rPr lang="en-US" altLang="zh-CN" sz="2800" dirty="0">
                <a:solidFill>
                  <a:srgbClr val="3333FF"/>
                </a:solidFill>
                <a:latin typeface="楷体_GB2312" pitchFamily="49" charset="-122"/>
              </a:rPr>
              <a:t>,</a:t>
            </a:r>
            <a:r>
              <a:rPr lang="zh-CN" altLang="en-US" sz="2800" dirty="0">
                <a:solidFill>
                  <a:srgbClr val="3333FF"/>
                </a:solidFill>
                <a:latin typeface="楷体_GB2312" pitchFamily="49" charset="-122"/>
              </a:rPr>
              <a:t>允许的孔径误差小于</a:t>
            </a:r>
            <a:r>
              <a:rPr lang="en-US" altLang="zh-CN" sz="2800" i="1" dirty="0">
                <a:solidFill>
                  <a:srgbClr val="FF0000"/>
                </a:solidFill>
                <a:latin typeface="Times New Roman" panose="02020603050405020304" pitchFamily="18" charset="0"/>
              </a:rPr>
              <a:t>LSB</a:t>
            </a:r>
            <a:r>
              <a:rPr lang="en-US" altLang="zh-CN" sz="2800" dirty="0">
                <a:solidFill>
                  <a:srgbClr val="FF0000"/>
                </a:solidFill>
                <a:latin typeface="Times New Roman" panose="02020603050405020304" pitchFamily="18" charset="0"/>
              </a:rPr>
              <a:t>/2</a:t>
            </a:r>
            <a:r>
              <a:rPr lang="zh-CN" altLang="en-US" sz="2800" dirty="0">
                <a:solidFill>
                  <a:srgbClr val="3333FF"/>
                </a:solidFill>
                <a:latin typeface="楷体_GB2312" pitchFamily="49" charset="-122"/>
              </a:rPr>
              <a:t>，则孔径时间</a:t>
            </a:r>
            <a:r>
              <a:rPr lang="en-US" altLang="zh-CN" sz="2800" i="1" dirty="0">
                <a:solidFill>
                  <a:srgbClr val="FF0000"/>
                </a:solidFill>
                <a:latin typeface="Times New Roman" panose="02020603050405020304" pitchFamily="18" charset="0"/>
              </a:rPr>
              <a:t>t</a:t>
            </a:r>
            <a:r>
              <a:rPr lang="en-US" altLang="zh-CN" sz="2800" baseline="-25000" dirty="0">
                <a:solidFill>
                  <a:srgbClr val="FF0000"/>
                </a:solidFill>
                <a:latin typeface="Times New Roman" panose="02020603050405020304" pitchFamily="18" charset="0"/>
              </a:rPr>
              <a:t>AP</a:t>
            </a:r>
            <a:r>
              <a:rPr lang="zh-CN" altLang="en-US" sz="2800" dirty="0">
                <a:solidFill>
                  <a:srgbClr val="3333FF"/>
                </a:solidFill>
                <a:latin typeface="楷体_GB2312" pitchFamily="49" charset="-122"/>
              </a:rPr>
              <a:t>应满足下式： </a:t>
            </a:r>
            <a:endParaRPr lang="zh-CN" altLang="en-US" sz="2800" dirty="0">
              <a:solidFill>
                <a:srgbClr val="3333FF"/>
              </a:solidFill>
              <a:latin typeface="楷体_GB2312" pitchFamily="49" charset="-122"/>
            </a:endParaRPr>
          </a:p>
        </p:txBody>
      </p:sp>
      <p:graphicFrame>
        <p:nvGraphicFramePr>
          <p:cNvPr id="2404370" name="Object 18"/>
          <p:cNvGraphicFramePr>
            <a:graphicFrameLocks noChangeAspect="1"/>
          </p:cNvGraphicFramePr>
          <p:nvPr/>
        </p:nvGraphicFramePr>
        <p:xfrm>
          <a:off x="2663825" y="3219450"/>
          <a:ext cx="3217863" cy="965200"/>
        </p:xfrm>
        <a:graphic>
          <a:graphicData uri="http://schemas.openxmlformats.org/presentationml/2006/ole">
            <mc:AlternateContent xmlns:mc="http://schemas.openxmlformats.org/markup-compatibility/2006">
              <mc:Choice xmlns:v="urn:schemas-microsoft-com:vml" Requires="v">
                <p:oleObj spid="_x0000_s3099" name="" r:id="rId1" imgW="1422400" imgH="444500" progId="Equation.3">
                  <p:embed/>
                </p:oleObj>
              </mc:Choice>
              <mc:Fallback>
                <p:oleObj name="" r:id="rId1" imgW="1422400" imgH="444500" progId="Equation.3">
                  <p:embed/>
                  <p:pic>
                    <p:nvPicPr>
                      <p:cNvPr id="0" name="图片 3098"/>
                      <p:cNvPicPr/>
                      <p:nvPr/>
                    </p:nvPicPr>
                    <p:blipFill>
                      <a:blip r:embed="rId2"/>
                      <a:stretch>
                        <a:fillRect/>
                      </a:stretch>
                    </p:blipFill>
                    <p:spPr>
                      <a:xfrm>
                        <a:off x="2663825" y="3219450"/>
                        <a:ext cx="3217863" cy="965200"/>
                      </a:xfrm>
                      <a:prstGeom prst="rect">
                        <a:avLst/>
                      </a:prstGeom>
                      <a:solidFill>
                        <a:srgbClr val="CCFFFF"/>
                      </a:solidFill>
                      <a:ln w="38100">
                        <a:noFill/>
                        <a:miter/>
                      </a:ln>
                    </p:spPr>
                  </p:pic>
                </p:oleObj>
              </mc:Fallback>
            </mc:AlternateContent>
          </a:graphicData>
        </a:graphic>
      </p:graphicFrame>
      <p:graphicFrame>
        <p:nvGraphicFramePr>
          <p:cNvPr id="2404371" name="Object 19"/>
          <p:cNvGraphicFramePr>
            <a:graphicFrameLocks noChangeAspect="1"/>
          </p:cNvGraphicFramePr>
          <p:nvPr/>
        </p:nvGraphicFramePr>
        <p:xfrm>
          <a:off x="2663825" y="4508500"/>
          <a:ext cx="3217863" cy="1025525"/>
        </p:xfrm>
        <a:graphic>
          <a:graphicData uri="http://schemas.openxmlformats.org/presentationml/2006/ole">
            <mc:AlternateContent xmlns:mc="http://schemas.openxmlformats.org/markup-compatibility/2006">
              <mc:Choice xmlns:v="urn:schemas-microsoft-com:vml" Requires="v">
                <p:oleObj spid="_x0000_s3100" name="" r:id="rId3" imgW="1218565" imgH="431800" progId="Equation.3">
                  <p:embed/>
                </p:oleObj>
              </mc:Choice>
              <mc:Fallback>
                <p:oleObj name="" r:id="rId3" imgW="1218565" imgH="431800" progId="Equation.3">
                  <p:embed/>
                  <p:pic>
                    <p:nvPicPr>
                      <p:cNvPr id="0" name="图片 3099"/>
                      <p:cNvPicPr/>
                      <p:nvPr/>
                    </p:nvPicPr>
                    <p:blipFill>
                      <a:blip r:embed="rId4"/>
                      <a:stretch>
                        <a:fillRect/>
                      </a:stretch>
                    </p:blipFill>
                    <p:spPr>
                      <a:xfrm>
                        <a:off x="2663825" y="4508500"/>
                        <a:ext cx="3217863" cy="1025525"/>
                      </a:xfrm>
                      <a:prstGeom prst="rect">
                        <a:avLst/>
                      </a:prstGeom>
                      <a:solidFill>
                        <a:srgbClr val="CCFFFF"/>
                      </a:solidFill>
                      <a:ln w="38100">
                        <a:noFill/>
                        <a:miter/>
                      </a:ln>
                    </p:spPr>
                  </p:pic>
                </p:oleObj>
              </mc:Fallback>
            </mc:AlternateContent>
          </a:graphicData>
        </a:graphic>
      </p:graphicFrame>
      <p:sp>
        <p:nvSpPr>
          <p:cNvPr id="2404372" name="Text Box 20"/>
          <p:cNvSpPr txBox="1"/>
          <p:nvPr/>
        </p:nvSpPr>
        <p:spPr>
          <a:xfrm>
            <a:off x="1655763" y="4760913"/>
            <a:ext cx="612775" cy="476250"/>
          </a:xfrm>
          <a:prstGeom prst="rect">
            <a:avLst/>
          </a:prstGeom>
          <a:no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rPr>
              <a:t>或</a:t>
            </a:r>
            <a:endParaRPr lang="zh-CN" altLang="en-US" sz="2800" dirty="0">
              <a:latin typeface="Times New Roman" panose="02020603050405020304" pitchFamily="18" charset="0"/>
            </a:endParaRPr>
          </a:p>
        </p:txBody>
      </p:sp>
      <p:sp>
        <p:nvSpPr>
          <p:cNvPr id="2401285" name="Text Box 5"/>
          <p:cNvSpPr txBox="1"/>
          <p:nvPr/>
        </p:nvSpPr>
        <p:spPr>
          <a:xfrm>
            <a:off x="287338" y="765175"/>
            <a:ext cx="6948487"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5.6.1 </a:t>
            </a:r>
            <a:r>
              <a:rPr lang="zh-CN" altLang="en-US" sz="3200" dirty="0">
                <a:latin typeface="Times New Roman" panose="02020603050405020304" pitchFamily="18" charset="0"/>
              </a:rPr>
              <a:t>采样</a:t>
            </a:r>
            <a:r>
              <a:rPr lang="en-US" altLang="zh-CN" sz="3200" dirty="0">
                <a:latin typeface="Times New Roman" panose="02020603050405020304" pitchFamily="18" charset="0"/>
              </a:rPr>
              <a:t>/</a:t>
            </a:r>
            <a:r>
              <a:rPr lang="zh-CN" altLang="en-US" sz="3200" dirty="0">
                <a:latin typeface="Times New Roman" panose="02020603050405020304" pitchFamily="18" charset="0"/>
              </a:rPr>
              <a:t>保持器选用时应注意的问题</a:t>
            </a:r>
            <a:endParaRPr lang="zh-CN" altLang="en-US"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1285"/>
                                        </p:tgtEl>
                                        <p:attrNameLst>
                                          <p:attrName>style.visibility</p:attrName>
                                        </p:attrNameLst>
                                      </p:cBhvr>
                                      <p:to>
                                        <p:strVal val="visible"/>
                                      </p:to>
                                    </p:set>
                                    <p:animEffect transition="in" filter="dissolve">
                                      <p:cBhvr>
                                        <p:cTn id="7" dur="500"/>
                                        <p:tgtEl>
                                          <p:spTgt spid="24012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4355"/>
                                        </p:tgtEl>
                                        <p:attrNameLst>
                                          <p:attrName>style.visibility</p:attrName>
                                        </p:attrNameLst>
                                      </p:cBhvr>
                                      <p:to>
                                        <p:strVal val="visible"/>
                                      </p:to>
                                    </p:set>
                                    <p:animEffect transition="in" filter="dissolve">
                                      <p:cBhvr>
                                        <p:cTn id="12" dur="500"/>
                                        <p:tgtEl>
                                          <p:spTgt spid="24043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4369"/>
                                        </p:tgtEl>
                                        <p:attrNameLst>
                                          <p:attrName>style.visibility</p:attrName>
                                        </p:attrNameLst>
                                      </p:cBhvr>
                                      <p:to>
                                        <p:strVal val="visible"/>
                                      </p:to>
                                    </p:set>
                                    <p:animEffect transition="in" filter="dissolve">
                                      <p:cBhvr>
                                        <p:cTn id="17" dur="500"/>
                                        <p:tgtEl>
                                          <p:spTgt spid="240436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4370"/>
                                        </p:tgtEl>
                                        <p:attrNameLst>
                                          <p:attrName>style.visibility</p:attrName>
                                        </p:attrNameLst>
                                      </p:cBhvr>
                                      <p:to>
                                        <p:strVal val="visible"/>
                                      </p:to>
                                    </p:set>
                                    <p:animEffect transition="in" filter="dissolve">
                                      <p:cBhvr>
                                        <p:cTn id="22" dur="500"/>
                                        <p:tgtEl>
                                          <p:spTgt spid="240437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4371"/>
                                        </p:tgtEl>
                                        <p:attrNameLst>
                                          <p:attrName>style.visibility</p:attrName>
                                        </p:attrNameLst>
                                      </p:cBhvr>
                                      <p:to>
                                        <p:strVal val="visible"/>
                                      </p:to>
                                    </p:set>
                                    <p:animEffect transition="in" filter="dissolve">
                                      <p:cBhvr>
                                        <p:cTn id="27" dur="500"/>
                                        <p:tgtEl>
                                          <p:spTgt spid="2404371"/>
                                        </p:tgtEl>
                                      </p:cBhvr>
                                    </p:animEffect>
                                  </p:childTnLst>
                                </p:cTn>
                              </p:par>
                              <p:par>
                                <p:cTn id="28" presetID="9" presetClass="entr" presetSubtype="0" fill="hold" nodeType="withEffect">
                                  <p:stCondLst>
                                    <p:cond delay="0"/>
                                  </p:stCondLst>
                                  <p:childTnLst>
                                    <p:set>
                                      <p:cBhvr>
                                        <p:cTn id="29" dur="1" fill="hold">
                                          <p:stCondLst>
                                            <p:cond delay="0"/>
                                          </p:stCondLst>
                                        </p:cTn>
                                        <p:tgtEl>
                                          <p:spTgt spid="2404372"/>
                                        </p:tgtEl>
                                        <p:attrNameLst>
                                          <p:attrName>style.visibility</p:attrName>
                                        </p:attrNameLst>
                                      </p:cBhvr>
                                      <p:to>
                                        <p:strVal val="visible"/>
                                      </p:to>
                                    </p:set>
                                    <p:animEffect transition="in" filter="dissolve">
                                      <p:cBhvr>
                                        <p:cTn id="30" dur="500"/>
                                        <p:tgtEl>
                                          <p:spTgt spid="2404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4355" grpId="0"/>
      <p:bldP spid="2404369" grpId="0"/>
      <p:bldP spid="2404372" grpId="0"/>
      <p:bldP spid="2401285"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7427" name="Text Box 3"/>
          <p:cNvSpPr txBox="1"/>
          <p:nvPr/>
        </p:nvSpPr>
        <p:spPr>
          <a:xfrm>
            <a:off x="395288" y="728663"/>
            <a:ext cx="58229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5.6.2 </a:t>
            </a:r>
            <a:r>
              <a:rPr lang="zh-CN" altLang="en-US" sz="3200" dirty="0">
                <a:latin typeface="Times New Roman" panose="02020603050405020304" pitchFamily="18" charset="0"/>
              </a:rPr>
              <a:t>电路设计中应注意的问题</a:t>
            </a:r>
            <a:endParaRPr lang="zh-CN" altLang="en-US" sz="3200" dirty="0">
              <a:latin typeface="Times New Roman" panose="02020603050405020304" pitchFamily="18" charset="0"/>
            </a:endParaRPr>
          </a:p>
        </p:txBody>
      </p:sp>
      <p:sp>
        <p:nvSpPr>
          <p:cNvPr id="2407428" name="Text Box 4"/>
          <p:cNvSpPr txBox="1"/>
          <p:nvPr/>
        </p:nvSpPr>
        <p:spPr>
          <a:xfrm>
            <a:off x="755650" y="1484313"/>
            <a:ext cx="2335213" cy="579437"/>
          </a:xfrm>
          <a:prstGeom prst="rect">
            <a:avLst/>
          </a:prstGeom>
          <a:noFill/>
          <a:ln w="9525">
            <a:noFill/>
          </a:ln>
        </p:spPr>
        <p:txBody>
          <a:bodyPr>
            <a:spAutoFit/>
          </a:bodyPr>
          <a:p>
            <a:pPr eaLnBrk="1" hangingPunct="1">
              <a:buClr>
                <a:srgbClr val="FF0000"/>
              </a:buClr>
              <a:buFont typeface="Wingdings" panose="05000000000000000000" pitchFamily="2" charset="2"/>
            </a:pPr>
            <a:r>
              <a:rPr lang="en-US" altLang="zh-CN" sz="3200" dirty="0">
                <a:solidFill>
                  <a:schemeClr val="tx1"/>
                </a:solidFill>
                <a:latin typeface="Times New Roman" panose="02020603050405020304" pitchFamily="18" charset="0"/>
                <a:ea typeface="黑体" panose="02010609060101010101" pitchFamily="49" charset="-122"/>
              </a:rPr>
              <a:t>1. </a:t>
            </a:r>
            <a:r>
              <a:rPr lang="zh-CN" altLang="en-US" sz="3200" dirty="0">
                <a:solidFill>
                  <a:schemeClr val="tx1"/>
                </a:solidFill>
                <a:latin typeface="Times New Roman" panose="02020603050405020304" pitchFamily="18" charset="0"/>
                <a:ea typeface="黑体" panose="02010609060101010101" pitchFamily="49" charset="-122"/>
              </a:rPr>
              <a:t>接地</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07430" name="Text Box 6"/>
          <p:cNvSpPr txBox="1"/>
          <p:nvPr/>
        </p:nvSpPr>
        <p:spPr>
          <a:xfrm>
            <a:off x="863600" y="2205038"/>
            <a:ext cx="7740650" cy="1373187"/>
          </a:xfrm>
          <a:prstGeom prst="rect">
            <a:avLst/>
          </a:prstGeom>
          <a:noFill/>
          <a:ln w="9525">
            <a:noFill/>
          </a:ln>
        </p:spPr>
        <p:txBody>
          <a:bodyPr>
            <a:spAutoFit/>
          </a:bodyPr>
          <a:p>
            <a:pPr eaLnBrk="1" hangingPunct="1"/>
            <a:r>
              <a:rPr lang="zh-CN" altLang="en-US" sz="2800" dirty="0">
                <a:solidFill>
                  <a:srgbClr val="3333FF"/>
                </a:solidFill>
                <a:latin typeface="Times New Roman" panose="02020603050405020304" pitchFamily="18" charset="0"/>
              </a:rPr>
              <a:t>采样</a:t>
            </a:r>
            <a:r>
              <a:rPr lang="en-US" altLang="zh-CN" sz="2800" dirty="0">
                <a:solidFill>
                  <a:srgbClr val="3333FF"/>
                </a:solidFill>
                <a:latin typeface="Times New Roman" panose="02020603050405020304" pitchFamily="18" charset="0"/>
              </a:rPr>
              <a:t>/</a:t>
            </a:r>
            <a:r>
              <a:rPr lang="zh-CN" altLang="en-US" sz="2800" dirty="0">
                <a:solidFill>
                  <a:srgbClr val="3333FF"/>
                </a:solidFill>
                <a:latin typeface="Times New Roman" panose="02020603050405020304" pitchFamily="18" charset="0"/>
              </a:rPr>
              <a:t>保持器是一种由模拟电路与数字电路混合而成的集成电路，一般有分离的模拟地和数字地引脚。</a:t>
            </a:r>
            <a:endParaRPr lang="zh-CN" altLang="en-US" sz="2800" dirty="0">
              <a:solidFill>
                <a:srgbClr val="3333FF"/>
              </a:solidFill>
              <a:latin typeface="Times New Roman" panose="02020603050405020304" pitchFamily="18" charset="0"/>
            </a:endParaRPr>
          </a:p>
        </p:txBody>
      </p:sp>
      <p:sp>
        <p:nvSpPr>
          <p:cNvPr id="2407432" name="Text Box 8"/>
          <p:cNvSpPr txBox="1"/>
          <p:nvPr/>
        </p:nvSpPr>
        <p:spPr>
          <a:xfrm>
            <a:off x="827088" y="3743325"/>
            <a:ext cx="7740650" cy="946150"/>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目的：</a:t>
            </a:r>
            <a:r>
              <a:rPr lang="zh-CN" altLang="en-US" sz="2800" dirty="0">
                <a:latin typeface="Times New Roman" panose="02020603050405020304" pitchFamily="18" charset="0"/>
              </a:rPr>
              <a:t>避免数字电路的突变电流对模拟电路的影响。</a:t>
            </a:r>
            <a:endParaRPr lang="zh-CN" altLang="en-US" sz="2800" dirty="0">
              <a:latin typeface="Times New Roman" panose="02020603050405020304" pitchFamily="18" charset="0"/>
            </a:endParaRPr>
          </a:p>
        </p:txBody>
      </p:sp>
      <p:sp>
        <p:nvSpPr>
          <p:cNvPr id="2407434" name="Text Box 10"/>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07435" name="Text Box 11"/>
          <p:cNvSpPr txBox="1"/>
          <p:nvPr/>
        </p:nvSpPr>
        <p:spPr>
          <a:xfrm>
            <a:off x="827088" y="4833938"/>
            <a:ext cx="7885112" cy="946150"/>
          </a:xfrm>
          <a:prstGeom prst="rect">
            <a:avLst/>
          </a:prstGeom>
          <a:noFill/>
          <a:ln w="9525">
            <a:noFill/>
          </a:ln>
        </p:spPr>
        <p:txBody>
          <a:bodyPr>
            <a:spAutoFit/>
          </a:bodyPr>
          <a:p>
            <a:pPr eaLnBrk="1" hangingPunct="1"/>
            <a:r>
              <a:rPr lang="zh-CN" altLang="en-US" sz="2800" dirty="0">
                <a:solidFill>
                  <a:srgbClr val="FF0000"/>
                </a:solidFill>
                <a:latin typeface="Times New Roman" panose="02020603050405020304" pitchFamily="18" charset="0"/>
              </a:rPr>
              <a:t>方法：</a:t>
            </a:r>
            <a:r>
              <a:rPr lang="zh-CN" altLang="en-US" sz="2800" dirty="0">
                <a:solidFill>
                  <a:srgbClr val="3333FF"/>
                </a:solidFill>
                <a:latin typeface="Times New Roman" panose="02020603050405020304" pitchFamily="18" charset="0"/>
              </a:rPr>
              <a:t>将模拟地与数字地分别用引线接到模拟电源和数字电源的参考点上。</a:t>
            </a:r>
            <a:endParaRPr lang="zh-CN" altLang="en-US" sz="2800" dirty="0">
              <a:solidFill>
                <a:srgbClr val="3333FF"/>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7427">
                                            <p:txEl>
                                              <p:charRg st="0" end="18"/>
                                            </p:txEl>
                                          </p:spTgt>
                                        </p:tgtEl>
                                        <p:attrNameLst>
                                          <p:attrName>style.visibility</p:attrName>
                                        </p:attrNameLst>
                                      </p:cBhvr>
                                      <p:to>
                                        <p:strVal val="visible"/>
                                      </p:to>
                                    </p:set>
                                    <p:animEffect transition="in" filter="dissolve">
                                      <p:cBhvr>
                                        <p:cTn id="7" dur="500"/>
                                        <p:tgtEl>
                                          <p:spTgt spid="2407427">
                                            <p:txEl>
                                              <p:charRg st="0" end="18"/>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7428">
                                            <p:txEl>
                                              <p:charRg st="0" end="6"/>
                                            </p:txEl>
                                          </p:spTgt>
                                        </p:tgtEl>
                                        <p:attrNameLst>
                                          <p:attrName>style.visibility</p:attrName>
                                        </p:attrNameLst>
                                      </p:cBhvr>
                                      <p:to>
                                        <p:strVal val="visible"/>
                                      </p:to>
                                    </p:set>
                                    <p:animEffect transition="in" filter="dissolve">
                                      <p:cBhvr>
                                        <p:cTn id="12" dur="500"/>
                                        <p:tgtEl>
                                          <p:spTgt spid="2407428">
                                            <p:txEl>
                                              <p:charRg st="0" end="6"/>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7430">
                                            <p:txEl>
                                              <p:charRg st="0" end="46"/>
                                            </p:txEl>
                                          </p:spTgt>
                                        </p:tgtEl>
                                        <p:attrNameLst>
                                          <p:attrName>style.visibility</p:attrName>
                                        </p:attrNameLst>
                                      </p:cBhvr>
                                      <p:to>
                                        <p:strVal val="visible"/>
                                      </p:to>
                                    </p:set>
                                    <p:animEffect transition="in" filter="dissolve">
                                      <p:cBhvr>
                                        <p:cTn id="17" dur="500"/>
                                        <p:tgtEl>
                                          <p:spTgt spid="2407430">
                                            <p:txEl>
                                              <p:charRg st="0" end="4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07432">
                                            <p:txEl>
                                              <p:charRg st="0" end="24"/>
                                            </p:txEl>
                                          </p:spTgt>
                                        </p:tgtEl>
                                        <p:attrNameLst>
                                          <p:attrName>style.visibility</p:attrName>
                                        </p:attrNameLst>
                                      </p:cBhvr>
                                      <p:to>
                                        <p:strVal val="visible"/>
                                      </p:to>
                                    </p:set>
                                    <p:animEffect transition="in" filter="dissolve">
                                      <p:cBhvr>
                                        <p:cTn id="22" dur="500"/>
                                        <p:tgtEl>
                                          <p:spTgt spid="2407432">
                                            <p:txEl>
                                              <p:charRg st="0" end="2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07435">
                                            <p:txEl>
                                              <p:charRg st="0" end="34"/>
                                            </p:txEl>
                                          </p:spTgt>
                                        </p:tgtEl>
                                        <p:attrNameLst>
                                          <p:attrName>style.visibility</p:attrName>
                                        </p:attrNameLst>
                                      </p:cBhvr>
                                      <p:to>
                                        <p:strVal val="visible"/>
                                      </p:to>
                                    </p:set>
                                    <p:animEffect transition="in" filter="dissolve">
                                      <p:cBhvr>
                                        <p:cTn id="27" dur="500"/>
                                        <p:tgtEl>
                                          <p:spTgt spid="2407435">
                                            <p:txEl>
                                              <p:charRg st="0" end="3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7427" grpId="0" build="p"/>
      <p:bldP spid="2407428" grpId="0" build="p"/>
      <p:bldP spid="2407430" grpId="0" build="p"/>
      <p:bldP spid="2407432" grpId="0" build="p"/>
      <p:bldP spid="2407435" grpId="0" build="p"/>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08458" name="Text Box 10"/>
          <p:cNvSpPr txBox="1"/>
          <p:nvPr/>
        </p:nvSpPr>
        <p:spPr>
          <a:xfrm>
            <a:off x="287338" y="4365625"/>
            <a:ext cx="4194175" cy="1552575"/>
          </a:xfrm>
          <a:prstGeom prst="rect">
            <a:avLst/>
          </a:prstGeom>
          <a:noFill/>
          <a:ln w="9525">
            <a:noFill/>
          </a:ln>
        </p:spPr>
        <p:txBody>
          <a:bodyPr>
            <a:spAutoFit/>
          </a:bodyPr>
          <a:p>
            <a:pPr eaLnBrk="1" hangingPunct="1"/>
            <a:r>
              <a:rPr lang="zh-CN" altLang="en-US" sz="2400" dirty="0">
                <a:solidFill>
                  <a:srgbClr val="FF0000"/>
                </a:solidFill>
                <a:latin typeface="黑体" panose="02010609060101010101" pitchFamily="49" charset="-122"/>
                <a:ea typeface="黑体" panose="02010609060101010101" pitchFamily="49" charset="-122"/>
              </a:rPr>
              <a:t>原因：</a:t>
            </a:r>
            <a:r>
              <a:rPr lang="zh-CN" altLang="en-US" sz="2400" dirty="0">
                <a:solidFill>
                  <a:schemeClr val="tx1"/>
                </a:solidFill>
                <a:latin typeface="黑体" panose="02010609060101010101" pitchFamily="49" charset="-122"/>
                <a:ea typeface="黑体" panose="02010609060101010101" pitchFamily="49" charset="-122"/>
              </a:rPr>
              <a:t>当进入保持模式时，逻辑输入信号会通过印刷电路板布线间的漏电流耦合到模拟输入端而引起保持误差。</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08519" name="Text Box 71"/>
          <p:cNvSpPr txBox="1"/>
          <p:nvPr/>
        </p:nvSpPr>
        <p:spPr>
          <a:xfrm>
            <a:off x="539750" y="1376363"/>
            <a:ext cx="3944938" cy="579437"/>
          </a:xfrm>
          <a:prstGeom prst="rect">
            <a:avLst/>
          </a:prstGeom>
          <a:noFill/>
          <a:ln w="9525">
            <a:noFill/>
          </a:ln>
        </p:spPr>
        <p:txBody>
          <a:bodyPr>
            <a:spAutoFit/>
          </a:bodyPr>
          <a:p>
            <a:pPr eaLnBrk="1" hangingPunct="1">
              <a:buClr>
                <a:srgbClr val="FF0000"/>
              </a:buClr>
              <a:buFont typeface="Wingdings" panose="05000000000000000000" pitchFamily="2" charset="2"/>
            </a:pPr>
            <a:r>
              <a:rPr lang="en-US" altLang="zh-CN" sz="3200" dirty="0">
                <a:solidFill>
                  <a:schemeClr val="tx1"/>
                </a:solidFill>
                <a:latin typeface="Times New Roman" panose="02020603050405020304" pitchFamily="18" charset="0"/>
                <a:ea typeface="黑体" panose="02010609060101010101" pitchFamily="49" charset="-122"/>
              </a:rPr>
              <a:t>2. </a:t>
            </a:r>
            <a:r>
              <a:rPr lang="zh-CN" altLang="en-US" sz="3200" dirty="0">
                <a:solidFill>
                  <a:schemeClr val="tx1"/>
                </a:solidFill>
                <a:latin typeface="Times New Roman" panose="02020603050405020304" pitchFamily="18" charset="0"/>
                <a:ea typeface="黑体" panose="02010609060101010101" pitchFamily="49" charset="-122"/>
              </a:rPr>
              <a:t>漏电耦合的影响</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08520" name="Text Box 72"/>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08522" name="Rectangle 74"/>
          <p:cNvSpPr/>
          <p:nvPr/>
        </p:nvSpPr>
        <p:spPr>
          <a:xfrm>
            <a:off x="171450" y="1989138"/>
            <a:ext cx="4589463" cy="2282825"/>
          </a:xfrm>
          <a:prstGeom prst="rect">
            <a:avLst/>
          </a:prstGeom>
          <a:noFill/>
          <a:ln w="9525">
            <a:noFill/>
          </a:ln>
        </p:spPr>
        <p:txBody>
          <a:bodyPr>
            <a:spAutoFit/>
          </a:bodyPr>
          <a:p>
            <a:pPr eaLnBrk="1" hangingPunct="1"/>
            <a:r>
              <a:rPr lang="zh-CN" altLang="en-US" sz="2400" dirty="0">
                <a:latin typeface="黑体" panose="02010609060101010101" pitchFamily="49" charset="-122"/>
                <a:ea typeface="黑体" panose="02010609060101010101" pitchFamily="49" charset="-122"/>
              </a:rPr>
              <a:t>当逻辑信号端输入一个快速上升的逻辑输入信号使采样</a:t>
            </a:r>
            <a:r>
              <a:rPr lang="en-US" altLang="zh-CN" sz="2400" dirty="0">
                <a:latin typeface="黑体" panose="02010609060101010101" pitchFamily="49" charset="-122"/>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保持器进入保持模式时，如果不采取其它相应措施，则将引起保持误差。特别是对于高阻抗的信号源，保持误差尤其突出。</a:t>
            </a:r>
            <a:endParaRPr lang="zh-CN" altLang="en-US" sz="2400" dirty="0">
              <a:latin typeface="黑体" panose="02010609060101010101" pitchFamily="49" charset="-122"/>
              <a:ea typeface="黑体" panose="02010609060101010101" pitchFamily="49" charset="-122"/>
            </a:endParaRPr>
          </a:p>
        </p:txBody>
      </p:sp>
      <p:sp>
        <p:nvSpPr>
          <p:cNvPr id="53254" name="Text Box 3"/>
          <p:cNvSpPr txBox="1"/>
          <p:nvPr/>
        </p:nvSpPr>
        <p:spPr>
          <a:xfrm>
            <a:off x="395288" y="728663"/>
            <a:ext cx="58229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5.6.2 </a:t>
            </a:r>
            <a:r>
              <a:rPr lang="zh-CN" altLang="en-US" sz="3200" dirty="0">
                <a:latin typeface="Times New Roman" panose="02020603050405020304" pitchFamily="18" charset="0"/>
              </a:rPr>
              <a:t>电路设计中应注意的问题</a:t>
            </a:r>
            <a:endParaRPr lang="zh-CN" altLang="en-US" sz="3200" dirty="0">
              <a:latin typeface="Times New Roman" panose="02020603050405020304" pitchFamily="18" charset="0"/>
            </a:endParaRPr>
          </a:p>
        </p:txBody>
      </p:sp>
      <p:pic>
        <p:nvPicPr>
          <p:cNvPr id="53255" name="Picture 57"/>
          <p:cNvPicPr>
            <a:picLocks noChangeAspect="1"/>
          </p:cNvPicPr>
          <p:nvPr/>
        </p:nvPicPr>
        <p:blipFill>
          <a:blip r:embed="rId1"/>
          <a:stretch>
            <a:fillRect/>
          </a:stretch>
        </p:blipFill>
        <p:spPr>
          <a:xfrm>
            <a:off x="4672013" y="1870075"/>
            <a:ext cx="4471987" cy="3511550"/>
          </a:xfrm>
          <a:prstGeom prst="rect">
            <a:avLst/>
          </a:prstGeom>
          <a:noFill/>
          <a:ln w="9525">
            <a:noFill/>
          </a:ln>
        </p:spPr>
      </p:pic>
      <p:sp>
        <p:nvSpPr>
          <p:cNvPr id="226" name="Text Box 53"/>
          <p:cNvSpPr txBox="1">
            <a:spLocks noChangeArrowheads="1"/>
          </p:cNvSpPr>
          <p:nvPr/>
        </p:nvSpPr>
        <p:spPr bwMode="auto">
          <a:xfrm>
            <a:off x="4832350" y="5399088"/>
            <a:ext cx="4149725" cy="369888"/>
          </a:xfrm>
          <a:prstGeom prst="rect">
            <a:avLst/>
          </a:prstGeom>
          <a:noFill/>
          <a:ln>
            <a:noFill/>
          </a:ln>
          <a:effectLst/>
        </p:spPr>
        <p:txBody>
          <a:bodyPr>
            <a:spAutoFit/>
          </a:bodyPr>
          <a:lstStyle/>
          <a:p>
            <a:pPr marR="0" algn="ctr" defTabSz="914400" eaLnBrk="1" hangingPunct="1">
              <a:lnSpc>
                <a:spcPct val="90000"/>
              </a:lnSpc>
              <a:buClrTx/>
              <a:buSzTx/>
              <a:buFontTx/>
              <a:buNone/>
              <a:defRPr/>
            </a:pP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AD583</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保持逻辑</a:t>
            </a:r>
            <a:endPar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08519"/>
                                        </p:tgtEl>
                                        <p:attrNameLst>
                                          <p:attrName>style.visibility</p:attrName>
                                        </p:attrNameLst>
                                      </p:cBhvr>
                                      <p:to>
                                        <p:strVal val="visible"/>
                                      </p:to>
                                    </p:set>
                                    <p:animEffect transition="in" filter="dissolve">
                                      <p:cBhvr>
                                        <p:cTn id="7" dur="500"/>
                                        <p:tgtEl>
                                          <p:spTgt spid="24085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08522"/>
                                        </p:tgtEl>
                                        <p:attrNameLst>
                                          <p:attrName>style.visibility</p:attrName>
                                        </p:attrNameLst>
                                      </p:cBhvr>
                                      <p:to>
                                        <p:strVal val="visible"/>
                                      </p:to>
                                    </p:set>
                                    <p:animEffect transition="in" filter="dissolve">
                                      <p:cBhvr>
                                        <p:cTn id="12" dur="500"/>
                                        <p:tgtEl>
                                          <p:spTgt spid="24085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08458"/>
                                        </p:tgtEl>
                                        <p:attrNameLst>
                                          <p:attrName>style.visibility</p:attrName>
                                        </p:attrNameLst>
                                      </p:cBhvr>
                                      <p:to>
                                        <p:strVal val="visible"/>
                                      </p:to>
                                    </p:set>
                                    <p:animEffect transition="in" filter="dissolve">
                                      <p:cBhvr>
                                        <p:cTn id="17" dur="500"/>
                                        <p:tgtEl>
                                          <p:spTgt spid="24084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8458" grpId="0"/>
      <p:bldP spid="2408519" grpId="0"/>
      <p:bldP spid="2408522"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4274" name="Text Box 51"/>
          <p:cNvSpPr txBox="1"/>
          <p:nvPr/>
        </p:nvSpPr>
        <p:spPr>
          <a:xfrm>
            <a:off x="539750" y="1376363"/>
            <a:ext cx="3944938" cy="579437"/>
          </a:xfrm>
          <a:prstGeom prst="rect">
            <a:avLst/>
          </a:prstGeom>
          <a:noFill/>
          <a:ln w="9525">
            <a:noFill/>
          </a:ln>
        </p:spPr>
        <p:txBody>
          <a:bodyPr>
            <a:spAutoFit/>
          </a:bodyPr>
          <a:p>
            <a:pPr eaLnBrk="1" hangingPunct="1">
              <a:buClr>
                <a:srgbClr val="FF0000"/>
              </a:buClr>
              <a:buFont typeface="Wingdings" panose="05000000000000000000" pitchFamily="2" charset="2"/>
            </a:pPr>
            <a:r>
              <a:rPr lang="en-US" altLang="zh-CN" sz="3200" dirty="0">
                <a:solidFill>
                  <a:schemeClr val="tx1"/>
                </a:solidFill>
                <a:latin typeface="Times New Roman" panose="02020603050405020304" pitchFamily="18" charset="0"/>
                <a:ea typeface="黑体" panose="02010609060101010101" pitchFamily="49" charset="-122"/>
              </a:rPr>
              <a:t>2. </a:t>
            </a:r>
            <a:r>
              <a:rPr lang="zh-CN" altLang="en-US" sz="3200" dirty="0">
                <a:solidFill>
                  <a:schemeClr val="tx1"/>
                </a:solidFill>
                <a:latin typeface="Times New Roman" panose="02020603050405020304" pitchFamily="18" charset="0"/>
                <a:ea typeface="黑体" panose="02010609060101010101" pitchFamily="49" charset="-122"/>
              </a:rPr>
              <a:t>漏电耦合的影响</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38196" name="Text Box 52"/>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38198" name="Text Box 54"/>
          <p:cNvSpPr txBox="1"/>
          <p:nvPr/>
        </p:nvSpPr>
        <p:spPr>
          <a:xfrm>
            <a:off x="323850" y="1920875"/>
            <a:ext cx="2428875" cy="579438"/>
          </a:xfrm>
          <a:prstGeom prst="rect">
            <a:avLst/>
          </a:prstGeom>
          <a:noFill/>
          <a:ln w="9525">
            <a:noFill/>
          </a:ln>
        </p:spPr>
        <p:txBody>
          <a:bodyPr wrap="none">
            <a:spAutoFit/>
          </a:bodyPr>
          <a:p>
            <a:pPr eaLnBrk="1" hangingPunct="1"/>
            <a:r>
              <a:rPr lang="zh-CN" altLang="en-US" sz="3200" dirty="0">
                <a:solidFill>
                  <a:srgbClr val="FF0000"/>
                </a:solidFill>
                <a:latin typeface="楷体_GB2312" pitchFamily="49" charset="-122"/>
              </a:rPr>
              <a:t>解决方法： </a:t>
            </a:r>
            <a:endParaRPr lang="zh-CN" altLang="en-US" sz="3200" dirty="0">
              <a:solidFill>
                <a:srgbClr val="FF0000"/>
              </a:solidFill>
              <a:latin typeface="楷体_GB2312" pitchFamily="49" charset="-122"/>
            </a:endParaRPr>
          </a:p>
        </p:txBody>
      </p:sp>
      <p:sp>
        <p:nvSpPr>
          <p:cNvPr id="2438199" name="Text Box 55"/>
          <p:cNvSpPr txBox="1"/>
          <p:nvPr/>
        </p:nvSpPr>
        <p:spPr>
          <a:xfrm>
            <a:off x="242888" y="2497138"/>
            <a:ext cx="4365625" cy="1244600"/>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zh-CN" altLang="en-US" sz="2800" dirty="0">
                <a:solidFill>
                  <a:srgbClr val="3333FF"/>
                </a:solidFill>
                <a:latin typeface="楷体_GB2312" pitchFamily="49" charset="-122"/>
              </a:rPr>
              <a:t>印刷电路板布线时，应使逻辑输入端的走线尽可能远离与模拟输入端。</a:t>
            </a:r>
            <a:endParaRPr lang="zh-CN" altLang="en-US" sz="2800" dirty="0">
              <a:solidFill>
                <a:srgbClr val="3333FF"/>
              </a:solidFill>
              <a:latin typeface="楷体_GB2312" pitchFamily="49" charset="-122"/>
            </a:endParaRPr>
          </a:p>
        </p:txBody>
      </p:sp>
      <p:sp>
        <p:nvSpPr>
          <p:cNvPr id="2438200" name="Rectangle 56"/>
          <p:cNvSpPr/>
          <p:nvPr/>
        </p:nvSpPr>
        <p:spPr>
          <a:xfrm>
            <a:off x="225425" y="3829050"/>
            <a:ext cx="4392613" cy="1244600"/>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zh-CN" altLang="en-US" sz="2800" dirty="0">
                <a:solidFill>
                  <a:srgbClr val="3333FF"/>
                </a:solidFill>
                <a:latin typeface="楷体_GB2312" pitchFamily="49" charset="-122"/>
              </a:rPr>
              <a:t>将模拟信号输入端用地线包围起来，以隔断漏电流的通路。</a:t>
            </a:r>
            <a:endParaRPr lang="zh-CN" altLang="en-US" sz="2800" dirty="0">
              <a:solidFill>
                <a:srgbClr val="3333FF"/>
              </a:solidFill>
              <a:latin typeface="楷体_GB2312" pitchFamily="49" charset="-122"/>
            </a:endParaRPr>
          </a:p>
        </p:txBody>
      </p:sp>
      <p:sp>
        <p:nvSpPr>
          <p:cNvPr id="2438201" name="Text Box 57"/>
          <p:cNvSpPr txBox="1"/>
          <p:nvPr/>
        </p:nvSpPr>
        <p:spPr>
          <a:xfrm>
            <a:off x="219075" y="5124450"/>
            <a:ext cx="4294188" cy="860425"/>
          </a:xfrm>
          <a:prstGeom prst="rect">
            <a:avLst/>
          </a:prstGeom>
          <a:noFill/>
          <a:ln w="9525">
            <a:noFill/>
          </a:ln>
        </p:spPr>
        <p:txBody>
          <a:bodyPr>
            <a:spAutoFit/>
          </a:bodyPr>
          <a:p>
            <a:pPr marL="447675" indent="-447675" eaLnBrk="1" hangingPunct="1">
              <a:lnSpc>
                <a:spcPct val="90000"/>
              </a:lnSpc>
              <a:buClr>
                <a:srgbClr val="FF0000"/>
              </a:buClr>
              <a:buFont typeface="Wingdings" panose="05000000000000000000" pitchFamily="2" charset="2"/>
              <a:buChar char="u"/>
            </a:pPr>
            <a:r>
              <a:rPr lang="zh-CN" altLang="en-US" sz="2800" dirty="0">
                <a:solidFill>
                  <a:srgbClr val="3333FF"/>
                </a:solidFill>
                <a:latin typeface="楷体_GB2312" pitchFamily="49" charset="-122"/>
              </a:rPr>
              <a:t>降低逻辑输入信号的幅值，如</a:t>
            </a:r>
            <a:r>
              <a:rPr lang="en-US" altLang="zh-CN" sz="2800" dirty="0">
                <a:solidFill>
                  <a:srgbClr val="3333FF"/>
                </a:solidFill>
                <a:latin typeface="楷体_GB2312" pitchFamily="49" charset="-122"/>
              </a:rPr>
              <a:t>5V→2.5V</a:t>
            </a:r>
            <a:r>
              <a:rPr lang="zh-CN" altLang="en-US" sz="2800" dirty="0">
                <a:solidFill>
                  <a:srgbClr val="3333FF"/>
                </a:solidFill>
                <a:latin typeface="楷体_GB2312" pitchFamily="49" charset="-122"/>
              </a:rPr>
              <a:t>。 </a:t>
            </a:r>
            <a:endParaRPr lang="zh-CN" altLang="en-US" sz="2800" dirty="0">
              <a:solidFill>
                <a:srgbClr val="3333FF"/>
              </a:solidFill>
              <a:latin typeface="楷体_GB2312" pitchFamily="49" charset="-122"/>
            </a:endParaRPr>
          </a:p>
        </p:txBody>
      </p:sp>
      <p:sp>
        <p:nvSpPr>
          <p:cNvPr id="54280" name="Text Box 3"/>
          <p:cNvSpPr txBox="1"/>
          <p:nvPr/>
        </p:nvSpPr>
        <p:spPr>
          <a:xfrm>
            <a:off x="395288" y="728663"/>
            <a:ext cx="58229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5.6.2 </a:t>
            </a:r>
            <a:r>
              <a:rPr lang="zh-CN" altLang="en-US" sz="3200" dirty="0">
                <a:latin typeface="Times New Roman" panose="02020603050405020304" pitchFamily="18" charset="0"/>
              </a:rPr>
              <a:t>电路设计中应注意的问题</a:t>
            </a:r>
            <a:endParaRPr lang="zh-CN" altLang="en-US" sz="3200" dirty="0">
              <a:latin typeface="Times New Roman" panose="02020603050405020304" pitchFamily="18" charset="0"/>
            </a:endParaRPr>
          </a:p>
        </p:txBody>
      </p:sp>
      <p:pic>
        <p:nvPicPr>
          <p:cNvPr id="54281" name="Picture 57"/>
          <p:cNvPicPr>
            <a:picLocks noChangeAspect="1"/>
          </p:cNvPicPr>
          <p:nvPr/>
        </p:nvPicPr>
        <p:blipFill>
          <a:blip r:embed="rId1"/>
          <a:stretch>
            <a:fillRect/>
          </a:stretch>
        </p:blipFill>
        <p:spPr>
          <a:xfrm>
            <a:off x="4672013" y="1870075"/>
            <a:ext cx="4471987" cy="3511550"/>
          </a:xfrm>
          <a:prstGeom prst="rect">
            <a:avLst/>
          </a:prstGeom>
          <a:noFill/>
          <a:ln w="9525">
            <a:noFill/>
          </a:ln>
        </p:spPr>
      </p:pic>
      <p:sp>
        <p:nvSpPr>
          <p:cNvPr id="57" name="Text Box 53"/>
          <p:cNvSpPr txBox="1">
            <a:spLocks noChangeArrowheads="1"/>
          </p:cNvSpPr>
          <p:nvPr/>
        </p:nvSpPr>
        <p:spPr bwMode="auto">
          <a:xfrm>
            <a:off x="4832350" y="5399088"/>
            <a:ext cx="4149725" cy="369888"/>
          </a:xfrm>
          <a:prstGeom prst="rect">
            <a:avLst/>
          </a:prstGeom>
          <a:noFill/>
          <a:ln>
            <a:noFill/>
          </a:ln>
          <a:effectLst/>
        </p:spPr>
        <p:txBody>
          <a:bodyPr>
            <a:spAutoFit/>
          </a:bodyPr>
          <a:lstStyle/>
          <a:p>
            <a:pPr marR="0" algn="ctr" defTabSz="914400" eaLnBrk="1" hangingPunct="1">
              <a:lnSpc>
                <a:spcPct val="90000"/>
              </a:lnSpc>
              <a:buClrTx/>
              <a:buSzTx/>
              <a:buFontTx/>
              <a:buNone/>
              <a:defRPr/>
            </a:pP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AD583</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保持逻辑</a:t>
            </a:r>
            <a:endPar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8198"/>
                                        </p:tgtEl>
                                        <p:attrNameLst>
                                          <p:attrName>style.visibility</p:attrName>
                                        </p:attrNameLst>
                                      </p:cBhvr>
                                      <p:to>
                                        <p:strVal val="visible"/>
                                      </p:to>
                                    </p:set>
                                    <p:animEffect transition="in" filter="dissolve">
                                      <p:cBhvr>
                                        <p:cTn id="7" dur="500"/>
                                        <p:tgtEl>
                                          <p:spTgt spid="243819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8199"/>
                                        </p:tgtEl>
                                        <p:attrNameLst>
                                          <p:attrName>style.visibility</p:attrName>
                                        </p:attrNameLst>
                                      </p:cBhvr>
                                      <p:to>
                                        <p:strVal val="visible"/>
                                      </p:to>
                                    </p:set>
                                    <p:animEffect transition="in" filter="dissolve">
                                      <p:cBhvr>
                                        <p:cTn id="12" dur="500"/>
                                        <p:tgtEl>
                                          <p:spTgt spid="243819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38200"/>
                                        </p:tgtEl>
                                        <p:attrNameLst>
                                          <p:attrName>style.visibility</p:attrName>
                                        </p:attrNameLst>
                                      </p:cBhvr>
                                      <p:to>
                                        <p:strVal val="visible"/>
                                      </p:to>
                                    </p:set>
                                    <p:animEffect transition="in" filter="dissolve">
                                      <p:cBhvr>
                                        <p:cTn id="17" dur="500"/>
                                        <p:tgtEl>
                                          <p:spTgt spid="243820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38201"/>
                                        </p:tgtEl>
                                        <p:attrNameLst>
                                          <p:attrName>style.visibility</p:attrName>
                                        </p:attrNameLst>
                                      </p:cBhvr>
                                      <p:to>
                                        <p:strVal val="visible"/>
                                      </p:to>
                                    </p:set>
                                    <p:animEffect transition="in" filter="dissolve">
                                      <p:cBhvr>
                                        <p:cTn id="22" dur="500"/>
                                        <p:tgtEl>
                                          <p:spTgt spid="2438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8198" grpId="0"/>
      <p:bldP spid="2438199" grpId="0"/>
      <p:bldP spid="2438200" grpId="0"/>
      <p:bldP spid="2438201"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0499" name="Text Box 3"/>
          <p:cNvSpPr txBox="1"/>
          <p:nvPr/>
        </p:nvSpPr>
        <p:spPr>
          <a:xfrm>
            <a:off x="395288" y="1376363"/>
            <a:ext cx="3886200" cy="579437"/>
          </a:xfrm>
          <a:prstGeom prst="rect">
            <a:avLst/>
          </a:prstGeom>
          <a:noFill/>
          <a:ln w="9525">
            <a:noFill/>
          </a:ln>
        </p:spPr>
        <p:txBody>
          <a:bodyPr>
            <a:spAutoFit/>
          </a:bodyPr>
          <a:p>
            <a:pPr eaLnBrk="1" hangingPunct="1">
              <a:buClr>
                <a:srgbClr val="FF0000"/>
              </a:buClr>
              <a:buFont typeface="Wingdings" panose="05000000000000000000" pitchFamily="2" charset="2"/>
            </a:pPr>
            <a:r>
              <a:rPr lang="en-US" altLang="zh-CN" sz="3200" dirty="0">
                <a:solidFill>
                  <a:schemeClr val="tx1"/>
                </a:solidFill>
                <a:latin typeface="Times New Roman" panose="02020603050405020304" pitchFamily="18" charset="0"/>
                <a:ea typeface="黑体" panose="02010609060101010101" pitchFamily="49" charset="-122"/>
              </a:rPr>
              <a:t>3. </a:t>
            </a:r>
            <a:r>
              <a:rPr lang="zh-CN" altLang="en-US" sz="3200" dirty="0">
                <a:solidFill>
                  <a:schemeClr val="tx1"/>
                </a:solidFill>
                <a:latin typeface="Times New Roman" panose="02020603050405020304" pitchFamily="18" charset="0"/>
                <a:ea typeface="黑体" panose="02010609060101010101" pitchFamily="49" charset="-122"/>
              </a:rPr>
              <a:t>寄生电容的影响</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10559" name="Text Box 63"/>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10501" name="Text Box 5"/>
          <p:cNvSpPr txBox="1"/>
          <p:nvPr/>
        </p:nvSpPr>
        <p:spPr>
          <a:xfrm>
            <a:off x="188913" y="1951038"/>
            <a:ext cx="4527550" cy="1917700"/>
          </a:xfrm>
          <a:prstGeom prst="rect">
            <a:avLst/>
          </a:prstGeom>
          <a:noFill/>
          <a:ln w="9525">
            <a:noFill/>
          </a:ln>
        </p:spPr>
        <p:txBody>
          <a:bodyPr>
            <a:spAutoFit/>
          </a:bodyPr>
          <a:p>
            <a:pPr eaLnBrk="1" hangingPunct="1"/>
            <a:r>
              <a:rPr lang="zh-CN" altLang="en-US" sz="2400" dirty="0">
                <a:solidFill>
                  <a:srgbClr val="3333FF"/>
                </a:solidFill>
                <a:latin typeface="Times New Roman" panose="02020603050405020304" pitchFamily="18" charset="0"/>
                <a:ea typeface="黑体" panose="02010609060101010101" pitchFamily="49" charset="-122"/>
              </a:rPr>
              <a:t>在逻辑信号输入端与保持电容器之间存在寄生电容，当逻辑信号输入端加一跳变的控制信号时，由于寄生电容的耦合作用，也将引起采样</a:t>
            </a:r>
            <a:r>
              <a:rPr lang="en-US" altLang="zh-CN" sz="2400" dirty="0">
                <a:solidFill>
                  <a:srgbClr val="3333FF"/>
                </a:solidFill>
                <a:latin typeface="Times New Roman" panose="02020603050405020304" pitchFamily="18" charset="0"/>
                <a:ea typeface="黑体" panose="02010609060101010101" pitchFamily="49" charset="-122"/>
              </a:rPr>
              <a:t>/</a:t>
            </a:r>
            <a:r>
              <a:rPr lang="zh-CN" altLang="en-US" sz="2400" dirty="0">
                <a:solidFill>
                  <a:srgbClr val="3333FF"/>
                </a:solidFill>
                <a:latin typeface="Times New Roman" panose="02020603050405020304" pitchFamily="18" charset="0"/>
                <a:ea typeface="黑体" panose="02010609060101010101" pitchFamily="49" charset="-122"/>
              </a:rPr>
              <a:t>保持器的输出误差。</a:t>
            </a:r>
            <a:endParaRPr lang="zh-CN" altLang="en-US" sz="2400" dirty="0">
              <a:solidFill>
                <a:srgbClr val="3333FF"/>
              </a:solidFill>
              <a:latin typeface="Times New Roman" panose="02020603050405020304" pitchFamily="18" charset="0"/>
              <a:ea typeface="黑体" panose="02010609060101010101" pitchFamily="49" charset="-122"/>
            </a:endParaRPr>
          </a:p>
        </p:txBody>
      </p:sp>
      <p:sp>
        <p:nvSpPr>
          <p:cNvPr id="2410608" name="Text Box 112"/>
          <p:cNvSpPr txBox="1"/>
          <p:nvPr/>
        </p:nvSpPr>
        <p:spPr>
          <a:xfrm>
            <a:off x="188913" y="3968750"/>
            <a:ext cx="4608512" cy="2016125"/>
          </a:xfrm>
          <a:prstGeom prst="rect">
            <a:avLst/>
          </a:prstGeom>
          <a:noFill/>
          <a:ln w="9525">
            <a:noFill/>
          </a:ln>
        </p:spPr>
        <p:txBody>
          <a:bodyPr>
            <a:spAutoFit/>
          </a:bodyPr>
          <a:p>
            <a:pPr eaLnBrk="1" hangingPunct="1">
              <a:lnSpc>
                <a:spcPct val="105000"/>
              </a:lnSpc>
            </a:pPr>
            <a:r>
              <a:rPr lang="zh-CN" altLang="en-US" sz="2000" dirty="0">
                <a:solidFill>
                  <a:srgbClr val="FF0000"/>
                </a:solidFill>
                <a:latin typeface="黑体" panose="02010609060101010101" pitchFamily="49" charset="-122"/>
                <a:ea typeface="黑体" panose="02010609060101010101" pitchFamily="49" charset="-122"/>
              </a:rPr>
              <a:t>例如：</a:t>
            </a:r>
            <a:r>
              <a:rPr lang="en-US" altLang="zh-CN" sz="2000" dirty="0">
                <a:solidFill>
                  <a:schemeClr val="tx1"/>
                </a:solidFill>
                <a:latin typeface="Times New Roman" panose="02020603050405020304" pitchFamily="18" charset="0"/>
                <a:ea typeface="黑体" panose="02010609060101010101" pitchFamily="49" charset="-122"/>
              </a:rPr>
              <a:t>LF198</a:t>
            </a:r>
            <a:r>
              <a:rPr lang="zh-CN" altLang="en-US" sz="2000" dirty="0">
                <a:solidFill>
                  <a:schemeClr val="tx1"/>
                </a:solidFill>
                <a:latin typeface="黑体" panose="02010609060101010101" pitchFamily="49" charset="-122"/>
                <a:ea typeface="黑体" panose="02010609060101010101" pitchFamily="49" charset="-122"/>
              </a:rPr>
              <a:t>，若保持电容是</a:t>
            </a:r>
            <a:r>
              <a:rPr lang="en-US" altLang="zh-CN" sz="2000" dirty="0">
                <a:solidFill>
                  <a:srgbClr val="FF0000"/>
                </a:solidFill>
                <a:latin typeface="Times New Roman" panose="02020603050405020304" pitchFamily="18" charset="0"/>
                <a:ea typeface="黑体" panose="02010609060101010101" pitchFamily="49" charset="-122"/>
              </a:rPr>
              <a:t>0.01</a:t>
            </a:r>
            <a:r>
              <a:rPr lang="en-US" altLang="zh-CN" sz="2000" dirty="0">
                <a:solidFill>
                  <a:srgbClr val="FF0000"/>
                </a:solidFill>
                <a:latin typeface="Times New Roman" panose="02020603050405020304" pitchFamily="18" charset="0"/>
                <a:ea typeface="黑体" panose="02010609060101010101" pitchFamily="49" charset="-122"/>
                <a:sym typeface="Symbol" panose="05050102010706020507" pitchFamily="18" charset="2"/>
              </a:rPr>
              <a:t></a:t>
            </a:r>
            <a:r>
              <a:rPr lang="en-US" altLang="zh-CN" sz="2000" dirty="0">
                <a:solidFill>
                  <a:srgbClr val="FF0000"/>
                </a:solidFill>
                <a:latin typeface="Times New Roman" panose="02020603050405020304" pitchFamily="18" charset="0"/>
                <a:ea typeface="黑体" panose="02010609060101010101" pitchFamily="49" charset="-122"/>
              </a:rPr>
              <a:t>F</a:t>
            </a:r>
            <a:r>
              <a:rPr lang="zh-CN" altLang="en-US" sz="2000" dirty="0">
                <a:solidFill>
                  <a:schemeClr val="tx1"/>
                </a:solidFill>
                <a:latin typeface="黑体" panose="02010609060101010101" pitchFamily="49" charset="-122"/>
                <a:ea typeface="黑体" panose="02010609060101010101" pitchFamily="49" charset="-122"/>
              </a:rPr>
              <a:t>，设寄生电容为</a:t>
            </a:r>
            <a:r>
              <a:rPr lang="en-US" altLang="zh-CN" sz="2000" dirty="0">
                <a:solidFill>
                  <a:srgbClr val="FF0000"/>
                </a:solidFill>
                <a:latin typeface="Times New Roman" panose="02020603050405020304" pitchFamily="18" charset="0"/>
                <a:ea typeface="黑体" panose="02010609060101010101" pitchFamily="49" charset="-122"/>
              </a:rPr>
              <a:t>1pF</a:t>
            </a:r>
            <a:r>
              <a:rPr lang="zh-CN" altLang="en-US" sz="2000" dirty="0">
                <a:solidFill>
                  <a:schemeClr val="tx1"/>
                </a:solidFill>
                <a:latin typeface="黑体" panose="02010609060101010101" pitchFamily="49" charset="-122"/>
                <a:ea typeface="黑体" panose="02010609060101010101" pitchFamily="49" charset="-122"/>
              </a:rPr>
              <a:t>，当逻辑信号输入端加一个</a:t>
            </a:r>
            <a:r>
              <a:rPr lang="en-US" altLang="zh-CN" sz="2000" dirty="0">
                <a:solidFill>
                  <a:srgbClr val="FF0000"/>
                </a:solidFill>
                <a:latin typeface="Times New Roman" panose="02020603050405020304" pitchFamily="18" charset="0"/>
                <a:ea typeface="黑体" panose="02010609060101010101" pitchFamily="49" charset="-122"/>
              </a:rPr>
              <a:t>5V</a:t>
            </a:r>
            <a:r>
              <a:rPr lang="zh-CN" altLang="en-US" sz="2000" dirty="0">
                <a:solidFill>
                  <a:schemeClr val="tx1"/>
                </a:solidFill>
                <a:latin typeface="黑体" panose="02010609060101010101" pitchFamily="49" charset="-122"/>
                <a:ea typeface="黑体" panose="02010609060101010101" pitchFamily="49" charset="-122"/>
              </a:rPr>
              <a:t>的跳变信号，使采样</a:t>
            </a:r>
            <a:r>
              <a:rPr lang="en-US" altLang="zh-CN" sz="2000" dirty="0">
                <a:solidFill>
                  <a:schemeClr val="tx1"/>
                </a:solidFill>
                <a:latin typeface="黑体" panose="02010609060101010101" pitchFamily="49" charset="-122"/>
                <a:ea typeface="黑体" panose="02010609060101010101" pitchFamily="49" charset="-122"/>
              </a:rPr>
              <a:t>/</a:t>
            </a:r>
            <a:r>
              <a:rPr lang="zh-CN" altLang="en-US" sz="2000" dirty="0">
                <a:solidFill>
                  <a:schemeClr val="tx1"/>
                </a:solidFill>
                <a:latin typeface="黑体" panose="02010609060101010101" pitchFamily="49" charset="-122"/>
                <a:ea typeface="黑体" panose="02010609060101010101" pitchFamily="49" charset="-122"/>
              </a:rPr>
              <a:t>保持器从跟踪模式变为保持模式，由于寄生电容的影响，相当于在模拟输入端增加了</a:t>
            </a:r>
            <a:r>
              <a:rPr lang="en-US" altLang="zh-CN" sz="2000" dirty="0">
                <a:solidFill>
                  <a:schemeClr val="tx1"/>
                </a:solidFill>
                <a:latin typeface="Times New Roman" panose="02020603050405020304" pitchFamily="18" charset="0"/>
                <a:ea typeface="黑体" panose="02010609060101010101" pitchFamily="49" charset="-122"/>
              </a:rPr>
              <a:t>1mV</a:t>
            </a:r>
            <a:r>
              <a:rPr lang="zh-CN" altLang="en-US" sz="2000" dirty="0">
                <a:solidFill>
                  <a:schemeClr val="tx1"/>
                </a:solidFill>
                <a:latin typeface="黑体" panose="02010609060101010101" pitchFamily="49" charset="-122"/>
                <a:ea typeface="黑体" panose="02010609060101010101" pitchFamily="49" charset="-122"/>
              </a:rPr>
              <a:t>的输入信号，从而引起输出误差。</a:t>
            </a:r>
            <a:endParaRPr lang="zh-CN" altLang="en-US" sz="2000" dirty="0">
              <a:solidFill>
                <a:schemeClr val="tx1"/>
              </a:solidFill>
              <a:latin typeface="黑体" panose="02010609060101010101" pitchFamily="49" charset="-122"/>
              <a:ea typeface="黑体" panose="02010609060101010101" pitchFamily="49" charset="-122"/>
            </a:endParaRPr>
          </a:p>
        </p:txBody>
      </p:sp>
      <p:sp>
        <p:nvSpPr>
          <p:cNvPr id="55302" name="Text Box 3"/>
          <p:cNvSpPr txBox="1"/>
          <p:nvPr/>
        </p:nvSpPr>
        <p:spPr>
          <a:xfrm>
            <a:off x="395288" y="728663"/>
            <a:ext cx="58229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5.6.2 </a:t>
            </a:r>
            <a:r>
              <a:rPr lang="zh-CN" altLang="en-US" sz="3200" dirty="0">
                <a:latin typeface="Times New Roman" panose="02020603050405020304" pitchFamily="18" charset="0"/>
              </a:rPr>
              <a:t>电路设计中应注意的问题</a:t>
            </a:r>
            <a:endParaRPr lang="zh-CN" altLang="en-US" sz="3200" dirty="0">
              <a:latin typeface="Times New Roman" panose="02020603050405020304" pitchFamily="18" charset="0"/>
            </a:endParaRPr>
          </a:p>
        </p:txBody>
      </p:sp>
      <p:pic>
        <p:nvPicPr>
          <p:cNvPr id="55303" name="Picture 64"/>
          <p:cNvPicPr>
            <a:picLocks noChangeAspect="1"/>
          </p:cNvPicPr>
          <p:nvPr/>
        </p:nvPicPr>
        <p:blipFill>
          <a:blip r:embed="rId1"/>
          <a:stretch>
            <a:fillRect/>
          </a:stretch>
        </p:blipFill>
        <p:spPr>
          <a:xfrm>
            <a:off x="4678363" y="1889125"/>
            <a:ext cx="4465637" cy="3511550"/>
          </a:xfrm>
          <a:prstGeom prst="rect">
            <a:avLst/>
          </a:prstGeom>
          <a:noFill/>
          <a:ln w="9525">
            <a:noFill/>
          </a:ln>
        </p:spPr>
      </p:pic>
      <p:sp>
        <p:nvSpPr>
          <p:cNvPr id="122" name="Text Box 53"/>
          <p:cNvSpPr txBox="1">
            <a:spLocks noChangeArrowheads="1"/>
          </p:cNvSpPr>
          <p:nvPr/>
        </p:nvSpPr>
        <p:spPr bwMode="auto">
          <a:xfrm>
            <a:off x="4832350" y="5399088"/>
            <a:ext cx="4149725" cy="369888"/>
          </a:xfrm>
          <a:prstGeom prst="rect">
            <a:avLst/>
          </a:prstGeom>
          <a:noFill/>
          <a:ln>
            <a:noFill/>
          </a:ln>
          <a:effectLst/>
        </p:spPr>
        <p:txBody>
          <a:bodyPr>
            <a:spAutoFit/>
          </a:bodyPr>
          <a:lstStyle/>
          <a:p>
            <a:pPr marR="0" algn="ctr" defTabSz="914400" eaLnBrk="1" hangingPunct="1">
              <a:lnSpc>
                <a:spcPct val="90000"/>
              </a:lnSpc>
              <a:buClrTx/>
              <a:buSzTx/>
              <a:buFontTx/>
              <a:buNone/>
              <a:defRPr/>
            </a:pP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AD583</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保持逻辑</a:t>
            </a:r>
            <a:endParaRPr kumimoji="1" lang="zh-CN" altLang="en-US" sz="2000" kern="1200" cap="none" spc="0" normalizeH="0" baseline="0" noProof="0" dirty="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10499"/>
                                        </p:tgtEl>
                                        <p:attrNameLst>
                                          <p:attrName>style.visibility</p:attrName>
                                        </p:attrNameLst>
                                      </p:cBhvr>
                                      <p:to>
                                        <p:strVal val="visible"/>
                                      </p:to>
                                    </p:set>
                                    <p:animEffect transition="in" filter="dissolve">
                                      <p:cBhvr>
                                        <p:cTn id="7" dur="500"/>
                                        <p:tgtEl>
                                          <p:spTgt spid="24104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10501"/>
                                        </p:tgtEl>
                                        <p:attrNameLst>
                                          <p:attrName>style.visibility</p:attrName>
                                        </p:attrNameLst>
                                      </p:cBhvr>
                                      <p:to>
                                        <p:strVal val="visible"/>
                                      </p:to>
                                    </p:set>
                                    <p:animEffect transition="in" filter="dissolve">
                                      <p:cBhvr>
                                        <p:cTn id="12" dur="500"/>
                                        <p:tgtEl>
                                          <p:spTgt spid="241050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10608"/>
                                        </p:tgtEl>
                                        <p:attrNameLst>
                                          <p:attrName>style.visibility</p:attrName>
                                        </p:attrNameLst>
                                      </p:cBhvr>
                                      <p:to>
                                        <p:strVal val="visible"/>
                                      </p:to>
                                    </p:set>
                                    <p:animEffect transition="in" filter="dissolve">
                                      <p:cBhvr>
                                        <p:cTn id="17" dur="500"/>
                                        <p:tgtEl>
                                          <p:spTgt spid="24106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0499" grpId="0"/>
      <p:bldP spid="2410501" grpId="0"/>
      <p:bldP spid="2410608"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6322" name="Text Box 2"/>
          <p:cNvSpPr txBox="1"/>
          <p:nvPr/>
        </p:nvSpPr>
        <p:spPr>
          <a:xfrm>
            <a:off x="395288" y="1376363"/>
            <a:ext cx="3886200" cy="579437"/>
          </a:xfrm>
          <a:prstGeom prst="rect">
            <a:avLst/>
          </a:prstGeom>
          <a:noFill/>
          <a:ln w="9525">
            <a:noFill/>
          </a:ln>
        </p:spPr>
        <p:txBody>
          <a:bodyPr>
            <a:spAutoFit/>
          </a:bodyPr>
          <a:p>
            <a:pPr eaLnBrk="1" hangingPunct="1">
              <a:buClr>
                <a:srgbClr val="FF0000"/>
              </a:buClr>
              <a:buFont typeface="Wingdings" panose="05000000000000000000" pitchFamily="2" charset="2"/>
            </a:pPr>
            <a:r>
              <a:rPr lang="en-US" altLang="zh-CN" sz="3200" dirty="0">
                <a:solidFill>
                  <a:schemeClr val="tx1"/>
                </a:solidFill>
                <a:latin typeface="Times New Roman" panose="02020603050405020304" pitchFamily="18" charset="0"/>
                <a:ea typeface="黑体" panose="02010609060101010101" pitchFamily="49" charset="-122"/>
              </a:rPr>
              <a:t>3. </a:t>
            </a:r>
            <a:r>
              <a:rPr lang="zh-CN" altLang="en-US" sz="3200" dirty="0">
                <a:solidFill>
                  <a:schemeClr val="tx1"/>
                </a:solidFill>
                <a:latin typeface="Times New Roman" panose="02020603050405020304" pitchFamily="18" charset="0"/>
                <a:ea typeface="黑体" panose="02010609060101010101" pitchFamily="49" charset="-122"/>
              </a:rPr>
              <a:t>寄生电容的影响</a:t>
            </a:r>
            <a:endParaRPr lang="zh-CN" altLang="en-US" sz="3200" dirty="0">
              <a:solidFill>
                <a:schemeClr val="tx1"/>
              </a:solidFill>
              <a:latin typeface="Times New Roman" panose="02020603050405020304" pitchFamily="18" charset="0"/>
              <a:ea typeface="黑体" panose="02010609060101010101" pitchFamily="49" charset="-122"/>
            </a:endParaRPr>
          </a:p>
        </p:txBody>
      </p:sp>
      <p:sp>
        <p:nvSpPr>
          <p:cNvPr id="2439172" name="Text Box 4"/>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39230" name="Text Box 62"/>
          <p:cNvSpPr txBox="1"/>
          <p:nvPr/>
        </p:nvSpPr>
        <p:spPr>
          <a:xfrm>
            <a:off x="323850" y="1920875"/>
            <a:ext cx="2428875" cy="579438"/>
          </a:xfrm>
          <a:prstGeom prst="rect">
            <a:avLst/>
          </a:prstGeom>
          <a:noFill/>
          <a:ln w="9525">
            <a:noFill/>
          </a:ln>
        </p:spPr>
        <p:txBody>
          <a:bodyPr wrap="none">
            <a:spAutoFit/>
          </a:bodyPr>
          <a:p>
            <a:pPr eaLnBrk="1" hangingPunct="1"/>
            <a:r>
              <a:rPr lang="zh-CN" altLang="en-US" sz="3200" dirty="0">
                <a:solidFill>
                  <a:srgbClr val="FF0000"/>
                </a:solidFill>
                <a:latin typeface="楷体_GB2312" pitchFamily="49" charset="-122"/>
              </a:rPr>
              <a:t>解决方法： </a:t>
            </a:r>
            <a:endParaRPr lang="zh-CN" altLang="en-US" sz="3200" dirty="0">
              <a:solidFill>
                <a:srgbClr val="FF0000"/>
              </a:solidFill>
              <a:latin typeface="楷体_GB2312" pitchFamily="49" charset="-122"/>
            </a:endParaRPr>
          </a:p>
        </p:txBody>
      </p:sp>
      <p:sp>
        <p:nvSpPr>
          <p:cNvPr id="2439231" name="Text Box 63"/>
          <p:cNvSpPr txBox="1"/>
          <p:nvPr/>
        </p:nvSpPr>
        <p:spPr>
          <a:xfrm>
            <a:off x="287338" y="2636838"/>
            <a:ext cx="2879725" cy="3081337"/>
          </a:xfrm>
          <a:prstGeom prst="rect">
            <a:avLst/>
          </a:prstGeom>
          <a:solidFill>
            <a:srgbClr val="CCFFCC"/>
          </a:solidFill>
          <a:ln w="9525">
            <a:noFill/>
          </a:ln>
        </p:spPr>
        <p:txBody>
          <a:bodyPr>
            <a:spAutoFit/>
          </a:bodyPr>
          <a:p>
            <a:pPr eaLnBrk="1" hangingPunct="1"/>
            <a:r>
              <a:rPr lang="zh-CN" altLang="en-US" sz="2800" dirty="0">
                <a:solidFill>
                  <a:schemeClr val="accent2"/>
                </a:solidFill>
                <a:latin typeface="楷体_GB2312" pitchFamily="49" charset="-122"/>
              </a:rPr>
              <a:t>在印刷板上做一与采样</a:t>
            </a:r>
            <a:r>
              <a:rPr lang="en-US" altLang="zh-CN" sz="2800" dirty="0">
                <a:solidFill>
                  <a:schemeClr val="accent2"/>
                </a:solidFill>
                <a:latin typeface="楷体_GB2312" pitchFamily="49" charset="-122"/>
              </a:rPr>
              <a:t>/</a:t>
            </a:r>
            <a:r>
              <a:rPr lang="zh-CN" altLang="en-US" sz="2800" dirty="0">
                <a:solidFill>
                  <a:schemeClr val="accent2"/>
                </a:solidFill>
                <a:latin typeface="楷体_GB2312" pitchFamily="49" charset="-122"/>
              </a:rPr>
              <a:t>保持器输出端相连接的短路环，把保持电容的非接地脚包围起来，以减少寄生电容的影响。</a:t>
            </a:r>
            <a:endParaRPr lang="zh-CN" altLang="en-US" sz="2800" dirty="0">
              <a:solidFill>
                <a:schemeClr val="accent2"/>
              </a:solidFill>
              <a:latin typeface="楷体_GB2312" pitchFamily="49" charset="-122"/>
            </a:endParaRPr>
          </a:p>
        </p:txBody>
      </p:sp>
      <p:sp>
        <p:nvSpPr>
          <p:cNvPr id="56326" name="Text Box 3"/>
          <p:cNvSpPr txBox="1"/>
          <p:nvPr/>
        </p:nvSpPr>
        <p:spPr>
          <a:xfrm>
            <a:off x="395288" y="728663"/>
            <a:ext cx="58229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5.6.2 </a:t>
            </a:r>
            <a:r>
              <a:rPr lang="zh-CN" altLang="en-US" sz="3200" dirty="0">
                <a:latin typeface="Times New Roman" panose="02020603050405020304" pitchFamily="18" charset="0"/>
              </a:rPr>
              <a:t>电路设计中应注意的问题</a:t>
            </a:r>
            <a:endParaRPr lang="zh-CN" altLang="en-US" sz="3200" dirty="0">
              <a:latin typeface="Times New Roman" panose="02020603050405020304" pitchFamily="18" charset="0"/>
            </a:endParaRPr>
          </a:p>
        </p:txBody>
      </p:sp>
      <p:pic>
        <p:nvPicPr>
          <p:cNvPr id="56327" name="Picture 181"/>
          <p:cNvPicPr>
            <a:picLocks noChangeAspect="1"/>
          </p:cNvPicPr>
          <p:nvPr/>
        </p:nvPicPr>
        <p:blipFill>
          <a:blip r:embed="rId1"/>
          <a:stretch>
            <a:fillRect/>
          </a:stretch>
        </p:blipFill>
        <p:spPr>
          <a:xfrm>
            <a:off x="3303588" y="1920875"/>
            <a:ext cx="5829300" cy="3509963"/>
          </a:xfrm>
          <a:prstGeom prst="rect">
            <a:avLst/>
          </a:prstGeom>
          <a:noFill/>
          <a:ln w="9525">
            <a:noFill/>
          </a:ln>
        </p:spPr>
      </p:pic>
      <p:sp>
        <p:nvSpPr>
          <p:cNvPr id="287" name="Rectangle 357"/>
          <p:cNvSpPr>
            <a:spLocks noChangeArrowheads="1"/>
          </p:cNvSpPr>
          <p:nvPr/>
        </p:nvSpPr>
        <p:spPr bwMode="auto">
          <a:xfrm>
            <a:off x="4281488" y="5610225"/>
            <a:ext cx="3722688" cy="276225"/>
          </a:xfrm>
          <a:prstGeom prst="rect">
            <a:avLst/>
          </a:prstGeom>
          <a:noFill/>
          <a:ln>
            <a:noFill/>
          </a:ln>
        </p:spPr>
        <p:txBody>
          <a:bodyPr lIns="0" tIns="0" rIns="0" bIns="0">
            <a:spAutoFit/>
          </a:bodyPr>
          <a:lstStyle/>
          <a:p>
            <a:pPr marL="0" marR="0" lvl="0" indent="0" algn="ctr" defTabSz="914400" rtl="0" eaLnBrk="1" fontAlgn="base" latinLnBrk="0" hangingPunct="1">
              <a:lnSpc>
                <a:spcPct val="90000"/>
              </a:lnSpc>
              <a:spcBef>
                <a:spcPct val="0"/>
              </a:spcBef>
              <a:spcAft>
                <a:spcPct val="0"/>
              </a:spcAft>
              <a:buClrTx/>
              <a:buSzTx/>
              <a:buFontTx/>
              <a:buNone/>
              <a:defRPr/>
            </a:pPr>
            <a:r>
              <a:rPr kumimoji="1" lang="zh-CN" altLang="en-US" sz="2000" b="1" i="0" u="none" strike="noStrike" kern="1200" cap="none" spc="0" normalizeH="0" baseline="0" noProof="0" dirty="0">
                <a:ln>
                  <a:noFill/>
                </a:ln>
                <a:solidFill>
                  <a:srgbClr val="000080"/>
                </a:solidFill>
                <a:effectLst>
                  <a:outerShdw blurRad="38100" dist="38100" dir="2700000" algn="tl">
                    <a:srgbClr val="C0C0C0"/>
                  </a:outerShdw>
                </a:effectLst>
                <a:uLnTx/>
                <a:uFillTx/>
                <a:latin typeface="楷体_GB2312" pitchFamily="49" charset="-122"/>
                <a:ea typeface="楷体_GB2312" pitchFamily="49" charset="-122"/>
                <a:cs typeface="+mn-cs"/>
              </a:rPr>
              <a:t>减少寄生电容影响的措施</a:t>
            </a:r>
            <a:endParaRPr kumimoji="1" lang="zh-CN" altLang="en-US" sz="2000" b="1" i="0" u="none" strike="noStrike" kern="1200" cap="none" spc="0" normalizeH="0" baseline="0" noProof="0" dirty="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9230"/>
                                        </p:tgtEl>
                                        <p:attrNameLst>
                                          <p:attrName>style.visibility</p:attrName>
                                        </p:attrNameLst>
                                      </p:cBhvr>
                                      <p:to>
                                        <p:strVal val="visible"/>
                                      </p:to>
                                    </p:set>
                                    <p:animEffect transition="in" filter="dissolve">
                                      <p:cBhvr>
                                        <p:cTn id="7" dur="500"/>
                                        <p:tgtEl>
                                          <p:spTgt spid="24392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39231"/>
                                        </p:tgtEl>
                                        <p:attrNameLst>
                                          <p:attrName>style.visibility</p:attrName>
                                        </p:attrNameLst>
                                      </p:cBhvr>
                                      <p:to>
                                        <p:strVal val="visible"/>
                                      </p:to>
                                    </p:set>
                                    <p:animEffect transition="in" filter="dissolve">
                                      <p:cBhvr>
                                        <p:cTn id="12" dur="500"/>
                                        <p:tgtEl>
                                          <p:spTgt spid="2439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9230" grpId="0"/>
      <p:bldP spid="2439231"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9172" name="Text Box 4"/>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79" name="Text Box 4"/>
          <p:cNvSpPr txBox="1"/>
          <p:nvPr/>
        </p:nvSpPr>
        <p:spPr>
          <a:xfrm>
            <a:off x="179388" y="847725"/>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dirty="0">
                <a:latin typeface="Times New Roman" panose="02020603050405020304" pitchFamily="18" charset="0"/>
              </a:rPr>
              <a:t>习题：</a:t>
            </a:r>
            <a:endParaRPr lang="zh-CN" altLang="en-US" dirty="0">
              <a:latin typeface="Times New Roman" panose="02020603050405020304" pitchFamily="18" charset="0"/>
            </a:endParaRPr>
          </a:p>
        </p:txBody>
      </p:sp>
      <p:sp>
        <p:nvSpPr>
          <p:cNvPr id="2" name="矩形 1"/>
          <p:cNvSpPr/>
          <p:nvPr/>
        </p:nvSpPr>
        <p:spPr>
          <a:xfrm>
            <a:off x="1809750" y="1114425"/>
            <a:ext cx="6902450" cy="1755775"/>
          </a:xfrm>
          <a:prstGeom prst="rect">
            <a:avLst/>
          </a:prstGeom>
          <a:noFill/>
          <a:ln w="9525">
            <a:noFill/>
          </a:ln>
        </p:spPr>
        <p:txBody>
          <a:bodyPr>
            <a:spAutoFit/>
          </a:bodyPr>
          <a:p>
            <a:pPr eaLnBrk="1" hangingPunct="1">
              <a:lnSpc>
                <a:spcPct val="90000"/>
              </a:lnSpc>
            </a:pP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1</a:t>
            </a:r>
            <a:r>
              <a:rPr lang="zh-CN" altLang="zh-CN" sz="2400" dirty="0">
                <a:solidFill>
                  <a:schemeClr val="tx1"/>
                </a:solidFill>
                <a:latin typeface="Times New Roman" panose="02020603050405020304" pitchFamily="18" charset="0"/>
              </a:rPr>
              <a:t>）名词解释孔径时间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AP</a:t>
            </a:r>
            <a:r>
              <a:rPr lang="zh-CN" altLang="zh-CN" sz="2400" dirty="0">
                <a:solidFill>
                  <a:schemeClr val="tx1"/>
                </a:solidFill>
                <a:latin typeface="Times New Roman" panose="02020603050405020304" pitchFamily="18" charset="0"/>
              </a:rPr>
              <a:t>和捕捉时间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AC</a:t>
            </a:r>
            <a:r>
              <a:rPr lang="zh-CN" altLang="zh-CN" sz="2400" dirty="0">
                <a:solidFill>
                  <a:schemeClr val="tx1"/>
                </a:solidFill>
                <a:latin typeface="Times New Roman" panose="02020603050405020304" pitchFamily="18" charset="0"/>
              </a:rPr>
              <a:t>。</a:t>
            </a:r>
            <a:endParaRPr lang="zh-CN" altLang="zh-CN" sz="2400" dirty="0">
              <a:solidFill>
                <a:schemeClr val="tx1"/>
              </a:solidFill>
              <a:latin typeface="Times New Roman" panose="02020603050405020304" pitchFamily="18" charset="0"/>
            </a:endParaRPr>
          </a:p>
          <a:p>
            <a:pPr eaLnBrk="1" hangingPunct="1">
              <a:lnSpc>
                <a:spcPct val="90000"/>
              </a:lnSpc>
            </a:pP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2</a:t>
            </a:r>
            <a:r>
              <a:rPr lang="zh-CN" altLang="zh-CN" sz="2400" dirty="0">
                <a:solidFill>
                  <a:schemeClr val="tx1"/>
                </a:solidFill>
                <a:latin typeface="Times New Roman" panose="02020603050405020304" pitchFamily="18" charset="0"/>
              </a:rPr>
              <a:t>）一个数据采集系统，孔径时间（包括抖动时间）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AP</a:t>
            </a:r>
            <a:r>
              <a:rPr lang="en-US" altLang="zh-CN" sz="2400" dirty="0">
                <a:solidFill>
                  <a:schemeClr val="tx1"/>
                </a:solidFill>
                <a:latin typeface="Times New Roman" panose="02020603050405020304" pitchFamily="18" charset="0"/>
              </a:rPr>
              <a:t>=80ns</a:t>
            </a:r>
            <a:r>
              <a:rPr lang="zh-CN" altLang="zh-CN" sz="2400" dirty="0">
                <a:solidFill>
                  <a:schemeClr val="tx1"/>
                </a:solidFill>
                <a:latin typeface="Times New Roman" panose="02020603050405020304" pitchFamily="18" charset="0"/>
              </a:rPr>
              <a:t>，捕捉时间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AC</a:t>
            </a:r>
            <a:r>
              <a:rPr lang="en-US" altLang="zh-CN" sz="2400" dirty="0">
                <a:solidFill>
                  <a:schemeClr val="tx1"/>
                </a:solidFill>
                <a:latin typeface="Times New Roman" panose="02020603050405020304" pitchFamily="18" charset="0"/>
              </a:rPr>
              <a:t>=1us</a:t>
            </a: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A/D</a:t>
            </a:r>
            <a:r>
              <a:rPr lang="zh-CN" altLang="zh-CN" sz="2400" dirty="0">
                <a:solidFill>
                  <a:schemeClr val="tx1"/>
                </a:solidFill>
                <a:latin typeface="Times New Roman" panose="02020603050405020304" pitchFamily="18" charset="0"/>
              </a:rPr>
              <a:t>转换时间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CONV</a:t>
            </a:r>
            <a:r>
              <a:rPr lang="en-US" altLang="zh-CN" sz="2400" dirty="0">
                <a:solidFill>
                  <a:schemeClr val="tx1"/>
                </a:solidFill>
                <a:latin typeface="Times New Roman" panose="02020603050405020304" pitchFamily="18" charset="0"/>
              </a:rPr>
              <a:t>=10us</a:t>
            </a:r>
            <a:r>
              <a:rPr lang="zh-CN" altLang="zh-CN" sz="2400" dirty="0">
                <a:solidFill>
                  <a:schemeClr val="tx1"/>
                </a:solidFill>
                <a:latin typeface="Times New Roman" panose="02020603050405020304" pitchFamily="18" charset="0"/>
              </a:rPr>
              <a:t>，位数为</a:t>
            </a:r>
            <a:r>
              <a:rPr lang="en-US" altLang="zh-CN" sz="2400" i="1" dirty="0">
                <a:solidFill>
                  <a:schemeClr val="tx1"/>
                </a:solidFill>
                <a:latin typeface="Times New Roman" panose="02020603050405020304" pitchFamily="18" charset="0"/>
              </a:rPr>
              <a:t>n</a:t>
            </a:r>
            <a:r>
              <a:rPr lang="en-US" altLang="zh-CN" sz="2400" dirty="0">
                <a:solidFill>
                  <a:schemeClr val="tx1"/>
                </a:solidFill>
                <a:latin typeface="Times New Roman" panose="02020603050405020304" pitchFamily="18" charset="0"/>
              </a:rPr>
              <a:t>=8</a:t>
            </a:r>
            <a:r>
              <a:rPr lang="zh-CN" altLang="zh-CN" sz="2400" dirty="0">
                <a:solidFill>
                  <a:schemeClr val="tx1"/>
                </a:solidFill>
                <a:latin typeface="Times New Roman" panose="02020603050405020304" pitchFamily="18" charset="0"/>
              </a:rPr>
              <a:t>，允许信号变化为</a:t>
            </a:r>
            <a:r>
              <a:rPr lang="en-US" altLang="zh-CN" sz="2400" i="1" dirty="0">
                <a:solidFill>
                  <a:schemeClr val="tx1"/>
                </a:solidFill>
                <a:latin typeface="Times New Roman" panose="02020603050405020304" pitchFamily="18" charset="0"/>
              </a:rPr>
              <a:t>LSB</a:t>
            </a:r>
            <a:r>
              <a:rPr lang="en-US" altLang="zh-CN" sz="2400" dirty="0">
                <a:solidFill>
                  <a:schemeClr val="tx1"/>
                </a:solidFill>
                <a:latin typeface="Times New Roman" panose="02020603050405020304" pitchFamily="18" charset="0"/>
              </a:rPr>
              <a:t>/2</a:t>
            </a:r>
            <a:r>
              <a:rPr lang="zh-CN" altLang="zh-CN" sz="2400" dirty="0">
                <a:solidFill>
                  <a:schemeClr val="tx1"/>
                </a:solidFill>
                <a:latin typeface="Times New Roman" panose="02020603050405020304" pitchFamily="18" charset="0"/>
              </a:rPr>
              <a:t>，计算系统可采集的最高输入信号频率。</a:t>
            </a:r>
            <a:endParaRPr lang="zh-CN" altLang="zh-CN" sz="2400" dirty="0">
              <a:solidFill>
                <a:schemeClr val="tx1"/>
              </a:solidFill>
              <a:latin typeface="Times New Roman" panose="02020603050405020304" pitchFamily="18" charset="0"/>
            </a:endParaRPr>
          </a:p>
        </p:txBody>
      </p:sp>
      <p:sp>
        <p:nvSpPr>
          <p:cNvPr id="181" name="矩形 180"/>
          <p:cNvSpPr/>
          <p:nvPr/>
        </p:nvSpPr>
        <p:spPr>
          <a:xfrm>
            <a:off x="514350" y="3140075"/>
            <a:ext cx="796925" cy="420688"/>
          </a:xfrm>
          <a:prstGeom prst="rect">
            <a:avLst/>
          </a:prstGeom>
          <a:noFill/>
          <a:ln w="9525">
            <a:noFill/>
          </a:ln>
        </p:spPr>
        <p:txBody>
          <a:bodyPr wrap="none">
            <a:spAutoFit/>
          </a:bodyPr>
          <a:p>
            <a:pPr eaLnBrk="1" hangingPunct="1">
              <a:lnSpc>
                <a:spcPct val="90000"/>
              </a:lnSpc>
            </a:pPr>
            <a:r>
              <a:rPr lang="zh-CN" altLang="zh-CN" sz="2400" dirty="0">
                <a:solidFill>
                  <a:srgbClr val="FF0000"/>
                </a:solidFill>
                <a:latin typeface="Adobe 黑体 Std R" pitchFamily="34" charset="-122"/>
                <a:ea typeface="Adobe 黑体 Std R" pitchFamily="34" charset="-122"/>
              </a:rPr>
              <a:t>答</a:t>
            </a:r>
            <a:r>
              <a:rPr lang="zh-CN" altLang="en-US" sz="2400" dirty="0">
                <a:solidFill>
                  <a:srgbClr val="FF0000"/>
                </a:solidFill>
                <a:latin typeface="Adobe 黑体 Std R" pitchFamily="34" charset="-122"/>
                <a:ea typeface="Adobe 黑体 Std R" pitchFamily="34" charset="-122"/>
              </a:rPr>
              <a:t>：</a:t>
            </a:r>
            <a:endParaRPr lang="zh-CN" altLang="en-US" sz="2400" dirty="0">
              <a:solidFill>
                <a:srgbClr val="FF0000"/>
              </a:solidFill>
              <a:latin typeface="Adobe 黑体 Std R" pitchFamily="34" charset="-122"/>
              <a:ea typeface="Adobe 黑体 Std R" pitchFamily="34" charset="-122"/>
            </a:endParaRPr>
          </a:p>
        </p:txBody>
      </p:sp>
      <p:sp>
        <p:nvSpPr>
          <p:cNvPr id="3" name="矩形 2"/>
          <p:cNvSpPr/>
          <p:nvPr/>
        </p:nvSpPr>
        <p:spPr>
          <a:xfrm>
            <a:off x="1466850" y="3122613"/>
            <a:ext cx="6610350" cy="757237"/>
          </a:xfrm>
          <a:prstGeom prst="rect">
            <a:avLst/>
          </a:prstGeom>
          <a:noFill/>
          <a:ln w="9525">
            <a:noFill/>
          </a:ln>
        </p:spPr>
        <p:txBody>
          <a:bodyPr>
            <a:spAutoFit/>
          </a:bodyPr>
          <a:p>
            <a:pPr marL="457200" indent="-457200" eaLnBrk="1" hangingPunct="1">
              <a:lnSpc>
                <a:spcPct val="90000"/>
              </a:lnSpc>
              <a:buFont typeface="Arial" panose="020B0604020202020204" pitchFamily="34" charset="0"/>
              <a:buAutoNum type="arabicPeriod"/>
            </a:pPr>
            <a:r>
              <a:rPr lang="zh-CN" altLang="zh-CN" sz="2400" dirty="0">
                <a:solidFill>
                  <a:srgbClr val="FF0000"/>
                </a:solidFill>
                <a:latin typeface="Times New Roman" panose="02020603050405020304" pitchFamily="18" charset="0"/>
              </a:rPr>
              <a:t>孔径时间</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AP</a:t>
            </a:r>
            <a:r>
              <a:rPr lang="zh-CN" altLang="zh-CN" sz="2400" dirty="0">
                <a:solidFill>
                  <a:srgbClr val="3333FF"/>
                </a:solidFill>
                <a:latin typeface="Times New Roman" panose="02020603050405020304" pitchFamily="18" charset="0"/>
              </a:rPr>
              <a:t>：对于采样</a:t>
            </a:r>
            <a:r>
              <a:rPr lang="en-US" altLang="zh-CN" sz="2400" dirty="0">
                <a:solidFill>
                  <a:srgbClr val="3333FF"/>
                </a:solidFill>
                <a:latin typeface="Times New Roman" panose="02020603050405020304" pitchFamily="18" charset="0"/>
              </a:rPr>
              <a:t>/</a:t>
            </a:r>
            <a:r>
              <a:rPr lang="zh-CN" altLang="zh-CN" sz="2400" dirty="0">
                <a:solidFill>
                  <a:srgbClr val="3333FF"/>
                </a:solidFill>
                <a:latin typeface="Times New Roman" panose="02020603050405020304" pitchFamily="18" charset="0"/>
              </a:rPr>
              <a:t>保持器，保持指令给出瞬间到模拟开关有效切断所经历的时间。 </a:t>
            </a:r>
            <a:endParaRPr lang="en-US" altLang="zh-CN" sz="2400" dirty="0">
              <a:solidFill>
                <a:srgbClr val="3333FF"/>
              </a:solidFill>
              <a:latin typeface="Times New Roman" panose="02020603050405020304" pitchFamily="18" charset="0"/>
            </a:endParaRPr>
          </a:p>
        </p:txBody>
      </p:sp>
      <p:sp>
        <p:nvSpPr>
          <p:cNvPr id="4" name="矩形 3"/>
          <p:cNvSpPr/>
          <p:nvPr/>
        </p:nvSpPr>
        <p:spPr>
          <a:xfrm>
            <a:off x="1905000" y="4003675"/>
            <a:ext cx="6162675" cy="1089025"/>
          </a:xfrm>
          <a:prstGeom prst="rect">
            <a:avLst/>
          </a:prstGeom>
          <a:noFill/>
          <a:ln w="9525">
            <a:noFill/>
          </a:ln>
        </p:spPr>
        <p:txBody>
          <a:bodyPr>
            <a:spAutoFit/>
          </a:bodyPr>
          <a:p>
            <a:pPr eaLnBrk="1" hangingPunct="1">
              <a:lnSpc>
                <a:spcPct val="90000"/>
              </a:lnSpc>
            </a:pPr>
            <a:r>
              <a:rPr lang="zh-CN" altLang="zh-CN" sz="2400" dirty="0">
                <a:solidFill>
                  <a:srgbClr val="FF0000"/>
                </a:solidFill>
                <a:latin typeface="Times New Roman" panose="02020603050405020304" pitchFamily="18" charset="0"/>
              </a:rPr>
              <a:t>捕捉时间</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AC</a:t>
            </a:r>
            <a:r>
              <a:rPr lang="zh-CN" altLang="zh-CN" sz="2400" dirty="0">
                <a:solidFill>
                  <a:srgbClr val="3333FF"/>
                </a:solidFill>
                <a:latin typeface="Times New Roman" panose="02020603050405020304" pitchFamily="18" charset="0"/>
              </a:rPr>
              <a:t>：指当采样</a:t>
            </a:r>
            <a:r>
              <a:rPr lang="en-US" altLang="zh-CN" sz="2400" dirty="0">
                <a:solidFill>
                  <a:srgbClr val="3333FF"/>
                </a:solidFill>
                <a:latin typeface="Times New Roman" panose="02020603050405020304" pitchFamily="18" charset="0"/>
              </a:rPr>
              <a:t>/</a:t>
            </a:r>
            <a:r>
              <a:rPr lang="zh-CN" altLang="zh-CN" sz="2400" dirty="0">
                <a:solidFill>
                  <a:srgbClr val="3333FF"/>
                </a:solidFill>
                <a:latin typeface="Times New Roman" panose="02020603050405020304" pitchFamily="18" charset="0"/>
              </a:rPr>
              <a:t>保持器从保持状态转到跟踪状态时，输出电压开始跟踪输入电压，并达到误差范围内所需要的最小时间。</a:t>
            </a:r>
            <a:endParaRPr lang="zh-CN" altLang="en-US" sz="2400" dirty="0">
              <a:solidFill>
                <a:srgbClr val="3333FF"/>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500"/>
                                        <p:tgtEl>
                                          <p:spTgt spid="17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charRg st="0" end="24"/>
                                            </p:txEl>
                                          </p:spTgt>
                                        </p:tgtEl>
                                        <p:attrNameLst>
                                          <p:attrName>style.visibility</p:attrName>
                                        </p:attrNameLst>
                                      </p:cBhvr>
                                      <p:to>
                                        <p:strVal val="visible"/>
                                      </p:to>
                                    </p:set>
                                    <p:animEffect transition="in" filter="fade">
                                      <p:cBhvr>
                                        <p:cTn id="12" dur="500"/>
                                        <p:tgtEl>
                                          <p:spTgt spid="2">
                                            <p:txEl>
                                              <p:charRg st="0" end="2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charRg st="24" end="125"/>
                                            </p:txEl>
                                          </p:spTgt>
                                        </p:tgtEl>
                                        <p:attrNameLst>
                                          <p:attrName>style.visibility</p:attrName>
                                        </p:attrNameLst>
                                      </p:cBhvr>
                                      <p:to>
                                        <p:strVal val="visible"/>
                                      </p:to>
                                    </p:set>
                                    <p:animEffect transition="in" filter="fade">
                                      <p:cBhvr>
                                        <p:cTn id="17" dur="500"/>
                                        <p:tgtEl>
                                          <p:spTgt spid="2">
                                            <p:txEl>
                                              <p:charRg st="24" end="125"/>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1"/>
                                        </p:tgtEl>
                                        <p:attrNameLst>
                                          <p:attrName>style.visibility</p:attrName>
                                        </p:attrNameLst>
                                      </p:cBhvr>
                                      <p:to>
                                        <p:strVal val="visible"/>
                                      </p:to>
                                    </p:set>
                                    <p:animEffect transition="in" filter="fade">
                                      <p:cBhvr>
                                        <p:cTn id="22" dur="500"/>
                                        <p:tgtEl>
                                          <p:spTgt spid="18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P spid="181" grpId="0"/>
      <p:bldP spid="3" grpId="0"/>
      <p:bldP spid="4"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39172" name="Text Box 4"/>
          <p:cNvSpPr txBox="1">
            <a:spLocks noChangeArrowheads="1"/>
          </p:cNvSpPr>
          <p:nvPr/>
        </p:nvSpPr>
        <p:spPr bwMode="auto">
          <a:xfrm>
            <a:off x="708025" y="44450"/>
            <a:ext cx="8004175" cy="585788"/>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5.6  </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采样</a:t>
            </a:r>
            <a:r>
              <a:rPr kumimoji="1" lang="en-US" altLang="zh-CN"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保持器使用中应注意的问题</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58371" name="Text Box 4"/>
          <p:cNvSpPr txBox="1"/>
          <p:nvPr/>
        </p:nvSpPr>
        <p:spPr>
          <a:xfrm>
            <a:off x="179388" y="762000"/>
            <a:ext cx="1439862" cy="585788"/>
          </a:xfrm>
          <a:prstGeom prst="rect">
            <a:avLst/>
          </a:prstGeom>
          <a:solidFill>
            <a:srgbClr val="99CCFF"/>
          </a:solidFill>
          <a:ln w="9525">
            <a:noFill/>
          </a:ln>
        </p:spPr>
        <p:txBody>
          <a:bodyPr>
            <a:spAutoFit/>
          </a:bodyPr>
          <a:p>
            <a:pPr eaLnBrk="1" hangingPunct="1">
              <a:lnSpc>
                <a:spcPct val="90000"/>
              </a:lnSpc>
              <a:spcBef>
                <a:spcPct val="50000"/>
              </a:spcBef>
            </a:pPr>
            <a:r>
              <a:rPr lang="zh-CN" altLang="en-US" dirty="0">
                <a:latin typeface="Times New Roman" panose="02020603050405020304" pitchFamily="18" charset="0"/>
              </a:rPr>
              <a:t>习题：</a:t>
            </a:r>
            <a:endParaRPr lang="zh-CN" altLang="en-US" dirty="0">
              <a:latin typeface="Times New Roman" panose="02020603050405020304" pitchFamily="18" charset="0"/>
            </a:endParaRPr>
          </a:p>
        </p:txBody>
      </p:sp>
      <p:sp>
        <p:nvSpPr>
          <p:cNvPr id="58372" name="矩形 1"/>
          <p:cNvSpPr/>
          <p:nvPr/>
        </p:nvSpPr>
        <p:spPr>
          <a:xfrm>
            <a:off x="1809750" y="771525"/>
            <a:ext cx="6902450" cy="1755775"/>
          </a:xfrm>
          <a:prstGeom prst="rect">
            <a:avLst/>
          </a:prstGeom>
          <a:noFill/>
          <a:ln w="9525">
            <a:noFill/>
          </a:ln>
        </p:spPr>
        <p:txBody>
          <a:bodyPr>
            <a:spAutoFit/>
          </a:bodyPr>
          <a:p>
            <a:pPr eaLnBrk="1" hangingPunct="1">
              <a:lnSpc>
                <a:spcPct val="90000"/>
              </a:lnSpc>
            </a:pP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1</a:t>
            </a:r>
            <a:r>
              <a:rPr lang="zh-CN" altLang="zh-CN" sz="2400" dirty="0">
                <a:solidFill>
                  <a:schemeClr val="tx1"/>
                </a:solidFill>
                <a:latin typeface="Times New Roman" panose="02020603050405020304" pitchFamily="18" charset="0"/>
              </a:rPr>
              <a:t>）名词解释孔径时间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AP</a:t>
            </a:r>
            <a:r>
              <a:rPr lang="zh-CN" altLang="zh-CN" sz="2400" dirty="0">
                <a:solidFill>
                  <a:schemeClr val="tx1"/>
                </a:solidFill>
                <a:latin typeface="Times New Roman" panose="02020603050405020304" pitchFamily="18" charset="0"/>
              </a:rPr>
              <a:t>和捕捉时间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AC</a:t>
            </a:r>
            <a:r>
              <a:rPr lang="zh-CN" altLang="zh-CN" sz="2400" dirty="0">
                <a:solidFill>
                  <a:schemeClr val="tx1"/>
                </a:solidFill>
                <a:latin typeface="Times New Roman" panose="02020603050405020304" pitchFamily="18" charset="0"/>
              </a:rPr>
              <a:t>。</a:t>
            </a:r>
            <a:endParaRPr lang="zh-CN" altLang="zh-CN" sz="2400" dirty="0">
              <a:solidFill>
                <a:schemeClr val="tx1"/>
              </a:solidFill>
              <a:latin typeface="Times New Roman" panose="02020603050405020304" pitchFamily="18" charset="0"/>
            </a:endParaRPr>
          </a:p>
          <a:p>
            <a:pPr eaLnBrk="1" hangingPunct="1">
              <a:lnSpc>
                <a:spcPct val="90000"/>
              </a:lnSpc>
            </a:pP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2</a:t>
            </a:r>
            <a:r>
              <a:rPr lang="zh-CN" altLang="zh-CN" sz="2400" dirty="0">
                <a:solidFill>
                  <a:schemeClr val="tx1"/>
                </a:solidFill>
                <a:latin typeface="Times New Roman" panose="02020603050405020304" pitchFamily="18" charset="0"/>
              </a:rPr>
              <a:t>）一个数据采集系统，孔径时间（包括抖动时间）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AP</a:t>
            </a:r>
            <a:r>
              <a:rPr lang="en-US" altLang="zh-CN" sz="2400" dirty="0">
                <a:solidFill>
                  <a:schemeClr val="tx1"/>
                </a:solidFill>
                <a:latin typeface="Times New Roman" panose="02020603050405020304" pitchFamily="18" charset="0"/>
              </a:rPr>
              <a:t>=80ns</a:t>
            </a:r>
            <a:r>
              <a:rPr lang="zh-CN" altLang="zh-CN" sz="2400" dirty="0">
                <a:solidFill>
                  <a:schemeClr val="tx1"/>
                </a:solidFill>
                <a:latin typeface="Times New Roman" panose="02020603050405020304" pitchFamily="18" charset="0"/>
              </a:rPr>
              <a:t>，捕捉时间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AC</a:t>
            </a:r>
            <a:r>
              <a:rPr lang="en-US" altLang="zh-CN" sz="2400" dirty="0">
                <a:solidFill>
                  <a:schemeClr val="tx1"/>
                </a:solidFill>
                <a:latin typeface="Times New Roman" panose="02020603050405020304" pitchFamily="18" charset="0"/>
              </a:rPr>
              <a:t>=1us</a:t>
            </a:r>
            <a:r>
              <a:rPr lang="zh-CN" altLang="zh-CN"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A/D</a:t>
            </a:r>
            <a:r>
              <a:rPr lang="zh-CN" altLang="zh-CN" sz="2400" dirty="0">
                <a:solidFill>
                  <a:schemeClr val="tx1"/>
                </a:solidFill>
                <a:latin typeface="Times New Roman" panose="02020603050405020304" pitchFamily="18" charset="0"/>
              </a:rPr>
              <a:t>转换时间</a:t>
            </a:r>
            <a:r>
              <a:rPr lang="en-US" altLang="zh-CN" sz="2400" i="1" dirty="0">
                <a:solidFill>
                  <a:schemeClr val="tx1"/>
                </a:solidFill>
                <a:latin typeface="Times New Roman" panose="02020603050405020304" pitchFamily="18" charset="0"/>
              </a:rPr>
              <a:t>t</a:t>
            </a:r>
            <a:r>
              <a:rPr lang="en-US" altLang="zh-CN" sz="2400" baseline="-25000" dirty="0">
                <a:solidFill>
                  <a:schemeClr val="tx1"/>
                </a:solidFill>
                <a:latin typeface="Times New Roman" panose="02020603050405020304" pitchFamily="18" charset="0"/>
              </a:rPr>
              <a:t>CONV</a:t>
            </a:r>
            <a:r>
              <a:rPr lang="en-US" altLang="zh-CN" sz="2400" dirty="0">
                <a:solidFill>
                  <a:schemeClr val="tx1"/>
                </a:solidFill>
                <a:latin typeface="Times New Roman" panose="02020603050405020304" pitchFamily="18" charset="0"/>
              </a:rPr>
              <a:t>=10us</a:t>
            </a:r>
            <a:r>
              <a:rPr lang="zh-CN" altLang="zh-CN" sz="2400" dirty="0">
                <a:solidFill>
                  <a:schemeClr val="tx1"/>
                </a:solidFill>
                <a:latin typeface="Times New Roman" panose="02020603050405020304" pitchFamily="18" charset="0"/>
              </a:rPr>
              <a:t>，位数为</a:t>
            </a:r>
            <a:r>
              <a:rPr lang="en-US" altLang="zh-CN" sz="2400" i="1" dirty="0">
                <a:solidFill>
                  <a:schemeClr val="tx1"/>
                </a:solidFill>
                <a:latin typeface="Times New Roman" panose="02020603050405020304" pitchFamily="18" charset="0"/>
              </a:rPr>
              <a:t>n</a:t>
            </a:r>
            <a:r>
              <a:rPr lang="en-US" altLang="zh-CN" sz="2400" dirty="0">
                <a:solidFill>
                  <a:schemeClr val="tx1"/>
                </a:solidFill>
                <a:latin typeface="Times New Roman" panose="02020603050405020304" pitchFamily="18" charset="0"/>
              </a:rPr>
              <a:t>=8</a:t>
            </a:r>
            <a:r>
              <a:rPr lang="zh-CN" altLang="zh-CN" sz="2400" dirty="0">
                <a:solidFill>
                  <a:schemeClr val="tx1"/>
                </a:solidFill>
                <a:latin typeface="Times New Roman" panose="02020603050405020304" pitchFamily="18" charset="0"/>
              </a:rPr>
              <a:t>，允许信号变化为</a:t>
            </a:r>
            <a:r>
              <a:rPr lang="en-US" altLang="zh-CN" sz="2400" i="1" dirty="0">
                <a:solidFill>
                  <a:schemeClr val="tx1"/>
                </a:solidFill>
                <a:latin typeface="Times New Roman" panose="02020603050405020304" pitchFamily="18" charset="0"/>
              </a:rPr>
              <a:t>LSB</a:t>
            </a:r>
            <a:r>
              <a:rPr lang="en-US" altLang="zh-CN" sz="2400" dirty="0">
                <a:solidFill>
                  <a:schemeClr val="tx1"/>
                </a:solidFill>
                <a:latin typeface="Times New Roman" panose="02020603050405020304" pitchFamily="18" charset="0"/>
              </a:rPr>
              <a:t>/2</a:t>
            </a:r>
            <a:r>
              <a:rPr lang="zh-CN" altLang="zh-CN" sz="2400" dirty="0">
                <a:solidFill>
                  <a:schemeClr val="tx1"/>
                </a:solidFill>
                <a:latin typeface="Times New Roman" panose="02020603050405020304" pitchFamily="18" charset="0"/>
              </a:rPr>
              <a:t>，计算系统可采集的最高输入信号频率。</a:t>
            </a:r>
            <a:endParaRPr lang="zh-CN" altLang="zh-CN" sz="2400" dirty="0">
              <a:solidFill>
                <a:schemeClr val="tx1"/>
              </a:solidFill>
              <a:latin typeface="Times New Roman" panose="02020603050405020304" pitchFamily="18" charset="0"/>
            </a:endParaRPr>
          </a:p>
        </p:txBody>
      </p:sp>
      <p:sp>
        <p:nvSpPr>
          <p:cNvPr id="58373" name="矩形 180"/>
          <p:cNvSpPr/>
          <p:nvPr/>
        </p:nvSpPr>
        <p:spPr>
          <a:xfrm>
            <a:off x="409575" y="2701925"/>
            <a:ext cx="596900" cy="423863"/>
          </a:xfrm>
          <a:prstGeom prst="rect">
            <a:avLst/>
          </a:prstGeom>
          <a:noFill/>
          <a:ln w="9525">
            <a:noFill/>
          </a:ln>
        </p:spPr>
        <p:txBody>
          <a:bodyPr wrap="none">
            <a:spAutoFit/>
          </a:bodyPr>
          <a:p>
            <a:pPr eaLnBrk="1" hangingPunct="1">
              <a:lnSpc>
                <a:spcPct val="90000"/>
              </a:lnSpc>
            </a:pPr>
            <a:r>
              <a:rPr lang="zh-CN" altLang="zh-CN" sz="2400" dirty="0">
                <a:solidFill>
                  <a:srgbClr val="FF0000"/>
                </a:solidFill>
                <a:latin typeface="Adobe 黑体 Std R" pitchFamily="34" charset="-122"/>
                <a:ea typeface="Adobe 黑体 Std R" pitchFamily="34" charset="-122"/>
              </a:rPr>
              <a:t>答</a:t>
            </a:r>
            <a:r>
              <a:rPr lang="en-US" altLang="zh-CN" sz="2400" dirty="0">
                <a:solidFill>
                  <a:srgbClr val="FF0000"/>
                </a:solidFill>
                <a:latin typeface="Adobe 黑体 Std R" pitchFamily="34" charset="-122"/>
                <a:ea typeface="Adobe 黑体 Std R" pitchFamily="34" charset="-122"/>
              </a:rPr>
              <a:t>:</a:t>
            </a:r>
            <a:endParaRPr lang="zh-CN" altLang="en-US" sz="2400" dirty="0">
              <a:solidFill>
                <a:srgbClr val="FF0000"/>
              </a:solidFill>
              <a:latin typeface="Adobe 黑体 Std R" pitchFamily="34" charset="-122"/>
              <a:ea typeface="Adobe 黑体 Std R" pitchFamily="34" charset="-122"/>
            </a:endParaRPr>
          </a:p>
        </p:txBody>
      </p:sp>
      <p:sp>
        <p:nvSpPr>
          <p:cNvPr id="5" name="Rectangle 2"/>
          <p:cNvSpPr/>
          <p:nvPr/>
        </p:nvSpPr>
        <p:spPr>
          <a:xfrm>
            <a:off x="1281113" y="2659063"/>
            <a:ext cx="7431087" cy="757237"/>
          </a:xfrm>
          <a:prstGeom prst="rect">
            <a:avLst/>
          </a:prstGeom>
          <a:noFill/>
          <a:ln w="9525">
            <a:noFill/>
          </a:ln>
        </p:spPr>
        <p:txBody>
          <a:bodyPr>
            <a:spAutoFit/>
          </a:bodyPr>
          <a:p>
            <a:pPr marL="457200" indent="-457200" eaLnBrk="1" hangingPunct="1">
              <a:lnSpc>
                <a:spcPct val="90000"/>
              </a:lnSpc>
              <a:buFont typeface="Arial" panose="020B0604020202020204" pitchFamily="34" charset="0"/>
              <a:buAutoNum type="arabicPeriod" startAt="2"/>
            </a:pPr>
            <a:r>
              <a:rPr lang="zh-CN" altLang="en-US" sz="2400" dirty="0">
                <a:solidFill>
                  <a:schemeClr val="accent2"/>
                </a:solidFill>
                <a:latin typeface="Times New Roman" panose="02020603050405020304" pitchFamily="18" charset="0"/>
              </a:rPr>
              <a:t>系统可采集的最高输入信号频率必须满足：当位数为</a:t>
            </a:r>
            <a:r>
              <a:rPr lang="en-US" altLang="zh-CN" sz="2400" dirty="0">
                <a:solidFill>
                  <a:schemeClr val="accent2"/>
                </a:solidFill>
                <a:latin typeface="Times New Roman" panose="02020603050405020304" pitchFamily="18" charset="0"/>
              </a:rPr>
              <a:t>8</a:t>
            </a:r>
            <a:r>
              <a:rPr lang="zh-CN" altLang="en-US" sz="2400" dirty="0">
                <a:solidFill>
                  <a:schemeClr val="accent2"/>
                </a:solidFill>
                <a:latin typeface="Times New Roman" panose="02020603050405020304" pitchFamily="18" charset="0"/>
              </a:rPr>
              <a:t>时，为了使信号变化在</a:t>
            </a:r>
            <a:r>
              <a:rPr lang="en-US" altLang="zh-CN" sz="2400" dirty="0">
                <a:solidFill>
                  <a:schemeClr val="accent2"/>
                </a:solidFill>
                <a:latin typeface="Times New Roman" panose="02020603050405020304" pitchFamily="18" charset="0"/>
              </a:rPr>
              <a:t>LSB/2</a:t>
            </a:r>
            <a:r>
              <a:rPr lang="zh-CN" altLang="en-US" sz="2400" dirty="0">
                <a:solidFill>
                  <a:schemeClr val="accent2"/>
                </a:solidFill>
                <a:latin typeface="Times New Roman" panose="02020603050405020304" pitchFamily="18" charset="0"/>
              </a:rPr>
              <a:t>范围内，必须</a:t>
            </a:r>
            <a:endParaRPr lang="zh-CN" altLang="en-US" sz="2400" dirty="0">
              <a:solidFill>
                <a:schemeClr val="accent2"/>
              </a:solidFill>
              <a:latin typeface="Times New Roman" panose="02020603050405020304" pitchFamily="18" charset="0"/>
            </a:endParaRPr>
          </a:p>
        </p:txBody>
      </p:sp>
      <p:graphicFrame>
        <p:nvGraphicFramePr>
          <p:cNvPr id="6" name="对象 5"/>
          <p:cNvGraphicFramePr>
            <a:graphicFrameLocks noChangeAspect="1"/>
          </p:cNvGraphicFramePr>
          <p:nvPr/>
        </p:nvGraphicFramePr>
        <p:xfrm>
          <a:off x="1831975" y="3390900"/>
          <a:ext cx="5997575" cy="733425"/>
        </p:xfrm>
        <a:graphic>
          <a:graphicData uri="http://schemas.openxmlformats.org/presentationml/2006/ole">
            <mc:AlternateContent xmlns:mc="http://schemas.openxmlformats.org/markup-compatibility/2006">
              <mc:Choice xmlns:v="urn:schemas-microsoft-com:vml" Requires="v">
                <p:oleObj spid="_x0000_s3102" name="" r:id="rId1" imgW="3225800" imgH="431800" progId="Equation.3">
                  <p:embed/>
                </p:oleObj>
              </mc:Choice>
              <mc:Fallback>
                <p:oleObj name="" r:id="rId1" imgW="3225800" imgH="431800" progId="Equation.3">
                  <p:embed/>
                  <p:pic>
                    <p:nvPicPr>
                      <p:cNvPr id="0" name="图片 3101"/>
                      <p:cNvPicPr/>
                      <p:nvPr/>
                    </p:nvPicPr>
                    <p:blipFill>
                      <a:blip r:embed="rId2"/>
                      <a:stretch>
                        <a:fillRect/>
                      </a:stretch>
                    </p:blipFill>
                    <p:spPr>
                      <a:xfrm>
                        <a:off x="1831975" y="3390900"/>
                        <a:ext cx="5997575" cy="733425"/>
                      </a:xfrm>
                      <a:prstGeom prst="rect">
                        <a:avLst/>
                      </a:prstGeom>
                      <a:noFill/>
                      <a:ln w="38100">
                        <a:noFill/>
                        <a:miter/>
                      </a:ln>
                    </p:spPr>
                  </p:pic>
                </p:oleObj>
              </mc:Fallback>
            </mc:AlternateContent>
          </a:graphicData>
        </a:graphic>
      </p:graphicFrame>
      <p:sp>
        <p:nvSpPr>
          <p:cNvPr id="7" name="Rectangle 5"/>
          <p:cNvSpPr/>
          <p:nvPr/>
        </p:nvSpPr>
        <p:spPr>
          <a:xfrm>
            <a:off x="1276350" y="4160838"/>
            <a:ext cx="3924300" cy="423862"/>
          </a:xfrm>
          <a:prstGeom prst="rect">
            <a:avLst/>
          </a:prstGeom>
          <a:noFill/>
          <a:ln w="9525">
            <a:noFill/>
          </a:ln>
        </p:spPr>
        <p:txBody>
          <a:bodyPr>
            <a:spAutoFit/>
          </a:bodyPr>
          <a:p>
            <a:pPr eaLnBrk="1" hangingPunct="1">
              <a:lnSpc>
                <a:spcPct val="90000"/>
              </a:lnSpc>
            </a:pPr>
            <a:r>
              <a:rPr lang="zh-CN" altLang="en-US" sz="2400" dirty="0">
                <a:solidFill>
                  <a:schemeClr val="accent2"/>
                </a:solidFill>
                <a:latin typeface="Times New Roman" panose="02020603050405020304" pitchFamily="18" charset="0"/>
              </a:rPr>
              <a:t>为了满足采样定理，必须	</a:t>
            </a:r>
            <a:endParaRPr lang="zh-CN" altLang="en-US" sz="2400" dirty="0">
              <a:solidFill>
                <a:schemeClr val="accent2"/>
              </a:solidFill>
              <a:latin typeface="Times New Roman" panose="02020603050405020304" pitchFamily="18" charset="0"/>
            </a:endParaRPr>
          </a:p>
        </p:txBody>
      </p:sp>
      <p:graphicFrame>
        <p:nvGraphicFramePr>
          <p:cNvPr id="8" name="对象 7"/>
          <p:cNvGraphicFramePr>
            <a:graphicFrameLocks noChangeAspect="1"/>
          </p:cNvGraphicFramePr>
          <p:nvPr/>
        </p:nvGraphicFramePr>
        <p:xfrm>
          <a:off x="1866900" y="4505325"/>
          <a:ext cx="7086600" cy="647700"/>
        </p:xfrm>
        <a:graphic>
          <a:graphicData uri="http://schemas.openxmlformats.org/presentationml/2006/ole">
            <mc:AlternateContent xmlns:mc="http://schemas.openxmlformats.org/markup-compatibility/2006">
              <mc:Choice xmlns:v="urn:schemas-microsoft-com:vml" Requires="v">
                <p:oleObj spid="_x0000_s3101" name="" r:id="rId3" imgW="4686300" imgH="431800" progId="Equation.3">
                  <p:embed/>
                </p:oleObj>
              </mc:Choice>
              <mc:Fallback>
                <p:oleObj name="" r:id="rId3" imgW="4686300" imgH="431800" progId="Equation.3">
                  <p:embed/>
                  <p:pic>
                    <p:nvPicPr>
                      <p:cNvPr id="0" name="图片 3100"/>
                      <p:cNvPicPr/>
                      <p:nvPr/>
                    </p:nvPicPr>
                    <p:blipFill>
                      <a:blip r:embed="rId4"/>
                      <a:stretch>
                        <a:fillRect/>
                      </a:stretch>
                    </p:blipFill>
                    <p:spPr>
                      <a:xfrm>
                        <a:off x="1866900" y="4505325"/>
                        <a:ext cx="7086600" cy="647700"/>
                      </a:xfrm>
                      <a:prstGeom prst="rect">
                        <a:avLst/>
                      </a:prstGeom>
                      <a:noFill/>
                      <a:ln w="38100">
                        <a:noFill/>
                        <a:miter/>
                      </a:ln>
                    </p:spPr>
                  </p:pic>
                </p:oleObj>
              </mc:Fallback>
            </mc:AlternateContent>
          </a:graphicData>
        </a:graphic>
      </p:graphicFrame>
      <p:sp>
        <p:nvSpPr>
          <p:cNvPr id="9" name="Rectangle 6"/>
          <p:cNvSpPr/>
          <p:nvPr/>
        </p:nvSpPr>
        <p:spPr>
          <a:xfrm>
            <a:off x="1276350" y="5292725"/>
            <a:ext cx="7248525" cy="757238"/>
          </a:xfrm>
          <a:prstGeom prst="rect">
            <a:avLst/>
          </a:prstGeom>
          <a:noFill/>
          <a:ln w="9525">
            <a:noFill/>
          </a:ln>
        </p:spPr>
        <p:txBody>
          <a:bodyPr>
            <a:spAutoFit/>
          </a:bodyPr>
          <a:p>
            <a:pPr eaLnBrk="1" hangingPunct="1">
              <a:lnSpc>
                <a:spcPct val="90000"/>
              </a:lnSpc>
            </a:pPr>
            <a:r>
              <a:rPr lang="zh-CN" altLang="en-US" sz="2400" dirty="0">
                <a:solidFill>
                  <a:schemeClr val="accent2"/>
                </a:solidFill>
                <a:latin typeface="Times New Roman" panose="02020603050405020304" pitchFamily="18" charset="0"/>
              </a:rPr>
              <a:t>综合上述两个条件，得到系统可采集的最高输入信号频率为</a:t>
            </a:r>
            <a:r>
              <a:rPr lang="en-US" altLang="zh-CN" sz="2400" dirty="0">
                <a:solidFill>
                  <a:schemeClr val="accent2"/>
                </a:solidFill>
                <a:latin typeface="Times New Roman" panose="02020603050405020304" pitchFamily="18" charset="0"/>
              </a:rPr>
              <a:t>7.775kHz</a:t>
            </a:r>
            <a:r>
              <a:rPr lang="zh-CN" altLang="en-US" sz="2400" dirty="0">
                <a:solidFill>
                  <a:schemeClr val="accent2"/>
                </a:solidFill>
                <a:latin typeface="Times New Roman" panose="02020603050405020304" pitchFamily="18" charset="0"/>
              </a:rPr>
              <a:t>。</a:t>
            </a:r>
            <a:endParaRPr lang="zh-CN" altLang="en-US" sz="2400" dirty="0">
              <a:solidFill>
                <a:schemeClr val="accent2"/>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9"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074" name="Picture 2" descr="Turm_blau_hell"/>
          <p:cNvPicPr>
            <a:picLocks noChangeAspect="1"/>
          </p:cNvPicPr>
          <p:nvPr/>
        </p:nvPicPr>
        <p:blipFill>
          <a:blip r:embed="rId1"/>
          <a:stretch>
            <a:fillRect/>
          </a:stretch>
        </p:blipFill>
        <p:spPr>
          <a:xfrm>
            <a:off x="3279775" y="854075"/>
            <a:ext cx="5537200" cy="5295900"/>
          </a:xfrm>
          <a:prstGeom prst="rect">
            <a:avLst/>
          </a:prstGeom>
          <a:noFill/>
          <a:ln w="9525">
            <a:noFill/>
          </a:ln>
        </p:spPr>
      </p:pic>
      <p:sp>
        <p:nvSpPr>
          <p:cNvPr id="3075" name="Freeform 4"/>
          <p:cNvSpPr/>
          <p:nvPr/>
        </p:nvSpPr>
        <p:spPr>
          <a:xfrm>
            <a:off x="236538" y="454025"/>
            <a:ext cx="6934200" cy="381000"/>
          </a:xfrm>
          <a:custGeom>
            <a:avLst/>
            <a:gdLst>
              <a:gd name="txL" fmla="*/ 0 w 4272"/>
              <a:gd name="txT" fmla="*/ 0 h 1008"/>
              <a:gd name="txR" fmla="*/ 4272 w 4272"/>
              <a:gd name="txB" fmla="*/ 1008 h 1008"/>
            </a:gdLst>
            <a:ahLst/>
            <a:cxnLst>
              <a:cxn ang="0">
                <a:pos x="0" y="0"/>
              </a:cxn>
              <a:cxn ang="0">
                <a:pos x="2147483646" y="0"/>
              </a:cxn>
              <a:cxn ang="0">
                <a:pos x="2147483646" y="2147483646"/>
              </a:cxn>
              <a:cxn ang="0">
                <a:pos x="2147483646" y="2147483646"/>
              </a:cxn>
            </a:cxnLst>
            <a:rect l="txL" t="txT" r="txR" b="txB"/>
            <a:pathLst>
              <a:path w="4272" h="1008">
                <a:moveTo>
                  <a:pt x="0" y="0"/>
                </a:moveTo>
                <a:lnTo>
                  <a:pt x="384" y="0"/>
                </a:lnTo>
                <a:lnTo>
                  <a:pt x="384" y="1008"/>
                </a:lnTo>
                <a:lnTo>
                  <a:pt x="4272" y="1008"/>
                </a:lnTo>
              </a:path>
            </a:pathLst>
          </a:custGeom>
          <a:noFill/>
          <a:ln w="12700" cap="flat" cmpd="sng">
            <a:solidFill>
              <a:schemeClr val="bg2">
                <a:alpha val="100000"/>
              </a:schemeClr>
            </a:solidFill>
            <a:prstDash val="solid"/>
            <a:round/>
            <a:headEnd type="none" w="med" len="med"/>
            <a:tailEnd type="diamond" w="med" len="med"/>
          </a:ln>
        </p:spPr>
        <p:txBody>
          <a:bodyPr/>
          <a:p>
            <a:endParaRPr lang="zh-CN" altLang="en-US"/>
          </a:p>
        </p:txBody>
      </p:sp>
      <p:sp>
        <p:nvSpPr>
          <p:cNvPr id="3076" name="Rectangle 3"/>
          <p:cNvSpPr/>
          <p:nvPr/>
        </p:nvSpPr>
        <p:spPr>
          <a:xfrm>
            <a:off x="0" y="217488"/>
            <a:ext cx="609600" cy="5486400"/>
          </a:xfrm>
          <a:prstGeom prst="rect">
            <a:avLst/>
          </a:prstGeom>
          <a:solidFill>
            <a:srgbClr val="969696"/>
          </a:solidFill>
          <a:ln w="12700">
            <a:noFill/>
          </a:ln>
        </p:spPr>
        <p:txBody>
          <a:bodyPr wrap="none" anchor="ctr" anchorCtr="0"/>
          <a:p>
            <a:pPr eaLnBrk="1" hangingPunct="1">
              <a:lnSpc>
                <a:spcPct val="90000"/>
              </a:lnSpc>
            </a:pPr>
            <a:endParaRPr lang="zh-CN" altLang="en-US" sz="3600" dirty="0">
              <a:latin typeface="Times New Roman" panose="02020603050405020304" pitchFamily="18" charset="0"/>
            </a:endParaRPr>
          </a:p>
        </p:txBody>
      </p:sp>
      <p:sp>
        <p:nvSpPr>
          <p:cNvPr id="3077" name="Freeform 5"/>
          <p:cNvSpPr/>
          <p:nvPr/>
        </p:nvSpPr>
        <p:spPr>
          <a:xfrm>
            <a:off x="1063625" y="839788"/>
            <a:ext cx="228600" cy="468312"/>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78" name="Freeform 6"/>
          <p:cNvSpPr/>
          <p:nvPr/>
        </p:nvSpPr>
        <p:spPr>
          <a:xfrm>
            <a:off x="1060450" y="1277938"/>
            <a:ext cx="217488" cy="769937"/>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785" name="Rectangle 9"/>
          <p:cNvSpPr>
            <a:spLocks noGrp="1" noChangeArrowheads="1"/>
          </p:cNvSpPr>
          <p:nvPr>
            <p:ph type="subTitle" idx="1"/>
          </p:nvPr>
        </p:nvSpPr>
        <p:spPr bwMode="auto">
          <a:xfrm>
            <a:off x="1789113" y="874713"/>
            <a:ext cx="7027863" cy="784225"/>
          </a:xfrm>
        </p:spPr>
        <p:txBody>
          <a:bodyPr vert="horz" wrap="square" lIns="82550" tIns="41275" rIns="82550" bIns="41275" numCol="1" anchor="t" anchorCtr="0" compatLnSpc="1"/>
          <a:lstStyle/>
          <a:p>
            <a:pPr marL="476250" marR="0" lvl="0" indent="-476250" algn="l" defTabSz="678180" rtl="0" eaLnBrk="1" fontAlgn="base" latinLnBrk="0" hangingPunct="1">
              <a:lnSpc>
                <a:spcPct val="130000"/>
              </a:lnSpc>
              <a:spcBef>
                <a:spcPct val="0"/>
              </a:spcBef>
              <a:spcAft>
                <a:spcPct val="0"/>
              </a:spcAft>
              <a:buClr>
                <a:srgbClr val="000066"/>
              </a:buClr>
              <a:buSzPct val="75000"/>
              <a:buFont typeface="Wingdings" panose="05000000000000000000" pitchFamily="2" charset="2"/>
              <a:buNone/>
              <a:defRPr/>
            </a:pPr>
            <a:r>
              <a:rPr kumimoji="0" lang="en-US" altLang="zh-CN" sz="3200" b="1" i="0" u="none" strike="noStrike" kern="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mn-ea"/>
                <a:cs typeface="+mn-cs"/>
              </a:rPr>
              <a:t>6.1 </a:t>
            </a:r>
            <a:r>
              <a:rPr kumimoji="0" lang="zh-CN" altLang="en-US" sz="3200" b="1" i="0" u="none" strike="noStrike" kern="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mn-ea"/>
                <a:cs typeface="+mn-cs"/>
              </a:rPr>
              <a:t>常用术语和主要技术指标</a:t>
            </a:r>
            <a:r>
              <a:rPr kumimoji="0" lang="en-US" altLang="zh-CN" sz="3200" b="1" i="0" u="none" strike="noStrike" kern="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mn-ea"/>
                <a:cs typeface="+mn-cs"/>
              </a:rPr>
              <a:t>(1.4)</a:t>
            </a:r>
            <a:endParaRPr kumimoji="0" lang="en-US" altLang="zh-CN" sz="3200" b="1" i="0" u="none" strike="noStrike" kern="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楷体_GB2312" pitchFamily="49" charset="-122"/>
              <a:cs typeface="+mn-cs"/>
            </a:endParaRPr>
          </a:p>
        </p:txBody>
      </p:sp>
      <p:pic>
        <p:nvPicPr>
          <p:cNvPr id="3080" name="Picture 17" descr="kugel_blau"/>
          <p:cNvPicPr>
            <a:picLocks noChangeAspect="1"/>
          </p:cNvPicPr>
          <p:nvPr/>
        </p:nvPicPr>
        <p:blipFill>
          <a:blip r:embed="rId2"/>
          <a:stretch>
            <a:fillRect/>
          </a:stretch>
        </p:blipFill>
        <p:spPr>
          <a:xfrm>
            <a:off x="1414463" y="1149350"/>
            <a:ext cx="457200" cy="315913"/>
          </a:xfrm>
          <a:prstGeom prst="rect">
            <a:avLst/>
          </a:prstGeom>
          <a:noFill/>
          <a:ln w="9525">
            <a:noFill/>
          </a:ln>
        </p:spPr>
      </p:pic>
      <p:pic>
        <p:nvPicPr>
          <p:cNvPr id="3081" name="Picture 18" descr="kugel_blau"/>
          <p:cNvPicPr>
            <a:picLocks noChangeAspect="1"/>
          </p:cNvPicPr>
          <p:nvPr/>
        </p:nvPicPr>
        <p:blipFill>
          <a:blip r:embed="rId2"/>
          <a:stretch>
            <a:fillRect/>
          </a:stretch>
        </p:blipFill>
        <p:spPr>
          <a:xfrm>
            <a:off x="1397000" y="1897063"/>
            <a:ext cx="457200" cy="315912"/>
          </a:xfrm>
          <a:prstGeom prst="rect">
            <a:avLst/>
          </a:prstGeom>
          <a:noFill/>
          <a:ln w="9525">
            <a:noFill/>
          </a:ln>
        </p:spPr>
      </p:pic>
      <p:sp>
        <p:nvSpPr>
          <p:cNvPr id="1483798" name="Rectangle 22"/>
          <p:cNvSpPr>
            <a:spLocks noChangeArrowheads="1"/>
          </p:cNvSpPr>
          <p:nvPr/>
        </p:nvSpPr>
        <p:spPr bwMode="auto">
          <a:xfrm>
            <a:off x="1782763" y="1620838"/>
            <a:ext cx="6791325"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6.2 </a:t>
            </a:r>
            <a:r>
              <a:rPr kumimoji="1" lang="zh-CN" altLang="en-US"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模数转换器的分类</a:t>
            </a:r>
            <a:r>
              <a:rPr kumimoji="1" lang="en-US"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(1.5)</a:t>
            </a:r>
            <a:endParaRPr kumimoji="1" lang="en-US"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3083" name="Picture 27" descr="kugel_blau"/>
          <p:cNvPicPr>
            <a:picLocks noChangeAspect="1"/>
          </p:cNvPicPr>
          <p:nvPr/>
        </p:nvPicPr>
        <p:blipFill>
          <a:blip r:embed="rId2"/>
          <a:stretch>
            <a:fillRect/>
          </a:stretch>
        </p:blipFill>
        <p:spPr>
          <a:xfrm>
            <a:off x="1389063" y="2620963"/>
            <a:ext cx="457200" cy="315912"/>
          </a:xfrm>
          <a:prstGeom prst="rect">
            <a:avLst/>
          </a:prstGeom>
          <a:noFill/>
          <a:ln w="9525">
            <a:noFill/>
          </a:ln>
        </p:spPr>
      </p:pic>
      <p:sp>
        <p:nvSpPr>
          <p:cNvPr id="1483804" name="Rectangle 28"/>
          <p:cNvSpPr>
            <a:spLocks noChangeArrowheads="1"/>
          </p:cNvSpPr>
          <p:nvPr/>
        </p:nvSpPr>
        <p:spPr bwMode="auto">
          <a:xfrm>
            <a:off x="1789113" y="2359025"/>
            <a:ext cx="6743700"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6.3 </a:t>
            </a:r>
            <a:r>
              <a:rPr kumimoji="1" lang="zh-CN" altLang="en-US"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模数转换器的发展趋势</a:t>
            </a:r>
            <a:r>
              <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(1.6)</a:t>
            </a:r>
            <a:endPar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3085" name="Freeform 31"/>
          <p:cNvSpPr/>
          <p:nvPr/>
        </p:nvSpPr>
        <p:spPr>
          <a:xfrm>
            <a:off x="1060450" y="1919288"/>
            <a:ext cx="242888" cy="852487"/>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809" name="Rectangle 33"/>
          <p:cNvSpPr>
            <a:spLocks noChangeArrowheads="1"/>
          </p:cNvSpPr>
          <p:nvPr/>
        </p:nvSpPr>
        <p:spPr bwMode="auto">
          <a:xfrm>
            <a:off x="1733550" y="61913"/>
            <a:ext cx="6156325" cy="628650"/>
          </a:xfrm>
          <a:prstGeom prst="rect">
            <a:avLst/>
          </a:prstGeom>
          <a:noFill/>
          <a:ln>
            <a:noFill/>
          </a:ln>
          <a:effectLst/>
        </p:spPr>
        <p:txBody>
          <a:bodyPr lIns="82550" tIns="41275" rIns="82550" bIns="41275"/>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6</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模</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数转换器</a:t>
            </a:r>
            <a:r>
              <a:rPr kumimoji="1" lang="zh-CN" altLang="en-US" sz="4400" b="0" i="0" u="none" strike="noStrike" kern="1200" cap="none" spc="0" normalizeH="0" baseline="0" noProof="0">
                <a:ln>
                  <a:noFill/>
                </a:ln>
                <a:solidFill>
                  <a:schemeClr val="tx2"/>
                </a:solidFill>
                <a:effectLst/>
                <a:uLnTx/>
                <a:uFillTx/>
                <a:latin typeface="Times New Roman" panose="02020603050405020304" pitchFamily="18" charset="0"/>
                <a:ea typeface="宋体" panose="02010600030101010101" pitchFamily="2" charset="-122"/>
                <a:cs typeface="+mn-cs"/>
              </a:rPr>
              <a:t> </a:t>
            </a:r>
            <a:endParaRPr kumimoji="1" lang="zh-CN" altLang="en-US" sz="4400" b="0" i="0" u="none" strike="noStrike" kern="1200" cap="none" spc="0" normalizeH="0" baseline="0" noProof="0">
              <a:ln>
                <a:noFill/>
              </a:ln>
              <a:solidFill>
                <a:schemeClr val="tx2"/>
              </a:solidFill>
              <a:effectLst/>
              <a:uLnTx/>
              <a:uFillTx/>
              <a:latin typeface="Times New Roman" panose="02020603050405020304" pitchFamily="18" charset="0"/>
              <a:ea typeface="宋体" panose="02010600030101010101" pitchFamily="2" charset="-122"/>
              <a:cs typeface="+mn-cs"/>
            </a:endParaRPr>
          </a:p>
        </p:txBody>
      </p:sp>
      <p:pic>
        <p:nvPicPr>
          <p:cNvPr id="3087" name="Picture 34" descr="kugel_blau"/>
          <p:cNvPicPr>
            <a:picLocks noChangeAspect="1"/>
          </p:cNvPicPr>
          <p:nvPr/>
        </p:nvPicPr>
        <p:blipFill>
          <a:blip r:embed="rId2"/>
          <a:stretch>
            <a:fillRect/>
          </a:stretch>
        </p:blipFill>
        <p:spPr>
          <a:xfrm>
            <a:off x="1395413" y="4140200"/>
            <a:ext cx="457200" cy="315913"/>
          </a:xfrm>
          <a:prstGeom prst="rect">
            <a:avLst/>
          </a:prstGeom>
          <a:noFill/>
          <a:ln w="9525">
            <a:noFill/>
          </a:ln>
        </p:spPr>
      </p:pic>
      <p:pic>
        <p:nvPicPr>
          <p:cNvPr id="3088" name="Picture 35" descr="kugel_blau"/>
          <p:cNvPicPr>
            <a:picLocks noChangeAspect="1"/>
          </p:cNvPicPr>
          <p:nvPr/>
        </p:nvPicPr>
        <p:blipFill>
          <a:blip r:embed="rId2"/>
          <a:stretch>
            <a:fillRect/>
          </a:stretch>
        </p:blipFill>
        <p:spPr>
          <a:xfrm>
            <a:off x="1377950" y="4956175"/>
            <a:ext cx="457200" cy="315913"/>
          </a:xfrm>
          <a:prstGeom prst="rect">
            <a:avLst/>
          </a:prstGeom>
          <a:noFill/>
          <a:ln w="9525">
            <a:noFill/>
          </a:ln>
        </p:spPr>
      </p:pic>
      <p:sp>
        <p:nvSpPr>
          <p:cNvPr id="1483813" name="Rectangle 37"/>
          <p:cNvSpPr>
            <a:spLocks noChangeArrowheads="1"/>
          </p:cNvSpPr>
          <p:nvPr/>
        </p:nvSpPr>
        <p:spPr bwMode="auto">
          <a:xfrm>
            <a:off x="1770063" y="3873500"/>
            <a:ext cx="7373938"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6.5 </a:t>
            </a:r>
            <a:r>
              <a:rPr kumimoji="1" lang="zh-CN" altLang="en-US"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高速</a:t>
            </a:r>
            <a:r>
              <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ADC</a:t>
            </a:r>
            <a:r>
              <a:rPr kumimoji="1" lang="zh-CN" altLang="en-US"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的主要动态性能指标</a:t>
            </a:r>
            <a:r>
              <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(3.2)</a:t>
            </a:r>
            <a:endParaRPr kumimoji="1" lang="en-US" altLang="zh-CN" sz="32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endParaRPr>
          </a:p>
        </p:txBody>
      </p:sp>
      <p:sp>
        <p:nvSpPr>
          <p:cNvPr id="1483814" name="Rectangle 38"/>
          <p:cNvSpPr>
            <a:spLocks noChangeArrowheads="1"/>
          </p:cNvSpPr>
          <p:nvPr/>
        </p:nvSpPr>
        <p:spPr bwMode="auto">
          <a:xfrm>
            <a:off x="1771650" y="4675188"/>
            <a:ext cx="7113588" cy="744538"/>
          </a:xfrm>
          <a:prstGeom prst="rect">
            <a:avLst/>
          </a:prstGeom>
          <a:noFill/>
          <a:ln>
            <a:noFill/>
          </a:ln>
          <a:effectLst/>
        </p:spPr>
        <p:txBody>
          <a:bodyPr lIns="82550" tIns="41275" rIns="82550" bIns="41275"/>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6.6 </a:t>
            </a:r>
            <a:r>
              <a:rPr kumimoji="1" lang="zh-CN"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高速ADC外围电路和接口设计(3.6)</a:t>
            </a:r>
            <a:endParaRPr kumimoji="1" lang="en-US" altLang="zh-CN" sz="32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endParaRPr>
          </a:p>
        </p:txBody>
      </p:sp>
      <p:sp>
        <p:nvSpPr>
          <p:cNvPr id="3091" name="Freeform 40"/>
          <p:cNvSpPr/>
          <p:nvPr/>
        </p:nvSpPr>
        <p:spPr>
          <a:xfrm>
            <a:off x="1060450" y="3500438"/>
            <a:ext cx="217488" cy="781050"/>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92" name="Freeform 41"/>
          <p:cNvSpPr/>
          <p:nvPr/>
        </p:nvSpPr>
        <p:spPr>
          <a:xfrm>
            <a:off x="1062038" y="4267200"/>
            <a:ext cx="217487" cy="860425"/>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3093" name="Freeform 46"/>
          <p:cNvSpPr/>
          <p:nvPr/>
        </p:nvSpPr>
        <p:spPr>
          <a:xfrm>
            <a:off x="1058863" y="2762250"/>
            <a:ext cx="217487" cy="769938"/>
          </a:xfrm>
          <a:custGeom>
            <a:avLst/>
            <a:gdLst>
              <a:gd name="txL" fmla="*/ 0 w 144"/>
              <a:gd name="txT" fmla="*/ 0 h 144"/>
              <a:gd name="txR" fmla="*/ 144 w 144"/>
              <a:gd name="txB" fmla="*/ 144 h 144"/>
            </a:gdLst>
            <a:ahLst/>
            <a:cxnLst>
              <a:cxn ang="0">
                <a:pos x="0" y="0"/>
              </a:cxn>
              <a:cxn ang="0">
                <a:pos x="0" y="2147483646"/>
              </a:cxn>
              <a:cxn ang="0">
                <a:pos x="2147483646" y="2147483646"/>
              </a:cxn>
            </a:cxnLst>
            <a:rect l="txL" t="txT" r="txR" b="txB"/>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pic>
        <p:nvPicPr>
          <p:cNvPr id="3094" name="Picture 47" descr="kugel_blau"/>
          <p:cNvPicPr>
            <a:picLocks noChangeAspect="1"/>
          </p:cNvPicPr>
          <p:nvPr/>
        </p:nvPicPr>
        <p:blipFill>
          <a:blip r:embed="rId2"/>
          <a:stretch>
            <a:fillRect/>
          </a:stretch>
        </p:blipFill>
        <p:spPr>
          <a:xfrm>
            <a:off x="1393825" y="3381375"/>
            <a:ext cx="457200" cy="315913"/>
          </a:xfrm>
          <a:prstGeom prst="rect">
            <a:avLst/>
          </a:prstGeom>
          <a:noFill/>
          <a:ln w="9525">
            <a:noFill/>
          </a:ln>
        </p:spPr>
      </p:pic>
      <p:sp>
        <p:nvSpPr>
          <p:cNvPr id="1483824" name="Rectangle 48"/>
          <p:cNvSpPr>
            <a:spLocks noChangeArrowheads="1"/>
          </p:cNvSpPr>
          <p:nvPr/>
        </p:nvSpPr>
        <p:spPr bwMode="auto">
          <a:xfrm>
            <a:off x="1779588" y="3105150"/>
            <a:ext cx="7364413" cy="744538"/>
          </a:xfrm>
          <a:prstGeom prst="rect">
            <a:avLst/>
          </a:prstGeom>
          <a:noFill/>
          <a:ln>
            <a:noFill/>
          </a:ln>
          <a:effectLst/>
        </p:spPr>
        <p:txBody>
          <a:bodyPr lIns="82550" tIns="41275" rIns="82550" bIns="41275"/>
          <a:lstStyle>
            <a:lvl1pPr marL="476250" indent="-476250" defTabSz="678180" eaLnBrk="0" hangingPunct="0">
              <a:defRPr kumimoji="1" sz="2800" b="1">
                <a:solidFill>
                  <a:srgbClr val="333399"/>
                </a:solidFill>
                <a:latin typeface="Times New Roman" panose="02020603050405020304" pitchFamily="18" charset="0"/>
                <a:ea typeface="楷体_GB2312" pitchFamily="49" charset="-122"/>
              </a:defRPr>
            </a:lvl1pPr>
            <a:lvl2pPr marL="742950" indent="-285750" defTabSz="678180" eaLnBrk="0" hangingPunct="0">
              <a:defRPr kumimoji="1" sz="2800" b="1">
                <a:solidFill>
                  <a:srgbClr val="333399"/>
                </a:solidFill>
                <a:latin typeface="Times New Roman" panose="02020603050405020304" pitchFamily="18" charset="0"/>
                <a:ea typeface="楷体_GB2312" pitchFamily="49" charset="-122"/>
              </a:defRPr>
            </a:lvl2pPr>
            <a:lvl3pPr marL="1143000" indent="-228600" defTabSz="678180" eaLnBrk="0" hangingPunct="0">
              <a:defRPr kumimoji="1" sz="2800" b="1">
                <a:solidFill>
                  <a:srgbClr val="333399"/>
                </a:solidFill>
                <a:latin typeface="Times New Roman" panose="02020603050405020304" pitchFamily="18" charset="0"/>
                <a:ea typeface="楷体_GB2312" pitchFamily="49" charset="-122"/>
              </a:defRPr>
            </a:lvl3pPr>
            <a:lvl4pPr marL="1600200" indent="-228600" defTabSz="678180" eaLnBrk="0" hangingPunct="0">
              <a:defRPr kumimoji="1" sz="2800" b="1">
                <a:solidFill>
                  <a:srgbClr val="333399"/>
                </a:solidFill>
                <a:latin typeface="Times New Roman" panose="02020603050405020304" pitchFamily="18" charset="0"/>
                <a:ea typeface="楷体_GB2312" pitchFamily="49" charset="-122"/>
              </a:defRPr>
            </a:lvl4pPr>
            <a:lvl5pPr marL="2057400" indent="-228600" defTabSz="678180" eaLnBrk="0" hangingPunct="0">
              <a:defRPr kumimoji="1" sz="2800" b="1">
                <a:solidFill>
                  <a:srgbClr val="333399"/>
                </a:solidFill>
                <a:latin typeface="Times New Roman" panose="02020603050405020304" pitchFamily="18" charset="0"/>
                <a:ea typeface="楷体_GB2312" pitchFamily="49" charset="-122"/>
              </a:defRPr>
            </a:lvl5pPr>
            <a:lvl6pPr marL="25146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6pPr>
            <a:lvl7pPr marL="29718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7pPr>
            <a:lvl8pPr marL="34290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8pPr>
            <a:lvl9pPr marL="38862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6.4 </a:t>
            </a:r>
            <a:r>
              <a:rPr kumimoji="1" lang="zh-CN" altLang="en-US"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模数转换器的工作原理</a:t>
            </a:r>
            <a:endParaRPr kumimoji="1" lang="en-US" altLang="zh-CN"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endParaRPr>
          </a:p>
        </p:txBody>
      </p:sp>
      <p:sp>
        <p:nvSpPr>
          <p:cNvPr id="2" name="Rectangle 48"/>
          <p:cNvSpPr>
            <a:spLocks noChangeArrowheads="1"/>
          </p:cNvSpPr>
          <p:nvPr/>
        </p:nvSpPr>
        <p:spPr bwMode="auto">
          <a:xfrm>
            <a:off x="1733550" y="5419725"/>
            <a:ext cx="7364413" cy="744538"/>
          </a:xfrm>
          <a:prstGeom prst="rect">
            <a:avLst/>
          </a:prstGeom>
          <a:noFill/>
          <a:ln>
            <a:noFill/>
          </a:ln>
          <a:effectLst/>
        </p:spPr>
        <p:txBody>
          <a:bodyPr lIns="82550" tIns="41275" rIns="82550" bIns="41275"/>
          <a:lstStyle>
            <a:lvl1pPr marL="476250" indent="-476250" defTabSz="678180" eaLnBrk="0" hangingPunct="0">
              <a:defRPr kumimoji="1" sz="2800" b="1">
                <a:solidFill>
                  <a:srgbClr val="333399"/>
                </a:solidFill>
                <a:latin typeface="Times New Roman" panose="02020603050405020304" pitchFamily="18" charset="0"/>
                <a:ea typeface="楷体_GB2312" pitchFamily="49" charset="-122"/>
              </a:defRPr>
            </a:lvl1pPr>
            <a:lvl2pPr marL="742950" indent="-285750" defTabSz="678180" eaLnBrk="0" hangingPunct="0">
              <a:defRPr kumimoji="1" sz="2800" b="1">
                <a:solidFill>
                  <a:srgbClr val="333399"/>
                </a:solidFill>
                <a:latin typeface="Times New Roman" panose="02020603050405020304" pitchFamily="18" charset="0"/>
                <a:ea typeface="楷体_GB2312" pitchFamily="49" charset="-122"/>
              </a:defRPr>
            </a:lvl2pPr>
            <a:lvl3pPr marL="1143000" indent="-228600" defTabSz="678180" eaLnBrk="0" hangingPunct="0">
              <a:defRPr kumimoji="1" sz="2800" b="1">
                <a:solidFill>
                  <a:srgbClr val="333399"/>
                </a:solidFill>
                <a:latin typeface="Times New Roman" panose="02020603050405020304" pitchFamily="18" charset="0"/>
                <a:ea typeface="楷体_GB2312" pitchFamily="49" charset="-122"/>
              </a:defRPr>
            </a:lvl3pPr>
            <a:lvl4pPr marL="1600200" indent="-228600" defTabSz="678180" eaLnBrk="0" hangingPunct="0">
              <a:defRPr kumimoji="1" sz="2800" b="1">
                <a:solidFill>
                  <a:srgbClr val="333399"/>
                </a:solidFill>
                <a:latin typeface="Times New Roman" panose="02020603050405020304" pitchFamily="18" charset="0"/>
                <a:ea typeface="楷体_GB2312" pitchFamily="49" charset="-122"/>
              </a:defRPr>
            </a:lvl4pPr>
            <a:lvl5pPr marL="2057400" indent="-228600" defTabSz="678180" eaLnBrk="0" hangingPunct="0">
              <a:defRPr kumimoji="1" sz="2800" b="1">
                <a:solidFill>
                  <a:srgbClr val="333399"/>
                </a:solidFill>
                <a:latin typeface="Times New Roman" panose="02020603050405020304" pitchFamily="18" charset="0"/>
                <a:ea typeface="楷体_GB2312" pitchFamily="49" charset="-122"/>
              </a:defRPr>
            </a:lvl5pPr>
            <a:lvl6pPr marL="25146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6pPr>
            <a:lvl7pPr marL="29718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7pPr>
            <a:lvl8pPr marL="34290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8pPr>
            <a:lvl9pPr marL="3886200" indent="-228600" defTabSz="678180" eaLnBrk="0" fontAlgn="base" hangingPunct="0">
              <a:lnSpc>
                <a:spcPct val="90000"/>
              </a:lnSpc>
              <a:spcBef>
                <a:spcPct val="0"/>
              </a:spcBef>
              <a:spcAft>
                <a:spcPct val="0"/>
              </a:spcAft>
              <a:defRPr kumimoji="1" sz="2800" b="1">
                <a:solidFill>
                  <a:srgbClr val="333399"/>
                </a:solidFill>
                <a:latin typeface="Times New Roman" panose="02020603050405020304" pitchFamily="18" charset="0"/>
                <a:ea typeface="楷体_GB2312" pitchFamily="49"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(2.1  2.2.1-2.2.2  2.3  2.4.1 </a:t>
            </a:r>
            <a:r>
              <a:rPr kumimoji="1" lang="zh-CN" altLang="en-US"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 </a:t>
            </a:r>
            <a:r>
              <a:rPr kumimoji="1" lang="en-US" altLang="zh-CN"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3.5.1-3.5.2)</a:t>
            </a:r>
            <a:endParaRPr kumimoji="1" lang="en-US" altLang="zh-CN" sz="3200" b="1" i="0" u="none" strike="noStrike" kern="1200" cap="none" spc="0" normalizeH="0" baseline="0" noProof="0">
              <a:ln>
                <a:noFill/>
              </a:ln>
              <a:solidFill>
                <a:srgbClr val="FF3300"/>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endParaRPr>
          </a:p>
        </p:txBody>
      </p:sp>
    </p:spTree>
  </p:cSld>
  <p:clrMapOvr>
    <a:masterClrMapping/>
  </p:clrMapOvr>
  <p:transition spd="med">
    <p:cove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554520" name="Text Box 88"/>
          <p:cNvSpPr txBox="1"/>
          <p:nvPr/>
        </p:nvSpPr>
        <p:spPr>
          <a:xfrm>
            <a:off x="381000" y="1903413"/>
            <a:ext cx="8483600" cy="476250"/>
          </a:xfrm>
          <a:prstGeom prst="rect">
            <a:avLst/>
          </a:prstGeom>
          <a:solidFill>
            <a:srgbClr val="99CCFF"/>
          </a:solidFill>
          <a:ln w="9525">
            <a:noFill/>
          </a:ln>
        </p:spPr>
        <p:txBody>
          <a:bodyPr>
            <a:spAutoFit/>
          </a:bodyPr>
          <a:p>
            <a:pPr algn="ctr" eaLnBrk="1" hangingPunct="1">
              <a:lnSpc>
                <a:spcPct val="90000"/>
              </a:lnSpc>
            </a:pPr>
            <a:r>
              <a:rPr lang="zh-CN" altLang="en-US" dirty="0">
                <a:latin typeface="Times New Roman" panose="02020603050405020304" pitchFamily="18" charset="0"/>
              </a:rPr>
              <a:t>模数转换的原理及结构复杂，涉及术语和技术指标多</a:t>
            </a:r>
            <a:r>
              <a:rPr lang="en-US" altLang="zh-CN" dirty="0">
                <a:latin typeface="Times New Roman" panose="02020603050405020304" pitchFamily="18" charset="0"/>
              </a:rPr>
              <a:t>:</a:t>
            </a:r>
            <a:endParaRPr lang="en-US" altLang="zh-CN" dirty="0">
              <a:latin typeface="Times New Roman" panose="02020603050405020304" pitchFamily="18" charset="0"/>
            </a:endParaRPr>
          </a:p>
        </p:txBody>
      </p:sp>
      <p:sp>
        <p:nvSpPr>
          <p:cNvPr id="1554530" name="Text Box 98"/>
          <p:cNvSpPr txBox="1"/>
          <p:nvPr/>
        </p:nvSpPr>
        <p:spPr>
          <a:xfrm>
            <a:off x="649288" y="800100"/>
            <a:ext cx="7891462" cy="869950"/>
          </a:xfrm>
          <a:prstGeom prst="rect">
            <a:avLst/>
          </a:prstGeom>
          <a:solidFill>
            <a:srgbClr val="FFCC99"/>
          </a:solidFill>
          <a:ln w="9525" cap="flat" cmpd="sng">
            <a:solidFill>
              <a:srgbClr val="FF6600"/>
            </a:solidFill>
            <a:prstDash val="solid"/>
            <a:miter/>
            <a:headEnd type="none" w="med" len="med"/>
            <a:tailEnd type="none" w="med" len="med"/>
          </a:ln>
        </p:spPr>
        <p:txBody>
          <a:bodyPr>
            <a:spAutoFit/>
          </a:bodyPr>
          <a:p>
            <a:pPr eaLnBrk="1" hangingPunct="1">
              <a:lnSpc>
                <a:spcPct val="90000"/>
              </a:lnSpc>
              <a:spcBef>
                <a:spcPct val="50000"/>
              </a:spcBef>
            </a:pPr>
            <a:r>
              <a:rPr lang="zh-CN" altLang="en-US" dirty="0">
                <a:solidFill>
                  <a:schemeClr val="tx1"/>
                </a:solidFill>
                <a:latin typeface="黑体" panose="02010609060101010101" pitchFamily="49" charset="-122"/>
                <a:ea typeface="黑体" panose="02010609060101010101" pitchFamily="49" charset="-122"/>
              </a:rPr>
              <a:t>模数转换器：把采集到的采样模拟信号量化和编码后，转换成数字信号并输出，简称为</a:t>
            </a:r>
            <a:r>
              <a:rPr lang="en-US" altLang="zh-CN" dirty="0">
                <a:solidFill>
                  <a:schemeClr val="tx1"/>
                </a:solidFill>
                <a:latin typeface="黑体" panose="02010609060101010101" pitchFamily="49" charset="-122"/>
                <a:ea typeface="黑体" panose="02010609060101010101" pitchFamily="49" charset="-122"/>
              </a:rPr>
              <a:t>A/D</a:t>
            </a:r>
            <a:r>
              <a:rPr lang="zh-CN" altLang="en-US" dirty="0">
                <a:solidFill>
                  <a:schemeClr val="tx1"/>
                </a:solidFill>
                <a:latin typeface="黑体" panose="02010609060101010101" pitchFamily="49" charset="-122"/>
                <a:ea typeface="黑体" panose="02010609060101010101" pitchFamily="49" charset="-122"/>
              </a:rPr>
              <a:t>或</a:t>
            </a:r>
            <a:r>
              <a:rPr lang="en-US" altLang="zh-CN" dirty="0">
                <a:solidFill>
                  <a:schemeClr val="tx1"/>
                </a:solidFill>
                <a:latin typeface="黑体" panose="02010609060101010101" pitchFamily="49" charset="-122"/>
                <a:ea typeface="黑体" panose="02010609060101010101" pitchFamily="49" charset="-122"/>
              </a:rPr>
              <a:t>ADC</a:t>
            </a:r>
            <a:r>
              <a:rPr lang="zh-CN" altLang="en-US" dirty="0">
                <a:solidFill>
                  <a:schemeClr val="tx1"/>
                </a:solidFill>
                <a:latin typeface="黑体" panose="02010609060101010101" pitchFamily="49" charset="-122"/>
                <a:ea typeface="黑体" panose="02010609060101010101" pitchFamily="49" charset="-122"/>
              </a:rPr>
              <a:t>。</a:t>
            </a:r>
            <a:endParaRPr lang="zh-CN" altLang="en-US" dirty="0">
              <a:solidFill>
                <a:schemeClr val="tx1"/>
              </a:solidFill>
              <a:latin typeface="黑体" panose="02010609060101010101" pitchFamily="49" charset="-122"/>
              <a:ea typeface="黑体" panose="02010609060101010101" pitchFamily="49" charset="-122"/>
            </a:endParaRPr>
          </a:p>
        </p:txBody>
      </p:sp>
      <p:sp>
        <p:nvSpPr>
          <p:cNvPr id="3086" name="Rectangle 14"/>
          <p:cNvSpPr/>
          <p:nvPr/>
        </p:nvSpPr>
        <p:spPr>
          <a:xfrm>
            <a:off x="231775" y="2379663"/>
            <a:ext cx="8661400" cy="390525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a:t>
            </a:r>
            <a:r>
              <a:rPr lang="zh-CN" altLang="en-US" dirty="0">
                <a:solidFill>
                  <a:srgbClr val="FF3300"/>
                </a:solidFill>
                <a:latin typeface="黑体" panose="02010609060101010101" pitchFamily="49" charset="-122"/>
                <a:ea typeface="黑体" panose="02010609060101010101" pitchFamily="49" charset="-122"/>
              </a:rPr>
              <a:t>、位</a:t>
            </a:r>
            <a:r>
              <a:rPr lang="en-US" altLang="zh-CN" dirty="0">
                <a:solidFill>
                  <a:srgbClr val="FF3300"/>
                </a:solidFill>
                <a:latin typeface="黑体" panose="02010609060101010101" pitchFamily="49" charset="-122"/>
                <a:ea typeface="黑体" panose="02010609060101010101" pitchFamily="49" charset="-122"/>
              </a:rPr>
              <a:t> Bit</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指二进制的一位，即</a:t>
            </a:r>
            <a:r>
              <a:rPr lang="en-US" altLang="zh-CN" dirty="0">
                <a:solidFill>
                  <a:srgbClr val="000066"/>
                </a:solidFill>
                <a:latin typeface="黑体" panose="02010609060101010101" pitchFamily="49" charset="-122"/>
                <a:ea typeface="黑体" panose="02010609060101010101" pitchFamily="49" charset="-122"/>
              </a:rPr>
              <a:t>Bit</a:t>
            </a:r>
            <a:r>
              <a:rPr lang="zh-CN" altLang="en-US" dirty="0">
                <a:solidFill>
                  <a:srgbClr val="000066"/>
                </a:solidFill>
                <a:latin typeface="黑体" panose="02010609060101010101" pitchFamily="49" charset="-122"/>
                <a:ea typeface="黑体" panose="02010609060101010101" pitchFamily="49" charset="-122"/>
              </a:rPr>
              <a:t>。</a:t>
            </a:r>
            <a:r>
              <a:rPr lang="en-US" altLang="zh-CN"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位</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转换结果为</a:t>
            </a:r>
            <a:r>
              <a:rPr lang="en-US" altLang="zh-CN"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位二进制数，常见</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有</a:t>
            </a:r>
            <a:r>
              <a:rPr lang="en-US" altLang="zh-CN" dirty="0">
                <a:solidFill>
                  <a:srgbClr val="000066"/>
                </a:solidFill>
                <a:latin typeface="黑体" panose="02010609060101010101" pitchFamily="49" charset="-122"/>
                <a:ea typeface="黑体" panose="02010609060101010101" pitchFamily="49" charset="-122"/>
              </a:rPr>
              <a:t>8</a:t>
            </a:r>
            <a:r>
              <a:rPr lang="zh-CN" altLang="en-US" dirty="0">
                <a:solidFill>
                  <a:srgbClr val="000066"/>
                </a:solidFill>
                <a:latin typeface="黑体" panose="02010609060101010101" pitchFamily="49" charset="-122"/>
                <a:ea typeface="黑体" panose="02010609060101010101" pitchFamily="49" charset="-122"/>
              </a:rPr>
              <a:t>位、</a:t>
            </a:r>
            <a:r>
              <a:rPr lang="en-US" altLang="zh-CN" dirty="0">
                <a:solidFill>
                  <a:srgbClr val="000066"/>
                </a:solidFill>
                <a:latin typeface="黑体" panose="02010609060101010101" pitchFamily="49" charset="-122"/>
                <a:ea typeface="黑体" panose="02010609060101010101" pitchFamily="49" charset="-122"/>
              </a:rPr>
              <a:t>12</a:t>
            </a:r>
            <a:r>
              <a:rPr lang="zh-CN" altLang="en-US" dirty="0">
                <a:solidFill>
                  <a:srgbClr val="000066"/>
                </a:solidFill>
                <a:latin typeface="黑体" panose="02010609060101010101" pitchFamily="49" charset="-122"/>
                <a:ea typeface="黑体" panose="02010609060101010101" pitchFamily="49" charset="-122"/>
              </a:rPr>
              <a:t>位、</a:t>
            </a:r>
            <a:r>
              <a:rPr lang="en-US" altLang="zh-CN" dirty="0">
                <a:solidFill>
                  <a:srgbClr val="000066"/>
                </a:solidFill>
                <a:latin typeface="黑体" panose="02010609060101010101" pitchFamily="49" charset="-122"/>
                <a:ea typeface="黑体" panose="02010609060101010101" pitchFamily="49" charset="-122"/>
              </a:rPr>
              <a:t>16</a:t>
            </a:r>
            <a:r>
              <a:rPr lang="zh-CN" altLang="en-US" dirty="0">
                <a:solidFill>
                  <a:srgbClr val="000066"/>
                </a:solidFill>
                <a:latin typeface="黑体" panose="02010609060101010101" pitchFamily="49" charset="-122"/>
                <a:ea typeface="黑体" panose="02010609060101010101" pitchFamily="49" charset="-122"/>
              </a:rPr>
              <a:t>位等。</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a:t>
            </a:r>
            <a:r>
              <a:rPr lang="zh-CN" altLang="en-US" dirty="0">
                <a:solidFill>
                  <a:srgbClr val="FF3300"/>
                </a:solidFill>
                <a:latin typeface="黑体" panose="02010609060101010101" pitchFamily="49" charset="-122"/>
                <a:ea typeface="黑体" panose="02010609060101010101" pitchFamily="49" charset="-122"/>
              </a:rPr>
              <a:t>、最低有效位</a:t>
            </a:r>
            <a:r>
              <a:rPr lang="en-US" altLang="zh-CN" dirty="0">
                <a:solidFill>
                  <a:srgbClr val="FF3300"/>
                </a:solidFill>
                <a:latin typeface="黑体" panose="02010609060101010101" pitchFamily="49" charset="-122"/>
                <a:ea typeface="黑体" panose="02010609060101010101" pitchFamily="49" charset="-122"/>
              </a:rPr>
              <a:t> LSB</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指二进制数中权最小的位。在</a:t>
            </a:r>
            <a:r>
              <a:rPr lang="en-US" altLang="zh-CN"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位二进制数中，</a:t>
            </a:r>
            <a:r>
              <a:rPr lang="en-US" altLang="zh-CN" dirty="0">
                <a:solidFill>
                  <a:srgbClr val="000066"/>
                </a:solidFill>
                <a:latin typeface="黑体" panose="02010609060101010101" pitchFamily="49" charset="-122"/>
                <a:ea typeface="黑体" panose="02010609060101010101" pitchFamily="49" charset="-122"/>
              </a:rPr>
              <a:t>1LSB</a:t>
            </a:r>
            <a:r>
              <a:rPr lang="zh-CN" altLang="en-US" dirty="0">
                <a:solidFill>
                  <a:srgbClr val="000066"/>
                </a:solidFill>
                <a:latin typeface="黑体" panose="02010609060101010101" pitchFamily="49" charset="-122"/>
                <a:ea typeface="黑体" panose="02010609060101010101" pitchFamily="49" charset="-122"/>
              </a:rPr>
              <a:t>对应的模拟输入量是满度范围（量程）的</a:t>
            </a:r>
            <a:r>
              <a:rPr lang="en-US" altLang="zh-CN" dirty="0">
                <a:solidFill>
                  <a:srgbClr val="000066"/>
                </a:solidFill>
                <a:latin typeface="黑体" panose="02010609060101010101" pitchFamily="49" charset="-122"/>
                <a:ea typeface="黑体" panose="02010609060101010101" pitchFamily="49" charset="-122"/>
              </a:rPr>
              <a:t>1/2</a:t>
            </a:r>
            <a:r>
              <a:rPr lang="en-US" altLang="zh-CN" baseline="30000"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，也就是量化单位。</a:t>
            </a:r>
            <a:endParaRPr lang="en-US" altLang="zh-CN" dirty="0">
              <a:solidFill>
                <a:srgbClr val="000066"/>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54530"/>
                                        </p:tgtEl>
                                        <p:attrNameLst>
                                          <p:attrName>style.visibility</p:attrName>
                                        </p:attrNameLst>
                                      </p:cBhvr>
                                      <p:to>
                                        <p:strVal val="visible"/>
                                      </p:to>
                                    </p:set>
                                    <p:animEffect transition="in" filter="dissolve">
                                      <p:cBhvr>
                                        <p:cTn id="7" dur="500"/>
                                        <p:tgtEl>
                                          <p:spTgt spid="15545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54520"/>
                                        </p:tgtEl>
                                        <p:attrNameLst>
                                          <p:attrName>style.visibility</p:attrName>
                                        </p:attrNameLst>
                                      </p:cBhvr>
                                      <p:to>
                                        <p:strVal val="visible"/>
                                      </p:to>
                                    </p:set>
                                    <p:animEffect transition="in" filter="dissolve">
                                      <p:cBhvr>
                                        <p:cTn id="12" dur="500"/>
                                        <p:tgtEl>
                                          <p:spTgt spid="15545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86">
                                            <p:txEl>
                                              <p:charRg st="0" end="8"/>
                                            </p:txEl>
                                          </p:spTgt>
                                        </p:tgtEl>
                                        <p:attrNameLst>
                                          <p:attrName>style.visibility</p:attrName>
                                        </p:attrNameLst>
                                      </p:cBhvr>
                                      <p:to>
                                        <p:strVal val="visible"/>
                                      </p:to>
                                    </p:set>
                                    <p:animEffect transition="in" filter="dissolve">
                                      <p:cBhvr>
                                        <p:cTn id="17" dur="500"/>
                                        <p:tgtEl>
                                          <p:spTgt spid="3086">
                                            <p:txEl>
                                              <p:charRg st="0" end="8"/>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3086">
                                            <p:txEl>
                                              <p:charRg st="8" end="58"/>
                                            </p:txEl>
                                          </p:spTgt>
                                        </p:tgtEl>
                                        <p:attrNameLst>
                                          <p:attrName>style.visibility</p:attrName>
                                        </p:attrNameLst>
                                      </p:cBhvr>
                                      <p:to>
                                        <p:strVal val="visible"/>
                                      </p:to>
                                    </p:set>
                                    <p:animEffect transition="in" filter="dissolve">
                                      <p:cBhvr>
                                        <p:cTn id="20" dur="500"/>
                                        <p:tgtEl>
                                          <p:spTgt spid="3086">
                                            <p:txEl>
                                              <p:charRg st="8" end="58"/>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3086">
                                            <p:txEl>
                                              <p:charRg st="58" end="70"/>
                                            </p:txEl>
                                          </p:spTgt>
                                        </p:tgtEl>
                                        <p:attrNameLst>
                                          <p:attrName>style.visibility</p:attrName>
                                        </p:attrNameLst>
                                      </p:cBhvr>
                                      <p:to>
                                        <p:strVal val="visible"/>
                                      </p:to>
                                    </p:set>
                                    <p:animEffect transition="in" filter="dissolve">
                                      <p:cBhvr>
                                        <p:cTn id="25" dur="500"/>
                                        <p:tgtEl>
                                          <p:spTgt spid="3086">
                                            <p:txEl>
                                              <p:charRg st="58" end="7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3086">
                                            <p:txEl>
                                              <p:charRg st="70" end="128"/>
                                            </p:txEl>
                                          </p:spTgt>
                                        </p:tgtEl>
                                        <p:attrNameLst>
                                          <p:attrName>style.visibility</p:attrName>
                                        </p:attrNameLst>
                                      </p:cBhvr>
                                      <p:to>
                                        <p:strVal val="visible"/>
                                      </p:to>
                                    </p:set>
                                    <p:animEffect transition="in" filter="dissolve">
                                      <p:cBhvr>
                                        <p:cTn id="28" dur="500"/>
                                        <p:tgtEl>
                                          <p:spTgt spid="3086">
                                            <p:txEl>
                                              <p:charRg st="70" end="12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20" grpId="0" bldLvl="0" animBg="1"/>
      <p:bldP spid="1554530" grpId="0" bldLvl="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2646" name="Rectangle 6"/>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a:t>
            </a:r>
            <a:r>
              <a:rPr lang="zh-CN" altLang="en-US" dirty="0">
                <a:solidFill>
                  <a:srgbClr val="FF3300"/>
                </a:solidFill>
                <a:latin typeface="黑体" panose="02010609060101010101" pitchFamily="49" charset="-122"/>
                <a:ea typeface="黑体" panose="02010609060101010101" pitchFamily="49" charset="-122"/>
              </a:rPr>
              <a:t>、最高有效位 MSB</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指二进制数中权最大的位。</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4</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字节</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Byte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每</a:t>
            </a:r>
            <a:r>
              <a:rPr lang="en-US" altLang="zh-CN" dirty="0">
                <a:solidFill>
                  <a:srgbClr val="000066"/>
                </a:solidFill>
                <a:latin typeface="黑体" panose="02010609060101010101" pitchFamily="49" charset="-122"/>
                <a:ea typeface="黑体" panose="02010609060101010101" pitchFamily="49" charset="-122"/>
              </a:rPr>
              <a:t>8</a:t>
            </a:r>
            <a:r>
              <a:rPr lang="zh-CN" altLang="en-US" dirty="0">
                <a:solidFill>
                  <a:srgbClr val="000066"/>
                </a:solidFill>
                <a:latin typeface="黑体" panose="02010609060101010101" pitchFamily="49" charset="-122"/>
                <a:ea typeface="黑体" panose="02010609060101010101" pitchFamily="49" charset="-122"/>
              </a:rPr>
              <a:t>位二进制数构成一个字节。数值运算中字节是基本单位，计算机中存储器常以字节为基本单元。</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5</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字</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Word</a:t>
            </a:r>
            <a:endParaRPr lang="zh-CN" altLang="en-US"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构成数据的基本单位，可由若干字节组成。习惯上把双字节组成的字简称为字。有时也把</a:t>
            </a:r>
            <a:r>
              <a:rPr lang="en-US" altLang="zh-CN"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位</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中的</a:t>
            </a:r>
            <a:r>
              <a:rPr lang="en-US" altLang="zh-CN" dirty="0">
                <a:solidFill>
                  <a:srgbClr val="000066"/>
                </a:solidFill>
                <a:latin typeface="黑体" panose="02010609060101010101" pitchFamily="49" charset="-122"/>
                <a:ea typeface="黑体" panose="02010609060101010101" pitchFamily="49" charset="-122"/>
              </a:rPr>
              <a:t>n</a:t>
            </a:r>
            <a:r>
              <a:rPr lang="zh-CN" altLang="en-US" dirty="0">
                <a:solidFill>
                  <a:srgbClr val="000066"/>
                </a:solidFill>
                <a:latin typeface="黑体" panose="02010609060101010101" pitchFamily="49" charset="-122"/>
                <a:ea typeface="黑体" panose="02010609060101010101" pitchFamily="49" charset="-122"/>
              </a:rPr>
              <a:t>位二进制数称为字，如把</a:t>
            </a:r>
            <a:r>
              <a:rPr lang="en-US" altLang="zh-CN" dirty="0">
                <a:solidFill>
                  <a:srgbClr val="000066"/>
                </a:solidFill>
                <a:latin typeface="黑体" panose="02010609060101010101" pitchFamily="49" charset="-122"/>
                <a:ea typeface="黑体" panose="02010609060101010101" pitchFamily="49" charset="-122"/>
              </a:rPr>
              <a:t>12</a:t>
            </a:r>
            <a:r>
              <a:rPr lang="zh-CN" altLang="en-US" dirty="0">
                <a:solidFill>
                  <a:srgbClr val="000066"/>
                </a:solidFill>
                <a:latin typeface="黑体" panose="02010609060101010101" pitchFamily="49" charset="-122"/>
                <a:ea typeface="黑体" panose="02010609060101010101" pitchFamily="49" charset="-122"/>
              </a:rPr>
              <a:t>位</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的</a:t>
            </a:r>
            <a:r>
              <a:rPr lang="en-US" altLang="zh-CN" dirty="0">
                <a:solidFill>
                  <a:srgbClr val="000066"/>
                </a:solidFill>
                <a:latin typeface="黑体" panose="02010609060101010101" pitchFamily="49" charset="-122"/>
                <a:ea typeface="黑体" panose="02010609060101010101" pitchFamily="49" charset="-122"/>
              </a:rPr>
              <a:t>12</a:t>
            </a:r>
            <a:r>
              <a:rPr lang="zh-CN" altLang="en-US" dirty="0">
                <a:solidFill>
                  <a:srgbClr val="000066"/>
                </a:solidFill>
                <a:latin typeface="黑体" panose="02010609060101010101" pitchFamily="49" charset="-122"/>
                <a:ea typeface="黑体" panose="02010609060101010101" pitchFamily="49" charset="-122"/>
              </a:rPr>
              <a:t>位二进制数称为字。</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2646">
                                            <p:txEl>
                                              <p:charRg st="0" end="12"/>
                                            </p:txEl>
                                          </p:spTgt>
                                        </p:tgtEl>
                                        <p:attrNameLst>
                                          <p:attrName>style.visibility</p:attrName>
                                        </p:attrNameLst>
                                      </p:cBhvr>
                                      <p:to>
                                        <p:strVal val="visible"/>
                                      </p:to>
                                    </p:set>
                                    <p:animEffect transition="in" filter="dissolve">
                                      <p:cBhvr>
                                        <p:cTn id="7" dur="500"/>
                                        <p:tgtEl>
                                          <p:spTgt spid="112646">
                                            <p:txEl>
                                              <p:charRg st="0" end="1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2646">
                                            <p:txEl>
                                              <p:charRg st="12" end="26"/>
                                            </p:txEl>
                                          </p:spTgt>
                                        </p:tgtEl>
                                        <p:attrNameLst>
                                          <p:attrName>style.visibility</p:attrName>
                                        </p:attrNameLst>
                                      </p:cBhvr>
                                      <p:to>
                                        <p:strVal val="visible"/>
                                      </p:to>
                                    </p:set>
                                    <p:animEffect transition="in" filter="dissolve">
                                      <p:cBhvr>
                                        <p:cTn id="10" dur="500"/>
                                        <p:tgtEl>
                                          <p:spTgt spid="112646">
                                            <p:txEl>
                                              <p:charRg st="12" end="2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2646">
                                            <p:txEl>
                                              <p:charRg st="26" end="36"/>
                                            </p:txEl>
                                          </p:spTgt>
                                        </p:tgtEl>
                                        <p:attrNameLst>
                                          <p:attrName>style.visibility</p:attrName>
                                        </p:attrNameLst>
                                      </p:cBhvr>
                                      <p:to>
                                        <p:strVal val="visible"/>
                                      </p:to>
                                    </p:set>
                                    <p:animEffect transition="in" filter="dissolve">
                                      <p:cBhvr>
                                        <p:cTn id="15" dur="500"/>
                                        <p:tgtEl>
                                          <p:spTgt spid="112646">
                                            <p:txEl>
                                              <p:charRg st="26" end="3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2646">
                                            <p:txEl>
                                              <p:charRg st="36" end="82"/>
                                            </p:txEl>
                                          </p:spTgt>
                                        </p:tgtEl>
                                        <p:attrNameLst>
                                          <p:attrName>style.visibility</p:attrName>
                                        </p:attrNameLst>
                                      </p:cBhvr>
                                      <p:to>
                                        <p:strVal val="visible"/>
                                      </p:to>
                                    </p:set>
                                    <p:animEffect transition="in" filter="dissolve">
                                      <p:cBhvr>
                                        <p:cTn id="18" dur="500"/>
                                        <p:tgtEl>
                                          <p:spTgt spid="112646">
                                            <p:txEl>
                                              <p:charRg st="36" end="82"/>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12646">
                                            <p:txEl>
                                              <p:charRg st="82" end="91"/>
                                            </p:txEl>
                                          </p:spTgt>
                                        </p:tgtEl>
                                        <p:attrNameLst>
                                          <p:attrName>style.visibility</p:attrName>
                                        </p:attrNameLst>
                                      </p:cBhvr>
                                      <p:to>
                                        <p:strVal val="visible"/>
                                      </p:to>
                                    </p:set>
                                    <p:animEffect transition="in" filter="dissolve">
                                      <p:cBhvr>
                                        <p:cTn id="23" dur="500"/>
                                        <p:tgtEl>
                                          <p:spTgt spid="112646">
                                            <p:txEl>
                                              <p:charRg st="82" end="9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12646">
                                            <p:txEl>
                                              <p:charRg st="91" end="169"/>
                                            </p:txEl>
                                          </p:spTgt>
                                        </p:tgtEl>
                                        <p:attrNameLst>
                                          <p:attrName>style.visibility</p:attrName>
                                        </p:attrNameLst>
                                      </p:cBhvr>
                                      <p:to>
                                        <p:strVal val="visible"/>
                                      </p:to>
                                    </p:set>
                                    <p:animEffect transition="in" filter="dissolve">
                                      <p:cBhvr>
                                        <p:cTn id="26" dur="500"/>
                                        <p:tgtEl>
                                          <p:spTgt spid="112646">
                                            <p:txEl>
                                              <p:charRg st="91" end="16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4691" name="Rectangle 3"/>
          <p:cNvSpPr/>
          <p:nvPr/>
        </p:nvSpPr>
        <p:spPr>
          <a:xfrm>
            <a:off x="231775" y="827088"/>
            <a:ext cx="8661400" cy="170180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6</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分辨率</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Resolution</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在转换中所能分辨的最小量，有时也用最低有效位</a:t>
            </a:r>
            <a:r>
              <a:rPr lang="en-US" altLang="zh-CN" dirty="0">
                <a:solidFill>
                  <a:srgbClr val="000066"/>
                </a:solidFill>
                <a:latin typeface="黑体" panose="02010609060101010101" pitchFamily="49" charset="-122"/>
                <a:ea typeface="黑体" panose="02010609060101010101" pitchFamily="49" charset="-122"/>
              </a:rPr>
              <a:t>LSB</a:t>
            </a:r>
            <a:r>
              <a:rPr lang="zh-CN" altLang="en-US" dirty="0">
                <a:solidFill>
                  <a:srgbClr val="000066"/>
                </a:solidFill>
                <a:latin typeface="黑体" panose="02010609060101010101" pitchFamily="49" charset="-122"/>
                <a:ea typeface="黑体" panose="02010609060101010101" pitchFamily="49" charset="-122"/>
              </a:rPr>
              <a:t>的步长表示。</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2245676" name="Text Box 1068"/>
          <p:cNvSpPr txBox="1"/>
          <p:nvPr/>
        </p:nvSpPr>
        <p:spPr>
          <a:xfrm>
            <a:off x="647700" y="2528888"/>
            <a:ext cx="5903913" cy="946150"/>
          </a:xfrm>
          <a:prstGeom prst="rect">
            <a:avLst/>
          </a:prstGeom>
          <a:noFill/>
          <a:ln w="9525">
            <a:noFill/>
          </a:ln>
        </p:spPr>
        <p:txBody>
          <a:bodyPr>
            <a:spAutoFit/>
          </a:bodyPr>
          <a:p>
            <a:pPr eaLnBrk="1" hangingPunct="1"/>
            <a:r>
              <a:rPr lang="zh-CN" altLang="en-US" dirty="0">
                <a:latin typeface="Times New Roman" panose="02020603050405020304" pitchFamily="18" charset="0"/>
              </a:rPr>
              <a:t>设</a:t>
            </a:r>
            <a:r>
              <a:rPr lang="en-US" altLang="zh-CN" dirty="0">
                <a:latin typeface="Times New Roman" panose="02020603050405020304" pitchFamily="18" charset="0"/>
                <a:ea typeface="宋体" panose="02010600030101010101" pitchFamily="2" charset="-122"/>
              </a:rPr>
              <a:t>A/D</a:t>
            </a:r>
            <a:r>
              <a:rPr lang="zh-CN" altLang="en-US" dirty="0">
                <a:latin typeface="Times New Roman" panose="02020603050405020304" pitchFamily="18" charset="0"/>
              </a:rPr>
              <a:t>转换器的位数为</a:t>
            </a:r>
            <a:r>
              <a:rPr lang="en-US" altLang="zh-CN" i="1" dirty="0">
                <a:solidFill>
                  <a:srgbClr val="FF0000"/>
                </a:solidFill>
                <a:latin typeface="Times New Roman" panose="02020603050405020304" pitchFamily="18" charset="0"/>
                <a:ea typeface="宋体" panose="02010600030101010101" pitchFamily="2" charset="-122"/>
              </a:rPr>
              <a:t>n</a:t>
            </a:r>
            <a:r>
              <a:rPr lang="zh-CN" altLang="en-US"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rPr>
              <a:t>满量程电压为</a:t>
            </a:r>
            <a:r>
              <a:rPr lang="en-US" altLang="zh-CN" i="1" dirty="0">
                <a:solidFill>
                  <a:srgbClr val="FF0000"/>
                </a:solidFill>
                <a:latin typeface="Times New Roman" panose="02020603050405020304" pitchFamily="18" charset="0"/>
                <a:ea typeface="宋体" panose="02010600030101010101" pitchFamily="2" charset="-122"/>
              </a:rPr>
              <a:t>FSR</a:t>
            </a:r>
            <a:r>
              <a:rPr lang="zh-CN" altLang="en-US" dirty="0">
                <a:latin typeface="Times New Roman" panose="02020603050405020304" pitchFamily="18" charset="0"/>
                <a:ea typeface="宋体" panose="02010600030101010101" pitchFamily="2" charset="-122"/>
              </a:rPr>
              <a:t>，</a:t>
            </a:r>
            <a:r>
              <a:rPr lang="zh-CN" altLang="en-US" dirty="0">
                <a:latin typeface="楷体_GB2312" pitchFamily="49" charset="-122"/>
              </a:rPr>
              <a:t>则分辨率定义为： </a:t>
            </a:r>
            <a:endParaRPr lang="zh-CN" altLang="en-US" dirty="0">
              <a:latin typeface="楷体_GB2312" pitchFamily="49" charset="-122"/>
            </a:endParaRPr>
          </a:p>
        </p:txBody>
      </p:sp>
      <p:graphicFrame>
        <p:nvGraphicFramePr>
          <p:cNvPr id="2245678" name="Object 1070"/>
          <p:cNvGraphicFramePr>
            <a:graphicFrameLocks noChangeAspect="1"/>
          </p:cNvGraphicFramePr>
          <p:nvPr/>
        </p:nvGraphicFramePr>
        <p:xfrm>
          <a:off x="2430463" y="3536950"/>
          <a:ext cx="2428875" cy="944563"/>
        </p:xfrm>
        <a:graphic>
          <a:graphicData uri="http://schemas.openxmlformats.org/presentationml/2006/ole">
            <mc:AlternateContent xmlns:mc="http://schemas.openxmlformats.org/markup-compatibility/2006">
              <mc:Choice xmlns:v="urn:schemas-microsoft-com:vml" Requires="v">
                <p:oleObj spid="_x0000_s3076" name="" r:id="rId1" imgW="951865" imgH="393700" progId="Equation.DSMT4">
                  <p:embed/>
                </p:oleObj>
              </mc:Choice>
              <mc:Fallback>
                <p:oleObj name="" r:id="rId1" imgW="951865" imgH="393700" progId="Equation.DSMT4">
                  <p:embed/>
                  <p:pic>
                    <p:nvPicPr>
                      <p:cNvPr id="0" name="图片 3075"/>
                      <p:cNvPicPr/>
                      <p:nvPr/>
                    </p:nvPicPr>
                    <p:blipFill>
                      <a:blip r:embed="rId2"/>
                      <a:stretch>
                        <a:fillRect/>
                      </a:stretch>
                    </p:blipFill>
                    <p:spPr>
                      <a:xfrm>
                        <a:off x="2430463" y="3536950"/>
                        <a:ext cx="2428875" cy="944563"/>
                      </a:xfrm>
                      <a:prstGeom prst="rect">
                        <a:avLst/>
                      </a:prstGeom>
                      <a:solidFill>
                        <a:srgbClr val="CCFFFF"/>
                      </a:solidFill>
                      <a:ln w="38100">
                        <a:noFill/>
                        <a:miter/>
                      </a:ln>
                    </p:spPr>
                  </p:pic>
                </p:oleObj>
              </mc:Fallback>
            </mc:AlternateContent>
          </a:graphicData>
        </a:graphic>
      </p:graphicFrame>
      <p:sp>
        <p:nvSpPr>
          <p:cNvPr id="2245680" name="AutoShape 1072"/>
          <p:cNvSpPr/>
          <p:nvPr/>
        </p:nvSpPr>
        <p:spPr>
          <a:xfrm>
            <a:off x="5761038" y="3176588"/>
            <a:ext cx="2590800" cy="1308100"/>
          </a:xfrm>
          <a:prstGeom prst="wedgeRoundRectCallout">
            <a:avLst>
              <a:gd name="adj1" fmla="val -74324"/>
              <a:gd name="adj2" fmla="val 1359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dirty="0">
                <a:solidFill>
                  <a:schemeClr val="tx1"/>
                </a:solidFill>
                <a:latin typeface="Times New Roman" panose="02020603050405020304" pitchFamily="18" charset="0"/>
              </a:rPr>
              <a:t>量化单位就是</a:t>
            </a:r>
            <a:r>
              <a:rPr lang="en-US" altLang="zh-CN" dirty="0">
                <a:solidFill>
                  <a:schemeClr val="tx1"/>
                </a:solidFill>
                <a:latin typeface="Times New Roman" panose="02020603050405020304" pitchFamily="18" charset="0"/>
              </a:rPr>
              <a:t>A/D</a:t>
            </a:r>
            <a:r>
              <a:rPr lang="zh-CN" altLang="en-US" dirty="0">
                <a:solidFill>
                  <a:schemeClr val="tx1"/>
                </a:solidFill>
                <a:latin typeface="Times New Roman" panose="02020603050405020304" pitchFamily="18" charset="0"/>
              </a:rPr>
              <a:t>转换器的分辨率。</a:t>
            </a:r>
            <a:endParaRPr lang="zh-CN" altLang="en-US" dirty="0">
              <a:solidFill>
                <a:schemeClr val="tx1"/>
              </a:solidFill>
              <a:latin typeface="Times New Roman" panose="02020603050405020304" pitchFamily="18" charset="0"/>
            </a:endParaRPr>
          </a:p>
        </p:txBody>
      </p:sp>
      <p:sp>
        <p:nvSpPr>
          <p:cNvPr id="2245681" name="Text Box 1073"/>
          <p:cNvSpPr txBox="1"/>
          <p:nvPr/>
        </p:nvSpPr>
        <p:spPr>
          <a:xfrm>
            <a:off x="647700" y="4616450"/>
            <a:ext cx="4084638" cy="519113"/>
          </a:xfrm>
          <a:prstGeom prst="rect">
            <a:avLst/>
          </a:prstGeom>
          <a:noFill/>
          <a:ln w="9525">
            <a:noFill/>
          </a:ln>
        </p:spPr>
        <p:txBody>
          <a:bodyPr>
            <a:spAutoFit/>
          </a:bodyPr>
          <a:p>
            <a:pPr eaLnBrk="1" hangingPunct="1"/>
            <a:r>
              <a:rPr lang="zh-CN" altLang="en-US" dirty="0">
                <a:latin typeface="楷体_GB2312" pitchFamily="49" charset="-122"/>
              </a:rPr>
              <a:t>相对分辨率定义为</a:t>
            </a:r>
            <a:r>
              <a:rPr lang="en-US" altLang="zh-CN" dirty="0">
                <a:latin typeface="楷体_GB2312" pitchFamily="49" charset="-122"/>
              </a:rPr>
              <a:t>: </a:t>
            </a:r>
            <a:endParaRPr lang="en-US" altLang="zh-CN" dirty="0">
              <a:latin typeface="楷体_GB2312" pitchFamily="49" charset="-122"/>
            </a:endParaRPr>
          </a:p>
        </p:txBody>
      </p:sp>
      <p:graphicFrame>
        <p:nvGraphicFramePr>
          <p:cNvPr id="2245682" name="Object 1074"/>
          <p:cNvGraphicFramePr>
            <a:graphicFrameLocks noChangeAspect="1"/>
          </p:cNvGraphicFramePr>
          <p:nvPr/>
        </p:nvGraphicFramePr>
        <p:xfrm>
          <a:off x="1697038" y="5164138"/>
          <a:ext cx="5862637" cy="893762"/>
        </p:xfrm>
        <a:graphic>
          <a:graphicData uri="http://schemas.openxmlformats.org/presentationml/2006/ole">
            <mc:AlternateContent xmlns:mc="http://schemas.openxmlformats.org/markup-compatibility/2006">
              <mc:Choice xmlns:v="urn:schemas-microsoft-com:vml" Requires="v">
                <p:oleObj spid="_x0000_s3077" name="" r:id="rId3" imgW="2679700" imgH="406400" progId="Equation.DSMT4">
                  <p:embed/>
                </p:oleObj>
              </mc:Choice>
              <mc:Fallback>
                <p:oleObj name="" r:id="rId3" imgW="2679700" imgH="406400" progId="Equation.DSMT4">
                  <p:embed/>
                  <p:pic>
                    <p:nvPicPr>
                      <p:cNvPr id="0" name="图片 3076"/>
                      <p:cNvPicPr/>
                      <p:nvPr/>
                    </p:nvPicPr>
                    <p:blipFill>
                      <a:blip r:embed="rId4"/>
                      <a:stretch>
                        <a:fillRect/>
                      </a:stretch>
                    </p:blipFill>
                    <p:spPr>
                      <a:xfrm>
                        <a:off x="1697038" y="5164138"/>
                        <a:ext cx="5862637" cy="893762"/>
                      </a:xfrm>
                      <a:prstGeom prst="rect">
                        <a:avLst/>
                      </a:prstGeom>
                      <a:solidFill>
                        <a:srgbClr val="CCFFFF"/>
                      </a:solidFill>
                      <a:ln w="38100">
                        <a:noFill/>
                        <a:miter/>
                      </a:ln>
                    </p:spPr>
                  </p:pic>
                </p:oleObj>
              </mc:Fallback>
            </mc:AlternateContent>
          </a:graphicData>
        </a:graphic>
      </p:graphicFrame>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4691">
                                            <p:txEl>
                                              <p:charRg st="0" end="17"/>
                                            </p:txEl>
                                          </p:spTgt>
                                        </p:tgtEl>
                                        <p:attrNameLst>
                                          <p:attrName>style.visibility</p:attrName>
                                        </p:attrNameLst>
                                      </p:cBhvr>
                                      <p:to>
                                        <p:strVal val="visible"/>
                                      </p:to>
                                    </p:set>
                                    <p:animEffect transition="in" filter="dissolve">
                                      <p:cBhvr>
                                        <p:cTn id="7" dur="500"/>
                                        <p:tgtEl>
                                          <p:spTgt spid="114691">
                                            <p:txEl>
                                              <p:charRg st="0" end="1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4691">
                                            <p:txEl>
                                              <p:charRg st="17" end="54"/>
                                            </p:txEl>
                                          </p:spTgt>
                                        </p:tgtEl>
                                        <p:attrNameLst>
                                          <p:attrName>style.visibility</p:attrName>
                                        </p:attrNameLst>
                                      </p:cBhvr>
                                      <p:to>
                                        <p:strVal val="visible"/>
                                      </p:to>
                                    </p:set>
                                    <p:animEffect transition="in" filter="dissolve">
                                      <p:cBhvr>
                                        <p:cTn id="10" dur="500"/>
                                        <p:tgtEl>
                                          <p:spTgt spid="114691">
                                            <p:txEl>
                                              <p:charRg st="17" end="54"/>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245676">
                                            <p:txEl>
                                              <p:charRg st="0" end="33"/>
                                            </p:txEl>
                                          </p:spTgt>
                                        </p:tgtEl>
                                        <p:attrNameLst>
                                          <p:attrName>style.visibility</p:attrName>
                                        </p:attrNameLst>
                                      </p:cBhvr>
                                      <p:to>
                                        <p:strVal val="visible"/>
                                      </p:to>
                                    </p:set>
                                    <p:animEffect transition="in" filter="dissolve">
                                      <p:cBhvr>
                                        <p:cTn id="15" dur="500"/>
                                        <p:tgtEl>
                                          <p:spTgt spid="2245676">
                                            <p:txEl>
                                              <p:charRg st="0" end="3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245678"/>
                                        </p:tgtEl>
                                        <p:attrNameLst>
                                          <p:attrName>style.visibility</p:attrName>
                                        </p:attrNameLst>
                                      </p:cBhvr>
                                      <p:to>
                                        <p:strVal val="visible"/>
                                      </p:to>
                                    </p:set>
                                    <p:animEffect transition="in" filter="wipe(left)">
                                      <p:cBhvr>
                                        <p:cTn id="20" dur="500"/>
                                        <p:tgtEl>
                                          <p:spTgt spid="224567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45680"/>
                                        </p:tgtEl>
                                        <p:attrNameLst>
                                          <p:attrName>style.visibility</p:attrName>
                                        </p:attrNameLst>
                                      </p:cBhvr>
                                      <p:to>
                                        <p:strVal val="visible"/>
                                      </p:to>
                                    </p:set>
                                    <p:animEffect transition="in" filter="dissolve">
                                      <p:cBhvr>
                                        <p:cTn id="25" dur="500"/>
                                        <p:tgtEl>
                                          <p:spTgt spid="224568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245681"/>
                                        </p:tgtEl>
                                        <p:attrNameLst>
                                          <p:attrName>style.visibility</p:attrName>
                                        </p:attrNameLst>
                                      </p:cBhvr>
                                      <p:to>
                                        <p:strVal val="visible"/>
                                      </p:to>
                                    </p:set>
                                    <p:animEffect transition="in" filter="dissolve">
                                      <p:cBhvr>
                                        <p:cTn id="30" dur="500"/>
                                        <p:tgtEl>
                                          <p:spTgt spid="224568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245682"/>
                                        </p:tgtEl>
                                        <p:attrNameLst>
                                          <p:attrName>style.visibility</p:attrName>
                                        </p:attrNameLst>
                                      </p:cBhvr>
                                      <p:to>
                                        <p:strVal val="visible"/>
                                      </p:to>
                                    </p:set>
                                    <p:animEffect transition="in" filter="wipe(left)">
                                      <p:cBhvr>
                                        <p:cTn id="35" dur="500"/>
                                        <p:tgtEl>
                                          <p:spTgt spid="22456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5676" grpId="0" build="p"/>
      <p:bldP spid="2245680" grpId="0" bldLvl="0" animBg="1"/>
      <p:bldP spid="2245681"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2" name="Rectangle 3"/>
          <p:cNvSpPr/>
          <p:nvPr/>
        </p:nvSpPr>
        <p:spPr>
          <a:xfrm>
            <a:off x="231775" y="827088"/>
            <a:ext cx="8661400" cy="1335087"/>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6</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分辨率</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Resolution</a:t>
            </a:r>
            <a:endParaRPr lang="en-US" altLang="zh-CN" dirty="0">
              <a:solidFill>
                <a:srgbClr val="FF3300"/>
              </a:solidFill>
              <a:latin typeface="黑体" panose="02010609060101010101" pitchFamily="49" charset="-122"/>
              <a:ea typeface="黑体" panose="02010609060101010101" pitchFamily="49" charset="-122"/>
            </a:endParaRPr>
          </a:p>
        </p:txBody>
      </p:sp>
      <p:sp>
        <p:nvSpPr>
          <p:cNvPr id="2247711" name="Text Box 11295"/>
          <p:cNvSpPr txBox="1"/>
          <p:nvPr/>
        </p:nvSpPr>
        <p:spPr>
          <a:xfrm>
            <a:off x="790575" y="5568950"/>
            <a:ext cx="7642225" cy="457200"/>
          </a:xfrm>
          <a:prstGeom prst="rect">
            <a:avLst/>
          </a:prstGeom>
          <a:noFill/>
          <a:ln w="9525">
            <a:noFill/>
          </a:ln>
        </p:spPr>
        <p:txBody>
          <a:bodyPr wrap="none">
            <a:spAutoFit/>
          </a:bodyPr>
          <a:p>
            <a:pPr eaLnBrk="1" hangingPunct="1"/>
            <a:r>
              <a:rPr lang="en-US" altLang="zh-CN" sz="2400" dirty="0">
                <a:latin typeface="Times New Roman" panose="02020603050405020304" pitchFamily="18" charset="0"/>
                <a:ea typeface="宋体" panose="02010600030101010101" pitchFamily="2" charset="-122"/>
              </a:rPr>
              <a:t>A/D</a:t>
            </a:r>
            <a:r>
              <a:rPr lang="zh-CN" altLang="en-US" sz="2400" dirty="0">
                <a:latin typeface="Times New Roman" panose="02020603050405020304" pitchFamily="18" charset="0"/>
              </a:rPr>
              <a:t>转换器分辨率与位数之间的关系</a:t>
            </a:r>
            <a:r>
              <a:rPr lang="en-US" altLang="zh-CN" sz="2400" dirty="0">
                <a:latin typeface="Times New Roman" panose="02020603050405020304" pitchFamily="18" charset="0"/>
                <a:ea typeface="宋体" panose="02010600030101010101" pitchFamily="2" charset="-122"/>
              </a:rPr>
              <a:t>(</a:t>
            </a:r>
            <a:r>
              <a:rPr lang="zh-CN" altLang="en-US" sz="2400" dirty="0">
                <a:latin typeface="Times New Roman" panose="02020603050405020304" pitchFamily="18" charset="0"/>
              </a:rPr>
              <a:t>满量程电压为</a:t>
            </a:r>
            <a:r>
              <a:rPr lang="en-US" altLang="zh-CN" sz="2400" dirty="0">
                <a:latin typeface="Times New Roman" panose="02020603050405020304" pitchFamily="18" charset="0"/>
                <a:ea typeface="宋体" panose="02010600030101010101" pitchFamily="2" charset="-122"/>
              </a:rPr>
              <a:t>10V) </a:t>
            </a:r>
            <a:endParaRPr lang="en-US" altLang="zh-CN" sz="2400" dirty="0">
              <a:latin typeface="Times New Roman" panose="02020603050405020304" pitchFamily="18" charset="0"/>
              <a:ea typeface="宋体" panose="02010600030101010101" pitchFamily="2" charset="-122"/>
            </a:endParaRPr>
          </a:p>
        </p:txBody>
      </p:sp>
      <p:sp>
        <p:nvSpPr>
          <p:cNvPr id="2247740" name="Text Box 11324"/>
          <p:cNvSpPr txBox="1"/>
          <p:nvPr/>
        </p:nvSpPr>
        <p:spPr>
          <a:xfrm>
            <a:off x="1335088" y="1470025"/>
            <a:ext cx="6575425" cy="822325"/>
          </a:xfrm>
          <a:prstGeom prst="rect">
            <a:avLst/>
          </a:prstGeom>
          <a:solidFill>
            <a:srgbClr val="FFFF99"/>
          </a:solidFill>
          <a:ln w="9525">
            <a:noFill/>
          </a:ln>
        </p:spPr>
        <p:txBody>
          <a:bodyPr>
            <a:spAutoFit/>
          </a:bodyPr>
          <a:p>
            <a:pPr eaLnBrk="1" hangingPunct="1"/>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分辨率的高低取决于位数的多少。因此，习惯上用转换结果的位数</a:t>
            </a:r>
            <a:r>
              <a:rPr lang="en-US" altLang="zh-CN" sz="2400" i="1" dirty="0">
                <a:solidFill>
                  <a:srgbClr val="FF0000"/>
                </a:solidFill>
                <a:latin typeface="Times New Roman" panose="02020603050405020304" pitchFamily="18" charset="0"/>
                <a:ea typeface="黑体" panose="02010609060101010101" pitchFamily="49" charset="-122"/>
              </a:rPr>
              <a:t>n</a:t>
            </a:r>
            <a:r>
              <a:rPr lang="zh-CN" altLang="en-US" sz="2400" dirty="0">
                <a:solidFill>
                  <a:schemeClr val="tx1"/>
                </a:solidFill>
                <a:latin typeface="黑体" panose="02010609060101010101" pitchFamily="49" charset="-122"/>
                <a:ea typeface="黑体" panose="02010609060101010101" pitchFamily="49" charset="-122"/>
              </a:rPr>
              <a:t>来间接表示分辨率。</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2247792" name="Group 11376"/>
          <p:cNvGraphicFramePr>
            <a:graphicFrameLocks noGrp="1"/>
          </p:cNvGraphicFramePr>
          <p:nvPr/>
        </p:nvGraphicFramePr>
        <p:xfrm>
          <a:off x="539750" y="2492375"/>
          <a:ext cx="8099425" cy="2973388"/>
        </p:xfrm>
        <a:graphic>
          <a:graphicData uri="http://schemas.openxmlformats.org/drawingml/2006/table">
            <a:tbl>
              <a:tblPr/>
              <a:tblGrid>
                <a:gridCol w="1260475"/>
                <a:gridCol w="1906588"/>
                <a:gridCol w="2557462"/>
                <a:gridCol w="2374900"/>
              </a:tblGrid>
              <a:tr h="690563">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位 数</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级 数</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相对分辨率（</a:t>
                      </a:r>
                      <a:r>
                        <a:rPr kumimoji="1"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r>
                        <a:rPr kumimoji="1" lang="en-US" altLang="zh-CN" sz="1800" b="1" i="1" u="none" strike="noStrike" cap="none" normalizeH="0" baseline="0">
                          <a:ln>
                            <a:noFill/>
                          </a:ln>
                          <a:solidFill>
                            <a:schemeClr val="tx1"/>
                          </a:solidFill>
                          <a:effectLst/>
                          <a:latin typeface="Arial" panose="020B0604020202020204" pitchFamily="34" charset="0"/>
                          <a:ea typeface="宋体" panose="02010600030101010101" pitchFamily="2" charset="-122"/>
                        </a:rPr>
                        <a:t>LSB</a:t>
                      </a: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0"/>
                        </a:spcBef>
                        <a:spcAft>
                          <a:spcPct val="0"/>
                        </a:spcAft>
                        <a:buClrTx/>
                        <a:buSzTx/>
                        <a:buFontTx/>
                        <a:buNone/>
                      </a:pP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分辨率（</a:t>
                      </a:r>
                      <a:r>
                        <a:rPr kumimoji="1"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1</a:t>
                      </a:r>
                      <a:r>
                        <a:rPr kumimoji="1" lang="en-US" altLang="zh-CN" sz="1800" b="1" i="1" u="none" strike="noStrike" cap="none" normalizeH="0" baseline="0">
                          <a:ln>
                            <a:noFill/>
                          </a:ln>
                          <a:solidFill>
                            <a:schemeClr val="tx1"/>
                          </a:solidFill>
                          <a:effectLst/>
                          <a:latin typeface="Arial" panose="020B0604020202020204" pitchFamily="34" charset="0"/>
                          <a:ea typeface="宋体" panose="02010600030101010101" pitchFamily="2" charset="-122"/>
                        </a:rPr>
                        <a:t>LSB</a:t>
                      </a:r>
                      <a:r>
                        <a:rPr kumimoji="1"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282825">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12</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256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1024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4096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16384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65536</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0.391%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0.0977%</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0.0244%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0.0061%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0.0015% </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39.1mV</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9.77mV</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2.44mV</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0.61mV</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0.15mV</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7740"/>
                                        </p:tgtEl>
                                        <p:attrNameLst>
                                          <p:attrName>style.visibility</p:attrName>
                                        </p:attrNameLst>
                                      </p:cBhvr>
                                      <p:to>
                                        <p:strVal val="visible"/>
                                      </p:to>
                                    </p:set>
                                    <p:animEffect transition="in" filter="dissolve">
                                      <p:cBhvr>
                                        <p:cTn id="7" dur="500"/>
                                        <p:tgtEl>
                                          <p:spTgt spid="22477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7792"/>
                                        </p:tgtEl>
                                        <p:attrNameLst>
                                          <p:attrName>style.visibility</p:attrName>
                                        </p:attrNameLst>
                                      </p:cBhvr>
                                      <p:to>
                                        <p:strVal val="visible"/>
                                      </p:to>
                                    </p:set>
                                    <p:animEffect transition="in" filter="dissolve">
                                      <p:cBhvr>
                                        <p:cTn id="12" dur="500"/>
                                        <p:tgtEl>
                                          <p:spTgt spid="224779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47711"/>
                                        </p:tgtEl>
                                        <p:attrNameLst>
                                          <p:attrName>style.visibility</p:attrName>
                                        </p:attrNameLst>
                                      </p:cBhvr>
                                      <p:to>
                                        <p:strVal val="visible"/>
                                      </p:to>
                                    </p:set>
                                    <p:animEffect transition="in" filter="dissolve">
                                      <p:cBhvr>
                                        <p:cTn id="15" dur="500"/>
                                        <p:tgtEl>
                                          <p:spTgt spid="22477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7711" grpId="0"/>
      <p:bldP spid="2247740" grpId="0" bldLvl="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8787"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7</a:t>
            </a:r>
            <a:r>
              <a:rPr lang="zh-CN" altLang="en-US" dirty="0">
                <a:solidFill>
                  <a:srgbClr val="FF3300"/>
                </a:solidFill>
                <a:latin typeface="黑体" panose="02010609060101010101" pitchFamily="49" charset="-122"/>
                <a:ea typeface="黑体" panose="02010609060101010101" pitchFamily="49" charset="-122"/>
              </a:rPr>
              <a:t>、单极性、双极性方式 </a:t>
            </a:r>
            <a:r>
              <a:rPr lang="zh-CN" altLang="zh-CN" dirty="0">
                <a:solidFill>
                  <a:srgbClr val="FF3300"/>
                </a:solidFill>
                <a:latin typeface="黑体" panose="02010609060101010101" pitchFamily="49" charset="-122"/>
                <a:ea typeface="黑体" panose="02010609060101010101" pitchFamily="49" charset="-122"/>
              </a:rPr>
              <a:t>Unipolar</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Bipolar Mode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单极性：</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的模拟输入电压只允许正电压或负电压，转换结果为无符号的二进制数。</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eaLnBrk="1" hangingPunct="1">
              <a:spcBef>
                <a:spcPct val="50000"/>
              </a:spcBef>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双极性：</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的模拟输入电压既可为正电压，也可为负电压，转换结果常为二进制偏移码。</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eaLnBrk="1" hangingPunct="1">
              <a:spcBef>
                <a:spcPct val="50000"/>
              </a:spcBef>
            </a:pPr>
            <a:r>
              <a:rPr lang="en-US" altLang="zh-CN" dirty="0">
                <a:solidFill>
                  <a:srgbClr val="FF3300"/>
                </a:solidFill>
                <a:latin typeface="黑体" panose="02010609060101010101" pitchFamily="49" charset="-122"/>
                <a:ea typeface="黑体" panose="02010609060101010101" pitchFamily="49" charset="-122"/>
              </a:rPr>
              <a:t>8</a:t>
            </a:r>
            <a:r>
              <a:rPr lang="zh-CN" altLang="en-US" dirty="0">
                <a:solidFill>
                  <a:srgbClr val="FF3300"/>
                </a:solidFill>
                <a:latin typeface="黑体" panose="02010609060101010101" pitchFamily="49" charset="-122"/>
                <a:ea typeface="黑体" panose="02010609060101010101" pitchFamily="49" charset="-122"/>
              </a:rPr>
              <a:t>、满度范围（量程） </a:t>
            </a:r>
            <a:r>
              <a:rPr lang="zh-CN" altLang="zh-CN" dirty="0">
                <a:solidFill>
                  <a:srgbClr val="FF3300"/>
                </a:solidFill>
                <a:latin typeface="黑体" panose="02010609060101010101" pitchFamily="49" charset="-122"/>
                <a:ea typeface="黑体" panose="02010609060101010101" pitchFamily="49" charset="-122"/>
              </a:rPr>
              <a:t>Full-scale Range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指模拟输入量的最大允许值与最小允许值之差（也即</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所能转换模拟信号的电压范围）。对于双极性</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，正向最大允许值称为正满度值，对应二进制全</a:t>
            </a:r>
            <a:r>
              <a:rPr lang="en-US" altLang="zh-CN" dirty="0">
                <a:solidFill>
                  <a:srgbClr val="000066"/>
                </a:solidFill>
                <a:latin typeface="黑体" panose="02010609060101010101" pitchFamily="49" charset="-122"/>
                <a:ea typeface="黑体" panose="02010609060101010101" pitchFamily="49" charset="-122"/>
              </a:rPr>
              <a:t>1</a:t>
            </a:r>
            <a:r>
              <a:rPr lang="zh-CN" altLang="en-US" dirty="0">
                <a:solidFill>
                  <a:srgbClr val="000066"/>
                </a:solidFill>
                <a:latin typeface="黑体" panose="02010609060101010101" pitchFamily="49" charset="-122"/>
                <a:ea typeface="黑体" panose="02010609060101010101" pitchFamily="49" charset="-122"/>
              </a:rPr>
              <a:t>，负向最大允许值称为负满度值，对应二进制全</a:t>
            </a:r>
            <a:r>
              <a:rPr lang="en-US" altLang="zh-CN" dirty="0">
                <a:solidFill>
                  <a:srgbClr val="000066"/>
                </a:solidFill>
                <a:latin typeface="黑体" panose="02010609060101010101" pitchFamily="49" charset="-122"/>
                <a:ea typeface="黑体" panose="02010609060101010101" pitchFamily="49" charset="-122"/>
              </a:rPr>
              <a:t>0</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8787">
                                            <p:txEl>
                                              <p:charRg st="0" end="34"/>
                                            </p:txEl>
                                          </p:spTgt>
                                        </p:tgtEl>
                                        <p:attrNameLst>
                                          <p:attrName>style.visibility</p:attrName>
                                        </p:attrNameLst>
                                      </p:cBhvr>
                                      <p:to>
                                        <p:strVal val="visible"/>
                                      </p:to>
                                    </p:set>
                                    <p:animEffect transition="in" filter="dissolve">
                                      <p:cBhvr>
                                        <p:cTn id="7" dur="500"/>
                                        <p:tgtEl>
                                          <p:spTgt spid="118787">
                                            <p:txEl>
                                              <p:charRg st="0" end="3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8787">
                                            <p:txEl>
                                              <p:charRg st="34" end="75"/>
                                            </p:txEl>
                                          </p:spTgt>
                                        </p:tgtEl>
                                        <p:attrNameLst>
                                          <p:attrName>style.visibility</p:attrName>
                                        </p:attrNameLst>
                                      </p:cBhvr>
                                      <p:to>
                                        <p:strVal val="visible"/>
                                      </p:to>
                                    </p:set>
                                    <p:animEffect transition="in" filter="dissolve">
                                      <p:cBhvr>
                                        <p:cTn id="10" dur="500"/>
                                        <p:tgtEl>
                                          <p:spTgt spid="118787">
                                            <p:txEl>
                                              <p:charRg st="34" end="7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8787">
                                            <p:txEl>
                                              <p:charRg st="75" end="118"/>
                                            </p:txEl>
                                          </p:spTgt>
                                        </p:tgtEl>
                                        <p:attrNameLst>
                                          <p:attrName>style.visibility</p:attrName>
                                        </p:attrNameLst>
                                      </p:cBhvr>
                                      <p:to>
                                        <p:strVal val="visible"/>
                                      </p:to>
                                    </p:set>
                                    <p:animEffect transition="in" filter="dissolve">
                                      <p:cBhvr>
                                        <p:cTn id="13" dur="500"/>
                                        <p:tgtEl>
                                          <p:spTgt spid="118787">
                                            <p:txEl>
                                              <p:charRg st="75" end="11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8787">
                                            <p:txEl>
                                              <p:charRg st="118" end="146"/>
                                            </p:txEl>
                                          </p:spTgt>
                                        </p:tgtEl>
                                        <p:attrNameLst>
                                          <p:attrName>style.visibility</p:attrName>
                                        </p:attrNameLst>
                                      </p:cBhvr>
                                      <p:to>
                                        <p:strVal val="visible"/>
                                      </p:to>
                                    </p:set>
                                    <p:animEffect transition="in" filter="dissolve">
                                      <p:cBhvr>
                                        <p:cTn id="18" dur="500"/>
                                        <p:tgtEl>
                                          <p:spTgt spid="118787">
                                            <p:txEl>
                                              <p:charRg st="118" end="146"/>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8787">
                                            <p:txEl>
                                              <p:charRg st="146" end="242"/>
                                            </p:txEl>
                                          </p:spTgt>
                                        </p:tgtEl>
                                        <p:attrNameLst>
                                          <p:attrName>style.visibility</p:attrName>
                                        </p:attrNameLst>
                                      </p:cBhvr>
                                      <p:to>
                                        <p:strVal val="visible"/>
                                      </p:to>
                                    </p:set>
                                    <p:animEffect transition="in" filter="dissolve">
                                      <p:cBhvr>
                                        <p:cTn id="21" dur="500"/>
                                        <p:tgtEl>
                                          <p:spTgt spid="118787">
                                            <p:txEl>
                                              <p:charRg st="146" end="24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0835"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9</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超量程</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Overrange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指模拟输入量超过满度范围。对于双极性</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，当模拟输入量超过正满度值时，称为正满度超量程，输出二进制全</a:t>
            </a:r>
            <a:r>
              <a:rPr lang="en-US" altLang="zh-CN" dirty="0">
                <a:solidFill>
                  <a:srgbClr val="000066"/>
                </a:solidFill>
                <a:latin typeface="黑体" panose="02010609060101010101" pitchFamily="49" charset="-122"/>
                <a:ea typeface="黑体" panose="02010609060101010101" pitchFamily="49" charset="-122"/>
              </a:rPr>
              <a:t>1</a:t>
            </a:r>
            <a:r>
              <a:rPr lang="zh-CN" altLang="en-US" dirty="0">
                <a:solidFill>
                  <a:srgbClr val="000066"/>
                </a:solidFill>
                <a:latin typeface="黑体" panose="02010609060101010101" pitchFamily="49" charset="-122"/>
                <a:ea typeface="黑体" panose="02010609060101010101" pitchFamily="49" charset="-122"/>
              </a:rPr>
              <a:t>，当模拟输入量超过负满度值时，称为负满度超量程，输出二进制全</a:t>
            </a:r>
            <a:r>
              <a:rPr lang="en-US" altLang="zh-CN" dirty="0">
                <a:solidFill>
                  <a:srgbClr val="000066"/>
                </a:solidFill>
                <a:latin typeface="黑体" panose="02010609060101010101" pitchFamily="49" charset="-122"/>
                <a:ea typeface="黑体" panose="02010609060101010101" pitchFamily="49" charset="-122"/>
              </a:rPr>
              <a:t>0</a:t>
            </a:r>
            <a:r>
              <a:rPr lang="zh-CN" altLang="en-US" dirty="0">
                <a:solidFill>
                  <a:srgbClr val="000066"/>
                </a:solidFill>
                <a:latin typeface="黑体" panose="02010609060101010101" pitchFamily="49" charset="-122"/>
                <a:ea typeface="黑体" panose="02010609060101010101" pitchFamily="49" charset="-122"/>
              </a:rPr>
              <a:t>。均产生超量程误差。</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10</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量化误差</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Quantizing Error</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模拟输入量在量化取整过程中所引起的误差，又称量化不确定度。量化误差是</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固有的，其大小与分辨率直接相关，通常为</a:t>
            </a:r>
            <a:r>
              <a:rPr lang="en-US" altLang="zh-CN" dirty="0">
                <a:solidFill>
                  <a:srgbClr val="000066"/>
                </a:solidFill>
                <a:latin typeface="黑体" panose="02010609060101010101" pitchFamily="49" charset="-122"/>
                <a:ea typeface="黑体" panose="02010609060101010101" pitchFamily="49" charset="-122"/>
              </a:rPr>
              <a:t>±1/2LSB</a:t>
            </a:r>
            <a:r>
              <a:rPr lang="zh-CN" altLang="en-US" dirty="0">
                <a:solidFill>
                  <a:srgbClr val="000066"/>
                </a:solidFill>
                <a:latin typeface="黑体" panose="02010609060101010101" pitchFamily="49" charset="-122"/>
                <a:ea typeface="黑体" panose="02010609060101010101" pitchFamily="49" charset="-122"/>
              </a:rPr>
              <a:t>或</a:t>
            </a:r>
            <a:r>
              <a:rPr lang="en-US" altLang="zh-CN" dirty="0">
                <a:solidFill>
                  <a:srgbClr val="000066"/>
                </a:solidFill>
                <a:latin typeface="黑体" panose="02010609060101010101" pitchFamily="49" charset="-122"/>
                <a:ea typeface="黑体" panose="02010609060101010101" pitchFamily="49" charset="-122"/>
              </a:rPr>
              <a:t>±1LSB</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0835">
                                            <p:txEl>
                                              <p:charRg st="0" end="16"/>
                                            </p:txEl>
                                          </p:spTgt>
                                        </p:tgtEl>
                                        <p:attrNameLst>
                                          <p:attrName>style.visibility</p:attrName>
                                        </p:attrNameLst>
                                      </p:cBhvr>
                                      <p:to>
                                        <p:strVal val="visible"/>
                                      </p:to>
                                    </p:set>
                                    <p:animEffect transition="in" filter="dissolve">
                                      <p:cBhvr>
                                        <p:cTn id="7" dur="500"/>
                                        <p:tgtEl>
                                          <p:spTgt spid="120835">
                                            <p:txEl>
                                              <p:charRg st="0" end="1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0835">
                                            <p:txEl>
                                              <p:charRg st="16" end="111"/>
                                            </p:txEl>
                                          </p:spTgt>
                                        </p:tgtEl>
                                        <p:attrNameLst>
                                          <p:attrName>style.visibility</p:attrName>
                                        </p:attrNameLst>
                                      </p:cBhvr>
                                      <p:to>
                                        <p:strVal val="visible"/>
                                      </p:to>
                                    </p:set>
                                    <p:animEffect transition="in" filter="dissolve">
                                      <p:cBhvr>
                                        <p:cTn id="10" dur="500"/>
                                        <p:tgtEl>
                                          <p:spTgt spid="120835">
                                            <p:txEl>
                                              <p:charRg st="16" end="11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0835">
                                            <p:txEl>
                                              <p:charRg st="111" end="136"/>
                                            </p:txEl>
                                          </p:spTgt>
                                        </p:tgtEl>
                                        <p:attrNameLst>
                                          <p:attrName>style.visibility</p:attrName>
                                        </p:attrNameLst>
                                      </p:cBhvr>
                                      <p:to>
                                        <p:strVal val="visible"/>
                                      </p:to>
                                    </p:set>
                                    <p:animEffect transition="in" filter="dissolve">
                                      <p:cBhvr>
                                        <p:cTn id="15" dur="500"/>
                                        <p:tgtEl>
                                          <p:spTgt spid="120835">
                                            <p:txEl>
                                              <p:charRg st="111" end="13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0835">
                                            <p:txEl>
                                              <p:charRg st="136" end="208"/>
                                            </p:txEl>
                                          </p:spTgt>
                                        </p:tgtEl>
                                        <p:attrNameLst>
                                          <p:attrName>style.visibility</p:attrName>
                                        </p:attrNameLst>
                                      </p:cBhvr>
                                      <p:to>
                                        <p:strVal val="visible"/>
                                      </p:to>
                                    </p:set>
                                    <p:animEffect transition="in" filter="dissolve">
                                      <p:cBhvr>
                                        <p:cTn id="18" dur="500"/>
                                        <p:tgtEl>
                                          <p:spTgt spid="120835">
                                            <p:txEl>
                                              <p:charRg st="136" end="20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2883"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11</a:t>
            </a:r>
            <a:r>
              <a:rPr lang="zh-CN" altLang="en-US" dirty="0">
                <a:solidFill>
                  <a:srgbClr val="FF3300"/>
                </a:solidFill>
                <a:latin typeface="黑体" panose="02010609060101010101" pitchFamily="49" charset="-122"/>
                <a:ea typeface="黑体" panose="02010609060101010101" pitchFamily="49" charset="-122"/>
              </a:rPr>
              <a:t>、量化噪声 </a:t>
            </a:r>
            <a:r>
              <a:rPr lang="zh-CN" altLang="zh-CN" dirty="0">
                <a:solidFill>
                  <a:srgbClr val="FF3300"/>
                </a:solidFill>
                <a:latin typeface="黑体" panose="02010609060101010101" pitchFamily="49" charset="-122"/>
                <a:ea typeface="黑体" panose="02010609060101010101" pitchFamily="49" charset="-122"/>
              </a:rPr>
              <a:t>Quantization Noise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a:t>
            </a:r>
            <a:r>
              <a:rPr lang="zh-CN" altLang="en-US" dirty="0">
                <a:solidFill>
                  <a:srgbClr val="000066"/>
                </a:solidFill>
                <a:latin typeface="黑体" panose="02010609060101010101" pitchFamily="49" charset="-122"/>
                <a:ea typeface="黑体" panose="02010609060101010101" pitchFamily="49" charset="-122"/>
              </a:rPr>
              <a:t>输入线性增长的模拟电压，输出数字量是一个逐步增长的阶梯，若用理想</a:t>
            </a:r>
            <a:r>
              <a:rPr lang="en-US" altLang="zh-CN" dirty="0">
                <a:solidFill>
                  <a:srgbClr val="000066"/>
                </a:solidFill>
                <a:latin typeface="黑体" panose="02010609060101010101" pitchFamily="49" charset="-122"/>
                <a:ea typeface="黑体" panose="02010609060101010101" pitchFamily="49" charset="-122"/>
              </a:rPr>
              <a:t>DAC</a:t>
            </a:r>
            <a:r>
              <a:rPr lang="zh-CN" altLang="en-US" dirty="0">
                <a:solidFill>
                  <a:srgbClr val="000066"/>
                </a:solidFill>
                <a:latin typeface="黑体" panose="02010609060101010101" pitchFamily="49" charset="-122"/>
                <a:ea typeface="黑体" panose="02010609060101010101" pitchFamily="49" charset="-122"/>
              </a:rPr>
              <a:t>将输出数字量恢复成模拟电压，它与输入电压之间存在误差电压的有效值。</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12</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变迁</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Transition</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当模拟输入量连续变化时，数字输出量从一个值跳变到相邻的数值</a:t>
            </a:r>
            <a:r>
              <a:rPr lang="zh-CN" altLang="en-US" dirty="0">
                <a:solidFill>
                  <a:srgbClr val="000066"/>
                </a:solidFill>
                <a:latin typeface="Arial" panose="020B0604020202020204" pitchFamily="34" charset="0"/>
                <a:ea typeface="宋体" panose="02010600030101010101" pitchFamily="2" charset="-122"/>
              </a:rPr>
              <a:t>。</a:t>
            </a:r>
            <a:endParaRPr lang="zh-CN" altLang="en-US" dirty="0">
              <a:solidFill>
                <a:srgbClr val="000066"/>
              </a:solidFill>
              <a:latin typeface="Arial" panose="020B0604020202020204" pitchFamily="34" charset="0"/>
              <a:ea typeface="宋体" panose="02010600030101010101" pitchFamily="2"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代码宽度</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Code Width</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在模数转换曲线的相邻两个变迁点之间对应的模拟输入量的差值，理想的代码宽度为</a:t>
            </a:r>
            <a:r>
              <a:rPr lang="en-US" altLang="zh-CN" dirty="0">
                <a:solidFill>
                  <a:srgbClr val="000066"/>
                </a:solidFill>
                <a:latin typeface="黑体" panose="02010609060101010101" pitchFamily="49" charset="-122"/>
                <a:ea typeface="黑体" panose="02010609060101010101" pitchFamily="49" charset="-122"/>
              </a:rPr>
              <a:t>1LSB</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2883">
                                            <p:txEl>
                                              <p:charRg st="0" end="27"/>
                                            </p:txEl>
                                          </p:spTgt>
                                        </p:tgtEl>
                                        <p:attrNameLst>
                                          <p:attrName>style.visibility</p:attrName>
                                        </p:attrNameLst>
                                      </p:cBhvr>
                                      <p:to>
                                        <p:strVal val="visible"/>
                                      </p:to>
                                    </p:set>
                                    <p:animEffect transition="in" filter="dissolve">
                                      <p:cBhvr>
                                        <p:cTn id="7" dur="500"/>
                                        <p:tgtEl>
                                          <p:spTgt spid="122883">
                                            <p:txEl>
                                              <p:charRg st="0" end="2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2883">
                                            <p:txEl>
                                              <p:charRg st="27" end="100"/>
                                            </p:txEl>
                                          </p:spTgt>
                                        </p:tgtEl>
                                        <p:attrNameLst>
                                          <p:attrName>style.visibility</p:attrName>
                                        </p:attrNameLst>
                                      </p:cBhvr>
                                      <p:to>
                                        <p:strVal val="visible"/>
                                      </p:to>
                                    </p:set>
                                    <p:animEffect transition="in" filter="dissolve">
                                      <p:cBhvr>
                                        <p:cTn id="10" dur="500"/>
                                        <p:tgtEl>
                                          <p:spTgt spid="122883">
                                            <p:txEl>
                                              <p:charRg st="27" end="10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2883">
                                            <p:txEl>
                                              <p:charRg st="100" end="117"/>
                                            </p:txEl>
                                          </p:spTgt>
                                        </p:tgtEl>
                                        <p:attrNameLst>
                                          <p:attrName>style.visibility</p:attrName>
                                        </p:attrNameLst>
                                      </p:cBhvr>
                                      <p:to>
                                        <p:strVal val="visible"/>
                                      </p:to>
                                    </p:set>
                                    <p:animEffect transition="in" filter="dissolve">
                                      <p:cBhvr>
                                        <p:cTn id="15" dur="500"/>
                                        <p:tgtEl>
                                          <p:spTgt spid="122883">
                                            <p:txEl>
                                              <p:charRg st="100" end="117"/>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2883">
                                            <p:txEl>
                                              <p:charRg st="117" end="149"/>
                                            </p:txEl>
                                          </p:spTgt>
                                        </p:tgtEl>
                                        <p:attrNameLst>
                                          <p:attrName>style.visibility</p:attrName>
                                        </p:attrNameLst>
                                      </p:cBhvr>
                                      <p:to>
                                        <p:strVal val="visible"/>
                                      </p:to>
                                    </p:set>
                                    <p:animEffect transition="in" filter="dissolve">
                                      <p:cBhvr>
                                        <p:cTn id="18" dur="500"/>
                                        <p:tgtEl>
                                          <p:spTgt spid="122883">
                                            <p:txEl>
                                              <p:charRg st="117" end="149"/>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22883">
                                            <p:txEl>
                                              <p:charRg st="168" end="212"/>
                                            </p:txEl>
                                          </p:spTgt>
                                        </p:tgtEl>
                                        <p:attrNameLst>
                                          <p:attrName>style.visibility</p:attrName>
                                        </p:attrNameLst>
                                      </p:cBhvr>
                                      <p:to>
                                        <p:strVal val="visible"/>
                                      </p:to>
                                    </p:set>
                                    <p:animEffect transition="in" filter="dissolve">
                                      <p:cBhvr>
                                        <p:cTn id="23" dur="500"/>
                                        <p:tgtEl>
                                          <p:spTgt spid="122883">
                                            <p:txEl>
                                              <p:charRg st="168" end="212"/>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22883">
                                            <p:txEl>
                                              <p:charRg st="149" end="168"/>
                                            </p:txEl>
                                          </p:spTgt>
                                        </p:tgtEl>
                                        <p:attrNameLst>
                                          <p:attrName>style.visibility</p:attrName>
                                        </p:attrNameLst>
                                      </p:cBhvr>
                                      <p:to>
                                        <p:strVal val="visible"/>
                                      </p:to>
                                    </p:set>
                                    <p:animEffect transition="in" filter="dissolve">
                                      <p:cBhvr>
                                        <p:cTn id="26" dur="500"/>
                                        <p:tgtEl>
                                          <p:spTgt spid="122883">
                                            <p:txEl>
                                              <p:charRg st="149" end="16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4931" name="Rectangle 3"/>
          <p:cNvSpPr/>
          <p:nvPr/>
        </p:nvSpPr>
        <p:spPr>
          <a:xfrm>
            <a:off x="231775" y="827088"/>
            <a:ext cx="4052888" cy="3306762"/>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14</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零位（</a:t>
            </a:r>
            <a:r>
              <a:rPr lang="zh-CN" altLang="en-US" dirty="0">
                <a:solidFill>
                  <a:srgbClr val="FF3300"/>
                </a:solidFill>
                <a:latin typeface="黑体" panose="02010609060101010101" pitchFamily="49" charset="-122"/>
                <a:ea typeface="黑体" panose="02010609060101010101" pitchFamily="49" charset="-122"/>
              </a:rPr>
              <a:t>偏移</a:t>
            </a:r>
            <a:r>
              <a:rPr lang="zh-CN" altLang="zh-CN" dirty="0">
                <a:solidFill>
                  <a:srgbClr val="FF3300"/>
                </a:solidFill>
                <a:latin typeface="黑体" panose="02010609060101010101" pitchFamily="49" charset="-122"/>
                <a:ea typeface="黑体" panose="02010609060101010101" pitchFamily="49" charset="-122"/>
              </a:rPr>
              <a:t>）误差</a:t>
            </a:r>
            <a:r>
              <a:rPr lang="zh-CN" altLang="en-US" dirty="0">
                <a:solidFill>
                  <a:srgbClr val="FF3300"/>
                </a:solidFill>
                <a:latin typeface="黑体" panose="02010609060101010101" pitchFamily="49" charset="-122"/>
                <a:ea typeface="黑体" panose="02010609060101010101" pitchFamily="49" charset="-122"/>
              </a:rPr>
              <a:t> </a:t>
            </a:r>
            <a:r>
              <a:rPr lang="en-US" altLang="zh-CN" dirty="0">
                <a:solidFill>
                  <a:srgbClr val="FF3300"/>
                </a:solidFill>
                <a:latin typeface="黑体" panose="02010609060101010101" pitchFamily="49" charset="-122"/>
                <a:ea typeface="黑体" panose="02010609060101010101" pitchFamily="49" charset="-122"/>
              </a:rPr>
              <a:t>Zero Error(Offset)</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zh-CN" altLang="en-US" sz="2400" dirty="0">
                <a:solidFill>
                  <a:srgbClr val="000066"/>
                </a:solidFill>
                <a:latin typeface="黑体" panose="02010609060101010101" pitchFamily="49" charset="-122"/>
                <a:ea typeface="黑体" panose="02010609060101010101" pitchFamily="49" charset="-122"/>
              </a:rPr>
              <a:t>  实际模数转换曲线中数字</a:t>
            </a:r>
            <a:r>
              <a:rPr lang="en-US" altLang="zh-CN" sz="2400" dirty="0">
                <a:solidFill>
                  <a:srgbClr val="000066"/>
                </a:solidFill>
                <a:latin typeface="黑体" panose="02010609060101010101" pitchFamily="49" charset="-122"/>
                <a:ea typeface="黑体" panose="02010609060101010101" pitchFamily="49" charset="-122"/>
              </a:rPr>
              <a:t>0</a:t>
            </a:r>
            <a:r>
              <a:rPr lang="zh-CN" altLang="en-US" sz="2400" dirty="0">
                <a:solidFill>
                  <a:srgbClr val="000066"/>
                </a:solidFill>
                <a:latin typeface="黑体" panose="02010609060101010101" pitchFamily="49" charset="-122"/>
                <a:ea typeface="黑体" panose="02010609060101010101" pitchFamily="49" charset="-122"/>
              </a:rPr>
              <a:t>的代码中点与理想曲线中数字</a:t>
            </a:r>
            <a:r>
              <a:rPr lang="en-US" altLang="zh-CN" sz="2400" dirty="0">
                <a:solidFill>
                  <a:srgbClr val="000066"/>
                </a:solidFill>
                <a:latin typeface="黑体" panose="02010609060101010101" pitchFamily="49" charset="-122"/>
                <a:ea typeface="黑体" panose="02010609060101010101" pitchFamily="49" charset="-122"/>
              </a:rPr>
              <a:t>0</a:t>
            </a:r>
            <a:r>
              <a:rPr lang="zh-CN" altLang="en-US" sz="2400" dirty="0">
                <a:solidFill>
                  <a:srgbClr val="000066"/>
                </a:solidFill>
                <a:latin typeface="黑体" panose="02010609060101010101" pitchFamily="49" charset="-122"/>
                <a:ea typeface="黑体" panose="02010609060101010101" pitchFamily="49" charset="-122"/>
              </a:rPr>
              <a:t>的代码中点的最大偏差（使最低有效位为“</a:t>
            </a:r>
            <a:r>
              <a:rPr lang="en-US" altLang="zh-CN" sz="2400" dirty="0">
                <a:solidFill>
                  <a:srgbClr val="000066"/>
                </a:solidFill>
                <a:latin typeface="黑体" panose="02010609060101010101" pitchFamily="49" charset="-122"/>
                <a:ea typeface="黑体" panose="02010609060101010101" pitchFamily="49" charset="-122"/>
              </a:rPr>
              <a:t>1”</a:t>
            </a:r>
            <a:r>
              <a:rPr lang="zh-CN" altLang="en-US" sz="2400" dirty="0">
                <a:solidFill>
                  <a:srgbClr val="000066"/>
                </a:solidFill>
                <a:latin typeface="黑体" panose="02010609060101010101" pitchFamily="49" charset="-122"/>
                <a:ea typeface="黑体" panose="02010609060101010101" pitchFamily="49" charset="-122"/>
              </a:rPr>
              <a:t> 时，实际输入电压与理论输入电压之差）。</a:t>
            </a:r>
            <a:endParaRPr lang="en-US" altLang="zh-CN" sz="2400" dirty="0">
              <a:solidFill>
                <a:srgbClr val="000066"/>
              </a:solidFill>
              <a:latin typeface="黑体" panose="02010609060101010101" pitchFamily="49" charset="-122"/>
              <a:ea typeface="黑体" panose="02010609060101010101" pitchFamily="49" charset="-122"/>
            </a:endParaRPr>
          </a:p>
        </p:txBody>
      </p:sp>
      <p:grpSp>
        <p:nvGrpSpPr>
          <p:cNvPr id="2" name="Group 92"/>
          <p:cNvGrpSpPr/>
          <p:nvPr/>
        </p:nvGrpSpPr>
        <p:grpSpPr>
          <a:xfrm>
            <a:off x="4284663" y="908050"/>
            <a:ext cx="4802187" cy="5173663"/>
            <a:chOff x="2699" y="572"/>
            <a:chExt cx="3025" cy="3259"/>
          </a:xfrm>
        </p:grpSpPr>
        <p:sp>
          <p:nvSpPr>
            <p:cNvPr id="18438" name="Rectangle 145"/>
            <p:cNvSpPr/>
            <p:nvPr/>
          </p:nvSpPr>
          <p:spPr>
            <a:xfrm>
              <a:off x="2731" y="572"/>
              <a:ext cx="2993" cy="3259"/>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grpSp>
          <p:nvGrpSpPr>
            <p:cNvPr id="18439" name="Group 151"/>
            <p:cNvGrpSpPr/>
            <p:nvPr/>
          </p:nvGrpSpPr>
          <p:grpSpPr>
            <a:xfrm>
              <a:off x="5166" y="2559"/>
              <a:ext cx="457" cy="238"/>
              <a:chOff x="5166" y="2559"/>
              <a:chExt cx="457" cy="238"/>
            </a:xfrm>
          </p:grpSpPr>
          <p:sp>
            <p:nvSpPr>
              <p:cNvPr id="18522" name="AutoShape 148"/>
              <p:cNvSpPr/>
              <p:nvPr/>
            </p:nvSpPr>
            <p:spPr>
              <a:xfrm>
                <a:off x="5166" y="2566"/>
                <a:ext cx="457" cy="231"/>
              </a:xfrm>
              <a:prstGeom prst="wedgeRoundRectCallout">
                <a:avLst>
                  <a:gd name="adj1" fmla="val -69477"/>
                  <a:gd name="adj2" fmla="val 9156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257982" name="Text Box 62"/>
              <p:cNvSpPr txBox="1">
                <a:spLocks noChangeArrowheads="1"/>
              </p:cNvSpPr>
              <p:nvPr/>
            </p:nvSpPr>
            <p:spPr bwMode="auto">
              <a:xfrm>
                <a:off x="5183" y="2559"/>
                <a:ext cx="440"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偏移</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nvGrpSpPr>
            <p:cNvPr id="18440" name="Group 150"/>
            <p:cNvGrpSpPr/>
            <p:nvPr/>
          </p:nvGrpSpPr>
          <p:grpSpPr>
            <a:xfrm>
              <a:off x="4912" y="1192"/>
              <a:ext cx="760" cy="232"/>
              <a:chOff x="4912" y="1192"/>
              <a:chExt cx="760" cy="232"/>
            </a:xfrm>
          </p:grpSpPr>
          <p:sp>
            <p:nvSpPr>
              <p:cNvPr id="18520" name="AutoShape 147"/>
              <p:cNvSpPr/>
              <p:nvPr/>
            </p:nvSpPr>
            <p:spPr>
              <a:xfrm>
                <a:off x="4923" y="1192"/>
                <a:ext cx="736" cy="231"/>
              </a:xfrm>
              <a:prstGeom prst="wedgeRoundRectCallout">
                <a:avLst>
                  <a:gd name="adj1" fmla="val -82880"/>
                  <a:gd name="adj2" fmla="val -3571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257985" name="Text Box 65"/>
              <p:cNvSpPr txBox="1">
                <a:spLocks noChangeArrowheads="1"/>
              </p:cNvSpPr>
              <p:nvPr/>
            </p:nvSpPr>
            <p:spPr bwMode="auto">
              <a:xfrm>
                <a:off x="4912" y="1193"/>
                <a:ext cx="760"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实际曲线</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sp>
          <p:nvSpPr>
            <p:cNvPr id="18441" name="Line 66"/>
            <p:cNvSpPr/>
            <p:nvPr/>
          </p:nvSpPr>
          <p:spPr>
            <a:xfrm>
              <a:off x="3547" y="2287"/>
              <a:ext cx="1744" cy="0"/>
            </a:xfrm>
            <a:prstGeom prst="line">
              <a:avLst/>
            </a:prstGeom>
            <a:ln w="9525" cap="flat" cmpd="sng">
              <a:solidFill>
                <a:schemeClr val="accent2"/>
              </a:solidFill>
              <a:prstDash val="solid"/>
              <a:headEnd type="none" w="med" len="med"/>
              <a:tailEnd type="stealth" w="sm" len="lg"/>
            </a:ln>
          </p:spPr>
        </p:sp>
        <p:sp>
          <p:nvSpPr>
            <p:cNvPr id="18442" name="Text Box 67"/>
            <p:cNvSpPr txBox="1"/>
            <p:nvPr/>
          </p:nvSpPr>
          <p:spPr>
            <a:xfrm>
              <a:off x="5266" y="2185"/>
              <a:ext cx="261"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endParaRPr lang="en-US" altLang="zh-CN" sz="2000" i="1" baseline="-25000" dirty="0">
                <a:latin typeface="Times New Roman" panose="02020603050405020304" pitchFamily="18" charset="0"/>
              </a:endParaRPr>
            </a:p>
          </p:txBody>
        </p:sp>
        <p:sp>
          <p:nvSpPr>
            <p:cNvPr id="18443" name="Line 68"/>
            <p:cNvSpPr/>
            <p:nvPr/>
          </p:nvSpPr>
          <p:spPr>
            <a:xfrm flipV="1">
              <a:off x="3547" y="743"/>
              <a:ext cx="0" cy="1544"/>
            </a:xfrm>
            <a:prstGeom prst="line">
              <a:avLst/>
            </a:prstGeom>
            <a:ln w="9525" cap="flat" cmpd="sng">
              <a:solidFill>
                <a:schemeClr val="accent2"/>
              </a:solidFill>
              <a:prstDash val="solid"/>
              <a:headEnd type="none" w="med" len="med"/>
              <a:tailEnd type="stealth" w="sm" len="lg"/>
            </a:ln>
          </p:spPr>
        </p:sp>
        <p:sp>
          <p:nvSpPr>
            <p:cNvPr id="18444" name="Text Box 69"/>
            <p:cNvSpPr txBox="1"/>
            <p:nvPr/>
          </p:nvSpPr>
          <p:spPr>
            <a:xfrm>
              <a:off x="3054" y="673"/>
              <a:ext cx="277" cy="750"/>
            </a:xfrm>
            <a:prstGeom prst="rect">
              <a:avLst/>
            </a:prstGeom>
            <a:noFill/>
            <a:ln w="9525">
              <a:noFill/>
            </a:ln>
          </p:spPr>
          <p:txBody>
            <a:bodyPr wrap="none">
              <a:spAutoFit/>
            </a:bodyPr>
            <a:p>
              <a:pPr eaLnBrk="1" hangingPunct="1">
                <a:lnSpc>
                  <a:spcPct val="90000"/>
                </a:lnSpc>
              </a:pPr>
              <a:r>
                <a:rPr lang="zh-CN" altLang="en-US" sz="2000" dirty="0">
                  <a:latin typeface="Times New Roman" panose="02020603050405020304" pitchFamily="18" charset="0"/>
                </a:rPr>
                <a:t>输</a:t>
              </a:r>
              <a:endParaRPr lang="zh-CN" altLang="en-US" sz="2000" dirty="0">
                <a:latin typeface="Times New Roman" panose="02020603050405020304" pitchFamily="18" charset="0"/>
              </a:endParaRPr>
            </a:p>
            <a:p>
              <a:pPr eaLnBrk="1" hangingPunct="1">
                <a:lnSpc>
                  <a:spcPct val="90000"/>
                </a:lnSpc>
              </a:pPr>
              <a:r>
                <a:rPr lang="zh-CN" altLang="en-US" sz="2000" dirty="0">
                  <a:latin typeface="Times New Roman" panose="02020603050405020304" pitchFamily="18" charset="0"/>
                </a:rPr>
                <a:t>出</a:t>
              </a:r>
              <a:endParaRPr lang="zh-CN" altLang="en-US" sz="2000" dirty="0">
                <a:latin typeface="Times New Roman" panose="02020603050405020304" pitchFamily="18" charset="0"/>
              </a:endParaRPr>
            </a:p>
            <a:p>
              <a:pPr eaLnBrk="1" hangingPunct="1">
                <a:lnSpc>
                  <a:spcPct val="90000"/>
                </a:lnSpc>
              </a:pPr>
              <a:r>
                <a:rPr lang="zh-CN" altLang="en-US" sz="2000" dirty="0">
                  <a:latin typeface="Times New Roman" panose="02020603050405020304" pitchFamily="18" charset="0"/>
                </a:rPr>
                <a:t>数</a:t>
              </a:r>
              <a:endParaRPr lang="zh-CN" altLang="en-US" sz="2000" dirty="0">
                <a:latin typeface="Times New Roman" panose="02020603050405020304" pitchFamily="18" charset="0"/>
              </a:endParaRPr>
            </a:p>
            <a:p>
              <a:pPr eaLnBrk="1" hangingPunct="1">
                <a:lnSpc>
                  <a:spcPct val="90000"/>
                </a:lnSpc>
              </a:pPr>
              <a:r>
                <a:rPr lang="zh-CN" altLang="en-US" sz="2000" dirty="0">
                  <a:latin typeface="Times New Roman" panose="02020603050405020304" pitchFamily="18" charset="0"/>
                </a:rPr>
                <a:t>码</a:t>
              </a:r>
              <a:endParaRPr lang="zh-CN" altLang="en-US" sz="2000" dirty="0">
                <a:latin typeface="Times New Roman" panose="02020603050405020304" pitchFamily="18" charset="0"/>
              </a:endParaRPr>
            </a:p>
          </p:txBody>
        </p:sp>
        <p:sp>
          <p:nvSpPr>
            <p:cNvPr id="18445" name="Line 70"/>
            <p:cNvSpPr/>
            <p:nvPr/>
          </p:nvSpPr>
          <p:spPr>
            <a:xfrm>
              <a:off x="3547" y="2137"/>
              <a:ext cx="33" cy="0"/>
            </a:xfrm>
            <a:prstGeom prst="line">
              <a:avLst/>
            </a:prstGeom>
            <a:ln w="9525" cap="flat" cmpd="sng">
              <a:solidFill>
                <a:schemeClr val="accent2"/>
              </a:solidFill>
              <a:prstDash val="solid"/>
              <a:headEnd type="none" w="med" len="med"/>
              <a:tailEnd type="none" w="med" len="med"/>
            </a:ln>
          </p:spPr>
        </p:sp>
        <p:sp>
          <p:nvSpPr>
            <p:cNvPr id="18446" name="Text Box 71"/>
            <p:cNvSpPr txBox="1"/>
            <p:nvPr/>
          </p:nvSpPr>
          <p:spPr>
            <a:xfrm>
              <a:off x="3279" y="2052"/>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001</a:t>
              </a:r>
              <a:endParaRPr lang="en-US" altLang="zh-CN" sz="1400" dirty="0">
                <a:latin typeface="Times New Roman" panose="02020603050405020304" pitchFamily="18" charset="0"/>
              </a:endParaRPr>
            </a:p>
          </p:txBody>
        </p:sp>
        <p:sp>
          <p:nvSpPr>
            <p:cNvPr id="18447" name="Line 72"/>
            <p:cNvSpPr/>
            <p:nvPr/>
          </p:nvSpPr>
          <p:spPr>
            <a:xfrm>
              <a:off x="3552" y="1983"/>
              <a:ext cx="33" cy="0"/>
            </a:xfrm>
            <a:prstGeom prst="line">
              <a:avLst/>
            </a:prstGeom>
            <a:ln w="9525" cap="flat" cmpd="sng">
              <a:solidFill>
                <a:schemeClr val="accent2"/>
              </a:solidFill>
              <a:prstDash val="solid"/>
              <a:headEnd type="none" w="med" len="med"/>
              <a:tailEnd type="none" w="med" len="med"/>
            </a:ln>
          </p:spPr>
        </p:sp>
        <p:sp>
          <p:nvSpPr>
            <p:cNvPr id="18448" name="Text Box 73"/>
            <p:cNvSpPr txBox="1"/>
            <p:nvPr/>
          </p:nvSpPr>
          <p:spPr>
            <a:xfrm>
              <a:off x="3276" y="1898"/>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010</a:t>
              </a:r>
              <a:endParaRPr lang="en-US" altLang="zh-CN" sz="1400" dirty="0">
                <a:latin typeface="Times New Roman" panose="02020603050405020304" pitchFamily="18" charset="0"/>
              </a:endParaRPr>
            </a:p>
          </p:txBody>
        </p:sp>
        <p:sp>
          <p:nvSpPr>
            <p:cNvPr id="18449" name="Line 74"/>
            <p:cNvSpPr/>
            <p:nvPr/>
          </p:nvSpPr>
          <p:spPr>
            <a:xfrm>
              <a:off x="3557" y="1828"/>
              <a:ext cx="33" cy="0"/>
            </a:xfrm>
            <a:prstGeom prst="line">
              <a:avLst/>
            </a:prstGeom>
            <a:ln w="9525" cap="flat" cmpd="sng">
              <a:solidFill>
                <a:schemeClr val="accent2"/>
              </a:solidFill>
              <a:prstDash val="solid"/>
              <a:headEnd type="none" w="med" len="med"/>
              <a:tailEnd type="none" w="med" len="med"/>
            </a:ln>
          </p:spPr>
        </p:sp>
        <p:sp>
          <p:nvSpPr>
            <p:cNvPr id="18450" name="Text Box 75"/>
            <p:cNvSpPr txBox="1"/>
            <p:nvPr/>
          </p:nvSpPr>
          <p:spPr>
            <a:xfrm>
              <a:off x="3288" y="1753"/>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011</a:t>
              </a:r>
              <a:endParaRPr lang="en-US" altLang="zh-CN" sz="1400" dirty="0">
                <a:latin typeface="Times New Roman" panose="02020603050405020304" pitchFamily="18" charset="0"/>
              </a:endParaRPr>
            </a:p>
          </p:txBody>
        </p:sp>
        <p:sp>
          <p:nvSpPr>
            <p:cNvPr id="18451" name="Line 76"/>
            <p:cNvSpPr/>
            <p:nvPr/>
          </p:nvSpPr>
          <p:spPr>
            <a:xfrm>
              <a:off x="3547" y="1677"/>
              <a:ext cx="41" cy="0"/>
            </a:xfrm>
            <a:prstGeom prst="line">
              <a:avLst/>
            </a:prstGeom>
            <a:ln w="9525" cap="flat" cmpd="sng">
              <a:solidFill>
                <a:schemeClr val="accent2"/>
              </a:solidFill>
              <a:prstDash val="solid"/>
              <a:headEnd type="none" w="med" len="med"/>
              <a:tailEnd type="none" w="med" len="med"/>
            </a:ln>
          </p:spPr>
        </p:sp>
        <p:sp>
          <p:nvSpPr>
            <p:cNvPr id="18452" name="Text Box 77"/>
            <p:cNvSpPr txBox="1"/>
            <p:nvPr/>
          </p:nvSpPr>
          <p:spPr>
            <a:xfrm>
              <a:off x="3284" y="1593"/>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100</a:t>
              </a:r>
              <a:endParaRPr lang="en-US" altLang="zh-CN" sz="1400" dirty="0">
                <a:latin typeface="Times New Roman" panose="02020603050405020304" pitchFamily="18" charset="0"/>
              </a:endParaRPr>
            </a:p>
          </p:txBody>
        </p:sp>
        <p:sp>
          <p:nvSpPr>
            <p:cNvPr id="18453" name="Line 78"/>
            <p:cNvSpPr/>
            <p:nvPr/>
          </p:nvSpPr>
          <p:spPr>
            <a:xfrm>
              <a:off x="3547" y="1527"/>
              <a:ext cx="33" cy="0"/>
            </a:xfrm>
            <a:prstGeom prst="line">
              <a:avLst/>
            </a:prstGeom>
            <a:ln w="9525" cap="flat" cmpd="sng">
              <a:solidFill>
                <a:schemeClr val="accent2"/>
              </a:solidFill>
              <a:prstDash val="solid"/>
              <a:headEnd type="none" w="med" len="med"/>
              <a:tailEnd type="none" w="med" len="med"/>
            </a:ln>
          </p:spPr>
        </p:sp>
        <p:sp>
          <p:nvSpPr>
            <p:cNvPr id="18454" name="Text Box 79"/>
            <p:cNvSpPr txBox="1"/>
            <p:nvPr/>
          </p:nvSpPr>
          <p:spPr>
            <a:xfrm>
              <a:off x="3287" y="1444"/>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101</a:t>
              </a:r>
              <a:endParaRPr lang="en-US" altLang="zh-CN" sz="1400" dirty="0">
                <a:latin typeface="Times New Roman" panose="02020603050405020304" pitchFamily="18" charset="0"/>
              </a:endParaRPr>
            </a:p>
          </p:txBody>
        </p:sp>
        <p:sp>
          <p:nvSpPr>
            <p:cNvPr id="18455" name="Line 80"/>
            <p:cNvSpPr/>
            <p:nvPr/>
          </p:nvSpPr>
          <p:spPr>
            <a:xfrm>
              <a:off x="3547" y="1369"/>
              <a:ext cx="41" cy="0"/>
            </a:xfrm>
            <a:prstGeom prst="line">
              <a:avLst/>
            </a:prstGeom>
            <a:ln w="9525" cap="flat" cmpd="sng">
              <a:solidFill>
                <a:schemeClr val="accent2"/>
              </a:solidFill>
              <a:prstDash val="solid"/>
              <a:headEnd type="none" w="med" len="med"/>
              <a:tailEnd type="none" w="med" len="med"/>
            </a:ln>
          </p:spPr>
        </p:sp>
        <p:sp>
          <p:nvSpPr>
            <p:cNvPr id="18456" name="Text Box 81"/>
            <p:cNvSpPr txBox="1"/>
            <p:nvPr/>
          </p:nvSpPr>
          <p:spPr>
            <a:xfrm>
              <a:off x="3287" y="1293"/>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110</a:t>
              </a:r>
              <a:endParaRPr lang="en-US" altLang="zh-CN" sz="1400" dirty="0">
                <a:latin typeface="Times New Roman" panose="02020603050405020304" pitchFamily="18" charset="0"/>
              </a:endParaRPr>
            </a:p>
          </p:txBody>
        </p:sp>
        <p:sp>
          <p:nvSpPr>
            <p:cNvPr id="18457" name="Line 82"/>
            <p:cNvSpPr/>
            <p:nvPr/>
          </p:nvSpPr>
          <p:spPr>
            <a:xfrm>
              <a:off x="3547" y="1218"/>
              <a:ext cx="41" cy="0"/>
            </a:xfrm>
            <a:prstGeom prst="line">
              <a:avLst/>
            </a:prstGeom>
            <a:ln w="9525" cap="flat" cmpd="sng">
              <a:solidFill>
                <a:schemeClr val="accent2"/>
              </a:solidFill>
              <a:prstDash val="solid"/>
              <a:headEnd type="none" w="med" len="med"/>
              <a:tailEnd type="none" w="med" len="med"/>
            </a:ln>
          </p:spPr>
        </p:sp>
        <p:sp>
          <p:nvSpPr>
            <p:cNvPr id="18458" name="Text Box 83"/>
            <p:cNvSpPr txBox="1"/>
            <p:nvPr/>
          </p:nvSpPr>
          <p:spPr>
            <a:xfrm>
              <a:off x="3297" y="1135"/>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111</a:t>
              </a:r>
              <a:endParaRPr lang="en-US" altLang="zh-CN" sz="1400" dirty="0">
                <a:latin typeface="Times New Roman" panose="02020603050405020304" pitchFamily="18" charset="0"/>
              </a:endParaRPr>
            </a:p>
          </p:txBody>
        </p:sp>
        <p:sp>
          <p:nvSpPr>
            <p:cNvPr id="18459" name="Line 84"/>
            <p:cNvSpPr/>
            <p:nvPr/>
          </p:nvSpPr>
          <p:spPr>
            <a:xfrm flipV="1">
              <a:off x="3613" y="2137"/>
              <a:ext cx="0" cy="150"/>
            </a:xfrm>
            <a:prstGeom prst="line">
              <a:avLst/>
            </a:prstGeom>
            <a:ln w="9525" cap="flat" cmpd="sng">
              <a:solidFill>
                <a:schemeClr val="accent2"/>
              </a:solidFill>
              <a:prstDash val="solid"/>
              <a:headEnd type="none" w="med" len="med"/>
              <a:tailEnd type="none" w="med" len="med"/>
            </a:ln>
          </p:spPr>
        </p:sp>
        <p:sp>
          <p:nvSpPr>
            <p:cNvPr id="18460" name="Line 85"/>
            <p:cNvSpPr/>
            <p:nvPr/>
          </p:nvSpPr>
          <p:spPr>
            <a:xfrm>
              <a:off x="3613" y="2137"/>
              <a:ext cx="109" cy="0"/>
            </a:xfrm>
            <a:prstGeom prst="line">
              <a:avLst/>
            </a:prstGeom>
            <a:ln w="9525" cap="flat" cmpd="sng">
              <a:solidFill>
                <a:schemeClr val="accent2"/>
              </a:solidFill>
              <a:prstDash val="solid"/>
              <a:headEnd type="none" w="med" len="med"/>
              <a:tailEnd type="none" w="med" len="med"/>
            </a:ln>
          </p:spPr>
        </p:sp>
        <p:sp>
          <p:nvSpPr>
            <p:cNvPr id="18461" name="Line 86"/>
            <p:cNvSpPr/>
            <p:nvPr/>
          </p:nvSpPr>
          <p:spPr>
            <a:xfrm flipV="1">
              <a:off x="3722" y="1986"/>
              <a:ext cx="0" cy="151"/>
            </a:xfrm>
            <a:prstGeom prst="line">
              <a:avLst/>
            </a:prstGeom>
            <a:ln w="9525" cap="flat" cmpd="sng">
              <a:solidFill>
                <a:schemeClr val="accent2"/>
              </a:solidFill>
              <a:prstDash val="solid"/>
              <a:headEnd type="none" w="med" len="med"/>
              <a:tailEnd type="none" w="med" len="med"/>
            </a:ln>
          </p:spPr>
        </p:sp>
        <p:sp>
          <p:nvSpPr>
            <p:cNvPr id="18462" name="Line 87"/>
            <p:cNvSpPr/>
            <p:nvPr/>
          </p:nvSpPr>
          <p:spPr>
            <a:xfrm>
              <a:off x="3722" y="1986"/>
              <a:ext cx="133" cy="0"/>
            </a:xfrm>
            <a:prstGeom prst="line">
              <a:avLst/>
            </a:prstGeom>
            <a:ln w="9525" cap="flat" cmpd="sng">
              <a:solidFill>
                <a:schemeClr val="accent2"/>
              </a:solidFill>
              <a:prstDash val="solid"/>
              <a:headEnd type="none" w="med" len="med"/>
              <a:tailEnd type="none" w="med" len="med"/>
            </a:ln>
          </p:spPr>
        </p:sp>
        <p:sp>
          <p:nvSpPr>
            <p:cNvPr id="18463" name="Line 88"/>
            <p:cNvSpPr/>
            <p:nvPr/>
          </p:nvSpPr>
          <p:spPr>
            <a:xfrm flipV="1">
              <a:off x="3855" y="1828"/>
              <a:ext cx="0" cy="158"/>
            </a:xfrm>
            <a:prstGeom prst="line">
              <a:avLst/>
            </a:prstGeom>
            <a:ln w="9525" cap="flat" cmpd="sng">
              <a:solidFill>
                <a:schemeClr val="accent2"/>
              </a:solidFill>
              <a:prstDash val="solid"/>
              <a:headEnd type="none" w="med" len="med"/>
              <a:tailEnd type="none" w="med" len="med"/>
            </a:ln>
          </p:spPr>
        </p:sp>
        <p:sp>
          <p:nvSpPr>
            <p:cNvPr id="18464" name="Line 89"/>
            <p:cNvSpPr/>
            <p:nvPr/>
          </p:nvSpPr>
          <p:spPr>
            <a:xfrm>
              <a:off x="3855" y="1828"/>
              <a:ext cx="109" cy="0"/>
            </a:xfrm>
            <a:prstGeom prst="line">
              <a:avLst/>
            </a:prstGeom>
            <a:ln w="9525" cap="flat" cmpd="sng">
              <a:solidFill>
                <a:schemeClr val="accent2"/>
              </a:solidFill>
              <a:prstDash val="solid"/>
              <a:headEnd type="none" w="med" len="med"/>
              <a:tailEnd type="none" w="med" len="med"/>
            </a:ln>
          </p:spPr>
        </p:sp>
        <p:sp>
          <p:nvSpPr>
            <p:cNvPr id="18465" name="Line 90"/>
            <p:cNvSpPr/>
            <p:nvPr/>
          </p:nvSpPr>
          <p:spPr>
            <a:xfrm flipV="1">
              <a:off x="3964" y="1677"/>
              <a:ext cx="0" cy="151"/>
            </a:xfrm>
            <a:prstGeom prst="line">
              <a:avLst/>
            </a:prstGeom>
            <a:ln w="9525" cap="flat" cmpd="sng">
              <a:solidFill>
                <a:schemeClr val="accent2"/>
              </a:solidFill>
              <a:prstDash val="solid"/>
              <a:headEnd type="none" w="med" len="med"/>
              <a:tailEnd type="none" w="med" len="med"/>
            </a:ln>
          </p:spPr>
        </p:sp>
        <p:sp>
          <p:nvSpPr>
            <p:cNvPr id="18466" name="Line 91"/>
            <p:cNvSpPr/>
            <p:nvPr/>
          </p:nvSpPr>
          <p:spPr>
            <a:xfrm>
              <a:off x="3964" y="1677"/>
              <a:ext cx="134" cy="0"/>
            </a:xfrm>
            <a:prstGeom prst="line">
              <a:avLst/>
            </a:prstGeom>
            <a:ln w="9525" cap="flat" cmpd="sng">
              <a:solidFill>
                <a:schemeClr val="accent2"/>
              </a:solidFill>
              <a:prstDash val="solid"/>
              <a:headEnd type="none" w="med" len="med"/>
              <a:tailEnd type="none" w="med" len="med"/>
            </a:ln>
          </p:spPr>
        </p:sp>
        <p:sp>
          <p:nvSpPr>
            <p:cNvPr id="18467" name="Line 92"/>
            <p:cNvSpPr/>
            <p:nvPr/>
          </p:nvSpPr>
          <p:spPr>
            <a:xfrm flipV="1">
              <a:off x="4098" y="1527"/>
              <a:ext cx="0" cy="150"/>
            </a:xfrm>
            <a:prstGeom prst="line">
              <a:avLst/>
            </a:prstGeom>
            <a:ln w="9525" cap="flat" cmpd="sng">
              <a:solidFill>
                <a:schemeClr val="accent2"/>
              </a:solidFill>
              <a:prstDash val="solid"/>
              <a:headEnd type="none" w="med" len="med"/>
              <a:tailEnd type="none" w="med" len="med"/>
            </a:ln>
          </p:spPr>
        </p:sp>
        <p:sp>
          <p:nvSpPr>
            <p:cNvPr id="18468" name="Line 93"/>
            <p:cNvSpPr/>
            <p:nvPr/>
          </p:nvSpPr>
          <p:spPr>
            <a:xfrm>
              <a:off x="4098" y="1527"/>
              <a:ext cx="108" cy="0"/>
            </a:xfrm>
            <a:prstGeom prst="line">
              <a:avLst/>
            </a:prstGeom>
            <a:ln w="9525" cap="flat" cmpd="sng">
              <a:solidFill>
                <a:schemeClr val="accent2"/>
              </a:solidFill>
              <a:prstDash val="solid"/>
              <a:headEnd type="none" w="med" len="med"/>
              <a:tailEnd type="none" w="med" len="med"/>
            </a:ln>
          </p:spPr>
        </p:sp>
        <p:sp>
          <p:nvSpPr>
            <p:cNvPr id="18469" name="Line 94"/>
            <p:cNvSpPr/>
            <p:nvPr/>
          </p:nvSpPr>
          <p:spPr>
            <a:xfrm flipV="1">
              <a:off x="4206" y="1369"/>
              <a:ext cx="0" cy="158"/>
            </a:xfrm>
            <a:prstGeom prst="line">
              <a:avLst/>
            </a:prstGeom>
            <a:ln w="9525" cap="flat" cmpd="sng">
              <a:solidFill>
                <a:schemeClr val="accent2"/>
              </a:solidFill>
              <a:prstDash val="solid"/>
              <a:headEnd type="none" w="med" len="med"/>
              <a:tailEnd type="none" w="med" len="med"/>
            </a:ln>
          </p:spPr>
        </p:sp>
        <p:sp>
          <p:nvSpPr>
            <p:cNvPr id="18470" name="Line 95"/>
            <p:cNvSpPr/>
            <p:nvPr/>
          </p:nvSpPr>
          <p:spPr>
            <a:xfrm>
              <a:off x="4206" y="1369"/>
              <a:ext cx="117" cy="0"/>
            </a:xfrm>
            <a:prstGeom prst="line">
              <a:avLst/>
            </a:prstGeom>
            <a:ln w="9525" cap="flat" cmpd="sng">
              <a:solidFill>
                <a:schemeClr val="accent2"/>
              </a:solidFill>
              <a:prstDash val="solid"/>
              <a:headEnd type="none" w="med" len="med"/>
              <a:tailEnd type="none" w="med" len="med"/>
            </a:ln>
          </p:spPr>
        </p:sp>
        <p:sp>
          <p:nvSpPr>
            <p:cNvPr id="18471" name="Line 96"/>
            <p:cNvSpPr/>
            <p:nvPr/>
          </p:nvSpPr>
          <p:spPr>
            <a:xfrm flipV="1">
              <a:off x="4323" y="1218"/>
              <a:ext cx="0" cy="151"/>
            </a:xfrm>
            <a:prstGeom prst="line">
              <a:avLst/>
            </a:prstGeom>
            <a:ln w="9525" cap="flat" cmpd="sng">
              <a:solidFill>
                <a:schemeClr val="accent2"/>
              </a:solidFill>
              <a:prstDash val="solid"/>
              <a:headEnd type="none" w="med" len="med"/>
              <a:tailEnd type="none" w="med" len="med"/>
            </a:ln>
          </p:spPr>
        </p:sp>
        <p:sp>
          <p:nvSpPr>
            <p:cNvPr id="18472" name="Line 97"/>
            <p:cNvSpPr/>
            <p:nvPr/>
          </p:nvSpPr>
          <p:spPr>
            <a:xfrm>
              <a:off x="4323" y="1218"/>
              <a:ext cx="108" cy="0"/>
            </a:xfrm>
            <a:prstGeom prst="line">
              <a:avLst/>
            </a:prstGeom>
            <a:ln w="9525" cap="flat" cmpd="sng">
              <a:solidFill>
                <a:schemeClr val="accent2"/>
              </a:solidFill>
              <a:prstDash val="solid"/>
              <a:headEnd type="none" w="med" len="med"/>
              <a:tailEnd type="none" w="med" len="med"/>
            </a:ln>
          </p:spPr>
        </p:sp>
        <p:sp>
          <p:nvSpPr>
            <p:cNvPr id="18473" name="Line 98"/>
            <p:cNvSpPr/>
            <p:nvPr/>
          </p:nvSpPr>
          <p:spPr>
            <a:xfrm flipV="1">
              <a:off x="3547" y="985"/>
              <a:ext cx="1018" cy="1302"/>
            </a:xfrm>
            <a:prstGeom prst="line">
              <a:avLst/>
            </a:prstGeom>
            <a:ln w="9525" cap="flat" cmpd="sng">
              <a:solidFill>
                <a:srgbClr val="FF0000"/>
              </a:solidFill>
              <a:prstDash val="dash"/>
              <a:headEnd type="none" w="med" len="med"/>
              <a:tailEnd type="none" w="med" len="med"/>
            </a:ln>
          </p:spPr>
        </p:sp>
        <p:sp>
          <p:nvSpPr>
            <p:cNvPr id="18474" name="Line 99"/>
            <p:cNvSpPr/>
            <p:nvPr/>
          </p:nvSpPr>
          <p:spPr>
            <a:xfrm flipV="1">
              <a:off x="3855" y="2137"/>
              <a:ext cx="0" cy="150"/>
            </a:xfrm>
            <a:prstGeom prst="line">
              <a:avLst/>
            </a:prstGeom>
            <a:ln w="9525" cap="flat" cmpd="sng">
              <a:solidFill>
                <a:schemeClr val="accent2"/>
              </a:solidFill>
              <a:prstDash val="solid"/>
              <a:headEnd type="none" w="med" len="med"/>
              <a:tailEnd type="none" w="med" len="med"/>
            </a:ln>
          </p:spPr>
        </p:sp>
        <p:sp>
          <p:nvSpPr>
            <p:cNvPr id="18475" name="Line 100"/>
            <p:cNvSpPr/>
            <p:nvPr/>
          </p:nvSpPr>
          <p:spPr>
            <a:xfrm>
              <a:off x="3855" y="2137"/>
              <a:ext cx="109" cy="0"/>
            </a:xfrm>
            <a:prstGeom prst="line">
              <a:avLst/>
            </a:prstGeom>
            <a:ln w="9525" cap="flat" cmpd="sng">
              <a:solidFill>
                <a:schemeClr val="accent2"/>
              </a:solidFill>
              <a:prstDash val="solid"/>
              <a:headEnd type="none" w="med" len="med"/>
              <a:tailEnd type="none" w="med" len="med"/>
            </a:ln>
          </p:spPr>
        </p:sp>
        <p:sp>
          <p:nvSpPr>
            <p:cNvPr id="18476" name="Line 101"/>
            <p:cNvSpPr/>
            <p:nvPr/>
          </p:nvSpPr>
          <p:spPr>
            <a:xfrm flipV="1">
              <a:off x="3964" y="1986"/>
              <a:ext cx="0" cy="151"/>
            </a:xfrm>
            <a:prstGeom prst="line">
              <a:avLst/>
            </a:prstGeom>
            <a:ln w="9525" cap="flat" cmpd="sng">
              <a:solidFill>
                <a:schemeClr val="accent2"/>
              </a:solidFill>
              <a:prstDash val="solid"/>
              <a:headEnd type="none" w="med" len="med"/>
              <a:tailEnd type="none" w="med" len="med"/>
            </a:ln>
          </p:spPr>
        </p:sp>
        <p:sp>
          <p:nvSpPr>
            <p:cNvPr id="18477" name="Line 102"/>
            <p:cNvSpPr/>
            <p:nvPr/>
          </p:nvSpPr>
          <p:spPr>
            <a:xfrm>
              <a:off x="3964" y="1986"/>
              <a:ext cx="134" cy="0"/>
            </a:xfrm>
            <a:prstGeom prst="line">
              <a:avLst/>
            </a:prstGeom>
            <a:ln w="9525" cap="flat" cmpd="sng">
              <a:solidFill>
                <a:schemeClr val="accent2"/>
              </a:solidFill>
              <a:prstDash val="solid"/>
              <a:headEnd type="none" w="med" len="med"/>
              <a:tailEnd type="none" w="med" len="med"/>
            </a:ln>
          </p:spPr>
        </p:sp>
        <p:sp>
          <p:nvSpPr>
            <p:cNvPr id="18478" name="Line 103"/>
            <p:cNvSpPr/>
            <p:nvPr/>
          </p:nvSpPr>
          <p:spPr>
            <a:xfrm flipV="1">
              <a:off x="4098" y="1828"/>
              <a:ext cx="0" cy="158"/>
            </a:xfrm>
            <a:prstGeom prst="line">
              <a:avLst/>
            </a:prstGeom>
            <a:ln w="9525" cap="flat" cmpd="sng">
              <a:solidFill>
                <a:schemeClr val="accent2"/>
              </a:solidFill>
              <a:prstDash val="solid"/>
              <a:headEnd type="none" w="med" len="med"/>
              <a:tailEnd type="none" w="med" len="med"/>
            </a:ln>
          </p:spPr>
        </p:sp>
        <p:sp>
          <p:nvSpPr>
            <p:cNvPr id="18479" name="Line 104"/>
            <p:cNvSpPr/>
            <p:nvPr/>
          </p:nvSpPr>
          <p:spPr>
            <a:xfrm>
              <a:off x="4098" y="1828"/>
              <a:ext cx="108" cy="0"/>
            </a:xfrm>
            <a:prstGeom prst="line">
              <a:avLst/>
            </a:prstGeom>
            <a:ln w="9525" cap="flat" cmpd="sng">
              <a:solidFill>
                <a:schemeClr val="accent2"/>
              </a:solidFill>
              <a:prstDash val="solid"/>
              <a:headEnd type="none" w="med" len="med"/>
              <a:tailEnd type="none" w="med" len="med"/>
            </a:ln>
          </p:spPr>
        </p:sp>
        <p:sp>
          <p:nvSpPr>
            <p:cNvPr id="18480" name="Line 105"/>
            <p:cNvSpPr/>
            <p:nvPr/>
          </p:nvSpPr>
          <p:spPr>
            <a:xfrm flipV="1">
              <a:off x="4206" y="1677"/>
              <a:ext cx="0" cy="151"/>
            </a:xfrm>
            <a:prstGeom prst="line">
              <a:avLst/>
            </a:prstGeom>
            <a:ln w="9525" cap="flat" cmpd="sng">
              <a:solidFill>
                <a:schemeClr val="accent2"/>
              </a:solidFill>
              <a:prstDash val="solid"/>
              <a:headEnd type="none" w="med" len="med"/>
              <a:tailEnd type="none" w="med" len="med"/>
            </a:ln>
          </p:spPr>
        </p:sp>
        <p:sp>
          <p:nvSpPr>
            <p:cNvPr id="18481" name="Line 106"/>
            <p:cNvSpPr/>
            <p:nvPr/>
          </p:nvSpPr>
          <p:spPr>
            <a:xfrm>
              <a:off x="4206" y="1677"/>
              <a:ext cx="134" cy="0"/>
            </a:xfrm>
            <a:prstGeom prst="line">
              <a:avLst/>
            </a:prstGeom>
            <a:ln w="9525" cap="flat" cmpd="sng">
              <a:solidFill>
                <a:schemeClr val="accent2"/>
              </a:solidFill>
              <a:prstDash val="solid"/>
              <a:headEnd type="none" w="med" len="med"/>
              <a:tailEnd type="none" w="med" len="med"/>
            </a:ln>
          </p:spPr>
        </p:sp>
        <p:sp>
          <p:nvSpPr>
            <p:cNvPr id="18482" name="Line 107"/>
            <p:cNvSpPr/>
            <p:nvPr/>
          </p:nvSpPr>
          <p:spPr>
            <a:xfrm flipV="1">
              <a:off x="4340" y="1527"/>
              <a:ext cx="0" cy="150"/>
            </a:xfrm>
            <a:prstGeom prst="line">
              <a:avLst/>
            </a:prstGeom>
            <a:ln w="9525" cap="flat" cmpd="sng">
              <a:solidFill>
                <a:schemeClr val="accent2"/>
              </a:solidFill>
              <a:prstDash val="solid"/>
              <a:headEnd type="none" w="med" len="med"/>
              <a:tailEnd type="none" w="med" len="med"/>
            </a:ln>
          </p:spPr>
        </p:sp>
        <p:sp>
          <p:nvSpPr>
            <p:cNvPr id="18483" name="Line 108"/>
            <p:cNvSpPr/>
            <p:nvPr/>
          </p:nvSpPr>
          <p:spPr>
            <a:xfrm>
              <a:off x="4340" y="1527"/>
              <a:ext cx="108" cy="0"/>
            </a:xfrm>
            <a:prstGeom prst="line">
              <a:avLst/>
            </a:prstGeom>
            <a:ln w="9525" cap="flat" cmpd="sng">
              <a:solidFill>
                <a:schemeClr val="accent2"/>
              </a:solidFill>
              <a:prstDash val="solid"/>
              <a:headEnd type="none" w="med" len="med"/>
              <a:tailEnd type="none" w="med" len="med"/>
            </a:ln>
          </p:spPr>
        </p:sp>
        <p:sp>
          <p:nvSpPr>
            <p:cNvPr id="18484" name="Line 109"/>
            <p:cNvSpPr/>
            <p:nvPr/>
          </p:nvSpPr>
          <p:spPr>
            <a:xfrm flipV="1">
              <a:off x="4448" y="1369"/>
              <a:ext cx="0" cy="158"/>
            </a:xfrm>
            <a:prstGeom prst="line">
              <a:avLst/>
            </a:prstGeom>
            <a:ln w="9525" cap="flat" cmpd="sng">
              <a:solidFill>
                <a:schemeClr val="accent2"/>
              </a:solidFill>
              <a:prstDash val="solid"/>
              <a:headEnd type="none" w="med" len="med"/>
              <a:tailEnd type="none" w="med" len="med"/>
            </a:ln>
          </p:spPr>
        </p:sp>
        <p:sp>
          <p:nvSpPr>
            <p:cNvPr id="18485" name="Line 110"/>
            <p:cNvSpPr/>
            <p:nvPr/>
          </p:nvSpPr>
          <p:spPr>
            <a:xfrm>
              <a:off x="4448" y="1369"/>
              <a:ext cx="117" cy="0"/>
            </a:xfrm>
            <a:prstGeom prst="line">
              <a:avLst/>
            </a:prstGeom>
            <a:ln w="9525" cap="flat" cmpd="sng">
              <a:solidFill>
                <a:schemeClr val="accent2"/>
              </a:solidFill>
              <a:prstDash val="solid"/>
              <a:headEnd type="none" w="med" len="med"/>
              <a:tailEnd type="none" w="med" len="med"/>
            </a:ln>
          </p:spPr>
        </p:sp>
        <p:sp>
          <p:nvSpPr>
            <p:cNvPr id="18486" name="Line 111"/>
            <p:cNvSpPr/>
            <p:nvPr/>
          </p:nvSpPr>
          <p:spPr>
            <a:xfrm flipV="1">
              <a:off x="4565" y="1218"/>
              <a:ext cx="0" cy="151"/>
            </a:xfrm>
            <a:prstGeom prst="line">
              <a:avLst/>
            </a:prstGeom>
            <a:ln w="9525" cap="flat" cmpd="sng">
              <a:solidFill>
                <a:schemeClr val="accent2"/>
              </a:solidFill>
              <a:prstDash val="solid"/>
              <a:headEnd type="none" w="med" len="med"/>
              <a:tailEnd type="none" w="med" len="med"/>
            </a:ln>
          </p:spPr>
        </p:sp>
        <p:sp>
          <p:nvSpPr>
            <p:cNvPr id="18487" name="Line 112"/>
            <p:cNvSpPr/>
            <p:nvPr/>
          </p:nvSpPr>
          <p:spPr>
            <a:xfrm>
              <a:off x="4565" y="1218"/>
              <a:ext cx="117" cy="0"/>
            </a:xfrm>
            <a:prstGeom prst="line">
              <a:avLst/>
            </a:prstGeom>
            <a:ln w="9525" cap="flat" cmpd="sng">
              <a:solidFill>
                <a:schemeClr val="accent2"/>
              </a:solidFill>
              <a:prstDash val="solid"/>
              <a:headEnd type="none" w="med" len="med"/>
              <a:tailEnd type="none" w="med" len="med"/>
            </a:ln>
          </p:spPr>
        </p:sp>
        <p:sp>
          <p:nvSpPr>
            <p:cNvPr id="18488" name="Line 113"/>
            <p:cNvSpPr/>
            <p:nvPr/>
          </p:nvSpPr>
          <p:spPr>
            <a:xfrm flipV="1">
              <a:off x="3789" y="1010"/>
              <a:ext cx="1001" cy="1277"/>
            </a:xfrm>
            <a:prstGeom prst="line">
              <a:avLst/>
            </a:prstGeom>
            <a:ln w="9525" cap="flat" cmpd="sng">
              <a:solidFill>
                <a:srgbClr val="FF0000"/>
              </a:solidFill>
              <a:prstDash val="dash"/>
              <a:headEnd type="none" w="med" len="med"/>
              <a:tailEnd type="none" w="med" len="med"/>
            </a:ln>
          </p:spPr>
        </p:sp>
        <p:sp>
          <p:nvSpPr>
            <p:cNvPr id="18489" name="Line 114"/>
            <p:cNvSpPr/>
            <p:nvPr/>
          </p:nvSpPr>
          <p:spPr>
            <a:xfrm>
              <a:off x="3547" y="2287"/>
              <a:ext cx="0" cy="175"/>
            </a:xfrm>
            <a:prstGeom prst="line">
              <a:avLst/>
            </a:prstGeom>
            <a:ln w="9525" cap="flat" cmpd="sng">
              <a:solidFill>
                <a:schemeClr val="accent2"/>
              </a:solidFill>
              <a:prstDash val="solid"/>
              <a:headEnd type="none" w="med" len="med"/>
              <a:tailEnd type="none" w="med" len="med"/>
            </a:ln>
          </p:spPr>
        </p:sp>
        <p:sp>
          <p:nvSpPr>
            <p:cNvPr id="18490" name="Line 115"/>
            <p:cNvSpPr/>
            <p:nvPr/>
          </p:nvSpPr>
          <p:spPr>
            <a:xfrm>
              <a:off x="3797" y="2287"/>
              <a:ext cx="0" cy="184"/>
            </a:xfrm>
            <a:prstGeom prst="line">
              <a:avLst/>
            </a:prstGeom>
            <a:ln w="9525" cap="flat" cmpd="sng">
              <a:solidFill>
                <a:schemeClr val="accent2"/>
              </a:solidFill>
              <a:prstDash val="solid"/>
              <a:headEnd type="none" w="med" len="med"/>
              <a:tailEnd type="none" w="med" len="med"/>
            </a:ln>
          </p:spPr>
        </p:sp>
        <p:sp>
          <p:nvSpPr>
            <p:cNvPr id="18491" name="Line 116"/>
            <p:cNvSpPr/>
            <p:nvPr/>
          </p:nvSpPr>
          <p:spPr>
            <a:xfrm flipH="1">
              <a:off x="3797" y="2429"/>
              <a:ext cx="184" cy="0"/>
            </a:xfrm>
            <a:prstGeom prst="line">
              <a:avLst/>
            </a:prstGeom>
            <a:ln w="9525" cap="flat" cmpd="sng">
              <a:solidFill>
                <a:srgbClr val="FF0000"/>
              </a:solidFill>
              <a:prstDash val="solid"/>
              <a:headEnd type="none" w="med" len="med"/>
              <a:tailEnd type="stealth" w="sm" len="lg"/>
            </a:ln>
          </p:spPr>
        </p:sp>
        <p:sp>
          <p:nvSpPr>
            <p:cNvPr id="18492" name="Text Box 117"/>
            <p:cNvSpPr txBox="1"/>
            <p:nvPr/>
          </p:nvSpPr>
          <p:spPr>
            <a:xfrm>
              <a:off x="2699" y="2309"/>
              <a:ext cx="760" cy="214"/>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偏移误差</a:t>
              </a:r>
              <a:endParaRPr lang="zh-CN" altLang="en-US" sz="1800" dirty="0">
                <a:solidFill>
                  <a:srgbClr val="FF0000"/>
                </a:solidFill>
                <a:latin typeface="Times New Roman" panose="02020603050405020304" pitchFamily="18" charset="0"/>
              </a:endParaRPr>
            </a:p>
          </p:txBody>
        </p:sp>
        <p:sp>
          <p:nvSpPr>
            <p:cNvPr id="18493" name="Line 118"/>
            <p:cNvSpPr/>
            <p:nvPr/>
          </p:nvSpPr>
          <p:spPr>
            <a:xfrm>
              <a:off x="3547" y="3214"/>
              <a:ext cx="1736" cy="0"/>
            </a:xfrm>
            <a:prstGeom prst="line">
              <a:avLst/>
            </a:prstGeom>
            <a:ln w="9525" cap="flat" cmpd="sng">
              <a:solidFill>
                <a:schemeClr val="accent2"/>
              </a:solidFill>
              <a:prstDash val="solid"/>
              <a:headEnd type="none" w="med" len="med"/>
              <a:tailEnd type="stealth" w="sm" len="lg"/>
            </a:ln>
          </p:spPr>
        </p:sp>
        <p:sp>
          <p:nvSpPr>
            <p:cNvPr id="18494" name="Text Box 119"/>
            <p:cNvSpPr txBox="1"/>
            <p:nvPr/>
          </p:nvSpPr>
          <p:spPr>
            <a:xfrm>
              <a:off x="5295" y="3100"/>
              <a:ext cx="261"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endParaRPr lang="en-US" altLang="zh-CN" sz="2000" i="1" baseline="-25000" dirty="0">
                <a:latin typeface="Times New Roman" panose="02020603050405020304" pitchFamily="18" charset="0"/>
              </a:endParaRPr>
            </a:p>
          </p:txBody>
        </p:sp>
        <p:sp>
          <p:nvSpPr>
            <p:cNvPr id="18495" name="Line 120"/>
            <p:cNvSpPr/>
            <p:nvPr/>
          </p:nvSpPr>
          <p:spPr>
            <a:xfrm flipV="1">
              <a:off x="3547" y="2630"/>
              <a:ext cx="0" cy="584"/>
            </a:xfrm>
            <a:prstGeom prst="line">
              <a:avLst/>
            </a:prstGeom>
            <a:ln w="9525" cap="flat" cmpd="sng">
              <a:solidFill>
                <a:schemeClr val="accent2"/>
              </a:solidFill>
              <a:prstDash val="solid"/>
              <a:headEnd type="none" w="med" len="med"/>
              <a:tailEnd type="stealth" w="sm" len="lg"/>
            </a:ln>
          </p:spPr>
        </p:sp>
        <p:sp>
          <p:nvSpPr>
            <p:cNvPr id="18496" name="Text Box 121"/>
            <p:cNvSpPr txBox="1"/>
            <p:nvPr/>
          </p:nvSpPr>
          <p:spPr>
            <a:xfrm>
              <a:off x="3111" y="2604"/>
              <a:ext cx="416" cy="214"/>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误差</a:t>
              </a:r>
              <a:endParaRPr lang="zh-CN" altLang="en-US" sz="1800" dirty="0">
                <a:latin typeface="Times New Roman" panose="02020603050405020304" pitchFamily="18" charset="0"/>
              </a:endParaRPr>
            </a:p>
          </p:txBody>
        </p:sp>
        <p:sp>
          <p:nvSpPr>
            <p:cNvPr id="18497" name="Line 122"/>
            <p:cNvSpPr/>
            <p:nvPr/>
          </p:nvSpPr>
          <p:spPr>
            <a:xfrm flipV="1">
              <a:off x="3547" y="2805"/>
              <a:ext cx="308" cy="409"/>
            </a:xfrm>
            <a:prstGeom prst="line">
              <a:avLst/>
            </a:prstGeom>
            <a:ln w="9525" cap="flat" cmpd="sng">
              <a:solidFill>
                <a:schemeClr val="accent2"/>
              </a:solidFill>
              <a:prstDash val="solid"/>
              <a:headEnd type="none" w="med" len="med"/>
              <a:tailEnd type="none" w="med" len="med"/>
            </a:ln>
          </p:spPr>
        </p:sp>
        <p:sp>
          <p:nvSpPr>
            <p:cNvPr id="18498" name="Line 123"/>
            <p:cNvSpPr/>
            <p:nvPr/>
          </p:nvSpPr>
          <p:spPr>
            <a:xfrm>
              <a:off x="3855" y="2805"/>
              <a:ext cx="0" cy="209"/>
            </a:xfrm>
            <a:prstGeom prst="line">
              <a:avLst/>
            </a:prstGeom>
            <a:ln w="9525" cap="flat" cmpd="sng">
              <a:solidFill>
                <a:schemeClr val="accent2"/>
              </a:solidFill>
              <a:prstDash val="solid"/>
              <a:headEnd type="none" w="med" len="med"/>
              <a:tailEnd type="none" w="med" len="med"/>
            </a:ln>
          </p:spPr>
        </p:sp>
        <p:sp>
          <p:nvSpPr>
            <p:cNvPr id="18499" name="Line 124"/>
            <p:cNvSpPr/>
            <p:nvPr/>
          </p:nvSpPr>
          <p:spPr>
            <a:xfrm flipV="1">
              <a:off x="3855" y="2797"/>
              <a:ext cx="109" cy="225"/>
            </a:xfrm>
            <a:prstGeom prst="line">
              <a:avLst/>
            </a:prstGeom>
            <a:ln w="9525" cap="flat" cmpd="sng">
              <a:solidFill>
                <a:schemeClr val="accent2"/>
              </a:solidFill>
              <a:prstDash val="solid"/>
              <a:headEnd type="none" w="med" len="med"/>
              <a:tailEnd type="none" w="med" len="med"/>
            </a:ln>
          </p:spPr>
        </p:sp>
        <p:sp>
          <p:nvSpPr>
            <p:cNvPr id="18500" name="Line 125"/>
            <p:cNvSpPr/>
            <p:nvPr/>
          </p:nvSpPr>
          <p:spPr>
            <a:xfrm>
              <a:off x="3964" y="2797"/>
              <a:ext cx="0" cy="217"/>
            </a:xfrm>
            <a:prstGeom prst="line">
              <a:avLst/>
            </a:prstGeom>
            <a:ln w="9525" cap="flat" cmpd="sng">
              <a:solidFill>
                <a:schemeClr val="accent2"/>
              </a:solidFill>
              <a:prstDash val="solid"/>
              <a:headEnd type="none" w="med" len="med"/>
              <a:tailEnd type="none" w="med" len="med"/>
            </a:ln>
          </p:spPr>
        </p:sp>
        <p:sp>
          <p:nvSpPr>
            <p:cNvPr id="18501" name="Line 126"/>
            <p:cNvSpPr/>
            <p:nvPr/>
          </p:nvSpPr>
          <p:spPr>
            <a:xfrm flipV="1">
              <a:off x="3964" y="2805"/>
              <a:ext cx="134" cy="209"/>
            </a:xfrm>
            <a:prstGeom prst="line">
              <a:avLst/>
            </a:prstGeom>
            <a:ln w="9525" cap="flat" cmpd="sng">
              <a:solidFill>
                <a:schemeClr val="accent2"/>
              </a:solidFill>
              <a:prstDash val="solid"/>
              <a:headEnd type="none" w="med" len="med"/>
              <a:tailEnd type="none" w="med" len="med"/>
            </a:ln>
          </p:spPr>
        </p:sp>
        <p:sp>
          <p:nvSpPr>
            <p:cNvPr id="18502" name="Line 127"/>
            <p:cNvSpPr/>
            <p:nvPr/>
          </p:nvSpPr>
          <p:spPr>
            <a:xfrm>
              <a:off x="4098" y="2805"/>
              <a:ext cx="0" cy="209"/>
            </a:xfrm>
            <a:prstGeom prst="line">
              <a:avLst/>
            </a:prstGeom>
            <a:ln w="9525" cap="flat" cmpd="sng">
              <a:solidFill>
                <a:schemeClr val="accent2"/>
              </a:solidFill>
              <a:prstDash val="solid"/>
              <a:headEnd type="none" w="med" len="med"/>
              <a:tailEnd type="none" w="med" len="med"/>
            </a:ln>
          </p:spPr>
        </p:sp>
        <p:sp>
          <p:nvSpPr>
            <p:cNvPr id="18503" name="Line 128"/>
            <p:cNvSpPr/>
            <p:nvPr/>
          </p:nvSpPr>
          <p:spPr>
            <a:xfrm flipV="1">
              <a:off x="4098" y="2805"/>
              <a:ext cx="125" cy="209"/>
            </a:xfrm>
            <a:prstGeom prst="line">
              <a:avLst/>
            </a:prstGeom>
            <a:ln w="9525" cap="flat" cmpd="sng">
              <a:solidFill>
                <a:schemeClr val="accent2"/>
              </a:solidFill>
              <a:prstDash val="solid"/>
              <a:headEnd type="none" w="med" len="med"/>
              <a:tailEnd type="none" w="med" len="med"/>
            </a:ln>
          </p:spPr>
        </p:sp>
        <p:sp>
          <p:nvSpPr>
            <p:cNvPr id="18504" name="Line 129"/>
            <p:cNvSpPr/>
            <p:nvPr/>
          </p:nvSpPr>
          <p:spPr>
            <a:xfrm>
              <a:off x="4223" y="2814"/>
              <a:ext cx="0" cy="209"/>
            </a:xfrm>
            <a:prstGeom prst="line">
              <a:avLst/>
            </a:prstGeom>
            <a:ln w="9525" cap="flat" cmpd="sng">
              <a:solidFill>
                <a:schemeClr val="accent2"/>
              </a:solidFill>
              <a:prstDash val="solid"/>
              <a:headEnd type="none" w="med" len="med"/>
              <a:tailEnd type="none" w="med" len="med"/>
            </a:ln>
          </p:spPr>
        </p:sp>
        <p:sp>
          <p:nvSpPr>
            <p:cNvPr id="18505" name="Line 130"/>
            <p:cNvSpPr/>
            <p:nvPr/>
          </p:nvSpPr>
          <p:spPr>
            <a:xfrm flipV="1">
              <a:off x="4223" y="2805"/>
              <a:ext cx="117" cy="209"/>
            </a:xfrm>
            <a:prstGeom prst="line">
              <a:avLst/>
            </a:prstGeom>
            <a:ln w="9525" cap="flat" cmpd="sng">
              <a:solidFill>
                <a:schemeClr val="accent2"/>
              </a:solidFill>
              <a:prstDash val="solid"/>
              <a:headEnd type="none" w="med" len="med"/>
              <a:tailEnd type="none" w="med" len="med"/>
            </a:ln>
          </p:spPr>
        </p:sp>
        <p:sp>
          <p:nvSpPr>
            <p:cNvPr id="18506" name="Line 131"/>
            <p:cNvSpPr/>
            <p:nvPr/>
          </p:nvSpPr>
          <p:spPr>
            <a:xfrm>
              <a:off x="4340" y="2805"/>
              <a:ext cx="0" cy="209"/>
            </a:xfrm>
            <a:prstGeom prst="line">
              <a:avLst/>
            </a:prstGeom>
            <a:ln w="9525" cap="flat" cmpd="sng">
              <a:solidFill>
                <a:schemeClr val="accent2"/>
              </a:solidFill>
              <a:prstDash val="solid"/>
              <a:headEnd type="none" w="med" len="med"/>
              <a:tailEnd type="none" w="med" len="med"/>
            </a:ln>
          </p:spPr>
        </p:sp>
        <p:sp>
          <p:nvSpPr>
            <p:cNvPr id="18507" name="Line 132"/>
            <p:cNvSpPr/>
            <p:nvPr/>
          </p:nvSpPr>
          <p:spPr>
            <a:xfrm flipV="1">
              <a:off x="4340" y="2797"/>
              <a:ext cx="108" cy="217"/>
            </a:xfrm>
            <a:prstGeom prst="line">
              <a:avLst/>
            </a:prstGeom>
            <a:ln w="9525" cap="flat" cmpd="sng">
              <a:solidFill>
                <a:schemeClr val="accent2"/>
              </a:solidFill>
              <a:prstDash val="solid"/>
              <a:headEnd type="none" w="med" len="med"/>
              <a:tailEnd type="none" w="med" len="med"/>
            </a:ln>
          </p:spPr>
        </p:sp>
        <p:sp>
          <p:nvSpPr>
            <p:cNvPr id="18508" name="Line 133"/>
            <p:cNvSpPr/>
            <p:nvPr/>
          </p:nvSpPr>
          <p:spPr>
            <a:xfrm>
              <a:off x="4448" y="2805"/>
              <a:ext cx="0" cy="209"/>
            </a:xfrm>
            <a:prstGeom prst="line">
              <a:avLst/>
            </a:prstGeom>
            <a:ln w="9525" cap="flat" cmpd="sng">
              <a:solidFill>
                <a:schemeClr val="accent2"/>
              </a:solidFill>
              <a:prstDash val="solid"/>
              <a:headEnd type="none" w="med" len="med"/>
              <a:tailEnd type="none" w="med" len="med"/>
            </a:ln>
          </p:spPr>
        </p:sp>
        <p:sp>
          <p:nvSpPr>
            <p:cNvPr id="18509" name="Line 134"/>
            <p:cNvSpPr/>
            <p:nvPr/>
          </p:nvSpPr>
          <p:spPr>
            <a:xfrm flipV="1">
              <a:off x="4448" y="2805"/>
              <a:ext cx="117" cy="209"/>
            </a:xfrm>
            <a:prstGeom prst="line">
              <a:avLst/>
            </a:prstGeom>
            <a:ln w="9525" cap="flat" cmpd="sng">
              <a:solidFill>
                <a:schemeClr val="accent2"/>
              </a:solidFill>
              <a:prstDash val="solid"/>
              <a:headEnd type="none" w="med" len="med"/>
              <a:tailEnd type="none" w="med" len="med"/>
            </a:ln>
          </p:spPr>
        </p:sp>
        <p:sp>
          <p:nvSpPr>
            <p:cNvPr id="18510" name="Line 135"/>
            <p:cNvSpPr/>
            <p:nvPr/>
          </p:nvSpPr>
          <p:spPr>
            <a:xfrm>
              <a:off x="4565" y="2805"/>
              <a:ext cx="0" cy="209"/>
            </a:xfrm>
            <a:prstGeom prst="line">
              <a:avLst/>
            </a:prstGeom>
            <a:ln w="9525" cap="flat" cmpd="sng">
              <a:solidFill>
                <a:schemeClr val="accent2"/>
              </a:solidFill>
              <a:prstDash val="solid"/>
              <a:headEnd type="none" w="med" len="med"/>
              <a:tailEnd type="none" w="med" len="med"/>
            </a:ln>
          </p:spPr>
        </p:sp>
        <p:sp>
          <p:nvSpPr>
            <p:cNvPr id="18511" name="Line 136"/>
            <p:cNvSpPr/>
            <p:nvPr/>
          </p:nvSpPr>
          <p:spPr>
            <a:xfrm flipV="1">
              <a:off x="4565" y="2805"/>
              <a:ext cx="125" cy="209"/>
            </a:xfrm>
            <a:prstGeom prst="line">
              <a:avLst/>
            </a:prstGeom>
            <a:ln w="9525" cap="flat" cmpd="sng">
              <a:solidFill>
                <a:schemeClr val="accent2"/>
              </a:solidFill>
              <a:prstDash val="solid"/>
              <a:headEnd type="none" w="med" len="med"/>
              <a:tailEnd type="none" w="med" len="med"/>
            </a:ln>
          </p:spPr>
        </p:sp>
        <p:sp>
          <p:nvSpPr>
            <p:cNvPr id="18512" name="Line 137"/>
            <p:cNvSpPr/>
            <p:nvPr/>
          </p:nvSpPr>
          <p:spPr>
            <a:xfrm>
              <a:off x="3547" y="2897"/>
              <a:ext cx="1619" cy="0"/>
            </a:xfrm>
            <a:prstGeom prst="line">
              <a:avLst/>
            </a:prstGeom>
            <a:ln w="9525" cap="flat" cmpd="sng">
              <a:solidFill>
                <a:srgbClr val="FF0000"/>
              </a:solidFill>
              <a:prstDash val="dash"/>
              <a:headEnd type="none" w="med" len="med"/>
              <a:tailEnd type="none" w="med" len="med"/>
            </a:ln>
          </p:spPr>
        </p:sp>
        <p:sp>
          <p:nvSpPr>
            <p:cNvPr id="18513" name="Text Box 138"/>
            <p:cNvSpPr txBox="1"/>
            <p:nvPr/>
          </p:nvSpPr>
          <p:spPr>
            <a:xfrm>
              <a:off x="3742" y="3566"/>
              <a:ext cx="984" cy="265"/>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偏移误差  </a:t>
              </a:r>
              <a:endParaRPr lang="zh-CN" altLang="en-US" sz="2400" dirty="0">
                <a:solidFill>
                  <a:srgbClr val="000099"/>
                </a:solidFill>
                <a:latin typeface="Times New Roman" panose="02020603050405020304" pitchFamily="18" charset="0"/>
              </a:endParaRPr>
            </a:p>
          </p:txBody>
        </p:sp>
        <p:sp>
          <p:nvSpPr>
            <p:cNvPr id="18514" name="Text Box 139"/>
            <p:cNvSpPr txBox="1"/>
            <p:nvPr/>
          </p:nvSpPr>
          <p:spPr>
            <a:xfrm>
              <a:off x="4231" y="2417"/>
              <a:ext cx="284" cy="214"/>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(a)</a:t>
              </a:r>
              <a:endParaRPr lang="en-US" altLang="zh-CN" sz="1800" dirty="0">
                <a:solidFill>
                  <a:srgbClr val="FF0000"/>
                </a:solidFill>
                <a:latin typeface="Times New Roman" panose="02020603050405020304" pitchFamily="18" charset="0"/>
              </a:endParaRPr>
            </a:p>
          </p:txBody>
        </p:sp>
        <p:sp>
          <p:nvSpPr>
            <p:cNvPr id="18515" name="Text Box 140"/>
            <p:cNvSpPr txBox="1"/>
            <p:nvPr/>
          </p:nvSpPr>
          <p:spPr>
            <a:xfrm>
              <a:off x="4221" y="3271"/>
              <a:ext cx="292" cy="214"/>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(b)</a:t>
              </a:r>
              <a:endParaRPr lang="en-US" altLang="zh-CN" sz="1800" dirty="0">
                <a:solidFill>
                  <a:srgbClr val="FF0000"/>
                </a:solidFill>
                <a:latin typeface="Times New Roman" panose="02020603050405020304" pitchFamily="18" charset="0"/>
              </a:endParaRPr>
            </a:p>
          </p:txBody>
        </p:sp>
        <p:sp>
          <p:nvSpPr>
            <p:cNvPr id="18516" name="Line 141"/>
            <p:cNvSpPr/>
            <p:nvPr/>
          </p:nvSpPr>
          <p:spPr>
            <a:xfrm>
              <a:off x="3380" y="2429"/>
              <a:ext cx="167" cy="0"/>
            </a:xfrm>
            <a:prstGeom prst="line">
              <a:avLst/>
            </a:prstGeom>
            <a:ln w="9525" cap="flat" cmpd="sng">
              <a:solidFill>
                <a:srgbClr val="FF0000"/>
              </a:solidFill>
              <a:prstDash val="solid"/>
              <a:headEnd type="none" w="med" len="med"/>
              <a:tailEnd type="stealth" w="sm" len="lg"/>
            </a:ln>
          </p:spPr>
        </p:sp>
        <p:grpSp>
          <p:nvGrpSpPr>
            <p:cNvPr id="18517" name="Group 149"/>
            <p:cNvGrpSpPr/>
            <p:nvPr/>
          </p:nvGrpSpPr>
          <p:grpSpPr>
            <a:xfrm>
              <a:off x="4791" y="645"/>
              <a:ext cx="816" cy="231"/>
              <a:chOff x="4791" y="645"/>
              <a:chExt cx="816" cy="231"/>
            </a:xfrm>
          </p:grpSpPr>
          <p:sp>
            <p:nvSpPr>
              <p:cNvPr id="18518" name="AutoShape 146"/>
              <p:cNvSpPr/>
              <p:nvPr/>
            </p:nvSpPr>
            <p:spPr>
              <a:xfrm>
                <a:off x="4791" y="645"/>
                <a:ext cx="736" cy="231"/>
              </a:xfrm>
              <a:prstGeom prst="wedgeRoundRectCallout">
                <a:avLst>
                  <a:gd name="adj1" fmla="val -97824"/>
                  <a:gd name="adj2" fmla="val 18506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258064" name="Text Box 144"/>
              <p:cNvSpPr txBox="1">
                <a:spLocks noChangeArrowheads="1"/>
              </p:cNvSpPr>
              <p:nvPr/>
            </p:nvSpPr>
            <p:spPr bwMode="auto">
              <a:xfrm>
                <a:off x="4791" y="645"/>
                <a:ext cx="816" cy="231"/>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理想曲线</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sp>
        <p:nvSpPr>
          <p:cNvPr id="2258072" name="Text Box 152"/>
          <p:cNvSpPr txBox="1"/>
          <p:nvPr/>
        </p:nvSpPr>
        <p:spPr>
          <a:xfrm>
            <a:off x="323850" y="4206875"/>
            <a:ext cx="3743325" cy="1917700"/>
          </a:xfrm>
          <a:prstGeom prst="rect">
            <a:avLst/>
          </a:prstGeom>
          <a:noFill/>
          <a:ln w="9525">
            <a:noFill/>
          </a:ln>
        </p:spPr>
        <p:txBody>
          <a:bodyPr>
            <a:spAutoFit/>
          </a:bodyPr>
          <a:p>
            <a:pPr marL="447675" indent="-447675" eaLnBrk="1" hangingPunct="1">
              <a:spcBef>
                <a:spcPct val="30000"/>
              </a:spcBef>
              <a:buClr>
                <a:srgbClr val="FF0000"/>
              </a:buClr>
              <a:buFont typeface="Wingdings" panose="05000000000000000000" pitchFamily="2" charset="2"/>
              <a:buChar char="u"/>
            </a:pPr>
            <a:r>
              <a:rPr lang="zh-CN" altLang="en-US" sz="2400" dirty="0">
                <a:latin typeface="楷体_GB2312" pitchFamily="49" charset="-122"/>
              </a:rPr>
              <a:t>该误差主要是失调电压及温漂造成的。</a:t>
            </a:r>
            <a:endParaRPr lang="zh-CN" altLang="en-US" sz="2400" dirty="0">
              <a:latin typeface="楷体_GB2312" pitchFamily="49" charset="-122"/>
            </a:endParaRPr>
          </a:p>
          <a:p>
            <a:pPr marL="447675" indent="-447675" eaLnBrk="1" hangingPunct="1">
              <a:lnSpc>
                <a:spcPct val="90000"/>
              </a:lnSpc>
              <a:spcBef>
                <a:spcPct val="30000"/>
              </a:spcBef>
              <a:buClr>
                <a:srgbClr val="FF0000"/>
              </a:buClr>
              <a:buFont typeface="Wingdings" panose="05000000000000000000" pitchFamily="2" charset="2"/>
              <a:buChar char="u"/>
            </a:pPr>
            <a:r>
              <a:rPr lang="zh-CN" altLang="en-US" sz="2400" dirty="0">
                <a:latin typeface="楷体_GB2312" pitchFamily="49" charset="-122"/>
              </a:rPr>
              <a:t>一般来说，在一定温度下，偏移电压可以通过外电路予以抵消。</a:t>
            </a:r>
            <a:endParaRPr lang="zh-CN" altLang="en-US" sz="2400" dirty="0">
              <a:latin typeface="楷体_GB2312"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4931">
                                            <p:txEl>
                                              <p:charRg st="0" end="31"/>
                                            </p:txEl>
                                          </p:spTgt>
                                        </p:tgtEl>
                                        <p:attrNameLst>
                                          <p:attrName>style.visibility</p:attrName>
                                        </p:attrNameLst>
                                      </p:cBhvr>
                                      <p:to>
                                        <p:strVal val="visible"/>
                                      </p:to>
                                    </p:set>
                                    <p:animEffect transition="in" filter="dissolve">
                                      <p:cBhvr>
                                        <p:cTn id="7" dur="500"/>
                                        <p:tgtEl>
                                          <p:spTgt spid="124931">
                                            <p:txEl>
                                              <p:charRg st="0" end="3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4931">
                                            <p:txEl>
                                              <p:charRg st="31" end="101"/>
                                            </p:txEl>
                                          </p:spTgt>
                                        </p:tgtEl>
                                        <p:attrNameLst>
                                          <p:attrName>style.visibility</p:attrName>
                                        </p:attrNameLst>
                                      </p:cBhvr>
                                      <p:to>
                                        <p:strVal val="visible"/>
                                      </p:to>
                                    </p:set>
                                    <p:animEffect transition="in" filter="dissolve">
                                      <p:cBhvr>
                                        <p:cTn id="10" dur="500"/>
                                        <p:tgtEl>
                                          <p:spTgt spid="124931">
                                            <p:txEl>
                                              <p:charRg st="31" end="10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dissolve">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58072">
                                            <p:txEl>
                                              <p:charRg st="0" end="18"/>
                                            </p:txEl>
                                          </p:spTgt>
                                        </p:tgtEl>
                                        <p:attrNameLst>
                                          <p:attrName>style.visibility</p:attrName>
                                        </p:attrNameLst>
                                      </p:cBhvr>
                                      <p:to>
                                        <p:strVal val="visible"/>
                                      </p:to>
                                    </p:set>
                                    <p:animEffect transition="in" filter="dissolve">
                                      <p:cBhvr>
                                        <p:cTn id="20" dur="500"/>
                                        <p:tgtEl>
                                          <p:spTgt spid="2258072">
                                            <p:txEl>
                                              <p:charRg st="0" end="18"/>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58072">
                                            <p:txEl>
                                              <p:charRg st="18" end="47"/>
                                            </p:txEl>
                                          </p:spTgt>
                                        </p:tgtEl>
                                        <p:attrNameLst>
                                          <p:attrName>style.visibility</p:attrName>
                                        </p:attrNameLst>
                                      </p:cBhvr>
                                      <p:to>
                                        <p:strVal val="visible"/>
                                      </p:to>
                                    </p:set>
                                    <p:animEffect transition="in" filter="dissolve">
                                      <p:cBhvr>
                                        <p:cTn id="25" dur="500"/>
                                        <p:tgtEl>
                                          <p:spTgt spid="2258072">
                                            <p:txEl>
                                              <p:charRg st="18" end="4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8072" grpId="0" build="p"/>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 name="Group 89"/>
          <p:cNvGrpSpPr/>
          <p:nvPr/>
        </p:nvGrpSpPr>
        <p:grpSpPr>
          <a:xfrm>
            <a:off x="4895850" y="1657350"/>
            <a:ext cx="4122738" cy="3948113"/>
            <a:chOff x="3084" y="864"/>
            <a:chExt cx="2597" cy="2487"/>
          </a:xfrm>
        </p:grpSpPr>
        <p:sp>
          <p:nvSpPr>
            <p:cNvPr id="20488" name="Text Box 8"/>
            <p:cNvSpPr txBox="1"/>
            <p:nvPr/>
          </p:nvSpPr>
          <p:spPr>
            <a:xfrm>
              <a:off x="5420" y="2998"/>
              <a:ext cx="261" cy="231"/>
            </a:xfrm>
            <a:prstGeom prst="rect">
              <a:avLst/>
            </a:prstGeom>
            <a:noFill/>
            <a:ln w="9525">
              <a:noFill/>
            </a:ln>
          </p:spPr>
          <p:txBody>
            <a:bodyPr>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endParaRPr lang="en-US" altLang="zh-CN" sz="2000" i="1" baseline="-25000" dirty="0">
                <a:latin typeface="Times New Roman" panose="02020603050405020304" pitchFamily="18" charset="0"/>
              </a:endParaRPr>
            </a:p>
          </p:txBody>
        </p:sp>
        <p:sp>
          <p:nvSpPr>
            <p:cNvPr id="20489" name="Text Box 9"/>
            <p:cNvSpPr txBox="1"/>
            <p:nvPr/>
          </p:nvSpPr>
          <p:spPr>
            <a:xfrm>
              <a:off x="3084" y="864"/>
              <a:ext cx="245" cy="614"/>
            </a:xfrm>
            <a:prstGeom prst="rect">
              <a:avLst/>
            </a:prstGeom>
            <a:noFill/>
            <a:ln w="9525">
              <a:noFill/>
            </a:ln>
          </p:spPr>
          <p:txBody>
            <a:bodyPr wrap="none">
              <a:spAutoFit/>
            </a:bodyPr>
            <a:p>
              <a:pPr eaLnBrk="1" hangingPunct="1">
                <a:lnSpc>
                  <a:spcPct val="90000"/>
                </a:lnSpc>
              </a:pPr>
              <a:r>
                <a:rPr lang="zh-CN" altLang="en-US" sz="1600" dirty="0">
                  <a:latin typeface="Times New Roman" panose="02020603050405020304" pitchFamily="18" charset="0"/>
                </a:rPr>
                <a:t>输</a:t>
              </a:r>
              <a:endParaRPr lang="zh-CN" altLang="en-US" sz="1600" dirty="0">
                <a:latin typeface="Times New Roman" panose="02020603050405020304" pitchFamily="18" charset="0"/>
              </a:endParaRPr>
            </a:p>
            <a:p>
              <a:pPr eaLnBrk="1" hangingPunct="1">
                <a:lnSpc>
                  <a:spcPct val="90000"/>
                </a:lnSpc>
              </a:pPr>
              <a:r>
                <a:rPr lang="zh-CN" altLang="en-US" sz="1600" dirty="0">
                  <a:latin typeface="Times New Roman" panose="02020603050405020304" pitchFamily="18" charset="0"/>
                </a:rPr>
                <a:t>出</a:t>
              </a:r>
              <a:endParaRPr lang="zh-CN" altLang="en-US" sz="1600" dirty="0">
                <a:latin typeface="Times New Roman" panose="02020603050405020304" pitchFamily="18" charset="0"/>
              </a:endParaRPr>
            </a:p>
            <a:p>
              <a:pPr eaLnBrk="1" hangingPunct="1">
                <a:lnSpc>
                  <a:spcPct val="90000"/>
                </a:lnSpc>
              </a:pPr>
              <a:r>
                <a:rPr lang="zh-CN" altLang="en-US" sz="1600" dirty="0">
                  <a:latin typeface="Times New Roman" panose="02020603050405020304" pitchFamily="18" charset="0"/>
                </a:rPr>
                <a:t>数</a:t>
              </a:r>
              <a:endParaRPr lang="zh-CN" altLang="en-US" sz="1600" dirty="0">
                <a:latin typeface="Times New Roman" panose="02020603050405020304" pitchFamily="18" charset="0"/>
              </a:endParaRPr>
            </a:p>
            <a:p>
              <a:pPr eaLnBrk="1" hangingPunct="1">
                <a:lnSpc>
                  <a:spcPct val="90000"/>
                </a:lnSpc>
              </a:pPr>
              <a:r>
                <a:rPr lang="zh-CN" altLang="en-US" sz="1600" dirty="0">
                  <a:latin typeface="Times New Roman" panose="02020603050405020304" pitchFamily="18" charset="0"/>
                </a:rPr>
                <a:t>码</a:t>
              </a:r>
              <a:endParaRPr lang="zh-CN" altLang="en-US" sz="1600" dirty="0">
                <a:latin typeface="Times New Roman" panose="02020603050405020304" pitchFamily="18" charset="0"/>
              </a:endParaRPr>
            </a:p>
          </p:txBody>
        </p:sp>
        <p:sp>
          <p:nvSpPr>
            <p:cNvPr id="20490" name="Text Box 10"/>
            <p:cNvSpPr txBox="1"/>
            <p:nvPr/>
          </p:nvSpPr>
          <p:spPr>
            <a:xfrm>
              <a:off x="3160" y="2816"/>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001</a:t>
              </a:r>
              <a:endParaRPr lang="en-US" altLang="zh-CN" sz="1400" dirty="0">
                <a:latin typeface="Times New Roman" panose="02020603050405020304" pitchFamily="18" charset="0"/>
              </a:endParaRPr>
            </a:p>
          </p:txBody>
        </p:sp>
        <p:sp>
          <p:nvSpPr>
            <p:cNvPr id="20491" name="Text Box 11"/>
            <p:cNvSpPr txBox="1"/>
            <p:nvPr/>
          </p:nvSpPr>
          <p:spPr>
            <a:xfrm>
              <a:off x="3164" y="2609"/>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010</a:t>
              </a:r>
              <a:endParaRPr lang="en-US" altLang="zh-CN" sz="1400" dirty="0">
                <a:latin typeface="Times New Roman" panose="02020603050405020304" pitchFamily="18" charset="0"/>
              </a:endParaRPr>
            </a:p>
          </p:txBody>
        </p:sp>
        <p:sp>
          <p:nvSpPr>
            <p:cNvPr id="20492" name="Text Box 12"/>
            <p:cNvSpPr txBox="1"/>
            <p:nvPr/>
          </p:nvSpPr>
          <p:spPr>
            <a:xfrm>
              <a:off x="3167" y="2380"/>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011</a:t>
              </a:r>
              <a:endParaRPr lang="en-US" altLang="zh-CN" sz="1400" dirty="0">
                <a:latin typeface="Times New Roman" panose="02020603050405020304" pitchFamily="18" charset="0"/>
              </a:endParaRPr>
            </a:p>
          </p:txBody>
        </p:sp>
        <p:sp>
          <p:nvSpPr>
            <p:cNvPr id="20493" name="Text Box 13"/>
            <p:cNvSpPr txBox="1"/>
            <p:nvPr/>
          </p:nvSpPr>
          <p:spPr>
            <a:xfrm>
              <a:off x="3160" y="2159"/>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100</a:t>
              </a:r>
              <a:endParaRPr lang="en-US" altLang="zh-CN" sz="1400" dirty="0">
                <a:latin typeface="Times New Roman" panose="02020603050405020304" pitchFamily="18" charset="0"/>
              </a:endParaRPr>
            </a:p>
          </p:txBody>
        </p:sp>
        <p:sp>
          <p:nvSpPr>
            <p:cNvPr id="20494" name="Text Box 14"/>
            <p:cNvSpPr txBox="1"/>
            <p:nvPr/>
          </p:nvSpPr>
          <p:spPr>
            <a:xfrm>
              <a:off x="3172" y="1945"/>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101</a:t>
              </a:r>
              <a:endParaRPr lang="en-US" altLang="zh-CN" sz="1400" dirty="0">
                <a:latin typeface="Times New Roman" panose="02020603050405020304" pitchFamily="18" charset="0"/>
              </a:endParaRPr>
            </a:p>
          </p:txBody>
        </p:sp>
        <p:sp>
          <p:nvSpPr>
            <p:cNvPr id="20495" name="Text Box 15"/>
            <p:cNvSpPr txBox="1"/>
            <p:nvPr/>
          </p:nvSpPr>
          <p:spPr>
            <a:xfrm>
              <a:off x="3166" y="1716"/>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110</a:t>
              </a:r>
              <a:endParaRPr lang="en-US" altLang="zh-CN" sz="1400" dirty="0">
                <a:latin typeface="Times New Roman" panose="02020603050405020304" pitchFamily="18" charset="0"/>
              </a:endParaRPr>
            </a:p>
          </p:txBody>
        </p:sp>
        <p:sp>
          <p:nvSpPr>
            <p:cNvPr id="20496" name="Text Box 16"/>
            <p:cNvSpPr txBox="1"/>
            <p:nvPr/>
          </p:nvSpPr>
          <p:spPr>
            <a:xfrm>
              <a:off x="3177" y="1486"/>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111</a:t>
              </a:r>
              <a:endParaRPr lang="en-US" altLang="zh-CN" sz="1400" dirty="0">
                <a:latin typeface="Times New Roman" panose="02020603050405020304" pitchFamily="18" charset="0"/>
              </a:endParaRPr>
            </a:p>
          </p:txBody>
        </p:sp>
        <p:sp>
          <p:nvSpPr>
            <p:cNvPr id="20497" name="Line 17"/>
            <p:cNvSpPr/>
            <p:nvPr/>
          </p:nvSpPr>
          <p:spPr>
            <a:xfrm>
              <a:off x="3433" y="3131"/>
              <a:ext cx="1964" cy="0"/>
            </a:xfrm>
            <a:prstGeom prst="line">
              <a:avLst/>
            </a:prstGeom>
            <a:ln w="9525" cap="flat" cmpd="sng">
              <a:solidFill>
                <a:srgbClr val="3333FF"/>
              </a:solidFill>
              <a:prstDash val="solid"/>
              <a:headEnd type="none" w="med" len="med"/>
              <a:tailEnd type="stealth" w="sm" len="lg"/>
            </a:ln>
          </p:spPr>
        </p:sp>
        <p:sp>
          <p:nvSpPr>
            <p:cNvPr id="20498" name="Line 18"/>
            <p:cNvSpPr/>
            <p:nvPr/>
          </p:nvSpPr>
          <p:spPr>
            <a:xfrm flipV="1">
              <a:off x="3433" y="913"/>
              <a:ext cx="0" cy="2220"/>
            </a:xfrm>
            <a:prstGeom prst="line">
              <a:avLst/>
            </a:prstGeom>
            <a:ln w="9525" cap="flat" cmpd="sng">
              <a:solidFill>
                <a:srgbClr val="3333FF"/>
              </a:solidFill>
              <a:prstDash val="solid"/>
              <a:headEnd type="none" w="med" len="med"/>
              <a:tailEnd type="stealth" w="sm" len="lg"/>
            </a:ln>
          </p:spPr>
        </p:sp>
        <p:sp>
          <p:nvSpPr>
            <p:cNvPr id="20499" name="Line 19"/>
            <p:cNvSpPr/>
            <p:nvPr/>
          </p:nvSpPr>
          <p:spPr>
            <a:xfrm>
              <a:off x="3434" y="2891"/>
              <a:ext cx="57" cy="0"/>
            </a:xfrm>
            <a:prstGeom prst="line">
              <a:avLst/>
            </a:prstGeom>
            <a:ln w="9525" cap="flat" cmpd="sng">
              <a:solidFill>
                <a:srgbClr val="3333FF"/>
              </a:solidFill>
              <a:prstDash val="solid"/>
              <a:headEnd type="none" w="med" len="med"/>
              <a:tailEnd type="none" w="med" len="med"/>
            </a:ln>
          </p:spPr>
        </p:sp>
        <p:sp>
          <p:nvSpPr>
            <p:cNvPr id="20500" name="Line 20"/>
            <p:cNvSpPr/>
            <p:nvPr/>
          </p:nvSpPr>
          <p:spPr>
            <a:xfrm>
              <a:off x="3434" y="2690"/>
              <a:ext cx="72" cy="0"/>
            </a:xfrm>
            <a:prstGeom prst="line">
              <a:avLst/>
            </a:prstGeom>
            <a:ln w="9525" cap="flat" cmpd="sng">
              <a:solidFill>
                <a:srgbClr val="3333FF"/>
              </a:solidFill>
              <a:prstDash val="solid"/>
              <a:headEnd type="none" w="med" len="med"/>
              <a:tailEnd type="none" w="med" len="med"/>
            </a:ln>
          </p:spPr>
        </p:sp>
        <p:sp>
          <p:nvSpPr>
            <p:cNvPr id="20501" name="Line 21"/>
            <p:cNvSpPr/>
            <p:nvPr/>
          </p:nvSpPr>
          <p:spPr>
            <a:xfrm>
              <a:off x="3433" y="2465"/>
              <a:ext cx="72" cy="0"/>
            </a:xfrm>
            <a:prstGeom prst="line">
              <a:avLst/>
            </a:prstGeom>
            <a:ln w="9525" cap="flat" cmpd="sng">
              <a:solidFill>
                <a:srgbClr val="3333FF"/>
              </a:solidFill>
              <a:prstDash val="solid"/>
              <a:headEnd type="none" w="med" len="med"/>
              <a:tailEnd type="none" w="med" len="med"/>
            </a:ln>
          </p:spPr>
        </p:sp>
        <p:sp>
          <p:nvSpPr>
            <p:cNvPr id="20502" name="Line 22"/>
            <p:cNvSpPr/>
            <p:nvPr/>
          </p:nvSpPr>
          <p:spPr>
            <a:xfrm>
              <a:off x="3438" y="2246"/>
              <a:ext cx="72" cy="0"/>
            </a:xfrm>
            <a:prstGeom prst="line">
              <a:avLst/>
            </a:prstGeom>
            <a:ln w="9525" cap="flat" cmpd="sng">
              <a:solidFill>
                <a:srgbClr val="3333FF"/>
              </a:solidFill>
              <a:prstDash val="solid"/>
              <a:headEnd type="none" w="med" len="med"/>
              <a:tailEnd type="none" w="med" len="med"/>
            </a:ln>
          </p:spPr>
        </p:sp>
        <p:sp>
          <p:nvSpPr>
            <p:cNvPr id="20503" name="Line 23"/>
            <p:cNvSpPr/>
            <p:nvPr/>
          </p:nvSpPr>
          <p:spPr>
            <a:xfrm>
              <a:off x="3433" y="2021"/>
              <a:ext cx="72" cy="0"/>
            </a:xfrm>
            <a:prstGeom prst="line">
              <a:avLst/>
            </a:prstGeom>
            <a:ln w="9525" cap="flat" cmpd="sng">
              <a:solidFill>
                <a:srgbClr val="3333FF"/>
              </a:solidFill>
              <a:prstDash val="solid"/>
              <a:headEnd type="none" w="med" len="med"/>
              <a:tailEnd type="none" w="med" len="med"/>
            </a:ln>
          </p:spPr>
        </p:sp>
        <p:sp>
          <p:nvSpPr>
            <p:cNvPr id="20504" name="Line 24"/>
            <p:cNvSpPr/>
            <p:nvPr/>
          </p:nvSpPr>
          <p:spPr>
            <a:xfrm flipV="1">
              <a:off x="3446" y="1425"/>
              <a:ext cx="601" cy="1706"/>
            </a:xfrm>
            <a:prstGeom prst="line">
              <a:avLst/>
            </a:prstGeom>
            <a:ln w="9525" cap="flat" cmpd="sng">
              <a:solidFill>
                <a:srgbClr val="FF00FF"/>
              </a:solidFill>
              <a:prstDash val="dash"/>
              <a:headEnd type="none" w="med" len="med"/>
              <a:tailEnd type="none" w="med" len="med"/>
            </a:ln>
          </p:spPr>
        </p:sp>
        <p:sp>
          <p:nvSpPr>
            <p:cNvPr id="20505" name="Line 25"/>
            <p:cNvSpPr/>
            <p:nvPr/>
          </p:nvSpPr>
          <p:spPr>
            <a:xfrm flipV="1">
              <a:off x="3496" y="2893"/>
              <a:ext cx="0" cy="238"/>
            </a:xfrm>
            <a:prstGeom prst="line">
              <a:avLst/>
            </a:prstGeom>
            <a:ln w="25400" cap="flat" cmpd="sng">
              <a:solidFill>
                <a:srgbClr val="333300"/>
              </a:solidFill>
              <a:prstDash val="solid"/>
              <a:headEnd type="none" w="med" len="med"/>
              <a:tailEnd type="none" w="med" len="med"/>
            </a:ln>
          </p:spPr>
        </p:sp>
        <p:sp>
          <p:nvSpPr>
            <p:cNvPr id="20506" name="Line 26"/>
            <p:cNvSpPr/>
            <p:nvPr/>
          </p:nvSpPr>
          <p:spPr>
            <a:xfrm flipV="1">
              <a:off x="3489" y="2893"/>
              <a:ext cx="78" cy="0"/>
            </a:xfrm>
            <a:prstGeom prst="line">
              <a:avLst/>
            </a:prstGeom>
            <a:ln w="25400" cap="flat" cmpd="sng">
              <a:solidFill>
                <a:srgbClr val="333300"/>
              </a:solidFill>
              <a:prstDash val="solid"/>
              <a:headEnd type="none" w="med" len="med"/>
              <a:tailEnd type="none" w="med" len="med"/>
            </a:ln>
          </p:spPr>
        </p:sp>
        <p:sp>
          <p:nvSpPr>
            <p:cNvPr id="20507" name="Line 27"/>
            <p:cNvSpPr/>
            <p:nvPr/>
          </p:nvSpPr>
          <p:spPr>
            <a:xfrm flipH="1">
              <a:off x="3427" y="1805"/>
              <a:ext cx="62" cy="3"/>
            </a:xfrm>
            <a:prstGeom prst="line">
              <a:avLst/>
            </a:prstGeom>
            <a:ln w="9525" cap="flat" cmpd="sng">
              <a:solidFill>
                <a:schemeClr val="accent2"/>
              </a:solidFill>
              <a:prstDash val="solid"/>
              <a:headEnd type="none" w="med" len="med"/>
              <a:tailEnd type="none" w="med" len="med"/>
            </a:ln>
          </p:spPr>
        </p:sp>
        <p:sp>
          <p:nvSpPr>
            <p:cNvPr id="20508" name="Line 28"/>
            <p:cNvSpPr/>
            <p:nvPr/>
          </p:nvSpPr>
          <p:spPr>
            <a:xfrm flipH="1">
              <a:off x="3433" y="1581"/>
              <a:ext cx="56" cy="0"/>
            </a:xfrm>
            <a:prstGeom prst="line">
              <a:avLst/>
            </a:prstGeom>
            <a:ln w="9525" cap="flat" cmpd="sng">
              <a:solidFill>
                <a:schemeClr val="accent2"/>
              </a:solidFill>
              <a:prstDash val="solid"/>
              <a:headEnd type="none" w="med" len="med"/>
              <a:tailEnd type="none" w="med" len="med"/>
            </a:ln>
          </p:spPr>
        </p:sp>
        <p:sp>
          <p:nvSpPr>
            <p:cNvPr id="20509" name="Line 29"/>
            <p:cNvSpPr/>
            <p:nvPr/>
          </p:nvSpPr>
          <p:spPr>
            <a:xfrm flipV="1">
              <a:off x="3433" y="1465"/>
              <a:ext cx="1670" cy="1666"/>
            </a:xfrm>
            <a:prstGeom prst="line">
              <a:avLst/>
            </a:prstGeom>
            <a:ln w="9525" cap="flat" cmpd="sng">
              <a:solidFill>
                <a:srgbClr val="FF00FF"/>
              </a:solidFill>
              <a:prstDash val="dash"/>
              <a:headEnd type="none" w="med" len="med"/>
              <a:tailEnd type="none" w="med" len="med"/>
            </a:ln>
          </p:spPr>
        </p:sp>
        <p:sp>
          <p:nvSpPr>
            <p:cNvPr id="20510" name="Line 30"/>
            <p:cNvSpPr/>
            <p:nvPr/>
          </p:nvSpPr>
          <p:spPr>
            <a:xfrm flipV="1">
              <a:off x="3433" y="2136"/>
              <a:ext cx="1957" cy="995"/>
            </a:xfrm>
            <a:prstGeom prst="line">
              <a:avLst/>
            </a:prstGeom>
            <a:ln w="9525" cap="flat" cmpd="sng">
              <a:solidFill>
                <a:srgbClr val="FF00FF"/>
              </a:solidFill>
              <a:prstDash val="dash"/>
              <a:headEnd type="none" w="med" len="med"/>
              <a:tailEnd type="none" w="med" len="med"/>
            </a:ln>
          </p:spPr>
        </p:sp>
        <p:sp>
          <p:nvSpPr>
            <p:cNvPr id="20511" name="Line 31"/>
            <p:cNvSpPr/>
            <p:nvPr/>
          </p:nvSpPr>
          <p:spPr>
            <a:xfrm flipV="1">
              <a:off x="3703" y="2887"/>
              <a:ext cx="3" cy="244"/>
            </a:xfrm>
            <a:prstGeom prst="line">
              <a:avLst/>
            </a:prstGeom>
            <a:ln w="19050" cap="flat" cmpd="sng">
              <a:solidFill>
                <a:srgbClr val="008000"/>
              </a:solidFill>
              <a:prstDash val="solid"/>
              <a:headEnd type="none" w="med" len="med"/>
              <a:tailEnd type="none" w="med" len="med"/>
            </a:ln>
          </p:spPr>
        </p:sp>
        <p:sp>
          <p:nvSpPr>
            <p:cNvPr id="20512" name="Line 32"/>
            <p:cNvSpPr/>
            <p:nvPr/>
          </p:nvSpPr>
          <p:spPr>
            <a:xfrm>
              <a:off x="3703" y="2891"/>
              <a:ext cx="430" cy="0"/>
            </a:xfrm>
            <a:prstGeom prst="line">
              <a:avLst/>
            </a:prstGeom>
            <a:ln w="19050" cap="flat" cmpd="sng">
              <a:solidFill>
                <a:srgbClr val="008000"/>
              </a:solidFill>
              <a:prstDash val="solid"/>
              <a:headEnd type="none" w="med" len="med"/>
              <a:tailEnd type="none" w="med" len="med"/>
            </a:ln>
          </p:spPr>
        </p:sp>
        <p:sp>
          <p:nvSpPr>
            <p:cNvPr id="20513" name="Line 33"/>
            <p:cNvSpPr/>
            <p:nvPr/>
          </p:nvSpPr>
          <p:spPr>
            <a:xfrm flipV="1">
              <a:off x="4133" y="2676"/>
              <a:ext cx="0" cy="215"/>
            </a:xfrm>
            <a:prstGeom prst="line">
              <a:avLst/>
            </a:prstGeom>
            <a:ln w="19050" cap="flat" cmpd="sng">
              <a:solidFill>
                <a:srgbClr val="008000"/>
              </a:solidFill>
              <a:prstDash val="solid"/>
              <a:headEnd type="none" w="med" len="med"/>
              <a:tailEnd type="none" w="med" len="med"/>
            </a:ln>
          </p:spPr>
        </p:sp>
        <p:sp>
          <p:nvSpPr>
            <p:cNvPr id="20514" name="Line 34"/>
            <p:cNvSpPr/>
            <p:nvPr/>
          </p:nvSpPr>
          <p:spPr>
            <a:xfrm>
              <a:off x="4133" y="2676"/>
              <a:ext cx="379" cy="0"/>
            </a:xfrm>
            <a:prstGeom prst="line">
              <a:avLst/>
            </a:prstGeom>
            <a:ln w="19050" cap="flat" cmpd="sng">
              <a:solidFill>
                <a:srgbClr val="008000"/>
              </a:solidFill>
              <a:prstDash val="solid"/>
              <a:headEnd type="none" w="med" len="med"/>
              <a:tailEnd type="none" w="med" len="med"/>
            </a:ln>
          </p:spPr>
        </p:sp>
        <p:sp>
          <p:nvSpPr>
            <p:cNvPr id="20515" name="Line 35"/>
            <p:cNvSpPr/>
            <p:nvPr/>
          </p:nvSpPr>
          <p:spPr>
            <a:xfrm>
              <a:off x="4513" y="2463"/>
              <a:ext cx="446" cy="0"/>
            </a:xfrm>
            <a:prstGeom prst="line">
              <a:avLst/>
            </a:prstGeom>
            <a:ln w="19050" cap="flat" cmpd="sng">
              <a:solidFill>
                <a:srgbClr val="008000"/>
              </a:solidFill>
              <a:prstDash val="solid"/>
              <a:headEnd type="none" w="med" len="med"/>
              <a:tailEnd type="none" w="med" len="med"/>
            </a:ln>
          </p:spPr>
        </p:sp>
        <p:sp>
          <p:nvSpPr>
            <p:cNvPr id="20516" name="Line 36"/>
            <p:cNvSpPr/>
            <p:nvPr/>
          </p:nvSpPr>
          <p:spPr>
            <a:xfrm>
              <a:off x="4959" y="2263"/>
              <a:ext cx="400" cy="0"/>
            </a:xfrm>
            <a:prstGeom prst="line">
              <a:avLst/>
            </a:prstGeom>
            <a:ln w="19050" cap="flat" cmpd="sng">
              <a:solidFill>
                <a:srgbClr val="008000"/>
              </a:solidFill>
              <a:prstDash val="solid"/>
              <a:headEnd type="none" w="med" len="med"/>
              <a:tailEnd type="none" w="med" len="med"/>
            </a:ln>
          </p:spPr>
        </p:sp>
        <p:sp>
          <p:nvSpPr>
            <p:cNvPr id="20517" name="Line 37"/>
            <p:cNvSpPr/>
            <p:nvPr/>
          </p:nvSpPr>
          <p:spPr>
            <a:xfrm flipV="1">
              <a:off x="3575" y="2893"/>
              <a:ext cx="0" cy="238"/>
            </a:xfrm>
            <a:prstGeom prst="line">
              <a:avLst/>
            </a:prstGeom>
            <a:ln w="19050" cap="flat" cmpd="sng">
              <a:solidFill>
                <a:srgbClr val="FF0000"/>
              </a:solidFill>
              <a:prstDash val="solid"/>
              <a:headEnd type="none" w="med" len="med"/>
              <a:tailEnd type="none" w="med" len="med"/>
            </a:ln>
          </p:spPr>
        </p:sp>
        <p:sp>
          <p:nvSpPr>
            <p:cNvPr id="20518" name="Line 38"/>
            <p:cNvSpPr/>
            <p:nvPr/>
          </p:nvSpPr>
          <p:spPr>
            <a:xfrm>
              <a:off x="3574" y="2891"/>
              <a:ext cx="203" cy="0"/>
            </a:xfrm>
            <a:prstGeom prst="line">
              <a:avLst/>
            </a:prstGeom>
            <a:ln w="19050" cap="flat" cmpd="sng">
              <a:solidFill>
                <a:srgbClr val="FF0000"/>
              </a:solidFill>
              <a:prstDash val="solid"/>
              <a:headEnd type="none" w="med" len="med"/>
              <a:tailEnd type="none" w="med" len="med"/>
            </a:ln>
          </p:spPr>
        </p:sp>
        <p:sp>
          <p:nvSpPr>
            <p:cNvPr id="20519" name="Line 39"/>
            <p:cNvSpPr/>
            <p:nvPr/>
          </p:nvSpPr>
          <p:spPr>
            <a:xfrm flipV="1">
              <a:off x="3775" y="2676"/>
              <a:ext cx="0" cy="215"/>
            </a:xfrm>
            <a:prstGeom prst="line">
              <a:avLst/>
            </a:prstGeom>
            <a:ln w="19050" cap="flat" cmpd="sng">
              <a:solidFill>
                <a:srgbClr val="FF0000"/>
              </a:solidFill>
              <a:prstDash val="solid"/>
              <a:headEnd type="none" w="med" len="med"/>
              <a:tailEnd type="none" w="med" len="med"/>
            </a:ln>
          </p:spPr>
        </p:sp>
        <p:sp>
          <p:nvSpPr>
            <p:cNvPr id="20520" name="Line 40"/>
            <p:cNvSpPr/>
            <p:nvPr/>
          </p:nvSpPr>
          <p:spPr>
            <a:xfrm flipH="1">
              <a:off x="3775" y="2676"/>
              <a:ext cx="221" cy="0"/>
            </a:xfrm>
            <a:prstGeom prst="line">
              <a:avLst/>
            </a:prstGeom>
            <a:ln w="19050" cap="flat" cmpd="sng">
              <a:solidFill>
                <a:srgbClr val="FF0000"/>
              </a:solidFill>
              <a:prstDash val="solid"/>
              <a:headEnd type="none" w="med" len="med"/>
              <a:tailEnd type="none" w="med" len="med"/>
            </a:ln>
          </p:spPr>
        </p:sp>
        <p:sp>
          <p:nvSpPr>
            <p:cNvPr id="20521" name="Line 41"/>
            <p:cNvSpPr/>
            <p:nvPr/>
          </p:nvSpPr>
          <p:spPr>
            <a:xfrm flipV="1">
              <a:off x="4511" y="2459"/>
              <a:ext cx="0" cy="215"/>
            </a:xfrm>
            <a:prstGeom prst="line">
              <a:avLst/>
            </a:prstGeom>
            <a:ln w="19050" cap="flat" cmpd="sng">
              <a:solidFill>
                <a:srgbClr val="008000"/>
              </a:solidFill>
              <a:prstDash val="solid"/>
              <a:headEnd type="none" w="med" len="med"/>
              <a:tailEnd type="none" w="med" len="med"/>
            </a:ln>
          </p:spPr>
        </p:sp>
        <p:sp>
          <p:nvSpPr>
            <p:cNvPr id="20522" name="Line 42"/>
            <p:cNvSpPr/>
            <p:nvPr/>
          </p:nvSpPr>
          <p:spPr>
            <a:xfrm flipV="1">
              <a:off x="4954" y="2255"/>
              <a:ext cx="0" cy="207"/>
            </a:xfrm>
            <a:prstGeom prst="line">
              <a:avLst/>
            </a:prstGeom>
            <a:ln w="19050" cap="flat" cmpd="sng">
              <a:solidFill>
                <a:srgbClr val="008000"/>
              </a:solidFill>
              <a:prstDash val="solid"/>
              <a:headEnd type="none" w="med" len="med"/>
              <a:tailEnd type="none" w="med" len="med"/>
            </a:ln>
          </p:spPr>
        </p:sp>
        <p:sp>
          <p:nvSpPr>
            <p:cNvPr id="20523" name="Line 43"/>
            <p:cNvSpPr/>
            <p:nvPr/>
          </p:nvSpPr>
          <p:spPr>
            <a:xfrm flipV="1">
              <a:off x="3996" y="2463"/>
              <a:ext cx="0" cy="208"/>
            </a:xfrm>
            <a:prstGeom prst="line">
              <a:avLst/>
            </a:prstGeom>
            <a:ln w="19050" cap="flat" cmpd="sng">
              <a:solidFill>
                <a:srgbClr val="FF0000"/>
              </a:solidFill>
              <a:prstDash val="solid"/>
              <a:headEnd type="none" w="med" len="med"/>
              <a:tailEnd type="none" w="med" len="med"/>
            </a:ln>
          </p:spPr>
        </p:sp>
        <p:sp>
          <p:nvSpPr>
            <p:cNvPr id="20524" name="Line 44"/>
            <p:cNvSpPr/>
            <p:nvPr/>
          </p:nvSpPr>
          <p:spPr>
            <a:xfrm flipH="1">
              <a:off x="3996" y="2466"/>
              <a:ext cx="212" cy="0"/>
            </a:xfrm>
            <a:prstGeom prst="line">
              <a:avLst/>
            </a:prstGeom>
            <a:ln w="19050" cap="flat" cmpd="sng">
              <a:solidFill>
                <a:srgbClr val="FF0000"/>
              </a:solidFill>
              <a:prstDash val="solid"/>
              <a:headEnd type="none" w="med" len="med"/>
              <a:tailEnd type="none" w="med" len="med"/>
            </a:ln>
          </p:spPr>
        </p:sp>
        <p:sp>
          <p:nvSpPr>
            <p:cNvPr id="20525" name="Line 45"/>
            <p:cNvSpPr/>
            <p:nvPr/>
          </p:nvSpPr>
          <p:spPr>
            <a:xfrm flipV="1">
              <a:off x="4208" y="2258"/>
              <a:ext cx="0" cy="207"/>
            </a:xfrm>
            <a:prstGeom prst="line">
              <a:avLst/>
            </a:prstGeom>
            <a:ln w="19050" cap="flat" cmpd="sng">
              <a:solidFill>
                <a:srgbClr val="FF0000"/>
              </a:solidFill>
              <a:prstDash val="solid"/>
              <a:headEnd type="none" w="med" len="med"/>
              <a:tailEnd type="none" w="med" len="med"/>
            </a:ln>
          </p:spPr>
        </p:sp>
        <p:sp>
          <p:nvSpPr>
            <p:cNvPr id="20526" name="Line 46"/>
            <p:cNvSpPr/>
            <p:nvPr/>
          </p:nvSpPr>
          <p:spPr>
            <a:xfrm flipH="1">
              <a:off x="4206" y="2257"/>
              <a:ext cx="219" cy="0"/>
            </a:xfrm>
            <a:prstGeom prst="line">
              <a:avLst/>
            </a:prstGeom>
            <a:ln w="19050" cap="flat" cmpd="sng">
              <a:solidFill>
                <a:srgbClr val="FF0000"/>
              </a:solidFill>
              <a:prstDash val="solid"/>
              <a:headEnd type="none" w="med" len="med"/>
              <a:tailEnd type="none" w="med" len="med"/>
            </a:ln>
          </p:spPr>
        </p:sp>
        <p:sp>
          <p:nvSpPr>
            <p:cNvPr id="20527" name="Line 47"/>
            <p:cNvSpPr/>
            <p:nvPr/>
          </p:nvSpPr>
          <p:spPr>
            <a:xfrm flipV="1">
              <a:off x="4425" y="2041"/>
              <a:ext cx="0" cy="215"/>
            </a:xfrm>
            <a:prstGeom prst="line">
              <a:avLst/>
            </a:prstGeom>
            <a:ln w="19050" cap="flat" cmpd="sng">
              <a:solidFill>
                <a:srgbClr val="FF0000"/>
              </a:solidFill>
              <a:prstDash val="solid"/>
              <a:headEnd type="none" w="med" len="med"/>
              <a:tailEnd type="none" w="med" len="med"/>
            </a:ln>
          </p:spPr>
        </p:sp>
        <p:sp>
          <p:nvSpPr>
            <p:cNvPr id="20528" name="Line 48"/>
            <p:cNvSpPr/>
            <p:nvPr/>
          </p:nvSpPr>
          <p:spPr>
            <a:xfrm flipH="1">
              <a:off x="4425" y="2041"/>
              <a:ext cx="213" cy="0"/>
            </a:xfrm>
            <a:prstGeom prst="line">
              <a:avLst/>
            </a:prstGeom>
            <a:ln w="19050" cap="flat" cmpd="sng">
              <a:solidFill>
                <a:srgbClr val="FF0000"/>
              </a:solidFill>
              <a:prstDash val="solid"/>
              <a:headEnd type="none" w="med" len="med"/>
              <a:tailEnd type="none" w="med" len="med"/>
            </a:ln>
          </p:spPr>
        </p:sp>
        <p:sp>
          <p:nvSpPr>
            <p:cNvPr id="20529" name="Line 49"/>
            <p:cNvSpPr/>
            <p:nvPr/>
          </p:nvSpPr>
          <p:spPr>
            <a:xfrm flipV="1">
              <a:off x="4639" y="1813"/>
              <a:ext cx="0" cy="231"/>
            </a:xfrm>
            <a:prstGeom prst="line">
              <a:avLst/>
            </a:prstGeom>
            <a:ln w="19050" cap="flat" cmpd="sng">
              <a:solidFill>
                <a:srgbClr val="FF0000"/>
              </a:solidFill>
              <a:prstDash val="solid"/>
              <a:headEnd type="none" w="med" len="med"/>
              <a:tailEnd type="none" w="med" len="med"/>
            </a:ln>
          </p:spPr>
        </p:sp>
        <p:sp>
          <p:nvSpPr>
            <p:cNvPr id="20530" name="Line 50"/>
            <p:cNvSpPr/>
            <p:nvPr/>
          </p:nvSpPr>
          <p:spPr>
            <a:xfrm flipH="1">
              <a:off x="4637" y="1813"/>
              <a:ext cx="212" cy="0"/>
            </a:xfrm>
            <a:prstGeom prst="line">
              <a:avLst/>
            </a:prstGeom>
            <a:ln w="19050" cap="flat" cmpd="sng">
              <a:solidFill>
                <a:srgbClr val="FF0000"/>
              </a:solidFill>
              <a:prstDash val="solid"/>
              <a:headEnd type="none" w="med" len="med"/>
              <a:tailEnd type="none" w="med" len="med"/>
            </a:ln>
          </p:spPr>
        </p:sp>
        <p:sp>
          <p:nvSpPr>
            <p:cNvPr id="20531" name="Line 51"/>
            <p:cNvSpPr/>
            <p:nvPr/>
          </p:nvSpPr>
          <p:spPr>
            <a:xfrm flipV="1">
              <a:off x="4851" y="1588"/>
              <a:ext cx="0" cy="223"/>
            </a:xfrm>
            <a:prstGeom prst="line">
              <a:avLst/>
            </a:prstGeom>
            <a:ln w="19050" cap="flat" cmpd="sng">
              <a:solidFill>
                <a:srgbClr val="FF0000"/>
              </a:solidFill>
              <a:prstDash val="solid"/>
              <a:headEnd type="none" w="med" len="med"/>
              <a:tailEnd type="none" w="med" len="med"/>
            </a:ln>
          </p:spPr>
        </p:sp>
        <p:sp>
          <p:nvSpPr>
            <p:cNvPr id="20532" name="Line 52"/>
            <p:cNvSpPr/>
            <p:nvPr/>
          </p:nvSpPr>
          <p:spPr>
            <a:xfrm flipH="1">
              <a:off x="4847" y="1592"/>
              <a:ext cx="220" cy="0"/>
            </a:xfrm>
            <a:prstGeom prst="line">
              <a:avLst/>
            </a:prstGeom>
            <a:ln w="19050" cap="flat" cmpd="sng">
              <a:solidFill>
                <a:srgbClr val="FF0000"/>
              </a:solidFill>
              <a:prstDash val="solid"/>
              <a:headEnd type="none" w="med" len="med"/>
              <a:tailEnd type="none" w="med" len="med"/>
            </a:ln>
          </p:spPr>
        </p:sp>
        <p:sp>
          <p:nvSpPr>
            <p:cNvPr id="20533" name="Line 53"/>
            <p:cNvSpPr/>
            <p:nvPr/>
          </p:nvSpPr>
          <p:spPr>
            <a:xfrm>
              <a:off x="4966" y="2990"/>
              <a:ext cx="0" cy="141"/>
            </a:xfrm>
            <a:prstGeom prst="line">
              <a:avLst/>
            </a:prstGeom>
            <a:ln w="9525" cap="flat" cmpd="sng">
              <a:solidFill>
                <a:srgbClr val="FF0000"/>
              </a:solidFill>
              <a:prstDash val="solid"/>
              <a:headEnd type="none" w="med" len="med"/>
              <a:tailEnd type="none" w="med" len="med"/>
            </a:ln>
          </p:spPr>
        </p:sp>
        <p:sp>
          <p:nvSpPr>
            <p:cNvPr id="20534" name="Line 54"/>
            <p:cNvSpPr/>
            <p:nvPr/>
          </p:nvSpPr>
          <p:spPr>
            <a:xfrm flipH="1" flipV="1">
              <a:off x="3561" y="2691"/>
              <a:ext cx="0" cy="200"/>
            </a:xfrm>
            <a:prstGeom prst="line">
              <a:avLst/>
            </a:prstGeom>
            <a:ln w="25400" cap="flat" cmpd="sng">
              <a:solidFill>
                <a:srgbClr val="333300"/>
              </a:solidFill>
              <a:prstDash val="solid"/>
              <a:headEnd type="none" w="med" len="med"/>
              <a:tailEnd type="none" w="med" len="med"/>
            </a:ln>
          </p:spPr>
        </p:sp>
        <p:sp>
          <p:nvSpPr>
            <p:cNvPr id="20535" name="Line 55"/>
            <p:cNvSpPr/>
            <p:nvPr/>
          </p:nvSpPr>
          <p:spPr>
            <a:xfrm>
              <a:off x="3562" y="2691"/>
              <a:ext cx="74" cy="0"/>
            </a:xfrm>
            <a:prstGeom prst="line">
              <a:avLst/>
            </a:prstGeom>
            <a:ln w="25400" cap="flat" cmpd="sng">
              <a:solidFill>
                <a:srgbClr val="333300"/>
              </a:solidFill>
              <a:prstDash val="solid"/>
              <a:headEnd type="none" w="med" len="med"/>
              <a:tailEnd type="none" w="med" len="med"/>
            </a:ln>
          </p:spPr>
        </p:sp>
        <p:sp>
          <p:nvSpPr>
            <p:cNvPr id="20536" name="Line 56"/>
            <p:cNvSpPr/>
            <p:nvPr/>
          </p:nvSpPr>
          <p:spPr>
            <a:xfrm flipV="1">
              <a:off x="3638" y="2463"/>
              <a:ext cx="0" cy="228"/>
            </a:xfrm>
            <a:prstGeom prst="line">
              <a:avLst/>
            </a:prstGeom>
            <a:ln w="25400" cap="flat" cmpd="sng">
              <a:solidFill>
                <a:srgbClr val="333300"/>
              </a:solidFill>
              <a:prstDash val="solid"/>
              <a:headEnd type="none" w="med" len="med"/>
              <a:tailEnd type="none" w="med" len="med"/>
            </a:ln>
          </p:spPr>
        </p:sp>
        <p:sp>
          <p:nvSpPr>
            <p:cNvPr id="20537" name="Line 57"/>
            <p:cNvSpPr/>
            <p:nvPr/>
          </p:nvSpPr>
          <p:spPr>
            <a:xfrm>
              <a:off x="3636" y="2463"/>
              <a:ext cx="85" cy="0"/>
            </a:xfrm>
            <a:prstGeom prst="line">
              <a:avLst/>
            </a:prstGeom>
            <a:ln w="25400" cap="flat" cmpd="sng">
              <a:solidFill>
                <a:srgbClr val="333300"/>
              </a:solidFill>
              <a:prstDash val="solid"/>
              <a:headEnd type="none" w="med" len="med"/>
              <a:tailEnd type="none" w="med" len="med"/>
            </a:ln>
          </p:spPr>
        </p:sp>
        <p:sp>
          <p:nvSpPr>
            <p:cNvPr id="20538" name="Line 58"/>
            <p:cNvSpPr/>
            <p:nvPr/>
          </p:nvSpPr>
          <p:spPr>
            <a:xfrm flipH="1" flipV="1">
              <a:off x="3717" y="2250"/>
              <a:ext cx="0" cy="213"/>
            </a:xfrm>
            <a:prstGeom prst="line">
              <a:avLst/>
            </a:prstGeom>
            <a:ln w="25400" cap="flat" cmpd="sng">
              <a:solidFill>
                <a:srgbClr val="333300"/>
              </a:solidFill>
              <a:prstDash val="solid"/>
              <a:headEnd type="none" w="med" len="med"/>
              <a:tailEnd type="none" w="med" len="med"/>
            </a:ln>
          </p:spPr>
        </p:sp>
        <p:sp>
          <p:nvSpPr>
            <p:cNvPr id="20539" name="Line 59"/>
            <p:cNvSpPr/>
            <p:nvPr/>
          </p:nvSpPr>
          <p:spPr>
            <a:xfrm>
              <a:off x="3715" y="2253"/>
              <a:ext cx="86" cy="0"/>
            </a:xfrm>
            <a:prstGeom prst="line">
              <a:avLst/>
            </a:prstGeom>
            <a:ln w="25400" cap="flat" cmpd="sng">
              <a:solidFill>
                <a:srgbClr val="333300"/>
              </a:solidFill>
              <a:prstDash val="solid"/>
              <a:headEnd type="none" w="med" len="med"/>
              <a:tailEnd type="none" w="med" len="med"/>
            </a:ln>
          </p:spPr>
        </p:sp>
        <p:sp>
          <p:nvSpPr>
            <p:cNvPr id="20540" name="Line 60"/>
            <p:cNvSpPr/>
            <p:nvPr/>
          </p:nvSpPr>
          <p:spPr>
            <a:xfrm flipV="1">
              <a:off x="3794" y="2029"/>
              <a:ext cx="0" cy="221"/>
            </a:xfrm>
            <a:prstGeom prst="line">
              <a:avLst/>
            </a:prstGeom>
            <a:ln w="25400" cap="flat" cmpd="sng">
              <a:solidFill>
                <a:srgbClr val="333300"/>
              </a:solidFill>
              <a:prstDash val="solid"/>
              <a:headEnd type="none" w="med" len="med"/>
              <a:tailEnd type="none" w="med" len="med"/>
            </a:ln>
          </p:spPr>
        </p:sp>
        <p:sp>
          <p:nvSpPr>
            <p:cNvPr id="20541" name="Line 61"/>
            <p:cNvSpPr/>
            <p:nvPr/>
          </p:nvSpPr>
          <p:spPr>
            <a:xfrm>
              <a:off x="3794" y="2037"/>
              <a:ext cx="82" cy="0"/>
            </a:xfrm>
            <a:prstGeom prst="line">
              <a:avLst/>
            </a:prstGeom>
            <a:ln w="25400" cap="flat" cmpd="sng">
              <a:solidFill>
                <a:srgbClr val="333300"/>
              </a:solidFill>
              <a:prstDash val="solid"/>
              <a:headEnd type="none" w="med" len="med"/>
              <a:tailEnd type="none" w="med" len="med"/>
            </a:ln>
          </p:spPr>
        </p:sp>
        <p:sp>
          <p:nvSpPr>
            <p:cNvPr id="20542" name="Line 62"/>
            <p:cNvSpPr/>
            <p:nvPr/>
          </p:nvSpPr>
          <p:spPr>
            <a:xfrm flipV="1">
              <a:off x="3876" y="1808"/>
              <a:ext cx="0" cy="229"/>
            </a:xfrm>
            <a:prstGeom prst="line">
              <a:avLst/>
            </a:prstGeom>
            <a:ln w="25400" cap="flat" cmpd="sng">
              <a:solidFill>
                <a:srgbClr val="333300"/>
              </a:solidFill>
              <a:prstDash val="solid"/>
              <a:headEnd type="none" w="med" len="med"/>
              <a:tailEnd type="none" w="med" len="med"/>
            </a:ln>
          </p:spPr>
        </p:sp>
        <p:sp>
          <p:nvSpPr>
            <p:cNvPr id="20543" name="Line 63"/>
            <p:cNvSpPr/>
            <p:nvPr/>
          </p:nvSpPr>
          <p:spPr>
            <a:xfrm>
              <a:off x="3876" y="1813"/>
              <a:ext cx="76" cy="0"/>
            </a:xfrm>
            <a:prstGeom prst="line">
              <a:avLst/>
            </a:prstGeom>
            <a:ln w="25400" cap="flat" cmpd="sng">
              <a:solidFill>
                <a:srgbClr val="333300"/>
              </a:solidFill>
              <a:prstDash val="solid"/>
              <a:headEnd type="none" w="med" len="med"/>
              <a:tailEnd type="none" w="med" len="med"/>
            </a:ln>
          </p:spPr>
        </p:sp>
        <p:sp>
          <p:nvSpPr>
            <p:cNvPr id="20544" name="Line 64"/>
            <p:cNvSpPr/>
            <p:nvPr/>
          </p:nvSpPr>
          <p:spPr>
            <a:xfrm flipV="1">
              <a:off x="3953" y="1581"/>
              <a:ext cx="0" cy="227"/>
            </a:xfrm>
            <a:prstGeom prst="line">
              <a:avLst/>
            </a:prstGeom>
            <a:ln w="25400" cap="flat" cmpd="sng">
              <a:solidFill>
                <a:srgbClr val="333300"/>
              </a:solidFill>
              <a:prstDash val="solid"/>
              <a:headEnd type="none" w="med" len="med"/>
              <a:tailEnd type="none" w="med" len="med"/>
            </a:ln>
          </p:spPr>
        </p:sp>
        <p:sp>
          <p:nvSpPr>
            <p:cNvPr id="20545" name="Line 65"/>
            <p:cNvSpPr/>
            <p:nvPr/>
          </p:nvSpPr>
          <p:spPr>
            <a:xfrm>
              <a:off x="3953" y="1581"/>
              <a:ext cx="79" cy="0"/>
            </a:xfrm>
            <a:prstGeom prst="line">
              <a:avLst/>
            </a:prstGeom>
            <a:ln w="25400" cap="flat" cmpd="sng">
              <a:solidFill>
                <a:srgbClr val="333300"/>
              </a:solidFill>
              <a:prstDash val="solid"/>
              <a:headEnd type="none" w="med" len="med"/>
              <a:tailEnd type="none" w="med" len="med"/>
            </a:ln>
          </p:spPr>
        </p:sp>
        <p:sp>
          <p:nvSpPr>
            <p:cNvPr id="20546" name="Line 66"/>
            <p:cNvSpPr/>
            <p:nvPr/>
          </p:nvSpPr>
          <p:spPr>
            <a:xfrm flipV="1">
              <a:off x="4966" y="1665"/>
              <a:ext cx="0" cy="1240"/>
            </a:xfrm>
            <a:prstGeom prst="line">
              <a:avLst/>
            </a:prstGeom>
            <a:ln w="9525" cap="flat" cmpd="sng">
              <a:solidFill>
                <a:srgbClr val="FF0000"/>
              </a:solidFill>
              <a:prstDash val="sysDot"/>
              <a:headEnd type="none" w="med" len="med"/>
              <a:tailEnd type="none" w="med" len="med"/>
            </a:ln>
          </p:spPr>
        </p:sp>
        <p:sp>
          <p:nvSpPr>
            <p:cNvPr id="20547" name="Line 67"/>
            <p:cNvSpPr/>
            <p:nvPr/>
          </p:nvSpPr>
          <p:spPr>
            <a:xfrm flipV="1">
              <a:off x="3989" y="1026"/>
              <a:ext cx="0" cy="468"/>
            </a:xfrm>
            <a:prstGeom prst="line">
              <a:avLst/>
            </a:prstGeom>
            <a:ln w="9525" cap="flat" cmpd="sng">
              <a:solidFill>
                <a:srgbClr val="FF0000"/>
              </a:solidFill>
              <a:prstDash val="solid"/>
              <a:headEnd type="none" w="med" len="med"/>
              <a:tailEnd type="none" w="med" len="med"/>
            </a:ln>
          </p:spPr>
        </p:sp>
        <p:sp>
          <p:nvSpPr>
            <p:cNvPr id="20548" name="Line 68"/>
            <p:cNvSpPr/>
            <p:nvPr/>
          </p:nvSpPr>
          <p:spPr>
            <a:xfrm flipV="1">
              <a:off x="4967" y="1012"/>
              <a:ext cx="0" cy="511"/>
            </a:xfrm>
            <a:prstGeom prst="line">
              <a:avLst/>
            </a:prstGeom>
            <a:ln w="9525" cap="flat" cmpd="sng">
              <a:solidFill>
                <a:srgbClr val="FF0000"/>
              </a:solidFill>
              <a:prstDash val="solid"/>
              <a:headEnd type="none" w="med" len="med"/>
              <a:tailEnd type="none" w="med" len="med"/>
            </a:ln>
          </p:spPr>
        </p:sp>
        <p:sp>
          <p:nvSpPr>
            <p:cNvPr id="20549" name="Line 69"/>
            <p:cNvSpPr/>
            <p:nvPr/>
          </p:nvSpPr>
          <p:spPr>
            <a:xfrm>
              <a:off x="3989" y="1082"/>
              <a:ext cx="972" cy="0"/>
            </a:xfrm>
            <a:prstGeom prst="line">
              <a:avLst/>
            </a:prstGeom>
            <a:ln w="9525" cap="flat" cmpd="sng">
              <a:solidFill>
                <a:srgbClr val="FF0000"/>
              </a:solidFill>
              <a:prstDash val="solid"/>
              <a:headEnd type="stealth" w="sm" len="lg"/>
              <a:tailEnd type="stealth" w="sm" len="lg"/>
            </a:ln>
          </p:spPr>
        </p:sp>
        <p:sp>
          <p:nvSpPr>
            <p:cNvPr id="20550" name="Text Box 70"/>
            <p:cNvSpPr txBox="1"/>
            <p:nvPr/>
          </p:nvSpPr>
          <p:spPr>
            <a:xfrm>
              <a:off x="4783" y="3137"/>
              <a:ext cx="388"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FSR</a:t>
              </a:r>
              <a:endParaRPr lang="en-US" altLang="zh-CN" sz="1800" i="1" dirty="0">
                <a:solidFill>
                  <a:srgbClr val="FF0000"/>
                </a:solidFill>
                <a:latin typeface="Times New Roman" panose="02020603050405020304" pitchFamily="18" charset="0"/>
              </a:endParaRPr>
            </a:p>
          </p:txBody>
        </p:sp>
        <p:sp>
          <p:nvSpPr>
            <p:cNvPr id="20551" name="Text Box 71"/>
            <p:cNvSpPr txBox="1"/>
            <p:nvPr/>
          </p:nvSpPr>
          <p:spPr>
            <a:xfrm>
              <a:off x="4114" y="876"/>
              <a:ext cx="827" cy="231"/>
            </a:xfrm>
            <a:prstGeom prst="rect">
              <a:avLst/>
            </a:prstGeom>
            <a:noFill/>
            <a:ln w="9525">
              <a:noFill/>
            </a:ln>
          </p:spPr>
          <p:txBody>
            <a:bodyPr>
              <a:spAutoFit/>
            </a:bodyPr>
            <a:p>
              <a:pPr eaLnBrk="1" hangingPunct="1">
                <a:lnSpc>
                  <a:spcPct val="90000"/>
                </a:lnSpc>
              </a:pPr>
              <a:r>
                <a:rPr lang="zh-CN" altLang="en-US" sz="2000" dirty="0">
                  <a:solidFill>
                    <a:srgbClr val="FF0000"/>
                  </a:solidFill>
                  <a:latin typeface="Times New Roman" panose="02020603050405020304" pitchFamily="18" charset="0"/>
                </a:rPr>
                <a:t>增益误差</a:t>
              </a:r>
              <a:endParaRPr lang="zh-CN" altLang="en-US" sz="2000" dirty="0">
                <a:solidFill>
                  <a:srgbClr val="FF0000"/>
                </a:solidFill>
                <a:latin typeface="Times New Roman" panose="02020603050405020304" pitchFamily="18" charset="0"/>
              </a:endParaRPr>
            </a:p>
          </p:txBody>
        </p:sp>
        <p:sp>
          <p:nvSpPr>
            <p:cNvPr id="20552" name="Line 72"/>
            <p:cNvSpPr/>
            <p:nvPr/>
          </p:nvSpPr>
          <p:spPr>
            <a:xfrm flipH="1">
              <a:off x="3433" y="3131"/>
              <a:ext cx="142" cy="2"/>
            </a:xfrm>
            <a:prstGeom prst="line">
              <a:avLst/>
            </a:prstGeom>
            <a:ln w="19050" cap="flat" cmpd="sng">
              <a:solidFill>
                <a:srgbClr val="FF0000"/>
              </a:solidFill>
              <a:prstDash val="solid"/>
              <a:headEnd type="none" w="med" len="med"/>
              <a:tailEnd type="none" w="med" len="med"/>
            </a:ln>
          </p:spPr>
        </p:sp>
        <p:grpSp>
          <p:nvGrpSpPr>
            <p:cNvPr id="20553" name="Group 73"/>
            <p:cNvGrpSpPr/>
            <p:nvPr/>
          </p:nvGrpSpPr>
          <p:grpSpPr>
            <a:xfrm>
              <a:off x="5151" y="1601"/>
              <a:ext cx="394" cy="231"/>
              <a:chOff x="5151" y="1763"/>
              <a:chExt cx="394" cy="231"/>
            </a:xfrm>
          </p:grpSpPr>
          <p:sp>
            <p:nvSpPr>
              <p:cNvPr id="20562" name="AutoShape 74"/>
              <p:cNvSpPr/>
              <p:nvPr/>
            </p:nvSpPr>
            <p:spPr>
              <a:xfrm>
                <a:off x="5168" y="1792"/>
                <a:ext cx="360" cy="178"/>
              </a:xfrm>
              <a:prstGeom prst="wedgeRoundRectCallout">
                <a:avLst>
                  <a:gd name="adj1" fmla="val -92778"/>
                  <a:gd name="adj2" fmla="val -65167"/>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460747" name="Text Box 75"/>
              <p:cNvSpPr txBox="1">
                <a:spLocks noChangeArrowheads="1"/>
              </p:cNvSpPr>
              <p:nvPr/>
            </p:nvSpPr>
            <p:spPr bwMode="auto">
              <a:xfrm>
                <a:off x="5151" y="1763"/>
                <a:ext cx="394"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0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K</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=1</a:t>
                </a:r>
                <a:endPar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nvGrpSpPr>
            <p:cNvPr id="20554" name="Group 76"/>
            <p:cNvGrpSpPr/>
            <p:nvPr/>
          </p:nvGrpSpPr>
          <p:grpSpPr>
            <a:xfrm>
              <a:off x="5149" y="2404"/>
              <a:ext cx="394" cy="231"/>
              <a:chOff x="5149" y="2566"/>
              <a:chExt cx="394" cy="231"/>
            </a:xfrm>
          </p:grpSpPr>
          <p:sp>
            <p:nvSpPr>
              <p:cNvPr id="20560" name="AutoShape 77"/>
              <p:cNvSpPr/>
              <p:nvPr/>
            </p:nvSpPr>
            <p:spPr>
              <a:xfrm>
                <a:off x="5165" y="2591"/>
                <a:ext cx="360" cy="178"/>
              </a:xfrm>
              <a:prstGeom prst="wedgeRoundRectCallout">
                <a:avLst>
                  <a:gd name="adj1" fmla="val -33611"/>
                  <a:gd name="adj2" fmla="val -14100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460750" name="Text Box 78"/>
              <p:cNvSpPr txBox="1">
                <a:spLocks noChangeArrowheads="1"/>
              </p:cNvSpPr>
              <p:nvPr/>
            </p:nvSpPr>
            <p:spPr bwMode="auto">
              <a:xfrm>
                <a:off x="5149" y="2566"/>
                <a:ext cx="394"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2000" i="1"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K&lt;</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1</a:t>
                </a:r>
                <a:endPar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nvGrpSpPr>
            <p:cNvPr id="20555" name="Group 79"/>
            <p:cNvGrpSpPr/>
            <p:nvPr/>
          </p:nvGrpSpPr>
          <p:grpSpPr>
            <a:xfrm>
              <a:off x="3512" y="1244"/>
              <a:ext cx="394" cy="231"/>
              <a:chOff x="3512" y="1406"/>
              <a:chExt cx="394" cy="231"/>
            </a:xfrm>
          </p:grpSpPr>
          <p:sp>
            <p:nvSpPr>
              <p:cNvPr id="20558" name="AutoShape 80"/>
              <p:cNvSpPr/>
              <p:nvPr/>
            </p:nvSpPr>
            <p:spPr>
              <a:xfrm>
                <a:off x="3532" y="1434"/>
                <a:ext cx="360" cy="178"/>
              </a:xfrm>
              <a:prstGeom prst="wedgeRoundRectCallout">
                <a:avLst>
                  <a:gd name="adj1" fmla="val 68056"/>
                  <a:gd name="adj2" fmla="val 116852"/>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0559" name="Text Box 81"/>
              <p:cNvSpPr txBox="1"/>
              <p:nvPr/>
            </p:nvSpPr>
            <p:spPr>
              <a:xfrm>
                <a:off x="3512" y="1406"/>
                <a:ext cx="394"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K</a:t>
                </a:r>
                <a:r>
                  <a:rPr lang="en-US" altLang="zh-CN" sz="2000" dirty="0">
                    <a:latin typeface="Times New Roman" panose="02020603050405020304" pitchFamily="18" charset="0"/>
                  </a:rPr>
                  <a:t>&gt;1</a:t>
                </a:r>
                <a:endParaRPr lang="en-US" altLang="zh-CN" sz="2000" dirty="0">
                  <a:latin typeface="Times New Roman" panose="02020603050405020304" pitchFamily="18" charset="0"/>
                </a:endParaRPr>
              </a:p>
            </p:txBody>
          </p:sp>
        </p:grpSp>
        <p:sp>
          <p:nvSpPr>
            <p:cNvPr id="20556" name="Line 82"/>
            <p:cNvSpPr/>
            <p:nvPr/>
          </p:nvSpPr>
          <p:spPr>
            <a:xfrm>
              <a:off x="3433" y="3131"/>
              <a:ext cx="56" cy="0"/>
            </a:xfrm>
            <a:prstGeom prst="line">
              <a:avLst/>
            </a:prstGeom>
            <a:ln w="25400" cap="flat" cmpd="sng">
              <a:solidFill>
                <a:srgbClr val="333300"/>
              </a:solidFill>
              <a:prstDash val="solid"/>
              <a:headEnd type="none" w="med" len="med"/>
              <a:tailEnd type="none" w="med" len="med"/>
            </a:ln>
          </p:spPr>
        </p:sp>
        <p:sp>
          <p:nvSpPr>
            <p:cNvPr id="20557" name="Line 83"/>
            <p:cNvSpPr/>
            <p:nvPr/>
          </p:nvSpPr>
          <p:spPr>
            <a:xfrm>
              <a:off x="3434" y="3132"/>
              <a:ext cx="269" cy="0"/>
            </a:xfrm>
            <a:prstGeom prst="line">
              <a:avLst/>
            </a:prstGeom>
            <a:ln w="19050" cap="flat" cmpd="sng">
              <a:solidFill>
                <a:srgbClr val="008000"/>
              </a:solidFill>
              <a:prstDash val="solid"/>
              <a:headEnd type="none" w="med" len="med"/>
              <a:tailEnd type="none" w="med" len="med"/>
            </a:ln>
          </p:spPr>
        </p:sp>
      </p:grpSp>
      <p:sp>
        <p:nvSpPr>
          <p:cNvPr id="2460757" name="Text Box 85"/>
          <p:cNvSpPr txBox="1"/>
          <p:nvPr/>
        </p:nvSpPr>
        <p:spPr>
          <a:xfrm>
            <a:off x="323850" y="2838450"/>
            <a:ext cx="4422775" cy="2940050"/>
          </a:xfrm>
          <a:prstGeom prst="rect">
            <a:avLst/>
          </a:prstGeom>
          <a:noFill/>
          <a:ln w="9525">
            <a:noFill/>
          </a:ln>
        </p:spPr>
        <p:txBody>
          <a:bodyPr>
            <a:spAutoFit/>
          </a:bodyPr>
          <a:p>
            <a:pPr marL="447675" indent="-447675" eaLnBrk="1" hangingPunct="1">
              <a:lnSpc>
                <a:spcPct val="90000"/>
              </a:lnSpc>
              <a:spcBef>
                <a:spcPct val="3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当增益误差因子</a:t>
            </a:r>
            <a:r>
              <a:rPr lang="en-US" altLang="zh-CN" sz="2400" i="1" dirty="0">
                <a:solidFill>
                  <a:srgbClr val="CC00CC"/>
                </a:solidFill>
                <a:latin typeface="Times New Roman" panose="02020603050405020304" pitchFamily="18" charset="0"/>
                <a:ea typeface="黑体" panose="02010609060101010101" pitchFamily="49" charset="-122"/>
              </a:rPr>
              <a:t>K</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时，没有增益误差；</a:t>
            </a:r>
            <a:endParaRPr lang="zh-CN" altLang="en-US" sz="2400" dirty="0">
              <a:solidFill>
                <a:schemeClr val="tx1"/>
              </a:solidFill>
              <a:latin typeface="Times New Roman" panose="02020603050405020304" pitchFamily="18" charset="0"/>
              <a:ea typeface="黑体" panose="02010609060101010101" pitchFamily="49" charset="-122"/>
            </a:endParaRPr>
          </a:p>
          <a:p>
            <a:pPr marL="447675" indent="-447675" eaLnBrk="1" hangingPunct="1">
              <a:lnSpc>
                <a:spcPct val="90000"/>
              </a:lnSpc>
              <a:spcBef>
                <a:spcPct val="3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当</a:t>
            </a:r>
            <a:r>
              <a:rPr lang="en-US" altLang="zh-CN" sz="2400" i="1" dirty="0">
                <a:solidFill>
                  <a:srgbClr val="CC00CC"/>
                </a:solidFill>
                <a:latin typeface="Times New Roman" panose="02020603050405020304" pitchFamily="18" charset="0"/>
                <a:ea typeface="黑体" panose="02010609060101010101" pitchFamily="49" charset="-122"/>
              </a:rPr>
              <a:t>K&gt;</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时，在输入模拟信号达到满量程之前，数字输出就已饱和（全“</a:t>
            </a:r>
            <a:r>
              <a:rPr lang="en-US" altLang="zh-CN" sz="2400" dirty="0">
                <a:solidFill>
                  <a:srgbClr val="CC00CC"/>
                </a:solidFill>
                <a:latin typeface="Times New Roman" panose="02020603050405020304" pitchFamily="18" charset="0"/>
                <a:ea typeface="黑体" panose="02010609060101010101" pitchFamily="49" charset="-122"/>
              </a:rPr>
              <a:t>1</a:t>
            </a:r>
            <a:r>
              <a:rPr lang="en-US" altLang="zh-CN"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tx1"/>
              </a:solidFill>
              <a:latin typeface="Times New Roman" panose="02020603050405020304" pitchFamily="18" charset="0"/>
              <a:ea typeface="黑体" panose="02010609060101010101" pitchFamily="49" charset="-122"/>
            </a:endParaRPr>
          </a:p>
          <a:p>
            <a:pPr marL="447675" indent="-447675" eaLnBrk="1" hangingPunct="1">
              <a:lnSpc>
                <a:spcPct val="90000"/>
              </a:lnSpc>
              <a:spcBef>
                <a:spcPct val="3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当</a:t>
            </a:r>
            <a:r>
              <a:rPr lang="en-US" altLang="zh-CN" sz="2400" i="1" dirty="0">
                <a:solidFill>
                  <a:srgbClr val="CC00CC"/>
                </a:solidFill>
                <a:latin typeface="Times New Roman" panose="02020603050405020304" pitchFamily="18" charset="0"/>
                <a:ea typeface="黑体" panose="02010609060101010101" pitchFamily="49" charset="-122"/>
              </a:rPr>
              <a:t>K&lt;</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时，模拟输入信号已超满量程时，数码输出还未达到全 “</a:t>
            </a:r>
            <a:r>
              <a:rPr lang="en-US" altLang="zh-CN" sz="2400" dirty="0">
                <a:solidFill>
                  <a:srgbClr val="CC00CC"/>
                </a:solidFill>
                <a:latin typeface="Times New Roman" panose="02020603050405020304" pitchFamily="18" charset="0"/>
                <a:ea typeface="黑体" panose="02010609060101010101" pitchFamily="49" charset="-122"/>
              </a:rPr>
              <a:t>1</a:t>
            </a:r>
            <a:r>
              <a:rPr lang="en-US" altLang="zh-CN"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Times New Roman" panose="02020603050405020304" pitchFamily="18" charset="0"/>
                <a:ea typeface="黑体" panose="02010609060101010101" pitchFamily="49" charset="-122"/>
              </a:rPr>
              <a:t>状态。</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460758" name="Text Box 86"/>
          <p:cNvSpPr txBox="1"/>
          <p:nvPr/>
        </p:nvSpPr>
        <p:spPr>
          <a:xfrm>
            <a:off x="449263" y="5762625"/>
            <a:ext cx="8172450" cy="457200"/>
          </a:xfrm>
          <a:prstGeom prst="rect">
            <a:avLst/>
          </a:prstGeom>
          <a:solidFill>
            <a:srgbClr val="CCFFFF"/>
          </a:solidFill>
          <a:ln w="9525">
            <a:noFill/>
          </a:ln>
        </p:spPr>
        <p:txBody>
          <a:bodyPr>
            <a:spAutoFit/>
          </a:bodyPr>
          <a:p>
            <a:pPr algn="ctr" eaLnBrk="1" hangingPunct="1"/>
            <a:r>
              <a:rPr lang="zh-CN" altLang="en-US" sz="2400" dirty="0">
                <a:latin typeface="楷体_GB2312" pitchFamily="49" charset="-122"/>
              </a:rPr>
              <a:t>在一定温度下，可通过外部电路的调整消除增益误差。</a:t>
            </a:r>
            <a:endParaRPr lang="zh-CN" altLang="en-US" sz="2400" dirty="0">
              <a:latin typeface="楷体_GB2312" pitchFamily="49" charset="-122"/>
            </a:endParaRPr>
          </a:p>
        </p:txBody>
      </p:sp>
      <p:sp>
        <p:nvSpPr>
          <p:cNvPr id="129109" name="Rectangle 85"/>
          <p:cNvSpPr/>
          <p:nvPr/>
        </p:nvSpPr>
        <p:spPr>
          <a:xfrm>
            <a:off x="231775" y="827088"/>
            <a:ext cx="8275638" cy="62230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15</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增益</a:t>
            </a:r>
            <a:r>
              <a:rPr lang="zh-CN" altLang="en-US" dirty="0">
                <a:solidFill>
                  <a:srgbClr val="FF3300"/>
                </a:solidFill>
                <a:latin typeface="黑体" panose="02010609060101010101" pitchFamily="49" charset="-122"/>
                <a:ea typeface="黑体" panose="02010609060101010101" pitchFamily="49" charset="-122"/>
              </a:rPr>
              <a:t>（满度）</a:t>
            </a:r>
            <a:r>
              <a:rPr lang="zh-CN" altLang="zh-CN" dirty="0">
                <a:solidFill>
                  <a:srgbClr val="FF3300"/>
                </a:solidFill>
                <a:latin typeface="黑体" panose="02010609060101010101" pitchFamily="49" charset="-122"/>
                <a:ea typeface="黑体" panose="02010609060101010101" pitchFamily="49" charset="-122"/>
              </a:rPr>
              <a:t>误差</a:t>
            </a:r>
            <a:r>
              <a:rPr lang="zh-CN" altLang="en-US" dirty="0">
                <a:solidFill>
                  <a:srgbClr val="FF3300"/>
                </a:solidFill>
                <a:latin typeface="黑体" panose="02010609060101010101" pitchFamily="49" charset="-122"/>
                <a:ea typeface="黑体" panose="02010609060101010101" pitchFamily="49" charset="-122"/>
              </a:rPr>
              <a:t> </a:t>
            </a:r>
            <a:r>
              <a:rPr lang="en-US" altLang="zh-CN" dirty="0">
                <a:solidFill>
                  <a:srgbClr val="FF3300"/>
                </a:solidFill>
                <a:latin typeface="黑体" panose="02010609060101010101" pitchFamily="49" charset="-122"/>
                <a:ea typeface="黑体" panose="02010609060101010101" pitchFamily="49" charset="-122"/>
              </a:rPr>
              <a:t>Gain(full-scale) Error</a:t>
            </a:r>
            <a:endParaRPr lang="en-US" altLang="zh-CN" dirty="0">
              <a:solidFill>
                <a:srgbClr val="FF3300"/>
              </a:solidFill>
              <a:latin typeface="黑体" panose="02010609060101010101" pitchFamily="49" charset="-122"/>
              <a:ea typeface="黑体" panose="02010609060101010101" pitchFamily="49" charset="-122"/>
            </a:endParaRPr>
          </a:p>
        </p:txBody>
      </p:sp>
      <p:sp>
        <p:nvSpPr>
          <p:cNvPr id="129112" name="Rectangle 88"/>
          <p:cNvSpPr/>
          <p:nvPr/>
        </p:nvSpPr>
        <p:spPr>
          <a:xfrm>
            <a:off x="411163" y="1408113"/>
            <a:ext cx="4303712" cy="1471612"/>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zh-CN" altLang="en-US" dirty="0">
                <a:solidFill>
                  <a:srgbClr val="000066"/>
                </a:solidFill>
                <a:latin typeface="黑体" panose="02010609060101010101" pitchFamily="49" charset="-122"/>
                <a:ea typeface="黑体" panose="02010609060101010101" pitchFamily="49" charset="-122"/>
              </a:rPr>
              <a:t>  </a:t>
            </a:r>
            <a:r>
              <a:rPr lang="zh-CN" altLang="zh-CN" dirty="0">
                <a:solidFill>
                  <a:srgbClr val="000066"/>
                </a:solidFill>
                <a:latin typeface="黑体" panose="02010609060101010101" pitchFamily="49" charset="-122"/>
                <a:ea typeface="黑体" panose="02010609060101010101" pitchFamily="49" charset="-122"/>
              </a:rPr>
              <a:t>满量程输出数码时，实际模拟输入电压与理想模拟输入电压之差</a:t>
            </a:r>
            <a:r>
              <a:rPr lang="zh-CN" altLang="en-US" dirty="0">
                <a:solidFill>
                  <a:srgbClr val="000066"/>
                </a:solidFill>
                <a:latin typeface="黑体" panose="02010609060101010101" pitchFamily="49" charset="-122"/>
                <a:ea typeface="黑体" panose="02010609060101010101" pitchFamily="49" charset="-122"/>
              </a:rPr>
              <a:t>。</a:t>
            </a:r>
            <a:endParaRPr lang="en-US" altLang="zh-CN"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9109">
                                            <p:txEl>
                                              <p:charRg st="0" end="35"/>
                                            </p:txEl>
                                          </p:spTgt>
                                        </p:tgtEl>
                                        <p:attrNameLst>
                                          <p:attrName>style.visibility</p:attrName>
                                        </p:attrNameLst>
                                      </p:cBhvr>
                                      <p:to>
                                        <p:strVal val="visible"/>
                                      </p:to>
                                    </p:set>
                                    <p:animEffect transition="in" filter="dissolve">
                                      <p:cBhvr>
                                        <p:cTn id="7" dur="500"/>
                                        <p:tgtEl>
                                          <p:spTgt spid="129109">
                                            <p:txEl>
                                              <p:charRg st="0" end="3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9112">
                                            <p:txEl>
                                              <p:charRg st="0" end="32"/>
                                            </p:txEl>
                                          </p:spTgt>
                                        </p:tgtEl>
                                        <p:attrNameLst>
                                          <p:attrName>style.visibility</p:attrName>
                                        </p:attrNameLst>
                                      </p:cBhvr>
                                      <p:to>
                                        <p:strVal val="visible"/>
                                      </p:to>
                                    </p:set>
                                    <p:animEffect transition="in" filter="dissolve">
                                      <p:cBhvr>
                                        <p:cTn id="10" dur="500"/>
                                        <p:tgtEl>
                                          <p:spTgt spid="129112">
                                            <p:txEl>
                                              <p:charRg st="0" end="3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460757">
                                            <p:txEl>
                                              <p:charRg st="0" end="20"/>
                                            </p:txEl>
                                          </p:spTgt>
                                        </p:tgtEl>
                                        <p:attrNameLst>
                                          <p:attrName>style.visibility</p:attrName>
                                        </p:attrNameLst>
                                      </p:cBhvr>
                                      <p:to>
                                        <p:strVal val="visible"/>
                                      </p:to>
                                    </p:set>
                                    <p:animEffect transition="in" filter="dissolve">
                                      <p:cBhvr>
                                        <p:cTn id="18" dur="500"/>
                                        <p:tgtEl>
                                          <p:spTgt spid="2460757">
                                            <p:txEl>
                                              <p:charRg st="0" end="2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460757">
                                            <p:txEl>
                                              <p:charRg st="20" end="57"/>
                                            </p:txEl>
                                          </p:spTgt>
                                        </p:tgtEl>
                                        <p:attrNameLst>
                                          <p:attrName>style.visibility</p:attrName>
                                        </p:attrNameLst>
                                      </p:cBhvr>
                                      <p:to>
                                        <p:strVal val="visible"/>
                                      </p:to>
                                    </p:set>
                                    <p:animEffect transition="in" filter="dissolve">
                                      <p:cBhvr>
                                        <p:cTn id="23" dur="500"/>
                                        <p:tgtEl>
                                          <p:spTgt spid="2460757">
                                            <p:txEl>
                                              <p:charRg st="20" end="57"/>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460757">
                                            <p:txEl>
                                              <p:charRg st="57" end="93"/>
                                            </p:txEl>
                                          </p:spTgt>
                                        </p:tgtEl>
                                        <p:attrNameLst>
                                          <p:attrName>style.visibility</p:attrName>
                                        </p:attrNameLst>
                                      </p:cBhvr>
                                      <p:to>
                                        <p:strVal val="visible"/>
                                      </p:to>
                                    </p:set>
                                    <p:animEffect transition="in" filter="dissolve">
                                      <p:cBhvr>
                                        <p:cTn id="28" dur="500"/>
                                        <p:tgtEl>
                                          <p:spTgt spid="2460757">
                                            <p:txEl>
                                              <p:charRg st="57" end="9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460758">
                                            <p:txEl>
                                              <p:charRg st="4294967295" end="4294967295"/>
                                            </p:txEl>
                                          </p:spTgt>
                                        </p:tgtEl>
                                        <p:attrNameLst>
                                          <p:attrName>style.visibility</p:attrName>
                                        </p:attrNameLst>
                                      </p:cBhvr>
                                      <p:to>
                                        <p:strVal val="visible"/>
                                      </p:to>
                                    </p:set>
                                    <p:animEffect transition="in" filter="dissolve">
                                      <p:cBhvr>
                                        <p:cTn id="33" dur="500"/>
                                        <p:tgtEl>
                                          <p:spTgt spid="2460758">
                                            <p:txEl>
                                              <p:charRg st="4294967295" end="429496729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460758">
                                            <p:txEl>
                                              <p:charRg st="0" end="25"/>
                                            </p:txEl>
                                          </p:spTgt>
                                        </p:tgtEl>
                                        <p:attrNameLst>
                                          <p:attrName>style.visibility</p:attrName>
                                        </p:attrNameLst>
                                      </p:cBhvr>
                                      <p:to>
                                        <p:strVal val="visible"/>
                                      </p:to>
                                    </p:set>
                                    <p:animEffect transition="in" filter="dissolve">
                                      <p:cBhvr>
                                        <p:cTn id="38" dur="500"/>
                                        <p:tgtEl>
                                          <p:spTgt spid="2460758">
                                            <p:txEl>
                                              <p:charRg st="0" end="2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0757" grpId="0" build="p"/>
      <p:bldP spid="2460758" grpId="0" build="p"/>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 name="Group 57"/>
          <p:cNvGrpSpPr/>
          <p:nvPr/>
        </p:nvGrpSpPr>
        <p:grpSpPr>
          <a:xfrm>
            <a:off x="4652963" y="2611438"/>
            <a:ext cx="4243387" cy="3302000"/>
            <a:chOff x="2931" y="1645"/>
            <a:chExt cx="2673" cy="2080"/>
          </a:xfrm>
        </p:grpSpPr>
        <p:sp>
          <p:nvSpPr>
            <p:cNvPr id="21511" name="Line 27"/>
            <p:cNvSpPr/>
            <p:nvPr/>
          </p:nvSpPr>
          <p:spPr>
            <a:xfrm>
              <a:off x="3473" y="3266"/>
              <a:ext cx="1611" cy="0"/>
            </a:xfrm>
            <a:prstGeom prst="line">
              <a:avLst/>
            </a:prstGeom>
            <a:ln w="9525" cap="flat" cmpd="sng">
              <a:solidFill>
                <a:schemeClr val="accent2"/>
              </a:solidFill>
              <a:prstDash val="solid"/>
              <a:headEnd type="none" w="med" len="med"/>
              <a:tailEnd type="stealth" w="sm" len="lg"/>
            </a:ln>
          </p:spPr>
        </p:sp>
        <p:sp>
          <p:nvSpPr>
            <p:cNvPr id="21512" name="Text Box 28"/>
            <p:cNvSpPr txBox="1"/>
            <p:nvPr/>
          </p:nvSpPr>
          <p:spPr>
            <a:xfrm>
              <a:off x="5085" y="3140"/>
              <a:ext cx="261"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i</a:t>
              </a:r>
              <a:endParaRPr lang="en-US" altLang="zh-CN" sz="2000" i="1" baseline="-25000" dirty="0">
                <a:latin typeface="Times New Roman" panose="02020603050405020304" pitchFamily="18" charset="0"/>
              </a:endParaRPr>
            </a:p>
          </p:txBody>
        </p:sp>
        <p:sp>
          <p:nvSpPr>
            <p:cNvPr id="21513" name="Line 29"/>
            <p:cNvSpPr/>
            <p:nvPr/>
          </p:nvSpPr>
          <p:spPr>
            <a:xfrm flipV="1">
              <a:off x="3473" y="1747"/>
              <a:ext cx="0" cy="1519"/>
            </a:xfrm>
            <a:prstGeom prst="line">
              <a:avLst/>
            </a:prstGeom>
            <a:ln w="9525" cap="flat" cmpd="sng">
              <a:solidFill>
                <a:schemeClr val="accent2"/>
              </a:solidFill>
              <a:prstDash val="solid"/>
              <a:headEnd type="none" w="med" len="med"/>
              <a:tailEnd type="stealth" w="sm" len="lg"/>
            </a:ln>
          </p:spPr>
        </p:sp>
        <p:sp>
          <p:nvSpPr>
            <p:cNvPr id="21514" name="Line 30"/>
            <p:cNvSpPr/>
            <p:nvPr/>
          </p:nvSpPr>
          <p:spPr>
            <a:xfrm>
              <a:off x="3473" y="3082"/>
              <a:ext cx="34" cy="0"/>
            </a:xfrm>
            <a:prstGeom prst="line">
              <a:avLst/>
            </a:prstGeom>
            <a:ln w="9525" cap="flat" cmpd="sng">
              <a:solidFill>
                <a:schemeClr val="accent2"/>
              </a:solidFill>
              <a:prstDash val="solid"/>
              <a:headEnd type="none" w="med" len="med"/>
              <a:tailEnd type="none" w="med" len="med"/>
            </a:ln>
          </p:spPr>
        </p:sp>
        <p:sp>
          <p:nvSpPr>
            <p:cNvPr id="21515" name="Text Box 31"/>
            <p:cNvSpPr txBox="1"/>
            <p:nvPr/>
          </p:nvSpPr>
          <p:spPr>
            <a:xfrm>
              <a:off x="3189" y="3007"/>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001</a:t>
              </a:r>
              <a:endParaRPr lang="en-US" altLang="zh-CN" sz="1400" dirty="0">
                <a:latin typeface="Times New Roman" panose="02020603050405020304" pitchFamily="18" charset="0"/>
              </a:endParaRPr>
            </a:p>
          </p:txBody>
        </p:sp>
        <p:sp>
          <p:nvSpPr>
            <p:cNvPr id="21516" name="Line 32"/>
            <p:cNvSpPr/>
            <p:nvPr/>
          </p:nvSpPr>
          <p:spPr>
            <a:xfrm>
              <a:off x="3473" y="2932"/>
              <a:ext cx="42" cy="0"/>
            </a:xfrm>
            <a:prstGeom prst="line">
              <a:avLst/>
            </a:prstGeom>
            <a:ln w="9525" cap="flat" cmpd="sng">
              <a:solidFill>
                <a:schemeClr val="accent2"/>
              </a:solidFill>
              <a:prstDash val="solid"/>
              <a:headEnd type="none" w="med" len="med"/>
              <a:tailEnd type="none" w="med" len="med"/>
            </a:ln>
          </p:spPr>
        </p:sp>
        <p:sp>
          <p:nvSpPr>
            <p:cNvPr id="21517" name="Text Box 33"/>
            <p:cNvSpPr txBox="1"/>
            <p:nvPr/>
          </p:nvSpPr>
          <p:spPr>
            <a:xfrm>
              <a:off x="3188" y="2852"/>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010</a:t>
              </a:r>
              <a:endParaRPr lang="en-US" altLang="zh-CN" sz="1400" dirty="0">
                <a:latin typeface="Times New Roman" panose="02020603050405020304" pitchFamily="18" charset="0"/>
              </a:endParaRPr>
            </a:p>
          </p:txBody>
        </p:sp>
        <p:sp>
          <p:nvSpPr>
            <p:cNvPr id="21518" name="Line 34"/>
            <p:cNvSpPr/>
            <p:nvPr/>
          </p:nvSpPr>
          <p:spPr>
            <a:xfrm>
              <a:off x="3473" y="2749"/>
              <a:ext cx="42" cy="0"/>
            </a:xfrm>
            <a:prstGeom prst="line">
              <a:avLst/>
            </a:prstGeom>
            <a:ln w="9525" cap="flat" cmpd="sng">
              <a:solidFill>
                <a:schemeClr val="accent2"/>
              </a:solidFill>
              <a:prstDash val="solid"/>
              <a:headEnd type="none" w="med" len="med"/>
              <a:tailEnd type="none" w="med" len="med"/>
            </a:ln>
          </p:spPr>
        </p:sp>
        <p:sp>
          <p:nvSpPr>
            <p:cNvPr id="21519" name="Text Box 35"/>
            <p:cNvSpPr txBox="1"/>
            <p:nvPr/>
          </p:nvSpPr>
          <p:spPr>
            <a:xfrm>
              <a:off x="3188" y="2664"/>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011</a:t>
              </a:r>
              <a:endParaRPr lang="en-US" altLang="zh-CN" sz="1400" dirty="0">
                <a:latin typeface="Times New Roman" panose="02020603050405020304" pitchFamily="18" charset="0"/>
              </a:endParaRPr>
            </a:p>
          </p:txBody>
        </p:sp>
        <p:sp>
          <p:nvSpPr>
            <p:cNvPr id="21520" name="Line 36"/>
            <p:cNvSpPr/>
            <p:nvPr/>
          </p:nvSpPr>
          <p:spPr>
            <a:xfrm>
              <a:off x="3473" y="2573"/>
              <a:ext cx="42" cy="0"/>
            </a:xfrm>
            <a:prstGeom prst="line">
              <a:avLst/>
            </a:prstGeom>
            <a:ln w="9525" cap="flat" cmpd="sng">
              <a:solidFill>
                <a:schemeClr val="accent2"/>
              </a:solidFill>
              <a:prstDash val="solid"/>
              <a:headEnd type="none" w="med" len="med"/>
              <a:tailEnd type="none" w="med" len="med"/>
            </a:ln>
          </p:spPr>
        </p:sp>
        <p:sp>
          <p:nvSpPr>
            <p:cNvPr id="21521" name="Text Box 37"/>
            <p:cNvSpPr txBox="1"/>
            <p:nvPr/>
          </p:nvSpPr>
          <p:spPr>
            <a:xfrm>
              <a:off x="3188" y="2493"/>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100</a:t>
              </a:r>
              <a:endParaRPr lang="en-US" altLang="zh-CN" sz="1400" dirty="0">
                <a:latin typeface="Times New Roman" panose="02020603050405020304" pitchFamily="18" charset="0"/>
              </a:endParaRPr>
            </a:p>
          </p:txBody>
        </p:sp>
        <p:sp>
          <p:nvSpPr>
            <p:cNvPr id="21522" name="Line 38"/>
            <p:cNvSpPr/>
            <p:nvPr/>
          </p:nvSpPr>
          <p:spPr>
            <a:xfrm>
              <a:off x="3473" y="2390"/>
              <a:ext cx="42" cy="0"/>
            </a:xfrm>
            <a:prstGeom prst="line">
              <a:avLst/>
            </a:prstGeom>
            <a:ln w="9525" cap="flat" cmpd="sng">
              <a:solidFill>
                <a:schemeClr val="accent2"/>
              </a:solidFill>
              <a:prstDash val="solid"/>
              <a:headEnd type="none" w="med" len="med"/>
              <a:tailEnd type="none" w="med" len="med"/>
            </a:ln>
          </p:spPr>
        </p:sp>
        <p:sp>
          <p:nvSpPr>
            <p:cNvPr id="21523" name="Text Box 39"/>
            <p:cNvSpPr txBox="1"/>
            <p:nvPr/>
          </p:nvSpPr>
          <p:spPr>
            <a:xfrm>
              <a:off x="3188" y="2305"/>
              <a:ext cx="284" cy="179"/>
            </a:xfrm>
            <a:prstGeom prst="rect">
              <a:avLst/>
            </a:prstGeom>
            <a:noFill/>
            <a:ln w="9525">
              <a:noFill/>
            </a:ln>
          </p:spPr>
          <p:txBody>
            <a:bodyPr wrap="none">
              <a:spAutoFit/>
            </a:bodyPr>
            <a:p>
              <a:pPr eaLnBrk="1" hangingPunct="1">
                <a:lnSpc>
                  <a:spcPct val="90000"/>
                </a:lnSpc>
              </a:pPr>
              <a:r>
                <a:rPr lang="en-US" altLang="zh-CN" sz="1400" dirty="0">
                  <a:latin typeface="Times New Roman" panose="02020603050405020304" pitchFamily="18" charset="0"/>
                </a:rPr>
                <a:t>101</a:t>
              </a:r>
              <a:endParaRPr lang="en-US" altLang="zh-CN" sz="1400" dirty="0">
                <a:latin typeface="Times New Roman" panose="02020603050405020304" pitchFamily="18" charset="0"/>
              </a:endParaRPr>
            </a:p>
          </p:txBody>
        </p:sp>
        <p:sp>
          <p:nvSpPr>
            <p:cNvPr id="21524" name="Line 40"/>
            <p:cNvSpPr/>
            <p:nvPr/>
          </p:nvSpPr>
          <p:spPr>
            <a:xfrm>
              <a:off x="3473" y="2214"/>
              <a:ext cx="42" cy="0"/>
            </a:xfrm>
            <a:prstGeom prst="line">
              <a:avLst/>
            </a:prstGeom>
            <a:ln w="9525" cap="flat" cmpd="sng">
              <a:solidFill>
                <a:schemeClr val="accent2"/>
              </a:solidFill>
              <a:prstDash val="solid"/>
              <a:headEnd type="none" w="med" len="med"/>
              <a:tailEnd type="none" w="med" len="med"/>
            </a:ln>
          </p:spPr>
        </p:sp>
        <p:sp>
          <p:nvSpPr>
            <p:cNvPr id="21525" name="Text Box 41"/>
            <p:cNvSpPr txBox="1"/>
            <p:nvPr/>
          </p:nvSpPr>
          <p:spPr>
            <a:xfrm>
              <a:off x="3188" y="2134"/>
              <a:ext cx="284" cy="179"/>
            </a:xfrm>
            <a:prstGeom prst="rect">
              <a:avLst/>
            </a:prstGeom>
            <a:noFill/>
            <a:ln w="9525">
              <a:noFill/>
            </a:ln>
          </p:spPr>
          <p:txBody>
            <a:bodyPr>
              <a:spAutoFit/>
            </a:bodyPr>
            <a:p>
              <a:pPr eaLnBrk="1" hangingPunct="1">
                <a:lnSpc>
                  <a:spcPct val="90000"/>
                </a:lnSpc>
              </a:pPr>
              <a:r>
                <a:rPr lang="en-US" altLang="zh-CN" sz="1400" dirty="0">
                  <a:latin typeface="Times New Roman" panose="02020603050405020304" pitchFamily="18" charset="0"/>
                </a:rPr>
                <a:t>110</a:t>
              </a:r>
              <a:endParaRPr lang="en-US" altLang="zh-CN" sz="1400" dirty="0">
                <a:latin typeface="Times New Roman" panose="02020603050405020304" pitchFamily="18" charset="0"/>
              </a:endParaRPr>
            </a:p>
          </p:txBody>
        </p:sp>
        <p:sp>
          <p:nvSpPr>
            <p:cNvPr id="21526" name="Line 42"/>
            <p:cNvSpPr/>
            <p:nvPr/>
          </p:nvSpPr>
          <p:spPr>
            <a:xfrm>
              <a:off x="3473" y="2039"/>
              <a:ext cx="42" cy="0"/>
            </a:xfrm>
            <a:prstGeom prst="line">
              <a:avLst/>
            </a:prstGeom>
            <a:ln w="9525" cap="flat" cmpd="sng">
              <a:solidFill>
                <a:schemeClr val="accent2"/>
              </a:solidFill>
              <a:prstDash val="solid"/>
              <a:headEnd type="none" w="med" len="med"/>
              <a:tailEnd type="none" w="med" len="med"/>
            </a:ln>
          </p:spPr>
        </p:sp>
        <p:sp>
          <p:nvSpPr>
            <p:cNvPr id="21527" name="Text Box 43"/>
            <p:cNvSpPr txBox="1"/>
            <p:nvPr/>
          </p:nvSpPr>
          <p:spPr>
            <a:xfrm>
              <a:off x="3188" y="1971"/>
              <a:ext cx="284" cy="179"/>
            </a:xfrm>
            <a:prstGeom prst="rect">
              <a:avLst/>
            </a:prstGeom>
            <a:noFill/>
            <a:ln w="9525">
              <a:noFill/>
            </a:ln>
          </p:spPr>
          <p:txBody>
            <a:bodyPr>
              <a:spAutoFit/>
            </a:bodyPr>
            <a:p>
              <a:pPr eaLnBrk="1" hangingPunct="1">
                <a:lnSpc>
                  <a:spcPct val="90000"/>
                </a:lnSpc>
              </a:pPr>
              <a:r>
                <a:rPr lang="en-US" altLang="zh-CN" sz="1400" dirty="0">
                  <a:latin typeface="Times New Roman" panose="02020603050405020304" pitchFamily="18" charset="0"/>
                </a:rPr>
                <a:t>111</a:t>
              </a:r>
              <a:endParaRPr lang="en-US" altLang="zh-CN" sz="1400" dirty="0">
                <a:latin typeface="Times New Roman" panose="02020603050405020304" pitchFamily="18" charset="0"/>
              </a:endParaRPr>
            </a:p>
          </p:txBody>
        </p:sp>
        <p:sp>
          <p:nvSpPr>
            <p:cNvPr id="21528" name="Text Box 44"/>
            <p:cNvSpPr txBox="1"/>
            <p:nvPr/>
          </p:nvSpPr>
          <p:spPr>
            <a:xfrm>
              <a:off x="2931" y="1718"/>
              <a:ext cx="261" cy="682"/>
            </a:xfrm>
            <a:prstGeom prst="rect">
              <a:avLst/>
            </a:prstGeom>
            <a:noFill/>
            <a:ln w="9525">
              <a:noFill/>
            </a:ln>
          </p:spPr>
          <p:txBody>
            <a:bodyPr wrap="none">
              <a:spAutoFit/>
            </a:bodyPr>
            <a:p>
              <a:pPr eaLnBrk="1" hangingPunct="1">
                <a:lnSpc>
                  <a:spcPct val="90000"/>
                </a:lnSpc>
              </a:pPr>
              <a:r>
                <a:rPr lang="zh-CN" altLang="en-US" sz="1800" dirty="0">
                  <a:latin typeface="Times New Roman" panose="02020603050405020304" pitchFamily="18" charset="0"/>
                </a:rPr>
                <a:t>输</a:t>
              </a:r>
              <a:endParaRPr lang="zh-CN" altLang="en-US" sz="1800" dirty="0">
                <a:latin typeface="Times New Roman" panose="02020603050405020304" pitchFamily="18" charset="0"/>
              </a:endParaRPr>
            </a:p>
            <a:p>
              <a:pPr eaLnBrk="1" hangingPunct="1">
                <a:lnSpc>
                  <a:spcPct val="90000"/>
                </a:lnSpc>
              </a:pPr>
              <a:r>
                <a:rPr lang="zh-CN" altLang="en-US" sz="1800" dirty="0">
                  <a:latin typeface="Times New Roman" panose="02020603050405020304" pitchFamily="18" charset="0"/>
                </a:rPr>
                <a:t>出</a:t>
              </a:r>
              <a:endParaRPr lang="zh-CN" altLang="en-US" sz="1800" dirty="0">
                <a:latin typeface="Times New Roman" panose="02020603050405020304" pitchFamily="18" charset="0"/>
              </a:endParaRPr>
            </a:p>
            <a:p>
              <a:pPr eaLnBrk="1" hangingPunct="1">
                <a:lnSpc>
                  <a:spcPct val="90000"/>
                </a:lnSpc>
              </a:pPr>
              <a:r>
                <a:rPr lang="zh-CN" altLang="en-US" sz="1800" dirty="0">
                  <a:latin typeface="Times New Roman" panose="02020603050405020304" pitchFamily="18" charset="0"/>
                </a:rPr>
                <a:t>数</a:t>
              </a:r>
              <a:endParaRPr lang="zh-CN" altLang="en-US" sz="1800" dirty="0">
                <a:latin typeface="Times New Roman" panose="02020603050405020304" pitchFamily="18" charset="0"/>
              </a:endParaRPr>
            </a:p>
            <a:p>
              <a:pPr eaLnBrk="1" hangingPunct="1">
                <a:lnSpc>
                  <a:spcPct val="90000"/>
                </a:lnSpc>
              </a:pPr>
              <a:r>
                <a:rPr lang="zh-CN" altLang="en-US" sz="1800" dirty="0">
                  <a:latin typeface="Times New Roman" panose="02020603050405020304" pitchFamily="18" charset="0"/>
                </a:rPr>
                <a:t>码</a:t>
              </a:r>
              <a:endParaRPr lang="zh-CN" altLang="en-US" sz="1800" dirty="0">
                <a:latin typeface="Times New Roman" panose="02020603050405020304" pitchFamily="18" charset="0"/>
              </a:endParaRPr>
            </a:p>
          </p:txBody>
        </p:sp>
        <p:sp>
          <p:nvSpPr>
            <p:cNvPr id="21529" name="Line 45"/>
            <p:cNvSpPr/>
            <p:nvPr/>
          </p:nvSpPr>
          <p:spPr>
            <a:xfrm flipV="1">
              <a:off x="3532" y="3082"/>
              <a:ext cx="0" cy="184"/>
            </a:xfrm>
            <a:prstGeom prst="line">
              <a:avLst/>
            </a:prstGeom>
            <a:ln w="25400" cap="flat" cmpd="sng">
              <a:solidFill>
                <a:srgbClr val="333300"/>
              </a:solidFill>
              <a:prstDash val="solid"/>
              <a:headEnd type="none" w="med" len="med"/>
              <a:tailEnd type="none" w="med" len="med"/>
            </a:ln>
          </p:spPr>
        </p:sp>
        <p:sp>
          <p:nvSpPr>
            <p:cNvPr id="21530" name="Line 46"/>
            <p:cNvSpPr/>
            <p:nvPr/>
          </p:nvSpPr>
          <p:spPr>
            <a:xfrm>
              <a:off x="3540" y="3082"/>
              <a:ext cx="59" cy="0"/>
            </a:xfrm>
            <a:prstGeom prst="line">
              <a:avLst/>
            </a:prstGeom>
            <a:ln w="25400" cap="flat" cmpd="sng">
              <a:solidFill>
                <a:srgbClr val="333300"/>
              </a:solidFill>
              <a:prstDash val="solid"/>
              <a:headEnd type="none" w="med" len="med"/>
              <a:tailEnd type="none" w="med" len="med"/>
            </a:ln>
          </p:spPr>
        </p:sp>
        <p:sp>
          <p:nvSpPr>
            <p:cNvPr id="21531" name="Line 47"/>
            <p:cNvSpPr/>
            <p:nvPr/>
          </p:nvSpPr>
          <p:spPr>
            <a:xfrm flipV="1">
              <a:off x="3599" y="2932"/>
              <a:ext cx="0" cy="150"/>
            </a:xfrm>
            <a:prstGeom prst="line">
              <a:avLst/>
            </a:prstGeom>
            <a:ln w="25400" cap="flat" cmpd="sng">
              <a:solidFill>
                <a:srgbClr val="333300"/>
              </a:solidFill>
              <a:prstDash val="solid"/>
              <a:headEnd type="none" w="med" len="med"/>
              <a:tailEnd type="none" w="med" len="med"/>
            </a:ln>
          </p:spPr>
        </p:sp>
        <p:sp>
          <p:nvSpPr>
            <p:cNvPr id="21532" name="Line 48"/>
            <p:cNvSpPr/>
            <p:nvPr/>
          </p:nvSpPr>
          <p:spPr>
            <a:xfrm>
              <a:off x="3599" y="2932"/>
              <a:ext cx="133" cy="0"/>
            </a:xfrm>
            <a:prstGeom prst="line">
              <a:avLst/>
            </a:prstGeom>
            <a:ln w="25400" cap="flat" cmpd="sng">
              <a:solidFill>
                <a:srgbClr val="333300"/>
              </a:solidFill>
              <a:prstDash val="solid"/>
              <a:headEnd type="none" w="med" len="med"/>
              <a:tailEnd type="none" w="med" len="med"/>
            </a:ln>
          </p:spPr>
        </p:sp>
        <p:sp>
          <p:nvSpPr>
            <p:cNvPr id="21533" name="Line 49"/>
            <p:cNvSpPr/>
            <p:nvPr/>
          </p:nvSpPr>
          <p:spPr>
            <a:xfrm flipV="1">
              <a:off x="3732" y="2749"/>
              <a:ext cx="0" cy="183"/>
            </a:xfrm>
            <a:prstGeom prst="line">
              <a:avLst/>
            </a:prstGeom>
            <a:ln w="25400" cap="flat" cmpd="sng">
              <a:solidFill>
                <a:srgbClr val="333300"/>
              </a:solidFill>
              <a:prstDash val="solid"/>
              <a:headEnd type="none" w="med" len="med"/>
              <a:tailEnd type="none" w="med" len="med"/>
            </a:ln>
          </p:spPr>
        </p:sp>
        <p:sp>
          <p:nvSpPr>
            <p:cNvPr id="21534" name="Line 50"/>
            <p:cNvSpPr/>
            <p:nvPr/>
          </p:nvSpPr>
          <p:spPr>
            <a:xfrm>
              <a:off x="3732" y="2749"/>
              <a:ext cx="184" cy="0"/>
            </a:xfrm>
            <a:prstGeom prst="line">
              <a:avLst/>
            </a:prstGeom>
            <a:ln w="25400" cap="flat" cmpd="sng">
              <a:solidFill>
                <a:srgbClr val="333300"/>
              </a:solidFill>
              <a:prstDash val="solid"/>
              <a:headEnd type="none" w="med" len="med"/>
              <a:tailEnd type="none" w="med" len="med"/>
            </a:ln>
          </p:spPr>
        </p:sp>
        <p:sp>
          <p:nvSpPr>
            <p:cNvPr id="21535" name="Line 51"/>
            <p:cNvSpPr/>
            <p:nvPr/>
          </p:nvSpPr>
          <p:spPr>
            <a:xfrm flipV="1">
              <a:off x="3916" y="2573"/>
              <a:ext cx="0" cy="176"/>
            </a:xfrm>
            <a:prstGeom prst="line">
              <a:avLst/>
            </a:prstGeom>
            <a:ln w="25400" cap="flat" cmpd="sng">
              <a:solidFill>
                <a:srgbClr val="333300"/>
              </a:solidFill>
              <a:prstDash val="solid"/>
              <a:headEnd type="none" w="med" len="med"/>
              <a:tailEnd type="none" w="med" len="med"/>
            </a:ln>
          </p:spPr>
        </p:sp>
        <p:sp>
          <p:nvSpPr>
            <p:cNvPr id="21536" name="Line 52"/>
            <p:cNvSpPr/>
            <p:nvPr/>
          </p:nvSpPr>
          <p:spPr>
            <a:xfrm>
              <a:off x="3916" y="2573"/>
              <a:ext cx="192" cy="0"/>
            </a:xfrm>
            <a:prstGeom prst="line">
              <a:avLst/>
            </a:prstGeom>
            <a:ln w="25400" cap="flat" cmpd="sng">
              <a:solidFill>
                <a:srgbClr val="333300"/>
              </a:solidFill>
              <a:prstDash val="solid"/>
              <a:headEnd type="none" w="med" len="med"/>
              <a:tailEnd type="none" w="med" len="med"/>
            </a:ln>
          </p:spPr>
        </p:sp>
        <p:sp>
          <p:nvSpPr>
            <p:cNvPr id="21537" name="Line 53"/>
            <p:cNvSpPr/>
            <p:nvPr/>
          </p:nvSpPr>
          <p:spPr>
            <a:xfrm flipV="1">
              <a:off x="4108" y="2390"/>
              <a:ext cx="0" cy="183"/>
            </a:xfrm>
            <a:prstGeom prst="line">
              <a:avLst/>
            </a:prstGeom>
            <a:ln w="25400" cap="flat" cmpd="sng">
              <a:solidFill>
                <a:srgbClr val="333300"/>
              </a:solidFill>
              <a:prstDash val="solid"/>
              <a:headEnd type="none" w="med" len="med"/>
              <a:tailEnd type="none" w="med" len="med"/>
            </a:ln>
          </p:spPr>
        </p:sp>
        <p:sp>
          <p:nvSpPr>
            <p:cNvPr id="21538" name="Line 54"/>
            <p:cNvSpPr/>
            <p:nvPr/>
          </p:nvSpPr>
          <p:spPr>
            <a:xfrm>
              <a:off x="4108" y="2390"/>
              <a:ext cx="183" cy="0"/>
            </a:xfrm>
            <a:prstGeom prst="line">
              <a:avLst/>
            </a:prstGeom>
            <a:ln w="25400" cap="flat" cmpd="sng">
              <a:solidFill>
                <a:srgbClr val="333300"/>
              </a:solidFill>
              <a:prstDash val="solid"/>
              <a:headEnd type="none" w="med" len="med"/>
              <a:tailEnd type="none" w="med" len="med"/>
            </a:ln>
          </p:spPr>
        </p:sp>
        <p:sp>
          <p:nvSpPr>
            <p:cNvPr id="21539" name="Line 55"/>
            <p:cNvSpPr/>
            <p:nvPr/>
          </p:nvSpPr>
          <p:spPr>
            <a:xfrm flipV="1">
              <a:off x="4291" y="2214"/>
              <a:ext cx="0" cy="176"/>
            </a:xfrm>
            <a:prstGeom prst="line">
              <a:avLst/>
            </a:prstGeom>
            <a:ln w="25400" cap="flat" cmpd="sng">
              <a:solidFill>
                <a:srgbClr val="333300"/>
              </a:solidFill>
              <a:prstDash val="solid"/>
              <a:headEnd type="none" w="med" len="med"/>
              <a:tailEnd type="none" w="med" len="med"/>
            </a:ln>
          </p:spPr>
        </p:sp>
        <p:sp>
          <p:nvSpPr>
            <p:cNvPr id="21540" name="Line 56"/>
            <p:cNvSpPr/>
            <p:nvPr/>
          </p:nvSpPr>
          <p:spPr>
            <a:xfrm>
              <a:off x="4291" y="2214"/>
              <a:ext cx="176" cy="0"/>
            </a:xfrm>
            <a:prstGeom prst="line">
              <a:avLst/>
            </a:prstGeom>
            <a:ln w="25400" cap="flat" cmpd="sng">
              <a:solidFill>
                <a:srgbClr val="333300"/>
              </a:solidFill>
              <a:prstDash val="solid"/>
              <a:headEnd type="none" w="med" len="med"/>
              <a:tailEnd type="none" w="med" len="med"/>
            </a:ln>
          </p:spPr>
        </p:sp>
        <p:sp>
          <p:nvSpPr>
            <p:cNvPr id="21541" name="Line 57"/>
            <p:cNvSpPr/>
            <p:nvPr/>
          </p:nvSpPr>
          <p:spPr>
            <a:xfrm flipV="1">
              <a:off x="4467" y="2056"/>
              <a:ext cx="0" cy="158"/>
            </a:xfrm>
            <a:prstGeom prst="line">
              <a:avLst/>
            </a:prstGeom>
            <a:ln w="25400" cap="flat" cmpd="sng">
              <a:solidFill>
                <a:srgbClr val="333300"/>
              </a:solidFill>
              <a:prstDash val="solid"/>
              <a:headEnd type="none" w="med" len="med"/>
              <a:tailEnd type="none" w="med" len="med"/>
            </a:ln>
          </p:spPr>
        </p:sp>
        <p:sp>
          <p:nvSpPr>
            <p:cNvPr id="21542" name="Line 58"/>
            <p:cNvSpPr/>
            <p:nvPr/>
          </p:nvSpPr>
          <p:spPr>
            <a:xfrm>
              <a:off x="4467" y="2056"/>
              <a:ext cx="183" cy="0"/>
            </a:xfrm>
            <a:prstGeom prst="line">
              <a:avLst/>
            </a:prstGeom>
            <a:ln w="25400" cap="flat" cmpd="sng">
              <a:solidFill>
                <a:srgbClr val="333300"/>
              </a:solidFill>
              <a:prstDash val="solid"/>
              <a:headEnd type="none" w="med" len="med"/>
              <a:tailEnd type="none" w="med" len="med"/>
            </a:ln>
          </p:spPr>
        </p:sp>
        <p:sp>
          <p:nvSpPr>
            <p:cNvPr id="21543" name="Line 59"/>
            <p:cNvSpPr/>
            <p:nvPr/>
          </p:nvSpPr>
          <p:spPr>
            <a:xfrm flipV="1">
              <a:off x="3473" y="1906"/>
              <a:ext cx="1361" cy="1360"/>
            </a:xfrm>
            <a:prstGeom prst="line">
              <a:avLst/>
            </a:prstGeom>
            <a:ln w="9525" cap="flat" cmpd="sng">
              <a:solidFill>
                <a:srgbClr val="FF00FF"/>
              </a:solidFill>
              <a:prstDash val="dash"/>
              <a:headEnd type="none" w="med" len="med"/>
              <a:tailEnd type="none" w="med" len="med"/>
            </a:ln>
          </p:spPr>
        </p:sp>
        <p:sp>
          <p:nvSpPr>
            <p:cNvPr id="21544" name="Freeform 60"/>
            <p:cNvSpPr/>
            <p:nvPr/>
          </p:nvSpPr>
          <p:spPr>
            <a:xfrm>
              <a:off x="3473" y="1905"/>
              <a:ext cx="1361" cy="1361"/>
            </a:xfrm>
            <a:custGeom>
              <a:avLst/>
              <a:gdLst>
                <a:gd name="txL" fmla="*/ 0 w 1361"/>
                <a:gd name="txT" fmla="*/ 0 h 1361"/>
                <a:gd name="txR" fmla="*/ 1361 w 1361"/>
                <a:gd name="txB" fmla="*/ 1361 h 1361"/>
              </a:gdLst>
              <a:ahLst/>
              <a:cxnLst>
                <a:cxn ang="0">
                  <a:pos x="0" y="2147482366"/>
                </a:cxn>
                <a:cxn ang="0">
                  <a:pos x="2147482366" y="2147482366"/>
                </a:cxn>
                <a:cxn ang="0">
                  <a:pos x="2147482366" y="2147482366"/>
                </a:cxn>
                <a:cxn ang="0">
                  <a:pos x="2147482366" y="2147482366"/>
                </a:cxn>
                <a:cxn ang="0">
                  <a:pos x="2147482366" y="2147482366"/>
                </a:cxn>
                <a:cxn ang="0">
                  <a:pos x="2147482366" y="2147482366"/>
                </a:cxn>
                <a:cxn ang="0">
                  <a:pos x="2147482366" y="2147482366"/>
                </a:cxn>
                <a:cxn ang="0">
                  <a:pos x="2147482366" y="2147482366"/>
                </a:cxn>
                <a:cxn ang="0">
                  <a:pos x="2147482366" y="2147482366"/>
                </a:cxn>
                <a:cxn ang="0">
                  <a:pos x="2147482366" y="2147482366"/>
                </a:cxn>
                <a:cxn ang="0">
                  <a:pos x="2147482366" y="0"/>
                </a:cxn>
              </a:cxnLst>
              <a:rect l="txL" t="txT" r="txR" b="txB"/>
              <a:pathLst>
                <a:path w="1361" h="1361">
                  <a:moveTo>
                    <a:pt x="0" y="1361"/>
                  </a:moveTo>
                  <a:cubicBezTo>
                    <a:pt x="29" y="1297"/>
                    <a:pt x="59" y="1233"/>
                    <a:pt x="92" y="1177"/>
                  </a:cubicBezTo>
                  <a:cubicBezTo>
                    <a:pt x="125" y="1121"/>
                    <a:pt x="158" y="1082"/>
                    <a:pt x="201" y="1027"/>
                  </a:cubicBezTo>
                  <a:cubicBezTo>
                    <a:pt x="244" y="972"/>
                    <a:pt x="295" y="905"/>
                    <a:pt x="351" y="844"/>
                  </a:cubicBezTo>
                  <a:cubicBezTo>
                    <a:pt x="407" y="783"/>
                    <a:pt x="474" y="720"/>
                    <a:pt x="535" y="660"/>
                  </a:cubicBezTo>
                  <a:cubicBezTo>
                    <a:pt x="596" y="600"/>
                    <a:pt x="654" y="546"/>
                    <a:pt x="718" y="485"/>
                  </a:cubicBezTo>
                  <a:cubicBezTo>
                    <a:pt x="782" y="424"/>
                    <a:pt x="855" y="350"/>
                    <a:pt x="919" y="293"/>
                  </a:cubicBezTo>
                  <a:cubicBezTo>
                    <a:pt x="983" y="236"/>
                    <a:pt x="1052" y="178"/>
                    <a:pt x="1102" y="142"/>
                  </a:cubicBezTo>
                  <a:cubicBezTo>
                    <a:pt x="1152" y="106"/>
                    <a:pt x="1187" y="94"/>
                    <a:pt x="1219" y="76"/>
                  </a:cubicBezTo>
                  <a:cubicBezTo>
                    <a:pt x="1251" y="58"/>
                    <a:pt x="1270" y="47"/>
                    <a:pt x="1294" y="34"/>
                  </a:cubicBezTo>
                  <a:cubicBezTo>
                    <a:pt x="1318" y="21"/>
                    <a:pt x="1350" y="6"/>
                    <a:pt x="1361" y="0"/>
                  </a:cubicBezTo>
                </a:path>
              </a:pathLst>
            </a:custGeom>
            <a:noFill/>
            <a:ln w="9525" cap="flat" cmpd="sng">
              <a:solidFill>
                <a:srgbClr val="FF6600">
                  <a:alpha val="100000"/>
                </a:srgbClr>
              </a:solidFill>
              <a:prstDash val="dash"/>
              <a:round/>
              <a:headEnd type="none" w="med" len="med"/>
              <a:tailEnd type="none" w="med" len="med"/>
            </a:ln>
          </p:spPr>
          <p:txBody>
            <a:bodyPr/>
            <a:p>
              <a:endParaRPr lang="zh-CN" altLang="en-US"/>
            </a:p>
          </p:txBody>
        </p:sp>
        <p:sp>
          <p:nvSpPr>
            <p:cNvPr id="21545" name="Text Box 61"/>
            <p:cNvSpPr txBox="1"/>
            <p:nvPr/>
          </p:nvSpPr>
          <p:spPr>
            <a:xfrm>
              <a:off x="3784" y="3460"/>
              <a:ext cx="888" cy="265"/>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线性误差</a:t>
              </a:r>
              <a:endParaRPr lang="zh-CN" altLang="en-US" sz="2400" dirty="0">
                <a:solidFill>
                  <a:srgbClr val="000099"/>
                </a:solidFill>
                <a:latin typeface="Times New Roman" panose="02020603050405020304" pitchFamily="18" charset="0"/>
              </a:endParaRPr>
            </a:p>
          </p:txBody>
        </p:sp>
        <p:sp>
          <p:nvSpPr>
            <p:cNvPr id="21546" name="Line 62"/>
            <p:cNvSpPr/>
            <p:nvPr/>
          </p:nvSpPr>
          <p:spPr>
            <a:xfrm>
              <a:off x="3999" y="2573"/>
              <a:ext cx="0" cy="384"/>
            </a:xfrm>
            <a:prstGeom prst="line">
              <a:avLst/>
            </a:prstGeom>
            <a:ln w="9525" cap="flat" cmpd="sng">
              <a:solidFill>
                <a:srgbClr val="FF0000"/>
              </a:solidFill>
              <a:prstDash val="solid"/>
              <a:headEnd type="none" w="med" len="med"/>
              <a:tailEnd type="none" w="med" len="med"/>
            </a:ln>
          </p:spPr>
        </p:sp>
        <p:sp>
          <p:nvSpPr>
            <p:cNvPr id="21547" name="Line 63"/>
            <p:cNvSpPr/>
            <p:nvPr/>
          </p:nvSpPr>
          <p:spPr>
            <a:xfrm>
              <a:off x="4166" y="2568"/>
              <a:ext cx="0" cy="376"/>
            </a:xfrm>
            <a:prstGeom prst="line">
              <a:avLst/>
            </a:prstGeom>
            <a:ln w="9525" cap="flat" cmpd="sng">
              <a:solidFill>
                <a:srgbClr val="FF0000"/>
              </a:solidFill>
              <a:prstDash val="solid"/>
              <a:headEnd type="none" w="med" len="med"/>
              <a:tailEnd type="none" w="med" len="med"/>
            </a:ln>
          </p:spPr>
        </p:sp>
        <p:sp>
          <p:nvSpPr>
            <p:cNvPr id="21548" name="Line 64"/>
            <p:cNvSpPr/>
            <p:nvPr/>
          </p:nvSpPr>
          <p:spPr>
            <a:xfrm>
              <a:off x="3874" y="2907"/>
              <a:ext cx="125" cy="0"/>
            </a:xfrm>
            <a:prstGeom prst="line">
              <a:avLst/>
            </a:prstGeom>
            <a:ln w="9525" cap="flat" cmpd="sng">
              <a:solidFill>
                <a:srgbClr val="FF0000"/>
              </a:solidFill>
              <a:prstDash val="solid"/>
              <a:headEnd type="none" w="med" len="med"/>
              <a:tailEnd type="stealth" w="sm" len="lg"/>
            </a:ln>
          </p:spPr>
        </p:sp>
        <p:sp>
          <p:nvSpPr>
            <p:cNvPr id="21549" name="Line 65"/>
            <p:cNvSpPr/>
            <p:nvPr/>
          </p:nvSpPr>
          <p:spPr>
            <a:xfrm flipH="1">
              <a:off x="4166" y="2907"/>
              <a:ext cx="376" cy="0"/>
            </a:xfrm>
            <a:prstGeom prst="line">
              <a:avLst/>
            </a:prstGeom>
            <a:ln w="9525" cap="flat" cmpd="sng">
              <a:solidFill>
                <a:srgbClr val="FF0000"/>
              </a:solidFill>
              <a:prstDash val="solid"/>
              <a:headEnd type="none" w="med" len="med"/>
              <a:tailEnd type="stealth" w="sm" len="lg"/>
            </a:ln>
          </p:spPr>
        </p:sp>
        <p:sp>
          <p:nvSpPr>
            <p:cNvPr id="21550" name="Text Box 66"/>
            <p:cNvSpPr txBox="1"/>
            <p:nvPr/>
          </p:nvSpPr>
          <p:spPr>
            <a:xfrm>
              <a:off x="4175" y="2688"/>
              <a:ext cx="760" cy="231"/>
            </a:xfrm>
            <a:prstGeom prst="rect">
              <a:avLst/>
            </a:prstGeom>
            <a:noFill/>
            <a:ln w="9525">
              <a:noFill/>
            </a:ln>
          </p:spPr>
          <p:txBody>
            <a:bodyPr wrap="none">
              <a:spAutoFit/>
            </a:bodyPr>
            <a:p>
              <a:pPr eaLnBrk="1" hangingPunct="1">
                <a:lnSpc>
                  <a:spcPct val="90000"/>
                </a:lnSpc>
              </a:pPr>
              <a:r>
                <a:rPr lang="zh-CN" altLang="en-US" sz="2000" dirty="0">
                  <a:solidFill>
                    <a:srgbClr val="FF0000"/>
                  </a:solidFill>
                  <a:latin typeface="Times New Roman" panose="02020603050405020304" pitchFamily="18" charset="0"/>
                </a:rPr>
                <a:t>线性误差</a:t>
              </a:r>
              <a:endParaRPr lang="zh-CN" altLang="en-US" sz="2000" dirty="0">
                <a:solidFill>
                  <a:srgbClr val="FF0000"/>
                </a:solidFill>
                <a:latin typeface="Times New Roman" panose="02020603050405020304" pitchFamily="18" charset="0"/>
              </a:endParaRPr>
            </a:p>
          </p:txBody>
        </p:sp>
        <p:sp>
          <p:nvSpPr>
            <p:cNvPr id="21551" name="Line 67"/>
            <p:cNvSpPr/>
            <p:nvPr/>
          </p:nvSpPr>
          <p:spPr>
            <a:xfrm>
              <a:off x="3473" y="3266"/>
              <a:ext cx="59" cy="0"/>
            </a:xfrm>
            <a:prstGeom prst="line">
              <a:avLst/>
            </a:prstGeom>
            <a:ln w="25400" cap="flat" cmpd="sng">
              <a:solidFill>
                <a:srgbClr val="333300"/>
              </a:solidFill>
              <a:prstDash val="solid"/>
              <a:headEnd type="none" w="med" len="med"/>
              <a:tailEnd type="none" w="med" len="med"/>
            </a:ln>
          </p:spPr>
        </p:sp>
        <p:grpSp>
          <p:nvGrpSpPr>
            <p:cNvPr id="21552" name="Group 71"/>
            <p:cNvGrpSpPr/>
            <p:nvPr/>
          </p:nvGrpSpPr>
          <p:grpSpPr>
            <a:xfrm>
              <a:off x="3714" y="1645"/>
              <a:ext cx="768" cy="261"/>
              <a:chOff x="3714" y="1645"/>
              <a:chExt cx="768" cy="261"/>
            </a:xfrm>
          </p:grpSpPr>
          <p:sp>
            <p:nvSpPr>
              <p:cNvPr id="21556" name="AutoShape 69"/>
              <p:cNvSpPr/>
              <p:nvPr/>
            </p:nvSpPr>
            <p:spPr>
              <a:xfrm>
                <a:off x="3734" y="1645"/>
                <a:ext cx="748" cy="261"/>
              </a:xfrm>
              <a:prstGeom prst="wedgeRoundRectCallout">
                <a:avLst>
                  <a:gd name="adj1" fmla="val 65106"/>
                  <a:gd name="adj2" fmla="val 9099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333719" name="Text Box 23"/>
              <p:cNvSpPr txBox="1">
                <a:spLocks noChangeArrowheads="1"/>
              </p:cNvSpPr>
              <p:nvPr/>
            </p:nvSpPr>
            <p:spPr bwMode="auto">
              <a:xfrm>
                <a:off x="3714" y="1653"/>
                <a:ext cx="760"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实际曲线</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nvGrpSpPr>
            <p:cNvPr id="21553" name="Group 72"/>
            <p:cNvGrpSpPr/>
            <p:nvPr/>
          </p:nvGrpSpPr>
          <p:grpSpPr>
            <a:xfrm>
              <a:off x="4844" y="2187"/>
              <a:ext cx="760" cy="239"/>
              <a:chOff x="4844" y="2187"/>
              <a:chExt cx="760" cy="239"/>
            </a:xfrm>
          </p:grpSpPr>
          <p:sp>
            <p:nvSpPr>
              <p:cNvPr id="21554" name="AutoShape 70"/>
              <p:cNvSpPr/>
              <p:nvPr/>
            </p:nvSpPr>
            <p:spPr>
              <a:xfrm>
                <a:off x="4856" y="2187"/>
                <a:ext cx="748" cy="239"/>
              </a:xfrm>
              <a:prstGeom prst="wedgeRoundRectCallout">
                <a:avLst>
                  <a:gd name="adj1" fmla="val -81551"/>
                  <a:gd name="adj2" fmla="val -7468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sp>
            <p:nvSpPr>
              <p:cNvPr id="2333722" name="Text Box 26"/>
              <p:cNvSpPr txBox="1">
                <a:spLocks noChangeArrowheads="1"/>
              </p:cNvSpPr>
              <p:nvPr/>
            </p:nvSpPr>
            <p:spPr bwMode="auto">
              <a:xfrm>
                <a:off x="4844" y="2195"/>
                <a:ext cx="760" cy="231"/>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理想曲线</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grpSp>
      </p:grpSp>
      <p:sp>
        <p:nvSpPr>
          <p:cNvPr id="2333769" name="Text Box 73"/>
          <p:cNvSpPr txBox="1"/>
          <p:nvPr/>
        </p:nvSpPr>
        <p:spPr>
          <a:xfrm>
            <a:off x="358775" y="2997200"/>
            <a:ext cx="3863975" cy="2227263"/>
          </a:xfrm>
          <a:prstGeom prst="rect">
            <a:avLst/>
          </a:prstGeom>
          <a:solidFill>
            <a:srgbClr val="CCFFFF"/>
          </a:solidFill>
          <a:ln w="9525">
            <a:noFill/>
          </a:ln>
        </p:spPr>
        <p:txBody>
          <a:bodyPr>
            <a:spAutoFit/>
          </a:bodyPr>
          <a:p>
            <a:pPr eaLnBrk="1" hangingPunct="1"/>
            <a:r>
              <a:rPr lang="zh-CN" altLang="en-US" dirty="0">
                <a:latin typeface="Times New Roman" panose="02020603050405020304" pitchFamily="18" charset="0"/>
              </a:rPr>
              <a:t>线性误差是由</a:t>
            </a:r>
            <a:r>
              <a:rPr lang="en-US" altLang="zh-CN" dirty="0">
                <a:latin typeface="Times New Roman" panose="02020603050405020304" pitchFamily="18" charset="0"/>
                <a:ea typeface="宋体" panose="02010600030101010101" pitchFamily="2" charset="-122"/>
              </a:rPr>
              <a:t>A/D</a:t>
            </a:r>
            <a:r>
              <a:rPr lang="zh-CN" altLang="en-US" dirty="0">
                <a:latin typeface="Times New Roman" panose="02020603050405020304" pitchFamily="18" charset="0"/>
              </a:rPr>
              <a:t>转换器特性随模拟输入信号幅值变化而引起的，因此，线性误差是不能进行补偿的。</a:t>
            </a:r>
            <a:endParaRPr lang="zh-CN" altLang="en-US" dirty="0">
              <a:latin typeface="Times New Roman" panose="02020603050405020304" pitchFamily="18" charset="0"/>
            </a:endParaRPr>
          </a:p>
        </p:txBody>
      </p:sp>
      <p:sp>
        <p:nvSpPr>
          <p:cNvPr id="132151" name="Rectangle 55"/>
          <p:cNvSpPr/>
          <p:nvPr/>
        </p:nvSpPr>
        <p:spPr>
          <a:xfrm>
            <a:off x="231775" y="827088"/>
            <a:ext cx="8661400" cy="178435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16</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积分</a:t>
            </a:r>
            <a:r>
              <a:rPr lang="zh-CN" altLang="en-US" dirty="0">
                <a:solidFill>
                  <a:srgbClr val="FF3300"/>
                </a:solidFill>
                <a:latin typeface="黑体" panose="02010609060101010101" pitchFamily="49" charset="-122"/>
                <a:ea typeface="黑体" panose="02010609060101010101" pitchFamily="49" charset="-122"/>
              </a:rPr>
              <a:t>非</a:t>
            </a:r>
            <a:r>
              <a:rPr lang="zh-CN" altLang="zh-CN" dirty="0">
                <a:solidFill>
                  <a:srgbClr val="FF3300"/>
                </a:solidFill>
                <a:latin typeface="黑体" panose="02010609060101010101" pitchFamily="49" charset="-122"/>
                <a:ea typeface="黑体" panose="02010609060101010101" pitchFamily="49" charset="-122"/>
              </a:rPr>
              <a:t>线性误差</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Integral Nonlinearity Error</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在没有增益误差和偏移误差条件下，</a:t>
            </a:r>
            <a:r>
              <a:rPr lang="zh-CN" altLang="en-US" dirty="0">
                <a:solidFill>
                  <a:srgbClr val="000066"/>
                </a:solidFill>
                <a:latin typeface="黑体" panose="02010609060101010101" pitchFamily="49" charset="-122"/>
                <a:ea typeface="黑体" panose="02010609060101010101" pitchFamily="49" charset="-122"/>
              </a:rPr>
              <a:t>实际模数转换曲线的代码中点与理想模数转换曲线之间的最大偏差。</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460758" name="Text Box 86"/>
          <p:cNvSpPr txBox="1"/>
          <p:nvPr/>
        </p:nvSpPr>
        <p:spPr>
          <a:xfrm>
            <a:off x="358775" y="5456238"/>
            <a:ext cx="5062538" cy="457200"/>
          </a:xfrm>
          <a:prstGeom prst="rect">
            <a:avLst/>
          </a:prstGeom>
          <a:solidFill>
            <a:srgbClr val="CCFFFF"/>
          </a:solidFill>
          <a:ln w="9525">
            <a:noFill/>
          </a:ln>
        </p:spPr>
        <p:txBody>
          <a:bodyPr>
            <a:spAutoFit/>
          </a:bodyPr>
          <a:p>
            <a:pPr algn="ctr" eaLnBrk="1" hangingPunct="1"/>
            <a:r>
              <a:rPr lang="zh-CN" altLang="en-US" sz="2400" dirty="0">
                <a:solidFill>
                  <a:srgbClr val="CC00CC"/>
                </a:solidFill>
                <a:latin typeface="楷体_GB2312" pitchFamily="49" charset="-122"/>
              </a:rPr>
              <a:t>线性误差通常不大于</a:t>
            </a:r>
            <a:r>
              <a:rPr lang="en-US" altLang="zh-CN" sz="2400" dirty="0">
                <a:solidFill>
                  <a:srgbClr val="CC00CC"/>
                </a:solidFill>
                <a:latin typeface="Times New Roman" panose="02020603050405020304" pitchFamily="18" charset="0"/>
              </a:rPr>
              <a:t>±0.5LSB</a:t>
            </a:r>
            <a:r>
              <a:rPr lang="zh-CN" altLang="en-US" sz="2400" dirty="0">
                <a:solidFill>
                  <a:srgbClr val="CC00CC"/>
                </a:solidFill>
                <a:latin typeface="楷体_GB2312" pitchFamily="49" charset="-122"/>
              </a:rPr>
              <a:t>。</a:t>
            </a:r>
            <a:endParaRPr lang="zh-CN" altLang="en-US" sz="2400" dirty="0">
              <a:solidFill>
                <a:srgbClr val="CC00CC"/>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2151">
                                            <p:txEl>
                                              <p:charRg st="0" end="39"/>
                                            </p:txEl>
                                          </p:spTgt>
                                        </p:tgtEl>
                                        <p:attrNameLst>
                                          <p:attrName>style.visibility</p:attrName>
                                        </p:attrNameLst>
                                      </p:cBhvr>
                                      <p:to>
                                        <p:strVal val="visible"/>
                                      </p:to>
                                    </p:set>
                                    <p:animEffect transition="in" filter="dissolve">
                                      <p:cBhvr>
                                        <p:cTn id="7" dur="500"/>
                                        <p:tgtEl>
                                          <p:spTgt spid="132151">
                                            <p:txEl>
                                              <p:charRg st="0" end="39"/>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32151">
                                            <p:txEl>
                                              <p:charRg st="39" end="87"/>
                                            </p:txEl>
                                          </p:spTgt>
                                        </p:tgtEl>
                                        <p:attrNameLst>
                                          <p:attrName>style.visibility</p:attrName>
                                        </p:attrNameLst>
                                      </p:cBhvr>
                                      <p:to>
                                        <p:strVal val="visible"/>
                                      </p:to>
                                    </p:set>
                                    <p:animEffect transition="in" filter="dissolve">
                                      <p:cBhvr>
                                        <p:cTn id="10" dur="500"/>
                                        <p:tgtEl>
                                          <p:spTgt spid="132151">
                                            <p:txEl>
                                              <p:charRg st="39" end="8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33769"/>
                                        </p:tgtEl>
                                        <p:attrNameLst>
                                          <p:attrName>style.visibility</p:attrName>
                                        </p:attrNameLst>
                                      </p:cBhvr>
                                      <p:to>
                                        <p:strVal val="visible"/>
                                      </p:to>
                                    </p:set>
                                    <p:animEffect transition="in" filter="dissolve">
                                      <p:cBhvr>
                                        <p:cTn id="18" dur="500"/>
                                        <p:tgtEl>
                                          <p:spTgt spid="233376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460758">
                                            <p:txEl>
                                              <p:charRg st="4294967295" end="4294967295"/>
                                            </p:txEl>
                                          </p:spTgt>
                                        </p:tgtEl>
                                        <p:attrNameLst>
                                          <p:attrName>style.visibility</p:attrName>
                                        </p:attrNameLst>
                                      </p:cBhvr>
                                      <p:to>
                                        <p:strVal val="visible"/>
                                      </p:to>
                                    </p:set>
                                    <p:animEffect transition="in" filter="dissolve">
                                      <p:cBhvr>
                                        <p:cTn id="23" dur="500"/>
                                        <p:tgtEl>
                                          <p:spTgt spid="2460758">
                                            <p:txEl>
                                              <p:charRg st="4294967295" end="429496729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460758">
                                            <p:txEl>
                                              <p:charRg st="0" end="18"/>
                                            </p:txEl>
                                          </p:spTgt>
                                        </p:tgtEl>
                                        <p:attrNameLst>
                                          <p:attrName>style.visibility</p:attrName>
                                        </p:attrNameLst>
                                      </p:cBhvr>
                                      <p:to>
                                        <p:strVal val="visible"/>
                                      </p:to>
                                    </p:set>
                                    <p:animEffect transition="in" filter="dissolve">
                                      <p:cBhvr>
                                        <p:cTn id="28" dur="500"/>
                                        <p:tgtEl>
                                          <p:spTgt spid="2460758">
                                            <p:txEl>
                                              <p:charRg st="0" end="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769" grpId="0" bldLvl="0" animBg="1"/>
      <p:bldP spid="2460758" grpId="0" build="p"/>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3123"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17</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微分</a:t>
            </a:r>
            <a:r>
              <a:rPr lang="zh-CN" altLang="en-US" dirty="0">
                <a:solidFill>
                  <a:srgbClr val="FF3300"/>
                </a:solidFill>
                <a:latin typeface="黑体" panose="02010609060101010101" pitchFamily="49" charset="-122"/>
                <a:ea typeface="黑体" panose="02010609060101010101" pitchFamily="49" charset="-122"/>
              </a:rPr>
              <a:t>非</a:t>
            </a:r>
            <a:r>
              <a:rPr lang="zh-CN" altLang="zh-CN" dirty="0">
                <a:solidFill>
                  <a:srgbClr val="FF3300"/>
                </a:solidFill>
                <a:latin typeface="黑体" panose="02010609060101010101" pitchFamily="49" charset="-122"/>
                <a:ea typeface="黑体" panose="02010609060101010101" pitchFamily="49" charset="-122"/>
              </a:rPr>
              <a:t>线性误差</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Differential Nonlinearity Error</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a:t>
            </a:r>
            <a:r>
              <a:rPr lang="zh-CN" altLang="en-US" dirty="0">
                <a:solidFill>
                  <a:srgbClr val="000066"/>
                </a:solidFill>
                <a:latin typeface="黑体" panose="02010609060101010101" pitchFamily="49" charset="-122"/>
                <a:ea typeface="黑体" panose="02010609060101010101" pitchFamily="49" charset="-122"/>
              </a:rPr>
              <a:t>实际代码宽度与理想代码宽度之间的最大偏差，以</a:t>
            </a:r>
            <a:r>
              <a:rPr lang="en-US" altLang="zh-CN" dirty="0">
                <a:solidFill>
                  <a:srgbClr val="000066"/>
                </a:solidFill>
                <a:latin typeface="黑体" panose="02010609060101010101" pitchFamily="49" charset="-122"/>
                <a:ea typeface="黑体" panose="02010609060101010101" pitchFamily="49" charset="-122"/>
              </a:rPr>
              <a:t>LSB</a:t>
            </a:r>
            <a:r>
              <a:rPr lang="zh-CN" altLang="en-US" dirty="0">
                <a:solidFill>
                  <a:srgbClr val="000066"/>
                </a:solidFill>
                <a:latin typeface="黑体" panose="02010609060101010101" pitchFamily="49" charset="-122"/>
                <a:ea typeface="黑体" panose="02010609060101010101" pitchFamily="49" charset="-122"/>
              </a:rPr>
              <a:t>为单位。</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18</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失码</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Missing Code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如果微分线性误差为</a:t>
            </a:r>
            <a:r>
              <a:rPr lang="en-US" altLang="zh-CN" dirty="0">
                <a:solidFill>
                  <a:srgbClr val="000066"/>
                </a:solidFill>
                <a:latin typeface="黑体" panose="02010609060101010101" pitchFamily="49" charset="-122"/>
                <a:ea typeface="黑体" panose="02010609060101010101" pitchFamily="49" charset="-122"/>
              </a:rPr>
              <a:t>-1LSB</a:t>
            </a:r>
            <a:r>
              <a:rPr lang="zh-CN" altLang="en-US" dirty="0">
                <a:solidFill>
                  <a:srgbClr val="000066"/>
                </a:solidFill>
                <a:latin typeface="黑体" panose="02010609060101010101" pitchFamily="49" charset="-122"/>
                <a:ea typeface="黑体" panose="02010609060101010101" pitchFamily="49" charset="-122"/>
              </a:rPr>
              <a:t>，即代码宽度为</a:t>
            </a:r>
            <a:r>
              <a:rPr lang="en-US" altLang="zh-CN" dirty="0">
                <a:solidFill>
                  <a:srgbClr val="000066"/>
                </a:solidFill>
                <a:latin typeface="黑体" panose="02010609060101010101" pitchFamily="49" charset="-122"/>
                <a:ea typeface="黑体" panose="02010609060101010101" pitchFamily="49" charset="-122"/>
              </a:rPr>
              <a:t>0</a:t>
            </a:r>
            <a:r>
              <a:rPr lang="zh-CN" altLang="en-US" dirty="0">
                <a:solidFill>
                  <a:srgbClr val="000066"/>
                </a:solidFill>
                <a:latin typeface="黑体" panose="02010609060101010101" pitchFamily="49" charset="-122"/>
                <a:ea typeface="黑体" panose="02010609060101010101" pitchFamily="49" charset="-122"/>
              </a:rPr>
              <a:t>，模数转换曲线少一个台阶，该代码丢失，叫做失码。</a:t>
            </a:r>
            <a:r>
              <a:rPr lang="zh-CN" altLang="en-US" dirty="0">
                <a:solidFill>
                  <a:srgbClr val="CC00CC"/>
                </a:solidFill>
                <a:latin typeface="黑体" panose="02010609060101010101" pitchFamily="49" charset="-122"/>
                <a:ea typeface="黑体" panose="02010609060101010101" pitchFamily="49" charset="-122"/>
              </a:rPr>
              <a:t>此时</a:t>
            </a:r>
            <a:r>
              <a:rPr lang="en-US" altLang="zh-CN" dirty="0">
                <a:solidFill>
                  <a:srgbClr val="CC00CC"/>
                </a:solidFill>
                <a:latin typeface="黑体" panose="02010609060101010101" pitchFamily="49" charset="-122"/>
                <a:ea typeface="黑体" panose="02010609060101010101" pitchFamily="49" charset="-122"/>
              </a:rPr>
              <a:t>ADC</a:t>
            </a:r>
            <a:r>
              <a:rPr lang="zh-CN" altLang="en-US" dirty="0">
                <a:solidFill>
                  <a:srgbClr val="CC00CC"/>
                </a:solidFill>
                <a:latin typeface="黑体" panose="02010609060101010101" pitchFamily="49" charset="-122"/>
                <a:ea typeface="黑体" panose="02010609060101010101" pitchFamily="49" charset="-122"/>
              </a:rPr>
              <a:t>的有效分辨率降低一位。</a:t>
            </a:r>
            <a:endParaRPr lang="zh-CN" altLang="en-US" dirty="0">
              <a:solidFill>
                <a:srgbClr val="CC00CC"/>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123">
                                            <p:txEl>
                                              <p:charRg st="0" end="43"/>
                                            </p:txEl>
                                          </p:spTgt>
                                        </p:tgtEl>
                                        <p:attrNameLst>
                                          <p:attrName>style.visibility</p:attrName>
                                        </p:attrNameLst>
                                      </p:cBhvr>
                                      <p:to>
                                        <p:strVal val="visible"/>
                                      </p:to>
                                    </p:set>
                                    <p:animEffect transition="in" filter="dissolve">
                                      <p:cBhvr>
                                        <p:cTn id="7" dur="500"/>
                                        <p:tgtEl>
                                          <p:spTgt spid="133123">
                                            <p:txEl>
                                              <p:charRg st="0" end="4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33123">
                                            <p:txEl>
                                              <p:charRg st="43" end="77"/>
                                            </p:txEl>
                                          </p:spTgt>
                                        </p:tgtEl>
                                        <p:attrNameLst>
                                          <p:attrName>style.visibility</p:attrName>
                                        </p:attrNameLst>
                                      </p:cBhvr>
                                      <p:to>
                                        <p:strVal val="visible"/>
                                      </p:to>
                                    </p:set>
                                    <p:animEffect transition="in" filter="dissolve">
                                      <p:cBhvr>
                                        <p:cTn id="10" dur="500"/>
                                        <p:tgtEl>
                                          <p:spTgt spid="133123">
                                            <p:txEl>
                                              <p:charRg st="43" end="77"/>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3123">
                                            <p:txEl>
                                              <p:charRg st="77" end="96"/>
                                            </p:txEl>
                                          </p:spTgt>
                                        </p:tgtEl>
                                        <p:attrNameLst>
                                          <p:attrName>style.visibility</p:attrName>
                                        </p:attrNameLst>
                                      </p:cBhvr>
                                      <p:to>
                                        <p:strVal val="visible"/>
                                      </p:to>
                                    </p:set>
                                    <p:animEffect transition="in" filter="dissolve">
                                      <p:cBhvr>
                                        <p:cTn id="15" dur="500"/>
                                        <p:tgtEl>
                                          <p:spTgt spid="133123">
                                            <p:txEl>
                                              <p:charRg st="77" end="9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33123">
                                            <p:txEl>
                                              <p:charRg st="96" end="160"/>
                                            </p:txEl>
                                          </p:spTgt>
                                        </p:tgtEl>
                                        <p:attrNameLst>
                                          <p:attrName>style.visibility</p:attrName>
                                        </p:attrNameLst>
                                      </p:cBhvr>
                                      <p:to>
                                        <p:strVal val="visible"/>
                                      </p:to>
                                    </p:set>
                                    <p:animEffect transition="in" filter="dissolve">
                                      <p:cBhvr>
                                        <p:cTn id="18" dur="500"/>
                                        <p:tgtEl>
                                          <p:spTgt spid="133123">
                                            <p:txEl>
                                              <p:charRg st="96" end="16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78775" name="Text Box 23"/>
          <p:cNvSpPr txBox="1"/>
          <p:nvPr/>
        </p:nvSpPr>
        <p:spPr>
          <a:xfrm>
            <a:off x="450850" y="3302000"/>
            <a:ext cx="8501063" cy="1244600"/>
          </a:xfrm>
          <a:prstGeom prst="rect">
            <a:avLst/>
          </a:prstGeom>
          <a:noFill/>
          <a:ln w="9525">
            <a:noFill/>
          </a:ln>
        </p:spPr>
        <p:txBody>
          <a:bodyPr>
            <a:spAutoFit/>
          </a:bodyPr>
          <a:p>
            <a:pPr marL="1073150" indent="-1073150" eaLnBrk="1" hangingPunct="1">
              <a:lnSpc>
                <a:spcPct val="90000"/>
              </a:lnSpc>
            </a:pPr>
            <a:r>
              <a:rPr lang="zh-CN" altLang="en-US" dirty="0">
                <a:solidFill>
                  <a:srgbClr val="FF0000"/>
                </a:solidFill>
                <a:latin typeface="Times New Roman" panose="02020603050405020304" pitchFamily="18" charset="0"/>
              </a:rPr>
              <a:t>问题：</a:t>
            </a:r>
            <a:r>
              <a:rPr lang="en-US" altLang="zh-CN" dirty="0">
                <a:solidFill>
                  <a:srgbClr val="3333FF"/>
                </a:solidFill>
                <a:latin typeface="Times New Roman" panose="02020603050405020304" pitchFamily="18" charset="0"/>
              </a:rPr>
              <a:t>A/D</a:t>
            </a:r>
            <a:r>
              <a:rPr lang="zh-CN" altLang="en-US" dirty="0">
                <a:solidFill>
                  <a:srgbClr val="3333FF"/>
                </a:solidFill>
                <a:latin typeface="Times New Roman" panose="02020603050405020304" pitchFamily="18" charset="0"/>
              </a:rPr>
              <a:t>转换时，量化带内的模拟输入电压都产生同一输出数码，因此将模拟输入电压限定为量化带中点对应的模拟输入电压值。</a:t>
            </a:r>
            <a:endParaRPr lang="zh-CN" altLang="en-US" dirty="0">
              <a:solidFill>
                <a:srgbClr val="3333FF"/>
              </a:solidFill>
              <a:latin typeface="Times New Roman" panose="02020603050405020304" pitchFamily="18" charset="0"/>
            </a:endParaRPr>
          </a:p>
        </p:txBody>
      </p:sp>
      <p:sp>
        <p:nvSpPr>
          <p:cNvPr id="2378776" name="Text Box 24"/>
          <p:cNvSpPr txBox="1"/>
          <p:nvPr/>
        </p:nvSpPr>
        <p:spPr>
          <a:xfrm>
            <a:off x="1763713" y="4524375"/>
            <a:ext cx="6804025" cy="1006475"/>
          </a:xfrm>
          <a:prstGeom prst="rect">
            <a:avLst/>
          </a:prstGeom>
          <a:noFill/>
          <a:ln w="9525">
            <a:noFill/>
          </a:ln>
        </p:spPr>
        <p:txBody>
          <a:bodyPr>
            <a:spAutoFit/>
          </a:bodyPr>
          <a:p>
            <a:pPr eaLnBrk="1" hangingPunct="1"/>
            <a:r>
              <a:rPr lang="zh-CN" altLang="en-US" sz="2000" dirty="0">
                <a:solidFill>
                  <a:schemeClr val="tx1"/>
                </a:solidFill>
                <a:latin typeface="黑体" panose="02010609060101010101" pitchFamily="49" charset="-122"/>
                <a:ea typeface="黑体" panose="02010609060101010101" pitchFamily="49" charset="-122"/>
              </a:rPr>
              <a:t>一个</a:t>
            </a:r>
            <a:r>
              <a:rPr lang="en-US" altLang="zh-CN" sz="2000" dirty="0">
                <a:solidFill>
                  <a:srgbClr val="FF0000"/>
                </a:solidFill>
                <a:latin typeface="Times New Roman" panose="02020603050405020304" pitchFamily="18" charset="0"/>
                <a:ea typeface="黑体" panose="02010609060101010101" pitchFamily="49" charset="-122"/>
              </a:rPr>
              <a:t>12</a:t>
            </a:r>
            <a:r>
              <a:rPr lang="zh-CN" altLang="en-US" sz="2000" dirty="0">
                <a:solidFill>
                  <a:schemeClr val="tx1"/>
                </a:solidFill>
                <a:latin typeface="黑体" panose="02010609060101010101" pitchFamily="49" charset="-122"/>
                <a:ea typeface="黑体" panose="02010609060101010101" pitchFamily="49" charset="-122"/>
              </a:rPr>
              <a:t>位</a:t>
            </a:r>
            <a:r>
              <a:rPr lang="en-US" altLang="zh-CN" sz="2000" dirty="0">
                <a:solidFill>
                  <a:schemeClr val="tx1"/>
                </a:solidFill>
                <a:latin typeface="Times New Roman" panose="02020603050405020304" pitchFamily="18" charset="0"/>
                <a:ea typeface="黑体" panose="02010609060101010101" pitchFamily="49" charset="-122"/>
              </a:rPr>
              <a:t>A/D</a:t>
            </a:r>
            <a:r>
              <a:rPr lang="zh-CN" altLang="en-US" sz="2000" dirty="0">
                <a:solidFill>
                  <a:schemeClr val="tx1"/>
                </a:solidFill>
                <a:latin typeface="黑体" panose="02010609060101010101" pitchFamily="49" charset="-122"/>
                <a:ea typeface="黑体" panose="02010609060101010101" pitchFamily="49" charset="-122"/>
              </a:rPr>
              <a:t>转换器，理论模拟输入电压为</a:t>
            </a:r>
            <a:r>
              <a:rPr lang="en-US" altLang="zh-CN" sz="2000" dirty="0">
                <a:solidFill>
                  <a:srgbClr val="FF0000"/>
                </a:solidFill>
                <a:latin typeface="Times New Roman" panose="02020603050405020304" pitchFamily="18" charset="0"/>
                <a:ea typeface="黑体" panose="02010609060101010101" pitchFamily="49" charset="-122"/>
              </a:rPr>
              <a:t>5V±1.2mV</a:t>
            </a:r>
            <a:r>
              <a:rPr lang="zh-CN" altLang="en-US" sz="2000" dirty="0">
                <a:solidFill>
                  <a:schemeClr val="tx1"/>
                </a:solidFill>
                <a:latin typeface="黑体" panose="02010609060101010101" pitchFamily="49" charset="-122"/>
                <a:ea typeface="黑体" panose="02010609060101010101" pitchFamily="49" charset="-122"/>
              </a:rPr>
              <a:t>时，对应的输出数码为</a:t>
            </a:r>
            <a:r>
              <a:rPr lang="en-US" altLang="zh-CN" sz="2000" dirty="0">
                <a:solidFill>
                  <a:srgbClr val="FF0000"/>
                </a:solidFill>
                <a:latin typeface="Times New Roman" panose="02020603050405020304" pitchFamily="18" charset="0"/>
                <a:ea typeface="黑体" panose="02010609060101010101" pitchFamily="49" charset="-122"/>
              </a:rPr>
              <a:t>100000000000</a:t>
            </a:r>
            <a:r>
              <a:rPr lang="zh-CN" altLang="en-US" sz="2000" dirty="0">
                <a:solidFill>
                  <a:schemeClr val="tx1"/>
                </a:solidFill>
                <a:latin typeface="黑体" panose="02010609060101010101" pitchFamily="49" charset="-122"/>
                <a:ea typeface="黑体" panose="02010609060101010101" pitchFamily="49" charset="-122"/>
              </a:rPr>
              <a:t>。实际模拟输入电压在</a:t>
            </a:r>
            <a:r>
              <a:rPr lang="en-US" altLang="zh-CN" sz="2000" dirty="0">
                <a:solidFill>
                  <a:srgbClr val="FF0000"/>
                </a:solidFill>
                <a:latin typeface="Times New Roman" panose="02020603050405020304" pitchFamily="18" charset="0"/>
                <a:ea typeface="黑体" panose="02010609060101010101" pitchFamily="49" charset="-122"/>
              </a:rPr>
              <a:t>4.997V</a:t>
            </a:r>
            <a:r>
              <a:rPr lang="zh-CN" altLang="en-US" sz="2000" dirty="0">
                <a:solidFill>
                  <a:srgbClr val="FF0000"/>
                </a:solidFill>
                <a:latin typeface="Times New Roman" panose="02020603050405020304" pitchFamily="18" charset="0"/>
                <a:ea typeface="黑体" panose="02010609060101010101" pitchFamily="49" charset="-122"/>
              </a:rPr>
              <a:t>～</a:t>
            </a:r>
            <a:r>
              <a:rPr lang="en-US" altLang="zh-CN" sz="2000" dirty="0">
                <a:solidFill>
                  <a:srgbClr val="FF0000"/>
                </a:solidFill>
                <a:latin typeface="Times New Roman" panose="02020603050405020304" pitchFamily="18" charset="0"/>
                <a:ea typeface="黑体" panose="02010609060101010101" pitchFamily="49" charset="-122"/>
              </a:rPr>
              <a:t>4.999V</a:t>
            </a:r>
            <a:r>
              <a:rPr lang="zh-CN" altLang="en-US" sz="2000" dirty="0">
                <a:solidFill>
                  <a:schemeClr val="tx1"/>
                </a:solidFill>
                <a:latin typeface="黑体" panose="02010609060101010101" pitchFamily="49" charset="-122"/>
                <a:ea typeface="黑体" panose="02010609060101010101" pitchFamily="49" charset="-122"/>
              </a:rPr>
              <a:t>范围内的都产生这一输出数码，则</a:t>
            </a:r>
            <a:r>
              <a:rPr lang="en-US" altLang="zh-CN" sz="2000" dirty="0">
                <a:solidFill>
                  <a:schemeClr val="tx1"/>
                </a:solidFill>
                <a:latin typeface="黑体" panose="02010609060101010101" pitchFamily="49" charset="-122"/>
                <a:ea typeface="黑体" panose="02010609060101010101" pitchFamily="49" charset="-122"/>
              </a:rPr>
              <a:t>:</a:t>
            </a:r>
            <a:endParaRPr lang="en-US" altLang="zh-CN" sz="2000" dirty="0">
              <a:solidFill>
                <a:schemeClr val="tx1"/>
              </a:solidFill>
              <a:latin typeface="黑体" panose="02010609060101010101" pitchFamily="49" charset="-122"/>
              <a:ea typeface="黑体" panose="02010609060101010101" pitchFamily="49" charset="-122"/>
            </a:endParaRPr>
          </a:p>
        </p:txBody>
      </p:sp>
      <p:sp>
        <p:nvSpPr>
          <p:cNvPr id="2378777" name="Rectangle 25"/>
          <p:cNvSpPr/>
          <p:nvPr/>
        </p:nvSpPr>
        <p:spPr>
          <a:xfrm>
            <a:off x="250825" y="4545013"/>
            <a:ext cx="1255713" cy="476250"/>
          </a:xfrm>
          <a:prstGeom prst="rect">
            <a:avLst/>
          </a:prstGeom>
          <a:solidFill>
            <a:srgbClr val="FF99CC"/>
          </a:solid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例如：</a:t>
            </a:r>
            <a:endParaRPr lang="zh-CN" altLang="en-US" dirty="0">
              <a:solidFill>
                <a:srgbClr val="FF0000"/>
              </a:solidFill>
              <a:latin typeface="Times New Roman" panose="02020603050405020304" pitchFamily="18" charset="0"/>
              <a:ea typeface="黑体" panose="02010609060101010101" pitchFamily="49" charset="-122"/>
            </a:endParaRPr>
          </a:p>
        </p:txBody>
      </p:sp>
      <p:graphicFrame>
        <p:nvGraphicFramePr>
          <p:cNvPr id="2378778" name="Object 26"/>
          <p:cNvGraphicFramePr>
            <a:graphicFrameLocks noChangeAspect="1"/>
          </p:cNvGraphicFramePr>
          <p:nvPr/>
        </p:nvGraphicFramePr>
        <p:xfrm>
          <a:off x="1435100" y="5529263"/>
          <a:ext cx="6557963" cy="708025"/>
        </p:xfrm>
        <a:graphic>
          <a:graphicData uri="http://schemas.openxmlformats.org/presentationml/2006/ole">
            <mc:AlternateContent xmlns:mc="http://schemas.openxmlformats.org/markup-compatibility/2006">
              <mc:Choice xmlns:v="urn:schemas-microsoft-com:vml" Requires="v">
                <p:oleObj spid="_x0000_s3077" name="" r:id="rId1" imgW="3263900" imgH="393700" progId="Equation.DSMT4">
                  <p:embed/>
                </p:oleObj>
              </mc:Choice>
              <mc:Fallback>
                <p:oleObj name="" r:id="rId1" imgW="3263900" imgH="393700" progId="Equation.DSMT4">
                  <p:embed/>
                  <p:pic>
                    <p:nvPicPr>
                      <p:cNvPr id="0" name="图片 3076"/>
                      <p:cNvPicPr/>
                      <p:nvPr/>
                    </p:nvPicPr>
                    <p:blipFill>
                      <a:blip r:embed="rId2"/>
                      <a:stretch>
                        <a:fillRect/>
                      </a:stretch>
                    </p:blipFill>
                    <p:spPr>
                      <a:xfrm>
                        <a:off x="1435100" y="5529263"/>
                        <a:ext cx="6557963" cy="708025"/>
                      </a:xfrm>
                      <a:prstGeom prst="rect">
                        <a:avLst/>
                      </a:prstGeom>
                      <a:solidFill>
                        <a:srgbClr val="CCFFCC"/>
                      </a:solidFill>
                      <a:ln w="38100">
                        <a:noFill/>
                        <a:miter/>
                      </a:ln>
                    </p:spPr>
                  </p:pic>
                </p:oleObj>
              </mc:Fallback>
            </mc:AlternateContent>
          </a:graphicData>
        </a:graphic>
      </p:graphicFrame>
      <p:sp>
        <p:nvSpPr>
          <p:cNvPr id="8207" name="Rectangle 15"/>
          <p:cNvSpPr/>
          <p:nvPr/>
        </p:nvSpPr>
        <p:spPr>
          <a:xfrm>
            <a:off x="231775" y="827088"/>
            <a:ext cx="8661400" cy="2474912"/>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19</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精度</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Accuracy</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绝对精度，指对应于输出数码的实际模拟输入电压与理想模拟输入电压之差。精度是零位误差、增益误差、积分非线性误差、微分非线性误差、量化误差等综合因素引起的总误差。</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207">
                                            <p:txEl>
                                              <p:charRg st="0" end="15"/>
                                            </p:txEl>
                                          </p:spTgt>
                                        </p:tgtEl>
                                        <p:attrNameLst>
                                          <p:attrName>style.visibility</p:attrName>
                                        </p:attrNameLst>
                                      </p:cBhvr>
                                      <p:to>
                                        <p:strVal val="visible"/>
                                      </p:to>
                                    </p:set>
                                    <p:animEffect transition="in" filter="dissolve">
                                      <p:cBhvr>
                                        <p:cTn id="7" dur="500"/>
                                        <p:tgtEl>
                                          <p:spTgt spid="8207">
                                            <p:txEl>
                                              <p:charRg st="0" end="1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207">
                                            <p:txEl>
                                              <p:charRg st="15" end="96"/>
                                            </p:txEl>
                                          </p:spTgt>
                                        </p:tgtEl>
                                        <p:attrNameLst>
                                          <p:attrName>style.visibility</p:attrName>
                                        </p:attrNameLst>
                                      </p:cBhvr>
                                      <p:to>
                                        <p:strVal val="visible"/>
                                      </p:to>
                                    </p:set>
                                    <p:animEffect transition="in" filter="dissolve">
                                      <p:cBhvr>
                                        <p:cTn id="10" dur="500"/>
                                        <p:tgtEl>
                                          <p:spTgt spid="8207">
                                            <p:txEl>
                                              <p:charRg st="15" end="9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378775"/>
                                        </p:tgtEl>
                                        <p:attrNameLst>
                                          <p:attrName>style.visibility</p:attrName>
                                        </p:attrNameLst>
                                      </p:cBhvr>
                                      <p:to>
                                        <p:strVal val="visible"/>
                                      </p:to>
                                    </p:set>
                                    <p:animEffect transition="in" filter="dissolve">
                                      <p:cBhvr>
                                        <p:cTn id="15" dur="500"/>
                                        <p:tgtEl>
                                          <p:spTgt spid="237877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78777"/>
                                        </p:tgtEl>
                                        <p:attrNameLst>
                                          <p:attrName>style.visibility</p:attrName>
                                        </p:attrNameLst>
                                      </p:cBhvr>
                                      <p:to>
                                        <p:strVal val="visible"/>
                                      </p:to>
                                    </p:set>
                                    <p:animEffect transition="in" filter="dissolve">
                                      <p:cBhvr>
                                        <p:cTn id="20" dur="500"/>
                                        <p:tgtEl>
                                          <p:spTgt spid="2378777"/>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378776"/>
                                        </p:tgtEl>
                                        <p:attrNameLst>
                                          <p:attrName>style.visibility</p:attrName>
                                        </p:attrNameLst>
                                      </p:cBhvr>
                                      <p:to>
                                        <p:strVal val="visible"/>
                                      </p:to>
                                    </p:set>
                                    <p:animEffect transition="in" filter="dissolve">
                                      <p:cBhvr>
                                        <p:cTn id="23" dur="500"/>
                                        <p:tgtEl>
                                          <p:spTgt spid="237877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378778"/>
                                        </p:tgtEl>
                                        <p:attrNameLst>
                                          <p:attrName>style.visibility</p:attrName>
                                        </p:attrNameLst>
                                      </p:cBhvr>
                                      <p:to>
                                        <p:strVal val="visible"/>
                                      </p:to>
                                    </p:set>
                                    <p:animEffect transition="in" filter="dissolve">
                                      <p:cBhvr>
                                        <p:cTn id="28" dur="500"/>
                                        <p:tgtEl>
                                          <p:spTgt spid="2378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8775" grpId="0"/>
      <p:bldP spid="2378776" grpId="0"/>
      <p:bldP spid="2378777" grpId="0" bldLvl="0" animBg="1"/>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251807" name="Object 3103"/>
          <p:cNvGraphicFramePr>
            <a:graphicFrameLocks noChangeAspect="1"/>
          </p:cNvGraphicFramePr>
          <p:nvPr/>
        </p:nvGraphicFramePr>
        <p:xfrm>
          <a:off x="2016125" y="2165350"/>
          <a:ext cx="5219700" cy="1009650"/>
        </p:xfrm>
        <a:graphic>
          <a:graphicData uri="http://schemas.openxmlformats.org/presentationml/2006/ole">
            <mc:AlternateContent xmlns:mc="http://schemas.openxmlformats.org/markup-compatibility/2006">
              <mc:Choice xmlns:v="urn:schemas-microsoft-com:vml" Requires="v">
                <p:oleObj spid="_x0000_s3076" name="" r:id="rId1" imgW="1816100" imgH="381000" progId="Equation.DSMT4">
                  <p:embed/>
                </p:oleObj>
              </mc:Choice>
              <mc:Fallback>
                <p:oleObj name="" r:id="rId1" imgW="1816100" imgH="381000" progId="Equation.DSMT4">
                  <p:embed/>
                  <p:pic>
                    <p:nvPicPr>
                      <p:cNvPr id="0" name="图片 3075"/>
                      <p:cNvPicPr/>
                      <p:nvPr/>
                    </p:nvPicPr>
                    <p:blipFill>
                      <a:blip r:embed="rId2"/>
                      <a:stretch>
                        <a:fillRect/>
                      </a:stretch>
                    </p:blipFill>
                    <p:spPr>
                      <a:xfrm>
                        <a:off x="2016125" y="2165350"/>
                        <a:ext cx="5219700" cy="1009650"/>
                      </a:xfrm>
                      <a:prstGeom prst="rect">
                        <a:avLst/>
                      </a:prstGeom>
                      <a:solidFill>
                        <a:srgbClr val="CCFFFF"/>
                      </a:solidFill>
                      <a:ln w="38100">
                        <a:noFill/>
                        <a:miter/>
                      </a:ln>
                    </p:spPr>
                  </p:pic>
                </p:oleObj>
              </mc:Fallback>
            </mc:AlternateContent>
          </a:graphicData>
        </a:graphic>
      </p:graphicFrame>
      <p:sp>
        <p:nvSpPr>
          <p:cNvPr id="2251814" name="Rectangle 3110"/>
          <p:cNvSpPr/>
          <p:nvPr/>
        </p:nvSpPr>
        <p:spPr>
          <a:xfrm>
            <a:off x="503238" y="3409950"/>
            <a:ext cx="5695950" cy="476250"/>
          </a:xfrm>
          <a:prstGeom prst="rect">
            <a:avLst/>
          </a:prstGeom>
          <a:noFill/>
          <a:ln w="9525">
            <a:noFill/>
          </a:ln>
        </p:spPr>
        <p:txBody>
          <a:bodyPr wrap="none">
            <a:spAutoFit/>
          </a:bodyPr>
          <a:p>
            <a:pPr eaLnBrk="1" hangingPunct="1">
              <a:lnSpc>
                <a:spcPct val="90000"/>
              </a:lnSpc>
            </a:pPr>
            <a:r>
              <a:rPr lang="en-US" altLang="zh-CN" dirty="0">
                <a:solidFill>
                  <a:srgbClr val="FF0000"/>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精度和分辨率是两个不同的概念：</a:t>
            </a:r>
            <a:endParaRPr lang="zh-CN" altLang="en-US" dirty="0">
              <a:solidFill>
                <a:srgbClr val="FF0000"/>
              </a:solidFill>
              <a:latin typeface="黑体" panose="02010609060101010101" pitchFamily="49" charset="-122"/>
              <a:ea typeface="黑体" panose="02010609060101010101" pitchFamily="49" charset="-122"/>
            </a:endParaRPr>
          </a:p>
        </p:txBody>
      </p:sp>
      <p:sp>
        <p:nvSpPr>
          <p:cNvPr id="2251815" name="Text Box 3111"/>
          <p:cNvSpPr txBox="1"/>
          <p:nvPr/>
        </p:nvSpPr>
        <p:spPr>
          <a:xfrm>
            <a:off x="231775" y="3943350"/>
            <a:ext cx="8661400" cy="1373188"/>
          </a:xfrm>
          <a:prstGeom prst="rect">
            <a:avLst/>
          </a:prstGeom>
          <a:noFill/>
          <a:ln w="9525">
            <a:noFill/>
          </a:ln>
        </p:spPr>
        <p:txBody>
          <a:bodyPr>
            <a:spAutoFit/>
          </a:bodyPr>
          <a:p>
            <a:pPr marL="533400" indent="-533400" eaLnBrk="1" hangingPunct="1">
              <a:buClr>
                <a:srgbClr val="FF0000"/>
              </a:buClr>
              <a:buFont typeface="Wingdings" panose="05000000000000000000" pitchFamily="2" charset="2"/>
              <a:buChar char="u"/>
            </a:pPr>
            <a:r>
              <a:rPr lang="zh-CN" altLang="en-US" dirty="0">
                <a:solidFill>
                  <a:schemeClr val="accent2"/>
                </a:solidFill>
                <a:latin typeface="楷体_GB2312" pitchFamily="49" charset="-122"/>
              </a:rPr>
              <a:t>精度是指转换后所得结果相对于实际值的准确度；</a:t>
            </a:r>
            <a:endParaRPr lang="zh-CN" altLang="en-US" dirty="0">
              <a:solidFill>
                <a:schemeClr val="accent2"/>
              </a:solidFill>
              <a:latin typeface="楷体_GB2312" pitchFamily="49" charset="-122"/>
            </a:endParaRPr>
          </a:p>
          <a:p>
            <a:pPr marL="533400" indent="-533400" eaLnBrk="1" hangingPunct="1">
              <a:buClr>
                <a:srgbClr val="FF0000"/>
              </a:buClr>
              <a:buFont typeface="Wingdings" panose="05000000000000000000" pitchFamily="2" charset="2"/>
              <a:buChar char="u"/>
            </a:pPr>
            <a:r>
              <a:rPr lang="zh-CN" altLang="en-US" dirty="0">
                <a:solidFill>
                  <a:schemeClr val="accent2"/>
                </a:solidFill>
                <a:latin typeface="楷体_GB2312" pitchFamily="49" charset="-122"/>
              </a:rPr>
              <a:t>分辨率是指转换器所能分辨的模拟信号的最小变化值。 </a:t>
            </a:r>
            <a:endParaRPr lang="zh-CN" altLang="en-US" dirty="0">
              <a:solidFill>
                <a:schemeClr val="accent2"/>
              </a:solidFill>
              <a:latin typeface="楷体_GB2312" pitchFamily="49" charset="-122"/>
            </a:endParaRPr>
          </a:p>
        </p:txBody>
      </p:sp>
      <p:sp>
        <p:nvSpPr>
          <p:cNvPr id="9228" name="Rectangle 12"/>
          <p:cNvSpPr/>
          <p:nvPr/>
        </p:nvSpPr>
        <p:spPr>
          <a:xfrm>
            <a:off x="231775" y="827088"/>
            <a:ext cx="8661400" cy="2474912"/>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20</a:t>
            </a:r>
            <a:r>
              <a:rPr lang="zh-CN" altLang="en-US" dirty="0">
                <a:solidFill>
                  <a:srgbClr val="FF3300"/>
                </a:solidFill>
                <a:latin typeface="黑体" panose="02010609060101010101" pitchFamily="49" charset="-122"/>
                <a:ea typeface="黑体" panose="02010609060101010101" pitchFamily="49" charset="-122"/>
              </a:rPr>
              <a:t>、相对</a:t>
            </a:r>
            <a:r>
              <a:rPr lang="zh-CN" altLang="zh-CN" dirty="0">
                <a:solidFill>
                  <a:srgbClr val="FF3300"/>
                </a:solidFill>
                <a:latin typeface="黑体" panose="02010609060101010101" pitchFamily="49" charset="-122"/>
                <a:ea typeface="黑体" panose="02010609060101010101" pitchFamily="49" charset="-122"/>
              </a:rPr>
              <a:t>精度</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Relative Accuracy</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绝对精度与满量程电压值之比的百分数。</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2" name="Rectangle 3110"/>
          <p:cNvSpPr/>
          <p:nvPr/>
        </p:nvSpPr>
        <p:spPr>
          <a:xfrm>
            <a:off x="74613" y="5527675"/>
            <a:ext cx="9048750" cy="476250"/>
          </a:xfrm>
          <a:prstGeom prst="rect">
            <a:avLst/>
          </a:prstGeom>
          <a:noFill/>
          <a:ln w="9525">
            <a:noFill/>
          </a:ln>
        </p:spPr>
        <p:txBody>
          <a:bodyPr wrap="none">
            <a:spAutoFit/>
          </a:bodyPr>
          <a:p>
            <a:pPr eaLnBrk="1" hangingPunct="1">
              <a:lnSpc>
                <a:spcPct val="90000"/>
              </a:lnSpc>
            </a:pPr>
            <a:r>
              <a:rPr lang="en-US" altLang="zh-CN" dirty="0">
                <a:solidFill>
                  <a:srgbClr val="FF0000"/>
                </a:solidFill>
                <a:latin typeface="黑体" panose="02010609060101010101" pitchFamily="49" charset="-122"/>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分辨率高的</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，可能因为温漂、线性不良等原因，精度并不高。</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228">
                                            <p:txEl>
                                              <p:charRg st="0" end="26"/>
                                            </p:txEl>
                                          </p:spTgt>
                                        </p:tgtEl>
                                        <p:attrNameLst>
                                          <p:attrName>style.visibility</p:attrName>
                                        </p:attrNameLst>
                                      </p:cBhvr>
                                      <p:to>
                                        <p:strVal val="visible"/>
                                      </p:to>
                                    </p:set>
                                    <p:animEffect transition="in" filter="dissolve">
                                      <p:cBhvr>
                                        <p:cTn id="7" dur="500"/>
                                        <p:tgtEl>
                                          <p:spTgt spid="9228">
                                            <p:txEl>
                                              <p:charRg st="0" end="2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228">
                                            <p:txEl>
                                              <p:charRg st="26" end="46"/>
                                            </p:txEl>
                                          </p:spTgt>
                                        </p:tgtEl>
                                        <p:attrNameLst>
                                          <p:attrName>style.visibility</p:attrName>
                                        </p:attrNameLst>
                                      </p:cBhvr>
                                      <p:to>
                                        <p:strVal val="visible"/>
                                      </p:to>
                                    </p:set>
                                    <p:animEffect transition="in" filter="dissolve">
                                      <p:cBhvr>
                                        <p:cTn id="10" dur="500"/>
                                        <p:tgtEl>
                                          <p:spTgt spid="9228">
                                            <p:txEl>
                                              <p:charRg st="26" end="4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51807"/>
                                        </p:tgtEl>
                                        <p:attrNameLst>
                                          <p:attrName>style.visibility</p:attrName>
                                        </p:attrNameLst>
                                      </p:cBhvr>
                                      <p:to>
                                        <p:strVal val="visible"/>
                                      </p:to>
                                    </p:set>
                                    <p:animEffect transition="in" filter="dissolve">
                                      <p:cBhvr>
                                        <p:cTn id="15" dur="500"/>
                                        <p:tgtEl>
                                          <p:spTgt spid="225180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51814"/>
                                        </p:tgtEl>
                                        <p:attrNameLst>
                                          <p:attrName>style.visibility</p:attrName>
                                        </p:attrNameLst>
                                      </p:cBhvr>
                                      <p:to>
                                        <p:strVal val="visible"/>
                                      </p:to>
                                    </p:set>
                                    <p:animEffect transition="in" filter="dissolve">
                                      <p:cBhvr>
                                        <p:cTn id="20" dur="500"/>
                                        <p:tgtEl>
                                          <p:spTgt spid="22518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51815">
                                            <p:txEl>
                                              <p:charRg st="0" end="23"/>
                                            </p:txEl>
                                          </p:spTgt>
                                        </p:tgtEl>
                                        <p:attrNameLst>
                                          <p:attrName>style.visibility</p:attrName>
                                        </p:attrNameLst>
                                      </p:cBhvr>
                                      <p:to>
                                        <p:strVal val="visible"/>
                                      </p:to>
                                    </p:set>
                                    <p:animEffect transition="in" filter="dissolve">
                                      <p:cBhvr>
                                        <p:cTn id="25" dur="500"/>
                                        <p:tgtEl>
                                          <p:spTgt spid="2251815">
                                            <p:txEl>
                                              <p:charRg st="0" end="2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251815">
                                            <p:txEl>
                                              <p:charRg st="23" end="49"/>
                                            </p:txEl>
                                          </p:spTgt>
                                        </p:tgtEl>
                                        <p:attrNameLst>
                                          <p:attrName>style.visibility</p:attrName>
                                        </p:attrNameLst>
                                      </p:cBhvr>
                                      <p:to>
                                        <p:strVal val="visible"/>
                                      </p:to>
                                    </p:set>
                                    <p:animEffect transition="in" filter="dissolve">
                                      <p:cBhvr>
                                        <p:cTn id="30" dur="500"/>
                                        <p:tgtEl>
                                          <p:spTgt spid="2251815">
                                            <p:txEl>
                                              <p:charRg st="23" end="49"/>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dissolve">
                                      <p:cBhvr>
                                        <p:cTn id="3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1814" grpId="0"/>
      <p:bldP spid="2"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5171"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21</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工作温度范围</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Operating Temperature Range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加电条件下，允许的环境温度</a:t>
            </a:r>
            <a:r>
              <a:rPr lang="zh-CN" altLang="en-US" dirty="0">
                <a:solidFill>
                  <a:srgbClr val="000066"/>
                </a:solidFill>
                <a:latin typeface="黑体" panose="02010609060101010101" pitchFamily="49" charset="-122"/>
                <a:ea typeface="黑体" panose="02010609060101010101" pitchFamily="49" charset="-122"/>
              </a:rPr>
              <a:t>。工作温度会对运放和电阻网络产生影响，只有在一定温度范围内，才能保证额定的精度指标。</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22</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温度系数</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Temperature Coefficients</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分为失调温度系数和增益温度系数。定义也有两种，一种定义为</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的失调值、增益值相对于常温（</a:t>
            </a:r>
            <a:r>
              <a:rPr lang="en-US" altLang="zh-CN" dirty="0">
                <a:solidFill>
                  <a:srgbClr val="000066"/>
                </a:solidFill>
                <a:latin typeface="黑体" panose="02010609060101010101" pitchFamily="49" charset="-122"/>
                <a:ea typeface="黑体" panose="02010609060101010101" pitchFamily="49" charset="-122"/>
              </a:rPr>
              <a:t>25</a:t>
            </a:r>
            <a:r>
              <a:rPr lang="en-US" altLang="zh-CN" baseline="30000" dirty="0">
                <a:solidFill>
                  <a:srgbClr val="000066"/>
                </a:solidFill>
                <a:latin typeface="黑体" panose="02010609060101010101" pitchFamily="49" charset="-122"/>
                <a:ea typeface="黑体" panose="02010609060101010101" pitchFamily="49" charset="-122"/>
              </a:rPr>
              <a:t>o</a:t>
            </a:r>
            <a:r>
              <a:rPr lang="en-US" altLang="zh-CN" dirty="0">
                <a:solidFill>
                  <a:srgbClr val="000066"/>
                </a:solidFill>
                <a:latin typeface="黑体" panose="02010609060101010101" pitchFamily="49" charset="-122"/>
                <a:ea typeface="黑体" panose="02010609060101010101" pitchFamily="49" charset="-122"/>
              </a:rPr>
              <a:t>C</a:t>
            </a:r>
            <a:r>
              <a:rPr lang="zh-CN" altLang="en-US" dirty="0">
                <a:solidFill>
                  <a:srgbClr val="000066"/>
                </a:solidFill>
                <a:latin typeface="黑体" panose="02010609060101010101" pitchFamily="49" charset="-122"/>
                <a:ea typeface="黑体" panose="02010609060101010101" pitchFamily="49" charset="-122"/>
              </a:rPr>
              <a:t>）的失调值、增益值的最大变化量；另一种定义为温度每变化</a:t>
            </a:r>
            <a:r>
              <a:rPr lang="en-US" altLang="zh-CN" dirty="0">
                <a:solidFill>
                  <a:srgbClr val="000066"/>
                </a:solidFill>
                <a:latin typeface="黑体" panose="02010609060101010101" pitchFamily="49" charset="-122"/>
                <a:ea typeface="黑体" panose="02010609060101010101" pitchFamily="49" charset="-122"/>
              </a:rPr>
              <a:t>1</a:t>
            </a:r>
            <a:r>
              <a:rPr lang="en-US" altLang="zh-CN" baseline="30000" dirty="0">
                <a:solidFill>
                  <a:srgbClr val="000066"/>
                </a:solidFill>
                <a:latin typeface="黑体" panose="02010609060101010101" pitchFamily="49" charset="-122"/>
                <a:ea typeface="黑体" panose="02010609060101010101" pitchFamily="49" charset="-122"/>
              </a:rPr>
              <a:t>o</a:t>
            </a:r>
            <a:r>
              <a:rPr lang="en-US" altLang="zh-CN" dirty="0">
                <a:solidFill>
                  <a:srgbClr val="000066"/>
                </a:solidFill>
                <a:latin typeface="黑体" panose="02010609060101010101" pitchFamily="49" charset="-122"/>
                <a:ea typeface="黑体" panose="02010609060101010101" pitchFamily="49" charset="-122"/>
              </a:rPr>
              <a:t>C</a:t>
            </a:r>
            <a:r>
              <a:rPr lang="zh-CN" altLang="en-US" dirty="0">
                <a:solidFill>
                  <a:srgbClr val="000066"/>
                </a:solidFill>
                <a:latin typeface="黑体" panose="02010609060101010101" pitchFamily="49" charset="-122"/>
                <a:ea typeface="黑体" panose="02010609060101010101" pitchFamily="49" charset="-122"/>
              </a:rPr>
              <a:t>所引起失调值、增益值的变化量与满度值之比，以</a:t>
            </a:r>
            <a:r>
              <a:rPr lang="en-US" altLang="zh-CN" dirty="0">
                <a:solidFill>
                  <a:srgbClr val="000066"/>
                </a:solidFill>
                <a:latin typeface="黑体" panose="02010609060101010101" pitchFamily="49" charset="-122"/>
                <a:ea typeface="黑体" panose="02010609060101010101" pitchFamily="49" charset="-122"/>
              </a:rPr>
              <a:t>ppm/</a:t>
            </a:r>
            <a:r>
              <a:rPr lang="en-US" altLang="zh-CN" baseline="30000" dirty="0">
                <a:solidFill>
                  <a:srgbClr val="000066"/>
                </a:solidFill>
                <a:latin typeface="黑体" panose="02010609060101010101" pitchFamily="49" charset="-122"/>
                <a:ea typeface="黑体" panose="02010609060101010101" pitchFamily="49" charset="-122"/>
              </a:rPr>
              <a:t>o</a:t>
            </a:r>
            <a:r>
              <a:rPr lang="en-US" altLang="zh-CN" dirty="0">
                <a:solidFill>
                  <a:srgbClr val="000066"/>
                </a:solidFill>
                <a:latin typeface="黑体" panose="02010609060101010101" pitchFamily="49" charset="-122"/>
                <a:ea typeface="黑体" panose="02010609060101010101" pitchFamily="49" charset="-122"/>
              </a:rPr>
              <a:t>C</a:t>
            </a:r>
            <a:r>
              <a:rPr lang="zh-CN" altLang="en-US" dirty="0">
                <a:solidFill>
                  <a:srgbClr val="000066"/>
                </a:solidFill>
                <a:latin typeface="黑体" panose="02010609060101010101" pitchFamily="49" charset="-122"/>
                <a:ea typeface="黑体" panose="02010609060101010101" pitchFamily="49" charset="-122"/>
              </a:rPr>
              <a:t>表示。</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5171">
                                            <p:txEl>
                                              <p:charRg st="0" end="38"/>
                                            </p:txEl>
                                          </p:spTgt>
                                        </p:tgtEl>
                                        <p:attrNameLst>
                                          <p:attrName>style.visibility</p:attrName>
                                        </p:attrNameLst>
                                      </p:cBhvr>
                                      <p:to>
                                        <p:strVal val="visible"/>
                                      </p:to>
                                    </p:set>
                                    <p:animEffect transition="in" filter="dissolve">
                                      <p:cBhvr>
                                        <p:cTn id="7" dur="500"/>
                                        <p:tgtEl>
                                          <p:spTgt spid="135171">
                                            <p:txEl>
                                              <p:charRg st="0" end="38"/>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35171">
                                            <p:txEl>
                                              <p:charRg st="38" end="95"/>
                                            </p:txEl>
                                          </p:spTgt>
                                        </p:tgtEl>
                                        <p:attrNameLst>
                                          <p:attrName>style.visibility</p:attrName>
                                        </p:attrNameLst>
                                      </p:cBhvr>
                                      <p:to>
                                        <p:strVal val="visible"/>
                                      </p:to>
                                    </p:set>
                                    <p:animEffect transition="in" filter="dissolve">
                                      <p:cBhvr>
                                        <p:cTn id="10" dur="500"/>
                                        <p:tgtEl>
                                          <p:spTgt spid="135171">
                                            <p:txEl>
                                              <p:charRg st="38" end="9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5171">
                                            <p:txEl>
                                              <p:charRg st="95" end="128"/>
                                            </p:txEl>
                                          </p:spTgt>
                                        </p:tgtEl>
                                        <p:attrNameLst>
                                          <p:attrName>style.visibility</p:attrName>
                                        </p:attrNameLst>
                                      </p:cBhvr>
                                      <p:to>
                                        <p:strVal val="visible"/>
                                      </p:to>
                                    </p:set>
                                    <p:animEffect transition="in" filter="dissolve">
                                      <p:cBhvr>
                                        <p:cTn id="15" dur="500"/>
                                        <p:tgtEl>
                                          <p:spTgt spid="135171">
                                            <p:txEl>
                                              <p:charRg st="95" end="128"/>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35171">
                                            <p:txEl>
                                              <p:charRg st="128" end="240"/>
                                            </p:txEl>
                                          </p:spTgt>
                                        </p:tgtEl>
                                        <p:attrNameLst>
                                          <p:attrName>style.visibility</p:attrName>
                                        </p:attrNameLst>
                                      </p:cBhvr>
                                      <p:to>
                                        <p:strVal val="visible"/>
                                      </p:to>
                                    </p:set>
                                    <p:animEffect transition="in" filter="dissolve">
                                      <p:cBhvr>
                                        <p:cTn id="18" dur="500"/>
                                        <p:tgtEl>
                                          <p:spTgt spid="135171">
                                            <p:txEl>
                                              <p:charRg st="128" end="24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54" name="Rectangle 14"/>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转换时间和转换</a:t>
            </a:r>
            <a:r>
              <a:rPr lang="zh-CN" altLang="en-US" dirty="0">
                <a:solidFill>
                  <a:srgbClr val="FF3300"/>
                </a:solidFill>
                <a:latin typeface="黑体" panose="02010609060101010101" pitchFamily="49" charset="-122"/>
                <a:ea typeface="黑体" panose="02010609060101010101" pitchFamily="49" charset="-122"/>
              </a:rPr>
              <a:t>速</a:t>
            </a:r>
            <a:r>
              <a:rPr lang="zh-CN" altLang="zh-CN" dirty="0">
                <a:solidFill>
                  <a:srgbClr val="FF3300"/>
                </a:solidFill>
                <a:latin typeface="黑体" panose="02010609060101010101" pitchFamily="49" charset="-122"/>
                <a:ea typeface="黑体" panose="02010609060101010101" pitchFamily="49" charset="-122"/>
              </a:rPr>
              <a:t>率</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Conversion Time</a:t>
            </a:r>
            <a:r>
              <a:rPr lang="zh-CN" altLang="en-US" dirty="0">
                <a:solidFill>
                  <a:srgbClr val="FF3300"/>
                </a:solidFill>
                <a:latin typeface="黑体" panose="02010609060101010101" pitchFamily="49" charset="-122"/>
                <a:ea typeface="黑体" panose="02010609060101010101" pitchFamily="49" charset="-122"/>
              </a:rPr>
              <a:t> </a:t>
            </a:r>
            <a:r>
              <a:rPr lang="en-US" altLang="zh-CN" dirty="0">
                <a:solidFill>
                  <a:srgbClr val="FF3300"/>
                </a:solidFill>
                <a:latin typeface="黑体" panose="02010609060101010101" pitchFamily="49" charset="-122"/>
                <a:ea typeface="黑体" panose="02010609060101010101" pitchFamily="49" charset="-122"/>
              </a:rPr>
              <a:t>and </a:t>
            </a:r>
            <a:r>
              <a:rPr lang="zh-CN" altLang="zh-CN" dirty="0">
                <a:solidFill>
                  <a:srgbClr val="FF3300"/>
                </a:solidFill>
                <a:latin typeface="黑体" panose="02010609060101010101" pitchFamily="49" charset="-122"/>
                <a:ea typeface="黑体" panose="02010609060101010101" pitchFamily="49" charset="-122"/>
              </a:rPr>
              <a:t>Conversion Rate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ADC完成一次转换所需的时间</a:t>
            </a:r>
            <a:r>
              <a:rPr lang="zh-CN" altLang="en-US" dirty="0">
                <a:solidFill>
                  <a:srgbClr val="000066"/>
                </a:solidFill>
                <a:latin typeface="黑体" panose="02010609060101010101" pitchFamily="49" charset="-122"/>
                <a:ea typeface="黑体" panose="02010609060101010101" pitchFamily="49" charset="-122"/>
              </a:rPr>
              <a:t>称为转换时间（模数转换从启动到结束所用的时间）。</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对大多数</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而言，转换时间的倒数即为转换速率（每秒转换次数）。</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sz="2000" dirty="0">
                <a:solidFill>
                  <a:schemeClr val="tx1"/>
                </a:solidFill>
                <a:latin typeface="黑体" panose="02010609060101010101" pitchFamily="49" charset="-122"/>
                <a:ea typeface="黑体" panose="02010609060101010101" pitchFamily="49" charset="-122"/>
              </a:rPr>
              <a:t>注：</a:t>
            </a:r>
            <a:r>
              <a:rPr lang="en-US" altLang="zh-CN" sz="2000" dirty="0">
                <a:solidFill>
                  <a:schemeClr val="tx1"/>
                </a:solidFill>
                <a:latin typeface="黑体" panose="02010609060101010101" pitchFamily="49" charset="-122"/>
                <a:ea typeface="黑体" panose="02010609060101010101" pitchFamily="49" charset="-122"/>
              </a:rPr>
              <a:t>1</a:t>
            </a:r>
            <a:r>
              <a:rPr lang="zh-CN" altLang="en-US" sz="2000" dirty="0">
                <a:solidFill>
                  <a:schemeClr val="tx1"/>
                </a:solidFill>
                <a:latin typeface="黑体" panose="02010609060101010101" pitchFamily="49" charset="-122"/>
                <a:ea typeface="黑体" panose="02010609060101010101" pitchFamily="49" charset="-122"/>
              </a:rPr>
              <a:t>、某些高速</a:t>
            </a:r>
            <a:r>
              <a:rPr lang="en-US" altLang="zh-CN" sz="2000" dirty="0">
                <a:solidFill>
                  <a:schemeClr val="tx1"/>
                </a:solidFill>
                <a:latin typeface="黑体" panose="02010609060101010101" pitchFamily="49" charset="-122"/>
                <a:ea typeface="黑体" panose="02010609060101010101" pitchFamily="49" charset="-122"/>
              </a:rPr>
              <a:t>ADC</a:t>
            </a:r>
            <a:r>
              <a:rPr lang="zh-CN" altLang="en-US" sz="2000" dirty="0">
                <a:solidFill>
                  <a:schemeClr val="tx1"/>
                </a:solidFill>
                <a:latin typeface="黑体" panose="02010609060101010101" pitchFamily="49" charset="-122"/>
                <a:ea typeface="黑体" panose="02010609060101010101" pitchFamily="49" charset="-122"/>
              </a:rPr>
              <a:t>（分级流水型）的转换速率高于转换时间的倒数，因为在前一次模数转换结束前，就已经开始了下一次的转换。</a:t>
            </a:r>
            <a:endParaRPr lang="zh-CN" altLang="en-US" sz="2000" dirty="0">
              <a:solidFill>
                <a:schemeClr val="tx1"/>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sz="2000" dirty="0">
                <a:solidFill>
                  <a:schemeClr val="tx1"/>
                </a:solidFill>
                <a:latin typeface="黑体" panose="02010609060101010101" pitchFamily="49" charset="-122"/>
                <a:ea typeface="黑体" panose="02010609060101010101" pitchFamily="49" charset="-122"/>
              </a:rPr>
              <a:t>  2</a:t>
            </a:r>
            <a:r>
              <a:rPr lang="zh-CN" altLang="en-US" sz="2000" dirty="0">
                <a:solidFill>
                  <a:schemeClr val="tx1"/>
                </a:solidFill>
                <a:latin typeface="黑体" panose="02010609060101010101" pitchFamily="49" charset="-122"/>
                <a:ea typeface="黑体" panose="02010609060101010101" pitchFamily="49" charset="-122"/>
              </a:rPr>
              <a:t>、对于采样</a:t>
            </a:r>
            <a:r>
              <a:rPr lang="en-US" altLang="zh-CN" sz="2000" dirty="0">
                <a:solidFill>
                  <a:schemeClr val="tx1"/>
                </a:solidFill>
                <a:latin typeface="黑体" panose="02010609060101010101" pitchFamily="49" charset="-122"/>
                <a:ea typeface="黑体" panose="02010609060101010101" pitchFamily="49" charset="-122"/>
              </a:rPr>
              <a:t>ADC</a:t>
            </a:r>
            <a:r>
              <a:rPr lang="zh-CN" altLang="en-US" sz="2000" dirty="0">
                <a:solidFill>
                  <a:schemeClr val="tx1"/>
                </a:solidFill>
                <a:latin typeface="黑体" panose="02010609060101010101" pitchFamily="49" charset="-122"/>
                <a:ea typeface="黑体" panose="02010609060101010101" pitchFamily="49" charset="-122"/>
              </a:rPr>
              <a:t>，转换速率为转换时间和采样保持所需时间之和的倒数。</a:t>
            </a:r>
            <a:endParaRPr lang="zh-CN" altLang="en-US" sz="2000" dirty="0">
              <a:solidFill>
                <a:schemeClr val="tx1"/>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zh-CN" altLang="en-US" sz="2000" dirty="0">
                <a:solidFill>
                  <a:schemeClr val="tx1"/>
                </a:solidFill>
                <a:latin typeface="黑体" panose="02010609060101010101" pitchFamily="49" charset="-122"/>
                <a:ea typeface="黑体" panose="02010609060101010101" pitchFamily="49" charset="-122"/>
              </a:rPr>
              <a:t>  </a:t>
            </a:r>
            <a:r>
              <a:rPr lang="en-US" altLang="zh-CN" sz="2000" dirty="0">
                <a:solidFill>
                  <a:schemeClr val="tx1"/>
                </a:solidFill>
                <a:latin typeface="黑体" panose="02010609060101010101" pitchFamily="49" charset="-122"/>
                <a:ea typeface="黑体" panose="02010609060101010101" pitchFamily="49" charset="-122"/>
              </a:rPr>
              <a:t>3</a:t>
            </a:r>
            <a:r>
              <a:rPr lang="zh-CN" altLang="en-US" sz="2000" dirty="0">
                <a:solidFill>
                  <a:schemeClr val="tx1"/>
                </a:solidFill>
                <a:latin typeface="黑体" panose="02010609060101010101" pitchFamily="49" charset="-122"/>
                <a:ea typeface="黑体" panose="02010609060101010101" pitchFamily="49" charset="-122"/>
              </a:rPr>
              <a:t>、转换时间与待转换信号的值是否有关取决于转换器的类型（逐次逼近型，无关；跟踪计数型，有关）。</a:t>
            </a:r>
            <a:endParaRPr lang="zh-CN" altLang="en-US" sz="2000" dirty="0">
              <a:solidFill>
                <a:schemeClr val="tx1"/>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54">
                                            <p:txEl>
                                              <p:charRg st="0" end="49"/>
                                            </p:txEl>
                                          </p:spTgt>
                                        </p:tgtEl>
                                        <p:attrNameLst>
                                          <p:attrName>style.visibility</p:attrName>
                                        </p:attrNameLst>
                                      </p:cBhvr>
                                      <p:to>
                                        <p:strVal val="visible"/>
                                      </p:to>
                                    </p:set>
                                    <p:animEffect transition="in" filter="dissolve">
                                      <p:cBhvr>
                                        <p:cTn id="7" dur="500"/>
                                        <p:tgtEl>
                                          <p:spTgt spid="10254">
                                            <p:txEl>
                                              <p:charRg st="0" end="49"/>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254">
                                            <p:txEl>
                                              <p:charRg st="49" end="89"/>
                                            </p:txEl>
                                          </p:spTgt>
                                        </p:tgtEl>
                                        <p:attrNameLst>
                                          <p:attrName>style.visibility</p:attrName>
                                        </p:attrNameLst>
                                      </p:cBhvr>
                                      <p:to>
                                        <p:strVal val="visible"/>
                                      </p:to>
                                    </p:set>
                                    <p:animEffect transition="in" filter="dissolve">
                                      <p:cBhvr>
                                        <p:cTn id="10" dur="500"/>
                                        <p:tgtEl>
                                          <p:spTgt spid="10254">
                                            <p:txEl>
                                              <p:charRg st="49" end="89"/>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254">
                                            <p:txEl>
                                              <p:charRg st="89" end="123"/>
                                            </p:txEl>
                                          </p:spTgt>
                                        </p:tgtEl>
                                        <p:attrNameLst>
                                          <p:attrName>style.visibility</p:attrName>
                                        </p:attrNameLst>
                                      </p:cBhvr>
                                      <p:to>
                                        <p:strVal val="visible"/>
                                      </p:to>
                                    </p:set>
                                    <p:animEffect transition="in" filter="dissolve">
                                      <p:cBhvr>
                                        <p:cTn id="13" dur="500"/>
                                        <p:tgtEl>
                                          <p:spTgt spid="10254">
                                            <p:txEl>
                                              <p:charRg st="89" end="12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254">
                                            <p:txEl>
                                              <p:charRg st="123" end="185"/>
                                            </p:txEl>
                                          </p:spTgt>
                                        </p:tgtEl>
                                        <p:attrNameLst>
                                          <p:attrName>style.visibility</p:attrName>
                                        </p:attrNameLst>
                                      </p:cBhvr>
                                      <p:to>
                                        <p:strVal val="visible"/>
                                      </p:to>
                                    </p:set>
                                    <p:animEffect transition="in" filter="dissolve">
                                      <p:cBhvr>
                                        <p:cTn id="18" dur="500"/>
                                        <p:tgtEl>
                                          <p:spTgt spid="10254">
                                            <p:txEl>
                                              <p:charRg st="123" end="18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0254">
                                            <p:txEl>
                                              <p:charRg st="185" end="222"/>
                                            </p:txEl>
                                          </p:spTgt>
                                        </p:tgtEl>
                                        <p:attrNameLst>
                                          <p:attrName>style.visibility</p:attrName>
                                        </p:attrNameLst>
                                      </p:cBhvr>
                                      <p:to>
                                        <p:strVal val="visible"/>
                                      </p:to>
                                    </p:set>
                                    <p:animEffect transition="in" filter="dissolve">
                                      <p:cBhvr>
                                        <p:cTn id="23" dur="500"/>
                                        <p:tgtEl>
                                          <p:spTgt spid="10254">
                                            <p:txEl>
                                              <p:charRg st="185" end="22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10254">
                                            <p:txEl>
                                              <p:charRg st="222" end="272"/>
                                            </p:txEl>
                                          </p:spTgt>
                                        </p:tgtEl>
                                        <p:attrNameLst>
                                          <p:attrName>style.visibility</p:attrName>
                                        </p:attrNameLst>
                                      </p:cBhvr>
                                      <p:to>
                                        <p:strVal val="visible"/>
                                      </p:to>
                                    </p:set>
                                    <p:animEffect transition="in" filter="dissolve">
                                      <p:cBhvr>
                                        <p:cTn id="28" dur="500"/>
                                        <p:tgtEl>
                                          <p:spTgt spid="10254">
                                            <p:txEl>
                                              <p:charRg st="222" end="27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9759" name="Text Box 31"/>
          <p:cNvSpPr txBox="1"/>
          <p:nvPr/>
        </p:nvSpPr>
        <p:spPr>
          <a:xfrm>
            <a:off x="1933575" y="1341438"/>
            <a:ext cx="6670675" cy="519112"/>
          </a:xfrm>
          <a:prstGeom prst="rect">
            <a:avLst/>
          </a:prstGeom>
          <a:noFill/>
          <a:ln w="9525">
            <a:noFill/>
          </a:ln>
        </p:spPr>
        <p:txBody>
          <a:bodyPr>
            <a:spAutoFit/>
          </a:bodyPr>
          <a:p>
            <a:pPr eaLnBrk="1" hangingPunct="1"/>
            <a:r>
              <a:rPr lang="zh-CN" altLang="en-US" dirty="0">
                <a:solidFill>
                  <a:schemeClr val="tx1"/>
                </a:solidFill>
                <a:latin typeface="黑体" panose="02010609060101010101" pitchFamily="49" charset="-122"/>
                <a:ea typeface="黑体" panose="02010609060101010101" pitchFamily="49" charset="-122"/>
              </a:rPr>
              <a:t>转换时间与转换精度、信号频率的关系 </a:t>
            </a:r>
            <a:endParaRPr lang="zh-CN" altLang="en-US" dirty="0">
              <a:solidFill>
                <a:schemeClr val="tx1"/>
              </a:solidFill>
              <a:latin typeface="黑体" panose="02010609060101010101" pitchFamily="49" charset="-122"/>
              <a:ea typeface="黑体" panose="02010609060101010101" pitchFamily="49" charset="-122"/>
            </a:endParaRPr>
          </a:p>
        </p:txBody>
      </p:sp>
      <p:sp>
        <p:nvSpPr>
          <p:cNvPr id="2249760" name="Text Box 32"/>
          <p:cNvSpPr txBox="1"/>
          <p:nvPr/>
        </p:nvSpPr>
        <p:spPr>
          <a:xfrm>
            <a:off x="171450" y="1995488"/>
            <a:ext cx="3365500" cy="519112"/>
          </a:xfrm>
          <a:prstGeom prst="rect">
            <a:avLst/>
          </a:prstGeom>
          <a:noFill/>
          <a:ln w="9525">
            <a:noFill/>
          </a:ln>
        </p:spPr>
        <p:txBody>
          <a:bodyPr>
            <a:spAutoFit/>
          </a:bodyPr>
          <a:p>
            <a:pPr marL="536575" indent="-536575" eaLnBrk="1" hangingPunct="1">
              <a:buClr>
                <a:srgbClr val="FF0000"/>
              </a:buClr>
              <a:buFont typeface="Wingdings" panose="05000000000000000000" pitchFamily="2" charset="2"/>
              <a:buChar char="u"/>
            </a:pPr>
            <a:r>
              <a:rPr lang="zh-CN" altLang="en-US" dirty="0">
                <a:solidFill>
                  <a:srgbClr val="FF0000"/>
                </a:solidFill>
                <a:latin typeface="楷体_GB2312" pitchFamily="49" charset="-122"/>
              </a:rPr>
              <a:t>瞬时值响应</a:t>
            </a:r>
            <a:r>
              <a:rPr lang="en-US" altLang="zh-CN" dirty="0">
                <a:solidFill>
                  <a:srgbClr val="FF0000"/>
                </a:solidFill>
                <a:latin typeface="楷体_GB2312" pitchFamily="49" charset="-122"/>
              </a:rPr>
              <a:t>ADC</a:t>
            </a:r>
            <a:endParaRPr lang="en-US" altLang="zh-CN" dirty="0">
              <a:solidFill>
                <a:srgbClr val="FF0000"/>
              </a:solidFill>
              <a:latin typeface="楷体_GB2312" pitchFamily="49" charset="-122"/>
            </a:endParaRPr>
          </a:p>
        </p:txBody>
      </p:sp>
      <p:sp>
        <p:nvSpPr>
          <p:cNvPr id="2249761" name="Text Box 33"/>
          <p:cNvSpPr txBox="1"/>
          <p:nvPr/>
        </p:nvSpPr>
        <p:spPr>
          <a:xfrm>
            <a:off x="250825" y="2589213"/>
            <a:ext cx="3241675" cy="1187450"/>
          </a:xfrm>
          <a:prstGeom prst="rect">
            <a:avLst/>
          </a:prstGeom>
          <a:noFill/>
          <a:ln w="9525">
            <a:noFill/>
          </a:ln>
        </p:spPr>
        <p:txBody>
          <a:bodyPr>
            <a:spAutoFit/>
          </a:bodyPr>
          <a:p>
            <a:pPr eaLnBrk="1" hangingPunct="1"/>
            <a:r>
              <a:rPr lang="zh-CN" altLang="en-US" sz="2400" dirty="0">
                <a:latin typeface="楷体_GB2312" pitchFamily="49" charset="-122"/>
              </a:rPr>
              <a:t>转换时间取决于所要求的转换精度和被转换信号的频率。</a:t>
            </a:r>
            <a:endParaRPr lang="zh-CN" altLang="en-US" sz="2400" dirty="0">
              <a:latin typeface="楷体_GB2312" pitchFamily="49" charset="-122"/>
            </a:endParaRPr>
          </a:p>
        </p:txBody>
      </p:sp>
      <p:sp>
        <p:nvSpPr>
          <p:cNvPr id="2249767" name="Rectangle 39"/>
          <p:cNvSpPr/>
          <p:nvPr/>
        </p:nvSpPr>
        <p:spPr>
          <a:xfrm>
            <a:off x="450850" y="1289050"/>
            <a:ext cx="1276350" cy="585788"/>
          </a:xfrm>
          <a:prstGeom prst="rect">
            <a:avLst/>
          </a:prstGeom>
          <a:solidFill>
            <a:srgbClr val="FF99CC"/>
          </a:solidFill>
          <a:ln w="9525">
            <a:noFill/>
          </a:ln>
        </p:spPr>
        <p:txBody>
          <a:bodyPr>
            <a:spAutoFit/>
          </a:bodyPr>
          <a:p>
            <a:pPr eaLnBrk="1" hangingPunct="1">
              <a:lnSpc>
                <a:spcPct val="90000"/>
              </a:lnSpc>
            </a:pPr>
            <a:r>
              <a:rPr lang="zh-CN" altLang="en-US" sz="3600" dirty="0">
                <a:solidFill>
                  <a:srgbClr val="FF0000"/>
                </a:solidFill>
                <a:latin typeface="Times New Roman" panose="02020603050405020304" pitchFamily="18" charset="0"/>
              </a:rPr>
              <a:t>讨论</a:t>
            </a:r>
            <a:r>
              <a:rPr lang="en-US" altLang="zh-CN" sz="3600" dirty="0">
                <a:solidFill>
                  <a:srgbClr val="FF0000"/>
                </a:solidFill>
                <a:latin typeface="Times New Roman" panose="02020603050405020304" pitchFamily="18" charset="0"/>
              </a:rPr>
              <a:t>:</a:t>
            </a:r>
            <a:endParaRPr lang="en-US" altLang="zh-CN" sz="3600" dirty="0">
              <a:solidFill>
                <a:srgbClr val="FF0000"/>
              </a:solidFill>
              <a:latin typeface="Times New Roman" panose="02020603050405020304" pitchFamily="18" charset="0"/>
            </a:endParaRPr>
          </a:p>
        </p:txBody>
      </p:sp>
      <p:grpSp>
        <p:nvGrpSpPr>
          <p:cNvPr id="3" name="Group 44"/>
          <p:cNvGrpSpPr/>
          <p:nvPr/>
        </p:nvGrpSpPr>
        <p:grpSpPr>
          <a:xfrm>
            <a:off x="3663950" y="1952625"/>
            <a:ext cx="5408613" cy="4140200"/>
            <a:chOff x="2308" y="1230"/>
            <a:chExt cx="3407" cy="2608"/>
          </a:xfrm>
        </p:grpSpPr>
        <p:sp>
          <p:nvSpPr>
            <p:cNvPr id="29707" name="Rectangle 71"/>
            <p:cNvSpPr/>
            <p:nvPr/>
          </p:nvSpPr>
          <p:spPr>
            <a:xfrm>
              <a:off x="2308" y="1230"/>
              <a:ext cx="3339" cy="2608"/>
            </a:xfrm>
            <a:prstGeom prst="rect">
              <a:avLst/>
            </a:prstGeom>
            <a:solidFill>
              <a:srgbClr val="FFFF99"/>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grpSp>
          <p:nvGrpSpPr>
            <p:cNvPr id="29708" name="Group 73"/>
            <p:cNvGrpSpPr/>
            <p:nvPr/>
          </p:nvGrpSpPr>
          <p:grpSpPr>
            <a:xfrm>
              <a:off x="3711" y="1230"/>
              <a:ext cx="1185" cy="414"/>
              <a:chOff x="3711" y="1230"/>
              <a:chExt cx="1185" cy="414"/>
            </a:xfrm>
          </p:grpSpPr>
          <p:sp>
            <p:nvSpPr>
              <p:cNvPr id="29731" name="AutoShape 72"/>
              <p:cNvSpPr/>
              <p:nvPr/>
            </p:nvSpPr>
            <p:spPr>
              <a:xfrm>
                <a:off x="3758" y="1230"/>
                <a:ext cx="1138" cy="414"/>
              </a:xfrm>
              <a:prstGeom prst="wedgeRoundRectCallout">
                <a:avLst>
                  <a:gd name="adj1" fmla="val -52986"/>
                  <a:gd name="adj2" fmla="val 106282"/>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grpSp>
            <p:nvGrpSpPr>
              <p:cNvPr id="29732" name="Group 42"/>
              <p:cNvGrpSpPr/>
              <p:nvPr/>
            </p:nvGrpSpPr>
            <p:grpSpPr>
              <a:xfrm>
                <a:off x="3711" y="1230"/>
                <a:ext cx="1185" cy="414"/>
                <a:chOff x="3824" y="2174"/>
                <a:chExt cx="1185" cy="414"/>
              </a:xfrm>
            </p:grpSpPr>
            <p:grpSp>
              <p:nvGrpSpPr>
                <p:cNvPr id="29733" name="Group 43"/>
                <p:cNvGrpSpPr/>
                <p:nvPr/>
              </p:nvGrpSpPr>
              <p:grpSpPr>
                <a:xfrm>
                  <a:off x="4245" y="2174"/>
                  <a:ext cx="313" cy="414"/>
                  <a:chOff x="4742" y="1694"/>
                  <a:chExt cx="313" cy="414"/>
                </a:xfrm>
              </p:grpSpPr>
              <p:sp>
                <p:nvSpPr>
                  <p:cNvPr id="29736" name="Text Box 44"/>
                  <p:cNvSpPr txBox="1"/>
                  <p:nvPr/>
                </p:nvSpPr>
                <p:spPr>
                  <a:xfrm>
                    <a:off x="4742" y="1694"/>
                    <a:ext cx="31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m</a:t>
                    </a:r>
                    <a:endParaRPr lang="en-US" altLang="zh-CN" sz="2000" i="1" baseline="-25000" dirty="0">
                      <a:latin typeface="Times New Roman" panose="02020603050405020304" pitchFamily="18" charset="0"/>
                    </a:endParaRPr>
                  </a:p>
                </p:txBody>
              </p:sp>
              <p:sp>
                <p:nvSpPr>
                  <p:cNvPr id="29737" name="Line 45"/>
                  <p:cNvSpPr/>
                  <p:nvPr/>
                </p:nvSpPr>
                <p:spPr>
                  <a:xfrm>
                    <a:off x="4767" y="1912"/>
                    <a:ext cx="250" cy="0"/>
                  </a:xfrm>
                  <a:prstGeom prst="line">
                    <a:avLst/>
                  </a:prstGeom>
                  <a:ln w="9525" cap="flat" cmpd="sng">
                    <a:solidFill>
                      <a:schemeClr val="accent2"/>
                    </a:solidFill>
                    <a:prstDash val="solid"/>
                    <a:headEnd type="none" w="med" len="med"/>
                    <a:tailEnd type="none" w="med" len="med"/>
                  </a:ln>
                </p:spPr>
              </p:sp>
              <p:sp>
                <p:nvSpPr>
                  <p:cNvPr id="29738" name="Text Box 46"/>
                  <p:cNvSpPr txBox="1"/>
                  <p:nvPr/>
                </p:nvSpPr>
                <p:spPr>
                  <a:xfrm>
                    <a:off x="4792" y="1877"/>
                    <a:ext cx="196" cy="231"/>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grpSp>
            <p:sp>
              <p:nvSpPr>
                <p:cNvPr id="29734" name="Text Box 47"/>
                <p:cNvSpPr txBox="1"/>
                <p:nvPr/>
              </p:nvSpPr>
              <p:spPr>
                <a:xfrm>
                  <a:off x="3824" y="2278"/>
                  <a:ext cx="47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dirty="0">
                      <a:latin typeface="Times New Roman" panose="02020603050405020304" pitchFamily="18" charset="0"/>
                    </a:rPr>
                    <a:t>(</a:t>
                  </a:r>
                  <a:r>
                    <a:rPr lang="en-US" altLang="zh-CN" sz="2000" i="1" dirty="0">
                      <a:latin typeface="Times New Roman" panose="02020603050405020304" pitchFamily="18" charset="0"/>
                    </a:rPr>
                    <a:t>t</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29735" name="Text Box 48"/>
                <p:cNvSpPr txBox="1"/>
                <p:nvPr/>
              </p:nvSpPr>
              <p:spPr>
                <a:xfrm>
                  <a:off x="4493" y="2270"/>
                  <a:ext cx="516"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i="1" dirty="0">
                      <a:latin typeface="Times New Roman" panose="02020603050405020304" pitchFamily="18" charset="0"/>
                      <a:ea typeface="宋体" panose="02010600030101010101" pitchFamily="2" charset="-122"/>
                    </a:rPr>
                    <a:t>ωt</a:t>
                  </a:r>
                  <a:endParaRPr lang="en-US" altLang="zh-CN" sz="2000" i="1" dirty="0">
                    <a:latin typeface="Times New Roman" panose="02020603050405020304" pitchFamily="18" charset="0"/>
                  </a:endParaRPr>
                </a:p>
              </p:txBody>
            </p:sp>
          </p:grpSp>
        </p:grpSp>
        <p:sp>
          <p:nvSpPr>
            <p:cNvPr id="29709" name="Line 49"/>
            <p:cNvSpPr/>
            <p:nvPr/>
          </p:nvSpPr>
          <p:spPr>
            <a:xfrm>
              <a:off x="2558" y="2621"/>
              <a:ext cx="2980" cy="0"/>
            </a:xfrm>
            <a:prstGeom prst="line">
              <a:avLst/>
            </a:prstGeom>
            <a:ln w="9525" cap="flat" cmpd="sng">
              <a:solidFill>
                <a:schemeClr val="accent2"/>
              </a:solidFill>
              <a:prstDash val="solid"/>
              <a:headEnd type="none" w="med" len="med"/>
              <a:tailEnd type="stealth" w="sm" len="lg"/>
            </a:ln>
          </p:spPr>
        </p:sp>
        <p:sp>
          <p:nvSpPr>
            <p:cNvPr id="29710" name="Text Box 50"/>
            <p:cNvSpPr txBox="1"/>
            <p:nvPr/>
          </p:nvSpPr>
          <p:spPr>
            <a:xfrm>
              <a:off x="5555" y="2503"/>
              <a:ext cx="160"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9711" name="Line 51"/>
            <p:cNvSpPr/>
            <p:nvPr/>
          </p:nvSpPr>
          <p:spPr>
            <a:xfrm flipV="1">
              <a:off x="2967" y="1511"/>
              <a:ext cx="0" cy="1110"/>
            </a:xfrm>
            <a:prstGeom prst="line">
              <a:avLst/>
            </a:prstGeom>
            <a:ln w="9525" cap="flat" cmpd="sng">
              <a:solidFill>
                <a:schemeClr val="accent2"/>
              </a:solidFill>
              <a:prstDash val="solid"/>
              <a:headEnd type="none" w="med" len="med"/>
              <a:tailEnd type="stealth" w="sm" len="lg"/>
            </a:ln>
          </p:spPr>
        </p:sp>
        <p:sp>
          <p:nvSpPr>
            <p:cNvPr id="29712" name="Text Box 52"/>
            <p:cNvSpPr txBox="1"/>
            <p:nvPr/>
          </p:nvSpPr>
          <p:spPr>
            <a:xfrm>
              <a:off x="2592" y="1469"/>
              <a:ext cx="38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dirty="0">
                  <a:latin typeface="Times New Roman" panose="02020603050405020304" pitchFamily="18" charset="0"/>
                </a:rPr>
                <a:t>(</a:t>
              </a:r>
              <a:r>
                <a:rPr lang="en-US" altLang="zh-CN" sz="2000" i="1" dirty="0">
                  <a:latin typeface="Times New Roman" panose="02020603050405020304" pitchFamily="18" charset="0"/>
                </a:rPr>
                <a:t>t</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29713" name="Freeform 53"/>
            <p:cNvSpPr/>
            <p:nvPr/>
          </p:nvSpPr>
          <p:spPr>
            <a:xfrm>
              <a:off x="2976" y="1777"/>
              <a:ext cx="2112" cy="1679"/>
            </a:xfrm>
            <a:custGeom>
              <a:avLst/>
              <a:gdLst>
                <a:gd name="txL" fmla="*/ 0 w 2112"/>
                <a:gd name="txT" fmla="*/ 0 h 1679"/>
                <a:gd name="txR" fmla="*/ 2112 w 2112"/>
                <a:gd name="txB" fmla="*/ 1679 h 1679"/>
              </a:gdLst>
              <a:ahLst/>
              <a:cxnLst>
                <a:cxn ang="0">
                  <a:pos x="0"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 ang="0">
                  <a:pos x="2147482143" y="2147482511"/>
                </a:cxn>
              </a:cxnLst>
              <a:rect l="txL" t="txT" r="txR" b="txB"/>
              <a:pathLst>
                <a:path w="2112" h="1679">
                  <a:moveTo>
                    <a:pt x="0" y="844"/>
                  </a:moveTo>
                  <a:cubicBezTo>
                    <a:pt x="60" y="723"/>
                    <a:pt x="120" y="603"/>
                    <a:pt x="167" y="510"/>
                  </a:cubicBezTo>
                  <a:cubicBezTo>
                    <a:pt x="214" y="417"/>
                    <a:pt x="250" y="350"/>
                    <a:pt x="283" y="285"/>
                  </a:cubicBezTo>
                  <a:cubicBezTo>
                    <a:pt x="316" y="220"/>
                    <a:pt x="349" y="153"/>
                    <a:pt x="367" y="118"/>
                  </a:cubicBezTo>
                  <a:cubicBezTo>
                    <a:pt x="385" y="83"/>
                    <a:pt x="381" y="88"/>
                    <a:pt x="392" y="76"/>
                  </a:cubicBezTo>
                  <a:cubicBezTo>
                    <a:pt x="403" y="64"/>
                    <a:pt x="420" y="54"/>
                    <a:pt x="434" y="43"/>
                  </a:cubicBezTo>
                  <a:cubicBezTo>
                    <a:pt x="448" y="32"/>
                    <a:pt x="457" y="17"/>
                    <a:pt x="475" y="10"/>
                  </a:cubicBezTo>
                  <a:cubicBezTo>
                    <a:pt x="493" y="3"/>
                    <a:pt x="517" y="1"/>
                    <a:pt x="542" y="1"/>
                  </a:cubicBezTo>
                  <a:cubicBezTo>
                    <a:pt x="567" y="1"/>
                    <a:pt x="599" y="0"/>
                    <a:pt x="626" y="10"/>
                  </a:cubicBezTo>
                  <a:cubicBezTo>
                    <a:pt x="653" y="20"/>
                    <a:pt x="679" y="34"/>
                    <a:pt x="701" y="60"/>
                  </a:cubicBezTo>
                  <a:cubicBezTo>
                    <a:pt x="723" y="86"/>
                    <a:pt x="729" y="105"/>
                    <a:pt x="759" y="168"/>
                  </a:cubicBezTo>
                  <a:cubicBezTo>
                    <a:pt x="789" y="231"/>
                    <a:pt x="833" y="322"/>
                    <a:pt x="884" y="435"/>
                  </a:cubicBezTo>
                  <a:cubicBezTo>
                    <a:pt x="935" y="548"/>
                    <a:pt x="1008" y="715"/>
                    <a:pt x="1068" y="844"/>
                  </a:cubicBezTo>
                  <a:cubicBezTo>
                    <a:pt x="1128" y="973"/>
                    <a:pt x="1196" y="1108"/>
                    <a:pt x="1243" y="1212"/>
                  </a:cubicBezTo>
                  <a:cubicBezTo>
                    <a:pt x="1290" y="1316"/>
                    <a:pt x="1330" y="1420"/>
                    <a:pt x="1352" y="1470"/>
                  </a:cubicBezTo>
                  <a:cubicBezTo>
                    <a:pt x="1374" y="1520"/>
                    <a:pt x="1367" y="1493"/>
                    <a:pt x="1377" y="1512"/>
                  </a:cubicBezTo>
                  <a:cubicBezTo>
                    <a:pt x="1387" y="1531"/>
                    <a:pt x="1393" y="1563"/>
                    <a:pt x="1410" y="1587"/>
                  </a:cubicBezTo>
                  <a:cubicBezTo>
                    <a:pt x="1427" y="1611"/>
                    <a:pt x="1448" y="1639"/>
                    <a:pt x="1477" y="1654"/>
                  </a:cubicBezTo>
                  <a:cubicBezTo>
                    <a:pt x="1506" y="1669"/>
                    <a:pt x="1550" y="1679"/>
                    <a:pt x="1586" y="1679"/>
                  </a:cubicBezTo>
                  <a:cubicBezTo>
                    <a:pt x="1622" y="1679"/>
                    <a:pt x="1666" y="1669"/>
                    <a:pt x="1694" y="1654"/>
                  </a:cubicBezTo>
                  <a:cubicBezTo>
                    <a:pt x="1722" y="1639"/>
                    <a:pt x="1727" y="1626"/>
                    <a:pt x="1753" y="1587"/>
                  </a:cubicBezTo>
                  <a:cubicBezTo>
                    <a:pt x="1779" y="1548"/>
                    <a:pt x="1793" y="1544"/>
                    <a:pt x="1853" y="1420"/>
                  </a:cubicBezTo>
                  <a:cubicBezTo>
                    <a:pt x="1913" y="1296"/>
                    <a:pt x="2069" y="941"/>
                    <a:pt x="2112" y="844"/>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29714" name="Line 54"/>
            <p:cNvSpPr/>
            <p:nvPr/>
          </p:nvSpPr>
          <p:spPr>
            <a:xfrm>
              <a:off x="3569" y="1777"/>
              <a:ext cx="902" cy="0"/>
            </a:xfrm>
            <a:prstGeom prst="line">
              <a:avLst/>
            </a:prstGeom>
            <a:ln w="9525" cap="flat" cmpd="sng">
              <a:solidFill>
                <a:srgbClr val="FF0000"/>
              </a:solidFill>
              <a:prstDash val="sysDot"/>
              <a:headEnd type="none" w="med" len="med"/>
              <a:tailEnd type="none" w="med" len="med"/>
            </a:ln>
          </p:spPr>
        </p:sp>
        <p:sp>
          <p:nvSpPr>
            <p:cNvPr id="29715" name="Line 55"/>
            <p:cNvSpPr/>
            <p:nvPr/>
          </p:nvSpPr>
          <p:spPr>
            <a:xfrm>
              <a:off x="4420" y="1778"/>
              <a:ext cx="0" cy="843"/>
            </a:xfrm>
            <a:prstGeom prst="line">
              <a:avLst/>
            </a:prstGeom>
            <a:ln w="9525" cap="flat" cmpd="sng">
              <a:solidFill>
                <a:srgbClr val="FF0000"/>
              </a:solidFill>
              <a:prstDash val="solid"/>
              <a:headEnd type="stealth" w="sm" len="lg"/>
              <a:tailEnd type="stealth" w="sm" len="lg"/>
            </a:ln>
          </p:spPr>
        </p:sp>
        <p:grpSp>
          <p:nvGrpSpPr>
            <p:cNvPr id="29716" name="Group 56"/>
            <p:cNvGrpSpPr/>
            <p:nvPr/>
          </p:nvGrpSpPr>
          <p:grpSpPr>
            <a:xfrm>
              <a:off x="4445" y="1994"/>
              <a:ext cx="313" cy="414"/>
              <a:chOff x="4742" y="1694"/>
              <a:chExt cx="313" cy="414"/>
            </a:xfrm>
          </p:grpSpPr>
          <p:sp>
            <p:nvSpPr>
              <p:cNvPr id="29728" name="Text Box 57"/>
              <p:cNvSpPr txBox="1"/>
              <p:nvPr/>
            </p:nvSpPr>
            <p:spPr>
              <a:xfrm>
                <a:off x="4742" y="1694"/>
                <a:ext cx="31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m</a:t>
                </a:r>
                <a:endParaRPr lang="en-US" altLang="zh-CN" sz="2000" i="1" baseline="-25000" dirty="0">
                  <a:latin typeface="Times New Roman" panose="02020603050405020304" pitchFamily="18" charset="0"/>
                </a:endParaRPr>
              </a:p>
            </p:txBody>
          </p:sp>
          <p:sp>
            <p:nvSpPr>
              <p:cNvPr id="29729" name="Line 58"/>
              <p:cNvSpPr/>
              <p:nvPr/>
            </p:nvSpPr>
            <p:spPr>
              <a:xfrm>
                <a:off x="4767" y="1912"/>
                <a:ext cx="250" cy="0"/>
              </a:xfrm>
              <a:prstGeom prst="line">
                <a:avLst/>
              </a:prstGeom>
              <a:ln w="9525" cap="flat" cmpd="sng">
                <a:solidFill>
                  <a:schemeClr val="accent2"/>
                </a:solidFill>
                <a:prstDash val="solid"/>
                <a:headEnd type="none" w="med" len="med"/>
                <a:tailEnd type="none" w="med" len="med"/>
              </a:ln>
            </p:spPr>
          </p:sp>
          <p:sp>
            <p:nvSpPr>
              <p:cNvPr id="29730" name="Text Box 59"/>
              <p:cNvSpPr txBox="1"/>
              <p:nvPr/>
            </p:nvSpPr>
            <p:spPr>
              <a:xfrm>
                <a:off x="4792" y="1877"/>
                <a:ext cx="196" cy="231"/>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grpSp>
        <p:sp>
          <p:nvSpPr>
            <p:cNvPr id="29717" name="Line 60"/>
            <p:cNvSpPr/>
            <p:nvPr/>
          </p:nvSpPr>
          <p:spPr>
            <a:xfrm>
              <a:off x="2967" y="2621"/>
              <a:ext cx="0" cy="459"/>
            </a:xfrm>
            <a:prstGeom prst="line">
              <a:avLst/>
            </a:prstGeom>
            <a:ln w="9525" cap="flat" cmpd="sng">
              <a:solidFill>
                <a:srgbClr val="FF0000"/>
              </a:solidFill>
              <a:prstDash val="sysDot"/>
              <a:headEnd type="none" w="med" len="med"/>
              <a:tailEnd type="none" w="med" len="med"/>
            </a:ln>
          </p:spPr>
        </p:sp>
        <p:sp>
          <p:nvSpPr>
            <p:cNvPr id="29718" name="Line 61"/>
            <p:cNvSpPr/>
            <p:nvPr/>
          </p:nvSpPr>
          <p:spPr>
            <a:xfrm flipV="1">
              <a:off x="3201" y="2187"/>
              <a:ext cx="0" cy="885"/>
            </a:xfrm>
            <a:prstGeom prst="line">
              <a:avLst/>
            </a:prstGeom>
            <a:ln w="9525" cap="flat" cmpd="sng">
              <a:solidFill>
                <a:srgbClr val="FF0000"/>
              </a:solidFill>
              <a:prstDash val="sysDot"/>
              <a:headEnd type="none" w="med" len="med"/>
              <a:tailEnd type="none" w="med" len="med"/>
            </a:ln>
          </p:spPr>
        </p:sp>
        <p:sp>
          <p:nvSpPr>
            <p:cNvPr id="29719" name="Text Box 62"/>
            <p:cNvSpPr txBox="1"/>
            <p:nvPr/>
          </p:nvSpPr>
          <p:spPr>
            <a:xfrm>
              <a:off x="2776" y="2595"/>
              <a:ext cx="21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0</a:t>
              </a:r>
              <a:endParaRPr lang="en-US" altLang="zh-CN" sz="2000" baseline="-25000" dirty="0">
                <a:latin typeface="Times New Roman" panose="02020603050405020304" pitchFamily="18" charset="0"/>
              </a:endParaRPr>
            </a:p>
          </p:txBody>
        </p:sp>
        <p:sp>
          <p:nvSpPr>
            <p:cNvPr id="29720" name="Text Box 63"/>
            <p:cNvSpPr txBox="1"/>
            <p:nvPr/>
          </p:nvSpPr>
          <p:spPr>
            <a:xfrm>
              <a:off x="3205" y="2591"/>
              <a:ext cx="212"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29721" name="Line 64"/>
            <p:cNvSpPr/>
            <p:nvPr/>
          </p:nvSpPr>
          <p:spPr>
            <a:xfrm>
              <a:off x="2767" y="3005"/>
              <a:ext cx="200" cy="0"/>
            </a:xfrm>
            <a:prstGeom prst="line">
              <a:avLst/>
            </a:prstGeom>
            <a:ln w="9525" cap="flat" cmpd="sng">
              <a:solidFill>
                <a:srgbClr val="FF0000"/>
              </a:solidFill>
              <a:prstDash val="solid"/>
              <a:headEnd type="none" w="med" len="med"/>
              <a:tailEnd type="stealth" w="sm" len="lg"/>
            </a:ln>
          </p:spPr>
        </p:sp>
        <p:sp>
          <p:nvSpPr>
            <p:cNvPr id="29722" name="Line 65"/>
            <p:cNvSpPr/>
            <p:nvPr/>
          </p:nvSpPr>
          <p:spPr>
            <a:xfrm flipH="1">
              <a:off x="3201" y="3005"/>
              <a:ext cx="351" cy="0"/>
            </a:xfrm>
            <a:prstGeom prst="line">
              <a:avLst/>
            </a:prstGeom>
            <a:ln w="9525" cap="flat" cmpd="sng">
              <a:solidFill>
                <a:srgbClr val="FF0000"/>
              </a:solidFill>
              <a:prstDash val="solid"/>
              <a:headEnd type="none" w="med" len="med"/>
              <a:tailEnd type="stealth" w="sm" len="lg"/>
            </a:ln>
          </p:spPr>
        </p:sp>
        <p:sp>
          <p:nvSpPr>
            <p:cNvPr id="29723" name="Text Box 66"/>
            <p:cNvSpPr txBox="1"/>
            <p:nvPr/>
          </p:nvSpPr>
          <p:spPr>
            <a:xfrm>
              <a:off x="3292" y="2779"/>
              <a:ext cx="466" cy="231"/>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r>
                <a:rPr lang="en-US" altLang="zh-CN" sz="2000" baseline="-25000" dirty="0">
                  <a:solidFill>
                    <a:srgbClr val="FF0000"/>
                  </a:solidFill>
                  <a:latin typeface="Times New Roman" panose="02020603050405020304" pitchFamily="18" charset="0"/>
                </a:rPr>
                <a:t>CONV</a:t>
              </a:r>
              <a:endParaRPr lang="en-US" altLang="zh-CN" sz="2000" baseline="-25000" dirty="0">
                <a:solidFill>
                  <a:srgbClr val="FF0000"/>
                </a:solidFill>
                <a:latin typeface="Times New Roman" panose="02020603050405020304" pitchFamily="18" charset="0"/>
              </a:endParaRPr>
            </a:p>
          </p:txBody>
        </p:sp>
        <p:sp>
          <p:nvSpPr>
            <p:cNvPr id="29724" name="Line 67"/>
            <p:cNvSpPr/>
            <p:nvPr/>
          </p:nvSpPr>
          <p:spPr>
            <a:xfrm flipH="1">
              <a:off x="2642" y="2187"/>
              <a:ext cx="559" cy="0"/>
            </a:xfrm>
            <a:prstGeom prst="line">
              <a:avLst/>
            </a:prstGeom>
            <a:ln w="9525" cap="flat" cmpd="sng">
              <a:solidFill>
                <a:srgbClr val="FF0000"/>
              </a:solidFill>
              <a:prstDash val="sysDot"/>
              <a:headEnd type="none" w="med" len="med"/>
              <a:tailEnd type="none" w="med" len="med"/>
            </a:ln>
          </p:spPr>
        </p:sp>
        <p:sp>
          <p:nvSpPr>
            <p:cNvPr id="29725" name="Line 68"/>
            <p:cNvSpPr/>
            <p:nvPr/>
          </p:nvSpPr>
          <p:spPr>
            <a:xfrm>
              <a:off x="2675" y="2187"/>
              <a:ext cx="0" cy="434"/>
            </a:xfrm>
            <a:prstGeom prst="line">
              <a:avLst/>
            </a:prstGeom>
            <a:ln w="9525" cap="flat" cmpd="sng">
              <a:solidFill>
                <a:srgbClr val="FF0000"/>
              </a:solidFill>
              <a:prstDash val="solid"/>
              <a:headEnd type="stealth" w="sm" len="lg"/>
              <a:tailEnd type="stealth" w="sm" len="lg"/>
            </a:ln>
          </p:spPr>
        </p:sp>
        <p:sp>
          <p:nvSpPr>
            <p:cNvPr id="29726" name="Text Box 69"/>
            <p:cNvSpPr txBox="1"/>
            <p:nvPr/>
          </p:nvSpPr>
          <p:spPr>
            <a:xfrm>
              <a:off x="2308" y="2295"/>
              <a:ext cx="393" cy="231"/>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a:t>
              </a: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29727" name="Text Box 70"/>
            <p:cNvSpPr txBox="1"/>
            <p:nvPr/>
          </p:nvSpPr>
          <p:spPr>
            <a:xfrm>
              <a:off x="2884" y="3507"/>
              <a:ext cx="2432" cy="265"/>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转换时间对信号转换的影响</a:t>
              </a:r>
              <a:endParaRPr lang="zh-CN" altLang="en-US" sz="2400" dirty="0">
                <a:solidFill>
                  <a:srgbClr val="000099"/>
                </a:solidFill>
                <a:latin typeface="Times New Roman" panose="02020603050405020304" pitchFamily="18" charset="0"/>
              </a:endParaRPr>
            </a:p>
          </p:txBody>
        </p:sp>
      </p:grpSp>
      <p:graphicFrame>
        <p:nvGraphicFramePr>
          <p:cNvPr id="2249802" name="Object 74"/>
          <p:cNvGraphicFramePr>
            <a:graphicFrameLocks noChangeAspect="1"/>
          </p:cNvGraphicFramePr>
          <p:nvPr/>
        </p:nvGraphicFramePr>
        <p:xfrm>
          <a:off x="287338" y="4967288"/>
          <a:ext cx="3078162" cy="1093787"/>
        </p:xfrm>
        <a:graphic>
          <a:graphicData uri="http://schemas.openxmlformats.org/presentationml/2006/ole">
            <mc:AlternateContent xmlns:mc="http://schemas.openxmlformats.org/markup-compatibility/2006">
              <mc:Choice xmlns:v="urn:schemas-microsoft-com:vml" Requires="v">
                <p:oleObj spid="_x0000_s3078" name="" r:id="rId1" imgW="1396365" imgH="635000" progId="Equation.DSMT4">
                  <p:embed/>
                </p:oleObj>
              </mc:Choice>
              <mc:Fallback>
                <p:oleObj name="" r:id="rId1" imgW="1396365" imgH="635000" progId="Equation.DSMT4">
                  <p:embed/>
                  <p:pic>
                    <p:nvPicPr>
                      <p:cNvPr id="0" name="图片 3077"/>
                      <p:cNvPicPr/>
                      <p:nvPr/>
                    </p:nvPicPr>
                    <p:blipFill>
                      <a:blip r:embed="rId2"/>
                      <a:stretch>
                        <a:fillRect/>
                      </a:stretch>
                    </p:blipFill>
                    <p:spPr>
                      <a:xfrm>
                        <a:off x="287338" y="4967288"/>
                        <a:ext cx="3078162" cy="1093787"/>
                      </a:xfrm>
                      <a:prstGeom prst="rect">
                        <a:avLst/>
                      </a:prstGeom>
                      <a:solidFill>
                        <a:srgbClr val="CCFFCC"/>
                      </a:solidFill>
                      <a:ln w="38100">
                        <a:noFill/>
                        <a:miter/>
                      </a:ln>
                    </p:spPr>
                  </p:pic>
                </p:oleObj>
              </mc:Fallback>
            </mc:AlternateContent>
          </a:graphicData>
        </a:graphic>
      </p:graphicFrame>
      <p:sp>
        <p:nvSpPr>
          <p:cNvPr id="29704" name="Rectangle 43"/>
          <p:cNvSpPr/>
          <p:nvPr/>
        </p:nvSpPr>
        <p:spPr>
          <a:xfrm>
            <a:off x="231775" y="769938"/>
            <a:ext cx="8661400" cy="57150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转换时间和转换</a:t>
            </a:r>
            <a:r>
              <a:rPr lang="zh-CN" altLang="en-US" dirty="0">
                <a:solidFill>
                  <a:srgbClr val="FF3300"/>
                </a:solidFill>
                <a:latin typeface="黑体" panose="02010609060101010101" pitchFamily="49" charset="-122"/>
                <a:ea typeface="黑体" panose="02010609060101010101" pitchFamily="49" charset="-122"/>
              </a:rPr>
              <a:t>速</a:t>
            </a:r>
            <a:r>
              <a:rPr lang="zh-CN" altLang="zh-CN" dirty="0">
                <a:solidFill>
                  <a:srgbClr val="FF3300"/>
                </a:solidFill>
                <a:latin typeface="黑体" panose="02010609060101010101" pitchFamily="49" charset="-122"/>
                <a:ea typeface="黑体" panose="02010609060101010101" pitchFamily="49" charset="-122"/>
              </a:rPr>
              <a:t>率</a:t>
            </a:r>
            <a:endParaRPr lang="en-US" altLang="zh-CN" dirty="0">
              <a:solidFill>
                <a:srgbClr val="FF3300"/>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 name="Text Box 33"/>
          <p:cNvSpPr txBox="1"/>
          <p:nvPr/>
        </p:nvSpPr>
        <p:spPr>
          <a:xfrm>
            <a:off x="231775" y="3776663"/>
            <a:ext cx="3241675" cy="1187450"/>
          </a:xfrm>
          <a:prstGeom prst="rect">
            <a:avLst/>
          </a:prstGeom>
          <a:noFill/>
          <a:ln w="9525">
            <a:noFill/>
          </a:ln>
        </p:spPr>
        <p:txBody>
          <a:bodyPr>
            <a:spAutoFit/>
          </a:bodyPr>
          <a:p>
            <a:pPr eaLnBrk="1" hangingPunct="1"/>
            <a:r>
              <a:rPr lang="zh-CN" altLang="en-US" sz="2400" dirty="0">
                <a:solidFill>
                  <a:schemeClr val="tx1"/>
                </a:solidFill>
                <a:latin typeface="楷体_GB2312" pitchFamily="49" charset="-122"/>
              </a:rPr>
              <a:t>以如图所示的正弦信号为例，数字量值的最大误差为</a:t>
            </a:r>
            <a:r>
              <a:rPr lang="el-GR" altLang="zh-CN" sz="2400" dirty="0">
                <a:solidFill>
                  <a:schemeClr val="tx1"/>
                </a:solidFill>
                <a:latin typeface="楷体_GB2312" pitchFamily="49" charset="-122"/>
              </a:rPr>
              <a:t>Δ</a:t>
            </a:r>
            <a:r>
              <a:rPr lang="en-US" altLang="zh-CN" sz="2400" i="1" dirty="0">
                <a:solidFill>
                  <a:schemeClr val="tx1"/>
                </a:solidFill>
                <a:latin typeface="Times New Roman" panose="02020603050405020304" pitchFamily="18" charset="0"/>
              </a:rPr>
              <a:t>U</a:t>
            </a:r>
            <a:r>
              <a:rPr lang="zh-CN" altLang="en-US" sz="2400" dirty="0">
                <a:solidFill>
                  <a:schemeClr val="tx1"/>
                </a:solidFill>
                <a:latin typeface="楷体_GB2312" pitchFamily="49" charset="-122"/>
              </a:rPr>
              <a:t>，由于</a:t>
            </a:r>
            <a:endParaRPr lang="zh-CN" altLang="en-US" sz="2400" dirty="0">
              <a:solidFill>
                <a:schemeClr val="tx1"/>
              </a:solidFill>
              <a:latin typeface="楷体_GB2312"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9767"/>
                                        </p:tgtEl>
                                        <p:attrNameLst>
                                          <p:attrName>style.visibility</p:attrName>
                                        </p:attrNameLst>
                                      </p:cBhvr>
                                      <p:to>
                                        <p:strVal val="visible"/>
                                      </p:to>
                                    </p:set>
                                    <p:animEffect transition="in" filter="dissolve">
                                      <p:cBhvr>
                                        <p:cTn id="7" dur="500"/>
                                        <p:tgtEl>
                                          <p:spTgt spid="224976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9759"/>
                                        </p:tgtEl>
                                        <p:attrNameLst>
                                          <p:attrName>style.visibility</p:attrName>
                                        </p:attrNameLst>
                                      </p:cBhvr>
                                      <p:to>
                                        <p:strVal val="visible"/>
                                      </p:to>
                                    </p:set>
                                    <p:animEffect transition="in" filter="dissolve">
                                      <p:cBhvr>
                                        <p:cTn id="10" dur="500"/>
                                        <p:tgtEl>
                                          <p:spTgt spid="22497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249760"/>
                                        </p:tgtEl>
                                        <p:attrNameLst>
                                          <p:attrName>style.visibility</p:attrName>
                                        </p:attrNameLst>
                                      </p:cBhvr>
                                      <p:to>
                                        <p:strVal val="visible"/>
                                      </p:to>
                                    </p:set>
                                    <p:animEffect transition="in" filter="dissolve">
                                      <p:cBhvr>
                                        <p:cTn id="15" dur="500"/>
                                        <p:tgtEl>
                                          <p:spTgt spid="224976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49761"/>
                                        </p:tgtEl>
                                        <p:attrNameLst>
                                          <p:attrName>style.visibility</p:attrName>
                                        </p:attrNameLst>
                                      </p:cBhvr>
                                      <p:to>
                                        <p:strVal val="visible"/>
                                      </p:to>
                                    </p:set>
                                    <p:animEffect transition="in" filter="dissolve">
                                      <p:cBhvr>
                                        <p:cTn id="20" dur="500"/>
                                        <p:tgtEl>
                                          <p:spTgt spid="2249761"/>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dissolve">
                                      <p:cBhvr>
                                        <p:cTn id="28" dur="5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249802"/>
                                        </p:tgtEl>
                                        <p:attrNameLst>
                                          <p:attrName>style.visibility</p:attrName>
                                        </p:attrNameLst>
                                      </p:cBhvr>
                                      <p:to>
                                        <p:strVal val="visible"/>
                                      </p:to>
                                    </p:set>
                                    <p:animEffect transition="in" filter="wipe(left)">
                                      <p:cBhvr>
                                        <p:cTn id="33" dur="500"/>
                                        <p:tgtEl>
                                          <p:spTgt spid="22498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9759" grpId="0"/>
      <p:bldP spid="2249760" grpId="0"/>
      <p:bldP spid="2249761" grpId="0"/>
      <p:bldP spid="2249767" grpId="0" bldLvl="0" animBg="1"/>
      <p:bldP spid="2"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722" name="Rectangle 2"/>
          <p:cNvSpPr/>
          <p:nvPr/>
        </p:nvSpPr>
        <p:spPr>
          <a:xfrm>
            <a:off x="3663950" y="1952625"/>
            <a:ext cx="5300663" cy="4140200"/>
          </a:xfrm>
          <a:prstGeom prst="rect">
            <a:avLst/>
          </a:prstGeom>
          <a:solidFill>
            <a:srgbClr val="FFFF99"/>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30723" name="Text Box 3"/>
          <p:cNvSpPr txBox="1"/>
          <p:nvPr/>
        </p:nvSpPr>
        <p:spPr>
          <a:xfrm>
            <a:off x="1933575" y="1341438"/>
            <a:ext cx="6670675" cy="519112"/>
          </a:xfrm>
          <a:prstGeom prst="rect">
            <a:avLst/>
          </a:prstGeom>
          <a:noFill/>
          <a:ln w="9525">
            <a:noFill/>
          </a:ln>
        </p:spPr>
        <p:txBody>
          <a:bodyPr>
            <a:spAutoFit/>
          </a:bodyPr>
          <a:p>
            <a:pPr eaLnBrk="1" hangingPunct="1"/>
            <a:r>
              <a:rPr lang="zh-CN" altLang="en-US" dirty="0">
                <a:solidFill>
                  <a:schemeClr val="tx1"/>
                </a:solidFill>
                <a:latin typeface="黑体" panose="02010609060101010101" pitchFamily="49" charset="-122"/>
                <a:ea typeface="黑体" panose="02010609060101010101" pitchFamily="49" charset="-122"/>
              </a:rPr>
              <a:t>转换时间与转换精度、信号频率的关系 </a:t>
            </a:r>
            <a:endParaRPr lang="zh-CN" altLang="en-US" dirty="0">
              <a:solidFill>
                <a:schemeClr val="tx1"/>
              </a:solidFill>
              <a:latin typeface="黑体" panose="02010609060101010101" pitchFamily="49" charset="-122"/>
              <a:ea typeface="黑体" panose="02010609060101010101" pitchFamily="49" charset="-122"/>
            </a:endParaRPr>
          </a:p>
        </p:txBody>
      </p:sp>
      <p:sp>
        <p:nvSpPr>
          <p:cNvPr id="30724" name="Rectangle 8"/>
          <p:cNvSpPr/>
          <p:nvPr/>
        </p:nvSpPr>
        <p:spPr>
          <a:xfrm>
            <a:off x="450850" y="1289050"/>
            <a:ext cx="1276350" cy="585788"/>
          </a:xfrm>
          <a:prstGeom prst="rect">
            <a:avLst/>
          </a:prstGeom>
          <a:solidFill>
            <a:srgbClr val="FF99CC"/>
          </a:solidFill>
          <a:ln w="9525">
            <a:noFill/>
          </a:ln>
        </p:spPr>
        <p:txBody>
          <a:bodyPr>
            <a:spAutoFit/>
          </a:bodyPr>
          <a:p>
            <a:pPr eaLnBrk="1" hangingPunct="1">
              <a:lnSpc>
                <a:spcPct val="90000"/>
              </a:lnSpc>
            </a:pPr>
            <a:r>
              <a:rPr lang="zh-CN" altLang="en-US" sz="3600" dirty="0">
                <a:solidFill>
                  <a:srgbClr val="FF0000"/>
                </a:solidFill>
                <a:latin typeface="Times New Roman" panose="02020603050405020304" pitchFamily="18" charset="0"/>
              </a:rPr>
              <a:t>讨论</a:t>
            </a:r>
            <a:r>
              <a:rPr lang="en-US" altLang="zh-CN" sz="3600" dirty="0">
                <a:solidFill>
                  <a:srgbClr val="FF0000"/>
                </a:solidFill>
                <a:latin typeface="Times New Roman" panose="02020603050405020304" pitchFamily="18" charset="0"/>
              </a:rPr>
              <a:t>:</a:t>
            </a:r>
            <a:endParaRPr lang="en-US" altLang="zh-CN" sz="3600" dirty="0">
              <a:solidFill>
                <a:srgbClr val="FF0000"/>
              </a:solidFill>
              <a:latin typeface="Times New Roman" panose="02020603050405020304" pitchFamily="18" charset="0"/>
            </a:endParaRPr>
          </a:p>
        </p:txBody>
      </p:sp>
      <p:grpSp>
        <p:nvGrpSpPr>
          <p:cNvPr id="30725" name="Group 9"/>
          <p:cNvGrpSpPr/>
          <p:nvPr/>
        </p:nvGrpSpPr>
        <p:grpSpPr>
          <a:xfrm>
            <a:off x="5891213" y="1952625"/>
            <a:ext cx="1881187" cy="657225"/>
            <a:chOff x="3711" y="1230"/>
            <a:chExt cx="1185" cy="414"/>
          </a:xfrm>
        </p:grpSpPr>
        <p:sp>
          <p:nvSpPr>
            <p:cNvPr id="30757" name="AutoShape 10"/>
            <p:cNvSpPr/>
            <p:nvPr/>
          </p:nvSpPr>
          <p:spPr>
            <a:xfrm>
              <a:off x="3758" y="1230"/>
              <a:ext cx="1138" cy="414"/>
            </a:xfrm>
            <a:prstGeom prst="wedgeRoundRectCallout">
              <a:avLst>
                <a:gd name="adj1" fmla="val -52986"/>
                <a:gd name="adj2" fmla="val 106282"/>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sz="3600" dirty="0">
                <a:latin typeface="Times New Roman" panose="02020603050405020304" pitchFamily="18" charset="0"/>
              </a:endParaRPr>
            </a:p>
          </p:txBody>
        </p:sp>
        <p:grpSp>
          <p:nvGrpSpPr>
            <p:cNvPr id="30758" name="Group 11"/>
            <p:cNvGrpSpPr/>
            <p:nvPr/>
          </p:nvGrpSpPr>
          <p:grpSpPr>
            <a:xfrm>
              <a:off x="3711" y="1230"/>
              <a:ext cx="1185" cy="414"/>
              <a:chOff x="3824" y="2174"/>
              <a:chExt cx="1185" cy="414"/>
            </a:xfrm>
          </p:grpSpPr>
          <p:grpSp>
            <p:nvGrpSpPr>
              <p:cNvPr id="30759" name="Group 12"/>
              <p:cNvGrpSpPr/>
              <p:nvPr/>
            </p:nvGrpSpPr>
            <p:grpSpPr>
              <a:xfrm>
                <a:off x="4245" y="2174"/>
                <a:ext cx="313" cy="414"/>
                <a:chOff x="4742" y="1694"/>
                <a:chExt cx="313" cy="414"/>
              </a:xfrm>
            </p:grpSpPr>
            <p:sp>
              <p:nvSpPr>
                <p:cNvPr id="30762" name="Text Box 13"/>
                <p:cNvSpPr txBox="1"/>
                <p:nvPr/>
              </p:nvSpPr>
              <p:spPr>
                <a:xfrm>
                  <a:off x="4742" y="1694"/>
                  <a:ext cx="31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m</a:t>
                  </a:r>
                  <a:endParaRPr lang="en-US" altLang="zh-CN" sz="2000" i="1" baseline="-25000" dirty="0">
                    <a:latin typeface="Times New Roman" panose="02020603050405020304" pitchFamily="18" charset="0"/>
                  </a:endParaRPr>
                </a:p>
              </p:txBody>
            </p:sp>
            <p:sp>
              <p:nvSpPr>
                <p:cNvPr id="30763" name="Line 14"/>
                <p:cNvSpPr/>
                <p:nvPr/>
              </p:nvSpPr>
              <p:spPr>
                <a:xfrm>
                  <a:off x="4767" y="1912"/>
                  <a:ext cx="250" cy="0"/>
                </a:xfrm>
                <a:prstGeom prst="line">
                  <a:avLst/>
                </a:prstGeom>
                <a:ln w="9525" cap="flat" cmpd="sng">
                  <a:solidFill>
                    <a:schemeClr val="accent2"/>
                  </a:solidFill>
                  <a:prstDash val="solid"/>
                  <a:headEnd type="none" w="med" len="med"/>
                  <a:tailEnd type="none" w="med" len="med"/>
                </a:ln>
              </p:spPr>
            </p:sp>
            <p:sp>
              <p:nvSpPr>
                <p:cNvPr id="30764" name="Text Box 15"/>
                <p:cNvSpPr txBox="1"/>
                <p:nvPr/>
              </p:nvSpPr>
              <p:spPr>
                <a:xfrm>
                  <a:off x="4792" y="1877"/>
                  <a:ext cx="196" cy="231"/>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grpSp>
          <p:sp>
            <p:nvSpPr>
              <p:cNvPr id="30760" name="Text Box 16"/>
              <p:cNvSpPr txBox="1"/>
              <p:nvPr/>
            </p:nvSpPr>
            <p:spPr>
              <a:xfrm>
                <a:off x="3824" y="2278"/>
                <a:ext cx="47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dirty="0">
                    <a:latin typeface="Times New Roman" panose="02020603050405020304" pitchFamily="18" charset="0"/>
                  </a:rPr>
                  <a:t>(</a:t>
                </a:r>
                <a:r>
                  <a:rPr lang="en-US" altLang="zh-CN" sz="2000" i="1" dirty="0">
                    <a:latin typeface="Times New Roman" panose="02020603050405020304" pitchFamily="18" charset="0"/>
                  </a:rPr>
                  <a:t>t</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30761" name="Text Box 17"/>
              <p:cNvSpPr txBox="1"/>
              <p:nvPr/>
            </p:nvSpPr>
            <p:spPr>
              <a:xfrm>
                <a:off x="4493" y="2270"/>
                <a:ext cx="516" cy="231"/>
              </a:xfrm>
              <a:prstGeom prst="rect">
                <a:avLst/>
              </a:prstGeom>
              <a:noFill/>
              <a:ln w="9525">
                <a:noFill/>
              </a:ln>
            </p:spPr>
            <p:txBody>
              <a:bodyPr wrap="none">
                <a:spAutoFit/>
              </a:bodyPr>
              <a:p>
                <a:pPr eaLnBrk="1" hangingPunct="1">
                  <a:lnSpc>
                    <a:spcPct val="90000"/>
                  </a:lnSpc>
                  <a:buNone/>
                </a:pPr>
                <a:r>
                  <a:rPr lang="en-US" altLang="zh-CN" sz="2000" dirty="0">
                    <a:latin typeface="Times New Roman" panose="02020603050405020304" pitchFamily="18" charset="0"/>
                  </a:rPr>
                  <a:t>sin</a:t>
                </a:r>
                <a:r>
                  <a:rPr lang="en-US" altLang="zh-CN" sz="2000" i="1" dirty="0">
                    <a:latin typeface="Times New Roman" panose="02020603050405020304" pitchFamily="18" charset="0"/>
                    <a:ea typeface="宋体" panose="02010600030101010101" pitchFamily="2" charset="-122"/>
                  </a:rPr>
                  <a:t>ωt</a:t>
                </a:r>
                <a:endParaRPr lang="en-US" altLang="zh-CN" sz="2000" i="1" dirty="0">
                  <a:latin typeface="Times New Roman" panose="02020603050405020304" pitchFamily="18" charset="0"/>
                </a:endParaRPr>
              </a:p>
            </p:txBody>
          </p:sp>
        </p:grpSp>
      </p:grpSp>
      <p:sp>
        <p:nvSpPr>
          <p:cNvPr id="30726" name="Line 18"/>
          <p:cNvSpPr/>
          <p:nvPr/>
        </p:nvSpPr>
        <p:spPr>
          <a:xfrm>
            <a:off x="4060825" y="4160838"/>
            <a:ext cx="4730750" cy="0"/>
          </a:xfrm>
          <a:prstGeom prst="line">
            <a:avLst/>
          </a:prstGeom>
          <a:ln w="9525" cap="flat" cmpd="sng">
            <a:solidFill>
              <a:schemeClr val="accent2"/>
            </a:solidFill>
            <a:prstDash val="solid"/>
            <a:headEnd type="none" w="med" len="med"/>
            <a:tailEnd type="stealth" w="sm" len="lg"/>
          </a:ln>
        </p:spPr>
      </p:sp>
      <p:sp>
        <p:nvSpPr>
          <p:cNvPr id="30727" name="Text Box 19"/>
          <p:cNvSpPr txBox="1"/>
          <p:nvPr/>
        </p:nvSpPr>
        <p:spPr>
          <a:xfrm>
            <a:off x="8818563" y="3973513"/>
            <a:ext cx="2540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30728" name="Line 20"/>
          <p:cNvSpPr/>
          <p:nvPr/>
        </p:nvSpPr>
        <p:spPr>
          <a:xfrm flipV="1">
            <a:off x="4710113" y="2398713"/>
            <a:ext cx="0" cy="1762125"/>
          </a:xfrm>
          <a:prstGeom prst="line">
            <a:avLst/>
          </a:prstGeom>
          <a:ln w="9525" cap="flat" cmpd="sng">
            <a:solidFill>
              <a:schemeClr val="accent2"/>
            </a:solidFill>
            <a:prstDash val="solid"/>
            <a:headEnd type="none" w="med" len="med"/>
            <a:tailEnd type="stealth" w="sm" len="lg"/>
          </a:ln>
        </p:spPr>
      </p:sp>
      <p:sp>
        <p:nvSpPr>
          <p:cNvPr id="30729" name="Text Box 21"/>
          <p:cNvSpPr txBox="1"/>
          <p:nvPr/>
        </p:nvSpPr>
        <p:spPr>
          <a:xfrm>
            <a:off x="4114800" y="2332038"/>
            <a:ext cx="606425"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dirty="0">
                <a:latin typeface="Times New Roman" panose="02020603050405020304" pitchFamily="18" charset="0"/>
              </a:rPr>
              <a:t>(</a:t>
            </a:r>
            <a:r>
              <a:rPr lang="en-US" altLang="zh-CN" sz="2000" i="1" dirty="0">
                <a:latin typeface="Times New Roman" panose="02020603050405020304" pitchFamily="18" charset="0"/>
              </a:rPr>
              <a:t>t</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30730" name="Freeform 22"/>
          <p:cNvSpPr/>
          <p:nvPr/>
        </p:nvSpPr>
        <p:spPr>
          <a:xfrm>
            <a:off x="4724400" y="2820988"/>
            <a:ext cx="3352800" cy="2665412"/>
          </a:xfrm>
          <a:custGeom>
            <a:avLst/>
            <a:gdLst>
              <a:gd name="txL" fmla="*/ 0 w 2112"/>
              <a:gd name="txT" fmla="*/ 0 h 1679"/>
              <a:gd name="txR" fmla="*/ 2112 w 2112"/>
              <a:gd name="txB" fmla="*/ 1679 h 1679"/>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112" h="1679">
                <a:moveTo>
                  <a:pt x="0" y="844"/>
                </a:moveTo>
                <a:cubicBezTo>
                  <a:pt x="60" y="723"/>
                  <a:pt x="120" y="603"/>
                  <a:pt x="167" y="510"/>
                </a:cubicBezTo>
                <a:cubicBezTo>
                  <a:pt x="214" y="417"/>
                  <a:pt x="250" y="350"/>
                  <a:pt x="283" y="285"/>
                </a:cubicBezTo>
                <a:cubicBezTo>
                  <a:pt x="316" y="220"/>
                  <a:pt x="349" y="153"/>
                  <a:pt x="367" y="118"/>
                </a:cubicBezTo>
                <a:cubicBezTo>
                  <a:pt x="385" y="83"/>
                  <a:pt x="381" y="88"/>
                  <a:pt x="392" y="76"/>
                </a:cubicBezTo>
                <a:cubicBezTo>
                  <a:pt x="403" y="64"/>
                  <a:pt x="420" y="54"/>
                  <a:pt x="434" y="43"/>
                </a:cubicBezTo>
                <a:cubicBezTo>
                  <a:pt x="448" y="32"/>
                  <a:pt x="457" y="17"/>
                  <a:pt x="475" y="10"/>
                </a:cubicBezTo>
                <a:cubicBezTo>
                  <a:pt x="493" y="3"/>
                  <a:pt x="517" y="1"/>
                  <a:pt x="542" y="1"/>
                </a:cubicBezTo>
                <a:cubicBezTo>
                  <a:pt x="567" y="1"/>
                  <a:pt x="599" y="0"/>
                  <a:pt x="626" y="10"/>
                </a:cubicBezTo>
                <a:cubicBezTo>
                  <a:pt x="653" y="20"/>
                  <a:pt x="679" y="34"/>
                  <a:pt x="701" y="60"/>
                </a:cubicBezTo>
                <a:cubicBezTo>
                  <a:pt x="723" y="86"/>
                  <a:pt x="729" y="105"/>
                  <a:pt x="759" y="168"/>
                </a:cubicBezTo>
                <a:cubicBezTo>
                  <a:pt x="789" y="231"/>
                  <a:pt x="833" y="322"/>
                  <a:pt x="884" y="435"/>
                </a:cubicBezTo>
                <a:cubicBezTo>
                  <a:pt x="935" y="548"/>
                  <a:pt x="1008" y="715"/>
                  <a:pt x="1068" y="844"/>
                </a:cubicBezTo>
                <a:cubicBezTo>
                  <a:pt x="1128" y="973"/>
                  <a:pt x="1196" y="1108"/>
                  <a:pt x="1243" y="1212"/>
                </a:cubicBezTo>
                <a:cubicBezTo>
                  <a:pt x="1290" y="1316"/>
                  <a:pt x="1330" y="1420"/>
                  <a:pt x="1352" y="1470"/>
                </a:cubicBezTo>
                <a:cubicBezTo>
                  <a:pt x="1374" y="1520"/>
                  <a:pt x="1367" y="1493"/>
                  <a:pt x="1377" y="1512"/>
                </a:cubicBezTo>
                <a:cubicBezTo>
                  <a:pt x="1387" y="1531"/>
                  <a:pt x="1393" y="1563"/>
                  <a:pt x="1410" y="1587"/>
                </a:cubicBezTo>
                <a:cubicBezTo>
                  <a:pt x="1427" y="1611"/>
                  <a:pt x="1448" y="1639"/>
                  <a:pt x="1477" y="1654"/>
                </a:cubicBezTo>
                <a:cubicBezTo>
                  <a:pt x="1506" y="1669"/>
                  <a:pt x="1550" y="1679"/>
                  <a:pt x="1586" y="1679"/>
                </a:cubicBezTo>
                <a:cubicBezTo>
                  <a:pt x="1622" y="1679"/>
                  <a:pt x="1666" y="1669"/>
                  <a:pt x="1694" y="1654"/>
                </a:cubicBezTo>
                <a:cubicBezTo>
                  <a:pt x="1722" y="1639"/>
                  <a:pt x="1727" y="1626"/>
                  <a:pt x="1753" y="1587"/>
                </a:cubicBezTo>
                <a:cubicBezTo>
                  <a:pt x="1779" y="1548"/>
                  <a:pt x="1793" y="1544"/>
                  <a:pt x="1853" y="1420"/>
                </a:cubicBezTo>
                <a:cubicBezTo>
                  <a:pt x="1913" y="1296"/>
                  <a:pt x="2069" y="941"/>
                  <a:pt x="2112" y="844"/>
                </a:cubicBezTo>
              </a:path>
            </a:pathLst>
          </a:custGeom>
          <a:noFill/>
          <a:ln w="25400" cap="flat" cmpd="sng">
            <a:solidFill>
              <a:srgbClr val="FF00FF">
                <a:alpha val="100000"/>
              </a:srgbClr>
            </a:solidFill>
            <a:prstDash val="solid"/>
            <a:round/>
            <a:headEnd type="none" w="med" len="med"/>
            <a:tailEnd type="none" w="med" len="med"/>
          </a:ln>
        </p:spPr>
        <p:txBody>
          <a:bodyPr/>
          <a:p>
            <a:endParaRPr lang="zh-CN" altLang="en-US"/>
          </a:p>
        </p:txBody>
      </p:sp>
      <p:sp>
        <p:nvSpPr>
          <p:cNvPr id="30731" name="Line 23"/>
          <p:cNvSpPr/>
          <p:nvPr/>
        </p:nvSpPr>
        <p:spPr>
          <a:xfrm>
            <a:off x="5665788" y="2820988"/>
            <a:ext cx="1431925" cy="0"/>
          </a:xfrm>
          <a:prstGeom prst="line">
            <a:avLst/>
          </a:prstGeom>
          <a:ln w="9525" cap="flat" cmpd="sng">
            <a:solidFill>
              <a:srgbClr val="FF0000"/>
            </a:solidFill>
            <a:prstDash val="sysDot"/>
            <a:headEnd type="none" w="med" len="med"/>
            <a:tailEnd type="none" w="med" len="med"/>
          </a:ln>
        </p:spPr>
      </p:sp>
      <p:sp>
        <p:nvSpPr>
          <p:cNvPr id="30732" name="Line 24"/>
          <p:cNvSpPr/>
          <p:nvPr/>
        </p:nvSpPr>
        <p:spPr>
          <a:xfrm>
            <a:off x="7016750" y="2822575"/>
            <a:ext cx="0" cy="1338263"/>
          </a:xfrm>
          <a:prstGeom prst="line">
            <a:avLst/>
          </a:prstGeom>
          <a:ln w="9525" cap="flat" cmpd="sng">
            <a:solidFill>
              <a:srgbClr val="FF0000"/>
            </a:solidFill>
            <a:prstDash val="solid"/>
            <a:headEnd type="stealth" w="sm" len="lg"/>
            <a:tailEnd type="stealth" w="sm" len="lg"/>
          </a:ln>
        </p:spPr>
      </p:sp>
      <p:grpSp>
        <p:nvGrpSpPr>
          <p:cNvPr id="30733" name="Group 25"/>
          <p:cNvGrpSpPr/>
          <p:nvPr/>
        </p:nvGrpSpPr>
        <p:grpSpPr>
          <a:xfrm>
            <a:off x="7056438" y="3165475"/>
            <a:ext cx="496887" cy="657225"/>
            <a:chOff x="4742" y="1694"/>
            <a:chExt cx="313" cy="414"/>
          </a:xfrm>
        </p:grpSpPr>
        <p:sp>
          <p:nvSpPr>
            <p:cNvPr id="30754" name="Text Box 26"/>
            <p:cNvSpPr txBox="1"/>
            <p:nvPr/>
          </p:nvSpPr>
          <p:spPr>
            <a:xfrm>
              <a:off x="4742" y="1694"/>
              <a:ext cx="313" cy="231"/>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U</a:t>
              </a:r>
              <a:r>
                <a:rPr lang="en-US" altLang="zh-CN" sz="2000" i="1" baseline="-25000" dirty="0">
                  <a:latin typeface="Times New Roman" panose="02020603050405020304" pitchFamily="18" charset="0"/>
                </a:rPr>
                <a:t>m</a:t>
              </a:r>
              <a:endParaRPr lang="en-US" altLang="zh-CN" sz="2000" i="1" baseline="-25000" dirty="0">
                <a:latin typeface="Times New Roman" panose="02020603050405020304" pitchFamily="18" charset="0"/>
              </a:endParaRPr>
            </a:p>
          </p:txBody>
        </p:sp>
        <p:sp>
          <p:nvSpPr>
            <p:cNvPr id="30755" name="Line 27"/>
            <p:cNvSpPr/>
            <p:nvPr/>
          </p:nvSpPr>
          <p:spPr>
            <a:xfrm>
              <a:off x="4767" y="1912"/>
              <a:ext cx="250" cy="0"/>
            </a:xfrm>
            <a:prstGeom prst="line">
              <a:avLst/>
            </a:prstGeom>
            <a:ln w="9525" cap="flat" cmpd="sng">
              <a:solidFill>
                <a:schemeClr val="accent2"/>
              </a:solidFill>
              <a:prstDash val="solid"/>
              <a:headEnd type="none" w="med" len="med"/>
              <a:tailEnd type="none" w="med" len="med"/>
            </a:ln>
          </p:spPr>
        </p:sp>
        <p:sp>
          <p:nvSpPr>
            <p:cNvPr id="30756" name="Text Box 28"/>
            <p:cNvSpPr txBox="1"/>
            <p:nvPr/>
          </p:nvSpPr>
          <p:spPr>
            <a:xfrm>
              <a:off x="4792" y="1877"/>
              <a:ext cx="196" cy="231"/>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grpSp>
      <p:sp>
        <p:nvSpPr>
          <p:cNvPr id="30734" name="Line 29"/>
          <p:cNvSpPr/>
          <p:nvPr/>
        </p:nvSpPr>
        <p:spPr>
          <a:xfrm>
            <a:off x="4710113" y="4160838"/>
            <a:ext cx="0" cy="728662"/>
          </a:xfrm>
          <a:prstGeom prst="line">
            <a:avLst/>
          </a:prstGeom>
          <a:ln w="9525" cap="flat" cmpd="sng">
            <a:solidFill>
              <a:srgbClr val="FF0000"/>
            </a:solidFill>
            <a:prstDash val="sysDot"/>
            <a:headEnd type="none" w="med" len="med"/>
            <a:tailEnd type="none" w="med" len="med"/>
          </a:ln>
        </p:spPr>
      </p:sp>
      <p:sp>
        <p:nvSpPr>
          <p:cNvPr id="30735" name="Line 30"/>
          <p:cNvSpPr/>
          <p:nvPr/>
        </p:nvSpPr>
        <p:spPr>
          <a:xfrm flipV="1">
            <a:off x="5081588" y="3471863"/>
            <a:ext cx="0" cy="1404937"/>
          </a:xfrm>
          <a:prstGeom prst="line">
            <a:avLst/>
          </a:prstGeom>
          <a:ln w="9525" cap="flat" cmpd="sng">
            <a:solidFill>
              <a:srgbClr val="FF0000"/>
            </a:solidFill>
            <a:prstDash val="sysDot"/>
            <a:headEnd type="none" w="med" len="med"/>
            <a:tailEnd type="none" w="med" len="med"/>
          </a:ln>
        </p:spPr>
      </p:sp>
      <p:sp>
        <p:nvSpPr>
          <p:cNvPr id="30736" name="Text Box 31"/>
          <p:cNvSpPr txBox="1"/>
          <p:nvPr/>
        </p:nvSpPr>
        <p:spPr>
          <a:xfrm>
            <a:off x="4406900" y="4119563"/>
            <a:ext cx="33655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0</a:t>
            </a:r>
            <a:endParaRPr lang="en-US" altLang="zh-CN" sz="2000" baseline="-25000" dirty="0">
              <a:latin typeface="Times New Roman" panose="02020603050405020304" pitchFamily="18" charset="0"/>
            </a:endParaRPr>
          </a:p>
        </p:txBody>
      </p:sp>
      <p:sp>
        <p:nvSpPr>
          <p:cNvPr id="30737" name="Text Box 32"/>
          <p:cNvSpPr txBox="1"/>
          <p:nvPr/>
        </p:nvSpPr>
        <p:spPr>
          <a:xfrm>
            <a:off x="5087938" y="4113213"/>
            <a:ext cx="33655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r>
              <a:rPr lang="en-US" altLang="zh-CN" sz="2000" baseline="-25000" dirty="0">
                <a:latin typeface="Times New Roman" panose="02020603050405020304" pitchFamily="18" charset="0"/>
              </a:rPr>
              <a:t>1</a:t>
            </a:r>
            <a:endParaRPr lang="en-US" altLang="zh-CN" sz="2000" baseline="-25000" dirty="0">
              <a:latin typeface="Times New Roman" panose="02020603050405020304" pitchFamily="18" charset="0"/>
            </a:endParaRPr>
          </a:p>
        </p:txBody>
      </p:sp>
      <p:sp>
        <p:nvSpPr>
          <p:cNvPr id="30738" name="Line 33"/>
          <p:cNvSpPr/>
          <p:nvPr/>
        </p:nvSpPr>
        <p:spPr>
          <a:xfrm>
            <a:off x="4392613" y="4770438"/>
            <a:ext cx="317500" cy="0"/>
          </a:xfrm>
          <a:prstGeom prst="line">
            <a:avLst/>
          </a:prstGeom>
          <a:ln w="9525" cap="flat" cmpd="sng">
            <a:solidFill>
              <a:srgbClr val="FF0000"/>
            </a:solidFill>
            <a:prstDash val="solid"/>
            <a:headEnd type="none" w="med" len="med"/>
            <a:tailEnd type="stealth" w="sm" len="lg"/>
          </a:ln>
        </p:spPr>
      </p:sp>
      <p:sp>
        <p:nvSpPr>
          <p:cNvPr id="30739" name="Line 34"/>
          <p:cNvSpPr/>
          <p:nvPr/>
        </p:nvSpPr>
        <p:spPr>
          <a:xfrm flipH="1">
            <a:off x="5081588" y="4770438"/>
            <a:ext cx="557212" cy="0"/>
          </a:xfrm>
          <a:prstGeom prst="line">
            <a:avLst/>
          </a:prstGeom>
          <a:ln w="9525" cap="flat" cmpd="sng">
            <a:solidFill>
              <a:srgbClr val="FF0000"/>
            </a:solidFill>
            <a:prstDash val="solid"/>
            <a:headEnd type="none" w="med" len="med"/>
            <a:tailEnd type="stealth" w="sm" len="lg"/>
          </a:ln>
        </p:spPr>
      </p:sp>
      <p:sp>
        <p:nvSpPr>
          <p:cNvPr id="30740" name="Text Box 35"/>
          <p:cNvSpPr txBox="1"/>
          <p:nvPr/>
        </p:nvSpPr>
        <p:spPr>
          <a:xfrm>
            <a:off x="5226050" y="4411663"/>
            <a:ext cx="739775" cy="366712"/>
          </a:xfrm>
          <a:prstGeom prst="rect">
            <a:avLst/>
          </a:prstGeom>
          <a:noFill/>
          <a:ln w="9525">
            <a:noFill/>
          </a:ln>
        </p:spPr>
        <p:txBody>
          <a:bodyPr wrap="none">
            <a:spAutoFit/>
          </a:bodyPr>
          <a:p>
            <a:pPr eaLnBrk="1" hangingPunct="1">
              <a:lnSpc>
                <a:spcPct val="90000"/>
              </a:lnSpc>
            </a:pPr>
            <a:r>
              <a:rPr lang="en-US" altLang="zh-CN" sz="2000" i="1" dirty="0">
                <a:solidFill>
                  <a:srgbClr val="FF0000"/>
                </a:solidFill>
                <a:latin typeface="Times New Roman" panose="02020603050405020304" pitchFamily="18" charset="0"/>
              </a:rPr>
              <a:t>t</a:t>
            </a:r>
            <a:r>
              <a:rPr lang="en-US" altLang="zh-CN" sz="2000" baseline="-25000" dirty="0">
                <a:solidFill>
                  <a:srgbClr val="FF0000"/>
                </a:solidFill>
                <a:latin typeface="Times New Roman" panose="02020603050405020304" pitchFamily="18" charset="0"/>
              </a:rPr>
              <a:t>CONV</a:t>
            </a:r>
            <a:endParaRPr lang="en-US" altLang="zh-CN" sz="2000" baseline="-25000" dirty="0">
              <a:solidFill>
                <a:srgbClr val="FF0000"/>
              </a:solidFill>
              <a:latin typeface="Times New Roman" panose="02020603050405020304" pitchFamily="18" charset="0"/>
            </a:endParaRPr>
          </a:p>
        </p:txBody>
      </p:sp>
      <p:sp>
        <p:nvSpPr>
          <p:cNvPr id="30741" name="Line 36"/>
          <p:cNvSpPr/>
          <p:nvPr/>
        </p:nvSpPr>
        <p:spPr>
          <a:xfrm flipH="1">
            <a:off x="4194175" y="3471863"/>
            <a:ext cx="887413" cy="0"/>
          </a:xfrm>
          <a:prstGeom prst="line">
            <a:avLst/>
          </a:prstGeom>
          <a:ln w="9525" cap="flat" cmpd="sng">
            <a:solidFill>
              <a:srgbClr val="FF0000"/>
            </a:solidFill>
            <a:prstDash val="sysDot"/>
            <a:headEnd type="none" w="med" len="med"/>
            <a:tailEnd type="none" w="med" len="med"/>
          </a:ln>
        </p:spPr>
      </p:sp>
      <p:sp>
        <p:nvSpPr>
          <p:cNvPr id="30742" name="Line 37"/>
          <p:cNvSpPr/>
          <p:nvPr/>
        </p:nvSpPr>
        <p:spPr>
          <a:xfrm>
            <a:off x="4246563" y="3471863"/>
            <a:ext cx="0" cy="688975"/>
          </a:xfrm>
          <a:prstGeom prst="line">
            <a:avLst/>
          </a:prstGeom>
          <a:ln w="9525" cap="flat" cmpd="sng">
            <a:solidFill>
              <a:srgbClr val="FF0000"/>
            </a:solidFill>
            <a:prstDash val="solid"/>
            <a:headEnd type="stealth" w="sm" len="lg"/>
            <a:tailEnd type="stealth" w="sm" len="lg"/>
          </a:ln>
        </p:spPr>
      </p:sp>
      <p:sp>
        <p:nvSpPr>
          <p:cNvPr id="30743" name="Text Box 38"/>
          <p:cNvSpPr txBox="1"/>
          <p:nvPr/>
        </p:nvSpPr>
        <p:spPr>
          <a:xfrm>
            <a:off x="3663950" y="3643313"/>
            <a:ext cx="623888" cy="366712"/>
          </a:xfrm>
          <a:prstGeom prst="rect">
            <a:avLst/>
          </a:prstGeom>
          <a:noFill/>
          <a:ln w="9525">
            <a:noFill/>
          </a:ln>
        </p:spPr>
        <p:txBody>
          <a:bodyPr wrap="none">
            <a:spAutoFit/>
          </a:bodyPr>
          <a:p>
            <a:pPr eaLnBrk="1" hangingPunct="1">
              <a:lnSpc>
                <a:spcPct val="90000"/>
              </a:lnSpc>
            </a:pPr>
            <a:r>
              <a:rPr lang="en-US" altLang="zh-CN" sz="2000" dirty="0">
                <a:solidFill>
                  <a:srgbClr val="FF0000"/>
                </a:solidFill>
                <a:latin typeface="Times New Roman" panose="02020603050405020304" pitchFamily="18" charset="0"/>
              </a:rPr>
              <a:t>△</a:t>
            </a:r>
            <a:r>
              <a:rPr lang="en-US" altLang="zh-CN" sz="2000" i="1" dirty="0">
                <a:solidFill>
                  <a:srgbClr val="FF0000"/>
                </a:solidFill>
                <a:latin typeface="Times New Roman" panose="02020603050405020304" pitchFamily="18" charset="0"/>
              </a:rPr>
              <a:t>U</a:t>
            </a:r>
            <a:endParaRPr lang="en-US" altLang="zh-CN" sz="2000" i="1" dirty="0">
              <a:solidFill>
                <a:srgbClr val="FF0000"/>
              </a:solidFill>
              <a:latin typeface="Times New Roman" panose="02020603050405020304" pitchFamily="18" charset="0"/>
            </a:endParaRPr>
          </a:p>
        </p:txBody>
      </p:sp>
      <p:sp>
        <p:nvSpPr>
          <p:cNvPr id="30744" name="Text Box 39"/>
          <p:cNvSpPr txBox="1"/>
          <p:nvPr/>
        </p:nvSpPr>
        <p:spPr>
          <a:xfrm>
            <a:off x="4578350" y="5567363"/>
            <a:ext cx="3860800" cy="420687"/>
          </a:xfrm>
          <a:prstGeom prst="rect">
            <a:avLst/>
          </a:prstGeom>
          <a:noFill/>
          <a:ln w="9525">
            <a:noFill/>
          </a:ln>
        </p:spPr>
        <p:txBody>
          <a:bodyPr wrap="none">
            <a:spAutoFit/>
          </a:bodyPr>
          <a:p>
            <a:pPr eaLnBrk="1" hangingPunct="1">
              <a:lnSpc>
                <a:spcPct val="90000"/>
              </a:lnSpc>
            </a:pPr>
            <a:r>
              <a:rPr lang="zh-CN" altLang="en-US" sz="2400" dirty="0">
                <a:solidFill>
                  <a:srgbClr val="000099"/>
                </a:solidFill>
                <a:latin typeface="Times New Roman" panose="02020603050405020304" pitchFamily="18" charset="0"/>
              </a:rPr>
              <a:t>转换时间对信号转换的影响</a:t>
            </a:r>
            <a:endParaRPr lang="zh-CN" altLang="en-US" sz="2400" dirty="0">
              <a:solidFill>
                <a:srgbClr val="000099"/>
              </a:solidFill>
              <a:latin typeface="Times New Roman" panose="02020603050405020304" pitchFamily="18" charset="0"/>
            </a:endParaRPr>
          </a:p>
        </p:txBody>
      </p:sp>
      <p:sp>
        <p:nvSpPr>
          <p:cNvPr id="2458665" name="Text Box 41"/>
          <p:cNvSpPr txBox="1"/>
          <p:nvPr/>
        </p:nvSpPr>
        <p:spPr>
          <a:xfrm>
            <a:off x="250825" y="2582863"/>
            <a:ext cx="3132138" cy="457200"/>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在过零点上有最大值</a:t>
            </a:r>
            <a:r>
              <a:rPr lang="en-US" altLang="zh-CN" sz="2400" dirty="0">
                <a:solidFill>
                  <a:schemeClr val="tx1"/>
                </a:solidFill>
                <a:latin typeface="Times New Roman" panose="02020603050405020304" pitchFamily="18" charset="0"/>
              </a:rPr>
              <a:t>:</a:t>
            </a:r>
            <a:endParaRPr lang="en-US" altLang="zh-CN" sz="2400" dirty="0">
              <a:solidFill>
                <a:schemeClr val="tx1"/>
              </a:solidFill>
              <a:latin typeface="Times New Roman" panose="02020603050405020304" pitchFamily="18" charset="0"/>
            </a:endParaRPr>
          </a:p>
        </p:txBody>
      </p:sp>
      <p:graphicFrame>
        <p:nvGraphicFramePr>
          <p:cNvPr id="2458666" name="Object 42"/>
          <p:cNvGraphicFramePr>
            <a:graphicFrameLocks noChangeAspect="1"/>
          </p:cNvGraphicFramePr>
          <p:nvPr/>
        </p:nvGraphicFramePr>
        <p:xfrm>
          <a:off x="668338" y="3090863"/>
          <a:ext cx="2174875" cy="792162"/>
        </p:xfrm>
        <a:graphic>
          <a:graphicData uri="http://schemas.openxmlformats.org/presentationml/2006/ole">
            <mc:AlternateContent xmlns:mc="http://schemas.openxmlformats.org/markup-compatibility/2006">
              <mc:Choice xmlns:v="urn:schemas-microsoft-com:vml" Requires="v">
                <p:oleObj spid="_x0000_s3080" name="" r:id="rId1" imgW="1016000" imgH="393700" progId="Equation.DSMT4">
                  <p:embed/>
                </p:oleObj>
              </mc:Choice>
              <mc:Fallback>
                <p:oleObj name="" r:id="rId1" imgW="1016000" imgH="393700" progId="Equation.DSMT4">
                  <p:embed/>
                  <p:pic>
                    <p:nvPicPr>
                      <p:cNvPr id="0" name="图片 3079"/>
                      <p:cNvPicPr/>
                      <p:nvPr/>
                    </p:nvPicPr>
                    <p:blipFill>
                      <a:blip r:embed="rId2"/>
                      <a:stretch>
                        <a:fillRect/>
                      </a:stretch>
                    </p:blipFill>
                    <p:spPr>
                      <a:xfrm>
                        <a:off x="668338" y="3090863"/>
                        <a:ext cx="2174875" cy="792162"/>
                      </a:xfrm>
                      <a:prstGeom prst="rect">
                        <a:avLst/>
                      </a:prstGeom>
                      <a:solidFill>
                        <a:srgbClr val="CCFFCC"/>
                      </a:solidFill>
                      <a:ln w="38100">
                        <a:noFill/>
                        <a:miter/>
                      </a:ln>
                    </p:spPr>
                  </p:pic>
                </p:oleObj>
              </mc:Fallback>
            </mc:AlternateContent>
          </a:graphicData>
        </a:graphic>
      </p:graphicFrame>
      <p:sp>
        <p:nvSpPr>
          <p:cNvPr id="30747" name="Rectangle 43"/>
          <p:cNvSpPr/>
          <p:nvPr/>
        </p:nvSpPr>
        <p:spPr>
          <a:xfrm>
            <a:off x="231775" y="769938"/>
            <a:ext cx="8661400" cy="57150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转换时间和转换</a:t>
            </a:r>
            <a:r>
              <a:rPr lang="zh-CN" altLang="en-US" dirty="0">
                <a:solidFill>
                  <a:srgbClr val="FF3300"/>
                </a:solidFill>
                <a:latin typeface="黑体" panose="02010609060101010101" pitchFamily="49" charset="-122"/>
                <a:ea typeface="黑体" panose="02010609060101010101" pitchFamily="49" charset="-122"/>
              </a:rPr>
              <a:t>速</a:t>
            </a:r>
            <a:r>
              <a:rPr lang="zh-CN" altLang="zh-CN" dirty="0">
                <a:solidFill>
                  <a:srgbClr val="FF3300"/>
                </a:solidFill>
                <a:latin typeface="黑体" panose="02010609060101010101" pitchFamily="49" charset="-122"/>
                <a:ea typeface="黑体" panose="02010609060101010101" pitchFamily="49" charset="-122"/>
              </a:rPr>
              <a:t>率</a:t>
            </a:r>
            <a:endParaRPr lang="en-US" altLang="zh-CN" dirty="0">
              <a:solidFill>
                <a:srgbClr val="FF3300"/>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30749" name="Text Box 4"/>
          <p:cNvSpPr txBox="1"/>
          <p:nvPr/>
        </p:nvSpPr>
        <p:spPr>
          <a:xfrm>
            <a:off x="358775" y="1995488"/>
            <a:ext cx="3133725" cy="519112"/>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zh-CN" altLang="en-US" dirty="0">
                <a:solidFill>
                  <a:srgbClr val="FF0000"/>
                </a:solidFill>
                <a:latin typeface="楷体_GB2312" pitchFamily="49" charset="-122"/>
              </a:rPr>
              <a:t>瞬时值响应</a:t>
            </a:r>
            <a:r>
              <a:rPr lang="en-US" altLang="zh-CN" dirty="0">
                <a:solidFill>
                  <a:srgbClr val="FF0000"/>
                </a:solidFill>
                <a:latin typeface="楷体_GB2312" pitchFamily="49" charset="-122"/>
              </a:rPr>
              <a:t>ADC  </a:t>
            </a:r>
            <a:endParaRPr lang="en-US" altLang="zh-CN" sz="3600" dirty="0">
              <a:latin typeface="Times New Roman" panose="02020603050405020304" pitchFamily="18" charset="0"/>
            </a:endParaRPr>
          </a:p>
        </p:txBody>
      </p:sp>
      <p:sp>
        <p:nvSpPr>
          <p:cNvPr id="2459689" name="Rectangle 41"/>
          <p:cNvSpPr/>
          <p:nvPr/>
        </p:nvSpPr>
        <p:spPr>
          <a:xfrm>
            <a:off x="171450" y="3990975"/>
            <a:ext cx="3321050" cy="1077913"/>
          </a:xfrm>
          <a:prstGeom prst="rect">
            <a:avLst/>
          </a:prstGeom>
          <a:noFill/>
          <a:ln w="9525">
            <a:noFill/>
          </a:ln>
        </p:spPr>
        <p:txBody>
          <a:bodyPr>
            <a:spAutoFit/>
          </a:bodyPr>
          <a:p>
            <a:pPr eaLnBrk="1" hangingPunct="1">
              <a:lnSpc>
                <a:spcPct val="90000"/>
              </a:lnSpc>
            </a:pPr>
            <a:r>
              <a:rPr lang="zh-CN" altLang="en-US" sz="2400" dirty="0">
                <a:solidFill>
                  <a:schemeClr val="tx1"/>
                </a:solidFill>
                <a:latin typeface="Times New Roman" panose="02020603050405020304" pitchFamily="18" charset="0"/>
              </a:rPr>
              <a:t>故在过零点处，转换时间所造成的最大电压误差为</a:t>
            </a:r>
            <a:r>
              <a:rPr lang="en-US" altLang="zh-CN" sz="2400" dirty="0">
                <a:solidFill>
                  <a:schemeClr val="tx1"/>
                </a:solidFill>
                <a:latin typeface="Times New Roman" panose="02020603050405020304" pitchFamily="18" charset="0"/>
              </a:rPr>
              <a:t>:</a:t>
            </a:r>
            <a:endParaRPr lang="en-US" altLang="zh-CN" sz="2400" dirty="0">
              <a:solidFill>
                <a:schemeClr val="tx1"/>
              </a:solidFill>
              <a:latin typeface="Times New Roman" panose="02020603050405020304" pitchFamily="18" charset="0"/>
            </a:endParaRPr>
          </a:p>
        </p:txBody>
      </p:sp>
      <p:grpSp>
        <p:nvGrpSpPr>
          <p:cNvPr id="6" name="Group 51"/>
          <p:cNvGrpSpPr/>
          <p:nvPr/>
        </p:nvGrpSpPr>
        <p:grpSpPr>
          <a:xfrm>
            <a:off x="450850" y="5119688"/>
            <a:ext cx="2792413" cy="973137"/>
            <a:chOff x="193" y="3180"/>
            <a:chExt cx="1814" cy="655"/>
          </a:xfrm>
        </p:grpSpPr>
        <p:graphicFrame>
          <p:nvGraphicFramePr>
            <p:cNvPr id="30752" name="Object 42"/>
            <p:cNvGraphicFramePr>
              <a:graphicFrameLocks noChangeAspect="1"/>
            </p:cNvGraphicFramePr>
            <p:nvPr/>
          </p:nvGraphicFramePr>
          <p:xfrm>
            <a:off x="193" y="3180"/>
            <a:ext cx="1616" cy="288"/>
          </p:xfrm>
          <a:graphic>
            <a:graphicData uri="http://schemas.openxmlformats.org/presentationml/2006/ole">
              <mc:AlternateContent xmlns:mc="http://schemas.openxmlformats.org/markup-compatibility/2006">
                <mc:Choice xmlns:v="urn:schemas-microsoft-com:vml" Requires="v">
                  <p:oleObj spid="_x0000_s3079" name="" r:id="rId3" imgW="1193800" imgH="215900" progId="Equation.DSMT4">
                    <p:embed/>
                  </p:oleObj>
                </mc:Choice>
                <mc:Fallback>
                  <p:oleObj name="" r:id="rId3" imgW="1193800" imgH="215900" progId="Equation.DSMT4">
                    <p:embed/>
                    <p:pic>
                      <p:nvPicPr>
                        <p:cNvPr id="0" name="图片 3078"/>
                        <p:cNvPicPr/>
                        <p:nvPr/>
                      </p:nvPicPr>
                      <p:blipFill>
                        <a:blip r:embed="rId4"/>
                        <a:stretch>
                          <a:fillRect/>
                        </a:stretch>
                      </p:blipFill>
                      <p:spPr>
                        <a:xfrm>
                          <a:off x="193" y="3180"/>
                          <a:ext cx="1616" cy="288"/>
                        </a:xfrm>
                        <a:prstGeom prst="rect">
                          <a:avLst/>
                        </a:prstGeom>
                        <a:noFill/>
                        <a:ln w="38100">
                          <a:noFill/>
                          <a:miter/>
                        </a:ln>
                      </p:spPr>
                    </p:pic>
                  </p:oleObj>
                </mc:Fallback>
              </mc:AlternateContent>
            </a:graphicData>
          </a:graphic>
        </p:graphicFrame>
        <p:graphicFrame>
          <p:nvGraphicFramePr>
            <p:cNvPr id="30753" name="Object 43"/>
            <p:cNvGraphicFramePr>
              <a:graphicFrameLocks noChangeAspect="1"/>
            </p:cNvGraphicFramePr>
            <p:nvPr/>
          </p:nvGraphicFramePr>
          <p:xfrm>
            <a:off x="537" y="3532"/>
            <a:ext cx="1470" cy="303"/>
          </p:xfrm>
          <a:graphic>
            <a:graphicData uri="http://schemas.openxmlformats.org/presentationml/2006/ole">
              <mc:AlternateContent xmlns:mc="http://schemas.openxmlformats.org/markup-compatibility/2006">
                <mc:Choice xmlns:v="urn:schemas-microsoft-com:vml" Requires="v">
                  <p:oleObj spid="_x0000_s3081" name="" r:id="rId5" imgW="1091565" imgH="228600" progId="Equation.DSMT4">
                    <p:embed/>
                  </p:oleObj>
                </mc:Choice>
                <mc:Fallback>
                  <p:oleObj name="" r:id="rId5" imgW="1091565" imgH="228600" progId="Equation.DSMT4">
                    <p:embed/>
                    <p:pic>
                      <p:nvPicPr>
                        <p:cNvPr id="0" name="图片 3080"/>
                        <p:cNvPicPr/>
                        <p:nvPr/>
                      </p:nvPicPr>
                      <p:blipFill>
                        <a:blip r:embed="rId6"/>
                        <a:stretch>
                          <a:fillRect/>
                        </a:stretch>
                      </p:blipFill>
                      <p:spPr>
                        <a:xfrm>
                          <a:off x="537" y="3532"/>
                          <a:ext cx="1470" cy="303"/>
                        </a:xfrm>
                        <a:prstGeom prst="rect">
                          <a:avLst/>
                        </a:prstGeom>
                        <a:noFill/>
                        <a:ln w="38100">
                          <a:noFill/>
                          <a:miter/>
                        </a:ln>
                      </p:spPr>
                    </p:pic>
                  </p:oleObj>
                </mc:Fallback>
              </mc:AlternateContent>
            </a:graphicData>
          </a:graphic>
        </p:graphicFrame>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58665"/>
                                        </p:tgtEl>
                                        <p:attrNameLst>
                                          <p:attrName>style.visibility</p:attrName>
                                        </p:attrNameLst>
                                      </p:cBhvr>
                                      <p:to>
                                        <p:strVal val="visible"/>
                                      </p:to>
                                    </p:set>
                                    <p:animEffect transition="in" filter="dissolve">
                                      <p:cBhvr>
                                        <p:cTn id="7" dur="500"/>
                                        <p:tgtEl>
                                          <p:spTgt spid="245866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58666"/>
                                        </p:tgtEl>
                                        <p:attrNameLst>
                                          <p:attrName>style.visibility</p:attrName>
                                        </p:attrNameLst>
                                      </p:cBhvr>
                                      <p:to>
                                        <p:strVal val="visible"/>
                                      </p:to>
                                    </p:set>
                                    <p:animEffect transition="in" filter="wipe(left)">
                                      <p:cBhvr>
                                        <p:cTn id="12" dur="500"/>
                                        <p:tgtEl>
                                          <p:spTgt spid="245866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59689"/>
                                        </p:tgtEl>
                                        <p:attrNameLst>
                                          <p:attrName>style.visibility</p:attrName>
                                        </p:attrNameLst>
                                      </p:cBhvr>
                                      <p:to>
                                        <p:strVal val="visible"/>
                                      </p:to>
                                    </p:set>
                                    <p:animEffect transition="in" filter="dissolve">
                                      <p:cBhvr>
                                        <p:cTn id="17" dur="500"/>
                                        <p:tgtEl>
                                          <p:spTgt spid="245968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665" grpId="0"/>
      <p:bldP spid="2459689"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55933" name="Text Box 1085"/>
          <p:cNvSpPr txBox="1"/>
          <p:nvPr/>
        </p:nvSpPr>
        <p:spPr>
          <a:xfrm>
            <a:off x="1403350" y="2413000"/>
            <a:ext cx="6943725" cy="1187450"/>
          </a:xfrm>
          <a:prstGeom prst="rect">
            <a:avLst/>
          </a:prstGeom>
          <a:noFill/>
          <a:ln w="9525">
            <a:noFill/>
          </a:ln>
        </p:spPr>
        <p:txBody>
          <a:bodyPr>
            <a:spAutoFit/>
          </a:bodyPr>
          <a:p>
            <a:pPr marL="536575" indent="-536575" eaLnBrk="1" hangingPunct="1">
              <a:buClr>
                <a:srgbClr val="FF0000"/>
              </a:buClr>
              <a:buFont typeface="Wingdings" panose="05000000000000000000" pitchFamily="2" charset="2"/>
              <a:buChar char="Ø"/>
            </a:pPr>
            <a:r>
              <a:rPr lang="zh-CN" altLang="en-US" sz="2400" dirty="0">
                <a:solidFill>
                  <a:srgbClr val="000099"/>
                </a:solidFill>
                <a:latin typeface="Times New Roman" panose="02020603050405020304" pitchFamily="18" charset="0"/>
                <a:ea typeface="黑体" panose="02010609060101010101" pitchFamily="49" charset="-122"/>
              </a:rPr>
              <a:t>当精度一定时，信号频率越高，要求的转换时间也就越短；</a:t>
            </a:r>
            <a:endParaRPr lang="zh-CN" altLang="en-US" sz="2400" dirty="0">
              <a:solidFill>
                <a:srgbClr val="000099"/>
              </a:solidFill>
              <a:latin typeface="Times New Roman" panose="02020603050405020304" pitchFamily="18" charset="0"/>
              <a:ea typeface="黑体" panose="02010609060101010101" pitchFamily="49" charset="-122"/>
            </a:endParaRPr>
          </a:p>
          <a:p>
            <a:pPr marL="536575" indent="-536575" eaLnBrk="1" hangingPunct="1">
              <a:buClr>
                <a:srgbClr val="FF0000"/>
              </a:buClr>
              <a:buFont typeface="Wingdings" panose="05000000000000000000" pitchFamily="2" charset="2"/>
              <a:buChar char="Ø"/>
            </a:pPr>
            <a:r>
              <a:rPr lang="zh-CN" altLang="en-US" sz="2400" dirty="0">
                <a:solidFill>
                  <a:srgbClr val="000099"/>
                </a:solidFill>
                <a:latin typeface="Times New Roman" panose="02020603050405020304" pitchFamily="18" charset="0"/>
                <a:ea typeface="黑体" panose="02010609060101010101" pitchFamily="49" charset="-122"/>
              </a:rPr>
              <a:t>当信号频率一定时，转换时间越短，误差越小。</a:t>
            </a:r>
            <a:endParaRPr lang="zh-CN" altLang="en-US" sz="2400" dirty="0">
              <a:solidFill>
                <a:srgbClr val="000099"/>
              </a:solidFill>
              <a:latin typeface="Times New Roman" panose="02020603050405020304" pitchFamily="18" charset="0"/>
              <a:ea typeface="黑体" panose="02010609060101010101" pitchFamily="49" charset="-122"/>
            </a:endParaRPr>
          </a:p>
        </p:txBody>
      </p:sp>
      <p:sp>
        <p:nvSpPr>
          <p:cNvPr id="31747" name="Text Box 1087"/>
          <p:cNvSpPr txBox="1"/>
          <p:nvPr/>
        </p:nvSpPr>
        <p:spPr>
          <a:xfrm>
            <a:off x="1933575" y="1341438"/>
            <a:ext cx="6670675" cy="519112"/>
          </a:xfrm>
          <a:prstGeom prst="rect">
            <a:avLst/>
          </a:prstGeom>
          <a:noFill/>
          <a:ln w="9525">
            <a:noFill/>
          </a:ln>
        </p:spPr>
        <p:txBody>
          <a:bodyPr>
            <a:spAutoFit/>
          </a:bodyPr>
          <a:p>
            <a:pPr eaLnBrk="1" hangingPunct="1"/>
            <a:r>
              <a:rPr lang="zh-CN" altLang="en-US" dirty="0">
                <a:solidFill>
                  <a:schemeClr val="tx1"/>
                </a:solidFill>
                <a:latin typeface="黑体" panose="02010609060101010101" pitchFamily="49" charset="-122"/>
                <a:ea typeface="黑体" panose="02010609060101010101" pitchFamily="49" charset="-122"/>
              </a:rPr>
              <a:t>转换时间与转换精度、信号频率的关系 </a:t>
            </a:r>
            <a:endParaRPr lang="zh-CN" altLang="en-US" dirty="0">
              <a:solidFill>
                <a:schemeClr val="tx1"/>
              </a:solidFill>
              <a:latin typeface="黑体" panose="02010609060101010101" pitchFamily="49" charset="-122"/>
              <a:ea typeface="黑体" panose="02010609060101010101" pitchFamily="49" charset="-122"/>
            </a:endParaRPr>
          </a:p>
        </p:txBody>
      </p:sp>
      <p:sp>
        <p:nvSpPr>
          <p:cNvPr id="31748" name="Text Box 1088"/>
          <p:cNvSpPr txBox="1"/>
          <p:nvPr/>
        </p:nvSpPr>
        <p:spPr>
          <a:xfrm>
            <a:off x="754063" y="1916113"/>
            <a:ext cx="5726112" cy="519112"/>
          </a:xfrm>
          <a:prstGeom prst="rect">
            <a:avLst/>
          </a:prstGeom>
          <a:noFill/>
          <a:ln w="9525">
            <a:noFill/>
          </a:ln>
        </p:spPr>
        <p:txBody>
          <a:bodyPr>
            <a:spAutoFit/>
          </a:bodyPr>
          <a:p>
            <a:pPr marL="536575" indent="-536575" eaLnBrk="1" hangingPunct="1">
              <a:buClr>
                <a:srgbClr val="FF0000"/>
              </a:buClr>
              <a:buFont typeface="Wingdings" panose="05000000000000000000" pitchFamily="2" charset="2"/>
              <a:buChar char="u"/>
            </a:pPr>
            <a:r>
              <a:rPr lang="zh-CN" altLang="en-US" dirty="0">
                <a:solidFill>
                  <a:srgbClr val="FF0000"/>
                </a:solidFill>
                <a:latin typeface="楷体_GB2312" pitchFamily="49" charset="-122"/>
              </a:rPr>
              <a:t>瞬时值响应的</a:t>
            </a:r>
            <a:r>
              <a:rPr lang="en-US" altLang="zh-CN" dirty="0">
                <a:solidFill>
                  <a:srgbClr val="FF0000"/>
                </a:solidFill>
                <a:latin typeface="Times New Roman" panose="02020603050405020304" pitchFamily="18" charset="0"/>
              </a:rPr>
              <a:t>ADC</a:t>
            </a:r>
            <a:r>
              <a:rPr lang="zh-CN" altLang="en-US" dirty="0">
                <a:solidFill>
                  <a:srgbClr val="FF0000"/>
                </a:solidFill>
                <a:latin typeface="楷体_GB2312" pitchFamily="49" charset="-122"/>
              </a:rPr>
              <a:t>  </a:t>
            </a:r>
            <a:endParaRPr lang="zh-CN" altLang="en-US" dirty="0">
              <a:solidFill>
                <a:srgbClr val="FF0000"/>
              </a:solidFill>
              <a:latin typeface="楷体_GB2312" pitchFamily="49" charset="-122"/>
            </a:endParaRPr>
          </a:p>
        </p:txBody>
      </p:sp>
      <p:sp>
        <p:nvSpPr>
          <p:cNvPr id="31749" name="Rectangle 1091"/>
          <p:cNvSpPr/>
          <p:nvPr/>
        </p:nvSpPr>
        <p:spPr>
          <a:xfrm>
            <a:off x="450850" y="1289050"/>
            <a:ext cx="1276350" cy="585788"/>
          </a:xfrm>
          <a:prstGeom prst="rect">
            <a:avLst/>
          </a:prstGeom>
          <a:solidFill>
            <a:srgbClr val="FF99CC"/>
          </a:solidFill>
          <a:ln w="9525">
            <a:noFill/>
          </a:ln>
        </p:spPr>
        <p:txBody>
          <a:bodyPr>
            <a:spAutoFit/>
          </a:bodyPr>
          <a:p>
            <a:pPr eaLnBrk="1" hangingPunct="1">
              <a:lnSpc>
                <a:spcPct val="90000"/>
              </a:lnSpc>
            </a:pPr>
            <a:r>
              <a:rPr lang="zh-CN" altLang="en-US" sz="3600" dirty="0">
                <a:solidFill>
                  <a:srgbClr val="FF0000"/>
                </a:solidFill>
                <a:latin typeface="Times New Roman" panose="02020603050405020304" pitchFamily="18" charset="0"/>
              </a:rPr>
              <a:t>讨论</a:t>
            </a:r>
            <a:r>
              <a:rPr lang="en-US" altLang="zh-CN" sz="3600" dirty="0">
                <a:solidFill>
                  <a:srgbClr val="FF0000"/>
                </a:solidFill>
                <a:latin typeface="Times New Roman" panose="02020603050405020304" pitchFamily="18" charset="0"/>
              </a:rPr>
              <a:t>:</a:t>
            </a:r>
            <a:endParaRPr lang="en-US" altLang="zh-CN" sz="3600" dirty="0">
              <a:solidFill>
                <a:srgbClr val="FF0000"/>
              </a:solidFill>
              <a:latin typeface="Times New Roman" panose="02020603050405020304" pitchFamily="18" charset="0"/>
            </a:endParaRPr>
          </a:p>
        </p:txBody>
      </p:sp>
      <p:sp>
        <p:nvSpPr>
          <p:cNvPr id="2255940" name="Text Box 1092"/>
          <p:cNvSpPr txBox="1"/>
          <p:nvPr/>
        </p:nvSpPr>
        <p:spPr>
          <a:xfrm>
            <a:off x="769938" y="3614738"/>
            <a:ext cx="4543425" cy="519112"/>
          </a:xfrm>
          <a:prstGeom prst="rect">
            <a:avLst/>
          </a:prstGeom>
          <a:noFill/>
          <a:ln w="9525">
            <a:noFill/>
          </a:ln>
        </p:spPr>
        <p:txBody>
          <a:bodyPr>
            <a:spAutoFit/>
          </a:bodyPr>
          <a:p>
            <a:pPr marL="536575" indent="-536575" eaLnBrk="1" hangingPunct="1">
              <a:buClr>
                <a:srgbClr val="FF0000"/>
              </a:buClr>
              <a:buFont typeface="Wingdings" panose="05000000000000000000" pitchFamily="2" charset="2"/>
              <a:buChar char="u"/>
            </a:pPr>
            <a:r>
              <a:rPr lang="zh-CN" altLang="en-US" dirty="0">
                <a:solidFill>
                  <a:srgbClr val="FF0000"/>
                </a:solidFill>
                <a:latin typeface="楷体_GB2312" pitchFamily="49" charset="-122"/>
              </a:rPr>
              <a:t>平均值响应的</a:t>
            </a:r>
            <a:r>
              <a:rPr lang="en-US" altLang="zh-CN" dirty="0">
                <a:solidFill>
                  <a:srgbClr val="FF0000"/>
                </a:solidFill>
                <a:latin typeface="Times New Roman" panose="02020603050405020304" pitchFamily="18" charset="0"/>
              </a:rPr>
              <a:t>ADC </a:t>
            </a:r>
            <a:endParaRPr lang="en-US" altLang="zh-CN" dirty="0">
              <a:solidFill>
                <a:srgbClr val="FF0000"/>
              </a:solidFill>
              <a:latin typeface="Times New Roman" panose="02020603050405020304" pitchFamily="18" charset="0"/>
            </a:endParaRPr>
          </a:p>
        </p:txBody>
      </p:sp>
      <p:sp>
        <p:nvSpPr>
          <p:cNvPr id="2255941" name="Text Box 1093"/>
          <p:cNvSpPr txBox="1"/>
          <p:nvPr/>
        </p:nvSpPr>
        <p:spPr>
          <a:xfrm>
            <a:off x="1403350" y="4133850"/>
            <a:ext cx="6858000" cy="1917700"/>
          </a:xfrm>
          <a:prstGeom prst="rect">
            <a:avLst/>
          </a:prstGeom>
          <a:noFill/>
          <a:ln w="9525">
            <a:noFill/>
          </a:ln>
        </p:spPr>
        <p:txBody>
          <a:bodyPr>
            <a:spAutoFit/>
          </a:bodyPr>
          <a:p>
            <a:pPr marL="536575" indent="-536575" eaLnBrk="1" hangingPunct="1">
              <a:buClr>
                <a:srgbClr val="FF0000"/>
              </a:buClr>
              <a:buFont typeface="Wingdings" panose="05000000000000000000" pitchFamily="2" charset="2"/>
              <a:buChar char="Ø"/>
            </a:pPr>
            <a:r>
              <a:rPr lang="zh-CN" altLang="en-US" sz="2400" dirty="0">
                <a:solidFill>
                  <a:srgbClr val="000099"/>
                </a:solidFill>
                <a:latin typeface="Times New Roman" panose="02020603050405020304" pitchFamily="18" charset="0"/>
                <a:ea typeface="黑体" panose="02010609060101010101" pitchFamily="49" charset="-122"/>
              </a:rPr>
              <a:t>由于被转换的模拟量一般为直流电压，而干扰是交变的，因此转换时间 </a:t>
            </a:r>
            <a:r>
              <a:rPr lang="en-US" altLang="zh-CN" sz="2400" i="1" dirty="0">
                <a:solidFill>
                  <a:srgbClr val="FF0000"/>
                </a:solidFill>
                <a:latin typeface="Times New Roman" panose="02020603050405020304" pitchFamily="18" charset="0"/>
                <a:ea typeface="黑体" panose="02010609060101010101" pitchFamily="49" charset="-122"/>
              </a:rPr>
              <a:t>t</a:t>
            </a:r>
            <a:r>
              <a:rPr lang="en-US" altLang="zh-CN" sz="2400" baseline="-25000" dirty="0">
                <a:solidFill>
                  <a:srgbClr val="FF0000"/>
                </a:solidFill>
                <a:latin typeface="Times New Roman" panose="02020603050405020304" pitchFamily="18" charset="0"/>
                <a:ea typeface="黑体" panose="02010609060101010101" pitchFamily="49" charset="-122"/>
              </a:rPr>
              <a:t>CONV</a:t>
            </a:r>
            <a:r>
              <a:rPr lang="zh-CN" altLang="en-US" sz="2400" dirty="0">
                <a:solidFill>
                  <a:srgbClr val="000099"/>
                </a:solidFill>
                <a:latin typeface="Times New Roman" panose="02020603050405020304" pitchFamily="18" charset="0"/>
                <a:ea typeface="黑体" panose="02010609060101010101" pitchFamily="49" charset="-122"/>
              </a:rPr>
              <a:t>越长，其抑制干扰的能力就越强。</a:t>
            </a:r>
            <a:endParaRPr lang="zh-CN" altLang="en-US" sz="2400" dirty="0">
              <a:solidFill>
                <a:srgbClr val="000099"/>
              </a:solidFill>
              <a:latin typeface="Times New Roman" panose="02020603050405020304" pitchFamily="18" charset="0"/>
              <a:ea typeface="黑体" panose="02010609060101010101" pitchFamily="49" charset="-122"/>
            </a:endParaRPr>
          </a:p>
          <a:p>
            <a:pPr marL="536575" indent="-536575" eaLnBrk="1" hangingPunct="1">
              <a:buClr>
                <a:srgbClr val="FF0000"/>
              </a:buClr>
              <a:buFont typeface="Wingdings" panose="05000000000000000000" pitchFamily="2" charset="2"/>
              <a:buChar char="Ø"/>
            </a:pPr>
            <a:r>
              <a:rPr lang="zh-CN" altLang="en-US" sz="2400" dirty="0">
                <a:solidFill>
                  <a:srgbClr val="000099"/>
                </a:solidFill>
                <a:latin typeface="Times New Roman" panose="02020603050405020304" pitchFamily="18" charset="0"/>
                <a:ea typeface="黑体" panose="02010609060101010101" pitchFamily="49" charset="-122"/>
              </a:rPr>
              <a:t>平均值响应的转换器是在牺性转换时间的情况下提高转换精度的。</a:t>
            </a:r>
            <a:endParaRPr lang="zh-CN" altLang="en-US" sz="2400" dirty="0">
              <a:solidFill>
                <a:srgbClr val="000099"/>
              </a:solidFill>
              <a:latin typeface="Times New Roman" panose="02020603050405020304" pitchFamily="18" charset="0"/>
              <a:ea typeface="黑体" panose="02010609060101010101" pitchFamily="49" charset="-122"/>
            </a:endParaRPr>
          </a:p>
        </p:txBody>
      </p:sp>
      <p:sp>
        <p:nvSpPr>
          <p:cNvPr id="31752" name="Rectangle 12"/>
          <p:cNvSpPr/>
          <p:nvPr/>
        </p:nvSpPr>
        <p:spPr>
          <a:xfrm>
            <a:off x="231775" y="769938"/>
            <a:ext cx="8661400" cy="571500"/>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转换时间和转换</a:t>
            </a:r>
            <a:r>
              <a:rPr lang="zh-CN" altLang="en-US" dirty="0">
                <a:solidFill>
                  <a:srgbClr val="FF3300"/>
                </a:solidFill>
                <a:latin typeface="黑体" panose="02010609060101010101" pitchFamily="49" charset="-122"/>
                <a:ea typeface="黑体" panose="02010609060101010101" pitchFamily="49" charset="-122"/>
              </a:rPr>
              <a:t>速</a:t>
            </a:r>
            <a:r>
              <a:rPr lang="zh-CN" altLang="zh-CN" dirty="0">
                <a:solidFill>
                  <a:srgbClr val="FF3300"/>
                </a:solidFill>
                <a:latin typeface="黑体" panose="02010609060101010101" pitchFamily="49" charset="-122"/>
                <a:ea typeface="黑体" panose="02010609060101010101" pitchFamily="49" charset="-122"/>
              </a:rPr>
              <a:t>率</a:t>
            </a:r>
            <a:endParaRPr lang="en-US" altLang="zh-CN" dirty="0">
              <a:solidFill>
                <a:srgbClr val="FF3300"/>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55933">
                                            <p:txEl>
                                              <p:charRg st="0" end="27"/>
                                            </p:txEl>
                                          </p:spTgt>
                                        </p:tgtEl>
                                        <p:attrNameLst>
                                          <p:attrName>style.visibility</p:attrName>
                                        </p:attrNameLst>
                                      </p:cBhvr>
                                      <p:to>
                                        <p:strVal val="visible"/>
                                      </p:to>
                                    </p:set>
                                    <p:animEffect transition="in" filter="dissolve">
                                      <p:cBhvr>
                                        <p:cTn id="7" dur="500"/>
                                        <p:tgtEl>
                                          <p:spTgt spid="2255933">
                                            <p:txEl>
                                              <p:charRg st="0" end="27"/>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55933">
                                            <p:txEl>
                                              <p:charRg st="27" end="49"/>
                                            </p:txEl>
                                          </p:spTgt>
                                        </p:tgtEl>
                                        <p:attrNameLst>
                                          <p:attrName>style.visibility</p:attrName>
                                        </p:attrNameLst>
                                      </p:cBhvr>
                                      <p:to>
                                        <p:strVal val="visible"/>
                                      </p:to>
                                    </p:set>
                                    <p:animEffect transition="in" filter="dissolve">
                                      <p:cBhvr>
                                        <p:cTn id="12" dur="500"/>
                                        <p:tgtEl>
                                          <p:spTgt spid="2255933">
                                            <p:txEl>
                                              <p:charRg st="27" end="49"/>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55940"/>
                                        </p:tgtEl>
                                        <p:attrNameLst>
                                          <p:attrName>style.visibility</p:attrName>
                                        </p:attrNameLst>
                                      </p:cBhvr>
                                      <p:to>
                                        <p:strVal val="visible"/>
                                      </p:to>
                                    </p:set>
                                    <p:animEffect transition="in" filter="dissolve">
                                      <p:cBhvr>
                                        <p:cTn id="17" dur="500"/>
                                        <p:tgtEl>
                                          <p:spTgt spid="225594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55941">
                                            <p:txEl>
                                              <p:charRg st="0" end="53"/>
                                            </p:txEl>
                                          </p:spTgt>
                                        </p:tgtEl>
                                        <p:attrNameLst>
                                          <p:attrName>style.visibility</p:attrName>
                                        </p:attrNameLst>
                                      </p:cBhvr>
                                      <p:to>
                                        <p:strVal val="visible"/>
                                      </p:to>
                                    </p:set>
                                    <p:animEffect transition="in" filter="dissolve">
                                      <p:cBhvr>
                                        <p:cTn id="22" dur="500"/>
                                        <p:tgtEl>
                                          <p:spTgt spid="2255941">
                                            <p:txEl>
                                              <p:charRg st="0" end="5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55941">
                                            <p:txEl>
                                              <p:charRg st="53" end="83"/>
                                            </p:txEl>
                                          </p:spTgt>
                                        </p:tgtEl>
                                        <p:attrNameLst>
                                          <p:attrName>style.visibility</p:attrName>
                                        </p:attrNameLst>
                                      </p:cBhvr>
                                      <p:to>
                                        <p:strVal val="visible"/>
                                      </p:to>
                                    </p:set>
                                    <p:animEffect transition="in" filter="dissolve">
                                      <p:cBhvr>
                                        <p:cTn id="27" dur="500"/>
                                        <p:tgtEl>
                                          <p:spTgt spid="2255941">
                                            <p:txEl>
                                              <p:charRg st="53" end="8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5940"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8243"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24</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采样</a:t>
            </a:r>
            <a:r>
              <a:rPr lang="zh-CN" altLang="en-US" dirty="0">
                <a:solidFill>
                  <a:srgbClr val="FF3300"/>
                </a:solidFill>
                <a:latin typeface="黑体" panose="02010609060101010101" pitchFamily="49" charset="-122"/>
                <a:ea typeface="黑体" panose="02010609060101010101" pitchFamily="49" charset="-122"/>
              </a:rPr>
              <a:t>频</a:t>
            </a:r>
            <a:r>
              <a:rPr lang="zh-CN" altLang="zh-CN" dirty="0">
                <a:solidFill>
                  <a:srgbClr val="FF3300"/>
                </a:solidFill>
                <a:latin typeface="黑体" panose="02010609060101010101" pitchFamily="49" charset="-122"/>
                <a:ea typeface="黑体" panose="02010609060101010101" pitchFamily="49" charset="-122"/>
              </a:rPr>
              <a:t>率</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Sampling Frequency</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指单位时间内</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对模拟输入信号采样的次数，</a:t>
            </a:r>
            <a:r>
              <a:rPr lang="en-US" altLang="zh-CN" dirty="0">
                <a:solidFill>
                  <a:srgbClr val="000066"/>
                </a:solidFill>
                <a:latin typeface="黑体" panose="02010609060101010101" pitchFamily="49" charset="-122"/>
                <a:ea typeface="黑体" panose="02010609060101010101" pitchFamily="49" charset="-122"/>
              </a:rPr>
              <a:t>SPS</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25</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数据输出速率</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Output Data Rate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指单位时间内</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输出转换结果的次数</a:t>
            </a:r>
            <a:r>
              <a:rPr lang="zh-CN" altLang="en-US" dirty="0">
                <a:solidFill>
                  <a:srgbClr val="000066"/>
                </a:solidFill>
                <a:latin typeface="Arial" panose="020B0604020202020204" pitchFamily="34" charset="0"/>
                <a:ea typeface="宋体" panose="02010600030101010101" pitchFamily="2" charset="-122"/>
              </a:rPr>
              <a:t>。</a:t>
            </a:r>
            <a:r>
              <a:rPr lang="zh-CN" altLang="en-US" dirty="0">
                <a:solidFill>
                  <a:srgbClr val="000066"/>
                </a:solidFill>
                <a:latin typeface="黑体" panose="02010609060101010101" pitchFamily="49" charset="-122"/>
                <a:ea typeface="黑体" panose="02010609060101010101" pitchFamily="49" charset="-122"/>
              </a:rPr>
              <a:t>大多数</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是采样一次、转换一次、输出一次。采用过采样技术的</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（如</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型）数据输出速率远低于采样频率</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采样频率与数据输出速率之比为过采样倍率。</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26</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采样ADC</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Sampling ADC</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含有采样保持器的</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称为采样</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8243">
                                            <p:txEl>
                                              <p:charRg st="0" end="27"/>
                                            </p:txEl>
                                          </p:spTgt>
                                        </p:tgtEl>
                                        <p:attrNameLst>
                                          <p:attrName>style.visibility</p:attrName>
                                        </p:attrNameLst>
                                      </p:cBhvr>
                                      <p:to>
                                        <p:strVal val="visible"/>
                                      </p:to>
                                    </p:set>
                                    <p:animEffect transition="in" filter="dissolve">
                                      <p:cBhvr>
                                        <p:cTn id="7" dur="500"/>
                                        <p:tgtEl>
                                          <p:spTgt spid="138243">
                                            <p:txEl>
                                              <p:charRg st="0" end="2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38243">
                                            <p:txEl>
                                              <p:charRg st="27" end="55"/>
                                            </p:txEl>
                                          </p:spTgt>
                                        </p:tgtEl>
                                        <p:attrNameLst>
                                          <p:attrName>style.visibility</p:attrName>
                                        </p:attrNameLst>
                                      </p:cBhvr>
                                      <p:to>
                                        <p:strVal val="visible"/>
                                      </p:to>
                                    </p:set>
                                    <p:animEffect transition="in" filter="dissolve">
                                      <p:cBhvr>
                                        <p:cTn id="10" dur="500"/>
                                        <p:tgtEl>
                                          <p:spTgt spid="138243">
                                            <p:txEl>
                                              <p:charRg st="27" end="5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8243">
                                            <p:txEl>
                                              <p:charRg st="55" end="82"/>
                                            </p:txEl>
                                          </p:spTgt>
                                        </p:tgtEl>
                                        <p:attrNameLst>
                                          <p:attrName>style.visibility</p:attrName>
                                        </p:attrNameLst>
                                      </p:cBhvr>
                                      <p:to>
                                        <p:strVal val="visible"/>
                                      </p:to>
                                    </p:set>
                                    <p:animEffect transition="in" filter="dissolve">
                                      <p:cBhvr>
                                        <p:cTn id="15" dur="500"/>
                                        <p:tgtEl>
                                          <p:spTgt spid="138243">
                                            <p:txEl>
                                              <p:charRg st="55" end="8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38243">
                                            <p:txEl>
                                              <p:charRg st="82" end="177"/>
                                            </p:txEl>
                                          </p:spTgt>
                                        </p:tgtEl>
                                        <p:attrNameLst>
                                          <p:attrName>style.visibility</p:attrName>
                                        </p:attrNameLst>
                                      </p:cBhvr>
                                      <p:to>
                                        <p:strVal val="visible"/>
                                      </p:to>
                                    </p:set>
                                    <p:animEffect transition="in" filter="dissolve">
                                      <p:cBhvr>
                                        <p:cTn id="18" dur="500"/>
                                        <p:tgtEl>
                                          <p:spTgt spid="138243">
                                            <p:txEl>
                                              <p:charRg st="82" end="177"/>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38243">
                                            <p:txEl>
                                              <p:charRg st="199" end="220"/>
                                            </p:txEl>
                                          </p:spTgt>
                                        </p:tgtEl>
                                        <p:attrNameLst>
                                          <p:attrName>style.visibility</p:attrName>
                                        </p:attrNameLst>
                                      </p:cBhvr>
                                      <p:to>
                                        <p:strVal val="visible"/>
                                      </p:to>
                                    </p:set>
                                    <p:animEffect transition="in" filter="dissolve">
                                      <p:cBhvr>
                                        <p:cTn id="23" dur="500"/>
                                        <p:tgtEl>
                                          <p:spTgt spid="138243">
                                            <p:txEl>
                                              <p:charRg st="199" end="22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38243">
                                            <p:txEl>
                                              <p:charRg st="177" end="199"/>
                                            </p:txEl>
                                          </p:spTgt>
                                        </p:tgtEl>
                                        <p:attrNameLst>
                                          <p:attrName>style.visibility</p:attrName>
                                        </p:attrNameLst>
                                      </p:cBhvr>
                                      <p:to>
                                        <p:strVal val="visible"/>
                                      </p:to>
                                    </p:set>
                                    <p:animEffect transition="in" filter="dissolve">
                                      <p:cBhvr>
                                        <p:cTn id="26" dur="500"/>
                                        <p:tgtEl>
                                          <p:spTgt spid="138243">
                                            <p:txEl>
                                              <p:charRg st="177" end="19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0291"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27</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孔径时间</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Aperture Time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指采样</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发出采样命令（保持命令发出瞬间）与实际开始采样（模拟开关有效切断）之间的时间间隔。相邻两次采样的孔径时间的偏差称为孔径抖动或孔径不确定度。</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28</a:t>
            </a:r>
            <a:r>
              <a:rPr lang="zh-CN" altLang="en-US" dirty="0">
                <a:solidFill>
                  <a:srgbClr val="FF3300"/>
                </a:solidFill>
                <a:latin typeface="黑体" panose="02010609060101010101" pitchFamily="49" charset="-122"/>
                <a:ea typeface="黑体" panose="02010609060101010101" pitchFamily="49" charset="-122"/>
              </a:rPr>
              <a:t>、捕捉</a:t>
            </a:r>
            <a:r>
              <a:rPr lang="zh-CN" altLang="zh-CN" dirty="0">
                <a:solidFill>
                  <a:srgbClr val="FF3300"/>
                </a:solidFill>
                <a:latin typeface="黑体" panose="02010609060101010101" pitchFamily="49" charset="-122"/>
                <a:ea typeface="黑体" panose="02010609060101010101" pitchFamily="49" charset="-122"/>
              </a:rPr>
              <a:t>时间</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Acquistion Time</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指发出采样命令之后，采保开始跟踪输入电压（从保持状态转到跟踪状态时，采保的输出从保持状态的值变到当前的输入值），并到达规定的误差范围之内所需的最小时间。</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0291">
                                            <p:txEl>
                                              <p:charRg st="0" end="22"/>
                                            </p:txEl>
                                          </p:spTgt>
                                        </p:tgtEl>
                                        <p:attrNameLst>
                                          <p:attrName>style.visibility</p:attrName>
                                        </p:attrNameLst>
                                      </p:cBhvr>
                                      <p:to>
                                        <p:strVal val="visible"/>
                                      </p:to>
                                    </p:set>
                                    <p:animEffect transition="in" filter="dissolve">
                                      <p:cBhvr>
                                        <p:cTn id="7" dur="500"/>
                                        <p:tgtEl>
                                          <p:spTgt spid="140291">
                                            <p:txEl>
                                              <p:charRg st="0" end="2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0291">
                                            <p:txEl>
                                              <p:charRg st="22" end="99"/>
                                            </p:txEl>
                                          </p:spTgt>
                                        </p:tgtEl>
                                        <p:attrNameLst>
                                          <p:attrName>style.visibility</p:attrName>
                                        </p:attrNameLst>
                                      </p:cBhvr>
                                      <p:to>
                                        <p:strVal val="visible"/>
                                      </p:to>
                                    </p:set>
                                    <p:animEffect transition="in" filter="dissolve">
                                      <p:cBhvr>
                                        <p:cTn id="10" dur="500"/>
                                        <p:tgtEl>
                                          <p:spTgt spid="140291">
                                            <p:txEl>
                                              <p:charRg st="22" end="99"/>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40291">
                                            <p:txEl>
                                              <p:charRg st="99" end="123"/>
                                            </p:txEl>
                                          </p:spTgt>
                                        </p:tgtEl>
                                        <p:attrNameLst>
                                          <p:attrName>style.visibility</p:attrName>
                                        </p:attrNameLst>
                                      </p:cBhvr>
                                      <p:to>
                                        <p:strVal val="visible"/>
                                      </p:to>
                                    </p:set>
                                    <p:animEffect transition="in" filter="dissolve">
                                      <p:cBhvr>
                                        <p:cTn id="15" dur="500"/>
                                        <p:tgtEl>
                                          <p:spTgt spid="140291">
                                            <p:txEl>
                                              <p:charRg st="99" end="12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40291">
                                            <p:txEl>
                                              <p:charRg st="123" end="201"/>
                                            </p:txEl>
                                          </p:spTgt>
                                        </p:tgtEl>
                                        <p:attrNameLst>
                                          <p:attrName>style.visibility</p:attrName>
                                        </p:attrNameLst>
                                      </p:cBhvr>
                                      <p:to>
                                        <p:strVal val="visible"/>
                                      </p:to>
                                    </p:set>
                                    <p:animEffect transition="in" filter="dissolve">
                                      <p:cBhvr>
                                        <p:cTn id="18" dur="500"/>
                                        <p:tgtEl>
                                          <p:spTgt spid="140291">
                                            <p:txEl>
                                              <p:charRg st="123" end="20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2339"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29</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香农采样定理</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Shannon Sampling Theorem</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为了使采样信号能完全恢复成原模拟信号，采样频率</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zh-CN" altLang="en-US" dirty="0">
                <a:solidFill>
                  <a:srgbClr val="000066"/>
                </a:solidFill>
                <a:latin typeface="黑体" panose="02010609060101010101" pitchFamily="49" charset="-122"/>
                <a:ea typeface="黑体" panose="02010609060101010101" pitchFamily="49" charset="-122"/>
              </a:rPr>
              <a:t>必须大于模拟信号频带的最高频率</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zh-CN" altLang="en-US" dirty="0">
                <a:solidFill>
                  <a:srgbClr val="000066"/>
                </a:solidFill>
                <a:latin typeface="黑体" panose="02010609060101010101" pitchFamily="49" charset="-122"/>
                <a:ea typeface="黑体" panose="02010609060101010101" pitchFamily="49" charset="-122"/>
              </a:rPr>
              <a:t>（包括噪声在内）的两倍，即</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&gt;2f</a:t>
            </a:r>
            <a:r>
              <a:rPr lang="en-US" altLang="zh-CN" baseline="-25000" dirty="0">
                <a:solidFill>
                  <a:srgbClr val="000066"/>
                </a:solidFill>
                <a:latin typeface="黑体" panose="02010609060101010101" pitchFamily="49" charset="-122"/>
                <a:ea typeface="黑体" panose="02010609060101010101" pitchFamily="49" charset="-122"/>
              </a:rPr>
              <a:t>a</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30</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奈奎斯特频率，奈氏带宽</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Nyquist Frequency</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Nyquist Bandwidth</a:t>
            </a:r>
            <a:r>
              <a:rPr lang="en-US" altLang="zh-CN" dirty="0">
                <a:solidFill>
                  <a:srgbClr val="FF3300"/>
                </a:solidFill>
                <a:latin typeface="黑体" panose="02010609060101010101" pitchFamily="49" charset="-122"/>
                <a:ea typeface="黑体" panose="02010609060101010101" pitchFamily="49" charset="-122"/>
              </a:rPr>
              <a:t> </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采样频率的</a:t>
            </a:r>
            <a:r>
              <a:rPr lang="en-US" altLang="zh-CN" dirty="0">
                <a:solidFill>
                  <a:srgbClr val="000066"/>
                </a:solidFill>
                <a:latin typeface="黑体" panose="02010609060101010101" pitchFamily="49" charset="-122"/>
                <a:ea typeface="黑体" panose="02010609060101010101" pitchFamily="49" charset="-122"/>
              </a:rPr>
              <a:t>1/2</a:t>
            </a:r>
            <a:r>
              <a:rPr lang="zh-CN" altLang="en-US" dirty="0">
                <a:solidFill>
                  <a:srgbClr val="000066"/>
                </a:solidFill>
                <a:latin typeface="黑体" panose="02010609060101010101" pitchFamily="49" charset="-122"/>
                <a:ea typeface="黑体" panose="02010609060101010101" pitchFamily="49" charset="-122"/>
              </a:rPr>
              <a:t>（即</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/2</a:t>
            </a:r>
            <a:r>
              <a:rPr lang="zh-CN" altLang="en-US" dirty="0">
                <a:solidFill>
                  <a:srgbClr val="000066"/>
                </a:solidFill>
                <a:latin typeface="黑体" panose="02010609060101010101" pitchFamily="49" charset="-122"/>
                <a:ea typeface="黑体" panose="02010609060101010101" pitchFamily="49" charset="-122"/>
              </a:rPr>
              <a:t>）称为奈奎斯特频率。</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直流至</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/2</a:t>
            </a:r>
            <a:r>
              <a:rPr lang="zh-CN" altLang="en-US" dirty="0">
                <a:solidFill>
                  <a:srgbClr val="000066"/>
                </a:solidFill>
                <a:latin typeface="黑体" panose="02010609060101010101" pitchFamily="49" charset="-122"/>
                <a:ea typeface="黑体" panose="02010609060101010101" pitchFamily="49" charset="-122"/>
              </a:rPr>
              <a:t>之间的频带称为奈氏带宽。</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2339">
                                            <p:txEl>
                                              <p:charRg st="0" end="35"/>
                                            </p:txEl>
                                          </p:spTgt>
                                        </p:tgtEl>
                                        <p:attrNameLst>
                                          <p:attrName>style.visibility</p:attrName>
                                        </p:attrNameLst>
                                      </p:cBhvr>
                                      <p:to>
                                        <p:strVal val="visible"/>
                                      </p:to>
                                    </p:set>
                                    <p:animEffect transition="in" filter="dissolve">
                                      <p:cBhvr>
                                        <p:cTn id="7" dur="500"/>
                                        <p:tgtEl>
                                          <p:spTgt spid="142339">
                                            <p:txEl>
                                              <p:charRg st="0" end="3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2339">
                                            <p:txEl>
                                              <p:charRg st="35" end="99"/>
                                            </p:txEl>
                                          </p:spTgt>
                                        </p:tgtEl>
                                        <p:attrNameLst>
                                          <p:attrName>style.visibility</p:attrName>
                                        </p:attrNameLst>
                                      </p:cBhvr>
                                      <p:to>
                                        <p:strVal val="visible"/>
                                      </p:to>
                                    </p:set>
                                    <p:animEffect transition="in" filter="dissolve">
                                      <p:cBhvr>
                                        <p:cTn id="10" dur="500"/>
                                        <p:tgtEl>
                                          <p:spTgt spid="142339">
                                            <p:txEl>
                                              <p:charRg st="35" end="99"/>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42339">
                                            <p:txEl>
                                              <p:charRg st="99" end="151"/>
                                            </p:txEl>
                                          </p:spTgt>
                                        </p:tgtEl>
                                        <p:attrNameLst>
                                          <p:attrName>style.visibility</p:attrName>
                                        </p:attrNameLst>
                                      </p:cBhvr>
                                      <p:to>
                                        <p:strVal val="visible"/>
                                      </p:to>
                                    </p:set>
                                    <p:animEffect transition="in" filter="dissolve">
                                      <p:cBhvr>
                                        <p:cTn id="15" dur="500"/>
                                        <p:tgtEl>
                                          <p:spTgt spid="142339">
                                            <p:txEl>
                                              <p:charRg st="99" end="15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42339">
                                            <p:txEl>
                                              <p:charRg st="151" end="177"/>
                                            </p:txEl>
                                          </p:spTgt>
                                        </p:tgtEl>
                                        <p:attrNameLst>
                                          <p:attrName>style.visibility</p:attrName>
                                        </p:attrNameLst>
                                      </p:cBhvr>
                                      <p:to>
                                        <p:strVal val="visible"/>
                                      </p:to>
                                    </p:set>
                                    <p:animEffect transition="in" filter="dissolve">
                                      <p:cBhvr>
                                        <p:cTn id="18" dur="500"/>
                                        <p:tgtEl>
                                          <p:spTgt spid="142339">
                                            <p:txEl>
                                              <p:charRg st="151" end="177"/>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42339">
                                            <p:txEl>
                                              <p:charRg st="177" end="198"/>
                                            </p:txEl>
                                          </p:spTgt>
                                        </p:tgtEl>
                                        <p:attrNameLst>
                                          <p:attrName>style.visibility</p:attrName>
                                        </p:attrNameLst>
                                      </p:cBhvr>
                                      <p:to>
                                        <p:strVal val="visible"/>
                                      </p:to>
                                    </p:set>
                                    <p:animEffect transition="in" filter="dissolve">
                                      <p:cBhvr>
                                        <p:cTn id="21" dur="500"/>
                                        <p:tgtEl>
                                          <p:spTgt spid="142339">
                                            <p:txEl>
                                              <p:charRg st="177" end="19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4387"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31</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混叠</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Aliasing</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当信号频率超过奈氏带宽（</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&gt;f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/2</a:t>
            </a:r>
            <a:r>
              <a:rPr lang="zh-CN" altLang="en-US" dirty="0">
                <a:solidFill>
                  <a:srgbClr val="000066"/>
                </a:solidFill>
                <a:latin typeface="黑体" panose="02010609060101010101" pitchFamily="49" charset="-122"/>
                <a:ea typeface="黑体" panose="02010609060101010101" pitchFamily="49" charset="-122"/>
              </a:rPr>
              <a:t>）时，</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zh-CN" altLang="en-US" dirty="0">
                <a:solidFill>
                  <a:srgbClr val="000066"/>
                </a:solidFill>
                <a:latin typeface="黑体" panose="02010609060101010101" pitchFamily="49" charset="-122"/>
                <a:ea typeface="黑体" panose="02010609060101010101" pitchFamily="49" charset="-122"/>
              </a:rPr>
              <a:t>的混叠频率分量将会进入奈氏带宽内，造成混叠现象。例如，</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=3kHz</a:t>
            </a:r>
            <a:r>
              <a:rPr lang="zh-CN" altLang="en-US" dirty="0">
                <a:solidFill>
                  <a:srgbClr val="000066"/>
                </a:solidFill>
                <a:latin typeface="黑体" panose="02010609060101010101" pitchFamily="49" charset="-122"/>
                <a:ea typeface="黑体" panose="02010609060101010101" pitchFamily="49" charset="-122"/>
              </a:rPr>
              <a:t>，</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s</a:t>
            </a:r>
            <a:r>
              <a:rPr lang="en-US" altLang="zh-CN" dirty="0">
                <a:solidFill>
                  <a:srgbClr val="000066"/>
                </a:solidFill>
                <a:latin typeface="黑体" panose="02010609060101010101" pitchFamily="49" charset="-122"/>
                <a:ea typeface="黑体" panose="02010609060101010101" pitchFamily="49" charset="-122"/>
              </a:rPr>
              <a:t>=5kHz</a:t>
            </a:r>
            <a:r>
              <a:rPr lang="zh-CN" altLang="en-US" dirty="0">
                <a:solidFill>
                  <a:srgbClr val="000066"/>
                </a:solidFill>
                <a:latin typeface="黑体" panose="02010609060101010101" pitchFamily="49" charset="-122"/>
                <a:ea typeface="黑体" panose="02010609060101010101" pitchFamily="49" charset="-122"/>
              </a:rPr>
              <a:t>，</a:t>
            </a:r>
            <a:r>
              <a:rPr lang="en-US" altLang="zh-CN" dirty="0">
                <a:solidFill>
                  <a:srgbClr val="000066"/>
                </a:solidFill>
                <a:latin typeface="黑体" panose="02010609060101010101" pitchFamily="49" charset="-122"/>
                <a:ea typeface="黑体" panose="02010609060101010101" pitchFamily="49" charset="-122"/>
              </a:rPr>
              <a:t>2kHz</a:t>
            </a:r>
            <a:r>
              <a:rPr lang="zh-CN" altLang="en-US" dirty="0">
                <a:solidFill>
                  <a:srgbClr val="000066"/>
                </a:solidFill>
                <a:latin typeface="黑体" panose="02010609060101010101" pitchFamily="49" charset="-122"/>
                <a:ea typeface="黑体" panose="02010609060101010101" pitchFamily="49" charset="-122"/>
              </a:rPr>
              <a:t>的混叠频率分量将出现在奈氏带宽（</a:t>
            </a:r>
            <a:r>
              <a:rPr lang="en-US" altLang="zh-CN" dirty="0">
                <a:solidFill>
                  <a:srgbClr val="000066"/>
                </a:solidFill>
                <a:latin typeface="黑体" panose="02010609060101010101" pitchFamily="49" charset="-122"/>
                <a:ea typeface="黑体" panose="02010609060101010101" pitchFamily="49" charset="-122"/>
              </a:rPr>
              <a:t>2.5kHz</a:t>
            </a:r>
            <a:r>
              <a:rPr lang="zh-CN" altLang="en-US" dirty="0">
                <a:solidFill>
                  <a:srgbClr val="000066"/>
                </a:solidFill>
                <a:latin typeface="黑体" panose="02010609060101010101" pitchFamily="49" charset="-122"/>
                <a:ea typeface="黑体" panose="02010609060101010101" pitchFamily="49" charset="-122"/>
              </a:rPr>
              <a:t>）内。</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32</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过采样</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Oversampling</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采样频率高于信号频率的两倍。</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过采样使噪声滤波得到改善，是某些</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（如</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型）工作的关键。</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4387">
                                            <p:txEl>
                                              <p:charRg st="0" end="15"/>
                                            </p:txEl>
                                          </p:spTgt>
                                        </p:tgtEl>
                                        <p:attrNameLst>
                                          <p:attrName>style.visibility</p:attrName>
                                        </p:attrNameLst>
                                      </p:cBhvr>
                                      <p:to>
                                        <p:strVal val="visible"/>
                                      </p:to>
                                    </p:set>
                                    <p:animEffect transition="in" filter="dissolve">
                                      <p:cBhvr>
                                        <p:cTn id="7" dur="500"/>
                                        <p:tgtEl>
                                          <p:spTgt spid="144387">
                                            <p:txEl>
                                              <p:charRg st="0" end="1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4387">
                                            <p:txEl>
                                              <p:charRg st="15" end="116"/>
                                            </p:txEl>
                                          </p:spTgt>
                                        </p:tgtEl>
                                        <p:attrNameLst>
                                          <p:attrName>style.visibility</p:attrName>
                                        </p:attrNameLst>
                                      </p:cBhvr>
                                      <p:to>
                                        <p:strVal val="visible"/>
                                      </p:to>
                                    </p:set>
                                    <p:animEffect transition="in" filter="dissolve">
                                      <p:cBhvr>
                                        <p:cTn id="10" dur="500"/>
                                        <p:tgtEl>
                                          <p:spTgt spid="144387">
                                            <p:txEl>
                                              <p:charRg st="15" end="11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44387">
                                            <p:txEl>
                                              <p:charRg st="116" end="136"/>
                                            </p:txEl>
                                          </p:spTgt>
                                        </p:tgtEl>
                                        <p:attrNameLst>
                                          <p:attrName>style.visibility</p:attrName>
                                        </p:attrNameLst>
                                      </p:cBhvr>
                                      <p:to>
                                        <p:strVal val="visible"/>
                                      </p:to>
                                    </p:set>
                                    <p:animEffect transition="in" filter="dissolve">
                                      <p:cBhvr>
                                        <p:cTn id="15" dur="500"/>
                                        <p:tgtEl>
                                          <p:spTgt spid="144387">
                                            <p:txEl>
                                              <p:charRg st="116" end="13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44387">
                                            <p:txEl>
                                              <p:charRg st="136" end="152"/>
                                            </p:txEl>
                                          </p:spTgt>
                                        </p:tgtEl>
                                        <p:attrNameLst>
                                          <p:attrName>style.visibility</p:attrName>
                                        </p:attrNameLst>
                                      </p:cBhvr>
                                      <p:to>
                                        <p:strVal val="visible"/>
                                      </p:to>
                                    </p:set>
                                    <p:animEffect transition="in" filter="dissolve">
                                      <p:cBhvr>
                                        <p:cTn id="18" dur="500"/>
                                        <p:tgtEl>
                                          <p:spTgt spid="144387">
                                            <p:txEl>
                                              <p:charRg st="136" end="15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44387">
                                            <p:txEl>
                                              <p:charRg st="152" end="186"/>
                                            </p:txEl>
                                          </p:spTgt>
                                        </p:tgtEl>
                                        <p:attrNameLst>
                                          <p:attrName>style.visibility</p:attrName>
                                        </p:attrNameLst>
                                      </p:cBhvr>
                                      <p:to>
                                        <p:strVal val="visible"/>
                                      </p:to>
                                    </p:set>
                                    <p:animEffect transition="in" filter="dissolve">
                                      <p:cBhvr>
                                        <p:cTn id="21" dur="500"/>
                                        <p:tgtEl>
                                          <p:spTgt spid="144387">
                                            <p:txEl>
                                              <p:charRg st="152" end="18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6435"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33</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欠采样</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Undersampling</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采样频率低于信号频率的两倍。</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欠采样会造成混叠，但可使高频载波传输带宽降低到较低频率以便检测和解调，为</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提供充裕的带宽。</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34</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信噪比</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SNR</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a:t>
            </a:r>
            <a:r>
              <a:rPr lang="zh-CN" altLang="en-US" dirty="0">
                <a:solidFill>
                  <a:srgbClr val="000066"/>
                </a:solidFill>
                <a:latin typeface="黑体" panose="02010609060101010101" pitchFamily="49" charset="-122"/>
                <a:ea typeface="黑体" panose="02010609060101010101" pitchFamily="49" charset="-122"/>
              </a:rPr>
              <a:t>输出端的信号（基波分量有效值）与噪声（奈奎斯特频率下全部非基波分量，除直流分量）之比。</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理想</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，正弦输入信号，信噪比的理论值为：</a:t>
            </a:r>
            <a:endParaRPr lang="zh-CN" altLang="en-US" dirty="0">
              <a:solidFill>
                <a:srgbClr val="000066"/>
              </a:solidFill>
              <a:latin typeface="黑体" panose="02010609060101010101" pitchFamily="49" charset="-122"/>
              <a:ea typeface="黑体" panose="02010609060101010101" pitchFamily="49" charset="-122"/>
            </a:endParaRPr>
          </a:p>
          <a:p>
            <a:pPr marL="254000" indent="-254000" algn="ctr"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SNR=(6.02N+1.76)dB</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6435">
                                            <p:txEl>
                                              <p:charRg st="0" end="21"/>
                                            </p:txEl>
                                          </p:spTgt>
                                        </p:tgtEl>
                                        <p:attrNameLst>
                                          <p:attrName>style.visibility</p:attrName>
                                        </p:attrNameLst>
                                      </p:cBhvr>
                                      <p:to>
                                        <p:strVal val="visible"/>
                                      </p:to>
                                    </p:set>
                                    <p:animEffect transition="in" filter="dissolve">
                                      <p:cBhvr>
                                        <p:cTn id="7" dur="500"/>
                                        <p:tgtEl>
                                          <p:spTgt spid="146435">
                                            <p:txEl>
                                              <p:charRg st="0" end="2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6435">
                                            <p:txEl>
                                              <p:charRg st="21" end="37"/>
                                            </p:txEl>
                                          </p:spTgt>
                                        </p:tgtEl>
                                        <p:attrNameLst>
                                          <p:attrName>style.visibility</p:attrName>
                                        </p:attrNameLst>
                                      </p:cBhvr>
                                      <p:to>
                                        <p:strVal val="visible"/>
                                      </p:to>
                                    </p:set>
                                    <p:animEffect transition="in" filter="dissolve">
                                      <p:cBhvr>
                                        <p:cTn id="10" dur="500"/>
                                        <p:tgtEl>
                                          <p:spTgt spid="146435">
                                            <p:txEl>
                                              <p:charRg st="21" end="3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46435">
                                            <p:txEl>
                                              <p:charRg st="37" end="86"/>
                                            </p:txEl>
                                          </p:spTgt>
                                        </p:tgtEl>
                                        <p:attrNameLst>
                                          <p:attrName>style.visibility</p:attrName>
                                        </p:attrNameLst>
                                      </p:cBhvr>
                                      <p:to>
                                        <p:strVal val="visible"/>
                                      </p:to>
                                    </p:set>
                                    <p:animEffect transition="in" filter="dissolve">
                                      <p:cBhvr>
                                        <p:cTn id="13" dur="500"/>
                                        <p:tgtEl>
                                          <p:spTgt spid="146435">
                                            <p:txEl>
                                              <p:charRg st="37" end="8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46435">
                                            <p:txEl>
                                              <p:charRg st="86" end="97"/>
                                            </p:txEl>
                                          </p:spTgt>
                                        </p:tgtEl>
                                        <p:attrNameLst>
                                          <p:attrName>style.visibility</p:attrName>
                                        </p:attrNameLst>
                                      </p:cBhvr>
                                      <p:to>
                                        <p:strVal val="visible"/>
                                      </p:to>
                                    </p:set>
                                    <p:animEffect transition="in" filter="dissolve">
                                      <p:cBhvr>
                                        <p:cTn id="18" dur="500"/>
                                        <p:tgtEl>
                                          <p:spTgt spid="146435">
                                            <p:txEl>
                                              <p:charRg st="86" end="97"/>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46435">
                                            <p:txEl>
                                              <p:charRg st="97" end="145"/>
                                            </p:txEl>
                                          </p:spTgt>
                                        </p:tgtEl>
                                        <p:attrNameLst>
                                          <p:attrName>style.visibility</p:attrName>
                                        </p:attrNameLst>
                                      </p:cBhvr>
                                      <p:to>
                                        <p:strVal val="visible"/>
                                      </p:to>
                                    </p:set>
                                    <p:animEffect transition="in" filter="dissolve">
                                      <p:cBhvr>
                                        <p:cTn id="21" dur="500"/>
                                        <p:tgtEl>
                                          <p:spTgt spid="146435">
                                            <p:txEl>
                                              <p:charRg st="97" end="14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46435">
                                            <p:txEl>
                                              <p:charRg st="145" end="169"/>
                                            </p:txEl>
                                          </p:spTgt>
                                        </p:tgtEl>
                                        <p:attrNameLst>
                                          <p:attrName>style.visibility</p:attrName>
                                        </p:attrNameLst>
                                      </p:cBhvr>
                                      <p:to>
                                        <p:strVal val="visible"/>
                                      </p:to>
                                    </p:set>
                                    <p:animEffect transition="in" filter="dissolve">
                                      <p:cBhvr>
                                        <p:cTn id="24" dur="500"/>
                                        <p:tgtEl>
                                          <p:spTgt spid="146435">
                                            <p:txEl>
                                              <p:charRg st="145" end="169"/>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46435">
                                            <p:txEl>
                                              <p:charRg st="169" end="188"/>
                                            </p:txEl>
                                          </p:spTgt>
                                        </p:tgtEl>
                                        <p:attrNameLst>
                                          <p:attrName>style.visibility</p:attrName>
                                        </p:attrNameLst>
                                      </p:cBhvr>
                                      <p:to>
                                        <p:strVal val="visible"/>
                                      </p:to>
                                    </p:set>
                                    <p:animEffect transition="in" filter="dissolve">
                                      <p:cBhvr>
                                        <p:cTn id="27" dur="500"/>
                                        <p:tgtEl>
                                          <p:spTgt spid="146435">
                                            <p:txEl>
                                              <p:charRg st="169" end="18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8483"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35</a:t>
            </a:r>
            <a:r>
              <a:rPr lang="zh-CN" altLang="en-US" dirty="0">
                <a:solidFill>
                  <a:srgbClr val="FF3300"/>
                </a:solidFill>
                <a:latin typeface="黑体" panose="02010609060101010101" pitchFamily="49" charset="-122"/>
                <a:ea typeface="黑体" panose="02010609060101010101" pitchFamily="49" charset="-122"/>
              </a:rPr>
              <a:t>、信噪失真比（信纳比）</a:t>
            </a:r>
            <a:r>
              <a:rPr lang="zh-CN" altLang="en-US" dirty="0">
                <a:solidFill>
                  <a:srgbClr val="000066"/>
                </a:solidFill>
                <a:latin typeface="黑体" panose="02010609060101010101" pitchFamily="49" charset="-122"/>
                <a:ea typeface="黑体" panose="02010609060101010101" pitchFamily="49" charset="-122"/>
              </a:rPr>
              <a:t> </a:t>
            </a:r>
            <a:r>
              <a:rPr lang="zh-CN" altLang="en-US" dirty="0">
                <a:solidFill>
                  <a:srgbClr val="FF3300"/>
                </a:solidFill>
                <a:latin typeface="黑体" panose="02010609060101010101" pitchFamily="49" charset="-122"/>
                <a:ea typeface="黑体" panose="02010609060101010101" pitchFamily="49" charset="-122"/>
              </a:rPr>
              <a:t>SINAD</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指被测输入信号的有效值与奈奎斯特频率以下的全部噪声和谐波分量（除直流分量）的总有效值之比，记作</a:t>
            </a:r>
            <a:r>
              <a:rPr lang="en-US" altLang="zh-CN" dirty="0">
                <a:solidFill>
                  <a:srgbClr val="000066"/>
                </a:solidFill>
                <a:latin typeface="黑体" panose="02010609060101010101" pitchFamily="49" charset="-122"/>
                <a:ea typeface="黑体" panose="02010609060101010101" pitchFamily="49" charset="-122"/>
              </a:rPr>
              <a:t>S/(N+D)</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36</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总谐波失真</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THD</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输出信号包含的全部谐波分量的总有效值与满度输入信号的有效值之比，用</a:t>
            </a:r>
            <a:r>
              <a:rPr lang="en-US" altLang="zh-CN" dirty="0">
                <a:solidFill>
                  <a:srgbClr val="000066"/>
                </a:solidFill>
                <a:latin typeface="黑体" panose="02010609060101010101" pitchFamily="49" charset="-122"/>
                <a:ea typeface="黑体" panose="02010609060101010101" pitchFamily="49" charset="-122"/>
              </a:rPr>
              <a:t>dB</a:t>
            </a:r>
            <a:r>
              <a:rPr lang="zh-CN" altLang="en-US" dirty="0">
                <a:solidFill>
                  <a:srgbClr val="000066"/>
                </a:solidFill>
                <a:latin typeface="黑体" panose="02010609060101010101" pitchFamily="49" charset="-122"/>
                <a:ea typeface="黑体" panose="02010609060101010101" pitchFamily="49" charset="-122"/>
              </a:rPr>
              <a:t>或</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表示。</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37</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峰值杂散信号</a:t>
            </a:r>
            <a:r>
              <a:rPr lang="zh-CN" altLang="en-US" dirty="0">
                <a:solidFill>
                  <a:srgbClr val="FF3300"/>
                </a:solidFill>
                <a:latin typeface="黑体" panose="02010609060101010101" pitchFamily="49" charset="-122"/>
                <a:ea typeface="黑体" panose="02010609060101010101" pitchFamily="49" charset="-122"/>
              </a:rPr>
              <a:t>（峰值谐波分量） </a:t>
            </a:r>
            <a:r>
              <a:rPr lang="zh-CN" altLang="zh-CN" dirty="0">
                <a:solidFill>
                  <a:srgbClr val="FF3300"/>
                </a:solidFill>
                <a:latin typeface="黑体" panose="02010609060101010101" pitchFamily="49" charset="-122"/>
                <a:ea typeface="黑体" panose="02010609060101010101" pitchFamily="49" charset="-122"/>
              </a:rPr>
              <a:t>Peak Spurious</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指</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输出信号频谱中除输入信号和直流分量外最大的单个频谱分量。</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8483">
                                            <p:txEl>
                                              <p:charRg st="0" end="20"/>
                                            </p:txEl>
                                          </p:spTgt>
                                        </p:tgtEl>
                                        <p:attrNameLst>
                                          <p:attrName>style.visibility</p:attrName>
                                        </p:attrNameLst>
                                      </p:cBhvr>
                                      <p:to>
                                        <p:strVal val="visible"/>
                                      </p:to>
                                    </p:set>
                                    <p:animEffect transition="in" filter="dissolve">
                                      <p:cBhvr>
                                        <p:cTn id="7" dur="500"/>
                                        <p:tgtEl>
                                          <p:spTgt spid="148483">
                                            <p:txEl>
                                              <p:charRg st="0" end="2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8483">
                                            <p:txEl>
                                              <p:charRg st="20" end="77"/>
                                            </p:txEl>
                                          </p:spTgt>
                                        </p:tgtEl>
                                        <p:attrNameLst>
                                          <p:attrName>style.visibility</p:attrName>
                                        </p:attrNameLst>
                                      </p:cBhvr>
                                      <p:to>
                                        <p:strVal val="visible"/>
                                      </p:to>
                                    </p:set>
                                    <p:animEffect transition="in" filter="dissolve">
                                      <p:cBhvr>
                                        <p:cTn id="10" dur="500"/>
                                        <p:tgtEl>
                                          <p:spTgt spid="148483">
                                            <p:txEl>
                                              <p:charRg st="20" end="77"/>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48483">
                                            <p:txEl>
                                              <p:charRg st="77" end="90"/>
                                            </p:txEl>
                                          </p:spTgt>
                                        </p:tgtEl>
                                        <p:attrNameLst>
                                          <p:attrName>style.visibility</p:attrName>
                                        </p:attrNameLst>
                                      </p:cBhvr>
                                      <p:to>
                                        <p:strVal val="visible"/>
                                      </p:to>
                                    </p:set>
                                    <p:animEffect transition="in" filter="dissolve">
                                      <p:cBhvr>
                                        <p:cTn id="15" dur="500"/>
                                        <p:tgtEl>
                                          <p:spTgt spid="148483">
                                            <p:txEl>
                                              <p:charRg st="77" end="9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48483">
                                            <p:txEl>
                                              <p:charRg st="90" end="136"/>
                                            </p:txEl>
                                          </p:spTgt>
                                        </p:tgtEl>
                                        <p:attrNameLst>
                                          <p:attrName>style.visibility</p:attrName>
                                        </p:attrNameLst>
                                      </p:cBhvr>
                                      <p:to>
                                        <p:strVal val="visible"/>
                                      </p:to>
                                    </p:set>
                                    <p:animEffect transition="in" filter="dissolve">
                                      <p:cBhvr>
                                        <p:cTn id="18" dur="500"/>
                                        <p:tgtEl>
                                          <p:spTgt spid="148483">
                                            <p:txEl>
                                              <p:charRg st="90" end="136"/>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48483">
                                            <p:txEl>
                                              <p:charRg st="168" end="202"/>
                                            </p:txEl>
                                          </p:spTgt>
                                        </p:tgtEl>
                                        <p:attrNameLst>
                                          <p:attrName>style.visibility</p:attrName>
                                        </p:attrNameLst>
                                      </p:cBhvr>
                                      <p:to>
                                        <p:strVal val="visible"/>
                                      </p:to>
                                    </p:set>
                                    <p:animEffect transition="in" filter="dissolve">
                                      <p:cBhvr>
                                        <p:cTn id="23" dur="500"/>
                                        <p:tgtEl>
                                          <p:spTgt spid="148483">
                                            <p:txEl>
                                              <p:charRg st="168" end="202"/>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48483">
                                            <p:txEl>
                                              <p:charRg st="136" end="168"/>
                                            </p:txEl>
                                          </p:spTgt>
                                        </p:tgtEl>
                                        <p:attrNameLst>
                                          <p:attrName>style.visibility</p:attrName>
                                        </p:attrNameLst>
                                      </p:cBhvr>
                                      <p:to>
                                        <p:strVal val="visible"/>
                                      </p:to>
                                    </p:set>
                                    <p:animEffect transition="in" filter="dissolve">
                                      <p:cBhvr>
                                        <p:cTn id="26" dur="500"/>
                                        <p:tgtEl>
                                          <p:spTgt spid="148483">
                                            <p:txEl>
                                              <p:charRg st="136" end="16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0531" name="Rectangle 3"/>
          <p:cNvSpPr/>
          <p:nvPr/>
        </p:nvSpPr>
        <p:spPr>
          <a:xfrm>
            <a:off x="231775" y="827088"/>
            <a:ext cx="8661400" cy="54578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38</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无杂散动态范围</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SFDR</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输入信号有效值与峰值杂散信号有效值之间的分贝值之差。</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39</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互调失真</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IMD</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lnSpc>
                <a:spcPct val="110000"/>
              </a:lnSpc>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当输入信号由频率为</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zh-CN" altLang="en-US" dirty="0">
                <a:solidFill>
                  <a:srgbClr val="000066"/>
                </a:solidFill>
                <a:latin typeface="黑体" panose="02010609060101010101" pitchFamily="49" charset="-122"/>
                <a:ea typeface="黑体" panose="02010609060101010101" pitchFamily="49" charset="-122"/>
              </a:rPr>
              <a:t>和</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b</a:t>
            </a:r>
            <a:r>
              <a:rPr lang="zh-CN" altLang="en-US" dirty="0">
                <a:solidFill>
                  <a:srgbClr val="000066"/>
                </a:solidFill>
                <a:latin typeface="黑体" panose="02010609060101010101" pitchFamily="49" charset="-122"/>
                <a:ea typeface="黑体" panose="02010609060101010101" pitchFamily="49" charset="-122"/>
              </a:rPr>
              <a:t>的两个正弦波组成时，经过非线性器件后将产生</a:t>
            </a:r>
            <a:r>
              <a:rPr lang="en-US" altLang="zh-CN" dirty="0">
                <a:solidFill>
                  <a:srgbClr val="000066"/>
                </a:solidFill>
                <a:latin typeface="黑体" panose="02010609060101010101" pitchFamily="49" charset="-122"/>
                <a:ea typeface="黑体" panose="02010609060101010101" pitchFamily="49" charset="-122"/>
              </a:rPr>
              <a:t>(m+n)</a:t>
            </a:r>
            <a:r>
              <a:rPr lang="zh-CN" altLang="en-US" dirty="0">
                <a:solidFill>
                  <a:srgbClr val="000066"/>
                </a:solidFill>
                <a:latin typeface="黑体" panose="02010609060101010101" pitchFamily="49" charset="-122"/>
                <a:ea typeface="黑体" panose="02010609060101010101" pitchFamily="49" charset="-122"/>
              </a:rPr>
              <a:t>阶失真分量，其频率成分包含</a:t>
            </a:r>
            <a:r>
              <a:rPr lang="en-US" altLang="zh-CN" dirty="0">
                <a:solidFill>
                  <a:srgbClr val="000066"/>
                </a:solidFill>
                <a:latin typeface="黑体" panose="02010609060101010101" pitchFamily="49" charset="-122"/>
                <a:ea typeface="黑体" panose="02010609060101010101" pitchFamily="49" charset="-122"/>
              </a:rPr>
              <a:t>mf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±nf</a:t>
            </a:r>
            <a:r>
              <a:rPr lang="en-US" altLang="zh-CN" baseline="-25000" dirty="0">
                <a:solidFill>
                  <a:srgbClr val="000066"/>
                </a:solidFill>
                <a:latin typeface="黑体" panose="02010609060101010101" pitchFamily="49" charset="-122"/>
                <a:ea typeface="黑体" panose="02010609060101010101" pitchFamily="49" charset="-122"/>
              </a:rPr>
              <a:t>b</a:t>
            </a:r>
            <a:r>
              <a:rPr lang="zh-CN" altLang="en-US" dirty="0">
                <a:solidFill>
                  <a:srgbClr val="000066"/>
                </a:solidFill>
                <a:latin typeface="黑体" panose="02010609060101010101" pitchFamily="49" charset="-122"/>
                <a:ea typeface="黑体" panose="02010609060101010101" pitchFamily="49" charset="-122"/>
              </a:rPr>
              <a:t>的和频及差频。例如，互调失真二次项为</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和</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，三次项为</a:t>
            </a:r>
            <a:r>
              <a:rPr lang="en-US" altLang="zh-CN" dirty="0">
                <a:solidFill>
                  <a:srgbClr val="000066"/>
                </a:solidFill>
                <a:latin typeface="黑体" panose="02010609060101010101" pitchFamily="49" charset="-122"/>
                <a:ea typeface="黑体" panose="02010609060101010101" pitchFamily="49" charset="-122"/>
              </a:rPr>
              <a:t>(2f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a:t>
            </a:r>
            <a:r>
              <a:rPr lang="en-US" altLang="zh-CN" dirty="0">
                <a:solidFill>
                  <a:srgbClr val="000066"/>
                </a:solidFill>
                <a:latin typeface="黑体" panose="02010609060101010101" pitchFamily="49" charset="-122"/>
                <a:ea typeface="黑体" panose="02010609060101010101" pitchFamily="49" charset="-122"/>
              </a:rPr>
              <a:t>(2f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+2f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和</a:t>
            </a:r>
            <a:r>
              <a:rPr lang="en-US" altLang="zh-CN" dirty="0">
                <a:solidFill>
                  <a:srgbClr val="000066"/>
                </a:solidFill>
                <a:latin typeface="黑体" panose="02010609060101010101" pitchFamily="49" charset="-122"/>
                <a:ea typeface="黑体" panose="02010609060101010101" pitchFamily="49" charset="-122"/>
              </a:rPr>
              <a:t>(f</a:t>
            </a:r>
            <a:r>
              <a:rPr lang="en-US" altLang="zh-CN" baseline="-25000" dirty="0">
                <a:solidFill>
                  <a:srgbClr val="000066"/>
                </a:solidFill>
                <a:latin typeface="黑体" panose="02010609060101010101" pitchFamily="49" charset="-122"/>
                <a:ea typeface="黑体" panose="02010609060101010101" pitchFamily="49" charset="-122"/>
              </a:rPr>
              <a:t>a</a:t>
            </a:r>
            <a:r>
              <a:rPr lang="en-US" altLang="zh-CN" dirty="0">
                <a:solidFill>
                  <a:srgbClr val="000066"/>
                </a:solidFill>
                <a:latin typeface="黑体" panose="02010609060101010101" pitchFamily="49" charset="-122"/>
                <a:ea typeface="黑体" panose="02010609060101010101" pitchFamily="49" charset="-122"/>
              </a:rPr>
              <a:t>-2f</a:t>
            </a:r>
            <a:r>
              <a:rPr lang="en-US" altLang="zh-CN" baseline="-25000" dirty="0">
                <a:solidFill>
                  <a:srgbClr val="000066"/>
                </a:solidFill>
                <a:latin typeface="黑体" panose="02010609060101010101" pitchFamily="49" charset="-122"/>
                <a:ea typeface="黑体" panose="02010609060101010101" pitchFamily="49" charset="-122"/>
              </a:rPr>
              <a:t>b</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。互调失真地大小用失真总有效值与输入信号总有效值之比的分贝数表示。</a:t>
            </a: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0531">
                                            <p:txEl>
                                              <p:charRg st="0" end="16"/>
                                            </p:txEl>
                                          </p:spTgt>
                                        </p:tgtEl>
                                        <p:attrNameLst>
                                          <p:attrName>style.visibility</p:attrName>
                                        </p:attrNameLst>
                                      </p:cBhvr>
                                      <p:to>
                                        <p:strVal val="visible"/>
                                      </p:to>
                                    </p:set>
                                    <p:animEffect transition="in" filter="dissolve">
                                      <p:cBhvr>
                                        <p:cTn id="7" dur="500"/>
                                        <p:tgtEl>
                                          <p:spTgt spid="150531">
                                            <p:txEl>
                                              <p:charRg st="0" end="1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50531">
                                            <p:txEl>
                                              <p:charRg st="16" end="44"/>
                                            </p:txEl>
                                          </p:spTgt>
                                        </p:tgtEl>
                                        <p:attrNameLst>
                                          <p:attrName>style.visibility</p:attrName>
                                        </p:attrNameLst>
                                      </p:cBhvr>
                                      <p:to>
                                        <p:strVal val="visible"/>
                                      </p:to>
                                    </p:set>
                                    <p:animEffect transition="in" filter="dissolve">
                                      <p:cBhvr>
                                        <p:cTn id="10" dur="500"/>
                                        <p:tgtEl>
                                          <p:spTgt spid="150531">
                                            <p:txEl>
                                              <p:charRg st="16" end="44"/>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50531">
                                            <p:txEl>
                                              <p:charRg st="44" end="56"/>
                                            </p:txEl>
                                          </p:spTgt>
                                        </p:tgtEl>
                                        <p:attrNameLst>
                                          <p:attrName>style.visibility</p:attrName>
                                        </p:attrNameLst>
                                      </p:cBhvr>
                                      <p:to>
                                        <p:strVal val="visible"/>
                                      </p:to>
                                    </p:set>
                                    <p:animEffect transition="in" filter="dissolve">
                                      <p:cBhvr>
                                        <p:cTn id="15" dur="500"/>
                                        <p:tgtEl>
                                          <p:spTgt spid="150531">
                                            <p:txEl>
                                              <p:charRg st="44" end="5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0531">
                                            <p:txEl>
                                              <p:charRg st="56" end="224"/>
                                            </p:txEl>
                                          </p:spTgt>
                                        </p:tgtEl>
                                        <p:attrNameLst>
                                          <p:attrName>style.visibility</p:attrName>
                                        </p:attrNameLst>
                                      </p:cBhvr>
                                      <p:to>
                                        <p:strVal val="visible"/>
                                      </p:to>
                                    </p:set>
                                    <p:animEffect transition="in" filter="dissolve">
                                      <p:cBhvr>
                                        <p:cTn id="18" dur="500"/>
                                        <p:tgtEl>
                                          <p:spTgt spid="150531">
                                            <p:txEl>
                                              <p:charRg st="56" end="22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84322" name="Rectangle 2"/>
          <p:cNvSpPr/>
          <p:nvPr/>
        </p:nvSpPr>
        <p:spPr>
          <a:xfrm>
            <a:off x="231775" y="827088"/>
            <a:ext cx="8661400" cy="2308225"/>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40</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右对齐</a:t>
            </a:r>
            <a:r>
              <a:rPr lang="zh-CN" altLang="en-US" dirty="0">
                <a:solidFill>
                  <a:srgbClr val="FF3300"/>
                </a:solidFill>
                <a:latin typeface="黑体" panose="02010609060101010101" pitchFamily="49" charset="-122"/>
                <a:ea typeface="黑体" panose="02010609060101010101" pitchFamily="49" charset="-122"/>
              </a:rPr>
              <a:t>和</a:t>
            </a:r>
            <a:r>
              <a:rPr lang="zh-CN" altLang="zh-CN" dirty="0">
                <a:solidFill>
                  <a:srgbClr val="FF3300"/>
                </a:solidFill>
                <a:latin typeface="黑体" panose="02010609060101010101" pitchFamily="49" charset="-122"/>
                <a:ea typeface="黑体" panose="02010609060101010101" pitchFamily="49" charset="-122"/>
              </a:rPr>
              <a:t>左对齐</a:t>
            </a:r>
            <a:r>
              <a:rPr lang="zh-CN" altLang="en-US" dirty="0">
                <a:solidFill>
                  <a:srgbClr val="FF3300"/>
                </a:solidFill>
                <a:latin typeface="黑体" panose="02010609060101010101" pitchFamily="49" charset="-122"/>
                <a:ea typeface="黑体" panose="02010609060101010101" pitchFamily="49" charset="-122"/>
              </a:rPr>
              <a:t> </a:t>
            </a:r>
            <a:r>
              <a:rPr lang="zh-CN" altLang="zh-CN" dirty="0">
                <a:solidFill>
                  <a:srgbClr val="FF3300"/>
                </a:solidFill>
                <a:latin typeface="黑体" panose="02010609060101010101" pitchFamily="49" charset="-122"/>
                <a:ea typeface="黑体" panose="02010609060101010101" pitchFamily="49" charset="-122"/>
              </a:rPr>
              <a:t>Right-justify</a:t>
            </a:r>
            <a:r>
              <a:rPr lang="zh-CN" altLang="en-US" dirty="0">
                <a:solidFill>
                  <a:srgbClr val="FF3300"/>
                </a:solidFill>
                <a:latin typeface="黑体" panose="02010609060101010101" pitchFamily="49" charset="-122"/>
                <a:ea typeface="黑体" panose="02010609060101010101" pitchFamily="49" charset="-122"/>
              </a:rPr>
              <a:t>,</a:t>
            </a:r>
            <a:r>
              <a:rPr lang="zh-CN" altLang="zh-CN" dirty="0">
                <a:solidFill>
                  <a:srgbClr val="FF3300"/>
                </a:solidFill>
                <a:latin typeface="黑体" panose="02010609060101010101" pitchFamily="49" charset="-122"/>
                <a:ea typeface="黑体" panose="02010609060101010101" pitchFamily="49" charset="-122"/>
              </a:rPr>
              <a:t>Left-justify</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a:t>
            </a:r>
            <a:r>
              <a:rPr lang="zh-CN" altLang="en-US" dirty="0">
                <a:solidFill>
                  <a:srgbClr val="000066"/>
                </a:solidFill>
                <a:latin typeface="黑体" panose="02010609060101010101" pitchFamily="49" charset="-122"/>
                <a:ea typeface="黑体" panose="02010609060101010101" pitchFamily="49" charset="-122"/>
              </a:rPr>
              <a:t>的位数不是一个字节的整数倍时，按最低有效位对齐称为右对齐方式，按最高有效位对齐称为左对齐方式，不足的位补</a:t>
            </a:r>
            <a:r>
              <a:rPr lang="en-US" altLang="zh-CN" dirty="0">
                <a:solidFill>
                  <a:srgbClr val="000066"/>
                </a:solidFill>
                <a:latin typeface="黑体" panose="02010609060101010101" pitchFamily="49" charset="-122"/>
                <a:ea typeface="黑体" panose="02010609060101010101" pitchFamily="49" charset="-122"/>
              </a:rPr>
              <a:t>0</a:t>
            </a:r>
            <a:r>
              <a:rPr lang="zh-CN" altLang="en-US" dirty="0">
                <a:solidFill>
                  <a:srgbClr val="000066"/>
                </a:solidFill>
                <a:latin typeface="黑体" panose="02010609060101010101" pitchFamily="49" charset="-122"/>
                <a:ea typeface="黑体" panose="02010609060101010101" pitchFamily="49" charset="-122"/>
              </a:rPr>
              <a:t>。</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50000"/>
              </a:spcBef>
              <a:buSzPct val="75000"/>
              <a:buFont typeface="Wingdings" panose="05000000000000000000" pitchFamily="2" charset="2"/>
            </a:pPr>
            <a:endParaRPr lang="zh-CN" altLang="en-US" dirty="0">
              <a:solidFill>
                <a:srgbClr val="000066"/>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608965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6.1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常用术语和主要技术指标</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graphicFrame>
        <p:nvGraphicFramePr>
          <p:cNvPr id="184380" name="Group 60"/>
          <p:cNvGraphicFramePr>
            <a:graphicFrameLocks noGrp="1"/>
          </p:cNvGraphicFramePr>
          <p:nvPr/>
        </p:nvGraphicFramePr>
        <p:xfrm>
          <a:off x="333375" y="3135313"/>
          <a:ext cx="8489950" cy="2055813"/>
        </p:xfrm>
        <a:graphic>
          <a:graphicData uri="http://schemas.openxmlformats.org/drawingml/2006/table">
            <a:tbl>
              <a:tblPr/>
              <a:tblGrid>
                <a:gridCol w="636588"/>
                <a:gridCol w="1042987"/>
                <a:gridCol w="6810375"/>
              </a:tblGrid>
              <a:tr h="623433">
                <a:tc gridSpan="2">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16</a:t>
                      </a:r>
                      <a:r>
                        <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位存储器</a:t>
                      </a:r>
                      <a:endPar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cPr/>
                </a:tc>
                <a:tc>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15</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14</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13</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12</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11</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10</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9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8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7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6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5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4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3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2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0</a:t>
                      </a:r>
                      <a:endPar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24960">
                <a:tc rowSpan="2">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12</a:t>
                      </a:r>
                      <a:r>
                        <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位数据</a:t>
                      </a:r>
                      <a:endPar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右对齐</a:t>
                      </a:r>
                      <a:endPar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0    0    0    0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11</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10</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9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8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7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6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5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4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3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2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0</a:t>
                      </a:r>
                      <a:endPar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707419">
                <a:tc vMerge="1">
                  <a:tcPr/>
                </a:tc>
                <a:tc>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左对齐</a:t>
                      </a:r>
                      <a:endPar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pP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11</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10</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9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8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7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6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5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4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3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2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1  </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d</a:t>
                      </a:r>
                      <a:r>
                        <a:rPr kumimoji="0" lang="en-US" altLang="zh-CN" sz="2200" b="1" i="0" u="none" strike="noStrike" cap="none" normalizeH="0" baseline="-25000">
                          <a:ln>
                            <a:noFill/>
                          </a:ln>
                          <a:solidFill>
                            <a:srgbClr val="000066"/>
                          </a:solidFill>
                          <a:effectLst/>
                          <a:latin typeface="Arial" panose="020B0604020202020204" pitchFamily="34" charset="0"/>
                          <a:ea typeface="宋体" panose="02010600030101010101" pitchFamily="2" charset="-122"/>
                        </a:rPr>
                        <a:t>0</a:t>
                      </a:r>
                      <a:r>
                        <a:rPr kumimoji="0" lang="en-US" altLang="zh-CN" sz="2200" b="1" i="0" u="none" strike="noStrike" cap="none" normalizeH="0" baseline="0">
                          <a:ln>
                            <a:noFill/>
                          </a:ln>
                          <a:solidFill>
                            <a:srgbClr val="000066"/>
                          </a:solidFill>
                          <a:effectLst/>
                          <a:latin typeface="Arial" panose="020B0604020202020204" pitchFamily="34" charset="0"/>
                          <a:ea typeface="宋体" panose="02010600030101010101" pitchFamily="2" charset="-122"/>
                        </a:rPr>
                        <a:t>  0   0   0   0</a:t>
                      </a:r>
                      <a:endParaRPr kumimoji="0" lang="zh-CN" altLang="en-US" sz="22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687" marB="4568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4322">
                                            <p:txEl>
                                              <p:charRg st="0" end="38"/>
                                            </p:txEl>
                                          </p:spTgt>
                                        </p:tgtEl>
                                        <p:attrNameLst>
                                          <p:attrName>style.visibility</p:attrName>
                                        </p:attrNameLst>
                                      </p:cBhvr>
                                      <p:to>
                                        <p:strVal val="visible"/>
                                      </p:to>
                                    </p:set>
                                    <p:animEffect transition="in" filter="dissolve">
                                      <p:cBhvr>
                                        <p:cTn id="7" dur="500"/>
                                        <p:tgtEl>
                                          <p:spTgt spid="184322">
                                            <p:txEl>
                                              <p:charRg st="0" end="38"/>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84322">
                                            <p:txEl>
                                              <p:charRg st="38" end="97"/>
                                            </p:txEl>
                                          </p:spTgt>
                                        </p:tgtEl>
                                        <p:attrNameLst>
                                          <p:attrName>style.visibility</p:attrName>
                                        </p:attrNameLst>
                                      </p:cBhvr>
                                      <p:to>
                                        <p:strVal val="visible"/>
                                      </p:to>
                                    </p:set>
                                    <p:animEffect transition="in" filter="dissolve">
                                      <p:cBhvr>
                                        <p:cTn id="10" dur="500"/>
                                        <p:tgtEl>
                                          <p:spTgt spid="184322">
                                            <p:txEl>
                                              <p:charRg st="38" end="97"/>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380"/>
                                        </p:tgtEl>
                                        <p:attrNameLst>
                                          <p:attrName>style.visibility</p:attrName>
                                        </p:attrNameLst>
                                      </p:cBhvr>
                                      <p:to>
                                        <p:strVal val="visible"/>
                                      </p:to>
                                    </p:set>
                                    <p:animEffect transition="in" filter="dissolve">
                                      <p:cBhvr>
                                        <p:cTn id="15" dur="500"/>
                                        <p:tgtEl>
                                          <p:spTgt spid="1843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20" name="Text Box 88"/>
          <p:cNvSpPr txBox="1"/>
          <p:nvPr/>
        </p:nvSpPr>
        <p:spPr>
          <a:xfrm>
            <a:off x="141288" y="1782763"/>
            <a:ext cx="1114425" cy="530225"/>
          </a:xfrm>
          <a:prstGeom prst="rect">
            <a:avLst/>
          </a:prstGeom>
          <a:solidFill>
            <a:srgbClr val="99CCFF"/>
          </a:solidFill>
          <a:ln w="9525">
            <a:noFill/>
          </a:ln>
        </p:spPr>
        <p:txBody>
          <a:bodyPr>
            <a:spAutoFit/>
          </a:bodyPr>
          <a:p>
            <a:pPr algn="ctr" eaLnBrk="1" hangingPunct="1">
              <a:lnSpc>
                <a:spcPct val="90000"/>
              </a:lnSpc>
            </a:pPr>
            <a:r>
              <a:rPr lang="zh-CN" altLang="en-US" sz="3200" dirty="0">
                <a:latin typeface="Times New Roman" panose="02020603050405020304" pitchFamily="18" charset="0"/>
              </a:rPr>
              <a:t>分类</a:t>
            </a:r>
            <a:r>
              <a:rPr lang="en-US" altLang="zh-CN" sz="3200" dirty="0">
                <a:latin typeface="Times New Roman" panose="02020603050405020304" pitchFamily="18" charset="0"/>
              </a:rPr>
              <a:t>:</a:t>
            </a:r>
            <a:endParaRPr lang="en-US" altLang="zh-CN" sz="3200" dirty="0">
              <a:latin typeface="Times New Roman" panose="02020603050405020304" pitchFamily="18" charset="0"/>
            </a:endParaRPr>
          </a:p>
        </p:txBody>
      </p:sp>
      <p:sp>
        <p:nvSpPr>
          <p:cNvPr id="1554522" name="Text Box 90"/>
          <p:cNvSpPr txBox="1"/>
          <p:nvPr/>
        </p:nvSpPr>
        <p:spPr>
          <a:xfrm>
            <a:off x="1243013" y="2392363"/>
            <a:ext cx="7900987" cy="860425"/>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dirty="0">
                <a:solidFill>
                  <a:srgbClr val="3333FF"/>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按工作原理：</a:t>
            </a:r>
            <a:r>
              <a:rPr lang="zh-CN" altLang="en-US" dirty="0">
                <a:solidFill>
                  <a:schemeClr val="tx1"/>
                </a:solidFill>
                <a:latin typeface="黑体" panose="02010609060101010101" pitchFamily="49" charset="-122"/>
                <a:ea typeface="黑体" panose="02010609060101010101" pitchFamily="49" charset="-122"/>
              </a:rPr>
              <a:t>并行比较型、分级型、逐次逼近型、跟踪计数型、积分型、压频转换型、</a:t>
            </a:r>
            <a:r>
              <a:rPr lang="el-GR" altLang="zh-CN" dirty="0">
                <a:solidFill>
                  <a:schemeClr val="tx1"/>
                </a:solidFill>
                <a:latin typeface="黑体" panose="02010609060101010101" pitchFamily="49" charset="-122"/>
                <a:ea typeface="黑体" panose="02010609060101010101" pitchFamily="49" charset="-122"/>
              </a:rPr>
              <a:t>Σ</a:t>
            </a:r>
            <a:r>
              <a:rPr lang="en-US" altLang="zh-CN" dirty="0">
                <a:solidFill>
                  <a:schemeClr val="tx1"/>
                </a:solidFill>
                <a:latin typeface="黑体" panose="02010609060101010101" pitchFamily="49" charset="-122"/>
                <a:ea typeface="黑体" panose="02010609060101010101" pitchFamily="49" charset="-122"/>
              </a:rPr>
              <a:t>-</a:t>
            </a:r>
            <a:r>
              <a:rPr lang="el-GR" altLang="zh-CN" dirty="0">
                <a:solidFill>
                  <a:schemeClr val="tx1"/>
                </a:solidFill>
                <a:latin typeface="黑体" panose="02010609060101010101" pitchFamily="49" charset="-122"/>
                <a:ea typeface="黑体" panose="02010609060101010101" pitchFamily="49" charset="-122"/>
              </a:rPr>
              <a:t>Δ</a:t>
            </a:r>
            <a:r>
              <a:rPr lang="zh-CN" altLang="en-US" dirty="0">
                <a:solidFill>
                  <a:schemeClr val="tx1"/>
                </a:solidFill>
                <a:latin typeface="黑体" panose="02010609060101010101" pitchFamily="49" charset="-122"/>
                <a:ea typeface="黑体" panose="02010609060101010101" pitchFamily="49" charset="-122"/>
              </a:rPr>
              <a:t>型</a:t>
            </a:r>
            <a:endParaRPr lang="zh-CN" altLang="el-GR" dirty="0">
              <a:solidFill>
                <a:schemeClr val="tx1"/>
              </a:solidFill>
              <a:latin typeface="黑体" panose="02010609060101010101" pitchFamily="49" charset="-122"/>
              <a:ea typeface="黑体" panose="02010609060101010101" pitchFamily="49" charset="-122"/>
            </a:endParaRPr>
          </a:p>
        </p:txBody>
      </p:sp>
      <p:sp>
        <p:nvSpPr>
          <p:cNvPr id="1554524" name="Text Box 92"/>
          <p:cNvSpPr txBox="1"/>
          <p:nvPr/>
        </p:nvSpPr>
        <p:spPr>
          <a:xfrm>
            <a:off x="1255713" y="3360738"/>
            <a:ext cx="7888287" cy="476250"/>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dirty="0">
                <a:solidFill>
                  <a:srgbClr val="FF0000"/>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按分辨率：</a:t>
            </a:r>
            <a:r>
              <a:rPr lang="zh-CN" altLang="en-US" dirty="0">
                <a:solidFill>
                  <a:schemeClr val="tx1"/>
                </a:solidFill>
                <a:latin typeface="黑体" panose="02010609060101010101" pitchFamily="49" charset="-122"/>
                <a:ea typeface="黑体" panose="02010609060101010101" pitchFamily="49" charset="-122"/>
              </a:rPr>
              <a:t>高</a:t>
            </a:r>
            <a:r>
              <a:rPr lang="en-US" altLang="zh-CN" dirty="0">
                <a:solidFill>
                  <a:schemeClr val="tx1"/>
                </a:solidFill>
                <a:latin typeface="Times New Roman" panose="02020603050405020304" pitchFamily="18" charset="0"/>
                <a:ea typeface="黑体" panose="02010609060101010101" pitchFamily="49" charset="-122"/>
              </a:rPr>
              <a:t>(&gt;16)</a:t>
            </a:r>
            <a:r>
              <a:rPr lang="zh-CN" altLang="en-US" dirty="0">
                <a:solidFill>
                  <a:schemeClr val="tx1"/>
                </a:solidFill>
                <a:latin typeface="黑体" panose="02010609060101010101" pitchFamily="49" charset="-122"/>
                <a:ea typeface="黑体" panose="02010609060101010101" pitchFamily="49" charset="-122"/>
              </a:rPr>
              <a:t>、中</a:t>
            </a:r>
            <a:r>
              <a:rPr lang="en-US" altLang="zh-CN" dirty="0">
                <a:solidFill>
                  <a:schemeClr val="tx1"/>
                </a:solidFill>
                <a:latin typeface="Times New Roman" panose="02020603050405020304" pitchFamily="18" charset="0"/>
                <a:ea typeface="黑体" panose="02010609060101010101" pitchFamily="49" charset="-122"/>
              </a:rPr>
              <a:t>(9-16)</a:t>
            </a:r>
            <a:r>
              <a:rPr lang="zh-CN" altLang="en-US" dirty="0">
                <a:solidFill>
                  <a:schemeClr val="tx1"/>
                </a:solidFill>
                <a:latin typeface="黑体" panose="02010609060101010101" pitchFamily="49" charset="-122"/>
                <a:ea typeface="黑体" panose="02010609060101010101" pitchFamily="49" charset="-122"/>
              </a:rPr>
              <a:t>、低</a:t>
            </a:r>
            <a:r>
              <a:rPr lang="en-US" altLang="zh-CN" dirty="0">
                <a:solidFill>
                  <a:schemeClr val="tx1"/>
                </a:solidFill>
                <a:latin typeface="Times New Roman" panose="02020603050405020304" pitchFamily="18" charset="0"/>
                <a:ea typeface="黑体" panose="02010609060101010101" pitchFamily="49" charset="-122"/>
              </a:rPr>
              <a:t>(</a:t>
            </a:r>
            <a:r>
              <a:rPr lang="en-US" altLang="en-US" dirty="0">
                <a:solidFill>
                  <a:schemeClr val="tx1"/>
                </a:solidFill>
                <a:latin typeface="Times New Roman" panose="02020603050405020304" pitchFamily="18" charset="0"/>
                <a:ea typeface="黑体" panose="02010609060101010101" pitchFamily="49" charset="-122"/>
              </a:rPr>
              <a:t>≤</a:t>
            </a:r>
            <a:r>
              <a:rPr lang="en-US" altLang="zh-CN" dirty="0">
                <a:solidFill>
                  <a:schemeClr val="tx1"/>
                </a:solidFill>
                <a:latin typeface="Times New Roman" panose="02020603050405020304" pitchFamily="18" charset="0"/>
                <a:ea typeface="黑体" panose="02010609060101010101" pitchFamily="49" charset="-122"/>
              </a:rPr>
              <a:t>8)</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1554526" name="Text Box 94"/>
          <p:cNvSpPr txBox="1"/>
          <p:nvPr/>
        </p:nvSpPr>
        <p:spPr>
          <a:xfrm>
            <a:off x="1255713" y="3954463"/>
            <a:ext cx="7583487" cy="476250"/>
          </a:xfrm>
          <a:prstGeom prst="rect">
            <a:avLst/>
          </a:prstGeom>
          <a:noFill/>
          <a:ln w="9525">
            <a:noFill/>
          </a:ln>
        </p:spPr>
        <p:txBody>
          <a:bodyPr>
            <a:spAutoFit/>
          </a:bodyPr>
          <a:p>
            <a:pPr eaLnBrk="1" hangingPunct="1">
              <a:lnSpc>
                <a:spcPct val="90000"/>
              </a:lnSpc>
              <a:spcAft>
                <a:spcPct val="20000"/>
              </a:spcAft>
              <a:buClr>
                <a:srgbClr val="FF0000"/>
              </a:buClr>
              <a:buFont typeface="Wingdings" panose="05000000000000000000" pitchFamily="2" charset="2"/>
              <a:buChar char="u"/>
            </a:pPr>
            <a:r>
              <a:rPr lang="en-US" altLang="zh-CN" dirty="0">
                <a:solidFill>
                  <a:srgbClr val="FF0000"/>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按转换速率：</a:t>
            </a:r>
            <a:r>
              <a:rPr lang="zh-CN" altLang="en-US" dirty="0">
                <a:solidFill>
                  <a:schemeClr val="tx1"/>
                </a:solidFill>
                <a:latin typeface="黑体" panose="02010609060101010101" pitchFamily="49" charset="-122"/>
                <a:ea typeface="黑体" panose="02010609060101010101" pitchFamily="49" charset="-122"/>
              </a:rPr>
              <a:t>高</a:t>
            </a:r>
            <a:r>
              <a:rPr lang="en-US" altLang="zh-CN" dirty="0">
                <a:solidFill>
                  <a:schemeClr val="tx1"/>
                </a:solidFill>
                <a:latin typeface="黑体" panose="02010609060101010101" pitchFamily="49" charset="-122"/>
                <a:ea typeface="黑体" panose="02010609060101010101" pitchFamily="49" charset="-122"/>
              </a:rPr>
              <a:t>(ns)</a:t>
            </a:r>
            <a:r>
              <a:rPr lang="zh-CN" altLang="en-US" dirty="0">
                <a:solidFill>
                  <a:schemeClr val="tx1"/>
                </a:solidFill>
                <a:latin typeface="黑体" panose="02010609060101010101" pitchFamily="49" charset="-122"/>
                <a:ea typeface="黑体" panose="02010609060101010101" pitchFamily="49" charset="-122"/>
              </a:rPr>
              <a:t>、中</a:t>
            </a:r>
            <a:r>
              <a:rPr lang="en-US" altLang="zh-CN" dirty="0">
                <a:solidFill>
                  <a:schemeClr val="tx1"/>
                </a:solidFill>
                <a:latin typeface="黑体" panose="02010609060101010101" pitchFamily="49" charset="-122"/>
                <a:ea typeface="黑体" panose="02010609060101010101" pitchFamily="49" charset="-122"/>
              </a:rPr>
              <a:t>(us)</a:t>
            </a:r>
            <a:r>
              <a:rPr lang="zh-CN" altLang="en-US" dirty="0">
                <a:solidFill>
                  <a:schemeClr val="tx1"/>
                </a:solidFill>
                <a:latin typeface="黑体" panose="02010609060101010101" pitchFamily="49" charset="-122"/>
                <a:ea typeface="黑体" panose="02010609060101010101" pitchFamily="49" charset="-122"/>
              </a:rPr>
              <a:t>、低</a:t>
            </a:r>
            <a:r>
              <a:rPr lang="en-US" altLang="zh-CN" dirty="0">
                <a:solidFill>
                  <a:schemeClr val="tx1"/>
                </a:solidFill>
                <a:latin typeface="黑体" panose="02010609060101010101" pitchFamily="49" charset="-122"/>
                <a:ea typeface="黑体" panose="02010609060101010101" pitchFamily="49" charset="-122"/>
              </a:rPr>
              <a:t>(ms)</a:t>
            </a:r>
            <a:endParaRPr lang="zh-CN" altLang="en-US" dirty="0">
              <a:solidFill>
                <a:schemeClr val="tx1"/>
              </a:solidFill>
              <a:latin typeface="黑体" panose="02010609060101010101" pitchFamily="49" charset="-122"/>
              <a:ea typeface="黑体" panose="02010609060101010101" pitchFamily="49" charset="-122"/>
            </a:endParaRPr>
          </a:p>
        </p:txBody>
      </p:sp>
      <p:sp>
        <p:nvSpPr>
          <p:cNvPr id="1554530" name="Text Box 98"/>
          <p:cNvSpPr txBox="1"/>
          <p:nvPr/>
        </p:nvSpPr>
        <p:spPr>
          <a:xfrm>
            <a:off x="712788" y="647700"/>
            <a:ext cx="7891462" cy="869950"/>
          </a:xfrm>
          <a:prstGeom prst="rect">
            <a:avLst/>
          </a:prstGeom>
          <a:solidFill>
            <a:srgbClr val="FFCC99"/>
          </a:solidFill>
          <a:ln w="9525" cap="flat" cmpd="sng">
            <a:solidFill>
              <a:srgbClr val="FF6600"/>
            </a:solidFill>
            <a:prstDash val="solid"/>
            <a:miter/>
            <a:headEnd type="none" w="med" len="med"/>
            <a:tailEnd type="none" w="med" len="med"/>
          </a:ln>
        </p:spPr>
        <p:txBody>
          <a:bodyPr>
            <a:spAutoFit/>
          </a:bodyPr>
          <a:p>
            <a:pPr eaLnBrk="1" hangingPunct="1">
              <a:lnSpc>
                <a:spcPct val="90000"/>
              </a:lnSpc>
              <a:spcBef>
                <a:spcPct val="50000"/>
              </a:spcBef>
            </a:pPr>
            <a:r>
              <a:rPr lang="zh-CN" altLang="en-US" dirty="0">
                <a:solidFill>
                  <a:schemeClr val="tx1"/>
                </a:solidFill>
                <a:latin typeface="黑体" panose="02010609060101010101" pitchFamily="49" charset="-122"/>
                <a:ea typeface="黑体" panose="02010609060101010101" pitchFamily="49" charset="-122"/>
              </a:rPr>
              <a:t>实现模数转换方法多，不同电路结构的</a:t>
            </a:r>
            <a:r>
              <a:rPr lang="en-US" altLang="zh-CN" dirty="0">
                <a:solidFill>
                  <a:schemeClr val="tx1"/>
                </a:solidFill>
                <a:latin typeface="黑体" panose="02010609060101010101" pitchFamily="49" charset="-122"/>
                <a:ea typeface="黑体" panose="02010609060101010101" pitchFamily="49" charset="-122"/>
              </a:rPr>
              <a:t>ADC</a:t>
            </a:r>
            <a:r>
              <a:rPr lang="zh-CN" altLang="en-US" dirty="0">
                <a:solidFill>
                  <a:schemeClr val="tx1"/>
                </a:solidFill>
                <a:latin typeface="黑体" panose="02010609060101010101" pitchFamily="49" charset="-122"/>
                <a:ea typeface="黑体" panose="02010609060101010101" pitchFamily="49" charset="-122"/>
              </a:rPr>
              <a:t>工作原理差异大，</a:t>
            </a:r>
            <a:r>
              <a:rPr lang="en-US" altLang="zh-CN" dirty="0">
                <a:solidFill>
                  <a:schemeClr val="tx1"/>
                </a:solidFill>
                <a:latin typeface="黑体" panose="02010609060101010101" pitchFamily="49" charset="-122"/>
                <a:ea typeface="黑体" panose="02010609060101010101" pitchFamily="49" charset="-122"/>
              </a:rPr>
              <a:t>ADC</a:t>
            </a:r>
            <a:r>
              <a:rPr lang="zh-CN" altLang="en-US" dirty="0">
                <a:solidFill>
                  <a:schemeClr val="tx1"/>
                </a:solidFill>
                <a:latin typeface="黑体" panose="02010609060101010101" pitchFamily="49" charset="-122"/>
                <a:ea typeface="黑体" panose="02010609060101010101" pitchFamily="49" charset="-122"/>
              </a:rPr>
              <a:t>种类繁多，分类复杂。</a:t>
            </a:r>
            <a:endParaRPr lang="zh-CN" altLang="en-US" dirty="0">
              <a:solidFill>
                <a:schemeClr val="tx1"/>
              </a:solidFill>
              <a:latin typeface="黑体" panose="02010609060101010101" pitchFamily="49" charset="-122"/>
              <a:ea typeface="黑体" panose="02010609060101010101" pitchFamily="49" charset="-122"/>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 name="Text Box 90"/>
          <p:cNvSpPr txBox="1"/>
          <p:nvPr/>
        </p:nvSpPr>
        <p:spPr>
          <a:xfrm>
            <a:off x="1243013" y="1822450"/>
            <a:ext cx="7900987" cy="476250"/>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dirty="0">
                <a:solidFill>
                  <a:srgbClr val="3333FF"/>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按转换关系：</a:t>
            </a:r>
            <a:r>
              <a:rPr lang="zh-CN" altLang="en-US" dirty="0">
                <a:solidFill>
                  <a:schemeClr val="tx1"/>
                </a:solidFill>
                <a:latin typeface="黑体" panose="02010609060101010101" pitchFamily="49" charset="-122"/>
                <a:ea typeface="黑体" panose="02010609060101010101" pitchFamily="49" charset="-122"/>
              </a:rPr>
              <a:t>直接转换型、间接转换型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3" name="Text Box 94"/>
          <p:cNvSpPr txBox="1"/>
          <p:nvPr/>
        </p:nvSpPr>
        <p:spPr>
          <a:xfrm>
            <a:off x="1255713" y="4581525"/>
            <a:ext cx="7583487" cy="860425"/>
          </a:xfrm>
          <a:prstGeom prst="rect">
            <a:avLst/>
          </a:prstGeom>
          <a:noFill/>
          <a:ln w="9525">
            <a:noFill/>
          </a:ln>
        </p:spPr>
        <p:txBody>
          <a:bodyPr>
            <a:spAutoFit/>
          </a:bodyPr>
          <a:p>
            <a:pPr eaLnBrk="1" hangingPunct="1">
              <a:lnSpc>
                <a:spcPct val="90000"/>
              </a:lnSpc>
              <a:spcAft>
                <a:spcPct val="20000"/>
              </a:spcAft>
              <a:buClr>
                <a:srgbClr val="FF0000"/>
              </a:buClr>
              <a:buFont typeface="Wingdings" panose="05000000000000000000" pitchFamily="2" charset="2"/>
              <a:buChar char="u"/>
            </a:pPr>
            <a:r>
              <a:rPr lang="en-US" altLang="zh-CN" dirty="0">
                <a:solidFill>
                  <a:srgbClr val="FF0000"/>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按模拟输入电路：</a:t>
            </a:r>
            <a:r>
              <a:rPr lang="zh-CN" altLang="en-US" dirty="0">
                <a:solidFill>
                  <a:schemeClr val="tx1"/>
                </a:solidFill>
                <a:latin typeface="黑体" panose="02010609060101010101" pitchFamily="49" charset="-122"/>
                <a:ea typeface="黑体" panose="02010609060101010101" pitchFamily="49" charset="-122"/>
              </a:rPr>
              <a:t>采保、模拟多路开关、可编程放大器、差动输入电路</a:t>
            </a:r>
            <a:endParaRPr lang="zh-CN" altLang="en-US" dirty="0">
              <a:solidFill>
                <a:schemeClr val="tx1"/>
              </a:solidFill>
              <a:latin typeface="黑体" panose="02010609060101010101" pitchFamily="49" charset="-122"/>
              <a:ea typeface="黑体" panose="02010609060101010101" pitchFamily="49" charset="-122"/>
            </a:endParaRPr>
          </a:p>
        </p:txBody>
      </p:sp>
      <p:sp>
        <p:nvSpPr>
          <p:cNvPr id="4" name="Text Box 94"/>
          <p:cNvSpPr txBox="1"/>
          <p:nvPr/>
        </p:nvSpPr>
        <p:spPr>
          <a:xfrm>
            <a:off x="1257300" y="5568950"/>
            <a:ext cx="7583488" cy="476250"/>
          </a:xfrm>
          <a:prstGeom prst="rect">
            <a:avLst/>
          </a:prstGeom>
          <a:noFill/>
          <a:ln w="9525">
            <a:noFill/>
          </a:ln>
        </p:spPr>
        <p:txBody>
          <a:bodyPr>
            <a:spAutoFit/>
          </a:bodyPr>
          <a:p>
            <a:pPr eaLnBrk="1" hangingPunct="1">
              <a:lnSpc>
                <a:spcPct val="90000"/>
              </a:lnSpc>
              <a:spcAft>
                <a:spcPct val="20000"/>
              </a:spcAft>
              <a:buClr>
                <a:srgbClr val="FF0000"/>
              </a:buClr>
              <a:buFont typeface="Wingdings" panose="05000000000000000000" pitchFamily="2" charset="2"/>
              <a:buChar char="u"/>
            </a:pPr>
            <a:r>
              <a:rPr lang="en-US" altLang="zh-CN" dirty="0">
                <a:solidFill>
                  <a:srgbClr val="FF0000"/>
                </a:solidFill>
                <a:latin typeface="黑体" panose="02010609060101010101" pitchFamily="49" charset="-122"/>
                <a:ea typeface="黑体" panose="02010609060101010101" pitchFamily="49" charset="-122"/>
              </a:rPr>
              <a:t> </a:t>
            </a:r>
            <a:r>
              <a:rPr lang="zh-CN" altLang="en-US" dirty="0">
                <a:solidFill>
                  <a:srgbClr val="FF0000"/>
                </a:solidFill>
                <a:latin typeface="黑体" panose="02010609060101010101" pitchFamily="49" charset="-122"/>
                <a:ea typeface="黑体" panose="02010609060101010101" pitchFamily="49" charset="-122"/>
              </a:rPr>
              <a:t>按数字输出接口：</a:t>
            </a:r>
            <a:r>
              <a:rPr lang="zh-CN" altLang="en-US" dirty="0">
                <a:solidFill>
                  <a:schemeClr val="tx1"/>
                </a:solidFill>
                <a:latin typeface="黑体" panose="02010609060101010101" pitchFamily="49" charset="-122"/>
                <a:ea typeface="黑体" panose="02010609060101010101" pitchFamily="49" charset="-122"/>
              </a:rPr>
              <a:t>并行接口、串行接口</a:t>
            </a:r>
            <a:endParaRPr lang="zh-CN" altLang="en-US"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54530"/>
                                        </p:tgtEl>
                                        <p:attrNameLst>
                                          <p:attrName>style.visibility</p:attrName>
                                        </p:attrNameLst>
                                      </p:cBhvr>
                                      <p:to>
                                        <p:strVal val="visible"/>
                                      </p:to>
                                    </p:set>
                                    <p:animEffect transition="in" filter="dissolve">
                                      <p:cBhvr>
                                        <p:cTn id="7" dur="500"/>
                                        <p:tgtEl>
                                          <p:spTgt spid="15545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54520"/>
                                        </p:tgtEl>
                                        <p:attrNameLst>
                                          <p:attrName>style.visibility</p:attrName>
                                        </p:attrNameLst>
                                      </p:cBhvr>
                                      <p:to>
                                        <p:strVal val="visible"/>
                                      </p:to>
                                    </p:set>
                                    <p:animEffect transition="in" filter="dissolve">
                                      <p:cBhvr>
                                        <p:cTn id="12" dur="500"/>
                                        <p:tgtEl>
                                          <p:spTgt spid="15545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54522"/>
                                        </p:tgtEl>
                                        <p:attrNameLst>
                                          <p:attrName>style.visibility</p:attrName>
                                        </p:attrNameLst>
                                      </p:cBhvr>
                                      <p:to>
                                        <p:strVal val="visible"/>
                                      </p:to>
                                    </p:set>
                                    <p:animEffect transition="in" filter="dissolve">
                                      <p:cBhvr>
                                        <p:cTn id="22" dur="500"/>
                                        <p:tgtEl>
                                          <p:spTgt spid="155452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554524"/>
                                        </p:tgtEl>
                                        <p:attrNameLst>
                                          <p:attrName>style.visibility</p:attrName>
                                        </p:attrNameLst>
                                      </p:cBhvr>
                                      <p:to>
                                        <p:strVal val="visible"/>
                                      </p:to>
                                    </p:set>
                                    <p:animEffect transition="in" filter="dissolve">
                                      <p:cBhvr>
                                        <p:cTn id="27" dur="500"/>
                                        <p:tgtEl>
                                          <p:spTgt spid="155452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554526"/>
                                        </p:tgtEl>
                                        <p:attrNameLst>
                                          <p:attrName>style.visibility</p:attrName>
                                        </p:attrNameLst>
                                      </p:cBhvr>
                                      <p:to>
                                        <p:strVal val="visible"/>
                                      </p:to>
                                    </p:set>
                                    <p:animEffect transition="in" filter="dissolve">
                                      <p:cBhvr>
                                        <p:cTn id="32" dur="500"/>
                                        <p:tgtEl>
                                          <p:spTgt spid="155452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dissolve">
                                      <p:cBhvr>
                                        <p:cTn id="37" dur="500"/>
                                        <p:tgtEl>
                                          <p:spTgt spid="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dissolv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20" grpId="0" bldLvl="0" animBg="1"/>
      <p:bldP spid="1554522" grpId="0"/>
      <p:bldP spid="1554524" grpId="0"/>
      <p:bldP spid="1554526" grpId="0"/>
      <p:bldP spid="1554530" grpId="0" bldLvl="0" animBg="1"/>
      <p:bldP spid="2" grpId="0"/>
      <p:bldP spid="3" grpId="0"/>
      <p:bldP spid="4"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6" name="Text Box 28"/>
          <p:cNvSpPr txBox="1"/>
          <p:nvPr/>
        </p:nvSpPr>
        <p:spPr>
          <a:xfrm>
            <a:off x="450850" y="692150"/>
            <a:ext cx="3178175"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按转换关系分类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860425"/>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直接转换型：</a:t>
            </a:r>
            <a:r>
              <a:rPr lang="zh-CN" altLang="en-US" dirty="0">
                <a:solidFill>
                  <a:schemeClr val="tx1"/>
                </a:solidFill>
                <a:latin typeface="Times New Roman" panose="02020603050405020304" pitchFamily="18" charset="0"/>
                <a:ea typeface="黑体" panose="02010609060101010101" pitchFamily="49" charset="-122"/>
              </a:rPr>
              <a:t>转换电路把模拟输入信号直接转换成数字信号并输出，无中间量。</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40" name="Text Box 32"/>
          <p:cNvSpPr txBox="1"/>
          <p:nvPr/>
        </p:nvSpPr>
        <p:spPr>
          <a:xfrm>
            <a:off x="825500" y="2276475"/>
            <a:ext cx="6732588" cy="476250"/>
          </a:xfrm>
          <a:prstGeom prst="rect">
            <a:avLst/>
          </a:prstGeom>
          <a:noFill/>
          <a:ln w="9525">
            <a:noFill/>
          </a:ln>
        </p:spPr>
        <p:txBody>
          <a:bodyPr>
            <a:spAutoFit/>
          </a:bodyPr>
          <a:p>
            <a:pPr eaLnBrk="1" hangingPunct="1">
              <a:lnSpc>
                <a:spcPct val="90000"/>
              </a:lnSpc>
            </a:pPr>
            <a:r>
              <a:rPr lang="zh-CN" altLang="en-US" dirty="0">
                <a:solidFill>
                  <a:srgbClr val="800080"/>
                </a:solidFill>
                <a:latin typeface="Times New Roman" panose="02020603050405020304" pitchFamily="18" charset="0"/>
              </a:rPr>
              <a:t>有并行比较型、逐次逼近型等</a:t>
            </a:r>
            <a:endParaRPr lang="en-US" altLang="zh-CN" dirty="0">
              <a:solidFill>
                <a:srgbClr val="800080"/>
              </a:solidFill>
              <a:latin typeface="Times New Roman" panose="02020603050405020304" pitchFamily="18" charset="0"/>
            </a:endParaRPr>
          </a:p>
        </p:txBody>
      </p:sp>
      <p:sp>
        <p:nvSpPr>
          <p:cNvPr id="2244642" name="Text Box 34"/>
          <p:cNvSpPr txBox="1"/>
          <p:nvPr/>
        </p:nvSpPr>
        <p:spPr>
          <a:xfrm>
            <a:off x="825500" y="2744788"/>
            <a:ext cx="5162550" cy="476250"/>
          </a:xfrm>
          <a:prstGeom prst="rect">
            <a:avLst/>
          </a:prstGeom>
          <a:no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rPr>
              <a:t>优点：</a:t>
            </a:r>
            <a:r>
              <a:rPr lang="zh-CN" altLang="en-US" dirty="0">
                <a:solidFill>
                  <a:srgbClr val="3333FF"/>
                </a:solidFill>
                <a:latin typeface="Times New Roman" panose="02020603050405020304" pitchFamily="18" charset="0"/>
              </a:rPr>
              <a:t>瞬时比较，转换速度快。</a:t>
            </a:r>
            <a:endParaRPr lang="zh-CN" altLang="en-US" dirty="0">
              <a:solidFill>
                <a:srgbClr val="3333FF"/>
              </a:solidFill>
              <a:latin typeface="Times New Roman" panose="02020603050405020304" pitchFamily="18" charset="0"/>
            </a:endParaRPr>
          </a:p>
        </p:txBody>
      </p:sp>
      <p:sp>
        <p:nvSpPr>
          <p:cNvPr id="2244644" name="Text Box 36"/>
          <p:cNvSpPr txBox="1"/>
          <p:nvPr/>
        </p:nvSpPr>
        <p:spPr>
          <a:xfrm>
            <a:off x="773113" y="3824288"/>
            <a:ext cx="8099425" cy="860425"/>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间接转换型：</a:t>
            </a:r>
            <a:r>
              <a:rPr lang="zh-CN" altLang="en-US" dirty="0">
                <a:solidFill>
                  <a:schemeClr val="tx1"/>
                </a:solidFill>
                <a:latin typeface="Times New Roman" panose="02020603050405020304" pitchFamily="18" charset="0"/>
                <a:ea typeface="黑体" panose="02010609060101010101" pitchFamily="49" charset="-122"/>
              </a:rPr>
              <a:t>转换电路先把模拟输入信号转换为某个中间变量，再转换成数字信号输出</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47" name="Text Box 39"/>
          <p:cNvSpPr txBox="1"/>
          <p:nvPr/>
        </p:nvSpPr>
        <p:spPr>
          <a:xfrm>
            <a:off x="825500" y="3248025"/>
            <a:ext cx="3740150" cy="476250"/>
          </a:xfrm>
          <a:prstGeom prst="rect">
            <a:avLst/>
          </a:prstGeom>
          <a:no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rPr>
              <a:t>缺点：</a:t>
            </a:r>
            <a:r>
              <a:rPr lang="zh-CN" altLang="en-US" dirty="0">
                <a:solidFill>
                  <a:srgbClr val="3333FF"/>
                </a:solidFill>
                <a:latin typeface="Times New Roman" panose="02020603050405020304" pitchFamily="18" charset="0"/>
              </a:rPr>
              <a:t>抗干扰能力差。</a:t>
            </a:r>
            <a:endParaRPr lang="zh-CN" altLang="en-US" dirty="0">
              <a:solidFill>
                <a:srgbClr val="3333FF"/>
              </a:solidFill>
              <a:latin typeface="Times New Roman" panose="02020603050405020304" pitchFamily="18" charset="0"/>
            </a:endParaRPr>
          </a:p>
        </p:txBody>
      </p:sp>
      <p:sp>
        <p:nvSpPr>
          <p:cNvPr id="2244649" name="Text Box 41"/>
          <p:cNvSpPr txBox="1"/>
          <p:nvPr/>
        </p:nvSpPr>
        <p:spPr>
          <a:xfrm>
            <a:off x="811213" y="4716463"/>
            <a:ext cx="7127875" cy="476250"/>
          </a:xfrm>
          <a:prstGeom prst="rect">
            <a:avLst/>
          </a:prstGeom>
          <a:noFill/>
          <a:ln w="9525">
            <a:noFill/>
          </a:ln>
        </p:spPr>
        <p:txBody>
          <a:bodyPr>
            <a:spAutoFit/>
          </a:bodyPr>
          <a:p>
            <a:pPr eaLnBrk="1" hangingPunct="1">
              <a:lnSpc>
                <a:spcPct val="90000"/>
              </a:lnSpc>
            </a:pPr>
            <a:r>
              <a:rPr lang="zh-CN" altLang="en-US" dirty="0">
                <a:solidFill>
                  <a:srgbClr val="800080"/>
                </a:solidFill>
                <a:latin typeface="Times New Roman" panose="02020603050405020304" pitchFamily="18" charset="0"/>
              </a:rPr>
              <a:t>有电压</a:t>
            </a:r>
            <a:r>
              <a:rPr lang="en-US" altLang="zh-CN" dirty="0">
                <a:solidFill>
                  <a:srgbClr val="800080"/>
                </a:solidFill>
                <a:latin typeface="Times New Roman" panose="02020603050405020304" pitchFamily="18" charset="0"/>
              </a:rPr>
              <a:t>-</a:t>
            </a:r>
            <a:r>
              <a:rPr lang="zh-CN" altLang="en-US" dirty="0">
                <a:solidFill>
                  <a:srgbClr val="800080"/>
                </a:solidFill>
                <a:latin typeface="Times New Roman" panose="02020603050405020304" pitchFamily="18" charset="0"/>
              </a:rPr>
              <a:t>时间型</a:t>
            </a:r>
            <a:r>
              <a:rPr lang="en-US" altLang="zh-CN" dirty="0">
                <a:solidFill>
                  <a:srgbClr val="800080"/>
                </a:solidFill>
                <a:latin typeface="Times New Roman" panose="02020603050405020304" pitchFamily="18" charset="0"/>
              </a:rPr>
              <a:t>(VT</a:t>
            </a:r>
            <a:r>
              <a:rPr lang="zh-CN" altLang="en-US" dirty="0">
                <a:solidFill>
                  <a:srgbClr val="800080"/>
                </a:solidFill>
                <a:latin typeface="Times New Roman" panose="02020603050405020304" pitchFamily="18" charset="0"/>
              </a:rPr>
              <a:t>型</a:t>
            </a:r>
            <a:r>
              <a:rPr lang="en-US" altLang="zh-CN" dirty="0">
                <a:solidFill>
                  <a:srgbClr val="800080"/>
                </a:solidFill>
                <a:latin typeface="Times New Roman" panose="02020603050405020304" pitchFamily="18" charset="0"/>
              </a:rPr>
              <a:t>)</a:t>
            </a:r>
            <a:r>
              <a:rPr lang="zh-CN" altLang="en-US" dirty="0">
                <a:solidFill>
                  <a:srgbClr val="800080"/>
                </a:solidFill>
                <a:latin typeface="Times New Roman" panose="02020603050405020304" pitchFamily="18" charset="0"/>
              </a:rPr>
              <a:t>、电压</a:t>
            </a:r>
            <a:r>
              <a:rPr lang="en-US" altLang="zh-CN" dirty="0">
                <a:solidFill>
                  <a:srgbClr val="800080"/>
                </a:solidFill>
                <a:latin typeface="Times New Roman" panose="02020603050405020304" pitchFamily="18" charset="0"/>
              </a:rPr>
              <a:t>-</a:t>
            </a:r>
            <a:r>
              <a:rPr lang="zh-CN" altLang="en-US" dirty="0">
                <a:solidFill>
                  <a:srgbClr val="800080"/>
                </a:solidFill>
                <a:latin typeface="Times New Roman" panose="02020603050405020304" pitchFamily="18" charset="0"/>
              </a:rPr>
              <a:t>频率型</a:t>
            </a:r>
            <a:r>
              <a:rPr lang="en-US" altLang="zh-CN" dirty="0">
                <a:solidFill>
                  <a:srgbClr val="800080"/>
                </a:solidFill>
                <a:latin typeface="Times New Roman" panose="02020603050405020304" pitchFamily="18" charset="0"/>
              </a:rPr>
              <a:t>(VF</a:t>
            </a:r>
            <a:r>
              <a:rPr lang="zh-CN" altLang="en-US" dirty="0">
                <a:solidFill>
                  <a:srgbClr val="800080"/>
                </a:solidFill>
                <a:latin typeface="Times New Roman" panose="02020603050405020304" pitchFamily="18" charset="0"/>
              </a:rPr>
              <a:t>型</a:t>
            </a:r>
            <a:r>
              <a:rPr lang="en-US" altLang="zh-CN" dirty="0">
                <a:solidFill>
                  <a:srgbClr val="800080"/>
                </a:solidFill>
                <a:latin typeface="Times New Roman" panose="02020603050405020304" pitchFamily="18" charset="0"/>
              </a:rPr>
              <a:t>)</a:t>
            </a:r>
            <a:endParaRPr lang="en-US" altLang="zh-CN" dirty="0">
              <a:solidFill>
                <a:srgbClr val="800080"/>
              </a:solidFill>
              <a:latin typeface="Times New Roman" panose="02020603050405020304" pitchFamily="18" charset="0"/>
            </a:endParaRPr>
          </a:p>
        </p:txBody>
      </p:sp>
      <p:sp>
        <p:nvSpPr>
          <p:cNvPr id="2244651" name="Text Box 43"/>
          <p:cNvSpPr txBox="1"/>
          <p:nvPr/>
        </p:nvSpPr>
        <p:spPr>
          <a:xfrm>
            <a:off x="811213" y="5192713"/>
            <a:ext cx="8362950" cy="476250"/>
          </a:xfrm>
          <a:prstGeom prst="rect">
            <a:avLst/>
          </a:prstGeom>
          <a:no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rPr>
              <a:t>优点：</a:t>
            </a:r>
            <a:r>
              <a:rPr lang="zh-CN" altLang="en-US" dirty="0">
                <a:solidFill>
                  <a:srgbClr val="3333FF"/>
                </a:solidFill>
                <a:latin typeface="Times New Roman" panose="02020603050405020304" pitchFamily="18" charset="0"/>
              </a:rPr>
              <a:t>低成本高精度，平均值比较，抗干扰能力强。</a:t>
            </a:r>
            <a:endParaRPr lang="zh-CN" altLang="en-US" dirty="0">
              <a:solidFill>
                <a:srgbClr val="3333FF"/>
              </a:solidFill>
              <a:latin typeface="Times New Roman" panose="02020603050405020304" pitchFamily="18" charset="0"/>
            </a:endParaRPr>
          </a:p>
        </p:txBody>
      </p:sp>
      <p:sp>
        <p:nvSpPr>
          <p:cNvPr id="2244653" name="Text Box 45"/>
          <p:cNvSpPr txBox="1"/>
          <p:nvPr/>
        </p:nvSpPr>
        <p:spPr>
          <a:xfrm>
            <a:off x="811213" y="5668963"/>
            <a:ext cx="3384550" cy="476250"/>
          </a:xfrm>
          <a:prstGeom prst="rect">
            <a:avLst/>
          </a:prstGeom>
          <a:noFill/>
          <a:ln w="9525">
            <a:noFill/>
          </a:ln>
        </p:spPr>
        <p:txBody>
          <a:bodyPr wrap="none">
            <a:spAutoFit/>
          </a:bodyPr>
          <a:p>
            <a:pPr eaLnBrk="1" hangingPunct="1">
              <a:lnSpc>
                <a:spcPct val="90000"/>
              </a:lnSpc>
            </a:pPr>
            <a:r>
              <a:rPr lang="zh-CN" altLang="en-US" dirty="0">
                <a:solidFill>
                  <a:srgbClr val="FF0000"/>
                </a:solidFill>
                <a:latin typeface="Times New Roman" panose="02020603050405020304" pitchFamily="18" charset="0"/>
              </a:rPr>
              <a:t>缺点：</a:t>
            </a:r>
            <a:r>
              <a:rPr lang="zh-CN" altLang="en-US" dirty="0">
                <a:solidFill>
                  <a:srgbClr val="3333FF"/>
                </a:solidFill>
                <a:latin typeface="Times New Roman" panose="02020603050405020304" pitchFamily="18" charset="0"/>
              </a:rPr>
              <a:t>转换速度慢。</a:t>
            </a:r>
            <a:endParaRPr lang="zh-CN" altLang="en-US" dirty="0">
              <a:solidFill>
                <a:srgbClr val="3333FF"/>
              </a:solidFill>
              <a:latin typeface="Times New Roman" panose="02020603050405020304" pitchFamily="18" charset="0"/>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8" name="Text Box 50"/>
          <p:cNvSpPr txBox="1"/>
          <p:nvPr/>
        </p:nvSpPr>
        <p:spPr>
          <a:xfrm>
            <a:off x="304800" y="3824288"/>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36"/>
                                        </p:tgtEl>
                                        <p:attrNameLst>
                                          <p:attrName>style.visibility</p:attrName>
                                        </p:attrNameLst>
                                      </p:cBhvr>
                                      <p:to>
                                        <p:strVal val="visible"/>
                                      </p:to>
                                    </p:set>
                                    <p:animEffect transition="in" filter="dissolve">
                                      <p:cBhvr>
                                        <p:cTn id="7" dur="500"/>
                                        <p:tgtEl>
                                          <p:spTgt spid="22446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4657"/>
                                        </p:tgtEl>
                                        <p:attrNameLst>
                                          <p:attrName>style.visibility</p:attrName>
                                        </p:attrNameLst>
                                      </p:cBhvr>
                                      <p:to>
                                        <p:strVal val="visible"/>
                                      </p:to>
                                    </p:set>
                                    <p:animEffect transition="in" filter="dissolve">
                                      <p:cBhvr>
                                        <p:cTn id="12" dur="500"/>
                                        <p:tgtEl>
                                          <p:spTgt spid="2244657"/>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44638"/>
                                        </p:tgtEl>
                                        <p:attrNameLst>
                                          <p:attrName>style.visibility</p:attrName>
                                        </p:attrNameLst>
                                      </p:cBhvr>
                                      <p:to>
                                        <p:strVal val="visible"/>
                                      </p:to>
                                    </p:set>
                                    <p:animEffect transition="in" filter="dissolve">
                                      <p:cBhvr>
                                        <p:cTn id="15" dur="500"/>
                                        <p:tgtEl>
                                          <p:spTgt spid="224463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44640"/>
                                        </p:tgtEl>
                                        <p:attrNameLst>
                                          <p:attrName>style.visibility</p:attrName>
                                        </p:attrNameLst>
                                      </p:cBhvr>
                                      <p:to>
                                        <p:strVal val="visible"/>
                                      </p:to>
                                    </p:set>
                                    <p:animEffect transition="in" filter="dissolve">
                                      <p:cBhvr>
                                        <p:cTn id="20" dur="500"/>
                                        <p:tgtEl>
                                          <p:spTgt spid="2244640"/>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244642"/>
                                        </p:tgtEl>
                                        <p:attrNameLst>
                                          <p:attrName>style.visibility</p:attrName>
                                        </p:attrNameLst>
                                      </p:cBhvr>
                                      <p:to>
                                        <p:strVal val="visible"/>
                                      </p:to>
                                    </p:set>
                                    <p:animEffect transition="in" filter="dissolve">
                                      <p:cBhvr>
                                        <p:cTn id="25" dur="500"/>
                                        <p:tgtEl>
                                          <p:spTgt spid="224464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244647"/>
                                        </p:tgtEl>
                                        <p:attrNameLst>
                                          <p:attrName>style.visibility</p:attrName>
                                        </p:attrNameLst>
                                      </p:cBhvr>
                                      <p:to>
                                        <p:strVal val="visible"/>
                                      </p:to>
                                    </p:set>
                                    <p:animEffect transition="in" filter="dissolve">
                                      <p:cBhvr>
                                        <p:cTn id="30" dur="500"/>
                                        <p:tgtEl>
                                          <p:spTgt spid="2244647"/>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244658"/>
                                        </p:tgtEl>
                                        <p:attrNameLst>
                                          <p:attrName>style.visibility</p:attrName>
                                        </p:attrNameLst>
                                      </p:cBhvr>
                                      <p:to>
                                        <p:strVal val="visible"/>
                                      </p:to>
                                    </p:set>
                                    <p:animEffect transition="in" filter="dissolve">
                                      <p:cBhvr>
                                        <p:cTn id="35" dur="500"/>
                                        <p:tgtEl>
                                          <p:spTgt spid="2244658"/>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244644">
                                            <p:txEl>
                                              <p:charRg st="0" end="39"/>
                                            </p:txEl>
                                          </p:spTgt>
                                        </p:tgtEl>
                                        <p:attrNameLst>
                                          <p:attrName>style.visibility</p:attrName>
                                        </p:attrNameLst>
                                      </p:cBhvr>
                                      <p:to>
                                        <p:strVal val="visible"/>
                                      </p:to>
                                    </p:set>
                                    <p:animEffect transition="in" filter="dissolve">
                                      <p:cBhvr>
                                        <p:cTn id="38" dur="500"/>
                                        <p:tgtEl>
                                          <p:spTgt spid="2244644">
                                            <p:txEl>
                                              <p:charRg st="0" end="39"/>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244649"/>
                                        </p:tgtEl>
                                        <p:attrNameLst>
                                          <p:attrName>style.visibility</p:attrName>
                                        </p:attrNameLst>
                                      </p:cBhvr>
                                      <p:to>
                                        <p:strVal val="visible"/>
                                      </p:to>
                                    </p:set>
                                    <p:animEffect transition="in" filter="dissolve">
                                      <p:cBhvr>
                                        <p:cTn id="43" dur="500"/>
                                        <p:tgtEl>
                                          <p:spTgt spid="2244649"/>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2244651"/>
                                        </p:tgtEl>
                                        <p:attrNameLst>
                                          <p:attrName>style.visibility</p:attrName>
                                        </p:attrNameLst>
                                      </p:cBhvr>
                                      <p:to>
                                        <p:strVal val="visible"/>
                                      </p:to>
                                    </p:set>
                                    <p:animEffect transition="in" filter="dissolve">
                                      <p:cBhvr>
                                        <p:cTn id="48" dur="500"/>
                                        <p:tgtEl>
                                          <p:spTgt spid="2244651"/>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2244653"/>
                                        </p:tgtEl>
                                        <p:attrNameLst>
                                          <p:attrName>style.visibility</p:attrName>
                                        </p:attrNameLst>
                                      </p:cBhvr>
                                      <p:to>
                                        <p:strVal val="visible"/>
                                      </p:to>
                                    </p:set>
                                    <p:animEffect transition="in" filter="dissolve">
                                      <p:cBhvr>
                                        <p:cTn id="53" dur="500"/>
                                        <p:tgtEl>
                                          <p:spTgt spid="2244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6" grpId="0" bldLvl="0" animBg="1"/>
      <p:bldP spid="2244638" grpId="0"/>
      <p:bldP spid="2244640" grpId="0"/>
      <p:bldP spid="2244642" grpId="0"/>
      <p:bldP spid="2244644" grpId="0" build="p"/>
      <p:bldP spid="2244647" grpId="0"/>
      <p:bldP spid="2244649" grpId="0"/>
      <p:bldP spid="2244651" grpId="0"/>
      <p:bldP spid="2244653" grpId="0"/>
      <p:bldP spid="2244657" grpId="0"/>
      <p:bldP spid="2244658"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6"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并行比较型（闪烁型）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0818" name="Text Box 18"/>
          <p:cNvSpPr txBox="1"/>
          <p:nvPr/>
        </p:nvSpPr>
        <p:spPr>
          <a:xfrm>
            <a:off x="438150" y="2033588"/>
            <a:ext cx="8359775" cy="2830512"/>
          </a:xfrm>
          <a:prstGeom prst="rect">
            <a:avLst/>
          </a:prstGeom>
          <a:noFill/>
          <a:ln w="9525">
            <a:noFill/>
          </a:ln>
        </p:spPr>
        <p:txBody>
          <a:bodyPr>
            <a:spAutoFit/>
          </a:bodyPr>
          <a:p>
            <a:pPr eaLnBrk="1" hangingPunct="1">
              <a:spcBef>
                <a:spcPct val="50000"/>
              </a:spcBef>
              <a:buClr>
                <a:srgbClr val="FF0000"/>
              </a:buClr>
              <a:buFont typeface="Wingdings" panose="05000000000000000000" pitchFamily="2" charset="2"/>
              <a:buChar char="Ø"/>
            </a:pP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包含</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个电压比较器，参考电压</a:t>
            </a:r>
            <a:r>
              <a:rPr lang="en-US" altLang="zh-CN" sz="2400" dirty="0">
                <a:solidFill>
                  <a:srgbClr val="CC00CC"/>
                </a:solidFill>
                <a:latin typeface="Times New Roman" panose="02020603050405020304" pitchFamily="18" charset="0"/>
                <a:ea typeface="黑体" panose="02010609060101010101" pitchFamily="49" charset="-122"/>
              </a:rPr>
              <a:t>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zh-CN" altLang="en-US" sz="2400" dirty="0">
                <a:solidFill>
                  <a:schemeClr val="tx1"/>
                </a:solidFill>
                <a:latin typeface="Times New Roman" panose="02020603050405020304" pitchFamily="18" charset="0"/>
                <a:ea typeface="黑体" panose="02010609060101010101" pitchFamily="49" charset="-122"/>
              </a:rPr>
              <a:t>被分成</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阶，</a:t>
            </a:r>
            <a:r>
              <a:rPr lang="en-US" altLang="zh-CN" sz="2400" dirty="0">
                <a:solidFill>
                  <a:srgbClr val="CC00CC"/>
                </a:solidFill>
                <a:latin typeface="Times New Roman" panose="02020603050405020304" pitchFamily="18" charset="0"/>
                <a:ea typeface="黑体" panose="02010609060101010101" pitchFamily="49" charset="-122"/>
              </a:rPr>
              <a:t>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 </a:t>
            </a:r>
            <a:r>
              <a:rPr lang="en-US" altLang="zh-CN" sz="2400" dirty="0">
                <a:solidFill>
                  <a:srgbClr val="CC00CC"/>
                </a:solidFill>
                <a:latin typeface="Times New Roman" panose="02020603050405020304" pitchFamily="18" charset="0"/>
                <a:ea typeface="黑体" panose="02010609060101010101" pitchFamily="49" charset="-122"/>
              </a:rPr>
              <a:t>2V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 </a:t>
            </a:r>
            <a:r>
              <a:rPr lang="en-US" altLang="zh-CN" sz="2400" dirty="0">
                <a:solidFill>
                  <a:srgbClr val="CC00CC"/>
                </a:solidFill>
                <a:latin typeface="Times New Roman" panose="02020603050405020304" pitchFamily="18" charset="0"/>
                <a:ea typeface="黑体" panose="02010609060101010101" pitchFamily="49" charset="-122"/>
              </a:rPr>
              <a:t>3V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dirty="0">
                <a:solidFill>
                  <a:srgbClr val="CC00CC"/>
                </a:solidFill>
                <a:latin typeface="Times New Roman" panose="02020603050405020304" pitchFamily="18" charset="0"/>
                <a:ea typeface="黑体" panose="02010609060101010101" pitchFamily="49" charset="-122"/>
              </a:rPr>
              <a:t> </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 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分别加到</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个比较器的参考端；</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待转换的模拟输入电压同时加到</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个比较器的输入段；</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输入端电压高于参考端电压的比较器输出为</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，否则为</a:t>
            </a:r>
            <a:r>
              <a:rPr lang="en-US" altLang="zh-CN" sz="2400" dirty="0">
                <a:solidFill>
                  <a:srgbClr val="CC00CC"/>
                </a:solidFill>
                <a:latin typeface="Times New Roman" panose="02020603050405020304" pitchFamily="18" charset="0"/>
                <a:ea typeface="黑体" panose="02010609060101010101" pitchFamily="49" charset="-122"/>
              </a:rPr>
              <a:t>0</a:t>
            </a:r>
            <a:r>
              <a:rPr lang="zh-CN" altLang="en-US" sz="2400" dirty="0">
                <a:solidFill>
                  <a:srgbClr val="CC00CC"/>
                </a:solidFill>
                <a:latin typeface="Times New Roman" panose="02020603050405020304" pitchFamily="18" charset="0"/>
                <a:ea typeface="黑体" panose="02010609060101010101" pitchFamily="49" charset="-122"/>
              </a:rPr>
              <a:t>；</a:t>
            </a:r>
            <a:endParaRPr lang="zh-CN" altLang="en-US" sz="2400" dirty="0">
              <a:solidFill>
                <a:srgbClr val="CC00CC"/>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个比较器的输出经数字编码的</a:t>
            </a:r>
            <a:r>
              <a:rPr lang="en-US" altLang="zh-CN" sz="2400" dirty="0">
                <a:solidFill>
                  <a:schemeClr val="tx1"/>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位二进制数即转换结果。</a:t>
            </a:r>
            <a:endParaRPr lang="zh-CN" altLang="en-US" sz="24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36"/>
                                        </p:tgtEl>
                                        <p:attrNameLst>
                                          <p:attrName>style.visibility</p:attrName>
                                        </p:attrNameLst>
                                      </p:cBhvr>
                                      <p:to>
                                        <p:strVal val="visible"/>
                                      </p:to>
                                    </p:set>
                                    <p:animEffect transition="in" filter="dissolve">
                                      <p:cBhvr>
                                        <p:cTn id="7" dur="500"/>
                                        <p:tgtEl>
                                          <p:spTgt spid="22446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4657"/>
                                        </p:tgtEl>
                                        <p:attrNameLst>
                                          <p:attrName>style.visibility</p:attrName>
                                        </p:attrNameLst>
                                      </p:cBhvr>
                                      <p:to>
                                        <p:strVal val="visible"/>
                                      </p:to>
                                    </p:set>
                                    <p:animEffect transition="in" filter="dissolve">
                                      <p:cBhvr>
                                        <p:cTn id="12" dur="500"/>
                                        <p:tgtEl>
                                          <p:spTgt spid="2244657"/>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44638"/>
                                        </p:tgtEl>
                                        <p:attrNameLst>
                                          <p:attrName>style.visibility</p:attrName>
                                        </p:attrNameLst>
                                      </p:cBhvr>
                                      <p:to>
                                        <p:strVal val="visible"/>
                                      </p:to>
                                    </p:set>
                                    <p:animEffect transition="in" filter="dissolve">
                                      <p:cBhvr>
                                        <p:cTn id="15" dur="500"/>
                                        <p:tgtEl>
                                          <p:spTgt spid="224463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380818"/>
                                        </p:tgtEl>
                                        <p:attrNameLst>
                                          <p:attrName>style.visibility</p:attrName>
                                        </p:attrNameLst>
                                      </p:cBhvr>
                                      <p:to>
                                        <p:strVal val="visible"/>
                                      </p:to>
                                    </p:set>
                                    <p:animEffect transition="in" filter="dissolve">
                                      <p:cBhvr>
                                        <p:cTn id="20" dur="500"/>
                                        <p:tgtEl>
                                          <p:spTgt spid="23808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6" grpId="0" bldLvl="0" animBg="1"/>
      <p:bldP spid="2244638" grpId="0"/>
      <p:bldP spid="2244657"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3250"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分级型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0818" name="Text Box 18"/>
          <p:cNvSpPr txBox="1"/>
          <p:nvPr/>
        </p:nvSpPr>
        <p:spPr>
          <a:xfrm>
            <a:off x="438150" y="2898775"/>
            <a:ext cx="8359775" cy="2684463"/>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第一级用一个</a:t>
            </a:r>
            <a:r>
              <a:rPr lang="en-US" altLang="zh-CN" sz="2400" dirty="0">
                <a:solidFill>
                  <a:srgbClr val="CC00CC"/>
                </a:solidFill>
                <a:latin typeface="Times New Roman" panose="02020603050405020304" pitchFamily="18" charset="0"/>
                <a:ea typeface="黑体" panose="02010609060101010101" pitchFamily="49" charset="-122"/>
              </a:rPr>
              <a:t>m(&lt;n)</a:t>
            </a:r>
            <a:r>
              <a:rPr lang="zh-CN" altLang="en-US" sz="2400" dirty="0">
                <a:solidFill>
                  <a:schemeClr val="tx1"/>
                </a:solidFill>
                <a:latin typeface="Times New Roman" panose="02020603050405020304" pitchFamily="18" charset="0"/>
                <a:ea typeface="黑体" panose="02010609060101010101" pitchFamily="49" charset="-122"/>
              </a:rPr>
              <a:t>位并行</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完成粗转换，转换结果作为</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位中的高</a:t>
            </a:r>
            <a:r>
              <a:rPr lang="en-US" altLang="zh-CN" sz="2400" dirty="0">
                <a:solidFill>
                  <a:srgbClr val="CC00CC"/>
                </a:solidFill>
                <a:latin typeface="Times New Roman" panose="02020603050405020304" pitchFamily="18" charset="0"/>
                <a:ea typeface="黑体" panose="02010609060101010101" pitchFamily="49" charset="-122"/>
              </a:rPr>
              <a:t>m</a:t>
            </a:r>
            <a:r>
              <a:rPr lang="zh-CN" altLang="en-US" sz="2400" dirty="0">
                <a:solidFill>
                  <a:schemeClr val="tx1"/>
                </a:solidFill>
                <a:latin typeface="Times New Roman" panose="02020603050405020304" pitchFamily="18" charset="0"/>
                <a:ea typeface="黑体" panose="02010609060101010101" pitchFamily="49" charset="-122"/>
              </a:rPr>
              <a:t>位，转换误差小于</a:t>
            </a:r>
            <a:r>
              <a:rPr lang="en-US" altLang="zh-CN" sz="2400" dirty="0">
                <a:solidFill>
                  <a:srgbClr val="CC00CC"/>
                </a:solidFill>
                <a:latin typeface="Times New Roman" panose="02020603050405020304" pitchFamily="18" charset="0"/>
                <a:ea typeface="黑体" panose="02010609060101010101" pitchFamily="49" charset="-122"/>
              </a:rPr>
              <a:t>m</a:t>
            </a:r>
            <a:r>
              <a:rPr lang="zh-CN" altLang="en-US" sz="2400" dirty="0">
                <a:solidFill>
                  <a:schemeClr val="tx1"/>
                </a:solidFill>
                <a:latin typeface="Times New Roman" panose="02020603050405020304" pitchFamily="18" charset="0"/>
                <a:ea typeface="黑体" panose="02010609060101010101" pitchFamily="49" charset="-122"/>
              </a:rPr>
              <a:t>位的最低有效位；</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第二级用一个</a:t>
            </a:r>
            <a:r>
              <a:rPr lang="en-US" altLang="zh-CN" sz="2400" dirty="0">
                <a:solidFill>
                  <a:srgbClr val="CC00CC"/>
                </a:solidFill>
                <a:latin typeface="Times New Roman" panose="02020603050405020304" pitchFamily="18" charset="0"/>
                <a:ea typeface="黑体" panose="02010609060101010101" pitchFamily="49" charset="-122"/>
              </a:rPr>
              <a:t>k(&lt;n)</a:t>
            </a:r>
            <a:r>
              <a:rPr lang="zh-CN" altLang="en-US" sz="2400" dirty="0">
                <a:solidFill>
                  <a:schemeClr val="tx1"/>
                </a:solidFill>
                <a:latin typeface="Times New Roman" panose="02020603050405020304" pitchFamily="18" charset="0"/>
                <a:ea typeface="黑体" panose="02010609060101010101" pitchFamily="49" charset="-122"/>
              </a:rPr>
              <a:t>位并行</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对第一级转换余下的误差电压再次转换，转换结果作为</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位中的低位，其中</a:t>
            </a:r>
            <a:r>
              <a:rPr lang="en-US" altLang="zh-CN" sz="2400" dirty="0">
                <a:solidFill>
                  <a:srgbClr val="CC00CC"/>
                </a:solidFill>
                <a:latin typeface="Times New Roman" panose="02020603050405020304" pitchFamily="18" charset="0"/>
                <a:ea typeface="黑体" panose="02010609060101010101" pitchFamily="49" charset="-122"/>
              </a:rPr>
              <a:t>m+k≥n</a:t>
            </a:r>
            <a:r>
              <a:rPr lang="zh-CN" altLang="en-US"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采用多级保持器，第一级转换余下的误差电压保持在第二级保持器中，在第二级转换同时，第一级对输入电压进行下一次采样和转换，实现“分级流水”，大大提高了采样速率。</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54279" name="Text Box 92"/>
          <p:cNvSpPr txBox="1"/>
          <p:nvPr/>
        </p:nvSpPr>
        <p:spPr>
          <a:xfrm>
            <a:off x="450850" y="1897063"/>
            <a:ext cx="8347075" cy="860425"/>
          </a:xfrm>
          <a:prstGeom prst="rect">
            <a:avLst/>
          </a:prstGeom>
          <a:noFill/>
          <a:ln w="9525">
            <a:noFill/>
          </a:ln>
        </p:spPr>
        <p:txBody>
          <a:bodyPr>
            <a:spAutoFit/>
          </a:bodyPr>
          <a:p>
            <a:pPr eaLnBrk="1" hangingPunct="1">
              <a:lnSpc>
                <a:spcPct val="90000"/>
              </a:lnSpc>
              <a:spcBef>
                <a:spcPct val="50000"/>
              </a:spcBef>
            </a:pPr>
            <a:r>
              <a:rPr lang="zh-CN" altLang="en-US" dirty="0">
                <a:solidFill>
                  <a:schemeClr val="accent2"/>
                </a:solidFill>
                <a:latin typeface="Times New Roman" panose="02020603050405020304" pitchFamily="18" charset="0"/>
                <a:ea typeface="黑体" panose="02010609060101010101" pitchFamily="49" charset="-122"/>
              </a:rPr>
              <a:t>又称为“分级流水型”</a:t>
            </a:r>
            <a:r>
              <a:rPr lang="en-US" altLang="zh-CN" dirty="0">
                <a:solidFill>
                  <a:schemeClr val="accent2"/>
                </a:solidFill>
                <a:latin typeface="Times New Roman" panose="02020603050405020304" pitchFamily="18" charset="0"/>
                <a:ea typeface="黑体" panose="02010609060101010101" pitchFamily="49" charset="-122"/>
              </a:rPr>
              <a:t>ADC</a:t>
            </a:r>
            <a:r>
              <a:rPr lang="zh-CN" altLang="en-US" dirty="0">
                <a:solidFill>
                  <a:schemeClr val="accent2"/>
                </a:solidFill>
                <a:latin typeface="Times New Roman" panose="02020603050405020304" pitchFamily="18" charset="0"/>
                <a:ea typeface="黑体" panose="02010609060101010101" pitchFamily="49" charset="-122"/>
              </a:rPr>
              <a:t>，将高分辨率的</a:t>
            </a:r>
            <a:r>
              <a:rPr lang="en-US" altLang="zh-CN" dirty="0">
                <a:solidFill>
                  <a:srgbClr val="CC00CC"/>
                </a:solidFill>
                <a:latin typeface="Times New Roman" panose="02020603050405020304" pitchFamily="18" charset="0"/>
                <a:ea typeface="黑体" panose="02010609060101010101" pitchFamily="49" charset="-122"/>
              </a:rPr>
              <a:t>n</a:t>
            </a:r>
            <a:r>
              <a:rPr lang="zh-CN" altLang="en-US" dirty="0">
                <a:solidFill>
                  <a:schemeClr val="accent2"/>
                </a:solidFill>
                <a:latin typeface="Times New Roman" panose="02020603050405020304" pitchFamily="18" charset="0"/>
                <a:ea typeface="黑体" panose="02010609060101010101" pitchFamily="49" charset="-122"/>
              </a:rPr>
              <a:t>位模数转换分成两级（或多级）较低分辨率的转换</a:t>
            </a:r>
            <a:r>
              <a:rPr lang="zh-CN" altLang="zh-CN" dirty="0">
                <a:solidFill>
                  <a:schemeClr val="accent2"/>
                </a:solidFill>
                <a:latin typeface="Times New Roman" panose="02020603050405020304" pitchFamily="18" charset="0"/>
                <a:ea typeface="黑体" panose="02010609060101010101" pitchFamily="49" charset="-122"/>
              </a:rPr>
              <a:t>。</a:t>
            </a:r>
            <a:endParaRPr lang="zh-CN" altLang="en-US"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57"/>
                                        </p:tgtEl>
                                        <p:attrNameLst>
                                          <p:attrName>style.visibility</p:attrName>
                                        </p:attrNameLst>
                                      </p:cBhvr>
                                      <p:to>
                                        <p:strVal val="visible"/>
                                      </p:to>
                                    </p:set>
                                    <p:animEffect transition="in" filter="dissolve">
                                      <p:cBhvr>
                                        <p:cTn id="7" dur="500"/>
                                        <p:tgtEl>
                                          <p:spTgt spid="224465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4638"/>
                                        </p:tgtEl>
                                        <p:attrNameLst>
                                          <p:attrName>style.visibility</p:attrName>
                                        </p:attrNameLst>
                                      </p:cBhvr>
                                      <p:to>
                                        <p:strVal val="visible"/>
                                      </p:to>
                                    </p:set>
                                    <p:animEffect transition="in" filter="dissolve">
                                      <p:cBhvr>
                                        <p:cTn id="10" dur="500"/>
                                        <p:tgtEl>
                                          <p:spTgt spid="22446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4279"/>
                                        </p:tgtEl>
                                        <p:attrNameLst>
                                          <p:attrName>style.visibility</p:attrName>
                                        </p:attrNameLst>
                                      </p:cBhvr>
                                      <p:to>
                                        <p:strVal val="visible"/>
                                      </p:to>
                                    </p:set>
                                    <p:animEffect transition="in" filter="dissolve">
                                      <p:cBhvr>
                                        <p:cTn id="15" dur="500"/>
                                        <p:tgtEl>
                                          <p:spTgt spid="5427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80818"/>
                                        </p:tgtEl>
                                        <p:attrNameLst>
                                          <p:attrName>style.visibility</p:attrName>
                                        </p:attrNameLst>
                                      </p:cBhvr>
                                      <p:to>
                                        <p:strVal val="visible"/>
                                      </p:to>
                                    </p:set>
                                    <p:animEffect transition="in" filter="dissolve">
                                      <p:cBhvr>
                                        <p:cTn id="20" dur="500"/>
                                        <p:tgtEl>
                                          <p:spTgt spid="23808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8" grpId="0"/>
      <p:bldP spid="2244657" grpId="0"/>
      <p:bldP spid="2380818" grpId="0"/>
      <p:bldP spid="54279"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4274"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逐次逼近型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0818" name="Text Box 18"/>
          <p:cNvSpPr txBox="1"/>
          <p:nvPr/>
        </p:nvSpPr>
        <p:spPr>
          <a:xfrm>
            <a:off x="438150" y="2898775"/>
            <a:ext cx="8359775" cy="2355850"/>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用一个电压比较器将模拟输入电压与一个</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的输出电压比较，</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的数字输入由一个逐次逼近寄存器提供；</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逐次逼近寄存器从高位到低位逐位被置</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或清</a:t>
            </a:r>
            <a:r>
              <a:rPr lang="en-US" altLang="zh-CN" sz="2400" dirty="0">
                <a:solidFill>
                  <a:srgbClr val="CC00CC"/>
                </a:solidFill>
                <a:latin typeface="Times New Roman" panose="02020603050405020304" pitchFamily="18" charset="0"/>
                <a:ea typeface="黑体" panose="02010609060101010101" pitchFamily="49" charset="-122"/>
              </a:rPr>
              <a:t>0</a:t>
            </a:r>
            <a:r>
              <a:rPr lang="zh-CN" altLang="en-US" sz="2400" dirty="0">
                <a:solidFill>
                  <a:schemeClr val="tx1"/>
                </a:solidFill>
                <a:latin typeface="Times New Roman" panose="02020603050405020304" pitchFamily="18" charset="0"/>
                <a:ea typeface="黑体" panose="02010609060101010101" pitchFamily="49" charset="-122"/>
              </a:rPr>
              <a:t>，使</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的输出电压逐步逼近模拟输入电压。</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经过</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次比较和逼近，最终逐次逼近寄存器中的数字即为模数转换结果。</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56327" name="Text Box 92"/>
          <p:cNvSpPr txBox="1"/>
          <p:nvPr/>
        </p:nvSpPr>
        <p:spPr>
          <a:xfrm>
            <a:off x="450850" y="1897063"/>
            <a:ext cx="8347075" cy="860425"/>
          </a:xfrm>
          <a:prstGeom prst="rect">
            <a:avLst/>
          </a:prstGeom>
          <a:noFill/>
          <a:ln w="9525">
            <a:noFill/>
          </a:ln>
        </p:spPr>
        <p:txBody>
          <a:bodyPr>
            <a:spAutoFit/>
          </a:bodyPr>
          <a:p>
            <a:pPr eaLnBrk="1" hangingPunct="1">
              <a:lnSpc>
                <a:spcPct val="90000"/>
              </a:lnSpc>
              <a:spcBef>
                <a:spcPct val="50000"/>
              </a:spcBef>
            </a:pPr>
            <a:r>
              <a:rPr lang="zh-CN" altLang="en-US" dirty="0">
                <a:solidFill>
                  <a:schemeClr val="accent2"/>
                </a:solidFill>
                <a:latin typeface="Times New Roman" panose="02020603050405020304" pitchFamily="18" charset="0"/>
                <a:ea typeface="黑体" panose="02010609060101010101" pitchFamily="49" charset="-122"/>
              </a:rPr>
              <a:t>逐次逼近原理类似于用天平和砝码称物体的重量，从大砝码到小砝码逐一试称 </a:t>
            </a:r>
            <a:r>
              <a:rPr lang="zh-CN" altLang="zh-CN" dirty="0">
                <a:solidFill>
                  <a:schemeClr val="accent2"/>
                </a:solidFill>
                <a:latin typeface="Times New Roman" panose="02020603050405020304" pitchFamily="18" charset="0"/>
                <a:ea typeface="黑体" panose="02010609060101010101" pitchFamily="49" charset="-122"/>
              </a:rPr>
              <a:t>。</a:t>
            </a:r>
            <a:endParaRPr lang="zh-CN" altLang="en-US"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57"/>
                                        </p:tgtEl>
                                        <p:attrNameLst>
                                          <p:attrName>style.visibility</p:attrName>
                                        </p:attrNameLst>
                                      </p:cBhvr>
                                      <p:to>
                                        <p:strVal val="visible"/>
                                      </p:to>
                                    </p:set>
                                    <p:animEffect transition="in" filter="dissolve">
                                      <p:cBhvr>
                                        <p:cTn id="7" dur="500"/>
                                        <p:tgtEl>
                                          <p:spTgt spid="224465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4638"/>
                                        </p:tgtEl>
                                        <p:attrNameLst>
                                          <p:attrName>style.visibility</p:attrName>
                                        </p:attrNameLst>
                                      </p:cBhvr>
                                      <p:to>
                                        <p:strVal val="visible"/>
                                      </p:to>
                                    </p:set>
                                    <p:animEffect transition="in" filter="dissolve">
                                      <p:cBhvr>
                                        <p:cTn id="10" dur="500"/>
                                        <p:tgtEl>
                                          <p:spTgt spid="22446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6327"/>
                                        </p:tgtEl>
                                        <p:attrNameLst>
                                          <p:attrName>style.visibility</p:attrName>
                                        </p:attrNameLst>
                                      </p:cBhvr>
                                      <p:to>
                                        <p:strVal val="visible"/>
                                      </p:to>
                                    </p:set>
                                    <p:animEffect transition="in" filter="dissolve">
                                      <p:cBhvr>
                                        <p:cTn id="15" dur="500"/>
                                        <p:tgtEl>
                                          <p:spTgt spid="5632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80818"/>
                                        </p:tgtEl>
                                        <p:attrNameLst>
                                          <p:attrName>style.visibility</p:attrName>
                                        </p:attrNameLst>
                                      </p:cBhvr>
                                      <p:to>
                                        <p:strVal val="visible"/>
                                      </p:to>
                                    </p:set>
                                    <p:animEffect transition="in" filter="dissolve">
                                      <p:cBhvr>
                                        <p:cTn id="20" dur="500"/>
                                        <p:tgtEl>
                                          <p:spTgt spid="23808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8" grpId="0"/>
      <p:bldP spid="2244657" grpId="0"/>
      <p:bldP spid="2380818" grpId="0"/>
      <p:bldP spid="56327"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5298"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跟踪计数型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0818" name="Text Box 18"/>
          <p:cNvSpPr txBox="1"/>
          <p:nvPr/>
        </p:nvSpPr>
        <p:spPr>
          <a:xfrm>
            <a:off x="438150" y="2898775"/>
            <a:ext cx="8359775" cy="2830513"/>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可逆计数器在时钟脉冲作用下不停地计数，计数器的值作为</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的数字输入；</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电压比较器对模拟输入电压和</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的输出电压进行比较，其结果控制可逆计数器的计数方向；</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可逆计数器快速跟踪模拟输入电压，计数器的值即为模数转换结果。</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u"/>
            </a:pP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58375" name="Text Box 92"/>
          <p:cNvSpPr txBox="1"/>
          <p:nvPr/>
        </p:nvSpPr>
        <p:spPr>
          <a:xfrm>
            <a:off x="450850" y="1897063"/>
            <a:ext cx="8347075" cy="860425"/>
          </a:xfrm>
          <a:prstGeom prst="rect">
            <a:avLst/>
          </a:prstGeom>
          <a:noFill/>
          <a:ln w="9525">
            <a:noFill/>
          </a:ln>
        </p:spPr>
        <p:txBody>
          <a:bodyPr>
            <a:spAutoFit/>
          </a:bodyPr>
          <a:p>
            <a:pPr eaLnBrk="1" hangingPunct="1">
              <a:lnSpc>
                <a:spcPct val="90000"/>
              </a:lnSpc>
              <a:spcBef>
                <a:spcPct val="50000"/>
              </a:spcBef>
            </a:pPr>
            <a:r>
              <a:rPr lang="zh-CN" altLang="en-US" dirty="0">
                <a:solidFill>
                  <a:schemeClr val="accent2"/>
                </a:solidFill>
                <a:latin typeface="Times New Roman" panose="02020603050405020304" pitchFamily="18" charset="0"/>
                <a:ea typeface="黑体" panose="02010609060101010101" pitchFamily="49" charset="-122"/>
              </a:rPr>
              <a:t>与逐次逼近型相似，可逆计数器代替了逐次逼近寄存器和控制逻辑。</a:t>
            </a:r>
            <a:endParaRPr lang="zh-CN" altLang="en-US"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57"/>
                                        </p:tgtEl>
                                        <p:attrNameLst>
                                          <p:attrName>style.visibility</p:attrName>
                                        </p:attrNameLst>
                                      </p:cBhvr>
                                      <p:to>
                                        <p:strVal val="visible"/>
                                      </p:to>
                                    </p:set>
                                    <p:animEffect transition="in" filter="dissolve">
                                      <p:cBhvr>
                                        <p:cTn id="7" dur="500"/>
                                        <p:tgtEl>
                                          <p:spTgt spid="224465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4638"/>
                                        </p:tgtEl>
                                        <p:attrNameLst>
                                          <p:attrName>style.visibility</p:attrName>
                                        </p:attrNameLst>
                                      </p:cBhvr>
                                      <p:to>
                                        <p:strVal val="visible"/>
                                      </p:to>
                                    </p:set>
                                    <p:animEffect transition="in" filter="dissolve">
                                      <p:cBhvr>
                                        <p:cTn id="10" dur="500"/>
                                        <p:tgtEl>
                                          <p:spTgt spid="22446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8375"/>
                                        </p:tgtEl>
                                        <p:attrNameLst>
                                          <p:attrName>style.visibility</p:attrName>
                                        </p:attrNameLst>
                                      </p:cBhvr>
                                      <p:to>
                                        <p:strVal val="visible"/>
                                      </p:to>
                                    </p:set>
                                    <p:animEffect transition="in" filter="dissolve">
                                      <p:cBhvr>
                                        <p:cTn id="15" dur="500"/>
                                        <p:tgtEl>
                                          <p:spTgt spid="5837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80818"/>
                                        </p:tgtEl>
                                        <p:attrNameLst>
                                          <p:attrName>style.visibility</p:attrName>
                                        </p:attrNameLst>
                                      </p:cBhvr>
                                      <p:to>
                                        <p:strVal val="visible"/>
                                      </p:to>
                                    </p:set>
                                    <p:animEffect transition="in" filter="dissolve">
                                      <p:cBhvr>
                                        <p:cTn id="20" dur="500"/>
                                        <p:tgtEl>
                                          <p:spTgt spid="23808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8" grpId="0"/>
      <p:bldP spid="2244657" grpId="0"/>
      <p:bldP spid="2380818" grpId="0"/>
      <p:bldP spid="58375"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6322"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积分型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0422" name="Text Box 18"/>
          <p:cNvSpPr txBox="1"/>
          <p:nvPr/>
        </p:nvSpPr>
        <p:spPr>
          <a:xfrm>
            <a:off x="450850" y="2752725"/>
            <a:ext cx="8289925" cy="3159125"/>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Ø"/>
            </a:pP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中的积分器把模拟输入电压转换成与之成比例的时间间隔；</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在这时间间隔内一个</a:t>
            </a:r>
            <a:r>
              <a:rPr lang="en-US" altLang="zh-CN" sz="2400" dirty="0">
                <a:solidFill>
                  <a:schemeClr val="tx1"/>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位计数器对频率固定的时钟脉冲计数；</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最终的计数值与时间间隔成正比，反映了输入平均电压的大小；</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为了提高精度，通常要对输入电压和参考电压各进行一次积分。</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60423" name="Text Box 92"/>
          <p:cNvSpPr txBox="1"/>
          <p:nvPr/>
        </p:nvSpPr>
        <p:spPr>
          <a:xfrm>
            <a:off x="450850" y="2038350"/>
            <a:ext cx="8347075" cy="476250"/>
          </a:xfrm>
          <a:prstGeom prst="rect">
            <a:avLst/>
          </a:prstGeom>
          <a:noFill/>
          <a:ln w="9525">
            <a:noFill/>
          </a:ln>
        </p:spPr>
        <p:txBody>
          <a:bodyPr>
            <a:spAutoFit/>
          </a:bodyPr>
          <a:p>
            <a:pPr eaLnBrk="1" hangingPunct="1">
              <a:lnSpc>
                <a:spcPct val="90000"/>
              </a:lnSpc>
              <a:spcBef>
                <a:spcPct val="50000"/>
              </a:spcBef>
            </a:pPr>
            <a:r>
              <a:rPr lang="zh-CN" altLang="en-US" dirty="0">
                <a:solidFill>
                  <a:schemeClr val="accent2"/>
                </a:solidFill>
                <a:latin typeface="Times New Roman" panose="02020603050405020304" pitchFamily="18" charset="0"/>
                <a:ea typeface="黑体" panose="02010609060101010101" pitchFamily="49" charset="-122"/>
              </a:rPr>
              <a:t>属于间接转换型，中间变量是时间。</a:t>
            </a:r>
            <a:endParaRPr lang="zh-CN" altLang="en-US"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57"/>
                                        </p:tgtEl>
                                        <p:attrNameLst>
                                          <p:attrName>style.visibility</p:attrName>
                                        </p:attrNameLst>
                                      </p:cBhvr>
                                      <p:to>
                                        <p:strVal val="visible"/>
                                      </p:to>
                                    </p:set>
                                    <p:animEffect transition="in" filter="dissolve">
                                      <p:cBhvr>
                                        <p:cTn id="7" dur="500"/>
                                        <p:tgtEl>
                                          <p:spTgt spid="224465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4638"/>
                                        </p:tgtEl>
                                        <p:attrNameLst>
                                          <p:attrName>style.visibility</p:attrName>
                                        </p:attrNameLst>
                                      </p:cBhvr>
                                      <p:to>
                                        <p:strVal val="visible"/>
                                      </p:to>
                                    </p:set>
                                    <p:animEffect transition="in" filter="dissolve">
                                      <p:cBhvr>
                                        <p:cTn id="10" dur="500"/>
                                        <p:tgtEl>
                                          <p:spTgt spid="22446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423"/>
                                        </p:tgtEl>
                                        <p:attrNameLst>
                                          <p:attrName>style.visibility</p:attrName>
                                        </p:attrNameLst>
                                      </p:cBhvr>
                                      <p:to>
                                        <p:strVal val="visible"/>
                                      </p:to>
                                    </p:set>
                                    <p:animEffect transition="in" filter="dissolve">
                                      <p:cBhvr>
                                        <p:cTn id="15" dur="500"/>
                                        <p:tgtEl>
                                          <p:spTgt spid="6042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0422"/>
                                        </p:tgtEl>
                                        <p:attrNameLst>
                                          <p:attrName>style.visibility</p:attrName>
                                        </p:attrNameLst>
                                      </p:cBhvr>
                                      <p:to>
                                        <p:strVal val="visible"/>
                                      </p:to>
                                    </p:set>
                                    <p:animEffect transition="in" filter="dissolve">
                                      <p:cBhvr>
                                        <p:cTn id="20" dur="500"/>
                                        <p:tgtEl>
                                          <p:spTgt spid="604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8" grpId="0"/>
      <p:bldP spid="2244657" grpId="0"/>
      <p:bldP spid="60422" grpId="0"/>
      <p:bldP spid="60423"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7346" name="Text Box 28"/>
          <p:cNvSpPr txBox="1"/>
          <p:nvPr/>
        </p:nvSpPr>
        <p:spPr>
          <a:xfrm>
            <a:off x="450850" y="692150"/>
            <a:ext cx="59928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按转换电路结构和工作原理分类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0000"/>
                </a:solidFill>
                <a:latin typeface="Times New Roman" panose="02020603050405020304" pitchFamily="18" charset="0"/>
                <a:ea typeface="黑体" panose="02010609060101010101" pitchFamily="49" charset="-122"/>
              </a:rPr>
              <a:t>压频转换型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0818" name="Text Box 18"/>
          <p:cNvSpPr txBox="1"/>
          <p:nvPr/>
        </p:nvSpPr>
        <p:spPr>
          <a:xfrm>
            <a:off x="438150" y="2613025"/>
            <a:ext cx="8359775" cy="1370013"/>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把模拟电压转换成频率与该电压成正比的脉冲信号；</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在单位时间内用计数器对脉冲计数；</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计数值与频率成正比，反映了模拟电压的大小；</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335836" name="Text Box 92"/>
          <p:cNvSpPr txBox="1"/>
          <p:nvPr/>
        </p:nvSpPr>
        <p:spPr>
          <a:xfrm>
            <a:off x="381000" y="1981200"/>
            <a:ext cx="8416925" cy="476250"/>
          </a:xfrm>
          <a:prstGeom prst="rect">
            <a:avLst/>
          </a:prstGeom>
          <a:noFill/>
          <a:ln w="9525">
            <a:noFill/>
          </a:ln>
        </p:spPr>
        <p:txBody>
          <a:bodyPr>
            <a:spAutoFit/>
          </a:bodyPr>
          <a:p>
            <a:pPr eaLnBrk="1" hangingPunct="1">
              <a:lnSpc>
                <a:spcPct val="90000"/>
              </a:lnSpc>
              <a:spcBef>
                <a:spcPct val="50000"/>
              </a:spcBef>
            </a:pPr>
            <a:r>
              <a:rPr lang="zh-CN" altLang="en-US" dirty="0">
                <a:solidFill>
                  <a:schemeClr val="accent2"/>
                </a:solidFill>
                <a:latin typeface="Times New Roman" panose="02020603050405020304" pitchFamily="18" charset="0"/>
                <a:ea typeface="黑体" panose="02010609060101010101" pitchFamily="49" charset="-122"/>
              </a:rPr>
              <a:t>属于间接转换型，中间变量是频率。</a:t>
            </a:r>
            <a:endParaRPr lang="zh-CN" altLang="en-US" dirty="0">
              <a:solidFill>
                <a:schemeClr val="accent2"/>
              </a:solidFill>
              <a:latin typeface="Times New Roman" panose="02020603050405020304" pitchFamily="18" charset="0"/>
              <a:ea typeface="黑体" panose="02010609060101010101" pitchFamily="49" charset="-122"/>
            </a:endParaRPr>
          </a:p>
        </p:txBody>
      </p:sp>
      <p:sp>
        <p:nvSpPr>
          <p:cNvPr id="2" name="Text Box 30"/>
          <p:cNvSpPr txBox="1"/>
          <p:nvPr/>
        </p:nvSpPr>
        <p:spPr>
          <a:xfrm>
            <a:off x="852488" y="4264025"/>
            <a:ext cx="8066087" cy="476250"/>
          </a:xfrm>
          <a:prstGeom prst="rect">
            <a:avLst/>
          </a:prstGeom>
          <a:noFill/>
          <a:ln w="9525">
            <a:noFill/>
          </a:ln>
        </p:spPr>
        <p:txBody>
          <a:bodyPr>
            <a:spAutoFit/>
          </a:bodyPr>
          <a:p>
            <a:pPr marL="2154555" indent="-2154555" eaLnBrk="1" hangingPunct="1">
              <a:lnSpc>
                <a:spcPct val="90000"/>
              </a:lnSpc>
              <a:buNone/>
            </a:pPr>
            <a:r>
              <a:rPr lang="el-GR" altLang="zh-CN" dirty="0">
                <a:solidFill>
                  <a:srgbClr val="FF0000"/>
                </a:solidFill>
                <a:latin typeface="Times New Roman" panose="02020603050405020304" pitchFamily="18" charset="0"/>
                <a:ea typeface="黑体" panose="02010609060101010101" pitchFamily="49" charset="-122"/>
              </a:rPr>
              <a:t>Σ</a:t>
            </a:r>
            <a:r>
              <a:rPr lang="en-US" altLang="zh-CN" dirty="0">
                <a:solidFill>
                  <a:srgbClr val="FF0000"/>
                </a:solidFill>
                <a:latin typeface="Times New Roman" panose="02020603050405020304" pitchFamily="18" charset="0"/>
                <a:ea typeface="黑体" panose="02010609060101010101" pitchFamily="49" charset="-122"/>
              </a:rPr>
              <a:t>-</a:t>
            </a:r>
            <a:r>
              <a:rPr lang="el-GR" altLang="zh-CN" dirty="0">
                <a:solidFill>
                  <a:srgbClr val="FF0000"/>
                </a:solidFill>
                <a:latin typeface="Times New Roman" panose="02020603050405020304" pitchFamily="18" charset="0"/>
                <a:ea typeface="黑体" panose="02010609060101010101" pitchFamily="49" charset="-122"/>
              </a:rPr>
              <a:t>Δ</a:t>
            </a:r>
            <a:r>
              <a:rPr lang="zh-CN" altLang="en-US" dirty="0">
                <a:solidFill>
                  <a:srgbClr val="FF0000"/>
                </a:solidFill>
                <a:latin typeface="Times New Roman" panose="02020603050405020304" pitchFamily="18" charset="0"/>
                <a:ea typeface="黑体" panose="02010609060101010101" pitchFamily="49" charset="-122"/>
              </a:rPr>
              <a:t>型</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3" name="Text Box 49"/>
          <p:cNvSpPr txBox="1"/>
          <p:nvPr/>
        </p:nvSpPr>
        <p:spPr>
          <a:xfrm>
            <a:off x="385763" y="4283075"/>
            <a:ext cx="100806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4" name="Text Box 92"/>
          <p:cNvSpPr txBox="1"/>
          <p:nvPr/>
        </p:nvSpPr>
        <p:spPr>
          <a:xfrm>
            <a:off x="427038" y="4868863"/>
            <a:ext cx="8416925" cy="1077912"/>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以很低的采样分辨率（</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位）和很高的采样速率将模拟信号数字化，利用过采样技术、噪声整形和数字滤波技术增加有效分辨率。</a:t>
            </a:r>
            <a:endParaRPr lang="zh-CN" altLang="en-US" sz="24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57"/>
                                        </p:tgtEl>
                                        <p:attrNameLst>
                                          <p:attrName>style.visibility</p:attrName>
                                        </p:attrNameLst>
                                      </p:cBhvr>
                                      <p:to>
                                        <p:strVal val="visible"/>
                                      </p:to>
                                    </p:set>
                                    <p:animEffect transition="in" filter="dissolve">
                                      <p:cBhvr>
                                        <p:cTn id="7" dur="500"/>
                                        <p:tgtEl>
                                          <p:spTgt spid="224465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44638"/>
                                        </p:tgtEl>
                                        <p:attrNameLst>
                                          <p:attrName>style.visibility</p:attrName>
                                        </p:attrNameLst>
                                      </p:cBhvr>
                                      <p:to>
                                        <p:strVal val="visible"/>
                                      </p:to>
                                    </p:set>
                                    <p:animEffect transition="in" filter="dissolve">
                                      <p:cBhvr>
                                        <p:cTn id="10" dur="500"/>
                                        <p:tgtEl>
                                          <p:spTgt spid="22446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335836"/>
                                        </p:tgtEl>
                                        <p:attrNameLst>
                                          <p:attrName>style.visibility</p:attrName>
                                        </p:attrNameLst>
                                      </p:cBhvr>
                                      <p:to>
                                        <p:strVal val="visible"/>
                                      </p:to>
                                    </p:set>
                                    <p:animEffect transition="in" filter="dissolve">
                                      <p:cBhvr>
                                        <p:cTn id="15" dur="500"/>
                                        <p:tgtEl>
                                          <p:spTgt spid="2335836"/>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80818"/>
                                        </p:tgtEl>
                                        <p:attrNameLst>
                                          <p:attrName>style.visibility</p:attrName>
                                        </p:attrNameLst>
                                      </p:cBhvr>
                                      <p:to>
                                        <p:strVal val="visible"/>
                                      </p:to>
                                    </p:set>
                                    <p:animEffect transition="in" filter="dissolve">
                                      <p:cBhvr>
                                        <p:cTn id="20" dur="500"/>
                                        <p:tgtEl>
                                          <p:spTgt spid="238081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dissolve">
                                      <p:cBhvr>
                                        <p:cTn id="25" dur="500"/>
                                        <p:tgtEl>
                                          <p:spTgt spid="3"/>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dissolve">
                                      <p:cBhvr>
                                        <p:cTn id="28" dur="5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8" grpId="0"/>
      <p:bldP spid="2244657" grpId="0"/>
      <p:bldP spid="2380818" grpId="0"/>
      <p:bldP spid="2335836" grpId="0"/>
      <p:bldP spid="2" grpId="0"/>
      <p:bldP spid="3" grpId="0"/>
      <p:bldP spid="4"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6" name="Text Box 28"/>
          <p:cNvSpPr txBox="1"/>
          <p:nvPr/>
        </p:nvSpPr>
        <p:spPr>
          <a:xfrm>
            <a:off x="450850" y="692150"/>
            <a:ext cx="3932238"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按转换器分辨率分类</a:t>
            </a:r>
            <a:endParaRPr lang="zh-CN" altLang="en-US" sz="3200" dirty="0">
              <a:latin typeface="Times New Roman" panose="02020603050405020304" pitchFamily="18" charset="0"/>
            </a:endParaRPr>
          </a:p>
        </p:txBody>
      </p:sp>
      <p:sp>
        <p:nvSpPr>
          <p:cNvPr id="2244638" name="Text Box 30"/>
          <p:cNvSpPr txBox="1"/>
          <p:nvPr/>
        </p:nvSpPr>
        <p:spPr>
          <a:xfrm>
            <a:off x="806450" y="1376363"/>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高</a:t>
            </a:r>
            <a:r>
              <a:rPr lang="en-US" altLang="zh-CN" dirty="0">
                <a:solidFill>
                  <a:srgbClr val="FF3300"/>
                </a:solidFill>
                <a:latin typeface="Times New Roman" panose="02020603050405020304" pitchFamily="18" charset="0"/>
                <a:ea typeface="黑体" panose="02010609060101010101" pitchFamily="49" charset="-122"/>
              </a:rPr>
              <a:t>(&gt;16)</a:t>
            </a:r>
            <a:r>
              <a:rPr lang="zh-CN" altLang="en-US" dirty="0">
                <a:solidFill>
                  <a:srgbClr val="FF3300"/>
                </a:solidFill>
                <a:latin typeface="Times New Roman" panose="02020603050405020304" pitchFamily="18" charset="0"/>
                <a:ea typeface="黑体" panose="02010609060101010101" pitchFamily="49" charset="-122"/>
              </a:rPr>
              <a:t>、中</a:t>
            </a:r>
            <a:r>
              <a:rPr lang="en-US" altLang="zh-CN" dirty="0">
                <a:solidFill>
                  <a:srgbClr val="FF3300"/>
                </a:solidFill>
                <a:latin typeface="Times New Roman" panose="02020603050405020304" pitchFamily="18" charset="0"/>
                <a:ea typeface="黑体" panose="02010609060101010101" pitchFamily="49" charset="-122"/>
              </a:rPr>
              <a:t>(9-16)</a:t>
            </a:r>
            <a:r>
              <a:rPr lang="zh-CN" altLang="en-US" dirty="0">
                <a:solidFill>
                  <a:srgbClr val="FF3300"/>
                </a:solidFill>
                <a:latin typeface="Times New Roman" panose="02020603050405020304" pitchFamily="18" charset="0"/>
                <a:ea typeface="黑体" panose="02010609060101010101" pitchFamily="49" charset="-122"/>
              </a:rPr>
              <a:t>、低</a:t>
            </a:r>
            <a:r>
              <a:rPr lang="en-US" altLang="zh-CN" dirty="0">
                <a:solidFill>
                  <a:srgbClr val="FF3300"/>
                </a:solidFill>
                <a:latin typeface="Times New Roman" panose="02020603050405020304" pitchFamily="18" charset="0"/>
                <a:ea typeface="黑体" panose="02010609060101010101" pitchFamily="49" charset="-122"/>
              </a:rPr>
              <a:t>(≤8)</a:t>
            </a:r>
            <a:endParaRPr lang="zh-CN" altLang="en-US" dirty="0">
              <a:solidFill>
                <a:srgbClr val="FF3300"/>
              </a:solidFill>
              <a:latin typeface="Times New Roman" panose="02020603050405020304" pitchFamily="18" charset="0"/>
              <a:ea typeface="黑体" panose="02010609060101010101" pitchFamily="49" charset="-122"/>
            </a:endParaRPr>
          </a:p>
        </p:txBody>
      </p:sp>
      <p:sp>
        <p:nvSpPr>
          <p:cNvPr id="2244640" name="Text Box 32"/>
          <p:cNvSpPr txBox="1"/>
          <p:nvPr/>
        </p:nvSpPr>
        <p:spPr>
          <a:xfrm>
            <a:off x="825500" y="1933575"/>
            <a:ext cx="7796213" cy="1244600"/>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并行比较型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的分辨率多半不高；</a:t>
            </a:r>
            <a:endParaRPr lang="zh-CN" altLang="en-US" dirty="0">
              <a:solidFill>
                <a:schemeClr val="tx1"/>
              </a:solidFill>
              <a:latin typeface="Times New Roman" panose="02020603050405020304" pitchFamily="18" charset="0"/>
            </a:endParaRPr>
          </a:p>
          <a:p>
            <a:pPr eaLnBrk="1" hangingPunct="1">
              <a:lnSpc>
                <a:spcPct val="90000"/>
              </a:lnSpc>
            </a:pPr>
            <a:r>
              <a:rPr lang="zh-CN" altLang="en-US" dirty="0">
                <a:solidFill>
                  <a:schemeClr val="tx1"/>
                </a:solidFill>
                <a:latin typeface="Times New Roman" panose="02020603050405020304" pitchFamily="18" charset="0"/>
              </a:rPr>
              <a:t>大多数</a:t>
            </a:r>
            <a:r>
              <a:rPr lang="el-GR" altLang="zh-CN" dirty="0">
                <a:solidFill>
                  <a:schemeClr val="tx1"/>
                </a:solidFill>
                <a:latin typeface="Times New Roman" panose="02020603050405020304" pitchFamily="18" charset="0"/>
                <a:cs typeface="Times New Roman" panose="02020603050405020304" pitchFamily="18" charset="0"/>
              </a:rPr>
              <a:t>Σ</a:t>
            </a:r>
            <a:r>
              <a:rPr lang="en-US" altLang="zh-CN" dirty="0">
                <a:solidFill>
                  <a:schemeClr val="tx1"/>
                </a:solidFill>
                <a:latin typeface="Times New Roman" panose="02020603050405020304" pitchFamily="18" charset="0"/>
                <a:cs typeface="Times New Roman" panose="02020603050405020304" pitchFamily="18" charset="0"/>
              </a:rPr>
              <a:t>-</a:t>
            </a:r>
            <a:r>
              <a:rPr lang="el-GR" altLang="zh-CN" dirty="0">
                <a:solidFill>
                  <a:schemeClr val="tx1"/>
                </a:solidFill>
                <a:latin typeface="Times New Roman" panose="02020603050405020304" pitchFamily="18" charset="0"/>
                <a:cs typeface="Times New Roman" panose="02020603050405020304" pitchFamily="18" charset="0"/>
              </a:rPr>
              <a:t>Δ</a:t>
            </a:r>
            <a:r>
              <a:rPr lang="zh-CN" altLang="en-US" dirty="0">
                <a:solidFill>
                  <a:schemeClr val="tx1"/>
                </a:solidFill>
                <a:latin typeface="Times New Roman" panose="02020603050405020304" pitchFamily="18" charset="0"/>
              </a:rPr>
              <a:t>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是高分辨率的；</a:t>
            </a:r>
            <a:endParaRPr lang="zh-CN" altLang="en-US" dirty="0">
              <a:solidFill>
                <a:schemeClr val="tx1"/>
              </a:solidFill>
              <a:latin typeface="Times New Roman" panose="02020603050405020304" pitchFamily="18" charset="0"/>
            </a:endParaRPr>
          </a:p>
          <a:p>
            <a:pPr eaLnBrk="1" hangingPunct="1">
              <a:lnSpc>
                <a:spcPct val="90000"/>
              </a:lnSpc>
            </a:pPr>
            <a:r>
              <a:rPr lang="zh-CN" altLang="en-US" dirty="0">
                <a:solidFill>
                  <a:schemeClr val="tx1"/>
                </a:solidFill>
                <a:latin typeface="Times New Roman" panose="02020603050405020304" pitchFamily="18" charset="0"/>
              </a:rPr>
              <a:t>逐次逼近型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既有</a:t>
            </a:r>
            <a:r>
              <a:rPr lang="en-US" altLang="zh-CN" dirty="0">
                <a:solidFill>
                  <a:srgbClr val="CC00CC"/>
                </a:solidFill>
                <a:latin typeface="Times New Roman" panose="02020603050405020304" pitchFamily="18" charset="0"/>
              </a:rPr>
              <a:t>8</a:t>
            </a:r>
            <a:r>
              <a:rPr lang="zh-CN" altLang="en-US" dirty="0">
                <a:solidFill>
                  <a:schemeClr val="tx1"/>
                </a:solidFill>
                <a:latin typeface="Times New Roman" panose="02020603050405020304" pitchFamily="18" charset="0"/>
              </a:rPr>
              <a:t>位，又有中、高分辨率的。</a:t>
            </a:r>
            <a:endParaRPr lang="zh-CN" altLang="en-US" dirty="0">
              <a:solidFill>
                <a:schemeClr val="tx1"/>
              </a:solidFill>
              <a:latin typeface="Times New Roman" panose="02020603050405020304" pitchFamily="18" charset="0"/>
            </a:endParaRPr>
          </a:p>
        </p:txBody>
      </p:sp>
      <p:sp>
        <p:nvSpPr>
          <p:cNvPr id="2244657" name="Text Box 49"/>
          <p:cNvSpPr txBox="1"/>
          <p:nvPr/>
        </p:nvSpPr>
        <p:spPr>
          <a:xfrm>
            <a:off x="339725" y="139541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 name="Text Box 28"/>
          <p:cNvSpPr txBox="1"/>
          <p:nvPr/>
        </p:nvSpPr>
        <p:spPr>
          <a:xfrm>
            <a:off x="431800" y="3363913"/>
            <a:ext cx="3163888"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按转换速率分类</a:t>
            </a:r>
            <a:endParaRPr lang="zh-CN" altLang="en-US" sz="3200" dirty="0">
              <a:latin typeface="Times New Roman" panose="02020603050405020304" pitchFamily="18" charset="0"/>
            </a:endParaRPr>
          </a:p>
        </p:txBody>
      </p:sp>
      <p:sp>
        <p:nvSpPr>
          <p:cNvPr id="3" name="Text Box 30"/>
          <p:cNvSpPr txBox="1"/>
          <p:nvPr/>
        </p:nvSpPr>
        <p:spPr>
          <a:xfrm>
            <a:off x="787400" y="4048125"/>
            <a:ext cx="8066088" cy="47625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高</a:t>
            </a:r>
            <a:r>
              <a:rPr lang="en-US" altLang="zh-CN" dirty="0">
                <a:solidFill>
                  <a:srgbClr val="FF3300"/>
                </a:solidFill>
                <a:latin typeface="Times New Roman" panose="02020603050405020304" pitchFamily="18" charset="0"/>
                <a:ea typeface="黑体" panose="02010609060101010101" pitchFamily="49" charset="-122"/>
              </a:rPr>
              <a:t>(ns)</a:t>
            </a:r>
            <a:r>
              <a:rPr lang="zh-CN" altLang="en-US" dirty="0">
                <a:solidFill>
                  <a:srgbClr val="FF3300"/>
                </a:solidFill>
                <a:latin typeface="Times New Roman" panose="02020603050405020304" pitchFamily="18" charset="0"/>
                <a:ea typeface="黑体" panose="02010609060101010101" pitchFamily="49" charset="-122"/>
              </a:rPr>
              <a:t>、中</a:t>
            </a:r>
            <a:r>
              <a:rPr lang="en-US" altLang="zh-CN" dirty="0">
                <a:solidFill>
                  <a:srgbClr val="FF3300"/>
                </a:solidFill>
                <a:latin typeface="Times New Roman" panose="02020603050405020304" pitchFamily="18" charset="0"/>
                <a:ea typeface="黑体" panose="02010609060101010101" pitchFamily="49" charset="-122"/>
              </a:rPr>
              <a:t>(us)</a:t>
            </a:r>
            <a:r>
              <a:rPr lang="zh-CN" altLang="en-US" dirty="0">
                <a:solidFill>
                  <a:srgbClr val="FF3300"/>
                </a:solidFill>
                <a:latin typeface="Times New Roman" panose="02020603050405020304" pitchFamily="18" charset="0"/>
                <a:ea typeface="黑体" panose="02010609060101010101" pitchFamily="49" charset="-122"/>
              </a:rPr>
              <a:t>、低</a:t>
            </a:r>
            <a:r>
              <a:rPr lang="en-US" altLang="zh-CN" dirty="0">
                <a:solidFill>
                  <a:srgbClr val="FF3300"/>
                </a:solidFill>
                <a:latin typeface="Times New Roman" panose="02020603050405020304" pitchFamily="18" charset="0"/>
                <a:ea typeface="黑体" panose="02010609060101010101" pitchFamily="49" charset="-122"/>
              </a:rPr>
              <a:t>(ms)</a:t>
            </a:r>
            <a:endParaRPr lang="zh-CN" altLang="en-US" dirty="0">
              <a:solidFill>
                <a:srgbClr val="FF3300"/>
              </a:solidFill>
              <a:latin typeface="Times New Roman" panose="02020603050405020304" pitchFamily="18" charset="0"/>
              <a:ea typeface="黑体" panose="02010609060101010101" pitchFamily="49" charset="-122"/>
            </a:endParaRPr>
          </a:p>
        </p:txBody>
      </p:sp>
      <p:sp>
        <p:nvSpPr>
          <p:cNvPr id="4" name="Text Box 32"/>
          <p:cNvSpPr txBox="1"/>
          <p:nvPr/>
        </p:nvSpPr>
        <p:spPr>
          <a:xfrm>
            <a:off x="792163" y="4662488"/>
            <a:ext cx="8351837" cy="1628775"/>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并行比较型和分级型是高速</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的主流；</a:t>
            </a:r>
            <a:endParaRPr lang="zh-CN" altLang="en-US" dirty="0">
              <a:solidFill>
                <a:schemeClr val="tx1"/>
              </a:solidFill>
              <a:latin typeface="Times New Roman" panose="02020603050405020304" pitchFamily="18" charset="0"/>
            </a:endParaRPr>
          </a:p>
          <a:p>
            <a:pPr eaLnBrk="1" hangingPunct="1">
              <a:lnSpc>
                <a:spcPct val="90000"/>
              </a:lnSpc>
            </a:pPr>
            <a:r>
              <a:rPr lang="zh-CN" altLang="en-US" dirty="0">
                <a:solidFill>
                  <a:schemeClr val="tx1"/>
                </a:solidFill>
                <a:latin typeface="Times New Roman" panose="02020603050405020304" pitchFamily="18" charset="0"/>
              </a:rPr>
              <a:t>积分型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肯定是低速的；</a:t>
            </a:r>
            <a:endParaRPr lang="zh-CN" altLang="en-US" dirty="0">
              <a:solidFill>
                <a:schemeClr val="tx1"/>
              </a:solidFill>
              <a:latin typeface="Times New Roman" panose="02020603050405020304" pitchFamily="18" charset="0"/>
            </a:endParaRPr>
          </a:p>
          <a:p>
            <a:pPr eaLnBrk="1" hangingPunct="1">
              <a:lnSpc>
                <a:spcPct val="90000"/>
              </a:lnSpc>
            </a:pPr>
            <a:r>
              <a:rPr lang="zh-CN" altLang="en-US" dirty="0">
                <a:solidFill>
                  <a:schemeClr val="tx1"/>
                </a:solidFill>
                <a:latin typeface="Times New Roman" panose="02020603050405020304" pitchFamily="18" charset="0"/>
              </a:rPr>
              <a:t>逐次逼近型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的转换时间在微秒或几百纳秒级；</a:t>
            </a:r>
            <a:endParaRPr lang="zh-CN" altLang="en-US" dirty="0">
              <a:solidFill>
                <a:schemeClr val="tx1"/>
              </a:solidFill>
              <a:latin typeface="Times New Roman" panose="02020603050405020304" pitchFamily="18" charset="0"/>
            </a:endParaRPr>
          </a:p>
          <a:p>
            <a:pPr eaLnBrk="1" hangingPunct="1">
              <a:lnSpc>
                <a:spcPct val="90000"/>
              </a:lnSpc>
            </a:pPr>
            <a:r>
              <a:rPr lang="el-GR" altLang="zh-CN" dirty="0">
                <a:solidFill>
                  <a:schemeClr val="tx1"/>
                </a:solidFill>
                <a:latin typeface="Times New Roman" panose="02020603050405020304" pitchFamily="18" charset="0"/>
                <a:cs typeface="Times New Roman" panose="02020603050405020304" pitchFamily="18" charset="0"/>
              </a:rPr>
              <a:t>Σ</a:t>
            </a:r>
            <a:r>
              <a:rPr lang="en-US" altLang="zh-CN" dirty="0">
                <a:solidFill>
                  <a:schemeClr val="tx1"/>
                </a:solidFill>
                <a:latin typeface="Times New Roman" panose="02020603050405020304" pitchFamily="18" charset="0"/>
                <a:cs typeface="Times New Roman" panose="02020603050405020304" pitchFamily="18" charset="0"/>
              </a:rPr>
              <a:t>-</a:t>
            </a:r>
            <a:r>
              <a:rPr lang="el-GR" altLang="zh-CN" dirty="0">
                <a:solidFill>
                  <a:schemeClr val="tx1"/>
                </a:solidFill>
                <a:latin typeface="Times New Roman" panose="02020603050405020304" pitchFamily="18" charset="0"/>
                <a:cs typeface="Times New Roman" panose="02020603050405020304" pitchFamily="18" charset="0"/>
              </a:rPr>
              <a:t>Δ</a:t>
            </a:r>
            <a:r>
              <a:rPr lang="zh-CN" altLang="en-US" dirty="0">
                <a:solidFill>
                  <a:schemeClr val="tx1"/>
                </a:solidFill>
                <a:latin typeface="Times New Roman" panose="02020603050405020304" pitchFamily="18" charset="0"/>
              </a:rPr>
              <a:t>型</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最高采样速率已达</a:t>
            </a:r>
            <a:r>
              <a:rPr lang="en-US" altLang="zh-CN" dirty="0">
                <a:solidFill>
                  <a:srgbClr val="CC00CC"/>
                </a:solidFill>
                <a:latin typeface="Times New Roman" panose="02020603050405020304" pitchFamily="18" charset="0"/>
              </a:rPr>
              <a:t>1MSPS</a:t>
            </a:r>
            <a:r>
              <a:rPr lang="zh-CN" altLang="en-US" dirty="0">
                <a:solidFill>
                  <a:schemeClr val="tx1"/>
                </a:solidFill>
                <a:latin typeface="Times New Roman" panose="02020603050405020304" pitchFamily="18" charset="0"/>
              </a:rPr>
              <a:t>。</a:t>
            </a:r>
            <a:endParaRPr lang="zh-CN" altLang="en-US" dirty="0">
              <a:solidFill>
                <a:schemeClr val="tx1"/>
              </a:solidFill>
              <a:latin typeface="Times New Roman" panose="02020603050405020304" pitchFamily="18" charset="0"/>
            </a:endParaRPr>
          </a:p>
        </p:txBody>
      </p:sp>
      <p:sp>
        <p:nvSpPr>
          <p:cNvPr id="5" name="Text Box 49"/>
          <p:cNvSpPr txBox="1"/>
          <p:nvPr/>
        </p:nvSpPr>
        <p:spPr>
          <a:xfrm>
            <a:off x="320675" y="4081463"/>
            <a:ext cx="1008063"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36"/>
                                        </p:tgtEl>
                                        <p:attrNameLst>
                                          <p:attrName>style.visibility</p:attrName>
                                        </p:attrNameLst>
                                      </p:cBhvr>
                                      <p:to>
                                        <p:strVal val="visible"/>
                                      </p:to>
                                    </p:set>
                                    <p:animEffect transition="in" filter="dissolve">
                                      <p:cBhvr>
                                        <p:cTn id="7" dur="500"/>
                                        <p:tgtEl>
                                          <p:spTgt spid="22446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4657"/>
                                        </p:tgtEl>
                                        <p:attrNameLst>
                                          <p:attrName>style.visibility</p:attrName>
                                        </p:attrNameLst>
                                      </p:cBhvr>
                                      <p:to>
                                        <p:strVal val="visible"/>
                                      </p:to>
                                    </p:set>
                                    <p:animEffect transition="in" filter="dissolve">
                                      <p:cBhvr>
                                        <p:cTn id="12" dur="500"/>
                                        <p:tgtEl>
                                          <p:spTgt spid="2244657"/>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44638"/>
                                        </p:tgtEl>
                                        <p:attrNameLst>
                                          <p:attrName>style.visibility</p:attrName>
                                        </p:attrNameLst>
                                      </p:cBhvr>
                                      <p:to>
                                        <p:strVal val="visible"/>
                                      </p:to>
                                    </p:set>
                                    <p:animEffect transition="in" filter="dissolve">
                                      <p:cBhvr>
                                        <p:cTn id="15" dur="500"/>
                                        <p:tgtEl>
                                          <p:spTgt spid="224463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244640"/>
                                        </p:tgtEl>
                                        <p:attrNameLst>
                                          <p:attrName>style.visibility</p:attrName>
                                        </p:attrNameLst>
                                      </p:cBhvr>
                                      <p:to>
                                        <p:strVal val="visible"/>
                                      </p:to>
                                    </p:set>
                                    <p:animEffect transition="in" filter="dissolve">
                                      <p:cBhvr>
                                        <p:cTn id="20" dur="500"/>
                                        <p:tgtEl>
                                          <p:spTgt spid="2244640"/>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dissolve">
                                      <p:cBhvr>
                                        <p:cTn id="25" dur="500"/>
                                        <p:tgtEl>
                                          <p:spTgt spid="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dissolve">
                                      <p:cBhvr>
                                        <p:cTn id="30" dur="500"/>
                                        <p:tgtEl>
                                          <p:spTgt spid="5"/>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dissolve">
                                      <p:cBhvr>
                                        <p:cTn id="33" dur="500"/>
                                        <p:tgtEl>
                                          <p:spTgt spid="3"/>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dissolve">
                                      <p:cBhvr>
                                        <p:cTn id="3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6" grpId="0" bldLvl="0" animBg="1"/>
      <p:bldP spid="2244638" grpId="0"/>
      <p:bldP spid="2244640" grpId="0"/>
      <p:bldP spid="2244657" grpId="0"/>
      <p:bldP spid="2" grpId="0" bldLvl="0" animBg="1"/>
      <p:bldP spid="3" grpId="0"/>
      <p:bldP spid="4" grpId="0"/>
      <p:bldP spid="5"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6" name="Text Box 28"/>
          <p:cNvSpPr txBox="1"/>
          <p:nvPr/>
        </p:nvSpPr>
        <p:spPr>
          <a:xfrm>
            <a:off x="450850" y="692150"/>
            <a:ext cx="3932238"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按模拟输入电路分类</a:t>
            </a:r>
            <a:endParaRPr lang="zh-CN" altLang="en-US" sz="3200"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 name="Text Box 28"/>
          <p:cNvSpPr txBox="1"/>
          <p:nvPr/>
        </p:nvSpPr>
        <p:spPr>
          <a:xfrm>
            <a:off x="431800" y="3421063"/>
            <a:ext cx="3951288"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按数字输出接口分类</a:t>
            </a:r>
            <a:endParaRPr lang="zh-CN" altLang="en-US" sz="3200" dirty="0">
              <a:latin typeface="Times New Roman" panose="02020603050405020304" pitchFamily="18" charset="0"/>
            </a:endParaRPr>
          </a:p>
        </p:txBody>
      </p:sp>
      <p:grpSp>
        <p:nvGrpSpPr>
          <p:cNvPr id="14" name="Group 26"/>
          <p:cNvGrpSpPr/>
          <p:nvPr/>
        </p:nvGrpSpPr>
        <p:grpSpPr>
          <a:xfrm>
            <a:off x="314325" y="1347788"/>
            <a:ext cx="8564563" cy="2019300"/>
            <a:chOff x="198" y="849"/>
            <a:chExt cx="5395" cy="1272"/>
          </a:xfrm>
        </p:grpSpPr>
        <p:sp>
          <p:nvSpPr>
            <p:cNvPr id="59405" name="Text Box 30"/>
            <p:cNvSpPr txBox="1"/>
            <p:nvPr/>
          </p:nvSpPr>
          <p:spPr>
            <a:xfrm>
              <a:off x="508" y="849"/>
              <a:ext cx="5081" cy="30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采样保持器</a:t>
              </a:r>
              <a:r>
                <a:rPr lang="zh-CN" altLang="en-US" dirty="0">
                  <a:solidFill>
                    <a:schemeClr val="tx1"/>
                  </a:solidFill>
                  <a:latin typeface="Times New Roman" panose="02020603050405020304" pitchFamily="18" charset="0"/>
                  <a:ea typeface="黑体" panose="02010609060101010101" pitchFamily="49" charset="-122"/>
                </a:rPr>
                <a:t>：提高系统采集速率</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59406" name="Text Box 49"/>
            <p:cNvSpPr txBox="1"/>
            <p:nvPr/>
          </p:nvSpPr>
          <p:spPr>
            <a:xfrm>
              <a:off x="198" y="867"/>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59407" name="Text Box 30"/>
            <p:cNvSpPr txBox="1"/>
            <p:nvPr/>
          </p:nvSpPr>
          <p:spPr>
            <a:xfrm>
              <a:off x="512" y="1167"/>
              <a:ext cx="5081" cy="30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模拟多路开关</a:t>
              </a:r>
              <a:r>
                <a:rPr lang="zh-CN" altLang="en-US" dirty="0">
                  <a:solidFill>
                    <a:schemeClr val="tx1"/>
                  </a:solidFill>
                  <a:latin typeface="Times New Roman" panose="02020603050405020304" pitchFamily="18" charset="0"/>
                  <a:ea typeface="黑体" panose="02010609060101010101" pitchFamily="49" charset="-122"/>
                </a:rPr>
                <a:t>：实现多路数据采集</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59408" name="Text Box 49"/>
            <p:cNvSpPr txBox="1"/>
            <p:nvPr/>
          </p:nvSpPr>
          <p:spPr>
            <a:xfrm>
              <a:off x="202" y="1185"/>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59409" name="Text Box 30"/>
            <p:cNvSpPr txBox="1"/>
            <p:nvPr/>
          </p:nvSpPr>
          <p:spPr>
            <a:xfrm>
              <a:off x="512" y="1485"/>
              <a:ext cx="5081" cy="30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可编程增益放大器</a:t>
              </a:r>
              <a:r>
                <a:rPr lang="zh-CN" altLang="en-US" dirty="0">
                  <a:solidFill>
                    <a:schemeClr val="tx1"/>
                  </a:solidFill>
                  <a:latin typeface="Times New Roman" panose="02020603050405020304" pitchFamily="18" charset="0"/>
                  <a:ea typeface="黑体" panose="02010609060101010101" pitchFamily="49" charset="-122"/>
                </a:rPr>
                <a:t>：适应不同幅度模拟输入信号</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59410" name="Text Box 49"/>
            <p:cNvSpPr txBox="1"/>
            <p:nvPr/>
          </p:nvSpPr>
          <p:spPr>
            <a:xfrm>
              <a:off x="202" y="1503"/>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59411" name="Text Box 30"/>
            <p:cNvSpPr txBox="1"/>
            <p:nvPr/>
          </p:nvSpPr>
          <p:spPr>
            <a:xfrm>
              <a:off x="508" y="1803"/>
              <a:ext cx="5081" cy="300"/>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差动输入电路</a:t>
              </a:r>
              <a:r>
                <a:rPr lang="zh-CN" altLang="en-US" dirty="0">
                  <a:solidFill>
                    <a:schemeClr val="tx1"/>
                  </a:solidFill>
                  <a:latin typeface="Times New Roman" panose="02020603050405020304" pitchFamily="18" charset="0"/>
                  <a:ea typeface="黑体" panose="02010609060101010101" pitchFamily="49" charset="-122"/>
                </a:rPr>
                <a:t>：提高共模抑制能力</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59412" name="Text Box 49"/>
            <p:cNvSpPr txBox="1"/>
            <p:nvPr/>
          </p:nvSpPr>
          <p:spPr>
            <a:xfrm>
              <a:off x="198" y="1821"/>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grpSp>
      <p:grpSp>
        <p:nvGrpSpPr>
          <p:cNvPr id="15" name="Group 27"/>
          <p:cNvGrpSpPr/>
          <p:nvPr/>
        </p:nvGrpSpPr>
        <p:grpSpPr>
          <a:xfrm>
            <a:off x="314325" y="4048125"/>
            <a:ext cx="8829675" cy="2225675"/>
            <a:chOff x="198" y="2550"/>
            <a:chExt cx="5562" cy="1402"/>
          </a:xfrm>
        </p:grpSpPr>
        <p:sp>
          <p:nvSpPr>
            <p:cNvPr id="59399" name="Text Box 30"/>
            <p:cNvSpPr txBox="1"/>
            <p:nvPr/>
          </p:nvSpPr>
          <p:spPr>
            <a:xfrm>
              <a:off x="496" y="2550"/>
              <a:ext cx="5081" cy="542"/>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并行接口：</a:t>
              </a:r>
              <a:endParaRPr lang="zh-CN" altLang="en-US" dirty="0">
                <a:solidFill>
                  <a:srgbClr val="FF3300"/>
                </a:solidFill>
                <a:latin typeface="Times New Roman" panose="02020603050405020304" pitchFamily="18" charset="0"/>
                <a:ea typeface="黑体" panose="02010609060101010101" pitchFamily="49" charset="-122"/>
              </a:endParaRPr>
            </a:p>
            <a:p>
              <a:pPr marL="2154555" indent="-2154555" eaLnBrk="1" hangingPunct="1">
                <a:lnSpc>
                  <a:spcPct val="90000"/>
                </a:lnSpc>
              </a:pPr>
              <a:endParaRPr lang="zh-CN" altLang="en-US" dirty="0">
                <a:solidFill>
                  <a:srgbClr val="FF3300"/>
                </a:solidFill>
                <a:latin typeface="Times New Roman" panose="02020603050405020304" pitchFamily="18" charset="0"/>
                <a:ea typeface="黑体" panose="02010609060101010101" pitchFamily="49" charset="-122"/>
              </a:endParaRPr>
            </a:p>
          </p:txBody>
        </p:sp>
        <p:sp>
          <p:nvSpPr>
            <p:cNvPr id="59400" name="Text Box 49"/>
            <p:cNvSpPr txBox="1"/>
            <p:nvPr/>
          </p:nvSpPr>
          <p:spPr>
            <a:xfrm>
              <a:off x="202" y="2562"/>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59401" name="Text Box 32"/>
            <p:cNvSpPr txBox="1"/>
            <p:nvPr/>
          </p:nvSpPr>
          <p:spPr>
            <a:xfrm>
              <a:off x="1676" y="2573"/>
              <a:ext cx="4084" cy="542"/>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数据传输速率高，接口电路简单，程序设计容易，但占用芯片引脚多，体积大。</a:t>
              </a:r>
              <a:endParaRPr lang="zh-CN" altLang="en-US" dirty="0">
                <a:solidFill>
                  <a:schemeClr val="tx1"/>
                </a:solidFill>
                <a:latin typeface="Times New Roman" panose="02020603050405020304" pitchFamily="18" charset="0"/>
              </a:endParaRPr>
            </a:p>
          </p:txBody>
        </p:sp>
        <p:sp>
          <p:nvSpPr>
            <p:cNvPr id="59402" name="Text Box 30"/>
            <p:cNvSpPr txBox="1"/>
            <p:nvPr/>
          </p:nvSpPr>
          <p:spPr>
            <a:xfrm>
              <a:off x="492" y="3145"/>
              <a:ext cx="5081" cy="542"/>
            </a:xfrm>
            <a:prstGeom prst="rect">
              <a:avLst/>
            </a:prstGeom>
            <a:noFill/>
            <a:ln w="9525">
              <a:noFill/>
            </a:ln>
          </p:spPr>
          <p:txBody>
            <a:bodyPr>
              <a:spAutoFit/>
            </a:bodyPr>
            <a:p>
              <a:pPr marL="2154555" indent="-2154555" eaLnBrk="1" hangingPunct="1">
                <a:lnSpc>
                  <a:spcPct val="90000"/>
                </a:lnSpc>
              </a:pPr>
              <a:r>
                <a:rPr lang="zh-CN" altLang="en-US" dirty="0">
                  <a:solidFill>
                    <a:srgbClr val="FF3300"/>
                  </a:solidFill>
                  <a:latin typeface="Times New Roman" panose="02020603050405020304" pitchFamily="18" charset="0"/>
                  <a:ea typeface="黑体" panose="02010609060101010101" pitchFamily="49" charset="-122"/>
                </a:rPr>
                <a:t>串行接口：</a:t>
              </a:r>
              <a:endParaRPr lang="zh-CN" altLang="en-US" dirty="0">
                <a:solidFill>
                  <a:srgbClr val="FF3300"/>
                </a:solidFill>
                <a:latin typeface="Times New Roman" panose="02020603050405020304" pitchFamily="18" charset="0"/>
                <a:ea typeface="黑体" panose="02010609060101010101" pitchFamily="49" charset="-122"/>
              </a:endParaRPr>
            </a:p>
            <a:p>
              <a:pPr marL="2154555" indent="-2154555" eaLnBrk="1" hangingPunct="1">
                <a:lnSpc>
                  <a:spcPct val="90000"/>
                </a:lnSpc>
              </a:pPr>
              <a:endParaRPr lang="zh-CN" altLang="en-US" dirty="0">
                <a:solidFill>
                  <a:srgbClr val="FF3300"/>
                </a:solidFill>
                <a:latin typeface="Times New Roman" panose="02020603050405020304" pitchFamily="18" charset="0"/>
                <a:ea typeface="黑体" panose="02010609060101010101" pitchFamily="49" charset="-122"/>
              </a:endParaRPr>
            </a:p>
          </p:txBody>
        </p:sp>
        <p:sp>
          <p:nvSpPr>
            <p:cNvPr id="59403" name="Text Box 49"/>
            <p:cNvSpPr txBox="1"/>
            <p:nvPr/>
          </p:nvSpPr>
          <p:spPr>
            <a:xfrm>
              <a:off x="198" y="3157"/>
              <a:ext cx="635" cy="30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dirty="0">
                  <a:latin typeface="Times New Roman" panose="02020603050405020304" pitchFamily="18" charset="0"/>
                </a:rPr>
                <a:t> </a:t>
              </a:r>
              <a:endParaRPr lang="en-US" altLang="zh-CN" dirty="0">
                <a:latin typeface="Times New Roman" panose="02020603050405020304" pitchFamily="18" charset="0"/>
              </a:endParaRPr>
            </a:p>
          </p:txBody>
        </p:sp>
        <p:sp>
          <p:nvSpPr>
            <p:cNvPr id="59404" name="Text Box 32"/>
            <p:cNvSpPr txBox="1"/>
            <p:nvPr/>
          </p:nvSpPr>
          <p:spPr>
            <a:xfrm>
              <a:off x="1672" y="3168"/>
              <a:ext cx="4084" cy="784"/>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数据传输速率低，但占用芯片引脚少，体积小，微处理器端口占用量少，便于简化系统，适用于远距离数据传送。</a:t>
              </a:r>
              <a:endParaRPr lang="zh-CN" altLang="en-US" dirty="0">
                <a:solidFill>
                  <a:schemeClr val="tx1"/>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36"/>
                                        </p:tgtEl>
                                        <p:attrNameLst>
                                          <p:attrName>style.visibility</p:attrName>
                                        </p:attrNameLst>
                                      </p:cBhvr>
                                      <p:to>
                                        <p:strVal val="visible"/>
                                      </p:to>
                                    </p:set>
                                    <p:animEffect transition="in" filter="dissolve">
                                      <p:cBhvr>
                                        <p:cTn id="7" dur="500"/>
                                        <p:tgtEl>
                                          <p:spTgt spid="22446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dissolve">
                                      <p:cBhvr>
                                        <p:cTn id="2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6" grpId="0" bldLvl="0" animBg="1"/>
      <p:bldP spid="2" grpId="0" bldLvl="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44636" name="Text Box 28"/>
          <p:cNvSpPr txBox="1"/>
          <p:nvPr/>
        </p:nvSpPr>
        <p:spPr>
          <a:xfrm>
            <a:off x="450850" y="692150"/>
            <a:ext cx="3627438"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可编程模数转换器</a:t>
            </a:r>
            <a:endParaRPr lang="zh-CN" altLang="en-US" sz="3200" dirty="0">
              <a:latin typeface="Times New Roman" panose="02020603050405020304" pitchFamily="18" charset="0"/>
            </a:endParaRPr>
          </a:p>
        </p:txBody>
      </p:sp>
      <p:sp>
        <p:nvSpPr>
          <p:cNvPr id="2244656" name="Text Box 48"/>
          <p:cNvSpPr txBox="1">
            <a:spLocks noChangeArrowheads="1"/>
          </p:cNvSpPr>
          <p:nvPr/>
        </p:nvSpPr>
        <p:spPr bwMode="auto">
          <a:xfrm>
            <a:off x="2290763" y="61913"/>
            <a:ext cx="523398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6.2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a:t>
            </a:r>
            <a:r>
              <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rPr>
              <a:t>转换器的分类</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 name="Text Box 28"/>
          <p:cNvSpPr txBox="1"/>
          <p:nvPr/>
        </p:nvSpPr>
        <p:spPr>
          <a:xfrm>
            <a:off x="431800" y="3392488"/>
            <a:ext cx="3211513" cy="530225"/>
          </a:xfrm>
          <a:prstGeom prst="rect">
            <a:avLst/>
          </a:prstGeom>
          <a:solidFill>
            <a:srgbClr val="99CCFF"/>
          </a:solidFill>
          <a:ln w="9525">
            <a:noFill/>
          </a:ln>
        </p:spPr>
        <p:txBody>
          <a:bodyPr>
            <a:spAutoFit/>
          </a:bodyPr>
          <a:p>
            <a:pPr eaLnBrk="1" hangingPunct="1">
              <a:lnSpc>
                <a:spcPct val="90000"/>
              </a:lnSpc>
            </a:pPr>
            <a:r>
              <a:rPr lang="zh-CN" altLang="en-US" sz="3200" dirty="0">
                <a:latin typeface="Times New Roman" panose="02020603050405020304" pitchFamily="18" charset="0"/>
              </a:rPr>
              <a:t>模数转换子系统</a:t>
            </a:r>
            <a:endParaRPr lang="zh-CN" altLang="en-US" sz="3200" dirty="0">
              <a:latin typeface="Times New Roman" panose="02020603050405020304" pitchFamily="18" charset="0"/>
            </a:endParaRPr>
          </a:p>
        </p:txBody>
      </p:sp>
      <p:sp>
        <p:nvSpPr>
          <p:cNvPr id="2244640" name="Text Box 32"/>
          <p:cNvSpPr txBox="1"/>
          <p:nvPr/>
        </p:nvSpPr>
        <p:spPr>
          <a:xfrm>
            <a:off x="825500" y="1466850"/>
            <a:ext cx="7796213" cy="1628775"/>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用户可通过编程改变模数转换芯片内部的部分结构的组态，如设置分辨率、模拟输入的量程、选择内部数字滤波器的工作方式、改变数字输出接口的方式等。</a:t>
            </a:r>
            <a:endParaRPr lang="zh-CN" altLang="en-US" dirty="0">
              <a:solidFill>
                <a:schemeClr val="tx1"/>
              </a:solidFill>
              <a:latin typeface="Times New Roman" panose="02020603050405020304" pitchFamily="18" charset="0"/>
            </a:endParaRPr>
          </a:p>
        </p:txBody>
      </p:sp>
      <p:sp>
        <p:nvSpPr>
          <p:cNvPr id="3" name="Text Box 32"/>
          <p:cNvSpPr txBox="1"/>
          <p:nvPr/>
        </p:nvSpPr>
        <p:spPr>
          <a:xfrm>
            <a:off x="825500" y="4195763"/>
            <a:ext cx="7796213" cy="2012950"/>
          </a:xfrm>
          <a:prstGeom prst="rect">
            <a:avLst/>
          </a:prstGeom>
          <a:noFill/>
          <a:ln w="9525">
            <a:noFill/>
          </a:ln>
        </p:spPr>
        <p:txBody>
          <a:bodyPr>
            <a:spAutoFit/>
          </a:bodyPr>
          <a:p>
            <a:pPr eaLnBrk="1" hangingPunct="1">
              <a:lnSpc>
                <a:spcPct val="90000"/>
              </a:lnSpc>
            </a:pPr>
            <a:r>
              <a:rPr lang="zh-CN" altLang="en-US" dirty="0">
                <a:solidFill>
                  <a:schemeClr val="tx1"/>
                </a:solidFill>
                <a:latin typeface="Times New Roman" panose="02020603050405020304" pitchFamily="18" charset="0"/>
              </a:rPr>
              <a:t>随着集成电路制造技术的进步，许多原来由外围芯片完成的功能集成到</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芯片中，如可编程放大器、模拟多路开关、数字信号处理器、微处理器、存储器等集成到</a:t>
            </a:r>
            <a:r>
              <a:rPr lang="en-US" altLang="zh-CN" dirty="0">
                <a:solidFill>
                  <a:schemeClr val="tx1"/>
                </a:solidFill>
                <a:latin typeface="Times New Roman" panose="02020603050405020304" pitchFamily="18" charset="0"/>
              </a:rPr>
              <a:t>ADC</a:t>
            </a:r>
            <a:r>
              <a:rPr lang="zh-CN" altLang="en-US" dirty="0">
                <a:solidFill>
                  <a:schemeClr val="tx1"/>
                </a:solidFill>
                <a:latin typeface="Times New Roman" panose="02020603050405020304" pitchFamily="18" charset="0"/>
              </a:rPr>
              <a:t>芯片中，构成“模数转换子系统”。</a:t>
            </a:r>
            <a:endParaRPr lang="zh-CN" altLang="en-US"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44636"/>
                                        </p:tgtEl>
                                        <p:attrNameLst>
                                          <p:attrName>style.visibility</p:attrName>
                                        </p:attrNameLst>
                                      </p:cBhvr>
                                      <p:to>
                                        <p:strVal val="visible"/>
                                      </p:to>
                                    </p:set>
                                    <p:animEffect transition="in" filter="dissolve">
                                      <p:cBhvr>
                                        <p:cTn id="7" dur="500"/>
                                        <p:tgtEl>
                                          <p:spTgt spid="224463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44640"/>
                                        </p:tgtEl>
                                        <p:attrNameLst>
                                          <p:attrName>style.visibility</p:attrName>
                                        </p:attrNameLst>
                                      </p:cBhvr>
                                      <p:to>
                                        <p:strVal val="visible"/>
                                      </p:to>
                                    </p:set>
                                    <p:animEffect transition="in" filter="dissolve">
                                      <p:cBhvr>
                                        <p:cTn id="12" dur="500"/>
                                        <p:tgtEl>
                                          <p:spTgt spid="224464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4636" grpId="0" bldLvl="0" animBg="1"/>
      <p:bldP spid="2" grpId="0" bldLvl="0" animBg="1"/>
      <p:bldP spid="2244640" grpId="0"/>
      <p:bldP spid="3"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441950"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6.3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模数转换器的发展趋势</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77155" name="Rectangle 3"/>
          <p:cNvSpPr/>
          <p:nvPr/>
        </p:nvSpPr>
        <p:spPr>
          <a:xfrm>
            <a:off x="231775" y="827088"/>
            <a:ext cx="8661400" cy="5457825"/>
          </a:xfrm>
          <a:prstGeom prst="rect">
            <a:avLst/>
          </a:prstGeom>
          <a:noFill/>
          <a:ln w="9525">
            <a:noFill/>
          </a:ln>
        </p:spPr>
        <p:txBody>
          <a:bodyPr/>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1</a:t>
            </a:r>
            <a:r>
              <a:rPr lang="zh-CN" altLang="en-US" dirty="0">
                <a:solidFill>
                  <a:srgbClr val="FF3300"/>
                </a:solidFill>
                <a:latin typeface="黑体" panose="02010609060101010101" pitchFamily="49" charset="-122"/>
                <a:ea typeface="黑体" panose="02010609060101010101" pitchFamily="49" charset="-122"/>
              </a:rPr>
              <a:t>、新结构</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型和分级流水型</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近年来是高分辨率和高速</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的主流结构。传统的逐次逼近型</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也采用了新技术（如电荷重分布）来提高速度和分辨率。</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2</a:t>
            </a:r>
            <a:r>
              <a:rPr lang="zh-CN" altLang="en-US" dirty="0">
                <a:solidFill>
                  <a:srgbClr val="FF3300"/>
                </a:solidFill>
                <a:latin typeface="黑体" panose="02010609060101010101" pitchFamily="49" charset="-122"/>
                <a:ea typeface="黑体" panose="02010609060101010101" pitchFamily="49" charset="-122"/>
              </a:rPr>
              <a:t>、高分辨率和高精度</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高分辨率</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用于数字音频系统</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大动态范围和高信噪比</a:t>
            </a:r>
            <a:r>
              <a:rPr lang="en-US" altLang="zh-CN" dirty="0">
                <a:solidFill>
                  <a:srgbClr val="000066"/>
                </a:solidFill>
                <a:latin typeface="黑体" panose="02010609060101010101" pitchFamily="49" charset="-122"/>
                <a:ea typeface="黑体" panose="02010609060101010101" pitchFamily="49" charset="-122"/>
              </a:rPr>
              <a:t>)</a:t>
            </a:r>
            <a:r>
              <a:rPr lang="zh-CN" altLang="en-US" dirty="0">
                <a:solidFill>
                  <a:srgbClr val="000066"/>
                </a:solidFill>
                <a:latin typeface="黑体" panose="02010609060101010101" pitchFamily="49" charset="-122"/>
                <a:ea typeface="黑体" panose="02010609060101010101" pitchFamily="49" charset="-122"/>
              </a:rPr>
              <a:t>，高分辨率又高精度的</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用于仪表测量系统，取代了双积分型</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Arial" panose="020B0604020202020204" pitchFamily="34" charset="0"/>
                <a:ea typeface="宋体" panose="02010600030101010101" pitchFamily="2" charset="-122"/>
              </a:rPr>
              <a:t>。</a:t>
            </a:r>
            <a:endParaRPr lang="zh-CN" altLang="en-US" dirty="0">
              <a:solidFill>
                <a:srgbClr val="000066"/>
              </a:solidFill>
              <a:latin typeface="Arial" panose="020B0604020202020204" pitchFamily="34" charset="0"/>
              <a:ea typeface="宋体" panose="02010600030101010101" pitchFamily="2" charset="-122"/>
            </a:endParaRPr>
          </a:p>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3</a:t>
            </a:r>
            <a:r>
              <a:rPr lang="zh-CN" altLang="en-US" dirty="0">
                <a:solidFill>
                  <a:srgbClr val="FF3300"/>
                </a:solidFill>
                <a:latin typeface="黑体" panose="02010609060101010101" pitchFamily="49" charset="-122"/>
                <a:ea typeface="黑体" panose="02010609060101010101" pitchFamily="49" charset="-122"/>
              </a:rPr>
              <a:t>、高速</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分级流水结构解决了速度和分辨率的矛盾，用于数字视频和通讯领域，逐次逼近、</a:t>
            </a:r>
            <a:r>
              <a:rPr lang="el-GR" altLang="zh-CN" dirty="0">
                <a:solidFill>
                  <a:srgbClr val="000066"/>
                </a:solidFill>
                <a:latin typeface="黑体" panose="02010609060101010101" pitchFamily="49" charset="-122"/>
                <a:ea typeface="黑体" panose="02010609060101010101" pitchFamily="49" charset="-122"/>
              </a:rPr>
              <a:t>Σ</a:t>
            </a:r>
            <a:r>
              <a:rPr lang="en-US" altLang="zh-CN" dirty="0">
                <a:solidFill>
                  <a:srgbClr val="000066"/>
                </a:solidFill>
                <a:latin typeface="黑体" panose="02010609060101010101" pitchFamily="49" charset="-122"/>
                <a:ea typeface="黑体" panose="02010609060101010101" pitchFamily="49" charset="-122"/>
              </a:rPr>
              <a:t>-</a:t>
            </a:r>
            <a:r>
              <a:rPr lang="el-GR" altLang="zh-CN" dirty="0">
                <a:solidFill>
                  <a:srgbClr val="000066"/>
                </a:solidFill>
                <a:latin typeface="黑体" panose="02010609060101010101" pitchFamily="49" charset="-122"/>
                <a:ea typeface="黑体" panose="02010609060101010101" pitchFamily="49" charset="-122"/>
              </a:rPr>
              <a:t>Δ</a:t>
            </a:r>
            <a:r>
              <a:rPr lang="zh-CN" altLang="en-US" dirty="0">
                <a:solidFill>
                  <a:srgbClr val="000066"/>
                </a:solidFill>
                <a:latin typeface="黑体" panose="02010609060101010101" pitchFamily="49" charset="-122"/>
                <a:ea typeface="黑体" panose="02010609060101010101" pitchFamily="49" charset="-122"/>
              </a:rPr>
              <a:t>型速度不断提高</a:t>
            </a:r>
            <a:endParaRPr lang="zh-CN" altLang="en-US" dirty="0">
              <a:solidFill>
                <a:srgbClr val="000066"/>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7155">
                                            <p:txEl>
                                              <p:charRg st="0" end="6"/>
                                            </p:txEl>
                                          </p:spTgt>
                                        </p:tgtEl>
                                        <p:attrNameLst>
                                          <p:attrName>style.visibility</p:attrName>
                                        </p:attrNameLst>
                                      </p:cBhvr>
                                      <p:to>
                                        <p:strVal val="visible"/>
                                      </p:to>
                                    </p:set>
                                    <p:animEffect transition="in" filter="dissolve">
                                      <p:cBhvr>
                                        <p:cTn id="7" dur="500"/>
                                        <p:tgtEl>
                                          <p:spTgt spid="177155">
                                            <p:txEl>
                                              <p:charRg st="0"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7155">
                                            <p:txEl>
                                              <p:charRg st="6" end="77"/>
                                            </p:txEl>
                                          </p:spTgt>
                                        </p:tgtEl>
                                        <p:attrNameLst>
                                          <p:attrName>style.visibility</p:attrName>
                                        </p:attrNameLst>
                                      </p:cBhvr>
                                      <p:to>
                                        <p:strVal val="visible"/>
                                      </p:to>
                                    </p:set>
                                    <p:animEffect transition="in" filter="dissolve">
                                      <p:cBhvr>
                                        <p:cTn id="10" dur="500"/>
                                        <p:tgtEl>
                                          <p:spTgt spid="177155">
                                            <p:txEl>
                                              <p:charRg st="6" end="77"/>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77155">
                                            <p:txEl>
                                              <p:charRg st="77" end="88"/>
                                            </p:txEl>
                                          </p:spTgt>
                                        </p:tgtEl>
                                        <p:attrNameLst>
                                          <p:attrName>style.visibility</p:attrName>
                                        </p:attrNameLst>
                                      </p:cBhvr>
                                      <p:to>
                                        <p:strVal val="visible"/>
                                      </p:to>
                                    </p:set>
                                    <p:animEffect transition="in" filter="dissolve">
                                      <p:cBhvr>
                                        <p:cTn id="15" dur="500"/>
                                        <p:tgtEl>
                                          <p:spTgt spid="177155">
                                            <p:txEl>
                                              <p:charRg st="77" end="88"/>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77155">
                                            <p:txEl>
                                              <p:charRg st="88" end="158"/>
                                            </p:txEl>
                                          </p:spTgt>
                                        </p:tgtEl>
                                        <p:attrNameLst>
                                          <p:attrName>style.visibility</p:attrName>
                                        </p:attrNameLst>
                                      </p:cBhvr>
                                      <p:to>
                                        <p:strVal val="visible"/>
                                      </p:to>
                                    </p:set>
                                    <p:animEffect transition="in" filter="dissolve">
                                      <p:cBhvr>
                                        <p:cTn id="18" dur="500"/>
                                        <p:tgtEl>
                                          <p:spTgt spid="177155">
                                            <p:txEl>
                                              <p:charRg st="88" end="158"/>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7155">
                                            <p:txEl>
                                              <p:charRg st="163" end="211"/>
                                            </p:txEl>
                                          </p:spTgt>
                                        </p:tgtEl>
                                        <p:attrNameLst>
                                          <p:attrName>style.visibility</p:attrName>
                                        </p:attrNameLst>
                                      </p:cBhvr>
                                      <p:to>
                                        <p:strVal val="visible"/>
                                      </p:to>
                                    </p:set>
                                    <p:animEffect transition="in" filter="dissolve">
                                      <p:cBhvr>
                                        <p:cTn id="23" dur="500"/>
                                        <p:tgtEl>
                                          <p:spTgt spid="177155">
                                            <p:txEl>
                                              <p:charRg st="163" end="21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77155">
                                            <p:txEl>
                                              <p:charRg st="158" end="163"/>
                                            </p:txEl>
                                          </p:spTgt>
                                        </p:tgtEl>
                                        <p:attrNameLst>
                                          <p:attrName>style.visibility</p:attrName>
                                        </p:attrNameLst>
                                      </p:cBhvr>
                                      <p:to>
                                        <p:strVal val="visible"/>
                                      </p:to>
                                    </p:set>
                                    <p:animEffect transition="in" filter="dissolve">
                                      <p:cBhvr>
                                        <p:cTn id="26" dur="500"/>
                                        <p:tgtEl>
                                          <p:spTgt spid="177155">
                                            <p:txEl>
                                              <p:charRg st="158" end="16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441950"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6.3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模数转换器的发展趋势</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79203" name="Rectangle 3"/>
          <p:cNvSpPr/>
          <p:nvPr/>
        </p:nvSpPr>
        <p:spPr>
          <a:xfrm>
            <a:off x="231775" y="827088"/>
            <a:ext cx="8661400" cy="5457825"/>
          </a:xfrm>
          <a:prstGeom prst="rect">
            <a:avLst/>
          </a:prstGeom>
          <a:noFill/>
          <a:ln w="9525">
            <a:noFill/>
          </a:ln>
        </p:spPr>
        <p:txBody>
          <a:bodyPr/>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4</a:t>
            </a:r>
            <a:r>
              <a:rPr lang="zh-CN" altLang="en-US" dirty="0">
                <a:solidFill>
                  <a:srgbClr val="FF3300"/>
                </a:solidFill>
                <a:latin typeface="黑体" panose="02010609060101010101" pitchFamily="49" charset="-122"/>
                <a:ea typeface="黑体" panose="02010609060101010101" pitchFamily="49" charset="-122"/>
              </a:rPr>
              <a:t>、低电压和低功耗</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3-5V</a:t>
            </a:r>
            <a:r>
              <a:rPr lang="zh-CN" altLang="en-US" dirty="0">
                <a:solidFill>
                  <a:srgbClr val="000066"/>
                </a:solidFill>
                <a:latin typeface="黑体" panose="02010609060101010101" pitchFamily="49" charset="-122"/>
                <a:ea typeface="黑体" panose="02010609060101010101" pitchFamily="49" charset="-122"/>
              </a:rPr>
              <a:t>单电源，待机功耗降到</a:t>
            </a:r>
            <a:r>
              <a:rPr lang="el-GR" altLang="zh-CN" dirty="0">
                <a:solidFill>
                  <a:srgbClr val="000066"/>
                </a:solidFill>
                <a:latin typeface="黑体" panose="02010609060101010101" pitchFamily="49" charset="-122"/>
                <a:ea typeface="黑体" panose="02010609060101010101" pitchFamily="49" charset="-122"/>
              </a:rPr>
              <a:t>μ</a:t>
            </a:r>
            <a:r>
              <a:rPr lang="en-US" altLang="zh-CN" dirty="0">
                <a:solidFill>
                  <a:srgbClr val="000066"/>
                </a:solidFill>
                <a:latin typeface="黑体" panose="02010609060101010101" pitchFamily="49" charset="-122"/>
                <a:ea typeface="黑体" panose="02010609060101010101" pitchFamily="49" charset="-122"/>
              </a:rPr>
              <a:t>W</a:t>
            </a:r>
            <a:r>
              <a:rPr lang="zh-CN" altLang="en-US" dirty="0">
                <a:solidFill>
                  <a:srgbClr val="000066"/>
                </a:solidFill>
                <a:latin typeface="黑体" panose="02010609060101010101" pitchFamily="49" charset="-122"/>
                <a:ea typeface="黑体" panose="02010609060101010101" pitchFamily="49" charset="-122"/>
              </a:rPr>
              <a:t>量级。</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5</a:t>
            </a:r>
            <a:r>
              <a:rPr lang="zh-CN" altLang="en-US" dirty="0">
                <a:solidFill>
                  <a:srgbClr val="FF3300"/>
                </a:solidFill>
                <a:latin typeface="黑体" panose="02010609060101010101" pitchFamily="49" charset="-122"/>
                <a:ea typeface="黑体" panose="02010609060101010101" pitchFamily="49" charset="-122"/>
              </a:rPr>
              <a:t>、小型化</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小型表面贴装芯片，满足自动贴装生产线需要</a:t>
            </a:r>
            <a:r>
              <a:rPr lang="zh-CN" altLang="en-US" dirty="0">
                <a:solidFill>
                  <a:srgbClr val="000066"/>
                </a:solidFill>
                <a:latin typeface="Arial" panose="020B0604020202020204" pitchFamily="34" charset="0"/>
                <a:ea typeface="宋体" panose="02010600030101010101" pitchFamily="2" charset="-122"/>
              </a:rPr>
              <a:t>。</a:t>
            </a:r>
            <a:endParaRPr lang="zh-CN" altLang="en-US" dirty="0">
              <a:solidFill>
                <a:srgbClr val="000066"/>
              </a:solidFill>
              <a:latin typeface="Arial" panose="020B0604020202020204" pitchFamily="34" charset="0"/>
              <a:ea typeface="宋体" panose="02010600030101010101" pitchFamily="2" charset="-122"/>
            </a:endParaRPr>
          </a:p>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6</a:t>
            </a:r>
            <a:r>
              <a:rPr lang="zh-CN" altLang="en-US" dirty="0">
                <a:solidFill>
                  <a:srgbClr val="FF3300"/>
                </a:solidFill>
                <a:latin typeface="黑体" panose="02010609060101010101" pitchFamily="49" charset="-122"/>
                <a:ea typeface="黑体" panose="02010609060101010101" pitchFamily="49" charset="-122"/>
              </a:rPr>
              <a:t>、单片系统</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ADC</a:t>
            </a:r>
            <a:r>
              <a:rPr lang="zh-CN" altLang="en-US" dirty="0">
                <a:solidFill>
                  <a:srgbClr val="000066"/>
                </a:solidFill>
                <a:latin typeface="黑体" panose="02010609060101010101" pitchFamily="49" charset="-122"/>
                <a:ea typeface="黑体" panose="02010609060101010101" pitchFamily="49" charset="-122"/>
              </a:rPr>
              <a:t>集成采保、模拟开关、</a:t>
            </a:r>
            <a:r>
              <a:rPr lang="en-US" altLang="zh-CN" dirty="0">
                <a:solidFill>
                  <a:srgbClr val="000066"/>
                </a:solidFill>
                <a:latin typeface="黑体" panose="02010609060101010101" pitchFamily="49" charset="-122"/>
                <a:ea typeface="黑体" panose="02010609060101010101" pitchFamily="49" charset="-122"/>
              </a:rPr>
              <a:t>DSP</a:t>
            </a:r>
            <a:r>
              <a:rPr lang="zh-CN" altLang="en-US" dirty="0">
                <a:solidFill>
                  <a:srgbClr val="000066"/>
                </a:solidFill>
                <a:latin typeface="黑体" panose="02010609060101010101" pitchFamily="49" charset="-122"/>
                <a:ea typeface="黑体" panose="02010609060101010101" pitchFamily="49" charset="-122"/>
              </a:rPr>
              <a:t>等，构成模数转换子系统，简化系统结构，提高系统可靠性。</a:t>
            </a:r>
            <a:endParaRPr lang="zh-CN" altLang="en-US" dirty="0">
              <a:solidFill>
                <a:srgbClr val="000066"/>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FF3300"/>
                </a:solidFill>
                <a:latin typeface="黑体" panose="02010609060101010101" pitchFamily="49" charset="-122"/>
                <a:ea typeface="黑体" panose="02010609060101010101" pitchFamily="49" charset="-122"/>
              </a:rPr>
              <a:t>7</a:t>
            </a:r>
            <a:r>
              <a:rPr lang="zh-CN" altLang="en-US" dirty="0">
                <a:solidFill>
                  <a:srgbClr val="FF3300"/>
                </a:solidFill>
                <a:latin typeface="黑体" panose="02010609060101010101" pitchFamily="49" charset="-122"/>
                <a:ea typeface="黑体" panose="02010609060101010101" pitchFamily="49" charset="-122"/>
              </a:rPr>
              <a:t>、低成本</a:t>
            </a:r>
            <a:endParaRPr lang="en-US" altLang="zh-CN" dirty="0">
              <a:solidFill>
                <a:srgbClr val="FF3300"/>
              </a:solidFill>
              <a:latin typeface="黑体" panose="02010609060101010101" pitchFamily="49" charset="-122"/>
              <a:ea typeface="黑体" panose="02010609060101010101" pitchFamily="49" charset="-122"/>
            </a:endParaRPr>
          </a:p>
          <a:p>
            <a:pPr marL="254000" indent="-254000" defTabSz="678180">
              <a:spcBef>
                <a:spcPct val="30000"/>
              </a:spcBef>
              <a:buSzPct val="75000"/>
              <a:buFont typeface="Wingdings" panose="05000000000000000000" pitchFamily="2" charset="2"/>
            </a:pPr>
            <a:r>
              <a:rPr lang="en-US" altLang="zh-CN" dirty="0">
                <a:solidFill>
                  <a:srgbClr val="000066"/>
                </a:solidFill>
                <a:latin typeface="黑体" panose="02010609060101010101" pitchFamily="49" charset="-122"/>
                <a:ea typeface="黑体" panose="02010609060101010101" pitchFamily="49" charset="-122"/>
              </a:rPr>
              <a:t>	</a:t>
            </a:r>
            <a:r>
              <a:rPr lang="zh-CN" altLang="en-US" dirty="0">
                <a:solidFill>
                  <a:srgbClr val="000066"/>
                </a:solidFill>
                <a:latin typeface="黑体" panose="02010609060101010101" pitchFamily="49" charset="-122"/>
                <a:ea typeface="黑体" panose="02010609060101010101" pitchFamily="49" charset="-122"/>
              </a:rPr>
              <a:t>同等性能</a:t>
            </a:r>
            <a:r>
              <a:rPr lang="en-US" altLang="zh-CN" dirty="0">
                <a:solidFill>
                  <a:srgbClr val="000066"/>
                </a:solidFill>
                <a:latin typeface="黑体" panose="02010609060101010101" pitchFamily="49" charset="-122"/>
                <a:ea typeface="黑体" panose="02010609060101010101" pitchFamily="49" charset="-122"/>
              </a:rPr>
              <a:t>ADC</a:t>
            </a:r>
            <a:r>
              <a:rPr lang="zh-CN" altLang="en-US" dirty="0">
                <a:solidFill>
                  <a:srgbClr val="000066"/>
                </a:solidFill>
                <a:latin typeface="黑体" panose="02010609060101010101" pitchFamily="49" charset="-122"/>
                <a:ea typeface="黑体" panose="02010609060101010101" pitchFamily="49" charset="-122"/>
              </a:rPr>
              <a:t>芯片价格是十年前的几分之一，甚至几十分之一。</a:t>
            </a:r>
            <a:endParaRPr lang="zh-CN" altLang="en-US" dirty="0">
              <a:solidFill>
                <a:srgbClr val="000066"/>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9203">
                                            <p:txEl>
                                              <p:charRg st="0" end="10"/>
                                            </p:txEl>
                                          </p:spTgt>
                                        </p:tgtEl>
                                        <p:attrNameLst>
                                          <p:attrName>style.visibility</p:attrName>
                                        </p:attrNameLst>
                                      </p:cBhvr>
                                      <p:to>
                                        <p:strVal val="visible"/>
                                      </p:to>
                                    </p:set>
                                    <p:animEffect transition="in" filter="dissolve">
                                      <p:cBhvr>
                                        <p:cTn id="7" dur="500"/>
                                        <p:tgtEl>
                                          <p:spTgt spid="179203">
                                            <p:txEl>
                                              <p:charRg st="0" end="1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9203">
                                            <p:txEl>
                                              <p:charRg st="10" end="31"/>
                                            </p:txEl>
                                          </p:spTgt>
                                        </p:tgtEl>
                                        <p:attrNameLst>
                                          <p:attrName>style.visibility</p:attrName>
                                        </p:attrNameLst>
                                      </p:cBhvr>
                                      <p:to>
                                        <p:strVal val="visible"/>
                                      </p:to>
                                    </p:set>
                                    <p:animEffect transition="in" filter="dissolve">
                                      <p:cBhvr>
                                        <p:cTn id="10" dur="500"/>
                                        <p:tgtEl>
                                          <p:spTgt spid="179203">
                                            <p:txEl>
                                              <p:charRg st="10" end="3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79203">
                                            <p:txEl>
                                              <p:charRg st="31" end="37"/>
                                            </p:txEl>
                                          </p:spTgt>
                                        </p:tgtEl>
                                        <p:attrNameLst>
                                          <p:attrName>style.visibility</p:attrName>
                                        </p:attrNameLst>
                                      </p:cBhvr>
                                      <p:to>
                                        <p:strVal val="visible"/>
                                      </p:to>
                                    </p:set>
                                    <p:animEffect transition="in" filter="dissolve">
                                      <p:cBhvr>
                                        <p:cTn id="15" dur="500"/>
                                        <p:tgtEl>
                                          <p:spTgt spid="179203">
                                            <p:txEl>
                                              <p:charRg st="31" end="37"/>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79203">
                                            <p:txEl>
                                              <p:charRg st="37" end="60"/>
                                            </p:txEl>
                                          </p:spTgt>
                                        </p:tgtEl>
                                        <p:attrNameLst>
                                          <p:attrName>style.visibility</p:attrName>
                                        </p:attrNameLst>
                                      </p:cBhvr>
                                      <p:to>
                                        <p:strVal val="visible"/>
                                      </p:to>
                                    </p:set>
                                    <p:animEffect transition="in" filter="dissolve">
                                      <p:cBhvr>
                                        <p:cTn id="18" dur="500"/>
                                        <p:tgtEl>
                                          <p:spTgt spid="179203">
                                            <p:txEl>
                                              <p:charRg st="37" end="6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9203">
                                            <p:txEl>
                                              <p:charRg st="60" end="67"/>
                                            </p:txEl>
                                          </p:spTgt>
                                        </p:tgtEl>
                                        <p:attrNameLst>
                                          <p:attrName>style.visibility</p:attrName>
                                        </p:attrNameLst>
                                      </p:cBhvr>
                                      <p:to>
                                        <p:strVal val="visible"/>
                                      </p:to>
                                    </p:set>
                                    <p:animEffect transition="in" filter="dissolve">
                                      <p:cBhvr>
                                        <p:cTn id="23" dur="500"/>
                                        <p:tgtEl>
                                          <p:spTgt spid="179203">
                                            <p:txEl>
                                              <p:charRg st="60" end="67"/>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79203">
                                            <p:txEl>
                                              <p:charRg st="67" end="112"/>
                                            </p:txEl>
                                          </p:spTgt>
                                        </p:tgtEl>
                                        <p:attrNameLst>
                                          <p:attrName>style.visibility</p:attrName>
                                        </p:attrNameLst>
                                      </p:cBhvr>
                                      <p:to>
                                        <p:strVal val="visible"/>
                                      </p:to>
                                    </p:set>
                                    <p:animEffect transition="in" filter="dissolve">
                                      <p:cBhvr>
                                        <p:cTn id="26" dur="500"/>
                                        <p:tgtEl>
                                          <p:spTgt spid="179203">
                                            <p:txEl>
                                              <p:charRg st="67" end="11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179203">
                                            <p:txEl>
                                              <p:charRg st="112" end="118"/>
                                            </p:txEl>
                                          </p:spTgt>
                                        </p:tgtEl>
                                        <p:attrNameLst>
                                          <p:attrName>style.visibility</p:attrName>
                                        </p:attrNameLst>
                                      </p:cBhvr>
                                      <p:to>
                                        <p:strVal val="visible"/>
                                      </p:to>
                                    </p:set>
                                    <p:animEffect transition="in" filter="dissolve">
                                      <p:cBhvr>
                                        <p:cTn id="31" dur="500"/>
                                        <p:tgtEl>
                                          <p:spTgt spid="179203">
                                            <p:txEl>
                                              <p:charRg st="112" end="118"/>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179203">
                                            <p:txEl>
                                              <p:charRg st="118" end="149"/>
                                            </p:txEl>
                                          </p:spTgt>
                                        </p:tgtEl>
                                        <p:attrNameLst>
                                          <p:attrName>style.visibility</p:attrName>
                                        </p:attrNameLst>
                                      </p:cBhvr>
                                      <p:to>
                                        <p:strVal val="visible"/>
                                      </p:to>
                                    </p:set>
                                    <p:animEffect transition="in" filter="dissolve">
                                      <p:cBhvr>
                                        <p:cTn id="34" dur="500"/>
                                        <p:tgtEl>
                                          <p:spTgt spid="179203">
                                            <p:txEl>
                                              <p:charRg st="118" end="14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5765" name="Text Box 21"/>
          <p:cNvSpPr txBox="1"/>
          <p:nvPr/>
        </p:nvSpPr>
        <p:spPr>
          <a:xfrm>
            <a:off x="419100" y="873125"/>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2335835" name="Object 91"/>
          <p:cNvGraphicFramePr>
            <a:graphicFrameLocks noChangeAspect="1"/>
          </p:cNvGraphicFramePr>
          <p:nvPr/>
        </p:nvGraphicFramePr>
        <p:xfrm>
          <a:off x="1404938" y="2738438"/>
          <a:ext cx="6551612" cy="3487737"/>
        </p:xfrm>
        <a:graphic>
          <a:graphicData uri="http://schemas.openxmlformats.org/presentationml/2006/ole">
            <mc:AlternateContent xmlns:mc="http://schemas.openxmlformats.org/markup-compatibility/2006">
              <mc:Choice xmlns:v="urn:schemas-microsoft-com:vml" Requires="v">
                <p:oleObj spid="_x0000_s3082" name="" r:id="rId1" imgW="5738495" imgH="3131820" progId="Visio.Drawing.11">
                  <p:embed/>
                </p:oleObj>
              </mc:Choice>
              <mc:Fallback>
                <p:oleObj name="" r:id="rId1" imgW="5738495" imgH="3131820" progId="Visio.Drawing.11">
                  <p:embed/>
                  <p:pic>
                    <p:nvPicPr>
                      <p:cNvPr id="0" name="图片 3081"/>
                      <p:cNvPicPr/>
                      <p:nvPr/>
                    </p:nvPicPr>
                    <p:blipFill>
                      <a:blip r:embed="rId2"/>
                      <a:stretch>
                        <a:fillRect/>
                      </a:stretch>
                    </p:blipFill>
                    <p:spPr>
                      <a:xfrm>
                        <a:off x="1404938" y="2738438"/>
                        <a:ext cx="6551612" cy="3487737"/>
                      </a:xfrm>
                      <a:prstGeom prst="rect">
                        <a:avLst/>
                      </a:prstGeom>
                      <a:solidFill>
                        <a:srgbClr val="FFFF99"/>
                      </a:solidFill>
                      <a:ln w="38100">
                        <a:noFill/>
                        <a:miter/>
                      </a:ln>
                    </p:spPr>
                  </p:pic>
                </p:oleObj>
              </mc:Fallback>
            </mc:AlternateContent>
          </a:graphicData>
        </a:graphic>
      </p:graphicFrame>
      <p:sp>
        <p:nvSpPr>
          <p:cNvPr id="2335836" name="Text Box 92"/>
          <p:cNvSpPr txBox="1"/>
          <p:nvPr/>
        </p:nvSpPr>
        <p:spPr>
          <a:xfrm>
            <a:off x="419100" y="1520825"/>
            <a:ext cx="8343900" cy="1243013"/>
          </a:xfrm>
          <a:prstGeom prst="rect">
            <a:avLst/>
          </a:prstGeom>
          <a:no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应用最普遍的一种</a:t>
            </a:r>
            <a:r>
              <a:rPr lang="en-US" altLang="zh-CN" dirty="0">
                <a:solidFill>
                  <a:schemeClr val="tx1"/>
                </a:solidFill>
                <a:latin typeface="Times New Roman" panose="02020603050405020304" pitchFamily="18" charset="0"/>
                <a:ea typeface="黑体" panose="02010609060101010101" pitchFamily="49" charset="-122"/>
              </a:rPr>
              <a:t>ADC</a:t>
            </a:r>
            <a:r>
              <a:rPr lang="zh-CN" altLang="en-US" dirty="0">
                <a:solidFill>
                  <a:schemeClr val="tx1"/>
                </a:solidFill>
                <a:latin typeface="Times New Roman" panose="02020603050405020304" pitchFamily="18" charset="0"/>
                <a:ea typeface="黑体" panose="02010609060101010101" pitchFamily="49" charset="-122"/>
              </a:rPr>
              <a:t>，</a:t>
            </a:r>
            <a:r>
              <a:rPr lang="zh-CN" altLang="en-US" dirty="0">
                <a:solidFill>
                  <a:srgbClr val="FF3300"/>
                </a:solidFill>
                <a:latin typeface="Times New Roman" panose="02020603050405020304" pitchFamily="18" charset="0"/>
                <a:ea typeface="黑体" panose="02010609060101010101" pitchFamily="49" charset="-122"/>
              </a:rPr>
              <a:t>电路结构简单</a:t>
            </a:r>
            <a:r>
              <a:rPr lang="zh-CN" altLang="en-US" dirty="0">
                <a:solidFill>
                  <a:schemeClr val="tx1"/>
                </a:solidFill>
                <a:latin typeface="Times New Roman" panose="02020603050405020304" pitchFamily="18" charset="0"/>
                <a:ea typeface="黑体" panose="02010609060101010101" pitchFamily="49" charset="-122"/>
              </a:rPr>
              <a:t>。</a:t>
            </a:r>
            <a:endParaRPr lang="en-US" altLang="zh-CN"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Bef>
                <a:spcPct val="30000"/>
              </a:spcBef>
            </a:pPr>
            <a:r>
              <a:rPr lang="zh-CN" altLang="en-US" sz="2400" dirty="0">
                <a:solidFill>
                  <a:schemeClr val="accent2"/>
                </a:solidFill>
                <a:latin typeface="Times New Roman" panose="02020603050405020304" pitchFamily="18" charset="0"/>
                <a:ea typeface="黑体" panose="02010609060101010101" pitchFamily="49" charset="-122"/>
              </a:rPr>
              <a:t>逐次逼近原理类似于用天平和砝码称物体的重量，从大砝码到小砝码逐一试称 。</a:t>
            </a:r>
            <a:endParaRPr lang="zh-CN" altLang="en-US" sz="2400" dirty="0">
              <a:solidFill>
                <a:schemeClr val="accent2"/>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5765"/>
                                        </p:tgtEl>
                                        <p:attrNameLst>
                                          <p:attrName>style.visibility</p:attrName>
                                        </p:attrNameLst>
                                      </p:cBhvr>
                                      <p:to>
                                        <p:strVal val="visible"/>
                                      </p:to>
                                    </p:set>
                                    <p:animEffect transition="in" filter="dissolve">
                                      <p:cBhvr>
                                        <p:cTn id="7" dur="500"/>
                                        <p:tgtEl>
                                          <p:spTgt spid="23357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35836"/>
                                        </p:tgtEl>
                                        <p:attrNameLst>
                                          <p:attrName>style.visibility</p:attrName>
                                        </p:attrNameLst>
                                      </p:cBhvr>
                                      <p:to>
                                        <p:strVal val="visible"/>
                                      </p:to>
                                    </p:set>
                                    <p:animEffect transition="in" filter="dissolve">
                                      <p:cBhvr>
                                        <p:cTn id="12" dur="500"/>
                                        <p:tgtEl>
                                          <p:spTgt spid="233583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335835"/>
                                        </p:tgtEl>
                                        <p:attrNameLst>
                                          <p:attrName>style.visibility</p:attrName>
                                        </p:attrNameLst>
                                      </p:cBhvr>
                                      <p:to>
                                        <p:strVal val="visible"/>
                                      </p:to>
                                    </p:set>
                                    <p:animEffect transition="in" filter="dissolve">
                                      <p:cBhvr>
                                        <p:cTn id="17" dur="500"/>
                                        <p:tgtEl>
                                          <p:spTgt spid="23358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765" grpId="0" bldLvl="0" animBg="1"/>
      <p:bldP spid="2335836"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0803" name="Text Box 3"/>
          <p:cNvSpPr txBox="1"/>
          <p:nvPr/>
        </p:nvSpPr>
        <p:spPr>
          <a:xfrm>
            <a:off x="139700" y="1495425"/>
            <a:ext cx="1558925" cy="476250"/>
          </a:xfrm>
          <a:prstGeom prst="rect">
            <a:avLst/>
          </a:prstGeom>
          <a:noFill/>
          <a:ln w="9525">
            <a:noFill/>
          </a:ln>
        </p:spPr>
        <p:txBody>
          <a:bodyPr>
            <a:spAutoFit/>
          </a:bodyPr>
          <a:p>
            <a:pPr eaLnBrk="1" hangingPunct="1">
              <a:lnSpc>
                <a:spcPct val="90000"/>
              </a:lnSpc>
            </a:pPr>
            <a:r>
              <a:rPr lang="zh-CN" altLang="en-US" dirty="0">
                <a:solidFill>
                  <a:srgbClr val="FF0000"/>
                </a:solidFill>
                <a:latin typeface="黑体" panose="02010609060101010101" pitchFamily="49" charset="-122"/>
                <a:ea typeface="黑体" panose="02010609060101010101" pitchFamily="49" charset="-122"/>
              </a:rPr>
              <a:t>组成</a:t>
            </a:r>
            <a:r>
              <a:rPr lang="en-US" altLang="zh-CN" dirty="0">
                <a:solidFill>
                  <a:srgbClr val="FF0000"/>
                </a:solidFill>
                <a:latin typeface="Times New Roman" panose="02020603050405020304" pitchFamily="18" charset="0"/>
                <a:ea typeface="黑体" panose="02010609060101010101" pitchFamily="49" charset="-122"/>
              </a:rPr>
              <a:t>:</a:t>
            </a:r>
            <a:endParaRPr lang="en-US" altLang="zh-CN" dirty="0">
              <a:solidFill>
                <a:srgbClr val="FF0000"/>
              </a:solidFill>
              <a:latin typeface="Times New Roman" panose="02020603050405020304" pitchFamily="18" charset="0"/>
              <a:ea typeface="黑体" panose="02010609060101010101" pitchFamily="49" charset="-122"/>
            </a:endParaRPr>
          </a:p>
        </p:txBody>
      </p:sp>
      <p:sp>
        <p:nvSpPr>
          <p:cNvPr id="2380807" name="Text Box 7"/>
          <p:cNvSpPr txBox="1"/>
          <p:nvPr/>
        </p:nvSpPr>
        <p:spPr>
          <a:xfrm>
            <a:off x="222250" y="2008188"/>
            <a:ext cx="4783138" cy="476250"/>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dirty="0">
                <a:solidFill>
                  <a:schemeClr val="tx1"/>
                </a:solidFill>
                <a:latin typeface="Times New Roman" panose="02020603050405020304" pitchFamily="18" charset="0"/>
              </a:rPr>
              <a:t>  </a:t>
            </a:r>
            <a:r>
              <a:rPr lang="zh-CN" altLang="en-US" dirty="0">
                <a:solidFill>
                  <a:schemeClr val="tx1"/>
                </a:solidFill>
                <a:latin typeface="Times New Roman" panose="02020603050405020304" pitchFamily="18" charset="0"/>
              </a:rPr>
              <a:t>逐次逼近寄存器</a:t>
            </a:r>
            <a:r>
              <a:rPr lang="en-US" altLang="zh-CN" dirty="0">
                <a:solidFill>
                  <a:schemeClr val="tx1"/>
                </a:solidFill>
                <a:latin typeface="Times New Roman" panose="02020603050405020304" pitchFamily="18" charset="0"/>
              </a:rPr>
              <a:t>SAR</a:t>
            </a:r>
            <a:endParaRPr lang="en-US" altLang="zh-CN" dirty="0">
              <a:solidFill>
                <a:schemeClr val="tx1"/>
              </a:solidFill>
              <a:latin typeface="Times New Roman" panose="02020603050405020304" pitchFamily="18" charset="0"/>
            </a:endParaRPr>
          </a:p>
        </p:txBody>
      </p:sp>
      <p:sp>
        <p:nvSpPr>
          <p:cNvPr id="2380817" name="Text Box 17"/>
          <p:cNvSpPr txBox="1"/>
          <p:nvPr/>
        </p:nvSpPr>
        <p:spPr>
          <a:xfrm>
            <a:off x="1039813" y="2455863"/>
            <a:ext cx="2592387" cy="1296987"/>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Ø"/>
            </a:pPr>
            <a:r>
              <a:rPr lang="en-US" altLang="zh-CN" sz="2400" dirty="0">
                <a:solidFill>
                  <a:srgbClr val="3333FF"/>
                </a:solidFill>
                <a:latin typeface="Times New Roman" panose="02020603050405020304" pitchFamily="18" charset="0"/>
              </a:rPr>
              <a:t>  </a:t>
            </a:r>
            <a:r>
              <a:rPr lang="zh-CN" altLang="en-US" sz="2400" dirty="0">
                <a:solidFill>
                  <a:srgbClr val="3333FF"/>
                </a:solidFill>
                <a:latin typeface="Times New Roman" panose="02020603050405020304" pitchFamily="18" charset="0"/>
              </a:rPr>
              <a:t>去</a:t>
            </a:r>
            <a:r>
              <a:rPr lang="en-US" altLang="zh-CN" sz="2400" dirty="0">
                <a:solidFill>
                  <a:srgbClr val="3333FF"/>
                </a:solidFill>
                <a:latin typeface="Times New Roman" panose="02020603050405020304" pitchFamily="18" charset="0"/>
              </a:rPr>
              <a:t>/</a:t>
            </a:r>
            <a:r>
              <a:rPr lang="zh-CN" altLang="en-US" sz="2400" dirty="0">
                <a:solidFill>
                  <a:srgbClr val="3333FF"/>
                </a:solidFill>
                <a:latin typeface="Times New Roman" panose="02020603050405020304" pitchFamily="18" charset="0"/>
              </a:rPr>
              <a:t>留码逻辑</a:t>
            </a:r>
            <a:endParaRPr lang="zh-CN" altLang="en-US" sz="2400" dirty="0">
              <a:solidFill>
                <a:srgbClr val="3333FF"/>
              </a:solidFill>
              <a:latin typeface="Times New Roman" panose="02020603050405020304" pitchFamily="18" charset="0"/>
            </a:endParaRPr>
          </a:p>
          <a:p>
            <a:pPr eaLnBrk="1" hangingPunct="1">
              <a:lnSpc>
                <a:spcPct val="120000"/>
              </a:lnSpc>
              <a:buClr>
                <a:srgbClr val="FF0000"/>
              </a:buClr>
              <a:buFont typeface="Wingdings" panose="05000000000000000000" pitchFamily="2" charset="2"/>
              <a:buChar char="Ø"/>
            </a:pPr>
            <a:r>
              <a:rPr lang="zh-CN" altLang="en-US" sz="2400" dirty="0">
                <a:solidFill>
                  <a:srgbClr val="3333FF"/>
                </a:solidFill>
                <a:latin typeface="Times New Roman" panose="02020603050405020304" pitchFamily="18" charset="0"/>
              </a:rPr>
              <a:t>  环形计数器</a:t>
            </a:r>
            <a:endParaRPr lang="zh-CN" altLang="en-US" sz="2400" dirty="0">
              <a:solidFill>
                <a:srgbClr val="3333FF"/>
              </a:solidFill>
              <a:latin typeface="Times New Roman" panose="02020603050405020304" pitchFamily="18" charset="0"/>
            </a:endParaRPr>
          </a:p>
          <a:p>
            <a:pPr eaLnBrk="1" hangingPunct="1">
              <a:lnSpc>
                <a:spcPct val="120000"/>
              </a:lnSpc>
              <a:buClr>
                <a:srgbClr val="FF0000"/>
              </a:buClr>
              <a:buFont typeface="Wingdings" panose="05000000000000000000" pitchFamily="2" charset="2"/>
              <a:buChar char="Ø"/>
            </a:pPr>
            <a:r>
              <a:rPr lang="zh-CN" altLang="en-US" sz="2400" dirty="0">
                <a:solidFill>
                  <a:srgbClr val="3333FF"/>
                </a:solidFill>
                <a:latin typeface="Times New Roman" panose="02020603050405020304" pitchFamily="18" charset="0"/>
              </a:rPr>
              <a:t>  数据寄存器</a:t>
            </a:r>
            <a:endParaRPr lang="zh-CN" altLang="en-US" sz="2400" dirty="0">
              <a:solidFill>
                <a:srgbClr val="3333FF"/>
              </a:solidFill>
              <a:latin typeface="Times New Roman" panose="02020603050405020304" pitchFamily="18" charset="0"/>
            </a:endParaRPr>
          </a:p>
        </p:txBody>
      </p:sp>
      <p:sp>
        <p:nvSpPr>
          <p:cNvPr id="2380818" name="Text Box 18"/>
          <p:cNvSpPr txBox="1"/>
          <p:nvPr/>
        </p:nvSpPr>
        <p:spPr>
          <a:xfrm>
            <a:off x="227013" y="3781425"/>
            <a:ext cx="2767012" cy="476250"/>
          </a:xfrm>
          <a:prstGeom prst="rect">
            <a:avLst/>
          </a:prstGeom>
          <a:noFill/>
          <a:ln w="9525">
            <a:noFill/>
          </a:ln>
        </p:spPr>
        <p:txBody>
          <a:bodyPr>
            <a:spAutoFit/>
          </a:bodyPr>
          <a:p>
            <a:pPr eaLnBrk="1" hangingPunct="1">
              <a:lnSpc>
                <a:spcPct val="90000"/>
              </a:lnSpc>
              <a:buClr>
                <a:srgbClr val="FF0000"/>
              </a:buClr>
              <a:buFont typeface="Wingdings" panose="05000000000000000000" pitchFamily="2" charset="2"/>
              <a:buChar char="u"/>
            </a:pPr>
            <a:r>
              <a:rPr lang="en-US" altLang="zh-CN" dirty="0">
                <a:solidFill>
                  <a:schemeClr val="tx1"/>
                </a:solidFill>
                <a:latin typeface="Times New Roman" panose="02020603050405020304" pitchFamily="18" charset="0"/>
              </a:rPr>
              <a:t>  D/A</a:t>
            </a:r>
            <a:r>
              <a:rPr lang="zh-CN" altLang="en-US" dirty="0">
                <a:solidFill>
                  <a:schemeClr val="tx1"/>
                </a:solidFill>
                <a:latin typeface="Times New Roman" panose="02020603050405020304" pitchFamily="18" charset="0"/>
              </a:rPr>
              <a:t>转换器</a:t>
            </a:r>
            <a:endParaRPr lang="zh-CN" altLang="en-US" dirty="0">
              <a:solidFill>
                <a:schemeClr val="tx1"/>
              </a:solidFill>
              <a:latin typeface="Times New Roman" panose="02020603050405020304" pitchFamily="18" charset="0"/>
            </a:endParaRPr>
          </a:p>
        </p:txBody>
      </p:sp>
      <p:sp>
        <p:nvSpPr>
          <p:cNvPr id="2380819" name="Text Box 19"/>
          <p:cNvSpPr txBox="1"/>
          <p:nvPr/>
        </p:nvSpPr>
        <p:spPr>
          <a:xfrm>
            <a:off x="211138" y="4221163"/>
            <a:ext cx="4511675" cy="1800225"/>
          </a:xfrm>
          <a:prstGeom prst="rect">
            <a:avLst/>
          </a:prstGeom>
          <a:noFill/>
          <a:ln w="9525">
            <a:noFill/>
          </a:ln>
        </p:spPr>
        <p:txBody>
          <a:bodyPr>
            <a:spAutoFit/>
          </a:bodyPr>
          <a:p>
            <a:pPr eaLnBrk="1" hangingPunct="1">
              <a:buClr>
                <a:srgbClr val="FF0000"/>
              </a:buClr>
              <a:buFont typeface="Wingdings" panose="05000000000000000000" pitchFamily="2" charset="2"/>
              <a:buChar char="u"/>
            </a:pPr>
            <a:r>
              <a:rPr lang="en-US" altLang="zh-CN" dirty="0">
                <a:solidFill>
                  <a:schemeClr val="tx1"/>
                </a:solidFill>
                <a:latin typeface="Times New Roman" panose="02020603050405020304" pitchFamily="18" charset="0"/>
              </a:rPr>
              <a:t>  </a:t>
            </a:r>
            <a:r>
              <a:rPr lang="zh-CN" altLang="en-US" dirty="0">
                <a:solidFill>
                  <a:schemeClr val="tx1"/>
                </a:solidFill>
                <a:latin typeface="Times New Roman" panose="02020603050405020304" pitchFamily="18" charset="0"/>
              </a:rPr>
              <a:t>电压比较器</a:t>
            </a:r>
            <a:endParaRPr lang="zh-CN" altLang="en-US" dirty="0">
              <a:solidFill>
                <a:schemeClr val="tx1"/>
              </a:solidFill>
              <a:latin typeface="Times New Roman" panose="02020603050405020304" pitchFamily="18" charset="0"/>
            </a:endParaRPr>
          </a:p>
          <a:p>
            <a:pPr eaLnBrk="1" hangingPunct="1">
              <a:buClr>
                <a:srgbClr val="FF0000"/>
              </a:buClr>
              <a:buFont typeface="Wingdings" panose="05000000000000000000" pitchFamily="2" charset="2"/>
              <a:buChar char="u"/>
            </a:pPr>
            <a:r>
              <a:rPr lang="zh-CN" altLang="en-US" dirty="0">
                <a:solidFill>
                  <a:schemeClr val="tx1"/>
                </a:solidFill>
                <a:latin typeface="Times New Roman" panose="02020603050405020304" pitchFamily="18" charset="0"/>
              </a:rPr>
              <a:t>  基准电源</a:t>
            </a:r>
            <a:endParaRPr lang="zh-CN" altLang="en-US" dirty="0">
              <a:solidFill>
                <a:schemeClr val="tx1"/>
              </a:solidFill>
              <a:latin typeface="Times New Roman" panose="02020603050405020304" pitchFamily="18" charset="0"/>
            </a:endParaRPr>
          </a:p>
          <a:p>
            <a:pPr eaLnBrk="1" hangingPunct="1">
              <a:buClr>
                <a:srgbClr val="FF0000"/>
              </a:buClr>
              <a:buFont typeface="Wingdings" panose="05000000000000000000" pitchFamily="2" charset="2"/>
              <a:buChar char="u"/>
            </a:pPr>
            <a:r>
              <a:rPr lang="zh-CN" altLang="en-US" dirty="0">
                <a:solidFill>
                  <a:schemeClr val="tx1"/>
                </a:solidFill>
                <a:latin typeface="Times New Roman" panose="02020603050405020304" pitchFamily="18" charset="0"/>
              </a:rPr>
              <a:t>  时序与逻辑控制电路</a:t>
            </a:r>
            <a:endParaRPr lang="zh-CN" altLang="en-US" dirty="0">
              <a:solidFill>
                <a:schemeClr val="tx1"/>
              </a:solidFill>
              <a:latin typeface="Times New Roman" panose="02020603050405020304" pitchFamily="18" charset="0"/>
            </a:endParaRPr>
          </a:p>
          <a:p>
            <a:pPr eaLnBrk="1" hangingPunct="1">
              <a:buClr>
                <a:srgbClr val="FF0000"/>
              </a:buClr>
              <a:buFont typeface="Wingdings" panose="05000000000000000000" pitchFamily="2" charset="2"/>
              <a:buChar char="u"/>
            </a:pPr>
            <a:r>
              <a:rPr lang="zh-CN" altLang="en-US" dirty="0">
                <a:solidFill>
                  <a:schemeClr val="tx1"/>
                </a:solidFill>
                <a:latin typeface="Times New Roman" panose="02020603050405020304" pitchFamily="18" charset="0"/>
              </a:rPr>
              <a:t>  数字量输出锁存器</a:t>
            </a:r>
            <a:endParaRPr lang="zh-CN" altLang="en-US" dirty="0">
              <a:solidFill>
                <a:schemeClr val="tx1"/>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6568" name="Text Box 21"/>
          <p:cNvSpPr txBox="1"/>
          <p:nvPr/>
        </p:nvSpPr>
        <p:spPr>
          <a:xfrm>
            <a:off x="419100" y="873125"/>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66569" name="Picture 15"/>
          <p:cNvPicPr>
            <a:picLocks noChangeAspect="1"/>
          </p:cNvPicPr>
          <p:nvPr/>
        </p:nvPicPr>
        <p:blipFill>
          <a:blip r:embed="rId1"/>
          <a:stretch>
            <a:fillRect/>
          </a:stretch>
        </p:blipFill>
        <p:spPr>
          <a:xfrm>
            <a:off x="4054475" y="2514600"/>
            <a:ext cx="5049838" cy="32194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0803"/>
                                        </p:tgtEl>
                                        <p:attrNameLst>
                                          <p:attrName>style.visibility</p:attrName>
                                        </p:attrNameLst>
                                      </p:cBhvr>
                                      <p:to>
                                        <p:strVal val="visible"/>
                                      </p:to>
                                    </p:set>
                                    <p:animEffect transition="in" filter="dissolve">
                                      <p:cBhvr>
                                        <p:cTn id="7" dur="500"/>
                                        <p:tgtEl>
                                          <p:spTgt spid="23808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80807"/>
                                        </p:tgtEl>
                                        <p:attrNameLst>
                                          <p:attrName>style.visibility</p:attrName>
                                        </p:attrNameLst>
                                      </p:cBhvr>
                                      <p:to>
                                        <p:strVal val="visible"/>
                                      </p:to>
                                    </p:set>
                                    <p:animEffect transition="in" filter="dissolve">
                                      <p:cBhvr>
                                        <p:cTn id="12" dur="500"/>
                                        <p:tgtEl>
                                          <p:spTgt spid="238080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80817">
                                            <p:txEl>
                                              <p:charRg st="0" end="9"/>
                                            </p:txEl>
                                          </p:spTgt>
                                        </p:tgtEl>
                                        <p:attrNameLst>
                                          <p:attrName>style.visibility</p:attrName>
                                        </p:attrNameLst>
                                      </p:cBhvr>
                                      <p:to>
                                        <p:strVal val="visible"/>
                                      </p:to>
                                    </p:set>
                                    <p:animEffect transition="in" filter="dissolve">
                                      <p:cBhvr>
                                        <p:cTn id="17" dur="500"/>
                                        <p:tgtEl>
                                          <p:spTgt spid="2380817">
                                            <p:txEl>
                                              <p:charRg st="0" end="9"/>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80817">
                                            <p:txEl>
                                              <p:charRg st="9" end="17"/>
                                            </p:txEl>
                                          </p:spTgt>
                                        </p:tgtEl>
                                        <p:attrNameLst>
                                          <p:attrName>style.visibility</p:attrName>
                                        </p:attrNameLst>
                                      </p:cBhvr>
                                      <p:to>
                                        <p:strVal val="visible"/>
                                      </p:to>
                                    </p:set>
                                    <p:animEffect transition="in" filter="dissolve">
                                      <p:cBhvr>
                                        <p:cTn id="22" dur="500"/>
                                        <p:tgtEl>
                                          <p:spTgt spid="2380817">
                                            <p:txEl>
                                              <p:charRg st="9" end="17"/>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80817">
                                            <p:txEl>
                                              <p:charRg st="17" end="25"/>
                                            </p:txEl>
                                          </p:spTgt>
                                        </p:tgtEl>
                                        <p:attrNameLst>
                                          <p:attrName>style.visibility</p:attrName>
                                        </p:attrNameLst>
                                      </p:cBhvr>
                                      <p:to>
                                        <p:strVal val="visible"/>
                                      </p:to>
                                    </p:set>
                                    <p:animEffect transition="in" filter="dissolve">
                                      <p:cBhvr>
                                        <p:cTn id="27" dur="500"/>
                                        <p:tgtEl>
                                          <p:spTgt spid="2380817">
                                            <p:txEl>
                                              <p:charRg st="17" end="2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80818"/>
                                        </p:tgtEl>
                                        <p:attrNameLst>
                                          <p:attrName>style.visibility</p:attrName>
                                        </p:attrNameLst>
                                      </p:cBhvr>
                                      <p:to>
                                        <p:strVal val="visible"/>
                                      </p:to>
                                    </p:set>
                                    <p:animEffect transition="in" filter="dissolve">
                                      <p:cBhvr>
                                        <p:cTn id="32" dur="500"/>
                                        <p:tgtEl>
                                          <p:spTgt spid="2380818"/>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80819">
                                            <p:txEl>
                                              <p:charRg st="0" end="8"/>
                                            </p:txEl>
                                          </p:spTgt>
                                        </p:tgtEl>
                                        <p:attrNameLst>
                                          <p:attrName>style.visibility</p:attrName>
                                        </p:attrNameLst>
                                      </p:cBhvr>
                                      <p:to>
                                        <p:strVal val="visible"/>
                                      </p:to>
                                    </p:set>
                                    <p:animEffect transition="in" filter="dissolve">
                                      <p:cBhvr>
                                        <p:cTn id="37" dur="500"/>
                                        <p:tgtEl>
                                          <p:spTgt spid="2380819">
                                            <p:txEl>
                                              <p:charRg st="0" end="8"/>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2380819">
                                            <p:txEl>
                                              <p:charRg st="8" end="15"/>
                                            </p:txEl>
                                          </p:spTgt>
                                        </p:tgtEl>
                                        <p:attrNameLst>
                                          <p:attrName>style.visibility</p:attrName>
                                        </p:attrNameLst>
                                      </p:cBhvr>
                                      <p:to>
                                        <p:strVal val="visible"/>
                                      </p:to>
                                    </p:set>
                                    <p:animEffect transition="in" filter="dissolve">
                                      <p:cBhvr>
                                        <p:cTn id="42" dur="500"/>
                                        <p:tgtEl>
                                          <p:spTgt spid="2380819">
                                            <p:txEl>
                                              <p:charRg st="8" end="15"/>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380819">
                                            <p:txEl>
                                              <p:charRg st="15" end="27"/>
                                            </p:txEl>
                                          </p:spTgt>
                                        </p:tgtEl>
                                        <p:attrNameLst>
                                          <p:attrName>style.visibility</p:attrName>
                                        </p:attrNameLst>
                                      </p:cBhvr>
                                      <p:to>
                                        <p:strVal val="visible"/>
                                      </p:to>
                                    </p:set>
                                    <p:animEffect transition="in" filter="dissolve">
                                      <p:cBhvr>
                                        <p:cTn id="47" dur="500"/>
                                        <p:tgtEl>
                                          <p:spTgt spid="2380819">
                                            <p:txEl>
                                              <p:charRg st="15" end="27"/>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380819">
                                            <p:txEl>
                                              <p:charRg st="27" end="38"/>
                                            </p:txEl>
                                          </p:spTgt>
                                        </p:tgtEl>
                                        <p:attrNameLst>
                                          <p:attrName>style.visibility</p:attrName>
                                        </p:attrNameLst>
                                      </p:cBhvr>
                                      <p:to>
                                        <p:strVal val="visible"/>
                                      </p:to>
                                    </p:set>
                                    <p:animEffect transition="in" filter="dissolve">
                                      <p:cBhvr>
                                        <p:cTn id="52" dur="500"/>
                                        <p:tgtEl>
                                          <p:spTgt spid="2380819">
                                            <p:txEl>
                                              <p:charRg st="27" end="3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0803" grpId="0"/>
      <p:bldP spid="2380807" grpId="0"/>
      <p:bldP spid="2380817" grpId="0" build="p"/>
      <p:bldP spid="2380818" grpId="0"/>
      <p:bldP spid="2380819" grpId="0" build="p"/>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1828" name="Text Box 4"/>
          <p:cNvSpPr txBox="1"/>
          <p:nvPr/>
        </p:nvSpPr>
        <p:spPr>
          <a:xfrm>
            <a:off x="215900" y="1557338"/>
            <a:ext cx="3851275" cy="118745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dirty="0">
                <a:solidFill>
                  <a:srgbClr val="3333FF"/>
                </a:solidFill>
                <a:latin typeface="Times New Roman" panose="02020603050405020304" pitchFamily="18" charset="0"/>
              </a:rPr>
              <a:t>设定在</a:t>
            </a:r>
            <a:r>
              <a:rPr lang="en-US" altLang="zh-CN" sz="2400" i="1" dirty="0">
                <a:solidFill>
                  <a:srgbClr val="CC00CC"/>
                </a:solidFill>
                <a:latin typeface="Times New Roman" panose="02020603050405020304" pitchFamily="18" charset="0"/>
                <a:ea typeface="宋体" panose="02010600030101010101" pitchFamily="2" charset="-122"/>
              </a:rPr>
              <a:t>SAR</a:t>
            </a:r>
            <a:r>
              <a:rPr lang="zh-CN" altLang="en-US" sz="2400" dirty="0">
                <a:solidFill>
                  <a:srgbClr val="3333FF"/>
                </a:solidFill>
                <a:latin typeface="Times New Roman" panose="02020603050405020304" pitchFamily="18" charset="0"/>
              </a:rPr>
              <a:t>中的数字量经</a:t>
            </a:r>
            <a:r>
              <a:rPr lang="en-US" altLang="zh-CN" sz="2400" dirty="0">
                <a:solidFill>
                  <a:srgbClr val="3333FF"/>
                </a:solidFill>
                <a:latin typeface="Times New Roman" panose="02020603050405020304" pitchFamily="18" charset="0"/>
                <a:ea typeface="宋体" panose="02010600030101010101" pitchFamily="2" charset="-122"/>
              </a:rPr>
              <a:t>D/A</a:t>
            </a:r>
            <a:r>
              <a:rPr lang="zh-CN" altLang="en-US" sz="2400" dirty="0">
                <a:solidFill>
                  <a:srgbClr val="3333FF"/>
                </a:solidFill>
                <a:latin typeface="Times New Roman" panose="02020603050405020304" pitchFamily="18" charset="0"/>
              </a:rPr>
              <a:t>转换器转换成反馈电压</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f </a:t>
            </a:r>
            <a:r>
              <a:rPr lang="zh-CN" altLang="en-US" sz="2400" dirty="0">
                <a:solidFill>
                  <a:srgbClr val="3333FF"/>
                </a:solidFill>
                <a:latin typeface="Times New Roman" panose="02020603050405020304" pitchFamily="18" charset="0"/>
                <a:ea typeface="宋体" panose="02010600030101010101" pitchFamily="2" charset="-122"/>
              </a:rPr>
              <a:t>；</a:t>
            </a:r>
            <a:endParaRPr lang="zh-CN" altLang="en-US" sz="2400" dirty="0">
              <a:solidFill>
                <a:srgbClr val="3333FF"/>
              </a:solidFill>
              <a:latin typeface="Times New Roman" panose="02020603050405020304" pitchFamily="18" charset="0"/>
            </a:endParaRPr>
          </a:p>
        </p:txBody>
      </p:sp>
      <p:sp>
        <p:nvSpPr>
          <p:cNvPr id="2381832" name="Text Box 8"/>
          <p:cNvSpPr txBox="1"/>
          <p:nvPr/>
        </p:nvSpPr>
        <p:spPr>
          <a:xfrm>
            <a:off x="215900" y="2714625"/>
            <a:ext cx="3995738" cy="822325"/>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en-US" altLang="zh-CN" sz="2400" i="1" dirty="0">
                <a:solidFill>
                  <a:srgbClr val="CC00CC"/>
                </a:solidFill>
                <a:latin typeface="Times New Roman" panose="02020603050405020304" pitchFamily="18" charset="0"/>
                <a:ea typeface="宋体" panose="02010600030101010101" pitchFamily="2" charset="-122"/>
              </a:rPr>
              <a:t>SAR</a:t>
            </a:r>
            <a:r>
              <a:rPr lang="en-US" altLang="zh-CN" sz="2400" dirty="0">
                <a:solidFill>
                  <a:srgbClr val="3333FF"/>
                </a:solidFill>
                <a:latin typeface="Times New Roman" panose="02020603050405020304" pitchFamily="18" charset="0"/>
                <a:ea typeface="宋体" panose="02010600030101010101" pitchFamily="2" charset="-122"/>
              </a:rPr>
              <a:t> </a:t>
            </a:r>
            <a:r>
              <a:rPr lang="zh-CN" altLang="en-US" sz="2400" dirty="0">
                <a:solidFill>
                  <a:srgbClr val="3333FF"/>
                </a:solidFill>
                <a:latin typeface="Times New Roman" panose="02020603050405020304" pitchFamily="18" charset="0"/>
              </a:rPr>
              <a:t>顺次逐位加码控制</a:t>
            </a:r>
            <a:r>
              <a:rPr lang="zh-CN" altLang="en-US" sz="2400" dirty="0">
                <a:solidFill>
                  <a:srgbClr val="3333FF"/>
                </a:solidFill>
                <a:latin typeface="Times New Roman" panose="02020603050405020304" pitchFamily="18" charset="0"/>
                <a:ea typeface="宋体" panose="02010600030101010101" pitchFamily="2" charset="-122"/>
              </a:rPr>
              <a:t> </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f </a:t>
            </a:r>
            <a:r>
              <a:rPr lang="zh-CN" altLang="en-US" sz="2400" dirty="0">
                <a:solidFill>
                  <a:srgbClr val="3333FF"/>
                </a:solidFill>
                <a:latin typeface="Times New Roman" panose="02020603050405020304" pitchFamily="18" charset="0"/>
              </a:rPr>
              <a:t>的变化</a:t>
            </a:r>
            <a:r>
              <a:rPr lang="zh-CN" altLang="en-US" sz="2400" dirty="0">
                <a:solidFill>
                  <a:srgbClr val="3333FF"/>
                </a:solidFill>
                <a:latin typeface="Times New Roman" panose="02020603050405020304" pitchFamily="18" charset="0"/>
                <a:ea typeface="宋体" panose="02010600030101010101" pitchFamily="2" charset="-122"/>
              </a:rPr>
              <a:t>；</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2381834" name="Text Box 10"/>
          <p:cNvSpPr txBox="1"/>
          <p:nvPr/>
        </p:nvSpPr>
        <p:spPr>
          <a:xfrm>
            <a:off x="217488" y="3644900"/>
            <a:ext cx="3849687" cy="118745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f </a:t>
            </a:r>
            <a:r>
              <a:rPr lang="zh-CN" altLang="en-US" sz="2400" dirty="0">
                <a:solidFill>
                  <a:srgbClr val="3333FF"/>
                </a:solidFill>
                <a:latin typeface="Times New Roman" panose="02020603050405020304" pitchFamily="18" charset="0"/>
              </a:rPr>
              <a:t>与等待转换的模拟量</a:t>
            </a:r>
            <a:r>
              <a:rPr lang="en-US" altLang="zh-CN" sz="2400" i="1" dirty="0">
                <a:solidFill>
                  <a:srgbClr val="CC00CC"/>
                </a:solidFill>
                <a:latin typeface="Times New Roman" panose="02020603050405020304" pitchFamily="18" charset="0"/>
                <a:ea typeface="宋体" panose="02010600030101010101" pitchFamily="2" charset="-122"/>
              </a:rPr>
              <a:t>U</a:t>
            </a:r>
            <a:r>
              <a:rPr lang="en-US" altLang="zh-CN" sz="2400" i="1" baseline="-25000" dirty="0">
                <a:solidFill>
                  <a:srgbClr val="CC00CC"/>
                </a:solidFill>
                <a:latin typeface="Times New Roman" panose="02020603050405020304" pitchFamily="18" charset="0"/>
                <a:ea typeface="宋体" panose="02010600030101010101" pitchFamily="2" charset="-122"/>
              </a:rPr>
              <a:t>i </a:t>
            </a:r>
            <a:r>
              <a:rPr lang="zh-CN" altLang="en-US" sz="2400" dirty="0">
                <a:solidFill>
                  <a:srgbClr val="3333FF"/>
                </a:solidFill>
                <a:latin typeface="Times New Roman" panose="02020603050405020304" pitchFamily="18" charset="0"/>
              </a:rPr>
              <a:t>进行比较，大则弃，小则留，逐次逼近</a:t>
            </a:r>
            <a:r>
              <a:rPr lang="zh-CN" altLang="en-US" sz="2400" b="0" dirty="0">
                <a:solidFill>
                  <a:srgbClr val="3333FF"/>
                </a:solidFill>
                <a:latin typeface="Times New Roman" panose="02020603050405020304" pitchFamily="18" charset="0"/>
                <a:ea typeface="宋体" panose="02010600030101010101" pitchFamily="2" charset="-122"/>
              </a:rPr>
              <a:t>；</a:t>
            </a:r>
            <a:endParaRPr lang="zh-CN" altLang="en-US" sz="2400" b="0" dirty="0">
              <a:solidFill>
                <a:srgbClr val="3333FF"/>
              </a:solidFill>
              <a:latin typeface="Times New Roman" panose="02020603050405020304" pitchFamily="18" charset="0"/>
              <a:ea typeface="宋体" panose="02010600030101010101" pitchFamily="2" charset="-122"/>
            </a:endParaRPr>
          </a:p>
        </p:txBody>
      </p:sp>
      <p:sp>
        <p:nvSpPr>
          <p:cNvPr id="2381836" name="Text Box 12"/>
          <p:cNvSpPr txBox="1"/>
          <p:nvPr/>
        </p:nvSpPr>
        <p:spPr>
          <a:xfrm>
            <a:off x="215900" y="4870450"/>
            <a:ext cx="3851275" cy="118745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dirty="0">
                <a:solidFill>
                  <a:srgbClr val="3333FF"/>
                </a:solidFill>
                <a:latin typeface="Times New Roman" panose="02020603050405020304" pitchFamily="18" charset="0"/>
              </a:rPr>
              <a:t>最终留在</a:t>
            </a:r>
            <a:r>
              <a:rPr lang="en-US" altLang="zh-CN" sz="2400" i="1" dirty="0">
                <a:solidFill>
                  <a:srgbClr val="CC00CC"/>
                </a:solidFill>
                <a:latin typeface="Times New Roman" panose="02020603050405020304" pitchFamily="18" charset="0"/>
                <a:ea typeface="宋体" panose="02010600030101010101" pitchFamily="2" charset="-122"/>
              </a:rPr>
              <a:t>SAR</a:t>
            </a:r>
            <a:r>
              <a:rPr lang="zh-CN" altLang="en-US" sz="2400" dirty="0">
                <a:solidFill>
                  <a:srgbClr val="3333FF"/>
                </a:solidFill>
                <a:latin typeface="Times New Roman" panose="02020603050405020304" pitchFamily="18" charset="0"/>
              </a:rPr>
              <a:t>的数据寄存器中的数码作为数字量输出。</a:t>
            </a:r>
            <a:endParaRPr lang="zh-CN" altLang="en-US" sz="2400" dirty="0">
              <a:solidFill>
                <a:srgbClr val="3333FF"/>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7591" name="Text Box 21"/>
          <p:cNvSpPr txBox="1"/>
          <p:nvPr/>
        </p:nvSpPr>
        <p:spPr>
          <a:xfrm>
            <a:off x="419100" y="873125"/>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67592" name="Picture 13"/>
          <p:cNvPicPr>
            <a:picLocks noChangeAspect="1"/>
          </p:cNvPicPr>
          <p:nvPr/>
        </p:nvPicPr>
        <p:blipFill>
          <a:blip r:embed="rId1"/>
          <a:stretch>
            <a:fillRect/>
          </a:stretch>
        </p:blipFill>
        <p:spPr>
          <a:xfrm>
            <a:off x="3902075" y="1866900"/>
            <a:ext cx="5049838" cy="32194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1828">
                                            <p:txEl>
                                              <p:charRg st="0" end="30"/>
                                            </p:txEl>
                                          </p:spTgt>
                                        </p:tgtEl>
                                        <p:attrNameLst>
                                          <p:attrName>style.visibility</p:attrName>
                                        </p:attrNameLst>
                                      </p:cBhvr>
                                      <p:to>
                                        <p:strVal val="visible"/>
                                      </p:to>
                                    </p:set>
                                    <p:animEffect transition="in" filter="dissolve">
                                      <p:cBhvr>
                                        <p:cTn id="7" dur="500"/>
                                        <p:tgtEl>
                                          <p:spTgt spid="2381828">
                                            <p:txEl>
                                              <p:charRg st="0" end="3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81832">
                                            <p:txEl>
                                              <p:charRg st="0" end="21"/>
                                            </p:txEl>
                                          </p:spTgt>
                                        </p:tgtEl>
                                        <p:attrNameLst>
                                          <p:attrName>style.visibility</p:attrName>
                                        </p:attrNameLst>
                                      </p:cBhvr>
                                      <p:to>
                                        <p:strVal val="visible"/>
                                      </p:to>
                                    </p:set>
                                    <p:animEffect transition="in" filter="dissolve">
                                      <p:cBhvr>
                                        <p:cTn id="12" dur="500"/>
                                        <p:tgtEl>
                                          <p:spTgt spid="2381832">
                                            <p:txEl>
                                              <p:charRg st="0" end="2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81834">
                                            <p:txEl>
                                              <p:charRg st="0" end="34"/>
                                            </p:txEl>
                                          </p:spTgt>
                                        </p:tgtEl>
                                        <p:attrNameLst>
                                          <p:attrName>style.visibility</p:attrName>
                                        </p:attrNameLst>
                                      </p:cBhvr>
                                      <p:to>
                                        <p:strVal val="visible"/>
                                      </p:to>
                                    </p:set>
                                    <p:animEffect transition="in" filter="dissolve">
                                      <p:cBhvr>
                                        <p:cTn id="17" dur="500"/>
                                        <p:tgtEl>
                                          <p:spTgt spid="2381834">
                                            <p:txEl>
                                              <p:charRg st="0" end="3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81836">
                                            <p:txEl>
                                              <p:charRg st="0" end="26"/>
                                            </p:txEl>
                                          </p:spTgt>
                                        </p:tgtEl>
                                        <p:attrNameLst>
                                          <p:attrName>style.visibility</p:attrName>
                                        </p:attrNameLst>
                                      </p:cBhvr>
                                      <p:to>
                                        <p:strVal val="visible"/>
                                      </p:to>
                                    </p:set>
                                    <p:animEffect transition="in" filter="dissolve">
                                      <p:cBhvr>
                                        <p:cTn id="22" dur="500"/>
                                        <p:tgtEl>
                                          <p:spTgt spid="2381836">
                                            <p:txEl>
                                              <p:charRg st="0" end="2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1828" grpId="0" build="p"/>
      <p:bldP spid="2381832" grpId="0" build="p"/>
      <p:bldP spid="2381834" grpId="0" build="p"/>
      <p:bldP spid="2381836" grpId="0" build="p"/>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2965" name="Rectangle 117"/>
          <p:cNvSpPr/>
          <p:nvPr/>
        </p:nvSpPr>
        <p:spPr>
          <a:xfrm>
            <a:off x="4362450" y="2384425"/>
            <a:ext cx="4738688" cy="3548063"/>
          </a:xfrm>
          <a:prstGeom prst="rect">
            <a:avLst/>
          </a:prstGeom>
          <a:solidFill>
            <a:srgbClr val="FFFF99"/>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382852" name="Text Box 4"/>
          <p:cNvSpPr txBox="1"/>
          <p:nvPr/>
        </p:nvSpPr>
        <p:spPr>
          <a:xfrm>
            <a:off x="692150" y="1201738"/>
            <a:ext cx="7696200" cy="822325"/>
          </a:xfrm>
          <a:prstGeom prst="rect">
            <a:avLst/>
          </a:prstGeom>
          <a:noFill/>
          <a:ln w="9525">
            <a:noFill/>
          </a:ln>
        </p:spPr>
        <p:txBody>
          <a:bodyPr>
            <a:spAutoFit/>
          </a:bodyPr>
          <a:p>
            <a:pPr marL="897255" indent="-897255" eaLnBrk="1" hangingPunct="1"/>
            <a:r>
              <a:rPr lang="zh-CN" altLang="en-US" sz="2400" dirty="0">
                <a:solidFill>
                  <a:srgbClr val="FF0000"/>
                </a:solidFill>
                <a:latin typeface="黑体" panose="02010609060101010101" pitchFamily="49" charset="-122"/>
                <a:ea typeface="黑体" panose="02010609060101010101" pitchFamily="49" charset="-122"/>
              </a:rPr>
              <a:t>例子：</a:t>
            </a:r>
            <a:r>
              <a:rPr lang="zh-CN" altLang="en-US" sz="2400" dirty="0">
                <a:solidFill>
                  <a:schemeClr val="tx1"/>
                </a:solidFill>
                <a:latin typeface="黑体" panose="02010609060101010101" pitchFamily="49" charset="-122"/>
                <a:ea typeface="黑体" panose="02010609060101010101" pitchFamily="49" charset="-122"/>
              </a:rPr>
              <a:t>设逐次逼近寄存器</a:t>
            </a:r>
            <a:r>
              <a:rPr lang="en-US" altLang="zh-CN" sz="2400" i="1" dirty="0">
                <a:solidFill>
                  <a:srgbClr val="FF0000"/>
                </a:solidFill>
                <a:latin typeface="Times New Roman" panose="02020603050405020304" pitchFamily="18" charset="0"/>
                <a:ea typeface="黑体" panose="02010609060101010101" pitchFamily="49" charset="-122"/>
              </a:rPr>
              <a:t>SAR</a:t>
            </a:r>
            <a:r>
              <a:rPr lang="zh-CN" altLang="en-US" sz="2400" dirty="0">
                <a:solidFill>
                  <a:schemeClr val="tx1"/>
                </a:solidFill>
                <a:latin typeface="黑体" panose="02010609060101010101" pitchFamily="49" charset="-122"/>
                <a:ea typeface="黑体" panose="02010609060101010101" pitchFamily="49" charset="-122"/>
              </a:rPr>
              <a:t>为</a:t>
            </a:r>
            <a:r>
              <a:rPr lang="en-US" altLang="zh-CN" sz="2400" dirty="0">
                <a:solidFill>
                  <a:srgbClr val="FF0000"/>
                </a:solidFill>
                <a:latin typeface="Times New Roman" panose="02020603050405020304" pitchFamily="18" charset="0"/>
                <a:ea typeface="黑体" panose="02010609060101010101" pitchFamily="49" charset="-122"/>
              </a:rPr>
              <a:t>8</a:t>
            </a:r>
            <a:r>
              <a:rPr lang="zh-CN" altLang="en-US" sz="2400" dirty="0">
                <a:solidFill>
                  <a:schemeClr val="tx1"/>
                </a:solidFill>
                <a:latin typeface="黑体" panose="02010609060101010101" pitchFamily="49" charset="-122"/>
                <a:ea typeface="黑体" panose="02010609060101010101" pitchFamily="49" charset="-122"/>
              </a:rPr>
              <a:t>位，基准电压</a:t>
            </a:r>
            <a:r>
              <a:rPr lang="en-US" altLang="zh-CN" sz="2400" dirty="0">
                <a:solidFill>
                  <a:srgbClr val="FF0000"/>
                </a:solidFill>
                <a:latin typeface="Times New Roman" panose="02020603050405020304" pitchFamily="18" charset="0"/>
                <a:ea typeface="黑体" panose="02010609060101010101" pitchFamily="49" charset="-122"/>
              </a:rPr>
              <a:t>10.24V</a:t>
            </a:r>
            <a:r>
              <a:rPr lang="zh-CN" altLang="en-US" sz="2400" dirty="0">
                <a:solidFill>
                  <a:schemeClr val="tx1"/>
                </a:solidFill>
                <a:latin typeface="黑体" panose="02010609060101010101" pitchFamily="49" charset="-122"/>
                <a:ea typeface="黑体" panose="02010609060101010101" pitchFamily="49" charset="-122"/>
              </a:rPr>
              <a:t>，模拟输入电压</a:t>
            </a:r>
            <a:r>
              <a:rPr lang="en-US" altLang="zh-CN" sz="2400" dirty="0">
                <a:solidFill>
                  <a:srgbClr val="FF0000"/>
                </a:solidFill>
                <a:latin typeface="Times New Roman" panose="02020603050405020304" pitchFamily="18" charset="0"/>
                <a:ea typeface="黑体" panose="02010609060101010101" pitchFamily="49" charset="-122"/>
              </a:rPr>
              <a:t>8.3V</a:t>
            </a:r>
            <a:r>
              <a:rPr lang="zh-CN" altLang="en-US" sz="2400" dirty="0">
                <a:solidFill>
                  <a:schemeClr val="tx1"/>
                </a:solidFill>
                <a:latin typeface="黑体" panose="02010609060101010101" pitchFamily="49" charset="-122"/>
                <a:ea typeface="黑体" panose="02010609060101010101" pitchFamily="49" charset="-122"/>
              </a:rPr>
              <a:t>，转换成二进制数码。</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382861" name="Rectangle 13"/>
          <p:cNvSpPr/>
          <p:nvPr/>
        </p:nvSpPr>
        <p:spPr>
          <a:xfrm>
            <a:off x="142875" y="1982788"/>
            <a:ext cx="2328863" cy="420687"/>
          </a:xfrm>
          <a:prstGeom prst="rect">
            <a:avLst/>
          </a:prstGeom>
          <a:noFill/>
          <a:ln w="9525">
            <a:noFill/>
          </a:ln>
        </p:spPr>
        <p:txBody>
          <a:bodyPr wrap="none">
            <a:spAutoFit/>
          </a:bodyPr>
          <a:p>
            <a:pPr eaLnBrk="1" hangingPunct="1">
              <a:lnSpc>
                <a:spcPct val="90000"/>
              </a:lnSpc>
            </a:pPr>
            <a:r>
              <a:rPr lang="zh-CN" altLang="en-US" sz="2400" dirty="0">
                <a:solidFill>
                  <a:srgbClr val="FF0000"/>
                </a:solidFill>
                <a:latin typeface="Times New Roman" panose="02020603050405020304" pitchFamily="18" charset="0"/>
                <a:ea typeface="黑体" panose="02010609060101010101" pitchFamily="49" charset="-122"/>
              </a:rPr>
              <a:t>工作过程如下：</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382862" name="Rectangle 14"/>
          <p:cNvSpPr/>
          <p:nvPr/>
        </p:nvSpPr>
        <p:spPr>
          <a:xfrm>
            <a:off x="142875" y="2528888"/>
            <a:ext cx="4213225" cy="3487737"/>
          </a:xfrm>
          <a:prstGeom prst="rect">
            <a:avLst/>
          </a:prstGeom>
          <a:noFill/>
          <a:ln w="9525">
            <a:noFill/>
          </a:ln>
        </p:spPr>
        <p:txBody>
          <a:bodyPr>
            <a:spAutoFit/>
          </a:bodyPr>
          <a:p>
            <a:pPr marL="457200" indent="-457200" eaLnBrk="1" hangingPunct="1">
              <a:lnSpc>
                <a:spcPct val="90000"/>
              </a:lnSpc>
              <a:spcBef>
                <a:spcPct val="30000"/>
              </a:spcBef>
              <a:buClr>
                <a:srgbClr val="FF0000"/>
              </a:buClr>
              <a:buAutoNum type="arabicPeriod"/>
            </a:pPr>
            <a:r>
              <a:rPr lang="zh-CN" altLang="en-US" sz="2400" dirty="0">
                <a:solidFill>
                  <a:srgbClr val="3333FF"/>
                </a:solidFill>
                <a:latin typeface="Times New Roman" panose="02020603050405020304" pitchFamily="18" charset="0"/>
              </a:rPr>
              <a:t>转换开始之前，先将</a:t>
            </a:r>
            <a:r>
              <a:rPr lang="en-US" altLang="zh-CN" sz="2400" i="1" dirty="0">
                <a:solidFill>
                  <a:srgbClr val="CC00CC"/>
                </a:solidFill>
                <a:latin typeface="Times New Roman" panose="02020603050405020304" pitchFamily="18" charset="0"/>
              </a:rPr>
              <a:t>SAR </a:t>
            </a:r>
            <a:r>
              <a:rPr lang="zh-CN" altLang="en-US" sz="2400" dirty="0">
                <a:solidFill>
                  <a:srgbClr val="3333FF"/>
                </a:solidFill>
                <a:latin typeface="Times New Roman" panose="02020603050405020304" pitchFamily="18" charset="0"/>
              </a:rPr>
              <a:t>清零； </a:t>
            </a:r>
            <a:endParaRPr lang="zh-CN" altLang="en-US" sz="2400" dirty="0">
              <a:solidFill>
                <a:srgbClr val="3333FF"/>
              </a:solidFill>
              <a:latin typeface="Times New Roman" panose="02020603050405020304" pitchFamily="18" charset="0"/>
            </a:endParaRPr>
          </a:p>
          <a:p>
            <a:pPr marL="457200" indent="-457200" eaLnBrk="1" hangingPunct="1">
              <a:lnSpc>
                <a:spcPct val="90000"/>
              </a:lnSpc>
              <a:spcBef>
                <a:spcPct val="30000"/>
              </a:spcBef>
              <a:buClr>
                <a:srgbClr val="FF0000"/>
              </a:buClr>
              <a:buAutoNum type="arabicPeriod"/>
            </a:pPr>
            <a:r>
              <a:rPr lang="zh-CN" altLang="en-US" sz="2400" dirty="0">
                <a:solidFill>
                  <a:srgbClr val="3333FF"/>
                </a:solidFill>
                <a:latin typeface="Times New Roman" panose="02020603050405020304" pitchFamily="18" charset="0"/>
              </a:rPr>
              <a:t>转换开始，第一个时钟脉冲到来时，</a:t>
            </a:r>
            <a:r>
              <a:rPr lang="en-US" altLang="zh-CN" sz="2400" i="1" dirty="0">
                <a:solidFill>
                  <a:srgbClr val="CC00CC"/>
                </a:solidFill>
                <a:latin typeface="Times New Roman" panose="02020603050405020304" pitchFamily="18" charset="0"/>
              </a:rPr>
              <a:t>SAR</a:t>
            </a:r>
            <a:r>
              <a:rPr lang="zh-CN" altLang="en-US" sz="2400" dirty="0">
                <a:solidFill>
                  <a:srgbClr val="3333FF"/>
                </a:solidFill>
                <a:latin typeface="Times New Roman" panose="02020603050405020304" pitchFamily="18" charset="0"/>
              </a:rPr>
              <a:t>的状态置为</a:t>
            </a:r>
            <a:r>
              <a:rPr lang="en-US" altLang="zh-CN" sz="2400" dirty="0">
                <a:solidFill>
                  <a:srgbClr val="CC00CC"/>
                </a:solidFill>
                <a:latin typeface="Times New Roman" panose="02020603050405020304" pitchFamily="18" charset="0"/>
              </a:rPr>
              <a:t>10000000</a:t>
            </a:r>
            <a:r>
              <a:rPr lang="zh-CN" altLang="en-US" sz="2400" dirty="0">
                <a:solidFill>
                  <a:srgbClr val="3333FF"/>
                </a:solidFill>
                <a:latin typeface="Times New Roman" panose="02020603050405020304" pitchFamily="18" charset="0"/>
              </a:rPr>
              <a:t>，经</a:t>
            </a:r>
            <a:r>
              <a:rPr lang="en-US" altLang="zh-CN" sz="2400" dirty="0">
                <a:solidFill>
                  <a:srgbClr val="3333FF"/>
                </a:solidFill>
                <a:latin typeface="Times New Roman" panose="02020603050405020304" pitchFamily="18" charset="0"/>
              </a:rPr>
              <a:t>DAC</a:t>
            </a:r>
            <a:r>
              <a:rPr lang="zh-CN" altLang="en-US" sz="2400" dirty="0">
                <a:solidFill>
                  <a:srgbClr val="3333FF"/>
                </a:solidFill>
                <a:latin typeface="Times New Roman" panose="02020603050405020304" pitchFamily="18" charset="0"/>
              </a:rPr>
              <a:t>转换成反馈电压</a:t>
            </a:r>
            <a:r>
              <a:rPr lang="en-US" altLang="zh-CN" sz="2400" i="1" dirty="0">
                <a:solidFill>
                  <a:srgbClr val="CC00CC"/>
                </a:solidFill>
                <a:latin typeface="Times New Roman" panose="02020603050405020304" pitchFamily="18" charset="0"/>
              </a:rPr>
              <a:t>U</a:t>
            </a:r>
            <a:r>
              <a:rPr lang="en-US" altLang="zh-CN" sz="2400" i="1" baseline="-25000" dirty="0">
                <a:solidFill>
                  <a:srgbClr val="CC00CC"/>
                </a:solidFill>
                <a:latin typeface="Times New Roman" panose="02020603050405020304" pitchFamily="18" charset="0"/>
              </a:rPr>
              <a:t>f</a:t>
            </a:r>
            <a:r>
              <a:rPr lang="en-US" altLang="zh-CN" sz="2400" dirty="0">
                <a:solidFill>
                  <a:srgbClr val="CC00CC"/>
                </a:solidFill>
                <a:latin typeface="Times New Roman" panose="02020603050405020304" pitchFamily="18" charset="0"/>
              </a:rPr>
              <a:t>=</a:t>
            </a:r>
            <a:r>
              <a:rPr lang="en-US" altLang="zh-CN" sz="2400" i="1" dirty="0">
                <a:solidFill>
                  <a:srgbClr val="CC00CC"/>
                </a:solidFill>
                <a:latin typeface="Times New Roman" panose="02020603050405020304" pitchFamily="18" charset="0"/>
              </a:rPr>
              <a:t>U</a:t>
            </a:r>
            <a:r>
              <a:rPr lang="en-US" altLang="zh-CN" sz="2400" baseline="-25000" dirty="0">
                <a:solidFill>
                  <a:srgbClr val="CC00CC"/>
                </a:solidFill>
                <a:latin typeface="Times New Roman" panose="02020603050405020304" pitchFamily="18" charset="0"/>
              </a:rPr>
              <a:t>REF</a:t>
            </a:r>
            <a:r>
              <a:rPr lang="en-US" altLang="zh-CN" sz="2400" dirty="0">
                <a:solidFill>
                  <a:srgbClr val="CC00CC"/>
                </a:solidFill>
                <a:latin typeface="Times New Roman" panose="02020603050405020304" pitchFamily="18" charset="0"/>
              </a:rPr>
              <a:t>/2=5.12V</a:t>
            </a:r>
            <a:r>
              <a:rPr lang="zh-CN" altLang="en-US" sz="2400" dirty="0">
                <a:solidFill>
                  <a:srgbClr val="3333FF"/>
                </a:solidFill>
                <a:latin typeface="Times New Roman" panose="02020603050405020304" pitchFamily="18" charset="0"/>
              </a:rPr>
              <a:t>，反馈到比较器与</a:t>
            </a:r>
            <a:r>
              <a:rPr lang="en-US" altLang="zh-CN" sz="2400" i="1" dirty="0">
                <a:solidFill>
                  <a:srgbClr val="CC00CC"/>
                </a:solidFill>
                <a:latin typeface="Times New Roman" panose="02020603050405020304" pitchFamily="18" charset="0"/>
              </a:rPr>
              <a:t>U</a:t>
            </a:r>
            <a:r>
              <a:rPr lang="en-US" altLang="zh-CN" sz="2400" i="1" baseline="-25000" dirty="0">
                <a:solidFill>
                  <a:srgbClr val="CC00CC"/>
                </a:solidFill>
                <a:latin typeface="Times New Roman" panose="02020603050405020304" pitchFamily="18" charset="0"/>
              </a:rPr>
              <a:t>i</a:t>
            </a:r>
            <a:r>
              <a:rPr lang="zh-CN" altLang="en-US" sz="2400" dirty="0">
                <a:solidFill>
                  <a:srgbClr val="3333FF"/>
                </a:solidFill>
                <a:latin typeface="Times New Roman" panose="02020603050405020304" pitchFamily="18" charset="0"/>
              </a:rPr>
              <a:t>比较。显然，</a:t>
            </a:r>
            <a:r>
              <a:rPr lang="en-US" altLang="zh-CN" sz="2400" i="1" dirty="0">
                <a:solidFill>
                  <a:srgbClr val="CC00CC"/>
                </a:solidFill>
                <a:latin typeface="Times New Roman" panose="02020603050405020304" pitchFamily="18" charset="0"/>
              </a:rPr>
              <a:t>U</a:t>
            </a:r>
            <a:r>
              <a:rPr lang="en-US" altLang="zh-CN" sz="2400" i="1" baseline="-25000" dirty="0">
                <a:solidFill>
                  <a:srgbClr val="CC00CC"/>
                </a:solidFill>
                <a:latin typeface="Times New Roman" panose="02020603050405020304" pitchFamily="18" charset="0"/>
              </a:rPr>
              <a:t>i</a:t>
            </a:r>
            <a:r>
              <a:rPr lang="en-US" altLang="zh-CN" sz="2400" dirty="0">
                <a:solidFill>
                  <a:srgbClr val="CC00CC"/>
                </a:solidFill>
                <a:latin typeface="Times New Roman" panose="02020603050405020304" pitchFamily="18" charset="0"/>
              </a:rPr>
              <a:t> &gt; </a:t>
            </a:r>
            <a:r>
              <a:rPr lang="en-US" altLang="zh-CN" sz="2400" i="1" dirty="0">
                <a:solidFill>
                  <a:srgbClr val="CC00CC"/>
                </a:solidFill>
                <a:latin typeface="Times New Roman" panose="02020603050405020304" pitchFamily="18" charset="0"/>
              </a:rPr>
              <a:t>U</a:t>
            </a:r>
            <a:r>
              <a:rPr lang="en-US" altLang="zh-CN" sz="2400" i="1" baseline="-25000" dirty="0">
                <a:solidFill>
                  <a:srgbClr val="CC00CC"/>
                </a:solidFill>
                <a:latin typeface="Times New Roman" panose="02020603050405020304" pitchFamily="18" charset="0"/>
              </a:rPr>
              <a:t>f</a:t>
            </a:r>
            <a:r>
              <a:rPr lang="zh-CN" altLang="en-US" sz="2400" dirty="0">
                <a:solidFill>
                  <a:srgbClr val="3333FF"/>
                </a:solidFill>
                <a:latin typeface="Times New Roman" panose="02020603050405020304" pitchFamily="18" charset="0"/>
              </a:rPr>
              <a:t>，予以保留此位的“</a:t>
            </a:r>
            <a:r>
              <a:rPr lang="en-US" altLang="zh-CN" sz="2400" dirty="0">
                <a:solidFill>
                  <a:srgbClr val="CC00CC"/>
                </a:solidFill>
                <a:latin typeface="Times New Roman" panose="02020603050405020304" pitchFamily="18" charset="0"/>
              </a:rPr>
              <a:t>1</a:t>
            </a:r>
            <a:r>
              <a:rPr lang="en-US" altLang="zh-CN" sz="2400" dirty="0">
                <a:solidFill>
                  <a:srgbClr val="3333FF"/>
                </a:solidFill>
                <a:latin typeface="Times New Roman" panose="02020603050405020304" pitchFamily="18" charset="0"/>
              </a:rPr>
              <a:t>” </a:t>
            </a:r>
            <a:r>
              <a:rPr lang="zh-CN" altLang="en-US" sz="2400" dirty="0">
                <a:solidFill>
                  <a:srgbClr val="3333FF"/>
                </a:solidFill>
                <a:latin typeface="Times New Roman" panose="02020603050405020304" pitchFamily="18" charset="0"/>
              </a:rPr>
              <a:t>。</a:t>
            </a:r>
            <a:endParaRPr lang="zh-CN" altLang="en-US" sz="2400" dirty="0">
              <a:solidFill>
                <a:srgbClr val="3333FF"/>
              </a:solidFill>
              <a:latin typeface="Times New Roman" panose="02020603050405020304" pitchFamily="18" charset="0"/>
            </a:endParaRPr>
          </a:p>
        </p:txBody>
      </p:sp>
      <p:sp>
        <p:nvSpPr>
          <p:cNvPr id="2382864" name="Line 16"/>
          <p:cNvSpPr/>
          <p:nvPr/>
        </p:nvSpPr>
        <p:spPr>
          <a:xfrm>
            <a:off x="5119688" y="5241925"/>
            <a:ext cx="3819525" cy="0"/>
          </a:xfrm>
          <a:prstGeom prst="line">
            <a:avLst/>
          </a:prstGeom>
          <a:ln w="9525" cap="flat" cmpd="sng">
            <a:solidFill>
              <a:srgbClr val="3333FF"/>
            </a:solidFill>
            <a:prstDash val="solid"/>
            <a:headEnd type="none" w="med" len="med"/>
            <a:tailEnd type="stealth" w="sm" len="lg"/>
          </a:ln>
        </p:spPr>
      </p:sp>
      <p:sp>
        <p:nvSpPr>
          <p:cNvPr id="2382865" name="Line 17"/>
          <p:cNvSpPr/>
          <p:nvPr/>
        </p:nvSpPr>
        <p:spPr>
          <a:xfrm flipV="1">
            <a:off x="5119688" y="3219450"/>
            <a:ext cx="0" cy="2022475"/>
          </a:xfrm>
          <a:prstGeom prst="line">
            <a:avLst/>
          </a:prstGeom>
          <a:ln w="9525" cap="flat" cmpd="sng">
            <a:solidFill>
              <a:srgbClr val="3333FF"/>
            </a:solidFill>
            <a:prstDash val="solid"/>
            <a:headEnd type="none" w="med" len="med"/>
            <a:tailEnd type="stealth" w="sm" len="lg"/>
          </a:ln>
        </p:spPr>
      </p:sp>
      <p:sp>
        <p:nvSpPr>
          <p:cNvPr id="2382866" name="Text Box 18"/>
          <p:cNvSpPr txBox="1"/>
          <p:nvPr/>
        </p:nvSpPr>
        <p:spPr>
          <a:xfrm>
            <a:off x="8856663" y="5097463"/>
            <a:ext cx="254000" cy="366712"/>
          </a:xfrm>
          <a:prstGeom prst="rect">
            <a:avLst/>
          </a:prstGeom>
          <a:noFill/>
          <a:ln w="9525">
            <a:noFill/>
          </a:ln>
        </p:spPr>
        <p:txBody>
          <a:bodyPr wrap="none">
            <a:spAutoFit/>
          </a:bodyPr>
          <a:p>
            <a:pPr eaLnBrk="1" hangingPunct="1">
              <a:lnSpc>
                <a:spcPct val="90000"/>
              </a:lnSpc>
            </a:pPr>
            <a:r>
              <a:rPr lang="en-US" altLang="zh-CN" sz="2000" i="1" dirty="0">
                <a:latin typeface="Times New Roman" panose="02020603050405020304" pitchFamily="18" charset="0"/>
              </a:rPr>
              <a:t>t</a:t>
            </a:r>
            <a:endParaRPr lang="en-US" altLang="zh-CN" sz="2000" i="1" dirty="0">
              <a:latin typeface="Times New Roman" panose="02020603050405020304" pitchFamily="18" charset="0"/>
            </a:endParaRPr>
          </a:p>
        </p:txBody>
      </p:sp>
      <p:sp>
        <p:nvSpPr>
          <p:cNvPr id="2382867" name="Text Box 19"/>
          <p:cNvSpPr txBox="1"/>
          <p:nvPr/>
        </p:nvSpPr>
        <p:spPr>
          <a:xfrm>
            <a:off x="4779963" y="3140075"/>
            <a:ext cx="349250" cy="339725"/>
          </a:xfrm>
          <a:prstGeom prst="rect">
            <a:avLst/>
          </a:prstGeom>
          <a:noFill/>
          <a:ln w="9525">
            <a:noFill/>
          </a:ln>
        </p:spPr>
        <p:txBody>
          <a:bodyPr wrap="none">
            <a:spAutoFit/>
          </a:bodyPr>
          <a:p>
            <a:pPr eaLnBrk="1" hangingPunct="1">
              <a:lnSpc>
                <a:spcPct val="90000"/>
              </a:lnSpc>
            </a:pPr>
            <a:r>
              <a:rPr lang="en-US" altLang="zh-CN" sz="1800" i="1" dirty="0">
                <a:latin typeface="Times New Roman" panose="02020603050405020304" pitchFamily="18" charset="0"/>
              </a:rPr>
              <a:t>U</a:t>
            </a:r>
            <a:endParaRPr lang="en-US" altLang="zh-CN" sz="1800" i="1" dirty="0">
              <a:latin typeface="Times New Roman" panose="02020603050405020304" pitchFamily="18" charset="0"/>
            </a:endParaRPr>
          </a:p>
        </p:txBody>
      </p:sp>
      <p:sp>
        <p:nvSpPr>
          <p:cNvPr id="2382868" name="Line 20"/>
          <p:cNvSpPr/>
          <p:nvPr/>
        </p:nvSpPr>
        <p:spPr>
          <a:xfrm flipV="1">
            <a:off x="5540375" y="5183188"/>
            <a:ext cx="0" cy="58737"/>
          </a:xfrm>
          <a:prstGeom prst="line">
            <a:avLst/>
          </a:prstGeom>
          <a:ln w="9525" cap="flat" cmpd="sng">
            <a:solidFill>
              <a:srgbClr val="3333FF"/>
            </a:solidFill>
            <a:prstDash val="solid"/>
            <a:headEnd type="none" w="med" len="med"/>
            <a:tailEnd type="none" w="med" len="med"/>
          </a:ln>
        </p:spPr>
      </p:sp>
      <p:sp>
        <p:nvSpPr>
          <p:cNvPr id="2382869" name="Text Box 21"/>
          <p:cNvSpPr txBox="1"/>
          <p:nvPr/>
        </p:nvSpPr>
        <p:spPr>
          <a:xfrm>
            <a:off x="5373688" y="5214938"/>
            <a:ext cx="311150" cy="366712"/>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1</a:t>
            </a:r>
            <a:endParaRPr lang="en-US" altLang="zh-CN" sz="2000" dirty="0">
              <a:latin typeface="Times New Roman" panose="02020603050405020304" pitchFamily="18" charset="0"/>
            </a:endParaRPr>
          </a:p>
        </p:txBody>
      </p:sp>
      <p:sp>
        <p:nvSpPr>
          <p:cNvPr id="2382870" name="Line 22"/>
          <p:cNvSpPr/>
          <p:nvPr/>
        </p:nvSpPr>
        <p:spPr>
          <a:xfrm flipV="1">
            <a:off x="5965825" y="5178425"/>
            <a:ext cx="0" cy="58738"/>
          </a:xfrm>
          <a:prstGeom prst="line">
            <a:avLst/>
          </a:prstGeom>
          <a:ln w="9525" cap="flat" cmpd="sng">
            <a:solidFill>
              <a:srgbClr val="3333FF"/>
            </a:solidFill>
            <a:prstDash val="solid"/>
            <a:headEnd type="none" w="med" len="med"/>
            <a:tailEnd type="none" w="med" len="med"/>
          </a:ln>
        </p:spPr>
      </p:sp>
      <p:sp>
        <p:nvSpPr>
          <p:cNvPr id="2382871" name="Text Box 23"/>
          <p:cNvSpPr txBox="1"/>
          <p:nvPr/>
        </p:nvSpPr>
        <p:spPr>
          <a:xfrm>
            <a:off x="5789613" y="521970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382872" name="Line 24"/>
          <p:cNvSpPr/>
          <p:nvPr/>
        </p:nvSpPr>
        <p:spPr>
          <a:xfrm flipV="1">
            <a:off x="6389688" y="5173663"/>
            <a:ext cx="0" cy="60325"/>
          </a:xfrm>
          <a:prstGeom prst="line">
            <a:avLst/>
          </a:prstGeom>
          <a:ln w="9525" cap="flat" cmpd="sng">
            <a:solidFill>
              <a:srgbClr val="3333FF"/>
            </a:solidFill>
            <a:prstDash val="solid"/>
            <a:headEnd type="none" w="med" len="med"/>
            <a:tailEnd type="none" w="med" len="med"/>
          </a:ln>
        </p:spPr>
      </p:sp>
      <p:sp>
        <p:nvSpPr>
          <p:cNvPr id="2382873" name="Text Box 25"/>
          <p:cNvSpPr txBox="1"/>
          <p:nvPr/>
        </p:nvSpPr>
        <p:spPr>
          <a:xfrm>
            <a:off x="6215063" y="5214938"/>
            <a:ext cx="311150" cy="366712"/>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3</a:t>
            </a:r>
            <a:endParaRPr lang="en-US" altLang="zh-CN" sz="2000" dirty="0">
              <a:latin typeface="Times New Roman" panose="02020603050405020304" pitchFamily="18" charset="0"/>
            </a:endParaRPr>
          </a:p>
        </p:txBody>
      </p:sp>
      <p:sp>
        <p:nvSpPr>
          <p:cNvPr id="2382874" name="Line 26"/>
          <p:cNvSpPr/>
          <p:nvPr/>
        </p:nvSpPr>
        <p:spPr>
          <a:xfrm flipV="1">
            <a:off x="6815138" y="5178425"/>
            <a:ext cx="0" cy="58738"/>
          </a:xfrm>
          <a:prstGeom prst="line">
            <a:avLst/>
          </a:prstGeom>
          <a:ln w="9525" cap="flat" cmpd="sng">
            <a:solidFill>
              <a:srgbClr val="3333FF"/>
            </a:solidFill>
            <a:prstDash val="solid"/>
            <a:headEnd type="none" w="med" len="med"/>
            <a:tailEnd type="none" w="med" len="med"/>
          </a:ln>
        </p:spPr>
      </p:sp>
      <p:sp>
        <p:nvSpPr>
          <p:cNvPr id="2382875" name="Text Box 27"/>
          <p:cNvSpPr txBox="1"/>
          <p:nvPr/>
        </p:nvSpPr>
        <p:spPr>
          <a:xfrm>
            <a:off x="6640513" y="521970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4</a:t>
            </a:r>
            <a:endParaRPr lang="en-US" altLang="zh-CN" sz="2000" dirty="0">
              <a:latin typeface="Times New Roman" panose="02020603050405020304" pitchFamily="18" charset="0"/>
            </a:endParaRPr>
          </a:p>
        </p:txBody>
      </p:sp>
      <p:sp>
        <p:nvSpPr>
          <p:cNvPr id="2382876" name="Line 28"/>
          <p:cNvSpPr/>
          <p:nvPr/>
        </p:nvSpPr>
        <p:spPr>
          <a:xfrm flipV="1">
            <a:off x="7231063" y="5173663"/>
            <a:ext cx="0" cy="60325"/>
          </a:xfrm>
          <a:prstGeom prst="line">
            <a:avLst/>
          </a:prstGeom>
          <a:ln w="9525" cap="flat" cmpd="sng">
            <a:solidFill>
              <a:srgbClr val="3333FF"/>
            </a:solidFill>
            <a:prstDash val="solid"/>
            <a:headEnd type="none" w="med" len="med"/>
            <a:tailEnd type="none" w="med" len="med"/>
          </a:ln>
        </p:spPr>
      </p:sp>
      <p:sp>
        <p:nvSpPr>
          <p:cNvPr id="2382877" name="Text Box 29"/>
          <p:cNvSpPr txBox="1"/>
          <p:nvPr/>
        </p:nvSpPr>
        <p:spPr>
          <a:xfrm>
            <a:off x="7062788" y="5216525"/>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5</a:t>
            </a:r>
            <a:endParaRPr lang="en-US" altLang="zh-CN" sz="2000" dirty="0">
              <a:latin typeface="Times New Roman" panose="02020603050405020304" pitchFamily="18" charset="0"/>
            </a:endParaRPr>
          </a:p>
        </p:txBody>
      </p:sp>
      <p:sp>
        <p:nvSpPr>
          <p:cNvPr id="2382878" name="Line 30"/>
          <p:cNvSpPr/>
          <p:nvPr/>
        </p:nvSpPr>
        <p:spPr>
          <a:xfrm flipV="1">
            <a:off x="7648575" y="5180013"/>
            <a:ext cx="0" cy="58737"/>
          </a:xfrm>
          <a:prstGeom prst="line">
            <a:avLst/>
          </a:prstGeom>
          <a:ln w="9525" cap="flat" cmpd="sng">
            <a:solidFill>
              <a:srgbClr val="3333FF"/>
            </a:solidFill>
            <a:prstDash val="solid"/>
            <a:headEnd type="none" w="med" len="med"/>
            <a:tailEnd type="none" w="med" len="med"/>
          </a:ln>
        </p:spPr>
      </p:sp>
      <p:sp>
        <p:nvSpPr>
          <p:cNvPr id="2382879" name="Text Box 31"/>
          <p:cNvSpPr txBox="1"/>
          <p:nvPr/>
        </p:nvSpPr>
        <p:spPr>
          <a:xfrm>
            <a:off x="7480300" y="5211763"/>
            <a:ext cx="311150" cy="366712"/>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6</a:t>
            </a:r>
            <a:endParaRPr lang="en-US" altLang="zh-CN" sz="2000" dirty="0">
              <a:latin typeface="Times New Roman" panose="02020603050405020304" pitchFamily="18" charset="0"/>
            </a:endParaRPr>
          </a:p>
        </p:txBody>
      </p:sp>
      <p:sp>
        <p:nvSpPr>
          <p:cNvPr id="2382880" name="Line 32"/>
          <p:cNvSpPr/>
          <p:nvPr/>
        </p:nvSpPr>
        <p:spPr>
          <a:xfrm flipV="1">
            <a:off x="8081963" y="5175250"/>
            <a:ext cx="0" cy="58738"/>
          </a:xfrm>
          <a:prstGeom prst="line">
            <a:avLst/>
          </a:prstGeom>
          <a:ln w="9525" cap="flat" cmpd="sng">
            <a:solidFill>
              <a:srgbClr val="3333FF"/>
            </a:solidFill>
            <a:prstDash val="solid"/>
            <a:headEnd type="none" w="med" len="med"/>
            <a:tailEnd type="none" w="med" len="med"/>
          </a:ln>
        </p:spPr>
      </p:sp>
      <p:sp>
        <p:nvSpPr>
          <p:cNvPr id="2382881" name="Text Box 33"/>
          <p:cNvSpPr txBox="1"/>
          <p:nvPr/>
        </p:nvSpPr>
        <p:spPr>
          <a:xfrm>
            <a:off x="7897813" y="5216525"/>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7</a:t>
            </a:r>
            <a:endParaRPr lang="en-US" altLang="zh-CN" sz="2000" dirty="0">
              <a:latin typeface="Times New Roman" panose="02020603050405020304" pitchFamily="18" charset="0"/>
            </a:endParaRPr>
          </a:p>
        </p:txBody>
      </p:sp>
      <p:sp>
        <p:nvSpPr>
          <p:cNvPr id="2382882" name="Line 34"/>
          <p:cNvSpPr/>
          <p:nvPr/>
        </p:nvSpPr>
        <p:spPr>
          <a:xfrm flipV="1">
            <a:off x="8499475" y="5180013"/>
            <a:ext cx="0" cy="58737"/>
          </a:xfrm>
          <a:prstGeom prst="line">
            <a:avLst/>
          </a:prstGeom>
          <a:ln w="9525" cap="flat" cmpd="sng">
            <a:solidFill>
              <a:srgbClr val="3333FF"/>
            </a:solidFill>
            <a:prstDash val="solid"/>
            <a:headEnd type="none" w="med" len="med"/>
            <a:tailEnd type="none" w="med" len="med"/>
          </a:ln>
        </p:spPr>
      </p:sp>
      <p:sp>
        <p:nvSpPr>
          <p:cNvPr id="2382883" name="Text Box 35"/>
          <p:cNvSpPr txBox="1"/>
          <p:nvPr/>
        </p:nvSpPr>
        <p:spPr>
          <a:xfrm>
            <a:off x="8339138" y="521970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8</a:t>
            </a:r>
            <a:endParaRPr lang="en-US" altLang="zh-CN" sz="2000" dirty="0">
              <a:latin typeface="Times New Roman" panose="02020603050405020304" pitchFamily="18" charset="0"/>
            </a:endParaRPr>
          </a:p>
        </p:txBody>
      </p:sp>
      <p:sp>
        <p:nvSpPr>
          <p:cNvPr id="2382884" name="Line 36"/>
          <p:cNvSpPr/>
          <p:nvPr/>
        </p:nvSpPr>
        <p:spPr>
          <a:xfrm>
            <a:off x="5119688" y="5087938"/>
            <a:ext cx="49212" cy="0"/>
          </a:xfrm>
          <a:prstGeom prst="line">
            <a:avLst/>
          </a:prstGeom>
          <a:ln w="9525" cap="flat" cmpd="sng">
            <a:solidFill>
              <a:srgbClr val="3333FF"/>
            </a:solidFill>
            <a:prstDash val="solid"/>
            <a:headEnd type="none" w="med" len="med"/>
            <a:tailEnd type="none" w="med" len="med"/>
          </a:ln>
        </p:spPr>
      </p:sp>
      <p:sp>
        <p:nvSpPr>
          <p:cNvPr id="2382885" name="Text Box 37"/>
          <p:cNvSpPr txBox="1"/>
          <p:nvPr/>
        </p:nvSpPr>
        <p:spPr>
          <a:xfrm>
            <a:off x="4468813" y="4924425"/>
            <a:ext cx="698500" cy="339725"/>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1.024</a:t>
            </a:r>
            <a:endParaRPr lang="en-US" altLang="zh-CN" sz="1800" dirty="0">
              <a:latin typeface="Times New Roman" panose="02020603050405020304" pitchFamily="18" charset="0"/>
            </a:endParaRPr>
          </a:p>
        </p:txBody>
      </p:sp>
      <p:sp>
        <p:nvSpPr>
          <p:cNvPr id="2382886" name="Line 38"/>
          <p:cNvSpPr/>
          <p:nvPr/>
        </p:nvSpPr>
        <p:spPr>
          <a:xfrm>
            <a:off x="5124450" y="4903788"/>
            <a:ext cx="47625" cy="0"/>
          </a:xfrm>
          <a:prstGeom prst="line">
            <a:avLst/>
          </a:prstGeom>
          <a:ln w="9525" cap="flat" cmpd="sng">
            <a:solidFill>
              <a:srgbClr val="3333FF"/>
            </a:solidFill>
            <a:prstDash val="solid"/>
            <a:headEnd type="none" w="med" len="med"/>
            <a:tailEnd type="none" w="med" len="med"/>
          </a:ln>
        </p:spPr>
      </p:sp>
      <p:sp>
        <p:nvSpPr>
          <p:cNvPr id="2382887" name="Line 39"/>
          <p:cNvSpPr/>
          <p:nvPr/>
        </p:nvSpPr>
        <p:spPr>
          <a:xfrm>
            <a:off x="5124450" y="4730750"/>
            <a:ext cx="49213" cy="0"/>
          </a:xfrm>
          <a:prstGeom prst="line">
            <a:avLst/>
          </a:prstGeom>
          <a:ln w="9525" cap="flat" cmpd="sng">
            <a:solidFill>
              <a:srgbClr val="3333FF"/>
            </a:solidFill>
            <a:prstDash val="solid"/>
            <a:headEnd type="none" w="med" len="med"/>
            <a:tailEnd type="none" w="med" len="med"/>
          </a:ln>
        </p:spPr>
      </p:sp>
      <p:sp>
        <p:nvSpPr>
          <p:cNvPr id="2382888" name="Line 40"/>
          <p:cNvSpPr/>
          <p:nvPr/>
        </p:nvSpPr>
        <p:spPr>
          <a:xfrm>
            <a:off x="5124450" y="4568825"/>
            <a:ext cx="47625" cy="0"/>
          </a:xfrm>
          <a:prstGeom prst="line">
            <a:avLst/>
          </a:prstGeom>
          <a:ln w="9525" cap="flat" cmpd="sng">
            <a:solidFill>
              <a:srgbClr val="3333FF"/>
            </a:solidFill>
            <a:prstDash val="solid"/>
            <a:headEnd type="none" w="med" len="med"/>
            <a:tailEnd type="none" w="med" len="med"/>
          </a:ln>
        </p:spPr>
      </p:sp>
      <p:sp>
        <p:nvSpPr>
          <p:cNvPr id="2382889" name="Line 41"/>
          <p:cNvSpPr/>
          <p:nvPr/>
        </p:nvSpPr>
        <p:spPr>
          <a:xfrm>
            <a:off x="5124450" y="4371975"/>
            <a:ext cx="47625" cy="0"/>
          </a:xfrm>
          <a:prstGeom prst="line">
            <a:avLst/>
          </a:prstGeom>
          <a:ln w="9525" cap="flat" cmpd="sng">
            <a:solidFill>
              <a:srgbClr val="3333FF"/>
            </a:solidFill>
            <a:prstDash val="solid"/>
            <a:headEnd type="none" w="med" len="med"/>
            <a:tailEnd type="none" w="med" len="med"/>
          </a:ln>
        </p:spPr>
      </p:sp>
      <p:sp>
        <p:nvSpPr>
          <p:cNvPr id="2382890" name="Line 42"/>
          <p:cNvSpPr/>
          <p:nvPr/>
        </p:nvSpPr>
        <p:spPr>
          <a:xfrm>
            <a:off x="5124450" y="4208463"/>
            <a:ext cx="49213" cy="0"/>
          </a:xfrm>
          <a:prstGeom prst="line">
            <a:avLst/>
          </a:prstGeom>
          <a:ln w="9525" cap="flat" cmpd="sng">
            <a:solidFill>
              <a:srgbClr val="3333FF"/>
            </a:solidFill>
            <a:prstDash val="solid"/>
            <a:headEnd type="none" w="med" len="med"/>
            <a:tailEnd type="none" w="med" len="med"/>
          </a:ln>
        </p:spPr>
      </p:sp>
      <p:sp>
        <p:nvSpPr>
          <p:cNvPr id="2382891" name="Line 43"/>
          <p:cNvSpPr/>
          <p:nvPr/>
        </p:nvSpPr>
        <p:spPr>
          <a:xfrm>
            <a:off x="5124450" y="4029075"/>
            <a:ext cx="47625" cy="0"/>
          </a:xfrm>
          <a:prstGeom prst="line">
            <a:avLst/>
          </a:prstGeom>
          <a:ln w="9525" cap="flat" cmpd="sng">
            <a:solidFill>
              <a:srgbClr val="3333FF"/>
            </a:solidFill>
            <a:prstDash val="solid"/>
            <a:headEnd type="none" w="med" len="med"/>
            <a:tailEnd type="none" w="med" len="med"/>
          </a:ln>
        </p:spPr>
      </p:sp>
      <p:sp>
        <p:nvSpPr>
          <p:cNvPr id="2382892" name="Line 44"/>
          <p:cNvSpPr/>
          <p:nvPr/>
        </p:nvSpPr>
        <p:spPr>
          <a:xfrm>
            <a:off x="5124450" y="3849688"/>
            <a:ext cx="47625" cy="0"/>
          </a:xfrm>
          <a:prstGeom prst="line">
            <a:avLst/>
          </a:prstGeom>
          <a:ln w="9525" cap="flat" cmpd="sng">
            <a:solidFill>
              <a:srgbClr val="3333FF"/>
            </a:solidFill>
            <a:prstDash val="solid"/>
            <a:headEnd type="none" w="med" len="med"/>
            <a:tailEnd type="none" w="med" len="med"/>
          </a:ln>
        </p:spPr>
      </p:sp>
      <p:sp>
        <p:nvSpPr>
          <p:cNvPr id="2382893" name="Line 45"/>
          <p:cNvSpPr/>
          <p:nvPr/>
        </p:nvSpPr>
        <p:spPr>
          <a:xfrm>
            <a:off x="5124450" y="3678238"/>
            <a:ext cx="47625" cy="0"/>
          </a:xfrm>
          <a:prstGeom prst="line">
            <a:avLst/>
          </a:prstGeom>
          <a:ln w="9525" cap="flat" cmpd="sng">
            <a:solidFill>
              <a:srgbClr val="3333FF"/>
            </a:solidFill>
            <a:prstDash val="solid"/>
            <a:headEnd type="none" w="med" len="med"/>
            <a:tailEnd type="none" w="med" len="med"/>
          </a:ln>
        </p:spPr>
      </p:sp>
      <p:sp>
        <p:nvSpPr>
          <p:cNvPr id="2382894" name="Line 46"/>
          <p:cNvSpPr/>
          <p:nvPr/>
        </p:nvSpPr>
        <p:spPr>
          <a:xfrm>
            <a:off x="5122863" y="3514725"/>
            <a:ext cx="49212" cy="0"/>
          </a:xfrm>
          <a:prstGeom prst="line">
            <a:avLst/>
          </a:prstGeom>
          <a:ln w="9525" cap="flat" cmpd="sng">
            <a:solidFill>
              <a:srgbClr val="3333FF"/>
            </a:solidFill>
            <a:prstDash val="solid"/>
            <a:headEnd type="none" w="med" len="med"/>
            <a:tailEnd type="none" w="med" len="med"/>
          </a:ln>
        </p:spPr>
      </p:sp>
      <p:sp>
        <p:nvSpPr>
          <p:cNvPr id="2382895" name="Text Box 47"/>
          <p:cNvSpPr txBox="1"/>
          <p:nvPr/>
        </p:nvSpPr>
        <p:spPr>
          <a:xfrm>
            <a:off x="4483100" y="3370263"/>
            <a:ext cx="698500" cy="339725"/>
          </a:xfrm>
          <a:prstGeom prst="rect">
            <a:avLst/>
          </a:prstGeom>
          <a:noFill/>
          <a:ln w="9525">
            <a:noFill/>
          </a:ln>
        </p:spPr>
        <p:txBody>
          <a:bodyPr wrap="none">
            <a:spAutoFit/>
          </a:bodyPr>
          <a:p>
            <a:pPr eaLnBrk="1" hangingPunct="1">
              <a:lnSpc>
                <a:spcPct val="90000"/>
              </a:lnSpc>
            </a:pPr>
            <a:r>
              <a:rPr lang="en-US" altLang="zh-CN" sz="1800" dirty="0">
                <a:latin typeface="Times New Roman" panose="02020603050405020304" pitchFamily="18" charset="0"/>
              </a:rPr>
              <a:t>10.24</a:t>
            </a:r>
            <a:endParaRPr lang="en-US" altLang="zh-CN" sz="1800" dirty="0">
              <a:latin typeface="Times New Roman" panose="02020603050405020304" pitchFamily="18" charset="0"/>
            </a:endParaRPr>
          </a:p>
        </p:txBody>
      </p:sp>
      <p:sp>
        <p:nvSpPr>
          <p:cNvPr id="2382896" name="Line 48"/>
          <p:cNvSpPr/>
          <p:nvPr/>
        </p:nvSpPr>
        <p:spPr>
          <a:xfrm>
            <a:off x="5119688" y="3767138"/>
            <a:ext cx="3576637" cy="0"/>
          </a:xfrm>
          <a:prstGeom prst="line">
            <a:avLst/>
          </a:prstGeom>
          <a:ln w="9525" cap="flat" cmpd="sng">
            <a:solidFill>
              <a:srgbClr val="FF00FF"/>
            </a:solidFill>
            <a:prstDash val="dash"/>
            <a:headEnd type="none" w="med" len="med"/>
            <a:tailEnd type="none" w="med" len="med"/>
          </a:ln>
        </p:spPr>
      </p:sp>
      <p:sp>
        <p:nvSpPr>
          <p:cNvPr id="2382897" name="Text Box 49"/>
          <p:cNvSpPr txBox="1"/>
          <p:nvPr/>
        </p:nvSpPr>
        <p:spPr>
          <a:xfrm>
            <a:off x="4746625" y="358616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CC00CC"/>
                </a:solidFill>
                <a:latin typeface="Times New Roman" panose="02020603050405020304" pitchFamily="18" charset="0"/>
              </a:rPr>
              <a:t>U</a:t>
            </a:r>
            <a:r>
              <a:rPr lang="en-US" altLang="zh-CN" sz="1800" i="1" baseline="-25000" dirty="0">
                <a:solidFill>
                  <a:srgbClr val="CC00CC"/>
                </a:solidFill>
                <a:latin typeface="Times New Roman" panose="02020603050405020304" pitchFamily="18" charset="0"/>
              </a:rPr>
              <a:t>i</a:t>
            </a:r>
            <a:endParaRPr lang="en-US" altLang="zh-CN" sz="1800" i="1" baseline="-25000" dirty="0">
              <a:solidFill>
                <a:srgbClr val="CC00CC"/>
              </a:solidFill>
              <a:latin typeface="Times New Roman" panose="02020603050405020304" pitchFamily="18" charset="0"/>
            </a:endParaRPr>
          </a:p>
        </p:txBody>
      </p:sp>
      <p:sp>
        <p:nvSpPr>
          <p:cNvPr id="2382898" name="Text Box 50"/>
          <p:cNvSpPr txBox="1"/>
          <p:nvPr/>
        </p:nvSpPr>
        <p:spPr>
          <a:xfrm>
            <a:off x="5072063" y="4313238"/>
            <a:ext cx="584200" cy="339725"/>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5.12</a:t>
            </a:r>
            <a:endParaRPr lang="en-US" altLang="zh-CN" sz="1800" dirty="0">
              <a:solidFill>
                <a:srgbClr val="FF0000"/>
              </a:solidFill>
              <a:latin typeface="Times New Roman" panose="02020603050405020304" pitchFamily="18" charset="0"/>
            </a:endParaRPr>
          </a:p>
        </p:txBody>
      </p:sp>
      <p:sp>
        <p:nvSpPr>
          <p:cNvPr id="2382899" name="Line 51"/>
          <p:cNvSpPr/>
          <p:nvPr/>
        </p:nvSpPr>
        <p:spPr>
          <a:xfrm>
            <a:off x="5127625" y="4376738"/>
            <a:ext cx="412750" cy="0"/>
          </a:xfrm>
          <a:prstGeom prst="line">
            <a:avLst/>
          </a:prstGeom>
          <a:ln w="19050" cap="flat" cmpd="sng">
            <a:solidFill>
              <a:srgbClr val="FF0000"/>
            </a:solidFill>
            <a:prstDash val="solid"/>
            <a:headEnd type="none" w="med" len="med"/>
            <a:tailEnd type="none" w="med" len="med"/>
          </a:ln>
        </p:spPr>
      </p:sp>
      <p:sp>
        <p:nvSpPr>
          <p:cNvPr id="2382900" name="Line 52"/>
          <p:cNvSpPr/>
          <p:nvPr/>
        </p:nvSpPr>
        <p:spPr>
          <a:xfrm flipV="1">
            <a:off x="5540375" y="3938588"/>
            <a:ext cx="0" cy="438150"/>
          </a:xfrm>
          <a:prstGeom prst="line">
            <a:avLst/>
          </a:prstGeom>
          <a:ln w="19050" cap="flat" cmpd="sng">
            <a:solidFill>
              <a:srgbClr val="FF0000"/>
            </a:solidFill>
            <a:prstDash val="solid"/>
            <a:headEnd type="none" w="med" len="med"/>
            <a:tailEnd type="none" w="med" len="med"/>
          </a:ln>
        </p:spPr>
      </p:sp>
      <p:sp>
        <p:nvSpPr>
          <p:cNvPr id="2382901" name="Line 53"/>
          <p:cNvSpPr/>
          <p:nvPr/>
        </p:nvSpPr>
        <p:spPr>
          <a:xfrm>
            <a:off x="5540375" y="3938588"/>
            <a:ext cx="420688" cy="0"/>
          </a:xfrm>
          <a:prstGeom prst="line">
            <a:avLst/>
          </a:prstGeom>
          <a:ln w="19050" cap="flat" cmpd="sng">
            <a:solidFill>
              <a:srgbClr val="FF0000"/>
            </a:solidFill>
            <a:prstDash val="solid"/>
            <a:headEnd type="none" w="med" len="med"/>
            <a:tailEnd type="none" w="med" len="med"/>
          </a:ln>
        </p:spPr>
      </p:sp>
      <p:sp>
        <p:nvSpPr>
          <p:cNvPr id="2382902" name="Text Box 54"/>
          <p:cNvSpPr txBox="1"/>
          <p:nvPr/>
        </p:nvSpPr>
        <p:spPr>
          <a:xfrm>
            <a:off x="5489575" y="3900488"/>
            <a:ext cx="584200" cy="339725"/>
          </a:xfrm>
          <a:prstGeom prst="rect">
            <a:avLst/>
          </a:prstGeom>
          <a:noFill/>
          <a:ln w="9525">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7.68</a:t>
            </a:r>
            <a:endParaRPr lang="en-US" altLang="zh-CN" sz="1800" dirty="0">
              <a:solidFill>
                <a:srgbClr val="FF0000"/>
              </a:solidFill>
              <a:latin typeface="Times New Roman" panose="02020603050405020304" pitchFamily="18" charset="0"/>
            </a:endParaRPr>
          </a:p>
        </p:txBody>
      </p:sp>
      <p:sp>
        <p:nvSpPr>
          <p:cNvPr id="2382903" name="Line 55"/>
          <p:cNvSpPr/>
          <p:nvPr/>
        </p:nvSpPr>
        <p:spPr>
          <a:xfrm flipV="1">
            <a:off x="5961063" y="3725863"/>
            <a:ext cx="0" cy="212725"/>
          </a:xfrm>
          <a:prstGeom prst="line">
            <a:avLst/>
          </a:prstGeom>
          <a:ln w="19050" cap="flat" cmpd="sng">
            <a:solidFill>
              <a:srgbClr val="FF0000"/>
            </a:solidFill>
            <a:prstDash val="solid"/>
            <a:headEnd type="none" w="med" len="med"/>
            <a:tailEnd type="none" w="med" len="med"/>
          </a:ln>
        </p:spPr>
      </p:sp>
      <p:sp>
        <p:nvSpPr>
          <p:cNvPr id="2382904" name="Line 56"/>
          <p:cNvSpPr/>
          <p:nvPr/>
        </p:nvSpPr>
        <p:spPr>
          <a:xfrm>
            <a:off x="5961063" y="3725863"/>
            <a:ext cx="428625" cy="0"/>
          </a:xfrm>
          <a:prstGeom prst="line">
            <a:avLst/>
          </a:prstGeom>
          <a:ln w="19050" cap="flat" cmpd="sng">
            <a:solidFill>
              <a:srgbClr val="FF0000"/>
            </a:solidFill>
            <a:prstDash val="solid"/>
            <a:headEnd type="none" w="med" len="med"/>
            <a:tailEnd type="none" w="med" len="med"/>
          </a:ln>
        </p:spPr>
      </p:sp>
      <p:sp>
        <p:nvSpPr>
          <p:cNvPr id="2382905" name="Text Box 57"/>
          <p:cNvSpPr txBox="1"/>
          <p:nvPr/>
        </p:nvSpPr>
        <p:spPr>
          <a:xfrm>
            <a:off x="5878513" y="3441700"/>
            <a:ext cx="5842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8.96</a:t>
            </a:r>
            <a:endParaRPr lang="en-US" altLang="zh-CN" sz="1800" dirty="0">
              <a:solidFill>
                <a:srgbClr val="FF0000"/>
              </a:solidFill>
              <a:latin typeface="Times New Roman" panose="02020603050405020304" pitchFamily="18" charset="0"/>
            </a:endParaRPr>
          </a:p>
        </p:txBody>
      </p:sp>
      <p:sp>
        <p:nvSpPr>
          <p:cNvPr id="2382906" name="Line 58"/>
          <p:cNvSpPr/>
          <p:nvPr/>
        </p:nvSpPr>
        <p:spPr>
          <a:xfrm>
            <a:off x="6389688" y="3725863"/>
            <a:ext cx="0" cy="25400"/>
          </a:xfrm>
          <a:prstGeom prst="line">
            <a:avLst/>
          </a:prstGeom>
          <a:ln w="19050" cap="flat" cmpd="sng">
            <a:solidFill>
              <a:srgbClr val="FF0000"/>
            </a:solidFill>
            <a:prstDash val="solid"/>
            <a:headEnd type="none" w="med" len="med"/>
            <a:tailEnd type="none" w="med" len="med"/>
          </a:ln>
        </p:spPr>
      </p:sp>
      <p:sp>
        <p:nvSpPr>
          <p:cNvPr id="2382907" name="Line 59"/>
          <p:cNvSpPr/>
          <p:nvPr/>
        </p:nvSpPr>
        <p:spPr>
          <a:xfrm>
            <a:off x="6389688" y="3751263"/>
            <a:ext cx="420687" cy="0"/>
          </a:xfrm>
          <a:prstGeom prst="line">
            <a:avLst/>
          </a:prstGeom>
          <a:ln w="19050" cap="flat" cmpd="sng">
            <a:solidFill>
              <a:srgbClr val="FF0000"/>
            </a:solidFill>
            <a:prstDash val="solid"/>
            <a:headEnd type="none" w="med" len="med"/>
            <a:tailEnd type="none" w="med" len="med"/>
          </a:ln>
        </p:spPr>
      </p:sp>
      <p:sp>
        <p:nvSpPr>
          <p:cNvPr id="2382908" name="Text Box 60"/>
          <p:cNvSpPr txBox="1"/>
          <p:nvPr/>
        </p:nvSpPr>
        <p:spPr>
          <a:xfrm>
            <a:off x="6326188" y="3468688"/>
            <a:ext cx="5842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8.32</a:t>
            </a:r>
            <a:endParaRPr lang="en-US" altLang="zh-CN" sz="1800" dirty="0">
              <a:solidFill>
                <a:srgbClr val="FF0000"/>
              </a:solidFill>
              <a:latin typeface="Times New Roman" panose="02020603050405020304" pitchFamily="18" charset="0"/>
            </a:endParaRPr>
          </a:p>
        </p:txBody>
      </p:sp>
      <p:sp>
        <p:nvSpPr>
          <p:cNvPr id="2382909" name="Line 61"/>
          <p:cNvSpPr/>
          <p:nvPr/>
        </p:nvSpPr>
        <p:spPr>
          <a:xfrm>
            <a:off x="6810375" y="3751263"/>
            <a:ext cx="0" cy="128587"/>
          </a:xfrm>
          <a:prstGeom prst="line">
            <a:avLst/>
          </a:prstGeom>
          <a:ln w="19050" cap="flat" cmpd="sng">
            <a:solidFill>
              <a:srgbClr val="FF0000"/>
            </a:solidFill>
            <a:prstDash val="solid"/>
            <a:headEnd type="none" w="med" len="med"/>
            <a:tailEnd type="none" w="med" len="med"/>
          </a:ln>
        </p:spPr>
      </p:sp>
      <p:sp>
        <p:nvSpPr>
          <p:cNvPr id="2382910" name="Line 62"/>
          <p:cNvSpPr/>
          <p:nvPr/>
        </p:nvSpPr>
        <p:spPr>
          <a:xfrm>
            <a:off x="6810375" y="3879850"/>
            <a:ext cx="422275" cy="0"/>
          </a:xfrm>
          <a:prstGeom prst="line">
            <a:avLst/>
          </a:prstGeom>
          <a:ln w="19050" cap="flat" cmpd="sng">
            <a:solidFill>
              <a:srgbClr val="FF0000"/>
            </a:solidFill>
            <a:prstDash val="solid"/>
            <a:headEnd type="none" w="med" len="med"/>
            <a:tailEnd type="none" w="med" len="med"/>
          </a:ln>
        </p:spPr>
      </p:sp>
      <p:sp>
        <p:nvSpPr>
          <p:cNvPr id="2382911" name="Text Box 63"/>
          <p:cNvSpPr txBox="1"/>
          <p:nvPr/>
        </p:nvSpPr>
        <p:spPr>
          <a:xfrm>
            <a:off x="6783388" y="3824288"/>
            <a:ext cx="4699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8.0</a:t>
            </a:r>
            <a:endParaRPr lang="en-US" altLang="zh-CN" sz="1800" dirty="0">
              <a:solidFill>
                <a:srgbClr val="FF0000"/>
              </a:solidFill>
              <a:latin typeface="Times New Roman" panose="02020603050405020304" pitchFamily="18" charset="0"/>
            </a:endParaRPr>
          </a:p>
        </p:txBody>
      </p:sp>
      <p:sp>
        <p:nvSpPr>
          <p:cNvPr id="2382912" name="Line 64"/>
          <p:cNvSpPr/>
          <p:nvPr/>
        </p:nvSpPr>
        <p:spPr>
          <a:xfrm flipV="1">
            <a:off x="7232650" y="3854450"/>
            <a:ext cx="0" cy="25400"/>
          </a:xfrm>
          <a:prstGeom prst="line">
            <a:avLst/>
          </a:prstGeom>
          <a:ln w="19050" cap="flat" cmpd="sng">
            <a:solidFill>
              <a:srgbClr val="FF0000"/>
            </a:solidFill>
            <a:prstDash val="solid"/>
            <a:headEnd type="none" w="med" len="med"/>
            <a:tailEnd type="none" w="med" len="med"/>
          </a:ln>
        </p:spPr>
      </p:sp>
      <p:sp>
        <p:nvSpPr>
          <p:cNvPr id="2382913" name="Line 65"/>
          <p:cNvSpPr/>
          <p:nvPr/>
        </p:nvSpPr>
        <p:spPr>
          <a:xfrm>
            <a:off x="7232650" y="3854450"/>
            <a:ext cx="411163" cy="0"/>
          </a:xfrm>
          <a:prstGeom prst="line">
            <a:avLst/>
          </a:prstGeom>
          <a:ln w="19050" cap="flat" cmpd="sng">
            <a:solidFill>
              <a:srgbClr val="FF0000"/>
            </a:solidFill>
            <a:prstDash val="solid"/>
            <a:headEnd type="none" w="med" len="med"/>
            <a:tailEnd type="none" w="med" len="med"/>
          </a:ln>
        </p:spPr>
      </p:sp>
      <p:sp>
        <p:nvSpPr>
          <p:cNvPr id="2382914" name="Text Box 66"/>
          <p:cNvSpPr txBox="1"/>
          <p:nvPr/>
        </p:nvSpPr>
        <p:spPr>
          <a:xfrm>
            <a:off x="7165975" y="3824288"/>
            <a:ext cx="5842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8.16</a:t>
            </a:r>
            <a:endParaRPr lang="en-US" altLang="zh-CN" sz="1800" dirty="0">
              <a:solidFill>
                <a:srgbClr val="FF0000"/>
              </a:solidFill>
              <a:latin typeface="Times New Roman" panose="02020603050405020304" pitchFamily="18" charset="0"/>
            </a:endParaRPr>
          </a:p>
        </p:txBody>
      </p:sp>
      <p:sp>
        <p:nvSpPr>
          <p:cNvPr id="2382915" name="Line 67"/>
          <p:cNvSpPr/>
          <p:nvPr/>
        </p:nvSpPr>
        <p:spPr>
          <a:xfrm flipV="1">
            <a:off x="7645400" y="3816350"/>
            <a:ext cx="1588" cy="38100"/>
          </a:xfrm>
          <a:prstGeom prst="line">
            <a:avLst/>
          </a:prstGeom>
          <a:ln w="19050" cap="flat" cmpd="sng">
            <a:solidFill>
              <a:srgbClr val="FF0000"/>
            </a:solidFill>
            <a:prstDash val="solid"/>
            <a:headEnd type="none" w="med" len="med"/>
            <a:tailEnd type="none" w="med" len="med"/>
          </a:ln>
        </p:spPr>
      </p:sp>
      <p:sp>
        <p:nvSpPr>
          <p:cNvPr id="2382916" name="Line 68"/>
          <p:cNvSpPr/>
          <p:nvPr/>
        </p:nvSpPr>
        <p:spPr>
          <a:xfrm>
            <a:off x="7645400" y="3819525"/>
            <a:ext cx="436563" cy="0"/>
          </a:xfrm>
          <a:prstGeom prst="line">
            <a:avLst/>
          </a:prstGeom>
          <a:ln w="19050" cap="flat" cmpd="sng">
            <a:solidFill>
              <a:srgbClr val="FF0000"/>
            </a:solidFill>
            <a:prstDash val="solid"/>
            <a:headEnd type="none" w="med" len="med"/>
            <a:tailEnd type="none" w="med" len="med"/>
          </a:ln>
        </p:spPr>
      </p:sp>
      <p:sp>
        <p:nvSpPr>
          <p:cNvPr id="2382917" name="Text Box 69"/>
          <p:cNvSpPr txBox="1"/>
          <p:nvPr/>
        </p:nvSpPr>
        <p:spPr>
          <a:xfrm>
            <a:off x="7618413" y="3784600"/>
            <a:ext cx="5842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8.24</a:t>
            </a:r>
            <a:endParaRPr lang="en-US" altLang="zh-CN" sz="1800" dirty="0">
              <a:solidFill>
                <a:srgbClr val="FF0000"/>
              </a:solidFill>
              <a:latin typeface="Times New Roman" panose="02020603050405020304" pitchFamily="18" charset="0"/>
            </a:endParaRPr>
          </a:p>
        </p:txBody>
      </p:sp>
      <p:sp>
        <p:nvSpPr>
          <p:cNvPr id="2382918" name="Line 70"/>
          <p:cNvSpPr/>
          <p:nvPr/>
        </p:nvSpPr>
        <p:spPr>
          <a:xfrm flipV="1">
            <a:off x="8081963" y="3794125"/>
            <a:ext cx="0" cy="25400"/>
          </a:xfrm>
          <a:prstGeom prst="line">
            <a:avLst/>
          </a:prstGeom>
          <a:ln w="19050" cap="flat" cmpd="sng">
            <a:solidFill>
              <a:srgbClr val="FF0000"/>
            </a:solidFill>
            <a:prstDash val="solid"/>
            <a:headEnd type="none" w="med" len="med"/>
            <a:tailEnd type="none" w="med" len="med"/>
          </a:ln>
        </p:spPr>
      </p:sp>
      <p:sp>
        <p:nvSpPr>
          <p:cNvPr id="2382919" name="Line 71"/>
          <p:cNvSpPr/>
          <p:nvPr/>
        </p:nvSpPr>
        <p:spPr>
          <a:xfrm>
            <a:off x="8081963" y="3794125"/>
            <a:ext cx="403225" cy="0"/>
          </a:xfrm>
          <a:prstGeom prst="line">
            <a:avLst/>
          </a:prstGeom>
          <a:ln w="19050" cap="flat" cmpd="sng">
            <a:solidFill>
              <a:srgbClr val="FF0000"/>
            </a:solidFill>
            <a:prstDash val="solid"/>
            <a:headEnd type="none" w="med" len="med"/>
            <a:tailEnd type="none" w="med" len="med"/>
          </a:ln>
        </p:spPr>
      </p:sp>
      <p:sp>
        <p:nvSpPr>
          <p:cNvPr id="2382920" name="Text Box 72"/>
          <p:cNvSpPr txBox="1"/>
          <p:nvPr/>
        </p:nvSpPr>
        <p:spPr>
          <a:xfrm>
            <a:off x="8064500" y="3743325"/>
            <a:ext cx="584200" cy="339725"/>
          </a:xfrm>
          <a:prstGeom prst="rect">
            <a:avLst/>
          </a:prstGeom>
          <a:noFill/>
          <a:ln w="19050">
            <a:noFill/>
          </a:ln>
        </p:spPr>
        <p:txBody>
          <a:bodyPr wrap="none">
            <a:spAutoFit/>
          </a:bodyPr>
          <a:p>
            <a:pPr eaLnBrk="1" hangingPunct="1">
              <a:lnSpc>
                <a:spcPct val="90000"/>
              </a:lnSpc>
            </a:pPr>
            <a:r>
              <a:rPr lang="en-US" altLang="zh-CN" sz="1800" dirty="0">
                <a:solidFill>
                  <a:srgbClr val="FF0000"/>
                </a:solidFill>
                <a:latin typeface="Times New Roman" panose="02020603050405020304" pitchFamily="18" charset="0"/>
              </a:rPr>
              <a:t>8.28</a:t>
            </a:r>
            <a:endParaRPr lang="en-US" altLang="zh-CN" sz="1800" dirty="0">
              <a:solidFill>
                <a:srgbClr val="FF0000"/>
              </a:solidFill>
              <a:latin typeface="Times New Roman" panose="02020603050405020304" pitchFamily="18" charset="0"/>
            </a:endParaRPr>
          </a:p>
        </p:txBody>
      </p:sp>
      <p:sp>
        <p:nvSpPr>
          <p:cNvPr id="2382921" name="Text Box 73"/>
          <p:cNvSpPr txBox="1"/>
          <p:nvPr/>
        </p:nvSpPr>
        <p:spPr>
          <a:xfrm>
            <a:off x="8388350" y="3486150"/>
            <a:ext cx="749300" cy="339725"/>
          </a:xfrm>
          <a:prstGeom prst="rect">
            <a:avLst/>
          </a:prstGeom>
          <a:noFill/>
          <a:ln w="9525">
            <a:noFill/>
          </a:ln>
        </p:spPr>
        <p:txBody>
          <a:bodyPr wrap="none">
            <a:spAutoFit/>
          </a:bodyPr>
          <a:p>
            <a:pPr eaLnBrk="1" hangingPunct="1">
              <a:lnSpc>
                <a:spcPct val="90000"/>
              </a:lnSpc>
            </a:pPr>
            <a:r>
              <a:rPr lang="en-US" altLang="zh-CN" sz="1800" dirty="0">
                <a:solidFill>
                  <a:srgbClr val="800080"/>
                </a:solidFill>
                <a:latin typeface="Times New Roman" panose="02020603050405020304" pitchFamily="18" charset="0"/>
              </a:rPr>
              <a:t>8.30V</a:t>
            </a:r>
            <a:endParaRPr lang="en-US" altLang="zh-CN" sz="1800" dirty="0">
              <a:solidFill>
                <a:srgbClr val="800080"/>
              </a:solidFill>
              <a:latin typeface="Times New Roman" panose="02020603050405020304" pitchFamily="18" charset="0"/>
            </a:endParaRPr>
          </a:p>
        </p:txBody>
      </p:sp>
      <p:sp>
        <p:nvSpPr>
          <p:cNvPr id="2382922" name="Text Box 74"/>
          <p:cNvSpPr txBox="1"/>
          <p:nvPr/>
        </p:nvSpPr>
        <p:spPr>
          <a:xfrm>
            <a:off x="4371975" y="2587625"/>
            <a:ext cx="785813" cy="587375"/>
          </a:xfrm>
          <a:prstGeom prst="rect">
            <a:avLst/>
          </a:prstGeom>
          <a:noFill/>
          <a:ln w="9525">
            <a:noFill/>
          </a:ln>
        </p:spPr>
        <p:txBody>
          <a:bodyPr>
            <a:spAutoFit/>
          </a:bodyPr>
          <a:p>
            <a:pPr eaLnBrk="1" hangingPunct="1">
              <a:lnSpc>
                <a:spcPct val="90000"/>
              </a:lnSpc>
            </a:pPr>
            <a:r>
              <a:rPr lang="zh-CN" altLang="en-US" sz="1800" dirty="0">
                <a:latin typeface="Times New Roman" panose="02020603050405020304" pitchFamily="18" charset="0"/>
              </a:rPr>
              <a:t>时钟脉冲</a:t>
            </a:r>
            <a:endParaRPr lang="zh-CN" altLang="en-US" sz="1800" dirty="0">
              <a:latin typeface="Times New Roman" panose="02020603050405020304" pitchFamily="18" charset="0"/>
            </a:endParaRPr>
          </a:p>
        </p:txBody>
      </p:sp>
      <p:sp>
        <p:nvSpPr>
          <p:cNvPr id="2382923" name="Line 75"/>
          <p:cNvSpPr/>
          <p:nvPr/>
        </p:nvSpPr>
        <p:spPr>
          <a:xfrm>
            <a:off x="4910138" y="3082925"/>
            <a:ext cx="209550" cy="0"/>
          </a:xfrm>
          <a:prstGeom prst="line">
            <a:avLst/>
          </a:prstGeom>
          <a:ln w="9525" cap="flat" cmpd="sng">
            <a:solidFill>
              <a:srgbClr val="3333FF"/>
            </a:solidFill>
            <a:prstDash val="solid"/>
            <a:headEnd type="none" w="med" len="med"/>
            <a:tailEnd type="none" w="med" len="med"/>
          </a:ln>
        </p:spPr>
      </p:sp>
      <p:sp>
        <p:nvSpPr>
          <p:cNvPr id="2382924" name="Line 76"/>
          <p:cNvSpPr/>
          <p:nvPr/>
        </p:nvSpPr>
        <p:spPr>
          <a:xfrm flipV="1">
            <a:off x="5119688" y="2689225"/>
            <a:ext cx="0" cy="393700"/>
          </a:xfrm>
          <a:prstGeom prst="line">
            <a:avLst/>
          </a:prstGeom>
          <a:ln w="9525" cap="flat" cmpd="sng">
            <a:solidFill>
              <a:srgbClr val="3333FF"/>
            </a:solidFill>
            <a:prstDash val="solid"/>
            <a:headEnd type="none" w="med" len="med"/>
            <a:tailEnd type="none" w="med" len="med"/>
          </a:ln>
        </p:spPr>
      </p:sp>
      <p:sp>
        <p:nvSpPr>
          <p:cNvPr id="2382925" name="Line 77"/>
          <p:cNvSpPr/>
          <p:nvPr/>
        </p:nvSpPr>
        <p:spPr>
          <a:xfrm>
            <a:off x="5119688" y="2689225"/>
            <a:ext cx="211137" cy="0"/>
          </a:xfrm>
          <a:prstGeom prst="line">
            <a:avLst/>
          </a:prstGeom>
          <a:ln w="9525" cap="flat" cmpd="sng">
            <a:solidFill>
              <a:srgbClr val="3333FF"/>
            </a:solidFill>
            <a:prstDash val="solid"/>
            <a:headEnd type="none" w="med" len="med"/>
            <a:tailEnd type="none" w="med" len="med"/>
          </a:ln>
        </p:spPr>
      </p:sp>
      <p:sp>
        <p:nvSpPr>
          <p:cNvPr id="2382926" name="Line 78"/>
          <p:cNvSpPr/>
          <p:nvPr/>
        </p:nvSpPr>
        <p:spPr>
          <a:xfrm>
            <a:off x="5330825" y="2689225"/>
            <a:ext cx="0" cy="393700"/>
          </a:xfrm>
          <a:prstGeom prst="line">
            <a:avLst/>
          </a:prstGeom>
          <a:ln w="9525" cap="flat" cmpd="sng">
            <a:solidFill>
              <a:srgbClr val="3333FF"/>
            </a:solidFill>
            <a:prstDash val="solid"/>
            <a:headEnd type="none" w="med" len="med"/>
            <a:tailEnd type="none" w="med" len="med"/>
          </a:ln>
        </p:spPr>
      </p:sp>
      <p:sp>
        <p:nvSpPr>
          <p:cNvPr id="2382927" name="Text Box 79"/>
          <p:cNvSpPr txBox="1"/>
          <p:nvPr/>
        </p:nvSpPr>
        <p:spPr>
          <a:xfrm>
            <a:off x="5072063" y="2390775"/>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1</a:t>
            </a:r>
            <a:endParaRPr lang="en-US" altLang="zh-CN" sz="2000" dirty="0">
              <a:latin typeface="Times New Roman" panose="02020603050405020304" pitchFamily="18" charset="0"/>
            </a:endParaRPr>
          </a:p>
        </p:txBody>
      </p:sp>
      <p:sp>
        <p:nvSpPr>
          <p:cNvPr id="2382928" name="Line 80"/>
          <p:cNvSpPr/>
          <p:nvPr/>
        </p:nvSpPr>
        <p:spPr>
          <a:xfrm>
            <a:off x="5330825" y="3082925"/>
            <a:ext cx="209550" cy="0"/>
          </a:xfrm>
          <a:prstGeom prst="line">
            <a:avLst/>
          </a:prstGeom>
          <a:ln w="9525" cap="flat" cmpd="sng">
            <a:solidFill>
              <a:srgbClr val="3333FF"/>
            </a:solidFill>
            <a:prstDash val="solid"/>
            <a:headEnd type="none" w="med" len="med"/>
            <a:tailEnd type="none" w="med" len="med"/>
          </a:ln>
        </p:spPr>
      </p:sp>
      <p:sp>
        <p:nvSpPr>
          <p:cNvPr id="2382929" name="Line 81"/>
          <p:cNvSpPr/>
          <p:nvPr/>
        </p:nvSpPr>
        <p:spPr>
          <a:xfrm flipV="1">
            <a:off x="5540375" y="2689225"/>
            <a:ext cx="0" cy="393700"/>
          </a:xfrm>
          <a:prstGeom prst="line">
            <a:avLst/>
          </a:prstGeom>
          <a:ln w="9525" cap="flat" cmpd="sng">
            <a:solidFill>
              <a:srgbClr val="3333FF"/>
            </a:solidFill>
            <a:prstDash val="solid"/>
            <a:headEnd type="none" w="med" len="med"/>
            <a:tailEnd type="none" w="med" len="med"/>
          </a:ln>
        </p:spPr>
      </p:sp>
      <p:sp>
        <p:nvSpPr>
          <p:cNvPr id="2382930" name="Line 82"/>
          <p:cNvSpPr/>
          <p:nvPr/>
        </p:nvSpPr>
        <p:spPr>
          <a:xfrm>
            <a:off x="5540375" y="2689225"/>
            <a:ext cx="211138" cy="0"/>
          </a:xfrm>
          <a:prstGeom prst="line">
            <a:avLst/>
          </a:prstGeom>
          <a:ln w="9525" cap="flat" cmpd="sng">
            <a:solidFill>
              <a:srgbClr val="3333FF"/>
            </a:solidFill>
            <a:prstDash val="solid"/>
            <a:headEnd type="none" w="med" len="med"/>
            <a:tailEnd type="none" w="med" len="med"/>
          </a:ln>
        </p:spPr>
      </p:sp>
      <p:sp>
        <p:nvSpPr>
          <p:cNvPr id="2382931" name="Line 83"/>
          <p:cNvSpPr/>
          <p:nvPr/>
        </p:nvSpPr>
        <p:spPr>
          <a:xfrm>
            <a:off x="5751513" y="2689225"/>
            <a:ext cx="0" cy="393700"/>
          </a:xfrm>
          <a:prstGeom prst="line">
            <a:avLst/>
          </a:prstGeom>
          <a:ln w="9525" cap="flat" cmpd="sng">
            <a:solidFill>
              <a:srgbClr val="3333FF"/>
            </a:solidFill>
            <a:prstDash val="solid"/>
            <a:headEnd type="none" w="med" len="med"/>
            <a:tailEnd type="none" w="med" len="med"/>
          </a:ln>
        </p:spPr>
      </p:sp>
      <p:sp>
        <p:nvSpPr>
          <p:cNvPr id="2382932" name="Text Box 84"/>
          <p:cNvSpPr txBox="1"/>
          <p:nvPr/>
        </p:nvSpPr>
        <p:spPr>
          <a:xfrm>
            <a:off x="5486400" y="2386013"/>
            <a:ext cx="311150" cy="366712"/>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2</a:t>
            </a:r>
            <a:endParaRPr lang="en-US" altLang="zh-CN" sz="2000" dirty="0">
              <a:latin typeface="Times New Roman" panose="02020603050405020304" pitchFamily="18" charset="0"/>
            </a:endParaRPr>
          </a:p>
        </p:txBody>
      </p:sp>
      <p:sp>
        <p:nvSpPr>
          <p:cNvPr id="2382933" name="Line 85"/>
          <p:cNvSpPr/>
          <p:nvPr/>
        </p:nvSpPr>
        <p:spPr>
          <a:xfrm>
            <a:off x="5751513" y="3082925"/>
            <a:ext cx="209550" cy="0"/>
          </a:xfrm>
          <a:prstGeom prst="line">
            <a:avLst/>
          </a:prstGeom>
          <a:ln w="9525" cap="flat" cmpd="sng">
            <a:solidFill>
              <a:srgbClr val="3333FF"/>
            </a:solidFill>
            <a:prstDash val="solid"/>
            <a:headEnd type="none" w="med" len="med"/>
            <a:tailEnd type="none" w="med" len="med"/>
          </a:ln>
        </p:spPr>
      </p:sp>
      <p:sp>
        <p:nvSpPr>
          <p:cNvPr id="2382934" name="Line 86"/>
          <p:cNvSpPr/>
          <p:nvPr/>
        </p:nvSpPr>
        <p:spPr>
          <a:xfrm flipV="1">
            <a:off x="5961063" y="2689225"/>
            <a:ext cx="0" cy="393700"/>
          </a:xfrm>
          <a:prstGeom prst="line">
            <a:avLst/>
          </a:prstGeom>
          <a:ln w="9525" cap="flat" cmpd="sng">
            <a:solidFill>
              <a:srgbClr val="3333FF"/>
            </a:solidFill>
            <a:prstDash val="solid"/>
            <a:headEnd type="none" w="med" len="med"/>
            <a:tailEnd type="none" w="med" len="med"/>
          </a:ln>
        </p:spPr>
      </p:sp>
      <p:sp>
        <p:nvSpPr>
          <p:cNvPr id="2382935" name="Line 87"/>
          <p:cNvSpPr/>
          <p:nvPr/>
        </p:nvSpPr>
        <p:spPr>
          <a:xfrm>
            <a:off x="5961063" y="2689225"/>
            <a:ext cx="219075" cy="0"/>
          </a:xfrm>
          <a:prstGeom prst="line">
            <a:avLst/>
          </a:prstGeom>
          <a:ln w="9525" cap="flat" cmpd="sng">
            <a:solidFill>
              <a:srgbClr val="3333FF"/>
            </a:solidFill>
            <a:prstDash val="solid"/>
            <a:headEnd type="none" w="med" len="med"/>
            <a:tailEnd type="none" w="med" len="med"/>
          </a:ln>
        </p:spPr>
      </p:sp>
      <p:sp>
        <p:nvSpPr>
          <p:cNvPr id="2382936" name="Line 88"/>
          <p:cNvSpPr/>
          <p:nvPr/>
        </p:nvSpPr>
        <p:spPr>
          <a:xfrm>
            <a:off x="6180138" y="2689225"/>
            <a:ext cx="0" cy="393700"/>
          </a:xfrm>
          <a:prstGeom prst="line">
            <a:avLst/>
          </a:prstGeom>
          <a:ln w="9525" cap="flat" cmpd="sng">
            <a:solidFill>
              <a:srgbClr val="3333FF"/>
            </a:solidFill>
            <a:prstDash val="solid"/>
            <a:headEnd type="none" w="med" len="med"/>
            <a:tailEnd type="none" w="med" len="med"/>
          </a:ln>
        </p:spPr>
      </p:sp>
      <p:sp>
        <p:nvSpPr>
          <p:cNvPr id="2382937" name="Text Box 89"/>
          <p:cNvSpPr txBox="1"/>
          <p:nvPr/>
        </p:nvSpPr>
        <p:spPr>
          <a:xfrm>
            <a:off x="5910263" y="2390775"/>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3</a:t>
            </a:r>
            <a:endParaRPr lang="en-US" altLang="zh-CN" sz="2000" dirty="0">
              <a:latin typeface="Times New Roman" panose="02020603050405020304" pitchFamily="18" charset="0"/>
            </a:endParaRPr>
          </a:p>
        </p:txBody>
      </p:sp>
      <p:sp>
        <p:nvSpPr>
          <p:cNvPr id="2382938" name="Line 90"/>
          <p:cNvSpPr/>
          <p:nvPr/>
        </p:nvSpPr>
        <p:spPr>
          <a:xfrm>
            <a:off x="6180138" y="3082925"/>
            <a:ext cx="209550" cy="0"/>
          </a:xfrm>
          <a:prstGeom prst="line">
            <a:avLst/>
          </a:prstGeom>
          <a:ln w="9525" cap="flat" cmpd="sng">
            <a:solidFill>
              <a:srgbClr val="3333FF"/>
            </a:solidFill>
            <a:prstDash val="solid"/>
            <a:headEnd type="none" w="med" len="med"/>
            <a:tailEnd type="none" w="med" len="med"/>
          </a:ln>
        </p:spPr>
      </p:sp>
      <p:sp>
        <p:nvSpPr>
          <p:cNvPr id="2382939" name="Line 91"/>
          <p:cNvSpPr/>
          <p:nvPr/>
        </p:nvSpPr>
        <p:spPr>
          <a:xfrm flipV="1">
            <a:off x="6389688" y="2689225"/>
            <a:ext cx="0" cy="393700"/>
          </a:xfrm>
          <a:prstGeom prst="line">
            <a:avLst/>
          </a:prstGeom>
          <a:ln w="9525" cap="flat" cmpd="sng">
            <a:solidFill>
              <a:srgbClr val="3333FF"/>
            </a:solidFill>
            <a:prstDash val="solid"/>
            <a:headEnd type="none" w="med" len="med"/>
            <a:tailEnd type="none" w="med" len="med"/>
          </a:ln>
        </p:spPr>
      </p:sp>
      <p:sp>
        <p:nvSpPr>
          <p:cNvPr id="2382940" name="Line 92"/>
          <p:cNvSpPr/>
          <p:nvPr/>
        </p:nvSpPr>
        <p:spPr>
          <a:xfrm>
            <a:off x="6389688" y="2689225"/>
            <a:ext cx="211137" cy="0"/>
          </a:xfrm>
          <a:prstGeom prst="line">
            <a:avLst/>
          </a:prstGeom>
          <a:ln w="9525" cap="flat" cmpd="sng">
            <a:solidFill>
              <a:srgbClr val="3333FF"/>
            </a:solidFill>
            <a:prstDash val="solid"/>
            <a:headEnd type="none" w="med" len="med"/>
            <a:tailEnd type="none" w="med" len="med"/>
          </a:ln>
        </p:spPr>
      </p:sp>
      <p:sp>
        <p:nvSpPr>
          <p:cNvPr id="2382941" name="Line 93"/>
          <p:cNvSpPr/>
          <p:nvPr/>
        </p:nvSpPr>
        <p:spPr>
          <a:xfrm>
            <a:off x="6600825" y="2689225"/>
            <a:ext cx="0" cy="393700"/>
          </a:xfrm>
          <a:prstGeom prst="line">
            <a:avLst/>
          </a:prstGeom>
          <a:ln w="9525" cap="flat" cmpd="sng">
            <a:solidFill>
              <a:srgbClr val="3333FF"/>
            </a:solidFill>
            <a:prstDash val="solid"/>
            <a:headEnd type="none" w="med" len="med"/>
            <a:tailEnd type="none" w="med" len="med"/>
          </a:ln>
        </p:spPr>
      </p:sp>
      <p:sp>
        <p:nvSpPr>
          <p:cNvPr id="2382942" name="Text Box 94"/>
          <p:cNvSpPr txBox="1"/>
          <p:nvPr/>
        </p:nvSpPr>
        <p:spPr>
          <a:xfrm>
            <a:off x="6319838" y="2397125"/>
            <a:ext cx="311150" cy="366713"/>
          </a:xfrm>
          <a:prstGeom prst="rect">
            <a:avLst/>
          </a:prstGeom>
          <a:noFill/>
          <a:ln w="9525">
            <a:noFill/>
          </a:ln>
        </p:spPr>
        <p:txBody>
          <a:bodyPr>
            <a:spAutoFit/>
          </a:bodyPr>
          <a:p>
            <a:pPr eaLnBrk="1" hangingPunct="1">
              <a:lnSpc>
                <a:spcPct val="90000"/>
              </a:lnSpc>
            </a:pPr>
            <a:r>
              <a:rPr lang="en-US" altLang="zh-CN" sz="2000" dirty="0">
                <a:latin typeface="Times New Roman" panose="02020603050405020304" pitchFamily="18" charset="0"/>
              </a:rPr>
              <a:t>4</a:t>
            </a:r>
            <a:endParaRPr lang="en-US" altLang="zh-CN" sz="2000" dirty="0">
              <a:latin typeface="Times New Roman" panose="02020603050405020304" pitchFamily="18" charset="0"/>
            </a:endParaRPr>
          </a:p>
        </p:txBody>
      </p:sp>
      <p:sp>
        <p:nvSpPr>
          <p:cNvPr id="2382943" name="Line 95"/>
          <p:cNvSpPr/>
          <p:nvPr/>
        </p:nvSpPr>
        <p:spPr>
          <a:xfrm>
            <a:off x="6600825" y="3082925"/>
            <a:ext cx="209550" cy="0"/>
          </a:xfrm>
          <a:prstGeom prst="line">
            <a:avLst/>
          </a:prstGeom>
          <a:ln w="9525" cap="flat" cmpd="sng">
            <a:solidFill>
              <a:srgbClr val="3333FF"/>
            </a:solidFill>
            <a:prstDash val="solid"/>
            <a:headEnd type="none" w="med" len="med"/>
            <a:tailEnd type="none" w="med" len="med"/>
          </a:ln>
        </p:spPr>
      </p:sp>
      <p:sp>
        <p:nvSpPr>
          <p:cNvPr id="2382944" name="Line 96"/>
          <p:cNvSpPr/>
          <p:nvPr/>
        </p:nvSpPr>
        <p:spPr>
          <a:xfrm flipV="1">
            <a:off x="6810375" y="2689225"/>
            <a:ext cx="0" cy="393700"/>
          </a:xfrm>
          <a:prstGeom prst="line">
            <a:avLst/>
          </a:prstGeom>
          <a:ln w="9525" cap="flat" cmpd="sng">
            <a:solidFill>
              <a:srgbClr val="3333FF"/>
            </a:solidFill>
            <a:prstDash val="solid"/>
            <a:headEnd type="none" w="med" len="med"/>
            <a:tailEnd type="none" w="med" len="med"/>
          </a:ln>
        </p:spPr>
      </p:sp>
      <p:sp>
        <p:nvSpPr>
          <p:cNvPr id="2382945" name="Line 97"/>
          <p:cNvSpPr/>
          <p:nvPr/>
        </p:nvSpPr>
        <p:spPr>
          <a:xfrm>
            <a:off x="6810375" y="2689225"/>
            <a:ext cx="211138" cy="0"/>
          </a:xfrm>
          <a:prstGeom prst="line">
            <a:avLst/>
          </a:prstGeom>
          <a:ln w="9525" cap="flat" cmpd="sng">
            <a:solidFill>
              <a:srgbClr val="3333FF"/>
            </a:solidFill>
            <a:prstDash val="solid"/>
            <a:headEnd type="none" w="med" len="med"/>
            <a:tailEnd type="none" w="med" len="med"/>
          </a:ln>
        </p:spPr>
      </p:sp>
      <p:sp>
        <p:nvSpPr>
          <p:cNvPr id="2382946" name="Line 98"/>
          <p:cNvSpPr/>
          <p:nvPr/>
        </p:nvSpPr>
        <p:spPr>
          <a:xfrm>
            <a:off x="7021513" y="2689225"/>
            <a:ext cx="0" cy="393700"/>
          </a:xfrm>
          <a:prstGeom prst="line">
            <a:avLst/>
          </a:prstGeom>
          <a:ln w="9525" cap="flat" cmpd="sng">
            <a:solidFill>
              <a:srgbClr val="3333FF"/>
            </a:solidFill>
            <a:prstDash val="solid"/>
            <a:headEnd type="none" w="med" len="med"/>
            <a:tailEnd type="none" w="med" len="med"/>
          </a:ln>
        </p:spPr>
      </p:sp>
      <p:sp>
        <p:nvSpPr>
          <p:cNvPr id="2382947" name="Text Box 99"/>
          <p:cNvSpPr txBox="1"/>
          <p:nvPr/>
        </p:nvSpPr>
        <p:spPr>
          <a:xfrm>
            <a:off x="6759575" y="2384425"/>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5</a:t>
            </a:r>
            <a:endParaRPr lang="en-US" altLang="zh-CN" sz="2000" dirty="0">
              <a:latin typeface="Times New Roman" panose="02020603050405020304" pitchFamily="18" charset="0"/>
            </a:endParaRPr>
          </a:p>
        </p:txBody>
      </p:sp>
      <p:sp>
        <p:nvSpPr>
          <p:cNvPr id="2382948" name="Line 100"/>
          <p:cNvSpPr/>
          <p:nvPr/>
        </p:nvSpPr>
        <p:spPr>
          <a:xfrm>
            <a:off x="7021513" y="3082925"/>
            <a:ext cx="211137" cy="0"/>
          </a:xfrm>
          <a:prstGeom prst="line">
            <a:avLst/>
          </a:prstGeom>
          <a:ln w="9525" cap="flat" cmpd="sng">
            <a:solidFill>
              <a:srgbClr val="3333FF"/>
            </a:solidFill>
            <a:prstDash val="solid"/>
            <a:headEnd type="none" w="med" len="med"/>
            <a:tailEnd type="none" w="med" len="med"/>
          </a:ln>
        </p:spPr>
      </p:sp>
      <p:sp>
        <p:nvSpPr>
          <p:cNvPr id="2382949" name="Line 101"/>
          <p:cNvSpPr/>
          <p:nvPr/>
        </p:nvSpPr>
        <p:spPr>
          <a:xfrm flipV="1">
            <a:off x="7232650" y="2689225"/>
            <a:ext cx="0" cy="393700"/>
          </a:xfrm>
          <a:prstGeom prst="line">
            <a:avLst/>
          </a:prstGeom>
          <a:ln w="9525" cap="flat" cmpd="sng">
            <a:solidFill>
              <a:srgbClr val="3333FF"/>
            </a:solidFill>
            <a:prstDash val="solid"/>
            <a:headEnd type="none" w="med" len="med"/>
            <a:tailEnd type="none" w="med" len="med"/>
          </a:ln>
        </p:spPr>
      </p:sp>
      <p:sp>
        <p:nvSpPr>
          <p:cNvPr id="2382950" name="Line 102"/>
          <p:cNvSpPr/>
          <p:nvPr/>
        </p:nvSpPr>
        <p:spPr>
          <a:xfrm>
            <a:off x="7232650" y="2689225"/>
            <a:ext cx="209550" cy="0"/>
          </a:xfrm>
          <a:prstGeom prst="line">
            <a:avLst/>
          </a:prstGeom>
          <a:ln w="9525" cap="flat" cmpd="sng">
            <a:solidFill>
              <a:srgbClr val="3333FF"/>
            </a:solidFill>
            <a:prstDash val="solid"/>
            <a:headEnd type="none" w="med" len="med"/>
            <a:tailEnd type="none" w="med" len="med"/>
          </a:ln>
        </p:spPr>
      </p:sp>
      <p:sp>
        <p:nvSpPr>
          <p:cNvPr id="2382951" name="Line 103"/>
          <p:cNvSpPr/>
          <p:nvPr/>
        </p:nvSpPr>
        <p:spPr>
          <a:xfrm>
            <a:off x="7442200" y="2689225"/>
            <a:ext cx="0" cy="393700"/>
          </a:xfrm>
          <a:prstGeom prst="line">
            <a:avLst/>
          </a:prstGeom>
          <a:ln w="9525" cap="flat" cmpd="sng">
            <a:solidFill>
              <a:srgbClr val="3333FF"/>
            </a:solidFill>
            <a:prstDash val="solid"/>
            <a:headEnd type="none" w="med" len="med"/>
            <a:tailEnd type="none" w="med" len="med"/>
          </a:ln>
        </p:spPr>
      </p:sp>
      <p:sp>
        <p:nvSpPr>
          <p:cNvPr id="2382952" name="Text Box 104"/>
          <p:cNvSpPr txBox="1"/>
          <p:nvPr/>
        </p:nvSpPr>
        <p:spPr>
          <a:xfrm>
            <a:off x="7177088" y="238760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6</a:t>
            </a:r>
            <a:endParaRPr lang="en-US" altLang="zh-CN" sz="2000" dirty="0">
              <a:latin typeface="Times New Roman" panose="02020603050405020304" pitchFamily="18" charset="0"/>
            </a:endParaRPr>
          </a:p>
        </p:txBody>
      </p:sp>
      <p:sp>
        <p:nvSpPr>
          <p:cNvPr id="2382953" name="Line 105"/>
          <p:cNvSpPr/>
          <p:nvPr/>
        </p:nvSpPr>
        <p:spPr>
          <a:xfrm>
            <a:off x="7442200" y="3082925"/>
            <a:ext cx="211138" cy="0"/>
          </a:xfrm>
          <a:prstGeom prst="line">
            <a:avLst/>
          </a:prstGeom>
          <a:ln w="9525" cap="flat" cmpd="sng">
            <a:solidFill>
              <a:srgbClr val="3333FF"/>
            </a:solidFill>
            <a:prstDash val="solid"/>
            <a:headEnd type="none" w="med" len="med"/>
            <a:tailEnd type="none" w="med" len="med"/>
          </a:ln>
        </p:spPr>
      </p:sp>
      <p:sp>
        <p:nvSpPr>
          <p:cNvPr id="2382954" name="Line 106"/>
          <p:cNvSpPr/>
          <p:nvPr/>
        </p:nvSpPr>
        <p:spPr>
          <a:xfrm flipV="1">
            <a:off x="7653338" y="2689225"/>
            <a:ext cx="0" cy="393700"/>
          </a:xfrm>
          <a:prstGeom prst="line">
            <a:avLst/>
          </a:prstGeom>
          <a:ln w="9525" cap="flat" cmpd="sng">
            <a:solidFill>
              <a:srgbClr val="3333FF"/>
            </a:solidFill>
            <a:prstDash val="solid"/>
            <a:headEnd type="none" w="med" len="med"/>
            <a:tailEnd type="none" w="med" len="med"/>
          </a:ln>
        </p:spPr>
      </p:sp>
      <p:sp>
        <p:nvSpPr>
          <p:cNvPr id="2382955" name="Line 107"/>
          <p:cNvSpPr/>
          <p:nvPr/>
        </p:nvSpPr>
        <p:spPr>
          <a:xfrm>
            <a:off x="7653338" y="2689225"/>
            <a:ext cx="217487" cy="0"/>
          </a:xfrm>
          <a:prstGeom prst="line">
            <a:avLst/>
          </a:prstGeom>
          <a:ln w="9525" cap="flat" cmpd="sng">
            <a:solidFill>
              <a:srgbClr val="3333FF"/>
            </a:solidFill>
            <a:prstDash val="solid"/>
            <a:headEnd type="none" w="med" len="med"/>
            <a:tailEnd type="none" w="med" len="med"/>
          </a:ln>
        </p:spPr>
      </p:sp>
      <p:sp>
        <p:nvSpPr>
          <p:cNvPr id="2382956" name="Line 108"/>
          <p:cNvSpPr/>
          <p:nvPr/>
        </p:nvSpPr>
        <p:spPr>
          <a:xfrm>
            <a:off x="7870825" y="2689225"/>
            <a:ext cx="0" cy="393700"/>
          </a:xfrm>
          <a:prstGeom prst="line">
            <a:avLst/>
          </a:prstGeom>
          <a:ln w="9525" cap="flat" cmpd="sng">
            <a:solidFill>
              <a:srgbClr val="3333FF"/>
            </a:solidFill>
            <a:prstDash val="solid"/>
            <a:headEnd type="none" w="med" len="med"/>
            <a:tailEnd type="none" w="med" len="med"/>
          </a:ln>
        </p:spPr>
      </p:sp>
      <p:sp>
        <p:nvSpPr>
          <p:cNvPr id="2382957" name="Text Box 109"/>
          <p:cNvSpPr txBox="1"/>
          <p:nvPr/>
        </p:nvSpPr>
        <p:spPr>
          <a:xfrm>
            <a:off x="7602538" y="239395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7</a:t>
            </a:r>
            <a:endParaRPr lang="en-US" altLang="zh-CN" sz="2000" dirty="0">
              <a:latin typeface="Times New Roman" panose="02020603050405020304" pitchFamily="18" charset="0"/>
            </a:endParaRPr>
          </a:p>
        </p:txBody>
      </p:sp>
      <p:sp>
        <p:nvSpPr>
          <p:cNvPr id="2382958" name="Line 110"/>
          <p:cNvSpPr/>
          <p:nvPr/>
        </p:nvSpPr>
        <p:spPr>
          <a:xfrm>
            <a:off x="7870825" y="3082925"/>
            <a:ext cx="211138" cy="0"/>
          </a:xfrm>
          <a:prstGeom prst="line">
            <a:avLst/>
          </a:prstGeom>
          <a:ln w="9525" cap="flat" cmpd="sng">
            <a:solidFill>
              <a:srgbClr val="3333FF"/>
            </a:solidFill>
            <a:prstDash val="solid"/>
            <a:headEnd type="none" w="med" len="med"/>
            <a:tailEnd type="none" w="med" len="med"/>
          </a:ln>
        </p:spPr>
      </p:sp>
      <p:sp>
        <p:nvSpPr>
          <p:cNvPr id="2382959" name="Line 111"/>
          <p:cNvSpPr/>
          <p:nvPr/>
        </p:nvSpPr>
        <p:spPr>
          <a:xfrm flipV="1">
            <a:off x="8081963" y="2689225"/>
            <a:ext cx="0" cy="393700"/>
          </a:xfrm>
          <a:prstGeom prst="line">
            <a:avLst/>
          </a:prstGeom>
          <a:ln w="9525" cap="flat" cmpd="sng">
            <a:solidFill>
              <a:srgbClr val="3333FF"/>
            </a:solidFill>
            <a:prstDash val="solid"/>
            <a:headEnd type="none" w="med" len="med"/>
            <a:tailEnd type="none" w="med" len="med"/>
          </a:ln>
        </p:spPr>
      </p:sp>
      <p:sp>
        <p:nvSpPr>
          <p:cNvPr id="2382960" name="Line 112"/>
          <p:cNvSpPr/>
          <p:nvPr/>
        </p:nvSpPr>
        <p:spPr>
          <a:xfrm>
            <a:off x="8081963" y="2689225"/>
            <a:ext cx="209550" cy="0"/>
          </a:xfrm>
          <a:prstGeom prst="line">
            <a:avLst/>
          </a:prstGeom>
          <a:ln w="9525" cap="flat" cmpd="sng">
            <a:solidFill>
              <a:srgbClr val="3333FF"/>
            </a:solidFill>
            <a:prstDash val="solid"/>
            <a:headEnd type="none" w="med" len="med"/>
            <a:tailEnd type="none" w="med" len="med"/>
          </a:ln>
        </p:spPr>
      </p:sp>
      <p:sp>
        <p:nvSpPr>
          <p:cNvPr id="2382961" name="Line 113"/>
          <p:cNvSpPr/>
          <p:nvPr/>
        </p:nvSpPr>
        <p:spPr>
          <a:xfrm>
            <a:off x="8291513" y="2689225"/>
            <a:ext cx="0" cy="393700"/>
          </a:xfrm>
          <a:prstGeom prst="line">
            <a:avLst/>
          </a:prstGeom>
          <a:ln w="9525" cap="flat" cmpd="sng">
            <a:solidFill>
              <a:srgbClr val="3333FF"/>
            </a:solidFill>
            <a:prstDash val="solid"/>
            <a:headEnd type="none" w="med" len="med"/>
            <a:tailEnd type="none" w="med" len="med"/>
          </a:ln>
        </p:spPr>
      </p:sp>
      <p:sp>
        <p:nvSpPr>
          <p:cNvPr id="2382962" name="Text Box 114"/>
          <p:cNvSpPr txBox="1"/>
          <p:nvPr/>
        </p:nvSpPr>
        <p:spPr>
          <a:xfrm>
            <a:off x="8010525" y="2387600"/>
            <a:ext cx="311150" cy="366713"/>
          </a:xfrm>
          <a:prstGeom prst="rect">
            <a:avLst/>
          </a:prstGeom>
          <a:noFill/>
          <a:ln w="9525">
            <a:noFill/>
          </a:ln>
        </p:spPr>
        <p:txBody>
          <a:bodyPr wrap="none">
            <a:spAutoFit/>
          </a:bodyPr>
          <a:p>
            <a:pPr eaLnBrk="1" hangingPunct="1">
              <a:lnSpc>
                <a:spcPct val="90000"/>
              </a:lnSpc>
            </a:pPr>
            <a:r>
              <a:rPr lang="en-US" altLang="zh-CN" sz="2000" dirty="0">
                <a:latin typeface="Times New Roman" panose="02020603050405020304" pitchFamily="18" charset="0"/>
              </a:rPr>
              <a:t>8</a:t>
            </a:r>
            <a:endParaRPr lang="en-US" altLang="zh-CN" sz="2000" dirty="0">
              <a:latin typeface="Times New Roman" panose="02020603050405020304" pitchFamily="18" charset="0"/>
            </a:endParaRPr>
          </a:p>
        </p:txBody>
      </p:sp>
      <p:sp>
        <p:nvSpPr>
          <p:cNvPr id="2382963" name="Line 115"/>
          <p:cNvSpPr/>
          <p:nvPr/>
        </p:nvSpPr>
        <p:spPr>
          <a:xfrm>
            <a:off x="8291513" y="3082925"/>
            <a:ext cx="193675" cy="0"/>
          </a:xfrm>
          <a:prstGeom prst="line">
            <a:avLst/>
          </a:prstGeom>
          <a:ln w="9525" cap="flat" cmpd="sng">
            <a:solidFill>
              <a:srgbClr val="3333FF"/>
            </a:solidFill>
            <a:prstDash val="solid"/>
            <a:headEnd type="none" w="med" len="med"/>
            <a:tailEnd type="none" w="med" len="med"/>
          </a:ln>
        </p:spPr>
      </p:sp>
      <p:sp>
        <p:nvSpPr>
          <p:cNvPr id="2382964" name="Text Box 116"/>
          <p:cNvSpPr txBox="1"/>
          <p:nvPr/>
        </p:nvSpPr>
        <p:spPr>
          <a:xfrm>
            <a:off x="5700713" y="5565775"/>
            <a:ext cx="2327275" cy="366713"/>
          </a:xfrm>
          <a:prstGeom prst="rect">
            <a:avLst/>
          </a:prstGeom>
          <a:noFill/>
          <a:ln w="9525">
            <a:noFill/>
          </a:ln>
        </p:spPr>
        <p:txBody>
          <a:bodyPr>
            <a:spAutoFit/>
          </a:bodyPr>
          <a:p>
            <a:pPr eaLnBrk="1" hangingPunct="1">
              <a:lnSpc>
                <a:spcPct val="90000"/>
              </a:lnSpc>
            </a:pPr>
            <a:r>
              <a:rPr lang="zh-CN" altLang="en-US" sz="2000" dirty="0">
                <a:solidFill>
                  <a:srgbClr val="000099"/>
                </a:solidFill>
                <a:latin typeface="Times New Roman" panose="02020603050405020304" pitchFamily="18" charset="0"/>
              </a:rPr>
              <a:t>逐次逼近比较过程</a:t>
            </a:r>
            <a:endParaRPr lang="zh-CN" altLang="en-US" sz="2000" dirty="0">
              <a:solidFill>
                <a:srgbClr val="000099"/>
              </a:solidFill>
              <a:latin typeface="Times New Roman" panose="02020603050405020304" pitchFamily="18" charset="0"/>
            </a:endParaRPr>
          </a:p>
        </p:txBody>
      </p:sp>
      <p:sp>
        <p:nvSpPr>
          <p:cNvPr id="2382966" name="Rectangle 118"/>
          <p:cNvSpPr/>
          <p:nvPr/>
        </p:nvSpPr>
        <p:spPr>
          <a:xfrm>
            <a:off x="180975" y="2547938"/>
            <a:ext cx="3959225" cy="3205162"/>
          </a:xfrm>
          <a:prstGeom prst="rect">
            <a:avLst/>
          </a:prstGeom>
          <a:noFill/>
          <a:ln w="9525">
            <a:noFill/>
          </a:ln>
        </p:spPr>
        <p:txBody>
          <a:bodyPr>
            <a:spAutoFit/>
          </a:bodyPr>
          <a:p>
            <a:pPr marL="457200" indent="-457200" eaLnBrk="1" hangingPunct="1">
              <a:lnSpc>
                <a:spcPct val="90000"/>
              </a:lnSpc>
              <a:spcBef>
                <a:spcPct val="30000"/>
              </a:spcBef>
              <a:buClr>
                <a:srgbClr val="FF0000"/>
              </a:buClr>
              <a:buAutoNum type="arabicPeriod" startAt="3"/>
            </a:pPr>
            <a:r>
              <a:rPr lang="zh-CN" altLang="en-US" sz="2000" dirty="0">
                <a:solidFill>
                  <a:srgbClr val="3333FF"/>
                </a:solidFill>
                <a:latin typeface="Times New Roman" panose="02020603050405020304" pitchFamily="18" charset="0"/>
              </a:rPr>
              <a:t>第二个时钟脉冲到来时，</a:t>
            </a:r>
            <a:r>
              <a:rPr lang="en-US" altLang="zh-CN" sz="2000" i="1" dirty="0">
                <a:solidFill>
                  <a:srgbClr val="CC00CC"/>
                </a:solidFill>
                <a:latin typeface="Times New Roman" panose="02020603050405020304" pitchFamily="18" charset="0"/>
              </a:rPr>
              <a:t>SAR</a:t>
            </a:r>
            <a:r>
              <a:rPr lang="zh-CN" altLang="en-US" sz="2000" dirty="0">
                <a:solidFill>
                  <a:srgbClr val="3333FF"/>
                </a:solidFill>
                <a:latin typeface="Times New Roman" panose="02020603050405020304" pitchFamily="18" charset="0"/>
              </a:rPr>
              <a:t>置为</a:t>
            </a:r>
            <a:r>
              <a:rPr lang="en-US" altLang="zh-CN" sz="2000" dirty="0">
                <a:solidFill>
                  <a:srgbClr val="CC00CC"/>
                </a:solidFill>
                <a:latin typeface="Times New Roman" panose="02020603050405020304" pitchFamily="18" charset="0"/>
              </a:rPr>
              <a:t>11000000</a:t>
            </a:r>
            <a:r>
              <a:rPr lang="zh-CN" altLang="en-US" sz="2000" dirty="0">
                <a:solidFill>
                  <a:srgbClr val="3333FF"/>
                </a:solidFill>
                <a:latin typeface="Times New Roman" panose="02020603050405020304" pitchFamily="18" charset="0"/>
              </a:rPr>
              <a:t>，经过</a:t>
            </a:r>
            <a:r>
              <a:rPr lang="en-US" altLang="zh-CN" sz="2000" dirty="0">
                <a:solidFill>
                  <a:srgbClr val="3333FF"/>
                </a:solidFill>
                <a:latin typeface="Times New Roman" panose="02020603050405020304" pitchFamily="18" charset="0"/>
              </a:rPr>
              <a:t>DAC</a:t>
            </a:r>
            <a:r>
              <a:rPr lang="zh-CN" altLang="en-US" sz="2000" dirty="0">
                <a:solidFill>
                  <a:srgbClr val="3333FF"/>
                </a:solidFill>
                <a:latin typeface="Times New Roman" panose="02020603050405020304" pitchFamily="18" charset="0"/>
              </a:rPr>
              <a:t>产生反馈电压</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f</a:t>
            </a:r>
            <a:r>
              <a:rPr lang="en-US" altLang="zh-CN" sz="2000" dirty="0">
                <a:solidFill>
                  <a:srgbClr val="CC00CC"/>
                </a:solidFill>
                <a:latin typeface="Times New Roman" panose="02020603050405020304" pitchFamily="18" charset="0"/>
              </a:rPr>
              <a:t>=5.12+10.24/2</a:t>
            </a:r>
            <a:r>
              <a:rPr lang="en-US" altLang="zh-CN" sz="2000" baseline="30000" dirty="0">
                <a:solidFill>
                  <a:srgbClr val="CC00CC"/>
                </a:solidFill>
                <a:latin typeface="Times New Roman" panose="02020603050405020304" pitchFamily="18" charset="0"/>
              </a:rPr>
              <a:t>2</a:t>
            </a:r>
            <a:r>
              <a:rPr lang="en-US" altLang="zh-CN" sz="2000" dirty="0">
                <a:solidFill>
                  <a:srgbClr val="CC00CC"/>
                </a:solidFill>
                <a:latin typeface="Times New Roman" panose="02020603050405020304" pitchFamily="18" charset="0"/>
              </a:rPr>
              <a:t>=7.68V</a:t>
            </a:r>
            <a:r>
              <a:rPr lang="zh-CN" altLang="en-US" sz="2000" dirty="0">
                <a:solidFill>
                  <a:srgbClr val="3333FF"/>
                </a:solidFill>
                <a:latin typeface="Times New Roman" panose="02020603050405020304" pitchFamily="18" charset="0"/>
              </a:rPr>
              <a:t>，因</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i</a:t>
            </a:r>
            <a:r>
              <a:rPr lang="en-US" altLang="zh-CN" sz="2000" dirty="0">
                <a:solidFill>
                  <a:srgbClr val="3333FF"/>
                </a:solidFill>
                <a:latin typeface="Times New Roman" panose="02020603050405020304" pitchFamily="18" charset="0"/>
              </a:rPr>
              <a:t>&gt;</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f</a:t>
            </a:r>
            <a:r>
              <a:rPr lang="zh-CN" altLang="en-US" sz="2000" dirty="0">
                <a:solidFill>
                  <a:srgbClr val="3333FF"/>
                </a:solidFill>
                <a:latin typeface="Times New Roman" panose="02020603050405020304" pitchFamily="18" charset="0"/>
              </a:rPr>
              <a:t>，故保留此位“</a:t>
            </a:r>
            <a:r>
              <a:rPr lang="en-US" altLang="zh-CN" sz="2000" dirty="0">
                <a:solidFill>
                  <a:srgbClr val="CC00CC"/>
                </a:solidFill>
                <a:latin typeface="Times New Roman" panose="02020603050405020304" pitchFamily="18" charset="0"/>
              </a:rPr>
              <a:t>1</a:t>
            </a:r>
            <a:r>
              <a:rPr lang="en-US" altLang="zh-CN" sz="2000" dirty="0">
                <a:solidFill>
                  <a:srgbClr val="3333FF"/>
                </a:solidFill>
                <a:latin typeface="Times New Roman" panose="02020603050405020304" pitchFamily="18" charset="0"/>
              </a:rPr>
              <a:t>”;</a:t>
            </a:r>
            <a:endParaRPr lang="en-US" altLang="zh-CN" sz="2000" dirty="0">
              <a:solidFill>
                <a:srgbClr val="3333FF"/>
              </a:solidFill>
              <a:latin typeface="Times New Roman" panose="02020603050405020304" pitchFamily="18" charset="0"/>
            </a:endParaRPr>
          </a:p>
          <a:p>
            <a:pPr marL="457200" indent="-457200" eaLnBrk="1" hangingPunct="1">
              <a:lnSpc>
                <a:spcPct val="90000"/>
              </a:lnSpc>
              <a:spcBef>
                <a:spcPct val="30000"/>
              </a:spcBef>
              <a:buClr>
                <a:srgbClr val="FF0000"/>
              </a:buClr>
              <a:buAutoNum type="arabicPeriod" startAt="3"/>
            </a:pPr>
            <a:r>
              <a:rPr lang="zh-CN" altLang="en-US" sz="2000" dirty="0">
                <a:solidFill>
                  <a:srgbClr val="3333FF"/>
                </a:solidFill>
                <a:latin typeface="Times New Roman" panose="02020603050405020304" pitchFamily="18" charset="0"/>
              </a:rPr>
              <a:t>第三个时钟脉冲到来时，</a:t>
            </a:r>
            <a:r>
              <a:rPr lang="en-US" altLang="zh-CN" sz="2000" i="1" dirty="0">
                <a:solidFill>
                  <a:srgbClr val="CC00CC"/>
                </a:solidFill>
                <a:latin typeface="Times New Roman" panose="02020603050405020304" pitchFamily="18" charset="0"/>
              </a:rPr>
              <a:t>SAR</a:t>
            </a:r>
            <a:r>
              <a:rPr lang="zh-CN" altLang="en-US" sz="2000" dirty="0">
                <a:solidFill>
                  <a:srgbClr val="3333FF"/>
                </a:solidFill>
                <a:latin typeface="Times New Roman" panose="02020603050405020304" pitchFamily="18" charset="0"/>
              </a:rPr>
              <a:t>状态置为</a:t>
            </a:r>
            <a:r>
              <a:rPr lang="en-US" altLang="zh-CN" sz="2000" dirty="0">
                <a:solidFill>
                  <a:srgbClr val="CC00CC"/>
                </a:solidFill>
                <a:latin typeface="Times New Roman" panose="02020603050405020304" pitchFamily="18" charset="0"/>
              </a:rPr>
              <a:t>11100000</a:t>
            </a:r>
            <a:r>
              <a:rPr lang="zh-CN" altLang="en-US" sz="2000" dirty="0">
                <a:solidFill>
                  <a:srgbClr val="3333FF"/>
                </a:solidFill>
                <a:latin typeface="Times New Roman" panose="02020603050405020304" pitchFamily="18" charset="0"/>
              </a:rPr>
              <a:t>，经</a:t>
            </a:r>
            <a:r>
              <a:rPr lang="en-US" altLang="zh-CN" sz="2000" dirty="0">
                <a:solidFill>
                  <a:srgbClr val="3333FF"/>
                </a:solidFill>
                <a:latin typeface="Times New Roman" panose="02020603050405020304" pitchFamily="18" charset="0"/>
              </a:rPr>
              <a:t>DAC</a:t>
            </a:r>
            <a:r>
              <a:rPr lang="zh-CN" altLang="en-US" sz="2000" dirty="0">
                <a:solidFill>
                  <a:srgbClr val="3333FF"/>
                </a:solidFill>
                <a:latin typeface="Times New Roman" panose="02020603050405020304" pitchFamily="18" charset="0"/>
              </a:rPr>
              <a:t>产生反馈电压</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f</a:t>
            </a:r>
            <a:r>
              <a:rPr lang="en-US" altLang="zh-CN" sz="2000" dirty="0">
                <a:solidFill>
                  <a:srgbClr val="CC00CC"/>
                </a:solidFill>
                <a:latin typeface="Times New Roman" panose="02020603050405020304" pitchFamily="18" charset="0"/>
              </a:rPr>
              <a:t>=7.68+10.24/2</a:t>
            </a:r>
            <a:r>
              <a:rPr lang="en-US" altLang="zh-CN" sz="2000" baseline="30000" dirty="0">
                <a:solidFill>
                  <a:srgbClr val="CC00CC"/>
                </a:solidFill>
                <a:latin typeface="Times New Roman" panose="02020603050405020304" pitchFamily="18" charset="0"/>
              </a:rPr>
              <a:t>3</a:t>
            </a:r>
            <a:r>
              <a:rPr lang="en-US" altLang="zh-CN" sz="2000" dirty="0">
                <a:solidFill>
                  <a:srgbClr val="CC00CC"/>
                </a:solidFill>
                <a:latin typeface="Times New Roman" panose="02020603050405020304" pitchFamily="18" charset="0"/>
              </a:rPr>
              <a:t>=8.96V</a:t>
            </a:r>
            <a:r>
              <a:rPr lang="zh-CN" altLang="en-US" sz="2000" dirty="0">
                <a:solidFill>
                  <a:srgbClr val="3333FF"/>
                </a:solidFill>
                <a:latin typeface="Times New Roman" panose="02020603050405020304" pitchFamily="18" charset="0"/>
              </a:rPr>
              <a:t>，因</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i</a:t>
            </a:r>
            <a:r>
              <a:rPr lang="en-US" altLang="zh-CN" sz="2000" dirty="0">
                <a:solidFill>
                  <a:srgbClr val="CC00CC"/>
                </a:solidFill>
                <a:latin typeface="Times New Roman" panose="02020603050405020304" pitchFamily="18" charset="0"/>
              </a:rPr>
              <a:t> &lt;</a:t>
            </a:r>
            <a:r>
              <a:rPr lang="en-US" altLang="zh-CN" sz="2000" i="1" dirty="0">
                <a:solidFill>
                  <a:srgbClr val="CC00CC"/>
                </a:solidFill>
                <a:latin typeface="Times New Roman" panose="02020603050405020304" pitchFamily="18" charset="0"/>
              </a:rPr>
              <a:t>U</a:t>
            </a:r>
            <a:r>
              <a:rPr lang="en-US" altLang="zh-CN" sz="2000" i="1" baseline="-25000" dirty="0">
                <a:solidFill>
                  <a:srgbClr val="CC00CC"/>
                </a:solidFill>
                <a:latin typeface="Times New Roman" panose="02020603050405020304" pitchFamily="18" charset="0"/>
              </a:rPr>
              <a:t>f</a:t>
            </a:r>
            <a:r>
              <a:rPr lang="en-US" altLang="zh-CN" sz="2000" i="1" dirty="0">
                <a:solidFill>
                  <a:srgbClr val="3333FF"/>
                </a:solidFill>
                <a:latin typeface="Times New Roman" panose="02020603050405020304" pitchFamily="18" charset="0"/>
              </a:rPr>
              <a:t> </a:t>
            </a:r>
            <a:r>
              <a:rPr lang="zh-CN" altLang="en-US" sz="2000" dirty="0">
                <a:solidFill>
                  <a:srgbClr val="3333FF"/>
                </a:solidFill>
                <a:latin typeface="Times New Roman" panose="02020603050405020304" pitchFamily="18" charset="0"/>
              </a:rPr>
              <a:t>，</a:t>
            </a:r>
            <a:r>
              <a:rPr lang="en-US" altLang="zh-CN" sz="2000" i="1" dirty="0">
                <a:solidFill>
                  <a:srgbClr val="CC00CC"/>
                </a:solidFill>
                <a:latin typeface="Times New Roman" panose="02020603050405020304" pitchFamily="18" charset="0"/>
              </a:rPr>
              <a:t>SAR</a:t>
            </a:r>
            <a:r>
              <a:rPr lang="zh-CN" altLang="en-US" sz="2000" dirty="0">
                <a:solidFill>
                  <a:srgbClr val="3333FF"/>
                </a:solidFill>
                <a:latin typeface="Times New Roman" panose="02020603050405020304" pitchFamily="18" charset="0"/>
              </a:rPr>
              <a:t>此位应置“</a:t>
            </a:r>
            <a:r>
              <a:rPr lang="zh-CN" altLang="en-US" sz="2000" dirty="0">
                <a:solidFill>
                  <a:srgbClr val="CC00CC"/>
                </a:solidFill>
                <a:latin typeface="Times New Roman" panose="02020603050405020304" pitchFamily="18" charset="0"/>
              </a:rPr>
              <a:t> </a:t>
            </a:r>
            <a:r>
              <a:rPr lang="en-US" altLang="zh-CN" sz="2000" dirty="0">
                <a:solidFill>
                  <a:srgbClr val="CC00CC"/>
                </a:solidFill>
                <a:latin typeface="Times New Roman" panose="02020603050405020304" pitchFamily="18" charset="0"/>
              </a:rPr>
              <a:t>0</a:t>
            </a:r>
            <a:r>
              <a:rPr lang="en-US" altLang="zh-CN" sz="2000" dirty="0">
                <a:solidFill>
                  <a:srgbClr val="3333FF"/>
                </a:solidFill>
                <a:latin typeface="Times New Roman" panose="02020603050405020304" pitchFamily="18" charset="0"/>
              </a:rPr>
              <a:t> ”</a:t>
            </a:r>
            <a:r>
              <a:rPr lang="zh-CN" altLang="en-US" sz="2000" dirty="0">
                <a:solidFill>
                  <a:srgbClr val="3333FF"/>
                </a:solidFill>
                <a:latin typeface="Times New Roman" panose="02020603050405020304" pitchFamily="18" charset="0"/>
              </a:rPr>
              <a:t>。</a:t>
            </a:r>
            <a:r>
              <a:rPr lang="en-US" altLang="zh-CN" sz="2000" i="1" dirty="0">
                <a:solidFill>
                  <a:srgbClr val="CC00CC"/>
                </a:solidFill>
                <a:latin typeface="Times New Roman" panose="02020603050405020304" pitchFamily="18" charset="0"/>
              </a:rPr>
              <a:t>SAR</a:t>
            </a:r>
            <a:r>
              <a:rPr lang="zh-CN" altLang="en-US" sz="2000" dirty="0">
                <a:solidFill>
                  <a:srgbClr val="3333FF"/>
                </a:solidFill>
                <a:latin typeface="Times New Roman" panose="02020603050405020304" pitchFamily="18" charset="0"/>
              </a:rPr>
              <a:t>状态改为</a:t>
            </a:r>
            <a:r>
              <a:rPr lang="en-US" altLang="zh-CN" sz="2000" dirty="0">
                <a:solidFill>
                  <a:srgbClr val="CC00CC"/>
                </a:solidFill>
                <a:latin typeface="Times New Roman" panose="02020603050405020304" pitchFamily="18" charset="0"/>
              </a:rPr>
              <a:t>11000000</a:t>
            </a:r>
            <a:r>
              <a:rPr lang="zh-CN" altLang="en-US" sz="2000" dirty="0">
                <a:solidFill>
                  <a:srgbClr val="3333FF"/>
                </a:solidFill>
                <a:latin typeface="Times New Roman" panose="02020603050405020304" pitchFamily="18" charset="0"/>
              </a:rPr>
              <a:t>。</a:t>
            </a:r>
            <a:endParaRPr lang="zh-CN" altLang="en-US" sz="2000" dirty="0">
              <a:solidFill>
                <a:srgbClr val="3333FF"/>
              </a:solidFill>
              <a:latin typeface="Times New Roman" panose="02020603050405020304" pitchFamily="18" charset="0"/>
            </a:endParaRPr>
          </a:p>
        </p:txBody>
      </p:sp>
      <p:sp>
        <p:nvSpPr>
          <p:cNvPr id="2382967" name="Rectangle 119"/>
          <p:cNvSpPr/>
          <p:nvPr/>
        </p:nvSpPr>
        <p:spPr>
          <a:xfrm>
            <a:off x="180975" y="2547938"/>
            <a:ext cx="4175125" cy="2501900"/>
          </a:xfrm>
          <a:prstGeom prst="rect">
            <a:avLst/>
          </a:prstGeom>
          <a:noFill/>
          <a:ln w="9525">
            <a:noFill/>
          </a:ln>
        </p:spPr>
        <p:txBody>
          <a:bodyPr>
            <a:spAutoFit/>
          </a:bodyPr>
          <a:p>
            <a:pPr marL="457200" indent="-457200" eaLnBrk="1" hangingPunct="1">
              <a:lnSpc>
                <a:spcPct val="90000"/>
              </a:lnSpc>
              <a:spcBef>
                <a:spcPct val="30000"/>
              </a:spcBef>
              <a:buClr>
                <a:srgbClr val="FF0000"/>
              </a:buClr>
              <a:buAutoNum type="arabicPeriod" startAt="5"/>
            </a:pPr>
            <a:r>
              <a:rPr lang="zh-CN" altLang="en-US" sz="2400" dirty="0">
                <a:solidFill>
                  <a:srgbClr val="3333FF"/>
                </a:solidFill>
                <a:latin typeface="Times New Roman" panose="02020603050405020304" pitchFamily="18" charset="0"/>
              </a:rPr>
              <a:t>第四个时钟脉冲到来时，</a:t>
            </a:r>
            <a:r>
              <a:rPr lang="en-US" altLang="zh-CN" sz="2400" i="1" dirty="0">
                <a:solidFill>
                  <a:srgbClr val="CC00CC"/>
                </a:solidFill>
                <a:latin typeface="Times New Roman" panose="02020603050405020304" pitchFamily="18" charset="0"/>
              </a:rPr>
              <a:t>SAR</a:t>
            </a:r>
            <a:r>
              <a:rPr lang="zh-CN" altLang="en-US" sz="2400" dirty="0">
                <a:solidFill>
                  <a:srgbClr val="3333FF"/>
                </a:solidFill>
                <a:latin typeface="Times New Roman" panose="02020603050405020304" pitchFamily="18" charset="0"/>
              </a:rPr>
              <a:t>状态又置为</a:t>
            </a:r>
            <a:r>
              <a:rPr lang="en-US" altLang="zh-CN" sz="2400" dirty="0">
                <a:solidFill>
                  <a:srgbClr val="CC00CC"/>
                </a:solidFill>
                <a:latin typeface="Times New Roman" panose="02020603050405020304" pitchFamily="18" charset="0"/>
              </a:rPr>
              <a:t>11010000</a:t>
            </a:r>
            <a:r>
              <a:rPr lang="zh-CN" altLang="en-US" sz="2400" dirty="0">
                <a:solidFill>
                  <a:srgbClr val="3333FF"/>
                </a:solidFill>
                <a:latin typeface="Times New Roman" panose="02020603050405020304" pitchFamily="18" charset="0"/>
              </a:rPr>
              <a:t>，</a:t>
            </a:r>
            <a:r>
              <a:rPr lang="en-US" altLang="zh-CN" sz="2400" dirty="0">
                <a:solidFill>
                  <a:srgbClr val="3333FF"/>
                </a:solidFill>
                <a:latin typeface="Times New Roman" panose="02020603050405020304" pitchFamily="18" charset="0"/>
              </a:rPr>
              <a:t>......</a:t>
            </a:r>
            <a:r>
              <a:rPr lang="zh-CN" altLang="en-US" sz="2400" dirty="0">
                <a:solidFill>
                  <a:srgbClr val="3333FF"/>
                </a:solidFill>
                <a:latin typeface="Times New Roman" panose="02020603050405020304" pitchFamily="18" charset="0"/>
              </a:rPr>
              <a:t>。</a:t>
            </a:r>
            <a:endParaRPr lang="zh-CN" altLang="en-US" sz="2400" dirty="0">
              <a:solidFill>
                <a:srgbClr val="3333FF"/>
              </a:solidFill>
              <a:latin typeface="Times New Roman" panose="02020603050405020304" pitchFamily="18" charset="0"/>
            </a:endParaRPr>
          </a:p>
          <a:p>
            <a:pPr marL="457200" indent="-457200" eaLnBrk="1" hangingPunct="1">
              <a:lnSpc>
                <a:spcPct val="90000"/>
              </a:lnSpc>
              <a:spcBef>
                <a:spcPct val="30000"/>
              </a:spcBef>
              <a:buClr>
                <a:srgbClr val="FF0000"/>
              </a:buClr>
              <a:buAutoNum type="arabicPeriod" startAt="5"/>
            </a:pPr>
            <a:r>
              <a:rPr lang="zh-CN" altLang="en-US" sz="2400" dirty="0">
                <a:solidFill>
                  <a:srgbClr val="3333FF"/>
                </a:solidFill>
                <a:latin typeface="Times New Roman" panose="02020603050405020304" pitchFamily="18" charset="0"/>
              </a:rPr>
              <a:t>经过</a:t>
            </a:r>
            <a:r>
              <a:rPr lang="en-US" altLang="zh-CN" sz="2400" dirty="0">
                <a:solidFill>
                  <a:srgbClr val="3333FF"/>
                </a:solidFill>
                <a:latin typeface="Times New Roman" panose="02020603050405020304" pitchFamily="18" charset="0"/>
              </a:rPr>
              <a:t>8</a:t>
            </a:r>
            <a:r>
              <a:rPr lang="zh-CN" altLang="en-US" sz="2400" dirty="0">
                <a:solidFill>
                  <a:srgbClr val="3333FF"/>
                </a:solidFill>
                <a:latin typeface="Times New Roman" panose="02020603050405020304" pitchFamily="18" charset="0"/>
              </a:rPr>
              <a:t>次比较之后，</a:t>
            </a:r>
            <a:r>
              <a:rPr lang="en-US" altLang="zh-CN" sz="2400" i="1" dirty="0">
                <a:solidFill>
                  <a:srgbClr val="CC00CC"/>
                </a:solidFill>
                <a:latin typeface="Times New Roman" panose="02020603050405020304" pitchFamily="18" charset="0"/>
              </a:rPr>
              <a:t>SAR</a:t>
            </a:r>
            <a:r>
              <a:rPr lang="zh-CN" altLang="en-US" sz="2400" dirty="0">
                <a:solidFill>
                  <a:srgbClr val="3333FF"/>
                </a:solidFill>
                <a:latin typeface="Times New Roman" panose="02020603050405020304" pitchFamily="18" charset="0"/>
              </a:rPr>
              <a:t>的数据寄存器中所建立的数码</a:t>
            </a:r>
            <a:r>
              <a:rPr lang="en-US" altLang="zh-CN" sz="2400" dirty="0">
                <a:solidFill>
                  <a:srgbClr val="CC00CC"/>
                </a:solidFill>
                <a:latin typeface="Times New Roman" panose="02020603050405020304" pitchFamily="18" charset="0"/>
              </a:rPr>
              <a:t>11001111</a:t>
            </a:r>
            <a:r>
              <a:rPr lang="zh-CN" altLang="en-US" sz="2400" dirty="0">
                <a:solidFill>
                  <a:srgbClr val="3333FF"/>
                </a:solidFill>
                <a:latin typeface="Times New Roman" panose="02020603050405020304" pitchFamily="18" charset="0"/>
              </a:rPr>
              <a:t>即为模数转换结果。</a:t>
            </a:r>
            <a:endParaRPr lang="zh-CN" altLang="en-US" sz="2400" dirty="0">
              <a:solidFill>
                <a:srgbClr val="3333FF"/>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8718" name="Text Box 21"/>
          <p:cNvSpPr txBox="1"/>
          <p:nvPr/>
        </p:nvSpPr>
        <p:spPr>
          <a:xfrm>
            <a:off x="419100" y="673100"/>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2852">
                                            <p:txEl>
                                              <p:charRg st="0" end="50"/>
                                            </p:txEl>
                                          </p:spTgt>
                                        </p:tgtEl>
                                        <p:attrNameLst>
                                          <p:attrName>style.visibility</p:attrName>
                                        </p:attrNameLst>
                                      </p:cBhvr>
                                      <p:to>
                                        <p:strVal val="visible"/>
                                      </p:to>
                                    </p:set>
                                    <p:animEffect transition="in" filter="dissolve">
                                      <p:cBhvr>
                                        <p:cTn id="7" dur="500"/>
                                        <p:tgtEl>
                                          <p:spTgt spid="2382852">
                                            <p:txEl>
                                              <p:charRg st="0" end="5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82861"/>
                                        </p:tgtEl>
                                        <p:attrNameLst>
                                          <p:attrName>style.visibility</p:attrName>
                                        </p:attrNameLst>
                                      </p:cBhvr>
                                      <p:to>
                                        <p:strVal val="visible"/>
                                      </p:to>
                                    </p:set>
                                    <p:animEffect transition="in" filter="dissolve">
                                      <p:cBhvr>
                                        <p:cTn id="12" dur="500"/>
                                        <p:tgtEl>
                                          <p:spTgt spid="238286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82965"/>
                                        </p:tgtEl>
                                        <p:attrNameLst>
                                          <p:attrName>style.visibility</p:attrName>
                                        </p:attrNameLst>
                                      </p:cBhvr>
                                      <p:to>
                                        <p:strVal val="visible"/>
                                      </p:to>
                                    </p:set>
                                    <p:animEffect transition="in" filter="dissolve">
                                      <p:cBhvr>
                                        <p:cTn id="17" dur="500"/>
                                        <p:tgtEl>
                                          <p:spTgt spid="2382965"/>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2382964"/>
                                        </p:tgtEl>
                                        <p:attrNameLst>
                                          <p:attrName>style.visibility</p:attrName>
                                        </p:attrNameLst>
                                      </p:cBhvr>
                                      <p:to>
                                        <p:strVal val="visible"/>
                                      </p:to>
                                    </p:set>
                                    <p:animEffect transition="in" filter="dissolve">
                                      <p:cBhvr>
                                        <p:cTn id="21" dur="1000"/>
                                        <p:tgtEl>
                                          <p:spTgt spid="2382964"/>
                                        </p:tgtEl>
                                      </p:cBhvr>
                                    </p:animEffect>
                                  </p:childTnLst>
                                </p:cTn>
                              </p:par>
                              <p:par>
                                <p:cTn id="22" presetID="22" presetClass="entr" presetSubtype="8" fill="hold" nodeType="withEffect">
                                  <p:stCondLst>
                                    <p:cond delay="0"/>
                                  </p:stCondLst>
                                  <p:childTnLst>
                                    <p:set>
                                      <p:cBhvr>
                                        <p:cTn id="23" dur="1" fill="hold">
                                          <p:stCondLst>
                                            <p:cond delay="0"/>
                                          </p:stCondLst>
                                        </p:cTn>
                                        <p:tgtEl>
                                          <p:spTgt spid="2382864"/>
                                        </p:tgtEl>
                                        <p:attrNameLst>
                                          <p:attrName>style.visibility</p:attrName>
                                        </p:attrNameLst>
                                      </p:cBhvr>
                                      <p:to>
                                        <p:strVal val="visible"/>
                                      </p:to>
                                    </p:set>
                                    <p:animEffect transition="in" filter="wipe(left)">
                                      <p:cBhvr>
                                        <p:cTn id="24" dur="1000"/>
                                        <p:tgtEl>
                                          <p:spTgt spid="2382864"/>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382866"/>
                                        </p:tgtEl>
                                        <p:attrNameLst>
                                          <p:attrName>style.visibility</p:attrName>
                                        </p:attrNameLst>
                                      </p:cBhvr>
                                      <p:to>
                                        <p:strVal val="visible"/>
                                      </p:to>
                                    </p:set>
                                    <p:animEffect transition="in" filter="wipe(left)">
                                      <p:cBhvr>
                                        <p:cTn id="27" dur="1000"/>
                                        <p:tgtEl>
                                          <p:spTgt spid="2382866"/>
                                        </p:tgtEl>
                                      </p:cBhvr>
                                    </p:animEffect>
                                  </p:childTnLst>
                                </p:cTn>
                              </p:par>
                              <p:par>
                                <p:cTn id="28" presetID="22" presetClass="entr" presetSubtype="8" fill="hold" nodeType="withEffect">
                                  <p:stCondLst>
                                    <p:cond delay="0"/>
                                  </p:stCondLst>
                                  <p:childTnLst>
                                    <p:set>
                                      <p:cBhvr>
                                        <p:cTn id="29" dur="1" fill="hold">
                                          <p:stCondLst>
                                            <p:cond delay="0"/>
                                          </p:stCondLst>
                                        </p:cTn>
                                        <p:tgtEl>
                                          <p:spTgt spid="2382868"/>
                                        </p:tgtEl>
                                        <p:attrNameLst>
                                          <p:attrName>style.visibility</p:attrName>
                                        </p:attrNameLst>
                                      </p:cBhvr>
                                      <p:to>
                                        <p:strVal val="visible"/>
                                      </p:to>
                                    </p:set>
                                    <p:animEffect transition="in" filter="wipe(left)">
                                      <p:cBhvr>
                                        <p:cTn id="30" dur="1000"/>
                                        <p:tgtEl>
                                          <p:spTgt spid="2382868"/>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2382869"/>
                                        </p:tgtEl>
                                        <p:attrNameLst>
                                          <p:attrName>style.visibility</p:attrName>
                                        </p:attrNameLst>
                                      </p:cBhvr>
                                      <p:to>
                                        <p:strVal val="visible"/>
                                      </p:to>
                                    </p:set>
                                    <p:animEffect transition="in" filter="wipe(left)">
                                      <p:cBhvr>
                                        <p:cTn id="33" dur="1000"/>
                                        <p:tgtEl>
                                          <p:spTgt spid="2382869"/>
                                        </p:tgtEl>
                                      </p:cBhvr>
                                    </p:animEffect>
                                  </p:childTnLst>
                                </p:cTn>
                              </p:par>
                              <p:par>
                                <p:cTn id="34" presetID="22" presetClass="entr" presetSubtype="8" fill="hold" nodeType="withEffect">
                                  <p:stCondLst>
                                    <p:cond delay="0"/>
                                  </p:stCondLst>
                                  <p:childTnLst>
                                    <p:set>
                                      <p:cBhvr>
                                        <p:cTn id="35" dur="1" fill="hold">
                                          <p:stCondLst>
                                            <p:cond delay="0"/>
                                          </p:stCondLst>
                                        </p:cTn>
                                        <p:tgtEl>
                                          <p:spTgt spid="2382870"/>
                                        </p:tgtEl>
                                        <p:attrNameLst>
                                          <p:attrName>style.visibility</p:attrName>
                                        </p:attrNameLst>
                                      </p:cBhvr>
                                      <p:to>
                                        <p:strVal val="visible"/>
                                      </p:to>
                                    </p:set>
                                    <p:animEffect transition="in" filter="wipe(left)">
                                      <p:cBhvr>
                                        <p:cTn id="36" dur="1000"/>
                                        <p:tgtEl>
                                          <p:spTgt spid="2382870"/>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2382871"/>
                                        </p:tgtEl>
                                        <p:attrNameLst>
                                          <p:attrName>style.visibility</p:attrName>
                                        </p:attrNameLst>
                                      </p:cBhvr>
                                      <p:to>
                                        <p:strVal val="visible"/>
                                      </p:to>
                                    </p:set>
                                    <p:animEffect transition="in" filter="wipe(left)">
                                      <p:cBhvr>
                                        <p:cTn id="39" dur="1000"/>
                                        <p:tgtEl>
                                          <p:spTgt spid="2382871"/>
                                        </p:tgtEl>
                                      </p:cBhvr>
                                    </p:animEffect>
                                  </p:childTnLst>
                                </p:cTn>
                              </p:par>
                              <p:par>
                                <p:cTn id="40" presetID="22" presetClass="entr" presetSubtype="8" fill="hold" nodeType="withEffect">
                                  <p:stCondLst>
                                    <p:cond delay="0"/>
                                  </p:stCondLst>
                                  <p:childTnLst>
                                    <p:set>
                                      <p:cBhvr>
                                        <p:cTn id="41" dur="1" fill="hold">
                                          <p:stCondLst>
                                            <p:cond delay="0"/>
                                          </p:stCondLst>
                                        </p:cTn>
                                        <p:tgtEl>
                                          <p:spTgt spid="2382872"/>
                                        </p:tgtEl>
                                        <p:attrNameLst>
                                          <p:attrName>style.visibility</p:attrName>
                                        </p:attrNameLst>
                                      </p:cBhvr>
                                      <p:to>
                                        <p:strVal val="visible"/>
                                      </p:to>
                                    </p:set>
                                    <p:animEffect transition="in" filter="wipe(left)">
                                      <p:cBhvr>
                                        <p:cTn id="42" dur="1000"/>
                                        <p:tgtEl>
                                          <p:spTgt spid="2382872"/>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2382873"/>
                                        </p:tgtEl>
                                        <p:attrNameLst>
                                          <p:attrName>style.visibility</p:attrName>
                                        </p:attrNameLst>
                                      </p:cBhvr>
                                      <p:to>
                                        <p:strVal val="visible"/>
                                      </p:to>
                                    </p:set>
                                    <p:animEffect transition="in" filter="wipe(left)">
                                      <p:cBhvr>
                                        <p:cTn id="45" dur="1000"/>
                                        <p:tgtEl>
                                          <p:spTgt spid="2382873"/>
                                        </p:tgtEl>
                                      </p:cBhvr>
                                    </p:animEffect>
                                  </p:childTnLst>
                                </p:cTn>
                              </p:par>
                              <p:par>
                                <p:cTn id="46" presetID="22" presetClass="entr" presetSubtype="8" fill="hold" nodeType="withEffect">
                                  <p:stCondLst>
                                    <p:cond delay="0"/>
                                  </p:stCondLst>
                                  <p:childTnLst>
                                    <p:set>
                                      <p:cBhvr>
                                        <p:cTn id="47" dur="1" fill="hold">
                                          <p:stCondLst>
                                            <p:cond delay="0"/>
                                          </p:stCondLst>
                                        </p:cTn>
                                        <p:tgtEl>
                                          <p:spTgt spid="2382874"/>
                                        </p:tgtEl>
                                        <p:attrNameLst>
                                          <p:attrName>style.visibility</p:attrName>
                                        </p:attrNameLst>
                                      </p:cBhvr>
                                      <p:to>
                                        <p:strVal val="visible"/>
                                      </p:to>
                                    </p:set>
                                    <p:animEffect transition="in" filter="wipe(left)">
                                      <p:cBhvr>
                                        <p:cTn id="48" dur="1000"/>
                                        <p:tgtEl>
                                          <p:spTgt spid="2382874"/>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2382875"/>
                                        </p:tgtEl>
                                        <p:attrNameLst>
                                          <p:attrName>style.visibility</p:attrName>
                                        </p:attrNameLst>
                                      </p:cBhvr>
                                      <p:to>
                                        <p:strVal val="visible"/>
                                      </p:to>
                                    </p:set>
                                    <p:animEffect transition="in" filter="wipe(left)">
                                      <p:cBhvr>
                                        <p:cTn id="51" dur="1000"/>
                                        <p:tgtEl>
                                          <p:spTgt spid="2382875"/>
                                        </p:tgtEl>
                                      </p:cBhvr>
                                    </p:animEffect>
                                  </p:childTnLst>
                                </p:cTn>
                              </p:par>
                              <p:par>
                                <p:cTn id="52" presetID="22" presetClass="entr" presetSubtype="8" fill="hold" nodeType="withEffect">
                                  <p:stCondLst>
                                    <p:cond delay="0"/>
                                  </p:stCondLst>
                                  <p:childTnLst>
                                    <p:set>
                                      <p:cBhvr>
                                        <p:cTn id="53" dur="1" fill="hold">
                                          <p:stCondLst>
                                            <p:cond delay="0"/>
                                          </p:stCondLst>
                                        </p:cTn>
                                        <p:tgtEl>
                                          <p:spTgt spid="2382876"/>
                                        </p:tgtEl>
                                        <p:attrNameLst>
                                          <p:attrName>style.visibility</p:attrName>
                                        </p:attrNameLst>
                                      </p:cBhvr>
                                      <p:to>
                                        <p:strVal val="visible"/>
                                      </p:to>
                                    </p:set>
                                    <p:animEffect transition="in" filter="wipe(left)">
                                      <p:cBhvr>
                                        <p:cTn id="54" dur="1000"/>
                                        <p:tgtEl>
                                          <p:spTgt spid="2382876"/>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2382877"/>
                                        </p:tgtEl>
                                        <p:attrNameLst>
                                          <p:attrName>style.visibility</p:attrName>
                                        </p:attrNameLst>
                                      </p:cBhvr>
                                      <p:to>
                                        <p:strVal val="visible"/>
                                      </p:to>
                                    </p:set>
                                    <p:animEffect transition="in" filter="wipe(left)">
                                      <p:cBhvr>
                                        <p:cTn id="57" dur="1000"/>
                                        <p:tgtEl>
                                          <p:spTgt spid="2382877"/>
                                        </p:tgtEl>
                                      </p:cBhvr>
                                    </p:animEffect>
                                  </p:childTnLst>
                                </p:cTn>
                              </p:par>
                              <p:par>
                                <p:cTn id="58" presetID="22" presetClass="entr" presetSubtype="8" fill="hold" nodeType="withEffect">
                                  <p:stCondLst>
                                    <p:cond delay="0"/>
                                  </p:stCondLst>
                                  <p:childTnLst>
                                    <p:set>
                                      <p:cBhvr>
                                        <p:cTn id="59" dur="1" fill="hold">
                                          <p:stCondLst>
                                            <p:cond delay="0"/>
                                          </p:stCondLst>
                                        </p:cTn>
                                        <p:tgtEl>
                                          <p:spTgt spid="2382878"/>
                                        </p:tgtEl>
                                        <p:attrNameLst>
                                          <p:attrName>style.visibility</p:attrName>
                                        </p:attrNameLst>
                                      </p:cBhvr>
                                      <p:to>
                                        <p:strVal val="visible"/>
                                      </p:to>
                                    </p:set>
                                    <p:animEffect transition="in" filter="wipe(left)">
                                      <p:cBhvr>
                                        <p:cTn id="60" dur="1000"/>
                                        <p:tgtEl>
                                          <p:spTgt spid="2382878"/>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2382879"/>
                                        </p:tgtEl>
                                        <p:attrNameLst>
                                          <p:attrName>style.visibility</p:attrName>
                                        </p:attrNameLst>
                                      </p:cBhvr>
                                      <p:to>
                                        <p:strVal val="visible"/>
                                      </p:to>
                                    </p:set>
                                    <p:animEffect transition="in" filter="wipe(left)">
                                      <p:cBhvr>
                                        <p:cTn id="63" dur="1000"/>
                                        <p:tgtEl>
                                          <p:spTgt spid="2382879"/>
                                        </p:tgtEl>
                                      </p:cBhvr>
                                    </p:animEffect>
                                  </p:childTnLst>
                                </p:cTn>
                              </p:par>
                              <p:par>
                                <p:cTn id="64" presetID="22" presetClass="entr" presetSubtype="8" fill="hold" nodeType="withEffect">
                                  <p:stCondLst>
                                    <p:cond delay="0"/>
                                  </p:stCondLst>
                                  <p:childTnLst>
                                    <p:set>
                                      <p:cBhvr>
                                        <p:cTn id="65" dur="1" fill="hold">
                                          <p:stCondLst>
                                            <p:cond delay="0"/>
                                          </p:stCondLst>
                                        </p:cTn>
                                        <p:tgtEl>
                                          <p:spTgt spid="2382880"/>
                                        </p:tgtEl>
                                        <p:attrNameLst>
                                          <p:attrName>style.visibility</p:attrName>
                                        </p:attrNameLst>
                                      </p:cBhvr>
                                      <p:to>
                                        <p:strVal val="visible"/>
                                      </p:to>
                                    </p:set>
                                    <p:animEffect transition="in" filter="wipe(left)">
                                      <p:cBhvr>
                                        <p:cTn id="66" dur="1000"/>
                                        <p:tgtEl>
                                          <p:spTgt spid="2382880"/>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2382881"/>
                                        </p:tgtEl>
                                        <p:attrNameLst>
                                          <p:attrName>style.visibility</p:attrName>
                                        </p:attrNameLst>
                                      </p:cBhvr>
                                      <p:to>
                                        <p:strVal val="visible"/>
                                      </p:to>
                                    </p:set>
                                    <p:animEffect transition="in" filter="wipe(left)">
                                      <p:cBhvr>
                                        <p:cTn id="69" dur="1000"/>
                                        <p:tgtEl>
                                          <p:spTgt spid="2382881"/>
                                        </p:tgtEl>
                                      </p:cBhvr>
                                    </p:animEffect>
                                  </p:childTnLst>
                                </p:cTn>
                              </p:par>
                              <p:par>
                                <p:cTn id="70" presetID="22" presetClass="entr" presetSubtype="8" fill="hold" nodeType="withEffect">
                                  <p:stCondLst>
                                    <p:cond delay="0"/>
                                  </p:stCondLst>
                                  <p:childTnLst>
                                    <p:set>
                                      <p:cBhvr>
                                        <p:cTn id="71" dur="1" fill="hold">
                                          <p:stCondLst>
                                            <p:cond delay="0"/>
                                          </p:stCondLst>
                                        </p:cTn>
                                        <p:tgtEl>
                                          <p:spTgt spid="2382882"/>
                                        </p:tgtEl>
                                        <p:attrNameLst>
                                          <p:attrName>style.visibility</p:attrName>
                                        </p:attrNameLst>
                                      </p:cBhvr>
                                      <p:to>
                                        <p:strVal val="visible"/>
                                      </p:to>
                                    </p:set>
                                    <p:animEffect transition="in" filter="wipe(left)">
                                      <p:cBhvr>
                                        <p:cTn id="72" dur="1000"/>
                                        <p:tgtEl>
                                          <p:spTgt spid="2382882"/>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2382883"/>
                                        </p:tgtEl>
                                        <p:attrNameLst>
                                          <p:attrName>style.visibility</p:attrName>
                                        </p:attrNameLst>
                                      </p:cBhvr>
                                      <p:to>
                                        <p:strVal val="visible"/>
                                      </p:to>
                                    </p:set>
                                    <p:animEffect transition="in" filter="wipe(left)">
                                      <p:cBhvr>
                                        <p:cTn id="75" dur="1000"/>
                                        <p:tgtEl>
                                          <p:spTgt spid="2382883"/>
                                        </p:tgtEl>
                                      </p:cBhvr>
                                    </p:animEffect>
                                  </p:childTnLst>
                                </p:cTn>
                              </p:par>
                              <p:par>
                                <p:cTn id="76" presetID="22" presetClass="entr" presetSubtype="4" fill="hold" nodeType="withEffect">
                                  <p:stCondLst>
                                    <p:cond delay="0"/>
                                  </p:stCondLst>
                                  <p:childTnLst>
                                    <p:set>
                                      <p:cBhvr>
                                        <p:cTn id="77" dur="1" fill="hold">
                                          <p:stCondLst>
                                            <p:cond delay="0"/>
                                          </p:stCondLst>
                                        </p:cTn>
                                        <p:tgtEl>
                                          <p:spTgt spid="2382865"/>
                                        </p:tgtEl>
                                        <p:attrNameLst>
                                          <p:attrName>style.visibility</p:attrName>
                                        </p:attrNameLst>
                                      </p:cBhvr>
                                      <p:to>
                                        <p:strVal val="visible"/>
                                      </p:to>
                                    </p:set>
                                    <p:animEffect transition="in" filter="wipe(down)">
                                      <p:cBhvr>
                                        <p:cTn id="78" dur="1000"/>
                                        <p:tgtEl>
                                          <p:spTgt spid="2382865"/>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2382867"/>
                                        </p:tgtEl>
                                        <p:attrNameLst>
                                          <p:attrName>style.visibility</p:attrName>
                                        </p:attrNameLst>
                                      </p:cBhvr>
                                      <p:to>
                                        <p:strVal val="visible"/>
                                      </p:to>
                                    </p:set>
                                    <p:animEffect transition="in" filter="wipe(down)">
                                      <p:cBhvr>
                                        <p:cTn id="81" dur="1000"/>
                                        <p:tgtEl>
                                          <p:spTgt spid="2382867"/>
                                        </p:tgtEl>
                                      </p:cBhvr>
                                    </p:animEffect>
                                  </p:childTnLst>
                                </p:cTn>
                              </p:par>
                              <p:par>
                                <p:cTn id="82" presetID="22" presetClass="entr" presetSubtype="4" fill="hold" nodeType="withEffect">
                                  <p:stCondLst>
                                    <p:cond delay="0"/>
                                  </p:stCondLst>
                                  <p:childTnLst>
                                    <p:set>
                                      <p:cBhvr>
                                        <p:cTn id="83" dur="1" fill="hold">
                                          <p:stCondLst>
                                            <p:cond delay="0"/>
                                          </p:stCondLst>
                                        </p:cTn>
                                        <p:tgtEl>
                                          <p:spTgt spid="2382884"/>
                                        </p:tgtEl>
                                        <p:attrNameLst>
                                          <p:attrName>style.visibility</p:attrName>
                                        </p:attrNameLst>
                                      </p:cBhvr>
                                      <p:to>
                                        <p:strVal val="visible"/>
                                      </p:to>
                                    </p:set>
                                    <p:animEffect transition="in" filter="wipe(down)">
                                      <p:cBhvr>
                                        <p:cTn id="84" dur="1000"/>
                                        <p:tgtEl>
                                          <p:spTgt spid="2382884"/>
                                        </p:tgtEl>
                                      </p:cBhvr>
                                    </p:animEffect>
                                  </p:childTnLst>
                                </p:cTn>
                              </p:par>
                              <p:par>
                                <p:cTn id="85" presetID="22" presetClass="entr" presetSubtype="4" fill="hold" grpId="0" nodeType="withEffect">
                                  <p:stCondLst>
                                    <p:cond delay="0"/>
                                  </p:stCondLst>
                                  <p:childTnLst>
                                    <p:set>
                                      <p:cBhvr>
                                        <p:cTn id="86" dur="1" fill="hold">
                                          <p:stCondLst>
                                            <p:cond delay="0"/>
                                          </p:stCondLst>
                                        </p:cTn>
                                        <p:tgtEl>
                                          <p:spTgt spid="2382885"/>
                                        </p:tgtEl>
                                        <p:attrNameLst>
                                          <p:attrName>style.visibility</p:attrName>
                                        </p:attrNameLst>
                                      </p:cBhvr>
                                      <p:to>
                                        <p:strVal val="visible"/>
                                      </p:to>
                                    </p:set>
                                    <p:animEffect transition="in" filter="wipe(down)">
                                      <p:cBhvr>
                                        <p:cTn id="87" dur="1000"/>
                                        <p:tgtEl>
                                          <p:spTgt spid="2382885"/>
                                        </p:tgtEl>
                                      </p:cBhvr>
                                    </p:animEffect>
                                  </p:childTnLst>
                                </p:cTn>
                              </p:par>
                              <p:par>
                                <p:cTn id="88" presetID="22" presetClass="entr" presetSubtype="4" fill="hold" nodeType="withEffect">
                                  <p:stCondLst>
                                    <p:cond delay="0"/>
                                  </p:stCondLst>
                                  <p:childTnLst>
                                    <p:set>
                                      <p:cBhvr>
                                        <p:cTn id="89" dur="1" fill="hold">
                                          <p:stCondLst>
                                            <p:cond delay="0"/>
                                          </p:stCondLst>
                                        </p:cTn>
                                        <p:tgtEl>
                                          <p:spTgt spid="2382886"/>
                                        </p:tgtEl>
                                        <p:attrNameLst>
                                          <p:attrName>style.visibility</p:attrName>
                                        </p:attrNameLst>
                                      </p:cBhvr>
                                      <p:to>
                                        <p:strVal val="visible"/>
                                      </p:to>
                                    </p:set>
                                    <p:animEffect transition="in" filter="wipe(down)">
                                      <p:cBhvr>
                                        <p:cTn id="90" dur="1000"/>
                                        <p:tgtEl>
                                          <p:spTgt spid="2382886"/>
                                        </p:tgtEl>
                                      </p:cBhvr>
                                    </p:animEffect>
                                  </p:childTnLst>
                                </p:cTn>
                              </p:par>
                              <p:par>
                                <p:cTn id="91" presetID="22" presetClass="entr" presetSubtype="4" fill="hold" nodeType="withEffect">
                                  <p:stCondLst>
                                    <p:cond delay="0"/>
                                  </p:stCondLst>
                                  <p:childTnLst>
                                    <p:set>
                                      <p:cBhvr>
                                        <p:cTn id="92" dur="1" fill="hold">
                                          <p:stCondLst>
                                            <p:cond delay="0"/>
                                          </p:stCondLst>
                                        </p:cTn>
                                        <p:tgtEl>
                                          <p:spTgt spid="2382887"/>
                                        </p:tgtEl>
                                        <p:attrNameLst>
                                          <p:attrName>style.visibility</p:attrName>
                                        </p:attrNameLst>
                                      </p:cBhvr>
                                      <p:to>
                                        <p:strVal val="visible"/>
                                      </p:to>
                                    </p:set>
                                    <p:animEffect transition="in" filter="wipe(down)">
                                      <p:cBhvr>
                                        <p:cTn id="93" dur="1000"/>
                                        <p:tgtEl>
                                          <p:spTgt spid="2382887"/>
                                        </p:tgtEl>
                                      </p:cBhvr>
                                    </p:animEffect>
                                  </p:childTnLst>
                                </p:cTn>
                              </p:par>
                              <p:par>
                                <p:cTn id="94" presetID="22" presetClass="entr" presetSubtype="4" fill="hold" nodeType="withEffect">
                                  <p:stCondLst>
                                    <p:cond delay="0"/>
                                  </p:stCondLst>
                                  <p:childTnLst>
                                    <p:set>
                                      <p:cBhvr>
                                        <p:cTn id="95" dur="1" fill="hold">
                                          <p:stCondLst>
                                            <p:cond delay="0"/>
                                          </p:stCondLst>
                                        </p:cTn>
                                        <p:tgtEl>
                                          <p:spTgt spid="2382888"/>
                                        </p:tgtEl>
                                        <p:attrNameLst>
                                          <p:attrName>style.visibility</p:attrName>
                                        </p:attrNameLst>
                                      </p:cBhvr>
                                      <p:to>
                                        <p:strVal val="visible"/>
                                      </p:to>
                                    </p:set>
                                    <p:animEffect transition="in" filter="wipe(down)">
                                      <p:cBhvr>
                                        <p:cTn id="96" dur="1000"/>
                                        <p:tgtEl>
                                          <p:spTgt spid="2382888"/>
                                        </p:tgtEl>
                                      </p:cBhvr>
                                    </p:animEffect>
                                  </p:childTnLst>
                                </p:cTn>
                              </p:par>
                              <p:par>
                                <p:cTn id="97" presetID="22" presetClass="entr" presetSubtype="4" fill="hold" nodeType="withEffect">
                                  <p:stCondLst>
                                    <p:cond delay="0"/>
                                  </p:stCondLst>
                                  <p:childTnLst>
                                    <p:set>
                                      <p:cBhvr>
                                        <p:cTn id="98" dur="1" fill="hold">
                                          <p:stCondLst>
                                            <p:cond delay="0"/>
                                          </p:stCondLst>
                                        </p:cTn>
                                        <p:tgtEl>
                                          <p:spTgt spid="2382889"/>
                                        </p:tgtEl>
                                        <p:attrNameLst>
                                          <p:attrName>style.visibility</p:attrName>
                                        </p:attrNameLst>
                                      </p:cBhvr>
                                      <p:to>
                                        <p:strVal val="visible"/>
                                      </p:to>
                                    </p:set>
                                    <p:animEffect transition="in" filter="wipe(down)">
                                      <p:cBhvr>
                                        <p:cTn id="99" dur="1000"/>
                                        <p:tgtEl>
                                          <p:spTgt spid="2382889"/>
                                        </p:tgtEl>
                                      </p:cBhvr>
                                    </p:animEffect>
                                  </p:childTnLst>
                                </p:cTn>
                              </p:par>
                              <p:par>
                                <p:cTn id="100" presetID="22" presetClass="entr" presetSubtype="4" fill="hold" nodeType="withEffect">
                                  <p:stCondLst>
                                    <p:cond delay="0"/>
                                  </p:stCondLst>
                                  <p:childTnLst>
                                    <p:set>
                                      <p:cBhvr>
                                        <p:cTn id="101" dur="1" fill="hold">
                                          <p:stCondLst>
                                            <p:cond delay="0"/>
                                          </p:stCondLst>
                                        </p:cTn>
                                        <p:tgtEl>
                                          <p:spTgt spid="2382890"/>
                                        </p:tgtEl>
                                        <p:attrNameLst>
                                          <p:attrName>style.visibility</p:attrName>
                                        </p:attrNameLst>
                                      </p:cBhvr>
                                      <p:to>
                                        <p:strVal val="visible"/>
                                      </p:to>
                                    </p:set>
                                    <p:animEffect transition="in" filter="wipe(down)">
                                      <p:cBhvr>
                                        <p:cTn id="102" dur="1000"/>
                                        <p:tgtEl>
                                          <p:spTgt spid="2382890"/>
                                        </p:tgtEl>
                                      </p:cBhvr>
                                    </p:animEffect>
                                  </p:childTnLst>
                                </p:cTn>
                              </p:par>
                              <p:par>
                                <p:cTn id="103" presetID="22" presetClass="entr" presetSubtype="4" fill="hold" nodeType="withEffect">
                                  <p:stCondLst>
                                    <p:cond delay="0"/>
                                  </p:stCondLst>
                                  <p:childTnLst>
                                    <p:set>
                                      <p:cBhvr>
                                        <p:cTn id="104" dur="1" fill="hold">
                                          <p:stCondLst>
                                            <p:cond delay="0"/>
                                          </p:stCondLst>
                                        </p:cTn>
                                        <p:tgtEl>
                                          <p:spTgt spid="2382891"/>
                                        </p:tgtEl>
                                        <p:attrNameLst>
                                          <p:attrName>style.visibility</p:attrName>
                                        </p:attrNameLst>
                                      </p:cBhvr>
                                      <p:to>
                                        <p:strVal val="visible"/>
                                      </p:to>
                                    </p:set>
                                    <p:animEffect transition="in" filter="wipe(down)">
                                      <p:cBhvr>
                                        <p:cTn id="105" dur="1000"/>
                                        <p:tgtEl>
                                          <p:spTgt spid="2382891"/>
                                        </p:tgtEl>
                                      </p:cBhvr>
                                    </p:animEffect>
                                  </p:childTnLst>
                                </p:cTn>
                              </p:par>
                              <p:par>
                                <p:cTn id="106" presetID="22" presetClass="entr" presetSubtype="4" fill="hold" nodeType="withEffect">
                                  <p:stCondLst>
                                    <p:cond delay="0"/>
                                  </p:stCondLst>
                                  <p:childTnLst>
                                    <p:set>
                                      <p:cBhvr>
                                        <p:cTn id="107" dur="1" fill="hold">
                                          <p:stCondLst>
                                            <p:cond delay="0"/>
                                          </p:stCondLst>
                                        </p:cTn>
                                        <p:tgtEl>
                                          <p:spTgt spid="2382892"/>
                                        </p:tgtEl>
                                        <p:attrNameLst>
                                          <p:attrName>style.visibility</p:attrName>
                                        </p:attrNameLst>
                                      </p:cBhvr>
                                      <p:to>
                                        <p:strVal val="visible"/>
                                      </p:to>
                                    </p:set>
                                    <p:animEffect transition="in" filter="wipe(down)">
                                      <p:cBhvr>
                                        <p:cTn id="108" dur="1000"/>
                                        <p:tgtEl>
                                          <p:spTgt spid="2382892"/>
                                        </p:tgtEl>
                                      </p:cBhvr>
                                    </p:animEffect>
                                  </p:childTnLst>
                                </p:cTn>
                              </p:par>
                              <p:par>
                                <p:cTn id="109" presetID="22" presetClass="entr" presetSubtype="4" fill="hold" nodeType="withEffect">
                                  <p:stCondLst>
                                    <p:cond delay="0"/>
                                  </p:stCondLst>
                                  <p:childTnLst>
                                    <p:set>
                                      <p:cBhvr>
                                        <p:cTn id="110" dur="1" fill="hold">
                                          <p:stCondLst>
                                            <p:cond delay="0"/>
                                          </p:stCondLst>
                                        </p:cTn>
                                        <p:tgtEl>
                                          <p:spTgt spid="2382893"/>
                                        </p:tgtEl>
                                        <p:attrNameLst>
                                          <p:attrName>style.visibility</p:attrName>
                                        </p:attrNameLst>
                                      </p:cBhvr>
                                      <p:to>
                                        <p:strVal val="visible"/>
                                      </p:to>
                                    </p:set>
                                    <p:animEffect transition="in" filter="wipe(down)">
                                      <p:cBhvr>
                                        <p:cTn id="111" dur="1000"/>
                                        <p:tgtEl>
                                          <p:spTgt spid="2382893"/>
                                        </p:tgtEl>
                                      </p:cBhvr>
                                    </p:animEffect>
                                  </p:childTnLst>
                                </p:cTn>
                              </p:par>
                              <p:par>
                                <p:cTn id="112" presetID="22" presetClass="entr" presetSubtype="4" fill="hold" nodeType="withEffect">
                                  <p:stCondLst>
                                    <p:cond delay="0"/>
                                  </p:stCondLst>
                                  <p:childTnLst>
                                    <p:set>
                                      <p:cBhvr>
                                        <p:cTn id="113" dur="1" fill="hold">
                                          <p:stCondLst>
                                            <p:cond delay="0"/>
                                          </p:stCondLst>
                                        </p:cTn>
                                        <p:tgtEl>
                                          <p:spTgt spid="2382894"/>
                                        </p:tgtEl>
                                        <p:attrNameLst>
                                          <p:attrName>style.visibility</p:attrName>
                                        </p:attrNameLst>
                                      </p:cBhvr>
                                      <p:to>
                                        <p:strVal val="visible"/>
                                      </p:to>
                                    </p:set>
                                    <p:animEffect transition="in" filter="wipe(down)">
                                      <p:cBhvr>
                                        <p:cTn id="114" dur="1000"/>
                                        <p:tgtEl>
                                          <p:spTgt spid="2382894"/>
                                        </p:tgtEl>
                                      </p:cBhvr>
                                    </p:animEffect>
                                  </p:childTnLst>
                                </p:cTn>
                              </p:par>
                              <p:par>
                                <p:cTn id="115" presetID="22" presetClass="entr" presetSubtype="4" fill="hold" grpId="0" nodeType="withEffect">
                                  <p:stCondLst>
                                    <p:cond delay="0"/>
                                  </p:stCondLst>
                                  <p:childTnLst>
                                    <p:set>
                                      <p:cBhvr>
                                        <p:cTn id="116" dur="1" fill="hold">
                                          <p:stCondLst>
                                            <p:cond delay="0"/>
                                          </p:stCondLst>
                                        </p:cTn>
                                        <p:tgtEl>
                                          <p:spTgt spid="2382895"/>
                                        </p:tgtEl>
                                        <p:attrNameLst>
                                          <p:attrName>style.visibility</p:attrName>
                                        </p:attrNameLst>
                                      </p:cBhvr>
                                      <p:to>
                                        <p:strVal val="visible"/>
                                      </p:to>
                                    </p:set>
                                    <p:animEffect transition="in" filter="wipe(down)">
                                      <p:cBhvr>
                                        <p:cTn id="117" dur="1000"/>
                                        <p:tgtEl>
                                          <p:spTgt spid="2382895"/>
                                        </p:tgtEl>
                                      </p:cBhvr>
                                    </p:animEffect>
                                  </p:childTnLst>
                                </p:cTn>
                              </p:par>
                            </p:childTnLst>
                          </p:cTn>
                        </p:par>
                        <p:par>
                          <p:cTn id="118" fill="hold">
                            <p:stCondLst>
                              <p:cond delay="1500"/>
                            </p:stCondLst>
                            <p:childTnLst>
                              <p:par>
                                <p:cTn id="119" presetID="22" presetClass="entr" presetSubtype="8" fill="hold" grpId="0" nodeType="afterEffect">
                                  <p:stCondLst>
                                    <p:cond delay="0"/>
                                  </p:stCondLst>
                                  <p:childTnLst>
                                    <p:set>
                                      <p:cBhvr>
                                        <p:cTn id="120" dur="1" fill="hold">
                                          <p:stCondLst>
                                            <p:cond delay="0"/>
                                          </p:stCondLst>
                                        </p:cTn>
                                        <p:tgtEl>
                                          <p:spTgt spid="2382897"/>
                                        </p:tgtEl>
                                        <p:attrNameLst>
                                          <p:attrName>style.visibility</p:attrName>
                                        </p:attrNameLst>
                                      </p:cBhvr>
                                      <p:to>
                                        <p:strVal val="visible"/>
                                      </p:to>
                                    </p:set>
                                    <p:animEffect transition="in" filter="wipe(left)">
                                      <p:cBhvr>
                                        <p:cTn id="121" dur="1000"/>
                                        <p:tgtEl>
                                          <p:spTgt spid="2382897"/>
                                        </p:tgtEl>
                                      </p:cBhvr>
                                    </p:animEffect>
                                  </p:childTnLst>
                                </p:cTn>
                              </p:par>
                              <p:par>
                                <p:cTn id="122" presetID="22" presetClass="entr" presetSubtype="8" fill="hold" nodeType="withEffect">
                                  <p:stCondLst>
                                    <p:cond delay="0"/>
                                  </p:stCondLst>
                                  <p:childTnLst>
                                    <p:set>
                                      <p:cBhvr>
                                        <p:cTn id="123" dur="1" fill="hold">
                                          <p:stCondLst>
                                            <p:cond delay="0"/>
                                          </p:stCondLst>
                                        </p:cTn>
                                        <p:tgtEl>
                                          <p:spTgt spid="2382896"/>
                                        </p:tgtEl>
                                        <p:attrNameLst>
                                          <p:attrName>style.visibility</p:attrName>
                                        </p:attrNameLst>
                                      </p:cBhvr>
                                      <p:to>
                                        <p:strVal val="visible"/>
                                      </p:to>
                                    </p:set>
                                    <p:animEffect transition="in" filter="wipe(left)">
                                      <p:cBhvr>
                                        <p:cTn id="124" dur="1000"/>
                                        <p:tgtEl>
                                          <p:spTgt spid="2382896"/>
                                        </p:tgtEl>
                                      </p:cBhvr>
                                    </p:animEffect>
                                  </p:childTnLst>
                                </p:cTn>
                              </p:par>
                              <p:par>
                                <p:cTn id="125" presetID="22" presetClass="entr" presetSubtype="8" fill="hold" grpId="0" nodeType="withEffect">
                                  <p:stCondLst>
                                    <p:cond delay="0"/>
                                  </p:stCondLst>
                                  <p:childTnLst>
                                    <p:set>
                                      <p:cBhvr>
                                        <p:cTn id="126" dur="1" fill="hold">
                                          <p:stCondLst>
                                            <p:cond delay="0"/>
                                          </p:stCondLst>
                                        </p:cTn>
                                        <p:tgtEl>
                                          <p:spTgt spid="2382921"/>
                                        </p:tgtEl>
                                        <p:attrNameLst>
                                          <p:attrName>style.visibility</p:attrName>
                                        </p:attrNameLst>
                                      </p:cBhvr>
                                      <p:to>
                                        <p:strVal val="visible"/>
                                      </p:to>
                                    </p:set>
                                    <p:animEffect transition="in" filter="wipe(left)">
                                      <p:cBhvr>
                                        <p:cTn id="127" dur="1000"/>
                                        <p:tgtEl>
                                          <p:spTgt spid="2382921"/>
                                        </p:tgtEl>
                                      </p:cBhvr>
                                    </p:animEffect>
                                  </p:childTnLst>
                                </p:cTn>
                              </p:par>
                            </p:childTnLst>
                          </p:cTn>
                        </p:par>
                      </p:childTnLst>
                    </p:cTn>
                  </p:par>
                  <p:par>
                    <p:cTn id="128" fill="hold">
                      <p:stCondLst>
                        <p:cond delay="indefinite"/>
                      </p:stCondLst>
                      <p:childTnLst>
                        <p:par>
                          <p:cTn id="129" fill="hold">
                            <p:stCondLst>
                              <p:cond delay="0"/>
                            </p:stCondLst>
                            <p:childTnLst>
                              <p:par>
                                <p:cTn id="130" presetID="9" presetClass="entr" presetSubtype="0" fill="hold" nodeType="clickEffect">
                                  <p:stCondLst>
                                    <p:cond delay="0"/>
                                  </p:stCondLst>
                                  <p:childTnLst>
                                    <p:set>
                                      <p:cBhvr>
                                        <p:cTn id="131" dur="1" fill="hold">
                                          <p:stCondLst>
                                            <p:cond delay="0"/>
                                          </p:stCondLst>
                                        </p:cTn>
                                        <p:tgtEl>
                                          <p:spTgt spid="2382862">
                                            <p:txEl>
                                              <p:charRg st="0" end="18"/>
                                            </p:txEl>
                                          </p:spTgt>
                                        </p:tgtEl>
                                        <p:attrNameLst>
                                          <p:attrName>style.visibility</p:attrName>
                                        </p:attrNameLst>
                                      </p:cBhvr>
                                      <p:to>
                                        <p:strVal val="visible"/>
                                      </p:to>
                                    </p:set>
                                    <p:animEffect transition="in" filter="dissolve">
                                      <p:cBhvr>
                                        <p:cTn id="132" dur="500"/>
                                        <p:tgtEl>
                                          <p:spTgt spid="2382862">
                                            <p:txEl>
                                              <p:charRg st="0" end="18"/>
                                            </p:txEl>
                                          </p:spTgt>
                                        </p:tgtEl>
                                      </p:cBhvr>
                                    </p:animEffect>
                                  </p:childTnLst>
                                </p:cTn>
                              </p:par>
                            </p:childTnLst>
                          </p:cTn>
                        </p:par>
                      </p:childTnLst>
                    </p:cTn>
                  </p:par>
                  <p:par>
                    <p:cTn id="133" fill="hold">
                      <p:stCondLst>
                        <p:cond delay="indefinite"/>
                      </p:stCondLst>
                      <p:childTnLst>
                        <p:par>
                          <p:cTn id="134" fill="hold">
                            <p:stCondLst>
                              <p:cond delay="0"/>
                            </p:stCondLst>
                            <p:childTnLst>
                              <p:par>
                                <p:cTn id="135" presetID="22" presetClass="entr" presetSubtype="8" fill="hold" grpId="0" nodeType="clickEffect">
                                  <p:stCondLst>
                                    <p:cond delay="0"/>
                                  </p:stCondLst>
                                  <p:childTnLst>
                                    <p:set>
                                      <p:cBhvr>
                                        <p:cTn id="136" dur="1" fill="hold">
                                          <p:stCondLst>
                                            <p:cond delay="0"/>
                                          </p:stCondLst>
                                        </p:cTn>
                                        <p:tgtEl>
                                          <p:spTgt spid="2382922"/>
                                        </p:tgtEl>
                                        <p:attrNameLst>
                                          <p:attrName>style.visibility</p:attrName>
                                        </p:attrNameLst>
                                      </p:cBhvr>
                                      <p:to>
                                        <p:strVal val="visible"/>
                                      </p:to>
                                    </p:set>
                                    <p:animEffect transition="in" filter="wipe(left)">
                                      <p:cBhvr>
                                        <p:cTn id="137" dur="500"/>
                                        <p:tgtEl>
                                          <p:spTgt spid="2382922"/>
                                        </p:tgtEl>
                                      </p:cBhvr>
                                    </p:animEffect>
                                  </p:childTnLst>
                                </p:cTn>
                              </p:par>
                            </p:childTnLst>
                          </p:cTn>
                        </p:par>
                        <p:par>
                          <p:cTn id="138" fill="hold">
                            <p:stCondLst>
                              <p:cond delay="500"/>
                            </p:stCondLst>
                            <p:childTnLst>
                              <p:par>
                                <p:cTn id="139" presetID="22" presetClass="entr" presetSubtype="8" fill="hold" nodeType="afterEffect">
                                  <p:stCondLst>
                                    <p:cond delay="0"/>
                                  </p:stCondLst>
                                  <p:childTnLst>
                                    <p:set>
                                      <p:cBhvr>
                                        <p:cTn id="140" dur="1" fill="hold">
                                          <p:stCondLst>
                                            <p:cond delay="0"/>
                                          </p:stCondLst>
                                        </p:cTn>
                                        <p:tgtEl>
                                          <p:spTgt spid="2382923"/>
                                        </p:tgtEl>
                                        <p:attrNameLst>
                                          <p:attrName>style.visibility</p:attrName>
                                        </p:attrNameLst>
                                      </p:cBhvr>
                                      <p:to>
                                        <p:strVal val="visible"/>
                                      </p:to>
                                    </p:set>
                                    <p:animEffect transition="in" filter="wipe(left)">
                                      <p:cBhvr>
                                        <p:cTn id="141" dur="500"/>
                                        <p:tgtEl>
                                          <p:spTgt spid="2382923"/>
                                        </p:tgtEl>
                                      </p:cBhvr>
                                    </p:animEffect>
                                  </p:childTnLst>
                                </p:cTn>
                              </p:par>
                            </p:childTnLst>
                          </p:cTn>
                        </p:par>
                        <p:par>
                          <p:cTn id="142" fill="hold">
                            <p:stCondLst>
                              <p:cond delay="1000"/>
                            </p:stCondLst>
                            <p:childTnLst>
                              <p:par>
                                <p:cTn id="143" presetID="22" presetClass="entr" presetSubtype="4" fill="hold" nodeType="afterEffect">
                                  <p:stCondLst>
                                    <p:cond delay="0"/>
                                  </p:stCondLst>
                                  <p:childTnLst>
                                    <p:set>
                                      <p:cBhvr>
                                        <p:cTn id="144" dur="1" fill="hold">
                                          <p:stCondLst>
                                            <p:cond delay="0"/>
                                          </p:stCondLst>
                                        </p:cTn>
                                        <p:tgtEl>
                                          <p:spTgt spid="2382924"/>
                                        </p:tgtEl>
                                        <p:attrNameLst>
                                          <p:attrName>style.visibility</p:attrName>
                                        </p:attrNameLst>
                                      </p:cBhvr>
                                      <p:to>
                                        <p:strVal val="visible"/>
                                      </p:to>
                                    </p:set>
                                    <p:animEffect transition="in" filter="wipe(down)">
                                      <p:cBhvr>
                                        <p:cTn id="145" dur="500"/>
                                        <p:tgtEl>
                                          <p:spTgt spid="2382924"/>
                                        </p:tgtEl>
                                      </p:cBhvr>
                                    </p:animEffect>
                                  </p:childTnLst>
                                </p:cTn>
                              </p:par>
                            </p:childTnLst>
                          </p:cTn>
                        </p:par>
                        <p:par>
                          <p:cTn id="146" fill="hold">
                            <p:stCondLst>
                              <p:cond delay="1500"/>
                            </p:stCondLst>
                            <p:childTnLst>
                              <p:par>
                                <p:cTn id="147" presetID="22" presetClass="entr" presetSubtype="8" fill="hold" grpId="0" nodeType="afterEffect">
                                  <p:stCondLst>
                                    <p:cond delay="0"/>
                                  </p:stCondLst>
                                  <p:childTnLst>
                                    <p:set>
                                      <p:cBhvr>
                                        <p:cTn id="148" dur="1" fill="hold">
                                          <p:stCondLst>
                                            <p:cond delay="0"/>
                                          </p:stCondLst>
                                        </p:cTn>
                                        <p:tgtEl>
                                          <p:spTgt spid="2382927"/>
                                        </p:tgtEl>
                                        <p:attrNameLst>
                                          <p:attrName>style.visibility</p:attrName>
                                        </p:attrNameLst>
                                      </p:cBhvr>
                                      <p:to>
                                        <p:strVal val="visible"/>
                                      </p:to>
                                    </p:set>
                                    <p:animEffect transition="in" filter="wipe(left)">
                                      <p:cBhvr>
                                        <p:cTn id="149" dur="500"/>
                                        <p:tgtEl>
                                          <p:spTgt spid="2382927"/>
                                        </p:tgtEl>
                                      </p:cBhvr>
                                    </p:animEffect>
                                  </p:childTnLst>
                                </p:cTn>
                              </p:par>
                              <p:par>
                                <p:cTn id="150" presetID="22" presetClass="entr" presetSubtype="8" fill="hold" nodeType="withEffect">
                                  <p:stCondLst>
                                    <p:cond delay="0"/>
                                  </p:stCondLst>
                                  <p:childTnLst>
                                    <p:set>
                                      <p:cBhvr>
                                        <p:cTn id="151" dur="1" fill="hold">
                                          <p:stCondLst>
                                            <p:cond delay="0"/>
                                          </p:stCondLst>
                                        </p:cTn>
                                        <p:tgtEl>
                                          <p:spTgt spid="2382925"/>
                                        </p:tgtEl>
                                        <p:attrNameLst>
                                          <p:attrName>style.visibility</p:attrName>
                                        </p:attrNameLst>
                                      </p:cBhvr>
                                      <p:to>
                                        <p:strVal val="visible"/>
                                      </p:to>
                                    </p:set>
                                    <p:animEffect transition="in" filter="wipe(left)">
                                      <p:cBhvr>
                                        <p:cTn id="152" dur="500"/>
                                        <p:tgtEl>
                                          <p:spTgt spid="2382925"/>
                                        </p:tgtEl>
                                      </p:cBhvr>
                                    </p:animEffect>
                                  </p:childTnLst>
                                </p:cTn>
                              </p:par>
                            </p:childTnLst>
                          </p:cTn>
                        </p:par>
                        <p:par>
                          <p:cTn id="153" fill="hold">
                            <p:stCondLst>
                              <p:cond delay="2000"/>
                            </p:stCondLst>
                            <p:childTnLst>
                              <p:par>
                                <p:cTn id="154" presetID="22" presetClass="entr" presetSubtype="1" fill="hold" nodeType="afterEffect">
                                  <p:stCondLst>
                                    <p:cond delay="0"/>
                                  </p:stCondLst>
                                  <p:childTnLst>
                                    <p:set>
                                      <p:cBhvr>
                                        <p:cTn id="155" dur="1" fill="hold">
                                          <p:stCondLst>
                                            <p:cond delay="0"/>
                                          </p:stCondLst>
                                        </p:cTn>
                                        <p:tgtEl>
                                          <p:spTgt spid="2382926"/>
                                        </p:tgtEl>
                                        <p:attrNameLst>
                                          <p:attrName>style.visibility</p:attrName>
                                        </p:attrNameLst>
                                      </p:cBhvr>
                                      <p:to>
                                        <p:strVal val="visible"/>
                                      </p:to>
                                    </p:set>
                                    <p:animEffect transition="in" filter="wipe(up)">
                                      <p:cBhvr>
                                        <p:cTn id="156" dur="500"/>
                                        <p:tgtEl>
                                          <p:spTgt spid="2382926"/>
                                        </p:tgtEl>
                                      </p:cBhvr>
                                    </p:animEffect>
                                  </p:childTnLst>
                                </p:cTn>
                              </p:par>
                            </p:childTnLst>
                          </p:cTn>
                        </p:par>
                        <p:par>
                          <p:cTn id="157" fill="hold">
                            <p:stCondLst>
                              <p:cond delay="2500"/>
                            </p:stCondLst>
                            <p:childTnLst>
                              <p:par>
                                <p:cTn id="158" presetID="22" presetClass="entr" presetSubtype="8" fill="hold" nodeType="afterEffect">
                                  <p:stCondLst>
                                    <p:cond delay="0"/>
                                  </p:stCondLst>
                                  <p:childTnLst>
                                    <p:set>
                                      <p:cBhvr>
                                        <p:cTn id="159" dur="1" fill="hold">
                                          <p:stCondLst>
                                            <p:cond delay="0"/>
                                          </p:stCondLst>
                                        </p:cTn>
                                        <p:tgtEl>
                                          <p:spTgt spid="2382928"/>
                                        </p:tgtEl>
                                        <p:attrNameLst>
                                          <p:attrName>style.visibility</p:attrName>
                                        </p:attrNameLst>
                                      </p:cBhvr>
                                      <p:to>
                                        <p:strVal val="visible"/>
                                      </p:to>
                                    </p:set>
                                    <p:animEffect transition="in" filter="wipe(left)">
                                      <p:cBhvr>
                                        <p:cTn id="160" dur="500"/>
                                        <p:tgtEl>
                                          <p:spTgt spid="2382928"/>
                                        </p:tgtEl>
                                      </p:cBhvr>
                                    </p:animEffect>
                                  </p:childTnLst>
                                </p:cTn>
                              </p:par>
                            </p:childTnLst>
                          </p:cTn>
                        </p:par>
                      </p:childTnLst>
                    </p:cTn>
                  </p:par>
                  <p:par>
                    <p:cTn id="161" fill="hold">
                      <p:stCondLst>
                        <p:cond delay="indefinite"/>
                      </p:stCondLst>
                      <p:childTnLst>
                        <p:par>
                          <p:cTn id="162" fill="hold">
                            <p:stCondLst>
                              <p:cond delay="0"/>
                            </p:stCondLst>
                            <p:childTnLst>
                              <p:par>
                                <p:cTn id="163" presetID="9" presetClass="entr" presetSubtype="0" fill="hold" nodeType="clickEffect">
                                  <p:stCondLst>
                                    <p:cond delay="0"/>
                                  </p:stCondLst>
                                  <p:childTnLst>
                                    <p:set>
                                      <p:cBhvr>
                                        <p:cTn id="164" dur="1" fill="hold">
                                          <p:stCondLst>
                                            <p:cond delay="0"/>
                                          </p:stCondLst>
                                        </p:cTn>
                                        <p:tgtEl>
                                          <p:spTgt spid="2382862">
                                            <p:txEl>
                                              <p:charRg st="18" end="114"/>
                                            </p:txEl>
                                          </p:spTgt>
                                        </p:tgtEl>
                                        <p:attrNameLst>
                                          <p:attrName>style.visibility</p:attrName>
                                        </p:attrNameLst>
                                      </p:cBhvr>
                                      <p:to>
                                        <p:strVal val="visible"/>
                                      </p:to>
                                    </p:set>
                                    <p:animEffect transition="in" filter="dissolve">
                                      <p:cBhvr>
                                        <p:cTn id="165" dur="500"/>
                                        <p:tgtEl>
                                          <p:spTgt spid="2382862">
                                            <p:txEl>
                                              <p:charRg st="18" end="114"/>
                                            </p:txEl>
                                          </p:spTgt>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8" fill="hold" grpId="0" nodeType="clickEffect">
                                  <p:stCondLst>
                                    <p:cond delay="0"/>
                                  </p:stCondLst>
                                  <p:childTnLst>
                                    <p:set>
                                      <p:cBhvr>
                                        <p:cTn id="169" dur="1" fill="hold">
                                          <p:stCondLst>
                                            <p:cond delay="0"/>
                                          </p:stCondLst>
                                        </p:cTn>
                                        <p:tgtEl>
                                          <p:spTgt spid="2382898"/>
                                        </p:tgtEl>
                                        <p:attrNameLst>
                                          <p:attrName>style.visibility</p:attrName>
                                        </p:attrNameLst>
                                      </p:cBhvr>
                                      <p:to>
                                        <p:strVal val="visible"/>
                                      </p:to>
                                    </p:set>
                                    <p:animEffect transition="in" filter="wipe(left)">
                                      <p:cBhvr>
                                        <p:cTn id="170" dur="500"/>
                                        <p:tgtEl>
                                          <p:spTgt spid="2382898"/>
                                        </p:tgtEl>
                                      </p:cBhvr>
                                    </p:animEffect>
                                  </p:childTnLst>
                                </p:cTn>
                              </p:par>
                              <p:par>
                                <p:cTn id="171" presetID="22" presetClass="entr" presetSubtype="8" fill="hold" nodeType="withEffect">
                                  <p:stCondLst>
                                    <p:cond delay="0"/>
                                  </p:stCondLst>
                                  <p:childTnLst>
                                    <p:set>
                                      <p:cBhvr>
                                        <p:cTn id="172" dur="1" fill="hold">
                                          <p:stCondLst>
                                            <p:cond delay="0"/>
                                          </p:stCondLst>
                                        </p:cTn>
                                        <p:tgtEl>
                                          <p:spTgt spid="2382899"/>
                                        </p:tgtEl>
                                        <p:attrNameLst>
                                          <p:attrName>style.visibility</p:attrName>
                                        </p:attrNameLst>
                                      </p:cBhvr>
                                      <p:to>
                                        <p:strVal val="visible"/>
                                      </p:to>
                                    </p:set>
                                    <p:animEffect transition="in" filter="wipe(left)">
                                      <p:cBhvr>
                                        <p:cTn id="173" dur="500"/>
                                        <p:tgtEl>
                                          <p:spTgt spid="2382899"/>
                                        </p:tgtEl>
                                      </p:cBhvr>
                                    </p:animEffect>
                                  </p:childTnLst>
                                </p:cTn>
                              </p:par>
                            </p:childTnLst>
                          </p:cTn>
                        </p:par>
                      </p:childTnLst>
                    </p:cTn>
                  </p:par>
                  <p:par>
                    <p:cTn id="174" fill="hold">
                      <p:stCondLst>
                        <p:cond delay="indefinite"/>
                      </p:stCondLst>
                      <p:childTnLst>
                        <p:par>
                          <p:cTn id="175" fill="hold">
                            <p:stCondLst>
                              <p:cond delay="0"/>
                            </p:stCondLst>
                            <p:childTnLst>
                              <p:par>
                                <p:cTn id="176" presetID="3" presetClass="exit" presetSubtype="10" fill="hold" grpId="0" nodeType="clickEffect">
                                  <p:stCondLst>
                                    <p:cond delay="0"/>
                                  </p:stCondLst>
                                  <p:childTnLst>
                                    <p:animEffect transition="out" filter="blinds(horizontal)">
                                      <p:cBhvr>
                                        <p:cTn id="177" dur="500"/>
                                        <p:tgtEl>
                                          <p:spTgt spid="2382862">
                                            <p:txEl>
                                              <p:charRg st="0" end="18"/>
                                            </p:txEl>
                                          </p:spTgt>
                                        </p:tgtEl>
                                      </p:cBhvr>
                                    </p:animEffect>
                                    <p:set>
                                      <p:cBhvr>
                                        <p:cTn id="178" dur="1" fill="hold">
                                          <p:stCondLst>
                                            <p:cond delay="499"/>
                                          </p:stCondLst>
                                        </p:cTn>
                                        <p:tgtEl>
                                          <p:spTgt spid="2382862">
                                            <p:txEl>
                                              <p:charRg st="0" end="18"/>
                                            </p:txEl>
                                          </p:spTgt>
                                        </p:tgtEl>
                                        <p:attrNameLst>
                                          <p:attrName>style.visibility</p:attrName>
                                        </p:attrNameLst>
                                      </p:cBhvr>
                                      <p:to>
                                        <p:strVal val="hidden"/>
                                      </p:to>
                                    </p:set>
                                  </p:childTnLst>
                                </p:cTn>
                              </p:par>
                              <p:par>
                                <p:cTn id="179" presetID="3" presetClass="exit" presetSubtype="10" fill="hold" grpId="0" nodeType="withEffect">
                                  <p:stCondLst>
                                    <p:cond delay="0"/>
                                  </p:stCondLst>
                                  <p:childTnLst>
                                    <p:animEffect transition="out" filter="blinds(horizontal)">
                                      <p:cBhvr>
                                        <p:cTn id="180" dur="500"/>
                                        <p:tgtEl>
                                          <p:spTgt spid="2382862">
                                            <p:txEl>
                                              <p:charRg st="18" end="114"/>
                                            </p:txEl>
                                          </p:spTgt>
                                        </p:tgtEl>
                                      </p:cBhvr>
                                    </p:animEffect>
                                    <p:set>
                                      <p:cBhvr>
                                        <p:cTn id="181" dur="1" fill="hold">
                                          <p:stCondLst>
                                            <p:cond delay="499"/>
                                          </p:stCondLst>
                                        </p:cTn>
                                        <p:tgtEl>
                                          <p:spTgt spid="2382862">
                                            <p:txEl>
                                              <p:charRg st="18" end="114"/>
                                            </p:txEl>
                                          </p:spTgt>
                                        </p:tgtEl>
                                        <p:attrNameLst>
                                          <p:attrName>style.visibility</p:attrName>
                                        </p:attrNameLst>
                                      </p:cBhvr>
                                      <p:to>
                                        <p:strVal val="hidden"/>
                                      </p:to>
                                    </p:set>
                                  </p:childTnLst>
                                </p:cTn>
                              </p:par>
                            </p:childTnLst>
                          </p:cTn>
                        </p:par>
                      </p:childTnLst>
                    </p:cTn>
                  </p:par>
                  <p:par>
                    <p:cTn id="182" fill="hold">
                      <p:stCondLst>
                        <p:cond delay="indefinite"/>
                      </p:stCondLst>
                      <p:childTnLst>
                        <p:par>
                          <p:cTn id="183" fill="hold">
                            <p:stCondLst>
                              <p:cond delay="0"/>
                            </p:stCondLst>
                            <p:childTnLst>
                              <p:par>
                                <p:cTn id="184" presetID="22" presetClass="entr" presetSubtype="4" fill="hold" nodeType="clickEffect">
                                  <p:stCondLst>
                                    <p:cond delay="0"/>
                                  </p:stCondLst>
                                  <p:childTnLst>
                                    <p:set>
                                      <p:cBhvr>
                                        <p:cTn id="185" dur="1" fill="hold">
                                          <p:stCondLst>
                                            <p:cond delay="0"/>
                                          </p:stCondLst>
                                        </p:cTn>
                                        <p:tgtEl>
                                          <p:spTgt spid="2382929"/>
                                        </p:tgtEl>
                                        <p:attrNameLst>
                                          <p:attrName>style.visibility</p:attrName>
                                        </p:attrNameLst>
                                      </p:cBhvr>
                                      <p:to>
                                        <p:strVal val="visible"/>
                                      </p:to>
                                    </p:set>
                                    <p:animEffect transition="in" filter="wipe(down)">
                                      <p:cBhvr>
                                        <p:cTn id="186" dur="500"/>
                                        <p:tgtEl>
                                          <p:spTgt spid="2382929"/>
                                        </p:tgtEl>
                                      </p:cBhvr>
                                    </p:animEffect>
                                  </p:childTnLst>
                                </p:cTn>
                              </p:par>
                            </p:childTnLst>
                          </p:cTn>
                        </p:par>
                        <p:par>
                          <p:cTn id="187" fill="hold">
                            <p:stCondLst>
                              <p:cond delay="500"/>
                            </p:stCondLst>
                            <p:childTnLst>
                              <p:par>
                                <p:cTn id="188" presetID="22" presetClass="entr" presetSubtype="8" fill="hold" nodeType="afterEffect">
                                  <p:stCondLst>
                                    <p:cond delay="0"/>
                                  </p:stCondLst>
                                  <p:childTnLst>
                                    <p:set>
                                      <p:cBhvr>
                                        <p:cTn id="189" dur="1" fill="hold">
                                          <p:stCondLst>
                                            <p:cond delay="0"/>
                                          </p:stCondLst>
                                        </p:cTn>
                                        <p:tgtEl>
                                          <p:spTgt spid="2382930"/>
                                        </p:tgtEl>
                                        <p:attrNameLst>
                                          <p:attrName>style.visibility</p:attrName>
                                        </p:attrNameLst>
                                      </p:cBhvr>
                                      <p:to>
                                        <p:strVal val="visible"/>
                                      </p:to>
                                    </p:set>
                                    <p:animEffect transition="in" filter="wipe(left)">
                                      <p:cBhvr>
                                        <p:cTn id="190" dur="500"/>
                                        <p:tgtEl>
                                          <p:spTgt spid="2382930"/>
                                        </p:tgtEl>
                                      </p:cBhvr>
                                    </p:animEffect>
                                  </p:childTnLst>
                                </p:cTn>
                              </p:par>
                              <p:par>
                                <p:cTn id="191" presetID="22" presetClass="entr" presetSubtype="8" fill="hold" grpId="0" nodeType="withEffect">
                                  <p:stCondLst>
                                    <p:cond delay="0"/>
                                  </p:stCondLst>
                                  <p:childTnLst>
                                    <p:set>
                                      <p:cBhvr>
                                        <p:cTn id="192" dur="1" fill="hold">
                                          <p:stCondLst>
                                            <p:cond delay="0"/>
                                          </p:stCondLst>
                                        </p:cTn>
                                        <p:tgtEl>
                                          <p:spTgt spid="2382932"/>
                                        </p:tgtEl>
                                        <p:attrNameLst>
                                          <p:attrName>style.visibility</p:attrName>
                                        </p:attrNameLst>
                                      </p:cBhvr>
                                      <p:to>
                                        <p:strVal val="visible"/>
                                      </p:to>
                                    </p:set>
                                    <p:animEffect transition="in" filter="wipe(left)">
                                      <p:cBhvr>
                                        <p:cTn id="193" dur="500"/>
                                        <p:tgtEl>
                                          <p:spTgt spid="2382932"/>
                                        </p:tgtEl>
                                      </p:cBhvr>
                                    </p:animEffect>
                                  </p:childTnLst>
                                </p:cTn>
                              </p:par>
                            </p:childTnLst>
                          </p:cTn>
                        </p:par>
                        <p:par>
                          <p:cTn id="194" fill="hold">
                            <p:stCondLst>
                              <p:cond delay="1000"/>
                            </p:stCondLst>
                            <p:childTnLst>
                              <p:par>
                                <p:cTn id="195" presetID="22" presetClass="entr" presetSubtype="1" fill="hold" nodeType="afterEffect">
                                  <p:stCondLst>
                                    <p:cond delay="0"/>
                                  </p:stCondLst>
                                  <p:childTnLst>
                                    <p:set>
                                      <p:cBhvr>
                                        <p:cTn id="196" dur="1" fill="hold">
                                          <p:stCondLst>
                                            <p:cond delay="0"/>
                                          </p:stCondLst>
                                        </p:cTn>
                                        <p:tgtEl>
                                          <p:spTgt spid="2382931"/>
                                        </p:tgtEl>
                                        <p:attrNameLst>
                                          <p:attrName>style.visibility</p:attrName>
                                        </p:attrNameLst>
                                      </p:cBhvr>
                                      <p:to>
                                        <p:strVal val="visible"/>
                                      </p:to>
                                    </p:set>
                                    <p:animEffect transition="in" filter="wipe(up)">
                                      <p:cBhvr>
                                        <p:cTn id="197" dur="500"/>
                                        <p:tgtEl>
                                          <p:spTgt spid="2382931"/>
                                        </p:tgtEl>
                                      </p:cBhvr>
                                    </p:animEffect>
                                  </p:childTnLst>
                                </p:cTn>
                              </p:par>
                            </p:childTnLst>
                          </p:cTn>
                        </p:par>
                        <p:par>
                          <p:cTn id="198" fill="hold">
                            <p:stCondLst>
                              <p:cond delay="1500"/>
                            </p:stCondLst>
                            <p:childTnLst>
                              <p:par>
                                <p:cTn id="199" presetID="22" presetClass="entr" presetSubtype="8" fill="hold" nodeType="afterEffect">
                                  <p:stCondLst>
                                    <p:cond delay="0"/>
                                  </p:stCondLst>
                                  <p:childTnLst>
                                    <p:set>
                                      <p:cBhvr>
                                        <p:cTn id="200" dur="1" fill="hold">
                                          <p:stCondLst>
                                            <p:cond delay="0"/>
                                          </p:stCondLst>
                                        </p:cTn>
                                        <p:tgtEl>
                                          <p:spTgt spid="2382933"/>
                                        </p:tgtEl>
                                        <p:attrNameLst>
                                          <p:attrName>style.visibility</p:attrName>
                                        </p:attrNameLst>
                                      </p:cBhvr>
                                      <p:to>
                                        <p:strVal val="visible"/>
                                      </p:to>
                                    </p:set>
                                    <p:animEffect transition="in" filter="wipe(left)">
                                      <p:cBhvr>
                                        <p:cTn id="201" dur="500"/>
                                        <p:tgtEl>
                                          <p:spTgt spid="2382933"/>
                                        </p:tgtEl>
                                      </p:cBhvr>
                                    </p:animEffect>
                                  </p:childTnLst>
                                </p:cTn>
                              </p:par>
                            </p:childTnLst>
                          </p:cTn>
                        </p:par>
                      </p:childTnLst>
                    </p:cTn>
                  </p:par>
                  <p:par>
                    <p:cTn id="202" fill="hold">
                      <p:stCondLst>
                        <p:cond delay="indefinite"/>
                      </p:stCondLst>
                      <p:childTnLst>
                        <p:par>
                          <p:cTn id="203" fill="hold">
                            <p:stCondLst>
                              <p:cond delay="0"/>
                            </p:stCondLst>
                            <p:childTnLst>
                              <p:par>
                                <p:cTn id="204" presetID="9" presetClass="entr" presetSubtype="0" fill="hold" nodeType="clickEffect">
                                  <p:stCondLst>
                                    <p:cond delay="0"/>
                                  </p:stCondLst>
                                  <p:childTnLst>
                                    <p:set>
                                      <p:cBhvr>
                                        <p:cTn id="205" dur="1" fill="hold">
                                          <p:stCondLst>
                                            <p:cond delay="0"/>
                                          </p:stCondLst>
                                        </p:cTn>
                                        <p:tgtEl>
                                          <p:spTgt spid="2382966">
                                            <p:txEl>
                                              <p:charRg st="0" end="76"/>
                                            </p:txEl>
                                          </p:spTgt>
                                        </p:tgtEl>
                                        <p:attrNameLst>
                                          <p:attrName>style.visibility</p:attrName>
                                        </p:attrNameLst>
                                      </p:cBhvr>
                                      <p:to>
                                        <p:strVal val="visible"/>
                                      </p:to>
                                    </p:set>
                                    <p:animEffect transition="in" filter="dissolve">
                                      <p:cBhvr>
                                        <p:cTn id="206" dur="500"/>
                                        <p:tgtEl>
                                          <p:spTgt spid="2382966">
                                            <p:txEl>
                                              <p:charRg st="0" end="76"/>
                                            </p:txEl>
                                          </p:spTgt>
                                        </p:tgtEl>
                                      </p:cBhvr>
                                    </p:animEffect>
                                  </p:childTnLst>
                                </p:cTn>
                              </p:par>
                            </p:childTnLst>
                          </p:cTn>
                        </p:par>
                      </p:childTnLst>
                    </p:cTn>
                  </p:par>
                  <p:par>
                    <p:cTn id="207" fill="hold">
                      <p:stCondLst>
                        <p:cond delay="indefinite"/>
                      </p:stCondLst>
                      <p:childTnLst>
                        <p:par>
                          <p:cTn id="208" fill="hold">
                            <p:stCondLst>
                              <p:cond delay="0"/>
                            </p:stCondLst>
                            <p:childTnLst>
                              <p:par>
                                <p:cTn id="209" presetID="22" presetClass="entr" presetSubtype="4" fill="hold" nodeType="clickEffect">
                                  <p:stCondLst>
                                    <p:cond delay="0"/>
                                  </p:stCondLst>
                                  <p:childTnLst>
                                    <p:set>
                                      <p:cBhvr>
                                        <p:cTn id="210" dur="1" fill="hold">
                                          <p:stCondLst>
                                            <p:cond delay="0"/>
                                          </p:stCondLst>
                                        </p:cTn>
                                        <p:tgtEl>
                                          <p:spTgt spid="2382900"/>
                                        </p:tgtEl>
                                        <p:attrNameLst>
                                          <p:attrName>style.visibility</p:attrName>
                                        </p:attrNameLst>
                                      </p:cBhvr>
                                      <p:to>
                                        <p:strVal val="visible"/>
                                      </p:to>
                                    </p:set>
                                    <p:animEffect transition="in" filter="wipe(down)">
                                      <p:cBhvr>
                                        <p:cTn id="211" dur="500"/>
                                        <p:tgtEl>
                                          <p:spTgt spid="2382900"/>
                                        </p:tgtEl>
                                      </p:cBhvr>
                                    </p:animEffect>
                                  </p:childTnLst>
                                </p:cTn>
                              </p:par>
                            </p:childTnLst>
                          </p:cTn>
                        </p:par>
                        <p:par>
                          <p:cTn id="212" fill="hold">
                            <p:stCondLst>
                              <p:cond delay="500"/>
                            </p:stCondLst>
                            <p:childTnLst>
                              <p:par>
                                <p:cTn id="213" presetID="22" presetClass="entr" presetSubtype="8" fill="hold" nodeType="afterEffect">
                                  <p:stCondLst>
                                    <p:cond delay="0"/>
                                  </p:stCondLst>
                                  <p:childTnLst>
                                    <p:set>
                                      <p:cBhvr>
                                        <p:cTn id="214" dur="1" fill="hold">
                                          <p:stCondLst>
                                            <p:cond delay="0"/>
                                          </p:stCondLst>
                                        </p:cTn>
                                        <p:tgtEl>
                                          <p:spTgt spid="2382901"/>
                                        </p:tgtEl>
                                        <p:attrNameLst>
                                          <p:attrName>style.visibility</p:attrName>
                                        </p:attrNameLst>
                                      </p:cBhvr>
                                      <p:to>
                                        <p:strVal val="visible"/>
                                      </p:to>
                                    </p:set>
                                    <p:animEffect transition="in" filter="wipe(left)">
                                      <p:cBhvr>
                                        <p:cTn id="215" dur="500"/>
                                        <p:tgtEl>
                                          <p:spTgt spid="2382901"/>
                                        </p:tgtEl>
                                      </p:cBhvr>
                                    </p:animEffect>
                                  </p:childTnLst>
                                </p:cTn>
                              </p:par>
                              <p:par>
                                <p:cTn id="216" presetID="22" presetClass="entr" presetSubtype="8" fill="hold" grpId="0" nodeType="withEffect">
                                  <p:stCondLst>
                                    <p:cond delay="0"/>
                                  </p:stCondLst>
                                  <p:childTnLst>
                                    <p:set>
                                      <p:cBhvr>
                                        <p:cTn id="217" dur="1" fill="hold">
                                          <p:stCondLst>
                                            <p:cond delay="0"/>
                                          </p:stCondLst>
                                        </p:cTn>
                                        <p:tgtEl>
                                          <p:spTgt spid="2382902"/>
                                        </p:tgtEl>
                                        <p:attrNameLst>
                                          <p:attrName>style.visibility</p:attrName>
                                        </p:attrNameLst>
                                      </p:cBhvr>
                                      <p:to>
                                        <p:strVal val="visible"/>
                                      </p:to>
                                    </p:set>
                                    <p:animEffect transition="in" filter="wipe(left)">
                                      <p:cBhvr>
                                        <p:cTn id="218" dur="500"/>
                                        <p:tgtEl>
                                          <p:spTgt spid="2382902"/>
                                        </p:tgtEl>
                                      </p:cBhvr>
                                    </p:animEffect>
                                  </p:childTnLst>
                                </p:cTn>
                              </p:par>
                            </p:childTnLst>
                          </p:cTn>
                        </p:par>
                      </p:childTnLst>
                    </p:cTn>
                  </p:par>
                  <p:par>
                    <p:cTn id="219" fill="hold">
                      <p:stCondLst>
                        <p:cond delay="indefinite"/>
                      </p:stCondLst>
                      <p:childTnLst>
                        <p:par>
                          <p:cTn id="220" fill="hold">
                            <p:stCondLst>
                              <p:cond delay="0"/>
                            </p:stCondLst>
                            <p:childTnLst>
                              <p:par>
                                <p:cTn id="221" presetID="22" presetClass="entr" presetSubtype="4" fill="hold" nodeType="clickEffect">
                                  <p:stCondLst>
                                    <p:cond delay="0"/>
                                  </p:stCondLst>
                                  <p:childTnLst>
                                    <p:set>
                                      <p:cBhvr>
                                        <p:cTn id="222" dur="1" fill="hold">
                                          <p:stCondLst>
                                            <p:cond delay="0"/>
                                          </p:stCondLst>
                                        </p:cTn>
                                        <p:tgtEl>
                                          <p:spTgt spid="2382934"/>
                                        </p:tgtEl>
                                        <p:attrNameLst>
                                          <p:attrName>style.visibility</p:attrName>
                                        </p:attrNameLst>
                                      </p:cBhvr>
                                      <p:to>
                                        <p:strVal val="visible"/>
                                      </p:to>
                                    </p:set>
                                    <p:animEffect transition="in" filter="wipe(down)">
                                      <p:cBhvr>
                                        <p:cTn id="223" dur="500"/>
                                        <p:tgtEl>
                                          <p:spTgt spid="2382934"/>
                                        </p:tgtEl>
                                      </p:cBhvr>
                                    </p:animEffect>
                                  </p:childTnLst>
                                </p:cTn>
                              </p:par>
                            </p:childTnLst>
                          </p:cTn>
                        </p:par>
                        <p:par>
                          <p:cTn id="224" fill="hold">
                            <p:stCondLst>
                              <p:cond delay="500"/>
                            </p:stCondLst>
                            <p:childTnLst>
                              <p:par>
                                <p:cTn id="225" presetID="22" presetClass="entr" presetSubtype="8" fill="hold" nodeType="afterEffect">
                                  <p:stCondLst>
                                    <p:cond delay="0"/>
                                  </p:stCondLst>
                                  <p:childTnLst>
                                    <p:set>
                                      <p:cBhvr>
                                        <p:cTn id="226" dur="1" fill="hold">
                                          <p:stCondLst>
                                            <p:cond delay="0"/>
                                          </p:stCondLst>
                                        </p:cTn>
                                        <p:tgtEl>
                                          <p:spTgt spid="2382935"/>
                                        </p:tgtEl>
                                        <p:attrNameLst>
                                          <p:attrName>style.visibility</p:attrName>
                                        </p:attrNameLst>
                                      </p:cBhvr>
                                      <p:to>
                                        <p:strVal val="visible"/>
                                      </p:to>
                                    </p:set>
                                    <p:animEffect transition="in" filter="wipe(left)">
                                      <p:cBhvr>
                                        <p:cTn id="227" dur="500"/>
                                        <p:tgtEl>
                                          <p:spTgt spid="2382935"/>
                                        </p:tgtEl>
                                      </p:cBhvr>
                                    </p:animEffect>
                                  </p:childTnLst>
                                </p:cTn>
                              </p:par>
                              <p:par>
                                <p:cTn id="228" presetID="22" presetClass="entr" presetSubtype="8" fill="hold" grpId="0" nodeType="withEffect">
                                  <p:stCondLst>
                                    <p:cond delay="0"/>
                                  </p:stCondLst>
                                  <p:childTnLst>
                                    <p:set>
                                      <p:cBhvr>
                                        <p:cTn id="229" dur="1" fill="hold">
                                          <p:stCondLst>
                                            <p:cond delay="0"/>
                                          </p:stCondLst>
                                        </p:cTn>
                                        <p:tgtEl>
                                          <p:spTgt spid="2382937"/>
                                        </p:tgtEl>
                                        <p:attrNameLst>
                                          <p:attrName>style.visibility</p:attrName>
                                        </p:attrNameLst>
                                      </p:cBhvr>
                                      <p:to>
                                        <p:strVal val="visible"/>
                                      </p:to>
                                    </p:set>
                                    <p:animEffect transition="in" filter="wipe(left)">
                                      <p:cBhvr>
                                        <p:cTn id="230" dur="500"/>
                                        <p:tgtEl>
                                          <p:spTgt spid="2382937"/>
                                        </p:tgtEl>
                                      </p:cBhvr>
                                    </p:animEffect>
                                  </p:childTnLst>
                                </p:cTn>
                              </p:par>
                            </p:childTnLst>
                          </p:cTn>
                        </p:par>
                        <p:par>
                          <p:cTn id="231" fill="hold">
                            <p:stCondLst>
                              <p:cond delay="1000"/>
                            </p:stCondLst>
                            <p:childTnLst>
                              <p:par>
                                <p:cTn id="232" presetID="22" presetClass="entr" presetSubtype="1" fill="hold" nodeType="afterEffect">
                                  <p:stCondLst>
                                    <p:cond delay="0"/>
                                  </p:stCondLst>
                                  <p:childTnLst>
                                    <p:set>
                                      <p:cBhvr>
                                        <p:cTn id="233" dur="1" fill="hold">
                                          <p:stCondLst>
                                            <p:cond delay="0"/>
                                          </p:stCondLst>
                                        </p:cTn>
                                        <p:tgtEl>
                                          <p:spTgt spid="2382936"/>
                                        </p:tgtEl>
                                        <p:attrNameLst>
                                          <p:attrName>style.visibility</p:attrName>
                                        </p:attrNameLst>
                                      </p:cBhvr>
                                      <p:to>
                                        <p:strVal val="visible"/>
                                      </p:to>
                                    </p:set>
                                    <p:animEffect transition="in" filter="wipe(up)">
                                      <p:cBhvr>
                                        <p:cTn id="234" dur="500"/>
                                        <p:tgtEl>
                                          <p:spTgt spid="2382936"/>
                                        </p:tgtEl>
                                      </p:cBhvr>
                                    </p:animEffect>
                                  </p:childTnLst>
                                </p:cTn>
                              </p:par>
                            </p:childTnLst>
                          </p:cTn>
                        </p:par>
                        <p:par>
                          <p:cTn id="235" fill="hold">
                            <p:stCondLst>
                              <p:cond delay="1500"/>
                            </p:stCondLst>
                            <p:childTnLst>
                              <p:par>
                                <p:cTn id="236" presetID="22" presetClass="entr" presetSubtype="8" fill="hold" nodeType="afterEffect">
                                  <p:stCondLst>
                                    <p:cond delay="0"/>
                                  </p:stCondLst>
                                  <p:childTnLst>
                                    <p:set>
                                      <p:cBhvr>
                                        <p:cTn id="237" dur="1" fill="hold">
                                          <p:stCondLst>
                                            <p:cond delay="0"/>
                                          </p:stCondLst>
                                        </p:cTn>
                                        <p:tgtEl>
                                          <p:spTgt spid="2382938"/>
                                        </p:tgtEl>
                                        <p:attrNameLst>
                                          <p:attrName>style.visibility</p:attrName>
                                        </p:attrNameLst>
                                      </p:cBhvr>
                                      <p:to>
                                        <p:strVal val="visible"/>
                                      </p:to>
                                    </p:set>
                                    <p:animEffect transition="in" filter="wipe(left)">
                                      <p:cBhvr>
                                        <p:cTn id="238" dur="500"/>
                                        <p:tgtEl>
                                          <p:spTgt spid="2382938"/>
                                        </p:tgtEl>
                                      </p:cBhvr>
                                    </p:animEffect>
                                  </p:childTnLst>
                                </p:cTn>
                              </p:par>
                            </p:childTnLst>
                          </p:cTn>
                        </p:par>
                      </p:childTnLst>
                    </p:cTn>
                  </p:par>
                  <p:par>
                    <p:cTn id="239" fill="hold">
                      <p:stCondLst>
                        <p:cond delay="indefinite"/>
                      </p:stCondLst>
                      <p:childTnLst>
                        <p:par>
                          <p:cTn id="240" fill="hold">
                            <p:stCondLst>
                              <p:cond delay="0"/>
                            </p:stCondLst>
                            <p:childTnLst>
                              <p:par>
                                <p:cTn id="241" presetID="9" presetClass="entr" presetSubtype="0" fill="hold" nodeType="clickEffect">
                                  <p:stCondLst>
                                    <p:cond delay="0"/>
                                  </p:stCondLst>
                                  <p:childTnLst>
                                    <p:set>
                                      <p:cBhvr>
                                        <p:cTn id="242" dur="1" fill="hold">
                                          <p:stCondLst>
                                            <p:cond delay="0"/>
                                          </p:stCondLst>
                                        </p:cTn>
                                        <p:tgtEl>
                                          <p:spTgt spid="2382966">
                                            <p:txEl>
                                              <p:charRg st="76" end="175"/>
                                            </p:txEl>
                                          </p:spTgt>
                                        </p:tgtEl>
                                        <p:attrNameLst>
                                          <p:attrName>style.visibility</p:attrName>
                                        </p:attrNameLst>
                                      </p:cBhvr>
                                      <p:to>
                                        <p:strVal val="visible"/>
                                      </p:to>
                                    </p:set>
                                    <p:animEffect transition="in" filter="dissolve">
                                      <p:cBhvr>
                                        <p:cTn id="243" dur="500"/>
                                        <p:tgtEl>
                                          <p:spTgt spid="2382966">
                                            <p:txEl>
                                              <p:charRg st="76" end="175"/>
                                            </p:txEl>
                                          </p:spTgt>
                                        </p:tgtEl>
                                      </p:cBhvr>
                                    </p:animEffect>
                                  </p:childTnLst>
                                </p:cTn>
                              </p:par>
                            </p:childTnLst>
                          </p:cTn>
                        </p:par>
                      </p:childTnLst>
                    </p:cTn>
                  </p:par>
                  <p:par>
                    <p:cTn id="244" fill="hold">
                      <p:stCondLst>
                        <p:cond delay="indefinite"/>
                      </p:stCondLst>
                      <p:childTnLst>
                        <p:par>
                          <p:cTn id="245" fill="hold">
                            <p:stCondLst>
                              <p:cond delay="0"/>
                            </p:stCondLst>
                            <p:childTnLst>
                              <p:par>
                                <p:cTn id="246" presetID="22" presetClass="entr" presetSubtype="4" fill="hold" nodeType="clickEffect">
                                  <p:stCondLst>
                                    <p:cond delay="0"/>
                                  </p:stCondLst>
                                  <p:childTnLst>
                                    <p:set>
                                      <p:cBhvr>
                                        <p:cTn id="247" dur="1" fill="hold">
                                          <p:stCondLst>
                                            <p:cond delay="0"/>
                                          </p:stCondLst>
                                        </p:cTn>
                                        <p:tgtEl>
                                          <p:spTgt spid="2382903"/>
                                        </p:tgtEl>
                                        <p:attrNameLst>
                                          <p:attrName>style.visibility</p:attrName>
                                        </p:attrNameLst>
                                      </p:cBhvr>
                                      <p:to>
                                        <p:strVal val="visible"/>
                                      </p:to>
                                    </p:set>
                                    <p:animEffect transition="in" filter="wipe(down)">
                                      <p:cBhvr>
                                        <p:cTn id="248" dur="500"/>
                                        <p:tgtEl>
                                          <p:spTgt spid="2382903"/>
                                        </p:tgtEl>
                                      </p:cBhvr>
                                    </p:animEffect>
                                  </p:childTnLst>
                                </p:cTn>
                              </p:par>
                            </p:childTnLst>
                          </p:cTn>
                        </p:par>
                        <p:par>
                          <p:cTn id="249" fill="hold">
                            <p:stCondLst>
                              <p:cond delay="500"/>
                            </p:stCondLst>
                            <p:childTnLst>
                              <p:par>
                                <p:cTn id="250" presetID="22" presetClass="entr" presetSubtype="8" fill="hold" grpId="0" nodeType="afterEffect">
                                  <p:stCondLst>
                                    <p:cond delay="0"/>
                                  </p:stCondLst>
                                  <p:childTnLst>
                                    <p:set>
                                      <p:cBhvr>
                                        <p:cTn id="251" dur="1" fill="hold">
                                          <p:stCondLst>
                                            <p:cond delay="0"/>
                                          </p:stCondLst>
                                        </p:cTn>
                                        <p:tgtEl>
                                          <p:spTgt spid="2382905"/>
                                        </p:tgtEl>
                                        <p:attrNameLst>
                                          <p:attrName>style.visibility</p:attrName>
                                        </p:attrNameLst>
                                      </p:cBhvr>
                                      <p:to>
                                        <p:strVal val="visible"/>
                                      </p:to>
                                    </p:set>
                                    <p:animEffect transition="in" filter="wipe(left)">
                                      <p:cBhvr>
                                        <p:cTn id="252" dur="500"/>
                                        <p:tgtEl>
                                          <p:spTgt spid="2382905"/>
                                        </p:tgtEl>
                                      </p:cBhvr>
                                    </p:animEffect>
                                  </p:childTnLst>
                                </p:cTn>
                              </p:par>
                              <p:par>
                                <p:cTn id="253" presetID="22" presetClass="entr" presetSubtype="8" fill="hold" nodeType="withEffect">
                                  <p:stCondLst>
                                    <p:cond delay="0"/>
                                  </p:stCondLst>
                                  <p:childTnLst>
                                    <p:set>
                                      <p:cBhvr>
                                        <p:cTn id="254" dur="1" fill="hold">
                                          <p:stCondLst>
                                            <p:cond delay="0"/>
                                          </p:stCondLst>
                                        </p:cTn>
                                        <p:tgtEl>
                                          <p:spTgt spid="2382904"/>
                                        </p:tgtEl>
                                        <p:attrNameLst>
                                          <p:attrName>style.visibility</p:attrName>
                                        </p:attrNameLst>
                                      </p:cBhvr>
                                      <p:to>
                                        <p:strVal val="visible"/>
                                      </p:to>
                                    </p:set>
                                    <p:animEffect transition="in" filter="wipe(left)">
                                      <p:cBhvr>
                                        <p:cTn id="255" dur="500"/>
                                        <p:tgtEl>
                                          <p:spTgt spid="2382904"/>
                                        </p:tgtEl>
                                      </p:cBhvr>
                                    </p:animEffect>
                                  </p:childTnLst>
                                </p:cTn>
                              </p:par>
                            </p:childTnLst>
                          </p:cTn>
                        </p:par>
                      </p:childTnLst>
                    </p:cTn>
                  </p:par>
                  <p:par>
                    <p:cTn id="256" fill="hold">
                      <p:stCondLst>
                        <p:cond delay="indefinite"/>
                      </p:stCondLst>
                      <p:childTnLst>
                        <p:par>
                          <p:cTn id="257" fill="hold">
                            <p:stCondLst>
                              <p:cond delay="0"/>
                            </p:stCondLst>
                            <p:childTnLst>
                              <p:par>
                                <p:cTn id="258" presetID="3" presetClass="exit" presetSubtype="10" fill="hold" grpId="0" nodeType="clickEffect">
                                  <p:stCondLst>
                                    <p:cond delay="0"/>
                                  </p:stCondLst>
                                  <p:childTnLst>
                                    <p:animEffect transition="out" filter="blinds(horizontal)">
                                      <p:cBhvr>
                                        <p:cTn id="259" dur="500"/>
                                        <p:tgtEl>
                                          <p:spTgt spid="2382966">
                                            <p:txEl>
                                              <p:charRg st="0" end="76"/>
                                            </p:txEl>
                                          </p:spTgt>
                                        </p:tgtEl>
                                      </p:cBhvr>
                                    </p:animEffect>
                                    <p:set>
                                      <p:cBhvr>
                                        <p:cTn id="260" dur="1" fill="hold">
                                          <p:stCondLst>
                                            <p:cond delay="499"/>
                                          </p:stCondLst>
                                        </p:cTn>
                                        <p:tgtEl>
                                          <p:spTgt spid="2382966">
                                            <p:txEl>
                                              <p:charRg st="0" end="76"/>
                                            </p:txEl>
                                          </p:spTgt>
                                        </p:tgtEl>
                                        <p:attrNameLst>
                                          <p:attrName>style.visibility</p:attrName>
                                        </p:attrNameLst>
                                      </p:cBhvr>
                                      <p:to>
                                        <p:strVal val="hidden"/>
                                      </p:to>
                                    </p:set>
                                  </p:childTnLst>
                                </p:cTn>
                              </p:par>
                              <p:par>
                                <p:cTn id="261" presetID="3" presetClass="exit" presetSubtype="10" fill="hold" grpId="0" nodeType="withEffect">
                                  <p:stCondLst>
                                    <p:cond delay="0"/>
                                  </p:stCondLst>
                                  <p:childTnLst>
                                    <p:animEffect transition="out" filter="blinds(horizontal)">
                                      <p:cBhvr>
                                        <p:cTn id="262" dur="500"/>
                                        <p:tgtEl>
                                          <p:spTgt spid="2382966">
                                            <p:txEl>
                                              <p:charRg st="76" end="175"/>
                                            </p:txEl>
                                          </p:spTgt>
                                        </p:tgtEl>
                                      </p:cBhvr>
                                    </p:animEffect>
                                    <p:set>
                                      <p:cBhvr>
                                        <p:cTn id="263" dur="1" fill="hold">
                                          <p:stCondLst>
                                            <p:cond delay="499"/>
                                          </p:stCondLst>
                                        </p:cTn>
                                        <p:tgtEl>
                                          <p:spTgt spid="2382966">
                                            <p:txEl>
                                              <p:charRg st="76" end="175"/>
                                            </p:txEl>
                                          </p:spTgt>
                                        </p:tgtEl>
                                        <p:attrNameLst>
                                          <p:attrName>style.visibility</p:attrName>
                                        </p:attrNameLst>
                                      </p:cBhvr>
                                      <p:to>
                                        <p:strVal val="hidden"/>
                                      </p:to>
                                    </p:set>
                                  </p:childTnLst>
                                </p:cTn>
                              </p:par>
                            </p:childTnLst>
                          </p:cTn>
                        </p:par>
                      </p:childTnLst>
                    </p:cTn>
                  </p:par>
                  <p:par>
                    <p:cTn id="264" fill="hold">
                      <p:stCondLst>
                        <p:cond delay="indefinite"/>
                      </p:stCondLst>
                      <p:childTnLst>
                        <p:par>
                          <p:cTn id="265" fill="hold">
                            <p:stCondLst>
                              <p:cond delay="0"/>
                            </p:stCondLst>
                            <p:childTnLst>
                              <p:par>
                                <p:cTn id="266" presetID="22" presetClass="entr" presetSubtype="4" fill="hold" nodeType="clickEffect">
                                  <p:stCondLst>
                                    <p:cond delay="0"/>
                                  </p:stCondLst>
                                  <p:childTnLst>
                                    <p:set>
                                      <p:cBhvr>
                                        <p:cTn id="267" dur="1" fill="hold">
                                          <p:stCondLst>
                                            <p:cond delay="0"/>
                                          </p:stCondLst>
                                        </p:cTn>
                                        <p:tgtEl>
                                          <p:spTgt spid="2382939"/>
                                        </p:tgtEl>
                                        <p:attrNameLst>
                                          <p:attrName>style.visibility</p:attrName>
                                        </p:attrNameLst>
                                      </p:cBhvr>
                                      <p:to>
                                        <p:strVal val="visible"/>
                                      </p:to>
                                    </p:set>
                                    <p:animEffect transition="in" filter="wipe(down)">
                                      <p:cBhvr>
                                        <p:cTn id="268" dur="500"/>
                                        <p:tgtEl>
                                          <p:spTgt spid="2382939"/>
                                        </p:tgtEl>
                                      </p:cBhvr>
                                    </p:animEffect>
                                  </p:childTnLst>
                                </p:cTn>
                              </p:par>
                            </p:childTnLst>
                          </p:cTn>
                        </p:par>
                        <p:par>
                          <p:cTn id="269" fill="hold">
                            <p:stCondLst>
                              <p:cond delay="500"/>
                            </p:stCondLst>
                            <p:childTnLst>
                              <p:par>
                                <p:cTn id="270" presetID="22" presetClass="entr" presetSubtype="8" fill="hold" nodeType="afterEffect">
                                  <p:stCondLst>
                                    <p:cond delay="0"/>
                                  </p:stCondLst>
                                  <p:childTnLst>
                                    <p:set>
                                      <p:cBhvr>
                                        <p:cTn id="271" dur="1" fill="hold">
                                          <p:stCondLst>
                                            <p:cond delay="0"/>
                                          </p:stCondLst>
                                        </p:cTn>
                                        <p:tgtEl>
                                          <p:spTgt spid="2382940"/>
                                        </p:tgtEl>
                                        <p:attrNameLst>
                                          <p:attrName>style.visibility</p:attrName>
                                        </p:attrNameLst>
                                      </p:cBhvr>
                                      <p:to>
                                        <p:strVal val="visible"/>
                                      </p:to>
                                    </p:set>
                                    <p:animEffect transition="in" filter="wipe(left)">
                                      <p:cBhvr>
                                        <p:cTn id="272" dur="500"/>
                                        <p:tgtEl>
                                          <p:spTgt spid="2382940"/>
                                        </p:tgtEl>
                                      </p:cBhvr>
                                    </p:animEffect>
                                  </p:childTnLst>
                                </p:cTn>
                              </p:par>
                              <p:par>
                                <p:cTn id="273" presetID="22" presetClass="entr" presetSubtype="8" fill="hold" grpId="0" nodeType="withEffect">
                                  <p:stCondLst>
                                    <p:cond delay="0"/>
                                  </p:stCondLst>
                                  <p:childTnLst>
                                    <p:set>
                                      <p:cBhvr>
                                        <p:cTn id="274" dur="1" fill="hold">
                                          <p:stCondLst>
                                            <p:cond delay="0"/>
                                          </p:stCondLst>
                                        </p:cTn>
                                        <p:tgtEl>
                                          <p:spTgt spid="2382942"/>
                                        </p:tgtEl>
                                        <p:attrNameLst>
                                          <p:attrName>style.visibility</p:attrName>
                                        </p:attrNameLst>
                                      </p:cBhvr>
                                      <p:to>
                                        <p:strVal val="visible"/>
                                      </p:to>
                                    </p:set>
                                    <p:animEffect transition="in" filter="wipe(left)">
                                      <p:cBhvr>
                                        <p:cTn id="275" dur="500"/>
                                        <p:tgtEl>
                                          <p:spTgt spid="2382942"/>
                                        </p:tgtEl>
                                      </p:cBhvr>
                                    </p:animEffect>
                                  </p:childTnLst>
                                </p:cTn>
                              </p:par>
                            </p:childTnLst>
                          </p:cTn>
                        </p:par>
                        <p:par>
                          <p:cTn id="276" fill="hold">
                            <p:stCondLst>
                              <p:cond delay="1000"/>
                            </p:stCondLst>
                            <p:childTnLst>
                              <p:par>
                                <p:cTn id="277" presetID="22" presetClass="entr" presetSubtype="1" fill="hold" nodeType="afterEffect">
                                  <p:stCondLst>
                                    <p:cond delay="0"/>
                                  </p:stCondLst>
                                  <p:childTnLst>
                                    <p:set>
                                      <p:cBhvr>
                                        <p:cTn id="278" dur="1" fill="hold">
                                          <p:stCondLst>
                                            <p:cond delay="0"/>
                                          </p:stCondLst>
                                        </p:cTn>
                                        <p:tgtEl>
                                          <p:spTgt spid="2382941"/>
                                        </p:tgtEl>
                                        <p:attrNameLst>
                                          <p:attrName>style.visibility</p:attrName>
                                        </p:attrNameLst>
                                      </p:cBhvr>
                                      <p:to>
                                        <p:strVal val="visible"/>
                                      </p:to>
                                    </p:set>
                                    <p:animEffect transition="in" filter="wipe(up)">
                                      <p:cBhvr>
                                        <p:cTn id="279" dur="500"/>
                                        <p:tgtEl>
                                          <p:spTgt spid="2382941"/>
                                        </p:tgtEl>
                                      </p:cBhvr>
                                    </p:animEffect>
                                  </p:childTnLst>
                                </p:cTn>
                              </p:par>
                            </p:childTnLst>
                          </p:cTn>
                        </p:par>
                        <p:par>
                          <p:cTn id="280" fill="hold">
                            <p:stCondLst>
                              <p:cond delay="1500"/>
                            </p:stCondLst>
                            <p:childTnLst>
                              <p:par>
                                <p:cTn id="281" presetID="22" presetClass="entr" presetSubtype="8" fill="hold" nodeType="afterEffect">
                                  <p:stCondLst>
                                    <p:cond delay="0"/>
                                  </p:stCondLst>
                                  <p:childTnLst>
                                    <p:set>
                                      <p:cBhvr>
                                        <p:cTn id="282" dur="1" fill="hold">
                                          <p:stCondLst>
                                            <p:cond delay="0"/>
                                          </p:stCondLst>
                                        </p:cTn>
                                        <p:tgtEl>
                                          <p:spTgt spid="2382943"/>
                                        </p:tgtEl>
                                        <p:attrNameLst>
                                          <p:attrName>style.visibility</p:attrName>
                                        </p:attrNameLst>
                                      </p:cBhvr>
                                      <p:to>
                                        <p:strVal val="visible"/>
                                      </p:to>
                                    </p:set>
                                    <p:animEffect transition="in" filter="wipe(left)">
                                      <p:cBhvr>
                                        <p:cTn id="283" dur="500"/>
                                        <p:tgtEl>
                                          <p:spTgt spid="2382943"/>
                                        </p:tgtEl>
                                      </p:cBhvr>
                                    </p:animEffect>
                                  </p:childTnLst>
                                </p:cTn>
                              </p:par>
                            </p:childTnLst>
                          </p:cTn>
                        </p:par>
                      </p:childTnLst>
                    </p:cTn>
                  </p:par>
                  <p:par>
                    <p:cTn id="284" fill="hold">
                      <p:stCondLst>
                        <p:cond delay="indefinite"/>
                      </p:stCondLst>
                      <p:childTnLst>
                        <p:par>
                          <p:cTn id="285" fill="hold">
                            <p:stCondLst>
                              <p:cond delay="0"/>
                            </p:stCondLst>
                            <p:childTnLst>
                              <p:par>
                                <p:cTn id="286" presetID="9" presetClass="entr" presetSubtype="0" fill="hold" nodeType="clickEffect">
                                  <p:stCondLst>
                                    <p:cond delay="0"/>
                                  </p:stCondLst>
                                  <p:childTnLst>
                                    <p:set>
                                      <p:cBhvr>
                                        <p:cTn id="287" dur="1" fill="hold">
                                          <p:stCondLst>
                                            <p:cond delay="0"/>
                                          </p:stCondLst>
                                        </p:cTn>
                                        <p:tgtEl>
                                          <p:spTgt spid="2382967">
                                            <p:txEl>
                                              <p:charRg st="0" end="36"/>
                                            </p:txEl>
                                          </p:spTgt>
                                        </p:tgtEl>
                                        <p:attrNameLst>
                                          <p:attrName>style.visibility</p:attrName>
                                        </p:attrNameLst>
                                      </p:cBhvr>
                                      <p:to>
                                        <p:strVal val="visible"/>
                                      </p:to>
                                    </p:set>
                                    <p:animEffect transition="in" filter="dissolve">
                                      <p:cBhvr>
                                        <p:cTn id="288" dur="500"/>
                                        <p:tgtEl>
                                          <p:spTgt spid="2382967">
                                            <p:txEl>
                                              <p:charRg st="0" end="36"/>
                                            </p:txEl>
                                          </p:spTgt>
                                        </p:tgtEl>
                                      </p:cBhvr>
                                    </p:animEffect>
                                  </p:childTnLst>
                                </p:cTn>
                              </p:par>
                            </p:childTnLst>
                          </p:cTn>
                        </p:par>
                      </p:childTnLst>
                    </p:cTn>
                  </p:par>
                  <p:par>
                    <p:cTn id="289" fill="hold">
                      <p:stCondLst>
                        <p:cond delay="indefinite"/>
                      </p:stCondLst>
                      <p:childTnLst>
                        <p:par>
                          <p:cTn id="290" fill="hold">
                            <p:stCondLst>
                              <p:cond delay="0"/>
                            </p:stCondLst>
                            <p:childTnLst>
                              <p:par>
                                <p:cTn id="291" presetID="22" presetClass="entr" presetSubtype="1" fill="hold" nodeType="clickEffect">
                                  <p:stCondLst>
                                    <p:cond delay="0"/>
                                  </p:stCondLst>
                                  <p:childTnLst>
                                    <p:set>
                                      <p:cBhvr>
                                        <p:cTn id="292" dur="1" fill="hold">
                                          <p:stCondLst>
                                            <p:cond delay="0"/>
                                          </p:stCondLst>
                                        </p:cTn>
                                        <p:tgtEl>
                                          <p:spTgt spid="2382906"/>
                                        </p:tgtEl>
                                        <p:attrNameLst>
                                          <p:attrName>style.visibility</p:attrName>
                                        </p:attrNameLst>
                                      </p:cBhvr>
                                      <p:to>
                                        <p:strVal val="visible"/>
                                      </p:to>
                                    </p:set>
                                    <p:animEffect transition="in" filter="wipe(up)">
                                      <p:cBhvr>
                                        <p:cTn id="293" dur="500"/>
                                        <p:tgtEl>
                                          <p:spTgt spid="2382906"/>
                                        </p:tgtEl>
                                      </p:cBhvr>
                                    </p:animEffect>
                                  </p:childTnLst>
                                </p:cTn>
                              </p:par>
                            </p:childTnLst>
                          </p:cTn>
                        </p:par>
                        <p:par>
                          <p:cTn id="294" fill="hold">
                            <p:stCondLst>
                              <p:cond delay="500"/>
                            </p:stCondLst>
                            <p:childTnLst>
                              <p:par>
                                <p:cTn id="295" presetID="22" presetClass="entr" presetSubtype="8" fill="hold" nodeType="afterEffect">
                                  <p:stCondLst>
                                    <p:cond delay="0"/>
                                  </p:stCondLst>
                                  <p:childTnLst>
                                    <p:set>
                                      <p:cBhvr>
                                        <p:cTn id="296" dur="1" fill="hold">
                                          <p:stCondLst>
                                            <p:cond delay="0"/>
                                          </p:stCondLst>
                                        </p:cTn>
                                        <p:tgtEl>
                                          <p:spTgt spid="2382907"/>
                                        </p:tgtEl>
                                        <p:attrNameLst>
                                          <p:attrName>style.visibility</p:attrName>
                                        </p:attrNameLst>
                                      </p:cBhvr>
                                      <p:to>
                                        <p:strVal val="visible"/>
                                      </p:to>
                                    </p:set>
                                    <p:animEffect transition="in" filter="wipe(left)">
                                      <p:cBhvr>
                                        <p:cTn id="297" dur="500"/>
                                        <p:tgtEl>
                                          <p:spTgt spid="2382907"/>
                                        </p:tgtEl>
                                      </p:cBhvr>
                                    </p:animEffect>
                                  </p:childTnLst>
                                </p:cTn>
                              </p:par>
                              <p:par>
                                <p:cTn id="298" presetID="22" presetClass="entr" presetSubtype="8" fill="hold" grpId="0" nodeType="withEffect">
                                  <p:stCondLst>
                                    <p:cond delay="0"/>
                                  </p:stCondLst>
                                  <p:childTnLst>
                                    <p:set>
                                      <p:cBhvr>
                                        <p:cTn id="299" dur="1" fill="hold">
                                          <p:stCondLst>
                                            <p:cond delay="0"/>
                                          </p:stCondLst>
                                        </p:cTn>
                                        <p:tgtEl>
                                          <p:spTgt spid="2382908"/>
                                        </p:tgtEl>
                                        <p:attrNameLst>
                                          <p:attrName>style.visibility</p:attrName>
                                        </p:attrNameLst>
                                      </p:cBhvr>
                                      <p:to>
                                        <p:strVal val="visible"/>
                                      </p:to>
                                    </p:set>
                                    <p:animEffect transition="in" filter="wipe(left)">
                                      <p:cBhvr>
                                        <p:cTn id="300" dur="500"/>
                                        <p:tgtEl>
                                          <p:spTgt spid="2382908"/>
                                        </p:tgtEl>
                                      </p:cBhvr>
                                    </p:animEffect>
                                  </p:childTnLst>
                                </p:cTn>
                              </p:par>
                            </p:childTnLst>
                          </p:cTn>
                        </p:par>
                      </p:childTnLst>
                    </p:cTn>
                  </p:par>
                  <p:par>
                    <p:cTn id="301" fill="hold">
                      <p:stCondLst>
                        <p:cond delay="indefinite"/>
                      </p:stCondLst>
                      <p:childTnLst>
                        <p:par>
                          <p:cTn id="302" fill="hold">
                            <p:stCondLst>
                              <p:cond delay="0"/>
                            </p:stCondLst>
                            <p:childTnLst>
                              <p:par>
                                <p:cTn id="303" presetID="22" presetClass="entr" presetSubtype="4" fill="hold" nodeType="clickEffect">
                                  <p:stCondLst>
                                    <p:cond delay="0"/>
                                  </p:stCondLst>
                                  <p:childTnLst>
                                    <p:set>
                                      <p:cBhvr>
                                        <p:cTn id="304" dur="1" fill="hold">
                                          <p:stCondLst>
                                            <p:cond delay="0"/>
                                          </p:stCondLst>
                                        </p:cTn>
                                        <p:tgtEl>
                                          <p:spTgt spid="2382944"/>
                                        </p:tgtEl>
                                        <p:attrNameLst>
                                          <p:attrName>style.visibility</p:attrName>
                                        </p:attrNameLst>
                                      </p:cBhvr>
                                      <p:to>
                                        <p:strVal val="visible"/>
                                      </p:to>
                                    </p:set>
                                    <p:animEffect transition="in" filter="wipe(down)">
                                      <p:cBhvr>
                                        <p:cTn id="305" dur="500"/>
                                        <p:tgtEl>
                                          <p:spTgt spid="2382944"/>
                                        </p:tgtEl>
                                      </p:cBhvr>
                                    </p:animEffect>
                                  </p:childTnLst>
                                </p:cTn>
                              </p:par>
                            </p:childTnLst>
                          </p:cTn>
                        </p:par>
                        <p:par>
                          <p:cTn id="306" fill="hold">
                            <p:stCondLst>
                              <p:cond delay="500"/>
                            </p:stCondLst>
                            <p:childTnLst>
                              <p:par>
                                <p:cTn id="307" presetID="22" presetClass="entr" presetSubtype="8" fill="hold" nodeType="afterEffect">
                                  <p:stCondLst>
                                    <p:cond delay="0"/>
                                  </p:stCondLst>
                                  <p:childTnLst>
                                    <p:set>
                                      <p:cBhvr>
                                        <p:cTn id="308" dur="1" fill="hold">
                                          <p:stCondLst>
                                            <p:cond delay="0"/>
                                          </p:stCondLst>
                                        </p:cTn>
                                        <p:tgtEl>
                                          <p:spTgt spid="2382945"/>
                                        </p:tgtEl>
                                        <p:attrNameLst>
                                          <p:attrName>style.visibility</p:attrName>
                                        </p:attrNameLst>
                                      </p:cBhvr>
                                      <p:to>
                                        <p:strVal val="visible"/>
                                      </p:to>
                                    </p:set>
                                    <p:animEffect transition="in" filter="wipe(left)">
                                      <p:cBhvr>
                                        <p:cTn id="309" dur="500"/>
                                        <p:tgtEl>
                                          <p:spTgt spid="2382945"/>
                                        </p:tgtEl>
                                      </p:cBhvr>
                                    </p:animEffect>
                                  </p:childTnLst>
                                </p:cTn>
                              </p:par>
                              <p:par>
                                <p:cTn id="310" presetID="22" presetClass="entr" presetSubtype="8" fill="hold" grpId="0" nodeType="withEffect">
                                  <p:stCondLst>
                                    <p:cond delay="0"/>
                                  </p:stCondLst>
                                  <p:childTnLst>
                                    <p:set>
                                      <p:cBhvr>
                                        <p:cTn id="311" dur="1" fill="hold">
                                          <p:stCondLst>
                                            <p:cond delay="0"/>
                                          </p:stCondLst>
                                        </p:cTn>
                                        <p:tgtEl>
                                          <p:spTgt spid="2382947"/>
                                        </p:tgtEl>
                                        <p:attrNameLst>
                                          <p:attrName>style.visibility</p:attrName>
                                        </p:attrNameLst>
                                      </p:cBhvr>
                                      <p:to>
                                        <p:strVal val="visible"/>
                                      </p:to>
                                    </p:set>
                                    <p:animEffect transition="in" filter="wipe(left)">
                                      <p:cBhvr>
                                        <p:cTn id="312" dur="500"/>
                                        <p:tgtEl>
                                          <p:spTgt spid="2382947"/>
                                        </p:tgtEl>
                                      </p:cBhvr>
                                    </p:animEffect>
                                  </p:childTnLst>
                                </p:cTn>
                              </p:par>
                            </p:childTnLst>
                          </p:cTn>
                        </p:par>
                        <p:par>
                          <p:cTn id="313" fill="hold">
                            <p:stCondLst>
                              <p:cond delay="1000"/>
                            </p:stCondLst>
                            <p:childTnLst>
                              <p:par>
                                <p:cTn id="314" presetID="22" presetClass="entr" presetSubtype="1" fill="hold" nodeType="afterEffect">
                                  <p:stCondLst>
                                    <p:cond delay="0"/>
                                  </p:stCondLst>
                                  <p:childTnLst>
                                    <p:set>
                                      <p:cBhvr>
                                        <p:cTn id="315" dur="1" fill="hold">
                                          <p:stCondLst>
                                            <p:cond delay="0"/>
                                          </p:stCondLst>
                                        </p:cTn>
                                        <p:tgtEl>
                                          <p:spTgt spid="2382946"/>
                                        </p:tgtEl>
                                        <p:attrNameLst>
                                          <p:attrName>style.visibility</p:attrName>
                                        </p:attrNameLst>
                                      </p:cBhvr>
                                      <p:to>
                                        <p:strVal val="visible"/>
                                      </p:to>
                                    </p:set>
                                    <p:animEffect transition="in" filter="wipe(up)">
                                      <p:cBhvr>
                                        <p:cTn id="316" dur="500"/>
                                        <p:tgtEl>
                                          <p:spTgt spid="2382946"/>
                                        </p:tgtEl>
                                      </p:cBhvr>
                                    </p:animEffect>
                                  </p:childTnLst>
                                </p:cTn>
                              </p:par>
                            </p:childTnLst>
                          </p:cTn>
                        </p:par>
                        <p:par>
                          <p:cTn id="317" fill="hold">
                            <p:stCondLst>
                              <p:cond delay="1500"/>
                            </p:stCondLst>
                            <p:childTnLst>
                              <p:par>
                                <p:cTn id="318" presetID="22" presetClass="entr" presetSubtype="8" fill="hold" nodeType="afterEffect">
                                  <p:stCondLst>
                                    <p:cond delay="0"/>
                                  </p:stCondLst>
                                  <p:childTnLst>
                                    <p:set>
                                      <p:cBhvr>
                                        <p:cTn id="319" dur="1" fill="hold">
                                          <p:stCondLst>
                                            <p:cond delay="0"/>
                                          </p:stCondLst>
                                        </p:cTn>
                                        <p:tgtEl>
                                          <p:spTgt spid="2382948"/>
                                        </p:tgtEl>
                                        <p:attrNameLst>
                                          <p:attrName>style.visibility</p:attrName>
                                        </p:attrNameLst>
                                      </p:cBhvr>
                                      <p:to>
                                        <p:strVal val="visible"/>
                                      </p:to>
                                    </p:set>
                                    <p:animEffect transition="in" filter="wipe(left)">
                                      <p:cBhvr>
                                        <p:cTn id="320" dur="500"/>
                                        <p:tgtEl>
                                          <p:spTgt spid="2382948"/>
                                        </p:tgtEl>
                                      </p:cBhvr>
                                    </p:animEffect>
                                  </p:childTnLst>
                                </p:cTn>
                              </p:par>
                            </p:childTnLst>
                          </p:cTn>
                        </p:par>
                      </p:childTnLst>
                    </p:cTn>
                  </p:par>
                  <p:par>
                    <p:cTn id="321" fill="hold">
                      <p:stCondLst>
                        <p:cond delay="indefinite"/>
                      </p:stCondLst>
                      <p:childTnLst>
                        <p:par>
                          <p:cTn id="322" fill="hold">
                            <p:stCondLst>
                              <p:cond delay="0"/>
                            </p:stCondLst>
                            <p:childTnLst>
                              <p:par>
                                <p:cTn id="323" presetID="22" presetClass="entr" presetSubtype="1" fill="hold" nodeType="clickEffect">
                                  <p:stCondLst>
                                    <p:cond delay="0"/>
                                  </p:stCondLst>
                                  <p:childTnLst>
                                    <p:set>
                                      <p:cBhvr>
                                        <p:cTn id="324" dur="1" fill="hold">
                                          <p:stCondLst>
                                            <p:cond delay="0"/>
                                          </p:stCondLst>
                                        </p:cTn>
                                        <p:tgtEl>
                                          <p:spTgt spid="2382909"/>
                                        </p:tgtEl>
                                        <p:attrNameLst>
                                          <p:attrName>style.visibility</p:attrName>
                                        </p:attrNameLst>
                                      </p:cBhvr>
                                      <p:to>
                                        <p:strVal val="visible"/>
                                      </p:to>
                                    </p:set>
                                    <p:animEffect transition="in" filter="wipe(up)">
                                      <p:cBhvr>
                                        <p:cTn id="325" dur="500"/>
                                        <p:tgtEl>
                                          <p:spTgt spid="2382909"/>
                                        </p:tgtEl>
                                      </p:cBhvr>
                                    </p:animEffect>
                                  </p:childTnLst>
                                </p:cTn>
                              </p:par>
                            </p:childTnLst>
                          </p:cTn>
                        </p:par>
                        <p:par>
                          <p:cTn id="326" fill="hold">
                            <p:stCondLst>
                              <p:cond delay="500"/>
                            </p:stCondLst>
                            <p:childTnLst>
                              <p:par>
                                <p:cTn id="327" presetID="22" presetClass="entr" presetSubtype="8" fill="hold" nodeType="afterEffect">
                                  <p:stCondLst>
                                    <p:cond delay="0"/>
                                  </p:stCondLst>
                                  <p:childTnLst>
                                    <p:set>
                                      <p:cBhvr>
                                        <p:cTn id="328" dur="1" fill="hold">
                                          <p:stCondLst>
                                            <p:cond delay="0"/>
                                          </p:stCondLst>
                                        </p:cTn>
                                        <p:tgtEl>
                                          <p:spTgt spid="2382910"/>
                                        </p:tgtEl>
                                        <p:attrNameLst>
                                          <p:attrName>style.visibility</p:attrName>
                                        </p:attrNameLst>
                                      </p:cBhvr>
                                      <p:to>
                                        <p:strVal val="visible"/>
                                      </p:to>
                                    </p:set>
                                    <p:animEffect transition="in" filter="wipe(left)">
                                      <p:cBhvr>
                                        <p:cTn id="329" dur="500"/>
                                        <p:tgtEl>
                                          <p:spTgt spid="2382910"/>
                                        </p:tgtEl>
                                      </p:cBhvr>
                                    </p:animEffect>
                                  </p:childTnLst>
                                </p:cTn>
                              </p:par>
                              <p:par>
                                <p:cTn id="330" presetID="22" presetClass="entr" presetSubtype="8" fill="hold" grpId="0" nodeType="withEffect">
                                  <p:stCondLst>
                                    <p:cond delay="0"/>
                                  </p:stCondLst>
                                  <p:childTnLst>
                                    <p:set>
                                      <p:cBhvr>
                                        <p:cTn id="331" dur="1" fill="hold">
                                          <p:stCondLst>
                                            <p:cond delay="0"/>
                                          </p:stCondLst>
                                        </p:cTn>
                                        <p:tgtEl>
                                          <p:spTgt spid="2382911"/>
                                        </p:tgtEl>
                                        <p:attrNameLst>
                                          <p:attrName>style.visibility</p:attrName>
                                        </p:attrNameLst>
                                      </p:cBhvr>
                                      <p:to>
                                        <p:strVal val="visible"/>
                                      </p:to>
                                    </p:set>
                                    <p:animEffect transition="in" filter="wipe(left)">
                                      <p:cBhvr>
                                        <p:cTn id="332" dur="500"/>
                                        <p:tgtEl>
                                          <p:spTgt spid="2382911"/>
                                        </p:tgtEl>
                                      </p:cBhvr>
                                    </p:animEffect>
                                  </p:childTnLst>
                                </p:cTn>
                              </p:par>
                            </p:childTnLst>
                          </p:cTn>
                        </p:par>
                      </p:childTnLst>
                    </p:cTn>
                  </p:par>
                  <p:par>
                    <p:cTn id="333" fill="hold">
                      <p:stCondLst>
                        <p:cond delay="indefinite"/>
                      </p:stCondLst>
                      <p:childTnLst>
                        <p:par>
                          <p:cTn id="334" fill="hold">
                            <p:stCondLst>
                              <p:cond delay="0"/>
                            </p:stCondLst>
                            <p:childTnLst>
                              <p:par>
                                <p:cTn id="335" presetID="22" presetClass="entr" presetSubtype="4" fill="hold" nodeType="clickEffect">
                                  <p:stCondLst>
                                    <p:cond delay="0"/>
                                  </p:stCondLst>
                                  <p:childTnLst>
                                    <p:set>
                                      <p:cBhvr>
                                        <p:cTn id="336" dur="1" fill="hold">
                                          <p:stCondLst>
                                            <p:cond delay="0"/>
                                          </p:stCondLst>
                                        </p:cTn>
                                        <p:tgtEl>
                                          <p:spTgt spid="2382949"/>
                                        </p:tgtEl>
                                        <p:attrNameLst>
                                          <p:attrName>style.visibility</p:attrName>
                                        </p:attrNameLst>
                                      </p:cBhvr>
                                      <p:to>
                                        <p:strVal val="visible"/>
                                      </p:to>
                                    </p:set>
                                    <p:animEffect transition="in" filter="wipe(down)">
                                      <p:cBhvr>
                                        <p:cTn id="337" dur="500"/>
                                        <p:tgtEl>
                                          <p:spTgt spid="2382949"/>
                                        </p:tgtEl>
                                      </p:cBhvr>
                                    </p:animEffect>
                                  </p:childTnLst>
                                </p:cTn>
                              </p:par>
                            </p:childTnLst>
                          </p:cTn>
                        </p:par>
                        <p:par>
                          <p:cTn id="338" fill="hold">
                            <p:stCondLst>
                              <p:cond delay="500"/>
                            </p:stCondLst>
                            <p:childTnLst>
                              <p:par>
                                <p:cTn id="339" presetID="22" presetClass="entr" presetSubtype="8" fill="hold" nodeType="afterEffect">
                                  <p:stCondLst>
                                    <p:cond delay="0"/>
                                  </p:stCondLst>
                                  <p:childTnLst>
                                    <p:set>
                                      <p:cBhvr>
                                        <p:cTn id="340" dur="1" fill="hold">
                                          <p:stCondLst>
                                            <p:cond delay="0"/>
                                          </p:stCondLst>
                                        </p:cTn>
                                        <p:tgtEl>
                                          <p:spTgt spid="2382950"/>
                                        </p:tgtEl>
                                        <p:attrNameLst>
                                          <p:attrName>style.visibility</p:attrName>
                                        </p:attrNameLst>
                                      </p:cBhvr>
                                      <p:to>
                                        <p:strVal val="visible"/>
                                      </p:to>
                                    </p:set>
                                    <p:animEffect transition="in" filter="wipe(left)">
                                      <p:cBhvr>
                                        <p:cTn id="341" dur="500"/>
                                        <p:tgtEl>
                                          <p:spTgt spid="2382950"/>
                                        </p:tgtEl>
                                      </p:cBhvr>
                                    </p:animEffect>
                                  </p:childTnLst>
                                </p:cTn>
                              </p:par>
                              <p:par>
                                <p:cTn id="342" presetID="22" presetClass="entr" presetSubtype="8" fill="hold" grpId="0" nodeType="withEffect">
                                  <p:stCondLst>
                                    <p:cond delay="0"/>
                                  </p:stCondLst>
                                  <p:childTnLst>
                                    <p:set>
                                      <p:cBhvr>
                                        <p:cTn id="343" dur="1" fill="hold">
                                          <p:stCondLst>
                                            <p:cond delay="0"/>
                                          </p:stCondLst>
                                        </p:cTn>
                                        <p:tgtEl>
                                          <p:spTgt spid="2382952"/>
                                        </p:tgtEl>
                                        <p:attrNameLst>
                                          <p:attrName>style.visibility</p:attrName>
                                        </p:attrNameLst>
                                      </p:cBhvr>
                                      <p:to>
                                        <p:strVal val="visible"/>
                                      </p:to>
                                    </p:set>
                                    <p:animEffect transition="in" filter="wipe(left)">
                                      <p:cBhvr>
                                        <p:cTn id="344" dur="500"/>
                                        <p:tgtEl>
                                          <p:spTgt spid="2382952"/>
                                        </p:tgtEl>
                                      </p:cBhvr>
                                    </p:animEffect>
                                  </p:childTnLst>
                                </p:cTn>
                              </p:par>
                            </p:childTnLst>
                          </p:cTn>
                        </p:par>
                        <p:par>
                          <p:cTn id="345" fill="hold">
                            <p:stCondLst>
                              <p:cond delay="1000"/>
                            </p:stCondLst>
                            <p:childTnLst>
                              <p:par>
                                <p:cTn id="346" presetID="22" presetClass="entr" presetSubtype="1" fill="hold" nodeType="afterEffect">
                                  <p:stCondLst>
                                    <p:cond delay="0"/>
                                  </p:stCondLst>
                                  <p:childTnLst>
                                    <p:set>
                                      <p:cBhvr>
                                        <p:cTn id="347" dur="1" fill="hold">
                                          <p:stCondLst>
                                            <p:cond delay="0"/>
                                          </p:stCondLst>
                                        </p:cTn>
                                        <p:tgtEl>
                                          <p:spTgt spid="2382951"/>
                                        </p:tgtEl>
                                        <p:attrNameLst>
                                          <p:attrName>style.visibility</p:attrName>
                                        </p:attrNameLst>
                                      </p:cBhvr>
                                      <p:to>
                                        <p:strVal val="visible"/>
                                      </p:to>
                                    </p:set>
                                    <p:animEffect transition="in" filter="wipe(up)">
                                      <p:cBhvr>
                                        <p:cTn id="348" dur="500"/>
                                        <p:tgtEl>
                                          <p:spTgt spid="2382951"/>
                                        </p:tgtEl>
                                      </p:cBhvr>
                                    </p:animEffect>
                                  </p:childTnLst>
                                </p:cTn>
                              </p:par>
                            </p:childTnLst>
                          </p:cTn>
                        </p:par>
                        <p:par>
                          <p:cTn id="349" fill="hold">
                            <p:stCondLst>
                              <p:cond delay="1500"/>
                            </p:stCondLst>
                            <p:childTnLst>
                              <p:par>
                                <p:cTn id="350" presetID="22" presetClass="entr" presetSubtype="8" fill="hold" nodeType="afterEffect">
                                  <p:stCondLst>
                                    <p:cond delay="0"/>
                                  </p:stCondLst>
                                  <p:childTnLst>
                                    <p:set>
                                      <p:cBhvr>
                                        <p:cTn id="351" dur="1" fill="hold">
                                          <p:stCondLst>
                                            <p:cond delay="0"/>
                                          </p:stCondLst>
                                        </p:cTn>
                                        <p:tgtEl>
                                          <p:spTgt spid="2382953"/>
                                        </p:tgtEl>
                                        <p:attrNameLst>
                                          <p:attrName>style.visibility</p:attrName>
                                        </p:attrNameLst>
                                      </p:cBhvr>
                                      <p:to>
                                        <p:strVal val="visible"/>
                                      </p:to>
                                    </p:set>
                                    <p:animEffect transition="in" filter="wipe(left)">
                                      <p:cBhvr>
                                        <p:cTn id="352" dur="500"/>
                                        <p:tgtEl>
                                          <p:spTgt spid="2382953"/>
                                        </p:tgtEl>
                                      </p:cBhvr>
                                    </p:animEffect>
                                  </p:childTnLst>
                                </p:cTn>
                              </p:par>
                            </p:childTnLst>
                          </p:cTn>
                        </p:par>
                      </p:childTnLst>
                    </p:cTn>
                  </p:par>
                  <p:par>
                    <p:cTn id="353" fill="hold">
                      <p:stCondLst>
                        <p:cond delay="indefinite"/>
                      </p:stCondLst>
                      <p:childTnLst>
                        <p:par>
                          <p:cTn id="354" fill="hold">
                            <p:stCondLst>
                              <p:cond delay="0"/>
                            </p:stCondLst>
                            <p:childTnLst>
                              <p:par>
                                <p:cTn id="355" presetID="22" presetClass="entr" presetSubtype="4" fill="hold" nodeType="clickEffect">
                                  <p:stCondLst>
                                    <p:cond delay="0"/>
                                  </p:stCondLst>
                                  <p:childTnLst>
                                    <p:set>
                                      <p:cBhvr>
                                        <p:cTn id="356" dur="1" fill="hold">
                                          <p:stCondLst>
                                            <p:cond delay="0"/>
                                          </p:stCondLst>
                                        </p:cTn>
                                        <p:tgtEl>
                                          <p:spTgt spid="2382912"/>
                                        </p:tgtEl>
                                        <p:attrNameLst>
                                          <p:attrName>style.visibility</p:attrName>
                                        </p:attrNameLst>
                                      </p:cBhvr>
                                      <p:to>
                                        <p:strVal val="visible"/>
                                      </p:to>
                                    </p:set>
                                    <p:animEffect transition="in" filter="wipe(down)">
                                      <p:cBhvr>
                                        <p:cTn id="357" dur="500"/>
                                        <p:tgtEl>
                                          <p:spTgt spid="2382912"/>
                                        </p:tgtEl>
                                      </p:cBhvr>
                                    </p:animEffect>
                                  </p:childTnLst>
                                </p:cTn>
                              </p:par>
                            </p:childTnLst>
                          </p:cTn>
                        </p:par>
                        <p:par>
                          <p:cTn id="358" fill="hold">
                            <p:stCondLst>
                              <p:cond delay="500"/>
                            </p:stCondLst>
                            <p:childTnLst>
                              <p:par>
                                <p:cTn id="359" presetID="22" presetClass="entr" presetSubtype="8" fill="hold" nodeType="afterEffect">
                                  <p:stCondLst>
                                    <p:cond delay="0"/>
                                  </p:stCondLst>
                                  <p:childTnLst>
                                    <p:set>
                                      <p:cBhvr>
                                        <p:cTn id="360" dur="1" fill="hold">
                                          <p:stCondLst>
                                            <p:cond delay="0"/>
                                          </p:stCondLst>
                                        </p:cTn>
                                        <p:tgtEl>
                                          <p:spTgt spid="2382913"/>
                                        </p:tgtEl>
                                        <p:attrNameLst>
                                          <p:attrName>style.visibility</p:attrName>
                                        </p:attrNameLst>
                                      </p:cBhvr>
                                      <p:to>
                                        <p:strVal val="visible"/>
                                      </p:to>
                                    </p:set>
                                    <p:animEffect transition="in" filter="wipe(left)">
                                      <p:cBhvr>
                                        <p:cTn id="361" dur="500"/>
                                        <p:tgtEl>
                                          <p:spTgt spid="2382913"/>
                                        </p:tgtEl>
                                      </p:cBhvr>
                                    </p:animEffect>
                                  </p:childTnLst>
                                </p:cTn>
                              </p:par>
                              <p:par>
                                <p:cTn id="362" presetID="22" presetClass="entr" presetSubtype="8" fill="hold" grpId="0" nodeType="withEffect">
                                  <p:stCondLst>
                                    <p:cond delay="0"/>
                                  </p:stCondLst>
                                  <p:childTnLst>
                                    <p:set>
                                      <p:cBhvr>
                                        <p:cTn id="363" dur="1" fill="hold">
                                          <p:stCondLst>
                                            <p:cond delay="0"/>
                                          </p:stCondLst>
                                        </p:cTn>
                                        <p:tgtEl>
                                          <p:spTgt spid="2382914"/>
                                        </p:tgtEl>
                                        <p:attrNameLst>
                                          <p:attrName>style.visibility</p:attrName>
                                        </p:attrNameLst>
                                      </p:cBhvr>
                                      <p:to>
                                        <p:strVal val="visible"/>
                                      </p:to>
                                    </p:set>
                                    <p:animEffect transition="in" filter="wipe(left)">
                                      <p:cBhvr>
                                        <p:cTn id="364" dur="500"/>
                                        <p:tgtEl>
                                          <p:spTgt spid="2382914"/>
                                        </p:tgtEl>
                                      </p:cBhvr>
                                    </p:animEffect>
                                  </p:childTnLst>
                                </p:cTn>
                              </p:par>
                            </p:childTnLst>
                          </p:cTn>
                        </p:par>
                      </p:childTnLst>
                    </p:cTn>
                  </p:par>
                  <p:par>
                    <p:cTn id="365" fill="hold">
                      <p:stCondLst>
                        <p:cond delay="indefinite"/>
                      </p:stCondLst>
                      <p:childTnLst>
                        <p:par>
                          <p:cTn id="366" fill="hold">
                            <p:stCondLst>
                              <p:cond delay="0"/>
                            </p:stCondLst>
                            <p:childTnLst>
                              <p:par>
                                <p:cTn id="367" presetID="22" presetClass="entr" presetSubtype="4" fill="hold" nodeType="clickEffect">
                                  <p:stCondLst>
                                    <p:cond delay="0"/>
                                  </p:stCondLst>
                                  <p:childTnLst>
                                    <p:set>
                                      <p:cBhvr>
                                        <p:cTn id="368" dur="1" fill="hold">
                                          <p:stCondLst>
                                            <p:cond delay="0"/>
                                          </p:stCondLst>
                                        </p:cTn>
                                        <p:tgtEl>
                                          <p:spTgt spid="2382954"/>
                                        </p:tgtEl>
                                        <p:attrNameLst>
                                          <p:attrName>style.visibility</p:attrName>
                                        </p:attrNameLst>
                                      </p:cBhvr>
                                      <p:to>
                                        <p:strVal val="visible"/>
                                      </p:to>
                                    </p:set>
                                    <p:animEffect transition="in" filter="wipe(down)">
                                      <p:cBhvr>
                                        <p:cTn id="369" dur="500"/>
                                        <p:tgtEl>
                                          <p:spTgt spid="2382954"/>
                                        </p:tgtEl>
                                      </p:cBhvr>
                                    </p:animEffect>
                                  </p:childTnLst>
                                </p:cTn>
                              </p:par>
                            </p:childTnLst>
                          </p:cTn>
                        </p:par>
                        <p:par>
                          <p:cTn id="370" fill="hold">
                            <p:stCondLst>
                              <p:cond delay="500"/>
                            </p:stCondLst>
                            <p:childTnLst>
                              <p:par>
                                <p:cTn id="371" presetID="22" presetClass="entr" presetSubtype="8" fill="hold" nodeType="afterEffect">
                                  <p:stCondLst>
                                    <p:cond delay="0"/>
                                  </p:stCondLst>
                                  <p:childTnLst>
                                    <p:set>
                                      <p:cBhvr>
                                        <p:cTn id="372" dur="1" fill="hold">
                                          <p:stCondLst>
                                            <p:cond delay="0"/>
                                          </p:stCondLst>
                                        </p:cTn>
                                        <p:tgtEl>
                                          <p:spTgt spid="2382955"/>
                                        </p:tgtEl>
                                        <p:attrNameLst>
                                          <p:attrName>style.visibility</p:attrName>
                                        </p:attrNameLst>
                                      </p:cBhvr>
                                      <p:to>
                                        <p:strVal val="visible"/>
                                      </p:to>
                                    </p:set>
                                    <p:animEffect transition="in" filter="wipe(left)">
                                      <p:cBhvr>
                                        <p:cTn id="373" dur="500"/>
                                        <p:tgtEl>
                                          <p:spTgt spid="2382955"/>
                                        </p:tgtEl>
                                      </p:cBhvr>
                                    </p:animEffect>
                                  </p:childTnLst>
                                </p:cTn>
                              </p:par>
                              <p:par>
                                <p:cTn id="374" presetID="22" presetClass="entr" presetSubtype="8" fill="hold" grpId="0" nodeType="withEffect">
                                  <p:stCondLst>
                                    <p:cond delay="0"/>
                                  </p:stCondLst>
                                  <p:childTnLst>
                                    <p:set>
                                      <p:cBhvr>
                                        <p:cTn id="375" dur="1" fill="hold">
                                          <p:stCondLst>
                                            <p:cond delay="0"/>
                                          </p:stCondLst>
                                        </p:cTn>
                                        <p:tgtEl>
                                          <p:spTgt spid="2382957"/>
                                        </p:tgtEl>
                                        <p:attrNameLst>
                                          <p:attrName>style.visibility</p:attrName>
                                        </p:attrNameLst>
                                      </p:cBhvr>
                                      <p:to>
                                        <p:strVal val="visible"/>
                                      </p:to>
                                    </p:set>
                                    <p:animEffect transition="in" filter="wipe(left)">
                                      <p:cBhvr>
                                        <p:cTn id="376" dur="500"/>
                                        <p:tgtEl>
                                          <p:spTgt spid="2382957"/>
                                        </p:tgtEl>
                                      </p:cBhvr>
                                    </p:animEffect>
                                  </p:childTnLst>
                                </p:cTn>
                              </p:par>
                            </p:childTnLst>
                          </p:cTn>
                        </p:par>
                        <p:par>
                          <p:cTn id="377" fill="hold">
                            <p:stCondLst>
                              <p:cond delay="1000"/>
                            </p:stCondLst>
                            <p:childTnLst>
                              <p:par>
                                <p:cTn id="378" presetID="22" presetClass="entr" presetSubtype="1" fill="hold" nodeType="afterEffect">
                                  <p:stCondLst>
                                    <p:cond delay="0"/>
                                  </p:stCondLst>
                                  <p:childTnLst>
                                    <p:set>
                                      <p:cBhvr>
                                        <p:cTn id="379" dur="1" fill="hold">
                                          <p:stCondLst>
                                            <p:cond delay="0"/>
                                          </p:stCondLst>
                                        </p:cTn>
                                        <p:tgtEl>
                                          <p:spTgt spid="2382956"/>
                                        </p:tgtEl>
                                        <p:attrNameLst>
                                          <p:attrName>style.visibility</p:attrName>
                                        </p:attrNameLst>
                                      </p:cBhvr>
                                      <p:to>
                                        <p:strVal val="visible"/>
                                      </p:to>
                                    </p:set>
                                    <p:animEffect transition="in" filter="wipe(up)">
                                      <p:cBhvr>
                                        <p:cTn id="380" dur="500"/>
                                        <p:tgtEl>
                                          <p:spTgt spid="2382956"/>
                                        </p:tgtEl>
                                      </p:cBhvr>
                                    </p:animEffect>
                                  </p:childTnLst>
                                </p:cTn>
                              </p:par>
                            </p:childTnLst>
                          </p:cTn>
                        </p:par>
                        <p:par>
                          <p:cTn id="381" fill="hold">
                            <p:stCondLst>
                              <p:cond delay="1500"/>
                            </p:stCondLst>
                            <p:childTnLst>
                              <p:par>
                                <p:cTn id="382" presetID="22" presetClass="entr" presetSubtype="8" fill="hold" nodeType="afterEffect">
                                  <p:stCondLst>
                                    <p:cond delay="0"/>
                                  </p:stCondLst>
                                  <p:childTnLst>
                                    <p:set>
                                      <p:cBhvr>
                                        <p:cTn id="383" dur="1" fill="hold">
                                          <p:stCondLst>
                                            <p:cond delay="0"/>
                                          </p:stCondLst>
                                        </p:cTn>
                                        <p:tgtEl>
                                          <p:spTgt spid="2382958"/>
                                        </p:tgtEl>
                                        <p:attrNameLst>
                                          <p:attrName>style.visibility</p:attrName>
                                        </p:attrNameLst>
                                      </p:cBhvr>
                                      <p:to>
                                        <p:strVal val="visible"/>
                                      </p:to>
                                    </p:set>
                                    <p:animEffect transition="in" filter="wipe(left)">
                                      <p:cBhvr>
                                        <p:cTn id="384" dur="500"/>
                                        <p:tgtEl>
                                          <p:spTgt spid="2382958"/>
                                        </p:tgtEl>
                                      </p:cBhvr>
                                    </p:animEffect>
                                  </p:childTnLst>
                                </p:cTn>
                              </p:par>
                            </p:childTnLst>
                          </p:cTn>
                        </p:par>
                      </p:childTnLst>
                    </p:cTn>
                  </p:par>
                  <p:par>
                    <p:cTn id="385" fill="hold">
                      <p:stCondLst>
                        <p:cond delay="indefinite"/>
                      </p:stCondLst>
                      <p:childTnLst>
                        <p:par>
                          <p:cTn id="386" fill="hold">
                            <p:stCondLst>
                              <p:cond delay="0"/>
                            </p:stCondLst>
                            <p:childTnLst>
                              <p:par>
                                <p:cTn id="387" presetID="22" presetClass="entr" presetSubtype="4" fill="hold" nodeType="clickEffect">
                                  <p:stCondLst>
                                    <p:cond delay="0"/>
                                  </p:stCondLst>
                                  <p:childTnLst>
                                    <p:set>
                                      <p:cBhvr>
                                        <p:cTn id="388" dur="1" fill="hold">
                                          <p:stCondLst>
                                            <p:cond delay="0"/>
                                          </p:stCondLst>
                                        </p:cTn>
                                        <p:tgtEl>
                                          <p:spTgt spid="2382915"/>
                                        </p:tgtEl>
                                        <p:attrNameLst>
                                          <p:attrName>style.visibility</p:attrName>
                                        </p:attrNameLst>
                                      </p:cBhvr>
                                      <p:to>
                                        <p:strVal val="visible"/>
                                      </p:to>
                                    </p:set>
                                    <p:animEffect transition="in" filter="wipe(down)">
                                      <p:cBhvr>
                                        <p:cTn id="389" dur="500"/>
                                        <p:tgtEl>
                                          <p:spTgt spid="2382915"/>
                                        </p:tgtEl>
                                      </p:cBhvr>
                                    </p:animEffect>
                                  </p:childTnLst>
                                </p:cTn>
                              </p:par>
                            </p:childTnLst>
                          </p:cTn>
                        </p:par>
                        <p:par>
                          <p:cTn id="390" fill="hold">
                            <p:stCondLst>
                              <p:cond delay="500"/>
                            </p:stCondLst>
                            <p:childTnLst>
                              <p:par>
                                <p:cTn id="391" presetID="22" presetClass="entr" presetSubtype="8" fill="hold" nodeType="afterEffect">
                                  <p:stCondLst>
                                    <p:cond delay="0"/>
                                  </p:stCondLst>
                                  <p:childTnLst>
                                    <p:set>
                                      <p:cBhvr>
                                        <p:cTn id="392" dur="1" fill="hold">
                                          <p:stCondLst>
                                            <p:cond delay="0"/>
                                          </p:stCondLst>
                                        </p:cTn>
                                        <p:tgtEl>
                                          <p:spTgt spid="2382916"/>
                                        </p:tgtEl>
                                        <p:attrNameLst>
                                          <p:attrName>style.visibility</p:attrName>
                                        </p:attrNameLst>
                                      </p:cBhvr>
                                      <p:to>
                                        <p:strVal val="visible"/>
                                      </p:to>
                                    </p:set>
                                    <p:animEffect transition="in" filter="wipe(left)">
                                      <p:cBhvr>
                                        <p:cTn id="393" dur="500"/>
                                        <p:tgtEl>
                                          <p:spTgt spid="2382916"/>
                                        </p:tgtEl>
                                      </p:cBhvr>
                                    </p:animEffect>
                                  </p:childTnLst>
                                </p:cTn>
                              </p:par>
                              <p:par>
                                <p:cTn id="394" presetID="22" presetClass="entr" presetSubtype="8" fill="hold" grpId="0" nodeType="withEffect">
                                  <p:stCondLst>
                                    <p:cond delay="0"/>
                                  </p:stCondLst>
                                  <p:childTnLst>
                                    <p:set>
                                      <p:cBhvr>
                                        <p:cTn id="395" dur="1" fill="hold">
                                          <p:stCondLst>
                                            <p:cond delay="0"/>
                                          </p:stCondLst>
                                        </p:cTn>
                                        <p:tgtEl>
                                          <p:spTgt spid="2382917"/>
                                        </p:tgtEl>
                                        <p:attrNameLst>
                                          <p:attrName>style.visibility</p:attrName>
                                        </p:attrNameLst>
                                      </p:cBhvr>
                                      <p:to>
                                        <p:strVal val="visible"/>
                                      </p:to>
                                    </p:set>
                                    <p:animEffect transition="in" filter="wipe(left)">
                                      <p:cBhvr>
                                        <p:cTn id="396" dur="500"/>
                                        <p:tgtEl>
                                          <p:spTgt spid="2382917"/>
                                        </p:tgtEl>
                                      </p:cBhvr>
                                    </p:animEffect>
                                  </p:childTnLst>
                                </p:cTn>
                              </p:par>
                            </p:childTnLst>
                          </p:cTn>
                        </p:par>
                      </p:childTnLst>
                    </p:cTn>
                  </p:par>
                  <p:par>
                    <p:cTn id="397" fill="hold">
                      <p:stCondLst>
                        <p:cond delay="indefinite"/>
                      </p:stCondLst>
                      <p:childTnLst>
                        <p:par>
                          <p:cTn id="398" fill="hold">
                            <p:stCondLst>
                              <p:cond delay="0"/>
                            </p:stCondLst>
                            <p:childTnLst>
                              <p:par>
                                <p:cTn id="399" presetID="22" presetClass="entr" presetSubtype="4" fill="hold" nodeType="clickEffect">
                                  <p:stCondLst>
                                    <p:cond delay="0"/>
                                  </p:stCondLst>
                                  <p:childTnLst>
                                    <p:set>
                                      <p:cBhvr>
                                        <p:cTn id="400" dur="1" fill="hold">
                                          <p:stCondLst>
                                            <p:cond delay="0"/>
                                          </p:stCondLst>
                                        </p:cTn>
                                        <p:tgtEl>
                                          <p:spTgt spid="2382959"/>
                                        </p:tgtEl>
                                        <p:attrNameLst>
                                          <p:attrName>style.visibility</p:attrName>
                                        </p:attrNameLst>
                                      </p:cBhvr>
                                      <p:to>
                                        <p:strVal val="visible"/>
                                      </p:to>
                                    </p:set>
                                    <p:animEffect transition="in" filter="wipe(down)">
                                      <p:cBhvr>
                                        <p:cTn id="401" dur="500"/>
                                        <p:tgtEl>
                                          <p:spTgt spid="2382959"/>
                                        </p:tgtEl>
                                      </p:cBhvr>
                                    </p:animEffect>
                                  </p:childTnLst>
                                </p:cTn>
                              </p:par>
                            </p:childTnLst>
                          </p:cTn>
                        </p:par>
                        <p:par>
                          <p:cTn id="402" fill="hold">
                            <p:stCondLst>
                              <p:cond delay="500"/>
                            </p:stCondLst>
                            <p:childTnLst>
                              <p:par>
                                <p:cTn id="403" presetID="22" presetClass="entr" presetSubtype="8" fill="hold" nodeType="afterEffect">
                                  <p:stCondLst>
                                    <p:cond delay="0"/>
                                  </p:stCondLst>
                                  <p:childTnLst>
                                    <p:set>
                                      <p:cBhvr>
                                        <p:cTn id="404" dur="1" fill="hold">
                                          <p:stCondLst>
                                            <p:cond delay="0"/>
                                          </p:stCondLst>
                                        </p:cTn>
                                        <p:tgtEl>
                                          <p:spTgt spid="2382960"/>
                                        </p:tgtEl>
                                        <p:attrNameLst>
                                          <p:attrName>style.visibility</p:attrName>
                                        </p:attrNameLst>
                                      </p:cBhvr>
                                      <p:to>
                                        <p:strVal val="visible"/>
                                      </p:to>
                                    </p:set>
                                    <p:animEffect transition="in" filter="wipe(left)">
                                      <p:cBhvr>
                                        <p:cTn id="405" dur="500"/>
                                        <p:tgtEl>
                                          <p:spTgt spid="2382960"/>
                                        </p:tgtEl>
                                      </p:cBhvr>
                                    </p:animEffect>
                                  </p:childTnLst>
                                </p:cTn>
                              </p:par>
                              <p:par>
                                <p:cTn id="406" presetID="22" presetClass="entr" presetSubtype="8" fill="hold" grpId="0" nodeType="withEffect">
                                  <p:stCondLst>
                                    <p:cond delay="0"/>
                                  </p:stCondLst>
                                  <p:childTnLst>
                                    <p:set>
                                      <p:cBhvr>
                                        <p:cTn id="407" dur="1" fill="hold">
                                          <p:stCondLst>
                                            <p:cond delay="0"/>
                                          </p:stCondLst>
                                        </p:cTn>
                                        <p:tgtEl>
                                          <p:spTgt spid="2382962"/>
                                        </p:tgtEl>
                                        <p:attrNameLst>
                                          <p:attrName>style.visibility</p:attrName>
                                        </p:attrNameLst>
                                      </p:cBhvr>
                                      <p:to>
                                        <p:strVal val="visible"/>
                                      </p:to>
                                    </p:set>
                                    <p:animEffect transition="in" filter="wipe(left)">
                                      <p:cBhvr>
                                        <p:cTn id="408" dur="500"/>
                                        <p:tgtEl>
                                          <p:spTgt spid="2382962"/>
                                        </p:tgtEl>
                                      </p:cBhvr>
                                    </p:animEffect>
                                  </p:childTnLst>
                                </p:cTn>
                              </p:par>
                            </p:childTnLst>
                          </p:cTn>
                        </p:par>
                        <p:par>
                          <p:cTn id="409" fill="hold">
                            <p:stCondLst>
                              <p:cond delay="1000"/>
                            </p:stCondLst>
                            <p:childTnLst>
                              <p:par>
                                <p:cTn id="410" presetID="22" presetClass="entr" presetSubtype="1" fill="hold" nodeType="afterEffect">
                                  <p:stCondLst>
                                    <p:cond delay="0"/>
                                  </p:stCondLst>
                                  <p:childTnLst>
                                    <p:set>
                                      <p:cBhvr>
                                        <p:cTn id="411" dur="1" fill="hold">
                                          <p:stCondLst>
                                            <p:cond delay="0"/>
                                          </p:stCondLst>
                                        </p:cTn>
                                        <p:tgtEl>
                                          <p:spTgt spid="2382961"/>
                                        </p:tgtEl>
                                        <p:attrNameLst>
                                          <p:attrName>style.visibility</p:attrName>
                                        </p:attrNameLst>
                                      </p:cBhvr>
                                      <p:to>
                                        <p:strVal val="visible"/>
                                      </p:to>
                                    </p:set>
                                    <p:animEffect transition="in" filter="wipe(up)">
                                      <p:cBhvr>
                                        <p:cTn id="412" dur="500"/>
                                        <p:tgtEl>
                                          <p:spTgt spid="2382961"/>
                                        </p:tgtEl>
                                      </p:cBhvr>
                                    </p:animEffect>
                                  </p:childTnLst>
                                </p:cTn>
                              </p:par>
                            </p:childTnLst>
                          </p:cTn>
                        </p:par>
                        <p:par>
                          <p:cTn id="413" fill="hold">
                            <p:stCondLst>
                              <p:cond delay="1500"/>
                            </p:stCondLst>
                            <p:childTnLst>
                              <p:par>
                                <p:cTn id="414" presetID="22" presetClass="entr" presetSubtype="8" fill="hold" nodeType="afterEffect">
                                  <p:stCondLst>
                                    <p:cond delay="0"/>
                                  </p:stCondLst>
                                  <p:childTnLst>
                                    <p:set>
                                      <p:cBhvr>
                                        <p:cTn id="415" dur="1" fill="hold">
                                          <p:stCondLst>
                                            <p:cond delay="0"/>
                                          </p:stCondLst>
                                        </p:cTn>
                                        <p:tgtEl>
                                          <p:spTgt spid="2382963"/>
                                        </p:tgtEl>
                                        <p:attrNameLst>
                                          <p:attrName>style.visibility</p:attrName>
                                        </p:attrNameLst>
                                      </p:cBhvr>
                                      <p:to>
                                        <p:strVal val="visible"/>
                                      </p:to>
                                    </p:set>
                                    <p:animEffect transition="in" filter="wipe(left)">
                                      <p:cBhvr>
                                        <p:cTn id="416" dur="500"/>
                                        <p:tgtEl>
                                          <p:spTgt spid="2382963"/>
                                        </p:tgtEl>
                                      </p:cBhvr>
                                    </p:animEffect>
                                  </p:childTnLst>
                                </p:cTn>
                              </p:par>
                            </p:childTnLst>
                          </p:cTn>
                        </p:par>
                      </p:childTnLst>
                    </p:cTn>
                  </p:par>
                  <p:par>
                    <p:cTn id="417" fill="hold">
                      <p:stCondLst>
                        <p:cond delay="indefinite"/>
                      </p:stCondLst>
                      <p:childTnLst>
                        <p:par>
                          <p:cTn id="418" fill="hold">
                            <p:stCondLst>
                              <p:cond delay="0"/>
                            </p:stCondLst>
                            <p:childTnLst>
                              <p:par>
                                <p:cTn id="419" presetID="22" presetClass="entr" presetSubtype="8" fill="hold" nodeType="clickEffect">
                                  <p:stCondLst>
                                    <p:cond delay="0"/>
                                  </p:stCondLst>
                                  <p:childTnLst>
                                    <p:set>
                                      <p:cBhvr>
                                        <p:cTn id="420" dur="1" fill="hold">
                                          <p:stCondLst>
                                            <p:cond delay="0"/>
                                          </p:stCondLst>
                                        </p:cTn>
                                        <p:tgtEl>
                                          <p:spTgt spid="2382918"/>
                                        </p:tgtEl>
                                        <p:attrNameLst>
                                          <p:attrName>style.visibility</p:attrName>
                                        </p:attrNameLst>
                                      </p:cBhvr>
                                      <p:to>
                                        <p:strVal val="visible"/>
                                      </p:to>
                                    </p:set>
                                    <p:animEffect transition="in" filter="wipe(left)">
                                      <p:cBhvr>
                                        <p:cTn id="421" dur="500"/>
                                        <p:tgtEl>
                                          <p:spTgt spid="2382918"/>
                                        </p:tgtEl>
                                      </p:cBhvr>
                                    </p:animEffect>
                                  </p:childTnLst>
                                </p:cTn>
                              </p:par>
                            </p:childTnLst>
                          </p:cTn>
                        </p:par>
                        <p:par>
                          <p:cTn id="422" fill="hold">
                            <p:stCondLst>
                              <p:cond delay="500"/>
                            </p:stCondLst>
                            <p:childTnLst>
                              <p:par>
                                <p:cTn id="423" presetID="22" presetClass="entr" presetSubtype="8" fill="hold" nodeType="afterEffect">
                                  <p:stCondLst>
                                    <p:cond delay="0"/>
                                  </p:stCondLst>
                                  <p:childTnLst>
                                    <p:set>
                                      <p:cBhvr>
                                        <p:cTn id="424" dur="1" fill="hold">
                                          <p:stCondLst>
                                            <p:cond delay="0"/>
                                          </p:stCondLst>
                                        </p:cTn>
                                        <p:tgtEl>
                                          <p:spTgt spid="2382919"/>
                                        </p:tgtEl>
                                        <p:attrNameLst>
                                          <p:attrName>style.visibility</p:attrName>
                                        </p:attrNameLst>
                                      </p:cBhvr>
                                      <p:to>
                                        <p:strVal val="visible"/>
                                      </p:to>
                                    </p:set>
                                    <p:animEffect transition="in" filter="wipe(left)">
                                      <p:cBhvr>
                                        <p:cTn id="425" dur="500"/>
                                        <p:tgtEl>
                                          <p:spTgt spid="2382919"/>
                                        </p:tgtEl>
                                      </p:cBhvr>
                                    </p:animEffect>
                                  </p:childTnLst>
                                </p:cTn>
                              </p:par>
                              <p:par>
                                <p:cTn id="426" presetID="22" presetClass="entr" presetSubtype="8" fill="hold" grpId="0" nodeType="withEffect">
                                  <p:stCondLst>
                                    <p:cond delay="0"/>
                                  </p:stCondLst>
                                  <p:childTnLst>
                                    <p:set>
                                      <p:cBhvr>
                                        <p:cTn id="427" dur="1" fill="hold">
                                          <p:stCondLst>
                                            <p:cond delay="0"/>
                                          </p:stCondLst>
                                        </p:cTn>
                                        <p:tgtEl>
                                          <p:spTgt spid="2382920"/>
                                        </p:tgtEl>
                                        <p:attrNameLst>
                                          <p:attrName>style.visibility</p:attrName>
                                        </p:attrNameLst>
                                      </p:cBhvr>
                                      <p:to>
                                        <p:strVal val="visible"/>
                                      </p:to>
                                    </p:set>
                                    <p:animEffect transition="in" filter="wipe(left)">
                                      <p:cBhvr>
                                        <p:cTn id="428" dur="500"/>
                                        <p:tgtEl>
                                          <p:spTgt spid="2382920"/>
                                        </p:tgtEl>
                                      </p:cBhvr>
                                    </p:animEffect>
                                  </p:childTnLst>
                                </p:cTn>
                              </p:par>
                            </p:childTnLst>
                          </p:cTn>
                        </p:par>
                      </p:childTnLst>
                    </p:cTn>
                  </p:par>
                  <p:par>
                    <p:cTn id="429" fill="hold">
                      <p:stCondLst>
                        <p:cond delay="indefinite"/>
                      </p:stCondLst>
                      <p:childTnLst>
                        <p:par>
                          <p:cTn id="430" fill="hold">
                            <p:stCondLst>
                              <p:cond delay="0"/>
                            </p:stCondLst>
                            <p:childTnLst>
                              <p:par>
                                <p:cTn id="431" presetID="9" presetClass="entr" presetSubtype="0" fill="hold" nodeType="clickEffect">
                                  <p:stCondLst>
                                    <p:cond delay="0"/>
                                  </p:stCondLst>
                                  <p:childTnLst>
                                    <p:set>
                                      <p:cBhvr>
                                        <p:cTn id="432" dur="1" fill="hold">
                                          <p:stCondLst>
                                            <p:cond delay="0"/>
                                          </p:stCondLst>
                                        </p:cTn>
                                        <p:tgtEl>
                                          <p:spTgt spid="2382967">
                                            <p:txEl>
                                              <p:charRg st="36" end="79"/>
                                            </p:txEl>
                                          </p:spTgt>
                                        </p:tgtEl>
                                        <p:attrNameLst>
                                          <p:attrName>style.visibility</p:attrName>
                                        </p:attrNameLst>
                                      </p:cBhvr>
                                      <p:to>
                                        <p:strVal val="visible"/>
                                      </p:to>
                                    </p:set>
                                    <p:animEffect transition="in" filter="dissolve">
                                      <p:cBhvr>
                                        <p:cTn id="433" dur="500"/>
                                        <p:tgtEl>
                                          <p:spTgt spid="2382967">
                                            <p:txEl>
                                              <p:charRg st="36" end="7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2965" grpId="0" bldLvl="0" animBg="1"/>
      <p:bldP spid="2382852" grpId="0" build="p"/>
      <p:bldP spid="2382861" grpId="0"/>
      <p:bldP spid="2382862" grpId="0" build="allAtOnce"/>
      <p:bldP spid="2382866" grpId="0"/>
      <p:bldP spid="2382867" grpId="0"/>
      <p:bldP spid="2382869" grpId="0"/>
      <p:bldP spid="2382871" grpId="0"/>
      <p:bldP spid="2382873" grpId="0"/>
      <p:bldP spid="2382875" grpId="0"/>
      <p:bldP spid="2382877" grpId="0"/>
      <p:bldP spid="2382879" grpId="0"/>
      <p:bldP spid="2382881" grpId="0"/>
      <p:bldP spid="2382883" grpId="0"/>
      <p:bldP spid="2382885" grpId="0"/>
      <p:bldP spid="2382895" grpId="0"/>
      <p:bldP spid="2382897" grpId="0"/>
      <p:bldP spid="2382898" grpId="0"/>
      <p:bldP spid="2382902" grpId="0"/>
      <p:bldP spid="2382905" grpId="0"/>
      <p:bldP spid="2382908" grpId="0"/>
      <p:bldP spid="2382911" grpId="0"/>
      <p:bldP spid="2382914" grpId="0"/>
      <p:bldP spid="2382917" grpId="0"/>
      <p:bldP spid="2382920" grpId="0"/>
      <p:bldP spid="2382921" grpId="0"/>
      <p:bldP spid="2382922" grpId="0"/>
      <p:bldP spid="2382927" grpId="0"/>
      <p:bldP spid="2382932" grpId="0"/>
      <p:bldP spid="2382937" grpId="0"/>
      <p:bldP spid="2382942" grpId="0"/>
      <p:bldP spid="2382947" grpId="0"/>
      <p:bldP spid="2382952" grpId="0"/>
      <p:bldP spid="2382957" grpId="0"/>
      <p:bldP spid="2382962" grpId="0"/>
      <p:bldP spid="2382964" grpId="0"/>
      <p:bldP spid="2382966" grpId="0" build="allAtOnce"/>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7971" name="Text Box 3"/>
          <p:cNvSpPr txBox="1"/>
          <p:nvPr/>
        </p:nvSpPr>
        <p:spPr>
          <a:xfrm>
            <a:off x="2627313" y="5661025"/>
            <a:ext cx="3605212" cy="457200"/>
          </a:xfrm>
          <a:prstGeom prst="rect">
            <a:avLst/>
          </a:prstGeom>
          <a:noFill/>
          <a:ln w="9525">
            <a:noFill/>
          </a:ln>
        </p:spPr>
        <p:txBody>
          <a:bodyPr wrap="none">
            <a:spAutoFit/>
          </a:bodyPr>
          <a:p>
            <a:pPr eaLnBrk="1" hangingPunct="1"/>
            <a:r>
              <a:rPr lang="en-US" altLang="zh-CN" sz="2400" dirty="0">
                <a:solidFill>
                  <a:srgbClr val="000099"/>
                </a:solidFill>
                <a:latin typeface="Times New Roman" panose="02020603050405020304" pitchFamily="18" charset="0"/>
                <a:ea typeface="宋体" panose="02010600030101010101" pitchFamily="2" charset="-122"/>
              </a:rPr>
              <a:t>8</a:t>
            </a:r>
            <a:r>
              <a:rPr lang="zh-CN" altLang="en-US" sz="2400" dirty="0">
                <a:solidFill>
                  <a:srgbClr val="000099"/>
                </a:solidFill>
                <a:latin typeface="Times New Roman" panose="02020603050405020304" pitchFamily="18" charset="0"/>
              </a:rPr>
              <a:t>位逐次逼近</a:t>
            </a:r>
            <a:r>
              <a:rPr lang="en-US" altLang="zh-CN" sz="2400" dirty="0">
                <a:solidFill>
                  <a:srgbClr val="000099"/>
                </a:solidFill>
                <a:latin typeface="Times New Roman" panose="02020603050405020304" pitchFamily="18" charset="0"/>
                <a:ea typeface="宋体" panose="02010600030101010101" pitchFamily="2" charset="-122"/>
              </a:rPr>
              <a:t>A/D</a:t>
            </a:r>
            <a:r>
              <a:rPr lang="zh-CN" altLang="en-US" sz="2400" dirty="0">
                <a:solidFill>
                  <a:srgbClr val="000099"/>
                </a:solidFill>
                <a:latin typeface="Times New Roman" panose="02020603050405020304" pitchFamily="18" charset="0"/>
              </a:rPr>
              <a:t>转换过程</a:t>
            </a:r>
            <a:endParaRPr lang="zh-CN" altLang="en-US" sz="2400" dirty="0">
              <a:solidFill>
                <a:srgbClr val="000099"/>
              </a:solidFill>
              <a:latin typeface="Times New Roman" panose="02020603050405020304" pitchFamily="18" charset="0"/>
            </a:endParaRPr>
          </a:p>
        </p:txBody>
      </p:sp>
      <p:sp>
        <p:nvSpPr>
          <p:cNvPr id="69635" name="Text Box 52"/>
          <p:cNvSpPr txBox="1"/>
          <p:nvPr/>
        </p:nvSpPr>
        <p:spPr>
          <a:xfrm>
            <a:off x="692150" y="1201738"/>
            <a:ext cx="7696200" cy="822325"/>
          </a:xfrm>
          <a:prstGeom prst="rect">
            <a:avLst/>
          </a:prstGeom>
          <a:noFill/>
          <a:ln w="9525">
            <a:noFill/>
          </a:ln>
        </p:spPr>
        <p:txBody>
          <a:bodyPr>
            <a:spAutoFit/>
          </a:bodyPr>
          <a:p>
            <a:pPr marL="897255" indent="-897255" eaLnBrk="1" hangingPunct="1"/>
            <a:r>
              <a:rPr lang="zh-CN" altLang="en-US" sz="2400" dirty="0">
                <a:solidFill>
                  <a:srgbClr val="FF0000"/>
                </a:solidFill>
                <a:latin typeface="黑体" panose="02010609060101010101" pitchFamily="49" charset="-122"/>
                <a:ea typeface="黑体" panose="02010609060101010101" pitchFamily="49" charset="-122"/>
              </a:rPr>
              <a:t>例子：</a:t>
            </a:r>
            <a:r>
              <a:rPr lang="zh-CN" altLang="en-US" sz="2400" dirty="0">
                <a:solidFill>
                  <a:schemeClr val="tx1"/>
                </a:solidFill>
                <a:latin typeface="黑体" panose="02010609060101010101" pitchFamily="49" charset="-122"/>
                <a:ea typeface="黑体" panose="02010609060101010101" pitchFamily="49" charset="-122"/>
              </a:rPr>
              <a:t>设逐次逼近寄存器</a:t>
            </a:r>
            <a:r>
              <a:rPr lang="en-US" altLang="zh-CN" sz="2400" i="1" dirty="0">
                <a:solidFill>
                  <a:srgbClr val="FF0000"/>
                </a:solidFill>
                <a:latin typeface="Times New Roman" panose="02020603050405020304" pitchFamily="18" charset="0"/>
                <a:ea typeface="黑体" panose="02010609060101010101" pitchFamily="49" charset="-122"/>
              </a:rPr>
              <a:t>SAR</a:t>
            </a:r>
            <a:r>
              <a:rPr lang="zh-CN" altLang="en-US" sz="2400" dirty="0">
                <a:solidFill>
                  <a:schemeClr val="tx1"/>
                </a:solidFill>
                <a:latin typeface="黑体" panose="02010609060101010101" pitchFamily="49" charset="-122"/>
                <a:ea typeface="黑体" panose="02010609060101010101" pitchFamily="49" charset="-122"/>
              </a:rPr>
              <a:t>是</a:t>
            </a:r>
            <a:r>
              <a:rPr lang="en-US" altLang="zh-CN" sz="2400" dirty="0">
                <a:solidFill>
                  <a:srgbClr val="FF0000"/>
                </a:solidFill>
                <a:latin typeface="Times New Roman" panose="02020603050405020304" pitchFamily="18" charset="0"/>
                <a:ea typeface="黑体" panose="02010609060101010101" pitchFamily="49" charset="-122"/>
              </a:rPr>
              <a:t>8</a:t>
            </a:r>
            <a:r>
              <a:rPr lang="zh-CN" altLang="en-US" sz="2400" dirty="0">
                <a:solidFill>
                  <a:schemeClr val="tx1"/>
                </a:solidFill>
                <a:latin typeface="黑体" panose="02010609060101010101" pitchFamily="49" charset="-122"/>
                <a:ea typeface="黑体" panose="02010609060101010101" pitchFamily="49" charset="-122"/>
              </a:rPr>
              <a:t>位，基准电压</a:t>
            </a:r>
            <a:r>
              <a:rPr lang="en-US" altLang="zh-CN" sz="2400" dirty="0">
                <a:solidFill>
                  <a:srgbClr val="FF0000"/>
                </a:solidFill>
                <a:latin typeface="Times New Roman" panose="02020603050405020304" pitchFamily="18" charset="0"/>
                <a:ea typeface="黑体" panose="02010609060101010101" pitchFamily="49" charset="-122"/>
              </a:rPr>
              <a:t>10.24V</a:t>
            </a:r>
            <a:r>
              <a:rPr lang="zh-CN" altLang="en-US" sz="2400" dirty="0">
                <a:solidFill>
                  <a:schemeClr val="tx1"/>
                </a:solidFill>
                <a:latin typeface="黑体" panose="02010609060101010101" pitchFamily="49" charset="-122"/>
                <a:ea typeface="黑体" panose="02010609060101010101" pitchFamily="49" charset="-122"/>
              </a:rPr>
              <a:t>，模拟输入电压</a:t>
            </a:r>
            <a:r>
              <a:rPr lang="en-US" altLang="zh-CN" sz="2400" dirty="0">
                <a:solidFill>
                  <a:srgbClr val="FF0000"/>
                </a:solidFill>
                <a:latin typeface="Times New Roman" panose="02020603050405020304" pitchFamily="18" charset="0"/>
                <a:ea typeface="黑体" panose="02010609060101010101" pitchFamily="49" charset="-122"/>
              </a:rPr>
              <a:t>8.3V</a:t>
            </a:r>
            <a:r>
              <a:rPr lang="zh-CN" altLang="en-US" sz="2400" dirty="0">
                <a:solidFill>
                  <a:schemeClr val="tx1"/>
                </a:solidFill>
                <a:latin typeface="黑体" panose="02010609060101010101" pitchFamily="49" charset="-122"/>
                <a:ea typeface="黑体" panose="02010609060101010101" pitchFamily="49" charset="-122"/>
              </a:rPr>
              <a:t>，转换成二进制数码。</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2388131" name="Group 163"/>
          <p:cNvGraphicFramePr>
            <a:graphicFrameLocks noGrp="1"/>
          </p:cNvGraphicFramePr>
          <p:nvPr/>
        </p:nvGraphicFramePr>
        <p:xfrm>
          <a:off x="250825" y="2060575"/>
          <a:ext cx="8713788" cy="3546475"/>
        </p:xfrm>
        <a:graphic>
          <a:graphicData uri="http://schemas.openxmlformats.org/drawingml/2006/table">
            <a:tbl>
              <a:tblPr/>
              <a:tblGrid>
                <a:gridCol w="865188"/>
                <a:gridCol w="1763712"/>
                <a:gridCol w="1944688"/>
                <a:gridCol w="1943100"/>
                <a:gridCol w="2197100"/>
              </a:tblGrid>
              <a:tr h="684213">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次数</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22" marB="4572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1" u="none" strike="noStrike" cap="none" normalizeH="0" baseline="0">
                          <a:ln>
                            <a:noFill/>
                          </a:ln>
                          <a:solidFill>
                            <a:srgbClr val="FF0000"/>
                          </a:solidFill>
                          <a:effectLst/>
                          <a:latin typeface="Arial" panose="020B0604020202020204" pitchFamily="34" charset="0"/>
                          <a:ea typeface="宋体" panose="02010600030101010101" pitchFamily="2" charset="-122"/>
                        </a:rPr>
                        <a:t>SAR</a:t>
                      </a: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中的数码</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D/A</a:t>
                      </a: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产生的</a:t>
                      </a:r>
                      <a:r>
                        <a:rPr kumimoji="0" lang="en-US" altLang="zh-CN" sz="1800" b="1" i="1" u="none" strike="noStrike" cap="none" normalizeH="0" baseline="0">
                          <a:ln>
                            <a:noFill/>
                          </a:ln>
                          <a:solidFill>
                            <a:srgbClr val="FF0000"/>
                          </a:solidFill>
                          <a:effectLst/>
                          <a:latin typeface="Arial" panose="020B0604020202020204" pitchFamily="34" charset="0"/>
                          <a:ea typeface="宋体" panose="02010600030101010101" pitchFamily="2" charset="-122"/>
                        </a:rPr>
                        <a:t>U</a:t>
                      </a:r>
                      <a:r>
                        <a:rPr kumimoji="0" lang="en-US" altLang="zh-CN" sz="1800" b="1" i="1" u="none" strike="noStrike" cap="none" normalizeH="0" baseline="-25000">
                          <a:ln>
                            <a:noFill/>
                          </a:ln>
                          <a:solidFill>
                            <a:srgbClr val="FF0000"/>
                          </a:solidFill>
                          <a:effectLst/>
                          <a:latin typeface="Arial" panose="020B0604020202020204" pitchFamily="34" charset="0"/>
                          <a:ea typeface="宋体" panose="02010600030101010101" pitchFamily="2" charset="-122"/>
                        </a:rPr>
                        <a:t>f</a:t>
                      </a: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(V)</a:t>
                      </a:r>
                      <a:endPar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去</a:t>
                      </a:r>
                      <a:r>
                        <a:rPr kumimoji="0" lang="en-US" altLang="zh-CN"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a:t>
                      </a: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留码判断</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本次操作后</a:t>
                      </a:r>
                      <a:r>
                        <a:rPr kumimoji="0" lang="en-US" altLang="zh-CN" sz="1800" b="1" i="1" u="none" strike="noStrike" cap="none" normalizeH="0" baseline="0">
                          <a:ln>
                            <a:noFill/>
                          </a:ln>
                          <a:solidFill>
                            <a:srgbClr val="FF0000"/>
                          </a:solidFill>
                          <a:effectLst/>
                          <a:latin typeface="Arial" panose="020B0604020202020204" pitchFamily="34" charset="0"/>
                          <a:ea typeface="宋体" panose="02010600030101010101" pitchFamily="2" charset="-122"/>
                        </a:rPr>
                        <a:t>SAR</a:t>
                      </a:r>
                      <a:r>
                        <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rPr>
                        <a:t>中的数码</a:t>
                      </a:r>
                      <a:endParaRPr kumimoji="0" lang="zh-CN" altLang="en-US" sz="1800" b="1"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862262">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2</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3</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5</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7</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2" marB="4572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10000000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11100000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11010000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11001110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11001111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5.12</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7.68</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8.96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8.32</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8.16</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8.24</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8.28</a:t>
                      </a:r>
                      <a:endParaRPr kumimoji="0" lang="en-US" altLang="zh-CN" sz="18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&gt;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&gt;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f </a:t>
                      </a:r>
                      <a:r>
                        <a:rPr kumimoji="1" lang="en-US" altLang="zh-CN" sz="1800" b="1" i="0" u="none" strike="noStrike" cap="none" normalizeH="0" baseline="0">
                          <a:ln>
                            <a:noFill/>
                          </a:ln>
                          <a:solidFill>
                            <a:srgbClr val="333399"/>
                          </a:solidFill>
                          <a:effectLst/>
                          <a:latin typeface="Times New Roman" panose="02020603050405020304" pitchFamily="18" charset="0"/>
                          <a:ea typeface="宋体" panose="02010600030101010101" pitchFamily="2" charset="-122"/>
                        </a:rPr>
                        <a:t>&lt; </a:t>
                      </a:r>
                      <a:r>
                        <a:rPr kumimoji="1" lang="en-US" altLang="zh-CN" sz="1800" b="1" i="1" u="none" strike="noStrike" cap="none" normalizeH="0" baseline="0">
                          <a:ln>
                            <a:noFill/>
                          </a:ln>
                          <a:solidFill>
                            <a:srgbClr val="333399"/>
                          </a:solidFill>
                          <a:effectLst/>
                          <a:latin typeface="Times New Roman" panose="02020603050405020304" pitchFamily="18" charset="0"/>
                          <a:ea typeface="宋体" panose="02010600030101010101" pitchFamily="2" charset="-122"/>
                        </a:rPr>
                        <a:t>U</a:t>
                      </a:r>
                      <a:r>
                        <a:rPr kumimoji="1" lang="en-US" altLang="zh-CN" sz="1800" b="1" i="1" u="none" strike="noStrike" cap="none" normalizeH="0" baseline="-25000">
                          <a:ln>
                            <a:noFill/>
                          </a:ln>
                          <a:solidFill>
                            <a:srgbClr val="333399"/>
                          </a:solidFill>
                          <a:effectLst/>
                          <a:latin typeface="Times New Roman" panose="02020603050405020304" pitchFamily="18" charset="0"/>
                          <a:ea typeface="宋体" panose="02010600030101010101" pitchFamily="2" charset="-122"/>
                        </a:rPr>
                        <a:t>i</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 </a:t>
                      </a:r>
                      <a:r>
                        <a:rPr kumimoji="1" lang="zh-CN" altLang="en-US"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，留</a:t>
                      </a: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742950" indent="-28575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11430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marL="16002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marL="2057400" indent="-228600" defTabSz="678180" eaLnBrk="0" hangingPunct="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marL="25146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marL="29718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marL="34290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marL="3886200" indent="-228600" defTabSz="678180" eaLnBrk="0" fontAlgn="base" hangingPunct="0">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10000000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11000000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11001000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11001100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11001110</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rPr>
                        <a:t>11001111</a:t>
                      </a:r>
                      <a:endParaRPr kumimoji="1" lang="en-US" altLang="zh-CN" sz="1800" b="1" i="0" u="none" strike="noStrike" cap="none" normalizeH="0" baseline="0">
                        <a:ln>
                          <a:noFill/>
                        </a:ln>
                        <a:solidFill>
                          <a:srgbClr val="333399"/>
                        </a:solidFill>
                        <a:effectLst/>
                        <a:latin typeface="Arial" panose="020B0604020202020204" pitchFamily="34" charset="0"/>
                        <a:ea typeface="宋体" panose="02010600030101010101" pitchFamily="2" charset="-122"/>
                      </a:endParaRPr>
                    </a:p>
                  </a:txBody>
                  <a:tcPr marT="45722" marB="4572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69657" name="Text Box 21"/>
          <p:cNvSpPr txBox="1"/>
          <p:nvPr/>
        </p:nvSpPr>
        <p:spPr>
          <a:xfrm>
            <a:off x="419100" y="673100"/>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7971"/>
                                        </p:tgtEl>
                                        <p:attrNameLst>
                                          <p:attrName>style.visibility</p:attrName>
                                        </p:attrNameLst>
                                      </p:cBhvr>
                                      <p:to>
                                        <p:strVal val="visible"/>
                                      </p:to>
                                    </p:set>
                                    <p:animEffect transition="in" filter="dissolve">
                                      <p:cBhvr>
                                        <p:cTn id="7" dur="500"/>
                                        <p:tgtEl>
                                          <p:spTgt spid="2387971"/>
                                        </p:tgtEl>
                                      </p:cBhvr>
                                    </p:animEffect>
                                  </p:childTnLst>
                                </p:cTn>
                              </p:par>
                              <p:par>
                                <p:cTn id="8" presetID="9" presetClass="entr" presetSubtype="0" fill="hold" nodeType="withEffect">
                                  <p:stCondLst>
                                    <p:cond delay="0"/>
                                  </p:stCondLst>
                                  <p:childTnLst>
                                    <p:set>
                                      <p:cBhvr>
                                        <p:cTn id="9" dur="1" fill="hold">
                                          <p:stCondLst>
                                            <p:cond delay="0"/>
                                          </p:stCondLst>
                                        </p:cTn>
                                        <p:tgtEl>
                                          <p:spTgt spid="2388131"/>
                                        </p:tgtEl>
                                        <p:attrNameLst>
                                          <p:attrName>style.visibility</p:attrName>
                                        </p:attrNameLst>
                                      </p:cBhvr>
                                      <p:to>
                                        <p:strVal val="visible"/>
                                      </p:to>
                                    </p:set>
                                    <p:animEffect transition="in" filter="dissolve">
                                      <p:cBhvr>
                                        <p:cTn id="10" dur="500"/>
                                        <p:tgtEl>
                                          <p:spTgt spid="2388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7971"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8019" name="Text Box 51"/>
          <p:cNvSpPr txBox="1"/>
          <p:nvPr/>
        </p:nvSpPr>
        <p:spPr>
          <a:xfrm>
            <a:off x="727075" y="1306513"/>
            <a:ext cx="1298575"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总结：</a:t>
            </a:r>
            <a:endParaRPr lang="zh-CN" altLang="en-US" dirty="0">
              <a:latin typeface="Times New Roman" panose="02020603050405020304" pitchFamily="18" charset="0"/>
            </a:endParaRPr>
          </a:p>
        </p:txBody>
      </p:sp>
      <p:sp>
        <p:nvSpPr>
          <p:cNvPr id="8" name="Text Box 54"/>
          <p:cNvSpPr txBox="1"/>
          <p:nvPr/>
        </p:nvSpPr>
        <p:spPr>
          <a:xfrm>
            <a:off x="727075" y="4779963"/>
            <a:ext cx="8074025" cy="1466850"/>
          </a:xfrm>
          <a:prstGeom prst="rect">
            <a:avLst/>
          </a:prstGeom>
          <a:noFill/>
          <a:ln w="9525">
            <a:noFill/>
          </a:ln>
        </p:spPr>
        <p:txBody>
          <a:bodyPr>
            <a:spAutoFit/>
          </a:bodyPr>
          <a:p>
            <a:pPr marL="457200" indent="-457200" eaLnBrk="1" hangingPunct="1">
              <a:lnSpc>
                <a:spcPct val="90000"/>
              </a:lnSpc>
              <a:spcBef>
                <a:spcPct val="50000"/>
              </a:spcBef>
            </a:pPr>
            <a:r>
              <a:rPr lang="en-US" altLang="zh-CN" sz="2200" dirty="0">
                <a:solidFill>
                  <a:schemeClr val="tx1"/>
                </a:solidFill>
                <a:latin typeface="黑体" panose="02010609060101010101" pitchFamily="49" charset="-122"/>
                <a:ea typeface="黑体" panose="02010609060101010101" pitchFamily="49" charset="-122"/>
              </a:rPr>
              <a:t>1. </a:t>
            </a:r>
            <a:r>
              <a:rPr lang="zh-CN" altLang="en-US" sz="2200" dirty="0">
                <a:solidFill>
                  <a:schemeClr val="tx1"/>
                </a:solidFill>
                <a:latin typeface="黑体" panose="02010609060101010101" pitchFamily="49" charset="-122"/>
                <a:ea typeface="黑体" panose="02010609060101010101" pitchFamily="49" charset="-122"/>
              </a:rPr>
              <a:t>对输入信号上叠加的噪声十分敏感，在实际应用中，通常需要对输入的模拟信号进行滤波后，才能送入</a:t>
            </a:r>
            <a:r>
              <a:rPr lang="en-US" altLang="zh-CN" sz="2200" dirty="0">
                <a:solidFill>
                  <a:schemeClr val="tx1"/>
                </a:solidFill>
                <a:latin typeface="Times New Roman" panose="02020603050405020304" pitchFamily="18" charset="0"/>
                <a:ea typeface="黑体" panose="02010609060101010101" pitchFamily="49" charset="-122"/>
              </a:rPr>
              <a:t>ADC</a:t>
            </a:r>
            <a:r>
              <a:rPr lang="zh-CN" altLang="en-US" sz="2200" dirty="0">
                <a:solidFill>
                  <a:schemeClr val="tx1"/>
                </a:solidFill>
                <a:latin typeface="黑体" panose="02010609060101010101" pitchFamily="49" charset="-122"/>
                <a:ea typeface="黑体" panose="02010609060101010101" pitchFamily="49" charset="-122"/>
              </a:rPr>
              <a:t>。</a:t>
            </a:r>
            <a:endParaRPr lang="zh-CN" altLang="en-US" sz="2200"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pPr>
            <a:r>
              <a:rPr lang="en-US" altLang="zh-CN" sz="2200" dirty="0">
                <a:solidFill>
                  <a:schemeClr val="tx1"/>
                </a:solidFill>
                <a:latin typeface="黑体" panose="02010609060101010101" pitchFamily="49" charset="-122"/>
                <a:ea typeface="黑体" panose="02010609060101010101" pitchFamily="49" charset="-122"/>
              </a:rPr>
              <a:t>2. </a:t>
            </a:r>
            <a:r>
              <a:rPr lang="zh-CN" altLang="en-US" sz="2200" dirty="0">
                <a:solidFill>
                  <a:schemeClr val="tx1"/>
                </a:solidFill>
                <a:latin typeface="黑体" panose="02010609060101010101" pitchFamily="49" charset="-122"/>
                <a:ea typeface="黑体" panose="02010609060101010101" pitchFamily="49" charset="-122"/>
              </a:rPr>
              <a:t>为避免输入信号在转换过程中发生变化，造成错误逼近，逐次逼近型</a:t>
            </a:r>
            <a:r>
              <a:rPr lang="en-US" altLang="zh-CN" sz="2200" dirty="0">
                <a:solidFill>
                  <a:schemeClr val="tx1"/>
                </a:solidFill>
                <a:latin typeface="Times New Roman" panose="02020603050405020304" pitchFamily="18" charset="0"/>
                <a:ea typeface="黑体" panose="02010609060101010101" pitchFamily="49" charset="-122"/>
              </a:rPr>
              <a:t>ADC</a:t>
            </a:r>
            <a:r>
              <a:rPr lang="zh-CN" altLang="en-US" sz="2200" dirty="0">
                <a:solidFill>
                  <a:schemeClr val="tx1"/>
                </a:solidFill>
                <a:latin typeface="黑体" panose="02010609060101010101" pitchFamily="49" charset="-122"/>
                <a:ea typeface="黑体" panose="02010609060101010101" pitchFamily="49" charset="-122"/>
              </a:rPr>
              <a:t>必须配合采样</a:t>
            </a:r>
            <a:r>
              <a:rPr lang="en-US" altLang="zh-CN" sz="2200" dirty="0">
                <a:solidFill>
                  <a:schemeClr val="tx1"/>
                </a:solidFill>
                <a:latin typeface="黑体" panose="02010609060101010101" pitchFamily="49" charset="-122"/>
                <a:ea typeface="黑体" panose="02010609060101010101" pitchFamily="49" charset="-122"/>
              </a:rPr>
              <a:t>/</a:t>
            </a:r>
            <a:r>
              <a:rPr lang="zh-CN" altLang="en-US" sz="2200" dirty="0">
                <a:solidFill>
                  <a:schemeClr val="tx1"/>
                </a:solidFill>
                <a:latin typeface="黑体" panose="02010609060101010101" pitchFamily="49" charset="-122"/>
                <a:ea typeface="黑体" panose="02010609060101010101" pitchFamily="49" charset="-122"/>
              </a:rPr>
              <a:t>保持器使用。</a:t>
            </a:r>
            <a:endParaRPr lang="zh-CN" altLang="en-US" sz="2200" dirty="0">
              <a:solidFill>
                <a:schemeClr val="tx1"/>
              </a:solidFill>
              <a:latin typeface="黑体" panose="02010609060101010101" pitchFamily="49" charset="-122"/>
              <a:ea typeface="黑体" panose="02010609060101010101" pitchFamily="49" charset="-122"/>
            </a:endParaRPr>
          </a:p>
        </p:txBody>
      </p:sp>
      <p:sp>
        <p:nvSpPr>
          <p:cNvPr id="7" name="Text Box 54"/>
          <p:cNvSpPr txBox="1"/>
          <p:nvPr/>
        </p:nvSpPr>
        <p:spPr>
          <a:xfrm>
            <a:off x="727075" y="1839913"/>
            <a:ext cx="8074025" cy="2406650"/>
          </a:xfrm>
          <a:prstGeom prst="rect">
            <a:avLst/>
          </a:prstGeom>
          <a:noFill/>
          <a:ln w="9525">
            <a:noFill/>
          </a:ln>
        </p:spPr>
        <p:txBody>
          <a:bodyPr>
            <a:spAutoFit/>
          </a:bodyPr>
          <a:p>
            <a:pPr marL="457200" indent="-457200" eaLnBrk="1" hangingPunct="1">
              <a:lnSpc>
                <a:spcPct val="90000"/>
              </a:lnSpc>
              <a:spcBef>
                <a:spcPct val="50000"/>
              </a:spcBef>
              <a:buFont typeface="Arial" panose="020B0604020202020204" pitchFamily="34" charset="0"/>
              <a:buAutoNum type="arabicPeriod"/>
            </a:pPr>
            <a:r>
              <a:rPr lang="zh-CN" altLang="en-US" sz="2200" dirty="0">
                <a:solidFill>
                  <a:schemeClr val="tx1"/>
                </a:solidFill>
                <a:latin typeface="黑体" panose="02010609060101010101" pitchFamily="49" charset="-122"/>
                <a:ea typeface="黑体" panose="02010609060101010101" pitchFamily="49" charset="-122"/>
              </a:rPr>
              <a:t>转换需经历</a:t>
            </a:r>
            <a:r>
              <a:rPr lang="en-US" altLang="zh-CN" sz="2200" dirty="0">
                <a:solidFill>
                  <a:schemeClr val="tx1"/>
                </a:solidFill>
                <a:latin typeface="Times New Roman" panose="02020603050405020304" pitchFamily="18" charset="0"/>
                <a:ea typeface="黑体" panose="02010609060101010101" pitchFamily="49" charset="-122"/>
              </a:rPr>
              <a:t>n</a:t>
            </a:r>
            <a:r>
              <a:rPr lang="zh-CN" altLang="en-US" sz="2200" dirty="0">
                <a:solidFill>
                  <a:schemeClr val="tx1"/>
                </a:solidFill>
                <a:latin typeface="黑体" panose="02010609060101010101" pitchFamily="49" charset="-122"/>
                <a:ea typeface="黑体" panose="02010609060101010101" pitchFamily="49" charset="-122"/>
              </a:rPr>
              <a:t>次（</a:t>
            </a:r>
            <a:r>
              <a:rPr lang="en-US" altLang="zh-CN" sz="2200" dirty="0">
                <a:solidFill>
                  <a:schemeClr val="tx1"/>
                </a:solidFill>
                <a:latin typeface="Times New Roman" panose="02020603050405020304" pitchFamily="18" charset="0"/>
                <a:ea typeface="黑体" panose="02010609060101010101" pitchFamily="49" charset="-122"/>
              </a:rPr>
              <a:t>n: DAC</a:t>
            </a:r>
            <a:r>
              <a:rPr lang="zh-CN" altLang="en-US" sz="2200" dirty="0">
                <a:solidFill>
                  <a:schemeClr val="tx1"/>
                </a:solidFill>
                <a:latin typeface="黑体" panose="02010609060101010101" pitchFamily="49" charset="-122"/>
                <a:ea typeface="黑体" panose="02010609060101010101" pitchFamily="49" charset="-122"/>
              </a:rPr>
              <a:t>位数</a:t>
            </a:r>
            <a:r>
              <a:rPr lang="en-US" altLang="zh-CN" sz="2200" dirty="0">
                <a:solidFill>
                  <a:schemeClr val="tx1"/>
                </a:solidFill>
                <a:latin typeface="Times New Roman" panose="02020603050405020304" pitchFamily="18" charset="0"/>
                <a:ea typeface="黑体" panose="02010609060101010101" pitchFamily="49" charset="-122"/>
              </a:rPr>
              <a:t>=SAR</a:t>
            </a:r>
            <a:r>
              <a:rPr lang="zh-CN" altLang="en-US" sz="2200" dirty="0">
                <a:solidFill>
                  <a:schemeClr val="tx1"/>
                </a:solidFill>
                <a:latin typeface="黑体" panose="02010609060101010101" pitchFamily="49" charset="-122"/>
                <a:ea typeface="黑体" panose="02010609060101010101" pitchFamily="49" charset="-122"/>
              </a:rPr>
              <a:t>位数）比较，转换时间在几微秒到几十微秒，转换速度不如并行比较型和分级型；</a:t>
            </a:r>
            <a:endParaRPr lang="zh-CN" altLang="en-US" sz="2200"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Font typeface="Arial" panose="020B0604020202020204" pitchFamily="34" charset="0"/>
              <a:buAutoNum type="arabicPeriod"/>
            </a:pPr>
            <a:r>
              <a:rPr lang="zh-CN" altLang="en-US" sz="2200" dirty="0">
                <a:solidFill>
                  <a:srgbClr val="FF3300"/>
                </a:solidFill>
                <a:latin typeface="黑体" panose="02010609060101010101" pitchFamily="49" charset="-122"/>
                <a:ea typeface="黑体" panose="02010609060101010101" pitchFamily="49" charset="-122"/>
              </a:rPr>
              <a:t>结构简单，元件少，成本低，功耗低</a:t>
            </a:r>
            <a:r>
              <a:rPr lang="zh-CN" altLang="en-US" sz="2200" dirty="0">
                <a:solidFill>
                  <a:schemeClr val="tx1"/>
                </a:solidFill>
                <a:latin typeface="黑体" panose="02010609060101010101" pitchFamily="49" charset="-122"/>
                <a:ea typeface="黑体" panose="02010609060101010101" pitchFamily="49" charset="-122"/>
              </a:rPr>
              <a:t>；</a:t>
            </a:r>
            <a:endParaRPr lang="zh-CN" altLang="en-US" sz="2200"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Font typeface="Arial" panose="020B0604020202020204" pitchFamily="34" charset="0"/>
              <a:buAutoNum type="arabicPeriod"/>
            </a:pPr>
            <a:r>
              <a:rPr lang="zh-CN" altLang="en-US" sz="2200" dirty="0">
                <a:solidFill>
                  <a:schemeClr val="tx1"/>
                </a:solidFill>
                <a:latin typeface="黑体" panose="02010609060101010101" pitchFamily="49" charset="-122"/>
                <a:ea typeface="黑体" panose="02010609060101010101" pitchFamily="49" charset="-122"/>
              </a:rPr>
              <a:t>分辨率和精度主要取决于内部</a:t>
            </a:r>
            <a:r>
              <a:rPr lang="en-US" altLang="zh-CN" sz="2200" dirty="0">
                <a:solidFill>
                  <a:schemeClr val="tx1"/>
                </a:solidFill>
                <a:latin typeface="Times New Roman" panose="02020603050405020304" pitchFamily="18" charset="0"/>
                <a:ea typeface="黑体" panose="02010609060101010101" pitchFamily="49" charset="-122"/>
              </a:rPr>
              <a:t>DAC</a:t>
            </a:r>
            <a:r>
              <a:rPr lang="zh-CN" altLang="en-US" sz="2200" dirty="0">
                <a:solidFill>
                  <a:schemeClr val="tx1"/>
                </a:solidFill>
                <a:latin typeface="黑体" panose="02010609060101010101" pitchFamily="49" charset="-122"/>
                <a:ea typeface="黑体" panose="02010609060101010101" pitchFamily="49" charset="-122"/>
              </a:rPr>
              <a:t>的分辨率和精度；</a:t>
            </a:r>
            <a:endParaRPr lang="zh-CN" altLang="en-US" sz="2200" dirty="0">
              <a:solidFill>
                <a:schemeClr val="tx1"/>
              </a:solidFill>
              <a:latin typeface="黑体" panose="02010609060101010101" pitchFamily="49" charset="-122"/>
              <a:ea typeface="黑体" panose="02010609060101010101" pitchFamily="49" charset="-122"/>
            </a:endParaRPr>
          </a:p>
          <a:p>
            <a:pPr marL="457200" indent="-457200" eaLnBrk="1" hangingPunct="1">
              <a:lnSpc>
                <a:spcPct val="90000"/>
              </a:lnSpc>
              <a:spcBef>
                <a:spcPct val="50000"/>
              </a:spcBef>
              <a:buFont typeface="Arial" panose="020B0604020202020204" pitchFamily="34" charset="0"/>
              <a:buAutoNum type="arabicPeriod"/>
            </a:pPr>
            <a:r>
              <a:rPr lang="zh-CN" altLang="en-US" sz="2200" dirty="0">
                <a:solidFill>
                  <a:schemeClr val="tx1"/>
                </a:solidFill>
                <a:latin typeface="黑体" panose="02010609060101010101" pitchFamily="49" charset="-122"/>
                <a:ea typeface="黑体" panose="02010609060101010101" pitchFamily="49" charset="-122"/>
              </a:rPr>
              <a:t>适用于</a:t>
            </a:r>
            <a:r>
              <a:rPr lang="zh-CN" altLang="en-US" sz="2200" dirty="0">
                <a:solidFill>
                  <a:srgbClr val="CC00CC"/>
                </a:solidFill>
                <a:latin typeface="黑体" panose="02010609060101010101" pitchFamily="49" charset="-122"/>
                <a:ea typeface="黑体" panose="02010609060101010101" pitchFamily="49" charset="-122"/>
              </a:rPr>
              <a:t>中等速度</a:t>
            </a:r>
            <a:r>
              <a:rPr lang="en-US" altLang="zh-CN" sz="2200" dirty="0">
                <a:solidFill>
                  <a:srgbClr val="CC00CC"/>
                </a:solidFill>
                <a:latin typeface="黑体" panose="02010609060101010101" pitchFamily="49" charset="-122"/>
                <a:ea typeface="黑体" panose="02010609060101010101" pitchFamily="49" charset="-122"/>
              </a:rPr>
              <a:t>(</a:t>
            </a:r>
            <a:r>
              <a:rPr lang="en-US" altLang="en-US" sz="2200" dirty="0">
                <a:solidFill>
                  <a:srgbClr val="CC00CC"/>
                </a:solidFill>
                <a:latin typeface="Times New Roman" panose="02020603050405020304" pitchFamily="18" charset="0"/>
                <a:ea typeface="黑体" panose="02010609060101010101" pitchFamily="49" charset="-122"/>
              </a:rPr>
              <a:t>≤</a:t>
            </a:r>
            <a:r>
              <a:rPr lang="en-US" altLang="zh-CN" sz="2200" dirty="0">
                <a:solidFill>
                  <a:srgbClr val="CC00CC"/>
                </a:solidFill>
                <a:latin typeface="Times New Roman" panose="02020603050405020304" pitchFamily="18" charset="0"/>
                <a:ea typeface="黑体" panose="02010609060101010101" pitchFamily="49" charset="-122"/>
              </a:rPr>
              <a:t>1MSPS</a:t>
            </a:r>
            <a:r>
              <a:rPr lang="en-US" altLang="zh-CN" sz="2200" dirty="0">
                <a:solidFill>
                  <a:srgbClr val="CC00CC"/>
                </a:solidFill>
                <a:latin typeface="黑体" panose="02010609060101010101" pitchFamily="49" charset="-122"/>
                <a:ea typeface="黑体" panose="02010609060101010101" pitchFamily="49" charset="-122"/>
              </a:rPr>
              <a:t>)</a:t>
            </a:r>
            <a:r>
              <a:rPr lang="zh-CN" altLang="en-US" sz="2200" dirty="0">
                <a:solidFill>
                  <a:srgbClr val="CC00CC"/>
                </a:solidFill>
                <a:latin typeface="黑体" panose="02010609060101010101" pitchFamily="49" charset="-122"/>
                <a:ea typeface="黑体" panose="02010609060101010101" pitchFamily="49" charset="-122"/>
              </a:rPr>
              <a:t>和中分辩率</a:t>
            </a:r>
            <a:r>
              <a:rPr lang="en-US" altLang="zh-CN" sz="2200" dirty="0">
                <a:solidFill>
                  <a:srgbClr val="CC00CC"/>
                </a:solidFill>
                <a:latin typeface="黑体" panose="02010609060101010101" pitchFamily="49" charset="-122"/>
                <a:ea typeface="黑体" panose="02010609060101010101" pitchFamily="49" charset="-122"/>
              </a:rPr>
              <a:t>(</a:t>
            </a:r>
            <a:r>
              <a:rPr lang="en-US" altLang="zh-CN" sz="2200" dirty="0">
                <a:solidFill>
                  <a:srgbClr val="CC00CC"/>
                </a:solidFill>
                <a:latin typeface="Times New Roman" panose="02020603050405020304" pitchFamily="18" charset="0"/>
                <a:ea typeface="黑体" panose="02010609060101010101" pitchFamily="49" charset="-122"/>
              </a:rPr>
              <a:t>12</a:t>
            </a:r>
            <a:r>
              <a:rPr lang="zh-CN" altLang="en-US" sz="2200" dirty="0">
                <a:solidFill>
                  <a:srgbClr val="CC00CC"/>
                </a:solidFill>
                <a:latin typeface="黑体" panose="02010609060101010101" pitchFamily="49" charset="-122"/>
                <a:ea typeface="黑体" panose="02010609060101010101" pitchFamily="49" charset="-122"/>
              </a:rPr>
              <a:t>位或</a:t>
            </a:r>
            <a:r>
              <a:rPr lang="en-US" altLang="zh-CN" sz="2200" dirty="0">
                <a:solidFill>
                  <a:srgbClr val="CC00CC"/>
                </a:solidFill>
                <a:latin typeface="Times New Roman" panose="02020603050405020304" pitchFamily="18" charset="0"/>
                <a:ea typeface="黑体" panose="02010609060101010101" pitchFamily="49" charset="-122"/>
              </a:rPr>
              <a:t>16</a:t>
            </a:r>
            <a:r>
              <a:rPr lang="zh-CN" altLang="en-US" sz="2200" dirty="0">
                <a:solidFill>
                  <a:srgbClr val="CC00CC"/>
                </a:solidFill>
                <a:latin typeface="黑体" panose="02010609060101010101" pitchFamily="49" charset="-122"/>
                <a:ea typeface="黑体" panose="02010609060101010101" pitchFamily="49" charset="-122"/>
              </a:rPr>
              <a:t>位</a:t>
            </a:r>
            <a:r>
              <a:rPr lang="en-US" altLang="zh-CN" sz="2200" dirty="0">
                <a:solidFill>
                  <a:srgbClr val="CC00CC"/>
                </a:solidFill>
                <a:latin typeface="黑体" panose="02010609060101010101" pitchFamily="49" charset="-122"/>
                <a:ea typeface="黑体" panose="02010609060101010101" pitchFamily="49" charset="-122"/>
              </a:rPr>
              <a:t>)</a:t>
            </a:r>
            <a:r>
              <a:rPr lang="zh-CN" altLang="en-US" sz="2200" dirty="0">
                <a:solidFill>
                  <a:schemeClr val="tx1"/>
                </a:solidFill>
                <a:latin typeface="黑体" panose="02010609060101010101" pitchFamily="49" charset="-122"/>
                <a:ea typeface="黑体" panose="02010609060101010101" pitchFamily="49" charset="-122"/>
              </a:rPr>
              <a:t>应用场合。目前</a:t>
            </a:r>
            <a:r>
              <a:rPr lang="en-US" altLang="zh-CN" sz="2200" dirty="0">
                <a:solidFill>
                  <a:schemeClr val="tx1"/>
                </a:solidFill>
                <a:latin typeface="Times New Roman" panose="02020603050405020304" pitchFamily="18" charset="0"/>
                <a:ea typeface="黑体" panose="02010609060101010101" pitchFamily="49" charset="-122"/>
              </a:rPr>
              <a:t>16</a:t>
            </a:r>
            <a:r>
              <a:rPr lang="zh-CN" altLang="en-US" sz="2200" dirty="0">
                <a:solidFill>
                  <a:schemeClr val="tx1"/>
                </a:solidFill>
                <a:latin typeface="黑体" panose="02010609060101010101" pitchFamily="49" charset="-122"/>
                <a:ea typeface="黑体" panose="02010609060101010101" pitchFamily="49" charset="-122"/>
              </a:rPr>
              <a:t>位逐次逼近型</a:t>
            </a:r>
            <a:r>
              <a:rPr lang="en-US" altLang="zh-CN" sz="2200" dirty="0">
                <a:solidFill>
                  <a:schemeClr val="tx1"/>
                </a:solidFill>
                <a:latin typeface="Times New Roman" panose="02020603050405020304" pitchFamily="18" charset="0"/>
                <a:ea typeface="黑体" panose="02010609060101010101" pitchFamily="49" charset="-122"/>
              </a:rPr>
              <a:t>ADC</a:t>
            </a:r>
            <a:r>
              <a:rPr lang="zh-CN" altLang="en-US" sz="2200" dirty="0">
                <a:solidFill>
                  <a:schemeClr val="tx1"/>
                </a:solidFill>
                <a:latin typeface="黑体" panose="02010609060101010101" pitchFamily="49" charset="-122"/>
                <a:ea typeface="黑体" panose="02010609060101010101" pitchFamily="49" charset="-122"/>
              </a:rPr>
              <a:t>采样速率可达</a:t>
            </a:r>
            <a:r>
              <a:rPr lang="en-US" altLang="zh-CN" sz="2200" dirty="0">
                <a:solidFill>
                  <a:schemeClr val="tx1"/>
                </a:solidFill>
                <a:latin typeface="Times New Roman" panose="02020603050405020304" pitchFamily="18" charset="0"/>
                <a:ea typeface="黑体" panose="02010609060101010101" pitchFamily="49" charset="-122"/>
              </a:rPr>
              <a:t>1MSPS</a:t>
            </a:r>
            <a:r>
              <a:rPr lang="zh-CN" altLang="en-US" sz="2200" dirty="0">
                <a:solidFill>
                  <a:schemeClr val="tx1"/>
                </a:solidFill>
                <a:latin typeface="黑体" panose="02010609060101010101" pitchFamily="49" charset="-122"/>
                <a:ea typeface="黑体" panose="02010609060101010101" pitchFamily="49" charset="-122"/>
              </a:rPr>
              <a:t>。</a:t>
            </a:r>
            <a:endParaRPr lang="zh-CN" altLang="en-US" sz="2200" dirty="0">
              <a:solidFill>
                <a:schemeClr val="tx1"/>
              </a:solidFill>
              <a:latin typeface="黑体" panose="02010609060101010101" pitchFamily="49" charset="-122"/>
              <a:ea typeface="黑体" panose="02010609060101010101" pitchFamily="49" charset="-122"/>
            </a:endParaRPr>
          </a:p>
        </p:txBody>
      </p:sp>
      <p:sp>
        <p:nvSpPr>
          <p:cNvPr id="2" name="Text Box 51"/>
          <p:cNvSpPr txBox="1"/>
          <p:nvPr/>
        </p:nvSpPr>
        <p:spPr>
          <a:xfrm>
            <a:off x="727075" y="4246563"/>
            <a:ext cx="1298575"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注意：</a:t>
            </a:r>
            <a:endParaRPr lang="zh-CN" altLang="en-US" dirty="0">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0663" name="Text Box 21"/>
          <p:cNvSpPr txBox="1"/>
          <p:nvPr/>
        </p:nvSpPr>
        <p:spPr>
          <a:xfrm>
            <a:off x="419100" y="673100"/>
            <a:ext cx="34702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逐次逼近型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388019"/>
                                        </p:tgtEl>
                                        <p:attrNameLst>
                                          <p:attrName>style.visibility</p:attrName>
                                        </p:attrNameLst>
                                      </p:cBhvr>
                                      <p:to>
                                        <p:strVal val="visible"/>
                                      </p:to>
                                    </p:set>
                                    <p:animEffect transition="in" filter="fade">
                                      <p:cBhvr>
                                        <p:cTn id="7" dur="500"/>
                                        <p:tgtEl>
                                          <p:spTgt spid="2388019"/>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dissolve">
                                      <p:cBhvr>
                                        <p:cTn id="2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8019" grpId="0" bldLvl="0" animBg="1"/>
      <p:bldP spid="8" grpId="0"/>
      <p:bldP spid="7" grpId="0"/>
      <p:bldP spid="2" grpId="0" bldLvl="0" animBg="1"/>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90027"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2390028" name="Text Box 12"/>
          <p:cNvSpPr txBox="1"/>
          <p:nvPr/>
        </p:nvSpPr>
        <p:spPr>
          <a:xfrm>
            <a:off x="3136900" y="709613"/>
            <a:ext cx="5730875" cy="1077912"/>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间接转换，</a:t>
            </a:r>
            <a:r>
              <a:rPr lang="zh-CN" altLang="en-US" sz="2400" dirty="0">
                <a:solidFill>
                  <a:schemeClr val="tx1"/>
                </a:solidFill>
                <a:latin typeface="Times New Roman" panose="02020603050405020304" pitchFamily="18" charset="0"/>
                <a:ea typeface="黑体" panose="02010609060101010101" pitchFamily="49" charset="-122"/>
              </a:rPr>
              <a:t>通过积分电路把线性模拟电压转换成时间信号，在此时间内用计数器对标准时钟计数，计数值反映信号大小。</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390186" name="Text Box 170"/>
          <p:cNvSpPr txBox="1"/>
          <p:nvPr/>
        </p:nvSpPr>
        <p:spPr>
          <a:xfrm>
            <a:off x="244475" y="5616575"/>
            <a:ext cx="8702675" cy="420688"/>
          </a:xfrm>
          <a:prstGeom prst="rect">
            <a:avLst/>
          </a:prstGeom>
          <a:noFill/>
          <a:ln w="9525">
            <a:noFill/>
          </a:ln>
        </p:spPr>
        <p:txBody>
          <a:bodyPr>
            <a:spAutoFit/>
          </a:bodyPr>
          <a:p>
            <a:pPr marL="984250" indent="-984250" eaLnBrk="1" hangingPunct="1">
              <a:lnSpc>
                <a:spcPct val="90000"/>
              </a:lnSpc>
              <a:spcBef>
                <a:spcPct val="50000"/>
              </a:spcBef>
            </a:pPr>
            <a:r>
              <a:rPr lang="zh-CN" altLang="en-US" sz="2400" dirty="0">
                <a:solidFill>
                  <a:srgbClr val="FF0000"/>
                </a:solidFill>
                <a:latin typeface="Times New Roman" panose="02020603050405020304" pitchFamily="18" charset="0"/>
              </a:rPr>
              <a:t>组成：</a:t>
            </a:r>
            <a:r>
              <a:rPr lang="zh-CN" altLang="en-US" sz="2400" dirty="0">
                <a:solidFill>
                  <a:schemeClr val="accent2"/>
                </a:solidFill>
                <a:latin typeface="Times New Roman" panose="02020603050405020304" pitchFamily="18" charset="0"/>
              </a:rPr>
              <a:t>积分器、比较器、计数器、时钟发生器和控制逻辑电路。</a:t>
            </a:r>
            <a:endParaRPr lang="zh-CN" altLang="en-US" sz="2400" dirty="0">
              <a:solidFill>
                <a:schemeClr val="accent2"/>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pic>
        <p:nvPicPr>
          <p:cNvPr id="198771" name="Picture 115" descr="W[1X3{MMXEM36)VL0L80B39"/>
          <p:cNvPicPr>
            <a:picLocks noChangeAspect="1"/>
          </p:cNvPicPr>
          <p:nvPr/>
        </p:nvPicPr>
        <p:blipFill>
          <a:blip r:embed="rId1"/>
          <a:stretch>
            <a:fillRect/>
          </a:stretch>
        </p:blipFill>
        <p:spPr>
          <a:xfrm>
            <a:off x="1752600" y="2178050"/>
            <a:ext cx="5638800" cy="3162300"/>
          </a:xfrm>
          <a:prstGeom prst="rect">
            <a:avLst/>
          </a:prstGeom>
          <a:noFill/>
          <a:ln w="9525">
            <a:noFill/>
          </a:ln>
        </p:spPr>
      </p:pic>
      <p:sp>
        <p:nvSpPr>
          <p:cNvPr id="2335765" name="Text Box 21"/>
          <p:cNvSpPr txBox="1"/>
          <p:nvPr/>
        </p:nvSpPr>
        <p:spPr>
          <a:xfrm>
            <a:off x="404813" y="1397000"/>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单积分型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90027"/>
                                        </p:tgtEl>
                                        <p:attrNameLst>
                                          <p:attrName>style.visibility</p:attrName>
                                        </p:attrNameLst>
                                      </p:cBhvr>
                                      <p:to>
                                        <p:strVal val="visible"/>
                                      </p:to>
                                    </p:set>
                                    <p:animEffect transition="in" filter="dissolve">
                                      <p:cBhvr>
                                        <p:cTn id="7" dur="500"/>
                                        <p:tgtEl>
                                          <p:spTgt spid="23900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90028"/>
                                        </p:tgtEl>
                                        <p:attrNameLst>
                                          <p:attrName>style.visibility</p:attrName>
                                        </p:attrNameLst>
                                      </p:cBhvr>
                                      <p:to>
                                        <p:strVal val="visible"/>
                                      </p:to>
                                    </p:set>
                                    <p:animEffect transition="in" filter="dissolve">
                                      <p:cBhvr>
                                        <p:cTn id="12" dur="500"/>
                                        <p:tgtEl>
                                          <p:spTgt spid="23900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35765"/>
                                        </p:tgtEl>
                                        <p:attrNameLst>
                                          <p:attrName>style.visibility</p:attrName>
                                        </p:attrNameLst>
                                      </p:cBhvr>
                                      <p:to>
                                        <p:strVal val="visible"/>
                                      </p:to>
                                    </p:set>
                                    <p:animEffect transition="in" filter="dissolve">
                                      <p:cBhvr>
                                        <p:cTn id="17" dur="500"/>
                                        <p:tgtEl>
                                          <p:spTgt spid="233576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98771"/>
                                        </p:tgtEl>
                                        <p:attrNameLst>
                                          <p:attrName>style.visibility</p:attrName>
                                        </p:attrNameLst>
                                      </p:cBhvr>
                                      <p:to>
                                        <p:strVal val="visible"/>
                                      </p:to>
                                    </p:set>
                                    <p:animEffect transition="in" filter="dissolve">
                                      <p:cBhvr>
                                        <p:cTn id="22" dur="500"/>
                                        <p:tgtEl>
                                          <p:spTgt spid="19877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90186"/>
                                        </p:tgtEl>
                                        <p:attrNameLst>
                                          <p:attrName>style.visibility</p:attrName>
                                        </p:attrNameLst>
                                      </p:cBhvr>
                                      <p:to>
                                        <p:strVal val="visible"/>
                                      </p:to>
                                    </p:set>
                                    <p:animEffect transition="in" filter="dissolve">
                                      <p:cBhvr>
                                        <p:cTn id="27" dur="500"/>
                                        <p:tgtEl>
                                          <p:spTgt spid="2390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0027" grpId="0" bldLvl="0" animBg="1"/>
      <p:bldP spid="2390028" grpId="0"/>
      <p:bldP spid="2390186" grpId="0"/>
      <p:bldP spid="2335765" grpId="0" bldLvl="0" animBg="1"/>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81828" name="Text Box 4"/>
          <p:cNvSpPr txBox="1"/>
          <p:nvPr/>
        </p:nvSpPr>
        <p:spPr>
          <a:xfrm>
            <a:off x="215900" y="1557338"/>
            <a:ext cx="3673475" cy="1552575"/>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启动脉冲</a:t>
            </a:r>
            <a:r>
              <a:rPr lang="en-US" altLang="zh-CN" sz="2400" dirty="0">
                <a:solidFill>
                  <a:schemeClr val="tx1"/>
                </a:solidFill>
                <a:latin typeface="Times New Roman" panose="02020603050405020304" pitchFamily="18" charset="0"/>
              </a:rPr>
              <a:t>START</a:t>
            </a:r>
            <a:r>
              <a:rPr lang="zh-CN" altLang="en-US" sz="2400" dirty="0">
                <a:solidFill>
                  <a:schemeClr val="tx1"/>
                </a:solidFill>
                <a:latin typeface="Times New Roman" panose="02020603050405020304" pitchFamily="18" charset="0"/>
              </a:rPr>
              <a:t>把计数器清零，同时使开关</a:t>
            </a:r>
            <a:r>
              <a:rPr lang="en-US" altLang="zh-CN" sz="2400" dirty="0">
                <a:solidFill>
                  <a:schemeClr val="tx1"/>
                </a:solidFill>
                <a:latin typeface="Times New Roman" panose="02020603050405020304" pitchFamily="18" charset="0"/>
              </a:rPr>
              <a:t>SA</a:t>
            </a:r>
            <a:r>
              <a:rPr lang="zh-CN" altLang="en-US" sz="2400" dirty="0">
                <a:solidFill>
                  <a:schemeClr val="tx1"/>
                </a:solidFill>
                <a:latin typeface="Times New Roman" panose="02020603050405020304" pitchFamily="18" charset="0"/>
              </a:rPr>
              <a:t>闭合，积分电容放电至零；</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72708" name="Text Box 21"/>
          <p:cNvSpPr txBox="1"/>
          <p:nvPr/>
        </p:nvSpPr>
        <p:spPr>
          <a:xfrm>
            <a:off x="404813" y="774700"/>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单积分型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pic>
        <p:nvPicPr>
          <p:cNvPr id="72709" name="Picture 8" descr="W[1X3{MMXEM36)VL0L80B39"/>
          <p:cNvPicPr>
            <a:picLocks noChangeAspect="1"/>
          </p:cNvPicPr>
          <p:nvPr/>
        </p:nvPicPr>
        <p:blipFill>
          <a:blip r:embed="rId1"/>
          <a:stretch>
            <a:fillRect/>
          </a:stretch>
        </p:blipFill>
        <p:spPr>
          <a:xfrm>
            <a:off x="3838575" y="2076450"/>
            <a:ext cx="5051425" cy="2832100"/>
          </a:xfrm>
          <a:prstGeom prst="rect">
            <a:avLst/>
          </a:prstGeom>
          <a:noFill/>
          <a:ln w="9525">
            <a:noFill/>
          </a:ln>
        </p:spPr>
      </p:pic>
      <p:sp>
        <p:nvSpPr>
          <p:cNvPr id="2" name="Text Box 4"/>
          <p:cNvSpPr txBox="1"/>
          <p:nvPr/>
        </p:nvSpPr>
        <p:spPr>
          <a:xfrm>
            <a:off x="215900" y="3182938"/>
            <a:ext cx="3673475" cy="191770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en-US" altLang="zh-CN" sz="2400" dirty="0">
                <a:solidFill>
                  <a:schemeClr val="tx1"/>
                </a:solidFill>
                <a:latin typeface="Times New Roman" panose="02020603050405020304" pitchFamily="18" charset="0"/>
              </a:rPr>
              <a:t>START</a:t>
            </a:r>
            <a:r>
              <a:rPr lang="zh-CN" altLang="en-US" sz="2400" dirty="0">
                <a:solidFill>
                  <a:schemeClr val="tx1"/>
                </a:solidFill>
                <a:latin typeface="Times New Roman" panose="02020603050405020304" pitchFamily="18" charset="0"/>
              </a:rPr>
              <a:t>信号结束，开关</a:t>
            </a:r>
            <a:r>
              <a:rPr lang="en-US" altLang="zh-CN" sz="2400" dirty="0">
                <a:solidFill>
                  <a:schemeClr val="tx1"/>
                </a:solidFill>
                <a:latin typeface="Times New Roman" panose="02020603050405020304" pitchFamily="18" charset="0"/>
              </a:rPr>
              <a:t>SA</a:t>
            </a:r>
            <a:r>
              <a:rPr lang="zh-CN" altLang="en-US" sz="2400" dirty="0">
                <a:solidFill>
                  <a:schemeClr val="tx1"/>
                </a:solidFill>
                <a:latin typeface="Times New Roman" panose="02020603050405020304" pitchFamily="18" charset="0"/>
              </a:rPr>
              <a:t>打开，积分器输出电压</a:t>
            </a:r>
            <a:r>
              <a:rPr lang="en-US" altLang="zh-CN" sz="2400" i="1" dirty="0">
                <a:solidFill>
                  <a:schemeClr val="tx1"/>
                </a:solidFill>
                <a:latin typeface="Times New Roman" panose="02020603050405020304" pitchFamily="18" charset="0"/>
              </a:rPr>
              <a:t>V</a:t>
            </a:r>
            <a:r>
              <a:rPr lang="en-US" altLang="zh-CN" sz="2400" i="1" baseline="-25000" dirty="0">
                <a:solidFill>
                  <a:schemeClr val="tx1"/>
                </a:solidFill>
                <a:latin typeface="Times New Roman" panose="02020603050405020304" pitchFamily="18" charset="0"/>
              </a:rPr>
              <a:t>O</a:t>
            </a:r>
            <a:r>
              <a:rPr lang="zh-CN" altLang="en-US" sz="2400" dirty="0">
                <a:solidFill>
                  <a:schemeClr val="tx1"/>
                </a:solidFill>
                <a:latin typeface="Times New Roman" panose="02020603050405020304" pitchFamily="18" charset="0"/>
              </a:rPr>
              <a:t>和模拟输入电压</a:t>
            </a:r>
            <a:r>
              <a:rPr lang="en-US" altLang="zh-CN" sz="2400" i="1" dirty="0">
                <a:solidFill>
                  <a:schemeClr val="tx1"/>
                </a:solidFill>
                <a:latin typeface="Times New Roman" panose="02020603050405020304" pitchFamily="18" charset="0"/>
              </a:rPr>
              <a:t>V</a:t>
            </a:r>
            <a:r>
              <a:rPr lang="en-US" altLang="zh-CN" sz="2400" i="1" baseline="-25000" dirty="0">
                <a:solidFill>
                  <a:schemeClr val="tx1"/>
                </a:solidFill>
                <a:latin typeface="Times New Roman" panose="02020603050405020304" pitchFamily="18" charset="0"/>
              </a:rPr>
              <a:t>I</a:t>
            </a:r>
            <a:r>
              <a:rPr lang="zh-CN" altLang="en-US" sz="2400" dirty="0">
                <a:solidFill>
                  <a:schemeClr val="tx1"/>
                </a:solidFill>
                <a:latin typeface="Times New Roman" panose="02020603050405020304" pitchFamily="18" charset="0"/>
              </a:rPr>
              <a:t>分别加到比较器两输入端；</a:t>
            </a:r>
            <a:endParaRPr lang="zh-CN" altLang="en-US" sz="2400" dirty="0">
              <a:solidFill>
                <a:srgbClr val="3333FF"/>
              </a:solidFill>
              <a:latin typeface="Times New Roman" panose="02020603050405020304" pitchFamily="18" charset="0"/>
              <a:ea typeface="宋体" panose="02010600030101010101" pitchFamily="2" charset="-122"/>
            </a:endParaRPr>
          </a:p>
        </p:txBody>
      </p:sp>
      <p:sp>
        <p:nvSpPr>
          <p:cNvPr id="3" name="Text Box 4"/>
          <p:cNvSpPr txBox="1"/>
          <p:nvPr/>
        </p:nvSpPr>
        <p:spPr>
          <a:xfrm>
            <a:off x="215900" y="5176838"/>
            <a:ext cx="8521700" cy="822325"/>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与门</a:t>
            </a:r>
            <a:r>
              <a:rPr lang="en-US" altLang="zh-CN" sz="2400" dirty="0">
                <a:solidFill>
                  <a:schemeClr val="tx1"/>
                </a:solidFill>
                <a:latin typeface="Times New Roman" panose="02020603050405020304" pitchFamily="18" charset="0"/>
              </a:rPr>
              <a:t>G</a:t>
            </a:r>
            <a:r>
              <a:rPr lang="en-US" altLang="zh-CN" sz="2400" baseline="-25000" dirty="0">
                <a:solidFill>
                  <a:schemeClr val="tx1"/>
                </a:solidFill>
                <a:latin typeface="Times New Roman" panose="02020603050405020304" pitchFamily="18" charset="0"/>
              </a:rPr>
              <a:t>2</a:t>
            </a:r>
            <a:r>
              <a:rPr lang="zh-CN" altLang="en-US" sz="2400" dirty="0">
                <a:solidFill>
                  <a:schemeClr val="tx1"/>
                </a:solidFill>
                <a:latin typeface="Times New Roman" panose="02020603050405020304" pitchFamily="18" charset="0"/>
              </a:rPr>
              <a:t>输出脉宽</a:t>
            </a:r>
            <a:r>
              <a:rPr lang="en-US" altLang="zh-CN" sz="2400" i="1" dirty="0">
                <a:solidFill>
                  <a:schemeClr val="tx1"/>
                </a:solidFill>
                <a:latin typeface="Times New Roman" panose="02020603050405020304" pitchFamily="18" charset="0"/>
              </a:rPr>
              <a:t>T</a:t>
            </a:r>
            <a:r>
              <a:rPr lang="zh-CN" altLang="en-US" sz="2400" dirty="0">
                <a:solidFill>
                  <a:schemeClr val="tx1"/>
                </a:solidFill>
                <a:latin typeface="Times New Roman" panose="02020603050405020304" pitchFamily="18" charset="0"/>
              </a:rPr>
              <a:t>与</a:t>
            </a:r>
            <a:r>
              <a:rPr lang="en-US" altLang="zh-CN" sz="2400" i="1" dirty="0">
                <a:solidFill>
                  <a:schemeClr val="tx1"/>
                </a:solidFill>
                <a:latin typeface="Times New Roman" panose="02020603050405020304" pitchFamily="18" charset="0"/>
              </a:rPr>
              <a:t>V</a:t>
            </a:r>
            <a:r>
              <a:rPr lang="en-US" altLang="zh-CN" sz="2400" i="1" baseline="-25000" dirty="0">
                <a:solidFill>
                  <a:schemeClr val="tx1"/>
                </a:solidFill>
                <a:latin typeface="Times New Roman" panose="02020603050405020304" pitchFamily="18" charset="0"/>
              </a:rPr>
              <a:t>I</a:t>
            </a:r>
            <a:r>
              <a:rPr lang="zh-CN" altLang="en-US" sz="2400" dirty="0">
                <a:solidFill>
                  <a:schemeClr val="tx1"/>
                </a:solidFill>
                <a:latin typeface="Times New Roman" panose="02020603050405020304" pitchFamily="18" charset="0"/>
              </a:rPr>
              <a:t>成正比，在</a:t>
            </a:r>
            <a:r>
              <a:rPr lang="en-US" altLang="zh-CN" sz="2400" i="1" dirty="0">
                <a:solidFill>
                  <a:schemeClr val="tx1"/>
                </a:solidFill>
                <a:latin typeface="Times New Roman" panose="02020603050405020304" pitchFamily="18" charset="0"/>
              </a:rPr>
              <a:t>T</a:t>
            </a:r>
            <a:r>
              <a:rPr lang="zh-CN" altLang="en-US" sz="2400" dirty="0">
                <a:solidFill>
                  <a:schemeClr val="tx1"/>
                </a:solidFill>
                <a:latin typeface="Times New Roman" panose="02020603050405020304" pitchFamily="18" charset="0"/>
              </a:rPr>
              <a:t>时间内与门</a:t>
            </a:r>
            <a:r>
              <a:rPr lang="en-US" altLang="zh-CN" sz="2400" dirty="0">
                <a:solidFill>
                  <a:schemeClr val="tx1"/>
                </a:solidFill>
                <a:latin typeface="Times New Roman" panose="02020603050405020304" pitchFamily="18" charset="0"/>
              </a:rPr>
              <a:t>G</a:t>
            </a:r>
            <a:r>
              <a:rPr lang="en-US" altLang="zh-CN" sz="2400" baseline="-25000" dirty="0">
                <a:solidFill>
                  <a:schemeClr val="tx1"/>
                </a:solidFill>
                <a:latin typeface="Times New Roman" panose="02020603050405020304" pitchFamily="18" charset="0"/>
              </a:rPr>
              <a:t>3</a:t>
            </a:r>
            <a:r>
              <a:rPr lang="zh-CN" altLang="en-US" sz="2400" dirty="0">
                <a:solidFill>
                  <a:schemeClr val="tx1"/>
                </a:solidFill>
                <a:latin typeface="Times New Roman" panose="02020603050405020304" pitchFamily="18" charset="0"/>
              </a:rPr>
              <a:t>打开，计数器对时钟计数，计数终值</a:t>
            </a:r>
            <a:r>
              <a:rPr lang="en-US" altLang="zh-CN" sz="2400" i="1" dirty="0">
                <a:solidFill>
                  <a:schemeClr val="tx1"/>
                </a:solidFill>
                <a:latin typeface="Times New Roman" panose="02020603050405020304" pitchFamily="18" charset="0"/>
              </a:rPr>
              <a:t>D</a:t>
            </a:r>
            <a:r>
              <a:rPr lang="en-US" altLang="zh-CN" sz="2400" i="1" baseline="-25000" dirty="0">
                <a:solidFill>
                  <a:schemeClr val="tx1"/>
                </a:solidFill>
                <a:latin typeface="Times New Roman" panose="02020603050405020304" pitchFamily="18" charset="0"/>
              </a:rPr>
              <a:t>N</a:t>
            </a:r>
            <a:r>
              <a:rPr lang="zh-CN" altLang="en-US" sz="2400" dirty="0">
                <a:solidFill>
                  <a:schemeClr val="tx1"/>
                </a:solidFill>
                <a:latin typeface="Times New Roman" panose="02020603050405020304" pitchFamily="18" charset="0"/>
              </a:rPr>
              <a:t>即为模数转换结果。</a:t>
            </a:r>
            <a:endParaRPr lang="zh-CN" altLang="en-US" sz="2400" dirty="0">
              <a:solidFill>
                <a:srgbClr val="3333FF"/>
              </a:solidFill>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81828">
                                            <p:txEl>
                                              <p:charRg st="0" end="36"/>
                                            </p:txEl>
                                          </p:spTgt>
                                        </p:tgtEl>
                                        <p:attrNameLst>
                                          <p:attrName>style.visibility</p:attrName>
                                        </p:attrNameLst>
                                      </p:cBhvr>
                                      <p:to>
                                        <p:strVal val="visible"/>
                                      </p:to>
                                    </p:set>
                                    <p:animEffect transition="in" filter="dissolve">
                                      <p:cBhvr>
                                        <p:cTn id="7" dur="500"/>
                                        <p:tgtEl>
                                          <p:spTgt spid="2381828">
                                            <p:txEl>
                                              <p:charRg st="0" end="36"/>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charRg st="0" end="48"/>
                                            </p:txEl>
                                          </p:spTgt>
                                        </p:tgtEl>
                                        <p:attrNameLst>
                                          <p:attrName>style.visibility</p:attrName>
                                        </p:attrNameLst>
                                      </p:cBhvr>
                                      <p:to>
                                        <p:strVal val="visible"/>
                                      </p:to>
                                    </p:set>
                                    <p:animEffect transition="in" filter="dissolve">
                                      <p:cBhvr>
                                        <p:cTn id="12" dur="500"/>
                                        <p:tgtEl>
                                          <p:spTgt spid="2">
                                            <p:txEl>
                                              <p:charRg st="0" end="4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charRg st="0" end="53"/>
                                            </p:txEl>
                                          </p:spTgt>
                                        </p:tgtEl>
                                        <p:attrNameLst>
                                          <p:attrName>style.visibility</p:attrName>
                                        </p:attrNameLst>
                                      </p:cBhvr>
                                      <p:to>
                                        <p:strVal val="visible"/>
                                      </p:to>
                                    </p:set>
                                    <p:animEffect transition="in" filter="dissolve">
                                      <p:cBhvr>
                                        <p:cTn id="17" dur="500"/>
                                        <p:tgtEl>
                                          <p:spTgt spid="3">
                                            <p:txEl>
                                              <p:charRg st="0" end="5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1828" grpId="0" build="p"/>
      <p:bldP spid="2" grpId="0" build="p"/>
      <p:bldP spid="3" grpId="0" build="p"/>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3731" name="Text Box 21"/>
          <p:cNvSpPr txBox="1"/>
          <p:nvPr/>
        </p:nvSpPr>
        <p:spPr>
          <a:xfrm>
            <a:off x="404813" y="774700"/>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单积分型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sp>
        <p:nvSpPr>
          <p:cNvPr id="2381828" name="Text Box 4"/>
          <p:cNvSpPr txBox="1"/>
          <p:nvPr/>
        </p:nvSpPr>
        <p:spPr>
          <a:xfrm>
            <a:off x="215900" y="3182938"/>
            <a:ext cx="3673475" cy="1187450"/>
          </a:xfrm>
          <a:prstGeom prst="rect">
            <a:avLst/>
          </a:prstGeom>
          <a:noFill/>
          <a:ln w="9525">
            <a:noFill/>
          </a:ln>
        </p:spPr>
        <p:txBody>
          <a:bodyPr>
            <a:spAutoFit/>
          </a:bodyPr>
          <a:p>
            <a:pPr marL="447675" indent="-447675" eaLnBrk="1" hangingPunct="1">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比较器在临界翻转时，</a:t>
            </a:r>
            <a:r>
              <a:rPr lang="en-US" altLang="zh-CN" sz="2400" i="1" dirty="0">
                <a:solidFill>
                  <a:schemeClr val="tx1"/>
                </a:solidFill>
                <a:latin typeface="Times New Roman" panose="02020603050405020304" pitchFamily="18" charset="0"/>
              </a:rPr>
              <a:t>V</a:t>
            </a:r>
            <a:r>
              <a:rPr lang="en-US" altLang="zh-CN" sz="2400" i="1" baseline="-25000" dirty="0">
                <a:solidFill>
                  <a:schemeClr val="tx1"/>
                </a:solidFill>
                <a:latin typeface="Times New Roman" panose="02020603050405020304" pitchFamily="18" charset="0"/>
              </a:rPr>
              <a:t>I</a:t>
            </a:r>
            <a:r>
              <a:rPr lang="en-US" altLang="zh-CN" sz="2400" dirty="0">
                <a:solidFill>
                  <a:schemeClr val="tx1"/>
                </a:solidFill>
                <a:latin typeface="Times New Roman" panose="02020603050405020304" pitchFamily="18" charset="0"/>
              </a:rPr>
              <a:t>=</a:t>
            </a:r>
            <a:r>
              <a:rPr lang="en-US" altLang="zh-CN" sz="2400" i="1" dirty="0">
                <a:solidFill>
                  <a:schemeClr val="tx1"/>
                </a:solidFill>
                <a:latin typeface="Times New Roman" panose="02020603050405020304" pitchFamily="18" charset="0"/>
              </a:rPr>
              <a:t>V</a:t>
            </a:r>
            <a:r>
              <a:rPr lang="en-US" altLang="zh-CN" sz="2400" i="1" baseline="-25000" dirty="0">
                <a:solidFill>
                  <a:schemeClr val="tx1"/>
                </a:solidFill>
                <a:latin typeface="Times New Roman" panose="02020603050405020304" pitchFamily="18" charset="0"/>
              </a:rPr>
              <a:t>O</a:t>
            </a:r>
            <a:r>
              <a:rPr lang="zh-CN" altLang="en-US" sz="2400" dirty="0">
                <a:solidFill>
                  <a:schemeClr val="tx1"/>
                </a:solidFill>
                <a:latin typeface="Times New Roman" panose="02020603050405020304" pitchFamily="18" charset="0"/>
              </a:rPr>
              <a:t>，积分时间为</a:t>
            </a:r>
            <a:r>
              <a:rPr lang="en-US" altLang="zh-CN" sz="2400" i="1" dirty="0">
                <a:solidFill>
                  <a:schemeClr val="tx1"/>
                </a:solidFill>
                <a:latin typeface="Times New Roman" panose="02020603050405020304" pitchFamily="18" charset="0"/>
              </a:rPr>
              <a:t>T</a:t>
            </a:r>
            <a:r>
              <a:rPr lang="zh-CN" altLang="en-US" sz="2400" dirty="0">
                <a:solidFill>
                  <a:schemeClr val="tx1"/>
                </a:solidFill>
                <a:latin typeface="Times New Roman" panose="02020603050405020304" pitchFamily="18" charset="0"/>
              </a:rPr>
              <a:t>，因此：</a:t>
            </a:r>
            <a:endParaRPr lang="zh-CN" altLang="en-US" sz="2400" dirty="0">
              <a:solidFill>
                <a:srgbClr val="3333FF"/>
              </a:solidFill>
              <a:latin typeface="Times New Roman" panose="02020603050405020304" pitchFamily="18" charset="0"/>
              <a:ea typeface="宋体" panose="02010600030101010101" pitchFamily="2" charset="-122"/>
            </a:endParaRPr>
          </a:p>
        </p:txBody>
      </p:sp>
      <p:pic>
        <p:nvPicPr>
          <p:cNvPr id="200712" name="Picture 8" descr="]0C7Y(S81M9S2QPWMOCJ9IJ"/>
          <p:cNvPicPr>
            <a:picLocks noChangeAspect="1"/>
          </p:cNvPicPr>
          <p:nvPr/>
        </p:nvPicPr>
        <p:blipFill>
          <a:blip r:embed="rId1"/>
          <a:stretch>
            <a:fillRect/>
          </a:stretch>
        </p:blipFill>
        <p:spPr>
          <a:xfrm>
            <a:off x="3770313" y="820738"/>
            <a:ext cx="4802187" cy="4386262"/>
          </a:xfrm>
          <a:prstGeom prst="rect">
            <a:avLst/>
          </a:prstGeom>
          <a:noFill/>
          <a:ln w="9525">
            <a:noFill/>
          </a:ln>
        </p:spPr>
      </p:pic>
      <p:graphicFrame>
        <p:nvGraphicFramePr>
          <p:cNvPr id="2476258" name="Object 226"/>
          <p:cNvGraphicFramePr>
            <a:graphicFrameLocks noChangeAspect="1"/>
          </p:cNvGraphicFramePr>
          <p:nvPr/>
        </p:nvGraphicFramePr>
        <p:xfrm>
          <a:off x="404813" y="1439863"/>
          <a:ext cx="3378200" cy="871537"/>
        </p:xfrm>
        <a:graphic>
          <a:graphicData uri="http://schemas.openxmlformats.org/presentationml/2006/ole">
            <mc:AlternateContent xmlns:mc="http://schemas.openxmlformats.org/markup-compatibility/2006">
              <mc:Choice xmlns:v="urn:schemas-microsoft-com:vml" Requires="v">
                <p:oleObj spid="_x0000_s3087" name="" r:id="rId2" imgW="1435100" imgH="393700" progId="Equation.DSMT4">
                  <p:embed/>
                </p:oleObj>
              </mc:Choice>
              <mc:Fallback>
                <p:oleObj name="" r:id="rId2" imgW="1435100" imgH="393700" progId="Equation.DSMT4">
                  <p:embed/>
                  <p:pic>
                    <p:nvPicPr>
                      <p:cNvPr id="0" name="图片 3086"/>
                      <p:cNvPicPr/>
                      <p:nvPr/>
                    </p:nvPicPr>
                    <p:blipFill>
                      <a:blip r:embed="rId3"/>
                      <a:stretch>
                        <a:fillRect/>
                      </a:stretch>
                    </p:blipFill>
                    <p:spPr>
                      <a:xfrm>
                        <a:off x="404813" y="1439863"/>
                        <a:ext cx="3378200" cy="871537"/>
                      </a:xfrm>
                      <a:prstGeom prst="rect">
                        <a:avLst/>
                      </a:prstGeom>
                      <a:solidFill>
                        <a:srgbClr val="FFFF99"/>
                      </a:solidFill>
                      <a:ln w="38100">
                        <a:noFill/>
                        <a:miter/>
                      </a:ln>
                    </p:spPr>
                  </p:pic>
                </p:oleObj>
              </mc:Fallback>
            </mc:AlternateContent>
          </a:graphicData>
        </a:graphic>
      </p:graphicFrame>
      <p:graphicFrame>
        <p:nvGraphicFramePr>
          <p:cNvPr id="2" name="Object 226"/>
          <p:cNvGraphicFramePr>
            <a:graphicFrameLocks noChangeAspect="1"/>
          </p:cNvGraphicFramePr>
          <p:nvPr/>
        </p:nvGraphicFramePr>
        <p:xfrm>
          <a:off x="871538" y="2311400"/>
          <a:ext cx="1225550" cy="871538"/>
        </p:xfrm>
        <a:graphic>
          <a:graphicData uri="http://schemas.openxmlformats.org/presentationml/2006/ole">
            <mc:AlternateContent xmlns:mc="http://schemas.openxmlformats.org/markup-compatibility/2006">
              <mc:Choice xmlns:v="urn:schemas-microsoft-com:vml" Requires="v">
                <p:oleObj spid="_x0000_s3088" name="" r:id="rId4" imgW="520700" imgH="393700" progId="Equation.DSMT4">
                  <p:embed/>
                </p:oleObj>
              </mc:Choice>
              <mc:Fallback>
                <p:oleObj name="" r:id="rId4" imgW="520700" imgH="393700" progId="Equation.DSMT4">
                  <p:embed/>
                  <p:pic>
                    <p:nvPicPr>
                      <p:cNvPr id="0" name="图片 3087"/>
                      <p:cNvPicPr/>
                      <p:nvPr/>
                    </p:nvPicPr>
                    <p:blipFill>
                      <a:blip r:embed="rId5"/>
                      <a:stretch>
                        <a:fillRect/>
                      </a:stretch>
                    </p:blipFill>
                    <p:spPr>
                      <a:xfrm>
                        <a:off x="871538" y="2311400"/>
                        <a:ext cx="1225550" cy="871538"/>
                      </a:xfrm>
                      <a:prstGeom prst="rect">
                        <a:avLst/>
                      </a:prstGeom>
                      <a:solidFill>
                        <a:srgbClr val="FFFF99"/>
                      </a:solidFill>
                      <a:ln w="38100">
                        <a:noFill/>
                        <a:miter/>
                      </a:ln>
                    </p:spPr>
                  </p:pic>
                </p:oleObj>
              </mc:Fallback>
            </mc:AlternateContent>
          </a:graphicData>
        </a:graphic>
      </p:graphicFrame>
      <p:graphicFrame>
        <p:nvGraphicFramePr>
          <p:cNvPr id="3" name="Object 226"/>
          <p:cNvGraphicFramePr>
            <a:graphicFrameLocks noChangeAspect="1"/>
          </p:cNvGraphicFramePr>
          <p:nvPr/>
        </p:nvGraphicFramePr>
        <p:xfrm>
          <a:off x="804863" y="4335463"/>
          <a:ext cx="2451100" cy="871537"/>
        </p:xfrm>
        <a:graphic>
          <a:graphicData uri="http://schemas.openxmlformats.org/presentationml/2006/ole">
            <mc:AlternateContent xmlns:mc="http://schemas.openxmlformats.org/markup-compatibility/2006">
              <mc:Choice xmlns:v="urn:schemas-microsoft-com:vml" Requires="v">
                <p:oleObj spid="_x0000_s3086" name="" r:id="rId6" imgW="1040765" imgH="393700" progId="Equation.DSMT4">
                  <p:embed/>
                </p:oleObj>
              </mc:Choice>
              <mc:Fallback>
                <p:oleObj name="" r:id="rId6" imgW="1040765" imgH="393700" progId="Equation.DSMT4">
                  <p:embed/>
                  <p:pic>
                    <p:nvPicPr>
                      <p:cNvPr id="0" name="图片 3085"/>
                      <p:cNvPicPr/>
                      <p:nvPr/>
                    </p:nvPicPr>
                    <p:blipFill>
                      <a:blip r:embed="rId7"/>
                      <a:stretch>
                        <a:fillRect/>
                      </a:stretch>
                    </p:blipFill>
                    <p:spPr>
                      <a:xfrm>
                        <a:off x="804863" y="4335463"/>
                        <a:ext cx="2451100" cy="871537"/>
                      </a:xfrm>
                      <a:prstGeom prst="rect">
                        <a:avLst/>
                      </a:prstGeom>
                      <a:solidFill>
                        <a:srgbClr val="FFFF99"/>
                      </a:solidFill>
                      <a:ln w="38100">
                        <a:noFill/>
                        <a:miter/>
                      </a:ln>
                    </p:spPr>
                  </p:pic>
                </p:oleObj>
              </mc:Fallback>
            </mc:AlternateContent>
          </a:graphicData>
        </a:graphic>
      </p:graphicFrame>
      <p:graphicFrame>
        <p:nvGraphicFramePr>
          <p:cNvPr id="4" name="Object 226"/>
          <p:cNvGraphicFramePr>
            <a:graphicFrameLocks noChangeAspect="1"/>
          </p:cNvGraphicFramePr>
          <p:nvPr/>
        </p:nvGraphicFramePr>
        <p:xfrm>
          <a:off x="790575" y="5207000"/>
          <a:ext cx="1703388" cy="955675"/>
        </p:xfrm>
        <a:graphic>
          <a:graphicData uri="http://schemas.openxmlformats.org/presentationml/2006/ole">
            <mc:AlternateContent xmlns:mc="http://schemas.openxmlformats.org/markup-compatibility/2006">
              <mc:Choice xmlns:v="urn:schemas-microsoft-com:vml" Requires="v">
                <p:oleObj spid="_x0000_s3084" name="" r:id="rId8" imgW="723900" imgH="431800" progId="Equation.DSMT4">
                  <p:embed/>
                </p:oleObj>
              </mc:Choice>
              <mc:Fallback>
                <p:oleObj name="" r:id="rId8" imgW="723900" imgH="431800" progId="Equation.DSMT4">
                  <p:embed/>
                  <p:pic>
                    <p:nvPicPr>
                      <p:cNvPr id="0" name="图片 3083"/>
                      <p:cNvPicPr/>
                      <p:nvPr/>
                    </p:nvPicPr>
                    <p:blipFill>
                      <a:blip r:embed="rId9"/>
                      <a:stretch>
                        <a:fillRect/>
                      </a:stretch>
                    </p:blipFill>
                    <p:spPr>
                      <a:xfrm>
                        <a:off x="790575" y="5207000"/>
                        <a:ext cx="1703388" cy="955675"/>
                      </a:xfrm>
                      <a:prstGeom prst="rect">
                        <a:avLst/>
                      </a:prstGeom>
                      <a:solidFill>
                        <a:srgbClr val="FFFF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0712"/>
                                        </p:tgtEl>
                                        <p:attrNameLst>
                                          <p:attrName>style.visibility</p:attrName>
                                        </p:attrNameLst>
                                      </p:cBhvr>
                                      <p:to>
                                        <p:strVal val="visible"/>
                                      </p:to>
                                    </p:set>
                                    <p:animEffect transition="in" filter="dissolve">
                                      <p:cBhvr>
                                        <p:cTn id="7" dur="500"/>
                                        <p:tgtEl>
                                          <p:spTgt spid="2007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76258"/>
                                        </p:tgtEl>
                                        <p:attrNameLst>
                                          <p:attrName>style.visibility</p:attrName>
                                        </p:attrNameLst>
                                      </p:cBhvr>
                                      <p:to>
                                        <p:strVal val="visible"/>
                                      </p:to>
                                    </p:set>
                                    <p:animEffect transition="in" filter="wipe(left)">
                                      <p:cBhvr>
                                        <p:cTn id="12" dur="500"/>
                                        <p:tgtEl>
                                          <p:spTgt spid="2476258"/>
                                        </p:tgtEl>
                                      </p:cBhvr>
                                    </p:animEffect>
                                  </p:childTnLst>
                                </p:cTn>
                              </p:par>
                              <p:par>
                                <p:cTn id="13" presetID="22" presetClass="entr" presetSubtype="8"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381828">
                                            <p:txEl>
                                              <p:charRg st="0" end="27"/>
                                            </p:txEl>
                                          </p:spTgt>
                                        </p:tgtEl>
                                        <p:attrNameLst>
                                          <p:attrName>style.visibility</p:attrName>
                                        </p:attrNameLst>
                                      </p:cBhvr>
                                      <p:to>
                                        <p:strVal val="visible"/>
                                      </p:to>
                                    </p:set>
                                    <p:animEffect transition="in" filter="dissolve">
                                      <p:cBhvr>
                                        <p:cTn id="20" dur="500"/>
                                        <p:tgtEl>
                                          <p:spTgt spid="2381828">
                                            <p:txEl>
                                              <p:charRg st="0" end="27"/>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wipe(left)">
                                      <p:cBhvr>
                                        <p:cTn id="3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1828" grpId="0" build="p"/>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4755" name="Text Box 21"/>
          <p:cNvSpPr txBox="1"/>
          <p:nvPr/>
        </p:nvSpPr>
        <p:spPr>
          <a:xfrm>
            <a:off x="404813" y="774700"/>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单积分型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sp>
        <p:nvSpPr>
          <p:cNvPr id="2381828" name="Text Box 4"/>
          <p:cNvSpPr txBox="1"/>
          <p:nvPr/>
        </p:nvSpPr>
        <p:spPr>
          <a:xfrm>
            <a:off x="215900" y="3657600"/>
            <a:ext cx="8521700" cy="1800225"/>
          </a:xfrm>
          <a:prstGeom prst="rect">
            <a:avLst/>
          </a:prstGeom>
          <a:noFill/>
          <a:ln w="9525">
            <a:noFill/>
          </a:ln>
        </p:spPr>
        <p:txBody>
          <a:bodyPr>
            <a:spAutoFit/>
          </a:bodyPr>
          <a:p>
            <a:pPr marL="447675" indent="-447675" eaLnBrk="1" hangingPunct="1">
              <a:buClr>
                <a:srgbClr val="FF0000"/>
              </a:buClr>
              <a:buFont typeface="Wingdings" panose="05000000000000000000" pitchFamily="2" charset="2"/>
            </a:pPr>
            <a:r>
              <a:rPr lang="zh-CN" altLang="en-US" dirty="0">
                <a:solidFill>
                  <a:srgbClr val="FF3300"/>
                </a:solidFill>
                <a:latin typeface="Times New Roman" panose="02020603050405020304" pitchFamily="18" charset="0"/>
              </a:rPr>
              <a:t>总结：</a:t>
            </a:r>
            <a:endParaRPr lang="zh-CN" altLang="en-US" dirty="0">
              <a:solidFill>
                <a:srgbClr val="FF3300"/>
              </a:solidFill>
              <a:latin typeface="Times New Roman" panose="02020603050405020304" pitchFamily="18" charset="0"/>
            </a:endParaRPr>
          </a:p>
          <a:p>
            <a:pPr marL="447675" indent="-447675" eaLnBrk="1" hangingPunct="1">
              <a:buClr>
                <a:srgbClr val="FF0000"/>
              </a:buClr>
              <a:buFont typeface="Wingdings" panose="05000000000000000000" pitchFamily="2" charset="2"/>
            </a:pPr>
            <a:r>
              <a:rPr lang="zh-CN" altLang="en-US" dirty="0">
                <a:solidFill>
                  <a:srgbClr val="FF3300"/>
                </a:solidFill>
                <a:latin typeface="Times New Roman" panose="02020603050405020304" pitchFamily="18" charset="0"/>
              </a:rPr>
              <a:t>     </a:t>
            </a:r>
            <a:r>
              <a:rPr lang="zh-CN" altLang="en-US" dirty="0">
                <a:solidFill>
                  <a:schemeClr val="accent2"/>
                </a:solidFill>
                <a:latin typeface="Times New Roman" panose="02020603050405020304" pitchFamily="18" charset="0"/>
              </a:rPr>
              <a:t>单积分型</a:t>
            </a:r>
            <a:r>
              <a:rPr lang="en-US" altLang="zh-CN" dirty="0">
                <a:solidFill>
                  <a:schemeClr val="accent2"/>
                </a:solidFill>
                <a:latin typeface="Times New Roman" panose="02020603050405020304" pitchFamily="18" charset="0"/>
              </a:rPr>
              <a:t>ADC</a:t>
            </a:r>
            <a:r>
              <a:rPr lang="zh-CN" altLang="en-US" dirty="0">
                <a:solidFill>
                  <a:schemeClr val="accent2"/>
                </a:solidFill>
                <a:latin typeface="Times New Roman" panose="02020603050405020304" pitchFamily="18" charset="0"/>
              </a:rPr>
              <a:t>电路简单，成本低，但影响转换精度的因素比较多，与</a:t>
            </a:r>
            <a:r>
              <a:rPr lang="en-US" altLang="zh-CN" dirty="0">
                <a:solidFill>
                  <a:schemeClr val="accent2"/>
                </a:solidFill>
                <a:latin typeface="Times New Roman" panose="02020603050405020304" pitchFamily="18" charset="0"/>
              </a:rPr>
              <a:t>f</a:t>
            </a:r>
            <a:r>
              <a:rPr lang="en-US" altLang="zh-CN" baseline="-25000" dirty="0">
                <a:solidFill>
                  <a:schemeClr val="accent2"/>
                </a:solidFill>
                <a:latin typeface="Times New Roman" panose="02020603050405020304" pitchFamily="18" charset="0"/>
              </a:rPr>
              <a:t>c</a:t>
            </a:r>
            <a:r>
              <a:rPr lang="zh-CN" altLang="en-US" dirty="0">
                <a:solidFill>
                  <a:schemeClr val="accent2"/>
                </a:solidFill>
                <a:latin typeface="Times New Roman" panose="02020603050405020304" pitchFamily="18" charset="0"/>
              </a:rPr>
              <a:t>、</a:t>
            </a:r>
            <a:r>
              <a:rPr lang="en-US" altLang="zh-CN" dirty="0">
                <a:solidFill>
                  <a:schemeClr val="accent2"/>
                </a:solidFill>
                <a:latin typeface="Times New Roman" panose="02020603050405020304" pitchFamily="18" charset="0"/>
              </a:rPr>
              <a:t>V</a:t>
            </a:r>
            <a:r>
              <a:rPr lang="en-US" altLang="zh-CN" baseline="-25000" dirty="0">
                <a:solidFill>
                  <a:schemeClr val="accent2"/>
                </a:solidFill>
                <a:latin typeface="Times New Roman" panose="02020603050405020304" pitchFamily="18" charset="0"/>
              </a:rPr>
              <a:t>REF</a:t>
            </a:r>
            <a:r>
              <a:rPr lang="zh-CN" altLang="en-US" dirty="0">
                <a:solidFill>
                  <a:schemeClr val="accent2"/>
                </a:solidFill>
                <a:latin typeface="Times New Roman" panose="02020603050405020304" pitchFamily="18" charset="0"/>
              </a:rPr>
              <a:t>、</a:t>
            </a:r>
            <a:r>
              <a:rPr lang="en-US" altLang="zh-CN" dirty="0">
                <a:solidFill>
                  <a:schemeClr val="accent2"/>
                </a:solidFill>
                <a:latin typeface="Times New Roman" panose="02020603050405020304" pitchFamily="18" charset="0"/>
              </a:rPr>
              <a:t>R</a:t>
            </a:r>
            <a:r>
              <a:rPr lang="zh-CN" altLang="en-US" dirty="0">
                <a:solidFill>
                  <a:schemeClr val="accent2"/>
                </a:solidFill>
                <a:latin typeface="Times New Roman" panose="02020603050405020304" pitchFamily="18" charset="0"/>
              </a:rPr>
              <a:t>、</a:t>
            </a:r>
            <a:r>
              <a:rPr lang="en-US" altLang="zh-CN" dirty="0">
                <a:solidFill>
                  <a:schemeClr val="accent2"/>
                </a:solidFill>
                <a:latin typeface="Times New Roman" panose="02020603050405020304" pitchFamily="18" charset="0"/>
              </a:rPr>
              <a:t>C</a:t>
            </a:r>
            <a:r>
              <a:rPr lang="zh-CN" altLang="en-US" dirty="0">
                <a:solidFill>
                  <a:schemeClr val="accent2"/>
                </a:solidFill>
                <a:latin typeface="Times New Roman" panose="02020603050405020304" pitchFamily="18" charset="0"/>
              </a:rPr>
              <a:t>的误差和稳定性都有关。</a:t>
            </a:r>
            <a:endParaRPr lang="zh-CN" altLang="en-US" dirty="0">
              <a:solidFill>
                <a:schemeClr val="accent2"/>
              </a:solidFill>
              <a:latin typeface="Times New Roman" panose="02020603050405020304" pitchFamily="18" charset="0"/>
              <a:ea typeface="宋体" panose="02010600030101010101" pitchFamily="2" charset="-122"/>
            </a:endParaRPr>
          </a:p>
        </p:txBody>
      </p:sp>
      <p:graphicFrame>
        <p:nvGraphicFramePr>
          <p:cNvPr id="2476258" name="Object 226"/>
          <p:cNvGraphicFramePr>
            <a:graphicFrameLocks noChangeAspect="1"/>
          </p:cNvGraphicFramePr>
          <p:nvPr/>
        </p:nvGraphicFramePr>
        <p:xfrm>
          <a:off x="2206625" y="1638300"/>
          <a:ext cx="4630738" cy="955675"/>
        </p:xfrm>
        <a:graphic>
          <a:graphicData uri="http://schemas.openxmlformats.org/presentationml/2006/ole">
            <mc:AlternateContent xmlns:mc="http://schemas.openxmlformats.org/markup-compatibility/2006">
              <mc:Choice xmlns:v="urn:schemas-microsoft-com:vml" Requires="v">
                <p:oleObj spid="_x0000_s3083" name="" r:id="rId1" imgW="1968500" imgH="431800" progId="Equation.DSMT4">
                  <p:embed/>
                </p:oleObj>
              </mc:Choice>
              <mc:Fallback>
                <p:oleObj name="" r:id="rId1" imgW="1968500" imgH="431800" progId="Equation.DSMT4">
                  <p:embed/>
                  <p:pic>
                    <p:nvPicPr>
                      <p:cNvPr id="0" name="图片 3082"/>
                      <p:cNvPicPr/>
                      <p:nvPr/>
                    </p:nvPicPr>
                    <p:blipFill>
                      <a:blip r:embed="rId2"/>
                      <a:stretch>
                        <a:fillRect/>
                      </a:stretch>
                    </p:blipFill>
                    <p:spPr>
                      <a:xfrm>
                        <a:off x="2206625" y="1638300"/>
                        <a:ext cx="4630738" cy="955675"/>
                      </a:xfrm>
                      <a:prstGeom prst="rect">
                        <a:avLst/>
                      </a:prstGeom>
                      <a:solidFill>
                        <a:srgbClr val="FFFF99"/>
                      </a:solidFill>
                      <a:ln w="38100">
                        <a:noFill/>
                        <a:miter/>
                      </a:ln>
                    </p:spPr>
                  </p:pic>
                </p:oleObj>
              </mc:Fallback>
            </mc:AlternateContent>
          </a:graphicData>
        </a:graphic>
      </p:graphicFrame>
      <p:graphicFrame>
        <p:nvGraphicFramePr>
          <p:cNvPr id="2" name="Object 226"/>
          <p:cNvGraphicFramePr>
            <a:graphicFrameLocks noChangeAspect="1"/>
          </p:cNvGraphicFramePr>
          <p:nvPr/>
        </p:nvGraphicFramePr>
        <p:xfrm>
          <a:off x="2757488" y="2593975"/>
          <a:ext cx="2271712" cy="955675"/>
        </p:xfrm>
        <a:graphic>
          <a:graphicData uri="http://schemas.openxmlformats.org/presentationml/2006/ole">
            <mc:AlternateContent xmlns:mc="http://schemas.openxmlformats.org/markup-compatibility/2006">
              <mc:Choice xmlns:v="urn:schemas-microsoft-com:vml" Requires="v">
                <p:oleObj spid="_x0000_s3085" name="" r:id="rId3" imgW="965200" imgH="431800" progId="Equation.DSMT4">
                  <p:embed/>
                </p:oleObj>
              </mc:Choice>
              <mc:Fallback>
                <p:oleObj name="" r:id="rId3" imgW="965200" imgH="431800" progId="Equation.DSMT4">
                  <p:embed/>
                  <p:pic>
                    <p:nvPicPr>
                      <p:cNvPr id="0" name="图片 3084"/>
                      <p:cNvPicPr/>
                      <p:nvPr/>
                    </p:nvPicPr>
                    <p:blipFill>
                      <a:blip r:embed="rId4"/>
                      <a:stretch>
                        <a:fillRect/>
                      </a:stretch>
                    </p:blipFill>
                    <p:spPr>
                      <a:xfrm>
                        <a:off x="2757488" y="2593975"/>
                        <a:ext cx="2271712" cy="955675"/>
                      </a:xfrm>
                      <a:prstGeom prst="rect">
                        <a:avLst/>
                      </a:prstGeom>
                      <a:solidFill>
                        <a:srgbClr val="FFFF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476258"/>
                                        </p:tgtEl>
                                        <p:attrNameLst>
                                          <p:attrName>style.visibility</p:attrName>
                                        </p:attrNameLst>
                                      </p:cBhvr>
                                      <p:to>
                                        <p:strVal val="visible"/>
                                      </p:to>
                                    </p:set>
                                    <p:animEffect transition="in" filter="wipe(left)">
                                      <p:cBhvr>
                                        <p:cTn id="7" dur="500"/>
                                        <p:tgtEl>
                                          <p:spTgt spid="24762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81828">
                                            <p:txEl>
                                              <p:charRg st="0" end="4"/>
                                            </p:txEl>
                                          </p:spTgt>
                                        </p:tgtEl>
                                        <p:attrNameLst>
                                          <p:attrName>style.visibility</p:attrName>
                                        </p:attrNameLst>
                                      </p:cBhvr>
                                      <p:to>
                                        <p:strVal val="visible"/>
                                      </p:to>
                                    </p:set>
                                    <p:animEffect transition="in" filter="dissolve">
                                      <p:cBhvr>
                                        <p:cTn id="17" dur="500"/>
                                        <p:tgtEl>
                                          <p:spTgt spid="2381828">
                                            <p:txEl>
                                              <p:charRg st="0" end="4"/>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381828">
                                            <p:txEl>
                                              <p:charRg st="4" end="63"/>
                                            </p:txEl>
                                          </p:spTgt>
                                        </p:tgtEl>
                                        <p:attrNameLst>
                                          <p:attrName>style.visibility</p:attrName>
                                        </p:attrNameLst>
                                      </p:cBhvr>
                                      <p:to>
                                        <p:strVal val="visible"/>
                                      </p:to>
                                    </p:set>
                                    <p:animEffect transition="in" filter="dissolve">
                                      <p:cBhvr>
                                        <p:cTn id="20" dur="500"/>
                                        <p:tgtEl>
                                          <p:spTgt spid="2381828">
                                            <p:txEl>
                                              <p:charRg st="4" end="6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1828" grpId="0" build="p"/>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5778"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pSp>
        <p:nvGrpSpPr>
          <p:cNvPr id="3" name="Group 169"/>
          <p:cNvGrpSpPr/>
          <p:nvPr/>
        </p:nvGrpSpPr>
        <p:grpSpPr>
          <a:xfrm>
            <a:off x="196850" y="1808163"/>
            <a:ext cx="8778875" cy="3479800"/>
            <a:chOff x="122" y="1464"/>
            <a:chExt cx="5530" cy="2192"/>
          </a:xfrm>
        </p:grpSpPr>
        <p:sp>
          <p:nvSpPr>
            <p:cNvPr id="75784" name="Rectangle 168"/>
            <p:cNvSpPr/>
            <p:nvPr/>
          </p:nvSpPr>
          <p:spPr>
            <a:xfrm>
              <a:off x="134" y="1470"/>
              <a:ext cx="5500" cy="2186"/>
            </a:xfrm>
            <a:prstGeom prst="rect">
              <a:avLst/>
            </a:prstGeom>
            <a:solidFill>
              <a:srgbClr val="FFFF99"/>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785" name="Line 148"/>
            <p:cNvSpPr/>
            <p:nvPr/>
          </p:nvSpPr>
          <p:spPr>
            <a:xfrm>
              <a:off x="4396" y="1937"/>
              <a:ext cx="234" cy="0"/>
            </a:xfrm>
            <a:prstGeom prst="line">
              <a:avLst/>
            </a:prstGeom>
            <a:ln w="12700" cap="flat" cmpd="sng">
              <a:solidFill>
                <a:schemeClr val="accent2"/>
              </a:solidFill>
              <a:prstDash val="solid"/>
              <a:headEnd type="none" w="med" len="med"/>
              <a:tailEnd type="none" w="med" len="med"/>
            </a:ln>
          </p:spPr>
        </p:sp>
        <p:sp>
          <p:nvSpPr>
            <p:cNvPr id="75786" name="AutoShape 146"/>
            <p:cNvSpPr/>
            <p:nvPr/>
          </p:nvSpPr>
          <p:spPr>
            <a:xfrm>
              <a:off x="5211" y="2500"/>
              <a:ext cx="209" cy="143"/>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787" name="Line 22"/>
            <p:cNvSpPr/>
            <p:nvPr/>
          </p:nvSpPr>
          <p:spPr>
            <a:xfrm>
              <a:off x="2218" y="2432"/>
              <a:ext cx="618" cy="0"/>
            </a:xfrm>
            <a:prstGeom prst="line">
              <a:avLst/>
            </a:prstGeom>
            <a:ln w="12700" cap="flat" cmpd="sng">
              <a:solidFill>
                <a:schemeClr val="accent2"/>
              </a:solidFill>
              <a:prstDash val="solid"/>
              <a:headEnd type="none" w="med" len="med"/>
              <a:tailEnd type="none" w="med" len="med"/>
            </a:ln>
          </p:spPr>
        </p:sp>
        <p:sp>
          <p:nvSpPr>
            <p:cNvPr id="75788" name="Line 127"/>
            <p:cNvSpPr/>
            <p:nvPr/>
          </p:nvSpPr>
          <p:spPr>
            <a:xfrm>
              <a:off x="3310" y="2572"/>
              <a:ext cx="1630" cy="0"/>
            </a:xfrm>
            <a:prstGeom prst="line">
              <a:avLst/>
            </a:prstGeom>
            <a:ln w="12700" cap="flat" cmpd="sng">
              <a:solidFill>
                <a:schemeClr val="accent2"/>
              </a:solidFill>
              <a:prstDash val="solid"/>
              <a:headEnd type="none" w="med" len="med"/>
              <a:tailEnd type="none" w="med" len="med"/>
            </a:ln>
          </p:spPr>
        </p:sp>
        <p:sp>
          <p:nvSpPr>
            <p:cNvPr id="75789" name="Line 41"/>
            <p:cNvSpPr/>
            <p:nvPr/>
          </p:nvSpPr>
          <p:spPr>
            <a:xfrm>
              <a:off x="1665" y="2577"/>
              <a:ext cx="184" cy="0"/>
            </a:xfrm>
            <a:prstGeom prst="line">
              <a:avLst/>
            </a:prstGeom>
            <a:ln w="12700" cap="flat" cmpd="sng">
              <a:solidFill>
                <a:schemeClr val="accent2"/>
              </a:solidFill>
              <a:prstDash val="solid"/>
              <a:headEnd type="none" w="med" len="med"/>
              <a:tailEnd type="none" w="med" len="med"/>
            </a:ln>
          </p:spPr>
        </p:sp>
        <p:sp>
          <p:nvSpPr>
            <p:cNvPr id="75790" name="Line 67"/>
            <p:cNvSpPr/>
            <p:nvPr/>
          </p:nvSpPr>
          <p:spPr>
            <a:xfrm>
              <a:off x="1270" y="2287"/>
              <a:ext cx="786" cy="0"/>
            </a:xfrm>
            <a:prstGeom prst="line">
              <a:avLst/>
            </a:prstGeom>
            <a:ln w="12700" cap="flat" cmpd="sng">
              <a:solidFill>
                <a:schemeClr val="accent2"/>
              </a:solidFill>
              <a:prstDash val="solid"/>
              <a:headEnd type="none" w="med" len="med"/>
              <a:tailEnd type="none" w="med" len="med"/>
            </a:ln>
          </p:spPr>
        </p:sp>
        <p:sp>
          <p:nvSpPr>
            <p:cNvPr id="75791" name="Text Box 15"/>
            <p:cNvSpPr txBox="1"/>
            <p:nvPr/>
          </p:nvSpPr>
          <p:spPr>
            <a:xfrm>
              <a:off x="389" y="1956"/>
              <a:ext cx="247"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75792" name="Oval 16"/>
            <p:cNvSpPr/>
            <p:nvPr/>
          </p:nvSpPr>
          <p:spPr>
            <a:xfrm>
              <a:off x="611" y="203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793" name="AutoShape 19"/>
            <p:cNvSpPr/>
            <p:nvPr/>
          </p:nvSpPr>
          <p:spPr>
            <a:xfrm rot="5400000">
              <a:off x="1751" y="2156"/>
              <a:ext cx="584" cy="551"/>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794" name="Text Box 20"/>
            <p:cNvSpPr txBox="1"/>
            <p:nvPr/>
          </p:nvSpPr>
          <p:spPr>
            <a:xfrm>
              <a:off x="1731" y="2160"/>
              <a:ext cx="198" cy="526"/>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5795" name="Text Box 58"/>
            <p:cNvSpPr txBox="1"/>
            <p:nvPr/>
          </p:nvSpPr>
          <p:spPr>
            <a:xfrm>
              <a:off x="1610" y="3385"/>
              <a:ext cx="3112" cy="265"/>
            </a:xfrm>
            <a:prstGeom prst="rect">
              <a:avLst/>
            </a:prstGeom>
            <a:noFill/>
            <a:ln w="9525">
              <a:noFill/>
            </a:ln>
          </p:spPr>
          <p:txBody>
            <a:bodyPr>
              <a:spAutoFit/>
            </a:bodyPr>
            <a:p>
              <a:pPr eaLnBrk="1" hangingPunct="1">
                <a:lnSpc>
                  <a:spcPct val="90000"/>
                </a:lnSpc>
              </a:pPr>
              <a:r>
                <a:rPr lang="zh-CN" altLang="en-US" sz="2400" dirty="0">
                  <a:solidFill>
                    <a:srgbClr val="000099"/>
                  </a:solidFill>
                  <a:latin typeface="Times New Roman" panose="02020603050405020304" pitchFamily="18" charset="0"/>
                </a:rPr>
                <a:t>双斜积分式</a:t>
              </a:r>
              <a:r>
                <a:rPr lang="en-US" altLang="zh-CN" sz="2400" dirty="0">
                  <a:solidFill>
                    <a:srgbClr val="000099"/>
                  </a:solidFill>
                  <a:latin typeface="Times New Roman" panose="02020603050405020304" pitchFamily="18" charset="0"/>
                </a:rPr>
                <a:t>A/D</a:t>
              </a:r>
              <a:r>
                <a:rPr lang="zh-CN" altLang="en-US" sz="2400" dirty="0">
                  <a:solidFill>
                    <a:srgbClr val="000099"/>
                  </a:solidFill>
                  <a:latin typeface="Times New Roman" panose="02020603050405020304" pitchFamily="18" charset="0"/>
                </a:rPr>
                <a:t>转换器结构</a:t>
              </a:r>
              <a:endParaRPr lang="zh-CN" altLang="en-US" sz="2400" dirty="0">
                <a:solidFill>
                  <a:srgbClr val="000099"/>
                </a:solidFill>
                <a:latin typeface="Times New Roman" panose="02020603050405020304" pitchFamily="18" charset="0"/>
              </a:endParaRPr>
            </a:p>
          </p:txBody>
        </p:sp>
        <p:sp>
          <p:nvSpPr>
            <p:cNvPr id="75796" name="Line 63"/>
            <p:cNvSpPr/>
            <p:nvPr/>
          </p:nvSpPr>
          <p:spPr>
            <a:xfrm flipH="1">
              <a:off x="1665" y="2577"/>
              <a:ext cx="2" cy="490"/>
            </a:xfrm>
            <a:prstGeom prst="line">
              <a:avLst/>
            </a:prstGeom>
            <a:ln w="12700" cap="flat" cmpd="sng">
              <a:solidFill>
                <a:schemeClr val="accent2"/>
              </a:solidFill>
              <a:prstDash val="solid"/>
              <a:headEnd type="none" w="med" len="med"/>
              <a:tailEnd type="none" w="med" len="med"/>
            </a:ln>
          </p:spPr>
        </p:sp>
        <p:sp>
          <p:nvSpPr>
            <p:cNvPr id="75797" name="Rectangle 62"/>
            <p:cNvSpPr/>
            <p:nvPr/>
          </p:nvSpPr>
          <p:spPr>
            <a:xfrm>
              <a:off x="1626" y="2731"/>
              <a:ext cx="78" cy="2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798" name="Line 64"/>
            <p:cNvSpPr/>
            <p:nvPr/>
          </p:nvSpPr>
          <p:spPr>
            <a:xfrm>
              <a:off x="1581" y="3067"/>
              <a:ext cx="168" cy="0"/>
            </a:xfrm>
            <a:prstGeom prst="line">
              <a:avLst/>
            </a:prstGeom>
            <a:ln w="19050" cap="flat" cmpd="sng">
              <a:solidFill>
                <a:srgbClr val="000080"/>
              </a:solidFill>
              <a:prstDash val="solid"/>
              <a:headEnd type="none" w="med" len="med"/>
              <a:tailEnd type="none" w="med" len="med"/>
            </a:ln>
          </p:spPr>
        </p:sp>
        <p:sp>
          <p:nvSpPr>
            <p:cNvPr id="75799" name="Rectangle 66"/>
            <p:cNvSpPr/>
            <p:nvPr/>
          </p:nvSpPr>
          <p:spPr>
            <a:xfrm rot="5400000">
              <a:off x="1445" y="2185"/>
              <a:ext cx="76" cy="2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00" name="Line 68"/>
            <p:cNvSpPr/>
            <p:nvPr/>
          </p:nvSpPr>
          <p:spPr>
            <a:xfrm flipH="1">
              <a:off x="1266" y="2064"/>
              <a:ext cx="4" cy="660"/>
            </a:xfrm>
            <a:prstGeom prst="line">
              <a:avLst/>
            </a:prstGeom>
            <a:ln w="12700" cap="flat" cmpd="sng">
              <a:solidFill>
                <a:schemeClr val="accent2"/>
              </a:solidFill>
              <a:prstDash val="solid"/>
              <a:headEnd type="none" w="med" len="med"/>
              <a:tailEnd type="none" w="med" len="med"/>
            </a:ln>
          </p:spPr>
        </p:sp>
        <p:sp>
          <p:nvSpPr>
            <p:cNvPr id="75801" name="Line 69"/>
            <p:cNvSpPr/>
            <p:nvPr/>
          </p:nvSpPr>
          <p:spPr>
            <a:xfrm>
              <a:off x="1141" y="2066"/>
              <a:ext cx="129" cy="0"/>
            </a:xfrm>
            <a:prstGeom prst="line">
              <a:avLst/>
            </a:prstGeom>
            <a:ln w="12700" cap="flat" cmpd="sng">
              <a:solidFill>
                <a:schemeClr val="accent2"/>
              </a:solidFill>
              <a:prstDash val="solid"/>
              <a:headEnd type="none" w="med" len="med"/>
              <a:tailEnd type="none" w="med" len="med"/>
            </a:ln>
          </p:spPr>
        </p:sp>
        <p:sp>
          <p:nvSpPr>
            <p:cNvPr id="75802" name="Oval 70"/>
            <p:cNvSpPr/>
            <p:nvPr/>
          </p:nvSpPr>
          <p:spPr>
            <a:xfrm>
              <a:off x="1085" y="203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03" name="Line 71"/>
            <p:cNvSpPr/>
            <p:nvPr/>
          </p:nvSpPr>
          <p:spPr>
            <a:xfrm>
              <a:off x="1141" y="2287"/>
              <a:ext cx="127" cy="0"/>
            </a:xfrm>
            <a:prstGeom prst="line">
              <a:avLst/>
            </a:prstGeom>
            <a:ln w="12700" cap="flat" cmpd="sng">
              <a:solidFill>
                <a:schemeClr val="accent2"/>
              </a:solidFill>
              <a:prstDash val="solid"/>
              <a:headEnd type="none" w="med" len="med"/>
              <a:tailEnd type="none" w="med" len="med"/>
            </a:ln>
          </p:spPr>
        </p:sp>
        <p:sp>
          <p:nvSpPr>
            <p:cNvPr id="75804" name="Oval 72"/>
            <p:cNvSpPr/>
            <p:nvPr/>
          </p:nvSpPr>
          <p:spPr>
            <a:xfrm>
              <a:off x="1083" y="225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05" name="Line 73"/>
            <p:cNvSpPr/>
            <p:nvPr/>
          </p:nvSpPr>
          <p:spPr>
            <a:xfrm>
              <a:off x="1141" y="2503"/>
              <a:ext cx="127" cy="0"/>
            </a:xfrm>
            <a:prstGeom prst="line">
              <a:avLst/>
            </a:prstGeom>
            <a:ln w="12700" cap="flat" cmpd="sng">
              <a:solidFill>
                <a:schemeClr val="accent2"/>
              </a:solidFill>
              <a:prstDash val="solid"/>
              <a:headEnd type="none" w="med" len="med"/>
              <a:tailEnd type="none" w="med" len="med"/>
            </a:ln>
          </p:spPr>
        </p:sp>
        <p:sp>
          <p:nvSpPr>
            <p:cNvPr id="75806" name="Oval 74"/>
            <p:cNvSpPr/>
            <p:nvPr/>
          </p:nvSpPr>
          <p:spPr>
            <a:xfrm>
              <a:off x="1083" y="247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07" name="Line 75"/>
            <p:cNvSpPr/>
            <p:nvPr/>
          </p:nvSpPr>
          <p:spPr>
            <a:xfrm>
              <a:off x="1139" y="2724"/>
              <a:ext cx="127" cy="0"/>
            </a:xfrm>
            <a:prstGeom prst="line">
              <a:avLst/>
            </a:prstGeom>
            <a:ln w="12700" cap="flat" cmpd="sng">
              <a:solidFill>
                <a:schemeClr val="accent2"/>
              </a:solidFill>
              <a:prstDash val="solid"/>
              <a:headEnd type="none" w="med" len="med"/>
              <a:tailEnd type="none" w="med" len="med"/>
            </a:ln>
          </p:spPr>
        </p:sp>
        <p:sp>
          <p:nvSpPr>
            <p:cNvPr id="75808" name="Oval 76"/>
            <p:cNvSpPr/>
            <p:nvPr/>
          </p:nvSpPr>
          <p:spPr>
            <a:xfrm>
              <a:off x="1081" y="269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09" name="Line 77"/>
            <p:cNvSpPr/>
            <p:nvPr/>
          </p:nvSpPr>
          <p:spPr>
            <a:xfrm>
              <a:off x="667" y="2066"/>
              <a:ext cx="227" cy="0"/>
            </a:xfrm>
            <a:prstGeom prst="line">
              <a:avLst/>
            </a:prstGeom>
            <a:ln w="12700" cap="flat" cmpd="sng">
              <a:solidFill>
                <a:schemeClr val="accent2"/>
              </a:solidFill>
              <a:prstDash val="solid"/>
              <a:headEnd type="none" w="med" len="med"/>
              <a:tailEnd type="none" w="med" len="med"/>
            </a:ln>
          </p:spPr>
        </p:sp>
        <p:sp>
          <p:nvSpPr>
            <p:cNvPr id="75810" name="Oval 78"/>
            <p:cNvSpPr/>
            <p:nvPr/>
          </p:nvSpPr>
          <p:spPr>
            <a:xfrm>
              <a:off x="898" y="2036"/>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11" name="Oval 80"/>
            <p:cNvSpPr/>
            <p:nvPr/>
          </p:nvSpPr>
          <p:spPr>
            <a:xfrm>
              <a:off x="896" y="2257"/>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12" name="Oval 82"/>
            <p:cNvSpPr/>
            <p:nvPr/>
          </p:nvSpPr>
          <p:spPr>
            <a:xfrm>
              <a:off x="896" y="2473"/>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13" name="Line 83"/>
            <p:cNvSpPr/>
            <p:nvPr/>
          </p:nvSpPr>
          <p:spPr>
            <a:xfrm>
              <a:off x="706" y="2724"/>
              <a:ext cx="184" cy="0"/>
            </a:xfrm>
            <a:prstGeom prst="line">
              <a:avLst/>
            </a:prstGeom>
            <a:ln w="12700" cap="flat" cmpd="sng">
              <a:solidFill>
                <a:schemeClr val="accent2"/>
              </a:solidFill>
              <a:prstDash val="solid"/>
              <a:headEnd type="none" w="med" len="med"/>
              <a:tailEnd type="none" w="med" len="med"/>
            </a:ln>
          </p:spPr>
        </p:sp>
        <p:sp>
          <p:nvSpPr>
            <p:cNvPr id="75814" name="Oval 84"/>
            <p:cNvSpPr/>
            <p:nvPr/>
          </p:nvSpPr>
          <p:spPr>
            <a:xfrm>
              <a:off x="894" y="269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15" name="Text Box 85"/>
            <p:cNvSpPr txBox="1"/>
            <p:nvPr/>
          </p:nvSpPr>
          <p:spPr>
            <a:xfrm>
              <a:off x="122" y="2177"/>
              <a:ext cx="494"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5816" name="Oval 86"/>
            <p:cNvSpPr/>
            <p:nvPr/>
          </p:nvSpPr>
          <p:spPr>
            <a:xfrm>
              <a:off x="611" y="2258"/>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17" name="Line 87"/>
            <p:cNvSpPr/>
            <p:nvPr/>
          </p:nvSpPr>
          <p:spPr>
            <a:xfrm>
              <a:off x="667" y="2287"/>
              <a:ext cx="227" cy="0"/>
            </a:xfrm>
            <a:prstGeom prst="line">
              <a:avLst/>
            </a:prstGeom>
            <a:ln w="12700" cap="flat" cmpd="sng">
              <a:solidFill>
                <a:schemeClr val="accent2"/>
              </a:solidFill>
              <a:prstDash val="solid"/>
              <a:headEnd type="none" w="med" len="med"/>
              <a:tailEnd type="none" w="med" len="med"/>
            </a:ln>
          </p:spPr>
        </p:sp>
        <p:sp>
          <p:nvSpPr>
            <p:cNvPr id="75818" name="Text Box 88"/>
            <p:cNvSpPr txBox="1"/>
            <p:nvPr/>
          </p:nvSpPr>
          <p:spPr>
            <a:xfrm>
              <a:off x="152" y="2393"/>
              <a:ext cx="460" cy="214"/>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5819" name="Oval 89"/>
            <p:cNvSpPr/>
            <p:nvPr/>
          </p:nvSpPr>
          <p:spPr>
            <a:xfrm>
              <a:off x="611" y="2474"/>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20" name="Line 90"/>
            <p:cNvSpPr/>
            <p:nvPr/>
          </p:nvSpPr>
          <p:spPr>
            <a:xfrm>
              <a:off x="667" y="2503"/>
              <a:ext cx="227" cy="0"/>
            </a:xfrm>
            <a:prstGeom prst="line">
              <a:avLst/>
            </a:prstGeom>
            <a:ln w="12700" cap="flat" cmpd="sng">
              <a:solidFill>
                <a:schemeClr val="accent2"/>
              </a:solidFill>
              <a:prstDash val="solid"/>
              <a:headEnd type="none" w="med" len="med"/>
              <a:tailEnd type="none" w="med" len="med"/>
            </a:ln>
          </p:spPr>
        </p:sp>
        <p:sp>
          <p:nvSpPr>
            <p:cNvPr id="75821" name="Line 91"/>
            <p:cNvSpPr/>
            <p:nvPr/>
          </p:nvSpPr>
          <p:spPr>
            <a:xfrm flipH="1">
              <a:off x="706" y="2724"/>
              <a:ext cx="0" cy="198"/>
            </a:xfrm>
            <a:prstGeom prst="line">
              <a:avLst/>
            </a:prstGeom>
            <a:ln w="12700" cap="flat" cmpd="sng">
              <a:solidFill>
                <a:schemeClr val="accent2"/>
              </a:solidFill>
              <a:prstDash val="solid"/>
              <a:headEnd type="none" w="med" len="med"/>
              <a:tailEnd type="none" w="med" len="med"/>
            </a:ln>
          </p:spPr>
        </p:sp>
        <p:sp>
          <p:nvSpPr>
            <p:cNvPr id="75822" name="Line 92"/>
            <p:cNvSpPr/>
            <p:nvPr/>
          </p:nvSpPr>
          <p:spPr>
            <a:xfrm>
              <a:off x="622" y="2922"/>
              <a:ext cx="168" cy="0"/>
            </a:xfrm>
            <a:prstGeom prst="line">
              <a:avLst/>
            </a:prstGeom>
            <a:ln w="19050" cap="flat" cmpd="sng">
              <a:solidFill>
                <a:srgbClr val="000080"/>
              </a:solidFill>
              <a:prstDash val="solid"/>
              <a:headEnd type="none" w="med" len="med"/>
              <a:tailEnd type="none" w="med" len="med"/>
            </a:ln>
          </p:spPr>
        </p:sp>
        <p:sp>
          <p:nvSpPr>
            <p:cNvPr id="75823" name="Line 93"/>
            <p:cNvSpPr/>
            <p:nvPr/>
          </p:nvSpPr>
          <p:spPr>
            <a:xfrm flipV="1">
              <a:off x="950" y="1964"/>
              <a:ext cx="168" cy="81"/>
            </a:xfrm>
            <a:prstGeom prst="line">
              <a:avLst/>
            </a:prstGeom>
            <a:ln w="19050" cap="flat" cmpd="sng">
              <a:solidFill>
                <a:srgbClr val="000080"/>
              </a:solidFill>
              <a:prstDash val="solid"/>
              <a:headEnd type="none" w="med" len="med"/>
              <a:tailEnd type="none" w="med" len="med"/>
            </a:ln>
          </p:spPr>
        </p:sp>
        <p:sp>
          <p:nvSpPr>
            <p:cNvPr id="75824" name="Line 94"/>
            <p:cNvSpPr/>
            <p:nvPr/>
          </p:nvSpPr>
          <p:spPr>
            <a:xfrm flipV="1">
              <a:off x="948" y="2187"/>
              <a:ext cx="168" cy="81"/>
            </a:xfrm>
            <a:prstGeom prst="line">
              <a:avLst/>
            </a:prstGeom>
            <a:ln w="19050" cap="flat" cmpd="sng">
              <a:solidFill>
                <a:srgbClr val="000080"/>
              </a:solidFill>
              <a:prstDash val="solid"/>
              <a:headEnd type="none" w="med" len="med"/>
              <a:tailEnd type="none" w="med" len="med"/>
            </a:ln>
          </p:spPr>
        </p:sp>
        <p:sp>
          <p:nvSpPr>
            <p:cNvPr id="75825" name="Line 95"/>
            <p:cNvSpPr/>
            <p:nvPr/>
          </p:nvSpPr>
          <p:spPr>
            <a:xfrm flipV="1">
              <a:off x="949" y="2404"/>
              <a:ext cx="168" cy="81"/>
            </a:xfrm>
            <a:prstGeom prst="line">
              <a:avLst/>
            </a:prstGeom>
            <a:ln w="19050" cap="flat" cmpd="sng">
              <a:solidFill>
                <a:srgbClr val="000080"/>
              </a:solidFill>
              <a:prstDash val="solid"/>
              <a:headEnd type="none" w="med" len="med"/>
              <a:tailEnd type="none" w="med" len="med"/>
            </a:ln>
          </p:spPr>
        </p:sp>
        <p:sp>
          <p:nvSpPr>
            <p:cNvPr id="75826" name="Line 96"/>
            <p:cNvSpPr/>
            <p:nvPr/>
          </p:nvSpPr>
          <p:spPr>
            <a:xfrm flipV="1">
              <a:off x="947" y="2627"/>
              <a:ext cx="168" cy="81"/>
            </a:xfrm>
            <a:prstGeom prst="line">
              <a:avLst/>
            </a:prstGeom>
            <a:ln w="19050" cap="flat" cmpd="sng">
              <a:solidFill>
                <a:srgbClr val="000080"/>
              </a:solidFill>
              <a:prstDash val="solid"/>
              <a:headEnd type="none" w="med" len="med"/>
              <a:tailEnd type="none" w="med" len="med"/>
            </a:ln>
          </p:spPr>
        </p:sp>
        <p:sp>
          <p:nvSpPr>
            <p:cNvPr id="75827" name="Text Box 97"/>
            <p:cNvSpPr txBox="1"/>
            <p:nvPr/>
          </p:nvSpPr>
          <p:spPr>
            <a:xfrm>
              <a:off x="710" y="1839"/>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5828" name="Text Box 98"/>
            <p:cNvSpPr txBox="1"/>
            <p:nvPr/>
          </p:nvSpPr>
          <p:spPr>
            <a:xfrm>
              <a:off x="710" y="2076"/>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5829" name="Text Box 99"/>
            <p:cNvSpPr txBox="1"/>
            <p:nvPr/>
          </p:nvSpPr>
          <p:spPr>
            <a:xfrm>
              <a:off x="712" y="2304"/>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75830" name="Text Box 100"/>
            <p:cNvSpPr txBox="1"/>
            <p:nvPr/>
          </p:nvSpPr>
          <p:spPr>
            <a:xfrm>
              <a:off x="712" y="2516"/>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75831" name="Text Box 101"/>
            <p:cNvSpPr txBox="1"/>
            <p:nvPr/>
          </p:nvSpPr>
          <p:spPr>
            <a:xfrm>
              <a:off x="1383" y="2066"/>
              <a:ext cx="201"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75832" name="Text Box 102"/>
            <p:cNvSpPr txBox="1"/>
            <p:nvPr/>
          </p:nvSpPr>
          <p:spPr>
            <a:xfrm>
              <a:off x="1411" y="2719"/>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5833" name="Line 103"/>
            <p:cNvSpPr/>
            <p:nvPr/>
          </p:nvSpPr>
          <p:spPr>
            <a:xfrm flipH="1">
              <a:off x="1663" y="1680"/>
              <a:ext cx="0" cy="606"/>
            </a:xfrm>
            <a:prstGeom prst="line">
              <a:avLst/>
            </a:prstGeom>
            <a:ln w="12700" cap="flat" cmpd="sng">
              <a:solidFill>
                <a:schemeClr val="accent2"/>
              </a:solidFill>
              <a:prstDash val="solid"/>
              <a:headEnd type="none" w="med" len="med"/>
              <a:tailEnd type="none" w="med" len="med"/>
            </a:ln>
          </p:spPr>
        </p:sp>
        <p:sp>
          <p:nvSpPr>
            <p:cNvPr id="75834" name="Rectangle 104"/>
            <p:cNvSpPr/>
            <p:nvPr/>
          </p:nvSpPr>
          <p:spPr>
            <a:xfrm rot="5400000">
              <a:off x="2530" y="2333"/>
              <a:ext cx="76" cy="2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35" name="Line 105"/>
            <p:cNvSpPr/>
            <p:nvPr/>
          </p:nvSpPr>
          <p:spPr>
            <a:xfrm flipH="1">
              <a:off x="2390" y="1680"/>
              <a:ext cx="4" cy="752"/>
            </a:xfrm>
            <a:prstGeom prst="line">
              <a:avLst/>
            </a:prstGeom>
            <a:ln w="12700" cap="flat" cmpd="sng">
              <a:solidFill>
                <a:schemeClr val="accent2"/>
              </a:solidFill>
              <a:prstDash val="solid"/>
              <a:headEnd type="none" w="med" len="med"/>
              <a:tailEnd type="none" w="med" len="med"/>
            </a:ln>
          </p:spPr>
        </p:sp>
        <p:sp>
          <p:nvSpPr>
            <p:cNvPr id="75836" name="Line 106"/>
            <p:cNvSpPr/>
            <p:nvPr/>
          </p:nvSpPr>
          <p:spPr>
            <a:xfrm>
              <a:off x="2160" y="1680"/>
              <a:ext cx="234" cy="0"/>
            </a:xfrm>
            <a:prstGeom prst="line">
              <a:avLst/>
            </a:prstGeom>
            <a:ln w="12700" cap="flat" cmpd="sng">
              <a:solidFill>
                <a:schemeClr val="accent2"/>
              </a:solidFill>
              <a:prstDash val="solid"/>
              <a:headEnd type="none" w="med" len="med"/>
              <a:tailEnd type="none" w="med" len="med"/>
            </a:ln>
          </p:spPr>
        </p:sp>
        <p:sp>
          <p:nvSpPr>
            <p:cNvPr id="75837" name="Oval 107"/>
            <p:cNvSpPr/>
            <p:nvPr/>
          </p:nvSpPr>
          <p:spPr>
            <a:xfrm>
              <a:off x="2104" y="1650"/>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38" name="Line 108"/>
            <p:cNvSpPr/>
            <p:nvPr/>
          </p:nvSpPr>
          <p:spPr>
            <a:xfrm>
              <a:off x="1663" y="1680"/>
              <a:ext cx="254" cy="0"/>
            </a:xfrm>
            <a:prstGeom prst="line">
              <a:avLst/>
            </a:prstGeom>
            <a:ln w="12700" cap="flat" cmpd="sng">
              <a:solidFill>
                <a:schemeClr val="accent2"/>
              </a:solidFill>
              <a:prstDash val="solid"/>
              <a:headEnd type="none" w="med" len="med"/>
              <a:tailEnd type="none" w="med" len="med"/>
            </a:ln>
          </p:spPr>
        </p:sp>
        <p:sp>
          <p:nvSpPr>
            <p:cNvPr id="75839" name="Oval 109"/>
            <p:cNvSpPr/>
            <p:nvPr/>
          </p:nvSpPr>
          <p:spPr>
            <a:xfrm>
              <a:off x="1917" y="1650"/>
              <a:ext cx="56" cy="56"/>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40" name="Line 110"/>
            <p:cNvSpPr/>
            <p:nvPr/>
          </p:nvSpPr>
          <p:spPr>
            <a:xfrm flipV="1">
              <a:off x="1969" y="1578"/>
              <a:ext cx="168" cy="81"/>
            </a:xfrm>
            <a:prstGeom prst="line">
              <a:avLst/>
            </a:prstGeom>
            <a:ln w="19050" cap="flat" cmpd="sng">
              <a:solidFill>
                <a:srgbClr val="000080"/>
              </a:solidFill>
              <a:prstDash val="solid"/>
              <a:headEnd type="none" w="med" len="med"/>
              <a:tailEnd type="none" w="med" len="med"/>
            </a:ln>
          </p:spPr>
        </p:sp>
        <p:sp>
          <p:nvSpPr>
            <p:cNvPr id="75841" name="Text Box 111"/>
            <p:cNvSpPr txBox="1"/>
            <p:nvPr/>
          </p:nvSpPr>
          <p:spPr>
            <a:xfrm>
              <a:off x="1729" y="1464"/>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5842" name="Line 112"/>
            <p:cNvSpPr/>
            <p:nvPr/>
          </p:nvSpPr>
          <p:spPr>
            <a:xfrm>
              <a:off x="2064" y="1933"/>
              <a:ext cx="328" cy="0"/>
            </a:xfrm>
            <a:prstGeom prst="line">
              <a:avLst/>
            </a:prstGeom>
            <a:ln w="12700" cap="flat" cmpd="sng">
              <a:solidFill>
                <a:schemeClr val="accent2"/>
              </a:solidFill>
              <a:prstDash val="solid"/>
              <a:headEnd type="none" w="med" len="med"/>
              <a:tailEnd type="none" w="med" len="med"/>
            </a:ln>
          </p:spPr>
        </p:sp>
        <p:sp>
          <p:nvSpPr>
            <p:cNvPr id="75843" name="Line 113"/>
            <p:cNvSpPr/>
            <p:nvPr/>
          </p:nvSpPr>
          <p:spPr>
            <a:xfrm>
              <a:off x="1661" y="1933"/>
              <a:ext cx="332" cy="0"/>
            </a:xfrm>
            <a:prstGeom prst="line">
              <a:avLst/>
            </a:prstGeom>
            <a:ln w="12700" cap="flat" cmpd="sng">
              <a:solidFill>
                <a:schemeClr val="accent2"/>
              </a:solidFill>
              <a:prstDash val="solid"/>
              <a:headEnd type="none" w="med" len="med"/>
              <a:tailEnd type="none" w="med" len="med"/>
            </a:ln>
          </p:spPr>
        </p:sp>
        <p:sp>
          <p:nvSpPr>
            <p:cNvPr id="75844" name="Line 114"/>
            <p:cNvSpPr/>
            <p:nvPr/>
          </p:nvSpPr>
          <p:spPr>
            <a:xfrm flipV="1">
              <a:off x="1993" y="1830"/>
              <a:ext cx="0" cy="197"/>
            </a:xfrm>
            <a:prstGeom prst="line">
              <a:avLst/>
            </a:prstGeom>
            <a:ln w="19050" cap="flat" cmpd="sng">
              <a:solidFill>
                <a:srgbClr val="000080"/>
              </a:solidFill>
              <a:prstDash val="solid"/>
              <a:headEnd type="none" w="med" len="med"/>
              <a:tailEnd type="none" w="med" len="med"/>
            </a:ln>
          </p:spPr>
        </p:sp>
        <p:sp>
          <p:nvSpPr>
            <p:cNvPr id="75845" name="Line 115"/>
            <p:cNvSpPr/>
            <p:nvPr/>
          </p:nvSpPr>
          <p:spPr>
            <a:xfrm flipV="1">
              <a:off x="2064" y="1830"/>
              <a:ext cx="0" cy="197"/>
            </a:xfrm>
            <a:prstGeom prst="line">
              <a:avLst/>
            </a:prstGeom>
            <a:ln w="19050" cap="flat" cmpd="sng">
              <a:solidFill>
                <a:srgbClr val="000080"/>
              </a:solidFill>
              <a:prstDash val="solid"/>
              <a:headEnd type="none" w="med" len="med"/>
              <a:tailEnd type="none" w="med" len="med"/>
            </a:ln>
          </p:spPr>
        </p:sp>
        <p:sp>
          <p:nvSpPr>
            <p:cNvPr id="75846" name="Text Box 116"/>
            <p:cNvSpPr txBox="1"/>
            <p:nvPr/>
          </p:nvSpPr>
          <p:spPr>
            <a:xfrm>
              <a:off x="1798" y="1721"/>
              <a:ext cx="201"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390133" name="Text Box 117"/>
            <p:cNvSpPr txBox="1">
              <a:spLocks noChangeArrowheads="1"/>
            </p:cNvSpPr>
            <p:nvPr/>
          </p:nvSpPr>
          <p:spPr bwMode="auto">
            <a:xfrm>
              <a:off x="1766" y="2346"/>
              <a:ext cx="452" cy="179"/>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5848" name="Line 118"/>
            <p:cNvSpPr/>
            <p:nvPr/>
          </p:nvSpPr>
          <p:spPr>
            <a:xfrm>
              <a:off x="2646" y="2720"/>
              <a:ext cx="184" cy="0"/>
            </a:xfrm>
            <a:prstGeom prst="line">
              <a:avLst/>
            </a:prstGeom>
            <a:ln w="12700" cap="flat" cmpd="sng">
              <a:solidFill>
                <a:schemeClr val="accent2"/>
              </a:solidFill>
              <a:prstDash val="solid"/>
              <a:headEnd type="none" w="med" len="med"/>
              <a:tailEnd type="none" w="med" len="med"/>
            </a:ln>
          </p:spPr>
        </p:sp>
        <p:sp>
          <p:nvSpPr>
            <p:cNvPr id="75849" name="AutoShape 119"/>
            <p:cNvSpPr/>
            <p:nvPr/>
          </p:nvSpPr>
          <p:spPr>
            <a:xfrm rot="5400000">
              <a:off x="2752" y="2299"/>
              <a:ext cx="584" cy="551"/>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50" name="Text Box 120"/>
            <p:cNvSpPr txBox="1"/>
            <p:nvPr/>
          </p:nvSpPr>
          <p:spPr>
            <a:xfrm>
              <a:off x="2732" y="2303"/>
              <a:ext cx="198" cy="526"/>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5851" name="Line 121"/>
            <p:cNvSpPr/>
            <p:nvPr/>
          </p:nvSpPr>
          <p:spPr>
            <a:xfrm flipH="1">
              <a:off x="2646" y="2720"/>
              <a:ext cx="2" cy="490"/>
            </a:xfrm>
            <a:prstGeom prst="line">
              <a:avLst/>
            </a:prstGeom>
            <a:ln w="12700" cap="flat" cmpd="sng">
              <a:solidFill>
                <a:schemeClr val="accent2"/>
              </a:solidFill>
              <a:prstDash val="solid"/>
              <a:headEnd type="none" w="med" len="med"/>
              <a:tailEnd type="none" w="med" len="med"/>
            </a:ln>
          </p:spPr>
        </p:sp>
        <p:sp>
          <p:nvSpPr>
            <p:cNvPr id="75852" name="Rectangle 122"/>
            <p:cNvSpPr/>
            <p:nvPr/>
          </p:nvSpPr>
          <p:spPr>
            <a:xfrm>
              <a:off x="2607" y="2874"/>
              <a:ext cx="78" cy="2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53" name="Line 123"/>
            <p:cNvSpPr/>
            <p:nvPr/>
          </p:nvSpPr>
          <p:spPr>
            <a:xfrm>
              <a:off x="2562" y="3210"/>
              <a:ext cx="168" cy="0"/>
            </a:xfrm>
            <a:prstGeom prst="line">
              <a:avLst/>
            </a:prstGeom>
            <a:ln w="19050" cap="flat" cmpd="sng">
              <a:solidFill>
                <a:srgbClr val="000080"/>
              </a:solidFill>
              <a:prstDash val="solid"/>
              <a:headEnd type="none" w="med" len="med"/>
              <a:tailEnd type="none" w="med" len="med"/>
            </a:ln>
          </p:spPr>
        </p:sp>
        <p:sp>
          <p:nvSpPr>
            <p:cNvPr id="75854" name="Text Box 124"/>
            <p:cNvSpPr txBox="1"/>
            <p:nvPr/>
          </p:nvSpPr>
          <p:spPr>
            <a:xfrm>
              <a:off x="2392" y="2862"/>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390141" name="Text Box 125"/>
            <p:cNvSpPr txBox="1">
              <a:spLocks noChangeArrowheads="1"/>
            </p:cNvSpPr>
            <p:nvPr/>
          </p:nvSpPr>
          <p:spPr bwMode="auto">
            <a:xfrm>
              <a:off x="2767" y="2489"/>
              <a:ext cx="452" cy="179"/>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5856" name="Text Box 126"/>
            <p:cNvSpPr txBox="1"/>
            <p:nvPr/>
          </p:nvSpPr>
          <p:spPr>
            <a:xfrm>
              <a:off x="2448" y="2210"/>
              <a:ext cx="245" cy="19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5857" name="Rectangle 128"/>
            <p:cNvSpPr/>
            <p:nvPr/>
          </p:nvSpPr>
          <p:spPr>
            <a:xfrm>
              <a:off x="3431" y="2463"/>
              <a:ext cx="681" cy="209"/>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5858" name="Rectangle 129"/>
            <p:cNvSpPr/>
            <p:nvPr/>
          </p:nvSpPr>
          <p:spPr>
            <a:xfrm>
              <a:off x="3331" y="2460"/>
              <a:ext cx="792" cy="214"/>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75859" name="Line 130"/>
            <p:cNvSpPr/>
            <p:nvPr/>
          </p:nvSpPr>
          <p:spPr>
            <a:xfrm flipV="1">
              <a:off x="3500" y="2037"/>
              <a:ext cx="0" cy="420"/>
            </a:xfrm>
            <a:prstGeom prst="line">
              <a:avLst/>
            </a:prstGeom>
            <a:ln w="12700" cap="flat" cmpd="sng">
              <a:solidFill>
                <a:schemeClr val="accent2"/>
              </a:solidFill>
              <a:prstDash val="solid"/>
              <a:headEnd type="none" w="med" len="med"/>
              <a:tailEnd type="stealth" w="med" len="lg"/>
            </a:ln>
          </p:spPr>
        </p:sp>
        <p:sp>
          <p:nvSpPr>
            <p:cNvPr id="75860" name="Line 131"/>
            <p:cNvSpPr/>
            <p:nvPr/>
          </p:nvSpPr>
          <p:spPr>
            <a:xfrm flipV="1">
              <a:off x="3636" y="2035"/>
              <a:ext cx="0" cy="420"/>
            </a:xfrm>
            <a:prstGeom prst="line">
              <a:avLst/>
            </a:prstGeom>
            <a:ln w="12700" cap="flat" cmpd="sng">
              <a:solidFill>
                <a:schemeClr val="accent2"/>
              </a:solidFill>
              <a:prstDash val="solid"/>
              <a:headEnd type="none" w="med" len="med"/>
              <a:tailEnd type="stealth" w="med" len="lg"/>
            </a:ln>
          </p:spPr>
        </p:sp>
        <p:sp>
          <p:nvSpPr>
            <p:cNvPr id="75861" name="Line 132"/>
            <p:cNvSpPr/>
            <p:nvPr/>
          </p:nvSpPr>
          <p:spPr>
            <a:xfrm flipV="1">
              <a:off x="3773" y="2039"/>
              <a:ext cx="0" cy="420"/>
            </a:xfrm>
            <a:prstGeom prst="line">
              <a:avLst/>
            </a:prstGeom>
            <a:ln w="12700" cap="flat" cmpd="sng">
              <a:solidFill>
                <a:schemeClr val="accent2"/>
              </a:solidFill>
              <a:prstDash val="solid"/>
              <a:headEnd type="none" w="med" len="med"/>
              <a:tailEnd type="stealth" w="med" len="lg"/>
            </a:ln>
          </p:spPr>
        </p:sp>
        <p:sp>
          <p:nvSpPr>
            <p:cNvPr id="75862" name="Line 133"/>
            <p:cNvSpPr/>
            <p:nvPr/>
          </p:nvSpPr>
          <p:spPr>
            <a:xfrm flipV="1">
              <a:off x="3908" y="2037"/>
              <a:ext cx="0" cy="420"/>
            </a:xfrm>
            <a:prstGeom prst="line">
              <a:avLst/>
            </a:prstGeom>
            <a:ln w="12700" cap="flat" cmpd="sng">
              <a:solidFill>
                <a:schemeClr val="accent2"/>
              </a:solidFill>
              <a:prstDash val="solid"/>
              <a:headEnd type="none" w="med" len="med"/>
              <a:tailEnd type="stealth" w="med" len="lg"/>
            </a:ln>
          </p:spPr>
        </p:sp>
        <p:sp>
          <p:nvSpPr>
            <p:cNvPr id="75863" name="Line 135"/>
            <p:cNvSpPr/>
            <p:nvPr/>
          </p:nvSpPr>
          <p:spPr>
            <a:xfrm flipV="1">
              <a:off x="4044" y="2035"/>
              <a:ext cx="0" cy="420"/>
            </a:xfrm>
            <a:prstGeom prst="line">
              <a:avLst/>
            </a:prstGeom>
            <a:ln w="12700" cap="flat" cmpd="sng">
              <a:solidFill>
                <a:schemeClr val="accent2"/>
              </a:solidFill>
              <a:prstDash val="solid"/>
              <a:headEnd type="none" w="med" len="med"/>
              <a:tailEnd type="stealth" w="med" len="lg"/>
            </a:ln>
          </p:spPr>
        </p:sp>
        <p:sp>
          <p:nvSpPr>
            <p:cNvPr id="75864" name="Text Box 136"/>
            <p:cNvSpPr txBox="1"/>
            <p:nvPr/>
          </p:nvSpPr>
          <p:spPr>
            <a:xfrm>
              <a:off x="3343" y="1855"/>
              <a:ext cx="875" cy="197"/>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5865" name="Rectangle 140"/>
            <p:cNvSpPr/>
            <p:nvPr/>
          </p:nvSpPr>
          <p:spPr>
            <a:xfrm>
              <a:off x="4272" y="2300"/>
              <a:ext cx="256" cy="54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66" name="Rectangle 139"/>
            <p:cNvSpPr/>
            <p:nvPr/>
          </p:nvSpPr>
          <p:spPr>
            <a:xfrm>
              <a:off x="4263" y="2306"/>
              <a:ext cx="289" cy="526"/>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75867" name="Rectangle 143"/>
            <p:cNvSpPr/>
            <p:nvPr/>
          </p:nvSpPr>
          <p:spPr>
            <a:xfrm>
              <a:off x="4696" y="2465"/>
              <a:ext cx="515" cy="209"/>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5868" name="Rectangle 142"/>
            <p:cNvSpPr/>
            <p:nvPr/>
          </p:nvSpPr>
          <p:spPr>
            <a:xfrm>
              <a:off x="4672" y="2465"/>
              <a:ext cx="554" cy="214"/>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75869" name="Rectangle 144"/>
            <p:cNvSpPr/>
            <p:nvPr/>
          </p:nvSpPr>
          <p:spPr>
            <a:xfrm>
              <a:off x="4588" y="1830"/>
              <a:ext cx="635" cy="209"/>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5870" name="Rectangle 145"/>
            <p:cNvSpPr/>
            <p:nvPr/>
          </p:nvSpPr>
          <p:spPr>
            <a:xfrm>
              <a:off x="4558" y="1830"/>
              <a:ext cx="757" cy="214"/>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75871" name="Text Box 147"/>
            <p:cNvSpPr txBox="1"/>
            <p:nvPr/>
          </p:nvSpPr>
          <p:spPr>
            <a:xfrm>
              <a:off x="5375" y="2001"/>
              <a:ext cx="277" cy="1150"/>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75872" name="Line 149"/>
            <p:cNvSpPr/>
            <p:nvPr/>
          </p:nvSpPr>
          <p:spPr>
            <a:xfrm flipH="1">
              <a:off x="4395" y="1936"/>
              <a:ext cx="2" cy="364"/>
            </a:xfrm>
            <a:prstGeom prst="line">
              <a:avLst/>
            </a:prstGeom>
            <a:ln w="12700" cap="flat" cmpd="sng">
              <a:solidFill>
                <a:schemeClr val="accent2"/>
              </a:solidFill>
              <a:prstDash val="solid"/>
              <a:headEnd type="none" w="med" len="med"/>
              <a:tailEnd type="stealth" w="med" len="lg"/>
            </a:ln>
          </p:spPr>
        </p:sp>
        <p:sp>
          <p:nvSpPr>
            <p:cNvPr id="75873" name="Line 150"/>
            <p:cNvSpPr/>
            <p:nvPr/>
          </p:nvSpPr>
          <p:spPr>
            <a:xfrm flipV="1">
              <a:off x="3583" y="2676"/>
              <a:ext cx="0" cy="377"/>
            </a:xfrm>
            <a:prstGeom prst="line">
              <a:avLst/>
            </a:prstGeom>
            <a:ln w="12700" cap="flat" cmpd="sng">
              <a:solidFill>
                <a:schemeClr val="accent2"/>
              </a:solidFill>
              <a:prstDash val="solid"/>
              <a:headEnd type="none" w="med" len="med"/>
              <a:tailEnd type="stealth" w="med" len="lg"/>
            </a:ln>
          </p:spPr>
        </p:sp>
        <p:sp>
          <p:nvSpPr>
            <p:cNvPr id="75874" name="Line 151"/>
            <p:cNvSpPr/>
            <p:nvPr/>
          </p:nvSpPr>
          <p:spPr>
            <a:xfrm>
              <a:off x="3431" y="3053"/>
              <a:ext cx="152" cy="0"/>
            </a:xfrm>
            <a:prstGeom prst="line">
              <a:avLst/>
            </a:prstGeom>
            <a:ln w="12700" cap="flat" cmpd="sng">
              <a:solidFill>
                <a:schemeClr val="accent2"/>
              </a:solidFill>
              <a:prstDash val="solid"/>
              <a:headEnd type="none" w="med" len="med"/>
              <a:tailEnd type="none" w="med" len="med"/>
            </a:ln>
          </p:spPr>
        </p:sp>
        <p:sp>
          <p:nvSpPr>
            <p:cNvPr id="75875" name="Text Box 152"/>
            <p:cNvSpPr txBox="1"/>
            <p:nvPr/>
          </p:nvSpPr>
          <p:spPr>
            <a:xfrm>
              <a:off x="2940" y="2886"/>
              <a:ext cx="552" cy="336"/>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75876" name="Line 153"/>
            <p:cNvSpPr/>
            <p:nvPr/>
          </p:nvSpPr>
          <p:spPr>
            <a:xfrm flipV="1">
              <a:off x="3773" y="2672"/>
              <a:ext cx="0" cy="377"/>
            </a:xfrm>
            <a:prstGeom prst="line">
              <a:avLst/>
            </a:prstGeom>
            <a:ln w="12700" cap="flat" cmpd="sng">
              <a:solidFill>
                <a:schemeClr val="accent2"/>
              </a:solidFill>
              <a:prstDash val="solid"/>
              <a:headEnd type="none" w="med" len="med"/>
              <a:tailEnd type="stealth" w="med" len="lg"/>
            </a:ln>
          </p:spPr>
        </p:sp>
        <p:sp>
          <p:nvSpPr>
            <p:cNvPr id="75877" name="Line 154"/>
            <p:cNvSpPr/>
            <p:nvPr/>
          </p:nvSpPr>
          <p:spPr>
            <a:xfrm>
              <a:off x="3770" y="3049"/>
              <a:ext cx="1290" cy="0"/>
            </a:xfrm>
            <a:prstGeom prst="line">
              <a:avLst/>
            </a:prstGeom>
            <a:ln w="12700" cap="flat" cmpd="sng">
              <a:solidFill>
                <a:schemeClr val="accent2"/>
              </a:solidFill>
              <a:prstDash val="solid"/>
              <a:headEnd type="none" w="med" len="med"/>
              <a:tailEnd type="none" w="med" len="med"/>
            </a:ln>
          </p:spPr>
        </p:sp>
        <p:sp>
          <p:nvSpPr>
            <p:cNvPr id="75878" name="Line 155"/>
            <p:cNvSpPr/>
            <p:nvPr/>
          </p:nvSpPr>
          <p:spPr>
            <a:xfrm flipH="1">
              <a:off x="3948" y="2674"/>
              <a:ext cx="0" cy="275"/>
            </a:xfrm>
            <a:prstGeom prst="line">
              <a:avLst/>
            </a:prstGeom>
            <a:ln w="12700" cap="flat" cmpd="sng">
              <a:solidFill>
                <a:schemeClr val="accent2"/>
              </a:solidFill>
              <a:prstDash val="solid"/>
              <a:headEnd type="none" w="med" len="med"/>
              <a:tailEnd type="none" w="med" len="med"/>
            </a:ln>
          </p:spPr>
        </p:sp>
        <p:sp>
          <p:nvSpPr>
            <p:cNvPr id="75879" name="Line 156"/>
            <p:cNvSpPr/>
            <p:nvPr/>
          </p:nvSpPr>
          <p:spPr>
            <a:xfrm>
              <a:off x="3948" y="2949"/>
              <a:ext cx="882" cy="0"/>
            </a:xfrm>
            <a:prstGeom prst="line">
              <a:avLst/>
            </a:prstGeom>
            <a:ln w="12700" cap="flat" cmpd="sng">
              <a:solidFill>
                <a:schemeClr val="accent2"/>
              </a:solidFill>
              <a:prstDash val="solid"/>
              <a:headEnd type="none" w="med" len="med"/>
              <a:tailEnd type="none" w="med" len="med"/>
            </a:ln>
          </p:spPr>
        </p:sp>
        <p:sp>
          <p:nvSpPr>
            <p:cNvPr id="75880" name="Line 157"/>
            <p:cNvSpPr/>
            <p:nvPr/>
          </p:nvSpPr>
          <p:spPr>
            <a:xfrm flipV="1">
              <a:off x="4398" y="2840"/>
              <a:ext cx="0" cy="109"/>
            </a:xfrm>
            <a:prstGeom prst="line">
              <a:avLst/>
            </a:prstGeom>
            <a:ln w="12700" cap="flat" cmpd="sng">
              <a:solidFill>
                <a:schemeClr val="accent2"/>
              </a:solidFill>
              <a:prstDash val="solid"/>
              <a:headEnd type="none" w="med" len="med"/>
              <a:tailEnd type="stealth" w="med" len="lg"/>
            </a:ln>
          </p:spPr>
        </p:sp>
        <p:sp>
          <p:nvSpPr>
            <p:cNvPr id="75881" name="Line 158"/>
            <p:cNvSpPr/>
            <p:nvPr/>
          </p:nvSpPr>
          <p:spPr>
            <a:xfrm flipV="1">
              <a:off x="4830" y="2679"/>
              <a:ext cx="0" cy="270"/>
            </a:xfrm>
            <a:prstGeom prst="line">
              <a:avLst/>
            </a:prstGeom>
            <a:ln w="12700" cap="flat" cmpd="sng">
              <a:solidFill>
                <a:schemeClr val="accent2"/>
              </a:solidFill>
              <a:prstDash val="solid"/>
              <a:headEnd type="none" w="med" len="med"/>
              <a:tailEnd type="stealth" w="med" len="lg"/>
            </a:ln>
          </p:spPr>
        </p:sp>
        <p:sp>
          <p:nvSpPr>
            <p:cNvPr id="75882" name="Line 159"/>
            <p:cNvSpPr/>
            <p:nvPr/>
          </p:nvSpPr>
          <p:spPr>
            <a:xfrm flipH="1">
              <a:off x="5063" y="2676"/>
              <a:ext cx="0" cy="377"/>
            </a:xfrm>
            <a:prstGeom prst="line">
              <a:avLst/>
            </a:prstGeom>
            <a:ln w="12700" cap="flat" cmpd="sng">
              <a:solidFill>
                <a:schemeClr val="accent2"/>
              </a:solidFill>
              <a:prstDash val="solid"/>
              <a:headEnd type="none" w="med" len="med"/>
              <a:tailEnd type="none" w="med" len="med"/>
            </a:ln>
          </p:spPr>
        </p:sp>
        <p:sp>
          <p:nvSpPr>
            <p:cNvPr id="75883" name="Text Box 160"/>
            <p:cNvSpPr txBox="1"/>
            <p:nvPr/>
          </p:nvSpPr>
          <p:spPr>
            <a:xfrm>
              <a:off x="4510" y="2783"/>
              <a:ext cx="492" cy="179"/>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75884" name="Oval 161"/>
            <p:cNvSpPr/>
            <p:nvPr/>
          </p:nvSpPr>
          <p:spPr>
            <a:xfrm>
              <a:off x="1256" y="2275"/>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85" name="Oval 162"/>
            <p:cNvSpPr/>
            <p:nvPr/>
          </p:nvSpPr>
          <p:spPr>
            <a:xfrm>
              <a:off x="1254" y="2490"/>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86" name="Oval 163"/>
            <p:cNvSpPr/>
            <p:nvPr/>
          </p:nvSpPr>
          <p:spPr>
            <a:xfrm>
              <a:off x="1651" y="2275"/>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87" name="Oval 164"/>
            <p:cNvSpPr/>
            <p:nvPr/>
          </p:nvSpPr>
          <p:spPr>
            <a:xfrm>
              <a:off x="1651" y="1920"/>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88" name="Oval 165"/>
            <p:cNvSpPr/>
            <p:nvPr/>
          </p:nvSpPr>
          <p:spPr>
            <a:xfrm>
              <a:off x="2380" y="1920"/>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89" name="Oval 166"/>
            <p:cNvSpPr/>
            <p:nvPr/>
          </p:nvSpPr>
          <p:spPr>
            <a:xfrm>
              <a:off x="2378" y="2420"/>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5890" name="Oval 167"/>
            <p:cNvSpPr/>
            <p:nvPr/>
          </p:nvSpPr>
          <p:spPr>
            <a:xfrm>
              <a:off x="4385" y="2939"/>
              <a:ext cx="23" cy="2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grpSp>
      <p:sp>
        <p:nvSpPr>
          <p:cNvPr id="2390186" name="Text Box 170"/>
          <p:cNvSpPr txBox="1"/>
          <p:nvPr/>
        </p:nvSpPr>
        <p:spPr>
          <a:xfrm>
            <a:off x="273050" y="5362575"/>
            <a:ext cx="8702675" cy="749300"/>
          </a:xfrm>
          <a:prstGeom prst="rect">
            <a:avLst/>
          </a:prstGeom>
          <a:noFill/>
          <a:ln w="9525">
            <a:noFill/>
          </a:ln>
        </p:spPr>
        <p:txBody>
          <a:bodyPr>
            <a:spAutoFit/>
          </a:bodyPr>
          <a:p>
            <a:pPr marL="984250" indent="-984250" eaLnBrk="1" hangingPunct="1">
              <a:lnSpc>
                <a:spcPct val="90000"/>
              </a:lnSpc>
              <a:spcBef>
                <a:spcPct val="50000"/>
              </a:spcBef>
            </a:pPr>
            <a:r>
              <a:rPr lang="zh-CN" altLang="en-US" sz="2400" dirty="0">
                <a:solidFill>
                  <a:srgbClr val="000099"/>
                </a:solidFill>
                <a:latin typeface="Times New Roman" panose="02020603050405020304" pitchFamily="18" charset="0"/>
              </a:rPr>
              <a:t>首先利用两次积分将输入模拟电压转换成脉冲宽度，然后再以数字测时的方法，将此脉冲宽度转换成数码输出。</a:t>
            </a:r>
            <a:endParaRPr lang="zh-CN" altLang="en-US" sz="2400" dirty="0">
              <a:solidFill>
                <a:srgbClr val="000099"/>
              </a:solidFill>
              <a:latin typeface="Times New Roman" panose="02020603050405020304" pitchFamily="18" charset="0"/>
            </a:endParaRPr>
          </a:p>
        </p:txBody>
      </p:sp>
      <p:sp>
        <p:nvSpPr>
          <p:cNvPr id="2" name="Text Box 170"/>
          <p:cNvSpPr txBox="1"/>
          <p:nvPr/>
        </p:nvSpPr>
        <p:spPr>
          <a:xfrm>
            <a:off x="244475" y="1349375"/>
            <a:ext cx="8702675" cy="420688"/>
          </a:xfrm>
          <a:prstGeom prst="rect">
            <a:avLst/>
          </a:prstGeom>
          <a:noFill/>
          <a:ln w="9525">
            <a:noFill/>
          </a:ln>
        </p:spPr>
        <p:txBody>
          <a:bodyPr>
            <a:spAutoFit/>
          </a:bodyPr>
          <a:p>
            <a:pPr marL="984250" indent="-984250" eaLnBrk="1" hangingPunct="1">
              <a:lnSpc>
                <a:spcPct val="90000"/>
              </a:lnSpc>
              <a:spcBef>
                <a:spcPct val="50000"/>
              </a:spcBef>
            </a:pPr>
            <a:r>
              <a:rPr lang="zh-CN" altLang="en-US" sz="2400" dirty="0">
                <a:solidFill>
                  <a:srgbClr val="FF0000"/>
                </a:solidFill>
                <a:latin typeface="Times New Roman" panose="02020603050405020304" pitchFamily="18" charset="0"/>
              </a:rPr>
              <a:t>组成：</a:t>
            </a:r>
            <a:r>
              <a:rPr lang="zh-CN" altLang="en-US" sz="2400" dirty="0">
                <a:solidFill>
                  <a:schemeClr val="tx1"/>
                </a:solidFill>
                <a:latin typeface="Times New Roman" panose="02020603050405020304" pitchFamily="18" charset="0"/>
              </a:rPr>
              <a:t>积分器、比较器、计数器、时钟发生器和控制逻辑电路。</a:t>
            </a:r>
            <a:endParaRPr lang="zh-CN" altLang="en-US" sz="2400" dirty="0">
              <a:solidFill>
                <a:schemeClr val="tx1"/>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35765" name="Text Box 21"/>
          <p:cNvSpPr txBox="1"/>
          <p:nvPr/>
        </p:nvSpPr>
        <p:spPr>
          <a:xfrm>
            <a:off x="3767138" y="725488"/>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双积分型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35765"/>
                                        </p:tgtEl>
                                        <p:attrNameLst>
                                          <p:attrName>style.visibility</p:attrName>
                                        </p:attrNameLst>
                                      </p:cBhvr>
                                      <p:to>
                                        <p:strVal val="visible"/>
                                      </p:to>
                                    </p:set>
                                    <p:animEffect transition="in" filter="dissolve">
                                      <p:cBhvr>
                                        <p:cTn id="7" dur="500"/>
                                        <p:tgtEl>
                                          <p:spTgt spid="23357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dissolv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90186"/>
                                        </p:tgtEl>
                                        <p:attrNameLst>
                                          <p:attrName>style.visibility</p:attrName>
                                        </p:attrNameLst>
                                      </p:cBhvr>
                                      <p:to>
                                        <p:strVal val="visible"/>
                                      </p:to>
                                    </p:set>
                                    <p:animEffect transition="in" filter="dissolve">
                                      <p:cBhvr>
                                        <p:cTn id="22" dur="500"/>
                                        <p:tgtEl>
                                          <p:spTgt spid="2390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0186" grpId="0"/>
      <p:bldP spid="2" grpId="0"/>
      <p:bldP spid="2335765" grpId="0" bldLvl="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5908" name="Rectangle 116"/>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09" name="Line 117"/>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2465910" name="AutoShape 118"/>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11" name="Line 119"/>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2465912" name="Line 120"/>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2465913" name="Line 121"/>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2465914" name="Line 122"/>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2465915" name="Text Box 123"/>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2465916" name="Oval 124"/>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17" name="AutoShape 125"/>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18" name="Text Box 126"/>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465920" name="Line 128"/>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2465921" name="Rectangle 129"/>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22" name="Line 130"/>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2465923" name="Rectangle 131"/>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24" name="Line 132"/>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2465925" name="Line 133"/>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2465926" name="Oval 134"/>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27" name="Line 135"/>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2465928" name="Oval 136"/>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29" name="Line 137"/>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2465930" name="Oval 138"/>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1" name="Line 139"/>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2465932" name="Oval 140"/>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3" name="Line 141"/>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2465934" name="Oval 142"/>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5" name="Oval 143"/>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6" name="Oval 144"/>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7" name="Line 145"/>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2465938" name="Oval 146"/>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39" name="Text Box 147"/>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2465940" name="Oval 148"/>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41" name="Line 149"/>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2465942" name="Text Box 150"/>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2465943" name="Oval 151"/>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44" name="Line 152"/>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2465945" name="Line 153"/>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2465946" name="Line 154"/>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2465947" name="Line 155"/>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2465948" name="Line 156"/>
          <p:cNvSpPr/>
          <p:nvPr/>
        </p:nvSpPr>
        <p:spPr>
          <a:xfrm flipV="1">
            <a:off x="1490663" y="4505325"/>
            <a:ext cx="266700" cy="128588"/>
          </a:xfrm>
          <a:prstGeom prst="line">
            <a:avLst/>
          </a:prstGeom>
          <a:ln w="19050" cap="flat" cmpd="sng">
            <a:solidFill>
              <a:srgbClr val="000080"/>
            </a:solidFill>
            <a:prstDash val="solid"/>
            <a:headEnd type="none" w="med" len="med"/>
            <a:tailEnd type="none" w="med" len="med"/>
          </a:ln>
        </p:spPr>
      </p:sp>
      <p:sp>
        <p:nvSpPr>
          <p:cNvPr id="2465949" name="Line 157"/>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2465950" name="Line 158"/>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2465951" name="Text Box 159"/>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2465952" name="Text Box 160"/>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2465953" name="Text Box 161"/>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65954" name="Text Box 162"/>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2465955" name="Text Box 163"/>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2465956" name="Text Box 164"/>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2465957" name="Line 165"/>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2465958" name="Rectangle 166"/>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59" name="Line 167"/>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2465960" name="Line 168"/>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2465961" name="Oval 169"/>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62" name="Line 170"/>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2465963" name="Oval 171"/>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64" name="Line 172"/>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2465965" name="Text Box 173"/>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2465966" name="Line 174"/>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2465967" name="Line 175"/>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2465968" name="Line 176"/>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2465969" name="Line 177"/>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2465970" name="Text Box 178"/>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65971" name="Text Box 179"/>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5972" name="Line 180"/>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2465973" name="AutoShape 181"/>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74" name="Text Box 182"/>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465975" name="Line 183"/>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2465976" name="Rectangle 184"/>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77" name="Line 185"/>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2465978" name="Text Box 186"/>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65979" name="Text Box 187"/>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5980" name="Text Box 188"/>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2465981" name="Rectangle 189"/>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2465982" name="Rectangle 190"/>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2465983" name="Line 191"/>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2465984" name="Line 192"/>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2465985" name="Line 193"/>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2465986" name="Line 194"/>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2465987" name="Line 195"/>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2465988" name="Text Box 196"/>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2465989" name="Rectangle 197"/>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5990" name="Rectangle 198"/>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2465991" name="Rectangle 199"/>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2465992" name="Rectangle 200"/>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2465993" name="Rectangle 201"/>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2465994" name="Rectangle 202"/>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2465995" name="Text Box 203"/>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2465996" name="Line 204"/>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2465997" name="Line 205"/>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2465998" name="Line 206"/>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2465999" name="Text Box 207"/>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2466000" name="Line 208"/>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2466001" name="Line 209"/>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2466002" name="Line 210"/>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2466003" name="Line 211"/>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2466004" name="Line 212"/>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2466005" name="Line 213"/>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2466006" name="Line 214"/>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2466007" name="Text Box 215"/>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2466008" name="Oval 216"/>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09" name="Oval 217"/>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0" name="Oval 218"/>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1" name="Oval 219"/>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2" name="Oval 220"/>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3" name="Oval 221"/>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4" name="Oval 222"/>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6015" name="Text Box 223"/>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1. </a:t>
            </a:r>
            <a:r>
              <a:rPr lang="zh-CN" altLang="en-US" dirty="0">
                <a:solidFill>
                  <a:srgbClr val="FF0000"/>
                </a:solidFill>
                <a:latin typeface="Times New Roman" panose="02020603050405020304" pitchFamily="18" charset="0"/>
                <a:ea typeface="黑体" panose="02010609060101010101" pitchFamily="49" charset="-122"/>
              </a:rPr>
              <a:t>预备阶段：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466016" name="Text Box 224"/>
          <p:cNvSpPr txBox="1"/>
          <p:nvPr/>
        </p:nvSpPr>
        <p:spPr>
          <a:xfrm>
            <a:off x="3290888" y="1444625"/>
            <a:ext cx="4702175" cy="1589088"/>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开始工作前，控制电路令开关</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4</a:t>
            </a:r>
            <a:r>
              <a:rPr lang="zh-CN" altLang="en-US" sz="2400" dirty="0">
                <a:latin typeface="Times New Roman" panose="02020603050405020304" pitchFamily="18" charset="0"/>
              </a:rPr>
              <a:t>和</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5</a:t>
            </a:r>
            <a:r>
              <a:rPr lang="zh-CN" altLang="en-US" sz="2400" dirty="0">
                <a:latin typeface="Times New Roman" panose="02020603050405020304" pitchFamily="18" charset="0"/>
              </a:rPr>
              <a:t>闭合，使电容</a:t>
            </a:r>
            <a:r>
              <a:rPr lang="en-US" altLang="zh-CN" sz="2400" dirty="0">
                <a:latin typeface="Times New Roman" panose="02020603050405020304" pitchFamily="18" charset="0"/>
              </a:rPr>
              <a:t>C</a:t>
            </a:r>
            <a:r>
              <a:rPr lang="zh-CN" altLang="en-US" sz="2400" dirty="0">
                <a:latin typeface="Times New Roman" panose="02020603050405020304" pitchFamily="18" charset="0"/>
              </a:rPr>
              <a:t>放掉电荷，积分器输出为零；</a:t>
            </a:r>
            <a:endParaRPr lang="zh-CN" altLang="en-US" sz="2400" dirty="0">
              <a:latin typeface="Times New Roman" panose="02020603050405020304" pitchFamily="18" charset="0"/>
            </a:endParaRPr>
          </a:p>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同时使计数器复零。</a:t>
            </a:r>
            <a:endParaRPr lang="zh-CN" altLang="en-US" sz="2400" dirty="0">
              <a:latin typeface="Times New Roman" panose="02020603050405020304" pitchFamily="18" charset="0"/>
            </a:endParaRPr>
          </a:p>
        </p:txBody>
      </p:sp>
      <p:sp>
        <p:nvSpPr>
          <p:cNvPr id="2466017" name="Line 225"/>
          <p:cNvSpPr/>
          <p:nvPr/>
        </p:nvSpPr>
        <p:spPr>
          <a:xfrm flipV="1">
            <a:off x="1487488" y="5286375"/>
            <a:ext cx="309562" cy="46038"/>
          </a:xfrm>
          <a:prstGeom prst="line">
            <a:avLst/>
          </a:prstGeom>
          <a:ln w="38100" cap="flat" cmpd="sng">
            <a:solidFill>
              <a:srgbClr val="FF00FF"/>
            </a:solidFill>
            <a:prstDash val="solid"/>
            <a:headEnd type="none" w="med" len="med"/>
            <a:tailEnd type="none" w="med" len="med"/>
          </a:ln>
        </p:spPr>
      </p:sp>
      <p:sp>
        <p:nvSpPr>
          <p:cNvPr id="2466018" name="Line 226"/>
          <p:cNvSpPr/>
          <p:nvPr/>
        </p:nvSpPr>
        <p:spPr>
          <a:xfrm flipV="1">
            <a:off x="3111500" y="3627438"/>
            <a:ext cx="309563" cy="46037"/>
          </a:xfrm>
          <a:prstGeom prst="line">
            <a:avLst/>
          </a:prstGeom>
          <a:ln w="38100" cap="flat" cmpd="sng">
            <a:solidFill>
              <a:srgbClr val="FF00FF"/>
            </a:solidFill>
            <a:prstDash val="solid"/>
            <a:headEnd type="none" w="med" len="med"/>
            <a:tailEnd type="none" w="med" len="med"/>
          </a:ln>
        </p:spPr>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6913"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76914" name="Text Box 21"/>
          <p:cNvSpPr txBox="1"/>
          <p:nvPr/>
        </p:nvSpPr>
        <p:spPr>
          <a:xfrm>
            <a:off x="3767138" y="725488"/>
            <a:ext cx="25034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双积分型</a:t>
            </a:r>
            <a:r>
              <a:rPr lang="en-US" altLang="zh-CN" dirty="0">
                <a:latin typeface="Times New Roman" panose="02020603050405020304" pitchFamily="18" charset="0"/>
              </a:rPr>
              <a:t>ADC</a:t>
            </a:r>
            <a:endParaRPr lang="en-US" altLang="zh-CN"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5908"/>
                                        </p:tgtEl>
                                        <p:attrNameLst>
                                          <p:attrName>style.visibility</p:attrName>
                                        </p:attrNameLst>
                                      </p:cBhvr>
                                      <p:to>
                                        <p:strVal val="visible"/>
                                      </p:to>
                                    </p:set>
                                    <p:animEffect transition="in" filter="dissolve">
                                      <p:cBhvr>
                                        <p:cTn id="7" dur="500"/>
                                        <p:tgtEl>
                                          <p:spTgt spid="2465908"/>
                                        </p:tgtEl>
                                      </p:cBhvr>
                                    </p:animEffect>
                                  </p:childTnLst>
                                </p:cTn>
                              </p:par>
                              <p:par>
                                <p:cTn id="8" presetID="9" presetClass="entr" presetSubtype="0" fill="hold" nodeType="withEffect">
                                  <p:stCondLst>
                                    <p:cond delay="0"/>
                                  </p:stCondLst>
                                  <p:childTnLst>
                                    <p:set>
                                      <p:cBhvr>
                                        <p:cTn id="9" dur="1" fill="hold">
                                          <p:stCondLst>
                                            <p:cond delay="0"/>
                                          </p:stCondLst>
                                        </p:cTn>
                                        <p:tgtEl>
                                          <p:spTgt spid="2465909"/>
                                        </p:tgtEl>
                                        <p:attrNameLst>
                                          <p:attrName>style.visibility</p:attrName>
                                        </p:attrNameLst>
                                      </p:cBhvr>
                                      <p:to>
                                        <p:strVal val="visible"/>
                                      </p:to>
                                    </p:set>
                                    <p:animEffect transition="in" filter="dissolve">
                                      <p:cBhvr>
                                        <p:cTn id="10" dur="500"/>
                                        <p:tgtEl>
                                          <p:spTgt spid="2465909"/>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465910"/>
                                        </p:tgtEl>
                                        <p:attrNameLst>
                                          <p:attrName>style.visibility</p:attrName>
                                        </p:attrNameLst>
                                      </p:cBhvr>
                                      <p:to>
                                        <p:strVal val="visible"/>
                                      </p:to>
                                    </p:set>
                                    <p:animEffect transition="in" filter="dissolve">
                                      <p:cBhvr>
                                        <p:cTn id="13" dur="500"/>
                                        <p:tgtEl>
                                          <p:spTgt spid="2465910"/>
                                        </p:tgtEl>
                                      </p:cBhvr>
                                    </p:animEffect>
                                  </p:childTnLst>
                                </p:cTn>
                              </p:par>
                              <p:par>
                                <p:cTn id="14" presetID="9" presetClass="entr" presetSubtype="0" fill="hold" nodeType="withEffect">
                                  <p:stCondLst>
                                    <p:cond delay="0"/>
                                  </p:stCondLst>
                                  <p:childTnLst>
                                    <p:set>
                                      <p:cBhvr>
                                        <p:cTn id="15" dur="1" fill="hold">
                                          <p:stCondLst>
                                            <p:cond delay="0"/>
                                          </p:stCondLst>
                                        </p:cTn>
                                        <p:tgtEl>
                                          <p:spTgt spid="2465911"/>
                                        </p:tgtEl>
                                        <p:attrNameLst>
                                          <p:attrName>style.visibility</p:attrName>
                                        </p:attrNameLst>
                                      </p:cBhvr>
                                      <p:to>
                                        <p:strVal val="visible"/>
                                      </p:to>
                                    </p:set>
                                    <p:animEffect transition="in" filter="dissolve">
                                      <p:cBhvr>
                                        <p:cTn id="16" dur="500"/>
                                        <p:tgtEl>
                                          <p:spTgt spid="2465911"/>
                                        </p:tgtEl>
                                      </p:cBhvr>
                                    </p:animEffect>
                                  </p:childTnLst>
                                </p:cTn>
                              </p:par>
                              <p:par>
                                <p:cTn id="17" presetID="9" presetClass="entr" presetSubtype="0" fill="hold" nodeType="withEffect">
                                  <p:stCondLst>
                                    <p:cond delay="0"/>
                                  </p:stCondLst>
                                  <p:childTnLst>
                                    <p:set>
                                      <p:cBhvr>
                                        <p:cTn id="18" dur="1" fill="hold">
                                          <p:stCondLst>
                                            <p:cond delay="0"/>
                                          </p:stCondLst>
                                        </p:cTn>
                                        <p:tgtEl>
                                          <p:spTgt spid="2465912"/>
                                        </p:tgtEl>
                                        <p:attrNameLst>
                                          <p:attrName>style.visibility</p:attrName>
                                        </p:attrNameLst>
                                      </p:cBhvr>
                                      <p:to>
                                        <p:strVal val="visible"/>
                                      </p:to>
                                    </p:set>
                                    <p:animEffect transition="in" filter="dissolve">
                                      <p:cBhvr>
                                        <p:cTn id="19" dur="500"/>
                                        <p:tgtEl>
                                          <p:spTgt spid="2465912"/>
                                        </p:tgtEl>
                                      </p:cBhvr>
                                    </p:animEffect>
                                  </p:childTnLst>
                                </p:cTn>
                              </p:par>
                              <p:par>
                                <p:cTn id="20" presetID="9" presetClass="entr" presetSubtype="0" fill="hold" nodeType="withEffect">
                                  <p:stCondLst>
                                    <p:cond delay="0"/>
                                  </p:stCondLst>
                                  <p:childTnLst>
                                    <p:set>
                                      <p:cBhvr>
                                        <p:cTn id="21" dur="1" fill="hold">
                                          <p:stCondLst>
                                            <p:cond delay="0"/>
                                          </p:stCondLst>
                                        </p:cTn>
                                        <p:tgtEl>
                                          <p:spTgt spid="2465913"/>
                                        </p:tgtEl>
                                        <p:attrNameLst>
                                          <p:attrName>style.visibility</p:attrName>
                                        </p:attrNameLst>
                                      </p:cBhvr>
                                      <p:to>
                                        <p:strVal val="visible"/>
                                      </p:to>
                                    </p:set>
                                    <p:animEffect transition="in" filter="dissolve">
                                      <p:cBhvr>
                                        <p:cTn id="22" dur="500"/>
                                        <p:tgtEl>
                                          <p:spTgt spid="2465913"/>
                                        </p:tgtEl>
                                      </p:cBhvr>
                                    </p:animEffect>
                                  </p:childTnLst>
                                </p:cTn>
                              </p:par>
                              <p:par>
                                <p:cTn id="23" presetID="9" presetClass="entr" presetSubtype="0" fill="hold" nodeType="withEffect">
                                  <p:stCondLst>
                                    <p:cond delay="0"/>
                                  </p:stCondLst>
                                  <p:childTnLst>
                                    <p:set>
                                      <p:cBhvr>
                                        <p:cTn id="24" dur="1" fill="hold">
                                          <p:stCondLst>
                                            <p:cond delay="0"/>
                                          </p:stCondLst>
                                        </p:cTn>
                                        <p:tgtEl>
                                          <p:spTgt spid="2465914"/>
                                        </p:tgtEl>
                                        <p:attrNameLst>
                                          <p:attrName>style.visibility</p:attrName>
                                        </p:attrNameLst>
                                      </p:cBhvr>
                                      <p:to>
                                        <p:strVal val="visible"/>
                                      </p:to>
                                    </p:set>
                                    <p:animEffect transition="in" filter="dissolve">
                                      <p:cBhvr>
                                        <p:cTn id="25" dur="500"/>
                                        <p:tgtEl>
                                          <p:spTgt spid="2465914"/>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5915"/>
                                        </p:tgtEl>
                                        <p:attrNameLst>
                                          <p:attrName>style.visibility</p:attrName>
                                        </p:attrNameLst>
                                      </p:cBhvr>
                                      <p:to>
                                        <p:strVal val="visible"/>
                                      </p:to>
                                    </p:set>
                                    <p:animEffect transition="in" filter="dissolve">
                                      <p:cBhvr>
                                        <p:cTn id="28" dur="500"/>
                                        <p:tgtEl>
                                          <p:spTgt spid="246591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65916"/>
                                        </p:tgtEl>
                                        <p:attrNameLst>
                                          <p:attrName>style.visibility</p:attrName>
                                        </p:attrNameLst>
                                      </p:cBhvr>
                                      <p:to>
                                        <p:strVal val="visible"/>
                                      </p:to>
                                    </p:set>
                                    <p:animEffect transition="in" filter="dissolve">
                                      <p:cBhvr>
                                        <p:cTn id="31" dur="500"/>
                                        <p:tgtEl>
                                          <p:spTgt spid="246591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465917"/>
                                        </p:tgtEl>
                                        <p:attrNameLst>
                                          <p:attrName>style.visibility</p:attrName>
                                        </p:attrNameLst>
                                      </p:cBhvr>
                                      <p:to>
                                        <p:strVal val="visible"/>
                                      </p:to>
                                    </p:set>
                                    <p:animEffect transition="in" filter="dissolve">
                                      <p:cBhvr>
                                        <p:cTn id="34" dur="500"/>
                                        <p:tgtEl>
                                          <p:spTgt spid="2465917"/>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65918"/>
                                        </p:tgtEl>
                                        <p:attrNameLst>
                                          <p:attrName>style.visibility</p:attrName>
                                        </p:attrNameLst>
                                      </p:cBhvr>
                                      <p:to>
                                        <p:strVal val="visible"/>
                                      </p:to>
                                    </p:set>
                                    <p:animEffect transition="in" filter="dissolve">
                                      <p:cBhvr>
                                        <p:cTn id="37" dur="500"/>
                                        <p:tgtEl>
                                          <p:spTgt spid="2465918"/>
                                        </p:tgtEl>
                                      </p:cBhvr>
                                    </p:animEffect>
                                  </p:childTnLst>
                                </p:cTn>
                              </p:par>
                              <p:par>
                                <p:cTn id="38" presetID="9" presetClass="entr" presetSubtype="0" fill="hold" nodeType="withEffect">
                                  <p:stCondLst>
                                    <p:cond delay="0"/>
                                  </p:stCondLst>
                                  <p:childTnLst>
                                    <p:set>
                                      <p:cBhvr>
                                        <p:cTn id="39" dur="1" fill="hold">
                                          <p:stCondLst>
                                            <p:cond delay="0"/>
                                          </p:stCondLst>
                                        </p:cTn>
                                        <p:tgtEl>
                                          <p:spTgt spid="2465920"/>
                                        </p:tgtEl>
                                        <p:attrNameLst>
                                          <p:attrName>style.visibility</p:attrName>
                                        </p:attrNameLst>
                                      </p:cBhvr>
                                      <p:to>
                                        <p:strVal val="visible"/>
                                      </p:to>
                                    </p:set>
                                    <p:animEffect transition="in" filter="dissolve">
                                      <p:cBhvr>
                                        <p:cTn id="40" dur="500"/>
                                        <p:tgtEl>
                                          <p:spTgt spid="2465920"/>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465921"/>
                                        </p:tgtEl>
                                        <p:attrNameLst>
                                          <p:attrName>style.visibility</p:attrName>
                                        </p:attrNameLst>
                                      </p:cBhvr>
                                      <p:to>
                                        <p:strVal val="visible"/>
                                      </p:to>
                                    </p:set>
                                    <p:animEffect transition="in" filter="dissolve">
                                      <p:cBhvr>
                                        <p:cTn id="43" dur="500"/>
                                        <p:tgtEl>
                                          <p:spTgt spid="2465921"/>
                                        </p:tgtEl>
                                      </p:cBhvr>
                                    </p:animEffect>
                                  </p:childTnLst>
                                </p:cTn>
                              </p:par>
                              <p:par>
                                <p:cTn id="44" presetID="9" presetClass="entr" presetSubtype="0" fill="hold" nodeType="withEffect">
                                  <p:stCondLst>
                                    <p:cond delay="0"/>
                                  </p:stCondLst>
                                  <p:childTnLst>
                                    <p:set>
                                      <p:cBhvr>
                                        <p:cTn id="45" dur="1" fill="hold">
                                          <p:stCondLst>
                                            <p:cond delay="0"/>
                                          </p:stCondLst>
                                        </p:cTn>
                                        <p:tgtEl>
                                          <p:spTgt spid="2465922"/>
                                        </p:tgtEl>
                                        <p:attrNameLst>
                                          <p:attrName>style.visibility</p:attrName>
                                        </p:attrNameLst>
                                      </p:cBhvr>
                                      <p:to>
                                        <p:strVal val="visible"/>
                                      </p:to>
                                    </p:set>
                                    <p:animEffect transition="in" filter="dissolve">
                                      <p:cBhvr>
                                        <p:cTn id="46" dur="500"/>
                                        <p:tgtEl>
                                          <p:spTgt spid="2465922"/>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465923"/>
                                        </p:tgtEl>
                                        <p:attrNameLst>
                                          <p:attrName>style.visibility</p:attrName>
                                        </p:attrNameLst>
                                      </p:cBhvr>
                                      <p:to>
                                        <p:strVal val="visible"/>
                                      </p:to>
                                    </p:set>
                                    <p:animEffect transition="in" filter="dissolve">
                                      <p:cBhvr>
                                        <p:cTn id="49" dur="500"/>
                                        <p:tgtEl>
                                          <p:spTgt spid="2465923"/>
                                        </p:tgtEl>
                                      </p:cBhvr>
                                    </p:animEffect>
                                  </p:childTnLst>
                                </p:cTn>
                              </p:par>
                              <p:par>
                                <p:cTn id="50" presetID="9" presetClass="entr" presetSubtype="0" fill="hold" nodeType="withEffect">
                                  <p:stCondLst>
                                    <p:cond delay="0"/>
                                  </p:stCondLst>
                                  <p:childTnLst>
                                    <p:set>
                                      <p:cBhvr>
                                        <p:cTn id="51" dur="1" fill="hold">
                                          <p:stCondLst>
                                            <p:cond delay="0"/>
                                          </p:stCondLst>
                                        </p:cTn>
                                        <p:tgtEl>
                                          <p:spTgt spid="2465924"/>
                                        </p:tgtEl>
                                        <p:attrNameLst>
                                          <p:attrName>style.visibility</p:attrName>
                                        </p:attrNameLst>
                                      </p:cBhvr>
                                      <p:to>
                                        <p:strVal val="visible"/>
                                      </p:to>
                                    </p:set>
                                    <p:animEffect transition="in" filter="dissolve">
                                      <p:cBhvr>
                                        <p:cTn id="52" dur="500"/>
                                        <p:tgtEl>
                                          <p:spTgt spid="2465924"/>
                                        </p:tgtEl>
                                      </p:cBhvr>
                                    </p:animEffect>
                                  </p:childTnLst>
                                </p:cTn>
                              </p:par>
                              <p:par>
                                <p:cTn id="53" presetID="9" presetClass="entr" presetSubtype="0" fill="hold" nodeType="withEffect">
                                  <p:stCondLst>
                                    <p:cond delay="0"/>
                                  </p:stCondLst>
                                  <p:childTnLst>
                                    <p:set>
                                      <p:cBhvr>
                                        <p:cTn id="54" dur="1" fill="hold">
                                          <p:stCondLst>
                                            <p:cond delay="0"/>
                                          </p:stCondLst>
                                        </p:cTn>
                                        <p:tgtEl>
                                          <p:spTgt spid="2465925"/>
                                        </p:tgtEl>
                                        <p:attrNameLst>
                                          <p:attrName>style.visibility</p:attrName>
                                        </p:attrNameLst>
                                      </p:cBhvr>
                                      <p:to>
                                        <p:strVal val="visible"/>
                                      </p:to>
                                    </p:set>
                                    <p:animEffect transition="in" filter="dissolve">
                                      <p:cBhvr>
                                        <p:cTn id="55" dur="500"/>
                                        <p:tgtEl>
                                          <p:spTgt spid="2465925"/>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465926"/>
                                        </p:tgtEl>
                                        <p:attrNameLst>
                                          <p:attrName>style.visibility</p:attrName>
                                        </p:attrNameLst>
                                      </p:cBhvr>
                                      <p:to>
                                        <p:strVal val="visible"/>
                                      </p:to>
                                    </p:set>
                                    <p:animEffect transition="in" filter="dissolve">
                                      <p:cBhvr>
                                        <p:cTn id="58" dur="500"/>
                                        <p:tgtEl>
                                          <p:spTgt spid="2465926"/>
                                        </p:tgtEl>
                                      </p:cBhvr>
                                    </p:animEffect>
                                  </p:childTnLst>
                                </p:cTn>
                              </p:par>
                              <p:par>
                                <p:cTn id="59" presetID="9" presetClass="entr" presetSubtype="0" fill="hold" nodeType="withEffect">
                                  <p:stCondLst>
                                    <p:cond delay="0"/>
                                  </p:stCondLst>
                                  <p:childTnLst>
                                    <p:set>
                                      <p:cBhvr>
                                        <p:cTn id="60" dur="1" fill="hold">
                                          <p:stCondLst>
                                            <p:cond delay="0"/>
                                          </p:stCondLst>
                                        </p:cTn>
                                        <p:tgtEl>
                                          <p:spTgt spid="2465927"/>
                                        </p:tgtEl>
                                        <p:attrNameLst>
                                          <p:attrName>style.visibility</p:attrName>
                                        </p:attrNameLst>
                                      </p:cBhvr>
                                      <p:to>
                                        <p:strVal val="visible"/>
                                      </p:to>
                                    </p:set>
                                    <p:animEffect transition="in" filter="dissolve">
                                      <p:cBhvr>
                                        <p:cTn id="61" dur="500"/>
                                        <p:tgtEl>
                                          <p:spTgt spid="2465927"/>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465928"/>
                                        </p:tgtEl>
                                        <p:attrNameLst>
                                          <p:attrName>style.visibility</p:attrName>
                                        </p:attrNameLst>
                                      </p:cBhvr>
                                      <p:to>
                                        <p:strVal val="visible"/>
                                      </p:to>
                                    </p:set>
                                    <p:animEffect transition="in" filter="dissolve">
                                      <p:cBhvr>
                                        <p:cTn id="64" dur="500"/>
                                        <p:tgtEl>
                                          <p:spTgt spid="2465928"/>
                                        </p:tgtEl>
                                      </p:cBhvr>
                                    </p:animEffect>
                                  </p:childTnLst>
                                </p:cTn>
                              </p:par>
                              <p:par>
                                <p:cTn id="65" presetID="9" presetClass="entr" presetSubtype="0" fill="hold" nodeType="withEffect">
                                  <p:stCondLst>
                                    <p:cond delay="0"/>
                                  </p:stCondLst>
                                  <p:childTnLst>
                                    <p:set>
                                      <p:cBhvr>
                                        <p:cTn id="66" dur="1" fill="hold">
                                          <p:stCondLst>
                                            <p:cond delay="0"/>
                                          </p:stCondLst>
                                        </p:cTn>
                                        <p:tgtEl>
                                          <p:spTgt spid="2465929"/>
                                        </p:tgtEl>
                                        <p:attrNameLst>
                                          <p:attrName>style.visibility</p:attrName>
                                        </p:attrNameLst>
                                      </p:cBhvr>
                                      <p:to>
                                        <p:strVal val="visible"/>
                                      </p:to>
                                    </p:set>
                                    <p:animEffect transition="in" filter="dissolve">
                                      <p:cBhvr>
                                        <p:cTn id="67" dur="500"/>
                                        <p:tgtEl>
                                          <p:spTgt spid="2465929"/>
                                        </p:tgtEl>
                                      </p:cBhvr>
                                    </p:animEffect>
                                  </p:childTnLst>
                                </p:cTn>
                              </p:par>
                              <p:par>
                                <p:cTn id="68" presetID="9" presetClass="entr" presetSubtype="0" fill="hold" grpId="0" nodeType="withEffect">
                                  <p:stCondLst>
                                    <p:cond delay="0"/>
                                  </p:stCondLst>
                                  <p:childTnLst>
                                    <p:set>
                                      <p:cBhvr>
                                        <p:cTn id="69" dur="1" fill="hold">
                                          <p:stCondLst>
                                            <p:cond delay="0"/>
                                          </p:stCondLst>
                                        </p:cTn>
                                        <p:tgtEl>
                                          <p:spTgt spid="2465930"/>
                                        </p:tgtEl>
                                        <p:attrNameLst>
                                          <p:attrName>style.visibility</p:attrName>
                                        </p:attrNameLst>
                                      </p:cBhvr>
                                      <p:to>
                                        <p:strVal val="visible"/>
                                      </p:to>
                                    </p:set>
                                    <p:animEffect transition="in" filter="dissolve">
                                      <p:cBhvr>
                                        <p:cTn id="70" dur="500"/>
                                        <p:tgtEl>
                                          <p:spTgt spid="2465930"/>
                                        </p:tgtEl>
                                      </p:cBhvr>
                                    </p:animEffect>
                                  </p:childTnLst>
                                </p:cTn>
                              </p:par>
                              <p:par>
                                <p:cTn id="71" presetID="9" presetClass="entr" presetSubtype="0" fill="hold" nodeType="withEffect">
                                  <p:stCondLst>
                                    <p:cond delay="0"/>
                                  </p:stCondLst>
                                  <p:childTnLst>
                                    <p:set>
                                      <p:cBhvr>
                                        <p:cTn id="72" dur="1" fill="hold">
                                          <p:stCondLst>
                                            <p:cond delay="0"/>
                                          </p:stCondLst>
                                        </p:cTn>
                                        <p:tgtEl>
                                          <p:spTgt spid="2465931"/>
                                        </p:tgtEl>
                                        <p:attrNameLst>
                                          <p:attrName>style.visibility</p:attrName>
                                        </p:attrNameLst>
                                      </p:cBhvr>
                                      <p:to>
                                        <p:strVal val="visible"/>
                                      </p:to>
                                    </p:set>
                                    <p:animEffect transition="in" filter="dissolve">
                                      <p:cBhvr>
                                        <p:cTn id="73" dur="500"/>
                                        <p:tgtEl>
                                          <p:spTgt spid="2465931"/>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2465932"/>
                                        </p:tgtEl>
                                        <p:attrNameLst>
                                          <p:attrName>style.visibility</p:attrName>
                                        </p:attrNameLst>
                                      </p:cBhvr>
                                      <p:to>
                                        <p:strVal val="visible"/>
                                      </p:to>
                                    </p:set>
                                    <p:animEffect transition="in" filter="dissolve">
                                      <p:cBhvr>
                                        <p:cTn id="76" dur="500"/>
                                        <p:tgtEl>
                                          <p:spTgt spid="2465932"/>
                                        </p:tgtEl>
                                      </p:cBhvr>
                                    </p:animEffect>
                                  </p:childTnLst>
                                </p:cTn>
                              </p:par>
                              <p:par>
                                <p:cTn id="77" presetID="9" presetClass="entr" presetSubtype="0" fill="hold" nodeType="withEffect">
                                  <p:stCondLst>
                                    <p:cond delay="0"/>
                                  </p:stCondLst>
                                  <p:childTnLst>
                                    <p:set>
                                      <p:cBhvr>
                                        <p:cTn id="78" dur="1" fill="hold">
                                          <p:stCondLst>
                                            <p:cond delay="0"/>
                                          </p:stCondLst>
                                        </p:cTn>
                                        <p:tgtEl>
                                          <p:spTgt spid="2465933"/>
                                        </p:tgtEl>
                                        <p:attrNameLst>
                                          <p:attrName>style.visibility</p:attrName>
                                        </p:attrNameLst>
                                      </p:cBhvr>
                                      <p:to>
                                        <p:strVal val="visible"/>
                                      </p:to>
                                    </p:set>
                                    <p:animEffect transition="in" filter="dissolve">
                                      <p:cBhvr>
                                        <p:cTn id="79" dur="500"/>
                                        <p:tgtEl>
                                          <p:spTgt spid="2465933"/>
                                        </p:tgtEl>
                                      </p:cBhvr>
                                    </p:animEffect>
                                  </p:childTnLst>
                                </p:cTn>
                              </p:par>
                              <p:par>
                                <p:cTn id="80" presetID="9" presetClass="entr" presetSubtype="0" fill="hold" grpId="0" nodeType="withEffect">
                                  <p:stCondLst>
                                    <p:cond delay="0"/>
                                  </p:stCondLst>
                                  <p:childTnLst>
                                    <p:set>
                                      <p:cBhvr>
                                        <p:cTn id="81" dur="1" fill="hold">
                                          <p:stCondLst>
                                            <p:cond delay="0"/>
                                          </p:stCondLst>
                                        </p:cTn>
                                        <p:tgtEl>
                                          <p:spTgt spid="2465934"/>
                                        </p:tgtEl>
                                        <p:attrNameLst>
                                          <p:attrName>style.visibility</p:attrName>
                                        </p:attrNameLst>
                                      </p:cBhvr>
                                      <p:to>
                                        <p:strVal val="visible"/>
                                      </p:to>
                                    </p:set>
                                    <p:animEffect transition="in" filter="dissolve">
                                      <p:cBhvr>
                                        <p:cTn id="82" dur="500"/>
                                        <p:tgtEl>
                                          <p:spTgt spid="2465934"/>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2465935"/>
                                        </p:tgtEl>
                                        <p:attrNameLst>
                                          <p:attrName>style.visibility</p:attrName>
                                        </p:attrNameLst>
                                      </p:cBhvr>
                                      <p:to>
                                        <p:strVal val="visible"/>
                                      </p:to>
                                    </p:set>
                                    <p:animEffect transition="in" filter="dissolve">
                                      <p:cBhvr>
                                        <p:cTn id="85" dur="500"/>
                                        <p:tgtEl>
                                          <p:spTgt spid="2465935"/>
                                        </p:tgtEl>
                                      </p:cBhvr>
                                    </p:animEffect>
                                  </p:childTnLst>
                                </p:cTn>
                              </p:par>
                              <p:par>
                                <p:cTn id="86" presetID="9" presetClass="entr" presetSubtype="0" fill="hold" grpId="0" nodeType="withEffect">
                                  <p:stCondLst>
                                    <p:cond delay="0"/>
                                  </p:stCondLst>
                                  <p:childTnLst>
                                    <p:set>
                                      <p:cBhvr>
                                        <p:cTn id="87" dur="1" fill="hold">
                                          <p:stCondLst>
                                            <p:cond delay="0"/>
                                          </p:stCondLst>
                                        </p:cTn>
                                        <p:tgtEl>
                                          <p:spTgt spid="2465936"/>
                                        </p:tgtEl>
                                        <p:attrNameLst>
                                          <p:attrName>style.visibility</p:attrName>
                                        </p:attrNameLst>
                                      </p:cBhvr>
                                      <p:to>
                                        <p:strVal val="visible"/>
                                      </p:to>
                                    </p:set>
                                    <p:animEffect transition="in" filter="dissolve">
                                      <p:cBhvr>
                                        <p:cTn id="88" dur="500"/>
                                        <p:tgtEl>
                                          <p:spTgt spid="2465936"/>
                                        </p:tgtEl>
                                      </p:cBhvr>
                                    </p:animEffect>
                                  </p:childTnLst>
                                </p:cTn>
                              </p:par>
                              <p:par>
                                <p:cTn id="89" presetID="9" presetClass="entr" presetSubtype="0" fill="hold" nodeType="withEffect">
                                  <p:stCondLst>
                                    <p:cond delay="0"/>
                                  </p:stCondLst>
                                  <p:childTnLst>
                                    <p:set>
                                      <p:cBhvr>
                                        <p:cTn id="90" dur="1" fill="hold">
                                          <p:stCondLst>
                                            <p:cond delay="0"/>
                                          </p:stCondLst>
                                        </p:cTn>
                                        <p:tgtEl>
                                          <p:spTgt spid="2465937"/>
                                        </p:tgtEl>
                                        <p:attrNameLst>
                                          <p:attrName>style.visibility</p:attrName>
                                        </p:attrNameLst>
                                      </p:cBhvr>
                                      <p:to>
                                        <p:strVal val="visible"/>
                                      </p:to>
                                    </p:set>
                                    <p:animEffect transition="in" filter="dissolve">
                                      <p:cBhvr>
                                        <p:cTn id="91" dur="500"/>
                                        <p:tgtEl>
                                          <p:spTgt spid="2465937"/>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2465938"/>
                                        </p:tgtEl>
                                        <p:attrNameLst>
                                          <p:attrName>style.visibility</p:attrName>
                                        </p:attrNameLst>
                                      </p:cBhvr>
                                      <p:to>
                                        <p:strVal val="visible"/>
                                      </p:to>
                                    </p:set>
                                    <p:animEffect transition="in" filter="dissolve">
                                      <p:cBhvr>
                                        <p:cTn id="94" dur="500"/>
                                        <p:tgtEl>
                                          <p:spTgt spid="2465938"/>
                                        </p:tgtEl>
                                      </p:cBhvr>
                                    </p:animEffect>
                                  </p:childTnLst>
                                </p:cTn>
                              </p:par>
                              <p:par>
                                <p:cTn id="95" presetID="9" presetClass="entr" presetSubtype="0" fill="hold" grpId="0" nodeType="withEffect">
                                  <p:stCondLst>
                                    <p:cond delay="0"/>
                                  </p:stCondLst>
                                  <p:childTnLst>
                                    <p:set>
                                      <p:cBhvr>
                                        <p:cTn id="96" dur="1" fill="hold">
                                          <p:stCondLst>
                                            <p:cond delay="0"/>
                                          </p:stCondLst>
                                        </p:cTn>
                                        <p:tgtEl>
                                          <p:spTgt spid="2465939"/>
                                        </p:tgtEl>
                                        <p:attrNameLst>
                                          <p:attrName>style.visibility</p:attrName>
                                        </p:attrNameLst>
                                      </p:cBhvr>
                                      <p:to>
                                        <p:strVal val="visible"/>
                                      </p:to>
                                    </p:set>
                                    <p:animEffect transition="in" filter="dissolve">
                                      <p:cBhvr>
                                        <p:cTn id="97" dur="500"/>
                                        <p:tgtEl>
                                          <p:spTgt spid="2465939"/>
                                        </p:tgtEl>
                                      </p:cBhvr>
                                    </p:animEffect>
                                  </p:childTnLst>
                                </p:cTn>
                              </p:par>
                              <p:par>
                                <p:cTn id="98" presetID="9" presetClass="entr" presetSubtype="0" fill="hold" grpId="0" nodeType="withEffect">
                                  <p:stCondLst>
                                    <p:cond delay="0"/>
                                  </p:stCondLst>
                                  <p:childTnLst>
                                    <p:set>
                                      <p:cBhvr>
                                        <p:cTn id="99" dur="1" fill="hold">
                                          <p:stCondLst>
                                            <p:cond delay="0"/>
                                          </p:stCondLst>
                                        </p:cTn>
                                        <p:tgtEl>
                                          <p:spTgt spid="2465940"/>
                                        </p:tgtEl>
                                        <p:attrNameLst>
                                          <p:attrName>style.visibility</p:attrName>
                                        </p:attrNameLst>
                                      </p:cBhvr>
                                      <p:to>
                                        <p:strVal val="visible"/>
                                      </p:to>
                                    </p:set>
                                    <p:animEffect transition="in" filter="dissolve">
                                      <p:cBhvr>
                                        <p:cTn id="100" dur="500"/>
                                        <p:tgtEl>
                                          <p:spTgt spid="2465940"/>
                                        </p:tgtEl>
                                      </p:cBhvr>
                                    </p:animEffect>
                                  </p:childTnLst>
                                </p:cTn>
                              </p:par>
                              <p:par>
                                <p:cTn id="101" presetID="9" presetClass="entr" presetSubtype="0" fill="hold" nodeType="withEffect">
                                  <p:stCondLst>
                                    <p:cond delay="0"/>
                                  </p:stCondLst>
                                  <p:childTnLst>
                                    <p:set>
                                      <p:cBhvr>
                                        <p:cTn id="102" dur="1" fill="hold">
                                          <p:stCondLst>
                                            <p:cond delay="0"/>
                                          </p:stCondLst>
                                        </p:cTn>
                                        <p:tgtEl>
                                          <p:spTgt spid="2465941"/>
                                        </p:tgtEl>
                                        <p:attrNameLst>
                                          <p:attrName>style.visibility</p:attrName>
                                        </p:attrNameLst>
                                      </p:cBhvr>
                                      <p:to>
                                        <p:strVal val="visible"/>
                                      </p:to>
                                    </p:set>
                                    <p:animEffect transition="in" filter="dissolve">
                                      <p:cBhvr>
                                        <p:cTn id="103" dur="500"/>
                                        <p:tgtEl>
                                          <p:spTgt spid="2465941"/>
                                        </p:tgtEl>
                                      </p:cBhvr>
                                    </p:animEffect>
                                  </p:childTnLst>
                                </p:cTn>
                              </p:par>
                              <p:par>
                                <p:cTn id="104" presetID="9" presetClass="entr" presetSubtype="0" fill="hold" grpId="0" nodeType="withEffect">
                                  <p:stCondLst>
                                    <p:cond delay="0"/>
                                  </p:stCondLst>
                                  <p:childTnLst>
                                    <p:set>
                                      <p:cBhvr>
                                        <p:cTn id="105" dur="1" fill="hold">
                                          <p:stCondLst>
                                            <p:cond delay="0"/>
                                          </p:stCondLst>
                                        </p:cTn>
                                        <p:tgtEl>
                                          <p:spTgt spid="2465942"/>
                                        </p:tgtEl>
                                        <p:attrNameLst>
                                          <p:attrName>style.visibility</p:attrName>
                                        </p:attrNameLst>
                                      </p:cBhvr>
                                      <p:to>
                                        <p:strVal val="visible"/>
                                      </p:to>
                                    </p:set>
                                    <p:animEffect transition="in" filter="dissolve">
                                      <p:cBhvr>
                                        <p:cTn id="106" dur="500"/>
                                        <p:tgtEl>
                                          <p:spTgt spid="2465942"/>
                                        </p:tgtEl>
                                      </p:cBhvr>
                                    </p:animEffect>
                                  </p:childTnLst>
                                </p:cTn>
                              </p:par>
                              <p:par>
                                <p:cTn id="107" presetID="9" presetClass="entr" presetSubtype="0" fill="hold" grpId="0" nodeType="withEffect">
                                  <p:stCondLst>
                                    <p:cond delay="0"/>
                                  </p:stCondLst>
                                  <p:childTnLst>
                                    <p:set>
                                      <p:cBhvr>
                                        <p:cTn id="108" dur="1" fill="hold">
                                          <p:stCondLst>
                                            <p:cond delay="0"/>
                                          </p:stCondLst>
                                        </p:cTn>
                                        <p:tgtEl>
                                          <p:spTgt spid="2465943"/>
                                        </p:tgtEl>
                                        <p:attrNameLst>
                                          <p:attrName>style.visibility</p:attrName>
                                        </p:attrNameLst>
                                      </p:cBhvr>
                                      <p:to>
                                        <p:strVal val="visible"/>
                                      </p:to>
                                    </p:set>
                                    <p:animEffect transition="in" filter="dissolve">
                                      <p:cBhvr>
                                        <p:cTn id="109" dur="500"/>
                                        <p:tgtEl>
                                          <p:spTgt spid="2465943"/>
                                        </p:tgtEl>
                                      </p:cBhvr>
                                    </p:animEffect>
                                  </p:childTnLst>
                                </p:cTn>
                              </p:par>
                              <p:par>
                                <p:cTn id="110" presetID="9" presetClass="entr" presetSubtype="0" fill="hold" nodeType="withEffect">
                                  <p:stCondLst>
                                    <p:cond delay="0"/>
                                  </p:stCondLst>
                                  <p:childTnLst>
                                    <p:set>
                                      <p:cBhvr>
                                        <p:cTn id="111" dur="1" fill="hold">
                                          <p:stCondLst>
                                            <p:cond delay="0"/>
                                          </p:stCondLst>
                                        </p:cTn>
                                        <p:tgtEl>
                                          <p:spTgt spid="2465944"/>
                                        </p:tgtEl>
                                        <p:attrNameLst>
                                          <p:attrName>style.visibility</p:attrName>
                                        </p:attrNameLst>
                                      </p:cBhvr>
                                      <p:to>
                                        <p:strVal val="visible"/>
                                      </p:to>
                                    </p:set>
                                    <p:animEffect transition="in" filter="dissolve">
                                      <p:cBhvr>
                                        <p:cTn id="112" dur="500"/>
                                        <p:tgtEl>
                                          <p:spTgt spid="2465944"/>
                                        </p:tgtEl>
                                      </p:cBhvr>
                                    </p:animEffect>
                                  </p:childTnLst>
                                </p:cTn>
                              </p:par>
                              <p:par>
                                <p:cTn id="113" presetID="9" presetClass="entr" presetSubtype="0" fill="hold" nodeType="withEffect">
                                  <p:stCondLst>
                                    <p:cond delay="0"/>
                                  </p:stCondLst>
                                  <p:childTnLst>
                                    <p:set>
                                      <p:cBhvr>
                                        <p:cTn id="114" dur="1" fill="hold">
                                          <p:stCondLst>
                                            <p:cond delay="0"/>
                                          </p:stCondLst>
                                        </p:cTn>
                                        <p:tgtEl>
                                          <p:spTgt spid="2465945"/>
                                        </p:tgtEl>
                                        <p:attrNameLst>
                                          <p:attrName>style.visibility</p:attrName>
                                        </p:attrNameLst>
                                      </p:cBhvr>
                                      <p:to>
                                        <p:strVal val="visible"/>
                                      </p:to>
                                    </p:set>
                                    <p:animEffect transition="in" filter="dissolve">
                                      <p:cBhvr>
                                        <p:cTn id="115" dur="500"/>
                                        <p:tgtEl>
                                          <p:spTgt spid="2465945"/>
                                        </p:tgtEl>
                                      </p:cBhvr>
                                    </p:animEffect>
                                  </p:childTnLst>
                                </p:cTn>
                              </p:par>
                              <p:par>
                                <p:cTn id="116" presetID="9" presetClass="entr" presetSubtype="0" fill="hold" nodeType="withEffect">
                                  <p:stCondLst>
                                    <p:cond delay="0"/>
                                  </p:stCondLst>
                                  <p:childTnLst>
                                    <p:set>
                                      <p:cBhvr>
                                        <p:cTn id="117" dur="1" fill="hold">
                                          <p:stCondLst>
                                            <p:cond delay="0"/>
                                          </p:stCondLst>
                                        </p:cTn>
                                        <p:tgtEl>
                                          <p:spTgt spid="2465946"/>
                                        </p:tgtEl>
                                        <p:attrNameLst>
                                          <p:attrName>style.visibility</p:attrName>
                                        </p:attrNameLst>
                                      </p:cBhvr>
                                      <p:to>
                                        <p:strVal val="visible"/>
                                      </p:to>
                                    </p:set>
                                    <p:animEffect transition="in" filter="dissolve">
                                      <p:cBhvr>
                                        <p:cTn id="118" dur="500"/>
                                        <p:tgtEl>
                                          <p:spTgt spid="2465946"/>
                                        </p:tgtEl>
                                      </p:cBhvr>
                                    </p:animEffect>
                                  </p:childTnLst>
                                </p:cTn>
                              </p:par>
                              <p:par>
                                <p:cTn id="119" presetID="9" presetClass="entr" presetSubtype="0" fill="hold" nodeType="withEffect">
                                  <p:stCondLst>
                                    <p:cond delay="0"/>
                                  </p:stCondLst>
                                  <p:childTnLst>
                                    <p:set>
                                      <p:cBhvr>
                                        <p:cTn id="120" dur="1" fill="hold">
                                          <p:stCondLst>
                                            <p:cond delay="0"/>
                                          </p:stCondLst>
                                        </p:cTn>
                                        <p:tgtEl>
                                          <p:spTgt spid="2465947"/>
                                        </p:tgtEl>
                                        <p:attrNameLst>
                                          <p:attrName>style.visibility</p:attrName>
                                        </p:attrNameLst>
                                      </p:cBhvr>
                                      <p:to>
                                        <p:strVal val="visible"/>
                                      </p:to>
                                    </p:set>
                                    <p:animEffect transition="in" filter="dissolve">
                                      <p:cBhvr>
                                        <p:cTn id="121" dur="500"/>
                                        <p:tgtEl>
                                          <p:spTgt spid="2465947"/>
                                        </p:tgtEl>
                                      </p:cBhvr>
                                    </p:animEffect>
                                  </p:childTnLst>
                                </p:cTn>
                              </p:par>
                              <p:par>
                                <p:cTn id="122" presetID="9" presetClass="entr" presetSubtype="0" fill="hold" nodeType="withEffect">
                                  <p:stCondLst>
                                    <p:cond delay="0"/>
                                  </p:stCondLst>
                                  <p:childTnLst>
                                    <p:set>
                                      <p:cBhvr>
                                        <p:cTn id="123" dur="1" fill="hold">
                                          <p:stCondLst>
                                            <p:cond delay="0"/>
                                          </p:stCondLst>
                                        </p:cTn>
                                        <p:tgtEl>
                                          <p:spTgt spid="2465948"/>
                                        </p:tgtEl>
                                        <p:attrNameLst>
                                          <p:attrName>style.visibility</p:attrName>
                                        </p:attrNameLst>
                                      </p:cBhvr>
                                      <p:to>
                                        <p:strVal val="visible"/>
                                      </p:to>
                                    </p:set>
                                    <p:animEffect transition="in" filter="dissolve">
                                      <p:cBhvr>
                                        <p:cTn id="124" dur="500"/>
                                        <p:tgtEl>
                                          <p:spTgt spid="2465948"/>
                                        </p:tgtEl>
                                      </p:cBhvr>
                                    </p:animEffect>
                                  </p:childTnLst>
                                </p:cTn>
                              </p:par>
                              <p:par>
                                <p:cTn id="125" presetID="9" presetClass="entr" presetSubtype="0" fill="hold" nodeType="withEffect">
                                  <p:stCondLst>
                                    <p:cond delay="0"/>
                                  </p:stCondLst>
                                  <p:childTnLst>
                                    <p:set>
                                      <p:cBhvr>
                                        <p:cTn id="126" dur="1" fill="hold">
                                          <p:stCondLst>
                                            <p:cond delay="0"/>
                                          </p:stCondLst>
                                        </p:cTn>
                                        <p:tgtEl>
                                          <p:spTgt spid="2465949"/>
                                        </p:tgtEl>
                                        <p:attrNameLst>
                                          <p:attrName>style.visibility</p:attrName>
                                        </p:attrNameLst>
                                      </p:cBhvr>
                                      <p:to>
                                        <p:strVal val="visible"/>
                                      </p:to>
                                    </p:set>
                                    <p:animEffect transition="in" filter="dissolve">
                                      <p:cBhvr>
                                        <p:cTn id="127" dur="500"/>
                                        <p:tgtEl>
                                          <p:spTgt spid="2465949"/>
                                        </p:tgtEl>
                                      </p:cBhvr>
                                    </p:animEffect>
                                  </p:childTnLst>
                                </p:cTn>
                              </p:par>
                              <p:par>
                                <p:cTn id="128" presetID="9" presetClass="entr" presetSubtype="0" fill="hold" nodeType="withEffect">
                                  <p:stCondLst>
                                    <p:cond delay="0"/>
                                  </p:stCondLst>
                                  <p:childTnLst>
                                    <p:set>
                                      <p:cBhvr>
                                        <p:cTn id="129" dur="1" fill="hold">
                                          <p:stCondLst>
                                            <p:cond delay="0"/>
                                          </p:stCondLst>
                                        </p:cTn>
                                        <p:tgtEl>
                                          <p:spTgt spid="2465950"/>
                                        </p:tgtEl>
                                        <p:attrNameLst>
                                          <p:attrName>style.visibility</p:attrName>
                                        </p:attrNameLst>
                                      </p:cBhvr>
                                      <p:to>
                                        <p:strVal val="visible"/>
                                      </p:to>
                                    </p:set>
                                    <p:animEffect transition="in" filter="dissolve">
                                      <p:cBhvr>
                                        <p:cTn id="130" dur="500"/>
                                        <p:tgtEl>
                                          <p:spTgt spid="2465950"/>
                                        </p:tgtEl>
                                      </p:cBhvr>
                                    </p:animEffect>
                                  </p:childTnLst>
                                </p:cTn>
                              </p:par>
                              <p:par>
                                <p:cTn id="131" presetID="9" presetClass="entr" presetSubtype="0" fill="hold" grpId="0" nodeType="withEffect">
                                  <p:stCondLst>
                                    <p:cond delay="0"/>
                                  </p:stCondLst>
                                  <p:childTnLst>
                                    <p:set>
                                      <p:cBhvr>
                                        <p:cTn id="132" dur="1" fill="hold">
                                          <p:stCondLst>
                                            <p:cond delay="0"/>
                                          </p:stCondLst>
                                        </p:cTn>
                                        <p:tgtEl>
                                          <p:spTgt spid="2465951"/>
                                        </p:tgtEl>
                                        <p:attrNameLst>
                                          <p:attrName>style.visibility</p:attrName>
                                        </p:attrNameLst>
                                      </p:cBhvr>
                                      <p:to>
                                        <p:strVal val="visible"/>
                                      </p:to>
                                    </p:set>
                                    <p:animEffect transition="in" filter="dissolve">
                                      <p:cBhvr>
                                        <p:cTn id="133" dur="500"/>
                                        <p:tgtEl>
                                          <p:spTgt spid="2465951"/>
                                        </p:tgtEl>
                                      </p:cBhvr>
                                    </p:animEffect>
                                  </p:childTnLst>
                                </p:cTn>
                              </p:par>
                              <p:par>
                                <p:cTn id="134" presetID="9" presetClass="entr" presetSubtype="0" fill="hold" grpId="0" nodeType="withEffect">
                                  <p:stCondLst>
                                    <p:cond delay="0"/>
                                  </p:stCondLst>
                                  <p:childTnLst>
                                    <p:set>
                                      <p:cBhvr>
                                        <p:cTn id="135" dur="1" fill="hold">
                                          <p:stCondLst>
                                            <p:cond delay="0"/>
                                          </p:stCondLst>
                                        </p:cTn>
                                        <p:tgtEl>
                                          <p:spTgt spid="2465952"/>
                                        </p:tgtEl>
                                        <p:attrNameLst>
                                          <p:attrName>style.visibility</p:attrName>
                                        </p:attrNameLst>
                                      </p:cBhvr>
                                      <p:to>
                                        <p:strVal val="visible"/>
                                      </p:to>
                                    </p:set>
                                    <p:animEffect transition="in" filter="dissolve">
                                      <p:cBhvr>
                                        <p:cTn id="136" dur="500"/>
                                        <p:tgtEl>
                                          <p:spTgt spid="2465952"/>
                                        </p:tgtEl>
                                      </p:cBhvr>
                                    </p:animEffect>
                                  </p:childTnLst>
                                </p:cTn>
                              </p:par>
                              <p:par>
                                <p:cTn id="137" presetID="9" presetClass="entr" presetSubtype="0" fill="hold" grpId="0" nodeType="withEffect">
                                  <p:stCondLst>
                                    <p:cond delay="0"/>
                                  </p:stCondLst>
                                  <p:childTnLst>
                                    <p:set>
                                      <p:cBhvr>
                                        <p:cTn id="138" dur="1" fill="hold">
                                          <p:stCondLst>
                                            <p:cond delay="0"/>
                                          </p:stCondLst>
                                        </p:cTn>
                                        <p:tgtEl>
                                          <p:spTgt spid="2465953"/>
                                        </p:tgtEl>
                                        <p:attrNameLst>
                                          <p:attrName>style.visibility</p:attrName>
                                        </p:attrNameLst>
                                      </p:cBhvr>
                                      <p:to>
                                        <p:strVal val="visible"/>
                                      </p:to>
                                    </p:set>
                                    <p:animEffect transition="in" filter="dissolve">
                                      <p:cBhvr>
                                        <p:cTn id="139" dur="500"/>
                                        <p:tgtEl>
                                          <p:spTgt spid="2465953"/>
                                        </p:tgtEl>
                                      </p:cBhvr>
                                    </p:animEffect>
                                  </p:childTnLst>
                                </p:cTn>
                              </p:par>
                              <p:par>
                                <p:cTn id="140" presetID="9" presetClass="entr" presetSubtype="0" fill="hold" grpId="0" nodeType="withEffect">
                                  <p:stCondLst>
                                    <p:cond delay="0"/>
                                  </p:stCondLst>
                                  <p:childTnLst>
                                    <p:set>
                                      <p:cBhvr>
                                        <p:cTn id="141" dur="1" fill="hold">
                                          <p:stCondLst>
                                            <p:cond delay="0"/>
                                          </p:stCondLst>
                                        </p:cTn>
                                        <p:tgtEl>
                                          <p:spTgt spid="2465954"/>
                                        </p:tgtEl>
                                        <p:attrNameLst>
                                          <p:attrName>style.visibility</p:attrName>
                                        </p:attrNameLst>
                                      </p:cBhvr>
                                      <p:to>
                                        <p:strVal val="visible"/>
                                      </p:to>
                                    </p:set>
                                    <p:animEffect transition="in" filter="dissolve">
                                      <p:cBhvr>
                                        <p:cTn id="142" dur="500"/>
                                        <p:tgtEl>
                                          <p:spTgt spid="2465954"/>
                                        </p:tgtEl>
                                      </p:cBhvr>
                                    </p:animEffect>
                                  </p:childTnLst>
                                </p:cTn>
                              </p:par>
                              <p:par>
                                <p:cTn id="143" presetID="9" presetClass="entr" presetSubtype="0" fill="hold" grpId="0" nodeType="withEffect">
                                  <p:stCondLst>
                                    <p:cond delay="0"/>
                                  </p:stCondLst>
                                  <p:childTnLst>
                                    <p:set>
                                      <p:cBhvr>
                                        <p:cTn id="144" dur="1" fill="hold">
                                          <p:stCondLst>
                                            <p:cond delay="0"/>
                                          </p:stCondLst>
                                        </p:cTn>
                                        <p:tgtEl>
                                          <p:spTgt spid="2465955"/>
                                        </p:tgtEl>
                                        <p:attrNameLst>
                                          <p:attrName>style.visibility</p:attrName>
                                        </p:attrNameLst>
                                      </p:cBhvr>
                                      <p:to>
                                        <p:strVal val="visible"/>
                                      </p:to>
                                    </p:set>
                                    <p:animEffect transition="in" filter="dissolve">
                                      <p:cBhvr>
                                        <p:cTn id="145" dur="500"/>
                                        <p:tgtEl>
                                          <p:spTgt spid="2465955"/>
                                        </p:tgtEl>
                                      </p:cBhvr>
                                    </p:animEffect>
                                  </p:childTnLst>
                                </p:cTn>
                              </p:par>
                              <p:par>
                                <p:cTn id="146" presetID="9" presetClass="entr" presetSubtype="0" fill="hold" grpId="0" nodeType="withEffect">
                                  <p:stCondLst>
                                    <p:cond delay="0"/>
                                  </p:stCondLst>
                                  <p:childTnLst>
                                    <p:set>
                                      <p:cBhvr>
                                        <p:cTn id="147" dur="1" fill="hold">
                                          <p:stCondLst>
                                            <p:cond delay="0"/>
                                          </p:stCondLst>
                                        </p:cTn>
                                        <p:tgtEl>
                                          <p:spTgt spid="2465956"/>
                                        </p:tgtEl>
                                        <p:attrNameLst>
                                          <p:attrName>style.visibility</p:attrName>
                                        </p:attrNameLst>
                                      </p:cBhvr>
                                      <p:to>
                                        <p:strVal val="visible"/>
                                      </p:to>
                                    </p:set>
                                    <p:animEffect transition="in" filter="dissolve">
                                      <p:cBhvr>
                                        <p:cTn id="148" dur="500"/>
                                        <p:tgtEl>
                                          <p:spTgt spid="2465956"/>
                                        </p:tgtEl>
                                      </p:cBhvr>
                                    </p:animEffect>
                                  </p:childTnLst>
                                </p:cTn>
                              </p:par>
                              <p:par>
                                <p:cTn id="149" presetID="9" presetClass="entr" presetSubtype="0" fill="hold" nodeType="withEffect">
                                  <p:stCondLst>
                                    <p:cond delay="0"/>
                                  </p:stCondLst>
                                  <p:childTnLst>
                                    <p:set>
                                      <p:cBhvr>
                                        <p:cTn id="150" dur="1" fill="hold">
                                          <p:stCondLst>
                                            <p:cond delay="0"/>
                                          </p:stCondLst>
                                        </p:cTn>
                                        <p:tgtEl>
                                          <p:spTgt spid="2465957"/>
                                        </p:tgtEl>
                                        <p:attrNameLst>
                                          <p:attrName>style.visibility</p:attrName>
                                        </p:attrNameLst>
                                      </p:cBhvr>
                                      <p:to>
                                        <p:strVal val="visible"/>
                                      </p:to>
                                    </p:set>
                                    <p:animEffect transition="in" filter="dissolve">
                                      <p:cBhvr>
                                        <p:cTn id="151" dur="500"/>
                                        <p:tgtEl>
                                          <p:spTgt spid="2465957"/>
                                        </p:tgtEl>
                                      </p:cBhvr>
                                    </p:animEffect>
                                  </p:childTnLst>
                                </p:cTn>
                              </p:par>
                              <p:par>
                                <p:cTn id="152" presetID="9" presetClass="entr" presetSubtype="0" fill="hold" grpId="0" nodeType="withEffect">
                                  <p:stCondLst>
                                    <p:cond delay="0"/>
                                  </p:stCondLst>
                                  <p:childTnLst>
                                    <p:set>
                                      <p:cBhvr>
                                        <p:cTn id="153" dur="1" fill="hold">
                                          <p:stCondLst>
                                            <p:cond delay="0"/>
                                          </p:stCondLst>
                                        </p:cTn>
                                        <p:tgtEl>
                                          <p:spTgt spid="2465958"/>
                                        </p:tgtEl>
                                        <p:attrNameLst>
                                          <p:attrName>style.visibility</p:attrName>
                                        </p:attrNameLst>
                                      </p:cBhvr>
                                      <p:to>
                                        <p:strVal val="visible"/>
                                      </p:to>
                                    </p:set>
                                    <p:animEffect transition="in" filter="dissolve">
                                      <p:cBhvr>
                                        <p:cTn id="154" dur="500"/>
                                        <p:tgtEl>
                                          <p:spTgt spid="2465958"/>
                                        </p:tgtEl>
                                      </p:cBhvr>
                                    </p:animEffect>
                                  </p:childTnLst>
                                </p:cTn>
                              </p:par>
                              <p:par>
                                <p:cTn id="155" presetID="9" presetClass="entr" presetSubtype="0" fill="hold" nodeType="withEffect">
                                  <p:stCondLst>
                                    <p:cond delay="0"/>
                                  </p:stCondLst>
                                  <p:childTnLst>
                                    <p:set>
                                      <p:cBhvr>
                                        <p:cTn id="156" dur="1" fill="hold">
                                          <p:stCondLst>
                                            <p:cond delay="0"/>
                                          </p:stCondLst>
                                        </p:cTn>
                                        <p:tgtEl>
                                          <p:spTgt spid="2465959"/>
                                        </p:tgtEl>
                                        <p:attrNameLst>
                                          <p:attrName>style.visibility</p:attrName>
                                        </p:attrNameLst>
                                      </p:cBhvr>
                                      <p:to>
                                        <p:strVal val="visible"/>
                                      </p:to>
                                    </p:set>
                                    <p:animEffect transition="in" filter="dissolve">
                                      <p:cBhvr>
                                        <p:cTn id="157" dur="500"/>
                                        <p:tgtEl>
                                          <p:spTgt spid="2465959"/>
                                        </p:tgtEl>
                                      </p:cBhvr>
                                    </p:animEffect>
                                  </p:childTnLst>
                                </p:cTn>
                              </p:par>
                              <p:par>
                                <p:cTn id="158" presetID="9" presetClass="entr" presetSubtype="0" fill="hold" nodeType="withEffect">
                                  <p:stCondLst>
                                    <p:cond delay="0"/>
                                  </p:stCondLst>
                                  <p:childTnLst>
                                    <p:set>
                                      <p:cBhvr>
                                        <p:cTn id="159" dur="1" fill="hold">
                                          <p:stCondLst>
                                            <p:cond delay="0"/>
                                          </p:stCondLst>
                                        </p:cTn>
                                        <p:tgtEl>
                                          <p:spTgt spid="2465960"/>
                                        </p:tgtEl>
                                        <p:attrNameLst>
                                          <p:attrName>style.visibility</p:attrName>
                                        </p:attrNameLst>
                                      </p:cBhvr>
                                      <p:to>
                                        <p:strVal val="visible"/>
                                      </p:to>
                                    </p:set>
                                    <p:animEffect transition="in" filter="dissolve">
                                      <p:cBhvr>
                                        <p:cTn id="160" dur="500"/>
                                        <p:tgtEl>
                                          <p:spTgt spid="2465960"/>
                                        </p:tgtEl>
                                      </p:cBhvr>
                                    </p:animEffect>
                                  </p:childTnLst>
                                </p:cTn>
                              </p:par>
                              <p:par>
                                <p:cTn id="161" presetID="9" presetClass="entr" presetSubtype="0" fill="hold" grpId="0" nodeType="withEffect">
                                  <p:stCondLst>
                                    <p:cond delay="0"/>
                                  </p:stCondLst>
                                  <p:childTnLst>
                                    <p:set>
                                      <p:cBhvr>
                                        <p:cTn id="162" dur="1" fill="hold">
                                          <p:stCondLst>
                                            <p:cond delay="0"/>
                                          </p:stCondLst>
                                        </p:cTn>
                                        <p:tgtEl>
                                          <p:spTgt spid="2465961"/>
                                        </p:tgtEl>
                                        <p:attrNameLst>
                                          <p:attrName>style.visibility</p:attrName>
                                        </p:attrNameLst>
                                      </p:cBhvr>
                                      <p:to>
                                        <p:strVal val="visible"/>
                                      </p:to>
                                    </p:set>
                                    <p:animEffect transition="in" filter="dissolve">
                                      <p:cBhvr>
                                        <p:cTn id="163" dur="500"/>
                                        <p:tgtEl>
                                          <p:spTgt spid="2465961"/>
                                        </p:tgtEl>
                                      </p:cBhvr>
                                    </p:animEffect>
                                  </p:childTnLst>
                                </p:cTn>
                              </p:par>
                              <p:par>
                                <p:cTn id="164" presetID="9" presetClass="entr" presetSubtype="0" fill="hold" nodeType="withEffect">
                                  <p:stCondLst>
                                    <p:cond delay="0"/>
                                  </p:stCondLst>
                                  <p:childTnLst>
                                    <p:set>
                                      <p:cBhvr>
                                        <p:cTn id="165" dur="1" fill="hold">
                                          <p:stCondLst>
                                            <p:cond delay="0"/>
                                          </p:stCondLst>
                                        </p:cTn>
                                        <p:tgtEl>
                                          <p:spTgt spid="2465962"/>
                                        </p:tgtEl>
                                        <p:attrNameLst>
                                          <p:attrName>style.visibility</p:attrName>
                                        </p:attrNameLst>
                                      </p:cBhvr>
                                      <p:to>
                                        <p:strVal val="visible"/>
                                      </p:to>
                                    </p:set>
                                    <p:animEffect transition="in" filter="dissolve">
                                      <p:cBhvr>
                                        <p:cTn id="166" dur="500"/>
                                        <p:tgtEl>
                                          <p:spTgt spid="2465962"/>
                                        </p:tgtEl>
                                      </p:cBhvr>
                                    </p:animEffect>
                                  </p:childTnLst>
                                </p:cTn>
                              </p:par>
                              <p:par>
                                <p:cTn id="167" presetID="9" presetClass="entr" presetSubtype="0" fill="hold" grpId="0" nodeType="withEffect">
                                  <p:stCondLst>
                                    <p:cond delay="0"/>
                                  </p:stCondLst>
                                  <p:childTnLst>
                                    <p:set>
                                      <p:cBhvr>
                                        <p:cTn id="168" dur="1" fill="hold">
                                          <p:stCondLst>
                                            <p:cond delay="0"/>
                                          </p:stCondLst>
                                        </p:cTn>
                                        <p:tgtEl>
                                          <p:spTgt spid="2465963"/>
                                        </p:tgtEl>
                                        <p:attrNameLst>
                                          <p:attrName>style.visibility</p:attrName>
                                        </p:attrNameLst>
                                      </p:cBhvr>
                                      <p:to>
                                        <p:strVal val="visible"/>
                                      </p:to>
                                    </p:set>
                                    <p:animEffect transition="in" filter="dissolve">
                                      <p:cBhvr>
                                        <p:cTn id="169" dur="500"/>
                                        <p:tgtEl>
                                          <p:spTgt spid="2465963"/>
                                        </p:tgtEl>
                                      </p:cBhvr>
                                    </p:animEffect>
                                  </p:childTnLst>
                                </p:cTn>
                              </p:par>
                              <p:par>
                                <p:cTn id="170" presetID="9" presetClass="entr" presetSubtype="0" fill="hold" nodeType="withEffect">
                                  <p:stCondLst>
                                    <p:cond delay="0"/>
                                  </p:stCondLst>
                                  <p:childTnLst>
                                    <p:set>
                                      <p:cBhvr>
                                        <p:cTn id="171" dur="1" fill="hold">
                                          <p:stCondLst>
                                            <p:cond delay="0"/>
                                          </p:stCondLst>
                                        </p:cTn>
                                        <p:tgtEl>
                                          <p:spTgt spid="2465964"/>
                                        </p:tgtEl>
                                        <p:attrNameLst>
                                          <p:attrName>style.visibility</p:attrName>
                                        </p:attrNameLst>
                                      </p:cBhvr>
                                      <p:to>
                                        <p:strVal val="visible"/>
                                      </p:to>
                                    </p:set>
                                    <p:animEffect transition="in" filter="dissolve">
                                      <p:cBhvr>
                                        <p:cTn id="172" dur="500"/>
                                        <p:tgtEl>
                                          <p:spTgt spid="2465964"/>
                                        </p:tgtEl>
                                      </p:cBhvr>
                                    </p:animEffect>
                                  </p:childTnLst>
                                </p:cTn>
                              </p:par>
                              <p:par>
                                <p:cTn id="173" presetID="9" presetClass="entr" presetSubtype="0" fill="hold" grpId="0" nodeType="withEffect">
                                  <p:stCondLst>
                                    <p:cond delay="0"/>
                                  </p:stCondLst>
                                  <p:childTnLst>
                                    <p:set>
                                      <p:cBhvr>
                                        <p:cTn id="174" dur="1" fill="hold">
                                          <p:stCondLst>
                                            <p:cond delay="0"/>
                                          </p:stCondLst>
                                        </p:cTn>
                                        <p:tgtEl>
                                          <p:spTgt spid="2465965"/>
                                        </p:tgtEl>
                                        <p:attrNameLst>
                                          <p:attrName>style.visibility</p:attrName>
                                        </p:attrNameLst>
                                      </p:cBhvr>
                                      <p:to>
                                        <p:strVal val="visible"/>
                                      </p:to>
                                    </p:set>
                                    <p:animEffect transition="in" filter="dissolve">
                                      <p:cBhvr>
                                        <p:cTn id="175" dur="500"/>
                                        <p:tgtEl>
                                          <p:spTgt spid="2465965"/>
                                        </p:tgtEl>
                                      </p:cBhvr>
                                    </p:animEffect>
                                  </p:childTnLst>
                                </p:cTn>
                              </p:par>
                              <p:par>
                                <p:cTn id="176" presetID="9" presetClass="entr" presetSubtype="0" fill="hold" nodeType="withEffect">
                                  <p:stCondLst>
                                    <p:cond delay="0"/>
                                  </p:stCondLst>
                                  <p:childTnLst>
                                    <p:set>
                                      <p:cBhvr>
                                        <p:cTn id="177" dur="1" fill="hold">
                                          <p:stCondLst>
                                            <p:cond delay="0"/>
                                          </p:stCondLst>
                                        </p:cTn>
                                        <p:tgtEl>
                                          <p:spTgt spid="2465966"/>
                                        </p:tgtEl>
                                        <p:attrNameLst>
                                          <p:attrName>style.visibility</p:attrName>
                                        </p:attrNameLst>
                                      </p:cBhvr>
                                      <p:to>
                                        <p:strVal val="visible"/>
                                      </p:to>
                                    </p:set>
                                    <p:animEffect transition="in" filter="dissolve">
                                      <p:cBhvr>
                                        <p:cTn id="178" dur="500"/>
                                        <p:tgtEl>
                                          <p:spTgt spid="2465966"/>
                                        </p:tgtEl>
                                      </p:cBhvr>
                                    </p:animEffect>
                                  </p:childTnLst>
                                </p:cTn>
                              </p:par>
                              <p:par>
                                <p:cTn id="179" presetID="9" presetClass="entr" presetSubtype="0" fill="hold" nodeType="withEffect">
                                  <p:stCondLst>
                                    <p:cond delay="0"/>
                                  </p:stCondLst>
                                  <p:childTnLst>
                                    <p:set>
                                      <p:cBhvr>
                                        <p:cTn id="180" dur="1" fill="hold">
                                          <p:stCondLst>
                                            <p:cond delay="0"/>
                                          </p:stCondLst>
                                        </p:cTn>
                                        <p:tgtEl>
                                          <p:spTgt spid="2465967"/>
                                        </p:tgtEl>
                                        <p:attrNameLst>
                                          <p:attrName>style.visibility</p:attrName>
                                        </p:attrNameLst>
                                      </p:cBhvr>
                                      <p:to>
                                        <p:strVal val="visible"/>
                                      </p:to>
                                    </p:set>
                                    <p:animEffect transition="in" filter="dissolve">
                                      <p:cBhvr>
                                        <p:cTn id="181" dur="500"/>
                                        <p:tgtEl>
                                          <p:spTgt spid="2465967"/>
                                        </p:tgtEl>
                                      </p:cBhvr>
                                    </p:animEffect>
                                  </p:childTnLst>
                                </p:cTn>
                              </p:par>
                              <p:par>
                                <p:cTn id="182" presetID="9" presetClass="entr" presetSubtype="0" fill="hold" nodeType="withEffect">
                                  <p:stCondLst>
                                    <p:cond delay="0"/>
                                  </p:stCondLst>
                                  <p:childTnLst>
                                    <p:set>
                                      <p:cBhvr>
                                        <p:cTn id="183" dur="1" fill="hold">
                                          <p:stCondLst>
                                            <p:cond delay="0"/>
                                          </p:stCondLst>
                                        </p:cTn>
                                        <p:tgtEl>
                                          <p:spTgt spid="2465968"/>
                                        </p:tgtEl>
                                        <p:attrNameLst>
                                          <p:attrName>style.visibility</p:attrName>
                                        </p:attrNameLst>
                                      </p:cBhvr>
                                      <p:to>
                                        <p:strVal val="visible"/>
                                      </p:to>
                                    </p:set>
                                    <p:animEffect transition="in" filter="dissolve">
                                      <p:cBhvr>
                                        <p:cTn id="184" dur="500"/>
                                        <p:tgtEl>
                                          <p:spTgt spid="2465968"/>
                                        </p:tgtEl>
                                      </p:cBhvr>
                                    </p:animEffect>
                                  </p:childTnLst>
                                </p:cTn>
                              </p:par>
                              <p:par>
                                <p:cTn id="185" presetID="9" presetClass="entr" presetSubtype="0" fill="hold" nodeType="withEffect">
                                  <p:stCondLst>
                                    <p:cond delay="0"/>
                                  </p:stCondLst>
                                  <p:childTnLst>
                                    <p:set>
                                      <p:cBhvr>
                                        <p:cTn id="186" dur="1" fill="hold">
                                          <p:stCondLst>
                                            <p:cond delay="0"/>
                                          </p:stCondLst>
                                        </p:cTn>
                                        <p:tgtEl>
                                          <p:spTgt spid="2465969"/>
                                        </p:tgtEl>
                                        <p:attrNameLst>
                                          <p:attrName>style.visibility</p:attrName>
                                        </p:attrNameLst>
                                      </p:cBhvr>
                                      <p:to>
                                        <p:strVal val="visible"/>
                                      </p:to>
                                    </p:set>
                                    <p:animEffect transition="in" filter="dissolve">
                                      <p:cBhvr>
                                        <p:cTn id="187" dur="500"/>
                                        <p:tgtEl>
                                          <p:spTgt spid="2465969"/>
                                        </p:tgtEl>
                                      </p:cBhvr>
                                    </p:animEffect>
                                  </p:childTnLst>
                                </p:cTn>
                              </p:par>
                              <p:par>
                                <p:cTn id="188" presetID="9" presetClass="entr" presetSubtype="0" fill="hold" grpId="0" nodeType="withEffect">
                                  <p:stCondLst>
                                    <p:cond delay="0"/>
                                  </p:stCondLst>
                                  <p:childTnLst>
                                    <p:set>
                                      <p:cBhvr>
                                        <p:cTn id="189" dur="1" fill="hold">
                                          <p:stCondLst>
                                            <p:cond delay="0"/>
                                          </p:stCondLst>
                                        </p:cTn>
                                        <p:tgtEl>
                                          <p:spTgt spid="2465970"/>
                                        </p:tgtEl>
                                        <p:attrNameLst>
                                          <p:attrName>style.visibility</p:attrName>
                                        </p:attrNameLst>
                                      </p:cBhvr>
                                      <p:to>
                                        <p:strVal val="visible"/>
                                      </p:to>
                                    </p:set>
                                    <p:animEffect transition="in" filter="dissolve">
                                      <p:cBhvr>
                                        <p:cTn id="190" dur="500"/>
                                        <p:tgtEl>
                                          <p:spTgt spid="2465970"/>
                                        </p:tgtEl>
                                      </p:cBhvr>
                                    </p:animEffect>
                                  </p:childTnLst>
                                </p:cTn>
                              </p:par>
                              <p:par>
                                <p:cTn id="191" presetID="9" presetClass="entr" presetSubtype="0" fill="hold" grpId="0" nodeType="withEffect">
                                  <p:stCondLst>
                                    <p:cond delay="0"/>
                                  </p:stCondLst>
                                  <p:childTnLst>
                                    <p:set>
                                      <p:cBhvr>
                                        <p:cTn id="192" dur="1" fill="hold">
                                          <p:stCondLst>
                                            <p:cond delay="0"/>
                                          </p:stCondLst>
                                        </p:cTn>
                                        <p:tgtEl>
                                          <p:spTgt spid="2465971"/>
                                        </p:tgtEl>
                                        <p:attrNameLst>
                                          <p:attrName>style.visibility</p:attrName>
                                        </p:attrNameLst>
                                      </p:cBhvr>
                                      <p:to>
                                        <p:strVal val="visible"/>
                                      </p:to>
                                    </p:set>
                                    <p:animEffect transition="in" filter="dissolve">
                                      <p:cBhvr>
                                        <p:cTn id="193" dur="500"/>
                                        <p:tgtEl>
                                          <p:spTgt spid="2465971"/>
                                        </p:tgtEl>
                                      </p:cBhvr>
                                    </p:animEffect>
                                  </p:childTnLst>
                                </p:cTn>
                              </p:par>
                              <p:par>
                                <p:cTn id="194" presetID="9" presetClass="entr" presetSubtype="0" fill="hold" nodeType="withEffect">
                                  <p:stCondLst>
                                    <p:cond delay="0"/>
                                  </p:stCondLst>
                                  <p:childTnLst>
                                    <p:set>
                                      <p:cBhvr>
                                        <p:cTn id="195" dur="1" fill="hold">
                                          <p:stCondLst>
                                            <p:cond delay="0"/>
                                          </p:stCondLst>
                                        </p:cTn>
                                        <p:tgtEl>
                                          <p:spTgt spid="2465972"/>
                                        </p:tgtEl>
                                        <p:attrNameLst>
                                          <p:attrName>style.visibility</p:attrName>
                                        </p:attrNameLst>
                                      </p:cBhvr>
                                      <p:to>
                                        <p:strVal val="visible"/>
                                      </p:to>
                                    </p:set>
                                    <p:animEffect transition="in" filter="dissolve">
                                      <p:cBhvr>
                                        <p:cTn id="196" dur="500"/>
                                        <p:tgtEl>
                                          <p:spTgt spid="2465972"/>
                                        </p:tgtEl>
                                      </p:cBhvr>
                                    </p:animEffect>
                                  </p:childTnLst>
                                </p:cTn>
                              </p:par>
                              <p:par>
                                <p:cTn id="197" presetID="9" presetClass="entr" presetSubtype="0" fill="hold" grpId="0" nodeType="withEffect">
                                  <p:stCondLst>
                                    <p:cond delay="0"/>
                                  </p:stCondLst>
                                  <p:childTnLst>
                                    <p:set>
                                      <p:cBhvr>
                                        <p:cTn id="198" dur="1" fill="hold">
                                          <p:stCondLst>
                                            <p:cond delay="0"/>
                                          </p:stCondLst>
                                        </p:cTn>
                                        <p:tgtEl>
                                          <p:spTgt spid="2465973"/>
                                        </p:tgtEl>
                                        <p:attrNameLst>
                                          <p:attrName>style.visibility</p:attrName>
                                        </p:attrNameLst>
                                      </p:cBhvr>
                                      <p:to>
                                        <p:strVal val="visible"/>
                                      </p:to>
                                    </p:set>
                                    <p:animEffect transition="in" filter="dissolve">
                                      <p:cBhvr>
                                        <p:cTn id="199" dur="500"/>
                                        <p:tgtEl>
                                          <p:spTgt spid="2465973"/>
                                        </p:tgtEl>
                                      </p:cBhvr>
                                    </p:animEffect>
                                  </p:childTnLst>
                                </p:cTn>
                              </p:par>
                              <p:par>
                                <p:cTn id="200" presetID="9" presetClass="entr" presetSubtype="0" fill="hold" grpId="0" nodeType="withEffect">
                                  <p:stCondLst>
                                    <p:cond delay="0"/>
                                  </p:stCondLst>
                                  <p:childTnLst>
                                    <p:set>
                                      <p:cBhvr>
                                        <p:cTn id="201" dur="1" fill="hold">
                                          <p:stCondLst>
                                            <p:cond delay="0"/>
                                          </p:stCondLst>
                                        </p:cTn>
                                        <p:tgtEl>
                                          <p:spTgt spid="2465974"/>
                                        </p:tgtEl>
                                        <p:attrNameLst>
                                          <p:attrName>style.visibility</p:attrName>
                                        </p:attrNameLst>
                                      </p:cBhvr>
                                      <p:to>
                                        <p:strVal val="visible"/>
                                      </p:to>
                                    </p:set>
                                    <p:animEffect transition="in" filter="dissolve">
                                      <p:cBhvr>
                                        <p:cTn id="202" dur="500"/>
                                        <p:tgtEl>
                                          <p:spTgt spid="2465974"/>
                                        </p:tgtEl>
                                      </p:cBhvr>
                                    </p:animEffect>
                                  </p:childTnLst>
                                </p:cTn>
                              </p:par>
                              <p:par>
                                <p:cTn id="203" presetID="9" presetClass="entr" presetSubtype="0" fill="hold" nodeType="withEffect">
                                  <p:stCondLst>
                                    <p:cond delay="0"/>
                                  </p:stCondLst>
                                  <p:childTnLst>
                                    <p:set>
                                      <p:cBhvr>
                                        <p:cTn id="204" dur="1" fill="hold">
                                          <p:stCondLst>
                                            <p:cond delay="0"/>
                                          </p:stCondLst>
                                        </p:cTn>
                                        <p:tgtEl>
                                          <p:spTgt spid="2465975"/>
                                        </p:tgtEl>
                                        <p:attrNameLst>
                                          <p:attrName>style.visibility</p:attrName>
                                        </p:attrNameLst>
                                      </p:cBhvr>
                                      <p:to>
                                        <p:strVal val="visible"/>
                                      </p:to>
                                    </p:set>
                                    <p:animEffect transition="in" filter="dissolve">
                                      <p:cBhvr>
                                        <p:cTn id="205" dur="500"/>
                                        <p:tgtEl>
                                          <p:spTgt spid="2465975"/>
                                        </p:tgtEl>
                                      </p:cBhvr>
                                    </p:animEffect>
                                  </p:childTnLst>
                                </p:cTn>
                              </p:par>
                              <p:par>
                                <p:cTn id="206" presetID="9" presetClass="entr" presetSubtype="0" fill="hold" grpId="0" nodeType="withEffect">
                                  <p:stCondLst>
                                    <p:cond delay="0"/>
                                  </p:stCondLst>
                                  <p:childTnLst>
                                    <p:set>
                                      <p:cBhvr>
                                        <p:cTn id="207" dur="1" fill="hold">
                                          <p:stCondLst>
                                            <p:cond delay="0"/>
                                          </p:stCondLst>
                                        </p:cTn>
                                        <p:tgtEl>
                                          <p:spTgt spid="2465976"/>
                                        </p:tgtEl>
                                        <p:attrNameLst>
                                          <p:attrName>style.visibility</p:attrName>
                                        </p:attrNameLst>
                                      </p:cBhvr>
                                      <p:to>
                                        <p:strVal val="visible"/>
                                      </p:to>
                                    </p:set>
                                    <p:animEffect transition="in" filter="dissolve">
                                      <p:cBhvr>
                                        <p:cTn id="208" dur="500"/>
                                        <p:tgtEl>
                                          <p:spTgt spid="2465976"/>
                                        </p:tgtEl>
                                      </p:cBhvr>
                                    </p:animEffect>
                                  </p:childTnLst>
                                </p:cTn>
                              </p:par>
                              <p:par>
                                <p:cTn id="209" presetID="9" presetClass="entr" presetSubtype="0" fill="hold" nodeType="withEffect">
                                  <p:stCondLst>
                                    <p:cond delay="0"/>
                                  </p:stCondLst>
                                  <p:childTnLst>
                                    <p:set>
                                      <p:cBhvr>
                                        <p:cTn id="210" dur="1" fill="hold">
                                          <p:stCondLst>
                                            <p:cond delay="0"/>
                                          </p:stCondLst>
                                        </p:cTn>
                                        <p:tgtEl>
                                          <p:spTgt spid="2465977"/>
                                        </p:tgtEl>
                                        <p:attrNameLst>
                                          <p:attrName>style.visibility</p:attrName>
                                        </p:attrNameLst>
                                      </p:cBhvr>
                                      <p:to>
                                        <p:strVal val="visible"/>
                                      </p:to>
                                    </p:set>
                                    <p:animEffect transition="in" filter="dissolve">
                                      <p:cBhvr>
                                        <p:cTn id="211" dur="500"/>
                                        <p:tgtEl>
                                          <p:spTgt spid="2465977"/>
                                        </p:tgtEl>
                                      </p:cBhvr>
                                    </p:animEffect>
                                  </p:childTnLst>
                                </p:cTn>
                              </p:par>
                              <p:par>
                                <p:cTn id="212" presetID="9" presetClass="entr" presetSubtype="0" fill="hold" grpId="0" nodeType="withEffect">
                                  <p:stCondLst>
                                    <p:cond delay="0"/>
                                  </p:stCondLst>
                                  <p:childTnLst>
                                    <p:set>
                                      <p:cBhvr>
                                        <p:cTn id="213" dur="1" fill="hold">
                                          <p:stCondLst>
                                            <p:cond delay="0"/>
                                          </p:stCondLst>
                                        </p:cTn>
                                        <p:tgtEl>
                                          <p:spTgt spid="2465978"/>
                                        </p:tgtEl>
                                        <p:attrNameLst>
                                          <p:attrName>style.visibility</p:attrName>
                                        </p:attrNameLst>
                                      </p:cBhvr>
                                      <p:to>
                                        <p:strVal val="visible"/>
                                      </p:to>
                                    </p:set>
                                    <p:animEffect transition="in" filter="dissolve">
                                      <p:cBhvr>
                                        <p:cTn id="214" dur="500"/>
                                        <p:tgtEl>
                                          <p:spTgt spid="2465978"/>
                                        </p:tgtEl>
                                      </p:cBhvr>
                                    </p:animEffect>
                                  </p:childTnLst>
                                </p:cTn>
                              </p:par>
                              <p:par>
                                <p:cTn id="215" presetID="9" presetClass="entr" presetSubtype="0" fill="hold" grpId="0" nodeType="withEffect">
                                  <p:stCondLst>
                                    <p:cond delay="0"/>
                                  </p:stCondLst>
                                  <p:childTnLst>
                                    <p:set>
                                      <p:cBhvr>
                                        <p:cTn id="216" dur="1" fill="hold">
                                          <p:stCondLst>
                                            <p:cond delay="0"/>
                                          </p:stCondLst>
                                        </p:cTn>
                                        <p:tgtEl>
                                          <p:spTgt spid="2465979"/>
                                        </p:tgtEl>
                                        <p:attrNameLst>
                                          <p:attrName>style.visibility</p:attrName>
                                        </p:attrNameLst>
                                      </p:cBhvr>
                                      <p:to>
                                        <p:strVal val="visible"/>
                                      </p:to>
                                    </p:set>
                                    <p:animEffect transition="in" filter="dissolve">
                                      <p:cBhvr>
                                        <p:cTn id="217" dur="500"/>
                                        <p:tgtEl>
                                          <p:spTgt spid="2465979"/>
                                        </p:tgtEl>
                                      </p:cBhvr>
                                    </p:animEffect>
                                  </p:childTnLst>
                                </p:cTn>
                              </p:par>
                              <p:par>
                                <p:cTn id="218" presetID="9" presetClass="entr" presetSubtype="0" fill="hold" grpId="0" nodeType="withEffect">
                                  <p:stCondLst>
                                    <p:cond delay="0"/>
                                  </p:stCondLst>
                                  <p:childTnLst>
                                    <p:set>
                                      <p:cBhvr>
                                        <p:cTn id="219" dur="1" fill="hold">
                                          <p:stCondLst>
                                            <p:cond delay="0"/>
                                          </p:stCondLst>
                                        </p:cTn>
                                        <p:tgtEl>
                                          <p:spTgt spid="2465980"/>
                                        </p:tgtEl>
                                        <p:attrNameLst>
                                          <p:attrName>style.visibility</p:attrName>
                                        </p:attrNameLst>
                                      </p:cBhvr>
                                      <p:to>
                                        <p:strVal val="visible"/>
                                      </p:to>
                                    </p:set>
                                    <p:animEffect transition="in" filter="dissolve">
                                      <p:cBhvr>
                                        <p:cTn id="220" dur="500"/>
                                        <p:tgtEl>
                                          <p:spTgt spid="2465980"/>
                                        </p:tgtEl>
                                      </p:cBhvr>
                                    </p:animEffect>
                                  </p:childTnLst>
                                </p:cTn>
                              </p:par>
                              <p:par>
                                <p:cTn id="221" presetID="9" presetClass="entr" presetSubtype="0" fill="hold" grpId="0" nodeType="withEffect">
                                  <p:stCondLst>
                                    <p:cond delay="0"/>
                                  </p:stCondLst>
                                  <p:childTnLst>
                                    <p:set>
                                      <p:cBhvr>
                                        <p:cTn id="222" dur="1" fill="hold">
                                          <p:stCondLst>
                                            <p:cond delay="0"/>
                                          </p:stCondLst>
                                        </p:cTn>
                                        <p:tgtEl>
                                          <p:spTgt spid="2465981"/>
                                        </p:tgtEl>
                                        <p:attrNameLst>
                                          <p:attrName>style.visibility</p:attrName>
                                        </p:attrNameLst>
                                      </p:cBhvr>
                                      <p:to>
                                        <p:strVal val="visible"/>
                                      </p:to>
                                    </p:set>
                                    <p:animEffect transition="in" filter="dissolve">
                                      <p:cBhvr>
                                        <p:cTn id="223" dur="500"/>
                                        <p:tgtEl>
                                          <p:spTgt spid="2465981"/>
                                        </p:tgtEl>
                                      </p:cBhvr>
                                    </p:animEffect>
                                  </p:childTnLst>
                                </p:cTn>
                              </p:par>
                              <p:par>
                                <p:cTn id="224" presetID="9" presetClass="entr" presetSubtype="0" fill="hold" grpId="0" nodeType="withEffect">
                                  <p:stCondLst>
                                    <p:cond delay="0"/>
                                  </p:stCondLst>
                                  <p:childTnLst>
                                    <p:set>
                                      <p:cBhvr>
                                        <p:cTn id="225" dur="1" fill="hold">
                                          <p:stCondLst>
                                            <p:cond delay="0"/>
                                          </p:stCondLst>
                                        </p:cTn>
                                        <p:tgtEl>
                                          <p:spTgt spid="2465982"/>
                                        </p:tgtEl>
                                        <p:attrNameLst>
                                          <p:attrName>style.visibility</p:attrName>
                                        </p:attrNameLst>
                                      </p:cBhvr>
                                      <p:to>
                                        <p:strVal val="visible"/>
                                      </p:to>
                                    </p:set>
                                    <p:animEffect transition="in" filter="dissolve">
                                      <p:cBhvr>
                                        <p:cTn id="226" dur="500"/>
                                        <p:tgtEl>
                                          <p:spTgt spid="2465982"/>
                                        </p:tgtEl>
                                      </p:cBhvr>
                                    </p:animEffect>
                                  </p:childTnLst>
                                </p:cTn>
                              </p:par>
                              <p:par>
                                <p:cTn id="227" presetID="9" presetClass="entr" presetSubtype="0" fill="hold" nodeType="withEffect">
                                  <p:stCondLst>
                                    <p:cond delay="0"/>
                                  </p:stCondLst>
                                  <p:childTnLst>
                                    <p:set>
                                      <p:cBhvr>
                                        <p:cTn id="228" dur="1" fill="hold">
                                          <p:stCondLst>
                                            <p:cond delay="0"/>
                                          </p:stCondLst>
                                        </p:cTn>
                                        <p:tgtEl>
                                          <p:spTgt spid="2465983"/>
                                        </p:tgtEl>
                                        <p:attrNameLst>
                                          <p:attrName>style.visibility</p:attrName>
                                        </p:attrNameLst>
                                      </p:cBhvr>
                                      <p:to>
                                        <p:strVal val="visible"/>
                                      </p:to>
                                    </p:set>
                                    <p:animEffect transition="in" filter="dissolve">
                                      <p:cBhvr>
                                        <p:cTn id="229" dur="500"/>
                                        <p:tgtEl>
                                          <p:spTgt spid="2465983"/>
                                        </p:tgtEl>
                                      </p:cBhvr>
                                    </p:animEffect>
                                  </p:childTnLst>
                                </p:cTn>
                              </p:par>
                              <p:par>
                                <p:cTn id="230" presetID="9" presetClass="entr" presetSubtype="0" fill="hold" nodeType="withEffect">
                                  <p:stCondLst>
                                    <p:cond delay="0"/>
                                  </p:stCondLst>
                                  <p:childTnLst>
                                    <p:set>
                                      <p:cBhvr>
                                        <p:cTn id="231" dur="1" fill="hold">
                                          <p:stCondLst>
                                            <p:cond delay="0"/>
                                          </p:stCondLst>
                                        </p:cTn>
                                        <p:tgtEl>
                                          <p:spTgt spid="2465984"/>
                                        </p:tgtEl>
                                        <p:attrNameLst>
                                          <p:attrName>style.visibility</p:attrName>
                                        </p:attrNameLst>
                                      </p:cBhvr>
                                      <p:to>
                                        <p:strVal val="visible"/>
                                      </p:to>
                                    </p:set>
                                    <p:animEffect transition="in" filter="dissolve">
                                      <p:cBhvr>
                                        <p:cTn id="232" dur="500"/>
                                        <p:tgtEl>
                                          <p:spTgt spid="2465984"/>
                                        </p:tgtEl>
                                      </p:cBhvr>
                                    </p:animEffect>
                                  </p:childTnLst>
                                </p:cTn>
                              </p:par>
                              <p:par>
                                <p:cTn id="233" presetID="9" presetClass="entr" presetSubtype="0" fill="hold" nodeType="withEffect">
                                  <p:stCondLst>
                                    <p:cond delay="0"/>
                                  </p:stCondLst>
                                  <p:childTnLst>
                                    <p:set>
                                      <p:cBhvr>
                                        <p:cTn id="234" dur="1" fill="hold">
                                          <p:stCondLst>
                                            <p:cond delay="0"/>
                                          </p:stCondLst>
                                        </p:cTn>
                                        <p:tgtEl>
                                          <p:spTgt spid="2465985"/>
                                        </p:tgtEl>
                                        <p:attrNameLst>
                                          <p:attrName>style.visibility</p:attrName>
                                        </p:attrNameLst>
                                      </p:cBhvr>
                                      <p:to>
                                        <p:strVal val="visible"/>
                                      </p:to>
                                    </p:set>
                                    <p:animEffect transition="in" filter="dissolve">
                                      <p:cBhvr>
                                        <p:cTn id="235" dur="500"/>
                                        <p:tgtEl>
                                          <p:spTgt spid="2465985"/>
                                        </p:tgtEl>
                                      </p:cBhvr>
                                    </p:animEffect>
                                  </p:childTnLst>
                                </p:cTn>
                              </p:par>
                              <p:par>
                                <p:cTn id="236" presetID="9" presetClass="entr" presetSubtype="0" fill="hold" nodeType="withEffect">
                                  <p:stCondLst>
                                    <p:cond delay="0"/>
                                  </p:stCondLst>
                                  <p:childTnLst>
                                    <p:set>
                                      <p:cBhvr>
                                        <p:cTn id="237" dur="1" fill="hold">
                                          <p:stCondLst>
                                            <p:cond delay="0"/>
                                          </p:stCondLst>
                                        </p:cTn>
                                        <p:tgtEl>
                                          <p:spTgt spid="2465986"/>
                                        </p:tgtEl>
                                        <p:attrNameLst>
                                          <p:attrName>style.visibility</p:attrName>
                                        </p:attrNameLst>
                                      </p:cBhvr>
                                      <p:to>
                                        <p:strVal val="visible"/>
                                      </p:to>
                                    </p:set>
                                    <p:animEffect transition="in" filter="dissolve">
                                      <p:cBhvr>
                                        <p:cTn id="238" dur="500"/>
                                        <p:tgtEl>
                                          <p:spTgt spid="2465986"/>
                                        </p:tgtEl>
                                      </p:cBhvr>
                                    </p:animEffect>
                                  </p:childTnLst>
                                </p:cTn>
                              </p:par>
                              <p:par>
                                <p:cTn id="239" presetID="9" presetClass="entr" presetSubtype="0" fill="hold" nodeType="withEffect">
                                  <p:stCondLst>
                                    <p:cond delay="0"/>
                                  </p:stCondLst>
                                  <p:childTnLst>
                                    <p:set>
                                      <p:cBhvr>
                                        <p:cTn id="240" dur="1" fill="hold">
                                          <p:stCondLst>
                                            <p:cond delay="0"/>
                                          </p:stCondLst>
                                        </p:cTn>
                                        <p:tgtEl>
                                          <p:spTgt spid="2465987"/>
                                        </p:tgtEl>
                                        <p:attrNameLst>
                                          <p:attrName>style.visibility</p:attrName>
                                        </p:attrNameLst>
                                      </p:cBhvr>
                                      <p:to>
                                        <p:strVal val="visible"/>
                                      </p:to>
                                    </p:set>
                                    <p:animEffect transition="in" filter="dissolve">
                                      <p:cBhvr>
                                        <p:cTn id="241" dur="500"/>
                                        <p:tgtEl>
                                          <p:spTgt spid="2465987"/>
                                        </p:tgtEl>
                                      </p:cBhvr>
                                    </p:animEffect>
                                  </p:childTnLst>
                                </p:cTn>
                              </p:par>
                              <p:par>
                                <p:cTn id="242" presetID="9" presetClass="entr" presetSubtype="0" fill="hold" grpId="0" nodeType="withEffect">
                                  <p:stCondLst>
                                    <p:cond delay="0"/>
                                  </p:stCondLst>
                                  <p:childTnLst>
                                    <p:set>
                                      <p:cBhvr>
                                        <p:cTn id="243" dur="1" fill="hold">
                                          <p:stCondLst>
                                            <p:cond delay="0"/>
                                          </p:stCondLst>
                                        </p:cTn>
                                        <p:tgtEl>
                                          <p:spTgt spid="2465988"/>
                                        </p:tgtEl>
                                        <p:attrNameLst>
                                          <p:attrName>style.visibility</p:attrName>
                                        </p:attrNameLst>
                                      </p:cBhvr>
                                      <p:to>
                                        <p:strVal val="visible"/>
                                      </p:to>
                                    </p:set>
                                    <p:animEffect transition="in" filter="dissolve">
                                      <p:cBhvr>
                                        <p:cTn id="244" dur="500"/>
                                        <p:tgtEl>
                                          <p:spTgt spid="2465988"/>
                                        </p:tgtEl>
                                      </p:cBhvr>
                                    </p:animEffect>
                                  </p:childTnLst>
                                </p:cTn>
                              </p:par>
                              <p:par>
                                <p:cTn id="245" presetID="9" presetClass="entr" presetSubtype="0" fill="hold" grpId="0" nodeType="withEffect">
                                  <p:stCondLst>
                                    <p:cond delay="0"/>
                                  </p:stCondLst>
                                  <p:childTnLst>
                                    <p:set>
                                      <p:cBhvr>
                                        <p:cTn id="246" dur="1" fill="hold">
                                          <p:stCondLst>
                                            <p:cond delay="0"/>
                                          </p:stCondLst>
                                        </p:cTn>
                                        <p:tgtEl>
                                          <p:spTgt spid="2465989"/>
                                        </p:tgtEl>
                                        <p:attrNameLst>
                                          <p:attrName>style.visibility</p:attrName>
                                        </p:attrNameLst>
                                      </p:cBhvr>
                                      <p:to>
                                        <p:strVal val="visible"/>
                                      </p:to>
                                    </p:set>
                                    <p:animEffect transition="in" filter="dissolve">
                                      <p:cBhvr>
                                        <p:cTn id="247" dur="500"/>
                                        <p:tgtEl>
                                          <p:spTgt spid="2465989"/>
                                        </p:tgtEl>
                                      </p:cBhvr>
                                    </p:animEffect>
                                  </p:childTnLst>
                                </p:cTn>
                              </p:par>
                              <p:par>
                                <p:cTn id="248" presetID="9" presetClass="entr" presetSubtype="0" fill="hold" grpId="0" nodeType="withEffect">
                                  <p:stCondLst>
                                    <p:cond delay="0"/>
                                  </p:stCondLst>
                                  <p:childTnLst>
                                    <p:set>
                                      <p:cBhvr>
                                        <p:cTn id="249" dur="1" fill="hold">
                                          <p:stCondLst>
                                            <p:cond delay="0"/>
                                          </p:stCondLst>
                                        </p:cTn>
                                        <p:tgtEl>
                                          <p:spTgt spid="2465990"/>
                                        </p:tgtEl>
                                        <p:attrNameLst>
                                          <p:attrName>style.visibility</p:attrName>
                                        </p:attrNameLst>
                                      </p:cBhvr>
                                      <p:to>
                                        <p:strVal val="visible"/>
                                      </p:to>
                                    </p:set>
                                    <p:animEffect transition="in" filter="dissolve">
                                      <p:cBhvr>
                                        <p:cTn id="250" dur="500"/>
                                        <p:tgtEl>
                                          <p:spTgt spid="2465990"/>
                                        </p:tgtEl>
                                      </p:cBhvr>
                                    </p:animEffect>
                                  </p:childTnLst>
                                </p:cTn>
                              </p:par>
                              <p:par>
                                <p:cTn id="251" presetID="9" presetClass="entr" presetSubtype="0" fill="hold" grpId="0" nodeType="withEffect">
                                  <p:stCondLst>
                                    <p:cond delay="0"/>
                                  </p:stCondLst>
                                  <p:childTnLst>
                                    <p:set>
                                      <p:cBhvr>
                                        <p:cTn id="252" dur="1" fill="hold">
                                          <p:stCondLst>
                                            <p:cond delay="0"/>
                                          </p:stCondLst>
                                        </p:cTn>
                                        <p:tgtEl>
                                          <p:spTgt spid="2465991"/>
                                        </p:tgtEl>
                                        <p:attrNameLst>
                                          <p:attrName>style.visibility</p:attrName>
                                        </p:attrNameLst>
                                      </p:cBhvr>
                                      <p:to>
                                        <p:strVal val="visible"/>
                                      </p:to>
                                    </p:set>
                                    <p:animEffect transition="in" filter="dissolve">
                                      <p:cBhvr>
                                        <p:cTn id="253" dur="500"/>
                                        <p:tgtEl>
                                          <p:spTgt spid="2465991"/>
                                        </p:tgtEl>
                                      </p:cBhvr>
                                    </p:animEffect>
                                  </p:childTnLst>
                                </p:cTn>
                              </p:par>
                              <p:par>
                                <p:cTn id="254" presetID="9" presetClass="entr" presetSubtype="0" fill="hold" grpId="0" nodeType="withEffect">
                                  <p:stCondLst>
                                    <p:cond delay="0"/>
                                  </p:stCondLst>
                                  <p:childTnLst>
                                    <p:set>
                                      <p:cBhvr>
                                        <p:cTn id="255" dur="1" fill="hold">
                                          <p:stCondLst>
                                            <p:cond delay="0"/>
                                          </p:stCondLst>
                                        </p:cTn>
                                        <p:tgtEl>
                                          <p:spTgt spid="2465992"/>
                                        </p:tgtEl>
                                        <p:attrNameLst>
                                          <p:attrName>style.visibility</p:attrName>
                                        </p:attrNameLst>
                                      </p:cBhvr>
                                      <p:to>
                                        <p:strVal val="visible"/>
                                      </p:to>
                                    </p:set>
                                    <p:animEffect transition="in" filter="dissolve">
                                      <p:cBhvr>
                                        <p:cTn id="256" dur="500"/>
                                        <p:tgtEl>
                                          <p:spTgt spid="2465992"/>
                                        </p:tgtEl>
                                      </p:cBhvr>
                                    </p:animEffect>
                                  </p:childTnLst>
                                </p:cTn>
                              </p:par>
                              <p:par>
                                <p:cTn id="257" presetID="9" presetClass="entr" presetSubtype="0" fill="hold" grpId="0" nodeType="withEffect">
                                  <p:stCondLst>
                                    <p:cond delay="0"/>
                                  </p:stCondLst>
                                  <p:childTnLst>
                                    <p:set>
                                      <p:cBhvr>
                                        <p:cTn id="258" dur="1" fill="hold">
                                          <p:stCondLst>
                                            <p:cond delay="0"/>
                                          </p:stCondLst>
                                        </p:cTn>
                                        <p:tgtEl>
                                          <p:spTgt spid="2465993"/>
                                        </p:tgtEl>
                                        <p:attrNameLst>
                                          <p:attrName>style.visibility</p:attrName>
                                        </p:attrNameLst>
                                      </p:cBhvr>
                                      <p:to>
                                        <p:strVal val="visible"/>
                                      </p:to>
                                    </p:set>
                                    <p:animEffect transition="in" filter="dissolve">
                                      <p:cBhvr>
                                        <p:cTn id="259" dur="500"/>
                                        <p:tgtEl>
                                          <p:spTgt spid="2465993"/>
                                        </p:tgtEl>
                                      </p:cBhvr>
                                    </p:animEffect>
                                  </p:childTnLst>
                                </p:cTn>
                              </p:par>
                              <p:par>
                                <p:cTn id="260" presetID="9" presetClass="entr" presetSubtype="0" fill="hold" grpId="0" nodeType="withEffect">
                                  <p:stCondLst>
                                    <p:cond delay="0"/>
                                  </p:stCondLst>
                                  <p:childTnLst>
                                    <p:set>
                                      <p:cBhvr>
                                        <p:cTn id="261" dur="1" fill="hold">
                                          <p:stCondLst>
                                            <p:cond delay="0"/>
                                          </p:stCondLst>
                                        </p:cTn>
                                        <p:tgtEl>
                                          <p:spTgt spid="2465994"/>
                                        </p:tgtEl>
                                        <p:attrNameLst>
                                          <p:attrName>style.visibility</p:attrName>
                                        </p:attrNameLst>
                                      </p:cBhvr>
                                      <p:to>
                                        <p:strVal val="visible"/>
                                      </p:to>
                                    </p:set>
                                    <p:animEffect transition="in" filter="dissolve">
                                      <p:cBhvr>
                                        <p:cTn id="262" dur="500"/>
                                        <p:tgtEl>
                                          <p:spTgt spid="2465994"/>
                                        </p:tgtEl>
                                      </p:cBhvr>
                                    </p:animEffect>
                                  </p:childTnLst>
                                </p:cTn>
                              </p:par>
                              <p:par>
                                <p:cTn id="263" presetID="9" presetClass="entr" presetSubtype="0" fill="hold" grpId="0" nodeType="withEffect">
                                  <p:stCondLst>
                                    <p:cond delay="0"/>
                                  </p:stCondLst>
                                  <p:childTnLst>
                                    <p:set>
                                      <p:cBhvr>
                                        <p:cTn id="264" dur="1" fill="hold">
                                          <p:stCondLst>
                                            <p:cond delay="0"/>
                                          </p:stCondLst>
                                        </p:cTn>
                                        <p:tgtEl>
                                          <p:spTgt spid="2465995"/>
                                        </p:tgtEl>
                                        <p:attrNameLst>
                                          <p:attrName>style.visibility</p:attrName>
                                        </p:attrNameLst>
                                      </p:cBhvr>
                                      <p:to>
                                        <p:strVal val="visible"/>
                                      </p:to>
                                    </p:set>
                                    <p:animEffect transition="in" filter="dissolve">
                                      <p:cBhvr>
                                        <p:cTn id="265" dur="500"/>
                                        <p:tgtEl>
                                          <p:spTgt spid="2465995"/>
                                        </p:tgtEl>
                                      </p:cBhvr>
                                    </p:animEffect>
                                  </p:childTnLst>
                                </p:cTn>
                              </p:par>
                              <p:par>
                                <p:cTn id="266" presetID="9" presetClass="entr" presetSubtype="0" fill="hold" nodeType="withEffect">
                                  <p:stCondLst>
                                    <p:cond delay="0"/>
                                  </p:stCondLst>
                                  <p:childTnLst>
                                    <p:set>
                                      <p:cBhvr>
                                        <p:cTn id="267" dur="1" fill="hold">
                                          <p:stCondLst>
                                            <p:cond delay="0"/>
                                          </p:stCondLst>
                                        </p:cTn>
                                        <p:tgtEl>
                                          <p:spTgt spid="2465996"/>
                                        </p:tgtEl>
                                        <p:attrNameLst>
                                          <p:attrName>style.visibility</p:attrName>
                                        </p:attrNameLst>
                                      </p:cBhvr>
                                      <p:to>
                                        <p:strVal val="visible"/>
                                      </p:to>
                                    </p:set>
                                    <p:animEffect transition="in" filter="dissolve">
                                      <p:cBhvr>
                                        <p:cTn id="268" dur="500"/>
                                        <p:tgtEl>
                                          <p:spTgt spid="2465996"/>
                                        </p:tgtEl>
                                      </p:cBhvr>
                                    </p:animEffect>
                                  </p:childTnLst>
                                </p:cTn>
                              </p:par>
                              <p:par>
                                <p:cTn id="269" presetID="9" presetClass="entr" presetSubtype="0" fill="hold" nodeType="withEffect">
                                  <p:stCondLst>
                                    <p:cond delay="0"/>
                                  </p:stCondLst>
                                  <p:childTnLst>
                                    <p:set>
                                      <p:cBhvr>
                                        <p:cTn id="270" dur="1" fill="hold">
                                          <p:stCondLst>
                                            <p:cond delay="0"/>
                                          </p:stCondLst>
                                        </p:cTn>
                                        <p:tgtEl>
                                          <p:spTgt spid="2465997"/>
                                        </p:tgtEl>
                                        <p:attrNameLst>
                                          <p:attrName>style.visibility</p:attrName>
                                        </p:attrNameLst>
                                      </p:cBhvr>
                                      <p:to>
                                        <p:strVal val="visible"/>
                                      </p:to>
                                    </p:set>
                                    <p:animEffect transition="in" filter="dissolve">
                                      <p:cBhvr>
                                        <p:cTn id="271" dur="500"/>
                                        <p:tgtEl>
                                          <p:spTgt spid="2465997"/>
                                        </p:tgtEl>
                                      </p:cBhvr>
                                    </p:animEffect>
                                  </p:childTnLst>
                                </p:cTn>
                              </p:par>
                              <p:par>
                                <p:cTn id="272" presetID="9" presetClass="entr" presetSubtype="0" fill="hold" nodeType="withEffect">
                                  <p:stCondLst>
                                    <p:cond delay="0"/>
                                  </p:stCondLst>
                                  <p:childTnLst>
                                    <p:set>
                                      <p:cBhvr>
                                        <p:cTn id="273" dur="1" fill="hold">
                                          <p:stCondLst>
                                            <p:cond delay="0"/>
                                          </p:stCondLst>
                                        </p:cTn>
                                        <p:tgtEl>
                                          <p:spTgt spid="2465998"/>
                                        </p:tgtEl>
                                        <p:attrNameLst>
                                          <p:attrName>style.visibility</p:attrName>
                                        </p:attrNameLst>
                                      </p:cBhvr>
                                      <p:to>
                                        <p:strVal val="visible"/>
                                      </p:to>
                                    </p:set>
                                    <p:animEffect transition="in" filter="dissolve">
                                      <p:cBhvr>
                                        <p:cTn id="274" dur="500"/>
                                        <p:tgtEl>
                                          <p:spTgt spid="2465998"/>
                                        </p:tgtEl>
                                      </p:cBhvr>
                                    </p:animEffect>
                                  </p:childTnLst>
                                </p:cTn>
                              </p:par>
                              <p:par>
                                <p:cTn id="275" presetID="9" presetClass="entr" presetSubtype="0" fill="hold" grpId="0" nodeType="withEffect">
                                  <p:stCondLst>
                                    <p:cond delay="0"/>
                                  </p:stCondLst>
                                  <p:childTnLst>
                                    <p:set>
                                      <p:cBhvr>
                                        <p:cTn id="276" dur="1" fill="hold">
                                          <p:stCondLst>
                                            <p:cond delay="0"/>
                                          </p:stCondLst>
                                        </p:cTn>
                                        <p:tgtEl>
                                          <p:spTgt spid="2465999"/>
                                        </p:tgtEl>
                                        <p:attrNameLst>
                                          <p:attrName>style.visibility</p:attrName>
                                        </p:attrNameLst>
                                      </p:cBhvr>
                                      <p:to>
                                        <p:strVal val="visible"/>
                                      </p:to>
                                    </p:set>
                                    <p:animEffect transition="in" filter="dissolve">
                                      <p:cBhvr>
                                        <p:cTn id="277" dur="500"/>
                                        <p:tgtEl>
                                          <p:spTgt spid="2465999"/>
                                        </p:tgtEl>
                                      </p:cBhvr>
                                    </p:animEffect>
                                  </p:childTnLst>
                                </p:cTn>
                              </p:par>
                              <p:par>
                                <p:cTn id="278" presetID="9" presetClass="entr" presetSubtype="0" fill="hold" nodeType="withEffect">
                                  <p:stCondLst>
                                    <p:cond delay="0"/>
                                  </p:stCondLst>
                                  <p:childTnLst>
                                    <p:set>
                                      <p:cBhvr>
                                        <p:cTn id="279" dur="1" fill="hold">
                                          <p:stCondLst>
                                            <p:cond delay="0"/>
                                          </p:stCondLst>
                                        </p:cTn>
                                        <p:tgtEl>
                                          <p:spTgt spid="2466000"/>
                                        </p:tgtEl>
                                        <p:attrNameLst>
                                          <p:attrName>style.visibility</p:attrName>
                                        </p:attrNameLst>
                                      </p:cBhvr>
                                      <p:to>
                                        <p:strVal val="visible"/>
                                      </p:to>
                                    </p:set>
                                    <p:animEffect transition="in" filter="dissolve">
                                      <p:cBhvr>
                                        <p:cTn id="280" dur="500"/>
                                        <p:tgtEl>
                                          <p:spTgt spid="2466000"/>
                                        </p:tgtEl>
                                      </p:cBhvr>
                                    </p:animEffect>
                                  </p:childTnLst>
                                </p:cTn>
                              </p:par>
                              <p:par>
                                <p:cTn id="281" presetID="9" presetClass="entr" presetSubtype="0" fill="hold" nodeType="withEffect">
                                  <p:stCondLst>
                                    <p:cond delay="0"/>
                                  </p:stCondLst>
                                  <p:childTnLst>
                                    <p:set>
                                      <p:cBhvr>
                                        <p:cTn id="282" dur="1" fill="hold">
                                          <p:stCondLst>
                                            <p:cond delay="0"/>
                                          </p:stCondLst>
                                        </p:cTn>
                                        <p:tgtEl>
                                          <p:spTgt spid="2466001"/>
                                        </p:tgtEl>
                                        <p:attrNameLst>
                                          <p:attrName>style.visibility</p:attrName>
                                        </p:attrNameLst>
                                      </p:cBhvr>
                                      <p:to>
                                        <p:strVal val="visible"/>
                                      </p:to>
                                    </p:set>
                                    <p:animEffect transition="in" filter="dissolve">
                                      <p:cBhvr>
                                        <p:cTn id="283" dur="500"/>
                                        <p:tgtEl>
                                          <p:spTgt spid="2466001"/>
                                        </p:tgtEl>
                                      </p:cBhvr>
                                    </p:animEffect>
                                  </p:childTnLst>
                                </p:cTn>
                              </p:par>
                              <p:par>
                                <p:cTn id="284" presetID="9" presetClass="entr" presetSubtype="0" fill="hold" nodeType="withEffect">
                                  <p:stCondLst>
                                    <p:cond delay="0"/>
                                  </p:stCondLst>
                                  <p:childTnLst>
                                    <p:set>
                                      <p:cBhvr>
                                        <p:cTn id="285" dur="1" fill="hold">
                                          <p:stCondLst>
                                            <p:cond delay="0"/>
                                          </p:stCondLst>
                                        </p:cTn>
                                        <p:tgtEl>
                                          <p:spTgt spid="2466002"/>
                                        </p:tgtEl>
                                        <p:attrNameLst>
                                          <p:attrName>style.visibility</p:attrName>
                                        </p:attrNameLst>
                                      </p:cBhvr>
                                      <p:to>
                                        <p:strVal val="visible"/>
                                      </p:to>
                                    </p:set>
                                    <p:animEffect transition="in" filter="dissolve">
                                      <p:cBhvr>
                                        <p:cTn id="286" dur="500"/>
                                        <p:tgtEl>
                                          <p:spTgt spid="2466002"/>
                                        </p:tgtEl>
                                      </p:cBhvr>
                                    </p:animEffect>
                                  </p:childTnLst>
                                </p:cTn>
                              </p:par>
                              <p:par>
                                <p:cTn id="287" presetID="9" presetClass="entr" presetSubtype="0" fill="hold" nodeType="withEffect">
                                  <p:stCondLst>
                                    <p:cond delay="0"/>
                                  </p:stCondLst>
                                  <p:childTnLst>
                                    <p:set>
                                      <p:cBhvr>
                                        <p:cTn id="288" dur="1" fill="hold">
                                          <p:stCondLst>
                                            <p:cond delay="0"/>
                                          </p:stCondLst>
                                        </p:cTn>
                                        <p:tgtEl>
                                          <p:spTgt spid="2466003"/>
                                        </p:tgtEl>
                                        <p:attrNameLst>
                                          <p:attrName>style.visibility</p:attrName>
                                        </p:attrNameLst>
                                      </p:cBhvr>
                                      <p:to>
                                        <p:strVal val="visible"/>
                                      </p:to>
                                    </p:set>
                                    <p:animEffect transition="in" filter="dissolve">
                                      <p:cBhvr>
                                        <p:cTn id="289" dur="500"/>
                                        <p:tgtEl>
                                          <p:spTgt spid="2466003"/>
                                        </p:tgtEl>
                                      </p:cBhvr>
                                    </p:animEffect>
                                  </p:childTnLst>
                                </p:cTn>
                              </p:par>
                              <p:par>
                                <p:cTn id="290" presetID="9" presetClass="entr" presetSubtype="0" fill="hold" nodeType="withEffect">
                                  <p:stCondLst>
                                    <p:cond delay="0"/>
                                  </p:stCondLst>
                                  <p:childTnLst>
                                    <p:set>
                                      <p:cBhvr>
                                        <p:cTn id="291" dur="1" fill="hold">
                                          <p:stCondLst>
                                            <p:cond delay="0"/>
                                          </p:stCondLst>
                                        </p:cTn>
                                        <p:tgtEl>
                                          <p:spTgt spid="2466004"/>
                                        </p:tgtEl>
                                        <p:attrNameLst>
                                          <p:attrName>style.visibility</p:attrName>
                                        </p:attrNameLst>
                                      </p:cBhvr>
                                      <p:to>
                                        <p:strVal val="visible"/>
                                      </p:to>
                                    </p:set>
                                    <p:animEffect transition="in" filter="dissolve">
                                      <p:cBhvr>
                                        <p:cTn id="292" dur="500"/>
                                        <p:tgtEl>
                                          <p:spTgt spid="2466004"/>
                                        </p:tgtEl>
                                      </p:cBhvr>
                                    </p:animEffect>
                                  </p:childTnLst>
                                </p:cTn>
                              </p:par>
                              <p:par>
                                <p:cTn id="293" presetID="9" presetClass="entr" presetSubtype="0" fill="hold" nodeType="withEffect">
                                  <p:stCondLst>
                                    <p:cond delay="0"/>
                                  </p:stCondLst>
                                  <p:childTnLst>
                                    <p:set>
                                      <p:cBhvr>
                                        <p:cTn id="294" dur="1" fill="hold">
                                          <p:stCondLst>
                                            <p:cond delay="0"/>
                                          </p:stCondLst>
                                        </p:cTn>
                                        <p:tgtEl>
                                          <p:spTgt spid="2466005"/>
                                        </p:tgtEl>
                                        <p:attrNameLst>
                                          <p:attrName>style.visibility</p:attrName>
                                        </p:attrNameLst>
                                      </p:cBhvr>
                                      <p:to>
                                        <p:strVal val="visible"/>
                                      </p:to>
                                    </p:set>
                                    <p:animEffect transition="in" filter="dissolve">
                                      <p:cBhvr>
                                        <p:cTn id="295" dur="500"/>
                                        <p:tgtEl>
                                          <p:spTgt spid="2466005"/>
                                        </p:tgtEl>
                                      </p:cBhvr>
                                    </p:animEffect>
                                  </p:childTnLst>
                                </p:cTn>
                              </p:par>
                              <p:par>
                                <p:cTn id="296" presetID="9" presetClass="entr" presetSubtype="0" fill="hold" nodeType="withEffect">
                                  <p:stCondLst>
                                    <p:cond delay="0"/>
                                  </p:stCondLst>
                                  <p:childTnLst>
                                    <p:set>
                                      <p:cBhvr>
                                        <p:cTn id="297" dur="1" fill="hold">
                                          <p:stCondLst>
                                            <p:cond delay="0"/>
                                          </p:stCondLst>
                                        </p:cTn>
                                        <p:tgtEl>
                                          <p:spTgt spid="2466006"/>
                                        </p:tgtEl>
                                        <p:attrNameLst>
                                          <p:attrName>style.visibility</p:attrName>
                                        </p:attrNameLst>
                                      </p:cBhvr>
                                      <p:to>
                                        <p:strVal val="visible"/>
                                      </p:to>
                                    </p:set>
                                    <p:animEffect transition="in" filter="dissolve">
                                      <p:cBhvr>
                                        <p:cTn id="298" dur="500"/>
                                        <p:tgtEl>
                                          <p:spTgt spid="2466006"/>
                                        </p:tgtEl>
                                      </p:cBhvr>
                                    </p:animEffect>
                                  </p:childTnLst>
                                </p:cTn>
                              </p:par>
                              <p:par>
                                <p:cTn id="299" presetID="9" presetClass="entr" presetSubtype="0" fill="hold" grpId="0" nodeType="withEffect">
                                  <p:stCondLst>
                                    <p:cond delay="0"/>
                                  </p:stCondLst>
                                  <p:childTnLst>
                                    <p:set>
                                      <p:cBhvr>
                                        <p:cTn id="300" dur="1" fill="hold">
                                          <p:stCondLst>
                                            <p:cond delay="0"/>
                                          </p:stCondLst>
                                        </p:cTn>
                                        <p:tgtEl>
                                          <p:spTgt spid="2466007"/>
                                        </p:tgtEl>
                                        <p:attrNameLst>
                                          <p:attrName>style.visibility</p:attrName>
                                        </p:attrNameLst>
                                      </p:cBhvr>
                                      <p:to>
                                        <p:strVal val="visible"/>
                                      </p:to>
                                    </p:set>
                                    <p:animEffect transition="in" filter="dissolve">
                                      <p:cBhvr>
                                        <p:cTn id="301" dur="500"/>
                                        <p:tgtEl>
                                          <p:spTgt spid="2466007"/>
                                        </p:tgtEl>
                                      </p:cBhvr>
                                    </p:animEffect>
                                  </p:childTnLst>
                                </p:cTn>
                              </p:par>
                              <p:par>
                                <p:cTn id="302" presetID="9" presetClass="entr" presetSubtype="0" fill="hold" grpId="0" nodeType="withEffect">
                                  <p:stCondLst>
                                    <p:cond delay="0"/>
                                  </p:stCondLst>
                                  <p:childTnLst>
                                    <p:set>
                                      <p:cBhvr>
                                        <p:cTn id="303" dur="1" fill="hold">
                                          <p:stCondLst>
                                            <p:cond delay="0"/>
                                          </p:stCondLst>
                                        </p:cTn>
                                        <p:tgtEl>
                                          <p:spTgt spid="2466008"/>
                                        </p:tgtEl>
                                        <p:attrNameLst>
                                          <p:attrName>style.visibility</p:attrName>
                                        </p:attrNameLst>
                                      </p:cBhvr>
                                      <p:to>
                                        <p:strVal val="visible"/>
                                      </p:to>
                                    </p:set>
                                    <p:animEffect transition="in" filter="dissolve">
                                      <p:cBhvr>
                                        <p:cTn id="304" dur="500"/>
                                        <p:tgtEl>
                                          <p:spTgt spid="2466008"/>
                                        </p:tgtEl>
                                      </p:cBhvr>
                                    </p:animEffect>
                                  </p:childTnLst>
                                </p:cTn>
                              </p:par>
                              <p:par>
                                <p:cTn id="305" presetID="9" presetClass="entr" presetSubtype="0" fill="hold" grpId="0" nodeType="withEffect">
                                  <p:stCondLst>
                                    <p:cond delay="0"/>
                                  </p:stCondLst>
                                  <p:childTnLst>
                                    <p:set>
                                      <p:cBhvr>
                                        <p:cTn id="306" dur="1" fill="hold">
                                          <p:stCondLst>
                                            <p:cond delay="0"/>
                                          </p:stCondLst>
                                        </p:cTn>
                                        <p:tgtEl>
                                          <p:spTgt spid="2466009"/>
                                        </p:tgtEl>
                                        <p:attrNameLst>
                                          <p:attrName>style.visibility</p:attrName>
                                        </p:attrNameLst>
                                      </p:cBhvr>
                                      <p:to>
                                        <p:strVal val="visible"/>
                                      </p:to>
                                    </p:set>
                                    <p:animEffect transition="in" filter="dissolve">
                                      <p:cBhvr>
                                        <p:cTn id="307" dur="500"/>
                                        <p:tgtEl>
                                          <p:spTgt spid="2466009"/>
                                        </p:tgtEl>
                                      </p:cBhvr>
                                    </p:animEffect>
                                  </p:childTnLst>
                                </p:cTn>
                              </p:par>
                              <p:par>
                                <p:cTn id="308" presetID="9" presetClass="entr" presetSubtype="0" fill="hold" grpId="0" nodeType="withEffect">
                                  <p:stCondLst>
                                    <p:cond delay="0"/>
                                  </p:stCondLst>
                                  <p:childTnLst>
                                    <p:set>
                                      <p:cBhvr>
                                        <p:cTn id="309" dur="1" fill="hold">
                                          <p:stCondLst>
                                            <p:cond delay="0"/>
                                          </p:stCondLst>
                                        </p:cTn>
                                        <p:tgtEl>
                                          <p:spTgt spid="2466010"/>
                                        </p:tgtEl>
                                        <p:attrNameLst>
                                          <p:attrName>style.visibility</p:attrName>
                                        </p:attrNameLst>
                                      </p:cBhvr>
                                      <p:to>
                                        <p:strVal val="visible"/>
                                      </p:to>
                                    </p:set>
                                    <p:animEffect transition="in" filter="dissolve">
                                      <p:cBhvr>
                                        <p:cTn id="310" dur="500"/>
                                        <p:tgtEl>
                                          <p:spTgt spid="2466010"/>
                                        </p:tgtEl>
                                      </p:cBhvr>
                                    </p:animEffect>
                                  </p:childTnLst>
                                </p:cTn>
                              </p:par>
                              <p:par>
                                <p:cTn id="311" presetID="9" presetClass="entr" presetSubtype="0" fill="hold" grpId="0" nodeType="withEffect">
                                  <p:stCondLst>
                                    <p:cond delay="0"/>
                                  </p:stCondLst>
                                  <p:childTnLst>
                                    <p:set>
                                      <p:cBhvr>
                                        <p:cTn id="312" dur="1" fill="hold">
                                          <p:stCondLst>
                                            <p:cond delay="0"/>
                                          </p:stCondLst>
                                        </p:cTn>
                                        <p:tgtEl>
                                          <p:spTgt spid="2466011"/>
                                        </p:tgtEl>
                                        <p:attrNameLst>
                                          <p:attrName>style.visibility</p:attrName>
                                        </p:attrNameLst>
                                      </p:cBhvr>
                                      <p:to>
                                        <p:strVal val="visible"/>
                                      </p:to>
                                    </p:set>
                                    <p:animEffect transition="in" filter="dissolve">
                                      <p:cBhvr>
                                        <p:cTn id="313" dur="500"/>
                                        <p:tgtEl>
                                          <p:spTgt spid="2466011"/>
                                        </p:tgtEl>
                                      </p:cBhvr>
                                    </p:animEffect>
                                  </p:childTnLst>
                                </p:cTn>
                              </p:par>
                              <p:par>
                                <p:cTn id="314" presetID="9" presetClass="entr" presetSubtype="0" fill="hold" grpId="0" nodeType="withEffect">
                                  <p:stCondLst>
                                    <p:cond delay="0"/>
                                  </p:stCondLst>
                                  <p:childTnLst>
                                    <p:set>
                                      <p:cBhvr>
                                        <p:cTn id="315" dur="1" fill="hold">
                                          <p:stCondLst>
                                            <p:cond delay="0"/>
                                          </p:stCondLst>
                                        </p:cTn>
                                        <p:tgtEl>
                                          <p:spTgt spid="2466012"/>
                                        </p:tgtEl>
                                        <p:attrNameLst>
                                          <p:attrName>style.visibility</p:attrName>
                                        </p:attrNameLst>
                                      </p:cBhvr>
                                      <p:to>
                                        <p:strVal val="visible"/>
                                      </p:to>
                                    </p:set>
                                    <p:animEffect transition="in" filter="dissolve">
                                      <p:cBhvr>
                                        <p:cTn id="316" dur="500"/>
                                        <p:tgtEl>
                                          <p:spTgt spid="2466012"/>
                                        </p:tgtEl>
                                      </p:cBhvr>
                                    </p:animEffect>
                                  </p:childTnLst>
                                </p:cTn>
                              </p:par>
                              <p:par>
                                <p:cTn id="317" presetID="9" presetClass="entr" presetSubtype="0" fill="hold" grpId="0" nodeType="withEffect">
                                  <p:stCondLst>
                                    <p:cond delay="0"/>
                                  </p:stCondLst>
                                  <p:childTnLst>
                                    <p:set>
                                      <p:cBhvr>
                                        <p:cTn id="318" dur="1" fill="hold">
                                          <p:stCondLst>
                                            <p:cond delay="0"/>
                                          </p:stCondLst>
                                        </p:cTn>
                                        <p:tgtEl>
                                          <p:spTgt spid="2466013"/>
                                        </p:tgtEl>
                                        <p:attrNameLst>
                                          <p:attrName>style.visibility</p:attrName>
                                        </p:attrNameLst>
                                      </p:cBhvr>
                                      <p:to>
                                        <p:strVal val="visible"/>
                                      </p:to>
                                    </p:set>
                                    <p:animEffect transition="in" filter="dissolve">
                                      <p:cBhvr>
                                        <p:cTn id="319" dur="500"/>
                                        <p:tgtEl>
                                          <p:spTgt spid="2466013"/>
                                        </p:tgtEl>
                                      </p:cBhvr>
                                    </p:animEffect>
                                  </p:childTnLst>
                                </p:cTn>
                              </p:par>
                              <p:par>
                                <p:cTn id="320" presetID="9" presetClass="entr" presetSubtype="0" fill="hold" grpId="0" nodeType="withEffect">
                                  <p:stCondLst>
                                    <p:cond delay="0"/>
                                  </p:stCondLst>
                                  <p:childTnLst>
                                    <p:set>
                                      <p:cBhvr>
                                        <p:cTn id="321" dur="1" fill="hold">
                                          <p:stCondLst>
                                            <p:cond delay="0"/>
                                          </p:stCondLst>
                                        </p:cTn>
                                        <p:tgtEl>
                                          <p:spTgt spid="2466014"/>
                                        </p:tgtEl>
                                        <p:attrNameLst>
                                          <p:attrName>style.visibility</p:attrName>
                                        </p:attrNameLst>
                                      </p:cBhvr>
                                      <p:to>
                                        <p:strVal val="visible"/>
                                      </p:to>
                                    </p:set>
                                    <p:animEffect transition="in" filter="dissolve">
                                      <p:cBhvr>
                                        <p:cTn id="322" dur="500"/>
                                        <p:tgtEl>
                                          <p:spTgt spid="2466014"/>
                                        </p:tgtEl>
                                      </p:cBhvr>
                                    </p:animEffect>
                                  </p:childTnLst>
                                </p:cTn>
                              </p:par>
                            </p:childTnLst>
                          </p:cTn>
                        </p:par>
                      </p:childTnLst>
                    </p:cTn>
                  </p:par>
                  <p:par>
                    <p:cTn id="323" fill="hold">
                      <p:stCondLst>
                        <p:cond delay="indefinite"/>
                      </p:stCondLst>
                      <p:childTnLst>
                        <p:par>
                          <p:cTn id="324" fill="hold">
                            <p:stCondLst>
                              <p:cond delay="0"/>
                            </p:stCondLst>
                            <p:childTnLst>
                              <p:par>
                                <p:cTn id="325" presetID="9" presetClass="entr" presetSubtype="0" fill="hold" grpId="0" nodeType="clickEffect">
                                  <p:stCondLst>
                                    <p:cond delay="0"/>
                                  </p:stCondLst>
                                  <p:childTnLst>
                                    <p:set>
                                      <p:cBhvr>
                                        <p:cTn id="326" dur="1" fill="hold">
                                          <p:stCondLst>
                                            <p:cond delay="0"/>
                                          </p:stCondLst>
                                        </p:cTn>
                                        <p:tgtEl>
                                          <p:spTgt spid="2466015"/>
                                        </p:tgtEl>
                                        <p:attrNameLst>
                                          <p:attrName>style.visibility</p:attrName>
                                        </p:attrNameLst>
                                      </p:cBhvr>
                                      <p:to>
                                        <p:strVal val="visible"/>
                                      </p:to>
                                    </p:set>
                                    <p:animEffect transition="in" filter="dissolve">
                                      <p:cBhvr>
                                        <p:cTn id="327" dur="500"/>
                                        <p:tgtEl>
                                          <p:spTgt spid="2466015"/>
                                        </p:tgtEl>
                                      </p:cBhvr>
                                    </p:animEffect>
                                  </p:childTnLst>
                                </p:cTn>
                              </p:par>
                            </p:childTnLst>
                          </p:cTn>
                        </p:par>
                      </p:childTnLst>
                    </p:cTn>
                  </p:par>
                  <p:par>
                    <p:cTn id="328" fill="hold">
                      <p:stCondLst>
                        <p:cond delay="indefinite"/>
                      </p:stCondLst>
                      <p:childTnLst>
                        <p:par>
                          <p:cTn id="329" fill="hold">
                            <p:stCondLst>
                              <p:cond delay="0"/>
                            </p:stCondLst>
                            <p:childTnLst>
                              <p:par>
                                <p:cTn id="330" presetID="9" presetClass="entr" presetSubtype="0" fill="hold" nodeType="clickEffect">
                                  <p:stCondLst>
                                    <p:cond delay="0"/>
                                  </p:stCondLst>
                                  <p:childTnLst>
                                    <p:set>
                                      <p:cBhvr>
                                        <p:cTn id="331" dur="1" fill="hold">
                                          <p:stCondLst>
                                            <p:cond delay="0"/>
                                          </p:stCondLst>
                                        </p:cTn>
                                        <p:tgtEl>
                                          <p:spTgt spid="2466016">
                                            <p:txEl>
                                              <p:charRg st="0" end="39"/>
                                            </p:txEl>
                                          </p:spTgt>
                                        </p:tgtEl>
                                        <p:attrNameLst>
                                          <p:attrName>style.visibility</p:attrName>
                                        </p:attrNameLst>
                                      </p:cBhvr>
                                      <p:to>
                                        <p:strVal val="visible"/>
                                      </p:to>
                                    </p:set>
                                    <p:animEffect transition="in" filter="dissolve">
                                      <p:cBhvr>
                                        <p:cTn id="332" dur="500"/>
                                        <p:tgtEl>
                                          <p:spTgt spid="2466016">
                                            <p:txEl>
                                              <p:charRg st="0" end="39"/>
                                            </p:txEl>
                                          </p:spTgt>
                                        </p:tgtEl>
                                      </p:cBhvr>
                                    </p:animEffect>
                                  </p:childTnLst>
                                </p:cTn>
                              </p:par>
                            </p:childTnLst>
                          </p:cTn>
                        </p:par>
                      </p:childTnLst>
                    </p:cTn>
                  </p:par>
                  <p:par>
                    <p:cTn id="333" fill="hold">
                      <p:stCondLst>
                        <p:cond delay="indefinite"/>
                      </p:stCondLst>
                      <p:childTnLst>
                        <p:par>
                          <p:cTn id="334" fill="hold">
                            <p:stCondLst>
                              <p:cond delay="0"/>
                            </p:stCondLst>
                            <p:childTnLst>
                              <p:par>
                                <p:cTn id="335" presetID="22" presetClass="exit" presetSubtype="2" fill="hold" nodeType="clickEffect">
                                  <p:stCondLst>
                                    <p:cond delay="0"/>
                                  </p:stCondLst>
                                  <p:childTnLst>
                                    <p:animEffect transition="out" filter="wipe(right)">
                                      <p:cBhvr>
                                        <p:cTn id="336" dur="500"/>
                                        <p:tgtEl>
                                          <p:spTgt spid="2465950"/>
                                        </p:tgtEl>
                                      </p:cBhvr>
                                    </p:animEffect>
                                    <p:set>
                                      <p:cBhvr>
                                        <p:cTn id="337" dur="1" fill="hold">
                                          <p:stCondLst>
                                            <p:cond delay="499"/>
                                          </p:stCondLst>
                                        </p:cTn>
                                        <p:tgtEl>
                                          <p:spTgt spid="2465950"/>
                                        </p:tgtEl>
                                        <p:attrNameLst>
                                          <p:attrName>style.visibility</p:attrName>
                                        </p:attrNameLst>
                                      </p:cBhvr>
                                      <p:to>
                                        <p:strVal val="hidden"/>
                                      </p:to>
                                    </p:set>
                                  </p:childTnLst>
                                </p:cTn>
                              </p:par>
                              <p:par>
                                <p:cTn id="338" presetID="22" presetClass="exit" presetSubtype="2" fill="hold" nodeType="withEffect">
                                  <p:stCondLst>
                                    <p:cond delay="0"/>
                                  </p:stCondLst>
                                  <p:childTnLst>
                                    <p:animEffect transition="out" filter="wipe(right)">
                                      <p:cBhvr>
                                        <p:cTn id="339" dur="500"/>
                                        <p:tgtEl>
                                          <p:spTgt spid="2465964"/>
                                        </p:tgtEl>
                                      </p:cBhvr>
                                    </p:animEffect>
                                    <p:set>
                                      <p:cBhvr>
                                        <p:cTn id="340" dur="1" fill="hold">
                                          <p:stCondLst>
                                            <p:cond delay="499"/>
                                          </p:stCondLst>
                                        </p:cTn>
                                        <p:tgtEl>
                                          <p:spTgt spid="2465964"/>
                                        </p:tgtEl>
                                        <p:attrNameLst>
                                          <p:attrName>style.visibility</p:attrName>
                                        </p:attrNameLst>
                                      </p:cBhvr>
                                      <p:to>
                                        <p:strVal val="hidden"/>
                                      </p:to>
                                    </p:set>
                                  </p:childTnLst>
                                </p:cTn>
                              </p:par>
                            </p:childTnLst>
                          </p:cTn>
                        </p:par>
                        <p:par>
                          <p:cTn id="341" fill="hold">
                            <p:stCondLst>
                              <p:cond delay="500"/>
                            </p:stCondLst>
                            <p:childTnLst>
                              <p:par>
                                <p:cTn id="342" presetID="22" presetClass="entr" presetSubtype="8" fill="hold" nodeType="afterEffect">
                                  <p:stCondLst>
                                    <p:cond delay="0"/>
                                  </p:stCondLst>
                                  <p:childTnLst>
                                    <p:set>
                                      <p:cBhvr>
                                        <p:cTn id="343" dur="1" fill="hold">
                                          <p:stCondLst>
                                            <p:cond delay="0"/>
                                          </p:stCondLst>
                                        </p:cTn>
                                        <p:tgtEl>
                                          <p:spTgt spid="2466017"/>
                                        </p:tgtEl>
                                        <p:attrNameLst>
                                          <p:attrName>style.visibility</p:attrName>
                                        </p:attrNameLst>
                                      </p:cBhvr>
                                      <p:to>
                                        <p:strVal val="visible"/>
                                      </p:to>
                                    </p:set>
                                    <p:animEffect transition="in" filter="wipe(left)">
                                      <p:cBhvr>
                                        <p:cTn id="344" dur="500"/>
                                        <p:tgtEl>
                                          <p:spTgt spid="2466017"/>
                                        </p:tgtEl>
                                      </p:cBhvr>
                                    </p:animEffect>
                                  </p:childTnLst>
                                </p:cTn>
                              </p:par>
                              <p:par>
                                <p:cTn id="345" presetID="22" presetClass="entr" presetSubtype="8" fill="hold" nodeType="withEffect">
                                  <p:stCondLst>
                                    <p:cond delay="0"/>
                                  </p:stCondLst>
                                  <p:childTnLst>
                                    <p:set>
                                      <p:cBhvr>
                                        <p:cTn id="346" dur="1" fill="hold">
                                          <p:stCondLst>
                                            <p:cond delay="0"/>
                                          </p:stCondLst>
                                        </p:cTn>
                                        <p:tgtEl>
                                          <p:spTgt spid="2466018"/>
                                        </p:tgtEl>
                                        <p:attrNameLst>
                                          <p:attrName>style.visibility</p:attrName>
                                        </p:attrNameLst>
                                      </p:cBhvr>
                                      <p:to>
                                        <p:strVal val="visible"/>
                                      </p:to>
                                    </p:set>
                                    <p:animEffect transition="in" filter="wipe(left)">
                                      <p:cBhvr>
                                        <p:cTn id="347" dur="500"/>
                                        <p:tgtEl>
                                          <p:spTgt spid="2466018"/>
                                        </p:tgtEl>
                                      </p:cBhvr>
                                    </p:animEffect>
                                  </p:childTnLst>
                                </p:cTn>
                              </p:par>
                            </p:childTnLst>
                          </p:cTn>
                        </p:par>
                      </p:childTnLst>
                    </p:cTn>
                  </p:par>
                  <p:par>
                    <p:cTn id="348" fill="hold">
                      <p:stCondLst>
                        <p:cond delay="indefinite"/>
                      </p:stCondLst>
                      <p:childTnLst>
                        <p:par>
                          <p:cTn id="349" fill="hold">
                            <p:stCondLst>
                              <p:cond delay="0"/>
                            </p:stCondLst>
                            <p:childTnLst>
                              <p:par>
                                <p:cTn id="350" presetID="9" presetClass="entr" presetSubtype="0" fill="hold" nodeType="clickEffect">
                                  <p:stCondLst>
                                    <p:cond delay="0"/>
                                  </p:stCondLst>
                                  <p:childTnLst>
                                    <p:set>
                                      <p:cBhvr>
                                        <p:cTn id="351" dur="1" fill="hold">
                                          <p:stCondLst>
                                            <p:cond delay="0"/>
                                          </p:stCondLst>
                                        </p:cTn>
                                        <p:tgtEl>
                                          <p:spTgt spid="2466016">
                                            <p:txEl>
                                              <p:charRg st="39" end="49"/>
                                            </p:txEl>
                                          </p:spTgt>
                                        </p:tgtEl>
                                        <p:attrNameLst>
                                          <p:attrName>style.visibility</p:attrName>
                                        </p:attrNameLst>
                                      </p:cBhvr>
                                      <p:to>
                                        <p:strVal val="visible"/>
                                      </p:to>
                                    </p:set>
                                    <p:animEffect transition="in" filter="dissolve">
                                      <p:cBhvr>
                                        <p:cTn id="352" dur="500"/>
                                        <p:tgtEl>
                                          <p:spTgt spid="2466016">
                                            <p:txEl>
                                              <p:charRg st="39" end="4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5908" grpId="0" bldLvl="0" animBg="1"/>
      <p:bldP spid="2465910" grpId="0" bldLvl="0" animBg="1"/>
      <p:bldP spid="2465915" grpId="0"/>
      <p:bldP spid="2465916" grpId="0" bldLvl="0" animBg="1"/>
      <p:bldP spid="2465917" grpId="0" bldLvl="0" animBg="1"/>
      <p:bldP spid="2465918" grpId="0"/>
      <p:bldP spid="2465921" grpId="0" bldLvl="0" animBg="1"/>
      <p:bldP spid="2465923" grpId="0" bldLvl="0" animBg="1"/>
      <p:bldP spid="2465926" grpId="0" bldLvl="0" animBg="1"/>
      <p:bldP spid="2465928" grpId="0" bldLvl="0" animBg="1"/>
      <p:bldP spid="2465930" grpId="0" bldLvl="0" animBg="1"/>
      <p:bldP spid="2465932" grpId="0" bldLvl="0" animBg="1"/>
      <p:bldP spid="2465934" grpId="0" bldLvl="0" animBg="1"/>
      <p:bldP spid="2465935" grpId="0" bldLvl="0" animBg="1"/>
      <p:bldP spid="2465936" grpId="0" bldLvl="0" animBg="1"/>
      <p:bldP spid="2465938" grpId="0" bldLvl="0" animBg="1"/>
      <p:bldP spid="2465939" grpId="0"/>
      <p:bldP spid="2465940" grpId="0" bldLvl="0" animBg="1"/>
      <p:bldP spid="2465942" grpId="0"/>
      <p:bldP spid="2465943" grpId="0" bldLvl="0" animBg="1"/>
      <p:bldP spid="2465951" grpId="0"/>
      <p:bldP spid="2465952" grpId="0"/>
      <p:bldP spid="2465953" grpId="0"/>
      <p:bldP spid="2465954" grpId="0"/>
      <p:bldP spid="2465955" grpId="0"/>
      <p:bldP spid="2465956" grpId="0"/>
      <p:bldP spid="2465958" grpId="0" bldLvl="0" animBg="1"/>
      <p:bldP spid="2465961" grpId="0" bldLvl="0" animBg="1"/>
      <p:bldP spid="2465963" grpId="0" bldLvl="0" animBg="1"/>
      <p:bldP spid="2465965" grpId="0"/>
      <p:bldP spid="2465970" grpId="0"/>
      <p:bldP spid="2465971" grpId="0" bldLvl="0" animBg="1"/>
      <p:bldP spid="2465973" grpId="0" bldLvl="0" animBg="1"/>
      <p:bldP spid="2465974" grpId="0"/>
      <p:bldP spid="2465976" grpId="0" bldLvl="0" animBg="1"/>
      <p:bldP spid="2465978" grpId="0"/>
      <p:bldP spid="2465979" grpId="0" bldLvl="0" animBg="1"/>
      <p:bldP spid="2465980" grpId="0"/>
      <p:bldP spid="2465981" grpId="0" bldLvl="0" animBg="1"/>
      <p:bldP spid="2465982" grpId="0"/>
      <p:bldP spid="2465988" grpId="0"/>
      <p:bldP spid="2465989" grpId="0" bldLvl="0" animBg="1"/>
      <p:bldP spid="2465990" grpId="0"/>
      <p:bldP spid="2465991" grpId="0" bldLvl="0" animBg="1"/>
      <p:bldP spid="2465992" grpId="0"/>
      <p:bldP spid="2465993" grpId="0" bldLvl="0" animBg="1"/>
      <p:bldP spid="2465994" grpId="0"/>
      <p:bldP spid="2465995" grpId="0"/>
      <p:bldP spid="2465999" grpId="0"/>
      <p:bldP spid="2466007" grpId="0"/>
      <p:bldP spid="2466008" grpId="0" bldLvl="0" animBg="1"/>
      <p:bldP spid="2466009" grpId="0" bldLvl="0" animBg="1"/>
      <p:bldP spid="2466010" grpId="0" bldLvl="0" animBg="1"/>
      <p:bldP spid="2466011" grpId="0" bldLvl="0" animBg="1"/>
      <p:bldP spid="2466012" grpId="0" bldLvl="0" animBg="1"/>
      <p:bldP spid="2466013" grpId="0" bldLvl="0" animBg="1"/>
      <p:bldP spid="2466014" grpId="0" bldLvl="0" animBg="1"/>
      <p:bldP spid="2466015"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7826" name="Rectangle 4"/>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27" name="Line 5"/>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77828" name="AutoShape 6"/>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29" name="Line 7"/>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77830" name="Line 8"/>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77831" name="Line 9"/>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77832" name="Line 10"/>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77833" name="Text Box 11"/>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77834" name="Oval 12"/>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35" name="AutoShape 13"/>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36" name="Text Box 14"/>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7837" name="Line 15"/>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77838" name="Rectangle 16"/>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39" name="Line 17"/>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77840" name="Rectangle 18"/>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41" name="Line 19"/>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77842" name="Line 20"/>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77843" name="Oval 21"/>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44" name="Line 22"/>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77845" name="Oval 23"/>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46" name="Line 24"/>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77847" name="Oval 25"/>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48" name="Line 26"/>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77849" name="Oval 27"/>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0" name="Line 28"/>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77851" name="Oval 29"/>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2" name="Oval 30"/>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3" name="Oval 31"/>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4" name="Line 32"/>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77855" name="Oval 33"/>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6" name="Text Box 34"/>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7857" name="Oval 35"/>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58" name="Line 36"/>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77859" name="Text Box 37"/>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7860" name="Oval 38"/>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61" name="Line 39"/>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77862" name="Line 40"/>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77863" name="Line 41"/>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2467882" name="Line 42"/>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77865" name="Line 43"/>
          <p:cNvSpPr/>
          <p:nvPr/>
        </p:nvSpPr>
        <p:spPr>
          <a:xfrm flipV="1">
            <a:off x="1490663" y="4505325"/>
            <a:ext cx="266700" cy="128588"/>
          </a:xfrm>
          <a:prstGeom prst="line">
            <a:avLst/>
          </a:prstGeom>
          <a:ln w="19050" cap="flat" cmpd="sng">
            <a:solidFill>
              <a:srgbClr val="000080"/>
            </a:solidFill>
            <a:prstDash val="solid"/>
            <a:headEnd type="none" w="med" len="med"/>
            <a:tailEnd type="none" w="med" len="med"/>
          </a:ln>
        </p:spPr>
      </p:sp>
      <p:sp>
        <p:nvSpPr>
          <p:cNvPr id="77866" name="Line 44"/>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2467885" name="Line 45"/>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77868" name="Text Box 46"/>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7869" name="Text Box 47"/>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7870" name="Text Box 48"/>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77871" name="Text Box 49"/>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77872" name="Text Box 50"/>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77873" name="Text Box 51"/>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7874" name="Line 52"/>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77875" name="Rectangle 53"/>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76" name="Line 54"/>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77877" name="Line 55"/>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77878" name="Oval 56"/>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79" name="Line 57"/>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77880" name="Oval 58"/>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7899" name="Line 59"/>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77882" name="Text Box 60"/>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7883" name="Line 61"/>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77884" name="Line 62"/>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77885" name="Line 63"/>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77886" name="Line 64"/>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77887" name="Text Box 65"/>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67906" name="Text Box 66"/>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7889" name="Line 67"/>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77890" name="AutoShape 68"/>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91" name="Text Box 69"/>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7892" name="Line 70"/>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77893" name="Rectangle 71"/>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894" name="Line 72"/>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77895" name="Text Box 73"/>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67914" name="Text Box 74"/>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7897" name="Text Box 75"/>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7898" name="Rectangle 76"/>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7899" name="Rectangle 77"/>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77900" name="Line 78"/>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77901" name="Line 79"/>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77902" name="Line 80"/>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77903" name="Line 81"/>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77904" name="Line 82"/>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77905" name="Text Box 83"/>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7906" name="Rectangle 84"/>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07" name="Rectangle 85"/>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77908" name="Rectangle 86"/>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7909" name="Rectangle 87"/>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77910" name="Rectangle 88"/>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7911" name="Rectangle 89"/>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77912" name="Text Box 90"/>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77913" name="Line 91"/>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77914" name="Line 92"/>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77915" name="Line 93"/>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77916" name="Text Box 94"/>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77917" name="Line 95"/>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77918" name="Line 96"/>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77919" name="Line 97"/>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77920" name="Line 98"/>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77921" name="Line 99"/>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77922" name="Line 100"/>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77923" name="Line 101"/>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77924" name="Text Box 102"/>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77925" name="Oval 103"/>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26" name="Oval 104"/>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27" name="Oval 105"/>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28" name="Oval 106"/>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29" name="Oval 107"/>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30" name="Oval 108"/>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7931" name="Oval 109"/>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7950" name="Text Box 110"/>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2. </a:t>
            </a:r>
            <a:r>
              <a:rPr lang="zh-CN" altLang="en-US" dirty="0">
                <a:solidFill>
                  <a:srgbClr val="FF0000"/>
                </a:solidFill>
                <a:latin typeface="Times New Roman" panose="02020603050405020304" pitchFamily="18" charset="0"/>
                <a:ea typeface="黑体" panose="02010609060101010101" pitchFamily="49" charset="-122"/>
              </a:rPr>
              <a:t>采样阶段：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467951" name="Text Box 111"/>
          <p:cNvSpPr txBox="1"/>
          <p:nvPr/>
        </p:nvSpPr>
        <p:spPr>
          <a:xfrm>
            <a:off x="3276600" y="858838"/>
            <a:ext cx="5441950" cy="2574925"/>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控制电路将开关</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接通，模拟信号</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接入</a:t>
            </a:r>
            <a:r>
              <a:rPr lang="en-US" altLang="zh-CN" sz="2400" dirty="0">
                <a:latin typeface="Times New Roman" panose="02020603050405020304" pitchFamily="18" charset="0"/>
              </a:rPr>
              <a:t>A/D</a:t>
            </a:r>
            <a:r>
              <a:rPr lang="zh-CN" altLang="en-US" sz="2400" dirty="0">
                <a:latin typeface="Times New Roman" panose="02020603050405020304" pitchFamily="18" charset="0"/>
              </a:rPr>
              <a:t>电路，被积分器积分，同时打开控制门，让计数器计数；</a:t>
            </a:r>
            <a:endParaRPr lang="zh-CN" altLang="en-US" sz="2400" dirty="0">
              <a:latin typeface="Times New Roman" panose="02020603050405020304" pitchFamily="18" charset="0"/>
            </a:endParaRPr>
          </a:p>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当被采样信号电压为直流或变化缓慢的电压时，积分器将输出一斜变电压，其方向取决于</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的极性（若</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为负，则输出波形向上斜变）；</a:t>
            </a:r>
            <a:endParaRPr lang="zh-CN" altLang="en-US" sz="2400" dirty="0">
              <a:latin typeface="Times New Roman" panose="02020603050405020304" pitchFamily="18" charset="0"/>
            </a:endParaRPr>
          </a:p>
        </p:txBody>
      </p:sp>
      <p:sp>
        <p:nvSpPr>
          <p:cNvPr id="2467952" name="Line 112"/>
          <p:cNvSpPr/>
          <p:nvPr/>
        </p:nvSpPr>
        <p:spPr>
          <a:xfrm flipV="1">
            <a:off x="1490663" y="4237038"/>
            <a:ext cx="309562" cy="46037"/>
          </a:xfrm>
          <a:prstGeom prst="line">
            <a:avLst/>
          </a:prstGeom>
          <a:ln w="38100" cap="flat" cmpd="sng">
            <a:solidFill>
              <a:srgbClr val="FF00FF"/>
            </a:solidFill>
            <a:prstDash val="solid"/>
            <a:headEnd type="none" w="med" len="med"/>
            <a:tailEnd type="none" w="med" len="med"/>
          </a:ln>
        </p:spPr>
      </p:sp>
      <p:sp>
        <p:nvSpPr>
          <p:cNvPr id="2467954" name="Line 114"/>
          <p:cNvSpPr/>
          <p:nvPr/>
        </p:nvSpPr>
        <p:spPr>
          <a:xfrm flipV="1">
            <a:off x="1487488" y="5286375"/>
            <a:ext cx="309562" cy="46038"/>
          </a:xfrm>
          <a:prstGeom prst="line">
            <a:avLst/>
          </a:prstGeom>
          <a:ln w="38100" cap="flat" cmpd="sng">
            <a:solidFill>
              <a:srgbClr val="FF00FF"/>
            </a:solidFill>
            <a:prstDash val="solid"/>
            <a:headEnd type="none" w="med" len="med"/>
            <a:tailEnd type="none" w="med" len="med"/>
          </a:ln>
        </p:spPr>
      </p:sp>
      <p:sp>
        <p:nvSpPr>
          <p:cNvPr id="2467955" name="Line 115"/>
          <p:cNvSpPr/>
          <p:nvPr/>
        </p:nvSpPr>
        <p:spPr>
          <a:xfrm flipV="1">
            <a:off x="3111500" y="3627438"/>
            <a:ext cx="309563" cy="46037"/>
          </a:xfrm>
          <a:prstGeom prst="line">
            <a:avLst/>
          </a:prstGeom>
          <a:ln w="38100" cap="flat" cmpd="sng">
            <a:solidFill>
              <a:srgbClr val="FF00FF"/>
            </a:solidFill>
            <a:prstDash val="solid"/>
            <a:headEnd type="none" w="med" len="med"/>
            <a:tailEnd type="none" w="med" len="med"/>
          </a:ln>
        </p:spPr>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7938"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7950"/>
                                        </p:tgtEl>
                                        <p:attrNameLst>
                                          <p:attrName>style.visibility</p:attrName>
                                        </p:attrNameLst>
                                      </p:cBhvr>
                                      <p:to>
                                        <p:strVal val="visible"/>
                                      </p:to>
                                    </p:set>
                                    <p:animEffect transition="in" filter="dissolve">
                                      <p:cBhvr>
                                        <p:cTn id="7" dur="500"/>
                                        <p:tgtEl>
                                          <p:spTgt spid="246795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xit" presetSubtype="2" fill="hold" nodeType="clickEffect">
                                  <p:stCondLst>
                                    <p:cond delay="0"/>
                                  </p:stCondLst>
                                  <p:childTnLst>
                                    <p:animEffect transition="out" filter="wipe(right)">
                                      <p:cBhvr>
                                        <p:cTn id="11" dur="500"/>
                                        <p:tgtEl>
                                          <p:spTgt spid="2467955"/>
                                        </p:tgtEl>
                                      </p:cBhvr>
                                    </p:animEffect>
                                    <p:set>
                                      <p:cBhvr>
                                        <p:cTn id="12" dur="1" fill="hold">
                                          <p:stCondLst>
                                            <p:cond delay="499"/>
                                          </p:stCondLst>
                                        </p:cTn>
                                        <p:tgtEl>
                                          <p:spTgt spid="2467955"/>
                                        </p:tgtEl>
                                        <p:attrNameLst>
                                          <p:attrName>style.visibility</p:attrName>
                                        </p:attrNameLst>
                                      </p:cBhvr>
                                      <p:to>
                                        <p:strVal val="hidden"/>
                                      </p:to>
                                    </p:set>
                                  </p:childTnLst>
                                </p:cTn>
                              </p:par>
                              <p:par>
                                <p:cTn id="13" presetID="22" presetClass="exit" presetSubtype="2" fill="hold" nodeType="withEffect">
                                  <p:stCondLst>
                                    <p:cond delay="0"/>
                                  </p:stCondLst>
                                  <p:childTnLst>
                                    <p:animEffect transition="out" filter="wipe(right)">
                                      <p:cBhvr>
                                        <p:cTn id="14" dur="500"/>
                                        <p:tgtEl>
                                          <p:spTgt spid="2467954"/>
                                        </p:tgtEl>
                                      </p:cBhvr>
                                    </p:animEffect>
                                    <p:set>
                                      <p:cBhvr>
                                        <p:cTn id="15" dur="1" fill="hold">
                                          <p:stCondLst>
                                            <p:cond delay="499"/>
                                          </p:stCondLst>
                                        </p:cTn>
                                        <p:tgtEl>
                                          <p:spTgt spid="2467954"/>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2467885"/>
                                        </p:tgtEl>
                                        <p:attrNameLst>
                                          <p:attrName>style.visibility</p:attrName>
                                        </p:attrNameLst>
                                      </p:cBhvr>
                                      <p:to>
                                        <p:strVal val="visible"/>
                                      </p:to>
                                    </p:set>
                                    <p:animEffect transition="in" filter="wipe(left)">
                                      <p:cBhvr>
                                        <p:cTn id="19" dur="500"/>
                                        <p:tgtEl>
                                          <p:spTgt spid="2467885"/>
                                        </p:tgtEl>
                                      </p:cBhvr>
                                    </p:animEffect>
                                  </p:childTnLst>
                                </p:cTn>
                              </p:par>
                              <p:par>
                                <p:cTn id="20" presetID="22" presetClass="entr" presetSubtype="8" fill="hold" nodeType="withEffect">
                                  <p:stCondLst>
                                    <p:cond delay="0"/>
                                  </p:stCondLst>
                                  <p:childTnLst>
                                    <p:set>
                                      <p:cBhvr>
                                        <p:cTn id="21" dur="1" fill="hold">
                                          <p:stCondLst>
                                            <p:cond delay="0"/>
                                          </p:stCondLst>
                                        </p:cTn>
                                        <p:tgtEl>
                                          <p:spTgt spid="2467899"/>
                                        </p:tgtEl>
                                        <p:attrNameLst>
                                          <p:attrName>style.visibility</p:attrName>
                                        </p:attrNameLst>
                                      </p:cBhvr>
                                      <p:to>
                                        <p:strVal val="visible"/>
                                      </p:to>
                                    </p:set>
                                    <p:animEffect transition="in" filter="wipe(left)">
                                      <p:cBhvr>
                                        <p:cTn id="22" dur="500"/>
                                        <p:tgtEl>
                                          <p:spTgt spid="246789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67951">
                                            <p:txEl>
                                              <p:charRg st="0" end="49"/>
                                            </p:txEl>
                                          </p:spTgt>
                                        </p:tgtEl>
                                        <p:attrNameLst>
                                          <p:attrName>style.visibility</p:attrName>
                                        </p:attrNameLst>
                                      </p:cBhvr>
                                      <p:to>
                                        <p:strVal val="visible"/>
                                      </p:to>
                                    </p:set>
                                    <p:animEffect transition="in" filter="dissolve">
                                      <p:cBhvr>
                                        <p:cTn id="27" dur="500"/>
                                        <p:tgtEl>
                                          <p:spTgt spid="2467951">
                                            <p:txEl>
                                              <p:charRg st="0" end="49"/>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xit" presetSubtype="2" fill="hold" nodeType="clickEffect">
                                  <p:stCondLst>
                                    <p:cond delay="0"/>
                                  </p:stCondLst>
                                  <p:childTnLst>
                                    <p:animEffect transition="out" filter="wipe(right)">
                                      <p:cBhvr>
                                        <p:cTn id="31" dur="500"/>
                                        <p:tgtEl>
                                          <p:spTgt spid="2467882"/>
                                        </p:tgtEl>
                                      </p:cBhvr>
                                    </p:animEffect>
                                    <p:set>
                                      <p:cBhvr>
                                        <p:cTn id="32" dur="1" fill="hold">
                                          <p:stCondLst>
                                            <p:cond delay="499"/>
                                          </p:stCondLst>
                                        </p:cTn>
                                        <p:tgtEl>
                                          <p:spTgt spid="2467882"/>
                                        </p:tgtEl>
                                        <p:attrNameLst>
                                          <p:attrName>style.visibility</p:attrName>
                                        </p:attrNameLst>
                                      </p:cBhvr>
                                      <p:to>
                                        <p:strVal val="hidden"/>
                                      </p:to>
                                    </p:se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2467952"/>
                                        </p:tgtEl>
                                        <p:attrNameLst>
                                          <p:attrName>style.visibility</p:attrName>
                                        </p:attrNameLst>
                                      </p:cBhvr>
                                      <p:to>
                                        <p:strVal val="visible"/>
                                      </p:to>
                                    </p:set>
                                    <p:animEffect transition="in" filter="wipe(left)">
                                      <p:cBhvr>
                                        <p:cTn id="36" dur="500"/>
                                        <p:tgtEl>
                                          <p:spTgt spid="2467952"/>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467951">
                                            <p:txEl>
                                              <p:charRg st="49" end="112"/>
                                            </p:txEl>
                                          </p:spTgt>
                                        </p:tgtEl>
                                        <p:attrNameLst>
                                          <p:attrName>style.visibility</p:attrName>
                                        </p:attrNameLst>
                                      </p:cBhvr>
                                      <p:to>
                                        <p:strVal val="visible"/>
                                      </p:to>
                                    </p:set>
                                    <p:animEffect transition="in" filter="dissolve">
                                      <p:cBhvr>
                                        <p:cTn id="41" dur="500"/>
                                        <p:tgtEl>
                                          <p:spTgt spid="2467951">
                                            <p:txEl>
                                              <p:charRg st="49" end="1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950"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8850" name="Rectangle 4"/>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51" name="Line 5"/>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78852" name="AutoShape 6"/>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53" name="Line 7"/>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78854" name="Line 8"/>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78855" name="Line 9"/>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78856" name="Line 10"/>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78857" name="Text Box 11"/>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78858" name="Oval 12"/>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59" name="AutoShape 13"/>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60" name="Text Box 14"/>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8861" name="Line 15"/>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78862" name="Rectangle 16"/>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63" name="Line 17"/>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78864" name="Rectangle 18"/>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65" name="Line 19"/>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78866" name="Line 20"/>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78867" name="Oval 21"/>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68" name="Line 22"/>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78869" name="Oval 23"/>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0" name="Line 24"/>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78871" name="Oval 25"/>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2" name="Line 26"/>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78873" name="Oval 27"/>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4" name="Line 28"/>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78875" name="Oval 29"/>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6" name="Oval 30"/>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7" name="Oval 31"/>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78" name="Line 32"/>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78879" name="Oval 33"/>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80" name="Text Box 34"/>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8881" name="Oval 35"/>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82" name="Line 36"/>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78883" name="Text Box 37"/>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8884" name="Oval 38"/>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85" name="Line 39"/>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78886" name="Line 40"/>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78887" name="Line 41"/>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2470955" name="Line 43"/>
          <p:cNvSpPr/>
          <p:nvPr/>
        </p:nvSpPr>
        <p:spPr>
          <a:xfrm flipV="1">
            <a:off x="1490663" y="4505325"/>
            <a:ext cx="266700" cy="128588"/>
          </a:xfrm>
          <a:prstGeom prst="line">
            <a:avLst/>
          </a:prstGeom>
          <a:ln w="19050" cap="flat" cmpd="sng">
            <a:solidFill>
              <a:srgbClr val="000080"/>
            </a:solidFill>
            <a:prstDash val="solid"/>
            <a:headEnd type="none" w="med" len="med"/>
            <a:tailEnd type="none" w="med" len="med"/>
          </a:ln>
        </p:spPr>
      </p:sp>
      <p:sp>
        <p:nvSpPr>
          <p:cNvPr id="78889" name="Line 44"/>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78890" name="Line 45"/>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78891" name="Text Box 46"/>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8892" name="Text Box 47"/>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8893" name="Text Box 48"/>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78894" name="Text Box 49"/>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78895" name="Text Box 50"/>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78896" name="Text Box 51"/>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8897" name="Line 52"/>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78898" name="Rectangle 53"/>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899" name="Line 54"/>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78900" name="Line 55"/>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78901" name="Oval 56"/>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02" name="Line 57"/>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78903" name="Oval 58"/>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04" name="Line 59"/>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78905" name="Text Box 60"/>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8906" name="Line 61"/>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78907" name="Line 62"/>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78908" name="Line 63"/>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78909" name="Line 64"/>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78910" name="Text Box 65"/>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70978" name="Text Box 66"/>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8912" name="Line 67"/>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78913" name="AutoShape 68"/>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14" name="Text Box 69"/>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8915" name="Line 70"/>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78916" name="Rectangle 71"/>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17" name="Line 72"/>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78918" name="Text Box 73"/>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70986" name="Text Box 74"/>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8920" name="Text Box 75"/>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8921" name="Rectangle 76"/>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8922" name="Rectangle 77"/>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78923" name="Line 78"/>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78924" name="Line 79"/>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78925" name="Line 80"/>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78926" name="Line 81"/>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78927" name="Line 82"/>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78928" name="Text Box 83"/>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8929" name="Rectangle 84"/>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30" name="Rectangle 85"/>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78931" name="Rectangle 86"/>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8932" name="Rectangle 87"/>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78933" name="Rectangle 88"/>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8934" name="Rectangle 89"/>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78935" name="Text Box 90"/>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78936" name="Line 91"/>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78937" name="Line 92"/>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78938" name="Line 93"/>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78939" name="Text Box 94"/>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78940" name="Line 95"/>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78941" name="Line 96"/>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78942" name="Line 97"/>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78943" name="Line 98"/>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78944" name="Line 99"/>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78945" name="Line 100"/>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78946" name="Line 101"/>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78947" name="Text Box 102"/>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78948" name="Oval 103"/>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49" name="Oval 104"/>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0" name="Oval 105"/>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1" name="Oval 106"/>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2" name="Oval 107"/>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3" name="Oval 108"/>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4" name="Oval 109"/>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8955" name="Text Box 110"/>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2. </a:t>
            </a:r>
            <a:r>
              <a:rPr lang="zh-CN" altLang="en-US" dirty="0">
                <a:solidFill>
                  <a:srgbClr val="FF0000"/>
                </a:solidFill>
                <a:latin typeface="Times New Roman" panose="02020603050405020304" pitchFamily="18" charset="0"/>
                <a:ea typeface="黑体" panose="02010609060101010101" pitchFamily="49" charset="-122"/>
              </a:rPr>
              <a:t>采样阶段：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471023" name="Text Box 111"/>
          <p:cNvSpPr txBox="1"/>
          <p:nvPr/>
        </p:nvSpPr>
        <p:spPr>
          <a:xfrm>
            <a:off x="3095625" y="930275"/>
            <a:ext cx="5653088" cy="2246313"/>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startAt="3"/>
            </a:pPr>
            <a:r>
              <a:rPr lang="zh-CN" altLang="en-US" sz="2400" dirty="0">
                <a:latin typeface="Times New Roman" panose="02020603050405020304" pitchFamily="18" charset="0"/>
              </a:rPr>
              <a:t>经过一个固定时间后，计数器达到其满量限</a:t>
            </a:r>
            <a:r>
              <a:rPr lang="en-US" altLang="zh-CN" sz="2400" i="1" dirty="0">
                <a:solidFill>
                  <a:srgbClr val="FF0000"/>
                </a:solidFill>
                <a:latin typeface="Times New Roman" panose="02020603050405020304" pitchFamily="18" charset="0"/>
              </a:rPr>
              <a:t>N</a:t>
            </a:r>
            <a:r>
              <a:rPr lang="en-US" altLang="zh-CN" sz="2400" baseline="-25000" dirty="0">
                <a:solidFill>
                  <a:srgbClr val="FF0000"/>
                </a:solidFill>
                <a:latin typeface="Times New Roman" panose="02020603050405020304" pitchFamily="18" charset="0"/>
              </a:rPr>
              <a:t>1</a:t>
            </a:r>
            <a:r>
              <a:rPr lang="zh-CN" altLang="en-US"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N</a:t>
            </a:r>
            <a:r>
              <a:rPr lang="en-US" altLang="zh-CN" sz="2400" baseline="-25000" dirty="0">
                <a:solidFill>
                  <a:srgbClr val="FF0000"/>
                </a:solidFill>
                <a:latin typeface="Times New Roman" panose="02020603050405020304" pitchFamily="18" charset="0"/>
              </a:rPr>
              <a:t>1</a:t>
            </a:r>
            <a:r>
              <a:rPr lang="en-US" altLang="zh-CN" sz="2400" dirty="0">
                <a:solidFill>
                  <a:srgbClr val="FF0000"/>
                </a:solidFill>
                <a:latin typeface="Times New Roman" panose="02020603050405020304" pitchFamily="18" charset="0"/>
              </a:rPr>
              <a:t>=</a:t>
            </a:r>
            <a:r>
              <a:rPr lang="zh-CN" altLang="en-US" sz="2400" dirty="0">
                <a:solidFill>
                  <a:srgbClr val="FF0000"/>
                </a:solidFill>
                <a:latin typeface="Times New Roman" panose="02020603050405020304" pitchFamily="18" charset="0"/>
              </a:rPr>
              <a:t> </a:t>
            </a:r>
            <a:r>
              <a:rPr lang="en-US" altLang="zh-CN" sz="2400" dirty="0">
                <a:solidFill>
                  <a:srgbClr val="FF0000"/>
                </a:solidFill>
                <a:latin typeface="Times New Roman" panose="02020603050405020304" pitchFamily="18" charset="0"/>
              </a:rPr>
              <a:t>2</a:t>
            </a:r>
            <a:r>
              <a:rPr lang="en-US" altLang="zh-CN" sz="2400" i="1" baseline="30000" dirty="0">
                <a:solidFill>
                  <a:srgbClr val="FF0000"/>
                </a:solidFill>
                <a:latin typeface="Times New Roman" panose="02020603050405020304" pitchFamily="18" charset="0"/>
              </a:rPr>
              <a:t>n</a:t>
            </a:r>
            <a:r>
              <a:rPr lang="zh-CN" altLang="en-US" sz="2400" dirty="0">
                <a:solidFill>
                  <a:srgbClr val="FF0000"/>
                </a:solidFill>
                <a:latin typeface="Times New Roman" panose="02020603050405020304" pitchFamily="18" charset="0"/>
              </a:rPr>
              <a:t>）</a:t>
            </a:r>
            <a:r>
              <a:rPr lang="zh-CN" altLang="en-US" sz="2400" dirty="0">
                <a:latin typeface="Times New Roman" panose="02020603050405020304" pitchFamily="18" charset="0"/>
              </a:rPr>
              <a:t>值，计数器复零而送出一个溢出脉冲；</a:t>
            </a:r>
            <a:endParaRPr lang="zh-CN" altLang="en-US" sz="2400" dirty="0">
              <a:latin typeface="Times New Roman" panose="02020603050405020304" pitchFamily="18" charset="0"/>
            </a:endParaRPr>
          </a:p>
          <a:p>
            <a:pPr marL="457200" indent="-457200" eaLnBrk="1" hangingPunct="1">
              <a:lnSpc>
                <a:spcPct val="90000"/>
              </a:lnSpc>
              <a:spcBef>
                <a:spcPct val="50000"/>
              </a:spcBef>
              <a:buClr>
                <a:srgbClr val="FF0000"/>
              </a:buClr>
              <a:buFont typeface="Wingdings" panose="05000000000000000000" pitchFamily="2" charset="2"/>
              <a:buAutoNum type="arabicPeriod" startAt="3"/>
            </a:pPr>
            <a:r>
              <a:rPr lang="zh-CN" altLang="en-US" sz="2400" dirty="0">
                <a:latin typeface="Times New Roman" panose="02020603050405020304" pitchFamily="18" charset="0"/>
              </a:rPr>
              <a:t>此溢出脉冲使控制电路发出信号，将</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接通，接入基准电压</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REF</a:t>
            </a:r>
            <a:r>
              <a:rPr lang="en-US" altLang="zh-CN" sz="2400" dirty="0">
                <a:latin typeface="Times New Roman" panose="02020603050405020304" pitchFamily="18" charset="0"/>
              </a:rPr>
              <a:t>(</a:t>
            </a:r>
            <a:r>
              <a:rPr lang="zh-CN" altLang="en-US" sz="2400" dirty="0">
                <a:latin typeface="Times New Roman" panose="02020603050405020304" pitchFamily="18" charset="0"/>
              </a:rPr>
              <a:t>若</a:t>
            </a: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为正，则接入</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3</a:t>
            </a:r>
            <a:r>
              <a:rPr lang="zh-CN" altLang="en-US" sz="2400" dirty="0">
                <a:latin typeface="Times New Roman" panose="02020603050405020304" pitchFamily="18" charset="0"/>
              </a:rPr>
              <a:t>），采样阶段结束。</a:t>
            </a:r>
            <a:endParaRPr lang="zh-CN" altLang="en-US" sz="2400" dirty="0">
              <a:latin typeface="Times New Roman" panose="02020603050405020304" pitchFamily="18" charset="0"/>
            </a:endParaRPr>
          </a:p>
        </p:txBody>
      </p:sp>
      <p:sp>
        <p:nvSpPr>
          <p:cNvPr id="2471024" name="Line 112"/>
          <p:cNvSpPr/>
          <p:nvPr/>
        </p:nvSpPr>
        <p:spPr>
          <a:xfrm flipV="1">
            <a:off x="1490663" y="4237038"/>
            <a:ext cx="309562" cy="46037"/>
          </a:xfrm>
          <a:prstGeom prst="line">
            <a:avLst/>
          </a:prstGeom>
          <a:ln w="38100" cap="flat" cmpd="sng">
            <a:solidFill>
              <a:srgbClr val="FF00FF"/>
            </a:solidFill>
            <a:prstDash val="solid"/>
            <a:headEnd type="none" w="med" len="med"/>
            <a:tailEnd type="none" w="med" len="med"/>
          </a:ln>
        </p:spPr>
      </p:sp>
      <p:sp>
        <p:nvSpPr>
          <p:cNvPr id="2471025" name="Line 113"/>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2471026" name="Line 114"/>
          <p:cNvSpPr/>
          <p:nvPr/>
        </p:nvSpPr>
        <p:spPr>
          <a:xfrm flipV="1">
            <a:off x="1489075" y="4587875"/>
            <a:ext cx="309563" cy="46038"/>
          </a:xfrm>
          <a:prstGeom prst="line">
            <a:avLst/>
          </a:prstGeom>
          <a:ln w="38100" cap="flat" cmpd="sng">
            <a:solidFill>
              <a:srgbClr val="FF00FF"/>
            </a:solidFill>
            <a:prstDash val="solid"/>
            <a:headEnd type="none" w="med" len="med"/>
            <a:tailEnd type="none" w="med" len="med"/>
          </a:ln>
        </p:spPr>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78961"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71023">
                                            <p:txEl>
                                              <p:charRg st="0" end="47"/>
                                            </p:txEl>
                                          </p:spTgt>
                                        </p:tgtEl>
                                        <p:attrNameLst>
                                          <p:attrName>style.visibility</p:attrName>
                                        </p:attrNameLst>
                                      </p:cBhvr>
                                      <p:to>
                                        <p:strVal val="visible"/>
                                      </p:to>
                                    </p:set>
                                    <p:animEffect transition="in" filter="dissolve">
                                      <p:cBhvr>
                                        <p:cTn id="7" dur="500"/>
                                        <p:tgtEl>
                                          <p:spTgt spid="2471023">
                                            <p:txEl>
                                              <p:charRg st="0" end="47"/>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1023">
                                            <p:txEl>
                                              <p:charRg st="47" end="101"/>
                                            </p:txEl>
                                          </p:spTgt>
                                        </p:tgtEl>
                                        <p:attrNameLst>
                                          <p:attrName>style.visibility</p:attrName>
                                        </p:attrNameLst>
                                      </p:cBhvr>
                                      <p:to>
                                        <p:strVal val="visible"/>
                                      </p:to>
                                    </p:set>
                                    <p:animEffect transition="in" filter="dissolve">
                                      <p:cBhvr>
                                        <p:cTn id="12" dur="500"/>
                                        <p:tgtEl>
                                          <p:spTgt spid="2471023">
                                            <p:txEl>
                                              <p:charRg st="47" end="10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xit" presetSubtype="2" fill="hold" nodeType="clickEffect">
                                  <p:stCondLst>
                                    <p:cond delay="0"/>
                                  </p:stCondLst>
                                  <p:childTnLst>
                                    <p:animEffect transition="out" filter="wipe(right)">
                                      <p:cBhvr>
                                        <p:cTn id="16" dur="500"/>
                                        <p:tgtEl>
                                          <p:spTgt spid="2471024"/>
                                        </p:tgtEl>
                                      </p:cBhvr>
                                    </p:animEffect>
                                    <p:set>
                                      <p:cBhvr>
                                        <p:cTn id="17" dur="1" fill="hold">
                                          <p:stCondLst>
                                            <p:cond delay="499"/>
                                          </p:stCondLst>
                                        </p:cTn>
                                        <p:tgtEl>
                                          <p:spTgt spid="2471024"/>
                                        </p:tgtEl>
                                        <p:attrNameLst>
                                          <p:attrName>style.visibility</p:attrName>
                                        </p:attrNameLst>
                                      </p:cBhvr>
                                      <p:to>
                                        <p:strVal val="hidden"/>
                                      </p:to>
                                    </p:se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2471025"/>
                                        </p:tgtEl>
                                        <p:attrNameLst>
                                          <p:attrName>style.visibility</p:attrName>
                                        </p:attrNameLst>
                                      </p:cBhvr>
                                      <p:to>
                                        <p:strVal val="visible"/>
                                      </p:to>
                                    </p:set>
                                    <p:animEffect transition="in" filter="wipe(left)">
                                      <p:cBhvr>
                                        <p:cTn id="21" dur="500"/>
                                        <p:tgtEl>
                                          <p:spTgt spid="2471025"/>
                                        </p:tgtEl>
                                      </p:cBhvr>
                                    </p:animEffect>
                                  </p:childTnLst>
                                </p:cTn>
                              </p:par>
                            </p:childTnLst>
                          </p:cTn>
                        </p:par>
                        <p:par>
                          <p:cTn id="22" fill="hold">
                            <p:stCondLst>
                              <p:cond delay="1000"/>
                            </p:stCondLst>
                            <p:childTnLst>
                              <p:par>
                                <p:cTn id="23" presetID="22" presetClass="exit" presetSubtype="2" fill="hold" nodeType="afterEffect">
                                  <p:stCondLst>
                                    <p:cond delay="0"/>
                                  </p:stCondLst>
                                  <p:childTnLst>
                                    <p:animEffect transition="out" filter="wipe(right)">
                                      <p:cBhvr>
                                        <p:cTn id="24" dur="500"/>
                                        <p:tgtEl>
                                          <p:spTgt spid="2470955"/>
                                        </p:tgtEl>
                                      </p:cBhvr>
                                    </p:animEffect>
                                    <p:set>
                                      <p:cBhvr>
                                        <p:cTn id="25" dur="1" fill="hold">
                                          <p:stCondLst>
                                            <p:cond delay="499"/>
                                          </p:stCondLst>
                                        </p:cTn>
                                        <p:tgtEl>
                                          <p:spTgt spid="2470955"/>
                                        </p:tgtEl>
                                        <p:attrNameLst>
                                          <p:attrName>style.visibility</p:attrName>
                                        </p:attrNameLst>
                                      </p:cBhvr>
                                      <p:to>
                                        <p:strVal val="hidden"/>
                                      </p:to>
                                    </p:set>
                                  </p:childTnLst>
                                </p:cTn>
                              </p:par>
                            </p:childTnLst>
                          </p:cTn>
                        </p:par>
                        <p:par>
                          <p:cTn id="26" fill="hold">
                            <p:stCondLst>
                              <p:cond delay="1500"/>
                            </p:stCondLst>
                            <p:childTnLst>
                              <p:par>
                                <p:cTn id="27" presetID="22" presetClass="entr" presetSubtype="8" fill="hold" nodeType="afterEffect">
                                  <p:stCondLst>
                                    <p:cond delay="0"/>
                                  </p:stCondLst>
                                  <p:childTnLst>
                                    <p:set>
                                      <p:cBhvr>
                                        <p:cTn id="28" dur="1" fill="hold">
                                          <p:stCondLst>
                                            <p:cond delay="0"/>
                                          </p:stCondLst>
                                        </p:cTn>
                                        <p:tgtEl>
                                          <p:spTgt spid="2471026"/>
                                        </p:tgtEl>
                                        <p:attrNameLst>
                                          <p:attrName>style.visibility</p:attrName>
                                        </p:attrNameLst>
                                      </p:cBhvr>
                                      <p:to>
                                        <p:strVal val="visible"/>
                                      </p:to>
                                    </p:set>
                                    <p:animEffect transition="in" filter="wipe(left)">
                                      <p:cBhvr>
                                        <p:cTn id="29" dur="500"/>
                                        <p:tgtEl>
                                          <p:spTgt spid="247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9086" name="Rectangle 222"/>
          <p:cNvSpPr/>
          <p:nvPr/>
        </p:nvSpPr>
        <p:spPr>
          <a:xfrm>
            <a:off x="3378200" y="595313"/>
            <a:ext cx="5565775" cy="2867025"/>
          </a:xfrm>
          <a:prstGeom prst="rect">
            <a:avLst/>
          </a:prstGeom>
          <a:solidFill>
            <a:srgbClr val="CCFFCC"/>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75" name="Rectangle 4"/>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76" name="Line 5"/>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79877" name="AutoShape 6"/>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78" name="Line 7"/>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79879" name="Line 8"/>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79880" name="Line 9"/>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79881" name="Line 10"/>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79882" name="Text Box 11"/>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79883" name="Oval 12"/>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84" name="AutoShape 13"/>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85" name="Text Box 14"/>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9886" name="Line 15"/>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79887" name="Rectangle 16"/>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88" name="Line 17"/>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79889" name="Rectangle 18"/>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90" name="Line 19"/>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79891" name="Line 20"/>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79892" name="Oval 21"/>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93" name="Line 22"/>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79894" name="Oval 23"/>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95" name="Line 24"/>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79896" name="Oval 25"/>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97" name="Line 26"/>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79898" name="Oval 27"/>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899" name="Line 28"/>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79900" name="Oval 29"/>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01" name="Oval 30"/>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02" name="Oval 31"/>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03" name="Line 32"/>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79904" name="Oval 33"/>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05" name="Text Box 34"/>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9906" name="Oval 35"/>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07" name="Line 36"/>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79908" name="Text Box 37"/>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79909" name="Oval 38"/>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10" name="Line 39"/>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79911" name="Line 40"/>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79912" name="Line 41"/>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2468907" name="Line 43"/>
          <p:cNvSpPr/>
          <p:nvPr/>
        </p:nvSpPr>
        <p:spPr>
          <a:xfrm flipV="1">
            <a:off x="1490663" y="4505325"/>
            <a:ext cx="266700" cy="128588"/>
          </a:xfrm>
          <a:prstGeom prst="line">
            <a:avLst/>
          </a:prstGeom>
          <a:ln w="19050" cap="flat" cmpd="sng">
            <a:solidFill>
              <a:srgbClr val="000080"/>
            </a:solidFill>
            <a:prstDash val="solid"/>
            <a:headEnd type="none" w="med" len="med"/>
            <a:tailEnd type="none" w="med" len="med"/>
          </a:ln>
        </p:spPr>
      </p:sp>
      <p:sp>
        <p:nvSpPr>
          <p:cNvPr id="79914" name="Line 44"/>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79915" name="Line 45"/>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79916" name="Text Box 46"/>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9917" name="Text Box 47"/>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9918" name="Text Box 48"/>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79919" name="Text Box 49"/>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79920" name="Text Box 50"/>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79921" name="Text Box 51"/>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79922" name="Line 52"/>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79923" name="Rectangle 53"/>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24" name="Line 54"/>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79925" name="Line 55"/>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79926" name="Oval 56"/>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27" name="Line 57"/>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79928" name="Oval 58"/>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29" name="Line 59"/>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79930" name="Text Box 60"/>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9931" name="Line 61"/>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79932" name="Line 62"/>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79933" name="Line 63"/>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79934" name="Line 64"/>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79935" name="Text Box 65"/>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68930" name="Text Box 66"/>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9937" name="Line 67"/>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79938" name="AutoShape 68"/>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39" name="Text Box 69"/>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79940" name="Line 70"/>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79941" name="Rectangle 71"/>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42" name="Line 72"/>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79943" name="Text Box 73"/>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68938" name="Text Box 74"/>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9945" name="Text Box 75"/>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79946" name="Rectangle 76"/>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9947" name="Rectangle 77"/>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79948" name="Line 78"/>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79949" name="Line 79"/>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79950" name="Line 80"/>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79951" name="Line 81"/>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79952" name="Line 82"/>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79953" name="Text Box 83"/>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79954" name="Rectangle 84"/>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55" name="Rectangle 85"/>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79956" name="Rectangle 86"/>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9957" name="Rectangle 87"/>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79958" name="Rectangle 88"/>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79959" name="Rectangle 89"/>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79960" name="Text Box 90"/>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79961" name="Line 91"/>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79962" name="Line 92"/>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79963" name="Line 93"/>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79964" name="Text Box 94"/>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79965" name="Line 95"/>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79966" name="Line 96"/>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79967" name="Line 97"/>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79968" name="Line 98"/>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79969" name="Line 99"/>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79970" name="Line 100"/>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79971" name="Line 101"/>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79972" name="Text Box 102"/>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79973" name="Oval 103"/>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4" name="Oval 104"/>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5" name="Oval 105"/>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6" name="Oval 106"/>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7" name="Oval 107"/>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8" name="Oval 108"/>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79" name="Oval 109"/>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79980" name="Text Box 110"/>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2. </a:t>
            </a:r>
            <a:r>
              <a:rPr lang="zh-CN" altLang="en-US" dirty="0">
                <a:solidFill>
                  <a:srgbClr val="FF0000"/>
                </a:solidFill>
                <a:latin typeface="Times New Roman" panose="02020603050405020304" pitchFamily="18" charset="0"/>
                <a:ea typeface="黑体" panose="02010609060101010101" pitchFamily="49" charset="-122"/>
              </a:rPr>
              <a:t>采样阶段：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468976" name="Line 112"/>
          <p:cNvSpPr/>
          <p:nvPr/>
        </p:nvSpPr>
        <p:spPr>
          <a:xfrm flipV="1">
            <a:off x="1490663" y="4237038"/>
            <a:ext cx="309562" cy="46037"/>
          </a:xfrm>
          <a:prstGeom prst="line">
            <a:avLst/>
          </a:prstGeom>
          <a:ln w="38100" cap="flat" cmpd="sng">
            <a:solidFill>
              <a:srgbClr val="FF00FF"/>
            </a:solidFill>
            <a:prstDash val="solid"/>
            <a:headEnd type="none" w="med" len="med"/>
            <a:tailEnd type="none" w="med" len="med"/>
          </a:ln>
        </p:spPr>
      </p:sp>
      <p:sp>
        <p:nvSpPr>
          <p:cNvPr id="2468977" name="Line 113"/>
          <p:cNvSpPr/>
          <p:nvPr/>
        </p:nvSpPr>
        <p:spPr>
          <a:xfrm>
            <a:off x="4487863" y="1201738"/>
            <a:ext cx="4260850" cy="0"/>
          </a:xfrm>
          <a:prstGeom prst="line">
            <a:avLst/>
          </a:prstGeom>
          <a:ln w="12700" cap="flat" cmpd="sng">
            <a:solidFill>
              <a:schemeClr val="accent2"/>
            </a:solidFill>
            <a:prstDash val="solid"/>
            <a:headEnd type="none" w="med" len="med"/>
            <a:tailEnd type="stealth" w="med" len="lg"/>
          </a:ln>
        </p:spPr>
      </p:sp>
      <p:sp>
        <p:nvSpPr>
          <p:cNvPr id="2468978" name="Text Box 114"/>
          <p:cNvSpPr txBox="1"/>
          <p:nvPr/>
        </p:nvSpPr>
        <p:spPr>
          <a:xfrm>
            <a:off x="3325813" y="1016000"/>
            <a:ext cx="1311275"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积分器输入</a:t>
            </a:r>
            <a:endParaRPr lang="zh-CN" altLang="en-US" sz="1600" dirty="0">
              <a:latin typeface="Times New Roman" panose="02020603050405020304" pitchFamily="18" charset="0"/>
            </a:endParaRPr>
          </a:p>
        </p:txBody>
      </p:sp>
      <p:sp>
        <p:nvSpPr>
          <p:cNvPr id="2468979" name="Line 115"/>
          <p:cNvSpPr/>
          <p:nvPr/>
        </p:nvSpPr>
        <p:spPr>
          <a:xfrm>
            <a:off x="4892675" y="777875"/>
            <a:ext cx="3175" cy="2579688"/>
          </a:xfrm>
          <a:prstGeom prst="line">
            <a:avLst/>
          </a:prstGeom>
          <a:ln w="9525" cap="flat" cmpd="sng">
            <a:solidFill>
              <a:srgbClr val="FF0000"/>
            </a:solidFill>
            <a:prstDash val="dash"/>
            <a:headEnd type="none" w="med" len="med"/>
            <a:tailEnd type="none" w="med" len="med"/>
          </a:ln>
        </p:spPr>
      </p:sp>
      <p:grpSp>
        <p:nvGrpSpPr>
          <p:cNvPr id="2" name="Group 224"/>
          <p:cNvGrpSpPr/>
          <p:nvPr/>
        </p:nvGrpSpPr>
        <p:grpSpPr>
          <a:xfrm>
            <a:off x="4895850" y="1201738"/>
            <a:ext cx="2249488" cy="247650"/>
            <a:chOff x="3084" y="757"/>
            <a:chExt cx="1417" cy="156"/>
          </a:xfrm>
        </p:grpSpPr>
        <p:sp>
          <p:nvSpPr>
            <p:cNvPr id="80061" name="Line 116"/>
            <p:cNvSpPr/>
            <p:nvPr/>
          </p:nvSpPr>
          <p:spPr>
            <a:xfrm>
              <a:off x="3084" y="757"/>
              <a:ext cx="0" cy="156"/>
            </a:xfrm>
            <a:prstGeom prst="line">
              <a:avLst/>
            </a:prstGeom>
            <a:ln w="31750" cap="flat" cmpd="sng">
              <a:solidFill>
                <a:srgbClr val="008000"/>
              </a:solidFill>
              <a:prstDash val="solid"/>
              <a:headEnd type="none" w="med" len="med"/>
              <a:tailEnd type="none" w="med" len="med"/>
            </a:ln>
          </p:spPr>
        </p:sp>
        <p:sp>
          <p:nvSpPr>
            <p:cNvPr id="80062" name="Line 117"/>
            <p:cNvSpPr/>
            <p:nvPr/>
          </p:nvSpPr>
          <p:spPr>
            <a:xfrm>
              <a:off x="3084" y="913"/>
              <a:ext cx="1417" cy="0"/>
            </a:xfrm>
            <a:prstGeom prst="line">
              <a:avLst/>
            </a:prstGeom>
            <a:ln w="31750" cap="flat" cmpd="sng">
              <a:solidFill>
                <a:srgbClr val="008000"/>
              </a:solidFill>
              <a:prstDash val="solid"/>
              <a:headEnd type="none" w="med" len="med"/>
              <a:tailEnd type="none" w="med" len="med"/>
            </a:ln>
          </p:spPr>
        </p:sp>
      </p:grpSp>
      <p:sp>
        <p:nvSpPr>
          <p:cNvPr id="2468985" name="Line 121"/>
          <p:cNvSpPr/>
          <p:nvPr/>
        </p:nvSpPr>
        <p:spPr>
          <a:xfrm>
            <a:off x="4473575" y="2209800"/>
            <a:ext cx="4260850" cy="0"/>
          </a:xfrm>
          <a:prstGeom prst="line">
            <a:avLst/>
          </a:prstGeom>
          <a:ln w="12700" cap="flat" cmpd="sng">
            <a:solidFill>
              <a:schemeClr val="accent2"/>
            </a:solidFill>
            <a:prstDash val="solid"/>
            <a:headEnd type="none" w="med" len="med"/>
            <a:tailEnd type="stealth" w="med" len="lg"/>
          </a:ln>
        </p:spPr>
      </p:sp>
      <p:sp>
        <p:nvSpPr>
          <p:cNvPr id="2468986" name="Text Box 122"/>
          <p:cNvSpPr txBox="1"/>
          <p:nvPr/>
        </p:nvSpPr>
        <p:spPr>
          <a:xfrm>
            <a:off x="3311525" y="2024063"/>
            <a:ext cx="1311275" cy="31273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积分器输出</a:t>
            </a:r>
            <a:endParaRPr lang="zh-CN" altLang="en-US" sz="1600" dirty="0">
              <a:latin typeface="Times New Roman" panose="02020603050405020304" pitchFamily="18" charset="0"/>
            </a:endParaRPr>
          </a:p>
        </p:txBody>
      </p:sp>
      <p:sp>
        <p:nvSpPr>
          <p:cNvPr id="2468989" name="Line 125"/>
          <p:cNvSpPr/>
          <p:nvPr/>
        </p:nvSpPr>
        <p:spPr>
          <a:xfrm flipV="1">
            <a:off x="4895850" y="1665288"/>
            <a:ext cx="2243138" cy="544512"/>
          </a:xfrm>
          <a:prstGeom prst="line">
            <a:avLst/>
          </a:prstGeom>
          <a:ln w="31750" cap="flat" cmpd="sng">
            <a:solidFill>
              <a:srgbClr val="FF00FF"/>
            </a:solidFill>
            <a:prstDash val="solid"/>
            <a:headEnd type="none" w="med" len="med"/>
            <a:tailEnd type="none" w="med" len="med"/>
          </a:ln>
        </p:spPr>
      </p:sp>
      <p:sp>
        <p:nvSpPr>
          <p:cNvPr id="2468991" name="Text Box 127"/>
          <p:cNvSpPr txBox="1"/>
          <p:nvPr/>
        </p:nvSpPr>
        <p:spPr>
          <a:xfrm>
            <a:off x="4097338" y="2720975"/>
            <a:ext cx="869950"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计数器</a:t>
            </a:r>
            <a:endParaRPr lang="zh-CN" altLang="en-US" sz="1600" dirty="0">
              <a:latin typeface="Times New Roman" panose="02020603050405020304" pitchFamily="18" charset="0"/>
            </a:endParaRPr>
          </a:p>
        </p:txBody>
      </p:sp>
      <p:grpSp>
        <p:nvGrpSpPr>
          <p:cNvPr id="3" name="Group 225"/>
          <p:cNvGrpSpPr/>
          <p:nvPr/>
        </p:nvGrpSpPr>
        <p:grpSpPr>
          <a:xfrm>
            <a:off x="4910138" y="2787650"/>
            <a:ext cx="2201862" cy="168275"/>
            <a:chOff x="3093" y="1756"/>
            <a:chExt cx="1387" cy="106"/>
          </a:xfrm>
        </p:grpSpPr>
        <p:sp>
          <p:nvSpPr>
            <p:cNvPr id="80009" name="Line 128"/>
            <p:cNvSpPr/>
            <p:nvPr/>
          </p:nvSpPr>
          <p:spPr>
            <a:xfrm flipV="1">
              <a:off x="3093" y="1756"/>
              <a:ext cx="0" cy="106"/>
            </a:xfrm>
            <a:prstGeom prst="line">
              <a:avLst/>
            </a:prstGeom>
            <a:ln w="25400" cap="flat" cmpd="sng">
              <a:solidFill>
                <a:schemeClr val="tx1"/>
              </a:solidFill>
              <a:prstDash val="solid"/>
              <a:headEnd type="none" w="med" len="med"/>
              <a:tailEnd type="none" w="med" len="med"/>
            </a:ln>
          </p:spPr>
        </p:sp>
        <p:sp>
          <p:nvSpPr>
            <p:cNvPr id="80010" name="Line 129"/>
            <p:cNvSpPr/>
            <p:nvPr/>
          </p:nvSpPr>
          <p:spPr>
            <a:xfrm flipV="1">
              <a:off x="3120" y="1756"/>
              <a:ext cx="0" cy="106"/>
            </a:xfrm>
            <a:prstGeom prst="line">
              <a:avLst/>
            </a:prstGeom>
            <a:ln w="25400" cap="flat" cmpd="sng">
              <a:solidFill>
                <a:schemeClr val="tx1"/>
              </a:solidFill>
              <a:prstDash val="solid"/>
              <a:headEnd type="none" w="med" len="med"/>
              <a:tailEnd type="none" w="med" len="med"/>
            </a:ln>
          </p:spPr>
        </p:sp>
        <p:sp>
          <p:nvSpPr>
            <p:cNvPr id="80011" name="Line 130"/>
            <p:cNvSpPr/>
            <p:nvPr/>
          </p:nvSpPr>
          <p:spPr>
            <a:xfrm flipV="1">
              <a:off x="3148" y="1756"/>
              <a:ext cx="0" cy="106"/>
            </a:xfrm>
            <a:prstGeom prst="line">
              <a:avLst/>
            </a:prstGeom>
            <a:ln w="25400" cap="flat" cmpd="sng">
              <a:solidFill>
                <a:schemeClr val="tx1"/>
              </a:solidFill>
              <a:prstDash val="solid"/>
              <a:headEnd type="none" w="med" len="med"/>
              <a:tailEnd type="none" w="med" len="med"/>
            </a:ln>
          </p:spPr>
        </p:sp>
        <p:sp>
          <p:nvSpPr>
            <p:cNvPr id="80012" name="Line 131"/>
            <p:cNvSpPr/>
            <p:nvPr/>
          </p:nvSpPr>
          <p:spPr>
            <a:xfrm flipV="1">
              <a:off x="3175" y="1756"/>
              <a:ext cx="0" cy="106"/>
            </a:xfrm>
            <a:prstGeom prst="line">
              <a:avLst/>
            </a:prstGeom>
            <a:ln w="25400" cap="flat" cmpd="sng">
              <a:solidFill>
                <a:schemeClr val="tx1"/>
              </a:solidFill>
              <a:prstDash val="solid"/>
              <a:headEnd type="none" w="med" len="med"/>
              <a:tailEnd type="none" w="med" len="med"/>
            </a:ln>
          </p:spPr>
        </p:sp>
        <p:sp>
          <p:nvSpPr>
            <p:cNvPr id="80013" name="Line 132"/>
            <p:cNvSpPr/>
            <p:nvPr/>
          </p:nvSpPr>
          <p:spPr>
            <a:xfrm flipV="1">
              <a:off x="3202" y="1756"/>
              <a:ext cx="0" cy="106"/>
            </a:xfrm>
            <a:prstGeom prst="line">
              <a:avLst/>
            </a:prstGeom>
            <a:ln w="25400" cap="flat" cmpd="sng">
              <a:solidFill>
                <a:schemeClr val="tx1"/>
              </a:solidFill>
              <a:prstDash val="solid"/>
              <a:headEnd type="none" w="med" len="med"/>
              <a:tailEnd type="none" w="med" len="med"/>
            </a:ln>
          </p:spPr>
        </p:sp>
        <p:sp>
          <p:nvSpPr>
            <p:cNvPr id="80014" name="Line 133"/>
            <p:cNvSpPr/>
            <p:nvPr/>
          </p:nvSpPr>
          <p:spPr>
            <a:xfrm flipV="1">
              <a:off x="3229" y="1756"/>
              <a:ext cx="0" cy="106"/>
            </a:xfrm>
            <a:prstGeom prst="line">
              <a:avLst/>
            </a:prstGeom>
            <a:ln w="25400" cap="flat" cmpd="sng">
              <a:solidFill>
                <a:schemeClr val="tx1"/>
              </a:solidFill>
              <a:prstDash val="solid"/>
              <a:headEnd type="none" w="med" len="med"/>
              <a:tailEnd type="none" w="med" len="med"/>
            </a:ln>
          </p:spPr>
        </p:sp>
        <p:sp>
          <p:nvSpPr>
            <p:cNvPr id="80015" name="Line 134"/>
            <p:cNvSpPr/>
            <p:nvPr/>
          </p:nvSpPr>
          <p:spPr>
            <a:xfrm flipV="1">
              <a:off x="3257" y="1756"/>
              <a:ext cx="0" cy="106"/>
            </a:xfrm>
            <a:prstGeom prst="line">
              <a:avLst/>
            </a:prstGeom>
            <a:ln w="25400" cap="flat" cmpd="sng">
              <a:solidFill>
                <a:schemeClr val="tx1"/>
              </a:solidFill>
              <a:prstDash val="solid"/>
              <a:headEnd type="none" w="med" len="med"/>
              <a:tailEnd type="none" w="med" len="med"/>
            </a:ln>
          </p:spPr>
        </p:sp>
        <p:sp>
          <p:nvSpPr>
            <p:cNvPr id="80016" name="Line 135"/>
            <p:cNvSpPr/>
            <p:nvPr/>
          </p:nvSpPr>
          <p:spPr>
            <a:xfrm flipV="1">
              <a:off x="3284" y="1756"/>
              <a:ext cx="0" cy="106"/>
            </a:xfrm>
            <a:prstGeom prst="line">
              <a:avLst/>
            </a:prstGeom>
            <a:ln w="25400" cap="flat" cmpd="sng">
              <a:solidFill>
                <a:schemeClr val="tx1"/>
              </a:solidFill>
              <a:prstDash val="solid"/>
              <a:headEnd type="none" w="med" len="med"/>
              <a:tailEnd type="none" w="med" len="med"/>
            </a:ln>
          </p:spPr>
        </p:sp>
        <p:sp>
          <p:nvSpPr>
            <p:cNvPr id="80017" name="Line 136"/>
            <p:cNvSpPr/>
            <p:nvPr/>
          </p:nvSpPr>
          <p:spPr>
            <a:xfrm flipV="1">
              <a:off x="3311" y="1756"/>
              <a:ext cx="0" cy="106"/>
            </a:xfrm>
            <a:prstGeom prst="line">
              <a:avLst/>
            </a:prstGeom>
            <a:ln w="25400" cap="flat" cmpd="sng">
              <a:solidFill>
                <a:schemeClr val="tx1"/>
              </a:solidFill>
              <a:prstDash val="solid"/>
              <a:headEnd type="none" w="med" len="med"/>
              <a:tailEnd type="none" w="med" len="med"/>
            </a:ln>
          </p:spPr>
        </p:sp>
        <p:sp>
          <p:nvSpPr>
            <p:cNvPr id="80018" name="Line 137"/>
            <p:cNvSpPr/>
            <p:nvPr/>
          </p:nvSpPr>
          <p:spPr>
            <a:xfrm flipV="1">
              <a:off x="3338" y="1756"/>
              <a:ext cx="0" cy="106"/>
            </a:xfrm>
            <a:prstGeom prst="line">
              <a:avLst/>
            </a:prstGeom>
            <a:ln w="25400" cap="flat" cmpd="sng">
              <a:solidFill>
                <a:schemeClr val="tx1"/>
              </a:solidFill>
              <a:prstDash val="solid"/>
              <a:headEnd type="none" w="med" len="med"/>
              <a:tailEnd type="none" w="med" len="med"/>
            </a:ln>
          </p:spPr>
        </p:sp>
        <p:sp>
          <p:nvSpPr>
            <p:cNvPr id="80019" name="Line 138"/>
            <p:cNvSpPr/>
            <p:nvPr/>
          </p:nvSpPr>
          <p:spPr>
            <a:xfrm flipV="1">
              <a:off x="3366" y="1756"/>
              <a:ext cx="0" cy="106"/>
            </a:xfrm>
            <a:prstGeom prst="line">
              <a:avLst/>
            </a:prstGeom>
            <a:ln w="25400" cap="flat" cmpd="sng">
              <a:solidFill>
                <a:schemeClr val="tx1"/>
              </a:solidFill>
              <a:prstDash val="solid"/>
              <a:headEnd type="none" w="med" len="med"/>
              <a:tailEnd type="none" w="med" len="med"/>
            </a:ln>
          </p:spPr>
        </p:sp>
        <p:sp>
          <p:nvSpPr>
            <p:cNvPr id="80020" name="Line 139"/>
            <p:cNvSpPr/>
            <p:nvPr/>
          </p:nvSpPr>
          <p:spPr>
            <a:xfrm flipV="1">
              <a:off x="3393" y="1756"/>
              <a:ext cx="0" cy="106"/>
            </a:xfrm>
            <a:prstGeom prst="line">
              <a:avLst/>
            </a:prstGeom>
            <a:ln w="25400" cap="flat" cmpd="sng">
              <a:solidFill>
                <a:schemeClr val="tx1"/>
              </a:solidFill>
              <a:prstDash val="solid"/>
              <a:headEnd type="none" w="med" len="med"/>
              <a:tailEnd type="none" w="med" len="med"/>
            </a:ln>
          </p:spPr>
        </p:sp>
        <p:sp>
          <p:nvSpPr>
            <p:cNvPr id="80021" name="Line 140"/>
            <p:cNvSpPr/>
            <p:nvPr/>
          </p:nvSpPr>
          <p:spPr>
            <a:xfrm flipV="1">
              <a:off x="3420" y="1756"/>
              <a:ext cx="0" cy="106"/>
            </a:xfrm>
            <a:prstGeom prst="line">
              <a:avLst/>
            </a:prstGeom>
            <a:ln w="25400" cap="flat" cmpd="sng">
              <a:solidFill>
                <a:schemeClr val="tx1"/>
              </a:solidFill>
              <a:prstDash val="solid"/>
              <a:headEnd type="none" w="med" len="med"/>
              <a:tailEnd type="none" w="med" len="med"/>
            </a:ln>
          </p:spPr>
        </p:sp>
        <p:sp>
          <p:nvSpPr>
            <p:cNvPr id="80022" name="Line 141"/>
            <p:cNvSpPr/>
            <p:nvPr/>
          </p:nvSpPr>
          <p:spPr>
            <a:xfrm flipV="1">
              <a:off x="3447" y="1756"/>
              <a:ext cx="0" cy="106"/>
            </a:xfrm>
            <a:prstGeom prst="line">
              <a:avLst/>
            </a:prstGeom>
            <a:ln w="25400" cap="flat" cmpd="sng">
              <a:solidFill>
                <a:schemeClr val="tx1"/>
              </a:solidFill>
              <a:prstDash val="solid"/>
              <a:headEnd type="none" w="med" len="med"/>
              <a:tailEnd type="none" w="med" len="med"/>
            </a:ln>
          </p:spPr>
        </p:sp>
        <p:sp>
          <p:nvSpPr>
            <p:cNvPr id="80023" name="Line 142"/>
            <p:cNvSpPr/>
            <p:nvPr/>
          </p:nvSpPr>
          <p:spPr>
            <a:xfrm flipV="1">
              <a:off x="3475" y="1756"/>
              <a:ext cx="0" cy="106"/>
            </a:xfrm>
            <a:prstGeom prst="line">
              <a:avLst/>
            </a:prstGeom>
            <a:ln w="25400" cap="flat" cmpd="sng">
              <a:solidFill>
                <a:schemeClr val="tx1"/>
              </a:solidFill>
              <a:prstDash val="solid"/>
              <a:headEnd type="none" w="med" len="med"/>
              <a:tailEnd type="none" w="med" len="med"/>
            </a:ln>
          </p:spPr>
        </p:sp>
        <p:sp>
          <p:nvSpPr>
            <p:cNvPr id="80024" name="Line 143"/>
            <p:cNvSpPr/>
            <p:nvPr/>
          </p:nvSpPr>
          <p:spPr>
            <a:xfrm flipV="1">
              <a:off x="3502" y="1756"/>
              <a:ext cx="0" cy="106"/>
            </a:xfrm>
            <a:prstGeom prst="line">
              <a:avLst/>
            </a:prstGeom>
            <a:ln w="25400" cap="flat" cmpd="sng">
              <a:solidFill>
                <a:schemeClr val="tx1"/>
              </a:solidFill>
              <a:prstDash val="solid"/>
              <a:headEnd type="none" w="med" len="med"/>
              <a:tailEnd type="none" w="med" len="med"/>
            </a:ln>
          </p:spPr>
        </p:sp>
        <p:sp>
          <p:nvSpPr>
            <p:cNvPr id="80025" name="Line 144"/>
            <p:cNvSpPr/>
            <p:nvPr/>
          </p:nvSpPr>
          <p:spPr>
            <a:xfrm flipV="1">
              <a:off x="3529" y="1756"/>
              <a:ext cx="0" cy="106"/>
            </a:xfrm>
            <a:prstGeom prst="line">
              <a:avLst/>
            </a:prstGeom>
            <a:ln w="25400" cap="flat" cmpd="sng">
              <a:solidFill>
                <a:schemeClr val="tx1"/>
              </a:solidFill>
              <a:prstDash val="solid"/>
              <a:headEnd type="none" w="med" len="med"/>
              <a:tailEnd type="none" w="med" len="med"/>
            </a:ln>
          </p:spPr>
        </p:sp>
        <p:sp>
          <p:nvSpPr>
            <p:cNvPr id="80026" name="Line 145"/>
            <p:cNvSpPr/>
            <p:nvPr/>
          </p:nvSpPr>
          <p:spPr>
            <a:xfrm flipV="1">
              <a:off x="4125" y="1756"/>
              <a:ext cx="0" cy="106"/>
            </a:xfrm>
            <a:prstGeom prst="line">
              <a:avLst/>
            </a:prstGeom>
            <a:ln w="25400" cap="flat" cmpd="sng">
              <a:solidFill>
                <a:schemeClr val="tx1"/>
              </a:solidFill>
              <a:prstDash val="solid"/>
              <a:headEnd type="none" w="med" len="med"/>
              <a:tailEnd type="none" w="med" len="med"/>
            </a:ln>
          </p:spPr>
        </p:sp>
        <p:sp>
          <p:nvSpPr>
            <p:cNvPr id="80027" name="Line 146"/>
            <p:cNvSpPr/>
            <p:nvPr/>
          </p:nvSpPr>
          <p:spPr>
            <a:xfrm flipV="1">
              <a:off x="4153" y="1756"/>
              <a:ext cx="0" cy="106"/>
            </a:xfrm>
            <a:prstGeom prst="line">
              <a:avLst/>
            </a:prstGeom>
            <a:ln w="25400" cap="flat" cmpd="sng">
              <a:solidFill>
                <a:schemeClr val="tx1"/>
              </a:solidFill>
              <a:prstDash val="solid"/>
              <a:headEnd type="none" w="med" len="med"/>
              <a:tailEnd type="none" w="med" len="med"/>
            </a:ln>
          </p:spPr>
        </p:sp>
        <p:sp>
          <p:nvSpPr>
            <p:cNvPr id="80028" name="Line 147"/>
            <p:cNvSpPr/>
            <p:nvPr/>
          </p:nvSpPr>
          <p:spPr>
            <a:xfrm flipV="1">
              <a:off x="4180" y="1756"/>
              <a:ext cx="0" cy="106"/>
            </a:xfrm>
            <a:prstGeom prst="line">
              <a:avLst/>
            </a:prstGeom>
            <a:ln w="25400" cap="flat" cmpd="sng">
              <a:solidFill>
                <a:schemeClr val="tx1"/>
              </a:solidFill>
              <a:prstDash val="solid"/>
              <a:headEnd type="none" w="med" len="med"/>
              <a:tailEnd type="none" w="med" len="med"/>
            </a:ln>
          </p:spPr>
        </p:sp>
        <p:sp>
          <p:nvSpPr>
            <p:cNvPr id="80029" name="Line 148"/>
            <p:cNvSpPr/>
            <p:nvPr/>
          </p:nvSpPr>
          <p:spPr>
            <a:xfrm flipV="1">
              <a:off x="4207" y="1756"/>
              <a:ext cx="0" cy="106"/>
            </a:xfrm>
            <a:prstGeom prst="line">
              <a:avLst/>
            </a:prstGeom>
            <a:ln w="25400" cap="flat" cmpd="sng">
              <a:solidFill>
                <a:schemeClr val="tx1"/>
              </a:solidFill>
              <a:prstDash val="solid"/>
              <a:headEnd type="none" w="med" len="med"/>
              <a:tailEnd type="none" w="med" len="med"/>
            </a:ln>
          </p:spPr>
        </p:sp>
        <p:sp>
          <p:nvSpPr>
            <p:cNvPr id="80030" name="Line 149"/>
            <p:cNvSpPr/>
            <p:nvPr/>
          </p:nvSpPr>
          <p:spPr>
            <a:xfrm flipV="1">
              <a:off x="4234" y="1756"/>
              <a:ext cx="0" cy="106"/>
            </a:xfrm>
            <a:prstGeom prst="line">
              <a:avLst/>
            </a:prstGeom>
            <a:ln w="25400" cap="flat" cmpd="sng">
              <a:solidFill>
                <a:schemeClr val="tx1"/>
              </a:solidFill>
              <a:prstDash val="solid"/>
              <a:headEnd type="none" w="med" len="med"/>
              <a:tailEnd type="none" w="med" len="med"/>
            </a:ln>
          </p:spPr>
        </p:sp>
        <p:sp>
          <p:nvSpPr>
            <p:cNvPr id="80031" name="Line 150"/>
            <p:cNvSpPr/>
            <p:nvPr/>
          </p:nvSpPr>
          <p:spPr>
            <a:xfrm flipV="1">
              <a:off x="4262" y="1756"/>
              <a:ext cx="0" cy="106"/>
            </a:xfrm>
            <a:prstGeom prst="line">
              <a:avLst/>
            </a:prstGeom>
            <a:ln w="25400" cap="flat" cmpd="sng">
              <a:solidFill>
                <a:schemeClr val="tx1"/>
              </a:solidFill>
              <a:prstDash val="solid"/>
              <a:headEnd type="none" w="med" len="med"/>
              <a:tailEnd type="none" w="med" len="med"/>
            </a:ln>
          </p:spPr>
        </p:sp>
        <p:sp>
          <p:nvSpPr>
            <p:cNvPr id="80032" name="Line 151"/>
            <p:cNvSpPr/>
            <p:nvPr/>
          </p:nvSpPr>
          <p:spPr>
            <a:xfrm flipV="1">
              <a:off x="4289" y="1756"/>
              <a:ext cx="0" cy="106"/>
            </a:xfrm>
            <a:prstGeom prst="line">
              <a:avLst/>
            </a:prstGeom>
            <a:ln w="25400" cap="flat" cmpd="sng">
              <a:solidFill>
                <a:schemeClr val="tx1"/>
              </a:solidFill>
              <a:prstDash val="solid"/>
              <a:headEnd type="none" w="med" len="med"/>
              <a:tailEnd type="none" w="med" len="med"/>
            </a:ln>
          </p:spPr>
        </p:sp>
        <p:sp>
          <p:nvSpPr>
            <p:cNvPr id="80033" name="Line 152"/>
            <p:cNvSpPr/>
            <p:nvPr/>
          </p:nvSpPr>
          <p:spPr>
            <a:xfrm flipV="1">
              <a:off x="4316" y="1756"/>
              <a:ext cx="0" cy="106"/>
            </a:xfrm>
            <a:prstGeom prst="line">
              <a:avLst/>
            </a:prstGeom>
            <a:ln w="25400" cap="flat" cmpd="sng">
              <a:solidFill>
                <a:schemeClr val="tx1"/>
              </a:solidFill>
              <a:prstDash val="solid"/>
              <a:headEnd type="none" w="med" len="med"/>
              <a:tailEnd type="none" w="med" len="med"/>
            </a:ln>
          </p:spPr>
        </p:sp>
        <p:sp>
          <p:nvSpPr>
            <p:cNvPr id="80034" name="Line 153"/>
            <p:cNvSpPr/>
            <p:nvPr/>
          </p:nvSpPr>
          <p:spPr>
            <a:xfrm flipV="1">
              <a:off x="4343" y="1756"/>
              <a:ext cx="0" cy="106"/>
            </a:xfrm>
            <a:prstGeom prst="line">
              <a:avLst/>
            </a:prstGeom>
            <a:ln w="25400" cap="flat" cmpd="sng">
              <a:solidFill>
                <a:schemeClr val="tx1"/>
              </a:solidFill>
              <a:prstDash val="solid"/>
              <a:headEnd type="none" w="med" len="med"/>
              <a:tailEnd type="none" w="med" len="med"/>
            </a:ln>
          </p:spPr>
        </p:sp>
        <p:sp>
          <p:nvSpPr>
            <p:cNvPr id="80035" name="Line 154"/>
            <p:cNvSpPr/>
            <p:nvPr/>
          </p:nvSpPr>
          <p:spPr>
            <a:xfrm flipV="1">
              <a:off x="4371" y="1756"/>
              <a:ext cx="0" cy="106"/>
            </a:xfrm>
            <a:prstGeom prst="line">
              <a:avLst/>
            </a:prstGeom>
            <a:ln w="25400" cap="flat" cmpd="sng">
              <a:solidFill>
                <a:schemeClr val="tx1"/>
              </a:solidFill>
              <a:prstDash val="solid"/>
              <a:headEnd type="none" w="med" len="med"/>
              <a:tailEnd type="none" w="med" len="med"/>
            </a:ln>
          </p:spPr>
        </p:sp>
        <p:sp>
          <p:nvSpPr>
            <p:cNvPr id="80036" name="Line 155"/>
            <p:cNvSpPr/>
            <p:nvPr/>
          </p:nvSpPr>
          <p:spPr>
            <a:xfrm flipV="1">
              <a:off x="4398" y="1756"/>
              <a:ext cx="0" cy="106"/>
            </a:xfrm>
            <a:prstGeom prst="line">
              <a:avLst/>
            </a:prstGeom>
            <a:ln w="25400" cap="flat" cmpd="sng">
              <a:solidFill>
                <a:schemeClr val="tx1"/>
              </a:solidFill>
              <a:prstDash val="solid"/>
              <a:headEnd type="none" w="med" len="med"/>
              <a:tailEnd type="none" w="med" len="med"/>
            </a:ln>
          </p:spPr>
        </p:sp>
        <p:sp>
          <p:nvSpPr>
            <p:cNvPr id="80037" name="Line 156"/>
            <p:cNvSpPr/>
            <p:nvPr/>
          </p:nvSpPr>
          <p:spPr>
            <a:xfrm flipV="1">
              <a:off x="4425" y="1756"/>
              <a:ext cx="0" cy="106"/>
            </a:xfrm>
            <a:prstGeom prst="line">
              <a:avLst/>
            </a:prstGeom>
            <a:ln w="25400" cap="flat" cmpd="sng">
              <a:solidFill>
                <a:schemeClr val="tx1"/>
              </a:solidFill>
              <a:prstDash val="solid"/>
              <a:headEnd type="none" w="med" len="med"/>
              <a:tailEnd type="none" w="med" len="med"/>
            </a:ln>
          </p:spPr>
        </p:sp>
        <p:sp>
          <p:nvSpPr>
            <p:cNvPr id="80038" name="Line 157"/>
            <p:cNvSpPr/>
            <p:nvPr/>
          </p:nvSpPr>
          <p:spPr>
            <a:xfrm flipV="1">
              <a:off x="4452" y="1756"/>
              <a:ext cx="0" cy="106"/>
            </a:xfrm>
            <a:prstGeom prst="line">
              <a:avLst/>
            </a:prstGeom>
            <a:ln w="25400" cap="flat" cmpd="sng">
              <a:solidFill>
                <a:schemeClr val="tx1"/>
              </a:solidFill>
              <a:prstDash val="solid"/>
              <a:headEnd type="none" w="med" len="med"/>
              <a:tailEnd type="none" w="med" len="med"/>
            </a:ln>
          </p:spPr>
        </p:sp>
        <p:sp>
          <p:nvSpPr>
            <p:cNvPr id="80039" name="Line 158"/>
            <p:cNvSpPr/>
            <p:nvPr/>
          </p:nvSpPr>
          <p:spPr>
            <a:xfrm flipV="1">
              <a:off x="4480" y="1756"/>
              <a:ext cx="0" cy="106"/>
            </a:xfrm>
            <a:prstGeom prst="line">
              <a:avLst/>
            </a:prstGeom>
            <a:ln w="25400" cap="flat" cmpd="sng">
              <a:solidFill>
                <a:schemeClr val="tx1"/>
              </a:solidFill>
              <a:prstDash val="solid"/>
              <a:headEnd type="none" w="med" len="med"/>
              <a:tailEnd type="none" w="med" len="med"/>
            </a:ln>
          </p:spPr>
        </p:sp>
        <p:sp>
          <p:nvSpPr>
            <p:cNvPr id="80040" name="Line 185"/>
            <p:cNvSpPr/>
            <p:nvPr/>
          </p:nvSpPr>
          <p:spPr>
            <a:xfrm flipV="1">
              <a:off x="3557" y="1756"/>
              <a:ext cx="0" cy="106"/>
            </a:xfrm>
            <a:prstGeom prst="line">
              <a:avLst/>
            </a:prstGeom>
            <a:ln w="25400" cap="flat" cmpd="sng">
              <a:solidFill>
                <a:schemeClr val="tx1"/>
              </a:solidFill>
              <a:prstDash val="solid"/>
              <a:headEnd type="none" w="med" len="med"/>
              <a:tailEnd type="none" w="med" len="med"/>
            </a:ln>
          </p:spPr>
        </p:sp>
        <p:sp>
          <p:nvSpPr>
            <p:cNvPr id="80041" name="Line 186"/>
            <p:cNvSpPr/>
            <p:nvPr/>
          </p:nvSpPr>
          <p:spPr>
            <a:xfrm flipV="1">
              <a:off x="3584" y="1756"/>
              <a:ext cx="0" cy="106"/>
            </a:xfrm>
            <a:prstGeom prst="line">
              <a:avLst/>
            </a:prstGeom>
            <a:ln w="25400" cap="flat" cmpd="sng">
              <a:solidFill>
                <a:schemeClr val="tx1"/>
              </a:solidFill>
              <a:prstDash val="solid"/>
              <a:headEnd type="none" w="med" len="med"/>
              <a:tailEnd type="none" w="med" len="med"/>
            </a:ln>
          </p:spPr>
        </p:sp>
        <p:sp>
          <p:nvSpPr>
            <p:cNvPr id="80042" name="Line 187"/>
            <p:cNvSpPr/>
            <p:nvPr/>
          </p:nvSpPr>
          <p:spPr>
            <a:xfrm flipV="1">
              <a:off x="3612" y="1756"/>
              <a:ext cx="0" cy="106"/>
            </a:xfrm>
            <a:prstGeom prst="line">
              <a:avLst/>
            </a:prstGeom>
            <a:ln w="25400" cap="flat" cmpd="sng">
              <a:solidFill>
                <a:schemeClr val="tx1"/>
              </a:solidFill>
              <a:prstDash val="solid"/>
              <a:headEnd type="none" w="med" len="med"/>
              <a:tailEnd type="none" w="med" len="med"/>
            </a:ln>
          </p:spPr>
        </p:sp>
        <p:sp>
          <p:nvSpPr>
            <p:cNvPr id="80043" name="Line 188"/>
            <p:cNvSpPr/>
            <p:nvPr/>
          </p:nvSpPr>
          <p:spPr>
            <a:xfrm flipV="1">
              <a:off x="3639" y="1756"/>
              <a:ext cx="0" cy="106"/>
            </a:xfrm>
            <a:prstGeom prst="line">
              <a:avLst/>
            </a:prstGeom>
            <a:ln w="25400" cap="flat" cmpd="sng">
              <a:solidFill>
                <a:schemeClr val="tx1"/>
              </a:solidFill>
              <a:prstDash val="solid"/>
              <a:headEnd type="none" w="med" len="med"/>
              <a:tailEnd type="none" w="med" len="med"/>
            </a:ln>
          </p:spPr>
        </p:sp>
        <p:sp>
          <p:nvSpPr>
            <p:cNvPr id="80044" name="Line 189"/>
            <p:cNvSpPr/>
            <p:nvPr/>
          </p:nvSpPr>
          <p:spPr>
            <a:xfrm flipV="1">
              <a:off x="3666" y="1756"/>
              <a:ext cx="0" cy="106"/>
            </a:xfrm>
            <a:prstGeom prst="line">
              <a:avLst/>
            </a:prstGeom>
            <a:ln w="25400" cap="flat" cmpd="sng">
              <a:solidFill>
                <a:schemeClr val="tx1"/>
              </a:solidFill>
              <a:prstDash val="solid"/>
              <a:headEnd type="none" w="med" len="med"/>
              <a:tailEnd type="none" w="med" len="med"/>
            </a:ln>
          </p:spPr>
        </p:sp>
        <p:sp>
          <p:nvSpPr>
            <p:cNvPr id="80045" name="Line 190"/>
            <p:cNvSpPr/>
            <p:nvPr/>
          </p:nvSpPr>
          <p:spPr>
            <a:xfrm flipV="1">
              <a:off x="3693" y="1756"/>
              <a:ext cx="0" cy="106"/>
            </a:xfrm>
            <a:prstGeom prst="line">
              <a:avLst/>
            </a:prstGeom>
            <a:ln w="25400" cap="flat" cmpd="sng">
              <a:solidFill>
                <a:schemeClr val="tx1"/>
              </a:solidFill>
              <a:prstDash val="solid"/>
              <a:headEnd type="none" w="med" len="med"/>
              <a:tailEnd type="none" w="med" len="med"/>
            </a:ln>
          </p:spPr>
        </p:sp>
        <p:sp>
          <p:nvSpPr>
            <p:cNvPr id="80046" name="Line 191"/>
            <p:cNvSpPr/>
            <p:nvPr/>
          </p:nvSpPr>
          <p:spPr>
            <a:xfrm flipV="1">
              <a:off x="3721" y="1756"/>
              <a:ext cx="0" cy="106"/>
            </a:xfrm>
            <a:prstGeom prst="line">
              <a:avLst/>
            </a:prstGeom>
            <a:ln w="25400" cap="flat" cmpd="sng">
              <a:solidFill>
                <a:schemeClr val="tx1"/>
              </a:solidFill>
              <a:prstDash val="solid"/>
              <a:headEnd type="none" w="med" len="med"/>
              <a:tailEnd type="none" w="med" len="med"/>
            </a:ln>
          </p:spPr>
        </p:sp>
        <p:sp>
          <p:nvSpPr>
            <p:cNvPr id="80047" name="Line 192"/>
            <p:cNvSpPr/>
            <p:nvPr/>
          </p:nvSpPr>
          <p:spPr>
            <a:xfrm flipV="1">
              <a:off x="3748" y="1756"/>
              <a:ext cx="0" cy="106"/>
            </a:xfrm>
            <a:prstGeom prst="line">
              <a:avLst/>
            </a:prstGeom>
            <a:ln w="25400" cap="flat" cmpd="sng">
              <a:solidFill>
                <a:schemeClr val="tx1"/>
              </a:solidFill>
              <a:prstDash val="solid"/>
              <a:headEnd type="none" w="med" len="med"/>
              <a:tailEnd type="none" w="med" len="med"/>
            </a:ln>
          </p:spPr>
        </p:sp>
        <p:sp>
          <p:nvSpPr>
            <p:cNvPr id="80048" name="Line 193"/>
            <p:cNvSpPr/>
            <p:nvPr/>
          </p:nvSpPr>
          <p:spPr>
            <a:xfrm flipV="1">
              <a:off x="3775" y="1756"/>
              <a:ext cx="0" cy="106"/>
            </a:xfrm>
            <a:prstGeom prst="line">
              <a:avLst/>
            </a:prstGeom>
            <a:ln w="25400" cap="flat" cmpd="sng">
              <a:solidFill>
                <a:schemeClr val="tx1"/>
              </a:solidFill>
              <a:prstDash val="solid"/>
              <a:headEnd type="none" w="med" len="med"/>
              <a:tailEnd type="none" w="med" len="med"/>
            </a:ln>
          </p:spPr>
        </p:sp>
        <p:sp>
          <p:nvSpPr>
            <p:cNvPr id="80049" name="Line 194"/>
            <p:cNvSpPr/>
            <p:nvPr/>
          </p:nvSpPr>
          <p:spPr>
            <a:xfrm flipV="1">
              <a:off x="3802" y="1756"/>
              <a:ext cx="0" cy="106"/>
            </a:xfrm>
            <a:prstGeom prst="line">
              <a:avLst/>
            </a:prstGeom>
            <a:ln w="25400" cap="flat" cmpd="sng">
              <a:solidFill>
                <a:schemeClr val="tx1"/>
              </a:solidFill>
              <a:prstDash val="solid"/>
              <a:headEnd type="none" w="med" len="med"/>
              <a:tailEnd type="none" w="med" len="med"/>
            </a:ln>
          </p:spPr>
        </p:sp>
        <p:sp>
          <p:nvSpPr>
            <p:cNvPr id="80050" name="Line 195"/>
            <p:cNvSpPr/>
            <p:nvPr/>
          </p:nvSpPr>
          <p:spPr>
            <a:xfrm flipV="1">
              <a:off x="3830" y="1756"/>
              <a:ext cx="0" cy="106"/>
            </a:xfrm>
            <a:prstGeom prst="line">
              <a:avLst/>
            </a:prstGeom>
            <a:ln w="25400" cap="flat" cmpd="sng">
              <a:solidFill>
                <a:schemeClr val="tx1"/>
              </a:solidFill>
              <a:prstDash val="solid"/>
              <a:headEnd type="none" w="med" len="med"/>
              <a:tailEnd type="none" w="med" len="med"/>
            </a:ln>
          </p:spPr>
        </p:sp>
        <p:sp>
          <p:nvSpPr>
            <p:cNvPr id="80051" name="Line 196"/>
            <p:cNvSpPr/>
            <p:nvPr/>
          </p:nvSpPr>
          <p:spPr>
            <a:xfrm flipV="1">
              <a:off x="3857" y="1756"/>
              <a:ext cx="0" cy="106"/>
            </a:xfrm>
            <a:prstGeom prst="line">
              <a:avLst/>
            </a:prstGeom>
            <a:ln w="25400" cap="flat" cmpd="sng">
              <a:solidFill>
                <a:schemeClr val="tx1"/>
              </a:solidFill>
              <a:prstDash val="solid"/>
              <a:headEnd type="none" w="med" len="med"/>
              <a:tailEnd type="none" w="med" len="med"/>
            </a:ln>
          </p:spPr>
        </p:sp>
        <p:sp>
          <p:nvSpPr>
            <p:cNvPr id="80052" name="Line 197"/>
            <p:cNvSpPr/>
            <p:nvPr/>
          </p:nvSpPr>
          <p:spPr>
            <a:xfrm flipV="1">
              <a:off x="3884" y="1756"/>
              <a:ext cx="0" cy="106"/>
            </a:xfrm>
            <a:prstGeom prst="line">
              <a:avLst/>
            </a:prstGeom>
            <a:ln w="25400" cap="flat" cmpd="sng">
              <a:solidFill>
                <a:schemeClr val="tx1"/>
              </a:solidFill>
              <a:prstDash val="solid"/>
              <a:headEnd type="none" w="med" len="med"/>
              <a:tailEnd type="none" w="med" len="med"/>
            </a:ln>
          </p:spPr>
        </p:sp>
        <p:sp>
          <p:nvSpPr>
            <p:cNvPr id="80053" name="Line 198"/>
            <p:cNvSpPr/>
            <p:nvPr/>
          </p:nvSpPr>
          <p:spPr>
            <a:xfrm flipV="1">
              <a:off x="3911" y="1756"/>
              <a:ext cx="0" cy="106"/>
            </a:xfrm>
            <a:prstGeom prst="line">
              <a:avLst/>
            </a:prstGeom>
            <a:ln w="25400" cap="flat" cmpd="sng">
              <a:solidFill>
                <a:schemeClr val="tx1"/>
              </a:solidFill>
              <a:prstDash val="solid"/>
              <a:headEnd type="none" w="med" len="med"/>
              <a:tailEnd type="none" w="med" len="med"/>
            </a:ln>
          </p:spPr>
        </p:sp>
        <p:sp>
          <p:nvSpPr>
            <p:cNvPr id="80054" name="Line 199"/>
            <p:cNvSpPr/>
            <p:nvPr/>
          </p:nvSpPr>
          <p:spPr>
            <a:xfrm flipV="1">
              <a:off x="3939" y="1756"/>
              <a:ext cx="0" cy="106"/>
            </a:xfrm>
            <a:prstGeom prst="line">
              <a:avLst/>
            </a:prstGeom>
            <a:ln w="25400" cap="flat" cmpd="sng">
              <a:solidFill>
                <a:schemeClr val="tx1"/>
              </a:solidFill>
              <a:prstDash val="solid"/>
              <a:headEnd type="none" w="med" len="med"/>
              <a:tailEnd type="none" w="med" len="med"/>
            </a:ln>
          </p:spPr>
        </p:sp>
        <p:sp>
          <p:nvSpPr>
            <p:cNvPr id="80055" name="Line 200"/>
            <p:cNvSpPr/>
            <p:nvPr/>
          </p:nvSpPr>
          <p:spPr>
            <a:xfrm flipV="1">
              <a:off x="3966" y="1756"/>
              <a:ext cx="0" cy="106"/>
            </a:xfrm>
            <a:prstGeom prst="line">
              <a:avLst/>
            </a:prstGeom>
            <a:ln w="25400" cap="flat" cmpd="sng">
              <a:solidFill>
                <a:schemeClr val="tx1"/>
              </a:solidFill>
              <a:prstDash val="solid"/>
              <a:headEnd type="none" w="med" len="med"/>
              <a:tailEnd type="none" w="med" len="med"/>
            </a:ln>
          </p:spPr>
        </p:sp>
        <p:sp>
          <p:nvSpPr>
            <p:cNvPr id="80056" name="Line 201"/>
            <p:cNvSpPr/>
            <p:nvPr/>
          </p:nvSpPr>
          <p:spPr>
            <a:xfrm flipV="1">
              <a:off x="3993" y="1756"/>
              <a:ext cx="0" cy="106"/>
            </a:xfrm>
            <a:prstGeom prst="line">
              <a:avLst/>
            </a:prstGeom>
            <a:ln w="25400" cap="flat" cmpd="sng">
              <a:solidFill>
                <a:schemeClr val="tx1"/>
              </a:solidFill>
              <a:prstDash val="solid"/>
              <a:headEnd type="none" w="med" len="med"/>
              <a:tailEnd type="none" w="med" len="med"/>
            </a:ln>
          </p:spPr>
        </p:sp>
        <p:sp>
          <p:nvSpPr>
            <p:cNvPr id="80057" name="Line 202"/>
            <p:cNvSpPr/>
            <p:nvPr/>
          </p:nvSpPr>
          <p:spPr>
            <a:xfrm flipV="1">
              <a:off x="4018" y="1756"/>
              <a:ext cx="0" cy="106"/>
            </a:xfrm>
            <a:prstGeom prst="line">
              <a:avLst/>
            </a:prstGeom>
            <a:ln w="25400" cap="flat" cmpd="sng">
              <a:solidFill>
                <a:schemeClr val="tx1"/>
              </a:solidFill>
              <a:prstDash val="solid"/>
              <a:headEnd type="none" w="med" len="med"/>
              <a:tailEnd type="none" w="med" len="med"/>
            </a:ln>
          </p:spPr>
        </p:sp>
        <p:sp>
          <p:nvSpPr>
            <p:cNvPr id="80058" name="Line 203"/>
            <p:cNvSpPr/>
            <p:nvPr/>
          </p:nvSpPr>
          <p:spPr>
            <a:xfrm flipV="1">
              <a:off x="4046" y="1756"/>
              <a:ext cx="0" cy="106"/>
            </a:xfrm>
            <a:prstGeom prst="line">
              <a:avLst/>
            </a:prstGeom>
            <a:ln w="25400" cap="flat" cmpd="sng">
              <a:solidFill>
                <a:schemeClr val="tx1"/>
              </a:solidFill>
              <a:prstDash val="solid"/>
              <a:headEnd type="none" w="med" len="med"/>
              <a:tailEnd type="none" w="med" len="med"/>
            </a:ln>
          </p:spPr>
        </p:sp>
        <p:sp>
          <p:nvSpPr>
            <p:cNvPr id="80059" name="Line 204"/>
            <p:cNvSpPr/>
            <p:nvPr/>
          </p:nvSpPr>
          <p:spPr>
            <a:xfrm flipV="1">
              <a:off x="4073" y="1756"/>
              <a:ext cx="0" cy="106"/>
            </a:xfrm>
            <a:prstGeom prst="line">
              <a:avLst/>
            </a:prstGeom>
            <a:ln w="25400" cap="flat" cmpd="sng">
              <a:solidFill>
                <a:schemeClr val="tx1"/>
              </a:solidFill>
              <a:prstDash val="solid"/>
              <a:headEnd type="none" w="med" len="med"/>
              <a:tailEnd type="none" w="med" len="med"/>
            </a:ln>
          </p:spPr>
        </p:sp>
        <p:sp>
          <p:nvSpPr>
            <p:cNvPr id="80060" name="Line 205"/>
            <p:cNvSpPr/>
            <p:nvPr/>
          </p:nvSpPr>
          <p:spPr>
            <a:xfrm flipV="1">
              <a:off x="4100" y="1756"/>
              <a:ext cx="0" cy="106"/>
            </a:xfrm>
            <a:prstGeom prst="line">
              <a:avLst/>
            </a:prstGeom>
            <a:ln w="25400" cap="flat" cmpd="sng">
              <a:solidFill>
                <a:schemeClr val="tx1"/>
              </a:solidFill>
              <a:prstDash val="solid"/>
              <a:headEnd type="none" w="med" len="med"/>
              <a:tailEnd type="none" w="med" len="med"/>
            </a:ln>
          </p:spPr>
        </p:sp>
      </p:grpSp>
      <p:sp>
        <p:nvSpPr>
          <p:cNvPr id="2469079" name="Text Box 215"/>
          <p:cNvSpPr txBox="1"/>
          <p:nvPr/>
        </p:nvSpPr>
        <p:spPr>
          <a:xfrm>
            <a:off x="8710613" y="1035050"/>
            <a:ext cx="233362"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2469080" name="Text Box 216"/>
          <p:cNvSpPr txBox="1"/>
          <p:nvPr/>
        </p:nvSpPr>
        <p:spPr>
          <a:xfrm>
            <a:off x="8696325" y="2044700"/>
            <a:ext cx="233363"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2469081" name="Line 217"/>
          <p:cNvSpPr/>
          <p:nvPr/>
        </p:nvSpPr>
        <p:spPr>
          <a:xfrm>
            <a:off x="5907088" y="944563"/>
            <a:ext cx="0" cy="257175"/>
          </a:xfrm>
          <a:prstGeom prst="line">
            <a:avLst/>
          </a:prstGeom>
          <a:ln w="9525" cap="flat" cmpd="sng">
            <a:solidFill>
              <a:srgbClr val="003366"/>
            </a:solidFill>
            <a:prstDash val="solid"/>
            <a:headEnd type="none" w="med" len="lg"/>
            <a:tailEnd type="stealth" w="med" len="lg"/>
          </a:ln>
        </p:spPr>
      </p:sp>
      <p:sp>
        <p:nvSpPr>
          <p:cNvPr id="2469082" name="Line 218"/>
          <p:cNvSpPr/>
          <p:nvPr/>
        </p:nvSpPr>
        <p:spPr>
          <a:xfrm>
            <a:off x="5907088" y="1449388"/>
            <a:ext cx="0" cy="250825"/>
          </a:xfrm>
          <a:prstGeom prst="line">
            <a:avLst/>
          </a:prstGeom>
          <a:ln w="9525" cap="flat" cmpd="sng">
            <a:solidFill>
              <a:srgbClr val="003366"/>
            </a:solidFill>
            <a:prstDash val="solid"/>
            <a:headEnd type="stealth" w="med" len="lg"/>
            <a:tailEnd type="none" w="med" len="lg"/>
          </a:ln>
        </p:spPr>
      </p:sp>
      <p:sp>
        <p:nvSpPr>
          <p:cNvPr id="2469083" name="Text Box 219"/>
          <p:cNvSpPr txBox="1"/>
          <p:nvPr/>
        </p:nvSpPr>
        <p:spPr>
          <a:xfrm>
            <a:off x="5697538" y="1146175"/>
            <a:ext cx="368300"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i="1" baseline="-25000" dirty="0">
                <a:solidFill>
                  <a:srgbClr val="FF0000"/>
                </a:solidFill>
                <a:latin typeface="Times New Roman" panose="02020603050405020304" pitchFamily="18" charset="0"/>
              </a:rPr>
              <a:t>i</a:t>
            </a:r>
            <a:endParaRPr lang="en-US" altLang="zh-CN" sz="1600" i="1" baseline="-25000" dirty="0">
              <a:solidFill>
                <a:srgbClr val="FF0000"/>
              </a:solidFill>
              <a:latin typeface="Times New Roman" panose="02020603050405020304" pitchFamily="18" charset="0"/>
            </a:endParaRPr>
          </a:p>
        </p:txBody>
      </p:sp>
      <p:sp>
        <p:nvSpPr>
          <p:cNvPr id="2469087" name="Text Box 223"/>
          <p:cNvSpPr txBox="1"/>
          <p:nvPr/>
        </p:nvSpPr>
        <p:spPr>
          <a:xfrm>
            <a:off x="2016125" y="2490788"/>
            <a:ext cx="1362075" cy="641350"/>
          </a:xfrm>
          <a:prstGeom prst="rect">
            <a:avLst/>
          </a:prstGeom>
          <a:solidFill>
            <a:srgbClr val="CCFFCC"/>
          </a:solidFill>
          <a:ln w="9525">
            <a:noFill/>
          </a:ln>
        </p:spPr>
        <p:txBody>
          <a:bodyPr>
            <a:spAutoFit/>
          </a:bodyPr>
          <a:p>
            <a:pPr algn="ctr" eaLnBrk="1" hangingPunct="1">
              <a:lnSpc>
                <a:spcPct val="90000"/>
              </a:lnSpc>
              <a:spcBef>
                <a:spcPct val="50000"/>
              </a:spcBef>
            </a:pPr>
            <a:r>
              <a:rPr lang="zh-CN" altLang="en-US" sz="2000" dirty="0">
                <a:solidFill>
                  <a:schemeClr val="tx1"/>
                </a:solidFill>
                <a:latin typeface="Times New Roman" panose="02020603050405020304" pitchFamily="18" charset="0"/>
              </a:rPr>
              <a:t>积分器输出波形</a:t>
            </a:r>
            <a:endParaRPr lang="zh-CN" altLang="en-US" sz="2000" dirty="0">
              <a:solidFill>
                <a:schemeClr val="tx1"/>
              </a:solidFill>
              <a:latin typeface="Times New Roman" panose="02020603050405020304" pitchFamily="18" charset="0"/>
            </a:endParaRPr>
          </a:p>
        </p:txBody>
      </p:sp>
      <p:sp>
        <p:nvSpPr>
          <p:cNvPr id="2469091" name="Line 227"/>
          <p:cNvSpPr/>
          <p:nvPr/>
        </p:nvSpPr>
        <p:spPr>
          <a:xfrm>
            <a:off x="7129463" y="777875"/>
            <a:ext cx="3175" cy="2579688"/>
          </a:xfrm>
          <a:prstGeom prst="line">
            <a:avLst/>
          </a:prstGeom>
          <a:ln w="9525" cap="flat" cmpd="sng">
            <a:solidFill>
              <a:srgbClr val="FF0000"/>
            </a:solidFill>
            <a:prstDash val="dash"/>
            <a:headEnd type="none" w="med" len="med"/>
            <a:tailEnd type="none" w="med" len="med"/>
          </a:ln>
        </p:spPr>
      </p:sp>
      <p:grpSp>
        <p:nvGrpSpPr>
          <p:cNvPr id="4" name="Group 234"/>
          <p:cNvGrpSpPr/>
          <p:nvPr/>
        </p:nvGrpSpPr>
        <p:grpSpPr>
          <a:xfrm>
            <a:off x="4895850" y="2978150"/>
            <a:ext cx="2236788" cy="284163"/>
            <a:chOff x="3084" y="1876"/>
            <a:chExt cx="1409" cy="179"/>
          </a:xfrm>
        </p:grpSpPr>
        <p:sp>
          <p:nvSpPr>
            <p:cNvPr id="80007" name="Line 228"/>
            <p:cNvSpPr/>
            <p:nvPr/>
          </p:nvSpPr>
          <p:spPr>
            <a:xfrm>
              <a:off x="3084" y="2050"/>
              <a:ext cx="1409" cy="0"/>
            </a:xfrm>
            <a:prstGeom prst="line">
              <a:avLst/>
            </a:prstGeom>
            <a:ln w="9525" cap="flat" cmpd="sng">
              <a:solidFill>
                <a:srgbClr val="003366"/>
              </a:solidFill>
              <a:prstDash val="solid"/>
              <a:headEnd type="stealth" w="med" len="lg"/>
              <a:tailEnd type="stealth" w="med" len="lg"/>
            </a:ln>
          </p:spPr>
        </p:sp>
        <p:sp>
          <p:nvSpPr>
            <p:cNvPr id="80008" name="Text Box 229"/>
            <p:cNvSpPr txBox="1"/>
            <p:nvPr/>
          </p:nvSpPr>
          <p:spPr>
            <a:xfrm>
              <a:off x="3679" y="1876"/>
              <a:ext cx="233" cy="179"/>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N</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grpSp>
      <p:grpSp>
        <p:nvGrpSpPr>
          <p:cNvPr id="5" name="Group 235"/>
          <p:cNvGrpSpPr/>
          <p:nvPr/>
        </p:nvGrpSpPr>
        <p:grpSpPr>
          <a:xfrm>
            <a:off x="4892675" y="2206625"/>
            <a:ext cx="2236788" cy="284163"/>
            <a:chOff x="3082" y="1390"/>
            <a:chExt cx="1409" cy="179"/>
          </a:xfrm>
        </p:grpSpPr>
        <p:sp>
          <p:nvSpPr>
            <p:cNvPr id="80005" name="Line 230"/>
            <p:cNvSpPr/>
            <p:nvPr/>
          </p:nvSpPr>
          <p:spPr>
            <a:xfrm>
              <a:off x="3082" y="1564"/>
              <a:ext cx="1409" cy="0"/>
            </a:xfrm>
            <a:prstGeom prst="line">
              <a:avLst/>
            </a:prstGeom>
            <a:ln w="9525" cap="flat" cmpd="sng">
              <a:solidFill>
                <a:srgbClr val="003366"/>
              </a:solidFill>
              <a:prstDash val="solid"/>
              <a:headEnd type="stealth" w="med" len="lg"/>
              <a:tailEnd type="stealth" w="med" len="lg"/>
            </a:ln>
          </p:spPr>
        </p:sp>
        <p:sp>
          <p:nvSpPr>
            <p:cNvPr id="80006" name="Text Box 231"/>
            <p:cNvSpPr txBox="1"/>
            <p:nvPr/>
          </p:nvSpPr>
          <p:spPr>
            <a:xfrm>
              <a:off x="3712" y="1390"/>
              <a:ext cx="183" cy="179"/>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grpSp>
      <p:sp>
        <p:nvSpPr>
          <p:cNvPr id="2469096" name="Line 232"/>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2469097" name="Line 233"/>
          <p:cNvSpPr/>
          <p:nvPr/>
        </p:nvSpPr>
        <p:spPr>
          <a:xfrm flipV="1">
            <a:off x="1489075" y="4587875"/>
            <a:ext cx="309563" cy="46038"/>
          </a:xfrm>
          <a:prstGeom prst="line">
            <a:avLst/>
          </a:prstGeom>
          <a:ln w="38100" cap="flat" cmpd="sng">
            <a:solidFill>
              <a:srgbClr val="FF00FF"/>
            </a:solidFill>
            <a:prstDash val="solid"/>
            <a:headEnd type="none" w="med" len="med"/>
            <a:tailEnd type="none" w="med" len="med"/>
          </a:ln>
        </p:spPr>
      </p:sp>
      <p:sp>
        <p:nvSpPr>
          <p:cNvPr id="2469100" name="Text Box 236"/>
          <p:cNvSpPr txBox="1"/>
          <p:nvPr/>
        </p:nvSpPr>
        <p:spPr>
          <a:xfrm>
            <a:off x="7100888" y="1457325"/>
            <a:ext cx="539750"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OX</a:t>
            </a:r>
            <a:endParaRPr lang="en-US" altLang="zh-CN" sz="1600" baseline="-25000" dirty="0">
              <a:solidFill>
                <a:srgbClr val="FF0000"/>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0004"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9087"/>
                                        </p:tgtEl>
                                        <p:attrNameLst>
                                          <p:attrName>style.visibility</p:attrName>
                                        </p:attrNameLst>
                                      </p:cBhvr>
                                      <p:to>
                                        <p:strVal val="visible"/>
                                      </p:to>
                                    </p:set>
                                    <p:animEffect transition="in" filter="dissolve">
                                      <p:cBhvr>
                                        <p:cTn id="7" dur="500"/>
                                        <p:tgtEl>
                                          <p:spTgt spid="246908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469086"/>
                                        </p:tgtEl>
                                        <p:attrNameLst>
                                          <p:attrName>style.visibility</p:attrName>
                                        </p:attrNameLst>
                                      </p:cBhvr>
                                      <p:to>
                                        <p:strVal val="visible"/>
                                      </p:to>
                                    </p:set>
                                    <p:animEffect transition="in" filter="dissolve">
                                      <p:cBhvr>
                                        <p:cTn id="10" dur="500"/>
                                        <p:tgtEl>
                                          <p:spTgt spid="246908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2468978"/>
                                        </p:tgtEl>
                                        <p:attrNameLst>
                                          <p:attrName>style.visibility</p:attrName>
                                        </p:attrNameLst>
                                      </p:cBhvr>
                                      <p:to>
                                        <p:strVal val="visible"/>
                                      </p:to>
                                    </p:set>
                                    <p:animEffect transition="in" filter="wipe(left)">
                                      <p:cBhvr>
                                        <p:cTn id="15" dur="500"/>
                                        <p:tgtEl>
                                          <p:spTgt spid="2468978"/>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2468977"/>
                                        </p:tgtEl>
                                        <p:attrNameLst>
                                          <p:attrName>style.visibility</p:attrName>
                                        </p:attrNameLst>
                                      </p:cBhvr>
                                      <p:to>
                                        <p:strVal val="visible"/>
                                      </p:to>
                                    </p:set>
                                    <p:animEffect transition="in" filter="wipe(left)">
                                      <p:cBhvr>
                                        <p:cTn id="19" dur="500"/>
                                        <p:tgtEl>
                                          <p:spTgt spid="2468977"/>
                                        </p:tgtEl>
                                      </p:cBhvr>
                                    </p:animEffect>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2469079"/>
                                        </p:tgtEl>
                                        <p:attrNameLst>
                                          <p:attrName>style.visibility</p:attrName>
                                        </p:attrNameLst>
                                      </p:cBhvr>
                                      <p:to>
                                        <p:strVal val="visible"/>
                                      </p:to>
                                    </p:set>
                                    <p:animEffect transition="in" filter="wipe(left)">
                                      <p:cBhvr>
                                        <p:cTn id="23" dur="500"/>
                                        <p:tgtEl>
                                          <p:spTgt spid="246907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2468986"/>
                                        </p:tgtEl>
                                        <p:attrNameLst>
                                          <p:attrName>style.visibility</p:attrName>
                                        </p:attrNameLst>
                                      </p:cBhvr>
                                      <p:to>
                                        <p:strVal val="visible"/>
                                      </p:to>
                                    </p:set>
                                    <p:animEffect transition="in" filter="wipe(left)">
                                      <p:cBhvr>
                                        <p:cTn id="28" dur="500"/>
                                        <p:tgtEl>
                                          <p:spTgt spid="2468986"/>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2468985"/>
                                        </p:tgtEl>
                                        <p:attrNameLst>
                                          <p:attrName>style.visibility</p:attrName>
                                        </p:attrNameLst>
                                      </p:cBhvr>
                                      <p:to>
                                        <p:strVal val="visible"/>
                                      </p:to>
                                    </p:set>
                                    <p:animEffect transition="in" filter="wipe(left)">
                                      <p:cBhvr>
                                        <p:cTn id="32" dur="500"/>
                                        <p:tgtEl>
                                          <p:spTgt spid="2468985"/>
                                        </p:tgtEl>
                                      </p:cBhvr>
                                    </p:animEffect>
                                  </p:childTnLst>
                                </p:cTn>
                              </p:par>
                            </p:childTnLst>
                          </p:cTn>
                        </p:par>
                        <p:par>
                          <p:cTn id="33" fill="hold">
                            <p:stCondLst>
                              <p:cond delay="1000"/>
                            </p:stCondLst>
                            <p:childTnLst>
                              <p:par>
                                <p:cTn id="34" presetID="22" presetClass="entr" presetSubtype="8" fill="hold" grpId="0" nodeType="afterEffect">
                                  <p:stCondLst>
                                    <p:cond delay="0"/>
                                  </p:stCondLst>
                                  <p:childTnLst>
                                    <p:set>
                                      <p:cBhvr>
                                        <p:cTn id="35" dur="1" fill="hold">
                                          <p:stCondLst>
                                            <p:cond delay="0"/>
                                          </p:stCondLst>
                                        </p:cTn>
                                        <p:tgtEl>
                                          <p:spTgt spid="2469080"/>
                                        </p:tgtEl>
                                        <p:attrNameLst>
                                          <p:attrName>style.visibility</p:attrName>
                                        </p:attrNameLst>
                                      </p:cBhvr>
                                      <p:to>
                                        <p:strVal val="visible"/>
                                      </p:to>
                                    </p:set>
                                    <p:animEffect transition="in" filter="wipe(left)">
                                      <p:cBhvr>
                                        <p:cTn id="36" dur="500"/>
                                        <p:tgtEl>
                                          <p:spTgt spid="2469080"/>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2468991"/>
                                        </p:tgtEl>
                                        <p:attrNameLst>
                                          <p:attrName>style.visibility</p:attrName>
                                        </p:attrNameLst>
                                      </p:cBhvr>
                                      <p:to>
                                        <p:strVal val="visible"/>
                                      </p:to>
                                    </p:set>
                                    <p:animEffect transition="in" filter="wipe(left)">
                                      <p:cBhvr>
                                        <p:cTn id="41" dur="500"/>
                                        <p:tgtEl>
                                          <p:spTgt spid="2468991"/>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xit" presetSubtype="2" fill="hold" nodeType="clickEffect">
                                  <p:stCondLst>
                                    <p:cond delay="0"/>
                                  </p:stCondLst>
                                  <p:childTnLst>
                                    <p:animEffect transition="out" filter="wipe(right)">
                                      <p:cBhvr>
                                        <p:cTn id="45" dur="500"/>
                                        <p:tgtEl>
                                          <p:spTgt spid="2469096"/>
                                        </p:tgtEl>
                                      </p:cBhvr>
                                    </p:animEffect>
                                    <p:set>
                                      <p:cBhvr>
                                        <p:cTn id="46" dur="1" fill="hold">
                                          <p:stCondLst>
                                            <p:cond delay="499"/>
                                          </p:stCondLst>
                                        </p:cTn>
                                        <p:tgtEl>
                                          <p:spTgt spid="2469096"/>
                                        </p:tgtEl>
                                        <p:attrNameLst>
                                          <p:attrName>style.visibility</p:attrName>
                                        </p:attrNameLst>
                                      </p:cBhvr>
                                      <p:to>
                                        <p:strVal val="hidden"/>
                                      </p:to>
                                    </p:se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2468976"/>
                                        </p:tgtEl>
                                        <p:attrNameLst>
                                          <p:attrName>style.visibility</p:attrName>
                                        </p:attrNameLst>
                                      </p:cBhvr>
                                      <p:to>
                                        <p:strVal val="visible"/>
                                      </p:to>
                                    </p:set>
                                    <p:animEffect transition="in" filter="wipe(left)">
                                      <p:cBhvr>
                                        <p:cTn id="50" dur="500"/>
                                        <p:tgtEl>
                                          <p:spTgt spid="2468976"/>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nodeType="clickEffect">
                                  <p:stCondLst>
                                    <p:cond delay="0"/>
                                  </p:stCondLst>
                                  <p:childTnLst>
                                    <p:set>
                                      <p:cBhvr>
                                        <p:cTn id="54" dur="1" fill="hold">
                                          <p:stCondLst>
                                            <p:cond delay="0"/>
                                          </p:stCondLst>
                                        </p:cTn>
                                        <p:tgtEl>
                                          <p:spTgt spid="2468979"/>
                                        </p:tgtEl>
                                        <p:attrNameLst>
                                          <p:attrName>style.visibility</p:attrName>
                                        </p:attrNameLst>
                                      </p:cBhvr>
                                      <p:to>
                                        <p:strVal val="visible"/>
                                      </p:to>
                                    </p:set>
                                    <p:animEffect transition="in" filter="wipe(up)">
                                      <p:cBhvr>
                                        <p:cTn id="55" dur="500"/>
                                        <p:tgtEl>
                                          <p:spTgt spid="246897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2"/>
                                        </p:tgtEl>
                                        <p:attrNameLst>
                                          <p:attrName>style.visibility</p:attrName>
                                        </p:attrNameLst>
                                      </p:cBhvr>
                                      <p:to>
                                        <p:strVal val="visible"/>
                                      </p:to>
                                    </p:set>
                                    <p:animEffect transition="in" filter="wipe(left)">
                                      <p:cBhvr>
                                        <p:cTn id="60" dur="5000"/>
                                        <p:tgtEl>
                                          <p:spTgt spid="2"/>
                                        </p:tgtEl>
                                      </p:cBhvr>
                                    </p:animEffect>
                                  </p:childTnLst>
                                </p:cTn>
                              </p:par>
                              <p:par>
                                <p:cTn id="61" presetID="22" presetClass="entr" presetSubtype="8" fill="hold" nodeType="withEffect">
                                  <p:stCondLst>
                                    <p:cond delay="0"/>
                                  </p:stCondLst>
                                  <p:childTnLst>
                                    <p:set>
                                      <p:cBhvr>
                                        <p:cTn id="62" dur="1" fill="hold">
                                          <p:stCondLst>
                                            <p:cond delay="0"/>
                                          </p:stCondLst>
                                        </p:cTn>
                                        <p:tgtEl>
                                          <p:spTgt spid="2468989"/>
                                        </p:tgtEl>
                                        <p:attrNameLst>
                                          <p:attrName>style.visibility</p:attrName>
                                        </p:attrNameLst>
                                      </p:cBhvr>
                                      <p:to>
                                        <p:strVal val="visible"/>
                                      </p:to>
                                    </p:set>
                                    <p:animEffect transition="in" filter="wipe(left)">
                                      <p:cBhvr>
                                        <p:cTn id="63" dur="5000"/>
                                        <p:tgtEl>
                                          <p:spTgt spid="2468989"/>
                                        </p:tgtEl>
                                      </p:cBhvr>
                                    </p:animEffect>
                                  </p:childTnLst>
                                </p:cTn>
                              </p:par>
                              <p:par>
                                <p:cTn id="64" presetID="22" presetClass="entr" presetSubtype="8" fill="hold" nodeType="withEffect">
                                  <p:stCondLst>
                                    <p:cond delay="0"/>
                                  </p:stCondLst>
                                  <p:childTnLst>
                                    <p:set>
                                      <p:cBhvr>
                                        <p:cTn id="65" dur="1" fill="hold">
                                          <p:stCondLst>
                                            <p:cond delay="0"/>
                                          </p:stCondLst>
                                        </p:cTn>
                                        <p:tgtEl>
                                          <p:spTgt spid="3"/>
                                        </p:tgtEl>
                                        <p:attrNameLst>
                                          <p:attrName>style.visibility</p:attrName>
                                        </p:attrNameLst>
                                      </p:cBhvr>
                                      <p:to>
                                        <p:strVal val="visible"/>
                                      </p:to>
                                    </p:set>
                                    <p:animEffect transition="in" filter="wipe(left)">
                                      <p:cBhvr>
                                        <p:cTn id="66" dur="5000"/>
                                        <p:tgtEl>
                                          <p:spTgt spid="3"/>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1" fill="hold" nodeType="clickEffect">
                                  <p:stCondLst>
                                    <p:cond delay="0"/>
                                  </p:stCondLst>
                                  <p:childTnLst>
                                    <p:set>
                                      <p:cBhvr>
                                        <p:cTn id="70" dur="1" fill="hold">
                                          <p:stCondLst>
                                            <p:cond delay="0"/>
                                          </p:stCondLst>
                                        </p:cTn>
                                        <p:tgtEl>
                                          <p:spTgt spid="2469081"/>
                                        </p:tgtEl>
                                        <p:attrNameLst>
                                          <p:attrName>style.visibility</p:attrName>
                                        </p:attrNameLst>
                                      </p:cBhvr>
                                      <p:to>
                                        <p:strVal val="visible"/>
                                      </p:to>
                                    </p:set>
                                    <p:animEffect transition="in" filter="wipe(up)">
                                      <p:cBhvr>
                                        <p:cTn id="71" dur="500"/>
                                        <p:tgtEl>
                                          <p:spTgt spid="2469081"/>
                                        </p:tgtEl>
                                      </p:cBhvr>
                                    </p:animEffect>
                                  </p:childTnLst>
                                </p:cTn>
                              </p:par>
                              <p:par>
                                <p:cTn id="72" presetID="22" presetClass="entr" presetSubtype="4" fill="hold" nodeType="withEffect">
                                  <p:stCondLst>
                                    <p:cond delay="0"/>
                                  </p:stCondLst>
                                  <p:childTnLst>
                                    <p:set>
                                      <p:cBhvr>
                                        <p:cTn id="73" dur="1" fill="hold">
                                          <p:stCondLst>
                                            <p:cond delay="0"/>
                                          </p:stCondLst>
                                        </p:cTn>
                                        <p:tgtEl>
                                          <p:spTgt spid="2469082"/>
                                        </p:tgtEl>
                                        <p:attrNameLst>
                                          <p:attrName>style.visibility</p:attrName>
                                        </p:attrNameLst>
                                      </p:cBhvr>
                                      <p:to>
                                        <p:strVal val="visible"/>
                                      </p:to>
                                    </p:set>
                                    <p:animEffect transition="in" filter="wipe(down)">
                                      <p:cBhvr>
                                        <p:cTn id="74" dur="500"/>
                                        <p:tgtEl>
                                          <p:spTgt spid="2469082"/>
                                        </p:tgtEl>
                                      </p:cBhvr>
                                    </p:animEffect>
                                  </p:childTnLst>
                                </p:cTn>
                              </p:par>
                            </p:childTnLst>
                          </p:cTn>
                        </p:par>
                        <p:par>
                          <p:cTn id="75" fill="hold">
                            <p:stCondLst>
                              <p:cond delay="500"/>
                            </p:stCondLst>
                            <p:childTnLst>
                              <p:par>
                                <p:cTn id="76" presetID="22" presetClass="entr" presetSubtype="8" fill="hold" grpId="0" nodeType="afterEffect">
                                  <p:stCondLst>
                                    <p:cond delay="0"/>
                                  </p:stCondLst>
                                  <p:childTnLst>
                                    <p:set>
                                      <p:cBhvr>
                                        <p:cTn id="77" dur="1" fill="hold">
                                          <p:stCondLst>
                                            <p:cond delay="0"/>
                                          </p:stCondLst>
                                        </p:cTn>
                                        <p:tgtEl>
                                          <p:spTgt spid="2469083"/>
                                        </p:tgtEl>
                                        <p:attrNameLst>
                                          <p:attrName>style.visibility</p:attrName>
                                        </p:attrNameLst>
                                      </p:cBhvr>
                                      <p:to>
                                        <p:strVal val="visible"/>
                                      </p:to>
                                    </p:set>
                                    <p:animEffect transition="in" filter="wipe(left)">
                                      <p:cBhvr>
                                        <p:cTn id="78" dur="500"/>
                                        <p:tgtEl>
                                          <p:spTgt spid="2469083"/>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1" fill="hold" nodeType="clickEffect">
                                  <p:stCondLst>
                                    <p:cond delay="0"/>
                                  </p:stCondLst>
                                  <p:childTnLst>
                                    <p:set>
                                      <p:cBhvr>
                                        <p:cTn id="82" dur="1" fill="hold">
                                          <p:stCondLst>
                                            <p:cond delay="0"/>
                                          </p:stCondLst>
                                        </p:cTn>
                                        <p:tgtEl>
                                          <p:spTgt spid="2469091"/>
                                        </p:tgtEl>
                                        <p:attrNameLst>
                                          <p:attrName>style.visibility</p:attrName>
                                        </p:attrNameLst>
                                      </p:cBhvr>
                                      <p:to>
                                        <p:strVal val="visible"/>
                                      </p:to>
                                    </p:set>
                                    <p:animEffect transition="in" filter="wipe(up)">
                                      <p:cBhvr>
                                        <p:cTn id="83" dur="500"/>
                                        <p:tgtEl>
                                          <p:spTgt spid="2469091"/>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wipe(left)">
                                      <p:cBhvr>
                                        <p:cTn id="88" dur="500"/>
                                        <p:tgtEl>
                                          <p:spTgt spid="4"/>
                                        </p:tgtEl>
                                      </p:cBhvr>
                                    </p:animEffect>
                                  </p:childTnLst>
                                </p:cTn>
                              </p:par>
                              <p:par>
                                <p:cTn id="89" presetID="22" presetClass="entr" presetSubtype="8" fill="hold" nodeType="withEffect">
                                  <p:stCondLst>
                                    <p:cond delay="0"/>
                                  </p:stCondLst>
                                  <p:childTnLst>
                                    <p:set>
                                      <p:cBhvr>
                                        <p:cTn id="90" dur="1" fill="hold">
                                          <p:stCondLst>
                                            <p:cond delay="0"/>
                                          </p:stCondLst>
                                        </p:cTn>
                                        <p:tgtEl>
                                          <p:spTgt spid="5"/>
                                        </p:tgtEl>
                                        <p:attrNameLst>
                                          <p:attrName>style.visibility</p:attrName>
                                        </p:attrNameLst>
                                      </p:cBhvr>
                                      <p:to>
                                        <p:strVal val="visible"/>
                                      </p:to>
                                    </p:set>
                                    <p:animEffect transition="in" filter="wipe(left)">
                                      <p:cBhvr>
                                        <p:cTn id="91" dur="500"/>
                                        <p:tgtEl>
                                          <p:spTgt spid="5"/>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2469100"/>
                                        </p:tgtEl>
                                        <p:attrNameLst>
                                          <p:attrName>style.visibility</p:attrName>
                                        </p:attrNameLst>
                                      </p:cBhvr>
                                      <p:to>
                                        <p:strVal val="visible"/>
                                      </p:to>
                                    </p:set>
                                    <p:animEffect transition="in" filter="dissolve">
                                      <p:cBhvr>
                                        <p:cTn id="96" dur="500"/>
                                        <p:tgtEl>
                                          <p:spTgt spid="2469100"/>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xit" presetSubtype="2" fill="hold" nodeType="clickEffect">
                                  <p:stCondLst>
                                    <p:cond delay="0"/>
                                  </p:stCondLst>
                                  <p:childTnLst>
                                    <p:animEffect transition="out" filter="wipe(right)">
                                      <p:cBhvr>
                                        <p:cTn id="100" dur="500"/>
                                        <p:tgtEl>
                                          <p:spTgt spid="2468976"/>
                                        </p:tgtEl>
                                      </p:cBhvr>
                                    </p:animEffect>
                                    <p:set>
                                      <p:cBhvr>
                                        <p:cTn id="101" dur="1" fill="hold">
                                          <p:stCondLst>
                                            <p:cond delay="499"/>
                                          </p:stCondLst>
                                        </p:cTn>
                                        <p:tgtEl>
                                          <p:spTgt spid="2468976"/>
                                        </p:tgtEl>
                                        <p:attrNameLst>
                                          <p:attrName>style.visibility</p:attrName>
                                        </p:attrNameLst>
                                      </p:cBhvr>
                                      <p:to>
                                        <p:strVal val="hidden"/>
                                      </p:to>
                                    </p:set>
                                  </p:childTnLst>
                                </p:cTn>
                              </p:par>
                            </p:childTnLst>
                          </p:cTn>
                        </p:par>
                        <p:par>
                          <p:cTn id="102" fill="hold">
                            <p:stCondLst>
                              <p:cond delay="500"/>
                            </p:stCondLst>
                            <p:childTnLst>
                              <p:par>
                                <p:cTn id="103" presetID="22" presetClass="entr" presetSubtype="8" fill="hold" nodeType="afterEffect">
                                  <p:stCondLst>
                                    <p:cond delay="0"/>
                                  </p:stCondLst>
                                  <p:childTnLst>
                                    <p:set>
                                      <p:cBhvr>
                                        <p:cTn id="104" dur="1" fill="hold">
                                          <p:stCondLst>
                                            <p:cond delay="0"/>
                                          </p:stCondLst>
                                        </p:cTn>
                                        <p:tgtEl>
                                          <p:spTgt spid="2469096"/>
                                        </p:tgtEl>
                                        <p:attrNameLst>
                                          <p:attrName>style.visibility</p:attrName>
                                        </p:attrNameLst>
                                      </p:cBhvr>
                                      <p:to>
                                        <p:strVal val="visible"/>
                                      </p:to>
                                    </p:set>
                                    <p:animEffect transition="in" filter="wipe(left)">
                                      <p:cBhvr>
                                        <p:cTn id="105" dur="500"/>
                                        <p:tgtEl>
                                          <p:spTgt spid="2469096"/>
                                        </p:tgtEl>
                                      </p:cBhvr>
                                    </p:animEffect>
                                  </p:childTnLst>
                                </p:cTn>
                              </p:par>
                            </p:childTnLst>
                          </p:cTn>
                        </p:par>
                        <p:par>
                          <p:cTn id="106" fill="hold">
                            <p:stCondLst>
                              <p:cond delay="1000"/>
                            </p:stCondLst>
                            <p:childTnLst>
                              <p:par>
                                <p:cTn id="107" presetID="22" presetClass="exit" presetSubtype="2" fill="hold" nodeType="afterEffect">
                                  <p:stCondLst>
                                    <p:cond delay="0"/>
                                  </p:stCondLst>
                                  <p:childTnLst>
                                    <p:animEffect transition="out" filter="wipe(right)">
                                      <p:cBhvr>
                                        <p:cTn id="108" dur="500"/>
                                        <p:tgtEl>
                                          <p:spTgt spid="2468907"/>
                                        </p:tgtEl>
                                      </p:cBhvr>
                                    </p:animEffect>
                                    <p:set>
                                      <p:cBhvr>
                                        <p:cTn id="109" dur="1" fill="hold">
                                          <p:stCondLst>
                                            <p:cond delay="499"/>
                                          </p:stCondLst>
                                        </p:cTn>
                                        <p:tgtEl>
                                          <p:spTgt spid="2468907"/>
                                        </p:tgtEl>
                                        <p:attrNameLst>
                                          <p:attrName>style.visibility</p:attrName>
                                        </p:attrNameLst>
                                      </p:cBhvr>
                                      <p:to>
                                        <p:strVal val="hidden"/>
                                      </p:to>
                                    </p:set>
                                  </p:childTnLst>
                                </p:cTn>
                              </p:par>
                            </p:childTnLst>
                          </p:cTn>
                        </p:par>
                        <p:par>
                          <p:cTn id="110" fill="hold">
                            <p:stCondLst>
                              <p:cond delay="1500"/>
                            </p:stCondLst>
                            <p:childTnLst>
                              <p:par>
                                <p:cTn id="111" presetID="22" presetClass="entr" presetSubtype="8" fill="hold" nodeType="afterEffect">
                                  <p:stCondLst>
                                    <p:cond delay="0"/>
                                  </p:stCondLst>
                                  <p:childTnLst>
                                    <p:set>
                                      <p:cBhvr>
                                        <p:cTn id="112" dur="1" fill="hold">
                                          <p:stCondLst>
                                            <p:cond delay="0"/>
                                          </p:stCondLst>
                                        </p:cTn>
                                        <p:tgtEl>
                                          <p:spTgt spid="2469097"/>
                                        </p:tgtEl>
                                        <p:attrNameLst>
                                          <p:attrName>style.visibility</p:attrName>
                                        </p:attrNameLst>
                                      </p:cBhvr>
                                      <p:to>
                                        <p:strVal val="visible"/>
                                      </p:to>
                                    </p:set>
                                    <p:animEffect transition="in" filter="wipe(left)">
                                      <p:cBhvr>
                                        <p:cTn id="113" dur="500"/>
                                        <p:tgtEl>
                                          <p:spTgt spid="24690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9086" grpId="0" bldLvl="0" animBg="1"/>
      <p:bldP spid="2468978" grpId="0"/>
      <p:bldP spid="2468986" grpId="0"/>
      <p:bldP spid="2468991" grpId="0"/>
      <p:bldP spid="2469079" grpId="0"/>
      <p:bldP spid="2469080" grpId="0"/>
      <p:bldP spid="2469083" grpId="0"/>
      <p:bldP spid="2469087" grpId="0" bldLvl="0" animBg="1"/>
      <p:bldP spid="2469100"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0898" name="Rectangle 5"/>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899" name="Line 6"/>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80900" name="AutoShape 7"/>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01" name="Line 8"/>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80902" name="Line 9"/>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80903" name="Line 10"/>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80904" name="Line 11"/>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80905" name="Text Box 12"/>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80906" name="Oval 13"/>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07" name="AutoShape 14"/>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08" name="Text Box 15"/>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0909" name="Line 16"/>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80910" name="Rectangle 17"/>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11" name="Line 18"/>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80912" name="Rectangle 19"/>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13" name="Line 20"/>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80914" name="Line 21"/>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80915" name="Oval 22"/>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16" name="Line 23"/>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80917" name="Oval 24"/>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18" name="Line 25"/>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80919" name="Oval 26"/>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0" name="Line 27"/>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80921" name="Oval 28"/>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2" name="Line 29"/>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80923" name="Oval 30"/>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4" name="Oval 31"/>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5" name="Oval 32"/>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6" name="Line 33"/>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80927" name="Oval 34"/>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28" name="Text Box 35"/>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0929" name="Oval 36"/>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30" name="Line 37"/>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80931" name="Text Box 38"/>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0932" name="Oval 39"/>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33" name="Line 40"/>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80934" name="Line 41"/>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80935" name="Line 42"/>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80936" name="Line 43"/>
          <p:cNvSpPr/>
          <p:nvPr/>
        </p:nvSpPr>
        <p:spPr>
          <a:xfrm flipV="1">
            <a:off x="1490663" y="4505325"/>
            <a:ext cx="266700" cy="128588"/>
          </a:xfrm>
          <a:prstGeom prst="line">
            <a:avLst/>
          </a:prstGeom>
          <a:ln w="19050" cap="flat" cmpd="sng">
            <a:solidFill>
              <a:srgbClr val="000080"/>
            </a:solidFill>
            <a:prstDash val="solid"/>
            <a:headEnd type="none" w="med" len="med"/>
            <a:tailEnd type="none" w="med" len="med"/>
          </a:ln>
        </p:spPr>
      </p:sp>
      <p:sp>
        <p:nvSpPr>
          <p:cNvPr id="80937" name="Line 44"/>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80938" name="Line 45"/>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80939" name="Text Box 46"/>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0940" name="Text Box 47"/>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0941" name="Text Box 48"/>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80942" name="Text Box 49"/>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80943" name="Text Box 50"/>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80944" name="Text Box 51"/>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0945" name="Line 52"/>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80946" name="Rectangle 53"/>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47" name="Line 54"/>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80948" name="Line 55"/>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80949" name="Oval 56"/>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50" name="Line 57"/>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80951" name="Oval 58"/>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52" name="Line 59"/>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80953" name="Text Box 60"/>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0954" name="Line 61"/>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80955" name="Line 62"/>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80956" name="Line 63"/>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80957" name="Line 64"/>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80958" name="Text Box 65"/>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72002" name="Text Box 66"/>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0960" name="Line 67"/>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80961" name="AutoShape 68"/>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62" name="Text Box 69"/>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0963" name="Line 70"/>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80964" name="Rectangle 71"/>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65" name="Line 72"/>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80966" name="Text Box 73"/>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72010" name="Text Box 74"/>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0968" name="Text Box 75"/>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0969" name="Rectangle 76"/>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0970" name="Rectangle 77"/>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80971" name="Line 78"/>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80972" name="Line 79"/>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80973" name="Line 80"/>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80974" name="Line 81"/>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80975" name="Line 82"/>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80976" name="Text Box 83"/>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0977" name="Rectangle 84"/>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78" name="Rectangle 85"/>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80979" name="Rectangle 86"/>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0980" name="Rectangle 87"/>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80981" name="Rectangle 88"/>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0982" name="Rectangle 89"/>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80983" name="Text Box 90"/>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80984" name="Line 91"/>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80985" name="Line 92"/>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80986" name="Line 93"/>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80987" name="Text Box 94"/>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80988" name="Line 95"/>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80989" name="Line 96"/>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80990" name="Line 97"/>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80991" name="Line 98"/>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80992" name="Line 99"/>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80993" name="Line 100"/>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80994" name="Line 101"/>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80995" name="Text Box 102"/>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80996" name="Oval 103"/>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97" name="Oval 104"/>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98" name="Oval 105"/>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0999" name="Oval 106"/>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000" name="Oval 107"/>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001" name="Oval 108"/>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002" name="Oval 109"/>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003" name="Text Box 110"/>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2. </a:t>
            </a:r>
            <a:r>
              <a:rPr lang="zh-CN" altLang="en-US" dirty="0">
                <a:solidFill>
                  <a:srgbClr val="FF0000"/>
                </a:solidFill>
                <a:latin typeface="Times New Roman" panose="02020603050405020304" pitchFamily="18" charset="0"/>
                <a:ea typeface="黑体" panose="02010609060101010101" pitchFamily="49" charset="-122"/>
              </a:rPr>
              <a:t>采样阶段：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81004" name="Line 111"/>
          <p:cNvSpPr/>
          <p:nvPr/>
        </p:nvSpPr>
        <p:spPr>
          <a:xfrm flipV="1">
            <a:off x="1490663" y="4237038"/>
            <a:ext cx="309562" cy="46037"/>
          </a:xfrm>
          <a:prstGeom prst="line">
            <a:avLst/>
          </a:prstGeom>
          <a:ln w="38100" cap="flat" cmpd="sng">
            <a:solidFill>
              <a:srgbClr val="FF00FF"/>
            </a:solidFill>
            <a:prstDash val="solid"/>
            <a:headEnd type="none" w="med" len="med"/>
            <a:tailEnd type="none" w="med" len="med"/>
          </a:ln>
        </p:spPr>
      </p:sp>
      <p:sp>
        <p:nvSpPr>
          <p:cNvPr id="2472126" name="Text Box 190"/>
          <p:cNvSpPr txBox="1"/>
          <p:nvPr/>
        </p:nvSpPr>
        <p:spPr>
          <a:xfrm>
            <a:off x="755650" y="2108200"/>
            <a:ext cx="2627313" cy="860425"/>
          </a:xfrm>
          <a:prstGeom prst="rect">
            <a:avLst/>
          </a:prstGeom>
          <a:noFill/>
          <a:ln w="9525">
            <a:noFill/>
          </a:ln>
        </p:spPr>
        <p:txBody>
          <a:bodyPr>
            <a:spAutoFit/>
          </a:bodyPr>
          <a:p>
            <a:pPr algn="r" eaLnBrk="1" hangingPunct="1">
              <a:lnSpc>
                <a:spcPct val="90000"/>
              </a:lnSpc>
              <a:spcBef>
                <a:spcPct val="50000"/>
              </a:spcBef>
            </a:pPr>
            <a:r>
              <a:rPr lang="zh-CN" altLang="en-US" dirty="0">
                <a:latin typeface="Times New Roman" panose="02020603050405020304" pitchFamily="18" charset="0"/>
              </a:rPr>
              <a:t>当</a:t>
            </a:r>
            <a:r>
              <a:rPr lang="en-US" altLang="zh-CN" i="1" dirty="0">
                <a:solidFill>
                  <a:srgbClr val="FF0000"/>
                </a:solidFill>
                <a:latin typeface="Times New Roman" panose="02020603050405020304" pitchFamily="18" charset="0"/>
              </a:rPr>
              <a:t>t</a:t>
            </a:r>
            <a:r>
              <a:rPr lang="en-US" altLang="zh-CN" dirty="0">
                <a:solidFill>
                  <a:srgbClr val="FF0000"/>
                </a:solidFill>
                <a:latin typeface="Times New Roman" panose="02020603050405020304" pitchFamily="18" charset="0"/>
              </a:rPr>
              <a:t>=</a:t>
            </a:r>
            <a:r>
              <a:rPr lang="en-US" altLang="zh-CN" i="1" dirty="0">
                <a:solidFill>
                  <a:srgbClr val="FF0000"/>
                </a:solidFill>
                <a:latin typeface="Times New Roman" panose="02020603050405020304" pitchFamily="18" charset="0"/>
              </a:rPr>
              <a:t>t</a:t>
            </a:r>
            <a:r>
              <a:rPr lang="en-US" altLang="zh-CN" baseline="-25000" dirty="0">
                <a:solidFill>
                  <a:srgbClr val="FF0000"/>
                </a:solidFill>
                <a:latin typeface="Times New Roman" panose="02020603050405020304" pitchFamily="18" charset="0"/>
              </a:rPr>
              <a:t>1</a:t>
            </a:r>
            <a:r>
              <a:rPr lang="zh-CN" altLang="en-US" dirty="0">
                <a:latin typeface="Times New Roman" panose="02020603050405020304" pitchFamily="18" charset="0"/>
              </a:rPr>
              <a:t>时，积分器输出电压：</a:t>
            </a:r>
            <a:endParaRPr lang="zh-CN" altLang="en-US" dirty="0">
              <a:latin typeface="Times New Roman" panose="02020603050405020304" pitchFamily="18" charset="0"/>
            </a:endParaRPr>
          </a:p>
        </p:txBody>
      </p:sp>
      <p:graphicFrame>
        <p:nvGraphicFramePr>
          <p:cNvPr id="2472127" name="Object 191"/>
          <p:cNvGraphicFramePr>
            <a:graphicFrameLocks noChangeAspect="1"/>
          </p:cNvGraphicFramePr>
          <p:nvPr/>
        </p:nvGraphicFramePr>
        <p:xfrm>
          <a:off x="3725863" y="2097088"/>
          <a:ext cx="4484687" cy="871537"/>
        </p:xfrm>
        <a:graphic>
          <a:graphicData uri="http://schemas.openxmlformats.org/presentationml/2006/ole">
            <mc:AlternateContent xmlns:mc="http://schemas.openxmlformats.org/markup-compatibility/2006">
              <mc:Choice xmlns:v="urn:schemas-microsoft-com:vml" Requires="v">
                <p:oleObj spid="_x0000_s3090" name="" r:id="rId1" imgW="1905000" imgH="393700" progId="Equation.DSMT4">
                  <p:embed/>
                </p:oleObj>
              </mc:Choice>
              <mc:Fallback>
                <p:oleObj name="" r:id="rId1" imgW="1905000" imgH="393700" progId="Equation.DSMT4">
                  <p:embed/>
                  <p:pic>
                    <p:nvPicPr>
                      <p:cNvPr id="0" name="图片 3089"/>
                      <p:cNvPicPr/>
                      <p:nvPr/>
                    </p:nvPicPr>
                    <p:blipFill>
                      <a:blip r:embed="rId2"/>
                      <a:stretch>
                        <a:fillRect/>
                      </a:stretch>
                    </p:blipFill>
                    <p:spPr>
                      <a:xfrm>
                        <a:off x="3725863" y="2097088"/>
                        <a:ext cx="4484687" cy="871537"/>
                      </a:xfrm>
                      <a:prstGeom prst="rect">
                        <a:avLst/>
                      </a:prstGeom>
                      <a:solidFill>
                        <a:srgbClr val="CCFFCC"/>
                      </a:solidFill>
                      <a:ln w="38100">
                        <a:noFill/>
                        <a:miter/>
                      </a:ln>
                    </p:spPr>
                  </p:pic>
                </p:oleObj>
              </mc:Fallback>
            </mc:AlternateContent>
          </a:graphicData>
        </a:graphic>
      </p:graphicFrame>
      <p:sp>
        <p:nvSpPr>
          <p:cNvPr id="2472128" name="AutoShape 192"/>
          <p:cNvSpPr/>
          <p:nvPr/>
        </p:nvSpPr>
        <p:spPr>
          <a:xfrm>
            <a:off x="5432425" y="1201738"/>
            <a:ext cx="3086100" cy="427037"/>
          </a:xfrm>
          <a:prstGeom prst="wedgeRoundRectCallout">
            <a:avLst>
              <a:gd name="adj1" fmla="val 28190"/>
              <a:gd name="adj2" fmla="val 17750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en-US" altLang="zh-CN" sz="2400" i="1" dirty="0">
                <a:solidFill>
                  <a:srgbClr val="FF0000"/>
                </a:solidFill>
                <a:latin typeface="Times New Roman" panose="02020603050405020304" pitchFamily="18" charset="0"/>
              </a:rPr>
              <a:t>U</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在</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期间的平均值</a:t>
            </a:r>
            <a:endParaRPr lang="zh-CN" altLang="en-US" sz="2400" dirty="0">
              <a:latin typeface="Times New Roman" panose="02020603050405020304" pitchFamily="18" charset="0"/>
            </a:endParaRPr>
          </a:p>
        </p:txBody>
      </p:sp>
      <p:graphicFrame>
        <p:nvGraphicFramePr>
          <p:cNvPr id="2" name="Object 191"/>
          <p:cNvGraphicFramePr>
            <a:graphicFrameLocks noChangeAspect="1"/>
          </p:cNvGraphicFramePr>
          <p:nvPr/>
        </p:nvGraphicFramePr>
        <p:xfrm>
          <a:off x="4502150" y="3060700"/>
          <a:ext cx="2122488" cy="955675"/>
        </p:xfrm>
        <a:graphic>
          <a:graphicData uri="http://schemas.openxmlformats.org/presentationml/2006/ole">
            <mc:AlternateContent xmlns:mc="http://schemas.openxmlformats.org/markup-compatibility/2006">
              <mc:Choice xmlns:v="urn:schemas-microsoft-com:vml" Requires="v">
                <p:oleObj spid="_x0000_s3089" name="" r:id="rId3" imgW="901065" imgH="431800" progId="Equation.DSMT4">
                  <p:embed/>
                </p:oleObj>
              </mc:Choice>
              <mc:Fallback>
                <p:oleObj name="" r:id="rId3" imgW="901065" imgH="431800" progId="Equation.DSMT4">
                  <p:embed/>
                  <p:pic>
                    <p:nvPicPr>
                      <p:cNvPr id="0" name="图片 3088"/>
                      <p:cNvPicPr/>
                      <p:nvPr/>
                    </p:nvPicPr>
                    <p:blipFill>
                      <a:blip r:embed="rId4"/>
                      <a:stretch>
                        <a:fillRect/>
                      </a:stretch>
                    </p:blipFill>
                    <p:spPr>
                      <a:xfrm>
                        <a:off x="4502150" y="3060700"/>
                        <a:ext cx="2122488" cy="955675"/>
                      </a:xfrm>
                      <a:prstGeom prst="rect">
                        <a:avLst/>
                      </a:prstGeom>
                      <a:solidFill>
                        <a:srgbClr val="CCFFCC"/>
                      </a:solidFill>
                      <a:ln w="38100">
                        <a:noFill/>
                        <a:miter/>
                      </a:ln>
                    </p:spPr>
                  </p:pic>
                </p:oleObj>
              </mc:Fallback>
            </mc:AlternateContent>
          </a:graphicData>
        </a:graphic>
      </p:graphicFrame>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1010"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72126"/>
                                        </p:tgtEl>
                                        <p:attrNameLst>
                                          <p:attrName>style.visibility</p:attrName>
                                        </p:attrNameLst>
                                      </p:cBhvr>
                                      <p:to>
                                        <p:strVal val="visible"/>
                                      </p:to>
                                    </p:set>
                                    <p:animEffect transition="in" filter="dissolve">
                                      <p:cBhvr>
                                        <p:cTn id="7" dur="500"/>
                                        <p:tgtEl>
                                          <p:spTgt spid="24721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2127"/>
                                        </p:tgtEl>
                                        <p:attrNameLst>
                                          <p:attrName>style.visibility</p:attrName>
                                        </p:attrNameLst>
                                      </p:cBhvr>
                                      <p:to>
                                        <p:strVal val="visible"/>
                                      </p:to>
                                    </p:set>
                                    <p:animEffect transition="in" filter="dissolve">
                                      <p:cBhvr>
                                        <p:cTn id="12" dur="500"/>
                                        <p:tgtEl>
                                          <p:spTgt spid="247212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ssolve">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472128"/>
                                        </p:tgtEl>
                                        <p:attrNameLst>
                                          <p:attrName>style.visibility</p:attrName>
                                        </p:attrNameLst>
                                      </p:cBhvr>
                                      <p:to>
                                        <p:strVal val="visible"/>
                                      </p:to>
                                    </p:set>
                                    <p:animEffect transition="in" filter="dissolve">
                                      <p:cBhvr>
                                        <p:cTn id="21" dur="500"/>
                                        <p:tgtEl>
                                          <p:spTgt spid="2472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2126" grpId="0"/>
      <p:bldP spid="2472128" grpId="0" bldLvl="0" animBg="1"/>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1922" name="Rectangle 5"/>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23" name="Line 6"/>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81924" name="AutoShape 7"/>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25" name="Line 8"/>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81926" name="Line 9"/>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81927" name="Line 10"/>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81928" name="Line 11"/>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81929" name="Text Box 12"/>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81930" name="Oval 13"/>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31" name="AutoShape 14"/>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32" name="Text Box 15"/>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1933" name="Line 16"/>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81934" name="Rectangle 17"/>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35" name="Line 18"/>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81936" name="Rectangle 19"/>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37" name="Line 20"/>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81938" name="Line 21"/>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81939" name="Oval 22"/>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0" name="Line 23"/>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81941" name="Oval 24"/>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2" name="Line 25"/>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81943" name="Oval 26"/>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4" name="Line 27"/>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81945" name="Oval 28"/>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6" name="Line 29"/>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81947" name="Oval 30"/>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8" name="Oval 31"/>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49" name="Oval 32"/>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50" name="Line 33"/>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81951" name="Oval 34"/>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52" name="Text Box 35"/>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1953" name="Oval 36"/>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54" name="Line 37"/>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81955" name="Text Box 38"/>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1956" name="Oval 39"/>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57" name="Line 40"/>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81958" name="Line 41"/>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81959" name="Line 42"/>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81960" name="Line 44"/>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81961" name="Line 45"/>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81962" name="Text Box 46"/>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1963" name="Text Box 47"/>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1964" name="Text Box 48"/>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81965" name="Text Box 49"/>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81966" name="Text Box 50"/>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81967" name="Text Box 51"/>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1968" name="Line 52"/>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81969" name="Rectangle 53"/>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70" name="Line 54"/>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81971" name="Line 55"/>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81972" name="Oval 56"/>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73" name="Line 57"/>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81974" name="Oval 58"/>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75" name="Line 59"/>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81976" name="Text Box 60"/>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1977" name="Line 61"/>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81978" name="Line 62"/>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81979" name="Line 63"/>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81980" name="Line 64"/>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81981" name="Text Box 65"/>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69954" name="Text Box 66"/>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1983" name="Line 67"/>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81984" name="AutoShape 68"/>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85" name="Text Box 69"/>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1986" name="Line 70"/>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81987" name="Rectangle 71"/>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1988" name="Line 72"/>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81989" name="Text Box 73"/>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69962" name="Text Box 74"/>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1991" name="Text Box 75"/>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1992" name="Rectangle 76"/>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1993" name="Rectangle 77"/>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81994" name="Line 78"/>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81995" name="Line 79"/>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81996" name="Line 80"/>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81997" name="Line 81"/>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81998" name="Line 82"/>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81999" name="Text Box 83"/>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2000" name="Rectangle 84"/>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01" name="Rectangle 85"/>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82002" name="Rectangle 86"/>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2003" name="Rectangle 87"/>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82004" name="Rectangle 88"/>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2005" name="Rectangle 89"/>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82006" name="Text Box 90"/>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82007" name="Line 91"/>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82008" name="Line 92"/>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82009" name="Line 93"/>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82010" name="Text Box 94"/>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82011" name="Line 95"/>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82012" name="Line 96"/>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82013" name="Line 97"/>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82014" name="Line 98"/>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82015" name="Line 99"/>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82016" name="Line 100"/>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82017" name="Line 101"/>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82018" name="Text Box 102"/>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82019" name="Oval 103"/>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0" name="Oval 104"/>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1" name="Oval 105"/>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2" name="Oval 106"/>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3" name="Oval 107"/>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4" name="Oval 108"/>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025" name="Oval 109"/>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2469998" name="Text Box 110"/>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3. </a:t>
            </a:r>
            <a:r>
              <a:rPr lang="zh-CN" altLang="en-US" dirty="0">
                <a:solidFill>
                  <a:srgbClr val="FF0000"/>
                </a:solidFill>
                <a:latin typeface="Times New Roman" panose="02020603050405020304" pitchFamily="18" charset="0"/>
                <a:ea typeface="黑体" panose="02010609060101010101" pitchFamily="49" charset="-122"/>
              </a:rPr>
              <a:t>编码阶段：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82027" name="Line 225"/>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82028" name="Line 226"/>
          <p:cNvSpPr/>
          <p:nvPr/>
        </p:nvSpPr>
        <p:spPr>
          <a:xfrm flipV="1">
            <a:off x="1489075" y="4587875"/>
            <a:ext cx="309563" cy="46038"/>
          </a:xfrm>
          <a:prstGeom prst="line">
            <a:avLst/>
          </a:prstGeom>
          <a:ln w="38100" cap="flat" cmpd="sng">
            <a:solidFill>
              <a:srgbClr val="FF00FF"/>
            </a:solidFill>
            <a:prstDash val="solid"/>
            <a:headEnd type="none" w="med" len="med"/>
            <a:tailEnd type="none" w="med" len="med"/>
          </a:ln>
        </p:spPr>
      </p:sp>
      <p:sp>
        <p:nvSpPr>
          <p:cNvPr id="2470115" name="Text Box 227"/>
          <p:cNvSpPr txBox="1"/>
          <p:nvPr/>
        </p:nvSpPr>
        <p:spPr>
          <a:xfrm>
            <a:off x="3276600" y="1196975"/>
            <a:ext cx="5441950" cy="1917700"/>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当开关</a:t>
            </a:r>
            <a:r>
              <a:rPr lang="en-US" altLang="zh-CN" sz="2400" i="1" dirty="0">
                <a:solidFill>
                  <a:srgbClr val="FF0000"/>
                </a:solidFill>
                <a:latin typeface="Times New Roman" panose="02020603050405020304" pitchFamily="18" charset="0"/>
              </a:rPr>
              <a:t>K</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接通，</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REF</a:t>
            </a:r>
            <a:r>
              <a:rPr lang="zh-CN" altLang="en-US" sz="2400" dirty="0">
                <a:latin typeface="Times New Roman" panose="02020603050405020304" pitchFamily="18" charset="0"/>
              </a:rPr>
              <a:t>接入电路，积分器向相反方向积分，即积分器输出由原来的</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OX</a:t>
            </a:r>
            <a:r>
              <a:rPr lang="zh-CN" altLang="en-US" sz="2400" dirty="0">
                <a:latin typeface="Times New Roman" panose="02020603050405020304" pitchFamily="18" charset="0"/>
              </a:rPr>
              <a:t>值向零电平方向倾斜，斜率恒定。</a:t>
            </a:r>
            <a:endParaRPr lang="zh-CN" altLang="en-US" sz="2400" dirty="0">
              <a:latin typeface="Times New Roman" panose="02020603050405020304" pitchFamily="18" charset="0"/>
            </a:endParaRPr>
          </a:p>
          <a:p>
            <a:pPr marL="457200" indent="-457200" eaLnBrk="1" hangingPunct="1">
              <a:lnSpc>
                <a:spcPct val="90000"/>
              </a:lnSpc>
              <a:spcBef>
                <a:spcPct val="50000"/>
              </a:spcBef>
              <a:buClr>
                <a:srgbClr val="FF0000"/>
              </a:buClr>
              <a:buFont typeface="Wingdings" panose="05000000000000000000" pitchFamily="2" charset="2"/>
              <a:buAutoNum type="arabicPeriod"/>
            </a:pPr>
            <a:r>
              <a:rPr lang="zh-CN" altLang="en-US" sz="2400" dirty="0">
                <a:latin typeface="Times New Roman" panose="02020603050405020304" pitchFamily="18" charset="0"/>
              </a:rPr>
              <a:t>同时，计数器又从零开始计数；</a:t>
            </a:r>
            <a:endParaRPr lang="zh-CN" altLang="en-US" sz="2400" dirty="0">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2031"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9998"/>
                                        </p:tgtEl>
                                        <p:attrNameLst>
                                          <p:attrName>style.visibility</p:attrName>
                                        </p:attrNameLst>
                                      </p:cBhvr>
                                      <p:to>
                                        <p:strVal val="visible"/>
                                      </p:to>
                                    </p:set>
                                    <p:animEffect transition="in" filter="dissolve">
                                      <p:cBhvr>
                                        <p:cTn id="7" dur="500"/>
                                        <p:tgtEl>
                                          <p:spTgt spid="246999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0115">
                                            <p:txEl>
                                              <p:charRg st="0" end="58"/>
                                            </p:txEl>
                                          </p:spTgt>
                                        </p:tgtEl>
                                        <p:attrNameLst>
                                          <p:attrName>style.visibility</p:attrName>
                                        </p:attrNameLst>
                                      </p:cBhvr>
                                      <p:to>
                                        <p:strVal val="visible"/>
                                      </p:to>
                                    </p:set>
                                    <p:animEffect transition="in" filter="dissolve">
                                      <p:cBhvr>
                                        <p:cTn id="12" dur="500"/>
                                        <p:tgtEl>
                                          <p:spTgt spid="2470115">
                                            <p:txEl>
                                              <p:charRg st="0" end="5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70115">
                                            <p:txEl>
                                              <p:charRg st="58" end="73"/>
                                            </p:txEl>
                                          </p:spTgt>
                                        </p:tgtEl>
                                        <p:attrNameLst>
                                          <p:attrName>style.visibility</p:attrName>
                                        </p:attrNameLst>
                                      </p:cBhvr>
                                      <p:to>
                                        <p:strVal val="visible"/>
                                      </p:to>
                                    </p:set>
                                    <p:animEffect transition="in" filter="dissolve">
                                      <p:cBhvr>
                                        <p:cTn id="17" dur="500"/>
                                        <p:tgtEl>
                                          <p:spTgt spid="2470115">
                                            <p:txEl>
                                              <p:charRg st="58" end="7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9998"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2946" name="Rectangle 4"/>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47" name="Line 5"/>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82948" name="AutoShape 6"/>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49" name="Line 7"/>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82950" name="Line 8"/>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82951" name="Line 9"/>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82952" name="Line 10"/>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82953" name="Text Box 11"/>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82954" name="Oval 12"/>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55" name="AutoShape 13"/>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56" name="Text Box 14"/>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2957" name="Line 15"/>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82958" name="Rectangle 16"/>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59" name="Line 17"/>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82960" name="Rectangle 18"/>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61" name="Line 19"/>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82962" name="Line 20"/>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82963" name="Oval 21"/>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64" name="Line 22"/>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82965" name="Oval 23"/>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66" name="Line 24"/>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82967" name="Oval 25"/>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68" name="Line 26"/>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82969" name="Oval 27"/>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0" name="Line 28"/>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82971" name="Oval 29"/>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2" name="Oval 30"/>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3" name="Oval 31"/>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4" name="Line 32"/>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82975" name="Oval 33"/>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6" name="Text Box 34"/>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2977" name="Oval 35"/>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78" name="Line 36"/>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82979" name="Text Box 37"/>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2980" name="Oval 38"/>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81" name="Line 39"/>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82982" name="Line 40"/>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82983" name="Line 41"/>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82984" name="Line 42"/>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82985" name="Line 43"/>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82986" name="Text Box 44"/>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2987" name="Text Box 45"/>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2988" name="Text Box 46"/>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82989" name="Text Box 47"/>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82990" name="Text Box 48"/>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82991" name="Text Box 49"/>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2992" name="Line 50"/>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82993" name="Rectangle 51"/>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94" name="Line 52"/>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82995" name="Line 53"/>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82996" name="Oval 54"/>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97" name="Line 55"/>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82998" name="Oval 56"/>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2999" name="Line 57"/>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83000" name="Text Box 58"/>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3001" name="Line 59"/>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83002" name="Line 60"/>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83003" name="Line 61"/>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83004" name="Line 62"/>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83005" name="Text Box 63"/>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74048" name="Text Box 64"/>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3007" name="Line 65"/>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83008" name="AutoShape 66"/>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09" name="Text Box 67"/>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3010" name="Line 68"/>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83011" name="Rectangle 69"/>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12" name="Line 70"/>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83013" name="Text Box 71"/>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74056" name="Text Box 72"/>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3015" name="Text Box 73"/>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3016" name="Rectangle 74"/>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3017" name="Rectangle 75"/>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83018" name="Line 76"/>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83019" name="Line 77"/>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83020" name="Line 78"/>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83021" name="Line 79"/>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83022" name="Line 80"/>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83023" name="Text Box 81"/>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3024" name="Rectangle 82"/>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25" name="Rectangle 83"/>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83026" name="Rectangle 84"/>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3027" name="Rectangle 85"/>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83028" name="Rectangle 86"/>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3029" name="Rectangle 87"/>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83030" name="Text Box 88"/>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83031" name="Line 89"/>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83032" name="Line 90"/>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83033" name="Line 91"/>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83034" name="Text Box 92"/>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83035" name="Line 93"/>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83036" name="Line 94"/>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83037" name="Line 95"/>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83038" name="Line 96"/>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83039" name="Line 97"/>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83040" name="Line 98"/>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83041" name="Line 99"/>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83042" name="Text Box 100"/>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83043" name="Oval 101"/>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4" name="Oval 102"/>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5" name="Oval 103"/>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6" name="Oval 104"/>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7" name="Oval 105"/>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8" name="Oval 106"/>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49" name="Oval 107"/>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050" name="Text Box 108"/>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3. </a:t>
            </a:r>
            <a:r>
              <a:rPr lang="zh-CN" altLang="en-US" dirty="0">
                <a:solidFill>
                  <a:srgbClr val="FF0000"/>
                </a:solidFill>
                <a:latin typeface="Times New Roman" panose="02020603050405020304" pitchFamily="18" charset="0"/>
                <a:ea typeface="黑体" panose="02010609060101010101" pitchFamily="49" charset="-122"/>
              </a:rPr>
              <a:t>编码阶段：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83051" name="Line 109"/>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83052" name="Line 110"/>
          <p:cNvSpPr/>
          <p:nvPr/>
        </p:nvSpPr>
        <p:spPr>
          <a:xfrm flipV="1">
            <a:off x="1489075" y="4587875"/>
            <a:ext cx="309563" cy="46038"/>
          </a:xfrm>
          <a:prstGeom prst="line">
            <a:avLst/>
          </a:prstGeom>
          <a:ln w="38100" cap="flat" cmpd="sng">
            <a:solidFill>
              <a:srgbClr val="FF00FF"/>
            </a:solidFill>
            <a:prstDash val="solid"/>
            <a:headEnd type="none" w="med" len="med"/>
            <a:tailEnd type="none" w="med" len="med"/>
          </a:ln>
        </p:spPr>
      </p:sp>
      <p:sp>
        <p:nvSpPr>
          <p:cNvPr id="2474095" name="Text Box 111"/>
          <p:cNvSpPr txBox="1"/>
          <p:nvPr/>
        </p:nvSpPr>
        <p:spPr>
          <a:xfrm>
            <a:off x="3159125" y="728663"/>
            <a:ext cx="5441950" cy="2574925"/>
          </a:xfrm>
          <a:prstGeom prst="rect">
            <a:avLst/>
          </a:prstGeom>
          <a:noFill/>
          <a:ln w="9525">
            <a:noFill/>
          </a:ln>
        </p:spPr>
        <p:txBody>
          <a:bodyPr>
            <a:spAutoFit/>
          </a:bodyPr>
          <a:p>
            <a:pPr marL="457200" indent="-457200" eaLnBrk="1" hangingPunct="1">
              <a:lnSpc>
                <a:spcPct val="90000"/>
              </a:lnSpc>
              <a:spcBef>
                <a:spcPct val="50000"/>
              </a:spcBef>
              <a:buClr>
                <a:srgbClr val="FF0000"/>
              </a:buClr>
              <a:buFont typeface="Wingdings" panose="05000000000000000000" pitchFamily="2" charset="2"/>
              <a:buAutoNum type="arabicPeriod" startAt="3"/>
            </a:pPr>
            <a:r>
              <a:rPr lang="zh-CN" altLang="en-US" sz="2400" dirty="0">
                <a:latin typeface="Times New Roman" panose="02020603050405020304" pitchFamily="18" charset="0"/>
              </a:rPr>
              <a:t>当积分器输出电平为零时，比较器有信号输出，控制电路收到比较器信号后发出关门信号，积分器停止积分；</a:t>
            </a:r>
            <a:endParaRPr lang="zh-CN" altLang="en-US" sz="2400" dirty="0">
              <a:latin typeface="Times New Roman" panose="02020603050405020304" pitchFamily="18" charset="0"/>
            </a:endParaRPr>
          </a:p>
          <a:p>
            <a:pPr marL="457200" indent="-457200" eaLnBrk="1" hangingPunct="1">
              <a:lnSpc>
                <a:spcPct val="90000"/>
              </a:lnSpc>
              <a:spcBef>
                <a:spcPct val="50000"/>
              </a:spcBef>
              <a:buClr>
                <a:srgbClr val="FF0000"/>
              </a:buClr>
              <a:buFont typeface="Wingdings" panose="05000000000000000000" pitchFamily="2" charset="2"/>
              <a:buAutoNum type="arabicPeriod" startAt="3"/>
            </a:pPr>
            <a:r>
              <a:rPr lang="zh-CN" altLang="en-US" sz="2400" dirty="0">
                <a:latin typeface="Times New Roman" panose="02020603050405020304" pitchFamily="18" charset="0"/>
              </a:rPr>
              <a:t>同时，计数器停止计数，并发出记忆指令，将此阶段计得数字</a:t>
            </a:r>
            <a:r>
              <a:rPr lang="en-US" altLang="zh-CN" sz="2400" i="1" dirty="0">
                <a:solidFill>
                  <a:srgbClr val="FF0000"/>
                </a:solidFill>
                <a:latin typeface="Times New Roman" panose="02020603050405020304" pitchFamily="18" charset="0"/>
              </a:rPr>
              <a:t>N</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记忆下来，并输出。</a:t>
            </a:r>
            <a:endParaRPr lang="zh-CN" altLang="en-US" sz="2400" dirty="0">
              <a:latin typeface="Times New Roman" panose="02020603050405020304" pitchFamily="18" charset="0"/>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3055"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74095">
                                            <p:txEl>
                                              <p:charRg st="0" end="49"/>
                                            </p:txEl>
                                          </p:spTgt>
                                        </p:tgtEl>
                                        <p:attrNameLst>
                                          <p:attrName>style.visibility</p:attrName>
                                        </p:attrNameLst>
                                      </p:cBhvr>
                                      <p:to>
                                        <p:strVal val="visible"/>
                                      </p:to>
                                    </p:set>
                                    <p:animEffect transition="in" filter="dissolve">
                                      <p:cBhvr>
                                        <p:cTn id="7" dur="500"/>
                                        <p:tgtEl>
                                          <p:spTgt spid="2474095">
                                            <p:txEl>
                                              <p:charRg st="0" end="49"/>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4095">
                                            <p:txEl>
                                              <p:charRg st="49" end="88"/>
                                            </p:txEl>
                                          </p:spTgt>
                                        </p:tgtEl>
                                        <p:attrNameLst>
                                          <p:attrName>style.visibility</p:attrName>
                                        </p:attrNameLst>
                                      </p:cBhvr>
                                      <p:to>
                                        <p:strVal val="visible"/>
                                      </p:to>
                                    </p:set>
                                    <p:animEffect transition="in" filter="dissolve">
                                      <p:cBhvr>
                                        <p:cTn id="12" dur="500"/>
                                        <p:tgtEl>
                                          <p:spTgt spid="2474095">
                                            <p:txEl>
                                              <p:charRg st="49" end="8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2962" name="Rectangle 2"/>
          <p:cNvSpPr/>
          <p:nvPr/>
        </p:nvSpPr>
        <p:spPr>
          <a:xfrm>
            <a:off x="3378200" y="595313"/>
            <a:ext cx="5565775" cy="2867025"/>
          </a:xfrm>
          <a:prstGeom prst="rect">
            <a:avLst/>
          </a:prstGeom>
          <a:solidFill>
            <a:srgbClr val="CCFFCC"/>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71" name="Rectangle 5"/>
          <p:cNvSpPr/>
          <p:nvPr/>
        </p:nvSpPr>
        <p:spPr>
          <a:xfrm>
            <a:off x="198438" y="3405188"/>
            <a:ext cx="8731250" cy="2781300"/>
          </a:xfrm>
          <a:prstGeom prst="rect">
            <a:avLst/>
          </a:prstGeom>
          <a:solidFill>
            <a:srgbClr val="FFFF99"/>
          </a:solidFill>
          <a:ln w="9525">
            <a:noFill/>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72" name="Line 6"/>
          <p:cNvSpPr/>
          <p:nvPr/>
        </p:nvSpPr>
        <p:spPr>
          <a:xfrm>
            <a:off x="6964363" y="4108450"/>
            <a:ext cx="371475" cy="0"/>
          </a:xfrm>
          <a:prstGeom prst="line">
            <a:avLst/>
          </a:prstGeom>
          <a:ln w="12700" cap="flat" cmpd="sng">
            <a:solidFill>
              <a:schemeClr val="accent2"/>
            </a:solidFill>
            <a:prstDash val="solid"/>
            <a:headEnd type="none" w="med" len="med"/>
            <a:tailEnd type="none" w="med" len="med"/>
          </a:ln>
        </p:spPr>
      </p:sp>
      <p:sp>
        <p:nvSpPr>
          <p:cNvPr id="83973" name="AutoShape 7"/>
          <p:cNvSpPr/>
          <p:nvPr/>
        </p:nvSpPr>
        <p:spPr>
          <a:xfrm>
            <a:off x="8258175" y="5002213"/>
            <a:ext cx="331788" cy="227012"/>
          </a:xfrm>
          <a:prstGeom prst="rightArrow">
            <a:avLst>
              <a:gd name="adj1" fmla="val 50000"/>
              <a:gd name="adj2" fmla="val 36538"/>
            </a:avLst>
          </a:prstGeom>
          <a:noFill/>
          <a:ln w="12700" cap="flat" cmpd="sng">
            <a:solidFill>
              <a:schemeClr val="accent2"/>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74" name="Line 8"/>
          <p:cNvSpPr/>
          <p:nvPr/>
        </p:nvSpPr>
        <p:spPr>
          <a:xfrm>
            <a:off x="3506788" y="4894263"/>
            <a:ext cx="981075" cy="0"/>
          </a:xfrm>
          <a:prstGeom prst="line">
            <a:avLst/>
          </a:prstGeom>
          <a:ln w="12700" cap="flat" cmpd="sng">
            <a:solidFill>
              <a:schemeClr val="accent2"/>
            </a:solidFill>
            <a:prstDash val="solid"/>
            <a:headEnd type="none" w="med" len="med"/>
            <a:tailEnd type="none" w="med" len="med"/>
          </a:ln>
        </p:spPr>
      </p:sp>
      <p:sp>
        <p:nvSpPr>
          <p:cNvPr id="83975" name="Line 9"/>
          <p:cNvSpPr/>
          <p:nvPr/>
        </p:nvSpPr>
        <p:spPr>
          <a:xfrm>
            <a:off x="5240338" y="5116513"/>
            <a:ext cx="2587625" cy="0"/>
          </a:xfrm>
          <a:prstGeom prst="line">
            <a:avLst/>
          </a:prstGeom>
          <a:ln w="12700" cap="flat" cmpd="sng">
            <a:solidFill>
              <a:schemeClr val="accent2"/>
            </a:solidFill>
            <a:prstDash val="solid"/>
            <a:headEnd type="none" w="med" len="med"/>
            <a:tailEnd type="none" w="med" len="med"/>
          </a:ln>
        </p:spPr>
      </p:sp>
      <p:sp>
        <p:nvSpPr>
          <p:cNvPr id="83976" name="Line 10"/>
          <p:cNvSpPr/>
          <p:nvPr/>
        </p:nvSpPr>
        <p:spPr>
          <a:xfrm>
            <a:off x="2628900" y="5124450"/>
            <a:ext cx="292100" cy="0"/>
          </a:xfrm>
          <a:prstGeom prst="line">
            <a:avLst/>
          </a:prstGeom>
          <a:ln w="12700" cap="flat" cmpd="sng">
            <a:solidFill>
              <a:schemeClr val="accent2"/>
            </a:solidFill>
            <a:prstDash val="solid"/>
            <a:headEnd type="none" w="med" len="med"/>
            <a:tailEnd type="none" w="med" len="med"/>
          </a:ln>
        </p:spPr>
      </p:sp>
      <p:sp>
        <p:nvSpPr>
          <p:cNvPr id="83977" name="Line 11"/>
          <p:cNvSpPr/>
          <p:nvPr/>
        </p:nvSpPr>
        <p:spPr>
          <a:xfrm>
            <a:off x="2001838" y="4664075"/>
            <a:ext cx="1247775" cy="0"/>
          </a:xfrm>
          <a:prstGeom prst="line">
            <a:avLst/>
          </a:prstGeom>
          <a:ln w="12700" cap="flat" cmpd="sng">
            <a:solidFill>
              <a:schemeClr val="accent2"/>
            </a:solidFill>
            <a:prstDash val="solid"/>
            <a:headEnd type="none" w="med" len="med"/>
            <a:tailEnd type="none" w="med" len="med"/>
          </a:ln>
        </p:spPr>
      </p:sp>
      <p:sp>
        <p:nvSpPr>
          <p:cNvPr id="83978" name="Text Box 12"/>
          <p:cNvSpPr txBox="1"/>
          <p:nvPr/>
        </p:nvSpPr>
        <p:spPr>
          <a:xfrm>
            <a:off x="603250" y="4138613"/>
            <a:ext cx="392113"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i</a:t>
            </a:r>
            <a:endParaRPr lang="en-US" altLang="zh-CN" sz="1800" i="1" baseline="-25000" dirty="0">
              <a:solidFill>
                <a:srgbClr val="FF0000"/>
              </a:solidFill>
              <a:latin typeface="Times New Roman" panose="02020603050405020304" pitchFamily="18" charset="0"/>
            </a:endParaRPr>
          </a:p>
        </p:txBody>
      </p:sp>
      <p:sp>
        <p:nvSpPr>
          <p:cNvPr id="83979" name="Oval 13"/>
          <p:cNvSpPr/>
          <p:nvPr/>
        </p:nvSpPr>
        <p:spPr>
          <a:xfrm>
            <a:off x="955675" y="426720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80" name="AutoShape 14"/>
          <p:cNvSpPr/>
          <p:nvPr/>
        </p:nvSpPr>
        <p:spPr>
          <a:xfrm rot="5400000">
            <a:off x="2765425" y="4456113"/>
            <a:ext cx="927100" cy="87471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81" name="Text Box 15"/>
          <p:cNvSpPr txBox="1"/>
          <p:nvPr/>
        </p:nvSpPr>
        <p:spPr>
          <a:xfrm>
            <a:off x="2733675" y="4462463"/>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3982" name="Line 16"/>
          <p:cNvSpPr/>
          <p:nvPr/>
        </p:nvSpPr>
        <p:spPr>
          <a:xfrm flipH="1">
            <a:off x="2628900" y="5124450"/>
            <a:ext cx="3175" cy="777875"/>
          </a:xfrm>
          <a:prstGeom prst="line">
            <a:avLst/>
          </a:prstGeom>
          <a:ln w="12700" cap="flat" cmpd="sng">
            <a:solidFill>
              <a:schemeClr val="accent2"/>
            </a:solidFill>
            <a:prstDash val="solid"/>
            <a:headEnd type="none" w="med" len="med"/>
            <a:tailEnd type="none" w="med" len="med"/>
          </a:ln>
        </p:spPr>
      </p:sp>
      <p:sp>
        <p:nvSpPr>
          <p:cNvPr id="83983" name="Rectangle 17"/>
          <p:cNvSpPr/>
          <p:nvPr/>
        </p:nvSpPr>
        <p:spPr>
          <a:xfrm>
            <a:off x="2566988" y="5368925"/>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84" name="Line 18"/>
          <p:cNvSpPr/>
          <p:nvPr/>
        </p:nvSpPr>
        <p:spPr>
          <a:xfrm>
            <a:off x="2495550" y="5902325"/>
            <a:ext cx="266700" cy="0"/>
          </a:xfrm>
          <a:prstGeom prst="line">
            <a:avLst/>
          </a:prstGeom>
          <a:ln w="19050" cap="flat" cmpd="sng">
            <a:solidFill>
              <a:srgbClr val="000080"/>
            </a:solidFill>
            <a:prstDash val="solid"/>
            <a:headEnd type="none" w="med" len="med"/>
            <a:tailEnd type="none" w="med" len="med"/>
          </a:ln>
        </p:spPr>
      </p:sp>
      <p:sp>
        <p:nvSpPr>
          <p:cNvPr id="83985" name="Rectangle 19"/>
          <p:cNvSpPr/>
          <p:nvPr/>
        </p:nvSpPr>
        <p:spPr>
          <a:xfrm rot="5400000">
            <a:off x="2279650" y="450215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86" name="Line 20"/>
          <p:cNvSpPr/>
          <p:nvPr/>
        </p:nvSpPr>
        <p:spPr>
          <a:xfrm flipH="1">
            <a:off x="1995488" y="4310063"/>
            <a:ext cx="6350" cy="1047750"/>
          </a:xfrm>
          <a:prstGeom prst="line">
            <a:avLst/>
          </a:prstGeom>
          <a:ln w="12700" cap="flat" cmpd="sng">
            <a:solidFill>
              <a:schemeClr val="accent2"/>
            </a:solidFill>
            <a:prstDash val="solid"/>
            <a:headEnd type="none" w="med" len="med"/>
            <a:tailEnd type="none" w="med" len="med"/>
          </a:ln>
        </p:spPr>
      </p:sp>
      <p:sp>
        <p:nvSpPr>
          <p:cNvPr id="83987" name="Line 21"/>
          <p:cNvSpPr/>
          <p:nvPr/>
        </p:nvSpPr>
        <p:spPr>
          <a:xfrm>
            <a:off x="1797050" y="4313238"/>
            <a:ext cx="204788" cy="0"/>
          </a:xfrm>
          <a:prstGeom prst="line">
            <a:avLst/>
          </a:prstGeom>
          <a:ln w="12700" cap="flat" cmpd="sng">
            <a:solidFill>
              <a:schemeClr val="accent2"/>
            </a:solidFill>
            <a:prstDash val="solid"/>
            <a:headEnd type="none" w="med" len="med"/>
            <a:tailEnd type="none" w="med" len="med"/>
          </a:ln>
        </p:spPr>
      </p:sp>
      <p:sp>
        <p:nvSpPr>
          <p:cNvPr id="83988" name="Oval 22"/>
          <p:cNvSpPr/>
          <p:nvPr/>
        </p:nvSpPr>
        <p:spPr>
          <a:xfrm>
            <a:off x="1708150"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89" name="Line 23"/>
          <p:cNvSpPr/>
          <p:nvPr/>
        </p:nvSpPr>
        <p:spPr>
          <a:xfrm>
            <a:off x="1797050" y="4664075"/>
            <a:ext cx="201613" cy="0"/>
          </a:xfrm>
          <a:prstGeom prst="line">
            <a:avLst/>
          </a:prstGeom>
          <a:ln w="12700" cap="flat" cmpd="sng">
            <a:solidFill>
              <a:schemeClr val="accent2"/>
            </a:solidFill>
            <a:prstDash val="solid"/>
            <a:headEnd type="none" w="med" len="med"/>
            <a:tailEnd type="none" w="med" len="med"/>
          </a:ln>
        </p:spPr>
      </p:sp>
      <p:sp>
        <p:nvSpPr>
          <p:cNvPr id="83990" name="Oval 24"/>
          <p:cNvSpPr/>
          <p:nvPr/>
        </p:nvSpPr>
        <p:spPr>
          <a:xfrm>
            <a:off x="1704975"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1" name="Line 25"/>
          <p:cNvSpPr/>
          <p:nvPr/>
        </p:nvSpPr>
        <p:spPr>
          <a:xfrm>
            <a:off x="1797050" y="5006975"/>
            <a:ext cx="201613" cy="0"/>
          </a:xfrm>
          <a:prstGeom prst="line">
            <a:avLst/>
          </a:prstGeom>
          <a:ln w="12700" cap="flat" cmpd="sng">
            <a:solidFill>
              <a:schemeClr val="accent2"/>
            </a:solidFill>
            <a:prstDash val="solid"/>
            <a:headEnd type="none" w="med" len="med"/>
            <a:tailEnd type="none" w="med" len="med"/>
          </a:ln>
        </p:spPr>
      </p:sp>
      <p:sp>
        <p:nvSpPr>
          <p:cNvPr id="83992" name="Oval 26"/>
          <p:cNvSpPr/>
          <p:nvPr/>
        </p:nvSpPr>
        <p:spPr>
          <a:xfrm>
            <a:off x="1704975"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3" name="Line 27"/>
          <p:cNvSpPr/>
          <p:nvPr/>
        </p:nvSpPr>
        <p:spPr>
          <a:xfrm>
            <a:off x="1793875" y="5357813"/>
            <a:ext cx="201613" cy="0"/>
          </a:xfrm>
          <a:prstGeom prst="line">
            <a:avLst/>
          </a:prstGeom>
          <a:ln w="12700" cap="flat" cmpd="sng">
            <a:solidFill>
              <a:schemeClr val="accent2"/>
            </a:solidFill>
            <a:prstDash val="solid"/>
            <a:headEnd type="none" w="med" len="med"/>
            <a:tailEnd type="none" w="med" len="med"/>
          </a:ln>
        </p:spPr>
      </p:sp>
      <p:sp>
        <p:nvSpPr>
          <p:cNvPr id="83994" name="Oval 28"/>
          <p:cNvSpPr/>
          <p:nvPr/>
        </p:nvSpPr>
        <p:spPr>
          <a:xfrm>
            <a:off x="1701800"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5" name="Line 29"/>
          <p:cNvSpPr/>
          <p:nvPr/>
        </p:nvSpPr>
        <p:spPr>
          <a:xfrm>
            <a:off x="1044575" y="4313238"/>
            <a:ext cx="360363" cy="0"/>
          </a:xfrm>
          <a:prstGeom prst="line">
            <a:avLst/>
          </a:prstGeom>
          <a:ln w="12700" cap="flat" cmpd="sng">
            <a:solidFill>
              <a:schemeClr val="accent2"/>
            </a:solidFill>
            <a:prstDash val="solid"/>
            <a:headEnd type="none" w="med" len="med"/>
            <a:tailEnd type="none" w="med" len="med"/>
          </a:ln>
        </p:spPr>
      </p:sp>
      <p:sp>
        <p:nvSpPr>
          <p:cNvPr id="83996" name="Oval 30"/>
          <p:cNvSpPr/>
          <p:nvPr/>
        </p:nvSpPr>
        <p:spPr>
          <a:xfrm>
            <a:off x="1411288" y="4265613"/>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7" name="Oval 31"/>
          <p:cNvSpPr/>
          <p:nvPr/>
        </p:nvSpPr>
        <p:spPr>
          <a:xfrm>
            <a:off x="1408113" y="46164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8" name="Oval 32"/>
          <p:cNvSpPr/>
          <p:nvPr/>
        </p:nvSpPr>
        <p:spPr>
          <a:xfrm>
            <a:off x="1408113" y="4959350"/>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3999" name="Line 33"/>
          <p:cNvSpPr/>
          <p:nvPr/>
        </p:nvSpPr>
        <p:spPr>
          <a:xfrm>
            <a:off x="1106488" y="5357813"/>
            <a:ext cx="292100" cy="0"/>
          </a:xfrm>
          <a:prstGeom prst="line">
            <a:avLst/>
          </a:prstGeom>
          <a:ln w="12700" cap="flat" cmpd="sng">
            <a:solidFill>
              <a:schemeClr val="accent2"/>
            </a:solidFill>
            <a:prstDash val="solid"/>
            <a:headEnd type="none" w="med" len="med"/>
            <a:tailEnd type="none" w="med" len="med"/>
          </a:ln>
        </p:spPr>
      </p:sp>
      <p:sp>
        <p:nvSpPr>
          <p:cNvPr id="84000" name="Oval 34"/>
          <p:cNvSpPr/>
          <p:nvPr/>
        </p:nvSpPr>
        <p:spPr>
          <a:xfrm>
            <a:off x="1404938" y="531018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01" name="Text Box 35"/>
          <p:cNvSpPr txBox="1"/>
          <p:nvPr/>
        </p:nvSpPr>
        <p:spPr>
          <a:xfrm>
            <a:off x="179388" y="4489450"/>
            <a:ext cx="784225"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4002" name="Oval 36"/>
          <p:cNvSpPr/>
          <p:nvPr/>
        </p:nvSpPr>
        <p:spPr>
          <a:xfrm>
            <a:off x="955675" y="46180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03" name="Line 37"/>
          <p:cNvSpPr/>
          <p:nvPr/>
        </p:nvSpPr>
        <p:spPr>
          <a:xfrm>
            <a:off x="1044575" y="4664075"/>
            <a:ext cx="360363" cy="0"/>
          </a:xfrm>
          <a:prstGeom prst="line">
            <a:avLst/>
          </a:prstGeom>
          <a:ln w="12700" cap="flat" cmpd="sng">
            <a:solidFill>
              <a:schemeClr val="accent2"/>
            </a:solidFill>
            <a:prstDash val="solid"/>
            <a:headEnd type="none" w="med" len="med"/>
            <a:tailEnd type="none" w="med" len="med"/>
          </a:ln>
        </p:spPr>
      </p:sp>
      <p:sp>
        <p:nvSpPr>
          <p:cNvPr id="84004" name="Text Box 38"/>
          <p:cNvSpPr txBox="1"/>
          <p:nvPr/>
        </p:nvSpPr>
        <p:spPr>
          <a:xfrm>
            <a:off x="227013" y="4832350"/>
            <a:ext cx="730250" cy="339725"/>
          </a:xfrm>
          <a:prstGeom prst="rect">
            <a:avLst/>
          </a:prstGeom>
          <a:noFill/>
          <a:ln w="9525">
            <a:noFill/>
          </a:ln>
        </p:spPr>
        <p:txBody>
          <a:bodyPr wrap="none">
            <a:spAutoFit/>
          </a:bodyPr>
          <a:p>
            <a:pPr eaLnBrk="1" hangingPunct="1">
              <a:lnSpc>
                <a:spcPct val="90000"/>
              </a:lnSpc>
            </a:pPr>
            <a:r>
              <a:rPr lang="en-US" altLang="zh-CN" sz="1800" i="1" dirty="0">
                <a:solidFill>
                  <a:srgbClr val="FF0000"/>
                </a:solidFill>
                <a:latin typeface="Times New Roman" panose="02020603050405020304" pitchFamily="18" charset="0"/>
              </a:rPr>
              <a:t>-U</a:t>
            </a:r>
            <a:r>
              <a:rPr lang="en-US" altLang="zh-CN" sz="1800" i="1" baseline="-25000" dirty="0">
                <a:solidFill>
                  <a:srgbClr val="FF0000"/>
                </a:solidFill>
                <a:latin typeface="Times New Roman" panose="02020603050405020304" pitchFamily="18" charset="0"/>
              </a:rPr>
              <a:t>REF</a:t>
            </a:r>
            <a:endParaRPr lang="en-US" altLang="zh-CN" sz="1800" i="1" baseline="-25000" dirty="0">
              <a:solidFill>
                <a:srgbClr val="FF0000"/>
              </a:solidFill>
              <a:latin typeface="Times New Roman" panose="02020603050405020304" pitchFamily="18" charset="0"/>
            </a:endParaRPr>
          </a:p>
        </p:txBody>
      </p:sp>
      <p:sp>
        <p:nvSpPr>
          <p:cNvPr id="84005" name="Oval 39"/>
          <p:cNvSpPr/>
          <p:nvPr/>
        </p:nvSpPr>
        <p:spPr>
          <a:xfrm>
            <a:off x="955675" y="49609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06" name="Line 40"/>
          <p:cNvSpPr/>
          <p:nvPr/>
        </p:nvSpPr>
        <p:spPr>
          <a:xfrm>
            <a:off x="1044575" y="5006975"/>
            <a:ext cx="360363" cy="0"/>
          </a:xfrm>
          <a:prstGeom prst="line">
            <a:avLst/>
          </a:prstGeom>
          <a:ln w="12700" cap="flat" cmpd="sng">
            <a:solidFill>
              <a:schemeClr val="accent2"/>
            </a:solidFill>
            <a:prstDash val="solid"/>
            <a:headEnd type="none" w="med" len="med"/>
            <a:tailEnd type="none" w="med" len="med"/>
          </a:ln>
        </p:spPr>
      </p:sp>
      <p:sp>
        <p:nvSpPr>
          <p:cNvPr id="84007" name="Line 41"/>
          <p:cNvSpPr/>
          <p:nvPr/>
        </p:nvSpPr>
        <p:spPr>
          <a:xfrm flipH="1">
            <a:off x="1106488" y="5357813"/>
            <a:ext cx="0" cy="314325"/>
          </a:xfrm>
          <a:prstGeom prst="line">
            <a:avLst/>
          </a:prstGeom>
          <a:ln w="12700" cap="flat" cmpd="sng">
            <a:solidFill>
              <a:schemeClr val="accent2"/>
            </a:solidFill>
            <a:prstDash val="solid"/>
            <a:headEnd type="none" w="med" len="med"/>
            <a:tailEnd type="none" w="med" len="med"/>
          </a:ln>
        </p:spPr>
      </p:sp>
      <p:sp>
        <p:nvSpPr>
          <p:cNvPr id="84008" name="Line 42"/>
          <p:cNvSpPr/>
          <p:nvPr/>
        </p:nvSpPr>
        <p:spPr>
          <a:xfrm>
            <a:off x="973138" y="5672138"/>
            <a:ext cx="266700" cy="0"/>
          </a:xfrm>
          <a:prstGeom prst="line">
            <a:avLst/>
          </a:prstGeom>
          <a:ln w="19050" cap="flat" cmpd="sng">
            <a:solidFill>
              <a:srgbClr val="000080"/>
            </a:solidFill>
            <a:prstDash val="solid"/>
            <a:headEnd type="none" w="med" len="med"/>
            <a:tailEnd type="none" w="med" len="med"/>
          </a:ln>
        </p:spPr>
      </p:sp>
      <p:sp>
        <p:nvSpPr>
          <p:cNvPr id="84009" name="Line 43"/>
          <p:cNvSpPr/>
          <p:nvPr/>
        </p:nvSpPr>
        <p:spPr>
          <a:xfrm flipV="1">
            <a:off x="1492250" y="4849813"/>
            <a:ext cx="266700" cy="128587"/>
          </a:xfrm>
          <a:prstGeom prst="line">
            <a:avLst/>
          </a:prstGeom>
          <a:ln w="19050" cap="flat" cmpd="sng">
            <a:solidFill>
              <a:srgbClr val="000080"/>
            </a:solidFill>
            <a:prstDash val="solid"/>
            <a:headEnd type="none" w="med" len="med"/>
            <a:tailEnd type="none" w="med" len="med"/>
          </a:ln>
        </p:spPr>
      </p:sp>
      <p:sp>
        <p:nvSpPr>
          <p:cNvPr id="84010" name="Line 44"/>
          <p:cNvSpPr/>
          <p:nvPr/>
        </p:nvSpPr>
        <p:spPr>
          <a:xfrm flipV="1">
            <a:off x="1489075" y="5203825"/>
            <a:ext cx="266700" cy="128588"/>
          </a:xfrm>
          <a:prstGeom prst="line">
            <a:avLst/>
          </a:prstGeom>
          <a:ln w="19050" cap="flat" cmpd="sng">
            <a:solidFill>
              <a:srgbClr val="000080"/>
            </a:solidFill>
            <a:prstDash val="solid"/>
            <a:headEnd type="none" w="med" len="med"/>
            <a:tailEnd type="none" w="med" len="med"/>
          </a:ln>
        </p:spPr>
      </p:sp>
      <p:sp>
        <p:nvSpPr>
          <p:cNvPr id="84011" name="Text Box 45"/>
          <p:cNvSpPr txBox="1"/>
          <p:nvPr/>
        </p:nvSpPr>
        <p:spPr>
          <a:xfrm>
            <a:off x="1112838" y="3952875"/>
            <a:ext cx="38893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4012" name="Text Box 46"/>
          <p:cNvSpPr txBox="1"/>
          <p:nvPr/>
        </p:nvSpPr>
        <p:spPr>
          <a:xfrm>
            <a:off x="1112838" y="43291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4013" name="Text Box 47"/>
          <p:cNvSpPr txBox="1"/>
          <p:nvPr/>
        </p:nvSpPr>
        <p:spPr>
          <a:xfrm>
            <a:off x="1116013" y="469106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84014" name="Text Box 48"/>
          <p:cNvSpPr txBox="1"/>
          <p:nvPr/>
        </p:nvSpPr>
        <p:spPr>
          <a:xfrm>
            <a:off x="1116013" y="5027613"/>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84015" name="Text Box 49"/>
          <p:cNvSpPr txBox="1"/>
          <p:nvPr/>
        </p:nvSpPr>
        <p:spPr>
          <a:xfrm>
            <a:off x="2181225" y="4313238"/>
            <a:ext cx="31908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endParaRPr lang="en-US" altLang="zh-CN" sz="1600" baseline="-25000" dirty="0">
              <a:solidFill>
                <a:srgbClr val="FF0000"/>
              </a:solidFill>
              <a:latin typeface="Times New Roman" panose="02020603050405020304" pitchFamily="18" charset="0"/>
            </a:endParaRPr>
          </a:p>
        </p:txBody>
      </p:sp>
      <p:sp>
        <p:nvSpPr>
          <p:cNvPr id="84016" name="Text Box 50"/>
          <p:cNvSpPr txBox="1"/>
          <p:nvPr/>
        </p:nvSpPr>
        <p:spPr>
          <a:xfrm>
            <a:off x="2225675" y="5349875"/>
            <a:ext cx="38893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84017" name="Line 51"/>
          <p:cNvSpPr/>
          <p:nvPr/>
        </p:nvSpPr>
        <p:spPr>
          <a:xfrm flipH="1">
            <a:off x="2625725" y="3700463"/>
            <a:ext cx="0" cy="962025"/>
          </a:xfrm>
          <a:prstGeom prst="line">
            <a:avLst/>
          </a:prstGeom>
          <a:ln w="12700" cap="flat" cmpd="sng">
            <a:solidFill>
              <a:schemeClr val="accent2"/>
            </a:solidFill>
            <a:prstDash val="solid"/>
            <a:headEnd type="none" w="med" len="med"/>
            <a:tailEnd type="none" w="med" len="med"/>
          </a:ln>
        </p:spPr>
      </p:sp>
      <p:sp>
        <p:nvSpPr>
          <p:cNvPr id="84018" name="Rectangle 52"/>
          <p:cNvSpPr/>
          <p:nvPr/>
        </p:nvSpPr>
        <p:spPr>
          <a:xfrm rot="5400000">
            <a:off x="4002088" y="4737100"/>
            <a:ext cx="120650" cy="317500"/>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19" name="Line 53"/>
          <p:cNvSpPr/>
          <p:nvPr/>
        </p:nvSpPr>
        <p:spPr>
          <a:xfrm flipH="1">
            <a:off x="3779838" y="3700463"/>
            <a:ext cx="6350" cy="1193800"/>
          </a:xfrm>
          <a:prstGeom prst="line">
            <a:avLst/>
          </a:prstGeom>
          <a:ln w="12700" cap="flat" cmpd="sng">
            <a:solidFill>
              <a:schemeClr val="accent2"/>
            </a:solidFill>
            <a:prstDash val="solid"/>
            <a:headEnd type="none" w="med" len="med"/>
            <a:tailEnd type="none" w="med" len="med"/>
          </a:ln>
        </p:spPr>
      </p:sp>
      <p:sp>
        <p:nvSpPr>
          <p:cNvPr id="84020" name="Line 54"/>
          <p:cNvSpPr/>
          <p:nvPr/>
        </p:nvSpPr>
        <p:spPr>
          <a:xfrm>
            <a:off x="3414713" y="3700463"/>
            <a:ext cx="371475" cy="0"/>
          </a:xfrm>
          <a:prstGeom prst="line">
            <a:avLst/>
          </a:prstGeom>
          <a:ln w="12700" cap="flat" cmpd="sng">
            <a:solidFill>
              <a:schemeClr val="accent2"/>
            </a:solidFill>
            <a:prstDash val="solid"/>
            <a:headEnd type="none" w="med" len="med"/>
            <a:tailEnd type="none" w="med" len="med"/>
          </a:ln>
        </p:spPr>
      </p:sp>
      <p:sp>
        <p:nvSpPr>
          <p:cNvPr id="84021" name="Oval 55"/>
          <p:cNvSpPr/>
          <p:nvPr/>
        </p:nvSpPr>
        <p:spPr>
          <a:xfrm>
            <a:off x="3325813"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22" name="Line 56"/>
          <p:cNvSpPr/>
          <p:nvPr/>
        </p:nvSpPr>
        <p:spPr>
          <a:xfrm>
            <a:off x="2625725" y="3700463"/>
            <a:ext cx="403225" cy="0"/>
          </a:xfrm>
          <a:prstGeom prst="line">
            <a:avLst/>
          </a:prstGeom>
          <a:ln w="12700" cap="flat" cmpd="sng">
            <a:solidFill>
              <a:schemeClr val="accent2"/>
            </a:solidFill>
            <a:prstDash val="solid"/>
            <a:headEnd type="none" w="med" len="med"/>
            <a:tailEnd type="none" w="med" len="med"/>
          </a:ln>
        </p:spPr>
      </p:sp>
      <p:sp>
        <p:nvSpPr>
          <p:cNvPr id="84023" name="Oval 57"/>
          <p:cNvSpPr/>
          <p:nvPr/>
        </p:nvSpPr>
        <p:spPr>
          <a:xfrm>
            <a:off x="3028950" y="3652838"/>
            <a:ext cx="88900" cy="88900"/>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24" name="Line 58"/>
          <p:cNvSpPr/>
          <p:nvPr/>
        </p:nvSpPr>
        <p:spPr>
          <a:xfrm flipV="1">
            <a:off x="3111500" y="3538538"/>
            <a:ext cx="266700" cy="128587"/>
          </a:xfrm>
          <a:prstGeom prst="line">
            <a:avLst/>
          </a:prstGeom>
          <a:ln w="19050" cap="flat" cmpd="sng">
            <a:solidFill>
              <a:srgbClr val="000080"/>
            </a:solidFill>
            <a:prstDash val="solid"/>
            <a:headEnd type="none" w="med" len="med"/>
            <a:tailEnd type="none" w="med" len="med"/>
          </a:ln>
        </p:spPr>
      </p:sp>
      <p:sp>
        <p:nvSpPr>
          <p:cNvPr id="84025" name="Text Box 59"/>
          <p:cNvSpPr txBox="1"/>
          <p:nvPr/>
        </p:nvSpPr>
        <p:spPr>
          <a:xfrm>
            <a:off x="2730500" y="3357563"/>
            <a:ext cx="388938"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4026" name="Line 60"/>
          <p:cNvSpPr/>
          <p:nvPr/>
        </p:nvSpPr>
        <p:spPr>
          <a:xfrm>
            <a:off x="3262313" y="4102100"/>
            <a:ext cx="520700" cy="0"/>
          </a:xfrm>
          <a:prstGeom prst="line">
            <a:avLst/>
          </a:prstGeom>
          <a:ln w="12700" cap="flat" cmpd="sng">
            <a:solidFill>
              <a:schemeClr val="accent2"/>
            </a:solidFill>
            <a:prstDash val="solid"/>
            <a:headEnd type="none" w="med" len="med"/>
            <a:tailEnd type="none" w="med" len="med"/>
          </a:ln>
        </p:spPr>
      </p:sp>
      <p:sp>
        <p:nvSpPr>
          <p:cNvPr id="84027" name="Line 61"/>
          <p:cNvSpPr/>
          <p:nvPr/>
        </p:nvSpPr>
        <p:spPr>
          <a:xfrm>
            <a:off x="2622550" y="4102100"/>
            <a:ext cx="527050" cy="0"/>
          </a:xfrm>
          <a:prstGeom prst="line">
            <a:avLst/>
          </a:prstGeom>
          <a:ln w="12700" cap="flat" cmpd="sng">
            <a:solidFill>
              <a:schemeClr val="accent2"/>
            </a:solidFill>
            <a:prstDash val="solid"/>
            <a:headEnd type="none" w="med" len="med"/>
            <a:tailEnd type="none" w="med" len="med"/>
          </a:ln>
        </p:spPr>
      </p:sp>
      <p:sp>
        <p:nvSpPr>
          <p:cNvPr id="84028" name="Line 62"/>
          <p:cNvSpPr/>
          <p:nvPr/>
        </p:nvSpPr>
        <p:spPr>
          <a:xfrm flipV="1">
            <a:off x="3149600" y="3938588"/>
            <a:ext cx="0" cy="312737"/>
          </a:xfrm>
          <a:prstGeom prst="line">
            <a:avLst/>
          </a:prstGeom>
          <a:ln w="19050" cap="flat" cmpd="sng">
            <a:solidFill>
              <a:srgbClr val="000080"/>
            </a:solidFill>
            <a:prstDash val="solid"/>
            <a:headEnd type="none" w="med" len="med"/>
            <a:tailEnd type="none" w="med" len="med"/>
          </a:ln>
        </p:spPr>
      </p:sp>
      <p:sp>
        <p:nvSpPr>
          <p:cNvPr id="84029" name="Line 63"/>
          <p:cNvSpPr/>
          <p:nvPr/>
        </p:nvSpPr>
        <p:spPr>
          <a:xfrm flipV="1">
            <a:off x="3262313" y="3938588"/>
            <a:ext cx="0" cy="312737"/>
          </a:xfrm>
          <a:prstGeom prst="line">
            <a:avLst/>
          </a:prstGeom>
          <a:ln w="19050" cap="flat" cmpd="sng">
            <a:solidFill>
              <a:srgbClr val="000080"/>
            </a:solidFill>
            <a:prstDash val="solid"/>
            <a:headEnd type="none" w="med" len="med"/>
            <a:tailEnd type="none" w="med" len="med"/>
          </a:ln>
        </p:spPr>
      </p:sp>
      <p:sp>
        <p:nvSpPr>
          <p:cNvPr id="84030" name="Text Box 64"/>
          <p:cNvSpPr txBox="1"/>
          <p:nvPr/>
        </p:nvSpPr>
        <p:spPr>
          <a:xfrm>
            <a:off x="2840038" y="3765550"/>
            <a:ext cx="319087"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C</a:t>
            </a:r>
            <a:endParaRPr lang="en-US" altLang="zh-CN" sz="1600" baseline="-25000" dirty="0">
              <a:solidFill>
                <a:srgbClr val="FF0000"/>
              </a:solidFill>
              <a:latin typeface="Times New Roman" panose="02020603050405020304" pitchFamily="18" charset="0"/>
            </a:endParaRPr>
          </a:p>
        </p:txBody>
      </p:sp>
      <p:sp>
        <p:nvSpPr>
          <p:cNvPr id="2473025" name="Text Box 65"/>
          <p:cNvSpPr txBox="1">
            <a:spLocks noChangeArrowheads="1"/>
          </p:cNvSpPr>
          <p:nvPr/>
        </p:nvSpPr>
        <p:spPr bwMode="auto">
          <a:xfrm>
            <a:off x="2789238" y="4757738"/>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积分器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4032" name="Line 66"/>
          <p:cNvSpPr/>
          <p:nvPr/>
        </p:nvSpPr>
        <p:spPr>
          <a:xfrm>
            <a:off x="4186238" y="5351463"/>
            <a:ext cx="292100" cy="0"/>
          </a:xfrm>
          <a:prstGeom prst="line">
            <a:avLst/>
          </a:prstGeom>
          <a:ln w="12700" cap="flat" cmpd="sng">
            <a:solidFill>
              <a:schemeClr val="accent2"/>
            </a:solidFill>
            <a:prstDash val="solid"/>
            <a:headEnd type="none" w="med" len="med"/>
            <a:tailEnd type="none" w="med" len="med"/>
          </a:ln>
        </p:spPr>
      </p:sp>
      <p:sp>
        <p:nvSpPr>
          <p:cNvPr id="84033" name="AutoShape 67"/>
          <p:cNvSpPr/>
          <p:nvPr/>
        </p:nvSpPr>
        <p:spPr>
          <a:xfrm rot="5400000">
            <a:off x="4354513" y="4683125"/>
            <a:ext cx="927100" cy="874713"/>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34" name="Text Box 68"/>
          <p:cNvSpPr txBox="1"/>
          <p:nvPr/>
        </p:nvSpPr>
        <p:spPr>
          <a:xfrm>
            <a:off x="4322763" y="4689475"/>
            <a:ext cx="314325" cy="835025"/>
          </a:xfrm>
          <a:prstGeom prst="rect">
            <a:avLst/>
          </a:prstGeom>
          <a:noFill/>
          <a:ln w="9525">
            <a:noFill/>
          </a:ln>
        </p:spPr>
        <p:txBody>
          <a:bodyPr wrap="none">
            <a:spAutoFit/>
          </a:bodyPr>
          <a:p>
            <a:pPr eaLnBrk="1" hangingPunct="1">
              <a:lnSpc>
                <a:spcPct val="90000"/>
              </a:lnSpc>
            </a:pPr>
            <a:r>
              <a:rPr lang="en-US" altLang="zh-CN" sz="1000" dirty="0">
                <a:latin typeface="Times New Roman" panose="02020603050405020304" pitchFamily="18" charset="0"/>
              </a:rPr>
              <a:t> </a:t>
            </a: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a:p>
            <a:pPr eaLnBrk="1" hangingPunct="1">
              <a:lnSpc>
                <a:spcPct val="90000"/>
              </a:lnSpc>
            </a:pPr>
            <a:endParaRPr lang="en-US" altLang="zh-CN" sz="1800" dirty="0">
              <a:latin typeface="Times New Roman" panose="02020603050405020304" pitchFamily="18" charset="0"/>
            </a:endParaRPr>
          </a:p>
          <a:p>
            <a:pPr eaLnBrk="1" hangingPunct="1">
              <a:lnSpc>
                <a:spcPct val="90000"/>
              </a:lnSpc>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4035" name="Line 69"/>
          <p:cNvSpPr/>
          <p:nvPr/>
        </p:nvSpPr>
        <p:spPr>
          <a:xfrm flipH="1">
            <a:off x="4186238" y="5351463"/>
            <a:ext cx="3175" cy="777875"/>
          </a:xfrm>
          <a:prstGeom prst="line">
            <a:avLst/>
          </a:prstGeom>
          <a:ln w="12700" cap="flat" cmpd="sng">
            <a:solidFill>
              <a:schemeClr val="accent2"/>
            </a:solidFill>
            <a:prstDash val="solid"/>
            <a:headEnd type="none" w="med" len="med"/>
            <a:tailEnd type="none" w="med" len="med"/>
          </a:ln>
        </p:spPr>
      </p:sp>
      <p:sp>
        <p:nvSpPr>
          <p:cNvPr id="84036" name="Rectangle 70"/>
          <p:cNvSpPr/>
          <p:nvPr/>
        </p:nvSpPr>
        <p:spPr>
          <a:xfrm>
            <a:off x="4124325" y="5595938"/>
            <a:ext cx="123825" cy="3175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37" name="Line 71"/>
          <p:cNvSpPr/>
          <p:nvPr/>
        </p:nvSpPr>
        <p:spPr>
          <a:xfrm>
            <a:off x="4052888" y="6129338"/>
            <a:ext cx="266700" cy="0"/>
          </a:xfrm>
          <a:prstGeom prst="line">
            <a:avLst/>
          </a:prstGeom>
          <a:ln w="19050" cap="flat" cmpd="sng">
            <a:solidFill>
              <a:srgbClr val="000080"/>
            </a:solidFill>
            <a:prstDash val="solid"/>
            <a:headEnd type="none" w="med" len="med"/>
            <a:tailEnd type="none" w="med" len="med"/>
          </a:ln>
        </p:spPr>
      </p:sp>
      <p:sp>
        <p:nvSpPr>
          <p:cNvPr id="84038" name="Text Box 72"/>
          <p:cNvSpPr txBox="1"/>
          <p:nvPr/>
        </p:nvSpPr>
        <p:spPr>
          <a:xfrm>
            <a:off x="3783013" y="557688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73033" name="Text Box 73"/>
          <p:cNvSpPr txBox="1">
            <a:spLocks noChangeArrowheads="1"/>
          </p:cNvSpPr>
          <p:nvPr/>
        </p:nvSpPr>
        <p:spPr bwMode="auto">
          <a:xfrm>
            <a:off x="4378325" y="4984750"/>
            <a:ext cx="717550" cy="284163"/>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1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4040" name="Text Box 74"/>
          <p:cNvSpPr txBox="1"/>
          <p:nvPr/>
        </p:nvSpPr>
        <p:spPr>
          <a:xfrm>
            <a:off x="3871913" y="4541838"/>
            <a:ext cx="388937" cy="312737"/>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R</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84041" name="Rectangle 75"/>
          <p:cNvSpPr/>
          <p:nvPr/>
        </p:nvSpPr>
        <p:spPr>
          <a:xfrm>
            <a:off x="5432425" y="4943475"/>
            <a:ext cx="1081088"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4042" name="Rectangle 76"/>
          <p:cNvSpPr/>
          <p:nvPr/>
        </p:nvSpPr>
        <p:spPr>
          <a:xfrm>
            <a:off x="5273675" y="4938713"/>
            <a:ext cx="1257300" cy="339725"/>
          </a:xfrm>
          <a:prstGeom prst="rect">
            <a:avLst/>
          </a:prstGeom>
          <a:noFill/>
          <a:ln w="9525">
            <a:noFill/>
          </a:ln>
        </p:spPr>
        <p:txBody>
          <a:bodyPr>
            <a:spAutoFit/>
          </a:bodyPr>
          <a:p>
            <a:pPr algn="r" eaLnBrk="1" hangingPunct="1">
              <a:lnSpc>
                <a:spcPct val="90000"/>
              </a:lnSpc>
            </a:pPr>
            <a:r>
              <a:rPr lang="zh-CN" altLang="en-US" sz="1800" dirty="0">
                <a:solidFill>
                  <a:srgbClr val="FF0000"/>
                </a:solidFill>
                <a:latin typeface="Times New Roman" panose="02020603050405020304" pitchFamily="18" charset="0"/>
              </a:rPr>
              <a:t>控制电路</a:t>
            </a:r>
            <a:endParaRPr lang="zh-CN" altLang="en-US" sz="1800" dirty="0">
              <a:solidFill>
                <a:srgbClr val="FF0000"/>
              </a:solidFill>
              <a:latin typeface="Times New Roman" panose="02020603050405020304" pitchFamily="18" charset="0"/>
            </a:endParaRPr>
          </a:p>
        </p:txBody>
      </p:sp>
      <p:sp>
        <p:nvSpPr>
          <p:cNvPr id="84043" name="Line 77"/>
          <p:cNvSpPr/>
          <p:nvPr/>
        </p:nvSpPr>
        <p:spPr>
          <a:xfrm flipV="1">
            <a:off x="5541963" y="4267200"/>
            <a:ext cx="0" cy="666750"/>
          </a:xfrm>
          <a:prstGeom prst="line">
            <a:avLst/>
          </a:prstGeom>
          <a:ln w="12700" cap="flat" cmpd="sng">
            <a:solidFill>
              <a:schemeClr val="accent2"/>
            </a:solidFill>
            <a:prstDash val="solid"/>
            <a:headEnd type="none" w="med" len="med"/>
            <a:tailEnd type="stealth" w="med" len="lg"/>
          </a:ln>
        </p:spPr>
      </p:sp>
      <p:sp>
        <p:nvSpPr>
          <p:cNvPr id="84044" name="Line 78"/>
          <p:cNvSpPr/>
          <p:nvPr/>
        </p:nvSpPr>
        <p:spPr>
          <a:xfrm flipV="1">
            <a:off x="5757863" y="4264025"/>
            <a:ext cx="0" cy="666750"/>
          </a:xfrm>
          <a:prstGeom prst="line">
            <a:avLst/>
          </a:prstGeom>
          <a:ln w="12700" cap="flat" cmpd="sng">
            <a:solidFill>
              <a:schemeClr val="accent2"/>
            </a:solidFill>
            <a:prstDash val="solid"/>
            <a:headEnd type="none" w="med" len="med"/>
            <a:tailEnd type="stealth" w="med" len="lg"/>
          </a:ln>
        </p:spPr>
      </p:sp>
      <p:sp>
        <p:nvSpPr>
          <p:cNvPr id="84045" name="Line 79"/>
          <p:cNvSpPr/>
          <p:nvPr/>
        </p:nvSpPr>
        <p:spPr>
          <a:xfrm flipV="1">
            <a:off x="5975350" y="4270375"/>
            <a:ext cx="0" cy="666750"/>
          </a:xfrm>
          <a:prstGeom prst="line">
            <a:avLst/>
          </a:prstGeom>
          <a:ln w="12700" cap="flat" cmpd="sng">
            <a:solidFill>
              <a:schemeClr val="accent2"/>
            </a:solidFill>
            <a:prstDash val="solid"/>
            <a:headEnd type="none" w="med" len="med"/>
            <a:tailEnd type="stealth" w="med" len="lg"/>
          </a:ln>
        </p:spPr>
      </p:sp>
      <p:sp>
        <p:nvSpPr>
          <p:cNvPr id="84046" name="Line 80"/>
          <p:cNvSpPr/>
          <p:nvPr/>
        </p:nvSpPr>
        <p:spPr>
          <a:xfrm flipV="1">
            <a:off x="6189663" y="4267200"/>
            <a:ext cx="0" cy="666750"/>
          </a:xfrm>
          <a:prstGeom prst="line">
            <a:avLst/>
          </a:prstGeom>
          <a:ln w="12700" cap="flat" cmpd="sng">
            <a:solidFill>
              <a:schemeClr val="accent2"/>
            </a:solidFill>
            <a:prstDash val="solid"/>
            <a:headEnd type="none" w="med" len="med"/>
            <a:tailEnd type="stealth" w="med" len="lg"/>
          </a:ln>
        </p:spPr>
      </p:sp>
      <p:sp>
        <p:nvSpPr>
          <p:cNvPr id="84047" name="Line 81"/>
          <p:cNvSpPr/>
          <p:nvPr/>
        </p:nvSpPr>
        <p:spPr>
          <a:xfrm flipV="1">
            <a:off x="6405563" y="4264025"/>
            <a:ext cx="0" cy="666750"/>
          </a:xfrm>
          <a:prstGeom prst="line">
            <a:avLst/>
          </a:prstGeom>
          <a:ln w="12700" cap="flat" cmpd="sng">
            <a:solidFill>
              <a:schemeClr val="accent2"/>
            </a:solidFill>
            <a:prstDash val="solid"/>
            <a:headEnd type="none" w="med" len="med"/>
            <a:tailEnd type="stealth" w="med" len="lg"/>
          </a:ln>
        </p:spPr>
      </p:sp>
      <p:sp>
        <p:nvSpPr>
          <p:cNvPr id="84048" name="Text Box 82"/>
          <p:cNvSpPr txBox="1"/>
          <p:nvPr/>
        </p:nvSpPr>
        <p:spPr>
          <a:xfrm>
            <a:off x="5292725" y="3978275"/>
            <a:ext cx="1389063"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1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2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3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4 </a:t>
            </a:r>
            <a:r>
              <a:rPr lang="en-US" altLang="zh-CN" sz="1600" i="1" dirty="0">
                <a:solidFill>
                  <a:srgbClr val="FF0000"/>
                </a:solidFill>
                <a:latin typeface="Times New Roman" panose="02020603050405020304" pitchFamily="18" charset="0"/>
              </a:rPr>
              <a:t>K</a:t>
            </a:r>
            <a:r>
              <a:rPr lang="en-US" altLang="zh-CN" sz="1600" baseline="-25000" dirty="0">
                <a:solidFill>
                  <a:srgbClr val="FF0000"/>
                </a:solidFill>
                <a:latin typeface="Times New Roman" panose="02020603050405020304" pitchFamily="18" charset="0"/>
              </a:rPr>
              <a:t>5</a:t>
            </a:r>
            <a:endParaRPr lang="en-US" altLang="zh-CN" sz="1600" baseline="-25000" dirty="0">
              <a:solidFill>
                <a:srgbClr val="FF0000"/>
              </a:solidFill>
              <a:latin typeface="Times New Roman" panose="02020603050405020304" pitchFamily="18" charset="0"/>
            </a:endParaRPr>
          </a:p>
        </p:txBody>
      </p:sp>
      <p:sp>
        <p:nvSpPr>
          <p:cNvPr id="84049" name="Rectangle 83"/>
          <p:cNvSpPr/>
          <p:nvPr/>
        </p:nvSpPr>
        <p:spPr>
          <a:xfrm>
            <a:off x="6767513" y="4684713"/>
            <a:ext cx="406400" cy="85725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50" name="Rectangle 84"/>
          <p:cNvSpPr/>
          <p:nvPr/>
        </p:nvSpPr>
        <p:spPr>
          <a:xfrm>
            <a:off x="6753225" y="4694238"/>
            <a:ext cx="458788" cy="8350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控制门</a:t>
            </a:r>
            <a:endParaRPr lang="zh-CN" altLang="en-US" sz="1800" dirty="0">
              <a:solidFill>
                <a:srgbClr val="FF0000"/>
              </a:solidFill>
              <a:latin typeface="Times New Roman" panose="02020603050405020304" pitchFamily="18" charset="0"/>
            </a:endParaRPr>
          </a:p>
        </p:txBody>
      </p:sp>
      <p:sp>
        <p:nvSpPr>
          <p:cNvPr id="84051" name="Rectangle 85"/>
          <p:cNvSpPr/>
          <p:nvPr/>
        </p:nvSpPr>
        <p:spPr>
          <a:xfrm>
            <a:off x="7440613" y="4946650"/>
            <a:ext cx="817562" cy="33178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4052" name="Rectangle 86"/>
          <p:cNvSpPr/>
          <p:nvPr/>
        </p:nvSpPr>
        <p:spPr>
          <a:xfrm>
            <a:off x="7402513" y="4946650"/>
            <a:ext cx="879475"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计数器</a:t>
            </a:r>
            <a:endParaRPr lang="zh-CN" altLang="en-US" sz="1800" dirty="0">
              <a:solidFill>
                <a:srgbClr val="FF0000"/>
              </a:solidFill>
              <a:latin typeface="Times New Roman" panose="02020603050405020304" pitchFamily="18" charset="0"/>
            </a:endParaRPr>
          </a:p>
        </p:txBody>
      </p:sp>
      <p:sp>
        <p:nvSpPr>
          <p:cNvPr id="84053" name="Rectangle 87"/>
          <p:cNvSpPr/>
          <p:nvPr/>
        </p:nvSpPr>
        <p:spPr>
          <a:xfrm>
            <a:off x="7269163" y="3938588"/>
            <a:ext cx="1008062" cy="33178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algn="ctr" eaLnBrk="1" hangingPunct="1">
              <a:lnSpc>
                <a:spcPct val="90000"/>
              </a:lnSpc>
            </a:pPr>
            <a:endParaRPr lang="zh-CN" altLang="zh-CN" sz="1600" dirty="0">
              <a:latin typeface="Times New Roman" panose="02020603050405020304" pitchFamily="18" charset="0"/>
            </a:endParaRPr>
          </a:p>
        </p:txBody>
      </p:sp>
      <p:sp>
        <p:nvSpPr>
          <p:cNvPr id="84054" name="Rectangle 88"/>
          <p:cNvSpPr/>
          <p:nvPr/>
        </p:nvSpPr>
        <p:spPr>
          <a:xfrm>
            <a:off x="7221538" y="3938588"/>
            <a:ext cx="1201737" cy="3397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时钟脉冲</a:t>
            </a:r>
            <a:endParaRPr lang="zh-CN" altLang="en-US" sz="1800" dirty="0">
              <a:solidFill>
                <a:srgbClr val="FF0000"/>
              </a:solidFill>
              <a:latin typeface="Times New Roman" panose="02020603050405020304" pitchFamily="18" charset="0"/>
            </a:endParaRPr>
          </a:p>
        </p:txBody>
      </p:sp>
      <p:sp>
        <p:nvSpPr>
          <p:cNvPr id="84055" name="Text Box 89"/>
          <p:cNvSpPr txBox="1"/>
          <p:nvPr/>
        </p:nvSpPr>
        <p:spPr>
          <a:xfrm>
            <a:off x="8518525" y="4210050"/>
            <a:ext cx="439738" cy="1825625"/>
          </a:xfrm>
          <a:prstGeom prst="rect">
            <a:avLst/>
          </a:prstGeom>
          <a:noFill/>
          <a:ln w="9525">
            <a:noFill/>
          </a:ln>
        </p:spPr>
        <p:txBody>
          <a:bodyPr>
            <a:spAutoFit/>
          </a:bodyPr>
          <a:p>
            <a:pPr eaLnBrk="1" hangingPunct="1">
              <a:lnSpc>
                <a:spcPct val="90000"/>
              </a:lnSpc>
            </a:pPr>
            <a:r>
              <a:rPr lang="zh-CN" altLang="en-US" sz="1800" dirty="0">
                <a:solidFill>
                  <a:srgbClr val="FF0000"/>
                </a:solidFill>
                <a:latin typeface="Times New Roman" panose="02020603050405020304" pitchFamily="18" charset="0"/>
              </a:rPr>
              <a:t>并</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行</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数</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字</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量</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输</a:t>
            </a:r>
            <a:endParaRPr lang="zh-CN" altLang="en-US" sz="1800" dirty="0">
              <a:solidFill>
                <a:srgbClr val="FF0000"/>
              </a:solidFill>
              <a:latin typeface="Times New Roman" panose="02020603050405020304" pitchFamily="18" charset="0"/>
            </a:endParaRPr>
          </a:p>
          <a:p>
            <a:pPr eaLnBrk="1" hangingPunct="1">
              <a:lnSpc>
                <a:spcPct val="90000"/>
              </a:lnSpc>
            </a:pPr>
            <a:r>
              <a:rPr lang="zh-CN" altLang="en-US" sz="1800" dirty="0">
                <a:solidFill>
                  <a:srgbClr val="FF0000"/>
                </a:solidFill>
                <a:latin typeface="Times New Roman" panose="02020603050405020304" pitchFamily="18" charset="0"/>
              </a:rPr>
              <a:t>出</a:t>
            </a:r>
            <a:endParaRPr lang="zh-CN" altLang="en-US" sz="1800" dirty="0">
              <a:solidFill>
                <a:srgbClr val="FF0000"/>
              </a:solidFill>
              <a:latin typeface="Times New Roman" panose="02020603050405020304" pitchFamily="18" charset="0"/>
            </a:endParaRPr>
          </a:p>
        </p:txBody>
      </p:sp>
      <p:sp>
        <p:nvSpPr>
          <p:cNvPr id="84056" name="Line 90"/>
          <p:cNvSpPr/>
          <p:nvPr/>
        </p:nvSpPr>
        <p:spPr>
          <a:xfrm flipH="1">
            <a:off x="6962775" y="4106863"/>
            <a:ext cx="3175" cy="577850"/>
          </a:xfrm>
          <a:prstGeom prst="line">
            <a:avLst/>
          </a:prstGeom>
          <a:ln w="12700" cap="flat" cmpd="sng">
            <a:solidFill>
              <a:schemeClr val="accent2"/>
            </a:solidFill>
            <a:prstDash val="solid"/>
            <a:headEnd type="none" w="med" len="med"/>
            <a:tailEnd type="stealth" w="med" len="lg"/>
          </a:ln>
        </p:spPr>
      </p:sp>
      <p:sp>
        <p:nvSpPr>
          <p:cNvPr id="84057" name="Line 91"/>
          <p:cNvSpPr/>
          <p:nvPr/>
        </p:nvSpPr>
        <p:spPr>
          <a:xfrm flipV="1">
            <a:off x="5673725" y="5281613"/>
            <a:ext cx="0" cy="598487"/>
          </a:xfrm>
          <a:prstGeom prst="line">
            <a:avLst/>
          </a:prstGeom>
          <a:ln w="12700" cap="flat" cmpd="sng">
            <a:solidFill>
              <a:schemeClr val="accent2"/>
            </a:solidFill>
            <a:prstDash val="solid"/>
            <a:headEnd type="none" w="med" len="med"/>
            <a:tailEnd type="stealth" w="med" len="lg"/>
          </a:ln>
        </p:spPr>
      </p:sp>
      <p:sp>
        <p:nvSpPr>
          <p:cNvPr id="84058" name="Line 92"/>
          <p:cNvSpPr/>
          <p:nvPr/>
        </p:nvSpPr>
        <p:spPr>
          <a:xfrm>
            <a:off x="5432425" y="5880100"/>
            <a:ext cx="241300" cy="0"/>
          </a:xfrm>
          <a:prstGeom prst="line">
            <a:avLst/>
          </a:prstGeom>
          <a:ln w="12700" cap="flat" cmpd="sng">
            <a:solidFill>
              <a:schemeClr val="accent2"/>
            </a:solidFill>
            <a:prstDash val="solid"/>
            <a:headEnd type="none" w="med" len="med"/>
            <a:tailEnd type="none" w="med" len="med"/>
          </a:ln>
        </p:spPr>
      </p:sp>
      <p:sp>
        <p:nvSpPr>
          <p:cNvPr id="84059" name="Text Box 93"/>
          <p:cNvSpPr txBox="1"/>
          <p:nvPr/>
        </p:nvSpPr>
        <p:spPr>
          <a:xfrm>
            <a:off x="4652963" y="5614988"/>
            <a:ext cx="876300" cy="533400"/>
          </a:xfrm>
          <a:prstGeom prst="rect">
            <a:avLst/>
          </a:prstGeom>
          <a:noFill/>
          <a:ln w="9525">
            <a:noFill/>
          </a:ln>
        </p:spPr>
        <p:txBody>
          <a:bodyPr>
            <a:spAutoFit/>
          </a:bodyPr>
          <a:p>
            <a:pPr algn="r" eaLnBrk="1" hangingPunct="1">
              <a:lnSpc>
                <a:spcPct val="90000"/>
              </a:lnSpc>
              <a:spcBef>
                <a:spcPct val="50000"/>
              </a:spcBef>
            </a:pPr>
            <a:r>
              <a:rPr lang="zh-CN" altLang="en-US" sz="1600" dirty="0">
                <a:solidFill>
                  <a:srgbClr val="FF0000"/>
                </a:solidFill>
                <a:latin typeface="Times New Roman" panose="02020603050405020304" pitchFamily="18" charset="0"/>
              </a:rPr>
              <a:t>转换控制信号</a:t>
            </a:r>
            <a:endParaRPr lang="zh-CN" altLang="en-US" sz="1600" dirty="0">
              <a:solidFill>
                <a:srgbClr val="FF0000"/>
              </a:solidFill>
              <a:latin typeface="Times New Roman" panose="02020603050405020304" pitchFamily="18" charset="0"/>
            </a:endParaRPr>
          </a:p>
        </p:txBody>
      </p:sp>
      <p:sp>
        <p:nvSpPr>
          <p:cNvPr id="84060" name="Line 94"/>
          <p:cNvSpPr/>
          <p:nvPr/>
        </p:nvSpPr>
        <p:spPr>
          <a:xfrm flipV="1">
            <a:off x="5975350" y="5275263"/>
            <a:ext cx="0" cy="598487"/>
          </a:xfrm>
          <a:prstGeom prst="line">
            <a:avLst/>
          </a:prstGeom>
          <a:ln w="12700" cap="flat" cmpd="sng">
            <a:solidFill>
              <a:schemeClr val="accent2"/>
            </a:solidFill>
            <a:prstDash val="solid"/>
            <a:headEnd type="none" w="med" len="med"/>
            <a:tailEnd type="stealth" w="med" len="lg"/>
          </a:ln>
        </p:spPr>
      </p:sp>
      <p:sp>
        <p:nvSpPr>
          <p:cNvPr id="84061" name="Line 95"/>
          <p:cNvSpPr/>
          <p:nvPr/>
        </p:nvSpPr>
        <p:spPr>
          <a:xfrm>
            <a:off x="5970588" y="5873750"/>
            <a:ext cx="2047875" cy="0"/>
          </a:xfrm>
          <a:prstGeom prst="line">
            <a:avLst/>
          </a:prstGeom>
          <a:ln w="12700" cap="flat" cmpd="sng">
            <a:solidFill>
              <a:schemeClr val="accent2"/>
            </a:solidFill>
            <a:prstDash val="solid"/>
            <a:headEnd type="none" w="med" len="med"/>
            <a:tailEnd type="none" w="med" len="med"/>
          </a:ln>
        </p:spPr>
      </p:sp>
      <p:sp>
        <p:nvSpPr>
          <p:cNvPr id="84062" name="Line 96"/>
          <p:cNvSpPr/>
          <p:nvPr/>
        </p:nvSpPr>
        <p:spPr>
          <a:xfrm flipH="1">
            <a:off x="6253163" y="5278438"/>
            <a:ext cx="0" cy="436562"/>
          </a:xfrm>
          <a:prstGeom prst="line">
            <a:avLst/>
          </a:prstGeom>
          <a:ln w="12700" cap="flat" cmpd="sng">
            <a:solidFill>
              <a:schemeClr val="accent2"/>
            </a:solidFill>
            <a:prstDash val="solid"/>
            <a:headEnd type="none" w="med" len="med"/>
            <a:tailEnd type="none" w="med" len="med"/>
          </a:ln>
        </p:spPr>
      </p:sp>
      <p:sp>
        <p:nvSpPr>
          <p:cNvPr id="84063" name="Line 97"/>
          <p:cNvSpPr/>
          <p:nvPr/>
        </p:nvSpPr>
        <p:spPr>
          <a:xfrm>
            <a:off x="6253163" y="5715000"/>
            <a:ext cx="1400175" cy="0"/>
          </a:xfrm>
          <a:prstGeom prst="line">
            <a:avLst/>
          </a:prstGeom>
          <a:ln w="12700" cap="flat" cmpd="sng">
            <a:solidFill>
              <a:schemeClr val="accent2"/>
            </a:solidFill>
            <a:prstDash val="solid"/>
            <a:headEnd type="none" w="med" len="med"/>
            <a:tailEnd type="none" w="med" len="med"/>
          </a:ln>
        </p:spPr>
      </p:sp>
      <p:sp>
        <p:nvSpPr>
          <p:cNvPr id="84064" name="Line 98"/>
          <p:cNvSpPr/>
          <p:nvPr/>
        </p:nvSpPr>
        <p:spPr>
          <a:xfrm flipV="1">
            <a:off x="6967538" y="5541963"/>
            <a:ext cx="0" cy="173037"/>
          </a:xfrm>
          <a:prstGeom prst="line">
            <a:avLst/>
          </a:prstGeom>
          <a:ln w="12700" cap="flat" cmpd="sng">
            <a:solidFill>
              <a:schemeClr val="accent2"/>
            </a:solidFill>
            <a:prstDash val="solid"/>
            <a:headEnd type="none" w="med" len="med"/>
            <a:tailEnd type="stealth" w="med" len="lg"/>
          </a:ln>
        </p:spPr>
      </p:sp>
      <p:sp>
        <p:nvSpPr>
          <p:cNvPr id="84065" name="Line 99"/>
          <p:cNvSpPr/>
          <p:nvPr/>
        </p:nvSpPr>
        <p:spPr>
          <a:xfrm flipV="1">
            <a:off x="7653338" y="5286375"/>
            <a:ext cx="0" cy="428625"/>
          </a:xfrm>
          <a:prstGeom prst="line">
            <a:avLst/>
          </a:prstGeom>
          <a:ln w="12700" cap="flat" cmpd="sng">
            <a:solidFill>
              <a:schemeClr val="accent2"/>
            </a:solidFill>
            <a:prstDash val="solid"/>
            <a:headEnd type="none" w="med" len="med"/>
            <a:tailEnd type="stealth" w="med" len="lg"/>
          </a:ln>
        </p:spPr>
      </p:sp>
      <p:sp>
        <p:nvSpPr>
          <p:cNvPr id="84066" name="Line 100"/>
          <p:cNvSpPr/>
          <p:nvPr/>
        </p:nvSpPr>
        <p:spPr>
          <a:xfrm flipH="1">
            <a:off x="8023225" y="5281613"/>
            <a:ext cx="0" cy="598487"/>
          </a:xfrm>
          <a:prstGeom prst="line">
            <a:avLst/>
          </a:prstGeom>
          <a:ln w="12700" cap="flat" cmpd="sng">
            <a:solidFill>
              <a:schemeClr val="accent2"/>
            </a:solidFill>
            <a:prstDash val="solid"/>
            <a:headEnd type="none" w="med" len="med"/>
            <a:tailEnd type="none" w="med" len="med"/>
          </a:ln>
        </p:spPr>
      </p:sp>
      <p:sp>
        <p:nvSpPr>
          <p:cNvPr id="84067" name="Text Box 101"/>
          <p:cNvSpPr txBox="1"/>
          <p:nvPr/>
        </p:nvSpPr>
        <p:spPr>
          <a:xfrm>
            <a:off x="7145338" y="5451475"/>
            <a:ext cx="781050" cy="284163"/>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复零</a:t>
            </a:r>
            <a:endParaRPr lang="zh-CN" altLang="en-US" sz="1400" dirty="0">
              <a:solidFill>
                <a:srgbClr val="FF0000"/>
              </a:solidFill>
              <a:latin typeface="Times New Roman" panose="02020603050405020304" pitchFamily="18" charset="0"/>
            </a:endParaRPr>
          </a:p>
        </p:txBody>
      </p:sp>
      <p:sp>
        <p:nvSpPr>
          <p:cNvPr id="84068" name="Oval 102"/>
          <p:cNvSpPr/>
          <p:nvPr/>
        </p:nvSpPr>
        <p:spPr>
          <a:xfrm>
            <a:off x="1979613" y="4645025"/>
            <a:ext cx="36512"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69" name="Oval 103"/>
          <p:cNvSpPr/>
          <p:nvPr/>
        </p:nvSpPr>
        <p:spPr>
          <a:xfrm>
            <a:off x="1976438" y="4986338"/>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0" name="Oval 104"/>
          <p:cNvSpPr/>
          <p:nvPr/>
        </p:nvSpPr>
        <p:spPr>
          <a:xfrm>
            <a:off x="2606675" y="46450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1" name="Oval 105"/>
          <p:cNvSpPr/>
          <p:nvPr/>
        </p:nvSpPr>
        <p:spPr>
          <a:xfrm>
            <a:off x="2606675" y="4081463"/>
            <a:ext cx="36513"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2" name="Oval 106"/>
          <p:cNvSpPr/>
          <p:nvPr/>
        </p:nvSpPr>
        <p:spPr>
          <a:xfrm>
            <a:off x="3763963" y="408146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3" name="Oval 107"/>
          <p:cNvSpPr/>
          <p:nvPr/>
        </p:nvSpPr>
        <p:spPr>
          <a:xfrm>
            <a:off x="3760788" y="4875213"/>
            <a:ext cx="36512" cy="36512"/>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4" name="Oval 108"/>
          <p:cNvSpPr/>
          <p:nvPr/>
        </p:nvSpPr>
        <p:spPr>
          <a:xfrm>
            <a:off x="6946900" y="5699125"/>
            <a:ext cx="36513" cy="36513"/>
          </a:xfrm>
          <a:prstGeom prst="ellipse">
            <a:avLst/>
          </a:prstGeom>
          <a:solidFill>
            <a:srgbClr val="000080"/>
          </a:solidFill>
          <a:ln w="19050" cap="flat" cmpd="sng">
            <a:solidFill>
              <a:srgbClr val="000080"/>
            </a:solidFill>
            <a:prstDash val="solid"/>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075" name="Text Box 109"/>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3. </a:t>
            </a:r>
            <a:r>
              <a:rPr lang="zh-CN" altLang="en-US" dirty="0">
                <a:solidFill>
                  <a:srgbClr val="FF0000"/>
                </a:solidFill>
                <a:latin typeface="Times New Roman" panose="02020603050405020304" pitchFamily="18" charset="0"/>
                <a:ea typeface="黑体" panose="02010609060101010101" pitchFamily="49" charset="-122"/>
              </a:rPr>
              <a:t>编码阶段：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473070" name="Line 110"/>
          <p:cNvSpPr/>
          <p:nvPr/>
        </p:nvSpPr>
        <p:spPr>
          <a:xfrm>
            <a:off x="4487863" y="1201738"/>
            <a:ext cx="4260850" cy="0"/>
          </a:xfrm>
          <a:prstGeom prst="line">
            <a:avLst/>
          </a:prstGeom>
          <a:ln w="12700" cap="flat" cmpd="sng">
            <a:solidFill>
              <a:schemeClr val="accent2"/>
            </a:solidFill>
            <a:prstDash val="solid"/>
            <a:headEnd type="none" w="med" len="med"/>
            <a:tailEnd type="stealth" w="med" len="lg"/>
          </a:ln>
        </p:spPr>
      </p:sp>
      <p:sp>
        <p:nvSpPr>
          <p:cNvPr id="2473071" name="Text Box 111"/>
          <p:cNvSpPr txBox="1"/>
          <p:nvPr/>
        </p:nvSpPr>
        <p:spPr>
          <a:xfrm>
            <a:off x="3325813" y="1016000"/>
            <a:ext cx="1311275"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积分器输入</a:t>
            </a:r>
            <a:endParaRPr lang="zh-CN" altLang="en-US" sz="1600" dirty="0">
              <a:latin typeface="Times New Roman" panose="02020603050405020304" pitchFamily="18" charset="0"/>
            </a:endParaRPr>
          </a:p>
        </p:txBody>
      </p:sp>
      <p:sp>
        <p:nvSpPr>
          <p:cNvPr id="2473072" name="Line 112"/>
          <p:cNvSpPr/>
          <p:nvPr/>
        </p:nvSpPr>
        <p:spPr>
          <a:xfrm>
            <a:off x="4892675" y="777875"/>
            <a:ext cx="3175" cy="2579688"/>
          </a:xfrm>
          <a:prstGeom prst="line">
            <a:avLst/>
          </a:prstGeom>
          <a:ln w="9525" cap="flat" cmpd="sng">
            <a:solidFill>
              <a:srgbClr val="FF0000"/>
            </a:solidFill>
            <a:prstDash val="dash"/>
            <a:headEnd type="none" w="med" len="med"/>
            <a:tailEnd type="none" w="med" len="med"/>
          </a:ln>
        </p:spPr>
      </p:sp>
      <p:grpSp>
        <p:nvGrpSpPr>
          <p:cNvPr id="2" name="Group 113"/>
          <p:cNvGrpSpPr/>
          <p:nvPr/>
        </p:nvGrpSpPr>
        <p:grpSpPr>
          <a:xfrm>
            <a:off x="4895850" y="1201738"/>
            <a:ext cx="2249488" cy="247650"/>
            <a:chOff x="3084" y="757"/>
            <a:chExt cx="1417" cy="156"/>
          </a:xfrm>
        </p:grpSpPr>
        <p:sp>
          <p:nvSpPr>
            <p:cNvPr id="84192" name="Line 114"/>
            <p:cNvSpPr/>
            <p:nvPr/>
          </p:nvSpPr>
          <p:spPr>
            <a:xfrm>
              <a:off x="3084" y="757"/>
              <a:ext cx="0" cy="156"/>
            </a:xfrm>
            <a:prstGeom prst="line">
              <a:avLst/>
            </a:prstGeom>
            <a:ln w="31750" cap="flat" cmpd="sng">
              <a:solidFill>
                <a:srgbClr val="008000"/>
              </a:solidFill>
              <a:prstDash val="solid"/>
              <a:headEnd type="none" w="med" len="med"/>
              <a:tailEnd type="none" w="med" len="med"/>
            </a:ln>
          </p:spPr>
        </p:sp>
        <p:sp>
          <p:nvSpPr>
            <p:cNvPr id="84193" name="Line 115"/>
            <p:cNvSpPr/>
            <p:nvPr/>
          </p:nvSpPr>
          <p:spPr>
            <a:xfrm>
              <a:off x="3084" y="913"/>
              <a:ext cx="1417" cy="0"/>
            </a:xfrm>
            <a:prstGeom prst="line">
              <a:avLst/>
            </a:prstGeom>
            <a:ln w="31750" cap="flat" cmpd="sng">
              <a:solidFill>
                <a:srgbClr val="008000"/>
              </a:solidFill>
              <a:prstDash val="solid"/>
              <a:headEnd type="none" w="med" len="med"/>
              <a:tailEnd type="none" w="med" len="med"/>
            </a:ln>
          </p:spPr>
        </p:sp>
      </p:grpSp>
      <p:grpSp>
        <p:nvGrpSpPr>
          <p:cNvPr id="3" name="Group 225"/>
          <p:cNvGrpSpPr/>
          <p:nvPr/>
        </p:nvGrpSpPr>
        <p:grpSpPr>
          <a:xfrm>
            <a:off x="7138988" y="671513"/>
            <a:ext cx="1111250" cy="777875"/>
            <a:chOff x="4497" y="423"/>
            <a:chExt cx="700" cy="490"/>
          </a:xfrm>
        </p:grpSpPr>
        <p:sp>
          <p:nvSpPr>
            <p:cNvPr id="84189" name="Line 116"/>
            <p:cNvSpPr/>
            <p:nvPr/>
          </p:nvSpPr>
          <p:spPr>
            <a:xfrm>
              <a:off x="4497" y="423"/>
              <a:ext cx="0" cy="490"/>
            </a:xfrm>
            <a:prstGeom prst="line">
              <a:avLst/>
            </a:prstGeom>
            <a:ln w="31750" cap="flat" cmpd="sng">
              <a:solidFill>
                <a:srgbClr val="008000"/>
              </a:solidFill>
              <a:prstDash val="solid"/>
              <a:headEnd type="none" w="med" len="med"/>
              <a:tailEnd type="none" w="med" len="med"/>
            </a:ln>
          </p:spPr>
        </p:sp>
        <p:sp>
          <p:nvSpPr>
            <p:cNvPr id="84190" name="Line 117"/>
            <p:cNvSpPr/>
            <p:nvPr/>
          </p:nvSpPr>
          <p:spPr>
            <a:xfrm>
              <a:off x="4497" y="423"/>
              <a:ext cx="700" cy="0"/>
            </a:xfrm>
            <a:prstGeom prst="line">
              <a:avLst/>
            </a:prstGeom>
            <a:ln w="31750" cap="flat" cmpd="sng">
              <a:solidFill>
                <a:srgbClr val="008000"/>
              </a:solidFill>
              <a:prstDash val="solid"/>
              <a:headEnd type="none" w="med" len="med"/>
              <a:tailEnd type="none" w="med" len="med"/>
            </a:ln>
          </p:spPr>
        </p:sp>
        <p:sp>
          <p:nvSpPr>
            <p:cNvPr id="84191" name="Line 118"/>
            <p:cNvSpPr/>
            <p:nvPr/>
          </p:nvSpPr>
          <p:spPr>
            <a:xfrm>
              <a:off x="5197" y="429"/>
              <a:ext cx="0" cy="328"/>
            </a:xfrm>
            <a:prstGeom prst="line">
              <a:avLst/>
            </a:prstGeom>
            <a:ln w="31750" cap="flat" cmpd="sng">
              <a:solidFill>
                <a:srgbClr val="008000"/>
              </a:solidFill>
              <a:prstDash val="solid"/>
              <a:headEnd type="none" w="med" len="med"/>
              <a:tailEnd type="none" w="med" len="med"/>
            </a:ln>
          </p:spPr>
        </p:sp>
      </p:grpSp>
      <p:sp>
        <p:nvSpPr>
          <p:cNvPr id="2473079" name="Line 119"/>
          <p:cNvSpPr/>
          <p:nvPr/>
        </p:nvSpPr>
        <p:spPr>
          <a:xfrm>
            <a:off x="4473575" y="2209800"/>
            <a:ext cx="4260850" cy="0"/>
          </a:xfrm>
          <a:prstGeom prst="line">
            <a:avLst/>
          </a:prstGeom>
          <a:ln w="12700" cap="flat" cmpd="sng">
            <a:solidFill>
              <a:schemeClr val="accent2"/>
            </a:solidFill>
            <a:prstDash val="solid"/>
            <a:headEnd type="none" w="med" len="med"/>
            <a:tailEnd type="stealth" w="med" len="lg"/>
          </a:ln>
        </p:spPr>
      </p:sp>
      <p:sp>
        <p:nvSpPr>
          <p:cNvPr id="2473080" name="Text Box 120"/>
          <p:cNvSpPr txBox="1"/>
          <p:nvPr/>
        </p:nvSpPr>
        <p:spPr>
          <a:xfrm>
            <a:off x="3311525" y="2024063"/>
            <a:ext cx="1311275" cy="31273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积分器输出</a:t>
            </a:r>
            <a:endParaRPr lang="zh-CN" altLang="en-US" sz="1600" dirty="0">
              <a:latin typeface="Times New Roman" panose="02020603050405020304" pitchFamily="18" charset="0"/>
            </a:endParaRPr>
          </a:p>
        </p:txBody>
      </p:sp>
      <p:sp>
        <p:nvSpPr>
          <p:cNvPr id="2473081" name="Line 121"/>
          <p:cNvSpPr/>
          <p:nvPr/>
        </p:nvSpPr>
        <p:spPr>
          <a:xfrm flipH="1">
            <a:off x="7132638" y="777875"/>
            <a:ext cx="6350" cy="2579688"/>
          </a:xfrm>
          <a:prstGeom prst="line">
            <a:avLst/>
          </a:prstGeom>
          <a:ln w="9525" cap="flat" cmpd="sng">
            <a:solidFill>
              <a:srgbClr val="FF0000"/>
            </a:solidFill>
            <a:prstDash val="dash"/>
            <a:headEnd type="none" w="med" len="med"/>
            <a:tailEnd type="none" w="med" len="med"/>
          </a:ln>
        </p:spPr>
      </p:sp>
      <p:sp>
        <p:nvSpPr>
          <p:cNvPr id="2473082" name="Line 122"/>
          <p:cNvSpPr/>
          <p:nvPr/>
        </p:nvSpPr>
        <p:spPr>
          <a:xfrm>
            <a:off x="8250238" y="1201738"/>
            <a:ext cx="0" cy="2155825"/>
          </a:xfrm>
          <a:prstGeom prst="line">
            <a:avLst/>
          </a:prstGeom>
          <a:ln w="9525" cap="flat" cmpd="sng">
            <a:solidFill>
              <a:srgbClr val="FF0000"/>
            </a:solidFill>
            <a:prstDash val="dash"/>
            <a:headEnd type="none" w="med" len="med"/>
            <a:tailEnd type="none" w="med" len="med"/>
          </a:ln>
        </p:spPr>
      </p:sp>
      <p:sp>
        <p:nvSpPr>
          <p:cNvPr id="2473083" name="Line 123"/>
          <p:cNvSpPr/>
          <p:nvPr/>
        </p:nvSpPr>
        <p:spPr>
          <a:xfrm flipV="1">
            <a:off x="4895850" y="1665288"/>
            <a:ext cx="2243138" cy="544512"/>
          </a:xfrm>
          <a:prstGeom prst="line">
            <a:avLst/>
          </a:prstGeom>
          <a:ln w="31750" cap="flat" cmpd="sng">
            <a:solidFill>
              <a:srgbClr val="FF00FF"/>
            </a:solidFill>
            <a:prstDash val="solid"/>
            <a:headEnd type="none" w="med" len="med"/>
            <a:tailEnd type="none" w="med" len="med"/>
          </a:ln>
        </p:spPr>
      </p:sp>
      <p:sp>
        <p:nvSpPr>
          <p:cNvPr id="2473084" name="Line 124"/>
          <p:cNvSpPr/>
          <p:nvPr/>
        </p:nvSpPr>
        <p:spPr>
          <a:xfrm>
            <a:off x="7138988" y="1665288"/>
            <a:ext cx="1111250" cy="544512"/>
          </a:xfrm>
          <a:prstGeom prst="line">
            <a:avLst/>
          </a:prstGeom>
          <a:ln w="31750" cap="flat" cmpd="sng">
            <a:solidFill>
              <a:srgbClr val="FF00FF"/>
            </a:solidFill>
            <a:prstDash val="solid"/>
            <a:headEnd type="none" w="med" len="med"/>
            <a:tailEnd type="none" w="med" len="med"/>
          </a:ln>
        </p:spPr>
      </p:sp>
      <p:sp>
        <p:nvSpPr>
          <p:cNvPr id="2473085" name="Text Box 125"/>
          <p:cNvSpPr txBox="1"/>
          <p:nvPr/>
        </p:nvSpPr>
        <p:spPr>
          <a:xfrm>
            <a:off x="4097338" y="2720975"/>
            <a:ext cx="869950"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计数器</a:t>
            </a:r>
            <a:endParaRPr lang="zh-CN" altLang="en-US" sz="1600" dirty="0">
              <a:latin typeface="Times New Roman" panose="02020603050405020304" pitchFamily="18" charset="0"/>
            </a:endParaRPr>
          </a:p>
        </p:txBody>
      </p:sp>
      <p:grpSp>
        <p:nvGrpSpPr>
          <p:cNvPr id="4" name="Group 126"/>
          <p:cNvGrpSpPr/>
          <p:nvPr/>
        </p:nvGrpSpPr>
        <p:grpSpPr>
          <a:xfrm>
            <a:off x="7154863" y="2787650"/>
            <a:ext cx="1082675" cy="168275"/>
            <a:chOff x="4507" y="1756"/>
            <a:chExt cx="682" cy="106"/>
          </a:xfrm>
        </p:grpSpPr>
        <p:sp>
          <p:nvSpPr>
            <p:cNvPr id="84163" name="Line 127"/>
            <p:cNvSpPr/>
            <p:nvPr/>
          </p:nvSpPr>
          <p:spPr>
            <a:xfrm flipV="1">
              <a:off x="4507" y="1756"/>
              <a:ext cx="0" cy="106"/>
            </a:xfrm>
            <a:prstGeom prst="line">
              <a:avLst/>
            </a:prstGeom>
            <a:ln w="25400" cap="flat" cmpd="sng">
              <a:solidFill>
                <a:schemeClr val="tx1"/>
              </a:solidFill>
              <a:prstDash val="solid"/>
              <a:headEnd type="none" w="med" len="med"/>
              <a:tailEnd type="none" w="med" len="med"/>
            </a:ln>
          </p:spPr>
        </p:sp>
        <p:sp>
          <p:nvSpPr>
            <p:cNvPr id="84164" name="Line 128"/>
            <p:cNvSpPr/>
            <p:nvPr/>
          </p:nvSpPr>
          <p:spPr>
            <a:xfrm flipV="1">
              <a:off x="4533" y="1756"/>
              <a:ext cx="0" cy="106"/>
            </a:xfrm>
            <a:prstGeom prst="line">
              <a:avLst/>
            </a:prstGeom>
            <a:ln w="25400" cap="flat" cmpd="sng">
              <a:solidFill>
                <a:schemeClr val="tx1"/>
              </a:solidFill>
              <a:prstDash val="solid"/>
              <a:headEnd type="none" w="med" len="med"/>
              <a:tailEnd type="none" w="med" len="med"/>
            </a:ln>
          </p:spPr>
        </p:sp>
        <p:sp>
          <p:nvSpPr>
            <p:cNvPr id="84165" name="Line 129"/>
            <p:cNvSpPr/>
            <p:nvPr/>
          </p:nvSpPr>
          <p:spPr>
            <a:xfrm flipV="1">
              <a:off x="4561" y="1756"/>
              <a:ext cx="0" cy="106"/>
            </a:xfrm>
            <a:prstGeom prst="line">
              <a:avLst/>
            </a:prstGeom>
            <a:ln w="25400" cap="flat" cmpd="sng">
              <a:solidFill>
                <a:schemeClr val="tx1"/>
              </a:solidFill>
              <a:prstDash val="solid"/>
              <a:headEnd type="none" w="med" len="med"/>
              <a:tailEnd type="none" w="med" len="med"/>
            </a:ln>
          </p:spPr>
        </p:sp>
        <p:sp>
          <p:nvSpPr>
            <p:cNvPr id="84166" name="Line 130"/>
            <p:cNvSpPr/>
            <p:nvPr/>
          </p:nvSpPr>
          <p:spPr>
            <a:xfrm flipV="1">
              <a:off x="4588" y="1756"/>
              <a:ext cx="0" cy="106"/>
            </a:xfrm>
            <a:prstGeom prst="line">
              <a:avLst/>
            </a:prstGeom>
            <a:ln w="25400" cap="flat" cmpd="sng">
              <a:solidFill>
                <a:schemeClr val="tx1"/>
              </a:solidFill>
              <a:prstDash val="solid"/>
              <a:headEnd type="none" w="med" len="med"/>
              <a:tailEnd type="none" w="med" len="med"/>
            </a:ln>
          </p:spPr>
        </p:sp>
        <p:sp>
          <p:nvSpPr>
            <p:cNvPr id="84167" name="Line 131"/>
            <p:cNvSpPr/>
            <p:nvPr/>
          </p:nvSpPr>
          <p:spPr>
            <a:xfrm flipV="1">
              <a:off x="4615" y="1756"/>
              <a:ext cx="0" cy="106"/>
            </a:xfrm>
            <a:prstGeom prst="line">
              <a:avLst/>
            </a:prstGeom>
            <a:ln w="25400" cap="flat" cmpd="sng">
              <a:solidFill>
                <a:schemeClr val="tx1"/>
              </a:solidFill>
              <a:prstDash val="solid"/>
              <a:headEnd type="none" w="med" len="med"/>
              <a:tailEnd type="none" w="med" len="med"/>
            </a:ln>
          </p:spPr>
        </p:sp>
        <p:sp>
          <p:nvSpPr>
            <p:cNvPr id="84168" name="Line 132"/>
            <p:cNvSpPr/>
            <p:nvPr/>
          </p:nvSpPr>
          <p:spPr>
            <a:xfrm flipV="1">
              <a:off x="4642" y="1756"/>
              <a:ext cx="0" cy="106"/>
            </a:xfrm>
            <a:prstGeom prst="line">
              <a:avLst/>
            </a:prstGeom>
            <a:ln w="25400" cap="flat" cmpd="sng">
              <a:solidFill>
                <a:schemeClr val="tx1"/>
              </a:solidFill>
              <a:prstDash val="solid"/>
              <a:headEnd type="none" w="med" len="med"/>
              <a:tailEnd type="none" w="med" len="med"/>
            </a:ln>
          </p:spPr>
        </p:sp>
        <p:sp>
          <p:nvSpPr>
            <p:cNvPr id="84169" name="Line 133"/>
            <p:cNvSpPr/>
            <p:nvPr/>
          </p:nvSpPr>
          <p:spPr>
            <a:xfrm flipV="1">
              <a:off x="4670" y="1756"/>
              <a:ext cx="0" cy="106"/>
            </a:xfrm>
            <a:prstGeom prst="line">
              <a:avLst/>
            </a:prstGeom>
            <a:ln w="25400" cap="flat" cmpd="sng">
              <a:solidFill>
                <a:schemeClr val="tx1"/>
              </a:solidFill>
              <a:prstDash val="solid"/>
              <a:headEnd type="none" w="med" len="med"/>
              <a:tailEnd type="none" w="med" len="med"/>
            </a:ln>
          </p:spPr>
        </p:sp>
        <p:sp>
          <p:nvSpPr>
            <p:cNvPr id="84170" name="Line 134"/>
            <p:cNvSpPr/>
            <p:nvPr/>
          </p:nvSpPr>
          <p:spPr>
            <a:xfrm flipV="1">
              <a:off x="4697" y="1756"/>
              <a:ext cx="0" cy="106"/>
            </a:xfrm>
            <a:prstGeom prst="line">
              <a:avLst/>
            </a:prstGeom>
            <a:ln w="25400" cap="flat" cmpd="sng">
              <a:solidFill>
                <a:schemeClr val="tx1"/>
              </a:solidFill>
              <a:prstDash val="solid"/>
              <a:headEnd type="none" w="med" len="med"/>
              <a:tailEnd type="none" w="med" len="med"/>
            </a:ln>
          </p:spPr>
        </p:sp>
        <p:sp>
          <p:nvSpPr>
            <p:cNvPr id="84171" name="Line 135"/>
            <p:cNvSpPr/>
            <p:nvPr/>
          </p:nvSpPr>
          <p:spPr>
            <a:xfrm flipV="1">
              <a:off x="4724" y="1756"/>
              <a:ext cx="0" cy="106"/>
            </a:xfrm>
            <a:prstGeom prst="line">
              <a:avLst/>
            </a:prstGeom>
            <a:ln w="25400" cap="flat" cmpd="sng">
              <a:solidFill>
                <a:schemeClr val="tx1"/>
              </a:solidFill>
              <a:prstDash val="solid"/>
              <a:headEnd type="none" w="med" len="med"/>
              <a:tailEnd type="none" w="med" len="med"/>
            </a:ln>
          </p:spPr>
        </p:sp>
        <p:sp>
          <p:nvSpPr>
            <p:cNvPr id="84172" name="Line 136"/>
            <p:cNvSpPr/>
            <p:nvPr/>
          </p:nvSpPr>
          <p:spPr>
            <a:xfrm flipV="1">
              <a:off x="4751" y="1756"/>
              <a:ext cx="0" cy="106"/>
            </a:xfrm>
            <a:prstGeom prst="line">
              <a:avLst/>
            </a:prstGeom>
            <a:ln w="25400" cap="flat" cmpd="sng">
              <a:solidFill>
                <a:schemeClr val="tx1"/>
              </a:solidFill>
              <a:prstDash val="solid"/>
              <a:headEnd type="none" w="med" len="med"/>
              <a:tailEnd type="none" w="med" len="med"/>
            </a:ln>
          </p:spPr>
        </p:sp>
        <p:sp>
          <p:nvSpPr>
            <p:cNvPr id="84173" name="Line 137"/>
            <p:cNvSpPr/>
            <p:nvPr/>
          </p:nvSpPr>
          <p:spPr>
            <a:xfrm flipV="1">
              <a:off x="4779" y="1756"/>
              <a:ext cx="0" cy="106"/>
            </a:xfrm>
            <a:prstGeom prst="line">
              <a:avLst/>
            </a:prstGeom>
            <a:ln w="25400" cap="flat" cmpd="sng">
              <a:solidFill>
                <a:schemeClr val="tx1"/>
              </a:solidFill>
              <a:prstDash val="solid"/>
              <a:headEnd type="none" w="med" len="med"/>
              <a:tailEnd type="none" w="med" len="med"/>
            </a:ln>
          </p:spPr>
        </p:sp>
        <p:sp>
          <p:nvSpPr>
            <p:cNvPr id="84174" name="Line 138"/>
            <p:cNvSpPr/>
            <p:nvPr/>
          </p:nvSpPr>
          <p:spPr>
            <a:xfrm flipV="1">
              <a:off x="4806" y="1756"/>
              <a:ext cx="0" cy="106"/>
            </a:xfrm>
            <a:prstGeom prst="line">
              <a:avLst/>
            </a:prstGeom>
            <a:ln w="25400" cap="flat" cmpd="sng">
              <a:solidFill>
                <a:schemeClr val="tx1"/>
              </a:solidFill>
              <a:prstDash val="solid"/>
              <a:headEnd type="none" w="med" len="med"/>
              <a:tailEnd type="none" w="med" len="med"/>
            </a:ln>
          </p:spPr>
        </p:sp>
        <p:sp>
          <p:nvSpPr>
            <p:cNvPr id="84175" name="Line 139"/>
            <p:cNvSpPr/>
            <p:nvPr/>
          </p:nvSpPr>
          <p:spPr>
            <a:xfrm flipV="1">
              <a:off x="4833" y="1756"/>
              <a:ext cx="0" cy="106"/>
            </a:xfrm>
            <a:prstGeom prst="line">
              <a:avLst/>
            </a:prstGeom>
            <a:ln w="25400" cap="flat" cmpd="sng">
              <a:solidFill>
                <a:schemeClr val="tx1"/>
              </a:solidFill>
              <a:prstDash val="solid"/>
              <a:headEnd type="none" w="med" len="med"/>
              <a:tailEnd type="none" w="med" len="med"/>
            </a:ln>
          </p:spPr>
        </p:sp>
        <p:sp>
          <p:nvSpPr>
            <p:cNvPr id="84176" name="Line 140"/>
            <p:cNvSpPr/>
            <p:nvPr/>
          </p:nvSpPr>
          <p:spPr>
            <a:xfrm flipV="1">
              <a:off x="4860" y="1756"/>
              <a:ext cx="0" cy="106"/>
            </a:xfrm>
            <a:prstGeom prst="line">
              <a:avLst/>
            </a:prstGeom>
            <a:ln w="25400" cap="flat" cmpd="sng">
              <a:solidFill>
                <a:schemeClr val="tx1"/>
              </a:solidFill>
              <a:prstDash val="solid"/>
              <a:headEnd type="none" w="med" len="med"/>
              <a:tailEnd type="none" w="med" len="med"/>
            </a:ln>
          </p:spPr>
        </p:sp>
        <p:sp>
          <p:nvSpPr>
            <p:cNvPr id="84177" name="Line 141"/>
            <p:cNvSpPr/>
            <p:nvPr/>
          </p:nvSpPr>
          <p:spPr>
            <a:xfrm flipV="1">
              <a:off x="4888" y="1756"/>
              <a:ext cx="0" cy="106"/>
            </a:xfrm>
            <a:prstGeom prst="line">
              <a:avLst/>
            </a:prstGeom>
            <a:ln w="25400" cap="flat" cmpd="sng">
              <a:solidFill>
                <a:schemeClr val="tx1"/>
              </a:solidFill>
              <a:prstDash val="solid"/>
              <a:headEnd type="none" w="med" len="med"/>
              <a:tailEnd type="none" w="med" len="med"/>
            </a:ln>
          </p:spPr>
        </p:sp>
        <p:sp>
          <p:nvSpPr>
            <p:cNvPr id="84178" name="Line 142"/>
            <p:cNvSpPr/>
            <p:nvPr/>
          </p:nvSpPr>
          <p:spPr>
            <a:xfrm flipV="1">
              <a:off x="4915" y="1756"/>
              <a:ext cx="0" cy="106"/>
            </a:xfrm>
            <a:prstGeom prst="line">
              <a:avLst/>
            </a:prstGeom>
            <a:ln w="25400" cap="flat" cmpd="sng">
              <a:solidFill>
                <a:schemeClr val="tx1"/>
              </a:solidFill>
              <a:prstDash val="solid"/>
              <a:headEnd type="none" w="med" len="med"/>
              <a:tailEnd type="none" w="med" len="med"/>
            </a:ln>
          </p:spPr>
        </p:sp>
        <p:sp>
          <p:nvSpPr>
            <p:cNvPr id="84179" name="Line 143"/>
            <p:cNvSpPr/>
            <p:nvPr/>
          </p:nvSpPr>
          <p:spPr>
            <a:xfrm flipV="1">
              <a:off x="4942" y="1756"/>
              <a:ext cx="0" cy="106"/>
            </a:xfrm>
            <a:prstGeom prst="line">
              <a:avLst/>
            </a:prstGeom>
            <a:ln w="25400" cap="flat" cmpd="sng">
              <a:solidFill>
                <a:schemeClr val="tx1"/>
              </a:solidFill>
              <a:prstDash val="solid"/>
              <a:headEnd type="none" w="med" len="med"/>
              <a:tailEnd type="none" w="med" len="med"/>
            </a:ln>
          </p:spPr>
        </p:sp>
        <p:sp>
          <p:nvSpPr>
            <p:cNvPr id="84180" name="Line 144"/>
            <p:cNvSpPr/>
            <p:nvPr/>
          </p:nvSpPr>
          <p:spPr>
            <a:xfrm flipV="1">
              <a:off x="4970" y="1756"/>
              <a:ext cx="0" cy="106"/>
            </a:xfrm>
            <a:prstGeom prst="line">
              <a:avLst/>
            </a:prstGeom>
            <a:ln w="25400" cap="flat" cmpd="sng">
              <a:solidFill>
                <a:schemeClr val="tx1"/>
              </a:solidFill>
              <a:prstDash val="solid"/>
              <a:headEnd type="none" w="med" len="med"/>
              <a:tailEnd type="none" w="med" len="med"/>
            </a:ln>
          </p:spPr>
        </p:sp>
        <p:sp>
          <p:nvSpPr>
            <p:cNvPr id="84181" name="Line 145"/>
            <p:cNvSpPr/>
            <p:nvPr/>
          </p:nvSpPr>
          <p:spPr>
            <a:xfrm flipV="1">
              <a:off x="4997" y="1756"/>
              <a:ext cx="0" cy="106"/>
            </a:xfrm>
            <a:prstGeom prst="line">
              <a:avLst/>
            </a:prstGeom>
            <a:ln w="25400" cap="flat" cmpd="sng">
              <a:solidFill>
                <a:schemeClr val="tx1"/>
              </a:solidFill>
              <a:prstDash val="solid"/>
              <a:headEnd type="none" w="med" len="med"/>
              <a:tailEnd type="none" w="med" len="med"/>
            </a:ln>
          </p:spPr>
        </p:sp>
        <p:sp>
          <p:nvSpPr>
            <p:cNvPr id="84182" name="Line 146"/>
            <p:cNvSpPr/>
            <p:nvPr/>
          </p:nvSpPr>
          <p:spPr>
            <a:xfrm flipV="1">
              <a:off x="5024" y="1756"/>
              <a:ext cx="0" cy="106"/>
            </a:xfrm>
            <a:prstGeom prst="line">
              <a:avLst/>
            </a:prstGeom>
            <a:ln w="25400" cap="flat" cmpd="sng">
              <a:solidFill>
                <a:schemeClr val="tx1"/>
              </a:solidFill>
              <a:prstDash val="solid"/>
              <a:headEnd type="none" w="med" len="med"/>
              <a:tailEnd type="none" w="med" len="med"/>
            </a:ln>
          </p:spPr>
        </p:sp>
        <p:sp>
          <p:nvSpPr>
            <p:cNvPr id="84183" name="Line 147"/>
            <p:cNvSpPr/>
            <p:nvPr/>
          </p:nvSpPr>
          <p:spPr>
            <a:xfrm flipV="1">
              <a:off x="5051" y="1756"/>
              <a:ext cx="0" cy="106"/>
            </a:xfrm>
            <a:prstGeom prst="line">
              <a:avLst/>
            </a:prstGeom>
            <a:ln w="25400" cap="flat" cmpd="sng">
              <a:solidFill>
                <a:schemeClr val="tx1"/>
              </a:solidFill>
              <a:prstDash val="solid"/>
              <a:headEnd type="none" w="med" len="med"/>
              <a:tailEnd type="none" w="med" len="med"/>
            </a:ln>
          </p:spPr>
        </p:sp>
        <p:sp>
          <p:nvSpPr>
            <p:cNvPr id="84184" name="Line 148"/>
            <p:cNvSpPr/>
            <p:nvPr/>
          </p:nvSpPr>
          <p:spPr>
            <a:xfrm flipV="1">
              <a:off x="5079" y="1756"/>
              <a:ext cx="0" cy="106"/>
            </a:xfrm>
            <a:prstGeom prst="line">
              <a:avLst/>
            </a:prstGeom>
            <a:ln w="25400" cap="flat" cmpd="sng">
              <a:solidFill>
                <a:schemeClr val="tx1"/>
              </a:solidFill>
              <a:prstDash val="solid"/>
              <a:headEnd type="none" w="med" len="med"/>
              <a:tailEnd type="none" w="med" len="med"/>
            </a:ln>
          </p:spPr>
        </p:sp>
        <p:sp>
          <p:nvSpPr>
            <p:cNvPr id="84185" name="Line 149"/>
            <p:cNvSpPr/>
            <p:nvPr/>
          </p:nvSpPr>
          <p:spPr>
            <a:xfrm flipV="1">
              <a:off x="5106" y="1756"/>
              <a:ext cx="0" cy="106"/>
            </a:xfrm>
            <a:prstGeom prst="line">
              <a:avLst/>
            </a:prstGeom>
            <a:ln w="25400" cap="flat" cmpd="sng">
              <a:solidFill>
                <a:schemeClr val="tx1"/>
              </a:solidFill>
              <a:prstDash val="solid"/>
              <a:headEnd type="none" w="med" len="med"/>
              <a:tailEnd type="none" w="med" len="med"/>
            </a:ln>
          </p:spPr>
        </p:sp>
        <p:sp>
          <p:nvSpPr>
            <p:cNvPr id="84186" name="Line 150"/>
            <p:cNvSpPr/>
            <p:nvPr/>
          </p:nvSpPr>
          <p:spPr>
            <a:xfrm flipV="1">
              <a:off x="5134" y="1756"/>
              <a:ext cx="0" cy="106"/>
            </a:xfrm>
            <a:prstGeom prst="line">
              <a:avLst/>
            </a:prstGeom>
            <a:ln w="25400" cap="flat" cmpd="sng">
              <a:solidFill>
                <a:schemeClr val="tx1"/>
              </a:solidFill>
              <a:prstDash val="solid"/>
              <a:headEnd type="none" w="med" len="med"/>
              <a:tailEnd type="none" w="med" len="med"/>
            </a:ln>
          </p:spPr>
        </p:sp>
        <p:sp>
          <p:nvSpPr>
            <p:cNvPr id="84187" name="Line 151"/>
            <p:cNvSpPr/>
            <p:nvPr/>
          </p:nvSpPr>
          <p:spPr>
            <a:xfrm flipV="1">
              <a:off x="5162" y="1756"/>
              <a:ext cx="0" cy="106"/>
            </a:xfrm>
            <a:prstGeom prst="line">
              <a:avLst/>
            </a:prstGeom>
            <a:ln w="25400" cap="flat" cmpd="sng">
              <a:solidFill>
                <a:schemeClr val="tx1"/>
              </a:solidFill>
              <a:prstDash val="solid"/>
              <a:headEnd type="none" w="med" len="med"/>
              <a:tailEnd type="none" w="med" len="med"/>
            </a:ln>
          </p:spPr>
        </p:sp>
        <p:sp>
          <p:nvSpPr>
            <p:cNvPr id="84188" name="Line 152"/>
            <p:cNvSpPr/>
            <p:nvPr/>
          </p:nvSpPr>
          <p:spPr>
            <a:xfrm flipV="1">
              <a:off x="5189" y="1756"/>
              <a:ext cx="0" cy="106"/>
            </a:xfrm>
            <a:prstGeom prst="line">
              <a:avLst/>
            </a:prstGeom>
            <a:ln w="25400" cap="flat" cmpd="sng">
              <a:solidFill>
                <a:schemeClr val="tx1"/>
              </a:solidFill>
              <a:prstDash val="solid"/>
              <a:headEnd type="none" w="med" len="med"/>
              <a:tailEnd type="none" w="med" len="med"/>
            </a:ln>
          </p:spPr>
        </p:sp>
      </p:grpSp>
      <p:grpSp>
        <p:nvGrpSpPr>
          <p:cNvPr id="5" name="Group 153"/>
          <p:cNvGrpSpPr/>
          <p:nvPr/>
        </p:nvGrpSpPr>
        <p:grpSpPr>
          <a:xfrm>
            <a:off x="4910138" y="2787650"/>
            <a:ext cx="2201862" cy="168275"/>
            <a:chOff x="3093" y="1756"/>
            <a:chExt cx="1387" cy="106"/>
          </a:xfrm>
        </p:grpSpPr>
        <p:sp>
          <p:nvSpPr>
            <p:cNvPr id="84111" name="Line 154"/>
            <p:cNvSpPr/>
            <p:nvPr/>
          </p:nvSpPr>
          <p:spPr>
            <a:xfrm flipV="1">
              <a:off x="3093" y="1756"/>
              <a:ext cx="0" cy="106"/>
            </a:xfrm>
            <a:prstGeom prst="line">
              <a:avLst/>
            </a:prstGeom>
            <a:ln w="25400" cap="flat" cmpd="sng">
              <a:solidFill>
                <a:schemeClr val="tx1"/>
              </a:solidFill>
              <a:prstDash val="solid"/>
              <a:headEnd type="none" w="med" len="med"/>
              <a:tailEnd type="none" w="med" len="med"/>
            </a:ln>
          </p:spPr>
        </p:sp>
        <p:sp>
          <p:nvSpPr>
            <p:cNvPr id="84112" name="Line 155"/>
            <p:cNvSpPr/>
            <p:nvPr/>
          </p:nvSpPr>
          <p:spPr>
            <a:xfrm flipV="1">
              <a:off x="3120" y="1756"/>
              <a:ext cx="0" cy="106"/>
            </a:xfrm>
            <a:prstGeom prst="line">
              <a:avLst/>
            </a:prstGeom>
            <a:ln w="25400" cap="flat" cmpd="sng">
              <a:solidFill>
                <a:schemeClr val="tx1"/>
              </a:solidFill>
              <a:prstDash val="solid"/>
              <a:headEnd type="none" w="med" len="med"/>
              <a:tailEnd type="none" w="med" len="med"/>
            </a:ln>
          </p:spPr>
        </p:sp>
        <p:sp>
          <p:nvSpPr>
            <p:cNvPr id="84113" name="Line 156"/>
            <p:cNvSpPr/>
            <p:nvPr/>
          </p:nvSpPr>
          <p:spPr>
            <a:xfrm flipV="1">
              <a:off x="3148" y="1756"/>
              <a:ext cx="0" cy="106"/>
            </a:xfrm>
            <a:prstGeom prst="line">
              <a:avLst/>
            </a:prstGeom>
            <a:ln w="25400" cap="flat" cmpd="sng">
              <a:solidFill>
                <a:schemeClr val="tx1"/>
              </a:solidFill>
              <a:prstDash val="solid"/>
              <a:headEnd type="none" w="med" len="med"/>
              <a:tailEnd type="none" w="med" len="med"/>
            </a:ln>
          </p:spPr>
        </p:sp>
        <p:sp>
          <p:nvSpPr>
            <p:cNvPr id="84114" name="Line 157"/>
            <p:cNvSpPr/>
            <p:nvPr/>
          </p:nvSpPr>
          <p:spPr>
            <a:xfrm flipV="1">
              <a:off x="3175" y="1756"/>
              <a:ext cx="0" cy="106"/>
            </a:xfrm>
            <a:prstGeom prst="line">
              <a:avLst/>
            </a:prstGeom>
            <a:ln w="25400" cap="flat" cmpd="sng">
              <a:solidFill>
                <a:schemeClr val="tx1"/>
              </a:solidFill>
              <a:prstDash val="solid"/>
              <a:headEnd type="none" w="med" len="med"/>
              <a:tailEnd type="none" w="med" len="med"/>
            </a:ln>
          </p:spPr>
        </p:sp>
        <p:sp>
          <p:nvSpPr>
            <p:cNvPr id="84115" name="Line 158"/>
            <p:cNvSpPr/>
            <p:nvPr/>
          </p:nvSpPr>
          <p:spPr>
            <a:xfrm flipV="1">
              <a:off x="3202" y="1756"/>
              <a:ext cx="0" cy="106"/>
            </a:xfrm>
            <a:prstGeom prst="line">
              <a:avLst/>
            </a:prstGeom>
            <a:ln w="25400" cap="flat" cmpd="sng">
              <a:solidFill>
                <a:schemeClr val="tx1"/>
              </a:solidFill>
              <a:prstDash val="solid"/>
              <a:headEnd type="none" w="med" len="med"/>
              <a:tailEnd type="none" w="med" len="med"/>
            </a:ln>
          </p:spPr>
        </p:sp>
        <p:sp>
          <p:nvSpPr>
            <p:cNvPr id="84116" name="Line 159"/>
            <p:cNvSpPr/>
            <p:nvPr/>
          </p:nvSpPr>
          <p:spPr>
            <a:xfrm flipV="1">
              <a:off x="3229" y="1756"/>
              <a:ext cx="0" cy="106"/>
            </a:xfrm>
            <a:prstGeom prst="line">
              <a:avLst/>
            </a:prstGeom>
            <a:ln w="25400" cap="flat" cmpd="sng">
              <a:solidFill>
                <a:schemeClr val="tx1"/>
              </a:solidFill>
              <a:prstDash val="solid"/>
              <a:headEnd type="none" w="med" len="med"/>
              <a:tailEnd type="none" w="med" len="med"/>
            </a:ln>
          </p:spPr>
        </p:sp>
        <p:sp>
          <p:nvSpPr>
            <p:cNvPr id="84117" name="Line 160"/>
            <p:cNvSpPr/>
            <p:nvPr/>
          </p:nvSpPr>
          <p:spPr>
            <a:xfrm flipV="1">
              <a:off x="3257" y="1756"/>
              <a:ext cx="0" cy="106"/>
            </a:xfrm>
            <a:prstGeom prst="line">
              <a:avLst/>
            </a:prstGeom>
            <a:ln w="25400" cap="flat" cmpd="sng">
              <a:solidFill>
                <a:schemeClr val="tx1"/>
              </a:solidFill>
              <a:prstDash val="solid"/>
              <a:headEnd type="none" w="med" len="med"/>
              <a:tailEnd type="none" w="med" len="med"/>
            </a:ln>
          </p:spPr>
        </p:sp>
        <p:sp>
          <p:nvSpPr>
            <p:cNvPr id="84118" name="Line 161"/>
            <p:cNvSpPr/>
            <p:nvPr/>
          </p:nvSpPr>
          <p:spPr>
            <a:xfrm flipV="1">
              <a:off x="3284" y="1756"/>
              <a:ext cx="0" cy="106"/>
            </a:xfrm>
            <a:prstGeom prst="line">
              <a:avLst/>
            </a:prstGeom>
            <a:ln w="25400" cap="flat" cmpd="sng">
              <a:solidFill>
                <a:schemeClr val="tx1"/>
              </a:solidFill>
              <a:prstDash val="solid"/>
              <a:headEnd type="none" w="med" len="med"/>
              <a:tailEnd type="none" w="med" len="med"/>
            </a:ln>
          </p:spPr>
        </p:sp>
        <p:sp>
          <p:nvSpPr>
            <p:cNvPr id="84119" name="Line 162"/>
            <p:cNvSpPr/>
            <p:nvPr/>
          </p:nvSpPr>
          <p:spPr>
            <a:xfrm flipV="1">
              <a:off x="3311" y="1756"/>
              <a:ext cx="0" cy="106"/>
            </a:xfrm>
            <a:prstGeom prst="line">
              <a:avLst/>
            </a:prstGeom>
            <a:ln w="25400" cap="flat" cmpd="sng">
              <a:solidFill>
                <a:schemeClr val="tx1"/>
              </a:solidFill>
              <a:prstDash val="solid"/>
              <a:headEnd type="none" w="med" len="med"/>
              <a:tailEnd type="none" w="med" len="med"/>
            </a:ln>
          </p:spPr>
        </p:sp>
        <p:sp>
          <p:nvSpPr>
            <p:cNvPr id="84120" name="Line 163"/>
            <p:cNvSpPr/>
            <p:nvPr/>
          </p:nvSpPr>
          <p:spPr>
            <a:xfrm flipV="1">
              <a:off x="3338" y="1756"/>
              <a:ext cx="0" cy="106"/>
            </a:xfrm>
            <a:prstGeom prst="line">
              <a:avLst/>
            </a:prstGeom>
            <a:ln w="25400" cap="flat" cmpd="sng">
              <a:solidFill>
                <a:schemeClr val="tx1"/>
              </a:solidFill>
              <a:prstDash val="solid"/>
              <a:headEnd type="none" w="med" len="med"/>
              <a:tailEnd type="none" w="med" len="med"/>
            </a:ln>
          </p:spPr>
        </p:sp>
        <p:sp>
          <p:nvSpPr>
            <p:cNvPr id="84121" name="Line 164"/>
            <p:cNvSpPr/>
            <p:nvPr/>
          </p:nvSpPr>
          <p:spPr>
            <a:xfrm flipV="1">
              <a:off x="3366" y="1756"/>
              <a:ext cx="0" cy="106"/>
            </a:xfrm>
            <a:prstGeom prst="line">
              <a:avLst/>
            </a:prstGeom>
            <a:ln w="25400" cap="flat" cmpd="sng">
              <a:solidFill>
                <a:schemeClr val="tx1"/>
              </a:solidFill>
              <a:prstDash val="solid"/>
              <a:headEnd type="none" w="med" len="med"/>
              <a:tailEnd type="none" w="med" len="med"/>
            </a:ln>
          </p:spPr>
        </p:sp>
        <p:sp>
          <p:nvSpPr>
            <p:cNvPr id="84122" name="Line 165"/>
            <p:cNvSpPr/>
            <p:nvPr/>
          </p:nvSpPr>
          <p:spPr>
            <a:xfrm flipV="1">
              <a:off x="3393" y="1756"/>
              <a:ext cx="0" cy="106"/>
            </a:xfrm>
            <a:prstGeom prst="line">
              <a:avLst/>
            </a:prstGeom>
            <a:ln w="25400" cap="flat" cmpd="sng">
              <a:solidFill>
                <a:schemeClr val="tx1"/>
              </a:solidFill>
              <a:prstDash val="solid"/>
              <a:headEnd type="none" w="med" len="med"/>
              <a:tailEnd type="none" w="med" len="med"/>
            </a:ln>
          </p:spPr>
        </p:sp>
        <p:sp>
          <p:nvSpPr>
            <p:cNvPr id="84123" name="Line 166"/>
            <p:cNvSpPr/>
            <p:nvPr/>
          </p:nvSpPr>
          <p:spPr>
            <a:xfrm flipV="1">
              <a:off x="3420" y="1756"/>
              <a:ext cx="0" cy="106"/>
            </a:xfrm>
            <a:prstGeom prst="line">
              <a:avLst/>
            </a:prstGeom>
            <a:ln w="25400" cap="flat" cmpd="sng">
              <a:solidFill>
                <a:schemeClr val="tx1"/>
              </a:solidFill>
              <a:prstDash val="solid"/>
              <a:headEnd type="none" w="med" len="med"/>
              <a:tailEnd type="none" w="med" len="med"/>
            </a:ln>
          </p:spPr>
        </p:sp>
        <p:sp>
          <p:nvSpPr>
            <p:cNvPr id="84124" name="Line 167"/>
            <p:cNvSpPr/>
            <p:nvPr/>
          </p:nvSpPr>
          <p:spPr>
            <a:xfrm flipV="1">
              <a:off x="3447" y="1756"/>
              <a:ext cx="0" cy="106"/>
            </a:xfrm>
            <a:prstGeom prst="line">
              <a:avLst/>
            </a:prstGeom>
            <a:ln w="25400" cap="flat" cmpd="sng">
              <a:solidFill>
                <a:schemeClr val="tx1"/>
              </a:solidFill>
              <a:prstDash val="solid"/>
              <a:headEnd type="none" w="med" len="med"/>
              <a:tailEnd type="none" w="med" len="med"/>
            </a:ln>
          </p:spPr>
        </p:sp>
        <p:sp>
          <p:nvSpPr>
            <p:cNvPr id="84125" name="Line 168"/>
            <p:cNvSpPr/>
            <p:nvPr/>
          </p:nvSpPr>
          <p:spPr>
            <a:xfrm flipV="1">
              <a:off x="3475" y="1756"/>
              <a:ext cx="0" cy="106"/>
            </a:xfrm>
            <a:prstGeom prst="line">
              <a:avLst/>
            </a:prstGeom>
            <a:ln w="25400" cap="flat" cmpd="sng">
              <a:solidFill>
                <a:schemeClr val="tx1"/>
              </a:solidFill>
              <a:prstDash val="solid"/>
              <a:headEnd type="none" w="med" len="med"/>
              <a:tailEnd type="none" w="med" len="med"/>
            </a:ln>
          </p:spPr>
        </p:sp>
        <p:sp>
          <p:nvSpPr>
            <p:cNvPr id="84126" name="Line 169"/>
            <p:cNvSpPr/>
            <p:nvPr/>
          </p:nvSpPr>
          <p:spPr>
            <a:xfrm flipV="1">
              <a:off x="3502" y="1756"/>
              <a:ext cx="0" cy="106"/>
            </a:xfrm>
            <a:prstGeom prst="line">
              <a:avLst/>
            </a:prstGeom>
            <a:ln w="25400" cap="flat" cmpd="sng">
              <a:solidFill>
                <a:schemeClr val="tx1"/>
              </a:solidFill>
              <a:prstDash val="solid"/>
              <a:headEnd type="none" w="med" len="med"/>
              <a:tailEnd type="none" w="med" len="med"/>
            </a:ln>
          </p:spPr>
        </p:sp>
        <p:sp>
          <p:nvSpPr>
            <p:cNvPr id="84127" name="Line 170"/>
            <p:cNvSpPr/>
            <p:nvPr/>
          </p:nvSpPr>
          <p:spPr>
            <a:xfrm flipV="1">
              <a:off x="3529" y="1756"/>
              <a:ext cx="0" cy="106"/>
            </a:xfrm>
            <a:prstGeom prst="line">
              <a:avLst/>
            </a:prstGeom>
            <a:ln w="25400" cap="flat" cmpd="sng">
              <a:solidFill>
                <a:schemeClr val="tx1"/>
              </a:solidFill>
              <a:prstDash val="solid"/>
              <a:headEnd type="none" w="med" len="med"/>
              <a:tailEnd type="none" w="med" len="med"/>
            </a:ln>
          </p:spPr>
        </p:sp>
        <p:sp>
          <p:nvSpPr>
            <p:cNvPr id="84128" name="Line 171"/>
            <p:cNvSpPr/>
            <p:nvPr/>
          </p:nvSpPr>
          <p:spPr>
            <a:xfrm flipV="1">
              <a:off x="4125" y="1756"/>
              <a:ext cx="0" cy="106"/>
            </a:xfrm>
            <a:prstGeom prst="line">
              <a:avLst/>
            </a:prstGeom>
            <a:ln w="25400" cap="flat" cmpd="sng">
              <a:solidFill>
                <a:schemeClr val="tx1"/>
              </a:solidFill>
              <a:prstDash val="solid"/>
              <a:headEnd type="none" w="med" len="med"/>
              <a:tailEnd type="none" w="med" len="med"/>
            </a:ln>
          </p:spPr>
        </p:sp>
        <p:sp>
          <p:nvSpPr>
            <p:cNvPr id="84129" name="Line 172"/>
            <p:cNvSpPr/>
            <p:nvPr/>
          </p:nvSpPr>
          <p:spPr>
            <a:xfrm flipV="1">
              <a:off x="4153" y="1756"/>
              <a:ext cx="0" cy="106"/>
            </a:xfrm>
            <a:prstGeom prst="line">
              <a:avLst/>
            </a:prstGeom>
            <a:ln w="25400" cap="flat" cmpd="sng">
              <a:solidFill>
                <a:schemeClr val="tx1"/>
              </a:solidFill>
              <a:prstDash val="solid"/>
              <a:headEnd type="none" w="med" len="med"/>
              <a:tailEnd type="none" w="med" len="med"/>
            </a:ln>
          </p:spPr>
        </p:sp>
        <p:sp>
          <p:nvSpPr>
            <p:cNvPr id="84130" name="Line 173"/>
            <p:cNvSpPr/>
            <p:nvPr/>
          </p:nvSpPr>
          <p:spPr>
            <a:xfrm flipV="1">
              <a:off x="4180" y="1756"/>
              <a:ext cx="0" cy="106"/>
            </a:xfrm>
            <a:prstGeom prst="line">
              <a:avLst/>
            </a:prstGeom>
            <a:ln w="25400" cap="flat" cmpd="sng">
              <a:solidFill>
                <a:schemeClr val="tx1"/>
              </a:solidFill>
              <a:prstDash val="solid"/>
              <a:headEnd type="none" w="med" len="med"/>
              <a:tailEnd type="none" w="med" len="med"/>
            </a:ln>
          </p:spPr>
        </p:sp>
        <p:sp>
          <p:nvSpPr>
            <p:cNvPr id="84131" name="Line 174"/>
            <p:cNvSpPr/>
            <p:nvPr/>
          </p:nvSpPr>
          <p:spPr>
            <a:xfrm flipV="1">
              <a:off x="4207" y="1756"/>
              <a:ext cx="0" cy="106"/>
            </a:xfrm>
            <a:prstGeom prst="line">
              <a:avLst/>
            </a:prstGeom>
            <a:ln w="25400" cap="flat" cmpd="sng">
              <a:solidFill>
                <a:schemeClr val="tx1"/>
              </a:solidFill>
              <a:prstDash val="solid"/>
              <a:headEnd type="none" w="med" len="med"/>
              <a:tailEnd type="none" w="med" len="med"/>
            </a:ln>
          </p:spPr>
        </p:sp>
        <p:sp>
          <p:nvSpPr>
            <p:cNvPr id="84132" name="Line 175"/>
            <p:cNvSpPr/>
            <p:nvPr/>
          </p:nvSpPr>
          <p:spPr>
            <a:xfrm flipV="1">
              <a:off x="4234" y="1756"/>
              <a:ext cx="0" cy="106"/>
            </a:xfrm>
            <a:prstGeom prst="line">
              <a:avLst/>
            </a:prstGeom>
            <a:ln w="25400" cap="flat" cmpd="sng">
              <a:solidFill>
                <a:schemeClr val="tx1"/>
              </a:solidFill>
              <a:prstDash val="solid"/>
              <a:headEnd type="none" w="med" len="med"/>
              <a:tailEnd type="none" w="med" len="med"/>
            </a:ln>
          </p:spPr>
        </p:sp>
        <p:sp>
          <p:nvSpPr>
            <p:cNvPr id="84133" name="Line 176"/>
            <p:cNvSpPr/>
            <p:nvPr/>
          </p:nvSpPr>
          <p:spPr>
            <a:xfrm flipV="1">
              <a:off x="4262" y="1756"/>
              <a:ext cx="0" cy="106"/>
            </a:xfrm>
            <a:prstGeom prst="line">
              <a:avLst/>
            </a:prstGeom>
            <a:ln w="25400" cap="flat" cmpd="sng">
              <a:solidFill>
                <a:schemeClr val="tx1"/>
              </a:solidFill>
              <a:prstDash val="solid"/>
              <a:headEnd type="none" w="med" len="med"/>
              <a:tailEnd type="none" w="med" len="med"/>
            </a:ln>
          </p:spPr>
        </p:sp>
        <p:sp>
          <p:nvSpPr>
            <p:cNvPr id="84134" name="Line 177"/>
            <p:cNvSpPr/>
            <p:nvPr/>
          </p:nvSpPr>
          <p:spPr>
            <a:xfrm flipV="1">
              <a:off x="4289" y="1756"/>
              <a:ext cx="0" cy="106"/>
            </a:xfrm>
            <a:prstGeom prst="line">
              <a:avLst/>
            </a:prstGeom>
            <a:ln w="25400" cap="flat" cmpd="sng">
              <a:solidFill>
                <a:schemeClr val="tx1"/>
              </a:solidFill>
              <a:prstDash val="solid"/>
              <a:headEnd type="none" w="med" len="med"/>
              <a:tailEnd type="none" w="med" len="med"/>
            </a:ln>
          </p:spPr>
        </p:sp>
        <p:sp>
          <p:nvSpPr>
            <p:cNvPr id="84135" name="Line 178"/>
            <p:cNvSpPr/>
            <p:nvPr/>
          </p:nvSpPr>
          <p:spPr>
            <a:xfrm flipV="1">
              <a:off x="4316" y="1756"/>
              <a:ext cx="0" cy="106"/>
            </a:xfrm>
            <a:prstGeom prst="line">
              <a:avLst/>
            </a:prstGeom>
            <a:ln w="25400" cap="flat" cmpd="sng">
              <a:solidFill>
                <a:schemeClr val="tx1"/>
              </a:solidFill>
              <a:prstDash val="solid"/>
              <a:headEnd type="none" w="med" len="med"/>
              <a:tailEnd type="none" w="med" len="med"/>
            </a:ln>
          </p:spPr>
        </p:sp>
        <p:sp>
          <p:nvSpPr>
            <p:cNvPr id="84136" name="Line 179"/>
            <p:cNvSpPr/>
            <p:nvPr/>
          </p:nvSpPr>
          <p:spPr>
            <a:xfrm flipV="1">
              <a:off x="4343" y="1756"/>
              <a:ext cx="0" cy="106"/>
            </a:xfrm>
            <a:prstGeom prst="line">
              <a:avLst/>
            </a:prstGeom>
            <a:ln w="25400" cap="flat" cmpd="sng">
              <a:solidFill>
                <a:schemeClr val="tx1"/>
              </a:solidFill>
              <a:prstDash val="solid"/>
              <a:headEnd type="none" w="med" len="med"/>
              <a:tailEnd type="none" w="med" len="med"/>
            </a:ln>
          </p:spPr>
        </p:sp>
        <p:sp>
          <p:nvSpPr>
            <p:cNvPr id="84137" name="Line 180"/>
            <p:cNvSpPr/>
            <p:nvPr/>
          </p:nvSpPr>
          <p:spPr>
            <a:xfrm flipV="1">
              <a:off x="4371" y="1756"/>
              <a:ext cx="0" cy="106"/>
            </a:xfrm>
            <a:prstGeom prst="line">
              <a:avLst/>
            </a:prstGeom>
            <a:ln w="25400" cap="flat" cmpd="sng">
              <a:solidFill>
                <a:schemeClr val="tx1"/>
              </a:solidFill>
              <a:prstDash val="solid"/>
              <a:headEnd type="none" w="med" len="med"/>
              <a:tailEnd type="none" w="med" len="med"/>
            </a:ln>
          </p:spPr>
        </p:sp>
        <p:sp>
          <p:nvSpPr>
            <p:cNvPr id="84138" name="Line 181"/>
            <p:cNvSpPr/>
            <p:nvPr/>
          </p:nvSpPr>
          <p:spPr>
            <a:xfrm flipV="1">
              <a:off x="4398" y="1756"/>
              <a:ext cx="0" cy="106"/>
            </a:xfrm>
            <a:prstGeom prst="line">
              <a:avLst/>
            </a:prstGeom>
            <a:ln w="25400" cap="flat" cmpd="sng">
              <a:solidFill>
                <a:schemeClr val="tx1"/>
              </a:solidFill>
              <a:prstDash val="solid"/>
              <a:headEnd type="none" w="med" len="med"/>
              <a:tailEnd type="none" w="med" len="med"/>
            </a:ln>
          </p:spPr>
        </p:sp>
        <p:sp>
          <p:nvSpPr>
            <p:cNvPr id="84139" name="Line 182"/>
            <p:cNvSpPr/>
            <p:nvPr/>
          </p:nvSpPr>
          <p:spPr>
            <a:xfrm flipV="1">
              <a:off x="4425" y="1756"/>
              <a:ext cx="0" cy="106"/>
            </a:xfrm>
            <a:prstGeom prst="line">
              <a:avLst/>
            </a:prstGeom>
            <a:ln w="25400" cap="flat" cmpd="sng">
              <a:solidFill>
                <a:schemeClr val="tx1"/>
              </a:solidFill>
              <a:prstDash val="solid"/>
              <a:headEnd type="none" w="med" len="med"/>
              <a:tailEnd type="none" w="med" len="med"/>
            </a:ln>
          </p:spPr>
        </p:sp>
        <p:sp>
          <p:nvSpPr>
            <p:cNvPr id="84140" name="Line 183"/>
            <p:cNvSpPr/>
            <p:nvPr/>
          </p:nvSpPr>
          <p:spPr>
            <a:xfrm flipV="1">
              <a:off x="4452" y="1756"/>
              <a:ext cx="0" cy="106"/>
            </a:xfrm>
            <a:prstGeom prst="line">
              <a:avLst/>
            </a:prstGeom>
            <a:ln w="25400" cap="flat" cmpd="sng">
              <a:solidFill>
                <a:schemeClr val="tx1"/>
              </a:solidFill>
              <a:prstDash val="solid"/>
              <a:headEnd type="none" w="med" len="med"/>
              <a:tailEnd type="none" w="med" len="med"/>
            </a:ln>
          </p:spPr>
        </p:sp>
        <p:sp>
          <p:nvSpPr>
            <p:cNvPr id="84141" name="Line 184"/>
            <p:cNvSpPr/>
            <p:nvPr/>
          </p:nvSpPr>
          <p:spPr>
            <a:xfrm flipV="1">
              <a:off x="4480" y="1756"/>
              <a:ext cx="0" cy="106"/>
            </a:xfrm>
            <a:prstGeom prst="line">
              <a:avLst/>
            </a:prstGeom>
            <a:ln w="25400" cap="flat" cmpd="sng">
              <a:solidFill>
                <a:schemeClr val="tx1"/>
              </a:solidFill>
              <a:prstDash val="solid"/>
              <a:headEnd type="none" w="med" len="med"/>
              <a:tailEnd type="none" w="med" len="med"/>
            </a:ln>
          </p:spPr>
        </p:sp>
        <p:sp>
          <p:nvSpPr>
            <p:cNvPr id="84142" name="Line 185"/>
            <p:cNvSpPr/>
            <p:nvPr/>
          </p:nvSpPr>
          <p:spPr>
            <a:xfrm flipV="1">
              <a:off x="3557" y="1756"/>
              <a:ext cx="0" cy="106"/>
            </a:xfrm>
            <a:prstGeom prst="line">
              <a:avLst/>
            </a:prstGeom>
            <a:ln w="25400" cap="flat" cmpd="sng">
              <a:solidFill>
                <a:schemeClr val="tx1"/>
              </a:solidFill>
              <a:prstDash val="solid"/>
              <a:headEnd type="none" w="med" len="med"/>
              <a:tailEnd type="none" w="med" len="med"/>
            </a:ln>
          </p:spPr>
        </p:sp>
        <p:sp>
          <p:nvSpPr>
            <p:cNvPr id="84143" name="Line 186"/>
            <p:cNvSpPr/>
            <p:nvPr/>
          </p:nvSpPr>
          <p:spPr>
            <a:xfrm flipV="1">
              <a:off x="3584" y="1756"/>
              <a:ext cx="0" cy="106"/>
            </a:xfrm>
            <a:prstGeom prst="line">
              <a:avLst/>
            </a:prstGeom>
            <a:ln w="25400" cap="flat" cmpd="sng">
              <a:solidFill>
                <a:schemeClr val="tx1"/>
              </a:solidFill>
              <a:prstDash val="solid"/>
              <a:headEnd type="none" w="med" len="med"/>
              <a:tailEnd type="none" w="med" len="med"/>
            </a:ln>
          </p:spPr>
        </p:sp>
        <p:sp>
          <p:nvSpPr>
            <p:cNvPr id="84144" name="Line 187"/>
            <p:cNvSpPr/>
            <p:nvPr/>
          </p:nvSpPr>
          <p:spPr>
            <a:xfrm flipV="1">
              <a:off x="3612" y="1756"/>
              <a:ext cx="0" cy="106"/>
            </a:xfrm>
            <a:prstGeom prst="line">
              <a:avLst/>
            </a:prstGeom>
            <a:ln w="25400" cap="flat" cmpd="sng">
              <a:solidFill>
                <a:schemeClr val="tx1"/>
              </a:solidFill>
              <a:prstDash val="solid"/>
              <a:headEnd type="none" w="med" len="med"/>
              <a:tailEnd type="none" w="med" len="med"/>
            </a:ln>
          </p:spPr>
        </p:sp>
        <p:sp>
          <p:nvSpPr>
            <p:cNvPr id="84145" name="Line 188"/>
            <p:cNvSpPr/>
            <p:nvPr/>
          </p:nvSpPr>
          <p:spPr>
            <a:xfrm flipV="1">
              <a:off x="3639" y="1756"/>
              <a:ext cx="0" cy="106"/>
            </a:xfrm>
            <a:prstGeom prst="line">
              <a:avLst/>
            </a:prstGeom>
            <a:ln w="25400" cap="flat" cmpd="sng">
              <a:solidFill>
                <a:schemeClr val="tx1"/>
              </a:solidFill>
              <a:prstDash val="solid"/>
              <a:headEnd type="none" w="med" len="med"/>
              <a:tailEnd type="none" w="med" len="med"/>
            </a:ln>
          </p:spPr>
        </p:sp>
        <p:sp>
          <p:nvSpPr>
            <p:cNvPr id="84146" name="Line 189"/>
            <p:cNvSpPr/>
            <p:nvPr/>
          </p:nvSpPr>
          <p:spPr>
            <a:xfrm flipV="1">
              <a:off x="3666" y="1756"/>
              <a:ext cx="0" cy="106"/>
            </a:xfrm>
            <a:prstGeom prst="line">
              <a:avLst/>
            </a:prstGeom>
            <a:ln w="25400" cap="flat" cmpd="sng">
              <a:solidFill>
                <a:schemeClr val="tx1"/>
              </a:solidFill>
              <a:prstDash val="solid"/>
              <a:headEnd type="none" w="med" len="med"/>
              <a:tailEnd type="none" w="med" len="med"/>
            </a:ln>
          </p:spPr>
        </p:sp>
        <p:sp>
          <p:nvSpPr>
            <p:cNvPr id="84147" name="Line 190"/>
            <p:cNvSpPr/>
            <p:nvPr/>
          </p:nvSpPr>
          <p:spPr>
            <a:xfrm flipV="1">
              <a:off x="3693" y="1756"/>
              <a:ext cx="0" cy="106"/>
            </a:xfrm>
            <a:prstGeom prst="line">
              <a:avLst/>
            </a:prstGeom>
            <a:ln w="25400" cap="flat" cmpd="sng">
              <a:solidFill>
                <a:schemeClr val="tx1"/>
              </a:solidFill>
              <a:prstDash val="solid"/>
              <a:headEnd type="none" w="med" len="med"/>
              <a:tailEnd type="none" w="med" len="med"/>
            </a:ln>
          </p:spPr>
        </p:sp>
        <p:sp>
          <p:nvSpPr>
            <p:cNvPr id="84148" name="Line 191"/>
            <p:cNvSpPr/>
            <p:nvPr/>
          </p:nvSpPr>
          <p:spPr>
            <a:xfrm flipV="1">
              <a:off x="3721" y="1756"/>
              <a:ext cx="0" cy="106"/>
            </a:xfrm>
            <a:prstGeom prst="line">
              <a:avLst/>
            </a:prstGeom>
            <a:ln w="25400" cap="flat" cmpd="sng">
              <a:solidFill>
                <a:schemeClr val="tx1"/>
              </a:solidFill>
              <a:prstDash val="solid"/>
              <a:headEnd type="none" w="med" len="med"/>
              <a:tailEnd type="none" w="med" len="med"/>
            </a:ln>
          </p:spPr>
        </p:sp>
        <p:sp>
          <p:nvSpPr>
            <p:cNvPr id="84149" name="Line 192"/>
            <p:cNvSpPr/>
            <p:nvPr/>
          </p:nvSpPr>
          <p:spPr>
            <a:xfrm flipV="1">
              <a:off x="3748" y="1756"/>
              <a:ext cx="0" cy="106"/>
            </a:xfrm>
            <a:prstGeom prst="line">
              <a:avLst/>
            </a:prstGeom>
            <a:ln w="25400" cap="flat" cmpd="sng">
              <a:solidFill>
                <a:schemeClr val="tx1"/>
              </a:solidFill>
              <a:prstDash val="solid"/>
              <a:headEnd type="none" w="med" len="med"/>
              <a:tailEnd type="none" w="med" len="med"/>
            </a:ln>
          </p:spPr>
        </p:sp>
        <p:sp>
          <p:nvSpPr>
            <p:cNvPr id="84150" name="Line 193"/>
            <p:cNvSpPr/>
            <p:nvPr/>
          </p:nvSpPr>
          <p:spPr>
            <a:xfrm flipV="1">
              <a:off x="3775" y="1756"/>
              <a:ext cx="0" cy="106"/>
            </a:xfrm>
            <a:prstGeom prst="line">
              <a:avLst/>
            </a:prstGeom>
            <a:ln w="25400" cap="flat" cmpd="sng">
              <a:solidFill>
                <a:schemeClr val="tx1"/>
              </a:solidFill>
              <a:prstDash val="solid"/>
              <a:headEnd type="none" w="med" len="med"/>
              <a:tailEnd type="none" w="med" len="med"/>
            </a:ln>
          </p:spPr>
        </p:sp>
        <p:sp>
          <p:nvSpPr>
            <p:cNvPr id="84151" name="Line 194"/>
            <p:cNvSpPr/>
            <p:nvPr/>
          </p:nvSpPr>
          <p:spPr>
            <a:xfrm flipV="1">
              <a:off x="3802" y="1756"/>
              <a:ext cx="0" cy="106"/>
            </a:xfrm>
            <a:prstGeom prst="line">
              <a:avLst/>
            </a:prstGeom>
            <a:ln w="25400" cap="flat" cmpd="sng">
              <a:solidFill>
                <a:schemeClr val="tx1"/>
              </a:solidFill>
              <a:prstDash val="solid"/>
              <a:headEnd type="none" w="med" len="med"/>
              <a:tailEnd type="none" w="med" len="med"/>
            </a:ln>
          </p:spPr>
        </p:sp>
        <p:sp>
          <p:nvSpPr>
            <p:cNvPr id="84152" name="Line 195"/>
            <p:cNvSpPr/>
            <p:nvPr/>
          </p:nvSpPr>
          <p:spPr>
            <a:xfrm flipV="1">
              <a:off x="3830" y="1756"/>
              <a:ext cx="0" cy="106"/>
            </a:xfrm>
            <a:prstGeom prst="line">
              <a:avLst/>
            </a:prstGeom>
            <a:ln w="25400" cap="flat" cmpd="sng">
              <a:solidFill>
                <a:schemeClr val="tx1"/>
              </a:solidFill>
              <a:prstDash val="solid"/>
              <a:headEnd type="none" w="med" len="med"/>
              <a:tailEnd type="none" w="med" len="med"/>
            </a:ln>
          </p:spPr>
        </p:sp>
        <p:sp>
          <p:nvSpPr>
            <p:cNvPr id="84153" name="Line 196"/>
            <p:cNvSpPr/>
            <p:nvPr/>
          </p:nvSpPr>
          <p:spPr>
            <a:xfrm flipV="1">
              <a:off x="3857" y="1756"/>
              <a:ext cx="0" cy="106"/>
            </a:xfrm>
            <a:prstGeom prst="line">
              <a:avLst/>
            </a:prstGeom>
            <a:ln w="25400" cap="flat" cmpd="sng">
              <a:solidFill>
                <a:schemeClr val="tx1"/>
              </a:solidFill>
              <a:prstDash val="solid"/>
              <a:headEnd type="none" w="med" len="med"/>
              <a:tailEnd type="none" w="med" len="med"/>
            </a:ln>
          </p:spPr>
        </p:sp>
        <p:sp>
          <p:nvSpPr>
            <p:cNvPr id="84154" name="Line 197"/>
            <p:cNvSpPr/>
            <p:nvPr/>
          </p:nvSpPr>
          <p:spPr>
            <a:xfrm flipV="1">
              <a:off x="3884" y="1756"/>
              <a:ext cx="0" cy="106"/>
            </a:xfrm>
            <a:prstGeom prst="line">
              <a:avLst/>
            </a:prstGeom>
            <a:ln w="25400" cap="flat" cmpd="sng">
              <a:solidFill>
                <a:schemeClr val="tx1"/>
              </a:solidFill>
              <a:prstDash val="solid"/>
              <a:headEnd type="none" w="med" len="med"/>
              <a:tailEnd type="none" w="med" len="med"/>
            </a:ln>
          </p:spPr>
        </p:sp>
        <p:sp>
          <p:nvSpPr>
            <p:cNvPr id="84155" name="Line 198"/>
            <p:cNvSpPr/>
            <p:nvPr/>
          </p:nvSpPr>
          <p:spPr>
            <a:xfrm flipV="1">
              <a:off x="3911" y="1756"/>
              <a:ext cx="0" cy="106"/>
            </a:xfrm>
            <a:prstGeom prst="line">
              <a:avLst/>
            </a:prstGeom>
            <a:ln w="25400" cap="flat" cmpd="sng">
              <a:solidFill>
                <a:schemeClr val="tx1"/>
              </a:solidFill>
              <a:prstDash val="solid"/>
              <a:headEnd type="none" w="med" len="med"/>
              <a:tailEnd type="none" w="med" len="med"/>
            </a:ln>
          </p:spPr>
        </p:sp>
        <p:sp>
          <p:nvSpPr>
            <p:cNvPr id="84156" name="Line 199"/>
            <p:cNvSpPr/>
            <p:nvPr/>
          </p:nvSpPr>
          <p:spPr>
            <a:xfrm flipV="1">
              <a:off x="3939" y="1756"/>
              <a:ext cx="0" cy="106"/>
            </a:xfrm>
            <a:prstGeom prst="line">
              <a:avLst/>
            </a:prstGeom>
            <a:ln w="25400" cap="flat" cmpd="sng">
              <a:solidFill>
                <a:schemeClr val="tx1"/>
              </a:solidFill>
              <a:prstDash val="solid"/>
              <a:headEnd type="none" w="med" len="med"/>
              <a:tailEnd type="none" w="med" len="med"/>
            </a:ln>
          </p:spPr>
        </p:sp>
        <p:sp>
          <p:nvSpPr>
            <p:cNvPr id="84157" name="Line 200"/>
            <p:cNvSpPr/>
            <p:nvPr/>
          </p:nvSpPr>
          <p:spPr>
            <a:xfrm flipV="1">
              <a:off x="3966" y="1756"/>
              <a:ext cx="0" cy="106"/>
            </a:xfrm>
            <a:prstGeom prst="line">
              <a:avLst/>
            </a:prstGeom>
            <a:ln w="25400" cap="flat" cmpd="sng">
              <a:solidFill>
                <a:schemeClr val="tx1"/>
              </a:solidFill>
              <a:prstDash val="solid"/>
              <a:headEnd type="none" w="med" len="med"/>
              <a:tailEnd type="none" w="med" len="med"/>
            </a:ln>
          </p:spPr>
        </p:sp>
        <p:sp>
          <p:nvSpPr>
            <p:cNvPr id="84158" name="Line 201"/>
            <p:cNvSpPr/>
            <p:nvPr/>
          </p:nvSpPr>
          <p:spPr>
            <a:xfrm flipV="1">
              <a:off x="3993" y="1756"/>
              <a:ext cx="0" cy="106"/>
            </a:xfrm>
            <a:prstGeom prst="line">
              <a:avLst/>
            </a:prstGeom>
            <a:ln w="25400" cap="flat" cmpd="sng">
              <a:solidFill>
                <a:schemeClr val="tx1"/>
              </a:solidFill>
              <a:prstDash val="solid"/>
              <a:headEnd type="none" w="med" len="med"/>
              <a:tailEnd type="none" w="med" len="med"/>
            </a:ln>
          </p:spPr>
        </p:sp>
        <p:sp>
          <p:nvSpPr>
            <p:cNvPr id="84159" name="Line 202"/>
            <p:cNvSpPr/>
            <p:nvPr/>
          </p:nvSpPr>
          <p:spPr>
            <a:xfrm flipV="1">
              <a:off x="4018" y="1756"/>
              <a:ext cx="0" cy="106"/>
            </a:xfrm>
            <a:prstGeom prst="line">
              <a:avLst/>
            </a:prstGeom>
            <a:ln w="25400" cap="flat" cmpd="sng">
              <a:solidFill>
                <a:schemeClr val="tx1"/>
              </a:solidFill>
              <a:prstDash val="solid"/>
              <a:headEnd type="none" w="med" len="med"/>
              <a:tailEnd type="none" w="med" len="med"/>
            </a:ln>
          </p:spPr>
        </p:sp>
        <p:sp>
          <p:nvSpPr>
            <p:cNvPr id="84160" name="Line 203"/>
            <p:cNvSpPr/>
            <p:nvPr/>
          </p:nvSpPr>
          <p:spPr>
            <a:xfrm flipV="1">
              <a:off x="4046" y="1756"/>
              <a:ext cx="0" cy="106"/>
            </a:xfrm>
            <a:prstGeom prst="line">
              <a:avLst/>
            </a:prstGeom>
            <a:ln w="25400" cap="flat" cmpd="sng">
              <a:solidFill>
                <a:schemeClr val="tx1"/>
              </a:solidFill>
              <a:prstDash val="solid"/>
              <a:headEnd type="none" w="med" len="med"/>
              <a:tailEnd type="none" w="med" len="med"/>
            </a:ln>
          </p:spPr>
        </p:sp>
        <p:sp>
          <p:nvSpPr>
            <p:cNvPr id="84161" name="Line 204"/>
            <p:cNvSpPr/>
            <p:nvPr/>
          </p:nvSpPr>
          <p:spPr>
            <a:xfrm flipV="1">
              <a:off x="4073" y="1756"/>
              <a:ext cx="0" cy="106"/>
            </a:xfrm>
            <a:prstGeom prst="line">
              <a:avLst/>
            </a:prstGeom>
            <a:ln w="25400" cap="flat" cmpd="sng">
              <a:solidFill>
                <a:schemeClr val="tx1"/>
              </a:solidFill>
              <a:prstDash val="solid"/>
              <a:headEnd type="none" w="med" len="med"/>
              <a:tailEnd type="none" w="med" len="med"/>
            </a:ln>
          </p:spPr>
        </p:sp>
        <p:sp>
          <p:nvSpPr>
            <p:cNvPr id="84162" name="Line 205"/>
            <p:cNvSpPr/>
            <p:nvPr/>
          </p:nvSpPr>
          <p:spPr>
            <a:xfrm flipV="1">
              <a:off x="4100" y="1756"/>
              <a:ext cx="0" cy="106"/>
            </a:xfrm>
            <a:prstGeom prst="line">
              <a:avLst/>
            </a:prstGeom>
            <a:ln w="25400" cap="flat" cmpd="sng">
              <a:solidFill>
                <a:schemeClr val="tx1"/>
              </a:solidFill>
              <a:prstDash val="solid"/>
              <a:headEnd type="none" w="med" len="med"/>
              <a:tailEnd type="none" w="med" len="med"/>
            </a:ln>
          </p:spPr>
        </p:sp>
      </p:grpSp>
      <p:sp>
        <p:nvSpPr>
          <p:cNvPr id="2473166" name="Line 206"/>
          <p:cNvSpPr/>
          <p:nvPr/>
        </p:nvSpPr>
        <p:spPr>
          <a:xfrm>
            <a:off x="4895850" y="3254375"/>
            <a:ext cx="2236788" cy="0"/>
          </a:xfrm>
          <a:prstGeom prst="line">
            <a:avLst/>
          </a:prstGeom>
          <a:ln w="9525" cap="flat" cmpd="sng">
            <a:solidFill>
              <a:srgbClr val="003366"/>
            </a:solidFill>
            <a:prstDash val="solid"/>
            <a:headEnd type="stealth" w="med" len="lg"/>
            <a:tailEnd type="stealth" w="med" len="lg"/>
          </a:ln>
        </p:spPr>
      </p:sp>
      <p:sp>
        <p:nvSpPr>
          <p:cNvPr id="2473167" name="Line 207"/>
          <p:cNvSpPr/>
          <p:nvPr/>
        </p:nvSpPr>
        <p:spPr>
          <a:xfrm>
            <a:off x="7132638" y="3254375"/>
            <a:ext cx="1114425" cy="0"/>
          </a:xfrm>
          <a:prstGeom prst="line">
            <a:avLst/>
          </a:prstGeom>
          <a:ln w="9525" cap="flat" cmpd="sng">
            <a:solidFill>
              <a:srgbClr val="003366"/>
            </a:solidFill>
            <a:prstDash val="solid"/>
            <a:headEnd type="stealth" w="med" len="lg"/>
            <a:tailEnd type="stealth" w="med" len="lg"/>
          </a:ln>
        </p:spPr>
      </p:sp>
      <p:sp>
        <p:nvSpPr>
          <p:cNvPr id="2473168" name="Text Box 208"/>
          <p:cNvSpPr txBox="1"/>
          <p:nvPr/>
        </p:nvSpPr>
        <p:spPr>
          <a:xfrm>
            <a:off x="5840413" y="2978150"/>
            <a:ext cx="498475" cy="284163"/>
          </a:xfrm>
          <a:prstGeom prst="rect">
            <a:avLst/>
          </a:prstGeom>
          <a:noFill/>
          <a:ln w="9525">
            <a:noFill/>
          </a:ln>
        </p:spPr>
        <p:txBody>
          <a:bodyPr>
            <a:spAutoFit/>
          </a:bodyPr>
          <a:p>
            <a:pPr eaLnBrk="1" hangingPunct="1">
              <a:lnSpc>
                <a:spcPct val="90000"/>
              </a:lnSpc>
            </a:pPr>
            <a:r>
              <a:rPr lang="en-US" altLang="zh-CN" sz="1400" i="1" dirty="0">
                <a:solidFill>
                  <a:srgbClr val="FF0000"/>
                </a:solidFill>
                <a:latin typeface="Times New Roman" panose="02020603050405020304" pitchFamily="18" charset="0"/>
              </a:rPr>
              <a:t>N</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sp>
        <p:nvSpPr>
          <p:cNvPr id="2473169" name="Text Box 209"/>
          <p:cNvSpPr txBox="1"/>
          <p:nvPr/>
        </p:nvSpPr>
        <p:spPr>
          <a:xfrm>
            <a:off x="7519988" y="2973388"/>
            <a:ext cx="369887" cy="284162"/>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N</a:t>
            </a:r>
            <a:r>
              <a:rPr lang="en-US" altLang="zh-CN" sz="1400" baseline="-25000" dirty="0">
                <a:solidFill>
                  <a:srgbClr val="FF0000"/>
                </a:solidFill>
                <a:latin typeface="Times New Roman" panose="02020603050405020304" pitchFamily="18" charset="0"/>
              </a:rPr>
              <a:t>2</a:t>
            </a:r>
            <a:endParaRPr lang="en-US" altLang="zh-CN" sz="1400" baseline="-25000" dirty="0">
              <a:solidFill>
                <a:srgbClr val="FF0000"/>
              </a:solidFill>
              <a:latin typeface="Times New Roman" panose="02020603050405020304" pitchFamily="18" charset="0"/>
            </a:endParaRPr>
          </a:p>
        </p:txBody>
      </p:sp>
      <p:sp>
        <p:nvSpPr>
          <p:cNvPr id="2473170" name="Line 210"/>
          <p:cNvSpPr/>
          <p:nvPr/>
        </p:nvSpPr>
        <p:spPr>
          <a:xfrm>
            <a:off x="4892675" y="2482850"/>
            <a:ext cx="2236788" cy="0"/>
          </a:xfrm>
          <a:prstGeom prst="line">
            <a:avLst/>
          </a:prstGeom>
          <a:ln w="9525" cap="flat" cmpd="sng">
            <a:solidFill>
              <a:srgbClr val="003366"/>
            </a:solidFill>
            <a:prstDash val="solid"/>
            <a:headEnd type="stealth" w="med" len="lg"/>
            <a:tailEnd type="stealth" w="med" len="lg"/>
          </a:ln>
        </p:spPr>
      </p:sp>
      <p:sp>
        <p:nvSpPr>
          <p:cNvPr id="2473171" name="Line 211"/>
          <p:cNvSpPr/>
          <p:nvPr/>
        </p:nvSpPr>
        <p:spPr>
          <a:xfrm>
            <a:off x="7129463" y="2482850"/>
            <a:ext cx="1114425" cy="0"/>
          </a:xfrm>
          <a:prstGeom prst="line">
            <a:avLst/>
          </a:prstGeom>
          <a:ln w="9525" cap="flat" cmpd="sng">
            <a:solidFill>
              <a:srgbClr val="003366"/>
            </a:solidFill>
            <a:prstDash val="solid"/>
            <a:headEnd type="stealth" w="med" len="lg"/>
            <a:tailEnd type="stealth" w="med" len="lg"/>
          </a:ln>
        </p:spPr>
      </p:sp>
      <p:sp>
        <p:nvSpPr>
          <p:cNvPr id="2473172" name="Text Box 212"/>
          <p:cNvSpPr txBox="1"/>
          <p:nvPr/>
        </p:nvSpPr>
        <p:spPr>
          <a:xfrm>
            <a:off x="5892800" y="2206625"/>
            <a:ext cx="403225" cy="284163"/>
          </a:xfrm>
          <a:prstGeom prst="rect">
            <a:avLst/>
          </a:prstGeom>
          <a:noFill/>
          <a:ln w="9525">
            <a:noFill/>
          </a:ln>
        </p:spPr>
        <p:txBody>
          <a:bodyPr>
            <a:spAutoFit/>
          </a:bodyPr>
          <a:p>
            <a:pPr eaLnBrk="1" hangingPunct="1">
              <a:lnSpc>
                <a:spcPct val="90000"/>
              </a:lnSpc>
            </a:pPr>
            <a:r>
              <a:rPr lang="en-US" altLang="zh-CN" sz="1400" i="1" dirty="0">
                <a:solidFill>
                  <a:srgbClr val="FF0000"/>
                </a:solidFill>
                <a:latin typeface="Times New Roman" panose="02020603050405020304" pitchFamily="18" charset="0"/>
              </a:rPr>
              <a:t>t</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sp>
        <p:nvSpPr>
          <p:cNvPr id="2473173" name="Text Box 213"/>
          <p:cNvSpPr txBox="1"/>
          <p:nvPr/>
        </p:nvSpPr>
        <p:spPr>
          <a:xfrm>
            <a:off x="7548563" y="2201863"/>
            <a:ext cx="290512" cy="284162"/>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r>
              <a:rPr lang="en-US" altLang="zh-CN" sz="1400" baseline="-25000" dirty="0">
                <a:solidFill>
                  <a:srgbClr val="FF0000"/>
                </a:solidFill>
                <a:latin typeface="Times New Roman" panose="02020603050405020304" pitchFamily="18" charset="0"/>
              </a:rPr>
              <a:t>2</a:t>
            </a:r>
            <a:endParaRPr lang="en-US" altLang="zh-CN" sz="1400" baseline="-25000" dirty="0">
              <a:solidFill>
                <a:srgbClr val="FF0000"/>
              </a:solidFill>
              <a:latin typeface="Times New Roman" panose="02020603050405020304" pitchFamily="18" charset="0"/>
            </a:endParaRPr>
          </a:p>
        </p:txBody>
      </p:sp>
      <p:sp>
        <p:nvSpPr>
          <p:cNvPr id="2473174" name="Text Box 214"/>
          <p:cNvSpPr txBox="1"/>
          <p:nvPr/>
        </p:nvSpPr>
        <p:spPr>
          <a:xfrm>
            <a:off x="7100888" y="1457325"/>
            <a:ext cx="539750"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OX</a:t>
            </a:r>
            <a:endParaRPr lang="en-US" altLang="zh-CN" sz="1600" baseline="-25000" dirty="0">
              <a:solidFill>
                <a:srgbClr val="FF0000"/>
              </a:solidFill>
              <a:latin typeface="Times New Roman" panose="02020603050405020304" pitchFamily="18" charset="0"/>
            </a:endParaRPr>
          </a:p>
        </p:txBody>
      </p:sp>
      <p:sp>
        <p:nvSpPr>
          <p:cNvPr id="2473175" name="Text Box 215"/>
          <p:cNvSpPr txBox="1"/>
          <p:nvPr/>
        </p:nvSpPr>
        <p:spPr>
          <a:xfrm>
            <a:off x="8710613" y="1035050"/>
            <a:ext cx="233362"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2473176" name="Text Box 216"/>
          <p:cNvSpPr txBox="1"/>
          <p:nvPr/>
        </p:nvSpPr>
        <p:spPr>
          <a:xfrm>
            <a:off x="8696325" y="2044700"/>
            <a:ext cx="233363"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2473177" name="Line 217"/>
          <p:cNvSpPr/>
          <p:nvPr/>
        </p:nvSpPr>
        <p:spPr>
          <a:xfrm>
            <a:off x="5907088" y="944563"/>
            <a:ext cx="0" cy="257175"/>
          </a:xfrm>
          <a:prstGeom prst="line">
            <a:avLst/>
          </a:prstGeom>
          <a:ln w="9525" cap="flat" cmpd="sng">
            <a:solidFill>
              <a:srgbClr val="003366"/>
            </a:solidFill>
            <a:prstDash val="solid"/>
            <a:headEnd type="none" w="med" len="lg"/>
            <a:tailEnd type="stealth" w="med" len="lg"/>
          </a:ln>
        </p:spPr>
      </p:sp>
      <p:sp>
        <p:nvSpPr>
          <p:cNvPr id="2473178" name="Line 218"/>
          <p:cNvSpPr/>
          <p:nvPr/>
        </p:nvSpPr>
        <p:spPr>
          <a:xfrm>
            <a:off x="5907088" y="1449388"/>
            <a:ext cx="0" cy="250825"/>
          </a:xfrm>
          <a:prstGeom prst="line">
            <a:avLst/>
          </a:prstGeom>
          <a:ln w="9525" cap="flat" cmpd="sng">
            <a:solidFill>
              <a:srgbClr val="003366"/>
            </a:solidFill>
            <a:prstDash val="solid"/>
            <a:headEnd type="stealth" w="med" len="lg"/>
            <a:tailEnd type="none" w="med" len="lg"/>
          </a:ln>
        </p:spPr>
      </p:sp>
      <p:sp>
        <p:nvSpPr>
          <p:cNvPr id="2473179" name="Text Box 219"/>
          <p:cNvSpPr txBox="1"/>
          <p:nvPr/>
        </p:nvSpPr>
        <p:spPr>
          <a:xfrm>
            <a:off x="5697538" y="1146175"/>
            <a:ext cx="368300"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i="1" baseline="-25000" dirty="0">
                <a:solidFill>
                  <a:srgbClr val="FF0000"/>
                </a:solidFill>
                <a:latin typeface="Times New Roman" panose="02020603050405020304" pitchFamily="18" charset="0"/>
              </a:rPr>
              <a:t>i</a:t>
            </a:r>
            <a:endParaRPr lang="en-US" altLang="zh-CN" sz="1600" i="1" baseline="-25000" dirty="0">
              <a:solidFill>
                <a:srgbClr val="FF0000"/>
              </a:solidFill>
              <a:latin typeface="Times New Roman" panose="02020603050405020304" pitchFamily="18" charset="0"/>
            </a:endParaRPr>
          </a:p>
        </p:txBody>
      </p:sp>
      <p:sp>
        <p:nvSpPr>
          <p:cNvPr id="2473180" name="Line 220"/>
          <p:cNvSpPr/>
          <p:nvPr/>
        </p:nvSpPr>
        <p:spPr>
          <a:xfrm>
            <a:off x="7499350" y="671513"/>
            <a:ext cx="0" cy="530225"/>
          </a:xfrm>
          <a:prstGeom prst="line">
            <a:avLst/>
          </a:prstGeom>
          <a:ln w="9525" cap="flat" cmpd="sng">
            <a:solidFill>
              <a:srgbClr val="003366"/>
            </a:solidFill>
            <a:prstDash val="solid"/>
            <a:headEnd type="stealth" w="med" len="lg"/>
            <a:tailEnd type="stealth" w="med" len="lg"/>
          </a:ln>
        </p:spPr>
      </p:sp>
      <p:sp>
        <p:nvSpPr>
          <p:cNvPr id="2473181" name="Text Box 221"/>
          <p:cNvSpPr txBox="1"/>
          <p:nvPr/>
        </p:nvSpPr>
        <p:spPr>
          <a:xfrm>
            <a:off x="7467600" y="777875"/>
            <a:ext cx="61118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i="1" baseline="-25000" dirty="0">
                <a:solidFill>
                  <a:srgbClr val="FF0000"/>
                </a:solidFill>
                <a:latin typeface="Times New Roman" panose="02020603050405020304" pitchFamily="18" charset="0"/>
              </a:rPr>
              <a:t>REF</a:t>
            </a:r>
            <a:endParaRPr lang="en-US" altLang="zh-CN" sz="1600" i="1" baseline="-25000" dirty="0">
              <a:solidFill>
                <a:srgbClr val="FF0000"/>
              </a:solidFill>
              <a:latin typeface="Times New Roman" panose="02020603050405020304" pitchFamily="18" charset="0"/>
            </a:endParaRPr>
          </a:p>
        </p:txBody>
      </p:sp>
      <p:sp>
        <p:nvSpPr>
          <p:cNvPr id="2473182" name="Text Box 222"/>
          <p:cNvSpPr txBox="1"/>
          <p:nvPr/>
        </p:nvSpPr>
        <p:spPr>
          <a:xfrm>
            <a:off x="2016125" y="2490788"/>
            <a:ext cx="1362075" cy="641350"/>
          </a:xfrm>
          <a:prstGeom prst="rect">
            <a:avLst/>
          </a:prstGeom>
          <a:solidFill>
            <a:srgbClr val="CCFFCC"/>
          </a:solidFill>
          <a:ln w="9525">
            <a:noFill/>
          </a:ln>
        </p:spPr>
        <p:txBody>
          <a:bodyPr>
            <a:spAutoFit/>
          </a:bodyPr>
          <a:p>
            <a:pPr algn="ctr" eaLnBrk="1" hangingPunct="1">
              <a:lnSpc>
                <a:spcPct val="90000"/>
              </a:lnSpc>
              <a:spcBef>
                <a:spcPct val="50000"/>
              </a:spcBef>
            </a:pPr>
            <a:r>
              <a:rPr lang="zh-CN" altLang="en-US" sz="2000" dirty="0">
                <a:solidFill>
                  <a:schemeClr val="tx1"/>
                </a:solidFill>
                <a:latin typeface="Times New Roman" panose="02020603050405020304" pitchFamily="18" charset="0"/>
              </a:rPr>
              <a:t>积分器输出波形</a:t>
            </a:r>
            <a:endParaRPr lang="zh-CN" altLang="en-US" sz="2000" dirty="0">
              <a:solidFill>
                <a:schemeClr val="tx1"/>
              </a:solidFill>
              <a:latin typeface="Times New Roman" panose="02020603050405020304" pitchFamily="18" charset="0"/>
            </a:endParaRPr>
          </a:p>
        </p:txBody>
      </p:sp>
      <p:sp>
        <p:nvSpPr>
          <p:cNvPr id="84107" name="Line 223"/>
          <p:cNvSpPr/>
          <p:nvPr/>
        </p:nvSpPr>
        <p:spPr>
          <a:xfrm flipV="1">
            <a:off x="1493838" y="4151313"/>
            <a:ext cx="266700" cy="128587"/>
          </a:xfrm>
          <a:prstGeom prst="line">
            <a:avLst/>
          </a:prstGeom>
          <a:ln w="19050" cap="flat" cmpd="sng">
            <a:solidFill>
              <a:srgbClr val="000080"/>
            </a:solidFill>
            <a:prstDash val="solid"/>
            <a:headEnd type="none" w="med" len="med"/>
            <a:tailEnd type="none" w="med" len="med"/>
          </a:ln>
        </p:spPr>
      </p:sp>
      <p:sp>
        <p:nvSpPr>
          <p:cNvPr id="84108" name="Line 224"/>
          <p:cNvSpPr/>
          <p:nvPr/>
        </p:nvSpPr>
        <p:spPr>
          <a:xfrm flipV="1">
            <a:off x="1489075" y="4587875"/>
            <a:ext cx="309563" cy="46038"/>
          </a:xfrm>
          <a:prstGeom prst="line">
            <a:avLst/>
          </a:prstGeom>
          <a:ln w="38100" cap="flat" cmpd="sng">
            <a:solidFill>
              <a:srgbClr val="FF00FF"/>
            </a:solidFill>
            <a:prstDash val="solid"/>
            <a:headEnd type="none" w="med" len="med"/>
            <a:tailEnd type="none" w="med" len="med"/>
          </a:ln>
        </p:spPr>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4110"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73182"/>
                                        </p:tgtEl>
                                        <p:attrNameLst>
                                          <p:attrName>style.visibility</p:attrName>
                                        </p:attrNameLst>
                                      </p:cBhvr>
                                      <p:to>
                                        <p:strVal val="visible"/>
                                      </p:to>
                                    </p:set>
                                    <p:animEffect transition="in" filter="dissolve">
                                      <p:cBhvr>
                                        <p:cTn id="7" dur="500"/>
                                        <p:tgtEl>
                                          <p:spTgt spid="247318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472962"/>
                                        </p:tgtEl>
                                        <p:attrNameLst>
                                          <p:attrName>style.visibility</p:attrName>
                                        </p:attrNameLst>
                                      </p:cBhvr>
                                      <p:to>
                                        <p:strVal val="visible"/>
                                      </p:to>
                                    </p:set>
                                    <p:animEffect transition="in" filter="dissolve">
                                      <p:cBhvr>
                                        <p:cTn id="10" dur="500"/>
                                        <p:tgtEl>
                                          <p:spTgt spid="2472962"/>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473080"/>
                                        </p:tgtEl>
                                        <p:attrNameLst>
                                          <p:attrName>style.visibility</p:attrName>
                                        </p:attrNameLst>
                                      </p:cBhvr>
                                      <p:to>
                                        <p:strVal val="visible"/>
                                      </p:to>
                                    </p:set>
                                    <p:animEffect transition="in" filter="dissolve">
                                      <p:cBhvr>
                                        <p:cTn id="13" dur="500"/>
                                        <p:tgtEl>
                                          <p:spTgt spid="2473080"/>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473071"/>
                                        </p:tgtEl>
                                        <p:attrNameLst>
                                          <p:attrName>style.visibility</p:attrName>
                                        </p:attrNameLst>
                                      </p:cBhvr>
                                      <p:to>
                                        <p:strVal val="visible"/>
                                      </p:to>
                                    </p:set>
                                    <p:animEffect transition="in" filter="dissolve">
                                      <p:cBhvr>
                                        <p:cTn id="16" dur="500"/>
                                        <p:tgtEl>
                                          <p:spTgt spid="2473071"/>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473085"/>
                                        </p:tgtEl>
                                        <p:attrNameLst>
                                          <p:attrName>style.visibility</p:attrName>
                                        </p:attrNameLst>
                                      </p:cBhvr>
                                      <p:to>
                                        <p:strVal val="visible"/>
                                      </p:to>
                                    </p:set>
                                    <p:animEffect transition="in" filter="dissolve">
                                      <p:cBhvr>
                                        <p:cTn id="19" dur="500"/>
                                        <p:tgtEl>
                                          <p:spTgt spid="2473085"/>
                                        </p:tgtEl>
                                      </p:cBhvr>
                                    </p:animEffect>
                                  </p:childTnLst>
                                </p:cTn>
                              </p:par>
                              <p:par>
                                <p:cTn id="20" presetID="9" presetClass="entr" presetSubtype="0" fill="hold" nodeType="withEffect">
                                  <p:stCondLst>
                                    <p:cond delay="0"/>
                                  </p:stCondLst>
                                  <p:childTnLst>
                                    <p:set>
                                      <p:cBhvr>
                                        <p:cTn id="21" dur="1" fill="hold">
                                          <p:stCondLst>
                                            <p:cond delay="0"/>
                                          </p:stCondLst>
                                        </p:cTn>
                                        <p:tgtEl>
                                          <p:spTgt spid="2473072"/>
                                        </p:tgtEl>
                                        <p:attrNameLst>
                                          <p:attrName>style.visibility</p:attrName>
                                        </p:attrNameLst>
                                      </p:cBhvr>
                                      <p:to>
                                        <p:strVal val="visible"/>
                                      </p:to>
                                    </p:set>
                                    <p:animEffect transition="in" filter="dissolve">
                                      <p:cBhvr>
                                        <p:cTn id="22" dur="500"/>
                                        <p:tgtEl>
                                          <p:spTgt spid="2473072"/>
                                        </p:tgtEl>
                                      </p:cBhvr>
                                    </p:animEffect>
                                  </p:childTnLst>
                                </p:cTn>
                              </p:par>
                              <p:par>
                                <p:cTn id="23" presetID="9" presetClass="entr" presetSubtype="0" fill="hold" nodeType="withEffect">
                                  <p:stCondLst>
                                    <p:cond delay="0"/>
                                  </p:stCondLst>
                                  <p:childTnLst>
                                    <p:set>
                                      <p:cBhvr>
                                        <p:cTn id="24" dur="1" fill="hold">
                                          <p:stCondLst>
                                            <p:cond delay="0"/>
                                          </p:stCondLst>
                                        </p:cTn>
                                        <p:tgtEl>
                                          <p:spTgt spid="2473070"/>
                                        </p:tgtEl>
                                        <p:attrNameLst>
                                          <p:attrName>style.visibility</p:attrName>
                                        </p:attrNameLst>
                                      </p:cBhvr>
                                      <p:to>
                                        <p:strVal val="visible"/>
                                      </p:to>
                                    </p:set>
                                    <p:animEffect transition="in" filter="dissolve">
                                      <p:cBhvr>
                                        <p:cTn id="25" dur="500"/>
                                        <p:tgtEl>
                                          <p:spTgt spid="2473070"/>
                                        </p:tgtEl>
                                      </p:cBhvr>
                                    </p:animEffect>
                                  </p:childTnLst>
                                </p:cTn>
                              </p:par>
                              <p:par>
                                <p:cTn id="26" presetID="9" presetClass="entr" presetSubtype="0" fill="hold" nodeType="withEffect">
                                  <p:stCondLst>
                                    <p:cond delay="0"/>
                                  </p:stCondLst>
                                  <p:childTnLst>
                                    <p:set>
                                      <p:cBhvr>
                                        <p:cTn id="27" dur="1" fill="hold">
                                          <p:stCondLst>
                                            <p:cond delay="0"/>
                                          </p:stCondLst>
                                        </p:cTn>
                                        <p:tgtEl>
                                          <p:spTgt spid="2473079"/>
                                        </p:tgtEl>
                                        <p:attrNameLst>
                                          <p:attrName>style.visibility</p:attrName>
                                        </p:attrNameLst>
                                      </p:cBhvr>
                                      <p:to>
                                        <p:strVal val="visible"/>
                                      </p:to>
                                    </p:set>
                                    <p:animEffect transition="in" filter="dissolve">
                                      <p:cBhvr>
                                        <p:cTn id="28" dur="500"/>
                                        <p:tgtEl>
                                          <p:spTgt spid="2473079"/>
                                        </p:tgtEl>
                                      </p:cBhvr>
                                    </p:animEffect>
                                  </p:childTnLst>
                                </p:cTn>
                              </p:par>
                              <p:par>
                                <p:cTn id="29" presetID="9" presetClass="entr" presetSubtype="0" fill="hold" nodeType="withEffect">
                                  <p:stCondLst>
                                    <p:cond delay="0"/>
                                  </p:stCondLst>
                                  <p:childTnLst>
                                    <p:set>
                                      <p:cBhvr>
                                        <p:cTn id="30" dur="1" fill="hold">
                                          <p:stCondLst>
                                            <p:cond delay="0"/>
                                          </p:stCondLst>
                                        </p:cTn>
                                        <p:tgtEl>
                                          <p:spTgt spid="2473083"/>
                                        </p:tgtEl>
                                        <p:attrNameLst>
                                          <p:attrName>style.visibility</p:attrName>
                                        </p:attrNameLst>
                                      </p:cBhvr>
                                      <p:to>
                                        <p:strVal val="visible"/>
                                      </p:to>
                                    </p:set>
                                    <p:animEffect transition="in" filter="dissolve">
                                      <p:cBhvr>
                                        <p:cTn id="31" dur="500"/>
                                        <p:tgtEl>
                                          <p:spTgt spid="2473083"/>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473175"/>
                                        </p:tgtEl>
                                        <p:attrNameLst>
                                          <p:attrName>style.visibility</p:attrName>
                                        </p:attrNameLst>
                                      </p:cBhvr>
                                      <p:to>
                                        <p:strVal val="visible"/>
                                      </p:to>
                                    </p:set>
                                    <p:animEffect transition="in" filter="dissolve">
                                      <p:cBhvr>
                                        <p:cTn id="34" dur="500"/>
                                        <p:tgtEl>
                                          <p:spTgt spid="2473175"/>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73176"/>
                                        </p:tgtEl>
                                        <p:attrNameLst>
                                          <p:attrName>style.visibility</p:attrName>
                                        </p:attrNameLst>
                                      </p:cBhvr>
                                      <p:to>
                                        <p:strVal val="visible"/>
                                      </p:to>
                                    </p:set>
                                    <p:animEffect transition="in" filter="dissolve">
                                      <p:cBhvr>
                                        <p:cTn id="37" dur="500"/>
                                        <p:tgtEl>
                                          <p:spTgt spid="2473176"/>
                                        </p:tgtEl>
                                      </p:cBhvr>
                                    </p:animEffect>
                                  </p:childTnLst>
                                </p:cTn>
                              </p:par>
                              <p:par>
                                <p:cTn id="38" presetID="9" presetClass="entr" presetSubtype="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dissolve">
                                      <p:cBhvr>
                                        <p:cTn id="40" dur="500"/>
                                        <p:tgtEl>
                                          <p:spTgt spid="5"/>
                                        </p:tgtEl>
                                      </p:cBhvr>
                                    </p:animEffect>
                                  </p:childTnLst>
                                </p:cTn>
                              </p:par>
                              <p:par>
                                <p:cTn id="41" presetID="9" presetClass="entr" presetSubtype="0" fill="hold" nodeType="withEffect">
                                  <p:stCondLst>
                                    <p:cond delay="0"/>
                                  </p:stCondLst>
                                  <p:childTnLst>
                                    <p:set>
                                      <p:cBhvr>
                                        <p:cTn id="42" dur="1" fill="hold">
                                          <p:stCondLst>
                                            <p:cond delay="0"/>
                                          </p:stCondLst>
                                        </p:cTn>
                                        <p:tgtEl>
                                          <p:spTgt spid="2473083"/>
                                        </p:tgtEl>
                                        <p:attrNameLst>
                                          <p:attrName>style.visibility</p:attrName>
                                        </p:attrNameLst>
                                      </p:cBhvr>
                                      <p:to>
                                        <p:strVal val="visible"/>
                                      </p:to>
                                    </p:set>
                                    <p:animEffect transition="in" filter="dissolve">
                                      <p:cBhvr>
                                        <p:cTn id="43" dur="500"/>
                                        <p:tgtEl>
                                          <p:spTgt spid="2473083"/>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473179"/>
                                        </p:tgtEl>
                                        <p:attrNameLst>
                                          <p:attrName>style.visibility</p:attrName>
                                        </p:attrNameLst>
                                      </p:cBhvr>
                                      <p:to>
                                        <p:strVal val="visible"/>
                                      </p:to>
                                    </p:set>
                                    <p:animEffect transition="in" filter="dissolve">
                                      <p:cBhvr>
                                        <p:cTn id="46" dur="500"/>
                                        <p:tgtEl>
                                          <p:spTgt spid="2473179"/>
                                        </p:tgtEl>
                                      </p:cBhvr>
                                    </p:animEffect>
                                  </p:childTnLst>
                                </p:cTn>
                              </p:par>
                              <p:par>
                                <p:cTn id="47" presetID="9" presetClass="entr" presetSubtype="0" fill="hold" nodeType="with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par>
                                <p:cTn id="50" presetID="9" presetClass="entr" presetSubtype="0" fill="hold" nodeType="withEffect">
                                  <p:stCondLst>
                                    <p:cond delay="0"/>
                                  </p:stCondLst>
                                  <p:childTnLst>
                                    <p:set>
                                      <p:cBhvr>
                                        <p:cTn id="51" dur="1" fill="hold">
                                          <p:stCondLst>
                                            <p:cond delay="0"/>
                                          </p:stCondLst>
                                        </p:cTn>
                                        <p:tgtEl>
                                          <p:spTgt spid="2473178"/>
                                        </p:tgtEl>
                                        <p:attrNameLst>
                                          <p:attrName>style.visibility</p:attrName>
                                        </p:attrNameLst>
                                      </p:cBhvr>
                                      <p:to>
                                        <p:strVal val="visible"/>
                                      </p:to>
                                    </p:set>
                                    <p:animEffect transition="in" filter="dissolve">
                                      <p:cBhvr>
                                        <p:cTn id="52" dur="500"/>
                                        <p:tgtEl>
                                          <p:spTgt spid="2473178"/>
                                        </p:tgtEl>
                                      </p:cBhvr>
                                    </p:animEffect>
                                  </p:childTnLst>
                                </p:cTn>
                              </p:par>
                              <p:par>
                                <p:cTn id="53" presetID="9" presetClass="entr" presetSubtype="0" fill="hold" nodeType="withEffect">
                                  <p:stCondLst>
                                    <p:cond delay="0"/>
                                  </p:stCondLst>
                                  <p:childTnLst>
                                    <p:set>
                                      <p:cBhvr>
                                        <p:cTn id="54" dur="1" fill="hold">
                                          <p:stCondLst>
                                            <p:cond delay="0"/>
                                          </p:stCondLst>
                                        </p:cTn>
                                        <p:tgtEl>
                                          <p:spTgt spid="2473177"/>
                                        </p:tgtEl>
                                        <p:attrNameLst>
                                          <p:attrName>style.visibility</p:attrName>
                                        </p:attrNameLst>
                                      </p:cBhvr>
                                      <p:to>
                                        <p:strVal val="visible"/>
                                      </p:to>
                                    </p:set>
                                    <p:animEffect transition="in" filter="dissolve">
                                      <p:cBhvr>
                                        <p:cTn id="55" dur="500"/>
                                        <p:tgtEl>
                                          <p:spTgt spid="2473177"/>
                                        </p:tgtEl>
                                      </p:cBhvr>
                                    </p:animEffect>
                                  </p:childTnLst>
                                </p:cTn>
                              </p:par>
                              <p:par>
                                <p:cTn id="56" presetID="9" presetClass="entr" presetSubtype="0" fill="hold" nodeType="withEffect">
                                  <p:stCondLst>
                                    <p:cond delay="0"/>
                                  </p:stCondLst>
                                  <p:childTnLst>
                                    <p:set>
                                      <p:cBhvr>
                                        <p:cTn id="57" dur="1" fill="hold">
                                          <p:stCondLst>
                                            <p:cond delay="0"/>
                                          </p:stCondLst>
                                        </p:cTn>
                                        <p:tgtEl>
                                          <p:spTgt spid="2473170"/>
                                        </p:tgtEl>
                                        <p:attrNameLst>
                                          <p:attrName>style.visibility</p:attrName>
                                        </p:attrNameLst>
                                      </p:cBhvr>
                                      <p:to>
                                        <p:strVal val="visible"/>
                                      </p:to>
                                    </p:set>
                                    <p:animEffect transition="in" filter="dissolve">
                                      <p:cBhvr>
                                        <p:cTn id="58" dur="500"/>
                                        <p:tgtEl>
                                          <p:spTgt spid="2473170"/>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2473172"/>
                                        </p:tgtEl>
                                        <p:attrNameLst>
                                          <p:attrName>style.visibility</p:attrName>
                                        </p:attrNameLst>
                                      </p:cBhvr>
                                      <p:to>
                                        <p:strVal val="visible"/>
                                      </p:to>
                                    </p:set>
                                    <p:animEffect transition="in" filter="dissolve">
                                      <p:cBhvr>
                                        <p:cTn id="61" dur="500"/>
                                        <p:tgtEl>
                                          <p:spTgt spid="2473172"/>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473168"/>
                                        </p:tgtEl>
                                        <p:attrNameLst>
                                          <p:attrName>style.visibility</p:attrName>
                                        </p:attrNameLst>
                                      </p:cBhvr>
                                      <p:to>
                                        <p:strVal val="visible"/>
                                      </p:to>
                                    </p:set>
                                    <p:animEffect transition="in" filter="dissolve">
                                      <p:cBhvr>
                                        <p:cTn id="64" dur="500"/>
                                        <p:tgtEl>
                                          <p:spTgt spid="2473168"/>
                                        </p:tgtEl>
                                      </p:cBhvr>
                                    </p:animEffect>
                                  </p:childTnLst>
                                </p:cTn>
                              </p:par>
                              <p:par>
                                <p:cTn id="65" presetID="9" presetClass="entr" presetSubtype="0" fill="hold" nodeType="withEffect">
                                  <p:stCondLst>
                                    <p:cond delay="0"/>
                                  </p:stCondLst>
                                  <p:childTnLst>
                                    <p:set>
                                      <p:cBhvr>
                                        <p:cTn id="66" dur="1" fill="hold">
                                          <p:stCondLst>
                                            <p:cond delay="0"/>
                                          </p:stCondLst>
                                        </p:cTn>
                                        <p:tgtEl>
                                          <p:spTgt spid="2473166"/>
                                        </p:tgtEl>
                                        <p:attrNameLst>
                                          <p:attrName>style.visibility</p:attrName>
                                        </p:attrNameLst>
                                      </p:cBhvr>
                                      <p:to>
                                        <p:strVal val="visible"/>
                                      </p:to>
                                    </p:set>
                                    <p:animEffect transition="in" filter="dissolve">
                                      <p:cBhvr>
                                        <p:cTn id="67" dur="500"/>
                                        <p:tgtEl>
                                          <p:spTgt spid="2473166"/>
                                        </p:tgtEl>
                                      </p:cBhvr>
                                    </p:animEffect>
                                  </p:childTnLst>
                                </p:cTn>
                              </p:par>
                              <p:par>
                                <p:cTn id="68" presetID="9" presetClass="entr" presetSubtype="0" fill="hold" nodeType="withEffect">
                                  <p:stCondLst>
                                    <p:cond delay="0"/>
                                  </p:stCondLst>
                                  <p:childTnLst>
                                    <p:set>
                                      <p:cBhvr>
                                        <p:cTn id="69" dur="1" fill="hold">
                                          <p:stCondLst>
                                            <p:cond delay="0"/>
                                          </p:stCondLst>
                                        </p:cTn>
                                        <p:tgtEl>
                                          <p:spTgt spid="2473081"/>
                                        </p:tgtEl>
                                        <p:attrNameLst>
                                          <p:attrName>style.visibility</p:attrName>
                                        </p:attrNameLst>
                                      </p:cBhvr>
                                      <p:to>
                                        <p:strVal val="visible"/>
                                      </p:to>
                                    </p:set>
                                    <p:animEffect transition="in" filter="dissolve">
                                      <p:cBhvr>
                                        <p:cTn id="70" dur="500"/>
                                        <p:tgtEl>
                                          <p:spTgt spid="2473081"/>
                                        </p:tgtEl>
                                      </p:cBhvr>
                                    </p:animEffect>
                                  </p:childTnLst>
                                </p:cTn>
                              </p:par>
                              <p:par>
                                <p:cTn id="71" presetID="9" presetClass="entr" presetSubtype="0" fill="hold" grpId="0" nodeType="withEffect">
                                  <p:stCondLst>
                                    <p:cond delay="0"/>
                                  </p:stCondLst>
                                  <p:childTnLst>
                                    <p:set>
                                      <p:cBhvr>
                                        <p:cTn id="72" dur="1" fill="hold">
                                          <p:stCondLst>
                                            <p:cond delay="0"/>
                                          </p:stCondLst>
                                        </p:cTn>
                                        <p:tgtEl>
                                          <p:spTgt spid="2473174"/>
                                        </p:tgtEl>
                                        <p:attrNameLst>
                                          <p:attrName>style.visibility</p:attrName>
                                        </p:attrNameLst>
                                      </p:cBhvr>
                                      <p:to>
                                        <p:strVal val="visible"/>
                                      </p:to>
                                    </p:set>
                                    <p:animEffect transition="in" filter="dissolve">
                                      <p:cBhvr>
                                        <p:cTn id="73" dur="500"/>
                                        <p:tgtEl>
                                          <p:spTgt spid="2473174"/>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nodeType="clickEffect">
                                  <p:stCondLst>
                                    <p:cond delay="0"/>
                                  </p:stCondLst>
                                  <p:childTnLst>
                                    <p:set>
                                      <p:cBhvr>
                                        <p:cTn id="77" dur="1" fill="hold">
                                          <p:stCondLst>
                                            <p:cond delay="0"/>
                                          </p:stCondLst>
                                        </p:cTn>
                                        <p:tgtEl>
                                          <p:spTgt spid="4"/>
                                        </p:tgtEl>
                                        <p:attrNameLst>
                                          <p:attrName>style.visibility</p:attrName>
                                        </p:attrNameLst>
                                      </p:cBhvr>
                                      <p:to>
                                        <p:strVal val="visible"/>
                                      </p:to>
                                    </p:set>
                                    <p:animEffect transition="in" filter="wipe(left)">
                                      <p:cBhvr>
                                        <p:cTn id="78" dur="5000"/>
                                        <p:tgtEl>
                                          <p:spTgt spid="4"/>
                                        </p:tgtEl>
                                      </p:cBhvr>
                                    </p:animEffect>
                                  </p:childTnLst>
                                </p:cTn>
                              </p:par>
                              <p:par>
                                <p:cTn id="79" presetID="22" presetClass="entr" presetSubtype="8" fill="hold" nodeType="withEffect">
                                  <p:stCondLst>
                                    <p:cond delay="0"/>
                                  </p:stCondLst>
                                  <p:childTnLst>
                                    <p:set>
                                      <p:cBhvr>
                                        <p:cTn id="80" dur="1" fill="hold">
                                          <p:stCondLst>
                                            <p:cond delay="0"/>
                                          </p:stCondLst>
                                        </p:cTn>
                                        <p:tgtEl>
                                          <p:spTgt spid="2473084"/>
                                        </p:tgtEl>
                                        <p:attrNameLst>
                                          <p:attrName>style.visibility</p:attrName>
                                        </p:attrNameLst>
                                      </p:cBhvr>
                                      <p:to>
                                        <p:strVal val="visible"/>
                                      </p:to>
                                    </p:set>
                                    <p:animEffect transition="in" filter="wipe(left)">
                                      <p:cBhvr>
                                        <p:cTn id="81" dur="5000"/>
                                        <p:tgtEl>
                                          <p:spTgt spid="2473084"/>
                                        </p:tgtEl>
                                      </p:cBhvr>
                                    </p:animEffect>
                                  </p:childTnLst>
                                </p:cTn>
                              </p:par>
                              <p:par>
                                <p:cTn id="82" presetID="22" presetClass="entr" presetSubtype="8" fill="hold" nodeType="withEffect">
                                  <p:stCondLst>
                                    <p:cond delay="0"/>
                                  </p:stCondLst>
                                  <p:childTnLst>
                                    <p:set>
                                      <p:cBhvr>
                                        <p:cTn id="83" dur="1" fill="hold">
                                          <p:stCondLst>
                                            <p:cond delay="0"/>
                                          </p:stCondLst>
                                        </p:cTn>
                                        <p:tgtEl>
                                          <p:spTgt spid="3"/>
                                        </p:tgtEl>
                                        <p:attrNameLst>
                                          <p:attrName>style.visibility</p:attrName>
                                        </p:attrNameLst>
                                      </p:cBhvr>
                                      <p:to>
                                        <p:strVal val="visible"/>
                                      </p:to>
                                    </p:set>
                                    <p:animEffect transition="in" filter="wipe(left)">
                                      <p:cBhvr>
                                        <p:cTn id="84" dur="5000"/>
                                        <p:tgtEl>
                                          <p:spTgt spid="3"/>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1" fill="hold" nodeType="clickEffect">
                                  <p:stCondLst>
                                    <p:cond delay="0"/>
                                  </p:stCondLst>
                                  <p:childTnLst>
                                    <p:set>
                                      <p:cBhvr>
                                        <p:cTn id="88" dur="1" fill="hold">
                                          <p:stCondLst>
                                            <p:cond delay="0"/>
                                          </p:stCondLst>
                                        </p:cTn>
                                        <p:tgtEl>
                                          <p:spTgt spid="2473082"/>
                                        </p:tgtEl>
                                        <p:attrNameLst>
                                          <p:attrName>style.visibility</p:attrName>
                                        </p:attrNameLst>
                                      </p:cBhvr>
                                      <p:to>
                                        <p:strVal val="visible"/>
                                      </p:to>
                                    </p:set>
                                    <p:animEffect transition="in" filter="wipe(up)">
                                      <p:cBhvr>
                                        <p:cTn id="89" dur="500"/>
                                        <p:tgtEl>
                                          <p:spTgt spid="2473082"/>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1" fill="hold" grpId="0" nodeType="clickEffect">
                                  <p:stCondLst>
                                    <p:cond delay="0"/>
                                  </p:stCondLst>
                                  <p:childTnLst>
                                    <p:set>
                                      <p:cBhvr>
                                        <p:cTn id="93" dur="1" fill="hold">
                                          <p:stCondLst>
                                            <p:cond delay="0"/>
                                          </p:stCondLst>
                                        </p:cTn>
                                        <p:tgtEl>
                                          <p:spTgt spid="2473181"/>
                                        </p:tgtEl>
                                        <p:attrNameLst>
                                          <p:attrName>style.visibility</p:attrName>
                                        </p:attrNameLst>
                                      </p:cBhvr>
                                      <p:to>
                                        <p:strVal val="visible"/>
                                      </p:to>
                                    </p:set>
                                    <p:animEffect transition="in" filter="wipe(up)">
                                      <p:cBhvr>
                                        <p:cTn id="94" dur="500"/>
                                        <p:tgtEl>
                                          <p:spTgt spid="2473181"/>
                                        </p:tgtEl>
                                      </p:cBhvr>
                                    </p:animEffect>
                                  </p:childTnLst>
                                </p:cTn>
                              </p:par>
                              <p:par>
                                <p:cTn id="95" presetID="22" presetClass="entr" presetSubtype="1" fill="hold" nodeType="withEffect">
                                  <p:stCondLst>
                                    <p:cond delay="0"/>
                                  </p:stCondLst>
                                  <p:childTnLst>
                                    <p:set>
                                      <p:cBhvr>
                                        <p:cTn id="96" dur="1" fill="hold">
                                          <p:stCondLst>
                                            <p:cond delay="0"/>
                                          </p:stCondLst>
                                        </p:cTn>
                                        <p:tgtEl>
                                          <p:spTgt spid="2473180"/>
                                        </p:tgtEl>
                                        <p:attrNameLst>
                                          <p:attrName>style.visibility</p:attrName>
                                        </p:attrNameLst>
                                      </p:cBhvr>
                                      <p:to>
                                        <p:strVal val="visible"/>
                                      </p:to>
                                    </p:set>
                                    <p:animEffect transition="in" filter="wipe(up)">
                                      <p:cBhvr>
                                        <p:cTn id="97" dur="500"/>
                                        <p:tgtEl>
                                          <p:spTgt spid="247318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2473169"/>
                                        </p:tgtEl>
                                        <p:attrNameLst>
                                          <p:attrName>style.visibility</p:attrName>
                                        </p:attrNameLst>
                                      </p:cBhvr>
                                      <p:to>
                                        <p:strVal val="visible"/>
                                      </p:to>
                                    </p:set>
                                    <p:animEffect transition="in" filter="wipe(left)">
                                      <p:cBhvr>
                                        <p:cTn id="102" dur="500"/>
                                        <p:tgtEl>
                                          <p:spTgt spid="2473169"/>
                                        </p:tgtEl>
                                      </p:cBhvr>
                                    </p:animEffect>
                                  </p:childTnLst>
                                </p:cTn>
                              </p:par>
                              <p:par>
                                <p:cTn id="103" presetID="22" presetClass="entr" presetSubtype="8" fill="hold" nodeType="withEffect">
                                  <p:stCondLst>
                                    <p:cond delay="0"/>
                                  </p:stCondLst>
                                  <p:childTnLst>
                                    <p:set>
                                      <p:cBhvr>
                                        <p:cTn id="104" dur="1" fill="hold">
                                          <p:stCondLst>
                                            <p:cond delay="0"/>
                                          </p:stCondLst>
                                        </p:cTn>
                                        <p:tgtEl>
                                          <p:spTgt spid="2473167"/>
                                        </p:tgtEl>
                                        <p:attrNameLst>
                                          <p:attrName>style.visibility</p:attrName>
                                        </p:attrNameLst>
                                      </p:cBhvr>
                                      <p:to>
                                        <p:strVal val="visible"/>
                                      </p:to>
                                    </p:set>
                                    <p:animEffect transition="in" filter="wipe(left)">
                                      <p:cBhvr>
                                        <p:cTn id="105" dur="500"/>
                                        <p:tgtEl>
                                          <p:spTgt spid="2473167"/>
                                        </p:tgtEl>
                                      </p:cBhvr>
                                    </p:animEffect>
                                  </p:childTnLst>
                                </p:cTn>
                              </p:par>
                              <p:par>
                                <p:cTn id="106" presetID="22" presetClass="entr" presetSubtype="8" fill="hold" nodeType="withEffect">
                                  <p:stCondLst>
                                    <p:cond delay="0"/>
                                  </p:stCondLst>
                                  <p:childTnLst>
                                    <p:set>
                                      <p:cBhvr>
                                        <p:cTn id="107" dur="1" fill="hold">
                                          <p:stCondLst>
                                            <p:cond delay="0"/>
                                          </p:stCondLst>
                                        </p:cTn>
                                        <p:tgtEl>
                                          <p:spTgt spid="2473171"/>
                                        </p:tgtEl>
                                        <p:attrNameLst>
                                          <p:attrName>style.visibility</p:attrName>
                                        </p:attrNameLst>
                                      </p:cBhvr>
                                      <p:to>
                                        <p:strVal val="visible"/>
                                      </p:to>
                                    </p:set>
                                    <p:animEffect transition="in" filter="wipe(left)">
                                      <p:cBhvr>
                                        <p:cTn id="108" dur="500"/>
                                        <p:tgtEl>
                                          <p:spTgt spid="2473171"/>
                                        </p:tgtEl>
                                      </p:cBhvr>
                                    </p:animEffect>
                                  </p:childTnLst>
                                </p:cTn>
                              </p:par>
                              <p:par>
                                <p:cTn id="109" presetID="22" presetClass="entr" presetSubtype="8" fill="hold" grpId="0" nodeType="withEffect">
                                  <p:stCondLst>
                                    <p:cond delay="0"/>
                                  </p:stCondLst>
                                  <p:childTnLst>
                                    <p:set>
                                      <p:cBhvr>
                                        <p:cTn id="110" dur="1" fill="hold">
                                          <p:stCondLst>
                                            <p:cond delay="0"/>
                                          </p:stCondLst>
                                        </p:cTn>
                                        <p:tgtEl>
                                          <p:spTgt spid="2473173"/>
                                        </p:tgtEl>
                                        <p:attrNameLst>
                                          <p:attrName>style.visibility</p:attrName>
                                        </p:attrNameLst>
                                      </p:cBhvr>
                                      <p:to>
                                        <p:strVal val="visible"/>
                                      </p:to>
                                    </p:set>
                                    <p:animEffect transition="in" filter="wipe(left)">
                                      <p:cBhvr>
                                        <p:cTn id="111" dur="500"/>
                                        <p:tgtEl>
                                          <p:spTgt spid="24731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2962" grpId="0" bldLvl="0" animBg="1"/>
      <p:bldP spid="2473071" grpId="0"/>
      <p:bldP spid="2473080" grpId="0"/>
      <p:bldP spid="2473085" grpId="0"/>
      <p:bldP spid="2473168" grpId="0"/>
      <p:bldP spid="2473169" grpId="0"/>
      <p:bldP spid="2473172" grpId="0"/>
      <p:bldP spid="2473173" grpId="0"/>
      <p:bldP spid="2473174" grpId="0"/>
      <p:bldP spid="2473175" grpId="0"/>
      <p:bldP spid="2473176" grpId="0"/>
      <p:bldP spid="2473179" grpId="0"/>
      <p:bldP spid="2473181" grpId="0"/>
      <p:bldP spid="2473182" grpId="0" bldLvl="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4994" name="Rectangle 2"/>
          <p:cNvSpPr/>
          <p:nvPr/>
        </p:nvSpPr>
        <p:spPr>
          <a:xfrm>
            <a:off x="3378200" y="595313"/>
            <a:ext cx="5565775" cy="2867025"/>
          </a:xfrm>
          <a:prstGeom prst="rect">
            <a:avLst/>
          </a:prstGeom>
          <a:solidFill>
            <a:srgbClr val="CCFFCC"/>
          </a:solidFill>
          <a:ln w="9525">
            <a:noFill/>
          </a:ln>
        </p:spPr>
        <p:txBody>
          <a:bodyPr wrap="none" anchor="ctr" anchorCtr="0">
            <a:spAutoFit/>
          </a:bodyPr>
          <a:p>
            <a:pPr eaLnBrk="1" hangingPunct="1">
              <a:lnSpc>
                <a:spcPct val="90000"/>
              </a:lnSpc>
            </a:pPr>
            <a:endParaRPr lang="zh-CN" altLang="en-US" sz="3600" dirty="0">
              <a:latin typeface="Times New Roman" panose="02020603050405020304" pitchFamily="18" charset="0"/>
            </a:endParaRPr>
          </a:p>
        </p:txBody>
      </p:sp>
      <p:sp>
        <p:nvSpPr>
          <p:cNvPr id="84995" name="Text Box 109"/>
          <p:cNvSpPr txBox="1"/>
          <p:nvPr/>
        </p:nvSpPr>
        <p:spPr>
          <a:xfrm>
            <a:off x="649288" y="1404938"/>
            <a:ext cx="2843212"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pPr>
            <a:r>
              <a:rPr lang="en-US" altLang="zh-CN" dirty="0">
                <a:solidFill>
                  <a:srgbClr val="FF0000"/>
                </a:solidFill>
                <a:latin typeface="Times New Roman" panose="02020603050405020304" pitchFamily="18" charset="0"/>
                <a:ea typeface="黑体" panose="02010609060101010101" pitchFamily="49" charset="-122"/>
              </a:rPr>
              <a:t>3. </a:t>
            </a:r>
            <a:r>
              <a:rPr lang="zh-CN" altLang="en-US" dirty="0">
                <a:solidFill>
                  <a:srgbClr val="FF0000"/>
                </a:solidFill>
                <a:latin typeface="Times New Roman" panose="02020603050405020304" pitchFamily="18" charset="0"/>
                <a:ea typeface="黑体" panose="02010609060101010101" pitchFamily="49" charset="-122"/>
              </a:rPr>
              <a:t>编码阶段：</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84996" name="Line 110"/>
          <p:cNvSpPr/>
          <p:nvPr/>
        </p:nvSpPr>
        <p:spPr>
          <a:xfrm>
            <a:off x="4487863" y="1201738"/>
            <a:ext cx="4260850" cy="0"/>
          </a:xfrm>
          <a:prstGeom prst="line">
            <a:avLst/>
          </a:prstGeom>
          <a:ln w="12700" cap="flat" cmpd="sng">
            <a:solidFill>
              <a:schemeClr val="accent2"/>
            </a:solidFill>
            <a:prstDash val="solid"/>
            <a:headEnd type="none" w="med" len="med"/>
            <a:tailEnd type="stealth" w="med" len="lg"/>
          </a:ln>
        </p:spPr>
      </p:sp>
      <p:sp>
        <p:nvSpPr>
          <p:cNvPr id="84997" name="Text Box 111"/>
          <p:cNvSpPr txBox="1"/>
          <p:nvPr/>
        </p:nvSpPr>
        <p:spPr>
          <a:xfrm>
            <a:off x="3325813" y="1016000"/>
            <a:ext cx="1311275"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积分器输入</a:t>
            </a:r>
            <a:endParaRPr lang="zh-CN" altLang="en-US" sz="1600" dirty="0">
              <a:latin typeface="Times New Roman" panose="02020603050405020304" pitchFamily="18" charset="0"/>
            </a:endParaRPr>
          </a:p>
        </p:txBody>
      </p:sp>
      <p:sp>
        <p:nvSpPr>
          <p:cNvPr id="84998" name="Line 112"/>
          <p:cNvSpPr/>
          <p:nvPr/>
        </p:nvSpPr>
        <p:spPr>
          <a:xfrm>
            <a:off x="4892675" y="777875"/>
            <a:ext cx="3175" cy="2579688"/>
          </a:xfrm>
          <a:prstGeom prst="line">
            <a:avLst/>
          </a:prstGeom>
          <a:ln w="9525" cap="flat" cmpd="sng">
            <a:solidFill>
              <a:srgbClr val="FF0000"/>
            </a:solidFill>
            <a:prstDash val="dash"/>
            <a:headEnd type="none" w="med" len="med"/>
            <a:tailEnd type="none" w="med" len="med"/>
          </a:ln>
        </p:spPr>
      </p:sp>
      <p:grpSp>
        <p:nvGrpSpPr>
          <p:cNvPr id="84999" name="Group 113"/>
          <p:cNvGrpSpPr/>
          <p:nvPr/>
        </p:nvGrpSpPr>
        <p:grpSpPr>
          <a:xfrm>
            <a:off x="4895850" y="1201738"/>
            <a:ext cx="2249488" cy="247650"/>
            <a:chOff x="3084" y="757"/>
            <a:chExt cx="1417" cy="156"/>
          </a:xfrm>
        </p:grpSpPr>
        <p:sp>
          <p:nvSpPr>
            <p:cNvPr id="85119" name="Line 114"/>
            <p:cNvSpPr/>
            <p:nvPr/>
          </p:nvSpPr>
          <p:spPr>
            <a:xfrm>
              <a:off x="3084" y="757"/>
              <a:ext cx="0" cy="156"/>
            </a:xfrm>
            <a:prstGeom prst="line">
              <a:avLst/>
            </a:prstGeom>
            <a:ln w="31750" cap="flat" cmpd="sng">
              <a:solidFill>
                <a:srgbClr val="008000"/>
              </a:solidFill>
              <a:prstDash val="solid"/>
              <a:headEnd type="none" w="med" len="med"/>
              <a:tailEnd type="none" w="med" len="med"/>
            </a:ln>
          </p:spPr>
        </p:sp>
        <p:sp>
          <p:nvSpPr>
            <p:cNvPr id="85120" name="Line 115"/>
            <p:cNvSpPr/>
            <p:nvPr/>
          </p:nvSpPr>
          <p:spPr>
            <a:xfrm>
              <a:off x="3084" y="913"/>
              <a:ext cx="1417" cy="0"/>
            </a:xfrm>
            <a:prstGeom prst="line">
              <a:avLst/>
            </a:prstGeom>
            <a:ln w="31750" cap="flat" cmpd="sng">
              <a:solidFill>
                <a:srgbClr val="008000"/>
              </a:solidFill>
              <a:prstDash val="solid"/>
              <a:headEnd type="none" w="med" len="med"/>
              <a:tailEnd type="none" w="med" len="med"/>
            </a:ln>
          </p:spPr>
        </p:sp>
      </p:grpSp>
      <p:grpSp>
        <p:nvGrpSpPr>
          <p:cNvPr id="85000" name="Group 116"/>
          <p:cNvGrpSpPr/>
          <p:nvPr/>
        </p:nvGrpSpPr>
        <p:grpSpPr>
          <a:xfrm>
            <a:off x="7138988" y="671513"/>
            <a:ext cx="1111250" cy="777875"/>
            <a:chOff x="4497" y="423"/>
            <a:chExt cx="700" cy="490"/>
          </a:xfrm>
        </p:grpSpPr>
        <p:sp>
          <p:nvSpPr>
            <p:cNvPr id="85116" name="Line 117"/>
            <p:cNvSpPr/>
            <p:nvPr/>
          </p:nvSpPr>
          <p:spPr>
            <a:xfrm>
              <a:off x="4497" y="423"/>
              <a:ext cx="0" cy="490"/>
            </a:xfrm>
            <a:prstGeom prst="line">
              <a:avLst/>
            </a:prstGeom>
            <a:ln w="31750" cap="flat" cmpd="sng">
              <a:solidFill>
                <a:srgbClr val="008000"/>
              </a:solidFill>
              <a:prstDash val="solid"/>
              <a:headEnd type="none" w="med" len="med"/>
              <a:tailEnd type="none" w="med" len="med"/>
            </a:ln>
          </p:spPr>
        </p:sp>
        <p:sp>
          <p:nvSpPr>
            <p:cNvPr id="85117" name="Line 118"/>
            <p:cNvSpPr/>
            <p:nvPr/>
          </p:nvSpPr>
          <p:spPr>
            <a:xfrm>
              <a:off x="4497" y="423"/>
              <a:ext cx="700" cy="0"/>
            </a:xfrm>
            <a:prstGeom prst="line">
              <a:avLst/>
            </a:prstGeom>
            <a:ln w="31750" cap="flat" cmpd="sng">
              <a:solidFill>
                <a:srgbClr val="008000"/>
              </a:solidFill>
              <a:prstDash val="solid"/>
              <a:headEnd type="none" w="med" len="med"/>
              <a:tailEnd type="none" w="med" len="med"/>
            </a:ln>
          </p:spPr>
        </p:sp>
        <p:sp>
          <p:nvSpPr>
            <p:cNvPr id="85118" name="Line 119"/>
            <p:cNvSpPr/>
            <p:nvPr/>
          </p:nvSpPr>
          <p:spPr>
            <a:xfrm>
              <a:off x="5197" y="429"/>
              <a:ext cx="0" cy="328"/>
            </a:xfrm>
            <a:prstGeom prst="line">
              <a:avLst/>
            </a:prstGeom>
            <a:ln w="31750" cap="flat" cmpd="sng">
              <a:solidFill>
                <a:srgbClr val="008000"/>
              </a:solidFill>
              <a:prstDash val="solid"/>
              <a:headEnd type="none" w="med" len="med"/>
              <a:tailEnd type="none" w="med" len="med"/>
            </a:ln>
          </p:spPr>
        </p:sp>
      </p:grpSp>
      <p:sp>
        <p:nvSpPr>
          <p:cNvPr id="85001" name="Line 120"/>
          <p:cNvSpPr/>
          <p:nvPr/>
        </p:nvSpPr>
        <p:spPr>
          <a:xfrm>
            <a:off x="4473575" y="2209800"/>
            <a:ext cx="4260850" cy="0"/>
          </a:xfrm>
          <a:prstGeom prst="line">
            <a:avLst/>
          </a:prstGeom>
          <a:ln w="12700" cap="flat" cmpd="sng">
            <a:solidFill>
              <a:schemeClr val="accent2"/>
            </a:solidFill>
            <a:prstDash val="solid"/>
            <a:headEnd type="none" w="med" len="med"/>
            <a:tailEnd type="stealth" w="med" len="lg"/>
          </a:ln>
        </p:spPr>
      </p:sp>
      <p:sp>
        <p:nvSpPr>
          <p:cNvPr id="85002" name="Text Box 121"/>
          <p:cNvSpPr txBox="1"/>
          <p:nvPr/>
        </p:nvSpPr>
        <p:spPr>
          <a:xfrm>
            <a:off x="3311525" y="2024063"/>
            <a:ext cx="1311275" cy="312737"/>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积分器输出</a:t>
            </a:r>
            <a:endParaRPr lang="zh-CN" altLang="en-US" sz="1600" dirty="0">
              <a:latin typeface="Times New Roman" panose="02020603050405020304" pitchFamily="18" charset="0"/>
            </a:endParaRPr>
          </a:p>
        </p:txBody>
      </p:sp>
      <p:sp>
        <p:nvSpPr>
          <p:cNvPr id="85003" name="Line 122"/>
          <p:cNvSpPr/>
          <p:nvPr/>
        </p:nvSpPr>
        <p:spPr>
          <a:xfrm flipH="1">
            <a:off x="7132638" y="777875"/>
            <a:ext cx="6350" cy="2579688"/>
          </a:xfrm>
          <a:prstGeom prst="line">
            <a:avLst/>
          </a:prstGeom>
          <a:ln w="9525" cap="flat" cmpd="sng">
            <a:solidFill>
              <a:srgbClr val="FF0000"/>
            </a:solidFill>
            <a:prstDash val="dash"/>
            <a:headEnd type="none" w="med" len="med"/>
            <a:tailEnd type="none" w="med" len="med"/>
          </a:ln>
        </p:spPr>
      </p:sp>
      <p:sp>
        <p:nvSpPr>
          <p:cNvPr id="85004" name="Line 123"/>
          <p:cNvSpPr/>
          <p:nvPr/>
        </p:nvSpPr>
        <p:spPr>
          <a:xfrm>
            <a:off x="8250238" y="1201738"/>
            <a:ext cx="0" cy="2155825"/>
          </a:xfrm>
          <a:prstGeom prst="line">
            <a:avLst/>
          </a:prstGeom>
          <a:ln w="9525" cap="flat" cmpd="sng">
            <a:solidFill>
              <a:srgbClr val="FF0000"/>
            </a:solidFill>
            <a:prstDash val="dash"/>
            <a:headEnd type="none" w="med" len="med"/>
            <a:tailEnd type="none" w="med" len="med"/>
          </a:ln>
        </p:spPr>
      </p:sp>
      <p:sp>
        <p:nvSpPr>
          <p:cNvPr id="85005" name="Line 124"/>
          <p:cNvSpPr/>
          <p:nvPr/>
        </p:nvSpPr>
        <p:spPr>
          <a:xfrm flipV="1">
            <a:off x="4895850" y="1665288"/>
            <a:ext cx="2243138" cy="544512"/>
          </a:xfrm>
          <a:prstGeom prst="line">
            <a:avLst/>
          </a:prstGeom>
          <a:ln w="31750" cap="flat" cmpd="sng">
            <a:solidFill>
              <a:srgbClr val="FF00FF"/>
            </a:solidFill>
            <a:prstDash val="solid"/>
            <a:headEnd type="none" w="med" len="med"/>
            <a:tailEnd type="none" w="med" len="med"/>
          </a:ln>
        </p:spPr>
      </p:sp>
      <p:sp>
        <p:nvSpPr>
          <p:cNvPr id="85006" name="Line 125"/>
          <p:cNvSpPr/>
          <p:nvPr/>
        </p:nvSpPr>
        <p:spPr>
          <a:xfrm>
            <a:off x="7138988" y="1665288"/>
            <a:ext cx="1111250" cy="544512"/>
          </a:xfrm>
          <a:prstGeom prst="line">
            <a:avLst/>
          </a:prstGeom>
          <a:ln w="31750" cap="flat" cmpd="sng">
            <a:solidFill>
              <a:srgbClr val="FF00FF"/>
            </a:solidFill>
            <a:prstDash val="solid"/>
            <a:headEnd type="none" w="med" len="med"/>
            <a:tailEnd type="none" w="med" len="med"/>
          </a:ln>
        </p:spPr>
      </p:sp>
      <p:sp>
        <p:nvSpPr>
          <p:cNvPr id="85007" name="Text Box 126"/>
          <p:cNvSpPr txBox="1"/>
          <p:nvPr/>
        </p:nvSpPr>
        <p:spPr>
          <a:xfrm>
            <a:off x="4097338" y="2720975"/>
            <a:ext cx="869950" cy="312738"/>
          </a:xfrm>
          <a:prstGeom prst="rect">
            <a:avLst/>
          </a:prstGeom>
          <a:noFill/>
          <a:ln w="9525">
            <a:noFill/>
          </a:ln>
        </p:spPr>
        <p:txBody>
          <a:bodyPr>
            <a:spAutoFit/>
          </a:bodyPr>
          <a:p>
            <a:pPr eaLnBrk="1" hangingPunct="1">
              <a:lnSpc>
                <a:spcPct val="90000"/>
              </a:lnSpc>
              <a:spcBef>
                <a:spcPct val="50000"/>
              </a:spcBef>
            </a:pPr>
            <a:r>
              <a:rPr lang="zh-CN" altLang="en-US" sz="1600" dirty="0">
                <a:latin typeface="Times New Roman" panose="02020603050405020304" pitchFamily="18" charset="0"/>
              </a:rPr>
              <a:t>计数器</a:t>
            </a:r>
            <a:endParaRPr lang="zh-CN" altLang="en-US" sz="1600" dirty="0">
              <a:latin typeface="Times New Roman" panose="02020603050405020304" pitchFamily="18" charset="0"/>
            </a:endParaRPr>
          </a:p>
        </p:txBody>
      </p:sp>
      <p:grpSp>
        <p:nvGrpSpPr>
          <p:cNvPr id="85008" name="Group 127"/>
          <p:cNvGrpSpPr/>
          <p:nvPr/>
        </p:nvGrpSpPr>
        <p:grpSpPr>
          <a:xfrm>
            <a:off x="7154863" y="2787650"/>
            <a:ext cx="1082675" cy="168275"/>
            <a:chOff x="4507" y="1756"/>
            <a:chExt cx="682" cy="106"/>
          </a:xfrm>
        </p:grpSpPr>
        <p:sp>
          <p:nvSpPr>
            <p:cNvPr id="85090" name="Line 128"/>
            <p:cNvSpPr/>
            <p:nvPr/>
          </p:nvSpPr>
          <p:spPr>
            <a:xfrm flipV="1">
              <a:off x="4507" y="1756"/>
              <a:ext cx="0" cy="106"/>
            </a:xfrm>
            <a:prstGeom prst="line">
              <a:avLst/>
            </a:prstGeom>
            <a:ln w="25400" cap="flat" cmpd="sng">
              <a:solidFill>
                <a:schemeClr val="tx1"/>
              </a:solidFill>
              <a:prstDash val="solid"/>
              <a:headEnd type="none" w="med" len="med"/>
              <a:tailEnd type="none" w="med" len="med"/>
            </a:ln>
          </p:spPr>
        </p:sp>
        <p:sp>
          <p:nvSpPr>
            <p:cNvPr id="85091" name="Line 129"/>
            <p:cNvSpPr/>
            <p:nvPr/>
          </p:nvSpPr>
          <p:spPr>
            <a:xfrm flipV="1">
              <a:off x="4533" y="1756"/>
              <a:ext cx="0" cy="106"/>
            </a:xfrm>
            <a:prstGeom prst="line">
              <a:avLst/>
            </a:prstGeom>
            <a:ln w="25400" cap="flat" cmpd="sng">
              <a:solidFill>
                <a:schemeClr val="tx1"/>
              </a:solidFill>
              <a:prstDash val="solid"/>
              <a:headEnd type="none" w="med" len="med"/>
              <a:tailEnd type="none" w="med" len="med"/>
            </a:ln>
          </p:spPr>
        </p:sp>
        <p:sp>
          <p:nvSpPr>
            <p:cNvPr id="85092" name="Line 130"/>
            <p:cNvSpPr/>
            <p:nvPr/>
          </p:nvSpPr>
          <p:spPr>
            <a:xfrm flipV="1">
              <a:off x="4561" y="1756"/>
              <a:ext cx="0" cy="106"/>
            </a:xfrm>
            <a:prstGeom prst="line">
              <a:avLst/>
            </a:prstGeom>
            <a:ln w="25400" cap="flat" cmpd="sng">
              <a:solidFill>
                <a:schemeClr val="tx1"/>
              </a:solidFill>
              <a:prstDash val="solid"/>
              <a:headEnd type="none" w="med" len="med"/>
              <a:tailEnd type="none" w="med" len="med"/>
            </a:ln>
          </p:spPr>
        </p:sp>
        <p:sp>
          <p:nvSpPr>
            <p:cNvPr id="85093" name="Line 131"/>
            <p:cNvSpPr/>
            <p:nvPr/>
          </p:nvSpPr>
          <p:spPr>
            <a:xfrm flipV="1">
              <a:off x="4588" y="1756"/>
              <a:ext cx="0" cy="106"/>
            </a:xfrm>
            <a:prstGeom prst="line">
              <a:avLst/>
            </a:prstGeom>
            <a:ln w="25400" cap="flat" cmpd="sng">
              <a:solidFill>
                <a:schemeClr val="tx1"/>
              </a:solidFill>
              <a:prstDash val="solid"/>
              <a:headEnd type="none" w="med" len="med"/>
              <a:tailEnd type="none" w="med" len="med"/>
            </a:ln>
          </p:spPr>
        </p:sp>
        <p:sp>
          <p:nvSpPr>
            <p:cNvPr id="85094" name="Line 132"/>
            <p:cNvSpPr/>
            <p:nvPr/>
          </p:nvSpPr>
          <p:spPr>
            <a:xfrm flipV="1">
              <a:off x="4615" y="1756"/>
              <a:ext cx="0" cy="106"/>
            </a:xfrm>
            <a:prstGeom prst="line">
              <a:avLst/>
            </a:prstGeom>
            <a:ln w="25400" cap="flat" cmpd="sng">
              <a:solidFill>
                <a:schemeClr val="tx1"/>
              </a:solidFill>
              <a:prstDash val="solid"/>
              <a:headEnd type="none" w="med" len="med"/>
              <a:tailEnd type="none" w="med" len="med"/>
            </a:ln>
          </p:spPr>
        </p:sp>
        <p:sp>
          <p:nvSpPr>
            <p:cNvPr id="85095" name="Line 133"/>
            <p:cNvSpPr/>
            <p:nvPr/>
          </p:nvSpPr>
          <p:spPr>
            <a:xfrm flipV="1">
              <a:off x="4642" y="1756"/>
              <a:ext cx="0" cy="106"/>
            </a:xfrm>
            <a:prstGeom prst="line">
              <a:avLst/>
            </a:prstGeom>
            <a:ln w="25400" cap="flat" cmpd="sng">
              <a:solidFill>
                <a:schemeClr val="tx1"/>
              </a:solidFill>
              <a:prstDash val="solid"/>
              <a:headEnd type="none" w="med" len="med"/>
              <a:tailEnd type="none" w="med" len="med"/>
            </a:ln>
          </p:spPr>
        </p:sp>
        <p:sp>
          <p:nvSpPr>
            <p:cNvPr id="85096" name="Line 134"/>
            <p:cNvSpPr/>
            <p:nvPr/>
          </p:nvSpPr>
          <p:spPr>
            <a:xfrm flipV="1">
              <a:off x="4670" y="1756"/>
              <a:ext cx="0" cy="106"/>
            </a:xfrm>
            <a:prstGeom prst="line">
              <a:avLst/>
            </a:prstGeom>
            <a:ln w="25400" cap="flat" cmpd="sng">
              <a:solidFill>
                <a:schemeClr val="tx1"/>
              </a:solidFill>
              <a:prstDash val="solid"/>
              <a:headEnd type="none" w="med" len="med"/>
              <a:tailEnd type="none" w="med" len="med"/>
            </a:ln>
          </p:spPr>
        </p:sp>
        <p:sp>
          <p:nvSpPr>
            <p:cNvPr id="85097" name="Line 135"/>
            <p:cNvSpPr/>
            <p:nvPr/>
          </p:nvSpPr>
          <p:spPr>
            <a:xfrm flipV="1">
              <a:off x="4697" y="1756"/>
              <a:ext cx="0" cy="106"/>
            </a:xfrm>
            <a:prstGeom prst="line">
              <a:avLst/>
            </a:prstGeom>
            <a:ln w="25400" cap="flat" cmpd="sng">
              <a:solidFill>
                <a:schemeClr val="tx1"/>
              </a:solidFill>
              <a:prstDash val="solid"/>
              <a:headEnd type="none" w="med" len="med"/>
              <a:tailEnd type="none" w="med" len="med"/>
            </a:ln>
          </p:spPr>
        </p:sp>
        <p:sp>
          <p:nvSpPr>
            <p:cNvPr id="85098" name="Line 136"/>
            <p:cNvSpPr/>
            <p:nvPr/>
          </p:nvSpPr>
          <p:spPr>
            <a:xfrm flipV="1">
              <a:off x="4724" y="1756"/>
              <a:ext cx="0" cy="106"/>
            </a:xfrm>
            <a:prstGeom prst="line">
              <a:avLst/>
            </a:prstGeom>
            <a:ln w="25400" cap="flat" cmpd="sng">
              <a:solidFill>
                <a:schemeClr val="tx1"/>
              </a:solidFill>
              <a:prstDash val="solid"/>
              <a:headEnd type="none" w="med" len="med"/>
              <a:tailEnd type="none" w="med" len="med"/>
            </a:ln>
          </p:spPr>
        </p:sp>
        <p:sp>
          <p:nvSpPr>
            <p:cNvPr id="85099" name="Line 137"/>
            <p:cNvSpPr/>
            <p:nvPr/>
          </p:nvSpPr>
          <p:spPr>
            <a:xfrm flipV="1">
              <a:off x="4751" y="1756"/>
              <a:ext cx="0" cy="106"/>
            </a:xfrm>
            <a:prstGeom prst="line">
              <a:avLst/>
            </a:prstGeom>
            <a:ln w="25400" cap="flat" cmpd="sng">
              <a:solidFill>
                <a:schemeClr val="tx1"/>
              </a:solidFill>
              <a:prstDash val="solid"/>
              <a:headEnd type="none" w="med" len="med"/>
              <a:tailEnd type="none" w="med" len="med"/>
            </a:ln>
          </p:spPr>
        </p:sp>
        <p:sp>
          <p:nvSpPr>
            <p:cNvPr id="85100" name="Line 138"/>
            <p:cNvSpPr/>
            <p:nvPr/>
          </p:nvSpPr>
          <p:spPr>
            <a:xfrm flipV="1">
              <a:off x="4779" y="1756"/>
              <a:ext cx="0" cy="106"/>
            </a:xfrm>
            <a:prstGeom prst="line">
              <a:avLst/>
            </a:prstGeom>
            <a:ln w="25400" cap="flat" cmpd="sng">
              <a:solidFill>
                <a:schemeClr val="tx1"/>
              </a:solidFill>
              <a:prstDash val="solid"/>
              <a:headEnd type="none" w="med" len="med"/>
              <a:tailEnd type="none" w="med" len="med"/>
            </a:ln>
          </p:spPr>
        </p:sp>
        <p:sp>
          <p:nvSpPr>
            <p:cNvPr id="85101" name="Line 139"/>
            <p:cNvSpPr/>
            <p:nvPr/>
          </p:nvSpPr>
          <p:spPr>
            <a:xfrm flipV="1">
              <a:off x="4806" y="1756"/>
              <a:ext cx="0" cy="106"/>
            </a:xfrm>
            <a:prstGeom prst="line">
              <a:avLst/>
            </a:prstGeom>
            <a:ln w="25400" cap="flat" cmpd="sng">
              <a:solidFill>
                <a:schemeClr val="tx1"/>
              </a:solidFill>
              <a:prstDash val="solid"/>
              <a:headEnd type="none" w="med" len="med"/>
              <a:tailEnd type="none" w="med" len="med"/>
            </a:ln>
          </p:spPr>
        </p:sp>
        <p:sp>
          <p:nvSpPr>
            <p:cNvPr id="85102" name="Line 140"/>
            <p:cNvSpPr/>
            <p:nvPr/>
          </p:nvSpPr>
          <p:spPr>
            <a:xfrm flipV="1">
              <a:off x="4833" y="1756"/>
              <a:ext cx="0" cy="106"/>
            </a:xfrm>
            <a:prstGeom prst="line">
              <a:avLst/>
            </a:prstGeom>
            <a:ln w="25400" cap="flat" cmpd="sng">
              <a:solidFill>
                <a:schemeClr val="tx1"/>
              </a:solidFill>
              <a:prstDash val="solid"/>
              <a:headEnd type="none" w="med" len="med"/>
              <a:tailEnd type="none" w="med" len="med"/>
            </a:ln>
          </p:spPr>
        </p:sp>
        <p:sp>
          <p:nvSpPr>
            <p:cNvPr id="85103" name="Line 141"/>
            <p:cNvSpPr/>
            <p:nvPr/>
          </p:nvSpPr>
          <p:spPr>
            <a:xfrm flipV="1">
              <a:off x="4860" y="1756"/>
              <a:ext cx="0" cy="106"/>
            </a:xfrm>
            <a:prstGeom prst="line">
              <a:avLst/>
            </a:prstGeom>
            <a:ln w="25400" cap="flat" cmpd="sng">
              <a:solidFill>
                <a:schemeClr val="tx1"/>
              </a:solidFill>
              <a:prstDash val="solid"/>
              <a:headEnd type="none" w="med" len="med"/>
              <a:tailEnd type="none" w="med" len="med"/>
            </a:ln>
          </p:spPr>
        </p:sp>
        <p:sp>
          <p:nvSpPr>
            <p:cNvPr id="85104" name="Line 142"/>
            <p:cNvSpPr/>
            <p:nvPr/>
          </p:nvSpPr>
          <p:spPr>
            <a:xfrm flipV="1">
              <a:off x="4888" y="1756"/>
              <a:ext cx="0" cy="106"/>
            </a:xfrm>
            <a:prstGeom prst="line">
              <a:avLst/>
            </a:prstGeom>
            <a:ln w="25400" cap="flat" cmpd="sng">
              <a:solidFill>
                <a:schemeClr val="tx1"/>
              </a:solidFill>
              <a:prstDash val="solid"/>
              <a:headEnd type="none" w="med" len="med"/>
              <a:tailEnd type="none" w="med" len="med"/>
            </a:ln>
          </p:spPr>
        </p:sp>
        <p:sp>
          <p:nvSpPr>
            <p:cNvPr id="85105" name="Line 143"/>
            <p:cNvSpPr/>
            <p:nvPr/>
          </p:nvSpPr>
          <p:spPr>
            <a:xfrm flipV="1">
              <a:off x="4915" y="1756"/>
              <a:ext cx="0" cy="106"/>
            </a:xfrm>
            <a:prstGeom prst="line">
              <a:avLst/>
            </a:prstGeom>
            <a:ln w="25400" cap="flat" cmpd="sng">
              <a:solidFill>
                <a:schemeClr val="tx1"/>
              </a:solidFill>
              <a:prstDash val="solid"/>
              <a:headEnd type="none" w="med" len="med"/>
              <a:tailEnd type="none" w="med" len="med"/>
            </a:ln>
          </p:spPr>
        </p:sp>
        <p:sp>
          <p:nvSpPr>
            <p:cNvPr id="85106" name="Line 144"/>
            <p:cNvSpPr/>
            <p:nvPr/>
          </p:nvSpPr>
          <p:spPr>
            <a:xfrm flipV="1">
              <a:off x="4942" y="1756"/>
              <a:ext cx="0" cy="106"/>
            </a:xfrm>
            <a:prstGeom prst="line">
              <a:avLst/>
            </a:prstGeom>
            <a:ln w="25400" cap="flat" cmpd="sng">
              <a:solidFill>
                <a:schemeClr val="tx1"/>
              </a:solidFill>
              <a:prstDash val="solid"/>
              <a:headEnd type="none" w="med" len="med"/>
              <a:tailEnd type="none" w="med" len="med"/>
            </a:ln>
          </p:spPr>
        </p:sp>
        <p:sp>
          <p:nvSpPr>
            <p:cNvPr id="85107" name="Line 145"/>
            <p:cNvSpPr/>
            <p:nvPr/>
          </p:nvSpPr>
          <p:spPr>
            <a:xfrm flipV="1">
              <a:off x="4970" y="1756"/>
              <a:ext cx="0" cy="106"/>
            </a:xfrm>
            <a:prstGeom prst="line">
              <a:avLst/>
            </a:prstGeom>
            <a:ln w="25400" cap="flat" cmpd="sng">
              <a:solidFill>
                <a:schemeClr val="tx1"/>
              </a:solidFill>
              <a:prstDash val="solid"/>
              <a:headEnd type="none" w="med" len="med"/>
              <a:tailEnd type="none" w="med" len="med"/>
            </a:ln>
          </p:spPr>
        </p:sp>
        <p:sp>
          <p:nvSpPr>
            <p:cNvPr id="85108" name="Line 146"/>
            <p:cNvSpPr/>
            <p:nvPr/>
          </p:nvSpPr>
          <p:spPr>
            <a:xfrm flipV="1">
              <a:off x="4997" y="1756"/>
              <a:ext cx="0" cy="106"/>
            </a:xfrm>
            <a:prstGeom prst="line">
              <a:avLst/>
            </a:prstGeom>
            <a:ln w="25400" cap="flat" cmpd="sng">
              <a:solidFill>
                <a:schemeClr val="tx1"/>
              </a:solidFill>
              <a:prstDash val="solid"/>
              <a:headEnd type="none" w="med" len="med"/>
              <a:tailEnd type="none" w="med" len="med"/>
            </a:ln>
          </p:spPr>
        </p:sp>
        <p:sp>
          <p:nvSpPr>
            <p:cNvPr id="85109" name="Line 147"/>
            <p:cNvSpPr/>
            <p:nvPr/>
          </p:nvSpPr>
          <p:spPr>
            <a:xfrm flipV="1">
              <a:off x="5024" y="1756"/>
              <a:ext cx="0" cy="106"/>
            </a:xfrm>
            <a:prstGeom prst="line">
              <a:avLst/>
            </a:prstGeom>
            <a:ln w="25400" cap="flat" cmpd="sng">
              <a:solidFill>
                <a:schemeClr val="tx1"/>
              </a:solidFill>
              <a:prstDash val="solid"/>
              <a:headEnd type="none" w="med" len="med"/>
              <a:tailEnd type="none" w="med" len="med"/>
            </a:ln>
          </p:spPr>
        </p:sp>
        <p:sp>
          <p:nvSpPr>
            <p:cNvPr id="85110" name="Line 148"/>
            <p:cNvSpPr/>
            <p:nvPr/>
          </p:nvSpPr>
          <p:spPr>
            <a:xfrm flipV="1">
              <a:off x="5051" y="1756"/>
              <a:ext cx="0" cy="106"/>
            </a:xfrm>
            <a:prstGeom prst="line">
              <a:avLst/>
            </a:prstGeom>
            <a:ln w="25400" cap="flat" cmpd="sng">
              <a:solidFill>
                <a:schemeClr val="tx1"/>
              </a:solidFill>
              <a:prstDash val="solid"/>
              <a:headEnd type="none" w="med" len="med"/>
              <a:tailEnd type="none" w="med" len="med"/>
            </a:ln>
          </p:spPr>
        </p:sp>
        <p:sp>
          <p:nvSpPr>
            <p:cNvPr id="85111" name="Line 149"/>
            <p:cNvSpPr/>
            <p:nvPr/>
          </p:nvSpPr>
          <p:spPr>
            <a:xfrm flipV="1">
              <a:off x="5079" y="1756"/>
              <a:ext cx="0" cy="106"/>
            </a:xfrm>
            <a:prstGeom prst="line">
              <a:avLst/>
            </a:prstGeom>
            <a:ln w="25400" cap="flat" cmpd="sng">
              <a:solidFill>
                <a:schemeClr val="tx1"/>
              </a:solidFill>
              <a:prstDash val="solid"/>
              <a:headEnd type="none" w="med" len="med"/>
              <a:tailEnd type="none" w="med" len="med"/>
            </a:ln>
          </p:spPr>
        </p:sp>
        <p:sp>
          <p:nvSpPr>
            <p:cNvPr id="85112" name="Line 150"/>
            <p:cNvSpPr/>
            <p:nvPr/>
          </p:nvSpPr>
          <p:spPr>
            <a:xfrm flipV="1">
              <a:off x="5106" y="1756"/>
              <a:ext cx="0" cy="106"/>
            </a:xfrm>
            <a:prstGeom prst="line">
              <a:avLst/>
            </a:prstGeom>
            <a:ln w="25400" cap="flat" cmpd="sng">
              <a:solidFill>
                <a:schemeClr val="tx1"/>
              </a:solidFill>
              <a:prstDash val="solid"/>
              <a:headEnd type="none" w="med" len="med"/>
              <a:tailEnd type="none" w="med" len="med"/>
            </a:ln>
          </p:spPr>
        </p:sp>
        <p:sp>
          <p:nvSpPr>
            <p:cNvPr id="85113" name="Line 151"/>
            <p:cNvSpPr/>
            <p:nvPr/>
          </p:nvSpPr>
          <p:spPr>
            <a:xfrm flipV="1">
              <a:off x="5134" y="1756"/>
              <a:ext cx="0" cy="106"/>
            </a:xfrm>
            <a:prstGeom prst="line">
              <a:avLst/>
            </a:prstGeom>
            <a:ln w="25400" cap="flat" cmpd="sng">
              <a:solidFill>
                <a:schemeClr val="tx1"/>
              </a:solidFill>
              <a:prstDash val="solid"/>
              <a:headEnd type="none" w="med" len="med"/>
              <a:tailEnd type="none" w="med" len="med"/>
            </a:ln>
          </p:spPr>
        </p:sp>
        <p:sp>
          <p:nvSpPr>
            <p:cNvPr id="85114" name="Line 152"/>
            <p:cNvSpPr/>
            <p:nvPr/>
          </p:nvSpPr>
          <p:spPr>
            <a:xfrm flipV="1">
              <a:off x="5162" y="1756"/>
              <a:ext cx="0" cy="106"/>
            </a:xfrm>
            <a:prstGeom prst="line">
              <a:avLst/>
            </a:prstGeom>
            <a:ln w="25400" cap="flat" cmpd="sng">
              <a:solidFill>
                <a:schemeClr val="tx1"/>
              </a:solidFill>
              <a:prstDash val="solid"/>
              <a:headEnd type="none" w="med" len="med"/>
              <a:tailEnd type="none" w="med" len="med"/>
            </a:ln>
          </p:spPr>
        </p:sp>
        <p:sp>
          <p:nvSpPr>
            <p:cNvPr id="85115" name="Line 153"/>
            <p:cNvSpPr/>
            <p:nvPr/>
          </p:nvSpPr>
          <p:spPr>
            <a:xfrm flipV="1">
              <a:off x="5189" y="1756"/>
              <a:ext cx="0" cy="106"/>
            </a:xfrm>
            <a:prstGeom prst="line">
              <a:avLst/>
            </a:prstGeom>
            <a:ln w="25400" cap="flat" cmpd="sng">
              <a:solidFill>
                <a:schemeClr val="tx1"/>
              </a:solidFill>
              <a:prstDash val="solid"/>
              <a:headEnd type="none" w="med" len="med"/>
              <a:tailEnd type="none" w="med" len="med"/>
            </a:ln>
          </p:spPr>
        </p:sp>
      </p:grpSp>
      <p:grpSp>
        <p:nvGrpSpPr>
          <p:cNvPr id="85009" name="Group 154"/>
          <p:cNvGrpSpPr/>
          <p:nvPr/>
        </p:nvGrpSpPr>
        <p:grpSpPr>
          <a:xfrm>
            <a:off x="4910138" y="2787650"/>
            <a:ext cx="2201862" cy="168275"/>
            <a:chOff x="3093" y="1756"/>
            <a:chExt cx="1387" cy="106"/>
          </a:xfrm>
        </p:grpSpPr>
        <p:sp>
          <p:nvSpPr>
            <p:cNvPr id="85038" name="Line 155"/>
            <p:cNvSpPr/>
            <p:nvPr/>
          </p:nvSpPr>
          <p:spPr>
            <a:xfrm flipV="1">
              <a:off x="3093" y="1756"/>
              <a:ext cx="0" cy="106"/>
            </a:xfrm>
            <a:prstGeom prst="line">
              <a:avLst/>
            </a:prstGeom>
            <a:ln w="25400" cap="flat" cmpd="sng">
              <a:solidFill>
                <a:schemeClr val="tx1"/>
              </a:solidFill>
              <a:prstDash val="solid"/>
              <a:headEnd type="none" w="med" len="med"/>
              <a:tailEnd type="none" w="med" len="med"/>
            </a:ln>
          </p:spPr>
        </p:sp>
        <p:sp>
          <p:nvSpPr>
            <p:cNvPr id="85039" name="Line 156"/>
            <p:cNvSpPr/>
            <p:nvPr/>
          </p:nvSpPr>
          <p:spPr>
            <a:xfrm flipV="1">
              <a:off x="3120" y="1756"/>
              <a:ext cx="0" cy="106"/>
            </a:xfrm>
            <a:prstGeom prst="line">
              <a:avLst/>
            </a:prstGeom>
            <a:ln w="25400" cap="flat" cmpd="sng">
              <a:solidFill>
                <a:schemeClr val="tx1"/>
              </a:solidFill>
              <a:prstDash val="solid"/>
              <a:headEnd type="none" w="med" len="med"/>
              <a:tailEnd type="none" w="med" len="med"/>
            </a:ln>
          </p:spPr>
        </p:sp>
        <p:sp>
          <p:nvSpPr>
            <p:cNvPr id="85040" name="Line 157"/>
            <p:cNvSpPr/>
            <p:nvPr/>
          </p:nvSpPr>
          <p:spPr>
            <a:xfrm flipV="1">
              <a:off x="3148" y="1756"/>
              <a:ext cx="0" cy="106"/>
            </a:xfrm>
            <a:prstGeom prst="line">
              <a:avLst/>
            </a:prstGeom>
            <a:ln w="25400" cap="flat" cmpd="sng">
              <a:solidFill>
                <a:schemeClr val="tx1"/>
              </a:solidFill>
              <a:prstDash val="solid"/>
              <a:headEnd type="none" w="med" len="med"/>
              <a:tailEnd type="none" w="med" len="med"/>
            </a:ln>
          </p:spPr>
        </p:sp>
        <p:sp>
          <p:nvSpPr>
            <p:cNvPr id="85041" name="Line 158"/>
            <p:cNvSpPr/>
            <p:nvPr/>
          </p:nvSpPr>
          <p:spPr>
            <a:xfrm flipV="1">
              <a:off x="3175" y="1756"/>
              <a:ext cx="0" cy="106"/>
            </a:xfrm>
            <a:prstGeom prst="line">
              <a:avLst/>
            </a:prstGeom>
            <a:ln w="25400" cap="flat" cmpd="sng">
              <a:solidFill>
                <a:schemeClr val="tx1"/>
              </a:solidFill>
              <a:prstDash val="solid"/>
              <a:headEnd type="none" w="med" len="med"/>
              <a:tailEnd type="none" w="med" len="med"/>
            </a:ln>
          </p:spPr>
        </p:sp>
        <p:sp>
          <p:nvSpPr>
            <p:cNvPr id="85042" name="Line 159"/>
            <p:cNvSpPr/>
            <p:nvPr/>
          </p:nvSpPr>
          <p:spPr>
            <a:xfrm flipV="1">
              <a:off x="3202" y="1756"/>
              <a:ext cx="0" cy="106"/>
            </a:xfrm>
            <a:prstGeom prst="line">
              <a:avLst/>
            </a:prstGeom>
            <a:ln w="25400" cap="flat" cmpd="sng">
              <a:solidFill>
                <a:schemeClr val="tx1"/>
              </a:solidFill>
              <a:prstDash val="solid"/>
              <a:headEnd type="none" w="med" len="med"/>
              <a:tailEnd type="none" w="med" len="med"/>
            </a:ln>
          </p:spPr>
        </p:sp>
        <p:sp>
          <p:nvSpPr>
            <p:cNvPr id="85043" name="Line 160"/>
            <p:cNvSpPr/>
            <p:nvPr/>
          </p:nvSpPr>
          <p:spPr>
            <a:xfrm flipV="1">
              <a:off x="3229" y="1756"/>
              <a:ext cx="0" cy="106"/>
            </a:xfrm>
            <a:prstGeom prst="line">
              <a:avLst/>
            </a:prstGeom>
            <a:ln w="25400" cap="flat" cmpd="sng">
              <a:solidFill>
                <a:schemeClr val="tx1"/>
              </a:solidFill>
              <a:prstDash val="solid"/>
              <a:headEnd type="none" w="med" len="med"/>
              <a:tailEnd type="none" w="med" len="med"/>
            </a:ln>
          </p:spPr>
        </p:sp>
        <p:sp>
          <p:nvSpPr>
            <p:cNvPr id="85044" name="Line 161"/>
            <p:cNvSpPr/>
            <p:nvPr/>
          </p:nvSpPr>
          <p:spPr>
            <a:xfrm flipV="1">
              <a:off x="3257" y="1756"/>
              <a:ext cx="0" cy="106"/>
            </a:xfrm>
            <a:prstGeom prst="line">
              <a:avLst/>
            </a:prstGeom>
            <a:ln w="25400" cap="flat" cmpd="sng">
              <a:solidFill>
                <a:schemeClr val="tx1"/>
              </a:solidFill>
              <a:prstDash val="solid"/>
              <a:headEnd type="none" w="med" len="med"/>
              <a:tailEnd type="none" w="med" len="med"/>
            </a:ln>
          </p:spPr>
        </p:sp>
        <p:sp>
          <p:nvSpPr>
            <p:cNvPr id="85045" name="Line 162"/>
            <p:cNvSpPr/>
            <p:nvPr/>
          </p:nvSpPr>
          <p:spPr>
            <a:xfrm flipV="1">
              <a:off x="3284" y="1756"/>
              <a:ext cx="0" cy="106"/>
            </a:xfrm>
            <a:prstGeom prst="line">
              <a:avLst/>
            </a:prstGeom>
            <a:ln w="25400" cap="flat" cmpd="sng">
              <a:solidFill>
                <a:schemeClr val="tx1"/>
              </a:solidFill>
              <a:prstDash val="solid"/>
              <a:headEnd type="none" w="med" len="med"/>
              <a:tailEnd type="none" w="med" len="med"/>
            </a:ln>
          </p:spPr>
        </p:sp>
        <p:sp>
          <p:nvSpPr>
            <p:cNvPr id="85046" name="Line 163"/>
            <p:cNvSpPr/>
            <p:nvPr/>
          </p:nvSpPr>
          <p:spPr>
            <a:xfrm flipV="1">
              <a:off x="3311" y="1756"/>
              <a:ext cx="0" cy="106"/>
            </a:xfrm>
            <a:prstGeom prst="line">
              <a:avLst/>
            </a:prstGeom>
            <a:ln w="25400" cap="flat" cmpd="sng">
              <a:solidFill>
                <a:schemeClr val="tx1"/>
              </a:solidFill>
              <a:prstDash val="solid"/>
              <a:headEnd type="none" w="med" len="med"/>
              <a:tailEnd type="none" w="med" len="med"/>
            </a:ln>
          </p:spPr>
        </p:sp>
        <p:sp>
          <p:nvSpPr>
            <p:cNvPr id="85047" name="Line 164"/>
            <p:cNvSpPr/>
            <p:nvPr/>
          </p:nvSpPr>
          <p:spPr>
            <a:xfrm flipV="1">
              <a:off x="3338" y="1756"/>
              <a:ext cx="0" cy="106"/>
            </a:xfrm>
            <a:prstGeom prst="line">
              <a:avLst/>
            </a:prstGeom>
            <a:ln w="25400" cap="flat" cmpd="sng">
              <a:solidFill>
                <a:schemeClr val="tx1"/>
              </a:solidFill>
              <a:prstDash val="solid"/>
              <a:headEnd type="none" w="med" len="med"/>
              <a:tailEnd type="none" w="med" len="med"/>
            </a:ln>
          </p:spPr>
        </p:sp>
        <p:sp>
          <p:nvSpPr>
            <p:cNvPr id="85048" name="Line 165"/>
            <p:cNvSpPr/>
            <p:nvPr/>
          </p:nvSpPr>
          <p:spPr>
            <a:xfrm flipV="1">
              <a:off x="3366" y="1756"/>
              <a:ext cx="0" cy="106"/>
            </a:xfrm>
            <a:prstGeom prst="line">
              <a:avLst/>
            </a:prstGeom>
            <a:ln w="25400" cap="flat" cmpd="sng">
              <a:solidFill>
                <a:schemeClr val="tx1"/>
              </a:solidFill>
              <a:prstDash val="solid"/>
              <a:headEnd type="none" w="med" len="med"/>
              <a:tailEnd type="none" w="med" len="med"/>
            </a:ln>
          </p:spPr>
        </p:sp>
        <p:sp>
          <p:nvSpPr>
            <p:cNvPr id="85049" name="Line 166"/>
            <p:cNvSpPr/>
            <p:nvPr/>
          </p:nvSpPr>
          <p:spPr>
            <a:xfrm flipV="1">
              <a:off x="3393" y="1756"/>
              <a:ext cx="0" cy="106"/>
            </a:xfrm>
            <a:prstGeom prst="line">
              <a:avLst/>
            </a:prstGeom>
            <a:ln w="25400" cap="flat" cmpd="sng">
              <a:solidFill>
                <a:schemeClr val="tx1"/>
              </a:solidFill>
              <a:prstDash val="solid"/>
              <a:headEnd type="none" w="med" len="med"/>
              <a:tailEnd type="none" w="med" len="med"/>
            </a:ln>
          </p:spPr>
        </p:sp>
        <p:sp>
          <p:nvSpPr>
            <p:cNvPr id="85050" name="Line 167"/>
            <p:cNvSpPr/>
            <p:nvPr/>
          </p:nvSpPr>
          <p:spPr>
            <a:xfrm flipV="1">
              <a:off x="3420" y="1756"/>
              <a:ext cx="0" cy="106"/>
            </a:xfrm>
            <a:prstGeom prst="line">
              <a:avLst/>
            </a:prstGeom>
            <a:ln w="25400" cap="flat" cmpd="sng">
              <a:solidFill>
                <a:schemeClr val="tx1"/>
              </a:solidFill>
              <a:prstDash val="solid"/>
              <a:headEnd type="none" w="med" len="med"/>
              <a:tailEnd type="none" w="med" len="med"/>
            </a:ln>
          </p:spPr>
        </p:sp>
        <p:sp>
          <p:nvSpPr>
            <p:cNvPr id="85051" name="Line 168"/>
            <p:cNvSpPr/>
            <p:nvPr/>
          </p:nvSpPr>
          <p:spPr>
            <a:xfrm flipV="1">
              <a:off x="3447" y="1756"/>
              <a:ext cx="0" cy="106"/>
            </a:xfrm>
            <a:prstGeom prst="line">
              <a:avLst/>
            </a:prstGeom>
            <a:ln w="25400" cap="flat" cmpd="sng">
              <a:solidFill>
                <a:schemeClr val="tx1"/>
              </a:solidFill>
              <a:prstDash val="solid"/>
              <a:headEnd type="none" w="med" len="med"/>
              <a:tailEnd type="none" w="med" len="med"/>
            </a:ln>
          </p:spPr>
        </p:sp>
        <p:sp>
          <p:nvSpPr>
            <p:cNvPr id="85052" name="Line 169"/>
            <p:cNvSpPr/>
            <p:nvPr/>
          </p:nvSpPr>
          <p:spPr>
            <a:xfrm flipV="1">
              <a:off x="3475" y="1756"/>
              <a:ext cx="0" cy="106"/>
            </a:xfrm>
            <a:prstGeom prst="line">
              <a:avLst/>
            </a:prstGeom>
            <a:ln w="25400" cap="flat" cmpd="sng">
              <a:solidFill>
                <a:schemeClr val="tx1"/>
              </a:solidFill>
              <a:prstDash val="solid"/>
              <a:headEnd type="none" w="med" len="med"/>
              <a:tailEnd type="none" w="med" len="med"/>
            </a:ln>
          </p:spPr>
        </p:sp>
        <p:sp>
          <p:nvSpPr>
            <p:cNvPr id="85053" name="Line 170"/>
            <p:cNvSpPr/>
            <p:nvPr/>
          </p:nvSpPr>
          <p:spPr>
            <a:xfrm flipV="1">
              <a:off x="3502" y="1756"/>
              <a:ext cx="0" cy="106"/>
            </a:xfrm>
            <a:prstGeom prst="line">
              <a:avLst/>
            </a:prstGeom>
            <a:ln w="25400" cap="flat" cmpd="sng">
              <a:solidFill>
                <a:schemeClr val="tx1"/>
              </a:solidFill>
              <a:prstDash val="solid"/>
              <a:headEnd type="none" w="med" len="med"/>
              <a:tailEnd type="none" w="med" len="med"/>
            </a:ln>
          </p:spPr>
        </p:sp>
        <p:sp>
          <p:nvSpPr>
            <p:cNvPr id="85054" name="Line 171"/>
            <p:cNvSpPr/>
            <p:nvPr/>
          </p:nvSpPr>
          <p:spPr>
            <a:xfrm flipV="1">
              <a:off x="3529" y="1756"/>
              <a:ext cx="0" cy="106"/>
            </a:xfrm>
            <a:prstGeom prst="line">
              <a:avLst/>
            </a:prstGeom>
            <a:ln w="25400" cap="flat" cmpd="sng">
              <a:solidFill>
                <a:schemeClr val="tx1"/>
              </a:solidFill>
              <a:prstDash val="solid"/>
              <a:headEnd type="none" w="med" len="med"/>
              <a:tailEnd type="none" w="med" len="med"/>
            </a:ln>
          </p:spPr>
        </p:sp>
        <p:sp>
          <p:nvSpPr>
            <p:cNvPr id="85055" name="Line 172"/>
            <p:cNvSpPr/>
            <p:nvPr/>
          </p:nvSpPr>
          <p:spPr>
            <a:xfrm flipV="1">
              <a:off x="4125" y="1756"/>
              <a:ext cx="0" cy="106"/>
            </a:xfrm>
            <a:prstGeom prst="line">
              <a:avLst/>
            </a:prstGeom>
            <a:ln w="25400" cap="flat" cmpd="sng">
              <a:solidFill>
                <a:schemeClr val="tx1"/>
              </a:solidFill>
              <a:prstDash val="solid"/>
              <a:headEnd type="none" w="med" len="med"/>
              <a:tailEnd type="none" w="med" len="med"/>
            </a:ln>
          </p:spPr>
        </p:sp>
        <p:sp>
          <p:nvSpPr>
            <p:cNvPr id="85056" name="Line 173"/>
            <p:cNvSpPr/>
            <p:nvPr/>
          </p:nvSpPr>
          <p:spPr>
            <a:xfrm flipV="1">
              <a:off x="4153" y="1756"/>
              <a:ext cx="0" cy="106"/>
            </a:xfrm>
            <a:prstGeom prst="line">
              <a:avLst/>
            </a:prstGeom>
            <a:ln w="25400" cap="flat" cmpd="sng">
              <a:solidFill>
                <a:schemeClr val="tx1"/>
              </a:solidFill>
              <a:prstDash val="solid"/>
              <a:headEnd type="none" w="med" len="med"/>
              <a:tailEnd type="none" w="med" len="med"/>
            </a:ln>
          </p:spPr>
        </p:sp>
        <p:sp>
          <p:nvSpPr>
            <p:cNvPr id="85057" name="Line 174"/>
            <p:cNvSpPr/>
            <p:nvPr/>
          </p:nvSpPr>
          <p:spPr>
            <a:xfrm flipV="1">
              <a:off x="4180" y="1756"/>
              <a:ext cx="0" cy="106"/>
            </a:xfrm>
            <a:prstGeom prst="line">
              <a:avLst/>
            </a:prstGeom>
            <a:ln w="25400" cap="flat" cmpd="sng">
              <a:solidFill>
                <a:schemeClr val="tx1"/>
              </a:solidFill>
              <a:prstDash val="solid"/>
              <a:headEnd type="none" w="med" len="med"/>
              <a:tailEnd type="none" w="med" len="med"/>
            </a:ln>
          </p:spPr>
        </p:sp>
        <p:sp>
          <p:nvSpPr>
            <p:cNvPr id="85058" name="Line 175"/>
            <p:cNvSpPr/>
            <p:nvPr/>
          </p:nvSpPr>
          <p:spPr>
            <a:xfrm flipV="1">
              <a:off x="4207" y="1756"/>
              <a:ext cx="0" cy="106"/>
            </a:xfrm>
            <a:prstGeom prst="line">
              <a:avLst/>
            </a:prstGeom>
            <a:ln w="25400" cap="flat" cmpd="sng">
              <a:solidFill>
                <a:schemeClr val="tx1"/>
              </a:solidFill>
              <a:prstDash val="solid"/>
              <a:headEnd type="none" w="med" len="med"/>
              <a:tailEnd type="none" w="med" len="med"/>
            </a:ln>
          </p:spPr>
        </p:sp>
        <p:sp>
          <p:nvSpPr>
            <p:cNvPr id="85059" name="Line 176"/>
            <p:cNvSpPr/>
            <p:nvPr/>
          </p:nvSpPr>
          <p:spPr>
            <a:xfrm flipV="1">
              <a:off x="4234" y="1756"/>
              <a:ext cx="0" cy="106"/>
            </a:xfrm>
            <a:prstGeom prst="line">
              <a:avLst/>
            </a:prstGeom>
            <a:ln w="25400" cap="flat" cmpd="sng">
              <a:solidFill>
                <a:schemeClr val="tx1"/>
              </a:solidFill>
              <a:prstDash val="solid"/>
              <a:headEnd type="none" w="med" len="med"/>
              <a:tailEnd type="none" w="med" len="med"/>
            </a:ln>
          </p:spPr>
        </p:sp>
        <p:sp>
          <p:nvSpPr>
            <p:cNvPr id="85060" name="Line 177"/>
            <p:cNvSpPr/>
            <p:nvPr/>
          </p:nvSpPr>
          <p:spPr>
            <a:xfrm flipV="1">
              <a:off x="4262" y="1756"/>
              <a:ext cx="0" cy="106"/>
            </a:xfrm>
            <a:prstGeom prst="line">
              <a:avLst/>
            </a:prstGeom>
            <a:ln w="25400" cap="flat" cmpd="sng">
              <a:solidFill>
                <a:schemeClr val="tx1"/>
              </a:solidFill>
              <a:prstDash val="solid"/>
              <a:headEnd type="none" w="med" len="med"/>
              <a:tailEnd type="none" w="med" len="med"/>
            </a:ln>
          </p:spPr>
        </p:sp>
        <p:sp>
          <p:nvSpPr>
            <p:cNvPr id="85061" name="Line 178"/>
            <p:cNvSpPr/>
            <p:nvPr/>
          </p:nvSpPr>
          <p:spPr>
            <a:xfrm flipV="1">
              <a:off x="4289" y="1756"/>
              <a:ext cx="0" cy="106"/>
            </a:xfrm>
            <a:prstGeom prst="line">
              <a:avLst/>
            </a:prstGeom>
            <a:ln w="25400" cap="flat" cmpd="sng">
              <a:solidFill>
                <a:schemeClr val="tx1"/>
              </a:solidFill>
              <a:prstDash val="solid"/>
              <a:headEnd type="none" w="med" len="med"/>
              <a:tailEnd type="none" w="med" len="med"/>
            </a:ln>
          </p:spPr>
        </p:sp>
        <p:sp>
          <p:nvSpPr>
            <p:cNvPr id="85062" name="Line 179"/>
            <p:cNvSpPr/>
            <p:nvPr/>
          </p:nvSpPr>
          <p:spPr>
            <a:xfrm flipV="1">
              <a:off x="4316" y="1756"/>
              <a:ext cx="0" cy="106"/>
            </a:xfrm>
            <a:prstGeom prst="line">
              <a:avLst/>
            </a:prstGeom>
            <a:ln w="25400" cap="flat" cmpd="sng">
              <a:solidFill>
                <a:schemeClr val="tx1"/>
              </a:solidFill>
              <a:prstDash val="solid"/>
              <a:headEnd type="none" w="med" len="med"/>
              <a:tailEnd type="none" w="med" len="med"/>
            </a:ln>
          </p:spPr>
        </p:sp>
        <p:sp>
          <p:nvSpPr>
            <p:cNvPr id="85063" name="Line 180"/>
            <p:cNvSpPr/>
            <p:nvPr/>
          </p:nvSpPr>
          <p:spPr>
            <a:xfrm flipV="1">
              <a:off x="4343" y="1756"/>
              <a:ext cx="0" cy="106"/>
            </a:xfrm>
            <a:prstGeom prst="line">
              <a:avLst/>
            </a:prstGeom>
            <a:ln w="25400" cap="flat" cmpd="sng">
              <a:solidFill>
                <a:schemeClr val="tx1"/>
              </a:solidFill>
              <a:prstDash val="solid"/>
              <a:headEnd type="none" w="med" len="med"/>
              <a:tailEnd type="none" w="med" len="med"/>
            </a:ln>
          </p:spPr>
        </p:sp>
        <p:sp>
          <p:nvSpPr>
            <p:cNvPr id="85064" name="Line 181"/>
            <p:cNvSpPr/>
            <p:nvPr/>
          </p:nvSpPr>
          <p:spPr>
            <a:xfrm flipV="1">
              <a:off x="4371" y="1756"/>
              <a:ext cx="0" cy="106"/>
            </a:xfrm>
            <a:prstGeom prst="line">
              <a:avLst/>
            </a:prstGeom>
            <a:ln w="25400" cap="flat" cmpd="sng">
              <a:solidFill>
                <a:schemeClr val="tx1"/>
              </a:solidFill>
              <a:prstDash val="solid"/>
              <a:headEnd type="none" w="med" len="med"/>
              <a:tailEnd type="none" w="med" len="med"/>
            </a:ln>
          </p:spPr>
        </p:sp>
        <p:sp>
          <p:nvSpPr>
            <p:cNvPr id="85065" name="Line 182"/>
            <p:cNvSpPr/>
            <p:nvPr/>
          </p:nvSpPr>
          <p:spPr>
            <a:xfrm flipV="1">
              <a:off x="4398" y="1756"/>
              <a:ext cx="0" cy="106"/>
            </a:xfrm>
            <a:prstGeom prst="line">
              <a:avLst/>
            </a:prstGeom>
            <a:ln w="25400" cap="flat" cmpd="sng">
              <a:solidFill>
                <a:schemeClr val="tx1"/>
              </a:solidFill>
              <a:prstDash val="solid"/>
              <a:headEnd type="none" w="med" len="med"/>
              <a:tailEnd type="none" w="med" len="med"/>
            </a:ln>
          </p:spPr>
        </p:sp>
        <p:sp>
          <p:nvSpPr>
            <p:cNvPr id="85066" name="Line 183"/>
            <p:cNvSpPr/>
            <p:nvPr/>
          </p:nvSpPr>
          <p:spPr>
            <a:xfrm flipV="1">
              <a:off x="4425" y="1756"/>
              <a:ext cx="0" cy="106"/>
            </a:xfrm>
            <a:prstGeom prst="line">
              <a:avLst/>
            </a:prstGeom>
            <a:ln w="25400" cap="flat" cmpd="sng">
              <a:solidFill>
                <a:schemeClr val="tx1"/>
              </a:solidFill>
              <a:prstDash val="solid"/>
              <a:headEnd type="none" w="med" len="med"/>
              <a:tailEnd type="none" w="med" len="med"/>
            </a:ln>
          </p:spPr>
        </p:sp>
        <p:sp>
          <p:nvSpPr>
            <p:cNvPr id="85067" name="Line 184"/>
            <p:cNvSpPr/>
            <p:nvPr/>
          </p:nvSpPr>
          <p:spPr>
            <a:xfrm flipV="1">
              <a:off x="4452" y="1756"/>
              <a:ext cx="0" cy="106"/>
            </a:xfrm>
            <a:prstGeom prst="line">
              <a:avLst/>
            </a:prstGeom>
            <a:ln w="25400" cap="flat" cmpd="sng">
              <a:solidFill>
                <a:schemeClr val="tx1"/>
              </a:solidFill>
              <a:prstDash val="solid"/>
              <a:headEnd type="none" w="med" len="med"/>
              <a:tailEnd type="none" w="med" len="med"/>
            </a:ln>
          </p:spPr>
        </p:sp>
        <p:sp>
          <p:nvSpPr>
            <p:cNvPr id="85068" name="Line 185"/>
            <p:cNvSpPr/>
            <p:nvPr/>
          </p:nvSpPr>
          <p:spPr>
            <a:xfrm flipV="1">
              <a:off x="4480" y="1756"/>
              <a:ext cx="0" cy="106"/>
            </a:xfrm>
            <a:prstGeom prst="line">
              <a:avLst/>
            </a:prstGeom>
            <a:ln w="25400" cap="flat" cmpd="sng">
              <a:solidFill>
                <a:schemeClr val="tx1"/>
              </a:solidFill>
              <a:prstDash val="solid"/>
              <a:headEnd type="none" w="med" len="med"/>
              <a:tailEnd type="none" w="med" len="med"/>
            </a:ln>
          </p:spPr>
        </p:sp>
        <p:sp>
          <p:nvSpPr>
            <p:cNvPr id="85069" name="Line 186"/>
            <p:cNvSpPr/>
            <p:nvPr/>
          </p:nvSpPr>
          <p:spPr>
            <a:xfrm flipV="1">
              <a:off x="3557" y="1756"/>
              <a:ext cx="0" cy="106"/>
            </a:xfrm>
            <a:prstGeom prst="line">
              <a:avLst/>
            </a:prstGeom>
            <a:ln w="25400" cap="flat" cmpd="sng">
              <a:solidFill>
                <a:schemeClr val="tx1"/>
              </a:solidFill>
              <a:prstDash val="solid"/>
              <a:headEnd type="none" w="med" len="med"/>
              <a:tailEnd type="none" w="med" len="med"/>
            </a:ln>
          </p:spPr>
        </p:sp>
        <p:sp>
          <p:nvSpPr>
            <p:cNvPr id="85070" name="Line 187"/>
            <p:cNvSpPr/>
            <p:nvPr/>
          </p:nvSpPr>
          <p:spPr>
            <a:xfrm flipV="1">
              <a:off x="3584" y="1756"/>
              <a:ext cx="0" cy="106"/>
            </a:xfrm>
            <a:prstGeom prst="line">
              <a:avLst/>
            </a:prstGeom>
            <a:ln w="25400" cap="flat" cmpd="sng">
              <a:solidFill>
                <a:schemeClr val="tx1"/>
              </a:solidFill>
              <a:prstDash val="solid"/>
              <a:headEnd type="none" w="med" len="med"/>
              <a:tailEnd type="none" w="med" len="med"/>
            </a:ln>
          </p:spPr>
        </p:sp>
        <p:sp>
          <p:nvSpPr>
            <p:cNvPr id="85071" name="Line 188"/>
            <p:cNvSpPr/>
            <p:nvPr/>
          </p:nvSpPr>
          <p:spPr>
            <a:xfrm flipV="1">
              <a:off x="3612" y="1756"/>
              <a:ext cx="0" cy="106"/>
            </a:xfrm>
            <a:prstGeom prst="line">
              <a:avLst/>
            </a:prstGeom>
            <a:ln w="25400" cap="flat" cmpd="sng">
              <a:solidFill>
                <a:schemeClr val="tx1"/>
              </a:solidFill>
              <a:prstDash val="solid"/>
              <a:headEnd type="none" w="med" len="med"/>
              <a:tailEnd type="none" w="med" len="med"/>
            </a:ln>
          </p:spPr>
        </p:sp>
        <p:sp>
          <p:nvSpPr>
            <p:cNvPr id="85072" name="Line 189"/>
            <p:cNvSpPr/>
            <p:nvPr/>
          </p:nvSpPr>
          <p:spPr>
            <a:xfrm flipV="1">
              <a:off x="3639" y="1756"/>
              <a:ext cx="0" cy="106"/>
            </a:xfrm>
            <a:prstGeom prst="line">
              <a:avLst/>
            </a:prstGeom>
            <a:ln w="25400" cap="flat" cmpd="sng">
              <a:solidFill>
                <a:schemeClr val="tx1"/>
              </a:solidFill>
              <a:prstDash val="solid"/>
              <a:headEnd type="none" w="med" len="med"/>
              <a:tailEnd type="none" w="med" len="med"/>
            </a:ln>
          </p:spPr>
        </p:sp>
        <p:sp>
          <p:nvSpPr>
            <p:cNvPr id="85073" name="Line 190"/>
            <p:cNvSpPr/>
            <p:nvPr/>
          </p:nvSpPr>
          <p:spPr>
            <a:xfrm flipV="1">
              <a:off x="3666" y="1756"/>
              <a:ext cx="0" cy="106"/>
            </a:xfrm>
            <a:prstGeom prst="line">
              <a:avLst/>
            </a:prstGeom>
            <a:ln w="25400" cap="flat" cmpd="sng">
              <a:solidFill>
                <a:schemeClr val="tx1"/>
              </a:solidFill>
              <a:prstDash val="solid"/>
              <a:headEnd type="none" w="med" len="med"/>
              <a:tailEnd type="none" w="med" len="med"/>
            </a:ln>
          </p:spPr>
        </p:sp>
        <p:sp>
          <p:nvSpPr>
            <p:cNvPr id="85074" name="Line 191"/>
            <p:cNvSpPr/>
            <p:nvPr/>
          </p:nvSpPr>
          <p:spPr>
            <a:xfrm flipV="1">
              <a:off x="3693" y="1756"/>
              <a:ext cx="0" cy="106"/>
            </a:xfrm>
            <a:prstGeom prst="line">
              <a:avLst/>
            </a:prstGeom>
            <a:ln w="25400" cap="flat" cmpd="sng">
              <a:solidFill>
                <a:schemeClr val="tx1"/>
              </a:solidFill>
              <a:prstDash val="solid"/>
              <a:headEnd type="none" w="med" len="med"/>
              <a:tailEnd type="none" w="med" len="med"/>
            </a:ln>
          </p:spPr>
        </p:sp>
        <p:sp>
          <p:nvSpPr>
            <p:cNvPr id="85075" name="Line 192"/>
            <p:cNvSpPr/>
            <p:nvPr/>
          </p:nvSpPr>
          <p:spPr>
            <a:xfrm flipV="1">
              <a:off x="3721" y="1756"/>
              <a:ext cx="0" cy="106"/>
            </a:xfrm>
            <a:prstGeom prst="line">
              <a:avLst/>
            </a:prstGeom>
            <a:ln w="25400" cap="flat" cmpd="sng">
              <a:solidFill>
                <a:schemeClr val="tx1"/>
              </a:solidFill>
              <a:prstDash val="solid"/>
              <a:headEnd type="none" w="med" len="med"/>
              <a:tailEnd type="none" w="med" len="med"/>
            </a:ln>
          </p:spPr>
        </p:sp>
        <p:sp>
          <p:nvSpPr>
            <p:cNvPr id="85076" name="Line 193"/>
            <p:cNvSpPr/>
            <p:nvPr/>
          </p:nvSpPr>
          <p:spPr>
            <a:xfrm flipV="1">
              <a:off x="3748" y="1756"/>
              <a:ext cx="0" cy="106"/>
            </a:xfrm>
            <a:prstGeom prst="line">
              <a:avLst/>
            </a:prstGeom>
            <a:ln w="25400" cap="flat" cmpd="sng">
              <a:solidFill>
                <a:schemeClr val="tx1"/>
              </a:solidFill>
              <a:prstDash val="solid"/>
              <a:headEnd type="none" w="med" len="med"/>
              <a:tailEnd type="none" w="med" len="med"/>
            </a:ln>
          </p:spPr>
        </p:sp>
        <p:sp>
          <p:nvSpPr>
            <p:cNvPr id="85077" name="Line 194"/>
            <p:cNvSpPr/>
            <p:nvPr/>
          </p:nvSpPr>
          <p:spPr>
            <a:xfrm flipV="1">
              <a:off x="3775" y="1756"/>
              <a:ext cx="0" cy="106"/>
            </a:xfrm>
            <a:prstGeom prst="line">
              <a:avLst/>
            </a:prstGeom>
            <a:ln w="25400" cap="flat" cmpd="sng">
              <a:solidFill>
                <a:schemeClr val="tx1"/>
              </a:solidFill>
              <a:prstDash val="solid"/>
              <a:headEnd type="none" w="med" len="med"/>
              <a:tailEnd type="none" w="med" len="med"/>
            </a:ln>
          </p:spPr>
        </p:sp>
        <p:sp>
          <p:nvSpPr>
            <p:cNvPr id="85078" name="Line 195"/>
            <p:cNvSpPr/>
            <p:nvPr/>
          </p:nvSpPr>
          <p:spPr>
            <a:xfrm flipV="1">
              <a:off x="3802" y="1756"/>
              <a:ext cx="0" cy="106"/>
            </a:xfrm>
            <a:prstGeom prst="line">
              <a:avLst/>
            </a:prstGeom>
            <a:ln w="25400" cap="flat" cmpd="sng">
              <a:solidFill>
                <a:schemeClr val="tx1"/>
              </a:solidFill>
              <a:prstDash val="solid"/>
              <a:headEnd type="none" w="med" len="med"/>
              <a:tailEnd type="none" w="med" len="med"/>
            </a:ln>
          </p:spPr>
        </p:sp>
        <p:sp>
          <p:nvSpPr>
            <p:cNvPr id="85079" name="Line 196"/>
            <p:cNvSpPr/>
            <p:nvPr/>
          </p:nvSpPr>
          <p:spPr>
            <a:xfrm flipV="1">
              <a:off x="3830" y="1756"/>
              <a:ext cx="0" cy="106"/>
            </a:xfrm>
            <a:prstGeom prst="line">
              <a:avLst/>
            </a:prstGeom>
            <a:ln w="25400" cap="flat" cmpd="sng">
              <a:solidFill>
                <a:schemeClr val="tx1"/>
              </a:solidFill>
              <a:prstDash val="solid"/>
              <a:headEnd type="none" w="med" len="med"/>
              <a:tailEnd type="none" w="med" len="med"/>
            </a:ln>
          </p:spPr>
        </p:sp>
        <p:sp>
          <p:nvSpPr>
            <p:cNvPr id="85080" name="Line 197"/>
            <p:cNvSpPr/>
            <p:nvPr/>
          </p:nvSpPr>
          <p:spPr>
            <a:xfrm flipV="1">
              <a:off x="3857" y="1756"/>
              <a:ext cx="0" cy="106"/>
            </a:xfrm>
            <a:prstGeom prst="line">
              <a:avLst/>
            </a:prstGeom>
            <a:ln w="25400" cap="flat" cmpd="sng">
              <a:solidFill>
                <a:schemeClr val="tx1"/>
              </a:solidFill>
              <a:prstDash val="solid"/>
              <a:headEnd type="none" w="med" len="med"/>
              <a:tailEnd type="none" w="med" len="med"/>
            </a:ln>
          </p:spPr>
        </p:sp>
        <p:sp>
          <p:nvSpPr>
            <p:cNvPr id="85081" name="Line 198"/>
            <p:cNvSpPr/>
            <p:nvPr/>
          </p:nvSpPr>
          <p:spPr>
            <a:xfrm flipV="1">
              <a:off x="3884" y="1756"/>
              <a:ext cx="0" cy="106"/>
            </a:xfrm>
            <a:prstGeom prst="line">
              <a:avLst/>
            </a:prstGeom>
            <a:ln w="25400" cap="flat" cmpd="sng">
              <a:solidFill>
                <a:schemeClr val="tx1"/>
              </a:solidFill>
              <a:prstDash val="solid"/>
              <a:headEnd type="none" w="med" len="med"/>
              <a:tailEnd type="none" w="med" len="med"/>
            </a:ln>
          </p:spPr>
        </p:sp>
        <p:sp>
          <p:nvSpPr>
            <p:cNvPr id="85082" name="Line 199"/>
            <p:cNvSpPr/>
            <p:nvPr/>
          </p:nvSpPr>
          <p:spPr>
            <a:xfrm flipV="1">
              <a:off x="3911" y="1756"/>
              <a:ext cx="0" cy="106"/>
            </a:xfrm>
            <a:prstGeom prst="line">
              <a:avLst/>
            </a:prstGeom>
            <a:ln w="25400" cap="flat" cmpd="sng">
              <a:solidFill>
                <a:schemeClr val="tx1"/>
              </a:solidFill>
              <a:prstDash val="solid"/>
              <a:headEnd type="none" w="med" len="med"/>
              <a:tailEnd type="none" w="med" len="med"/>
            </a:ln>
          </p:spPr>
        </p:sp>
        <p:sp>
          <p:nvSpPr>
            <p:cNvPr id="85083" name="Line 200"/>
            <p:cNvSpPr/>
            <p:nvPr/>
          </p:nvSpPr>
          <p:spPr>
            <a:xfrm flipV="1">
              <a:off x="3939" y="1756"/>
              <a:ext cx="0" cy="106"/>
            </a:xfrm>
            <a:prstGeom prst="line">
              <a:avLst/>
            </a:prstGeom>
            <a:ln w="25400" cap="flat" cmpd="sng">
              <a:solidFill>
                <a:schemeClr val="tx1"/>
              </a:solidFill>
              <a:prstDash val="solid"/>
              <a:headEnd type="none" w="med" len="med"/>
              <a:tailEnd type="none" w="med" len="med"/>
            </a:ln>
          </p:spPr>
        </p:sp>
        <p:sp>
          <p:nvSpPr>
            <p:cNvPr id="85084" name="Line 201"/>
            <p:cNvSpPr/>
            <p:nvPr/>
          </p:nvSpPr>
          <p:spPr>
            <a:xfrm flipV="1">
              <a:off x="3966" y="1756"/>
              <a:ext cx="0" cy="106"/>
            </a:xfrm>
            <a:prstGeom prst="line">
              <a:avLst/>
            </a:prstGeom>
            <a:ln w="25400" cap="flat" cmpd="sng">
              <a:solidFill>
                <a:schemeClr val="tx1"/>
              </a:solidFill>
              <a:prstDash val="solid"/>
              <a:headEnd type="none" w="med" len="med"/>
              <a:tailEnd type="none" w="med" len="med"/>
            </a:ln>
          </p:spPr>
        </p:sp>
        <p:sp>
          <p:nvSpPr>
            <p:cNvPr id="85085" name="Line 202"/>
            <p:cNvSpPr/>
            <p:nvPr/>
          </p:nvSpPr>
          <p:spPr>
            <a:xfrm flipV="1">
              <a:off x="3993" y="1756"/>
              <a:ext cx="0" cy="106"/>
            </a:xfrm>
            <a:prstGeom prst="line">
              <a:avLst/>
            </a:prstGeom>
            <a:ln w="25400" cap="flat" cmpd="sng">
              <a:solidFill>
                <a:schemeClr val="tx1"/>
              </a:solidFill>
              <a:prstDash val="solid"/>
              <a:headEnd type="none" w="med" len="med"/>
              <a:tailEnd type="none" w="med" len="med"/>
            </a:ln>
          </p:spPr>
        </p:sp>
        <p:sp>
          <p:nvSpPr>
            <p:cNvPr id="85086" name="Line 203"/>
            <p:cNvSpPr/>
            <p:nvPr/>
          </p:nvSpPr>
          <p:spPr>
            <a:xfrm flipV="1">
              <a:off x="4018" y="1756"/>
              <a:ext cx="0" cy="106"/>
            </a:xfrm>
            <a:prstGeom prst="line">
              <a:avLst/>
            </a:prstGeom>
            <a:ln w="25400" cap="flat" cmpd="sng">
              <a:solidFill>
                <a:schemeClr val="tx1"/>
              </a:solidFill>
              <a:prstDash val="solid"/>
              <a:headEnd type="none" w="med" len="med"/>
              <a:tailEnd type="none" w="med" len="med"/>
            </a:ln>
          </p:spPr>
        </p:sp>
        <p:sp>
          <p:nvSpPr>
            <p:cNvPr id="85087" name="Line 204"/>
            <p:cNvSpPr/>
            <p:nvPr/>
          </p:nvSpPr>
          <p:spPr>
            <a:xfrm flipV="1">
              <a:off x="4046" y="1756"/>
              <a:ext cx="0" cy="106"/>
            </a:xfrm>
            <a:prstGeom prst="line">
              <a:avLst/>
            </a:prstGeom>
            <a:ln w="25400" cap="flat" cmpd="sng">
              <a:solidFill>
                <a:schemeClr val="tx1"/>
              </a:solidFill>
              <a:prstDash val="solid"/>
              <a:headEnd type="none" w="med" len="med"/>
              <a:tailEnd type="none" w="med" len="med"/>
            </a:ln>
          </p:spPr>
        </p:sp>
        <p:sp>
          <p:nvSpPr>
            <p:cNvPr id="85088" name="Line 205"/>
            <p:cNvSpPr/>
            <p:nvPr/>
          </p:nvSpPr>
          <p:spPr>
            <a:xfrm flipV="1">
              <a:off x="4073" y="1756"/>
              <a:ext cx="0" cy="106"/>
            </a:xfrm>
            <a:prstGeom prst="line">
              <a:avLst/>
            </a:prstGeom>
            <a:ln w="25400" cap="flat" cmpd="sng">
              <a:solidFill>
                <a:schemeClr val="tx1"/>
              </a:solidFill>
              <a:prstDash val="solid"/>
              <a:headEnd type="none" w="med" len="med"/>
              <a:tailEnd type="none" w="med" len="med"/>
            </a:ln>
          </p:spPr>
        </p:sp>
        <p:sp>
          <p:nvSpPr>
            <p:cNvPr id="85089" name="Line 206"/>
            <p:cNvSpPr/>
            <p:nvPr/>
          </p:nvSpPr>
          <p:spPr>
            <a:xfrm flipV="1">
              <a:off x="4100" y="1756"/>
              <a:ext cx="0" cy="106"/>
            </a:xfrm>
            <a:prstGeom prst="line">
              <a:avLst/>
            </a:prstGeom>
            <a:ln w="25400" cap="flat" cmpd="sng">
              <a:solidFill>
                <a:schemeClr val="tx1"/>
              </a:solidFill>
              <a:prstDash val="solid"/>
              <a:headEnd type="none" w="med" len="med"/>
              <a:tailEnd type="none" w="med" len="med"/>
            </a:ln>
          </p:spPr>
        </p:sp>
      </p:grpSp>
      <p:sp>
        <p:nvSpPr>
          <p:cNvPr id="85010" name="Line 207"/>
          <p:cNvSpPr/>
          <p:nvPr/>
        </p:nvSpPr>
        <p:spPr>
          <a:xfrm>
            <a:off x="4895850" y="3254375"/>
            <a:ext cx="2236788" cy="0"/>
          </a:xfrm>
          <a:prstGeom prst="line">
            <a:avLst/>
          </a:prstGeom>
          <a:ln w="9525" cap="flat" cmpd="sng">
            <a:solidFill>
              <a:srgbClr val="003366"/>
            </a:solidFill>
            <a:prstDash val="solid"/>
            <a:headEnd type="stealth" w="med" len="lg"/>
            <a:tailEnd type="stealth" w="med" len="lg"/>
          </a:ln>
        </p:spPr>
      </p:sp>
      <p:sp>
        <p:nvSpPr>
          <p:cNvPr id="85011" name="Line 208"/>
          <p:cNvSpPr/>
          <p:nvPr/>
        </p:nvSpPr>
        <p:spPr>
          <a:xfrm>
            <a:off x="7132638" y="3254375"/>
            <a:ext cx="1114425" cy="0"/>
          </a:xfrm>
          <a:prstGeom prst="line">
            <a:avLst/>
          </a:prstGeom>
          <a:ln w="9525" cap="flat" cmpd="sng">
            <a:solidFill>
              <a:srgbClr val="003366"/>
            </a:solidFill>
            <a:prstDash val="solid"/>
            <a:headEnd type="stealth" w="med" len="lg"/>
            <a:tailEnd type="stealth" w="med" len="lg"/>
          </a:ln>
        </p:spPr>
      </p:sp>
      <p:sp>
        <p:nvSpPr>
          <p:cNvPr id="85012" name="Text Box 209"/>
          <p:cNvSpPr txBox="1"/>
          <p:nvPr/>
        </p:nvSpPr>
        <p:spPr>
          <a:xfrm>
            <a:off x="5840413" y="2978150"/>
            <a:ext cx="369887" cy="284163"/>
          </a:xfrm>
          <a:prstGeom prst="rect">
            <a:avLst/>
          </a:prstGeom>
          <a:noFill/>
          <a:ln w="9525">
            <a:noFill/>
          </a:ln>
        </p:spPr>
        <p:txBody>
          <a:bodyPr>
            <a:spAutoFit/>
          </a:bodyPr>
          <a:p>
            <a:pPr eaLnBrk="1" hangingPunct="1">
              <a:lnSpc>
                <a:spcPct val="90000"/>
              </a:lnSpc>
            </a:pPr>
            <a:r>
              <a:rPr lang="en-US" altLang="zh-CN" sz="1400" i="1" dirty="0">
                <a:solidFill>
                  <a:srgbClr val="FF0000"/>
                </a:solidFill>
                <a:latin typeface="Times New Roman" panose="02020603050405020304" pitchFamily="18" charset="0"/>
              </a:rPr>
              <a:t>N</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sp>
        <p:nvSpPr>
          <p:cNvPr id="85013" name="Text Box 210"/>
          <p:cNvSpPr txBox="1"/>
          <p:nvPr/>
        </p:nvSpPr>
        <p:spPr>
          <a:xfrm>
            <a:off x="7519988" y="2973388"/>
            <a:ext cx="369887" cy="284162"/>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N</a:t>
            </a:r>
            <a:r>
              <a:rPr lang="en-US" altLang="zh-CN" sz="1400" baseline="-25000" dirty="0">
                <a:solidFill>
                  <a:srgbClr val="FF0000"/>
                </a:solidFill>
                <a:latin typeface="Times New Roman" panose="02020603050405020304" pitchFamily="18" charset="0"/>
              </a:rPr>
              <a:t>2</a:t>
            </a:r>
            <a:endParaRPr lang="en-US" altLang="zh-CN" sz="1400" baseline="-25000" dirty="0">
              <a:solidFill>
                <a:srgbClr val="FF0000"/>
              </a:solidFill>
              <a:latin typeface="Times New Roman" panose="02020603050405020304" pitchFamily="18" charset="0"/>
            </a:endParaRPr>
          </a:p>
        </p:txBody>
      </p:sp>
      <p:sp>
        <p:nvSpPr>
          <p:cNvPr id="85014" name="Line 211"/>
          <p:cNvSpPr/>
          <p:nvPr/>
        </p:nvSpPr>
        <p:spPr>
          <a:xfrm>
            <a:off x="4892675" y="2482850"/>
            <a:ext cx="2236788" cy="0"/>
          </a:xfrm>
          <a:prstGeom prst="line">
            <a:avLst/>
          </a:prstGeom>
          <a:ln w="9525" cap="flat" cmpd="sng">
            <a:solidFill>
              <a:srgbClr val="003366"/>
            </a:solidFill>
            <a:prstDash val="solid"/>
            <a:headEnd type="stealth" w="med" len="lg"/>
            <a:tailEnd type="stealth" w="med" len="lg"/>
          </a:ln>
        </p:spPr>
      </p:sp>
      <p:sp>
        <p:nvSpPr>
          <p:cNvPr id="85015" name="Line 212"/>
          <p:cNvSpPr/>
          <p:nvPr/>
        </p:nvSpPr>
        <p:spPr>
          <a:xfrm>
            <a:off x="7129463" y="2482850"/>
            <a:ext cx="1114425" cy="0"/>
          </a:xfrm>
          <a:prstGeom prst="line">
            <a:avLst/>
          </a:prstGeom>
          <a:ln w="9525" cap="flat" cmpd="sng">
            <a:solidFill>
              <a:srgbClr val="003366"/>
            </a:solidFill>
            <a:prstDash val="solid"/>
            <a:headEnd type="stealth" w="med" len="lg"/>
            <a:tailEnd type="stealth" w="med" len="lg"/>
          </a:ln>
        </p:spPr>
      </p:sp>
      <p:sp>
        <p:nvSpPr>
          <p:cNvPr id="85016" name="Text Box 213"/>
          <p:cNvSpPr txBox="1"/>
          <p:nvPr/>
        </p:nvSpPr>
        <p:spPr>
          <a:xfrm>
            <a:off x="5892800" y="2206625"/>
            <a:ext cx="290513" cy="284163"/>
          </a:xfrm>
          <a:prstGeom prst="rect">
            <a:avLst/>
          </a:prstGeom>
          <a:noFill/>
          <a:ln w="9525">
            <a:noFill/>
          </a:ln>
        </p:spPr>
        <p:txBody>
          <a:bodyPr>
            <a:spAutoFit/>
          </a:bodyPr>
          <a:p>
            <a:pPr eaLnBrk="1" hangingPunct="1">
              <a:lnSpc>
                <a:spcPct val="90000"/>
              </a:lnSpc>
            </a:pPr>
            <a:r>
              <a:rPr lang="en-US" altLang="zh-CN" sz="1400" i="1" dirty="0">
                <a:solidFill>
                  <a:srgbClr val="FF0000"/>
                </a:solidFill>
                <a:latin typeface="Times New Roman" panose="02020603050405020304" pitchFamily="18" charset="0"/>
              </a:rPr>
              <a:t>t</a:t>
            </a:r>
            <a:r>
              <a:rPr lang="en-US" altLang="zh-CN" sz="1400" baseline="-25000" dirty="0">
                <a:solidFill>
                  <a:srgbClr val="FF0000"/>
                </a:solidFill>
                <a:latin typeface="Times New Roman" panose="02020603050405020304" pitchFamily="18" charset="0"/>
              </a:rPr>
              <a:t>1</a:t>
            </a:r>
            <a:endParaRPr lang="en-US" altLang="zh-CN" sz="1400" baseline="-25000" dirty="0">
              <a:solidFill>
                <a:srgbClr val="FF0000"/>
              </a:solidFill>
              <a:latin typeface="Times New Roman" panose="02020603050405020304" pitchFamily="18" charset="0"/>
            </a:endParaRPr>
          </a:p>
        </p:txBody>
      </p:sp>
      <p:sp>
        <p:nvSpPr>
          <p:cNvPr id="85017" name="Text Box 214"/>
          <p:cNvSpPr txBox="1"/>
          <p:nvPr/>
        </p:nvSpPr>
        <p:spPr>
          <a:xfrm>
            <a:off x="7548563" y="2201863"/>
            <a:ext cx="290512" cy="284162"/>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r>
              <a:rPr lang="en-US" altLang="zh-CN" sz="1400" baseline="-25000" dirty="0">
                <a:solidFill>
                  <a:srgbClr val="FF0000"/>
                </a:solidFill>
                <a:latin typeface="Times New Roman" panose="02020603050405020304" pitchFamily="18" charset="0"/>
              </a:rPr>
              <a:t>2</a:t>
            </a:r>
            <a:endParaRPr lang="en-US" altLang="zh-CN" sz="1400" baseline="-25000" dirty="0">
              <a:solidFill>
                <a:srgbClr val="FF0000"/>
              </a:solidFill>
              <a:latin typeface="Times New Roman" panose="02020603050405020304" pitchFamily="18" charset="0"/>
            </a:endParaRPr>
          </a:p>
        </p:txBody>
      </p:sp>
      <p:sp>
        <p:nvSpPr>
          <p:cNvPr id="85018" name="Text Box 215"/>
          <p:cNvSpPr txBox="1"/>
          <p:nvPr/>
        </p:nvSpPr>
        <p:spPr>
          <a:xfrm>
            <a:off x="7100888" y="1457325"/>
            <a:ext cx="539750" cy="312738"/>
          </a:xfrm>
          <a:prstGeom prst="rect">
            <a:avLst/>
          </a:prstGeom>
          <a:noFill/>
          <a:ln w="9525">
            <a:noFill/>
          </a:ln>
        </p:spPr>
        <p:txBody>
          <a:bodyPr>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baseline="-25000" dirty="0">
                <a:solidFill>
                  <a:srgbClr val="FF0000"/>
                </a:solidFill>
                <a:latin typeface="Times New Roman" panose="02020603050405020304" pitchFamily="18" charset="0"/>
              </a:rPr>
              <a:t>OX</a:t>
            </a:r>
            <a:endParaRPr lang="en-US" altLang="zh-CN" sz="1600" baseline="-25000" dirty="0">
              <a:solidFill>
                <a:srgbClr val="FF0000"/>
              </a:solidFill>
              <a:latin typeface="Times New Roman" panose="02020603050405020304" pitchFamily="18" charset="0"/>
            </a:endParaRPr>
          </a:p>
        </p:txBody>
      </p:sp>
      <p:sp>
        <p:nvSpPr>
          <p:cNvPr id="85019" name="Text Box 216"/>
          <p:cNvSpPr txBox="1"/>
          <p:nvPr/>
        </p:nvSpPr>
        <p:spPr>
          <a:xfrm>
            <a:off x="8710613" y="1035050"/>
            <a:ext cx="233362"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85020" name="Text Box 217"/>
          <p:cNvSpPr txBox="1"/>
          <p:nvPr/>
        </p:nvSpPr>
        <p:spPr>
          <a:xfrm>
            <a:off x="8696325" y="2044700"/>
            <a:ext cx="233363" cy="284163"/>
          </a:xfrm>
          <a:prstGeom prst="rect">
            <a:avLst/>
          </a:prstGeom>
          <a:noFill/>
          <a:ln w="9525">
            <a:noFill/>
          </a:ln>
        </p:spPr>
        <p:txBody>
          <a:bodyPr wrap="none">
            <a:spAutoFit/>
          </a:bodyPr>
          <a:p>
            <a:pPr eaLnBrk="1" hangingPunct="1">
              <a:lnSpc>
                <a:spcPct val="90000"/>
              </a:lnSpc>
            </a:pPr>
            <a:r>
              <a:rPr lang="en-US" altLang="zh-CN" sz="1400" i="1" dirty="0">
                <a:solidFill>
                  <a:srgbClr val="FF0000"/>
                </a:solidFill>
                <a:latin typeface="Times New Roman" panose="02020603050405020304" pitchFamily="18" charset="0"/>
              </a:rPr>
              <a:t>t</a:t>
            </a:r>
            <a:endParaRPr lang="en-US" altLang="zh-CN" sz="1400" baseline="-25000" dirty="0">
              <a:solidFill>
                <a:srgbClr val="FF0000"/>
              </a:solidFill>
              <a:latin typeface="Times New Roman" panose="02020603050405020304" pitchFamily="18" charset="0"/>
            </a:endParaRPr>
          </a:p>
        </p:txBody>
      </p:sp>
      <p:sp>
        <p:nvSpPr>
          <p:cNvPr id="85021" name="Line 218"/>
          <p:cNvSpPr/>
          <p:nvPr/>
        </p:nvSpPr>
        <p:spPr>
          <a:xfrm>
            <a:off x="5907088" y="944563"/>
            <a:ext cx="0" cy="257175"/>
          </a:xfrm>
          <a:prstGeom prst="line">
            <a:avLst/>
          </a:prstGeom>
          <a:ln w="9525" cap="flat" cmpd="sng">
            <a:solidFill>
              <a:srgbClr val="003366"/>
            </a:solidFill>
            <a:prstDash val="solid"/>
            <a:headEnd type="none" w="med" len="lg"/>
            <a:tailEnd type="stealth" w="med" len="lg"/>
          </a:ln>
        </p:spPr>
      </p:sp>
      <p:sp>
        <p:nvSpPr>
          <p:cNvPr id="85022" name="Line 219"/>
          <p:cNvSpPr/>
          <p:nvPr/>
        </p:nvSpPr>
        <p:spPr>
          <a:xfrm>
            <a:off x="5907088" y="1449388"/>
            <a:ext cx="0" cy="250825"/>
          </a:xfrm>
          <a:prstGeom prst="line">
            <a:avLst/>
          </a:prstGeom>
          <a:ln w="9525" cap="flat" cmpd="sng">
            <a:solidFill>
              <a:srgbClr val="003366"/>
            </a:solidFill>
            <a:prstDash val="solid"/>
            <a:headEnd type="stealth" w="med" len="lg"/>
            <a:tailEnd type="none" w="med" len="lg"/>
          </a:ln>
        </p:spPr>
      </p:sp>
      <p:sp>
        <p:nvSpPr>
          <p:cNvPr id="85023" name="Text Box 220"/>
          <p:cNvSpPr txBox="1"/>
          <p:nvPr/>
        </p:nvSpPr>
        <p:spPr>
          <a:xfrm>
            <a:off x="5697538" y="1146175"/>
            <a:ext cx="368300"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i="1" baseline="-25000" dirty="0">
                <a:solidFill>
                  <a:srgbClr val="FF0000"/>
                </a:solidFill>
                <a:latin typeface="Times New Roman" panose="02020603050405020304" pitchFamily="18" charset="0"/>
              </a:rPr>
              <a:t>i</a:t>
            </a:r>
            <a:endParaRPr lang="en-US" altLang="zh-CN" sz="1600" i="1" baseline="-25000" dirty="0">
              <a:solidFill>
                <a:srgbClr val="FF0000"/>
              </a:solidFill>
              <a:latin typeface="Times New Roman" panose="02020603050405020304" pitchFamily="18" charset="0"/>
            </a:endParaRPr>
          </a:p>
        </p:txBody>
      </p:sp>
      <p:sp>
        <p:nvSpPr>
          <p:cNvPr id="85024" name="Line 221"/>
          <p:cNvSpPr/>
          <p:nvPr/>
        </p:nvSpPr>
        <p:spPr>
          <a:xfrm>
            <a:off x="7499350" y="671513"/>
            <a:ext cx="0" cy="530225"/>
          </a:xfrm>
          <a:prstGeom prst="line">
            <a:avLst/>
          </a:prstGeom>
          <a:ln w="9525" cap="flat" cmpd="sng">
            <a:solidFill>
              <a:srgbClr val="003366"/>
            </a:solidFill>
            <a:prstDash val="solid"/>
            <a:headEnd type="stealth" w="med" len="lg"/>
            <a:tailEnd type="stealth" w="med" len="lg"/>
          </a:ln>
        </p:spPr>
      </p:sp>
      <p:sp>
        <p:nvSpPr>
          <p:cNvPr id="85025" name="Text Box 222"/>
          <p:cNvSpPr txBox="1"/>
          <p:nvPr/>
        </p:nvSpPr>
        <p:spPr>
          <a:xfrm>
            <a:off x="7467600" y="777875"/>
            <a:ext cx="611188" cy="312738"/>
          </a:xfrm>
          <a:prstGeom prst="rect">
            <a:avLst/>
          </a:prstGeom>
          <a:noFill/>
          <a:ln w="9525">
            <a:noFill/>
          </a:ln>
        </p:spPr>
        <p:txBody>
          <a:bodyPr wrap="none">
            <a:spAutoFit/>
          </a:bodyPr>
          <a:p>
            <a:pPr eaLnBrk="1" hangingPunct="1">
              <a:lnSpc>
                <a:spcPct val="90000"/>
              </a:lnSpc>
            </a:pPr>
            <a:r>
              <a:rPr lang="en-US" altLang="zh-CN" sz="1600" i="1" dirty="0">
                <a:solidFill>
                  <a:srgbClr val="FF0000"/>
                </a:solidFill>
                <a:latin typeface="Times New Roman" panose="02020603050405020304" pitchFamily="18" charset="0"/>
              </a:rPr>
              <a:t>U</a:t>
            </a:r>
            <a:r>
              <a:rPr lang="en-US" altLang="zh-CN" sz="1600" i="1" baseline="-25000" dirty="0">
                <a:solidFill>
                  <a:srgbClr val="FF0000"/>
                </a:solidFill>
                <a:latin typeface="Times New Roman" panose="02020603050405020304" pitchFamily="18" charset="0"/>
              </a:rPr>
              <a:t>REF</a:t>
            </a:r>
            <a:endParaRPr lang="en-US" altLang="zh-CN" sz="1600" i="1" baseline="-25000" dirty="0">
              <a:solidFill>
                <a:srgbClr val="FF0000"/>
              </a:solidFill>
              <a:latin typeface="Times New Roman" panose="02020603050405020304" pitchFamily="18" charset="0"/>
            </a:endParaRPr>
          </a:p>
        </p:txBody>
      </p:sp>
      <p:sp>
        <p:nvSpPr>
          <p:cNvPr id="85026" name="Text Box 223"/>
          <p:cNvSpPr txBox="1"/>
          <p:nvPr/>
        </p:nvSpPr>
        <p:spPr>
          <a:xfrm>
            <a:off x="2016125" y="2490788"/>
            <a:ext cx="1362075" cy="641350"/>
          </a:xfrm>
          <a:prstGeom prst="rect">
            <a:avLst/>
          </a:prstGeom>
          <a:solidFill>
            <a:srgbClr val="CCFFCC"/>
          </a:solidFill>
          <a:ln w="9525">
            <a:noFill/>
          </a:ln>
        </p:spPr>
        <p:txBody>
          <a:bodyPr>
            <a:spAutoFit/>
          </a:bodyPr>
          <a:p>
            <a:pPr algn="ctr" eaLnBrk="1" hangingPunct="1">
              <a:lnSpc>
                <a:spcPct val="90000"/>
              </a:lnSpc>
              <a:spcBef>
                <a:spcPct val="50000"/>
              </a:spcBef>
            </a:pPr>
            <a:r>
              <a:rPr lang="zh-CN" altLang="en-US" sz="2000" dirty="0">
                <a:solidFill>
                  <a:schemeClr val="tx1"/>
                </a:solidFill>
                <a:latin typeface="Times New Roman" panose="02020603050405020304" pitchFamily="18" charset="0"/>
              </a:rPr>
              <a:t>积分器输出波形</a:t>
            </a:r>
            <a:endParaRPr lang="zh-CN" altLang="en-US" sz="2000" dirty="0">
              <a:solidFill>
                <a:schemeClr val="tx1"/>
              </a:solidFill>
              <a:latin typeface="Times New Roman" panose="02020603050405020304" pitchFamily="18" charset="0"/>
            </a:endParaRPr>
          </a:p>
        </p:txBody>
      </p:sp>
      <p:graphicFrame>
        <p:nvGraphicFramePr>
          <p:cNvPr id="2476258" name="Object 226"/>
          <p:cNvGraphicFramePr>
            <a:graphicFrameLocks noChangeAspect="1"/>
          </p:cNvGraphicFramePr>
          <p:nvPr/>
        </p:nvGraphicFramePr>
        <p:xfrm>
          <a:off x="884238" y="3644900"/>
          <a:ext cx="4156075" cy="871538"/>
        </p:xfrm>
        <a:graphic>
          <a:graphicData uri="http://schemas.openxmlformats.org/presentationml/2006/ole">
            <mc:AlternateContent xmlns:mc="http://schemas.openxmlformats.org/markup-compatibility/2006">
              <mc:Choice xmlns:v="urn:schemas-microsoft-com:vml" Requires="v">
                <p:oleObj spid="_x0000_s3105" name="" r:id="rId1" imgW="1765300" imgH="393700" progId="Equation.DSMT4">
                  <p:embed/>
                </p:oleObj>
              </mc:Choice>
              <mc:Fallback>
                <p:oleObj name="" r:id="rId1" imgW="1765300" imgH="393700" progId="Equation.DSMT4">
                  <p:embed/>
                  <p:pic>
                    <p:nvPicPr>
                      <p:cNvPr id="0" name="图片 3104"/>
                      <p:cNvPicPr/>
                      <p:nvPr/>
                    </p:nvPicPr>
                    <p:blipFill>
                      <a:blip r:embed="rId2"/>
                      <a:stretch>
                        <a:fillRect/>
                      </a:stretch>
                    </p:blipFill>
                    <p:spPr>
                      <a:xfrm>
                        <a:off x="884238" y="3644900"/>
                        <a:ext cx="4156075" cy="871538"/>
                      </a:xfrm>
                      <a:prstGeom prst="rect">
                        <a:avLst/>
                      </a:prstGeom>
                      <a:solidFill>
                        <a:srgbClr val="FFFF99"/>
                      </a:solidFill>
                      <a:ln w="38100">
                        <a:noFill/>
                        <a:miter/>
                      </a:ln>
                    </p:spPr>
                  </p:pic>
                </p:oleObj>
              </mc:Fallback>
            </mc:AlternateContent>
          </a:graphicData>
        </a:graphic>
      </p:graphicFrame>
      <p:sp>
        <p:nvSpPr>
          <p:cNvPr id="2476259" name="AutoShape 227"/>
          <p:cNvSpPr/>
          <p:nvPr/>
        </p:nvSpPr>
        <p:spPr>
          <a:xfrm>
            <a:off x="5299075" y="3968750"/>
            <a:ext cx="884238" cy="252413"/>
          </a:xfrm>
          <a:prstGeom prst="rightArrow">
            <a:avLst>
              <a:gd name="adj1" fmla="val 50000"/>
              <a:gd name="adj2" fmla="val 87578"/>
            </a:avLst>
          </a:prstGeom>
          <a:solidFill>
            <a:schemeClr val="accent1"/>
          </a:solidFill>
          <a:ln w="9525"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sz="3600" dirty="0">
              <a:latin typeface="Times New Roman" panose="02020603050405020304" pitchFamily="18" charset="0"/>
            </a:endParaRPr>
          </a:p>
        </p:txBody>
      </p:sp>
      <p:graphicFrame>
        <p:nvGraphicFramePr>
          <p:cNvPr id="2476260" name="Object 228"/>
          <p:cNvGraphicFramePr>
            <a:graphicFrameLocks noChangeAspect="1"/>
          </p:cNvGraphicFramePr>
          <p:nvPr/>
        </p:nvGraphicFramePr>
        <p:xfrm>
          <a:off x="6027738" y="5105400"/>
          <a:ext cx="1884362" cy="955675"/>
        </p:xfrm>
        <a:graphic>
          <a:graphicData uri="http://schemas.openxmlformats.org/presentationml/2006/ole">
            <mc:AlternateContent xmlns:mc="http://schemas.openxmlformats.org/markup-compatibility/2006">
              <mc:Choice xmlns:v="urn:schemas-microsoft-com:vml" Requires="v">
                <p:oleObj spid="_x0000_s3103" name="" r:id="rId3" imgW="799465" imgH="431800" progId="Equation.DSMT4">
                  <p:embed/>
                </p:oleObj>
              </mc:Choice>
              <mc:Fallback>
                <p:oleObj name="" r:id="rId3" imgW="799465" imgH="431800" progId="Equation.DSMT4">
                  <p:embed/>
                  <p:pic>
                    <p:nvPicPr>
                      <p:cNvPr id="0" name="图片 3102"/>
                      <p:cNvPicPr/>
                      <p:nvPr/>
                    </p:nvPicPr>
                    <p:blipFill>
                      <a:blip r:embed="rId4"/>
                      <a:stretch>
                        <a:fillRect/>
                      </a:stretch>
                    </p:blipFill>
                    <p:spPr>
                      <a:xfrm>
                        <a:off x="6027738" y="5105400"/>
                        <a:ext cx="1884362" cy="955675"/>
                      </a:xfrm>
                      <a:prstGeom prst="rect">
                        <a:avLst/>
                      </a:prstGeom>
                      <a:solidFill>
                        <a:srgbClr val="FFFF99"/>
                      </a:solidFill>
                      <a:ln w="38100">
                        <a:noFill/>
                        <a:miter/>
                      </a:ln>
                    </p:spPr>
                  </p:pic>
                </p:oleObj>
              </mc:Fallback>
            </mc:AlternateContent>
          </a:graphicData>
        </a:graphic>
      </p:graphicFrame>
      <p:sp>
        <p:nvSpPr>
          <p:cNvPr id="2476261" name="Text Box 229"/>
          <p:cNvSpPr txBox="1"/>
          <p:nvPr/>
        </p:nvSpPr>
        <p:spPr>
          <a:xfrm>
            <a:off x="604838" y="4652963"/>
            <a:ext cx="6591300" cy="420687"/>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设对周期为</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C</a:t>
            </a:r>
            <a:r>
              <a:rPr lang="zh-CN" altLang="en-US" sz="2400" dirty="0">
                <a:latin typeface="Times New Roman" panose="02020603050405020304" pitchFamily="18" charset="0"/>
              </a:rPr>
              <a:t>的时钟脉冲计数来测量</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1</a:t>
            </a:r>
            <a:r>
              <a:rPr lang="zh-CN" altLang="en-US" sz="2400" dirty="0">
                <a:latin typeface="Times New Roman" panose="02020603050405020304" pitchFamily="18" charset="0"/>
              </a:rPr>
              <a:t>和</a:t>
            </a:r>
            <a:r>
              <a:rPr lang="en-US" altLang="zh-CN" sz="2400" i="1" dirty="0">
                <a:solidFill>
                  <a:srgbClr val="FF0000"/>
                </a:solidFill>
                <a:latin typeface="Times New Roman" panose="02020603050405020304" pitchFamily="18" charset="0"/>
              </a:rPr>
              <a:t>t</a:t>
            </a:r>
            <a:r>
              <a:rPr lang="en-US" altLang="zh-CN" sz="2400" baseline="-25000" dirty="0">
                <a:solidFill>
                  <a:srgbClr val="FF0000"/>
                </a:solidFill>
                <a:latin typeface="Times New Roman" panose="02020603050405020304" pitchFamily="18" charset="0"/>
              </a:rPr>
              <a:t>2</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p:txBody>
      </p:sp>
      <p:graphicFrame>
        <p:nvGraphicFramePr>
          <p:cNvPr id="2476262" name="Object 230"/>
          <p:cNvGraphicFramePr>
            <a:graphicFrameLocks noChangeAspect="1"/>
          </p:cNvGraphicFramePr>
          <p:nvPr/>
        </p:nvGraphicFramePr>
        <p:xfrm>
          <a:off x="3054350" y="5102225"/>
          <a:ext cx="2392363" cy="955675"/>
        </p:xfrm>
        <a:graphic>
          <a:graphicData uri="http://schemas.openxmlformats.org/presentationml/2006/ole">
            <mc:AlternateContent xmlns:mc="http://schemas.openxmlformats.org/markup-compatibility/2006">
              <mc:Choice xmlns:v="urn:schemas-microsoft-com:vml" Requires="v">
                <p:oleObj spid="_x0000_s3106" name="" r:id="rId5" imgW="1016000" imgH="431800" progId="Equation.DSMT4">
                  <p:embed/>
                </p:oleObj>
              </mc:Choice>
              <mc:Fallback>
                <p:oleObj name="" r:id="rId5" imgW="1016000" imgH="431800" progId="Equation.DSMT4">
                  <p:embed/>
                  <p:pic>
                    <p:nvPicPr>
                      <p:cNvPr id="0" name="图片 3105"/>
                      <p:cNvPicPr/>
                      <p:nvPr/>
                    </p:nvPicPr>
                    <p:blipFill>
                      <a:blip r:embed="rId6"/>
                      <a:stretch>
                        <a:fillRect/>
                      </a:stretch>
                    </p:blipFill>
                    <p:spPr>
                      <a:xfrm>
                        <a:off x="3054350" y="5102225"/>
                        <a:ext cx="2392363" cy="955675"/>
                      </a:xfrm>
                      <a:prstGeom prst="rect">
                        <a:avLst/>
                      </a:prstGeom>
                      <a:solidFill>
                        <a:srgbClr val="FFFF99"/>
                      </a:solidFill>
                      <a:ln w="38100">
                        <a:noFill/>
                        <a:miter/>
                      </a:ln>
                    </p:spPr>
                  </p:pic>
                </p:oleObj>
              </mc:Fallback>
            </mc:AlternateContent>
          </a:graphicData>
        </a:graphic>
      </p:graphicFrame>
      <p:graphicFrame>
        <p:nvGraphicFramePr>
          <p:cNvPr id="2476263" name="Object 231"/>
          <p:cNvGraphicFramePr>
            <a:graphicFrameLocks noChangeAspect="1"/>
          </p:cNvGraphicFramePr>
          <p:nvPr/>
        </p:nvGraphicFramePr>
        <p:xfrm>
          <a:off x="393700" y="5102225"/>
          <a:ext cx="2063750" cy="955675"/>
        </p:xfrm>
        <a:graphic>
          <a:graphicData uri="http://schemas.openxmlformats.org/presentationml/2006/ole">
            <mc:AlternateContent xmlns:mc="http://schemas.openxmlformats.org/markup-compatibility/2006">
              <mc:Choice xmlns:v="urn:schemas-microsoft-com:vml" Requires="v">
                <p:oleObj spid="_x0000_s3102" name="" r:id="rId7" imgW="876300" imgH="431800" progId="Equation.DSMT4">
                  <p:embed/>
                </p:oleObj>
              </mc:Choice>
              <mc:Fallback>
                <p:oleObj name="" r:id="rId7" imgW="876300" imgH="431800" progId="Equation.DSMT4">
                  <p:embed/>
                  <p:pic>
                    <p:nvPicPr>
                      <p:cNvPr id="0" name="图片 3101"/>
                      <p:cNvPicPr/>
                      <p:nvPr/>
                    </p:nvPicPr>
                    <p:blipFill>
                      <a:blip r:embed="rId8"/>
                      <a:stretch>
                        <a:fillRect/>
                      </a:stretch>
                    </p:blipFill>
                    <p:spPr>
                      <a:xfrm>
                        <a:off x="393700" y="5102225"/>
                        <a:ext cx="2063750" cy="955675"/>
                      </a:xfrm>
                      <a:prstGeom prst="rect">
                        <a:avLst/>
                      </a:prstGeom>
                      <a:solidFill>
                        <a:srgbClr val="FFCC99"/>
                      </a:solidFill>
                      <a:ln w="38100">
                        <a:noFill/>
                        <a:miter/>
                      </a:ln>
                    </p:spPr>
                  </p:pic>
                </p:oleObj>
              </mc:Fallback>
            </mc:AlternateContent>
          </a:graphicData>
        </a:graphic>
      </p:graphicFrame>
      <p:sp>
        <p:nvSpPr>
          <p:cNvPr id="2476264" name="AutoShape 232"/>
          <p:cNvSpPr/>
          <p:nvPr/>
        </p:nvSpPr>
        <p:spPr>
          <a:xfrm flipH="1" flipV="1">
            <a:off x="7959725" y="4868863"/>
            <a:ext cx="863600" cy="973137"/>
          </a:xfrm>
          <a:custGeom>
            <a:avLst/>
            <a:gdLst>
              <a:gd name="txL" fmla="*/ 12427 w 21600"/>
              <a:gd name="txT" fmla="*/ 4122 h 21600"/>
              <a:gd name="txR" fmla="*/ 18647 w 21600"/>
              <a:gd name="txB" fmla="*/ 8036 h 21600"/>
            </a:gdLst>
            <a:ahLst/>
            <a:cxnLst>
              <a:cxn ang="17694720">
                <a:pos x="2147483646" y="0"/>
              </a:cxn>
              <a:cxn ang="5898240">
                <a:pos x="2147483646" y="2147483646"/>
              </a:cxn>
              <a:cxn ang="5898240">
                <a:pos x="2147483646" y="2147483646"/>
              </a:cxn>
              <a:cxn ang="0">
                <a:pos x="2147483646" y="2147483646"/>
              </a:cxn>
            </a:cxnLst>
            <a:rect l="txL" t="txT" r="txR" b="txB"/>
            <a:pathLst>
              <a:path w="21600" h="21600">
                <a:moveTo>
                  <a:pt x="21600" y="6079"/>
                </a:moveTo>
                <a:lnTo>
                  <a:pt x="12427" y="0"/>
                </a:lnTo>
                <a:lnTo>
                  <a:pt x="12427" y="4122"/>
                </a:lnTo>
                <a:cubicBezTo>
                  <a:pt x="5564" y="4122"/>
                  <a:pt x="0" y="7720"/>
                  <a:pt x="0" y="12158"/>
                </a:cubicBezTo>
                <a:lnTo>
                  <a:pt x="0" y="21600"/>
                </a:lnTo>
                <a:lnTo>
                  <a:pt x="4001" y="21600"/>
                </a:lnTo>
                <a:lnTo>
                  <a:pt x="4001" y="12158"/>
                </a:lnTo>
                <a:cubicBezTo>
                  <a:pt x="4001" y="9881"/>
                  <a:pt x="7773" y="8036"/>
                  <a:pt x="12427" y="8036"/>
                </a:cubicBezTo>
                <a:lnTo>
                  <a:pt x="12427" y="12158"/>
                </a:lnTo>
                <a:lnTo>
                  <a:pt x="21600" y="6079"/>
                </a:lnTo>
                <a:close/>
              </a:path>
            </a:pathLst>
          </a:custGeom>
          <a:solidFill>
            <a:schemeClr val="accent1">
              <a:alpha val="100000"/>
            </a:schemeClr>
          </a:solidFill>
          <a:ln w="9525" cap="flat" cmpd="sng">
            <a:solidFill>
              <a:schemeClr val="tx1">
                <a:alpha val="100000"/>
              </a:schemeClr>
            </a:solidFill>
            <a:prstDash val="solid"/>
            <a:miter lim="800000"/>
            <a:headEnd type="none" w="med" len="med"/>
            <a:tailEnd type="none" w="med" len="med"/>
          </a:ln>
        </p:spPr>
        <p:txBody>
          <a:bodyPr/>
          <a:p>
            <a:endParaRPr lang="zh-CN" altLang="en-US"/>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5035"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2" name="Object 226"/>
          <p:cNvGraphicFramePr>
            <a:graphicFrameLocks noChangeAspect="1"/>
          </p:cNvGraphicFramePr>
          <p:nvPr/>
        </p:nvGraphicFramePr>
        <p:xfrm>
          <a:off x="6299200" y="3644900"/>
          <a:ext cx="2660650" cy="871538"/>
        </p:xfrm>
        <a:graphic>
          <a:graphicData uri="http://schemas.openxmlformats.org/presentationml/2006/ole">
            <mc:AlternateContent xmlns:mc="http://schemas.openxmlformats.org/markup-compatibility/2006">
              <mc:Choice xmlns:v="urn:schemas-microsoft-com:vml" Requires="v">
                <p:oleObj spid="_x0000_s3101" name="" r:id="rId9" imgW="1129665" imgH="393700" progId="Equation.DSMT4">
                  <p:embed/>
                </p:oleObj>
              </mc:Choice>
              <mc:Fallback>
                <p:oleObj name="" r:id="rId9" imgW="1129665" imgH="393700" progId="Equation.DSMT4">
                  <p:embed/>
                  <p:pic>
                    <p:nvPicPr>
                      <p:cNvPr id="0" name="图片 3100"/>
                      <p:cNvPicPr/>
                      <p:nvPr/>
                    </p:nvPicPr>
                    <p:blipFill>
                      <a:blip r:embed="rId10"/>
                      <a:stretch>
                        <a:fillRect/>
                      </a:stretch>
                    </p:blipFill>
                    <p:spPr>
                      <a:xfrm>
                        <a:off x="6299200" y="3644900"/>
                        <a:ext cx="2660650" cy="871538"/>
                      </a:xfrm>
                      <a:prstGeom prst="rect">
                        <a:avLst/>
                      </a:prstGeom>
                      <a:solidFill>
                        <a:srgbClr val="FFFF99"/>
                      </a:solidFill>
                      <a:ln w="38100">
                        <a:noFill/>
                        <a:miter/>
                      </a:ln>
                    </p:spPr>
                  </p:pic>
                </p:oleObj>
              </mc:Fallback>
            </mc:AlternateContent>
          </a:graphicData>
        </a:graphic>
      </p:graphicFrame>
      <p:sp>
        <p:nvSpPr>
          <p:cNvPr id="3" name="Text Box 229"/>
          <p:cNvSpPr txBox="1"/>
          <p:nvPr/>
        </p:nvSpPr>
        <p:spPr>
          <a:xfrm>
            <a:off x="598488" y="3146425"/>
            <a:ext cx="3275012" cy="420688"/>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积分器最终输出：</a:t>
            </a:r>
            <a:endParaRPr lang="zh-CN" altLang="en-US" sz="24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76258"/>
                                        </p:tgtEl>
                                        <p:attrNameLst>
                                          <p:attrName>style.visibility</p:attrName>
                                        </p:attrNameLst>
                                      </p:cBhvr>
                                      <p:to>
                                        <p:strVal val="visible"/>
                                      </p:to>
                                    </p:set>
                                    <p:animEffect transition="in" filter="wipe(left)">
                                      <p:cBhvr>
                                        <p:cTn id="12" dur="500"/>
                                        <p:tgtEl>
                                          <p:spTgt spid="24762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476259"/>
                                        </p:tgtEl>
                                        <p:attrNameLst>
                                          <p:attrName>style.visibility</p:attrName>
                                        </p:attrNameLst>
                                      </p:cBhvr>
                                      <p:to>
                                        <p:strVal val="visible"/>
                                      </p:to>
                                    </p:set>
                                    <p:animEffect transition="in" filter="wipe(left)">
                                      <p:cBhvr>
                                        <p:cTn id="17" dur="500"/>
                                        <p:tgtEl>
                                          <p:spTgt spid="247625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wipe(left)">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476264"/>
                                        </p:tgtEl>
                                        <p:attrNameLst>
                                          <p:attrName>style.visibility</p:attrName>
                                        </p:attrNameLst>
                                      </p:cBhvr>
                                      <p:to>
                                        <p:strVal val="visible"/>
                                      </p:to>
                                    </p:set>
                                    <p:animEffect transition="in" filter="wipe(up)">
                                      <p:cBhvr>
                                        <p:cTn id="27" dur="500"/>
                                        <p:tgtEl>
                                          <p:spTgt spid="247626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476260"/>
                                        </p:tgtEl>
                                        <p:attrNameLst>
                                          <p:attrName>style.visibility</p:attrName>
                                        </p:attrNameLst>
                                      </p:cBhvr>
                                      <p:to>
                                        <p:strVal val="visible"/>
                                      </p:to>
                                    </p:set>
                                    <p:animEffect transition="in" filter="wipe(left)">
                                      <p:cBhvr>
                                        <p:cTn id="32" dur="500"/>
                                        <p:tgtEl>
                                          <p:spTgt spid="247626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476261"/>
                                        </p:tgtEl>
                                        <p:attrNameLst>
                                          <p:attrName>style.visibility</p:attrName>
                                        </p:attrNameLst>
                                      </p:cBhvr>
                                      <p:to>
                                        <p:strVal val="visible"/>
                                      </p:to>
                                    </p:set>
                                    <p:animEffect transition="in" filter="dissolve">
                                      <p:cBhvr>
                                        <p:cTn id="37" dur="500"/>
                                        <p:tgtEl>
                                          <p:spTgt spid="247626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2" fill="hold" nodeType="clickEffect">
                                  <p:stCondLst>
                                    <p:cond delay="0"/>
                                  </p:stCondLst>
                                  <p:childTnLst>
                                    <p:set>
                                      <p:cBhvr>
                                        <p:cTn id="41" dur="1" fill="hold">
                                          <p:stCondLst>
                                            <p:cond delay="0"/>
                                          </p:stCondLst>
                                        </p:cTn>
                                        <p:tgtEl>
                                          <p:spTgt spid="2476262"/>
                                        </p:tgtEl>
                                        <p:attrNameLst>
                                          <p:attrName>style.visibility</p:attrName>
                                        </p:attrNameLst>
                                      </p:cBhvr>
                                      <p:to>
                                        <p:strVal val="visible"/>
                                      </p:to>
                                    </p:set>
                                    <p:animEffect transition="in" filter="wipe(right)">
                                      <p:cBhvr>
                                        <p:cTn id="42" dur="500"/>
                                        <p:tgtEl>
                                          <p:spTgt spid="247626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2" fill="hold" nodeType="clickEffect">
                                  <p:stCondLst>
                                    <p:cond delay="0"/>
                                  </p:stCondLst>
                                  <p:childTnLst>
                                    <p:set>
                                      <p:cBhvr>
                                        <p:cTn id="46" dur="1" fill="hold">
                                          <p:stCondLst>
                                            <p:cond delay="0"/>
                                          </p:stCondLst>
                                        </p:cTn>
                                        <p:tgtEl>
                                          <p:spTgt spid="2476263"/>
                                        </p:tgtEl>
                                        <p:attrNameLst>
                                          <p:attrName>style.visibility</p:attrName>
                                        </p:attrNameLst>
                                      </p:cBhvr>
                                      <p:to>
                                        <p:strVal val="visible"/>
                                      </p:to>
                                    </p:set>
                                    <p:animEffect transition="in" filter="wipe(right)">
                                      <p:cBhvr>
                                        <p:cTn id="47" dur="500"/>
                                        <p:tgtEl>
                                          <p:spTgt spid="24762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6259" grpId="0" bldLvl="0" animBg="1"/>
      <p:bldP spid="2476261" grpId="0"/>
      <p:bldP spid="3"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7184" name="Text Box 128"/>
          <p:cNvSpPr txBox="1"/>
          <p:nvPr/>
        </p:nvSpPr>
        <p:spPr>
          <a:xfrm>
            <a:off x="441325" y="2689225"/>
            <a:ext cx="8107363" cy="3679825"/>
          </a:xfrm>
          <a:prstGeom prst="rect">
            <a:avLst/>
          </a:prstGeom>
          <a:noFill/>
          <a:ln w="9525">
            <a:noFill/>
          </a:ln>
        </p:spPr>
        <p:txBody>
          <a:bodyPr>
            <a:spAutoFit/>
          </a:bodyPr>
          <a:p>
            <a:pPr marL="714375" indent="-714375" eaLnBrk="1" hangingPunct="1">
              <a:lnSpc>
                <a:spcPct val="90000"/>
              </a:lnSpc>
              <a:spcBef>
                <a:spcPct val="30000"/>
              </a:spcBef>
              <a:buClr>
                <a:srgbClr val="FF0000"/>
              </a:buClr>
              <a:buFont typeface="Wingdings" panose="05000000000000000000" pitchFamily="2" charset="2"/>
              <a:buChar char="u"/>
            </a:pPr>
            <a:r>
              <a:rPr lang="zh-CN" altLang="en-US" dirty="0">
                <a:latin typeface="黑体" panose="02010609060101010101" pitchFamily="49" charset="-122"/>
                <a:ea typeface="黑体" panose="02010609060101010101" pitchFamily="49" charset="-122"/>
              </a:rPr>
              <a:t>精度高：转换关系与积分电阻</a:t>
            </a:r>
            <a:r>
              <a:rPr lang="en-US" altLang="zh-CN" i="1" dirty="0">
                <a:latin typeface="Times New Roman" panose="02020603050405020304" pitchFamily="18" charset="0"/>
                <a:ea typeface="黑体" panose="02010609060101010101" pitchFamily="49" charset="-122"/>
              </a:rPr>
              <a:t>R</a:t>
            </a:r>
            <a:r>
              <a:rPr lang="zh-CN" altLang="en-US" dirty="0">
                <a:latin typeface="黑体" panose="02010609060101010101" pitchFamily="49" charset="-122"/>
                <a:ea typeface="黑体" panose="02010609060101010101" pitchFamily="49" charset="-122"/>
              </a:rPr>
              <a:t>、电容</a:t>
            </a:r>
            <a:r>
              <a:rPr lang="en-US" altLang="zh-CN" i="1" dirty="0">
                <a:latin typeface="Times New Roman" panose="02020603050405020304" pitchFamily="18" charset="0"/>
                <a:ea typeface="黑体" panose="02010609060101010101" pitchFamily="49" charset="-122"/>
              </a:rPr>
              <a:t>C</a:t>
            </a:r>
            <a:r>
              <a:rPr lang="zh-CN" altLang="en-US" dirty="0">
                <a:latin typeface="黑体" panose="02010609060101010101" pitchFamily="49" charset="-122"/>
                <a:ea typeface="黑体" panose="02010609060101010101" pitchFamily="49" charset="-122"/>
              </a:rPr>
              <a:t>、时钟频率</a:t>
            </a:r>
            <a:r>
              <a:rPr lang="en-US" altLang="zh-CN" i="1" dirty="0">
                <a:latin typeface="Times New Roman" panose="02020603050405020304" pitchFamily="18" charset="0"/>
                <a:ea typeface="黑体" panose="02010609060101010101" pitchFamily="49" charset="-122"/>
              </a:rPr>
              <a:t>f</a:t>
            </a:r>
            <a:r>
              <a:rPr lang="en-US" altLang="zh-CN" i="1" baseline="-25000" dirty="0">
                <a:latin typeface="Times New Roman" panose="02020603050405020304" pitchFamily="18" charset="0"/>
                <a:ea typeface="黑体" panose="02010609060101010101" pitchFamily="49" charset="-122"/>
              </a:rPr>
              <a:t>C</a:t>
            </a:r>
            <a:r>
              <a:rPr lang="zh-CN" altLang="en-US" dirty="0">
                <a:latin typeface="黑体" panose="02010609060101010101" pitchFamily="49" charset="-122"/>
                <a:ea typeface="黑体" panose="02010609060101010101" pitchFamily="49" charset="-122"/>
              </a:rPr>
              <a:t>无关；</a:t>
            </a:r>
            <a:endParaRPr lang="zh-CN" altLang="en-US" dirty="0">
              <a:latin typeface="黑体" panose="02010609060101010101" pitchFamily="49" charset="-122"/>
              <a:ea typeface="黑体" panose="02010609060101010101" pitchFamily="49" charset="-122"/>
            </a:endParaRPr>
          </a:p>
          <a:p>
            <a:pPr marL="714375" indent="-714375" eaLnBrk="1" hangingPunct="1">
              <a:lnSpc>
                <a:spcPct val="90000"/>
              </a:lnSpc>
              <a:spcBef>
                <a:spcPct val="30000"/>
              </a:spcBef>
              <a:buClr>
                <a:srgbClr val="FF0000"/>
              </a:buClr>
              <a:buFont typeface="Wingdings" panose="05000000000000000000" pitchFamily="2" charset="2"/>
              <a:buChar char="u"/>
            </a:pPr>
            <a:r>
              <a:rPr lang="zh-CN" altLang="en-US" dirty="0">
                <a:latin typeface="黑体" panose="02010609060101010101" pitchFamily="49" charset="-122"/>
                <a:ea typeface="黑体" panose="02010609060101010101" pitchFamily="49" charset="-122"/>
              </a:rPr>
              <a:t>积分器和计数器结构简单、成本低；</a:t>
            </a:r>
            <a:endParaRPr lang="zh-CN" altLang="en-US" dirty="0">
              <a:latin typeface="黑体" panose="02010609060101010101" pitchFamily="49" charset="-122"/>
              <a:ea typeface="黑体" panose="02010609060101010101" pitchFamily="49" charset="-122"/>
            </a:endParaRPr>
          </a:p>
          <a:p>
            <a:pPr marL="714375" indent="-714375" eaLnBrk="1" hangingPunct="1">
              <a:lnSpc>
                <a:spcPct val="90000"/>
              </a:lnSpc>
              <a:spcBef>
                <a:spcPct val="30000"/>
              </a:spcBef>
              <a:buClr>
                <a:srgbClr val="FF0000"/>
              </a:buClr>
              <a:buFont typeface="Wingdings" panose="05000000000000000000" pitchFamily="2" charset="2"/>
              <a:buChar char="u"/>
            </a:pPr>
            <a:r>
              <a:rPr lang="zh-CN" altLang="en-US" dirty="0">
                <a:latin typeface="黑体" panose="02010609060101010101" pitchFamily="49" charset="-122"/>
                <a:ea typeface="黑体" panose="02010609060101010101" pitchFamily="49" charset="-122"/>
              </a:rPr>
              <a:t>抗干扰能力强：积分过程是平均值转换，有低通滤波作用，能抑制高频噪声；</a:t>
            </a:r>
            <a:endParaRPr lang="zh-CN" altLang="en-US" dirty="0">
              <a:latin typeface="黑体" panose="02010609060101010101" pitchFamily="49" charset="-122"/>
              <a:ea typeface="黑体" panose="02010609060101010101" pitchFamily="49" charset="-122"/>
            </a:endParaRPr>
          </a:p>
          <a:p>
            <a:pPr marL="714375" indent="-714375" eaLnBrk="1" hangingPunct="1">
              <a:lnSpc>
                <a:spcPct val="90000"/>
              </a:lnSpc>
              <a:spcBef>
                <a:spcPct val="30000"/>
              </a:spcBef>
              <a:buClr>
                <a:srgbClr val="FF0000"/>
              </a:buClr>
              <a:buFont typeface="Wingdings" panose="05000000000000000000" pitchFamily="2" charset="2"/>
              <a:buChar char="u"/>
            </a:pPr>
            <a:r>
              <a:rPr lang="zh-CN" altLang="en-US" dirty="0">
                <a:latin typeface="黑体" panose="02010609060101010101" pitchFamily="49" charset="-122"/>
                <a:ea typeface="黑体" panose="02010609060101010101" pitchFamily="49" charset="-122"/>
              </a:rPr>
              <a:t>转换速度慢，一般需要几十，甚至几百毫秒；</a:t>
            </a:r>
            <a:endParaRPr lang="zh-CN" altLang="en-US" dirty="0">
              <a:latin typeface="黑体" panose="02010609060101010101" pitchFamily="49" charset="-122"/>
              <a:ea typeface="黑体" panose="02010609060101010101" pitchFamily="49" charset="-122"/>
            </a:endParaRPr>
          </a:p>
          <a:p>
            <a:pPr marL="714375" indent="-714375" eaLnBrk="1" hangingPunct="1">
              <a:lnSpc>
                <a:spcPct val="90000"/>
              </a:lnSpc>
              <a:spcBef>
                <a:spcPct val="30000"/>
              </a:spcBef>
              <a:buClr>
                <a:srgbClr val="FF0000"/>
              </a:buClr>
              <a:buFont typeface="Wingdings" panose="05000000000000000000" pitchFamily="2" charset="2"/>
              <a:buChar char="u"/>
            </a:pPr>
            <a:r>
              <a:rPr lang="zh-CN" altLang="en-US" dirty="0">
                <a:latin typeface="黑体" panose="02010609060101010101" pitchFamily="49" charset="-122"/>
                <a:ea typeface="黑体" panose="02010609060101010101" pitchFamily="49" charset="-122"/>
              </a:rPr>
              <a:t>积分型</a:t>
            </a:r>
            <a:r>
              <a:rPr lang="en-US" altLang="zh-CN" dirty="0">
                <a:latin typeface="黑体" panose="02010609060101010101" pitchFamily="49" charset="-122"/>
                <a:ea typeface="黑体" panose="02010609060101010101" pitchFamily="49" charset="-122"/>
              </a:rPr>
              <a:t>ADC</a:t>
            </a:r>
            <a:r>
              <a:rPr lang="zh-CN" altLang="en-US" dirty="0">
                <a:latin typeface="黑体" panose="02010609060101010101" pitchFamily="49" charset="-122"/>
                <a:ea typeface="黑体" panose="02010609060101010101" pitchFamily="49" charset="-122"/>
              </a:rPr>
              <a:t>广泛用于低频、高精度的数字仪表电路中。</a:t>
            </a:r>
            <a:endParaRPr lang="zh-CN" altLang="en-US" dirty="0">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6020" name="Text Box 11"/>
          <p:cNvSpPr txBox="1"/>
          <p:nvPr/>
        </p:nvSpPr>
        <p:spPr>
          <a:xfrm>
            <a:off x="404813" y="671513"/>
            <a:ext cx="27717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积分型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2476263" name="Object 231"/>
          <p:cNvGraphicFramePr>
            <a:graphicFrameLocks noChangeAspect="1"/>
          </p:cNvGraphicFramePr>
          <p:nvPr/>
        </p:nvGraphicFramePr>
        <p:xfrm>
          <a:off x="2827338" y="1412875"/>
          <a:ext cx="3559175" cy="1012825"/>
        </p:xfrm>
        <a:graphic>
          <a:graphicData uri="http://schemas.openxmlformats.org/presentationml/2006/ole">
            <mc:AlternateContent xmlns:mc="http://schemas.openxmlformats.org/markup-compatibility/2006">
              <mc:Choice xmlns:v="urn:schemas-microsoft-com:vml" Requires="v">
                <p:oleObj spid="_x0000_s3104" name="" r:id="rId1" imgW="1511300" imgH="457200" progId="Equation.DSMT4">
                  <p:embed/>
                </p:oleObj>
              </mc:Choice>
              <mc:Fallback>
                <p:oleObj name="" r:id="rId1" imgW="1511300" imgH="457200" progId="Equation.DSMT4">
                  <p:embed/>
                  <p:pic>
                    <p:nvPicPr>
                      <p:cNvPr id="0" name="图片 3103"/>
                      <p:cNvPicPr/>
                      <p:nvPr/>
                    </p:nvPicPr>
                    <p:blipFill>
                      <a:blip r:embed="rId2"/>
                      <a:stretch>
                        <a:fillRect/>
                      </a:stretch>
                    </p:blipFill>
                    <p:spPr>
                      <a:xfrm>
                        <a:off x="2827338" y="1412875"/>
                        <a:ext cx="3559175" cy="1012825"/>
                      </a:xfrm>
                      <a:prstGeom prst="rect">
                        <a:avLst/>
                      </a:prstGeom>
                      <a:solidFill>
                        <a:srgbClr val="FFCC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2476263"/>
                                        </p:tgtEl>
                                        <p:attrNameLst>
                                          <p:attrName>style.visibility</p:attrName>
                                        </p:attrNameLst>
                                      </p:cBhvr>
                                      <p:to>
                                        <p:strVal val="visible"/>
                                      </p:to>
                                    </p:set>
                                    <p:animEffect transition="in" filter="wipe(right)">
                                      <p:cBhvr>
                                        <p:cTn id="7" dur="500"/>
                                        <p:tgtEl>
                                          <p:spTgt spid="24762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7184">
                                            <p:txEl>
                                              <p:charRg st="0" end="29"/>
                                            </p:txEl>
                                          </p:spTgt>
                                        </p:tgtEl>
                                        <p:attrNameLst>
                                          <p:attrName>style.visibility</p:attrName>
                                        </p:attrNameLst>
                                      </p:cBhvr>
                                      <p:to>
                                        <p:strVal val="visible"/>
                                      </p:to>
                                    </p:set>
                                    <p:animEffect transition="in" filter="dissolve">
                                      <p:cBhvr>
                                        <p:cTn id="12" dur="500"/>
                                        <p:tgtEl>
                                          <p:spTgt spid="2477184">
                                            <p:txEl>
                                              <p:charRg st="0" end="29"/>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77184">
                                            <p:txEl>
                                              <p:charRg st="29" end="46"/>
                                            </p:txEl>
                                          </p:spTgt>
                                        </p:tgtEl>
                                        <p:attrNameLst>
                                          <p:attrName>style.visibility</p:attrName>
                                        </p:attrNameLst>
                                      </p:cBhvr>
                                      <p:to>
                                        <p:strVal val="visible"/>
                                      </p:to>
                                    </p:set>
                                    <p:animEffect transition="in" filter="dissolve">
                                      <p:cBhvr>
                                        <p:cTn id="17" dur="500"/>
                                        <p:tgtEl>
                                          <p:spTgt spid="2477184">
                                            <p:txEl>
                                              <p:charRg st="29" end="4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77184">
                                            <p:txEl>
                                              <p:charRg st="46" end="81"/>
                                            </p:txEl>
                                          </p:spTgt>
                                        </p:tgtEl>
                                        <p:attrNameLst>
                                          <p:attrName>style.visibility</p:attrName>
                                        </p:attrNameLst>
                                      </p:cBhvr>
                                      <p:to>
                                        <p:strVal val="visible"/>
                                      </p:to>
                                    </p:set>
                                    <p:animEffect transition="in" filter="dissolve">
                                      <p:cBhvr>
                                        <p:cTn id="22" dur="500"/>
                                        <p:tgtEl>
                                          <p:spTgt spid="2477184">
                                            <p:txEl>
                                              <p:charRg st="46" end="8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77184">
                                            <p:txEl>
                                              <p:charRg st="81" end="102"/>
                                            </p:txEl>
                                          </p:spTgt>
                                        </p:tgtEl>
                                        <p:attrNameLst>
                                          <p:attrName>style.visibility</p:attrName>
                                        </p:attrNameLst>
                                      </p:cBhvr>
                                      <p:to>
                                        <p:strVal val="visible"/>
                                      </p:to>
                                    </p:set>
                                    <p:animEffect transition="in" filter="dissolve">
                                      <p:cBhvr>
                                        <p:cTn id="27" dur="500"/>
                                        <p:tgtEl>
                                          <p:spTgt spid="2477184">
                                            <p:txEl>
                                              <p:charRg st="81" end="10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77184">
                                            <p:txEl>
                                              <p:charRg st="102" end="128"/>
                                            </p:txEl>
                                          </p:spTgt>
                                        </p:tgtEl>
                                        <p:attrNameLst>
                                          <p:attrName>style.visibility</p:attrName>
                                        </p:attrNameLst>
                                      </p:cBhvr>
                                      <p:to>
                                        <p:strVal val="visible"/>
                                      </p:to>
                                    </p:set>
                                    <p:animEffect transition="in" filter="dissolve">
                                      <p:cBhvr>
                                        <p:cTn id="32" dur="500"/>
                                        <p:tgtEl>
                                          <p:spTgt spid="2477184">
                                            <p:txEl>
                                              <p:charRg st="102" end="12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35836" name="Text Box 92"/>
          <p:cNvSpPr txBox="1"/>
          <p:nvPr/>
        </p:nvSpPr>
        <p:spPr>
          <a:xfrm>
            <a:off x="615950" y="1289050"/>
            <a:ext cx="8181975" cy="860425"/>
          </a:xfrm>
          <a:prstGeom prst="rect">
            <a:avLst/>
          </a:prstGeom>
          <a:no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ea typeface="黑体" panose="02010609060101010101" pitchFamily="49" charset="-122"/>
              </a:rPr>
              <a:t>跟踪计数型</a:t>
            </a:r>
            <a:r>
              <a:rPr lang="en-US" altLang="zh-CN" dirty="0">
                <a:solidFill>
                  <a:schemeClr val="tx1"/>
                </a:solidFill>
                <a:latin typeface="Times New Roman" panose="02020603050405020304" pitchFamily="18" charset="0"/>
                <a:ea typeface="黑体" panose="02010609060101010101" pitchFamily="49" charset="-122"/>
              </a:rPr>
              <a:t>ADC</a:t>
            </a:r>
            <a:r>
              <a:rPr lang="zh-CN" altLang="en-US" dirty="0">
                <a:solidFill>
                  <a:schemeClr val="tx1"/>
                </a:solidFill>
                <a:latin typeface="Times New Roman" panose="02020603050405020304" pitchFamily="18" charset="0"/>
                <a:ea typeface="黑体" panose="02010609060101010101" pitchFamily="49" charset="-122"/>
              </a:rPr>
              <a:t>与逐次逼近型相似，可逆计数器代替了逐次逼近寄存器和控制逻辑，</a:t>
            </a:r>
            <a:r>
              <a:rPr lang="zh-CN" altLang="en-US" dirty="0">
                <a:solidFill>
                  <a:srgbClr val="FF3300"/>
                </a:solidFill>
                <a:latin typeface="Times New Roman" panose="02020603050405020304" pitchFamily="18" charset="0"/>
                <a:ea typeface="黑体" panose="02010609060101010101" pitchFamily="49" charset="-122"/>
              </a:rPr>
              <a:t>电路结构更简单</a:t>
            </a:r>
            <a:r>
              <a:rPr lang="zh-CN" altLang="en-US" dirty="0">
                <a:solidFill>
                  <a:schemeClr val="tx1"/>
                </a:solidFill>
                <a:latin typeface="Times New Roman" panose="02020603050405020304" pitchFamily="18" charset="0"/>
                <a:ea typeface="黑体" panose="02010609060101010101" pitchFamily="49" charset="-122"/>
              </a:rPr>
              <a:t>。</a:t>
            </a:r>
            <a:endParaRPr lang="zh-CN" altLang="en-US" dirty="0">
              <a:solidFill>
                <a:srgbClr val="FF0000"/>
              </a:solidFill>
              <a:latin typeface="Times New Roman" panose="02020603050405020304" pitchFamily="18" charset="0"/>
              <a:ea typeface="黑体" panose="02010609060101010101" pitchFamily="49" charset="-122"/>
            </a:endParaRPr>
          </a:p>
        </p:txBody>
      </p:sp>
      <p:sp>
        <p:nvSpPr>
          <p:cNvPr id="2380803" name="Text Box 3"/>
          <p:cNvSpPr txBox="1"/>
          <p:nvPr/>
        </p:nvSpPr>
        <p:spPr>
          <a:xfrm>
            <a:off x="647700" y="5680075"/>
            <a:ext cx="8070850" cy="476250"/>
          </a:xfrm>
          <a:prstGeom prst="rect">
            <a:avLst/>
          </a:prstGeom>
          <a:noFill/>
          <a:ln w="9525">
            <a:noFill/>
          </a:ln>
        </p:spPr>
        <p:txBody>
          <a:bodyPr>
            <a:spAutoFit/>
          </a:bodyPr>
          <a:p>
            <a:pPr eaLnBrk="1" hangingPunct="1">
              <a:lnSpc>
                <a:spcPct val="90000"/>
              </a:lnSpc>
            </a:pPr>
            <a:r>
              <a:rPr lang="zh-CN" altLang="en-US" dirty="0">
                <a:solidFill>
                  <a:srgbClr val="FF0000"/>
                </a:solidFill>
                <a:latin typeface="黑体" panose="02010609060101010101" pitchFamily="49" charset="-122"/>
                <a:ea typeface="黑体" panose="02010609060101010101" pitchFamily="49" charset="-122"/>
              </a:rPr>
              <a:t>组成</a:t>
            </a:r>
            <a:r>
              <a:rPr lang="zh-CN" altLang="en-US" dirty="0">
                <a:solidFill>
                  <a:srgbClr val="FF0000"/>
                </a:solidFill>
                <a:latin typeface="Times New Roman" panose="02020603050405020304" pitchFamily="18" charset="0"/>
                <a:ea typeface="黑体" panose="02010609060101010101" pitchFamily="49" charset="-122"/>
              </a:rPr>
              <a:t>：</a:t>
            </a:r>
            <a:r>
              <a:rPr lang="zh-CN" altLang="en-US" dirty="0">
                <a:solidFill>
                  <a:schemeClr val="tx1"/>
                </a:solidFill>
                <a:latin typeface="Times New Roman" panose="02020603050405020304" pitchFamily="18" charset="0"/>
                <a:ea typeface="黑体" panose="02010609060101010101" pitchFamily="49" charset="-122"/>
              </a:rPr>
              <a:t>电压比较器、</a:t>
            </a:r>
            <a:r>
              <a:rPr lang="en-US" altLang="zh-CN" dirty="0">
                <a:solidFill>
                  <a:schemeClr val="tx1"/>
                </a:solidFill>
                <a:latin typeface="Times New Roman" panose="02020603050405020304" pitchFamily="18" charset="0"/>
                <a:ea typeface="黑体" panose="02010609060101010101" pitchFamily="49" charset="-122"/>
              </a:rPr>
              <a:t>n</a:t>
            </a:r>
            <a:r>
              <a:rPr lang="zh-CN" altLang="en-US" dirty="0">
                <a:solidFill>
                  <a:schemeClr val="tx1"/>
                </a:solidFill>
                <a:latin typeface="Times New Roman" panose="02020603050405020304" pitchFamily="18" charset="0"/>
                <a:ea typeface="黑体" panose="02010609060101010101" pitchFamily="49" charset="-122"/>
              </a:rPr>
              <a:t>位</a:t>
            </a:r>
            <a:r>
              <a:rPr lang="en-US" altLang="zh-CN" dirty="0">
                <a:solidFill>
                  <a:schemeClr val="tx1"/>
                </a:solidFill>
                <a:latin typeface="Times New Roman" panose="02020603050405020304" pitchFamily="18" charset="0"/>
                <a:ea typeface="黑体" panose="02010609060101010101" pitchFamily="49" charset="-122"/>
              </a:rPr>
              <a:t>DAC</a:t>
            </a:r>
            <a:r>
              <a:rPr lang="zh-CN" altLang="en-US" dirty="0">
                <a:solidFill>
                  <a:schemeClr val="tx1"/>
                </a:solidFill>
                <a:latin typeface="Times New Roman" panose="02020603050405020304" pitchFamily="18" charset="0"/>
                <a:ea typeface="黑体" panose="02010609060101010101" pitchFamily="49" charset="-122"/>
              </a:rPr>
              <a:t>、可逆计数器</a:t>
            </a:r>
            <a:endParaRPr lang="zh-CN" altLang="en-US" dirty="0">
              <a:solidFill>
                <a:schemeClr val="tx1"/>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2390027" name="Text Box 11"/>
          <p:cNvSpPr txBox="1"/>
          <p:nvPr/>
        </p:nvSpPr>
        <p:spPr>
          <a:xfrm>
            <a:off x="404813" y="671513"/>
            <a:ext cx="35718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3 </a:t>
            </a:r>
            <a:r>
              <a:rPr lang="zh-CN" altLang="en-US" sz="3200" dirty="0">
                <a:latin typeface="Times New Roman" panose="02020603050405020304" pitchFamily="18" charset="0"/>
              </a:rPr>
              <a:t>跟踪计数型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181259" name="Picture 11" descr="QH5AHX{2S%W}SJHC7IWK6HJ"/>
          <p:cNvPicPr>
            <a:picLocks noChangeAspect="1"/>
          </p:cNvPicPr>
          <p:nvPr/>
        </p:nvPicPr>
        <p:blipFill>
          <a:blip r:embed="rId1"/>
          <a:stretch>
            <a:fillRect/>
          </a:stretch>
        </p:blipFill>
        <p:spPr>
          <a:xfrm>
            <a:off x="1685925" y="2235200"/>
            <a:ext cx="5772150" cy="32575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90027"/>
                                        </p:tgtEl>
                                        <p:attrNameLst>
                                          <p:attrName>style.visibility</p:attrName>
                                        </p:attrNameLst>
                                      </p:cBhvr>
                                      <p:to>
                                        <p:strVal val="visible"/>
                                      </p:to>
                                    </p:set>
                                    <p:animEffect transition="in" filter="dissolve">
                                      <p:cBhvr>
                                        <p:cTn id="7" dur="500"/>
                                        <p:tgtEl>
                                          <p:spTgt spid="23900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35836"/>
                                        </p:tgtEl>
                                        <p:attrNameLst>
                                          <p:attrName>style.visibility</p:attrName>
                                        </p:attrNameLst>
                                      </p:cBhvr>
                                      <p:to>
                                        <p:strVal val="visible"/>
                                      </p:to>
                                    </p:set>
                                    <p:animEffect transition="in" filter="dissolve">
                                      <p:cBhvr>
                                        <p:cTn id="12" dur="500"/>
                                        <p:tgtEl>
                                          <p:spTgt spid="233583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81259"/>
                                        </p:tgtEl>
                                        <p:attrNameLst>
                                          <p:attrName>style.visibility</p:attrName>
                                        </p:attrNameLst>
                                      </p:cBhvr>
                                      <p:to>
                                        <p:strVal val="visible"/>
                                      </p:to>
                                    </p:set>
                                    <p:animEffect transition="in" filter="dissolve">
                                      <p:cBhvr>
                                        <p:cTn id="17" dur="500"/>
                                        <p:tgtEl>
                                          <p:spTgt spid="1812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80803"/>
                                        </p:tgtEl>
                                        <p:attrNameLst>
                                          <p:attrName>style.visibility</p:attrName>
                                        </p:attrNameLst>
                                      </p:cBhvr>
                                      <p:to>
                                        <p:strVal val="visible"/>
                                      </p:to>
                                    </p:set>
                                    <p:animEffect transition="in" filter="dissolve">
                                      <p:cBhvr>
                                        <p:cTn id="22" dur="500"/>
                                        <p:tgtEl>
                                          <p:spTgt spid="23808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836" grpId="0"/>
      <p:bldP spid="2380803"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0803" name="Text Box 3"/>
          <p:cNvSpPr txBox="1"/>
          <p:nvPr/>
        </p:nvSpPr>
        <p:spPr>
          <a:xfrm>
            <a:off x="430213" y="3484563"/>
            <a:ext cx="1558925" cy="476250"/>
          </a:xfrm>
          <a:prstGeom prst="rect">
            <a:avLst/>
          </a:prstGeom>
          <a:noFill/>
          <a:ln w="9525">
            <a:noFill/>
          </a:ln>
        </p:spPr>
        <p:txBody>
          <a:bodyPr>
            <a:spAutoFit/>
          </a:bodyPr>
          <a:p>
            <a:pPr eaLnBrk="1" hangingPunct="1">
              <a:lnSpc>
                <a:spcPct val="90000"/>
              </a:lnSpc>
            </a:pPr>
            <a:r>
              <a:rPr lang="zh-CN" altLang="en-US" dirty="0">
                <a:solidFill>
                  <a:srgbClr val="FF0000"/>
                </a:solidFill>
                <a:latin typeface="黑体" panose="02010609060101010101" pitchFamily="49" charset="-122"/>
                <a:ea typeface="黑体" panose="02010609060101010101" pitchFamily="49" charset="-122"/>
              </a:rPr>
              <a:t>原理</a:t>
            </a:r>
            <a:r>
              <a:rPr lang="en-US" altLang="zh-CN" dirty="0">
                <a:solidFill>
                  <a:srgbClr val="FF0000"/>
                </a:solidFill>
                <a:latin typeface="Times New Roman" panose="02020603050405020304" pitchFamily="18" charset="0"/>
                <a:ea typeface="黑体" panose="02010609060101010101" pitchFamily="49" charset="-122"/>
              </a:rPr>
              <a:t>:</a:t>
            </a:r>
            <a:endParaRPr lang="en-US" altLang="zh-CN" dirty="0">
              <a:solidFill>
                <a:srgbClr val="FF0000"/>
              </a:solidFill>
              <a:latin typeface="Times New Roman" panose="02020603050405020304" pitchFamily="18" charset="0"/>
              <a:ea typeface="黑体" panose="02010609060101010101" pitchFamily="49" charset="-122"/>
            </a:endParaRPr>
          </a:p>
        </p:txBody>
      </p:sp>
      <p:sp>
        <p:nvSpPr>
          <p:cNvPr id="2380818" name="Text Box 18"/>
          <p:cNvSpPr txBox="1"/>
          <p:nvPr/>
        </p:nvSpPr>
        <p:spPr>
          <a:xfrm>
            <a:off x="438150" y="4135438"/>
            <a:ext cx="8705850" cy="2027237"/>
          </a:xfrm>
          <a:prstGeom prst="rect">
            <a:avLst/>
          </a:prstGeom>
          <a:noFill/>
          <a:ln w="9525">
            <a:noFill/>
          </a:ln>
        </p:spPr>
        <p:txBody>
          <a:bodyPr>
            <a:spAutoFit/>
          </a:bodyPr>
          <a:p>
            <a:pPr eaLnBrk="1" hangingPunct="1">
              <a:lnSpc>
                <a:spcPct val="90000"/>
              </a:lnSpc>
              <a:spcAft>
                <a:spcPct val="40000"/>
              </a:spcAft>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可逆计数器在时钟脉冲作用下不停地计数，计数器的值作为</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的数字输入；</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电压比较器对模拟输入电压和</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的输出电压进行比较，其结果控制可逆计数器的计数方向；</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90000"/>
              </a:lnSpc>
              <a:spcAft>
                <a:spcPct val="40000"/>
              </a:spcAft>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ea typeface="黑体" panose="02010609060101010101" pitchFamily="49" charset="-122"/>
              </a:rPr>
              <a:t>可逆计数器快速跟踪输入电压，计数器值即为模数转换结果。</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8069" name="Text Box 11"/>
          <p:cNvSpPr txBox="1"/>
          <p:nvPr/>
        </p:nvSpPr>
        <p:spPr>
          <a:xfrm>
            <a:off x="404813" y="671513"/>
            <a:ext cx="35718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3 </a:t>
            </a:r>
            <a:r>
              <a:rPr lang="zh-CN" altLang="en-US" sz="3200" dirty="0">
                <a:latin typeface="Times New Roman" panose="02020603050405020304" pitchFamily="18" charset="0"/>
              </a:rPr>
              <a:t>跟踪计数型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230409" name="Picture 9" descr="OE0$PVW44R4(3KMIT99]KX4"/>
          <p:cNvPicPr>
            <a:picLocks noChangeAspect="1"/>
          </p:cNvPicPr>
          <p:nvPr/>
        </p:nvPicPr>
        <p:blipFill>
          <a:blip r:embed="rId1"/>
          <a:stretch>
            <a:fillRect/>
          </a:stretch>
        </p:blipFill>
        <p:spPr>
          <a:xfrm>
            <a:off x="2901950" y="671513"/>
            <a:ext cx="5314950" cy="33718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0409"/>
                                        </p:tgtEl>
                                        <p:attrNameLst>
                                          <p:attrName>style.visibility</p:attrName>
                                        </p:attrNameLst>
                                      </p:cBhvr>
                                      <p:to>
                                        <p:strVal val="visible"/>
                                      </p:to>
                                    </p:set>
                                    <p:animEffect transition="in" filter="dissolve">
                                      <p:cBhvr>
                                        <p:cTn id="7" dur="500"/>
                                        <p:tgtEl>
                                          <p:spTgt spid="23040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80803"/>
                                        </p:tgtEl>
                                        <p:attrNameLst>
                                          <p:attrName>style.visibility</p:attrName>
                                        </p:attrNameLst>
                                      </p:cBhvr>
                                      <p:to>
                                        <p:strVal val="visible"/>
                                      </p:to>
                                    </p:set>
                                    <p:animEffect transition="in" filter="dissolve">
                                      <p:cBhvr>
                                        <p:cTn id="12" dur="500"/>
                                        <p:tgtEl>
                                          <p:spTgt spid="2380803"/>
                                        </p:tgtEl>
                                      </p:cBhvr>
                                    </p:animEffect>
                                  </p:childTnLst>
                                </p:cTn>
                              </p:par>
                            </p:childTnLst>
                          </p:cTn>
                        </p:par>
                        <p:par>
                          <p:cTn id="13" fill="hold">
                            <p:stCondLst>
                              <p:cond delay="500"/>
                            </p:stCondLst>
                            <p:childTnLst>
                              <p:par>
                                <p:cTn id="14" presetID="9" presetClass="entr" presetSubtype="0" fill="hold" grpId="0" nodeType="afterEffect">
                                  <p:stCondLst>
                                    <p:cond delay="0"/>
                                  </p:stCondLst>
                                  <p:childTnLst>
                                    <p:set>
                                      <p:cBhvr>
                                        <p:cTn id="15" dur="1" fill="hold">
                                          <p:stCondLst>
                                            <p:cond delay="0"/>
                                          </p:stCondLst>
                                        </p:cTn>
                                        <p:tgtEl>
                                          <p:spTgt spid="2380818"/>
                                        </p:tgtEl>
                                        <p:attrNameLst>
                                          <p:attrName>style.visibility</p:attrName>
                                        </p:attrNameLst>
                                      </p:cBhvr>
                                      <p:to>
                                        <p:strVal val="visible"/>
                                      </p:to>
                                    </p:set>
                                    <p:animEffect transition="in" filter="dissolve">
                                      <p:cBhvr>
                                        <p:cTn id="16" dur="500"/>
                                        <p:tgtEl>
                                          <p:spTgt spid="23808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0803" grpId="0"/>
      <p:bldP spid="2380818"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388019" name="Text Box 51"/>
          <p:cNvSpPr txBox="1"/>
          <p:nvPr/>
        </p:nvSpPr>
        <p:spPr>
          <a:xfrm>
            <a:off x="612775" y="1477963"/>
            <a:ext cx="1298575"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总结：</a:t>
            </a:r>
            <a:endParaRPr lang="zh-CN" altLang="en-US" dirty="0">
              <a:latin typeface="Times New Roman" panose="02020603050405020304" pitchFamily="18" charset="0"/>
            </a:endParaRPr>
          </a:p>
        </p:txBody>
      </p:sp>
      <p:sp>
        <p:nvSpPr>
          <p:cNvPr id="7" name="Text Box 54"/>
          <p:cNvSpPr txBox="1"/>
          <p:nvPr/>
        </p:nvSpPr>
        <p:spPr>
          <a:xfrm>
            <a:off x="612775" y="2119313"/>
            <a:ext cx="7807325" cy="3779837"/>
          </a:xfrm>
          <a:prstGeom prst="rect">
            <a:avLst/>
          </a:prstGeom>
          <a:noFill/>
          <a:ln w="9525">
            <a:noFill/>
          </a:ln>
        </p:spPr>
        <p:txBody>
          <a:bodyPr>
            <a:spAutoFit/>
          </a:bodyPr>
          <a:p>
            <a:pPr marL="685800" indent="-685800" eaLnBrk="1" hangingPunct="1">
              <a:lnSpc>
                <a:spcPct val="90000"/>
              </a:lnSpc>
              <a:spcBef>
                <a:spcPct val="50000"/>
              </a:spcBef>
              <a:buFont typeface="Arial" panose="020B0604020202020204" pitchFamily="34" charset="0"/>
              <a:buAutoNum type="arabicPeriod"/>
            </a:pPr>
            <a:r>
              <a:rPr lang="zh-CN" altLang="en-US" sz="2400" dirty="0">
                <a:solidFill>
                  <a:schemeClr val="tx1"/>
                </a:solidFill>
                <a:latin typeface="黑体" panose="02010609060101010101" pitchFamily="49" charset="-122"/>
                <a:ea typeface="黑体" panose="02010609060101010101" pitchFamily="49" charset="-122"/>
              </a:rPr>
              <a:t>电路结构简单，没有复杂的控制逻辑。</a:t>
            </a:r>
            <a:endParaRPr lang="zh-CN" altLang="en-US" sz="2400" dirty="0">
              <a:solidFill>
                <a:schemeClr val="tx1"/>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buFont typeface="Arial" panose="020B0604020202020204" pitchFamily="34" charset="0"/>
              <a:buAutoNum type="arabicPeriod"/>
            </a:pPr>
            <a:r>
              <a:rPr lang="zh-CN" altLang="en-US" sz="2400" dirty="0">
                <a:solidFill>
                  <a:schemeClr val="tx1"/>
                </a:solidFill>
                <a:latin typeface="黑体" panose="02010609060101010101" pitchFamily="49" charset="-122"/>
                <a:ea typeface="黑体" panose="02010609060101010101" pitchFamily="49" charset="-122"/>
              </a:rPr>
              <a:t>转换精度同样取决于内部</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的精度</a:t>
            </a:r>
            <a:r>
              <a:rPr lang="zh-CN" altLang="en-US" sz="2400" dirty="0">
                <a:solidFill>
                  <a:schemeClr val="tx1"/>
                </a:solidFill>
                <a:latin typeface="黑体" panose="02010609060101010101" pitchFamily="49" charset="-122"/>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buFont typeface="Arial" panose="020B0604020202020204" pitchFamily="34" charset="0"/>
              <a:buAutoNum type="arabicPeriod"/>
            </a:pPr>
            <a:r>
              <a:rPr lang="zh-CN" altLang="en-US" sz="2400" dirty="0">
                <a:solidFill>
                  <a:schemeClr val="tx1"/>
                </a:solidFill>
                <a:latin typeface="黑体" panose="02010609060101010101" pitchFamily="49" charset="-122"/>
                <a:ea typeface="黑体" panose="02010609060101010101" pitchFamily="49" charset="-122"/>
              </a:rPr>
              <a:t>转换速度不固定：</a:t>
            </a:r>
            <a:endParaRPr lang="zh-CN" altLang="en-US" sz="2400" dirty="0">
              <a:solidFill>
                <a:schemeClr val="tx1"/>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buNone/>
            </a:pPr>
            <a:r>
              <a:rPr lang="zh-CN" altLang="en-US" sz="2400" dirty="0">
                <a:solidFill>
                  <a:schemeClr val="tx1"/>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例如，当模拟输入连续缓慢变化时，跟踪计数器能以最短时间及时跟踪输入的变化，无需像逐次逼近型那样每次转换必须从最高位从头开始；</a:t>
            </a:r>
            <a:endParaRPr lang="zh-CN" altLang="en-US"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buNone/>
            </a:pPr>
            <a:r>
              <a:rPr lang="zh-CN" altLang="en-US" sz="2400" dirty="0">
                <a:solidFill>
                  <a:schemeClr val="accent2"/>
                </a:solidFill>
                <a:latin typeface="黑体" panose="02010609060101010101" pitchFamily="49" charset="-122"/>
                <a:ea typeface="黑体" panose="02010609060101010101" pitchFamily="49" charset="-122"/>
              </a:rPr>
              <a:t>    又如，当模拟输入为一个满量程阶跃时，计数器必须从</a:t>
            </a:r>
            <a:r>
              <a:rPr lang="en-US" altLang="zh-CN" sz="2400" dirty="0">
                <a:solidFill>
                  <a:schemeClr val="accent2"/>
                </a:solidFill>
                <a:latin typeface="Times New Roman" panose="02020603050405020304" pitchFamily="18" charset="0"/>
                <a:ea typeface="黑体" panose="02010609060101010101" pitchFamily="49" charset="-122"/>
              </a:rPr>
              <a:t>0</a:t>
            </a:r>
            <a:r>
              <a:rPr lang="zh-CN" altLang="en-US" sz="2400" dirty="0">
                <a:solidFill>
                  <a:schemeClr val="accent2"/>
                </a:solidFill>
                <a:latin typeface="黑体" panose="02010609060101010101" pitchFamily="49" charset="-122"/>
                <a:ea typeface="黑体" panose="02010609060101010101" pitchFamily="49" charset="-122"/>
              </a:rPr>
              <a:t>跟踪计数到最大值，需要</a:t>
            </a:r>
            <a:r>
              <a:rPr lang="en-US" altLang="zh-CN" sz="2400" dirty="0">
                <a:solidFill>
                  <a:schemeClr val="accent2"/>
                </a:solidFill>
                <a:latin typeface="Times New Roman" panose="02020603050405020304" pitchFamily="18" charset="0"/>
                <a:ea typeface="黑体" panose="02010609060101010101" pitchFamily="49" charset="-122"/>
              </a:rPr>
              <a:t>2</a:t>
            </a:r>
            <a:r>
              <a:rPr lang="en-US" altLang="zh-CN" sz="2400" baseline="30000" dirty="0">
                <a:solidFill>
                  <a:schemeClr val="accent2"/>
                </a:solidFill>
                <a:latin typeface="Times New Roman" panose="02020603050405020304" pitchFamily="18" charset="0"/>
                <a:ea typeface="黑体" panose="02010609060101010101" pitchFamily="49" charset="-122"/>
              </a:rPr>
              <a:t>n</a:t>
            </a:r>
            <a:r>
              <a:rPr lang="en-US" altLang="zh-CN" sz="2400" dirty="0">
                <a:solidFill>
                  <a:schemeClr val="accent2"/>
                </a:solidFill>
                <a:latin typeface="Times New Roman" panose="02020603050405020304" pitchFamily="18" charset="0"/>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个时钟周期，而逐次逼近型此时只需要</a:t>
            </a:r>
            <a:r>
              <a:rPr lang="en-US" altLang="zh-CN" sz="2400" dirty="0">
                <a:solidFill>
                  <a:schemeClr val="accent2"/>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个时钟周期就可完成逼近。</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5457825" cy="585788"/>
          </a:xfrm>
          <a:prstGeom prst="rect">
            <a:avLst/>
          </a:prstGeom>
          <a:noFill/>
          <a:ln>
            <a:noFill/>
          </a:ln>
          <a:effectLst/>
        </p:spPr>
        <p:txBody>
          <a:bodyPr wrap="none">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89093" name="Text Box 11"/>
          <p:cNvSpPr txBox="1"/>
          <p:nvPr/>
        </p:nvSpPr>
        <p:spPr>
          <a:xfrm>
            <a:off x="404813" y="671513"/>
            <a:ext cx="3571875"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3 </a:t>
            </a:r>
            <a:r>
              <a:rPr lang="zh-CN" altLang="en-US" sz="3200" dirty="0">
                <a:latin typeface="Times New Roman" panose="02020603050405020304" pitchFamily="18" charset="0"/>
              </a:rPr>
              <a:t>跟踪计数型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388019"/>
                                        </p:tgtEl>
                                        <p:attrNameLst>
                                          <p:attrName>style.visibility</p:attrName>
                                        </p:attrNameLst>
                                      </p:cBhvr>
                                      <p:to>
                                        <p:strVal val="visible"/>
                                      </p:to>
                                    </p:set>
                                    <p:animEffect transition="in" filter="fade">
                                      <p:cBhvr>
                                        <p:cTn id="7" dur="500"/>
                                        <p:tgtEl>
                                          <p:spTgt spid="238801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xEl>
                                              <p:charRg st="0" end="18"/>
                                            </p:txEl>
                                          </p:spTgt>
                                        </p:tgtEl>
                                        <p:attrNameLst>
                                          <p:attrName>style.visibility</p:attrName>
                                        </p:attrNameLst>
                                      </p:cBhvr>
                                      <p:to>
                                        <p:strVal val="visible"/>
                                      </p:to>
                                    </p:set>
                                    <p:animEffect transition="in" filter="dissolve">
                                      <p:cBhvr>
                                        <p:cTn id="11" dur="500"/>
                                        <p:tgtEl>
                                          <p:spTgt spid="7">
                                            <p:txEl>
                                              <p:charRg st="0" end="18"/>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7">
                                            <p:txEl>
                                              <p:charRg st="18" end="37"/>
                                            </p:txEl>
                                          </p:spTgt>
                                        </p:tgtEl>
                                        <p:attrNameLst>
                                          <p:attrName>style.visibility</p:attrName>
                                        </p:attrNameLst>
                                      </p:cBhvr>
                                      <p:to>
                                        <p:strVal val="visible"/>
                                      </p:to>
                                    </p:set>
                                    <p:animEffect transition="in" filter="dissolve">
                                      <p:cBhvr>
                                        <p:cTn id="14" dur="500"/>
                                        <p:tgtEl>
                                          <p:spTgt spid="7">
                                            <p:txEl>
                                              <p:charRg st="18" end="37"/>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7">
                                            <p:txEl>
                                              <p:charRg st="37" end="46"/>
                                            </p:txEl>
                                          </p:spTgt>
                                        </p:tgtEl>
                                        <p:attrNameLst>
                                          <p:attrName>style.visibility</p:attrName>
                                        </p:attrNameLst>
                                      </p:cBhvr>
                                      <p:to>
                                        <p:strVal val="visible"/>
                                      </p:to>
                                    </p:set>
                                    <p:animEffect transition="in" filter="dissolve">
                                      <p:cBhvr>
                                        <p:cTn id="17" dur="500"/>
                                        <p:tgtEl>
                                          <p:spTgt spid="7">
                                            <p:txEl>
                                              <p:charRg st="37" end="4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xEl>
                                              <p:charRg st="46" end="113"/>
                                            </p:txEl>
                                          </p:spTgt>
                                        </p:tgtEl>
                                        <p:attrNameLst>
                                          <p:attrName>style.visibility</p:attrName>
                                        </p:attrNameLst>
                                      </p:cBhvr>
                                      <p:to>
                                        <p:strVal val="visible"/>
                                      </p:to>
                                    </p:set>
                                    <p:animEffect transition="in" filter="dissolve">
                                      <p:cBhvr>
                                        <p:cTn id="22" dur="500"/>
                                        <p:tgtEl>
                                          <p:spTgt spid="7">
                                            <p:txEl>
                                              <p:charRg st="46" end="11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xEl>
                                              <p:charRg st="113" end="188"/>
                                            </p:txEl>
                                          </p:spTgt>
                                        </p:tgtEl>
                                        <p:attrNameLst>
                                          <p:attrName>style.visibility</p:attrName>
                                        </p:attrNameLst>
                                      </p:cBhvr>
                                      <p:to>
                                        <p:strVal val="visible"/>
                                      </p:to>
                                    </p:set>
                                    <p:animEffect transition="in" filter="dissolve">
                                      <p:cBhvr>
                                        <p:cTn id="27" dur="500"/>
                                        <p:tgtEl>
                                          <p:spTgt spid="7">
                                            <p:txEl>
                                              <p:charRg st="113" end="18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8019" grpId="0" bldLvl="0" animBg="1"/>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0115"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90116" name="Text Box 4"/>
          <p:cNvSpPr txBox="1"/>
          <p:nvPr/>
        </p:nvSpPr>
        <p:spPr>
          <a:xfrm>
            <a:off x="609600" y="1384300"/>
            <a:ext cx="7924800" cy="4765675"/>
          </a:xfrm>
          <a:prstGeom prst="rect">
            <a:avLst/>
          </a:prstGeom>
          <a:noFill/>
          <a:ln w="9525">
            <a:noFill/>
          </a:ln>
        </p:spPr>
        <p:txBody>
          <a:bodyPr>
            <a:spAutoFit/>
          </a:bodyPr>
          <a:p>
            <a:pPr eaLnBrk="1" hangingPunct="1">
              <a:lnSpc>
                <a:spcPct val="90000"/>
              </a:lnSpc>
              <a:spcBef>
                <a:spcPct val="40000"/>
              </a:spcBef>
            </a:pPr>
            <a:r>
              <a:rPr lang="zh-CN" altLang="en-US" sz="2400" dirty="0">
                <a:solidFill>
                  <a:schemeClr val="accent2"/>
                </a:solidFill>
                <a:latin typeface="黑体" panose="02010609060101010101" pitchFamily="49" charset="-122"/>
                <a:ea typeface="黑体" panose="02010609060101010101" pitchFamily="49" charset="-122"/>
              </a:rPr>
              <a:t>从调制编码理论的角度看</a:t>
            </a:r>
            <a:r>
              <a:rPr lang="en-US" altLang="zh-CN" sz="2400" dirty="0">
                <a:solidFill>
                  <a:schemeClr val="accent2"/>
                </a:solidFill>
                <a:latin typeface="黑体" panose="02010609060101010101" pitchFamily="49" charset="-122"/>
                <a:ea typeface="黑体" panose="02010609060101010101" pitchFamily="49" charset="-122"/>
              </a:rPr>
              <a:t>:</a:t>
            </a:r>
            <a:endParaRPr lang="en-US" altLang="zh-CN"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chemeClr val="tx1"/>
                </a:solidFill>
                <a:latin typeface="黑体" panose="02010609060101010101" pitchFamily="49" charset="-122"/>
                <a:ea typeface="黑体" panose="02010609060101010101" pitchFamily="49" charset="-122"/>
              </a:rPr>
              <a:t>    并行比较型、逐次逼近型等传统</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均属于线性脉冲编码调制（</a:t>
            </a:r>
            <a:r>
              <a:rPr lang="en-US" altLang="zh-CN" sz="2400" dirty="0">
                <a:solidFill>
                  <a:schemeClr val="tx1"/>
                </a:solidFill>
                <a:latin typeface="黑体" panose="02010609060101010101" pitchFamily="49" charset="-122"/>
                <a:ea typeface="黑体" panose="02010609060101010101" pitchFamily="49" charset="-122"/>
              </a:rPr>
              <a:t>LPCM</a:t>
            </a:r>
            <a:r>
              <a:rPr lang="zh-CN" altLang="en-US" sz="2400" dirty="0">
                <a:solidFill>
                  <a:schemeClr val="tx1"/>
                </a:solidFill>
                <a:latin typeface="黑体" panose="02010609060101010101" pitchFamily="49" charset="-122"/>
                <a:ea typeface="黑体" panose="02010609060101010101" pitchFamily="49" charset="-122"/>
              </a:rPr>
              <a:t>）类型。</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rgbClr val="FF0000"/>
                </a:solidFill>
                <a:latin typeface="黑体" panose="02010609060101010101" pitchFamily="49" charset="-122"/>
                <a:ea typeface="黑体" panose="02010609060101010101" pitchFamily="49" charset="-122"/>
              </a:rPr>
              <a:t>特点：</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en-US" altLang="zh-CN"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根据信号的幅度大小进行量化编码，</a:t>
            </a:r>
            <a:r>
              <a:rPr lang="en-US" altLang="zh-CN" sz="2400" dirty="0">
                <a:solidFill>
                  <a:schemeClr val="accent2"/>
                </a:solidFill>
                <a:latin typeface="黑体" panose="02010609060101010101" pitchFamily="49" charset="-122"/>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位</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的满刻度电平被分为</a:t>
            </a:r>
            <a:r>
              <a:rPr lang="en-US" altLang="zh-CN" sz="2400" dirty="0">
                <a:solidFill>
                  <a:schemeClr val="accent2"/>
                </a:solidFill>
                <a:latin typeface="黑体" panose="02010609060101010101" pitchFamily="49" charset="-122"/>
                <a:ea typeface="黑体" panose="02010609060101010101" pitchFamily="49" charset="-122"/>
              </a:rPr>
              <a:t>2</a:t>
            </a:r>
            <a:r>
              <a:rPr lang="en-US" altLang="zh-CN" sz="2400" baseline="30000" dirty="0">
                <a:solidFill>
                  <a:schemeClr val="accent2"/>
                </a:solidFill>
                <a:latin typeface="黑体" panose="02010609060101010101" pitchFamily="49" charset="-122"/>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个不同的量化等级。为区分</a:t>
            </a:r>
            <a:r>
              <a:rPr lang="en-US" altLang="zh-CN" sz="2400" dirty="0">
                <a:solidFill>
                  <a:schemeClr val="accent2"/>
                </a:solidFill>
                <a:latin typeface="黑体" panose="02010609060101010101" pitchFamily="49" charset="-122"/>
                <a:ea typeface="黑体" panose="02010609060101010101" pitchFamily="49" charset="-122"/>
              </a:rPr>
              <a:t>2</a:t>
            </a:r>
            <a:r>
              <a:rPr lang="en-US" altLang="zh-CN" sz="2400" baseline="30000" dirty="0">
                <a:solidFill>
                  <a:schemeClr val="accent2"/>
                </a:solidFill>
                <a:latin typeface="黑体" panose="02010609060101010101" pitchFamily="49" charset="-122"/>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个不同的量化等级，需要相当复杂的电阻（或电容）网络和高精度的模拟器件。</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rgbClr val="FF0000"/>
                </a:solidFill>
                <a:latin typeface="黑体" panose="02010609060101010101" pitchFamily="49" charset="-122"/>
                <a:ea typeface="黑体" panose="02010609060101010101" pitchFamily="49" charset="-122"/>
              </a:rPr>
              <a:t>问题：</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en-US" altLang="zh-CN"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当位数</a:t>
            </a:r>
            <a:r>
              <a:rPr lang="en-US" altLang="zh-CN" sz="2400" dirty="0">
                <a:solidFill>
                  <a:schemeClr val="accent2"/>
                </a:solidFill>
                <a:latin typeface="黑体" panose="02010609060101010101" pitchFamily="49" charset="-122"/>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较高时，比较网络实现困难，且高精度的模拟电子器件易受集成度、温度变化等因素的影响，限制了</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分辨率的提高。</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1139" name="Text Box 4"/>
          <p:cNvSpPr txBox="1"/>
          <p:nvPr/>
        </p:nvSpPr>
        <p:spPr>
          <a:xfrm>
            <a:off x="609600" y="1384300"/>
            <a:ext cx="7983538" cy="4437063"/>
          </a:xfrm>
          <a:prstGeom prst="rect">
            <a:avLst/>
          </a:prstGeom>
          <a:noFill/>
          <a:ln w="9525">
            <a:noFill/>
          </a:ln>
        </p:spPr>
        <p:txBody>
          <a:bodyPr>
            <a:spAutoFit/>
          </a:bodyPr>
          <a:p>
            <a:pPr eaLnBrk="1" hangingPunct="1">
              <a:lnSpc>
                <a:spcPct val="90000"/>
              </a:lnSpc>
              <a:spcBef>
                <a:spcPct val="40000"/>
              </a:spcBef>
            </a:pPr>
            <a:r>
              <a:rPr lang="zh-CN" altLang="en-US" sz="2400" dirty="0">
                <a:solidFill>
                  <a:schemeClr val="accent2"/>
                </a:solidFill>
                <a:latin typeface="黑体" panose="02010609060101010101" pitchFamily="49" charset="-122"/>
                <a:ea typeface="黑体" panose="02010609060101010101" pitchFamily="49" charset="-122"/>
              </a:rPr>
              <a:t>    </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型</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不是直接根据信号的幅度进行量化编码，而是对信号的包络形状进行编码，与跟踪计数型</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类似。</a:t>
            </a:r>
            <a:endParaRPr lang="en-US" altLang="zh-CN"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rgbClr val="FF0000"/>
                </a:solidFill>
                <a:latin typeface="黑体" panose="02010609060101010101" pitchFamily="49" charset="-122"/>
                <a:ea typeface="黑体" panose="02010609060101010101" pitchFamily="49" charset="-122"/>
              </a:rPr>
              <a:t>特点：</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en-US" altLang="zh-CN" sz="2400" dirty="0">
                <a:solidFill>
                  <a:srgbClr val="FF0000"/>
                </a:solidFill>
                <a:latin typeface="黑体" panose="02010609060101010101" pitchFamily="49" charset="-122"/>
                <a:ea typeface="黑体" panose="02010609060101010101" pitchFamily="49" charset="-122"/>
              </a:rPr>
              <a:t>    </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根据前一采样值与后一采样值之差（即增量）进行进行量化编码；</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en-US" altLang="zh-CN" sz="2400" dirty="0">
                <a:solidFill>
                  <a:schemeClr val="accent2"/>
                </a:solidFill>
                <a:latin typeface="黑体" panose="02010609060101010101" pitchFamily="49" charset="-122"/>
                <a:ea typeface="黑体" panose="02010609060101010101" pitchFamily="49" charset="-122"/>
              </a:rPr>
              <a:t>    2.</a:t>
            </a:r>
            <a:r>
              <a:rPr lang="zh-CN" altLang="en-US" sz="2400" dirty="0">
                <a:solidFill>
                  <a:schemeClr val="accent2"/>
                </a:solidFill>
                <a:latin typeface="黑体" panose="02010609060101010101" pitchFamily="49" charset="-122"/>
                <a:ea typeface="黑体" panose="02010609060101010101" pitchFamily="49" charset="-122"/>
              </a:rPr>
              <a:t>采用了极低位数的量化器（通常是</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位），避免了复杂电阻网络，适合用</a:t>
            </a:r>
            <a:r>
              <a:rPr lang="en-US" altLang="zh-CN" sz="2400" dirty="0">
                <a:solidFill>
                  <a:schemeClr val="accent2"/>
                </a:solidFill>
                <a:latin typeface="黑体" panose="02010609060101010101" pitchFamily="49" charset="-122"/>
                <a:ea typeface="黑体" panose="02010609060101010101" pitchFamily="49" charset="-122"/>
              </a:rPr>
              <a:t>MOS</a:t>
            </a:r>
            <a:r>
              <a:rPr lang="zh-CN" altLang="en-US" sz="2400" dirty="0">
                <a:solidFill>
                  <a:schemeClr val="accent2"/>
                </a:solidFill>
                <a:latin typeface="黑体" panose="02010609060101010101" pitchFamily="49" charset="-122"/>
                <a:ea typeface="黑体" panose="02010609060101010101" pitchFamily="49" charset="-122"/>
              </a:rPr>
              <a:t>技术实现；</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chemeClr val="accent2"/>
                </a:solidFill>
                <a:latin typeface="黑体" panose="02010609060101010101" pitchFamily="49" charset="-122"/>
                <a:ea typeface="黑体" panose="02010609060101010101" pitchFamily="49" charset="-122"/>
              </a:rPr>
              <a:t>    </a:t>
            </a:r>
            <a:r>
              <a:rPr lang="en-US" altLang="zh-CN" sz="2400" dirty="0">
                <a:solidFill>
                  <a:schemeClr val="accent2"/>
                </a:solidFill>
                <a:latin typeface="黑体" panose="02010609060101010101" pitchFamily="49" charset="-122"/>
                <a:ea typeface="黑体" panose="02010609060101010101" pitchFamily="49" charset="-122"/>
              </a:rPr>
              <a:t>3.</a:t>
            </a:r>
            <a:r>
              <a:rPr lang="zh-CN" altLang="en-US" sz="2400" dirty="0">
                <a:solidFill>
                  <a:schemeClr val="accent2"/>
                </a:solidFill>
                <a:latin typeface="黑体" panose="02010609060101010101" pitchFamily="49" charset="-122"/>
                <a:ea typeface="黑体" panose="02010609060101010101" pitchFamily="49" charset="-122"/>
              </a:rPr>
              <a:t>采用了极高的采样速率和</a:t>
            </a:r>
            <a:r>
              <a:rPr lang="zh-CN"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a:t>
            </a:r>
            <a:r>
              <a:rPr lang="zh-CN"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调制技术，可获得极高的分辨率。</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40000"/>
              </a:spcBef>
            </a:pPr>
            <a:r>
              <a:rPr lang="zh-CN" altLang="en-US" sz="2400" dirty="0">
                <a:solidFill>
                  <a:schemeClr val="tx1"/>
                </a:solidFill>
                <a:latin typeface="黑体" panose="02010609060101010101" pitchFamily="49" charset="-122"/>
                <a:ea typeface="黑体" panose="02010609060101010101" pitchFamily="49" charset="-122"/>
              </a:rPr>
              <a:t>    与传统的</a:t>
            </a:r>
            <a:r>
              <a:rPr lang="en-US" altLang="zh-CN" sz="2400" dirty="0">
                <a:solidFill>
                  <a:schemeClr val="tx1"/>
                </a:solidFill>
                <a:latin typeface="黑体" panose="02010609060101010101" pitchFamily="49" charset="-122"/>
                <a:ea typeface="黑体" panose="02010609060101010101" pitchFamily="49" charset="-122"/>
              </a:rPr>
              <a:t>LPCM</a:t>
            </a:r>
            <a:r>
              <a:rPr lang="zh-CN" altLang="en-US" sz="2400" dirty="0">
                <a:solidFill>
                  <a:schemeClr val="tx1"/>
                </a:solidFill>
                <a:latin typeface="黑体" panose="02010609060101010101" pitchFamily="49" charset="-122"/>
                <a:ea typeface="黑体" panose="02010609060101010101" pitchFamily="49" charset="-122"/>
              </a:rPr>
              <a:t>型</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相比，</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型是一种用高采样速率来换取高位量化，即以速率换分辨率的方案。</a:t>
            </a:r>
            <a:r>
              <a:rPr lang="zh-CN" altLang="en-US" sz="2400" dirty="0">
                <a:solidFill>
                  <a:srgbClr val="FF0000"/>
                </a:solidFill>
                <a:latin typeface="黑体" panose="02010609060101010101" pitchFamily="49" charset="-122"/>
                <a:ea typeface="黑体" panose="02010609060101010101" pitchFamily="49" charset="-122"/>
              </a:rPr>
              <a:t>    </a:t>
            </a:r>
            <a:endParaRPr lang="zh-CN" altLang="en-US" sz="2400" dirty="0">
              <a:solidFill>
                <a:srgbClr val="FF0000"/>
              </a:solidFill>
              <a:latin typeface="黑体" panose="02010609060101010101" pitchFamily="49" charset="-122"/>
              <a:ea typeface="黑体" panose="02010609060101010101" pitchFamily="49" charset="-122"/>
            </a:endParaRPr>
          </a:p>
        </p:txBody>
      </p:sp>
      <p:sp>
        <p:nvSpPr>
          <p:cNvPr id="91140"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2163" name="Text Box 4"/>
          <p:cNvSpPr txBox="1"/>
          <p:nvPr/>
        </p:nvSpPr>
        <p:spPr>
          <a:xfrm>
            <a:off x="609600" y="1690688"/>
            <a:ext cx="7953375" cy="4108450"/>
          </a:xfrm>
          <a:prstGeom prst="rect">
            <a:avLst/>
          </a:prstGeom>
          <a:noFill/>
          <a:ln w="9525">
            <a:noFill/>
          </a:ln>
        </p:spPr>
        <p:txBody>
          <a:bodyPr>
            <a:spAutoFit/>
          </a:bodyPr>
          <a:p>
            <a:pPr eaLnBrk="1" hangingPunct="1">
              <a:spcBef>
                <a:spcPct val="50000"/>
              </a:spcBef>
            </a:pPr>
            <a:r>
              <a:rPr lang="zh-CN" altLang="en-US" sz="2400" dirty="0">
                <a:solidFill>
                  <a:schemeClr val="accent2"/>
                </a:solidFill>
                <a:latin typeface="黑体" panose="02010609060101010101" pitchFamily="49" charset="-122"/>
                <a:ea typeface="黑体" panose="02010609060101010101" pitchFamily="49" charset="-122"/>
              </a:rPr>
              <a:t>    ∑</a:t>
            </a:r>
            <a:r>
              <a:rPr lang="en-US"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型</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以很低的采样分辨率（</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位）和很高的采样速率将模拟信号数字化，通过采用</a:t>
            </a:r>
            <a:r>
              <a:rPr lang="zh-CN" altLang="en-US" sz="2400" dirty="0">
                <a:solidFill>
                  <a:srgbClr val="FF3300"/>
                </a:solidFill>
                <a:latin typeface="黑体" panose="02010609060101010101" pitchFamily="49" charset="-122"/>
                <a:ea typeface="黑体" panose="02010609060101010101" pitchFamily="49" charset="-122"/>
              </a:rPr>
              <a:t>过采样技术</a:t>
            </a:r>
            <a:r>
              <a:rPr lang="zh-CN" altLang="en-US" sz="2400" dirty="0">
                <a:solidFill>
                  <a:schemeClr val="accent2"/>
                </a:solidFill>
                <a:latin typeface="黑体" panose="02010609060101010101" pitchFamily="49" charset="-122"/>
                <a:ea typeface="黑体" panose="02010609060101010101" pitchFamily="49" charset="-122"/>
              </a:rPr>
              <a:t>、</a:t>
            </a:r>
            <a:r>
              <a:rPr lang="zh-CN" altLang="en-US" sz="2400" dirty="0">
                <a:solidFill>
                  <a:srgbClr val="FF3300"/>
                </a:solidFill>
                <a:latin typeface="黑体" panose="02010609060101010101" pitchFamily="49" charset="-122"/>
                <a:ea typeface="黑体" panose="02010609060101010101" pitchFamily="49" charset="-122"/>
              </a:rPr>
              <a:t>噪声整形</a:t>
            </a:r>
            <a:r>
              <a:rPr lang="zh-CN" altLang="en-US" sz="2400" dirty="0">
                <a:solidFill>
                  <a:schemeClr val="accent2"/>
                </a:solidFill>
                <a:latin typeface="黑体" panose="02010609060101010101" pitchFamily="49" charset="-122"/>
                <a:ea typeface="黑体" panose="02010609060101010101" pitchFamily="49" charset="-122"/>
              </a:rPr>
              <a:t>和</a:t>
            </a:r>
            <a:r>
              <a:rPr lang="zh-CN" altLang="en-US" sz="2400" dirty="0">
                <a:solidFill>
                  <a:srgbClr val="FF3300"/>
                </a:solidFill>
                <a:latin typeface="黑体" panose="02010609060101010101" pitchFamily="49" charset="-122"/>
                <a:ea typeface="黑体" panose="02010609060101010101" pitchFamily="49" charset="-122"/>
              </a:rPr>
              <a:t>数字滤波技术</a:t>
            </a:r>
            <a:r>
              <a:rPr lang="zh-CN" altLang="en-US" sz="2400" dirty="0">
                <a:solidFill>
                  <a:schemeClr val="accent2"/>
                </a:solidFill>
                <a:latin typeface="黑体" panose="02010609060101010101" pitchFamily="49" charset="-122"/>
                <a:ea typeface="黑体" panose="02010609060101010101" pitchFamily="49" charset="-122"/>
              </a:rPr>
              <a:t>增加有效分辨率，然后对</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输出进行</a:t>
            </a:r>
            <a:r>
              <a:rPr lang="zh-CN" altLang="en-US" sz="2400" dirty="0">
                <a:solidFill>
                  <a:srgbClr val="FF3300"/>
                </a:solidFill>
                <a:latin typeface="黑体" panose="02010609060101010101" pitchFamily="49" charset="-122"/>
                <a:ea typeface="黑体" panose="02010609060101010101" pitchFamily="49" charset="-122"/>
              </a:rPr>
              <a:t>抽取</a:t>
            </a:r>
            <a:r>
              <a:rPr lang="zh-CN" altLang="en-US" sz="2400" dirty="0">
                <a:solidFill>
                  <a:schemeClr val="accent2"/>
                </a:solidFill>
                <a:latin typeface="黑体" panose="02010609060101010101" pitchFamily="49" charset="-122"/>
                <a:ea typeface="黑体" panose="02010609060101010101" pitchFamily="49" charset="-122"/>
              </a:rPr>
              <a:t>处理，以降低</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的有效采样速率，去除多余信息，减轻数据处理的负担。</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spcBef>
                <a:spcPct val="50000"/>
              </a:spcBef>
            </a:pPr>
            <a:r>
              <a:rPr lang="zh-CN" altLang="en-US" sz="2400" dirty="0">
                <a:solidFill>
                  <a:schemeClr val="tx1"/>
                </a:solidFill>
                <a:latin typeface="黑体" panose="02010609060101010101" pitchFamily="49" charset="-122"/>
                <a:ea typeface="黑体" panose="02010609060101010101" pitchFamily="49" charset="-122"/>
              </a:rPr>
              <a:t>    </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型</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以其分辨率高（</a:t>
            </a:r>
            <a:r>
              <a:rPr lang="zh-CN" altLang="en-US" sz="2400" dirty="0">
                <a:solidFill>
                  <a:srgbClr val="FF3300"/>
                </a:solidFill>
                <a:latin typeface="黑体" panose="02010609060101010101" pitchFamily="49" charset="-122"/>
                <a:ea typeface="黑体" panose="02010609060101010101" pitchFamily="49" charset="-122"/>
              </a:rPr>
              <a:t>最高可达</a:t>
            </a:r>
            <a:r>
              <a:rPr lang="en-US" altLang="zh-CN" sz="2400" dirty="0">
                <a:solidFill>
                  <a:srgbClr val="FF3300"/>
                </a:solidFill>
                <a:latin typeface="黑体" panose="02010609060101010101" pitchFamily="49" charset="-122"/>
                <a:ea typeface="黑体" panose="02010609060101010101" pitchFamily="49" charset="-122"/>
              </a:rPr>
              <a:t>24</a:t>
            </a:r>
            <a:r>
              <a:rPr lang="zh-CN" altLang="en-US" sz="2400" dirty="0">
                <a:solidFill>
                  <a:srgbClr val="FF3300"/>
                </a:solidFill>
                <a:latin typeface="黑体" panose="02010609060101010101" pitchFamily="49" charset="-122"/>
                <a:ea typeface="黑体" panose="02010609060101010101" pitchFamily="49" charset="-122"/>
              </a:rPr>
              <a:t>位</a:t>
            </a:r>
            <a:r>
              <a:rPr lang="zh-CN" altLang="en-US" sz="2400" dirty="0">
                <a:solidFill>
                  <a:schemeClr val="tx1"/>
                </a:solidFill>
                <a:latin typeface="黑体" panose="02010609060101010101" pitchFamily="49" charset="-122"/>
                <a:ea typeface="黑体" panose="02010609060101010101" pitchFamily="49" charset="-122"/>
              </a:rPr>
              <a:t>）、线性度好</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主要应用在高分辨率的中低频测量和数字音频电路中。</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spcBef>
                <a:spcPct val="50000"/>
              </a:spcBef>
            </a:pPr>
            <a:r>
              <a:rPr lang="zh-CN" altLang="en-US" sz="2400" dirty="0">
                <a:solidFill>
                  <a:schemeClr val="tx1"/>
                </a:solidFill>
                <a:latin typeface="黑体" panose="02010609060101010101" pitchFamily="49" charset="-122"/>
                <a:ea typeface="黑体" panose="02010609060101010101" pitchFamily="49" charset="-122"/>
              </a:rPr>
              <a:t>    </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a:t>
            </a:r>
            <a:r>
              <a:rPr lang="zh-CN"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型</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由简单的模拟电路（比较器、开关、积分器、模拟求和电路）和复杂的数字信号处理电路组成。</a:t>
            </a:r>
            <a:r>
              <a:rPr lang="zh-CN" altLang="en-US" sz="2400" dirty="0">
                <a:solidFill>
                  <a:schemeClr val="accent2"/>
                </a:solidFill>
                <a:latin typeface="黑体" panose="02010609060101010101" pitchFamily="49" charset="-122"/>
                <a:ea typeface="黑体" panose="02010609060101010101" pitchFamily="49" charset="-122"/>
              </a:rPr>
              <a:t>需熟悉过采样、噪声整形、数字滤波和采样抽取概念。</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92164"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3187" name="Text Box 4"/>
          <p:cNvSpPr txBox="1"/>
          <p:nvPr/>
        </p:nvSpPr>
        <p:spPr>
          <a:xfrm>
            <a:off x="404813" y="4719638"/>
            <a:ext cx="8143875" cy="968375"/>
          </a:xfrm>
          <a:prstGeom prst="rect">
            <a:avLst/>
          </a:prstGeom>
          <a:noFill/>
          <a:ln w="9525">
            <a:noFill/>
          </a:ln>
        </p:spPr>
        <p:txBody>
          <a:bodyPr>
            <a:spAutoFit/>
          </a:bodyPr>
          <a:p>
            <a:pPr eaLnBrk="1" hangingPunct="1">
              <a:lnSpc>
                <a:spcPct val="12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过采样的采样频率远高于输入信号频率，有利于简化抗混叠滤波器的设计，提高信噪比并改善动态范围。</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93188" name="Text Box 51"/>
          <p:cNvSpPr txBox="1"/>
          <p:nvPr/>
        </p:nvSpPr>
        <p:spPr>
          <a:xfrm>
            <a:off x="404813" y="1227138"/>
            <a:ext cx="2105025"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过采样技术</a:t>
            </a:r>
            <a:endParaRPr lang="zh-CN" altLang="en-US" dirty="0">
              <a:latin typeface="Times New Roman" panose="02020603050405020304" pitchFamily="18" charset="0"/>
            </a:endParaRPr>
          </a:p>
        </p:txBody>
      </p:sp>
      <p:sp>
        <p:nvSpPr>
          <p:cNvPr id="93189" name="Text Box 6"/>
          <p:cNvSpPr txBox="1"/>
          <p:nvPr/>
        </p:nvSpPr>
        <p:spPr>
          <a:xfrm>
            <a:off x="404813" y="1730375"/>
            <a:ext cx="8143875" cy="1844675"/>
          </a:xfrm>
          <a:prstGeom prst="rect">
            <a:avLst/>
          </a:prstGeom>
          <a:noFill/>
          <a:ln w="9525">
            <a:noFill/>
          </a:ln>
        </p:spPr>
        <p:txBody>
          <a:bodyPr>
            <a:spAutoFit/>
          </a:bodyPr>
          <a:p>
            <a:pPr eaLnBrk="1" hangingPunct="1">
              <a:lnSpc>
                <a:spcPct val="12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由于</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的实际模拟输入与数字输出之间存在有最大值为</a:t>
            </a:r>
            <a:r>
              <a:rPr lang="en-US" altLang="zh-CN" sz="2400" dirty="0">
                <a:solidFill>
                  <a:schemeClr val="tx1"/>
                </a:solidFill>
                <a:latin typeface="黑体" panose="02010609060101010101" pitchFamily="49" charset="-122"/>
                <a:ea typeface="黑体" panose="02010609060101010101" pitchFamily="49" charset="-122"/>
              </a:rPr>
              <a:t>±1/2LSB</a:t>
            </a:r>
            <a:r>
              <a:rPr lang="zh-CN" altLang="en-US" sz="2400" dirty="0">
                <a:solidFill>
                  <a:schemeClr val="tx1"/>
                </a:solidFill>
                <a:latin typeface="黑体" panose="02010609060101010101" pitchFamily="49" charset="-122"/>
                <a:ea typeface="黑体" panose="02010609060101010101" pitchFamily="49" charset="-122"/>
              </a:rPr>
              <a:t>的量化误差，所以数据采样系统具有量化噪声。根据量化理论，理想</a:t>
            </a:r>
            <a:r>
              <a:rPr lang="en-US" altLang="zh-CN" sz="2400" dirty="0">
                <a:solidFill>
                  <a:schemeClr val="tx1"/>
                </a:solidFill>
                <a:latin typeface="黑体" panose="02010609060101010101" pitchFamily="49" charset="-122"/>
                <a:ea typeface="黑体" panose="02010609060101010101" pitchFamily="49" charset="-122"/>
              </a:rPr>
              <a:t>N</a:t>
            </a:r>
            <a:r>
              <a:rPr lang="zh-CN" altLang="en-US" sz="2400" dirty="0">
                <a:solidFill>
                  <a:schemeClr val="tx1"/>
                </a:solidFill>
                <a:latin typeface="黑体" panose="02010609060101010101" pitchFamily="49" charset="-122"/>
                <a:ea typeface="黑体" panose="02010609060101010101" pitchFamily="49" charset="-122"/>
              </a:rPr>
              <a:t>位</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量化噪声的有效值为      ，对于正弦输入信号，理论信噪比为</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93190" name="Rectangle 8"/>
          <p:cNvSpPr/>
          <p:nvPr/>
        </p:nvSpPr>
        <p:spPr>
          <a:xfrm>
            <a:off x="2263775" y="3921125"/>
            <a:ext cx="4248150" cy="579438"/>
          </a:xfrm>
          <a:prstGeom prst="rect">
            <a:avLst/>
          </a:prstGeom>
          <a:noFill/>
          <a:ln w="9525">
            <a:noFill/>
          </a:ln>
        </p:spPr>
        <p:txBody>
          <a:bodyPr wrap="none">
            <a:spAutoFit/>
          </a:bodyPr>
          <a:p>
            <a:pPr>
              <a:spcBef>
                <a:spcPct val="50000"/>
              </a:spcBef>
              <a:buSzPct val="75000"/>
              <a:buFont typeface="Wingdings" panose="05000000000000000000" pitchFamily="2" charset="2"/>
            </a:pPr>
            <a:r>
              <a:rPr lang="en-US" altLang="zh-CN" sz="3200" dirty="0">
                <a:solidFill>
                  <a:srgbClr val="000066"/>
                </a:solidFill>
                <a:latin typeface="Times New Roman" panose="02020603050405020304" pitchFamily="18" charset="0"/>
              </a:rPr>
              <a:t>SNR=6.02N+1.76   [dB]</a:t>
            </a:r>
            <a:endParaRPr lang="zh-CN" altLang="en-US" sz="3200" dirty="0">
              <a:solidFill>
                <a:srgbClr val="000066"/>
              </a:solidFill>
              <a:latin typeface="Times New Roman" panose="02020603050405020304" pitchFamily="18" charset="0"/>
            </a:endParaRPr>
          </a:p>
        </p:txBody>
      </p:sp>
      <p:sp>
        <p:nvSpPr>
          <p:cNvPr id="93191"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93192" name="Object 228"/>
          <p:cNvGraphicFramePr>
            <a:graphicFrameLocks noGrp="1" noChangeAspect="1"/>
          </p:cNvGraphicFramePr>
          <p:nvPr>
            <p:ph/>
          </p:nvPr>
        </p:nvGraphicFramePr>
        <p:xfrm>
          <a:off x="6921500" y="2706688"/>
          <a:ext cx="915988" cy="458787"/>
        </p:xfrm>
        <a:graphic>
          <a:graphicData uri="http://schemas.openxmlformats.org/presentationml/2006/ole">
            <mc:AlternateContent xmlns:mc="http://schemas.openxmlformats.org/markup-compatibility/2006">
              <mc:Choice xmlns:v="urn:schemas-microsoft-com:vml" Requires="v">
                <p:oleObj spid="_x0000_s3107" name="" r:id="rId1" imgW="482600" imgH="241300" progId="Equation.DSMT4">
                  <p:embed/>
                </p:oleObj>
              </mc:Choice>
              <mc:Fallback>
                <p:oleObj name="" r:id="rId1" imgW="482600" imgH="241300" progId="Equation.DSMT4">
                  <p:embed/>
                  <p:pic>
                    <p:nvPicPr>
                      <p:cNvPr id="0" name="图片 3106"/>
                      <p:cNvPicPr/>
                      <p:nvPr/>
                    </p:nvPicPr>
                    <p:blipFill>
                      <a:blip r:embed="rId2"/>
                      <a:stretch>
                        <a:fillRect/>
                      </a:stretch>
                    </p:blipFill>
                    <p:spPr>
                      <a:xfrm>
                        <a:off x="6921500" y="2706688"/>
                        <a:ext cx="915988" cy="458787"/>
                      </a:xfrm>
                      <a:prstGeom prst="rect">
                        <a:avLst/>
                      </a:prstGeom>
                      <a:noFill/>
                      <a:ln w="38100">
                        <a:noFill/>
                        <a:miter/>
                      </a:ln>
                    </p:spPr>
                  </p:pic>
                </p:oleObj>
              </mc:Fallback>
            </mc:AlternateContent>
          </a:graphicData>
        </a:graphic>
      </p:graphicFrame>
    </p:spTree>
  </p:cSld>
  <p:clrMapOvr>
    <a:masterClrMapping/>
  </p:clrMapOvr>
  <p:transition spd="med">
    <p:strips/>
  </p:transition>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4211" name="Text Box 5"/>
          <p:cNvSpPr txBox="1"/>
          <p:nvPr/>
        </p:nvSpPr>
        <p:spPr>
          <a:xfrm>
            <a:off x="404813" y="1816100"/>
            <a:ext cx="2947987" cy="3597275"/>
          </a:xfrm>
          <a:prstGeom prst="rect">
            <a:avLst/>
          </a:prstGeom>
          <a:noFill/>
          <a:ln w="9525">
            <a:noFill/>
          </a:ln>
        </p:spPr>
        <p:txBody>
          <a:bodyPr>
            <a:spAutoFit/>
          </a:bodyPr>
          <a:p>
            <a:pPr eaLnBrk="1" hangingPunct="1">
              <a:lnSpc>
                <a:spcPct val="12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一个理想的</a:t>
            </a:r>
            <a:r>
              <a:rPr lang="en-US" altLang="zh-CN" sz="2400" dirty="0">
                <a:solidFill>
                  <a:schemeClr val="tx1"/>
                </a:solidFill>
                <a:latin typeface="Times New Roman" panose="02020603050405020304" pitchFamily="18" charset="0"/>
                <a:ea typeface="黑体" panose="02010609060101010101" pitchFamily="49" charset="-122"/>
              </a:rPr>
              <a:t>N</a:t>
            </a:r>
            <a:r>
              <a:rPr lang="zh-CN" altLang="en-US" sz="2400" dirty="0">
                <a:solidFill>
                  <a:schemeClr val="tx1"/>
                </a:solidFill>
                <a:latin typeface="黑体" panose="02010609060101010101" pitchFamily="49" charset="-122"/>
                <a:ea typeface="黑体" panose="02010609060101010101" pitchFamily="49" charset="-122"/>
              </a:rPr>
              <a:t>位</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的采样量化噪声有效值为      ，且均匀分布在奈奎斯特频带直流至</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范围内。模拟低通滤波器用于滤除</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以上的噪声。</a:t>
            </a:r>
            <a:r>
              <a:rPr lang="zh-CN" altLang="en-US" sz="2400" dirty="0">
                <a:solidFill>
                  <a:schemeClr val="accent2"/>
                </a:solidFill>
                <a:latin typeface="黑体" panose="02010609060101010101" pitchFamily="49" charset="-122"/>
                <a:ea typeface="黑体" panose="02010609060101010101" pitchFamily="49" charset="-122"/>
              </a:rPr>
              <a:t> </a:t>
            </a:r>
            <a:endParaRPr lang="zh-CN" altLang="en-US" sz="2400" dirty="0">
              <a:solidFill>
                <a:schemeClr val="accent2"/>
              </a:solidFill>
              <a:latin typeface="黑体" panose="02010609060101010101" pitchFamily="49" charset="-122"/>
              <a:ea typeface="黑体" panose="02010609060101010101" pitchFamily="49" charset="-122"/>
            </a:endParaRPr>
          </a:p>
        </p:txBody>
      </p:sp>
      <p:pic>
        <p:nvPicPr>
          <p:cNvPr id="94212" name="Picture 6" descr="FNS(MT8Q6SRN({ICY12(}C6"/>
          <p:cNvPicPr>
            <a:picLocks noChangeAspect="1"/>
          </p:cNvPicPr>
          <p:nvPr/>
        </p:nvPicPr>
        <p:blipFill>
          <a:blip r:embed="rId1"/>
          <a:stretch>
            <a:fillRect/>
          </a:stretch>
        </p:blipFill>
        <p:spPr>
          <a:xfrm>
            <a:off x="3352800" y="1787525"/>
            <a:ext cx="5457825" cy="3571875"/>
          </a:xfrm>
          <a:prstGeom prst="rect">
            <a:avLst/>
          </a:prstGeom>
          <a:noFill/>
          <a:ln w="9525">
            <a:noFill/>
          </a:ln>
        </p:spPr>
      </p:pic>
      <p:sp>
        <p:nvSpPr>
          <p:cNvPr id="94213"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94214" name="Text Box 51"/>
          <p:cNvSpPr txBox="1"/>
          <p:nvPr/>
        </p:nvSpPr>
        <p:spPr>
          <a:xfrm>
            <a:off x="404813" y="1227138"/>
            <a:ext cx="2105025"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过采样技术</a:t>
            </a:r>
            <a:endParaRPr lang="zh-CN" altLang="en-US" dirty="0">
              <a:latin typeface="Times New Roman" panose="02020603050405020304" pitchFamily="18" charset="0"/>
            </a:endParaRPr>
          </a:p>
        </p:txBody>
      </p:sp>
      <p:graphicFrame>
        <p:nvGraphicFramePr>
          <p:cNvPr id="94215" name="Object 228"/>
          <p:cNvGraphicFramePr>
            <a:graphicFrameLocks noGrp="1" noChangeAspect="1"/>
          </p:cNvGraphicFramePr>
          <p:nvPr>
            <p:ph/>
          </p:nvPr>
        </p:nvGraphicFramePr>
        <p:xfrm>
          <a:off x="2022475" y="2770188"/>
          <a:ext cx="933450" cy="466725"/>
        </p:xfrm>
        <a:graphic>
          <a:graphicData uri="http://schemas.openxmlformats.org/presentationml/2006/ole">
            <mc:AlternateContent xmlns:mc="http://schemas.openxmlformats.org/markup-compatibility/2006">
              <mc:Choice xmlns:v="urn:schemas-microsoft-com:vml" Requires="v">
                <p:oleObj spid="_x0000_s3110" name="" r:id="rId2" imgW="482600" imgH="241300" progId="Equation.DSMT4">
                  <p:embed/>
                </p:oleObj>
              </mc:Choice>
              <mc:Fallback>
                <p:oleObj name="" r:id="rId2" imgW="482600" imgH="241300" progId="Equation.DSMT4">
                  <p:embed/>
                  <p:pic>
                    <p:nvPicPr>
                      <p:cNvPr id="0" name="图片 3109"/>
                      <p:cNvPicPr/>
                      <p:nvPr/>
                    </p:nvPicPr>
                    <p:blipFill>
                      <a:blip r:embed="rId3"/>
                      <a:stretch>
                        <a:fillRect/>
                      </a:stretch>
                    </p:blipFill>
                    <p:spPr>
                      <a:xfrm>
                        <a:off x="2022475" y="2770188"/>
                        <a:ext cx="933450" cy="466725"/>
                      </a:xfrm>
                      <a:prstGeom prst="rect">
                        <a:avLst/>
                      </a:prstGeom>
                      <a:noFill/>
                      <a:ln w="38100">
                        <a:noFill/>
                        <a:miter/>
                      </a:ln>
                    </p:spPr>
                  </p:pic>
                </p:oleObj>
              </mc:Fallback>
            </mc:AlternateContent>
          </a:graphicData>
        </a:graphic>
      </p:graphicFrame>
    </p:spTree>
  </p:cSld>
  <p:clrMapOvr>
    <a:masterClrMapping/>
  </p:clrMapOvr>
  <p:transition spd="med">
    <p:strips/>
  </p:transition>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5235" name="Text Box 51"/>
          <p:cNvSpPr txBox="1"/>
          <p:nvPr/>
        </p:nvSpPr>
        <p:spPr>
          <a:xfrm>
            <a:off x="404813" y="1227138"/>
            <a:ext cx="20970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过采样技术</a:t>
            </a:r>
            <a:endParaRPr lang="zh-CN" altLang="en-US" dirty="0">
              <a:latin typeface="Times New Roman" panose="02020603050405020304" pitchFamily="18" charset="0"/>
            </a:endParaRPr>
          </a:p>
        </p:txBody>
      </p:sp>
      <p:sp>
        <p:nvSpPr>
          <p:cNvPr id="95236" name="Text Box 5"/>
          <p:cNvSpPr txBox="1"/>
          <p:nvPr/>
        </p:nvSpPr>
        <p:spPr>
          <a:xfrm>
            <a:off x="404813" y="4418013"/>
            <a:ext cx="8280400" cy="1844675"/>
          </a:xfrm>
          <a:prstGeom prst="rect">
            <a:avLst/>
          </a:prstGeom>
          <a:noFill/>
          <a:ln w="9525">
            <a:noFill/>
          </a:ln>
        </p:spPr>
        <p:txBody>
          <a:bodyPr>
            <a:spAutoFit/>
          </a:bodyPr>
          <a:p>
            <a:pPr eaLnBrk="1" hangingPunct="1">
              <a:lnSpc>
                <a:spcPct val="12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过采样技术，用</a:t>
            </a:r>
            <a:r>
              <a:rPr lang="en-US" altLang="zh-CN" sz="2400" i="1" dirty="0">
                <a:solidFill>
                  <a:schemeClr val="tx1"/>
                </a:solidFill>
                <a:latin typeface="Times New Roman" panose="02020603050405020304" pitchFamily="18" charset="0"/>
                <a:ea typeface="黑体" panose="02010609060101010101" pitchFamily="49" charset="-122"/>
              </a:rPr>
              <a:t>Kf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zh-CN" altLang="en-US" sz="2400" dirty="0">
                <a:solidFill>
                  <a:schemeClr val="tx1"/>
                </a:solidFill>
                <a:latin typeface="黑体" panose="02010609060101010101" pitchFamily="49" charset="-122"/>
                <a:ea typeface="黑体" panose="02010609060101010101" pitchFamily="49" charset="-122"/>
              </a:rPr>
              <a:t>的采样速率对输入信号采样，奈奎斯特频率增至</a:t>
            </a:r>
            <a:r>
              <a:rPr lang="en-US" altLang="zh-CN" sz="2400" i="1" dirty="0">
                <a:solidFill>
                  <a:schemeClr val="tx1"/>
                </a:solidFill>
                <a:latin typeface="Times New Roman" panose="02020603050405020304" pitchFamily="18" charset="0"/>
                <a:ea typeface="黑体" panose="02010609060101010101" pitchFamily="49" charset="-122"/>
              </a:rPr>
              <a:t>Kf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，整个量化噪声位于直流至</a:t>
            </a:r>
            <a:r>
              <a:rPr lang="en-US" altLang="zh-CN" sz="2400" i="1" dirty="0">
                <a:solidFill>
                  <a:schemeClr val="tx1"/>
                </a:solidFill>
                <a:latin typeface="Times New Roman" panose="02020603050405020304" pitchFamily="18" charset="0"/>
                <a:ea typeface="黑体" panose="02010609060101010101" pitchFamily="49" charset="-122"/>
              </a:rPr>
              <a:t>Kf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之间，量化噪声的总量仍然为 </a:t>
            </a:r>
            <a:r>
              <a:rPr lang="en-US" altLang="zh-CN" sz="2400" i="1" dirty="0">
                <a:solidFill>
                  <a:schemeClr val="tx1"/>
                </a:solidFill>
                <a:latin typeface="Times New Roman" panose="02020603050405020304" pitchFamily="18" charset="0"/>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，但由于噪声频谱的扩大，位于直流至</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之间的量化噪声降低为        ，因此提高了信噪比。 </a:t>
            </a:r>
            <a:r>
              <a:rPr lang="zh-CN" altLang="en-US" sz="2400" dirty="0">
                <a:solidFill>
                  <a:schemeClr val="accent2"/>
                </a:solidFill>
                <a:latin typeface="黑体" panose="02010609060101010101" pitchFamily="49" charset="-122"/>
                <a:ea typeface="黑体" panose="02010609060101010101" pitchFamily="49" charset="-122"/>
              </a:rPr>
              <a:t>    </a:t>
            </a:r>
            <a:endParaRPr lang="zh-CN" altLang="en-US" sz="2400" dirty="0">
              <a:solidFill>
                <a:schemeClr val="accent2"/>
              </a:solidFill>
              <a:latin typeface="黑体" panose="02010609060101010101" pitchFamily="49" charset="-122"/>
              <a:ea typeface="黑体" panose="02010609060101010101" pitchFamily="49" charset="-122"/>
            </a:endParaRPr>
          </a:p>
        </p:txBody>
      </p:sp>
      <p:pic>
        <p:nvPicPr>
          <p:cNvPr id="95237" name="Picture 6" descr="@DK8P97}4WM}(QU)DPJE4V5"/>
          <p:cNvPicPr>
            <a:picLocks noChangeAspect="1"/>
          </p:cNvPicPr>
          <p:nvPr/>
        </p:nvPicPr>
        <p:blipFill>
          <a:blip r:embed="rId1"/>
          <a:stretch>
            <a:fillRect/>
          </a:stretch>
        </p:blipFill>
        <p:spPr>
          <a:xfrm>
            <a:off x="2808288" y="1312863"/>
            <a:ext cx="5876925" cy="3019425"/>
          </a:xfrm>
          <a:prstGeom prst="rect">
            <a:avLst/>
          </a:prstGeom>
          <a:noFill/>
          <a:ln w="9525">
            <a:noFill/>
          </a:ln>
        </p:spPr>
      </p:pic>
      <p:sp>
        <p:nvSpPr>
          <p:cNvPr id="95238"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95239" name="Object 228"/>
          <p:cNvGraphicFramePr>
            <a:graphicFrameLocks noGrp="1" noChangeAspect="1"/>
          </p:cNvGraphicFramePr>
          <p:nvPr>
            <p:ph/>
          </p:nvPr>
        </p:nvGraphicFramePr>
        <p:xfrm>
          <a:off x="2963863" y="5357813"/>
          <a:ext cx="895350" cy="447675"/>
        </p:xfrm>
        <a:graphic>
          <a:graphicData uri="http://schemas.openxmlformats.org/presentationml/2006/ole">
            <mc:AlternateContent xmlns:mc="http://schemas.openxmlformats.org/markup-compatibility/2006">
              <mc:Choice xmlns:v="urn:schemas-microsoft-com:vml" Requires="v">
                <p:oleObj spid="_x0000_s3108" name="" r:id="rId2" imgW="482600" imgH="241300" progId="Equation.DSMT4">
                  <p:embed/>
                </p:oleObj>
              </mc:Choice>
              <mc:Fallback>
                <p:oleObj name="" r:id="rId2" imgW="482600" imgH="241300" progId="Equation.DSMT4">
                  <p:embed/>
                  <p:pic>
                    <p:nvPicPr>
                      <p:cNvPr id="0" name="图片 3107"/>
                      <p:cNvPicPr/>
                      <p:nvPr/>
                    </p:nvPicPr>
                    <p:blipFill>
                      <a:blip r:embed="rId3"/>
                      <a:stretch>
                        <a:fillRect/>
                      </a:stretch>
                    </p:blipFill>
                    <p:spPr>
                      <a:xfrm>
                        <a:off x="2963863" y="5357813"/>
                        <a:ext cx="895350" cy="447675"/>
                      </a:xfrm>
                      <a:prstGeom prst="rect">
                        <a:avLst/>
                      </a:prstGeom>
                      <a:noFill/>
                      <a:ln w="38100">
                        <a:noFill/>
                        <a:miter/>
                      </a:ln>
                    </p:spPr>
                  </p:pic>
                </p:oleObj>
              </mc:Fallback>
            </mc:AlternateContent>
          </a:graphicData>
        </a:graphic>
      </p:graphicFrame>
      <p:graphicFrame>
        <p:nvGraphicFramePr>
          <p:cNvPr id="95240" name="Object 228"/>
          <p:cNvGraphicFramePr>
            <a:graphicFrameLocks noChangeAspect="1"/>
          </p:cNvGraphicFramePr>
          <p:nvPr/>
        </p:nvGraphicFramePr>
        <p:xfrm>
          <a:off x="4619625" y="5791200"/>
          <a:ext cx="1131888" cy="447675"/>
        </p:xfrm>
        <a:graphic>
          <a:graphicData uri="http://schemas.openxmlformats.org/presentationml/2006/ole">
            <mc:AlternateContent xmlns:mc="http://schemas.openxmlformats.org/markup-compatibility/2006">
              <mc:Choice xmlns:v="urn:schemas-microsoft-com:vml" Requires="v">
                <p:oleObj spid="_x0000_s3109" name="" r:id="rId4" imgW="609600" imgH="241300" progId="Equation.DSMT4">
                  <p:embed/>
                </p:oleObj>
              </mc:Choice>
              <mc:Fallback>
                <p:oleObj name="" r:id="rId4" imgW="609600" imgH="241300" progId="Equation.DSMT4">
                  <p:embed/>
                  <p:pic>
                    <p:nvPicPr>
                      <p:cNvPr id="0" name="图片 3108"/>
                      <p:cNvPicPr/>
                      <p:nvPr/>
                    </p:nvPicPr>
                    <p:blipFill>
                      <a:blip r:embed="rId5"/>
                      <a:stretch>
                        <a:fillRect/>
                      </a:stretch>
                    </p:blipFill>
                    <p:spPr>
                      <a:xfrm>
                        <a:off x="4619625" y="5791200"/>
                        <a:ext cx="1131888" cy="447675"/>
                      </a:xfrm>
                      <a:prstGeom prst="rect">
                        <a:avLst/>
                      </a:prstGeom>
                      <a:noFill/>
                      <a:ln w="38100">
                        <a:noFill/>
                        <a:miter/>
                      </a:ln>
                    </p:spPr>
                  </p:pic>
                </p:oleObj>
              </mc:Fallback>
            </mc:AlternateContent>
          </a:graphicData>
        </a:graphic>
      </p:graphicFrame>
    </p:spTree>
  </p:cSld>
  <p:clrMapOvr>
    <a:masterClrMapping/>
  </p:clrMapOvr>
  <p:transition spd="med">
    <p:strips/>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6259" name="Text Box 51"/>
          <p:cNvSpPr txBox="1"/>
          <p:nvPr/>
        </p:nvSpPr>
        <p:spPr>
          <a:xfrm>
            <a:off x="404813" y="1227138"/>
            <a:ext cx="2058987"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过采样技术</a:t>
            </a:r>
            <a:endParaRPr lang="zh-CN" altLang="en-US" dirty="0">
              <a:latin typeface="Times New Roman" panose="02020603050405020304" pitchFamily="18" charset="0"/>
            </a:endParaRPr>
          </a:p>
        </p:txBody>
      </p:sp>
      <p:sp>
        <p:nvSpPr>
          <p:cNvPr id="96260" name="Rectangle 5"/>
          <p:cNvSpPr/>
          <p:nvPr/>
        </p:nvSpPr>
        <p:spPr>
          <a:xfrm>
            <a:off x="1471613" y="3182938"/>
            <a:ext cx="5788025" cy="579437"/>
          </a:xfrm>
          <a:prstGeom prst="rect">
            <a:avLst/>
          </a:prstGeom>
          <a:noFill/>
          <a:ln w="9525">
            <a:noFill/>
          </a:ln>
        </p:spPr>
        <p:txBody>
          <a:bodyPr wrap="none">
            <a:spAutoFit/>
          </a:bodyPr>
          <a:p>
            <a:pPr>
              <a:spcBef>
                <a:spcPct val="50000"/>
              </a:spcBef>
              <a:buSzPct val="75000"/>
              <a:buFont typeface="Wingdings" panose="05000000000000000000" pitchFamily="2" charset="2"/>
            </a:pPr>
            <a:r>
              <a:rPr lang="en-US" altLang="zh-CN" sz="3200" dirty="0">
                <a:solidFill>
                  <a:srgbClr val="000066"/>
                </a:solidFill>
                <a:latin typeface="Times New Roman" panose="02020603050405020304" pitchFamily="18" charset="0"/>
              </a:rPr>
              <a:t>SNR=6.02N+1.76+10lg(K)   [dB]</a:t>
            </a:r>
            <a:endParaRPr lang="zh-CN" altLang="en-US" sz="3200" dirty="0">
              <a:solidFill>
                <a:srgbClr val="000066"/>
              </a:solidFill>
              <a:latin typeface="Times New Roman" panose="02020603050405020304" pitchFamily="18" charset="0"/>
            </a:endParaRPr>
          </a:p>
        </p:txBody>
      </p:sp>
      <p:sp>
        <p:nvSpPr>
          <p:cNvPr id="96261" name="Text Box 6"/>
          <p:cNvSpPr txBox="1"/>
          <p:nvPr/>
        </p:nvSpPr>
        <p:spPr>
          <a:xfrm>
            <a:off x="738188" y="4044950"/>
            <a:ext cx="7645400" cy="1606550"/>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tx1"/>
                </a:solidFill>
                <a:latin typeface="黑体" panose="02010609060101010101" pitchFamily="49" charset="-122"/>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总信噪比提高了</a:t>
            </a:r>
            <a:r>
              <a:rPr lang="en-US" altLang="zh-CN" sz="2400" dirty="0">
                <a:solidFill>
                  <a:schemeClr val="tx1"/>
                </a:solidFill>
                <a:latin typeface="黑体" panose="02010609060101010101" pitchFamily="49" charset="-122"/>
                <a:ea typeface="黑体" panose="02010609060101010101" pitchFamily="49" charset="-122"/>
              </a:rPr>
              <a:t>10lg(K)[dB]</a:t>
            </a:r>
            <a:r>
              <a:rPr lang="zh-CN" altLang="en-US" sz="2400" dirty="0">
                <a:solidFill>
                  <a:schemeClr val="tx1"/>
                </a:solidFill>
                <a:latin typeface="黑体" panose="02010609060101010101" pitchFamily="49" charset="-122"/>
                <a:ea typeface="黑体" panose="02010609060101010101" pitchFamily="49" charset="-122"/>
              </a:rPr>
              <a:t>，实现了用低分辨率</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达到高分辨率模数转换的目的。</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tx1"/>
                </a:solidFill>
                <a:latin typeface="黑体" panose="02010609060101010101" pitchFamily="49" charset="-122"/>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为了等效的提高分辨率，每增加一位分辨率（即信噪比增加</a:t>
            </a:r>
            <a:r>
              <a:rPr lang="en-US" altLang="zh-CN" sz="2400" dirty="0">
                <a:solidFill>
                  <a:schemeClr val="tx1"/>
                </a:solidFill>
                <a:latin typeface="黑体" panose="02010609060101010101" pitchFamily="49" charset="-122"/>
                <a:ea typeface="黑体" panose="02010609060101010101" pitchFamily="49" charset="-122"/>
              </a:rPr>
              <a:t>6dB</a:t>
            </a:r>
            <a:r>
              <a:rPr lang="zh-CN" altLang="en-US" sz="2400" dirty="0">
                <a:solidFill>
                  <a:schemeClr val="tx1"/>
                </a:solidFill>
                <a:latin typeface="黑体" panose="02010609060101010101" pitchFamily="49" charset="-122"/>
                <a:ea typeface="黑体" panose="02010609060101010101" pitchFamily="49" charset="-122"/>
              </a:rPr>
              <a:t>），过采样倍率</a:t>
            </a:r>
            <a:r>
              <a:rPr lang="en-US" altLang="zh-CN" sz="2400" dirty="0">
                <a:solidFill>
                  <a:schemeClr val="tx1"/>
                </a:solidFill>
                <a:latin typeface="黑体" panose="02010609060101010101" pitchFamily="49" charset="-122"/>
                <a:ea typeface="黑体" panose="02010609060101010101" pitchFamily="49" charset="-122"/>
              </a:rPr>
              <a:t>K</a:t>
            </a:r>
            <a:r>
              <a:rPr lang="zh-CN" altLang="en-US" sz="2400" dirty="0">
                <a:solidFill>
                  <a:schemeClr val="tx1"/>
                </a:solidFill>
                <a:latin typeface="黑体" panose="02010609060101010101" pitchFamily="49" charset="-122"/>
                <a:ea typeface="黑体" panose="02010609060101010101" pitchFamily="49" charset="-122"/>
              </a:rPr>
              <a:t>就需要增加</a:t>
            </a:r>
            <a:r>
              <a:rPr lang="en-US" altLang="zh-CN" sz="2400" dirty="0">
                <a:solidFill>
                  <a:schemeClr val="tx1"/>
                </a:solidFill>
                <a:latin typeface="黑体" panose="02010609060101010101" pitchFamily="49" charset="-122"/>
                <a:ea typeface="黑体" panose="02010609060101010101" pitchFamily="49" charset="-122"/>
              </a:rPr>
              <a:t>4</a:t>
            </a:r>
            <a:r>
              <a:rPr lang="zh-CN" altLang="en-US" sz="2400" dirty="0">
                <a:solidFill>
                  <a:schemeClr val="tx1"/>
                </a:solidFill>
                <a:latin typeface="黑体" panose="02010609060101010101" pitchFamily="49" charset="-122"/>
                <a:ea typeface="黑体" panose="02010609060101010101" pitchFamily="49" charset="-122"/>
              </a:rPr>
              <a:t>倍。</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96262"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96263" name="Text Box 8"/>
          <p:cNvSpPr txBox="1"/>
          <p:nvPr/>
        </p:nvSpPr>
        <p:spPr>
          <a:xfrm>
            <a:off x="404813" y="1703388"/>
            <a:ext cx="8280400" cy="1406525"/>
          </a:xfrm>
          <a:prstGeom prst="rect">
            <a:avLst/>
          </a:prstGeom>
          <a:noFill/>
          <a:ln w="9525">
            <a:noFill/>
          </a:ln>
        </p:spPr>
        <p:txBody>
          <a:bodyPr>
            <a:spAutoFit/>
          </a:bodyPr>
          <a:p>
            <a:pPr eaLnBrk="1" hangingPunct="1">
              <a:lnSpc>
                <a:spcPct val="12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同时，模拟低通滤波器只需滤除</a:t>
            </a:r>
            <a:r>
              <a:rPr lang="en-US" altLang="zh-CN" sz="2400" i="1" dirty="0">
                <a:solidFill>
                  <a:schemeClr val="tx1"/>
                </a:solidFill>
                <a:latin typeface="Times New Roman" panose="02020603050405020304" pitchFamily="18" charset="0"/>
                <a:ea typeface="黑体" panose="02010609060101010101" pitchFamily="49" charset="-122"/>
              </a:rPr>
              <a:t>Kf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zh-CN" altLang="en-US" sz="2400" dirty="0">
                <a:solidFill>
                  <a:schemeClr val="tx1"/>
                </a:solidFill>
                <a:latin typeface="Times New Roman" panose="02020603050405020304" pitchFamily="18" charset="0"/>
                <a:ea typeface="黑体" panose="02010609060101010101" pitchFamily="49" charset="-122"/>
              </a:rPr>
              <a:t>以上的噪声</a:t>
            </a:r>
            <a:r>
              <a:rPr lang="zh-CN" altLang="en-US" sz="2400" dirty="0">
                <a:solidFill>
                  <a:schemeClr val="tx1"/>
                </a:solidFill>
                <a:latin typeface="黑体" panose="02010609060101010101" pitchFamily="49" charset="-122"/>
                <a:ea typeface="黑体" panose="02010609060101010101" pitchFamily="49" charset="-122"/>
              </a:rPr>
              <a:t>，要求降低。此外，还可采用对多个采样信号取平均值的数字低通滤波算法来进一步提高信噪比。过采样的信噪比为： </a:t>
            </a:r>
            <a:r>
              <a:rPr lang="zh-CN" altLang="en-US" sz="2400" dirty="0">
                <a:solidFill>
                  <a:schemeClr val="accent2"/>
                </a:solidFill>
                <a:latin typeface="黑体" panose="02010609060101010101" pitchFamily="49" charset="-122"/>
                <a:ea typeface="黑体" panose="02010609060101010101" pitchFamily="49" charset="-122"/>
              </a:rPr>
              <a:t>    </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7283"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
        <p:nvSpPr>
          <p:cNvPr id="97284" name="Text Box 5"/>
          <p:cNvSpPr txBox="1"/>
          <p:nvPr/>
        </p:nvSpPr>
        <p:spPr>
          <a:xfrm>
            <a:off x="636588" y="1887538"/>
            <a:ext cx="7645400" cy="1917700"/>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受实际器件和工艺的限制，过采样倍率不能过大。因此需要对量化噪声的频谱进行整形（使得大部分噪声位于</a:t>
            </a:r>
            <a:r>
              <a:rPr lang="en-US" altLang="zh-CN" sz="2400" dirty="0">
                <a:solidFill>
                  <a:schemeClr val="tx1"/>
                </a:solidFill>
                <a:latin typeface="黑体" panose="02010609060101010101" pitchFamily="49" charset="-122"/>
                <a:ea typeface="黑体" panose="02010609060101010101" pitchFamily="49" charset="-122"/>
              </a:rPr>
              <a:t>fs/2</a:t>
            </a:r>
            <a:r>
              <a:rPr lang="zh-CN" altLang="en-US" sz="2400" dirty="0">
                <a:solidFill>
                  <a:schemeClr val="tx1"/>
                </a:solidFill>
                <a:latin typeface="黑体" panose="02010609060101010101" pitchFamily="49" charset="-122"/>
                <a:ea typeface="黑体" panose="02010609060101010101" pitchFamily="49" charset="-122"/>
              </a:rPr>
              <a:t>和</a:t>
            </a:r>
            <a:r>
              <a:rPr lang="en-US" altLang="zh-CN" sz="2400" dirty="0">
                <a:solidFill>
                  <a:schemeClr val="tx1"/>
                </a:solidFill>
                <a:latin typeface="黑体" panose="02010609060101010101" pitchFamily="49" charset="-122"/>
                <a:ea typeface="黑体" panose="02010609060101010101" pitchFamily="49" charset="-122"/>
              </a:rPr>
              <a:t>Kfs/2</a:t>
            </a:r>
            <a:r>
              <a:rPr lang="zh-CN" altLang="en-US" sz="2400" dirty="0">
                <a:solidFill>
                  <a:schemeClr val="tx1"/>
                </a:solidFill>
                <a:latin typeface="黑体" panose="02010609060101010101" pitchFamily="49" charset="-122"/>
                <a:ea typeface="黑体" panose="02010609060101010101" pitchFamily="49" charset="-122"/>
              </a:rPr>
              <a:t>之间）后，用数字滤波器去除大部分量化噪声能量，增加整体信噪比。</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调制器用于噪声整形。</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97285" name="Text Box 6"/>
          <p:cNvSpPr txBox="1"/>
          <p:nvPr/>
        </p:nvSpPr>
        <p:spPr>
          <a:xfrm>
            <a:off x="636588" y="4160838"/>
            <a:ext cx="7645400" cy="191770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3300"/>
                </a:solidFill>
                <a:latin typeface="黑体" panose="02010609060101010101" pitchFamily="49" charset="-122"/>
                <a:ea typeface="黑体" panose="02010609060101010101" pitchFamily="49" charset="-122"/>
              </a:rPr>
              <a:t>△</a:t>
            </a:r>
            <a:r>
              <a:rPr lang="en-US" altLang="zh-CN" sz="2400" dirty="0">
                <a:solidFill>
                  <a:srgbClr val="FF3300"/>
                </a:solidFill>
                <a:latin typeface="黑体" panose="02010609060101010101" pitchFamily="49" charset="-122"/>
                <a:ea typeface="黑体" panose="02010609060101010101" pitchFamily="49" charset="-122"/>
              </a:rPr>
              <a:t>(</a:t>
            </a:r>
            <a:r>
              <a:rPr lang="zh-CN" altLang="en-US" sz="2400" dirty="0">
                <a:solidFill>
                  <a:srgbClr val="FF3300"/>
                </a:solidFill>
                <a:latin typeface="黑体" panose="02010609060101010101" pitchFamily="49" charset="-122"/>
                <a:ea typeface="黑体" panose="02010609060101010101" pitchFamily="49" charset="-122"/>
              </a:rPr>
              <a:t>增量</a:t>
            </a:r>
            <a:r>
              <a:rPr lang="en-US" altLang="zh-CN" sz="2400" dirty="0">
                <a:solidFill>
                  <a:srgbClr val="FF3300"/>
                </a:solidFill>
                <a:latin typeface="黑体" panose="02010609060101010101" pitchFamily="49" charset="-122"/>
                <a:ea typeface="黑体" panose="02010609060101010101" pitchFamily="49" charset="-122"/>
              </a:rPr>
              <a:t>)</a:t>
            </a:r>
            <a:r>
              <a:rPr lang="zh-CN" altLang="en-US" sz="2400" dirty="0">
                <a:solidFill>
                  <a:srgbClr val="FF3300"/>
                </a:solidFill>
                <a:latin typeface="黑体" panose="02010609060101010101" pitchFamily="49" charset="-122"/>
                <a:ea typeface="黑体" panose="02010609060101010101" pitchFamily="49" charset="-122"/>
              </a:rPr>
              <a:t>调制器原理：</a:t>
            </a:r>
            <a:endParaRPr lang="zh-CN" altLang="en-US" sz="2400" dirty="0">
              <a:solidFill>
                <a:srgbClr val="FF3300"/>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信号采样值是相互有联系的、是相关的。对于一个连续信号，如果采样间隔足够小，相邻采样点间的信号幅度不会变化太大，若将前后两点的差值进行量化同样可以代表连续信号的信息。</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97286"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8307"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
        <p:nvSpPr>
          <p:cNvPr id="98308" name="Text Box 5"/>
          <p:cNvSpPr txBox="1"/>
          <p:nvPr/>
        </p:nvSpPr>
        <p:spPr>
          <a:xfrm>
            <a:off x="636588" y="5092700"/>
            <a:ext cx="7645400" cy="931863"/>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量化器：对两次采样点之间的差值进行量化</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积分器：对量化的差值进行求和，以形成最终的采样值</a:t>
            </a:r>
            <a:endParaRPr lang="zh-CN" altLang="en-US" sz="2400" dirty="0">
              <a:solidFill>
                <a:schemeClr val="tx1"/>
              </a:solidFill>
              <a:latin typeface="黑体" panose="02010609060101010101" pitchFamily="49" charset="-122"/>
              <a:ea typeface="黑体" panose="02010609060101010101" pitchFamily="49" charset="-122"/>
            </a:endParaRPr>
          </a:p>
        </p:txBody>
      </p:sp>
      <p:pic>
        <p:nvPicPr>
          <p:cNvPr id="98309" name="Picture 6" descr="(718GFG%%A_2~X}EQQK{)2W"/>
          <p:cNvPicPr>
            <a:picLocks noChangeAspect="1"/>
          </p:cNvPicPr>
          <p:nvPr/>
        </p:nvPicPr>
        <p:blipFill>
          <a:blip r:embed="rId1"/>
          <a:stretch>
            <a:fillRect/>
          </a:stretch>
        </p:blipFill>
        <p:spPr>
          <a:xfrm>
            <a:off x="636588" y="2409825"/>
            <a:ext cx="7915275" cy="2486025"/>
          </a:xfrm>
          <a:prstGeom prst="rect">
            <a:avLst/>
          </a:prstGeom>
          <a:noFill/>
          <a:ln w="9525">
            <a:noFill/>
          </a:ln>
        </p:spPr>
      </p:pic>
      <p:sp>
        <p:nvSpPr>
          <p:cNvPr id="98310" name="Text Box 7"/>
          <p:cNvSpPr txBox="1"/>
          <p:nvPr/>
        </p:nvSpPr>
        <p:spPr>
          <a:xfrm>
            <a:off x="636588" y="1892300"/>
            <a:ext cx="1293812"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结构：</a:t>
            </a:r>
            <a:endParaRPr lang="zh-CN" altLang="en-US" sz="2400" dirty="0">
              <a:solidFill>
                <a:srgbClr val="FF0000"/>
              </a:solidFill>
              <a:latin typeface="黑体" panose="02010609060101010101" pitchFamily="49" charset="-122"/>
              <a:ea typeface="黑体" panose="02010609060101010101" pitchFamily="49" charset="-122"/>
            </a:endParaRPr>
          </a:p>
        </p:txBody>
      </p:sp>
      <p:sp>
        <p:nvSpPr>
          <p:cNvPr id="98311"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99331"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
        <p:nvSpPr>
          <p:cNvPr id="99332" name="Text Box 5"/>
          <p:cNvSpPr txBox="1"/>
          <p:nvPr/>
        </p:nvSpPr>
        <p:spPr>
          <a:xfrm>
            <a:off x="636588" y="2222500"/>
            <a:ext cx="7645400" cy="3597275"/>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增量调制器的量化噪声由两部分构成：</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rgbClr val="FF0000"/>
                </a:solidFill>
                <a:latin typeface="黑体" panose="02010609060101010101" pitchFamily="49" charset="-122"/>
                <a:ea typeface="黑体" panose="02010609060101010101" pitchFamily="49" charset="-122"/>
              </a:rPr>
              <a:t>普通量化噪声</a:t>
            </a:r>
            <a:r>
              <a:rPr lang="zh-CN" altLang="en-US" sz="2400" dirty="0">
                <a:solidFill>
                  <a:schemeClr val="accent2"/>
                </a:solidFill>
                <a:latin typeface="黑体" panose="02010609060101010101" pitchFamily="49" charset="-122"/>
                <a:ea typeface="黑体" panose="02010609060101010101" pitchFamily="49" charset="-122"/>
              </a:rPr>
              <a:t>：当采样间隔足够小，信号幅度变化不超过量化台阶</a:t>
            </a:r>
            <a:r>
              <a:rPr lang="zh-CN"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时，量化噪声为普通量化噪声；</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2.</a:t>
            </a:r>
            <a:r>
              <a:rPr lang="zh-CN" altLang="en-US" sz="2400" dirty="0">
                <a:solidFill>
                  <a:srgbClr val="FF0000"/>
                </a:solidFill>
                <a:latin typeface="黑体" panose="02010609060101010101" pitchFamily="49" charset="-122"/>
                <a:ea typeface="黑体" panose="02010609060101010101" pitchFamily="49" charset="-122"/>
              </a:rPr>
              <a:t>过载量化噪声</a:t>
            </a:r>
            <a:r>
              <a:rPr lang="zh-CN" altLang="en-US" sz="2400" dirty="0">
                <a:solidFill>
                  <a:schemeClr val="accent2"/>
                </a:solidFill>
                <a:latin typeface="黑体" panose="02010609060101010101" pitchFamily="49" charset="-122"/>
                <a:ea typeface="黑体" panose="02010609060101010101" pitchFamily="49" charset="-122"/>
              </a:rPr>
              <a:t>：在一个采样间隔内，信号幅度变化超过量化台阶</a:t>
            </a:r>
            <a:r>
              <a:rPr lang="zh-CN"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，积分器无法跟踪信号的变化时，量化噪声为过载噪声。</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只能通过提高增量调制器的采样频率、减小采样间隔来避免生产过载噪声。信号的斜率过载是影响增量调制器性能的主要原因，因此提出了改进的∑</a:t>
            </a:r>
            <a:r>
              <a:rPr lang="en-US" altLang="zh-CN" sz="2400" dirty="0">
                <a:solidFill>
                  <a:schemeClr val="tx1"/>
                </a:solidFill>
                <a:latin typeface="黑体" panose="02010609060101010101" pitchFamily="49" charset="-122"/>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调制器。</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99333"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0355"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
        <p:nvSpPr>
          <p:cNvPr id="212999" name="Text Box 7"/>
          <p:cNvSpPr txBox="1"/>
          <p:nvPr/>
        </p:nvSpPr>
        <p:spPr>
          <a:xfrm>
            <a:off x="636588" y="1911350"/>
            <a:ext cx="7645400" cy="749300"/>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将信号先进行一次积分（低通滤波），使信号高频分量幅度下降，减小信号的斜率，然后再进行增量调制。</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100357"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213001" name="Picture 9" descr="X29_(RH_0}F)3MR%(C]AG~F"/>
          <p:cNvPicPr>
            <a:picLocks noChangeAspect="1"/>
          </p:cNvPicPr>
          <p:nvPr/>
        </p:nvPicPr>
        <p:blipFill>
          <a:blip r:embed="rId1"/>
          <a:stretch>
            <a:fillRect/>
          </a:stretch>
        </p:blipFill>
        <p:spPr>
          <a:xfrm>
            <a:off x="0" y="2806700"/>
            <a:ext cx="9001125" cy="2209800"/>
          </a:xfrm>
          <a:prstGeom prst="rect">
            <a:avLst/>
          </a:prstGeom>
          <a:noFill/>
          <a:ln w="9525">
            <a:noFill/>
          </a:ln>
        </p:spPr>
      </p:pic>
      <p:sp>
        <p:nvSpPr>
          <p:cNvPr id="213002" name="Text Box 10"/>
          <p:cNvSpPr txBox="1"/>
          <p:nvPr/>
        </p:nvSpPr>
        <p:spPr>
          <a:xfrm>
            <a:off x="636588" y="5016500"/>
            <a:ext cx="7645400" cy="1077913"/>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最终结果输出之前需进行一次微分以补偿积分引起的频率损失。实际应用中，微分与积分环节互补，故都省去。</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2999">
                                            <p:txEl>
                                              <p:charRg st="0" end="52"/>
                                            </p:txEl>
                                          </p:spTgt>
                                        </p:tgtEl>
                                        <p:attrNameLst>
                                          <p:attrName>style.visibility</p:attrName>
                                        </p:attrNameLst>
                                      </p:cBhvr>
                                      <p:to>
                                        <p:strVal val="visible"/>
                                      </p:to>
                                    </p:set>
                                    <p:animEffect transition="in" filter="dissolve">
                                      <p:cBhvr>
                                        <p:cTn id="7" dur="500"/>
                                        <p:tgtEl>
                                          <p:spTgt spid="212999">
                                            <p:txEl>
                                              <p:charRg st="0" end="5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13001"/>
                                        </p:tgtEl>
                                        <p:attrNameLst>
                                          <p:attrName>style.visibility</p:attrName>
                                        </p:attrNameLst>
                                      </p:cBhvr>
                                      <p:to>
                                        <p:strVal val="visible"/>
                                      </p:to>
                                    </p:set>
                                    <p:animEffect transition="in" filter="dissolve">
                                      <p:cBhvr>
                                        <p:cTn id="10" dur="500"/>
                                        <p:tgtEl>
                                          <p:spTgt spid="21300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3002">
                                            <p:txEl>
                                              <p:charRg st="0" end="54"/>
                                            </p:txEl>
                                          </p:spTgt>
                                        </p:tgtEl>
                                        <p:attrNameLst>
                                          <p:attrName>style.visibility</p:attrName>
                                        </p:attrNameLst>
                                      </p:cBhvr>
                                      <p:to>
                                        <p:strVal val="visible"/>
                                      </p:to>
                                    </p:set>
                                    <p:animEffect transition="in" filter="dissolve">
                                      <p:cBhvr>
                                        <p:cTn id="15" dur="500"/>
                                        <p:tgtEl>
                                          <p:spTgt spid="213002">
                                            <p:txEl>
                                              <p:charRg st="0" end="5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1379"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
        <p:nvSpPr>
          <p:cNvPr id="237572" name="Text Box 4"/>
          <p:cNvSpPr txBox="1"/>
          <p:nvPr/>
        </p:nvSpPr>
        <p:spPr>
          <a:xfrm>
            <a:off x="647700" y="3648075"/>
            <a:ext cx="7634288"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实际结构（合并两个积分器）：</a:t>
            </a:r>
            <a:endParaRPr lang="zh-CN" altLang="en-US" sz="2400" dirty="0">
              <a:solidFill>
                <a:srgbClr val="FF0000"/>
              </a:solidFill>
              <a:latin typeface="黑体" panose="02010609060101010101" pitchFamily="49" charset="-122"/>
              <a:ea typeface="黑体" panose="02010609060101010101" pitchFamily="49" charset="-122"/>
            </a:endParaRPr>
          </a:p>
        </p:txBody>
      </p:sp>
      <p:pic>
        <p:nvPicPr>
          <p:cNvPr id="237573" name="Picture 5"/>
          <p:cNvPicPr>
            <a:picLocks noChangeAspect="1"/>
          </p:cNvPicPr>
          <p:nvPr/>
        </p:nvPicPr>
        <p:blipFill>
          <a:blip r:embed="rId1"/>
          <a:stretch>
            <a:fillRect/>
          </a:stretch>
        </p:blipFill>
        <p:spPr>
          <a:xfrm>
            <a:off x="636588" y="4211638"/>
            <a:ext cx="8067675" cy="2038350"/>
          </a:xfrm>
          <a:prstGeom prst="rect">
            <a:avLst/>
          </a:prstGeom>
          <a:noFill/>
          <a:ln w="9525">
            <a:noFill/>
          </a:ln>
        </p:spPr>
      </p:pic>
      <p:sp>
        <p:nvSpPr>
          <p:cNvPr id="237574" name="Text Box 6"/>
          <p:cNvSpPr txBox="1"/>
          <p:nvPr/>
        </p:nvSpPr>
        <p:spPr>
          <a:xfrm>
            <a:off x="636588" y="1911350"/>
            <a:ext cx="7645400" cy="1589088"/>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由此可见，∑</a:t>
            </a:r>
            <a:r>
              <a:rPr lang="en-US" altLang="zh-CN" sz="2400" dirty="0">
                <a:solidFill>
                  <a:schemeClr val="accent2"/>
                </a:solidFill>
                <a:latin typeface="黑体" panose="02010609060101010101" pitchFamily="49" charset="-122"/>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调制器输出的调制脉冲中已包含有信号幅度的全部信息，表现为调制脉冲的占空比。</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因此，只要将调制脉冲译码并用数字滤波器滤除有用频带外的高频量化噪声即可得到信号的转换结果。</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101383"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7574">
                                            <p:txEl>
                                              <p:charRg st="0" end="50"/>
                                            </p:txEl>
                                          </p:spTgt>
                                        </p:tgtEl>
                                        <p:attrNameLst>
                                          <p:attrName>style.visibility</p:attrName>
                                        </p:attrNameLst>
                                      </p:cBhvr>
                                      <p:to>
                                        <p:strVal val="visible"/>
                                      </p:to>
                                    </p:set>
                                    <p:animEffect transition="in" filter="dissolve">
                                      <p:cBhvr>
                                        <p:cTn id="7" dur="500"/>
                                        <p:tgtEl>
                                          <p:spTgt spid="237574">
                                            <p:txEl>
                                              <p:charRg st="0" end="5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37574">
                                            <p:txEl>
                                              <p:charRg st="50" end="100"/>
                                            </p:txEl>
                                          </p:spTgt>
                                        </p:tgtEl>
                                        <p:attrNameLst>
                                          <p:attrName>style.visibility</p:attrName>
                                        </p:attrNameLst>
                                      </p:cBhvr>
                                      <p:to>
                                        <p:strVal val="visible"/>
                                      </p:to>
                                    </p:set>
                                    <p:animEffect transition="in" filter="dissolve">
                                      <p:cBhvr>
                                        <p:cTn id="10" dur="500"/>
                                        <p:tgtEl>
                                          <p:spTgt spid="237574">
                                            <p:txEl>
                                              <p:charRg st="50" end="10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37572">
                                            <p:txEl>
                                              <p:charRg st="0" end="15"/>
                                            </p:txEl>
                                          </p:spTgt>
                                        </p:tgtEl>
                                        <p:attrNameLst>
                                          <p:attrName>style.visibility</p:attrName>
                                        </p:attrNameLst>
                                      </p:cBhvr>
                                      <p:to>
                                        <p:strVal val="visible"/>
                                      </p:to>
                                    </p:set>
                                    <p:animEffect transition="in" filter="dissolve">
                                      <p:cBhvr>
                                        <p:cTn id="15" dur="500"/>
                                        <p:tgtEl>
                                          <p:spTgt spid="237572">
                                            <p:txEl>
                                              <p:charRg st="0" end="15"/>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37573"/>
                                        </p:tgtEl>
                                        <p:attrNameLst>
                                          <p:attrName>style.visibility</p:attrName>
                                        </p:attrNameLst>
                                      </p:cBhvr>
                                      <p:to>
                                        <p:strVal val="visible"/>
                                      </p:to>
                                    </p:set>
                                    <p:animEffect transition="in" filter="dissolve">
                                      <p:cBhvr>
                                        <p:cTn id="18" dur="500"/>
                                        <p:tgtEl>
                                          <p:spTgt spid="2375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2403" name="Text Box 5"/>
          <p:cNvSpPr txBox="1"/>
          <p:nvPr/>
        </p:nvSpPr>
        <p:spPr>
          <a:xfrm>
            <a:off x="869950" y="5541963"/>
            <a:ext cx="3922713"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一阶</a:t>
            </a:r>
            <a:r>
              <a:rPr lang="zh-CN" altLang="zh-CN" sz="2400" dirty="0">
                <a:solidFill>
                  <a:srgbClr val="FF0000"/>
                </a:solidFill>
                <a:latin typeface="黑体" panose="02010609060101010101" pitchFamily="49" charset="-122"/>
                <a:ea typeface="黑体" panose="02010609060101010101" pitchFamily="49" charset="-122"/>
              </a:rPr>
              <a:t>∑</a:t>
            </a:r>
            <a:r>
              <a:rPr lang="zh-CN" altLang="en-US" sz="2400" dirty="0">
                <a:solidFill>
                  <a:srgbClr val="FF0000"/>
                </a:solidFill>
                <a:latin typeface="黑体" panose="02010609060101010101" pitchFamily="49" charset="-122"/>
                <a:ea typeface="黑体" panose="02010609060101010101" pitchFamily="49" charset="-122"/>
              </a:rPr>
              <a:t>-</a:t>
            </a:r>
            <a:r>
              <a:rPr lang="zh-CN" altLang="zh-CN" sz="2400" dirty="0">
                <a:solidFill>
                  <a:srgbClr val="FF0000"/>
                </a:solidFill>
                <a:latin typeface="黑体" panose="02010609060101010101" pitchFamily="49" charset="-122"/>
                <a:ea typeface="黑体" panose="02010609060101010101" pitchFamily="49" charset="-122"/>
              </a:rPr>
              <a:t>△</a:t>
            </a:r>
            <a:r>
              <a:rPr lang="zh-CN" altLang="en-US" sz="2400" dirty="0">
                <a:solidFill>
                  <a:srgbClr val="FF0000"/>
                </a:solidFill>
                <a:latin typeface="黑体" panose="02010609060101010101" pitchFamily="49" charset="-122"/>
                <a:ea typeface="黑体" panose="02010609060101010101" pitchFamily="49" charset="-122"/>
              </a:rPr>
              <a:t>型</a:t>
            </a:r>
            <a:r>
              <a:rPr lang="en-US" altLang="zh-CN" sz="2400" dirty="0">
                <a:solidFill>
                  <a:srgbClr val="FF0000"/>
                </a:solidFill>
                <a:latin typeface="黑体" panose="02010609060101010101" pitchFamily="49" charset="-122"/>
                <a:ea typeface="黑体" panose="02010609060101010101" pitchFamily="49" charset="-122"/>
              </a:rPr>
              <a:t>ADC</a:t>
            </a:r>
            <a:r>
              <a:rPr lang="zh-CN" altLang="en-US" sz="2400" dirty="0">
                <a:solidFill>
                  <a:srgbClr val="FF0000"/>
                </a:solidFill>
                <a:latin typeface="黑体" panose="02010609060101010101" pitchFamily="49" charset="-122"/>
                <a:ea typeface="黑体" panose="02010609060101010101" pitchFamily="49" charset="-122"/>
              </a:rPr>
              <a:t>原理框图</a:t>
            </a:r>
            <a:endParaRPr lang="zh-CN" altLang="en-US" sz="2400" dirty="0">
              <a:solidFill>
                <a:srgbClr val="FF0000"/>
              </a:solidFill>
              <a:latin typeface="黑体" panose="02010609060101010101" pitchFamily="49" charset="-122"/>
              <a:ea typeface="黑体" panose="02010609060101010101" pitchFamily="49" charset="-122"/>
            </a:endParaRPr>
          </a:p>
        </p:txBody>
      </p:sp>
      <p:pic>
        <p:nvPicPr>
          <p:cNvPr id="102404" name="Picture 6"/>
          <p:cNvPicPr>
            <a:picLocks noChangeAspect="1"/>
          </p:cNvPicPr>
          <p:nvPr/>
        </p:nvPicPr>
        <p:blipFill>
          <a:blip r:embed="rId1"/>
          <a:stretch>
            <a:fillRect/>
          </a:stretch>
        </p:blipFill>
        <p:spPr>
          <a:xfrm>
            <a:off x="212725" y="1703388"/>
            <a:ext cx="7439025" cy="3838575"/>
          </a:xfrm>
          <a:prstGeom prst="rect">
            <a:avLst/>
          </a:prstGeom>
          <a:noFill/>
          <a:ln w="9525">
            <a:noFill/>
          </a:ln>
        </p:spPr>
      </p:pic>
      <p:sp>
        <p:nvSpPr>
          <p:cNvPr id="102405"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2406" name="Text Box 8"/>
          <p:cNvSpPr txBox="1"/>
          <p:nvPr/>
        </p:nvSpPr>
        <p:spPr>
          <a:xfrm>
            <a:off x="5065713" y="3875088"/>
            <a:ext cx="4078287" cy="2301875"/>
          </a:xfrm>
          <a:prstGeom prst="rect">
            <a:avLst/>
          </a:prstGeom>
          <a:noFill/>
          <a:ln w="9525">
            <a:noFill/>
          </a:ln>
        </p:spPr>
        <p:txBody>
          <a:bodyPr>
            <a:spAutoFit/>
          </a:bodyPr>
          <a:p>
            <a:pPr eaLnBrk="1" hangingPunct="1">
              <a:lnSpc>
                <a:spcPct val="110000"/>
              </a:lnSpc>
              <a:spcBef>
                <a:spcPct val="50000"/>
              </a:spcBef>
            </a:pPr>
            <a:r>
              <a:rPr lang="zh-CN" altLang="en-US" sz="2200" dirty="0">
                <a:solidFill>
                  <a:schemeClr val="accent2"/>
                </a:solidFill>
                <a:latin typeface="黑体" panose="02010609060101010101" pitchFamily="49" charset="-122"/>
                <a:ea typeface="黑体" panose="02010609060101010101" pitchFamily="49" charset="-122"/>
              </a:rPr>
              <a:t>∑</a:t>
            </a:r>
            <a:r>
              <a:rPr lang="en-US" altLang="zh-CN" sz="2200" dirty="0">
                <a:solidFill>
                  <a:schemeClr val="accent2"/>
                </a:solidFill>
                <a:latin typeface="黑体" panose="02010609060101010101" pitchFamily="49" charset="-122"/>
                <a:ea typeface="黑体" panose="02010609060101010101" pitchFamily="49" charset="-122"/>
              </a:rPr>
              <a:t>-△</a:t>
            </a:r>
            <a:r>
              <a:rPr lang="zh-CN" altLang="en-US" sz="2200" dirty="0">
                <a:solidFill>
                  <a:schemeClr val="accent2"/>
                </a:solidFill>
                <a:latin typeface="黑体" panose="02010609060101010101" pitchFamily="49" charset="-122"/>
                <a:ea typeface="黑体" panose="02010609060101010101" pitchFamily="49" charset="-122"/>
              </a:rPr>
              <a:t>调制器以</a:t>
            </a:r>
            <a:r>
              <a:rPr lang="en-US" altLang="zh-CN" sz="2200" i="1" dirty="0">
                <a:solidFill>
                  <a:schemeClr val="accent2"/>
                </a:solidFill>
                <a:latin typeface="Times New Roman" panose="02020603050405020304" pitchFamily="18" charset="0"/>
                <a:ea typeface="黑体" panose="02010609060101010101" pitchFamily="49" charset="-122"/>
              </a:rPr>
              <a:t>Kf</a:t>
            </a:r>
            <a:r>
              <a:rPr lang="en-US" altLang="zh-CN" sz="2200" i="1" baseline="-25000" dirty="0">
                <a:solidFill>
                  <a:schemeClr val="accent2"/>
                </a:solidFill>
                <a:latin typeface="Times New Roman" panose="02020603050405020304" pitchFamily="18" charset="0"/>
                <a:ea typeface="黑体" panose="02010609060101010101" pitchFamily="49" charset="-122"/>
              </a:rPr>
              <a:t>s</a:t>
            </a:r>
            <a:r>
              <a:rPr lang="zh-CN" altLang="en-US" sz="2200" dirty="0">
                <a:solidFill>
                  <a:schemeClr val="accent2"/>
                </a:solidFill>
                <a:latin typeface="黑体" panose="02010609060101010101" pitchFamily="49" charset="-122"/>
                <a:ea typeface="黑体" panose="02010609060101010101" pitchFamily="49" charset="-122"/>
              </a:rPr>
              <a:t>采样速率将输入信号转换为</a:t>
            </a:r>
            <a:r>
              <a:rPr lang="en-US" altLang="zh-CN" sz="2200" dirty="0">
                <a:solidFill>
                  <a:schemeClr val="accent2"/>
                </a:solidFill>
                <a:latin typeface="黑体" panose="02010609060101010101" pitchFamily="49" charset="-122"/>
                <a:ea typeface="黑体" panose="02010609060101010101" pitchFamily="49" charset="-122"/>
              </a:rPr>
              <a:t>1</a:t>
            </a:r>
            <a:r>
              <a:rPr lang="zh-CN" altLang="en-US" sz="2200" dirty="0">
                <a:solidFill>
                  <a:schemeClr val="accent2"/>
                </a:solidFill>
                <a:latin typeface="黑体" panose="02010609060101010101" pitchFamily="49" charset="-122"/>
                <a:ea typeface="黑体" panose="02010609060101010101" pitchFamily="49" charset="-122"/>
              </a:rPr>
              <a:t>和</a:t>
            </a:r>
            <a:r>
              <a:rPr lang="en-US" altLang="zh-CN" sz="2200" dirty="0">
                <a:solidFill>
                  <a:schemeClr val="accent2"/>
                </a:solidFill>
                <a:latin typeface="黑体" panose="02010609060101010101" pitchFamily="49" charset="-122"/>
                <a:ea typeface="黑体" panose="02010609060101010101" pitchFamily="49" charset="-122"/>
              </a:rPr>
              <a:t>0</a:t>
            </a:r>
            <a:r>
              <a:rPr lang="zh-CN" altLang="en-US" sz="2200" dirty="0">
                <a:solidFill>
                  <a:schemeClr val="accent2"/>
                </a:solidFill>
                <a:latin typeface="黑体" panose="02010609060101010101" pitchFamily="49" charset="-122"/>
                <a:ea typeface="黑体" panose="02010609060101010101" pitchFamily="49" charset="-122"/>
              </a:rPr>
              <a:t>构成的连续串行位流，</a:t>
            </a:r>
            <a:r>
              <a:rPr lang="en-US" altLang="zh-CN" sz="2200" dirty="0">
                <a:solidFill>
                  <a:schemeClr val="accent2"/>
                </a:solidFill>
                <a:latin typeface="黑体" panose="02010609060101010101" pitchFamily="49" charset="-122"/>
                <a:ea typeface="黑体" panose="02010609060101010101" pitchFamily="49" charset="-122"/>
              </a:rPr>
              <a:t>1</a:t>
            </a:r>
            <a:r>
              <a:rPr lang="zh-CN" altLang="en-US" sz="2200" dirty="0">
                <a:solidFill>
                  <a:schemeClr val="accent2"/>
                </a:solidFill>
                <a:latin typeface="黑体" panose="02010609060101010101" pitchFamily="49" charset="-122"/>
                <a:ea typeface="黑体" panose="02010609060101010101" pitchFamily="49" charset="-122"/>
              </a:rPr>
              <a:t>位</a:t>
            </a:r>
            <a:r>
              <a:rPr lang="en-US" altLang="zh-CN" sz="2200" dirty="0">
                <a:solidFill>
                  <a:schemeClr val="accent2"/>
                </a:solidFill>
                <a:latin typeface="黑体" panose="02010609060101010101" pitchFamily="49" charset="-122"/>
                <a:ea typeface="黑体" panose="02010609060101010101" pitchFamily="49" charset="-122"/>
              </a:rPr>
              <a:t>DAC</a:t>
            </a:r>
            <a:r>
              <a:rPr lang="zh-CN" altLang="en-US" sz="2200" dirty="0">
                <a:solidFill>
                  <a:schemeClr val="accent2"/>
                </a:solidFill>
                <a:latin typeface="黑体" panose="02010609060101010101" pitchFamily="49" charset="-122"/>
                <a:ea typeface="黑体" panose="02010609060101010101" pitchFamily="49" charset="-122"/>
              </a:rPr>
              <a:t>由串行输出数据流驱动，其输出以反馈形式与输入信号求和，</a:t>
            </a:r>
            <a:r>
              <a:rPr lang="en-US" altLang="zh-CN" sz="2200" dirty="0">
                <a:solidFill>
                  <a:schemeClr val="accent2"/>
                </a:solidFill>
                <a:latin typeface="黑体" panose="02010609060101010101" pitchFamily="49" charset="-122"/>
                <a:ea typeface="黑体" panose="02010609060101010101" pitchFamily="49" charset="-122"/>
              </a:rPr>
              <a:t>DAC</a:t>
            </a:r>
            <a:r>
              <a:rPr lang="zh-CN" altLang="en-US" sz="2200" dirty="0">
                <a:solidFill>
                  <a:schemeClr val="accent2"/>
                </a:solidFill>
                <a:latin typeface="黑体" panose="02010609060101010101" pitchFamily="49" charset="-122"/>
                <a:ea typeface="黑体" panose="02010609060101010101" pitchFamily="49" charset="-122"/>
              </a:rPr>
              <a:t>输出的平均值接近输入信号的平均值。</a:t>
            </a:r>
            <a:endParaRPr lang="zh-CN" altLang="en-US" sz="2200" dirty="0">
              <a:solidFill>
                <a:schemeClr val="accent2"/>
              </a:solidFill>
              <a:latin typeface="黑体" panose="02010609060101010101" pitchFamily="49" charset="-122"/>
              <a:ea typeface="黑体" panose="02010609060101010101" pitchFamily="49" charset="-122"/>
            </a:endParaRPr>
          </a:p>
        </p:txBody>
      </p:sp>
      <p:sp>
        <p:nvSpPr>
          <p:cNvPr id="102407"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Tree>
  </p:cSld>
  <p:clrMapOvr>
    <a:masterClrMapping/>
  </p:clrMapOvr>
  <p:transition spd="med">
    <p:strips/>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15042" name="Text Box 2"/>
          <p:cNvSpPr txBox="1"/>
          <p:nvPr/>
        </p:nvSpPr>
        <p:spPr>
          <a:xfrm>
            <a:off x="404813" y="2338388"/>
            <a:ext cx="3922712" cy="1406525"/>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4.</a:t>
            </a:r>
            <a:r>
              <a:rPr lang="zh-CN" altLang="en-US" sz="2400" dirty="0">
                <a:solidFill>
                  <a:schemeClr val="accent2"/>
                </a:solidFill>
                <a:latin typeface="黑体" panose="02010609060101010101" pitchFamily="49" charset="-122"/>
                <a:ea typeface="黑体" panose="02010609060101010101" pitchFamily="49" charset="-122"/>
              </a:rPr>
              <a:t>此时，</a:t>
            </a:r>
            <a:r>
              <a:rPr lang="en-US" altLang="zh-CN" sz="2400" dirty="0">
                <a:solidFill>
                  <a:schemeClr val="accent2"/>
                </a:solidFill>
                <a:latin typeface="黑体" panose="02010609060101010101" pitchFamily="49" charset="-122"/>
                <a:ea typeface="黑体" panose="02010609060101010101" pitchFamily="49" charset="-122"/>
              </a:rPr>
              <a:t>A</a:t>
            </a:r>
            <a:r>
              <a:rPr lang="zh-CN" altLang="en-US" sz="2400" dirty="0">
                <a:solidFill>
                  <a:schemeClr val="accent2"/>
                </a:solidFill>
                <a:latin typeface="黑体" panose="02010609060101010101" pitchFamily="49" charset="-122"/>
                <a:ea typeface="黑体" panose="02010609060101010101" pitchFamily="49" charset="-122"/>
              </a:rPr>
              <a:t>点电压变为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，这样积分器输入由</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变为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，输出线性减小，其斜率正比于</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endParaRPr lang="en-US" altLang="zh-CN" sz="2400" dirty="0">
              <a:solidFill>
                <a:schemeClr val="accent2"/>
              </a:solidFill>
              <a:latin typeface="黑体" panose="02010609060101010101" pitchFamily="49" charset="-122"/>
              <a:ea typeface="黑体" panose="02010609060101010101" pitchFamily="49" charset="-122"/>
            </a:endParaRPr>
          </a:p>
        </p:txBody>
      </p:sp>
      <p:sp>
        <p:nvSpPr>
          <p:cNvPr id="215043" name="Text Box 3"/>
          <p:cNvSpPr txBox="1"/>
          <p:nvPr/>
        </p:nvSpPr>
        <p:spPr>
          <a:xfrm>
            <a:off x="404813" y="3824288"/>
            <a:ext cx="3922712" cy="1406525"/>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5.</a:t>
            </a:r>
            <a:r>
              <a:rPr lang="zh-CN" altLang="en-US" sz="2400" dirty="0">
                <a:solidFill>
                  <a:schemeClr val="accent2"/>
                </a:solidFill>
                <a:latin typeface="黑体" panose="02010609060101010101" pitchFamily="49" charset="-122"/>
                <a:ea typeface="黑体" panose="02010609060101010101" pitchFamily="49" charset="-122"/>
              </a:rPr>
              <a:t>当</a:t>
            </a:r>
            <a:r>
              <a:rPr lang="en-US" altLang="zh-CN" sz="2400" dirty="0">
                <a:solidFill>
                  <a:schemeClr val="accent2"/>
                </a:solidFill>
                <a:latin typeface="黑体" panose="02010609060101010101" pitchFamily="49" charset="-122"/>
                <a:ea typeface="黑体" panose="02010609060101010101" pitchFamily="49" charset="-122"/>
              </a:rPr>
              <a:t>B</a:t>
            </a:r>
            <a:r>
              <a:rPr lang="zh-CN" altLang="en-US" sz="2400" dirty="0">
                <a:solidFill>
                  <a:schemeClr val="accent2"/>
                </a:solidFill>
                <a:latin typeface="黑体" panose="02010609060101010101" pitchFamily="49" charset="-122"/>
                <a:ea typeface="黑体" panose="02010609060101010101" pitchFamily="49" charset="-122"/>
              </a:rPr>
              <a:t>点电压降至锁存比较器的翻转阈值，比较器翻转，</a:t>
            </a:r>
            <a:r>
              <a:rPr lang="en-US" altLang="zh-CN" sz="2400" dirty="0">
                <a:solidFill>
                  <a:schemeClr val="accent2"/>
                </a:solidFill>
                <a:latin typeface="黑体" panose="02010609060101010101" pitchFamily="49" charset="-122"/>
                <a:ea typeface="黑体" panose="02010609060101010101" pitchFamily="49" charset="-122"/>
              </a:rPr>
              <a:t>C</a:t>
            </a:r>
            <a:r>
              <a:rPr lang="zh-CN" altLang="en-US" sz="2400" dirty="0">
                <a:solidFill>
                  <a:schemeClr val="accent2"/>
                </a:solidFill>
                <a:latin typeface="黑体" panose="02010609060101010101" pitchFamily="49" charset="-122"/>
                <a:ea typeface="黑体" panose="02010609060101010101" pitchFamily="49" charset="-122"/>
              </a:rPr>
              <a:t>点输出为</a:t>
            </a:r>
            <a:r>
              <a:rPr lang="en-US" altLang="zh-CN" sz="2400" dirty="0">
                <a:solidFill>
                  <a:schemeClr val="accent2"/>
                </a:solidFill>
                <a:latin typeface="黑体" panose="02010609060101010101" pitchFamily="49" charset="-122"/>
                <a:ea typeface="黑体" panose="02010609060101010101" pitchFamily="49" charset="-122"/>
              </a:rPr>
              <a:t>0</a:t>
            </a:r>
            <a:r>
              <a:rPr lang="zh-CN" altLang="en-US" sz="2400" dirty="0">
                <a:solidFill>
                  <a:schemeClr val="accent2"/>
                </a:solidFill>
                <a:latin typeface="黑体" panose="02010609060101010101" pitchFamily="49" charset="-122"/>
                <a:ea typeface="黑体" panose="02010609060101010101" pitchFamily="49" charset="-122"/>
              </a:rPr>
              <a:t>，一位</a:t>
            </a:r>
            <a:r>
              <a:rPr lang="en-US" altLang="zh-CN" sz="2400" dirty="0">
                <a:solidFill>
                  <a:schemeClr val="accent2"/>
                </a:solidFill>
                <a:latin typeface="黑体" panose="02010609060101010101" pitchFamily="49" charset="-122"/>
                <a:ea typeface="黑体" panose="02010609060101010101" pitchFamily="49" charset="-122"/>
              </a:rPr>
              <a:t>DAC</a:t>
            </a:r>
            <a:r>
              <a:rPr lang="zh-CN" altLang="en-US" sz="2400" dirty="0">
                <a:solidFill>
                  <a:schemeClr val="accent2"/>
                </a:solidFill>
                <a:latin typeface="黑体" panose="02010609060101010101" pitchFamily="49" charset="-122"/>
                <a:ea typeface="黑体" panose="02010609060101010101" pitchFamily="49" charset="-122"/>
              </a:rPr>
              <a:t>的输出</a:t>
            </a:r>
            <a:r>
              <a:rPr lang="en-US" altLang="zh-CN" sz="2400" dirty="0">
                <a:solidFill>
                  <a:schemeClr val="accent2"/>
                </a:solidFill>
                <a:latin typeface="黑体" panose="02010609060101010101" pitchFamily="49" charset="-122"/>
                <a:ea typeface="黑体" panose="02010609060101010101" pitchFamily="49" charset="-122"/>
              </a:rPr>
              <a:t>D</a:t>
            </a:r>
            <a:r>
              <a:rPr lang="zh-CN" altLang="en-US" sz="2400" dirty="0">
                <a:solidFill>
                  <a:schemeClr val="accent2"/>
                </a:solidFill>
                <a:latin typeface="黑体" panose="02010609060101010101" pitchFamily="49" charset="-122"/>
                <a:ea typeface="黑体" panose="02010609060101010101" pitchFamily="49" charset="-122"/>
              </a:rPr>
              <a:t>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endParaRPr lang="en-US" altLang="zh-CN" sz="2400" baseline="-25000" dirty="0">
              <a:solidFill>
                <a:schemeClr val="accent2"/>
              </a:solidFill>
              <a:latin typeface="黑体" panose="02010609060101010101" pitchFamily="49" charset="-122"/>
              <a:ea typeface="黑体" panose="02010609060101010101" pitchFamily="49" charset="-122"/>
            </a:endParaRPr>
          </a:p>
        </p:txBody>
      </p:sp>
      <p:sp>
        <p:nvSpPr>
          <p:cNvPr id="215044" name="Text Box 4"/>
          <p:cNvSpPr txBox="1"/>
          <p:nvPr/>
        </p:nvSpPr>
        <p:spPr>
          <a:xfrm>
            <a:off x="392113" y="5253038"/>
            <a:ext cx="3922712" cy="749300"/>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6.A</a:t>
            </a:r>
            <a:r>
              <a:rPr lang="zh-CN" altLang="en-US" sz="2400" dirty="0">
                <a:solidFill>
                  <a:schemeClr val="accent2"/>
                </a:solidFill>
                <a:latin typeface="黑体" panose="02010609060101010101" pitchFamily="49" charset="-122"/>
                <a:ea typeface="黑体" panose="02010609060101010101" pitchFamily="49" charset="-122"/>
              </a:rPr>
              <a:t>点电压又变为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，如此不断循环。</a:t>
            </a:r>
            <a:endParaRPr lang="en-US" altLang="zh-CN" sz="2400" dirty="0">
              <a:solidFill>
                <a:schemeClr val="accent2"/>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3430" name="Text Box 8"/>
          <p:cNvSpPr txBox="1"/>
          <p:nvPr/>
        </p:nvSpPr>
        <p:spPr>
          <a:xfrm>
            <a:off x="636588" y="1892300"/>
            <a:ext cx="3922712" cy="420688"/>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当输入电压为</a:t>
            </a:r>
            <a:r>
              <a:rPr lang="en-US" altLang="zh-CN" sz="2400" dirty="0">
                <a:solidFill>
                  <a:schemeClr val="tx1"/>
                </a:solidFill>
                <a:latin typeface="黑体" panose="02010609060101010101" pitchFamily="49" charset="-122"/>
                <a:ea typeface="黑体" panose="02010609060101010101" pitchFamily="49" charset="-122"/>
              </a:rPr>
              <a:t>V</a:t>
            </a:r>
            <a:r>
              <a:rPr lang="en-US" altLang="zh-CN" sz="2400" baseline="-25000" dirty="0">
                <a:solidFill>
                  <a:schemeClr val="tx1"/>
                </a:solidFill>
                <a:latin typeface="黑体" panose="02010609060101010101" pitchFamily="49" charset="-122"/>
                <a:ea typeface="黑体" panose="02010609060101010101" pitchFamily="49" charset="-122"/>
              </a:rPr>
              <a:t>in</a:t>
            </a:r>
            <a:r>
              <a:rPr lang="en-US" altLang="zh-CN" sz="2400" dirty="0">
                <a:solidFill>
                  <a:schemeClr val="tx1"/>
                </a:solidFill>
                <a:latin typeface="黑体" panose="02010609060101010101" pitchFamily="49" charset="-122"/>
                <a:ea typeface="黑体" panose="02010609060101010101" pitchFamily="49" charset="-122"/>
              </a:rPr>
              <a:t>=0</a:t>
            </a:r>
            <a:r>
              <a:rPr lang="zh-CN" altLang="en-US" sz="2400" dirty="0">
                <a:solidFill>
                  <a:schemeClr val="tx1"/>
                </a:solidFill>
                <a:latin typeface="黑体" panose="02010609060101010101" pitchFamily="49" charset="-122"/>
                <a:ea typeface="黑体" panose="02010609060101010101" pitchFamily="49" charset="-122"/>
              </a:rPr>
              <a:t>时</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15050" name="Text Box 10"/>
          <p:cNvSpPr txBox="1"/>
          <p:nvPr/>
        </p:nvSpPr>
        <p:spPr>
          <a:xfrm>
            <a:off x="404813" y="2343150"/>
            <a:ext cx="3922712" cy="420688"/>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1.A</a:t>
            </a:r>
            <a:r>
              <a:rPr lang="zh-CN" altLang="en-US" sz="2400" dirty="0">
                <a:solidFill>
                  <a:schemeClr val="accent2"/>
                </a:solidFill>
                <a:latin typeface="黑体" panose="02010609060101010101" pitchFamily="49" charset="-122"/>
                <a:ea typeface="黑体" panose="02010609060101010101" pitchFamily="49" charset="-122"/>
              </a:rPr>
              <a:t>点电压为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和</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endParaRPr lang="en-US" altLang="zh-CN" sz="2400" baseline="-25000" dirty="0">
              <a:solidFill>
                <a:schemeClr val="accent2"/>
              </a:solidFill>
              <a:latin typeface="黑体" panose="02010609060101010101" pitchFamily="49" charset="-122"/>
              <a:ea typeface="黑体" panose="02010609060101010101" pitchFamily="49" charset="-122"/>
            </a:endParaRPr>
          </a:p>
        </p:txBody>
      </p:sp>
      <p:sp>
        <p:nvSpPr>
          <p:cNvPr id="215051" name="Text Box 11"/>
          <p:cNvSpPr txBox="1"/>
          <p:nvPr/>
        </p:nvSpPr>
        <p:spPr>
          <a:xfrm>
            <a:off x="404813" y="2763838"/>
            <a:ext cx="3922712" cy="1406525"/>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2.B</a:t>
            </a:r>
            <a:r>
              <a:rPr lang="zh-CN" altLang="en-US" sz="2400" dirty="0">
                <a:solidFill>
                  <a:schemeClr val="accent2"/>
                </a:solidFill>
                <a:latin typeface="黑体" panose="02010609060101010101" pitchFamily="49" charset="-122"/>
                <a:ea typeface="黑体" panose="02010609060101010101" pitchFamily="49" charset="-122"/>
              </a:rPr>
              <a:t>点为积分器输出。假定积分器输入为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，那么积分器输出线性增加，其斜率正比于</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endParaRPr lang="en-US" altLang="zh-CN" sz="2400" baseline="-25000" dirty="0">
              <a:solidFill>
                <a:schemeClr val="accent2"/>
              </a:solidFill>
              <a:latin typeface="黑体" panose="02010609060101010101" pitchFamily="49" charset="-122"/>
              <a:ea typeface="黑体" panose="02010609060101010101" pitchFamily="49" charset="-122"/>
            </a:endParaRPr>
          </a:p>
        </p:txBody>
      </p:sp>
      <p:sp>
        <p:nvSpPr>
          <p:cNvPr id="215052" name="Text Box 12"/>
          <p:cNvSpPr txBox="1"/>
          <p:nvPr/>
        </p:nvSpPr>
        <p:spPr>
          <a:xfrm>
            <a:off x="404813" y="4170363"/>
            <a:ext cx="3922712" cy="1406525"/>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3.</a:t>
            </a:r>
            <a:r>
              <a:rPr lang="zh-CN" altLang="en-US" sz="2400" dirty="0">
                <a:solidFill>
                  <a:schemeClr val="accent2"/>
                </a:solidFill>
                <a:latin typeface="黑体" panose="02010609060101010101" pitchFamily="49" charset="-122"/>
                <a:ea typeface="黑体" panose="02010609060101010101" pitchFamily="49" charset="-122"/>
              </a:rPr>
              <a:t>当</a:t>
            </a:r>
            <a:r>
              <a:rPr lang="en-US" altLang="zh-CN" sz="2400" dirty="0">
                <a:solidFill>
                  <a:schemeClr val="accent2"/>
                </a:solidFill>
                <a:latin typeface="黑体" panose="02010609060101010101" pitchFamily="49" charset="-122"/>
                <a:ea typeface="黑体" panose="02010609060101010101" pitchFamily="49" charset="-122"/>
              </a:rPr>
              <a:t>B</a:t>
            </a:r>
            <a:r>
              <a:rPr lang="zh-CN" altLang="en-US" sz="2400" dirty="0">
                <a:solidFill>
                  <a:schemeClr val="accent2"/>
                </a:solidFill>
                <a:latin typeface="黑体" panose="02010609060101010101" pitchFamily="49" charset="-122"/>
                <a:ea typeface="黑体" panose="02010609060101010101" pitchFamily="49" charset="-122"/>
              </a:rPr>
              <a:t>点电压增至锁存比较器的翻转阈值，比较器翻转，</a:t>
            </a:r>
            <a:r>
              <a:rPr lang="en-US" altLang="zh-CN" sz="2400" dirty="0">
                <a:solidFill>
                  <a:schemeClr val="accent2"/>
                </a:solidFill>
                <a:latin typeface="黑体" panose="02010609060101010101" pitchFamily="49" charset="-122"/>
                <a:ea typeface="黑体" panose="02010609060101010101" pitchFamily="49" charset="-122"/>
              </a:rPr>
              <a:t>C</a:t>
            </a:r>
            <a:r>
              <a:rPr lang="zh-CN" altLang="en-US" sz="2400" dirty="0">
                <a:solidFill>
                  <a:schemeClr val="accent2"/>
                </a:solidFill>
                <a:latin typeface="黑体" panose="02010609060101010101" pitchFamily="49" charset="-122"/>
                <a:ea typeface="黑体" panose="02010609060101010101" pitchFamily="49" charset="-122"/>
              </a:rPr>
              <a:t>点输出为</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，一位</a:t>
            </a:r>
            <a:r>
              <a:rPr lang="en-US" altLang="zh-CN" sz="2400" dirty="0">
                <a:solidFill>
                  <a:schemeClr val="accent2"/>
                </a:solidFill>
                <a:latin typeface="黑体" panose="02010609060101010101" pitchFamily="49" charset="-122"/>
                <a:ea typeface="黑体" panose="02010609060101010101" pitchFamily="49" charset="-122"/>
              </a:rPr>
              <a:t>DAC</a:t>
            </a:r>
            <a:r>
              <a:rPr lang="zh-CN" altLang="en-US" sz="2400" dirty="0">
                <a:solidFill>
                  <a:schemeClr val="accent2"/>
                </a:solidFill>
                <a:latin typeface="黑体" panose="02010609060101010101" pitchFamily="49" charset="-122"/>
                <a:ea typeface="黑体" panose="02010609060101010101" pitchFamily="49" charset="-122"/>
              </a:rPr>
              <a:t>的输出</a:t>
            </a:r>
            <a:r>
              <a:rPr lang="en-US" altLang="zh-CN" sz="2400" dirty="0">
                <a:solidFill>
                  <a:schemeClr val="accent2"/>
                </a:solidFill>
                <a:latin typeface="黑体" panose="02010609060101010101" pitchFamily="49" charset="-122"/>
                <a:ea typeface="黑体" panose="02010609060101010101" pitchFamily="49" charset="-122"/>
              </a:rPr>
              <a:t>D</a:t>
            </a:r>
            <a:r>
              <a:rPr lang="zh-CN" altLang="en-US" sz="2400" dirty="0">
                <a:solidFill>
                  <a:schemeClr val="accent2"/>
                </a:solidFill>
                <a:latin typeface="黑体" panose="02010609060101010101" pitchFamily="49" charset="-122"/>
                <a:ea typeface="黑体" panose="02010609060101010101" pitchFamily="49" charset="-122"/>
              </a:rPr>
              <a:t>为</a:t>
            </a:r>
            <a:r>
              <a:rPr lang="en-US" altLang="zh-CN" sz="2400" dirty="0">
                <a:solidFill>
                  <a:schemeClr val="accent2"/>
                </a:solidFill>
                <a:latin typeface="黑体" panose="02010609060101010101" pitchFamily="49" charset="-122"/>
                <a:ea typeface="黑体" panose="02010609060101010101" pitchFamily="49" charset="-122"/>
              </a:rPr>
              <a:t>+V</a:t>
            </a:r>
            <a:r>
              <a:rPr lang="en-US" altLang="zh-CN" sz="2400" baseline="-25000" dirty="0">
                <a:solidFill>
                  <a:schemeClr val="accent2"/>
                </a:solidFill>
                <a:latin typeface="黑体" panose="02010609060101010101" pitchFamily="49" charset="-122"/>
                <a:ea typeface="黑体" panose="02010609060101010101" pitchFamily="49" charset="-122"/>
              </a:rPr>
              <a:t>ref</a:t>
            </a:r>
            <a:endParaRPr lang="zh-CN" altLang="en-US" sz="2400" baseline="-25000" dirty="0">
              <a:solidFill>
                <a:schemeClr val="accent2"/>
              </a:solidFill>
              <a:latin typeface="黑体" panose="02010609060101010101" pitchFamily="49" charset="-122"/>
              <a:ea typeface="黑体" panose="02010609060101010101" pitchFamily="49" charset="-122"/>
            </a:endParaRPr>
          </a:p>
        </p:txBody>
      </p:sp>
      <p:sp>
        <p:nvSpPr>
          <p:cNvPr id="103434"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3435"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pic>
        <p:nvPicPr>
          <p:cNvPr id="103436" name="Picture 9"/>
          <p:cNvPicPr>
            <a:picLocks noChangeAspect="1"/>
          </p:cNvPicPr>
          <p:nvPr/>
        </p:nvPicPr>
        <p:blipFill>
          <a:blip r:embed="rId1"/>
          <a:stretch>
            <a:fillRect/>
          </a:stretch>
        </p:blipFill>
        <p:spPr>
          <a:xfrm>
            <a:off x="4559300" y="1201738"/>
            <a:ext cx="4543425" cy="5067300"/>
          </a:xfrm>
          <a:prstGeom prst="rect">
            <a:avLst/>
          </a:prstGeom>
          <a:noFill/>
          <a:ln w="9525">
            <a:noFill/>
          </a:ln>
        </p:spPr>
      </p:pic>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15050"/>
                                        </p:tgtEl>
                                        <p:attrNameLst>
                                          <p:attrName>style.visibility</p:attrName>
                                        </p:attrNameLst>
                                      </p:cBhvr>
                                      <p:to>
                                        <p:strVal val="visible"/>
                                      </p:to>
                                    </p:set>
                                    <p:animEffect transition="in" filter="blinds(horizontal)">
                                      <p:cBhvr>
                                        <p:cTn id="7" dur="500"/>
                                        <p:tgtEl>
                                          <p:spTgt spid="21505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15051"/>
                                        </p:tgtEl>
                                        <p:attrNameLst>
                                          <p:attrName>style.visibility</p:attrName>
                                        </p:attrNameLst>
                                      </p:cBhvr>
                                      <p:to>
                                        <p:strVal val="visible"/>
                                      </p:to>
                                    </p:set>
                                    <p:animEffect transition="in" filter="blinds(horizontal)">
                                      <p:cBhvr>
                                        <p:cTn id="12" dur="500"/>
                                        <p:tgtEl>
                                          <p:spTgt spid="215051"/>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15052"/>
                                        </p:tgtEl>
                                        <p:attrNameLst>
                                          <p:attrName>style.visibility</p:attrName>
                                        </p:attrNameLst>
                                      </p:cBhvr>
                                      <p:to>
                                        <p:strVal val="visible"/>
                                      </p:to>
                                    </p:set>
                                    <p:animEffect transition="in" filter="blinds(horizontal)">
                                      <p:cBhvr>
                                        <p:cTn id="17" dur="500"/>
                                        <p:tgtEl>
                                          <p:spTgt spid="215052"/>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xit" presetSubtype="10" fill="hold" grpId="1" nodeType="clickEffect">
                                  <p:stCondLst>
                                    <p:cond delay="0"/>
                                  </p:stCondLst>
                                  <p:childTnLst>
                                    <p:animEffect transition="out" filter="blinds(horizontal)">
                                      <p:cBhvr>
                                        <p:cTn id="21" dur="500"/>
                                        <p:tgtEl>
                                          <p:spTgt spid="215050"/>
                                        </p:tgtEl>
                                      </p:cBhvr>
                                    </p:animEffect>
                                    <p:set>
                                      <p:cBhvr>
                                        <p:cTn id="22" dur="1" fill="hold">
                                          <p:stCondLst>
                                            <p:cond delay="499"/>
                                          </p:stCondLst>
                                        </p:cTn>
                                        <p:tgtEl>
                                          <p:spTgt spid="215050"/>
                                        </p:tgtEl>
                                        <p:attrNameLst>
                                          <p:attrName>style.visibility</p:attrName>
                                        </p:attrNameLst>
                                      </p:cBhvr>
                                      <p:to>
                                        <p:strVal val="hidden"/>
                                      </p:to>
                                    </p:set>
                                  </p:childTnLst>
                                </p:cTn>
                              </p:par>
                              <p:par>
                                <p:cTn id="23" presetID="3" presetClass="exit" presetSubtype="10" fill="hold" grpId="1" nodeType="withEffect">
                                  <p:stCondLst>
                                    <p:cond delay="0"/>
                                  </p:stCondLst>
                                  <p:childTnLst>
                                    <p:animEffect transition="out" filter="blinds(horizontal)">
                                      <p:cBhvr>
                                        <p:cTn id="24" dur="500"/>
                                        <p:tgtEl>
                                          <p:spTgt spid="215051"/>
                                        </p:tgtEl>
                                      </p:cBhvr>
                                    </p:animEffect>
                                    <p:set>
                                      <p:cBhvr>
                                        <p:cTn id="25" dur="1" fill="hold">
                                          <p:stCondLst>
                                            <p:cond delay="499"/>
                                          </p:stCondLst>
                                        </p:cTn>
                                        <p:tgtEl>
                                          <p:spTgt spid="215051"/>
                                        </p:tgtEl>
                                        <p:attrNameLst>
                                          <p:attrName>style.visibility</p:attrName>
                                        </p:attrNameLst>
                                      </p:cBhvr>
                                      <p:to>
                                        <p:strVal val="hidden"/>
                                      </p:to>
                                    </p:set>
                                  </p:childTnLst>
                                </p:cTn>
                              </p:par>
                              <p:par>
                                <p:cTn id="26" presetID="3" presetClass="exit" presetSubtype="10" fill="hold" grpId="1" nodeType="withEffect">
                                  <p:stCondLst>
                                    <p:cond delay="0"/>
                                  </p:stCondLst>
                                  <p:childTnLst>
                                    <p:animEffect transition="out" filter="blinds(horizontal)">
                                      <p:cBhvr>
                                        <p:cTn id="27" dur="500"/>
                                        <p:tgtEl>
                                          <p:spTgt spid="215052"/>
                                        </p:tgtEl>
                                      </p:cBhvr>
                                    </p:animEffect>
                                    <p:set>
                                      <p:cBhvr>
                                        <p:cTn id="28" dur="1" fill="hold">
                                          <p:stCondLst>
                                            <p:cond delay="499"/>
                                          </p:stCondLst>
                                        </p:cTn>
                                        <p:tgtEl>
                                          <p:spTgt spid="21505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215042"/>
                                        </p:tgtEl>
                                        <p:attrNameLst>
                                          <p:attrName>style.visibility</p:attrName>
                                        </p:attrNameLst>
                                      </p:cBhvr>
                                      <p:to>
                                        <p:strVal val="visible"/>
                                      </p:to>
                                    </p:set>
                                    <p:animEffect transition="in" filter="blinds(horizontal)">
                                      <p:cBhvr>
                                        <p:cTn id="33" dur="500"/>
                                        <p:tgtEl>
                                          <p:spTgt spid="215042"/>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grpId="0" nodeType="clickEffect">
                                  <p:stCondLst>
                                    <p:cond delay="0"/>
                                  </p:stCondLst>
                                  <p:childTnLst>
                                    <p:set>
                                      <p:cBhvr>
                                        <p:cTn id="37" dur="1" fill="hold">
                                          <p:stCondLst>
                                            <p:cond delay="0"/>
                                          </p:stCondLst>
                                        </p:cTn>
                                        <p:tgtEl>
                                          <p:spTgt spid="215043"/>
                                        </p:tgtEl>
                                        <p:attrNameLst>
                                          <p:attrName>style.visibility</p:attrName>
                                        </p:attrNameLst>
                                      </p:cBhvr>
                                      <p:to>
                                        <p:strVal val="visible"/>
                                      </p:to>
                                    </p:set>
                                    <p:animEffect transition="in" filter="blinds(horizontal)">
                                      <p:cBhvr>
                                        <p:cTn id="38" dur="500"/>
                                        <p:tgtEl>
                                          <p:spTgt spid="215043"/>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215044"/>
                                        </p:tgtEl>
                                        <p:attrNameLst>
                                          <p:attrName>style.visibility</p:attrName>
                                        </p:attrNameLst>
                                      </p:cBhvr>
                                      <p:to>
                                        <p:strVal val="visible"/>
                                      </p:to>
                                    </p:set>
                                    <p:animEffect transition="in" filter="blinds(horizontal)">
                                      <p:cBhvr>
                                        <p:cTn id="43" dur="500"/>
                                        <p:tgtEl>
                                          <p:spTgt spid="2150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42" grpId="0"/>
      <p:bldP spid="215043" grpId="0"/>
      <p:bldP spid="215044" grpId="0"/>
      <p:bldP spid="215050" grpId="0"/>
      <p:bldP spid="215050" grpId="1"/>
      <p:bldP spid="215051" grpId="0"/>
      <p:bldP spid="215051" grpId="1"/>
      <p:bldP spid="215052" grpId="0"/>
      <p:bldP spid="215052" grpId="1"/>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4451" name="Text Box 5"/>
          <p:cNvSpPr txBox="1"/>
          <p:nvPr/>
        </p:nvSpPr>
        <p:spPr>
          <a:xfrm>
            <a:off x="636588" y="1914525"/>
            <a:ext cx="7821612" cy="3341688"/>
          </a:xfrm>
          <a:prstGeom prst="rect">
            <a:avLst/>
          </a:prstGeom>
          <a:noFill/>
          <a:ln w="9525">
            <a:noFill/>
          </a:ln>
        </p:spPr>
        <p:txBody>
          <a:bodyPr>
            <a:spAutoFit/>
          </a:bodyPr>
          <a:p>
            <a:pPr eaLnBrk="1" hangingPunct="1">
              <a:lnSpc>
                <a:spcPct val="12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tx1"/>
                </a:solidFill>
                <a:latin typeface="黑体" panose="02010609060101010101" pitchFamily="49" charset="-122"/>
                <a:ea typeface="黑体" panose="02010609060101010101" pitchFamily="49" charset="-122"/>
              </a:rPr>
              <a:t>当输入电压为</a:t>
            </a:r>
            <a:r>
              <a:rPr lang="en-US" altLang="zh-CN" sz="2400" dirty="0">
                <a:solidFill>
                  <a:schemeClr val="tx1"/>
                </a:solidFill>
                <a:latin typeface="黑体" panose="02010609060101010101" pitchFamily="49" charset="-122"/>
                <a:ea typeface="黑体" panose="02010609060101010101" pitchFamily="49" charset="-122"/>
              </a:rPr>
              <a:t>V</a:t>
            </a:r>
            <a:r>
              <a:rPr lang="en-US" altLang="zh-CN" sz="2400" baseline="-25000" dirty="0">
                <a:solidFill>
                  <a:schemeClr val="tx1"/>
                </a:solidFill>
                <a:latin typeface="黑体" panose="02010609060101010101" pitchFamily="49" charset="-122"/>
                <a:ea typeface="黑体" panose="02010609060101010101" pitchFamily="49" charset="-122"/>
              </a:rPr>
              <a:t>in</a:t>
            </a:r>
            <a:r>
              <a:rPr lang="en-US" altLang="zh-CN" sz="2400" dirty="0">
                <a:solidFill>
                  <a:schemeClr val="tx1"/>
                </a:solidFill>
                <a:latin typeface="黑体" panose="02010609060101010101" pitchFamily="49" charset="-122"/>
                <a:ea typeface="黑体" panose="02010609060101010101" pitchFamily="49" charset="-122"/>
              </a:rPr>
              <a:t>=0</a:t>
            </a:r>
            <a:r>
              <a:rPr lang="zh-CN" altLang="en-US" sz="2400" dirty="0">
                <a:solidFill>
                  <a:schemeClr val="tx1"/>
                </a:solidFill>
                <a:latin typeface="黑体" panose="02010609060101010101" pitchFamily="49" charset="-122"/>
                <a:ea typeface="黑体" panose="02010609060101010101" pitchFamily="49" charset="-122"/>
              </a:rPr>
              <a:t>时</a:t>
            </a:r>
            <a:r>
              <a:rPr lang="zh-CN" altLang="en-US" sz="2400" dirty="0">
                <a:solidFill>
                  <a:schemeClr val="accent2"/>
                </a:solidFill>
                <a:latin typeface="黑体" panose="02010609060101010101" pitchFamily="49" charset="-122"/>
                <a:ea typeface="黑体" panose="02010609060101010101" pitchFamily="49" charset="-122"/>
              </a:rPr>
              <a:t>，锁存比较器的输出</a:t>
            </a:r>
            <a:r>
              <a:rPr lang="en-US" altLang="zh-CN" sz="2400" dirty="0">
                <a:solidFill>
                  <a:schemeClr val="accent2"/>
                </a:solidFill>
                <a:latin typeface="黑体" panose="02010609060101010101" pitchFamily="49" charset="-122"/>
                <a:ea typeface="黑体" panose="02010609060101010101" pitchFamily="49" charset="-122"/>
              </a:rPr>
              <a:t>C</a:t>
            </a:r>
            <a:r>
              <a:rPr lang="zh-CN" altLang="en-US" sz="2400" dirty="0">
                <a:solidFill>
                  <a:schemeClr val="accent2"/>
                </a:solidFill>
                <a:latin typeface="黑体" panose="02010609060101010101" pitchFamily="49" charset="-122"/>
                <a:ea typeface="黑体" panose="02010609060101010101" pitchFamily="49" charset="-122"/>
              </a:rPr>
              <a:t>点为</a:t>
            </a:r>
            <a:r>
              <a:rPr lang="en-US" altLang="zh-CN" sz="2400" dirty="0">
                <a:solidFill>
                  <a:schemeClr val="accent2"/>
                </a:solidFill>
                <a:latin typeface="黑体" panose="02010609060101010101" pitchFamily="49" charset="-122"/>
                <a:ea typeface="黑体" panose="02010609060101010101" pitchFamily="49" charset="-122"/>
              </a:rPr>
              <a:t>0</a:t>
            </a:r>
            <a:r>
              <a:rPr lang="zh-CN" altLang="en-US" sz="2400" dirty="0">
                <a:solidFill>
                  <a:schemeClr val="accent2"/>
                </a:solidFill>
                <a:latin typeface="黑体" panose="02010609060101010101" pitchFamily="49" charset="-122"/>
                <a:ea typeface="黑体" panose="02010609060101010101" pitchFamily="49" charset="-122"/>
              </a:rPr>
              <a:t>、</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相间的数据流，如果数字滤波器对每</a:t>
            </a:r>
            <a:r>
              <a:rPr lang="en-US" altLang="zh-CN" sz="2400" dirty="0">
                <a:solidFill>
                  <a:schemeClr val="accent2"/>
                </a:solidFill>
                <a:latin typeface="黑体" panose="02010609060101010101" pitchFamily="49" charset="-122"/>
                <a:ea typeface="黑体" panose="02010609060101010101" pitchFamily="49" charset="-122"/>
              </a:rPr>
              <a:t>8</a:t>
            </a:r>
            <a:r>
              <a:rPr lang="zh-CN" altLang="en-US" sz="2400" dirty="0">
                <a:solidFill>
                  <a:schemeClr val="accent2"/>
                </a:solidFill>
                <a:latin typeface="黑体" panose="02010609060101010101" pitchFamily="49" charset="-122"/>
                <a:ea typeface="黑体" panose="02010609060101010101" pitchFamily="49" charset="-122"/>
              </a:rPr>
              <a:t>个采样值取平均，输出结果为</a:t>
            </a:r>
            <a:r>
              <a:rPr lang="en-US" altLang="zh-CN" sz="2400" dirty="0">
                <a:solidFill>
                  <a:schemeClr val="accent2"/>
                </a:solidFill>
                <a:latin typeface="黑体" panose="02010609060101010101" pitchFamily="49" charset="-122"/>
                <a:ea typeface="黑体" panose="02010609060101010101" pitchFamily="49" charset="-122"/>
              </a:rPr>
              <a:t>4/8</a:t>
            </a:r>
            <a:r>
              <a:rPr lang="zh-CN" altLang="en-US" sz="2400" dirty="0">
                <a:solidFill>
                  <a:schemeClr val="accent2"/>
                </a:solidFill>
                <a:latin typeface="黑体" panose="02010609060101010101" pitchFamily="49" charset="-122"/>
                <a:ea typeface="黑体" panose="02010609060101010101" pitchFamily="49" charset="-122"/>
              </a:rPr>
              <a:t>，对应</a:t>
            </a:r>
            <a:r>
              <a:rPr lang="en-US" altLang="zh-CN" sz="2400" dirty="0">
                <a:solidFill>
                  <a:schemeClr val="accent2"/>
                </a:solidFill>
                <a:latin typeface="黑体" panose="02010609060101010101" pitchFamily="49" charset="-122"/>
                <a:ea typeface="黑体" panose="02010609060101010101" pitchFamily="49" charset="-122"/>
              </a:rPr>
              <a:t>3</a:t>
            </a:r>
            <a:r>
              <a:rPr lang="zh-CN" altLang="en-US" sz="2400" dirty="0">
                <a:solidFill>
                  <a:schemeClr val="accent2"/>
                </a:solidFill>
                <a:latin typeface="黑体" panose="02010609060101010101" pitchFamily="49" charset="-122"/>
                <a:ea typeface="黑体" panose="02010609060101010101" pitchFamily="49" charset="-122"/>
              </a:rPr>
              <a:t>位双极性</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a:t>
            </a:r>
            <a:r>
              <a:rPr lang="en-US" altLang="zh-CN" sz="2400" dirty="0">
                <a:solidFill>
                  <a:schemeClr val="accent2"/>
                </a:solidFill>
                <a:latin typeface="黑体" panose="02010609060101010101" pitchFamily="49" charset="-122"/>
                <a:ea typeface="黑体" panose="02010609060101010101" pitchFamily="49" charset="-122"/>
              </a:rPr>
              <a:t>0</a:t>
            </a:r>
            <a:r>
              <a:rPr lang="zh-CN" altLang="en-US" sz="2400" dirty="0">
                <a:solidFill>
                  <a:schemeClr val="accent2"/>
                </a:solidFill>
                <a:latin typeface="黑体" panose="02010609060101010101" pitchFamily="49" charset="-122"/>
                <a:ea typeface="黑体" panose="02010609060101010101" pitchFamily="49" charset="-122"/>
              </a:rPr>
              <a:t>值。</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2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2.</a:t>
            </a:r>
            <a:r>
              <a:rPr lang="zh-CN" altLang="en-US" sz="2400" dirty="0">
                <a:solidFill>
                  <a:schemeClr val="tx1"/>
                </a:solidFill>
                <a:latin typeface="黑体" panose="02010609060101010101" pitchFamily="49" charset="-122"/>
                <a:ea typeface="黑体" panose="02010609060101010101" pitchFamily="49" charset="-122"/>
              </a:rPr>
              <a:t>当输入电压为</a:t>
            </a:r>
            <a:r>
              <a:rPr lang="en-US" altLang="zh-CN" sz="2400" dirty="0">
                <a:solidFill>
                  <a:schemeClr val="tx1"/>
                </a:solidFill>
                <a:latin typeface="黑体" panose="02010609060101010101" pitchFamily="49" charset="-122"/>
                <a:ea typeface="黑体" panose="02010609060101010101" pitchFamily="49" charset="-122"/>
              </a:rPr>
              <a:t>V</a:t>
            </a:r>
            <a:r>
              <a:rPr lang="en-US" altLang="zh-CN" sz="2400" baseline="-25000" dirty="0">
                <a:solidFill>
                  <a:schemeClr val="tx1"/>
                </a:solidFill>
                <a:latin typeface="黑体" panose="02010609060101010101" pitchFamily="49" charset="-122"/>
                <a:ea typeface="黑体" panose="02010609060101010101" pitchFamily="49" charset="-122"/>
              </a:rPr>
              <a:t>in</a:t>
            </a:r>
            <a:r>
              <a:rPr lang="en-US" altLang="zh-CN" sz="2400" dirty="0">
                <a:solidFill>
                  <a:schemeClr val="tx1"/>
                </a:solidFill>
                <a:latin typeface="黑体" panose="02010609060101010101" pitchFamily="49" charset="-122"/>
                <a:ea typeface="黑体" panose="02010609060101010101" pitchFamily="49" charset="-122"/>
              </a:rPr>
              <a:t>=1/4V</a:t>
            </a:r>
            <a:r>
              <a:rPr lang="en-US" altLang="zh-CN" sz="2400" baseline="-25000" dirty="0">
                <a:solidFill>
                  <a:schemeClr val="tx1"/>
                </a:solidFill>
                <a:latin typeface="黑体" panose="02010609060101010101" pitchFamily="49" charset="-122"/>
                <a:ea typeface="黑体" panose="02010609060101010101" pitchFamily="49" charset="-122"/>
              </a:rPr>
              <a:t>ref</a:t>
            </a:r>
            <a:r>
              <a:rPr lang="zh-CN" altLang="en-US" sz="2400" dirty="0">
                <a:solidFill>
                  <a:schemeClr val="tx1"/>
                </a:solidFill>
                <a:latin typeface="黑体" panose="02010609060101010101" pitchFamily="49" charset="-122"/>
                <a:ea typeface="黑体" panose="02010609060101010101" pitchFamily="49" charset="-122"/>
              </a:rPr>
              <a:t>时</a:t>
            </a:r>
            <a:r>
              <a:rPr lang="zh-CN" altLang="en-US" sz="2400" dirty="0">
                <a:solidFill>
                  <a:schemeClr val="accent2"/>
                </a:solidFill>
                <a:latin typeface="黑体" panose="02010609060101010101" pitchFamily="49" charset="-122"/>
                <a:ea typeface="黑体" panose="02010609060101010101" pitchFamily="49" charset="-122"/>
              </a:rPr>
              <a:t>，求和输出</a:t>
            </a:r>
            <a:r>
              <a:rPr lang="en-US" altLang="zh-CN" sz="2400" dirty="0">
                <a:solidFill>
                  <a:schemeClr val="accent2"/>
                </a:solidFill>
                <a:latin typeface="黑体" panose="02010609060101010101" pitchFamily="49" charset="-122"/>
                <a:ea typeface="黑体" panose="02010609060101010101" pitchFamily="49" charset="-122"/>
              </a:rPr>
              <a:t>A</a:t>
            </a:r>
            <a:r>
              <a:rPr lang="zh-CN" altLang="en-US" sz="2400" dirty="0">
                <a:solidFill>
                  <a:schemeClr val="accent2"/>
                </a:solidFill>
                <a:latin typeface="黑体" panose="02010609060101010101" pitchFamily="49" charset="-122"/>
                <a:ea typeface="黑体" panose="02010609060101010101" pitchFamily="49" charset="-122"/>
              </a:rPr>
              <a:t>点正负幅度不对称，导致正反向积分斜率不等，调制器输出</a:t>
            </a: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的个数多于</a:t>
            </a:r>
            <a:r>
              <a:rPr lang="en-US" altLang="zh-CN" sz="2400" dirty="0">
                <a:solidFill>
                  <a:schemeClr val="accent2"/>
                </a:solidFill>
                <a:latin typeface="黑体" panose="02010609060101010101" pitchFamily="49" charset="-122"/>
                <a:ea typeface="黑体" panose="02010609060101010101" pitchFamily="49" charset="-122"/>
              </a:rPr>
              <a:t>0</a:t>
            </a:r>
            <a:r>
              <a:rPr lang="zh-CN" altLang="en-US" sz="2400" dirty="0">
                <a:solidFill>
                  <a:schemeClr val="accent2"/>
                </a:solidFill>
                <a:latin typeface="黑体" panose="02010609060101010101" pitchFamily="49" charset="-122"/>
                <a:ea typeface="黑体" panose="02010609060101010101" pitchFamily="49" charset="-122"/>
              </a:rPr>
              <a:t>的个数，最终每</a:t>
            </a:r>
            <a:r>
              <a:rPr lang="en-US" altLang="zh-CN" sz="2400" dirty="0">
                <a:solidFill>
                  <a:schemeClr val="accent2"/>
                </a:solidFill>
                <a:latin typeface="黑体" panose="02010609060101010101" pitchFamily="49" charset="-122"/>
                <a:ea typeface="黑体" panose="02010609060101010101" pitchFamily="49" charset="-122"/>
              </a:rPr>
              <a:t>8</a:t>
            </a:r>
            <a:r>
              <a:rPr lang="zh-CN" altLang="en-US" sz="2400" dirty="0">
                <a:solidFill>
                  <a:schemeClr val="accent2"/>
                </a:solidFill>
                <a:latin typeface="黑体" panose="02010609060101010101" pitchFamily="49" charset="-122"/>
                <a:ea typeface="黑体" panose="02010609060101010101" pitchFamily="49" charset="-122"/>
              </a:rPr>
              <a:t>个采样值的平均后输出结果为</a:t>
            </a:r>
            <a:r>
              <a:rPr lang="en-US" altLang="zh-CN" sz="2400" dirty="0">
                <a:solidFill>
                  <a:schemeClr val="accent2"/>
                </a:solidFill>
                <a:latin typeface="黑体" panose="02010609060101010101" pitchFamily="49" charset="-122"/>
                <a:ea typeface="黑体" panose="02010609060101010101" pitchFamily="49" charset="-122"/>
              </a:rPr>
              <a:t>5/8</a:t>
            </a:r>
            <a:r>
              <a:rPr lang="zh-CN" altLang="en-US" sz="2400" dirty="0">
                <a:solidFill>
                  <a:schemeClr val="accent2"/>
                </a:solidFill>
                <a:latin typeface="黑体" panose="02010609060101010101" pitchFamily="49" charset="-122"/>
                <a:ea typeface="黑体" panose="02010609060101010101" pitchFamily="49" charset="-122"/>
              </a:rPr>
              <a:t>，对应</a:t>
            </a:r>
            <a:r>
              <a:rPr lang="en-US" altLang="zh-CN" sz="2400" dirty="0">
                <a:solidFill>
                  <a:schemeClr val="accent2"/>
                </a:solidFill>
                <a:latin typeface="黑体" panose="02010609060101010101" pitchFamily="49" charset="-122"/>
                <a:ea typeface="黑体" panose="02010609060101010101" pitchFamily="49" charset="-122"/>
              </a:rPr>
              <a:t>3</a:t>
            </a:r>
            <a:r>
              <a:rPr lang="zh-CN" altLang="en-US" sz="2400" dirty="0">
                <a:solidFill>
                  <a:schemeClr val="accent2"/>
                </a:solidFill>
                <a:latin typeface="黑体" panose="02010609060101010101" pitchFamily="49" charset="-122"/>
                <a:ea typeface="黑体" panose="02010609060101010101" pitchFamily="49" charset="-122"/>
              </a:rPr>
              <a:t>位双极性</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a:t>
            </a:r>
            <a:r>
              <a:rPr lang="en-US" altLang="zh-CN" sz="2400" dirty="0">
                <a:solidFill>
                  <a:schemeClr val="accent2"/>
                </a:solidFill>
                <a:latin typeface="黑体" panose="02010609060101010101" pitchFamily="49" charset="-122"/>
                <a:ea typeface="黑体" panose="02010609060101010101" pitchFamily="49" charset="-122"/>
              </a:rPr>
              <a:t>+1/4V</a:t>
            </a:r>
            <a:r>
              <a:rPr lang="en-US" altLang="zh-CN" sz="2400" baseline="-25000" dirty="0">
                <a:solidFill>
                  <a:schemeClr val="accent2"/>
                </a:solidFill>
                <a:latin typeface="黑体" panose="02010609060101010101" pitchFamily="49" charset="-122"/>
                <a:ea typeface="黑体" panose="02010609060101010101" pitchFamily="49" charset="-122"/>
              </a:rPr>
              <a:t>ref</a:t>
            </a:r>
            <a:r>
              <a:rPr lang="zh-CN" altLang="en-US" sz="2400" dirty="0">
                <a:solidFill>
                  <a:schemeClr val="accent2"/>
                </a:solidFill>
                <a:latin typeface="黑体" panose="02010609060101010101" pitchFamily="49" charset="-122"/>
                <a:ea typeface="黑体" panose="02010609060101010101" pitchFamily="49" charset="-122"/>
              </a:rPr>
              <a:t>转换值。</a:t>
            </a:r>
            <a:endParaRPr lang="en-US" altLang="zh-CN" sz="2400" dirty="0">
              <a:solidFill>
                <a:schemeClr val="accent2"/>
              </a:solidFill>
              <a:latin typeface="黑体" panose="02010609060101010101" pitchFamily="49" charset="-122"/>
              <a:ea typeface="黑体" panose="02010609060101010101" pitchFamily="49" charset="-122"/>
            </a:endParaRPr>
          </a:p>
        </p:txBody>
      </p:sp>
      <p:sp>
        <p:nvSpPr>
          <p:cNvPr id="104452" name="Text Box 11"/>
          <p:cNvSpPr txBox="1"/>
          <p:nvPr/>
        </p:nvSpPr>
        <p:spPr>
          <a:xfrm>
            <a:off x="404813" y="671513"/>
            <a:ext cx="29479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zh-CN" sz="3200" dirty="0">
                <a:latin typeface="Times New Roman" panose="02020603050405020304" pitchFamily="18" charset="0"/>
              </a:rPr>
              <a:t>∑</a:t>
            </a:r>
            <a:r>
              <a:rPr lang="zh-CN" altLang="en-US" sz="3200" dirty="0">
                <a:latin typeface="Times New Roman" panose="02020603050405020304" pitchFamily="18" charset="0"/>
              </a:rPr>
              <a:t>-</a:t>
            </a:r>
            <a:r>
              <a:rPr lang="zh-CN" altLang="zh-CN" sz="3200" dirty="0">
                <a:latin typeface="Times New Roman" panose="02020603050405020304" pitchFamily="18" charset="0"/>
              </a:rPr>
              <a:t>△</a:t>
            </a:r>
            <a:r>
              <a:rPr lang="zh-CN" altLang="en-US" sz="3200" dirty="0">
                <a:latin typeface="Times New Roman" panose="02020603050405020304" pitchFamily="18" charset="0"/>
              </a:rPr>
              <a:t>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4453" name="Text Box 51"/>
          <p:cNvSpPr txBox="1"/>
          <p:nvPr/>
        </p:nvSpPr>
        <p:spPr>
          <a:xfrm>
            <a:off x="404813" y="1227138"/>
            <a:ext cx="4700587" cy="476250"/>
          </a:xfrm>
          <a:prstGeom prst="rect">
            <a:avLst/>
          </a:prstGeom>
          <a:solidFill>
            <a:srgbClr val="99CCFF"/>
          </a:solidFill>
          <a:ln w="9525">
            <a:noFill/>
          </a:ln>
        </p:spPr>
        <p:txBody>
          <a:bodyPr>
            <a:spAutoFit/>
          </a:bodyPr>
          <a:p>
            <a:pPr eaLnBrk="1" hangingPunct="1">
              <a:lnSpc>
                <a:spcPct val="90000"/>
              </a:lnSpc>
            </a:pPr>
            <a:r>
              <a:rPr lang="zh-CN" altLang="zh-CN" dirty="0">
                <a:latin typeface="Times New Roman" panose="02020603050405020304" pitchFamily="18" charset="0"/>
              </a:rPr>
              <a:t>∑</a:t>
            </a:r>
            <a:r>
              <a:rPr lang="zh-CN" altLang="en-US" dirty="0">
                <a:latin typeface="Times New Roman" panose="02020603050405020304" pitchFamily="18" charset="0"/>
              </a:rPr>
              <a:t>-</a:t>
            </a:r>
            <a:r>
              <a:rPr lang="zh-CN" altLang="zh-CN" dirty="0">
                <a:latin typeface="Times New Roman" panose="02020603050405020304" pitchFamily="18" charset="0"/>
              </a:rPr>
              <a:t>△</a:t>
            </a:r>
            <a:r>
              <a:rPr lang="zh-CN" altLang="en-US" dirty="0">
                <a:latin typeface="Times New Roman" panose="02020603050405020304" pitchFamily="18" charset="0"/>
              </a:rPr>
              <a:t>调制器和量化噪声整形</a:t>
            </a:r>
            <a:endParaRPr lang="zh-CN" altLang="en-US" dirty="0">
              <a:latin typeface="Times New Roman" panose="02020603050405020304" pitchFamily="18" charset="0"/>
            </a:endParaRPr>
          </a:p>
        </p:txBody>
      </p:sp>
    </p:spTree>
  </p:cSld>
  <p:clrMapOvr>
    <a:masterClrMapping/>
  </p:clrMapOvr>
  <p:transition spd="med">
    <p:strips/>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5475"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pSp>
        <p:nvGrpSpPr>
          <p:cNvPr id="105476" name="Group 10"/>
          <p:cNvGrpSpPr/>
          <p:nvPr/>
        </p:nvGrpSpPr>
        <p:grpSpPr>
          <a:xfrm>
            <a:off x="136525" y="1325563"/>
            <a:ext cx="5762625" cy="4902200"/>
            <a:chOff x="158" y="750"/>
            <a:chExt cx="3630" cy="3088"/>
          </a:xfrm>
        </p:grpSpPr>
        <p:sp>
          <p:nvSpPr>
            <p:cNvPr id="105480" name="Rectangle 5"/>
            <p:cNvSpPr/>
            <p:nvPr/>
          </p:nvSpPr>
          <p:spPr>
            <a:xfrm flipH="1">
              <a:off x="1019" y="1615"/>
              <a:ext cx="91" cy="182"/>
            </a:xfrm>
            <a:prstGeom prst="rect">
              <a:avLst/>
            </a:prstGeom>
            <a:noFill/>
            <a:ln w="28575" cap="flat" cmpd="sng">
              <a:solidFill>
                <a:schemeClr val="tx1"/>
              </a:solidFill>
              <a:prstDash val="solid"/>
              <a:miter/>
              <a:headEnd type="none" w="med" len="med"/>
              <a:tailEnd type="none" w="med" len="med"/>
            </a:ln>
          </p:spPr>
          <p:txBody>
            <a:bodyPr wrap="none" anchor="ctr" anchorCtr="0"/>
            <a:p>
              <a:pPr algn="ctr"/>
              <a:endParaRPr lang="en-US" altLang="zh-CN" sz="2000" dirty="0">
                <a:solidFill>
                  <a:srgbClr val="000000"/>
                </a:solidFill>
                <a:latin typeface="华文中宋" panose="02010600040101010101" pitchFamily="2" charset="-122"/>
                <a:ea typeface="华文中宋" panose="02010600040101010101" pitchFamily="2" charset="-122"/>
              </a:endParaRPr>
            </a:p>
          </p:txBody>
        </p:sp>
        <p:sp>
          <p:nvSpPr>
            <p:cNvPr id="105481" name="Rectangle 8"/>
            <p:cNvSpPr/>
            <p:nvPr/>
          </p:nvSpPr>
          <p:spPr>
            <a:xfrm>
              <a:off x="2245" y="1707"/>
              <a:ext cx="272" cy="272"/>
            </a:xfrm>
            <a:prstGeom prst="rect">
              <a:avLst/>
            </a:prstGeom>
            <a:noFill/>
            <a:ln w="28575" cap="flat" cmpd="sng">
              <a:solidFill>
                <a:schemeClr val="tx1"/>
              </a:solidFill>
              <a:prstDash val="solid"/>
              <a:miter/>
              <a:headEnd type="none" w="med" len="med"/>
              <a:tailEnd type="none" w="med" len="med"/>
            </a:ln>
          </p:spPr>
          <p:txBody>
            <a:bodyPr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D</a:t>
              </a:r>
              <a:r>
                <a:rPr lang="en-US" altLang="zh-CN" sz="1800" baseline="-25000" dirty="0">
                  <a:solidFill>
                    <a:srgbClr val="000000"/>
                  </a:solidFill>
                  <a:latin typeface="Times New Roman" panose="02020603050405020304" pitchFamily="18" charset="0"/>
                  <a:ea typeface="华文中宋" panose="02010600040101010101" pitchFamily="2" charset="-122"/>
                </a:rPr>
                <a:t>1</a:t>
              </a:r>
              <a:endParaRPr lang="en-US" altLang="zh-CN" sz="1800" baseline="-25000" dirty="0">
                <a:solidFill>
                  <a:srgbClr val="000000"/>
                </a:solidFill>
                <a:latin typeface="Times New Roman" panose="02020603050405020304" pitchFamily="18" charset="0"/>
                <a:ea typeface="华文中宋" panose="02010600040101010101" pitchFamily="2" charset="-122"/>
              </a:endParaRPr>
            </a:p>
          </p:txBody>
        </p:sp>
        <p:sp>
          <p:nvSpPr>
            <p:cNvPr id="105482" name="Line 10"/>
            <p:cNvSpPr/>
            <p:nvPr/>
          </p:nvSpPr>
          <p:spPr>
            <a:xfrm flipH="1">
              <a:off x="1247" y="981"/>
              <a:ext cx="0" cy="1043"/>
            </a:xfrm>
            <a:prstGeom prst="line">
              <a:avLst/>
            </a:prstGeom>
            <a:ln w="28575" cap="flat" cmpd="sng">
              <a:solidFill>
                <a:schemeClr val="tx1"/>
              </a:solidFill>
              <a:prstDash val="solid"/>
              <a:headEnd type="none" w="med" len="med"/>
              <a:tailEnd type="none" w="med" len="med"/>
            </a:ln>
          </p:spPr>
        </p:sp>
        <p:sp>
          <p:nvSpPr>
            <p:cNvPr id="105483" name="Line 12"/>
            <p:cNvSpPr/>
            <p:nvPr/>
          </p:nvSpPr>
          <p:spPr>
            <a:xfrm>
              <a:off x="1246" y="1344"/>
              <a:ext cx="136" cy="0"/>
            </a:xfrm>
            <a:prstGeom prst="line">
              <a:avLst/>
            </a:prstGeom>
            <a:ln w="28575" cap="flat" cmpd="sng">
              <a:solidFill>
                <a:schemeClr val="tx1"/>
              </a:solidFill>
              <a:prstDash val="solid"/>
              <a:headEnd type="none" w="med" len="med"/>
              <a:tailEnd type="none" w="med" len="med"/>
            </a:ln>
          </p:spPr>
        </p:sp>
        <p:sp>
          <p:nvSpPr>
            <p:cNvPr id="105484" name="AutoShape 13"/>
            <p:cNvSpPr/>
            <p:nvPr/>
          </p:nvSpPr>
          <p:spPr>
            <a:xfrm rot="5400000">
              <a:off x="1451" y="1139"/>
              <a:ext cx="362" cy="500"/>
            </a:xfrm>
            <a:prstGeom prst="triangle">
              <a:avLst>
                <a:gd name="adj" fmla="val 50000"/>
              </a:avLst>
            </a:prstGeom>
            <a:noFill/>
            <a:ln w="28575" cap="flat" cmpd="sng">
              <a:solidFill>
                <a:schemeClr val="tx1"/>
              </a:solidFill>
              <a:prstDash val="solid"/>
              <a:miter/>
              <a:headEnd type="none" w="med" len="med"/>
              <a:tailEnd type="none" w="med" len="med"/>
            </a:ln>
          </p:spPr>
          <p:txBody>
            <a:bodyPr rot="10800000" vert="eaVert" wrap="none"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C</a:t>
              </a:r>
              <a:r>
                <a:rPr lang="en-US" altLang="zh-CN" sz="1800" baseline="-25000" dirty="0">
                  <a:solidFill>
                    <a:srgbClr val="000000"/>
                  </a:solidFill>
                  <a:latin typeface="Times New Roman" panose="02020603050405020304" pitchFamily="18" charset="0"/>
                  <a:ea typeface="华文中宋" panose="02010600040101010101" pitchFamily="2" charset="-122"/>
                </a:rPr>
                <a:t>1   </a:t>
              </a:r>
              <a:endParaRPr lang="en-US" altLang="zh-CN" sz="1800" baseline="-25000" dirty="0">
                <a:solidFill>
                  <a:srgbClr val="000000"/>
                </a:solidFill>
                <a:latin typeface="Times New Roman" panose="02020603050405020304" pitchFamily="18" charset="0"/>
                <a:ea typeface="华文中宋" panose="02010600040101010101" pitchFamily="2" charset="-122"/>
              </a:endParaRPr>
            </a:p>
          </p:txBody>
        </p:sp>
        <p:sp>
          <p:nvSpPr>
            <p:cNvPr id="105485" name="Rectangle 15"/>
            <p:cNvSpPr/>
            <p:nvPr/>
          </p:nvSpPr>
          <p:spPr>
            <a:xfrm>
              <a:off x="2699" y="1298"/>
              <a:ext cx="317" cy="2132"/>
            </a:xfrm>
            <a:prstGeom prst="rect">
              <a:avLst/>
            </a:prstGeom>
            <a:noFill/>
            <a:ln w="28575" cap="flat" cmpd="sng">
              <a:solidFill>
                <a:schemeClr val="tx1"/>
              </a:solidFill>
              <a:prstDash val="solid"/>
              <a:miter/>
              <a:headEnd type="none" w="med" len="med"/>
              <a:tailEnd type="none" w="med" len="med"/>
            </a:ln>
          </p:spPr>
          <p:txBody>
            <a:bodyPr anchor="ctr" anchorCtr="0"/>
            <a:p>
              <a:pPr algn="ctr"/>
              <a:r>
                <a:rPr lang="zh-CN" altLang="en-US" sz="2000" dirty="0">
                  <a:solidFill>
                    <a:srgbClr val="000000"/>
                  </a:solidFill>
                  <a:latin typeface="华文中宋" panose="02010600040101010101" pitchFamily="2" charset="-122"/>
                  <a:ea typeface="华文中宋" panose="02010600040101010101" pitchFamily="2" charset="-122"/>
                </a:rPr>
                <a:t>优先编码器</a:t>
              </a:r>
              <a:endParaRPr lang="zh-CN" altLang="en-US" sz="2000" dirty="0">
                <a:solidFill>
                  <a:srgbClr val="000000"/>
                </a:solidFill>
                <a:latin typeface="华文中宋" panose="02010600040101010101" pitchFamily="2" charset="-122"/>
                <a:ea typeface="华文中宋" panose="02010600040101010101" pitchFamily="2" charset="-122"/>
              </a:endParaRPr>
            </a:p>
          </p:txBody>
        </p:sp>
        <p:sp>
          <p:nvSpPr>
            <p:cNvPr id="105486" name="Line 17"/>
            <p:cNvSpPr/>
            <p:nvPr/>
          </p:nvSpPr>
          <p:spPr>
            <a:xfrm>
              <a:off x="1065" y="3657"/>
              <a:ext cx="0" cy="136"/>
            </a:xfrm>
            <a:prstGeom prst="line">
              <a:avLst/>
            </a:prstGeom>
            <a:ln w="28575" cap="flat" cmpd="sng">
              <a:solidFill>
                <a:schemeClr val="tx1"/>
              </a:solidFill>
              <a:prstDash val="solid"/>
              <a:headEnd type="none" w="med" len="med"/>
              <a:tailEnd type="none" w="med" len="med"/>
            </a:ln>
          </p:spPr>
        </p:sp>
        <p:sp>
          <p:nvSpPr>
            <p:cNvPr id="105487" name="Line 18"/>
            <p:cNvSpPr/>
            <p:nvPr/>
          </p:nvSpPr>
          <p:spPr>
            <a:xfrm>
              <a:off x="1019" y="3793"/>
              <a:ext cx="91" cy="0"/>
            </a:xfrm>
            <a:prstGeom prst="line">
              <a:avLst/>
            </a:prstGeom>
            <a:ln w="28575" cap="flat" cmpd="sng">
              <a:solidFill>
                <a:schemeClr val="tx1"/>
              </a:solidFill>
              <a:prstDash val="solid"/>
              <a:headEnd type="none" w="med" len="med"/>
              <a:tailEnd type="none" w="med" len="med"/>
            </a:ln>
          </p:spPr>
        </p:sp>
        <p:sp>
          <p:nvSpPr>
            <p:cNvPr id="105488" name="Rectangle 19"/>
            <p:cNvSpPr/>
            <p:nvPr/>
          </p:nvSpPr>
          <p:spPr>
            <a:xfrm>
              <a:off x="1157" y="750"/>
              <a:ext cx="272" cy="231"/>
            </a:xfrm>
            <a:prstGeom prst="rect">
              <a:avLst/>
            </a:prstGeom>
            <a:noFill/>
            <a:ln w="28575">
              <a:noFill/>
            </a:ln>
          </p:spPr>
          <p:txBody>
            <a:bodyPr lIns="0" rIns="0">
              <a:spAutoFit/>
            </a:bodyPr>
            <a:p>
              <a:pPr algn="ctr"/>
              <a:r>
                <a:rPr lang="en-US" altLang="zh-CN" sz="1800" i="1" dirty="0">
                  <a:solidFill>
                    <a:srgbClr val="3333CC"/>
                  </a:solidFill>
                  <a:latin typeface="Times New Roman" panose="02020603050405020304" pitchFamily="18" charset="0"/>
                  <a:ea typeface="华文中宋" panose="02010600040101010101" pitchFamily="2" charset="-122"/>
                </a:rPr>
                <a:t>U</a:t>
              </a:r>
              <a:r>
                <a:rPr lang="en-US" altLang="zh-CN" sz="1800" i="1" baseline="-25000" dirty="0">
                  <a:solidFill>
                    <a:srgbClr val="3333CC"/>
                  </a:solidFill>
                  <a:latin typeface="Times New Roman" panose="02020603050405020304" pitchFamily="18" charset="0"/>
                  <a:ea typeface="华文中宋" panose="02010600040101010101" pitchFamily="2" charset="-122"/>
                </a:rPr>
                <a:t>i</a:t>
              </a:r>
              <a:endParaRPr lang="en-US" altLang="zh-CN" sz="1800" i="1" baseline="-25000" dirty="0">
                <a:solidFill>
                  <a:srgbClr val="3333CC"/>
                </a:solidFill>
                <a:latin typeface="Times New Roman" panose="02020603050405020304" pitchFamily="18" charset="0"/>
                <a:ea typeface="华文中宋" panose="02010600040101010101" pitchFamily="2" charset="-122"/>
              </a:endParaRPr>
            </a:p>
          </p:txBody>
        </p:sp>
        <p:sp>
          <p:nvSpPr>
            <p:cNvPr id="105489" name="Line 29"/>
            <p:cNvSpPr/>
            <p:nvPr/>
          </p:nvSpPr>
          <p:spPr>
            <a:xfrm>
              <a:off x="1065" y="1797"/>
              <a:ext cx="0" cy="227"/>
            </a:xfrm>
            <a:prstGeom prst="line">
              <a:avLst/>
            </a:prstGeom>
            <a:ln w="28575" cap="flat" cmpd="sng">
              <a:solidFill>
                <a:schemeClr val="tx1"/>
              </a:solidFill>
              <a:prstDash val="solid"/>
              <a:headEnd type="none" w="med" len="med"/>
              <a:tailEnd type="none" w="med" len="med"/>
            </a:ln>
          </p:spPr>
        </p:sp>
        <p:sp>
          <p:nvSpPr>
            <p:cNvPr id="105490" name="Rectangle 31"/>
            <p:cNvSpPr/>
            <p:nvPr/>
          </p:nvSpPr>
          <p:spPr>
            <a:xfrm>
              <a:off x="3243" y="1494"/>
              <a:ext cx="545" cy="231"/>
            </a:xfrm>
            <a:prstGeom prst="rect">
              <a:avLst/>
            </a:prstGeom>
            <a:noFill/>
            <a:ln w="28575">
              <a:noFill/>
            </a:ln>
          </p:spPr>
          <p:txBody>
            <a:bodyPr lIns="0" rIns="0">
              <a:spAutoFit/>
            </a:bodyPr>
            <a:p>
              <a:r>
                <a:rPr lang="en-US" altLang="zh-CN" sz="1800" i="1" dirty="0">
                  <a:solidFill>
                    <a:srgbClr val="000000"/>
                  </a:solidFill>
                  <a:latin typeface="Times New Roman" panose="02020603050405020304" pitchFamily="18" charset="0"/>
                  <a:ea typeface="华文中宋" panose="02010600040101010101" pitchFamily="2" charset="-122"/>
                </a:rPr>
                <a:t>d</a:t>
              </a:r>
              <a:r>
                <a:rPr lang="en-US" altLang="zh-CN" sz="1800" baseline="-25000" dirty="0">
                  <a:solidFill>
                    <a:srgbClr val="000000"/>
                  </a:solidFill>
                  <a:latin typeface="Times New Roman" panose="02020603050405020304" pitchFamily="18" charset="0"/>
                  <a:ea typeface="华文中宋" panose="02010600040101010101" pitchFamily="2" charset="-122"/>
                </a:rPr>
                <a:t>1</a:t>
              </a:r>
              <a:r>
                <a:rPr lang="en-US" altLang="zh-CN" sz="1800" dirty="0">
                  <a:solidFill>
                    <a:srgbClr val="000000"/>
                  </a:solidFill>
                  <a:latin typeface="Times New Roman" panose="02020603050405020304" pitchFamily="18" charset="0"/>
                  <a:ea typeface="华文中宋" panose="02010600040101010101" pitchFamily="2" charset="-122"/>
                </a:rPr>
                <a:t>(MSB)</a:t>
              </a:r>
              <a:endParaRPr lang="en-US" altLang="zh-CN" sz="1800" dirty="0">
                <a:solidFill>
                  <a:srgbClr val="000000"/>
                </a:solidFill>
                <a:latin typeface="Times New Roman" panose="02020603050405020304" pitchFamily="18" charset="0"/>
                <a:ea typeface="华文中宋" panose="02010600040101010101" pitchFamily="2" charset="-122"/>
              </a:endParaRPr>
            </a:p>
          </p:txBody>
        </p:sp>
        <p:sp>
          <p:nvSpPr>
            <p:cNvPr id="105491" name="Line 32"/>
            <p:cNvSpPr/>
            <p:nvPr/>
          </p:nvSpPr>
          <p:spPr>
            <a:xfrm>
              <a:off x="1065" y="1480"/>
              <a:ext cx="317" cy="0"/>
            </a:xfrm>
            <a:prstGeom prst="line">
              <a:avLst/>
            </a:prstGeom>
            <a:ln w="28575" cap="flat" cmpd="sng">
              <a:solidFill>
                <a:schemeClr val="tx1"/>
              </a:solidFill>
              <a:prstDash val="solid"/>
              <a:headEnd type="none" w="med" len="med"/>
              <a:tailEnd type="none" w="med" len="med"/>
            </a:ln>
          </p:spPr>
        </p:sp>
        <p:sp>
          <p:nvSpPr>
            <p:cNvPr id="105492" name="Line 33"/>
            <p:cNvSpPr/>
            <p:nvPr/>
          </p:nvSpPr>
          <p:spPr>
            <a:xfrm>
              <a:off x="1246" y="1753"/>
              <a:ext cx="136" cy="0"/>
            </a:xfrm>
            <a:prstGeom prst="line">
              <a:avLst/>
            </a:prstGeom>
            <a:ln w="28575" cap="flat" cmpd="sng">
              <a:solidFill>
                <a:schemeClr val="tx1"/>
              </a:solidFill>
              <a:prstDash val="solid"/>
              <a:headEnd type="none" w="med" len="med"/>
              <a:tailEnd type="none" w="med" len="med"/>
            </a:ln>
          </p:spPr>
        </p:sp>
        <p:sp>
          <p:nvSpPr>
            <p:cNvPr id="105493" name="AutoShape 34"/>
            <p:cNvSpPr/>
            <p:nvPr/>
          </p:nvSpPr>
          <p:spPr>
            <a:xfrm rot="5400000">
              <a:off x="1450" y="1547"/>
              <a:ext cx="363" cy="500"/>
            </a:xfrm>
            <a:prstGeom prst="triangle">
              <a:avLst>
                <a:gd name="adj" fmla="val 50000"/>
              </a:avLst>
            </a:prstGeom>
            <a:noFill/>
            <a:ln w="28575" cap="flat" cmpd="sng">
              <a:solidFill>
                <a:schemeClr val="tx1"/>
              </a:solidFill>
              <a:prstDash val="solid"/>
              <a:miter/>
              <a:headEnd type="none" w="med" len="med"/>
              <a:tailEnd type="none" w="med" len="med"/>
            </a:ln>
          </p:spPr>
          <p:txBody>
            <a:bodyPr rot="10800000" vert="eaVert" wrap="none"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C</a:t>
              </a:r>
              <a:r>
                <a:rPr lang="en-US" altLang="zh-CN" sz="1800" baseline="-25000" dirty="0">
                  <a:solidFill>
                    <a:srgbClr val="000000"/>
                  </a:solidFill>
                  <a:latin typeface="Times New Roman" panose="02020603050405020304" pitchFamily="18" charset="0"/>
                  <a:ea typeface="华文中宋" panose="02010600040101010101" pitchFamily="2" charset="-122"/>
                </a:rPr>
                <a:t>2   </a:t>
              </a:r>
              <a:endParaRPr lang="en-US" altLang="zh-CN" sz="1800" baseline="-25000" dirty="0">
                <a:solidFill>
                  <a:srgbClr val="000000"/>
                </a:solidFill>
                <a:latin typeface="Times New Roman" panose="02020603050405020304" pitchFamily="18" charset="0"/>
                <a:ea typeface="华文中宋" panose="02010600040101010101" pitchFamily="2" charset="-122"/>
              </a:endParaRPr>
            </a:p>
          </p:txBody>
        </p:sp>
        <p:sp>
          <p:nvSpPr>
            <p:cNvPr id="105494" name="Line 35"/>
            <p:cNvSpPr/>
            <p:nvPr/>
          </p:nvSpPr>
          <p:spPr>
            <a:xfrm>
              <a:off x="1065" y="1889"/>
              <a:ext cx="317" cy="0"/>
            </a:xfrm>
            <a:prstGeom prst="line">
              <a:avLst/>
            </a:prstGeom>
            <a:ln w="28575" cap="flat" cmpd="sng">
              <a:solidFill>
                <a:schemeClr val="tx1"/>
              </a:solidFill>
              <a:prstDash val="solid"/>
              <a:headEnd type="none" w="med" len="med"/>
              <a:tailEnd type="none" w="med" len="med"/>
            </a:ln>
          </p:spPr>
        </p:sp>
        <p:sp>
          <p:nvSpPr>
            <p:cNvPr id="105495" name="Rectangle 36"/>
            <p:cNvSpPr/>
            <p:nvPr/>
          </p:nvSpPr>
          <p:spPr>
            <a:xfrm flipH="1">
              <a:off x="1020" y="2658"/>
              <a:ext cx="91" cy="182"/>
            </a:xfrm>
            <a:prstGeom prst="rect">
              <a:avLst/>
            </a:prstGeom>
            <a:noFill/>
            <a:ln w="28575" cap="flat" cmpd="sng">
              <a:solidFill>
                <a:schemeClr val="tx1"/>
              </a:solidFill>
              <a:prstDash val="solid"/>
              <a:miter/>
              <a:headEnd type="none" w="med" len="med"/>
              <a:tailEnd type="none" w="med" len="med"/>
            </a:ln>
          </p:spPr>
          <p:txBody>
            <a:bodyPr wrap="none" anchor="ctr" anchorCtr="0"/>
            <a:p>
              <a:pPr algn="ctr"/>
              <a:endParaRPr lang="en-US" altLang="zh-CN" sz="2000" dirty="0">
                <a:solidFill>
                  <a:srgbClr val="000000"/>
                </a:solidFill>
                <a:latin typeface="华文中宋" panose="02010600040101010101" pitchFamily="2" charset="-122"/>
                <a:ea typeface="华文中宋" panose="02010600040101010101" pitchFamily="2" charset="-122"/>
              </a:endParaRPr>
            </a:p>
          </p:txBody>
        </p:sp>
        <p:sp>
          <p:nvSpPr>
            <p:cNvPr id="105496" name="Line 37"/>
            <p:cNvSpPr/>
            <p:nvPr/>
          </p:nvSpPr>
          <p:spPr>
            <a:xfrm>
              <a:off x="1066" y="2432"/>
              <a:ext cx="0" cy="227"/>
            </a:xfrm>
            <a:prstGeom prst="line">
              <a:avLst/>
            </a:prstGeom>
            <a:ln w="28575" cap="flat" cmpd="sng">
              <a:solidFill>
                <a:schemeClr val="tx1"/>
              </a:solidFill>
              <a:prstDash val="solid"/>
              <a:headEnd type="none" w="med" len="med"/>
              <a:tailEnd type="none" w="med" len="med"/>
            </a:ln>
          </p:spPr>
        </p:sp>
        <p:sp>
          <p:nvSpPr>
            <p:cNvPr id="105497" name="Line 38"/>
            <p:cNvSpPr/>
            <p:nvPr/>
          </p:nvSpPr>
          <p:spPr>
            <a:xfrm>
              <a:off x="1246" y="2432"/>
              <a:ext cx="136" cy="0"/>
            </a:xfrm>
            <a:prstGeom prst="line">
              <a:avLst/>
            </a:prstGeom>
            <a:ln w="28575" cap="flat" cmpd="sng">
              <a:solidFill>
                <a:schemeClr val="tx1"/>
              </a:solidFill>
              <a:prstDash val="solid"/>
              <a:headEnd type="none" w="med" len="med"/>
              <a:tailEnd type="none" w="med" len="med"/>
            </a:ln>
          </p:spPr>
        </p:sp>
        <p:sp>
          <p:nvSpPr>
            <p:cNvPr id="105498" name="AutoShape 39"/>
            <p:cNvSpPr/>
            <p:nvPr/>
          </p:nvSpPr>
          <p:spPr>
            <a:xfrm rot="5400000">
              <a:off x="1450" y="2227"/>
              <a:ext cx="363" cy="500"/>
            </a:xfrm>
            <a:prstGeom prst="triangle">
              <a:avLst>
                <a:gd name="adj" fmla="val 50000"/>
              </a:avLst>
            </a:prstGeom>
            <a:noFill/>
            <a:ln w="28575" cap="flat" cmpd="sng">
              <a:solidFill>
                <a:schemeClr val="tx1"/>
              </a:solidFill>
              <a:prstDash val="solid"/>
              <a:miter/>
              <a:headEnd type="none" w="med" len="med"/>
              <a:tailEnd type="none" w="med" len="med"/>
            </a:ln>
          </p:spPr>
          <p:txBody>
            <a:bodyPr rot="10800000" vert="eaVert" wrap="none"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C</a:t>
              </a:r>
              <a:r>
                <a:rPr lang="en-US" altLang="zh-CN" sz="1800" baseline="-25000" dirty="0">
                  <a:solidFill>
                    <a:srgbClr val="000000"/>
                  </a:solidFill>
                  <a:latin typeface="Times New Roman" panose="02020603050405020304" pitchFamily="18" charset="0"/>
                  <a:ea typeface="华文中宋" panose="02010600040101010101" pitchFamily="2" charset="-122"/>
                </a:rPr>
                <a:t>2</a:t>
              </a:r>
              <a:r>
                <a:rPr lang="en-US" altLang="zh-CN" sz="1800" baseline="30000" dirty="0">
                  <a:solidFill>
                    <a:srgbClr val="000000"/>
                  </a:solidFill>
                  <a:latin typeface="Times New Roman" panose="02020603050405020304" pitchFamily="18" charset="0"/>
                  <a:ea typeface="华文中宋" panose="02010600040101010101" pitchFamily="2" charset="-122"/>
                </a:rPr>
                <a:t>n</a:t>
              </a:r>
              <a:r>
                <a:rPr lang="en-US" altLang="zh-CN" sz="1800" baseline="-25000" dirty="0">
                  <a:solidFill>
                    <a:srgbClr val="000000"/>
                  </a:solidFill>
                  <a:latin typeface="Times New Roman" panose="02020603050405020304" pitchFamily="18" charset="0"/>
                  <a:ea typeface="华文中宋" panose="02010600040101010101" pitchFamily="2" charset="-122"/>
                </a:rPr>
                <a:t>-3 </a:t>
              </a:r>
              <a:endParaRPr lang="en-US" altLang="zh-CN" sz="1800" baseline="-25000" dirty="0">
                <a:solidFill>
                  <a:srgbClr val="000000"/>
                </a:solidFill>
                <a:latin typeface="Times New Roman" panose="02020603050405020304" pitchFamily="18" charset="0"/>
                <a:ea typeface="华文中宋" panose="02010600040101010101" pitchFamily="2" charset="-122"/>
              </a:endParaRPr>
            </a:p>
          </p:txBody>
        </p:sp>
        <p:sp>
          <p:nvSpPr>
            <p:cNvPr id="105499" name="Line 40"/>
            <p:cNvSpPr/>
            <p:nvPr/>
          </p:nvSpPr>
          <p:spPr>
            <a:xfrm>
              <a:off x="1065" y="2568"/>
              <a:ext cx="317" cy="0"/>
            </a:xfrm>
            <a:prstGeom prst="line">
              <a:avLst/>
            </a:prstGeom>
            <a:ln w="28575" cap="flat" cmpd="sng">
              <a:solidFill>
                <a:schemeClr val="tx1"/>
              </a:solidFill>
              <a:prstDash val="solid"/>
              <a:headEnd type="none" w="med" len="med"/>
              <a:tailEnd type="none" w="med" len="med"/>
            </a:ln>
          </p:spPr>
        </p:sp>
        <p:sp>
          <p:nvSpPr>
            <p:cNvPr id="105500" name="Rectangle 41"/>
            <p:cNvSpPr/>
            <p:nvPr/>
          </p:nvSpPr>
          <p:spPr>
            <a:xfrm flipH="1">
              <a:off x="1019" y="3067"/>
              <a:ext cx="91" cy="182"/>
            </a:xfrm>
            <a:prstGeom prst="rect">
              <a:avLst/>
            </a:prstGeom>
            <a:noFill/>
            <a:ln w="28575" cap="flat" cmpd="sng">
              <a:solidFill>
                <a:schemeClr val="tx1"/>
              </a:solidFill>
              <a:prstDash val="solid"/>
              <a:miter/>
              <a:headEnd type="none" w="med" len="med"/>
              <a:tailEnd type="none" w="med" len="med"/>
            </a:ln>
          </p:spPr>
          <p:txBody>
            <a:bodyPr wrap="none" anchor="ctr" anchorCtr="0"/>
            <a:p>
              <a:pPr algn="ctr"/>
              <a:endParaRPr lang="en-US" altLang="zh-CN" sz="2000" dirty="0">
                <a:solidFill>
                  <a:srgbClr val="000000"/>
                </a:solidFill>
                <a:latin typeface="华文中宋" panose="02010600040101010101" pitchFamily="2" charset="-122"/>
                <a:ea typeface="华文中宋" panose="02010600040101010101" pitchFamily="2" charset="-122"/>
              </a:endParaRPr>
            </a:p>
          </p:txBody>
        </p:sp>
        <p:sp>
          <p:nvSpPr>
            <p:cNvPr id="105501" name="Line 42"/>
            <p:cNvSpPr/>
            <p:nvPr/>
          </p:nvSpPr>
          <p:spPr>
            <a:xfrm flipH="1">
              <a:off x="1065" y="2840"/>
              <a:ext cx="1" cy="227"/>
            </a:xfrm>
            <a:prstGeom prst="line">
              <a:avLst/>
            </a:prstGeom>
            <a:ln w="28575" cap="flat" cmpd="sng">
              <a:solidFill>
                <a:schemeClr val="tx1"/>
              </a:solidFill>
              <a:prstDash val="solid"/>
              <a:headEnd type="none" w="med" len="med"/>
              <a:tailEnd type="none" w="med" len="med"/>
            </a:ln>
          </p:spPr>
        </p:sp>
        <p:sp>
          <p:nvSpPr>
            <p:cNvPr id="105502" name="Line 43"/>
            <p:cNvSpPr/>
            <p:nvPr/>
          </p:nvSpPr>
          <p:spPr>
            <a:xfrm>
              <a:off x="1246" y="2796"/>
              <a:ext cx="136" cy="0"/>
            </a:xfrm>
            <a:prstGeom prst="line">
              <a:avLst/>
            </a:prstGeom>
            <a:ln w="28575" cap="flat" cmpd="sng">
              <a:solidFill>
                <a:schemeClr val="tx1"/>
              </a:solidFill>
              <a:prstDash val="solid"/>
              <a:headEnd type="none" w="med" len="med"/>
              <a:tailEnd type="none" w="med" len="med"/>
            </a:ln>
          </p:spPr>
        </p:sp>
        <p:sp>
          <p:nvSpPr>
            <p:cNvPr id="105503" name="AutoShape 44"/>
            <p:cNvSpPr/>
            <p:nvPr/>
          </p:nvSpPr>
          <p:spPr>
            <a:xfrm rot="5400000">
              <a:off x="1451" y="2636"/>
              <a:ext cx="362" cy="500"/>
            </a:xfrm>
            <a:prstGeom prst="triangle">
              <a:avLst>
                <a:gd name="adj" fmla="val 50000"/>
              </a:avLst>
            </a:prstGeom>
            <a:noFill/>
            <a:ln w="28575" cap="flat" cmpd="sng">
              <a:solidFill>
                <a:schemeClr val="tx1"/>
              </a:solidFill>
              <a:prstDash val="solid"/>
              <a:miter/>
              <a:headEnd type="none" w="med" len="med"/>
              <a:tailEnd type="none" w="med" len="med"/>
            </a:ln>
          </p:spPr>
          <p:txBody>
            <a:bodyPr rot="10800000" vert="eaVert" wrap="none"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C</a:t>
              </a:r>
              <a:r>
                <a:rPr lang="en-US" altLang="zh-CN" sz="1800" baseline="-25000" dirty="0">
                  <a:solidFill>
                    <a:srgbClr val="000000"/>
                  </a:solidFill>
                  <a:latin typeface="Times New Roman" panose="02020603050405020304" pitchFamily="18" charset="0"/>
                  <a:ea typeface="华文中宋" panose="02010600040101010101" pitchFamily="2" charset="-122"/>
                </a:rPr>
                <a:t>2</a:t>
              </a:r>
              <a:r>
                <a:rPr lang="en-US" altLang="zh-CN" sz="1800" baseline="30000" dirty="0">
                  <a:solidFill>
                    <a:srgbClr val="000000"/>
                  </a:solidFill>
                  <a:latin typeface="Times New Roman" panose="02020603050405020304" pitchFamily="18" charset="0"/>
                  <a:ea typeface="华文中宋" panose="02010600040101010101" pitchFamily="2" charset="-122"/>
                </a:rPr>
                <a:t>n</a:t>
              </a:r>
              <a:r>
                <a:rPr lang="en-US" altLang="zh-CN" sz="1800" baseline="-25000" dirty="0">
                  <a:solidFill>
                    <a:srgbClr val="000000"/>
                  </a:solidFill>
                  <a:latin typeface="Times New Roman" panose="02020603050405020304" pitchFamily="18" charset="0"/>
                  <a:ea typeface="华文中宋" panose="02010600040101010101" pitchFamily="2" charset="-122"/>
                </a:rPr>
                <a:t>-2</a:t>
              </a:r>
              <a:r>
                <a:rPr lang="en-US" altLang="zh-CN" sz="1800" baseline="30000" dirty="0">
                  <a:solidFill>
                    <a:srgbClr val="000000"/>
                  </a:solidFill>
                  <a:latin typeface="Times New Roman" panose="02020603050405020304" pitchFamily="18" charset="0"/>
                  <a:ea typeface="华文中宋" panose="02010600040101010101" pitchFamily="2" charset="-122"/>
                </a:rPr>
                <a:t>  </a:t>
              </a:r>
              <a:endParaRPr lang="en-US" altLang="zh-CN" sz="1800" baseline="30000" dirty="0">
                <a:solidFill>
                  <a:srgbClr val="000000"/>
                </a:solidFill>
                <a:latin typeface="Times New Roman" panose="02020603050405020304" pitchFamily="18" charset="0"/>
                <a:ea typeface="华文中宋" panose="02010600040101010101" pitchFamily="2" charset="-122"/>
              </a:endParaRPr>
            </a:p>
          </p:txBody>
        </p:sp>
        <p:sp>
          <p:nvSpPr>
            <p:cNvPr id="105504" name="Line 45"/>
            <p:cNvSpPr/>
            <p:nvPr/>
          </p:nvSpPr>
          <p:spPr>
            <a:xfrm>
              <a:off x="1065" y="2932"/>
              <a:ext cx="317" cy="0"/>
            </a:xfrm>
            <a:prstGeom prst="line">
              <a:avLst/>
            </a:prstGeom>
            <a:ln w="28575" cap="flat" cmpd="sng">
              <a:solidFill>
                <a:schemeClr val="tx1"/>
              </a:solidFill>
              <a:prstDash val="solid"/>
              <a:headEnd type="none" w="med" len="med"/>
              <a:tailEnd type="none" w="med" len="med"/>
            </a:ln>
          </p:spPr>
        </p:sp>
        <p:sp>
          <p:nvSpPr>
            <p:cNvPr id="105505" name="Rectangle 46"/>
            <p:cNvSpPr/>
            <p:nvPr/>
          </p:nvSpPr>
          <p:spPr>
            <a:xfrm flipH="1">
              <a:off x="1019" y="3475"/>
              <a:ext cx="91" cy="182"/>
            </a:xfrm>
            <a:prstGeom prst="rect">
              <a:avLst/>
            </a:prstGeom>
            <a:noFill/>
            <a:ln w="28575" cap="flat" cmpd="sng">
              <a:solidFill>
                <a:schemeClr val="tx1"/>
              </a:solidFill>
              <a:prstDash val="solid"/>
              <a:miter/>
              <a:headEnd type="none" w="med" len="med"/>
              <a:tailEnd type="none" w="med" len="med"/>
            </a:ln>
          </p:spPr>
          <p:txBody>
            <a:bodyPr wrap="none" anchor="ctr" anchorCtr="0"/>
            <a:p>
              <a:pPr algn="ctr"/>
              <a:endParaRPr lang="en-US" altLang="zh-CN" sz="2000" dirty="0">
                <a:solidFill>
                  <a:srgbClr val="000000"/>
                </a:solidFill>
                <a:latin typeface="华文中宋" panose="02010600040101010101" pitchFamily="2" charset="-122"/>
                <a:ea typeface="华文中宋" panose="02010600040101010101" pitchFamily="2" charset="-122"/>
              </a:endParaRPr>
            </a:p>
          </p:txBody>
        </p:sp>
        <p:sp>
          <p:nvSpPr>
            <p:cNvPr id="105506" name="Line 47"/>
            <p:cNvSpPr/>
            <p:nvPr/>
          </p:nvSpPr>
          <p:spPr>
            <a:xfrm>
              <a:off x="1065" y="3248"/>
              <a:ext cx="0" cy="227"/>
            </a:xfrm>
            <a:prstGeom prst="line">
              <a:avLst/>
            </a:prstGeom>
            <a:ln w="28575" cap="flat" cmpd="sng">
              <a:solidFill>
                <a:schemeClr val="tx1"/>
              </a:solidFill>
              <a:prstDash val="solid"/>
              <a:headEnd type="none" w="med" len="med"/>
              <a:tailEnd type="none" w="med" len="med"/>
            </a:ln>
          </p:spPr>
        </p:sp>
        <p:sp>
          <p:nvSpPr>
            <p:cNvPr id="105507" name="Line 48"/>
            <p:cNvSpPr/>
            <p:nvPr/>
          </p:nvSpPr>
          <p:spPr>
            <a:xfrm>
              <a:off x="1246" y="3204"/>
              <a:ext cx="136" cy="0"/>
            </a:xfrm>
            <a:prstGeom prst="line">
              <a:avLst/>
            </a:prstGeom>
            <a:ln w="28575" cap="flat" cmpd="sng">
              <a:solidFill>
                <a:schemeClr val="tx1"/>
              </a:solidFill>
              <a:prstDash val="solid"/>
              <a:headEnd type="none" w="med" len="med"/>
              <a:tailEnd type="none" w="med" len="med"/>
            </a:ln>
          </p:spPr>
        </p:sp>
        <p:sp>
          <p:nvSpPr>
            <p:cNvPr id="105508" name="Line 49"/>
            <p:cNvSpPr/>
            <p:nvPr/>
          </p:nvSpPr>
          <p:spPr>
            <a:xfrm>
              <a:off x="1065" y="3340"/>
              <a:ext cx="317" cy="0"/>
            </a:xfrm>
            <a:prstGeom prst="line">
              <a:avLst/>
            </a:prstGeom>
            <a:ln w="28575" cap="flat" cmpd="sng">
              <a:solidFill>
                <a:schemeClr val="tx1"/>
              </a:solidFill>
              <a:prstDash val="solid"/>
              <a:headEnd type="none" w="med" len="med"/>
              <a:tailEnd type="none" w="med" len="med"/>
            </a:ln>
          </p:spPr>
        </p:sp>
        <p:sp>
          <p:nvSpPr>
            <p:cNvPr id="105509" name="AutoShape 50"/>
            <p:cNvSpPr/>
            <p:nvPr/>
          </p:nvSpPr>
          <p:spPr>
            <a:xfrm rot="5400000">
              <a:off x="1450" y="3044"/>
              <a:ext cx="363" cy="500"/>
            </a:xfrm>
            <a:prstGeom prst="triangle">
              <a:avLst>
                <a:gd name="adj" fmla="val 50000"/>
              </a:avLst>
            </a:prstGeom>
            <a:noFill/>
            <a:ln w="28575" cap="flat" cmpd="sng">
              <a:solidFill>
                <a:schemeClr val="tx1"/>
              </a:solidFill>
              <a:prstDash val="solid"/>
              <a:miter/>
              <a:headEnd type="none" w="med" len="med"/>
              <a:tailEnd type="none" w="med" len="med"/>
            </a:ln>
          </p:spPr>
          <p:txBody>
            <a:bodyPr rot="10800000" vert="eaVert" wrap="none"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C</a:t>
              </a:r>
              <a:r>
                <a:rPr lang="en-US" altLang="zh-CN" sz="1800" baseline="-25000" dirty="0">
                  <a:solidFill>
                    <a:srgbClr val="000000"/>
                  </a:solidFill>
                  <a:latin typeface="Times New Roman" panose="02020603050405020304" pitchFamily="18" charset="0"/>
                  <a:ea typeface="华文中宋" panose="02010600040101010101" pitchFamily="2" charset="-122"/>
                </a:rPr>
                <a:t>2</a:t>
              </a:r>
              <a:r>
                <a:rPr lang="en-US" altLang="zh-CN" sz="1800" baseline="30000" dirty="0">
                  <a:solidFill>
                    <a:srgbClr val="000000"/>
                  </a:solidFill>
                  <a:latin typeface="Times New Roman" panose="02020603050405020304" pitchFamily="18" charset="0"/>
                  <a:ea typeface="华文中宋" panose="02010600040101010101" pitchFamily="2" charset="-122"/>
                </a:rPr>
                <a:t>n</a:t>
              </a:r>
              <a:r>
                <a:rPr lang="en-US" altLang="zh-CN" sz="1800" baseline="-25000" dirty="0">
                  <a:solidFill>
                    <a:srgbClr val="000000"/>
                  </a:solidFill>
                  <a:latin typeface="Times New Roman" panose="02020603050405020304" pitchFamily="18" charset="0"/>
                  <a:ea typeface="华文中宋" panose="02010600040101010101" pitchFamily="2" charset="-122"/>
                </a:rPr>
                <a:t>-1</a:t>
              </a:r>
              <a:r>
                <a:rPr lang="en-US" altLang="zh-CN" sz="1800" baseline="30000" dirty="0">
                  <a:solidFill>
                    <a:srgbClr val="000000"/>
                  </a:solidFill>
                  <a:latin typeface="Times New Roman" panose="02020603050405020304" pitchFamily="18" charset="0"/>
                  <a:ea typeface="华文中宋" panose="02010600040101010101" pitchFamily="2" charset="-122"/>
                </a:rPr>
                <a:t> </a:t>
              </a:r>
              <a:endParaRPr lang="en-US" altLang="zh-CN" sz="1800" baseline="30000" dirty="0">
                <a:solidFill>
                  <a:srgbClr val="000000"/>
                </a:solidFill>
                <a:latin typeface="Times New Roman" panose="02020603050405020304" pitchFamily="18" charset="0"/>
                <a:ea typeface="华文中宋" panose="02010600040101010101" pitchFamily="2" charset="-122"/>
              </a:endParaRPr>
            </a:p>
          </p:txBody>
        </p:sp>
        <p:sp>
          <p:nvSpPr>
            <p:cNvPr id="105510" name="Line 51"/>
            <p:cNvSpPr/>
            <p:nvPr/>
          </p:nvSpPr>
          <p:spPr>
            <a:xfrm flipH="1">
              <a:off x="1246" y="2432"/>
              <a:ext cx="1" cy="771"/>
            </a:xfrm>
            <a:prstGeom prst="line">
              <a:avLst/>
            </a:prstGeom>
            <a:ln w="28575" cap="flat" cmpd="sng">
              <a:solidFill>
                <a:schemeClr val="tx1"/>
              </a:solidFill>
              <a:prstDash val="solid"/>
              <a:headEnd type="none" w="med" len="med"/>
              <a:tailEnd type="none" w="med" len="med"/>
            </a:ln>
          </p:spPr>
        </p:sp>
        <p:sp>
          <p:nvSpPr>
            <p:cNvPr id="105511" name="Line 52"/>
            <p:cNvSpPr/>
            <p:nvPr/>
          </p:nvSpPr>
          <p:spPr>
            <a:xfrm>
              <a:off x="1065" y="1389"/>
              <a:ext cx="0" cy="227"/>
            </a:xfrm>
            <a:prstGeom prst="line">
              <a:avLst/>
            </a:prstGeom>
            <a:ln w="28575" cap="flat" cmpd="sng">
              <a:solidFill>
                <a:schemeClr val="tx1"/>
              </a:solidFill>
              <a:prstDash val="solid"/>
              <a:headEnd type="none" w="med" len="med"/>
              <a:tailEnd type="none" w="med" len="med"/>
            </a:ln>
          </p:spPr>
        </p:sp>
        <p:sp>
          <p:nvSpPr>
            <p:cNvPr id="105512" name="Line 53"/>
            <p:cNvSpPr/>
            <p:nvPr/>
          </p:nvSpPr>
          <p:spPr>
            <a:xfrm>
              <a:off x="1066" y="2069"/>
              <a:ext cx="0" cy="317"/>
            </a:xfrm>
            <a:prstGeom prst="line">
              <a:avLst/>
            </a:prstGeom>
            <a:ln w="28575" cap="flat" cmpd="sng">
              <a:solidFill>
                <a:schemeClr val="tx1"/>
              </a:solidFill>
              <a:prstDash val="dash"/>
              <a:headEnd type="none" w="med" len="med"/>
              <a:tailEnd type="none" w="med" len="med"/>
            </a:ln>
          </p:spPr>
        </p:sp>
        <p:sp>
          <p:nvSpPr>
            <p:cNvPr id="105513" name="Line 54"/>
            <p:cNvSpPr/>
            <p:nvPr/>
          </p:nvSpPr>
          <p:spPr>
            <a:xfrm>
              <a:off x="1247" y="2069"/>
              <a:ext cx="0" cy="317"/>
            </a:xfrm>
            <a:prstGeom prst="line">
              <a:avLst/>
            </a:prstGeom>
            <a:ln w="28575" cap="flat" cmpd="sng">
              <a:solidFill>
                <a:schemeClr val="tx1"/>
              </a:solidFill>
              <a:prstDash val="dash"/>
              <a:headEnd type="none" w="med" len="med"/>
              <a:tailEnd type="none" w="med" len="med"/>
            </a:ln>
          </p:spPr>
        </p:sp>
        <p:sp>
          <p:nvSpPr>
            <p:cNvPr id="105514" name="Rectangle 55"/>
            <p:cNvSpPr/>
            <p:nvPr/>
          </p:nvSpPr>
          <p:spPr>
            <a:xfrm>
              <a:off x="839" y="750"/>
              <a:ext cx="363" cy="231"/>
            </a:xfrm>
            <a:prstGeom prst="rect">
              <a:avLst/>
            </a:prstGeom>
            <a:noFill/>
            <a:ln w="28575">
              <a:noFill/>
            </a:ln>
          </p:spPr>
          <p:txBody>
            <a:bodyPr lIns="0" rIns="0">
              <a:spAutoFit/>
            </a:bodyPr>
            <a:p>
              <a:r>
                <a:rPr lang="en-US" altLang="zh-CN" sz="1800" i="1" dirty="0">
                  <a:solidFill>
                    <a:srgbClr val="3333CC"/>
                  </a:solidFill>
                  <a:latin typeface="Times New Roman" panose="02020603050405020304" pitchFamily="18" charset="0"/>
                  <a:ea typeface="华文中宋" panose="02010600040101010101" pitchFamily="2" charset="-122"/>
                </a:rPr>
                <a:t>U</a:t>
              </a:r>
              <a:r>
                <a:rPr lang="en-US" altLang="zh-CN" sz="1800" i="1" baseline="-25000" dirty="0">
                  <a:solidFill>
                    <a:srgbClr val="3333CC"/>
                  </a:solidFill>
                  <a:latin typeface="Times New Roman" panose="02020603050405020304" pitchFamily="18" charset="0"/>
                  <a:ea typeface="华文中宋" panose="02010600040101010101" pitchFamily="2" charset="-122"/>
                </a:rPr>
                <a:t>REF</a:t>
              </a:r>
              <a:endParaRPr lang="en-US" altLang="zh-CN" sz="1800" i="1" baseline="-25000" dirty="0">
                <a:solidFill>
                  <a:srgbClr val="3333CC"/>
                </a:solidFill>
                <a:latin typeface="Times New Roman" panose="02020603050405020304" pitchFamily="18" charset="0"/>
                <a:ea typeface="华文中宋" panose="02010600040101010101" pitchFamily="2" charset="-122"/>
              </a:endParaRPr>
            </a:p>
          </p:txBody>
        </p:sp>
        <p:sp>
          <p:nvSpPr>
            <p:cNvPr id="105515" name="Line 56"/>
            <p:cNvSpPr/>
            <p:nvPr/>
          </p:nvSpPr>
          <p:spPr>
            <a:xfrm>
              <a:off x="1882" y="1389"/>
              <a:ext cx="363" cy="0"/>
            </a:xfrm>
            <a:prstGeom prst="line">
              <a:avLst/>
            </a:prstGeom>
            <a:ln w="28575" cap="flat" cmpd="sng">
              <a:solidFill>
                <a:schemeClr val="tx1"/>
              </a:solidFill>
              <a:prstDash val="solid"/>
              <a:headEnd type="none" w="med" len="med"/>
              <a:tailEnd type="none" w="med" len="med"/>
            </a:ln>
          </p:spPr>
        </p:sp>
        <p:sp>
          <p:nvSpPr>
            <p:cNvPr id="105516" name="Line 57"/>
            <p:cNvSpPr/>
            <p:nvPr/>
          </p:nvSpPr>
          <p:spPr>
            <a:xfrm>
              <a:off x="1882" y="1797"/>
              <a:ext cx="363" cy="0"/>
            </a:xfrm>
            <a:prstGeom prst="line">
              <a:avLst/>
            </a:prstGeom>
            <a:ln w="28575" cap="flat" cmpd="sng">
              <a:solidFill>
                <a:schemeClr val="tx1"/>
              </a:solidFill>
              <a:prstDash val="solid"/>
              <a:headEnd type="none" w="med" len="med"/>
              <a:tailEnd type="none" w="med" len="med"/>
            </a:ln>
          </p:spPr>
        </p:sp>
        <p:sp>
          <p:nvSpPr>
            <p:cNvPr id="105517" name="Line 58"/>
            <p:cNvSpPr/>
            <p:nvPr/>
          </p:nvSpPr>
          <p:spPr>
            <a:xfrm>
              <a:off x="1882" y="2478"/>
              <a:ext cx="363" cy="0"/>
            </a:xfrm>
            <a:prstGeom prst="line">
              <a:avLst/>
            </a:prstGeom>
            <a:ln w="28575" cap="flat" cmpd="sng">
              <a:solidFill>
                <a:schemeClr val="tx1"/>
              </a:solidFill>
              <a:prstDash val="solid"/>
              <a:headEnd type="none" w="med" len="med"/>
              <a:tailEnd type="none" w="med" len="med"/>
            </a:ln>
          </p:spPr>
        </p:sp>
        <p:sp>
          <p:nvSpPr>
            <p:cNvPr id="105518" name="Line 61"/>
            <p:cNvSpPr/>
            <p:nvPr/>
          </p:nvSpPr>
          <p:spPr>
            <a:xfrm>
              <a:off x="2064" y="1888"/>
              <a:ext cx="181" cy="0"/>
            </a:xfrm>
            <a:prstGeom prst="line">
              <a:avLst/>
            </a:prstGeom>
            <a:ln w="28575" cap="flat" cmpd="sng">
              <a:solidFill>
                <a:schemeClr val="tx1"/>
              </a:solidFill>
              <a:prstDash val="solid"/>
              <a:headEnd type="none" w="med" len="med"/>
              <a:tailEnd type="none" w="med" len="med"/>
            </a:ln>
          </p:spPr>
        </p:sp>
        <p:sp>
          <p:nvSpPr>
            <p:cNvPr id="105519" name="Rectangle 64"/>
            <p:cNvSpPr/>
            <p:nvPr/>
          </p:nvSpPr>
          <p:spPr>
            <a:xfrm>
              <a:off x="2245" y="2387"/>
              <a:ext cx="272" cy="272"/>
            </a:xfrm>
            <a:prstGeom prst="rect">
              <a:avLst/>
            </a:prstGeom>
            <a:noFill/>
            <a:ln w="28575" cap="flat" cmpd="sng">
              <a:solidFill>
                <a:schemeClr val="tx1"/>
              </a:solidFill>
              <a:prstDash val="solid"/>
              <a:miter/>
              <a:headEnd type="none" w="med" len="med"/>
              <a:tailEnd type="none" w="med" len="med"/>
            </a:ln>
          </p:spPr>
          <p:txBody>
            <a:bodyPr lIns="0" rIns="0" anchor="ctr" anchorCtr="0"/>
            <a:p>
              <a:pPr algn="ctr"/>
              <a:r>
                <a:rPr lang="en-US" altLang="zh-CN" sz="1400" dirty="0">
                  <a:solidFill>
                    <a:srgbClr val="000000"/>
                  </a:solidFill>
                  <a:latin typeface="Times New Roman" panose="02020603050405020304" pitchFamily="18" charset="0"/>
                  <a:ea typeface="华文中宋" panose="02010600040101010101" pitchFamily="2" charset="-122"/>
                </a:rPr>
                <a:t>D</a:t>
              </a:r>
              <a:r>
                <a:rPr lang="en-US" altLang="zh-CN" sz="1400" baseline="-25000" dirty="0">
                  <a:solidFill>
                    <a:srgbClr val="000000"/>
                  </a:solidFill>
                  <a:latin typeface="Times New Roman" panose="02020603050405020304" pitchFamily="18" charset="0"/>
                  <a:ea typeface="华文中宋" panose="02010600040101010101" pitchFamily="2" charset="-122"/>
                </a:rPr>
                <a:t>2</a:t>
              </a:r>
              <a:r>
                <a:rPr lang="en-US" altLang="zh-CN" sz="1400" baseline="30000" dirty="0">
                  <a:solidFill>
                    <a:srgbClr val="000000"/>
                  </a:solidFill>
                  <a:latin typeface="Times New Roman" panose="02020603050405020304" pitchFamily="18" charset="0"/>
                  <a:ea typeface="华文中宋" panose="02010600040101010101" pitchFamily="2" charset="-122"/>
                </a:rPr>
                <a:t>n</a:t>
              </a:r>
              <a:r>
                <a:rPr lang="en-US" altLang="zh-CN" sz="1400" baseline="-25000" dirty="0">
                  <a:solidFill>
                    <a:srgbClr val="000000"/>
                  </a:solidFill>
                  <a:latin typeface="Times New Roman" panose="02020603050405020304" pitchFamily="18" charset="0"/>
                  <a:ea typeface="华文中宋" panose="02010600040101010101" pitchFamily="2" charset="-122"/>
                </a:rPr>
                <a:t>-3</a:t>
              </a:r>
              <a:endParaRPr lang="en-US" altLang="zh-CN" sz="1400" baseline="-25000" dirty="0">
                <a:solidFill>
                  <a:srgbClr val="000000"/>
                </a:solidFill>
                <a:latin typeface="Times New Roman" panose="02020603050405020304" pitchFamily="18" charset="0"/>
                <a:ea typeface="华文中宋" panose="02010600040101010101" pitchFamily="2" charset="-122"/>
              </a:endParaRPr>
            </a:p>
          </p:txBody>
        </p:sp>
        <p:sp>
          <p:nvSpPr>
            <p:cNvPr id="105520" name="Line 67"/>
            <p:cNvSpPr/>
            <p:nvPr/>
          </p:nvSpPr>
          <p:spPr>
            <a:xfrm>
              <a:off x="2064" y="2568"/>
              <a:ext cx="181" cy="0"/>
            </a:xfrm>
            <a:prstGeom prst="line">
              <a:avLst/>
            </a:prstGeom>
            <a:ln w="28575" cap="flat" cmpd="sng">
              <a:solidFill>
                <a:schemeClr val="tx1"/>
              </a:solidFill>
              <a:prstDash val="solid"/>
              <a:headEnd type="none" w="med" len="med"/>
              <a:tailEnd type="none" w="med" len="med"/>
            </a:ln>
          </p:spPr>
        </p:sp>
        <p:sp>
          <p:nvSpPr>
            <p:cNvPr id="105521" name="Rectangle 70"/>
            <p:cNvSpPr/>
            <p:nvPr/>
          </p:nvSpPr>
          <p:spPr>
            <a:xfrm>
              <a:off x="2245" y="2795"/>
              <a:ext cx="272" cy="272"/>
            </a:xfrm>
            <a:prstGeom prst="rect">
              <a:avLst/>
            </a:prstGeom>
            <a:noFill/>
            <a:ln w="28575" cap="flat" cmpd="sng">
              <a:solidFill>
                <a:schemeClr val="tx1"/>
              </a:solidFill>
              <a:prstDash val="solid"/>
              <a:miter/>
              <a:headEnd type="none" w="med" len="med"/>
              <a:tailEnd type="none" w="med" len="med"/>
            </a:ln>
          </p:spPr>
          <p:txBody>
            <a:bodyPr lIns="0" rIns="0" anchor="ctr" anchorCtr="0"/>
            <a:p>
              <a:pPr algn="ctr"/>
              <a:r>
                <a:rPr lang="en-US" altLang="zh-CN" sz="1400" dirty="0">
                  <a:solidFill>
                    <a:srgbClr val="000000"/>
                  </a:solidFill>
                  <a:latin typeface="Times New Roman" panose="02020603050405020304" pitchFamily="18" charset="0"/>
                  <a:ea typeface="华文中宋" panose="02010600040101010101" pitchFamily="2" charset="-122"/>
                </a:rPr>
                <a:t>D</a:t>
              </a:r>
              <a:r>
                <a:rPr lang="en-US" altLang="zh-CN" sz="1400" baseline="-25000" dirty="0">
                  <a:solidFill>
                    <a:srgbClr val="000000"/>
                  </a:solidFill>
                  <a:latin typeface="Times New Roman" panose="02020603050405020304" pitchFamily="18" charset="0"/>
                  <a:ea typeface="华文中宋" panose="02010600040101010101" pitchFamily="2" charset="-122"/>
                </a:rPr>
                <a:t>2</a:t>
              </a:r>
              <a:r>
                <a:rPr lang="en-US" altLang="zh-CN" sz="1400" baseline="30000" dirty="0">
                  <a:solidFill>
                    <a:srgbClr val="000000"/>
                  </a:solidFill>
                  <a:latin typeface="Times New Roman" panose="02020603050405020304" pitchFamily="18" charset="0"/>
                  <a:ea typeface="华文中宋" panose="02010600040101010101" pitchFamily="2" charset="-122"/>
                </a:rPr>
                <a:t>n</a:t>
              </a:r>
              <a:r>
                <a:rPr lang="en-US" altLang="zh-CN" sz="1400" baseline="-25000" dirty="0">
                  <a:solidFill>
                    <a:srgbClr val="000000"/>
                  </a:solidFill>
                  <a:latin typeface="Times New Roman" panose="02020603050405020304" pitchFamily="18" charset="0"/>
                  <a:ea typeface="华文中宋" panose="02010600040101010101" pitchFamily="2" charset="-122"/>
                </a:rPr>
                <a:t>-2</a:t>
              </a:r>
              <a:endParaRPr lang="en-US" altLang="zh-CN" sz="1400" baseline="-25000" dirty="0">
                <a:solidFill>
                  <a:srgbClr val="000000"/>
                </a:solidFill>
                <a:latin typeface="Times New Roman" panose="02020603050405020304" pitchFamily="18" charset="0"/>
                <a:ea typeface="华文中宋" panose="02010600040101010101" pitchFamily="2" charset="-122"/>
              </a:endParaRPr>
            </a:p>
          </p:txBody>
        </p:sp>
        <p:sp>
          <p:nvSpPr>
            <p:cNvPr id="105522" name="Line 73"/>
            <p:cNvSpPr/>
            <p:nvPr/>
          </p:nvSpPr>
          <p:spPr>
            <a:xfrm>
              <a:off x="2064" y="2976"/>
              <a:ext cx="181" cy="0"/>
            </a:xfrm>
            <a:prstGeom prst="line">
              <a:avLst/>
            </a:prstGeom>
            <a:ln w="28575" cap="flat" cmpd="sng">
              <a:solidFill>
                <a:schemeClr val="tx1"/>
              </a:solidFill>
              <a:prstDash val="solid"/>
              <a:headEnd type="none" w="med" len="med"/>
              <a:tailEnd type="none" w="med" len="med"/>
            </a:ln>
          </p:spPr>
        </p:sp>
        <p:sp>
          <p:nvSpPr>
            <p:cNvPr id="105523" name="Line 76"/>
            <p:cNvSpPr/>
            <p:nvPr/>
          </p:nvSpPr>
          <p:spPr>
            <a:xfrm>
              <a:off x="1882" y="2886"/>
              <a:ext cx="363" cy="0"/>
            </a:xfrm>
            <a:prstGeom prst="line">
              <a:avLst/>
            </a:prstGeom>
            <a:ln w="28575" cap="flat" cmpd="sng">
              <a:solidFill>
                <a:schemeClr val="tx1"/>
              </a:solidFill>
              <a:prstDash val="solid"/>
              <a:headEnd type="none" w="med" len="med"/>
              <a:tailEnd type="none" w="med" len="med"/>
            </a:ln>
          </p:spPr>
        </p:sp>
        <p:sp>
          <p:nvSpPr>
            <p:cNvPr id="105524" name="Rectangle 79"/>
            <p:cNvSpPr/>
            <p:nvPr/>
          </p:nvSpPr>
          <p:spPr>
            <a:xfrm>
              <a:off x="2245" y="3203"/>
              <a:ext cx="272" cy="272"/>
            </a:xfrm>
            <a:prstGeom prst="rect">
              <a:avLst/>
            </a:prstGeom>
            <a:noFill/>
            <a:ln w="28575" cap="flat" cmpd="sng">
              <a:solidFill>
                <a:schemeClr val="tx1"/>
              </a:solidFill>
              <a:prstDash val="solid"/>
              <a:miter/>
              <a:headEnd type="none" w="med" len="med"/>
              <a:tailEnd type="none" w="med" len="med"/>
            </a:ln>
          </p:spPr>
          <p:txBody>
            <a:bodyPr lIns="0" rIns="0" anchor="ctr" anchorCtr="0"/>
            <a:p>
              <a:pPr algn="ctr"/>
              <a:r>
                <a:rPr lang="en-US" altLang="zh-CN" sz="1400" dirty="0">
                  <a:solidFill>
                    <a:srgbClr val="000000"/>
                  </a:solidFill>
                  <a:latin typeface="Times New Roman" panose="02020603050405020304" pitchFamily="18" charset="0"/>
                  <a:ea typeface="华文中宋" panose="02010600040101010101" pitchFamily="2" charset="-122"/>
                </a:rPr>
                <a:t>D</a:t>
              </a:r>
              <a:r>
                <a:rPr lang="en-US" altLang="zh-CN" sz="1400" baseline="-25000" dirty="0">
                  <a:solidFill>
                    <a:srgbClr val="000000"/>
                  </a:solidFill>
                  <a:latin typeface="Times New Roman" panose="02020603050405020304" pitchFamily="18" charset="0"/>
                  <a:ea typeface="华文中宋" panose="02010600040101010101" pitchFamily="2" charset="-122"/>
                </a:rPr>
                <a:t>2</a:t>
              </a:r>
              <a:r>
                <a:rPr lang="en-US" altLang="zh-CN" sz="1400" baseline="30000" dirty="0">
                  <a:solidFill>
                    <a:srgbClr val="000000"/>
                  </a:solidFill>
                  <a:latin typeface="Times New Roman" panose="02020603050405020304" pitchFamily="18" charset="0"/>
                  <a:ea typeface="华文中宋" panose="02010600040101010101" pitchFamily="2" charset="-122"/>
                </a:rPr>
                <a:t>n</a:t>
              </a:r>
              <a:r>
                <a:rPr lang="en-US" altLang="zh-CN" sz="1400" baseline="-25000" dirty="0">
                  <a:solidFill>
                    <a:srgbClr val="000000"/>
                  </a:solidFill>
                  <a:latin typeface="Times New Roman" panose="02020603050405020304" pitchFamily="18" charset="0"/>
                  <a:ea typeface="华文中宋" panose="02010600040101010101" pitchFamily="2" charset="-122"/>
                </a:rPr>
                <a:t>-1</a:t>
              </a:r>
              <a:endParaRPr lang="en-US" altLang="zh-CN" sz="1400" baseline="-25000" dirty="0">
                <a:solidFill>
                  <a:srgbClr val="000000"/>
                </a:solidFill>
                <a:latin typeface="Times New Roman" panose="02020603050405020304" pitchFamily="18" charset="0"/>
                <a:ea typeface="华文中宋" panose="02010600040101010101" pitchFamily="2" charset="-122"/>
              </a:endParaRPr>
            </a:p>
          </p:txBody>
        </p:sp>
        <p:sp>
          <p:nvSpPr>
            <p:cNvPr id="105525" name="Line 82"/>
            <p:cNvSpPr/>
            <p:nvPr/>
          </p:nvSpPr>
          <p:spPr>
            <a:xfrm>
              <a:off x="2517" y="1797"/>
              <a:ext cx="182" cy="0"/>
            </a:xfrm>
            <a:prstGeom prst="line">
              <a:avLst/>
            </a:prstGeom>
            <a:ln w="28575" cap="flat" cmpd="sng">
              <a:solidFill>
                <a:schemeClr val="tx1"/>
              </a:solidFill>
              <a:prstDash val="solid"/>
              <a:headEnd type="none" w="med" len="med"/>
              <a:tailEnd type="triangle" w="med" len="med"/>
            </a:ln>
          </p:spPr>
        </p:sp>
        <p:sp>
          <p:nvSpPr>
            <p:cNvPr id="105526" name="Line 84"/>
            <p:cNvSpPr/>
            <p:nvPr/>
          </p:nvSpPr>
          <p:spPr>
            <a:xfrm>
              <a:off x="2064" y="2069"/>
              <a:ext cx="0" cy="318"/>
            </a:xfrm>
            <a:prstGeom prst="line">
              <a:avLst/>
            </a:prstGeom>
            <a:ln w="28575" cap="flat" cmpd="sng">
              <a:solidFill>
                <a:schemeClr val="tx1"/>
              </a:solidFill>
              <a:prstDash val="dash"/>
              <a:headEnd type="none" w="med" len="med"/>
              <a:tailEnd type="none" w="med" len="med"/>
            </a:ln>
          </p:spPr>
        </p:sp>
        <p:sp>
          <p:nvSpPr>
            <p:cNvPr id="105527" name="Line 87"/>
            <p:cNvSpPr/>
            <p:nvPr/>
          </p:nvSpPr>
          <p:spPr>
            <a:xfrm>
              <a:off x="1882" y="3294"/>
              <a:ext cx="363" cy="0"/>
            </a:xfrm>
            <a:prstGeom prst="line">
              <a:avLst/>
            </a:prstGeom>
            <a:ln w="28575" cap="flat" cmpd="sng">
              <a:solidFill>
                <a:schemeClr val="tx1"/>
              </a:solidFill>
              <a:prstDash val="solid"/>
              <a:headEnd type="none" w="med" len="med"/>
              <a:tailEnd type="none" w="med" len="med"/>
            </a:ln>
          </p:spPr>
        </p:sp>
        <p:sp>
          <p:nvSpPr>
            <p:cNvPr id="105528" name="Line 89"/>
            <p:cNvSpPr/>
            <p:nvPr/>
          </p:nvSpPr>
          <p:spPr>
            <a:xfrm>
              <a:off x="2517" y="2478"/>
              <a:ext cx="182" cy="0"/>
            </a:xfrm>
            <a:prstGeom prst="line">
              <a:avLst/>
            </a:prstGeom>
            <a:ln w="28575" cap="flat" cmpd="sng">
              <a:solidFill>
                <a:schemeClr val="tx1"/>
              </a:solidFill>
              <a:prstDash val="solid"/>
              <a:headEnd type="none" w="med" len="med"/>
              <a:tailEnd type="triangle" w="med" len="med"/>
            </a:ln>
          </p:spPr>
        </p:sp>
        <p:sp>
          <p:nvSpPr>
            <p:cNvPr id="105529" name="Line 90"/>
            <p:cNvSpPr/>
            <p:nvPr/>
          </p:nvSpPr>
          <p:spPr>
            <a:xfrm>
              <a:off x="2517" y="2886"/>
              <a:ext cx="182" cy="0"/>
            </a:xfrm>
            <a:prstGeom prst="line">
              <a:avLst/>
            </a:prstGeom>
            <a:ln w="28575" cap="flat" cmpd="sng">
              <a:solidFill>
                <a:schemeClr val="tx1"/>
              </a:solidFill>
              <a:prstDash val="solid"/>
              <a:headEnd type="none" w="med" len="med"/>
              <a:tailEnd type="triangle" w="med" len="med"/>
            </a:ln>
          </p:spPr>
        </p:sp>
        <p:sp>
          <p:nvSpPr>
            <p:cNvPr id="105530" name="Line 91"/>
            <p:cNvSpPr/>
            <p:nvPr/>
          </p:nvSpPr>
          <p:spPr>
            <a:xfrm>
              <a:off x="2517" y="3294"/>
              <a:ext cx="182" cy="0"/>
            </a:xfrm>
            <a:prstGeom prst="line">
              <a:avLst/>
            </a:prstGeom>
            <a:ln w="28575" cap="flat" cmpd="sng">
              <a:solidFill>
                <a:schemeClr val="tx1"/>
              </a:solidFill>
              <a:prstDash val="solid"/>
              <a:headEnd type="none" w="med" len="med"/>
              <a:tailEnd type="triangle" w="med" len="med"/>
            </a:ln>
          </p:spPr>
        </p:sp>
        <p:sp>
          <p:nvSpPr>
            <p:cNvPr id="105531" name="Line 92"/>
            <p:cNvSpPr/>
            <p:nvPr/>
          </p:nvSpPr>
          <p:spPr>
            <a:xfrm>
              <a:off x="3016" y="1616"/>
              <a:ext cx="182" cy="0"/>
            </a:xfrm>
            <a:prstGeom prst="line">
              <a:avLst/>
            </a:prstGeom>
            <a:ln w="28575" cap="flat" cmpd="sng">
              <a:solidFill>
                <a:schemeClr val="tx1"/>
              </a:solidFill>
              <a:prstDash val="solid"/>
              <a:headEnd type="none" w="med" len="med"/>
              <a:tailEnd type="none" w="med" len="med"/>
            </a:ln>
          </p:spPr>
        </p:sp>
        <p:sp>
          <p:nvSpPr>
            <p:cNvPr id="105532" name="Line 93"/>
            <p:cNvSpPr/>
            <p:nvPr/>
          </p:nvSpPr>
          <p:spPr>
            <a:xfrm>
              <a:off x="3016" y="1933"/>
              <a:ext cx="182" cy="0"/>
            </a:xfrm>
            <a:prstGeom prst="line">
              <a:avLst/>
            </a:prstGeom>
            <a:ln w="28575" cap="flat" cmpd="sng">
              <a:solidFill>
                <a:schemeClr val="tx1"/>
              </a:solidFill>
              <a:prstDash val="solid"/>
              <a:headEnd type="none" w="med" len="med"/>
              <a:tailEnd type="none" w="med" len="med"/>
            </a:ln>
          </p:spPr>
        </p:sp>
        <p:sp>
          <p:nvSpPr>
            <p:cNvPr id="105533" name="Line 94"/>
            <p:cNvSpPr/>
            <p:nvPr/>
          </p:nvSpPr>
          <p:spPr>
            <a:xfrm>
              <a:off x="3016" y="3203"/>
              <a:ext cx="182" cy="0"/>
            </a:xfrm>
            <a:prstGeom prst="line">
              <a:avLst/>
            </a:prstGeom>
            <a:ln w="28575" cap="flat" cmpd="sng">
              <a:solidFill>
                <a:schemeClr val="tx1"/>
              </a:solidFill>
              <a:prstDash val="solid"/>
              <a:headEnd type="none" w="med" len="med"/>
              <a:tailEnd type="none" w="med" len="med"/>
            </a:ln>
          </p:spPr>
        </p:sp>
        <p:sp>
          <p:nvSpPr>
            <p:cNvPr id="105534" name="Rectangle 95"/>
            <p:cNvSpPr/>
            <p:nvPr/>
          </p:nvSpPr>
          <p:spPr>
            <a:xfrm>
              <a:off x="3243" y="1812"/>
              <a:ext cx="545" cy="231"/>
            </a:xfrm>
            <a:prstGeom prst="rect">
              <a:avLst/>
            </a:prstGeom>
            <a:noFill/>
            <a:ln w="28575">
              <a:noFill/>
            </a:ln>
          </p:spPr>
          <p:txBody>
            <a:bodyPr lIns="0" rIns="0">
              <a:spAutoFit/>
            </a:bodyPr>
            <a:p>
              <a:r>
                <a:rPr lang="en-US" altLang="zh-CN" sz="1800" i="1" dirty="0">
                  <a:solidFill>
                    <a:srgbClr val="000000"/>
                  </a:solidFill>
                  <a:latin typeface="Times New Roman" panose="02020603050405020304" pitchFamily="18" charset="0"/>
                  <a:ea typeface="华文中宋" panose="02010600040101010101" pitchFamily="2" charset="-122"/>
                </a:rPr>
                <a:t>d</a:t>
              </a:r>
              <a:r>
                <a:rPr lang="en-US" altLang="zh-CN" sz="1800" baseline="-25000" dirty="0">
                  <a:solidFill>
                    <a:srgbClr val="000000"/>
                  </a:solidFill>
                  <a:latin typeface="Times New Roman" panose="02020603050405020304" pitchFamily="18" charset="0"/>
                  <a:ea typeface="华文中宋" panose="02010600040101010101" pitchFamily="2" charset="-122"/>
                </a:rPr>
                <a:t>2</a:t>
              </a:r>
              <a:endParaRPr lang="en-US" altLang="zh-CN" sz="1800" dirty="0">
                <a:solidFill>
                  <a:srgbClr val="000000"/>
                </a:solidFill>
                <a:latin typeface="Times New Roman" panose="02020603050405020304" pitchFamily="18" charset="0"/>
                <a:ea typeface="华文中宋" panose="02010600040101010101" pitchFamily="2" charset="-122"/>
              </a:endParaRPr>
            </a:p>
          </p:txBody>
        </p:sp>
        <p:sp>
          <p:nvSpPr>
            <p:cNvPr id="105535" name="Rectangle 96"/>
            <p:cNvSpPr/>
            <p:nvPr/>
          </p:nvSpPr>
          <p:spPr>
            <a:xfrm>
              <a:off x="3242" y="3082"/>
              <a:ext cx="545" cy="231"/>
            </a:xfrm>
            <a:prstGeom prst="rect">
              <a:avLst/>
            </a:prstGeom>
            <a:noFill/>
            <a:ln w="28575">
              <a:noFill/>
            </a:ln>
          </p:spPr>
          <p:txBody>
            <a:bodyPr lIns="0" rIns="0">
              <a:spAutoFit/>
            </a:bodyPr>
            <a:p>
              <a:r>
                <a:rPr lang="en-US" altLang="zh-CN" sz="1800" i="1" dirty="0">
                  <a:solidFill>
                    <a:srgbClr val="000000"/>
                  </a:solidFill>
                  <a:latin typeface="Times New Roman" panose="02020603050405020304" pitchFamily="18" charset="0"/>
                  <a:ea typeface="华文中宋" panose="02010600040101010101" pitchFamily="2" charset="-122"/>
                </a:rPr>
                <a:t>d</a:t>
              </a:r>
              <a:r>
                <a:rPr lang="en-US" altLang="zh-CN" sz="1800" i="1" baseline="-25000" dirty="0">
                  <a:solidFill>
                    <a:srgbClr val="000000"/>
                  </a:solidFill>
                  <a:latin typeface="Times New Roman" panose="02020603050405020304" pitchFamily="18" charset="0"/>
                  <a:ea typeface="华文中宋" panose="02010600040101010101" pitchFamily="2" charset="-122"/>
                </a:rPr>
                <a:t>n</a:t>
              </a:r>
              <a:r>
                <a:rPr lang="en-US" altLang="zh-CN" sz="1800" dirty="0">
                  <a:solidFill>
                    <a:srgbClr val="000000"/>
                  </a:solidFill>
                  <a:latin typeface="Times New Roman" panose="02020603050405020304" pitchFamily="18" charset="0"/>
                  <a:ea typeface="华文中宋" panose="02010600040101010101" pitchFamily="2" charset="-122"/>
                </a:rPr>
                <a:t>(LSB)</a:t>
              </a:r>
              <a:endParaRPr lang="en-US" altLang="zh-CN" sz="1800" dirty="0">
                <a:solidFill>
                  <a:srgbClr val="000000"/>
                </a:solidFill>
                <a:latin typeface="Times New Roman" panose="02020603050405020304" pitchFamily="18" charset="0"/>
                <a:ea typeface="华文中宋" panose="02010600040101010101" pitchFamily="2" charset="-122"/>
              </a:endParaRPr>
            </a:p>
          </p:txBody>
        </p:sp>
        <p:sp>
          <p:nvSpPr>
            <p:cNvPr id="105536" name="Line 97"/>
            <p:cNvSpPr/>
            <p:nvPr/>
          </p:nvSpPr>
          <p:spPr>
            <a:xfrm>
              <a:off x="2064" y="2432"/>
              <a:ext cx="0" cy="1361"/>
            </a:xfrm>
            <a:prstGeom prst="line">
              <a:avLst/>
            </a:prstGeom>
            <a:ln w="28575" cap="flat" cmpd="sng">
              <a:solidFill>
                <a:schemeClr val="tx1"/>
              </a:solidFill>
              <a:prstDash val="solid"/>
              <a:headEnd type="none" w="med" len="med"/>
              <a:tailEnd type="none" w="med" len="med"/>
            </a:ln>
          </p:spPr>
        </p:sp>
        <p:sp>
          <p:nvSpPr>
            <p:cNvPr id="105537" name="Rectangle 110"/>
            <p:cNvSpPr/>
            <p:nvPr/>
          </p:nvSpPr>
          <p:spPr>
            <a:xfrm>
              <a:off x="1837" y="3607"/>
              <a:ext cx="272" cy="231"/>
            </a:xfrm>
            <a:prstGeom prst="rect">
              <a:avLst/>
            </a:prstGeom>
            <a:noFill/>
            <a:ln w="28575">
              <a:noFill/>
            </a:ln>
          </p:spPr>
          <p:txBody>
            <a:bodyPr lIns="0" rIns="0">
              <a:spAutoFit/>
            </a:bodyPr>
            <a:p>
              <a:r>
                <a:rPr lang="en-US" altLang="zh-CN" sz="1800" i="1" dirty="0">
                  <a:solidFill>
                    <a:srgbClr val="3333CC"/>
                  </a:solidFill>
                  <a:latin typeface="Times New Roman" panose="02020603050405020304" pitchFamily="18" charset="0"/>
                  <a:ea typeface="华文中宋" panose="02010600040101010101" pitchFamily="2" charset="-122"/>
                </a:rPr>
                <a:t>CP</a:t>
              </a:r>
              <a:endParaRPr lang="en-US" altLang="zh-CN" sz="1800" i="1" dirty="0">
                <a:solidFill>
                  <a:srgbClr val="3333CC"/>
                </a:solidFill>
                <a:latin typeface="Times New Roman" panose="02020603050405020304" pitchFamily="18" charset="0"/>
                <a:ea typeface="华文中宋" panose="02010600040101010101" pitchFamily="2" charset="-122"/>
              </a:endParaRPr>
            </a:p>
          </p:txBody>
        </p:sp>
        <p:sp>
          <p:nvSpPr>
            <p:cNvPr id="105538" name="Rectangle 111"/>
            <p:cNvSpPr/>
            <p:nvPr/>
          </p:nvSpPr>
          <p:spPr>
            <a:xfrm>
              <a:off x="839" y="1571"/>
              <a:ext cx="272" cy="250"/>
            </a:xfrm>
            <a:prstGeom prst="rect">
              <a:avLst/>
            </a:prstGeom>
            <a:noFill/>
            <a:ln w="28575">
              <a:noFill/>
            </a:ln>
          </p:spPr>
          <p:txBody>
            <a:bodyPr lIns="0" rIns="0">
              <a:spAutoFit/>
            </a:bodyPr>
            <a:p>
              <a:r>
                <a:rPr lang="en-US" altLang="zh-CN" sz="2000" i="1" dirty="0">
                  <a:solidFill>
                    <a:schemeClr val="hlink"/>
                  </a:solidFill>
                  <a:latin typeface="Times New Roman" panose="02020603050405020304" pitchFamily="18" charset="0"/>
                  <a:ea typeface="华文中宋" panose="02010600040101010101" pitchFamily="2" charset="-122"/>
                </a:rPr>
                <a:t> </a:t>
              </a:r>
              <a:r>
                <a:rPr lang="en-US" altLang="zh-CN" sz="2000" i="1" dirty="0">
                  <a:solidFill>
                    <a:srgbClr val="3333CC"/>
                  </a:solidFill>
                  <a:latin typeface="Times New Roman" panose="02020603050405020304" pitchFamily="18" charset="0"/>
                  <a:ea typeface="华文中宋" panose="02010600040101010101" pitchFamily="2" charset="-122"/>
                </a:rPr>
                <a:t>R</a:t>
              </a:r>
              <a:endParaRPr lang="en-US" altLang="zh-CN" sz="2000" dirty="0">
                <a:solidFill>
                  <a:srgbClr val="3333CC"/>
                </a:solidFill>
                <a:latin typeface="Times New Roman" panose="02020603050405020304" pitchFamily="18" charset="0"/>
                <a:ea typeface="华文中宋" panose="02010600040101010101" pitchFamily="2" charset="-122"/>
              </a:endParaRPr>
            </a:p>
          </p:txBody>
        </p:sp>
        <p:sp>
          <p:nvSpPr>
            <p:cNvPr id="105539" name="Rectangle 112"/>
            <p:cNvSpPr/>
            <p:nvPr/>
          </p:nvSpPr>
          <p:spPr>
            <a:xfrm>
              <a:off x="839" y="3430"/>
              <a:ext cx="272" cy="250"/>
            </a:xfrm>
            <a:prstGeom prst="rect">
              <a:avLst/>
            </a:prstGeom>
            <a:noFill/>
            <a:ln w="28575">
              <a:noFill/>
            </a:ln>
          </p:spPr>
          <p:txBody>
            <a:bodyPr lIns="0" rIns="0">
              <a:spAutoFit/>
            </a:bodyPr>
            <a:p>
              <a:r>
                <a:rPr lang="en-US" altLang="zh-CN" sz="2000" i="1" dirty="0">
                  <a:solidFill>
                    <a:schemeClr val="hlink"/>
                  </a:solidFill>
                  <a:latin typeface="Times New Roman" panose="02020603050405020304" pitchFamily="18" charset="0"/>
                  <a:ea typeface="华文中宋" panose="02010600040101010101" pitchFamily="2" charset="-122"/>
                </a:rPr>
                <a:t> </a:t>
              </a:r>
              <a:r>
                <a:rPr lang="en-US" altLang="zh-CN" sz="2000" i="1" dirty="0">
                  <a:solidFill>
                    <a:srgbClr val="3333CC"/>
                  </a:solidFill>
                  <a:latin typeface="Times New Roman" panose="02020603050405020304" pitchFamily="18" charset="0"/>
                  <a:ea typeface="华文中宋" panose="02010600040101010101" pitchFamily="2" charset="-122"/>
                </a:rPr>
                <a:t>R</a:t>
              </a:r>
              <a:endParaRPr lang="en-US" altLang="zh-CN" sz="2000" dirty="0">
                <a:solidFill>
                  <a:srgbClr val="3333CC"/>
                </a:solidFill>
                <a:latin typeface="Times New Roman" panose="02020603050405020304" pitchFamily="18" charset="0"/>
                <a:ea typeface="华文中宋" panose="02010600040101010101" pitchFamily="2" charset="-122"/>
              </a:endParaRPr>
            </a:p>
          </p:txBody>
        </p:sp>
        <p:sp>
          <p:nvSpPr>
            <p:cNvPr id="105540" name="Rectangle 113"/>
            <p:cNvSpPr/>
            <p:nvPr/>
          </p:nvSpPr>
          <p:spPr>
            <a:xfrm>
              <a:off x="884" y="2636"/>
              <a:ext cx="91" cy="250"/>
            </a:xfrm>
            <a:prstGeom prst="rect">
              <a:avLst/>
            </a:prstGeom>
            <a:noFill/>
            <a:ln w="28575">
              <a:noFill/>
            </a:ln>
          </p:spPr>
          <p:txBody>
            <a:bodyPr lIns="0" rIns="0">
              <a:spAutoFit/>
            </a:bodyPr>
            <a:p>
              <a:r>
                <a:rPr lang="en-US" altLang="zh-CN" sz="2000" i="1" dirty="0">
                  <a:solidFill>
                    <a:srgbClr val="3333CC"/>
                  </a:solidFill>
                  <a:latin typeface="Times New Roman" panose="02020603050405020304" pitchFamily="18" charset="0"/>
                  <a:ea typeface="华文中宋" panose="02010600040101010101" pitchFamily="2" charset="-122"/>
                </a:rPr>
                <a:t>R</a:t>
              </a:r>
              <a:endParaRPr lang="en-US" altLang="zh-CN" sz="2000" i="1" dirty="0">
                <a:solidFill>
                  <a:srgbClr val="3333CC"/>
                </a:solidFill>
                <a:latin typeface="Times New Roman" panose="02020603050405020304" pitchFamily="18" charset="0"/>
                <a:ea typeface="华文中宋" panose="02010600040101010101" pitchFamily="2" charset="-122"/>
              </a:endParaRPr>
            </a:p>
          </p:txBody>
        </p:sp>
        <p:sp>
          <p:nvSpPr>
            <p:cNvPr id="105541" name="Rectangle 114"/>
            <p:cNvSpPr/>
            <p:nvPr/>
          </p:nvSpPr>
          <p:spPr>
            <a:xfrm>
              <a:off x="884" y="3044"/>
              <a:ext cx="91" cy="250"/>
            </a:xfrm>
            <a:prstGeom prst="rect">
              <a:avLst/>
            </a:prstGeom>
            <a:noFill/>
            <a:ln w="28575">
              <a:noFill/>
            </a:ln>
          </p:spPr>
          <p:txBody>
            <a:bodyPr lIns="0" rIns="0">
              <a:spAutoFit/>
            </a:bodyPr>
            <a:p>
              <a:r>
                <a:rPr lang="en-US" altLang="zh-CN" sz="2000" i="1" dirty="0">
                  <a:solidFill>
                    <a:srgbClr val="3333CC"/>
                  </a:solidFill>
                  <a:latin typeface="Times New Roman" panose="02020603050405020304" pitchFamily="18" charset="0"/>
                  <a:ea typeface="华文中宋" panose="02010600040101010101" pitchFamily="2" charset="-122"/>
                </a:rPr>
                <a:t>R</a:t>
              </a:r>
              <a:endParaRPr lang="en-US" altLang="zh-CN" sz="2000" i="1" dirty="0">
                <a:solidFill>
                  <a:srgbClr val="3333CC"/>
                </a:solidFill>
                <a:latin typeface="Times New Roman" panose="02020603050405020304" pitchFamily="18" charset="0"/>
                <a:ea typeface="华文中宋" panose="02010600040101010101" pitchFamily="2" charset="-122"/>
              </a:endParaRPr>
            </a:p>
          </p:txBody>
        </p:sp>
        <p:sp>
          <p:nvSpPr>
            <p:cNvPr id="105542" name="Rectangle 5"/>
            <p:cNvSpPr/>
            <p:nvPr/>
          </p:nvSpPr>
          <p:spPr>
            <a:xfrm flipH="1">
              <a:off x="1020" y="1207"/>
              <a:ext cx="91" cy="182"/>
            </a:xfrm>
            <a:prstGeom prst="rect">
              <a:avLst/>
            </a:prstGeom>
            <a:noFill/>
            <a:ln w="28575" cap="flat" cmpd="sng">
              <a:solidFill>
                <a:schemeClr val="tx1"/>
              </a:solidFill>
              <a:prstDash val="solid"/>
              <a:miter/>
              <a:headEnd type="none" w="med" len="med"/>
              <a:tailEnd type="none" w="med" len="med"/>
            </a:ln>
          </p:spPr>
          <p:txBody>
            <a:bodyPr wrap="none" anchor="ctr" anchorCtr="0"/>
            <a:p>
              <a:pPr algn="ctr"/>
              <a:endParaRPr lang="en-US" altLang="zh-CN" sz="2000" dirty="0">
                <a:solidFill>
                  <a:srgbClr val="000000"/>
                </a:solidFill>
                <a:latin typeface="华文中宋" panose="02010600040101010101" pitchFamily="2" charset="-122"/>
                <a:ea typeface="华文中宋" panose="02010600040101010101" pitchFamily="2" charset="-122"/>
              </a:endParaRPr>
            </a:p>
          </p:txBody>
        </p:sp>
        <p:sp>
          <p:nvSpPr>
            <p:cNvPr id="105543" name="Line 52"/>
            <p:cNvSpPr/>
            <p:nvPr/>
          </p:nvSpPr>
          <p:spPr>
            <a:xfrm>
              <a:off x="1066" y="980"/>
              <a:ext cx="0" cy="227"/>
            </a:xfrm>
            <a:prstGeom prst="line">
              <a:avLst/>
            </a:prstGeom>
            <a:ln w="28575" cap="flat" cmpd="sng">
              <a:solidFill>
                <a:schemeClr val="tx1"/>
              </a:solidFill>
              <a:prstDash val="solid"/>
              <a:headEnd type="none" w="med" len="med"/>
              <a:tailEnd type="none" w="med" len="med"/>
            </a:ln>
          </p:spPr>
        </p:sp>
        <p:sp>
          <p:nvSpPr>
            <p:cNvPr id="105544" name="Rectangle 111"/>
            <p:cNvSpPr/>
            <p:nvPr/>
          </p:nvSpPr>
          <p:spPr>
            <a:xfrm>
              <a:off x="839" y="1162"/>
              <a:ext cx="272" cy="250"/>
            </a:xfrm>
            <a:prstGeom prst="rect">
              <a:avLst/>
            </a:prstGeom>
            <a:noFill/>
            <a:ln w="28575">
              <a:noFill/>
            </a:ln>
          </p:spPr>
          <p:txBody>
            <a:bodyPr lIns="0" rIns="0">
              <a:spAutoFit/>
            </a:bodyPr>
            <a:p>
              <a:r>
                <a:rPr lang="en-US" altLang="zh-CN" sz="2000" i="1" dirty="0">
                  <a:solidFill>
                    <a:schemeClr val="hlink"/>
                  </a:solidFill>
                  <a:latin typeface="Times New Roman" panose="02020603050405020304" pitchFamily="18" charset="0"/>
                  <a:ea typeface="华文中宋" panose="02010600040101010101" pitchFamily="2" charset="-122"/>
                </a:rPr>
                <a:t> </a:t>
              </a:r>
              <a:r>
                <a:rPr lang="en-US" altLang="zh-CN" sz="2000" i="1" dirty="0">
                  <a:solidFill>
                    <a:srgbClr val="3333CC"/>
                  </a:solidFill>
                  <a:latin typeface="Times New Roman" panose="02020603050405020304" pitchFamily="18" charset="0"/>
                  <a:ea typeface="华文中宋" panose="02010600040101010101" pitchFamily="2" charset="-122"/>
                </a:rPr>
                <a:t>R</a:t>
              </a:r>
              <a:endParaRPr lang="en-US" altLang="zh-CN" sz="2000" dirty="0">
                <a:solidFill>
                  <a:srgbClr val="3333CC"/>
                </a:solidFill>
                <a:latin typeface="Times New Roman" panose="02020603050405020304" pitchFamily="18" charset="0"/>
                <a:ea typeface="华文中宋" panose="02010600040101010101" pitchFamily="2" charset="-122"/>
              </a:endParaRPr>
            </a:p>
          </p:txBody>
        </p:sp>
        <p:sp>
          <p:nvSpPr>
            <p:cNvPr id="105545" name="Line 97"/>
            <p:cNvSpPr/>
            <p:nvPr/>
          </p:nvSpPr>
          <p:spPr>
            <a:xfrm>
              <a:off x="2064" y="1480"/>
              <a:ext cx="0" cy="544"/>
            </a:xfrm>
            <a:prstGeom prst="line">
              <a:avLst/>
            </a:prstGeom>
            <a:ln w="28575" cap="flat" cmpd="sng">
              <a:solidFill>
                <a:schemeClr val="tx1"/>
              </a:solidFill>
              <a:prstDash val="solid"/>
              <a:headEnd type="none" w="med" len="med"/>
              <a:tailEnd type="none" w="med" len="med"/>
            </a:ln>
          </p:spPr>
        </p:sp>
        <p:sp>
          <p:nvSpPr>
            <p:cNvPr id="105546" name="Line 73"/>
            <p:cNvSpPr/>
            <p:nvPr/>
          </p:nvSpPr>
          <p:spPr>
            <a:xfrm>
              <a:off x="2064" y="3385"/>
              <a:ext cx="181" cy="0"/>
            </a:xfrm>
            <a:prstGeom prst="line">
              <a:avLst/>
            </a:prstGeom>
            <a:ln w="28575" cap="flat" cmpd="sng">
              <a:solidFill>
                <a:schemeClr val="tx1"/>
              </a:solidFill>
              <a:prstDash val="solid"/>
              <a:headEnd type="none" w="med" len="med"/>
              <a:tailEnd type="none" w="med" len="med"/>
            </a:ln>
          </p:spPr>
        </p:sp>
        <p:sp>
          <p:nvSpPr>
            <p:cNvPr id="105547" name="Rectangle 8"/>
            <p:cNvSpPr/>
            <p:nvPr/>
          </p:nvSpPr>
          <p:spPr>
            <a:xfrm>
              <a:off x="2245" y="1298"/>
              <a:ext cx="272" cy="272"/>
            </a:xfrm>
            <a:prstGeom prst="rect">
              <a:avLst/>
            </a:prstGeom>
            <a:noFill/>
            <a:ln w="28575" cap="flat" cmpd="sng">
              <a:solidFill>
                <a:schemeClr val="tx1"/>
              </a:solidFill>
              <a:prstDash val="solid"/>
              <a:miter/>
              <a:headEnd type="none" w="med" len="med"/>
              <a:tailEnd type="none" w="med" len="med"/>
            </a:ln>
          </p:spPr>
          <p:txBody>
            <a:bodyPr lIns="0" rIns="0" anchor="ctr" anchorCtr="0"/>
            <a:p>
              <a:pPr algn="ctr"/>
              <a:r>
                <a:rPr lang="en-US" altLang="zh-CN" sz="1800" dirty="0">
                  <a:solidFill>
                    <a:srgbClr val="000000"/>
                  </a:solidFill>
                  <a:latin typeface="Times New Roman" panose="02020603050405020304" pitchFamily="18" charset="0"/>
                  <a:ea typeface="华文中宋" panose="02010600040101010101" pitchFamily="2" charset="-122"/>
                </a:rPr>
                <a:t>D</a:t>
              </a:r>
              <a:r>
                <a:rPr lang="en-US" altLang="zh-CN" sz="1800" baseline="-25000" dirty="0">
                  <a:solidFill>
                    <a:srgbClr val="000000"/>
                  </a:solidFill>
                  <a:latin typeface="Times New Roman" panose="02020603050405020304" pitchFamily="18" charset="0"/>
                  <a:ea typeface="华文中宋" panose="02010600040101010101" pitchFamily="2" charset="-122"/>
                </a:rPr>
                <a:t>1</a:t>
              </a:r>
              <a:endParaRPr lang="en-US" altLang="zh-CN" sz="1800" baseline="-25000" dirty="0">
                <a:solidFill>
                  <a:srgbClr val="000000"/>
                </a:solidFill>
                <a:latin typeface="Times New Roman" panose="02020603050405020304" pitchFamily="18" charset="0"/>
                <a:ea typeface="华文中宋" panose="02010600040101010101" pitchFamily="2" charset="-122"/>
              </a:endParaRPr>
            </a:p>
          </p:txBody>
        </p:sp>
        <p:sp>
          <p:nvSpPr>
            <p:cNvPr id="105548" name="Line 61"/>
            <p:cNvSpPr/>
            <p:nvPr/>
          </p:nvSpPr>
          <p:spPr>
            <a:xfrm>
              <a:off x="2064" y="1480"/>
              <a:ext cx="181" cy="0"/>
            </a:xfrm>
            <a:prstGeom prst="line">
              <a:avLst/>
            </a:prstGeom>
            <a:ln w="28575" cap="flat" cmpd="sng">
              <a:solidFill>
                <a:schemeClr val="tx1"/>
              </a:solidFill>
              <a:prstDash val="solid"/>
              <a:headEnd type="none" w="med" len="med"/>
              <a:tailEnd type="none" w="med" len="med"/>
            </a:ln>
          </p:spPr>
        </p:sp>
        <p:sp>
          <p:nvSpPr>
            <p:cNvPr id="105549" name="Line 82"/>
            <p:cNvSpPr/>
            <p:nvPr/>
          </p:nvSpPr>
          <p:spPr>
            <a:xfrm>
              <a:off x="2517" y="1389"/>
              <a:ext cx="182" cy="0"/>
            </a:xfrm>
            <a:prstGeom prst="line">
              <a:avLst/>
            </a:prstGeom>
            <a:ln w="28575" cap="flat" cmpd="sng">
              <a:solidFill>
                <a:schemeClr val="tx1"/>
              </a:solidFill>
              <a:prstDash val="solid"/>
              <a:headEnd type="none" w="med" len="med"/>
              <a:tailEnd type="triangle" w="med" len="med"/>
            </a:ln>
          </p:spPr>
        </p:sp>
        <p:sp>
          <p:nvSpPr>
            <p:cNvPr id="105550" name="Line 84"/>
            <p:cNvSpPr/>
            <p:nvPr/>
          </p:nvSpPr>
          <p:spPr>
            <a:xfrm>
              <a:off x="3288" y="2387"/>
              <a:ext cx="0" cy="363"/>
            </a:xfrm>
            <a:prstGeom prst="line">
              <a:avLst/>
            </a:prstGeom>
            <a:ln w="28575" cap="flat" cmpd="sng">
              <a:solidFill>
                <a:schemeClr val="tx1"/>
              </a:solidFill>
              <a:prstDash val="dash"/>
              <a:headEnd type="none" w="med" len="med"/>
              <a:tailEnd type="none" w="med" len="med"/>
            </a:ln>
          </p:spPr>
        </p:sp>
        <p:sp>
          <p:nvSpPr>
            <p:cNvPr id="105551" name="Rectangle 55"/>
            <p:cNvSpPr/>
            <p:nvPr/>
          </p:nvSpPr>
          <p:spPr>
            <a:xfrm>
              <a:off x="159" y="1344"/>
              <a:ext cx="952" cy="212"/>
            </a:xfrm>
            <a:prstGeom prst="rect">
              <a:avLst/>
            </a:prstGeom>
            <a:noFill/>
            <a:ln w="28575">
              <a:noFill/>
            </a:ln>
          </p:spPr>
          <p:txBody>
            <a:bodyPr lIns="0" rIns="0">
              <a:spAutoFit/>
            </a:bodyPr>
            <a:p>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r>
                <a:rPr lang="en-US" altLang="zh-CN" sz="1600" dirty="0">
                  <a:solidFill>
                    <a:srgbClr val="CC00CC"/>
                  </a:solidFill>
                  <a:latin typeface="Times New Roman" panose="02020603050405020304" pitchFamily="18" charset="0"/>
                  <a:ea typeface="黑体" panose="02010609060101010101" pitchFamily="49" charset="-122"/>
                </a:rPr>
                <a:t>-1)*U</a:t>
              </a:r>
              <a:r>
                <a:rPr lang="en-US" altLang="zh-CN" sz="1600" baseline="-25000" dirty="0">
                  <a:solidFill>
                    <a:srgbClr val="CC00CC"/>
                  </a:solidFill>
                  <a:latin typeface="Times New Roman" panose="02020603050405020304" pitchFamily="18" charset="0"/>
                  <a:ea typeface="黑体" panose="02010609060101010101" pitchFamily="49" charset="-122"/>
                </a:rPr>
                <a:t>REF</a:t>
              </a:r>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endParaRPr lang="en-US" altLang="zh-CN" sz="1600" baseline="30000" dirty="0">
                <a:solidFill>
                  <a:srgbClr val="CC00CC"/>
                </a:solidFill>
                <a:latin typeface="Times New Roman" panose="02020603050405020304" pitchFamily="18" charset="0"/>
                <a:ea typeface="黑体" panose="02010609060101010101" pitchFamily="49" charset="-122"/>
              </a:endParaRPr>
            </a:p>
          </p:txBody>
        </p:sp>
        <p:sp>
          <p:nvSpPr>
            <p:cNvPr id="105552" name="Rectangle 55"/>
            <p:cNvSpPr/>
            <p:nvPr/>
          </p:nvSpPr>
          <p:spPr>
            <a:xfrm>
              <a:off x="340" y="2795"/>
              <a:ext cx="635" cy="212"/>
            </a:xfrm>
            <a:prstGeom prst="rect">
              <a:avLst/>
            </a:prstGeom>
            <a:noFill/>
            <a:ln w="28575">
              <a:noFill/>
            </a:ln>
          </p:spPr>
          <p:txBody>
            <a:bodyPr lIns="0" rIns="0">
              <a:spAutoFit/>
            </a:bodyPr>
            <a:p>
              <a:r>
                <a:rPr lang="en-US" altLang="zh-CN" sz="1600" dirty="0">
                  <a:solidFill>
                    <a:srgbClr val="CC00CC"/>
                  </a:solidFill>
                  <a:latin typeface="Times New Roman" panose="02020603050405020304" pitchFamily="18" charset="0"/>
                  <a:ea typeface="黑体" panose="02010609060101010101" pitchFamily="49" charset="-122"/>
                </a:rPr>
                <a:t>2*U</a:t>
              </a:r>
              <a:r>
                <a:rPr lang="en-US" altLang="zh-CN" sz="1600" baseline="-25000" dirty="0">
                  <a:solidFill>
                    <a:srgbClr val="CC00CC"/>
                  </a:solidFill>
                  <a:latin typeface="Times New Roman" panose="02020603050405020304" pitchFamily="18" charset="0"/>
                  <a:ea typeface="黑体" panose="02010609060101010101" pitchFamily="49" charset="-122"/>
                </a:rPr>
                <a:t>REF</a:t>
              </a:r>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endParaRPr lang="en-US" altLang="zh-CN" sz="1600" baseline="30000" dirty="0">
                <a:solidFill>
                  <a:srgbClr val="CC00CC"/>
                </a:solidFill>
                <a:latin typeface="Times New Roman" panose="02020603050405020304" pitchFamily="18" charset="0"/>
                <a:ea typeface="黑体" panose="02010609060101010101" pitchFamily="49" charset="-122"/>
              </a:endParaRPr>
            </a:p>
          </p:txBody>
        </p:sp>
        <p:sp>
          <p:nvSpPr>
            <p:cNvPr id="105553" name="Rectangle 55"/>
            <p:cNvSpPr/>
            <p:nvPr/>
          </p:nvSpPr>
          <p:spPr>
            <a:xfrm>
              <a:off x="340" y="3249"/>
              <a:ext cx="635" cy="212"/>
            </a:xfrm>
            <a:prstGeom prst="rect">
              <a:avLst/>
            </a:prstGeom>
            <a:noFill/>
            <a:ln w="28575">
              <a:noFill/>
            </a:ln>
          </p:spPr>
          <p:txBody>
            <a:bodyPr lIns="0" rIns="0">
              <a:spAutoFit/>
            </a:bodyPr>
            <a:p>
              <a:pPr algn="ctr"/>
              <a:r>
                <a:rPr lang="en-US" altLang="zh-CN" sz="1600" dirty="0">
                  <a:solidFill>
                    <a:srgbClr val="CC00CC"/>
                  </a:solidFill>
                  <a:latin typeface="Times New Roman" panose="02020603050405020304" pitchFamily="18" charset="0"/>
                  <a:ea typeface="黑体" panose="02010609060101010101" pitchFamily="49" charset="-122"/>
                </a:rPr>
                <a:t>U</a:t>
              </a:r>
              <a:r>
                <a:rPr lang="en-US" altLang="zh-CN" sz="1600" baseline="-25000" dirty="0">
                  <a:solidFill>
                    <a:srgbClr val="CC00CC"/>
                  </a:solidFill>
                  <a:latin typeface="Times New Roman" panose="02020603050405020304" pitchFamily="18" charset="0"/>
                  <a:ea typeface="黑体" panose="02010609060101010101" pitchFamily="49" charset="-122"/>
                </a:rPr>
                <a:t>REF</a:t>
              </a:r>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endParaRPr lang="en-US" altLang="zh-CN" sz="1600" baseline="30000" dirty="0">
                <a:solidFill>
                  <a:srgbClr val="CC00CC"/>
                </a:solidFill>
                <a:latin typeface="Times New Roman" panose="02020603050405020304" pitchFamily="18" charset="0"/>
                <a:ea typeface="黑体" panose="02010609060101010101" pitchFamily="49" charset="-122"/>
              </a:endParaRPr>
            </a:p>
          </p:txBody>
        </p:sp>
        <p:sp>
          <p:nvSpPr>
            <p:cNvPr id="105554" name="Rectangle 55"/>
            <p:cNvSpPr/>
            <p:nvPr/>
          </p:nvSpPr>
          <p:spPr>
            <a:xfrm>
              <a:off x="158" y="1752"/>
              <a:ext cx="952" cy="212"/>
            </a:xfrm>
            <a:prstGeom prst="rect">
              <a:avLst/>
            </a:prstGeom>
            <a:noFill/>
            <a:ln w="28575">
              <a:noFill/>
            </a:ln>
          </p:spPr>
          <p:txBody>
            <a:bodyPr lIns="0" rIns="0">
              <a:spAutoFit/>
            </a:bodyPr>
            <a:p>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r>
                <a:rPr lang="en-US" altLang="zh-CN" sz="1600" dirty="0">
                  <a:solidFill>
                    <a:srgbClr val="CC00CC"/>
                  </a:solidFill>
                  <a:latin typeface="Times New Roman" panose="02020603050405020304" pitchFamily="18" charset="0"/>
                  <a:ea typeface="黑体" panose="02010609060101010101" pitchFamily="49" charset="-122"/>
                </a:rPr>
                <a:t>-2)*U</a:t>
              </a:r>
              <a:r>
                <a:rPr lang="en-US" altLang="zh-CN" sz="1600" baseline="-25000" dirty="0">
                  <a:solidFill>
                    <a:srgbClr val="CC00CC"/>
                  </a:solidFill>
                  <a:latin typeface="Times New Roman" panose="02020603050405020304" pitchFamily="18" charset="0"/>
                  <a:ea typeface="黑体" panose="02010609060101010101" pitchFamily="49" charset="-122"/>
                </a:rPr>
                <a:t>REF</a:t>
              </a:r>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endParaRPr lang="en-US" altLang="zh-CN" sz="1600" baseline="30000" dirty="0">
                <a:solidFill>
                  <a:srgbClr val="CC00CC"/>
                </a:solidFill>
                <a:latin typeface="Times New Roman" panose="02020603050405020304" pitchFamily="18" charset="0"/>
                <a:ea typeface="黑体" panose="02010609060101010101" pitchFamily="49" charset="-122"/>
              </a:endParaRPr>
            </a:p>
          </p:txBody>
        </p:sp>
        <p:sp>
          <p:nvSpPr>
            <p:cNvPr id="105555" name="Rectangle 55"/>
            <p:cNvSpPr/>
            <p:nvPr/>
          </p:nvSpPr>
          <p:spPr>
            <a:xfrm>
              <a:off x="340" y="2432"/>
              <a:ext cx="635" cy="212"/>
            </a:xfrm>
            <a:prstGeom prst="rect">
              <a:avLst/>
            </a:prstGeom>
            <a:noFill/>
            <a:ln w="28575">
              <a:noFill/>
            </a:ln>
          </p:spPr>
          <p:txBody>
            <a:bodyPr lIns="0" rIns="0">
              <a:spAutoFit/>
            </a:bodyPr>
            <a:p>
              <a:r>
                <a:rPr lang="en-US" altLang="zh-CN" sz="1600" dirty="0">
                  <a:solidFill>
                    <a:srgbClr val="CC00CC"/>
                  </a:solidFill>
                  <a:latin typeface="Times New Roman" panose="02020603050405020304" pitchFamily="18" charset="0"/>
                  <a:ea typeface="黑体" panose="02010609060101010101" pitchFamily="49" charset="-122"/>
                </a:rPr>
                <a:t>3*U</a:t>
              </a:r>
              <a:r>
                <a:rPr lang="en-US" altLang="zh-CN" sz="1600" baseline="-25000" dirty="0">
                  <a:solidFill>
                    <a:srgbClr val="CC00CC"/>
                  </a:solidFill>
                  <a:latin typeface="Times New Roman" panose="02020603050405020304" pitchFamily="18" charset="0"/>
                  <a:ea typeface="黑体" panose="02010609060101010101" pitchFamily="49" charset="-122"/>
                </a:rPr>
                <a:t>REF</a:t>
              </a:r>
              <a:r>
                <a:rPr lang="en-US" altLang="zh-CN" sz="1600" dirty="0">
                  <a:solidFill>
                    <a:srgbClr val="CC00CC"/>
                  </a:solidFill>
                  <a:latin typeface="Times New Roman" panose="02020603050405020304" pitchFamily="18" charset="0"/>
                  <a:ea typeface="黑体" panose="02010609060101010101" pitchFamily="49" charset="-122"/>
                </a:rPr>
                <a:t>/2</a:t>
              </a:r>
              <a:r>
                <a:rPr lang="en-US" altLang="zh-CN" sz="1600" baseline="30000" dirty="0">
                  <a:solidFill>
                    <a:srgbClr val="CC00CC"/>
                  </a:solidFill>
                  <a:latin typeface="Times New Roman" panose="02020603050405020304" pitchFamily="18" charset="0"/>
                  <a:ea typeface="黑体" panose="02010609060101010101" pitchFamily="49" charset="-122"/>
                </a:rPr>
                <a:t>n</a:t>
              </a:r>
              <a:endParaRPr lang="en-US" altLang="zh-CN" sz="1600" baseline="30000" dirty="0">
                <a:solidFill>
                  <a:srgbClr val="CC00CC"/>
                </a:solidFill>
                <a:latin typeface="Times New Roman" panose="02020603050405020304" pitchFamily="18" charset="0"/>
                <a:ea typeface="黑体" panose="02010609060101010101" pitchFamily="49" charset="-122"/>
              </a:endParaRPr>
            </a:p>
          </p:txBody>
        </p:sp>
      </p:grpSp>
      <p:sp>
        <p:nvSpPr>
          <p:cNvPr id="105477" name="Text Box 92"/>
          <p:cNvSpPr txBox="1"/>
          <p:nvPr/>
        </p:nvSpPr>
        <p:spPr>
          <a:xfrm>
            <a:off x="6111875" y="1301750"/>
            <a:ext cx="2786063" cy="4729163"/>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accent2"/>
                </a:solidFill>
                <a:latin typeface="Times New Roman" panose="02020603050405020304" pitchFamily="18" charset="0"/>
                <a:ea typeface="黑体" panose="02010609060101010101" pitchFamily="49" charset="-122"/>
              </a:rPr>
              <a:t>并行比较型是</a:t>
            </a:r>
            <a:r>
              <a:rPr lang="zh-CN" altLang="zh-CN" sz="2400" dirty="0">
                <a:solidFill>
                  <a:schemeClr val="accent2"/>
                </a:solidFill>
                <a:latin typeface="Times New Roman" panose="02020603050405020304" pitchFamily="18" charset="0"/>
                <a:ea typeface="黑体" panose="02010609060101010101" pitchFamily="49" charset="-122"/>
              </a:rPr>
              <a:t>转换速率最快的</a:t>
            </a:r>
            <a:r>
              <a:rPr lang="zh-CN" altLang="en-US" sz="2400" dirty="0">
                <a:solidFill>
                  <a:schemeClr val="accent2"/>
                </a:solidFill>
                <a:latin typeface="Times New Roman" panose="02020603050405020304" pitchFamily="18" charset="0"/>
                <a:ea typeface="黑体" panose="02010609060101010101" pitchFamily="49" charset="-122"/>
              </a:rPr>
              <a:t>一种</a:t>
            </a:r>
            <a:r>
              <a:rPr lang="zh-CN"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Times New Roman" panose="02020603050405020304" pitchFamily="18" charset="0"/>
                <a:ea typeface="黑体" panose="02010609060101010101" pitchFamily="49" charset="-122"/>
              </a:rPr>
              <a:t>因此又称为“闪烁型”</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zh-CN" sz="2400" dirty="0">
                <a:solidFill>
                  <a:schemeClr val="accent2"/>
                </a:solidFill>
                <a:latin typeface="Times New Roman" panose="02020603050405020304" pitchFamily="18" charset="0"/>
                <a:ea typeface="黑体" panose="02010609060101010101" pitchFamily="49" charset="-122"/>
              </a:rPr>
              <a:t>。</a:t>
            </a:r>
            <a:endParaRPr lang="zh-CN" altLang="en-US" sz="2400" dirty="0">
              <a:solidFill>
                <a:schemeClr val="accent2"/>
              </a:solidFill>
              <a:latin typeface="Times New Roman" panose="02020603050405020304" pitchFamily="18" charset="0"/>
              <a:ea typeface="黑体" panose="02010609060101010101" pitchFamily="49" charset="-122"/>
            </a:endParaRPr>
          </a:p>
          <a:p>
            <a:pPr eaLnBrk="1" hangingPunct="1">
              <a:lnSpc>
                <a:spcPct val="90000"/>
              </a:lnSpc>
              <a:spcBef>
                <a:spcPct val="50000"/>
              </a:spcBef>
            </a:pPr>
            <a:r>
              <a:rPr lang="zh-CN" altLang="en-US" sz="2400" dirty="0">
                <a:solidFill>
                  <a:schemeClr val="accent2"/>
                </a:solidFill>
                <a:latin typeface="Times New Roman" panose="02020603050405020304" pitchFamily="18" charset="0"/>
                <a:ea typeface="黑体" panose="02010609060101010101" pitchFamily="49" charset="-122"/>
              </a:rPr>
              <a:t>分辨率一般为</a:t>
            </a:r>
            <a:r>
              <a:rPr lang="en-US" altLang="zh-CN" sz="2400" dirty="0">
                <a:solidFill>
                  <a:schemeClr val="accent2"/>
                </a:solidFill>
                <a:latin typeface="Times New Roman" panose="02020603050405020304" pitchFamily="18" charset="0"/>
                <a:ea typeface="黑体" panose="02010609060101010101" pitchFamily="49" charset="-122"/>
              </a:rPr>
              <a:t>6~8</a:t>
            </a:r>
            <a:r>
              <a:rPr lang="zh-CN" altLang="en-US" sz="2400" dirty="0">
                <a:solidFill>
                  <a:schemeClr val="accent2"/>
                </a:solidFill>
                <a:latin typeface="Times New Roman" panose="02020603050405020304" pitchFamily="18" charset="0"/>
                <a:ea typeface="黑体" panose="02010609060101010101" pitchFamily="49" charset="-122"/>
              </a:rPr>
              <a:t>位，最高可达</a:t>
            </a:r>
            <a:r>
              <a:rPr lang="en-US" altLang="zh-CN" sz="2400" dirty="0">
                <a:solidFill>
                  <a:schemeClr val="accent2"/>
                </a:solidFill>
                <a:latin typeface="Times New Roman" panose="02020603050405020304" pitchFamily="18" charset="0"/>
                <a:ea typeface="黑体" panose="02010609060101010101" pitchFamily="49" charset="-122"/>
              </a:rPr>
              <a:t>10</a:t>
            </a:r>
            <a:r>
              <a:rPr lang="zh-CN" altLang="en-US" sz="2400" dirty="0">
                <a:solidFill>
                  <a:schemeClr val="accent2"/>
                </a:solidFill>
                <a:latin typeface="Times New Roman" panose="02020603050405020304" pitchFamily="18" charset="0"/>
                <a:ea typeface="黑体" panose="02010609060101010101" pitchFamily="49" charset="-122"/>
              </a:rPr>
              <a:t>位。最高采样速率</a:t>
            </a:r>
            <a:r>
              <a:rPr lang="en-US" altLang="zh-CN" sz="2400" dirty="0">
                <a:solidFill>
                  <a:schemeClr val="accent2"/>
                </a:solidFill>
                <a:latin typeface="Times New Roman" panose="02020603050405020304" pitchFamily="18" charset="0"/>
                <a:ea typeface="黑体" panose="02010609060101010101" pitchFamily="49" charset="-122"/>
              </a:rPr>
              <a:t>GSPS</a:t>
            </a:r>
            <a:r>
              <a:rPr lang="zh-CN" altLang="en-US" sz="2400" dirty="0">
                <a:solidFill>
                  <a:schemeClr val="accent2"/>
                </a:solidFill>
                <a:latin typeface="Times New Roman" panose="02020603050405020304" pitchFamily="18" charset="0"/>
                <a:ea typeface="黑体" panose="02010609060101010101" pitchFamily="49" charset="-122"/>
              </a:rPr>
              <a:t>以上。</a:t>
            </a:r>
            <a:endParaRPr lang="zh-CN" altLang="en-US" sz="2400" dirty="0">
              <a:solidFill>
                <a:schemeClr val="accent2"/>
              </a:solidFill>
              <a:latin typeface="Times New Roman" panose="02020603050405020304" pitchFamily="18" charset="0"/>
              <a:ea typeface="黑体" panose="02010609060101010101" pitchFamily="49" charset="-122"/>
            </a:endParaRPr>
          </a:p>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由</a:t>
            </a:r>
            <a:r>
              <a:rPr lang="en-US" altLang="zh-CN" sz="2400" dirty="0">
                <a:solidFill>
                  <a:schemeClr val="tx1"/>
                </a:solidFill>
                <a:latin typeface="Times New Roman" panose="02020603050405020304" pitchFamily="18" charset="0"/>
                <a:ea typeface="黑体" panose="02010609060101010101" pitchFamily="49" charset="-122"/>
              </a:rPr>
              <a:t>2</a:t>
            </a:r>
            <a:r>
              <a:rPr lang="en-US" altLang="zh-CN" sz="2400" baseline="30000" dirty="0">
                <a:solidFill>
                  <a:schemeClr val="tx1"/>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电阻组成的电阻分压网络、 </a:t>
            </a:r>
            <a:r>
              <a:rPr lang="en-US" altLang="zh-CN" sz="2400" dirty="0">
                <a:solidFill>
                  <a:schemeClr val="tx1"/>
                </a:solidFill>
                <a:latin typeface="Times New Roman" panose="02020603050405020304" pitchFamily="18" charset="0"/>
                <a:ea typeface="黑体" panose="02010609060101010101" pitchFamily="49" charset="-122"/>
              </a:rPr>
              <a:t>2</a:t>
            </a:r>
            <a:r>
              <a:rPr lang="en-US" altLang="zh-CN" sz="2400" baseline="30000" dirty="0">
                <a:solidFill>
                  <a:schemeClr val="tx1"/>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个比较器组成的比较器阵列及优先编码器组成。</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5479"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slow">
    <p:cover dir="d"/>
  </p:transition>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6498" name="Text Box 18"/>
          <p:cNvSpPr txBox="1"/>
          <p:nvPr/>
        </p:nvSpPr>
        <p:spPr>
          <a:xfrm>
            <a:off x="404813" y="2457450"/>
            <a:ext cx="8359775" cy="2830513"/>
          </a:xfrm>
          <a:prstGeom prst="rect">
            <a:avLst/>
          </a:prstGeom>
          <a:noFill/>
          <a:ln w="9525">
            <a:noFill/>
          </a:ln>
        </p:spPr>
        <p:txBody>
          <a:bodyPr>
            <a:spAutoFit/>
          </a:bodyPr>
          <a:p>
            <a:pPr eaLnBrk="1" hangingPunct="1">
              <a:spcBef>
                <a:spcPct val="50000"/>
              </a:spcBef>
              <a:buClr>
                <a:srgbClr val="FF0000"/>
              </a:buClr>
              <a:buFont typeface="Wingdings" panose="05000000000000000000" pitchFamily="2" charset="2"/>
              <a:buChar char="Ø"/>
            </a:pP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包含</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个电压比较器，参考电压</a:t>
            </a:r>
            <a:r>
              <a:rPr lang="en-US" altLang="zh-CN" sz="2400" dirty="0">
                <a:solidFill>
                  <a:srgbClr val="CC00CC"/>
                </a:solidFill>
                <a:latin typeface="Times New Roman" panose="02020603050405020304" pitchFamily="18" charset="0"/>
                <a:ea typeface="黑体" panose="02010609060101010101" pitchFamily="49" charset="-122"/>
              </a:rPr>
              <a:t>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zh-CN" altLang="en-US" sz="2400" dirty="0">
                <a:solidFill>
                  <a:schemeClr val="tx1"/>
                </a:solidFill>
                <a:latin typeface="Times New Roman" panose="02020603050405020304" pitchFamily="18" charset="0"/>
                <a:ea typeface="黑体" panose="02010609060101010101" pitchFamily="49" charset="-122"/>
              </a:rPr>
              <a:t>被分成</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阶，</a:t>
            </a:r>
            <a:r>
              <a:rPr lang="en-US" altLang="zh-CN" sz="2400" dirty="0">
                <a:solidFill>
                  <a:srgbClr val="CC00CC"/>
                </a:solidFill>
                <a:latin typeface="Times New Roman" panose="02020603050405020304" pitchFamily="18" charset="0"/>
                <a:ea typeface="黑体" panose="02010609060101010101" pitchFamily="49" charset="-122"/>
              </a:rPr>
              <a:t>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 </a:t>
            </a:r>
            <a:r>
              <a:rPr lang="en-US" altLang="zh-CN" sz="2400" dirty="0">
                <a:solidFill>
                  <a:srgbClr val="CC00CC"/>
                </a:solidFill>
                <a:latin typeface="Times New Roman" panose="02020603050405020304" pitchFamily="18" charset="0"/>
                <a:ea typeface="黑体" panose="02010609060101010101" pitchFamily="49" charset="-122"/>
              </a:rPr>
              <a:t>2V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 </a:t>
            </a:r>
            <a:r>
              <a:rPr lang="en-US" altLang="zh-CN" sz="2400" dirty="0">
                <a:solidFill>
                  <a:srgbClr val="CC00CC"/>
                </a:solidFill>
                <a:latin typeface="Times New Roman" panose="02020603050405020304" pitchFamily="18" charset="0"/>
                <a:ea typeface="黑体" panose="02010609060101010101" pitchFamily="49" charset="-122"/>
              </a:rPr>
              <a:t>3V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dirty="0">
                <a:solidFill>
                  <a:srgbClr val="CC00CC"/>
                </a:solidFill>
                <a:latin typeface="Times New Roman" panose="02020603050405020304" pitchFamily="18" charset="0"/>
                <a:ea typeface="黑体" panose="02010609060101010101" pitchFamily="49" charset="-122"/>
              </a:rPr>
              <a:t> </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 V</a:t>
            </a:r>
            <a:r>
              <a:rPr lang="en-US" altLang="zh-CN" sz="2400" baseline="-25000" dirty="0">
                <a:solidFill>
                  <a:srgbClr val="CC00CC"/>
                </a:solidFill>
                <a:latin typeface="Times New Roman" panose="02020603050405020304" pitchFamily="18" charset="0"/>
                <a:ea typeface="黑体" panose="02010609060101010101" pitchFamily="49" charset="-122"/>
              </a:rPr>
              <a:t>REF</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分别加到</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个比较器的参考端；</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待转换的模拟输入电压同时加到</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个比较器的输入段；</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输入端电压高于参考端电压的比较器输出为</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，否则为</a:t>
            </a:r>
            <a:r>
              <a:rPr lang="en-US" altLang="zh-CN" sz="2400" dirty="0">
                <a:solidFill>
                  <a:srgbClr val="CC00CC"/>
                </a:solidFill>
                <a:latin typeface="Times New Roman" panose="02020603050405020304" pitchFamily="18" charset="0"/>
                <a:ea typeface="黑体" panose="02010609060101010101" pitchFamily="49" charset="-122"/>
              </a:rPr>
              <a:t>0</a:t>
            </a:r>
            <a:r>
              <a:rPr lang="zh-CN" altLang="en-US" sz="2400" dirty="0">
                <a:solidFill>
                  <a:srgbClr val="CC00CC"/>
                </a:solidFill>
                <a:latin typeface="Times New Roman" panose="02020603050405020304" pitchFamily="18" charset="0"/>
                <a:ea typeface="黑体" panose="02010609060101010101" pitchFamily="49" charset="-122"/>
              </a:rPr>
              <a:t>；</a:t>
            </a:r>
            <a:endParaRPr lang="zh-CN" altLang="en-US" sz="2400" dirty="0">
              <a:solidFill>
                <a:srgbClr val="CC00CC"/>
              </a:solidFill>
              <a:latin typeface="Times New Roman" panose="02020603050405020304" pitchFamily="18" charset="0"/>
              <a:ea typeface="黑体" panose="02010609060101010101" pitchFamily="49" charset="-122"/>
            </a:endParaRPr>
          </a:p>
          <a:p>
            <a:pPr eaLnBrk="1" hangingPunct="1">
              <a:spcBef>
                <a:spcPct val="50000"/>
              </a:spcBef>
              <a:buClr>
                <a:srgbClr val="FF0000"/>
              </a:buClr>
              <a:buFont typeface="Wingdings" panose="05000000000000000000" pitchFamily="2" charset="2"/>
              <a:buChar char="Ø"/>
            </a:pP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n</a:t>
            </a:r>
            <a:r>
              <a:rPr lang="en-US" altLang="zh-CN" sz="2400" dirty="0">
                <a:solidFill>
                  <a:srgbClr val="CC00CC"/>
                </a:solidFill>
                <a:latin typeface="Times New Roman" panose="02020603050405020304" pitchFamily="18" charset="0"/>
                <a:ea typeface="黑体" panose="02010609060101010101" pitchFamily="49" charset="-122"/>
              </a:rPr>
              <a:t>-1</a:t>
            </a:r>
            <a:r>
              <a:rPr lang="zh-CN" altLang="en-US" sz="2400" dirty="0">
                <a:solidFill>
                  <a:schemeClr val="tx1"/>
                </a:solidFill>
                <a:latin typeface="Times New Roman" panose="02020603050405020304" pitchFamily="18" charset="0"/>
                <a:ea typeface="黑体" panose="02010609060101010101" pitchFamily="49" charset="-122"/>
              </a:rPr>
              <a:t>个比较器的输出经数字编码的</a:t>
            </a:r>
            <a:r>
              <a:rPr lang="en-US" altLang="zh-CN" sz="2400" dirty="0">
                <a:solidFill>
                  <a:schemeClr val="tx1"/>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位二进制数即转换结果。</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6500"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2"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6502"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6503" name="Text Box 13"/>
          <p:cNvSpPr txBox="1"/>
          <p:nvPr/>
        </p:nvSpPr>
        <p:spPr>
          <a:xfrm>
            <a:off x="404813" y="1879600"/>
            <a:ext cx="2732087"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工作流程：</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cover/>
  </p:transition>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7522" name="Text Box 54"/>
          <p:cNvSpPr txBox="1"/>
          <p:nvPr/>
        </p:nvSpPr>
        <p:spPr>
          <a:xfrm>
            <a:off x="406400" y="2047875"/>
            <a:ext cx="8475663" cy="2282825"/>
          </a:xfrm>
          <a:prstGeom prst="rect">
            <a:avLst/>
          </a:prstGeom>
          <a:noFill/>
          <a:ln w="9525">
            <a:noFill/>
          </a:ln>
        </p:spPr>
        <p:txBody>
          <a:bodyPr>
            <a:spAutoFit/>
          </a:bodyPr>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、转换速率最快的</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，工作原理简单。</a:t>
            </a:r>
            <a:endParaRPr lang="en-US" altLang="zh-CN"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、电阻、电压比较器的数量与分辨率</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呈指数关系。</a:t>
            </a:r>
            <a:endParaRPr lang="zh-CN" altLang="en-US"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3</a:t>
            </a:r>
            <a:r>
              <a:rPr lang="zh-CN" altLang="en-US" sz="2400" dirty="0">
                <a:solidFill>
                  <a:schemeClr val="accent2"/>
                </a:solidFill>
                <a:latin typeface="黑体" panose="02010609060101010101" pitchFamily="49" charset="-122"/>
                <a:ea typeface="黑体" panose="02010609060101010101" pitchFamily="49" charset="-122"/>
              </a:rPr>
              <a:t>、要实现高速转换，每个比较器都必须在高功耗下工作。</a:t>
            </a:r>
            <a:endParaRPr lang="zh-CN" altLang="en-US"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4</a:t>
            </a:r>
            <a:r>
              <a:rPr lang="zh-CN" altLang="en-US" sz="2400" dirty="0">
                <a:solidFill>
                  <a:schemeClr val="accent2"/>
                </a:solidFill>
                <a:latin typeface="黑体" panose="02010609060101010101" pitchFamily="49" charset="-122"/>
                <a:ea typeface="黑体" panose="02010609060101010101" pitchFamily="49" charset="-122"/>
              </a:rPr>
              <a:t>、芯片尺寸大、功耗大、成本高，分辨率有限（一般</a:t>
            </a:r>
            <a:r>
              <a:rPr lang="en-US" altLang="zh-CN" sz="2400" dirty="0">
                <a:solidFill>
                  <a:srgbClr val="CC00CC"/>
                </a:solidFill>
                <a:latin typeface="Times New Roman" panose="02020603050405020304" pitchFamily="18" charset="0"/>
                <a:ea typeface="黑体" panose="02010609060101010101" pitchFamily="49" charset="-122"/>
              </a:rPr>
              <a:t>6-8</a:t>
            </a:r>
            <a:r>
              <a:rPr lang="zh-CN" altLang="en-US" sz="2400" dirty="0">
                <a:solidFill>
                  <a:schemeClr val="accent2"/>
                </a:solidFill>
                <a:latin typeface="黑体" panose="02010609060101010101" pitchFamily="49" charset="-122"/>
                <a:ea typeface="黑体" panose="02010609060101010101" pitchFamily="49" charset="-122"/>
              </a:rPr>
              <a:t>位，最高</a:t>
            </a:r>
            <a:r>
              <a:rPr lang="en-US" altLang="zh-CN" sz="2400" dirty="0">
                <a:solidFill>
                  <a:srgbClr val="CC00CC"/>
                </a:solidFill>
                <a:latin typeface="Times New Roman" panose="02020603050405020304" pitchFamily="18" charset="0"/>
                <a:ea typeface="黑体" panose="02010609060101010101" pitchFamily="49" charset="-122"/>
              </a:rPr>
              <a:t>10</a:t>
            </a:r>
            <a:r>
              <a:rPr lang="zh-CN" altLang="en-US" sz="2400" dirty="0">
                <a:solidFill>
                  <a:schemeClr val="accent2"/>
                </a:solidFill>
                <a:latin typeface="黑体" panose="02010609060101010101" pitchFamily="49" charset="-122"/>
                <a:ea typeface="黑体" panose="02010609060101010101" pitchFamily="49" charset="-122"/>
              </a:rPr>
              <a:t>位）。</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107523" name="Text Box 92"/>
          <p:cNvSpPr txBox="1"/>
          <p:nvPr/>
        </p:nvSpPr>
        <p:spPr>
          <a:xfrm>
            <a:off x="427038" y="4654550"/>
            <a:ext cx="8269287" cy="1077913"/>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tx1"/>
                </a:solidFill>
                <a:latin typeface="黑体" panose="02010609060101010101" pitchFamily="49" charset="-122"/>
                <a:ea typeface="黑体" panose="02010609060101010101" pitchFamily="49" charset="-122"/>
              </a:rPr>
              <a:t>    8bit</a:t>
            </a:r>
            <a:r>
              <a:rPr lang="zh-CN" altLang="en-US" sz="2400" dirty="0">
                <a:solidFill>
                  <a:schemeClr val="tx1"/>
                </a:solidFill>
                <a:latin typeface="黑体" panose="02010609060101010101" pitchFamily="49" charset="-122"/>
                <a:ea typeface="黑体" panose="02010609060101010101" pitchFamily="49" charset="-122"/>
              </a:rPr>
              <a:t>并行比较型高速</a:t>
            </a:r>
            <a:r>
              <a:rPr lang="en-US" altLang="zh-CN" sz="2400" dirty="0">
                <a:solidFill>
                  <a:schemeClr val="tx1"/>
                </a:solidFill>
                <a:latin typeface="黑体" panose="02010609060101010101" pitchFamily="49" charset="-122"/>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广泛应用于数字存储示波器中，如</a:t>
            </a:r>
            <a:r>
              <a:rPr lang="en-US" altLang="zh-CN" sz="2400" dirty="0">
                <a:solidFill>
                  <a:schemeClr val="tx1"/>
                </a:solidFill>
                <a:latin typeface="黑体" panose="02010609060101010101" pitchFamily="49" charset="-122"/>
                <a:ea typeface="黑体" panose="02010609060101010101" pitchFamily="49" charset="-122"/>
              </a:rPr>
              <a:t>Analog Devices</a:t>
            </a:r>
            <a:r>
              <a:rPr lang="zh-CN" altLang="en-US" sz="2400" dirty="0">
                <a:solidFill>
                  <a:schemeClr val="tx1"/>
                </a:solidFill>
                <a:latin typeface="黑体" panose="02010609060101010101" pitchFamily="49" charset="-122"/>
                <a:ea typeface="黑体" panose="02010609060101010101" pitchFamily="49" charset="-122"/>
              </a:rPr>
              <a:t>公司的</a:t>
            </a:r>
            <a:r>
              <a:rPr lang="en-US" altLang="zh-CN" sz="2400" dirty="0">
                <a:solidFill>
                  <a:schemeClr val="tx1"/>
                </a:solidFill>
                <a:latin typeface="黑体" panose="02010609060101010101" pitchFamily="49" charset="-122"/>
                <a:ea typeface="黑体" panose="02010609060101010101" pitchFamily="49" charset="-122"/>
              </a:rPr>
              <a:t>AD9481,</a:t>
            </a:r>
            <a:r>
              <a:rPr lang="zh-CN" altLang="en-US" sz="2400" dirty="0">
                <a:solidFill>
                  <a:schemeClr val="tx1"/>
                </a:solidFill>
                <a:latin typeface="黑体" panose="02010609060101010101" pitchFamily="49" charset="-122"/>
                <a:ea typeface="黑体" panose="02010609060101010101" pitchFamily="49" charset="-122"/>
              </a:rPr>
              <a:t>采样率</a:t>
            </a:r>
            <a:r>
              <a:rPr lang="en-US" altLang="zh-CN" sz="2400" dirty="0">
                <a:solidFill>
                  <a:srgbClr val="CC00CC"/>
                </a:solidFill>
                <a:latin typeface="黑体" panose="02010609060101010101" pitchFamily="49" charset="-122"/>
                <a:ea typeface="黑体" panose="02010609060101010101" pitchFamily="49" charset="-122"/>
              </a:rPr>
              <a:t>250MSPS</a:t>
            </a:r>
            <a:r>
              <a:rPr lang="zh-CN" altLang="en-US"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e2v</a:t>
            </a:r>
            <a:r>
              <a:rPr lang="zh-CN" altLang="en-US" sz="2400" dirty="0">
                <a:solidFill>
                  <a:schemeClr val="tx1"/>
                </a:solidFill>
                <a:latin typeface="黑体" panose="02010609060101010101" pitchFamily="49" charset="-122"/>
                <a:ea typeface="黑体" panose="02010609060101010101" pitchFamily="49" charset="-122"/>
              </a:rPr>
              <a:t>公司的</a:t>
            </a:r>
            <a:r>
              <a:rPr lang="en-US" altLang="zh-CN" sz="2400" dirty="0">
                <a:solidFill>
                  <a:schemeClr val="tx1"/>
                </a:solidFill>
                <a:latin typeface="黑体" panose="02010609060101010101" pitchFamily="49" charset="-122"/>
                <a:ea typeface="黑体" panose="02010609060101010101" pitchFamily="49" charset="-122"/>
              </a:rPr>
              <a:t>AT84AD001</a:t>
            </a:r>
            <a:r>
              <a:rPr lang="zh-CN" altLang="en-US" sz="2400" dirty="0">
                <a:solidFill>
                  <a:schemeClr val="tx1"/>
                </a:solidFill>
                <a:latin typeface="黑体" panose="02010609060101010101" pitchFamily="49" charset="-122"/>
                <a:ea typeface="黑体" panose="02010609060101010101" pitchFamily="49" charset="-122"/>
              </a:rPr>
              <a:t>，采样率高达</a:t>
            </a:r>
            <a:r>
              <a:rPr lang="en-US" altLang="zh-CN" sz="2400" dirty="0">
                <a:solidFill>
                  <a:srgbClr val="CC00CC"/>
                </a:solidFill>
                <a:latin typeface="黑体" panose="02010609060101010101" pitchFamily="49" charset="-122"/>
                <a:ea typeface="黑体" panose="02010609060101010101" pitchFamily="49" charset="-122"/>
              </a:rPr>
              <a:t>1GSPS</a:t>
            </a:r>
            <a:r>
              <a:rPr lang="zh-CN" altLang="en-US" sz="2400" dirty="0">
                <a:solidFill>
                  <a:schemeClr val="tx1"/>
                </a:solidFill>
                <a:latin typeface="黑体" panose="02010609060101010101" pitchFamily="49" charset="-122"/>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07525"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7526" name="Text Box 8"/>
          <p:cNvSpPr txBox="1"/>
          <p:nvPr/>
        </p:nvSpPr>
        <p:spPr>
          <a:xfrm>
            <a:off x="427038" y="1458913"/>
            <a:ext cx="2732087"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总结：</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cove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8546" name="Text Box 3"/>
          <p:cNvSpPr txBox="1"/>
          <p:nvPr/>
        </p:nvSpPr>
        <p:spPr>
          <a:xfrm>
            <a:off x="398463" y="1422400"/>
            <a:ext cx="3386137" cy="461963"/>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三位并行比较型</a:t>
            </a:r>
            <a:r>
              <a:rPr lang="en-US" altLang="zh-CN" sz="2400" dirty="0">
                <a:solidFill>
                  <a:schemeClr val="tx1"/>
                </a:solidFill>
                <a:latin typeface="Times New Roman" panose="02020603050405020304" pitchFamily="18" charset="0"/>
              </a:rPr>
              <a:t>ADC</a:t>
            </a:r>
            <a:endParaRPr lang="en-US" altLang="zh-CN" sz="2400" dirty="0">
              <a:solidFill>
                <a:schemeClr val="tx1"/>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pic>
        <p:nvPicPr>
          <p:cNvPr id="108548" name="Picture 5" descr="COCIC)_RETWWC))R(2U{6ED"/>
          <p:cNvPicPr>
            <a:picLocks noChangeAspect="1"/>
          </p:cNvPicPr>
          <p:nvPr/>
        </p:nvPicPr>
        <p:blipFill>
          <a:blip r:embed="rId1"/>
          <a:stretch>
            <a:fillRect/>
          </a:stretch>
        </p:blipFill>
        <p:spPr>
          <a:xfrm>
            <a:off x="4572000" y="623888"/>
            <a:ext cx="4276725" cy="5610225"/>
          </a:xfrm>
          <a:prstGeom prst="rect">
            <a:avLst/>
          </a:prstGeom>
          <a:noFill/>
          <a:ln w="9525">
            <a:noFill/>
          </a:ln>
        </p:spPr>
      </p:pic>
      <p:sp>
        <p:nvSpPr>
          <p:cNvPr id="108549"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pic>
        <p:nvPicPr>
          <p:cNvPr id="108550" name="图片 1"/>
          <p:cNvPicPr>
            <a:picLocks noChangeAspect="1"/>
          </p:cNvPicPr>
          <p:nvPr/>
        </p:nvPicPr>
        <p:blipFill>
          <a:blip r:embed="rId2"/>
          <a:stretch>
            <a:fillRect/>
          </a:stretch>
        </p:blipFill>
        <p:spPr>
          <a:xfrm>
            <a:off x="404813" y="2105025"/>
            <a:ext cx="3954462" cy="3919538"/>
          </a:xfrm>
          <a:prstGeom prst="rect">
            <a:avLst/>
          </a:prstGeom>
          <a:noFill/>
          <a:ln w="9525">
            <a:noFill/>
          </a:ln>
        </p:spPr>
      </p:pic>
    </p:spTree>
  </p:cSld>
  <p:clrMapOvr>
    <a:masterClrMapping/>
  </p:clrMapOvr>
  <p:transition spd="med">
    <p:strips/>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pic>
        <p:nvPicPr>
          <p:cNvPr id="109571" name="Picture 6" descr="5U6~HT1R_M}145%V$[ZJQ45"/>
          <p:cNvPicPr>
            <a:picLocks noChangeAspect="1"/>
          </p:cNvPicPr>
          <p:nvPr/>
        </p:nvPicPr>
        <p:blipFill>
          <a:blip r:embed="rId1"/>
          <a:stretch>
            <a:fillRect/>
          </a:stretch>
        </p:blipFill>
        <p:spPr>
          <a:xfrm>
            <a:off x="3455988" y="1101725"/>
            <a:ext cx="5553075" cy="5084763"/>
          </a:xfrm>
          <a:prstGeom prst="rect">
            <a:avLst/>
          </a:prstGeom>
          <a:noFill/>
          <a:ln w="9525">
            <a:noFill/>
          </a:ln>
        </p:spPr>
      </p:pic>
      <p:sp>
        <p:nvSpPr>
          <p:cNvPr id="109572"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09573" name="Text Box 3"/>
          <p:cNvSpPr txBox="1"/>
          <p:nvPr/>
        </p:nvSpPr>
        <p:spPr>
          <a:xfrm>
            <a:off x="134938" y="1566863"/>
            <a:ext cx="3386137" cy="4154487"/>
          </a:xfrm>
          <a:prstGeom prst="rect">
            <a:avLst/>
          </a:prstGeom>
          <a:noFill/>
          <a:ln w="9525">
            <a:noFill/>
          </a:ln>
        </p:spPr>
        <p:txBody>
          <a:bodyPr>
            <a:spAutoFit/>
          </a:bodyPr>
          <a:p>
            <a:pPr eaLnBrk="1" hangingPunct="1"/>
            <a:r>
              <a:rPr lang="zh-CN" altLang="en-US" sz="2400" dirty="0">
                <a:solidFill>
                  <a:schemeClr val="tx1"/>
                </a:solidFill>
                <a:latin typeface="Times New Roman" panose="02020603050405020304" pitchFamily="18" charset="0"/>
              </a:rPr>
              <a:t>三位并行比较型</a:t>
            </a:r>
            <a:r>
              <a:rPr lang="en-US" altLang="zh-CN" sz="2400" dirty="0">
                <a:solidFill>
                  <a:schemeClr val="tx1"/>
                </a:solidFill>
                <a:latin typeface="Times New Roman" panose="02020603050405020304" pitchFamily="18" charset="0"/>
              </a:rPr>
              <a:t>ADC</a:t>
            </a:r>
            <a:endParaRPr lang="en-US" altLang="zh-CN" sz="2400" dirty="0">
              <a:solidFill>
                <a:schemeClr val="tx1"/>
              </a:solidFill>
              <a:latin typeface="Times New Roman" panose="02020603050405020304" pitchFamily="18" charset="0"/>
            </a:endParaRPr>
          </a:p>
          <a:p>
            <a:pPr eaLnBrk="1" hangingPunct="1"/>
            <a:endParaRPr lang="en-US" altLang="zh-CN" sz="2400" dirty="0">
              <a:solidFill>
                <a:schemeClr val="tx1"/>
              </a:solidFill>
              <a:latin typeface="Times New Roman" panose="02020603050405020304" pitchFamily="18" charset="0"/>
            </a:endParaRPr>
          </a:p>
          <a:p>
            <a:pPr eaLnBrk="1" hangingPunct="1"/>
            <a:r>
              <a:rPr lang="zh-CN" altLang="en-US" sz="2400" dirty="0">
                <a:latin typeface="Times New Roman" panose="02020603050405020304" pitchFamily="18" charset="0"/>
              </a:rPr>
              <a:t>当</a:t>
            </a:r>
            <a:r>
              <a:rPr lang="en-US" altLang="zh-CN" sz="2400" dirty="0">
                <a:latin typeface="Times New Roman" panose="02020603050405020304" pitchFamily="18" charset="0"/>
              </a:rPr>
              <a:t>1/16V</a:t>
            </a:r>
            <a:r>
              <a:rPr lang="en-US" altLang="zh-CN" sz="2400" baseline="-25000" dirty="0">
                <a:latin typeface="Times New Roman" panose="02020603050405020304" pitchFamily="18" charset="0"/>
              </a:rPr>
              <a:t>REF</a:t>
            </a:r>
            <a:r>
              <a:rPr lang="en-US" altLang="zh-CN" sz="2400" dirty="0">
                <a:latin typeface="Times New Roman" panose="02020603050405020304" pitchFamily="18" charset="0"/>
              </a:rPr>
              <a:t>≦V</a:t>
            </a:r>
            <a:r>
              <a:rPr lang="en-US" altLang="zh-CN" sz="2400" baseline="-25000" dirty="0">
                <a:latin typeface="Times New Roman" panose="02020603050405020304" pitchFamily="18" charset="0"/>
              </a:rPr>
              <a:t>I</a:t>
            </a:r>
            <a:r>
              <a:rPr lang="en-US" altLang="zh-CN" sz="2400" dirty="0">
                <a:latin typeface="Times New Roman" panose="02020603050405020304" pitchFamily="18" charset="0"/>
              </a:rPr>
              <a:t>&lt;3/16V</a:t>
            </a:r>
            <a:r>
              <a:rPr lang="en-US" altLang="zh-CN" sz="2400" baseline="-25000" dirty="0">
                <a:latin typeface="Times New Roman" panose="02020603050405020304" pitchFamily="18" charset="0"/>
              </a:rPr>
              <a:t>REF</a:t>
            </a:r>
            <a:r>
              <a:rPr lang="zh-CN" altLang="en-US" sz="2400" dirty="0">
                <a:latin typeface="Times New Roman" panose="02020603050405020304" pitchFamily="18" charset="0"/>
              </a:rPr>
              <a:t>时，比较器</a:t>
            </a:r>
            <a:r>
              <a:rPr lang="en-US" altLang="zh-CN" sz="2400" dirty="0">
                <a:latin typeface="Times New Roman" panose="02020603050405020304" pitchFamily="18" charset="0"/>
              </a:rPr>
              <a:t>A</a:t>
            </a:r>
            <a:r>
              <a:rPr lang="en-US" altLang="zh-CN" sz="2400" baseline="-25000" dirty="0">
                <a:latin typeface="Times New Roman" panose="02020603050405020304" pitchFamily="18" charset="0"/>
              </a:rPr>
              <a:t>1</a:t>
            </a:r>
            <a:r>
              <a:rPr lang="zh-CN" altLang="en-US" sz="2400" dirty="0">
                <a:latin typeface="Times New Roman" panose="02020603050405020304" pitchFamily="18" charset="0"/>
              </a:rPr>
              <a:t>输出为</a:t>
            </a:r>
            <a:r>
              <a:rPr lang="en-US" altLang="zh-CN" sz="2400" dirty="0">
                <a:latin typeface="Times New Roman" panose="02020603050405020304" pitchFamily="18" charset="0"/>
              </a:rPr>
              <a:t>1</a:t>
            </a:r>
            <a:r>
              <a:rPr lang="zh-CN" altLang="en-US" sz="2400" dirty="0">
                <a:latin typeface="Times New Roman" panose="02020603050405020304" pitchFamily="18" charset="0"/>
              </a:rPr>
              <a:t>，其余输出为</a:t>
            </a:r>
            <a:r>
              <a:rPr lang="en-US" altLang="zh-CN" sz="2400" dirty="0">
                <a:latin typeface="Times New Roman" panose="02020603050405020304" pitchFamily="18" charset="0"/>
              </a:rPr>
              <a:t>0</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a:p>
            <a:pPr eaLnBrk="1" hangingPunct="1"/>
            <a:r>
              <a:rPr lang="zh-CN" altLang="en-US" sz="2400" dirty="0">
                <a:latin typeface="Times New Roman" panose="02020603050405020304" pitchFamily="18" charset="0"/>
              </a:rPr>
              <a:t>当</a:t>
            </a:r>
            <a:r>
              <a:rPr lang="en-US" altLang="zh-CN" sz="2400" dirty="0">
                <a:latin typeface="Times New Roman" panose="02020603050405020304" pitchFamily="18" charset="0"/>
              </a:rPr>
              <a:t>3/16V</a:t>
            </a:r>
            <a:r>
              <a:rPr lang="en-US" altLang="zh-CN" sz="2400" baseline="-25000" dirty="0">
                <a:latin typeface="Times New Roman" panose="02020603050405020304" pitchFamily="18" charset="0"/>
              </a:rPr>
              <a:t>REF</a:t>
            </a:r>
            <a:r>
              <a:rPr lang="en-US" altLang="zh-CN" sz="2400" dirty="0">
                <a:latin typeface="Times New Roman" panose="02020603050405020304" pitchFamily="18" charset="0"/>
              </a:rPr>
              <a:t>≦V</a:t>
            </a:r>
            <a:r>
              <a:rPr lang="en-US" altLang="zh-CN" sz="2400" baseline="-25000" dirty="0">
                <a:latin typeface="Times New Roman" panose="02020603050405020304" pitchFamily="18" charset="0"/>
              </a:rPr>
              <a:t>I</a:t>
            </a:r>
            <a:r>
              <a:rPr lang="en-US" altLang="zh-CN" sz="2400" dirty="0">
                <a:latin typeface="Times New Roman" panose="02020603050405020304" pitchFamily="18" charset="0"/>
              </a:rPr>
              <a:t>&lt;5/16V</a:t>
            </a:r>
            <a:r>
              <a:rPr lang="en-US" altLang="zh-CN" sz="2400" baseline="-25000" dirty="0">
                <a:latin typeface="Times New Roman" panose="02020603050405020304" pitchFamily="18" charset="0"/>
              </a:rPr>
              <a:t>REF</a:t>
            </a:r>
            <a:r>
              <a:rPr lang="zh-CN" altLang="en-US" sz="2400" dirty="0">
                <a:latin typeface="Times New Roman" panose="02020603050405020304" pitchFamily="18" charset="0"/>
              </a:rPr>
              <a:t>时，</a:t>
            </a:r>
            <a:r>
              <a:rPr lang="en-US" altLang="zh-CN" sz="2400" dirty="0">
                <a:latin typeface="Times New Roman" panose="02020603050405020304" pitchFamily="18" charset="0"/>
              </a:rPr>
              <a:t>A</a:t>
            </a:r>
            <a:r>
              <a:rPr lang="en-US" altLang="zh-CN" sz="2400" baseline="-25000" dirty="0">
                <a:latin typeface="Times New Roman" panose="02020603050405020304" pitchFamily="18" charset="0"/>
              </a:rPr>
              <a:t>1</a:t>
            </a:r>
            <a:r>
              <a:rPr lang="zh-CN" altLang="en-US" sz="2400" dirty="0">
                <a:latin typeface="Times New Roman" panose="02020603050405020304" pitchFamily="18" charset="0"/>
              </a:rPr>
              <a:t>和</a:t>
            </a:r>
            <a:r>
              <a:rPr lang="en-US" altLang="zh-CN" sz="2400" dirty="0">
                <a:latin typeface="Times New Roman" panose="02020603050405020304" pitchFamily="18" charset="0"/>
              </a:rPr>
              <a:t>A</a:t>
            </a:r>
            <a:r>
              <a:rPr lang="en-US" altLang="zh-CN" sz="2400" baseline="-25000" dirty="0">
                <a:latin typeface="Times New Roman" panose="02020603050405020304" pitchFamily="18" charset="0"/>
              </a:rPr>
              <a:t>2</a:t>
            </a:r>
            <a:r>
              <a:rPr lang="zh-CN" altLang="en-US" sz="2400" dirty="0">
                <a:latin typeface="Times New Roman" panose="02020603050405020304" pitchFamily="18" charset="0"/>
              </a:rPr>
              <a:t>输出都为</a:t>
            </a:r>
            <a:r>
              <a:rPr lang="en-US" altLang="zh-CN" sz="2400" dirty="0">
                <a:latin typeface="Times New Roman" panose="02020603050405020304" pitchFamily="18" charset="0"/>
              </a:rPr>
              <a:t>1</a:t>
            </a:r>
            <a:r>
              <a:rPr lang="zh-CN" altLang="en-US" sz="2400" dirty="0">
                <a:latin typeface="Times New Roman" panose="02020603050405020304" pitchFamily="18" charset="0"/>
              </a:rPr>
              <a:t>，其余输出仍为</a:t>
            </a:r>
            <a:r>
              <a:rPr lang="en-US" altLang="zh-CN" sz="2400" dirty="0">
                <a:latin typeface="Times New Roman" panose="02020603050405020304" pitchFamily="18" charset="0"/>
              </a:rPr>
              <a:t>0</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a:p>
            <a:pPr eaLnBrk="1" hangingPunct="1"/>
            <a:r>
              <a:rPr lang="zh-CN" altLang="en-US" sz="2400" dirty="0">
                <a:latin typeface="Times New Roman" panose="02020603050405020304" pitchFamily="18" charset="0"/>
              </a:rPr>
              <a:t>依次类推。</a:t>
            </a:r>
            <a:endParaRPr lang="zh-CN" altLang="en-US" sz="2400" dirty="0">
              <a:latin typeface="Times New Roman" panose="02020603050405020304" pitchFamily="18" charset="0"/>
            </a:endParaRPr>
          </a:p>
        </p:txBody>
      </p:sp>
    </p:spTree>
  </p:cSld>
  <p:clrMapOvr>
    <a:masterClrMapping/>
  </p:clrMapOvr>
  <p:transition spd="med">
    <p:strips/>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0594" name="Text Box 2"/>
          <p:cNvSpPr txBox="1"/>
          <p:nvPr/>
        </p:nvSpPr>
        <p:spPr>
          <a:xfrm>
            <a:off x="749300" y="1363663"/>
            <a:ext cx="7581900" cy="1187450"/>
          </a:xfrm>
          <a:prstGeom prst="rect">
            <a:avLst/>
          </a:prstGeom>
          <a:noFill/>
          <a:ln w="9525">
            <a:noFill/>
          </a:ln>
        </p:spPr>
        <p:txBody>
          <a:bodyPr>
            <a:spAutoFit/>
          </a:bodyPr>
          <a:p>
            <a:pPr eaLnBrk="1" hangingPunct="1"/>
            <a:r>
              <a:rPr lang="zh-CN" altLang="en-US" sz="2400" dirty="0">
                <a:latin typeface="Times New Roman" panose="02020603050405020304" pitchFamily="18" charset="0"/>
              </a:rPr>
              <a:t>没有输出数据锁存器的并行比较型</a:t>
            </a:r>
            <a:r>
              <a:rPr lang="en-US" altLang="zh-CN" sz="2400" dirty="0">
                <a:latin typeface="Times New Roman" panose="02020603050405020304" pitchFamily="18" charset="0"/>
              </a:rPr>
              <a:t>ADC</a:t>
            </a:r>
            <a:r>
              <a:rPr lang="zh-CN" altLang="en-US" sz="2400" dirty="0">
                <a:latin typeface="Times New Roman" panose="02020603050405020304" pitchFamily="18" charset="0"/>
              </a:rPr>
              <a:t>，时序中有较大的输出数据无效期。带有内部输出数据锁存器的</a:t>
            </a:r>
            <a:r>
              <a:rPr lang="en-US" altLang="zh-CN" sz="2400" dirty="0">
                <a:latin typeface="Times New Roman" panose="02020603050405020304" pitchFamily="18" charset="0"/>
              </a:rPr>
              <a:t>ADC</a:t>
            </a:r>
            <a:r>
              <a:rPr lang="zh-CN" altLang="en-US" sz="2400" dirty="0">
                <a:latin typeface="Times New Roman" panose="02020603050405020304" pitchFamily="18" charset="0"/>
              </a:rPr>
              <a:t>，输出数据有效期几乎是整个采样时钟周期。</a:t>
            </a:r>
            <a:endParaRPr lang="zh-CN" altLang="en-US" sz="2400" dirty="0">
              <a:latin typeface="Times New Roman" panose="02020603050405020304" pitchFamily="18" charset="0"/>
            </a:endParaRPr>
          </a:p>
        </p:txBody>
      </p:sp>
      <p:pic>
        <p:nvPicPr>
          <p:cNvPr id="110595" name="Picture 3"/>
          <p:cNvPicPr>
            <a:picLocks noChangeAspect="1"/>
          </p:cNvPicPr>
          <p:nvPr/>
        </p:nvPicPr>
        <p:blipFill>
          <a:blip r:embed="rId1"/>
          <a:stretch>
            <a:fillRect/>
          </a:stretch>
        </p:blipFill>
        <p:spPr>
          <a:xfrm>
            <a:off x="250825" y="2760663"/>
            <a:ext cx="3744913" cy="3286125"/>
          </a:xfrm>
          <a:prstGeom prst="rect">
            <a:avLst/>
          </a:prstGeom>
          <a:noFill/>
          <a:ln w="9525">
            <a:noFill/>
          </a:ln>
        </p:spPr>
      </p:pic>
      <p:pic>
        <p:nvPicPr>
          <p:cNvPr id="110596" name="Picture 4"/>
          <p:cNvPicPr>
            <a:picLocks noChangeAspect="1"/>
          </p:cNvPicPr>
          <p:nvPr/>
        </p:nvPicPr>
        <p:blipFill>
          <a:blip r:embed="rId2"/>
          <a:stretch>
            <a:fillRect/>
          </a:stretch>
        </p:blipFill>
        <p:spPr>
          <a:xfrm>
            <a:off x="4572000" y="2876550"/>
            <a:ext cx="4356100" cy="3206750"/>
          </a:xfrm>
          <a:prstGeom prst="rect">
            <a:avLst/>
          </a:prstGeom>
          <a:noFill/>
          <a:ln w="9525">
            <a:noFill/>
          </a:ln>
        </p:spPr>
      </p:pic>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0598"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5762" name="Text Box 2"/>
          <p:cNvSpPr txBox="1">
            <a:spLocks noChangeArrowheads="1"/>
          </p:cNvSpPr>
          <p:nvPr/>
        </p:nvSpPr>
        <p:spPr bwMode="auto">
          <a:xfrm>
            <a:off x="404813" y="1570038"/>
            <a:ext cx="4137025" cy="519113"/>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误差来源：</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11619" name="Rectangle 3"/>
          <p:cNvSpPr>
            <a:spLocks noGrp="1"/>
          </p:cNvSpPr>
          <p:nvPr>
            <p:ph idx="1"/>
          </p:nvPr>
        </p:nvSpPr>
        <p:spPr>
          <a:xfrm>
            <a:off x="404813" y="2149475"/>
            <a:ext cx="4530725" cy="3844925"/>
          </a:xfrm>
          <a:noFill/>
          <a:ln>
            <a:noFill/>
          </a:ln>
        </p:spPr>
        <p:txBody>
          <a:bodyPr/>
          <a:p>
            <a:r>
              <a:rPr lang="zh-CN" altLang="en-US" sz="2400" dirty="0">
                <a:solidFill>
                  <a:schemeClr val="accent2"/>
                </a:solidFill>
                <a:latin typeface="楷体_GB2312" pitchFamily="49" charset="-122"/>
                <a:ea typeface="楷体_GB2312" pitchFamily="49" charset="-122"/>
              </a:rPr>
              <a:t>直流非线性误差来源于比较器输入端的偏置电压变化。一般应小于</a:t>
            </a:r>
            <a:r>
              <a:rPr lang="en-US" altLang="zh-CN" dirty="0"/>
              <a:t>±0.5LSB</a:t>
            </a:r>
            <a:r>
              <a:rPr lang="zh-CN" altLang="en-US" dirty="0"/>
              <a:t>。</a:t>
            </a:r>
            <a:endParaRPr lang="zh-CN" altLang="en-US" sz="2400" dirty="0">
              <a:solidFill>
                <a:schemeClr val="accent2"/>
              </a:solidFill>
              <a:latin typeface="楷体_GB2312" pitchFamily="49" charset="-122"/>
              <a:ea typeface="楷体_GB2312" pitchFamily="49" charset="-122"/>
            </a:endParaRPr>
          </a:p>
          <a:p>
            <a:r>
              <a:rPr lang="zh-CN" altLang="en-US" sz="2400" dirty="0">
                <a:solidFill>
                  <a:schemeClr val="accent2"/>
                </a:solidFill>
                <a:latin typeface="楷体_GB2312" pitchFamily="49" charset="-122"/>
                <a:ea typeface="楷体_GB2312" pitchFamily="49" charset="-122"/>
              </a:rPr>
              <a:t>动态误差主要来源于各比较器之间的交流适配。对于实际的</a:t>
            </a:r>
            <a:r>
              <a:rPr lang="en-US" altLang="zh-CN" sz="2400" dirty="0">
                <a:solidFill>
                  <a:schemeClr val="accent2"/>
                </a:solidFill>
                <a:latin typeface="楷体_GB2312" pitchFamily="49" charset="-122"/>
                <a:ea typeface="楷体_GB2312" pitchFamily="49" charset="-122"/>
              </a:rPr>
              <a:t>ADC</a:t>
            </a:r>
            <a:r>
              <a:rPr lang="zh-CN" altLang="en-US" sz="2400" dirty="0">
                <a:solidFill>
                  <a:schemeClr val="accent2"/>
                </a:solidFill>
                <a:latin typeface="楷体_GB2312" pitchFamily="49" charset="-122"/>
                <a:ea typeface="楷体_GB2312" pitchFamily="49" charset="-122"/>
              </a:rPr>
              <a:t>，各比较器之间的延迟和带宽不可能完美匹配，因此会产生取决于信号转换速率的非线性误差。当信号频率高时，导致信噪比和有效位数降低。</a:t>
            </a:r>
            <a:endParaRPr lang="zh-CN" altLang="en-US" sz="2400" dirty="0">
              <a:solidFill>
                <a:schemeClr val="accent2"/>
              </a:solidFill>
              <a:latin typeface="楷体_GB2312" pitchFamily="49" charset="-122"/>
              <a:ea typeface="楷体_GB2312" pitchFamily="49" charset="-122"/>
            </a:endParaRPr>
          </a:p>
        </p:txBody>
      </p:sp>
      <p:pic>
        <p:nvPicPr>
          <p:cNvPr id="111620" name="Picture 4"/>
          <p:cNvPicPr>
            <a:picLocks noChangeAspect="1"/>
          </p:cNvPicPr>
          <p:nvPr/>
        </p:nvPicPr>
        <p:blipFill>
          <a:blip r:embed="rId1"/>
          <a:stretch>
            <a:fillRect/>
          </a:stretch>
        </p:blipFill>
        <p:spPr>
          <a:xfrm>
            <a:off x="4935538" y="2149475"/>
            <a:ext cx="4160837" cy="3232150"/>
          </a:xfrm>
          <a:prstGeom prst="rect">
            <a:avLst/>
          </a:prstGeom>
          <a:noFill/>
          <a:ln w="9525">
            <a:noFill/>
          </a:ln>
        </p:spPr>
      </p:pic>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1622" name="Text Box 11"/>
          <p:cNvSpPr txBox="1"/>
          <p:nvPr/>
        </p:nvSpPr>
        <p:spPr>
          <a:xfrm>
            <a:off x="404813" y="671513"/>
            <a:ext cx="36004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并行比较型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2642" name="Picture 4" descr="8"/>
          <p:cNvPicPr>
            <a:picLocks noChangeAspect="1"/>
          </p:cNvPicPr>
          <p:nvPr/>
        </p:nvPicPr>
        <p:blipFill>
          <a:blip r:embed="rId1"/>
          <a:srcRect l="4707" r="6079"/>
          <a:stretch>
            <a:fillRect/>
          </a:stretch>
        </p:blipFill>
        <p:spPr>
          <a:xfrm>
            <a:off x="34925" y="2644775"/>
            <a:ext cx="4752975" cy="3519488"/>
          </a:xfrm>
          <a:prstGeom prst="rect">
            <a:avLst/>
          </a:prstGeom>
          <a:noFill/>
          <a:ln w="9525">
            <a:noFill/>
          </a:ln>
        </p:spPr>
      </p:pic>
      <p:sp>
        <p:nvSpPr>
          <p:cNvPr id="112643" name="Rectangle 5"/>
          <p:cNvSpPr/>
          <p:nvPr/>
        </p:nvSpPr>
        <p:spPr>
          <a:xfrm>
            <a:off x="4787900" y="2873375"/>
            <a:ext cx="4176713" cy="3290888"/>
          </a:xfrm>
          <a:prstGeom prst="rect">
            <a:avLst/>
          </a:prstGeom>
          <a:noFill/>
          <a:ln w="9525">
            <a:noFill/>
          </a:ln>
        </p:spPr>
        <p:txBody>
          <a:bodyPr/>
          <a:p>
            <a:pPr marL="254000" indent="-254000" defTabSz="678180">
              <a:spcBef>
                <a:spcPct val="50000"/>
              </a:spcBef>
              <a:buSzPct val="75000"/>
              <a:buFont typeface="Wingdings" panose="05000000000000000000" pitchFamily="2" charset="2"/>
            </a:pPr>
            <a:r>
              <a:rPr lang="zh-CN" altLang="en-US" sz="2400" dirty="0">
                <a:solidFill>
                  <a:schemeClr val="tx1"/>
                </a:solidFill>
                <a:latin typeface="Times New Roman" panose="02020603050405020304" pitchFamily="18" charset="0"/>
              </a:rPr>
              <a:t>八位半闪烁型：</a:t>
            </a:r>
            <a:endParaRPr lang="zh-CN" altLang="en-US" sz="2400" dirty="0">
              <a:solidFill>
                <a:schemeClr val="tx1"/>
              </a:solidFill>
              <a:latin typeface="Times New Roman" panose="02020603050405020304" pitchFamily="18" charset="0"/>
            </a:endParaRPr>
          </a:p>
          <a:p>
            <a:pPr marL="254000" indent="-254000" defTabSz="678180">
              <a:spcBef>
                <a:spcPct val="50000"/>
              </a:spcBef>
              <a:buSzPct val="75000"/>
              <a:buFont typeface="Wingdings" panose="05000000000000000000" pitchFamily="2" charset="2"/>
            </a:pPr>
            <a:r>
              <a:rPr lang="zh-CN" altLang="en-US" sz="2400" dirty="0">
                <a:solidFill>
                  <a:schemeClr val="tx1"/>
                </a:solidFill>
                <a:latin typeface="Times New Roman" panose="02020603050405020304" pitchFamily="18" charset="0"/>
              </a:rPr>
              <a:t>   组成：两个</a:t>
            </a:r>
            <a:r>
              <a:rPr lang="en-US" altLang="zh-CN" sz="2400" dirty="0">
                <a:solidFill>
                  <a:schemeClr val="tx1"/>
                </a:solidFill>
                <a:latin typeface="Times New Roman" panose="02020603050405020304" pitchFamily="18" charset="0"/>
              </a:rPr>
              <a:t>4</a:t>
            </a:r>
            <a:r>
              <a:rPr lang="zh-CN" altLang="en-US" sz="2400" dirty="0">
                <a:solidFill>
                  <a:schemeClr val="tx1"/>
                </a:solidFill>
                <a:latin typeface="Times New Roman" panose="02020603050405020304" pitchFamily="18" charset="0"/>
              </a:rPr>
              <a:t>位并行比较型</a:t>
            </a:r>
            <a:r>
              <a:rPr lang="en-US" altLang="zh-CN" sz="2400" dirty="0">
                <a:solidFill>
                  <a:schemeClr val="tx1"/>
                </a:solidFill>
                <a:latin typeface="Times New Roman" panose="02020603050405020304" pitchFamily="18" charset="0"/>
              </a:rPr>
              <a:t>ADC</a:t>
            </a:r>
            <a:r>
              <a:rPr lang="zh-CN" altLang="en-US"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DAC</a:t>
            </a:r>
            <a:r>
              <a:rPr lang="zh-CN" altLang="en-US" sz="2400" dirty="0">
                <a:solidFill>
                  <a:schemeClr val="tx1"/>
                </a:solidFill>
                <a:latin typeface="Times New Roman" panose="02020603050405020304" pitchFamily="18" charset="0"/>
              </a:rPr>
              <a:t>、减法器、三态门</a:t>
            </a:r>
            <a:endParaRPr lang="zh-CN" altLang="en-US" sz="2400" dirty="0">
              <a:solidFill>
                <a:schemeClr val="tx1"/>
              </a:solidFill>
              <a:latin typeface="Times New Roman" panose="02020603050405020304" pitchFamily="18" charset="0"/>
            </a:endParaRPr>
          </a:p>
          <a:p>
            <a:pPr marL="254000" indent="-254000" defTabSz="678180">
              <a:spcBef>
                <a:spcPct val="50000"/>
              </a:spcBef>
              <a:buSzPct val="75000"/>
              <a:buFont typeface="Wingdings" panose="05000000000000000000" pitchFamily="2" charset="2"/>
            </a:pPr>
            <a:r>
              <a:rPr lang="zh-CN" altLang="en-US" sz="2400" dirty="0">
                <a:solidFill>
                  <a:schemeClr val="tx1"/>
                </a:solidFill>
                <a:latin typeface="Times New Roman" panose="02020603050405020304" pitchFamily="18" charset="0"/>
              </a:rPr>
              <a:t>    比较器总数：</a:t>
            </a:r>
            <a:r>
              <a:rPr lang="en-US" altLang="zh-CN" sz="2400" dirty="0">
                <a:solidFill>
                  <a:schemeClr val="tx1"/>
                </a:solidFill>
                <a:latin typeface="Times New Roman" panose="02020603050405020304" pitchFamily="18" charset="0"/>
              </a:rPr>
              <a:t>30</a:t>
            </a:r>
            <a:r>
              <a:rPr lang="zh-CN" altLang="en-US" sz="2400" dirty="0">
                <a:solidFill>
                  <a:schemeClr val="tx1"/>
                </a:solidFill>
                <a:latin typeface="Times New Roman" panose="02020603050405020304" pitchFamily="18" charset="0"/>
              </a:rPr>
              <a:t>个</a:t>
            </a:r>
            <a:endParaRPr lang="zh-CN" altLang="en-US" sz="2400" dirty="0">
              <a:solidFill>
                <a:schemeClr val="tx1"/>
              </a:solidFill>
              <a:latin typeface="Times New Roman" panose="02020603050405020304" pitchFamily="18" charset="0"/>
            </a:endParaRPr>
          </a:p>
          <a:p>
            <a:pPr marL="254000" indent="-254000" defTabSz="678180">
              <a:spcBef>
                <a:spcPct val="50000"/>
              </a:spcBef>
              <a:buSzPct val="75000"/>
              <a:buFont typeface="Wingdings" panose="05000000000000000000" pitchFamily="2" charset="2"/>
            </a:pPr>
            <a:r>
              <a:rPr lang="zh-CN" altLang="en-US" sz="2400" dirty="0">
                <a:solidFill>
                  <a:schemeClr val="tx1"/>
                </a:solidFill>
                <a:latin typeface="Times New Roman" panose="02020603050405020304" pitchFamily="18" charset="0"/>
              </a:rPr>
              <a:t>八位并行比较型：</a:t>
            </a:r>
            <a:endParaRPr lang="zh-CN" altLang="en-US" sz="2400" dirty="0">
              <a:solidFill>
                <a:schemeClr val="tx1"/>
              </a:solidFill>
              <a:latin typeface="Times New Roman" panose="02020603050405020304" pitchFamily="18" charset="0"/>
            </a:endParaRPr>
          </a:p>
          <a:p>
            <a:pPr marL="254000" indent="-254000" defTabSz="678180">
              <a:spcBef>
                <a:spcPct val="50000"/>
              </a:spcBef>
              <a:buSzPct val="75000"/>
              <a:buFont typeface="Wingdings" panose="05000000000000000000" pitchFamily="2" charset="2"/>
            </a:pPr>
            <a:r>
              <a:rPr lang="zh-CN" altLang="en-US" sz="2400" dirty="0">
                <a:solidFill>
                  <a:schemeClr val="tx1"/>
                </a:solidFill>
                <a:latin typeface="Times New Roman" panose="02020603050405020304" pitchFamily="18" charset="0"/>
              </a:rPr>
              <a:t>    比较器总数：</a:t>
            </a:r>
            <a:r>
              <a:rPr lang="en-US" altLang="zh-CN" sz="2400" dirty="0">
                <a:solidFill>
                  <a:schemeClr val="tx1"/>
                </a:solidFill>
                <a:latin typeface="Times New Roman" panose="02020603050405020304" pitchFamily="18" charset="0"/>
              </a:rPr>
              <a:t>255</a:t>
            </a:r>
            <a:r>
              <a:rPr lang="zh-CN" altLang="en-US" sz="2400" dirty="0">
                <a:solidFill>
                  <a:schemeClr val="tx1"/>
                </a:solidFill>
                <a:latin typeface="Times New Roman" panose="02020603050405020304" pitchFamily="18" charset="0"/>
              </a:rPr>
              <a:t>个</a:t>
            </a:r>
            <a:endParaRPr lang="zh-CN" altLang="en-US" sz="2400" dirty="0">
              <a:solidFill>
                <a:schemeClr val="tx1"/>
              </a:solidFill>
              <a:latin typeface="Times New Roman" panose="02020603050405020304" pitchFamily="18" charset="0"/>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2645"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12646" name="Text Box 92"/>
          <p:cNvSpPr txBox="1"/>
          <p:nvPr/>
        </p:nvSpPr>
        <p:spPr>
          <a:xfrm>
            <a:off x="615950" y="1409700"/>
            <a:ext cx="8181975" cy="1187450"/>
          </a:xfrm>
          <a:prstGeom prst="rect">
            <a:avLst/>
          </a:prstGeom>
          <a:noFill/>
          <a:ln w="9525">
            <a:noFill/>
          </a:ln>
        </p:spPr>
        <p:txBody>
          <a:bodyPr>
            <a:spAutoFit/>
          </a:bodyPr>
          <a:p>
            <a:pPr eaLnBrk="1" hangingPunct="1">
              <a:spcBef>
                <a:spcPct val="50000"/>
              </a:spcBef>
            </a:pPr>
            <a:r>
              <a:rPr lang="zh-CN" altLang="en-US" sz="2400" dirty="0">
                <a:solidFill>
                  <a:schemeClr val="accent2"/>
                </a:solidFill>
                <a:latin typeface="Times New Roman" panose="02020603050405020304" pitchFamily="18" charset="0"/>
                <a:ea typeface="黑体" panose="02010609060101010101" pitchFamily="49" charset="-122"/>
              </a:rPr>
              <a:t>并行比较型</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Times New Roman" panose="02020603050405020304" pitchFamily="18" charset="0"/>
                <a:ea typeface="黑体" panose="02010609060101010101" pitchFamily="49" charset="-122"/>
              </a:rPr>
              <a:t>转换速度快，但集成工艺难以实现高分辨率。解决高速、高分辨率的思路是将两个（或多个）低分辨率并行比较型</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Times New Roman" panose="02020603050405020304" pitchFamily="18" charset="0"/>
                <a:ea typeface="黑体" panose="02010609060101010101" pitchFamily="49" charset="-122"/>
              </a:rPr>
              <a:t>组合起来，合并成一个高分辨率的</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zh-CN" sz="2400" dirty="0">
                <a:solidFill>
                  <a:schemeClr val="accent2"/>
                </a:solidFill>
                <a:latin typeface="Times New Roman" panose="02020603050405020304" pitchFamily="18" charset="0"/>
                <a:ea typeface="黑体" panose="02010609060101010101" pitchFamily="49" charset="-122"/>
              </a:rPr>
              <a:t>。</a:t>
            </a:r>
            <a:endParaRPr lang="zh-CN" altLang="en-US" sz="2400" dirty="0">
              <a:solidFill>
                <a:schemeClr val="accent2"/>
              </a:solidFill>
              <a:latin typeface="Times New Roman" panose="02020603050405020304" pitchFamily="18" charset="0"/>
              <a:ea typeface="黑体" panose="02010609060101010101" pitchFamily="49" charset="-122"/>
            </a:endParaRPr>
          </a:p>
        </p:txBody>
      </p:sp>
      <p:sp>
        <p:nvSpPr>
          <p:cNvPr id="2"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2648"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slow">
    <p:cover dir="d"/>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3666" name="Text Box 18"/>
          <p:cNvSpPr txBox="1"/>
          <p:nvPr/>
        </p:nvSpPr>
        <p:spPr>
          <a:xfrm>
            <a:off x="438150" y="2424113"/>
            <a:ext cx="8359775" cy="3268662"/>
          </a:xfrm>
          <a:prstGeom prst="rect">
            <a:avLst/>
          </a:prstGeom>
          <a:noFill/>
          <a:ln w="9525">
            <a:noFill/>
          </a:ln>
        </p:spPr>
        <p:txBody>
          <a:bodyPr>
            <a:spAutoFit/>
          </a:bodyPr>
          <a:p>
            <a:pPr eaLnBrk="1" hangingPunct="1">
              <a:lnSpc>
                <a:spcPct val="110000"/>
              </a:lnSpc>
              <a:spcAft>
                <a:spcPct val="5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第一级用一个</a:t>
            </a:r>
            <a:r>
              <a:rPr lang="en-US" altLang="zh-CN" sz="2400" dirty="0">
                <a:solidFill>
                  <a:srgbClr val="CC00CC"/>
                </a:solidFill>
                <a:latin typeface="Times New Roman" panose="02020603050405020304" pitchFamily="18" charset="0"/>
                <a:ea typeface="黑体" panose="02010609060101010101" pitchFamily="49" charset="-122"/>
              </a:rPr>
              <a:t>m(&lt;n)</a:t>
            </a:r>
            <a:r>
              <a:rPr lang="zh-CN" altLang="en-US" sz="2400" dirty="0">
                <a:solidFill>
                  <a:schemeClr val="tx1"/>
                </a:solidFill>
                <a:latin typeface="Times New Roman" panose="02020603050405020304" pitchFamily="18" charset="0"/>
                <a:ea typeface="黑体" panose="02010609060101010101" pitchFamily="49" charset="-122"/>
              </a:rPr>
              <a:t>位并行</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完成粗转换，转换结果作为</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位中的高</a:t>
            </a:r>
            <a:r>
              <a:rPr lang="en-US" altLang="zh-CN" sz="2400" dirty="0">
                <a:solidFill>
                  <a:srgbClr val="CC00CC"/>
                </a:solidFill>
                <a:latin typeface="Times New Roman" panose="02020603050405020304" pitchFamily="18" charset="0"/>
                <a:ea typeface="黑体" panose="02010609060101010101" pitchFamily="49" charset="-122"/>
              </a:rPr>
              <a:t>m</a:t>
            </a:r>
            <a:r>
              <a:rPr lang="zh-CN" altLang="en-US" sz="2400" dirty="0">
                <a:solidFill>
                  <a:schemeClr val="tx1"/>
                </a:solidFill>
                <a:latin typeface="Times New Roman" panose="02020603050405020304" pitchFamily="18" charset="0"/>
                <a:ea typeface="黑体" panose="02010609060101010101" pitchFamily="49" charset="-122"/>
              </a:rPr>
              <a:t>位，转换误差小于</a:t>
            </a:r>
            <a:r>
              <a:rPr lang="en-US" altLang="zh-CN" sz="2400" dirty="0">
                <a:solidFill>
                  <a:srgbClr val="CC00CC"/>
                </a:solidFill>
                <a:latin typeface="Times New Roman" panose="02020603050405020304" pitchFamily="18" charset="0"/>
                <a:ea typeface="黑体" panose="02010609060101010101" pitchFamily="49" charset="-122"/>
              </a:rPr>
              <a:t>m</a:t>
            </a:r>
            <a:r>
              <a:rPr lang="zh-CN" altLang="en-US" sz="2400" dirty="0">
                <a:solidFill>
                  <a:schemeClr val="tx1"/>
                </a:solidFill>
                <a:latin typeface="Times New Roman" panose="02020603050405020304" pitchFamily="18" charset="0"/>
                <a:ea typeface="黑体" panose="02010609060101010101" pitchFamily="49" charset="-122"/>
              </a:rPr>
              <a:t>位的最低有效位；</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110000"/>
              </a:lnSpc>
              <a:spcAft>
                <a:spcPct val="5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第二级用一个</a:t>
            </a:r>
            <a:r>
              <a:rPr lang="en-US" altLang="zh-CN" sz="2400" dirty="0">
                <a:solidFill>
                  <a:srgbClr val="CC00CC"/>
                </a:solidFill>
                <a:latin typeface="Times New Roman" panose="02020603050405020304" pitchFamily="18" charset="0"/>
                <a:ea typeface="黑体" panose="02010609060101010101" pitchFamily="49" charset="-122"/>
              </a:rPr>
              <a:t>k(&lt;n)</a:t>
            </a:r>
            <a:r>
              <a:rPr lang="zh-CN" altLang="en-US" sz="2400" dirty="0">
                <a:solidFill>
                  <a:schemeClr val="tx1"/>
                </a:solidFill>
                <a:latin typeface="Times New Roman" panose="02020603050405020304" pitchFamily="18" charset="0"/>
                <a:ea typeface="黑体" panose="02010609060101010101" pitchFamily="49" charset="-122"/>
              </a:rPr>
              <a:t>位并行</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对第一级转换余下的误差电压再次转换，转换结果作为</a:t>
            </a:r>
            <a:r>
              <a:rPr lang="en-US" altLang="zh-CN" sz="2400" dirty="0">
                <a:solidFill>
                  <a:srgbClr val="CC00CC"/>
                </a:solidFill>
                <a:latin typeface="Times New Roman" panose="02020603050405020304" pitchFamily="18" charset="0"/>
                <a:ea typeface="黑体" panose="02010609060101010101" pitchFamily="49" charset="-122"/>
              </a:rPr>
              <a:t>n</a:t>
            </a:r>
            <a:r>
              <a:rPr lang="zh-CN" altLang="en-US" sz="2400" dirty="0">
                <a:solidFill>
                  <a:schemeClr val="tx1"/>
                </a:solidFill>
                <a:latin typeface="Times New Roman" panose="02020603050405020304" pitchFamily="18" charset="0"/>
                <a:ea typeface="黑体" panose="02010609060101010101" pitchFamily="49" charset="-122"/>
              </a:rPr>
              <a:t>位中的低位，其中</a:t>
            </a:r>
            <a:r>
              <a:rPr lang="en-US" altLang="zh-CN" sz="2400" dirty="0">
                <a:solidFill>
                  <a:srgbClr val="CC00CC"/>
                </a:solidFill>
                <a:latin typeface="Times New Roman" panose="02020603050405020304" pitchFamily="18" charset="0"/>
                <a:ea typeface="黑体" panose="02010609060101010101" pitchFamily="49" charset="-122"/>
              </a:rPr>
              <a:t>m+k≥n</a:t>
            </a:r>
            <a:r>
              <a:rPr lang="zh-CN" altLang="en-US"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tx1"/>
              </a:solidFill>
              <a:latin typeface="Times New Roman" panose="02020603050405020304" pitchFamily="18" charset="0"/>
              <a:ea typeface="黑体" panose="02010609060101010101" pitchFamily="49" charset="-122"/>
            </a:endParaRPr>
          </a:p>
          <a:p>
            <a:pPr eaLnBrk="1" hangingPunct="1">
              <a:lnSpc>
                <a:spcPct val="110000"/>
              </a:lnSpc>
              <a:spcAft>
                <a:spcPct val="50000"/>
              </a:spcAft>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采用多级保持器，第一级转换余下的误差电压保持在第二级保持器中，在第二级转换同时，第一级对输入电压进行下一次采样和转换，实现“分级流水”，大大提高了采样速率。</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3668"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13669" name="Text Box 10"/>
          <p:cNvSpPr txBox="1"/>
          <p:nvPr/>
        </p:nvSpPr>
        <p:spPr>
          <a:xfrm>
            <a:off x="404813" y="1668463"/>
            <a:ext cx="2732087"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工作流程：</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cove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4690" name="Picture 4" descr="8"/>
          <p:cNvPicPr>
            <a:picLocks noChangeAspect="1"/>
          </p:cNvPicPr>
          <p:nvPr/>
        </p:nvPicPr>
        <p:blipFill>
          <a:blip r:embed="rId1"/>
          <a:srcRect l="4707" r="6079"/>
          <a:stretch>
            <a:fillRect/>
          </a:stretch>
        </p:blipFill>
        <p:spPr>
          <a:xfrm>
            <a:off x="2627313" y="1125538"/>
            <a:ext cx="3889375" cy="2787650"/>
          </a:xfrm>
          <a:prstGeom prst="rect">
            <a:avLst/>
          </a:prstGeom>
          <a:noFill/>
          <a:ln w="9525">
            <a:noFill/>
          </a:ln>
        </p:spPr>
      </p:pic>
      <p:sp>
        <p:nvSpPr>
          <p:cNvPr id="249861" name="Rectangle 5"/>
          <p:cNvSpPr>
            <a:spLocks noChangeArrowheads="1"/>
          </p:cNvSpPr>
          <p:nvPr/>
        </p:nvSpPr>
        <p:spPr bwMode="auto">
          <a:xfrm>
            <a:off x="404813" y="3927475"/>
            <a:ext cx="3673475" cy="1296988"/>
          </a:xfrm>
          <a:prstGeom prst="rect">
            <a:avLst/>
          </a:prstGeom>
          <a:noFill/>
          <a:ln w="9525">
            <a:noFill/>
            <a:miter lim="800000"/>
          </a:ln>
          <a:effectLst/>
        </p:spPr>
        <p:txBody>
          <a:bodyPr/>
          <a:lstStyle/>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Char char="l"/>
              <a:defRPr/>
            </a:pPr>
            <a:r>
              <a:rPr kumimoji="0" lang="en-US" altLang="zh-CN" sz="2400" b="1" i="0" u="none" strike="noStrike" kern="1200" cap="none" spc="0" normalizeH="0" baseline="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ADC1 </a:t>
            </a:r>
            <a:r>
              <a:rPr kumimoji="0" lang="zh-CN" altLang="en-US" sz="2400" b="1" i="0" u="none" strike="noStrike" kern="1200" cap="none" spc="0" normalizeH="0" baseline="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高四位变换器，输入为</a:t>
            </a:r>
            <a:r>
              <a:rPr kumimoji="0" lang="en-US" altLang="zh-CN" sz="2400" b="1" i="0" u="none" strike="noStrike" kern="1200" cap="none" spc="0" normalizeH="0" baseline="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I</a:t>
            </a:r>
            <a:r>
              <a:rPr kumimoji="0" lang="zh-CN" altLang="en-US" sz="2400" b="1" i="0" u="none" strike="noStrike" kern="1200" cap="none" spc="0" normalizeH="0" baseline="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，参考电压</a:t>
            </a:r>
            <a:r>
              <a:rPr kumimoji="0" lang="en-US" altLang="zh-CN" sz="2400" b="1" i="0" u="none" strike="noStrike" kern="1200" cap="none" spc="0" normalizeH="0" baseline="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REF</a:t>
            </a:r>
            <a:endParaRPr kumimoji="0" lang="en-US" altLang="zh-CN" sz="2400" b="1" i="0" u="none" strike="noStrike" kern="1200" cap="none" spc="0" normalizeH="0" baseline="-25000" noProof="0" dirty="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graphicFrame>
        <p:nvGraphicFramePr>
          <p:cNvPr id="114692" name="Object 6"/>
          <p:cNvGraphicFramePr>
            <a:graphicFrameLocks noChangeAspect="1"/>
          </p:cNvGraphicFramePr>
          <p:nvPr/>
        </p:nvGraphicFramePr>
        <p:xfrm>
          <a:off x="231775" y="5064125"/>
          <a:ext cx="2771775" cy="1101725"/>
        </p:xfrm>
        <a:graphic>
          <a:graphicData uri="http://schemas.openxmlformats.org/presentationml/2006/ole">
            <mc:AlternateContent xmlns:mc="http://schemas.openxmlformats.org/markup-compatibility/2006">
              <mc:Choice xmlns:v="urn:schemas-microsoft-com:vml" Requires="v">
                <p:oleObj spid="_x0000_s3093" name="" r:id="rId2" imgW="1180465" imgH="482600" progId="Equation.DSMT4">
                  <p:embed/>
                </p:oleObj>
              </mc:Choice>
              <mc:Fallback>
                <p:oleObj name="" r:id="rId2" imgW="1180465" imgH="482600" progId="Equation.DSMT4">
                  <p:embed/>
                  <p:pic>
                    <p:nvPicPr>
                      <p:cNvPr id="0" name="图片 3092"/>
                      <p:cNvPicPr/>
                      <p:nvPr/>
                    </p:nvPicPr>
                    <p:blipFill>
                      <a:blip r:embed="rId3"/>
                      <a:stretch>
                        <a:fillRect/>
                      </a:stretch>
                    </p:blipFill>
                    <p:spPr>
                      <a:xfrm>
                        <a:off x="231775" y="5064125"/>
                        <a:ext cx="2771775" cy="1101725"/>
                      </a:xfrm>
                      <a:prstGeom prst="rect">
                        <a:avLst/>
                      </a:prstGeom>
                      <a:solidFill>
                        <a:schemeClr val="bg1"/>
                      </a:solidFill>
                      <a:ln w="38100">
                        <a:noFill/>
                        <a:miter/>
                      </a:ln>
                    </p:spPr>
                  </p:pic>
                </p:oleObj>
              </mc:Fallback>
            </mc:AlternateContent>
          </a:graphicData>
        </a:graphic>
      </p:graphicFrame>
      <p:graphicFrame>
        <p:nvGraphicFramePr>
          <p:cNvPr id="114693" name="Object 7"/>
          <p:cNvGraphicFramePr>
            <a:graphicFrameLocks noChangeAspect="1"/>
          </p:cNvGraphicFramePr>
          <p:nvPr/>
        </p:nvGraphicFramePr>
        <p:xfrm>
          <a:off x="5616575" y="5064125"/>
          <a:ext cx="3309938" cy="1098550"/>
        </p:xfrm>
        <a:graphic>
          <a:graphicData uri="http://schemas.openxmlformats.org/presentationml/2006/ole">
            <mc:AlternateContent xmlns:mc="http://schemas.openxmlformats.org/markup-compatibility/2006">
              <mc:Choice xmlns:v="urn:schemas-microsoft-com:vml" Requires="v">
                <p:oleObj spid="_x0000_s3091" name="" r:id="rId4" imgW="1409065" imgH="482600" progId="Equation.DSMT4">
                  <p:embed/>
                </p:oleObj>
              </mc:Choice>
              <mc:Fallback>
                <p:oleObj name="" r:id="rId4" imgW="1409065" imgH="482600" progId="Equation.DSMT4">
                  <p:embed/>
                  <p:pic>
                    <p:nvPicPr>
                      <p:cNvPr id="0" name="图片 3090"/>
                      <p:cNvPicPr/>
                      <p:nvPr/>
                    </p:nvPicPr>
                    <p:blipFill>
                      <a:blip r:embed="rId5"/>
                      <a:stretch>
                        <a:fillRect/>
                      </a:stretch>
                    </p:blipFill>
                    <p:spPr>
                      <a:xfrm>
                        <a:off x="5616575" y="5064125"/>
                        <a:ext cx="3309938" cy="1098550"/>
                      </a:xfrm>
                      <a:prstGeom prst="rect">
                        <a:avLst/>
                      </a:prstGeom>
                      <a:solidFill>
                        <a:schemeClr val="bg1"/>
                      </a:solidFill>
                      <a:ln w="38100">
                        <a:noFill/>
                        <a:miter/>
                      </a:ln>
                    </p:spPr>
                  </p:pic>
                </p:oleObj>
              </mc:Fallback>
            </mc:AlternateContent>
          </a:graphicData>
        </a:graphic>
      </p:graphicFrame>
      <p:sp>
        <p:nvSpPr>
          <p:cNvPr id="249864" name="Rectangle 8"/>
          <p:cNvSpPr>
            <a:spLocks noChangeArrowheads="1"/>
          </p:cNvSpPr>
          <p:nvPr/>
        </p:nvSpPr>
        <p:spPr bwMode="auto">
          <a:xfrm>
            <a:off x="4330700" y="3913188"/>
            <a:ext cx="4595813" cy="1079500"/>
          </a:xfrm>
          <a:prstGeom prst="rect">
            <a:avLst/>
          </a:prstGeom>
          <a:noFill/>
          <a:ln w="9525">
            <a:noFill/>
            <a:miter lim="800000"/>
          </a:ln>
          <a:effectLst/>
        </p:spPr>
        <p:txBody>
          <a:bodyPr/>
          <a:lstStyle/>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Char char="l"/>
              <a:defRPr/>
            </a:pP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ADC2 </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低四位变换器，输入为</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0" lang="en-US" altLang="zh-CN" sz="2400" b="1" i="0" u="none" strike="noStrike" kern="1200" cap="none" spc="0" normalizeH="0" baseline="0" noProof="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 </a:t>
            </a:r>
            <a:r>
              <a:rPr kumimoji="0" lang="en-US" altLang="zh-CN" sz="2400" b="1" i="0" u="none" strike="noStrike" kern="1200" cap="none" spc="0" normalizeH="0" baseline="0" noProof="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rgbClr val="0000FF"/>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O</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，参考电压</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REF</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2</a:t>
            </a:r>
            <a:r>
              <a:rPr kumimoji="1" lang="en-US" altLang="zh-CN" sz="2400" b="1" i="0" u="none" strike="noStrike" kern="1200" cap="none" spc="0" normalizeH="0" baseline="3000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a:t>
            </a:r>
            <a:r>
              <a:rPr kumimoji="1" lang="zh-CN" altLang="en-US"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（高</a:t>
            </a:r>
            <a:r>
              <a:rPr kumimoji="1" lang="en-US" altLang="zh-CN"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4</a:t>
            </a:r>
            <a:r>
              <a:rPr kumimoji="1" lang="zh-CN" altLang="en-US"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位</a:t>
            </a:r>
            <a:r>
              <a:rPr kumimoji="1" lang="en-US" altLang="zh-CN"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ADC</a:t>
            </a:r>
            <a:r>
              <a:rPr kumimoji="1" lang="zh-CN" altLang="en-US"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rPr>
              <a:t>量化单位）</a:t>
            </a:r>
            <a:endParaRPr kumimoji="1" lang="zh-CN" altLang="en-US" sz="2400" b="1" i="0" u="none" strike="noStrike" kern="1200" cap="none" spc="0" normalizeH="0" baseline="0" noProof="0">
              <a:ln>
                <a:noFill/>
              </a:ln>
              <a:solidFill>
                <a:srgbClr val="000066"/>
              </a:solidFill>
              <a:effectLst>
                <a:outerShdw blurRad="38100" dist="38100" dir="2700000" algn="tl">
                  <a:srgbClr val="C0C0C0"/>
                </a:outerShdw>
              </a:effectLst>
              <a:uLnTx/>
              <a:uFillTx/>
              <a:latin typeface="Times New Roman" panose="02020603050405020304" pitchFamily="18" charset="0"/>
              <a:ea typeface="宋体" panose="02010600030101010101" pitchFamily="2" charset="-122"/>
              <a:cs typeface="+mn-cs"/>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4696"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graphicFrame>
        <p:nvGraphicFramePr>
          <p:cNvPr id="114697" name="Object 11"/>
          <p:cNvGraphicFramePr>
            <a:graphicFrameLocks noChangeAspect="1"/>
          </p:cNvGraphicFramePr>
          <p:nvPr/>
        </p:nvGraphicFramePr>
        <p:xfrm>
          <a:off x="3375025" y="5164138"/>
          <a:ext cx="2027238" cy="900112"/>
        </p:xfrm>
        <a:graphic>
          <a:graphicData uri="http://schemas.openxmlformats.org/presentationml/2006/ole">
            <mc:AlternateContent xmlns:mc="http://schemas.openxmlformats.org/markup-compatibility/2006">
              <mc:Choice xmlns:v="urn:schemas-microsoft-com:vml" Requires="v">
                <p:oleObj spid="_x0000_s3092" name="" r:id="rId6" imgW="862965" imgH="393700" progId="Equation.DSMT4">
                  <p:embed/>
                </p:oleObj>
              </mc:Choice>
              <mc:Fallback>
                <p:oleObj name="" r:id="rId6" imgW="862965" imgH="393700" progId="Equation.DSMT4">
                  <p:embed/>
                  <p:pic>
                    <p:nvPicPr>
                      <p:cNvPr id="0" name="图片 3091"/>
                      <p:cNvPicPr/>
                      <p:nvPr/>
                    </p:nvPicPr>
                    <p:blipFill>
                      <a:blip r:embed="rId7"/>
                      <a:stretch>
                        <a:fillRect/>
                      </a:stretch>
                    </p:blipFill>
                    <p:spPr>
                      <a:xfrm>
                        <a:off x="3375025" y="5164138"/>
                        <a:ext cx="2027238" cy="900112"/>
                      </a:xfrm>
                      <a:prstGeom prst="rect">
                        <a:avLst/>
                      </a:prstGeom>
                      <a:solidFill>
                        <a:schemeClr val="bg1"/>
                      </a:solidFill>
                      <a:ln w="38100">
                        <a:noFill/>
                        <a:miter/>
                      </a:ln>
                    </p:spPr>
                  </p:pic>
                </p:oleObj>
              </mc:Fallback>
            </mc:AlternateContent>
          </a:graphicData>
        </a:graphic>
      </p:graphicFrame>
    </p:spTree>
  </p:cSld>
  <p:clrMapOvr>
    <a:masterClrMapping/>
  </p:clrMapOvr>
  <p:transition spd="slow">
    <p:cover dir="d"/>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882" name="Rectangle 2"/>
          <p:cNvSpPr>
            <a:spLocks noChangeArrowheads="1"/>
          </p:cNvSpPr>
          <p:nvPr/>
        </p:nvSpPr>
        <p:spPr bwMode="auto">
          <a:xfrm>
            <a:off x="684213" y="2389188"/>
            <a:ext cx="7777163" cy="2867025"/>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Char char="•"/>
              <a:defRPr/>
            </a:pP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优点：元器件数量少，制造难度与成本低</a:t>
            </a:r>
            <a:endPar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a:p>
            <a:pPr marL="0" marR="0" lvl="0" indent="0" algn="l" defTabSz="914400" rtl="0" eaLnBrk="1" fontAlgn="base" latinLnBrk="0" hangingPunct="1">
              <a:lnSpc>
                <a:spcPct val="100000"/>
              </a:lnSpc>
              <a:spcBef>
                <a:spcPct val="20000"/>
              </a:spcBef>
              <a:spcAft>
                <a:spcPct val="0"/>
              </a:spcAft>
              <a:buClrTx/>
              <a:buSzTx/>
              <a:buFontTx/>
              <a:buChar char="•"/>
              <a:defRPr/>
            </a:pP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缺点：</a:t>
            </a:r>
            <a:endPar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a:p>
            <a:pPr marL="0" marR="0" lvl="0" indent="0" algn="l" defTabSz="914400" rtl="0" eaLnBrk="1" fontAlgn="base" latinLnBrk="0" hangingPunct="1">
              <a:lnSpc>
                <a:spcPct val="100000"/>
              </a:lnSpc>
              <a:spcBef>
                <a:spcPct val="20000"/>
              </a:spcBef>
              <a:spcAft>
                <a:spcPct val="0"/>
              </a:spcAft>
              <a:buClrTx/>
              <a:buSzTx/>
              <a:buFontTx/>
              <a:buNone/>
              <a:defRPr/>
            </a:pP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1. </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结构上存在两级</a:t>
            </a: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并增加了一级</a:t>
            </a: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DAC</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和一个求差电路，且各部分电路间串行工作，转换速率低于并行转换型</a:t>
            </a:r>
            <a:endPar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a:p>
            <a:pPr marL="0" marR="0" lvl="0" indent="0" algn="l" defTabSz="914400" rtl="0" eaLnBrk="1" fontAlgn="base" latinLnBrk="0" hangingPunct="1">
              <a:lnSpc>
                <a:spcPct val="100000"/>
              </a:lnSpc>
              <a:spcBef>
                <a:spcPct val="20000"/>
              </a:spcBef>
              <a:spcAft>
                <a:spcPct val="0"/>
              </a:spcAft>
              <a:buClrTx/>
              <a:buSzTx/>
              <a:buFontTx/>
              <a:buNone/>
              <a:defRPr/>
            </a:pP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2. ADC1</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和</a:t>
            </a: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DAC</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的建立时间及精度限制了半闪烁型</a:t>
            </a:r>
            <a:r>
              <a:rPr kumimoji="0"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r>
              <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工作速度的提高</a:t>
            </a:r>
            <a:endParaRPr kumimoji="0"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50883" name="Rectangle 3"/>
          <p:cNvSpPr>
            <a:spLocks noChangeArrowheads="1"/>
          </p:cNvSpPr>
          <p:nvPr/>
        </p:nvSpPr>
        <p:spPr bwMode="auto">
          <a:xfrm>
            <a:off x="684213" y="1352550"/>
            <a:ext cx="7777163" cy="822325"/>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       实际中，通常将</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放大后（放大</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16</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倍）直接与参考电压</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V</a:t>
            </a:r>
            <a:r>
              <a:rPr kumimoji="0" lang="en-US" altLang="zh-CN" sz="2400" b="1" i="0" u="none" strike="noStrike" kern="1200" cap="none" spc="0" normalizeH="0" baseline="-2500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REF</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比较，进行第二级转换。</a:t>
            </a:r>
            <a:endPar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50884" name="AutoShape 4"/>
          <p:cNvSpPr/>
          <p:nvPr/>
        </p:nvSpPr>
        <p:spPr>
          <a:xfrm rot="-5400000">
            <a:off x="1003300" y="5273675"/>
            <a:ext cx="457200" cy="806450"/>
          </a:xfrm>
          <a:prstGeom prst="downArrow">
            <a:avLst>
              <a:gd name="adj1" fmla="val 50000"/>
              <a:gd name="adj2" fmla="val 44097"/>
            </a:avLst>
          </a:prstGeom>
          <a:solidFill>
            <a:schemeClr val="hlink"/>
          </a:solidFill>
          <a:ln w="9525" cap="flat" cmpd="sng">
            <a:solidFill>
              <a:schemeClr val="tx1"/>
            </a:solidFill>
            <a:prstDash val="solid"/>
            <a:miter/>
            <a:headEnd type="none" w="med" len="med"/>
            <a:tailEnd type="none" w="med" len="med"/>
          </a:ln>
        </p:spPr>
        <p:txBody>
          <a:bodyPr wrap="none" anchor="ctr" anchorCtr="0"/>
          <a:p>
            <a:pPr eaLnBrk="1" hangingPunct="1">
              <a:lnSpc>
                <a:spcPct val="90000"/>
              </a:lnSpc>
            </a:pPr>
            <a:endParaRPr lang="zh-CN" altLang="en-US" dirty="0">
              <a:latin typeface="Times New Roman" panose="02020603050405020304" pitchFamily="18" charset="0"/>
            </a:endParaRPr>
          </a:p>
        </p:txBody>
      </p:sp>
      <p:sp>
        <p:nvSpPr>
          <p:cNvPr id="250885" name="Rectangle 5"/>
          <p:cNvSpPr>
            <a:spLocks noChangeArrowheads="1"/>
          </p:cNvSpPr>
          <p:nvPr/>
        </p:nvSpPr>
        <p:spPr bwMode="auto">
          <a:xfrm>
            <a:off x="1722438" y="5448300"/>
            <a:ext cx="7019925" cy="457200"/>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采用数字校正技术来改善建立时间问题</a:t>
            </a:r>
            <a:endPar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5719"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50884"/>
                                        </p:tgtEl>
                                        <p:attrNameLst>
                                          <p:attrName>style.visibility</p:attrName>
                                        </p:attrNameLst>
                                      </p:cBhvr>
                                      <p:to>
                                        <p:strVal val="visible"/>
                                      </p:to>
                                    </p:set>
                                    <p:animEffect transition="in" filter="fade">
                                      <p:cBhvr>
                                        <p:cTn id="7" dur="1000"/>
                                        <p:tgtEl>
                                          <p:spTgt spid="250884"/>
                                        </p:tgtEl>
                                      </p:cBhvr>
                                    </p:animEffect>
                                    <p:anim calcmode="lin" valueType="num">
                                      <p:cBhvr>
                                        <p:cTn id="8" dur="1000" fill="hold"/>
                                        <p:tgtEl>
                                          <p:spTgt spid="250884"/>
                                        </p:tgtEl>
                                        <p:attrNameLst>
                                          <p:attrName>ppt_x</p:attrName>
                                        </p:attrNameLst>
                                      </p:cBhvr>
                                      <p:tavLst>
                                        <p:tav tm="0">
                                          <p:val>
                                            <p:strVal val="#ppt_x"/>
                                          </p:val>
                                        </p:tav>
                                        <p:tav tm="100000">
                                          <p:val>
                                            <p:strVal val="#ppt_x"/>
                                          </p:val>
                                        </p:tav>
                                      </p:tavLst>
                                    </p:anim>
                                    <p:anim calcmode="lin" valueType="num">
                                      <p:cBhvr>
                                        <p:cTn id="9" dur="1000" fill="hold"/>
                                        <p:tgtEl>
                                          <p:spTgt spid="25088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884" grpId="0" bldLvl="0" animBg="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978" name="Rectangle 2"/>
          <p:cNvSpPr>
            <a:spLocks noChangeArrowheads="1"/>
          </p:cNvSpPr>
          <p:nvPr/>
        </p:nvSpPr>
        <p:spPr bwMode="auto">
          <a:xfrm>
            <a:off x="684213" y="549275"/>
            <a:ext cx="7777163" cy="519113"/>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分级流水型</a:t>
            </a:r>
            <a:r>
              <a:rPr kumimoji="0" lang="en-US" altLang="zh-CN"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endPar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254979" name="Rectangle 3"/>
          <p:cNvSpPr>
            <a:spLocks noChangeArrowheads="1"/>
          </p:cNvSpPr>
          <p:nvPr/>
        </p:nvSpPr>
        <p:spPr bwMode="auto">
          <a:xfrm>
            <a:off x="574675" y="4108450"/>
            <a:ext cx="8281988" cy="1916113"/>
          </a:xfrm>
          <a:prstGeom prst="rect">
            <a:avLst/>
          </a:prstGeom>
          <a:noFill/>
          <a:ln w="9525">
            <a:noFill/>
            <a:miter lim="800000"/>
          </a:ln>
          <a:effectLst/>
        </p:spPr>
        <p:txBody>
          <a:bodyPr/>
          <a:lstStyle/>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四级</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12bit</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分级型</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pipeline</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结构，每级都有一个采保</a:t>
            </a:r>
            <a:endPar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优点：各级转换器并行工作，每个转换周期都输出一个数据</a:t>
            </a:r>
            <a:endPar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缺点：</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M</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级流水，则输出结果有</a:t>
            </a:r>
            <a:r>
              <a:rPr kumimoji="0"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M</a:t>
            </a:r>
            <a:r>
              <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个时钟周期的延迟</a:t>
            </a:r>
            <a:endParaRPr kumimoji="0"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116740" name="Picture 4"/>
          <p:cNvPicPr>
            <a:picLocks noChangeAspect="1"/>
          </p:cNvPicPr>
          <p:nvPr/>
        </p:nvPicPr>
        <p:blipFill>
          <a:blip r:embed="rId1"/>
          <a:stretch>
            <a:fillRect/>
          </a:stretch>
        </p:blipFill>
        <p:spPr>
          <a:xfrm>
            <a:off x="115888" y="1092200"/>
            <a:ext cx="4384675" cy="2768600"/>
          </a:xfrm>
          <a:prstGeom prst="rect">
            <a:avLst/>
          </a:prstGeom>
          <a:noFill/>
          <a:ln w="9525">
            <a:noFill/>
          </a:ln>
        </p:spPr>
      </p:pic>
      <p:pic>
        <p:nvPicPr>
          <p:cNvPr id="116741" name="Picture 5"/>
          <p:cNvPicPr>
            <a:picLocks noChangeAspect="1"/>
          </p:cNvPicPr>
          <p:nvPr/>
        </p:nvPicPr>
        <p:blipFill>
          <a:blip r:embed="rId2"/>
          <a:stretch>
            <a:fillRect/>
          </a:stretch>
        </p:blipFill>
        <p:spPr>
          <a:xfrm>
            <a:off x="4716463" y="1857375"/>
            <a:ext cx="4284662" cy="1979613"/>
          </a:xfrm>
          <a:prstGeom prst="rect">
            <a:avLst/>
          </a:prstGeom>
          <a:noFill/>
          <a:ln w="9525">
            <a:noFill/>
          </a:ln>
        </p:spPr>
      </p:pic>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Tree>
  </p:cSld>
  <p:clrMapOvr>
    <a:masterClrMapping/>
  </p:clrMapOvr>
  <p:transition spd="med">
    <p:strips/>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7762" name="Text Box 54"/>
          <p:cNvSpPr txBox="1"/>
          <p:nvPr/>
        </p:nvSpPr>
        <p:spPr>
          <a:xfrm>
            <a:off x="404813" y="3305175"/>
            <a:ext cx="8339137" cy="2757488"/>
          </a:xfrm>
          <a:prstGeom prst="rect">
            <a:avLst/>
          </a:prstGeom>
          <a:noFill/>
          <a:ln w="9525">
            <a:noFill/>
          </a:ln>
        </p:spPr>
        <p:txBody>
          <a:bodyPr>
            <a:spAutoFit/>
          </a:bodyPr>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 1</a:t>
            </a:r>
            <a:r>
              <a:rPr lang="zh-CN" altLang="en-US" sz="2400" dirty="0">
                <a:solidFill>
                  <a:schemeClr val="accent2"/>
                </a:solidFill>
                <a:latin typeface="黑体" panose="02010609060101010101" pitchFamily="49" charset="-122"/>
                <a:ea typeface="黑体" panose="02010609060101010101" pitchFamily="49" charset="-122"/>
              </a:rPr>
              <a:t>、分级型转换速率没有并行比较型快，但比逐次逼近型要快得多。</a:t>
            </a:r>
            <a:endParaRPr lang="zh-CN" altLang="en-US"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 2</a:t>
            </a:r>
            <a:r>
              <a:rPr lang="zh-CN" altLang="en-US" sz="2400" dirty="0">
                <a:solidFill>
                  <a:schemeClr val="accent2"/>
                </a:solidFill>
                <a:latin typeface="黑体" panose="02010609060101010101" pitchFamily="49" charset="-122"/>
                <a:ea typeface="黑体" panose="02010609060101010101" pitchFamily="49" charset="-122"/>
              </a:rPr>
              <a:t>、在分辩率相同的情况下，电路复杂性和功耗大大低于并行比较型</a:t>
            </a:r>
            <a:r>
              <a:rPr lang="en-US" altLang="zh-CN" sz="2400" dirty="0">
                <a:solidFill>
                  <a:schemeClr val="accent2"/>
                </a:solidFill>
                <a:latin typeface="黑体" panose="02010609060101010101" pitchFamily="49" charset="-122"/>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a:t>
            </a:r>
            <a:endParaRPr lang="zh-CN" altLang="en-US" sz="2400" dirty="0">
              <a:solidFill>
                <a:schemeClr val="accent2"/>
              </a:solidFill>
              <a:latin typeface="黑体" panose="02010609060101010101" pitchFamily="49" charset="-122"/>
              <a:ea typeface="黑体" panose="02010609060101010101" pitchFamily="49" charset="-122"/>
            </a:endParaRPr>
          </a:p>
          <a:p>
            <a:pPr marL="685800" indent="-685800" eaLnBrk="1" hangingPunct="1">
              <a:lnSpc>
                <a:spcPct val="90000"/>
              </a:lnSpc>
              <a:spcBef>
                <a:spcPct val="50000"/>
              </a:spcBef>
            </a:pPr>
            <a:r>
              <a:rPr lang="en-US" altLang="zh-CN" sz="2400" dirty="0">
                <a:solidFill>
                  <a:schemeClr val="accent2"/>
                </a:solidFill>
                <a:latin typeface="黑体" panose="02010609060101010101" pitchFamily="49" charset="-122"/>
                <a:ea typeface="黑体" panose="02010609060101010101" pitchFamily="49" charset="-122"/>
              </a:rPr>
              <a:t> 3</a:t>
            </a:r>
            <a:r>
              <a:rPr lang="zh-CN" altLang="en-US" sz="2400" dirty="0">
                <a:solidFill>
                  <a:schemeClr val="accent2"/>
                </a:solidFill>
                <a:latin typeface="黑体" panose="02010609060101010101" pitchFamily="49" charset="-122"/>
                <a:ea typeface="黑体" panose="02010609060101010101" pitchFamily="49" charset="-122"/>
              </a:rPr>
              <a:t>、主要误差来源于最后一级并行转换器的非线性误差，内部</a:t>
            </a:r>
            <a:r>
              <a:rPr lang="en-US" altLang="zh-CN" sz="2400" dirty="0">
                <a:solidFill>
                  <a:schemeClr val="accent2"/>
                </a:solidFill>
                <a:latin typeface="黑体" panose="02010609060101010101" pitchFamily="49" charset="-122"/>
                <a:ea typeface="黑体" panose="02010609060101010101" pitchFamily="49" charset="-122"/>
              </a:rPr>
              <a:t>DAC</a:t>
            </a:r>
            <a:r>
              <a:rPr lang="zh-CN" altLang="en-US" sz="2400" dirty="0">
                <a:solidFill>
                  <a:schemeClr val="accent2"/>
                </a:solidFill>
                <a:latin typeface="黑体" panose="02010609060101010101" pitchFamily="49" charset="-122"/>
                <a:ea typeface="黑体" panose="02010609060101010101" pitchFamily="49" charset="-122"/>
              </a:rPr>
              <a:t>的非线性或增益误差，以及剩余信号放大器的增益误差。</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117763" name="Text Box 92"/>
          <p:cNvSpPr txBox="1"/>
          <p:nvPr/>
        </p:nvSpPr>
        <p:spPr>
          <a:xfrm>
            <a:off x="555625" y="1422400"/>
            <a:ext cx="8131175" cy="1077913"/>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分级转换可大大减少电压比较器及分压电阻的数量，以</a:t>
            </a:r>
            <a:r>
              <a:rPr lang="en-US" altLang="zh-CN" sz="2400" dirty="0">
                <a:solidFill>
                  <a:srgbClr val="CC00CC"/>
                </a:solidFill>
                <a:latin typeface="Times New Roman" panose="02020603050405020304" pitchFamily="18" charset="0"/>
                <a:ea typeface="黑体" panose="02010609060101010101" pitchFamily="49" charset="-122"/>
              </a:rPr>
              <a:t>12</a:t>
            </a:r>
            <a:r>
              <a:rPr lang="zh-CN" altLang="en-US" sz="2400" dirty="0">
                <a:solidFill>
                  <a:schemeClr val="tx1"/>
                </a:solidFill>
                <a:latin typeface="Times New Roman" panose="02020603050405020304" pitchFamily="18" charset="0"/>
                <a:ea typeface="黑体" panose="02010609060101010101" pitchFamily="49" charset="-122"/>
              </a:rPr>
              <a:t>位</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为例，并行比较型需要</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12</a:t>
            </a:r>
            <a:r>
              <a:rPr lang="en-US" altLang="zh-CN" sz="2400" dirty="0">
                <a:solidFill>
                  <a:srgbClr val="CC00CC"/>
                </a:solidFill>
                <a:latin typeface="Times New Roman" panose="02020603050405020304" pitchFamily="18" charset="0"/>
                <a:ea typeface="黑体" panose="02010609060101010101" pitchFamily="49" charset="-122"/>
              </a:rPr>
              <a:t>-1=4095</a:t>
            </a:r>
            <a:r>
              <a:rPr lang="zh-CN" altLang="en-US" sz="2400" dirty="0">
                <a:solidFill>
                  <a:schemeClr val="tx1"/>
                </a:solidFill>
                <a:latin typeface="Times New Roman" panose="02020603050405020304" pitchFamily="18" charset="0"/>
                <a:ea typeface="黑体" panose="02010609060101010101" pitchFamily="49" charset="-122"/>
              </a:rPr>
              <a:t>个比较器；如果分成各</a:t>
            </a:r>
            <a:r>
              <a:rPr lang="en-US" altLang="zh-CN" sz="2400" dirty="0">
                <a:solidFill>
                  <a:srgbClr val="CC00CC"/>
                </a:solidFill>
                <a:latin typeface="Times New Roman" panose="02020603050405020304" pitchFamily="18" charset="0"/>
                <a:ea typeface="黑体" panose="02010609060101010101" pitchFamily="49" charset="-122"/>
              </a:rPr>
              <a:t>6</a:t>
            </a:r>
            <a:r>
              <a:rPr lang="zh-CN" altLang="en-US" sz="2400" dirty="0">
                <a:solidFill>
                  <a:schemeClr val="tx1"/>
                </a:solidFill>
                <a:latin typeface="Times New Roman" panose="02020603050405020304" pitchFamily="18" charset="0"/>
                <a:ea typeface="黑体" panose="02010609060101010101" pitchFamily="49" charset="-122"/>
              </a:rPr>
              <a:t>位两级转换，则只需要</a:t>
            </a:r>
            <a:r>
              <a:rPr lang="en-US" altLang="zh-CN" sz="2400" dirty="0">
                <a:solidFill>
                  <a:srgbClr val="CC00CC"/>
                </a:solidFill>
                <a:latin typeface="Times New Roman" panose="02020603050405020304" pitchFamily="18" charset="0"/>
                <a:ea typeface="黑体" panose="02010609060101010101" pitchFamily="49" charset="-122"/>
              </a:rPr>
              <a:t>2</a:t>
            </a:r>
            <a:r>
              <a:rPr lang="en-US" altLang="zh-CN" sz="2400" baseline="30000" dirty="0">
                <a:solidFill>
                  <a:srgbClr val="CC00CC"/>
                </a:solidFill>
                <a:latin typeface="Times New Roman" panose="02020603050405020304" pitchFamily="18" charset="0"/>
                <a:ea typeface="黑体" panose="02010609060101010101" pitchFamily="49" charset="-122"/>
              </a:rPr>
              <a:t>6</a:t>
            </a:r>
            <a:r>
              <a:rPr lang="en-US" altLang="zh-CN" sz="2400" dirty="0">
                <a:solidFill>
                  <a:srgbClr val="CC00CC"/>
                </a:solidFill>
                <a:latin typeface="Times New Roman" panose="02020603050405020304" pitchFamily="18" charset="0"/>
                <a:ea typeface="黑体" panose="02010609060101010101" pitchFamily="49" charset="-122"/>
              </a:rPr>
              <a:t>-1+2</a:t>
            </a:r>
            <a:r>
              <a:rPr lang="en-US" altLang="zh-CN" sz="2400" baseline="30000" dirty="0">
                <a:solidFill>
                  <a:srgbClr val="CC00CC"/>
                </a:solidFill>
                <a:latin typeface="Times New Roman" panose="02020603050405020304" pitchFamily="18" charset="0"/>
                <a:ea typeface="黑体" panose="02010609060101010101" pitchFamily="49" charset="-122"/>
              </a:rPr>
              <a:t>6</a:t>
            </a:r>
            <a:r>
              <a:rPr lang="en-US" altLang="zh-CN" sz="2400" dirty="0">
                <a:solidFill>
                  <a:srgbClr val="CC00CC"/>
                </a:solidFill>
                <a:latin typeface="Times New Roman" panose="02020603050405020304" pitchFamily="18" charset="0"/>
                <a:ea typeface="黑体" panose="02010609060101010101" pitchFamily="49" charset="-122"/>
              </a:rPr>
              <a:t>-1=126</a:t>
            </a:r>
            <a:r>
              <a:rPr lang="zh-CN" altLang="en-US" sz="2400" dirty="0">
                <a:solidFill>
                  <a:schemeClr val="tx1"/>
                </a:solidFill>
                <a:latin typeface="Times New Roman" panose="02020603050405020304" pitchFamily="18" charset="0"/>
                <a:ea typeface="黑体" panose="02010609060101010101" pitchFamily="49" charset="-122"/>
              </a:rPr>
              <a:t>个比较器</a:t>
            </a:r>
            <a:r>
              <a:rPr lang="zh-CN" altLang="zh-CN"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1617663" y="61913"/>
            <a:ext cx="5837238"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6.4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模数转换器的工作原理</a:t>
            </a:r>
            <a:endParaRPr kumimoji="1" lang="zh-CN" altLang="en-US" sz="3600" kern="1200" cap="none" spc="0" normalizeH="0" baseline="0" noProof="0">
              <a:solidFill>
                <a:srgbClr val="FF0000"/>
              </a:solidFill>
              <a:effectLst>
                <a:outerShdw blurRad="38100" dist="38100" dir="2700000" algn="tl">
                  <a:srgbClr val="C0C0C0"/>
                </a:outerShdw>
              </a:effectLst>
              <a:latin typeface="楷体_GB2312" pitchFamily="49" charset="-122"/>
              <a:ea typeface="楷体_GB2312" pitchFamily="49" charset="-122"/>
              <a:cs typeface="+mn-cs"/>
            </a:endParaRPr>
          </a:p>
        </p:txBody>
      </p:sp>
      <p:sp>
        <p:nvSpPr>
          <p:cNvPr id="117765" name="Text Box 11"/>
          <p:cNvSpPr txBox="1"/>
          <p:nvPr/>
        </p:nvSpPr>
        <p:spPr>
          <a:xfrm>
            <a:off x="404813" y="671513"/>
            <a:ext cx="2787650"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6 </a:t>
            </a:r>
            <a:r>
              <a:rPr lang="zh-CN" altLang="en-US" sz="3200" dirty="0">
                <a:latin typeface="Times New Roman" panose="02020603050405020304" pitchFamily="18" charset="0"/>
              </a:rPr>
              <a:t>分级型</a:t>
            </a:r>
            <a:r>
              <a:rPr lang="en-US" altLang="zh-CN" sz="3200" dirty="0">
                <a:latin typeface="Times New Roman" panose="02020603050405020304" pitchFamily="18" charset="0"/>
              </a:rPr>
              <a:t>ADC</a:t>
            </a:r>
            <a:endParaRPr lang="en-US" altLang="zh-CN" sz="3200" dirty="0">
              <a:latin typeface="Times New Roman" panose="02020603050405020304" pitchFamily="18" charset="0"/>
            </a:endParaRPr>
          </a:p>
        </p:txBody>
      </p:sp>
      <p:sp>
        <p:nvSpPr>
          <p:cNvPr id="117766" name="Text Box 8"/>
          <p:cNvSpPr txBox="1"/>
          <p:nvPr/>
        </p:nvSpPr>
        <p:spPr>
          <a:xfrm>
            <a:off x="561975" y="2714625"/>
            <a:ext cx="2732088"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总结：</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cove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18787" name="Text Box 5"/>
          <p:cNvSpPr txBox="1"/>
          <p:nvPr/>
        </p:nvSpPr>
        <p:spPr>
          <a:xfrm>
            <a:off x="455613" y="987425"/>
            <a:ext cx="8040687" cy="4821238"/>
          </a:xfrm>
          <a:prstGeom prst="rect">
            <a:avLst/>
          </a:prstGeom>
          <a:noFill/>
          <a:ln w="9525">
            <a:noFill/>
          </a:ln>
        </p:spPr>
        <p:txBody>
          <a:bodyPr>
            <a:spAutoFit/>
          </a:bodyPr>
          <a:p>
            <a:pPr eaLnBrk="1" hangingPunct="1">
              <a:lnSpc>
                <a:spcPct val="90000"/>
              </a:lnSpc>
            </a:pPr>
            <a:r>
              <a:rPr lang="zh-CN" altLang="en-US" dirty="0">
                <a:solidFill>
                  <a:srgbClr val="FF3300"/>
                </a:solidFill>
                <a:latin typeface="黑体" panose="02010609060101010101" pitchFamily="49" charset="-122"/>
                <a:ea typeface="黑体" panose="02010609060101010101" pitchFamily="49" charset="-122"/>
              </a:rPr>
              <a:t>高速</a:t>
            </a:r>
            <a:r>
              <a:rPr lang="en-US" altLang="zh-CN" dirty="0">
                <a:solidFill>
                  <a:srgbClr val="FF3300"/>
                </a:solidFill>
                <a:latin typeface="Times New Roman" panose="02020603050405020304" pitchFamily="18" charset="0"/>
                <a:ea typeface="黑体" panose="02010609060101010101" pitchFamily="49" charset="-122"/>
              </a:rPr>
              <a:t>ADC</a:t>
            </a:r>
            <a:r>
              <a:rPr lang="zh-CN" altLang="en-US" dirty="0">
                <a:solidFill>
                  <a:srgbClr val="FF3300"/>
                </a:solidFill>
                <a:latin typeface="黑体" panose="02010609060101010101" pitchFamily="49" charset="-122"/>
                <a:ea typeface="黑体" panose="02010609060101010101" pitchFamily="49" charset="-122"/>
              </a:rPr>
              <a:t>的应用</a:t>
            </a:r>
            <a:endParaRPr lang="zh-CN" altLang="en-US" dirty="0">
              <a:solidFill>
                <a:srgbClr val="FF3300"/>
              </a:solidFill>
              <a:latin typeface="黑体" panose="02010609060101010101" pitchFamily="49" charset="-122"/>
              <a:ea typeface="黑体" panose="02010609060101010101" pitchFamily="49" charset="-122"/>
            </a:endParaRPr>
          </a:p>
          <a:p>
            <a:pPr eaLnBrk="1" hangingPunct="1">
              <a:lnSpc>
                <a:spcPct val="90000"/>
              </a:lnSpc>
            </a:pP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在高清电视、医用成像、雷达、通讯、数字化仪表等领域应用广泛。</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110000"/>
              </a:lnSpc>
            </a:pPr>
            <a:endParaRPr lang="en-US" altLang="zh-CN"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en-US" altLang="zh-CN"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中低速</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的应用主要关注静态参数，如线性度、失调误差等；</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高速</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的应用既要关注静态参数，又要关心动态参数，如动态范围、信噪比、总谐波失真等。</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高速</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对外围电路的要求比中低速</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苛刻，电路设计必须符合相关的规范。</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0834" name="Text Box 2"/>
          <p:cNvSpPr txBox="1"/>
          <p:nvPr/>
        </p:nvSpPr>
        <p:spPr>
          <a:xfrm>
            <a:off x="404813" y="2609850"/>
            <a:ext cx="8040687" cy="1296988"/>
          </a:xfrm>
          <a:prstGeom prst="rect">
            <a:avLst/>
          </a:prstGeom>
          <a:noFill/>
          <a:ln w="9525">
            <a:noFill/>
          </a:ln>
        </p:spPr>
        <p:txBody>
          <a:bodyPr>
            <a:spAutoFit/>
          </a:bodyPr>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输入信号频率为</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a </a:t>
            </a:r>
            <a:r>
              <a:rPr lang="zh-CN" altLang="en-US" sz="2400" dirty="0">
                <a:solidFill>
                  <a:schemeClr val="accent2"/>
                </a:solidFill>
                <a:latin typeface="黑体" panose="02010609060101010101" pitchFamily="49" charset="-122"/>
                <a:ea typeface="黑体" panose="02010609060101010101" pitchFamily="49" charset="-122"/>
              </a:rPr>
              <a:t>，采样频率为</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s</a:t>
            </a:r>
            <a:r>
              <a:rPr lang="en-US" altLang="zh-CN" sz="2400" i="1" baseline="-250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，则谐波频率</a:t>
            </a:r>
            <a:r>
              <a:rPr lang="en-US" altLang="zh-CN" sz="2400" i="1" dirty="0">
                <a:solidFill>
                  <a:schemeClr val="accent2"/>
                </a:solidFill>
                <a:latin typeface="Times New Roman" panose="02020603050405020304" pitchFamily="18" charset="0"/>
                <a:ea typeface="黑体" panose="02010609060101010101" pitchFamily="49" charset="-122"/>
              </a:rPr>
              <a:t>f</a:t>
            </a:r>
            <a:r>
              <a:rPr lang="zh-CN" altLang="en-US" sz="2400" dirty="0">
                <a:solidFill>
                  <a:schemeClr val="accent2"/>
                </a:solidFill>
                <a:latin typeface="黑体" panose="02010609060101010101" pitchFamily="49" charset="-122"/>
                <a:ea typeface="黑体" panose="02010609060101010101" pitchFamily="49" charset="-122"/>
              </a:rPr>
              <a:t>等于：</a:t>
            </a:r>
            <a:endParaRPr lang="zh-CN" altLang="en-US" sz="2400" dirty="0">
              <a:solidFill>
                <a:schemeClr val="accent2"/>
              </a:solidFill>
              <a:latin typeface="黑体" panose="02010609060101010101" pitchFamily="49" charset="-122"/>
              <a:ea typeface="黑体" panose="02010609060101010101" pitchFamily="49" charset="-122"/>
            </a:endParaRPr>
          </a:p>
          <a:p>
            <a:pPr algn="ctr" eaLnBrk="1" hangingPunct="1">
              <a:lnSpc>
                <a:spcPct val="110000"/>
              </a:lnSpc>
            </a:pP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dirty="0">
                <a:solidFill>
                  <a:schemeClr val="tx1"/>
                </a:solidFill>
                <a:latin typeface="Times New Roman" panose="02020603050405020304" pitchFamily="18" charset="0"/>
                <a:ea typeface="黑体" panose="02010609060101010101" pitchFamily="49" charset="-122"/>
              </a:rPr>
              <a:t> = |±</a:t>
            </a:r>
            <a:r>
              <a:rPr lang="en-US" altLang="zh-CN" sz="2400" i="1" dirty="0">
                <a:solidFill>
                  <a:schemeClr val="tx1"/>
                </a:solidFill>
                <a:latin typeface="Times New Roman" panose="02020603050405020304" pitchFamily="18" charset="0"/>
                <a:ea typeface="黑体" panose="02010609060101010101" pitchFamily="49" charset="-122"/>
              </a:rPr>
              <a:t>Kf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i="1" dirty="0">
                <a:solidFill>
                  <a:schemeClr val="tx1"/>
                </a:solidFill>
                <a:latin typeface="Times New Roman" panose="02020603050405020304" pitchFamily="18" charset="0"/>
                <a:ea typeface="黑体" panose="02010609060101010101" pitchFamily="49" charset="-122"/>
              </a:rPr>
              <a:t>nf</a:t>
            </a:r>
            <a:r>
              <a:rPr lang="en-US" altLang="zh-CN" sz="2400" i="1" baseline="-25000" dirty="0">
                <a:solidFill>
                  <a:schemeClr val="tx1"/>
                </a:solidFill>
                <a:latin typeface="Times New Roman" panose="02020603050405020304" pitchFamily="18" charset="0"/>
                <a:ea typeface="黑体" panose="02010609060101010101" pitchFamily="49" charset="-122"/>
              </a:rPr>
              <a:t>a</a:t>
            </a:r>
            <a:r>
              <a:rPr lang="en-US" altLang="zh-CN"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其中，</a:t>
            </a:r>
            <a:r>
              <a:rPr lang="en-US" altLang="zh-CN" sz="2400" i="1" dirty="0">
                <a:solidFill>
                  <a:schemeClr val="accent2"/>
                </a:solidFill>
                <a:latin typeface="Times New Roman" panose="02020603050405020304" pitchFamily="18" charset="0"/>
                <a:ea typeface="黑体" panose="02010609060101010101" pitchFamily="49" charset="-122"/>
              </a:rPr>
              <a:t>K</a:t>
            </a:r>
            <a:r>
              <a:rPr lang="en-US" altLang="zh-CN" sz="2400" dirty="0">
                <a:solidFill>
                  <a:schemeClr val="accent2"/>
                </a:solidFill>
                <a:latin typeface="Times New Roman" panose="02020603050405020304" pitchFamily="18" charset="0"/>
                <a:ea typeface="黑体" panose="02010609060101010101" pitchFamily="49" charset="-122"/>
              </a:rPr>
              <a:t>=0,1,2,…</a:t>
            </a:r>
            <a:r>
              <a:rPr lang="zh-CN" altLang="en-US" sz="2400" dirty="0">
                <a:solidFill>
                  <a:schemeClr val="accent2"/>
                </a:solidFill>
                <a:latin typeface="黑体" panose="02010609060101010101" pitchFamily="49" charset="-122"/>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是谐波的阶次，</a:t>
            </a:r>
            <a:r>
              <a:rPr lang="en-US" altLang="zh-CN" sz="2400" i="1" dirty="0">
                <a:solidFill>
                  <a:schemeClr val="accent2"/>
                </a:solidFill>
                <a:latin typeface="Times New Roman" panose="02020603050405020304" pitchFamily="18" charset="0"/>
                <a:ea typeface="黑体" panose="02010609060101010101" pitchFamily="49" charset="-122"/>
              </a:rPr>
              <a:t>n</a:t>
            </a:r>
            <a:r>
              <a:rPr lang="en-US" altLang="zh-CN" sz="2400" dirty="0">
                <a:solidFill>
                  <a:schemeClr val="accent2"/>
                </a:solidFill>
                <a:latin typeface="Times New Roman" panose="02020603050405020304" pitchFamily="18" charset="0"/>
                <a:ea typeface="黑体" panose="02010609060101010101" pitchFamily="49" charset="-122"/>
              </a:rPr>
              <a:t>=2,3,4,…</a:t>
            </a:r>
            <a:endParaRPr lang="en-US" altLang="zh-CN" sz="2400" dirty="0">
              <a:solidFill>
                <a:schemeClr val="accent2"/>
              </a:solidFill>
              <a:latin typeface="Times New Roman" panose="02020603050405020304" pitchFamily="18" charset="0"/>
              <a:ea typeface="黑体" panose="02010609060101010101" pitchFamily="49" charset="-122"/>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0836" name="Text Box 11"/>
          <p:cNvSpPr txBox="1"/>
          <p:nvPr/>
        </p:nvSpPr>
        <p:spPr>
          <a:xfrm>
            <a:off x="404813" y="671513"/>
            <a:ext cx="21732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谐波失真</a:t>
            </a:r>
            <a:endParaRPr lang="zh-CN" altLang="en-US" sz="3200" dirty="0">
              <a:latin typeface="Times New Roman" panose="02020603050405020304" pitchFamily="18" charset="0"/>
            </a:endParaRPr>
          </a:p>
        </p:txBody>
      </p:sp>
      <p:sp>
        <p:nvSpPr>
          <p:cNvPr id="120837" name="Text Box 5"/>
          <p:cNvSpPr txBox="1"/>
          <p:nvPr/>
        </p:nvSpPr>
        <p:spPr>
          <a:xfrm>
            <a:off x="455613" y="1419225"/>
            <a:ext cx="8040687" cy="1077913"/>
          </a:xfrm>
          <a:prstGeom prst="rect">
            <a:avLst/>
          </a:prstGeom>
          <a:noFill/>
          <a:ln w="9525">
            <a:noFill/>
          </a:ln>
        </p:spPr>
        <p:txBody>
          <a:bodyPr>
            <a:spAutoFit/>
          </a:bodyPr>
          <a:p>
            <a:pPr eaLnBrk="1" hangingPunct="1">
              <a:lnSpc>
                <a:spcPct val="90000"/>
              </a:lnSpc>
            </a:pPr>
            <a:r>
              <a:rPr lang="zh-CN" altLang="en-US" sz="2400" dirty="0">
                <a:solidFill>
                  <a:schemeClr val="accent2"/>
                </a:solidFill>
                <a:latin typeface="黑体" panose="02010609060101010101" pitchFamily="49" charset="-122"/>
                <a:ea typeface="黑体" panose="02010609060101010101" pitchFamily="49" charset="-122"/>
              </a:rPr>
              <a:t>    由于任何器件均含有一定的非线性，当一个正弦信号经过器件时，在输出频谱中会出现许多输入频率的高次谐波分量，这些高次谐波分量称为</a:t>
            </a:r>
            <a:r>
              <a:rPr lang="zh-CN" altLang="en-US" sz="2400" dirty="0">
                <a:solidFill>
                  <a:srgbClr val="FF0000"/>
                </a:solidFill>
                <a:latin typeface="黑体" panose="02010609060101010101" pitchFamily="49" charset="-122"/>
                <a:ea typeface="黑体" panose="02010609060101010101" pitchFamily="49" charset="-122"/>
              </a:rPr>
              <a:t>谐波失真分量</a:t>
            </a:r>
            <a:r>
              <a:rPr lang="zh-CN" altLang="en-US" sz="2400" dirty="0">
                <a:solidFill>
                  <a:schemeClr val="accent2"/>
                </a:solidFill>
                <a:latin typeface="黑体" panose="02010609060101010101" pitchFamily="49" charset="-122"/>
                <a:ea typeface="黑体" panose="02010609060101010101" pitchFamily="49" charset="-122"/>
              </a:rPr>
              <a:t>。</a:t>
            </a:r>
            <a:endParaRPr lang="en-US" altLang="zh-CN" sz="2400" dirty="0">
              <a:solidFill>
                <a:schemeClr val="tx1"/>
              </a:solidFill>
              <a:latin typeface="黑体" panose="02010609060101010101" pitchFamily="49" charset="-122"/>
              <a:ea typeface="黑体" panose="02010609060101010101" pitchFamily="49" charset="-122"/>
            </a:endParaRPr>
          </a:p>
        </p:txBody>
      </p:sp>
      <p:sp>
        <p:nvSpPr>
          <p:cNvPr id="275462" name="Text Box 6"/>
          <p:cNvSpPr txBox="1"/>
          <p:nvPr/>
        </p:nvSpPr>
        <p:spPr>
          <a:xfrm>
            <a:off x="455613" y="4011613"/>
            <a:ext cx="8040687" cy="1296987"/>
          </a:xfrm>
          <a:prstGeom prst="rect">
            <a:avLst/>
          </a:prstGeom>
          <a:noFill/>
          <a:ln w="9525">
            <a:noFill/>
          </a:ln>
        </p:spPr>
        <p:txBody>
          <a:bodyPr>
            <a:spAutoFit/>
          </a:bodyPr>
          <a:p>
            <a:pPr eaLnBrk="1" hangingPunct="1">
              <a:lnSpc>
                <a:spcPct val="110000"/>
              </a:lnSpc>
            </a:pPr>
            <a:r>
              <a:rPr lang="zh-CN" altLang="en-US" sz="2400" dirty="0">
                <a:solidFill>
                  <a:srgbClr val="FF0000"/>
                </a:solidFill>
                <a:latin typeface="黑体" panose="02010609060101010101" pitchFamily="49" charset="-122"/>
                <a:ea typeface="黑体" panose="02010609060101010101" pitchFamily="49" charset="-122"/>
              </a:rPr>
              <a:t>例如：</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当</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a</a:t>
            </a:r>
            <a:r>
              <a:rPr lang="en-US" altLang="zh-CN" sz="2400" dirty="0">
                <a:solidFill>
                  <a:schemeClr val="tx1"/>
                </a:solidFill>
                <a:latin typeface="Times New Roman" panose="02020603050405020304" pitchFamily="18" charset="0"/>
                <a:ea typeface="黑体" panose="02010609060101010101" pitchFamily="49" charset="-122"/>
              </a:rPr>
              <a:t>=7MHz</a:t>
            </a:r>
            <a:r>
              <a:rPr lang="zh-CN" altLang="en-US" sz="2400" dirty="0">
                <a:solidFill>
                  <a:schemeClr val="tx1"/>
                </a:solidFill>
                <a:latin typeface="黑体" panose="02010609060101010101" pitchFamily="49" charset="-122"/>
                <a:ea typeface="黑体" panose="02010609060101010101" pitchFamily="49" charset="-122"/>
              </a:rPr>
              <a:t>，</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=20MHz</a:t>
            </a:r>
            <a:r>
              <a:rPr lang="zh-CN" altLang="en-US" sz="2400" dirty="0">
                <a:solidFill>
                  <a:schemeClr val="tx1"/>
                </a:solidFill>
                <a:latin typeface="黑体" panose="02010609060101010101" pitchFamily="49" charset="-122"/>
                <a:ea typeface="黑体" panose="02010609060101010101" pitchFamily="49" charset="-122"/>
              </a:rPr>
              <a:t>时，奈氏带宽内出现的二次谐波频率为：</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dirty="0">
                <a:solidFill>
                  <a:schemeClr val="tx1"/>
                </a:solidFill>
                <a:latin typeface="Times New Roman" panose="02020603050405020304" pitchFamily="18" charset="0"/>
                <a:ea typeface="黑体" panose="02010609060101010101" pitchFamily="49" charset="-122"/>
              </a:rPr>
              <a:t>=</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s</a:t>
            </a:r>
            <a:r>
              <a:rPr lang="en-US" altLang="zh-CN" sz="2400" dirty="0">
                <a:solidFill>
                  <a:schemeClr val="tx1"/>
                </a:solidFill>
                <a:latin typeface="Times New Roman" panose="02020603050405020304" pitchFamily="18" charset="0"/>
                <a:ea typeface="黑体" panose="02010609060101010101" pitchFamily="49" charset="-122"/>
              </a:rPr>
              <a:t>-2</a:t>
            </a:r>
            <a:r>
              <a:rPr lang="en-US" altLang="zh-CN" sz="2400" i="1" dirty="0">
                <a:solidFill>
                  <a:schemeClr val="tx1"/>
                </a:solidFill>
                <a:latin typeface="Times New Roman" panose="02020603050405020304" pitchFamily="18" charset="0"/>
                <a:ea typeface="黑体" panose="02010609060101010101" pitchFamily="49" charset="-122"/>
              </a:rPr>
              <a:t>f</a:t>
            </a:r>
            <a:r>
              <a:rPr lang="en-US" altLang="zh-CN" sz="2400" i="1" baseline="-25000" dirty="0">
                <a:solidFill>
                  <a:schemeClr val="tx1"/>
                </a:solidFill>
                <a:latin typeface="Times New Roman" panose="02020603050405020304" pitchFamily="18" charset="0"/>
                <a:ea typeface="黑体" panose="02010609060101010101" pitchFamily="49" charset="-122"/>
              </a:rPr>
              <a:t>a</a:t>
            </a:r>
            <a:r>
              <a:rPr lang="en-US" altLang="zh-CN" sz="2400" dirty="0">
                <a:solidFill>
                  <a:schemeClr val="tx1"/>
                </a:solidFill>
                <a:latin typeface="Times New Roman" panose="02020603050405020304" pitchFamily="18" charset="0"/>
                <a:ea typeface="黑体" panose="02010609060101010101" pitchFamily="49" charset="-122"/>
              </a:rPr>
              <a:t>=6MHz</a:t>
            </a:r>
            <a:endParaRPr lang="en-US" altLang="zh-CN" sz="2400" dirty="0">
              <a:solidFill>
                <a:schemeClr val="tx1"/>
              </a:solidFill>
              <a:latin typeface="Times New Roman" panose="02020603050405020304" pitchFamily="18" charset="0"/>
              <a:ea typeface="黑体" panose="02010609060101010101" pitchFamily="49" charset="-122"/>
            </a:endParaRPr>
          </a:p>
        </p:txBody>
      </p:sp>
      <p:sp>
        <p:nvSpPr>
          <p:cNvPr id="275463" name="Text Box 7"/>
          <p:cNvSpPr txBox="1"/>
          <p:nvPr/>
        </p:nvSpPr>
        <p:spPr>
          <a:xfrm>
            <a:off x="481013" y="5308600"/>
            <a:ext cx="8040687" cy="749300"/>
          </a:xfrm>
          <a:prstGeom prst="rect">
            <a:avLst/>
          </a:prstGeom>
          <a:noFill/>
          <a:ln w="9525">
            <a:noFill/>
          </a:ln>
        </p:spPr>
        <p:txBody>
          <a:bodyPr>
            <a:spAutoFit/>
          </a:bodyPr>
          <a:p>
            <a:pPr eaLnBrk="1" hangingPunct="1">
              <a:lnSpc>
                <a:spcPct val="90000"/>
              </a:lnSpc>
            </a:pPr>
            <a:r>
              <a:rPr lang="zh-CN" altLang="en-US" sz="2400" dirty="0">
                <a:solidFill>
                  <a:schemeClr val="accent2"/>
                </a:solidFill>
                <a:latin typeface="黑体" panose="02010609060101010101" pitchFamily="49" charset="-122"/>
                <a:ea typeface="黑体" panose="02010609060101010101" pitchFamily="49" charset="-122"/>
              </a:rPr>
              <a:t>    通常用</a:t>
            </a:r>
            <a:r>
              <a:rPr lang="en-US" altLang="zh-CN" sz="2400" dirty="0">
                <a:solidFill>
                  <a:schemeClr val="accent2"/>
                </a:solidFill>
                <a:latin typeface="黑体" panose="02010609060101010101" pitchFamily="49" charset="-122"/>
                <a:ea typeface="黑体" panose="02010609060101010101" pitchFamily="49" charset="-122"/>
              </a:rPr>
              <a:t>FFT</a:t>
            </a:r>
            <a:r>
              <a:rPr lang="zh-CN" altLang="en-US" sz="2400" dirty="0">
                <a:solidFill>
                  <a:schemeClr val="accent2"/>
                </a:solidFill>
                <a:latin typeface="黑体" panose="02010609060101010101" pitchFamily="49" charset="-122"/>
                <a:ea typeface="黑体" panose="02010609060101010101" pitchFamily="49" charset="-122"/>
              </a:rPr>
              <a:t>分析测出各个谐波分量的幅值。一般情况下，二次和三次谐波是最大的两个谐波分量。</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5462">
                                            <p:txEl>
                                              <p:charRg st="0" end="4"/>
                                            </p:txEl>
                                          </p:spTgt>
                                        </p:tgtEl>
                                        <p:attrNameLst>
                                          <p:attrName>style.visibility</p:attrName>
                                        </p:attrNameLst>
                                      </p:cBhvr>
                                      <p:to>
                                        <p:strVal val="visible"/>
                                      </p:to>
                                    </p:set>
                                    <p:animEffect transition="in" filter="dissolve">
                                      <p:cBhvr>
                                        <p:cTn id="7" dur="500"/>
                                        <p:tgtEl>
                                          <p:spTgt spid="275462">
                                            <p:txEl>
                                              <p:charRg st="0"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5462">
                                            <p:txEl>
                                              <p:charRg st="4" end="57"/>
                                            </p:txEl>
                                          </p:spTgt>
                                        </p:tgtEl>
                                        <p:attrNameLst>
                                          <p:attrName>style.visibility</p:attrName>
                                        </p:attrNameLst>
                                      </p:cBhvr>
                                      <p:to>
                                        <p:strVal val="visible"/>
                                      </p:to>
                                    </p:set>
                                    <p:animEffect transition="in" filter="dissolve">
                                      <p:cBhvr>
                                        <p:cTn id="10" dur="500"/>
                                        <p:tgtEl>
                                          <p:spTgt spid="275462">
                                            <p:txEl>
                                              <p:charRg st="4" end="57"/>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5463">
                                            <p:txEl>
                                              <p:charRg st="0" end="49"/>
                                            </p:txEl>
                                          </p:spTgt>
                                        </p:tgtEl>
                                        <p:attrNameLst>
                                          <p:attrName>style.visibility</p:attrName>
                                        </p:attrNameLst>
                                      </p:cBhvr>
                                      <p:to>
                                        <p:strVal val="visible"/>
                                      </p:to>
                                    </p:set>
                                    <p:animEffect transition="in" filter="dissolve">
                                      <p:cBhvr>
                                        <p:cTn id="15" dur="500"/>
                                        <p:tgtEl>
                                          <p:spTgt spid="275463">
                                            <p:txEl>
                                              <p:charRg st="0" end="4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1859" name="Text Box 11"/>
          <p:cNvSpPr txBox="1"/>
          <p:nvPr/>
        </p:nvSpPr>
        <p:spPr>
          <a:xfrm>
            <a:off x="404813" y="671513"/>
            <a:ext cx="21732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谐波失真</a:t>
            </a:r>
            <a:endParaRPr lang="zh-CN" altLang="en-US" sz="3200" dirty="0">
              <a:latin typeface="Times New Roman" panose="02020603050405020304" pitchFamily="18" charset="0"/>
            </a:endParaRPr>
          </a:p>
        </p:txBody>
      </p:sp>
      <p:sp>
        <p:nvSpPr>
          <p:cNvPr id="121860" name="Text Box 4"/>
          <p:cNvSpPr txBox="1"/>
          <p:nvPr/>
        </p:nvSpPr>
        <p:spPr>
          <a:xfrm>
            <a:off x="455613" y="1419225"/>
            <a:ext cx="3214687" cy="420688"/>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总谐波失真（</a:t>
            </a:r>
            <a:r>
              <a:rPr lang="en-US" altLang="zh-CN" sz="2400" dirty="0">
                <a:solidFill>
                  <a:srgbClr val="FF0000"/>
                </a:solidFill>
                <a:latin typeface="Times New Roman" panose="02020603050405020304" pitchFamily="18" charset="0"/>
                <a:ea typeface="黑体" panose="02010609060101010101" pitchFamily="49" charset="-122"/>
              </a:rPr>
              <a:t>THD</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121861" name="Object 5"/>
          <p:cNvGraphicFramePr>
            <a:graphicFrameLocks noGrp="1" noChangeAspect="1"/>
          </p:cNvGraphicFramePr>
          <p:nvPr>
            <p:ph/>
          </p:nvPr>
        </p:nvGraphicFramePr>
        <p:xfrm>
          <a:off x="2263775" y="2066925"/>
          <a:ext cx="4616450" cy="1141413"/>
        </p:xfrm>
        <a:graphic>
          <a:graphicData uri="http://schemas.openxmlformats.org/presentationml/2006/ole">
            <mc:AlternateContent xmlns:mc="http://schemas.openxmlformats.org/markup-compatibility/2006">
              <mc:Choice xmlns:v="urn:schemas-microsoft-com:vml" Requires="v">
                <p:oleObj spid="_x0000_s3098" name="" r:id="rId1" imgW="2005965" imgH="495300" progId="Equation.3">
                  <p:embed/>
                </p:oleObj>
              </mc:Choice>
              <mc:Fallback>
                <p:oleObj name="" r:id="rId1" imgW="2005965" imgH="495300" progId="Equation.3">
                  <p:embed/>
                  <p:pic>
                    <p:nvPicPr>
                      <p:cNvPr id="0" name="图片 3097"/>
                      <p:cNvPicPr/>
                      <p:nvPr/>
                    </p:nvPicPr>
                    <p:blipFill>
                      <a:blip r:embed="rId2"/>
                      <a:stretch>
                        <a:fillRect/>
                      </a:stretch>
                    </p:blipFill>
                    <p:spPr>
                      <a:xfrm>
                        <a:off x="2263775" y="2066925"/>
                        <a:ext cx="4616450" cy="1141413"/>
                      </a:xfrm>
                      <a:prstGeom prst="rect">
                        <a:avLst/>
                      </a:prstGeom>
                      <a:noFill/>
                      <a:ln w="38100">
                        <a:noFill/>
                        <a:miter/>
                      </a:ln>
                    </p:spPr>
                  </p:pic>
                </p:oleObj>
              </mc:Fallback>
            </mc:AlternateContent>
          </a:graphicData>
        </a:graphic>
      </p:graphicFrame>
      <p:sp>
        <p:nvSpPr>
          <p:cNvPr id="121862" name="Text Box 6"/>
          <p:cNvSpPr txBox="1"/>
          <p:nvPr/>
        </p:nvSpPr>
        <p:spPr>
          <a:xfrm>
            <a:off x="455613" y="3429000"/>
            <a:ext cx="8040687" cy="2501900"/>
          </a:xfrm>
          <a:prstGeom prst="rect">
            <a:avLst/>
          </a:prstGeom>
          <a:noFill/>
          <a:ln w="9525">
            <a:noFill/>
          </a:ln>
        </p:spPr>
        <p:txBody>
          <a:bodyPr>
            <a:spAutoFit/>
          </a:bodyPr>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其中，</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i="1" baseline="-25000" dirty="0">
                <a:solidFill>
                  <a:schemeClr val="accent2"/>
                </a:solidFill>
                <a:latin typeface="Times New Roman" panose="02020603050405020304" pitchFamily="18" charset="0"/>
                <a:ea typeface="黑体" panose="02010609060101010101" pitchFamily="49" charset="-122"/>
              </a:rPr>
              <a:t>s</a:t>
            </a:r>
            <a:r>
              <a:rPr lang="zh-CN" altLang="en-US" sz="2400" dirty="0">
                <a:solidFill>
                  <a:schemeClr val="accent2"/>
                </a:solidFill>
                <a:latin typeface="黑体" panose="02010609060101010101" pitchFamily="49" charset="-122"/>
                <a:ea typeface="黑体" panose="02010609060101010101" pitchFamily="49" charset="-122"/>
              </a:rPr>
              <a:t>为信号幅度的有效值，</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i="1" baseline="-25000" dirty="0">
                <a:solidFill>
                  <a:schemeClr val="accent2"/>
                </a:solidFill>
                <a:latin typeface="Times New Roman" panose="02020603050405020304" pitchFamily="18" charset="0"/>
                <a:ea typeface="黑体" panose="02010609060101010101" pitchFamily="49" charset="-122"/>
              </a:rPr>
              <a:t>2</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i="1" baseline="-25000" dirty="0">
                <a:solidFill>
                  <a:schemeClr val="accent2"/>
                </a:solidFill>
                <a:latin typeface="Times New Roman" panose="02020603050405020304" pitchFamily="18" charset="0"/>
                <a:ea typeface="黑体" panose="02010609060101010101" pitchFamily="49" charset="-122"/>
              </a:rPr>
              <a:t>3</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i="1" baseline="-25000" dirty="0">
                <a:solidFill>
                  <a:schemeClr val="accent2"/>
                </a:solidFill>
                <a:latin typeface="Times New Roman" panose="02020603050405020304" pitchFamily="18" charset="0"/>
                <a:ea typeface="黑体" panose="02010609060101010101" pitchFamily="49" charset="-122"/>
              </a:rPr>
              <a:t>4</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i="1" baseline="-25000" dirty="0">
                <a:solidFill>
                  <a:schemeClr val="accent2"/>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为</a:t>
            </a:r>
            <a:r>
              <a:rPr lang="en-US" altLang="zh-CN" sz="2400" dirty="0">
                <a:solidFill>
                  <a:schemeClr val="accent2"/>
                </a:solidFill>
                <a:latin typeface="Times New Roman" panose="02020603050405020304" pitchFamily="18" charset="0"/>
                <a:ea typeface="黑体" panose="02010609060101010101" pitchFamily="49" charset="-122"/>
              </a:rPr>
              <a:t>2,3,4,…,</a:t>
            </a:r>
            <a:r>
              <a:rPr lang="en-US" altLang="zh-CN" sz="2400" i="1" dirty="0">
                <a:solidFill>
                  <a:schemeClr val="accent2"/>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次谐波幅度的有效值。</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rgbClr val="FF0000"/>
                </a:solidFill>
                <a:latin typeface="黑体" panose="02010609060101010101" pitchFamily="49" charset="-122"/>
                <a:ea typeface="黑体" panose="02010609060101010101" pitchFamily="49" charset="-122"/>
              </a:rPr>
              <a:t>注意：</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tx1"/>
                </a:solidFill>
                <a:latin typeface="黑体" panose="02010609060101010101" pitchFamily="49" charset="-122"/>
                <a:ea typeface="黑体" panose="02010609060101010101" pitchFamily="49" charset="-122"/>
              </a:rPr>
              <a:t>输入信号基波的幅值一般取低于满度的</a:t>
            </a:r>
            <a:r>
              <a:rPr lang="en-US" altLang="zh-CN" sz="2400" dirty="0">
                <a:solidFill>
                  <a:schemeClr val="tx1"/>
                </a:solidFill>
                <a:latin typeface="黑体" panose="02010609060101010101" pitchFamily="49" charset="-122"/>
                <a:ea typeface="黑体" panose="02010609060101010101" pitchFamily="49" charset="-122"/>
              </a:rPr>
              <a:t>0.5</a:t>
            </a:r>
            <a:r>
              <a:rPr lang="zh-CN" altLang="en-US" sz="2400" dirty="0">
                <a:solidFill>
                  <a:schemeClr val="tx1"/>
                </a:solidFill>
                <a:latin typeface="黑体" panose="02010609060101010101" pitchFamily="49" charset="-122"/>
                <a:ea typeface="黑体" panose="02010609060101010101" pitchFamily="49" charset="-122"/>
              </a:rPr>
              <a:t>至</a:t>
            </a:r>
            <a:r>
              <a:rPr lang="en-US" altLang="zh-CN" sz="2400" dirty="0">
                <a:solidFill>
                  <a:schemeClr val="tx1"/>
                </a:solidFill>
                <a:latin typeface="黑体" panose="02010609060101010101" pitchFamily="49" charset="-122"/>
                <a:ea typeface="黑体" panose="02010609060101010101" pitchFamily="49" charset="-122"/>
              </a:rPr>
              <a:t>1dB</a:t>
            </a:r>
            <a:r>
              <a:rPr lang="zh-CN" altLang="en-US" sz="2400" dirty="0">
                <a:solidFill>
                  <a:schemeClr val="tx1"/>
                </a:solidFill>
                <a:latin typeface="黑体" panose="02010609060101010101" pitchFamily="49" charset="-122"/>
                <a:ea typeface="黑体" panose="02010609060101010101" pitchFamily="49" charset="-122"/>
              </a:rPr>
              <a:t>（约为满度值的</a:t>
            </a:r>
            <a:r>
              <a:rPr lang="en-US" altLang="zh-CN" sz="2400" dirty="0">
                <a:solidFill>
                  <a:schemeClr val="tx1"/>
                </a:solidFill>
                <a:latin typeface="黑体" panose="02010609060101010101" pitchFamily="49" charset="-122"/>
                <a:ea typeface="黑体" panose="02010609060101010101" pitchFamily="49" charset="-122"/>
              </a:rPr>
              <a:t>89%</a:t>
            </a:r>
            <a:r>
              <a:rPr lang="zh-CN" altLang="en-US" sz="2400" dirty="0">
                <a:solidFill>
                  <a:schemeClr val="tx1"/>
                </a:solidFill>
                <a:latin typeface="黑体" panose="02010609060101010101" pitchFamily="49" charset="-122"/>
                <a:ea typeface="黑体" panose="02010609060101010101" pitchFamily="49" charset="-122"/>
              </a:rPr>
              <a:t>至</a:t>
            </a:r>
            <a:r>
              <a:rPr lang="en-US" altLang="zh-CN" sz="2400" dirty="0">
                <a:solidFill>
                  <a:schemeClr val="tx1"/>
                </a:solidFill>
                <a:latin typeface="黑体" panose="02010609060101010101" pitchFamily="49" charset="-122"/>
                <a:ea typeface="黑体" panose="02010609060101010101" pitchFamily="49" charset="-122"/>
              </a:rPr>
              <a:t>95%</a:t>
            </a:r>
            <a:r>
              <a:rPr lang="zh-CN" altLang="en-US" sz="2400" dirty="0">
                <a:solidFill>
                  <a:schemeClr val="tx1"/>
                </a:solidFill>
                <a:latin typeface="黑体" panose="02010609060101010101" pitchFamily="49" charset="-122"/>
                <a:ea typeface="黑体" panose="02010609060101010101" pitchFamily="49" charset="-122"/>
              </a:rPr>
              <a:t>），以防止输入信号过饱和。</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2883" name="Text Box 11"/>
          <p:cNvSpPr txBox="1"/>
          <p:nvPr/>
        </p:nvSpPr>
        <p:spPr>
          <a:xfrm>
            <a:off x="404813" y="671513"/>
            <a:ext cx="21732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1 </a:t>
            </a:r>
            <a:r>
              <a:rPr lang="zh-CN" altLang="en-US" sz="3200" dirty="0">
                <a:latin typeface="Times New Roman" panose="02020603050405020304" pitchFamily="18" charset="0"/>
              </a:rPr>
              <a:t>谐波失真</a:t>
            </a:r>
            <a:endParaRPr lang="zh-CN" altLang="en-US" sz="3200" dirty="0">
              <a:latin typeface="Times New Roman" panose="02020603050405020304" pitchFamily="18" charset="0"/>
            </a:endParaRPr>
          </a:p>
        </p:txBody>
      </p:sp>
      <p:sp>
        <p:nvSpPr>
          <p:cNvPr id="122884" name="Text Box 4"/>
          <p:cNvSpPr txBox="1"/>
          <p:nvPr/>
        </p:nvSpPr>
        <p:spPr>
          <a:xfrm>
            <a:off x="455613" y="1419225"/>
            <a:ext cx="4713287" cy="420688"/>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总谐波加噪声失真（</a:t>
            </a:r>
            <a:r>
              <a:rPr lang="en-US" altLang="zh-CN" sz="2400" dirty="0">
                <a:solidFill>
                  <a:srgbClr val="FF0000"/>
                </a:solidFill>
                <a:latin typeface="Times New Roman" panose="02020603050405020304" pitchFamily="18" charset="0"/>
                <a:ea typeface="黑体" panose="02010609060101010101" pitchFamily="49" charset="-122"/>
              </a:rPr>
              <a:t>THD+N</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122885" name="Object 5"/>
          <p:cNvGraphicFramePr>
            <a:graphicFrameLocks noGrp="1" noChangeAspect="1"/>
          </p:cNvGraphicFramePr>
          <p:nvPr>
            <p:ph/>
          </p:nvPr>
        </p:nvGraphicFramePr>
        <p:xfrm>
          <a:off x="1503363" y="2255838"/>
          <a:ext cx="5773737" cy="1068387"/>
        </p:xfrm>
        <a:graphic>
          <a:graphicData uri="http://schemas.openxmlformats.org/presentationml/2006/ole">
            <mc:AlternateContent xmlns:mc="http://schemas.openxmlformats.org/markup-compatibility/2006">
              <mc:Choice xmlns:v="urn:schemas-microsoft-com:vml" Requires="v">
                <p:oleObj spid="_x0000_s3096" name="" r:id="rId1" imgW="2679700" imgH="495300" progId="Equation.3">
                  <p:embed/>
                </p:oleObj>
              </mc:Choice>
              <mc:Fallback>
                <p:oleObj name="" r:id="rId1" imgW="2679700" imgH="495300" progId="Equation.3">
                  <p:embed/>
                  <p:pic>
                    <p:nvPicPr>
                      <p:cNvPr id="0" name="图片 3095"/>
                      <p:cNvPicPr/>
                      <p:nvPr/>
                    </p:nvPicPr>
                    <p:blipFill>
                      <a:blip r:embed="rId2"/>
                      <a:stretch>
                        <a:fillRect/>
                      </a:stretch>
                    </p:blipFill>
                    <p:spPr>
                      <a:xfrm>
                        <a:off x="1503363" y="2255838"/>
                        <a:ext cx="5773737" cy="1068387"/>
                      </a:xfrm>
                      <a:prstGeom prst="rect">
                        <a:avLst/>
                      </a:prstGeom>
                      <a:noFill/>
                      <a:ln w="38100">
                        <a:noFill/>
                        <a:miter/>
                      </a:ln>
                    </p:spPr>
                  </p:pic>
                </p:oleObj>
              </mc:Fallback>
            </mc:AlternateContent>
          </a:graphicData>
        </a:graphic>
      </p:graphicFrame>
      <p:sp>
        <p:nvSpPr>
          <p:cNvPr id="122886" name="Text Box 6"/>
          <p:cNvSpPr txBox="1"/>
          <p:nvPr/>
        </p:nvSpPr>
        <p:spPr>
          <a:xfrm>
            <a:off x="455613" y="3571875"/>
            <a:ext cx="8040687" cy="493713"/>
          </a:xfrm>
          <a:prstGeom prst="rect">
            <a:avLst/>
          </a:prstGeom>
          <a:noFill/>
          <a:ln w="9525">
            <a:noFill/>
          </a:ln>
        </p:spPr>
        <p:txBody>
          <a:bodyPr>
            <a:spAutoFit/>
          </a:bodyPr>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假如在测量带宽内</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baseline="-25000" dirty="0">
                <a:solidFill>
                  <a:schemeClr val="accent2"/>
                </a:solidFill>
                <a:latin typeface="Times New Roman" panose="02020603050405020304" pitchFamily="18" charset="0"/>
                <a:ea typeface="黑体" panose="02010609060101010101" pitchFamily="49" charset="-122"/>
              </a:rPr>
              <a:t>noise</a:t>
            </a:r>
            <a:r>
              <a:rPr lang="zh-CN" altLang="en-US" sz="2400" dirty="0">
                <a:solidFill>
                  <a:schemeClr val="accent2"/>
                </a:solidFill>
                <a:latin typeface="黑体" panose="02010609060101010101" pitchFamily="49" charset="-122"/>
                <a:ea typeface="黑体" panose="02010609060101010101" pitchFamily="49" charset="-122"/>
              </a:rPr>
              <a:t>远小于</a:t>
            </a:r>
            <a:r>
              <a:rPr lang="en-US" altLang="zh-CN" sz="2400" dirty="0">
                <a:solidFill>
                  <a:schemeClr val="accent2"/>
                </a:solidFill>
                <a:latin typeface="Times New Roman" panose="02020603050405020304" pitchFamily="18" charset="0"/>
                <a:ea typeface="黑体" panose="02010609060101010101" pitchFamily="49" charset="-122"/>
              </a:rPr>
              <a:t>THD</a:t>
            </a:r>
            <a:r>
              <a:rPr lang="zh-CN" altLang="en-US" sz="2400" dirty="0">
                <a:solidFill>
                  <a:schemeClr val="accent2"/>
                </a:solidFill>
                <a:latin typeface="黑体" panose="02010609060101010101" pitchFamily="49" charset="-122"/>
                <a:ea typeface="黑体" panose="02010609060101010101" pitchFamily="49" charset="-122"/>
              </a:rPr>
              <a:t>，则有</a:t>
            </a:r>
            <a:endParaRPr lang="zh-CN" altLang="en-US" sz="2400" dirty="0">
              <a:solidFill>
                <a:schemeClr val="tx1"/>
              </a:solidFill>
              <a:latin typeface="黑体" panose="02010609060101010101" pitchFamily="49" charset="-122"/>
              <a:ea typeface="黑体" panose="02010609060101010101" pitchFamily="49" charset="-122"/>
            </a:endParaRPr>
          </a:p>
        </p:txBody>
      </p:sp>
      <p:graphicFrame>
        <p:nvGraphicFramePr>
          <p:cNvPr id="122887" name="Object 7"/>
          <p:cNvGraphicFramePr>
            <a:graphicFrameLocks noChangeAspect="1"/>
          </p:cNvGraphicFramePr>
          <p:nvPr/>
        </p:nvGraphicFramePr>
        <p:xfrm>
          <a:off x="2995613" y="4660900"/>
          <a:ext cx="2460625" cy="404813"/>
        </p:xfrm>
        <a:graphic>
          <a:graphicData uri="http://schemas.openxmlformats.org/presentationml/2006/ole">
            <mc:AlternateContent xmlns:mc="http://schemas.openxmlformats.org/markup-compatibility/2006">
              <mc:Choice xmlns:v="urn:schemas-microsoft-com:vml" Requires="v">
                <p:oleObj spid="_x0000_s3094" name="" r:id="rId3" imgW="1078865" imgH="177800" progId="Equation.3">
                  <p:embed/>
                </p:oleObj>
              </mc:Choice>
              <mc:Fallback>
                <p:oleObj name="" r:id="rId3" imgW="1078865" imgH="177800" progId="Equation.3">
                  <p:embed/>
                  <p:pic>
                    <p:nvPicPr>
                      <p:cNvPr id="0" name="图片 3093"/>
                      <p:cNvPicPr/>
                      <p:nvPr/>
                    </p:nvPicPr>
                    <p:blipFill>
                      <a:blip r:embed="rId4"/>
                      <a:stretch>
                        <a:fillRect/>
                      </a:stretch>
                    </p:blipFill>
                    <p:spPr>
                      <a:xfrm>
                        <a:off x="2995613" y="4660900"/>
                        <a:ext cx="2460625" cy="404813"/>
                      </a:xfrm>
                      <a:prstGeom prst="rect">
                        <a:avLst/>
                      </a:prstGeom>
                      <a:noFill/>
                      <a:ln w="38100">
                        <a:noFill/>
                        <a:miter/>
                      </a:ln>
                    </p:spPr>
                  </p:pic>
                </p:oleObj>
              </mc:Fallback>
            </mc:AlternateContent>
          </a:graphicData>
        </a:graphic>
      </p:graphicFrame>
    </p:spTree>
  </p:cSld>
  <p:clrMapOvr>
    <a:masterClrMapping/>
  </p:clrMapOvr>
  <p:transition spd="med">
    <p:strips/>
  </p:transition>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3907" name="Text Box 11"/>
          <p:cNvSpPr txBox="1"/>
          <p:nvPr/>
        </p:nvSpPr>
        <p:spPr>
          <a:xfrm>
            <a:off x="404813" y="671513"/>
            <a:ext cx="55641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信噪比、信纳比和有效位数</a:t>
            </a:r>
            <a:endParaRPr lang="zh-CN" altLang="en-US" sz="3200" dirty="0">
              <a:latin typeface="Times New Roman" panose="02020603050405020304" pitchFamily="18" charset="0"/>
            </a:endParaRPr>
          </a:p>
        </p:txBody>
      </p:sp>
      <p:sp>
        <p:nvSpPr>
          <p:cNvPr id="123908" name="Text Box 4"/>
          <p:cNvSpPr txBox="1"/>
          <p:nvPr/>
        </p:nvSpPr>
        <p:spPr>
          <a:xfrm>
            <a:off x="455613" y="1419225"/>
            <a:ext cx="8050212" cy="2282825"/>
          </a:xfrm>
          <a:prstGeom prst="rect">
            <a:avLst/>
          </a:prstGeom>
          <a:noFill/>
          <a:ln w="9525">
            <a:noFill/>
          </a:ln>
        </p:spPr>
        <p:txBody>
          <a:bodyPr>
            <a:spAutoFit/>
          </a:bodyPr>
          <a:p>
            <a:pPr eaLnBrk="1" hangingPunct="1"/>
            <a:r>
              <a:rPr lang="zh-CN" altLang="en-US" sz="2400" dirty="0">
                <a:solidFill>
                  <a:srgbClr val="FF0000"/>
                </a:solidFill>
                <a:latin typeface="黑体" panose="02010609060101010101" pitchFamily="49" charset="-122"/>
                <a:ea typeface="黑体" panose="02010609060101010101" pitchFamily="49" charset="-122"/>
              </a:rPr>
              <a:t>信噪比（</a:t>
            </a:r>
            <a:r>
              <a:rPr lang="en-US" altLang="zh-CN" sz="2400" dirty="0">
                <a:solidFill>
                  <a:srgbClr val="FF0000"/>
                </a:solidFill>
                <a:latin typeface="Times New Roman" panose="02020603050405020304" pitchFamily="18" charset="0"/>
                <a:ea typeface="黑体" panose="02010609060101010101" pitchFamily="49" charset="-122"/>
              </a:rPr>
              <a:t>SNR</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r>
              <a:rPr lang="zh-CN" altLang="en-US" sz="2400" dirty="0">
                <a:solidFill>
                  <a:srgbClr val="FF0000"/>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信号电平有效值和各种噪声（包括量化噪声、热噪声、白噪声等）有效值之比的分贝数。</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r>
              <a:rPr lang="en-US" altLang="zh-CN" sz="2400" dirty="0">
                <a:solidFill>
                  <a:schemeClr val="accent2"/>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理论信噪比取决于</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量化过程所使用的量化位数，位数越大，量化噪声越小，理论信噪比就越大。</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r>
              <a:rPr lang="zh-CN" altLang="en-US" sz="2400" dirty="0">
                <a:solidFill>
                  <a:schemeClr val="accent2"/>
                </a:solidFill>
                <a:latin typeface="黑体" panose="02010609060101010101" pitchFamily="49" charset="-122"/>
                <a:ea typeface="黑体" panose="02010609060101010101" pitchFamily="49" charset="-122"/>
              </a:rPr>
              <a:t>    对于满度的正弦信号，</a:t>
            </a:r>
            <a:r>
              <a:rPr lang="en-US" altLang="zh-CN" sz="2400" dirty="0">
                <a:solidFill>
                  <a:schemeClr val="accent2"/>
                </a:solidFill>
                <a:latin typeface="Times New Roman" panose="02020603050405020304" pitchFamily="18" charset="0"/>
                <a:ea typeface="黑体" panose="02010609060101010101" pitchFamily="49" charset="-122"/>
              </a:rPr>
              <a:t>N</a:t>
            </a:r>
            <a:r>
              <a:rPr lang="zh-CN" altLang="en-US" sz="2400" dirty="0">
                <a:solidFill>
                  <a:schemeClr val="accent2"/>
                </a:solidFill>
                <a:latin typeface="黑体" panose="02010609060101010101" pitchFamily="49" charset="-122"/>
                <a:ea typeface="黑体" panose="02010609060101010101" pitchFamily="49" charset="-122"/>
              </a:rPr>
              <a:t>位</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的理论信噪比为：</a:t>
            </a:r>
            <a:endParaRPr lang="zh-CN" altLang="en-US" sz="2400" dirty="0">
              <a:solidFill>
                <a:schemeClr val="accent2"/>
              </a:solidFill>
              <a:latin typeface="黑体" panose="02010609060101010101" pitchFamily="49" charset="-122"/>
              <a:ea typeface="黑体" panose="02010609060101010101" pitchFamily="49" charset="-122"/>
            </a:endParaRPr>
          </a:p>
        </p:txBody>
      </p:sp>
      <p:graphicFrame>
        <p:nvGraphicFramePr>
          <p:cNvPr id="123909" name="Object 5"/>
          <p:cNvGraphicFramePr>
            <a:graphicFrameLocks noGrp="1" noChangeAspect="1"/>
          </p:cNvGraphicFramePr>
          <p:nvPr>
            <p:ph/>
          </p:nvPr>
        </p:nvGraphicFramePr>
        <p:xfrm>
          <a:off x="2554288" y="3762375"/>
          <a:ext cx="3821112" cy="504825"/>
        </p:xfrm>
        <a:graphic>
          <a:graphicData uri="http://schemas.openxmlformats.org/presentationml/2006/ole">
            <mc:AlternateContent xmlns:mc="http://schemas.openxmlformats.org/markup-compatibility/2006">
              <mc:Choice xmlns:v="urn:schemas-microsoft-com:vml" Requires="v">
                <p:oleObj spid="_x0000_s3095" name="" r:id="rId1" imgW="1536065" imgH="203200" progId="Equation.3">
                  <p:embed/>
                </p:oleObj>
              </mc:Choice>
              <mc:Fallback>
                <p:oleObj name="" r:id="rId1" imgW="1536065" imgH="203200" progId="Equation.3">
                  <p:embed/>
                  <p:pic>
                    <p:nvPicPr>
                      <p:cNvPr id="0" name="图片 3094"/>
                      <p:cNvPicPr/>
                      <p:nvPr/>
                    </p:nvPicPr>
                    <p:blipFill>
                      <a:blip r:embed="rId2"/>
                      <a:stretch>
                        <a:fillRect/>
                      </a:stretch>
                    </p:blipFill>
                    <p:spPr>
                      <a:xfrm>
                        <a:off x="2554288" y="3762375"/>
                        <a:ext cx="3821112" cy="504825"/>
                      </a:xfrm>
                      <a:prstGeom prst="rect">
                        <a:avLst/>
                      </a:prstGeom>
                      <a:noFill/>
                      <a:ln w="38100">
                        <a:noFill/>
                        <a:miter/>
                      </a:ln>
                    </p:spPr>
                  </p:pic>
                </p:oleObj>
              </mc:Fallback>
            </mc:AlternateContent>
          </a:graphicData>
        </a:graphic>
      </p:graphicFrame>
      <p:sp>
        <p:nvSpPr>
          <p:cNvPr id="123910" name="Text Box 6"/>
          <p:cNvSpPr txBox="1"/>
          <p:nvPr/>
        </p:nvSpPr>
        <p:spPr>
          <a:xfrm>
            <a:off x="455613" y="4375150"/>
            <a:ext cx="7799387" cy="420688"/>
          </a:xfrm>
          <a:prstGeom prst="rect">
            <a:avLst/>
          </a:prstGeom>
          <a:noFill/>
          <a:ln w="9525">
            <a:noFill/>
          </a:ln>
        </p:spPr>
        <p:txBody>
          <a:bodyPr>
            <a:spAutoFit/>
          </a:bodyPr>
          <a:p>
            <a:pPr eaLnBrk="1" hangingPunct="1">
              <a:lnSpc>
                <a:spcPct val="90000"/>
              </a:lnSpc>
            </a:pPr>
            <a:r>
              <a:rPr lang="zh-CN" altLang="en-US" sz="2400" dirty="0">
                <a:solidFill>
                  <a:schemeClr val="accent2"/>
                </a:solidFill>
                <a:latin typeface="黑体" panose="02010609060101010101" pitchFamily="49" charset="-122"/>
                <a:ea typeface="黑体" panose="02010609060101010101" pitchFamily="49" charset="-122"/>
              </a:rPr>
              <a:t>    若考虑采样速率对信噪比的影响，则：</a:t>
            </a:r>
            <a:endParaRPr lang="zh-CN" altLang="en-US" sz="2400" dirty="0">
              <a:solidFill>
                <a:schemeClr val="accent2"/>
              </a:solidFill>
              <a:latin typeface="黑体" panose="02010609060101010101" pitchFamily="49" charset="-122"/>
              <a:ea typeface="黑体" panose="02010609060101010101" pitchFamily="49" charset="-122"/>
            </a:endParaRPr>
          </a:p>
        </p:txBody>
      </p:sp>
      <p:graphicFrame>
        <p:nvGraphicFramePr>
          <p:cNvPr id="123911" name="Object 7"/>
          <p:cNvGraphicFramePr>
            <a:graphicFrameLocks noChangeAspect="1"/>
          </p:cNvGraphicFramePr>
          <p:nvPr/>
        </p:nvGraphicFramePr>
        <p:xfrm>
          <a:off x="1393825" y="4932363"/>
          <a:ext cx="6396038" cy="581025"/>
        </p:xfrm>
        <a:graphic>
          <a:graphicData uri="http://schemas.openxmlformats.org/presentationml/2006/ole">
            <mc:AlternateContent xmlns:mc="http://schemas.openxmlformats.org/markup-compatibility/2006">
              <mc:Choice xmlns:v="urn:schemas-microsoft-com:vml" Requires="v">
                <p:oleObj spid="_x0000_s3099" name="" r:id="rId3" imgW="2514600" imgH="228600" progId="Equation.3">
                  <p:embed/>
                </p:oleObj>
              </mc:Choice>
              <mc:Fallback>
                <p:oleObj name="" r:id="rId3" imgW="2514600" imgH="228600" progId="Equation.3">
                  <p:embed/>
                  <p:pic>
                    <p:nvPicPr>
                      <p:cNvPr id="0" name="图片 3098"/>
                      <p:cNvPicPr/>
                      <p:nvPr/>
                    </p:nvPicPr>
                    <p:blipFill>
                      <a:blip r:embed="rId4"/>
                      <a:stretch>
                        <a:fillRect/>
                      </a:stretch>
                    </p:blipFill>
                    <p:spPr>
                      <a:xfrm>
                        <a:off x="1393825" y="4932363"/>
                        <a:ext cx="6396038" cy="581025"/>
                      </a:xfrm>
                      <a:prstGeom prst="rect">
                        <a:avLst/>
                      </a:prstGeom>
                      <a:noFill/>
                      <a:ln w="38100">
                        <a:noFill/>
                        <a:miter/>
                      </a:ln>
                    </p:spPr>
                  </p:pic>
                </p:oleObj>
              </mc:Fallback>
            </mc:AlternateContent>
          </a:graphicData>
        </a:graphic>
      </p:graphicFrame>
      <p:sp>
        <p:nvSpPr>
          <p:cNvPr id="123912" name="Text Box 8"/>
          <p:cNvSpPr txBox="1"/>
          <p:nvPr/>
        </p:nvSpPr>
        <p:spPr>
          <a:xfrm>
            <a:off x="441325" y="5513388"/>
            <a:ext cx="7799388" cy="493712"/>
          </a:xfrm>
          <a:prstGeom prst="rect">
            <a:avLst/>
          </a:prstGeom>
          <a:noFill/>
          <a:ln w="9525">
            <a:noFill/>
          </a:ln>
        </p:spPr>
        <p:txBody>
          <a:bodyPr>
            <a:spAutoFit/>
          </a:bodyPr>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s</a:t>
            </a:r>
            <a:r>
              <a:rPr lang="en-US" altLang="zh-CN" sz="2400" dirty="0">
                <a:solidFill>
                  <a:schemeClr val="accent2"/>
                </a:solidFill>
                <a:latin typeface="Times New Roman" panose="02020603050405020304" pitchFamily="18" charset="0"/>
                <a:ea typeface="黑体" panose="02010609060101010101" pitchFamily="49" charset="-122"/>
              </a:rPr>
              <a:t>/2</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a</a:t>
            </a:r>
            <a:r>
              <a:rPr lang="zh-CN" altLang="en-US" sz="2400" dirty="0">
                <a:solidFill>
                  <a:schemeClr val="accent2"/>
                </a:solidFill>
                <a:latin typeface="黑体" panose="02010609060101010101" pitchFamily="49" charset="-122"/>
                <a:ea typeface="黑体" panose="02010609060101010101" pitchFamily="49" charset="-122"/>
              </a:rPr>
              <a:t>为过采样倍率，</a:t>
            </a:r>
            <a:r>
              <a:rPr lang="en-US" altLang="zh-CN" sz="2400" dirty="0">
                <a:solidFill>
                  <a:schemeClr val="accent2"/>
                </a:solidFill>
                <a:latin typeface="Times New Roman" panose="02020603050405020304" pitchFamily="18" charset="0"/>
                <a:ea typeface="黑体" panose="02010609060101010101" pitchFamily="49" charset="-122"/>
              </a:rPr>
              <a:t>10lg(</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s</a:t>
            </a:r>
            <a:r>
              <a:rPr lang="en-US" altLang="zh-CN" sz="2400" dirty="0">
                <a:solidFill>
                  <a:schemeClr val="accent2"/>
                </a:solidFill>
                <a:latin typeface="Times New Roman" panose="02020603050405020304" pitchFamily="18" charset="0"/>
                <a:ea typeface="黑体" panose="02010609060101010101" pitchFamily="49" charset="-122"/>
              </a:rPr>
              <a:t>/2</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i="1" baseline="-25000" dirty="0">
                <a:solidFill>
                  <a:schemeClr val="accent2"/>
                </a:solidFill>
                <a:latin typeface="Times New Roman" panose="02020603050405020304" pitchFamily="18" charset="0"/>
                <a:ea typeface="黑体" panose="02010609060101010101" pitchFamily="49" charset="-122"/>
              </a:rPr>
              <a:t>a</a:t>
            </a:r>
            <a:r>
              <a:rPr lang="en-US" altLang="zh-CN" sz="2400" dirty="0">
                <a:solidFill>
                  <a:schemeClr val="accent2"/>
                </a:solidFill>
                <a:latin typeface="Times New Roman" panose="02020603050405020304" pitchFamily="18" charset="0"/>
                <a:ea typeface="黑体" panose="02010609060101010101" pitchFamily="49" charset="-122"/>
              </a:rPr>
              <a:t>)</a:t>
            </a:r>
            <a:r>
              <a:rPr lang="zh-CN" altLang="en-US" sz="2400" dirty="0">
                <a:solidFill>
                  <a:schemeClr val="accent2"/>
                </a:solidFill>
                <a:latin typeface="黑体" panose="02010609060101010101" pitchFamily="49" charset="-122"/>
                <a:ea typeface="黑体" panose="02010609060101010101" pitchFamily="49" charset="-122"/>
              </a:rPr>
              <a:t>为处理增益。</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5955" name="Text Box 11"/>
          <p:cNvSpPr txBox="1"/>
          <p:nvPr/>
        </p:nvSpPr>
        <p:spPr>
          <a:xfrm>
            <a:off x="404813" y="671513"/>
            <a:ext cx="55641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信噪比、信纳比和有效位数</a:t>
            </a:r>
            <a:endParaRPr lang="zh-CN" altLang="en-US" sz="3200" dirty="0">
              <a:latin typeface="Times New Roman" panose="02020603050405020304" pitchFamily="18" charset="0"/>
            </a:endParaRPr>
          </a:p>
        </p:txBody>
      </p:sp>
      <p:sp>
        <p:nvSpPr>
          <p:cNvPr id="125956" name="Text Box 4"/>
          <p:cNvSpPr txBox="1"/>
          <p:nvPr/>
        </p:nvSpPr>
        <p:spPr>
          <a:xfrm>
            <a:off x="455613" y="1419225"/>
            <a:ext cx="7977187" cy="3378200"/>
          </a:xfrm>
          <a:prstGeom prst="rect">
            <a:avLst/>
          </a:prstGeom>
          <a:noFill/>
          <a:ln w="9525">
            <a:noFill/>
          </a:ln>
        </p:spPr>
        <p:txBody>
          <a:bodyPr>
            <a:spAutoFit/>
          </a:bodyPr>
          <a:p>
            <a:pPr eaLnBrk="1" hangingPunct="1"/>
            <a:r>
              <a:rPr lang="zh-CN" altLang="en-US" sz="2400" dirty="0">
                <a:solidFill>
                  <a:srgbClr val="FF0000"/>
                </a:solidFill>
                <a:latin typeface="黑体" panose="02010609060101010101" pitchFamily="49" charset="-122"/>
                <a:ea typeface="黑体" panose="02010609060101010101" pitchFamily="49" charset="-122"/>
              </a:rPr>
              <a:t>信纳比（</a:t>
            </a:r>
            <a:r>
              <a:rPr lang="en-US" altLang="zh-CN" sz="2400" dirty="0">
                <a:solidFill>
                  <a:srgbClr val="FF0000"/>
                </a:solidFill>
                <a:latin typeface="Times New Roman" panose="02020603050405020304" pitchFamily="18" charset="0"/>
                <a:ea typeface="黑体" panose="02010609060101010101" pitchFamily="49" charset="-122"/>
              </a:rPr>
              <a:t>SINAD</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r>
              <a:rPr lang="zh-CN" altLang="en-US" sz="2400" dirty="0">
                <a:solidFill>
                  <a:srgbClr val="FF0000"/>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指输入信号有效值与奈奎斯特带宽中全部其他频率分量（包括噪声和谐波分量，但不包括直流分量）总有效值之比的分贝数。</a:t>
            </a:r>
            <a:r>
              <a:rPr lang="zh-CN" altLang="en-US" sz="2400" dirty="0">
                <a:solidFill>
                  <a:schemeClr val="tx1"/>
                </a:solidFill>
                <a:latin typeface="黑体" panose="02010609060101010101" pitchFamily="49" charset="-122"/>
                <a:ea typeface="黑体" panose="02010609060101010101" pitchFamily="49" charset="-122"/>
              </a:rPr>
              <a:t>信纳比和信噪比不同之处：</a:t>
            </a:r>
            <a:r>
              <a:rPr lang="zh-CN" altLang="en-US" sz="2400" dirty="0">
                <a:solidFill>
                  <a:schemeClr val="accent2"/>
                </a:solidFill>
                <a:latin typeface="黑体" panose="02010609060101010101" pitchFamily="49" charset="-122"/>
                <a:ea typeface="黑体" panose="02010609060101010101" pitchFamily="49" charset="-122"/>
              </a:rPr>
              <a:t>信纳比考虑了谐波分量，目的是强调高速</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应用中的谐波失真。</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r>
              <a:rPr lang="zh-CN" altLang="en-US" sz="2400" dirty="0">
                <a:solidFill>
                  <a:srgbClr val="FF0000"/>
                </a:solidFill>
                <a:latin typeface="黑体" panose="02010609060101010101" pitchFamily="49" charset="-122"/>
                <a:ea typeface="黑体" panose="02010609060101010101" pitchFamily="49" charset="-122"/>
              </a:rPr>
              <a:t>有效位数（</a:t>
            </a:r>
            <a:r>
              <a:rPr lang="en-US" altLang="zh-CN" sz="2400" dirty="0">
                <a:solidFill>
                  <a:srgbClr val="FF0000"/>
                </a:solidFill>
                <a:latin typeface="Times New Roman" panose="02020603050405020304" pitchFamily="18" charset="0"/>
                <a:ea typeface="黑体" panose="02010609060101010101" pitchFamily="49" charset="-122"/>
              </a:rPr>
              <a:t>ENOB</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r>
              <a:rPr lang="zh-CN" altLang="en-US" sz="2400" dirty="0">
                <a:solidFill>
                  <a:srgbClr val="FF0000"/>
                </a:solidFill>
                <a:latin typeface="黑体" panose="02010609060101010101" pitchFamily="49" charset="-122"/>
                <a:ea typeface="黑体" panose="02010609060101010101" pitchFamily="49" charset="-122"/>
              </a:rPr>
              <a:t>    </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实际可以达到的位数（由于</a:t>
            </a:r>
            <a:r>
              <a:rPr lang="en-US" altLang="zh-CN" sz="2400" dirty="0">
                <a:solidFill>
                  <a:schemeClr val="accent2"/>
                </a:solidFill>
                <a:latin typeface="Times New Roman" panose="02020603050405020304" pitchFamily="18" charset="0"/>
              </a:rPr>
              <a:t>ADC</a:t>
            </a:r>
            <a:r>
              <a:rPr lang="zh-CN" altLang="en-US" sz="2400" dirty="0">
                <a:solidFill>
                  <a:schemeClr val="accent2"/>
                </a:solidFill>
                <a:latin typeface="黑体" panose="02010609060101010101" pitchFamily="49" charset="-122"/>
                <a:ea typeface="黑体" panose="02010609060101010101" pitchFamily="49" charset="-122"/>
              </a:rPr>
              <a:t>在实际应用中存在噪声和失真，影响了实际分辨率，等效降低了位数）。</a:t>
            </a:r>
            <a:endParaRPr lang="zh-CN" altLang="en-US" sz="2400" dirty="0">
              <a:solidFill>
                <a:schemeClr val="accent2"/>
              </a:solidFill>
              <a:latin typeface="黑体" panose="02010609060101010101" pitchFamily="49" charset="-122"/>
              <a:ea typeface="黑体" panose="02010609060101010101" pitchFamily="49" charset="-122"/>
            </a:endParaRPr>
          </a:p>
        </p:txBody>
      </p:sp>
      <p:graphicFrame>
        <p:nvGraphicFramePr>
          <p:cNvPr id="125957" name="Object 5"/>
          <p:cNvGraphicFramePr>
            <a:graphicFrameLocks noChangeAspect="1"/>
          </p:cNvGraphicFramePr>
          <p:nvPr/>
        </p:nvGraphicFramePr>
        <p:xfrm>
          <a:off x="1684338" y="5027613"/>
          <a:ext cx="5616575" cy="906462"/>
        </p:xfrm>
        <a:graphic>
          <a:graphicData uri="http://schemas.openxmlformats.org/presentationml/2006/ole">
            <mc:AlternateContent xmlns:mc="http://schemas.openxmlformats.org/markup-compatibility/2006">
              <mc:Choice xmlns:v="urn:schemas-microsoft-com:vml" Requires="v">
                <p:oleObj spid="_x0000_s3097" name="" r:id="rId1" imgW="2438400" imgH="393700" progId="Equation.3">
                  <p:embed/>
                </p:oleObj>
              </mc:Choice>
              <mc:Fallback>
                <p:oleObj name="" r:id="rId1" imgW="2438400" imgH="393700" progId="Equation.3">
                  <p:embed/>
                  <p:pic>
                    <p:nvPicPr>
                      <p:cNvPr id="0" name="图片 3096"/>
                      <p:cNvPicPr/>
                      <p:nvPr/>
                    </p:nvPicPr>
                    <p:blipFill>
                      <a:blip r:embed="rId2"/>
                      <a:stretch>
                        <a:fillRect/>
                      </a:stretch>
                    </p:blipFill>
                    <p:spPr>
                      <a:xfrm>
                        <a:off x="1684338" y="5027613"/>
                        <a:ext cx="5616575" cy="906462"/>
                      </a:xfrm>
                      <a:prstGeom prst="rect">
                        <a:avLst/>
                      </a:prstGeom>
                      <a:noFill/>
                      <a:ln w="38100">
                        <a:noFill/>
                        <a:miter/>
                      </a:ln>
                    </p:spPr>
                  </p:pic>
                </p:oleObj>
              </mc:Fallback>
            </mc:AlternateContent>
          </a:graphicData>
        </a:graphic>
      </p:graphicFrame>
    </p:spTree>
  </p:cSld>
  <p:clrMapOvr>
    <a:masterClrMapping/>
  </p:clrMapOvr>
  <p:transition spd="med">
    <p:strips/>
  </p:transition>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6979" name="Text Box 11"/>
          <p:cNvSpPr txBox="1"/>
          <p:nvPr/>
        </p:nvSpPr>
        <p:spPr>
          <a:xfrm>
            <a:off x="404813" y="671513"/>
            <a:ext cx="55641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2 </a:t>
            </a:r>
            <a:r>
              <a:rPr lang="zh-CN" altLang="en-US" sz="3200" dirty="0">
                <a:latin typeface="Times New Roman" panose="02020603050405020304" pitchFamily="18" charset="0"/>
              </a:rPr>
              <a:t>信噪比、信纳比和有效位数</a:t>
            </a:r>
            <a:endParaRPr lang="zh-CN" altLang="en-US" sz="3200" dirty="0">
              <a:latin typeface="Times New Roman" panose="02020603050405020304" pitchFamily="18" charset="0"/>
            </a:endParaRPr>
          </a:p>
        </p:txBody>
      </p:sp>
      <p:sp>
        <p:nvSpPr>
          <p:cNvPr id="280580" name="Text Box 4"/>
          <p:cNvSpPr txBox="1"/>
          <p:nvPr/>
        </p:nvSpPr>
        <p:spPr>
          <a:xfrm>
            <a:off x="509588" y="5313363"/>
            <a:ext cx="8039100" cy="749300"/>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    注意：尽管</a:t>
            </a:r>
            <a:r>
              <a:rPr lang="en-US" altLang="zh-CN" sz="2400" dirty="0">
                <a:solidFill>
                  <a:srgbClr val="FF0000"/>
                </a:solidFill>
                <a:latin typeface="Times New Roman" panose="02020603050405020304" pitchFamily="18" charset="0"/>
                <a:ea typeface="黑体" panose="02010609060101010101" pitchFamily="49" charset="-122"/>
              </a:rPr>
              <a:t>AD9220</a:t>
            </a:r>
            <a:r>
              <a:rPr lang="zh-CN" altLang="en-US" sz="2400" dirty="0">
                <a:solidFill>
                  <a:srgbClr val="FF0000"/>
                </a:solidFill>
                <a:latin typeface="黑体" panose="02010609060101010101" pitchFamily="49" charset="-122"/>
                <a:ea typeface="黑体" panose="02010609060101010101" pitchFamily="49" charset="-122"/>
              </a:rPr>
              <a:t>标称的输入信号频率可达</a:t>
            </a:r>
            <a:r>
              <a:rPr lang="en-US" altLang="zh-CN" sz="2400" dirty="0">
                <a:solidFill>
                  <a:srgbClr val="FF0000"/>
                </a:solidFill>
                <a:latin typeface="Times New Roman" panose="02020603050405020304" pitchFamily="18" charset="0"/>
                <a:ea typeface="黑体" panose="02010609060101010101" pitchFamily="49" charset="-122"/>
              </a:rPr>
              <a:t>10MHz</a:t>
            </a:r>
            <a:r>
              <a:rPr lang="zh-CN" altLang="en-US" sz="2400" dirty="0">
                <a:solidFill>
                  <a:srgbClr val="FF0000"/>
                </a:solidFill>
                <a:latin typeface="黑体" panose="02010609060101010101" pitchFamily="49" charset="-122"/>
                <a:ea typeface="黑体" panose="02010609060101010101" pitchFamily="49" charset="-122"/>
              </a:rPr>
              <a:t>，但此时器件的实际分辨率却大大下降。    </a:t>
            </a:r>
            <a:endParaRPr lang="zh-CN" altLang="en-US" sz="2400" dirty="0">
              <a:solidFill>
                <a:schemeClr val="accent2"/>
              </a:solidFill>
              <a:latin typeface="黑体" panose="02010609060101010101" pitchFamily="49" charset="-122"/>
              <a:ea typeface="黑体" panose="02010609060101010101" pitchFamily="49" charset="-122"/>
            </a:endParaRPr>
          </a:p>
        </p:txBody>
      </p:sp>
      <p:pic>
        <p:nvPicPr>
          <p:cNvPr id="126981" name="Picture 5"/>
          <p:cNvPicPr>
            <a:picLocks noChangeAspect="1"/>
          </p:cNvPicPr>
          <p:nvPr/>
        </p:nvPicPr>
        <p:blipFill>
          <a:blip r:embed="rId1"/>
          <a:stretch>
            <a:fillRect/>
          </a:stretch>
        </p:blipFill>
        <p:spPr>
          <a:xfrm>
            <a:off x="4208463" y="1201738"/>
            <a:ext cx="4733925" cy="4143375"/>
          </a:xfrm>
          <a:prstGeom prst="rect">
            <a:avLst/>
          </a:prstGeom>
          <a:noFill/>
          <a:ln w="9525">
            <a:noFill/>
          </a:ln>
        </p:spPr>
      </p:pic>
      <p:sp>
        <p:nvSpPr>
          <p:cNvPr id="126982" name="Text Box 6"/>
          <p:cNvSpPr txBox="1"/>
          <p:nvPr/>
        </p:nvSpPr>
        <p:spPr>
          <a:xfrm>
            <a:off x="455613" y="1485900"/>
            <a:ext cx="3752850" cy="3560763"/>
          </a:xfrm>
          <a:prstGeom prst="rect">
            <a:avLst/>
          </a:prstGeom>
          <a:noFill/>
          <a:ln w="9525">
            <a:noFill/>
          </a:ln>
        </p:spPr>
        <p:txBody>
          <a:bodyPr>
            <a:spAutoFit/>
          </a:bodyPr>
          <a:p>
            <a:pPr eaLnBrk="1" hangingPunct="1">
              <a:spcAft>
                <a:spcPct val="50000"/>
              </a:spcAft>
            </a:pPr>
            <a:r>
              <a:rPr lang="en-US" altLang="zh-CN" sz="2400" dirty="0">
                <a:solidFill>
                  <a:schemeClr val="tx1"/>
                </a:solidFill>
                <a:latin typeface="Times New Roman" panose="02020603050405020304" pitchFamily="18" charset="0"/>
                <a:ea typeface="黑体" panose="02010609060101010101" pitchFamily="49" charset="-122"/>
              </a:rPr>
              <a:t>ENOB</a:t>
            </a:r>
            <a:r>
              <a:rPr lang="zh-CN" altLang="en-US" sz="2400" dirty="0">
                <a:solidFill>
                  <a:schemeClr val="tx1"/>
                </a:solidFill>
                <a:latin typeface="黑体" panose="02010609060101010101" pitchFamily="49" charset="-122"/>
                <a:ea typeface="黑体" panose="02010609060101010101" pitchFamily="49" charset="-122"/>
              </a:rPr>
              <a:t>和</a:t>
            </a:r>
            <a:r>
              <a:rPr lang="en-US" altLang="zh-CN" sz="2400" dirty="0">
                <a:solidFill>
                  <a:schemeClr val="tx1"/>
                </a:solidFill>
                <a:latin typeface="Times New Roman" panose="02020603050405020304" pitchFamily="18" charset="0"/>
                <a:ea typeface="黑体" panose="02010609060101010101" pitchFamily="49" charset="-122"/>
              </a:rPr>
              <a:t>SINAD</a:t>
            </a:r>
            <a:r>
              <a:rPr lang="zh-CN" altLang="en-US" sz="2400" dirty="0">
                <a:solidFill>
                  <a:schemeClr val="tx1"/>
                </a:solidFill>
                <a:latin typeface="黑体" panose="02010609060101010101" pitchFamily="49" charset="-122"/>
                <a:ea typeface="黑体" panose="02010609060101010101" pitchFamily="49" charset="-122"/>
              </a:rPr>
              <a:t>与信号频率、幅度之间的关系：</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spcAft>
                <a:spcPct val="50000"/>
              </a:spcAft>
            </a:pPr>
            <a:r>
              <a:rPr lang="en-US" altLang="zh-CN" sz="2400" dirty="0">
                <a:solidFill>
                  <a:schemeClr val="tx1"/>
                </a:solidFill>
                <a:latin typeface="黑体" panose="02010609060101010101" pitchFamily="49" charset="-122"/>
                <a:ea typeface="黑体" panose="02010609060101010101" pitchFamily="49" charset="-122"/>
              </a:rPr>
              <a:t>    </a:t>
            </a:r>
            <a:r>
              <a:rPr lang="en-US" altLang="zh-CN" sz="2400" dirty="0">
                <a:solidFill>
                  <a:schemeClr val="accent2"/>
                </a:solidFill>
                <a:latin typeface="Times New Roman" panose="02020603050405020304" pitchFamily="18" charset="0"/>
                <a:ea typeface="黑体" panose="02010609060101010101" pitchFamily="49" charset="-122"/>
              </a:rPr>
              <a:t>12bit</a:t>
            </a:r>
            <a:r>
              <a:rPr lang="zh-CN" altLang="en-US" sz="2400" dirty="0">
                <a:solidFill>
                  <a:schemeClr val="accent2"/>
                </a:solidFill>
                <a:latin typeface="Times New Roman" panose="02020603050405020304" pitchFamily="18" charset="0"/>
                <a:ea typeface="黑体" panose="02010609060101010101" pitchFamily="49" charset="-122"/>
              </a:rPr>
              <a:t>、</a:t>
            </a:r>
            <a:r>
              <a:rPr lang="en-US" altLang="zh-CN" sz="2400" dirty="0">
                <a:solidFill>
                  <a:schemeClr val="accent2"/>
                </a:solidFill>
                <a:latin typeface="Times New Roman" panose="02020603050405020304" pitchFamily="18" charset="0"/>
                <a:ea typeface="黑体" panose="02010609060101010101" pitchFamily="49" charset="-122"/>
              </a:rPr>
              <a:t>10MSPS</a:t>
            </a:r>
            <a:r>
              <a:rPr lang="zh-CN" altLang="en-US" sz="2400" dirty="0">
                <a:solidFill>
                  <a:schemeClr val="accent2"/>
                </a:solidFill>
                <a:latin typeface="黑体" panose="02010609060101010101" pitchFamily="49" charset="-122"/>
                <a:ea typeface="黑体" panose="02010609060101010101" pitchFamily="49" charset="-122"/>
              </a:rPr>
              <a:t>的高速</a:t>
            </a:r>
            <a:r>
              <a:rPr lang="en-US" altLang="zh-CN" sz="2400" dirty="0">
                <a:solidFill>
                  <a:schemeClr val="accent2"/>
                </a:solidFill>
                <a:latin typeface="Times New Roman" panose="02020603050405020304" pitchFamily="18" charset="0"/>
                <a:ea typeface="黑体" panose="02010609060101010101" pitchFamily="49" charset="-122"/>
              </a:rPr>
              <a:t>ADC——AD9220</a:t>
            </a:r>
            <a:r>
              <a:rPr lang="zh-CN" altLang="en-US" sz="2400" dirty="0">
                <a:solidFill>
                  <a:schemeClr val="accent2"/>
                </a:solidFill>
                <a:latin typeface="黑体" panose="02010609060101010101" pitchFamily="49" charset="-122"/>
                <a:ea typeface="黑体" panose="02010609060101010101" pitchFamily="49" charset="-122"/>
              </a:rPr>
              <a:t>，输入信号幅度分别比满量程低</a:t>
            </a:r>
            <a:r>
              <a:rPr lang="en-US" altLang="zh-CN" sz="2400" dirty="0">
                <a:solidFill>
                  <a:schemeClr val="accent2"/>
                </a:solidFill>
                <a:latin typeface="Times New Roman" panose="02020603050405020304" pitchFamily="18" charset="0"/>
                <a:ea typeface="黑体" panose="02010609060101010101" pitchFamily="49" charset="-122"/>
              </a:rPr>
              <a:t>0.5dB</a:t>
            </a:r>
            <a:r>
              <a:rPr lang="zh-CN" altLang="en-US" sz="2400" dirty="0">
                <a:solidFill>
                  <a:schemeClr val="accent2"/>
                </a:solidFill>
                <a:latin typeface="Times New Roman" panose="02020603050405020304" pitchFamily="18" charset="0"/>
                <a:ea typeface="黑体" panose="02010609060101010101" pitchFamily="49" charset="-122"/>
              </a:rPr>
              <a:t>、</a:t>
            </a:r>
            <a:r>
              <a:rPr lang="en-US" altLang="zh-CN" sz="2400" dirty="0">
                <a:solidFill>
                  <a:schemeClr val="accent2"/>
                </a:solidFill>
                <a:latin typeface="Times New Roman" panose="02020603050405020304" pitchFamily="18" charset="0"/>
                <a:ea typeface="黑体" panose="02010609060101010101" pitchFamily="49" charset="-122"/>
              </a:rPr>
              <a:t>6dB</a:t>
            </a:r>
            <a:r>
              <a:rPr lang="zh-CN" altLang="en-US" sz="2400" dirty="0">
                <a:solidFill>
                  <a:schemeClr val="accent2"/>
                </a:solidFill>
                <a:latin typeface="Times New Roman" panose="02020603050405020304" pitchFamily="18" charset="0"/>
                <a:ea typeface="黑体" panose="02010609060101010101" pitchFamily="49" charset="-122"/>
              </a:rPr>
              <a:t>、</a:t>
            </a:r>
            <a:r>
              <a:rPr lang="en-US" altLang="zh-CN" sz="2400" dirty="0">
                <a:solidFill>
                  <a:schemeClr val="accent2"/>
                </a:solidFill>
                <a:latin typeface="Times New Roman" panose="02020603050405020304" pitchFamily="18" charset="0"/>
                <a:ea typeface="黑体" panose="02010609060101010101" pitchFamily="49" charset="-122"/>
              </a:rPr>
              <a:t>20dB</a:t>
            </a:r>
            <a:r>
              <a:rPr lang="zh-CN" altLang="en-US" sz="2400" dirty="0">
                <a:solidFill>
                  <a:schemeClr val="accent2"/>
                </a:solidFill>
                <a:latin typeface="黑体" panose="02010609060101010101" pitchFamily="49" charset="-122"/>
                <a:ea typeface="黑体" panose="02010609060101010101" pitchFamily="49" charset="-122"/>
              </a:rPr>
              <a:t>的情况，当输入信号频率为</a:t>
            </a:r>
            <a:r>
              <a:rPr lang="en-US" altLang="zh-CN" sz="2400" dirty="0">
                <a:solidFill>
                  <a:schemeClr val="accent2"/>
                </a:solidFill>
                <a:latin typeface="Times New Roman" panose="02020603050405020304" pitchFamily="18" charset="0"/>
                <a:ea typeface="黑体" panose="02010609060101010101" pitchFamily="49" charset="-122"/>
              </a:rPr>
              <a:t>10MHz</a:t>
            </a:r>
            <a:r>
              <a:rPr lang="zh-CN" altLang="en-US" sz="2400" dirty="0">
                <a:solidFill>
                  <a:schemeClr val="accent2"/>
                </a:solidFill>
                <a:latin typeface="黑体" panose="02010609060101010101" pitchFamily="49" charset="-122"/>
                <a:ea typeface="黑体" panose="02010609060101010101" pitchFamily="49" charset="-122"/>
              </a:rPr>
              <a:t>时，</a:t>
            </a:r>
            <a:r>
              <a:rPr lang="en-US" altLang="zh-CN" sz="2400" dirty="0">
                <a:solidFill>
                  <a:schemeClr val="accent2"/>
                </a:solidFill>
                <a:latin typeface="Times New Roman" panose="02020603050405020304" pitchFamily="18" charset="0"/>
                <a:ea typeface="黑体" panose="02010609060101010101" pitchFamily="49" charset="-122"/>
              </a:rPr>
              <a:t>ENOB</a:t>
            </a:r>
            <a:r>
              <a:rPr lang="zh-CN" altLang="en-US" sz="2400" dirty="0">
                <a:solidFill>
                  <a:schemeClr val="accent2"/>
                </a:solidFill>
                <a:latin typeface="黑体" panose="02010609060101010101" pitchFamily="49" charset="-122"/>
                <a:ea typeface="黑体" panose="02010609060101010101" pitchFamily="49" charset="-122"/>
              </a:rPr>
              <a:t>分别下降至</a:t>
            </a:r>
            <a:r>
              <a:rPr lang="en-US" altLang="zh-CN" sz="2400" dirty="0">
                <a:solidFill>
                  <a:schemeClr val="accent2"/>
                </a:solidFill>
                <a:latin typeface="Times New Roman" panose="02020603050405020304" pitchFamily="18" charset="0"/>
                <a:ea typeface="黑体" panose="02010609060101010101" pitchFamily="49" charset="-122"/>
              </a:rPr>
              <a:t>10</a:t>
            </a:r>
            <a:r>
              <a:rPr lang="zh-CN" altLang="en-US" sz="2400" dirty="0">
                <a:solidFill>
                  <a:schemeClr val="accent2"/>
                </a:solidFill>
                <a:latin typeface="Times New Roman" panose="02020603050405020304" pitchFamily="18" charset="0"/>
                <a:ea typeface="黑体" panose="02010609060101010101" pitchFamily="49" charset="-122"/>
              </a:rPr>
              <a:t>、</a:t>
            </a:r>
            <a:r>
              <a:rPr lang="en-US" altLang="zh-CN" sz="2400" dirty="0">
                <a:solidFill>
                  <a:schemeClr val="accent2"/>
                </a:solidFill>
                <a:latin typeface="Times New Roman" panose="02020603050405020304" pitchFamily="18" charset="0"/>
                <a:ea typeface="黑体" panose="02010609060101010101" pitchFamily="49" charset="-122"/>
              </a:rPr>
              <a:t>9.7</a:t>
            </a:r>
            <a:r>
              <a:rPr lang="zh-CN" altLang="en-US" sz="2400" dirty="0">
                <a:solidFill>
                  <a:schemeClr val="accent2"/>
                </a:solidFill>
                <a:latin typeface="黑体" panose="02010609060101010101" pitchFamily="49" charset="-122"/>
                <a:ea typeface="黑体" panose="02010609060101010101" pitchFamily="49" charset="-122"/>
              </a:rPr>
              <a:t>和</a:t>
            </a:r>
            <a:r>
              <a:rPr lang="en-US" altLang="zh-CN" sz="2400" dirty="0">
                <a:solidFill>
                  <a:schemeClr val="accent2"/>
                </a:solidFill>
                <a:latin typeface="Times New Roman" panose="02020603050405020304" pitchFamily="18" charset="0"/>
                <a:ea typeface="黑体" panose="02010609060101010101" pitchFamily="49" charset="-122"/>
              </a:rPr>
              <a:t>8.3</a:t>
            </a:r>
            <a:r>
              <a:rPr lang="zh-CN" altLang="en-US" sz="2400" dirty="0">
                <a:solidFill>
                  <a:schemeClr val="accent2"/>
                </a:solidFill>
                <a:latin typeface="黑体" panose="02010609060101010101" pitchFamily="49" charset="-122"/>
                <a:ea typeface="黑体" panose="02010609060101010101" pitchFamily="49" charset="-122"/>
              </a:rPr>
              <a:t>位。</a:t>
            </a:r>
            <a:r>
              <a:rPr lang="zh-CN" altLang="en-US" sz="2400" dirty="0">
                <a:solidFill>
                  <a:srgbClr val="FF0000"/>
                </a:solidFill>
                <a:latin typeface="黑体" panose="02010609060101010101" pitchFamily="49" charset="-122"/>
                <a:ea typeface="黑体" panose="02010609060101010101" pitchFamily="49" charset="-122"/>
              </a:rPr>
              <a:t>    </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80580"/>
                                        </p:tgtEl>
                                        <p:attrNameLst>
                                          <p:attrName>style.visibility</p:attrName>
                                        </p:attrNameLst>
                                      </p:cBhvr>
                                      <p:to>
                                        <p:strVal val="visible"/>
                                      </p:to>
                                    </p:set>
                                    <p:animEffect transition="in" filter="blinds(horizontal)">
                                      <p:cBhvr>
                                        <p:cTn id="7" dur="500"/>
                                        <p:tgtEl>
                                          <p:spTgt spid="2805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580" grpId="0"/>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8003" name="Text Box 11"/>
          <p:cNvSpPr txBox="1"/>
          <p:nvPr/>
        </p:nvSpPr>
        <p:spPr>
          <a:xfrm>
            <a:off x="404813" y="671513"/>
            <a:ext cx="55641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3 </a:t>
            </a:r>
            <a:r>
              <a:rPr lang="zh-CN" altLang="en-US" sz="3200" dirty="0">
                <a:latin typeface="Times New Roman" panose="02020603050405020304" pitchFamily="18" charset="0"/>
              </a:rPr>
              <a:t>小信号带宽和全功率带宽</a:t>
            </a:r>
            <a:endParaRPr lang="zh-CN" altLang="en-US" sz="3200" dirty="0">
              <a:latin typeface="Times New Roman" panose="02020603050405020304" pitchFamily="18" charset="0"/>
            </a:endParaRPr>
          </a:p>
        </p:txBody>
      </p:sp>
      <p:sp>
        <p:nvSpPr>
          <p:cNvPr id="128004" name="Text Box 4"/>
          <p:cNvSpPr txBox="1"/>
          <p:nvPr/>
        </p:nvSpPr>
        <p:spPr>
          <a:xfrm>
            <a:off x="455613" y="1485900"/>
            <a:ext cx="8093075" cy="4364038"/>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模拟带宽：</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chemeClr val="accent2"/>
                </a:solidFill>
                <a:latin typeface="黑体" panose="02010609060101010101" pitchFamily="49" charset="-122"/>
                <a:ea typeface="黑体" panose="02010609060101010101" pitchFamily="49" charset="-122"/>
              </a:rPr>
              <a:t>    输入扫描频率基波在</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输出端用</a:t>
            </a:r>
            <a:r>
              <a:rPr lang="en-US" altLang="zh-CN" sz="2400" dirty="0">
                <a:solidFill>
                  <a:schemeClr val="accent2"/>
                </a:solidFill>
                <a:latin typeface="Times New Roman" panose="02020603050405020304" pitchFamily="18" charset="0"/>
                <a:ea typeface="黑体" panose="02010609060101010101" pitchFamily="49" charset="-122"/>
              </a:rPr>
              <a:t>FFT</a:t>
            </a:r>
            <a:r>
              <a:rPr lang="zh-CN" altLang="en-US" sz="2400" dirty="0">
                <a:solidFill>
                  <a:schemeClr val="accent2"/>
                </a:solidFill>
                <a:latin typeface="黑体" panose="02010609060101010101" pitchFamily="49" charset="-122"/>
                <a:ea typeface="黑体" panose="02010609060101010101" pitchFamily="49" charset="-122"/>
              </a:rPr>
              <a:t>分析得到基波频谱下降到</a:t>
            </a:r>
            <a:r>
              <a:rPr lang="en-US" altLang="zh-CN" sz="2400" dirty="0">
                <a:solidFill>
                  <a:schemeClr val="accent2"/>
                </a:solidFill>
                <a:latin typeface="Times New Roman" panose="02020603050405020304" pitchFamily="18" charset="0"/>
                <a:ea typeface="黑体" panose="02010609060101010101" pitchFamily="49" charset="-122"/>
              </a:rPr>
              <a:t>3dB</a:t>
            </a:r>
            <a:r>
              <a:rPr lang="zh-CN" altLang="en-US" sz="2400" dirty="0">
                <a:solidFill>
                  <a:schemeClr val="accent2"/>
                </a:solidFill>
                <a:latin typeface="黑体" panose="02010609060101010101" pitchFamily="49" charset="-122"/>
                <a:ea typeface="黑体" panose="02010609060101010101" pitchFamily="49" charset="-122"/>
              </a:rPr>
              <a:t>处的带宽（不考虑谐波失真和噪声影响）。</a:t>
            </a:r>
            <a:r>
              <a:rPr lang="zh-CN" altLang="en-US" sz="2400" dirty="0">
                <a:solidFill>
                  <a:srgbClr val="FF0000"/>
                </a:solidFill>
                <a:latin typeface="黑体" panose="02010609060101010101" pitchFamily="49" charset="-122"/>
                <a:ea typeface="黑体" panose="02010609060101010101" pitchFamily="49" charset="-122"/>
              </a:rPr>
              <a:t>    </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pP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小信号带宽（</a:t>
            </a:r>
            <a:r>
              <a:rPr lang="en-US" altLang="zh-CN" sz="2400" dirty="0">
                <a:solidFill>
                  <a:srgbClr val="FF0000"/>
                </a:solidFill>
                <a:latin typeface="Times New Roman" panose="02020603050405020304" pitchFamily="18" charset="0"/>
                <a:ea typeface="黑体" panose="02010609060101010101" pitchFamily="49" charset="-122"/>
              </a:rPr>
              <a:t>SSBW</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一般指输入信号幅度为</a:t>
            </a:r>
            <a:r>
              <a:rPr lang="en-US" altLang="zh-CN" sz="2400" dirty="0">
                <a:solidFill>
                  <a:schemeClr val="accent2"/>
                </a:solidFill>
                <a:latin typeface="Times New Roman" panose="02020603050405020304" pitchFamily="18" charset="0"/>
                <a:ea typeface="黑体" panose="02010609060101010101" pitchFamily="49" charset="-122"/>
              </a:rPr>
              <a:t>1/10</a:t>
            </a:r>
            <a:r>
              <a:rPr lang="zh-CN" altLang="en-US" sz="2400" dirty="0">
                <a:solidFill>
                  <a:schemeClr val="accent2"/>
                </a:solidFill>
                <a:latin typeface="黑体" panose="02010609060101010101" pitchFamily="49" charset="-122"/>
                <a:ea typeface="黑体" panose="02010609060101010101" pitchFamily="49" charset="-122"/>
              </a:rPr>
              <a:t>满量程时的模拟带宽。</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pP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全功率带宽（</a:t>
            </a:r>
            <a:r>
              <a:rPr lang="en-US" altLang="zh-CN" sz="2400" dirty="0">
                <a:solidFill>
                  <a:srgbClr val="FF0000"/>
                </a:solidFill>
                <a:latin typeface="Times New Roman" panose="02020603050405020304" pitchFamily="18" charset="0"/>
                <a:ea typeface="黑体" panose="02010609060101010101" pitchFamily="49" charset="-122"/>
              </a:rPr>
              <a:t>FPBW</a:t>
            </a:r>
            <a:r>
              <a:rPr lang="zh-CN" altLang="en-US" sz="2400" dirty="0">
                <a:solidFill>
                  <a:srgbClr val="FF0000"/>
                </a:solidFill>
                <a:latin typeface="黑体" panose="02010609060101010101" pitchFamily="49" charset="-122"/>
                <a:ea typeface="黑体" panose="02010609060101010101" pitchFamily="49" charset="-122"/>
              </a:rPr>
              <a:t>）</a:t>
            </a:r>
            <a:r>
              <a:rPr lang="en-US" altLang="zh-CN" sz="2400" dirty="0">
                <a:solidFill>
                  <a:srgbClr val="FF0000"/>
                </a:solidFill>
                <a:latin typeface="黑体" panose="02010609060101010101" pitchFamily="49" charset="-122"/>
                <a:ea typeface="黑体" panose="02010609060101010101" pitchFamily="49" charset="-122"/>
              </a:rPr>
              <a:t>:</a:t>
            </a:r>
            <a:endParaRPr lang="en-US" altLang="zh-CN" sz="2400" dirty="0">
              <a:solidFill>
                <a:srgbClr val="FF0000"/>
              </a:solidFill>
              <a:latin typeface="黑体" panose="02010609060101010101" pitchFamily="49" charset="-122"/>
              <a:ea typeface="黑体" panose="02010609060101010101" pitchFamily="49" charset="-122"/>
            </a:endParaRPr>
          </a:p>
          <a:p>
            <a:pPr eaLnBrk="1" hangingPunct="1">
              <a:lnSpc>
                <a:spcPct val="90000"/>
              </a:lnSpc>
            </a:pPr>
            <a:r>
              <a:rPr lang="en-US" altLang="zh-CN" sz="2400" dirty="0">
                <a:solidFill>
                  <a:srgbClr val="FF0000"/>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一般指满量程输入时的模拟带宽。</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pP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注意：</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Times New Roman" panose="02020603050405020304" pitchFamily="18" charset="0"/>
                <a:ea typeface="黑体" panose="02010609060101010101" pitchFamily="49" charset="-122"/>
              </a:rPr>
              <a:t>提供</a:t>
            </a:r>
            <a:r>
              <a:rPr lang="zh-CN" altLang="en-US" sz="2400" dirty="0">
                <a:solidFill>
                  <a:schemeClr val="tx1"/>
                </a:solidFill>
                <a:latin typeface="黑体" panose="02010609060101010101" pitchFamily="49" charset="-122"/>
                <a:ea typeface="黑体" panose="02010609060101010101" pitchFamily="49" charset="-122"/>
              </a:rPr>
              <a:t>了模拟带宽指标，但并不意味着在此带宽内均保持优良的失真性能和有效位数。大多数</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在输入频率达到指定带宽之前，</a:t>
            </a:r>
            <a:r>
              <a:rPr lang="en-US" altLang="zh-CN" sz="2400" dirty="0">
                <a:solidFill>
                  <a:schemeClr val="tx1"/>
                </a:solidFill>
                <a:latin typeface="Times New Roman" panose="02020603050405020304" pitchFamily="18" charset="0"/>
                <a:ea typeface="黑体" panose="02010609060101010101" pitchFamily="49" charset="-122"/>
              </a:rPr>
              <a:t>SINAD</a:t>
            </a:r>
            <a:r>
              <a:rPr lang="zh-CN" altLang="en-US" sz="2400" dirty="0">
                <a:solidFill>
                  <a:schemeClr val="tx1"/>
                </a:solidFill>
                <a:latin typeface="黑体" panose="02010609060101010101" pitchFamily="49" charset="-122"/>
                <a:ea typeface="黑体" panose="02010609060101010101" pitchFamily="49" charset="-122"/>
              </a:rPr>
              <a:t>或</a:t>
            </a:r>
            <a:r>
              <a:rPr lang="en-US" altLang="zh-CN" sz="2400" dirty="0">
                <a:solidFill>
                  <a:schemeClr val="tx1"/>
                </a:solidFill>
                <a:latin typeface="Times New Roman" panose="02020603050405020304" pitchFamily="18" charset="0"/>
                <a:ea typeface="黑体" panose="02010609060101010101" pitchFamily="49" charset="-122"/>
              </a:rPr>
              <a:t>ENOB</a:t>
            </a:r>
            <a:r>
              <a:rPr lang="zh-CN" altLang="en-US" sz="2400" dirty="0">
                <a:solidFill>
                  <a:schemeClr val="tx1"/>
                </a:solidFill>
                <a:latin typeface="黑体" panose="02010609060101010101" pitchFamily="49" charset="-122"/>
                <a:ea typeface="黑体" panose="02010609060101010101" pitchFamily="49" charset="-122"/>
              </a:rPr>
              <a:t>就已经大大下降。</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29027" name="Text Box 11"/>
          <p:cNvSpPr txBox="1"/>
          <p:nvPr/>
        </p:nvSpPr>
        <p:spPr>
          <a:xfrm>
            <a:off x="404813" y="671513"/>
            <a:ext cx="55641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3 </a:t>
            </a:r>
            <a:r>
              <a:rPr lang="zh-CN" altLang="en-US" sz="3200" dirty="0">
                <a:latin typeface="Times New Roman" panose="02020603050405020304" pitchFamily="18" charset="0"/>
              </a:rPr>
              <a:t>小信号带宽和全功率带宽</a:t>
            </a:r>
            <a:endParaRPr lang="zh-CN" altLang="en-US" sz="3200" dirty="0">
              <a:latin typeface="Times New Roman" panose="02020603050405020304" pitchFamily="18" charset="0"/>
            </a:endParaRPr>
          </a:p>
        </p:txBody>
      </p:sp>
      <p:pic>
        <p:nvPicPr>
          <p:cNvPr id="129028" name="Picture 4"/>
          <p:cNvPicPr>
            <a:picLocks noChangeAspect="1"/>
          </p:cNvPicPr>
          <p:nvPr/>
        </p:nvPicPr>
        <p:blipFill>
          <a:blip r:embed="rId1"/>
          <a:stretch>
            <a:fillRect/>
          </a:stretch>
        </p:blipFill>
        <p:spPr>
          <a:xfrm>
            <a:off x="3943350" y="1314450"/>
            <a:ext cx="5200650" cy="4229100"/>
          </a:xfrm>
          <a:prstGeom prst="rect">
            <a:avLst/>
          </a:prstGeom>
          <a:noFill/>
          <a:ln w="9525">
            <a:noFill/>
          </a:ln>
        </p:spPr>
      </p:pic>
      <p:sp>
        <p:nvSpPr>
          <p:cNvPr id="129029" name="Text Box 5"/>
          <p:cNvSpPr txBox="1"/>
          <p:nvPr/>
        </p:nvSpPr>
        <p:spPr>
          <a:xfrm>
            <a:off x="455613" y="1549400"/>
            <a:ext cx="3671887" cy="4108450"/>
          </a:xfrm>
          <a:prstGeom prst="rect">
            <a:avLst/>
          </a:prstGeom>
          <a:noFill/>
          <a:ln w="9525">
            <a:noFill/>
          </a:ln>
        </p:spPr>
        <p:txBody>
          <a:bodyPr>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某</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在</a:t>
            </a:r>
            <a:r>
              <a:rPr lang="en-US" altLang="zh-CN" sz="2400" dirty="0">
                <a:solidFill>
                  <a:schemeClr val="tx1"/>
                </a:solidFill>
                <a:latin typeface="Times New Roman" panose="02020603050405020304" pitchFamily="18" charset="0"/>
                <a:ea typeface="黑体" panose="02010609060101010101" pitchFamily="49" charset="-122"/>
              </a:rPr>
              <a:t>FPBW</a:t>
            </a:r>
            <a:r>
              <a:rPr lang="zh-CN" altLang="en-US" sz="2400" dirty="0">
                <a:solidFill>
                  <a:schemeClr val="tx1"/>
                </a:solidFill>
                <a:latin typeface="黑体" panose="02010609060101010101" pitchFamily="49" charset="-122"/>
                <a:ea typeface="黑体" panose="02010609060101010101" pitchFamily="49" charset="-122"/>
              </a:rPr>
              <a:t>为</a:t>
            </a:r>
            <a:r>
              <a:rPr lang="en-US" altLang="zh-CN" sz="2400" dirty="0">
                <a:solidFill>
                  <a:schemeClr val="tx1"/>
                </a:solidFill>
                <a:latin typeface="Times New Roman" panose="02020603050405020304" pitchFamily="18" charset="0"/>
                <a:ea typeface="黑体" panose="02010609060101010101" pitchFamily="49" charset="-122"/>
              </a:rPr>
              <a:t>1MHz</a:t>
            </a:r>
            <a:r>
              <a:rPr lang="zh-CN" altLang="en-US" sz="2400" dirty="0">
                <a:solidFill>
                  <a:schemeClr val="tx1"/>
                </a:solidFill>
                <a:latin typeface="黑体" panose="02010609060101010101" pitchFamily="49" charset="-122"/>
                <a:ea typeface="黑体" panose="02010609060101010101" pitchFamily="49" charset="-122"/>
              </a:rPr>
              <a:t>时</a:t>
            </a:r>
            <a:r>
              <a:rPr lang="en-US" altLang="zh-CN" sz="2400" dirty="0">
                <a:solidFill>
                  <a:schemeClr val="tx1"/>
                </a:solidFill>
                <a:latin typeface="Times New Roman" panose="02020603050405020304" pitchFamily="18" charset="0"/>
                <a:ea typeface="黑体" panose="02010609060101010101" pitchFamily="49" charset="-122"/>
              </a:rPr>
              <a:t>ENOB</a:t>
            </a:r>
            <a:r>
              <a:rPr lang="zh-CN" altLang="en-US" sz="2400" dirty="0">
                <a:solidFill>
                  <a:schemeClr val="tx1"/>
                </a:solidFill>
                <a:latin typeface="黑体" panose="02010609060101010101" pitchFamily="49" charset="-122"/>
                <a:ea typeface="黑体" panose="02010609060101010101" pitchFamily="49" charset="-122"/>
              </a:rPr>
              <a:t>变化和满量程频率响应：</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r>
              <a:rPr lang="en-US" altLang="zh-CN" sz="2400" dirty="0">
                <a:solidFill>
                  <a:schemeClr val="accent2"/>
                </a:solidFill>
                <a:latin typeface="黑体" panose="02010609060101010101" pitchFamily="49" charset="-122"/>
                <a:ea typeface="黑体" panose="02010609060101010101" pitchFamily="49" charset="-122"/>
              </a:rPr>
              <a:t>1. </a:t>
            </a:r>
            <a:r>
              <a:rPr lang="zh-CN" altLang="en-US" sz="2400" dirty="0">
                <a:solidFill>
                  <a:schemeClr val="accent2"/>
                </a:solidFill>
                <a:latin typeface="黑体" panose="02010609060101010101" pitchFamily="49" charset="-122"/>
                <a:ea typeface="黑体" panose="02010609060101010101" pitchFamily="49" charset="-122"/>
              </a:rPr>
              <a:t>满量程输入时，</a:t>
            </a:r>
            <a:r>
              <a:rPr lang="en-US" altLang="zh-CN" sz="2400" dirty="0">
                <a:solidFill>
                  <a:schemeClr val="accent2"/>
                </a:solidFill>
                <a:latin typeface="Times New Roman" panose="02020603050405020304" pitchFamily="18" charset="0"/>
                <a:ea typeface="黑体" panose="02010609060101010101" pitchFamily="49" charset="-122"/>
              </a:rPr>
              <a:t>ENOB</a:t>
            </a:r>
            <a:r>
              <a:rPr lang="zh-CN" altLang="en-US" sz="2400" dirty="0">
                <a:solidFill>
                  <a:schemeClr val="accent2"/>
                </a:solidFill>
                <a:latin typeface="黑体" panose="02010609060101010101" pitchFamily="49" charset="-122"/>
                <a:ea typeface="黑体" panose="02010609060101010101" pitchFamily="49" charset="-122"/>
              </a:rPr>
              <a:t>在</a:t>
            </a:r>
            <a:r>
              <a:rPr lang="en-US" altLang="zh-CN" sz="2400" dirty="0">
                <a:solidFill>
                  <a:schemeClr val="accent2"/>
                </a:solidFill>
                <a:latin typeface="Times New Roman" panose="02020603050405020304" pitchFamily="18" charset="0"/>
                <a:ea typeface="黑体" panose="02010609060101010101" pitchFamily="49" charset="-122"/>
              </a:rPr>
              <a:t>100KHz</a:t>
            </a:r>
            <a:r>
              <a:rPr lang="zh-CN" altLang="en-US" sz="2400" dirty="0">
                <a:solidFill>
                  <a:schemeClr val="accent2"/>
                </a:solidFill>
                <a:latin typeface="黑体" panose="02010609060101010101" pitchFamily="49" charset="-122"/>
                <a:ea typeface="黑体" panose="02010609060101010101" pitchFamily="49" charset="-122"/>
              </a:rPr>
              <a:t>以上急剧下降；</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r>
              <a:rPr lang="en-US" altLang="zh-CN" sz="2400" dirty="0">
                <a:solidFill>
                  <a:schemeClr val="accent2"/>
                </a:solidFill>
                <a:latin typeface="黑体" panose="02010609060101010101" pitchFamily="49" charset="-122"/>
                <a:ea typeface="黑体" panose="02010609060101010101" pitchFamily="49" charset="-122"/>
              </a:rPr>
              <a:t>2. </a:t>
            </a:r>
            <a:r>
              <a:rPr lang="zh-CN" altLang="en-US" sz="2400" dirty="0">
                <a:solidFill>
                  <a:schemeClr val="accent2"/>
                </a:solidFill>
                <a:latin typeface="黑体" panose="02010609060101010101" pitchFamily="49" charset="-122"/>
                <a:ea typeface="黑体" panose="02010609060101010101" pitchFamily="49" charset="-122"/>
              </a:rPr>
              <a:t>小信号（</a:t>
            </a:r>
            <a:r>
              <a:rPr lang="en-US" altLang="zh-CN" sz="2400" dirty="0">
                <a:solidFill>
                  <a:schemeClr val="accent2"/>
                </a:solidFill>
                <a:latin typeface="黑体" panose="02010609060101010101" pitchFamily="49" charset="-122"/>
                <a:ea typeface="黑体" panose="02010609060101010101" pitchFamily="49" charset="-122"/>
              </a:rPr>
              <a:t>-20dB</a:t>
            </a:r>
            <a:r>
              <a:rPr lang="zh-CN" altLang="en-US" sz="2400" dirty="0">
                <a:solidFill>
                  <a:schemeClr val="accent2"/>
                </a:solidFill>
                <a:latin typeface="黑体" panose="02010609060101010101" pitchFamily="49" charset="-122"/>
                <a:ea typeface="黑体" panose="02010609060101010101" pitchFamily="49" charset="-122"/>
              </a:rPr>
              <a:t>，即</a:t>
            </a:r>
            <a:r>
              <a:rPr lang="en-US" altLang="zh-CN" sz="2400" dirty="0">
                <a:solidFill>
                  <a:schemeClr val="accent2"/>
                </a:solidFill>
                <a:latin typeface="黑体" panose="02010609060101010101" pitchFamily="49" charset="-122"/>
                <a:ea typeface="黑体" panose="02010609060101010101" pitchFamily="49" charset="-122"/>
              </a:rPr>
              <a:t>1/10</a:t>
            </a:r>
            <a:r>
              <a:rPr lang="zh-CN" altLang="en-US" sz="2400" dirty="0">
                <a:solidFill>
                  <a:schemeClr val="accent2"/>
                </a:solidFill>
                <a:latin typeface="黑体" panose="02010609060101010101" pitchFamily="49" charset="-122"/>
                <a:ea typeface="黑体" panose="02010609060101010101" pitchFamily="49" charset="-122"/>
              </a:rPr>
              <a:t>满量程）输入时，</a:t>
            </a:r>
            <a:r>
              <a:rPr lang="en-US" altLang="zh-CN" sz="2400" dirty="0">
                <a:solidFill>
                  <a:schemeClr val="accent2"/>
                </a:solidFill>
                <a:latin typeface="Times New Roman" panose="02020603050405020304" pitchFamily="18" charset="0"/>
                <a:ea typeface="黑体" panose="02010609060101010101" pitchFamily="49" charset="-122"/>
              </a:rPr>
              <a:t>ENOB</a:t>
            </a:r>
            <a:r>
              <a:rPr lang="zh-CN" altLang="en-US" sz="2400" dirty="0">
                <a:solidFill>
                  <a:schemeClr val="accent2"/>
                </a:solidFill>
                <a:latin typeface="黑体" panose="02010609060101010101" pitchFamily="49" charset="-122"/>
                <a:ea typeface="黑体" panose="02010609060101010101" pitchFamily="49" charset="-122"/>
              </a:rPr>
              <a:t>仍然具有</a:t>
            </a:r>
            <a:r>
              <a:rPr lang="en-US" altLang="zh-CN" sz="2400" dirty="0">
                <a:solidFill>
                  <a:schemeClr val="accent2"/>
                </a:solidFill>
                <a:latin typeface="Times New Roman" panose="02020603050405020304" pitchFamily="18" charset="0"/>
                <a:ea typeface="黑体" panose="02010609060101010101" pitchFamily="49" charset="-122"/>
              </a:rPr>
              <a:t>1MHz</a:t>
            </a:r>
            <a:r>
              <a:rPr lang="zh-CN" altLang="en-US" sz="2400" dirty="0">
                <a:solidFill>
                  <a:schemeClr val="accent2"/>
                </a:solidFill>
                <a:latin typeface="黑体" panose="02010609060101010101" pitchFamily="49" charset="-122"/>
                <a:ea typeface="黑体" panose="02010609060101010101" pitchFamily="49" charset="-122"/>
              </a:rPr>
              <a:t>带宽。</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0051" name="Text Box 11"/>
          <p:cNvSpPr txBox="1"/>
          <p:nvPr/>
        </p:nvSpPr>
        <p:spPr>
          <a:xfrm>
            <a:off x="404813" y="671513"/>
            <a:ext cx="353853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en-US" sz="3200" dirty="0">
                <a:latin typeface="Times New Roman" panose="02020603050405020304" pitchFamily="18" charset="0"/>
              </a:rPr>
              <a:t>无杂散动态范围</a:t>
            </a:r>
            <a:endParaRPr lang="zh-CN" altLang="en-US" sz="3200" dirty="0">
              <a:latin typeface="Times New Roman" panose="02020603050405020304" pitchFamily="18" charset="0"/>
            </a:endParaRPr>
          </a:p>
        </p:txBody>
      </p:sp>
      <p:sp>
        <p:nvSpPr>
          <p:cNvPr id="130052" name="Text Box 4"/>
          <p:cNvSpPr txBox="1"/>
          <p:nvPr/>
        </p:nvSpPr>
        <p:spPr>
          <a:xfrm>
            <a:off x="455613" y="1435100"/>
            <a:ext cx="7977187" cy="1150938"/>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定义：</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r>
              <a:rPr lang="zh-CN" altLang="en-US" sz="2400" dirty="0">
                <a:solidFill>
                  <a:schemeClr val="tx1"/>
                </a:solidFill>
                <a:latin typeface="黑体" panose="02010609060101010101" pitchFamily="49" charset="-122"/>
                <a:ea typeface="黑体" panose="02010609060101010101" pitchFamily="49" charset="-122"/>
              </a:rPr>
              <a:t>    </a:t>
            </a:r>
            <a:r>
              <a:rPr lang="zh-CN" altLang="en-US" sz="2400" dirty="0">
                <a:solidFill>
                  <a:schemeClr val="accent2"/>
                </a:solidFill>
                <a:latin typeface="黑体" panose="02010609060101010101" pitchFamily="49" charset="-122"/>
                <a:ea typeface="黑体" panose="02010609060101010101" pitchFamily="49" charset="-122"/>
              </a:rPr>
              <a:t>在奈氏带宽内测得的信号幅度的有效值与最大杂散分量的有效值之比的分贝数，是通讯领域的重要指标。</a:t>
            </a:r>
            <a:endParaRPr lang="zh-CN" altLang="en-US" sz="2400" dirty="0">
              <a:solidFill>
                <a:schemeClr val="accent2"/>
              </a:solidFill>
              <a:latin typeface="黑体" panose="02010609060101010101" pitchFamily="49" charset="-122"/>
              <a:ea typeface="黑体" panose="02010609060101010101" pitchFamily="49" charset="-122"/>
            </a:endParaRPr>
          </a:p>
        </p:txBody>
      </p:sp>
      <p:graphicFrame>
        <p:nvGraphicFramePr>
          <p:cNvPr id="130053" name="Object 5"/>
          <p:cNvGraphicFramePr>
            <a:graphicFrameLocks noGrp="1" noChangeAspect="1"/>
          </p:cNvGraphicFramePr>
          <p:nvPr>
            <p:ph/>
          </p:nvPr>
        </p:nvGraphicFramePr>
        <p:xfrm>
          <a:off x="1016000" y="2697163"/>
          <a:ext cx="6778625" cy="541337"/>
        </p:xfrm>
        <a:graphic>
          <a:graphicData uri="http://schemas.openxmlformats.org/presentationml/2006/ole">
            <mc:AlternateContent xmlns:mc="http://schemas.openxmlformats.org/markup-compatibility/2006">
              <mc:Choice xmlns:v="urn:schemas-microsoft-com:vml" Requires="v">
                <p:oleObj spid="_x0000_s3100" name="" r:id="rId1" imgW="3022600" imgH="241300" progId="Equation.3">
                  <p:embed/>
                </p:oleObj>
              </mc:Choice>
              <mc:Fallback>
                <p:oleObj name="" r:id="rId1" imgW="3022600" imgH="241300" progId="Equation.3">
                  <p:embed/>
                  <p:pic>
                    <p:nvPicPr>
                      <p:cNvPr id="0" name="图片 3099"/>
                      <p:cNvPicPr/>
                      <p:nvPr/>
                    </p:nvPicPr>
                    <p:blipFill>
                      <a:blip r:embed="rId2"/>
                      <a:stretch>
                        <a:fillRect/>
                      </a:stretch>
                    </p:blipFill>
                    <p:spPr>
                      <a:xfrm>
                        <a:off x="1016000" y="2697163"/>
                        <a:ext cx="6778625" cy="541337"/>
                      </a:xfrm>
                      <a:prstGeom prst="rect">
                        <a:avLst/>
                      </a:prstGeom>
                      <a:noFill/>
                      <a:ln w="38100">
                        <a:noFill/>
                        <a:miter/>
                      </a:ln>
                    </p:spPr>
                  </p:pic>
                </p:oleObj>
              </mc:Fallback>
            </mc:AlternateContent>
          </a:graphicData>
        </a:graphic>
      </p:graphicFrame>
      <p:sp>
        <p:nvSpPr>
          <p:cNvPr id="130054" name="Text Box 6"/>
          <p:cNvSpPr txBox="1"/>
          <p:nvPr/>
        </p:nvSpPr>
        <p:spPr>
          <a:xfrm>
            <a:off x="455613" y="3295650"/>
            <a:ext cx="7977187" cy="2903538"/>
          </a:xfrm>
          <a:prstGeom prst="rect">
            <a:avLst/>
          </a:prstGeom>
          <a:noFill/>
          <a:ln w="9525">
            <a:noFill/>
          </a:ln>
        </p:spPr>
        <p:txBody>
          <a:bodyPr>
            <a:spAutoFit/>
          </a:bodyPr>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其中，</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baseline="-25000" dirty="0">
                <a:solidFill>
                  <a:schemeClr val="accent2"/>
                </a:solidFill>
                <a:latin typeface="Times New Roman" panose="02020603050405020304" pitchFamily="18" charset="0"/>
                <a:ea typeface="黑体" panose="02010609060101010101" pitchFamily="49" charset="-122"/>
              </a:rPr>
              <a:t>s</a:t>
            </a:r>
            <a:r>
              <a:rPr lang="zh-CN" altLang="en-US" sz="2400" dirty="0">
                <a:solidFill>
                  <a:schemeClr val="accent2"/>
                </a:solidFill>
                <a:latin typeface="黑体" panose="02010609060101010101" pitchFamily="49" charset="-122"/>
                <a:ea typeface="黑体" panose="02010609060101010101" pitchFamily="49" charset="-122"/>
              </a:rPr>
              <a:t>为信号幅度的有效值，</a:t>
            </a:r>
            <a:r>
              <a:rPr lang="en-US" altLang="zh-CN" sz="2400" i="1" dirty="0">
                <a:solidFill>
                  <a:schemeClr val="accent2"/>
                </a:solidFill>
                <a:latin typeface="Times New Roman" panose="02020603050405020304" pitchFamily="18" charset="0"/>
                <a:ea typeface="黑体" panose="02010609060101010101" pitchFamily="49" charset="-122"/>
              </a:rPr>
              <a:t>V</a:t>
            </a:r>
            <a:r>
              <a:rPr lang="en-US" altLang="zh-CN" sz="2400" baseline="-25000" dirty="0">
                <a:solidFill>
                  <a:schemeClr val="accent2"/>
                </a:solidFill>
                <a:latin typeface="Times New Roman" panose="02020603050405020304" pitchFamily="18" charset="0"/>
                <a:ea typeface="黑体" panose="02010609060101010101" pitchFamily="49" charset="-122"/>
              </a:rPr>
              <a:t>spurmax</a:t>
            </a:r>
            <a:r>
              <a:rPr lang="zh-CN" altLang="en-US" sz="2400" dirty="0">
                <a:solidFill>
                  <a:schemeClr val="accent2"/>
                </a:solidFill>
                <a:latin typeface="黑体" panose="02010609060101010101" pitchFamily="49" charset="-122"/>
                <a:ea typeface="黑体" panose="02010609060101010101" pitchFamily="49" charset="-122"/>
              </a:rPr>
              <a:t>为最大杂散分量的有效值。</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rgbClr val="FF0000"/>
                </a:solidFill>
                <a:latin typeface="黑体" panose="02010609060101010101" pitchFamily="49" charset="-122"/>
                <a:ea typeface="黑体" panose="02010609060101010101" pitchFamily="49" charset="-122"/>
              </a:rPr>
              <a:t>说明：</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110000"/>
              </a:lnSpc>
            </a:pPr>
            <a:r>
              <a:rPr lang="en-US" altLang="zh-CN" sz="2400" dirty="0">
                <a:solidFill>
                  <a:schemeClr val="accent2"/>
                </a:solidFill>
                <a:latin typeface="黑体" panose="02010609060101010101" pitchFamily="49" charset="-122"/>
                <a:ea typeface="黑体" panose="02010609060101010101" pitchFamily="49" charset="-122"/>
              </a:rPr>
              <a:t>    1.</a:t>
            </a:r>
            <a:r>
              <a:rPr lang="en-US" altLang="zh-CN" sz="2400" dirty="0">
                <a:solidFill>
                  <a:schemeClr val="accent2"/>
                </a:solidFill>
                <a:latin typeface="Times New Roman" panose="02020603050405020304" pitchFamily="18" charset="0"/>
                <a:ea typeface="黑体" panose="02010609060101010101" pitchFamily="49" charset="-122"/>
              </a:rPr>
              <a:t>SFDR</a:t>
            </a:r>
            <a:r>
              <a:rPr lang="zh-CN" altLang="en-US" sz="2400" dirty="0">
                <a:solidFill>
                  <a:schemeClr val="accent2"/>
                </a:solidFill>
                <a:latin typeface="黑体" panose="02010609060101010101" pitchFamily="49" charset="-122"/>
                <a:ea typeface="黑体" panose="02010609060101010101" pitchFamily="49" charset="-122"/>
              </a:rPr>
              <a:t>通常是输入信号幅度的函数</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en-US" altLang="zh-CN" sz="2400" dirty="0">
                <a:solidFill>
                  <a:schemeClr val="accent2"/>
                </a:solidFill>
                <a:latin typeface="黑体" panose="02010609060101010101" pitchFamily="49" charset="-122"/>
                <a:ea typeface="黑体" panose="02010609060101010101" pitchFamily="49" charset="-122"/>
              </a:rPr>
              <a:t>    2.</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的最大</a:t>
            </a:r>
            <a:r>
              <a:rPr lang="en-US" altLang="zh-CN" sz="2400" dirty="0">
                <a:solidFill>
                  <a:schemeClr val="accent2"/>
                </a:solidFill>
                <a:latin typeface="Times New Roman" panose="02020603050405020304" pitchFamily="18" charset="0"/>
                <a:ea typeface="黑体" panose="02010609060101010101" pitchFamily="49" charset="-122"/>
              </a:rPr>
              <a:t>SFDR</a:t>
            </a:r>
            <a:r>
              <a:rPr lang="zh-CN" altLang="en-US" sz="2400" dirty="0">
                <a:solidFill>
                  <a:schemeClr val="accent2"/>
                </a:solidFill>
                <a:latin typeface="黑体" panose="02010609060101010101" pitchFamily="49" charset="-122"/>
                <a:ea typeface="黑体" panose="02010609060101010101" pitchFamily="49" charset="-122"/>
              </a:rPr>
              <a:t>一般发生在输入信号低于满度几个分贝时。</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1075" name="Text Box 11"/>
          <p:cNvSpPr txBox="1"/>
          <p:nvPr/>
        </p:nvSpPr>
        <p:spPr>
          <a:xfrm>
            <a:off x="404813" y="671513"/>
            <a:ext cx="353853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en-US" sz="3200" dirty="0">
                <a:latin typeface="Times New Roman" panose="02020603050405020304" pitchFamily="18" charset="0"/>
              </a:rPr>
              <a:t>无杂散动态范围</a:t>
            </a:r>
            <a:endParaRPr lang="zh-CN" altLang="en-US" sz="3200" dirty="0">
              <a:latin typeface="Times New Roman" panose="02020603050405020304" pitchFamily="18" charset="0"/>
            </a:endParaRPr>
          </a:p>
        </p:txBody>
      </p:sp>
      <p:sp>
        <p:nvSpPr>
          <p:cNvPr id="131076" name="Text Box 4"/>
          <p:cNvSpPr txBox="1"/>
          <p:nvPr/>
        </p:nvSpPr>
        <p:spPr>
          <a:xfrm>
            <a:off x="723900" y="4818063"/>
            <a:ext cx="7977188" cy="1406525"/>
          </a:xfrm>
          <a:prstGeom prst="rect">
            <a:avLst/>
          </a:prstGeom>
          <a:noFill/>
          <a:ln w="9525">
            <a:noFill/>
          </a:ln>
        </p:spPr>
        <p:txBody>
          <a:bodyPr>
            <a:spAutoFit/>
          </a:bodyPr>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横坐标：输入信号相对于满度的分贝数</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纵坐标：杂散分量相对于满度的分贝数</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虚线：输入信号动态范围的参考线</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90000"/>
              </a:lnSpc>
            </a:pPr>
            <a:r>
              <a:rPr lang="zh-CN" altLang="en-US" sz="2400" dirty="0">
                <a:solidFill>
                  <a:schemeClr val="accent2"/>
                </a:solidFill>
                <a:latin typeface="黑体" panose="02010609060101010101" pitchFamily="49" charset="-122"/>
                <a:ea typeface="黑体" panose="02010609060101010101" pitchFamily="49" charset="-122"/>
              </a:rPr>
              <a:t>阴影部分：参考线和杂散信号之差，即</a:t>
            </a:r>
            <a:r>
              <a:rPr lang="en-US" altLang="zh-CN" sz="2400" dirty="0">
                <a:solidFill>
                  <a:schemeClr val="accent2"/>
                </a:solidFill>
                <a:latin typeface="Times New Roman" panose="02020603050405020304" pitchFamily="18" charset="0"/>
                <a:ea typeface="黑体" panose="02010609060101010101" pitchFamily="49" charset="-122"/>
              </a:rPr>
              <a:t>SFDR</a:t>
            </a:r>
            <a:endParaRPr lang="en-US" altLang="zh-CN" sz="2400" dirty="0">
              <a:solidFill>
                <a:schemeClr val="accent2"/>
              </a:solidFill>
              <a:latin typeface="Times New Roman" panose="02020603050405020304" pitchFamily="18" charset="0"/>
              <a:ea typeface="黑体" panose="02010609060101010101" pitchFamily="49" charset="-122"/>
            </a:endParaRPr>
          </a:p>
        </p:txBody>
      </p:sp>
      <p:pic>
        <p:nvPicPr>
          <p:cNvPr id="131077" name="Picture 5"/>
          <p:cNvPicPr>
            <a:picLocks noChangeAspect="1"/>
          </p:cNvPicPr>
          <p:nvPr/>
        </p:nvPicPr>
        <p:blipFill>
          <a:blip r:embed="rId1"/>
          <a:stretch>
            <a:fillRect/>
          </a:stretch>
        </p:blipFill>
        <p:spPr>
          <a:xfrm>
            <a:off x="955675" y="1312863"/>
            <a:ext cx="7248525" cy="3343275"/>
          </a:xfrm>
          <a:prstGeom prst="rect">
            <a:avLst/>
          </a:prstGeom>
          <a:noFill/>
          <a:ln w="9525">
            <a:noFill/>
          </a:ln>
        </p:spPr>
      </p:pic>
    </p:spTree>
  </p:cSld>
  <p:clrMapOvr>
    <a:masterClrMapping/>
  </p:clrMapOvr>
  <p:transition spd="med">
    <p:strips/>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2099" name="Text Box 11"/>
          <p:cNvSpPr txBox="1"/>
          <p:nvPr/>
        </p:nvSpPr>
        <p:spPr>
          <a:xfrm>
            <a:off x="404813" y="671513"/>
            <a:ext cx="353853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4 </a:t>
            </a:r>
            <a:r>
              <a:rPr lang="zh-CN" altLang="en-US" sz="3200" dirty="0">
                <a:latin typeface="Times New Roman" panose="02020603050405020304" pitchFamily="18" charset="0"/>
              </a:rPr>
              <a:t>无杂散动态范围</a:t>
            </a:r>
            <a:endParaRPr lang="zh-CN" altLang="en-US" sz="3200" dirty="0">
              <a:latin typeface="Times New Roman" panose="02020603050405020304" pitchFamily="18" charset="0"/>
            </a:endParaRPr>
          </a:p>
        </p:txBody>
      </p:sp>
      <p:sp>
        <p:nvSpPr>
          <p:cNvPr id="132100" name="Text Box 4"/>
          <p:cNvSpPr txBox="1"/>
          <p:nvPr/>
        </p:nvSpPr>
        <p:spPr>
          <a:xfrm>
            <a:off x="404813" y="1458913"/>
            <a:ext cx="7977187" cy="3743325"/>
          </a:xfrm>
          <a:prstGeom prst="rect">
            <a:avLst/>
          </a:prstGeom>
          <a:noFill/>
          <a:ln w="9525">
            <a:noFill/>
          </a:ln>
        </p:spPr>
        <p:txBody>
          <a:bodyPr>
            <a:spAutoFit/>
          </a:bodyPr>
          <a:p>
            <a:pPr eaLnBrk="1" hangingPunct="1"/>
            <a:r>
              <a:rPr lang="zh-CN" altLang="en-US" sz="2400" dirty="0">
                <a:solidFill>
                  <a:schemeClr val="tx1"/>
                </a:solidFill>
                <a:latin typeface="黑体" panose="02010609060101010101" pitchFamily="49" charset="-122"/>
                <a:ea typeface="黑体" panose="02010609060101010101" pitchFamily="49" charset="-122"/>
              </a:rPr>
              <a:t>    根据输入信号的幅度不同，其最大的杂散分量的来源也不同：</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r>
              <a:rPr lang="en-US" altLang="zh-CN" sz="2400" dirty="0">
                <a:solidFill>
                  <a:schemeClr val="accent2"/>
                </a:solidFill>
                <a:latin typeface="黑体" panose="02010609060101010101" pitchFamily="49" charset="-122"/>
                <a:ea typeface="黑体" panose="02010609060101010101" pitchFamily="49" charset="-122"/>
              </a:rPr>
              <a:t>    1.</a:t>
            </a:r>
            <a:r>
              <a:rPr lang="zh-CN" altLang="en-US" sz="2400" dirty="0">
                <a:solidFill>
                  <a:schemeClr val="accent2"/>
                </a:solidFill>
                <a:latin typeface="黑体" panose="02010609060101010101" pitchFamily="49" charset="-122"/>
                <a:ea typeface="黑体" panose="02010609060101010101" pitchFamily="49" charset="-122"/>
              </a:rPr>
              <a:t>当输入信号幅度接近满度值时，其最大杂散分量的来源由其基波的前几阶谐波分量中的某一最大分量决定，由</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内部模拟信号放大器和采样保持器的非线性所产生失真主导；</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r>
              <a:rPr lang="en-US" altLang="zh-CN" sz="2400" dirty="0">
                <a:solidFill>
                  <a:schemeClr val="accent2"/>
                </a:solidFill>
                <a:latin typeface="黑体" panose="02010609060101010101" pitchFamily="49" charset="-122"/>
                <a:ea typeface="黑体" panose="02010609060101010101" pitchFamily="49" charset="-122"/>
              </a:rPr>
              <a:t>    2.</a:t>
            </a:r>
            <a:r>
              <a:rPr lang="zh-CN" altLang="en-US" sz="2400" dirty="0">
                <a:solidFill>
                  <a:schemeClr val="accent2"/>
                </a:solidFill>
                <a:latin typeface="黑体" panose="02010609060101010101" pitchFamily="49" charset="-122"/>
                <a:ea typeface="黑体" panose="02010609060101010101" pitchFamily="49" charset="-122"/>
              </a:rPr>
              <a:t>当输入信号幅度低于满度几个分贝时，其杂散分量不直接取决于其输入信号的谐波分量，这是由于</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的非线性和其他因素所致，由量化噪声和量化非线性所产生的失真主导。</a:t>
            </a:r>
            <a:endParaRPr lang="zh-CN" altLang="en-US" sz="2400" dirty="0">
              <a:solidFill>
                <a:schemeClr val="accent2"/>
              </a:solidFill>
              <a:latin typeface="黑体" panose="02010609060101010101" pitchFamily="49" charset="-122"/>
              <a:ea typeface="黑体" panose="02010609060101010101" pitchFamily="49" charset="-122"/>
            </a:endParaRPr>
          </a:p>
        </p:txBody>
      </p:sp>
      <p:sp>
        <p:nvSpPr>
          <p:cNvPr id="285701" name="Text Box 5"/>
          <p:cNvSpPr txBox="1"/>
          <p:nvPr/>
        </p:nvSpPr>
        <p:spPr>
          <a:xfrm>
            <a:off x="404813" y="5173663"/>
            <a:ext cx="7977187" cy="749300"/>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    可见，</a:t>
            </a:r>
            <a:r>
              <a:rPr lang="en-US" altLang="zh-CN" sz="2400" dirty="0">
                <a:solidFill>
                  <a:srgbClr val="FF0000"/>
                </a:solidFill>
                <a:latin typeface="Times New Roman" panose="02020603050405020304" pitchFamily="18" charset="0"/>
                <a:ea typeface="黑体" panose="02010609060101010101" pitchFamily="49" charset="-122"/>
              </a:rPr>
              <a:t>SFDR</a:t>
            </a:r>
            <a:r>
              <a:rPr lang="zh-CN" altLang="en-US" sz="2400" dirty="0">
                <a:solidFill>
                  <a:srgbClr val="FF0000"/>
                </a:solidFill>
                <a:latin typeface="黑体" panose="02010609060101010101" pitchFamily="49" charset="-122"/>
                <a:ea typeface="黑体" panose="02010609060101010101" pitchFamily="49" charset="-122"/>
              </a:rPr>
              <a:t>是度量</a:t>
            </a:r>
            <a:r>
              <a:rPr lang="en-US" altLang="zh-CN" sz="2400" dirty="0">
                <a:solidFill>
                  <a:srgbClr val="FF0000"/>
                </a:solidFill>
                <a:latin typeface="Times New Roman" panose="02020603050405020304" pitchFamily="18" charset="0"/>
                <a:ea typeface="黑体" panose="02010609060101010101" pitchFamily="49" charset="-122"/>
              </a:rPr>
              <a:t>ADC</a:t>
            </a:r>
            <a:r>
              <a:rPr lang="zh-CN" altLang="en-US" sz="2400" dirty="0">
                <a:solidFill>
                  <a:srgbClr val="FF0000"/>
                </a:solidFill>
                <a:latin typeface="黑体" panose="02010609060101010101" pitchFamily="49" charset="-122"/>
                <a:ea typeface="黑体" panose="02010609060101010101" pitchFamily="49" charset="-122"/>
              </a:rPr>
              <a:t>失真性能的综合指标，而不论失真的来源如何。</a:t>
            </a:r>
            <a:endParaRPr lang="zh-CN" altLang="en-US" sz="2400" dirty="0">
              <a:solidFill>
                <a:srgbClr val="FF0000"/>
              </a:solidFill>
              <a:latin typeface="黑体" panose="02010609060101010101" pitchFamily="49" charset="-122"/>
              <a:ea typeface="黑体" panose="02010609060101010101" pitchFamily="49" charset="-122"/>
            </a:endParaRPr>
          </a:p>
        </p:txBody>
      </p:sp>
      <p:sp>
        <p:nvSpPr>
          <p:cNvPr id="285702" name="Text Box 6"/>
          <p:cNvSpPr txBox="1"/>
          <p:nvPr/>
        </p:nvSpPr>
        <p:spPr>
          <a:xfrm>
            <a:off x="404813" y="5202238"/>
            <a:ext cx="7977187" cy="749300"/>
          </a:xfrm>
          <a:prstGeom prst="rect">
            <a:avLst/>
          </a:prstGeom>
          <a:noFill/>
          <a:ln w="9525">
            <a:noFill/>
          </a:ln>
        </p:spPr>
        <p:txBody>
          <a:bodyPr>
            <a:spAutoFit/>
          </a:bodyPr>
          <a:p>
            <a:pPr eaLnBrk="1" hangingPunct="1">
              <a:lnSpc>
                <a:spcPct val="90000"/>
              </a:lnSpc>
            </a:pPr>
            <a:r>
              <a:rPr lang="zh-CN" altLang="en-US" sz="2400" dirty="0">
                <a:solidFill>
                  <a:srgbClr val="FF0000"/>
                </a:solidFill>
                <a:latin typeface="黑体" panose="02010609060101010101" pitchFamily="49" charset="-122"/>
                <a:ea typeface="黑体" panose="02010609060101010101" pitchFamily="49" charset="-122"/>
              </a:rPr>
              <a:t>    通过过采样可以等效的提高器分辨率，从而提高</a:t>
            </a:r>
            <a:r>
              <a:rPr lang="en-US" altLang="zh-CN" sz="2400" dirty="0">
                <a:solidFill>
                  <a:srgbClr val="FF0000"/>
                </a:solidFill>
                <a:latin typeface="Times New Roman" panose="02020603050405020304" pitchFamily="18" charset="0"/>
                <a:ea typeface="黑体" panose="02010609060101010101" pitchFamily="49" charset="-122"/>
              </a:rPr>
              <a:t>ADC</a:t>
            </a:r>
            <a:r>
              <a:rPr lang="zh-CN" altLang="en-US" sz="2400" dirty="0">
                <a:solidFill>
                  <a:srgbClr val="FF0000"/>
                </a:solidFill>
                <a:latin typeface="黑体" panose="02010609060101010101" pitchFamily="49" charset="-122"/>
                <a:ea typeface="黑体" panose="02010609060101010101" pitchFamily="49" charset="-122"/>
              </a:rPr>
              <a:t>的</a:t>
            </a:r>
            <a:r>
              <a:rPr lang="en-US" altLang="zh-CN" sz="2400" dirty="0">
                <a:solidFill>
                  <a:srgbClr val="FF0000"/>
                </a:solidFill>
                <a:latin typeface="Times New Roman" panose="02020603050405020304" pitchFamily="18" charset="0"/>
                <a:ea typeface="黑体" panose="02010609060101010101" pitchFamily="49" charset="-122"/>
              </a:rPr>
              <a:t>SNR</a:t>
            </a:r>
            <a:r>
              <a:rPr lang="zh-CN" altLang="en-US" sz="2400" dirty="0">
                <a:solidFill>
                  <a:srgbClr val="FF0000"/>
                </a:solidFill>
                <a:latin typeface="黑体" panose="02010609060101010101" pitchFamily="49" charset="-122"/>
                <a:ea typeface="黑体" panose="02010609060101010101" pitchFamily="49" charset="-122"/>
              </a:rPr>
              <a:t>，但不能增加</a:t>
            </a:r>
            <a:r>
              <a:rPr lang="en-US" altLang="zh-CN" sz="2400" dirty="0">
                <a:solidFill>
                  <a:srgbClr val="FF0000"/>
                </a:solidFill>
                <a:latin typeface="Times New Roman" panose="02020603050405020304" pitchFamily="18" charset="0"/>
                <a:ea typeface="黑体" panose="02010609060101010101" pitchFamily="49" charset="-122"/>
              </a:rPr>
              <a:t>SFDR</a:t>
            </a:r>
            <a:r>
              <a:rPr lang="zh-CN" altLang="en-US" sz="2400" dirty="0">
                <a:solidFill>
                  <a:srgbClr val="FF0000"/>
                </a:solidFill>
                <a:latin typeface="黑体" panose="02010609060101010101" pitchFamily="49" charset="-122"/>
                <a:ea typeface="黑体" panose="02010609060101010101" pitchFamily="49" charset="-122"/>
              </a:rPr>
              <a:t>。</a:t>
            </a:r>
            <a:endParaRPr lang="zh-CN" altLang="en-US" sz="2400"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85701"/>
                                        </p:tgtEl>
                                        <p:attrNameLst>
                                          <p:attrName>style.visibility</p:attrName>
                                        </p:attrNameLst>
                                      </p:cBhvr>
                                      <p:to>
                                        <p:strVal val="visible"/>
                                      </p:to>
                                    </p:set>
                                    <p:animEffect transition="in" filter="blinds(horizontal)">
                                      <p:cBhvr>
                                        <p:cTn id="7" dur="500"/>
                                        <p:tgtEl>
                                          <p:spTgt spid="285701"/>
                                        </p:tgtEl>
                                      </p:cBhvr>
                                    </p:animEffect>
                                  </p:childTnLst>
                                </p:cTn>
                              </p:par>
                            </p:childTnLst>
                          </p:cTn>
                        </p:par>
                      </p:childTnLst>
                    </p:cTn>
                  </p:par>
                  <p:par>
                    <p:cTn id="8" fill="hold">
                      <p:stCondLst>
                        <p:cond delay="indefinite"/>
                      </p:stCondLst>
                      <p:childTnLst>
                        <p:par>
                          <p:cTn id="9" fill="hold">
                            <p:stCondLst>
                              <p:cond delay="0"/>
                            </p:stCondLst>
                            <p:childTnLst>
                              <p:par>
                                <p:cTn id="10" presetID="3" presetClass="exit" presetSubtype="10" fill="hold" grpId="1" nodeType="clickEffect">
                                  <p:stCondLst>
                                    <p:cond delay="0"/>
                                  </p:stCondLst>
                                  <p:childTnLst>
                                    <p:animEffect transition="out" filter="blinds(horizontal)">
                                      <p:cBhvr>
                                        <p:cTn id="11" dur="500"/>
                                        <p:tgtEl>
                                          <p:spTgt spid="285701"/>
                                        </p:tgtEl>
                                      </p:cBhvr>
                                    </p:animEffect>
                                    <p:set>
                                      <p:cBhvr>
                                        <p:cTn id="12" dur="1" fill="hold">
                                          <p:stCondLst>
                                            <p:cond delay="499"/>
                                          </p:stCondLst>
                                        </p:cTn>
                                        <p:tgtEl>
                                          <p:spTgt spid="285701"/>
                                        </p:tgtEl>
                                        <p:attrNameLst>
                                          <p:attrName>style.visibility</p:attrName>
                                        </p:attrNameLst>
                                      </p:cBhvr>
                                      <p:to>
                                        <p:strVal val="hidden"/>
                                      </p:to>
                                    </p:set>
                                  </p:childTnLst>
                                </p:cTn>
                              </p:par>
                              <p:par>
                                <p:cTn id="13" presetID="3" presetClass="entr" presetSubtype="10" fill="hold" grpId="0" nodeType="withEffect">
                                  <p:stCondLst>
                                    <p:cond delay="0"/>
                                  </p:stCondLst>
                                  <p:childTnLst>
                                    <p:set>
                                      <p:cBhvr>
                                        <p:cTn id="14" dur="1" fill="hold">
                                          <p:stCondLst>
                                            <p:cond delay="0"/>
                                          </p:stCondLst>
                                        </p:cTn>
                                        <p:tgtEl>
                                          <p:spTgt spid="285702"/>
                                        </p:tgtEl>
                                        <p:attrNameLst>
                                          <p:attrName>style.visibility</p:attrName>
                                        </p:attrNameLst>
                                      </p:cBhvr>
                                      <p:to>
                                        <p:strVal val="visible"/>
                                      </p:to>
                                    </p:set>
                                    <p:animEffect transition="in" filter="blinds(horizontal)">
                                      <p:cBhvr>
                                        <p:cTn id="15" dur="500"/>
                                        <p:tgtEl>
                                          <p:spTgt spid="2857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701" grpId="0"/>
      <p:bldP spid="285701" grpId="1"/>
      <p:bldP spid="285702"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3123" name="Text Box 11"/>
          <p:cNvSpPr txBox="1"/>
          <p:nvPr/>
        </p:nvSpPr>
        <p:spPr>
          <a:xfrm>
            <a:off x="404813" y="671513"/>
            <a:ext cx="31130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双音交调失真</a:t>
            </a:r>
            <a:endParaRPr lang="zh-CN" altLang="en-US" sz="3200" dirty="0">
              <a:latin typeface="Times New Roman" panose="02020603050405020304" pitchFamily="18" charset="0"/>
            </a:endParaRPr>
          </a:p>
        </p:txBody>
      </p:sp>
      <p:sp>
        <p:nvSpPr>
          <p:cNvPr id="133124" name="Text Box 4"/>
          <p:cNvSpPr txBox="1"/>
          <p:nvPr/>
        </p:nvSpPr>
        <p:spPr>
          <a:xfrm>
            <a:off x="404813" y="1611313"/>
            <a:ext cx="8172450" cy="4354512"/>
          </a:xfrm>
          <a:prstGeom prst="rect">
            <a:avLst/>
          </a:prstGeom>
          <a:noFill/>
          <a:ln w="9525">
            <a:noFill/>
          </a:ln>
        </p:spPr>
        <p:txBody>
          <a:bodyPr>
            <a:spAutoFit/>
          </a:bodyPr>
          <a:p>
            <a:pPr eaLnBrk="1" hangingPunct="1">
              <a:lnSpc>
                <a:spcPct val="110000"/>
              </a:lnSpc>
              <a:spcBef>
                <a:spcPct val="50000"/>
              </a:spcBef>
            </a:pPr>
            <a:r>
              <a:rPr lang="zh-CN" altLang="en-US" sz="2400" dirty="0">
                <a:solidFill>
                  <a:schemeClr val="tx1"/>
                </a:solidFill>
                <a:latin typeface="黑体" panose="02010609060101010101" pitchFamily="49" charset="-122"/>
                <a:ea typeface="黑体" panose="02010609060101010101" pitchFamily="49" charset="-122"/>
              </a:rPr>
              <a:t>    总谐波失真衡量的是</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纯</a:t>
            </a:r>
            <a:r>
              <a:rPr lang="zh-CN" altLang="en-US" sz="2400" dirty="0">
                <a:solidFill>
                  <a:schemeClr val="tx1"/>
                </a:solidFill>
                <a:latin typeface="Times New Roman" panose="02020603050405020304" pitchFamily="18" charset="0"/>
                <a:ea typeface="黑体" panose="02010609060101010101" pitchFamily="49" charset="-122"/>
              </a:rPr>
              <a:t>”</a:t>
            </a:r>
            <a:r>
              <a:rPr lang="zh-CN" altLang="en-US" sz="2400" dirty="0">
                <a:solidFill>
                  <a:schemeClr val="tx1"/>
                </a:solidFill>
                <a:latin typeface="黑体" panose="02010609060101010101" pitchFamily="49" charset="-122"/>
                <a:ea typeface="黑体" panose="02010609060101010101" pitchFamily="49" charset="-122"/>
              </a:rPr>
              <a:t>正弦波（单音正弦波）作用于</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输入端时</a:t>
            </a:r>
            <a:r>
              <a:rPr lang="en-US" altLang="zh-CN" sz="2400" dirty="0">
                <a:solidFill>
                  <a:schemeClr val="tx1"/>
                </a:solidFill>
                <a:latin typeface="Times New Roman" panose="02020603050405020304" pitchFamily="18" charset="0"/>
              </a:rPr>
              <a:t>ADC</a:t>
            </a:r>
            <a:r>
              <a:rPr lang="zh-CN" altLang="en-US" sz="2400" dirty="0">
                <a:solidFill>
                  <a:schemeClr val="tx1"/>
                </a:solidFill>
                <a:latin typeface="黑体" panose="02010609060101010101" pitchFamily="49" charset="-122"/>
                <a:ea typeface="黑体" panose="02010609060101010101" pitchFamily="49" charset="-122"/>
              </a:rPr>
              <a:t>的谐波失真性能。但实际应用中，输入信号往往由多个频率分量构成。因此，考察双音交调失真性能更接近真实情况。</a:t>
            </a:r>
            <a:endParaRPr lang="zh-CN" altLang="en-US" sz="2400" dirty="0">
              <a:solidFill>
                <a:schemeClr val="tx1"/>
              </a:solidFill>
              <a:latin typeface="黑体" panose="02010609060101010101" pitchFamily="49" charset="-122"/>
              <a:ea typeface="黑体" panose="02010609060101010101" pitchFamily="49" charset="-122"/>
            </a:endParaRPr>
          </a:p>
          <a:p>
            <a:pPr eaLnBrk="1" hangingPunct="1">
              <a:lnSpc>
                <a:spcPct val="11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当两个频率信号</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和</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加至</a:t>
            </a:r>
            <a:r>
              <a:rPr lang="en-US" altLang="zh-CN" sz="2400" dirty="0">
                <a:solidFill>
                  <a:schemeClr val="accent2"/>
                </a:solidFill>
                <a:latin typeface="Times New Roman" panose="02020603050405020304" pitchFamily="18" charset="0"/>
                <a:ea typeface="黑体" panose="02010609060101010101" pitchFamily="49" charset="-122"/>
              </a:rPr>
              <a:t>ADC</a:t>
            </a:r>
            <a:r>
              <a:rPr lang="zh-CN" altLang="en-US" sz="2400" dirty="0">
                <a:solidFill>
                  <a:schemeClr val="accent2"/>
                </a:solidFill>
                <a:latin typeface="黑体" panose="02010609060101010101" pitchFamily="49" charset="-122"/>
                <a:ea typeface="黑体" panose="02010609060101010101" pitchFamily="49" charset="-122"/>
              </a:rPr>
              <a:t>的输入端时，由于模数转换的非线性，其输出频谱中将含有以</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的和频、差频形式存在的交调失真分量，它们在频谱中的位置为：</a:t>
            </a:r>
            <a:endParaRPr lang="zh-CN" altLang="en-US" sz="2400" dirty="0">
              <a:solidFill>
                <a:schemeClr val="accent2"/>
              </a:solidFill>
              <a:latin typeface="黑体" panose="02010609060101010101" pitchFamily="49" charset="-122"/>
              <a:ea typeface="黑体" panose="02010609060101010101" pitchFamily="49" charset="-122"/>
            </a:endParaRPr>
          </a:p>
          <a:p>
            <a:pPr algn="ctr" eaLnBrk="1" hangingPunct="1">
              <a:lnSpc>
                <a:spcPct val="110000"/>
              </a:lnSpc>
              <a:spcBef>
                <a:spcPct val="50000"/>
              </a:spcBef>
            </a:pPr>
            <a:r>
              <a:rPr lang="en-US" altLang="zh-CN" dirty="0">
                <a:solidFill>
                  <a:schemeClr val="tx1"/>
                </a:solidFill>
                <a:latin typeface="Times New Roman" panose="02020603050405020304" pitchFamily="18" charset="0"/>
                <a:ea typeface="黑体" panose="02010609060101010101" pitchFamily="49" charset="-122"/>
              </a:rPr>
              <a:t>|</a:t>
            </a:r>
            <a:r>
              <a:rPr lang="en-US" altLang="zh-CN" dirty="0">
                <a:solidFill>
                  <a:schemeClr val="tx1"/>
                </a:solidFill>
                <a:latin typeface="Times New Roman" panose="02020603050405020304" pitchFamily="18" charset="0"/>
              </a:rPr>
              <a:t>±</a:t>
            </a:r>
            <a:r>
              <a:rPr lang="en-US" altLang="zh-CN" i="1" dirty="0">
                <a:solidFill>
                  <a:schemeClr val="tx1"/>
                </a:solidFill>
                <a:latin typeface="Times New Roman" panose="02020603050405020304" pitchFamily="18" charset="0"/>
              </a:rPr>
              <a:t>p</a:t>
            </a:r>
            <a:r>
              <a:rPr lang="en-US" altLang="zh-CN" i="1" dirty="0">
                <a:solidFill>
                  <a:schemeClr val="tx1"/>
                </a:solidFill>
                <a:latin typeface="Times New Roman" panose="02020603050405020304" pitchFamily="18" charset="0"/>
                <a:ea typeface="黑体" panose="02010609060101010101" pitchFamily="49" charset="-122"/>
              </a:rPr>
              <a:t>f</a:t>
            </a:r>
            <a:r>
              <a:rPr lang="en-US" altLang="zh-CN" baseline="-25000" dirty="0">
                <a:solidFill>
                  <a:schemeClr val="tx1"/>
                </a:solidFill>
                <a:latin typeface="Times New Roman" panose="02020603050405020304" pitchFamily="18" charset="0"/>
                <a:ea typeface="黑体" panose="02010609060101010101" pitchFamily="49" charset="-122"/>
              </a:rPr>
              <a:t>1</a:t>
            </a:r>
            <a:r>
              <a:rPr lang="en-US" altLang="zh-CN" dirty="0">
                <a:solidFill>
                  <a:schemeClr val="tx1"/>
                </a:solidFill>
                <a:latin typeface="Times New Roman" panose="02020603050405020304" pitchFamily="18" charset="0"/>
              </a:rPr>
              <a:t>±</a:t>
            </a:r>
            <a:r>
              <a:rPr lang="en-US" altLang="zh-CN" i="1" dirty="0">
                <a:solidFill>
                  <a:schemeClr val="tx1"/>
                </a:solidFill>
                <a:latin typeface="Times New Roman" panose="02020603050405020304" pitchFamily="18" charset="0"/>
              </a:rPr>
              <a:t>q</a:t>
            </a:r>
            <a:r>
              <a:rPr lang="en-US" altLang="zh-CN" i="1" dirty="0">
                <a:solidFill>
                  <a:schemeClr val="tx1"/>
                </a:solidFill>
                <a:latin typeface="Times New Roman" panose="02020603050405020304" pitchFamily="18" charset="0"/>
                <a:ea typeface="黑体" panose="02010609060101010101" pitchFamily="49" charset="-122"/>
              </a:rPr>
              <a:t>f</a:t>
            </a:r>
            <a:r>
              <a:rPr lang="en-US" altLang="zh-CN" baseline="-25000" dirty="0">
                <a:solidFill>
                  <a:schemeClr val="tx1"/>
                </a:solidFill>
                <a:latin typeface="Times New Roman" panose="02020603050405020304" pitchFamily="18" charset="0"/>
                <a:ea typeface="黑体" panose="02010609060101010101" pitchFamily="49" charset="-122"/>
              </a:rPr>
              <a:t>2</a:t>
            </a:r>
            <a:r>
              <a:rPr lang="en-US" altLang="zh-CN" dirty="0">
                <a:solidFill>
                  <a:schemeClr val="tx1"/>
                </a:solidFill>
                <a:latin typeface="黑体" panose="02010609060101010101" pitchFamily="49" charset="-122"/>
                <a:ea typeface="黑体" panose="02010609060101010101" pitchFamily="49" charset="-122"/>
              </a:rPr>
              <a:t>|</a:t>
            </a:r>
            <a:endParaRPr lang="en-US" altLang="zh-CN" dirty="0">
              <a:solidFill>
                <a:schemeClr val="tx1"/>
              </a:solidFill>
              <a:latin typeface="黑体" panose="02010609060101010101" pitchFamily="49" charset="-122"/>
              <a:ea typeface="黑体" panose="02010609060101010101" pitchFamily="49" charset="-122"/>
            </a:endParaRPr>
          </a:p>
          <a:p>
            <a:pPr eaLnBrk="1" hangingPunct="1">
              <a:lnSpc>
                <a:spcPct val="110000"/>
              </a:lnSpc>
              <a:spcBef>
                <a:spcPct val="50000"/>
              </a:spcBef>
            </a:pPr>
            <a:r>
              <a:rPr lang="zh-CN" altLang="en-US" sz="2400" dirty="0">
                <a:solidFill>
                  <a:schemeClr val="accent2"/>
                </a:solidFill>
                <a:latin typeface="黑体" panose="02010609060101010101" pitchFamily="49" charset="-122"/>
                <a:ea typeface="黑体" panose="02010609060101010101" pitchFamily="49" charset="-122"/>
              </a:rPr>
              <a:t>    其中，</a:t>
            </a:r>
            <a:r>
              <a:rPr lang="en-US" altLang="zh-CN" sz="2400" i="1" dirty="0">
                <a:solidFill>
                  <a:schemeClr val="accent2"/>
                </a:solidFill>
                <a:latin typeface="Times New Roman" panose="02020603050405020304" pitchFamily="18" charset="0"/>
                <a:ea typeface="黑体" panose="02010609060101010101" pitchFamily="49" charset="-122"/>
              </a:rPr>
              <a:t>p</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q </a:t>
            </a:r>
            <a:r>
              <a:rPr lang="en-US" altLang="zh-CN" sz="2400" dirty="0">
                <a:solidFill>
                  <a:schemeClr val="accent2"/>
                </a:solidFill>
                <a:latin typeface="Times New Roman" panose="02020603050405020304" pitchFamily="18" charset="0"/>
                <a:ea typeface="黑体" panose="02010609060101010101" pitchFamily="49" charset="-122"/>
              </a:rPr>
              <a:t>= 0,1,2,3,…</a:t>
            </a:r>
            <a:endParaRPr lang="zh-CN" altLang="en-US" sz="2400" dirty="0">
              <a:solidFill>
                <a:schemeClr val="accent2"/>
              </a:solidFill>
              <a:latin typeface="Times New Roman" panose="02020603050405020304" pitchFamily="18" charset="0"/>
              <a:ea typeface="黑体" panose="02010609060101010101" pitchFamily="49" charset="-122"/>
            </a:endParaRPr>
          </a:p>
        </p:txBody>
      </p:sp>
    </p:spTree>
  </p:cSld>
  <p:clrMapOvr>
    <a:masterClrMapping/>
  </p:clrMapOvr>
  <p:transition spd="med">
    <p:strips/>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6.5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的主要动态性能指标</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4147" name="Text Box 11"/>
          <p:cNvSpPr txBox="1"/>
          <p:nvPr/>
        </p:nvSpPr>
        <p:spPr>
          <a:xfrm>
            <a:off x="404813" y="671513"/>
            <a:ext cx="3113087" cy="530225"/>
          </a:xfrm>
          <a:prstGeom prst="rect">
            <a:avLst/>
          </a:prstGeom>
          <a:solidFill>
            <a:srgbClr val="99CCFF"/>
          </a:solidFill>
          <a:ln w="9525">
            <a:noFill/>
          </a:ln>
        </p:spPr>
        <p:txBody>
          <a:bodyPr>
            <a:spAutoFit/>
          </a:bodyPr>
          <a:p>
            <a:pPr eaLnBrk="1" hangingPunct="1">
              <a:lnSpc>
                <a:spcPct val="90000"/>
              </a:lnSpc>
            </a:pPr>
            <a:r>
              <a:rPr lang="en-US" altLang="zh-CN" sz="3200" dirty="0">
                <a:latin typeface="Times New Roman" panose="02020603050405020304" pitchFamily="18" charset="0"/>
              </a:rPr>
              <a:t>5 </a:t>
            </a:r>
            <a:r>
              <a:rPr lang="zh-CN" altLang="en-US" sz="3200" dirty="0">
                <a:latin typeface="Times New Roman" panose="02020603050405020304" pitchFamily="18" charset="0"/>
              </a:rPr>
              <a:t>双音交调失真</a:t>
            </a:r>
            <a:endParaRPr lang="zh-CN" altLang="en-US" sz="3200" dirty="0">
              <a:latin typeface="Times New Roman" panose="02020603050405020304" pitchFamily="18" charset="0"/>
            </a:endParaRPr>
          </a:p>
        </p:txBody>
      </p:sp>
      <p:sp>
        <p:nvSpPr>
          <p:cNvPr id="287748" name="Text Box 4"/>
          <p:cNvSpPr txBox="1"/>
          <p:nvPr/>
        </p:nvSpPr>
        <p:spPr>
          <a:xfrm>
            <a:off x="404813" y="4429125"/>
            <a:ext cx="7977187" cy="1698625"/>
          </a:xfrm>
          <a:prstGeom prst="rect">
            <a:avLst/>
          </a:prstGeom>
          <a:noFill/>
          <a:ln w="9525">
            <a:noFill/>
          </a:ln>
        </p:spPr>
        <p:txBody>
          <a:bodyPr>
            <a:spAutoFit/>
          </a:bodyPr>
          <a:p>
            <a:pPr eaLnBrk="1" hangingPunct="1">
              <a:lnSpc>
                <a:spcPct val="110000"/>
              </a:lnSpc>
            </a:pPr>
            <a:r>
              <a:rPr lang="en-US" altLang="zh-CN" sz="2400" dirty="0">
                <a:solidFill>
                  <a:schemeClr val="accent2"/>
                </a:solidFill>
                <a:latin typeface="黑体" panose="02010609060101010101" pitchFamily="49" charset="-122"/>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当</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和</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频率较近时，二阶交调失真分量</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以及一些高次失调分量距</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较远，容易用数字滤波的方法滤除</a:t>
            </a:r>
            <a:endParaRPr lang="zh-CN" altLang="en-US" sz="2400" dirty="0">
              <a:solidFill>
                <a:schemeClr val="accent2"/>
              </a:solidFill>
              <a:latin typeface="黑体" panose="02010609060101010101" pitchFamily="49" charset="-122"/>
              <a:ea typeface="黑体" panose="02010609060101010101" pitchFamily="49" charset="-122"/>
            </a:endParaRPr>
          </a:p>
          <a:p>
            <a:pPr eaLnBrk="1" hangingPunct="1">
              <a:lnSpc>
                <a:spcPct val="110000"/>
              </a:lnSpc>
            </a:pPr>
            <a:r>
              <a:rPr lang="en-US" altLang="zh-CN" sz="2400" dirty="0">
                <a:solidFill>
                  <a:schemeClr val="accent2"/>
                </a:solidFill>
                <a:latin typeface="黑体" panose="02010609060101010101" pitchFamily="49" charset="-122"/>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两个三阶交调失真分量</a:t>
            </a:r>
            <a:r>
              <a:rPr lang="en-US" altLang="zh-CN" sz="2400" dirty="0">
                <a:solidFill>
                  <a:schemeClr val="accent2"/>
                </a:solidFill>
                <a:latin typeface="Times New Roman" panose="02020603050405020304" pitchFamily="18" charset="0"/>
                <a:ea typeface="黑体" panose="02010609060101010101" pitchFamily="49" charset="-122"/>
              </a:rPr>
              <a:t>2</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和</a:t>
            </a:r>
            <a:r>
              <a:rPr lang="en-US" altLang="zh-CN" sz="2400" dirty="0">
                <a:solidFill>
                  <a:schemeClr val="accent2"/>
                </a:solidFill>
                <a:latin typeface="Times New Roman" panose="02020603050405020304" pitchFamily="18" charset="0"/>
                <a:ea typeface="黑体" panose="02010609060101010101" pitchFamily="49" charset="-122"/>
              </a:rPr>
              <a:t>2</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zh-CN" altLang="en-US" sz="2400" dirty="0">
                <a:solidFill>
                  <a:schemeClr val="accent2"/>
                </a:solidFill>
                <a:latin typeface="黑体" panose="02010609060101010101" pitchFamily="49" charset="-122"/>
                <a:ea typeface="黑体" panose="02010609060101010101" pitchFamily="49" charset="-122"/>
              </a:rPr>
              <a:t>非常靠近</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1</a:t>
            </a:r>
            <a:r>
              <a:rPr lang="en-US" altLang="zh-CN" sz="2400" dirty="0">
                <a:solidFill>
                  <a:schemeClr val="accent2"/>
                </a:solidFill>
                <a:latin typeface="Times New Roman" panose="02020603050405020304" pitchFamily="18" charset="0"/>
                <a:ea typeface="黑体" panose="02010609060101010101" pitchFamily="49" charset="-122"/>
              </a:rPr>
              <a:t>,</a:t>
            </a:r>
            <a:r>
              <a:rPr lang="en-US" altLang="zh-CN" sz="2400" i="1" dirty="0">
                <a:solidFill>
                  <a:schemeClr val="accent2"/>
                </a:solidFill>
                <a:latin typeface="Times New Roman" panose="02020603050405020304" pitchFamily="18" charset="0"/>
                <a:ea typeface="黑体" panose="02010609060101010101" pitchFamily="49" charset="-122"/>
              </a:rPr>
              <a:t>f</a:t>
            </a:r>
            <a:r>
              <a:rPr lang="en-US" altLang="zh-CN" sz="2400" baseline="-25000" dirty="0">
                <a:solidFill>
                  <a:schemeClr val="accent2"/>
                </a:solidFill>
                <a:latin typeface="Times New Roman" panose="02020603050405020304" pitchFamily="18" charset="0"/>
                <a:ea typeface="黑体" panose="02010609060101010101" pitchFamily="49" charset="-122"/>
              </a:rPr>
              <a:t>2</a:t>
            </a:r>
            <a:r>
              <a:rPr lang="zh-CN" altLang="en-US" sz="2400" dirty="0">
                <a:solidFill>
                  <a:schemeClr val="accent2"/>
                </a:solidFill>
                <a:latin typeface="黑体" panose="02010609060101010101" pitchFamily="49" charset="-122"/>
                <a:ea typeface="黑体" panose="02010609060101010101" pitchFamily="49" charset="-122"/>
              </a:rPr>
              <a:t>，因此很难将其滤除</a:t>
            </a:r>
            <a:endParaRPr lang="en-US" altLang="zh-CN" sz="2400" dirty="0">
              <a:solidFill>
                <a:schemeClr val="accent2"/>
              </a:solidFill>
              <a:latin typeface="黑体" panose="02010609060101010101" pitchFamily="49" charset="-122"/>
              <a:ea typeface="黑体" panose="02010609060101010101" pitchFamily="49" charset="-122"/>
            </a:endParaRPr>
          </a:p>
        </p:txBody>
      </p:sp>
      <p:pic>
        <p:nvPicPr>
          <p:cNvPr id="134149" name="Picture 5"/>
          <p:cNvPicPr>
            <a:picLocks noChangeAspect="1"/>
          </p:cNvPicPr>
          <p:nvPr/>
        </p:nvPicPr>
        <p:blipFill>
          <a:blip r:embed="rId1"/>
          <a:stretch>
            <a:fillRect/>
          </a:stretch>
        </p:blipFill>
        <p:spPr>
          <a:xfrm>
            <a:off x="1295400" y="1400175"/>
            <a:ext cx="6096000" cy="2990850"/>
          </a:xfrm>
          <a:prstGeom prst="rect">
            <a:avLst/>
          </a:prstGeom>
          <a:noFill/>
          <a:ln w="9525">
            <a:noFill/>
          </a:ln>
        </p:spPr>
      </p:pic>
      <p:sp>
        <p:nvSpPr>
          <p:cNvPr id="287750" name="Text Box 6"/>
          <p:cNvSpPr txBox="1"/>
          <p:nvPr/>
        </p:nvSpPr>
        <p:spPr>
          <a:xfrm>
            <a:off x="404813" y="4429125"/>
            <a:ext cx="7977187" cy="1296988"/>
          </a:xfrm>
          <a:prstGeom prst="rect">
            <a:avLst/>
          </a:prstGeom>
          <a:noFill/>
          <a:ln w="9525">
            <a:noFill/>
          </a:ln>
        </p:spPr>
        <p:txBody>
          <a:bodyPr>
            <a:spAutoFit/>
          </a:bodyPr>
          <a:p>
            <a:pPr eaLnBrk="1" hangingPunct="1">
              <a:lnSpc>
                <a:spcPct val="110000"/>
              </a:lnSpc>
            </a:pPr>
            <a:r>
              <a:rPr lang="en-US" altLang="zh-CN" sz="2400" dirty="0">
                <a:solidFill>
                  <a:srgbClr val="FF0000"/>
                </a:solidFill>
                <a:latin typeface="Times New Roman" panose="02020603050405020304" pitchFamily="18" charset="0"/>
                <a:ea typeface="黑体" panose="02010609060101010101" pitchFamily="49" charset="-122"/>
              </a:rPr>
              <a:t>ADC</a:t>
            </a:r>
            <a:r>
              <a:rPr lang="zh-CN" altLang="en-US" sz="2400" dirty="0">
                <a:solidFill>
                  <a:srgbClr val="FF0000"/>
                </a:solidFill>
                <a:latin typeface="黑体" panose="02010609060101010101" pitchFamily="49" charset="-122"/>
                <a:ea typeface="黑体" panose="02010609060101010101" pitchFamily="49" charset="-122"/>
              </a:rPr>
              <a:t>数据手册中，双音交调失真专指三阶交调失真分量：</a:t>
            </a:r>
            <a:endParaRPr lang="zh-CN" altLang="en-US" sz="2400" dirty="0">
              <a:solidFill>
                <a:srgbClr val="FF0000"/>
              </a:solidFill>
              <a:latin typeface="黑体" panose="02010609060101010101" pitchFamily="49" charset="-122"/>
              <a:ea typeface="黑体" panose="02010609060101010101" pitchFamily="49" charset="-122"/>
            </a:endParaRPr>
          </a:p>
          <a:p>
            <a:pPr eaLnBrk="1" hangingPunct="1">
              <a:lnSpc>
                <a:spcPct val="110000"/>
              </a:lnSpc>
            </a:pPr>
            <a:r>
              <a:rPr lang="zh-CN" altLang="en-US" sz="2400" dirty="0">
                <a:solidFill>
                  <a:schemeClr val="accent2"/>
                </a:solidFill>
                <a:latin typeface="黑体" panose="02010609060101010101" pitchFamily="49" charset="-122"/>
                <a:ea typeface="黑体" panose="02010609060101010101" pitchFamily="49" charset="-122"/>
              </a:rPr>
              <a:t>    即某一输入信号幅度的有效值和三阶交调失真有效值之比的分贝数。</a:t>
            </a:r>
            <a:endParaRPr lang="zh-CN" altLang="en-US" sz="2400" dirty="0">
              <a:solidFill>
                <a:schemeClr val="accent2"/>
              </a:solidFill>
              <a:latin typeface="黑体" panose="02010609060101010101" pitchFamily="49" charset="-122"/>
              <a:ea typeface="黑体" panose="02010609060101010101"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287748"/>
                                        </p:tgtEl>
                                      </p:cBhvr>
                                    </p:animEffect>
                                    <p:set>
                                      <p:cBhvr>
                                        <p:cTn id="7" dur="1" fill="hold">
                                          <p:stCondLst>
                                            <p:cond delay="499"/>
                                          </p:stCondLst>
                                        </p:cTn>
                                        <p:tgtEl>
                                          <p:spTgt spid="287748"/>
                                        </p:tgtEl>
                                        <p:attrNameLst>
                                          <p:attrName>style.visibility</p:attrName>
                                        </p:attrNameLst>
                                      </p:cBhvr>
                                      <p:to>
                                        <p:strVal val="hidden"/>
                                      </p:to>
                                    </p:set>
                                  </p:childTnLst>
                                </p:cTn>
                              </p:par>
                              <p:par>
                                <p:cTn id="8" presetID="3" presetClass="entr" presetSubtype="10" fill="hold" grpId="0" nodeType="withEffect">
                                  <p:stCondLst>
                                    <p:cond delay="0"/>
                                  </p:stCondLst>
                                  <p:childTnLst>
                                    <p:set>
                                      <p:cBhvr>
                                        <p:cTn id="9" dur="1" fill="hold">
                                          <p:stCondLst>
                                            <p:cond delay="0"/>
                                          </p:stCondLst>
                                        </p:cTn>
                                        <p:tgtEl>
                                          <p:spTgt spid="287750"/>
                                        </p:tgtEl>
                                        <p:attrNameLst>
                                          <p:attrName>style.visibility</p:attrName>
                                        </p:attrNameLst>
                                      </p:cBhvr>
                                      <p:to>
                                        <p:strVal val="visible"/>
                                      </p:to>
                                    </p:set>
                                    <p:animEffect transition="in" filter="blinds(horizontal)">
                                      <p:cBhvr>
                                        <p:cTn id="10" dur="500"/>
                                        <p:tgtEl>
                                          <p:spTgt spid="2877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748" grpId="0"/>
      <p:bldP spid="287750"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0818" name="Text Box 2"/>
          <p:cNvSpPr txBox="1">
            <a:spLocks noChangeArrowheads="1"/>
          </p:cNvSpPr>
          <p:nvPr/>
        </p:nvSpPr>
        <p:spPr bwMode="auto">
          <a:xfrm>
            <a:off x="546100" y="688975"/>
            <a:ext cx="6618288"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2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正确应用的关键：</a:t>
            </a:r>
            <a:endParaRPr kumimoji="1" lang="zh-CN" altLang="en-US" sz="32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0819" name="Rectangle 3"/>
          <p:cNvSpPr>
            <a:spLocks noChangeArrowheads="1"/>
          </p:cNvSpPr>
          <p:nvPr/>
        </p:nvSpPr>
        <p:spPr bwMode="auto">
          <a:xfrm>
            <a:off x="179388" y="1711325"/>
            <a:ext cx="3313113" cy="3890963"/>
          </a:xfrm>
          <a:prstGeom prst="rect">
            <a:avLst/>
          </a:prstGeom>
          <a:noFill/>
          <a:ln w="9525">
            <a:noFill/>
            <a:miter lim="800000"/>
          </a:ln>
          <a:effectLst/>
        </p:spPr>
        <p:txBody>
          <a:bodyPr/>
          <a:lstStyle/>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Char char="l"/>
              <a:defRPr/>
            </a:pPr>
            <a:r>
              <a:rPr kumimoji="0" lang="zh-CN" altLang="en-US" sz="32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rPr>
              <a:t>正确地处理输入信号</a:t>
            </a:r>
            <a:endParaRPr kumimoji="0" lang="zh-CN" altLang="en-US" sz="32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endParaRPr>
          </a:p>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Char char="l"/>
              <a:defRPr/>
            </a:pPr>
            <a:r>
              <a:rPr kumimoji="0" lang="zh-CN" altLang="en-US" sz="3200" b="1" i="0" u="none" strike="noStrike" kern="1200" cap="none" spc="0" normalizeH="0" baseline="0" noProof="0">
                <a:ln>
                  <a:noFill/>
                </a:ln>
                <a:solidFill>
                  <a:srgbClr val="0000FF"/>
                </a:solidFill>
                <a:effectLst>
                  <a:outerShdw blurRad="38100" dist="38100" dir="2700000" algn="tl">
                    <a:srgbClr val="C0C0C0"/>
                  </a:outerShdw>
                </a:effectLst>
                <a:uLnTx/>
                <a:uFillTx/>
                <a:latin typeface="楷体_GB2312" pitchFamily="49" charset="-122"/>
                <a:ea typeface="楷体_GB2312" pitchFamily="49" charset="-122"/>
                <a:cs typeface="+mn-cs"/>
              </a:rPr>
              <a:t>选择合适的外围电路和接口电路</a:t>
            </a:r>
            <a:endParaRPr kumimoji="0" lang="zh-CN" altLang="en-US" sz="3200" b="1" i="0" u="none" strike="noStrike" kern="1200" cap="none" spc="0" normalizeH="0" baseline="0" noProof="0">
              <a:ln>
                <a:noFill/>
              </a:ln>
              <a:solidFill>
                <a:srgbClr val="0000FF"/>
              </a:solidFill>
              <a:effectLst>
                <a:outerShdw blurRad="38100" dist="38100" dir="2700000" algn="tl">
                  <a:srgbClr val="C0C0C0"/>
                </a:outerShdw>
              </a:effectLst>
              <a:uLnTx/>
              <a:uFillTx/>
              <a:latin typeface="楷体_GB2312" pitchFamily="49" charset="-122"/>
              <a:ea typeface="楷体_GB2312" pitchFamily="49" charset="-122"/>
              <a:cs typeface="+mn-cs"/>
            </a:endParaRPr>
          </a:p>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Char char="l"/>
              <a:defRPr/>
            </a:pPr>
            <a:r>
              <a:rPr kumimoji="0" lang="zh-CN" altLang="en-US" sz="32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rPr>
              <a:t>正确地处理系统的电源和接地</a:t>
            </a:r>
            <a:endParaRPr kumimoji="0" lang="zh-CN" altLang="en-US" sz="32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endParaRPr>
          </a:p>
          <a:p>
            <a:pPr marL="254000" marR="0" lvl="0" indent="-254000" algn="l" defTabSz="678180" rtl="0" eaLnBrk="0" fontAlgn="base" latinLnBrk="0" hangingPunct="0">
              <a:lnSpc>
                <a:spcPct val="100000"/>
              </a:lnSpc>
              <a:spcBef>
                <a:spcPct val="50000"/>
              </a:spcBef>
              <a:spcAft>
                <a:spcPct val="0"/>
              </a:spcAft>
              <a:buClrTx/>
              <a:buSzPct val="75000"/>
              <a:buFont typeface="Wingdings" panose="05000000000000000000" pitchFamily="2" charset="2"/>
              <a:buNone/>
              <a:defRPr/>
            </a:pPr>
            <a:endParaRPr kumimoji="0" lang="zh-CN" altLang="en-US" sz="32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grpSp>
        <p:nvGrpSpPr>
          <p:cNvPr id="135172" name="Group 4"/>
          <p:cNvGrpSpPr/>
          <p:nvPr/>
        </p:nvGrpSpPr>
        <p:grpSpPr>
          <a:xfrm>
            <a:off x="3636963" y="1916113"/>
            <a:ext cx="5038725" cy="863600"/>
            <a:chOff x="2291" y="1207"/>
            <a:chExt cx="3174" cy="544"/>
          </a:xfrm>
        </p:grpSpPr>
        <p:sp>
          <p:nvSpPr>
            <p:cNvPr id="135180" name="右箭头 24"/>
            <p:cNvSpPr/>
            <p:nvPr/>
          </p:nvSpPr>
          <p:spPr>
            <a:xfrm>
              <a:off x="2291" y="1389"/>
              <a:ext cx="1043" cy="252"/>
            </a:xfrm>
            <a:prstGeom prst="rightArrow">
              <a:avLst>
                <a:gd name="adj1" fmla="val 50000"/>
                <a:gd name="adj2" fmla="val 137962"/>
              </a:avLst>
            </a:prstGeom>
            <a:solidFill>
              <a:schemeClr val="bg1"/>
            </a:solidFill>
            <a:ln w="28575" cap="flat" cmpd="sng">
              <a:solidFill>
                <a:srgbClr val="339966"/>
              </a:solidFill>
              <a:prstDash val="solid"/>
              <a:miter/>
              <a:headEnd type="none" w="med" len="med"/>
              <a:tailEnd type="none" w="med" len="med"/>
            </a:ln>
          </p:spPr>
          <p:txBody>
            <a:bodyPr anchor="ctr" anchorCtr="0"/>
            <a:p>
              <a:pPr algn="ctr" eaLnBrk="1" hangingPunct="1"/>
              <a:endParaRPr lang="zh-CN" altLang="en-US" dirty="0">
                <a:solidFill>
                  <a:srgbClr val="FFFFFF"/>
                </a:solidFill>
                <a:latin typeface="Arial" panose="020B0604020202020204" pitchFamily="34" charset="0"/>
              </a:endParaRPr>
            </a:p>
          </p:txBody>
        </p:sp>
        <p:sp>
          <p:nvSpPr>
            <p:cNvPr id="290822" name="Rectangle 6"/>
            <p:cNvSpPr>
              <a:spLocks noChangeArrowheads="1"/>
            </p:cNvSpPr>
            <p:nvPr/>
          </p:nvSpPr>
          <p:spPr bwMode="auto">
            <a:xfrm>
              <a:off x="3605" y="1207"/>
              <a:ext cx="1860" cy="544"/>
            </a:xfrm>
            <a:prstGeom prst="rect">
              <a:avLst/>
            </a:prstGeom>
            <a:noFill/>
            <a:ln w="9525">
              <a:noFill/>
              <a:miter lim="800000"/>
            </a:ln>
            <a:effectLst/>
          </p:spPr>
          <p:txBody>
            <a:bodyPr/>
            <a:lstStyle/>
            <a:p>
              <a:pPr marL="0" marR="0" lvl="0" indent="0" algn="l" defTabSz="91440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rPr>
                <a:t>给信号提供增益、偏置和缓冲</a:t>
              </a:r>
              <a:endPar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grpSp>
      <p:grpSp>
        <p:nvGrpSpPr>
          <p:cNvPr id="135173" name="Group 7"/>
          <p:cNvGrpSpPr/>
          <p:nvPr/>
        </p:nvGrpSpPr>
        <p:grpSpPr>
          <a:xfrm>
            <a:off x="3635375" y="2925763"/>
            <a:ext cx="5038725" cy="863600"/>
            <a:chOff x="2291" y="1207"/>
            <a:chExt cx="3174" cy="544"/>
          </a:xfrm>
        </p:grpSpPr>
        <p:sp>
          <p:nvSpPr>
            <p:cNvPr id="135178" name="右箭头 24"/>
            <p:cNvSpPr/>
            <p:nvPr/>
          </p:nvSpPr>
          <p:spPr>
            <a:xfrm>
              <a:off x="2291" y="1389"/>
              <a:ext cx="1043" cy="252"/>
            </a:xfrm>
            <a:prstGeom prst="rightArrow">
              <a:avLst>
                <a:gd name="adj1" fmla="val 50000"/>
                <a:gd name="adj2" fmla="val 137962"/>
              </a:avLst>
            </a:prstGeom>
            <a:solidFill>
              <a:schemeClr val="bg1"/>
            </a:solidFill>
            <a:ln w="28575" cap="flat" cmpd="sng">
              <a:solidFill>
                <a:srgbClr val="339966"/>
              </a:solidFill>
              <a:prstDash val="solid"/>
              <a:miter/>
              <a:headEnd type="none" w="med" len="med"/>
              <a:tailEnd type="none" w="med" len="med"/>
            </a:ln>
          </p:spPr>
          <p:txBody>
            <a:bodyPr anchor="ctr" anchorCtr="0"/>
            <a:p>
              <a:pPr algn="ctr" eaLnBrk="1" hangingPunct="1"/>
              <a:endParaRPr lang="zh-CN" altLang="en-US" dirty="0">
                <a:solidFill>
                  <a:srgbClr val="FFFFFF"/>
                </a:solidFill>
                <a:latin typeface="Arial" panose="020B0604020202020204" pitchFamily="34" charset="0"/>
              </a:endParaRPr>
            </a:p>
          </p:txBody>
        </p:sp>
        <p:sp>
          <p:nvSpPr>
            <p:cNvPr id="290825" name="Rectangle 9"/>
            <p:cNvSpPr>
              <a:spLocks noChangeArrowheads="1"/>
            </p:cNvSpPr>
            <p:nvPr/>
          </p:nvSpPr>
          <p:spPr bwMode="auto">
            <a:xfrm>
              <a:off x="3605" y="1207"/>
              <a:ext cx="1860" cy="544"/>
            </a:xfrm>
            <a:prstGeom prst="rect">
              <a:avLst/>
            </a:prstGeom>
            <a:noFill/>
            <a:ln w="9525">
              <a:noFill/>
              <a:miter lim="800000"/>
            </a:ln>
            <a:effectLst/>
          </p:spPr>
          <p:txBody>
            <a:bodyPr/>
            <a:lstStyle/>
            <a:p>
              <a:pPr marL="0" marR="0" lvl="0" indent="0" algn="l" defTabSz="91440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800" b="1" i="0" u="none" strike="noStrike" kern="1200" cap="none" spc="0" normalizeH="0" baseline="0" noProof="0">
                  <a:ln>
                    <a:noFill/>
                  </a:ln>
                  <a:solidFill>
                    <a:srgbClr val="0000FF"/>
                  </a:solidFill>
                  <a:effectLst>
                    <a:outerShdw blurRad="38100" dist="38100" dir="2700000" algn="tl">
                      <a:srgbClr val="C0C0C0"/>
                    </a:outerShdw>
                  </a:effectLst>
                  <a:uLnTx/>
                  <a:uFillTx/>
                  <a:latin typeface="楷体_GB2312" pitchFamily="49" charset="-122"/>
                  <a:ea typeface="楷体_GB2312" pitchFamily="49" charset="-122"/>
                  <a:cs typeface="+mn-cs"/>
                </a:rPr>
                <a:t>采样时钟、参考源、输出数据接口</a:t>
              </a:r>
              <a:endParaRPr kumimoji="0" lang="zh-CN" altLang="en-US" sz="2800" b="1" i="0" u="none" strike="noStrike" kern="1200" cap="none" spc="0" normalizeH="0" baseline="0" noProof="0">
                <a:ln>
                  <a:noFill/>
                </a:ln>
                <a:solidFill>
                  <a:srgbClr val="0000FF"/>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grpSp>
      <p:grpSp>
        <p:nvGrpSpPr>
          <p:cNvPr id="135174" name="Group 10"/>
          <p:cNvGrpSpPr/>
          <p:nvPr/>
        </p:nvGrpSpPr>
        <p:grpSpPr>
          <a:xfrm>
            <a:off x="3635375" y="4308475"/>
            <a:ext cx="5038725" cy="863600"/>
            <a:chOff x="2291" y="1207"/>
            <a:chExt cx="3174" cy="544"/>
          </a:xfrm>
        </p:grpSpPr>
        <p:sp>
          <p:nvSpPr>
            <p:cNvPr id="135176" name="右箭头 24"/>
            <p:cNvSpPr/>
            <p:nvPr/>
          </p:nvSpPr>
          <p:spPr>
            <a:xfrm>
              <a:off x="2291" y="1389"/>
              <a:ext cx="1043" cy="252"/>
            </a:xfrm>
            <a:prstGeom prst="rightArrow">
              <a:avLst>
                <a:gd name="adj1" fmla="val 50000"/>
                <a:gd name="adj2" fmla="val 137962"/>
              </a:avLst>
            </a:prstGeom>
            <a:solidFill>
              <a:schemeClr val="bg1"/>
            </a:solidFill>
            <a:ln w="28575" cap="flat" cmpd="sng">
              <a:solidFill>
                <a:srgbClr val="339966"/>
              </a:solidFill>
              <a:prstDash val="solid"/>
              <a:miter/>
              <a:headEnd type="none" w="med" len="med"/>
              <a:tailEnd type="none" w="med" len="med"/>
            </a:ln>
          </p:spPr>
          <p:txBody>
            <a:bodyPr anchor="ctr" anchorCtr="0"/>
            <a:p>
              <a:pPr algn="ctr" eaLnBrk="1" hangingPunct="1"/>
              <a:endParaRPr lang="zh-CN" altLang="en-US" dirty="0">
                <a:solidFill>
                  <a:srgbClr val="FFFFFF"/>
                </a:solidFill>
                <a:latin typeface="Arial" panose="020B0604020202020204" pitchFamily="34" charset="0"/>
              </a:endParaRPr>
            </a:p>
          </p:txBody>
        </p:sp>
        <p:sp>
          <p:nvSpPr>
            <p:cNvPr id="290828" name="Rectangle 12"/>
            <p:cNvSpPr>
              <a:spLocks noChangeArrowheads="1"/>
            </p:cNvSpPr>
            <p:nvPr/>
          </p:nvSpPr>
          <p:spPr bwMode="auto">
            <a:xfrm>
              <a:off x="3605" y="1207"/>
              <a:ext cx="1860" cy="544"/>
            </a:xfrm>
            <a:prstGeom prst="rect">
              <a:avLst/>
            </a:prstGeom>
            <a:noFill/>
            <a:ln w="9525">
              <a:noFill/>
              <a:miter lim="800000"/>
            </a:ln>
            <a:effectLst/>
          </p:spPr>
          <p:txBody>
            <a:bodyPr/>
            <a:lstStyle/>
            <a:p>
              <a:pPr marL="0" marR="0" lvl="0" indent="0" algn="l" defTabSz="914400" rtl="0" eaLnBrk="0" fontAlgn="base" latinLnBrk="0" hangingPunct="0">
                <a:lnSpc>
                  <a:spcPct val="100000"/>
                </a:lnSpc>
                <a:spcBef>
                  <a:spcPct val="50000"/>
                </a:spcBef>
                <a:spcAft>
                  <a:spcPct val="0"/>
                </a:spcAft>
                <a:buClrTx/>
                <a:buSzPct val="75000"/>
                <a:buFont typeface="Wingdings" panose="05000000000000000000" pitchFamily="2" charset="2"/>
                <a:buNone/>
                <a:defRPr/>
              </a:pPr>
              <a:r>
                <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rPr>
                <a:t>布局、布线、电源和去耦、接地技术等</a:t>
              </a:r>
              <a:endParaRPr kumimoji="0" lang="zh-CN" altLang="en-US" sz="2800" b="1" i="0" u="none" strike="noStrike" kern="1200" cap="none" spc="0" normalizeH="0" baseline="0" noProof="0">
                <a:ln>
                  <a:noFill/>
                </a:ln>
                <a:solidFill>
                  <a:schemeClr val="accent2"/>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gr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1842"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1</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选择合适的驱动电路和参考源</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1843" name="Text Box 3"/>
          <p:cNvSpPr txBox="1">
            <a:spLocks noChangeArrowheads="1"/>
          </p:cNvSpPr>
          <p:nvPr/>
        </p:nvSpPr>
        <p:spPr bwMode="auto">
          <a:xfrm>
            <a:off x="701675" y="2359025"/>
            <a:ext cx="8027988" cy="1077913"/>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性能：</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交流性能：</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SNR</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ENOB</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和失真等参数</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直流性能：增益、失调、温漂、增益线性误差</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6196" name="Text Box 11"/>
          <p:cNvSpPr txBox="1"/>
          <p:nvPr/>
        </p:nvSpPr>
        <p:spPr>
          <a:xfrm>
            <a:off x="873125" y="1485900"/>
            <a:ext cx="7475538" cy="749300"/>
          </a:xfrm>
          <a:prstGeom prst="rect">
            <a:avLst/>
          </a:prstGeom>
          <a:solidFill>
            <a:srgbClr val="CCFFFF"/>
          </a:solidFill>
          <a:ln w="9525">
            <a:noFill/>
          </a:ln>
        </p:spPr>
        <p:txBody>
          <a:bodyPr>
            <a:spAutoFit/>
          </a:bodyPr>
          <a:p>
            <a:pPr eaLnBrk="1" hangingPunct="1">
              <a:lnSpc>
                <a:spcPct val="90000"/>
              </a:lnSpc>
            </a:pPr>
            <a:r>
              <a:rPr lang="zh-CN" altLang="en-US" sz="2400" dirty="0">
                <a:solidFill>
                  <a:schemeClr val="tx1"/>
                </a:solidFill>
                <a:latin typeface="黑体" panose="02010609060101010101" pitchFamily="49" charset="-122"/>
                <a:ea typeface="黑体" panose="02010609060101010101" pitchFamily="49" charset="-122"/>
              </a:rPr>
              <a:t>驱动放大器的交直流误差直接影响高速</a:t>
            </a:r>
            <a:r>
              <a:rPr lang="en-US" altLang="zh-CN" sz="2400" dirty="0">
                <a:solidFill>
                  <a:schemeClr val="tx1"/>
                </a:solidFill>
                <a:latin typeface="Times New Roman" panose="02020603050405020304" pitchFamily="18" charset="0"/>
                <a:ea typeface="黑体" panose="02010609060101010101" pitchFamily="49" charset="-122"/>
              </a:rPr>
              <a:t>ADC</a:t>
            </a:r>
            <a:r>
              <a:rPr lang="zh-CN" altLang="en-US" sz="2400" dirty="0">
                <a:solidFill>
                  <a:schemeClr val="tx1"/>
                </a:solidFill>
                <a:latin typeface="黑体" panose="02010609060101010101" pitchFamily="49" charset="-122"/>
                <a:ea typeface="黑体" panose="02010609060101010101" pitchFamily="49" charset="-122"/>
              </a:rPr>
              <a:t>的性能，必须合理选择，即先考虑交流性能，后考虑直流性能。</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91845" name="Text Box 5"/>
          <p:cNvSpPr txBox="1">
            <a:spLocks noChangeArrowheads="1"/>
          </p:cNvSpPr>
          <p:nvPr/>
        </p:nvSpPr>
        <p:spPr bwMode="auto">
          <a:xfrm>
            <a:off x="709613" y="3595688"/>
            <a:ext cx="8027988" cy="2063750"/>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驱动放大器选取原则：</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放大器性能指标必须优于</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的性能指标</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了解</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输入电路以及它对放大器的影响。（</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例如，并行比较型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对放大器提供变化的容性负载，会导致放大器不稳定；半闪烁型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内部带有采保，可对驱动放大器提供良好的负载。）</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2866"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1</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选择合适的驱动电路和参考源</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546100" y="1268413"/>
            <a:ext cx="6681788"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AD9058</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：双八位，</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50MSPS</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，并行比较型</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ADC</a:t>
            </a:r>
            <a:endPar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pic>
        <p:nvPicPr>
          <p:cNvPr id="137220" name="Picture 4"/>
          <p:cNvPicPr>
            <a:picLocks noChangeAspect="1"/>
          </p:cNvPicPr>
          <p:nvPr/>
        </p:nvPicPr>
        <p:blipFill>
          <a:blip r:embed="rId1"/>
          <a:stretch>
            <a:fillRect/>
          </a:stretch>
        </p:blipFill>
        <p:spPr>
          <a:xfrm>
            <a:off x="546100" y="2054225"/>
            <a:ext cx="5616575" cy="3830638"/>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2871" name="Rectangle 7"/>
          <p:cNvSpPr>
            <a:spLocks noChangeArrowheads="1"/>
          </p:cNvSpPr>
          <p:nvPr/>
        </p:nvSpPr>
        <p:spPr bwMode="auto">
          <a:xfrm>
            <a:off x="6486525" y="2054225"/>
            <a:ext cx="2236788" cy="3706813"/>
          </a:xfrm>
          <a:prstGeom prst="rect">
            <a:avLst/>
          </a:prstGeom>
          <a:noFill/>
          <a:ln w="9525">
            <a:noFill/>
            <a:miter lim="800000"/>
          </a:ln>
          <a:effectLst/>
        </p:spPr>
        <p:txBody>
          <a:bodyPr>
            <a:spAutoFit/>
          </a:bodyPr>
          <a:lstStyle/>
          <a:p>
            <a:pPr marL="0" marR="0" lvl="0" indent="0" algn="l" defTabSz="914400" rtl="0" eaLnBrk="1" fontAlgn="base" latinLnBrk="0" hangingPunct="1">
              <a:lnSpc>
                <a:spcPct val="90000"/>
              </a:lnSpc>
              <a:spcBef>
                <a:spcPct val="0"/>
              </a:spcBef>
              <a:spcAft>
                <a:spcPct val="0"/>
              </a:spcAft>
              <a:buClrTx/>
              <a:buSzTx/>
              <a:buFontTx/>
              <a:buNone/>
              <a:defRPr/>
            </a:pPr>
            <a:r>
              <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由于两个</a:t>
            </a:r>
            <a:r>
              <a:rPr kumimoji="1"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r>
              <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在同一芯片内，故交直流参数匹配得很好（两</a:t>
            </a:r>
            <a:r>
              <a:rPr kumimoji="1"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r>
              <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孔径延迟匹配优于</a:t>
            </a:r>
            <a:r>
              <a:rPr kumimoji="1"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200ps</a:t>
            </a:r>
            <a:r>
              <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），共用一个内部参考源，功耗低（不超过</a:t>
            </a:r>
            <a:r>
              <a:rPr kumimoji="1" lang="en-US" altLang="zh-CN"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1W</a:t>
            </a:r>
            <a:r>
              <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）、成本低。</a:t>
            </a:r>
            <a:endParaRPr kumimoji="1" lang="zh-CN" altLang="en-US" sz="2400" b="1" i="0" u="none" strike="noStrike" kern="1200" cap="none" spc="0" normalizeH="0" baseline="0" noProof="0">
              <a:ln>
                <a:noFill/>
              </a:ln>
              <a:solidFill>
                <a:schemeClr val="tx1"/>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389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1</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选择合适的驱动电路和参考源</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38243" name="Picture 4"/>
          <p:cNvPicPr>
            <a:picLocks noChangeAspect="1"/>
          </p:cNvPicPr>
          <p:nvPr/>
        </p:nvPicPr>
        <p:blipFill>
          <a:blip r:embed="rId1"/>
          <a:stretch>
            <a:fillRect/>
          </a:stretch>
        </p:blipFill>
        <p:spPr>
          <a:xfrm>
            <a:off x="2813050" y="1641475"/>
            <a:ext cx="5724525" cy="458152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546100" y="1268413"/>
            <a:ext cx="6100763"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AD9058</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：使用内部参考源的典型接口电路</a:t>
            </a:r>
            <a:endPar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138246" name="Rectangle 8"/>
          <p:cNvSpPr/>
          <p:nvPr/>
        </p:nvSpPr>
        <p:spPr>
          <a:xfrm>
            <a:off x="546100" y="1930400"/>
            <a:ext cx="2095500" cy="4035425"/>
          </a:xfrm>
          <a:prstGeom prst="rect">
            <a:avLst/>
          </a:prstGeom>
          <a:noFill/>
          <a:ln w="9525">
            <a:noFill/>
          </a:ln>
        </p:spPr>
        <p:txBody>
          <a:bodyPr>
            <a:spAutoFit/>
          </a:bodyPr>
          <a:p>
            <a:pPr eaLnBrk="1" hangingPunct="1">
              <a:lnSpc>
                <a:spcPct val="90000"/>
              </a:lnSpc>
            </a:pPr>
            <a:r>
              <a:rPr lang="zh-CN" altLang="en-US" sz="2400" dirty="0">
                <a:solidFill>
                  <a:schemeClr val="tx1"/>
                </a:solidFill>
                <a:latin typeface="Times New Roman" panose="02020603050405020304" pitchFamily="18" charset="0"/>
              </a:rPr>
              <a:t>内部参考源作为双极性输入信号的偏置电压。由于使用内部参考源，输入电压范围：</a:t>
            </a:r>
            <a:r>
              <a:rPr lang="en-US" altLang="zh-CN" sz="2400" dirty="0">
                <a:solidFill>
                  <a:schemeClr val="tx1"/>
                </a:solidFill>
                <a:latin typeface="Times New Roman" panose="02020603050405020304" pitchFamily="18" charset="0"/>
              </a:rPr>
              <a:t>0~2V</a:t>
            </a:r>
            <a:r>
              <a:rPr lang="zh-CN" altLang="en-US" sz="2400" dirty="0">
                <a:solidFill>
                  <a:schemeClr val="tx1"/>
                </a:solidFill>
                <a:latin typeface="Times New Roman" panose="02020603050405020304" pitchFamily="18" charset="0"/>
              </a:rPr>
              <a:t>。故通过</a:t>
            </a:r>
            <a:endParaRPr lang="zh-CN" altLang="en-US" sz="2400" dirty="0">
              <a:solidFill>
                <a:schemeClr val="tx1"/>
              </a:solidFill>
              <a:latin typeface="Times New Roman" panose="02020603050405020304" pitchFamily="18" charset="0"/>
            </a:endParaRPr>
          </a:p>
          <a:p>
            <a:pPr eaLnBrk="1" hangingPunct="1">
              <a:lnSpc>
                <a:spcPct val="90000"/>
              </a:lnSpc>
            </a:pPr>
            <a:r>
              <a:rPr lang="en-US" altLang="zh-CN" sz="2400" dirty="0">
                <a:solidFill>
                  <a:schemeClr val="tx1"/>
                </a:solidFill>
                <a:latin typeface="Times New Roman" panose="02020603050405020304" pitchFamily="18" charset="0"/>
              </a:rPr>
              <a:t>AD9617</a:t>
            </a:r>
            <a:r>
              <a:rPr lang="zh-CN" altLang="en-US" sz="2400" dirty="0">
                <a:solidFill>
                  <a:schemeClr val="tx1"/>
                </a:solidFill>
                <a:latin typeface="Times New Roman" panose="02020603050405020304" pitchFamily="18" charset="0"/>
              </a:rPr>
              <a:t>将</a:t>
            </a:r>
            <a:r>
              <a:rPr lang="en-US" altLang="zh-CN" sz="2400" dirty="0">
                <a:solidFill>
                  <a:schemeClr val="tx1"/>
                </a:solidFill>
                <a:latin typeface="Times New Roman" panose="02020603050405020304" pitchFamily="18" charset="0"/>
              </a:rPr>
              <a:t>±0.5V</a:t>
            </a:r>
            <a:r>
              <a:rPr lang="zh-CN" altLang="en-US" sz="2400" dirty="0">
                <a:solidFill>
                  <a:schemeClr val="tx1"/>
                </a:solidFill>
                <a:latin typeface="Times New Roman" panose="02020603050405020304" pitchFamily="18" charset="0"/>
              </a:rPr>
              <a:t>的双极性信号放大为</a:t>
            </a:r>
            <a:r>
              <a:rPr lang="en-US" altLang="zh-CN" sz="2400" dirty="0">
                <a:solidFill>
                  <a:schemeClr val="tx1"/>
                </a:solidFill>
                <a:latin typeface="Times New Roman" panose="02020603050405020304" pitchFamily="18" charset="0"/>
              </a:rPr>
              <a:t>2V</a:t>
            </a:r>
            <a:r>
              <a:rPr lang="en-US" altLang="zh-CN" sz="2400" baseline="-25000" dirty="0">
                <a:solidFill>
                  <a:schemeClr val="tx1"/>
                </a:solidFill>
                <a:latin typeface="Times New Roman" panose="02020603050405020304" pitchFamily="18" charset="0"/>
              </a:rPr>
              <a:t>PP</a:t>
            </a:r>
            <a:r>
              <a:rPr lang="zh-CN" altLang="en-US" sz="2400" dirty="0">
                <a:solidFill>
                  <a:schemeClr val="tx1"/>
                </a:solidFill>
                <a:latin typeface="Times New Roman" panose="02020603050405020304" pitchFamily="18" charset="0"/>
              </a:rPr>
              <a:t>的单极性信号。</a:t>
            </a:r>
            <a:endParaRPr lang="zh-CN" altLang="en-US" sz="2400" dirty="0">
              <a:solidFill>
                <a:schemeClr val="tx1"/>
              </a:solidFill>
              <a:latin typeface="Times New Roman" panose="02020603050405020304" pitchFamily="18" charset="0"/>
            </a:endParaRPr>
          </a:p>
        </p:txBody>
      </p:sp>
    </p:spTree>
  </p:cSld>
  <p:clrMapOvr>
    <a:masterClrMapping/>
  </p:clrMapOvr>
  <p:transition spd="slow">
    <p:cover dir="d"/>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4914"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1</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选择合适的驱动电路和参考源</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39267" name="Picture 4"/>
          <p:cNvPicPr>
            <a:picLocks noChangeAspect="1"/>
          </p:cNvPicPr>
          <p:nvPr/>
        </p:nvPicPr>
        <p:blipFill>
          <a:blip r:embed="rId1"/>
          <a:stretch>
            <a:fillRect/>
          </a:stretch>
        </p:blipFill>
        <p:spPr>
          <a:xfrm>
            <a:off x="3289300" y="1689100"/>
            <a:ext cx="5308600" cy="454977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39269" name="Rectangle 7"/>
          <p:cNvSpPr/>
          <p:nvPr/>
        </p:nvSpPr>
        <p:spPr>
          <a:xfrm>
            <a:off x="546100" y="1946275"/>
            <a:ext cx="2743200" cy="4154488"/>
          </a:xfrm>
          <a:prstGeom prst="rect">
            <a:avLst/>
          </a:prstGeom>
          <a:noFill/>
          <a:ln w="9525">
            <a:noFill/>
          </a:ln>
        </p:spPr>
        <p:txBody>
          <a:bodyPr>
            <a:spAutoFit/>
          </a:bodyPr>
          <a:p>
            <a:pPr eaLnBrk="1" hangingPunct="1">
              <a:lnSpc>
                <a:spcPct val="110000"/>
              </a:lnSpc>
            </a:pPr>
            <a:r>
              <a:rPr lang="en-US" altLang="zh-CN" sz="2400" dirty="0">
                <a:solidFill>
                  <a:schemeClr val="tx1"/>
                </a:solidFill>
                <a:latin typeface="Times New Roman" panose="02020603050405020304" pitchFamily="18" charset="0"/>
              </a:rPr>
              <a:t>AD580</a:t>
            </a:r>
            <a:r>
              <a:rPr lang="zh-CN" altLang="en-US" sz="2400" dirty="0">
                <a:solidFill>
                  <a:schemeClr val="tx1"/>
                </a:solidFill>
                <a:latin typeface="Times New Roman" panose="02020603050405020304" pitchFamily="18" charset="0"/>
              </a:rPr>
              <a:t>为</a:t>
            </a:r>
            <a:r>
              <a:rPr lang="en-US" altLang="zh-CN" sz="2400" dirty="0">
                <a:solidFill>
                  <a:schemeClr val="tx1"/>
                </a:solidFill>
                <a:latin typeface="Times New Roman" panose="02020603050405020304" pitchFamily="18" charset="0"/>
              </a:rPr>
              <a:t>AD9058</a:t>
            </a:r>
            <a:r>
              <a:rPr lang="zh-CN" altLang="en-US" sz="2400" dirty="0">
                <a:solidFill>
                  <a:schemeClr val="tx1"/>
                </a:solidFill>
                <a:latin typeface="Times New Roman" panose="02020603050405020304" pitchFamily="18" charset="0"/>
              </a:rPr>
              <a:t>提供</a:t>
            </a:r>
            <a:r>
              <a:rPr lang="en-US" altLang="zh-CN" sz="2400" dirty="0">
                <a:solidFill>
                  <a:schemeClr val="tx1"/>
                </a:solidFill>
                <a:latin typeface="Times New Roman" panose="02020603050405020304" pitchFamily="18" charset="0"/>
              </a:rPr>
              <a:t>+2.5V</a:t>
            </a:r>
            <a:r>
              <a:rPr lang="zh-CN" altLang="en-US" sz="2400" dirty="0">
                <a:solidFill>
                  <a:schemeClr val="tx1"/>
                </a:solidFill>
                <a:latin typeface="Times New Roman" panose="02020603050405020304" pitchFamily="18" charset="0"/>
              </a:rPr>
              <a:t>的外部参考源。使用外参考源时，</a:t>
            </a:r>
            <a:r>
              <a:rPr lang="en-US" altLang="zh-CN" sz="2400" dirty="0">
                <a:solidFill>
                  <a:schemeClr val="tx1"/>
                </a:solidFill>
                <a:latin typeface="Times New Roman" panose="02020603050405020304" pitchFamily="18" charset="0"/>
              </a:rPr>
              <a:t>AD9058</a:t>
            </a:r>
            <a:r>
              <a:rPr lang="zh-CN" altLang="en-US" sz="2400" dirty="0">
                <a:solidFill>
                  <a:schemeClr val="tx1"/>
                </a:solidFill>
                <a:latin typeface="Times New Roman" panose="02020603050405020304" pitchFamily="18" charset="0"/>
              </a:rPr>
              <a:t>的信号输入范围为</a:t>
            </a:r>
            <a:r>
              <a:rPr lang="en-US" altLang="zh-CN" sz="2400" dirty="0">
                <a:solidFill>
                  <a:schemeClr val="tx1"/>
                </a:solidFill>
                <a:latin typeface="Times New Roman" panose="02020603050405020304" pitchFamily="18" charset="0"/>
              </a:rPr>
              <a:t>±1V</a:t>
            </a:r>
            <a:r>
              <a:rPr lang="zh-CN" altLang="en-US" sz="2400" dirty="0">
                <a:solidFill>
                  <a:schemeClr val="tx1"/>
                </a:solidFill>
                <a:latin typeface="Times New Roman" panose="02020603050405020304" pitchFamily="18" charset="0"/>
              </a:rPr>
              <a:t>，故通过</a:t>
            </a:r>
            <a:r>
              <a:rPr lang="en-US" altLang="zh-CN" sz="2400" dirty="0">
                <a:solidFill>
                  <a:schemeClr val="tx1"/>
                </a:solidFill>
                <a:latin typeface="Times New Roman" panose="02020603050405020304" pitchFamily="18" charset="0"/>
              </a:rPr>
              <a:t>AD9618</a:t>
            </a:r>
            <a:r>
              <a:rPr lang="zh-CN" altLang="en-US" sz="2400" dirty="0">
                <a:solidFill>
                  <a:schemeClr val="tx1"/>
                </a:solidFill>
                <a:latin typeface="Times New Roman" panose="02020603050405020304" pitchFamily="18" charset="0"/>
              </a:rPr>
              <a:t>将</a:t>
            </a:r>
            <a:r>
              <a:rPr lang="en-US" altLang="zh-CN" sz="2400" dirty="0">
                <a:solidFill>
                  <a:schemeClr val="tx1"/>
                </a:solidFill>
                <a:latin typeface="Times New Roman" panose="02020603050405020304" pitchFamily="18" charset="0"/>
              </a:rPr>
              <a:t>±0.125V</a:t>
            </a:r>
            <a:r>
              <a:rPr lang="zh-CN" altLang="en-US" sz="2400" dirty="0">
                <a:solidFill>
                  <a:schemeClr val="tx1"/>
                </a:solidFill>
                <a:latin typeface="Times New Roman" panose="02020603050405020304" pitchFamily="18" charset="0"/>
              </a:rPr>
              <a:t>的输入信号放大</a:t>
            </a:r>
            <a:r>
              <a:rPr lang="en-US" altLang="zh-CN" sz="2400" dirty="0">
                <a:solidFill>
                  <a:schemeClr val="tx1"/>
                </a:solidFill>
                <a:latin typeface="Times New Roman" panose="02020603050405020304" pitchFamily="18" charset="0"/>
              </a:rPr>
              <a:t>8</a:t>
            </a:r>
            <a:r>
              <a:rPr lang="zh-CN" altLang="en-US" sz="2400" dirty="0">
                <a:solidFill>
                  <a:schemeClr val="tx1"/>
                </a:solidFill>
                <a:latin typeface="Times New Roman" panose="02020603050405020304" pitchFamily="18" charset="0"/>
              </a:rPr>
              <a:t>倍后送入</a:t>
            </a:r>
            <a:r>
              <a:rPr lang="en-US" altLang="zh-CN" sz="2400" dirty="0">
                <a:solidFill>
                  <a:schemeClr val="tx1"/>
                </a:solidFill>
                <a:latin typeface="Times New Roman" panose="02020603050405020304" pitchFamily="18" charset="0"/>
              </a:rPr>
              <a:t>AD9058 </a:t>
            </a:r>
            <a:r>
              <a:rPr lang="zh-CN" altLang="en-US" sz="2400" dirty="0">
                <a:solidFill>
                  <a:schemeClr val="tx1"/>
                </a:solidFill>
                <a:latin typeface="Times New Roman" panose="02020603050405020304" pitchFamily="18" charset="0"/>
              </a:rPr>
              <a:t>。</a:t>
            </a:r>
            <a:endParaRPr lang="zh-CN" altLang="en-US" sz="2400" dirty="0">
              <a:solidFill>
                <a:schemeClr val="tx1"/>
              </a:solidFill>
              <a:latin typeface="Times New Roman" panose="02020603050405020304" pitchFamily="18" charset="0"/>
            </a:endParaRPr>
          </a:p>
        </p:txBody>
      </p:sp>
      <p:sp>
        <p:nvSpPr>
          <p:cNvPr id="2390027" name="Text Box 11"/>
          <p:cNvSpPr txBox="1">
            <a:spLocks noChangeArrowheads="1"/>
          </p:cNvSpPr>
          <p:nvPr/>
        </p:nvSpPr>
        <p:spPr bwMode="auto">
          <a:xfrm>
            <a:off x="546100" y="1268413"/>
            <a:ext cx="6100763"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AD9058</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：使用外部参考源的典型接口电路</a:t>
            </a:r>
            <a:endPar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5938" name="Text Box 2"/>
          <p:cNvSpPr txBox="1">
            <a:spLocks noChangeArrowheads="1"/>
          </p:cNvSpPr>
          <p:nvPr/>
        </p:nvSpPr>
        <p:spPr bwMode="auto">
          <a:xfrm>
            <a:off x="546100" y="688975"/>
            <a:ext cx="81915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2</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的输出数据锁存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5939" name="Text Box 3"/>
          <p:cNvSpPr txBox="1">
            <a:spLocks noChangeArrowheads="1"/>
          </p:cNvSpPr>
          <p:nvPr/>
        </p:nvSpPr>
        <p:spPr bwMode="auto">
          <a:xfrm>
            <a:off x="546100" y="1425575"/>
            <a:ext cx="8183563" cy="1735138"/>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问题：</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由于采样率高，数据输出速率快，软件和常规微机接口的工作速度难以匹配；</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采样率过高时，常规逻辑器件不能满足数据缓冲和存储的需要。</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5940" name="Text Box 4"/>
          <p:cNvSpPr txBox="1">
            <a:spLocks noChangeArrowheads="1"/>
          </p:cNvSpPr>
          <p:nvPr/>
        </p:nvSpPr>
        <p:spPr bwMode="auto">
          <a:xfrm>
            <a:off x="538163" y="3317875"/>
            <a:ext cx="8191500" cy="2720975"/>
          </a:xfrm>
          <a:prstGeom prst="rect">
            <a:avLst/>
          </a:prstGeom>
          <a:noFill/>
          <a:ln w="9525">
            <a:noFill/>
            <a:miter lim="800000"/>
          </a:ln>
          <a:effectLst/>
        </p:spPr>
        <p:txBody>
          <a:bodyPr>
            <a:spAutoFit/>
          </a:bodyPr>
          <a:lstStyle/>
          <a:p>
            <a:pPr marL="685800" marR="0" indent="-685800" defTabSz="914400" eaLnBrk="1" hangingPunct="1">
              <a:lnSpc>
                <a:spcPct val="12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解决方案：</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        用硬件实现转换过程的控制和采样数据的同步：</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若实时性要求不高，可先缓存数据，然后用计算机集中对数据离线处理；</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若实时性要求较高，采用数字信号处理器（</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）或硬件（</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FPGA</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CPLD</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ASIC</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）直接处理数据；</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6962" name="Text Box 2"/>
          <p:cNvSpPr txBox="1">
            <a:spLocks noChangeArrowheads="1"/>
          </p:cNvSpPr>
          <p:nvPr/>
        </p:nvSpPr>
        <p:spPr bwMode="auto">
          <a:xfrm>
            <a:off x="546100" y="688975"/>
            <a:ext cx="81915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2</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的输出数据锁存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41315" name="Picture 3"/>
          <p:cNvPicPr>
            <a:picLocks noChangeAspect="1"/>
          </p:cNvPicPr>
          <p:nvPr/>
        </p:nvPicPr>
        <p:blipFill>
          <a:blip r:embed="rId1"/>
          <a:stretch>
            <a:fillRect/>
          </a:stretch>
        </p:blipFill>
        <p:spPr>
          <a:xfrm>
            <a:off x="2960688" y="1263650"/>
            <a:ext cx="5602287" cy="2346325"/>
          </a:xfrm>
          <a:prstGeom prst="rect">
            <a:avLst/>
          </a:prstGeom>
          <a:noFill/>
          <a:ln w="9525">
            <a:noFill/>
          </a:ln>
        </p:spPr>
      </p:pic>
      <p:pic>
        <p:nvPicPr>
          <p:cNvPr id="141316" name="Picture 4"/>
          <p:cNvPicPr>
            <a:picLocks noChangeAspect="1"/>
          </p:cNvPicPr>
          <p:nvPr/>
        </p:nvPicPr>
        <p:blipFill>
          <a:blip r:embed="rId2"/>
          <a:stretch>
            <a:fillRect/>
          </a:stretch>
        </p:blipFill>
        <p:spPr>
          <a:xfrm>
            <a:off x="2616200" y="3840163"/>
            <a:ext cx="6488113" cy="238442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381000" y="1585913"/>
            <a:ext cx="2387600" cy="749300"/>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AD9058</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没有流水线延迟</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2" name="Text Box 11"/>
          <p:cNvSpPr txBox="1">
            <a:spLocks noChangeArrowheads="1"/>
          </p:cNvSpPr>
          <p:nvPr/>
        </p:nvSpPr>
        <p:spPr bwMode="auto">
          <a:xfrm>
            <a:off x="381000" y="3840163"/>
            <a:ext cx="2387600" cy="749300"/>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AD872</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三级流水线延迟</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7986"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3</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使用多路分配器输出数据</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7987" name="Text Box 3"/>
          <p:cNvSpPr txBox="1">
            <a:spLocks noChangeArrowheads="1"/>
          </p:cNvSpPr>
          <p:nvPr/>
        </p:nvSpPr>
        <p:spPr bwMode="auto">
          <a:xfrm>
            <a:off x="701675" y="1287463"/>
            <a:ext cx="8027988" cy="1406525"/>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问题：</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采样率越高，</a:t>
            </a:r>
            <a:r>
              <a:rPr kumimoji="1" lang="zh-CN" altLang="en-US" sz="2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数据输出速率越高</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，需要更高速的存储器来进行数据缓存，会进一步导致成本和功耗成倍增加</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Char char="•"/>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7988" name="Text Box 4"/>
          <p:cNvSpPr txBox="1">
            <a:spLocks noChangeArrowheads="1"/>
          </p:cNvSpPr>
          <p:nvPr/>
        </p:nvSpPr>
        <p:spPr bwMode="auto">
          <a:xfrm>
            <a:off x="709613" y="2552700"/>
            <a:ext cx="8027988" cy="1077913"/>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解决思路：</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zh-CN" altLang="en-US" sz="24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面积换取速度</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思想，即多路分配方案，降低存储速率。</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None/>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42341" name="Picture 5"/>
          <p:cNvPicPr>
            <a:picLocks noChangeAspect="1"/>
          </p:cNvPicPr>
          <p:nvPr/>
        </p:nvPicPr>
        <p:blipFill>
          <a:blip r:embed="rId1"/>
          <a:stretch>
            <a:fillRect/>
          </a:stretch>
        </p:blipFill>
        <p:spPr>
          <a:xfrm>
            <a:off x="3954463" y="3543300"/>
            <a:ext cx="4486275" cy="2705100"/>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42343" name="Rectangle 8"/>
          <p:cNvSpPr/>
          <p:nvPr/>
        </p:nvSpPr>
        <p:spPr>
          <a:xfrm>
            <a:off x="546100" y="3543300"/>
            <a:ext cx="3162300" cy="2670175"/>
          </a:xfrm>
          <a:prstGeom prst="rect">
            <a:avLst/>
          </a:prstGeom>
          <a:noFill/>
          <a:ln w="9525">
            <a:noFill/>
          </a:ln>
        </p:spPr>
        <p:txBody>
          <a:bodyPr>
            <a:spAutoFit/>
          </a:bodyPr>
          <a:p>
            <a:pPr eaLnBrk="1" hangingPunct="1">
              <a:lnSpc>
                <a:spcPct val="110000"/>
              </a:lnSpc>
            </a:pPr>
            <a:r>
              <a:rPr lang="zh-CN" altLang="en-US" sz="2200" dirty="0">
                <a:solidFill>
                  <a:schemeClr val="accent2"/>
                </a:solidFill>
                <a:latin typeface="Times New Roman" panose="02020603050405020304" pitchFamily="18" charset="0"/>
              </a:rPr>
              <a:t>某些高速</a:t>
            </a:r>
            <a:r>
              <a:rPr lang="en-US" altLang="zh-CN" sz="2200" dirty="0">
                <a:solidFill>
                  <a:schemeClr val="accent2"/>
                </a:solidFill>
                <a:latin typeface="Times New Roman" panose="02020603050405020304" pitchFamily="18" charset="0"/>
              </a:rPr>
              <a:t>ADC</a:t>
            </a:r>
            <a:r>
              <a:rPr lang="zh-CN" altLang="en-US" sz="2200" dirty="0">
                <a:solidFill>
                  <a:schemeClr val="accent2"/>
                </a:solidFill>
                <a:latin typeface="Times New Roman" panose="02020603050405020304" pitchFamily="18" charset="0"/>
              </a:rPr>
              <a:t>内部集成有多路分配器。例如，</a:t>
            </a:r>
            <a:r>
              <a:rPr lang="en-US" altLang="zh-CN" sz="2200" dirty="0">
                <a:solidFill>
                  <a:schemeClr val="accent2"/>
                </a:solidFill>
                <a:latin typeface="Times New Roman" panose="02020603050405020304" pitchFamily="18" charset="0"/>
              </a:rPr>
              <a:t>AD9032</a:t>
            </a:r>
            <a:r>
              <a:rPr lang="zh-CN" altLang="en-US" sz="2200" dirty="0">
                <a:solidFill>
                  <a:schemeClr val="accent2"/>
                </a:solidFill>
                <a:latin typeface="Times New Roman" panose="02020603050405020304" pitchFamily="18" charset="0"/>
              </a:rPr>
              <a:t>（</a:t>
            </a:r>
            <a:r>
              <a:rPr lang="en-US" altLang="zh-CN" sz="2200" dirty="0">
                <a:solidFill>
                  <a:schemeClr val="accent2"/>
                </a:solidFill>
                <a:latin typeface="Times New Roman" panose="02020603050405020304" pitchFamily="18" charset="0"/>
              </a:rPr>
              <a:t>8</a:t>
            </a:r>
            <a:r>
              <a:rPr lang="zh-CN" altLang="en-US" sz="2200" dirty="0">
                <a:solidFill>
                  <a:schemeClr val="accent2"/>
                </a:solidFill>
                <a:latin typeface="Times New Roman" panose="02020603050405020304" pitchFamily="18" charset="0"/>
              </a:rPr>
              <a:t>位</a:t>
            </a:r>
            <a:r>
              <a:rPr lang="en-US" altLang="zh-CN" sz="2200" dirty="0">
                <a:solidFill>
                  <a:schemeClr val="accent2"/>
                </a:solidFill>
                <a:latin typeface="Times New Roman" panose="02020603050405020304" pitchFamily="18" charset="0"/>
              </a:rPr>
              <a:t>300MSPS</a:t>
            </a:r>
            <a:r>
              <a:rPr lang="zh-CN" altLang="en-US" sz="2200" dirty="0">
                <a:solidFill>
                  <a:schemeClr val="accent2"/>
                </a:solidFill>
                <a:latin typeface="Times New Roman" panose="02020603050405020304" pitchFamily="18" charset="0"/>
              </a:rPr>
              <a:t>）有两个</a:t>
            </a:r>
            <a:r>
              <a:rPr lang="en-US" altLang="zh-CN" sz="2200" dirty="0">
                <a:solidFill>
                  <a:schemeClr val="accent2"/>
                </a:solidFill>
                <a:latin typeface="Times New Roman" panose="02020603050405020304" pitchFamily="18" charset="0"/>
              </a:rPr>
              <a:t>8</a:t>
            </a:r>
            <a:r>
              <a:rPr lang="zh-CN" altLang="en-US" sz="2200" dirty="0">
                <a:solidFill>
                  <a:schemeClr val="accent2"/>
                </a:solidFill>
                <a:latin typeface="Times New Roman" panose="02020603050405020304" pitchFamily="18" charset="0"/>
              </a:rPr>
              <a:t>位输出端口，当采样时钟为</a:t>
            </a:r>
            <a:r>
              <a:rPr lang="en-US" altLang="zh-CN" sz="2200" dirty="0">
                <a:solidFill>
                  <a:schemeClr val="accent2"/>
                </a:solidFill>
                <a:latin typeface="Times New Roman" panose="02020603050405020304" pitchFamily="18" charset="0"/>
              </a:rPr>
              <a:t>300MSPS</a:t>
            </a:r>
            <a:r>
              <a:rPr lang="zh-CN" altLang="en-US" sz="2200" dirty="0">
                <a:solidFill>
                  <a:schemeClr val="accent2"/>
                </a:solidFill>
                <a:latin typeface="Times New Roman" panose="02020603050405020304" pitchFamily="18" charset="0"/>
              </a:rPr>
              <a:t>时，每个端口的数据输出速率为</a:t>
            </a:r>
            <a:r>
              <a:rPr lang="en-US" altLang="zh-CN" sz="2200" dirty="0">
                <a:solidFill>
                  <a:schemeClr val="accent2"/>
                </a:solidFill>
                <a:latin typeface="Times New Roman" panose="02020603050405020304" pitchFamily="18" charset="0"/>
              </a:rPr>
              <a:t>150MSPS</a:t>
            </a:r>
            <a:r>
              <a:rPr lang="zh-CN" altLang="en-US" sz="2200" dirty="0">
                <a:solidFill>
                  <a:schemeClr val="accent2"/>
                </a:solidFill>
                <a:latin typeface="Times New Roman" panose="02020603050405020304" pitchFamily="18" charset="0"/>
              </a:rPr>
              <a:t>。</a:t>
            </a:r>
            <a:endParaRPr lang="zh-CN" altLang="en-US" sz="2200" dirty="0">
              <a:solidFill>
                <a:schemeClr val="accent2"/>
              </a:solidFill>
              <a:latin typeface="Times New Roman" panose="02020603050405020304" pitchFamily="18" charset="0"/>
            </a:endParaRPr>
          </a:p>
        </p:txBody>
      </p:sp>
    </p:spTree>
  </p:cSld>
  <p:clrMapOvr>
    <a:masterClrMapping/>
  </p:clrMapOvr>
  <p:transition spd="slow">
    <p:cover dir="d"/>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901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3</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使用多路分配器输出数据</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99011" name="Text Box 3"/>
          <p:cNvSpPr txBox="1">
            <a:spLocks noChangeArrowheads="1"/>
          </p:cNvSpPr>
          <p:nvPr/>
        </p:nvSpPr>
        <p:spPr bwMode="auto">
          <a:xfrm>
            <a:off x="128588" y="1473200"/>
            <a:ext cx="8929688" cy="4206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AD9481   250MSPS   8bit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数据分相输出（</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2</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路），</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125MBps</a:t>
            </a:r>
            <a:endPar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43364" name="Picture 4"/>
          <p:cNvPicPr>
            <a:picLocks noChangeAspect="1"/>
          </p:cNvPicPr>
          <p:nvPr/>
        </p:nvPicPr>
        <p:blipFill>
          <a:blip r:embed="rId1"/>
          <a:stretch>
            <a:fillRect/>
          </a:stretch>
        </p:blipFill>
        <p:spPr>
          <a:xfrm>
            <a:off x="0" y="2378075"/>
            <a:ext cx="4165600" cy="3198813"/>
          </a:xfrm>
          <a:prstGeom prst="rect">
            <a:avLst/>
          </a:prstGeom>
          <a:noFill/>
          <a:ln w="9525">
            <a:noFill/>
          </a:ln>
        </p:spPr>
      </p:pic>
      <p:pic>
        <p:nvPicPr>
          <p:cNvPr id="143365" name="Picture 5"/>
          <p:cNvPicPr>
            <a:picLocks noChangeAspect="1"/>
          </p:cNvPicPr>
          <p:nvPr/>
        </p:nvPicPr>
        <p:blipFill>
          <a:blip r:embed="rId2"/>
          <a:stretch>
            <a:fillRect/>
          </a:stretch>
        </p:blipFill>
        <p:spPr>
          <a:xfrm>
            <a:off x="4165600" y="2368550"/>
            <a:ext cx="4978400" cy="3232150"/>
          </a:xfrm>
          <a:prstGeom prst="rect">
            <a:avLst/>
          </a:prstGeom>
          <a:noFill/>
          <a:ln w="9525">
            <a:noFill/>
          </a:ln>
        </p:spPr>
      </p:pic>
      <p:sp>
        <p:nvSpPr>
          <p:cNvPr id="143366" name="Oval 6"/>
          <p:cNvSpPr/>
          <p:nvPr/>
        </p:nvSpPr>
        <p:spPr>
          <a:xfrm>
            <a:off x="2471738" y="2857500"/>
            <a:ext cx="1693862" cy="728663"/>
          </a:xfrm>
          <a:prstGeom prst="ellipse">
            <a:avLst/>
          </a:prstGeom>
          <a:no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43367" name="Oval 7"/>
          <p:cNvSpPr/>
          <p:nvPr/>
        </p:nvSpPr>
        <p:spPr>
          <a:xfrm>
            <a:off x="2471738" y="3586163"/>
            <a:ext cx="1693862" cy="728662"/>
          </a:xfrm>
          <a:prstGeom prst="ellipse">
            <a:avLst/>
          </a:prstGeom>
          <a:no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0034"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73125" y="1457325"/>
            <a:ext cx="7443788" cy="420688"/>
          </a:xfrm>
          <a:prstGeom prst="rect">
            <a:avLst/>
          </a:prstGeom>
          <a:solidFill>
            <a:srgbClr val="CCFFFF"/>
          </a:solidFill>
          <a:ln w="9525" algn="ctr">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采样率≥ </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100kSPS</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、分辨率</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16bit</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的高速、高精度</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ADC</a:t>
            </a:r>
            <a:endPar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300037" name="Text Box 5"/>
          <p:cNvSpPr txBox="1">
            <a:spLocks noChangeArrowheads="1"/>
          </p:cNvSpPr>
          <p:nvPr/>
        </p:nvSpPr>
        <p:spPr bwMode="auto">
          <a:xfrm>
            <a:off x="815975" y="4038600"/>
            <a:ext cx="7500938" cy="1077913"/>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以</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AD7884</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16bit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166kSPS</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、带数字校正的再循环分级型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）和</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AD676</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16bit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100kSPS</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、电荷重分布型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）为例。</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52488"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0040" name="Text Box 8"/>
          <p:cNvSpPr txBox="1">
            <a:spLocks noChangeArrowheads="1"/>
          </p:cNvSpPr>
          <p:nvPr/>
        </p:nvSpPr>
        <p:spPr bwMode="auto">
          <a:xfrm>
            <a:off x="873125" y="2093913"/>
            <a:ext cx="7500938" cy="1698625"/>
          </a:xfrm>
          <a:prstGeom prst="rect">
            <a:avLst/>
          </a:prstGeom>
          <a:noFill/>
          <a:ln w="9525">
            <a:noFill/>
            <a:miter lim="800000"/>
          </a:ln>
          <a:effectLst/>
        </p:spPr>
        <p:txBody>
          <a:bodyPr>
            <a:spAutoFit/>
          </a:bodyPr>
          <a:lstStyle/>
          <a:p>
            <a:pPr marR="0" defTabSz="914400" eaLnBrk="1" hangingPunct="1">
              <a:lnSpc>
                <a:spcPct val="11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使用面临的问题 ：</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1</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、高速和带宽导致的问题；</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en-US" altLang="zh-CN"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2</a:t>
            </a: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、直流精度问题；</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        其中，实现低噪声性能是难点。</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2082"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2083" name="Text Box 3"/>
          <p:cNvSpPr txBox="1">
            <a:spLocks noChangeArrowheads="1"/>
          </p:cNvSpPr>
          <p:nvPr/>
        </p:nvSpPr>
        <p:spPr bwMode="auto">
          <a:xfrm>
            <a:off x="217488" y="4179888"/>
            <a:ext cx="2582863" cy="2063750"/>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分辨率越高，</a:t>
            </a:r>
            <a:r>
              <a:rPr kumimoji="1" lang="en-US" altLang="zh-CN"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采集受噪声影响明显。</a:t>
            </a:r>
            <a:r>
              <a:rPr kumimoji="1" lang="en-US" altLang="zh-CN"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AD7884  DC</a:t>
            </a:r>
            <a:r>
              <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输入时，有效位数只有</a:t>
            </a:r>
            <a:r>
              <a:rPr kumimoji="1" lang="en-US" altLang="zh-CN"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14.3bit</a:t>
            </a:r>
            <a:endPar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46436" name="Picture 4"/>
          <p:cNvPicPr>
            <a:picLocks noChangeAspect="1"/>
          </p:cNvPicPr>
          <p:nvPr/>
        </p:nvPicPr>
        <p:blipFill>
          <a:blip r:embed="rId1"/>
          <a:stretch>
            <a:fillRect/>
          </a:stretch>
        </p:blipFill>
        <p:spPr>
          <a:xfrm>
            <a:off x="1905000" y="1268413"/>
            <a:ext cx="5214938" cy="2530475"/>
          </a:xfrm>
          <a:prstGeom prst="rect">
            <a:avLst/>
          </a:prstGeom>
          <a:noFill/>
          <a:ln w="9525">
            <a:noFill/>
          </a:ln>
        </p:spPr>
      </p:pic>
      <p:sp>
        <p:nvSpPr>
          <p:cNvPr id="146437" name="右箭头 24"/>
          <p:cNvSpPr/>
          <p:nvPr/>
        </p:nvSpPr>
        <p:spPr>
          <a:xfrm>
            <a:off x="2803525" y="4619625"/>
            <a:ext cx="1655763" cy="400050"/>
          </a:xfrm>
          <a:prstGeom prst="rightArrow">
            <a:avLst>
              <a:gd name="adj1" fmla="val 50000"/>
              <a:gd name="adj2" fmla="val 137963"/>
            </a:avLst>
          </a:prstGeom>
          <a:solidFill>
            <a:schemeClr val="bg1"/>
          </a:solidFill>
          <a:ln w="28575" cap="flat" cmpd="sng">
            <a:solidFill>
              <a:srgbClr val="339966"/>
            </a:solidFill>
            <a:prstDash val="solid"/>
            <a:miter/>
            <a:headEnd type="none" w="med" len="med"/>
            <a:tailEnd type="none" w="med" len="med"/>
          </a:ln>
        </p:spPr>
        <p:txBody>
          <a:bodyPr anchor="ctr" anchorCtr="0"/>
          <a:p>
            <a:pPr algn="ctr" eaLnBrk="1" hangingPunct="1"/>
            <a:endParaRPr lang="zh-CN" altLang="en-US" dirty="0">
              <a:solidFill>
                <a:srgbClr val="FFFFFF"/>
              </a:solidFill>
              <a:latin typeface="Arial" panose="020B0604020202020204" pitchFamily="34" charset="0"/>
            </a:endParaRPr>
          </a:p>
        </p:txBody>
      </p:sp>
      <p:pic>
        <p:nvPicPr>
          <p:cNvPr id="146438" name="Picture 6"/>
          <p:cNvPicPr>
            <a:picLocks noChangeAspect="1"/>
          </p:cNvPicPr>
          <p:nvPr/>
        </p:nvPicPr>
        <p:blipFill>
          <a:blip r:embed="rId2"/>
          <a:stretch>
            <a:fillRect/>
          </a:stretch>
        </p:blipFill>
        <p:spPr>
          <a:xfrm>
            <a:off x="5753100" y="3449638"/>
            <a:ext cx="3148013" cy="2803525"/>
          </a:xfrm>
          <a:prstGeom prst="rect">
            <a:avLst/>
          </a:prstGeom>
          <a:noFill/>
          <a:ln w="9525">
            <a:noFill/>
          </a:ln>
        </p:spPr>
      </p:pic>
      <p:sp>
        <p:nvSpPr>
          <p:cNvPr id="302087" name="Text Box 7"/>
          <p:cNvSpPr txBox="1">
            <a:spLocks noChangeArrowheads="1"/>
          </p:cNvSpPr>
          <p:nvPr/>
        </p:nvSpPr>
        <p:spPr bwMode="auto">
          <a:xfrm>
            <a:off x="3475038" y="5019675"/>
            <a:ext cx="2582863" cy="1077913"/>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对固定直流信号采样时，编码呈正态分布</a:t>
            </a:r>
            <a:endParaRPr kumimoji="1" lang="zh-CN" altLang="en-US" sz="24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46440" name="AutoShape 8"/>
          <p:cNvSpPr/>
          <p:nvPr/>
        </p:nvSpPr>
        <p:spPr>
          <a:xfrm>
            <a:off x="6897688" y="2833688"/>
            <a:ext cx="2089150" cy="673100"/>
          </a:xfrm>
          <a:prstGeom prst="wedgeRoundRectCallout">
            <a:avLst>
              <a:gd name="adj1" fmla="val -13755"/>
              <a:gd name="adj2" fmla="val 16792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dirty="0">
                <a:solidFill>
                  <a:schemeClr val="bg1"/>
                </a:solidFill>
                <a:latin typeface="Times New Roman" panose="02020603050405020304" pitchFamily="18" charset="0"/>
              </a:rPr>
              <a:t>峰峰值噪声</a:t>
            </a:r>
            <a:r>
              <a:rPr lang="en-US" altLang="zh-CN" sz="2000" dirty="0">
                <a:solidFill>
                  <a:schemeClr val="bg1"/>
                </a:solidFill>
                <a:latin typeface="Times New Roman" panose="02020603050405020304" pitchFamily="18" charset="0"/>
              </a:rPr>
              <a:t>5LSB</a:t>
            </a:r>
            <a:endParaRPr lang="en-US" altLang="zh-CN" sz="2000" dirty="0">
              <a:solidFill>
                <a:schemeClr val="bg1"/>
              </a:solidFill>
              <a:latin typeface="Times New Roman" panose="02020603050405020304" pitchFamily="18" charset="0"/>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4130"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4131" name="Text Box 3"/>
          <p:cNvSpPr txBox="1">
            <a:spLocks noChangeArrowheads="1"/>
          </p:cNvSpPr>
          <p:nvPr/>
        </p:nvSpPr>
        <p:spPr bwMode="auto">
          <a:xfrm>
            <a:off x="701675" y="1382713"/>
            <a:ext cx="8027988" cy="2143125"/>
          </a:xfrm>
          <a:prstGeom prst="rect">
            <a:avLst/>
          </a:prstGeom>
          <a:noFill/>
          <a:ln w="9525">
            <a:noFill/>
            <a:miter lim="800000"/>
          </a:ln>
          <a:effectLst/>
        </p:spPr>
        <p:txBody>
          <a:bodyPr>
            <a:spAutoFit/>
          </a:bodyPr>
          <a:lstStyle/>
          <a:p>
            <a:pPr marL="685800" marR="0" indent="-685800" defTabSz="914400" eaLnBrk="1" hangingPunct="1">
              <a:lnSpc>
                <a:spcPct val="120000"/>
              </a:lnSpc>
              <a:buClrTx/>
              <a:buSzTx/>
              <a:buFontTx/>
              <a:buNone/>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导致这一问题的原因是噪声。可能的噪声来源：</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Tx/>
              <a:buAutoNum type="arabicPeriod"/>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信号源输入阻抗过高；</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Tx/>
              <a:buAutoNum type="arabicPeriod"/>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内部采样保持器的带宽较宽；</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Tx/>
              <a:buAutoNum type="arabicPeriod"/>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其它宽带电路不可避免引入噪声。</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4132" name="Text Box 4"/>
          <p:cNvSpPr txBox="1">
            <a:spLocks noChangeArrowheads="1"/>
          </p:cNvSpPr>
          <p:nvPr/>
        </p:nvSpPr>
        <p:spPr bwMode="auto">
          <a:xfrm>
            <a:off x="715963" y="4211638"/>
            <a:ext cx="8027988" cy="1117600"/>
          </a:xfrm>
          <a:prstGeom prst="rect">
            <a:avLst/>
          </a:prstGeom>
          <a:noFill/>
          <a:ln w="9525">
            <a:noFill/>
            <a:miter lim="800000"/>
          </a:ln>
          <a:effectLst/>
        </p:spPr>
        <p:txBody>
          <a:bodyPr>
            <a:spAutoFit/>
          </a:bodyPr>
          <a:lstStyle/>
          <a:p>
            <a:pPr marL="685800" marR="0" indent="-685800" defTabSz="914400" eaLnBrk="1" hangingPunct="1">
              <a:lnSpc>
                <a:spcPct val="120000"/>
              </a:lnSpc>
              <a:buClrTx/>
              <a:buSzTx/>
              <a:buFontTx/>
              <a:buNone/>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解决措施：</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120000"/>
              </a:lnSpc>
              <a:buClrTx/>
              <a:buSzTx/>
              <a:buFontTx/>
              <a:buNone/>
              <a:defRPr/>
            </a:pPr>
            <a:r>
              <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良好的布线、接地和去耦技术</a:t>
            </a:r>
            <a:endParaRPr kumimoji="1" lang="zh-CN" altLang="en-US"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6178"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6179" name="Text Box 3"/>
          <p:cNvSpPr txBox="1">
            <a:spLocks noChangeArrowheads="1"/>
          </p:cNvSpPr>
          <p:nvPr/>
        </p:nvSpPr>
        <p:spPr bwMode="auto">
          <a:xfrm>
            <a:off x="701675" y="1182688"/>
            <a:ext cx="8027988" cy="604838"/>
          </a:xfrm>
          <a:prstGeom prst="rect">
            <a:avLst/>
          </a:prstGeom>
          <a:noFill/>
          <a:ln w="9525">
            <a:noFill/>
            <a:miter lim="800000"/>
          </a:ln>
          <a:effectLst/>
        </p:spPr>
        <p:txBody>
          <a:bodyPr>
            <a:spAutoFit/>
          </a:bodyPr>
          <a:lstStyle/>
          <a:p>
            <a:pPr marL="685800" marR="0" indent="-685800" defTabSz="914400" eaLnBrk="1" hangingPunct="1">
              <a:lnSpc>
                <a:spcPct val="120000"/>
              </a:lnSpc>
              <a:buClrTx/>
              <a:buSzTx/>
              <a:buFontTx/>
              <a:buNone/>
              <a:defRPr/>
            </a:pPr>
            <a:r>
              <a:rPr kumimoji="1" lang="en-US" altLang="zh-CN"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AD7884</a:t>
            </a: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输入端与参考源</a:t>
            </a:r>
            <a:endPar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50532" name="Picture 4"/>
          <p:cNvPicPr>
            <a:picLocks noChangeAspect="1"/>
          </p:cNvPicPr>
          <p:nvPr/>
        </p:nvPicPr>
        <p:blipFill>
          <a:blip r:embed="rId1"/>
          <a:stretch>
            <a:fillRect/>
          </a:stretch>
        </p:blipFill>
        <p:spPr>
          <a:xfrm>
            <a:off x="515938" y="1744663"/>
            <a:ext cx="3021012" cy="4483100"/>
          </a:xfrm>
          <a:prstGeom prst="rect">
            <a:avLst/>
          </a:prstGeom>
          <a:noFill/>
          <a:ln w="9525">
            <a:noFill/>
          </a:ln>
        </p:spPr>
      </p:pic>
      <p:sp>
        <p:nvSpPr>
          <p:cNvPr id="306181" name="Text Box 5"/>
          <p:cNvSpPr txBox="1">
            <a:spLocks noChangeArrowheads="1"/>
          </p:cNvSpPr>
          <p:nvPr/>
        </p:nvSpPr>
        <p:spPr bwMode="auto">
          <a:xfrm>
            <a:off x="3815715" y="2038350"/>
            <a:ext cx="5013960" cy="3677285"/>
          </a:xfrm>
          <a:prstGeom prst="rect">
            <a:avLst/>
          </a:prstGeom>
          <a:noFill/>
          <a:ln w="9525">
            <a:noFill/>
            <a:miter lim="800000"/>
          </a:ln>
          <a:effectLst/>
        </p:spPr>
        <p:txBody>
          <a:bodyPr>
            <a:noAutofit/>
          </a:bodyPr>
          <a:lstStyle/>
          <a:p>
            <a:pPr marR="0" defTabSz="914400" eaLnBrk="1" hangingPunct="1">
              <a:lnSpc>
                <a:spcPct val="120000"/>
              </a:lnSpc>
              <a:buClrTx/>
              <a:buSzTx/>
              <a:buFontTx/>
              <a:buAutoNum type="arabicPeriod"/>
              <a:defRPr/>
            </a:pP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输入信号缓冲放大器的选择应取决于输入信号带宽；</a:t>
            </a:r>
            <a:endPar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AutoNum type="arabicPeriod"/>
              <a:defRPr/>
            </a:pP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参考源用高精度参考</a:t>
            </a:r>
            <a:r>
              <a:rPr kumimoji="1" lang="en-US" altLang="zh-CN"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AD780</a:t>
            </a: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驱动；</a:t>
            </a:r>
            <a:endPar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AutoNum type="arabicPeriod"/>
              <a:defRPr/>
            </a:pPr>
            <a:r>
              <a:rPr kumimoji="1" lang="en-US" altLang="zh-CN"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AD780</a:t>
            </a: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的输出端接</a:t>
            </a:r>
            <a:r>
              <a:rPr kumimoji="1" lang="en-US" altLang="zh-CN"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10uF</a:t>
            </a: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去耦电容，以吸收</a:t>
            </a:r>
            <a:r>
              <a:rPr kumimoji="1" lang="en-US" altLang="zh-CN"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内部</a:t>
            </a:r>
            <a:r>
              <a:rPr kumimoji="1" lang="en-US" altLang="zh-CN"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变换产生的瞬态电压。</a:t>
            </a:r>
            <a:endParaRPr kumimoji="1" lang="zh-CN" altLang="en-US" sz="32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8226"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8227" name="Text Box 3"/>
          <p:cNvSpPr txBox="1">
            <a:spLocks noChangeArrowheads="1"/>
          </p:cNvSpPr>
          <p:nvPr/>
        </p:nvSpPr>
        <p:spPr bwMode="auto">
          <a:xfrm>
            <a:off x="701675" y="1211263"/>
            <a:ext cx="8027988" cy="1735138"/>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AD676</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特点：</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16bit    100kSPS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电荷重分布型</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endPar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电容网络的存在，不必使用额外的采样保持器</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具有自校正电路，可自动校正微</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积分非线性误差</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校正随时可启动，周期大概</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50ms</a:t>
            </a:r>
            <a:endPar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08228" name="Text Box 4"/>
          <p:cNvSpPr txBox="1">
            <a:spLocks noChangeArrowheads="1"/>
          </p:cNvSpPr>
          <p:nvPr/>
        </p:nvSpPr>
        <p:spPr bwMode="auto">
          <a:xfrm>
            <a:off x="738188" y="2976563"/>
            <a:ext cx="8027988" cy="1406525"/>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PCB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路径阻抗对高精度转换的影响：</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例如，</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1.22mA</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电流通过</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0.5Ω</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路径时，会产生</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0.6mV</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电压降，对一个满度</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10V</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16bit  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，这一电压相当于</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4LSB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。故</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PCB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布线时的线宽和线长都是需要特别注意的。</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52581" name="Picture 5"/>
          <p:cNvPicPr>
            <a:picLocks noChangeAspect="1"/>
          </p:cNvPicPr>
          <p:nvPr/>
        </p:nvPicPr>
        <p:blipFill>
          <a:blip r:embed="rId1"/>
          <a:stretch>
            <a:fillRect/>
          </a:stretch>
        </p:blipFill>
        <p:spPr>
          <a:xfrm>
            <a:off x="28575" y="4572000"/>
            <a:ext cx="4543425" cy="1685925"/>
          </a:xfrm>
          <a:prstGeom prst="rect">
            <a:avLst/>
          </a:prstGeom>
          <a:noFill/>
          <a:ln w="9525">
            <a:noFill/>
          </a:ln>
        </p:spPr>
      </p:pic>
      <p:sp>
        <p:nvSpPr>
          <p:cNvPr id="308230" name="Text Box 6"/>
          <p:cNvSpPr txBox="1">
            <a:spLocks noChangeArrowheads="1"/>
          </p:cNvSpPr>
          <p:nvPr/>
        </p:nvSpPr>
        <p:spPr bwMode="auto">
          <a:xfrm>
            <a:off x="4714875" y="4714875"/>
            <a:ext cx="4429125" cy="1406525"/>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AD676</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还具有模拟地检测引脚，当信号传输路径较远时，可用以补偿信号返回线上的小压降。</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08227"/>
                                        </p:tgtEl>
                                        <p:attrNameLst>
                                          <p:attrName>style.visibility</p:attrName>
                                        </p:attrNameLst>
                                      </p:cBhvr>
                                      <p:to>
                                        <p:strVal val="visible"/>
                                      </p:to>
                                    </p:set>
                                    <p:animEffect transition="in" filter="blinds(horizontal)">
                                      <p:cBhvr>
                                        <p:cTn id="7" dur="500"/>
                                        <p:tgtEl>
                                          <p:spTgt spid="308227"/>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08228"/>
                                        </p:tgtEl>
                                        <p:attrNameLst>
                                          <p:attrName>style.visibility</p:attrName>
                                        </p:attrNameLst>
                                      </p:cBhvr>
                                      <p:to>
                                        <p:strVal val="visible"/>
                                      </p:to>
                                    </p:set>
                                    <p:animEffect transition="in" filter="blinds(horizontal)">
                                      <p:cBhvr>
                                        <p:cTn id="10" dur="500"/>
                                        <p:tgtEl>
                                          <p:spTgt spid="308228"/>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308230"/>
                                        </p:tgtEl>
                                        <p:attrNameLst>
                                          <p:attrName>style.visibility</p:attrName>
                                        </p:attrNameLst>
                                      </p:cBhvr>
                                      <p:to>
                                        <p:strVal val="visible"/>
                                      </p:to>
                                    </p:set>
                                    <p:animEffect transition="in" filter="blinds(horizontal)">
                                      <p:cBhvr>
                                        <p:cTn id="13" dur="500"/>
                                        <p:tgtEl>
                                          <p:spTgt spid="308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227" grpId="0" bldLvl="0" animBg="1"/>
      <p:bldP spid="308228" grpId="0" bldLvl="0" animBg="1"/>
      <p:bldP spid="308230" grpId="0" bldLvl="0" animBg="1"/>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0274"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0275" name="Text Box 3"/>
          <p:cNvSpPr txBox="1">
            <a:spLocks noChangeArrowheads="1"/>
          </p:cNvSpPr>
          <p:nvPr/>
        </p:nvSpPr>
        <p:spPr bwMode="auto">
          <a:xfrm>
            <a:off x="546100" y="3170238"/>
            <a:ext cx="8183563" cy="2076450"/>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与参考源相关的参数指标有：</a:t>
            </a:r>
            <a:endPar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buClrTx/>
              <a:buSzTx/>
              <a:buFont typeface="Wingdings" panose="05000000000000000000" pitchFamily="2" charset="2"/>
              <a:buChar char="ü"/>
              <a:defRPr/>
            </a:pPr>
            <a:r>
              <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  直流参数：输出电流能力、电源电压调整率、负载调整、输出电容差、输出电压温漂</a:t>
            </a:r>
            <a:endPar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buClrTx/>
              <a:buSzTx/>
              <a:buFont typeface="Wingdings" panose="05000000000000000000" pitchFamily="2" charset="2"/>
              <a:buChar char="ü"/>
              <a:defRPr/>
            </a:pPr>
            <a:r>
              <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rPr>
              <a:t>  交流参数：导通建立时间、瞬态负载电流建立时间、噪声</a:t>
            </a:r>
            <a:endParaRPr kumimoji="1" lang="zh-CN" altLang="en-US" sz="2600" kern="1200" cap="none" spc="0" normalizeH="0" baseline="0" noProof="0">
              <a:solidFill>
                <a:srgbClr val="3333CC"/>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0276" name="Text Box 4"/>
          <p:cNvSpPr txBox="1">
            <a:spLocks noChangeArrowheads="1"/>
          </p:cNvSpPr>
          <p:nvPr/>
        </p:nvSpPr>
        <p:spPr bwMode="auto">
          <a:xfrm>
            <a:off x="546100" y="1925638"/>
            <a:ext cx="8183563" cy="1282700"/>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一个高精度、低漂移的外参考源是保证高速高精度</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性能的关键，它不仅决定</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的满量程范围，而且其总的直流精度和稳定性应优于</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4629" name="Text Box 11"/>
          <p:cNvSpPr txBox="1"/>
          <p:nvPr/>
        </p:nvSpPr>
        <p:spPr>
          <a:xfrm>
            <a:off x="774700" y="1382713"/>
            <a:ext cx="2411413"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外参考源设计</a:t>
            </a:r>
            <a:endParaRPr lang="zh-CN" altLang="en-US" dirty="0">
              <a:latin typeface="Times New Roman" panose="02020603050405020304" pitchFamily="18" charset="0"/>
            </a:endParaRPr>
          </a:p>
        </p:txBody>
      </p:sp>
      <p:sp>
        <p:nvSpPr>
          <p:cNvPr id="310278" name="Text Box 6"/>
          <p:cNvSpPr txBox="1">
            <a:spLocks noChangeArrowheads="1"/>
          </p:cNvSpPr>
          <p:nvPr/>
        </p:nvSpPr>
        <p:spPr bwMode="auto">
          <a:xfrm>
            <a:off x="525463" y="5291138"/>
            <a:ext cx="8183563" cy="885825"/>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设计原则：无论何种参考源，设计一个合适的滤波器，以消除宽带噪声</a:t>
            </a:r>
            <a:endParaRPr kumimoji="1" lang="zh-CN" altLang="en-US" sz="2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52488"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0275"/>
                                        </p:tgtEl>
                                        <p:attrNameLst>
                                          <p:attrName>style.visibility</p:attrName>
                                        </p:attrNameLst>
                                      </p:cBhvr>
                                      <p:to>
                                        <p:strVal val="visible"/>
                                      </p:to>
                                    </p:set>
                                    <p:animEffect transition="in" filter="blinds(horizontal)">
                                      <p:cBhvr>
                                        <p:cTn id="7" dur="500"/>
                                        <p:tgtEl>
                                          <p:spTgt spid="310275"/>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10276"/>
                                        </p:tgtEl>
                                        <p:attrNameLst>
                                          <p:attrName>style.visibility</p:attrName>
                                        </p:attrNameLst>
                                      </p:cBhvr>
                                      <p:to>
                                        <p:strVal val="visible"/>
                                      </p:to>
                                    </p:set>
                                    <p:animEffect transition="in" filter="blinds(horizontal)">
                                      <p:cBhvr>
                                        <p:cTn id="10" dur="500"/>
                                        <p:tgtEl>
                                          <p:spTgt spid="310276"/>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310278"/>
                                        </p:tgtEl>
                                        <p:attrNameLst>
                                          <p:attrName>style.visibility</p:attrName>
                                        </p:attrNameLst>
                                      </p:cBhvr>
                                      <p:to>
                                        <p:strVal val="visible"/>
                                      </p:to>
                                    </p:set>
                                    <p:animEffect transition="in" filter="blinds(horizontal)">
                                      <p:cBhvr>
                                        <p:cTn id="13" dur="500"/>
                                        <p:tgtEl>
                                          <p:spTgt spid="310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275" grpId="0" bldLvl="0" animBg="1"/>
      <p:bldP spid="310276" grpId="0" bldLvl="0" animBg="1"/>
      <p:bldP spid="310278" grpId="0" bldLvl="0" animBg="1"/>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2322" name="Text Box 2"/>
          <p:cNvSpPr txBox="1">
            <a:spLocks noChangeArrowheads="1"/>
          </p:cNvSpPr>
          <p:nvPr/>
        </p:nvSpPr>
        <p:spPr bwMode="auto">
          <a:xfrm>
            <a:off x="546100" y="688975"/>
            <a:ext cx="8012113"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4</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使用高速、高精度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2323" name="Text Box 3"/>
          <p:cNvSpPr txBox="1">
            <a:spLocks noChangeArrowheads="1"/>
          </p:cNvSpPr>
          <p:nvPr/>
        </p:nvSpPr>
        <p:spPr bwMode="auto">
          <a:xfrm>
            <a:off x="546100" y="4668838"/>
            <a:ext cx="8183563" cy="1552575"/>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典型电路：</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第一级，截止频率</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40Hz</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，滤除隐埋齐纳噪声</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第二级，截止频率</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1.6Hz</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，对参考源的输出滤波，保证指标</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第三级，截止频率</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160Hz</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，降低运放输出噪声，增加稳定性</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6676" name="Text Box 11"/>
          <p:cNvSpPr txBox="1"/>
          <p:nvPr/>
        </p:nvSpPr>
        <p:spPr>
          <a:xfrm>
            <a:off x="774700" y="1382713"/>
            <a:ext cx="2411413"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外参考源设计</a:t>
            </a:r>
            <a:endParaRPr lang="zh-CN" altLang="en-US" dirty="0">
              <a:latin typeface="Times New Roman" panose="02020603050405020304" pitchFamily="18" charset="0"/>
            </a:endParaRPr>
          </a:p>
        </p:txBody>
      </p:sp>
      <p:pic>
        <p:nvPicPr>
          <p:cNvPr id="156677" name="Picture 5"/>
          <p:cNvPicPr>
            <a:picLocks noChangeAspect="1"/>
          </p:cNvPicPr>
          <p:nvPr/>
        </p:nvPicPr>
        <p:blipFill>
          <a:blip r:embed="rId1"/>
          <a:stretch>
            <a:fillRect/>
          </a:stretch>
        </p:blipFill>
        <p:spPr>
          <a:xfrm>
            <a:off x="1771650" y="1892300"/>
            <a:ext cx="5014913" cy="2714625"/>
          </a:xfrm>
          <a:prstGeom prst="rect">
            <a:avLst/>
          </a:prstGeom>
          <a:noFill/>
          <a:ln w="9525">
            <a:noFill/>
          </a:ln>
        </p:spPr>
      </p:pic>
      <p:sp>
        <p:nvSpPr>
          <p:cNvPr id="312326" name="AutoShape 6"/>
          <p:cNvSpPr/>
          <p:nvPr/>
        </p:nvSpPr>
        <p:spPr>
          <a:xfrm>
            <a:off x="3740150" y="1571625"/>
            <a:ext cx="1603375" cy="484188"/>
          </a:xfrm>
          <a:prstGeom prst="wedgeRoundRectCallout">
            <a:avLst>
              <a:gd name="adj1" fmla="val -73167"/>
              <a:gd name="adj2" fmla="val 122458"/>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dirty="0">
                <a:solidFill>
                  <a:schemeClr val="bg1"/>
                </a:solidFill>
                <a:latin typeface="Times New Roman" panose="02020603050405020304" pitchFamily="18" charset="0"/>
              </a:rPr>
              <a:t>第一级滤波</a:t>
            </a:r>
            <a:endParaRPr lang="en-US" altLang="zh-CN" sz="2000" dirty="0">
              <a:solidFill>
                <a:schemeClr val="bg1"/>
              </a:solidFill>
              <a:latin typeface="Times New Roman" panose="02020603050405020304" pitchFamily="18" charset="0"/>
            </a:endParaRPr>
          </a:p>
        </p:txBody>
      </p:sp>
      <p:sp>
        <p:nvSpPr>
          <p:cNvPr id="312327" name="AutoShape 7"/>
          <p:cNvSpPr/>
          <p:nvPr/>
        </p:nvSpPr>
        <p:spPr>
          <a:xfrm>
            <a:off x="6362700" y="1649413"/>
            <a:ext cx="1603375" cy="484187"/>
          </a:xfrm>
          <a:prstGeom prst="wedgeRoundRectCallout">
            <a:avLst>
              <a:gd name="adj1" fmla="val -82972"/>
              <a:gd name="adj2" fmla="val 166722"/>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dirty="0">
                <a:solidFill>
                  <a:schemeClr val="bg1"/>
                </a:solidFill>
                <a:latin typeface="Times New Roman" panose="02020603050405020304" pitchFamily="18" charset="0"/>
              </a:rPr>
              <a:t>第三级滤波</a:t>
            </a:r>
            <a:endParaRPr lang="en-US" altLang="zh-CN" sz="2000" dirty="0">
              <a:solidFill>
                <a:schemeClr val="bg1"/>
              </a:solidFill>
              <a:latin typeface="Times New Roman" panose="02020603050405020304" pitchFamily="18" charset="0"/>
            </a:endParaRPr>
          </a:p>
        </p:txBody>
      </p:sp>
      <p:sp>
        <p:nvSpPr>
          <p:cNvPr id="312328" name="AutoShape 8"/>
          <p:cNvSpPr/>
          <p:nvPr/>
        </p:nvSpPr>
        <p:spPr>
          <a:xfrm>
            <a:off x="6954838" y="3849688"/>
            <a:ext cx="1603375" cy="484187"/>
          </a:xfrm>
          <a:prstGeom prst="wedgeRoundRectCallout">
            <a:avLst>
              <a:gd name="adj1" fmla="val -215741"/>
              <a:gd name="adj2" fmla="val -169671"/>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r>
              <a:rPr lang="zh-CN" altLang="en-US" sz="2000" dirty="0">
                <a:solidFill>
                  <a:schemeClr val="bg1"/>
                </a:solidFill>
                <a:latin typeface="Times New Roman" panose="02020603050405020304" pitchFamily="18" charset="0"/>
              </a:rPr>
              <a:t>第二级滤波</a:t>
            </a:r>
            <a:endParaRPr lang="en-US" altLang="zh-CN" sz="2000" dirty="0">
              <a:solidFill>
                <a:schemeClr val="bg1"/>
              </a:solidFill>
              <a:latin typeface="Times New Roman" panose="02020603050405020304" pitchFamily="18" charset="0"/>
            </a:endParaRPr>
          </a:p>
        </p:txBody>
      </p:sp>
      <p:sp>
        <p:nvSpPr>
          <p:cNvPr id="1554507" name="Text Box 75"/>
          <p:cNvSpPr txBox="1">
            <a:spLocks noChangeArrowheads="1"/>
          </p:cNvSpPr>
          <p:nvPr/>
        </p:nvSpPr>
        <p:spPr bwMode="auto">
          <a:xfrm>
            <a:off x="852488"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2323"/>
                                        </p:tgtEl>
                                        <p:attrNameLst>
                                          <p:attrName>style.visibility</p:attrName>
                                        </p:attrNameLst>
                                      </p:cBhvr>
                                      <p:to>
                                        <p:strVal val="visible"/>
                                      </p:to>
                                    </p:set>
                                    <p:animEffect transition="in" filter="blinds(horizontal)">
                                      <p:cBhvr>
                                        <p:cTn id="7" dur="500"/>
                                        <p:tgtEl>
                                          <p:spTgt spid="31232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2326"/>
                                        </p:tgtEl>
                                        <p:attrNameLst>
                                          <p:attrName>style.visibility</p:attrName>
                                        </p:attrNameLst>
                                      </p:cBhvr>
                                      <p:to>
                                        <p:strVal val="visible"/>
                                      </p:to>
                                    </p:set>
                                    <p:animEffect transition="in" filter="dissolve">
                                      <p:cBhvr>
                                        <p:cTn id="10" dur="500"/>
                                        <p:tgtEl>
                                          <p:spTgt spid="312326"/>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2327"/>
                                        </p:tgtEl>
                                        <p:attrNameLst>
                                          <p:attrName>style.visibility</p:attrName>
                                        </p:attrNameLst>
                                      </p:cBhvr>
                                      <p:to>
                                        <p:strVal val="visible"/>
                                      </p:to>
                                    </p:set>
                                    <p:animEffect transition="in" filter="dissolve">
                                      <p:cBhvr>
                                        <p:cTn id="13" dur="500"/>
                                        <p:tgtEl>
                                          <p:spTgt spid="312327"/>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12328"/>
                                        </p:tgtEl>
                                        <p:attrNameLst>
                                          <p:attrName>style.visibility</p:attrName>
                                        </p:attrNameLst>
                                      </p:cBhvr>
                                      <p:to>
                                        <p:strVal val="visible"/>
                                      </p:to>
                                    </p:set>
                                    <p:animEffect transition="in" filter="dissolve">
                                      <p:cBhvr>
                                        <p:cTn id="16" dur="500"/>
                                        <p:tgtEl>
                                          <p:spTgt spid="312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323" grpId="0" bldLvl="0" animBg="1"/>
      <p:bldP spid="312326" grpId="0" bldLvl="0" animBg="1"/>
      <p:bldP spid="312327" grpId="0" bldLvl="0" animBg="1"/>
      <p:bldP spid="312328" grpId="0" bldLvl="0" animBg="1"/>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437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5</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与</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接口的若干问题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73125" y="1314450"/>
            <a:ext cx="7242175"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高精度</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的数据输出方式：并行和串行数据输出</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314372" name="Text Box 4"/>
          <p:cNvSpPr txBox="1">
            <a:spLocks noChangeArrowheads="1"/>
          </p:cNvSpPr>
          <p:nvPr/>
        </p:nvSpPr>
        <p:spPr bwMode="auto">
          <a:xfrm>
            <a:off x="709613" y="2281238"/>
            <a:ext cx="8027988" cy="4035425"/>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不能直接将</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的数据输出口与</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的数据总线连接，否则会带来噪声，导致严重性能下降。</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原因在于：</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模拟输入和数据输出间都存在少量寄生电容（典型值</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0.1~0.5pF</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），如果数据输出线上存在过冲、振铃或其他高频噪声，数字噪声就会通过寄生电容耦合到模拟输入端，导致</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SNR</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和</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ENOB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下降，增大谐波失真。</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解决方法：</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的数据输出端接三态输出的中间缓冲锁存器，以防止数据总线上的噪声进入</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8725" name="Text Box 11"/>
          <p:cNvSpPr txBox="1"/>
          <p:nvPr/>
        </p:nvSpPr>
        <p:spPr>
          <a:xfrm>
            <a:off x="874713" y="1811338"/>
            <a:ext cx="3275012"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并行数据输出方式</a:t>
            </a:r>
            <a:endParaRPr lang="zh-CN" altLang="en-US" dirty="0">
              <a:latin typeface="Times New Roman" panose="02020603050405020304" pitchFamily="18" charset="0"/>
            </a:endParaRPr>
          </a:p>
        </p:txBody>
      </p:sp>
      <p:sp>
        <p:nvSpPr>
          <p:cNvPr id="1554507" name="Text Box 75"/>
          <p:cNvSpPr txBox="1">
            <a:spLocks noChangeArrowheads="1"/>
          </p:cNvSpPr>
          <p:nvPr/>
        </p:nvSpPr>
        <p:spPr bwMode="auto">
          <a:xfrm>
            <a:off x="852488"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4372"/>
                                        </p:tgtEl>
                                        <p:attrNameLst>
                                          <p:attrName>style.visibility</p:attrName>
                                        </p:attrNameLst>
                                      </p:cBhvr>
                                      <p:to>
                                        <p:strVal val="visible"/>
                                      </p:to>
                                    </p:set>
                                    <p:animEffect transition="in" filter="blinds(horizontal)">
                                      <p:cBhvr>
                                        <p:cTn id="7" dur="500"/>
                                        <p:tgtEl>
                                          <p:spTgt spid="314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2" grpId="0" bldLvl="0" animBg="1"/>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5394"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5</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与</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接口的若干问题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9747" name="Text Box 11"/>
          <p:cNvSpPr txBox="1"/>
          <p:nvPr/>
        </p:nvSpPr>
        <p:spPr>
          <a:xfrm>
            <a:off x="774700" y="1325563"/>
            <a:ext cx="3289300"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并行数据输出方式</a:t>
            </a:r>
            <a:endParaRPr lang="zh-CN" altLang="en-US" dirty="0">
              <a:latin typeface="Times New Roman" panose="02020603050405020304" pitchFamily="18" charset="0"/>
            </a:endParaRPr>
          </a:p>
        </p:txBody>
      </p:sp>
      <p:pic>
        <p:nvPicPr>
          <p:cNvPr id="159748" name="Picture 4"/>
          <p:cNvPicPr>
            <a:picLocks noChangeAspect="1"/>
          </p:cNvPicPr>
          <p:nvPr/>
        </p:nvPicPr>
        <p:blipFill>
          <a:blip r:embed="rId1"/>
          <a:stretch>
            <a:fillRect/>
          </a:stretch>
        </p:blipFill>
        <p:spPr>
          <a:xfrm>
            <a:off x="4238625" y="2682875"/>
            <a:ext cx="4740275" cy="3094038"/>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9750" name="Rectangle 7"/>
          <p:cNvSpPr/>
          <p:nvPr/>
        </p:nvSpPr>
        <p:spPr>
          <a:xfrm>
            <a:off x="341313" y="2109788"/>
            <a:ext cx="4049712" cy="3775075"/>
          </a:xfrm>
          <a:prstGeom prst="rect">
            <a:avLst/>
          </a:prstGeom>
          <a:noFill/>
          <a:ln w="9525">
            <a:noFill/>
          </a:ln>
        </p:spPr>
        <p:txBody>
          <a:bodyPr>
            <a:spAutoFit/>
          </a:bodyPr>
          <a:p>
            <a:pPr eaLnBrk="1" hangingPunct="1">
              <a:lnSpc>
                <a:spcPct val="110000"/>
              </a:lnSpc>
            </a:pPr>
            <a:r>
              <a:rPr lang="en-US" altLang="zh-CN" sz="2200" dirty="0">
                <a:solidFill>
                  <a:schemeClr val="accent2"/>
                </a:solidFill>
                <a:latin typeface="Times New Roman" panose="02020603050405020304" pitchFamily="18" charset="0"/>
              </a:rPr>
              <a:t>1. </a:t>
            </a:r>
            <a:r>
              <a:rPr lang="zh-CN" altLang="en-US" sz="2200" dirty="0">
                <a:solidFill>
                  <a:schemeClr val="accent2"/>
                </a:solidFill>
                <a:latin typeface="Times New Roman" panose="02020603050405020304" pitchFamily="18" charset="0"/>
              </a:rPr>
              <a:t>采样时钟边沿启动</a:t>
            </a:r>
            <a:r>
              <a:rPr lang="en-US" altLang="zh-CN" sz="2200" dirty="0">
                <a:solidFill>
                  <a:schemeClr val="accent2"/>
                </a:solidFill>
                <a:latin typeface="Times New Roman" panose="02020603050405020304" pitchFamily="18" charset="0"/>
              </a:rPr>
              <a:t>AD</a:t>
            </a:r>
            <a:r>
              <a:rPr lang="zh-CN" altLang="en-US" sz="2200" dirty="0">
                <a:solidFill>
                  <a:schemeClr val="accent2"/>
                </a:solidFill>
                <a:latin typeface="Times New Roman" panose="02020603050405020304" pitchFamily="18" charset="0"/>
              </a:rPr>
              <a:t>转换；</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2. </a:t>
            </a:r>
            <a:r>
              <a:rPr lang="zh-CN" altLang="en-US" sz="2200" dirty="0">
                <a:solidFill>
                  <a:schemeClr val="accent2"/>
                </a:solidFill>
                <a:latin typeface="Times New Roman" panose="02020603050405020304" pitchFamily="18" charset="0"/>
              </a:rPr>
              <a:t>转换完成，</a:t>
            </a:r>
            <a:r>
              <a:rPr lang="en-US" altLang="zh-CN" sz="2200" dirty="0">
                <a:solidFill>
                  <a:schemeClr val="accent2"/>
                </a:solidFill>
                <a:latin typeface="Times New Roman" panose="02020603050405020304" pitchFamily="18" charset="0"/>
              </a:rPr>
              <a:t>BUSY</a:t>
            </a:r>
            <a:r>
              <a:rPr lang="zh-CN" altLang="en-US" sz="2200" dirty="0">
                <a:solidFill>
                  <a:schemeClr val="accent2"/>
                </a:solidFill>
                <a:latin typeface="Times New Roman" panose="02020603050405020304" pitchFamily="18" charset="0"/>
              </a:rPr>
              <a:t>信号无效，</a:t>
            </a:r>
            <a:r>
              <a:rPr lang="en-US" altLang="zh-CN" sz="2200" dirty="0">
                <a:solidFill>
                  <a:schemeClr val="accent2"/>
                </a:solidFill>
                <a:latin typeface="Times New Roman" panose="02020603050405020304" pitchFamily="18" charset="0"/>
              </a:rPr>
              <a:t>ADC</a:t>
            </a:r>
            <a:r>
              <a:rPr lang="zh-CN" altLang="en-US" sz="2200" dirty="0">
                <a:solidFill>
                  <a:schemeClr val="accent2"/>
                </a:solidFill>
                <a:latin typeface="Times New Roman" panose="02020603050405020304" pitchFamily="18" charset="0"/>
              </a:rPr>
              <a:t>的输出数据锁入缓冲寄存器，并向</a:t>
            </a:r>
            <a:r>
              <a:rPr lang="en-US" altLang="zh-CN" sz="2200" dirty="0">
                <a:solidFill>
                  <a:schemeClr val="accent2"/>
                </a:solidFill>
                <a:latin typeface="Times New Roman" panose="02020603050405020304" pitchFamily="18" charset="0"/>
              </a:rPr>
              <a:t>DSP</a:t>
            </a:r>
            <a:r>
              <a:rPr lang="zh-CN" altLang="en-US" sz="2200" dirty="0">
                <a:solidFill>
                  <a:schemeClr val="accent2"/>
                </a:solidFill>
                <a:latin typeface="Times New Roman" panose="02020603050405020304" pitchFamily="18" charset="0"/>
              </a:rPr>
              <a:t>申请中断；</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3. DSP</a:t>
            </a:r>
            <a:r>
              <a:rPr lang="zh-CN" altLang="en-US" sz="2200" dirty="0">
                <a:solidFill>
                  <a:schemeClr val="accent2"/>
                </a:solidFill>
                <a:latin typeface="Times New Roman" panose="02020603050405020304" pitchFamily="18" charset="0"/>
              </a:rPr>
              <a:t>响应中断，</a:t>
            </a:r>
            <a:r>
              <a:rPr lang="en-US" altLang="zh-CN" sz="2200" dirty="0">
                <a:solidFill>
                  <a:schemeClr val="accent2"/>
                </a:solidFill>
                <a:latin typeface="Times New Roman" panose="02020603050405020304" pitchFamily="18" charset="0"/>
              </a:rPr>
              <a:t>ADC</a:t>
            </a:r>
            <a:r>
              <a:rPr lang="zh-CN" altLang="en-US" sz="2200" dirty="0">
                <a:solidFill>
                  <a:schemeClr val="accent2"/>
                </a:solidFill>
                <a:latin typeface="Times New Roman" panose="02020603050405020304" pitchFamily="18" charset="0"/>
              </a:rPr>
              <a:t>的地址输出至地址译码器；</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4. DSP</a:t>
            </a:r>
            <a:r>
              <a:rPr lang="zh-CN" altLang="en-US" sz="2200" dirty="0">
                <a:solidFill>
                  <a:schemeClr val="accent2"/>
                </a:solidFill>
                <a:latin typeface="Times New Roman" panose="02020603050405020304" pitchFamily="18" charset="0"/>
              </a:rPr>
              <a:t>的“读”信号有效，缓冲数据被送上</a:t>
            </a:r>
            <a:r>
              <a:rPr lang="en-US" altLang="zh-CN" sz="2200" dirty="0">
                <a:solidFill>
                  <a:schemeClr val="accent2"/>
                </a:solidFill>
                <a:latin typeface="Times New Roman" panose="02020603050405020304" pitchFamily="18" charset="0"/>
              </a:rPr>
              <a:t>DSP</a:t>
            </a:r>
            <a:r>
              <a:rPr lang="zh-CN" altLang="en-US" sz="2200" dirty="0">
                <a:solidFill>
                  <a:schemeClr val="accent2"/>
                </a:solidFill>
                <a:latin typeface="Times New Roman" panose="02020603050405020304" pitchFamily="18" charset="0"/>
              </a:rPr>
              <a:t>的数据总线；</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5. “</a:t>
            </a:r>
            <a:r>
              <a:rPr lang="zh-CN" altLang="en-US" sz="2200" dirty="0">
                <a:solidFill>
                  <a:schemeClr val="accent2"/>
                </a:solidFill>
                <a:latin typeface="Times New Roman" panose="02020603050405020304" pitchFamily="18" charset="0"/>
              </a:rPr>
              <a:t>读”信号后沿将总线上的数据锁入</a:t>
            </a:r>
            <a:r>
              <a:rPr lang="en-US" altLang="zh-CN" sz="2200" dirty="0">
                <a:solidFill>
                  <a:schemeClr val="accent2"/>
                </a:solidFill>
                <a:latin typeface="Times New Roman" panose="02020603050405020304" pitchFamily="18" charset="0"/>
              </a:rPr>
              <a:t>DSP</a:t>
            </a:r>
            <a:r>
              <a:rPr lang="zh-CN" altLang="en-US" sz="2200" dirty="0">
                <a:solidFill>
                  <a:schemeClr val="accent2"/>
                </a:solidFill>
                <a:latin typeface="Times New Roman" panose="02020603050405020304" pitchFamily="18" charset="0"/>
              </a:rPr>
              <a:t>内部寄存器。</a:t>
            </a:r>
            <a:endParaRPr lang="zh-CN" altLang="en-US" sz="2200" dirty="0">
              <a:solidFill>
                <a:schemeClr val="accent2"/>
              </a:solidFill>
              <a:latin typeface="Times New Roman" panose="02020603050405020304" pitchFamily="18" charset="0"/>
            </a:endParaRPr>
          </a:p>
        </p:txBody>
      </p:sp>
      <p:sp>
        <p:nvSpPr>
          <p:cNvPr id="159751" name="Rectangle 9"/>
          <p:cNvSpPr/>
          <p:nvPr/>
        </p:nvSpPr>
        <p:spPr>
          <a:xfrm>
            <a:off x="4630738" y="1651000"/>
            <a:ext cx="4089400" cy="641350"/>
          </a:xfrm>
          <a:prstGeom prst="rect">
            <a:avLst/>
          </a:prstGeom>
          <a:noFill/>
          <a:ln w="9525">
            <a:noFill/>
          </a:ln>
        </p:spPr>
        <p:txBody>
          <a:bodyPr>
            <a:spAutoFit/>
          </a:bodyPr>
          <a:p>
            <a:pPr eaLnBrk="1" hangingPunct="1">
              <a:lnSpc>
                <a:spcPct val="90000"/>
              </a:lnSpc>
            </a:pPr>
            <a:r>
              <a:rPr lang="zh-CN" altLang="en-US" sz="2000" dirty="0">
                <a:solidFill>
                  <a:srgbClr val="FF3300"/>
                </a:solidFill>
                <a:latin typeface="Times New Roman" panose="02020603050405020304" pitchFamily="18" charset="0"/>
              </a:rPr>
              <a:t>采样时钟不由</a:t>
            </a:r>
            <a:r>
              <a:rPr lang="en-US" altLang="zh-CN" sz="2000" dirty="0">
                <a:solidFill>
                  <a:srgbClr val="FF3300"/>
                </a:solidFill>
                <a:latin typeface="Times New Roman" panose="02020603050405020304" pitchFamily="18" charset="0"/>
              </a:rPr>
              <a:t>DSP</a:t>
            </a:r>
            <a:r>
              <a:rPr lang="zh-CN" altLang="en-US" sz="2000" dirty="0">
                <a:solidFill>
                  <a:srgbClr val="FF3300"/>
                </a:solidFill>
                <a:latin typeface="Times New Roman" panose="02020603050405020304" pitchFamily="18" charset="0"/>
              </a:rPr>
              <a:t>的主时钟发生，而应选用低噪声石英晶体振荡电路</a:t>
            </a:r>
            <a:endParaRPr lang="zh-CN" altLang="en-US" sz="2000" dirty="0">
              <a:solidFill>
                <a:srgbClr val="FF3300"/>
              </a:solidFill>
              <a:latin typeface="Times New Roman" panose="02020603050405020304" pitchFamily="18" charset="0"/>
            </a:endParaRPr>
          </a:p>
        </p:txBody>
      </p:sp>
    </p:spTree>
  </p:cSld>
  <p:clrMapOvr>
    <a:masterClrMapping/>
  </p:clrMapOvr>
  <p:transition spd="slow">
    <p:cover dir="d"/>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6418"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5</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高精度</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与</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接口的若干问题</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6419" name="Text Box 3"/>
          <p:cNvSpPr txBox="1">
            <a:spLocks noChangeArrowheads="1"/>
          </p:cNvSpPr>
          <p:nvPr/>
        </p:nvSpPr>
        <p:spPr bwMode="auto">
          <a:xfrm>
            <a:off x="774700" y="5495925"/>
            <a:ext cx="8027988" cy="749300"/>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减少了接口连线的数量，从而降低了数字噪声，但</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DSP</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串口数量有限。</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0772" name="Text Box 11"/>
          <p:cNvSpPr txBox="1"/>
          <p:nvPr/>
        </p:nvSpPr>
        <p:spPr>
          <a:xfrm>
            <a:off x="774700" y="1296988"/>
            <a:ext cx="3246438"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串行数据输出方式</a:t>
            </a:r>
            <a:endParaRPr lang="zh-CN" altLang="en-US" dirty="0">
              <a:latin typeface="Times New Roman" panose="02020603050405020304" pitchFamily="18" charset="0"/>
            </a:endParaRPr>
          </a:p>
        </p:txBody>
      </p:sp>
      <p:pic>
        <p:nvPicPr>
          <p:cNvPr id="160773" name="Picture 5"/>
          <p:cNvPicPr>
            <a:picLocks noChangeAspect="1"/>
          </p:cNvPicPr>
          <p:nvPr/>
        </p:nvPicPr>
        <p:blipFill>
          <a:blip r:embed="rId1"/>
          <a:stretch>
            <a:fillRect/>
          </a:stretch>
        </p:blipFill>
        <p:spPr>
          <a:xfrm>
            <a:off x="3665538" y="1773238"/>
            <a:ext cx="4941887" cy="3657600"/>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0775" name="Rectangle 8"/>
          <p:cNvSpPr/>
          <p:nvPr/>
        </p:nvSpPr>
        <p:spPr>
          <a:xfrm>
            <a:off x="366713" y="2109788"/>
            <a:ext cx="3298825" cy="3038475"/>
          </a:xfrm>
          <a:prstGeom prst="rect">
            <a:avLst/>
          </a:prstGeom>
          <a:noFill/>
          <a:ln w="9525">
            <a:noFill/>
          </a:ln>
        </p:spPr>
        <p:txBody>
          <a:bodyPr>
            <a:spAutoFit/>
          </a:bodyPr>
          <a:p>
            <a:pPr eaLnBrk="1" hangingPunct="1">
              <a:lnSpc>
                <a:spcPct val="110000"/>
              </a:lnSpc>
            </a:pPr>
            <a:r>
              <a:rPr lang="en-US" altLang="zh-CN" sz="2200" dirty="0">
                <a:solidFill>
                  <a:schemeClr val="accent2"/>
                </a:solidFill>
                <a:latin typeface="Times New Roman" panose="02020603050405020304" pitchFamily="18" charset="0"/>
              </a:rPr>
              <a:t>1. </a:t>
            </a:r>
            <a:r>
              <a:rPr lang="zh-CN" altLang="en-US" sz="2200" dirty="0">
                <a:solidFill>
                  <a:schemeClr val="accent2"/>
                </a:solidFill>
                <a:latin typeface="Times New Roman" panose="02020603050405020304" pitchFamily="18" charset="0"/>
              </a:rPr>
              <a:t>串口线上，</a:t>
            </a:r>
            <a:r>
              <a:rPr lang="en-US" altLang="zh-CN" sz="2200" dirty="0">
                <a:solidFill>
                  <a:schemeClr val="accent2"/>
                </a:solidFill>
                <a:latin typeface="Times New Roman" panose="02020603050405020304" pitchFamily="18" charset="0"/>
              </a:rPr>
              <a:t>ADC</a:t>
            </a:r>
            <a:r>
              <a:rPr lang="zh-CN" altLang="en-US" sz="2200" dirty="0">
                <a:solidFill>
                  <a:schemeClr val="accent2"/>
                </a:solidFill>
                <a:latin typeface="Times New Roman" panose="02020603050405020304" pitchFamily="18" charset="0"/>
              </a:rPr>
              <a:t>的输出数据每次出现一位；</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2. “</a:t>
            </a:r>
            <a:r>
              <a:rPr lang="zh-CN" altLang="en-US" sz="2200" dirty="0">
                <a:solidFill>
                  <a:schemeClr val="accent2"/>
                </a:solidFill>
                <a:latin typeface="Times New Roman" panose="02020603050405020304" pitchFamily="18" charset="0"/>
              </a:rPr>
              <a:t>串行时钟”将每一个数位锁入</a:t>
            </a:r>
            <a:r>
              <a:rPr lang="en-US" altLang="zh-CN" sz="2200" dirty="0">
                <a:solidFill>
                  <a:schemeClr val="accent2"/>
                </a:solidFill>
                <a:latin typeface="Times New Roman" panose="02020603050405020304" pitchFamily="18" charset="0"/>
              </a:rPr>
              <a:t>DSP</a:t>
            </a:r>
            <a:r>
              <a:rPr lang="zh-CN" altLang="en-US" sz="2200" dirty="0">
                <a:solidFill>
                  <a:schemeClr val="accent2"/>
                </a:solidFill>
                <a:latin typeface="Times New Roman" panose="02020603050405020304" pitchFamily="18" charset="0"/>
              </a:rPr>
              <a:t>内部的串行移位寄存器中；</a:t>
            </a:r>
            <a:endParaRPr lang="zh-CN" altLang="en-US" sz="2200" dirty="0">
              <a:solidFill>
                <a:schemeClr val="accent2"/>
              </a:solidFill>
              <a:latin typeface="Times New Roman" panose="02020603050405020304" pitchFamily="18" charset="0"/>
            </a:endParaRPr>
          </a:p>
          <a:p>
            <a:pPr eaLnBrk="1" hangingPunct="1">
              <a:lnSpc>
                <a:spcPct val="110000"/>
              </a:lnSpc>
            </a:pPr>
            <a:r>
              <a:rPr lang="en-US" altLang="zh-CN" sz="2200" dirty="0">
                <a:solidFill>
                  <a:schemeClr val="accent2"/>
                </a:solidFill>
                <a:latin typeface="Times New Roman" panose="02020603050405020304" pitchFamily="18" charset="0"/>
              </a:rPr>
              <a:t>3. </a:t>
            </a:r>
            <a:r>
              <a:rPr lang="zh-CN" altLang="en-US" sz="2200" dirty="0">
                <a:solidFill>
                  <a:schemeClr val="accent2"/>
                </a:solidFill>
                <a:latin typeface="Times New Roman" panose="02020603050405020304" pitchFamily="18" charset="0"/>
              </a:rPr>
              <a:t>所有串行数据锁存结束后，</a:t>
            </a:r>
            <a:r>
              <a:rPr lang="en-US" altLang="zh-CN" sz="2200" dirty="0">
                <a:solidFill>
                  <a:schemeClr val="accent2"/>
                </a:solidFill>
                <a:latin typeface="Times New Roman" panose="02020603050405020304" pitchFamily="18" charset="0"/>
              </a:rPr>
              <a:t>DSP</a:t>
            </a:r>
            <a:r>
              <a:rPr lang="zh-CN" altLang="en-US" sz="2200" dirty="0">
                <a:solidFill>
                  <a:schemeClr val="accent2"/>
                </a:solidFill>
                <a:latin typeface="Times New Roman" panose="02020603050405020304" pitchFamily="18" charset="0"/>
              </a:rPr>
              <a:t>串口逻辑发出中断请求。</a:t>
            </a:r>
            <a:endParaRPr lang="zh-CN" altLang="en-US" sz="2200" dirty="0">
              <a:solidFill>
                <a:schemeClr val="accent2"/>
              </a:solidFill>
              <a:latin typeface="Times New Roman" panose="02020603050405020304" pitchFamily="18" charset="0"/>
            </a:endParaRPr>
          </a:p>
        </p:txBody>
      </p:sp>
      <p:sp>
        <p:nvSpPr>
          <p:cNvPr id="160776" name="Rectangle 9"/>
          <p:cNvSpPr/>
          <p:nvPr/>
        </p:nvSpPr>
        <p:spPr>
          <a:xfrm>
            <a:off x="4340225" y="1296988"/>
            <a:ext cx="4089400" cy="366712"/>
          </a:xfrm>
          <a:prstGeom prst="rect">
            <a:avLst/>
          </a:prstGeom>
          <a:noFill/>
          <a:ln w="9525">
            <a:noFill/>
          </a:ln>
        </p:spPr>
        <p:txBody>
          <a:bodyPr>
            <a:spAutoFit/>
          </a:bodyPr>
          <a:p>
            <a:pPr eaLnBrk="1" hangingPunct="1">
              <a:lnSpc>
                <a:spcPct val="90000"/>
              </a:lnSpc>
            </a:pPr>
            <a:r>
              <a:rPr lang="zh-CN" altLang="en-US" sz="2000" dirty="0">
                <a:solidFill>
                  <a:srgbClr val="FF3300"/>
                </a:solidFill>
                <a:latin typeface="Times New Roman" panose="02020603050405020304" pitchFamily="18" charset="0"/>
              </a:rPr>
              <a:t>采样时钟由低噪声的振荡器发生</a:t>
            </a:r>
            <a:endParaRPr lang="zh-CN" altLang="en-US" sz="2000" dirty="0">
              <a:solidFill>
                <a:srgbClr val="FF3300"/>
              </a:solidFill>
              <a:latin typeface="Times New Roman" panose="02020603050405020304" pitchFamily="18" charset="0"/>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6419"/>
                                        </p:tgtEl>
                                        <p:attrNameLst>
                                          <p:attrName>style.visibility</p:attrName>
                                        </p:attrNameLst>
                                      </p:cBhvr>
                                      <p:to>
                                        <p:strVal val="visible"/>
                                      </p:to>
                                    </p:set>
                                    <p:animEffect transition="in" filter="blinds(horizontal)">
                                      <p:cBhvr>
                                        <p:cTn id="7" dur="500"/>
                                        <p:tgtEl>
                                          <p:spTgt spid="3164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19" grpId="0" bldLvl="0" animBg="1"/>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7442"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6</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防止</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输入过载和锁定效应</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7443" name="Text Box 3"/>
          <p:cNvSpPr txBox="1">
            <a:spLocks noChangeArrowheads="1"/>
          </p:cNvSpPr>
          <p:nvPr/>
        </p:nvSpPr>
        <p:spPr bwMode="auto">
          <a:xfrm>
            <a:off x="344488" y="2044700"/>
            <a:ext cx="8442325" cy="3725863"/>
          </a:xfrm>
          <a:prstGeom prst="rect">
            <a:avLst/>
          </a:prstGeom>
          <a:noFill/>
          <a:ln w="9525">
            <a:noFill/>
            <a:miter lim="800000"/>
          </a:ln>
          <a:effectLst/>
        </p:spPr>
        <p:txBody>
          <a:bodyPr>
            <a:spAutoFit/>
          </a:bodyPr>
          <a:lstStyle/>
          <a:p>
            <a:pPr marR="0" defTabSz="914400" eaLnBrk="1" hangingPunct="1">
              <a:lnSpc>
                <a:spcPct val="120000"/>
              </a:lnSpc>
              <a:spcBef>
                <a:spcPct val="25000"/>
              </a:spcBef>
              <a:buClrTx/>
              <a:buSzTx/>
              <a:buFontTx/>
              <a:buNone/>
              <a:defRPr/>
            </a:pP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一般</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能承受超过正常量程范围</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50%</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的输入信号而不至于损坏</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的输入电路。若输入过载，即使没损坏电路，也会导致过载恢复时间过长。</a:t>
            </a:r>
            <a:endPar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spcBef>
                <a:spcPct val="25000"/>
              </a:spcBef>
              <a:buClrTx/>
              <a:buSzTx/>
              <a:buFontTx/>
              <a:buNone/>
              <a:defRPr/>
            </a:pPr>
            <a:r>
              <a:rPr kumimoji="1" lang="zh-CN" altLang="en-US"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        例如，输入范围</a:t>
            </a:r>
            <a:r>
              <a:rPr kumimoji="1" lang="en-US" altLang="zh-CN"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±5V</a:t>
            </a:r>
            <a:r>
              <a:rPr kumimoji="1" lang="zh-CN" altLang="en-US"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的</a:t>
            </a:r>
            <a:r>
              <a:rPr kumimoji="1" lang="en-US" altLang="zh-CN"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可承受</a:t>
            </a:r>
            <a:r>
              <a:rPr kumimoji="1" lang="en-US" altLang="zh-CN"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±7.5V</a:t>
            </a:r>
            <a:r>
              <a:rPr kumimoji="1" lang="zh-CN" altLang="en-US"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的输入。</a:t>
            </a:r>
            <a:endParaRPr kumimoji="1" lang="zh-CN" altLang="en-US" sz="26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spcBef>
                <a:spcPct val="25000"/>
              </a:spcBef>
              <a:buClrTx/>
              <a:buSzTx/>
              <a:buFontTx/>
              <a:buNone/>
              <a:defRPr/>
            </a:pP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解决措施：采取输入钳位措施，以保护</a:t>
            </a:r>
            <a:r>
              <a:rPr kumimoji="1" lang="en-US" altLang="zh-CN"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输入，且减小过压恢复时间。</a:t>
            </a:r>
            <a:endParaRPr kumimoji="1" lang="zh-CN" altLang="en-US" sz="26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spcBef>
                <a:spcPct val="25000"/>
              </a:spcBef>
              <a:buClrTx/>
              <a:buSzTx/>
              <a:buFontTx/>
              <a:buNone/>
              <a:defRPr/>
            </a:pPr>
            <a:r>
              <a:rPr kumimoji="1" lang="zh-CN" altLang="en-US" sz="2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        钳位原则：钳位电路不能影响正常输入范围内的信号。</a:t>
            </a:r>
            <a:endParaRPr kumimoji="1" lang="zh-CN" altLang="en-US" sz="2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1796" name="Text Box 11"/>
          <p:cNvSpPr txBox="1"/>
          <p:nvPr/>
        </p:nvSpPr>
        <p:spPr>
          <a:xfrm>
            <a:off x="774700" y="1325563"/>
            <a:ext cx="2411413"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防止输入过载</a:t>
            </a:r>
            <a:endParaRPr lang="zh-CN" altLang="en-US" dirty="0">
              <a:latin typeface="Times New Roman" panose="02020603050405020304" pitchFamily="18" charset="0"/>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8466"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6</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防止</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输入过载和锁定效应</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8467" name="Text Box 3"/>
          <p:cNvSpPr txBox="1">
            <a:spLocks noChangeArrowheads="1"/>
          </p:cNvSpPr>
          <p:nvPr/>
        </p:nvSpPr>
        <p:spPr bwMode="auto">
          <a:xfrm>
            <a:off x="4357688" y="1773238"/>
            <a:ext cx="4786313" cy="4298950"/>
          </a:xfrm>
          <a:prstGeom prst="rect">
            <a:avLst/>
          </a:prstGeom>
          <a:noFill/>
          <a:ln w="9525">
            <a:noFill/>
            <a:miter lim="800000"/>
          </a:ln>
          <a:effectLst/>
        </p:spPr>
        <p:txBody>
          <a:bodyPr>
            <a:spAutoFit/>
          </a:bodyPr>
          <a:lstStyle/>
          <a:p>
            <a:pPr marR="0" defTabSz="914400" eaLnBrk="1" hangingPunct="1">
              <a:lnSpc>
                <a:spcPct val="115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钳位采用了低寄生电容、低漏电流的肖特基二极管</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1N5712</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，钳位电平可调。</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5000"/>
              </a:lnSpc>
              <a:buClrTx/>
              <a:buSzTx/>
              <a:buFontTx/>
              <a:buNone/>
              <a:defRPr/>
            </a:pPr>
            <a:r>
              <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        串联电阻</a:t>
            </a:r>
            <a:r>
              <a:rPr kumimoji="1" lang="en-US" altLang="zh-CN"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R</a:t>
            </a:r>
            <a:r>
              <a:rPr kumimoji="1" lang="en-US" altLang="zh-CN" sz="2400" kern="1200" cap="none" spc="0" normalizeH="0" baseline="-2500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s</a:t>
            </a:r>
            <a:r>
              <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的作用是过载时限流。</a:t>
            </a:r>
            <a:endPar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5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肖特基二极管在短时内可承受</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50mA</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电流，若需更大电流，可采用多个二极管并联，但同时必须承受更大的寄生电容和漏电流。</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15000"/>
              </a:lnSpc>
              <a:buClrTx/>
              <a:buSzTx/>
              <a:buFontTx/>
              <a:buNone/>
              <a:defRPr/>
            </a:pPr>
            <a:r>
              <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endPar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2820" name="Text Box 11"/>
          <p:cNvSpPr txBox="1"/>
          <p:nvPr/>
        </p:nvSpPr>
        <p:spPr>
          <a:xfrm>
            <a:off x="774700" y="1325563"/>
            <a:ext cx="2411413"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防止输入过载</a:t>
            </a:r>
            <a:endParaRPr lang="zh-CN" altLang="en-US" dirty="0">
              <a:latin typeface="Times New Roman" panose="02020603050405020304" pitchFamily="18" charset="0"/>
            </a:endParaRPr>
          </a:p>
        </p:txBody>
      </p:sp>
      <p:pic>
        <p:nvPicPr>
          <p:cNvPr id="162821" name="Picture 5"/>
          <p:cNvPicPr>
            <a:picLocks noChangeAspect="1"/>
          </p:cNvPicPr>
          <p:nvPr/>
        </p:nvPicPr>
        <p:blipFill>
          <a:blip r:embed="rId1"/>
          <a:stretch>
            <a:fillRect/>
          </a:stretch>
        </p:blipFill>
        <p:spPr>
          <a:xfrm>
            <a:off x="71438" y="2147888"/>
            <a:ext cx="4314825" cy="376237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8467"/>
                                        </p:tgtEl>
                                        <p:attrNameLst>
                                          <p:attrName>style.visibility</p:attrName>
                                        </p:attrNameLst>
                                      </p:cBhvr>
                                      <p:to>
                                        <p:strVal val="visible"/>
                                      </p:to>
                                    </p:set>
                                    <p:animEffect transition="in" filter="blinds(horizontal)">
                                      <p:cBhvr>
                                        <p:cTn id="7" dur="500"/>
                                        <p:tgtEl>
                                          <p:spTgt spid="3184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467" grpId="0" bldLvl="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949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6</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防止</a:t>
            </a:r>
            <a:r>
              <a:rPr kumimoji="1" lang="en-US" altLang="zh-CN"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输入过载和锁定效应</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9491" name="Text Box 3"/>
          <p:cNvSpPr txBox="1">
            <a:spLocks noChangeArrowheads="1"/>
          </p:cNvSpPr>
          <p:nvPr/>
        </p:nvSpPr>
        <p:spPr bwMode="auto">
          <a:xfrm>
            <a:off x="363538" y="2522538"/>
            <a:ext cx="3917950" cy="2392363"/>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rgbClr val="FF3300"/>
                </a:solidFill>
                <a:effectLst>
                  <a:outerShdw blurRad="38100" dist="38100" dir="2700000" algn="tl">
                    <a:srgbClr val="C0C0C0"/>
                  </a:outerShdw>
                </a:effectLst>
                <a:latin typeface="Times New Roman" panose="02020603050405020304" pitchFamily="18" charset="0"/>
                <a:ea typeface="楷体_GB2312" pitchFamily="49" charset="-122"/>
                <a:cs typeface="+mn-cs"/>
              </a:rPr>
              <a:t>问题：</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若运放先于</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上电，</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输入端过载会导致锁定效应并损坏器件；</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对于</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CMOS 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，模拟输入超过电源电压，也将导致锁定效应。</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3844" name="Text Box 11"/>
          <p:cNvSpPr txBox="1"/>
          <p:nvPr/>
        </p:nvSpPr>
        <p:spPr>
          <a:xfrm>
            <a:off x="774700" y="1325563"/>
            <a:ext cx="5040313" cy="476250"/>
          </a:xfrm>
          <a:prstGeom prst="rect">
            <a:avLst/>
          </a:prstGeom>
          <a:solidFill>
            <a:srgbClr val="99CCFF"/>
          </a:solidFill>
          <a:ln w="9525">
            <a:noFill/>
          </a:ln>
        </p:spPr>
        <p:txBody>
          <a:bodyPr>
            <a:spAutoFit/>
          </a:bodyPr>
          <a:p>
            <a:pPr eaLnBrk="1" hangingPunct="1">
              <a:lnSpc>
                <a:spcPct val="90000"/>
              </a:lnSpc>
            </a:pPr>
            <a:r>
              <a:rPr lang="zh-CN" altLang="en-US" dirty="0">
                <a:latin typeface="Times New Roman" panose="02020603050405020304" pitchFamily="18" charset="0"/>
              </a:rPr>
              <a:t>防止锁定效应（暂时性过载）</a:t>
            </a:r>
            <a:endParaRPr lang="zh-CN" altLang="en-US" dirty="0">
              <a:latin typeface="Times New Roman" panose="02020603050405020304" pitchFamily="18" charset="0"/>
            </a:endParaRPr>
          </a:p>
        </p:txBody>
      </p:sp>
      <p:pic>
        <p:nvPicPr>
          <p:cNvPr id="163845" name="Picture 5"/>
          <p:cNvPicPr>
            <a:picLocks noChangeAspect="1"/>
          </p:cNvPicPr>
          <p:nvPr/>
        </p:nvPicPr>
        <p:blipFill>
          <a:blip r:embed="rId1"/>
          <a:stretch>
            <a:fillRect/>
          </a:stretch>
        </p:blipFill>
        <p:spPr>
          <a:xfrm>
            <a:off x="4281488" y="2124075"/>
            <a:ext cx="4600575" cy="2790825"/>
          </a:xfrm>
          <a:prstGeom prst="rect">
            <a:avLst/>
          </a:prstGeom>
          <a:noFill/>
          <a:ln w="9525">
            <a:noFill/>
          </a:ln>
        </p:spPr>
      </p:pic>
      <p:sp>
        <p:nvSpPr>
          <p:cNvPr id="319494" name="Text Box 6"/>
          <p:cNvSpPr txBox="1">
            <a:spLocks noChangeArrowheads="1"/>
          </p:cNvSpPr>
          <p:nvPr/>
        </p:nvSpPr>
        <p:spPr bwMode="auto">
          <a:xfrm>
            <a:off x="363538" y="5078413"/>
            <a:ext cx="8118475" cy="1077913"/>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rgbClr val="FF3300"/>
                </a:solidFill>
                <a:effectLst>
                  <a:outerShdw blurRad="38100" dist="38100" dir="2700000" algn="tl">
                    <a:srgbClr val="C0C0C0"/>
                  </a:outerShdw>
                </a:effectLst>
                <a:latin typeface="Times New Roman" panose="02020603050405020304" pitchFamily="18" charset="0"/>
                <a:ea typeface="楷体_GB2312" pitchFamily="49" charset="-122"/>
                <a:cs typeface="+mn-cs"/>
              </a:rPr>
              <a:t>解决：</a:t>
            </a:r>
            <a:endParaRPr kumimoji="1" lang="zh-CN" altLang="en-US" sz="2400" kern="1200" cap="none" spc="0" normalizeH="0" baseline="0" noProof="0">
              <a:solidFill>
                <a:srgbClr val="FF33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图</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，二极管可防止锁定效应；</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图</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，统一供电方案，解决上电顺序问题。</a:t>
            </a:r>
            <a:endPar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19497" name="Rectangle 9"/>
          <p:cNvSpPr>
            <a:spLocks noChangeArrowheads="1"/>
          </p:cNvSpPr>
          <p:nvPr/>
        </p:nvSpPr>
        <p:spPr bwMode="auto">
          <a:xfrm>
            <a:off x="774700" y="1912938"/>
            <a:ext cx="5156200" cy="420688"/>
          </a:xfrm>
          <a:prstGeom prst="rect">
            <a:avLst/>
          </a:prstGeom>
          <a:noFill/>
          <a:ln w="9525" algn="ctr">
            <a:noFill/>
            <a:miter lim="800000"/>
          </a:ln>
          <a:effectLst/>
        </p:spPr>
        <p:txBody>
          <a:bodyPr>
            <a:spAutoFit/>
          </a:bodyPr>
          <a:lstStyle/>
          <a:p>
            <a:pPr marL="0" marR="0" lvl="0" indent="0" algn="l" defTabSz="914400" rtl="0" eaLnBrk="1" fontAlgn="base" latinLnBrk="0" hangingPunct="1">
              <a:lnSpc>
                <a:spcPct val="9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±15V</a:t>
            </a:r>
            <a:r>
              <a:rPr kumimoji="1"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电源运放驱动</a:t>
            </a:r>
            <a:r>
              <a:rPr kumimoji="1"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±5V</a:t>
            </a:r>
            <a:r>
              <a:rPr kumimoji="1"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电源</a:t>
            </a:r>
            <a:r>
              <a:rPr kumimoji="1" lang="en-US" altLang="zh-CN"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ADC</a:t>
            </a:r>
            <a:endParaRPr kumimoji="1" lang="zh-CN" altLang="en-US" sz="2400" b="1" i="0" u="none" strike="noStrike" kern="1200" cap="none" spc="0" normalizeH="0" baseline="0" noProof="0">
              <a:ln>
                <a:noFill/>
              </a:ln>
              <a:solidFill>
                <a:schemeClr val="accent2"/>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19491"/>
                                        </p:tgtEl>
                                        <p:attrNameLst>
                                          <p:attrName>style.visibility</p:attrName>
                                        </p:attrNameLst>
                                      </p:cBhvr>
                                      <p:to>
                                        <p:strVal val="visible"/>
                                      </p:to>
                                    </p:set>
                                    <p:animEffect transition="in" filter="blinds(horizontal)">
                                      <p:cBhvr>
                                        <p:cTn id="7" dur="500"/>
                                        <p:tgtEl>
                                          <p:spTgt spid="319491"/>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19494"/>
                                        </p:tgtEl>
                                        <p:attrNameLst>
                                          <p:attrName>style.visibility</p:attrName>
                                        </p:attrNameLst>
                                      </p:cBhvr>
                                      <p:to>
                                        <p:strVal val="visible"/>
                                      </p:to>
                                    </p:set>
                                    <p:animEffect transition="in" filter="blinds(horizontal)">
                                      <p:cBhvr>
                                        <p:cTn id="10" dur="500"/>
                                        <p:tgtEl>
                                          <p:spTgt spid="3194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491" grpId="0" bldLvl="0" animBg="1"/>
      <p:bldP spid="319494" grpId="0" bldLvl="0" animBg="1"/>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1538"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7</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正确理解和设计采样时钟发生器</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1539" name="Text Box 3"/>
          <p:cNvSpPr txBox="1">
            <a:spLocks noChangeArrowheads="1"/>
          </p:cNvSpPr>
          <p:nvPr/>
        </p:nvSpPr>
        <p:spPr bwMode="auto">
          <a:xfrm>
            <a:off x="701675" y="2444750"/>
            <a:ext cx="8027988" cy="1077913"/>
          </a:xfrm>
          <a:prstGeom prst="rect">
            <a:avLst/>
          </a:prstGeom>
          <a:noFill/>
          <a:ln w="9525">
            <a:noFill/>
            <a:miter lim="800000"/>
          </a:ln>
          <a:effectLst/>
        </p:spPr>
        <p:txBody>
          <a:bodyPr>
            <a:spAutoFit/>
          </a:bodyPr>
          <a:lstStyle/>
          <a:p>
            <a:pPr marR="0" defTabSz="914400" eaLnBrk="1" hangingPunct="1">
              <a:lnSpc>
                <a:spcPct val="90000"/>
              </a:lnSpc>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孔径抖动是采样保持器引起的。</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采样时钟的噪声和抖动是外部随机噪声、振荡器相位噪声、电源噪声，或是由于布线、去耦和接地不当所致</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73125" y="1485900"/>
            <a:ext cx="7242175" cy="749300"/>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        由采样时钟噪声和抖动引起的动态误差远大于</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内部的孔径抖动所导致的动态误差。</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321541" name="Text Box 5"/>
          <p:cNvSpPr txBox="1">
            <a:spLocks noChangeArrowheads="1"/>
          </p:cNvSpPr>
          <p:nvPr/>
        </p:nvSpPr>
        <p:spPr bwMode="auto">
          <a:xfrm>
            <a:off x="4994275" y="4267200"/>
            <a:ext cx="3421063" cy="1077913"/>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即使是很小的时间抖动也会引起</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SNR</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和</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ENOB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下降。</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64870" name="Picture 6"/>
          <p:cNvPicPr>
            <a:picLocks noChangeAspect="1"/>
          </p:cNvPicPr>
          <p:nvPr/>
        </p:nvPicPr>
        <p:blipFill>
          <a:blip r:embed="rId1"/>
          <a:stretch>
            <a:fillRect/>
          </a:stretch>
        </p:blipFill>
        <p:spPr>
          <a:xfrm>
            <a:off x="1190625" y="3457575"/>
            <a:ext cx="3148013" cy="2795588"/>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1539"/>
                                        </p:tgtEl>
                                        <p:attrNameLst>
                                          <p:attrName>style.visibility</p:attrName>
                                        </p:attrNameLst>
                                      </p:cBhvr>
                                      <p:to>
                                        <p:strVal val="visible"/>
                                      </p:to>
                                    </p:set>
                                    <p:animEffect transition="in" filter="blinds(horizontal)">
                                      <p:cBhvr>
                                        <p:cTn id="7" dur="500"/>
                                        <p:tgtEl>
                                          <p:spTgt spid="321539"/>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21541"/>
                                        </p:tgtEl>
                                        <p:attrNameLst>
                                          <p:attrName>style.visibility</p:attrName>
                                        </p:attrNameLst>
                                      </p:cBhvr>
                                      <p:to>
                                        <p:strVal val="visible"/>
                                      </p:to>
                                    </p:set>
                                    <p:animEffect transition="in" filter="blinds(horizontal)">
                                      <p:cBhvr>
                                        <p:cTn id="10" dur="500"/>
                                        <p:tgtEl>
                                          <p:spTgt spid="3215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1539" grpId="0" bldLvl="0" animBg="1"/>
      <p:bldP spid="321541" grpId="0" bldLvl="0" animBg="1"/>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2562"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7</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正确理解和设计采样时钟发生器</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2563" name="Text Box 3"/>
          <p:cNvSpPr txBox="1">
            <a:spLocks noChangeArrowheads="1"/>
          </p:cNvSpPr>
          <p:nvPr/>
        </p:nvSpPr>
        <p:spPr bwMode="auto">
          <a:xfrm>
            <a:off x="701675" y="2073275"/>
            <a:ext cx="8027988" cy="420688"/>
          </a:xfrm>
          <a:prstGeom prst="rect">
            <a:avLst/>
          </a:prstGeom>
          <a:noFill/>
          <a:ln w="9525">
            <a:noFill/>
            <a:miter lim="800000"/>
          </a:ln>
          <a:effectLst/>
        </p:spPr>
        <p:txBody>
          <a:bodyPr>
            <a:spAutoFit/>
          </a:bodyPr>
          <a:lstStyle/>
          <a:p>
            <a:pPr marR="0" defTabSz="914400" eaLnBrk="1" hangingPunct="1">
              <a:lnSpc>
                <a:spcPct val="90000"/>
              </a:lnSpc>
              <a:buClrTx/>
              <a:buSzTx/>
              <a:buFont typeface="Wingdings" panose="05000000000000000000" pitchFamily="2" charset="2"/>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原则：晶体振荡器</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带通滤波器</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低通滤波器</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73125" y="1485900"/>
            <a:ext cx="7242175"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目标：设计具有低相位噪声的采样时钟</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
        <p:nvSpPr>
          <p:cNvPr id="322565" name="Text Box 5"/>
          <p:cNvSpPr txBox="1">
            <a:spLocks noChangeArrowheads="1"/>
          </p:cNvSpPr>
          <p:nvPr/>
        </p:nvSpPr>
        <p:spPr bwMode="auto">
          <a:xfrm>
            <a:off x="701675" y="4811713"/>
            <a:ext cx="8027988" cy="1406525"/>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带通滤波器：去除采样频率附近的其它频率</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低通滤波器：去除带通未能消除的采样频率的谐波分量</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比较器：将正弦模拟信号转换成数字信号。</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65894" name="Picture 6"/>
          <p:cNvPicPr>
            <a:picLocks noChangeAspect="1"/>
          </p:cNvPicPr>
          <p:nvPr/>
        </p:nvPicPr>
        <p:blipFill>
          <a:blip r:embed="rId1"/>
          <a:stretch>
            <a:fillRect/>
          </a:stretch>
        </p:blipFill>
        <p:spPr>
          <a:xfrm>
            <a:off x="1771650" y="2493963"/>
            <a:ext cx="5459413" cy="2260600"/>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2563"/>
                                        </p:tgtEl>
                                        <p:attrNameLst>
                                          <p:attrName>style.visibility</p:attrName>
                                        </p:attrNameLst>
                                      </p:cBhvr>
                                      <p:to>
                                        <p:strVal val="visible"/>
                                      </p:to>
                                    </p:set>
                                    <p:animEffect transition="in" filter="blinds(horizontal)">
                                      <p:cBhvr>
                                        <p:cTn id="7" dur="500"/>
                                        <p:tgtEl>
                                          <p:spTgt spid="322563"/>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22565"/>
                                        </p:tgtEl>
                                        <p:attrNameLst>
                                          <p:attrName>style.visibility</p:attrName>
                                        </p:attrNameLst>
                                      </p:cBhvr>
                                      <p:to>
                                        <p:strVal val="visible"/>
                                      </p:to>
                                    </p:set>
                                    <p:animEffect transition="in" filter="blinds(horizontal)">
                                      <p:cBhvr>
                                        <p:cTn id="10" dur="500"/>
                                        <p:tgtEl>
                                          <p:spTgt spid="322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563" grpId="0" bldLvl="0" animBg="1"/>
      <p:bldP spid="322565" grpId="0" bldLvl="0" animBg="1"/>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3586"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3587" name="Text Box 3"/>
          <p:cNvSpPr txBox="1">
            <a:spLocks noChangeArrowheads="1"/>
          </p:cNvSpPr>
          <p:nvPr/>
        </p:nvSpPr>
        <p:spPr bwMode="auto">
          <a:xfrm>
            <a:off x="233363" y="3416300"/>
            <a:ext cx="8218488" cy="1077913"/>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rPr>
              <a:t>         由于开关电源具有几个安培的输出电流和很高频率分量的电压尖峰，因此滤波较为困难。需由厂商进行初步滤波后，再由用户加外部滤波电路。</a:t>
            </a:r>
            <a:endParaRPr kumimoji="1" lang="zh-CN" altLang="en-US" sz="2400" kern="1200" cap="none" spc="0" normalizeH="0" baseline="0" noProof="0">
              <a:solidFill>
                <a:schemeClr val="accent2"/>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52488" y="1268413"/>
            <a:ext cx="7599363" cy="1917700"/>
          </a:xfrm>
          <a:prstGeom prst="rect">
            <a:avLst/>
          </a:prstGeom>
          <a:solidFill>
            <a:srgbClr val="CCFFFF"/>
          </a:solidFill>
          <a:ln w="9525" algn="ctr">
            <a:noFill/>
            <a:miter lim="800000"/>
          </a:ln>
          <a:effectLst/>
        </p:spPr>
        <p:txBody>
          <a:bodyPr>
            <a:spAutoFit/>
          </a:bodyPr>
          <a:lstStyle/>
          <a:p>
            <a:pPr marR="0" defTabSz="914400" eaLnBrk="1" hangingPunct="1">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开关电源的优缺点：</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a:p>
            <a:pPr marR="0" defTabSz="914400" eaLnBrk="1" hangingPunct="1">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    优点：成本低、效率高、体积小、可靠性高、输入电压范围宽；</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a:p>
            <a:pPr marR="0" defTabSz="914400" eaLnBrk="1" hangingPunct="1">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    缺点：会产生频带很宽（上百</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MHz</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）的噪声，噪声以传导噪声、辐射噪声和有害电磁场形式存在；</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pic>
        <p:nvPicPr>
          <p:cNvPr id="166917" name="Picture 6"/>
          <p:cNvPicPr>
            <a:picLocks noChangeAspect="1"/>
          </p:cNvPicPr>
          <p:nvPr/>
        </p:nvPicPr>
        <p:blipFill>
          <a:blip r:embed="rId1"/>
          <a:stretch>
            <a:fillRect/>
          </a:stretch>
        </p:blipFill>
        <p:spPr>
          <a:xfrm>
            <a:off x="546100" y="4551363"/>
            <a:ext cx="3648075" cy="1638300"/>
          </a:xfrm>
          <a:prstGeom prst="rect">
            <a:avLst/>
          </a:prstGeom>
          <a:noFill/>
          <a:ln w="9525">
            <a:noFill/>
          </a:ln>
        </p:spPr>
      </p:pic>
      <p:sp>
        <p:nvSpPr>
          <p:cNvPr id="323591" name="Text Box 7"/>
          <p:cNvSpPr txBox="1">
            <a:spLocks noChangeArrowheads="1"/>
          </p:cNvSpPr>
          <p:nvPr/>
        </p:nvSpPr>
        <p:spPr bwMode="auto">
          <a:xfrm>
            <a:off x="4267200" y="4494213"/>
            <a:ext cx="4676775" cy="173513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串联电感的作用是将开关电源的输出和公共端与外部电路隔离；由于负载电流可能较大，故选择电感时要确保不会产生饱和。分立电感和铁氧体磁珠是理想选择。</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52488"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3587"/>
                                        </p:tgtEl>
                                        <p:attrNameLst>
                                          <p:attrName>style.visibility</p:attrName>
                                        </p:attrNameLst>
                                      </p:cBhvr>
                                      <p:to>
                                        <p:strVal val="visible"/>
                                      </p:to>
                                    </p:set>
                                    <p:animEffect transition="in" filter="blinds(horizontal)">
                                      <p:cBhvr>
                                        <p:cTn id="7" dur="500"/>
                                        <p:tgtEl>
                                          <p:spTgt spid="323587"/>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23591"/>
                                        </p:tgtEl>
                                        <p:attrNameLst>
                                          <p:attrName>style.visibility</p:attrName>
                                        </p:attrNameLst>
                                      </p:cBhvr>
                                      <p:to>
                                        <p:strVal val="visible"/>
                                      </p:to>
                                    </p:set>
                                    <p:animEffect transition="in" filter="blinds(horizontal)">
                                      <p:cBhvr>
                                        <p:cTn id="10" dur="500"/>
                                        <p:tgtEl>
                                          <p:spTgt spid="3235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87" grpId="0" bldLvl="0" animBg="1"/>
      <p:bldP spid="323591" grpId="0" bldLvl="0"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461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4612" name="Text Box 4"/>
          <p:cNvSpPr txBox="1">
            <a:spLocks noChangeArrowheads="1"/>
          </p:cNvSpPr>
          <p:nvPr/>
        </p:nvSpPr>
        <p:spPr bwMode="auto">
          <a:xfrm>
            <a:off x="4281488" y="1268413"/>
            <a:ext cx="4676775" cy="4911725"/>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印制电路板上也要使用适当的电源去耦技术。</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1.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电源输入端使用多个引脚引向电路板，并用钽电解电容大面积接地进行去耦，该电容作用是旁路低频噪声；</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2.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铁氧体磁珠用以减少高频噪声；</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Tx/>
              <a:buNone/>
              <a:defRPr/>
            </a:pP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3. </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每个集成电路芯片的电源引脚使用寄生电感较小的陶瓷电容，贴片封装最佳。</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67940" name="Picture 5"/>
          <p:cNvPicPr>
            <a:picLocks noChangeAspect="1"/>
          </p:cNvPicPr>
          <p:nvPr/>
        </p:nvPicPr>
        <p:blipFill>
          <a:blip r:embed="rId1"/>
          <a:stretch>
            <a:fillRect/>
          </a:stretch>
        </p:blipFill>
        <p:spPr>
          <a:xfrm>
            <a:off x="242888" y="2047875"/>
            <a:ext cx="3810000" cy="3676650"/>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4612"/>
                                        </p:tgtEl>
                                        <p:attrNameLst>
                                          <p:attrName>style.visibility</p:attrName>
                                        </p:attrNameLst>
                                      </p:cBhvr>
                                      <p:to>
                                        <p:strVal val="visible"/>
                                      </p:to>
                                    </p:set>
                                    <p:animEffect transition="in" filter="blinds(horizontal)">
                                      <p:cBhvr>
                                        <p:cTn id="7" dur="500"/>
                                        <p:tgtEl>
                                          <p:spTgt spid="3246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612" grpId="0" bldLvl="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5634"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5635" name="Text Box 3"/>
          <p:cNvSpPr txBox="1">
            <a:spLocks noChangeArrowheads="1"/>
          </p:cNvSpPr>
          <p:nvPr/>
        </p:nvSpPr>
        <p:spPr bwMode="auto">
          <a:xfrm>
            <a:off x="701675" y="1268413"/>
            <a:ext cx="8027988" cy="4802188"/>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接地设计原则：</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接地面积尽量大，</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PCB</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的设计尽量用多层印制电路板，并至少将其中一层全部作为接地面。若用双层板，其中一层的接地面至少要占到总面积的</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75%</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若高速</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的印制板与其它印制板有连接（如底板</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母板），连接接口间应使用多个引脚作为地线，至少占总引脚数的</a:t>
            </a:r>
            <a:r>
              <a:rPr kumimoji="1" lang="en-US" altLang="zh-CN"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30%~40%</a:t>
            </a: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，以确保多板构成的系统接地面间的低阻抗。</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  设置模拟地和数字地，将敏感的模拟器件和有噪声的数字器件物理分开。</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5635"/>
                                        </p:tgtEl>
                                        <p:attrNameLst>
                                          <p:attrName>style.visibility</p:attrName>
                                        </p:attrNameLst>
                                      </p:cBhvr>
                                      <p:to>
                                        <p:strVal val="visible"/>
                                      </p:to>
                                    </p:set>
                                    <p:animEffect transition="in" filter="blinds(horizontal)">
                                      <p:cBhvr>
                                        <p:cTn id="7" dur="500"/>
                                        <p:tgtEl>
                                          <p:spTgt spid="3256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635" grpId="0" bldLvl="0" animBg="1"/>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6658"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6659" name="Text Box 3"/>
          <p:cNvSpPr txBox="1">
            <a:spLocks noChangeArrowheads="1"/>
          </p:cNvSpPr>
          <p:nvPr/>
        </p:nvSpPr>
        <p:spPr bwMode="auto">
          <a:xfrm>
            <a:off x="4933950" y="1330325"/>
            <a:ext cx="4041775" cy="4911725"/>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sz="2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多板系统中模拟和数字地的处理方案：</a:t>
            </a:r>
            <a:endParaRPr kumimoji="1" lang="zh-CN" altLang="en-US" sz="2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各板模拟、数字地分别与母板的模拟和数字地相接；</a:t>
            </a:r>
            <a:endParaRPr kumimoji="1" lang="zh-CN" altLang="en-US" sz="2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  母板的模拟、数字地在“星形地”（或“单点地”）处连接，一般设置在电源的公共返回端；</a:t>
            </a:r>
            <a:endParaRPr kumimoji="1" lang="zh-CN" altLang="en-US" sz="24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sz="24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两个地系统间用肖特基二极管连接，防止之间出现偶然的直流电压。</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69988" name="Picture 5"/>
          <p:cNvPicPr>
            <a:picLocks noChangeAspect="1"/>
          </p:cNvPicPr>
          <p:nvPr/>
        </p:nvPicPr>
        <p:blipFill>
          <a:blip r:embed="rId1"/>
          <a:stretch>
            <a:fillRect/>
          </a:stretch>
        </p:blipFill>
        <p:spPr>
          <a:xfrm>
            <a:off x="277813" y="1741488"/>
            <a:ext cx="4343400" cy="4059237"/>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6659"/>
                                        </p:tgtEl>
                                        <p:attrNameLst>
                                          <p:attrName>style.visibility</p:attrName>
                                        </p:attrNameLst>
                                      </p:cBhvr>
                                      <p:to>
                                        <p:strVal val="visible"/>
                                      </p:to>
                                    </p:set>
                                    <p:animEffect transition="in" filter="blinds(horizontal)">
                                      <p:cBhvr>
                                        <p:cTn id="7" dur="500"/>
                                        <p:tgtEl>
                                          <p:spTgt spid="3266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659" grpId="0" bldLvl="0" animBg="1"/>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7682"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7683" name="Text Box 3"/>
          <p:cNvSpPr txBox="1">
            <a:spLocks noChangeArrowheads="1"/>
          </p:cNvSpPr>
          <p:nvPr/>
        </p:nvSpPr>
        <p:spPr bwMode="auto">
          <a:xfrm>
            <a:off x="723900" y="1639888"/>
            <a:ext cx="7859713" cy="3681413"/>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rPr>
              <a:t>模拟地和数字地如何分配？</a:t>
            </a: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endPar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对噪声敏感的模拟器件（运放</a:t>
            </a:r>
            <a:r>
              <a:rPr kumimoji="1" lang="en-US" altLang="zh-CN"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基准电压源），以模拟地为参考，并通过模拟接地面去耦；</a:t>
            </a:r>
            <a:endPar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en-US" altLang="zh-CN"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ADC</a:t>
            </a: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t>
            </a:r>
            <a:r>
              <a:rPr kumimoji="1" lang="en-US" altLang="zh-CN"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DAC</a:t>
            </a: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等混合信号集成电路按模拟器件对待；</a:t>
            </a:r>
            <a:endPar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Char char="ü"/>
              <a:defRPr/>
            </a:pPr>
            <a:r>
              <a:rPr kumimoji="1" lang="zh-CN" altLang="en-US"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缓冲寄存器、数字逻辑器件、微处理器等数字器件，以数字地为参考，并通过数字接地面去耦。</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7683"/>
                                        </p:tgtEl>
                                        <p:attrNameLst>
                                          <p:attrName>style.visibility</p:attrName>
                                        </p:attrNameLst>
                                      </p:cBhvr>
                                      <p:to>
                                        <p:strVal val="visible"/>
                                      </p:to>
                                    </p:set>
                                    <p:animEffect transition="in" filter="blinds(horizontal)">
                                      <p:cBhvr>
                                        <p:cTn id="7" dur="500"/>
                                        <p:tgtEl>
                                          <p:spTgt spid="3276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683" grpId="0" bldLvl="0" animBg="1"/>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8706"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8707" name="Text Box 3"/>
          <p:cNvSpPr txBox="1">
            <a:spLocks noChangeArrowheads="1"/>
          </p:cNvSpPr>
          <p:nvPr/>
        </p:nvSpPr>
        <p:spPr bwMode="auto">
          <a:xfrm>
            <a:off x="4699000" y="2001838"/>
            <a:ext cx="4400550" cy="4108450"/>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应用时注意：</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应当将模拟地和数字地在芯片外连在一起，并用尽可能短的线连到模拟地，以减小芯片内部、引脚的杂散电容耦合的噪声；</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a:defRPr/>
            </a:pP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ADC</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的数字电源</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V</a:t>
            </a:r>
            <a:r>
              <a:rPr kumimoji="1" lang="en-US" altLang="zh-CN" sz="1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D</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用铁氧体磁珠与模拟电源隔离，并就近接去耦电容；</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在</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附近加入缓冲锁存器，以隔离数字噪声耦合到模拟部分；</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采样时钟电路连接模拟地并去耦；</a:t>
            </a: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72036" name="Picture 5"/>
          <p:cNvPicPr>
            <a:picLocks noChangeAspect="1"/>
          </p:cNvPicPr>
          <p:nvPr/>
        </p:nvPicPr>
        <p:blipFill>
          <a:blip r:embed="rId1"/>
          <a:stretch>
            <a:fillRect/>
          </a:stretch>
        </p:blipFill>
        <p:spPr>
          <a:xfrm>
            <a:off x="22225" y="2001838"/>
            <a:ext cx="4743450" cy="386397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495300" y="1485900"/>
            <a:ext cx="8407400"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ADC</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a:t>
            </a:r>
            <a:r>
              <a:rPr kumimoji="1" lang="en-US" altLang="zh-CN"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DAC</a:t>
            </a: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等混合信号电路内部的数字地和模拟地是分开的。</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8707"/>
                                        </p:tgtEl>
                                        <p:attrNameLst>
                                          <p:attrName>style.visibility</p:attrName>
                                        </p:attrNameLst>
                                      </p:cBhvr>
                                      <p:to>
                                        <p:strVal val="visible"/>
                                      </p:to>
                                    </p:set>
                                    <p:animEffect transition="in" filter="blinds(horizontal)">
                                      <p:cBhvr>
                                        <p:cTn id="7" dur="500"/>
                                        <p:tgtEl>
                                          <p:spTgt spid="328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707" grpId="0" bldLvl="0" animBg="1"/>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9730"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29731" name="Text Box 3"/>
          <p:cNvSpPr txBox="1">
            <a:spLocks noChangeArrowheads="1"/>
          </p:cNvSpPr>
          <p:nvPr/>
        </p:nvSpPr>
        <p:spPr bwMode="auto">
          <a:xfrm>
            <a:off x="4743450" y="1085850"/>
            <a:ext cx="4229100" cy="2976563"/>
          </a:xfrm>
          <a:prstGeom prst="rect">
            <a:avLst/>
          </a:prstGeom>
          <a:noFill/>
          <a:ln w="9525">
            <a:noFill/>
            <a:miter lim="800000"/>
          </a:ln>
          <a:effectLst/>
        </p:spPr>
        <p:txBody>
          <a:bodyPr>
            <a:spAutoFit/>
          </a:bodyPr>
          <a:lstStyle/>
          <a:p>
            <a:pPr marR="0" defTabSz="914400" eaLnBrk="1" hangingPunct="1">
              <a:lnSpc>
                <a:spcPct val="120000"/>
              </a:lnSpc>
              <a:buClrTx/>
              <a:buSzTx/>
              <a:buFontTx/>
              <a:buNone/>
              <a:defRPr/>
            </a:pP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startAt="5"/>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推荐使用不同的电源为模拟电路和数字电路供电，</a:t>
            </a: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用模拟电源；</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120000"/>
              </a:lnSpc>
              <a:buClrTx/>
              <a:buSzTx/>
              <a:buFont typeface="Wingdings" panose="05000000000000000000" pitchFamily="2" charset="2"/>
              <a:buAutoNum type="circleNumDbPlain" startAt="5"/>
              <a:defRPr/>
            </a:pPr>
            <a:r>
              <a:rPr kumimoji="1" lang="en-US" altLang="zh-CN"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  </a:t>
            </a: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也可用数字电源向模拟电路供电，但使用时应按下图方式对数字电源进行滤波处理：</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R="0" defTabSz="914400" eaLnBrk="1" hangingPunct="1">
              <a:lnSpc>
                <a:spcPct val="90000"/>
              </a:lnSpc>
              <a:buClrTx/>
              <a:buSzTx/>
              <a:buFontTx/>
              <a:buNone/>
              <a:defRPr/>
            </a:pPr>
            <a:endParaRPr kumimoji="1" lang="zh-CN" altLang="en-US" sz="2400" kern="1200" cap="none" spc="0" normalizeH="0" baseline="0" noProof="0">
              <a:solidFill>
                <a:schemeClr val="tx1"/>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pic>
        <p:nvPicPr>
          <p:cNvPr id="173060" name="Picture 5"/>
          <p:cNvPicPr>
            <a:picLocks noChangeAspect="1"/>
          </p:cNvPicPr>
          <p:nvPr/>
        </p:nvPicPr>
        <p:blipFill>
          <a:blip r:embed="rId1"/>
          <a:stretch>
            <a:fillRect/>
          </a:stretch>
        </p:blipFill>
        <p:spPr>
          <a:xfrm>
            <a:off x="392113" y="2009775"/>
            <a:ext cx="4351337" cy="3614738"/>
          </a:xfrm>
          <a:prstGeom prst="rect">
            <a:avLst/>
          </a:prstGeom>
          <a:noFill/>
          <a:ln w="9525">
            <a:noFill/>
          </a:ln>
        </p:spPr>
      </p:pic>
      <p:pic>
        <p:nvPicPr>
          <p:cNvPr id="173061" name="Picture 6"/>
          <p:cNvPicPr>
            <a:picLocks noChangeAspect="1"/>
          </p:cNvPicPr>
          <p:nvPr/>
        </p:nvPicPr>
        <p:blipFill>
          <a:blip r:embed="rId2"/>
          <a:stretch>
            <a:fillRect/>
          </a:stretch>
        </p:blipFill>
        <p:spPr>
          <a:xfrm>
            <a:off x="4743450" y="4062413"/>
            <a:ext cx="3886200" cy="199072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29731"/>
                                        </p:tgtEl>
                                        <p:attrNameLst>
                                          <p:attrName>style.visibility</p:attrName>
                                        </p:attrNameLst>
                                      </p:cBhvr>
                                      <p:to>
                                        <p:strVal val="visible"/>
                                      </p:to>
                                    </p:set>
                                    <p:animEffect transition="in" filter="blinds(horizontal)">
                                      <p:cBhvr>
                                        <p:cTn id="7" dur="500"/>
                                        <p:tgtEl>
                                          <p:spTgt spid="3297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731" grpId="0" bldLvl="0" animBg="1"/>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30754" name="Text Box 2"/>
          <p:cNvSpPr txBox="1">
            <a:spLocks noChangeArrowheads="1"/>
          </p:cNvSpPr>
          <p:nvPr/>
        </p:nvSpPr>
        <p:spPr bwMode="auto">
          <a:xfrm>
            <a:off x="546100" y="688975"/>
            <a:ext cx="8597900" cy="579438"/>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en-US" altLang="zh-CN"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8</a:t>
            </a:r>
            <a:r>
              <a:rPr kumimoji="1" lang="zh-CN" altLang="en-US" sz="3200" kern="1200" cap="none" spc="0" normalizeH="0" baseline="0" noProof="0">
                <a:solidFill>
                  <a:srgbClr val="333399"/>
                </a:solidFill>
                <a:effectLst>
                  <a:outerShdw blurRad="38100" dist="38100" dir="2700000" algn="tl">
                    <a:srgbClr val="C0C0C0"/>
                  </a:outerShdw>
                </a:effectLst>
                <a:latin typeface="Arial Black" panose="020B0A04020102020204" pitchFamily="34" charset="0"/>
                <a:ea typeface="宋体" panose="02010600030101010101" pitchFamily="2" charset="-122"/>
                <a:cs typeface="+mn-cs"/>
              </a:rPr>
              <a:t>）</a:t>
            </a:r>
            <a:r>
              <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电源、接地、去耦和布线</a:t>
            </a:r>
            <a:endParaRPr kumimoji="1" lang="zh-CN" altLang="en-US" sz="32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30755" name="Text Box 3"/>
          <p:cNvSpPr txBox="1">
            <a:spLocks noChangeArrowheads="1"/>
          </p:cNvSpPr>
          <p:nvPr/>
        </p:nvSpPr>
        <p:spPr bwMode="auto">
          <a:xfrm>
            <a:off x="4976813" y="2192338"/>
            <a:ext cx="4167188" cy="3937000"/>
          </a:xfrm>
          <a:prstGeom prst="rect">
            <a:avLst/>
          </a:prstGeom>
          <a:noFill/>
          <a:ln w="9525">
            <a:noFill/>
            <a:miter lim="800000"/>
          </a:ln>
          <a:effectLst/>
        </p:spPr>
        <p:txBody>
          <a:bodyPr>
            <a:spAutoFit/>
          </a:bodyPr>
          <a:lstStyle/>
          <a:p>
            <a:pPr marL="685800" marR="0" indent="-685800" defTabSz="914400" eaLnBrk="1" hangingPunct="1">
              <a:lnSpc>
                <a:spcPct val="90000"/>
              </a:lnSpc>
              <a:buClrTx/>
              <a:buSzTx/>
              <a:buFontTx/>
              <a:buNone/>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布局布线原则：</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电压较高的模拟信号应与电压较低的模拟信号分开；</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0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所有模拟信号应与数字信号保持一定距离；</a:t>
            </a:r>
            <a:endParaRPr kumimoji="1" lang="zh-CN" altLang="en-US" sz="20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由于采样时钟易受干扰，同时它本身又是干扰源，故时钟电路应与模拟和数字信号都隔离；</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0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rPr>
              <a:t>敏感信号通路尽量保证最短；</a:t>
            </a:r>
            <a:endParaRPr kumimoji="1" lang="zh-CN" altLang="en-US" sz="2000" kern="1200" cap="none" spc="0" normalizeH="0" baseline="0" noProof="0">
              <a:solidFill>
                <a:srgbClr val="3333FF"/>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a:p>
            <a:pPr marL="685800" marR="0" indent="-685800" defTabSz="914400" eaLnBrk="1" hangingPunct="1">
              <a:lnSpc>
                <a:spcPct val="90000"/>
              </a:lnSpc>
              <a:buClrTx/>
              <a:buSzTx/>
              <a:buFontTx/>
              <a:buAutoNum type="arabicPeriod"/>
              <a:defRPr/>
            </a:pPr>
            <a:r>
              <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rPr>
              <a:t>有接插件时，尽量用地线将各信号之间隔开，以防止各信号间相互耦合、串扰。</a:t>
            </a:r>
            <a:endParaRPr kumimoji="1" lang="zh-CN" altLang="en-US" sz="2000" kern="1200" cap="none" spc="0" normalizeH="0" baseline="0" noProof="0">
              <a:solidFill>
                <a:srgbClr val="333399"/>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390027" name="Text Box 11"/>
          <p:cNvSpPr txBox="1">
            <a:spLocks noChangeArrowheads="1"/>
          </p:cNvSpPr>
          <p:nvPr/>
        </p:nvSpPr>
        <p:spPr bwMode="auto">
          <a:xfrm>
            <a:off x="823913" y="1573213"/>
            <a:ext cx="8089900" cy="420688"/>
          </a:xfrm>
          <a:prstGeom prst="rect">
            <a:avLst/>
          </a:prstGeom>
          <a:solidFill>
            <a:srgbClr val="CCFFFF"/>
          </a:solidFill>
          <a:ln w="9525" algn="ctr">
            <a:noFill/>
            <a:miter lim="800000"/>
          </a:ln>
          <a:effectLst/>
        </p:spPr>
        <p:txBody>
          <a:bodyPr>
            <a:spAutoFit/>
          </a:bodyPr>
          <a:lstStyle/>
          <a:p>
            <a:pPr marR="0" defTabSz="914400" eaLnBrk="1" hangingPunct="1">
              <a:lnSpc>
                <a:spcPct val="90000"/>
              </a:lnSpc>
              <a:buClrTx/>
              <a:buSzTx/>
              <a:buFontTx/>
              <a:buNone/>
              <a:defRPr/>
            </a:pPr>
            <a:r>
              <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rPr>
              <a:t>为了减小噪声、防止干扰，需要仔细安排系统布局和布线。</a:t>
            </a:r>
            <a:endParaRPr kumimoji="1" lang="zh-CN" altLang="en-US" sz="2400" kern="1200" cap="none" spc="0" normalizeH="0" baseline="0" noProof="0">
              <a:solidFill>
                <a:schemeClr val="tx1"/>
              </a:solidFill>
              <a:effectLst>
                <a:outerShdw blurRad="38100" dist="38100" dir="2700000" algn="tl">
                  <a:srgbClr val="FFFFFF"/>
                </a:outerShdw>
              </a:effectLst>
              <a:latin typeface="Times New Roman" panose="02020603050405020304" pitchFamily="18" charset="0"/>
              <a:ea typeface="楷体_GB2312" pitchFamily="49" charset="-122"/>
              <a:cs typeface="+mn-cs"/>
            </a:endParaRPr>
          </a:p>
        </p:txBody>
      </p:sp>
      <p:pic>
        <p:nvPicPr>
          <p:cNvPr id="174085" name="Picture 6"/>
          <p:cNvPicPr>
            <a:picLocks noChangeAspect="1"/>
          </p:cNvPicPr>
          <p:nvPr/>
        </p:nvPicPr>
        <p:blipFill>
          <a:blip r:embed="rId1"/>
          <a:stretch>
            <a:fillRect/>
          </a:stretch>
        </p:blipFill>
        <p:spPr>
          <a:xfrm>
            <a:off x="546100" y="2500313"/>
            <a:ext cx="4094163" cy="3743325"/>
          </a:xfrm>
          <a:prstGeom prst="rect">
            <a:avLst/>
          </a:prstGeom>
          <a:noFill/>
          <a:ln w="9525">
            <a:noFill/>
          </a:ln>
        </p:spPr>
      </p:pic>
      <p:sp>
        <p:nvSpPr>
          <p:cNvPr id="1554507" name="Text Box 75"/>
          <p:cNvSpPr txBox="1">
            <a:spLocks noChangeArrowheads="1"/>
          </p:cNvSpPr>
          <p:nvPr/>
        </p:nvSpPr>
        <p:spPr bwMode="auto">
          <a:xfrm>
            <a:off x="838200" y="61913"/>
            <a:ext cx="7302500" cy="585788"/>
          </a:xfrm>
          <a:prstGeom prst="rect">
            <a:avLst/>
          </a:prstGeom>
          <a:noFill/>
          <a:ln w="9525">
            <a:noFill/>
            <a:miter lim="800000"/>
          </a:ln>
          <a:effectLst/>
        </p:spPr>
        <p:txBody>
          <a:bodyPr>
            <a:spAutoFit/>
          </a:bodyPr>
          <a:lstStyle/>
          <a:p>
            <a:pPr marR="0" defTabSz="914400" eaLnBrk="1" hangingPunct="1">
              <a:lnSpc>
                <a:spcPct val="90000"/>
              </a:lnSpc>
              <a:buClrTx/>
              <a:buSzTx/>
              <a:buFontTx/>
              <a:buNone/>
              <a:defRPr/>
            </a:pP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6.6 </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高速</a:t>
            </a:r>
            <a:r>
              <a:rPr kumimoji="1" lang="en-US" altLang="zh-CN"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ADC</a:t>
            </a:r>
            <a:r>
              <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外围电路和接口设计</a:t>
            </a:r>
            <a:endParaRPr kumimoji="1" lang="zh-CN" altLang="en-US" sz="36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Tree>
  </p:cSld>
  <p:clrMapOvr>
    <a:masterClrMapping/>
  </p:clrMapOvr>
  <p:transition spd="slow">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330755"/>
                                        </p:tgtEl>
                                        <p:attrNameLst>
                                          <p:attrName>style.visibility</p:attrName>
                                        </p:attrNameLst>
                                      </p:cBhvr>
                                      <p:to>
                                        <p:strVal val="visible"/>
                                      </p:to>
                                    </p:set>
                                    <p:animEffect transition="in" filter="blinds(horizontal)">
                                      <p:cBhvr>
                                        <p:cTn id="7" dur="500"/>
                                        <p:tgtEl>
                                          <p:spTgt spid="330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755" grpId="0" bldLvl="0" animBg="1"/>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4098" name="Picture 2" descr="Turm_blau_hell"/>
          <p:cNvPicPr>
            <a:picLocks noChangeAspect="1"/>
          </p:cNvPicPr>
          <p:nvPr/>
        </p:nvPicPr>
        <p:blipFill>
          <a:blip r:embed="rId1"/>
          <a:stretch>
            <a:fillRect/>
          </a:stretch>
        </p:blipFill>
        <p:spPr>
          <a:xfrm>
            <a:off x="3606800" y="928688"/>
            <a:ext cx="5178425" cy="4953000"/>
          </a:xfrm>
          <a:prstGeom prst="rect">
            <a:avLst/>
          </a:prstGeom>
          <a:noFill/>
          <a:ln w="9525">
            <a:noFill/>
          </a:ln>
        </p:spPr>
      </p:pic>
      <p:sp>
        <p:nvSpPr>
          <p:cNvPr id="4099" name="Freeform 4"/>
          <p:cNvSpPr/>
          <p:nvPr/>
        </p:nvSpPr>
        <p:spPr>
          <a:xfrm>
            <a:off x="236538" y="661988"/>
            <a:ext cx="6934200" cy="381000"/>
          </a:xfrm>
          <a:custGeom>
            <a:avLst/>
            <a:gdLst/>
            <a:ahLst/>
            <a:cxnLst>
              <a:cxn ang="0">
                <a:pos x="0" y="0"/>
              </a:cxn>
              <a:cxn ang="0">
                <a:pos x="1011722829" y="0"/>
              </a:cxn>
              <a:cxn ang="0">
                <a:pos x="1011722829" y="144008929"/>
              </a:cxn>
              <a:cxn ang="0">
                <a:pos x="2147483646" y="144008929"/>
              </a:cxn>
            </a:cxnLst>
            <a:pathLst>
              <a:path w="4272" h="1008">
                <a:moveTo>
                  <a:pt x="0" y="0"/>
                </a:moveTo>
                <a:lnTo>
                  <a:pt x="384" y="0"/>
                </a:lnTo>
                <a:lnTo>
                  <a:pt x="384" y="1008"/>
                </a:lnTo>
                <a:lnTo>
                  <a:pt x="4272" y="1008"/>
                </a:lnTo>
              </a:path>
            </a:pathLst>
          </a:custGeom>
          <a:noFill/>
          <a:ln w="12700" cap="flat" cmpd="sng">
            <a:solidFill>
              <a:schemeClr val="bg2">
                <a:alpha val="100000"/>
              </a:schemeClr>
            </a:solidFill>
            <a:prstDash val="solid"/>
            <a:round/>
            <a:headEnd type="none" w="med" len="med"/>
            <a:tailEnd type="diamond" w="med" len="med"/>
          </a:ln>
        </p:spPr>
        <p:txBody>
          <a:bodyPr/>
          <a:p>
            <a:endParaRPr lang="zh-CN" altLang="en-US"/>
          </a:p>
        </p:txBody>
      </p:sp>
      <p:sp>
        <p:nvSpPr>
          <p:cNvPr id="4100" name="Freeform 5"/>
          <p:cNvSpPr/>
          <p:nvPr/>
        </p:nvSpPr>
        <p:spPr>
          <a:xfrm>
            <a:off x="1054100" y="1047750"/>
            <a:ext cx="228600" cy="508000"/>
          </a:xfrm>
          <a:custGeom>
            <a:avLst/>
            <a:gdLst/>
            <a:ahLst/>
            <a:cxnLst>
              <a:cxn ang="0">
                <a:pos x="0" y="0"/>
              </a:cxn>
              <a:cxn ang="0">
                <a:pos x="0" y="1792111111"/>
              </a:cxn>
              <a:cxn ang="0">
                <a:pos x="362902500" y="1792111111"/>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4101" name="Freeform 6"/>
          <p:cNvSpPr/>
          <p:nvPr/>
        </p:nvSpPr>
        <p:spPr>
          <a:xfrm>
            <a:off x="1052513" y="1539875"/>
            <a:ext cx="217487" cy="742950"/>
          </a:xfrm>
          <a:custGeom>
            <a:avLst/>
            <a:gdLst/>
            <a:ahLst/>
            <a:cxnLst>
              <a:cxn ang="0">
                <a:pos x="0" y="0"/>
              </a:cxn>
              <a:cxn ang="0">
                <a:pos x="0" y="2147483646"/>
              </a:cxn>
              <a:cxn ang="0">
                <a:pos x="328476355"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785" name="Rectangle 9"/>
          <p:cNvSpPr>
            <a:spLocks noGrp="1" noChangeArrowheads="1"/>
          </p:cNvSpPr>
          <p:nvPr>
            <p:ph type="subTitle" idx="1"/>
          </p:nvPr>
        </p:nvSpPr>
        <p:spPr bwMode="auto">
          <a:xfrm>
            <a:off x="1774825" y="1135063"/>
            <a:ext cx="6219825" cy="625475"/>
          </a:xfrm>
        </p:spPr>
        <p:txBody>
          <a:bodyPr vert="horz" wrap="square" lIns="82550" tIns="41275" rIns="82550" bIns="41275" numCol="1" anchor="t" anchorCtr="0" compatLnSpc="1"/>
          <a:lstStyle/>
          <a:p>
            <a:pPr marL="476250" marR="0" lvl="0" indent="-476250" algn="l" defTabSz="678180" rtl="0" eaLnBrk="1" fontAlgn="base" latinLnBrk="0" hangingPunct="1">
              <a:lnSpc>
                <a:spcPct val="130000"/>
              </a:lnSpc>
              <a:spcBef>
                <a:spcPct val="0"/>
              </a:spcBef>
              <a:spcAft>
                <a:spcPct val="0"/>
              </a:spcAft>
              <a:buClr>
                <a:srgbClr val="000066"/>
              </a:buClr>
              <a:buSzPct val="75000"/>
              <a:buFont typeface="Wingdings" panose="05000000000000000000" pitchFamily="2" charset="2"/>
              <a:buNone/>
              <a:defRPr/>
            </a:pPr>
            <a:r>
              <a:rPr kumimoji="0"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mn-ea"/>
                <a:cs typeface="+mn-cs"/>
              </a:rPr>
              <a:t>7.1 </a:t>
            </a: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转换器的分类和组成</a:t>
            </a:r>
            <a:endPar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4103" name="Picture 17" descr="kugel_blau"/>
          <p:cNvPicPr>
            <a:picLocks noChangeAspect="1"/>
          </p:cNvPicPr>
          <p:nvPr/>
        </p:nvPicPr>
        <p:blipFill>
          <a:blip r:embed="rId2"/>
          <a:stretch>
            <a:fillRect/>
          </a:stretch>
        </p:blipFill>
        <p:spPr>
          <a:xfrm>
            <a:off x="1373188" y="1398588"/>
            <a:ext cx="457200" cy="315912"/>
          </a:xfrm>
          <a:prstGeom prst="rect">
            <a:avLst/>
          </a:prstGeom>
          <a:noFill/>
          <a:ln w="9525">
            <a:noFill/>
          </a:ln>
        </p:spPr>
      </p:pic>
      <p:pic>
        <p:nvPicPr>
          <p:cNvPr id="4104" name="Picture 18" descr="kugel_blau"/>
          <p:cNvPicPr>
            <a:picLocks noChangeAspect="1"/>
          </p:cNvPicPr>
          <p:nvPr/>
        </p:nvPicPr>
        <p:blipFill>
          <a:blip r:embed="rId2"/>
          <a:stretch>
            <a:fillRect/>
          </a:stretch>
        </p:blipFill>
        <p:spPr>
          <a:xfrm>
            <a:off x="1341438" y="2132013"/>
            <a:ext cx="457200" cy="315912"/>
          </a:xfrm>
          <a:prstGeom prst="rect">
            <a:avLst/>
          </a:prstGeom>
          <a:noFill/>
          <a:ln w="9525">
            <a:noFill/>
          </a:ln>
        </p:spPr>
      </p:pic>
      <p:sp>
        <p:nvSpPr>
          <p:cNvPr id="1483798" name="Rectangle 22"/>
          <p:cNvSpPr>
            <a:spLocks noChangeArrowheads="1"/>
          </p:cNvSpPr>
          <p:nvPr/>
        </p:nvSpPr>
        <p:spPr bwMode="auto">
          <a:xfrm>
            <a:off x="1746250" y="1855788"/>
            <a:ext cx="6867525" cy="744538"/>
          </a:xfrm>
          <a:prstGeom prst="rect">
            <a:avLst/>
          </a:prstGeom>
          <a:noFill/>
          <a:ln>
            <a:noFill/>
          </a:ln>
          <a:effectLst/>
        </p:spPr>
        <p:txBody>
          <a:bodyPr lIns="82550" tIns="41275" rIns="82550" bIns="41275"/>
          <a:lstStyle>
            <a:lvl1pPr marL="476250" indent="-476250" defTabSz="678180">
              <a:defRPr kumimoji="1" sz="2400">
                <a:solidFill>
                  <a:schemeClr val="tx1"/>
                </a:solidFill>
                <a:latin typeface="Times New Roman" panose="02020603050405020304" pitchFamily="18" charset="0"/>
                <a:ea typeface="宋体" panose="02010600030101010101" pitchFamily="2" charset="-122"/>
              </a:defRPr>
            </a:lvl1pPr>
            <a:lvl2pPr marL="1047750" indent="-381000" defTabSz="678180">
              <a:defRPr kumimoji="1" sz="2400">
                <a:solidFill>
                  <a:schemeClr val="tx1"/>
                </a:solidFill>
                <a:latin typeface="Times New Roman" panose="02020603050405020304" pitchFamily="18" charset="0"/>
                <a:ea typeface="宋体" panose="02010600030101010101" pitchFamily="2" charset="-122"/>
              </a:defRPr>
            </a:lvl2pPr>
            <a:lvl3pPr marL="1619250" indent="-381000" defTabSz="678180">
              <a:defRPr kumimoji="1" sz="2400">
                <a:solidFill>
                  <a:schemeClr val="tx1"/>
                </a:solidFill>
                <a:latin typeface="Times New Roman" panose="02020603050405020304" pitchFamily="18" charset="0"/>
                <a:ea typeface="宋体" panose="02010600030101010101" pitchFamily="2" charset="-122"/>
              </a:defRPr>
            </a:lvl3pPr>
            <a:lvl4pPr marL="2190750" indent="-381000" defTabSz="678180">
              <a:defRPr kumimoji="1" sz="2400">
                <a:solidFill>
                  <a:schemeClr val="tx1"/>
                </a:solidFill>
                <a:latin typeface="Times New Roman" panose="02020603050405020304" pitchFamily="18" charset="0"/>
                <a:ea typeface="宋体" panose="02010600030101010101" pitchFamily="2" charset="-122"/>
              </a:defRPr>
            </a:lvl4pPr>
            <a:lvl5pPr marL="2762250" indent="-381000" defTabSz="678180">
              <a:defRPr kumimoji="1" sz="2400">
                <a:solidFill>
                  <a:schemeClr val="tx1"/>
                </a:solidFill>
                <a:latin typeface="Times New Roman" panose="02020603050405020304" pitchFamily="18" charset="0"/>
                <a:ea typeface="宋体" panose="02010600030101010101" pitchFamily="2" charset="-122"/>
              </a:defRPr>
            </a:lvl5pPr>
            <a:lvl6pPr marL="32194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6766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1338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5910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7.2 </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转换器的主要技术指标</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pic>
        <p:nvPicPr>
          <p:cNvPr id="4106" name="Picture 27" descr="kugel_blau"/>
          <p:cNvPicPr>
            <a:picLocks noChangeAspect="1"/>
          </p:cNvPicPr>
          <p:nvPr/>
        </p:nvPicPr>
        <p:blipFill>
          <a:blip r:embed="rId2"/>
          <a:stretch>
            <a:fillRect/>
          </a:stretch>
        </p:blipFill>
        <p:spPr>
          <a:xfrm>
            <a:off x="1347788" y="2897188"/>
            <a:ext cx="457200" cy="315912"/>
          </a:xfrm>
          <a:prstGeom prst="rect">
            <a:avLst/>
          </a:prstGeom>
          <a:noFill/>
          <a:ln w="9525">
            <a:noFill/>
          </a:ln>
        </p:spPr>
      </p:pic>
      <p:sp>
        <p:nvSpPr>
          <p:cNvPr id="1483804" name="Rectangle 28"/>
          <p:cNvSpPr>
            <a:spLocks noChangeArrowheads="1"/>
          </p:cNvSpPr>
          <p:nvPr/>
        </p:nvSpPr>
        <p:spPr bwMode="auto">
          <a:xfrm>
            <a:off x="1747838" y="2635250"/>
            <a:ext cx="5749925" cy="744538"/>
          </a:xfrm>
          <a:prstGeom prst="rect">
            <a:avLst/>
          </a:prstGeom>
          <a:noFill/>
          <a:ln>
            <a:noFill/>
          </a:ln>
          <a:effectLst/>
        </p:spPr>
        <p:txBody>
          <a:bodyPr lIns="82550" tIns="41275" rIns="82550" bIns="41275"/>
          <a:lstStyle>
            <a:lvl1pPr marL="476250" indent="-476250" defTabSz="678180">
              <a:defRPr kumimoji="1" sz="2400">
                <a:solidFill>
                  <a:schemeClr val="tx1"/>
                </a:solidFill>
                <a:latin typeface="Times New Roman" panose="02020603050405020304" pitchFamily="18" charset="0"/>
                <a:ea typeface="宋体" panose="02010600030101010101" pitchFamily="2" charset="-122"/>
              </a:defRPr>
            </a:lvl1pPr>
            <a:lvl2pPr marL="1047750" indent="-381000" defTabSz="678180">
              <a:defRPr kumimoji="1" sz="2400">
                <a:solidFill>
                  <a:schemeClr val="tx1"/>
                </a:solidFill>
                <a:latin typeface="Times New Roman" panose="02020603050405020304" pitchFamily="18" charset="0"/>
                <a:ea typeface="宋体" panose="02010600030101010101" pitchFamily="2" charset="-122"/>
              </a:defRPr>
            </a:lvl2pPr>
            <a:lvl3pPr marL="1619250" indent="-381000" defTabSz="678180">
              <a:defRPr kumimoji="1" sz="2400">
                <a:solidFill>
                  <a:schemeClr val="tx1"/>
                </a:solidFill>
                <a:latin typeface="Times New Roman" panose="02020603050405020304" pitchFamily="18" charset="0"/>
                <a:ea typeface="宋体" panose="02010600030101010101" pitchFamily="2" charset="-122"/>
              </a:defRPr>
            </a:lvl3pPr>
            <a:lvl4pPr marL="2190750" indent="-381000" defTabSz="678180">
              <a:defRPr kumimoji="1" sz="2400">
                <a:solidFill>
                  <a:schemeClr val="tx1"/>
                </a:solidFill>
                <a:latin typeface="Times New Roman" panose="02020603050405020304" pitchFamily="18" charset="0"/>
                <a:ea typeface="宋体" panose="02010600030101010101" pitchFamily="2" charset="-122"/>
              </a:defRPr>
            </a:lvl4pPr>
            <a:lvl5pPr marL="2762250" indent="-381000" defTabSz="678180">
              <a:defRPr kumimoji="1" sz="2400">
                <a:solidFill>
                  <a:schemeClr val="tx1"/>
                </a:solidFill>
                <a:latin typeface="Times New Roman" panose="02020603050405020304" pitchFamily="18" charset="0"/>
                <a:ea typeface="宋体" panose="02010600030101010101" pitchFamily="2" charset="-122"/>
              </a:defRPr>
            </a:lvl5pPr>
            <a:lvl6pPr marL="32194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6766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1338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5910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7.3 </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并行</a:t>
            </a: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转换器</a:t>
            </a:r>
            <a:endPar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108" name="Freeform 31"/>
          <p:cNvSpPr/>
          <p:nvPr/>
        </p:nvSpPr>
        <p:spPr>
          <a:xfrm>
            <a:off x="1054100" y="2247900"/>
            <a:ext cx="242888" cy="825500"/>
          </a:xfrm>
          <a:custGeom>
            <a:avLst/>
            <a:gdLst/>
            <a:ahLst/>
            <a:cxnLst>
              <a:cxn ang="0">
                <a:pos x="0" y="0"/>
              </a:cxn>
              <a:cxn ang="0">
                <a:pos x="0" y="2147483646"/>
              </a:cxn>
              <a:cxn ang="0">
                <a:pos x="409684587"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1483809" name="Rectangle 33"/>
          <p:cNvSpPr>
            <a:spLocks noChangeArrowheads="1"/>
          </p:cNvSpPr>
          <p:nvPr/>
        </p:nvSpPr>
        <p:spPr bwMode="auto">
          <a:xfrm>
            <a:off x="1733550" y="242888"/>
            <a:ext cx="6156325" cy="628650"/>
          </a:xfrm>
          <a:prstGeom prst="rect">
            <a:avLst/>
          </a:prstGeom>
          <a:noFill/>
          <a:ln>
            <a:noFill/>
          </a:ln>
          <a:effectLst/>
        </p:spPr>
        <p:txBody>
          <a:bodyPr lIns="82550" tIns="41275" rIns="82550" bIns="41275"/>
          <a:lstStyle>
            <a:lvl1pPr marL="254000" indent="-254000" defTabSz="678180">
              <a:defRPr kumimoji="1" sz="2400">
                <a:solidFill>
                  <a:schemeClr val="tx1"/>
                </a:solidFill>
                <a:latin typeface="Times New Roman" panose="02020603050405020304" pitchFamily="18" charset="0"/>
                <a:ea typeface="宋体" panose="02010600030101010101" pitchFamily="2" charset="-122"/>
              </a:defRPr>
            </a:lvl1pPr>
            <a:lvl2pPr marL="254000" indent="-254000" defTabSz="678180">
              <a:defRPr kumimoji="1" sz="2400">
                <a:solidFill>
                  <a:schemeClr val="tx1"/>
                </a:solidFill>
                <a:latin typeface="Times New Roman" panose="02020603050405020304" pitchFamily="18" charset="0"/>
                <a:ea typeface="宋体" panose="02010600030101010101" pitchFamily="2" charset="-122"/>
              </a:defRPr>
            </a:lvl2pPr>
            <a:lvl3pPr marL="254000" indent="-254000" defTabSz="678180">
              <a:defRPr kumimoji="1" sz="2400">
                <a:solidFill>
                  <a:schemeClr val="tx1"/>
                </a:solidFill>
                <a:latin typeface="Times New Roman" panose="02020603050405020304" pitchFamily="18" charset="0"/>
                <a:ea typeface="宋体" panose="02010600030101010101" pitchFamily="2" charset="-122"/>
              </a:defRPr>
            </a:lvl3pPr>
            <a:lvl4pPr marL="254000" indent="-254000" defTabSz="678180">
              <a:defRPr kumimoji="1" sz="2400">
                <a:solidFill>
                  <a:schemeClr val="tx1"/>
                </a:solidFill>
                <a:latin typeface="Times New Roman" panose="02020603050405020304" pitchFamily="18" charset="0"/>
                <a:ea typeface="宋体" panose="02010600030101010101" pitchFamily="2" charset="-122"/>
              </a:defRPr>
            </a:lvl4pPr>
            <a:lvl5pPr marL="254000" indent="-254000" defTabSz="678180">
              <a:defRPr kumimoji="1" sz="2400">
                <a:solidFill>
                  <a:schemeClr val="tx1"/>
                </a:solidFill>
                <a:latin typeface="Times New Roman" panose="02020603050405020304" pitchFamily="18" charset="0"/>
                <a:ea typeface="宋体" panose="02010600030101010101" pitchFamily="2" charset="-122"/>
              </a:defRPr>
            </a:lvl5pPr>
            <a:lvl6pPr marL="7112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11684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6256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2082800" indent="-254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54000" marR="0" lvl="0" indent="-254000" algn="ctr" defTabSz="678180" rtl="0" eaLnBrk="0" fontAlgn="base" latinLnBrk="0" hangingPunct="0">
              <a:lnSpc>
                <a:spcPct val="90000"/>
              </a:lnSpc>
              <a:spcBef>
                <a:spcPct val="50000"/>
              </a:spcBef>
              <a:spcAft>
                <a:spcPct val="0"/>
              </a:spcAft>
              <a:buClrTx/>
              <a:buSzPct val="75000"/>
              <a:buFontTx/>
              <a:buNone/>
              <a:defRPr/>
            </a:pP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第</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7</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章 数</a:t>
            </a:r>
            <a:r>
              <a:rPr kumimoji="1" lang="en-US" altLang="zh-CN"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a:t>
            </a:r>
            <a:r>
              <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楷体_GB2312" pitchFamily="49" charset="-122"/>
                <a:ea typeface="楷体_GB2312" pitchFamily="49" charset="-122"/>
                <a:cs typeface="+mn-cs"/>
              </a:rPr>
              <a:t>模转换器</a:t>
            </a:r>
            <a:endParaRPr kumimoji="1" lang="zh-CN" altLang="en-US" sz="4400" b="1" i="0" u="none" strike="noStrike" kern="1200" cap="none" spc="0" normalizeH="0" baseline="0" noProof="0">
              <a:ln>
                <a:noFill/>
              </a:ln>
              <a:solidFill>
                <a:srgbClr val="FF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pic>
        <p:nvPicPr>
          <p:cNvPr id="4110" name="Picture 34" descr="kugel_blau"/>
          <p:cNvPicPr>
            <a:picLocks noChangeAspect="1"/>
          </p:cNvPicPr>
          <p:nvPr/>
        </p:nvPicPr>
        <p:blipFill>
          <a:blip r:embed="rId2"/>
          <a:stretch>
            <a:fillRect/>
          </a:stretch>
        </p:blipFill>
        <p:spPr>
          <a:xfrm>
            <a:off x="1354138" y="3724275"/>
            <a:ext cx="457200" cy="315913"/>
          </a:xfrm>
          <a:prstGeom prst="rect">
            <a:avLst/>
          </a:prstGeom>
          <a:noFill/>
          <a:ln w="9525">
            <a:noFill/>
          </a:ln>
        </p:spPr>
      </p:pic>
      <p:pic>
        <p:nvPicPr>
          <p:cNvPr id="4111" name="Picture 35" descr="kugel_blau"/>
          <p:cNvPicPr>
            <a:picLocks noChangeAspect="1"/>
          </p:cNvPicPr>
          <p:nvPr/>
        </p:nvPicPr>
        <p:blipFill>
          <a:blip r:embed="rId2"/>
          <a:stretch>
            <a:fillRect/>
          </a:stretch>
        </p:blipFill>
        <p:spPr>
          <a:xfrm>
            <a:off x="1349375" y="4498975"/>
            <a:ext cx="457200" cy="315913"/>
          </a:xfrm>
          <a:prstGeom prst="rect">
            <a:avLst/>
          </a:prstGeom>
          <a:noFill/>
          <a:ln w="9525">
            <a:noFill/>
          </a:ln>
        </p:spPr>
      </p:pic>
      <p:sp>
        <p:nvSpPr>
          <p:cNvPr id="1483813" name="Rectangle 37"/>
          <p:cNvSpPr>
            <a:spLocks noChangeArrowheads="1"/>
          </p:cNvSpPr>
          <p:nvPr/>
        </p:nvSpPr>
        <p:spPr bwMode="auto">
          <a:xfrm>
            <a:off x="1728788" y="3567113"/>
            <a:ext cx="6643688" cy="625475"/>
          </a:xfrm>
          <a:prstGeom prst="rect">
            <a:avLst/>
          </a:prstGeom>
          <a:noFill/>
          <a:ln>
            <a:noFill/>
          </a:ln>
          <a:effectLst/>
        </p:spPr>
        <p:txBody>
          <a:bodyPr lIns="82550" tIns="41275" rIns="82550" bIns="41275"/>
          <a:lstStyle>
            <a:lvl1pPr marL="476250" indent="-476250" defTabSz="678180">
              <a:defRPr kumimoji="1" sz="2400">
                <a:solidFill>
                  <a:schemeClr val="tx1"/>
                </a:solidFill>
                <a:latin typeface="Times New Roman" panose="02020603050405020304" pitchFamily="18" charset="0"/>
                <a:ea typeface="宋体" panose="02010600030101010101" pitchFamily="2" charset="-122"/>
              </a:defRPr>
            </a:lvl1pPr>
            <a:lvl2pPr marL="1047750" indent="-381000" defTabSz="678180">
              <a:defRPr kumimoji="1" sz="2400">
                <a:solidFill>
                  <a:schemeClr val="tx1"/>
                </a:solidFill>
                <a:latin typeface="Times New Roman" panose="02020603050405020304" pitchFamily="18" charset="0"/>
                <a:ea typeface="宋体" panose="02010600030101010101" pitchFamily="2" charset="-122"/>
              </a:defRPr>
            </a:lvl2pPr>
            <a:lvl3pPr marL="1619250" indent="-381000" defTabSz="678180">
              <a:defRPr kumimoji="1" sz="2400">
                <a:solidFill>
                  <a:schemeClr val="tx1"/>
                </a:solidFill>
                <a:latin typeface="Times New Roman" panose="02020603050405020304" pitchFamily="18" charset="0"/>
                <a:ea typeface="宋体" panose="02010600030101010101" pitchFamily="2" charset="-122"/>
              </a:defRPr>
            </a:lvl3pPr>
            <a:lvl4pPr marL="2190750" indent="-381000" defTabSz="678180">
              <a:defRPr kumimoji="1" sz="2400">
                <a:solidFill>
                  <a:schemeClr val="tx1"/>
                </a:solidFill>
                <a:latin typeface="Times New Roman" panose="02020603050405020304" pitchFamily="18" charset="0"/>
                <a:ea typeface="宋体" panose="02010600030101010101" pitchFamily="2" charset="-122"/>
              </a:defRPr>
            </a:lvl4pPr>
            <a:lvl5pPr marL="2762250" indent="-381000" defTabSz="678180">
              <a:defRPr kumimoji="1" sz="2400">
                <a:solidFill>
                  <a:schemeClr val="tx1"/>
                </a:solidFill>
                <a:latin typeface="Times New Roman" panose="02020603050405020304" pitchFamily="18" charset="0"/>
                <a:ea typeface="宋体" panose="02010600030101010101" pitchFamily="2" charset="-122"/>
              </a:defRPr>
            </a:lvl5pPr>
            <a:lvl6pPr marL="32194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6766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1338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5910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476250" marR="0" lvl="0" indent="-476250" algn="l" defTabSz="678180" rtl="0" eaLnBrk="0" fontAlgn="base" latinLnBrk="0" hangingPunct="0">
              <a:lnSpc>
                <a:spcPct val="95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7.4 </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单片集成</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rPr>
              <a:t>转换器</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楷体_GB2312" pitchFamily="49" charset="-122"/>
              <a:ea typeface="楷体_GB2312" pitchFamily="49" charset="-122"/>
              <a:cs typeface="+mn-cs"/>
            </a:endParaRPr>
          </a:p>
        </p:txBody>
      </p:sp>
      <p:sp>
        <p:nvSpPr>
          <p:cNvPr id="1483814" name="Rectangle 38"/>
          <p:cNvSpPr>
            <a:spLocks noChangeArrowheads="1"/>
          </p:cNvSpPr>
          <p:nvPr/>
        </p:nvSpPr>
        <p:spPr bwMode="auto">
          <a:xfrm>
            <a:off x="1741488" y="4229100"/>
            <a:ext cx="6162675" cy="744538"/>
          </a:xfrm>
          <a:prstGeom prst="rect">
            <a:avLst/>
          </a:prstGeom>
          <a:noFill/>
          <a:ln>
            <a:noFill/>
          </a:ln>
          <a:effectLst/>
        </p:spPr>
        <p:txBody>
          <a:bodyPr lIns="82550" tIns="41275" rIns="82550" bIns="41275"/>
          <a:lstStyle>
            <a:lvl1pPr marL="476250" indent="-476250" defTabSz="678180">
              <a:defRPr kumimoji="1" sz="2400">
                <a:solidFill>
                  <a:schemeClr val="tx1"/>
                </a:solidFill>
                <a:latin typeface="Times New Roman" panose="02020603050405020304" pitchFamily="18" charset="0"/>
                <a:ea typeface="宋体" panose="02010600030101010101" pitchFamily="2" charset="-122"/>
              </a:defRPr>
            </a:lvl1pPr>
            <a:lvl2pPr marL="1047750" indent="-381000" defTabSz="678180">
              <a:defRPr kumimoji="1" sz="2400">
                <a:solidFill>
                  <a:schemeClr val="tx1"/>
                </a:solidFill>
                <a:latin typeface="Times New Roman" panose="02020603050405020304" pitchFamily="18" charset="0"/>
                <a:ea typeface="宋体" panose="02010600030101010101" pitchFamily="2" charset="-122"/>
              </a:defRPr>
            </a:lvl2pPr>
            <a:lvl3pPr marL="1619250" indent="-381000" defTabSz="678180">
              <a:defRPr kumimoji="1" sz="2400">
                <a:solidFill>
                  <a:schemeClr val="tx1"/>
                </a:solidFill>
                <a:latin typeface="Times New Roman" panose="02020603050405020304" pitchFamily="18" charset="0"/>
                <a:ea typeface="宋体" panose="02010600030101010101" pitchFamily="2" charset="-122"/>
              </a:defRPr>
            </a:lvl3pPr>
            <a:lvl4pPr marL="2190750" indent="-381000" defTabSz="678180">
              <a:defRPr kumimoji="1" sz="2400">
                <a:solidFill>
                  <a:schemeClr val="tx1"/>
                </a:solidFill>
                <a:latin typeface="Times New Roman" panose="02020603050405020304" pitchFamily="18" charset="0"/>
                <a:ea typeface="宋体" panose="02010600030101010101" pitchFamily="2" charset="-122"/>
              </a:defRPr>
            </a:lvl4pPr>
            <a:lvl5pPr marL="2762250" indent="-381000" defTabSz="678180">
              <a:defRPr kumimoji="1" sz="2400">
                <a:solidFill>
                  <a:schemeClr val="tx1"/>
                </a:solidFill>
                <a:latin typeface="Times New Roman" panose="02020603050405020304" pitchFamily="18" charset="0"/>
                <a:ea typeface="宋体" panose="02010600030101010101" pitchFamily="2" charset="-122"/>
              </a:defRPr>
            </a:lvl5pPr>
            <a:lvl6pPr marL="32194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6766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1338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5910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7.5 </a:t>
            </a:r>
            <a:r>
              <a:rPr kumimoji="1" lang="en-US" altLang="zh-CN"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转换器接口的隔离</a:t>
            </a:r>
            <a:endParaRPr kumimoji="1" lang="zh-CN" altLang="en-US" sz="3600" b="1" i="0" u="none" strike="noStrike" kern="1200" cap="none" spc="0" normalizeH="0" baseline="0" noProof="0">
              <a:ln>
                <a:noFill/>
              </a:ln>
              <a:solidFill>
                <a:srgbClr val="333399"/>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114" name="Freeform 40"/>
          <p:cNvSpPr/>
          <p:nvPr/>
        </p:nvSpPr>
        <p:spPr>
          <a:xfrm>
            <a:off x="1054100" y="3057525"/>
            <a:ext cx="217488" cy="847725"/>
          </a:xfrm>
          <a:custGeom>
            <a:avLst/>
            <a:gdLst/>
            <a:ahLst/>
            <a:cxnLst>
              <a:cxn ang="0">
                <a:pos x="0" y="0"/>
              </a:cxn>
              <a:cxn ang="0">
                <a:pos x="0" y="2147483646"/>
              </a:cxn>
              <a:cxn ang="0">
                <a:pos x="32847937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4115" name="Freeform 41"/>
          <p:cNvSpPr/>
          <p:nvPr/>
        </p:nvSpPr>
        <p:spPr>
          <a:xfrm>
            <a:off x="1054100" y="3863975"/>
            <a:ext cx="217488" cy="808038"/>
          </a:xfrm>
          <a:custGeom>
            <a:avLst/>
            <a:gdLst/>
            <a:ahLst/>
            <a:cxnLst>
              <a:cxn ang="0">
                <a:pos x="0" y="0"/>
              </a:cxn>
              <a:cxn ang="0">
                <a:pos x="0" y="2147483646"/>
              </a:cxn>
              <a:cxn ang="0">
                <a:pos x="32847937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pic>
        <p:nvPicPr>
          <p:cNvPr id="4116" name="Picture 43" descr="kugel_blau"/>
          <p:cNvPicPr>
            <a:picLocks noChangeAspect="1"/>
          </p:cNvPicPr>
          <p:nvPr/>
        </p:nvPicPr>
        <p:blipFill>
          <a:blip r:embed="rId2"/>
          <a:stretch>
            <a:fillRect/>
          </a:stretch>
        </p:blipFill>
        <p:spPr>
          <a:xfrm>
            <a:off x="1355725" y="5286375"/>
            <a:ext cx="457200" cy="315913"/>
          </a:xfrm>
          <a:prstGeom prst="rect">
            <a:avLst/>
          </a:prstGeom>
          <a:noFill/>
          <a:ln w="9525">
            <a:noFill/>
          </a:ln>
        </p:spPr>
      </p:pic>
      <p:sp>
        <p:nvSpPr>
          <p:cNvPr id="1483820" name="Rectangle 44"/>
          <p:cNvSpPr>
            <a:spLocks noChangeArrowheads="1"/>
          </p:cNvSpPr>
          <p:nvPr/>
        </p:nvSpPr>
        <p:spPr bwMode="auto">
          <a:xfrm>
            <a:off x="1747838" y="5016500"/>
            <a:ext cx="6743700" cy="744538"/>
          </a:xfrm>
          <a:prstGeom prst="rect">
            <a:avLst/>
          </a:prstGeom>
          <a:noFill/>
          <a:ln>
            <a:noFill/>
          </a:ln>
          <a:effectLst/>
        </p:spPr>
        <p:txBody>
          <a:bodyPr lIns="82550" tIns="41275" rIns="82550" bIns="41275"/>
          <a:lstStyle>
            <a:lvl1pPr marL="476250" indent="-476250" defTabSz="678180">
              <a:defRPr kumimoji="1" sz="2400">
                <a:solidFill>
                  <a:schemeClr val="tx1"/>
                </a:solidFill>
                <a:latin typeface="Times New Roman" panose="02020603050405020304" pitchFamily="18" charset="0"/>
                <a:ea typeface="宋体" panose="02010600030101010101" pitchFamily="2" charset="-122"/>
              </a:defRPr>
            </a:lvl1pPr>
            <a:lvl2pPr marL="1047750" indent="-381000" defTabSz="678180">
              <a:defRPr kumimoji="1" sz="2400">
                <a:solidFill>
                  <a:schemeClr val="tx1"/>
                </a:solidFill>
                <a:latin typeface="Times New Roman" panose="02020603050405020304" pitchFamily="18" charset="0"/>
                <a:ea typeface="宋体" panose="02010600030101010101" pitchFamily="2" charset="-122"/>
              </a:defRPr>
            </a:lvl2pPr>
            <a:lvl3pPr marL="1619250" indent="-381000" defTabSz="678180">
              <a:defRPr kumimoji="1" sz="2400">
                <a:solidFill>
                  <a:schemeClr val="tx1"/>
                </a:solidFill>
                <a:latin typeface="Times New Roman" panose="02020603050405020304" pitchFamily="18" charset="0"/>
                <a:ea typeface="宋体" panose="02010600030101010101" pitchFamily="2" charset="-122"/>
              </a:defRPr>
            </a:lvl3pPr>
            <a:lvl4pPr marL="2190750" indent="-381000" defTabSz="678180">
              <a:defRPr kumimoji="1" sz="2400">
                <a:solidFill>
                  <a:schemeClr val="tx1"/>
                </a:solidFill>
                <a:latin typeface="Times New Roman" panose="02020603050405020304" pitchFamily="18" charset="0"/>
                <a:ea typeface="宋体" panose="02010600030101010101" pitchFamily="2" charset="-122"/>
              </a:defRPr>
            </a:lvl4pPr>
            <a:lvl5pPr marL="2762250" indent="-381000" defTabSz="678180">
              <a:defRPr kumimoji="1" sz="2400">
                <a:solidFill>
                  <a:schemeClr val="tx1"/>
                </a:solidFill>
                <a:latin typeface="Times New Roman" panose="02020603050405020304" pitchFamily="18" charset="0"/>
                <a:ea typeface="宋体" panose="02010600030101010101" pitchFamily="2" charset="-122"/>
              </a:defRPr>
            </a:lvl5pPr>
            <a:lvl6pPr marL="32194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36766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41338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4591050" indent="-381000" defTabSz="67818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476250" marR="0" lvl="0" indent="-476250" algn="l" defTabSz="678180" rtl="0" eaLnBrk="0" fontAlgn="base" latinLnBrk="0" hangingPunct="0">
              <a:lnSpc>
                <a:spcPct val="130000"/>
              </a:lnSpc>
              <a:spcBef>
                <a:spcPct val="50000"/>
              </a:spcBef>
              <a:spcAft>
                <a:spcPct val="0"/>
              </a:spcAft>
              <a:buClr>
                <a:srgbClr val="000066"/>
              </a:buClr>
              <a:buSzPct val="75000"/>
              <a:buFont typeface="Wingdings" panose="05000000000000000000" pitchFamily="2" charset="2"/>
              <a:buNone/>
              <a:defRPr/>
            </a:pP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7.6</a:t>
            </a:r>
            <a:r>
              <a:rPr kumimoji="1" lang="en-US" altLang="zh-CN" sz="3600" b="1" i="0" u="none" strike="noStrike" kern="1200" cap="none" spc="0" normalizeH="0" baseline="0" noProof="0">
                <a:ln>
                  <a:noFill/>
                </a:ln>
                <a:solidFill>
                  <a:srgbClr val="000099"/>
                </a:solidFill>
                <a:effectLst>
                  <a:outerShdw blurRad="38100" dist="38100" dir="2700000" algn="tl">
                    <a:srgbClr val="C0C0C0"/>
                  </a:outerShdw>
                </a:effectLst>
                <a:uLnTx/>
                <a:uFillTx/>
                <a:latin typeface="Arial Black" panose="020B0A04020102020204" pitchFamily="34" charset="0"/>
                <a:ea typeface="宋体" panose="02010600030101010101" pitchFamily="2" charset="-122"/>
                <a:cs typeface="+mn-cs"/>
              </a:rPr>
              <a:t> </a:t>
            </a:r>
            <a:r>
              <a:rPr kumimoji="1" lang="en-US" altLang="zh-CN"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D/A</a:t>
            </a:r>
            <a:r>
              <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转换器与微机的接口</a:t>
            </a:r>
            <a:endParaRPr kumimoji="1" lang="zh-CN" altLang="en-US" sz="3600" b="1" i="0" u="none" strike="noStrike" kern="1200" cap="none" spc="0" normalizeH="0" baseline="0" noProof="0">
              <a:ln>
                <a:noFill/>
              </a:ln>
              <a:solidFill>
                <a:srgbClr val="3366CC"/>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endParaRPr>
          </a:p>
        </p:txBody>
      </p:sp>
      <p:sp>
        <p:nvSpPr>
          <p:cNvPr id="4118" name="Freeform 45"/>
          <p:cNvSpPr/>
          <p:nvPr/>
        </p:nvSpPr>
        <p:spPr>
          <a:xfrm>
            <a:off x="1054100" y="4640263"/>
            <a:ext cx="217488" cy="808037"/>
          </a:xfrm>
          <a:custGeom>
            <a:avLst/>
            <a:gdLst/>
            <a:ahLst/>
            <a:cxnLst>
              <a:cxn ang="0">
                <a:pos x="0" y="0"/>
              </a:cxn>
              <a:cxn ang="0">
                <a:pos x="0" y="2147483646"/>
              </a:cxn>
              <a:cxn ang="0">
                <a:pos x="328479376" y="2147483646"/>
              </a:cxn>
            </a:cxnLst>
            <a:pathLst>
              <a:path w="144" h="144">
                <a:moveTo>
                  <a:pt x="0" y="0"/>
                </a:moveTo>
                <a:lnTo>
                  <a:pt x="0" y="144"/>
                </a:lnTo>
                <a:lnTo>
                  <a:pt x="144" y="144"/>
                </a:lnTo>
              </a:path>
            </a:pathLst>
          </a:custGeom>
          <a:noFill/>
          <a:ln w="12700" cap="flat" cmpd="sng">
            <a:solidFill>
              <a:schemeClr val="bg2">
                <a:alpha val="100000"/>
              </a:schemeClr>
            </a:solidFill>
            <a:prstDash val="solid"/>
            <a:round/>
            <a:headEnd type="none" w="med" len="med"/>
            <a:tailEnd type="none" w="med" len="med"/>
          </a:ln>
        </p:spPr>
        <p:txBody>
          <a:bodyPr/>
          <a:p>
            <a:endParaRPr lang="zh-CN" altLang="en-US"/>
          </a:p>
        </p:txBody>
      </p:sp>
      <p:sp>
        <p:nvSpPr>
          <p:cNvPr id="4119" name="Rectangle 3"/>
          <p:cNvSpPr/>
          <p:nvPr/>
        </p:nvSpPr>
        <p:spPr>
          <a:xfrm>
            <a:off x="0" y="455613"/>
            <a:ext cx="609600" cy="5486400"/>
          </a:xfrm>
          <a:prstGeom prst="rect">
            <a:avLst/>
          </a:prstGeom>
          <a:solidFill>
            <a:schemeClr val="folHlink"/>
          </a:solidFill>
          <a:ln w="12700">
            <a:noFill/>
          </a:ln>
        </p:spPr>
        <p:txBody>
          <a:bodyPr wrap="none" anchor="ctr" anchorCtr="0"/>
          <a:p>
            <a:pPr eaLnBrk="1" hangingPunct="1">
              <a:lnSpc>
                <a:spcPct val="90000"/>
              </a:lnSpc>
            </a:pPr>
            <a:endParaRPr lang="zh-CN" altLang="en-US" dirty="0">
              <a:latin typeface="Times New Roman" panose="02020603050405020304" pitchFamily="18" charset="0"/>
            </a:endParaRPr>
          </a:p>
        </p:txBody>
      </p:sp>
    </p:spTree>
  </p:cSld>
  <p:clrMapOvr>
    <a:masterClrMapping/>
  </p:clrMapOvr>
  <p:transition spd="med">
    <p:cove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54507" name="Text Box 75"/>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554527" name="Text Box 95"/>
          <p:cNvSpPr txBox="1"/>
          <p:nvPr/>
        </p:nvSpPr>
        <p:spPr>
          <a:xfrm>
            <a:off x="742950" y="847725"/>
            <a:ext cx="7715250" cy="869950"/>
          </a:xfrm>
          <a:prstGeom prst="rect">
            <a:avLst/>
          </a:prstGeom>
          <a:solidFill>
            <a:srgbClr val="FFFF99"/>
          </a:solidFill>
          <a:ln w="9525" cap="flat" cmpd="sng">
            <a:solidFill>
              <a:srgbClr val="FF6600"/>
            </a:solidFill>
            <a:prstDash val="solid"/>
            <a:miter/>
            <a:headEnd type="none" w="med" len="med"/>
            <a:tailEnd type="none" w="med" len="med"/>
          </a:ln>
        </p:spPr>
        <p:txBody>
          <a:bodyPr>
            <a:spAutoFit/>
          </a:bodyPr>
          <a:p>
            <a:pPr marL="2333625" indent="-2333625" eaLnBrk="1" hangingPunct="1">
              <a:lnSpc>
                <a:spcPct val="90000"/>
              </a:lnSpc>
              <a:spcBef>
                <a:spcPct val="50000"/>
              </a:spcBef>
            </a:pPr>
            <a:r>
              <a:rPr lang="zh-CN" altLang="en-US" sz="2800" dirty="0">
                <a:solidFill>
                  <a:srgbClr val="FF0000"/>
                </a:solidFill>
                <a:latin typeface="黑体" panose="02010609060101010101" pitchFamily="49" charset="-122"/>
                <a:ea typeface="黑体" panose="02010609060101010101" pitchFamily="49" charset="-122"/>
              </a:rPr>
              <a:t>数</a:t>
            </a:r>
            <a:r>
              <a:rPr lang="en-US" altLang="zh-CN" sz="2800" dirty="0">
                <a:solidFill>
                  <a:srgbClr val="FF0000"/>
                </a:solidFill>
                <a:latin typeface="黑体" panose="02010609060101010101" pitchFamily="49" charset="-122"/>
                <a:ea typeface="黑体" panose="02010609060101010101" pitchFamily="49" charset="-122"/>
              </a:rPr>
              <a:t>/</a:t>
            </a:r>
            <a:r>
              <a:rPr lang="zh-CN" altLang="en-US" sz="2800" dirty="0">
                <a:solidFill>
                  <a:srgbClr val="FF0000"/>
                </a:solidFill>
                <a:latin typeface="黑体" panose="02010609060101010101" pitchFamily="49" charset="-122"/>
                <a:ea typeface="黑体" panose="02010609060101010101" pitchFamily="49" charset="-122"/>
              </a:rPr>
              <a:t>模转换器</a:t>
            </a:r>
            <a:r>
              <a:rPr lang="zh-CN" altLang="en-US" sz="2800" dirty="0">
                <a:solidFill>
                  <a:schemeClr val="tx1"/>
                </a:solidFill>
                <a:latin typeface="黑体" panose="02010609060101010101" pitchFamily="49" charset="-122"/>
                <a:ea typeface="黑体" panose="02010609060101010101" pitchFamily="49" charset="-122"/>
              </a:rPr>
              <a:t>：一种将数字量转换成模拟量的器件，简称</a:t>
            </a:r>
            <a:r>
              <a:rPr lang="en-US" altLang="zh-CN" sz="2800" dirty="0">
                <a:solidFill>
                  <a:schemeClr val="tx1"/>
                </a:solidFill>
                <a:latin typeface="黑体" panose="02010609060101010101" pitchFamily="49" charset="-122"/>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转换器或</a:t>
            </a:r>
            <a:r>
              <a:rPr lang="en-US" altLang="zh-CN" sz="2800" dirty="0">
                <a:solidFill>
                  <a:schemeClr val="tx1"/>
                </a:solidFill>
                <a:latin typeface="黑体" panose="02010609060101010101" pitchFamily="49" charset="-122"/>
                <a:ea typeface="黑体" panose="02010609060101010101" pitchFamily="49" charset="-122"/>
              </a:rPr>
              <a:t>DAC</a:t>
            </a:r>
            <a:r>
              <a:rPr lang="zh-CN" altLang="en-US" sz="2800" dirty="0">
                <a:solidFill>
                  <a:schemeClr val="tx1"/>
                </a:solidFill>
                <a:latin typeface="黑体" panose="02010609060101010101" pitchFamily="49" charset="-122"/>
                <a:ea typeface="黑体" panose="02010609060101010101" pitchFamily="49" charset="-122"/>
              </a:rPr>
              <a:t>。</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1554528" name="Text Box 96"/>
          <p:cNvSpPr txBox="1"/>
          <p:nvPr/>
        </p:nvSpPr>
        <p:spPr>
          <a:xfrm>
            <a:off x="952500" y="1905000"/>
            <a:ext cx="7343775" cy="1077913"/>
          </a:xfrm>
          <a:prstGeom prst="rect">
            <a:avLst/>
          </a:prstGeom>
          <a:noFill/>
          <a:ln w="9525">
            <a:noFill/>
          </a:ln>
        </p:spPr>
        <p:txBody>
          <a:bodyPr>
            <a:spAutoFit/>
          </a:bodyPr>
          <a:p>
            <a:pPr marL="895350" indent="-895350" eaLnBrk="1" hangingPunct="1">
              <a:lnSpc>
                <a:spcPct val="90000"/>
              </a:lnSpc>
              <a:spcBef>
                <a:spcPct val="50000"/>
              </a:spcBef>
            </a:pPr>
            <a:r>
              <a:rPr lang="zh-CN" altLang="en-US" sz="2400" dirty="0">
                <a:solidFill>
                  <a:srgbClr val="FF0000"/>
                </a:solidFill>
                <a:latin typeface="Times New Roman" panose="02020603050405020304" pitchFamily="18" charset="0"/>
              </a:rPr>
              <a:t>作用：</a:t>
            </a:r>
            <a:r>
              <a:rPr lang="zh-CN" altLang="en-US" sz="2400" dirty="0">
                <a:latin typeface="Times New Roman" panose="02020603050405020304" pitchFamily="18" charset="0"/>
              </a:rPr>
              <a:t>把微处理器输出的数字信号转换为电压或电流等模拟信号，并送入执行机构进行控制和调节，是数字控制系统中的关键器件 。</a:t>
            </a:r>
            <a:endParaRPr lang="zh-CN" altLang="en-US" sz="2400" dirty="0">
              <a:latin typeface="Times New Roman" panose="02020603050405020304" pitchFamily="18" charset="0"/>
            </a:endParaRPr>
          </a:p>
        </p:txBody>
      </p:sp>
      <p:sp>
        <p:nvSpPr>
          <p:cNvPr id="1554533" name="Rectangle 101"/>
          <p:cNvSpPr/>
          <p:nvPr/>
        </p:nvSpPr>
        <p:spPr>
          <a:xfrm>
            <a:off x="323850" y="3136900"/>
            <a:ext cx="3967163"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转换的基本原理</a:t>
            </a:r>
            <a:endParaRPr lang="zh-CN" altLang="en-US" sz="3200" dirty="0">
              <a:latin typeface="Times New Roman" panose="02020603050405020304" pitchFamily="18" charset="0"/>
            </a:endParaRPr>
          </a:p>
        </p:txBody>
      </p:sp>
      <p:sp>
        <p:nvSpPr>
          <p:cNvPr id="1554535" name="Text Box 103"/>
          <p:cNvSpPr txBox="1"/>
          <p:nvPr/>
        </p:nvSpPr>
        <p:spPr>
          <a:xfrm>
            <a:off x="795338" y="3817938"/>
            <a:ext cx="7772400" cy="1296987"/>
          </a:xfrm>
          <a:prstGeom prst="rect">
            <a:avLst/>
          </a:prstGeom>
          <a:noFill/>
          <a:ln w="9525">
            <a:noFill/>
          </a:ln>
        </p:spPr>
        <p:txBody>
          <a:bodyPr>
            <a:spAutoFit/>
          </a:bodyPr>
          <a:p>
            <a:pPr eaLnBrk="1" hangingPunct="1">
              <a:lnSpc>
                <a:spcPct val="110000"/>
              </a:lnSpc>
              <a:spcBef>
                <a:spcPct val="70000"/>
              </a:spcBef>
              <a:buNone/>
            </a:pPr>
            <a:r>
              <a:rPr lang="zh-CN" altLang="en-US" sz="2400" dirty="0">
                <a:solidFill>
                  <a:srgbClr val="000000"/>
                </a:solidFill>
                <a:latin typeface="Times New Roman" panose="02020603050405020304" pitchFamily="18" charset="0"/>
                <a:ea typeface="宋体" panose="02010600030101010101" pitchFamily="2" charset="-122"/>
              </a:rPr>
              <a:t>要将数字量</a:t>
            </a:r>
            <a:r>
              <a:rPr lang="en-US" altLang="zh-CN" sz="2400" i="1" dirty="0">
                <a:solidFill>
                  <a:srgbClr val="FF0000"/>
                </a:solidFill>
                <a:latin typeface="Times New Roman" panose="02020603050405020304" pitchFamily="18" charset="0"/>
                <a:ea typeface="宋体" panose="02010600030101010101" pitchFamily="2" charset="-122"/>
              </a:rPr>
              <a:t>D</a:t>
            </a:r>
            <a:r>
              <a:rPr lang="zh-CN" altLang="en-US" sz="2400" dirty="0">
                <a:solidFill>
                  <a:srgbClr val="000000"/>
                </a:solidFill>
                <a:latin typeface="Times New Roman" panose="02020603050405020304" pitchFamily="18" charset="0"/>
                <a:ea typeface="宋体" panose="02010600030101010101" pitchFamily="2" charset="-122"/>
              </a:rPr>
              <a:t>转换为模拟量</a:t>
            </a:r>
            <a:r>
              <a:rPr lang="en-US" altLang="zh-CN" sz="2400" i="1" dirty="0">
                <a:solidFill>
                  <a:srgbClr val="FF0000"/>
                </a:solidFill>
                <a:latin typeface="Times New Roman" panose="02020603050405020304" pitchFamily="18" charset="0"/>
                <a:ea typeface="宋体" panose="02010600030101010101" pitchFamily="2" charset="-122"/>
              </a:rPr>
              <a:t>A</a:t>
            </a:r>
            <a:r>
              <a:rPr lang="zh-CN" altLang="en-US" sz="2400" dirty="0">
                <a:solidFill>
                  <a:srgbClr val="000000"/>
                </a:solidFill>
                <a:latin typeface="Times New Roman" panose="02020603050405020304" pitchFamily="18" charset="0"/>
                <a:ea typeface="宋体" panose="02010600030101010101" pitchFamily="2" charset="-122"/>
              </a:rPr>
              <a:t>，需要一个模拟参考量</a:t>
            </a:r>
            <a:r>
              <a:rPr lang="en-US" altLang="zh-CN" sz="2400" i="1" dirty="0">
                <a:solidFill>
                  <a:srgbClr val="FF0000"/>
                </a:solidFill>
                <a:latin typeface="Times New Roman" panose="02020603050405020304" pitchFamily="18" charset="0"/>
                <a:ea typeface="宋体" panose="02010600030101010101" pitchFamily="2" charset="-122"/>
              </a:rPr>
              <a:t>R</a:t>
            </a:r>
            <a:r>
              <a:rPr lang="en-US" altLang="zh-CN" sz="2400" i="1" dirty="0">
                <a:solidFill>
                  <a:srgbClr val="000000"/>
                </a:solidFill>
                <a:latin typeface="Times New Roman" panose="02020603050405020304" pitchFamily="18" charset="0"/>
                <a:ea typeface="宋体" panose="02010600030101010101" pitchFamily="2" charset="-122"/>
              </a:rPr>
              <a:t> </a:t>
            </a:r>
            <a:r>
              <a:rPr lang="zh-CN" altLang="en-US" sz="2400" dirty="0">
                <a:solidFill>
                  <a:srgbClr val="000000"/>
                </a:solidFill>
                <a:latin typeface="Times New Roman" panose="02020603050405020304" pitchFamily="18" charset="0"/>
                <a:ea typeface="宋体" panose="02010600030101010101" pitchFamily="2" charset="-122"/>
              </a:rPr>
              <a:t>，使得</a:t>
            </a:r>
            <a:r>
              <a:rPr lang="en-US" altLang="zh-CN" sz="2400" i="1" dirty="0">
                <a:solidFill>
                  <a:srgbClr val="FF0000"/>
                </a:solidFill>
                <a:latin typeface="Times New Roman" panose="02020603050405020304" pitchFamily="18" charset="0"/>
                <a:ea typeface="宋体" panose="02010600030101010101" pitchFamily="2" charset="-122"/>
              </a:rPr>
              <a:t>A = DR</a:t>
            </a:r>
            <a:r>
              <a:rPr lang="zh-CN" altLang="en-US" sz="2400" dirty="0">
                <a:solidFill>
                  <a:srgbClr val="000000"/>
                </a:solidFill>
                <a:latin typeface="Times New Roman" panose="02020603050405020304" pitchFamily="18" charset="0"/>
                <a:ea typeface="宋体" panose="02010600030101010101" pitchFamily="2" charset="-122"/>
              </a:rPr>
              <a:t>。若</a:t>
            </a:r>
            <a:r>
              <a:rPr lang="en-US" altLang="zh-CN" sz="2400" dirty="0">
                <a:solidFill>
                  <a:srgbClr val="FF0000"/>
                </a:solidFill>
                <a:latin typeface="Times New Roman" panose="02020603050405020304" pitchFamily="18" charset="0"/>
                <a:ea typeface="宋体" panose="02010600030101010101" pitchFamily="2" charset="-122"/>
              </a:rPr>
              <a:t>max{</a:t>
            </a:r>
            <a:r>
              <a:rPr lang="en-US" altLang="zh-CN" sz="2400" i="1" dirty="0">
                <a:solidFill>
                  <a:srgbClr val="FF0000"/>
                </a:solidFill>
                <a:latin typeface="Times New Roman" panose="02020603050405020304" pitchFamily="18" charset="0"/>
                <a:ea typeface="宋体" panose="02010600030101010101" pitchFamily="2" charset="-122"/>
              </a:rPr>
              <a:t>A</a:t>
            </a:r>
            <a:r>
              <a:rPr lang="en-US" altLang="zh-CN" sz="2400" dirty="0">
                <a:solidFill>
                  <a:srgbClr val="FF0000"/>
                </a:solidFill>
                <a:latin typeface="Times New Roman" panose="02020603050405020304" pitchFamily="18" charset="0"/>
                <a:ea typeface="宋体" panose="02010600030101010101" pitchFamily="2" charset="-122"/>
              </a:rPr>
              <a:t>}=</a:t>
            </a:r>
            <a:r>
              <a:rPr lang="en-US" altLang="zh-CN" sz="2400" i="1" dirty="0">
                <a:solidFill>
                  <a:srgbClr val="FF0000"/>
                </a:solidFill>
                <a:latin typeface="Times New Roman" panose="02020603050405020304" pitchFamily="18" charset="0"/>
                <a:ea typeface="宋体" panose="02010600030101010101" pitchFamily="2" charset="-122"/>
              </a:rPr>
              <a:t>R</a:t>
            </a:r>
            <a:r>
              <a:rPr lang="zh-CN" altLang="en-US" sz="2400" dirty="0">
                <a:solidFill>
                  <a:srgbClr val="000000"/>
                </a:solidFill>
                <a:latin typeface="Times New Roman" panose="02020603050405020304" pitchFamily="18" charset="0"/>
                <a:ea typeface="宋体" panose="02010600030101010101" pitchFamily="2" charset="-122"/>
              </a:rPr>
              <a:t>，则</a:t>
            </a:r>
            <a:r>
              <a:rPr lang="en-US" altLang="zh-CN" sz="2400" dirty="0">
                <a:solidFill>
                  <a:srgbClr val="FF0000"/>
                </a:solidFill>
                <a:latin typeface="Times New Roman" panose="02020603050405020304" pitchFamily="18" charset="0"/>
                <a:ea typeface="宋体" panose="02010600030101010101" pitchFamily="2" charset="-122"/>
              </a:rPr>
              <a:t>0≤</a:t>
            </a:r>
            <a:r>
              <a:rPr lang="en-US" altLang="zh-CN" sz="2400" i="1" dirty="0">
                <a:solidFill>
                  <a:srgbClr val="FF0000"/>
                </a:solidFill>
                <a:latin typeface="Times New Roman" panose="02020603050405020304" pitchFamily="18" charset="0"/>
                <a:ea typeface="宋体" panose="02010600030101010101" pitchFamily="2" charset="-122"/>
              </a:rPr>
              <a:t>D</a:t>
            </a:r>
            <a:r>
              <a:rPr lang="en-US" altLang="zh-CN" sz="2400" dirty="0">
                <a:solidFill>
                  <a:srgbClr val="FF0000"/>
                </a:solidFill>
                <a:latin typeface="Times New Roman" panose="02020603050405020304" pitchFamily="18" charset="0"/>
                <a:ea typeface="宋体" panose="02010600030101010101" pitchFamily="2" charset="-122"/>
              </a:rPr>
              <a:t>≤1</a:t>
            </a:r>
            <a:r>
              <a:rPr lang="zh-CN" altLang="en-US" sz="2400" dirty="0">
                <a:solidFill>
                  <a:srgbClr val="000000"/>
                </a:solidFill>
                <a:latin typeface="Times New Roman" panose="02020603050405020304" pitchFamily="18" charset="0"/>
                <a:ea typeface="宋体" panose="02010600030101010101" pitchFamily="2" charset="-122"/>
              </a:rPr>
              <a:t>，即数字量</a:t>
            </a:r>
            <a:r>
              <a:rPr lang="en-US" altLang="zh-CN" sz="2400" i="1" dirty="0">
                <a:solidFill>
                  <a:srgbClr val="FF0000"/>
                </a:solidFill>
                <a:latin typeface="Times New Roman" panose="02020603050405020304" pitchFamily="18" charset="0"/>
                <a:ea typeface="宋体" panose="02010600030101010101" pitchFamily="2" charset="-122"/>
              </a:rPr>
              <a:t>D</a:t>
            </a:r>
            <a:r>
              <a:rPr lang="zh-CN" altLang="en-US" sz="2400" dirty="0">
                <a:solidFill>
                  <a:srgbClr val="000000"/>
                </a:solidFill>
                <a:latin typeface="Times New Roman" panose="02020603050405020304" pitchFamily="18" charset="0"/>
                <a:ea typeface="宋体" panose="02010600030101010101" pitchFamily="2" charset="-122"/>
              </a:rPr>
              <a:t>是一个不大于</a:t>
            </a:r>
            <a:r>
              <a:rPr lang="en-US" altLang="zh-CN" sz="2400" dirty="0">
                <a:solidFill>
                  <a:srgbClr val="FF0000"/>
                </a:solidFill>
                <a:latin typeface="Times New Roman" panose="02020603050405020304" pitchFamily="18" charset="0"/>
                <a:ea typeface="宋体" panose="02010600030101010101" pitchFamily="2" charset="-122"/>
              </a:rPr>
              <a:t>1</a:t>
            </a:r>
            <a:r>
              <a:rPr lang="zh-CN" altLang="en-US" sz="2400" dirty="0">
                <a:solidFill>
                  <a:srgbClr val="000000"/>
                </a:solidFill>
                <a:latin typeface="Times New Roman" panose="02020603050405020304" pitchFamily="18" charset="0"/>
                <a:ea typeface="宋体" panose="02010600030101010101" pitchFamily="2" charset="-122"/>
              </a:rPr>
              <a:t>的</a:t>
            </a:r>
            <a:r>
              <a:rPr lang="en-US" altLang="zh-CN" sz="2400" i="1" dirty="0">
                <a:solidFill>
                  <a:srgbClr val="FF0000"/>
                </a:solidFill>
                <a:latin typeface="Times New Roman" panose="02020603050405020304" pitchFamily="18" charset="0"/>
                <a:ea typeface="宋体" panose="02010600030101010101" pitchFamily="2" charset="-122"/>
              </a:rPr>
              <a:t>n</a:t>
            </a:r>
            <a:r>
              <a:rPr lang="zh-CN" altLang="en-US" sz="2400" dirty="0">
                <a:solidFill>
                  <a:srgbClr val="000000"/>
                </a:solidFill>
                <a:latin typeface="Times New Roman" panose="02020603050405020304" pitchFamily="18" charset="0"/>
                <a:ea typeface="宋体" panose="02010600030101010101" pitchFamily="2" charset="-122"/>
              </a:rPr>
              <a:t>进制数。自然，这里的</a:t>
            </a:r>
            <a:r>
              <a:rPr lang="en-US" altLang="zh-CN" sz="2400" i="1" dirty="0">
                <a:solidFill>
                  <a:srgbClr val="FF0000"/>
                </a:solidFill>
                <a:latin typeface="Times New Roman" panose="02020603050405020304" pitchFamily="18" charset="0"/>
                <a:ea typeface="宋体" panose="02010600030101010101" pitchFamily="2" charset="-122"/>
              </a:rPr>
              <a:t>D</a:t>
            </a:r>
            <a:r>
              <a:rPr lang="zh-CN" altLang="en-US" sz="2400" dirty="0">
                <a:solidFill>
                  <a:srgbClr val="000000"/>
                </a:solidFill>
                <a:latin typeface="Times New Roman" panose="02020603050405020304" pitchFamily="18" charset="0"/>
                <a:ea typeface="宋体" panose="02010600030101010101" pitchFamily="2" charset="-122"/>
              </a:rPr>
              <a:t>是二进制数：</a:t>
            </a:r>
            <a:endParaRPr lang="zh-CN" altLang="en-US" sz="2400" dirty="0">
              <a:solidFill>
                <a:srgbClr val="000000"/>
              </a:solidFill>
              <a:latin typeface="Times New Roman" panose="02020603050405020304" pitchFamily="18" charset="0"/>
              <a:ea typeface="宋体" panose="02010600030101010101" pitchFamily="2" charset="-122"/>
            </a:endParaRPr>
          </a:p>
        </p:txBody>
      </p:sp>
      <p:sp>
        <p:nvSpPr>
          <p:cNvPr id="1554536" name="Text Box 104"/>
          <p:cNvSpPr txBox="1"/>
          <p:nvPr/>
        </p:nvSpPr>
        <p:spPr>
          <a:xfrm>
            <a:off x="1258888" y="5265738"/>
            <a:ext cx="6777037" cy="561975"/>
          </a:xfrm>
          <a:prstGeom prst="rect">
            <a:avLst/>
          </a:prstGeom>
          <a:solidFill>
            <a:srgbClr val="CCFFCC"/>
          </a:solidFill>
          <a:ln w="9525">
            <a:noFill/>
          </a:ln>
        </p:spPr>
        <p:txBody>
          <a:bodyPr>
            <a:spAutoFit/>
          </a:bodyPr>
          <a:p>
            <a:pPr algn="ctr" eaLnBrk="1" hangingPunct="1">
              <a:lnSpc>
                <a:spcPct val="110000"/>
              </a:lnSpc>
              <a:spcBef>
                <a:spcPct val="70000"/>
              </a:spcBef>
              <a:buNone/>
            </a:pPr>
            <a:r>
              <a:rPr lang="en-US" altLang="zh-CN" sz="2800" i="1" dirty="0">
                <a:solidFill>
                  <a:srgbClr val="000099"/>
                </a:solidFill>
                <a:latin typeface="Times New Roman" panose="02020603050405020304" pitchFamily="18" charset="0"/>
                <a:ea typeface="宋体" panose="02010600030101010101" pitchFamily="2" charset="-122"/>
              </a:rPr>
              <a:t>D </a:t>
            </a:r>
            <a:r>
              <a:rPr lang="en-US" altLang="zh-CN" sz="2800" dirty="0">
                <a:solidFill>
                  <a:srgbClr val="000099"/>
                </a:solidFill>
                <a:latin typeface="Times New Roman" panose="02020603050405020304" pitchFamily="18" charset="0"/>
                <a:ea typeface="宋体" panose="02010600030101010101" pitchFamily="2" charset="-122"/>
              </a:rPr>
              <a:t>=</a:t>
            </a:r>
            <a:r>
              <a:rPr lang="en-US" altLang="zh-CN" sz="2800" i="1" dirty="0">
                <a:solidFill>
                  <a:srgbClr val="000099"/>
                </a:solidFill>
                <a:latin typeface="Times New Roman" panose="02020603050405020304" pitchFamily="18" charset="0"/>
                <a:ea typeface="宋体" panose="02010600030101010101" pitchFamily="2" charset="-122"/>
              </a:rPr>
              <a:t> a</a:t>
            </a:r>
            <a:r>
              <a:rPr lang="en-US" altLang="zh-CN" sz="2800" baseline="-30000" dirty="0">
                <a:solidFill>
                  <a:srgbClr val="000099"/>
                </a:solidFill>
                <a:latin typeface="Times New Roman" panose="02020603050405020304" pitchFamily="18" charset="0"/>
                <a:ea typeface="宋体" panose="02010600030101010101" pitchFamily="2" charset="-122"/>
              </a:rPr>
              <a:t>1</a:t>
            </a:r>
            <a:r>
              <a:rPr lang="en-US" altLang="zh-CN" sz="2800" dirty="0">
                <a:solidFill>
                  <a:srgbClr val="000099"/>
                </a:solidFill>
                <a:latin typeface="Times New Roman" panose="02020603050405020304" pitchFamily="18" charset="0"/>
                <a:ea typeface="宋体" panose="02010600030101010101" pitchFamily="2" charset="-122"/>
              </a:rPr>
              <a:t>2</a:t>
            </a:r>
            <a:r>
              <a:rPr lang="zh-CN" altLang="en-US" sz="2800" baseline="30000" dirty="0">
                <a:solidFill>
                  <a:srgbClr val="000099"/>
                </a:solidFill>
                <a:latin typeface="Times New Roman" panose="02020603050405020304" pitchFamily="18" charset="0"/>
                <a:ea typeface="宋体" panose="02010600030101010101" pitchFamily="2" charset="-122"/>
              </a:rPr>
              <a:t>－</a:t>
            </a:r>
            <a:r>
              <a:rPr lang="en-US" altLang="zh-CN" sz="2800" baseline="30000" dirty="0">
                <a:solidFill>
                  <a:srgbClr val="000099"/>
                </a:solidFill>
                <a:latin typeface="Times New Roman" panose="02020603050405020304" pitchFamily="18" charset="0"/>
                <a:ea typeface="宋体" panose="02010600030101010101" pitchFamily="2" charset="-122"/>
              </a:rPr>
              <a:t>1 </a:t>
            </a:r>
            <a:r>
              <a:rPr lang="en-US" altLang="zh-CN" sz="2800" dirty="0">
                <a:solidFill>
                  <a:srgbClr val="000099"/>
                </a:solidFill>
                <a:latin typeface="Times New Roman" panose="02020603050405020304" pitchFamily="18" charset="0"/>
                <a:ea typeface="宋体" panose="02010600030101010101" pitchFamily="2" charset="-122"/>
              </a:rPr>
              <a:t>+ </a:t>
            </a:r>
            <a:r>
              <a:rPr lang="en-US" altLang="zh-CN" sz="2800" i="1" dirty="0">
                <a:solidFill>
                  <a:srgbClr val="000099"/>
                </a:solidFill>
                <a:latin typeface="Times New Roman" panose="02020603050405020304" pitchFamily="18" charset="0"/>
                <a:ea typeface="宋体" panose="02010600030101010101" pitchFamily="2" charset="-122"/>
              </a:rPr>
              <a:t>a</a:t>
            </a:r>
            <a:r>
              <a:rPr lang="en-US" altLang="zh-CN" sz="2800" baseline="-30000" dirty="0">
                <a:solidFill>
                  <a:srgbClr val="000099"/>
                </a:solidFill>
                <a:latin typeface="Times New Roman" panose="02020603050405020304" pitchFamily="18" charset="0"/>
                <a:ea typeface="宋体" panose="02010600030101010101" pitchFamily="2" charset="-122"/>
              </a:rPr>
              <a:t>2</a:t>
            </a:r>
            <a:r>
              <a:rPr lang="en-US" altLang="zh-CN" sz="2800" dirty="0">
                <a:solidFill>
                  <a:srgbClr val="000099"/>
                </a:solidFill>
                <a:latin typeface="Times New Roman" panose="02020603050405020304" pitchFamily="18" charset="0"/>
                <a:ea typeface="宋体" panose="02010600030101010101" pitchFamily="2" charset="-122"/>
              </a:rPr>
              <a:t>2</a:t>
            </a:r>
            <a:r>
              <a:rPr lang="zh-CN" altLang="en-US" sz="2800" baseline="30000" dirty="0">
                <a:solidFill>
                  <a:srgbClr val="000099"/>
                </a:solidFill>
                <a:latin typeface="Times New Roman" panose="02020603050405020304" pitchFamily="18" charset="0"/>
                <a:ea typeface="宋体" panose="02010600030101010101" pitchFamily="2" charset="-122"/>
              </a:rPr>
              <a:t>－</a:t>
            </a:r>
            <a:r>
              <a:rPr lang="en-US" altLang="zh-CN" sz="2800" baseline="30000" dirty="0">
                <a:solidFill>
                  <a:srgbClr val="000099"/>
                </a:solidFill>
                <a:latin typeface="Times New Roman" panose="02020603050405020304" pitchFamily="18" charset="0"/>
                <a:ea typeface="宋体" panose="02010600030101010101" pitchFamily="2" charset="-122"/>
              </a:rPr>
              <a:t>2 </a:t>
            </a:r>
            <a:r>
              <a:rPr lang="en-US" altLang="zh-CN" sz="2800" dirty="0">
                <a:solidFill>
                  <a:srgbClr val="000099"/>
                </a:solidFill>
                <a:latin typeface="Times New Roman" panose="02020603050405020304" pitchFamily="18" charset="0"/>
                <a:ea typeface="宋体" panose="02010600030101010101" pitchFamily="2" charset="-122"/>
              </a:rPr>
              <a:t>+ … + </a:t>
            </a:r>
            <a:r>
              <a:rPr lang="en-US" altLang="zh-CN" sz="2800" i="1" dirty="0">
                <a:solidFill>
                  <a:srgbClr val="000099"/>
                </a:solidFill>
                <a:latin typeface="Times New Roman" panose="02020603050405020304" pitchFamily="18" charset="0"/>
                <a:ea typeface="宋体" panose="02010600030101010101" pitchFamily="2" charset="-122"/>
              </a:rPr>
              <a:t>a</a:t>
            </a:r>
            <a:r>
              <a:rPr lang="en-US" altLang="zh-CN" sz="2800" i="1" baseline="-30000" dirty="0">
                <a:solidFill>
                  <a:srgbClr val="000099"/>
                </a:solidFill>
                <a:latin typeface="Times New Roman" panose="02020603050405020304" pitchFamily="18" charset="0"/>
                <a:ea typeface="宋体" panose="02010600030101010101" pitchFamily="2" charset="-122"/>
              </a:rPr>
              <a:t>n</a:t>
            </a:r>
            <a:r>
              <a:rPr lang="en-US" altLang="zh-CN" sz="2800" dirty="0">
                <a:solidFill>
                  <a:srgbClr val="000099"/>
                </a:solidFill>
                <a:latin typeface="Times New Roman" panose="02020603050405020304" pitchFamily="18" charset="0"/>
                <a:ea typeface="宋体" panose="02010600030101010101" pitchFamily="2" charset="-122"/>
              </a:rPr>
              <a:t>2</a:t>
            </a:r>
            <a:r>
              <a:rPr lang="zh-CN" altLang="en-US" sz="2800" baseline="30000" dirty="0">
                <a:solidFill>
                  <a:srgbClr val="000099"/>
                </a:solidFill>
                <a:latin typeface="Times New Roman" panose="02020603050405020304" pitchFamily="18" charset="0"/>
                <a:ea typeface="宋体" panose="02010600030101010101" pitchFamily="2" charset="-122"/>
              </a:rPr>
              <a:t>－</a:t>
            </a:r>
            <a:r>
              <a:rPr lang="en-US" altLang="zh-CN" sz="2800" i="1" baseline="30000" dirty="0">
                <a:solidFill>
                  <a:srgbClr val="000099"/>
                </a:solidFill>
                <a:latin typeface="Times New Roman" panose="02020603050405020304" pitchFamily="18" charset="0"/>
                <a:ea typeface="宋体" panose="02010600030101010101" pitchFamily="2" charset="-122"/>
              </a:rPr>
              <a:t>n</a:t>
            </a:r>
            <a:r>
              <a:rPr lang="en-US" altLang="zh-CN" sz="2800" dirty="0">
                <a:solidFill>
                  <a:srgbClr val="000099"/>
                </a:solidFill>
                <a:latin typeface="Times New Roman" panose="02020603050405020304" pitchFamily="18" charset="0"/>
                <a:ea typeface="宋体" panose="02010600030101010101" pitchFamily="2" charset="-122"/>
              </a:rPr>
              <a:t> ,  </a:t>
            </a:r>
            <a:r>
              <a:rPr lang="en-US" altLang="zh-CN" sz="2800" i="1" dirty="0">
                <a:solidFill>
                  <a:srgbClr val="000099"/>
                </a:solidFill>
                <a:latin typeface="Times New Roman" panose="02020603050405020304" pitchFamily="18" charset="0"/>
                <a:ea typeface="宋体" panose="02010600030101010101" pitchFamily="2" charset="-122"/>
              </a:rPr>
              <a:t>a</a:t>
            </a:r>
            <a:r>
              <a:rPr lang="en-US" altLang="zh-CN" sz="2800" i="1" baseline="-30000" dirty="0">
                <a:solidFill>
                  <a:srgbClr val="000099"/>
                </a:solidFill>
                <a:latin typeface="Times New Roman" panose="02020603050405020304" pitchFamily="18" charset="0"/>
                <a:ea typeface="宋体" panose="02010600030101010101" pitchFamily="2" charset="-122"/>
              </a:rPr>
              <a:t>i</a:t>
            </a:r>
            <a:r>
              <a:rPr lang="en-US" altLang="zh-CN" sz="2800" dirty="0">
                <a:solidFill>
                  <a:srgbClr val="000099"/>
                </a:solidFill>
                <a:latin typeface="Times New Roman" panose="02020603050405020304" pitchFamily="18" charset="0"/>
                <a:ea typeface="宋体" panose="02010600030101010101" pitchFamily="2" charset="-122"/>
              </a:rPr>
              <a:t>∈(0, 1)</a:t>
            </a:r>
            <a:endParaRPr lang="en-US" altLang="zh-CN" sz="2800" dirty="0">
              <a:solidFill>
                <a:srgbClr val="000099"/>
              </a:solidFill>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54527"/>
                                        </p:tgtEl>
                                        <p:attrNameLst>
                                          <p:attrName>style.visibility</p:attrName>
                                        </p:attrNameLst>
                                      </p:cBhvr>
                                      <p:to>
                                        <p:strVal val="visible"/>
                                      </p:to>
                                    </p:set>
                                    <p:animEffect transition="in" filter="dissolve">
                                      <p:cBhvr>
                                        <p:cTn id="7" dur="500"/>
                                        <p:tgtEl>
                                          <p:spTgt spid="15545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54528"/>
                                        </p:tgtEl>
                                        <p:attrNameLst>
                                          <p:attrName>style.visibility</p:attrName>
                                        </p:attrNameLst>
                                      </p:cBhvr>
                                      <p:to>
                                        <p:strVal val="visible"/>
                                      </p:to>
                                    </p:set>
                                    <p:animEffect transition="in" filter="dissolve">
                                      <p:cBhvr>
                                        <p:cTn id="12" dur="500"/>
                                        <p:tgtEl>
                                          <p:spTgt spid="15545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554533"/>
                                        </p:tgtEl>
                                        <p:attrNameLst>
                                          <p:attrName>style.visibility</p:attrName>
                                        </p:attrNameLst>
                                      </p:cBhvr>
                                      <p:to>
                                        <p:strVal val="visible"/>
                                      </p:to>
                                    </p:set>
                                    <p:animEffect transition="in" filter="dissolve">
                                      <p:cBhvr>
                                        <p:cTn id="17" dur="500"/>
                                        <p:tgtEl>
                                          <p:spTgt spid="155453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54535"/>
                                        </p:tgtEl>
                                        <p:attrNameLst>
                                          <p:attrName>style.visibility</p:attrName>
                                        </p:attrNameLst>
                                      </p:cBhvr>
                                      <p:to>
                                        <p:strVal val="visible"/>
                                      </p:to>
                                    </p:set>
                                    <p:animEffect transition="in" filter="dissolve">
                                      <p:cBhvr>
                                        <p:cTn id="22" dur="500"/>
                                        <p:tgtEl>
                                          <p:spTgt spid="155453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554536"/>
                                        </p:tgtEl>
                                        <p:attrNameLst>
                                          <p:attrName>style.visibility</p:attrName>
                                        </p:attrNameLst>
                                      </p:cBhvr>
                                      <p:to>
                                        <p:strVal val="visible"/>
                                      </p:to>
                                    </p:set>
                                    <p:animEffect transition="in" filter="dissolve">
                                      <p:cBhvr>
                                        <p:cTn id="27" dur="500"/>
                                        <p:tgtEl>
                                          <p:spTgt spid="15545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4527" grpId="0" bldLvl="0" animBg="1"/>
      <p:bldP spid="1554528" grpId="0"/>
      <p:bldP spid="1554533" grpId="0" bldLvl="0" animBg="1"/>
      <p:bldP spid="1554535" grpId="0"/>
      <p:bldP spid="1554536" grpId="0" bldLvl="0" animBg="1"/>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50476" name="Rectangle 44"/>
          <p:cNvSpPr/>
          <p:nvPr/>
        </p:nvSpPr>
        <p:spPr>
          <a:xfrm>
            <a:off x="4519613" y="2540000"/>
            <a:ext cx="4191000" cy="348138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50434" name="Text Box 2"/>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172" name="Rectangle 5"/>
          <p:cNvSpPr/>
          <p:nvPr/>
        </p:nvSpPr>
        <p:spPr>
          <a:xfrm>
            <a:off x="323850" y="728663"/>
            <a:ext cx="396716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转换的基本原理</a:t>
            </a:r>
            <a:endParaRPr lang="zh-CN" altLang="en-US" sz="3200" dirty="0">
              <a:latin typeface="Times New Roman" panose="02020603050405020304" pitchFamily="18" charset="0"/>
            </a:endParaRPr>
          </a:p>
        </p:txBody>
      </p:sp>
      <p:graphicFrame>
        <p:nvGraphicFramePr>
          <p:cNvPr id="2450440" name="Object 8"/>
          <p:cNvGraphicFramePr>
            <a:graphicFrameLocks noGrp="1" noChangeAspect="1"/>
          </p:cNvGraphicFramePr>
          <p:nvPr>
            <p:ph idx="4294967295" hasCustomPrompt="1"/>
          </p:nvPr>
        </p:nvGraphicFramePr>
        <p:xfrm>
          <a:off x="1692275" y="1520825"/>
          <a:ext cx="5724525" cy="904875"/>
        </p:xfrm>
        <a:graphic>
          <a:graphicData uri="http://schemas.openxmlformats.org/presentationml/2006/ole">
            <mc:AlternateContent xmlns:mc="http://schemas.openxmlformats.org/markup-compatibility/2006">
              <mc:Choice xmlns:v="urn:schemas-microsoft-com:vml" Requires="v">
                <p:oleObj spid="_x0000_s3082" name="" r:id="rId1" imgW="2005965" imgH="317500" progId="Equation.3">
                  <p:embed/>
                </p:oleObj>
              </mc:Choice>
              <mc:Fallback>
                <p:oleObj name="" r:id="rId1" imgW="2005965" imgH="317500" progId="Equation.3">
                  <p:embed/>
                  <p:pic>
                    <p:nvPicPr>
                      <p:cNvPr id="0" name="图片 3081"/>
                      <p:cNvPicPr/>
                      <p:nvPr/>
                    </p:nvPicPr>
                    <p:blipFill>
                      <a:blip r:embed="rId2"/>
                      <a:stretch>
                        <a:fillRect/>
                      </a:stretch>
                    </p:blipFill>
                    <p:spPr>
                      <a:xfrm>
                        <a:off x="1692275" y="1520825"/>
                        <a:ext cx="5724525" cy="904875"/>
                      </a:xfrm>
                      <a:prstGeom prst="rect">
                        <a:avLst/>
                      </a:prstGeom>
                      <a:solidFill>
                        <a:srgbClr val="CCFFFF"/>
                      </a:solidFill>
                      <a:ln w="38100">
                        <a:noFill/>
                        <a:miter/>
                      </a:ln>
                    </p:spPr>
                  </p:pic>
                </p:oleObj>
              </mc:Fallback>
            </mc:AlternateContent>
          </a:graphicData>
        </a:graphic>
      </p:graphicFrame>
      <p:sp>
        <p:nvSpPr>
          <p:cNvPr id="2450442" name="Text Box 10"/>
          <p:cNvSpPr txBox="1"/>
          <p:nvPr/>
        </p:nvSpPr>
        <p:spPr>
          <a:xfrm>
            <a:off x="431800" y="3132138"/>
            <a:ext cx="3635375" cy="1800225"/>
          </a:xfrm>
          <a:prstGeom prst="rect">
            <a:avLst/>
          </a:prstGeom>
          <a:solidFill>
            <a:srgbClr val="FFCC99"/>
          </a:solidFill>
          <a:ln w="38100">
            <a:noFill/>
          </a:ln>
        </p:spPr>
        <p:txBody>
          <a:bodyPr lIns="90000" tIns="46800" rIns="90000" bIns="46800">
            <a:spAutoFit/>
          </a:bodyPr>
          <a:p>
            <a:pPr eaLnBrk="1" hangingPunct="1">
              <a:spcBef>
                <a:spcPct val="50000"/>
              </a:spcBef>
            </a:pPr>
            <a:r>
              <a:rPr lang="zh-CN" altLang="en-US" sz="2800" dirty="0">
                <a:solidFill>
                  <a:srgbClr val="000000"/>
                </a:solidFill>
                <a:latin typeface="Times New Roman" panose="02020603050405020304" pitchFamily="18" charset="0"/>
                <a:ea typeface="黑体" panose="02010609060101010101" pitchFamily="49" charset="-122"/>
              </a:rPr>
              <a:t>注意，</a:t>
            </a:r>
            <a:r>
              <a:rPr lang="en-US" altLang="zh-CN" sz="2800" i="1" dirty="0">
                <a:solidFill>
                  <a:srgbClr val="FF0000"/>
                </a:solidFill>
                <a:latin typeface="Times New Roman" panose="02020603050405020304" pitchFamily="18" charset="0"/>
                <a:ea typeface="宋体" panose="02010600030101010101" pitchFamily="2" charset="-122"/>
              </a:rPr>
              <a:t>A</a:t>
            </a:r>
            <a:r>
              <a:rPr lang="zh-CN" altLang="en-US" sz="2800" dirty="0">
                <a:solidFill>
                  <a:srgbClr val="000000"/>
                </a:solidFill>
                <a:latin typeface="Times New Roman" panose="02020603050405020304" pitchFamily="18" charset="0"/>
                <a:ea typeface="黑体" panose="02010609060101010101" pitchFamily="49" charset="-122"/>
              </a:rPr>
              <a:t>虽是模拟量，但并不能取任意值，而只能根据输入量</a:t>
            </a:r>
            <a:r>
              <a:rPr lang="en-US" altLang="zh-CN" sz="2800" i="1" dirty="0">
                <a:solidFill>
                  <a:srgbClr val="FF0000"/>
                </a:solidFill>
                <a:latin typeface="Times New Roman" panose="02020603050405020304" pitchFamily="18" charset="0"/>
                <a:ea typeface="宋体" panose="02010600030101010101" pitchFamily="2" charset="-122"/>
              </a:rPr>
              <a:t>D</a:t>
            </a:r>
            <a:r>
              <a:rPr lang="zh-CN" altLang="en-US" sz="2800" dirty="0">
                <a:solidFill>
                  <a:srgbClr val="000000"/>
                </a:solidFill>
                <a:latin typeface="Times New Roman" panose="02020603050405020304" pitchFamily="18" charset="0"/>
                <a:ea typeface="黑体" panose="02010609060101010101" pitchFamily="49" charset="-122"/>
              </a:rPr>
              <a:t>得到某些特定值</a:t>
            </a:r>
            <a:r>
              <a:rPr lang="zh-CN" altLang="en-US" sz="2800" dirty="0">
                <a:solidFill>
                  <a:srgbClr val="000000"/>
                </a:solidFill>
                <a:latin typeface="Times New Roman" panose="02020603050405020304" pitchFamily="18" charset="0"/>
                <a:ea typeface="宋体" panose="02010600030101010101" pitchFamily="2" charset="-122"/>
              </a:rPr>
              <a:t>。</a:t>
            </a:r>
            <a:endParaRPr lang="zh-CN" altLang="en-US" sz="2800" dirty="0">
              <a:solidFill>
                <a:srgbClr val="000000"/>
              </a:solidFill>
              <a:latin typeface="Times New Roman" panose="02020603050405020304" pitchFamily="18" charset="0"/>
              <a:ea typeface="宋体" panose="02010600030101010101" pitchFamily="2" charset="-122"/>
            </a:endParaRPr>
          </a:p>
        </p:txBody>
      </p:sp>
      <p:grpSp>
        <p:nvGrpSpPr>
          <p:cNvPr id="2450443" name="Group 11"/>
          <p:cNvGrpSpPr/>
          <p:nvPr/>
        </p:nvGrpSpPr>
        <p:grpSpPr>
          <a:xfrm>
            <a:off x="4519613" y="2540000"/>
            <a:ext cx="4373562" cy="3136900"/>
            <a:chOff x="240" y="2195"/>
            <a:chExt cx="2755" cy="1976"/>
          </a:xfrm>
        </p:grpSpPr>
        <p:sp>
          <p:nvSpPr>
            <p:cNvPr id="7202" name="Line 12"/>
            <p:cNvSpPr/>
            <p:nvPr/>
          </p:nvSpPr>
          <p:spPr>
            <a:xfrm>
              <a:off x="592" y="3965"/>
              <a:ext cx="2048" cy="0"/>
            </a:xfrm>
            <a:prstGeom prst="line">
              <a:avLst/>
            </a:prstGeom>
            <a:ln w="38100" cap="flat" cmpd="sng">
              <a:solidFill>
                <a:srgbClr val="990000"/>
              </a:solidFill>
              <a:prstDash val="solid"/>
              <a:headEnd type="none" w="med" len="med"/>
              <a:tailEnd type="stealth" w="med" len="lg"/>
            </a:ln>
          </p:spPr>
        </p:sp>
        <p:sp>
          <p:nvSpPr>
            <p:cNvPr id="7203" name="Line 13"/>
            <p:cNvSpPr/>
            <p:nvPr/>
          </p:nvSpPr>
          <p:spPr>
            <a:xfrm flipV="1">
              <a:off x="592" y="2424"/>
              <a:ext cx="0" cy="1541"/>
            </a:xfrm>
            <a:prstGeom prst="line">
              <a:avLst/>
            </a:prstGeom>
            <a:ln w="38100" cap="flat" cmpd="sng">
              <a:solidFill>
                <a:srgbClr val="990000"/>
              </a:solidFill>
              <a:prstDash val="solid"/>
              <a:headEnd type="none" w="med" len="med"/>
              <a:tailEnd type="stealth" w="med" len="lg"/>
            </a:ln>
          </p:spPr>
        </p:sp>
        <p:sp>
          <p:nvSpPr>
            <p:cNvPr id="7204" name="Text Box 14"/>
            <p:cNvSpPr txBox="1"/>
            <p:nvPr/>
          </p:nvSpPr>
          <p:spPr>
            <a:xfrm>
              <a:off x="336" y="2195"/>
              <a:ext cx="528" cy="231"/>
            </a:xfrm>
            <a:prstGeom prst="rect">
              <a:avLst/>
            </a:prstGeom>
            <a:noFill/>
            <a:ln w="38100">
              <a:noFill/>
            </a:ln>
          </p:spPr>
          <p:txBody>
            <a:bodyPr lIns="90000" tIns="46800" rIns="90000" bIns="46800">
              <a:spAutoFit/>
            </a:bodyPr>
            <a:p>
              <a:pPr algn="ctr" eaLnBrk="1" hangingPunct="1">
                <a:spcBef>
                  <a:spcPct val="50000"/>
                </a:spcBef>
              </a:pPr>
              <a:r>
                <a:rPr lang="en-US" altLang="zh-CN" sz="1800" i="1" dirty="0">
                  <a:solidFill>
                    <a:srgbClr val="CC3300"/>
                  </a:solidFill>
                  <a:latin typeface="Times New Roman" panose="02020603050405020304" pitchFamily="18" charset="0"/>
                  <a:ea typeface="宋体" panose="02010600030101010101" pitchFamily="2" charset="-122"/>
                </a:rPr>
                <a:t>A</a:t>
              </a:r>
              <a:endParaRPr lang="en-US" altLang="zh-CN" sz="1800" i="1" dirty="0">
                <a:solidFill>
                  <a:srgbClr val="CC3300"/>
                </a:solidFill>
                <a:latin typeface="Times New Roman" panose="02020603050405020304" pitchFamily="18" charset="0"/>
                <a:ea typeface="宋体" panose="02010600030101010101" pitchFamily="2" charset="-122"/>
              </a:endParaRPr>
            </a:p>
          </p:txBody>
        </p:sp>
        <p:sp>
          <p:nvSpPr>
            <p:cNvPr id="7205" name="Text Box 15"/>
            <p:cNvSpPr txBox="1"/>
            <p:nvPr/>
          </p:nvSpPr>
          <p:spPr>
            <a:xfrm>
              <a:off x="2467" y="3849"/>
              <a:ext cx="528" cy="231"/>
            </a:xfrm>
            <a:prstGeom prst="rect">
              <a:avLst/>
            </a:prstGeom>
            <a:noFill/>
            <a:ln w="38100">
              <a:noFill/>
            </a:ln>
          </p:spPr>
          <p:txBody>
            <a:bodyPr lIns="90000" tIns="46800" rIns="90000" bIns="46800">
              <a:spAutoFit/>
            </a:bodyPr>
            <a:p>
              <a:pPr algn="ctr" eaLnBrk="1" hangingPunct="1">
                <a:spcBef>
                  <a:spcPct val="50000"/>
                </a:spcBef>
              </a:pPr>
              <a:r>
                <a:rPr lang="en-US" altLang="zh-CN" sz="1800" i="1" dirty="0">
                  <a:solidFill>
                    <a:srgbClr val="CC3300"/>
                  </a:solidFill>
                  <a:latin typeface="Times New Roman" panose="02020603050405020304" pitchFamily="18" charset="0"/>
                  <a:ea typeface="宋体" panose="02010600030101010101" pitchFamily="2" charset="-122"/>
                </a:rPr>
                <a:t>D</a:t>
              </a:r>
              <a:endParaRPr lang="en-US" altLang="zh-CN" sz="1800" i="1" dirty="0">
                <a:solidFill>
                  <a:srgbClr val="CC3300"/>
                </a:solidFill>
                <a:latin typeface="Times New Roman" panose="02020603050405020304" pitchFamily="18" charset="0"/>
                <a:ea typeface="宋体" panose="02010600030101010101" pitchFamily="2" charset="-122"/>
              </a:endParaRPr>
            </a:p>
          </p:txBody>
        </p:sp>
        <p:sp>
          <p:nvSpPr>
            <p:cNvPr id="7206" name="Text Box 16"/>
            <p:cNvSpPr txBox="1"/>
            <p:nvPr/>
          </p:nvSpPr>
          <p:spPr>
            <a:xfrm>
              <a:off x="240" y="3940"/>
              <a:ext cx="528" cy="231"/>
            </a:xfrm>
            <a:prstGeom prst="rect">
              <a:avLst/>
            </a:prstGeom>
            <a:noFill/>
            <a:ln w="38100">
              <a:noFill/>
            </a:ln>
          </p:spPr>
          <p:txBody>
            <a:bodyPr lIns="90000" tIns="46800" rIns="90000" bIns="46800">
              <a:spAutoFit/>
            </a:bodyPr>
            <a:p>
              <a:pPr algn="ctr" eaLnBrk="1" hangingPunct="1">
                <a:spcBef>
                  <a:spcPct val="50000"/>
                </a:spcBef>
              </a:pPr>
              <a:r>
                <a:rPr lang="en-US" altLang="zh-CN" sz="1800" i="1" dirty="0">
                  <a:solidFill>
                    <a:srgbClr val="CC3300"/>
                  </a:solidFill>
                  <a:latin typeface="Times New Roman" panose="02020603050405020304" pitchFamily="18" charset="0"/>
                  <a:ea typeface="宋体" panose="02010600030101010101" pitchFamily="2" charset="-122"/>
                </a:rPr>
                <a:t>O</a:t>
              </a:r>
              <a:endParaRPr lang="en-US" altLang="zh-CN" sz="1800" i="1" dirty="0">
                <a:solidFill>
                  <a:srgbClr val="CC3300"/>
                </a:solidFill>
                <a:latin typeface="Times New Roman" panose="02020603050405020304" pitchFamily="18" charset="0"/>
                <a:ea typeface="宋体" panose="02010600030101010101" pitchFamily="2" charset="-122"/>
              </a:endParaRPr>
            </a:p>
          </p:txBody>
        </p:sp>
      </p:grpSp>
      <p:sp>
        <p:nvSpPr>
          <p:cNvPr id="2450449" name="Text Box 17"/>
          <p:cNvSpPr txBox="1"/>
          <p:nvPr/>
        </p:nvSpPr>
        <p:spPr>
          <a:xfrm>
            <a:off x="4900613" y="5324475"/>
            <a:ext cx="838200" cy="304800"/>
          </a:xfrm>
          <a:prstGeom prst="rect">
            <a:avLst/>
          </a:prstGeom>
          <a:noFill/>
          <a:ln w="38100">
            <a:noFill/>
          </a:ln>
        </p:spPr>
        <p:txBody>
          <a:bodyPr lIns="90000" tIns="46800" rIns="90000" bIns="46800">
            <a:spAutoFit/>
          </a:bodyPr>
          <a:p>
            <a:pPr algn="ctr" eaLnBrk="1" hangingPunct="1">
              <a:spcBef>
                <a:spcPct val="50000"/>
              </a:spcBef>
            </a:pPr>
            <a:r>
              <a:rPr lang="en-US" altLang="zh-CN" sz="1400" dirty="0">
                <a:solidFill>
                  <a:srgbClr val="FF0000"/>
                </a:solidFill>
                <a:latin typeface="Times New Roman" panose="02020603050405020304" pitchFamily="18" charset="0"/>
                <a:ea typeface="宋体" panose="02010600030101010101" pitchFamily="2" charset="-122"/>
              </a:rPr>
              <a:t>LSB</a:t>
            </a:r>
            <a:endParaRPr lang="en-US" altLang="zh-CN" sz="1400" dirty="0">
              <a:solidFill>
                <a:srgbClr val="FF0000"/>
              </a:solidFill>
              <a:latin typeface="Times New Roman" panose="02020603050405020304" pitchFamily="18" charset="0"/>
              <a:ea typeface="宋体" panose="02010600030101010101" pitchFamily="2" charset="-122"/>
            </a:endParaRPr>
          </a:p>
        </p:txBody>
      </p:sp>
      <p:sp>
        <p:nvSpPr>
          <p:cNvPr id="2450450" name="Line 18"/>
          <p:cNvSpPr/>
          <p:nvPr/>
        </p:nvSpPr>
        <p:spPr>
          <a:xfrm flipV="1">
            <a:off x="5281613" y="5165725"/>
            <a:ext cx="0" cy="196850"/>
          </a:xfrm>
          <a:prstGeom prst="line">
            <a:avLst/>
          </a:prstGeom>
          <a:ln w="38100" cap="flat" cmpd="sng">
            <a:solidFill>
              <a:schemeClr val="accent2"/>
            </a:solidFill>
            <a:prstDash val="solid"/>
            <a:headEnd type="none" w="med" len="med"/>
            <a:tailEnd type="none" w="med" len="med"/>
          </a:ln>
        </p:spPr>
      </p:sp>
      <p:sp>
        <p:nvSpPr>
          <p:cNvPr id="2450451" name="Line 19"/>
          <p:cNvSpPr/>
          <p:nvPr/>
        </p:nvSpPr>
        <p:spPr>
          <a:xfrm rot="5400000" flipV="1">
            <a:off x="5370513" y="5076825"/>
            <a:ext cx="0" cy="196850"/>
          </a:xfrm>
          <a:prstGeom prst="line">
            <a:avLst/>
          </a:prstGeom>
          <a:ln w="38100" cap="flat" cmpd="sng">
            <a:solidFill>
              <a:schemeClr val="accent2"/>
            </a:solidFill>
            <a:prstDash val="solid"/>
            <a:headEnd type="none" w="med" len="med"/>
            <a:tailEnd type="none" w="med" len="med"/>
          </a:ln>
        </p:spPr>
      </p:sp>
      <p:sp>
        <p:nvSpPr>
          <p:cNvPr id="2450452" name="Line 20"/>
          <p:cNvSpPr/>
          <p:nvPr/>
        </p:nvSpPr>
        <p:spPr>
          <a:xfrm flipV="1">
            <a:off x="5472113" y="4984750"/>
            <a:ext cx="0" cy="196850"/>
          </a:xfrm>
          <a:prstGeom prst="line">
            <a:avLst/>
          </a:prstGeom>
          <a:ln w="38100" cap="flat" cmpd="sng">
            <a:solidFill>
              <a:schemeClr val="accent2"/>
            </a:solidFill>
            <a:prstDash val="solid"/>
            <a:headEnd type="none" w="med" len="med"/>
            <a:tailEnd type="none" w="med" len="med"/>
          </a:ln>
        </p:spPr>
      </p:sp>
      <p:sp>
        <p:nvSpPr>
          <p:cNvPr id="2450453" name="Line 21"/>
          <p:cNvSpPr/>
          <p:nvPr/>
        </p:nvSpPr>
        <p:spPr>
          <a:xfrm rot="5400000" flipV="1">
            <a:off x="5561013" y="4895850"/>
            <a:ext cx="0" cy="196850"/>
          </a:xfrm>
          <a:prstGeom prst="line">
            <a:avLst/>
          </a:prstGeom>
          <a:ln w="38100" cap="flat" cmpd="sng">
            <a:solidFill>
              <a:schemeClr val="accent2"/>
            </a:solidFill>
            <a:prstDash val="solid"/>
            <a:headEnd type="none" w="med" len="med"/>
            <a:tailEnd type="none" w="med" len="med"/>
          </a:ln>
        </p:spPr>
      </p:sp>
      <p:sp>
        <p:nvSpPr>
          <p:cNvPr id="2450454" name="Line 22"/>
          <p:cNvSpPr/>
          <p:nvPr/>
        </p:nvSpPr>
        <p:spPr>
          <a:xfrm flipV="1">
            <a:off x="5643563" y="4794250"/>
            <a:ext cx="0" cy="196850"/>
          </a:xfrm>
          <a:prstGeom prst="line">
            <a:avLst/>
          </a:prstGeom>
          <a:ln w="38100" cap="flat" cmpd="sng">
            <a:solidFill>
              <a:schemeClr val="accent2"/>
            </a:solidFill>
            <a:prstDash val="solid"/>
            <a:headEnd type="none" w="med" len="med"/>
            <a:tailEnd type="none" w="med" len="med"/>
          </a:ln>
        </p:spPr>
      </p:sp>
      <p:sp>
        <p:nvSpPr>
          <p:cNvPr id="2450455" name="Line 23"/>
          <p:cNvSpPr/>
          <p:nvPr/>
        </p:nvSpPr>
        <p:spPr>
          <a:xfrm rot="5400000" flipV="1">
            <a:off x="5732463" y="4705350"/>
            <a:ext cx="0" cy="196850"/>
          </a:xfrm>
          <a:prstGeom prst="line">
            <a:avLst/>
          </a:prstGeom>
          <a:ln w="38100" cap="flat" cmpd="sng">
            <a:solidFill>
              <a:schemeClr val="accent2"/>
            </a:solidFill>
            <a:prstDash val="solid"/>
            <a:headEnd type="none" w="med" len="med"/>
            <a:tailEnd type="none" w="med" len="med"/>
          </a:ln>
        </p:spPr>
      </p:sp>
      <p:sp>
        <p:nvSpPr>
          <p:cNvPr id="2450456" name="Line 24"/>
          <p:cNvSpPr/>
          <p:nvPr/>
        </p:nvSpPr>
        <p:spPr>
          <a:xfrm flipV="1">
            <a:off x="5834063" y="4603750"/>
            <a:ext cx="0" cy="196850"/>
          </a:xfrm>
          <a:prstGeom prst="line">
            <a:avLst/>
          </a:prstGeom>
          <a:ln w="38100" cap="flat" cmpd="sng">
            <a:solidFill>
              <a:schemeClr val="accent2"/>
            </a:solidFill>
            <a:prstDash val="solid"/>
            <a:headEnd type="none" w="med" len="med"/>
            <a:tailEnd type="none" w="med" len="med"/>
          </a:ln>
        </p:spPr>
      </p:sp>
      <p:sp>
        <p:nvSpPr>
          <p:cNvPr id="2450457" name="Line 25"/>
          <p:cNvSpPr/>
          <p:nvPr/>
        </p:nvSpPr>
        <p:spPr>
          <a:xfrm rot="5400000" flipV="1">
            <a:off x="5922963" y="4514850"/>
            <a:ext cx="0" cy="196850"/>
          </a:xfrm>
          <a:prstGeom prst="line">
            <a:avLst/>
          </a:prstGeom>
          <a:ln w="38100" cap="flat" cmpd="sng">
            <a:solidFill>
              <a:schemeClr val="accent2"/>
            </a:solidFill>
            <a:prstDash val="solid"/>
            <a:headEnd type="none" w="med" len="med"/>
            <a:tailEnd type="none" w="med" len="med"/>
          </a:ln>
        </p:spPr>
      </p:sp>
      <p:sp>
        <p:nvSpPr>
          <p:cNvPr id="2450458" name="Line 26"/>
          <p:cNvSpPr/>
          <p:nvPr/>
        </p:nvSpPr>
        <p:spPr>
          <a:xfrm flipV="1">
            <a:off x="6015038" y="4413250"/>
            <a:ext cx="0" cy="196850"/>
          </a:xfrm>
          <a:prstGeom prst="line">
            <a:avLst/>
          </a:prstGeom>
          <a:ln w="38100" cap="flat" cmpd="sng">
            <a:solidFill>
              <a:schemeClr val="accent2"/>
            </a:solidFill>
            <a:prstDash val="solid"/>
            <a:headEnd type="none" w="med" len="med"/>
            <a:tailEnd type="none" w="med" len="med"/>
          </a:ln>
        </p:spPr>
      </p:sp>
      <p:sp>
        <p:nvSpPr>
          <p:cNvPr id="2450459" name="Line 27"/>
          <p:cNvSpPr/>
          <p:nvPr/>
        </p:nvSpPr>
        <p:spPr>
          <a:xfrm rot="5400000" flipV="1">
            <a:off x="6103938" y="4324350"/>
            <a:ext cx="0" cy="196850"/>
          </a:xfrm>
          <a:prstGeom prst="line">
            <a:avLst/>
          </a:prstGeom>
          <a:ln w="38100" cap="flat" cmpd="sng">
            <a:solidFill>
              <a:schemeClr val="accent2"/>
            </a:solidFill>
            <a:prstDash val="solid"/>
            <a:headEnd type="none" w="med" len="med"/>
            <a:tailEnd type="none" w="med" len="med"/>
          </a:ln>
        </p:spPr>
      </p:sp>
      <p:sp>
        <p:nvSpPr>
          <p:cNvPr id="2450460" name="Line 28"/>
          <p:cNvSpPr/>
          <p:nvPr/>
        </p:nvSpPr>
        <p:spPr>
          <a:xfrm flipV="1">
            <a:off x="6196013" y="4222750"/>
            <a:ext cx="0" cy="196850"/>
          </a:xfrm>
          <a:prstGeom prst="line">
            <a:avLst/>
          </a:prstGeom>
          <a:ln w="38100" cap="flat" cmpd="sng">
            <a:solidFill>
              <a:schemeClr val="accent2"/>
            </a:solidFill>
            <a:prstDash val="solid"/>
            <a:headEnd type="none" w="med" len="med"/>
            <a:tailEnd type="none" w="med" len="med"/>
          </a:ln>
        </p:spPr>
      </p:sp>
      <p:sp>
        <p:nvSpPr>
          <p:cNvPr id="2450461" name="Line 29"/>
          <p:cNvSpPr/>
          <p:nvPr/>
        </p:nvSpPr>
        <p:spPr>
          <a:xfrm rot="5400000" flipV="1">
            <a:off x="6284913" y="4133850"/>
            <a:ext cx="0" cy="196850"/>
          </a:xfrm>
          <a:prstGeom prst="line">
            <a:avLst/>
          </a:prstGeom>
          <a:ln w="38100" cap="flat" cmpd="sng">
            <a:solidFill>
              <a:schemeClr val="accent2"/>
            </a:solidFill>
            <a:prstDash val="solid"/>
            <a:headEnd type="none" w="med" len="med"/>
            <a:tailEnd type="none" w="med" len="med"/>
          </a:ln>
        </p:spPr>
      </p:sp>
      <p:sp>
        <p:nvSpPr>
          <p:cNvPr id="2450462" name="Line 30"/>
          <p:cNvSpPr/>
          <p:nvPr/>
        </p:nvSpPr>
        <p:spPr>
          <a:xfrm flipV="1">
            <a:off x="6376988" y="4032250"/>
            <a:ext cx="0" cy="196850"/>
          </a:xfrm>
          <a:prstGeom prst="line">
            <a:avLst/>
          </a:prstGeom>
          <a:ln w="38100" cap="flat" cmpd="sng">
            <a:solidFill>
              <a:schemeClr val="accent2"/>
            </a:solidFill>
            <a:prstDash val="solid"/>
            <a:headEnd type="none" w="med" len="med"/>
            <a:tailEnd type="none" w="med" len="med"/>
          </a:ln>
        </p:spPr>
      </p:sp>
      <p:sp>
        <p:nvSpPr>
          <p:cNvPr id="2450463" name="Line 31"/>
          <p:cNvSpPr/>
          <p:nvPr/>
        </p:nvSpPr>
        <p:spPr>
          <a:xfrm rot="5400000" flipV="1">
            <a:off x="6465888" y="3943350"/>
            <a:ext cx="0" cy="196850"/>
          </a:xfrm>
          <a:prstGeom prst="line">
            <a:avLst/>
          </a:prstGeom>
          <a:ln w="38100" cap="flat" cmpd="sng">
            <a:solidFill>
              <a:schemeClr val="accent2"/>
            </a:solidFill>
            <a:prstDash val="solid"/>
            <a:headEnd type="none" w="med" len="med"/>
            <a:tailEnd type="none" w="med" len="med"/>
          </a:ln>
        </p:spPr>
      </p:sp>
      <p:sp>
        <p:nvSpPr>
          <p:cNvPr id="2450464" name="Line 32"/>
          <p:cNvSpPr/>
          <p:nvPr/>
        </p:nvSpPr>
        <p:spPr>
          <a:xfrm flipV="1">
            <a:off x="6557963" y="3841750"/>
            <a:ext cx="0" cy="196850"/>
          </a:xfrm>
          <a:prstGeom prst="line">
            <a:avLst/>
          </a:prstGeom>
          <a:ln w="38100" cap="flat" cmpd="sng">
            <a:solidFill>
              <a:schemeClr val="accent2"/>
            </a:solidFill>
            <a:prstDash val="solid"/>
            <a:headEnd type="none" w="med" len="med"/>
            <a:tailEnd type="none" w="med" len="med"/>
          </a:ln>
        </p:spPr>
      </p:sp>
      <p:sp>
        <p:nvSpPr>
          <p:cNvPr id="2450465" name="Line 33"/>
          <p:cNvSpPr/>
          <p:nvPr/>
        </p:nvSpPr>
        <p:spPr>
          <a:xfrm rot="5400000" flipV="1">
            <a:off x="6646863" y="3752850"/>
            <a:ext cx="0" cy="196850"/>
          </a:xfrm>
          <a:prstGeom prst="line">
            <a:avLst/>
          </a:prstGeom>
          <a:ln w="38100" cap="flat" cmpd="sng">
            <a:solidFill>
              <a:schemeClr val="accent2"/>
            </a:solidFill>
            <a:prstDash val="solid"/>
            <a:headEnd type="none" w="med" len="med"/>
            <a:tailEnd type="none" w="med" len="med"/>
          </a:ln>
        </p:spPr>
      </p:sp>
      <p:sp>
        <p:nvSpPr>
          <p:cNvPr id="2450466" name="Line 34"/>
          <p:cNvSpPr/>
          <p:nvPr/>
        </p:nvSpPr>
        <p:spPr>
          <a:xfrm flipV="1">
            <a:off x="6738938" y="3651250"/>
            <a:ext cx="0" cy="196850"/>
          </a:xfrm>
          <a:prstGeom prst="line">
            <a:avLst/>
          </a:prstGeom>
          <a:ln w="38100" cap="flat" cmpd="sng">
            <a:solidFill>
              <a:schemeClr val="accent2"/>
            </a:solidFill>
            <a:prstDash val="solid"/>
            <a:headEnd type="none" w="med" len="med"/>
            <a:tailEnd type="none" w="med" len="med"/>
          </a:ln>
        </p:spPr>
      </p:sp>
      <p:sp>
        <p:nvSpPr>
          <p:cNvPr id="2450467" name="Line 35"/>
          <p:cNvSpPr/>
          <p:nvPr/>
        </p:nvSpPr>
        <p:spPr>
          <a:xfrm rot="5400000" flipV="1">
            <a:off x="6827838" y="3562350"/>
            <a:ext cx="0" cy="196850"/>
          </a:xfrm>
          <a:prstGeom prst="line">
            <a:avLst/>
          </a:prstGeom>
          <a:ln w="38100" cap="flat" cmpd="sng">
            <a:solidFill>
              <a:schemeClr val="accent2"/>
            </a:solidFill>
            <a:prstDash val="solid"/>
            <a:headEnd type="none" w="med" len="med"/>
            <a:tailEnd type="none" w="med" len="med"/>
          </a:ln>
        </p:spPr>
      </p:sp>
      <p:sp>
        <p:nvSpPr>
          <p:cNvPr id="2450468" name="Line 36"/>
          <p:cNvSpPr/>
          <p:nvPr/>
        </p:nvSpPr>
        <p:spPr>
          <a:xfrm flipV="1">
            <a:off x="6919913" y="3451225"/>
            <a:ext cx="0" cy="196850"/>
          </a:xfrm>
          <a:prstGeom prst="line">
            <a:avLst/>
          </a:prstGeom>
          <a:ln w="38100" cap="flat" cmpd="sng">
            <a:solidFill>
              <a:schemeClr val="accent2"/>
            </a:solidFill>
            <a:prstDash val="solid"/>
            <a:headEnd type="none" w="med" len="med"/>
            <a:tailEnd type="none" w="med" len="med"/>
          </a:ln>
        </p:spPr>
      </p:sp>
      <p:sp>
        <p:nvSpPr>
          <p:cNvPr id="2450469" name="Line 37"/>
          <p:cNvSpPr/>
          <p:nvPr/>
        </p:nvSpPr>
        <p:spPr>
          <a:xfrm rot="5400000" flipV="1">
            <a:off x="7008813" y="3362325"/>
            <a:ext cx="0" cy="196850"/>
          </a:xfrm>
          <a:prstGeom prst="line">
            <a:avLst/>
          </a:prstGeom>
          <a:ln w="38100" cap="flat" cmpd="sng">
            <a:solidFill>
              <a:schemeClr val="accent2"/>
            </a:solidFill>
            <a:prstDash val="solid"/>
            <a:headEnd type="none" w="med" len="med"/>
            <a:tailEnd type="none" w="med" len="med"/>
          </a:ln>
        </p:spPr>
      </p:sp>
      <p:sp>
        <p:nvSpPr>
          <p:cNvPr id="2450470" name="Line 38"/>
          <p:cNvSpPr/>
          <p:nvPr/>
        </p:nvSpPr>
        <p:spPr>
          <a:xfrm flipH="1">
            <a:off x="5078413" y="3460750"/>
            <a:ext cx="1831975" cy="0"/>
          </a:xfrm>
          <a:prstGeom prst="line">
            <a:avLst/>
          </a:prstGeom>
          <a:ln w="19050" cap="flat" cmpd="sng">
            <a:solidFill>
              <a:schemeClr val="accent1"/>
            </a:solidFill>
            <a:prstDash val="dash"/>
            <a:headEnd type="none" w="med" len="med"/>
            <a:tailEnd type="none" w="med" len="med"/>
          </a:ln>
        </p:spPr>
      </p:sp>
      <p:sp>
        <p:nvSpPr>
          <p:cNvPr id="2450471" name="Line 39"/>
          <p:cNvSpPr/>
          <p:nvPr/>
        </p:nvSpPr>
        <p:spPr>
          <a:xfrm flipH="1">
            <a:off x="6919913" y="3451225"/>
            <a:ext cx="0" cy="1911350"/>
          </a:xfrm>
          <a:prstGeom prst="line">
            <a:avLst/>
          </a:prstGeom>
          <a:ln w="19050" cap="flat" cmpd="sng">
            <a:solidFill>
              <a:schemeClr val="accent1"/>
            </a:solidFill>
            <a:prstDash val="dash"/>
            <a:headEnd type="none" w="med" len="med"/>
            <a:tailEnd type="none" w="med" len="med"/>
          </a:ln>
        </p:spPr>
      </p:sp>
      <p:sp>
        <p:nvSpPr>
          <p:cNvPr id="2450473" name="Line 41"/>
          <p:cNvSpPr/>
          <p:nvPr/>
        </p:nvSpPr>
        <p:spPr>
          <a:xfrm rot="5400000" flipV="1">
            <a:off x="5178425" y="5251450"/>
            <a:ext cx="0" cy="196850"/>
          </a:xfrm>
          <a:prstGeom prst="line">
            <a:avLst/>
          </a:prstGeom>
          <a:ln w="38100" cap="flat" cmpd="sng">
            <a:solidFill>
              <a:schemeClr val="accent2"/>
            </a:solidFill>
            <a:prstDash val="solid"/>
            <a:headEnd type="none" w="med" len="med"/>
            <a:tailEnd type="none" w="med" len="med"/>
          </a:ln>
        </p:spPr>
      </p:sp>
      <p:sp>
        <p:nvSpPr>
          <p:cNvPr id="2450474" name="Rectangle 42"/>
          <p:cNvSpPr/>
          <p:nvPr/>
        </p:nvSpPr>
        <p:spPr>
          <a:xfrm>
            <a:off x="5686425" y="5600700"/>
            <a:ext cx="2089150" cy="420688"/>
          </a:xfrm>
          <a:prstGeom prst="rect">
            <a:avLst/>
          </a:prstGeom>
          <a:noFill/>
          <a:ln w="9525">
            <a:noFill/>
          </a:ln>
        </p:spPr>
        <p:txBody>
          <a:bodyPr>
            <a:spAutoFit/>
          </a:bodyPr>
          <a:p>
            <a:pPr eaLnBrk="1" hangingPunct="1">
              <a:lnSpc>
                <a:spcPct val="90000"/>
              </a:lnSpc>
            </a:pPr>
            <a:r>
              <a:rPr lang="en-US" altLang="zh-CN" sz="2400" dirty="0">
                <a:solidFill>
                  <a:srgbClr val="000099"/>
                </a:solidFill>
                <a:latin typeface="Times New Roman" panose="02020603050405020304" pitchFamily="18" charset="0"/>
              </a:rPr>
              <a:t>D/A</a:t>
            </a:r>
            <a:r>
              <a:rPr lang="zh-CN" altLang="en-US" sz="2400" dirty="0">
                <a:solidFill>
                  <a:srgbClr val="000099"/>
                </a:solidFill>
                <a:latin typeface="Times New Roman" panose="02020603050405020304" pitchFamily="18" charset="0"/>
              </a:rPr>
              <a:t>转换特性</a:t>
            </a:r>
            <a:endParaRPr lang="zh-CN" altLang="en-US" sz="2400" dirty="0">
              <a:solidFill>
                <a:srgbClr val="000099"/>
              </a:solidFill>
              <a:latin typeface="Times New Roman" panose="02020603050405020304" pitchFamily="18" charset="0"/>
            </a:endParaRPr>
          </a:p>
        </p:txBody>
      </p:sp>
      <p:sp>
        <p:nvSpPr>
          <p:cNvPr id="2450475" name="Text Box 43"/>
          <p:cNvSpPr txBox="1"/>
          <p:nvPr/>
        </p:nvSpPr>
        <p:spPr>
          <a:xfrm>
            <a:off x="6478588" y="5311775"/>
            <a:ext cx="838200" cy="304800"/>
          </a:xfrm>
          <a:prstGeom prst="rect">
            <a:avLst/>
          </a:prstGeom>
          <a:noFill/>
          <a:ln w="38100">
            <a:noFill/>
          </a:ln>
        </p:spPr>
        <p:txBody>
          <a:bodyPr lIns="90000" tIns="46800" rIns="90000" bIns="46800">
            <a:spAutoFit/>
          </a:bodyPr>
          <a:p>
            <a:pPr algn="ctr" eaLnBrk="1" hangingPunct="1">
              <a:spcBef>
                <a:spcPct val="50000"/>
              </a:spcBef>
            </a:pPr>
            <a:r>
              <a:rPr lang="en-US" altLang="zh-CN" sz="1400" dirty="0">
                <a:solidFill>
                  <a:srgbClr val="FF0000"/>
                </a:solidFill>
                <a:latin typeface="Times New Roman" panose="02020603050405020304" pitchFamily="18" charset="0"/>
                <a:ea typeface="宋体" panose="02010600030101010101" pitchFamily="2" charset="-122"/>
              </a:rPr>
              <a:t>MSB</a:t>
            </a:r>
            <a:endParaRPr lang="en-US" altLang="zh-CN" sz="1400" dirty="0">
              <a:solidFill>
                <a:srgbClr val="FF0000"/>
              </a:solidFill>
              <a:latin typeface="Times New Roman" panose="02020603050405020304" pitchFamily="18" charset="0"/>
              <a:ea typeface="宋体" panose="02010600030101010101" pitchFamily="2"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50440"/>
                                        </p:tgtEl>
                                        <p:attrNameLst>
                                          <p:attrName>style.visibility</p:attrName>
                                        </p:attrNameLst>
                                      </p:cBhvr>
                                      <p:to>
                                        <p:strVal val="visible"/>
                                      </p:to>
                                    </p:set>
                                    <p:animEffect transition="in" filter="dissolve">
                                      <p:cBhvr>
                                        <p:cTn id="7" dur="500"/>
                                        <p:tgtEl>
                                          <p:spTgt spid="24504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50474"/>
                                        </p:tgtEl>
                                        <p:attrNameLst>
                                          <p:attrName>style.visibility</p:attrName>
                                        </p:attrNameLst>
                                      </p:cBhvr>
                                      <p:to>
                                        <p:strVal val="visible"/>
                                      </p:to>
                                    </p:set>
                                    <p:animEffect transition="in" filter="dissolve">
                                      <p:cBhvr>
                                        <p:cTn id="12" dur="500"/>
                                        <p:tgtEl>
                                          <p:spTgt spid="2450474"/>
                                        </p:tgtEl>
                                      </p:cBhvr>
                                    </p:animEffect>
                                  </p:childTnLst>
                                </p:cTn>
                              </p:par>
                              <p:par>
                                <p:cTn id="13" presetID="9" presetClass="entr" presetSubtype="0" fill="hold" nodeType="withEffect">
                                  <p:stCondLst>
                                    <p:cond delay="0"/>
                                  </p:stCondLst>
                                  <p:childTnLst>
                                    <p:set>
                                      <p:cBhvr>
                                        <p:cTn id="14" dur="1" fill="hold">
                                          <p:stCondLst>
                                            <p:cond delay="0"/>
                                          </p:stCondLst>
                                        </p:cTn>
                                        <p:tgtEl>
                                          <p:spTgt spid="2450476"/>
                                        </p:tgtEl>
                                        <p:attrNameLst>
                                          <p:attrName>style.visibility</p:attrName>
                                        </p:attrNameLst>
                                      </p:cBhvr>
                                      <p:to>
                                        <p:strVal val="visible"/>
                                      </p:to>
                                    </p:set>
                                    <p:animEffect transition="in" filter="dissolve">
                                      <p:cBhvr>
                                        <p:cTn id="15" dur="500"/>
                                        <p:tgtEl>
                                          <p:spTgt spid="2450476"/>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450443"/>
                                        </p:tgtEl>
                                        <p:attrNameLst>
                                          <p:attrName>style.visibility</p:attrName>
                                        </p:attrNameLst>
                                      </p:cBhvr>
                                      <p:to>
                                        <p:strVal val="visible"/>
                                      </p:to>
                                    </p:set>
                                    <p:animEffect transition="in" filter="dissolve">
                                      <p:cBhvr>
                                        <p:cTn id="20" dur="500"/>
                                        <p:tgtEl>
                                          <p:spTgt spid="24504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450449"/>
                                        </p:tgtEl>
                                        <p:attrNameLst>
                                          <p:attrName>style.visibility</p:attrName>
                                        </p:attrNameLst>
                                      </p:cBhvr>
                                      <p:to>
                                        <p:strVal val="visible"/>
                                      </p:to>
                                    </p:set>
                                    <p:animEffect transition="in" filter="dissolve">
                                      <p:cBhvr>
                                        <p:cTn id="25" dur="500"/>
                                        <p:tgtEl>
                                          <p:spTgt spid="2450449"/>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2450473"/>
                                        </p:tgtEl>
                                        <p:attrNameLst>
                                          <p:attrName>style.visibility</p:attrName>
                                        </p:attrNameLst>
                                      </p:cBhvr>
                                      <p:to>
                                        <p:strVal val="visible"/>
                                      </p:to>
                                    </p:set>
                                    <p:animEffect transition="in" filter="wipe(left)">
                                      <p:cBhvr>
                                        <p:cTn id="29" dur="500"/>
                                        <p:tgtEl>
                                          <p:spTgt spid="2450473"/>
                                        </p:tgtEl>
                                      </p:cBhvr>
                                    </p:animEffect>
                                  </p:childTnLst>
                                </p:cTn>
                              </p:par>
                            </p:childTnLst>
                          </p:cTn>
                        </p:par>
                        <p:par>
                          <p:cTn id="30" fill="hold">
                            <p:stCondLst>
                              <p:cond delay="1000"/>
                            </p:stCondLst>
                            <p:childTnLst>
                              <p:par>
                                <p:cTn id="31" presetID="22" presetClass="entr" presetSubtype="4" fill="hold" nodeType="afterEffect">
                                  <p:stCondLst>
                                    <p:cond delay="0"/>
                                  </p:stCondLst>
                                  <p:childTnLst>
                                    <p:set>
                                      <p:cBhvr>
                                        <p:cTn id="32" dur="1" fill="hold">
                                          <p:stCondLst>
                                            <p:cond delay="0"/>
                                          </p:stCondLst>
                                        </p:cTn>
                                        <p:tgtEl>
                                          <p:spTgt spid="2450450"/>
                                        </p:tgtEl>
                                        <p:attrNameLst>
                                          <p:attrName>style.visibility</p:attrName>
                                        </p:attrNameLst>
                                      </p:cBhvr>
                                      <p:to>
                                        <p:strVal val="visible"/>
                                      </p:to>
                                    </p:set>
                                    <p:animEffect transition="in" filter="wipe(down)">
                                      <p:cBhvr>
                                        <p:cTn id="33" dur="500"/>
                                        <p:tgtEl>
                                          <p:spTgt spid="2450450"/>
                                        </p:tgtEl>
                                      </p:cBhvr>
                                    </p:animEffect>
                                  </p:childTnLst>
                                </p:cTn>
                              </p:par>
                            </p:childTnLst>
                          </p:cTn>
                        </p:par>
                        <p:par>
                          <p:cTn id="34" fill="hold">
                            <p:stCondLst>
                              <p:cond delay="1500"/>
                            </p:stCondLst>
                            <p:childTnLst>
                              <p:par>
                                <p:cTn id="35" presetID="22" presetClass="entr" presetSubtype="8" fill="hold" nodeType="afterEffect">
                                  <p:stCondLst>
                                    <p:cond delay="0"/>
                                  </p:stCondLst>
                                  <p:childTnLst>
                                    <p:set>
                                      <p:cBhvr>
                                        <p:cTn id="36" dur="1" fill="hold">
                                          <p:stCondLst>
                                            <p:cond delay="0"/>
                                          </p:stCondLst>
                                        </p:cTn>
                                        <p:tgtEl>
                                          <p:spTgt spid="2450451"/>
                                        </p:tgtEl>
                                        <p:attrNameLst>
                                          <p:attrName>style.visibility</p:attrName>
                                        </p:attrNameLst>
                                      </p:cBhvr>
                                      <p:to>
                                        <p:strVal val="visible"/>
                                      </p:to>
                                    </p:set>
                                    <p:animEffect transition="in" filter="wipe(left)">
                                      <p:cBhvr>
                                        <p:cTn id="37" dur="500"/>
                                        <p:tgtEl>
                                          <p:spTgt spid="2450451"/>
                                        </p:tgtEl>
                                      </p:cBhvr>
                                    </p:animEffect>
                                  </p:childTnLst>
                                </p:cTn>
                              </p:par>
                            </p:childTnLst>
                          </p:cTn>
                        </p:par>
                        <p:par>
                          <p:cTn id="38" fill="hold">
                            <p:stCondLst>
                              <p:cond delay="2000"/>
                            </p:stCondLst>
                            <p:childTnLst>
                              <p:par>
                                <p:cTn id="39" presetID="22" presetClass="entr" presetSubtype="4" fill="hold" nodeType="afterEffect">
                                  <p:stCondLst>
                                    <p:cond delay="0"/>
                                  </p:stCondLst>
                                  <p:childTnLst>
                                    <p:set>
                                      <p:cBhvr>
                                        <p:cTn id="40" dur="1" fill="hold">
                                          <p:stCondLst>
                                            <p:cond delay="0"/>
                                          </p:stCondLst>
                                        </p:cTn>
                                        <p:tgtEl>
                                          <p:spTgt spid="2450452"/>
                                        </p:tgtEl>
                                        <p:attrNameLst>
                                          <p:attrName>style.visibility</p:attrName>
                                        </p:attrNameLst>
                                      </p:cBhvr>
                                      <p:to>
                                        <p:strVal val="visible"/>
                                      </p:to>
                                    </p:set>
                                    <p:animEffect transition="in" filter="wipe(down)">
                                      <p:cBhvr>
                                        <p:cTn id="41" dur="500"/>
                                        <p:tgtEl>
                                          <p:spTgt spid="2450452"/>
                                        </p:tgtEl>
                                      </p:cBhvr>
                                    </p:animEffect>
                                  </p:childTnLst>
                                </p:cTn>
                              </p:par>
                            </p:childTnLst>
                          </p:cTn>
                        </p:par>
                        <p:par>
                          <p:cTn id="42" fill="hold">
                            <p:stCondLst>
                              <p:cond delay="2500"/>
                            </p:stCondLst>
                            <p:childTnLst>
                              <p:par>
                                <p:cTn id="43" presetID="22" presetClass="entr" presetSubtype="8" fill="hold" nodeType="afterEffect">
                                  <p:stCondLst>
                                    <p:cond delay="0"/>
                                  </p:stCondLst>
                                  <p:childTnLst>
                                    <p:set>
                                      <p:cBhvr>
                                        <p:cTn id="44" dur="1" fill="hold">
                                          <p:stCondLst>
                                            <p:cond delay="0"/>
                                          </p:stCondLst>
                                        </p:cTn>
                                        <p:tgtEl>
                                          <p:spTgt spid="2450453"/>
                                        </p:tgtEl>
                                        <p:attrNameLst>
                                          <p:attrName>style.visibility</p:attrName>
                                        </p:attrNameLst>
                                      </p:cBhvr>
                                      <p:to>
                                        <p:strVal val="visible"/>
                                      </p:to>
                                    </p:set>
                                    <p:animEffect transition="in" filter="wipe(left)">
                                      <p:cBhvr>
                                        <p:cTn id="45" dur="500"/>
                                        <p:tgtEl>
                                          <p:spTgt spid="2450453"/>
                                        </p:tgtEl>
                                      </p:cBhvr>
                                    </p:animEffect>
                                  </p:childTnLst>
                                </p:cTn>
                              </p:par>
                            </p:childTnLst>
                          </p:cTn>
                        </p:par>
                        <p:par>
                          <p:cTn id="46" fill="hold">
                            <p:stCondLst>
                              <p:cond delay="3000"/>
                            </p:stCondLst>
                            <p:childTnLst>
                              <p:par>
                                <p:cTn id="47" presetID="22" presetClass="entr" presetSubtype="4" fill="hold" nodeType="afterEffect">
                                  <p:stCondLst>
                                    <p:cond delay="0"/>
                                  </p:stCondLst>
                                  <p:childTnLst>
                                    <p:set>
                                      <p:cBhvr>
                                        <p:cTn id="48" dur="1" fill="hold">
                                          <p:stCondLst>
                                            <p:cond delay="0"/>
                                          </p:stCondLst>
                                        </p:cTn>
                                        <p:tgtEl>
                                          <p:spTgt spid="2450454"/>
                                        </p:tgtEl>
                                        <p:attrNameLst>
                                          <p:attrName>style.visibility</p:attrName>
                                        </p:attrNameLst>
                                      </p:cBhvr>
                                      <p:to>
                                        <p:strVal val="visible"/>
                                      </p:to>
                                    </p:set>
                                    <p:animEffect transition="in" filter="wipe(down)">
                                      <p:cBhvr>
                                        <p:cTn id="49" dur="500"/>
                                        <p:tgtEl>
                                          <p:spTgt spid="2450454"/>
                                        </p:tgtEl>
                                      </p:cBhvr>
                                    </p:animEffect>
                                  </p:childTnLst>
                                </p:cTn>
                              </p:par>
                            </p:childTnLst>
                          </p:cTn>
                        </p:par>
                        <p:par>
                          <p:cTn id="50" fill="hold">
                            <p:stCondLst>
                              <p:cond delay="3500"/>
                            </p:stCondLst>
                            <p:childTnLst>
                              <p:par>
                                <p:cTn id="51" presetID="22" presetClass="entr" presetSubtype="8" fill="hold" nodeType="afterEffect">
                                  <p:stCondLst>
                                    <p:cond delay="0"/>
                                  </p:stCondLst>
                                  <p:childTnLst>
                                    <p:set>
                                      <p:cBhvr>
                                        <p:cTn id="52" dur="1" fill="hold">
                                          <p:stCondLst>
                                            <p:cond delay="0"/>
                                          </p:stCondLst>
                                        </p:cTn>
                                        <p:tgtEl>
                                          <p:spTgt spid="2450455"/>
                                        </p:tgtEl>
                                        <p:attrNameLst>
                                          <p:attrName>style.visibility</p:attrName>
                                        </p:attrNameLst>
                                      </p:cBhvr>
                                      <p:to>
                                        <p:strVal val="visible"/>
                                      </p:to>
                                    </p:set>
                                    <p:animEffect transition="in" filter="wipe(left)">
                                      <p:cBhvr>
                                        <p:cTn id="53" dur="500"/>
                                        <p:tgtEl>
                                          <p:spTgt spid="2450455"/>
                                        </p:tgtEl>
                                      </p:cBhvr>
                                    </p:animEffect>
                                  </p:childTnLst>
                                </p:cTn>
                              </p:par>
                            </p:childTnLst>
                          </p:cTn>
                        </p:par>
                        <p:par>
                          <p:cTn id="54" fill="hold">
                            <p:stCondLst>
                              <p:cond delay="4000"/>
                            </p:stCondLst>
                            <p:childTnLst>
                              <p:par>
                                <p:cTn id="55" presetID="22" presetClass="entr" presetSubtype="4" fill="hold" nodeType="afterEffect">
                                  <p:stCondLst>
                                    <p:cond delay="0"/>
                                  </p:stCondLst>
                                  <p:childTnLst>
                                    <p:set>
                                      <p:cBhvr>
                                        <p:cTn id="56" dur="1" fill="hold">
                                          <p:stCondLst>
                                            <p:cond delay="0"/>
                                          </p:stCondLst>
                                        </p:cTn>
                                        <p:tgtEl>
                                          <p:spTgt spid="2450456"/>
                                        </p:tgtEl>
                                        <p:attrNameLst>
                                          <p:attrName>style.visibility</p:attrName>
                                        </p:attrNameLst>
                                      </p:cBhvr>
                                      <p:to>
                                        <p:strVal val="visible"/>
                                      </p:to>
                                    </p:set>
                                    <p:animEffect transition="in" filter="wipe(down)">
                                      <p:cBhvr>
                                        <p:cTn id="57" dur="500"/>
                                        <p:tgtEl>
                                          <p:spTgt spid="2450456"/>
                                        </p:tgtEl>
                                      </p:cBhvr>
                                    </p:animEffect>
                                  </p:childTnLst>
                                </p:cTn>
                              </p:par>
                            </p:childTnLst>
                          </p:cTn>
                        </p:par>
                        <p:par>
                          <p:cTn id="58" fill="hold">
                            <p:stCondLst>
                              <p:cond delay="4500"/>
                            </p:stCondLst>
                            <p:childTnLst>
                              <p:par>
                                <p:cTn id="59" presetID="22" presetClass="entr" presetSubtype="8" fill="hold" nodeType="afterEffect">
                                  <p:stCondLst>
                                    <p:cond delay="0"/>
                                  </p:stCondLst>
                                  <p:childTnLst>
                                    <p:set>
                                      <p:cBhvr>
                                        <p:cTn id="60" dur="1" fill="hold">
                                          <p:stCondLst>
                                            <p:cond delay="0"/>
                                          </p:stCondLst>
                                        </p:cTn>
                                        <p:tgtEl>
                                          <p:spTgt spid="2450457"/>
                                        </p:tgtEl>
                                        <p:attrNameLst>
                                          <p:attrName>style.visibility</p:attrName>
                                        </p:attrNameLst>
                                      </p:cBhvr>
                                      <p:to>
                                        <p:strVal val="visible"/>
                                      </p:to>
                                    </p:set>
                                    <p:animEffect transition="in" filter="wipe(left)">
                                      <p:cBhvr>
                                        <p:cTn id="61" dur="500"/>
                                        <p:tgtEl>
                                          <p:spTgt spid="2450457"/>
                                        </p:tgtEl>
                                      </p:cBhvr>
                                    </p:animEffect>
                                  </p:childTnLst>
                                </p:cTn>
                              </p:par>
                            </p:childTnLst>
                          </p:cTn>
                        </p:par>
                        <p:par>
                          <p:cTn id="62" fill="hold">
                            <p:stCondLst>
                              <p:cond delay="5000"/>
                            </p:stCondLst>
                            <p:childTnLst>
                              <p:par>
                                <p:cTn id="63" presetID="22" presetClass="entr" presetSubtype="4" fill="hold" nodeType="afterEffect">
                                  <p:stCondLst>
                                    <p:cond delay="0"/>
                                  </p:stCondLst>
                                  <p:childTnLst>
                                    <p:set>
                                      <p:cBhvr>
                                        <p:cTn id="64" dur="1" fill="hold">
                                          <p:stCondLst>
                                            <p:cond delay="0"/>
                                          </p:stCondLst>
                                        </p:cTn>
                                        <p:tgtEl>
                                          <p:spTgt spid="2450458"/>
                                        </p:tgtEl>
                                        <p:attrNameLst>
                                          <p:attrName>style.visibility</p:attrName>
                                        </p:attrNameLst>
                                      </p:cBhvr>
                                      <p:to>
                                        <p:strVal val="visible"/>
                                      </p:to>
                                    </p:set>
                                    <p:animEffect transition="in" filter="wipe(down)">
                                      <p:cBhvr>
                                        <p:cTn id="65" dur="500"/>
                                        <p:tgtEl>
                                          <p:spTgt spid="2450458"/>
                                        </p:tgtEl>
                                      </p:cBhvr>
                                    </p:animEffect>
                                  </p:childTnLst>
                                </p:cTn>
                              </p:par>
                            </p:childTnLst>
                          </p:cTn>
                        </p:par>
                        <p:par>
                          <p:cTn id="66" fill="hold">
                            <p:stCondLst>
                              <p:cond delay="5500"/>
                            </p:stCondLst>
                            <p:childTnLst>
                              <p:par>
                                <p:cTn id="67" presetID="22" presetClass="entr" presetSubtype="8" fill="hold" nodeType="afterEffect">
                                  <p:stCondLst>
                                    <p:cond delay="0"/>
                                  </p:stCondLst>
                                  <p:childTnLst>
                                    <p:set>
                                      <p:cBhvr>
                                        <p:cTn id="68" dur="1" fill="hold">
                                          <p:stCondLst>
                                            <p:cond delay="0"/>
                                          </p:stCondLst>
                                        </p:cTn>
                                        <p:tgtEl>
                                          <p:spTgt spid="2450459"/>
                                        </p:tgtEl>
                                        <p:attrNameLst>
                                          <p:attrName>style.visibility</p:attrName>
                                        </p:attrNameLst>
                                      </p:cBhvr>
                                      <p:to>
                                        <p:strVal val="visible"/>
                                      </p:to>
                                    </p:set>
                                    <p:animEffect transition="in" filter="wipe(left)">
                                      <p:cBhvr>
                                        <p:cTn id="69" dur="500"/>
                                        <p:tgtEl>
                                          <p:spTgt spid="2450459"/>
                                        </p:tgtEl>
                                      </p:cBhvr>
                                    </p:animEffect>
                                  </p:childTnLst>
                                </p:cTn>
                              </p:par>
                            </p:childTnLst>
                          </p:cTn>
                        </p:par>
                        <p:par>
                          <p:cTn id="70" fill="hold">
                            <p:stCondLst>
                              <p:cond delay="6000"/>
                            </p:stCondLst>
                            <p:childTnLst>
                              <p:par>
                                <p:cTn id="71" presetID="22" presetClass="entr" presetSubtype="4" fill="hold" nodeType="afterEffect">
                                  <p:stCondLst>
                                    <p:cond delay="0"/>
                                  </p:stCondLst>
                                  <p:childTnLst>
                                    <p:set>
                                      <p:cBhvr>
                                        <p:cTn id="72" dur="1" fill="hold">
                                          <p:stCondLst>
                                            <p:cond delay="0"/>
                                          </p:stCondLst>
                                        </p:cTn>
                                        <p:tgtEl>
                                          <p:spTgt spid="2450460"/>
                                        </p:tgtEl>
                                        <p:attrNameLst>
                                          <p:attrName>style.visibility</p:attrName>
                                        </p:attrNameLst>
                                      </p:cBhvr>
                                      <p:to>
                                        <p:strVal val="visible"/>
                                      </p:to>
                                    </p:set>
                                    <p:animEffect transition="in" filter="wipe(down)">
                                      <p:cBhvr>
                                        <p:cTn id="73" dur="500"/>
                                        <p:tgtEl>
                                          <p:spTgt spid="2450460"/>
                                        </p:tgtEl>
                                      </p:cBhvr>
                                    </p:animEffect>
                                  </p:childTnLst>
                                </p:cTn>
                              </p:par>
                            </p:childTnLst>
                          </p:cTn>
                        </p:par>
                        <p:par>
                          <p:cTn id="74" fill="hold">
                            <p:stCondLst>
                              <p:cond delay="6500"/>
                            </p:stCondLst>
                            <p:childTnLst>
                              <p:par>
                                <p:cTn id="75" presetID="22" presetClass="entr" presetSubtype="8" fill="hold" nodeType="afterEffect">
                                  <p:stCondLst>
                                    <p:cond delay="0"/>
                                  </p:stCondLst>
                                  <p:childTnLst>
                                    <p:set>
                                      <p:cBhvr>
                                        <p:cTn id="76" dur="1" fill="hold">
                                          <p:stCondLst>
                                            <p:cond delay="0"/>
                                          </p:stCondLst>
                                        </p:cTn>
                                        <p:tgtEl>
                                          <p:spTgt spid="2450461"/>
                                        </p:tgtEl>
                                        <p:attrNameLst>
                                          <p:attrName>style.visibility</p:attrName>
                                        </p:attrNameLst>
                                      </p:cBhvr>
                                      <p:to>
                                        <p:strVal val="visible"/>
                                      </p:to>
                                    </p:set>
                                    <p:animEffect transition="in" filter="wipe(left)">
                                      <p:cBhvr>
                                        <p:cTn id="77" dur="500"/>
                                        <p:tgtEl>
                                          <p:spTgt spid="2450461"/>
                                        </p:tgtEl>
                                      </p:cBhvr>
                                    </p:animEffect>
                                  </p:childTnLst>
                                </p:cTn>
                              </p:par>
                            </p:childTnLst>
                          </p:cTn>
                        </p:par>
                        <p:par>
                          <p:cTn id="78" fill="hold">
                            <p:stCondLst>
                              <p:cond delay="7000"/>
                            </p:stCondLst>
                            <p:childTnLst>
                              <p:par>
                                <p:cTn id="79" presetID="22" presetClass="entr" presetSubtype="4" fill="hold" nodeType="afterEffect">
                                  <p:stCondLst>
                                    <p:cond delay="0"/>
                                  </p:stCondLst>
                                  <p:childTnLst>
                                    <p:set>
                                      <p:cBhvr>
                                        <p:cTn id="80" dur="1" fill="hold">
                                          <p:stCondLst>
                                            <p:cond delay="0"/>
                                          </p:stCondLst>
                                        </p:cTn>
                                        <p:tgtEl>
                                          <p:spTgt spid="2450462"/>
                                        </p:tgtEl>
                                        <p:attrNameLst>
                                          <p:attrName>style.visibility</p:attrName>
                                        </p:attrNameLst>
                                      </p:cBhvr>
                                      <p:to>
                                        <p:strVal val="visible"/>
                                      </p:to>
                                    </p:set>
                                    <p:animEffect transition="in" filter="wipe(down)">
                                      <p:cBhvr>
                                        <p:cTn id="81" dur="500"/>
                                        <p:tgtEl>
                                          <p:spTgt spid="2450462"/>
                                        </p:tgtEl>
                                      </p:cBhvr>
                                    </p:animEffect>
                                  </p:childTnLst>
                                </p:cTn>
                              </p:par>
                            </p:childTnLst>
                          </p:cTn>
                        </p:par>
                        <p:par>
                          <p:cTn id="82" fill="hold">
                            <p:stCondLst>
                              <p:cond delay="7500"/>
                            </p:stCondLst>
                            <p:childTnLst>
                              <p:par>
                                <p:cTn id="83" presetID="22" presetClass="entr" presetSubtype="8" fill="hold" nodeType="afterEffect">
                                  <p:stCondLst>
                                    <p:cond delay="0"/>
                                  </p:stCondLst>
                                  <p:childTnLst>
                                    <p:set>
                                      <p:cBhvr>
                                        <p:cTn id="84" dur="1" fill="hold">
                                          <p:stCondLst>
                                            <p:cond delay="0"/>
                                          </p:stCondLst>
                                        </p:cTn>
                                        <p:tgtEl>
                                          <p:spTgt spid="2450463"/>
                                        </p:tgtEl>
                                        <p:attrNameLst>
                                          <p:attrName>style.visibility</p:attrName>
                                        </p:attrNameLst>
                                      </p:cBhvr>
                                      <p:to>
                                        <p:strVal val="visible"/>
                                      </p:to>
                                    </p:set>
                                    <p:animEffect transition="in" filter="wipe(left)">
                                      <p:cBhvr>
                                        <p:cTn id="85" dur="500"/>
                                        <p:tgtEl>
                                          <p:spTgt spid="2450463"/>
                                        </p:tgtEl>
                                      </p:cBhvr>
                                    </p:animEffect>
                                  </p:childTnLst>
                                </p:cTn>
                              </p:par>
                            </p:childTnLst>
                          </p:cTn>
                        </p:par>
                        <p:par>
                          <p:cTn id="86" fill="hold">
                            <p:stCondLst>
                              <p:cond delay="8000"/>
                            </p:stCondLst>
                            <p:childTnLst>
                              <p:par>
                                <p:cTn id="87" presetID="22" presetClass="entr" presetSubtype="4" fill="hold" nodeType="afterEffect">
                                  <p:stCondLst>
                                    <p:cond delay="0"/>
                                  </p:stCondLst>
                                  <p:childTnLst>
                                    <p:set>
                                      <p:cBhvr>
                                        <p:cTn id="88" dur="1" fill="hold">
                                          <p:stCondLst>
                                            <p:cond delay="0"/>
                                          </p:stCondLst>
                                        </p:cTn>
                                        <p:tgtEl>
                                          <p:spTgt spid="2450464"/>
                                        </p:tgtEl>
                                        <p:attrNameLst>
                                          <p:attrName>style.visibility</p:attrName>
                                        </p:attrNameLst>
                                      </p:cBhvr>
                                      <p:to>
                                        <p:strVal val="visible"/>
                                      </p:to>
                                    </p:set>
                                    <p:animEffect transition="in" filter="wipe(down)">
                                      <p:cBhvr>
                                        <p:cTn id="89" dur="500"/>
                                        <p:tgtEl>
                                          <p:spTgt spid="2450464"/>
                                        </p:tgtEl>
                                      </p:cBhvr>
                                    </p:animEffect>
                                  </p:childTnLst>
                                </p:cTn>
                              </p:par>
                            </p:childTnLst>
                          </p:cTn>
                        </p:par>
                        <p:par>
                          <p:cTn id="90" fill="hold">
                            <p:stCondLst>
                              <p:cond delay="8500"/>
                            </p:stCondLst>
                            <p:childTnLst>
                              <p:par>
                                <p:cTn id="91" presetID="22" presetClass="entr" presetSubtype="8" fill="hold" nodeType="afterEffect">
                                  <p:stCondLst>
                                    <p:cond delay="0"/>
                                  </p:stCondLst>
                                  <p:childTnLst>
                                    <p:set>
                                      <p:cBhvr>
                                        <p:cTn id="92" dur="1" fill="hold">
                                          <p:stCondLst>
                                            <p:cond delay="0"/>
                                          </p:stCondLst>
                                        </p:cTn>
                                        <p:tgtEl>
                                          <p:spTgt spid="2450465"/>
                                        </p:tgtEl>
                                        <p:attrNameLst>
                                          <p:attrName>style.visibility</p:attrName>
                                        </p:attrNameLst>
                                      </p:cBhvr>
                                      <p:to>
                                        <p:strVal val="visible"/>
                                      </p:to>
                                    </p:set>
                                    <p:animEffect transition="in" filter="wipe(left)">
                                      <p:cBhvr>
                                        <p:cTn id="93" dur="500"/>
                                        <p:tgtEl>
                                          <p:spTgt spid="2450465"/>
                                        </p:tgtEl>
                                      </p:cBhvr>
                                    </p:animEffect>
                                  </p:childTnLst>
                                </p:cTn>
                              </p:par>
                            </p:childTnLst>
                          </p:cTn>
                        </p:par>
                        <p:par>
                          <p:cTn id="94" fill="hold">
                            <p:stCondLst>
                              <p:cond delay="9000"/>
                            </p:stCondLst>
                            <p:childTnLst>
                              <p:par>
                                <p:cTn id="95" presetID="22" presetClass="entr" presetSubtype="4" fill="hold" nodeType="afterEffect">
                                  <p:stCondLst>
                                    <p:cond delay="0"/>
                                  </p:stCondLst>
                                  <p:childTnLst>
                                    <p:set>
                                      <p:cBhvr>
                                        <p:cTn id="96" dur="1" fill="hold">
                                          <p:stCondLst>
                                            <p:cond delay="0"/>
                                          </p:stCondLst>
                                        </p:cTn>
                                        <p:tgtEl>
                                          <p:spTgt spid="2450466"/>
                                        </p:tgtEl>
                                        <p:attrNameLst>
                                          <p:attrName>style.visibility</p:attrName>
                                        </p:attrNameLst>
                                      </p:cBhvr>
                                      <p:to>
                                        <p:strVal val="visible"/>
                                      </p:to>
                                    </p:set>
                                    <p:animEffect transition="in" filter="wipe(down)">
                                      <p:cBhvr>
                                        <p:cTn id="97" dur="500"/>
                                        <p:tgtEl>
                                          <p:spTgt spid="2450466"/>
                                        </p:tgtEl>
                                      </p:cBhvr>
                                    </p:animEffect>
                                  </p:childTnLst>
                                </p:cTn>
                              </p:par>
                            </p:childTnLst>
                          </p:cTn>
                        </p:par>
                        <p:par>
                          <p:cTn id="98" fill="hold">
                            <p:stCondLst>
                              <p:cond delay="9500"/>
                            </p:stCondLst>
                            <p:childTnLst>
                              <p:par>
                                <p:cTn id="99" presetID="22" presetClass="entr" presetSubtype="8" fill="hold" nodeType="afterEffect">
                                  <p:stCondLst>
                                    <p:cond delay="0"/>
                                  </p:stCondLst>
                                  <p:childTnLst>
                                    <p:set>
                                      <p:cBhvr>
                                        <p:cTn id="100" dur="1" fill="hold">
                                          <p:stCondLst>
                                            <p:cond delay="0"/>
                                          </p:stCondLst>
                                        </p:cTn>
                                        <p:tgtEl>
                                          <p:spTgt spid="2450467"/>
                                        </p:tgtEl>
                                        <p:attrNameLst>
                                          <p:attrName>style.visibility</p:attrName>
                                        </p:attrNameLst>
                                      </p:cBhvr>
                                      <p:to>
                                        <p:strVal val="visible"/>
                                      </p:to>
                                    </p:set>
                                    <p:animEffect transition="in" filter="wipe(left)">
                                      <p:cBhvr>
                                        <p:cTn id="101" dur="500"/>
                                        <p:tgtEl>
                                          <p:spTgt spid="2450467"/>
                                        </p:tgtEl>
                                      </p:cBhvr>
                                    </p:animEffect>
                                  </p:childTnLst>
                                </p:cTn>
                              </p:par>
                            </p:childTnLst>
                          </p:cTn>
                        </p:par>
                        <p:par>
                          <p:cTn id="102" fill="hold">
                            <p:stCondLst>
                              <p:cond delay="10000"/>
                            </p:stCondLst>
                            <p:childTnLst>
                              <p:par>
                                <p:cTn id="103" presetID="22" presetClass="entr" presetSubtype="4" fill="hold" nodeType="afterEffect">
                                  <p:stCondLst>
                                    <p:cond delay="0"/>
                                  </p:stCondLst>
                                  <p:childTnLst>
                                    <p:set>
                                      <p:cBhvr>
                                        <p:cTn id="104" dur="1" fill="hold">
                                          <p:stCondLst>
                                            <p:cond delay="0"/>
                                          </p:stCondLst>
                                        </p:cTn>
                                        <p:tgtEl>
                                          <p:spTgt spid="2450468"/>
                                        </p:tgtEl>
                                        <p:attrNameLst>
                                          <p:attrName>style.visibility</p:attrName>
                                        </p:attrNameLst>
                                      </p:cBhvr>
                                      <p:to>
                                        <p:strVal val="visible"/>
                                      </p:to>
                                    </p:set>
                                    <p:animEffect transition="in" filter="wipe(down)">
                                      <p:cBhvr>
                                        <p:cTn id="105" dur="500"/>
                                        <p:tgtEl>
                                          <p:spTgt spid="2450468"/>
                                        </p:tgtEl>
                                      </p:cBhvr>
                                    </p:animEffect>
                                  </p:childTnLst>
                                </p:cTn>
                              </p:par>
                            </p:childTnLst>
                          </p:cTn>
                        </p:par>
                        <p:par>
                          <p:cTn id="106" fill="hold">
                            <p:stCondLst>
                              <p:cond delay="10500"/>
                            </p:stCondLst>
                            <p:childTnLst>
                              <p:par>
                                <p:cTn id="107" presetID="22" presetClass="entr" presetSubtype="8" fill="hold" nodeType="afterEffect">
                                  <p:stCondLst>
                                    <p:cond delay="0"/>
                                  </p:stCondLst>
                                  <p:childTnLst>
                                    <p:set>
                                      <p:cBhvr>
                                        <p:cTn id="108" dur="1" fill="hold">
                                          <p:stCondLst>
                                            <p:cond delay="0"/>
                                          </p:stCondLst>
                                        </p:cTn>
                                        <p:tgtEl>
                                          <p:spTgt spid="2450469"/>
                                        </p:tgtEl>
                                        <p:attrNameLst>
                                          <p:attrName>style.visibility</p:attrName>
                                        </p:attrNameLst>
                                      </p:cBhvr>
                                      <p:to>
                                        <p:strVal val="visible"/>
                                      </p:to>
                                    </p:set>
                                    <p:animEffect transition="in" filter="wipe(left)">
                                      <p:cBhvr>
                                        <p:cTn id="109" dur="500"/>
                                        <p:tgtEl>
                                          <p:spTgt spid="2450469"/>
                                        </p:tgtEl>
                                      </p:cBhvr>
                                    </p:animEffect>
                                  </p:childTnLst>
                                </p:cTn>
                              </p:par>
                            </p:childTnLst>
                          </p:cTn>
                        </p:par>
                      </p:childTnLst>
                    </p:cTn>
                  </p:par>
                  <p:par>
                    <p:cTn id="110" fill="hold">
                      <p:stCondLst>
                        <p:cond delay="indefinite"/>
                      </p:stCondLst>
                      <p:childTnLst>
                        <p:par>
                          <p:cTn id="111" fill="hold">
                            <p:stCondLst>
                              <p:cond delay="0"/>
                            </p:stCondLst>
                            <p:childTnLst>
                              <p:par>
                                <p:cTn id="112" presetID="9" presetClass="entr" presetSubtype="0" fill="hold" grpId="0" nodeType="clickEffect">
                                  <p:stCondLst>
                                    <p:cond delay="0"/>
                                  </p:stCondLst>
                                  <p:childTnLst>
                                    <p:set>
                                      <p:cBhvr>
                                        <p:cTn id="113" dur="1" fill="hold">
                                          <p:stCondLst>
                                            <p:cond delay="0"/>
                                          </p:stCondLst>
                                        </p:cTn>
                                        <p:tgtEl>
                                          <p:spTgt spid="2450475"/>
                                        </p:tgtEl>
                                        <p:attrNameLst>
                                          <p:attrName>style.visibility</p:attrName>
                                        </p:attrNameLst>
                                      </p:cBhvr>
                                      <p:to>
                                        <p:strVal val="visible"/>
                                      </p:to>
                                    </p:set>
                                    <p:animEffect transition="in" filter="dissolve">
                                      <p:cBhvr>
                                        <p:cTn id="114" dur="500"/>
                                        <p:tgtEl>
                                          <p:spTgt spid="2450475"/>
                                        </p:tgtEl>
                                      </p:cBhvr>
                                    </p:animEffect>
                                  </p:childTnLst>
                                </p:cTn>
                              </p:par>
                            </p:childTnLst>
                          </p:cTn>
                        </p:par>
                        <p:par>
                          <p:cTn id="115" fill="hold">
                            <p:stCondLst>
                              <p:cond delay="500"/>
                            </p:stCondLst>
                            <p:childTnLst>
                              <p:par>
                                <p:cTn id="116" presetID="22" presetClass="entr" presetSubtype="4" fill="hold" nodeType="afterEffect">
                                  <p:stCondLst>
                                    <p:cond delay="0"/>
                                  </p:stCondLst>
                                  <p:childTnLst>
                                    <p:set>
                                      <p:cBhvr>
                                        <p:cTn id="117" dur="1" fill="hold">
                                          <p:stCondLst>
                                            <p:cond delay="0"/>
                                          </p:stCondLst>
                                        </p:cTn>
                                        <p:tgtEl>
                                          <p:spTgt spid="2450471"/>
                                        </p:tgtEl>
                                        <p:attrNameLst>
                                          <p:attrName>style.visibility</p:attrName>
                                        </p:attrNameLst>
                                      </p:cBhvr>
                                      <p:to>
                                        <p:strVal val="visible"/>
                                      </p:to>
                                    </p:set>
                                    <p:animEffect transition="in" filter="wipe(down)">
                                      <p:cBhvr>
                                        <p:cTn id="118" dur="500"/>
                                        <p:tgtEl>
                                          <p:spTgt spid="2450471"/>
                                        </p:tgtEl>
                                      </p:cBhvr>
                                    </p:animEffect>
                                  </p:childTnLst>
                                </p:cTn>
                              </p:par>
                            </p:childTnLst>
                          </p:cTn>
                        </p:par>
                        <p:par>
                          <p:cTn id="119" fill="hold">
                            <p:stCondLst>
                              <p:cond delay="1000"/>
                            </p:stCondLst>
                            <p:childTnLst>
                              <p:par>
                                <p:cTn id="120" presetID="22" presetClass="entr" presetSubtype="2" fill="hold" nodeType="afterEffect">
                                  <p:stCondLst>
                                    <p:cond delay="0"/>
                                  </p:stCondLst>
                                  <p:childTnLst>
                                    <p:set>
                                      <p:cBhvr>
                                        <p:cTn id="121" dur="1" fill="hold">
                                          <p:stCondLst>
                                            <p:cond delay="0"/>
                                          </p:stCondLst>
                                        </p:cTn>
                                        <p:tgtEl>
                                          <p:spTgt spid="2450470"/>
                                        </p:tgtEl>
                                        <p:attrNameLst>
                                          <p:attrName>style.visibility</p:attrName>
                                        </p:attrNameLst>
                                      </p:cBhvr>
                                      <p:to>
                                        <p:strVal val="visible"/>
                                      </p:to>
                                    </p:set>
                                    <p:animEffect transition="in" filter="wipe(right)">
                                      <p:cBhvr>
                                        <p:cTn id="122" dur="500"/>
                                        <p:tgtEl>
                                          <p:spTgt spid="2450470"/>
                                        </p:tgtEl>
                                      </p:cBhvr>
                                    </p:animEffect>
                                  </p:childTnLst>
                                </p:cTn>
                              </p:par>
                            </p:childTnLst>
                          </p:cTn>
                        </p:par>
                      </p:childTnLst>
                    </p:cTn>
                  </p:par>
                  <p:par>
                    <p:cTn id="123" fill="hold">
                      <p:stCondLst>
                        <p:cond delay="indefinite"/>
                      </p:stCondLst>
                      <p:childTnLst>
                        <p:par>
                          <p:cTn id="124" fill="hold">
                            <p:stCondLst>
                              <p:cond delay="0"/>
                            </p:stCondLst>
                            <p:childTnLst>
                              <p:par>
                                <p:cTn id="125" presetID="9" presetClass="entr" presetSubtype="0" fill="hold" grpId="0" nodeType="clickEffect">
                                  <p:stCondLst>
                                    <p:cond delay="0"/>
                                  </p:stCondLst>
                                  <p:childTnLst>
                                    <p:set>
                                      <p:cBhvr>
                                        <p:cTn id="126" dur="1" fill="hold">
                                          <p:stCondLst>
                                            <p:cond delay="0"/>
                                          </p:stCondLst>
                                        </p:cTn>
                                        <p:tgtEl>
                                          <p:spTgt spid="2450442"/>
                                        </p:tgtEl>
                                        <p:attrNameLst>
                                          <p:attrName>style.visibility</p:attrName>
                                        </p:attrNameLst>
                                      </p:cBhvr>
                                      <p:to>
                                        <p:strVal val="visible"/>
                                      </p:to>
                                    </p:set>
                                    <p:animEffect transition="in" filter="dissolve">
                                      <p:cBhvr>
                                        <p:cTn id="127" dur="500"/>
                                        <p:tgtEl>
                                          <p:spTgt spid="2450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0442" grpId="0" bldLvl="0" animBg="1"/>
      <p:bldP spid="2450449" grpId="0"/>
      <p:bldP spid="2450474" grpId="0"/>
      <p:bldP spid="2450475" grpId="0"/>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48386" name="Text Box 2"/>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48389" name="Text Box 5"/>
          <p:cNvSpPr txBox="1"/>
          <p:nvPr/>
        </p:nvSpPr>
        <p:spPr>
          <a:xfrm>
            <a:off x="585788" y="977900"/>
            <a:ext cx="3949700"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转换器的分类：</a:t>
            </a:r>
            <a:endParaRPr lang="zh-CN" altLang="en-US" sz="3200" dirty="0">
              <a:latin typeface="Times New Roman" panose="02020603050405020304" pitchFamily="18" charset="0"/>
            </a:endParaRPr>
          </a:p>
        </p:txBody>
      </p:sp>
      <p:sp>
        <p:nvSpPr>
          <p:cNvPr id="2448390" name="Text Box 6"/>
          <p:cNvSpPr txBox="1"/>
          <p:nvPr/>
        </p:nvSpPr>
        <p:spPr>
          <a:xfrm>
            <a:off x="1362075" y="2157413"/>
            <a:ext cx="7077075" cy="2227262"/>
          </a:xfrm>
          <a:prstGeom prst="rect">
            <a:avLst/>
          </a:prstGeom>
          <a:noFill/>
          <a:ln w="9525">
            <a:noFill/>
          </a:ln>
        </p:spPr>
        <p:txBody>
          <a:bodyPr>
            <a:spAutoFit/>
          </a:bodyPr>
          <a:p>
            <a:pPr marL="2781300" indent="-2781300" eaLnBrk="1" hangingPunct="1">
              <a:lnSpc>
                <a:spcPct val="90000"/>
              </a:lnSpc>
              <a:spcBef>
                <a:spcPct val="50000"/>
              </a:spcBef>
            </a:pPr>
            <a:r>
              <a:rPr lang="zh-CN" altLang="en-US" sz="2800" dirty="0">
                <a:solidFill>
                  <a:srgbClr val="FF0000"/>
                </a:solidFill>
                <a:latin typeface="Times New Roman" panose="02020603050405020304" pitchFamily="18" charset="0"/>
              </a:rPr>
              <a:t>并行</a:t>
            </a:r>
            <a:r>
              <a:rPr lang="en-US" altLang="zh-CN" sz="2800" dirty="0">
                <a:solidFill>
                  <a:srgbClr val="FF0000"/>
                </a:solidFill>
                <a:latin typeface="Times New Roman" panose="02020603050405020304" pitchFamily="18" charset="0"/>
              </a:rPr>
              <a:t>D/A</a:t>
            </a:r>
            <a:r>
              <a:rPr lang="zh-CN" altLang="en-US" sz="2800" dirty="0">
                <a:solidFill>
                  <a:srgbClr val="FF0000"/>
                </a:solidFill>
                <a:latin typeface="Times New Roman" panose="02020603050405020304" pitchFamily="18" charset="0"/>
              </a:rPr>
              <a:t>转换器：</a:t>
            </a:r>
            <a:r>
              <a:rPr lang="zh-CN" altLang="en-US" sz="2800" dirty="0">
                <a:solidFill>
                  <a:schemeClr val="tx1"/>
                </a:solidFill>
                <a:latin typeface="Times New Roman" panose="02020603050405020304" pitchFamily="18" charset="0"/>
              </a:rPr>
              <a:t>转换器的位数与输入数码的位数相同，对应数码的每一位都有输入端。</a:t>
            </a:r>
            <a:endParaRPr lang="zh-CN" altLang="en-US" sz="2800" dirty="0">
              <a:solidFill>
                <a:schemeClr val="tx1"/>
              </a:solidFill>
              <a:latin typeface="Times New Roman" panose="02020603050405020304" pitchFamily="18" charset="0"/>
            </a:endParaRPr>
          </a:p>
          <a:p>
            <a:pPr marL="2781300" indent="-2781300" eaLnBrk="1" hangingPunct="1">
              <a:lnSpc>
                <a:spcPct val="90000"/>
              </a:lnSpc>
              <a:spcBef>
                <a:spcPct val="50000"/>
              </a:spcBef>
            </a:pPr>
            <a:r>
              <a:rPr lang="zh-CN" altLang="en-US" sz="2800" dirty="0">
                <a:solidFill>
                  <a:srgbClr val="FF0000"/>
                </a:solidFill>
                <a:latin typeface="Times New Roman" panose="02020603050405020304" pitchFamily="18" charset="0"/>
              </a:rPr>
              <a:t>串行</a:t>
            </a:r>
            <a:r>
              <a:rPr lang="en-US" altLang="zh-CN" sz="2800" dirty="0">
                <a:solidFill>
                  <a:srgbClr val="FF0000"/>
                </a:solidFill>
                <a:latin typeface="Times New Roman" panose="02020603050405020304" pitchFamily="18" charset="0"/>
              </a:rPr>
              <a:t>D/A</a:t>
            </a:r>
            <a:r>
              <a:rPr lang="zh-CN" altLang="en-US" sz="2800" dirty="0">
                <a:solidFill>
                  <a:srgbClr val="FF0000"/>
                </a:solidFill>
                <a:latin typeface="Times New Roman" panose="02020603050405020304" pitchFamily="18" charset="0"/>
              </a:rPr>
              <a:t>转换器：</a:t>
            </a:r>
            <a:r>
              <a:rPr lang="zh-CN" altLang="en-US" sz="2800" dirty="0">
                <a:solidFill>
                  <a:schemeClr val="tx1"/>
                </a:solidFill>
                <a:latin typeface="Times New Roman" panose="02020603050405020304" pitchFamily="18" charset="0"/>
              </a:rPr>
              <a:t>只有一个输入端，数码一位一位依次串行输入。</a:t>
            </a:r>
            <a:endParaRPr lang="zh-CN" altLang="en-US" sz="2800" dirty="0">
              <a:solidFill>
                <a:schemeClr val="tx1"/>
              </a:solidFill>
              <a:latin typeface="Times New Roman" panose="02020603050405020304" pitchFamily="18" charset="0"/>
            </a:endParaRPr>
          </a:p>
        </p:txBody>
      </p:sp>
      <p:sp>
        <p:nvSpPr>
          <p:cNvPr id="2448391" name="Text Box 7"/>
          <p:cNvSpPr txBox="1"/>
          <p:nvPr/>
        </p:nvSpPr>
        <p:spPr>
          <a:xfrm>
            <a:off x="904875" y="2147888"/>
            <a:ext cx="56197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
        <p:nvSpPr>
          <p:cNvPr id="2448392" name="Text Box 8"/>
          <p:cNvSpPr txBox="1"/>
          <p:nvPr/>
        </p:nvSpPr>
        <p:spPr>
          <a:xfrm>
            <a:off x="912813" y="3517900"/>
            <a:ext cx="561975" cy="476250"/>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800" dirty="0">
                <a:latin typeface="Times New Roman" panose="02020603050405020304" pitchFamily="18" charset="0"/>
              </a:rPr>
              <a:t> </a:t>
            </a:r>
            <a:endParaRPr lang="en-US" altLang="zh-CN"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48389"/>
                                        </p:tgtEl>
                                        <p:attrNameLst>
                                          <p:attrName>style.visibility</p:attrName>
                                        </p:attrNameLst>
                                      </p:cBhvr>
                                      <p:to>
                                        <p:strVal val="visible"/>
                                      </p:to>
                                    </p:set>
                                    <p:animEffect transition="in" filter="dissolve">
                                      <p:cBhvr>
                                        <p:cTn id="7" dur="500"/>
                                        <p:tgtEl>
                                          <p:spTgt spid="244838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48390">
                                            <p:txEl>
                                              <p:charRg st="0" end="41"/>
                                            </p:txEl>
                                          </p:spTgt>
                                        </p:tgtEl>
                                        <p:attrNameLst>
                                          <p:attrName>style.visibility</p:attrName>
                                        </p:attrNameLst>
                                      </p:cBhvr>
                                      <p:to>
                                        <p:strVal val="visible"/>
                                      </p:to>
                                    </p:set>
                                    <p:animEffect transition="in" filter="dissolve">
                                      <p:cBhvr>
                                        <p:cTn id="12" dur="500"/>
                                        <p:tgtEl>
                                          <p:spTgt spid="2448390">
                                            <p:txEl>
                                              <p:charRg st="0" end="4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48391"/>
                                        </p:tgtEl>
                                        <p:attrNameLst>
                                          <p:attrName>style.visibility</p:attrName>
                                        </p:attrNameLst>
                                      </p:cBhvr>
                                      <p:to>
                                        <p:strVal val="visible"/>
                                      </p:to>
                                    </p:set>
                                    <p:animEffect transition="in" filter="dissolve">
                                      <p:cBhvr>
                                        <p:cTn id="15" dur="500"/>
                                        <p:tgtEl>
                                          <p:spTgt spid="244839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448392">
                                            <p:txEl>
                                              <p:charRg st="0" end="2"/>
                                            </p:txEl>
                                          </p:spTgt>
                                        </p:tgtEl>
                                        <p:attrNameLst>
                                          <p:attrName>style.visibility</p:attrName>
                                        </p:attrNameLst>
                                      </p:cBhvr>
                                      <p:to>
                                        <p:strVal val="visible"/>
                                      </p:to>
                                    </p:set>
                                    <p:animEffect transition="in" filter="dissolve">
                                      <p:cBhvr>
                                        <p:cTn id="20" dur="500"/>
                                        <p:tgtEl>
                                          <p:spTgt spid="2448392">
                                            <p:txEl>
                                              <p:charRg st="0" end="2"/>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2448390">
                                            <p:txEl>
                                              <p:charRg st="41" end="72"/>
                                            </p:txEl>
                                          </p:spTgt>
                                        </p:tgtEl>
                                        <p:attrNameLst>
                                          <p:attrName>style.visibility</p:attrName>
                                        </p:attrNameLst>
                                      </p:cBhvr>
                                      <p:to>
                                        <p:strVal val="visible"/>
                                      </p:to>
                                    </p:set>
                                    <p:animEffect transition="in" filter="dissolve">
                                      <p:cBhvr>
                                        <p:cTn id="23" dur="500"/>
                                        <p:tgtEl>
                                          <p:spTgt spid="2448390">
                                            <p:txEl>
                                              <p:charRg st="41" end="7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8389" grpId="0" bldLvl="0" animBg="1"/>
      <p:bldP spid="2448391" grpId="0"/>
    </p:bld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40194" name="Text Box 2"/>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40201" name="Rectangle 9"/>
          <p:cNvSpPr/>
          <p:nvPr/>
        </p:nvSpPr>
        <p:spPr>
          <a:xfrm>
            <a:off x="454025" y="830263"/>
            <a:ext cx="3133725" cy="579437"/>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并行</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grpSp>
        <p:nvGrpSpPr>
          <p:cNvPr id="2440256" name="Group 64"/>
          <p:cNvGrpSpPr/>
          <p:nvPr/>
        </p:nvGrpSpPr>
        <p:grpSpPr>
          <a:xfrm>
            <a:off x="4530725" y="1376363"/>
            <a:ext cx="4613275" cy="4691062"/>
            <a:chOff x="2744" y="933"/>
            <a:chExt cx="2906" cy="2955"/>
          </a:xfrm>
        </p:grpSpPr>
        <p:sp>
          <p:nvSpPr>
            <p:cNvPr id="11276" name="Rectangle 60"/>
            <p:cNvSpPr/>
            <p:nvPr/>
          </p:nvSpPr>
          <p:spPr>
            <a:xfrm>
              <a:off x="2744" y="933"/>
              <a:ext cx="2858" cy="2951"/>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77" name="Line 39"/>
            <p:cNvSpPr/>
            <p:nvPr/>
          </p:nvSpPr>
          <p:spPr>
            <a:xfrm>
              <a:off x="4749" y="1493"/>
              <a:ext cx="581" cy="0"/>
            </a:xfrm>
            <a:prstGeom prst="line">
              <a:avLst/>
            </a:prstGeom>
            <a:ln w="12700" cap="flat" cmpd="sng">
              <a:solidFill>
                <a:schemeClr val="accent2"/>
              </a:solidFill>
              <a:prstDash val="solid"/>
              <a:headEnd type="none" w="med" len="med"/>
              <a:tailEnd type="none" w="med" len="med"/>
            </a:ln>
          </p:spPr>
        </p:sp>
        <p:sp>
          <p:nvSpPr>
            <p:cNvPr id="11278" name="Line 13"/>
            <p:cNvSpPr/>
            <p:nvPr/>
          </p:nvSpPr>
          <p:spPr>
            <a:xfrm flipV="1">
              <a:off x="3472" y="2272"/>
              <a:ext cx="0" cy="220"/>
            </a:xfrm>
            <a:prstGeom prst="line">
              <a:avLst/>
            </a:prstGeom>
            <a:ln w="12700" cap="flat" cmpd="sng">
              <a:solidFill>
                <a:schemeClr val="accent2"/>
              </a:solidFill>
              <a:prstDash val="solid"/>
              <a:headEnd type="none" w="med" len="med"/>
              <a:tailEnd type="none" w="med" len="med"/>
            </a:ln>
          </p:spPr>
        </p:sp>
        <p:sp>
          <p:nvSpPr>
            <p:cNvPr id="11279" name="Rectangle 10"/>
            <p:cNvSpPr/>
            <p:nvPr/>
          </p:nvSpPr>
          <p:spPr>
            <a:xfrm>
              <a:off x="3306" y="1989"/>
              <a:ext cx="1661" cy="28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80" name="Rectangle 11"/>
            <p:cNvSpPr/>
            <p:nvPr/>
          </p:nvSpPr>
          <p:spPr>
            <a:xfrm>
              <a:off x="3312" y="2450"/>
              <a:ext cx="318" cy="3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81" name="Text Box 12"/>
            <p:cNvSpPr txBox="1"/>
            <p:nvPr/>
          </p:nvSpPr>
          <p:spPr>
            <a:xfrm>
              <a:off x="3342" y="2480"/>
              <a:ext cx="288" cy="231"/>
            </a:xfrm>
            <a:prstGeom prst="rect">
              <a:avLst/>
            </a:prstGeom>
            <a:no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S</a:t>
              </a:r>
              <a:r>
                <a:rPr lang="en-US" altLang="zh-CN" sz="2000" baseline="-25000" dirty="0">
                  <a:solidFill>
                    <a:srgbClr val="FF0000"/>
                  </a:solidFill>
                  <a:latin typeface="Times New Roman" panose="02020603050405020304" pitchFamily="18" charset="0"/>
                </a:rPr>
                <a:t>1</a:t>
              </a:r>
              <a:endParaRPr lang="en-US" altLang="zh-CN" sz="2000" baseline="-25000" dirty="0">
                <a:solidFill>
                  <a:srgbClr val="FF0000"/>
                </a:solidFill>
                <a:latin typeface="Times New Roman" panose="02020603050405020304" pitchFamily="18" charset="0"/>
              </a:endParaRPr>
            </a:p>
          </p:txBody>
        </p:sp>
        <p:sp>
          <p:nvSpPr>
            <p:cNvPr id="11282" name="Line 14"/>
            <p:cNvSpPr/>
            <p:nvPr/>
          </p:nvSpPr>
          <p:spPr>
            <a:xfrm>
              <a:off x="3472" y="2746"/>
              <a:ext cx="0" cy="208"/>
            </a:xfrm>
            <a:prstGeom prst="line">
              <a:avLst/>
            </a:prstGeom>
            <a:ln w="12700" cap="flat" cmpd="sng">
              <a:solidFill>
                <a:schemeClr val="accent2"/>
              </a:solidFill>
              <a:prstDash val="solid"/>
              <a:headEnd type="stealth" w="med" len="lg"/>
              <a:tailEnd type="none" w="med" len="med"/>
            </a:ln>
          </p:spPr>
        </p:sp>
        <p:sp>
          <p:nvSpPr>
            <p:cNvPr id="11283" name="Line 15"/>
            <p:cNvSpPr/>
            <p:nvPr/>
          </p:nvSpPr>
          <p:spPr>
            <a:xfrm>
              <a:off x="3630" y="2599"/>
              <a:ext cx="112" cy="0"/>
            </a:xfrm>
            <a:prstGeom prst="line">
              <a:avLst/>
            </a:prstGeom>
            <a:ln w="12700" cap="flat" cmpd="sng">
              <a:solidFill>
                <a:schemeClr val="accent2"/>
              </a:solidFill>
              <a:prstDash val="solid"/>
              <a:headEnd type="stealth" w="med" len="lg"/>
              <a:tailEnd type="none" w="med" len="med"/>
            </a:ln>
          </p:spPr>
        </p:sp>
        <p:sp>
          <p:nvSpPr>
            <p:cNvPr id="11284" name="Line 16"/>
            <p:cNvSpPr/>
            <p:nvPr/>
          </p:nvSpPr>
          <p:spPr>
            <a:xfrm flipV="1">
              <a:off x="3742" y="2599"/>
              <a:ext cx="0" cy="468"/>
            </a:xfrm>
            <a:prstGeom prst="line">
              <a:avLst/>
            </a:prstGeom>
            <a:ln w="12700" cap="flat" cmpd="sng">
              <a:solidFill>
                <a:schemeClr val="accent2"/>
              </a:solidFill>
              <a:prstDash val="solid"/>
              <a:headEnd type="none" w="med" len="med"/>
              <a:tailEnd type="none" w="med" len="med"/>
            </a:ln>
          </p:spPr>
        </p:sp>
        <p:sp>
          <p:nvSpPr>
            <p:cNvPr id="11285" name="Line 17"/>
            <p:cNvSpPr/>
            <p:nvPr/>
          </p:nvSpPr>
          <p:spPr>
            <a:xfrm flipV="1">
              <a:off x="4016" y="2272"/>
              <a:ext cx="0" cy="220"/>
            </a:xfrm>
            <a:prstGeom prst="line">
              <a:avLst/>
            </a:prstGeom>
            <a:ln w="12700" cap="flat" cmpd="sng">
              <a:solidFill>
                <a:schemeClr val="accent2"/>
              </a:solidFill>
              <a:prstDash val="solid"/>
              <a:headEnd type="none" w="med" len="med"/>
              <a:tailEnd type="none" w="med" len="med"/>
            </a:ln>
          </p:spPr>
        </p:sp>
        <p:sp>
          <p:nvSpPr>
            <p:cNvPr id="11286" name="Rectangle 18"/>
            <p:cNvSpPr/>
            <p:nvPr/>
          </p:nvSpPr>
          <p:spPr>
            <a:xfrm>
              <a:off x="3856" y="2450"/>
              <a:ext cx="318" cy="3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87" name="Text Box 19"/>
            <p:cNvSpPr txBox="1"/>
            <p:nvPr/>
          </p:nvSpPr>
          <p:spPr>
            <a:xfrm>
              <a:off x="3886" y="2480"/>
              <a:ext cx="288" cy="231"/>
            </a:xfrm>
            <a:prstGeom prst="rect">
              <a:avLst/>
            </a:prstGeom>
            <a:no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S</a:t>
              </a:r>
              <a:r>
                <a:rPr lang="en-US" altLang="zh-CN" sz="2000" baseline="-25000" dirty="0">
                  <a:solidFill>
                    <a:srgbClr val="FF0000"/>
                  </a:solidFill>
                  <a:latin typeface="Times New Roman" panose="02020603050405020304" pitchFamily="18" charset="0"/>
                </a:rPr>
                <a:t>2</a:t>
              </a:r>
              <a:endParaRPr lang="en-US" altLang="zh-CN" sz="2000" baseline="-25000" dirty="0">
                <a:solidFill>
                  <a:srgbClr val="FF0000"/>
                </a:solidFill>
                <a:latin typeface="Times New Roman" panose="02020603050405020304" pitchFamily="18" charset="0"/>
              </a:endParaRPr>
            </a:p>
          </p:txBody>
        </p:sp>
        <p:sp>
          <p:nvSpPr>
            <p:cNvPr id="11288" name="Line 20"/>
            <p:cNvSpPr/>
            <p:nvPr/>
          </p:nvSpPr>
          <p:spPr>
            <a:xfrm>
              <a:off x="4016" y="2746"/>
              <a:ext cx="0" cy="208"/>
            </a:xfrm>
            <a:prstGeom prst="line">
              <a:avLst/>
            </a:prstGeom>
            <a:ln w="12700" cap="flat" cmpd="sng">
              <a:solidFill>
                <a:schemeClr val="accent2"/>
              </a:solidFill>
              <a:prstDash val="solid"/>
              <a:headEnd type="stealth" w="med" len="lg"/>
              <a:tailEnd type="none" w="med" len="med"/>
            </a:ln>
          </p:spPr>
        </p:sp>
        <p:sp>
          <p:nvSpPr>
            <p:cNvPr id="11289" name="Line 21"/>
            <p:cNvSpPr/>
            <p:nvPr/>
          </p:nvSpPr>
          <p:spPr>
            <a:xfrm>
              <a:off x="4174" y="2599"/>
              <a:ext cx="112" cy="0"/>
            </a:xfrm>
            <a:prstGeom prst="line">
              <a:avLst/>
            </a:prstGeom>
            <a:ln w="12700" cap="flat" cmpd="sng">
              <a:solidFill>
                <a:schemeClr val="accent2"/>
              </a:solidFill>
              <a:prstDash val="solid"/>
              <a:headEnd type="stealth" w="med" len="lg"/>
              <a:tailEnd type="none" w="med" len="med"/>
            </a:ln>
          </p:spPr>
        </p:sp>
        <p:sp>
          <p:nvSpPr>
            <p:cNvPr id="11290" name="Line 22"/>
            <p:cNvSpPr/>
            <p:nvPr/>
          </p:nvSpPr>
          <p:spPr>
            <a:xfrm flipV="1">
              <a:off x="4286" y="2599"/>
              <a:ext cx="0" cy="468"/>
            </a:xfrm>
            <a:prstGeom prst="line">
              <a:avLst/>
            </a:prstGeom>
            <a:ln w="12700" cap="flat" cmpd="sng">
              <a:solidFill>
                <a:schemeClr val="accent2"/>
              </a:solidFill>
              <a:prstDash val="solid"/>
              <a:headEnd type="none" w="med" len="med"/>
              <a:tailEnd type="none" w="med" len="med"/>
            </a:ln>
          </p:spPr>
        </p:sp>
        <p:sp>
          <p:nvSpPr>
            <p:cNvPr id="11291" name="Line 23"/>
            <p:cNvSpPr/>
            <p:nvPr/>
          </p:nvSpPr>
          <p:spPr>
            <a:xfrm flipV="1">
              <a:off x="4787" y="2272"/>
              <a:ext cx="0" cy="220"/>
            </a:xfrm>
            <a:prstGeom prst="line">
              <a:avLst/>
            </a:prstGeom>
            <a:ln w="12700" cap="flat" cmpd="sng">
              <a:solidFill>
                <a:schemeClr val="accent2"/>
              </a:solidFill>
              <a:prstDash val="solid"/>
              <a:headEnd type="none" w="med" len="med"/>
              <a:tailEnd type="none" w="med" len="med"/>
            </a:ln>
          </p:spPr>
        </p:sp>
        <p:sp>
          <p:nvSpPr>
            <p:cNvPr id="11292" name="Rectangle 24"/>
            <p:cNvSpPr/>
            <p:nvPr/>
          </p:nvSpPr>
          <p:spPr>
            <a:xfrm>
              <a:off x="4627" y="2450"/>
              <a:ext cx="318" cy="300"/>
            </a:xfrm>
            <a:prstGeom prst="rect">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293" name="Text Box 25"/>
            <p:cNvSpPr txBox="1"/>
            <p:nvPr/>
          </p:nvSpPr>
          <p:spPr>
            <a:xfrm>
              <a:off x="4657" y="2480"/>
              <a:ext cx="288" cy="231"/>
            </a:xfrm>
            <a:prstGeom prst="rect">
              <a:avLst/>
            </a:prstGeom>
            <a:noFill/>
            <a:ln w="9525">
              <a:noFill/>
            </a:ln>
          </p:spPr>
          <p:txBody>
            <a:bodyPr>
              <a:spAutoFit/>
            </a:bodyPr>
            <a:p>
              <a:pPr eaLnBrk="1" hangingPunct="1">
                <a:lnSpc>
                  <a:spcPct val="90000"/>
                </a:lnSpc>
                <a:spcBef>
                  <a:spcPct val="50000"/>
                </a:spcBef>
              </a:pPr>
              <a:r>
                <a:rPr lang="en-US" altLang="zh-CN" sz="2000" dirty="0">
                  <a:solidFill>
                    <a:srgbClr val="FF0000"/>
                  </a:solidFill>
                  <a:latin typeface="Times New Roman" panose="02020603050405020304" pitchFamily="18" charset="0"/>
                </a:rPr>
                <a:t>S</a:t>
              </a:r>
              <a:r>
                <a:rPr lang="en-US" altLang="zh-CN" sz="2000" baseline="-25000" dirty="0">
                  <a:solidFill>
                    <a:srgbClr val="FF0000"/>
                  </a:solidFill>
                  <a:latin typeface="Times New Roman" panose="02020603050405020304" pitchFamily="18" charset="0"/>
                </a:rPr>
                <a:t>n</a:t>
              </a:r>
              <a:endParaRPr lang="en-US" altLang="zh-CN" sz="2000" baseline="-25000" dirty="0">
                <a:solidFill>
                  <a:srgbClr val="FF0000"/>
                </a:solidFill>
                <a:latin typeface="Times New Roman" panose="02020603050405020304" pitchFamily="18" charset="0"/>
              </a:endParaRPr>
            </a:p>
          </p:txBody>
        </p:sp>
        <p:sp>
          <p:nvSpPr>
            <p:cNvPr id="11294" name="Line 26"/>
            <p:cNvSpPr/>
            <p:nvPr/>
          </p:nvSpPr>
          <p:spPr>
            <a:xfrm>
              <a:off x="4787" y="2746"/>
              <a:ext cx="0" cy="208"/>
            </a:xfrm>
            <a:prstGeom prst="line">
              <a:avLst/>
            </a:prstGeom>
            <a:ln w="12700" cap="flat" cmpd="sng">
              <a:solidFill>
                <a:schemeClr val="accent2"/>
              </a:solidFill>
              <a:prstDash val="solid"/>
              <a:headEnd type="stealth" w="med" len="lg"/>
              <a:tailEnd type="none" w="med" len="med"/>
            </a:ln>
          </p:spPr>
        </p:sp>
        <p:sp>
          <p:nvSpPr>
            <p:cNvPr id="11295" name="Line 27"/>
            <p:cNvSpPr/>
            <p:nvPr/>
          </p:nvSpPr>
          <p:spPr>
            <a:xfrm>
              <a:off x="4945" y="2599"/>
              <a:ext cx="112" cy="0"/>
            </a:xfrm>
            <a:prstGeom prst="line">
              <a:avLst/>
            </a:prstGeom>
            <a:ln w="12700" cap="flat" cmpd="sng">
              <a:solidFill>
                <a:schemeClr val="accent2"/>
              </a:solidFill>
              <a:prstDash val="solid"/>
              <a:headEnd type="stealth" w="med" len="lg"/>
              <a:tailEnd type="none" w="med" len="med"/>
            </a:ln>
          </p:spPr>
        </p:sp>
        <p:sp>
          <p:nvSpPr>
            <p:cNvPr id="11296" name="Line 28"/>
            <p:cNvSpPr/>
            <p:nvPr/>
          </p:nvSpPr>
          <p:spPr>
            <a:xfrm flipV="1">
              <a:off x="5057" y="2599"/>
              <a:ext cx="0" cy="468"/>
            </a:xfrm>
            <a:prstGeom prst="line">
              <a:avLst/>
            </a:prstGeom>
            <a:ln w="12700" cap="flat" cmpd="sng">
              <a:solidFill>
                <a:schemeClr val="accent2"/>
              </a:solidFill>
              <a:prstDash val="solid"/>
              <a:headEnd type="none" w="med" len="med"/>
              <a:tailEnd type="none" w="med" len="med"/>
            </a:ln>
          </p:spPr>
        </p:sp>
        <p:sp>
          <p:nvSpPr>
            <p:cNvPr id="11297" name="Line 29"/>
            <p:cNvSpPr/>
            <p:nvPr/>
          </p:nvSpPr>
          <p:spPr>
            <a:xfrm>
              <a:off x="3243" y="2954"/>
              <a:ext cx="1544" cy="0"/>
            </a:xfrm>
            <a:prstGeom prst="line">
              <a:avLst/>
            </a:prstGeom>
            <a:ln w="12700" cap="flat" cmpd="sng">
              <a:solidFill>
                <a:schemeClr val="accent2"/>
              </a:solidFill>
              <a:prstDash val="solid"/>
              <a:headEnd type="none" w="med" len="med"/>
              <a:tailEnd type="none" w="med" len="med"/>
            </a:ln>
          </p:spPr>
        </p:sp>
        <p:sp>
          <p:nvSpPr>
            <p:cNvPr id="11298" name="Line 30"/>
            <p:cNvSpPr/>
            <p:nvPr/>
          </p:nvSpPr>
          <p:spPr>
            <a:xfrm flipV="1">
              <a:off x="4138" y="1404"/>
              <a:ext cx="0" cy="582"/>
            </a:xfrm>
            <a:prstGeom prst="line">
              <a:avLst/>
            </a:prstGeom>
            <a:ln w="12700" cap="flat" cmpd="sng">
              <a:solidFill>
                <a:schemeClr val="accent2"/>
              </a:solidFill>
              <a:prstDash val="solid"/>
              <a:headEnd type="none" w="med" len="med"/>
              <a:tailEnd type="none" w="med" len="med"/>
            </a:ln>
          </p:spPr>
        </p:sp>
        <p:sp>
          <p:nvSpPr>
            <p:cNvPr id="11299" name="Line 31"/>
            <p:cNvSpPr/>
            <p:nvPr/>
          </p:nvSpPr>
          <p:spPr>
            <a:xfrm>
              <a:off x="4138" y="1404"/>
              <a:ext cx="513" cy="0"/>
            </a:xfrm>
            <a:prstGeom prst="line">
              <a:avLst/>
            </a:prstGeom>
            <a:ln w="12700" cap="flat" cmpd="sng">
              <a:solidFill>
                <a:schemeClr val="accent2"/>
              </a:solidFill>
              <a:prstDash val="solid"/>
              <a:headEnd type="none" w="med" len="med"/>
              <a:tailEnd type="none" w="med" len="med"/>
            </a:ln>
          </p:spPr>
        </p:sp>
        <p:sp>
          <p:nvSpPr>
            <p:cNvPr id="11300" name="AutoShape 32"/>
            <p:cNvSpPr/>
            <p:nvPr/>
          </p:nvSpPr>
          <p:spPr>
            <a:xfrm rot="5400000">
              <a:off x="4664" y="1267"/>
              <a:ext cx="425" cy="45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01" name="Line 33"/>
            <p:cNvSpPr/>
            <p:nvPr/>
          </p:nvSpPr>
          <p:spPr>
            <a:xfrm>
              <a:off x="4536" y="1600"/>
              <a:ext cx="115" cy="0"/>
            </a:xfrm>
            <a:prstGeom prst="line">
              <a:avLst/>
            </a:prstGeom>
            <a:ln w="12700" cap="flat" cmpd="sng">
              <a:solidFill>
                <a:schemeClr val="accent2"/>
              </a:solidFill>
              <a:prstDash val="solid"/>
              <a:headEnd type="none" w="med" len="med"/>
              <a:tailEnd type="none" w="med" len="med"/>
            </a:ln>
          </p:spPr>
        </p:sp>
        <p:sp>
          <p:nvSpPr>
            <p:cNvPr id="11302" name="Line 34"/>
            <p:cNvSpPr/>
            <p:nvPr/>
          </p:nvSpPr>
          <p:spPr>
            <a:xfrm flipV="1">
              <a:off x="4535" y="1600"/>
              <a:ext cx="0" cy="220"/>
            </a:xfrm>
            <a:prstGeom prst="line">
              <a:avLst/>
            </a:prstGeom>
            <a:ln w="12700" cap="flat" cmpd="sng">
              <a:solidFill>
                <a:schemeClr val="accent2"/>
              </a:solidFill>
              <a:prstDash val="solid"/>
              <a:headEnd type="none" w="med" len="med"/>
              <a:tailEnd type="none" w="med" len="med"/>
            </a:ln>
          </p:spPr>
        </p:sp>
        <p:sp>
          <p:nvSpPr>
            <p:cNvPr id="11303" name="Line 35"/>
            <p:cNvSpPr/>
            <p:nvPr/>
          </p:nvSpPr>
          <p:spPr>
            <a:xfrm>
              <a:off x="4478" y="1820"/>
              <a:ext cx="115" cy="0"/>
            </a:xfrm>
            <a:prstGeom prst="line">
              <a:avLst/>
            </a:prstGeom>
            <a:ln w="19050" cap="flat" cmpd="sng">
              <a:solidFill>
                <a:srgbClr val="000080"/>
              </a:solidFill>
              <a:prstDash val="solid"/>
              <a:headEnd type="none" w="med" len="med"/>
              <a:tailEnd type="none" w="med" len="med"/>
            </a:ln>
          </p:spPr>
        </p:sp>
        <p:sp>
          <p:nvSpPr>
            <p:cNvPr id="11304" name="Line 36"/>
            <p:cNvSpPr/>
            <p:nvPr/>
          </p:nvSpPr>
          <p:spPr>
            <a:xfrm flipV="1">
              <a:off x="4468" y="1184"/>
              <a:ext cx="0" cy="220"/>
            </a:xfrm>
            <a:prstGeom prst="line">
              <a:avLst/>
            </a:prstGeom>
            <a:ln w="12700" cap="flat" cmpd="sng">
              <a:solidFill>
                <a:schemeClr val="accent2"/>
              </a:solidFill>
              <a:prstDash val="solid"/>
              <a:headEnd type="none" w="med" len="med"/>
              <a:tailEnd type="none" w="med" len="med"/>
            </a:ln>
          </p:spPr>
        </p:sp>
        <p:sp>
          <p:nvSpPr>
            <p:cNvPr id="11305" name="Line 37"/>
            <p:cNvSpPr/>
            <p:nvPr/>
          </p:nvSpPr>
          <p:spPr>
            <a:xfrm>
              <a:off x="4468" y="1186"/>
              <a:ext cx="726" cy="0"/>
            </a:xfrm>
            <a:prstGeom prst="line">
              <a:avLst/>
            </a:prstGeom>
            <a:ln w="12700" cap="flat" cmpd="sng">
              <a:solidFill>
                <a:schemeClr val="accent2"/>
              </a:solidFill>
              <a:prstDash val="solid"/>
              <a:headEnd type="none" w="med" len="med"/>
              <a:tailEnd type="none" w="med" len="med"/>
            </a:ln>
          </p:spPr>
        </p:sp>
        <p:sp>
          <p:nvSpPr>
            <p:cNvPr id="11306" name="Rectangle 38"/>
            <p:cNvSpPr/>
            <p:nvPr/>
          </p:nvSpPr>
          <p:spPr>
            <a:xfrm>
              <a:off x="4739" y="1152"/>
              <a:ext cx="182" cy="6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07" name="Line 40"/>
            <p:cNvSpPr/>
            <p:nvPr/>
          </p:nvSpPr>
          <p:spPr>
            <a:xfrm flipV="1">
              <a:off x="5194" y="1187"/>
              <a:ext cx="0" cy="306"/>
            </a:xfrm>
            <a:prstGeom prst="line">
              <a:avLst/>
            </a:prstGeom>
            <a:ln w="12700" cap="flat" cmpd="sng">
              <a:solidFill>
                <a:schemeClr val="accent2"/>
              </a:solidFill>
              <a:prstDash val="solid"/>
              <a:headEnd type="none" w="med" len="med"/>
              <a:tailEnd type="none" w="med" len="med"/>
            </a:ln>
          </p:spPr>
        </p:sp>
        <p:sp>
          <p:nvSpPr>
            <p:cNvPr id="11308" name="Oval 41"/>
            <p:cNvSpPr/>
            <p:nvPr/>
          </p:nvSpPr>
          <p:spPr>
            <a:xfrm>
              <a:off x="3198" y="2931"/>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09" name="Oval 42"/>
            <p:cNvSpPr/>
            <p:nvPr/>
          </p:nvSpPr>
          <p:spPr>
            <a:xfrm>
              <a:off x="3719" y="306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10" name="Oval 43"/>
            <p:cNvSpPr/>
            <p:nvPr/>
          </p:nvSpPr>
          <p:spPr>
            <a:xfrm>
              <a:off x="4263" y="306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11" name="Oval 44"/>
            <p:cNvSpPr/>
            <p:nvPr/>
          </p:nvSpPr>
          <p:spPr>
            <a:xfrm>
              <a:off x="5034" y="306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12" name="AutoShape 45"/>
            <p:cNvSpPr/>
            <p:nvPr/>
          </p:nvSpPr>
          <p:spPr>
            <a:xfrm rot="-5400000">
              <a:off x="4339" y="2689"/>
              <a:ext cx="113" cy="1323"/>
            </a:xfrm>
            <a:prstGeom prst="leftBrace">
              <a:avLst>
                <a:gd name="adj1" fmla="val 97566"/>
                <a:gd name="adj2" fmla="val 50000"/>
              </a:avLst>
            </a:prstGeom>
            <a:no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13" name="Text Box 46"/>
            <p:cNvSpPr txBox="1"/>
            <p:nvPr/>
          </p:nvSpPr>
          <p:spPr>
            <a:xfrm>
              <a:off x="2815" y="2840"/>
              <a:ext cx="49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U</a:t>
              </a:r>
              <a:r>
                <a:rPr lang="en-US" altLang="zh-CN" sz="1800" baseline="-25000" dirty="0">
                  <a:solidFill>
                    <a:srgbClr val="FF0000"/>
                  </a:solidFill>
                  <a:latin typeface="Times New Roman" panose="02020603050405020304" pitchFamily="18" charset="0"/>
                </a:rPr>
                <a:t>REF</a:t>
              </a:r>
              <a:endParaRPr lang="en-US" altLang="zh-CN" sz="1800" baseline="-25000" dirty="0">
                <a:solidFill>
                  <a:srgbClr val="FF0000"/>
                </a:solidFill>
                <a:latin typeface="Times New Roman" panose="02020603050405020304" pitchFamily="18" charset="0"/>
              </a:endParaRPr>
            </a:p>
          </p:txBody>
        </p:sp>
        <p:sp>
          <p:nvSpPr>
            <p:cNvPr id="11314" name="Text Box 47"/>
            <p:cNvSpPr txBox="1"/>
            <p:nvPr/>
          </p:nvSpPr>
          <p:spPr>
            <a:xfrm>
              <a:off x="2744" y="3022"/>
              <a:ext cx="598" cy="179"/>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rPr>
                <a:t>基准电压</a:t>
              </a:r>
              <a:endParaRPr lang="zh-CN" altLang="en-US" sz="1400" dirty="0">
                <a:solidFill>
                  <a:srgbClr val="FF0000"/>
                </a:solidFill>
                <a:latin typeface="Times New Roman" panose="02020603050405020304" pitchFamily="18" charset="0"/>
              </a:endParaRPr>
            </a:p>
          </p:txBody>
        </p:sp>
        <p:sp>
          <p:nvSpPr>
            <p:cNvPr id="11315" name="Text Box 48"/>
            <p:cNvSpPr txBox="1"/>
            <p:nvPr/>
          </p:nvSpPr>
          <p:spPr>
            <a:xfrm>
              <a:off x="3470" y="2009"/>
              <a:ext cx="1338" cy="231"/>
            </a:xfrm>
            <a:prstGeom prst="rect">
              <a:avLst/>
            </a:prstGeom>
            <a:noFill/>
            <a:ln w="9525">
              <a:noFill/>
            </a:ln>
          </p:spPr>
          <p:txBody>
            <a:bodyPr>
              <a:spAutoFit/>
            </a:bodyPr>
            <a:p>
              <a:pPr algn="ctr" eaLnBrk="1" hangingPunct="1">
                <a:lnSpc>
                  <a:spcPct val="90000"/>
                </a:lnSpc>
                <a:spcBef>
                  <a:spcPct val="50000"/>
                </a:spcBef>
              </a:pPr>
              <a:r>
                <a:rPr lang="zh-CN" altLang="en-US" sz="2000" dirty="0">
                  <a:solidFill>
                    <a:srgbClr val="FF0000"/>
                  </a:solidFill>
                  <a:latin typeface="Times New Roman" panose="02020603050405020304" pitchFamily="18" charset="0"/>
                </a:rPr>
                <a:t>电阻网络</a:t>
              </a:r>
              <a:endParaRPr lang="zh-CN" altLang="en-US" sz="2000" dirty="0">
                <a:solidFill>
                  <a:srgbClr val="FF0000"/>
                </a:solidFill>
                <a:latin typeface="Times New Roman" panose="02020603050405020304" pitchFamily="18" charset="0"/>
              </a:endParaRPr>
            </a:p>
          </p:txBody>
        </p:sp>
        <p:sp>
          <p:nvSpPr>
            <p:cNvPr id="11316" name="Text Box 49"/>
            <p:cNvSpPr txBox="1"/>
            <p:nvPr/>
          </p:nvSpPr>
          <p:spPr>
            <a:xfrm>
              <a:off x="3564" y="3090"/>
              <a:ext cx="427"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2</a:t>
              </a:r>
              <a:r>
                <a:rPr lang="en-US" altLang="zh-CN" sz="1800" baseline="30000" dirty="0">
                  <a:solidFill>
                    <a:srgbClr val="FF0000"/>
                  </a:solidFill>
                  <a:latin typeface="Times New Roman" panose="02020603050405020304" pitchFamily="18" charset="0"/>
                </a:rPr>
                <a:t>-1</a:t>
              </a:r>
              <a:r>
                <a:rPr lang="en-US" altLang="zh-CN" sz="1800" i="1" dirty="0">
                  <a:solidFill>
                    <a:srgbClr val="FF0000"/>
                  </a:solidFill>
                  <a:latin typeface="Times New Roman" panose="02020603050405020304" pitchFamily="18" charset="0"/>
                </a:rPr>
                <a:t>a</a:t>
              </a:r>
              <a:r>
                <a:rPr lang="en-US" altLang="zh-CN" sz="1800" baseline="-25000" dirty="0">
                  <a:solidFill>
                    <a:srgbClr val="FF0000"/>
                  </a:solidFill>
                  <a:latin typeface="Times New Roman" panose="02020603050405020304" pitchFamily="18" charset="0"/>
                </a:rPr>
                <a:t>1</a:t>
              </a:r>
              <a:endParaRPr lang="en-US" altLang="zh-CN" sz="1800" baseline="-25000" dirty="0">
                <a:solidFill>
                  <a:srgbClr val="FF0000"/>
                </a:solidFill>
                <a:latin typeface="Times New Roman" panose="02020603050405020304" pitchFamily="18" charset="0"/>
              </a:endParaRPr>
            </a:p>
          </p:txBody>
        </p:sp>
        <p:sp>
          <p:nvSpPr>
            <p:cNvPr id="11317" name="Text Box 50"/>
            <p:cNvSpPr txBox="1"/>
            <p:nvPr/>
          </p:nvSpPr>
          <p:spPr>
            <a:xfrm>
              <a:off x="4109" y="3090"/>
              <a:ext cx="427"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2</a:t>
              </a:r>
              <a:r>
                <a:rPr lang="en-US" altLang="zh-CN" sz="1800" baseline="30000" dirty="0">
                  <a:solidFill>
                    <a:srgbClr val="FF0000"/>
                  </a:solidFill>
                  <a:latin typeface="Times New Roman" panose="02020603050405020304" pitchFamily="18" charset="0"/>
                </a:rPr>
                <a:t>-2</a:t>
              </a:r>
              <a:r>
                <a:rPr lang="en-US" altLang="zh-CN" sz="1800" i="1" dirty="0">
                  <a:solidFill>
                    <a:srgbClr val="FF0000"/>
                  </a:solidFill>
                  <a:latin typeface="Times New Roman" panose="02020603050405020304" pitchFamily="18" charset="0"/>
                </a:rPr>
                <a:t>a</a:t>
              </a:r>
              <a:r>
                <a:rPr lang="en-US" altLang="zh-CN" sz="1800" baseline="-25000" dirty="0">
                  <a:solidFill>
                    <a:srgbClr val="FF0000"/>
                  </a:solidFill>
                  <a:latin typeface="Times New Roman" panose="02020603050405020304" pitchFamily="18" charset="0"/>
                </a:rPr>
                <a:t>2</a:t>
              </a:r>
              <a:endParaRPr lang="en-US" altLang="zh-CN" sz="1800" baseline="-25000" dirty="0">
                <a:solidFill>
                  <a:srgbClr val="FF0000"/>
                </a:solidFill>
                <a:latin typeface="Times New Roman" panose="02020603050405020304" pitchFamily="18" charset="0"/>
              </a:endParaRPr>
            </a:p>
          </p:txBody>
        </p:sp>
        <p:sp>
          <p:nvSpPr>
            <p:cNvPr id="11318" name="Text Box 51"/>
            <p:cNvSpPr txBox="1"/>
            <p:nvPr/>
          </p:nvSpPr>
          <p:spPr>
            <a:xfrm>
              <a:off x="4880" y="3090"/>
              <a:ext cx="427"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2</a:t>
              </a:r>
              <a:r>
                <a:rPr lang="en-US" altLang="zh-CN" sz="1800" baseline="30000" dirty="0">
                  <a:solidFill>
                    <a:srgbClr val="FF0000"/>
                  </a:solidFill>
                  <a:latin typeface="Times New Roman" panose="02020603050405020304" pitchFamily="18" charset="0"/>
                </a:rPr>
                <a:t>-</a:t>
              </a:r>
              <a:r>
                <a:rPr lang="en-US" altLang="zh-CN" sz="1800" i="1" baseline="30000" dirty="0">
                  <a:solidFill>
                    <a:srgbClr val="FF0000"/>
                  </a:solidFill>
                  <a:latin typeface="Times New Roman" panose="02020603050405020304" pitchFamily="18" charset="0"/>
                </a:rPr>
                <a:t>n</a:t>
              </a:r>
              <a:r>
                <a:rPr lang="en-US" altLang="zh-CN" sz="1800" i="1" dirty="0">
                  <a:solidFill>
                    <a:srgbClr val="FF0000"/>
                  </a:solidFill>
                  <a:latin typeface="Times New Roman" panose="02020603050405020304" pitchFamily="18" charset="0"/>
                </a:rPr>
                <a:t>a</a:t>
              </a:r>
              <a:r>
                <a:rPr lang="en-US" altLang="zh-CN" sz="1800" i="1" baseline="-25000" dirty="0">
                  <a:solidFill>
                    <a:srgbClr val="FF0000"/>
                  </a:solidFill>
                  <a:latin typeface="Times New Roman" panose="02020603050405020304" pitchFamily="18" charset="0"/>
                </a:rPr>
                <a:t>n</a:t>
              </a:r>
              <a:endParaRPr lang="en-US" altLang="zh-CN" sz="1800" i="1" baseline="-25000" dirty="0">
                <a:solidFill>
                  <a:srgbClr val="FF0000"/>
                </a:solidFill>
                <a:latin typeface="Times New Roman" panose="02020603050405020304" pitchFamily="18" charset="0"/>
              </a:endParaRPr>
            </a:p>
          </p:txBody>
        </p:sp>
        <p:sp>
          <p:nvSpPr>
            <p:cNvPr id="11319" name="Text Box 52"/>
            <p:cNvSpPr txBox="1"/>
            <p:nvPr/>
          </p:nvSpPr>
          <p:spPr>
            <a:xfrm>
              <a:off x="3803" y="3385"/>
              <a:ext cx="1181" cy="214"/>
            </a:xfrm>
            <a:prstGeom prst="rect">
              <a:avLst/>
            </a:prstGeom>
            <a:noFill/>
            <a:ln w="9525">
              <a:noFill/>
            </a:ln>
          </p:spPr>
          <p:txBody>
            <a:bodyPr>
              <a:spAutoFit/>
            </a:bodyPr>
            <a:p>
              <a:pPr algn="ctr" eaLnBrk="1" hangingPunct="1">
                <a:lnSpc>
                  <a:spcPct val="90000"/>
                </a:lnSpc>
                <a:spcBef>
                  <a:spcPct val="50000"/>
                </a:spcBef>
              </a:pPr>
              <a:r>
                <a:rPr lang="zh-CN" altLang="en-US" sz="1800" dirty="0">
                  <a:solidFill>
                    <a:srgbClr val="FF0000"/>
                  </a:solidFill>
                  <a:latin typeface="Times New Roman" panose="02020603050405020304" pitchFamily="18" charset="0"/>
                </a:rPr>
                <a:t>输入并行数字量</a:t>
              </a:r>
              <a:endParaRPr lang="zh-CN" altLang="en-US" sz="1800" dirty="0">
                <a:solidFill>
                  <a:srgbClr val="FF0000"/>
                </a:solidFill>
                <a:latin typeface="Times New Roman" panose="02020603050405020304" pitchFamily="18" charset="0"/>
              </a:endParaRPr>
            </a:p>
          </p:txBody>
        </p:sp>
        <p:sp>
          <p:nvSpPr>
            <p:cNvPr id="11320" name="Oval 53"/>
            <p:cNvSpPr/>
            <p:nvPr/>
          </p:nvSpPr>
          <p:spPr>
            <a:xfrm>
              <a:off x="5330" y="1470"/>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11321" name="Text Box 54"/>
            <p:cNvSpPr txBox="1"/>
            <p:nvPr/>
          </p:nvSpPr>
          <p:spPr>
            <a:xfrm>
              <a:off x="4703" y="933"/>
              <a:ext cx="49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R</a:t>
              </a:r>
              <a:r>
                <a:rPr lang="en-US" altLang="zh-CN" sz="1800" baseline="-25000" dirty="0">
                  <a:solidFill>
                    <a:srgbClr val="FF0000"/>
                  </a:solidFill>
                  <a:latin typeface="Times New Roman" panose="02020603050405020304" pitchFamily="18" charset="0"/>
                </a:rPr>
                <a:t>F</a:t>
              </a:r>
              <a:endParaRPr lang="en-US" altLang="zh-CN" sz="1800" baseline="-25000" dirty="0">
                <a:solidFill>
                  <a:srgbClr val="FF0000"/>
                </a:solidFill>
                <a:latin typeface="Times New Roman" panose="02020603050405020304" pitchFamily="18" charset="0"/>
              </a:endParaRPr>
            </a:p>
          </p:txBody>
        </p:sp>
        <p:sp>
          <p:nvSpPr>
            <p:cNvPr id="11322" name="Text Box 55"/>
            <p:cNvSpPr txBox="1"/>
            <p:nvPr/>
          </p:nvSpPr>
          <p:spPr>
            <a:xfrm>
              <a:off x="5340" y="1379"/>
              <a:ext cx="310"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U</a:t>
              </a:r>
              <a:r>
                <a:rPr lang="en-US" altLang="zh-CN" sz="1800" baseline="-25000" dirty="0">
                  <a:solidFill>
                    <a:srgbClr val="FF0000"/>
                  </a:solidFill>
                  <a:latin typeface="Times New Roman" panose="02020603050405020304" pitchFamily="18" charset="0"/>
                </a:rPr>
                <a:t>o</a:t>
              </a:r>
              <a:endParaRPr lang="en-US" altLang="zh-CN" sz="1800" baseline="-25000" dirty="0">
                <a:solidFill>
                  <a:srgbClr val="FF0000"/>
                </a:solidFill>
                <a:latin typeface="Times New Roman" panose="02020603050405020304" pitchFamily="18" charset="0"/>
              </a:endParaRPr>
            </a:p>
          </p:txBody>
        </p:sp>
        <p:sp>
          <p:nvSpPr>
            <p:cNvPr id="11323" name="Text Box 56"/>
            <p:cNvSpPr txBox="1"/>
            <p:nvPr/>
          </p:nvSpPr>
          <p:spPr>
            <a:xfrm>
              <a:off x="4624" y="1238"/>
              <a:ext cx="287" cy="474"/>
            </a:xfrm>
            <a:prstGeom prst="rect">
              <a:avLst/>
            </a:prstGeom>
            <a:noFill/>
            <a:ln w="9525">
              <a:noFill/>
            </a:ln>
          </p:spPr>
          <p:txBody>
            <a:bodyPr>
              <a:spAutoFit/>
            </a:bodyPr>
            <a:p>
              <a:pPr eaLnBrk="1" hangingPunct="1">
                <a:lnSpc>
                  <a:spcPct val="90000"/>
                </a:lnSpc>
                <a:spcBef>
                  <a:spcPct val="50000"/>
                </a:spcBef>
              </a:pPr>
              <a:r>
                <a:rPr lang="en-US" altLang="zh-CN" sz="1600" dirty="0">
                  <a:latin typeface="Times New Roman" panose="02020603050405020304" pitchFamily="18" charset="0"/>
                </a:rPr>
                <a:t>_</a:t>
              </a:r>
              <a:endParaRPr lang="en-US" altLang="zh-CN" sz="1600" dirty="0">
                <a:latin typeface="Times New Roman" panose="02020603050405020304" pitchFamily="18" charset="0"/>
              </a:endParaRPr>
            </a:p>
            <a:p>
              <a:pPr eaLnBrk="1" hangingPunct="1">
                <a:lnSpc>
                  <a:spcPct val="130000"/>
                </a:lnSpc>
                <a:spcBef>
                  <a:spcPct val="50000"/>
                </a:spcBef>
              </a:pPr>
              <a:r>
                <a:rPr lang="en-US" altLang="zh-CN" sz="1600" dirty="0">
                  <a:latin typeface="Times New Roman" panose="02020603050405020304" pitchFamily="18" charset="0"/>
                </a:rPr>
                <a:t>+</a:t>
              </a:r>
              <a:endParaRPr lang="en-US" altLang="zh-CN" sz="1600" dirty="0">
                <a:latin typeface="Times New Roman" panose="02020603050405020304" pitchFamily="18" charset="0"/>
              </a:endParaRPr>
            </a:p>
          </p:txBody>
        </p:sp>
        <p:sp>
          <p:nvSpPr>
            <p:cNvPr id="11324" name="Text Box 57"/>
            <p:cNvSpPr txBox="1"/>
            <p:nvPr/>
          </p:nvSpPr>
          <p:spPr>
            <a:xfrm>
              <a:off x="4744" y="1386"/>
              <a:ext cx="233"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FF0000"/>
                  </a:solidFill>
                  <a:latin typeface="Times New Roman" panose="02020603050405020304" pitchFamily="18" charset="0"/>
                </a:rPr>
                <a:t>A</a:t>
              </a:r>
              <a:endParaRPr lang="en-US" altLang="zh-CN" sz="1800" baseline="-25000" dirty="0">
                <a:solidFill>
                  <a:srgbClr val="FF0000"/>
                </a:solidFill>
                <a:latin typeface="Times New Roman" panose="02020603050405020304" pitchFamily="18" charset="0"/>
              </a:endParaRPr>
            </a:p>
          </p:txBody>
        </p:sp>
        <p:sp>
          <p:nvSpPr>
            <p:cNvPr id="11325" name="Text Box 58"/>
            <p:cNvSpPr txBox="1"/>
            <p:nvPr/>
          </p:nvSpPr>
          <p:spPr>
            <a:xfrm>
              <a:off x="4303" y="2420"/>
              <a:ext cx="426"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sp>
          <p:nvSpPr>
            <p:cNvPr id="11326" name="Text Box 59"/>
            <p:cNvSpPr txBox="1"/>
            <p:nvPr/>
          </p:nvSpPr>
          <p:spPr>
            <a:xfrm>
              <a:off x="4543" y="2909"/>
              <a:ext cx="426" cy="265"/>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sp>
          <p:nvSpPr>
            <p:cNvPr id="11327" name="Text Box 61"/>
            <p:cNvSpPr txBox="1"/>
            <p:nvPr/>
          </p:nvSpPr>
          <p:spPr>
            <a:xfrm>
              <a:off x="3288" y="3657"/>
              <a:ext cx="2020"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并行</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转换器机构框图</a:t>
              </a:r>
              <a:endParaRPr lang="zh-CN" altLang="en-US" sz="2000" dirty="0">
                <a:solidFill>
                  <a:srgbClr val="000099"/>
                </a:solidFill>
                <a:latin typeface="Times New Roman" panose="02020603050405020304" pitchFamily="18" charset="0"/>
              </a:endParaRPr>
            </a:p>
          </p:txBody>
        </p:sp>
        <p:sp>
          <p:nvSpPr>
            <p:cNvPr id="11328" name="Text Box 63"/>
            <p:cNvSpPr txBox="1"/>
            <p:nvPr/>
          </p:nvSpPr>
          <p:spPr>
            <a:xfrm>
              <a:off x="5035" y="2425"/>
              <a:ext cx="430" cy="370"/>
            </a:xfrm>
            <a:prstGeom prst="rect">
              <a:avLst/>
            </a:prstGeom>
            <a:noFill/>
            <a:ln w="9525">
              <a:noFill/>
            </a:ln>
          </p:spPr>
          <p:txBody>
            <a:bodyPr>
              <a:spAutoFit/>
            </a:bodyPr>
            <a:p>
              <a:pPr eaLnBrk="1" hangingPunct="1">
                <a:lnSpc>
                  <a:spcPct val="90000"/>
                </a:lnSpc>
                <a:spcBef>
                  <a:spcPct val="50000"/>
                </a:spcBef>
              </a:pPr>
              <a:r>
                <a:rPr lang="zh-CN" altLang="en-US" sz="1800" dirty="0">
                  <a:solidFill>
                    <a:srgbClr val="FF0000"/>
                  </a:solidFill>
                  <a:latin typeface="Times New Roman" panose="02020603050405020304" pitchFamily="18" charset="0"/>
                </a:rPr>
                <a:t>模拟开关</a:t>
              </a:r>
              <a:endParaRPr lang="zh-CN" altLang="en-US" sz="1800" dirty="0">
                <a:solidFill>
                  <a:srgbClr val="FF0000"/>
                </a:solidFill>
                <a:latin typeface="Times New Roman" panose="02020603050405020304" pitchFamily="18" charset="0"/>
              </a:endParaRPr>
            </a:p>
          </p:txBody>
        </p:sp>
      </p:grpSp>
      <p:sp>
        <p:nvSpPr>
          <p:cNvPr id="2440257" name="Text Box 65"/>
          <p:cNvSpPr txBox="1"/>
          <p:nvPr/>
        </p:nvSpPr>
        <p:spPr>
          <a:xfrm>
            <a:off x="287338" y="1592263"/>
            <a:ext cx="3960812" cy="1077912"/>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电阻网络将基准电压转变为相应的电流或电压，在运算放大器输入端进行总加。</a:t>
            </a:r>
            <a:endParaRPr lang="zh-CN" altLang="en-US" sz="2400" dirty="0">
              <a:solidFill>
                <a:schemeClr val="tx1"/>
              </a:solidFill>
              <a:latin typeface="Times New Roman" panose="02020603050405020304" pitchFamily="18" charset="0"/>
              <a:ea typeface="黑体" panose="02010609060101010101" pitchFamily="49" charset="-122"/>
            </a:endParaRPr>
          </a:p>
        </p:txBody>
      </p:sp>
      <p:graphicFrame>
        <p:nvGraphicFramePr>
          <p:cNvPr id="2440260" name="Object 68"/>
          <p:cNvGraphicFramePr>
            <a:graphicFrameLocks noChangeAspect="1"/>
          </p:cNvGraphicFramePr>
          <p:nvPr/>
        </p:nvGraphicFramePr>
        <p:xfrm>
          <a:off x="60325" y="2792413"/>
          <a:ext cx="4440238" cy="1138237"/>
        </p:xfrm>
        <a:graphic>
          <a:graphicData uri="http://schemas.openxmlformats.org/presentationml/2006/ole">
            <mc:AlternateContent xmlns:mc="http://schemas.openxmlformats.org/markup-compatibility/2006">
              <mc:Choice xmlns:v="urn:schemas-microsoft-com:vml" Requires="v">
                <p:oleObj spid="_x0000_s3081" name="" r:id="rId1" imgW="2298700" imgH="685800" progId="Equation.3">
                  <p:embed/>
                </p:oleObj>
              </mc:Choice>
              <mc:Fallback>
                <p:oleObj name="" r:id="rId1" imgW="2298700" imgH="685800" progId="Equation.3">
                  <p:embed/>
                  <p:pic>
                    <p:nvPicPr>
                      <p:cNvPr id="0" name="图片 3080"/>
                      <p:cNvPicPr/>
                      <p:nvPr/>
                    </p:nvPicPr>
                    <p:blipFill>
                      <a:blip r:embed="rId2"/>
                      <a:stretch>
                        <a:fillRect/>
                      </a:stretch>
                    </p:blipFill>
                    <p:spPr>
                      <a:xfrm>
                        <a:off x="60325" y="2792413"/>
                        <a:ext cx="4440238" cy="1138237"/>
                      </a:xfrm>
                      <a:prstGeom prst="rect">
                        <a:avLst/>
                      </a:prstGeom>
                      <a:solidFill>
                        <a:srgbClr val="CCFFCC"/>
                      </a:solidFill>
                      <a:ln w="38100">
                        <a:noFill/>
                        <a:miter/>
                      </a:ln>
                    </p:spPr>
                  </p:pic>
                </p:oleObj>
              </mc:Fallback>
            </mc:AlternateContent>
          </a:graphicData>
        </a:graphic>
      </p:graphicFrame>
      <p:sp>
        <p:nvSpPr>
          <p:cNvPr id="2440262" name="Text Box 70"/>
          <p:cNvSpPr txBox="1"/>
          <p:nvPr/>
        </p:nvSpPr>
        <p:spPr>
          <a:xfrm>
            <a:off x="336550" y="3933825"/>
            <a:ext cx="3948113" cy="749300"/>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其中，</a:t>
            </a:r>
            <a:r>
              <a:rPr lang="en-US" altLang="zh-CN" sz="2400" i="1" dirty="0">
                <a:solidFill>
                  <a:srgbClr val="FF0000"/>
                </a:solidFill>
                <a:latin typeface="Times New Roman" panose="02020603050405020304" pitchFamily="18" charset="0"/>
              </a:rPr>
              <a:t>a</a:t>
            </a:r>
            <a:r>
              <a:rPr lang="en-US" altLang="zh-CN" sz="2400" i="1" baseline="-25000" dirty="0">
                <a:solidFill>
                  <a:srgbClr val="FF0000"/>
                </a:solidFill>
                <a:latin typeface="Times New Roman" panose="02020603050405020304" pitchFamily="18" charset="0"/>
              </a:rPr>
              <a:t>i</a:t>
            </a:r>
            <a:r>
              <a:rPr lang="zh-CN" altLang="en-US" sz="2400" dirty="0">
                <a:latin typeface="Times New Roman" panose="02020603050405020304" pitchFamily="18" charset="0"/>
              </a:rPr>
              <a:t>是</a:t>
            </a:r>
            <a:r>
              <a:rPr lang="en-US" altLang="zh-CN" sz="2400" dirty="0">
                <a:solidFill>
                  <a:srgbClr val="FF0000"/>
                </a:solidFill>
                <a:latin typeface="Times New Roman" panose="02020603050405020304" pitchFamily="18" charset="0"/>
              </a:rPr>
              <a:t>1</a:t>
            </a:r>
            <a:r>
              <a:rPr lang="zh-CN" altLang="en-US" sz="2400" dirty="0">
                <a:latin typeface="Times New Roman" panose="02020603050405020304" pitchFamily="18" charset="0"/>
              </a:rPr>
              <a:t>还是</a:t>
            </a:r>
            <a:r>
              <a:rPr lang="en-US" altLang="zh-CN" sz="2400" dirty="0">
                <a:solidFill>
                  <a:srgbClr val="FF0000"/>
                </a:solidFill>
                <a:latin typeface="Times New Roman" panose="02020603050405020304" pitchFamily="18" charset="0"/>
              </a:rPr>
              <a:t>0</a:t>
            </a:r>
            <a:r>
              <a:rPr lang="zh-CN" altLang="en-US" sz="2400" dirty="0">
                <a:latin typeface="Times New Roman" panose="02020603050405020304" pitchFamily="18" charset="0"/>
              </a:rPr>
              <a:t>取决于输入数字量第</a:t>
            </a:r>
            <a:r>
              <a:rPr lang="en-US" altLang="zh-CN" sz="2400" i="1" dirty="0">
                <a:solidFill>
                  <a:srgbClr val="FF0000"/>
                </a:solidFill>
                <a:latin typeface="Times New Roman" panose="02020603050405020304" pitchFamily="18" charset="0"/>
              </a:rPr>
              <a:t>i</a:t>
            </a:r>
            <a:r>
              <a:rPr lang="zh-CN" altLang="en-US" sz="2400" dirty="0">
                <a:latin typeface="Times New Roman" panose="02020603050405020304" pitchFamily="18" charset="0"/>
              </a:rPr>
              <a:t>位上的逻辑。</a:t>
            </a:r>
            <a:endParaRPr lang="zh-CN" altLang="en-US" sz="2400" dirty="0">
              <a:latin typeface="Times New Roman" panose="02020603050405020304" pitchFamily="18" charset="0"/>
            </a:endParaRPr>
          </a:p>
        </p:txBody>
      </p:sp>
      <p:sp>
        <p:nvSpPr>
          <p:cNvPr id="2440263" name="Text Box 71"/>
          <p:cNvSpPr txBox="1"/>
          <p:nvPr/>
        </p:nvSpPr>
        <p:spPr>
          <a:xfrm>
            <a:off x="179388" y="4797425"/>
            <a:ext cx="4213225" cy="1406525"/>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dirty="0">
                <a:solidFill>
                  <a:srgbClr val="FF0000"/>
                </a:solidFill>
                <a:latin typeface="黑体" panose="02010609060101010101" pitchFamily="49" charset="-122"/>
                <a:ea typeface="黑体" panose="02010609060101010101" pitchFamily="49" charset="-122"/>
              </a:rPr>
              <a:t>并行</a:t>
            </a:r>
            <a:r>
              <a:rPr lang="en-US" altLang="zh-CN" sz="2400" dirty="0">
                <a:solidFill>
                  <a:srgbClr val="FF0000"/>
                </a:solidFill>
                <a:latin typeface="Times New Roman" panose="02020603050405020304" pitchFamily="18" charset="0"/>
                <a:ea typeface="黑体" panose="02010609060101010101" pitchFamily="49" charset="-122"/>
              </a:rPr>
              <a:t>D/A</a:t>
            </a:r>
            <a:r>
              <a:rPr lang="zh-CN" altLang="en-US" sz="2400" dirty="0">
                <a:solidFill>
                  <a:srgbClr val="FF0000"/>
                </a:solidFill>
                <a:latin typeface="黑体" panose="02010609060101010101" pitchFamily="49" charset="-122"/>
                <a:ea typeface="黑体" panose="02010609060101010101" pitchFamily="49" charset="-122"/>
              </a:rPr>
              <a:t>转换器的特点：</a:t>
            </a:r>
            <a:r>
              <a:rPr lang="zh-CN" altLang="en-US" sz="2400" dirty="0">
                <a:latin typeface="Times New Roman" panose="02020603050405020304" pitchFamily="18" charset="0"/>
                <a:ea typeface="黑体" panose="02010609060101010101" pitchFamily="49" charset="-122"/>
              </a:rPr>
              <a:t>转换速度很快，只要在输入端加入数字信号，输出端立即有相应的模拟电压输出。</a:t>
            </a:r>
            <a:endParaRPr lang="zh-CN" altLang="en-US" sz="2400" dirty="0">
              <a:solidFill>
                <a:srgbClr val="FF0000"/>
              </a:solidFill>
              <a:latin typeface="黑体" panose="02010609060101010101" pitchFamily="49" charset="-122"/>
              <a:ea typeface="黑体" panose="02010609060101010101" pitchFamily="49" charset="-122"/>
            </a:endParaRPr>
          </a:p>
        </p:txBody>
      </p:sp>
      <p:grpSp>
        <p:nvGrpSpPr>
          <p:cNvPr id="2440267" name="Group 75"/>
          <p:cNvGrpSpPr/>
          <p:nvPr/>
        </p:nvGrpSpPr>
        <p:grpSpPr>
          <a:xfrm>
            <a:off x="454025" y="2603500"/>
            <a:ext cx="4117975" cy="1728788"/>
            <a:chOff x="286" y="1640"/>
            <a:chExt cx="2594" cy="1089"/>
          </a:xfrm>
        </p:grpSpPr>
        <p:sp>
          <p:nvSpPr>
            <p:cNvPr id="11274" name="AutoShape 73"/>
            <p:cNvSpPr/>
            <p:nvPr/>
          </p:nvSpPr>
          <p:spPr>
            <a:xfrm>
              <a:off x="286" y="1640"/>
              <a:ext cx="2549" cy="1089"/>
            </a:xfrm>
            <a:prstGeom prst="wedgeRoundRectCallout">
              <a:avLst>
                <a:gd name="adj1" fmla="val 16852"/>
                <a:gd name="adj2" fmla="val 7470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11275" name="Text Box 74"/>
            <p:cNvSpPr txBox="1"/>
            <p:nvPr/>
          </p:nvSpPr>
          <p:spPr>
            <a:xfrm>
              <a:off x="341" y="1750"/>
              <a:ext cx="2539" cy="886"/>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转换速度与</a:t>
              </a:r>
              <a:r>
                <a:rPr lang="zh-CN" altLang="en-US" sz="2400" dirty="0">
                  <a:solidFill>
                    <a:srgbClr val="FF0000"/>
                  </a:solidFill>
                  <a:latin typeface="Times New Roman" panose="02020603050405020304" pitchFamily="18" charset="0"/>
                </a:rPr>
                <a:t>模拟开关的通断速度</a:t>
              </a:r>
              <a:r>
                <a:rPr lang="zh-CN" altLang="en-US" sz="2400" dirty="0">
                  <a:solidFill>
                    <a:schemeClr val="tx1"/>
                  </a:solidFill>
                  <a:latin typeface="Times New Roman" panose="02020603050405020304" pitchFamily="18" charset="0"/>
                </a:rPr>
                <a:t>、</a:t>
              </a:r>
              <a:r>
                <a:rPr lang="zh-CN" altLang="en-US" sz="2400" dirty="0">
                  <a:solidFill>
                    <a:srgbClr val="FF0000"/>
                  </a:solidFill>
                  <a:latin typeface="Times New Roman" panose="02020603050405020304" pitchFamily="18" charset="0"/>
                </a:rPr>
                <a:t>电阻网络的寄生电抗</a:t>
              </a:r>
              <a:r>
                <a:rPr lang="zh-CN" altLang="en-US" sz="2400" dirty="0">
                  <a:solidFill>
                    <a:schemeClr val="tx1"/>
                  </a:solidFill>
                  <a:latin typeface="Times New Roman" panose="02020603050405020304" pitchFamily="18" charset="0"/>
                </a:rPr>
                <a:t>和</a:t>
              </a:r>
              <a:r>
                <a:rPr lang="zh-CN" altLang="en-US" sz="2400" dirty="0">
                  <a:solidFill>
                    <a:srgbClr val="FF0000"/>
                  </a:solidFill>
                  <a:latin typeface="Times New Roman" panose="02020603050405020304" pitchFamily="18" charset="0"/>
                </a:rPr>
                <a:t>运算放大器的输出频率</a:t>
              </a:r>
              <a:r>
                <a:rPr lang="zh-CN" altLang="en-US" sz="2400" dirty="0">
                  <a:solidFill>
                    <a:schemeClr val="tx1"/>
                  </a:solidFill>
                  <a:latin typeface="Times New Roman" panose="02020603050405020304" pitchFamily="18" charset="0"/>
                </a:rPr>
                <a:t>有关，但主要取决于后者。</a:t>
              </a:r>
              <a:endParaRPr lang="zh-CN" altLang="en-US" sz="2400" dirty="0">
                <a:solidFill>
                  <a:schemeClr val="tx1"/>
                </a:solidFill>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40201"/>
                                        </p:tgtEl>
                                        <p:attrNameLst>
                                          <p:attrName>style.visibility</p:attrName>
                                        </p:attrNameLst>
                                      </p:cBhvr>
                                      <p:to>
                                        <p:strVal val="visible"/>
                                      </p:to>
                                    </p:set>
                                    <p:animEffect transition="in" filter="dissolve">
                                      <p:cBhvr>
                                        <p:cTn id="7" dur="500"/>
                                        <p:tgtEl>
                                          <p:spTgt spid="24402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40256"/>
                                        </p:tgtEl>
                                        <p:attrNameLst>
                                          <p:attrName>style.visibility</p:attrName>
                                        </p:attrNameLst>
                                      </p:cBhvr>
                                      <p:to>
                                        <p:strVal val="visible"/>
                                      </p:to>
                                    </p:set>
                                    <p:animEffect transition="in" filter="dissolve">
                                      <p:cBhvr>
                                        <p:cTn id="12" dur="500"/>
                                        <p:tgtEl>
                                          <p:spTgt spid="24402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40257"/>
                                        </p:tgtEl>
                                        <p:attrNameLst>
                                          <p:attrName>style.visibility</p:attrName>
                                        </p:attrNameLst>
                                      </p:cBhvr>
                                      <p:to>
                                        <p:strVal val="visible"/>
                                      </p:to>
                                    </p:set>
                                    <p:animEffect transition="in" filter="dissolve">
                                      <p:cBhvr>
                                        <p:cTn id="17" dur="500"/>
                                        <p:tgtEl>
                                          <p:spTgt spid="244025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40260"/>
                                        </p:tgtEl>
                                        <p:attrNameLst>
                                          <p:attrName>style.visibility</p:attrName>
                                        </p:attrNameLst>
                                      </p:cBhvr>
                                      <p:to>
                                        <p:strVal val="visible"/>
                                      </p:to>
                                    </p:set>
                                    <p:animEffect transition="in" filter="dissolve">
                                      <p:cBhvr>
                                        <p:cTn id="22" dur="500"/>
                                        <p:tgtEl>
                                          <p:spTgt spid="244026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440262"/>
                                        </p:tgtEl>
                                        <p:attrNameLst>
                                          <p:attrName>style.visibility</p:attrName>
                                        </p:attrNameLst>
                                      </p:cBhvr>
                                      <p:to>
                                        <p:strVal val="visible"/>
                                      </p:to>
                                    </p:set>
                                    <p:animEffect transition="in" filter="dissolve">
                                      <p:cBhvr>
                                        <p:cTn id="27" dur="500"/>
                                        <p:tgtEl>
                                          <p:spTgt spid="244026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440263"/>
                                        </p:tgtEl>
                                        <p:attrNameLst>
                                          <p:attrName>style.visibility</p:attrName>
                                        </p:attrNameLst>
                                      </p:cBhvr>
                                      <p:to>
                                        <p:strVal val="visible"/>
                                      </p:to>
                                    </p:set>
                                    <p:animEffect transition="in" filter="dissolve">
                                      <p:cBhvr>
                                        <p:cTn id="32" dur="500"/>
                                        <p:tgtEl>
                                          <p:spTgt spid="244026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40267"/>
                                        </p:tgtEl>
                                        <p:attrNameLst>
                                          <p:attrName>style.visibility</p:attrName>
                                        </p:attrNameLst>
                                      </p:cBhvr>
                                      <p:to>
                                        <p:strVal val="visible"/>
                                      </p:to>
                                    </p:set>
                                    <p:animEffect transition="in" filter="dissolve">
                                      <p:cBhvr>
                                        <p:cTn id="37" dur="500"/>
                                        <p:tgtEl>
                                          <p:spTgt spid="2440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0201" grpId="0" bldLvl="0" animBg="1"/>
      <p:bldP spid="2440257" grpId="0"/>
      <p:bldP spid="2440262" grpId="0"/>
      <p:bldP spid="2440263" grpId="0" bldLvl="0"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52836" name="Text Box 4"/>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552837" name="Rectangle 5"/>
          <p:cNvSpPr/>
          <p:nvPr/>
        </p:nvSpPr>
        <p:spPr>
          <a:xfrm>
            <a:off x="454025" y="830263"/>
            <a:ext cx="3133725" cy="579437"/>
          </a:xfrm>
          <a:prstGeom prst="rect">
            <a:avLst/>
          </a:prstGeom>
          <a:solidFill>
            <a:srgbClr val="99CCFF"/>
          </a:solidFill>
          <a:ln w="9525">
            <a:noFill/>
          </a:ln>
        </p:spPr>
        <p:txBody>
          <a:bodyPr>
            <a:spAutoFit/>
          </a:bodyPr>
          <a:p>
            <a:pPr eaLnBrk="1" hangingPunct="1"/>
            <a:r>
              <a:rPr lang="zh-CN" altLang="en-US" sz="3200" dirty="0">
                <a:latin typeface="Times New Roman" panose="02020603050405020304" pitchFamily="18" charset="0"/>
              </a:rPr>
              <a:t>串行</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2552838" name="Text Box 6"/>
          <p:cNvSpPr txBox="1"/>
          <p:nvPr/>
        </p:nvSpPr>
        <p:spPr>
          <a:xfrm>
            <a:off x="274638" y="1568450"/>
            <a:ext cx="3563937" cy="393700"/>
          </a:xfrm>
          <a:prstGeom prst="rect">
            <a:avLst/>
          </a:prstGeom>
          <a:noFill/>
          <a:ln w="9525">
            <a:noFill/>
          </a:ln>
        </p:spPr>
        <p:txBody>
          <a:bodyPr>
            <a:spAutoFit/>
          </a:bodyPr>
          <a:p>
            <a:pPr eaLnBrk="1" hangingPunct="1">
              <a:lnSpc>
                <a:spcPct val="90000"/>
              </a:lnSpc>
              <a:spcBef>
                <a:spcPct val="50000"/>
              </a:spcBef>
            </a:pPr>
            <a:r>
              <a:rPr lang="zh-CN" altLang="en-US" sz="2200" dirty="0">
                <a:solidFill>
                  <a:schemeClr val="tx1"/>
                </a:solidFill>
                <a:latin typeface="Times New Roman" panose="02020603050405020304" pitchFamily="18" charset="0"/>
                <a:ea typeface="黑体" panose="02010609060101010101" pitchFamily="49" charset="-122"/>
              </a:rPr>
              <a:t>数字量以串行方式输入。</a:t>
            </a:r>
            <a:endParaRPr lang="zh-CN" altLang="en-US" sz="2200" dirty="0">
              <a:solidFill>
                <a:schemeClr val="tx1"/>
              </a:solidFill>
              <a:latin typeface="Times New Roman" panose="02020603050405020304" pitchFamily="18" charset="0"/>
              <a:ea typeface="黑体" panose="02010609060101010101" pitchFamily="49" charset="-122"/>
            </a:endParaRPr>
          </a:p>
        </p:txBody>
      </p:sp>
      <p:sp>
        <p:nvSpPr>
          <p:cNvPr id="2552840" name="Text Box 8"/>
          <p:cNvSpPr txBox="1"/>
          <p:nvPr/>
        </p:nvSpPr>
        <p:spPr>
          <a:xfrm>
            <a:off x="274638" y="1989138"/>
            <a:ext cx="8088312" cy="2301875"/>
          </a:xfrm>
          <a:prstGeom prst="rect">
            <a:avLst/>
          </a:prstGeom>
          <a:noFill/>
          <a:ln w="9525">
            <a:noFill/>
          </a:ln>
        </p:spPr>
        <p:txBody>
          <a:bodyPr>
            <a:spAutoFit/>
          </a:bodyPr>
          <a:p>
            <a:pPr eaLnBrk="1" hangingPunct="1">
              <a:lnSpc>
                <a:spcPct val="110000"/>
              </a:lnSpc>
            </a:pPr>
            <a:r>
              <a:rPr lang="en-US" altLang="zh-CN" sz="2200" i="1" dirty="0">
                <a:latin typeface="Times New Roman" panose="02020603050405020304" pitchFamily="18" charset="0"/>
              </a:rPr>
              <a:t>Ds</a:t>
            </a:r>
            <a:r>
              <a:rPr lang="zh-CN" altLang="en-US" sz="2200" dirty="0">
                <a:latin typeface="Times New Roman" panose="02020603050405020304" pitchFamily="18" charset="0"/>
              </a:rPr>
              <a:t>为串行输入二进制码。</a:t>
            </a:r>
            <a:endParaRPr lang="zh-CN" altLang="en-US" sz="2200" dirty="0">
              <a:latin typeface="Times New Roman" panose="02020603050405020304" pitchFamily="18" charset="0"/>
            </a:endParaRPr>
          </a:p>
          <a:p>
            <a:pPr eaLnBrk="1" hangingPunct="1">
              <a:lnSpc>
                <a:spcPct val="110000"/>
              </a:lnSpc>
            </a:pPr>
            <a:r>
              <a:rPr lang="en-US" altLang="zh-CN" sz="2200" i="1" dirty="0">
                <a:latin typeface="Times New Roman" panose="02020603050405020304" pitchFamily="18" charset="0"/>
              </a:rPr>
              <a:t>Ds</a:t>
            </a:r>
            <a:r>
              <a:rPr lang="zh-CN" altLang="en-US" sz="2200" dirty="0">
                <a:latin typeface="Times New Roman" panose="02020603050405020304" pitchFamily="18" charset="0"/>
              </a:rPr>
              <a:t>为</a:t>
            </a:r>
            <a:r>
              <a:rPr lang="en-US" altLang="zh-CN" sz="2200" dirty="0">
                <a:latin typeface="Times New Roman" panose="02020603050405020304" pitchFamily="18" charset="0"/>
              </a:rPr>
              <a:t>1→S</a:t>
            </a:r>
            <a:r>
              <a:rPr lang="en-US" altLang="zh-CN" sz="2200" baseline="-25000" dirty="0">
                <a:latin typeface="Times New Roman" panose="02020603050405020304" pitchFamily="18" charset="0"/>
              </a:rPr>
              <a:t>1</a:t>
            </a:r>
            <a:r>
              <a:rPr lang="zh-CN" altLang="en-US" sz="2200" dirty="0">
                <a:latin typeface="Times New Roman" panose="02020603050405020304" pitchFamily="18" charset="0"/>
              </a:rPr>
              <a:t>闭合→</a:t>
            </a:r>
            <a:r>
              <a:rPr lang="en-US" altLang="zh-CN" sz="2200" i="1" dirty="0">
                <a:latin typeface="Times New Roman" panose="02020603050405020304" pitchFamily="18" charset="0"/>
              </a:rPr>
              <a:t>U</a:t>
            </a:r>
            <a:r>
              <a:rPr lang="en-US" altLang="zh-CN" sz="2200" i="1" baseline="-25000" dirty="0">
                <a:latin typeface="Times New Roman" panose="02020603050405020304" pitchFamily="18" charset="0"/>
              </a:rPr>
              <a:t>REF</a:t>
            </a:r>
            <a:r>
              <a:rPr lang="zh-CN" altLang="en-US" sz="2200" dirty="0">
                <a:latin typeface="Times New Roman" panose="02020603050405020304" pitchFamily="18" charset="0"/>
              </a:rPr>
              <a:t>与</a:t>
            </a:r>
            <a:r>
              <a:rPr lang="en-US" altLang="zh-CN" sz="2200" i="1" dirty="0">
                <a:latin typeface="Times New Roman" panose="02020603050405020304" pitchFamily="18" charset="0"/>
              </a:rPr>
              <a:t>U</a:t>
            </a:r>
            <a:r>
              <a:rPr lang="en-US" altLang="zh-CN" sz="2200" i="1" baseline="-25000" dirty="0">
                <a:latin typeface="Times New Roman" panose="02020603050405020304" pitchFamily="18" charset="0"/>
              </a:rPr>
              <a:t>Ci</a:t>
            </a:r>
            <a:r>
              <a:rPr lang="zh-CN" altLang="en-US" sz="2200" dirty="0">
                <a:latin typeface="Times New Roman" panose="02020603050405020304" pitchFamily="18" charset="0"/>
              </a:rPr>
              <a:t>相加→除</a:t>
            </a:r>
            <a:r>
              <a:rPr lang="en-US" altLang="zh-CN" sz="2200" dirty="0">
                <a:latin typeface="Times New Roman" panose="02020603050405020304" pitchFamily="18" charset="0"/>
              </a:rPr>
              <a:t>2</a:t>
            </a:r>
            <a:r>
              <a:rPr lang="zh-CN" altLang="en-US" sz="2200" dirty="0">
                <a:latin typeface="Times New Roman" panose="02020603050405020304" pitchFamily="18" charset="0"/>
              </a:rPr>
              <a:t>，</a:t>
            </a:r>
            <a:endParaRPr lang="zh-CN" altLang="en-US" sz="2200" dirty="0">
              <a:latin typeface="Times New Roman" panose="02020603050405020304" pitchFamily="18" charset="0"/>
            </a:endParaRPr>
          </a:p>
          <a:p>
            <a:pPr eaLnBrk="1" hangingPunct="1">
              <a:lnSpc>
                <a:spcPct val="110000"/>
              </a:lnSpc>
            </a:pPr>
            <a:r>
              <a:rPr lang="en-US" altLang="zh-CN" sz="2200" i="1" dirty="0">
                <a:latin typeface="Times New Roman" panose="02020603050405020304" pitchFamily="18" charset="0"/>
              </a:rPr>
              <a:t>Ds</a:t>
            </a:r>
            <a:r>
              <a:rPr lang="zh-CN" altLang="en-US" sz="2200" dirty="0">
                <a:latin typeface="Times New Roman" panose="02020603050405020304" pitchFamily="18" charset="0"/>
              </a:rPr>
              <a:t>为</a:t>
            </a:r>
            <a:r>
              <a:rPr lang="en-US" altLang="zh-CN" sz="2200" dirty="0">
                <a:latin typeface="Times New Roman" panose="02020603050405020304" pitchFamily="18" charset="0"/>
              </a:rPr>
              <a:t>0→S</a:t>
            </a:r>
            <a:r>
              <a:rPr lang="en-US" altLang="zh-CN" sz="2200" baseline="-25000" dirty="0">
                <a:latin typeface="Times New Roman" panose="02020603050405020304" pitchFamily="18" charset="0"/>
              </a:rPr>
              <a:t>1</a:t>
            </a:r>
            <a:r>
              <a:rPr lang="zh-CN" altLang="en-US" sz="2200" dirty="0">
                <a:latin typeface="Times New Roman" panose="02020603050405020304" pitchFamily="18" charset="0"/>
              </a:rPr>
              <a:t>断开→</a:t>
            </a:r>
            <a:r>
              <a:rPr lang="en-US" altLang="zh-CN" sz="2200" i="1" dirty="0">
                <a:latin typeface="Times New Roman" panose="02020603050405020304" pitchFamily="18" charset="0"/>
              </a:rPr>
              <a:t>U</a:t>
            </a:r>
            <a:r>
              <a:rPr lang="en-US" altLang="zh-CN" sz="2200" i="1" baseline="-25000" dirty="0">
                <a:latin typeface="Times New Roman" panose="02020603050405020304" pitchFamily="18" charset="0"/>
              </a:rPr>
              <a:t>REF</a:t>
            </a:r>
            <a:r>
              <a:rPr lang="zh-CN" altLang="en-US" sz="2200" dirty="0">
                <a:latin typeface="Times New Roman" panose="02020603050405020304" pitchFamily="18" charset="0"/>
              </a:rPr>
              <a:t>不与</a:t>
            </a:r>
            <a:r>
              <a:rPr lang="en-US" altLang="zh-CN" sz="2200" i="1" dirty="0">
                <a:latin typeface="Times New Roman" panose="02020603050405020304" pitchFamily="18" charset="0"/>
              </a:rPr>
              <a:t>U</a:t>
            </a:r>
            <a:r>
              <a:rPr lang="en-US" altLang="zh-CN" sz="2200" i="1" baseline="-25000" dirty="0">
                <a:latin typeface="Times New Roman" panose="02020603050405020304" pitchFamily="18" charset="0"/>
              </a:rPr>
              <a:t>Ci</a:t>
            </a:r>
            <a:r>
              <a:rPr lang="zh-CN" altLang="en-US" sz="2200" dirty="0">
                <a:latin typeface="Times New Roman" panose="02020603050405020304" pitchFamily="18" charset="0"/>
              </a:rPr>
              <a:t>相加→除</a:t>
            </a:r>
            <a:r>
              <a:rPr lang="en-US" altLang="zh-CN" sz="2200" dirty="0">
                <a:latin typeface="Times New Roman" panose="02020603050405020304" pitchFamily="18" charset="0"/>
              </a:rPr>
              <a:t>2</a:t>
            </a:r>
            <a:r>
              <a:rPr lang="zh-CN" altLang="en-US" sz="2200" dirty="0">
                <a:latin typeface="Times New Roman" panose="02020603050405020304" pitchFamily="18" charset="0"/>
              </a:rPr>
              <a:t>，</a:t>
            </a:r>
            <a:endParaRPr lang="zh-CN" altLang="en-US" sz="2200" dirty="0">
              <a:latin typeface="Times New Roman" panose="02020603050405020304" pitchFamily="18" charset="0"/>
            </a:endParaRPr>
          </a:p>
          <a:p>
            <a:pPr eaLnBrk="1" hangingPunct="1">
              <a:lnSpc>
                <a:spcPct val="110000"/>
              </a:lnSpc>
            </a:pPr>
            <a:r>
              <a:rPr lang="zh-CN" altLang="en-US" sz="2200" dirty="0">
                <a:latin typeface="Times New Roman" panose="02020603050405020304" pitchFamily="18" charset="0"/>
              </a:rPr>
              <a:t>因此，电容上存储的电压为：</a:t>
            </a:r>
            <a:endParaRPr lang="zh-CN" altLang="en-US" sz="2200" dirty="0">
              <a:latin typeface="Times New Roman" panose="02020603050405020304" pitchFamily="18" charset="0"/>
            </a:endParaRPr>
          </a:p>
          <a:p>
            <a:pPr eaLnBrk="1" hangingPunct="1">
              <a:lnSpc>
                <a:spcPct val="110000"/>
              </a:lnSpc>
            </a:pPr>
            <a:endParaRPr lang="zh-CN" altLang="en-US" sz="2200" dirty="0">
              <a:latin typeface="Times New Roman" panose="02020603050405020304" pitchFamily="18" charset="0"/>
            </a:endParaRPr>
          </a:p>
          <a:p>
            <a:pPr eaLnBrk="1" hangingPunct="1">
              <a:lnSpc>
                <a:spcPct val="110000"/>
              </a:lnSpc>
            </a:pPr>
            <a:r>
              <a:rPr lang="zh-CN" altLang="en-US" sz="2200" dirty="0">
                <a:latin typeface="Times New Roman" panose="02020603050405020304" pitchFamily="18" charset="0"/>
              </a:rPr>
              <a:t>在串行二进制码最后一位</a:t>
            </a:r>
            <a:r>
              <a:rPr lang="en-US" altLang="zh-CN" sz="2200" i="1" dirty="0">
                <a:latin typeface="Times New Roman" panose="02020603050405020304" pitchFamily="18" charset="0"/>
              </a:rPr>
              <a:t>i </a:t>
            </a:r>
            <a:r>
              <a:rPr lang="en-US" altLang="zh-CN" sz="2200" dirty="0">
                <a:latin typeface="Times New Roman" panose="02020603050405020304" pitchFamily="18" charset="0"/>
              </a:rPr>
              <a:t>=</a:t>
            </a:r>
            <a:r>
              <a:rPr lang="en-US" altLang="zh-CN" sz="2200" i="1" dirty="0">
                <a:latin typeface="Times New Roman" panose="02020603050405020304" pitchFamily="18" charset="0"/>
              </a:rPr>
              <a:t>n</a:t>
            </a:r>
            <a:r>
              <a:rPr lang="zh-CN" altLang="en-US" sz="2200" dirty="0">
                <a:latin typeface="Times New Roman" panose="02020603050405020304" pitchFamily="18" charset="0"/>
              </a:rPr>
              <a:t>转换后，电容电压为</a:t>
            </a:r>
            <a:r>
              <a:rPr lang="en-US" altLang="zh-CN" sz="2200" i="1" dirty="0">
                <a:latin typeface="Times New Roman" panose="02020603050405020304" pitchFamily="18" charset="0"/>
              </a:rPr>
              <a:t>U</a:t>
            </a:r>
            <a:r>
              <a:rPr lang="en-US" altLang="zh-CN" sz="2200" i="1" baseline="-25000" dirty="0">
                <a:latin typeface="Times New Roman" panose="02020603050405020304" pitchFamily="18" charset="0"/>
              </a:rPr>
              <a:t>Cn</a:t>
            </a:r>
            <a:r>
              <a:rPr lang="zh-CN" altLang="en-US" sz="2200" dirty="0">
                <a:latin typeface="Times New Roman" panose="02020603050405020304" pitchFamily="18" charset="0"/>
              </a:rPr>
              <a:t>，则：</a:t>
            </a:r>
            <a:endParaRPr lang="zh-CN" altLang="en-US" sz="2200" dirty="0">
              <a:latin typeface="Times New Roman" panose="02020603050405020304" pitchFamily="18" charset="0"/>
            </a:endParaRPr>
          </a:p>
        </p:txBody>
      </p:sp>
      <p:sp>
        <p:nvSpPr>
          <p:cNvPr id="2552841" name="Text Box 9"/>
          <p:cNvSpPr txBox="1"/>
          <p:nvPr/>
        </p:nvSpPr>
        <p:spPr>
          <a:xfrm>
            <a:off x="423863" y="5059363"/>
            <a:ext cx="7358062" cy="460375"/>
          </a:xfrm>
          <a:prstGeom prst="rect">
            <a:avLst/>
          </a:prstGeom>
          <a:solidFill>
            <a:srgbClr val="CCFFFF"/>
          </a:solidFill>
          <a:ln w="9525">
            <a:noFill/>
          </a:ln>
        </p:spPr>
        <p:txBody>
          <a:bodyPr>
            <a:spAutoFit/>
          </a:bodyPr>
          <a:p>
            <a:pPr eaLnBrk="1" hangingPunct="1">
              <a:lnSpc>
                <a:spcPct val="110000"/>
              </a:lnSpc>
              <a:spcBef>
                <a:spcPct val="50000"/>
              </a:spcBef>
            </a:pPr>
            <a:r>
              <a:rPr lang="zh-CN" altLang="en-US" sz="2200" dirty="0">
                <a:latin typeface="Times New Roman" panose="02020603050405020304" pitchFamily="18" charset="0"/>
                <a:ea typeface="黑体" panose="02010609060101010101" pitchFamily="49" charset="-122"/>
              </a:rPr>
              <a:t>例：</a:t>
            </a:r>
            <a:r>
              <a:rPr lang="en-US" altLang="zh-CN" sz="2200" i="1" dirty="0">
                <a:latin typeface="Times New Roman" panose="02020603050405020304" pitchFamily="18" charset="0"/>
                <a:ea typeface="黑体" panose="02010609060101010101" pitchFamily="49" charset="-122"/>
              </a:rPr>
              <a:t>U</a:t>
            </a:r>
            <a:r>
              <a:rPr lang="en-US" altLang="zh-CN" sz="2200" i="1" baseline="-25000" dirty="0">
                <a:latin typeface="Times New Roman" panose="02020603050405020304" pitchFamily="18" charset="0"/>
                <a:ea typeface="黑体" panose="02010609060101010101" pitchFamily="49" charset="-122"/>
              </a:rPr>
              <a:t>REF</a:t>
            </a:r>
            <a:r>
              <a:rPr lang="en-US" altLang="zh-CN" sz="2200" dirty="0">
                <a:latin typeface="Times New Roman" panose="02020603050405020304" pitchFamily="18" charset="0"/>
                <a:ea typeface="黑体" panose="02010609060101010101" pitchFamily="49" charset="-122"/>
              </a:rPr>
              <a:t>=16V</a:t>
            </a:r>
            <a:r>
              <a:rPr lang="zh-CN" altLang="en-US" sz="2200" dirty="0">
                <a:latin typeface="Times New Roman" panose="02020603050405020304" pitchFamily="18" charset="0"/>
                <a:ea typeface="黑体" panose="02010609060101010101" pitchFamily="49" charset="-122"/>
              </a:rPr>
              <a:t>，</a:t>
            </a:r>
            <a:r>
              <a:rPr lang="en-US" altLang="zh-CN" sz="2200" i="1" dirty="0">
                <a:latin typeface="Times New Roman" panose="02020603050405020304" pitchFamily="18" charset="0"/>
                <a:ea typeface="黑体" panose="02010609060101010101" pitchFamily="49" charset="-122"/>
              </a:rPr>
              <a:t>U</a:t>
            </a:r>
            <a:r>
              <a:rPr lang="en-US" altLang="zh-CN" sz="2200" i="1" baseline="-25000" dirty="0">
                <a:latin typeface="Times New Roman" panose="02020603050405020304" pitchFamily="18" charset="0"/>
                <a:ea typeface="黑体" panose="02010609060101010101" pitchFamily="49" charset="-122"/>
              </a:rPr>
              <a:t>C</a:t>
            </a:r>
            <a:r>
              <a:rPr lang="en-US" altLang="zh-CN" sz="2200" baseline="-25000" dirty="0">
                <a:latin typeface="Times New Roman" panose="02020603050405020304" pitchFamily="18" charset="0"/>
                <a:ea typeface="黑体" panose="02010609060101010101" pitchFamily="49" charset="-122"/>
              </a:rPr>
              <a:t>0</a:t>
            </a:r>
            <a:r>
              <a:rPr lang="en-US" altLang="zh-CN" sz="2200" dirty="0">
                <a:latin typeface="Times New Roman" panose="02020603050405020304" pitchFamily="18" charset="0"/>
                <a:ea typeface="黑体" panose="02010609060101010101" pitchFamily="49" charset="-122"/>
              </a:rPr>
              <a:t>=16V</a:t>
            </a:r>
            <a:r>
              <a:rPr lang="zh-CN" altLang="en-US" sz="2200" dirty="0">
                <a:latin typeface="Times New Roman" panose="02020603050405020304" pitchFamily="18" charset="0"/>
                <a:ea typeface="黑体" panose="02010609060101010101" pitchFamily="49" charset="-122"/>
              </a:rPr>
              <a:t>，</a:t>
            </a:r>
            <a:r>
              <a:rPr lang="en-US" altLang="zh-CN" sz="2200" i="1" dirty="0">
                <a:latin typeface="Times New Roman" panose="02020603050405020304" pitchFamily="18" charset="0"/>
                <a:ea typeface="黑体" panose="02010609060101010101" pitchFamily="49" charset="-122"/>
              </a:rPr>
              <a:t>n</a:t>
            </a:r>
            <a:r>
              <a:rPr lang="en-US" altLang="zh-CN" sz="2200" dirty="0">
                <a:latin typeface="Times New Roman" panose="02020603050405020304" pitchFamily="18" charset="0"/>
                <a:ea typeface="黑体" panose="02010609060101010101" pitchFamily="49" charset="-122"/>
              </a:rPr>
              <a:t>=5</a:t>
            </a:r>
            <a:r>
              <a:rPr lang="zh-CN" altLang="en-US" sz="2200" dirty="0">
                <a:latin typeface="Times New Roman" panose="02020603050405020304" pitchFamily="18" charset="0"/>
                <a:ea typeface="黑体" panose="02010609060101010101" pitchFamily="49" charset="-122"/>
              </a:rPr>
              <a:t>，</a:t>
            </a:r>
            <a:r>
              <a:rPr lang="en-US" altLang="zh-CN" sz="2200" i="1" dirty="0">
                <a:latin typeface="Times New Roman" panose="02020603050405020304" pitchFamily="18" charset="0"/>
                <a:ea typeface="黑体" panose="02010609060101010101" pitchFamily="49" charset="-122"/>
              </a:rPr>
              <a:t>Ds</a:t>
            </a:r>
            <a:r>
              <a:rPr lang="en-US" altLang="zh-CN" sz="2200" dirty="0">
                <a:latin typeface="Times New Roman" panose="02020603050405020304" pitchFamily="18" charset="0"/>
                <a:ea typeface="黑体" panose="02010609060101010101" pitchFamily="49" charset="-122"/>
              </a:rPr>
              <a:t>=(11010)</a:t>
            </a:r>
            <a:r>
              <a:rPr lang="en-US" altLang="zh-CN" sz="2200" baseline="-25000" dirty="0">
                <a:latin typeface="Times New Roman" panose="02020603050405020304" pitchFamily="18" charset="0"/>
                <a:ea typeface="黑体" panose="02010609060101010101" pitchFamily="49" charset="-122"/>
              </a:rPr>
              <a:t>2</a:t>
            </a:r>
            <a:r>
              <a:rPr lang="en-US" altLang="zh-CN" sz="2200" dirty="0">
                <a:latin typeface="Times New Roman" panose="02020603050405020304" pitchFamily="18" charset="0"/>
                <a:ea typeface="黑体" panose="02010609060101010101" pitchFamily="49" charset="-122"/>
              </a:rPr>
              <a:t>=(26)</a:t>
            </a:r>
            <a:r>
              <a:rPr lang="en-US" altLang="zh-CN" sz="2200" baseline="-25000" dirty="0">
                <a:latin typeface="Times New Roman" panose="02020603050405020304" pitchFamily="18" charset="0"/>
                <a:ea typeface="黑体" panose="02010609060101010101" pitchFamily="49" charset="-122"/>
              </a:rPr>
              <a:t>10</a:t>
            </a:r>
            <a:r>
              <a:rPr lang="zh-CN" altLang="en-US" sz="2200" dirty="0">
                <a:latin typeface="Times New Roman" panose="02020603050405020304" pitchFamily="18" charset="0"/>
                <a:ea typeface="黑体" panose="02010609060101010101" pitchFamily="49" charset="-122"/>
              </a:rPr>
              <a:t>，则</a:t>
            </a:r>
            <a:r>
              <a:rPr lang="en-US" altLang="zh-CN" sz="2200" dirty="0">
                <a:latin typeface="Times New Roman" panose="02020603050405020304" pitchFamily="18" charset="0"/>
                <a:ea typeface="黑体" panose="02010609060101010101" pitchFamily="49" charset="-122"/>
              </a:rPr>
              <a:t>:</a:t>
            </a:r>
            <a:endParaRPr lang="en-US" altLang="zh-CN" sz="2200" dirty="0">
              <a:solidFill>
                <a:srgbClr val="FF0000"/>
              </a:solidFill>
              <a:latin typeface="黑体" panose="02010609060101010101" pitchFamily="49" charset="-122"/>
              <a:ea typeface="黑体" panose="02010609060101010101" pitchFamily="49" charset="-122"/>
            </a:endParaRPr>
          </a:p>
        </p:txBody>
      </p:sp>
      <p:graphicFrame>
        <p:nvGraphicFramePr>
          <p:cNvPr id="13319" name="Object 4"/>
          <p:cNvGraphicFramePr>
            <a:graphicFrameLocks noGrp="1" noChangeAspect="1"/>
          </p:cNvGraphicFramePr>
          <p:nvPr>
            <p:ph idx="4294967295" hasCustomPrompt="1"/>
          </p:nvPr>
        </p:nvGraphicFramePr>
        <p:xfrm>
          <a:off x="3851275" y="830263"/>
          <a:ext cx="5127625" cy="2143125"/>
        </p:xfrm>
        <a:graphic>
          <a:graphicData uri="http://schemas.openxmlformats.org/presentationml/2006/ole">
            <mc:AlternateContent xmlns:mc="http://schemas.openxmlformats.org/markup-compatibility/2006">
              <mc:Choice xmlns:v="urn:schemas-microsoft-com:vml" Requires="v">
                <p:oleObj spid="_x0000_s3079" name="" r:id="rId1" imgW="4831715" imgH="2026285" progId="Visio.Drawing.11">
                  <p:embed/>
                </p:oleObj>
              </mc:Choice>
              <mc:Fallback>
                <p:oleObj name="" r:id="rId1" imgW="4831715" imgH="2026285" progId="Visio.Drawing.11">
                  <p:embed/>
                  <p:pic>
                    <p:nvPicPr>
                      <p:cNvPr id="0" name="图片 3078"/>
                      <p:cNvPicPr/>
                      <p:nvPr/>
                    </p:nvPicPr>
                    <p:blipFill>
                      <a:blip r:embed="rId2"/>
                      <a:stretch>
                        <a:fillRect/>
                      </a:stretch>
                    </p:blipFill>
                    <p:spPr>
                      <a:xfrm>
                        <a:off x="3851275" y="830263"/>
                        <a:ext cx="5127625" cy="2143125"/>
                      </a:xfrm>
                      <a:prstGeom prst="rect">
                        <a:avLst/>
                      </a:prstGeom>
                      <a:noFill/>
                      <a:ln w="38100">
                        <a:noFill/>
                        <a:miter/>
                      </a:ln>
                    </p:spPr>
                  </p:pic>
                </p:oleObj>
              </mc:Fallback>
            </mc:AlternateContent>
          </a:graphicData>
        </a:graphic>
      </p:graphicFrame>
      <p:graphicFrame>
        <p:nvGraphicFramePr>
          <p:cNvPr id="2552839" name="Object 7"/>
          <p:cNvGraphicFramePr>
            <a:graphicFrameLocks noChangeAspect="1"/>
          </p:cNvGraphicFramePr>
          <p:nvPr/>
        </p:nvGraphicFramePr>
        <p:xfrm>
          <a:off x="4103688" y="3213100"/>
          <a:ext cx="2994025" cy="654050"/>
        </p:xfrm>
        <a:graphic>
          <a:graphicData uri="http://schemas.openxmlformats.org/presentationml/2006/ole">
            <mc:AlternateContent xmlns:mc="http://schemas.openxmlformats.org/markup-compatibility/2006">
              <mc:Choice xmlns:v="urn:schemas-microsoft-com:vml" Requires="v">
                <p:oleObj spid="_x0000_s3077" name="" r:id="rId3" imgW="1548765" imgH="393700" progId="Equation.DSMT4">
                  <p:embed/>
                </p:oleObj>
              </mc:Choice>
              <mc:Fallback>
                <p:oleObj name="" r:id="rId3" imgW="1548765" imgH="393700" progId="Equation.DSMT4">
                  <p:embed/>
                  <p:pic>
                    <p:nvPicPr>
                      <p:cNvPr id="0" name="图片 3076"/>
                      <p:cNvPicPr/>
                      <p:nvPr/>
                    </p:nvPicPr>
                    <p:blipFill>
                      <a:blip r:embed="rId4"/>
                      <a:stretch>
                        <a:fillRect/>
                      </a:stretch>
                    </p:blipFill>
                    <p:spPr>
                      <a:xfrm>
                        <a:off x="4103688" y="3213100"/>
                        <a:ext cx="2994025" cy="654050"/>
                      </a:xfrm>
                      <a:prstGeom prst="rect">
                        <a:avLst/>
                      </a:prstGeom>
                      <a:solidFill>
                        <a:srgbClr val="CCFFCC"/>
                      </a:solidFill>
                      <a:ln w="38100">
                        <a:noFill/>
                        <a:miter/>
                      </a:ln>
                    </p:spPr>
                  </p:pic>
                </p:oleObj>
              </mc:Fallback>
            </mc:AlternateContent>
          </a:graphicData>
        </a:graphic>
      </p:graphicFrame>
      <p:graphicFrame>
        <p:nvGraphicFramePr>
          <p:cNvPr id="2552847" name="Object 15"/>
          <p:cNvGraphicFramePr>
            <a:graphicFrameLocks noChangeAspect="1"/>
          </p:cNvGraphicFramePr>
          <p:nvPr/>
        </p:nvGraphicFramePr>
        <p:xfrm>
          <a:off x="2924175" y="4291013"/>
          <a:ext cx="2257425" cy="654050"/>
        </p:xfrm>
        <a:graphic>
          <a:graphicData uri="http://schemas.openxmlformats.org/presentationml/2006/ole">
            <mc:AlternateContent xmlns:mc="http://schemas.openxmlformats.org/markup-compatibility/2006">
              <mc:Choice xmlns:v="urn:schemas-microsoft-com:vml" Requires="v">
                <p:oleObj spid="_x0000_s3076" name="" r:id="rId5" imgW="1167765" imgH="393700" progId="Equation.DSMT4">
                  <p:embed/>
                </p:oleObj>
              </mc:Choice>
              <mc:Fallback>
                <p:oleObj name="" r:id="rId5" imgW="1167765" imgH="393700" progId="Equation.DSMT4">
                  <p:embed/>
                  <p:pic>
                    <p:nvPicPr>
                      <p:cNvPr id="0" name="图片 3075"/>
                      <p:cNvPicPr/>
                      <p:nvPr/>
                    </p:nvPicPr>
                    <p:blipFill>
                      <a:blip r:embed="rId6"/>
                      <a:stretch>
                        <a:fillRect/>
                      </a:stretch>
                    </p:blipFill>
                    <p:spPr>
                      <a:xfrm>
                        <a:off x="2924175" y="4291013"/>
                        <a:ext cx="2257425" cy="654050"/>
                      </a:xfrm>
                      <a:prstGeom prst="rect">
                        <a:avLst/>
                      </a:prstGeom>
                      <a:solidFill>
                        <a:srgbClr val="CCFFCC"/>
                      </a:solidFill>
                      <a:ln w="38100">
                        <a:noFill/>
                        <a:miter/>
                      </a:ln>
                    </p:spPr>
                  </p:pic>
                </p:oleObj>
              </mc:Fallback>
            </mc:AlternateContent>
          </a:graphicData>
        </a:graphic>
      </p:graphicFrame>
      <p:graphicFrame>
        <p:nvGraphicFramePr>
          <p:cNvPr id="2552848" name="Object 16"/>
          <p:cNvGraphicFramePr>
            <a:graphicFrameLocks noChangeAspect="1"/>
          </p:cNvGraphicFramePr>
          <p:nvPr/>
        </p:nvGraphicFramePr>
        <p:xfrm>
          <a:off x="2201863" y="5583238"/>
          <a:ext cx="3803650" cy="654050"/>
        </p:xfrm>
        <a:graphic>
          <a:graphicData uri="http://schemas.openxmlformats.org/presentationml/2006/ole">
            <mc:AlternateContent xmlns:mc="http://schemas.openxmlformats.org/markup-compatibility/2006">
              <mc:Choice xmlns:v="urn:schemas-microsoft-com:vml" Requires="v">
                <p:oleObj spid="_x0000_s3078" name="" r:id="rId7" imgW="1968500" imgH="393700" progId="Equation.DSMT4">
                  <p:embed/>
                </p:oleObj>
              </mc:Choice>
              <mc:Fallback>
                <p:oleObj name="" r:id="rId7" imgW="1968500" imgH="393700" progId="Equation.DSMT4">
                  <p:embed/>
                  <p:pic>
                    <p:nvPicPr>
                      <p:cNvPr id="0" name="图片 3077"/>
                      <p:cNvPicPr/>
                      <p:nvPr/>
                    </p:nvPicPr>
                    <p:blipFill>
                      <a:blip r:embed="rId8"/>
                      <a:stretch>
                        <a:fillRect/>
                      </a:stretch>
                    </p:blipFill>
                    <p:spPr>
                      <a:xfrm>
                        <a:off x="2201863" y="5583238"/>
                        <a:ext cx="3803650" cy="654050"/>
                      </a:xfrm>
                      <a:prstGeom prst="rect">
                        <a:avLst/>
                      </a:prstGeom>
                      <a:solidFill>
                        <a:srgbClr val="CCFFCC"/>
                      </a:solidFill>
                      <a:ln w="38100">
                        <a:noFill/>
                        <a:miter/>
                      </a:ln>
                    </p:spPr>
                  </p:pic>
                </p:oleObj>
              </mc:Fallback>
            </mc:AlternateContent>
          </a:graphicData>
        </a:graphic>
      </p:graphicFrame>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52837"/>
                                        </p:tgtEl>
                                        <p:attrNameLst>
                                          <p:attrName>style.visibility</p:attrName>
                                        </p:attrNameLst>
                                      </p:cBhvr>
                                      <p:to>
                                        <p:strVal val="visible"/>
                                      </p:to>
                                    </p:set>
                                    <p:animEffect transition="in" filter="dissolve">
                                      <p:cBhvr>
                                        <p:cTn id="7" dur="500"/>
                                        <p:tgtEl>
                                          <p:spTgt spid="255283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52838"/>
                                        </p:tgtEl>
                                        <p:attrNameLst>
                                          <p:attrName>style.visibility</p:attrName>
                                        </p:attrNameLst>
                                      </p:cBhvr>
                                      <p:to>
                                        <p:strVal val="visible"/>
                                      </p:to>
                                    </p:set>
                                    <p:animEffect transition="in" filter="dissolve">
                                      <p:cBhvr>
                                        <p:cTn id="12" dur="500"/>
                                        <p:tgtEl>
                                          <p:spTgt spid="255283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52840"/>
                                        </p:tgtEl>
                                        <p:attrNameLst>
                                          <p:attrName>style.visibility</p:attrName>
                                        </p:attrNameLst>
                                      </p:cBhvr>
                                      <p:to>
                                        <p:strVal val="visible"/>
                                      </p:to>
                                    </p:set>
                                    <p:animEffect transition="in" filter="dissolve">
                                      <p:cBhvr>
                                        <p:cTn id="17" dur="500"/>
                                        <p:tgtEl>
                                          <p:spTgt spid="2552840"/>
                                        </p:tgtEl>
                                      </p:cBhvr>
                                    </p:animEffect>
                                  </p:childTnLst>
                                </p:cTn>
                              </p:par>
                              <p:par>
                                <p:cTn id="18" presetID="9" presetClass="entr" presetSubtype="0" fill="hold" nodeType="withEffect">
                                  <p:stCondLst>
                                    <p:cond delay="0"/>
                                  </p:stCondLst>
                                  <p:childTnLst>
                                    <p:set>
                                      <p:cBhvr>
                                        <p:cTn id="19" dur="1" fill="hold">
                                          <p:stCondLst>
                                            <p:cond delay="0"/>
                                          </p:stCondLst>
                                        </p:cTn>
                                        <p:tgtEl>
                                          <p:spTgt spid="2552839"/>
                                        </p:tgtEl>
                                        <p:attrNameLst>
                                          <p:attrName>style.visibility</p:attrName>
                                        </p:attrNameLst>
                                      </p:cBhvr>
                                      <p:to>
                                        <p:strVal val="visible"/>
                                      </p:to>
                                    </p:set>
                                    <p:animEffect transition="in" filter="dissolve">
                                      <p:cBhvr>
                                        <p:cTn id="20" dur="500"/>
                                        <p:tgtEl>
                                          <p:spTgt spid="2552839"/>
                                        </p:tgtEl>
                                      </p:cBhvr>
                                    </p:animEffect>
                                  </p:childTnLst>
                                </p:cTn>
                              </p:par>
                              <p:par>
                                <p:cTn id="21" presetID="9" presetClass="entr" presetSubtype="0" fill="hold" nodeType="withEffect">
                                  <p:stCondLst>
                                    <p:cond delay="0"/>
                                  </p:stCondLst>
                                  <p:childTnLst>
                                    <p:set>
                                      <p:cBhvr>
                                        <p:cTn id="22" dur="1" fill="hold">
                                          <p:stCondLst>
                                            <p:cond delay="0"/>
                                          </p:stCondLst>
                                        </p:cTn>
                                        <p:tgtEl>
                                          <p:spTgt spid="2552847"/>
                                        </p:tgtEl>
                                        <p:attrNameLst>
                                          <p:attrName>style.visibility</p:attrName>
                                        </p:attrNameLst>
                                      </p:cBhvr>
                                      <p:to>
                                        <p:strVal val="visible"/>
                                      </p:to>
                                    </p:set>
                                    <p:animEffect transition="in" filter="dissolve">
                                      <p:cBhvr>
                                        <p:cTn id="23" dur="500"/>
                                        <p:tgtEl>
                                          <p:spTgt spid="255284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552841"/>
                                        </p:tgtEl>
                                        <p:attrNameLst>
                                          <p:attrName>style.visibility</p:attrName>
                                        </p:attrNameLst>
                                      </p:cBhvr>
                                      <p:to>
                                        <p:strVal val="visible"/>
                                      </p:to>
                                    </p:set>
                                    <p:animEffect transition="in" filter="dissolve">
                                      <p:cBhvr>
                                        <p:cTn id="28" dur="500"/>
                                        <p:tgtEl>
                                          <p:spTgt spid="255284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552848"/>
                                        </p:tgtEl>
                                        <p:attrNameLst>
                                          <p:attrName>style.visibility</p:attrName>
                                        </p:attrNameLst>
                                      </p:cBhvr>
                                      <p:to>
                                        <p:strVal val="visible"/>
                                      </p:to>
                                    </p:set>
                                    <p:animEffect transition="in" filter="dissolve">
                                      <p:cBhvr>
                                        <p:cTn id="33" dur="500"/>
                                        <p:tgtEl>
                                          <p:spTgt spid="25528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2837" grpId="0" bldLvl="0" animBg="1"/>
      <p:bldP spid="2552838" grpId="0"/>
      <p:bldP spid="2552840" grpId="0"/>
      <p:bldP spid="2552841" grpId="0" bldLvl="0" animBg="1"/>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42242" name="Text Box 2"/>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42243" name="Rectangle 3"/>
          <p:cNvSpPr/>
          <p:nvPr/>
        </p:nvSpPr>
        <p:spPr>
          <a:xfrm>
            <a:off x="454025" y="830263"/>
            <a:ext cx="4797425"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转换器的基本组成</a:t>
            </a:r>
            <a:endParaRPr lang="zh-CN" altLang="en-US" sz="3200" dirty="0">
              <a:latin typeface="Times New Roman" panose="02020603050405020304" pitchFamily="18" charset="0"/>
            </a:endParaRPr>
          </a:p>
        </p:txBody>
      </p:sp>
      <p:sp>
        <p:nvSpPr>
          <p:cNvPr id="2442305" name="Text Box 65"/>
          <p:cNvSpPr txBox="1"/>
          <p:nvPr/>
        </p:nvSpPr>
        <p:spPr>
          <a:xfrm>
            <a:off x="454025" y="1498600"/>
            <a:ext cx="2800350" cy="476250"/>
          </a:xfrm>
          <a:prstGeom prst="rect">
            <a:avLst/>
          </a:prstGeom>
          <a:noFill/>
          <a:ln w="9525">
            <a:noFill/>
          </a:ln>
        </p:spPr>
        <p:txBody>
          <a:bodyPr>
            <a:spAutoFit/>
          </a:bodyPr>
          <a:p>
            <a:pPr marL="625475" indent="-62547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ea typeface="黑体" panose="02010609060101010101" pitchFamily="49" charset="-122"/>
              </a:rPr>
              <a:t>电阻网络</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42306" name="Text Box 66"/>
          <p:cNvSpPr txBox="1"/>
          <p:nvPr/>
        </p:nvSpPr>
        <p:spPr>
          <a:xfrm>
            <a:off x="454025" y="3384550"/>
            <a:ext cx="2800350" cy="476250"/>
          </a:xfrm>
          <a:prstGeom prst="rect">
            <a:avLst/>
          </a:prstGeom>
          <a:noFill/>
          <a:ln w="9525">
            <a:noFill/>
          </a:ln>
        </p:spPr>
        <p:txBody>
          <a:bodyPr>
            <a:spAutoFit/>
          </a:bodyPr>
          <a:p>
            <a:pPr marL="625475" indent="-62547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ea typeface="黑体" panose="02010609060101010101" pitchFamily="49" charset="-122"/>
              </a:rPr>
              <a:t>基准电源</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42363" name="Text Box 123"/>
          <p:cNvSpPr txBox="1"/>
          <p:nvPr/>
        </p:nvSpPr>
        <p:spPr>
          <a:xfrm>
            <a:off x="1079500" y="2017713"/>
            <a:ext cx="7056438" cy="1260475"/>
          </a:xfrm>
          <a:prstGeom prst="rect">
            <a:avLst/>
          </a:prstGeom>
          <a:noFill/>
          <a:ln w="9525">
            <a:noFill/>
          </a:ln>
        </p:spPr>
        <p:txBody>
          <a:bodyPr>
            <a:spAutoFit/>
          </a:bodyPr>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转换器的精度直接与电阻的精度有关。</a:t>
            </a:r>
            <a:endParaRPr lang="zh-CN" altLang="en-US" sz="2400" dirty="0">
              <a:latin typeface="Times New Roman" panose="02020603050405020304" pitchFamily="18" charset="0"/>
            </a:endParaRPr>
          </a:p>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在某些</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转换网络中，转换精度只决定于电阻的比值，与电阻的绝对值关系不大。</a:t>
            </a:r>
            <a:endParaRPr lang="zh-CN" altLang="en-US" sz="2400" dirty="0">
              <a:latin typeface="Times New Roman" panose="02020603050405020304" pitchFamily="18" charset="0"/>
            </a:endParaRPr>
          </a:p>
        </p:txBody>
      </p:sp>
      <p:grpSp>
        <p:nvGrpSpPr>
          <p:cNvPr id="2442366" name="Group 126"/>
          <p:cNvGrpSpPr/>
          <p:nvPr/>
        </p:nvGrpSpPr>
        <p:grpSpPr>
          <a:xfrm>
            <a:off x="6264275" y="703263"/>
            <a:ext cx="2735263" cy="1590675"/>
            <a:chOff x="3946" y="443"/>
            <a:chExt cx="1723" cy="1002"/>
          </a:xfrm>
        </p:grpSpPr>
        <p:sp>
          <p:nvSpPr>
            <p:cNvPr id="14345" name="AutoShape 124"/>
            <p:cNvSpPr/>
            <p:nvPr/>
          </p:nvSpPr>
          <p:spPr>
            <a:xfrm>
              <a:off x="3946" y="443"/>
              <a:ext cx="1678" cy="1002"/>
            </a:xfrm>
            <a:prstGeom prst="wedgeRoundRectCallout">
              <a:avLst>
                <a:gd name="adj1" fmla="val -43208"/>
                <a:gd name="adj2" fmla="val 64769"/>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14346" name="Text Box 125"/>
            <p:cNvSpPr txBox="1"/>
            <p:nvPr/>
          </p:nvSpPr>
          <p:spPr>
            <a:xfrm>
              <a:off x="3991" y="482"/>
              <a:ext cx="1678" cy="923"/>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tx1"/>
                  </a:solidFill>
                  <a:latin typeface="Times New Roman" panose="02020603050405020304" pitchFamily="18" charset="0"/>
                  <a:ea typeface="黑体" panose="02010609060101010101" pitchFamily="49" charset="-122"/>
                </a:rPr>
                <a:t>在某段时间里或环境条件变化的情况下，保持电阻比值的恒定比保持电阻本身数值的恒定要容易得多。</a:t>
              </a:r>
              <a:endParaRPr lang="zh-CN" altLang="en-US" sz="2000" dirty="0">
                <a:solidFill>
                  <a:schemeClr val="tx1"/>
                </a:solidFill>
                <a:latin typeface="Times New Roman" panose="02020603050405020304" pitchFamily="18" charset="0"/>
                <a:ea typeface="黑体" panose="02010609060101010101" pitchFamily="49" charset="-122"/>
              </a:endParaRPr>
            </a:p>
          </p:txBody>
        </p:sp>
      </p:grpSp>
      <p:sp>
        <p:nvSpPr>
          <p:cNvPr id="2442367" name="Text Box 127"/>
          <p:cNvSpPr txBox="1"/>
          <p:nvPr/>
        </p:nvSpPr>
        <p:spPr>
          <a:xfrm>
            <a:off x="1079500" y="3921125"/>
            <a:ext cx="7380288" cy="2100263"/>
          </a:xfrm>
          <a:prstGeom prst="rect">
            <a:avLst/>
          </a:prstGeom>
          <a:noFill/>
          <a:ln w="9525">
            <a:noFill/>
          </a:ln>
        </p:spPr>
        <p:txBody>
          <a:bodyPr>
            <a:spAutoFit/>
          </a:bodyPr>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基准电源的精度直接影响</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转换器的精度。</a:t>
            </a:r>
            <a:endParaRPr lang="zh-CN" altLang="en-US" sz="2400" dirty="0">
              <a:latin typeface="Times New Roman" panose="02020603050405020304" pitchFamily="18" charset="0"/>
            </a:endParaRPr>
          </a:p>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如果要求</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转换器精确到满量程的</a:t>
            </a:r>
            <a:r>
              <a:rPr lang="en-US" altLang="zh-CN" sz="2400" dirty="0">
                <a:latin typeface="Times New Roman" panose="02020603050405020304" pitchFamily="18" charset="0"/>
              </a:rPr>
              <a:t>±0.05%</a:t>
            </a:r>
            <a:r>
              <a:rPr lang="zh-CN" altLang="en-US" sz="2400" dirty="0">
                <a:latin typeface="Times New Roman" panose="02020603050405020304" pitchFamily="18" charset="0"/>
              </a:rPr>
              <a:t>，则基准电源精度至少要满足</a:t>
            </a:r>
            <a:r>
              <a:rPr lang="en-US" altLang="zh-CN" sz="2400" dirty="0">
                <a:latin typeface="Times New Roman" panose="02020603050405020304" pitchFamily="18" charset="0"/>
              </a:rPr>
              <a:t>± 0.01%</a:t>
            </a:r>
            <a:r>
              <a:rPr lang="zh-CN" altLang="en-US" sz="2400" dirty="0">
                <a:latin typeface="Times New Roman" panose="02020603050405020304" pitchFamily="18" charset="0"/>
              </a:rPr>
              <a:t>的要求。</a:t>
            </a:r>
            <a:endParaRPr lang="zh-CN" altLang="en-US" sz="2400" dirty="0">
              <a:latin typeface="Times New Roman" panose="02020603050405020304" pitchFamily="18" charset="0"/>
            </a:endParaRPr>
          </a:p>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基准电源要求噪声低、纹波小、内阻低。有时还要求有一定的负载能力。</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42243"/>
                                        </p:tgtEl>
                                        <p:attrNameLst>
                                          <p:attrName>style.visibility</p:attrName>
                                        </p:attrNameLst>
                                      </p:cBhvr>
                                      <p:to>
                                        <p:strVal val="visible"/>
                                      </p:to>
                                    </p:set>
                                    <p:animEffect transition="in" filter="dissolve">
                                      <p:cBhvr>
                                        <p:cTn id="7" dur="500"/>
                                        <p:tgtEl>
                                          <p:spTgt spid="244224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42305"/>
                                        </p:tgtEl>
                                        <p:attrNameLst>
                                          <p:attrName>style.visibility</p:attrName>
                                        </p:attrNameLst>
                                      </p:cBhvr>
                                      <p:to>
                                        <p:strVal val="visible"/>
                                      </p:to>
                                    </p:set>
                                    <p:animEffect transition="in" filter="dissolve">
                                      <p:cBhvr>
                                        <p:cTn id="12" dur="500"/>
                                        <p:tgtEl>
                                          <p:spTgt spid="2442305"/>
                                        </p:tgtEl>
                                      </p:cBhvr>
                                    </p:animEffect>
                                  </p:childTnLst>
                                </p:cTn>
                              </p:par>
                              <p:par>
                                <p:cTn id="13" presetID="9" presetClass="entr" presetSubtype="0" fill="hold" nodeType="withEffect">
                                  <p:stCondLst>
                                    <p:cond delay="0"/>
                                  </p:stCondLst>
                                  <p:childTnLst>
                                    <p:set>
                                      <p:cBhvr>
                                        <p:cTn id="14" dur="1" fill="hold">
                                          <p:stCondLst>
                                            <p:cond delay="0"/>
                                          </p:stCondLst>
                                        </p:cTn>
                                        <p:tgtEl>
                                          <p:spTgt spid="2442363">
                                            <p:txEl>
                                              <p:charRg st="0" end="18"/>
                                            </p:txEl>
                                          </p:spTgt>
                                        </p:tgtEl>
                                        <p:attrNameLst>
                                          <p:attrName>style.visibility</p:attrName>
                                        </p:attrNameLst>
                                      </p:cBhvr>
                                      <p:to>
                                        <p:strVal val="visible"/>
                                      </p:to>
                                    </p:set>
                                    <p:animEffect transition="in" filter="dissolve">
                                      <p:cBhvr>
                                        <p:cTn id="15" dur="500"/>
                                        <p:tgtEl>
                                          <p:spTgt spid="2442363">
                                            <p:txEl>
                                              <p:charRg st="0" end="18"/>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442363">
                                            <p:txEl>
                                              <p:charRg st="18" end="57"/>
                                            </p:txEl>
                                          </p:spTgt>
                                        </p:tgtEl>
                                        <p:attrNameLst>
                                          <p:attrName>style.visibility</p:attrName>
                                        </p:attrNameLst>
                                      </p:cBhvr>
                                      <p:to>
                                        <p:strVal val="visible"/>
                                      </p:to>
                                    </p:set>
                                    <p:animEffect transition="in" filter="dissolve">
                                      <p:cBhvr>
                                        <p:cTn id="18" dur="500"/>
                                        <p:tgtEl>
                                          <p:spTgt spid="2442363">
                                            <p:txEl>
                                              <p:charRg st="18" end="57"/>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442366"/>
                                        </p:tgtEl>
                                        <p:attrNameLst>
                                          <p:attrName>style.visibility</p:attrName>
                                        </p:attrNameLst>
                                      </p:cBhvr>
                                      <p:to>
                                        <p:strVal val="visible"/>
                                      </p:to>
                                    </p:set>
                                    <p:animEffect transition="in" filter="dissolve">
                                      <p:cBhvr>
                                        <p:cTn id="23" dur="500"/>
                                        <p:tgtEl>
                                          <p:spTgt spid="244236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442306"/>
                                        </p:tgtEl>
                                        <p:attrNameLst>
                                          <p:attrName>style.visibility</p:attrName>
                                        </p:attrNameLst>
                                      </p:cBhvr>
                                      <p:to>
                                        <p:strVal val="visible"/>
                                      </p:to>
                                    </p:set>
                                    <p:animEffect transition="in" filter="dissolve">
                                      <p:cBhvr>
                                        <p:cTn id="28" dur="500"/>
                                        <p:tgtEl>
                                          <p:spTgt spid="2442306"/>
                                        </p:tgtEl>
                                      </p:cBhvr>
                                    </p:animEffect>
                                  </p:childTnLst>
                                </p:cTn>
                              </p:par>
                              <p:par>
                                <p:cTn id="29" presetID="9" presetClass="entr" presetSubtype="0" fill="hold" nodeType="withEffect">
                                  <p:stCondLst>
                                    <p:cond delay="0"/>
                                  </p:stCondLst>
                                  <p:childTnLst>
                                    <p:set>
                                      <p:cBhvr>
                                        <p:cTn id="30" dur="1" fill="hold">
                                          <p:stCondLst>
                                            <p:cond delay="0"/>
                                          </p:stCondLst>
                                        </p:cTn>
                                        <p:tgtEl>
                                          <p:spTgt spid="2442367">
                                            <p:txEl>
                                              <p:charRg st="0" end="22"/>
                                            </p:txEl>
                                          </p:spTgt>
                                        </p:tgtEl>
                                        <p:attrNameLst>
                                          <p:attrName>style.visibility</p:attrName>
                                        </p:attrNameLst>
                                      </p:cBhvr>
                                      <p:to>
                                        <p:strVal val="visible"/>
                                      </p:to>
                                    </p:set>
                                    <p:animEffect transition="in" filter="dissolve">
                                      <p:cBhvr>
                                        <p:cTn id="31" dur="500"/>
                                        <p:tgtEl>
                                          <p:spTgt spid="2442367">
                                            <p:txEl>
                                              <p:charRg st="0" end="22"/>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2442367">
                                            <p:txEl>
                                              <p:charRg st="22" end="70"/>
                                            </p:txEl>
                                          </p:spTgt>
                                        </p:tgtEl>
                                        <p:attrNameLst>
                                          <p:attrName>style.visibility</p:attrName>
                                        </p:attrNameLst>
                                      </p:cBhvr>
                                      <p:to>
                                        <p:strVal val="visible"/>
                                      </p:to>
                                    </p:set>
                                    <p:animEffect transition="in" filter="dissolve">
                                      <p:cBhvr>
                                        <p:cTn id="34" dur="500"/>
                                        <p:tgtEl>
                                          <p:spTgt spid="2442367">
                                            <p:txEl>
                                              <p:charRg st="22" end="70"/>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2442367">
                                            <p:txEl>
                                              <p:charRg st="70" end="103"/>
                                            </p:txEl>
                                          </p:spTgt>
                                        </p:tgtEl>
                                        <p:attrNameLst>
                                          <p:attrName>style.visibility</p:attrName>
                                        </p:attrNameLst>
                                      </p:cBhvr>
                                      <p:to>
                                        <p:strVal val="visible"/>
                                      </p:to>
                                    </p:set>
                                    <p:animEffect transition="in" filter="dissolve">
                                      <p:cBhvr>
                                        <p:cTn id="37" dur="500"/>
                                        <p:tgtEl>
                                          <p:spTgt spid="2442367">
                                            <p:txEl>
                                              <p:charRg st="70" end="10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2243" grpId="0" bldLvl="0" animBg="1"/>
      <p:bldP spid="2442305" grpId="0"/>
      <p:bldP spid="2442306"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44290" name="Text Box 2"/>
          <p:cNvSpPr txBox="1">
            <a:spLocks noChangeArrowheads="1"/>
          </p:cNvSpPr>
          <p:nvPr/>
        </p:nvSpPr>
        <p:spPr bwMode="auto">
          <a:xfrm>
            <a:off x="1519238" y="49213"/>
            <a:ext cx="647700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7.1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转换器的分类和组成</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16387" name="Rectangle 3"/>
          <p:cNvSpPr/>
          <p:nvPr/>
        </p:nvSpPr>
        <p:spPr>
          <a:xfrm>
            <a:off x="454025" y="728663"/>
            <a:ext cx="4797425"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转换器的基本组成</a:t>
            </a:r>
            <a:endParaRPr lang="zh-CN" altLang="en-US" sz="3200" dirty="0">
              <a:latin typeface="Times New Roman" panose="02020603050405020304" pitchFamily="18" charset="0"/>
            </a:endParaRPr>
          </a:p>
        </p:txBody>
      </p:sp>
      <p:sp>
        <p:nvSpPr>
          <p:cNvPr id="2444294" name="Text Box 6"/>
          <p:cNvSpPr txBox="1"/>
          <p:nvPr/>
        </p:nvSpPr>
        <p:spPr>
          <a:xfrm>
            <a:off x="454025" y="1382713"/>
            <a:ext cx="3197225" cy="476250"/>
          </a:xfrm>
          <a:prstGeom prst="rect">
            <a:avLst/>
          </a:prstGeom>
          <a:noFill/>
          <a:ln w="9525">
            <a:noFill/>
          </a:ln>
        </p:spPr>
        <p:txBody>
          <a:bodyPr>
            <a:spAutoFit/>
          </a:bodyPr>
          <a:p>
            <a:pPr marL="625475" indent="-62547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ea typeface="黑体" panose="02010609060101010101" pitchFamily="49" charset="-122"/>
              </a:rPr>
              <a:t>模拟切换开关</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44295" name="Text Box 7"/>
          <p:cNvSpPr txBox="1"/>
          <p:nvPr/>
        </p:nvSpPr>
        <p:spPr>
          <a:xfrm>
            <a:off x="454025" y="3435350"/>
            <a:ext cx="2649538" cy="476250"/>
          </a:xfrm>
          <a:prstGeom prst="rect">
            <a:avLst/>
          </a:prstGeom>
          <a:noFill/>
          <a:ln w="9525">
            <a:noFill/>
          </a:ln>
        </p:spPr>
        <p:txBody>
          <a:bodyPr>
            <a:spAutoFit/>
          </a:bodyPr>
          <a:p>
            <a:pPr marL="625475" indent="-62547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ea typeface="黑体" panose="02010609060101010101" pitchFamily="49" charset="-122"/>
              </a:rPr>
              <a:t>运算放大器</a:t>
            </a:r>
            <a:endParaRPr lang="zh-CN" altLang="en-US" sz="2800" dirty="0">
              <a:solidFill>
                <a:srgbClr val="FF0000"/>
              </a:solidFill>
              <a:latin typeface="Times New Roman" panose="02020603050405020304" pitchFamily="18" charset="0"/>
              <a:ea typeface="黑体" panose="02010609060101010101" pitchFamily="49" charset="-122"/>
            </a:endParaRPr>
          </a:p>
        </p:txBody>
      </p:sp>
      <p:sp>
        <p:nvSpPr>
          <p:cNvPr id="2444301" name="Text Box 13"/>
          <p:cNvSpPr txBox="1"/>
          <p:nvPr/>
        </p:nvSpPr>
        <p:spPr>
          <a:xfrm>
            <a:off x="1079500" y="1851025"/>
            <a:ext cx="7056438" cy="1589088"/>
          </a:xfrm>
          <a:prstGeom prst="rect">
            <a:avLst/>
          </a:prstGeom>
          <a:noFill/>
          <a:ln w="9525">
            <a:noFill/>
          </a:ln>
        </p:spPr>
        <p:txBody>
          <a:bodyPr>
            <a:spAutoFit/>
          </a:bodyPr>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要求断开时电阻无限大，导通时电阻非常小，即要求很高的电阻断通比值。</a:t>
            </a:r>
            <a:endParaRPr lang="zh-CN" altLang="en-US" sz="2400" dirty="0">
              <a:latin typeface="Times New Roman" panose="02020603050405020304" pitchFamily="18" charset="0"/>
            </a:endParaRPr>
          </a:p>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力求减小开关的饱和压降、泄漏电流以及导通电阻对网络输出电压的影响。</a:t>
            </a:r>
            <a:endParaRPr lang="zh-CN" altLang="en-US" sz="2400" dirty="0">
              <a:latin typeface="Times New Roman" panose="02020603050405020304" pitchFamily="18" charset="0"/>
            </a:endParaRPr>
          </a:p>
        </p:txBody>
      </p:sp>
      <p:sp>
        <p:nvSpPr>
          <p:cNvPr id="2444302" name="Text Box 14"/>
          <p:cNvSpPr txBox="1"/>
          <p:nvPr/>
        </p:nvSpPr>
        <p:spPr>
          <a:xfrm>
            <a:off x="1079500" y="3903663"/>
            <a:ext cx="7056438" cy="2246312"/>
          </a:xfrm>
          <a:prstGeom prst="rect">
            <a:avLst/>
          </a:prstGeom>
          <a:noFill/>
          <a:ln w="9525">
            <a:noFill/>
          </a:ln>
        </p:spPr>
        <p:txBody>
          <a:bodyPr>
            <a:spAutoFit/>
          </a:bodyPr>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运算放大器的作用：一个是对网络中各支路电流进行求和；另一个是为</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转换器提供一个阻抗低、负载能力强的输出。</a:t>
            </a:r>
            <a:endParaRPr lang="zh-CN" altLang="en-US" sz="2400" dirty="0">
              <a:latin typeface="Times New Roman" panose="02020603050405020304" pitchFamily="18" charset="0"/>
            </a:endParaRPr>
          </a:p>
          <a:p>
            <a:pPr marL="355600" indent="-355600" eaLnBrk="1" hangingPunct="1">
              <a:lnSpc>
                <a:spcPct val="90000"/>
              </a:lnSpc>
              <a:spcBef>
                <a:spcPct val="50000"/>
              </a:spcBef>
              <a:buFont typeface="Wingdings" panose="05000000000000000000" pitchFamily="2" charset="2"/>
              <a:buChar char="Ø"/>
            </a:pPr>
            <a:r>
              <a:rPr lang="zh-CN" altLang="en-US" sz="2400" dirty="0">
                <a:latin typeface="Times New Roman" panose="02020603050405020304" pitchFamily="18" charset="0"/>
              </a:rPr>
              <a:t>如果要求</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转换器精确到满量程的</a:t>
            </a:r>
            <a:r>
              <a:rPr lang="en-US" altLang="zh-CN" sz="2400" dirty="0">
                <a:latin typeface="Times New Roman" panose="02020603050405020304" pitchFamily="18" charset="0"/>
              </a:rPr>
              <a:t>±0.05%</a:t>
            </a:r>
            <a:r>
              <a:rPr lang="zh-CN" altLang="en-US" sz="2400" dirty="0">
                <a:latin typeface="Times New Roman" panose="02020603050405020304" pitchFamily="18" charset="0"/>
              </a:rPr>
              <a:t>， 则要求运放本身的电压输出至少稳定在满量程的</a:t>
            </a:r>
            <a:r>
              <a:rPr lang="en-US" altLang="zh-CN" sz="2400" dirty="0">
                <a:latin typeface="Times New Roman" panose="02020603050405020304" pitchFamily="18" charset="0"/>
              </a:rPr>
              <a:t>± 0.01%</a:t>
            </a:r>
            <a:r>
              <a:rPr lang="zh-CN" altLang="en-US" sz="2400" dirty="0">
                <a:latin typeface="Times New Roman" panose="02020603050405020304" pitchFamily="18" charset="0"/>
              </a:rPr>
              <a:t>以内。</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44294"/>
                                        </p:tgtEl>
                                        <p:attrNameLst>
                                          <p:attrName>style.visibility</p:attrName>
                                        </p:attrNameLst>
                                      </p:cBhvr>
                                      <p:to>
                                        <p:strVal val="visible"/>
                                      </p:to>
                                    </p:set>
                                    <p:animEffect transition="in" filter="dissolve">
                                      <p:cBhvr>
                                        <p:cTn id="7" dur="500"/>
                                        <p:tgtEl>
                                          <p:spTgt spid="2444294"/>
                                        </p:tgtEl>
                                      </p:cBhvr>
                                    </p:animEffect>
                                  </p:childTnLst>
                                </p:cTn>
                              </p:par>
                              <p:par>
                                <p:cTn id="8" presetID="9" presetClass="entr" presetSubtype="0" fill="hold" nodeType="withEffect">
                                  <p:stCondLst>
                                    <p:cond delay="0"/>
                                  </p:stCondLst>
                                  <p:childTnLst>
                                    <p:set>
                                      <p:cBhvr>
                                        <p:cTn id="9" dur="1" fill="hold">
                                          <p:stCondLst>
                                            <p:cond delay="0"/>
                                          </p:stCondLst>
                                        </p:cTn>
                                        <p:tgtEl>
                                          <p:spTgt spid="2444301">
                                            <p:txEl>
                                              <p:charRg st="0" end="34"/>
                                            </p:txEl>
                                          </p:spTgt>
                                        </p:tgtEl>
                                        <p:attrNameLst>
                                          <p:attrName>style.visibility</p:attrName>
                                        </p:attrNameLst>
                                      </p:cBhvr>
                                      <p:to>
                                        <p:strVal val="visible"/>
                                      </p:to>
                                    </p:set>
                                    <p:animEffect transition="in" filter="dissolve">
                                      <p:cBhvr>
                                        <p:cTn id="10" dur="500"/>
                                        <p:tgtEl>
                                          <p:spTgt spid="2444301">
                                            <p:txEl>
                                              <p:charRg st="0" end="3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44301">
                                            <p:txEl>
                                              <p:charRg st="34" end="68"/>
                                            </p:txEl>
                                          </p:spTgt>
                                        </p:tgtEl>
                                        <p:attrNameLst>
                                          <p:attrName>style.visibility</p:attrName>
                                        </p:attrNameLst>
                                      </p:cBhvr>
                                      <p:to>
                                        <p:strVal val="visible"/>
                                      </p:to>
                                    </p:set>
                                    <p:animEffect transition="in" filter="dissolve">
                                      <p:cBhvr>
                                        <p:cTn id="13" dur="500"/>
                                        <p:tgtEl>
                                          <p:spTgt spid="2444301">
                                            <p:txEl>
                                              <p:charRg st="34" end="6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444295"/>
                                        </p:tgtEl>
                                        <p:attrNameLst>
                                          <p:attrName>style.visibility</p:attrName>
                                        </p:attrNameLst>
                                      </p:cBhvr>
                                      <p:to>
                                        <p:strVal val="visible"/>
                                      </p:to>
                                    </p:set>
                                    <p:animEffect transition="in" filter="dissolve">
                                      <p:cBhvr>
                                        <p:cTn id="18" dur="500"/>
                                        <p:tgtEl>
                                          <p:spTgt spid="2444295"/>
                                        </p:tgtEl>
                                      </p:cBhvr>
                                    </p:animEffect>
                                  </p:childTnLst>
                                </p:cTn>
                              </p:par>
                              <p:par>
                                <p:cTn id="19" presetID="9" presetClass="entr" presetSubtype="0" fill="hold" nodeType="withEffect">
                                  <p:stCondLst>
                                    <p:cond delay="0"/>
                                  </p:stCondLst>
                                  <p:childTnLst>
                                    <p:set>
                                      <p:cBhvr>
                                        <p:cTn id="20" dur="1" fill="hold">
                                          <p:stCondLst>
                                            <p:cond delay="0"/>
                                          </p:stCondLst>
                                        </p:cTn>
                                        <p:tgtEl>
                                          <p:spTgt spid="2444302">
                                            <p:txEl>
                                              <p:charRg st="0" end="55"/>
                                            </p:txEl>
                                          </p:spTgt>
                                        </p:tgtEl>
                                        <p:attrNameLst>
                                          <p:attrName>style.visibility</p:attrName>
                                        </p:attrNameLst>
                                      </p:cBhvr>
                                      <p:to>
                                        <p:strVal val="visible"/>
                                      </p:to>
                                    </p:set>
                                    <p:animEffect transition="in" filter="dissolve">
                                      <p:cBhvr>
                                        <p:cTn id="21" dur="500"/>
                                        <p:tgtEl>
                                          <p:spTgt spid="2444302">
                                            <p:txEl>
                                              <p:charRg st="0" end="5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444302">
                                            <p:txEl>
                                              <p:charRg st="55" end="112"/>
                                            </p:txEl>
                                          </p:spTgt>
                                        </p:tgtEl>
                                        <p:attrNameLst>
                                          <p:attrName>style.visibility</p:attrName>
                                        </p:attrNameLst>
                                      </p:cBhvr>
                                      <p:to>
                                        <p:strVal val="visible"/>
                                      </p:to>
                                    </p:set>
                                    <p:animEffect transition="in" filter="dissolve">
                                      <p:cBhvr>
                                        <p:cTn id="24" dur="500"/>
                                        <p:tgtEl>
                                          <p:spTgt spid="2444302">
                                            <p:txEl>
                                              <p:charRg st="55" end="1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4294" grpId="0"/>
      <p:bldP spid="2444295"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46338"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46339" name="Rectangle 3"/>
          <p:cNvSpPr/>
          <p:nvPr/>
        </p:nvSpPr>
        <p:spPr>
          <a:xfrm>
            <a:off x="454025" y="690563"/>
            <a:ext cx="203041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a:t>
            </a:r>
            <a:r>
              <a:rPr lang="zh-CN" altLang="en-US" sz="3200" dirty="0">
                <a:latin typeface="Times New Roman" panose="02020603050405020304" pitchFamily="18" charset="0"/>
              </a:rPr>
              <a:t>分辨率</a:t>
            </a:r>
            <a:endParaRPr lang="zh-CN" altLang="en-US" sz="3200" dirty="0">
              <a:latin typeface="Times New Roman" panose="02020603050405020304" pitchFamily="18" charset="0"/>
            </a:endParaRPr>
          </a:p>
        </p:txBody>
      </p:sp>
      <p:sp>
        <p:nvSpPr>
          <p:cNvPr id="2446344" name="Text Box 8"/>
          <p:cNvSpPr txBox="1"/>
          <p:nvPr/>
        </p:nvSpPr>
        <p:spPr>
          <a:xfrm>
            <a:off x="1042988" y="1484313"/>
            <a:ext cx="7308850" cy="528637"/>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eaLnBrk="1" hangingPunct="1"/>
            <a:r>
              <a:rPr lang="zh-CN" altLang="en-US" sz="2800" dirty="0">
                <a:solidFill>
                  <a:srgbClr val="FF0000"/>
                </a:solidFill>
                <a:latin typeface="黑体" panose="02010609060101010101" pitchFamily="49" charset="-122"/>
                <a:ea typeface="黑体" panose="02010609060101010101" pitchFamily="49" charset="-122"/>
              </a:rPr>
              <a:t>分辨率</a:t>
            </a:r>
            <a:r>
              <a:rPr lang="zh-CN" altLang="en-US" sz="2800" dirty="0">
                <a:solidFill>
                  <a:schemeClr val="tx1"/>
                </a:solidFill>
                <a:latin typeface="黑体" panose="02010609060101010101" pitchFamily="49" charset="-122"/>
                <a:ea typeface="黑体" panose="02010609060101010101" pitchFamily="49" charset="-122"/>
              </a:rPr>
              <a:t>：最小输出电压与最大输出电压之比。</a:t>
            </a:r>
            <a:endParaRPr lang="zh-CN" altLang="en-US" sz="2800" dirty="0">
              <a:solidFill>
                <a:schemeClr val="tx1"/>
              </a:solidFill>
              <a:latin typeface="黑体" panose="02010609060101010101" pitchFamily="49" charset="-122"/>
              <a:ea typeface="黑体" panose="02010609060101010101" pitchFamily="49" charset="-122"/>
            </a:endParaRPr>
          </a:p>
        </p:txBody>
      </p:sp>
      <p:graphicFrame>
        <p:nvGraphicFramePr>
          <p:cNvPr id="2446346" name="Object 10"/>
          <p:cNvGraphicFramePr>
            <a:graphicFrameLocks noGrp="1" noChangeAspect="1"/>
          </p:cNvGraphicFramePr>
          <p:nvPr>
            <p:ph idx="4294967295" hasCustomPrompt="1"/>
          </p:nvPr>
        </p:nvGraphicFramePr>
        <p:xfrm>
          <a:off x="3240088" y="2205038"/>
          <a:ext cx="2246312" cy="881062"/>
        </p:xfrm>
        <a:graphic>
          <a:graphicData uri="http://schemas.openxmlformats.org/presentationml/2006/ole">
            <mc:AlternateContent xmlns:mc="http://schemas.openxmlformats.org/markup-compatibility/2006">
              <mc:Choice xmlns:v="urn:schemas-microsoft-com:vml" Requires="v">
                <p:oleObj spid="_x0000_s3080" name="" r:id="rId1" imgW="1002665" imgH="393700" progId="Equation.3">
                  <p:embed/>
                </p:oleObj>
              </mc:Choice>
              <mc:Fallback>
                <p:oleObj name="" r:id="rId1" imgW="1002665" imgH="393700" progId="Equation.3">
                  <p:embed/>
                  <p:pic>
                    <p:nvPicPr>
                      <p:cNvPr id="0" name="图片 3079"/>
                      <p:cNvPicPr/>
                      <p:nvPr/>
                    </p:nvPicPr>
                    <p:blipFill>
                      <a:blip r:embed="rId2"/>
                      <a:stretch>
                        <a:fillRect/>
                      </a:stretch>
                    </p:blipFill>
                    <p:spPr>
                      <a:xfrm>
                        <a:off x="3240088" y="2205038"/>
                        <a:ext cx="2246312" cy="881062"/>
                      </a:xfrm>
                      <a:prstGeom prst="rect">
                        <a:avLst/>
                      </a:prstGeom>
                      <a:solidFill>
                        <a:srgbClr val="FFFF99"/>
                      </a:solidFill>
                      <a:ln w="38100">
                        <a:noFill/>
                        <a:miter/>
                      </a:ln>
                    </p:spPr>
                  </p:pic>
                </p:oleObj>
              </mc:Fallback>
            </mc:AlternateContent>
          </a:graphicData>
        </a:graphic>
      </p:graphicFrame>
      <p:sp>
        <p:nvSpPr>
          <p:cNvPr id="2446348" name="Text Box 12"/>
          <p:cNvSpPr txBox="1"/>
          <p:nvPr/>
        </p:nvSpPr>
        <p:spPr>
          <a:xfrm>
            <a:off x="612775" y="3287713"/>
            <a:ext cx="2482850" cy="2012950"/>
          </a:xfrm>
          <a:prstGeom prst="rect">
            <a:avLst/>
          </a:prstGeom>
          <a:no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D/A</a:t>
            </a:r>
            <a:r>
              <a:rPr lang="zh-CN" altLang="en-US" sz="2800" dirty="0">
                <a:latin typeface="Times New Roman" panose="02020603050405020304" pitchFamily="18" charset="0"/>
              </a:rPr>
              <a:t>转换器的分辨率与位数有关。一般间接用位数</a:t>
            </a:r>
            <a:r>
              <a:rPr lang="en-US" altLang="zh-CN" sz="2800" dirty="0">
                <a:latin typeface="Times New Roman" panose="02020603050405020304" pitchFamily="18" charset="0"/>
              </a:rPr>
              <a:t>n</a:t>
            </a:r>
            <a:r>
              <a:rPr lang="zh-CN" altLang="en-US" sz="2800" dirty="0">
                <a:latin typeface="Times New Roman" panose="02020603050405020304" pitchFamily="18" charset="0"/>
              </a:rPr>
              <a:t>来代表分辨率。</a:t>
            </a:r>
            <a:endParaRPr lang="zh-CN" altLang="en-US" sz="2800" dirty="0">
              <a:latin typeface="Times New Roman" panose="02020603050405020304" pitchFamily="18" charset="0"/>
            </a:endParaRPr>
          </a:p>
        </p:txBody>
      </p:sp>
      <p:graphicFrame>
        <p:nvGraphicFramePr>
          <p:cNvPr id="2446369" name="Group 33"/>
          <p:cNvGraphicFramePr>
            <a:graphicFrameLocks noGrp="1"/>
          </p:cNvGraphicFramePr>
          <p:nvPr/>
        </p:nvGraphicFramePr>
        <p:xfrm>
          <a:off x="3546475" y="3249613"/>
          <a:ext cx="4805363" cy="2808288"/>
        </p:xfrm>
        <a:graphic>
          <a:graphicData uri="http://schemas.openxmlformats.org/drawingml/2006/table">
            <a:tbl>
              <a:tblPr/>
              <a:tblGrid>
                <a:gridCol w="2132013"/>
                <a:gridCol w="2673350"/>
              </a:tblGrid>
              <a:tr h="492125">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400" b="1" i="0" u="none" strike="noStrike" cap="none" normalizeH="0" baseline="0">
                          <a:ln>
                            <a:noFill/>
                          </a:ln>
                          <a:solidFill>
                            <a:schemeClr val="tx1"/>
                          </a:solidFill>
                          <a:effectLst/>
                          <a:latin typeface="Arial" panose="020B0604020202020204" pitchFamily="34" charset="0"/>
                          <a:ea typeface="黑体" panose="02010609060101010101" pitchFamily="49" charset="-122"/>
                        </a:rPr>
                        <a:t>位数</a:t>
                      </a:r>
                      <a:endParaRPr kumimoji="0" lang="zh-CN" altLang="en-US" sz="24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400" b="1" i="0" u="none" strike="noStrike" cap="none" normalizeH="0" baseline="0">
                          <a:ln>
                            <a:noFill/>
                          </a:ln>
                          <a:solidFill>
                            <a:schemeClr val="tx1"/>
                          </a:solidFill>
                          <a:effectLst/>
                          <a:latin typeface="Arial" panose="020B0604020202020204" pitchFamily="34" charset="0"/>
                          <a:ea typeface="黑体" panose="02010609060101010101" pitchFamily="49" charset="-122"/>
                        </a:rPr>
                        <a:t>分辨率</a:t>
                      </a:r>
                      <a:endParaRPr kumimoji="0" lang="zh-CN" altLang="en-US" sz="2400" b="1" i="0" u="none" strike="noStrike" cap="none" normalizeH="0" baseline="0">
                        <a:ln>
                          <a:noFill/>
                        </a:ln>
                        <a:solidFill>
                          <a:schemeClr val="tx1"/>
                        </a:solidFill>
                        <a:effectLst/>
                        <a:latin typeface="Arial" panose="020B0604020202020204" pitchFamily="34" charset="0"/>
                        <a:ea typeface="黑体" panose="02010609060101010101" pitchFamily="49"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316162">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8</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10</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12</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14</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16</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1/255</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1/1023</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1/4095</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1/16383</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15000"/>
                        </a:spcBef>
                        <a:spcAft>
                          <a:spcPct val="0"/>
                        </a:spcAft>
                        <a:buClrTx/>
                        <a:buSzPct val="75000"/>
                        <a:buFont typeface="Wingdings" panose="05000000000000000000" pitchFamily="2" charset="2"/>
                        <a:buNone/>
                      </a:pPr>
                      <a:r>
                        <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rPr>
                        <a:t>1/65535</a:t>
                      </a:r>
                      <a:endParaRPr kumimoji="0" lang="en-US" altLang="zh-CN" sz="24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46339"/>
                                        </p:tgtEl>
                                        <p:attrNameLst>
                                          <p:attrName>style.visibility</p:attrName>
                                        </p:attrNameLst>
                                      </p:cBhvr>
                                      <p:to>
                                        <p:strVal val="visible"/>
                                      </p:to>
                                    </p:set>
                                    <p:animEffect transition="in" filter="dissolve">
                                      <p:cBhvr>
                                        <p:cTn id="7" dur="500"/>
                                        <p:tgtEl>
                                          <p:spTgt spid="244633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46344"/>
                                        </p:tgtEl>
                                        <p:attrNameLst>
                                          <p:attrName>style.visibility</p:attrName>
                                        </p:attrNameLst>
                                      </p:cBhvr>
                                      <p:to>
                                        <p:strVal val="visible"/>
                                      </p:to>
                                    </p:set>
                                    <p:animEffect transition="in" filter="dissolve">
                                      <p:cBhvr>
                                        <p:cTn id="12" dur="500"/>
                                        <p:tgtEl>
                                          <p:spTgt spid="244634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46346"/>
                                        </p:tgtEl>
                                        <p:attrNameLst>
                                          <p:attrName>style.visibility</p:attrName>
                                        </p:attrNameLst>
                                      </p:cBhvr>
                                      <p:to>
                                        <p:strVal val="visible"/>
                                      </p:to>
                                    </p:set>
                                    <p:animEffect transition="in" filter="dissolve">
                                      <p:cBhvr>
                                        <p:cTn id="17" dur="500"/>
                                        <p:tgtEl>
                                          <p:spTgt spid="244634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446348"/>
                                        </p:tgtEl>
                                        <p:attrNameLst>
                                          <p:attrName>style.visibility</p:attrName>
                                        </p:attrNameLst>
                                      </p:cBhvr>
                                      <p:to>
                                        <p:strVal val="visible"/>
                                      </p:to>
                                    </p:set>
                                    <p:animEffect transition="in" filter="dissolve">
                                      <p:cBhvr>
                                        <p:cTn id="22" dur="500"/>
                                        <p:tgtEl>
                                          <p:spTgt spid="24463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46369"/>
                                        </p:tgtEl>
                                        <p:attrNameLst>
                                          <p:attrName>style.visibility</p:attrName>
                                        </p:attrNameLst>
                                      </p:cBhvr>
                                      <p:to>
                                        <p:strVal val="visible"/>
                                      </p:to>
                                    </p:set>
                                    <p:animEffect transition="in" filter="dissolve">
                                      <p:cBhvr>
                                        <p:cTn id="27" dur="500"/>
                                        <p:tgtEl>
                                          <p:spTgt spid="2446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6339" grpId="0" bldLvl="0" animBg="1"/>
      <p:bldP spid="2446344" grpId="0" bldLvl="0" animBg="1"/>
      <p:bldP spid="2446348" grpId="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55554"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55555" name="Rectangle 3"/>
          <p:cNvSpPr/>
          <p:nvPr/>
        </p:nvSpPr>
        <p:spPr>
          <a:xfrm>
            <a:off x="454025" y="690563"/>
            <a:ext cx="2030413"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a:t>
            </a:r>
            <a:r>
              <a:rPr lang="zh-CN" altLang="en-US" sz="3200" dirty="0">
                <a:latin typeface="Times New Roman" panose="02020603050405020304" pitchFamily="18" charset="0"/>
              </a:rPr>
              <a:t>精度</a:t>
            </a:r>
            <a:endParaRPr lang="zh-CN" altLang="en-US" sz="3200" dirty="0">
              <a:latin typeface="Times New Roman" panose="02020603050405020304" pitchFamily="18" charset="0"/>
            </a:endParaRPr>
          </a:p>
        </p:txBody>
      </p:sp>
      <p:sp>
        <p:nvSpPr>
          <p:cNvPr id="2455556" name="Text Box 4"/>
          <p:cNvSpPr txBox="1"/>
          <p:nvPr/>
        </p:nvSpPr>
        <p:spPr>
          <a:xfrm>
            <a:off x="1042988" y="1736725"/>
            <a:ext cx="7308850" cy="18097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绝对精度：</a:t>
            </a:r>
            <a:r>
              <a:rPr lang="zh-CN" altLang="en-US" sz="2800" dirty="0">
                <a:solidFill>
                  <a:schemeClr val="tx1"/>
                </a:solidFill>
                <a:latin typeface="黑体" panose="02010609060101010101" pitchFamily="49" charset="-122"/>
                <a:ea typeface="黑体" panose="02010609060101010101" pitchFamily="49" charset="-122"/>
              </a:rPr>
              <a:t>输入满量程数字量时，</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转换器实际输出值与理论输出值之差。</a:t>
            </a:r>
            <a:endParaRPr lang="zh-CN" altLang="en-US" sz="2800" dirty="0">
              <a:solidFill>
                <a:schemeClr val="tx1"/>
              </a:solidFill>
              <a:latin typeface="黑体" panose="02010609060101010101" pitchFamily="49" charset="-122"/>
              <a:ea typeface="黑体" panose="02010609060101010101" pitchFamily="49" charset="-122"/>
            </a:endParaRPr>
          </a:p>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相对精度：</a:t>
            </a:r>
            <a:r>
              <a:rPr lang="zh-CN" altLang="en-US" sz="2800" dirty="0">
                <a:solidFill>
                  <a:schemeClr val="tx1"/>
                </a:solidFill>
                <a:latin typeface="黑体" panose="02010609060101010101" pitchFamily="49" charset="-122"/>
                <a:ea typeface="黑体" panose="02010609060101010101" pitchFamily="49" charset="-122"/>
              </a:rPr>
              <a:t>绝对精度与额定满量程输出值的比值。</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55572" name="AutoShape 20"/>
          <p:cNvSpPr/>
          <p:nvPr/>
        </p:nvSpPr>
        <p:spPr>
          <a:xfrm>
            <a:off x="4930775" y="842963"/>
            <a:ext cx="2376488" cy="749300"/>
          </a:xfrm>
          <a:prstGeom prst="wedgeRoundRectCallout">
            <a:avLst>
              <a:gd name="adj1" fmla="val -46926"/>
              <a:gd name="adj2" fmla="val 75000"/>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55571" name="Text Box 19"/>
          <p:cNvSpPr txBox="1"/>
          <p:nvPr/>
        </p:nvSpPr>
        <p:spPr>
          <a:xfrm>
            <a:off x="4930775" y="842963"/>
            <a:ext cx="2376488" cy="74930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绝对精度一般应小于</a:t>
            </a:r>
            <a:r>
              <a:rPr lang="en-US" altLang="zh-CN"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LSB</a:t>
            </a:r>
            <a:r>
              <a:rPr lang="en-US" altLang="zh-CN" sz="2400" dirty="0">
                <a:solidFill>
                  <a:srgbClr val="FF0000"/>
                </a:solidFill>
                <a:latin typeface="Times New Roman" panose="02020603050405020304" pitchFamily="18" charset="0"/>
              </a:rPr>
              <a:t>/2</a:t>
            </a:r>
            <a:r>
              <a:rPr lang="zh-CN" altLang="en-US" sz="2400" dirty="0">
                <a:solidFill>
                  <a:srgbClr val="FF0000"/>
                </a:solidFill>
                <a:latin typeface="Times New Roman" panose="02020603050405020304" pitchFamily="18" charset="0"/>
              </a:rPr>
              <a:t>。</a:t>
            </a:r>
            <a:endParaRPr lang="zh-CN" altLang="en-US" sz="2400" dirty="0">
              <a:solidFill>
                <a:srgbClr val="FF0000"/>
              </a:solidFill>
              <a:latin typeface="Times New Roman" panose="02020603050405020304" pitchFamily="18" charset="0"/>
            </a:endParaRPr>
          </a:p>
        </p:txBody>
      </p:sp>
      <p:sp>
        <p:nvSpPr>
          <p:cNvPr id="2455574" name="Text Box 22"/>
          <p:cNvSpPr txBox="1"/>
          <p:nvPr/>
        </p:nvSpPr>
        <p:spPr>
          <a:xfrm>
            <a:off x="1081088" y="3716338"/>
            <a:ext cx="6335712" cy="476250"/>
          </a:xfrm>
          <a:prstGeom prst="rect">
            <a:avLst/>
          </a:prstGeom>
          <a:no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ea typeface="黑体" panose="02010609060101010101" pitchFamily="49" charset="-122"/>
              </a:rPr>
              <a:t>相对精度表示方法：</a:t>
            </a:r>
            <a:endParaRPr lang="zh-CN" altLang="en-US" sz="2800" dirty="0">
              <a:latin typeface="Times New Roman" panose="02020603050405020304" pitchFamily="18" charset="0"/>
              <a:ea typeface="黑体" panose="02010609060101010101" pitchFamily="49" charset="-122"/>
            </a:endParaRPr>
          </a:p>
        </p:txBody>
      </p:sp>
      <p:sp>
        <p:nvSpPr>
          <p:cNvPr id="2455575" name="Text Box 23"/>
          <p:cNvSpPr txBox="1"/>
          <p:nvPr/>
        </p:nvSpPr>
        <p:spPr>
          <a:xfrm>
            <a:off x="1692275" y="4368800"/>
            <a:ext cx="6659563" cy="1074738"/>
          </a:xfrm>
          <a:prstGeom prst="rect">
            <a:avLst/>
          </a:prstGeom>
          <a:noFill/>
          <a:ln w="9525">
            <a:noFill/>
          </a:ln>
        </p:spPr>
        <p:txBody>
          <a:bodyPr>
            <a:spAutoFit/>
          </a:bodyPr>
          <a:p>
            <a:pPr marL="542925" indent="-542925" defTabSz="914400" eaLnBrk="1" hangingPunct="1">
              <a:lnSpc>
                <a:spcPct val="90000"/>
              </a:lnSpc>
              <a:spcBef>
                <a:spcPct val="50000"/>
              </a:spcBef>
              <a:buClr>
                <a:srgbClr val="FF0000"/>
              </a:buClr>
              <a:buFont typeface="Wingdings" panose="05000000000000000000" pitchFamily="2" charset="2"/>
              <a:buChar char="u"/>
              <a:tabLst>
                <a:tab pos="542925" algn="l"/>
              </a:tabLst>
            </a:pPr>
            <a:r>
              <a:rPr lang="zh-CN" altLang="en-US" sz="2800" dirty="0">
                <a:solidFill>
                  <a:schemeClr val="tx1"/>
                </a:solidFill>
                <a:latin typeface="Times New Roman" panose="02020603050405020304" pitchFamily="18" charset="0"/>
              </a:rPr>
              <a:t>用偏差多少</a:t>
            </a:r>
            <a:r>
              <a:rPr lang="en-US" altLang="zh-CN" sz="2800" i="1" dirty="0">
                <a:solidFill>
                  <a:schemeClr val="tx1"/>
                </a:solidFill>
                <a:latin typeface="Times New Roman" panose="02020603050405020304" pitchFamily="18" charset="0"/>
              </a:rPr>
              <a:t>LSB</a:t>
            </a:r>
            <a:r>
              <a:rPr lang="zh-CN" altLang="en-US" sz="2800" dirty="0">
                <a:solidFill>
                  <a:schemeClr val="tx1"/>
                </a:solidFill>
                <a:latin typeface="Times New Roman" panose="02020603050405020304" pitchFamily="18" charset="0"/>
              </a:rPr>
              <a:t>来表示；</a:t>
            </a:r>
            <a:endParaRPr lang="zh-CN" altLang="en-US" sz="2800" dirty="0">
              <a:solidFill>
                <a:schemeClr val="tx1"/>
              </a:solidFill>
              <a:latin typeface="Times New Roman" panose="02020603050405020304" pitchFamily="18" charset="0"/>
            </a:endParaRPr>
          </a:p>
          <a:p>
            <a:pPr marL="542925" indent="-542925" defTabSz="914400" eaLnBrk="1" hangingPunct="1">
              <a:lnSpc>
                <a:spcPct val="90000"/>
              </a:lnSpc>
              <a:spcBef>
                <a:spcPct val="50000"/>
              </a:spcBef>
              <a:buClr>
                <a:srgbClr val="FF0000"/>
              </a:buClr>
              <a:buFont typeface="Wingdings" panose="05000000000000000000" pitchFamily="2" charset="2"/>
              <a:buChar char="u"/>
              <a:tabLst>
                <a:tab pos="542925" algn="l"/>
              </a:tabLst>
            </a:pPr>
            <a:r>
              <a:rPr lang="zh-CN" altLang="en-US" sz="2800" dirty="0">
                <a:solidFill>
                  <a:schemeClr val="tx1"/>
                </a:solidFill>
                <a:latin typeface="Times New Roman" panose="02020603050405020304" pitchFamily="18" charset="0"/>
              </a:rPr>
              <a:t>用该偏差相对满量程的百分数来表示。</a:t>
            </a:r>
            <a:endParaRPr lang="zh-CN" altLang="en-US" sz="28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55555"/>
                                        </p:tgtEl>
                                        <p:attrNameLst>
                                          <p:attrName>style.visibility</p:attrName>
                                        </p:attrNameLst>
                                      </p:cBhvr>
                                      <p:to>
                                        <p:strVal val="visible"/>
                                      </p:to>
                                    </p:set>
                                    <p:animEffect transition="in" filter="dissolve">
                                      <p:cBhvr>
                                        <p:cTn id="7" dur="500"/>
                                        <p:tgtEl>
                                          <p:spTgt spid="245555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55556"/>
                                        </p:tgtEl>
                                        <p:attrNameLst>
                                          <p:attrName>style.visibility</p:attrName>
                                        </p:attrNameLst>
                                      </p:cBhvr>
                                      <p:to>
                                        <p:strVal val="visible"/>
                                      </p:to>
                                    </p:set>
                                    <p:animEffect transition="in" filter="dissolve">
                                      <p:cBhvr>
                                        <p:cTn id="12" dur="500"/>
                                        <p:tgtEl>
                                          <p:spTgt spid="245555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55556">
                                            <p:txEl>
                                              <p:charRg st="0" end="36"/>
                                            </p:txEl>
                                          </p:spTgt>
                                        </p:tgtEl>
                                        <p:attrNameLst>
                                          <p:attrName>style.visibility</p:attrName>
                                        </p:attrNameLst>
                                      </p:cBhvr>
                                      <p:to>
                                        <p:strVal val="visible"/>
                                      </p:to>
                                    </p:set>
                                    <p:animEffect transition="in" filter="dissolve">
                                      <p:cBhvr>
                                        <p:cTn id="15" dur="500"/>
                                        <p:tgtEl>
                                          <p:spTgt spid="2455556">
                                            <p:txEl>
                                              <p:charRg st="0" end="36"/>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455556">
                                            <p:txEl>
                                              <p:charRg st="36" end="59"/>
                                            </p:txEl>
                                          </p:spTgt>
                                        </p:tgtEl>
                                        <p:attrNameLst>
                                          <p:attrName>style.visibility</p:attrName>
                                        </p:attrNameLst>
                                      </p:cBhvr>
                                      <p:to>
                                        <p:strVal val="visible"/>
                                      </p:to>
                                    </p:set>
                                    <p:animEffect transition="in" filter="dissolve">
                                      <p:cBhvr>
                                        <p:cTn id="18" dur="500"/>
                                        <p:tgtEl>
                                          <p:spTgt spid="2455556">
                                            <p:txEl>
                                              <p:charRg st="36" end="59"/>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455571"/>
                                        </p:tgtEl>
                                        <p:attrNameLst>
                                          <p:attrName>style.visibility</p:attrName>
                                        </p:attrNameLst>
                                      </p:cBhvr>
                                      <p:to>
                                        <p:strVal val="visible"/>
                                      </p:to>
                                    </p:set>
                                    <p:animEffect transition="in" filter="dissolve">
                                      <p:cBhvr>
                                        <p:cTn id="23" dur="500"/>
                                        <p:tgtEl>
                                          <p:spTgt spid="2455571"/>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55572"/>
                                        </p:tgtEl>
                                        <p:attrNameLst>
                                          <p:attrName>style.visibility</p:attrName>
                                        </p:attrNameLst>
                                      </p:cBhvr>
                                      <p:to>
                                        <p:strVal val="visible"/>
                                      </p:to>
                                    </p:set>
                                    <p:animEffect transition="in" filter="dissolve">
                                      <p:cBhvr>
                                        <p:cTn id="26" dur="500"/>
                                        <p:tgtEl>
                                          <p:spTgt spid="2455572"/>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455574"/>
                                        </p:tgtEl>
                                        <p:attrNameLst>
                                          <p:attrName>style.visibility</p:attrName>
                                        </p:attrNameLst>
                                      </p:cBhvr>
                                      <p:to>
                                        <p:strVal val="visible"/>
                                      </p:to>
                                    </p:set>
                                    <p:animEffect transition="in" filter="dissolve">
                                      <p:cBhvr>
                                        <p:cTn id="31" dur="500"/>
                                        <p:tgtEl>
                                          <p:spTgt spid="245557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455575">
                                            <p:txEl>
                                              <p:charRg st="0" end="13"/>
                                            </p:txEl>
                                          </p:spTgt>
                                        </p:tgtEl>
                                        <p:attrNameLst>
                                          <p:attrName>style.visibility</p:attrName>
                                        </p:attrNameLst>
                                      </p:cBhvr>
                                      <p:to>
                                        <p:strVal val="visible"/>
                                      </p:to>
                                    </p:set>
                                    <p:animEffect transition="in" filter="dissolve">
                                      <p:cBhvr>
                                        <p:cTn id="36" dur="500"/>
                                        <p:tgtEl>
                                          <p:spTgt spid="2455575">
                                            <p:txEl>
                                              <p:charRg st="0" end="13"/>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455575">
                                            <p:txEl>
                                              <p:charRg st="13" end="31"/>
                                            </p:txEl>
                                          </p:spTgt>
                                        </p:tgtEl>
                                        <p:attrNameLst>
                                          <p:attrName>style.visibility</p:attrName>
                                        </p:attrNameLst>
                                      </p:cBhvr>
                                      <p:to>
                                        <p:strVal val="visible"/>
                                      </p:to>
                                    </p:set>
                                    <p:animEffect transition="in" filter="dissolve">
                                      <p:cBhvr>
                                        <p:cTn id="41" dur="500"/>
                                        <p:tgtEl>
                                          <p:spTgt spid="2455575">
                                            <p:txEl>
                                              <p:charRg st="13" end="3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5555" grpId="0" bldLvl="0" animBg="1"/>
      <p:bldP spid="2455556" grpId="0" animBg="1" build="allAtOnce"/>
      <p:bldP spid="2455572" grpId="0" bldLvl="0" animBg="1"/>
      <p:bldP spid="2455571" grpId="0"/>
      <p:bldP spid="2455574"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57602"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57603" name="Rectangle 3"/>
          <p:cNvSpPr/>
          <p:nvPr/>
        </p:nvSpPr>
        <p:spPr>
          <a:xfrm>
            <a:off x="454025" y="690563"/>
            <a:ext cx="25336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  </a:t>
            </a:r>
            <a:r>
              <a:rPr lang="zh-CN" altLang="en-US" sz="3200" dirty="0">
                <a:latin typeface="Times New Roman" panose="02020603050405020304" pitchFamily="18" charset="0"/>
              </a:rPr>
              <a:t>线性误差</a:t>
            </a:r>
            <a:endParaRPr lang="zh-CN" altLang="en-US" sz="3200" dirty="0">
              <a:latin typeface="Times New Roman" panose="02020603050405020304" pitchFamily="18" charset="0"/>
            </a:endParaRPr>
          </a:p>
        </p:txBody>
      </p:sp>
      <p:sp>
        <p:nvSpPr>
          <p:cNvPr id="2457604" name="Text Box 4"/>
          <p:cNvSpPr txBox="1"/>
          <p:nvPr/>
        </p:nvSpPr>
        <p:spPr>
          <a:xfrm>
            <a:off x="1042988" y="1736725"/>
            <a:ext cx="7308850"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线性误差：</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转换器的转换特性曲线与理想特性之间的最大偏差。</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57610" name="AutoShape 10"/>
          <p:cNvSpPr/>
          <p:nvPr/>
        </p:nvSpPr>
        <p:spPr>
          <a:xfrm>
            <a:off x="4608513" y="842963"/>
            <a:ext cx="3708400" cy="749300"/>
          </a:xfrm>
          <a:prstGeom prst="wedgeRoundRectCallout">
            <a:avLst>
              <a:gd name="adj1" fmla="val 34375"/>
              <a:gd name="adj2" fmla="val 8008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457611" name="Text Box 11"/>
          <p:cNvSpPr txBox="1"/>
          <p:nvPr/>
        </p:nvSpPr>
        <p:spPr>
          <a:xfrm>
            <a:off x="4679950" y="842963"/>
            <a:ext cx="3708400" cy="749300"/>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理想转换特性是在零点及满量程校准以后建立的。</a:t>
            </a:r>
            <a:endParaRPr lang="zh-CN" altLang="en-US" sz="2400" dirty="0">
              <a:solidFill>
                <a:srgbClr val="FF0000"/>
              </a:solidFill>
              <a:latin typeface="Times New Roman" panose="02020603050405020304" pitchFamily="18" charset="0"/>
            </a:endParaRPr>
          </a:p>
        </p:txBody>
      </p:sp>
      <p:grpSp>
        <p:nvGrpSpPr>
          <p:cNvPr id="2457710" name="Group 110"/>
          <p:cNvGrpSpPr/>
          <p:nvPr/>
        </p:nvGrpSpPr>
        <p:grpSpPr>
          <a:xfrm>
            <a:off x="287338" y="2816225"/>
            <a:ext cx="5700712" cy="3225800"/>
            <a:chOff x="1217" y="1774"/>
            <a:chExt cx="3591" cy="2032"/>
          </a:xfrm>
        </p:grpSpPr>
        <p:grpSp>
          <p:nvGrpSpPr>
            <p:cNvPr id="22537" name="Group 107"/>
            <p:cNvGrpSpPr/>
            <p:nvPr/>
          </p:nvGrpSpPr>
          <p:grpSpPr>
            <a:xfrm>
              <a:off x="1217" y="1774"/>
              <a:ext cx="3591" cy="2032"/>
              <a:chOff x="1217" y="1774"/>
              <a:chExt cx="3591" cy="2032"/>
            </a:xfrm>
          </p:grpSpPr>
          <p:sp>
            <p:nvSpPr>
              <p:cNvPr id="22540" name="Rectangle 12"/>
              <p:cNvSpPr/>
              <p:nvPr/>
            </p:nvSpPr>
            <p:spPr>
              <a:xfrm>
                <a:off x="1217" y="1774"/>
                <a:ext cx="3341" cy="203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41" name="Line 14"/>
              <p:cNvSpPr/>
              <p:nvPr/>
            </p:nvSpPr>
            <p:spPr>
              <a:xfrm>
                <a:off x="1614" y="3534"/>
                <a:ext cx="2625" cy="0"/>
              </a:xfrm>
              <a:prstGeom prst="line">
                <a:avLst/>
              </a:prstGeom>
              <a:ln w="19050" cap="flat" cmpd="sng">
                <a:solidFill>
                  <a:schemeClr val="accent2"/>
                </a:solidFill>
                <a:prstDash val="solid"/>
                <a:headEnd type="none" w="med" len="med"/>
                <a:tailEnd type="stealth" w="med" len="lg"/>
              </a:ln>
            </p:spPr>
          </p:sp>
          <p:sp>
            <p:nvSpPr>
              <p:cNvPr id="22542" name="Line 15"/>
              <p:cNvSpPr/>
              <p:nvPr/>
            </p:nvSpPr>
            <p:spPr>
              <a:xfrm flipV="1">
                <a:off x="1614" y="1968"/>
                <a:ext cx="0" cy="1566"/>
              </a:xfrm>
              <a:prstGeom prst="line">
                <a:avLst/>
              </a:prstGeom>
              <a:ln w="19050" cap="flat" cmpd="sng">
                <a:solidFill>
                  <a:schemeClr val="accent2"/>
                </a:solidFill>
                <a:prstDash val="solid"/>
                <a:headEnd type="none" w="med" len="med"/>
                <a:tailEnd type="stealth" w="med" len="lg"/>
              </a:ln>
            </p:spPr>
          </p:sp>
          <p:sp>
            <p:nvSpPr>
              <p:cNvPr id="22543" name="Text Box 16"/>
              <p:cNvSpPr txBox="1"/>
              <p:nvPr/>
            </p:nvSpPr>
            <p:spPr>
              <a:xfrm>
                <a:off x="1287" y="1782"/>
                <a:ext cx="676" cy="212"/>
              </a:xfrm>
              <a:prstGeom prst="rect">
                <a:avLst/>
              </a:prstGeom>
              <a:noFill/>
              <a:ln w="38100">
                <a:noFill/>
              </a:ln>
            </p:spPr>
            <p:txBody>
              <a:bodyPr lIns="90000" tIns="46800" rIns="90000" bIns="46800">
                <a:spAutoFit/>
              </a:bodyPr>
              <a:p>
                <a:pPr algn="ctr" eaLnBrk="1" hangingPunct="1">
                  <a:spcBef>
                    <a:spcPct val="50000"/>
                  </a:spcBef>
                </a:pPr>
                <a:r>
                  <a:rPr lang="en-US" altLang="zh-CN" sz="1600" i="1" dirty="0">
                    <a:solidFill>
                      <a:srgbClr val="FF0000"/>
                    </a:solidFill>
                    <a:latin typeface="Times New Roman" panose="02020603050405020304" pitchFamily="18" charset="0"/>
                    <a:ea typeface="宋体" panose="02010600030101010101" pitchFamily="2" charset="-122"/>
                  </a:rPr>
                  <a:t>A</a:t>
                </a:r>
                <a:endParaRPr lang="en-US" altLang="zh-CN" sz="1600" i="1" dirty="0">
                  <a:solidFill>
                    <a:srgbClr val="FF0000"/>
                  </a:solidFill>
                  <a:latin typeface="Times New Roman" panose="02020603050405020304" pitchFamily="18" charset="0"/>
                  <a:ea typeface="宋体" panose="02010600030101010101" pitchFamily="2" charset="-122"/>
                </a:endParaRPr>
              </a:p>
            </p:txBody>
          </p:sp>
          <p:sp>
            <p:nvSpPr>
              <p:cNvPr id="22544" name="Text Box 17"/>
              <p:cNvSpPr txBox="1"/>
              <p:nvPr/>
            </p:nvSpPr>
            <p:spPr>
              <a:xfrm>
                <a:off x="3976" y="3421"/>
                <a:ext cx="676" cy="212"/>
              </a:xfrm>
              <a:prstGeom prst="rect">
                <a:avLst/>
              </a:prstGeom>
              <a:noFill/>
              <a:ln w="38100">
                <a:noFill/>
              </a:ln>
            </p:spPr>
            <p:txBody>
              <a:bodyPr lIns="90000" tIns="46800" rIns="90000" bIns="46800">
                <a:spAutoFit/>
              </a:bodyPr>
              <a:p>
                <a:pPr algn="ctr" eaLnBrk="1" hangingPunct="1">
                  <a:spcBef>
                    <a:spcPct val="50000"/>
                  </a:spcBef>
                </a:pPr>
                <a:r>
                  <a:rPr lang="en-US" altLang="zh-CN" sz="1600" i="1" dirty="0">
                    <a:solidFill>
                      <a:srgbClr val="FF0000"/>
                    </a:solidFill>
                    <a:latin typeface="Times New Roman" panose="02020603050405020304" pitchFamily="18" charset="0"/>
                    <a:ea typeface="宋体" panose="02010600030101010101" pitchFamily="2" charset="-122"/>
                  </a:rPr>
                  <a:t>D</a:t>
                </a:r>
                <a:endParaRPr lang="en-US" altLang="zh-CN" sz="1600" i="1" dirty="0">
                  <a:solidFill>
                    <a:srgbClr val="FF0000"/>
                  </a:solidFill>
                  <a:latin typeface="Times New Roman" panose="02020603050405020304" pitchFamily="18" charset="0"/>
                  <a:ea typeface="宋体" panose="02010600030101010101" pitchFamily="2" charset="-122"/>
                </a:endParaRPr>
              </a:p>
            </p:txBody>
          </p:sp>
          <p:sp>
            <p:nvSpPr>
              <p:cNvPr id="22545" name="Text Box 18"/>
              <p:cNvSpPr txBox="1"/>
              <p:nvPr/>
            </p:nvSpPr>
            <p:spPr>
              <a:xfrm>
                <a:off x="1217" y="3464"/>
                <a:ext cx="676" cy="212"/>
              </a:xfrm>
              <a:prstGeom prst="rect">
                <a:avLst/>
              </a:prstGeom>
              <a:noFill/>
              <a:ln w="38100">
                <a:noFill/>
              </a:ln>
            </p:spPr>
            <p:txBody>
              <a:bodyPr lIns="90000" tIns="46800" rIns="90000" bIns="46800">
                <a:spAutoFit/>
              </a:bodyPr>
              <a:p>
                <a:pPr algn="ctr" eaLnBrk="1" hangingPunct="1">
                  <a:spcBef>
                    <a:spcPct val="50000"/>
                  </a:spcBef>
                </a:pPr>
                <a:r>
                  <a:rPr lang="en-US" altLang="zh-CN" sz="1600" dirty="0">
                    <a:solidFill>
                      <a:srgbClr val="FF0000"/>
                    </a:solidFill>
                    <a:latin typeface="Times New Roman" panose="02020603050405020304" pitchFamily="18" charset="0"/>
                    <a:ea typeface="宋体" panose="02010600030101010101" pitchFamily="2" charset="-122"/>
                  </a:rPr>
                  <a:t>0</a:t>
                </a:r>
                <a:endParaRPr lang="en-US" altLang="zh-CN" sz="1600" dirty="0">
                  <a:solidFill>
                    <a:srgbClr val="FF0000"/>
                  </a:solidFill>
                  <a:latin typeface="Times New Roman" panose="02020603050405020304" pitchFamily="18" charset="0"/>
                  <a:ea typeface="宋体" panose="02010600030101010101" pitchFamily="2" charset="-122"/>
                </a:endParaRPr>
              </a:p>
            </p:txBody>
          </p:sp>
          <p:sp>
            <p:nvSpPr>
              <p:cNvPr id="22546" name="Text Box 45"/>
              <p:cNvSpPr txBox="1"/>
              <p:nvPr/>
            </p:nvSpPr>
            <p:spPr>
              <a:xfrm>
                <a:off x="2473" y="3536"/>
                <a:ext cx="1178" cy="214"/>
              </a:xfrm>
              <a:prstGeom prst="rect">
                <a:avLst/>
              </a:prstGeom>
              <a:noFill/>
              <a:ln w="9525">
                <a:noFill/>
              </a:ln>
            </p:spPr>
            <p:txBody>
              <a:bodyPr>
                <a:spAutoFit/>
              </a:bodyPr>
              <a:p>
                <a:pPr eaLnBrk="1" hangingPunct="1">
                  <a:lnSpc>
                    <a:spcPct val="90000"/>
                  </a:lnSpc>
                  <a:spcBef>
                    <a:spcPct val="50000"/>
                  </a:spcBef>
                </a:pPr>
                <a:r>
                  <a:rPr lang="zh-CN" altLang="en-US" sz="1800" dirty="0">
                    <a:solidFill>
                      <a:schemeClr val="tx1"/>
                    </a:solidFill>
                    <a:latin typeface="Times New Roman" panose="02020603050405020304" pitchFamily="18" charset="0"/>
                  </a:rPr>
                  <a:t>数字量输入</a:t>
                </a:r>
                <a:endParaRPr lang="zh-CN" altLang="en-US" sz="1800" dirty="0">
                  <a:solidFill>
                    <a:schemeClr val="tx1"/>
                  </a:solidFill>
                  <a:latin typeface="Times New Roman" panose="02020603050405020304" pitchFamily="18" charset="0"/>
                </a:endParaRPr>
              </a:p>
            </p:txBody>
          </p:sp>
          <p:sp>
            <p:nvSpPr>
              <p:cNvPr id="22547" name="Text Box 46"/>
              <p:cNvSpPr txBox="1"/>
              <p:nvPr/>
            </p:nvSpPr>
            <p:spPr>
              <a:xfrm>
                <a:off x="1335" y="2123"/>
                <a:ext cx="298" cy="838"/>
              </a:xfrm>
              <a:prstGeom prst="rect">
                <a:avLst/>
              </a:prstGeom>
              <a:noFill/>
              <a:ln w="9525">
                <a:noFill/>
              </a:ln>
            </p:spPr>
            <p:txBody>
              <a:bodyPr>
                <a:spAutoFit/>
              </a:bodyPr>
              <a:p>
                <a:pPr eaLnBrk="1" hangingPunct="1">
                  <a:lnSpc>
                    <a:spcPct val="90000"/>
                  </a:lnSpc>
                  <a:spcBef>
                    <a:spcPct val="50000"/>
                  </a:spcBef>
                </a:pPr>
                <a:r>
                  <a:rPr lang="zh-CN" altLang="en-US" sz="1800" dirty="0">
                    <a:solidFill>
                      <a:schemeClr val="tx1"/>
                    </a:solidFill>
                    <a:latin typeface="Times New Roman" panose="02020603050405020304" pitchFamily="18" charset="0"/>
                  </a:rPr>
                  <a:t>模拟量输出</a:t>
                </a:r>
                <a:endParaRPr lang="zh-CN" altLang="en-US" sz="1800" dirty="0">
                  <a:solidFill>
                    <a:schemeClr val="tx1"/>
                  </a:solidFill>
                  <a:latin typeface="Times New Roman" panose="02020603050405020304" pitchFamily="18" charset="0"/>
                </a:endParaRPr>
              </a:p>
            </p:txBody>
          </p:sp>
          <p:sp>
            <p:nvSpPr>
              <p:cNvPr id="22548" name="Line 47"/>
              <p:cNvSpPr/>
              <p:nvPr/>
            </p:nvSpPr>
            <p:spPr>
              <a:xfrm flipV="1">
                <a:off x="1614" y="2174"/>
                <a:ext cx="2201" cy="1357"/>
              </a:xfrm>
              <a:prstGeom prst="line">
                <a:avLst/>
              </a:prstGeom>
              <a:ln w="12700" cap="flat" cmpd="sng">
                <a:solidFill>
                  <a:srgbClr val="008000"/>
                </a:solidFill>
                <a:prstDash val="dash"/>
                <a:headEnd type="none" w="med" len="med"/>
                <a:tailEnd type="none" w="med" len="med"/>
              </a:ln>
            </p:spPr>
          </p:sp>
          <p:sp>
            <p:nvSpPr>
              <p:cNvPr id="22549" name="Freeform 48"/>
              <p:cNvSpPr/>
              <p:nvPr/>
            </p:nvSpPr>
            <p:spPr>
              <a:xfrm>
                <a:off x="1609" y="2176"/>
                <a:ext cx="2206" cy="1358"/>
              </a:xfrm>
              <a:custGeom>
                <a:avLst/>
                <a:gdLst/>
                <a:ahLst/>
                <a:cxnLst>
                  <a:cxn ang="0">
                    <a:pos x="0" y="1695"/>
                  </a:cxn>
                  <a:cxn ang="0">
                    <a:pos x="2190" y="1060"/>
                  </a:cxn>
                  <a:cxn ang="0">
                    <a:pos x="3832" y="0"/>
                  </a:cxn>
                </a:cxnLst>
                <a:pathLst>
                  <a:path w="1270" h="1088">
                    <a:moveTo>
                      <a:pt x="0" y="1088"/>
                    </a:moveTo>
                    <a:cubicBezTo>
                      <a:pt x="257" y="974"/>
                      <a:pt x="514" y="861"/>
                      <a:pt x="726" y="680"/>
                    </a:cubicBezTo>
                    <a:cubicBezTo>
                      <a:pt x="938" y="499"/>
                      <a:pt x="1104" y="249"/>
                      <a:pt x="1270" y="0"/>
                    </a:cubicBezTo>
                  </a:path>
                </a:pathLst>
              </a:custGeom>
              <a:noFill/>
              <a:ln w="12700" cap="flat" cmpd="sng">
                <a:solidFill>
                  <a:srgbClr val="FF0000">
                    <a:alpha val="100000"/>
                  </a:srgbClr>
                </a:solidFill>
                <a:prstDash val="dash"/>
                <a:round/>
                <a:headEnd type="none" w="med" len="med"/>
                <a:tailEnd type="none" w="med" len="med"/>
              </a:ln>
            </p:spPr>
            <p:txBody>
              <a:bodyPr/>
              <a:p>
                <a:endParaRPr lang="zh-CN" altLang="en-US"/>
              </a:p>
            </p:txBody>
          </p:sp>
          <p:sp>
            <p:nvSpPr>
              <p:cNvPr id="22550" name="Line 50"/>
              <p:cNvSpPr/>
              <p:nvPr/>
            </p:nvSpPr>
            <p:spPr>
              <a:xfrm flipV="1">
                <a:off x="1813" y="3403"/>
                <a:ext cx="0" cy="130"/>
              </a:xfrm>
              <a:prstGeom prst="line">
                <a:avLst/>
              </a:prstGeom>
              <a:ln w="9525" cap="rnd" cmpd="sng">
                <a:solidFill>
                  <a:srgbClr val="FF00FF"/>
                </a:solidFill>
                <a:prstDash val="sysDot"/>
                <a:headEnd type="none" w="med" len="med"/>
                <a:tailEnd type="none" w="med" len="med"/>
              </a:ln>
            </p:spPr>
          </p:sp>
          <p:sp>
            <p:nvSpPr>
              <p:cNvPr id="22551" name="Oval 51"/>
              <p:cNvSpPr/>
              <p:nvPr/>
            </p:nvSpPr>
            <p:spPr>
              <a:xfrm>
                <a:off x="1801" y="3397"/>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52" name="Line 55"/>
              <p:cNvSpPr/>
              <p:nvPr/>
            </p:nvSpPr>
            <p:spPr>
              <a:xfrm flipV="1">
                <a:off x="2015" y="3302"/>
                <a:ext cx="0" cy="232"/>
              </a:xfrm>
              <a:prstGeom prst="line">
                <a:avLst/>
              </a:prstGeom>
              <a:ln w="9525" cap="rnd" cmpd="sng">
                <a:solidFill>
                  <a:srgbClr val="FF00FF"/>
                </a:solidFill>
                <a:prstDash val="sysDot"/>
                <a:headEnd type="none" w="med" len="med"/>
                <a:tailEnd type="none" w="med" len="med"/>
              </a:ln>
            </p:spPr>
          </p:sp>
          <p:sp>
            <p:nvSpPr>
              <p:cNvPr id="22553" name="Oval 56"/>
              <p:cNvSpPr/>
              <p:nvPr/>
            </p:nvSpPr>
            <p:spPr>
              <a:xfrm>
                <a:off x="2004" y="3274"/>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54" name="Line 58"/>
              <p:cNvSpPr/>
              <p:nvPr/>
            </p:nvSpPr>
            <p:spPr>
              <a:xfrm flipV="1">
                <a:off x="2214" y="3176"/>
                <a:ext cx="0" cy="358"/>
              </a:xfrm>
              <a:prstGeom prst="line">
                <a:avLst/>
              </a:prstGeom>
              <a:ln w="9525" cap="rnd" cmpd="sng">
                <a:solidFill>
                  <a:srgbClr val="FF00FF"/>
                </a:solidFill>
                <a:prstDash val="sysDot"/>
                <a:headEnd type="none" w="med" len="med"/>
                <a:tailEnd type="none" w="med" len="med"/>
              </a:ln>
            </p:spPr>
          </p:sp>
          <p:sp>
            <p:nvSpPr>
              <p:cNvPr id="22555" name="Oval 59"/>
              <p:cNvSpPr/>
              <p:nvPr/>
            </p:nvSpPr>
            <p:spPr>
              <a:xfrm>
                <a:off x="2202" y="3151"/>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56" name="Line 61"/>
              <p:cNvSpPr/>
              <p:nvPr/>
            </p:nvSpPr>
            <p:spPr>
              <a:xfrm flipV="1">
                <a:off x="2416" y="3052"/>
                <a:ext cx="0" cy="479"/>
              </a:xfrm>
              <a:prstGeom prst="line">
                <a:avLst/>
              </a:prstGeom>
              <a:ln w="9525" cap="rnd" cmpd="sng">
                <a:solidFill>
                  <a:srgbClr val="FF00FF"/>
                </a:solidFill>
                <a:prstDash val="sysDot"/>
                <a:headEnd type="none" w="med" len="med"/>
                <a:tailEnd type="none" w="med" len="med"/>
              </a:ln>
            </p:spPr>
          </p:sp>
          <p:sp>
            <p:nvSpPr>
              <p:cNvPr id="22557" name="Oval 62"/>
              <p:cNvSpPr/>
              <p:nvPr/>
            </p:nvSpPr>
            <p:spPr>
              <a:xfrm>
                <a:off x="2404" y="3024"/>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58" name="Line 64"/>
              <p:cNvSpPr/>
              <p:nvPr/>
            </p:nvSpPr>
            <p:spPr>
              <a:xfrm flipV="1">
                <a:off x="2615" y="2929"/>
                <a:ext cx="0" cy="604"/>
              </a:xfrm>
              <a:prstGeom prst="line">
                <a:avLst/>
              </a:prstGeom>
              <a:ln w="9525" cap="rnd" cmpd="sng">
                <a:solidFill>
                  <a:srgbClr val="FF00FF"/>
                </a:solidFill>
                <a:prstDash val="sysDot"/>
                <a:headEnd type="none" w="med" len="med"/>
                <a:tailEnd type="none" w="med" len="med"/>
              </a:ln>
            </p:spPr>
          </p:sp>
          <p:sp>
            <p:nvSpPr>
              <p:cNvPr id="22559" name="Oval 65"/>
              <p:cNvSpPr/>
              <p:nvPr/>
            </p:nvSpPr>
            <p:spPr>
              <a:xfrm>
                <a:off x="2603" y="2901"/>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60" name="Line 67"/>
              <p:cNvSpPr/>
              <p:nvPr/>
            </p:nvSpPr>
            <p:spPr>
              <a:xfrm flipV="1">
                <a:off x="2817" y="2803"/>
                <a:ext cx="0" cy="731"/>
              </a:xfrm>
              <a:prstGeom prst="line">
                <a:avLst/>
              </a:prstGeom>
              <a:ln w="9525" cap="rnd" cmpd="sng">
                <a:solidFill>
                  <a:srgbClr val="FF00FF"/>
                </a:solidFill>
                <a:prstDash val="sysDot"/>
                <a:headEnd type="none" w="med" len="med"/>
                <a:tailEnd type="none" w="med" len="med"/>
              </a:ln>
            </p:spPr>
          </p:sp>
          <p:sp>
            <p:nvSpPr>
              <p:cNvPr id="22561" name="Oval 68"/>
              <p:cNvSpPr/>
              <p:nvPr/>
            </p:nvSpPr>
            <p:spPr>
              <a:xfrm>
                <a:off x="2805" y="2776"/>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62" name="Line 70"/>
              <p:cNvSpPr/>
              <p:nvPr/>
            </p:nvSpPr>
            <p:spPr>
              <a:xfrm flipH="1" flipV="1">
                <a:off x="3015" y="2680"/>
                <a:ext cx="0" cy="854"/>
              </a:xfrm>
              <a:prstGeom prst="line">
                <a:avLst/>
              </a:prstGeom>
              <a:ln w="9525" cap="rnd" cmpd="sng">
                <a:solidFill>
                  <a:srgbClr val="FF00FF"/>
                </a:solidFill>
                <a:prstDash val="sysDot"/>
                <a:headEnd type="none" w="med" len="med"/>
                <a:tailEnd type="none" w="med" len="med"/>
              </a:ln>
            </p:spPr>
          </p:sp>
          <p:sp>
            <p:nvSpPr>
              <p:cNvPr id="22563" name="Oval 71"/>
              <p:cNvSpPr/>
              <p:nvPr/>
            </p:nvSpPr>
            <p:spPr>
              <a:xfrm>
                <a:off x="3004" y="2653"/>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64" name="Line 73"/>
              <p:cNvSpPr/>
              <p:nvPr/>
            </p:nvSpPr>
            <p:spPr>
              <a:xfrm flipV="1">
                <a:off x="3218" y="2528"/>
                <a:ext cx="0" cy="1003"/>
              </a:xfrm>
              <a:prstGeom prst="line">
                <a:avLst/>
              </a:prstGeom>
              <a:ln w="9525" cap="rnd" cmpd="sng">
                <a:solidFill>
                  <a:srgbClr val="FF00FF"/>
                </a:solidFill>
                <a:prstDash val="sysDot"/>
                <a:headEnd type="none" w="med" len="med"/>
                <a:tailEnd type="none" w="med" len="med"/>
              </a:ln>
            </p:spPr>
          </p:sp>
          <p:sp>
            <p:nvSpPr>
              <p:cNvPr id="22565" name="Oval 74"/>
              <p:cNvSpPr/>
              <p:nvPr/>
            </p:nvSpPr>
            <p:spPr>
              <a:xfrm>
                <a:off x="3206" y="2530"/>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66" name="Line 76"/>
              <p:cNvSpPr/>
              <p:nvPr/>
            </p:nvSpPr>
            <p:spPr>
              <a:xfrm flipV="1">
                <a:off x="3414" y="2434"/>
                <a:ext cx="0" cy="1099"/>
              </a:xfrm>
              <a:prstGeom prst="line">
                <a:avLst/>
              </a:prstGeom>
              <a:ln w="9525" cap="rnd" cmpd="sng">
                <a:solidFill>
                  <a:srgbClr val="FF00FF"/>
                </a:solidFill>
                <a:prstDash val="sysDot"/>
                <a:headEnd type="none" w="med" len="med"/>
                <a:tailEnd type="none" w="med" len="med"/>
              </a:ln>
            </p:spPr>
          </p:sp>
          <p:sp>
            <p:nvSpPr>
              <p:cNvPr id="22567" name="Oval 77"/>
              <p:cNvSpPr/>
              <p:nvPr/>
            </p:nvSpPr>
            <p:spPr>
              <a:xfrm>
                <a:off x="3403" y="2407"/>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68" name="Line 79"/>
              <p:cNvSpPr/>
              <p:nvPr/>
            </p:nvSpPr>
            <p:spPr>
              <a:xfrm flipV="1">
                <a:off x="3617" y="2308"/>
                <a:ext cx="0" cy="1226"/>
              </a:xfrm>
              <a:prstGeom prst="line">
                <a:avLst/>
              </a:prstGeom>
              <a:ln w="9525" cap="rnd" cmpd="sng">
                <a:solidFill>
                  <a:srgbClr val="FF00FF"/>
                </a:solidFill>
                <a:prstDash val="sysDot"/>
                <a:headEnd type="none" w="med" len="med"/>
                <a:tailEnd type="none" w="med" len="med"/>
              </a:ln>
            </p:spPr>
          </p:sp>
          <p:sp>
            <p:nvSpPr>
              <p:cNvPr id="22569" name="Oval 80"/>
              <p:cNvSpPr/>
              <p:nvPr/>
            </p:nvSpPr>
            <p:spPr>
              <a:xfrm>
                <a:off x="3605" y="2281"/>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0" name="Line 82"/>
              <p:cNvSpPr/>
              <p:nvPr/>
            </p:nvSpPr>
            <p:spPr>
              <a:xfrm flipV="1">
                <a:off x="3815" y="2157"/>
                <a:ext cx="0" cy="1377"/>
              </a:xfrm>
              <a:prstGeom prst="line">
                <a:avLst/>
              </a:prstGeom>
              <a:ln w="9525" cap="rnd" cmpd="sng">
                <a:solidFill>
                  <a:srgbClr val="FF00FF"/>
                </a:solidFill>
                <a:prstDash val="sysDot"/>
                <a:headEnd type="none" w="med" len="med"/>
                <a:tailEnd type="none" w="med" len="med"/>
              </a:ln>
            </p:spPr>
          </p:sp>
          <p:sp>
            <p:nvSpPr>
              <p:cNvPr id="22571" name="Oval 83"/>
              <p:cNvSpPr/>
              <p:nvPr/>
            </p:nvSpPr>
            <p:spPr>
              <a:xfrm>
                <a:off x="3804" y="2159"/>
                <a:ext cx="23" cy="23"/>
              </a:xfrm>
              <a:prstGeom prst="ellipse">
                <a:avLst/>
              </a:prstGeom>
              <a:solidFill>
                <a:srgbClr val="008000"/>
              </a:solidFill>
              <a:ln w="9525" cap="flat" cmpd="sng">
                <a:solidFill>
                  <a:srgbClr val="008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2" name="Oval 88"/>
              <p:cNvSpPr/>
              <p:nvPr/>
            </p:nvSpPr>
            <p:spPr>
              <a:xfrm>
                <a:off x="1801" y="3456"/>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3" name="Oval 89"/>
              <p:cNvSpPr/>
              <p:nvPr/>
            </p:nvSpPr>
            <p:spPr>
              <a:xfrm>
                <a:off x="2004" y="3390"/>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4" name="Oval 90"/>
              <p:cNvSpPr/>
              <p:nvPr/>
            </p:nvSpPr>
            <p:spPr>
              <a:xfrm>
                <a:off x="2202" y="3318"/>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5" name="Oval 91"/>
              <p:cNvSpPr/>
              <p:nvPr/>
            </p:nvSpPr>
            <p:spPr>
              <a:xfrm>
                <a:off x="2404" y="3238"/>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6" name="Oval 92"/>
              <p:cNvSpPr/>
              <p:nvPr/>
            </p:nvSpPr>
            <p:spPr>
              <a:xfrm>
                <a:off x="2603" y="3149"/>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7" name="Oval 93"/>
              <p:cNvSpPr/>
              <p:nvPr/>
            </p:nvSpPr>
            <p:spPr>
              <a:xfrm>
                <a:off x="2805" y="3042"/>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8" name="Oval 94"/>
              <p:cNvSpPr/>
              <p:nvPr/>
            </p:nvSpPr>
            <p:spPr>
              <a:xfrm>
                <a:off x="3004" y="2915"/>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79" name="Oval 95"/>
              <p:cNvSpPr/>
              <p:nvPr/>
            </p:nvSpPr>
            <p:spPr>
              <a:xfrm>
                <a:off x="3206" y="2757"/>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80" name="Oval 96"/>
              <p:cNvSpPr/>
              <p:nvPr/>
            </p:nvSpPr>
            <p:spPr>
              <a:xfrm>
                <a:off x="3408" y="2574"/>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81" name="Oval 97"/>
              <p:cNvSpPr/>
              <p:nvPr/>
            </p:nvSpPr>
            <p:spPr>
              <a:xfrm>
                <a:off x="3605" y="2377"/>
                <a:ext cx="23" cy="23"/>
              </a:xfrm>
              <a:prstGeom prst="ellipse">
                <a:avLst/>
              </a:prstGeom>
              <a:solidFill>
                <a:srgbClr val="FF0000"/>
              </a:solidFill>
              <a:ln w="9525"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2582" name="Text Box 98"/>
              <p:cNvSpPr txBox="1"/>
              <p:nvPr/>
            </p:nvSpPr>
            <p:spPr>
              <a:xfrm>
                <a:off x="3538" y="1931"/>
                <a:ext cx="727" cy="214"/>
              </a:xfrm>
              <a:prstGeom prst="rect">
                <a:avLst/>
              </a:prstGeom>
              <a:noFill/>
              <a:ln w="9525">
                <a:noFill/>
              </a:ln>
            </p:spPr>
            <p:txBody>
              <a:bodyPr>
                <a:spAutoFit/>
              </a:bodyPr>
              <a:p>
                <a:pPr eaLnBrk="1" hangingPunct="1">
                  <a:lnSpc>
                    <a:spcPct val="90000"/>
                  </a:lnSpc>
                  <a:spcBef>
                    <a:spcPct val="50000"/>
                  </a:spcBef>
                </a:pPr>
                <a:r>
                  <a:rPr lang="zh-CN" altLang="en-US" sz="1800" dirty="0">
                    <a:latin typeface="Times New Roman" panose="02020603050405020304" pitchFamily="18" charset="0"/>
                  </a:rPr>
                  <a:t>满量程</a:t>
                </a:r>
                <a:endParaRPr lang="zh-CN" altLang="en-US" sz="1800" dirty="0">
                  <a:latin typeface="Times New Roman" panose="02020603050405020304" pitchFamily="18" charset="0"/>
                </a:endParaRPr>
              </a:p>
            </p:txBody>
          </p:sp>
          <p:sp>
            <p:nvSpPr>
              <p:cNvPr id="22583" name="Line 99"/>
              <p:cNvSpPr/>
              <p:nvPr/>
            </p:nvSpPr>
            <p:spPr>
              <a:xfrm>
                <a:off x="2817" y="2789"/>
                <a:ext cx="1422" cy="0"/>
              </a:xfrm>
              <a:prstGeom prst="line">
                <a:avLst/>
              </a:prstGeom>
              <a:ln w="12700" cap="flat" cmpd="sng">
                <a:solidFill>
                  <a:schemeClr val="tx1"/>
                </a:solidFill>
                <a:prstDash val="solid"/>
                <a:headEnd type="none" w="med" len="med"/>
                <a:tailEnd type="none" w="med" len="med"/>
              </a:ln>
            </p:spPr>
          </p:sp>
          <p:sp>
            <p:nvSpPr>
              <p:cNvPr id="22584" name="Line 100"/>
              <p:cNvSpPr/>
              <p:nvPr/>
            </p:nvSpPr>
            <p:spPr>
              <a:xfrm>
                <a:off x="2817" y="3054"/>
                <a:ext cx="1422" cy="0"/>
              </a:xfrm>
              <a:prstGeom prst="line">
                <a:avLst/>
              </a:prstGeom>
              <a:ln w="12700" cap="flat" cmpd="sng">
                <a:solidFill>
                  <a:schemeClr val="tx1"/>
                </a:solidFill>
                <a:prstDash val="solid"/>
                <a:headEnd type="none" w="med" len="med"/>
                <a:tailEnd type="none" w="med" len="med"/>
              </a:ln>
            </p:spPr>
          </p:sp>
          <p:sp>
            <p:nvSpPr>
              <p:cNvPr id="22585" name="Line 102"/>
              <p:cNvSpPr/>
              <p:nvPr/>
            </p:nvSpPr>
            <p:spPr>
              <a:xfrm>
                <a:off x="4125" y="2572"/>
                <a:ext cx="0" cy="217"/>
              </a:xfrm>
              <a:prstGeom prst="line">
                <a:avLst/>
              </a:prstGeom>
              <a:ln w="9525" cap="flat" cmpd="sng">
                <a:solidFill>
                  <a:schemeClr val="tx1"/>
                </a:solidFill>
                <a:prstDash val="solid"/>
                <a:headEnd type="none" w="med" len="med"/>
                <a:tailEnd type="stealth" w="med" len="lg"/>
              </a:ln>
            </p:spPr>
          </p:sp>
          <p:sp>
            <p:nvSpPr>
              <p:cNvPr id="22586" name="Line 103"/>
              <p:cNvSpPr/>
              <p:nvPr/>
            </p:nvSpPr>
            <p:spPr>
              <a:xfrm flipV="1">
                <a:off x="4125" y="3054"/>
                <a:ext cx="0" cy="215"/>
              </a:xfrm>
              <a:prstGeom prst="line">
                <a:avLst/>
              </a:prstGeom>
              <a:ln w="9525" cap="flat" cmpd="sng">
                <a:solidFill>
                  <a:schemeClr val="tx1"/>
                </a:solidFill>
                <a:prstDash val="solid"/>
                <a:headEnd type="none" w="med" len="med"/>
                <a:tailEnd type="stealth" w="med" len="lg"/>
              </a:ln>
            </p:spPr>
          </p:sp>
          <p:sp>
            <p:nvSpPr>
              <p:cNvPr id="22587" name="Text Box 104"/>
              <p:cNvSpPr txBox="1"/>
              <p:nvPr/>
            </p:nvSpPr>
            <p:spPr>
              <a:xfrm>
                <a:off x="3915" y="2813"/>
                <a:ext cx="893" cy="214"/>
              </a:xfrm>
              <a:prstGeom prst="rect">
                <a:avLst/>
              </a:prstGeom>
              <a:noFill/>
              <a:ln w="9525">
                <a:noFill/>
              </a:ln>
            </p:spPr>
            <p:txBody>
              <a:bodyPr>
                <a:spAutoFit/>
              </a:bodyPr>
              <a:p>
                <a:pPr eaLnBrk="1" hangingPunct="1">
                  <a:lnSpc>
                    <a:spcPct val="90000"/>
                  </a:lnSpc>
                  <a:spcBef>
                    <a:spcPct val="50000"/>
                  </a:spcBef>
                </a:pPr>
                <a:r>
                  <a:rPr lang="zh-CN" altLang="en-US" sz="1800" dirty="0">
                    <a:latin typeface="Times New Roman" panose="02020603050405020304" pitchFamily="18" charset="0"/>
                  </a:rPr>
                  <a:t>偏差</a:t>
                </a:r>
                <a:endParaRPr lang="zh-CN" altLang="en-US" sz="1800" dirty="0">
                  <a:latin typeface="Times New Roman" panose="02020603050405020304" pitchFamily="18" charset="0"/>
                </a:endParaRPr>
              </a:p>
            </p:txBody>
          </p:sp>
        </p:grpSp>
        <p:sp>
          <p:nvSpPr>
            <p:cNvPr id="22538" name="Text Box 108"/>
            <p:cNvSpPr txBox="1"/>
            <p:nvPr/>
          </p:nvSpPr>
          <p:spPr>
            <a:xfrm>
              <a:off x="1832" y="2377"/>
              <a:ext cx="794" cy="214"/>
            </a:xfrm>
            <a:prstGeom prst="rect">
              <a:avLst/>
            </a:prstGeom>
            <a:noFill/>
            <a:ln w="9525">
              <a:noFill/>
            </a:ln>
          </p:spPr>
          <p:txBody>
            <a:bodyPr>
              <a:spAutoFit/>
            </a:bodyPr>
            <a:p>
              <a:pPr eaLnBrk="1" hangingPunct="1">
                <a:lnSpc>
                  <a:spcPct val="90000"/>
                </a:lnSpc>
                <a:spcBef>
                  <a:spcPct val="50000"/>
                </a:spcBef>
              </a:pPr>
              <a:r>
                <a:rPr lang="zh-CN" altLang="en-US" sz="1800" dirty="0">
                  <a:latin typeface="Times New Roman" panose="02020603050405020304" pitchFamily="18" charset="0"/>
                </a:rPr>
                <a:t>理想特性</a:t>
              </a:r>
              <a:endParaRPr lang="zh-CN" altLang="en-US" sz="1800" dirty="0">
                <a:latin typeface="Times New Roman" panose="02020603050405020304" pitchFamily="18" charset="0"/>
              </a:endParaRPr>
            </a:p>
          </p:txBody>
        </p:sp>
        <p:sp>
          <p:nvSpPr>
            <p:cNvPr id="22539" name="Line 109"/>
            <p:cNvSpPr/>
            <p:nvPr/>
          </p:nvSpPr>
          <p:spPr>
            <a:xfrm>
              <a:off x="2343" y="2596"/>
              <a:ext cx="313" cy="241"/>
            </a:xfrm>
            <a:prstGeom prst="line">
              <a:avLst/>
            </a:prstGeom>
            <a:ln w="12700" cap="flat" cmpd="sng">
              <a:solidFill>
                <a:schemeClr val="accent2"/>
              </a:solidFill>
              <a:prstDash val="solid"/>
              <a:headEnd type="none" w="med" len="med"/>
              <a:tailEnd type="stealth" w="med" len="lg"/>
            </a:ln>
          </p:spPr>
        </p:sp>
      </p:grpSp>
      <p:sp>
        <p:nvSpPr>
          <p:cNvPr id="2457711" name="Text Box 111"/>
          <p:cNvSpPr txBox="1"/>
          <p:nvPr/>
        </p:nvSpPr>
        <p:spPr>
          <a:xfrm>
            <a:off x="6011863" y="2960688"/>
            <a:ext cx="2363787" cy="2227262"/>
          </a:xfrm>
          <a:prstGeom prst="rect">
            <a:avLst/>
          </a:prstGeom>
          <a:noFill/>
          <a:ln w="9525">
            <a:noFill/>
          </a:ln>
        </p:spPr>
        <p:txBody>
          <a:bodyPr>
            <a:spAutoFit/>
          </a:bodyPr>
          <a:p>
            <a:pPr marL="355600" indent="-355600" eaLnBrk="1" hangingPunct="1">
              <a:lnSpc>
                <a:spcPct val="90000"/>
              </a:lnSpc>
              <a:spcBef>
                <a:spcPct val="50000"/>
              </a:spcBef>
              <a:buClr>
                <a:srgbClr val="FF0000"/>
              </a:buClr>
              <a:buFont typeface="Wingdings" panose="05000000000000000000" pitchFamily="2" charset="2"/>
              <a:buChar char="Ø"/>
            </a:pPr>
            <a:r>
              <a:rPr lang="zh-CN" altLang="en-US" sz="2800" dirty="0">
                <a:latin typeface="Times New Roman" panose="02020603050405020304" pitchFamily="18" charset="0"/>
              </a:rPr>
              <a:t>通常要求线性误差小于</a:t>
            </a:r>
            <a:r>
              <a:rPr lang="en-US" altLang="zh-CN" sz="2800" i="1" dirty="0">
                <a:latin typeface="Times New Roman" panose="02020603050405020304" pitchFamily="18" charset="0"/>
              </a:rPr>
              <a:t>LSB</a:t>
            </a:r>
            <a:r>
              <a:rPr lang="en-US" altLang="zh-CN" sz="2800" dirty="0">
                <a:latin typeface="Times New Roman" panose="02020603050405020304" pitchFamily="18" charset="0"/>
              </a:rPr>
              <a:t>/2</a:t>
            </a:r>
            <a:r>
              <a:rPr lang="zh-CN" altLang="en-US" sz="2800" dirty="0">
                <a:latin typeface="Times New Roman" panose="02020603050405020304" pitchFamily="18" charset="0"/>
              </a:rPr>
              <a:t>。</a:t>
            </a:r>
            <a:endParaRPr lang="zh-CN" altLang="en-US" sz="2800" dirty="0">
              <a:latin typeface="Times New Roman" panose="02020603050405020304" pitchFamily="18" charset="0"/>
            </a:endParaRPr>
          </a:p>
          <a:p>
            <a:pPr marL="355600" indent="-355600" eaLnBrk="1" hangingPunct="1">
              <a:lnSpc>
                <a:spcPct val="90000"/>
              </a:lnSpc>
              <a:spcBef>
                <a:spcPct val="50000"/>
              </a:spcBef>
              <a:buClr>
                <a:srgbClr val="FF0000"/>
              </a:buClr>
              <a:buFont typeface="Wingdings" panose="05000000000000000000" pitchFamily="2" charset="2"/>
              <a:buChar char="Ø"/>
            </a:pPr>
            <a:r>
              <a:rPr lang="zh-CN" altLang="en-US" sz="2800" dirty="0">
                <a:latin typeface="Times New Roman" panose="02020603050405020304" pitchFamily="18" charset="0"/>
              </a:rPr>
              <a:t>线性误差是温度的函数。</a:t>
            </a:r>
            <a:endParaRPr lang="zh-CN" altLang="en-US"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57603"/>
                                        </p:tgtEl>
                                        <p:attrNameLst>
                                          <p:attrName>style.visibility</p:attrName>
                                        </p:attrNameLst>
                                      </p:cBhvr>
                                      <p:to>
                                        <p:strVal val="visible"/>
                                      </p:to>
                                    </p:set>
                                    <p:animEffect transition="in" filter="dissolve">
                                      <p:cBhvr>
                                        <p:cTn id="7" dur="500"/>
                                        <p:tgtEl>
                                          <p:spTgt spid="24576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57604"/>
                                        </p:tgtEl>
                                        <p:attrNameLst>
                                          <p:attrName>style.visibility</p:attrName>
                                        </p:attrNameLst>
                                      </p:cBhvr>
                                      <p:to>
                                        <p:strVal val="visible"/>
                                      </p:to>
                                    </p:set>
                                    <p:animEffect transition="in" filter="dissolve">
                                      <p:cBhvr>
                                        <p:cTn id="12" dur="500"/>
                                        <p:tgtEl>
                                          <p:spTgt spid="245760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57604">
                                            <p:txEl>
                                              <p:charRg st="0" end="32"/>
                                            </p:txEl>
                                          </p:spTgt>
                                        </p:tgtEl>
                                        <p:attrNameLst>
                                          <p:attrName>style.visibility</p:attrName>
                                        </p:attrNameLst>
                                      </p:cBhvr>
                                      <p:to>
                                        <p:strVal val="visible"/>
                                      </p:to>
                                    </p:set>
                                    <p:animEffect transition="in" filter="dissolve">
                                      <p:cBhvr>
                                        <p:cTn id="15" dur="500"/>
                                        <p:tgtEl>
                                          <p:spTgt spid="2457604">
                                            <p:txEl>
                                              <p:charRg st="0" end="3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57611"/>
                                        </p:tgtEl>
                                        <p:attrNameLst>
                                          <p:attrName>style.visibility</p:attrName>
                                        </p:attrNameLst>
                                      </p:cBhvr>
                                      <p:to>
                                        <p:strVal val="visible"/>
                                      </p:to>
                                    </p:set>
                                    <p:animEffect transition="in" filter="dissolve">
                                      <p:cBhvr>
                                        <p:cTn id="20" dur="500"/>
                                        <p:tgtEl>
                                          <p:spTgt spid="2457611"/>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457610"/>
                                        </p:tgtEl>
                                        <p:attrNameLst>
                                          <p:attrName>style.visibility</p:attrName>
                                        </p:attrNameLst>
                                      </p:cBhvr>
                                      <p:to>
                                        <p:strVal val="visible"/>
                                      </p:to>
                                    </p:set>
                                    <p:animEffect transition="in" filter="dissolve">
                                      <p:cBhvr>
                                        <p:cTn id="23" dur="500"/>
                                        <p:tgtEl>
                                          <p:spTgt spid="2457610"/>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457710"/>
                                        </p:tgtEl>
                                        <p:attrNameLst>
                                          <p:attrName>style.visibility</p:attrName>
                                        </p:attrNameLst>
                                      </p:cBhvr>
                                      <p:to>
                                        <p:strVal val="visible"/>
                                      </p:to>
                                    </p:set>
                                    <p:animEffect transition="in" filter="dissolve">
                                      <p:cBhvr>
                                        <p:cTn id="28" dur="500"/>
                                        <p:tgtEl>
                                          <p:spTgt spid="2457710"/>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457711">
                                            <p:txEl>
                                              <p:charRg st="0" end="17"/>
                                            </p:txEl>
                                          </p:spTgt>
                                        </p:tgtEl>
                                        <p:attrNameLst>
                                          <p:attrName>style.visibility</p:attrName>
                                        </p:attrNameLst>
                                      </p:cBhvr>
                                      <p:to>
                                        <p:strVal val="visible"/>
                                      </p:to>
                                    </p:set>
                                    <p:animEffect transition="in" filter="dissolve">
                                      <p:cBhvr>
                                        <p:cTn id="33" dur="500"/>
                                        <p:tgtEl>
                                          <p:spTgt spid="2457711">
                                            <p:txEl>
                                              <p:charRg st="0" end="17"/>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2457711">
                                            <p:txEl>
                                              <p:charRg st="17" end="29"/>
                                            </p:txEl>
                                          </p:spTgt>
                                        </p:tgtEl>
                                        <p:attrNameLst>
                                          <p:attrName>style.visibility</p:attrName>
                                        </p:attrNameLst>
                                      </p:cBhvr>
                                      <p:to>
                                        <p:strVal val="visible"/>
                                      </p:to>
                                    </p:set>
                                    <p:animEffect transition="in" filter="dissolve">
                                      <p:cBhvr>
                                        <p:cTn id="38" dur="500"/>
                                        <p:tgtEl>
                                          <p:spTgt spid="2457711">
                                            <p:txEl>
                                              <p:charRg st="17" end="2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603" grpId="0" bldLvl="0" animBg="1"/>
      <p:bldP spid="2457604" grpId="0" animBg="1" build="allAtOnce"/>
      <p:bldP spid="2457610" grpId="0" bldLvl="0" animBg="1"/>
      <p:bldP spid="2457611"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59650"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59651" name="Rectangle 3"/>
          <p:cNvSpPr/>
          <p:nvPr/>
        </p:nvSpPr>
        <p:spPr>
          <a:xfrm>
            <a:off x="454025" y="690563"/>
            <a:ext cx="25336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4.  </a:t>
            </a:r>
            <a:r>
              <a:rPr lang="zh-CN" altLang="en-US" sz="3200" dirty="0">
                <a:latin typeface="Times New Roman" panose="02020603050405020304" pitchFamily="18" charset="0"/>
              </a:rPr>
              <a:t>建立时间</a:t>
            </a:r>
            <a:endParaRPr lang="zh-CN" altLang="en-US" sz="3200" dirty="0">
              <a:latin typeface="Times New Roman" panose="02020603050405020304" pitchFamily="18" charset="0"/>
            </a:endParaRPr>
          </a:p>
        </p:txBody>
      </p:sp>
      <p:sp>
        <p:nvSpPr>
          <p:cNvPr id="2459652" name="Text Box 4"/>
          <p:cNvSpPr txBox="1"/>
          <p:nvPr/>
        </p:nvSpPr>
        <p:spPr>
          <a:xfrm>
            <a:off x="1042988" y="1484313"/>
            <a:ext cx="7308850" cy="138271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建立时间：</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转换器的输入数码满量程变化时，其输出模拟量稳定到最终值</a:t>
            </a:r>
            <a:r>
              <a:rPr lang="en-US" altLang="zh-CN" sz="2800" dirty="0">
                <a:solidFill>
                  <a:schemeClr val="tx1"/>
                </a:solidFill>
                <a:latin typeface="Times New Roman" panose="02020603050405020304" pitchFamily="18" charset="0"/>
                <a:ea typeface="黑体" panose="02010609060101010101" pitchFamily="49" charset="-122"/>
              </a:rPr>
              <a:t>±</a:t>
            </a:r>
            <a:r>
              <a:rPr lang="en-US" altLang="zh-CN" sz="2800" i="1" dirty="0">
                <a:solidFill>
                  <a:schemeClr val="tx1"/>
                </a:solidFill>
                <a:latin typeface="Times New Roman" panose="02020603050405020304" pitchFamily="18" charset="0"/>
                <a:ea typeface="黑体" panose="02010609060101010101" pitchFamily="49" charset="-122"/>
              </a:rPr>
              <a:t>LSB</a:t>
            </a:r>
            <a:r>
              <a:rPr lang="en-US" altLang="zh-CN" sz="2800" dirty="0">
                <a:solidFill>
                  <a:schemeClr val="tx1"/>
                </a:solidFill>
                <a:latin typeface="Times New Roman" panose="02020603050405020304" pitchFamily="18" charset="0"/>
                <a:ea typeface="黑体" panose="02010609060101010101" pitchFamily="49" charset="-122"/>
              </a:rPr>
              <a:t>/2</a:t>
            </a:r>
            <a:r>
              <a:rPr lang="zh-CN" altLang="en-US" sz="2800" dirty="0">
                <a:solidFill>
                  <a:schemeClr val="tx1"/>
                </a:solidFill>
                <a:latin typeface="黑体" panose="02010609060101010101" pitchFamily="49" charset="-122"/>
                <a:ea typeface="黑体" panose="02010609060101010101" pitchFamily="49" charset="-122"/>
              </a:rPr>
              <a:t>范围所需的时间。</a:t>
            </a:r>
            <a:endParaRPr lang="zh-CN" altLang="en-US" sz="2800" dirty="0">
              <a:solidFill>
                <a:schemeClr val="tx1"/>
              </a:solidFill>
              <a:latin typeface="黑体" panose="02010609060101010101" pitchFamily="49" charset="-122"/>
              <a:ea typeface="黑体" panose="02010609060101010101" pitchFamily="49" charset="-122"/>
            </a:endParaRPr>
          </a:p>
        </p:txBody>
      </p:sp>
      <p:pic>
        <p:nvPicPr>
          <p:cNvPr id="2459707" name="Picture 59" descr="8-54"/>
          <p:cNvPicPr>
            <a:picLocks noChangeAspect="1"/>
          </p:cNvPicPr>
          <p:nvPr/>
        </p:nvPicPr>
        <p:blipFill>
          <a:blip r:embed="rId1"/>
          <a:srcRect l="7272" t="7390" r="14546" b="5774"/>
          <a:stretch>
            <a:fillRect/>
          </a:stretch>
        </p:blipFill>
        <p:spPr>
          <a:xfrm>
            <a:off x="323850" y="3105150"/>
            <a:ext cx="4198938" cy="2987675"/>
          </a:xfrm>
          <a:prstGeom prst="rect">
            <a:avLst/>
          </a:prstGeom>
          <a:noFill/>
          <a:ln w="9525">
            <a:noFill/>
          </a:ln>
        </p:spPr>
      </p:pic>
      <p:sp>
        <p:nvSpPr>
          <p:cNvPr id="2459708" name="Text Box 60"/>
          <p:cNvSpPr txBox="1"/>
          <p:nvPr/>
        </p:nvSpPr>
        <p:spPr>
          <a:xfrm>
            <a:off x="4643438" y="3062288"/>
            <a:ext cx="4176712" cy="2995612"/>
          </a:xfrm>
          <a:prstGeom prst="rect">
            <a:avLst/>
          </a:prstGeom>
          <a:noFill/>
          <a:ln w="9525">
            <a:noFill/>
          </a:ln>
        </p:spPr>
        <p:txBody>
          <a:bodyPr>
            <a:spAutoFit/>
          </a:bodyPr>
          <a:p>
            <a:pPr marL="452755" indent="-452755" eaLnBrk="1" hangingPunct="1">
              <a:lnSpc>
                <a:spcPct val="90000"/>
              </a:lnSpc>
              <a:spcBef>
                <a:spcPct val="50000"/>
              </a:spcBef>
              <a:buClr>
                <a:srgbClr val="FF0000"/>
              </a:buClr>
              <a:buFont typeface="Wingdings" panose="05000000000000000000" pitchFamily="2" charset="2"/>
              <a:buChar char="Ø"/>
            </a:pPr>
            <a:r>
              <a:rPr lang="zh-CN" altLang="en-US" sz="2800" dirty="0">
                <a:latin typeface="Times New Roman" panose="02020603050405020304" pitchFamily="18" charset="0"/>
              </a:rPr>
              <a:t>建立时间反映</a:t>
            </a:r>
            <a:r>
              <a:rPr lang="en-US" altLang="zh-CN" sz="2800" dirty="0">
                <a:latin typeface="Times New Roman" panose="02020603050405020304" pitchFamily="18" charset="0"/>
              </a:rPr>
              <a:t>D/A</a:t>
            </a:r>
            <a:r>
              <a:rPr lang="zh-CN" altLang="en-US" sz="2800" dirty="0">
                <a:latin typeface="Times New Roman" panose="02020603050405020304" pitchFamily="18" charset="0"/>
              </a:rPr>
              <a:t>转换从一个稳态值向另一个稳态值过渡的时间长短。</a:t>
            </a:r>
            <a:endParaRPr lang="zh-CN" altLang="en-US" sz="2800" dirty="0">
              <a:latin typeface="Times New Roman" panose="02020603050405020304" pitchFamily="18" charset="0"/>
            </a:endParaRPr>
          </a:p>
          <a:p>
            <a:pPr marL="452755" indent="-452755" eaLnBrk="1" hangingPunct="1">
              <a:lnSpc>
                <a:spcPct val="90000"/>
              </a:lnSpc>
              <a:spcBef>
                <a:spcPct val="50000"/>
              </a:spcBef>
              <a:buClr>
                <a:srgbClr val="FF0000"/>
              </a:buClr>
              <a:buFont typeface="Wingdings" panose="05000000000000000000" pitchFamily="2" charset="2"/>
              <a:buChar char="Ø"/>
            </a:pPr>
            <a:r>
              <a:rPr lang="zh-CN" altLang="en-US" sz="2800" dirty="0">
                <a:latin typeface="Times New Roman" panose="02020603050405020304" pitchFamily="18" charset="0"/>
              </a:rPr>
              <a:t>根据建立时间，可以计算出</a:t>
            </a:r>
            <a:r>
              <a:rPr lang="en-US" altLang="zh-CN" sz="2800" dirty="0">
                <a:latin typeface="Times New Roman" panose="02020603050405020304" pitchFamily="18" charset="0"/>
              </a:rPr>
              <a:t>D/A</a:t>
            </a:r>
            <a:r>
              <a:rPr lang="zh-CN" altLang="en-US" sz="2800" dirty="0">
                <a:latin typeface="Times New Roman" panose="02020603050405020304" pitchFamily="18" charset="0"/>
              </a:rPr>
              <a:t>转换器每秒最大的转换次数。</a:t>
            </a:r>
            <a:endParaRPr lang="zh-CN" altLang="en-US"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59651"/>
                                        </p:tgtEl>
                                        <p:attrNameLst>
                                          <p:attrName>style.visibility</p:attrName>
                                        </p:attrNameLst>
                                      </p:cBhvr>
                                      <p:to>
                                        <p:strVal val="visible"/>
                                      </p:to>
                                    </p:set>
                                    <p:animEffect transition="in" filter="dissolve">
                                      <p:cBhvr>
                                        <p:cTn id="7" dur="500"/>
                                        <p:tgtEl>
                                          <p:spTgt spid="24596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59652"/>
                                        </p:tgtEl>
                                        <p:attrNameLst>
                                          <p:attrName>style.visibility</p:attrName>
                                        </p:attrNameLst>
                                      </p:cBhvr>
                                      <p:to>
                                        <p:strVal val="visible"/>
                                      </p:to>
                                    </p:set>
                                    <p:animEffect transition="in" filter="dissolve">
                                      <p:cBhvr>
                                        <p:cTn id="12" dur="500"/>
                                        <p:tgtEl>
                                          <p:spTgt spid="245965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59652">
                                            <p:txEl>
                                              <p:charRg st="0" end="50"/>
                                            </p:txEl>
                                          </p:spTgt>
                                        </p:tgtEl>
                                        <p:attrNameLst>
                                          <p:attrName>style.visibility</p:attrName>
                                        </p:attrNameLst>
                                      </p:cBhvr>
                                      <p:to>
                                        <p:strVal val="visible"/>
                                      </p:to>
                                    </p:set>
                                    <p:animEffect transition="in" filter="dissolve">
                                      <p:cBhvr>
                                        <p:cTn id="15" dur="500"/>
                                        <p:tgtEl>
                                          <p:spTgt spid="2459652">
                                            <p:txEl>
                                              <p:charRg st="0" end="5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459707"/>
                                        </p:tgtEl>
                                        <p:attrNameLst>
                                          <p:attrName>style.visibility</p:attrName>
                                        </p:attrNameLst>
                                      </p:cBhvr>
                                      <p:to>
                                        <p:strVal val="visible"/>
                                      </p:to>
                                    </p:set>
                                    <p:animEffect transition="in" filter="dissolve">
                                      <p:cBhvr>
                                        <p:cTn id="20" dur="500"/>
                                        <p:tgtEl>
                                          <p:spTgt spid="245970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459708">
                                            <p:txEl>
                                              <p:charRg st="0" end="33"/>
                                            </p:txEl>
                                          </p:spTgt>
                                        </p:tgtEl>
                                        <p:attrNameLst>
                                          <p:attrName>style.visibility</p:attrName>
                                        </p:attrNameLst>
                                      </p:cBhvr>
                                      <p:to>
                                        <p:strVal val="visible"/>
                                      </p:to>
                                    </p:set>
                                    <p:animEffect transition="in" filter="dissolve">
                                      <p:cBhvr>
                                        <p:cTn id="25" dur="500"/>
                                        <p:tgtEl>
                                          <p:spTgt spid="2459708">
                                            <p:txEl>
                                              <p:charRg st="0" end="3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459708">
                                            <p:txEl>
                                              <p:charRg st="33" end="62"/>
                                            </p:txEl>
                                          </p:spTgt>
                                        </p:tgtEl>
                                        <p:attrNameLst>
                                          <p:attrName>style.visibility</p:attrName>
                                        </p:attrNameLst>
                                      </p:cBhvr>
                                      <p:to>
                                        <p:strVal val="visible"/>
                                      </p:to>
                                    </p:set>
                                    <p:animEffect transition="in" filter="dissolve">
                                      <p:cBhvr>
                                        <p:cTn id="30" dur="500"/>
                                        <p:tgtEl>
                                          <p:spTgt spid="2459708">
                                            <p:txEl>
                                              <p:charRg st="33" end="6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9651" grpId="0" bldLvl="0" animBg="1"/>
      <p:bldP spid="2459652" grpId="0" animBg="1" build="allAtOnce"/>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1698"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6627" name="Rectangle 3"/>
          <p:cNvSpPr/>
          <p:nvPr/>
        </p:nvSpPr>
        <p:spPr>
          <a:xfrm>
            <a:off x="454025" y="690563"/>
            <a:ext cx="25336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4.  </a:t>
            </a:r>
            <a:r>
              <a:rPr lang="zh-CN" altLang="en-US" sz="3200" dirty="0">
                <a:latin typeface="Times New Roman" panose="02020603050405020304" pitchFamily="18" charset="0"/>
              </a:rPr>
              <a:t>建立时间</a:t>
            </a:r>
            <a:endParaRPr lang="zh-CN" altLang="en-US" sz="3200" dirty="0">
              <a:latin typeface="Times New Roman" panose="02020603050405020304" pitchFamily="18" charset="0"/>
            </a:endParaRPr>
          </a:p>
        </p:txBody>
      </p:sp>
      <p:sp>
        <p:nvSpPr>
          <p:cNvPr id="26628" name="Text Box 4"/>
          <p:cNvSpPr txBox="1"/>
          <p:nvPr/>
        </p:nvSpPr>
        <p:spPr>
          <a:xfrm>
            <a:off x="1042988" y="1484313"/>
            <a:ext cx="7308850" cy="1382712"/>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建立时间：</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转换器的输入数码满量程变化时，其输出模拟量稳定到最终值</a:t>
            </a:r>
            <a:r>
              <a:rPr lang="en-US" altLang="zh-CN" sz="2800" dirty="0">
                <a:solidFill>
                  <a:schemeClr val="tx1"/>
                </a:solidFill>
                <a:latin typeface="Times New Roman" panose="02020603050405020304" pitchFamily="18" charset="0"/>
                <a:ea typeface="黑体" panose="02010609060101010101" pitchFamily="49" charset="-122"/>
              </a:rPr>
              <a:t>±</a:t>
            </a:r>
            <a:r>
              <a:rPr lang="en-US" altLang="zh-CN" sz="2800" i="1" dirty="0">
                <a:solidFill>
                  <a:schemeClr val="tx1"/>
                </a:solidFill>
                <a:latin typeface="Times New Roman" panose="02020603050405020304" pitchFamily="18" charset="0"/>
                <a:ea typeface="黑体" panose="02010609060101010101" pitchFamily="49" charset="-122"/>
              </a:rPr>
              <a:t>LSB</a:t>
            </a:r>
            <a:r>
              <a:rPr lang="en-US" altLang="zh-CN" sz="2800" dirty="0">
                <a:solidFill>
                  <a:schemeClr val="tx1"/>
                </a:solidFill>
                <a:latin typeface="Times New Roman" panose="02020603050405020304" pitchFamily="18" charset="0"/>
                <a:ea typeface="黑体" panose="02010609060101010101" pitchFamily="49" charset="-122"/>
              </a:rPr>
              <a:t>/2</a:t>
            </a:r>
            <a:r>
              <a:rPr lang="zh-CN" altLang="en-US" sz="2800" dirty="0">
                <a:solidFill>
                  <a:schemeClr val="tx1"/>
                </a:solidFill>
                <a:latin typeface="黑体" panose="02010609060101010101" pitchFamily="49" charset="-122"/>
                <a:ea typeface="黑体" panose="02010609060101010101" pitchFamily="49" charset="-122"/>
              </a:rPr>
              <a:t>范围所需的时间。</a:t>
            </a:r>
            <a:endParaRPr lang="zh-CN" altLang="en-US" sz="2800" dirty="0">
              <a:solidFill>
                <a:schemeClr val="tx1"/>
              </a:solidFill>
              <a:latin typeface="黑体" panose="02010609060101010101" pitchFamily="49" charset="-122"/>
              <a:ea typeface="黑体" panose="02010609060101010101" pitchFamily="49" charset="-122"/>
            </a:endParaRPr>
          </a:p>
        </p:txBody>
      </p:sp>
      <p:pic>
        <p:nvPicPr>
          <p:cNvPr id="26629" name="Picture 5" descr="8-54"/>
          <p:cNvPicPr>
            <a:picLocks noChangeAspect="1"/>
          </p:cNvPicPr>
          <p:nvPr/>
        </p:nvPicPr>
        <p:blipFill>
          <a:blip r:embed="rId1"/>
          <a:srcRect l="7272" t="7390" r="14546" b="5774"/>
          <a:stretch>
            <a:fillRect/>
          </a:stretch>
        </p:blipFill>
        <p:spPr>
          <a:xfrm>
            <a:off x="323850" y="3105150"/>
            <a:ext cx="4198938" cy="2987675"/>
          </a:xfrm>
          <a:prstGeom prst="rect">
            <a:avLst/>
          </a:prstGeom>
          <a:noFill/>
          <a:ln w="9525">
            <a:noFill/>
          </a:ln>
        </p:spPr>
      </p:pic>
      <p:sp>
        <p:nvSpPr>
          <p:cNvPr id="2461702" name="Text Box 6"/>
          <p:cNvSpPr txBox="1"/>
          <p:nvPr/>
        </p:nvSpPr>
        <p:spPr>
          <a:xfrm>
            <a:off x="4595813" y="2933700"/>
            <a:ext cx="4297362" cy="3232150"/>
          </a:xfrm>
          <a:prstGeom prst="rect">
            <a:avLst/>
          </a:prstGeom>
          <a:noFill/>
          <a:ln w="9525">
            <a:noFill/>
          </a:ln>
        </p:spPr>
        <p:txBody>
          <a:bodyPr>
            <a:spAutoFit/>
          </a:bodyPr>
          <a:p>
            <a:pPr marL="452755" indent="-452755" eaLnBrk="1" hangingPunct="1">
              <a:lnSpc>
                <a:spcPct val="90000"/>
              </a:lnSpc>
              <a:spcBef>
                <a:spcPct val="50000"/>
              </a:spcBef>
              <a:buClr>
                <a:srgbClr val="FF0000"/>
              </a:buClr>
              <a:buFont typeface="Wingdings" panose="05000000000000000000" pitchFamily="2" charset="2"/>
              <a:buChar char="Ø"/>
            </a:pPr>
            <a:r>
              <a:rPr lang="zh-CN" altLang="en-US" sz="2400" dirty="0">
                <a:latin typeface="Times New Roman" panose="02020603050405020304" pitchFamily="18" charset="0"/>
              </a:rPr>
              <a:t>建立时间的长短取决于所采用的电路和使用的元件。不同型号的</a:t>
            </a:r>
            <a:r>
              <a:rPr lang="en-US" altLang="zh-CN" sz="2400" dirty="0">
                <a:latin typeface="Times New Roman" panose="02020603050405020304" pitchFamily="18" charset="0"/>
              </a:rPr>
              <a:t>D/A</a:t>
            </a:r>
            <a:r>
              <a:rPr lang="zh-CN" altLang="en-US" sz="2400" dirty="0">
                <a:latin typeface="Times New Roman" panose="02020603050405020304" pitchFamily="18" charset="0"/>
              </a:rPr>
              <a:t>转换器，其建立时间一般从几十纳秒至几微秒。</a:t>
            </a:r>
            <a:endParaRPr lang="zh-CN" altLang="en-US" sz="2400" dirty="0">
              <a:latin typeface="Times New Roman" panose="02020603050405020304" pitchFamily="18" charset="0"/>
            </a:endParaRPr>
          </a:p>
          <a:p>
            <a:pPr marL="452755" indent="-452755" eaLnBrk="1" hangingPunct="1">
              <a:lnSpc>
                <a:spcPct val="90000"/>
              </a:lnSpc>
              <a:spcBef>
                <a:spcPct val="50000"/>
              </a:spcBef>
              <a:buClr>
                <a:srgbClr val="FF0000"/>
              </a:buClr>
              <a:buFont typeface="Wingdings" panose="05000000000000000000" pitchFamily="2" charset="2"/>
              <a:buChar char="Ø"/>
            </a:pPr>
            <a:r>
              <a:rPr lang="zh-CN" altLang="en-US" sz="2400" dirty="0">
                <a:latin typeface="Times New Roman" panose="02020603050405020304" pitchFamily="18" charset="0"/>
              </a:rPr>
              <a:t>输出形式若是电流，建立时间很短，输出形式若是电压，建立时间主要取决于运算放大器的响应时间。</a:t>
            </a:r>
            <a:endParaRPr lang="zh-CN" altLang="en-US" sz="2400" dirty="0">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61702">
                                            <p:txEl>
                                              <p:charRg st="0" end="53"/>
                                            </p:txEl>
                                          </p:spTgt>
                                        </p:tgtEl>
                                        <p:attrNameLst>
                                          <p:attrName>style.visibility</p:attrName>
                                        </p:attrNameLst>
                                      </p:cBhvr>
                                      <p:to>
                                        <p:strVal val="visible"/>
                                      </p:to>
                                    </p:set>
                                    <p:animEffect transition="in" filter="dissolve">
                                      <p:cBhvr>
                                        <p:cTn id="7" dur="500"/>
                                        <p:tgtEl>
                                          <p:spTgt spid="2461702">
                                            <p:txEl>
                                              <p:charRg st="0" end="5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61702">
                                            <p:txEl>
                                              <p:charRg st="53" end="99"/>
                                            </p:txEl>
                                          </p:spTgt>
                                        </p:tgtEl>
                                        <p:attrNameLst>
                                          <p:attrName>style.visibility</p:attrName>
                                        </p:attrNameLst>
                                      </p:cBhvr>
                                      <p:to>
                                        <p:strVal val="visible"/>
                                      </p:to>
                                    </p:set>
                                    <p:animEffect transition="in" filter="dissolve">
                                      <p:cBhvr>
                                        <p:cTn id="12" dur="500"/>
                                        <p:tgtEl>
                                          <p:spTgt spid="2461702">
                                            <p:txEl>
                                              <p:charRg st="53" end="9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3746"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3747" name="Rectangle 3"/>
          <p:cNvSpPr/>
          <p:nvPr/>
        </p:nvSpPr>
        <p:spPr>
          <a:xfrm>
            <a:off x="454025" y="690563"/>
            <a:ext cx="2533650"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5.  </a:t>
            </a:r>
            <a:r>
              <a:rPr lang="zh-CN" altLang="en-US" sz="3200" dirty="0">
                <a:latin typeface="Times New Roman" panose="02020603050405020304" pitchFamily="18" charset="0"/>
              </a:rPr>
              <a:t>单调性</a:t>
            </a:r>
            <a:endParaRPr lang="zh-CN" altLang="en-US" sz="3200" dirty="0">
              <a:latin typeface="Times New Roman" panose="02020603050405020304" pitchFamily="18" charset="0"/>
            </a:endParaRPr>
          </a:p>
        </p:txBody>
      </p:sp>
      <p:sp>
        <p:nvSpPr>
          <p:cNvPr id="2463748" name="Text Box 4"/>
          <p:cNvSpPr txBox="1"/>
          <p:nvPr/>
        </p:nvSpPr>
        <p:spPr>
          <a:xfrm>
            <a:off x="935038" y="1412875"/>
            <a:ext cx="7597775"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435100" indent="-1435100" eaLnBrk="1" hangingPunct="1"/>
            <a:r>
              <a:rPr lang="zh-CN" altLang="en-US" sz="2800" dirty="0">
                <a:solidFill>
                  <a:srgbClr val="FF0000"/>
                </a:solidFill>
                <a:latin typeface="黑体" panose="02010609060101010101" pitchFamily="49" charset="-122"/>
                <a:ea typeface="黑体" panose="02010609060101010101" pitchFamily="49" charset="-122"/>
              </a:rPr>
              <a:t>单调性：</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Times New Roman" panose="02020603050405020304" pitchFamily="18" charset="0"/>
                <a:ea typeface="黑体" panose="02010609060101010101" pitchFamily="49" charset="-122"/>
              </a:rPr>
              <a:t>当输入数码增加时，</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转换器的输出模拟量也增加或至少保持不变。</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63751" name="Rectangle 7"/>
          <p:cNvSpPr/>
          <p:nvPr/>
        </p:nvSpPr>
        <p:spPr>
          <a:xfrm>
            <a:off x="454025" y="2492375"/>
            <a:ext cx="2533650"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6.  </a:t>
            </a:r>
            <a:r>
              <a:rPr lang="zh-CN" altLang="en-US" sz="3200" dirty="0">
                <a:latin typeface="Times New Roman" panose="02020603050405020304" pitchFamily="18" charset="0"/>
              </a:rPr>
              <a:t>温度系数</a:t>
            </a:r>
            <a:endParaRPr lang="zh-CN" altLang="en-US" sz="3200" dirty="0">
              <a:latin typeface="Times New Roman" panose="02020603050405020304" pitchFamily="18" charset="0"/>
            </a:endParaRPr>
          </a:p>
        </p:txBody>
      </p:sp>
      <p:sp>
        <p:nvSpPr>
          <p:cNvPr id="2463752" name="Text Box 8"/>
          <p:cNvSpPr txBox="1"/>
          <p:nvPr/>
        </p:nvSpPr>
        <p:spPr>
          <a:xfrm>
            <a:off x="935038" y="3214688"/>
            <a:ext cx="7597775"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1790700" indent="-1790700" eaLnBrk="1" hangingPunct="1"/>
            <a:r>
              <a:rPr lang="zh-CN" altLang="en-US" sz="2800" dirty="0">
                <a:solidFill>
                  <a:srgbClr val="FF0000"/>
                </a:solidFill>
                <a:latin typeface="黑体" panose="02010609060101010101" pitchFamily="49" charset="-122"/>
                <a:ea typeface="黑体" panose="02010609060101010101" pitchFamily="49" charset="-122"/>
              </a:rPr>
              <a:t>温度系数：</a:t>
            </a:r>
            <a:r>
              <a:rPr lang="en-US" altLang="zh-CN" sz="2800" dirty="0">
                <a:solidFill>
                  <a:schemeClr val="tx1"/>
                </a:solidFill>
                <a:latin typeface="Times New Roman" panose="02020603050405020304" pitchFamily="18" charset="0"/>
                <a:ea typeface="黑体" panose="02010609060101010101" pitchFamily="49" charset="-122"/>
              </a:rPr>
              <a:t>D/A</a:t>
            </a:r>
            <a:r>
              <a:rPr lang="zh-CN" altLang="en-US" sz="2800" dirty="0">
                <a:solidFill>
                  <a:schemeClr val="tx1"/>
                </a:solidFill>
                <a:latin typeface="黑体" panose="02010609060101010101" pitchFamily="49" charset="-122"/>
                <a:ea typeface="黑体" panose="02010609060101010101" pitchFamily="49" charset="-122"/>
              </a:rPr>
              <a:t>在满量程输出条件下，温度每升高</a:t>
            </a:r>
            <a:r>
              <a:rPr lang="en-US" altLang="zh-CN" sz="2800" dirty="0">
                <a:solidFill>
                  <a:schemeClr val="tx1"/>
                </a:solidFill>
                <a:latin typeface="黑体" panose="02010609060101010101" pitchFamily="49" charset="-122"/>
                <a:ea typeface="黑体" panose="02010609060101010101" pitchFamily="49" charset="-122"/>
              </a:rPr>
              <a:t>1℃</a:t>
            </a:r>
            <a:r>
              <a:rPr lang="zh-CN" altLang="en-US" sz="2800" dirty="0">
                <a:solidFill>
                  <a:schemeClr val="tx1"/>
                </a:solidFill>
                <a:latin typeface="黑体" panose="02010609060101010101" pitchFamily="49" charset="-122"/>
                <a:ea typeface="黑体" panose="02010609060101010101" pitchFamily="49" charset="-122"/>
              </a:rPr>
              <a:t>，输出变化的百分数。</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63755" name="Rectangle 11"/>
          <p:cNvSpPr/>
          <p:nvPr/>
        </p:nvSpPr>
        <p:spPr>
          <a:xfrm>
            <a:off x="1079500" y="4292600"/>
            <a:ext cx="7453313" cy="1628775"/>
          </a:xfrm>
          <a:prstGeom prst="rect">
            <a:avLst/>
          </a:prstGeom>
          <a:noFill/>
          <a:ln w="9525">
            <a:noFill/>
          </a:ln>
        </p:spPr>
        <p:txBody>
          <a:bodyPr>
            <a:spAutoFit/>
          </a:bodyPr>
          <a:p>
            <a:pPr eaLnBrk="1" hangingPunct="1">
              <a:lnSpc>
                <a:spcPct val="90000"/>
              </a:lnSpc>
            </a:pPr>
            <a:r>
              <a:rPr lang="zh-CN" altLang="en-US" sz="2800" dirty="0">
                <a:solidFill>
                  <a:srgbClr val="3333CC"/>
                </a:solidFill>
                <a:latin typeface="Times New Roman" panose="02020603050405020304" pitchFamily="18" charset="0"/>
              </a:rPr>
              <a:t>由于温度的变化，而引起的增益、线性度、零点及偏移等参数的变化量分别称为增益温度系数、线性度温度系数、零点温度系数、偏移温度系数。</a:t>
            </a:r>
            <a:endParaRPr lang="zh-CN" altLang="en-US" sz="2800" dirty="0">
              <a:solidFill>
                <a:srgbClr val="3333CC"/>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3747"/>
                                        </p:tgtEl>
                                        <p:attrNameLst>
                                          <p:attrName>style.visibility</p:attrName>
                                        </p:attrNameLst>
                                      </p:cBhvr>
                                      <p:to>
                                        <p:strVal val="visible"/>
                                      </p:to>
                                    </p:set>
                                    <p:animEffect transition="in" filter="dissolve">
                                      <p:cBhvr>
                                        <p:cTn id="7" dur="500"/>
                                        <p:tgtEl>
                                          <p:spTgt spid="24637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63748"/>
                                        </p:tgtEl>
                                        <p:attrNameLst>
                                          <p:attrName>style.visibility</p:attrName>
                                        </p:attrNameLst>
                                      </p:cBhvr>
                                      <p:to>
                                        <p:strVal val="visible"/>
                                      </p:to>
                                    </p:set>
                                    <p:animEffect transition="in" filter="dissolve">
                                      <p:cBhvr>
                                        <p:cTn id="12" dur="500"/>
                                        <p:tgtEl>
                                          <p:spTgt spid="246374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63748">
                                            <p:txEl>
                                              <p:charRg st="0" end="40"/>
                                            </p:txEl>
                                          </p:spTgt>
                                        </p:tgtEl>
                                        <p:attrNameLst>
                                          <p:attrName>style.visibility</p:attrName>
                                        </p:attrNameLst>
                                      </p:cBhvr>
                                      <p:to>
                                        <p:strVal val="visible"/>
                                      </p:to>
                                    </p:set>
                                    <p:animEffect transition="in" filter="dissolve">
                                      <p:cBhvr>
                                        <p:cTn id="15" dur="500"/>
                                        <p:tgtEl>
                                          <p:spTgt spid="2463748">
                                            <p:txEl>
                                              <p:charRg st="0" end="4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63751"/>
                                        </p:tgtEl>
                                        <p:attrNameLst>
                                          <p:attrName>style.visibility</p:attrName>
                                        </p:attrNameLst>
                                      </p:cBhvr>
                                      <p:to>
                                        <p:strVal val="visible"/>
                                      </p:to>
                                    </p:set>
                                    <p:animEffect transition="in" filter="dissolve">
                                      <p:cBhvr>
                                        <p:cTn id="20" dur="500"/>
                                        <p:tgtEl>
                                          <p:spTgt spid="2463751"/>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463752"/>
                                        </p:tgtEl>
                                        <p:attrNameLst>
                                          <p:attrName>style.visibility</p:attrName>
                                        </p:attrNameLst>
                                      </p:cBhvr>
                                      <p:to>
                                        <p:strVal val="visible"/>
                                      </p:to>
                                    </p:set>
                                    <p:animEffect transition="in" filter="dissolve">
                                      <p:cBhvr>
                                        <p:cTn id="25" dur="500"/>
                                        <p:tgtEl>
                                          <p:spTgt spid="246375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3752">
                                            <p:txEl>
                                              <p:charRg st="0" end="36"/>
                                            </p:txEl>
                                          </p:spTgt>
                                        </p:tgtEl>
                                        <p:attrNameLst>
                                          <p:attrName>style.visibility</p:attrName>
                                        </p:attrNameLst>
                                      </p:cBhvr>
                                      <p:to>
                                        <p:strVal val="visible"/>
                                      </p:to>
                                    </p:set>
                                    <p:animEffect transition="in" filter="dissolve">
                                      <p:cBhvr>
                                        <p:cTn id="28" dur="500"/>
                                        <p:tgtEl>
                                          <p:spTgt spid="2463752">
                                            <p:txEl>
                                              <p:charRg st="0" end="36"/>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463755"/>
                                        </p:tgtEl>
                                        <p:attrNameLst>
                                          <p:attrName>style.visibility</p:attrName>
                                        </p:attrNameLst>
                                      </p:cBhvr>
                                      <p:to>
                                        <p:strVal val="visible"/>
                                      </p:to>
                                    </p:set>
                                    <p:animEffect transition="in" filter="dissolve">
                                      <p:cBhvr>
                                        <p:cTn id="33" dur="500"/>
                                        <p:tgtEl>
                                          <p:spTgt spid="2463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3747" grpId="0" bldLvl="0" animBg="1"/>
      <p:bldP spid="2463748" grpId="0" animBg="1" build="allAtOnce"/>
      <p:bldP spid="2463751" grpId="0" bldLvl="0" animBg="1"/>
      <p:bldP spid="2463752" grpId="0" animBg="1" build="allAtOnce"/>
      <p:bldP spid="2463755" grpId="0"/>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9890"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9895" name="Rectangle 7"/>
          <p:cNvSpPr/>
          <p:nvPr/>
        </p:nvSpPr>
        <p:spPr>
          <a:xfrm>
            <a:off x="468313" y="765175"/>
            <a:ext cx="2916237"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7.  </a:t>
            </a:r>
            <a:r>
              <a:rPr lang="zh-CN" altLang="en-US" sz="3200" dirty="0">
                <a:latin typeface="Times New Roman" panose="02020603050405020304" pitchFamily="18" charset="0"/>
              </a:rPr>
              <a:t>电源抑制比</a:t>
            </a:r>
            <a:endParaRPr lang="zh-CN" altLang="en-US" sz="3200" dirty="0">
              <a:latin typeface="Times New Roman" panose="02020603050405020304" pitchFamily="18" charset="0"/>
            </a:endParaRPr>
          </a:p>
        </p:txBody>
      </p:sp>
      <p:sp>
        <p:nvSpPr>
          <p:cNvPr id="2469896" name="Text Box 8"/>
          <p:cNvSpPr txBox="1"/>
          <p:nvPr/>
        </p:nvSpPr>
        <p:spPr>
          <a:xfrm>
            <a:off x="935038" y="1487488"/>
            <a:ext cx="7597775" cy="831850"/>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2155825" indent="-2155825" eaLnBrk="1" hangingPunct="1"/>
            <a:r>
              <a:rPr lang="zh-CN" altLang="en-US" sz="2400" dirty="0">
                <a:solidFill>
                  <a:srgbClr val="FF0000"/>
                </a:solidFill>
                <a:latin typeface="黑体" panose="02010609060101010101" pitchFamily="49" charset="-122"/>
                <a:ea typeface="黑体" panose="02010609060101010101" pitchFamily="49" charset="-122"/>
              </a:rPr>
              <a:t>电源抑制比：</a:t>
            </a:r>
            <a:r>
              <a:rPr lang="zh-CN" altLang="en-US" sz="2400" dirty="0">
                <a:solidFill>
                  <a:schemeClr val="tx1"/>
                </a:solidFill>
                <a:latin typeface="黑体" panose="02010609060101010101" pitchFamily="49" charset="-122"/>
                <a:ea typeface="黑体" panose="02010609060101010101" pitchFamily="49" charset="-122"/>
              </a:rPr>
              <a:t>满量程电压变化的百分数与电源电压变化的百分数之比。</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69897" name="Rectangle 9"/>
          <p:cNvSpPr/>
          <p:nvPr/>
        </p:nvSpPr>
        <p:spPr>
          <a:xfrm>
            <a:off x="454025" y="3244850"/>
            <a:ext cx="2533650"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8.  </a:t>
            </a:r>
            <a:r>
              <a:rPr lang="zh-CN" altLang="en-US" sz="3200" dirty="0">
                <a:latin typeface="Times New Roman" panose="02020603050405020304" pitchFamily="18" charset="0"/>
              </a:rPr>
              <a:t>输出电平</a:t>
            </a:r>
            <a:endParaRPr lang="zh-CN" altLang="en-US" sz="3200" dirty="0">
              <a:latin typeface="Times New Roman" panose="02020603050405020304" pitchFamily="18" charset="0"/>
            </a:endParaRPr>
          </a:p>
        </p:txBody>
      </p:sp>
      <p:sp>
        <p:nvSpPr>
          <p:cNvPr id="2469898" name="Text Box 10"/>
          <p:cNvSpPr txBox="1"/>
          <p:nvPr/>
        </p:nvSpPr>
        <p:spPr>
          <a:xfrm>
            <a:off x="863600" y="3897313"/>
            <a:ext cx="7956550" cy="1187450"/>
          </a:xfrm>
          <a:prstGeom prst="rect">
            <a:avLst/>
          </a:prstGeom>
          <a:noFill/>
          <a:ln w="9525">
            <a:noFill/>
          </a:ln>
        </p:spPr>
        <p:txBody>
          <a:bodyPr>
            <a:spAutoFit/>
          </a:bodyPr>
          <a:p>
            <a:pPr marL="1905" indent="-1905" eaLnBrk="1" hangingPunct="1"/>
            <a:r>
              <a:rPr lang="zh-CN" altLang="en-US" sz="2400" dirty="0">
                <a:solidFill>
                  <a:schemeClr val="tx1"/>
                </a:solidFill>
                <a:latin typeface="Times New Roman" panose="02020603050405020304" pitchFamily="18" charset="0"/>
                <a:ea typeface="黑体" panose="02010609060101010101" pitchFamily="49" charset="-122"/>
              </a:rPr>
              <a:t>不同型号的</a:t>
            </a:r>
            <a:r>
              <a:rPr lang="en-US" altLang="zh-CN" sz="2400" dirty="0">
                <a:solidFill>
                  <a:schemeClr val="tx1"/>
                </a:solidFill>
                <a:latin typeface="Times New Roman" panose="02020603050405020304" pitchFamily="18" charset="0"/>
                <a:ea typeface="黑体" panose="02010609060101010101" pitchFamily="49" charset="-122"/>
              </a:rPr>
              <a:t>D/A</a:t>
            </a:r>
            <a:r>
              <a:rPr lang="zh-CN" altLang="en-US" sz="2400" dirty="0">
                <a:solidFill>
                  <a:schemeClr val="tx1"/>
                </a:solidFill>
                <a:latin typeface="Times New Roman" panose="02020603050405020304" pitchFamily="18" charset="0"/>
                <a:ea typeface="黑体" panose="02010609060101010101" pitchFamily="49" charset="-122"/>
              </a:rPr>
              <a:t>转换器输出电平相差较大，一般为</a:t>
            </a:r>
            <a:r>
              <a:rPr lang="en-US" altLang="zh-CN" sz="2400" dirty="0">
                <a:solidFill>
                  <a:schemeClr val="tx1"/>
                </a:solidFill>
                <a:latin typeface="Times New Roman" panose="02020603050405020304" pitchFamily="18" charset="0"/>
                <a:ea typeface="黑体" panose="02010609060101010101" pitchFamily="49" charset="-122"/>
              </a:rPr>
              <a:t>5V~10V</a:t>
            </a:r>
            <a:r>
              <a:rPr lang="zh-CN" altLang="en-US" sz="2400" dirty="0">
                <a:solidFill>
                  <a:schemeClr val="tx1"/>
                </a:solidFill>
                <a:latin typeface="Times New Roman" panose="02020603050405020304" pitchFamily="18" charset="0"/>
                <a:ea typeface="黑体" panose="02010609060101010101" pitchFamily="49" charset="-122"/>
              </a:rPr>
              <a:t>，有的高达</a:t>
            </a:r>
            <a:r>
              <a:rPr lang="en-US" altLang="zh-CN" sz="2400" dirty="0">
                <a:solidFill>
                  <a:schemeClr val="tx1"/>
                </a:solidFill>
                <a:latin typeface="Times New Roman" panose="02020603050405020304" pitchFamily="18" charset="0"/>
                <a:ea typeface="黑体" panose="02010609060101010101" pitchFamily="49" charset="-122"/>
              </a:rPr>
              <a:t>24V~30V</a:t>
            </a:r>
            <a:r>
              <a:rPr lang="zh-CN" altLang="en-US" sz="2400" dirty="0">
                <a:solidFill>
                  <a:schemeClr val="tx1"/>
                </a:solidFill>
                <a:latin typeface="Times New Roman" panose="02020603050405020304" pitchFamily="18" charset="0"/>
                <a:ea typeface="黑体" panose="02010609060101010101" pitchFamily="49" charset="-122"/>
              </a:rPr>
              <a:t>。还有电流输出型的</a:t>
            </a:r>
            <a:r>
              <a:rPr lang="en-US" altLang="zh-CN" sz="2400" dirty="0">
                <a:solidFill>
                  <a:schemeClr val="tx1"/>
                </a:solidFill>
                <a:latin typeface="Times New Roman" panose="02020603050405020304" pitchFamily="18" charset="0"/>
                <a:ea typeface="黑体" panose="02010609060101010101" pitchFamily="49" charset="-122"/>
              </a:rPr>
              <a:t>D/A</a:t>
            </a:r>
            <a:r>
              <a:rPr lang="zh-CN" altLang="en-US" sz="2400" dirty="0">
                <a:solidFill>
                  <a:schemeClr val="tx1"/>
                </a:solidFill>
                <a:latin typeface="Times New Roman" panose="02020603050405020304" pitchFamily="18" charset="0"/>
                <a:ea typeface="黑体" panose="02010609060101010101" pitchFamily="49" charset="-122"/>
              </a:rPr>
              <a:t>转换器，输出低的为几</a:t>
            </a:r>
            <a:r>
              <a:rPr lang="en-US" altLang="zh-CN" sz="2400" dirty="0">
                <a:solidFill>
                  <a:schemeClr val="tx1"/>
                </a:solidFill>
                <a:latin typeface="Times New Roman" panose="02020603050405020304" pitchFamily="18" charset="0"/>
                <a:ea typeface="黑体" panose="02010609060101010101" pitchFamily="49" charset="-122"/>
              </a:rPr>
              <a:t>mA~</a:t>
            </a:r>
            <a:r>
              <a:rPr lang="zh-CN" altLang="en-US" sz="2400" dirty="0">
                <a:solidFill>
                  <a:schemeClr val="tx1"/>
                </a:solidFill>
                <a:latin typeface="Times New Roman" panose="02020603050405020304" pitchFamily="18" charset="0"/>
                <a:ea typeface="黑体" panose="02010609060101010101" pitchFamily="49" charset="-122"/>
              </a:rPr>
              <a:t>几十</a:t>
            </a:r>
            <a:r>
              <a:rPr lang="en-US" altLang="zh-CN" sz="2400" dirty="0">
                <a:solidFill>
                  <a:schemeClr val="tx1"/>
                </a:solidFill>
                <a:latin typeface="Times New Roman" panose="02020603050405020304" pitchFamily="18" charset="0"/>
                <a:ea typeface="黑体" panose="02010609060101010101" pitchFamily="49" charset="-122"/>
              </a:rPr>
              <a:t>mA</a:t>
            </a:r>
            <a:r>
              <a:rPr lang="zh-CN" altLang="en-US" sz="2400" dirty="0">
                <a:solidFill>
                  <a:schemeClr val="tx1"/>
                </a:solidFill>
                <a:latin typeface="Times New Roman" panose="02020603050405020304" pitchFamily="18" charset="0"/>
                <a:ea typeface="黑体" panose="02010609060101010101" pitchFamily="49" charset="-122"/>
              </a:rPr>
              <a:t>，高的可达</a:t>
            </a:r>
            <a:r>
              <a:rPr lang="en-US" altLang="zh-CN" sz="2400" dirty="0">
                <a:solidFill>
                  <a:schemeClr val="tx1"/>
                </a:solidFill>
                <a:latin typeface="Times New Roman" panose="02020603050405020304" pitchFamily="18" charset="0"/>
                <a:ea typeface="黑体" panose="02010609060101010101" pitchFamily="49" charset="-122"/>
              </a:rPr>
              <a:t>3A</a:t>
            </a:r>
            <a:r>
              <a:rPr lang="zh-CN" altLang="en-US" sz="2400" dirty="0">
                <a:solidFill>
                  <a:schemeClr val="tx1"/>
                </a:solidFill>
                <a:latin typeface="Times New Roman" panose="02020603050405020304" pitchFamily="18" charset="0"/>
                <a:ea typeface="黑体" panose="02010609060101010101" pitchFamily="49" charset="-122"/>
              </a:rPr>
              <a:t>。</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69899" name="Rectangle 11"/>
          <p:cNvSpPr/>
          <p:nvPr/>
        </p:nvSpPr>
        <p:spPr>
          <a:xfrm>
            <a:off x="454025" y="5165725"/>
            <a:ext cx="2533650"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9.  </a:t>
            </a:r>
            <a:r>
              <a:rPr lang="zh-CN" altLang="en-US" sz="3200" dirty="0">
                <a:latin typeface="Times New Roman" panose="02020603050405020304" pitchFamily="18" charset="0"/>
              </a:rPr>
              <a:t>输入代码</a:t>
            </a:r>
            <a:endParaRPr lang="zh-CN" altLang="en-US" sz="3200" dirty="0">
              <a:latin typeface="Times New Roman" panose="02020603050405020304" pitchFamily="18" charset="0"/>
            </a:endParaRPr>
          </a:p>
        </p:txBody>
      </p:sp>
      <p:sp>
        <p:nvSpPr>
          <p:cNvPr id="2469900" name="Text Box 12"/>
          <p:cNvSpPr txBox="1"/>
          <p:nvPr/>
        </p:nvSpPr>
        <p:spPr>
          <a:xfrm>
            <a:off x="863600" y="5780088"/>
            <a:ext cx="7597775" cy="457200"/>
          </a:xfrm>
          <a:prstGeom prst="rect">
            <a:avLst/>
          </a:prstGeom>
          <a:noFill/>
          <a:ln w="9525">
            <a:noFill/>
          </a:ln>
        </p:spPr>
        <p:txBody>
          <a:bodyPr>
            <a:spAutoFit/>
          </a:bodyPr>
          <a:p>
            <a:pPr marL="1905" indent="-1905" eaLnBrk="1" hangingPunct="1"/>
            <a:r>
              <a:rPr lang="zh-CN" altLang="en-US" sz="2400" dirty="0">
                <a:solidFill>
                  <a:schemeClr val="tx1"/>
                </a:solidFill>
                <a:latin typeface="Times New Roman" panose="02020603050405020304" pitchFamily="18" charset="0"/>
                <a:ea typeface="黑体" panose="02010609060101010101" pitchFamily="49" charset="-122"/>
              </a:rPr>
              <a:t>有二进制、</a:t>
            </a:r>
            <a:r>
              <a:rPr lang="en-US" altLang="zh-CN" sz="2400" dirty="0">
                <a:solidFill>
                  <a:schemeClr val="tx1"/>
                </a:solidFill>
                <a:latin typeface="Times New Roman" panose="02020603050405020304" pitchFamily="18" charset="0"/>
                <a:ea typeface="黑体" panose="02010609060101010101" pitchFamily="49" charset="-122"/>
              </a:rPr>
              <a:t>BCD</a:t>
            </a:r>
            <a:r>
              <a:rPr lang="zh-CN" altLang="en-US" sz="2400" dirty="0">
                <a:solidFill>
                  <a:schemeClr val="tx1"/>
                </a:solidFill>
                <a:latin typeface="Times New Roman" panose="02020603050405020304" pitchFamily="18" charset="0"/>
                <a:ea typeface="黑体" panose="02010609060101010101" pitchFamily="49" charset="-122"/>
              </a:rPr>
              <a:t>码、偏移二进制码、二进制补码等。</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469901" name="Text Box 13"/>
          <p:cNvSpPr txBox="1"/>
          <p:nvPr/>
        </p:nvSpPr>
        <p:spPr>
          <a:xfrm>
            <a:off x="863600" y="2319338"/>
            <a:ext cx="7956550" cy="822325"/>
          </a:xfrm>
          <a:prstGeom prst="rect">
            <a:avLst/>
          </a:prstGeom>
          <a:noFill/>
          <a:ln w="9525">
            <a:noFill/>
          </a:ln>
        </p:spPr>
        <p:txBody>
          <a:bodyPr>
            <a:spAutoFit/>
          </a:bodyPr>
          <a:p>
            <a:pPr marL="1905" indent="-1905" eaLnBrk="1" hangingPunct="1"/>
            <a:r>
              <a:rPr lang="zh-CN" altLang="en-US" sz="2400" dirty="0">
                <a:solidFill>
                  <a:schemeClr val="tx1"/>
                </a:solidFill>
                <a:latin typeface="Times New Roman" panose="02020603050405020304" pitchFamily="18" charset="0"/>
                <a:ea typeface="黑体" panose="02010609060101010101" pitchFamily="49" charset="-122"/>
              </a:rPr>
              <a:t>要求开关电路及运放电源电压变化时，对</a:t>
            </a:r>
            <a:r>
              <a:rPr lang="en-US" altLang="zh-CN" sz="2400" dirty="0">
                <a:solidFill>
                  <a:schemeClr val="tx1"/>
                </a:solidFill>
                <a:latin typeface="Times New Roman" panose="02020603050405020304" pitchFamily="18" charset="0"/>
                <a:ea typeface="黑体" panose="02010609060101010101" pitchFamily="49" charset="-122"/>
              </a:rPr>
              <a:t>DAC</a:t>
            </a:r>
            <a:r>
              <a:rPr lang="zh-CN" altLang="en-US" sz="2400" dirty="0">
                <a:solidFill>
                  <a:schemeClr val="tx1"/>
                </a:solidFill>
                <a:latin typeface="Times New Roman" panose="02020603050405020304" pitchFamily="18" charset="0"/>
                <a:ea typeface="黑体" panose="02010609060101010101" pitchFamily="49" charset="-122"/>
              </a:rPr>
              <a:t>输出电压影响极小。</a:t>
            </a:r>
            <a:endParaRPr lang="zh-CN" altLang="en-US" sz="24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9895"/>
                                        </p:tgtEl>
                                        <p:attrNameLst>
                                          <p:attrName>style.visibility</p:attrName>
                                        </p:attrNameLst>
                                      </p:cBhvr>
                                      <p:to>
                                        <p:strVal val="visible"/>
                                      </p:to>
                                    </p:set>
                                    <p:animEffect transition="in" filter="dissolve">
                                      <p:cBhvr>
                                        <p:cTn id="7" dur="500"/>
                                        <p:tgtEl>
                                          <p:spTgt spid="24698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69896"/>
                                        </p:tgtEl>
                                        <p:attrNameLst>
                                          <p:attrName>style.visibility</p:attrName>
                                        </p:attrNameLst>
                                      </p:cBhvr>
                                      <p:to>
                                        <p:strVal val="visible"/>
                                      </p:to>
                                    </p:set>
                                    <p:animEffect transition="in" filter="dissolve">
                                      <p:cBhvr>
                                        <p:cTn id="12" dur="500"/>
                                        <p:tgtEl>
                                          <p:spTgt spid="246989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69896">
                                            <p:txEl>
                                              <p:charRg st="0" end="32"/>
                                            </p:txEl>
                                          </p:spTgt>
                                        </p:tgtEl>
                                        <p:attrNameLst>
                                          <p:attrName>style.visibility</p:attrName>
                                        </p:attrNameLst>
                                      </p:cBhvr>
                                      <p:to>
                                        <p:strVal val="visible"/>
                                      </p:to>
                                    </p:set>
                                    <p:animEffect transition="in" filter="dissolve">
                                      <p:cBhvr>
                                        <p:cTn id="15" dur="500"/>
                                        <p:tgtEl>
                                          <p:spTgt spid="2469896">
                                            <p:txEl>
                                              <p:charRg st="0" end="3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69901">
                                            <p:txEl>
                                              <p:charRg st="0" end="31"/>
                                            </p:txEl>
                                          </p:spTgt>
                                        </p:tgtEl>
                                        <p:attrNameLst>
                                          <p:attrName>style.visibility</p:attrName>
                                        </p:attrNameLst>
                                      </p:cBhvr>
                                      <p:to>
                                        <p:strVal val="visible"/>
                                      </p:to>
                                    </p:set>
                                    <p:animEffect transition="in" filter="dissolve">
                                      <p:cBhvr>
                                        <p:cTn id="20" dur="500"/>
                                        <p:tgtEl>
                                          <p:spTgt spid="2469901">
                                            <p:txEl>
                                              <p:charRg st="0" end="3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469897"/>
                                        </p:tgtEl>
                                        <p:attrNameLst>
                                          <p:attrName>style.visibility</p:attrName>
                                        </p:attrNameLst>
                                      </p:cBhvr>
                                      <p:to>
                                        <p:strVal val="visible"/>
                                      </p:to>
                                    </p:set>
                                    <p:animEffect transition="in" filter="dissolve">
                                      <p:cBhvr>
                                        <p:cTn id="25" dur="500"/>
                                        <p:tgtEl>
                                          <p:spTgt spid="2469897"/>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469898">
                                            <p:txEl>
                                              <p:charRg st="0" end="79"/>
                                            </p:txEl>
                                          </p:spTgt>
                                        </p:tgtEl>
                                        <p:attrNameLst>
                                          <p:attrName>style.visibility</p:attrName>
                                        </p:attrNameLst>
                                      </p:cBhvr>
                                      <p:to>
                                        <p:strVal val="visible"/>
                                      </p:to>
                                    </p:set>
                                    <p:animEffect transition="in" filter="dissolve">
                                      <p:cBhvr>
                                        <p:cTn id="30" dur="500"/>
                                        <p:tgtEl>
                                          <p:spTgt spid="2469898">
                                            <p:txEl>
                                              <p:charRg st="0" end="79"/>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469899"/>
                                        </p:tgtEl>
                                        <p:attrNameLst>
                                          <p:attrName>style.visibility</p:attrName>
                                        </p:attrNameLst>
                                      </p:cBhvr>
                                      <p:to>
                                        <p:strVal val="visible"/>
                                      </p:to>
                                    </p:set>
                                    <p:animEffect transition="in" filter="dissolve">
                                      <p:cBhvr>
                                        <p:cTn id="35" dur="500"/>
                                        <p:tgtEl>
                                          <p:spTgt spid="2469899"/>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469900">
                                            <p:txEl>
                                              <p:charRg st="0" end="25"/>
                                            </p:txEl>
                                          </p:spTgt>
                                        </p:tgtEl>
                                        <p:attrNameLst>
                                          <p:attrName>style.visibility</p:attrName>
                                        </p:attrNameLst>
                                      </p:cBhvr>
                                      <p:to>
                                        <p:strVal val="visible"/>
                                      </p:to>
                                    </p:set>
                                    <p:animEffect transition="in" filter="dissolve">
                                      <p:cBhvr>
                                        <p:cTn id="40" dur="500"/>
                                        <p:tgtEl>
                                          <p:spTgt spid="2469900">
                                            <p:txEl>
                                              <p:charRg st="0" end="2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9895" grpId="0" bldLvl="0" animBg="1"/>
      <p:bldP spid="2469896" grpId="0" animBg="1" build="allAtOnce"/>
      <p:bldP spid="2469897" grpId="0" bldLvl="0" animBg="1"/>
      <p:bldP spid="2469898" grpId="0" build="allAtOnce"/>
      <p:bldP spid="2469899" grpId="0" bldLvl="0" animBg="1"/>
      <p:bldP spid="2469900" grpId="0" build="allAtOnce"/>
      <p:bldP spid="2469901" grpId="0" build="allAtOnce"/>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65794" name="Text Box 2"/>
          <p:cNvSpPr txBox="1">
            <a:spLocks noChangeArrowheads="1"/>
          </p:cNvSpPr>
          <p:nvPr/>
        </p:nvSpPr>
        <p:spPr bwMode="auto">
          <a:xfrm>
            <a:off x="1223963" y="49213"/>
            <a:ext cx="71278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7.2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转换器的主要技术指标</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5799" name="Rectangle 7"/>
          <p:cNvSpPr/>
          <p:nvPr/>
        </p:nvSpPr>
        <p:spPr>
          <a:xfrm>
            <a:off x="454025" y="873125"/>
            <a:ext cx="3505200"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10.  </a:t>
            </a:r>
            <a:r>
              <a:rPr lang="zh-CN" altLang="en-US" sz="3200" dirty="0">
                <a:latin typeface="Times New Roman" panose="02020603050405020304" pitchFamily="18" charset="0"/>
              </a:rPr>
              <a:t>输入数字电平</a:t>
            </a:r>
            <a:endParaRPr lang="zh-CN" altLang="en-US" sz="3200" dirty="0">
              <a:latin typeface="Times New Roman" panose="02020603050405020304" pitchFamily="18" charset="0"/>
            </a:endParaRPr>
          </a:p>
        </p:txBody>
      </p:sp>
      <p:sp>
        <p:nvSpPr>
          <p:cNvPr id="2465800" name="Text Box 8"/>
          <p:cNvSpPr txBox="1"/>
          <p:nvPr/>
        </p:nvSpPr>
        <p:spPr>
          <a:xfrm>
            <a:off x="754063" y="1565275"/>
            <a:ext cx="7921625" cy="955675"/>
          </a:xfrm>
          <a:prstGeom prst="rect">
            <a:avLst/>
          </a:prstGeom>
          <a:solidFill>
            <a:srgbClr val="CCFFFF"/>
          </a:solidFill>
          <a:ln w="9525" cap="flat" cmpd="sng">
            <a:solidFill>
              <a:srgbClr val="FF6600"/>
            </a:solidFill>
            <a:prstDash val="solid"/>
            <a:miter/>
            <a:headEnd type="none" w="med" len="med"/>
            <a:tailEnd type="none" w="med" len="med"/>
          </a:ln>
        </p:spPr>
        <p:txBody>
          <a:bodyPr>
            <a:spAutoFit/>
          </a:bodyPr>
          <a:p>
            <a:pPr marL="2511425" indent="-2511425" eaLnBrk="1" hangingPunct="1"/>
            <a:r>
              <a:rPr lang="zh-CN" altLang="en-US" sz="2800" dirty="0">
                <a:solidFill>
                  <a:srgbClr val="FF0000"/>
                </a:solidFill>
                <a:latin typeface="黑体" panose="02010609060101010101" pitchFamily="49" charset="-122"/>
                <a:ea typeface="黑体" panose="02010609060101010101" pitchFamily="49" charset="-122"/>
              </a:rPr>
              <a:t>输入数字电平：</a:t>
            </a:r>
            <a:r>
              <a:rPr lang="zh-CN" altLang="en-US" sz="2800" dirty="0">
                <a:solidFill>
                  <a:schemeClr val="tx1"/>
                </a:solidFill>
                <a:latin typeface="黑体" panose="02010609060101010101" pitchFamily="49" charset="-122"/>
                <a:ea typeface="黑体" panose="02010609060101010101" pitchFamily="49" charset="-122"/>
              </a:rPr>
              <a:t>输入数码分别为</a:t>
            </a:r>
            <a:r>
              <a:rPr lang="zh-CN" altLang="en-US" sz="2800" dirty="0">
                <a:solidFill>
                  <a:schemeClr val="tx1"/>
                </a:solidFill>
                <a:latin typeface="Times New Roman" panose="02020603050405020304" pitchFamily="18" charset="0"/>
                <a:ea typeface="黑体" panose="02010609060101010101" pitchFamily="49" charset="-122"/>
              </a:rPr>
              <a:t>“</a:t>
            </a:r>
            <a:r>
              <a:rPr lang="en-US" altLang="zh-CN" sz="2800" dirty="0">
                <a:solidFill>
                  <a:schemeClr val="tx1"/>
                </a:solidFill>
                <a:latin typeface="黑体" panose="02010609060101010101" pitchFamily="49" charset="-122"/>
                <a:ea typeface="黑体" panose="02010609060101010101" pitchFamily="49" charset="-122"/>
              </a:rPr>
              <a:t>1</a:t>
            </a:r>
            <a:r>
              <a:rPr lang="en-US" altLang="zh-CN" sz="2800" dirty="0">
                <a:solidFill>
                  <a:schemeClr val="tx1"/>
                </a:solidFill>
                <a:latin typeface="Times New Roman" panose="02020603050405020304" pitchFamily="18" charset="0"/>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和</a:t>
            </a:r>
            <a:r>
              <a:rPr lang="zh-CN" altLang="en-US" sz="2800" dirty="0">
                <a:solidFill>
                  <a:schemeClr val="tx1"/>
                </a:solidFill>
                <a:latin typeface="Times New Roman" panose="02020603050405020304" pitchFamily="18" charset="0"/>
                <a:ea typeface="黑体" panose="02010609060101010101" pitchFamily="49" charset="-122"/>
              </a:rPr>
              <a:t>“</a:t>
            </a:r>
            <a:r>
              <a:rPr lang="en-US" altLang="zh-CN" sz="2800" dirty="0">
                <a:solidFill>
                  <a:schemeClr val="tx1"/>
                </a:solidFill>
                <a:latin typeface="黑体" panose="02010609060101010101" pitchFamily="49" charset="-122"/>
                <a:ea typeface="黑体" panose="02010609060101010101" pitchFamily="49" charset="-122"/>
              </a:rPr>
              <a:t>0</a:t>
            </a:r>
            <a:r>
              <a:rPr lang="en-US" altLang="zh-CN" sz="2800" dirty="0">
                <a:solidFill>
                  <a:schemeClr val="tx1"/>
                </a:solidFill>
                <a:latin typeface="Times New Roman" panose="02020603050405020304" pitchFamily="18" charset="0"/>
                <a:ea typeface="黑体" panose="02010609060101010101" pitchFamily="49" charset="-122"/>
              </a:rPr>
              <a:t>”</a:t>
            </a:r>
            <a:r>
              <a:rPr lang="zh-CN" altLang="en-US" sz="2800" dirty="0">
                <a:solidFill>
                  <a:schemeClr val="tx1"/>
                </a:solidFill>
                <a:latin typeface="黑体" panose="02010609060101010101" pitchFamily="49" charset="-122"/>
                <a:ea typeface="黑体" panose="02010609060101010101" pitchFamily="49" charset="-122"/>
              </a:rPr>
              <a:t>时，所对应的输入高低电平的数码数值。</a:t>
            </a:r>
            <a:endParaRPr lang="zh-CN" altLang="en-US" sz="2800" dirty="0">
              <a:solidFill>
                <a:schemeClr val="tx1"/>
              </a:solidFill>
              <a:latin typeface="黑体" panose="02010609060101010101" pitchFamily="49" charset="-122"/>
              <a:ea typeface="黑体" panose="02010609060101010101" pitchFamily="49" charset="-122"/>
            </a:endParaRPr>
          </a:p>
        </p:txBody>
      </p:sp>
      <p:sp>
        <p:nvSpPr>
          <p:cNvPr id="2465802" name="Text Box 10"/>
          <p:cNvSpPr txBox="1"/>
          <p:nvPr/>
        </p:nvSpPr>
        <p:spPr>
          <a:xfrm>
            <a:off x="1042988" y="2609850"/>
            <a:ext cx="7453312" cy="420688"/>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例如，</a:t>
            </a:r>
            <a:r>
              <a:rPr lang="en-US" altLang="zh-CN" sz="2400" dirty="0">
                <a:latin typeface="Times New Roman" panose="02020603050405020304" pitchFamily="18" charset="0"/>
              </a:rPr>
              <a:t>AD7541</a:t>
            </a:r>
            <a:r>
              <a:rPr lang="zh-CN" altLang="en-US" sz="2400" dirty="0">
                <a:latin typeface="Times New Roman" panose="02020603050405020304" pitchFamily="18" charset="0"/>
              </a:rPr>
              <a:t>的输入数字电平：</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IH</a:t>
            </a:r>
            <a:r>
              <a:rPr lang="en-US" altLang="zh-CN" sz="2400" dirty="0">
                <a:solidFill>
                  <a:srgbClr val="FF0000"/>
                </a:solidFill>
                <a:latin typeface="Times New Roman" panose="02020603050405020304" pitchFamily="18" charset="0"/>
              </a:rPr>
              <a:t>&gt;2.4V</a:t>
            </a:r>
            <a:r>
              <a:rPr lang="zh-CN" altLang="en-US" sz="2400" dirty="0">
                <a:solidFill>
                  <a:srgbClr val="FF0000"/>
                </a:solidFill>
                <a:latin typeface="Times New Roman" panose="02020603050405020304" pitchFamily="18" charset="0"/>
              </a:rPr>
              <a:t>，</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IL</a:t>
            </a:r>
            <a:r>
              <a:rPr lang="en-US" altLang="zh-CN" sz="2400" dirty="0">
                <a:solidFill>
                  <a:srgbClr val="FF0000"/>
                </a:solidFill>
                <a:latin typeface="Times New Roman" panose="02020603050405020304" pitchFamily="18" charset="0"/>
              </a:rPr>
              <a:t>&lt;0.8V</a:t>
            </a:r>
            <a:endParaRPr lang="en-US" altLang="zh-CN" sz="2400" dirty="0">
              <a:solidFill>
                <a:srgbClr val="FF0000"/>
              </a:solidFill>
              <a:latin typeface="Times New Roman" panose="02020603050405020304" pitchFamily="18" charset="0"/>
            </a:endParaRPr>
          </a:p>
        </p:txBody>
      </p:sp>
      <p:sp>
        <p:nvSpPr>
          <p:cNvPr id="2465803" name="Rectangle 11"/>
          <p:cNvSpPr/>
          <p:nvPr/>
        </p:nvSpPr>
        <p:spPr>
          <a:xfrm>
            <a:off x="454025" y="3176588"/>
            <a:ext cx="2713038"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11.  </a:t>
            </a:r>
            <a:r>
              <a:rPr lang="zh-CN" altLang="en-US" sz="3200" dirty="0">
                <a:latin typeface="Times New Roman" panose="02020603050405020304" pitchFamily="18" charset="0"/>
              </a:rPr>
              <a:t>工作温度</a:t>
            </a:r>
            <a:endParaRPr lang="zh-CN" altLang="en-US" sz="3200" dirty="0">
              <a:latin typeface="Times New Roman" panose="02020603050405020304" pitchFamily="18" charset="0"/>
            </a:endParaRPr>
          </a:p>
        </p:txBody>
      </p:sp>
      <p:sp>
        <p:nvSpPr>
          <p:cNvPr id="2465804" name="Text Box 12"/>
          <p:cNvSpPr txBox="1"/>
          <p:nvPr/>
        </p:nvSpPr>
        <p:spPr>
          <a:xfrm>
            <a:off x="576263" y="3827463"/>
            <a:ext cx="8243887" cy="822325"/>
          </a:xfrm>
          <a:prstGeom prst="rect">
            <a:avLst/>
          </a:prstGeom>
          <a:noFill/>
          <a:ln w="9525">
            <a:noFill/>
          </a:ln>
        </p:spPr>
        <p:txBody>
          <a:bodyPr>
            <a:spAutoFit/>
          </a:bodyPr>
          <a:p>
            <a:pPr marL="1905" indent="-1905" eaLnBrk="1" hangingPunct="1"/>
            <a:r>
              <a:rPr lang="zh-CN" altLang="en-US" sz="2400" dirty="0">
                <a:solidFill>
                  <a:schemeClr val="tx1"/>
                </a:solidFill>
                <a:latin typeface="Times New Roman" panose="02020603050405020304" pitchFamily="18" charset="0"/>
                <a:ea typeface="黑体" panose="02010609060101010101" pitchFamily="49" charset="-122"/>
              </a:rPr>
              <a:t>由于工作温度会对运算放大器和加权电阻网络等产生影响，所以只有在一定的温度范围内，才能保证额定精度指标。</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465805" name="Text Box 13"/>
          <p:cNvSpPr txBox="1"/>
          <p:nvPr/>
        </p:nvSpPr>
        <p:spPr>
          <a:xfrm>
            <a:off x="1116013" y="4799013"/>
            <a:ext cx="6985000" cy="749300"/>
          </a:xfrm>
          <a:prstGeom prst="rect">
            <a:avLst/>
          </a:prstGeom>
          <a:solidFill>
            <a:srgbClr val="CCFFFF"/>
          </a:solid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较好的转换器工作温度范围在</a:t>
            </a:r>
            <a:r>
              <a:rPr lang="en-US" altLang="zh-CN" sz="2400" dirty="0">
                <a:latin typeface="Times New Roman" panose="02020603050405020304" pitchFamily="18" charset="0"/>
              </a:rPr>
              <a:t>-40℃~85℃</a:t>
            </a:r>
            <a:r>
              <a:rPr lang="zh-CN" altLang="en-US" sz="2400" dirty="0">
                <a:latin typeface="Times New Roman" panose="02020603050405020304" pitchFamily="18" charset="0"/>
              </a:rPr>
              <a:t>之间，较差的转换器的工作温度范围在</a:t>
            </a:r>
            <a:r>
              <a:rPr lang="en-US" altLang="zh-CN" sz="2400" dirty="0">
                <a:latin typeface="Times New Roman" panose="02020603050405020304" pitchFamily="18" charset="0"/>
              </a:rPr>
              <a:t>0℃~70℃</a:t>
            </a:r>
            <a:r>
              <a:rPr lang="zh-CN" altLang="en-US" sz="2400" dirty="0">
                <a:latin typeface="Times New Roman" panose="02020603050405020304" pitchFamily="18" charset="0"/>
              </a:rPr>
              <a:t>之间。</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5799"/>
                                        </p:tgtEl>
                                        <p:attrNameLst>
                                          <p:attrName>style.visibility</p:attrName>
                                        </p:attrNameLst>
                                      </p:cBhvr>
                                      <p:to>
                                        <p:strVal val="visible"/>
                                      </p:to>
                                    </p:set>
                                    <p:animEffect transition="in" filter="dissolve">
                                      <p:cBhvr>
                                        <p:cTn id="7" dur="500"/>
                                        <p:tgtEl>
                                          <p:spTgt spid="24657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65800"/>
                                        </p:tgtEl>
                                        <p:attrNameLst>
                                          <p:attrName>style.visibility</p:attrName>
                                        </p:attrNameLst>
                                      </p:cBhvr>
                                      <p:to>
                                        <p:strVal val="visible"/>
                                      </p:to>
                                    </p:set>
                                    <p:animEffect transition="in" filter="dissolve">
                                      <p:cBhvr>
                                        <p:cTn id="12" dur="500"/>
                                        <p:tgtEl>
                                          <p:spTgt spid="2465800"/>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465800">
                                            <p:txEl>
                                              <p:charRg st="0" end="40"/>
                                            </p:txEl>
                                          </p:spTgt>
                                        </p:tgtEl>
                                        <p:attrNameLst>
                                          <p:attrName>style.visibility</p:attrName>
                                        </p:attrNameLst>
                                      </p:cBhvr>
                                      <p:to>
                                        <p:strVal val="visible"/>
                                      </p:to>
                                    </p:set>
                                    <p:animEffect transition="in" filter="dissolve">
                                      <p:cBhvr>
                                        <p:cTn id="15" dur="500"/>
                                        <p:tgtEl>
                                          <p:spTgt spid="2465800">
                                            <p:txEl>
                                              <p:charRg st="0" end="4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465802"/>
                                        </p:tgtEl>
                                        <p:attrNameLst>
                                          <p:attrName>style.visibility</p:attrName>
                                        </p:attrNameLst>
                                      </p:cBhvr>
                                      <p:to>
                                        <p:strVal val="visible"/>
                                      </p:to>
                                    </p:set>
                                    <p:animEffect transition="in" filter="dissolve">
                                      <p:cBhvr>
                                        <p:cTn id="20" dur="500"/>
                                        <p:tgtEl>
                                          <p:spTgt spid="246580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465803"/>
                                        </p:tgtEl>
                                        <p:attrNameLst>
                                          <p:attrName>style.visibility</p:attrName>
                                        </p:attrNameLst>
                                      </p:cBhvr>
                                      <p:to>
                                        <p:strVal val="visible"/>
                                      </p:to>
                                    </p:set>
                                    <p:animEffect transition="in" filter="dissolve">
                                      <p:cBhvr>
                                        <p:cTn id="25" dur="500"/>
                                        <p:tgtEl>
                                          <p:spTgt spid="246580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465804">
                                            <p:txEl>
                                              <p:charRg st="0" end="52"/>
                                            </p:txEl>
                                          </p:spTgt>
                                        </p:tgtEl>
                                        <p:attrNameLst>
                                          <p:attrName>style.visibility</p:attrName>
                                        </p:attrNameLst>
                                      </p:cBhvr>
                                      <p:to>
                                        <p:strVal val="visible"/>
                                      </p:to>
                                    </p:set>
                                    <p:animEffect transition="in" filter="dissolve">
                                      <p:cBhvr>
                                        <p:cTn id="30" dur="500"/>
                                        <p:tgtEl>
                                          <p:spTgt spid="2465804">
                                            <p:txEl>
                                              <p:charRg st="0" end="52"/>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465805"/>
                                        </p:tgtEl>
                                        <p:attrNameLst>
                                          <p:attrName>style.visibility</p:attrName>
                                        </p:attrNameLst>
                                      </p:cBhvr>
                                      <p:to>
                                        <p:strVal val="visible"/>
                                      </p:to>
                                    </p:set>
                                    <p:animEffect transition="in" filter="dissolve">
                                      <p:cBhvr>
                                        <p:cTn id="35" dur="500"/>
                                        <p:tgtEl>
                                          <p:spTgt spid="24658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5799" grpId="0" bldLvl="0" animBg="1"/>
      <p:bldP spid="2465800" grpId="0" animBg="1" build="allAtOnce"/>
      <p:bldP spid="2465802" grpId="0"/>
      <p:bldP spid="2465803" grpId="0" bldLvl="0" animBg="1"/>
      <p:bldP spid="2465804" grpId="0" build="allAtOnce"/>
      <p:bldP spid="2465805" grpId="0" bldLvl="0" animBg="1"/>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467967" name="Group 127"/>
          <p:cNvGrpSpPr/>
          <p:nvPr/>
        </p:nvGrpSpPr>
        <p:grpSpPr>
          <a:xfrm>
            <a:off x="4319588" y="2133600"/>
            <a:ext cx="4697412" cy="4110038"/>
            <a:chOff x="2721" y="1344"/>
            <a:chExt cx="2959" cy="2589"/>
          </a:xfrm>
        </p:grpSpPr>
        <p:sp>
          <p:nvSpPr>
            <p:cNvPr id="34839" name="Rectangle 128"/>
            <p:cNvSpPr/>
            <p:nvPr/>
          </p:nvSpPr>
          <p:spPr>
            <a:xfrm>
              <a:off x="2721" y="1344"/>
              <a:ext cx="2959" cy="256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0" name="Line 129"/>
            <p:cNvSpPr/>
            <p:nvPr/>
          </p:nvSpPr>
          <p:spPr>
            <a:xfrm flipH="1">
              <a:off x="4410" y="2393"/>
              <a:ext cx="539" cy="0"/>
            </a:xfrm>
            <a:prstGeom prst="line">
              <a:avLst/>
            </a:prstGeom>
            <a:ln w="12700" cap="flat" cmpd="sng">
              <a:solidFill>
                <a:schemeClr val="accent2"/>
              </a:solidFill>
              <a:prstDash val="solid"/>
              <a:headEnd type="none" w="med" len="med"/>
              <a:tailEnd type="none" w="med" len="med"/>
            </a:ln>
          </p:spPr>
        </p:sp>
        <p:sp>
          <p:nvSpPr>
            <p:cNvPr id="34841" name="Rectangle 130"/>
            <p:cNvSpPr/>
            <p:nvPr/>
          </p:nvSpPr>
          <p:spPr>
            <a:xfrm>
              <a:off x="3525" y="1543"/>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2" name="Oval 131"/>
            <p:cNvSpPr/>
            <p:nvPr/>
          </p:nvSpPr>
          <p:spPr>
            <a:xfrm>
              <a:off x="3571"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3" name="Oval 132"/>
            <p:cNvSpPr/>
            <p:nvPr/>
          </p:nvSpPr>
          <p:spPr>
            <a:xfrm>
              <a:off x="3571" y="1758"/>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4" name="Oval 133"/>
            <p:cNvSpPr/>
            <p:nvPr/>
          </p:nvSpPr>
          <p:spPr>
            <a:xfrm>
              <a:off x="3820" y="166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5" name="Line 134"/>
            <p:cNvSpPr/>
            <p:nvPr/>
          </p:nvSpPr>
          <p:spPr>
            <a:xfrm>
              <a:off x="3865" y="1690"/>
              <a:ext cx="545" cy="0"/>
            </a:xfrm>
            <a:prstGeom prst="line">
              <a:avLst/>
            </a:prstGeom>
            <a:ln w="12700" cap="flat" cmpd="sng">
              <a:solidFill>
                <a:schemeClr val="accent2"/>
              </a:solidFill>
              <a:prstDash val="solid"/>
              <a:headEnd type="none" w="med" len="med"/>
              <a:tailEnd type="none" w="med" len="med"/>
            </a:ln>
          </p:spPr>
        </p:sp>
        <p:sp>
          <p:nvSpPr>
            <p:cNvPr id="34846" name="Line 135"/>
            <p:cNvSpPr/>
            <p:nvPr/>
          </p:nvSpPr>
          <p:spPr>
            <a:xfrm>
              <a:off x="3117" y="1599"/>
              <a:ext cx="454" cy="0"/>
            </a:xfrm>
            <a:prstGeom prst="line">
              <a:avLst/>
            </a:prstGeom>
            <a:ln w="12700" cap="flat" cmpd="sng">
              <a:solidFill>
                <a:schemeClr val="accent2"/>
              </a:solidFill>
              <a:prstDash val="solid"/>
              <a:headEnd type="none" w="med" len="med"/>
              <a:tailEnd type="none" w="med" len="med"/>
            </a:ln>
          </p:spPr>
        </p:sp>
        <p:sp>
          <p:nvSpPr>
            <p:cNvPr id="34847" name="Line 136"/>
            <p:cNvSpPr/>
            <p:nvPr/>
          </p:nvSpPr>
          <p:spPr>
            <a:xfrm>
              <a:off x="3435" y="1781"/>
              <a:ext cx="136" cy="0"/>
            </a:xfrm>
            <a:prstGeom prst="line">
              <a:avLst/>
            </a:prstGeom>
            <a:ln w="12700" cap="flat" cmpd="sng">
              <a:solidFill>
                <a:schemeClr val="accent2"/>
              </a:solidFill>
              <a:prstDash val="solid"/>
              <a:headEnd type="none" w="med" len="med"/>
              <a:tailEnd type="none" w="med" len="med"/>
            </a:ln>
          </p:spPr>
        </p:sp>
        <p:sp>
          <p:nvSpPr>
            <p:cNvPr id="34848" name="Rectangle 137"/>
            <p:cNvSpPr/>
            <p:nvPr/>
          </p:nvSpPr>
          <p:spPr>
            <a:xfrm>
              <a:off x="4070" y="166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49" name="Line 138"/>
            <p:cNvSpPr/>
            <p:nvPr/>
          </p:nvSpPr>
          <p:spPr>
            <a:xfrm flipH="1" flipV="1">
              <a:off x="3571" y="1622"/>
              <a:ext cx="249" cy="68"/>
            </a:xfrm>
            <a:prstGeom prst="line">
              <a:avLst/>
            </a:prstGeom>
            <a:ln w="19050" cap="flat" cmpd="sng">
              <a:solidFill>
                <a:srgbClr val="FF0000"/>
              </a:solidFill>
              <a:prstDash val="solid"/>
              <a:headEnd type="none" w="med" len="med"/>
              <a:tailEnd type="none" w="med" len="med"/>
            </a:ln>
          </p:spPr>
        </p:sp>
        <p:sp>
          <p:nvSpPr>
            <p:cNvPr id="34850" name="Line 139"/>
            <p:cNvSpPr/>
            <p:nvPr/>
          </p:nvSpPr>
          <p:spPr>
            <a:xfrm>
              <a:off x="3707" y="1667"/>
              <a:ext cx="0" cy="170"/>
            </a:xfrm>
            <a:prstGeom prst="line">
              <a:avLst/>
            </a:prstGeom>
            <a:ln w="12700" cap="flat" cmpd="sng">
              <a:solidFill>
                <a:srgbClr val="FF0000"/>
              </a:solidFill>
              <a:prstDash val="dash"/>
              <a:headEnd type="none" w="med" len="med"/>
              <a:tailEnd type="none" w="med" len="med"/>
            </a:ln>
          </p:spPr>
        </p:sp>
        <p:sp>
          <p:nvSpPr>
            <p:cNvPr id="34851" name="Line 140"/>
            <p:cNvSpPr/>
            <p:nvPr/>
          </p:nvSpPr>
          <p:spPr>
            <a:xfrm>
              <a:off x="3705" y="1837"/>
              <a:ext cx="0" cy="125"/>
            </a:xfrm>
            <a:prstGeom prst="line">
              <a:avLst/>
            </a:prstGeom>
            <a:ln w="12700" cap="flat" cmpd="sng">
              <a:solidFill>
                <a:srgbClr val="FF0000"/>
              </a:solidFill>
              <a:prstDash val="solid"/>
              <a:headEnd type="stealth" w="med" len="lg"/>
              <a:tailEnd type="none" w="med" len="med"/>
            </a:ln>
          </p:spPr>
        </p:sp>
        <p:sp>
          <p:nvSpPr>
            <p:cNvPr id="34852" name="Line 141"/>
            <p:cNvSpPr/>
            <p:nvPr/>
          </p:nvSpPr>
          <p:spPr>
            <a:xfrm flipH="1">
              <a:off x="3117" y="1962"/>
              <a:ext cx="590" cy="0"/>
            </a:xfrm>
            <a:prstGeom prst="line">
              <a:avLst/>
            </a:prstGeom>
            <a:ln w="12700" cap="flat" cmpd="sng">
              <a:solidFill>
                <a:srgbClr val="FF0000"/>
              </a:solidFill>
              <a:prstDash val="solid"/>
              <a:headEnd type="none" w="med" len="med"/>
              <a:tailEnd type="none" w="med" len="med"/>
            </a:ln>
          </p:spPr>
        </p:sp>
        <p:sp>
          <p:nvSpPr>
            <p:cNvPr id="34853" name="Text Box 142"/>
            <p:cNvSpPr txBox="1"/>
            <p:nvPr/>
          </p:nvSpPr>
          <p:spPr>
            <a:xfrm>
              <a:off x="3717" y="134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34854" name="Text Box 143"/>
            <p:cNvSpPr txBox="1"/>
            <p:nvPr/>
          </p:nvSpPr>
          <p:spPr>
            <a:xfrm>
              <a:off x="3979" y="1496"/>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-3</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4855" name="Rectangle 144"/>
            <p:cNvSpPr/>
            <p:nvPr/>
          </p:nvSpPr>
          <p:spPr>
            <a:xfrm>
              <a:off x="3525" y="2065"/>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56" name="Oval 145"/>
            <p:cNvSpPr/>
            <p:nvPr/>
          </p:nvSpPr>
          <p:spPr>
            <a:xfrm>
              <a:off x="3571" y="209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57" name="Oval 146"/>
            <p:cNvSpPr/>
            <p:nvPr/>
          </p:nvSpPr>
          <p:spPr>
            <a:xfrm>
              <a:off x="3571" y="2280"/>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58" name="Oval 147"/>
            <p:cNvSpPr/>
            <p:nvPr/>
          </p:nvSpPr>
          <p:spPr>
            <a:xfrm>
              <a:off x="3820" y="218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59" name="Line 148"/>
            <p:cNvSpPr/>
            <p:nvPr/>
          </p:nvSpPr>
          <p:spPr>
            <a:xfrm>
              <a:off x="3865" y="2212"/>
              <a:ext cx="545" cy="0"/>
            </a:xfrm>
            <a:prstGeom prst="line">
              <a:avLst/>
            </a:prstGeom>
            <a:ln w="12700" cap="flat" cmpd="sng">
              <a:solidFill>
                <a:schemeClr val="accent2"/>
              </a:solidFill>
              <a:prstDash val="solid"/>
              <a:headEnd type="none" w="med" len="med"/>
              <a:tailEnd type="none" w="med" len="med"/>
            </a:ln>
          </p:spPr>
        </p:sp>
        <p:sp>
          <p:nvSpPr>
            <p:cNvPr id="34860" name="Line 149"/>
            <p:cNvSpPr/>
            <p:nvPr/>
          </p:nvSpPr>
          <p:spPr>
            <a:xfrm>
              <a:off x="3276" y="2121"/>
              <a:ext cx="295" cy="0"/>
            </a:xfrm>
            <a:prstGeom prst="line">
              <a:avLst/>
            </a:prstGeom>
            <a:ln w="12700" cap="flat" cmpd="sng">
              <a:solidFill>
                <a:schemeClr val="accent2"/>
              </a:solidFill>
              <a:prstDash val="solid"/>
              <a:headEnd type="none" w="med" len="med"/>
              <a:tailEnd type="none" w="med" len="med"/>
            </a:ln>
          </p:spPr>
        </p:sp>
        <p:sp>
          <p:nvSpPr>
            <p:cNvPr id="34861" name="Line 150"/>
            <p:cNvSpPr/>
            <p:nvPr/>
          </p:nvSpPr>
          <p:spPr>
            <a:xfrm>
              <a:off x="3435" y="2303"/>
              <a:ext cx="136" cy="0"/>
            </a:xfrm>
            <a:prstGeom prst="line">
              <a:avLst/>
            </a:prstGeom>
            <a:ln w="12700" cap="flat" cmpd="sng">
              <a:solidFill>
                <a:schemeClr val="accent2"/>
              </a:solidFill>
              <a:prstDash val="solid"/>
              <a:headEnd type="none" w="med" len="med"/>
              <a:tailEnd type="none" w="med" len="med"/>
            </a:ln>
          </p:spPr>
        </p:sp>
        <p:sp>
          <p:nvSpPr>
            <p:cNvPr id="34862" name="Rectangle 151"/>
            <p:cNvSpPr/>
            <p:nvPr/>
          </p:nvSpPr>
          <p:spPr>
            <a:xfrm>
              <a:off x="4070" y="2189"/>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63" name="Line 152"/>
            <p:cNvSpPr/>
            <p:nvPr/>
          </p:nvSpPr>
          <p:spPr>
            <a:xfrm flipH="1" flipV="1">
              <a:off x="3571" y="2144"/>
              <a:ext cx="249" cy="68"/>
            </a:xfrm>
            <a:prstGeom prst="line">
              <a:avLst/>
            </a:prstGeom>
            <a:ln w="19050" cap="flat" cmpd="sng">
              <a:solidFill>
                <a:srgbClr val="FF0000"/>
              </a:solidFill>
              <a:prstDash val="solid"/>
              <a:headEnd type="none" w="med" len="med"/>
              <a:tailEnd type="none" w="med" len="med"/>
            </a:ln>
          </p:spPr>
        </p:sp>
        <p:sp>
          <p:nvSpPr>
            <p:cNvPr id="34864" name="Line 153"/>
            <p:cNvSpPr/>
            <p:nvPr/>
          </p:nvSpPr>
          <p:spPr>
            <a:xfrm>
              <a:off x="3707" y="2189"/>
              <a:ext cx="0" cy="170"/>
            </a:xfrm>
            <a:prstGeom prst="line">
              <a:avLst/>
            </a:prstGeom>
            <a:ln w="12700" cap="flat" cmpd="sng">
              <a:solidFill>
                <a:srgbClr val="FF0000"/>
              </a:solidFill>
              <a:prstDash val="dash"/>
              <a:headEnd type="none" w="med" len="med"/>
              <a:tailEnd type="none" w="med" len="med"/>
            </a:ln>
          </p:spPr>
        </p:sp>
        <p:sp>
          <p:nvSpPr>
            <p:cNvPr id="34865" name="Line 154"/>
            <p:cNvSpPr/>
            <p:nvPr/>
          </p:nvSpPr>
          <p:spPr>
            <a:xfrm>
              <a:off x="3705" y="2359"/>
              <a:ext cx="0" cy="125"/>
            </a:xfrm>
            <a:prstGeom prst="line">
              <a:avLst/>
            </a:prstGeom>
            <a:ln w="12700" cap="flat" cmpd="sng">
              <a:solidFill>
                <a:srgbClr val="FF0000"/>
              </a:solidFill>
              <a:prstDash val="solid"/>
              <a:headEnd type="stealth" w="med" len="lg"/>
              <a:tailEnd type="none" w="med" len="med"/>
            </a:ln>
          </p:spPr>
        </p:sp>
        <p:sp>
          <p:nvSpPr>
            <p:cNvPr id="34866" name="Line 155"/>
            <p:cNvSpPr/>
            <p:nvPr/>
          </p:nvSpPr>
          <p:spPr>
            <a:xfrm flipH="1">
              <a:off x="3117" y="2484"/>
              <a:ext cx="590" cy="0"/>
            </a:xfrm>
            <a:prstGeom prst="line">
              <a:avLst/>
            </a:prstGeom>
            <a:ln w="12700" cap="flat" cmpd="sng">
              <a:solidFill>
                <a:srgbClr val="FF0000"/>
              </a:solidFill>
              <a:prstDash val="solid"/>
              <a:headEnd type="none" w="med" len="med"/>
              <a:tailEnd type="none" w="med" len="med"/>
            </a:ln>
          </p:spPr>
        </p:sp>
        <p:sp>
          <p:nvSpPr>
            <p:cNvPr id="34867" name="Text Box 156"/>
            <p:cNvSpPr txBox="1"/>
            <p:nvPr/>
          </p:nvSpPr>
          <p:spPr>
            <a:xfrm>
              <a:off x="3721" y="1868"/>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34868" name="Text Box 157"/>
            <p:cNvSpPr txBox="1"/>
            <p:nvPr/>
          </p:nvSpPr>
          <p:spPr>
            <a:xfrm>
              <a:off x="3979" y="2018"/>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4869" name="Rectangle 158"/>
            <p:cNvSpPr/>
            <p:nvPr/>
          </p:nvSpPr>
          <p:spPr>
            <a:xfrm>
              <a:off x="3525" y="2590"/>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70" name="Oval 159"/>
            <p:cNvSpPr/>
            <p:nvPr/>
          </p:nvSpPr>
          <p:spPr>
            <a:xfrm>
              <a:off x="3571" y="262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71" name="Oval 160"/>
            <p:cNvSpPr/>
            <p:nvPr/>
          </p:nvSpPr>
          <p:spPr>
            <a:xfrm>
              <a:off x="3571" y="280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72" name="Oval 161"/>
            <p:cNvSpPr/>
            <p:nvPr/>
          </p:nvSpPr>
          <p:spPr>
            <a:xfrm>
              <a:off x="3820" y="271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73" name="Line 162"/>
            <p:cNvSpPr/>
            <p:nvPr/>
          </p:nvSpPr>
          <p:spPr>
            <a:xfrm>
              <a:off x="3865" y="2737"/>
              <a:ext cx="545" cy="0"/>
            </a:xfrm>
            <a:prstGeom prst="line">
              <a:avLst/>
            </a:prstGeom>
            <a:ln w="12700" cap="flat" cmpd="sng">
              <a:solidFill>
                <a:schemeClr val="accent2"/>
              </a:solidFill>
              <a:prstDash val="solid"/>
              <a:headEnd type="none" w="med" len="med"/>
              <a:tailEnd type="none" w="med" len="med"/>
            </a:ln>
          </p:spPr>
        </p:sp>
        <p:sp>
          <p:nvSpPr>
            <p:cNvPr id="34874" name="Line 163"/>
            <p:cNvSpPr/>
            <p:nvPr/>
          </p:nvSpPr>
          <p:spPr>
            <a:xfrm>
              <a:off x="3276" y="2646"/>
              <a:ext cx="295" cy="0"/>
            </a:xfrm>
            <a:prstGeom prst="line">
              <a:avLst/>
            </a:prstGeom>
            <a:ln w="12700" cap="flat" cmpd="sng">
              <a:solidFill>
                <a:schemeClr val="accent2"/>
              </a:solidFill>
              <a:prstDash val="solid"/>
              <a:headEnd type="none" w="med" len="med"/>
              <a:tailEnd type="none" w="med" len="med"/>
            </a:ln>
          </p:spPr>
        </p:sp>
        <p:sp>
          <p:nvSpPr>
            <p:cNvPr id="34875" name="Line 164"/>
            <p:cNvSpPr/>
            <p:nvPr/>
          </p:nvSpPr>
          <p:spPr>
            <a:xfrm>
              <a:off x="3435" y="2828"/>
              <a:ext cx="136" cy="0"/>
            </a:xfrm>
            <a:prstGeom prst="line">
              <a:avLst/>
            </a:prstGeom>
            <a:ln w="12700" cap="flat" cmpd="sng">
              <a:solidFill>
                <a:schemeClr val="accent2"/>
              </a:solidFill>
              <a:prstDash val="solid"/>
              <a:headEnd type="none" w="med" len="med"/>
              <a:tailEnd type="none" w="med" len="med"/>
            </a:ln>
          </p:spPr>
        </p:sp>
        <p:sp>
          <p:nvSpPr>
            <p:cNvPr id="34876" name="Rectangle 165"/>
            <p:cNvSpPr/>
            <p:nvPr/>
          </p:nvSpPr>
          <p:spPr>
            <a:xfrm>
              <a:off x="4070" y="2714"/>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77" name="Line 166"/>
            <p:cNvSpPr/>
            <p:nvPr/>
          </p:nvSpPr>
          <p:spPr>
            <a:xfrm flipH="1" flipV="1">
              <a:off x="3571" y="2669"/>
              <a:ext cx="249" cy="68"/>
            </a:xfrm>
            <a:prstGeom prst="line">
              <a:avLst/>
            </a:prstGeom>
            <a:ln w="19050" cap="flat" cmpd="sng">
              <a:solidFill>
                <a:srgbClr val="FF0000"/>
              </a:solidFill>
              <a:prstDash val="solid"/>
              <a:headEnd type="none" w="med" len="med"/>
              <a:tailEnd type="none" w="med" len="med"/>
            </a:ln>
          </p:spPr>
        </p:sp>
        <p:sp>
          <p:nvSpPr>
            <p:cNvPr id="34878" name="Line 167"/>
            <p:cNvSpPr/>
            <p:nvPr/>
          </p:nvSpPr>
          <p:spPr>
            <a:xfrm>
              <a:off x="3707" y="2714"/>
              <a:ext cx="0" cy="170"/>
            </a:xfrm>
            <a:prstGeom prst="line">
              <a:avLst/>
            </a:prstGeom>
            <a:ln w="12700" cap="flat" cmpd="sng">
              <a:solidFill>
                <a:srgbClr val="FF0000"/>
              </a:solidFill>
              <a:prstDash val="dash"/>
              <a:headEnd type="none" w="med" len="med"/>
              <a:tailEnd type="none" w="med" len="med"/>
            </a:ln>
          </p:spPr>
        </p:sp>
        <p:sp>
          <p:nvSpPr>
            <p:cNvPr id="34879" name="Line 168"/>
            <p:cNvSpPr/>
            <p:nvPr/>
          </p:nvSpPr>
          <p:spPr>
            <a:xfrm>
              <a:off x="3705" y="2884"/>
              <a:ext cx="0" cy="125"/>
            </a:xfrm>
            <a:prstGeom prst="line">
              <a:avLst/>
            </a:prstGeom>
            <a:ln w="12700" cap="flat" cmpd="sng">
              <a:solidFill>
                <a:srgbClr val="FF0000"/>
              </a:solidFill>
              <a:prstDash val="solid"/>
              <a:headEnd type="stealth" w="med" len="lg"/>
              <a:tailEnd type="none" w="med" len="med"/>
            </a:ln>
          </p:spPr>
        </p:sp>
        <p:sp>
          <p:nvSpPr>
            <p:cNvPr id="34880" name="Line 169"/>
            <p:cNvSpPr/>
            <p:nvPr/>
          </p:nvSpPr>
          <p:spPr>
            <a:xfrm flipH="1">
              <a:off x="3117" y="3009"/>
              <a:ext cx="590" cy="0"/>
            </a:xfrm>
            <a:prstGeom prst="line">
              <a:avLst/>
            </a:prstGeom>
            <a:ln w="12700" cap="flat" cmpd="sng">
              <a:solidFill>
                <a:srgbClr val="FF0000"/>
              </a:solidFill>
              <a:prstDash val="solid"/>
              <a:headEnd type="none" w="med" len="med"/>
              <a:tailEnd type="none" w="med" len="med"/>
            </a:ln>
          </p:spPr>
        </p:sp>
        <p:sp>
          <p:nvSpPr>
            <p:cNvPr id="34881" name="Text Box 170"/>
            <p:cNvSpPr txBox="1"/>
            <p:nvPr/>
          </p:nvSpPr>
          <p:spPr>
            <a:xfrm>
              <a:off x="3721" y="239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34882" name="Text Box 171"/>
            <p:cNvSpPr txBox="1"/>
            <p:nvPr/>
          </p:nvSpPr>
          <p:spPr>
            <a:xfrm>
              <a:off x="3979" y="2543"/>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-1</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4883" name="Rectangle 172"/>
            <p:cNvSpPr/>
            <p:nvPr/>
          </p:nvSpPr>
          <p:spPr>
            <a:xfrm>
              <a:off x="3525" y="3131"/>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84" name="Oval 173"/>
            <p:cNvSpPr/>
            <p:nvPr/>
          </p:nvSpPr>
          <p:spPr>
            <a:xfrm>
              <a:off x="3571" y="316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85" name="Oval 174"/>
            <p:cNvSpPr/>
            <p:nvPr/>
          </p:nvSpPr>
          <p:spPr>
            <a:xfrm>
              <a:off x="3571" y="334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86" name="Oval 175"/>
            <p:cNvSpPr/>
            <p:nvPr/>
          </p:nvSpPr>
          <p:spPr>
            <a:xfrm>
              <a:off x="3820" y="325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87" name="Line 176"/>
            <p:cNvSpPr/>
            <p:nvPr/>
          </p:nvSpPr>
          <p:spPr>
            <a:xfrm>
              <a:off x="3865" y="3278"/>
              <a:ext cx="545" cy="0"/>
            </a:xfrm>
            <a:prstGeom prst="line">
              <a:avLst/>
            </a:prstGeom>
            <a:ln w="12700" cap="flat" cmpd="sng">
              <a:solidFill>
                <a:schemeClr val="accent2"/>
              </a:solidFill>
              <a:prstDash val="solid"/>
              <a:headEnd type="none" w="med" len="med"/>
              <a:tailEnd type="none" w="med" len="med"/>
            </a:ln>
          </p:spPr>
        </p:sp>
        <p:sp>
          <p:nvSpPr>
            <p:cNvPr id="34888" name="Line 177"/>
            <p:cNvSpPr/>
            <p:nvPr/>
          </p:nvSpPr>
          <p:spPr>
            <a:xfrm>
              <a:off x="3276" y="3187"/>
              <a:ext cx="295" cy="0"/>
            </a:xfrm>
            <a:prstGeom prst="line">
              <a:avLst/>
            </a:prstGeom>
            <a:ln w="12700" cap="flat" cmpd="sng">
              <a:solidFill>
                <a:schemeClr val="accent2"/>
              </a:solidFill>
              <a:prstDash val="solid"/>
              <a:headEnd type="none" w="med" len="med"/>
              <a:tailEnd type="none" w="med" len="med"/>
            </a:ln>
          </p:spPr>
        </p:sp>
        <p:sp>
          <p:nvSpPr>
            <p:cNvPr id="34889" name="Line 178"/>
            <p:cNvSpPr/>
            <p:nvPr/>
          </p:nvSpPr>
          <p:spPr>
            <a:xfrm>
              <a:off x="3435" y="3369"/>
              <a:ext cx="136" cy="0"/>
            </a:xfrm>
            <a:prstGeom prst="line">
              <a:avLst/>
            </a:prstGeom>
            <a:ln w="12700" cap="flat" cmpd="sng">
              <a:solidFill>
                <a:schemeClr val="accent2"/>
              </a:solidFill>
              <a:prstDash val="solid"/>
              <a:headEnd type="none" w="med" len="med"/>
              <a:tailEnd type="none" w="med" len="med"/>
            </a:ln>
          </p:spPr>
        </p:sp>
        <p:sp>
          <p:nvSpPr>
            <p:cNvPr id="34890" name="Rectangle 179"/>
            <p:cNvSpPr/>
            <p:nvPr/>
          </p:nvSpPr>
          <p:spPr>
            <a:xfrm>
              <a:off x="4070" y="3255"/>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91" name="Line 180"/>
            <p:cNvSpPr/>
            <p:nvPr/>
          </p:nvSpPr>
          <p:spPr>
            <a:xfrm flipH="1" flipV="1">
              <a:off x="3571" y="3210"/>
              <a:ext cx="249" cy="68"/>
            </a:xfrm>
            <a:prstGeom prst="line">
              <a:avLst/>
            </a:prstGeom>
            <a:ln w="19050" cap="flat" cmpd="sng">
              <a:solidFill>
                <a:srgbClr val="FF0000"/>
              </a:solidFill>
              <a:prstDash val="solid"/>
              <a:headEnd type="none" w="med" len="med"/>
              <a:tailEnd type="none" w="med" len="med"/>
            </a:ln>
          </p:spPr>
        </p:sp>
        <p:sp>
          <p:nvSpPr>
            <p:cNvPr id="34892" name="Line 181"/>
            <p:cNvSpPr/>
            <p:nvPr/>
          </p:nvSpPr>
          <p:spPr>
            <a:xfrm>
              <a:off x="3707" y="3255"/>
              <a:ext cx="0" cy="170"/>
            </a:xfrm>
            <a:prstGeom prst="line">
              <a:avLst/>
            </a:prstGeom>
            <a:ln w="12700" cap="flat" cmpd="sng">
              <a:solidFill>
                <a:srgbClr val="FF0000"/>
              </a:solidFill>
              <a:prstDash val="dash"/>
              <a:headEnd type="none" w="med" len="med"/>
              <a:tailEnd type="none" w="med" len="med"/>
            </a:ln>
          </p:spPr>
        </p:sp>
        <p:sp>
          <p:nvSpPr>
            <p:cNvPr id="34893" name="Line 182"/>
            <p:cNvSpPr/>
            <p:nvPr/>
          </p:nvSpPr>
          <p:spPr>
            <a:xfrm>
              <a:off x="3705" y="3425"/>
              <a:ext cx="0" cy="125"/>
            </a:xfrm>
            <a:prstGeom prst="line">
              <a:avLst/>
            </a:prstGeom>
            <a:ln w="12700" cap="flat" cmpd="sng">
              <a:solidFill>
                <a:srgbClr val="FF0000"/>
              </a:solidFill>
              <a:prstDash val="solid"/>
              <a:headEnd type="stealth" w="med" len="lg"/>
              <a:tailEnd type="none" w="med" len="med"/>
            </a:ln>
          </p:spPr>
        </p:sp>
        <p:sp>
          <p:nvSpPr>
            <p:cNvPr id="34894" name="Line 183"/>
            <p:cNvSpPr/>
            <p:nvPr/>
          </p:nvSpPr>
          <p:spPr>
            <a:xfrm flipH="1">
              <a:off x="3117" y="3550"/>
              <a:ext cx="590" cy="0"/>
            </a:xfrm>
            <a:prstGeom prst="line">
              <a:avLst/>
            </a:prstGeom>
            <a:ln w="12700" cap="flat" cmpd="sng">
              <a:solidFill>
                <a:srgbClr val="FF0000"/>
              </a:solidFill>
              <a:prstDash val="solid"/>
              <a:headEnd type="none" w="med" len="med"/>
              <a:tailEnd type="none" w="med" len="med"/>
            </a:ln>
          </p:spPr>
        </p:sp>
        <p:sp>
          <p:nvSpPr>
            <p:cNvPr id="34895" name="Text Box 184"/>
            <p:cNvSpPr txBox="1"/>
            <p:nvPr/>
          </p:nvSpPr>
          <p:spPr>
            <a:xfrm>
              <a:off x="3721" y="293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34896" name="Text Box 185"/>
            <p:cNvSpPr txBox="1"/>
            <p:nvPr/>
          </p:nvSpPr>
          <p:spPr>
            <a:xfrm>
              <a:off x="3979" y="30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0</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4897" name="Line 186"/>
            <p:cNvSpPr/>
            <p:nvPr/>
          </p:nvSpPr>
          <p:spPr>
            <a:xfrm>
              <a:off x="4410" y="1693"/>
              <a:ext cx="0" cy="1588"/>
            </a:xfrm>
            <a:prstGeom prst="line">
              <a:avLst/>
            </a:prstGeom>
            <a:ln w="12700" cap="flat" cmpd="sng">
              <a:solidFill>
                <a:schemeClr val="accent2"/>
              </a:solidFill>
              <a:prstDash val="solid"/>
              <a:headEnd type="none" w="med" len="med"/>
              <a:tailEnd type="none" w="med" len="med"/>
            </a:ln>
          </p:spPr>
        </p:sp>
        <p:sp>
          <p:nvSpPr>
            <p:cNvPr id="34898" name="Line 187"/>
            <p:cNvSpPr/>
            <p:nvPr/>
          </p:nvSpPr>
          <p:spPr>
            <a:xfrm>
              <a:off x="3435" y="1781"/>
              <a:ext cx="0" cy="1841"/>
            </a:xfrm>
            <a:prstGeom prst="line">
              <a:avLst/>
            </a:prstGeom>
            <a:ln w="12700" cap="flat" cmpd="sng">
              <a:solidFill>
                <a:schemeClr val="accent2"/>
              </a:solidFill>
              <a:prstDash val="solid"/>
              <a:headEnd type="none" w="med" len="med"/>
              <a:tailEnd type="none" w="med" len="med"/>
            </a:ln>
          </p:spPr>
        </p:sp>
        <p:sp>
          <p:nvSpPr>
            <p:cNvPr id="34899" name="Line 188"/>
            <p:cNvSpPr/>
            <p:nvPr/>
          </p:nvSpPr>
          <p:spPr>
            <a:xfrm>
              <a:off x="3276" y="1599"/>
              <a:ext cx="0" cy="1588"/>
            </a:xfrm>
            <a:prstGeom prst="line">
              <a:avLst/>
            </a:prstGeom>
            <a:ln w="12700" cap="flat" cmpd="sng">
              <a:solidFill>
                <a:schemeClr val="accent2"/>
              </a:solidFill>
              <a:prstDash val="solid"/>
              <a:headEnd type="none" w="med" len="med"/>
              <a:tailEnd type="none" w="med" len="med"/>
            </a:ln>
          </p:spPr>
        </p:sp>
        <p:sp>
          <p:nvSpPr>
            <p:cNvPr id="34900" name="Oval 189"/>
            <p:cNvSpPr/>
            <p:nvPr/>
          </p:nvSpPr>
          <p:spPr>
            <a:xfrm>
              <a:off x="3072"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01" name="Text Box 190"/>
            <p:cNvSpPr txBox="1"/>
            <p:nvPr/>
          </p:nvSpPr>
          <p:spPr>
            <a:xfrm>
              <a:off x="2804" y="1850"/>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34902" name="Text Box 191"/>
            <p:cNvSpPr txBox="1"/>
            <p:nvPr/>
          </p:nvSpPr>
          <p:spPr>
            <a:xfrm>
              <a:off x="2791" y="235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34903" name="Text Box 192"/>
            <p:cNvSpPr txBox="1"/>
            <p:nvPr/>
          </p:nvSpPr>
          <p:spPr>
            <a:xfrm>
              <a:off x="2798" y="28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34904" name="Text Box 193"/>
            <p:cNvSpPr txBox="1"/>
            <p:nvPr/>
          </p:nvSpPr>
          <p:spPr>
            <a:xfrm>
              <a:off x="2798" y="3425"/>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34905" name="Line 194"/>
            <p:cNvSpPr/>
            <p:nvPr/>
          </p:nvSpPr>
          <p:spPr>
            <a:xfrm>
              <a:off x="3354" y="3622"/>
              <a:ext cx="158" cy="0"/>
            </a:xfrm>
            <a:prstGeom prst="line">
              <a:avLst/>
            </a:prstGeom>
            <a:ln w="19050" cap="flat" cmpd="sng">
              <a:solidFill>
                <a:srgbClr val="000080"/>
              </a:solidFill>
              <a:prstDash val="solid"/>
              <a:headEnd type="none" w="med" len="med"/>
              <a:tailEnd type="none" w="med" len="med"/>
            </a:ln>
          </p:spPr>
        </p:sp>
        <p:sp>
          <p:nvSpPr>
            <p:cNvPr id="34906" name="Text Box 195"/>
            <p:cNvSpPr txBox="1"/>
            <p:nvPr/>
          </p:nvSpPr>
          <p:spPr>
            <a:xfrm>
              <a:off x="2721" y="1478"/>
              <a:ext cx="430"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34907" name="AutoShape 196"/>
            <p:cNvSpPr/>
            <p:nvPr/>
          </p:nvSpPr>
          <p:spPr>
            <a:xfrm rot="5400000">
              <a:off x="4849" y="2292"/>
              <a:ext cx="408" cy="43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08" name="Line 197"/>
            <p:cNvSpPr/>
            <p:nvPr/>
          </p:nvSpPr>
          <p:spPr>
            <a:xfrm flipH="1">
              <a:off x="4637" y="2624"/>
              <a:ext cx="199" cy="0"/>
            </a:xfrm>
            <a:prstGeom prst="line">
              <a:avLst/>
            </a:prstGeom>
            <a:ln w="12700" cap="flat" cmpd="sng">
              <a:solidFill>
                <a:schemeClr val="accent2"/>
              </a:solidFill>
              <a:prstDash val="solid"/>
              <a:headEnd type="none" w="med" len="med"/>
              <a:tailEnd type="none" w="med" len="med"/>
            </a:ln>
          </p:spPr>
        </p:sp>
        <p:sp>
          <p:nvSpPr>
            <p:cNvPr id="34909" name="Line 198"/>
            <p:cNvSpPr/>
            <p:nvPr/>
          </p:nvSpPr>
          <p:spPr>
            <a:xfrm>
              <a:off x="4637" y="2624"/>
              <a:ext cx="0" cy="226"/>
            </a:xfrm>
            <a:prstGeom prst="line">
              <a:avLst/>
            </a:prstGeom>
            <a:ln w="12700" cap="flat" cmpd="sng">
              <a:solidFill>
                <a:schemeClr val="accent2"/>
              </a:solidFill>
              <a:prstDash val="solid"/>
              <a:headEnd type="none" w="med" len="med"/>
              <a:tailEnd type="none" w="med" len="med"/>
            </a:ln>
          </p:spPr>
        </p:sp>
        <p:sp>
          <p:nvSpPr>
            <p:cNvPr id="34910" name="Line 199"/>
            <p:cNvSpPr/>
            <p:nvPr/>
          </p:nvSpPr>
          <p:spPr>
            <a:xfrm>
              <a:off x="4558" y="2850"/>
              <a:ext cx="158" cy="0"/>
            </a:xfrm>
            <a:prstGeom prst="line">
              <a:avLst/>
            </a:prstGeom>
            <a:ln w="19050" cap="flat" cmpd="sng">
              <a:solidFill>
                <a:srgbClr val="000080"/>
              </a:solidFill>
              <a:prstDash val="solid"/>
              <a:headEnd type="none" w="med" len="med"/>
              <a:tailEnd type="none" w="med" len="med"/>
            </a:ln>
          </p:spPr>
        </p:sp>
        <p:sp>
          <p:nvSpPr>
            <p:cNvPr id="34911" name="Line 200"/>
            <p:cNvSpPr/>
            <p:nvPr/>
          </p:nvSpPr>
          <p:spPr>
            <a:xfrm>
              <a:off x="4633" y="2121"/>
              <a:ext cx="0" cy="271"/>
            </a:xfrm>
            <a:prstGeom prst="line">
              <a:avLst/>
            </a:prstGeom>
            <a:ln w="12700" cap="flat" cmpd="sng">
              <a:solidFill>
                <a:schemeClr val="accent2"/>
              </a:solidFill>
              <a:prstDash val="solid"/>
              <a:headEnd type="none" w="med" len="med"/>
              <a:tailEnd type="none" w="med" len="med"/>
            </a:ln>
          </p:spPr>
        </p:sp>
        <p:sp>
          <p:nvSpPr>
            <p:cNvPr id="34912" name="Line 201"/>
            <p:cNvSpPr/>
            <p:nvPr/>
          </p:nvSpPr>
          <p:spPr>
            <a:xfrm>
              <a:off x="4633" y="2120"/>
              <a:ext cx="753" cy="1"/>
            </a:xfrm>
            <a:prstGeom prst="line">
              <a:avLst/>
            </a:prstGeom>
            <a:ln w="12700" cap="flat" cmpd="sng">
              <a:solidFill>
                <a:schemeClr val="accent2"/>
              </a:solidFill>
              <a:prstDash val="solid"/>
              <a:headEnd type="none" w="med" len="med"/>
              <a:tailEnd type="none" w="med" len="med"/>
            </a:ln>
          </p:spPr>
        </p:sp>
        <p:sp>
          <p:nvSpPr>
            <p:cNvPr id="34913" name="Line 202"/>
            <p:cNvSpPr/>
            <p:nvPr/>
          </p:nvSpPr>
          <p:spPr>
            <a:xfrm>
              <a:off x="5271" y="2509"/>
              <a:ext cx="205" cy="0"/>
            </a:xfrm>
            <a:prstGeom prst="line">
              <a:avLst/>
            </a:prstGeom>
            <a:ln w="12700" cap="flat" cmpd="sng">
              <a:solidFill>
                <a:schemeClr val="accent2"/>
              </a:solidFill>
              <a:prstDash val="solid"/>
              <a:headEnd type="none" w="med" len="med"/>
              <a:tailEnd type="none" w="med" len="med"/>
            </a:ln>
          </p:spPr>
        </p:sp>
        <p:sp>
          <p:nvSpPr>
            <p:cNvPr id="34914" name="Line 203"/>
            <p:cNvSpPr/>
            <p:nvPr/>
          </p:nvSpPr>
          <p:spPr>
            <a:xfrm>
              <a:off x="5386" y="2122"/>
              <a:ext cx="0" cy="387"/>
            </a:xfrm>
            <a:prstGeom prst="line">
              <a:avLst/>
            </a:prstGeom>
            <a:ln w="12700" cap="flat" cmpd="sng">
              <a:solidFill>
                <a:schemeClr val="accent2"/>
              </a:solidFill>
              <a:prstDash val="solid"/>
              <a:headEnd type="none" w="med" len="med"/>
              <a:tailEnd type="none" w="med" len="med"/>
            </a:ln>
          </p:spPr>
        </p:sp>
        <p:sp>
          <p:nvSpPr>
            <p:cNvPr id="34915" name="Rectangle 204"/>
            <p:cNvSpPr/>
            <p:nvPr/>
          </p:nvSpPr>
          <p:spPr>
            <a:xfrm>
              <a:off x="4909" y="209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16" name="Text Box 205"/>
            <p:cNvSpPr txBox="1"/>
            <p:nvPr/>
          </p:nvSpPr>
          <p:spPr>
            <a:xfrm>
              <a:off x="4861" y="1905"/>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34917" name="Text Box 206"/>
            <p:cNvSpPr txBox="1"/>
            <p:nvPr/>
          </p:nvSpPr>
          <p:spPr>
            <a:xfrm>
              <a:off x="5386" y="230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34918" name="Oval 207"/>
            <p:cNvSpPr/>
            <p:nvPr/>
          </p:nvSpPr>
          <p:spPr>
            <a:xfrm>
              <a:off x="5476" y="248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19" name="Text Box 208"/>
            <p:cNvSpPr txBox="1"/>
            <p:nvPr/>
          </p:nvSpPr>
          <p:spPr>
            <a:xfrm>
              <a:off x="4800" y="2515"/>
              <a:ext cx="476"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34920" name="Rectangle 209"/>
            <p:cNvSpPr/>
            <p:nvPr/>
          </p:nvSpPr>
          <p:spPr>
            <a:xfrm>
              <a:off x="4804" y="2212"/>
              <a:ext cx="260" cy="214"/>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34921" name="Text Box 210"/>
            <p:cNvSpPr txBox="1"/>
            <p:nvPr/>
          </p:nvSpPr>
          <p:spPr>
            <a:xfrm>
              <a:off x="4932" y="2397"/>
              <a:ext cx="181"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34922" name="Oval 211"/>
            <p:cNvSpPr/>
            <p:nvPr/>
          </p:nvSpPr>
          <p:spPr>
            <a:xfrm>
              <a:off x="3264" y="210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3" name="Oval 212"/>
            <p:cNvSpPr/>
            <p:nvPr/>
          </p:nvSpPr>
          <p:spPr>
            <a:xfrm>
              <a:off x="3264" y="158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4" name="Oval 213"/>
            <p:cNvSpPr/>
            <p:nvPr/>
          </p:nvSpPr>
          <p:spPr>
            <a:xfrm>
              <a:off x="3264" y="263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5" name="Oval 214"/>
            <p:cNvSpPr/>
            <p:nvPr/>
          </p:nvSpPr>
          <p:spPr>
            <a:xfrm>
              <a:off x="3423" y="281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6" name="Oval 215"/>
            <p:cNvSpPr/>
            <p:nvPr/>
          </p:nvSpPr>
          <p:spPr>
            <a:xfrm>
              <a:off x="3423" y="229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7" name="Oval 216"/>
            <p:cNvSpPr/>
            <p:nvPr/>
          </p:nvSpPr>
          <p:spPr>
            <a:xfrm>
              <a:off x="3423" y="335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8" name="Oval 217"/>
            <p:cNvSpPr/>
            <p:nvPr/>
          </p:nvSpPr>
          <p:spPr>
            <a:xfrm>
              <a:off x="4398" y="219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29" name="Oval 218"/>
            <p:cNvSpPr/>
            <p:nvPr/>
          </p:nvSpPr>
          <p:spPr>
            <a:xfrm>
              <a:off x="4398" y="23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30" name="Oval 219"/>
            <p:cNvSpPr/>
            <p:nvPr/>
          </p:nvSpPr>
          <p:spPr>
            <a:xfrm>
              <a:off x="4398" y="2725"/>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31" name="Oval 220"/>
            <p:cNvSpPr/>
            <p:nvPr/>
          </p:nvSpPr>
          <p:spPr>
            <a:xfrm>
              <a:off x="4621" y="238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32" name="Oval 221"/>
            <p:cNvSpPr/>
            <p:nvPr/>
          </p:nvSpPr>
          <p:spPr>
            <a:xfrm>
              <a:off x="5374" y="249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4933" name="Text Box 222"/>
            <p:cNvSpPr txBox="1"/>
            <p:nvPr/>
          </p:nvSpPr>
          <p:spPr>
            <a:xfrm>
              <a:off x="3062" y="3702"/>
              <a:ext cx="2449"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四位权电阻</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转换器工作原理</a:t>
              </a:r>
              <a:endParaRPr lang="zh-CN" altLang="en-US" sz="2000" dirty="0">
                <a:solidFill>
                  <a:srgbClr val="000099"/>
                </a:solidFill>
                <a:latin typeface="Times New Roman" panose="02020603050405020304" pitchFamily="18" charset="0"/>
              </a:endParaRPr>
            </a:p>
          </p:txBody>
        </p:sp>
      </p:grpSp>
      <p:sp>
        <p:nvSpPr>
          <p:cNvPr id="2467842"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67852" name="Rectangle 12"/>
          <p:cNvSpPr/>
          <p:nvPr/>
        </p:nvSpPr>
        <p:spPr>
          <a:xfrm>
            <a:off x="431800" y="657225"/>
            <a:ext cx="4176713"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a:t>
            </a:r>
            <a:r>
              <a:rPr lang="zh-CN" altLang="en-US" sz="3200" dirty="0">
                <a:latin typeface="Times New Roman" panose="02020603050405020304" pitchFamily="18" charset="0"/>
              </a:rPr>
              <a:t>权电阻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2467853" name="Text Box 13"/>
          <p:cNvSpPr txBox="1"/>
          <p:nvPr/>
        </p:nvSpPr>
        <p:spPr>
          <a:xfrm>
            <a:off x="1006475" y="1270000"/>
            <a:ext cx="7453313" cy="860425"/>
          </a:xfrm>
          <a:prstGeom prst="rect">
            <a:avLst/>
          </a:prstGeom>
          <a:no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先把输入的数字量转换为对应的模拟电流量，然后再把模拟电流转换为模拟电压输出。</a:t>
            </a:r>
            <a:endParaRPr lang="zh-CN" altLang="en-US" sz="2800" dirty="0">
              <a:solidFill>
                <a:schemeClr val="tx1"/>
              </a:solidFill>
              <a:latin typeface="Times New Roman" panose="02020603050405020304" pitchFamily="18" charset="0"/>
              <a:ea typeface="黑体" panose="02010609060101010101" pitchFamily="49" charset="-122"/>
            </a:endParaRPr>
          </a:p>
        </p:txBody>
      </p:sp>
      <p:grpSp>
        <p:nvGrpSpPr>
          <p:cNvPr id="2467961" name="Group 121"/>
          <p:cNvGrpSpPr/>
          <p:nvPr/>
        </p:nvGrpSpPr>
        <p:grpSpPr>
          <a:xfrm>
            <a:off x="3024188" y="2308225"/>
            <a:ext cx="1258887" cy="444500"/>
            <a:chOff x="1905" y="1454"/>
            <a:chExt cx="793" cy="280"/>
          </a:xfrm>
        </p:grpSpPr>
        <p:sp>
          <p:nvSpPr>
            <p:cNvPr id="34837" name="AutoShape 110"/>
            <p:cNvSpPr/>
            <p:nvPr/>
          </p:nvSpPr>
          <p:spPr>
            <a:xfrm>
              <a:off x="1908" y="1454"/>
              <a:ext cx="748" cy="280"/>
            </a:xfrm>
            <a:prstGeom prst="wedgeRoundRectCallout">
              <a:avLst>
                <a:gd name="adj1" fmla="val 62968"/>
                <a:gd name="adj2" fmla="val -7144"/>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4838" name="Text Box 111"/>
            <p:cNvSpPr txBox="1"/>
            <p:nvPr/>
          </p:nvSpPr>
          <p:spPr>
            <a:xfrm>
              <a:off x="1905" y="1476"/>
              <a:ext cx="793" cy="231"/>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tx1"/>
                  </a:solidFill>
                  <a:latin typeface="Times New Roman" panose="02020603050405020304" pitchFamily="18" charset="0"/>
                </a:rPr>
                <a:t>基准电压</a:t>
              </a:r>
              <a:endParaRPr lang="zh-CN" altLang="en-US" sz="2000" dirty="0">
                <a:solidFill>
                  <a:schemeClr val="tx1"/>
                </a:solidFill>
                <a:latin typeface="Times New Roman" panose="02020603050405020304" pitchFamily="18" charset="0"/>
              </a:endParaRPr>
            </a:p>
          </p:txBody>
        </p:sp>
      </p:grpSp>
      <p:grpSp>
        <p:nvGrpSpPr>
          <p:cNvPr id="2467962" name="Group 122"/>
          <p:cNvGrpSpPr/>
          <p:nvPr/>
        </p:nvGrpSpPr>
        <p:grpSpPr>
          <a:xfrm>
            <a:off x="3167063" y="3024188"/>
            <a:ext cx="1284287" cy="2611437"/>
            <a:chOff x="1995" y="1905"/>
            <a:chExt cx="809" cy="1645"/>
          </a:xfrm>
        </p:grpSpPr>
        <p:sp>
          <p:nvSpPr>
            <p:cNvPr id="34834" name="AutoShape 114"/>
            <p:cNvSpPr/>
            <p:nvPr/>
          </p:nvSpPr>
          <p:spPr>
            <a:xfrm>
              <a:off x="2029" y="2515"/>
              <a:ext cx="590" cy="418"/>
            </a:xfrm>
            <a:prstGeom prst="wedgeRoundRectCallout">
              <a:avLst>
                <a:gd name="adj1" fmla="val 47796"/>
                <a:gd name="adj2" fmla="val -1985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4835" name="AutoShape 112"/>
            <p:cNvSpPr/>
            <p:nvPr/>
          </p:nvSpPr>
          <p:spPr>
            <a:xfrm>
              <a:off x="2619" y="1905"/>
              <a:ext cx="185" cy="1645"/>
            </a:xfrm>
            <a:prstGeom prst="leftBrace">
              <a:avLst>
                <a:gd name="adj1" fmla="val 74099"/>
                <a:gd name="adj2" fmla="val 50000"/>
              </a:avLst>
            </a:prstGeom>
            <a:noFill/>
            <a:ln w="19050" cap="flat" cmpd="sng">
              <a:solidFill>
                <a:schemeClr val="tx1"/>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4836" name="Text Box 113"/>
            <p:cNvSpPr txBox="1"/>
            <p:nvPr/>
          </p:nvSpPr>
          <p:spPr>
            <a:xfrm>
              <a:off x="1995" y="2529"/>
              <a:ext cx="661" cy="404"/>
            </a:xfrm>
            <a:prstGeom prst="rect">
              <a:avLst/>
            </a:prstGeom>
            <a:noFill/>
            <a:ln w="9525">
              <a:noFill/>
            </a:ln>
          </p:spPr>
          <p:txBody>
            <a:bodyPr>
              <a:spAutoFit/>
            </a:bodyPr>
            <a:p>
              <a:pPr algn="ctr" eaLnBrk="1" hangingPunct="1">
                <a:lnSpc>
                  <a:spcPct val="90000"/>
                </a:lnSpc>
                <a:spcBef>
                  <a:spcPct val="50000"/>
                </a:spcBef>
              </a:pPr>
              <a:r>
                <a:rPr lang="zh-CN" altLang="en-US" sz="2000" dirty="0">
                  <a:solidFill>
                    <a:schemeClr val="tx1"/>
                  </a:solidFill>
                  <a:latin typeface="Times New Roman" panose="02020603050405020304" pitchFamily="18" charset="0"/>
                </a:rPr>
                <a:t>输入数字量</a:t>
              </a:r>
              <a:endParaRPr lang="zh-CN" altLang="en-US" sz="2000" dirty="0">
                <a:solidFill>
                  <a:schemeClr val="tx1"/>
                </a:solidFill>
                <a:latin typeface="Times New Roman" panose="02020603050405020304" pitchFamily="18" charset="0"/>
              </a:endParaRPr>
            </a:p>
          </p:txBody>
        </p:sp>
      </p:grpSp>
      <p:grpSp>
        <p:nvGrpSpPr>
          <p:cNvPr id="2467965" name="Group 125"/>
          <p:cNvGrpSpPr/>
          <p:nvPr/>
        </p:nvGrpSpPr>
        <p:grpSpPr>
          <a:xfrm>
            <a:off x="6858000" y="5365750"/>
            <a:ext cx="1258888" cy="444500"/>
            <a:chOff x="4320" y="3380"/>
            <a:chExt cx="793" cy="280"/>
          </a:xfrm>
        </p:grpSpPr>
        <p:sp>
          <p:nvSpPr>
            <p:cNvPr id="34832" name="AutoShape 115"/>
            <p:cNvSpPr/>
            <p:nvPr/>
          </p:nvSpPr>
          <p:spPr>
            <a:xfrm>
              <a:off x="4323" y="3380"/>
              <a:ext cx="748" cy="280"/>
            </a:xfrm>
            <a:prstGeom prst="wedgeRoundRectCallout">
              <a:avLst>
                <a:gd name="adj1" fmla="val -102676"/>
                <a:gd name="adj2" fmla="val -41431"/>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4833" name="Text Box 116"/>
            <p:cNvSpPr txBox="1"/>
            <p:nvPr/>
          </p:nvSpPr>
          <p:spPr>
            <a:xfrm>
              <a:off x="4320" y="3402"/>
              <a:ext cx="793" cy="231"/>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tx1"/>
                  </a:solidFill>
                  <a:latin typeface="Times New Roman" panose="02020603050405020304" pitchFamily="18" charset="0"/>
                </a:rPr>
                <a:t>模拟开关</a:t>
              </a:r>
              <a:endParaRPr lang="zh-CN" altLang="en-US" sz="2000" dirty="0">
                <a:solidFill>
                  <a:schemeClr val="tx1"/>
                </a:solidFill>
                <a:latin typeface="Times New Roman" panose="02020603050405020304" pitchFamily="18" charset="0"/>
              </a:endParaRPr>
            </a:p>
          </p:txBody>
        </p:sp>
      </p:grpSp>
      <p:grpSp>
        <p:nvGrpSpPr>
          <p:cNvPr id="2467963" name="Group 123"/>
          <p:cNvGrpSpPr/>
          <p:nvPr/>
        </p:nvGrpSpPr>
        <p:grpSpPr>
          <a:xfrm>
            <a:off x="7410450" y="2227263"/>
            <a:ext cx="1258888" cy="444500"/>
            <a:chOff x="4668" y="1403"/>
            <a:chExt cx="793" cy="280"/>
          </a:xfrm>
        </p:grpSpPr>
        <p:sp>
          <p:nvSpPr>
            <p:cNvPr id="34830" name="AutoShape 117"/>
            <p:cNvSpPr/>
            <p:nvPr/>
          </p:nvSpPr>
          <p:spPr>
            <a:xfrm>
              <a:off x="4671" y="1403"/>
              <a:ext cx="605" cy="280"/>
            </a:xfrm>
            <a:prstGeom prst="wedgeRoundRectCallout">
              <a:avLst>
                <a:gd name="adj1" fmla="val -113306"/>
                <a:gd name="adj2" fmla="val 40713"/>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4831" name="Text Box 118"/>
            <p:cNvSpPr txBox="1"/>
            <p:nvPr/>
          </p:nvSpPr>
          <p:spPr>
            <a:xfrm>
              <a:off x="4668" y="1425"/>
              <a:ext cx="793" cy="231"/>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tx1"/>
                  </a:solidFill>
                  <a:latin typeface="Times New Roman" panose="02020603050405020304" pitchFamily="18" charset="0"/>
                </a:rPr>
                <a:t>权电阻</a:t>
              </a:r>
              <a:endParaRPr lang="zh-CN" altLang="en-US" sz="2000" dirty="0">
                <a:solidFill>
                  <a:schemeClr val="tx1"/>
                </a:solidFill>
                <a:latin typeface="Times New Roman" panose="02020603050405020304" pitchFamily="18" charset="0"/>
              </a:endParaRPr>
            </a:p>
          </p:txBody>
        </p:sp>
      </p:grpSp>
      <p:grpSp>
        <p:nvGrpSpPr>
          <p:cNvPr id="2467964" name="Group 124"/>
          <p:cNvGrpSpPr/>
          <p:nvPr/>
        </p:nvGrpSpPr>
        <p:grpSpPr>
          <a:xfrm>
            <a:off x="7410450" y="4614863"/>
            <a:ext cx="1525588" cy="444500"/>
            <a:chOff x="4668" y="2907"/>
            <a:chExt cx="961" cy="280"/>
          </a:xfrm>
        </p:grpSpPr>
        <p:sp>
          <p:nvSpPr>
            <p:cNvPr id="34828" name="AutoShape 119"/>
            <p:cNvSpPr/>
            <p:nvPr/>
          </p:nvSpPr>
          <p:spPr>
            <a:xfrm>
              <a:off x="4704" y="2907"/>
              <a:ext cx="871" cy="280"/>
            </a:xfrm>
            <a:prstGeom prst="wedgeRoundRectCallout">
              <a:avLst>
                <a:gd name="adj1" fmla="val -24051"/>
                <a:gd name="adj2" fmla="val -121431"/>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34829" name="Text Box 120"/>
            <p:cNvSpPr txBox="1"/>
            <p:nvPr/>
          </p:nvSpPr>
          <p:spPr>
            <a:xfrm>
              <a:off x="4668" y="2929"/>
              <a:ext cx="961" cy="231"/>
            </a:xfrm>
            <a:prstGeom prst="rect">
              <a:avLst/>
            </a:prstGeom>
            <a:noFill/>
            <a:ln w="9525">
              <a:noFill/>
            </a:ln>
          </p:spPr>
          <p:txBody>
            <a:bodyPr>
              <a:spAutoFit/>
            </a:bodyPr>
            <a:p>
              <a:pPr eaLnBrk="1" hangingPunct="1">
                <a:lnSpc>
                  <a:spcPct val="90000"/>
                </a:lnSpc>
                <a:spcBef>
                  <a:spcPct val="50000"/>
                </a:spcBef>
              </a:pPr>
              <a:r>
                <a:rPr lang="zh-CN" altLang="en-US" sz="2000" dirty="0">
                  <a:solidFill>
                    <a:schemeClr val="tx1"/>
                  </a:solidFill>
                  <a:latin typeface="Times New Roman" panose="02020603050405020304" pitchFamily="18" charset="0"/>
                </a:rPr>
                <a:t>求和放大器</a:t>
              </a:r>
              <a:endParaRPr lang="zh-CN" altLang="en-US" sz="2000" dirty="0">
                <a:solidFill>
                  <a:schemeClr val="tx1"/>
                </a:solidFill>
                <a:latin typeface="Times New Roman" panose="02020603050405020304" pitchFamily="18" charset="0"/>
              </a:endParaRPr>
            </a:p>
          </p:txBody>
        </p:sp>
      </p:grpSp>
      <p:sp>
        <p:nvSpPr>
          <p:cNvPr id="2467966" name="Text Box 126"/>
          <p:cNvSpPr txBox="1"/>
          <p:nvPr/>
        </p:nvSpPr>
        <p:spPr>
          <a:xfrm>
            <a:off x="71438" y="2203450"/>
            <a:ext cx="4284662" cy="3889375"/>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模拟电子开关受二进制数字量各位状态的控制，当相应的二进制位为“</a:t>
            </a:r>
            <a:r>
              <a:rPr lang="en-US" altLang="zh-CN" sz="2400" dirty="0">
                <a:latin typeface="Times New Roman" panose="02020603050405020304" pitchFamily="18" charset="0"/>
              </a:rPr>
              <a:t>0”</a:t>
            </a:r>
            <a:r>
              <a:rPr lang="zh-CN" altLang="en-US" sz="2400" dirty="0">
                <a:latin typeface="Times New Roman" panose="02020603050405020304" pitchFamily="18" charset="0"/>
              </a:rPr>
              <a:t>时，开关接地；为“</a:t>
            </a:r>
            <a:r>
              <a:rPr lang="en-US" altLang="zh-CN" sz="2400" dirty="0">
                <a:latin typeface="Times New Roman" panose="02020603050405020304" pitchFamily="18" charset="0"/>
              </a:rPr>
              <a:t>1”</a:t>
            </a:r>
            <a:r>
              <a:rPr lang="zh-CN" altLang="en-US" sz="2400" dirty="0">
                <a:latin typeface="Times New Roman" panose="02020603050405020304" pitchFamily="18" charset="0"/>
              </a:rPr>
              <a:t>时，开关接基准电压</a:t>
            </a:r>
            <a:r>
              <a:rPr lang="en-US" altLang="zh-CN" sz="2400" i="1" dirty="0">
                <a:latin typeface="Times New Roman" panose="02020603050405020304" pitchFamily="18" charset="0"/>
              </a:rPr>
              <a:t>U</a:t>
            </a:r>
            <a:r>
              <a:rPr lang="en-US" altLang="zh-CN" sz="2400" baseline="-25000" dirty="0">
                <a:latin typeface="Times New Roman" panose="02020603050405020304" pitchFamily="18" charset="0"/>
              </a:rPr>
              <a:t>REF</a:t>
            </a:r>
            <a:r>
              <a:rPr lang="zh-CN" altLang="en-US" sz="2400" dirty="0">
                <a:latin typeface="Times New Roman" panose="02020603050405020304" pitchFamily="18" charset="0"/>
              </a:rPr>
              <a:t>。</a:t>
            </a:r>
            <a:endParaRPr lang="zh-CN" altLang="en-US" sz="2400" dirty="0">
              <a:latin typeface="Times New Roman" panose="02020603050405020304" pitchFamily="18" charset="0"/>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权电阻的电阻值与对应位的权成反比。位权越大电阻值越小，开关接通基准电压时，通过电阻的电流就越大，以保证一定权的数字信号产生相应的模拟电流。</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67852"/>
                                        </p:tgtEl>
                                        <p:attrNameLst>
                                          <p:attrName>style.visibility</p:attrName>
                                        </p:attrNameLst>
                                      </p:cBhvr>
                                      <p:to>
                                        <p:strVal val="visible"/>
                                      </p:to>
                                    </p:set>
                                    <p:animEffect transition="in" filter="dissolve">
                                      <p:cBhvr>
                                        <p:cTn id="7" dur="500"/>
                                        <p:tgtEl>
                                          <p:spTgt spid="246785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67853"/>
                                        </p:tgtEl>
                                        <p:attrNameLst>
                                          <p:attrName>style.visibility</p:attrName>
                                        </p:attrNameLst>
                                      </p:cBhvr>
                                      <p:to>
                                        <p:strVal val="visible"/>
                                      </p:to>
                                    </p:set>
                                    <p:animEffect transition="in" filter="dissolve">
                                      <p:cBhvr>
                                        <p:cTn id="12" dur="500"/>
                                        <p:tgtEl>
                                          <p:spTgt spid="24678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67967"/>
                                        </p:tgtEl>
                                        <p:attrNameLst>
                                          <p:attrName>style.visibility</p:attrName>
                                        </p:attrNameLst>
                                      </p:cBhvr>
                                      <p:to>
                                        <p:strVal val="visible"/>
                                      </p:to>
                                    </p:set>
                                    <p:animEffect transition="in" filter="dissolve">
                                      <p:cBhvr>
                                        <p:cTn id="17" dur="500"/>
                                        <p:tgtEl>
                                          <p:spTgt spid="246796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467961"/>
                                        </p:tgtEl>
                                        <p:attrNameLst>
                                          <p:attrName>style.visibility</p:attrName>
                                        </p:attrNameLst>
                                      </p:cBhvr>
                                      <p:to>
                                        <p:strVal val="visible"/>
                                      </p:to>
                                    </p:set>
                                    <p:animEffect transition="in" filter="wipe(left)">
                                      <p:cBhvr>
                                        <p:cTn id="22" dur="500"/>
                                        <p:tgtEl>
                                          <p:spTgt spid="246796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467962"/>
                                        </p:tgtEl>
                                        <p:attrNameLst>
                                          <p:attrName>style.visibility</p:attrName>
                                        </p:attrNameLst>
                                      </p:cBhvr>
                                      <p:to>
                                        <p:strVal val="visible"/>
                                      </p:to>
                                    </p:set>
                                    <p:animEffect transition="in" filter="wipe(left)">
                                      <p:cBhvr>
                                        <p:cTn id="27" dur="500"/>
                                        <p:tgtEl>
                                          <p:spTgt spid="246796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467965"/>
                                        </p:tgtEl>
                                        <p:attrNameLst>
                                          <p:attrName>style.visibility</p:attrName>
                                        </p:attrNameLst>
                                      </p:cBhvr>
                                      <p:to>
                                        <p:strVal val="visible"/>
                                      </p:to>
                                    </p:set>
                                    <p:animEffect transition="in" filter="wipe(left)">
                                      <p:cBhvr>
                                        <p:cTn id="32" dur="500"/>
                                        <p:tgtEl>
                                          <p:spTgt spid="246796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467964"/>
                                        </p:tgtEl>
                                        <p:attrNameLst>
                                          <p:attrName>style.visibility</p:attrName>
                                        </p:attrNameLst>
                                      </p:cBhvr>
                                      <p:to>
                                        <p:strVal val="visible"/>
                                      </p:to>
                                    </p:set>
                                    <p:animEffect transition="in" filter="wipe(up)">
                                      <p:cBhvr>
                                        <p:cTn id="37" dur="500"/>
                                        <p:tgtEl>
                                          <p:spTgt spid="246796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2467963"/>
                                        </p:tgtEl>
                                        <p:attrNameLst>
                                          <p:attrName>style.visibility</p:attrName>
                                        </p:attrNameLst>
                                      </p:cBhvr>
                                      <p:to>
                                        <p:strVal val="visible"/>
                                      </p:to>
                                    </p:set>
                                    <p:animEffect transition="in" filter="wipe(left)">
                                      <p:cBhvr>
                                        <p:cTn id="42" dur="500"/>
                                        <p:tgtEl>
                                          <p:spTgt spid="2467963"/>
                                        </p:tgtEl>
                                      </p:cBhvr>
                                    </p:animEffect>
                                  </p:childTnLst>
                                </p:cTn>
                              </p:par>
                            </p:childTnLst>
                          </p:cTn>
                        </p:par>
                      </p:childTnLst>
                    </p:cTn>
                  </p:par>
                  <p:par>
                    <p:cTn id="43" fill="hold">
                      <p:stCondLst>
                        <p:cond delay="indefinite"/>
                      </p:stCondLst>
                      <p:childTnLst>
                        <p:par>
                          <p:cTn id="44" fill="hold">
                            <p:stCondLst>
                              <p:cond delay="0"/>
                            </p:stCondLst>
                            <p:childTnLst>
                              <p:par>
                                <p:cTn id="45" presetID="3" presetClass="exit" presetSubtype="10" fill="hold" nodeType="clickEffect">
                                  <p:stCondLst>
                                    <p:cond delay="0"/>
                                  </p:stCondLst>
                                  <p:childTnLst>
                                    <p:animEffect transition="out" filter="blinds(horizontal)">
                                      <p:cBhvr>
                                        <p:cTn id="46" dur="500"/>
                                        <p:tgtEl>
                                          <p:spTgt spid="2467961"/>
                                        </p:tgtEl>
                                      </p:cBhvr>
                                    </p:animEffect>
                                    <p:set>
                                      <p:cBhvr>
                                        <p:cTn id="47" dur="1" fill="hold">
                                          <p:stCondLst>
                                            <p:cond delay="499"/>
                                          </p:stCondLst>
                                        </p:cTn>
                                        <p:tgtEl>
                                          <p:spTgt spid="2467961"/>
                                        </p:tgtEl>
                                        <p:attrNameLst>
                                          <p:attrName>style.visibility</p:attrName>
                                        </p:attrNameLst>
                                      </p:cBhvr>
                                      <p:to>
                                        <p:strVal val="hidden"/>
                                      </p:to>
                                    </p:set>
                                  </p:childTnLst>
                                </p:cTn>
                              </p:par>
                              <p:par>
                                <p:cTn id="48" presetID="3" presetClass="exit" presetSubtype="10" fill="hold" nodeType="withEffect">
                                  <p:stCondLst>
                                    <p:cond delay="0"/>
                                  </p:stCondLst>
                                  <p:childTnLst>
                                    <p:animEffect transition="out" filter="blinds(horizontal)">
                                      <p:cBhvr>
                                        <p:cTn id="49" dur="500"/>
                                        <p:tgtEl>
                                          <p:spTgt spid="2467962"/>
                                        </p:tgtEl>
                                      </p:cBhvr>
                                    </p:animEffect>
                                    <p:set>
                                      <p:cBhvr>
                                        <p:cTn id="50" dur="1" fill="hold">
                                          <p:stCondLst>
                                            <p:cond delay="499"/>
                                          </p:stCondLst>
                                        </p:cTn>
                                        <p:tgtEl>
                                          <p:spTgt spid="2467962"/>
                                        </p:tgtEl>
                                        <p:attrNameLst>
                                          <p:attrName>style.visibility</p:attrName>
                                        </p:attrNameLst>
                                      </p:cBhvr>
                                      <p:to>
                                        <p:strVal val="hidden"/>
                                      </p:to>
                                    </p:set>
                                  </p:childTnLst>
                                </p:cTn>
                              </p:par>
                              <p:par>
                                <p:cTn id="51" presetID="3" presetClass="exit" presetSubtype="10" fill="hold" nodeType="withEffect">
                                  <p:stCondLst>
                                    <p:cond delay="0"/>
                                  </p:stCondLst>
                                  <p:childTnLst>
                                    <p:animEffect transition="out" filter="blinds(horizontal)">
                                      <p:cBhvr>
                                        <p:cTn id="52" dur="500"/>
                                        <p:tgtEl>
                                          <p:spTgt spid="2467963"/>
                                        </p:tgtEl>
                                      </p:cBhvr>
                                    </p:animEffect>
                                    <p:set>
                                      <p:cBhvr>
                                        <p:cTn id="53" dur="1" fill="hold">
                                          <p:stCondLst>
                                            <p:cond delay="499"/>
                                          </p:stCondLst>
                                        </p:cTn>
                                        <p:tgtEl>
                                          <p:spTgt spid="2467963"/>
                                        </p:tgtEl>
                                        <p:attrNameLst>
                                          <p:attrName>style.visibility</p:attrName>
                                        </p:attrNameLst>
                                      </p:cBhvr>
                                      <p:to>
                                        <p:strVal val="hidden"/>
                                      </p:to>
                                    </p:set>
                                  </p:childTnLst>
                                </p:cTn>
                              </p:par>
                              <p:par>
                                <p:cTn id="54" presetID="3" presetClass="exit" presetSubtype="10" fill="hold" nodeType="withEffect">
                                  <p:stCondLst>
                                    <p:cond delay="0"/>
                                  </p:stCondLst>
                                  <p:childTnLst>
                                    <p:animEffect transition="out" filter="blinds(horizontal)">
                                      <p:cBhvr>
                                        <p:cTn id="55" dur="500"/>
                                        <p:tgtEl>
                                          <p:spTgt spid="2467964"/>
                                        </p:tgtEl>
                                      </p:cBhvr>
                                    </p:animEffect>
                                    <p:set>
                                      <p:cBhvr>
                                        <p:cTn id="56" dur="1" fill="hold">
                                          <p:stCondLst>
                                            <p:cond delay="499"/>
                                          </p:stCondLst>
                                        </p:cTn>
                                        <p:tgtEl>
                                          <p:spTgt spid="2467964"/>
                                        </p:tgtEl>
                                        <p:attrNameLst>
                                          <p:attrName>style.visibility</p:attrName>
                                        </p:attrNameLst>
                                      </p:cBhvr>
                                      <p:to>
                                        <p:strVal val="hidden"/>
                                      </p:to>
                                    </p:set>
                                  </p:childTnLst>
                                </p:cTn>
                              </p:par>
                              <p:par>
                                <p:cTn id="57" presetID="3" presetClass="exit" presetSubtype="10" fill="hold" nodeType="withEffect">
                                  <p:stCondLst>
                                    <p:cond delay="0"/>
                                  </p:stCondLst>
                                  <p:childTnLst>
                                    <p:animEffect transition="out" filter="blinds(horizontal)">
                                      <p:cBhvr>
                                        <p:cTn id="58" dur="500"/>
                                        <p:tgtEl>
                                          <p:spTgt spid="2467965"/>
                                        </p:tgtEl>
                                      </p:cBhvr>
                                    </p:animEffect>
                                    <p:set>
                                      <p:cBhvr>
                                        <p:cTn id="59" dur="1" fill="hold">
                                          <p:stCondLst>
                                            <p:cond delay="499"/>
                                          </p:stCondLst>
                                        </p:cTn>
                                        <p:tgtEl>
                                          <p:spTgt spid="2467965"/>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2467966">
                                            <p:txEl>
                                              <p:charRg st="0" end="59"/>
                                            </p:txEl>
                                          </p:spTgt>
                                        </p:tgtEl>
                                        <p:attrNameLst>
                                          <p:attrName>style.visibility</p:attrName>
                                        </p:attrNameLst>
                                      </p:cBhvr>
                                      <p:to>
                                        <p:strVal val="visible"/>
                                      </p:to>
                                    </p:set>
                                    <p:animEffect transition="in" filter="dissolve">
                                      <p:cBhvr>
                                        <p:cTn id="64" dur="500"/>
                                        <p:tgtEl>
                                          <p:spTgt spid="2467966">
                                            <p:txEl>
                                              <p:charRg st="0" end="59"/>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2467966">
                                            <p:txEl>
                                              <p:charRg st="59" end="129"/>
                                            </p:txEl>
                                          </p:spTgt>
                                        </p:tgtEl>
                                        <p:attrNameLst>
                                          <p:attrName>style.visibility</p:attrName>
                                        </p:attrNameLst>
                                      </p:cBhvr>
                                      <p:to>
                                        <p:strVal val="visible"/>
                                      </p:to>
                                    </p:set>
                                    <p:animEffect transition="in" filter="dissolve">
                                      <p:cBhvr>
                                        <p:cTn id="69" dur="500"/>
                                        <p:tgtEl>
                                          <p:spTgt spid="2467966">
                                            <p:txEl>
                                              <p:charRg st="59" end="12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852" grpId="0" bldLvl="0" animBg="1"/>
      <p:bldP spid="2467853"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1938"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6867" name="Rectangle 3"/>
          <p:cNvSpPr/>
          <p:nvPr/>
        </p:nvSpPr>
        <p:spPr>
          <a:xfrm>
            <a:off x="431800" y="657225"/>
            <a:ext cx="4176713"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a:t>
            </a:r>
            <a:r>
              <a:rPr lang="zh-CN" altLang="en-US" sz="3200" dirty="0">
                <a:latin typeface="Times New Roman" panose="02020603050405020304" pitchFamily="18" charset="0"/>
              </a:rPr>
              <a:t>权电阻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grpSp>
        <p:nvGrpSpPr>
          <p:cNvPr id="36868" name="Group 118"/>
          <p:cNvGrpSpPr/>
          <p:nvPr/>
        </p:nvGrpSpPr>
        <p:grpSpPr>
          <a:xfrm>
            <a:off x="4319588" y="1665288"/>
            <a:ext cx="4697412" cy="4110037"/>
            <a:chOff x="2721" y="1344"/>
            <a:chExt cx="2959" cy="2589"/>
          </a:xfrm>
        </p:grpSpPr>
        <p:sp>
          <p:nvSpPr>
            <p:cNvPr id="36875" name="Rectangle 6"/>
            <p:cNvSpPr/>
            <p:nvPr/>
          </p:nvSpPr>
          <p:spPr>
            <a:xfrm>
              <a:off x="2721" y="1344"/>
              <a:ext cx="2959" cy="256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76" name="Line 7"/>
            <p:cNvSpPr/>
            <p:nvPr/>
          </p:nvSpPr>
          <p:spPr>
            <a:xfrm flipH="1">
              <a:off x="4410" y="2393"/>
              <a:ext cx="539" cy="0"/>
            </a:xfrm>
            <a:prstGeom prst="line">
              <a:avLst/>
            </a:prstGeom>
            <a:ln w="12700" cap="flat" cmpd="sng">
              <a:solidFill>
                <a:schemeClr val="accent2"/>
              </a:solidFill>
              <a:prstDash val="solid"/>
              <a:headEnd type="none" w="med" len="med"/>
              <a:tailEnd type="none" w="med" len="med"/>
            </a:ln>
          </p:spPr>
        </p:sp>
        <p:sp>
          <p:nvSpPr>
            <p:cNvPr id="36877" name="Rectangle 8"/>
            <p:cNvSpPr/>
            <p:nvPr/>
          </p:nvSpPr>
          <p:spPr>
            <a:xfrm>
              <a:off x="3525" y="1543"/>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78" name="Oval 9"/>
            <p:cNvSpPr/>
            <p:nvPr/>
          </p:nvSpPr>
          <p:spPr>
            <a:xfrm>
              <a:off x="3571"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79" name="Oval 10"/>
            <p:cNvSpPr/>
            <p:nvPr/>
          </p:nvSpPr>
          <p:spPr>
            <a:xfrm>
              <a:off x="3571" y="1758"/>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80" name="Oval 11"/>
            <p:cNvSpPr/>
            <p:nvPr/>
          </p:nvSpPr>
          <p:spPr>
            <a:xfrm>
              <a:off x="3820" y="166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81" name="Line 12"/>
            <p:cNvSpPr/>
            <p:nvPr/>
          </p:nvSpPr>
          <p:spPr>
            <a:xfrm>
              <a:off x="3865" y="1690"/>
              <a:ext cx="545" cy="0"/>
            </a:xfrm>
            <a:prstGeom prst="line">
              <a:avLst/>
            </a:prstGeom>
            <a:ln w="12700" cap="flat" cmpd="sng">
              <a:solidFill>
                <a:schemeClr val="accent2"/>
              </a:solidFill>
              <a:prstDash val="solid"/>
              <a:headEnd type="none" w="med" len="med"/>
              <a:tailEnd type="none" w="med" len="med"/>
            </a:ln>
          </p:spPr>
        </p:sp>
        <p:sp>
          <p:nvSpPr>
            <p:cNvPr id="36882" name="Line 13"/>
            <p:cNvSpPr/>
            <p:nvPr/>
          </p:nvSpPr>
          <p:spPr>
            <a:xfrm>
              <a:off x="3117" y="1599"/>
              <a:ext cx="454" cy="0"/>
            </a:xfrm>
            <a:prstGeom prst="line">
              <a:avLst/>
            </a:prstGeom>
            <a:ln w="12700" cap="flat" cmpd="sng">
              <a:solidFill>
                <a:schemeClr val="accent2"/>
              </a:solidFill>
              <a:prstDash val="solid"/>
              <a:headEnd type="none" w="med" len="med"/>
              <a:tailEnd type="none" w="med" len="med"/>
            </a:ln>
          </p:spPr>
        </p:sp>
        <p:sp>
          <p:nvSpPr>
            <p:cNvPr id="36883" name="Line 14"/>
            <p:cNvSpPr/>
            <p:nvPr/>
          </p:nvSpPr>
          <p:spPr>
            <a:xfrm>
              <a:off x="3435" y="1781"/>
              <a:ext cx="136" cy="0"/>
            </a:xfrm>
            <a:prstGeom prst="line">
              <a:avLst/>
            </a:prstGeom>
            <a:ln w="12700" cap="flat" cmpd="sng">
              <a:solidFill>
                <a:schemeClr val="accent2"/>
              </a:solidFill>
              <a:prstDash val="solid"/>
              <a:headEnd type="none" w="med" len="med"/>
              <a:tailEnd type="none" w="med" len="med"/>
            </a:ln>
          </p:spPr>
        </p:sp>
        <p:sp>
          <p:nvSpPr>
            <p:cNvPr id="36884" name="Rectangle 15"/>
            <p:cNvSpPr/>
            <p:nvPr/>
          </p:nvSpPr>
          <p:spPr>
            <a:xfrm>
              <a:off x="4070" y="166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85" name="Line 16"/>
            <p:cNvSpPr/>
            <p:nvPr/>
          </p:nvSpPr>
          <p:spPr>
            <a:xfrm flipH="1" flipV="1">
              <a:off x="3571" y="1622"/>
              <a:ext cx="249" cy="68"/>
            </a:xfrm>
            <a:prstGeom prst="line">
              <a:avLst/>
            </a:prstGeom>
            <a:ln w="19050" cap="flat" cmpd="sng">
              <a:solidFill>
                <a:srgbClr val="FF0000"/>
              </a:solidFill>
              <a:prstDash val="solid"/>
              <a:headEnd type="none" w="med" len="med"/>
              <a:tailEnd type="none" w="med" len="med"/>
            </a:ln>
          </p:spPr>
        </p:sp>
        <p:sp>
          <p:nvSpPr>
            <p:cNvPr id="36886" name="Line 17"/>
            <p:cNvSpPr/>
            <p:nvPr/>
          </p:nvSpPr>
          <p:spPr>
            <a:xfrm>
              <a:off x="3707" y="1667"/>
              <a:ext cx="0" cy="170"/>
            </a:xfrm>
            <a:prstGeom prst="line">
              <a:avLst/>
            </a:prstGeom>
            <a:ln w="12700" cap="flat" cmpd="sng">
              <a:solidFill>
                <a:srgbClr val="FF0000"/>
              </a:solidFill>
              <a:prstDash val="dash"/>
              <a:headEnd type="none" w="med" len="med"/>
              <a:tailEnd type="none" w="med" len="med"/>
            </a:ln>
          </p:spPr>
        </p:sp>
        <p:sp>
          <p:nvSpPr>
            <p:cNvPr id="36887" name="Line 18"/>
            <p:cNvSpPr/>
            <p:nvPr/>
          </p:nvSpPr>
          <p:spPr>
            <a:xfrm>
              <a:off x="3705" y="1837"/>
              <a:ext cx="0" cy="125"/>
            </a:xfrm>
            <a:prstGeom prst="line">
              <a:avLst/>
            </a:prstGeom>
            <a:ln w="12700" cap="flat" cmpd="sng">
              <a:solidFill>
                <a:srgbClr val="FF0000"/>
              </a:solidFill>
              <a:prstDash val="solid"/>
              <a:headEnd type="stealth" w="med" len="lg"/>
              <a:tailEnd type="none" w="med" len="med"/>
            </a:ln>
          </p:spPr>
        </p:sp>
        <p:sp>
          <p:nvSpPr>
            <p:cNvPr id="36888" name="Line 19"/>
            <p:cNvSpPr/>
            <p:nvPr/>
          </p:nvSpPr>
          <p:spPr>
            <a:xfrm flipH="1">
              <a:off x="3117" y="1962"/>
              <a:ext cx="590" cy="0"/>
            </a:xfrm>
            <a:prstGeom prst="line">
              <a:avLst/>
            </a:prstGeom>
            <a:ln w="12700" cap="flat" cmpd="sng">
              <a:solidFill>
                <a:srgbClr val="FF0000"/>
              </a:solidFill>
              <a:prstDash val="solid"/>
              <a:headEnd type="none" w="med" len="med"/>
              <a:tailEnd type="none" w="med" len="med"/>
            </a:ln>
          </p:spPr>
        </p:sp>
        <p:sp>
          <p:nvSpPr>
            <p:cNvPr id="36889" name="Text Box 20"/>
            <p:cNvSpPr txBox="1"/>
            <p:nvPr/>
          </p:nvSpPr>
          <p:spPr>
            <a:xfrm>
              <a:off x="3717" y="134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36890" name="Text Box 21"/>
            <p:cNvSpPr txBox="1"/>
            <p:nvPr/>
          </p:nvSpPr>
          <p:spPr>
            <a:xfrm>
              <a:off x="3979" y="1496"/>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-3</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6891" name="Rectangle 22"/>
            <p:cNvSpPr/>
            <p:nvPr/>
          </p:nvSpPr>
          <p:spPr>
            <a:xfrm>
              <a:off x="3525" y="2065"/>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92" name="Oval 23"/>
            <p:cNvSpPr/>
            <p:nvPr/>
          </p:nvSpPr>
          <p:spPr>
            <a:xfrm>
              <a:off x="3571" y="209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93" name="Oval 24"/>
            <p:cNvSpPr/>
            <p:nvPr/>
          </p:nvSpPr>
          <p:spPr>
            <a:xfrm>
              <a:off x="3571" y="2280"/>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94" name="Oval 25"/>
            <p:cNvSpPr/>
            <p:nvPr/>
          </p:nvSpPr>
          <p:spPr>
            <a:xfrm>
              <a:off x="3820" y="218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95" name="Line 26"/>
            <p:cNvSpPr/>
            <p:nvPr/>
          </p:nvSpPr>
          <p:spPr>
            <a:xfrm>
              <a:off x="3865" y="2212"/>
              <a:ext cx="545" cy="0"/>
            </a:xfrm>
            <a:prstGeom prst="line">
              <a:avLst/>
            </a:prstGeom>
            <a:ln w="12700" cap="flat" cmpd="sng">
              <a:solidFill>
                <a:schemeClr val="accent2"/>
              </a:solidFill>
              <a:prstDash val="solid"/>
              <a:headEnd type="none" w="med" len="med"/>
              <a:tailEnd type="none" w="med" len="med"/>
            </a:ln>
          </p:spPr>
        </p:sp>
        <p:sp>
          <p:nvSpPr>
            <p:cNvPr id="36896" name="Line 27"/>
            <p:cNvSpPr/>
            <p:nvPr/>
          </p:nvSpPr>
          <p:spPr>
            <a:xfrm>
              <a:off x="3276" y="2121"/>
              <a:ext cx="295" cy="0"/>
            </a:xfrm>
            <a:prstGeom prst="line">
              <a:avLst/>
            </a:prstGeom>
            <a:ln w="12700" cap="flat" cmpd="sng">
              <a:solidFill>
                <a:schemeClr val="accent2"/>
              </a:solidFill>
              <a:prstDash val="solid"/>
              <a:headEnd type="none" w="med" len="med"/>
              <a:tailEnd type="none" w="med" len="med"/>
            </a:ln>
          </p:spPr>
        </p:sp>
        <p:sp>
          <p:nvSpPr>
            <p:cNvPr id="36897" name="Line 28"/>
            <p:cNvSpPr/>
            <p:nvPr/>
          </p:nvSpPr>
          <p:spPr>
            <a:xfrm>
              <a:off x="3435" y="2303"/>
              <a:ext cx="136" cy="0"/>
            </a:xfrm>
            <a:prstGeom prst="line">
              <a:avLst/>
            </a:prstGeom>
            <a:ln w="12700" cap="flat" cmpd="sng">
              <a:solidFill>
                <a:schemeClr val="accent2"/>
              </a:solidFill>
              <a:prstDash val="solid"/>
              <a:headEnd type="none" w="med" len="med"/>
              <a:tailEnd type="none" w="med" len="med"/>
            </a:ln>
          </p:spPr>
        </p:sp>
        <p:sp>
          <p:nvSpPr>
            <p:cNvPr id="36898" name="Rectangle 29"/>
            <p:cNvSpPr/>
            <p:nvPr/>
          </p:nvSpPr>
          <p:spPr>
            <a:xfrm>
              <a:off x="4070" y="2189"/>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899" name="Line 30"/>
            <p:cNvSpPr/>
            <p:nvPr/>
          </p:nvSpPr>
          <p:spPr>
            <a:xfrm flipH="1" flipV="1">
              <a:off x="3571" y="2144"/>
              <a:ext cx="249" cy="68"/>
            </a:xfrm>
            <a:prstGeom prst="line">
              <a:avLst/>
            </a:prstGeom>
            <a:ln w="19050" cap="flat" cmpd="sng">
              <a:solidFill>
                <a:srgbClr val="FF0000"/>
              </a:solidFill>
              <a:prstDash val="solid"/>
              <a:headEnd type="none" w="med" len="med"/>
              <a:tailEnd type="none" w="med" len="med"/>
            </a:ln>
          </p:spPr>
        </p:sp>
        <p:sp>
          <p:nvSpPr>
            <p:cNvPr id="36900" name="Line 31"/>
            <p:cNvSpPr/>
            <p:nvPr/>
          </p:nvSpPr>
          <p:spPr>
            <a:xfrm>
              <a:off x="3707" y="2189"/>
              <a:ext cx="0" cy="170"/>
            </a:xfrm>
            <a:prstGeom prst="line">
              <a:avLst/>
            </a:prstGeom>
            <a:ln w="12700" cap="flat" cmpd="sng">
              <a:solidFill>
                <a:srgbClr val="FF0000"/>
              </a:solidFill>
              <a:prstDash val="dash"/>
              <a:headEnd type="none" w="med" len="med"/>
              <a:tailEnd type="none" w="med" len="med"/>
            </a:ln>
          </p:spPr>
        </p:sp>
        <p:sp>
          <p:nvSpPr>
            <p:cNvPr id="36901" name="Line 32"/>
            <p:cNvSpPr/>
            <p:nvPr/>
          </p:nvSpPr>
          <p:spPr>
            <a:xfrm>
              <a:off x="3705" y="2359"/>
              <a:ext cx="0" cy="125"/>
            </a:xfrm>
            <a:prstGeom prst="line">
              <a:avLst/>
            </a:prstGeom>
            <a:ln w="12700" cap="flat" cmpd="sng">
              <a:solidFill>
                <a:srgbClr val="FF0000"/>
              </a:solidFill>
              <a:prstDash val="solid"/>
              <a:headEnd type="stealth" w="med" len="lg"/>
              <a:tailEnd type="none" w="med" len="med"/>
            </a:ln>
          </p:spPr>
        </p:sp>
        <p:sp>
          <p:nvSpPr>
            <p:cNvPr id="36902" name="Line 33"/>
            <p:cNvSpPr/>
            <p:nvPr/>
          </p:nvSpPr>
          <p:spPr>
            <a:xfrm flipH="1">
              <a:off x="3117" y="2484"/>
              <a:ext cx="590" cy="0"/>
            </a:xfrm>
            <a:prstGeom prst="line">
              <a:avLst/>
            </a:prstGeom>
            <a:ln w="12700" cap="flat" cmpd="sng">
              <a:solidFill>
                <a:srgbClr val="FF0000"/>
              </a:solidFill>
              <a:prstDash val="solid"/>
              <a:headEnd type="none" w="med" len="med"/>
              <a:tailEnd type="none" w="med" len="med"/>
            </a:ln>
          </p:spPr>
        </p:sp>
        <p:sp>
          <p:nvSpPr>
            <p:cNvPr id="36903" name="Text Box 34"/>
            <p:cNvSpPr txBox="1"/>
            <p:nvPr/>
          </p:nvSpPr>
          <p:spPr>
            <a:xfrm>
              <a:off x="3721" y="1868"/>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36904" name="Text Box 35"/>
            <p:cNvSpPr txBox="1"/>
            <p:nvPr/>
          </p:nvSpPr>
          <p:spPr>
            <a:xfrm>
              <a:off x="3979" y="2018"/>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6905" name="Rectangle 36"/>
            <p:cNvSpPr/>
            <p:nvPr/>
          </p:nvSpPr>
          <p:spPr>
            <a:xfrm>
              <a:off x="3525" y="2590"/>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06" name="Oval 37"/>
            <p:cNvSpPr/>
            <p:nvPr/>
          </p:nvSpPr>
          <p:spPr>
            <a:xfrm>
              <a:off x="3571" y="262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07" name="Oval 38"/>
            <p:cNvSpPr/>
            <p:nvPr/>
          </p:nvSpPr>
          <p:spPr>
            <a:xfrm>
              <a:off x="3571" y="280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08" name="Oval 39"/>
            <p:cNvSpPr/>
            <p:nvPr/>
          </p:nvSpPr>
          <p:spPr>
            <a:xfrm>
              <a:off x="3820" y="271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09" name="Line 40"/>
            <p:cNvSpPr/>
            <p:nvPr/>
          </p:nvSpPr>
          <p:spPr>
            <a:xfrm>
              <a:off x="3865" y="2737"/>
              <a:ext cx="545" cy="0"/>
            </a:xfrm>
            <a:prstGeom prst="line">
              <a:avLst/>
            </a:prstGeom>
            <a:ln w="12700" cap="flat" cmpd="sng">
              <a:solidFill>
                <a:schemeClr val="accent2"/>
              </a:solidFill>
              <a:prstDash val="solid"/>
              <a:headEnd type="none" w="med" len="med"/>
              <a:tailEnd type="none" w="med" len="med"/>
            </a:ln>
          </p:spPr>
        </p:sp>
        <p:sp>
          <p:nvSpPr>
            <p:cNvPr id="36910" name="Line 41"/>
            <p:cNvSpPr/>
            <p:nvPr/>
          </p:nvSpPr>
          <p:spPr>
            <a:xfrm>
              <a:off x="3276" y="2646"/>
              <a:ext cx="295" cy="0"/>
            </a:xfrm>
            <a:prstGeom prst="line">
              <a:avLst/>
            </a:prstGeom>
            <a:ln w="12700" cap="flat" cmpd="sng">
              <a:solidFill>
                <a:schemeClr val="accent2"/>
              </a:solidFill>
              <a:prstDash val="solid"/>
              <a:headEnd type="none" w="med" len="med"/>
              <a:tailEnd type="none" w="med" len="med"/>
            </a:ln>
          </p:spPr>
        </p:sp>
        <p:sp>
          <p:nvSpPr>
            <p:cNvPr id="36911" name="Line 42"/>
            <p:cNvSpPr/>
            <p:nvPr/>
          </p:nvSpPr>
          <p:spPr>
            <a:xfrm>
              <a:off x="3435" y="2828"/>
              <a:ext cx="136" cy="0"/>
            </a:xfrm>
            <a:prstGeom prst="line">
              <a:avLst/>
            </a:prstGeom>
            <a:ln w="12700" cap="flat" cmpd="sng">
              <a:solidFill>
                <a:schemeClr val="accent2"/>
              </a:solidFill>
              <a:prstDash val="solid"/>
              <a:headEnd type="none" w="med" len="med"/>
              <a:tailEnd type="none" w="med" len="med"/>
            </a:ln>
          </p:spPr>
        </p:sp>
        <p:sp>
          <p:nvSpPr>
            <p:cNvPr id="36912" name="Rectangle 43"/>
            <p:cNvSpPr/>
            <p:nvPr/>
          </p:nvSpPr>
          <p:spPr>
            <a:xfrm>
              <a:off x="4070" y="2714"/>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13" name="Line 44"/>
            <p:cNvSpPr/>
            <p:nvPr/>
          </p:nvSpPr>
          <p:spPr>
            <a:xfrm flipH="1" flipV="1">
              <a:off x="3571" y="2669"/>
              <a:ext cx="249" cy="68"/>
            </a:xfrm>
            <a:prstGeom prst="line">
              <a:avLst/>
            </a:prstGeom>
            <a:ln w="19050" cap="flat" cmpd="sng">
              <a:solidFill>
                <a:srgbClr val="FF0000"/>
              </a:solidFill>
              <a:prstDash val="solid"/>
              <a:headEnd type="none" w="med" len="med"/>
              <a:tailEnd type="none" w="med" len="med"/>
            </a:ln>
          </p:spPr>
        </p:sp>
        <p:sp>
          <p:nvSpPr>
            <p:cNvPr id="36914" name="Line 45"/>
            <p:cNvSpPr/>
            <p:nvPr/>
          </p:nvSpPr>
          <p:spPr>
            <a:xfrm>
              <a:off x="3707" y="2714"/>
              <a:ext cx="0" cy="170"/>
            </a:xfrm>
            <a:prstGeom prst="line">
              <a:avLst/>
            </a:prstGeom>
            <a:ln w="12700" cap="flat" cmpd="sng">
              <a:solidFill>
                <a:srgbClr val="FF0000"/>
              </a:solidFill>
              <a:prstDash val="dash"/>
              <a:headEnd type="none" w="med" len="med"/>
              <a:tailEnd type="none" w="med" len="med"/>
            </a:ln>
          </p:spPr>
        </p:sp>
        <p:sp>
          <p:nvSpPr>
            <p:cNvPr id="36915" name="Line 46"/>
            <p:cNvSpPr/>
            <p:nvPr/>
          </p:nvSpPr>
          <p:spPr>
            <a:xfrm>
              <a:off x="3705" y="2884"/>
              <a:ext cx="0" cy="125"/>
            </a:xfrm>
            <a:prstGeom prst="line">
              <a:avLst/>
            </a:prstGeom>
            <a:ln w="12700" cap="flat" cmpd="sng">
              <a:solidFill>
                <a:srgbClr val="FF0000"/>
              </a:solidFill>
              <a:prstDash val="solid"/>
              <a:headEnd type="stealth" w="med" len="lg"/>
              <a:tailEnd type="none" w="med" len="med"/>
            </a:ln>
          </p:spPr>
        </p:sp>
        <p:sp>
          <p:nvSpPr>
            <p:cNvPr id="36916" name="Line 47"/>
            <p:cNvSpPr/>
            <p:nvPr/>
          </p:nvSpPr>
          <p:spPr>
            <a:xfrm flipH="1">
              <a:off x="3117" y="3009"/>
              <a:ext cx="590" cy="0"/>
            </a:xfrm>
            <a:prstGeom prst="line">
              <a:avLst/>
            </a:prstGeom>
            <a:ln w="12700" cap="flat" cmpd="sng">
              <a:solidFill>
                <a:srgbClr val="FF0000"/>
              </a:solidFill>
              <a:prstDash val="solid"/>
              <a:headEnd type="none" w="med" len="med"/>
              <a:tailEnd type="none" w="med" len="med"/>
            </a:ln>
          </p:spPr>
        </p:sp>
        <p:sp>
          <p:nvSpPr>
            <p:cNvPr id="36917" name="Text Box 48"/>
            <p:cNvSpPr txBox="1"/>
            <p:nvPr/>
          </p:nvSpPr>
          <p:spPr>
            <a:xfrm>
              <a:off x="3721" y="239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36918" name="Text Box 49"/>
            <p:cNvSpPr txBox="1"/>
            <p:nvPr/>
          </p:nvSpPr>
          <p:spPr>
            <a:xfrm>
              <a:off x="3979" y="2543"/>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-1</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6919" name="Rectangle 50"/>
            <p:cNvSpPr/>
            <p:nvPr/>
          </p:nvSpPr>
          <p:spPr>
            <a:xfrm>
              <a:off x="3525" y="3131"/>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20" name="Oval 51"/>
            <p:cNvSpPr/>
            <p:nvPr/>
          </p:nvSpPr>
          <p:spPr>
            <a:xfrm>
              <a:off x="3571" y="316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21" name="Oval 52"/>
            <p:cNvSpPr/>
            <p:nvPr/>
          </p:nvSpPr>
          <p:spPr>
            <a:xfrm>
              <a:off x="3571" y="334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22" name="Oval 53"/>
            <p:cNvSpPr/>
            <p:nvPr/>
          </p:nvSpPr>
          <p:spPr>
            <a:xfrm>
              <a:off x="3820" y="325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23" name="Line 54"/>
            <p:cNvSpPr/>
            <p:nvPr/>
          </p:nvSpPr>
          <p:spPr>
            <a:xfrm>
              <a:off x="3865" y="3278"/>
              <a:ext cx="545" cy="0"/>
            </a:xfrm>
            <a:prstGeom prst="line">
              <a:avLst/>
            </a:prstGeom>
            <a:ln w="12700" cap="flat" cmpd="sng">
              <a:solidFill>
                <a:schemeClr val="accent2"/>
              </a:solidFill>
              <a:prstDash val="solid"/>
              <a:headEnd type="none" w="med" len="med"/>
              <a:tailEnd type="none" w="med" len="med"/>
            </a:ln>
          </p:spPr>
        </p:sp>
        <p:sp>
          <p:nvSpPr>
            <p:cNvPr id="36924" name="Line 55"/>
            <p:cNvSpPr/>
            <p:nvPr/>
          </p:nvSpPr>
          <p:spPr>
            <a:xfrm>
              <a:off x="3276" y="3187"/>
              <a:ext cx="295" cy="0"/>
            </a:xfrm>
            <a:prstGeom prst="line">
              <a:avLst/>
            </a:prstGeom>
            <a:ln w="12700" cap="flat" cmpd="sng">
              <a:solidFill>
                <a:schemeClr val="accent2"/>
              </a:solidFill>
              <a:prstDash val="solid"/>
              <a:headEnd type="none" w="med" len="med"/>
              <a:tailEnd type="none" w="med" len="med"/>
            </a:ln>
          </p:spPr>
        </p:sp>
        <p:sp>
          <p:nvSpPr>
            <p:cNvPr id="36925" name="Line 56"/>
            <p:cNvSpPr/>
            <p:nvPr/>
          </p:nvSpPr>
          <p:spPr>
            <a:xfrm>
              <a:off x="3435" y="3369"/>
              <a:ext cx="136" cy="0"/>
            </a:xfrm>
            <a:prstGeom prst="line">
              <a:avLst/>
            </a:prstGeom>
            <a:ln w="12700" cap="flat" cmpd="sng">
              <a:solidFill>
                <a:schemeClr val="accent2"/>
              </a:solidFill>
              <a:prstDash val="solid"/>
              <a:headEnd type="none" w="med" len="med"/>
              <a:tailEnd type="none" w="med" len="med"/>
            </a:ln>
          </p:spPr>
        </p:sp>
        <p:sp>
          <p:nvSpPr>
            <p:cNvPr id="36926" name="Rectangle 57"/>
            <p:cNvSpPr/>
            <p:nvPr/>
          </p:nvSpPr>
          <p:spPr>
            <a:xfrm>
              <a:off x="4070" y="3255"/>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27" name="Line 58"/>
            <p:cNvSpPr/>
            <p:nvPr/>
          </p:nvSpPr>
          <p:spPr>
            <a:xfrm flipH="1" flipV="1">
              <a:off x="3571" y="3210"/>
              <a:ext cx="249" cy="68"/>
            </a:xfrm>
            <a:prstGeom prst="line">
              <a:avLst/>
            </a:prstGeom>
            <a:ln w="19050" cap="flat" cmpd="sng">
              <a:solidFill>
                <a:srgbClr val="FF0000"/>
              </a:solidFill>
              <a:prstDash val="solid"/>
              <a:headEnd type="none" w="med" len="med"/>
              <a:tailEnd type="none" w="med" len="med"/>
            </a:ln>
          </p:spPr>
        </p:sp>
        <p:sp>
          <p:nvSpPr>
            <p:cNvPr id="36928" name="Line 59"/>
            <p:cNvSpPr/>
            <p:nvPr/>
          </p:nvSpPr>
          <p:spPr>
            <a:xfrm>
              <a:off x="3707" y="3255"/>
              <a:ext cx="0" cy="170"/>
            </a:xfrm>
            <a:prstGeom prst="line">
              <a:avLst/>
            </a:prstGeom>
            <a:ln w="12700" cap="flat" cmpd="sng">
              <a:solidFill>
                <a:srgbClr val="FF0000"/>
              </a:solidFill>
              <a:prstDash val="dash"/>
              <a:headEnd type="none" w="med" len="med"/>
              <a:tailEnd type="none" w="med" len="med"/>
            </a:ln>
          </p:spPr>
        </p:sp>
        <p:sp>
          <p:nvSpPr>
            <p:cNvPr id="36929" name="Line 60"/>
            <p:cNvSpPr/>
            <p:nvPr/>
          </p:nvSpPr>
          <p:spPr>
            <a:xfrm>
              <a:off x="3705" y="3425"/>
              <a:ext cx="0" cy="125"/>
            </a:xfrm>
            <a:prstGeom prst="line">
              <a:avLst/>
            </a:prstGeom>
            <a:ln w="12700" cap="flat" cmpd="sng">
              <a:solidFill>
                <a:srgbClr val="FF0000"/>
              </a:solidFill>
              <a:prstDash val="solid"/>
              <a:headEnd type="stealth" w="med" len="lg"/>
              <a:tailEnd type="none" w="med" len="med"/>
            </a:ln>
          </p:spPr>
        </p:sp>
        <p:sp>
          <p:nvSpPr>
            <p:cNvPr id="36930" name="Line 61"/>
            <p:cNvSpPr/>
            <p:nvPr/>
          </p:nvSpPr>
          <p:spPr>
            <a:xfrm flipH="1">
              <a:off x="3117" y="3550"/>
              <a:ext cx="590" cy="0"/>
            </a:xfrm>
            <a:prstGeom prst="line">
              <a:avLst/>
            </a:prstGeom>
            <a:ln w="12700" cap="flat" cmpd="sng">
              <a:solidFill>
                <a:srgbClr val="FF0000"/>
              </a:solidFill>
              <a:prstDash val="solid"/>
              <a:headEnd type="none" w="med" len="med"/>
              <a:tailEnd type="none" w="med" len="med"/>
            </a:ln>
          </p:spPr>
        </p:sp>
        <p:sp>
          <p:nvSpPr>
            <p:cNvPr id="36931" name="Text Box 62"/>
            <p:cNvSpPr txBox="1"/>
            <p:nvPr/>
          </p:nvSpPr>
          <p:spPr>
            <a:xfrm>
              <a:off x="3721" y="293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36932" name="Text Box 63"/>
            <p:cNvSpPr txBox="1"/>
            <p:nvPr/>
          </p:nvSpPr>
          <p:spPr>
            <a:xfrm>
              <a:off x="3979" y="30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0</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6933" name="Line 64"/>
            <p:cNvSpPr/>
            <p:nvPr/>
          </p:nvSpPr>
          <p:spPr>
            <a:xfrm>
              <a:off x="4410" y="1693"/>
              <a:ext cx="0" cy="1588"/>
            </a:xfrm>
            <a:prstGeom prst="line">
              <a:avLst/>
            </a:prstGeom>
            <a:ln w="12700" cap="flat" cmpd="sng">
              <a:solidFill>
                <a:schemeClr val="accent2"/>
              </a:solidFill>
              <a:prstDash val="solid"/>
              <a:headEnd type="none" w="med" len="med"/>
              <a:tailEnd type="none" w="med" len="med"/>
            </a:ln>
          </p:spPr>
        </p:sp>
        <p:sp>
          <p:nvSpPr>
            <p:cNvPr id="36934" name="Line 65"/>
            <p:cNvSpPr/>
            <p:nvPr/>
          </p:nvSpPr>
          <p:spPr>
            <a:xfrm>
              <a:off x="3435" y="1781"/>
              <a:ext cx="0" cy="1841"/>
            </a:xfrm>
            <a:prstGeom prst="line">
              <a:avLst/>
            </a:prstGeom>
            <a:ln w="12700" cap="flat" cmpd="sng">
              <a:solidFill>
                <a:schemeClr val="accent2"/>
              </a:solidFill>
              <a:prstDash val="solid"/>
              <a:headEnd type="none" w="med" len="med"/>
              <a:tailEnd type="none" w="med" len="med"/>
            </a:ln>
          </p:spPr>
        </p:sp>
        <p:sp>
          <p:nvSpPr>
            <p:cNvPr id="36935" name="Line 66"/>
            <p:cNvSpPr/>
            <p:nvPr/>
          </p:nvSpPr>
          <p:spPr>
            <a:xfrm>
              <a:off x="3276" y="1599"/>
              <a:ext cx="0" cy="1588"/>
            </a:xfrm>
            <a:prstGeom prst="line">
              <a:avLst/>
            </a:prstGeom>
            <a:ln w="12700" cap="flat" cmpd="sng">
              <a:solidFill>
                <a:schemeClr val="accent2"/>
              </a:solidFill>
              <a:prstDash val="solid"/>
              <a:headEnd type="none" w="med" len="med"/>
              <a:tailEnd type="none" w="med" len="med"/>
            </a:ln>
          </p:spPr>
        </p:sp>
        <p:sp>
          <p:nvSpPr>
            <p:cNvPr id="36936" name="Oval 67"/>
            <p:cNvSpPr/>
            <p:nvPr/>
          </p:nvSpPr>
          <p:spPr>
            <a:xfrm>
              <a:off x="3072"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37" name="Text Box 68"/>
            <p:cNvSpPr txBox="1"/>
            <p:nvPr/>
          </p:nvSpPr>
          <p:spPr>
            <a:xfrm>
              <a:off x="2804" y="1850"/>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36938" name="Text Box 69"/>
            <p:cNvSpPr txBox="1"/>
            <p:nvPr/>
          </p:nvSpPr>
          <p:spPr>
            <a:xfrm>
              <a:off x="2791" y="235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36939" name="Text Box 70"/>
            <p:cNvSpPr txBox="1"/>
            <p:nvPr/>
          </p:nvSpPr>
          <p:spPr>
            <a:xfrm>
              <a:off x="2798" y="28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36940" name="Text Box 71"/>
            <p:cNvSpPr txBox="1"/>
            <p:nvPr/>
          </p:nvSpPr>
          <p:spPr>
            <a:xfrm>
              <a:off x="2798" y="3425"/>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36941" name="Line 72"/>
            <p:cNvSpPr/>
            <p:nvPr/>
          </p:nvSpPr>
          <p:spPr>
            <a:xfrm>
              <a:off x="3354" y="3622"/>
              <a:ext cx="158" cy="0"/>
            </a:xfrm>
            <a:prstGeom prst="line">
              <a:avLst/>
            </a:prstGeom>
            <a:ln w="19050" cap="flat" cmpd="sng">
              <a:solidFill>
                <a:srgbClr val="000080"/>
              </a:solidFill>
              <a:prstDash val="solid"/>
              <a:headEnd type="none" w="med" len="med"/>
              <a:tailEnd type="none" w="med" len="med"/>
            </a:ln>
          </p:spPr>
        </p:sp>
        <p:sp>
          <p:nvSpPr>
            <p:cNvPr id="36942" name="Text Box 73"/>
            <p:cNvSpPr txBox="1"/>
            <p:nvPr/>
          </p:nvSpPr>
          <p:spPr>
            <a:xfrm>
              <a:off x="2721" y="1478"/>
              <a:ext cx="430"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36943" name="AutoShape 74"/>
            <p:cNvSpPr/>
            <p:nvPr/>
          </p:nvSpPr>
          <p:spPr>
            <a:xfrm rot="5400000">
              <a:off x="4849" y="2292"/>
              <a:ext cx="408" cy="43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44" name="Line 75"/>
            <p:cNvSpPr/>
            <p:nvPr/>
          </p:nvSpPr>
          <p:spPr>
            <a:xfrm flipH="1">
              <a:off x="4637" y="2624"/>
              <a:ext cx="199" cy="0"/>
            </a:xfrm>
            <a:prstGeom prst="line">
              <a:avLst/>
            </a:prstGeom>
            <a:ln w="12700" cap="flat" cmpd="sng">
              <a:solidFill>
                <a:schemeClr val="accent2"/>
              </a:solidFill>
              <a:prstDash val="solid"/>
              <a:headEnd type="none" w="med" len="med"/>
              <a:tailEnd type="none" w="med" len="med"/>
            </a:ln>
          </p:spPr>
        </p:sp>
        <p:sp>
          <p:nvSpPr>
            <p:cNvPr id="36945" name="Line 76"/>
            <p:cNvSpPr/>
            <p:nvPr/>
          </p:nvSpPr>
          <p:spPr>
            <a:xfrm>
              <a:off x="4637" y="2624"/>
              <a:ext cx="0" cy="226"/>
            </a:xfrm>
            <a:prstGeom prst="line">
              <a:avLst/>
            </a:prstGeom>
            <a:ln w="12700" cap="flat" cmpd="sng">
              <a:solidFill>
                <a:schemeClr val="accent2"/>
              </a:solidFill>
              <a:prstDash val="solid"/>
              <a:headEnd type="none" w="med" len="med"/>
              <a:tailEnd type="none" w="med" len="med"/>
            </a:ln>
          </p:spPr>
        </p:sp>
        <p:sp>
          <p:nvSpPr>
            <p:cNvPr id="36946" name="Line 77"/>
            <p:cNvSpPr/>
            <p:nvPr/>
          </p:nvSpPr>
          <p:spPr>
            <a:xfrm>
              <a:off x="4558" y="2850"/>
              <a:ext cx="158" cy="0"/>
            </a:xfrm>
            <a:prstGeom prst="line">
              <a:avLst/>
            </a:prstGeom>
            <a:ln w="19050" cap="flat" cmpd="sng">
              <a:solidFill>
                <a:srgbClr val="000080"/>
              </a:solidFill>
              <a:prstDash val="solid"/>
              <a:headEnd type="none" w="med" len="med"/>
              <a:tailEnd type="none" w="med" len="med"/>
            </a:ln>
          </p:spPr>
        </p:sp>
        <p:sp>
          <p:nvSpPr>
            <p:cNvPr id="36947" name="Line 78"/>
            <p:cNvSpPr/>
            <p:nvPr/>
          </p:nvSpPr>
          <p:spPr>
            <a:xfrm>
              <a:off x="4633" y="2121"/>
              <a:ext cx="0" cy="271"/>
            </a:xfrm>
            <a:prstGeom prst="line">
              <a:avLst/>
            </a:prstGeom>
            <a:ln w="12700" cap="flat" cmpd="sng">
              <a:solidFill>
                <a:schemeClr val="accent2"/>
              </a:solidFill>
              <a:prstDash val="solid"/>
              <a:headEnd type="none" w="med" len="med"/>
              <a:tailEnd type="none" w="med" len="med"/>
            </a:ln>
          </p:spPr>
        </p:sp>
        <p:sp>
          <p:nvSpPr>
            <p:cNvPr id="36948" name="Line 79"/>
            <p:cNvSpPr/>
            <p:nvPr/>
          </p:nvSpPr>
          <p:spPr>
            <a:xfrm>
              <a:off x="4633" y="2120"/>
              <a:ext cx="753" cy="1"/>
            </a:xfrm>
            <a:prstGeom prst="line">
              <a:avLst/>
            </a:prstGeom>
            <a:ln w="12700" cap="flat" cmpd="sng">
              <a:solidFill>
                <a:schemeClr val="accent2"/>
              </a:solidFill>
              <a:prstDash val="solid"/>
              <a:headEnd type="none" w="med" len="med"/>
              <a:tailEnd type="none" w="med" len="med"/>
            </a:ln>
          </p:spPr>
        </p:sp>
        <p:sp>
          <p:nvSpPr>
            <p:cNvPr id="36949" name="Line 80"/>
            <p:cNvSpPr/>
            <p:nvPr/>
          </p:nvSpPr>
          <p:spPr>
            <a:xfrm>
              <a:off x="5271" y="2509"/>
              <a:ext cx="205" cy="0"/>
            </a:xfrm>
            <a:prstGeom prst="line">
              <a:avLst/>
            </a:prstGeom>
            <a:ln w="12700" cap="flat" cmpd="sng">
              <a:solidFill>
                <a:schemeClr val="accent2"/>
              </a:solidFill>
              <a:prstDash val="solid"/>
              <a:headEnd type="none" w="med" len="med"/>
              <a:tailEnd type="none" w="med" len="med"/>
            </a:ln>
          </p:spPr>
        </p:sp>
        <p:sp>
          <p:nvSpPr>
            <p:cNvPr id="36950" name="Line 81"/>
            <p:cNvSpPr/>
            <p:nvPr/>
          </p:nvSpPr>
          <p:spPr>
            <a:xfrm>
              <a:off x="5386" y="2122"/>
              <a:ext cx="0" cy="387"/>
            </a:xfrm>
            <a:prstGeom prst="line">
              <a:avLst/>
            </a:prstGeom>
            <a:ln w="12700" cap="flat" cmpd="sng">
              <a:solidFill>
                <a:schemeClr val="accent2"/>
              </a:solidFill>
              <a:prstDash val="solid"/>
              <a:headEnd type="none" w="med" len="med"/>
              <a:tailEnd type="none" w="med" len="med"/>
            </a:ln>
          </p:spPr>
        </p:sp>
        <p:sp>
          <p:nvSpPr>
            <p:cNvPr id="36951" name="Rectangle 82"/>
            <p:cNvSpPr/>
            <p:nvPr/>
          </p:nvSpPr>
          <p:spPr>
            <a:xfrm>
              <a:off x="4909" y="209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52" name="Text Box 83"/>
            <p:cNvSpPr txBox="1"/>
            <p:nvPr/>
          </p:nvSpPr>
          <p:spPr>
            <a:xfrm>
              <a:off x="4861" y="1905"/>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36953" name="Text Box 84"/>
            <p:cNvSpPr txBox="1"/>
            <p:nvPr/>
          </p:nvSpPr>
          <p:spPr>
            <a:xfrm>
              <a:off x="5386" y="230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36954" name="Oval 85"/>
            <p:cNvSpPr/>
            <p:nvPr/>
          </p:nvSpPr>
          <p:spPr>
            <a:xfrm>
              <a:off x="5476" y="248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55" name="Text Box 86"/>
            <p:cNvSpPr txBox="1"/>
            <p:nvPr/>
          </p:nvSpPr>
          <p:spPr>
            <a:xfrm>
              <a:off x="4800" y="2515"/>
              <a:ext cx="476"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36956" name="Rectangle 87"/>
            <p:cNvSpPr/>
            <p:nvPr/>
          </p:nvSpPr>
          <p:spPr>
            <a:xfrm>
              <a:off x="4804" y="2212"/>
              <a:ext cx="260" cy="214"/>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36957" name="Text Box 88"/>
            <p:cNvSpPr txBox="1"/>
            <p:nvPr/>
          </p:nvSpPr>
          <p:spPr>
            <a:xfrm>
              <a:off x="4932" y="2397"/>
              <a:ext cx="181"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36958" name="Oval 89"/>
            <p:cNvSpPr/>
            <p:nvPr/>
          </p:nvSpPr>
          <p:spPr>
            <a:xfrm>
              <a:off x="3264" y="210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59" name="Oval 90"/>
            <p:cNvSpPr/>
            <p:nvPr/>
          </p:nvSpPr>
          <p:spPr>
            <a:xfrm>
              <a:off x="3264" y="158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0" name="Oval 91"/>
            <p:cNvSpPr/>
            <p:nvPr/>
          </p:nvSpPr>
          <p:spPr>
            <a:xfrm>
              <a:off x="3264" y="263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1" name="Oval 92"/>
            <p:cNvSpPr/>
            <p:nvPr/>
          </p:nvSpPr>
          <p:spPr>
            <a:xfrm>
              <a:off x="3423" y="281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2" name="Oval 93"/>
            <p:cNvSpPr/>
            <p:nvPr/>
          </p:nvSpPr>
          <p:spPr>
            <a:xfrm>
              <a:off x="3423" y="229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3" name="Oval 94"/>
            <p:cNvSpPr/>
            <p:nvPr/>
          </p:nvSpPr>
          <p:spPr>
            <a:xfrm>
              <a:off x="3423" y="335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4" name="Oval 95"/>
            <p:cNvSpPr/>
            <p:nvPr/>
          </p:nvSpPr>
          <p:spPr>
            <a:xfrm>
              <a:off x="4398" y="219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5" name="Oval 96"/>
            <p:cNvSpPr/>
            <p:nvPr/>
          </p:nvSpPr>
          <p:spPr>
            <a:xfrm>
              <a:off x="4398" y="23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6" name="Oval 97"/>
            <p:cNvSpPr/>
            <p:nvPr/>
          </p:nvSpPr>
          <p:spPr>
            <a:xfrm>
              <a:off x="4398" y="2725"/>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7" name="Oval 98"/>
            <p:cNvSpPr/>
            <p:nvPr/>
          </p:nvSpPr>
          <p:spPr>
            <a:xfrm>
              <a:off x="4621" y="238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8" name="Oval 99"/>
            <p:cNvSpPr/>
            <p:nvPr/>
          </p:nvSpPr>
          <p:spPr>
            <a:xfrm>
              <a:off x="5374" y="249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6969" name="Text Box 100"/>
            <p:cNvSpPr txBox="1"/>
            <p:nvPr/>
          </p:nvSpPr>
          <p:spPr>
            <a:xfrm>
              <a:off x="3062" y="3702"/>
              <a:ext cx="2449"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四位权电阻</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转换器工作原理</a:t>
              </a:r>
              <a:endParaRPr lang="zh-CN" altLang="en-US" sz="2000" dirty="0">
                <a:solidFill>
                  <a:srgbClr val="000099"/>
                </a:solidFill>
                <a:latin typeface="Times New Roman" panose="02020603050405020304" pitchFamily="18" charset="0"/>
              </a:endParaRPr>
            </a:p>
          </p:txBody>
        </p:sp>
      </p:grpSp>
      <p:graphicFrame>
        <p:nvGraphicFramePr>
          <p:cNvPr id="2472055" name="Object 119"/>
          <p:cNvGraphicFramePr>
            <a:graphicFrameLocks noGrp="1" noChangeAspect="1"/>
          </p:cNvGraphicFramePr>
          <p:nvPr>
            <p:ph idx="4294967295" hasCustomPrompt="1"/>
          </p:nvPr>
        </p:nvGraphicFramePr>
        <p:xfrm>
          <a:off x="142875" y="1771650"/>
          <a:ext cx="4068763" cy="793750"/>
        </p:xfrm>
        <a:graphic>
          <a:graphicData uri="http://schemas.openxmlformats.org/presentationml/2006/ole">
            <mc:AlternateContent xmlns:mc="http://schemas.openxmlformats.org/markup-compatibility/2006">
              <mc:Choice xmlns:v="urn:schemas-microsoft-com:vml" Requires="v">
                <p:oleObj spid="_x0000_s3077" name="" r:id="rId1" imgW="2209800" imgH="431800" progId="Equation.3">
                  <p:embed/>
                </p:oleObj>
              </mc:Choice>
              <mc:Fallback>
                <p:oleObj name="" r:id="rId1" imgW="2209800" imgH="431800" progId="Equation.3">
                  <p:embed/>
                  <p:pic>
                    <p:nvPicPr>
                      <p:cNvPr id="0" name="图片 3076"/>
                      <p:cNvPicPr/>
                      <p:nvPr/>
                    </p:nvPicPr>
                    <p:blipFill>
                      <a:blip r:embed="rId2"/>
                      <a:stretch>
                        <a:fillRect/>
                      </a:stretch>
                    </p:blipFill>
                    <p:spPr>
                      <a:xfrm>
                        <a:off x="142875" y="1771650"/>
                        <a:ext cx="4068763" cy="793750"/>
                      </a:xfrm>
                      <a:prstGeom prst="rect">
                        <a:avLst/>
                      </a:prstGeom>
                      <a:solidFill>
                        <a:srgbClr val="CCFFCC"/>
                      </a:solidFill>
                      <a:ln w="38100">
                        <a:noFill/>
                        <a:miter/>
                      </a:ln>
                    </p:spPr>
                  </p:pic>
                </p:oleObj>
              </mc:Fallback>
            </mc:AlternateContent>
          </a:graphicData>
        </a:graphic>
      </p:graphicFrame>
      <p:sp>
        <p:nvSpPr>
          <p:cNvPr id="2472056" name="Text Box 120"/>
          <p:cNvSpPr txBox="1"/>
          <p:nvPr/>
        </p:nvSpPr>
        <p:spPr>
          <a:xfrm>
            <a:off x="71438" y="1341438"/>
            <a:ext cx="2628900"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相应支路的电流：</a:t>
            </a:r>
            <a:endParaRPr lang="zh-CN" altLang="en-US" sz="2400" dirty="0">
              <a:solidFill>
                <a:srgbClr val="FF0000"/>
              </a:solidFill>
              <a:latin typeface="Times New Roman" panose="02020603050405020304" pitchFamily="18" charset="0"/>
            </a:endParaRPr>
          </a:p>
        </p:txBody>
      </p:sp>
      <p:graphicFrame>
        <p:nvGraphicFramePr>
          <p:cNvPr id="2472057" name="Object 121"/>
          <p:cNvGraphicFramePr>
            <a:graphicFrameLocks noChangeAspect="1"/>
          </p:cNvGraphicFramePr>
          <p:nvPr/>
        </p:nvGraphicFramePr>
        <p:xfrm>
          <a:off x="801688" y="3103563"/>
          <a:ext cx="2609850" cy="815975"/>
        </p:xfrm>
        <a:graphic>
          <a:graphicData uri="http://schemas.openxmlformats.org/presentationml/2006/ole">
            <mc:AlternateContent xmlns:mc="http://schemas.openxmlformats.org/markup-compatibility/2006">
              <mc:Choice xmlns:v="urn:schemas-microsoft-com:vml" Requires="v">
                <p:oleObj spid="_x0000_s3078" name="" r:id="rId3" imgW="1257300" imgH="431800" progId="Equation.DSMT4">
                  <p:embed/>
                </p:oleObj>
              </mc:Choice>
              <mc:Fallback>
                <p:oleObj name="" r:id="rId3" imgW="1257300" imgH="431800" progId="Equation.DSMT4">
                  <p:embed/>
                  <p:pic>
                    <p:nvPicPr>
                      <p:cNvPr id="0" name="图片 3077"/>
                      <p:cNvPicPr/>
                      <p:nvPr/>
                    </p:nvPicPr>
                    <p:blipFill>
                      <a:blip r:embed="rId4"/>
                      <a:stretch>
                        <a:fillRect/>
                      </a:stretch>
                    </p:blipFill>
                    <p:spPr>
                      <a:xfrm>
                        <a:off x="801688" y="3103563"/>
                        <a:ext cx="2609850" cy="815975"/>
                      </a:xfrm>
                      <a:prstGeom prst="rect">
                        <a:avLst/>
                      </a:prstGeom>
                      <a:solidFill>
                        <a:srgbClr val="CCFFCC"/>
                      </a:solidFill>
                      <a:ln w="38100">
                        <a:noFill/>
                        <a:miter/>
                      </a:ln>
                    </p:spPr>
                  </p:pic>
                </p:oleObj>
              </mc:Fallback>
            </mc:AlternateContent>
          </a:graphicData>
        </a:graphic>
      </p:graphicFrame>
      <p:sp>
        <p:nvSpPr>
          <p:cNvPr id="2472058" name="Text Box 122"/>
          <p:cNvSpPr txBox="1"/>
          <p:nvPr/>
        </p:nvSpPr>
        <p:spPr>
          <a:xfrm>
            <a:off x="71438" y="2673350"/>
            <a:ext cx="2628900"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总的电流：</a:t>
            </a:r>
            <a:endParaRPr lang="zh-CN" altLang="en-US" sz="2400" dirty="0">
              <a:solidFill>
                <a:srgbClr val="FF0000"/>
              </a:solidFill>
              <a:latin typeface="Times New Roman" panose="02020603050405020304" pitchFamily="18" charset="0"/>
            </a:endParaRPr>
          </a:p>
        </p:txBody>
      </p:sp>
      <p:graphicFrame>
        <p:nvGraphicFramePr>
          <p:cNvPr id="2472059" name="Object 123"/>
          <p:cNvGraphicFramePr>
            <a:graphicFrameLocks noChangeAspect="1"/>
          </p:cNvGraphicFramePr>
          <p:nvPr/>
        </p:nvGraphicFramePr>
        <p:xfrm>
          <a:off x="200025" y="4565650"/>
          <a:ext cx="4024313" cy="1430338"/>
        </p:xfrm>
        <a:graphic>
          <a:graphicData uri="http://schemas.openxmlformats.org/presentationml/2006/ole">
            <mc:AlternateContent xmlns:mc="http://schemas.openxmlformats.org/markup-compatibility/2006">
              <mc:Choice xmlns:v="urn:schemas-microsoft-com:vml" Requires="v">
                <p:oleObj spid="_x0000_s3076" name="" r:id="rId5" imgW="2019300" imgH="787400" progId="Equation.DSMT4">
                  <p:embed/>
                </p:oleObj>
              </mc:Choice>
              <mc:Fallback>
                <p:oleObj name="" r:id="rId5" imgW="2019300" imgH="787400" progId="Equation.DSMT4">
                  <p:embed/>
                  <p:pic>
                    <p:nvPicPr>
                      <p:cNvPr id="0" name="图片 3075"/>
                      <p:cNvPicPr/>
                      <p:nvPr/>
                    </p:nvPicPr>
                    <p:blipFill>
                      <a:blip r:embed="rId6"/>
                      <a:stretch>
                        <a:fillRect/>
                      </a:stretch>
                    </p:blipFill>
                    <p:spPr>
                      <a:xfrm>
                        <a:off x="200025" y="4565650"/>
                        <a:ext cx="4024313" cy="1430338"/>
                      </a:xfrm>
                      <a:prstGeom prst="rect">
                        <a:avLst/>
                      </a:prstGeom>
                      <a:solidFill>
                        <a:srgbClr val="CCFFCC"/>
                      </a:solidFill>
                      <a:ln w="38100">
                        <a:noFill/>
                        <a:miter/>
                      </a:ln>
                    </p:spPr>
                  </p:pic>
                </p:oleObj>
              </mc:Fallback>
            </mc:AlternateContent>
          </a:graphicData>
        </a:graphic>
      </p:graphicFrame>
      <p:sp>
        <p:nvSpPr>
          <p:cNvPr id="2472060" name="Text Box 124"/>
          <p:cNvSpPr txBox="1"/>
          <p:nvPr/>
        </p:nvSpPr>
        <p:spPr>
          <a:xfrm>
            <a:off x="71438" y="4052888"/>
            <a:ext cx="4140200" cy="420687"/>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rPr>
              <a:t>输出电压：令 </a:t>
            </a:r>
            <a:r>
              <a:rPr lang="en-US" altLang="zh-CN" sz="2400" i="1" dirty="0">
                <a:solidFill>
                  <a:srgbClr val="FF0000"/>
                </a:solidFill>
                <a:latin typeface="Times New Roman" panose="02020603050405020304" pitchFamily="18" charset="0"/>
              </a:rPr>
              <a:t>R</a:t>
            </a:r>
            <a:r>
              <a:rPr lang="en-US" altLang="zh-CN" sz="2400" baseline="-25000" dirty="0">
                <a:solidFill>
                  <a:srgbClr val="FF0000"/>
                </a:solidFill>
                <a:latin typeface="Times New Roman" panose="02020603050405020304" pitchFamily="18" charset="0"/>
              </a:rPr>
              <a:t>F </a:t>
            </a:r>
            <a:r>
              <a:rPr lang="en-US" altLang="zh-CN" sz="2400" dirty="0">
                <a:solidFill>
                  <a:srgbClr val="FF0000"/>
                </a:solidFill>
                <a:latin typeface="Times New Roman" panose="02020603050405020304" pitchFamily="18" charset="0"/>
              </a:rPr>
              <a:t>= </a:t>
            </a:r>
            <a:r>
              <a:rPr lang="en-US" altLang="zh-CN" sz="2400" i="1" dirty="0">
                <a:solidFill>
                  <a:srgbClr val="FF0000"/>
                </a:solidFill>
                <a:latin typeface="Times New Roman" panose="02020603050405020304" pitchFamily="18" charset="0"/>
              </a:rPr>
              <a:t>R</a:t>
            </a:r>
            <a:r>
              <a:rPr lang="en-US" altLang="zh-CN" sz="2400" dirty="0">
                <a:solidFill>
                  <a:srgbClr val="FF0000"/>
                </a:solidFill>
                <a:latin typeface="Times New Roman" panose="02020603050405020304" pitchFamily="18" charset="0"/>
              </a:rPr>
              <a:t>/2</a:t>
            </a:r>
            <a:r>
              <a:rPr lang="en-US" altLang="zh-CN" sz="2400" i="1" baseline="30000" dirty="0">
                <a:solidFill>
                  <a:srgbClr val="FF0000"/>
                </a:solidFill>
                <a:latin typeface="Times New Roman" panose="02020603050405020304" pitchFamily="18" charset="0"/>
              </a:rPr>
              <a:t>n</a:t>
            </a:r>
            <a:endParaRPr lang="en-US" altLang="zh-CN" sz="2400" i="1" baseline="300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72056"/>
                                        </p:tgtEl>
                                        <p:attrNameLst>
                                          <p:attrName>style.visibility</p:attrName>
                                        </p:attrNameLst>
                                      </p:cBhvr>
                                      <p:to>
                                        <p:strVal val="visible"/>
                                      </p:to>
                                    </p:set>
                                    <p:animEffect transition="in" filter="dissolve">
                                      <p:cBhvr>
                                        <p:cTn id="7" dur="500"/>
                                        <p:tgtEl>
                                          <p:spTgt spid="2472056"/>
                                        </p:tgtEl>
                                      </p:cBhvr>
                                    </p:animEffect>
                                  </p:childTnLst>
                                </p:cTn>
                              </p:par>
                              <p:par>
                                <p:cTn id="8" presetID="9" presetClass="entr" presetSubtype="0" fill="hold" nodeType="withEffect">
                                  <p:stCondLst>
                                    <p:cond delay="0"/>
                                  </p:stCondLst>
                                  <p:childTnLst>
                                    <p:set>
                                      <p:cBhvr>
                                        <p:cTn id="9" dur="1" fill="hold">
                                          <p:stCondLst>
                                            <p:cond delay="0"/>
                                          </p:stCondLst>
                                        </p:cTn>
                                        <p:tgtEl>
                                          <p:spTgt spid="2472055"/>
                                        </p:tgtEl>
                                        <p:attrNameLst>
                                          <p:attrName>style.visibility</p:attrName>
                                        </p:attrNameLst>
                                      </p:cBhvr>
                                      <p:to>
                                        <p:strVal val="visible"/>
                                      </p:to>
                                    </p:set>
                                    <p:animEffect transition="in" filter="dissolve">
                                      <p:cBhvr>
                                        <p:cTn id="10" dur="500"/>
                                        <p:tgtEl>
                                          <p:spTgt spid="24720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472058"/>
                                        </p:tgtEl>
                                        <p:attrNameLst>
                                          <p:attrName>style.visibility</p:attrName>
                                        </p:attrNameLst>
                                      </p:cBhvr>
                                      <p:to>
                                        <p:strVal val="visible"/>
                                      </p:to>
                                    </p:set>
                                    <p:animEffect transition="in" filter="dissolve">
                                      <p:cBhvr>
                                        <p:cTn id="15" dur="500"/>
                                        <p:tgtEl>
                                          <p:spTgt spid="2472058"/>
                                        </p:tgtEl>
                                      </p:cBhvr>
                                    </p:animEffect>
                                  </p:childTnLst>
                                </p:cTn>
                              </p:par>
                              <p:par>
                                <p:cTn id="16" presetID="9" presetClass="entr" presetSubtype="0" fill="hold" nodeType="withEffect">
                                  <p:stCondLst>
                                    <p:cond delay="0"/>
                                  </p:stCondLst>
                                  <p:childTnLst>
                                    <p:set>
                                      <p:cBhvr>
                                        <p:cTn id="17" dur="1" fill="hold">
                                          <p:stCondLst>
                                            <p:cond delay="0"/>
                                          </p:stCondLst>
                                        </p:cTn>
                                        <p:tgtEl>
                                          <p:spTgt spid="2472057"/>
                                        </p:tgtEl>
                                        <p:attrNameLst>
                                          <p:attrName>style.visibility</p:attrName>
                                        </p:attrNameLst>
                                      </p:cBhvr>
                                      <p:to>
                                        <p:strVal val="visible"/>
                                      </p:to>
                                    </p:set>
                                    <p:animEffect transition="in" filter="dissolve">
                                      <p:cBhvr>
                                        <p:cTn id="18" dur="500"/>
                                        <p:tgtEl>
                                          <p:spTgt spid="247205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472060"/>
                                        </p:tgtEl>
                                        <p:attrNameLst>
                                          <p:attrName>style.visibility</p:attrName>
                                        </p:attrNameLst>
                                      </p:cBhvr>
                                      <p:to>
                                        <p:strVal val="visible"/>
                                      </p:to>
                                    </p:set>
                                    <p:animEffect transition="in" filter="dissolve">
                                      <p:cBhvr>
                                        <p:cTn id="23" dur="500"/>
                                        <p:tgtEl>
                                          <p:spTgt spid="2472060"/>
                                        </p:tgtEl>
                                      </p:cBhvr>
                                    </p:animEffect>
                                  </p:childTnLst>
                                </p:cTn>
                              </p:par>
                              <p:par>
                                <p:cTn id="24" presetID="9" presetClass="entr" presetSubtype="0" fill="hold" nodeType="withEffect">
                                  <p:stCondLst>
                                    <p:cond delay="0"/>
                                  </p:stCondLst>
                                  <p:childTnLst>
                                    <p:set>
                                      <p:cBhvr>
                                        <p:cTn id="25" dur="1" fill="hold">
                                          <p:stCondLst>
                                            <p:cond delay="0"/>
                                          </p:stCondLst>
                                        </p:cTn>
                                        <p:tgtEl>
                                          <p:spTgt spid="2472059"/>
                                        </p:tgtEl>
                                        <p:attrNameLst>
                                          <p:attrName>style.visibility</p:attrName>
                                        </p:attrNameLst>
                                      </p:cBhvr>
                                      <p:to>
                                        <p:strVal val="visible"/>
                                      </p:to>
                                    </p:set>
                                    <p:animEffect transition="in" filter="dissolve">
                                      <p:cBhvr>
                                        <p:cTn id="26" dur="500"/>
                                        <p:tgtEl>
                                          <p:spTgt spid="24720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2056" grpId="0"/>
      <p:bldP spid="2472058" grpId="0"/>
      <p:bldP spid="2472060"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3986"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38915" name="Rectangle 3"/>
          <p:cNvSpPr/>
          <p:nvPr/>
        </p:nvSpPr>
        <p:spPr>
          <a:xfrm>
            <a:off x="431800" y="657225"/>
            <a:ext cx="4176713"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a:t>
            </a:r>
            <a:r>
              <a:rPr lang="zh-CN" altLang="en-US" sz="3200" dirty="0">
                <a:latin typeface="Times New Roman" panose="02020603050405020304" pitchFamily="18" charset="0"/>
              </a:rPr>
              <a:t>权电阻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grpSp>
        <p:nvGrpSpPr>
          <p:cNvPr id="38916" name="Group 4"/>
          <p:cNvGrpSpPr/>
          <p:nvPr/>
        </p:nvGrpSpPr>
        <p:grpSpPr>
          <a:xfrm>
            <a:off x="4319588" y="1665288"/>
            <a:ext cx="4697412" cy="4110037"/>
            <a:chOff x="2721" y="1344"/>
            <a:chExt cx="2959" cy="2589"/>
          </a:xfrm>
        </p:grpSpPr>
        <p:sp>
          <p:nvSpPr>
            <p:cNvPr id="38919" name="Rectangle 5"/>
            <p:cNvSpPr/>
            <p:nvPr/>
          </p:nvSpPr>
          <p:spPr>
            <a:xfrm>
              <a:off x="2721" y="1344"/>
              <a:ext cx="2959" cy="2562"/>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0" name="Line 6"/>
            <p:cNvSpPr/>
            <p:nvPr/>
          </p:nvSpPr>
          <p:spPr>
            <a:xfrm flipH="1">
              <a:off x="4410" y="2393"/>
              <a:ext cx="539" cy="0"/>
            </a:xfrm>
            <a:prstGeom prst="line">
              <a:avLst/>
            </a:prstGeom>
            <a:ln w="12700" cap="flat" cmpd="sng">
              <a:solidFill>
                <a:schemeClr val="accent2"/>
              </a:solidFill>
              <a:prstDash val="solid"/>
              <a:headEnd type="none" w="med" len="med"/>
              <a:tailEnd type="none" w="med" len="med"/>
            </a:ln>
          </p:spPr>
        </p:sp>
        <p:sp>
          <p:nvSpPr>
            <p:cNvPr id="38921" name="Rectangle 7"/>
            <p:cNvSpPr/>
            <p:nvPr/>
          </p:nvSpPr>
          <p:spPr>
            <a:xfrm>
              <a:off x="3525" y="1543"/>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2" name="Oval 8"/>
            <p:cNvSpPr/>
            <p:nvPr/>
          </p:nvSpPr>
          <p:spPr>
            <a:xfrm>
              <a:off x="3571"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3" name="Oval 9"/>
            <p:cNvSpPr/>
            <p:nvPr/>
          </p:nvSpPr>
          <p:spPr>
            <a:xfrm>
              <a:off x="3571" y="1758"/>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4" name="Oval 10"/>
            <p:cNvSpPr/>
            <p:nvPr/>
          </p:nvSpPr>
          <p:spPr>
            <a:xfrm>
              <a:off x="3820" y="166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5" name="Line 11"/>
            <p:cNvSpPr/>
            <p:nvPr/>
          </p:nvSpPr>
          <p:spPr>
            <a:xfrm>
              <a:off x="3865" y="1690"/>
              <a:ext cx="545" cy="0"/>
            </a:xfrm>
            <a:prstGeom prst="line">
              <a:avLst/>
            </a:prstGeom>
            <a:ln w="12700" cap="flat" cmpd="sng">
              <a:solidFill>
                <a:schemeClr val="accent2"/>
              </a:solidFill>
              <a:prstDash val="solid"/>
              <a:headEnd type="none" w="med" len="med"/>
              <a:tailEnd type="none" w="med" len="med"/>
            </a:ln>
          </p:spPr>
        </p:sp>
        <p:sp>
          <p:nvSpPr>
            <p:cNvPr id="38926" name="Line 12"/>
            <p:cNvSpPr/>
            <p:nvPr/>
          </p:nvSpPr>
          <p:spPr>
            <a:xfrm>
              <a:off x="3117" y="1599"/>
              <a:ext cx="454" cy="0"/>
            </a:xfrm>
            <a:prstGeom prst="line">
              <a:avLst/>
            </a:prstGeom>
            <a:ln w="12700" cap="flat" cmpd="sng">
              <a:solidFill>
                <a:schemeClr val="accent2"/>
              </a:solidFill>
              <a:prstDash val="solid"/>
              <a:headEnd type="none" w="med" len="med"/>
              <a:tailEnd type="none" w="med" len="med"/>
            </a:ln>
          </p:spPr>
        </p:sp>
        <p:sp>
          <p:nvSpPr>
            <p:cNvPr id="38927" name="Line 13"/>
            <p:cNvSpPr/>
            <p:nvPr/>
          </p:nvSpPr>
          <p:spPr>
            <a:xfrm>
              <a:off x="3435" y="1781"/>
              <a:ext cx="136" cy="0"/>
            </a:xfrm>
            <a:prstGeom prst="line">
              <a:avLst/>
            </a:prstGeom>
            <a:ln w="12700" cap="flat" cmpd="sng">
              <a:solidFill>
                <a:schemeClr val="accent2"/>
              </a:solidFill>
              <a:prstDash val="solid"/>
              <a:headEnd type="none" w="med" len="med"/>
              <a:tailEnd type="none" w="med" len="med"/>
            </a:ln>
          </p:spPr>
        </p:sp>
        <p:sp>
          <p:nvSpPr>
            <p:cNvPr id="38928" name="Rectangle 14"/>
            <p:cNvSpPr/>
            <p:nvPr/>
          </p:nvSpPr>
          <p:spPr>
            <a:xfrm>
              <a:off x="4070" y="166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29" name="Line 15"/>
            <p:cNvSpPr/>
            <p:nvPr/>
          </p:nvSpPr>
          <p:spPr>
            <a:xfrm flipH="1" flipV="1">
              <a:off x="3571" y="1622"/>
              <a:ext cx="249" cy="68"/>
            </a:xfrm>
            <a:prstGeom prst="line">
              <a:avLst/>
            </a:prstGeom>
            <a:ln w="19050" cap="flat" cmpd="sng">
              <a:solidFill>
                <a:srgbClr val="FF0000"/>
              </a:solidFill>
              <a:prstDash val="solid"/>
              <a:headEnd type="none" w="med" len="med"/>
              <a:tailEnd type="none" w="med" len="med"/>
            </a:ln>
          </p:spPr>
        </p:sp>
        <p:sp>
          <p:nvSpPr>
            <p:cNvPr id="38930" name="Line 16"/>
            <p:cNvSpPr/>
            <p:nvPr/>
          </p:nvSpPr>
          <p:spPr>
            <a:xfrm>
              <a:off x="3707" y="1667"/>
              <a:ext cx="0" cy="170"/>
            </a:xfrm>
            <a:prstGeom prst="line">
              <a:avLst/>
            </a:prstGeom>
            <a:ln w="12700" cap="flat" cmpd="sng">
              <a:solidFill>
                <a:srgbClr val="FF0000"/>
              </a:solidFill>
              <a:prstDash val="dash"/>
              <a:headEnd type="none" w="med" len="med"/>
              <a:tailEnd type="none" w="med" len="med"/>
            </a:ln>
          </p:spPr>
        </p:sp>
        <p:sp>
          <p:nvSpPr>
            <p:cNvPr id="38931" name="Line 17"/>
            <p:cNvSpPr/>
            <p:nvPr/>
          </p:nvSpPr>
          <p:spPr>
            <a:xfrm>
              <a:off x="3705" y="1837"/>
              <a:ext cx="0" cy="125"/>
            </a:xfrm>
            <a:prstGeom prst="line">
              <a:avLst/>
            </a:prstGeom>
            <a:ln w="12700" cap="flat" cmpd="sng">
              <a:solidFill>
                <a:srgbClr val="FF0000"/>
              </a:solidFill>
              <a:prstDash val="solid"/>
              <a:headEnd type="stealth" w="med" len="lg"/>
              <a:tailEnd type="none" w="med" len="med"/>
            </a:ln>
          </p:spPr>
        </p:sp>
        <p:sp>
          <p:nvSpPr>
            <p:cNvPr id="38932" name="Line 18"/>
            <p:cNvSpPr/>
            <p:nvPr/>
          </p:nvSpPr>
          <p:spPr>
            <a:xfrm flipH="1">
              <a:off x="3117" y="1962"/>
              <a:ext cx="590" cy="0"/>
            </a:xfrm>
            <a:prstGeom prst="line">
              <a:avLst/>
            </a:prstGeom>
            <a:ln w="12700" cap="flat" cmpd="sng">
              <a:solidFill>
                <a:srgbClr val="FF0000"/>
              </a:solidFill>
              <a:prstDash val="solid"/>
              <a:headEnd type="none" w="med" len="med"/>
              <a:tailEnd type="none" w="med" len="med"/>
            </a:ln>
          </p:spPr>
        </p:sp>
        <p:sp>
          <p:nvSpPr>
            <p:cNvPr id="38933" name="Text Box 19"/>
            <p:cNvSpPr txBox="1"/>
            <p:nvPr/>
          </p:nvSpPr>
          <p:spPr>
            <a:xfrm>
              <a:off x="3717" y="134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38934" name="Text Box 20"/>
            <p:cNvSpPr txBox="1"/>
            <p:nvPr/>
          </p:nvSpPr>
          <p:spPr>
            <a:xfrm>
              <a:off x="3979" y="1496"/>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-3</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8935" name="Rectangle 21"/>
            <p:cNvSpPr/>
            <p:nvPr/>
          </p:nvSpPr>
          <p:spPr>
            <a:xfrm>
              <a:off x="3525" y="2065"/>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36" name="Oval 22"/>
            <p:cNvSpPr/>
            <p:nvPr/>
          </p:nvSpPr>
          <p:spPr>
            <a:xfrm>
              <a:off x="3571" y="209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37" name="Oval 23"/>
            <p:cNvSpPr/>
            <p:nvPr/>
          </p:nvSpPr>
          <p:spPr>
            <a:xfrm>
              <a:off x="3571" y="2280"/>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38" name="Oval 24"/>
            <p:cNvSpPr/>
            <p:nvPr/>
          </p:nvSpPr>
          <p:spPr>
            <a:xfrm>
              <a:off x="3820" y="218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39" name="Line 25"/>
            <p:cNvSpPr/>
            <p:nvPr/>
          </p:nvSpPr>
          <p:spPr>
            <a:xfrm>
              <a:off x="3865" y="2212"/>
              <a:ext cx="545" cy="0"/>
            </a:xfrm>
            <a:prstGeom prst="line">
              <a:avLst/>
            </a:prstGeom>
            <a:ln w="12700" cap="flat" cmpd="sng">
              <a:solidFill>
                <a:schemeClr val="accent2"/>
              </a:solidFill>
              <a:prstDash val="solid"/>
              <a:headEnd type="none" w="med" len="med"/>
              <a:tailEnd type="none" w="med" len="med"/>
            </a:ln>
          </p:spPr>
        </p:sp>
        <p:sp>
          <p:nvSpPr>
            <p:cNvPr id="38940" name="Line 26"/>
            <p:cNvSpPr/>
            <p:nvPr/>
          </p:nvSpPr>
          <p:spPr>
            <a:xfrm>
              <a:off x="3276" y="2121"/>
              <a:ext cx="295" cy="0"/>
            </a:xfrm>
            <a:prstGeom prst="line">
              <a:avLst/>
            </a:prstGeom>
            <a:ln w="12700" cap="flat" cmpd="sng">
              <a:solidFill>
                <a:schemeClr val="accent2"/>
              </a:solidFill>
              <a:prstDash val="solid"/>
              <a:headEnd type="none" w="med" len="med"/>
              <a:tailEnd type="none" w="med" len="med"/>
            </a:ln>
          </p:spPr>
        </p:sp>
        <p:sp>
          <p:nvSpPr>
            <p:cNvPr id="38941" name="Line 27"/>
            <p:cNvSpPr/>
            <p:nvPr/>
          </p:nvSpPr>
          <p:spPr>
            <a:xfrm>
              <a:off x="3435" y="2303"/>
              <a:ext cx="136" cy="0"/>
            </a:xfrm>
            <a:prstGeom prst="line">
              <a:avLst/>
            </a:prstGeom>
            <a:ln w="12700" cap="flat" cmpd="sng">
              <a:solidFill>
                <a:schemeClr val="accent2"/>
              </a:solidFill>
              <a:prstDash val="solid"/>
              <a:headEnd type="none" w="med" len="med"/>
              <a:tailEnd type="none" w="med" len="med"/>
            </a:ln>
          </p:spPr>
        </p:sp>
        <p:sp>
          <p:nvSpPr>
            <p:cNvPr id="38942" name="Rectangle 28"/>
            <p:cNvSpPr/>
            <p:nvPr/>
          </p:nvSpPr>
          <p:spPr>
            <a:xfrm>
              <a:off x="4070" y="2189"/>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43" name="Line 29"/>
            <p:cNvSpPr/>
            <p:nvPr/>
          </p:nvSpPr>
          <p:spPr>
            <a:xfrm flipH="1" flipV="1">
              <a:off x="3571" y="2144"/>
              <a:ext cx="249" cy="68"/>
            </a:xfrm>
            <a:prstGeom prst="line">
              <a:avLst/>
            </a:prstGeom>
            <a:ln w="19050" cap="flat" cmpd="sng">
              <a:solidFill>
                <a:srgbClr val="FF0000"/>
              </a:solidFill>
              <a:prstDash val="solid"/>
              <a:headEnd type="none" w="med" len="med"/>
              <a:tailEnd type="none" w="med" len="med"/>
            </a:ln>
          </p:spPr>
        </p:sp>
        <p:sp>
          <p:nvSpPr>
            <p:cNvPr id="38944" name="Line 30"/>
            <p:cNvSpPr/>
            <p:nvPr/>
          </p:nvSpPr>
          <p:spPr>
            <a:xfrm>
              <a:off x="3707" y="2189"/>
              <a:ext cx="0" cy="170"/>
            </a:xfrm>
            <a:prstGeom prst="line">
              <a:avLst/>
            </a:prstGeom>
            <a:ln w="12700" cap="flat" cmpd="sng">
              <a:solidFill>
                <a:srgbClr val="FF0000"/>
              </a:solidFill>
              <a:prstDash val="dash"/>
              <a:headEnd type="none" w="med" len="med"/>
              <a:tailEnd type="none" w="med" len="med"/>
            </a:ln>
          </p:spPr>
        </p:sp>
        <p:sp>
          <p:nvSpPr>
            <p:cNvPr id="38945" name="Line 31"/>
            <p:cNvSpPr/>
            <p:nvPr/>
          </p:nvSpPr>
          <p:spPr>
            <a:xfrm>
              <a:off x="3705" y="2359"/>
              <a:ext cx="0" cy="125"/>
            </a:xfrm>
            <a:prstGeom prst="line">
              <a:avLst/>
            </a:prstGeom>
            <a:ln w="12700" cap="flat" cmpd="sng">
              <a:solidFill>
                <a:srgbClr val="FF0000"/>
              </a:solidFill>
              <a:prstDash val="solid"/>
              <a:headEnd type="stealth" w="med" len="lg"/>
              <a:tailEnd type="none" w="med" len="med"/>
            </a:ln>
          </p:spPr>
        </p:sp>
        <p:sp>
          <p:nvSpPr>
            <p:cNvPr id="38946" name="Line 32"/>
            <p:cNvSpPr/>
            <p:nvPr/>
          </p:nvSpPr>
          <p:spPr>
            <a:xfrm flipH="1">
              <a:off x="3117" y="2484"/>
              <a:ext cx="590" cy="0"/>
            </a:xfrm>
            <a:prstGeom prst="line">
              <a:avLst/>
            </a:prstGeom>
            <a:ln w="12700" cap="flat" cmpd="sng">
              <a:solidFill>
                <a:srgbClr val="FF0000"/>
              </a:solidFill>
              <a:prstDash val="solid"/>
              <a:headEnd type="none" w="med" len="med"/>
              <a:tailEnd type="none" w="med" len="med"/>
            </a:ln>
          </p:spPr>
        </p:sp>
        <p:sp>
          <p:nvSpPr>
            <p:cNvPr id="38947" name="Text Box 33"/>
            <p:cNvSpPr txBox="1"/>
            <p:nvPr/>
          </p:nvSpPr>
          <p:spPr>
            <a:xfrm>
              <a:off x="3721" y="1868"/>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38948" name="Text Box 34"/>
            <p:cNvSpPr txBox="1"/>
            <p:nvPr/>
          </p:nvSpPr>
          <p:spPr>
            <a:xfrm>
              <a:off x="3979" y="2018"/>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8949" name="Rectangle 35"/>
            <p:cNvSpPr/>
            <p:nvPr/>
          </p:nvSpPr>
          <p:spPr>
            <a:xfrm>
              <a:off x="3525" y="2590"/>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50" name="Oval 36"/>
            <p:cNvSpPr/>
            <p:nvPr/>
          </p:nvSpPr>
          <p:spPr>
            <a:xfrm>
              <a:off x="3571" y="262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51" name="Oval 37"/>
            <p:cNvSpPr/>
            <p:nvPr/>
          </p:nvSpPr>
          <p:spPr>
            <a:xfrm>
              <a:off x="3571" y="280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52" name="Oval 38"/>
            <p:cNvSpPr/>
            <p:nvPr/>
          </p:nvSpPr>
          <p:spPr>
            <a:xfrm>
              <a:off x="3820" y="271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53" name="Line 39"/>
            <p:cNvSpPr/>
            <p:nvPr/>
          </p:nvSpPr>
          <p:spPr>
            <a:xfrm>
              <a:off x="3865" y="2737"/>
              <a:ext cx="545" cy="0"/>
            </a:xfrm>
            <a:prstGeom prst="line">
              <a:avLst/>
            </a:prstGeom>
            <a:ln w="12700" cap="flat" cmpd="sng">
              <a:solidFill>
                <a:schemeClr val="accent2"/>
              </a:solidFill>
              <a:prstDash val="solid"/>
              <a:headEnd type="none" w="med" len="med"/>
              <a:tailEnd type="none" w="med" len="med"/>
            </a:ln>
          </p:spPr>
        </p:sp>
        <p:sp>
          <p:nvSpPr>
            <p:cNvPr id="38954" name="Line 40"/>
            <p:cNvSpPr/>
            <p:nvPr/>
          </p:nvSpPr>
          <p:spPr>
            <a:xfrm>
              <a:off x="3276" y="2646"/>
              <a:ext cx="295" cy="0"/>
            </a:xfrm>
            <a:prstGeom prst="line">
              <a:avLst/>
            </a:prstGeom>
            <a:ln w="12700" cap="flat" cmpd="sng">
              <a:solidFill>
                <a:schemeClr val="accent2"/>
              </a:solidFill>
              <a:prstDash val="solid"/>
              <a:headEnd type="none" w="med" len="med"/>
              <a:tailEnd type="none" w="med" len="med"/>
            </a:ln>
          </p:spPr>
        </p:sp>
        <p:sp>
          <p:nvSpPr>
            <p:cNvPr id="38955" name="Line 41"/>
            <p:cNvSpPr/>
            <p:nvPr/>
          </p:nvSpPr>
          <p:spPr>
            <a:xfrm>
              <a:off x="3435" y="2828"/>
              <a:ext cx="136" cy="0"/>
            </a:xfrm>
            <a:prstGeom prst="line">
              <a:avLst/>
            </a:prstGeom>
            <a:ln w="12700" cap="flat" cmpd="sng">
              <a:solidFill>
                <a:schemeClr val="accent2"/>
              </a:solidFill>
              <a:prstDash val="solid"/>
              <a:headEnd type="none" w="med" len="med"/>
              <a:tailEnd type="none" w="med" len="med"/>
            </a:ln>
          </p:spPr>
        </p:sp>
        <p:sp>
          <p:nvSpPr>
            <p:cNvPr id="38956" name="Rectangle 42"/>
            <p:cNvSpPr/>
            <p:nvPr/>
          </p:nvSpPr>
          <p:spPr>
            <a:xfrm>
              <a:off x="4070" y="2714"/>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57" name="Line 43"/>
            <p:cNvSpPr/>
            <p:nvPr/>
          </p:nvSpPr>
          <p:spPr>
            <a:xfrm flipH="1" flipV="1">
              <a:off x="3571" y="2669"/>
              <a:ext cx="249" cy="68"/>
            </a:xfrm>
            <a:prstGeom prst="line">
              <a:avLst/>
            </a:prstGeom>
            <a:ln w="19050" cap="flat" cmpd="sng">
              <a:solidFill>
                <a:srgbClr val="FF0000"/>
              </a:solidFill>
              <a:prstDash val="solid"/>
              <a:headEnd type="none" w="med" len="med"/>
              <a:tailEnd type="none" w="med" len="med"/>
            </a:ln>
          </p:spPr>
        </p:sp>
        <p:sp>
          <p:nvSpPr>
            <p:cNvPr id="38958" name="Line 44"/>
            <p:cNvSpPr/>
            <p:nvPr/>
          </p:nvSpPr>
          <p:spPr>
            <a:xfrm>
              <a:off x="3707" y="2714"/>
              <a:ext cx="0" cy="170"/>
            </a:xfrm>
            <a:prstGeom prst="line">
              <a:avLst/>
            </a:prstGeom>
            <a:ln w="12700" cap="flat" cmpd="sng">
              <a:solidFill>
                <a:srgbClr val="FF0000"/>
              </a:solidFill>
              <a:prstDash val="dash"/>
              <a:headEnd type="none" w="med" len="med"/>
              <a:tailEnd type="none" w="med" len="med"/>
            </a:ln>
          </p:spPr>
        </p:sp>
        <p:sp>
          <p:nvSpPr>
            <p:cNvPr id="38959" name="Line 45"/>
            <p:cNvSpPr/>
            <p:nvPr/>
          </p:nvSpPr>
          <p:spPr>
            <a:xfrm>
              <a:off x="3705" y="2884"/>
              <a:ext cx="0" cy="125"/>
            </a:xfrm>
            <a:prstGeom prst="line">
              <a:avLst/>
            </a:prstGeom>
            <a:ln w="12700" cap="flat" cmpd="sng">
              <a:solidFill>
                <a:srgbClr val="FF0000"/>
              </a:solidFill>
              <a:prstDash val="solid"/>
              <a:headEnd type="stealth" w="med" len="lg"/>
              <a:tailEnd type="none" w="med" len="med"/>
            </a:ln>
          </p:spPr>
        </p:sp>
        <p:sp>
          <p:nvSpPr>
            <p:cNvPr id="38960" name="Line 46"/>
            <p:cNvSpPr/>
            <p:nvPr/>
          </p:nvSpPr>
          <p:spPr>
            <a:xfrm flipH="1">
              <a:off x="3117" y="3009"/>
              <a:ext cx="590" cy="0"/>
            </a:xfrm>
            <a:prstGeom prst="line">
              <a:avLst/>
            </a:prstGeom>
            <a:ln w="12700" cap="flat" cmpd="sng">
              <a:solidFill>
                <a:srgbClr val="FF0000"/>
              </a:solidFill>
              <a:prstDash val="solid"/>
              <a:headEnd type="none" w="med" len="med"/>
              <a:tailEnd type="none" w="med" len="med"/>
            </a:ln>
          </p:spPr>
        </p:sp>
        <p:sp>
          <p:nvSpPr>
            <p:cNvPr id="38961" name="Text Box 47"/>
            <p:cNvSpPr txBox="1"/>
            <p:nvPr/>
          </p:nvSpPr>
          <p:spPr>
            <a:xfrm>
              <a:off x="3721" y="239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38962" name="Text Box 48"/>
            <p:cNvSpPr txBox="1"/>
            <p:nvPr/>
          </p:nvSpPr>
          <p:spPr>
            <a:xfrm>
              <a:off x="3979" y="2543"/>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-1</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8963" name="Rectangle 49"/>
            <p:cNvSpPr/>
            <p:nvPr/>
          </p:nvSpPr>
          <p:spPr>
            <a:xfrm>
              <a:off x="3525" y="3131"/>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64" name="Oval 50"/>
            <p:cNvSpPr/>
            <p:nvPr/>
          </p:nvSpPr>
          <p:spPr>
            <a:xfrm>
              <a:off x="3571" y="316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65" name="Oval 51"/>
            <p:cNvSpPr/>
            <p:nvPr/>
          </p:nvSpPr>
          <p:spPr>
            <a:xfrm>
              <a:off x="3571" y="334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66" name="Oval 52"/>
            <p:cNvSpPr/>
            <p:nvPr/>
          </p:nvSpPr>
          <p:spPr>
            <a:xfrm>
              <a:off x="3820" y="325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67" name="Line 53"/>
            <p:cNvSpPr/>
            <p:nvPr/>
          </p:nvSpPr>
          <p:spPr>
            <a:xfrm>
              <a:off x="3865" y="3278"/>
              <a:ext cx="545" cy="0"/>
            </a:xfrm>
            <a:prstGeom prst="line">
              <a:avLst/>
            </a:prstGeom>
            <a:ln w="12700" cap="flat" cmpd="sng">
              <a:solidFill>
                <a:schemeClr val="accent2"/>
              </a:solidFill>
              <a:prstDash val="solid"/>
              <a:headEnd type="none" w="med" len="med"/>
              <a:tailEnd type="none" w="med" len="med"/>
            </a:ln>
          </p:spPr>
        </p:sp>
        <p:sp>
          <p:nvSpPr>
            <p:cNvPr id="38968" name="Line 54"/>
            <p:cNvSpPr/>
            <p:nvPr/>
          </p:nvSpPr>
          <p:spPr>
            <a:xfrm>
              <a:off x="3276" y="3187"/>
              <a:ext cx="295" cy="0"/>
            </a:xfrm>
            <a:prstGeom prst="line">
              <a:avLst/>
            </a:prstGeom>
            <a:ln w="12700" cap="flat" cmpd="sng">
              <a:solidFill>
                <a:schemeClr val="accent2"/>
              </a:solidFill>
              <a:prstDash val="solid"/>
              <a:headEnd type="none" w="med" len="med"/>
              <a:tailEnd type="none" w="med" len="med"/>
            </a:ln>
          </p:spPr>
        </p:sp>
        <p:sp>
          <p:nvSpPr>
            <p:cNvPr id="38969" name="Line 55"/>
            <p:cNvSpPr/>
            <p:nvPr/>
          </p:nvSpPr>
          <p:spPr>
            <a:xfrm>
              <a:off x="3435" y="3369"/>
              <a:ext cx="136" cy="0"/>
            </a:xfrm>
            <a:prstGeom prst="line">
              <a:avLst/>
            </a:prstGeom>
            <a:ln w="12700" cap="flat" cmpd="sng">
              <a:solidFill>
                <a:schemeClr val="accent2"/>
              </a:solidFill>
              <a:prstDash val="solid"/>
              <a:headEnd type="none" w="med" len="med"/>
              <a:tailEnd type="none" w="med" len="med"/>
            </a:ln>
          </p:spPr>
        </p:sp>
        <p:sp>
          <p:nvSpPr>
            <p:cNvPr id="38970" name="Rectangle 56"/>
            <p:cNvSpPr/>
            <p:nvPr/>
          </p:nvSpPr>
          <p:spPr>
            <a:xfrm>
              <a:off x="4070" y="3255"/>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71" name="Line 57"/>
            <p:cNvSpPr/>
            <p:nvPr/>
          </p:nvSpPr>
          <p:spPr>
            <a:xfrm flipH="1" flipV="1">
              <a:off x="3571" y="3210"/>
              <a:ext cx="249" cy="68"/>
            </a:xfrm>
            <a:prstGeom prst="line">
              <a:avLst/>
            </a:prstGeom>
            <a:ln w="19050" cap="flat" cmpd="sng">
              <a:solidFill>
                <a:srgbClr val="FF0000"/>
              </a:solidFill>
              <a:prstDash val="solid"/>
              <a:headEnd type="none" w="med" len="med"/>
              <a:tailEnd type="none" w="med" len="med"/>
            </a:ln>
          </p:spPr>
        </p:sp>
        <p:sp>
          <p:nvSpPr>
            <p:cNvPr id="38972" name="Line 58"/>
            <p:cNvSpPr/>
            <p:nvPr/>
          </p:nvSpPr>
          <p:spPr>
            <a:xfrm>
              <a:off x="3707" y="3255"/>
              <a:ext cx="0" cy="170"/>
            </a:xfrm>
            <a:prstGeom prst="line">
              <a:avLst/>
            </a:prstGeom>
            <a:ln w="12700" cap="flat" cmpd="sng">
              <a:solidFill>
                <a:srgbClr val="FF0000"/>
              </a:solidFill>
              <a:prstDash val="dash"/>
              <a:headEnd type="none" w="med" len="med"/>
              <a:tailEnd type="none" w="med" len="med"/>
            </a:ln>
          </p:spPr>
        </p:sp>
        <p:sp>
          <p:nvSpPr>
            <p:cNvPr id="38973" name="Line 59"/>
            <p:cNvSpPr/>
            <p:nvPr/>
          </p:nvSpPr>
          <p:spPr>
            <a:xfrm>
              <a:off x="3705" y="3425"/>
              <a:ext cx="0" cy="125"/>
            </a:xfrm>
            <a:prstGeom prst="line">
              <a:avLst/>
            </a:prstGeom>
            <a:ln w="12700" cap="flat" cmpd="sng">
              <a:solidFill>
                <a:srgbClr val="FF0000"/>
              </a:solidFill>
              <a:prstDash val="solid"/>
              <a:headEnd type="stealth" w="med" len="lg"/>
              <a:tailEnd type="none" w="med" len="med"/>
            </a:ln>
          </p:spPr>
        </p:sp>
        <p:sp>
          <p:nvSpPr>
            <p:cNvPr id="38974" name="Line 60"/>
            <p:cNvSpPr/>
            <p:nvPr/>
          </p:nvSpPr>
          <p:spPr>
            <a:xfrm flipH="1">
              <a:off x="3117" y="3550"/>
              <a:ext cx="590" cy="0"/>
            </a:xfrm>
            <a:prstGeom prst="line">
              <a:avLst/>
            </a:prstGeom>
            <a:ln w="12700" cap="flat" cmpd="sng">
              <a:solidFill>
                <a:srgbClr val="FF0000"/>
              </a:solidFill>
              <a:prstDash val="solid"/>
              <a:headEnd type="none" w="med" len="med"/>
              <a:tailEnd type="none" w="med" len="med"/>
            </a:ln>
          </p:spPr>
        </p:sp>
        <p:sp>
          <p:nvSpPr>
            <p:cNvPr id="38975" name="Text Box 61"/>
            <p:cNvSpPr txBox="1"/>
            <p:nvPr/>
          </p:nvSpPr>
          <p:spPr>
            <a:xfrm>
              <a:off x="3721" y="2934"/>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38976" name="Text Box 62"/>
            <p:cNvSpPr txBox="1"/>
            <p:nvPr/>
          </p:nvSpPr>
          <p:spPr>
            <a:xfrm>
              <a:off x="3979" y="30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0</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38977" name="Line 63"/>
            <p:cNvSpPr/>
            <p:nvPr/>
          </p:nvSpPr>
          <p:spPr>
            <a:xfrm>
              <a:off x="4410" y="1693"/>
              <a:ext cx="0" cy="1588"/>
            </a:xfrm>
            <a:prstGeom prst="line">
              <a:avLst/>
            </a:prstGeom>
            <a:ln w="12700" cap="flat" cmpd="sng">
              <a:solidFill>
                <a:schemeClr val="accent2"/>
              </a:solidFill>
              <a:prstDash val="solid"/>
              <a:headEnd type="none" w="med" len="med"/>
              <a:tailEnd type="none" w="med" len="med"/>
            </a:ln>
          </p:spPr>
        </p:sp>
        <p:sp>
          <p:nvSpPr>
            <p:cNvPr id="38978" name="Line 64"/>
            <p:cNvSpPr/>
            <p:nvPr/>
          </p:nvSpPr>
          <p:spPr>
            <a:xfrm>
              <a:off x="3435" y="1781"/>
              <a:ext cx="0" cy="1841"/>
            </a:xfrm>
            <a:prstGeom prst="line">
              <a:avLst/>
            </a:prstGeom>
            <a:ln w="12700" cap="flat" cmpd="sng">
              <a:solidFill>
                <a:schemeClr val="accent2"/>
              </a:solidFill>
              <a:prstDash val="solid"/>
              <a:headEnd type="none" w="med" len="med"/>
              <a:tailEnd type="none" w="med" len="med"/>
            </a:ln>
          </p:spPr>
        </p:sp>
        <p:sp>
          <p:nvSpPr>
            <p:cNvPr id="38979" name="Line 65"/>
            <p:cNvSpPr/>
            <p:nvPr/>
          </p:nvSpPr>
          <p:spPr>
            <a:xfrm>
              <a:off x="3276" y="1599"/>
              <a:ext cx="0" cy="1588"/>
            </a:xfrm>
            <a:prstGeom prst="line">
              <a:avLst/>
            </a:prstGeom>
            <a:ln w="12700" cap="flat" cmpd="sng">
              <a:solidFill>
                <a:schemeClr val="accent2"/>
              </a:solidFill>
              <a:prstDash val="solid"/>
              <a:headEnd type="none" w="med" len="med"/>
              <a:tailEnd type="none" w="med" len="med"/>
            </a:ln>
          </p:spPr>
        </p:sp>
        <p:sp>
          <p:nvSpPr>
            <p:cNvPr id="38980" name="Oval 66"/>
            <p:cNvSpPr/>
            <p:nvPr/>
          </p:nvSpPr>
          <p:spPr>
            <a:xfrm>
              <a:off x="3072" y="1577"/>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81" name="Text Box 67"/>
            <p:cNvSpPr txBox="1"/>
            <p:nvPr/>
          </p:nvSpPr>
          <p:spPr>
            <a:xfrm>
              <a:off x="2804" y="1850"/>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38982" name="Text Box 68"/>
            <p:cNvSpPr txBox="1"/>
            <p:nvPr/>
          </p:nvSpPr>
          <p:spPr>
            <a:xfrm>
              <a:off x="2791" y="235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38983" name="Text Box 69"/>
            <p:cNvSpPr txBox="1"/>
            <p:nvPr/>
          </p:nvSpPr>
          <p:spPr>
            <a:xfrm>
              <a:off x="2798" y="2884"/>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38984" name="Text Box 70"/>
            <p:cNvSpPr txBox="1"/>
            <p:nvPr/>
          </p:nvSpPr>
          <p:spPr>
            <a:xfrm>
              <a:off x="2798" y="3425"/>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38985" name="Line 71"/>
            <p:cNvSpPr/>
            <p:nvPr/>
          </p:nvSpPr>
          <p:spPr>
            <a:xfrm>
              <a:off x="3354" y="3622"/>
              <a:ext cx="158" cy="0"/>
            </a:xfrm>
            <a:prstGeom prst="line">
              <a:avLst/>
            </a:prstGeom>
            <a:ln w="19050" cap="flat" cmpd="sng">
              <a:solidFill>
                <a:srgbClr val="000080"/>
              </a:solidFill>
              <a:prstDash val="solid"/>
              <a:headEnd type="none" w="med" len="med"/>
              <a:tailEnd type="none" w="med" len="med"/>
            </a:ln>
          </p:spPr>
        </p:sp>
        <p:sp>
          <p:nvSpPr>
            <p:cNvPr id="38986" name="Text Box 72"/>
            <p:cNvSpPr txBox="1"/>
            <p:nvPr/>
          </p:nvSpPr>
          <p:spPr>
            <a:xfrm>
              <a:off x="2721" y="1478"/>
              <a:ext cx="430"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38987" name="AutoShape 73"/>
            <p:cNvSpPr/>
            <p:nvPr/>
          </p:nvSpPr>
          <p:spPr>
            <a:xfrm rot="5400000">
              <a:off x="4849" y="2292"/>
              <a:ext cx="408" cy="43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88" name="Line 74"/>
            <p:cNvSpPr/>
            <p:nvPr/>
          </p:nvSpPr>
          <p:spPr>
            <a:xfrm flipH="1">
              <a:off x="4637" y="2624"/>
              <a:ext cx="199" cy="0"/>
            </a:xfrm>
            <a:prstGeom prst="line">
              <a:avLst/>
            </a:prstGeom>
            <a:ln w="12700" cap="flat" cmpd="sng">
              <a:solidFill>
                <a:schemeClr val="accent2"/>
              </a:solidFill>
              <a:prstDash val="solid"/>
              <a:headEnd type="none" w="med" len="med"/>
              <a:tailEnd type="none" w="med" len="med"/>
            </a:ln>
          </p:spPr>
        </p:sp>
        <p:sp>
          <p:nvSpPr>
            <p:cNvPr id="38989" name="Line 75"/>
            <p:cNvSpPr/>
            <p:nvPr/>
          </p:nvSpPr>
          <p:spPr>
            <a:xfrm>
              <a:off x="4637" y="2624"/>
              <a:ext cx="0" cy="226"/>
            </a:xfrm>
            <a:prstGeom prst="line">
              <a:avLst/>
            </a:prstGeom>
            <a:ln w="12700" cap="flat" cmpd="sng">
              <a:solidFill>
                <a:schemeClr val="accent2"/>
              </a:solidFill>
              <a:prstDash val="solid"/>
              <a:headEnd type="none" w="med" len="med"/>
              <a:tailEnd type="none" w="med" len="med"/>
            </a:ln>
          </p:spPr>
        </p:sp>
        <p:sp>
          <p:nvSpPr>
            <p:cNvPr id="38990" name="Line 76"/>
            <p:cNvSpPr/>
            <p:nvPr/>
          </p:nvSpPr>
          <p:spPr>
            <a:xfrm>
              <a:off x="4558" y="2850"/>
              <a:ext cx="158" cy="0"/>
            </a:xfrm>
            <a:prstGeom prst="line">
              <a:avLst/>
            </a:prstGeom>
            <a:ln w="19050" cap="flat" cmpd="sng">
              <a:solidFill>
                <a:srgbClr val="000080"/>
              </a:solidFill>
              <a:prstDash val="solid"/>
              <a:headEnd type="none" w="med" len="med"/>
              <a:tailEnd type="none" w="med" len="med"/>
            </a:ln>
          </p:spPr>
        </p:sp>
        <p:sp>
          <p:nvSpPr>
            <p:cNvPr id="38991" name="Line 77"/>
            <p:cNvSpPr/>
            <p:nvPr/>
          </p:nvSpPr>
          <p:spPr>
            <a:xfrm>
              <a:off x="4633" y="2121"/>
              <a:ext cx="0" cy="271"/>
            </a:xfrm>
            <a:prstGeom prst="line">
              <a:avLst/>
            </a:prstGeom>
            <a:ln w="12700" cap="flat" cmpd="sng">
              <a:solidFill>
                <a:schemeClr val="accent2"/>
              </a:solidFill>
              <a:prstDash val="solid"/>
              <a:headEnd type="none" w="med" len="med"/>
              <a:tailEnd type="none" w="med" len="med"/>
            </a:ln>
          </p:spPr>
        </p:sp>
        <p:sp>
          <p:nvSpPr>
            <p:cNvPr id="38992" name="Line 78"/>
            <p:cNvSpPr/>
            <p:nvPr/>
          </p:nvSpPr>
          <p:spPr>
            <a:xfrm>
              <a:off x="4633" y="2120"/>
              <a:ext cx="753" cy="1"/>
            </a:xfrm>
            <a:prstGeom prst="line">
              <a:avLst/>
            </a:prstGeom>
            <a:ln w="12700" cap="flat" cmpd="sng">
              <a:solidFill>
                <a:schemeClr val="accent2"/>
              </a:solidFill>
              <a:prstDash val="solid"/>
              <a:headEnd type="none" w="med" len="med"/>
              <a:tailEnd type="none" w="med" len="med"/>
            </a:ln>
          </p:spPr>
        </p:sp>
        <p:sp>
          <p:nvSpPr>
            <p:cNvPr id="38993" name="Line 79"/>
            <p:cNvSpPr/>
            <p:nvPr/>
          </p:nvSpPr>
          <p:spPr>
            <a:xfrm>
              <a:off x="5271" y="2509"/>
              <a:ext cx="205" cy="0"/>
            </a:xfrm>
            <a:prstGeom prst="line">
              <a:avLst/>
            </a:prstGeom>
            <a:ln w="12700" cap="flat" cmpd="sng">
              <a:solidFill>
                <a:schemeClr val="accent2"/>
              </a:solidFill>
              <a:prstDash val="solid"/>
              <a:headEnd type="none" w="med" len="med"/>
              <a:tailEnd type="none" w="med" len="med"/>
            </a:ln>
          </p:spPr>
        </p:sp>
        <p:sp>
          <p:nvSpPr>
            <p:cNvPr id="38994" name="Line 80"/>
            <p:cNvSpPr/>
            <p:nvPr/>
          </p:nvSpPr>
          <p:spPr>
            <a:xfrm>
              <a:off x="5386" y="2122"/>
              <a:ext cx="0" cy="387"/>
            </a:xfrm>
            <a:prstGeom prst="line">
              <a:avLst/>
            </a:prstGeom>
            <a:ln w="12700" cap="flat" cmpd="sng">
              <a:solidFill>
                <a:schemeClr val="accent2"/>
              </a:solidFill>
              <a:prstDash val="solid"/>
              <a:headEnd type="none" w="med" len="med"/>
              <a:tailEnd type="none" w="med" len="med"/>
            </a:ln>
          </p:spPr>
        </p:sp>
        <p:sp>
          <p:nvSpPr>
            <p:cNvPr id="38995" name="Rectangle 81"/>
            <p:cNvSpPr/>
            <p:nvPr/>
          </p:nvSpPr>
          <p:spPr>
            <a:xfrm>
              <a:off x="4909" y="209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96" name="Text Box 82"/>
            <p:cNvSpPr txBox="1"/>
            <p:nvPr/>
          </p:nvSpPr>
          <p:spPr>
            <a:xfrm>
              <a:off x="4861" y="1905"/>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38997" name="Text Box 83"/>
            <p:cNvSpPr txBox="1"/>
            <p:nvPr/>
          </p:nvSpPr>
          <p:spPr>
            <a:xfrm>
              <a:off x="5386" y="2303"/>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38998" name="Oval 84"/>
            <p:cNvSpPr/>
            <p:nvPr/>
          </p:nvSpPr>
          <p:spPr>
            <a:xfrm>
              <a:off x="5476" y="248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8999" name="Text Box 85"/>
            <p:cNvSpPr txBox="1"/>
            <p:nvPr/>
          </p:nvSpPr>
          <p:spPr>
            <a:xfrm>
              <a:off x="4800" y="2515"/>
              <a:ext cx="476"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39000" name="Rectangle 86"/>
            <p:cNvSpPr/>
            <p:nvPr/>
          </p:nvSpPr>
          <p:spPr>
            <a:xfrm>
              <a:off x="4804" y="2212"/>
              <a:ext cx="260" cy="214"/>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39001" name="Text Box 87"/>
            <p:cNvSpPr txBox="1"/>
            <p:nvPr/>
          </p:nvSpPr>
          <p:spPr>
            <a:xfrm>
              <a:off x="4932" y="2397"/>
              <a:ext cx="181"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39002" name="Oval 88"/>
            <p:cNvSpPr/>
            <p:nvPr/>
          </p:nvSpPr>
          <p:spPr>
            <a:xfrm>
              <a:off x="3264" y="210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3" name="Oval 89"/>
            <p:cNvSpPr/>
            <p:nvPr/>
          </p:nvSpPr>
          <p:spPr>
            <a:xfrm>
              <a:off x="3264" y="158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4" name="Oval 90"/>
            <p:cNvSpPr/>
            <p:nvPr/>
          </p:nvSpPr>
          <p:spPr>
            <a:xfrm>
              <a:off x="3264" y="263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5" name="Oval 91"/>
            <p:cNvSpPr/>
            <p:nvPr/>
          </p:nvSpPr>
          <p:spPr>
            <a:xfrm>
              <a:off x="3423" y="281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6" name="Oval 92"/>
            <p:cNvSpPr/>
            <p:nvPr/>
          </p:nvSpPr>
          <p:spPr>
            <a:xfrm>
              <a:off x="3423" y="229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7" name="Oval 93"/>
            <p:cNvSpPr/>
            <p:nvPr/>
          </p:nvSpPr>
          <p:spPr>
            <a:xfrm>
              <a:off x="3423" y="335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8" name="Oval 94"/>
            <p:cNvSpPr/>
            <p:nvPr/>
          </p:nvSpPr>
          <p:spPr>
            <a:xfrm>
              <a:off x="4398" y="219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09" name="Oval 95"/>
            <p:cNvSpPr/>
            <p:nvPr/>
          </p:nvSpPr>
          <p:spPr>
            <a:xfrm>
              <a:off x="4398" y="23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10" name="Oval 96"/>
            <p:cNvSpPr/>
            <p:nvPr/>
          </p:nvSpPr>
          <p:spPr>
            <a:xfrm>
              <a:off x="4398" y="2725"/>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11" name="Oval 97"/>
            <p:cNvSpPr/>
            <p:nvPr/>
          </p:nvSpPr>
          <p:spPr>
            <a:xfrm>
              <a:off x="4621" y="2381"/>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12" name="Oval 98"/>
            <p:cNvSpPr/>
            <p:nvPr/>
          </p:nvSpPr>
          <p:spPr>
            <a:xfrm>
              <a:off x="5374" y="249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39013" name="Text Box 99"/>
            <p:cNvSpPr txBox="1"/>
            <p:nvPr/>
          </p:nvSpPr>
          <p:spPr>
            <a:xfrm>
              <a:off x="3062" y="3702"/>
              <a:ext cx="2449"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四位权电阻</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转换器工作原理</a:t>
              </a:r>
              <a:endParaRPr lang="zh-CN" altLang="en-US" sz="2000" dirty="0">
                <a:solidFill>
                  <a:srgbClr val="000099"/>
                </a:solidFill>
                <a:latin typeface="Times New Roman" panose="02020603050405020304" pitchFamily="18" charset="0"/>
              </a:endParaRPr>
            </a:p>
          </p:txBody>
        </p:sp>
      </p:grpSp>
      <p:sp>
        <p:nvSpPr>
          <p:cNvPr id="2474091" name="Text Box 107"/>
          <p:cNvSpPr txBox="1"/>
          <p:nvPr/>
        </p:nvSpPr>
        <p:spPr>
          <a:xfrm>
            <a:off x="215900" y="1579563"/>
            <a:ext cx="4103688" cy="1954212"/>
          </a:xfrm>
          <a:prstGeom prst="rect">
            <a:avLst/>
          </a:prstGeom>
          <a:noFill/>
          <a:ln w="9525">
            <a:noFill/>
          </a:ln>
        </p:spPr>
        <p:txBody>
          <a:bodyPr>
            <a:spAutoFit/>
          </a:bodyPr>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latin typeface="Times New Roman" panose="02020603050405020304" pitchFamily="18" charset="0"/>
              </a:rPr>
              <a:t>当输入数码</a:t>
            </a:r>
            <a:r>
              <a:rPr lang="en-US" altLang="zh-CN" sz="2400" i="1" dirty="0">
                <a:solidFill>
                  <a:srgbClr val="FF0000"/>
                </a:solidFill>
                <a:latin typeface="Times New Roman" panose="02020603050405020304" pitchFamily="18" charset="0"/>
              </a:rPr>
              <a:t>D</a:t>
            </a:r>
            <a:r>
              <a:rPr lang="en-US" altLang="zh-CN" sz="2400" dirty="0">
                <a:solidFill>
                  <a:srgbClr val="FF0000"/>
                </a:solidFill>
                <a:latin typeface="Times New Roman" panose="02020603050405020304" pitchFamily="18" charset="0"/>
              </a:rPr>
              <a:t>=0</a:t>
            </a:r>
            <a:r>
              <a:rPr lang="zh-CN" altLang="en-US" sz="2400" dirty="0">
                <a:latin typeface="Times New Roman" panose="02020603050405020304" pitchFamily="18" charset="0"/>
              </a:rPr>
              <a:t>时，</a:t>
            </a:r>
            <a:endParaRPr lang="zh-CN" altLang="en-US" sz="2400" dirty="0">
              <a:latin typeface="Times New Roman" panose="02020603050405020304" pitchFamily="18" charset="0"/>
            </a:endParaRPr>
          </a:p>
          <a:p>
            <a:pPr eaLnBrk="1" hangingPunct="1">
              <a:lnSpc>
                <a:spcPct val="90000"/>
              </a:lnSpc>
              <a:spcBef>
                <a:spcPct val="50000"/>
              </a:spcBef>
            </a:pPr>
            <a:r>
              <a:rPr lang="zh-CN" altLang="en-US" sz="2400" dirty="0">
                <a:latin typeface="Times New Roman" panose="02020603050405020304" pitchFamily="18" charset="0"/>
              </a:rPr>
              <a:t>         </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O</a:t>
            </a:r>
            <a:r>
              <a:rPr lang="en-US" altLang="zh-CN" sz="2400" dirty="0">
                <a:solidFill>
                  <a:srgbClr val="FF0000"/>
                </a:solidFill>
                <a:latin typeface="Times New Roman" panose="02020603050405020304" pitchFamily="18" charset="0"/>
              </a:rPr>
              <a:t>=0</a:t>
            </a:r>
            <a:endParaRPr lang="en-US" altLang="zh-CN" sz="2400" dirty="0">
              <a:latin typeface="Times New Roman" panose="02020603050405020304" pitchFamily="18" charset="0"/>
            </a:endParaRPr>
          </a:p>
          <a:p>
            <a:pPr eaLnBrk="1" hangingPunct="1">
              <a:lnSpc>
                <a:spcPct val="90000"/>
              </a:lnSpc>
              <a:spcBef>
                <a:spcPct val="50000"/>
              </a:spcBef>
              <a:buClr>
                <a:srgbClr val="FF0000"/>
              </a:buClr>
              <a:buFont typeface="Wingdings" panose="05000000000000000000" pitchFamily="2" charset="2"/>
              <a:buChar char="u"/>
            </a:pPr>
            <a:r>
              <a:rPr lang="en-US" altLang="zh-CN" sz="2400" dirty="0">
                <a:latin typeface="Times New Roman" panose="02020603050405020304" pitchFamily="18" charset="0"/>
              </a:rPr>
              <a:t> </a:t>
            </a:r>
            <a:r>
              <a:rPr lang="zh-CN" altLang="en-US" sz="2400" dirty="0">
                <a:latin typeface="Times New Roman" panose="02020603050405020304" pitchFamily="18" charset="0"/>
              </a:rPr>
              <a:t>当输入数码</a:t>
            </a:r>
            <a:r>
              <a:rPr lang="en-US" altLang="zh-CN" sz="2400" i="1" dirty="0">
                <a:solidFill>
                  <a:srgbClr val="FF0000"/>
                </a:solidFill>
                <a:latin typeface="Times New Roman" panose="02020603050405020304" pitchFamily="18" charset="0"/>
              </a:rPr>
              <a:t>D</a:t>
            </a:r>
            <a:r>
              <a:rPr lang="en-US" altLang="zh-CN" sz="2400" dirty="0">
                <a:solidFill>
                  <a:srgbClr val="FF0000"/>
                </a:solidFill>
                <a:latin typeface="Times New Roman" panose="02020603050405020304" pitchFamily="18" charset="0"/>
              </a:rPr>
              <a:t>=111…1</a:t>
            </a:r>
            <a:r>
              <a:rPr lang="zh-CN" altLang="en-US" sz="2400" dirty="0">
                <a:latin typeface="Times New Roman" panose="02020603050405020304" pitchFamily="18" charset="0"/>
              </a:rPr>
              <a:t>时，</a:t>
            </a:r>
            <a:endParaRPr lang="zh-CN" altLang="en-US" sz="2400" dirty="0">
              <a:latin typeface="Times New Roman" panose="02020603050405020304" pitchFamily="18" charset="0"/>
            </a:endParaRPr>
          </a:p>
          <a:p>
            <a:pPr eaLnBrk="1" hangingPunct="1">
              <a:lnSpc>
                <a:spcPct val="90000"/>
              </a:lnSpc>
              <a:spcBef>
                <a:spcPct val="50000"/>
              </a:spcBef>
            </a:pPr>
            <a:r>
              <a:rPr lang="zh-CN" altLang="en-US" sz="2400" dirty="0">
                <a:latin typeface="Times New Roman" panose="02020603050405020304" pitchFamily="18" charset="0"/>
              </a:rPr>
              <a:t>         </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O</a:t>
            </a:r>
            <a:r>
              <a:rPr lang="en-US" altLang="zh-CN" sz="2400" dirty="0">
                <a:solidFill>
                  <a:srgbClr val="FF0000"/>
                </a:solidFill>
                <a:latin typeface="Times New Roman" panose="02020603050405020304" pitchFamily="18" charset="0"/>
              </a:rPr>
              <a:t>=-(2</a:t>
            </a:r>
            <a:r>
              <a:rPr lang="en-US" altLang="zh-CN" sz="2400" i="1" baseline="30000" dirty="0">
                <a:solidFill>
                  <a:srgbClr val="FF0000"/>
                </a:solidFill>
                <a:latin typeface="Times New Roman" panose="02020603050405020304" pitchFamily="18" charset="0"/>
              </a:rPr>
              <a:t>n</a:t>
            </a:r>
            <a:r>
              <a:rPr lang="en-US" altLang="zh-CN" sz="2400" dirty="0">
                <a:solidFill>
                  <a:srgbClr val="FF0000"/>
                </a:solidFill>
                <a:latin typeface="Times New Roman" panose="02020603050405020304" pitchFamily="18" charset="0"/>
              </a:rPr>
              <a:t>-1)</a:t>
            </a:r>
            <a:r>
              <a:rPr lang="en-US" altLang="zh-CN" sz="2400" i="1" dirty="0">
                <a:solidFill>
                  <a:srgbClr val="FF0000"/>
                </a:solidFill>
                <a:latin typeface="Times New Roman" panose="02020603050405020304" pitchFamily="18" charset="0"/>
              </a:rPr>
              <a:t>U</a:t>
            </a:r>
            <a:r>
              <a:rPr lang="en-US" altLang="zh-CN" sz="2400" baseline="-25000" dirty="0">
                <a:solidFill>
                  <a:srgbClr val="FF0000"/>
                </a:solidFill>
                <a:latin typeface="Times New Roman" panose="02020603050405020304" pitchFamily="18" charset="0"/>
              </a:rPr>
              <a:t>REF</a:t>
            </a:r>
            <a:r>
              <a:rPr lang="en-US" altLang="zh-CN" sz="2400" dirty="0">
                <a:solidFill>
                  <a:srgbClr val="FF0000"/>
                </a:solidFill>
                <a:latin typeface="Times New Roman" panose="02020603050405020304" pitchFamily="18" charset="0"/>
              </a:rPr>
              <a:t>/2</a:t>
            </a:r>
            <a:r>
              <a:rPr lang="en-US" altLang="zh-CN" sz="2400" i="1" baseline="30000" dirty="0">
                <a:solidFill>
                  <a:srgbClr val="FF0000"/>
                </a:solidFill>
                <a:latin typeface="Times New Roman" panose="02020603050405020304" pitchFamily="18" charset="0"/>
              </a:rPr>
              <a:t>n</a:t>
            </a:r>
            <a:endParaRPr lang="en-US" altLang="zh-CN" sz="2400" dirty="0">
              <a:solidFill>
                <a:schemeClr val="accent2"/>
              </a:solidFill>
              <a:latin typeface="Times New Roman" panose="02020603050405020304" pitchFamily="18" charset="0"/>
            </a:endParaRPr>
          </a:p>
        </p:txBody>
      </p:sp>
      <p:sp>
        <p:nvSpPr>
          <p:cNvPr id="2474092" name="Text Box 108"/>
          <p:cNvSpPr txBox="1"/>
          <p:nvPr/>
        </p:nvSpPr>
        <p:spPr>
          <a:xfrm>
            <a:off x="231775" y="3779838"/>
            <a:ext cx="3887788" cy="2085975"/>
          </a:xfrm>
          <a:prstGeom prst="rect">
            <a:avLst/>
          </a:prstGeom>
          <a:solidFill>
            <a:srgbClr val="CCFFFF"/>
          </a:solidFill>
          <a:ln w="9525">
            <a:noFill/>
          </a:ln>
        </p:spPr>
        <p:txBody>
          <a:bodyPr>
            <a:spAutoFit/>
          </a:bodyPr>
          <a:p>
            <a:pPr marL="895350" indent="-895350" eaLnBrk="1" hangingPunct="1">
              <a:lnSpc>
                <a:spcPct val="90000"/>
              </a:lnSpc>
              <a:spcBef>
                <a:spcPct val="50000"/>
              </a:spcBef>
            </a:pPr>
            <a:r>
              <a:rPr lang="zh-CN" altLang="en-US" sz="2400" dirty="0">
                <a:solidFill>
                  <a:srgbClr val="FF0000"/>
                </a:solidFill>
                <a:latin typeface="Times New Roman" panose="02020603050405020304" pitchFamily="18" charset="0"/>
              </a:rPr>
              <a:t>缺陷：</a:t>
            </a:r>
            <a:r>
              <a:rPr lang="zh-CN" altLang="en-US" sz="2400" dirty="0">
                <a:solidFill>
                  <a:schemeClr val="tx1"/>
                </a:solidFill>
                <a:latin typeface="Times New Roman" panose="02020603050405020304" pitchFamily="18" charset="0"/>
              </a:rPr>
              <a:t>权电阻网络中各个电阻的阻值相差太大，而为了保证输出电压的精度，又要求电阻值很精确，这给制造芯片带来困难。</a:t>
            </a:r>
            <a:endParaRPr lang="zh-CN" altLang="en-US" sz="2400" dirty="0">
              <a:solidFill>
                <a:schemeClr val="tx1"/>
              </a:solidFill>
              <a:latin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74091">
                                            <p:txEl>
                                              <p:charRg st="0" end="12"/>
                                            </p:txEl>
                                          </p:spTgt>
                                        </p:tgtEl>
                                        <p:attrNameLst>
                                          <p:attrName>style.visibility</p:attrName>
                                        </p:attrNameLst>
                                      </p:cBhvr>
                                      <p:to>
                                        <p:strVal val="visible"/>
                                      </p:to>
                                    </p:set>
                                    <p:animEffect transition="in" filter="dissolve">
                                      <p:cBhvr>
                                        <p:cTn id="7" dur="500"/>
                                        <p:tgtEl>
                                          <p:spTgt spid="2474091">
                                            <p:txEl>
                                              <p:charRg st="0" end="1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74091">
                                            <p:txEl>
                                              <p:charRg st="12" end="26"/>
                                            </p:txEl>
                                          </p:spTgt>
                                        </p:tgtEl>
                                        <p:attrNameLst>
                                          <p:attrName>style.visibility</p:attrName>
                                        </p:attrNameLst>
                                      </p:cBhvr>
                                      <p:to>
                                        <p:strVal val="visible"/>
                                      </p:to>
                                    </p:set>
                                    <p:animEffect transition="in" filter="dissolve">
                                      <p:cBhvr>
                                        <p:cTn id="10" dur="500"/>
                                        <p:tgtEl>
                                          <p:spTgt spid="2474091">
                                            <p:txEl>
                                              <p:charRg st="12" end="2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74091">
                                            <p:txEl>
                                              <p:charRg st="26" end="42"/>
                                            </p:txEl>
                                          </p:spTgt>
                                        </p:tgtEl>
                                        <p:attrNameLst>
                                          <p:attrName>style.visibility</p:attrName>
                                        </p:attrNameLst>
                                      </p:cBhvr>
                                      <p:to>
                                        <p:strVal val="visible"/>
                                      </p:to>
                                    </p:set>
                                    <p:animEffect transition="in" filter="dissolve">
                                      <p:cBhvr>
                                        <p:cTn id="15" dur="500"/>
                                        <p:tgtEl>
                                          <p:spTgt spid="2474091">
                                            <p:txEl>
                                              <p:charRg st="26" end="4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474091">
                                            <p:txEl>
                                              <p:charRg st="42" end="69"/>
                                            </p:txEl>
                                          </p:spTgt>
                                        </p:tgtEl>
                                        <p:attrNameLst>
                                          <p:attrName>style.visibility</p:attrName>
                                        </p:attrNameLst>
                                      </p:cBhvr>
                                      <p:to>
                                        <p:strVal val="visible"/>
                                      </p:to>
                                    </p:set>
                                    <p:animEffect transition="in" filter="dissolve">
                                      <p:cBhvr>
                                        <p:cTn id="18" dur="500"/>
                                        <p:tgtEl>
                                          <p:spTgt spid="2474091">
                                            <p:txEl>
                                              <p:charRg st="42" end="69"/>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474092"/>
                                        </p:tgtEl>
                                        <p:attrNameLst>
                                          <p:attrName>style.visibility</p:attrName>
                                        </p:attrNameLst>
                                      </p:cBhvr>
                                      <p:to>
                                        <p:strVal val="visible"/>
                                      </p:to>
                                    </p:set>
                                    <p:animEffect transition="in" filter="dissolve">
                                      <p:cBhvr>
                                        <p:cTn id="23" dur="500"/>
                                        <p:tgtEl>
                                          <p:spTgt spid="24740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4092" grpId="0" bldLvl="0"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6034"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76035" name="Rectangle 3"/>
          <p:cNvSpPr/>
          <p:nvPr/>
        </p:nvSpPr>
        <p:spPr>
          <a:xfrm>
            <a:off x="431800" y="657225"/>
            <a:ext cx="44291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T</a:t>
            </a:r>
            <a:r>
              <a:rPr lang="zh-CN" altLang="en-US" sz="3200" dirty="0">
                <a:latin typeface="Times New Roman" panose="02020603050405020304" pitchFamily="18" charset="0"/>
              </a:rPr>
              <a:t>型电阻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grpSp>
        <p:nvGrpSpPr>
          <p:cNvPr id="2476262" name="Group 230"/>
          <p:cNvGrpSpPr/>
          <p:nvPr/>
        </p:nvGrpSpPr>
        <p:grpSpPr>
          <a:xfrm>
            <a:off x="1260475" y="1341438"/>
            <a:ext cx="6624638" cy="3409950"/>
            <a:chOff x="794" y="845"/>
            <a:chExt cx="4173" cy="2148"/>
          </a:xfrm>
        </p:grpSpPr>
        <p:sp>
          <p:nvSpPr>
            <p:cNvPr id="40970" name="Rectangle 218"/>
            <p:cNvSpPr/>
            <p:nvPr/>
          </p:nvSpPr>
          <p:spPr>
            <a:xfrm>
              <a:off x="794" y="845"/>
              <a:ext cx="4173" cy="2148"/>
            </a:xfrm>
            <a:prstGeom prst="rect">
              <a:avLst/>
            </a:prstGeom>
            <a:solidFill>
              <a:srgbClr val="FFFF99"/>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71" name="Line 167"/>
            <p:cNvSpPr/>
            <p:nvPr/>
          </p:nvSpPr>
          <p:spPr>
            <a:xfrm rot="-5400000">
              <a:off x="2883" y="793"/>
              <a:ext cx="1" cy="2443"/>
            </a:xfrm>
            <a:prstGeom prst="line">
              <a:avLst/>
            </a:prstGeom>
            <a:ln w="12700" cap="flat" cmpd="sng">
              <a:solidFill>
                <a:schemeClr val="accent2"/>
              </a:solidFill>
              <a:prstDash val="solid"/>
              <a:headEnd type="none" w="med" len="med"/>
              <a:tailEnd type="none" w="med" len="med"/>
            </a:ln>
          </p:spPr>
        </p:sp>
        <p:sp>
          <p:nvSpPr>
            <p:cNvPr id="40972" name="Line 168"/>
            <p:cNvSpPr/>
            <p:nvPr/>
          </p:nvSpPr>
          <p:spPr>
            <a:xfrm rot="-5400000">
              <a:off x="2757" y="971"/>
              <a:ext cx="0" cy="2554"/>
            </a:xfrm>
            <a:prstGeom prst="line">
              <a:avLst/>
            </a:prstGeom>
            <a:ln w="12700" cap="flat" cmpd="sng">
              <a:solidFill>
                <a:schemeClr val="accent2"/>
              </a:solidFill>
              <a:prstDash val="solid"/>
              <a:headEnd type="none" w="med" len="med"/>
              <a:tailEnd type="none" w="med" len="med"/>
            </a:ln>
          </p:spPr>
        </p:sp>
        <p:sp>
          <p:nvSpPr>
            <p:cNvPr id="40973" name="Oval 169"/>
            <p:cNvSpPr/>
            <p:nvPr/>
          </p:nvSpPr>
          <p:spPr>
            <a:xfrm>
              <a:off x="1281" y="1019"/>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74" name="Line 174"/>
            <p:cNvSpPr/>
            <p:nvPr/>
          </p:nvSpPr>
          <p:spPr>
            <a:xfrm>
              <a:off x="3554" y="1480"/>
              <a:ext cx="158" cy="0"/>
            </a:xfrm>
            <a:prstGeom prst="line">
              <a:avLst/>
            </a:prstGeom>
            <a:ln w="19050" cap="flat" cmpd="sng">
              <a:solidFill>
                <a:srgbClr val="000080"/>
              </a:solidFill>
              <a:prstDash val="solid"/>
              <a:headEnd type="none" w="med" len="med"/>
              <a:tailEnd type="none" w="med" len="med"/>
            </a:ln>
          </p:spPr>
        </p:sp>
        <p:sp>
          <p:nvSpPr>
            <p:cNvPr id="40975" name="Text Box 175"/>
            <p:cNvSpPr txBox="1"/>
            <p:nvPr/>
          </p:nvSpPr>
          <p:spPr>
            <a:xfrm>
              <a:off x="930" y="920"/>
              <a:ext cx="430"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40976" name="AutoShape 176"/>
            <p:cNvSpPr/>
            <p:nvPr/>
          </p:nvSpPr>
          <p:spPr>
            <a:xfrm rot="5400000">
              <a:off x="4022" y="1914"/>
              <a:ext cx="408" cy="435"/>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77" name="Line 178"/>
            <p:cNvSpPr/>
            <p:nvPr/>
          </p:nvSpPr>
          <p:spPr>
            <a:xfrm>
              <a:off x="3810" y="2246"/>
              <a:ext cx="0" cy="226"/>
            </a:xfrm>
            <a:prstGeom prst="line">
              <a:avLst/>
            </a:prstGeom>
            <a:ln w="12700" cap="flat" cmpd="sng">
              <a:solidFill>
                <a:schemeClr val="accent2"/>
              </a:solidFill>
              <a:prstDash val="solid"/>
              <a:headEnd type="none" w="med" len="med"/>
              <a:tailEnd type="none" w="med" len="med"/>
            </a:ln>
          </p:spPr>
        </p:sp>
        <p:sp>
          <p:nvSpPr>
            <p:cNvPr id="40978" name="Line 179"/>
            <p:cNvSpPr/>
            <p:nvPr/>
          </p:nvSpPr>
          <p:spPr>
            <a:xfrm>
              <a:off x="3731" y="2472"/>
              <a:ext cx="158" cy="0"/>
            </a:xfrm>
            <a:prstGeom prst="line">
              <a:avLst/>
            </a:prstGeom>
            <a:ln w="19050" cap="flat" cmpd="sng">
              <a:solidFill>
                <a:srgbClr val="000080"/>
              </a:solidFill>
              <a:prstDash val="solid"/>
              <a:headEnd type="none" w="med" len="med"/>
              <a:tailEnd type="none" w="med" len="med"/>
            </a:ln>
          </p:spPr>
        </p:sp>
        <p:sp>
          <p:nvSpPr>
            <p:cNvPr id="40979" name="Line 180"/>
            <p:cNvSpPr/>
            <p:nvPr/>
          </p:nvSpPr>
          <p:spPr>
            <a:xfrm>
              <a:off x="3806" y="1743"/>
              <a:ext cx="0" cy="271"/>
            </a:xfrm>
            <a:prstGeom prst="line">
              <a:avLst/>
            </a:prstGeom>
            <a:ln w="12700" cap="flat" cmpd="sng">
              <a:solidFill>
                <a:schemeClr val="accent2"/>
              </a:solidFill>
              <a:prstDash val="solid"/>
              <a:headEnd type="none" w="med" len="med"/>
              <a:tailEnd type="none" w="med" len="med"/>
            </a:ln>
          </p:spPr>
        </p:sp>
        <p:sp>
          <p:nvSpPr>
            <p:cNvPr id="40980" name="Line 181"/>
            <p:cNvSpPr/>
            <p:nvPr/>
          </p:nvSpPr>
          <p:spPr>
            <a:xfrm>
              <a:off x="3806" y="1742"/>
              <a:ext cx="753" cy="1"/>
            </a:xfrm>
            <a:prstGeom prst="line">
              <a:avLst/>
            </a:prstGeom>
            <a:ln w="12700" cap="flat" cmpd="sng">
              <a:solidFill>
                <a:schemeClr val="accent2"/>
              </a:solidFill>
              <a:prstDash val="solid"/>
              <a:headEnd type="none" w="med" len="med"/>
              <a:tailEnd type="none" w="med" len="med"/>
            </a:ln>
          </p:spPr>
        </p:sp>
        <p:sp>
          <p:nvSpPr>
            <p:cNvPr id="40981" name="Line 182"/>
            <p:cNvSpPr/>
            <p:nvPr/>
          </p:nvSpPr>
          <p:spPr>
            <a:xfrm>
              <a:off x="4444" y="2131"/>
              <a:ext cx="205" cy="0"/>
            </a:xfrm>
            <a:prstGeom prst="line">
              <a:avLst/>
            </a:prstGeom>
            <a:ln w="12700" cap="flat" cmpd="sng">
              <a:solidFill>
                <a:schemeClr val="accent2"/>
              </a:solidFill>
              <a:prstDash val="solid"/>
              <a:headEnd type="none" w="med" len="med"/>
              <a:tailEnd type="none" w="med" len="med"/>
            </a:ln>
          </p:spPr>
        </p:sp>
        <p:sp>
          <p:nvSpPr>
            <p:cNvPr id="40982" name="Line 183"/>
            <p:cNvSpPr/>
            <p:nvPr/>
          </p:nvSpPr>
          <p:spPr>
            <a:xfrm>
              <a:off x="4559" y="1744"/>
              <a:ext cx="0" cy="387"/>
            </a:xfrm>
            <a:prstGeom prst="line">
              <a:avLst/>
            </a:prstGeom>
            <a:ln w="12700" cap="flat" cmpd="sng">
              <a:solidFill>
                <a:schemeClr val="accent2"/>
              </a:solidFill>
              <a:prstDash val="solid"/>
              <a:headEnd type="none" w="med" len="med"/>
              <a:tailEnd type="none" w="med" len="med"/>
            </a:ln>
          </p:spPr>
        </p:sp>
        <p:sp>
          <p:nvSpPr>
            <p:cNvPr id="40983" name="Rectangle 184"/>
            <p:cNvSpPr/>
            <p:nvPr/>
          </p:nvSpPr>
          <p:spPr>
            <a:xfrm>
              <a:off x="4082" y="1719"/>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84" name="Text Box 185"/>
            <p:cNvSpPr txBox="1"/>
            <p:nvPr/>
          </p:nvSpPr>
          <p:spPr>
            <a:xfrm>
              <a:off x="4034" y="1527"/>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40985" name="Text Box 186"/>
            <p:cNvSpPr txBox="1"/>
            <p:nvPr/>
          </p:nvSpPr>
          <p:spPr>
            <a:xfrm>
              <a:off x="4559" y="1925"/>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40986" name="Oval 187"/>
            <p:cNvSpPr/>
            <p:nvPr/>
          </p:nvSpPr>
          <p:spPr>
            <a:xfrm>
              <a:off x="4649" y="210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87" name="Text Box 188"/>
            <p:cNvSpPr txBox="1"/>
            <p:nvPr/>
          </p:nvSpPr>
          <p:spPr>
            <a:xfrm>
              <a:off x="3973" y="2137"/>
              <a:ext cx="476"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40988" name="Rectangle 189"/>
            <p:cNvSpPr/>
            <p:nvPr/>
          </p:nvSpPr>
          <p:spPr>
            <a:xfrm>
              <a:off x="3977" y="1834"/>
              <a:ext cx="260" cy="214"/>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40989" name="Text Box 190"/>
            <p:cNvSpPr txBox="1"/>
            <p:nvPr/>
          </p:nvSpPr>
          <p:spPr>
            <a:xfrm>
              <a:off x="4105" y="2019"/>
              <a:ext cx="181"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40990" name="Rectangle 110"/>
            <p:cNvSpPr/>
            <p:nvPr/>
          </p:nvSpPr>
          <p:spPr>
            <a:xfrm rot="-5400000">
              <a:off x="1378" y="1586"/>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91" name="Oval 111"/>
            <p:cNvSpPr/>
            <p:nvPr/>
          </p:nvSpPr>
          <p:spPr>
            <a:xfrm rot="-5400000">
              <a:off x="1458"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92" name="Oval 112"/>
            <p:cNvSpPr/>
            <p:nvPr/>
          </p:nvSpPr>
          <p:spPr>
            <a:xfrm rot="-5400000">
              <a:off x="1639"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93" name="Oval 113"/>
            <p:cNvSpPr/>
            <p:nvPr/>
          </p:nvSpPr>
          <p:spPr>
            <a:xfrm rot="-5400000">
              <a:off x="1548" y="158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94" name="Line 114"/>
            <p:cNvSpPr/>
            <p:nvPr/>
          </p:nvSpPr>
          <p:spPr>
            <a:xfrm rot="-5400000">
              <a:off x="1297" y="1312"/>
              <a:ext cx="545" cy="0"/>
            </a:xfrm>
            <a:prstGeom prst="line">
              <a:avLst/>
            </a:prstGeom>
            <a:ln w="12700" cap="flat" cmpd="sng">
              <a:solidFill>
                <a:schemeClr val="accent2"/>
              </a:solidFill>
              <a:prstDash val="solid"/>
              <a:headEnd type="none" w="med" len="med"/>
              <a:tailEnd type="none" w="med" len="med"/>
            </a:ln>
          </p:spPr>
        </p:sp>
        <p:sp>
          <p:nvSpPr>
            <p:cNvPr id="40995" name="Line 115"/>
            <p:cNvSpPr/>
            <p:nvPr/>
          </p:nvSpPr>
          <p:spPr>
            <a:xfrm rot="-5400000">
              <a:off x="1297" y="2063"/>
              <a:ext cx="366" cy="0"/>
            </a:xfrm>
            <a:prstGeom prst="line">
              <a:avLst/>
            </a:prstGeom>
            <a:ln w="12700" cap="flat" cmpd="sng">
              <a:solidFill>
                <a:schemeClr val="accent2"/>
              </a:solidFill>
              <a:prstDash val="solid"/>
              <a:headEnd type="none" w="med" len="med"/>
              <a:tailEnd type="none" w="med" len="med"/>
            </a:ln>
          </p:spPr>
        </p:sp>
        <p:sp>
          <p:nvSpPr>
            <p:cNvPr id="40996" name="Line 116"/>
            <p:cNvSpPr/>
            <p:nvPr/>
          </p:nvSpPr>
          <p:spPr>
            <a:xfrm rot="-5400000">
              <a:off x="1594" y="1948"/>
              <a:ext cx="136" cy="0"/>
            </a:xfrm>
            <a:prstGeom prst="line">
              <a:avLst/>
            </a:prstGeom>
            <a:ln w="12700" cap="flat" cmpd="sng">
              <a:solidFill>
                <a:schemeClr val="accent2"/>
              </a:solidFill>
              <a:prstDash val="solid"/>
              <a:headEnd type="none" w="med" len="med"/>
              <a:tailEnd type="none" w="med" len="med"/>
            </a:ln>
          </p:spPr>
        </p:sp>
        <p:sp>
          <p:nvSpPr>
            <p:cNvPr id="40997" name="Rectangle 117"/>
            <p:cNvSpPr/>
            <p:nvPr/>
          </p:nvSpPr>
          <p:spPr>
            <a:xfrm rot="-5400000">
              <a:off x="1501" y="125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0998" name="Line 118"/>
            <p:cNvSpPr/>
            <p:nvPr/>
          </p:nvSpPr>
          <p:spPr>
            <a:xfrm rot="-5400000" flipH="1" flipV="1">
              <a:off x="1412" y="1720"/>
              <a:ext cx="249" cy="68"/>
            </a:xfrm>
            <a:prstGeom prst="line">
              <a:avLst/>
            </a:prstGeom>
            <a:ln w="19050" cap="flat" cmpd="sng">
              <a:solidFill>
                <a:srgbClr val="FF0000"/>
              </a:solidFill>
              <a:prstDash val="solid"/>
              <a:headEnd type="none" w="med" len="med"/>
              <a:tailEnd type="none" w="med" len="med"/>
            </a:ln>
          </p:spPr>
        </p:sp>
        <p:sp>
          <p:nvSpPr>
            <p:cNvPr id="40999" name="Line 119"/>
            <p:cNvSpPr/>
            <p:nvPr/>
          </p:nvSpPr>
          <p:spPr>
            <a:xfrm rot="-5400000">
              <a:off x="1632" y="1657"/>
              <a:ext cx="1" cy="170"/>
            </a:xfrm>
            <a:prstGeom prst="line">
              <a:avLst/>
            </a:prstGeom>
            <a:ln w="12700" cap="flat" cmpd="sng">
              <a:solidFill>
                <a:srgbClr val="FF0000"/>
              </a:solidFill>
              <a:prstDash val="dash"/>
              <a:headEnd type="none" w="med" len="med"/>
              <a:tailEnd type="none" w="med" len="med"/>
            </a:ln>
          </p:spPr>
        </p:sp>
        <p:sp>
          <p:nvSpPr>
            <p:cNvPr id="41000" name="Line 120"/>
            <p:cNvSpPr/>
            <p:nvPr/>
          </p:nvSpPr>
          <p:spPr>
            <a:xfrm rot="-5400000">
              <a:off x="1780" y="1682"/>
              <a:ext cx="1" cy="125"/>
            </a:xfrm>
            <a:prstGeom prst="line">
              <a:avLst/>
            </a:prstGeom>
            <a:ln w="12700" cap="flat" cmpd="sng">
              <a:solidFill>
                <a:srgbClr val="FF0000"/>
              </a:solidFill>
              <a:prstDash val="solid"/>
              <a:headEnd type="stealth" w="med" len="lg"/>
              <a:tailEnd type="none" w="med" len="med"/>
            </a:ln>
          </p:spPr>
        </p:sp>
        <p:sp>
          <p:nvSpPr>
            <p:cNvPr id="41001" name="Line 121"/>
            <p:cNvSpPr/>
            <p:nvPr/>
          </p:nvSpPr>
          <p:spPr>
            <a:xfrm rot="-5400000" flipH="1">
              <a:off x="1548" y="2039"/>
              <a:ext cx="590" cy="0"/>
            </a:xfrm>
            <a:prstGeom prst="line">
              <a:avLst/>
            </a:prstGeom>
            <a:ln w="12700" cap="flat" cmpd="sng">
              <a:solidFill>
                <a:srgbClr val="FF0000"/>
              </a:solidFill>
              <a:prstDash val="solid"/>
              <a:headEnd type="none" w="med" len="med"/>
              <a:tailEnd type="none" w="med" len="med"/>
            </a:ln>
          </p:spPr>
        </p:sp>
        <p:sp>
          <p:nvSpPr>
            <p:cNvPr id="41002" name="Rectangle 124"/>
            <p:cNvSpPr/>
            <p:nvPr/>
          </p:nvSpPr>
          <p:spPr>
            <a:xfrm rot="-5400000">
              <a:off x="1900" y="1586"/>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03" name="Oval 125"/>
            <p:cNvSpPr/>
            <p:nvPr/>
          </p:nvSpPr>
          <p:spPr>
            <a:xfrm rot="-5400000">
              <a:off x="1980"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04" name="Oval 126"/>
            <p:cNvSpPr/>
            <p:nvPr/>
          </p:nvSpPr>
          <p:spPr>
            <a:xfrm rot="-5400000">
              <a:off x="2161"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05" name="Oval 127"/>
            <p:cNvSpPr/>
            <p:nvPr/>
          </p:nvSpPr>
          <p:spPr>
            <a:xfrm rot="-5400000">
              <a:off x="2070" y="158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06" name="Line 128"/>
            <p:cNvSpPr/>
            <p:nvPr/>
          </p:nvSpPr>
          <p:spPr>
            <a:xfrm rot="-5400000">
              <a:off x="1820" y="1312"/>
              <a:ext cx="545" cy="0"/>
            </a:xfrm>
            <a:prstGeom prst="line">
              <a:avLst/>
            </a:prstGeom>
            <a:ln w="12700" cap="flat" cmpd="sng">
              <a:solidFill>
                <a:schemeClr val="accent2"/>
              </a:solidFill>
              <a:prstDash val="solid"/>
              <a:headEnd type="none" w="med" len="med"/>
              <a:tailEnd type="none" w="med" len="med"/>
            </a:ln>
          </p:spPr>
        </p:sp>
        <p:sp>
          <p:nvSpPr>
            <p:cNvPr id="41007" name="Line 129"/>
            <p:cNvSpPr/>
            <p:nvPr/>
          </p:nvSpPr>
          <p:spPr>
            <a:xfrm rot="-5400000">
              <a:off x="1817" y="2063"/>
              <a:ext cx="369" cy="0"/>
            </a:xfrm>
            <a:prstGeom prst="line">
              <a:avLst/>
            </a:prstGeom>
            <a:ln w="12700" cap="flat" cmpd="sng">
              <a:solidFill>
                <a:schemeClr val="accent2"/>
              </a:solidFill>
              <a:prstDash val="solid"/>
              <a:headEnd type="none" w="med" len="med"/>
              <a:tailEnd type="none" w="med" len="med"/>
            </a:ln>
          </p:spPr>
        </p:sp>
        <p:sp>
          <p:nvSpPr>
            <p:cNvPr id="41008" name="Line 130"/>
            <p:cNvSpPr/>
            <p:nvPr/>
          </p:nvSpPr>
          <p:spPr>
            <a:xfrm rot="-5400000">
              <a:off x="2116" y="1948"/>
              <a:ext cx="136" cy="0"/>
            </a:xfrm>
            <a:prstGeom prst="line">
              <a:avLst/>
            </a:prstGeom>
            <a:ln w="12700" cap="flat" cmpd="sng">
              <a:solidFill>
                <a:schemeClr val="accent2"/>
              </a:solidFill>
              <a:prstDash val="solid"/>
              <a:headEnd type="none" w="med" len="med"/>
              <a:tailEnd type="none" w="med" len="med"/>
            </a:ln>
          </p:spPr>
        </p:sp>
        <p:sp>
          <p:nvSpPr>
            <p:cNvPr id="41009" name="Rectangle 131"/>
            <p:cNvSpPr/>
            <p:nvPr/>
          </p:nvSpPr>
          <p:spPr>
            <a:xfrm rot="-5400000">
              <a:off x="2024" y="125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10" name="Line 132"/>
            <p:cNvSpPr/>
            <p:nvPr/>
          </p:nvSpPr>
          <p:spPr>
            <a:xfrm rot="-5400000" flipH="1" flipV="1">
              <a:off x="1934" y="1720"/>
              <a:ext cx="249" cy="68"/>
            </a:xfrm>
            <a:prstGeom prst="line">
              <a:avLst/>
            </a:prstGeom>
            <a:ln w="19050" cap="flat" cmpd="sng">
              <a:solidFill>
                <a:srgbClr val="FF0000"/>
              </a:solidFill>
              <a:prstDash val="solid"/>
              <a:headEnd type="none" w="med" len="med"/>
              <a:tailEnd type="none" w="med" len="med"/>
            </a:ln>
          </p:spPr>
        </p:sp>
        <p:sp>
          <p:nvSpPr>
            <p:cNvPr id="41011" name="Line 133"/>
            <p:cNvSpPr/>
            <p:nvPr/>
          </p:nvSpPr>
          <p:spPr>
            <a:xfrm rot="-5400000">
              <a:off x="2154" y="1657"/>
              <a:ext cx="1" cy="170"/>
            </a:xfrm>
            <a:prstGeom prst="line">
              <a:avLst/>
            </a:prstGeom>
            <a:ln w="12700" cap="flat" cmpd="sng">
              <a:solidFill>
                <a:srgbClr val="FF0000"/>
              </a:solidFill>
              <a:prstDash val="dash"/>
              <a:headEnd type="none" w="med" len="med"/>
              <a:tailEnd type="none" w="med" len="med"/>
            </a:ln>
          </p:spPr>
        </p:sp>
        <p:sp>
          <p:nvSpPr>
            <p:cNvPr id="41012" name="Line 134"/>
            <p:cNvSpPr/>
            <p:nvPr/>
          </p:nvSpPr>
          <p:spPr>
            <a:xfrm rot="-5400000">
              <a:off x="2302" y="1682"/>
              <a:ext cx="1" cy="125"/>
            </a:xfrm>
            <a:prstGeom prst="line">
              <a:avLst/>
            </a:prstGeom>
            <a:ln w="12700" cap="flat" cmpd="sng">
              <a:solidFill>
                <a:srgbClr val="FF0000"/>
              </a:solidFill>
              <a:prstDash val="solid"/>
              <a:headEnd type="stealth" w="med" len="lg"/>
              <a:tailEnd type="none" w="med" len="med"/>
            </a:ln>
          </p:spPr>
        </p:sp>
        <p:sp>
          <p:nvSpPr>
            <p:cNvPr id="41013" name="Line 135"/>
            <p:cNvSpPr/>
            <p:nvPr/>
          </p:nvSpPr>
          <p:spPr>
            <a:xfrm rot="-5400000" flipH="1">
              <a:off x="2070" y="2039"/>
              <a:ext cx="590" cy="0"/>
            </a:xfrm>
            <a:prstGeom prst="line">
              <a:avLst/>
            </a:prstGeom>
            <a:ln w="12700" cap="flat" cmpd="sng">
              <a:solidFill>
                <a:srgbClr val="FF0000"/>
              </a:solidFill>
              <a:prstDash val="solid"/>
              <a:headEnd type="none" w="med" len="med"/>
              <a:tailEnd type="none" w="med" len="med"/>
            </a:ln>
          </p:spPr>
        </p:sp>
        <p:sp>
          <p:nvSpPr>
            <p:cNvPr id="41014" name="Rectangle 138"/>
            <p:cNvSpPr/>
            <p:nvPr/>
          </p:nvSpPr>
          <p:spPr>
            <a:xfrm rot="-5400000">
              <a:off x="2425" y="1586"/>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15" name="Oval 139"/>
            <p:cNvSpPr/>
            <p:nvPr/>
          </p:nvSpPr>
          <p:spPr>
            <a:xfrm rot="-5400000">
              <a:off x="2505"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16" name="Oval 140"/>
            <p:cNvSpPr/>
            <p:nvPr/>
          </p:nvSpPr>
          <p:spPr>
            <a:xfrm rot="-5400000">
              <a:off x="2686"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17" name="Oval 141"/>
            <p:cNvSpPr/>
            <p:nvPr/>
          </p:nvSpPr>
          <p:spPr>
            <a:xfrm rot="-5400000">
              <a:off x="2595" y="158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18" name="Line 142"/>
            <p:cNvSpPr/>
            <p:nvPr/>
          </p:nvSpPr>
          <p:spPr>
            <a:xfrm rot="-5400000">
              <a:off x="2345" y="1312"/>
              <a:ext cx="545" cy="0"/>
            </a:xfrm>
            <a:prstGeom prst="line">
              <a:avLst/>
            </a:prstGeom>
            <a:ln w="12700" cap="flat" cmpd="sng">
              <a:solidFill>
                <a:schemeClr val="accent2"/>
              </a:solidFill>
              <a:prstDash val="solid"/>
              <a:headEnd type="none" w="med" len="med"/>
              <a:tailEnd type="none" w="med" len="med"/>
            </a:ln>
          </p:spPr>
        </p:sp>
        <p:sp>
          <p:nvSpPr>
            <p:cNvPr id="41019" name="Line 143"/>
            <p:cNvSpPr/>
            <p:nvPr/>
          </p:nvSpPr>
          <p:spPr>
            <a:xfrm rot="-5400000">
              <a:off x="2342" y="2063"/>
              <a:ext cx="369" cy="0"/>
            </a:xfrm>
            <a:prstGeom prst="line">
              <a:avLst/>
            </a:prstGeom>
            <a:ln w="12700" cap="flat" cmpd="sng">
              <a:solidFill>
                <a:schemeClr val="accent2"/>
              </a:solidFill>
              <a:prstDash val="solid"/>
              <a:headEnd type="none" w="med" len="med"/>
              <a:tailEnd type="none" w="med" len="med"/>
            </a:ln>
          </p:spPr>
        </p:sp>
        <p:sp>
          <p:nvSpPr>
            <p:cNvPr id="41020" name="Line 144"/>
            <p:cNvSpPr/>
            <p:nvPr/>
          </p:nvSpPr>
          <p:spPr>
            <a:xfrm rot="-5400000">
              <a:off x="2641" y="1948"/>
              <a:ext cx="136" cy="0"/>
            </a:xfrm>
            <a:prstGeom prst="line">
              <a:avLst/>
            </a:prstGeom>
            <a:ln w="12700" cap="flat" cmpd="sng">
              <a:solidFill>
                <a:schemeClr val="accent2"/>
              </a:solidFill>
              <a:prstDash val="solid"/>
              <a:headEnd type="none" w="med" len="med"/>
              <a:tailEnd type="none" w="med" len="med"/>
            </a:ln>
          </p:spPr>
        </p:sp>
        <p:sp>
          <p:nvSpPr>
            <p:cNvPr id="41021" name="Rectangle 145"/>
            <p:cNvSpPr/>
            <p:nvPr/>
          </p:nvSpPr>
          <p:spPr>
            <a:xfrm rot="-5400000">
              <a:off x="2549" y="125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22" name="Line 146"/>
            <p:cNvSpPr/>
            <p:nvPr/>
          </p:nvSpPr>
          <p:spPr>
            <a:xfrm rot="-5400000" flipH="1" flipV="1">
              <a:off x="2459" y="1720"/>
              <a:ext cx="249" cy="68"/>
            </a:xfrm>
            <a:prstGeom prst="line">
              <a:avLst/>
            </a:prstGeom>
            <a:ln w="19050" cap="flat" cmpd="sng">
              <a:solidFill>
                <a:srgbClr val="FF0000"/>
              </a:solidFill>
              <a:prstDash val="solid"/>
              <a:headEnd type="none" w="med" len="med"/>
              <a:tailEnd type="none" w="med" len="med"/>
            </a:ln>
          </p:spPr>
        </p:sp>
        <p:sp>
          <p:nvSpPr>
            <p:cNvPr id="41023" name="Line 147"/>
            <p:cNvSpPr/>
            <p:nvPr/>
          </p:nvSpPr>
          <p:spPr>
            <a:xfrm rot="-5400000">
              <a:off x="2679" y="1657"/>
              <a:ext cx="1" cy="170"/>
            </a:xfrm>
            <a:prstGeom prst="line">
              <a:avLst/>
            </a:prstGeom>
            <a:ln w="12700" cap="flat" cmpd="sng">
              <a:solidFill>
                <a:srgbClr val="FF0000"/>
              </a:solidFill>
              <a:prstDash val="dash"/>
              <a:headEnd type="none" w="med" len="med"/>
              <a:tailEnd type="none" w="med" len="med"/>
            </a:ln>
          </p:spPr>
        </p:sp>
        <p:sp>
          <p:nvSpPr>
            <p:cNvPr id="41024" name="Line 148"/>
            <p:cNvSpPr/>
            <p:nvPr/>
          </p:nvSpPr>
          <p:spPr>
            <a:xfrm rot="-5400000">
              <a:off x="2827" y="1682"/>
              <a:ext cx="1" cy="125"/>
            </a:xfrm>
            <a:prstGeom prst="line">
              <a:avLst/>
            </a:prstGeom>
            <a:ln w="12700" cap="flat" cmpd="sng">
              <a:solidFill>
                <a:srgbClr val="FF0000"/>
              </a:solidFill>
              <a:prstDash val="solid"/>
              <a:headEnd type="stealth" w="med" len="lg"/>
              <a:tailEnd type="none" w="med" len="med"/>
            </a:ln>
          </p:spPr>
        </p:sp>
        <p:sp>
          <p:nvSpPr>
            <p:cNvPr id="41025" name="Line 149"/>
            <p:cNvSpPr/>
            <p:nvPr/>
          </p:nvSpPr>
          <p:spPr>
            <a:xfrm rot="-5400000" flipH="1">
              <a:off x="2595" y="2039"/>
              <a:ext cx="590" cy="0"/>
            </a:xfrm>
            <a:prstGeom prst="line">
              <a:avLst/>
            </a:prstGeom>
            <a:ln w="12700" cap="flat" cmpd="sng">
              <a:solidFill>
                <a:srgbClr val="FF0000"/>
              </a:solidFill>
              <a:prstDash val="solid"/>
              <a:headEnd type="none" w="med" len="med"/>
              <a:tailEnd type="none" w="med" len="med"/>
            </a:ln>
          </p:spPr>
        </p:sp>
        <p:sp>
          <p:nvSpPr>
            <p:cNvPr id="41026" name="Rectangle 152"/>
            <p:cNvSpPr/>
            <p:nvPr/>
          </p:nvSpPr>
          <p:spPr>
            <a:xfrm rot="-5400000">
              <a:off x="2966" y="1586"/>
              <a:ext cx="386" cy="294"/>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27" name="Oval 153"/>
            <p:cNvSpPr/>
            <p:nvPr/>
          </p:nvSpPr>
          <p:spPr>
            <a:xfrm rot="-5400000">
              <a:off x="3046"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28" name="Oval 154"/>
            <p:cNvSpPr/>
            <p:nvPr/>
          </p:nvSpPr>
          <p:spPr>
            <a:xfrm rot="-5400000">
              <a:off x="3227" y="1834"/>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29" name="Oval 155"/>
            <p:cNvSpPr/>
            <p:nvPr/>
          </p:nvSpPr>
          <p:spPr>
            <a:xfrm rot="-5400000">
              <a:off x="3136" y="1585"/>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30" name="Line 156"/>
            <p:cNvSpPr/>
            <p:nvPr/>
          </p:nvSpPr>
          <p:spPr>
            <a:xfrm rot="-5400000">
              <a:off x="2886" y="1312"/>
              <a:ext cx="545" cy="0"/>
            </a:xfrm>
            <a:prstGeom prst="line">
              <a:avLst/>
            </a:prstGeom>
            <a:ln w="12700" cap="flat" cmpd="sng">
              <a:solidFill>
                <a:schemeClr val="accent2"/>
              </a:solidFill>
              <a:prstDash val="solid"/>
              <a:headEnd type="none" w="med" len="med"/>
              <a:tailEnd type="none" w="med" len="med"/>
            </a:ln>
          </p:spPr>
        </p:sp>
        <p:sp>
          <p:nvSpPr>
            <p:cNvPr id="41031" name="Line 157"/>
            <p:cNvSpPr/>
            <p:nvPr/>
          </p:nvSpPr>
          <p:spPr>
            <a:xfrm rot="-5400000">
              <a:off x="2883" y="2063"/>
              <a:ext cx="369" cy="0"/>
            </a:xfrm>
            <a:prstGeom prst="line">
              <a:avLst/>
            </a:prstGeom>
            <a:ln w="12700" cap="flat" cmpd="sng">
              <a:solidFill>
                <a:schemeClr val="accent2"/>
              </a:solidFill>
              <a:prstDash val="solid"/>
              <a:headEnd type="none" w="med" len="med"/>
              <a:tailEnd type="none" w="med" len="med"/>
            </a:ln>
          </p:spPr>
        </p:sp>
        <p:sp>
          <p:nvSpPr>
            <p:cNvPr id="41032" name="Line 158"/>
            <p:cNvSpPr/>
            <p:nvPr/>
          </p:nvSpPr>
          <p:spPr>
            <a:xfrm rot="-5400000">
              <a:off x="3182" y="1948"/>
              <a:ext cx="136" cy="0"/>
            </a:xfrm>
            <a:prstGeom prst="line">
              <a:avLst/>
            </a:prstGeom>
            <a:ln w="12700" cap="flat" cmpd="sng">
              <a:solidFill>
                <a:schemeClr val="accent2"/>
              </a:solidFill>
              <a:prstDash val="solid"/>
              <a:headEnd type="none" w="med" len="med"/>
              <a:tailEnd type="none" w="med" len="med"/>
            </a:ln>
          </p:spPr>
        </p:sp>
        <p:sp>
          <p:nvSpPr>
            <p:cNvPr id="41033" name="Rectangle 159"/>
            <p:cNvSpPr/>
            <p:nvPr/>
          </p:nvSpPr>
          <p:spPr>
            <a:xfrm rot="-5400000">
              <a:off x="3090" y="125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34" name="Line 160"/>
            <p:cNvSpPr/>
            <p:nvPr/>
          </p:nvSpPr>
          <p:spPr>
            <a:xfrm rot="-5400000" flipH="1" flipV="1">
              <a:off x="3000" y="1720"/>
              <a:ext cx="249" cy="68"/>
            </a:xfrm>
            <a:prstGeom prst="line">
              <a:avLst/>
            </a:prstGeom>
            <a:ln w="19050" cap="flat" cmpd="sng">
              <a:solidFill>
                <a:srgbClr val="FF0000"/>
              </a:solidFill>
              <a:prstDash val="solid"/>
              <a:headEnd type="none" w="med" len="med"/>
              <a:tailEnd type="none" w="med" len="med"/>
            </a:ln>
          </p:spPr>
        </p:sp>
        <p:sp>
          <p:nvSpPr>
            <p:cNvPr id="41035" name="Line 161"/>
            <p:cNvSpPr/>
            <p:nvPr/>
          </p:nvSpPr>
          <p:spPr>
            <a:xfrm rot="-5400000">
              <a:off x="3220" y="1657"/>
              <a:ext cx="1" cy="170"/>
            </a:xfrm>
            <a:prstGeom prst="line">
              <a:avLst/>
            </a:prstGeom>
            <a:ln w="12700" cap="flat" cmpd="sng">
              <a:solidFill>
                <a:srgbClr val="FF0000"/>
              </a:solidFill>
              <a:prstDash val="dash"/>
              <a:headEnd type="none" w="med" len="med"/>
              <a:tailEnd type="none" w="med" len="med"/>
            </a:ln>
          </p:spPr>
        </p:sp>
        <p:sp>
          <p:nvSpPr>
            <p:cNvPr id="41036" name="Line 162"/>
            <p:cNvSpPr/>
            <p:nvPr/>
          </p:nvSpPr>
          <p:spPr>
            <a:xfrm rot="-5400000">
              <a:off x="3368" y="1682"/>
              <a:ext cx="1" cy="125"/>
            </a:xfrm>
            <a:prstGeom prst="line">
              <a:avLst/>
            </a:prstGeom>
            <a:ln w="12700" cap="flat" cmpd="sng">
              <a:solidFill>
                <a:srgbClr val="FF0000"/>
              </a:solidFill>
              <a:prstDash val="solid"/>
              <a:headEnd type="stealth" w="med" len="lg"/>
              <a:tailEnd type="none" w="med" len="med"/>
            </a:ln>
          </p:spPr>
        </p:sp>
        <p:sp>
          <p:nvSpPr>
            <p:cNvPr id="41037" name="Line 163"/>
            <p:cNvSpPr/>
            <p:nvPr/>
          </p:nvSpPr>
          <p:spPr>
            <a:xfrm rot="-5400000" flipH="1">
              <a:off x="3136" y="2039"/>
              <a:ext cx="590" cy="0"/>
            </a:xfrm>
            <a:prstGeom prst="line">
              <a:avLst/>
            </a:prstGeom>
            <a:ln w="12700" cap="flat" cmpd="sng">
              <a:solidFill>
                <a:srgbClr val="FF0000"/>
              </a:solidFill>
              <a:prstDash val="solid"/>
              <a:headEnd type="none" w="med" len="med"/>
              <a:tailEnd type="none" w="med" len="med"/>
            </a:ln>
          </p:spPr>
        </p:sp>
        <p:sp>
          <p:nvSpPr>
            <p:cNvPr id="41038" name="Line 166"/>
            <p:cNvSpPr/>
            <p:nvPr/>
          </p:nvSpPr>
          <p:spPr>
            <a:xfrm rot="5400000" flipV="1">
              <a:off x="2479" y="-114"/>
              <a:ext cx="1" cy="2307"/>
            </a:xfrm>
            <a:prstGeom prst="line">
              <a:avLst/>
            </a:prstGeom>
            <a:ln w="12700" cap="flat" cmpd="sng">
              <a:solidFill>
                <a:schemeClr val="accent2"/>
              </a:solidFill>
              <a:prstDash val="solid"/>
              <a:headEnd type="none" w="med" len="med"/>
              <a:tailEnd type="none" w="med" len="med"/>
            </a:ln>
          </p:spPr>
        </p:sp>
        <p:sp>
          <p:nvSpPr>
            <p:cNvPr id="41039" name="Text Box 122"/>
            <p:cNvSpPr txBox="1"/>
            <p:nvPr/>
          </p:nvSpPr>
          <p:spPr>
            <a:xfrm>
              <a:off x="1679" y="1486"/>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41040" name="Text Box 123"/>
            <p:cNvSpPr txBox="1"/>
            <p:nvPr/>
          </p:nvSpPr>
          <p:spPr>
            <a:xfrm>
              <a:off x="1556" y="1182"/>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41" name="Text Box 136"/>
            <p:cNvSpPr txBox="1"/>
            <p:nvPr/>
          </p:nvSpPr>
          <p:spPr>
            <a:xfrm>
              <a:off x="2201" y="1481"/>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41042" name="Text Box 137"/>
            <p:cNvSpPr txBox="1"/>
            <p:nvPr/>
          </p:nvSpPr>
          <p:spPr>
            <a:xfrm>
              <a:off x="1737" y="859"/>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43" name="Text Box 150"/>
            <p:cNvSpPr txBox="1"/>
            <p:nvPr/>
          </p:nvSpPr>
          <p:spPr>
            <a:xfrm>
              <a:off x="2721" y="1480"/>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41044" name="Text Box 164"/>
            <p:cNvSpPr txBox="1"/>
            <p:nvPr/>
          </p:nvSpPr>
          <p:spPr>
            <a:xfrm>
              <a:off x="3271" y="1480"/>
              <a:ext cx="294"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41045" name="Text Box 170"/>
            <p:cNvSpPr txBox="1"/>
            <p:nvPr/>
          </p:nvSpPr>
          <p:spPr>
            <a:xfrm>
              <a:off x="1655" y="231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41046" name="Text Box 171"/>
            <p:cNvSpPr txBox="1"/>
            <p:nvPr/>
          </p:nvSpPr>
          <p:spPr>
            <a:xfrm>
              <a:off x="2177" y="231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41047" name="Text Box 172"/>
            <p:cNvSpPr txBox="1"/>
            <p:nvPr/>
          </p:nvSpPr>
          <p:spPr>
            <a:xfrm>
              <a:off x="2699" y="231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41048" name="Text Box 173"/>
            <p:cNvSpPr txBox="1"/>
            <p:nvPr/>
          </p:nvSpPr>
          <p:spPr>
            <a:xfrm>
              <a:off x="3243" y="2319"/>
              <a:ext cx="363"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41049" name="Oval 191"/>
            <p:cNvSpPr/>
            <p:nvPr/>
          </p:nvSpPr>
          <p:spPr>
            <a:xfrm rot="-5400000">
              <a:off x="1990" y="223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0" name="Oval 192"/>
            <p:cNvSpPr/>
            <p:nvPr/>
          </p:nvSpPr>
          <p:spPr>
            <a:xfrm rot="-5400000">
              <a:off x="3056" y="2237"/>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1" name="Oval 193"/>
            <p:cNvSpPr/>
            <p:nvPr/>
          </p:nvSpPr>
          <p:spPr>
            <a:xfrm rot="-5400000">
              <a:off x="2515" y="223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2" name="Oval 194"/>
            <p:cNvSpPr/>
            <p:nvPr/>
          </p:nvSpPr>
          <p:spPr>
            <a:xfrm rot="-5400000">
              <a:off x="2697" y="200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3" name="Oval 195"/>
            <p:cNvSpPr/>
            <p:nvPr/>
          </p:nvSpPr>
          <p:spPr>
            <a:xfrm rot="-5400000">
              <a:off x="2172" y="200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4" name="Oval 196"/>
            <p:cNvSpPr/>
            <p:nvPr/>
          </p:nvSpPr>
          <p:spPr>
            <a:xfrm rot="-5400000">
              <a:off x="3238" y="2004"/>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5" name="Oval 197"/>
            <p:cNvSpPr/>
            <p:nvPr/>
          </p:nvSpPr>
          <p:spPr>
            <a:xfrm rot="-5400000">
              <a:off x="2080" y="102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6" name="Oval 198"/>
            <p:cNvSpPr/>
            <p:nvPr/>
          </p:nvSpPr>
          <p:spPr>
            <a:xfrm rot="-5400000">
              <a:off x="1559" y="1028"/>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7" name="Oval 199"/>
            <p:cNvSpPr/>
            <p:nvPr/>
          </p:nvSpPr>
          <p:spPr>
            <a:xfrm rot="-5400000">
              <a:off x="2606" y="102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8" name="Oval 200"/>
            <p:cNvSpPr/>
            <p:nvPr/>
          </p:nvSpPr>
          <p:spPr>
            <a:xfrm>
              <a:off x="3794" y="2003"/>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59" name="Oval 201"/>
            <p:cNvSpPr/>
            <p:nvPr/>
          </p:nvSpPr>
          <p:spPr>
            <a:xfrm>
              <a:off x="4547" y="211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60" name="Text Box 202"/>
            <p:cNvSpPr txBox="1"/>
            <p:nvPr/>
          </p:nvSpPr>
          <p:spPr>
            <a:xfrm>
              <a:off x="1744" y="2728"/>
              <a:ext cx="2290" cy="231"/>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四位</a:t>
              </a:r>
              <a:r>
                <a:rPr lang="en-US" altLang="zh-CN" sz="2000" dirty="0">
                  <a:solidFill>
                    <a:srgbClr val="000099"/>
                  </a:solidFill>
                  <a:latin typeface="Times New Roman" panose="02020603050405020304" pitchFamily="18" charset="0"/>
                </a:rPr>
                <a:t>T</a:t>
              </a:r>
              <a:r>
                <a:rPr lang="zh-CN" altLang="en-US" sz="2000" dirty="0">
                  <a:solidFill>
                    <a:srgbClr val="000099"/>
                  </a:solidFill>
                  <a:latin typeface="Times New Roman" panose="02020603050405020304" pitchFamily="18" charset="0"/>
                </a:rPr>
                <a:t>型电阻</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转换器的结构</a:t>
              </a:r>
              <a:endParaRPr lang="zh-CN" altLang="en-US" sz="2000" dirty="0">
                <a:solidFill>
                  <a:srgbClr val="000099"/>
                </a:solidFill>
                <a:latin typeface="Times New Roman" panose="02020603050405020304" pitchFamily="18" charset="0"/>
              </a:endParaRPr>
            </a:p>
          </p:txBody>
        </p:sp>
        <p:sp>
          <p:nvSpPr>
            <p:cNvPr id="41061" name="Text Box 206"/>
            <p:cNvSpPr txBox="1"/>
            <p:nvPr/>
          </p:nvSpPr>
          <p:spPr>
            <a:xfrm>
              <a:off x="2074" y="118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62" name="Text Box 207"/>
            <p:cNvSpPr txBox="1"/>
            <p:nvPr/>
          </p:nvSpPr>
          <p:spPr>
            <a:xfrm>
              <a:off x="2605" y="118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63" name="Text Box 208"/>
            <p:cNvSpPr txBox="1"/>
            <p:nvPr/>
          </p:nvSpPr>
          <p:spPr>
            <a:xfrm>
              <a:off x="3146" y="118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64" name="Oval 209"/>
            <p:cNvSpPr/>
            <p:nvPr/>
          </p:nvSpPr>
          <p:spPr>
            <a:xfrm rot="-5400000">
              <a:off x="3146" y="1029"/>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65" name="Line 210"/>
            <p:cNvSpPr/>
            <p:nvPr/>
          </p:nvSpPr>
          <p:spPr>
            <a:xfrm rot="-5400000">
              <a:off x="3413" y="1260"/>
              <a:ext cx="440" cy="0"/>
            </a:xfrm>
            <a:prstGeom prst="line">
              <a:avLst/>
            </a:prstGeom>
            <a:ln w="12700" cap="flat" cmpd="sng">
              <a:solidFill>
                <a:schemeClr val="accent2"/>
              </a:solidFill>
              <a:prstDash val="solid"/>
              <a:headEnd type="none" w="med" len="med"/>
              <a:tailEnd type="none" w="med" len="med"/>
            </a:ln>
          </p:spPr>
        </p:sp>
        <p:sp>
          <p:nvSpPr>
            <p:cNvPr id="41066" name="Rectangle 211"/>
            <p:cNvSpPr/>
            <p:nvPr/>
          </p:nvSpPr>
          <p:spPr>
            <a:xfrm rot="-5400000">
              <a:off x="3564" y="125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67" name="Text Box 212"/>
            <p:cNvSpPr txBox="1"/>
            <p:nvPr/>
          </p:nvSpPr>
          <p:spPr>
            <a:xfrm>
              <a:off x="3620" y="118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68" name="Rectangle 213"/>
            <p:cNvSpPr/>
            <p:nvPr/>
          </p:nvSpPr>
          <p:spPr>
            <a:xfrm>
              <a:off x="1769" y="101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69" name="Text Box 214"/>
            <p:cNvSpPr txBox="1"/>
            <p:nvPr/>
          </p:nvSpPr>
          <p:spPr>
            <a:xfrm>
              <a:off x="2257" y="859"/>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70" name="Rectangle 215"/>
            <p:cNvSpPr/>
            <p:nvPr/>
          </p:nvSpPr>
          <p:spPr>
            <a:xfrm>
              <a:off x="2289" y="1017"/>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1071" name="Text Box 216"/>
            <p:cNvSpPr txBox="1"/>
            <p:nvPr/>
          </p:nvSpPr>
          <p:spPr>
            <a:xfrm>
              <a:off x="2801" y="858"/>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1072" name="Rectangle 217"/>
            <p:cNvSpPr/>
            <p:nvPr/>
          </p:nvSpPr>
          <p:spPr>
            <a:xfrm>
              <a:off x="2833" y="1016"/>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476251" name="Text Box 219"/>
          <p:cNvSpPr txBox="1"/>
          <p:nvPr/>
        </p:nvSpPr>
        <p:spPr>
          <a:xfrm>
            <a:off x="863600" y="4905375"/>
            <a:ext cx="7632700" cy="1077913"/>
          </a:xfrm>
          <a:prstGeom prst="rect">
            <a:avLst/>
          </a:prstGeom>
          <a:noFill/>
          <a:ln w="9525">
            <a:noFill/>
          </a:ln>
        </p:spPr>
        <p:txBody>
          <a:bodyPr>
            <a:spAutoFit/>
          </a:bodyPr>
          <a:p>
            <a:pPr eaLnBrk="1" hangingPunct="1">
              <a:lnSpc>
                <a:spcPct val="90000"/>
              </a:lnSpc>
              <a:spcBef>
                <a:spcPct val="50000"/>
              </a:spcBef>
            </a:pPr>
            <a:r>
              <a:rPr lang="en-US" altLang="zh-CN" sz="2400" dirty="0">
                <a:solidFill>
                  <a:schemeClr val="tx1"/>
                </a:solidFill>
                <a:latin typeface="Times New Roman" panose="02020603050405020304" pitchFamily="18" charset="0"/>
              </a:rPr>
              <a:t>T</a:t>
            </a:r>
            <a:r>
              <a:rPr lang="zh-CN" altLang="en-US" sz="2400" dirty="0">
                <a:solidFill>
                  <a:schemeClr val="tx1"/>
                </a:solidFill>
                <a:latin typeface="Times New Roman" panose="02020603050405020304" pitchFamily="18" charset="0"/>
              </a:rPr>
              <a:t>型电阻网络是由相同的电路环节所组成，每一环节有两个电阻和一个模拟电子开关，相当于二进制的一位，开关由该位的数字代码控制。</a:t>
            </a:r>
            <a:endParaRPr lang="zh-CN" altLang="en-US" sz="2400" dirty="0">
              <a:solidFill>
                <a:schemeClr val="tx1"/>
              </a:solidFill>
              <a:latin typeface="Times New Roman" panose="02020603050405020304" pitchFamily="18" charset="0"/>
            </a:endParaRPr>
          </a:p>
        </p:txBody>
      </p:sp>
      <p:grpSp>
        <p:nvGrpSpPr>
          <p:cNvPr id="2476260" name="Group 228"/>
          <p:cNvGrpSpPr/>
          <p:nvPr/>
        </p:nvGrpSpPr>
        <p:grpSpPr>
          <a:xfrm>
            <a:off x="5795963" y="3197225"/>
            <a:ext cx="755650" cy="296863"/>
            <a:chOff x="3651" y="2014"/>
            <a:chExt cx="476" cy="187"/>
          </a:xfrm>
        </p:grpSpPr>
        <p:sp>
          <p:nvSpPr>
            <p:cNvPr id="40968" name="Line 225"/>
            <p:cNvSpPr/>
            <p:nvPr/>
          </p:nvSpPr>
          <p:spPr>
            <a:xfrm>
              <a:off x="3687" y="2014"/>
              <a:ext cx="318" cy="0"/>
            </a:xfrm>
            <a:prstGeom prst="line">
              <a:avLst/>
            </a:prstGeom>
            <a:ln w="50800" cap="flat" cmpd="sng">
              <a:solidFill>
                <a:srgbClr val="FF0000"/>
              </a:solidFill>
              <a:prstDash val="solid"/>
              <a:headEnd type="none" w="med" len="med"/>
              <a:tailEnd type="stealth" w="med" len="lg"/>
            </a:ln>
          </p:spPr>
        </p:sp>
        <p:sp>
          <p:nvSpPr>
            <p:cNvPr id="40969" name="Text Box 226"/>
            <p:cNvSpPr txBox="1"/>
            <p:nvPr/>
          </p:nvSpPr>
          <p:spPr>
            <a:xfrm>
              <a:off x="3651" y="2022"/>
              <a:ext cx="476" cy="179"/>
            </a:xfrm>
            <a:prstGeom prst="rect">
              <a:avLst/>
            </a:prstGeom>
            <a:noFill/>
            <a:ln w="9525">
              <a:noFill/>
            </a:ln>
          </p:spPr>
          <p:txBody>
            <a:bodyPr>
              <a:spAutoFit/>
            </a:bodyPr>
            <a:p>
              <a:pPr eaLnBrk="1" hangingPunct="1">
                <a:lnSpc>
                  <a:spcPct val="90000"/>
                </a:lnSpc>
                <a:spcBef>
                  <a:spcPct val="50000"/>
                </a:spcBef>
              </a:pPr>
              <a:r>
                <a:rPr lang="zh-CN" altLang="en-US" sz="1400" dirty="0">
                  <a:solidFill>
                    <a:srgbClr val="FF0000"/>
                  </a:solidFill>
                  <a:latin typeface="Times New Roman" panose="02020603050405020304" pitchFamily="18" charset="0"/>
                  <a:ea typeface="黑体" panose="02010609060101010101" pitchFamily="49" charset="-122"/>
                </a:rPr>
                <a:t>虚地</a:t>
              </a:r>
              <a:endParaRPr lang="zh-CN" altLang="en-US" sz="1400" dirty="0">
                <a:solidFill>
                  <a:srgbClr val="FF0000"/>
                </a:solidFill>
                <a:latin typeface="Times New Roman" panose="02020603050405020304" pitchFamily="18" charset="0"/>
                <a:ea typeface="黑体" panose="02010609060101010101" pitchFamily="49" charset="-122"/>
              </a:endParaRPr>
            </a:p>
          </p:txBody>
        </p:sp>
      </p:grpSp>
      <p:sp>
        <p:nvSpPr>
          <p:cNvPr id="2476261" name="Text Box 229"/>
          <p:cNvSpPr txBox="1"/>
          <p:nvPr/>
        </p:nvSpPr>
        <p:spPr>
          <a:xfrm>
            <a:off x="876300" y="4932363"/>
            <a:ext cx="7558088" cy="1077912"/>
          </a:xfrm>
          <a:prstGeom prst="rect">
            <a:avLst/>
          </a:prstGeom>
          <a:solidFill>
            <a:schemeClr val="bg1"/>
          </a:solid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开关在运算放大器电流求和点虚地与地之间进行切换，切换时开关端点的电压几乎没有变化。各支路</a:t>
            </a:r>
            <a:r>
              <a:rPr lang="en-US" altLang="zh-CN" sz="2400" dirty="0">
                <a:solidFill>
                  <a:schemeClr val="tx1"/>
                </a:solidFill>
                <a:latin typeface="Times New Roman" panose="02020603050405020304" pitchFamily="18" charset="0"/>
              </a:rPr>
              <a:t>2</a:t>
            </a:r>
            <a:r>
              <a:rPr lang="en-US" altLang="zh-CN" sz="2400" i="1" dirty="0">
                <a:solidFill>
                  <a:schemeClr val="tx1"/>
                </a:solidFill>
                <a:latin typeface="Times New Roman" panose="02020603050405020304" pitchFamily="18" charset="0"/>
              </a:rPr>
              <a:t>R</a:t>
            </a:r>
            <a:r>
              <a:rPr lang="zh-CN" altLang="en-US" sz="2400" dirty="0">
                <a:solidFill>
                  <a:schemeClr val="tx1"/>
                </a:solidFill>
                <a:latin typeface="Times New Roman" panose="02020603050405020304" pitchFamily="18" charset="0"/>
              </a:rPr>
              <a:t>电阻下端电位始终是地电位。</a:t>
            </a:r>
            <a:endParaRPr lang="zh-CN" altLang="en-US" sz="24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76035"/>
                                        </p:tgtEl>
                                        <p:attrNameLst>
                                          <p:attrName>style.visibility</p:attrName>
                                        </p:attrNameLst>
                                      </p:cBhvr>
                                      <p:to>
                                        <p:strVal val="visible"/>
                                      </p:to>
                                    </p:set>
                                    <p:animEffect transition="in" filter="dissolve">
                                      <p:cBhvr>
                                        <p:cTn id="7" dur="500"/>
                                        <p:tgtEl>
                                          <p:spTgt spid="247603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76262"/>
                                        </p:tgtEl>
                                        <p:attrNameLst>
                                          <p:attrName>style.visibility</p:attrName>
                                        </p:attrNameLst>
                                      </p:cBhvr>
                                      <p:to>
                                        <p:strVal val="visible"/>
                                      </p:to>
                                    </p:set>
                                    <p:animEffect transition="in" filter="dissolve">
                                      <p:cBhvr>
                                        <p:cTn id="12" dur="500"/>
                                        <p:tgtEl>
                                          <p:spTgt spid="24762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76251"/>
                                        </p:tgtEl>
                                        <p:attrNameLst>
                                          <p:attrName>style.visibility</p:attrName>
                                        </p:attrNameLst>
                                      </p:cBhvr>
                                      <p:to>
                                        <p:strVal val="visible"/>
                                      </p:to>
                                    </p:set>
                                    <p:animEffect transition="in" filter="dissolve">
                                      <p:cBhvr>
                                        <p:cTn id="17" dur="500"/>
                                        <p:tgtEl>
                                          <p:spTgt spid="2476251"/>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xit" presetSubtype="10" fill="hold" grpId="1" nodeType="clickEffect">
                                  <p:stCondLst>
                                    <p:cond delay="0"/>
                                  </p:stCondLst>
                                  <p:childTnLst>
                                    <p:animEffect transition="out" filter="blinds(horizontal)">
                                      <p:cBhvr>
                                        <p:cTn id="21" dur="500"/>
                                        <p:tgtEl>
                                          <p:spTgt spid="2476251"/>
                                        </p:tgtEl>
                                      </p:cBhvr>
                                    </p:animEffect>
                                    <p:set>
                                      <p:cBhvr>
                                        <p:cTn id="22" dur="1" fill="hold">
                                          <p:stCondLst>
                                            <p:cond delay="499"/>
                                          </p:stCondLst>
                                        </p:cTn>
                                        <p:tgtEl>
                                          <p:spTgt spid="247625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476260"/>
                                        </p:tgtEl>
                                        <p:attrNameLst>
                                          <p:attrName>style.visibility</p:attrName>
                                        </p:attrNameLst>
                                      </p:cBhvr>
                                      <p:to>
                                        <p:strVal val="visible"/>
                                      </p:to>
                                    </p:set>
                                    <p:animEffect transition="in" filter="wipe(left)">
                                      <p:cBhvr>
                                        <p:cTn id="27" dur="500"/>
                                        <p:tgtEl>
                                          <p:spTgt spid="247626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476261"/>
                                        </p:tgtEl>
                                        <p:attrNameLst>
                                          <p:attrName>style.visibility</p:attrName>
                                        </p:attrNameLst>
                                      </p:cBhvr>
                                      <p:to>
                                        <p:strVal val="visible"/>
                                      </p:to>
                                    </p:set>
                                    <p:animEffect transition="in" filter="dissolve">
                                      <p:cBhvr>
                                        <p:cTn id="32" dur="500"/>
                                        <p:tgtEl>
                                          <p:spTgt spid="2476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6035" grpId="0" bldLvl="0" animBg="1"/>
      <p:bldP spid="2476251" grpId="0"/>
      <p:bldP spid="2476251" grpId="1"/>
      <p:bldP spid="2476261" grpId="0" bldLvl="0" animBg="1"/>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78328" name="Rectangle 248"/>
          <p:cNvSpPr/>
          <p:nvPr/>
        </p:nvSpPr>
        <p:spPr>
          <a:xfrm>
            <a:off x="127000" y="2638425"/>
            <a:ext cx="3203575" cy="3260725"/>
          </a:xfrm>
          <a:prstGeom prst="rect">
            <a:avLst/>
          </a:prstGeom>
          <a:solidFill>
            <a:srgbClr val="CCFFCC"/>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78082"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43012" name="Rectangle 3"/>
          <p:cNvSpPr/>
          <p:nvPr/>
        </p:nvSpPr>
        <p:spPr>
          <a:xfrm>
            <a:off x="431800" y="657225"/>
            <a:ext cx="44291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T</a:t>
            </a:r>
            <a:r>
              <a:rPr lang="zh-CN" altLang="en-US" sz="3200" dirty="0">
                <a:latin typeface="Times New Roman" panose="02020603050405020304" pitchFamily="18" charset="0"/>
              </a:rPr>
              <a:t>型电阻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grpSp>
        <p:nvGrpSpPr>
          <p:cNvPr id="2478315" name="Group 235"/>
          <p:cNvGrpSpPr/>
          <p:nvPr/>
        </p:nvGrpSpPr>
        <p:grpSpPr>
          <a:xfrm>
            <a:off x="3959225" y="1384300"/>
            <a:ext cx="4716463" cy="2809875"/>
            <a:chOff x="2676" y="872"/>
            <a:chExt cx="2971" cy="1770"/>
          </a:xfrm>
        </p:grpSpPr>
        <p:sp>
          <p:nvSpPr>
            <p:cNvPr id="43051" name="Rectangle 100"/>
            <p:cNvSpPr/>
            <p:nvPr/>
          </p:nvSpPr>
          <p:spPr>
            <a:xfrm>
              <a:off x="2676" y="872"/>
              <a:ext cx="2971" cy="1770"/>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52" name="Oval 103"/>
            <p:cNvSpPr/>
            <p:nvPr/>
          </p:nvSpPr>
          <p:spPr>
            <a:xfrm>
              <a:off x="3027" y="1336"/>
              <a:ext cx="45" cy="45"/>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53" name="Line 104"/>
            <p:cNvSpPr/>
            <p:nvPr/>
          </p:nvSpPr>
          <p:spPr>
            <a:xfrm>
              <a:off x="4283" y="2250"/>
              <a:ext cx="158" cy="0"/>
            </a:xfrm>
            <a:prstGeom prst="line">
              <a:avLst/>
            </a:prstGeom>
            <a:ln w="19050" cap="flat" cmpd="sng">
              <a:solidFill>
                <a:srgbClr val="000080"/>
              </a:solidFill>
              <a:prstDash val="solid"/>
              <a:headEnd type="none" w="med" len="med"/>
              <a:tailEnd type="none" w="med" len="med"/>
            </a:ln>
          </p:spPr>
        </p:sp>
        <p:sp>
          <p:nvSpPr>
            <p:cNvPr id="43054" name="Text Box 105"/>
            <p:cNvSpPr txBox="1"/>
            <p:nvPr/>
          </p:nvSpPr>
          <p:spPr>
            <a:xfrm>
              <a:off x="2676" y="1237"/>
              <a:ext cx="430"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43055" name="Line 124"/>
            <p:cNvSpPr/>
            <p:nvPr/>
          </p:nvSpPr>
          <p:spPr>
            <a:xfrm rot="-5400000">
              <a:off x="2949" y="1724"/>
              <a:ext cx="734" cy="0"/>
            </a:xfrm>
            <a:prstGeom prst="line">
              <a:avLst/>
            </a:prstGeom>
            <a:ln w="12700" cap="flat" cmpd="sng">
              <a:solidFill>
                <a:schemeClr val="accent2"/>
              </a:solidFill>
              <a:prstDash val="solid"/>
              <a:headEnd type="none" w="med" len="med"/>
              <a:tailEnd type="none" w="med" len="med"/>
            </a:ln>
          </p:spPr>
        </p:sp>
        <p:sp>
          <p:nvSpPr>
            <p:cNvPr id="43056" name="Rectangle 127"/>
            <p:cNvSpPr/>
            <p:nvPr/>
          </p:nvSpPr>
          <p:spPr>
            <a:xfrm rot="-5400000">
              <a:off x="3247" y="168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57" name="Line 136"/>
            <p:cNvSpPr/>
            <p:nvPr/>
          </p:nvSpPr>
          <p:spPr>
            <a:xfrm rot="-5400000">
              <a:off x="3472" y="1724"/>
              <a:ext cx="734" cy="0"/>
            </a:xfrm>
            <a:prstGeom prst="line">
              <a:avLst/>
            </a:prstGeom>
            <a:ln w="12700" cap="flat" cmpd="sng">
              <a:solidFill>
                <a:schemeClr val="accent2"/>
              </a:solidFill>
              <a:prstDash val="solid"/>
              <a:headEnd type="none" w="med" len="med"/>
              <a:tailEnd type="none" w="med" len="med"/>
            </a:ln>
          </p:spPr>
        </p:sp>
        <p:sp>
          <p:nvSpPr>
            <p:cNvPr id="43058" name="Rectangle 139"/>
            <p:cNvSpPr/>
            <p:nvPr/>
          </p:nvSpPr>
          <p:spPr>
            <a:xfrm rot="-5400000">
              <a:off x="3770" y="168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59" name="Line 148"/>
            <p:cNvSpPr/>
            <p:nvPr/>
          </p:nvSpPr>
          <p:spPr>
            <a:xfrm rot="-5400000">
              <a:off x="3917" y="1803"/>
              <a:ext cx="893" cy="0"/>
            </a:xfrm>
            <a:prstGeom prst="line">
              <a:avLst/>
            </a:prstGeom>
            <a:ln w="12700" cap="flat" cmpd="sng">
              <a:solidFill>
                <a:schemeClr val="accent2"/>
              </a:solidFill>
              <a:prstDash val="solid"/>
              <a:headEnd type="none" w="med" len="med"/>
              <a:tailEnd type="none" w="med" len="med"/>
            </a:ln>
          </p:spPr>
        </p:sp>
        <p:sp>
          <p:nvSpPr>
            <p:cNvPr id="43060" name="Rectangle 151"/>
            <p:cNvSpPr/>
            <p:nvPr/>
          </p:nvSpPr>
          <p:spPr>
            <a:xfrm rot="-5400000">
              <a:off x="4295" y="168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61" name="Line 160"/>
            <p:cNvSpPr/>
            <p:nvPr/>
          </p:nvSpPr>
          <p:spPr>
            <a:xfrm rot="-5400000">
              <a:off x="4537" y="1724"/>
              <a:ext cx="735" cy="0"/>
            </a:xfrm>
            <a:prstGeom prst="line">
              <a:avLst/>
            </a:prstGeom>
            <a:ln w="12700" cap="flat" cmpd="sng">
              <a:solidFill>
                <a:schemeClr val="accent2"/>
              </a:solidFill>
              <a:prstDash val="solid"/>
              <a:headEnd type="none" w="med" len="med"/>
              <a:tailEnd type="none" w="med" len="med"/>
            </a:ln>
          </p:spPr>
        </p:sp>
        <p:sp>
          <p:nvSpPr>
            <p:cNvPr id="43062" name="Rectangle 163"/>
            <p:cNvSpPr/>
            <p:nvPr/>
          </p:nvSpPr>
          <p:spPr>
            <a:xfrm rot="-5400000">
              <a:off x="4836" y="168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63" name="Line 168"/>
            <p:cNvSpPr/>
            <p:nvPr/>
          </p:nvSpPr>
          <p:spPr>
            <a:xfrm rot="5400000" flipV="1">
              <a:off x="4225" y="203"/>
              <a:ext cx="1" cy="2307"/>
            </a:xfrm>
            <a:prstGeom prst="line">
              <a:avLst/>
            </a:prstGeom>
            <a:ln w="12700" cap="flat" cmpd="sng">
              <a:solidFill>
                <a:schemeClr val="accent2"/>
              </a:solidFill>
              <a:prstDash val="solid"/>
              <a:headEnd type="none" w="med" len="med"/>
              <a:tailEnd type="none" w="med" len="med"/>
            </a:ln>
          </p:spPr>
        </p:sp>
        <p:sp>
          <p:nvSpPr>
            <p:cNvPr id="43064" name="Text Box 170"/>
            <p:cNvSpPr txBox="1"/>
            <p:nvPr/>
          </p:nvSpPr>
          <p:spPr>
            <a:xfrm>
              <a:off x="3302" y="1612"/>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65" name="Text Box 172"/>
            <p:cNvSpPr txBox="1"/>
            <p:nvPr/>
          </p:nvSpPr>
          <p:spPr>
            <a:xfrm>
              <a:off x="3401" y="1176"/>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66" name="Oval 185"/>
            <p:cNvSpPr/>
            <p:nvPr/>
          </p:nvSpPr>
          <p:spPr>
            <a:xfrm rot="-5400000">
              <a:off x="3826" y="134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67" name="Oval 186"/>
            <p:cNvSpPr/>
            <p:nvPr/>
          </p:nvSpPr>
          <p:spPr>
            <a:xfrm rot="-5400000">
              <a:off x="3305" y="1345"/>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68" name="Oval 187"/>
            <p:cNvSpPr/>
            <p:nvPr/>
          </p:nvSpPr>
          <p:spPr>
            <a:xfrm rot="-5400000">
              <a:off x="4352" y="134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69" name="Text Box 190"/>
            <p:cNvSpPr txBox="1"/>
            <p:nvPr/>
          </p:nvSpPr>
          <p:spPr>
            <a:xfrm>
              <a:off x="3265" y="2406"/>
              <a:ext cx="1955" cy="231"/>
            </a:xfrm>
            <a:prstGeom prst="rect">
              <a:avLst/>
            </a:prstGeom>
            <a:noFill/>
            <a:ln w="9525">
              <a:noFill/>
            </a:ln>
          </p:spPr>
          <p:txBody>
            <a:bodyPr>
              <a:spAutoFit/>
            </a:bodyPr>
            <a:p>
              <a:pPr eaLnBrk="1" hangingPunct="1">
                <a:lnSpc>
                  <a:spcPct val="90000"/>
                </a:lnSpc>
                <a:spcBef>
                  <a:spcPct val="50000"/>
                </a:spcBef>
              </a:pPr>
              <a:r>
                <a:rPr lang="en-US" altLang="zh-CN" sz="2000" dirty="0">
                  <a:solidFill>
                    <a:srgbClr val="000099"/>
                  </a:solidFill>
                  <a:latin typeface="Times New Roman" panose="02020603050405020304" pitchFamily="18" charset="0"/>
                </a:rPr>
                <a:t>T</a:t>
              </a:r>
              <a:r>
                <a:rPr lang="zh-CN" altLang="en-US" sz="2000" dirty="0">
                  <a:solidFill>
                    <a:srgbClr val="000099"/>
                  </a:solidFill>
                  <a:latin typeface="Times New Roman" panose="02020603050405020304" pitchFamily="18" charset="0"/>
                </a:rPr>
                <a:t>型电阻网络的等效电阻</a:t>
              </a:r>
              <a:endParaRPr lang="zh-CN" altLang="en-US" sz="2000" dirty="0">
                <a:solidFill>
                  <a:srgbClr val="000099"/>
                </a:solidFill>
                <a:latin typeface="Times New Roman" panose="02020603050405020304" pitchFamily="18" charset="0"/>
              </a:endParaRPr>
            </a:p>
          </p:txBody>
        </p:sp>
        <p:sp>
          <p:nvSpPr>
            <p:cNvPr id="43070" name="Text Box 191"/>
            <p:cNvSpPr txBox="1"/>
            <p:nvPr/>
          </p:nvSpPr>
          <p:spPr>
            <a:xfrm>
              <a:off x="3820" y="161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71" name="Text Box 192"/>
            <p:cNvSpPr txBox="1"/>
            <p:nvPr/>
          </p:nvSpPr>
          <p:spPr>
            <a:xfrm>
              <a:off x="4351" y="161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72" name="Text Box 193"/>
            <p:cNvSpPr txBox="1"/>
            <p:nvPr/>
          </p:nvSpPr>
          <p:spPr>
            <a:xfrm>
              <a:off x="4892" y="161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73" name="Oval 194"/>
            <p:cNvSpPr/>
            <p:nvPr/>
          </p:nvSpPr>
          <p:spPr>
            <a:xfrm rot="-5400000">
              <a:off x="4892" y="1346"/>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74" name="Line 195"/>
            <p:cNvSpPr/>
            <p:nvPr/>
          </p:nvSpPr>
          <p:spPr>
            <a:xfrm rot="-5400000">
              <a:off x="5011" y="1724"/>
              <a:ext cx="735" cy="0"/>
            </a:xfrm>
            <a:prstGeom prst="line">
              <a:avLst/>
            </a:prstGeom>
            <a:ln w="12700" cap="flat" cmpd="sng">
              <a:solidFill>
                <a:schemeClr val="accent2"/>
              </a:solidFill>
              <a:prstDash val="solid"/>
              <a:headEnd type="none" w="med" len="med"/>
              <a:tailEnd type="none" w="med" len="med"/>
            </a:ln>
          </p:spPr>
        </p:sp>
        <p:sp>
          <p:nvSpPr>
            <p:cNvPr id="43075" name="Rectangle 196"/>
            <p:cNvSpPr/>
            <p:nvPr/>
          </p:nvSpPr>
          <p:spPr>
            <a:xfrm rot="-5400000">
              <a:off x="5310" y="168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76" name="Text Box 197"/>
            <p:cNvSpPr txBox="1"/>
            <p:nvPr/>
          </p:nvSpPr>
          <p:spPr>
            <a:xfrm>
              <a:off x="5366" y="1610"/>
              <a:ext cx="28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77" name="Rectangle 198"/>
            <p:cNvSpPr/>
            <p:nvPr/>
          </p:nvSpPr>
          <p:spPr>
            <a:xfrm>
              <a:off x="3433" y="1334"/>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78" name="Text Box 199"/>
            <p:cNvSpPr txBox="1"/>
            <p:nvPr/>
          </p:nvSpPr>
          <p:spPr>
            <a:xfrm>
              <a:off x="3921" y="1176"/>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79" name="Rectangle 200"/>
            <p:cNvSpPr/>
            <p:nvPr/>
          </p:nvSpPr>
          <p:spPr>
            <a:xfrm>
              <a:off x="3953" y="1334"/>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80" name="Text Box 201"/>
            <p:cNvSpPr txBox="1"/>
            <p:nvPr/>
          </p:nvSpPr>
          <p:spPr>
            <a:xfrm>
              <a:off x="4465" y="1175"/>
              <a:ext cx="215" cy="19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3081" name="Rectangle 202"/>
            <p:cNvSpPr/>
            <p:nvPr/>
          </p:nvSpPr>
          <p:spPr>
            <a:xfrm>
              <a:off x="4497" y="1333"/>
              <a:ext cx="136" cy="4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82" name="Line 203"/>
            <p:cNvSpPr/>
            <p:nvPr/>
          </p:nvSpPr>
          <p:spPr>
            <a:xfrm rot="5400000" flipV="1">
              <a:off x="4347" y="1060"/>
              <a:ext cx="1" cy="2063"/>
            </a:xfrm>
            <a:prstGeom prst="line">
              <a:avLst/>
            </a:prstGeom>
            <a:ln w="12700" cap="flat" cmpd="sng">
              <a:solidFill>
                <a:schemeClr val="accent2"/>
              </a:solidFill>
              <a:prstDash val="solid"/>
              <a:headEnd type="none" w="med" len="med"/>
              <a:tailEnd type="none" w="med" len="med"/>
            </a:ln>
          </p:spPr>
        </p:sp>
        <p:sp>
          <p:nvSpPr>
            <p:cNvPr id="43083" name="Oval 204"/>
            <p:cNvSpPr/>
            <p:nvPr/>
          </p:nvSpPr>
          <p:spPr>
            <a:xfrm rot="-5400000">
              <a:off x="3826" y="20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84" name="Oval 205"/>
            <p:cNvSpPr/>
            <p:nvPr/>
          </p:nvSpPr>
          <p:spPr>
            <a:xfrm rot="-5400000">
              <a:off x="4352" y="20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85" name="Oval 206"/>
            <p:cNvSpPr/>
            <p:nvPr/>
          </p:nvSpPr>
          <p:spPr>
            <a:xfrm rot="-5400000">
              <a:off x="4892" y="2080"/>
              <a:ext cx="23" cy="2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3086" name="Text Box 207"/>
            <p:cNvSpPr txBox="1"/>
            <p:nvPr/>
          </p:nvSpPr>
          <p:spPr>
            <a:xfrm>
              <a:off x="3216" y="1154"/>
              <a:ext cx="341"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a</a:t>
              </a:r>
              <a:endParaRPr lang="en-US" altLang="zh-CN" sz="2000" i="1" dirty="0">
                <a:solidFill>
                  <a:srgbClr val="FF0000"/>
                </a:solidFill>
                <a:latin typeface="Times New Roman" panose="02020603050405020304" pitchFamily="18" charset="0"/>
              </a:endParaRPr>
            </a:p>
          </p:txBody>
        </p:sp>
        <p:sp>
          <p:nvSpPr>
            <p:cNvPr id="43087" name="Text Box 208"/>
            <p:cNvSpPr txBox="1"/>
            <p:nvPr/>
          </p:nvSpPr>
          <p:spPr>
            <a:xfrm>
              <a:off x="3744" y="1162"/>
              <a:ext cx="341"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b</a:t>
              </a:r>
              <a:endParaRPr lang="en-US" altLang="zh-CN" sz="2000" i="1" dirty="0">
                <a:solidFill>
                  <a:srgbClr val="FF0000"/>
                </a:solidFill>
                <a:latin typeface="Times New Roman" panose="02020603050405020304" pitchFamily="18" charset="0"/>
              </a:endParaRPr>
            </a:p>
          </p:txBody>
        </p:sp>
        <p:sp>
          <p:nvSpPr>
            <p:cNvPr id="43088" name="Text Box 209"/>
            <p:cNvSpPr txBox="1"/>
            <p:nvPr/>
          </p:nvSpPr>
          <p:spPr>
            <a:xfrm>
              <a:off x="4270" y="1159"/>
              <a:ext cx="341"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c</a:t>
              </a:r>
              <a:endParaRPr lang="en-US" altLang="zh-CN" sz="2000" i="1" dirty="0">
                <a:solidFill>
                  <a:srgbClr val="FF0000"/>
                </a:solidFill>
                <a:latin typeface="Times New Roman" panose="02020603050405020304" pitchFamily="18" charset="0"/>
              </a:endParaRPr>
            </a:p>
          </p:txBody>
        </p:sp>
        <p:sp>
          <p:nvSpPr>
            <p:cNvPr id="43089" name="Text Box 210"/>
            <p:cNvSpPr txBox="1"/>
            <p:nvPr/>
          </p:nvSpPr>
          <p:spPr>
            <a:xfrm>
              <a:off x="4812" y="1163"/>
              <a:ext cx="341"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d</a:t>
              </a:r>
              <a:endParaRPr lang="en-US" altLang="zh-CN" sz="2000" i="1" dirty="0">
                <a:solidFill>
                  <a:srgbClr val="FF0000"/>
                </a:solidFill>
                <a:latin typeface="Times New Roman" panose="02020603050405020304" pitchFamily="18" charset="0"/>
              </a:endParaRPr>
            </a:p>
          </p:txBody>
        </p:sp>
      </p:grpSp>
      <p:grpSp>
        <p:nvGrpSpPr>
          <p:cNvPr id="2478329" name="Group 249"/>
          <p:cNvGrpSpPr/>
          <p:nvPr/>
        </p:nvGrpSpPr>
        <p:grpSpPr>
          <a:xfrm>
            <a:off x="4641850" y="2295525"/>
            <a:ext cx="541338" cy="915988"/>
            <a:chOff x="3083" y="1803"/>
            <a:chExt cx="341" cy="577"/>
          </a:xfrm>
        </p:grpSpPr>
        <p:sp>
          <p:nvSpPr>
            <p:cNvPr id="43049" name="Line 211"/>
            <p:cNvSpPr/>
            <p:nvPr/>
          </p:nvSpPr>
          <p:spPr>
            <a:xfrm>
              <a:off x="3193" y="2017"/>
              <a:ext cx="0" cy="363"/>
            </a:xfrm>
            <a:prstGeom prst="line">
              <a:avLst/>
            </a:prstGeom>
            <a:ln w="76200" cap="flat" cmpd="sng">
              <a:solidFill>
                <a:srgbClr val="FF0000"/>
              </a:solidFill>
              <a:prstDash val="solid"/>
              <a:headEnd type="none" w="med" len="med"/>
              <a:tailEnd type="stealth" w="med" len="lg"/>
            </a:ln>
          </p:spPr>
        </p:sp>
        <p:sp>
          <p:nvSpPr>
            <p:cNvPr id="43050" name="Text Box 212"/>
            <p:cNvSpPr txBox="1"/>
            <p:nvPr/>
          </p:nvSpPr>
          <p:spPr>
            <a:xfrm>
              <a:off x="3083" y="1803"/>
              <a:ext cx="34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r>
                <a:rPr lang="en-US" altLang="zh-CN" sz="1800" baseline="-25000" dirty="0">
                  <a:solidFill>
                    <a:srgbClr val="FF0000"/>
                  </a:solidFill>
                  <a:latin typeface="Times New Roman" panose="02020603050405020304" pitchFamily="18" charset="0"/>
                </a:rPr>
                <a:t>1</a:t>
              </a:r>
              <a:endParaRPr lang="en-US" altLang="zh-CN" sz="1800" baseline="-25000" dirty="0">
                <a:solidFill>
                  <a:srgbClr val="FF0000"/>
                </a:solidFill>
                <a:latin typeface="Times New Roman" panose="02020603050405020304" pitchFamily="18" charset="0"/>
              </a:endParaRPr>
            </a:p>
          </p:txBody>
        </p:sp>
      </p:grpSp>
      <p:grpSp>
        <p:nvGrpSpPr>
          <p:cNvPr id="2478330" name="Group 250"/>
          <p:cNvGrpSpPr/>
          <p:nvPr/>
        </p:nvGrpSpPr>
        <p:grpSpPr>
          <a:xfrm>
            <a:off x="5470525" y="2295525"/>
            <a:ext cx="541338" cy="808038"/>
            <a:chOff x="3605" y="1803"/>
            <a:chExt cx="341" cy="509"/>
          </a:xfrm>
        </p:grpSpPr>
        <p:sp>
          <p:nvSpPr>
            <p:cNvPr id="43047" name="Line 213"/>
            <p:cNvSpPr/>
            <p:nvPr/>
          </p:nvSpPr>
          <p:spPr>
            <a:xfrm>
              <a:off x="3715" y="2017"/>
              <a:ext cx="0" cy="295"/>
            </a:xfrm>
            <a:prstGeom prst="line">
              <a:avLst/>
            </a:prstGeom>
            <a:ln w="38100" cap="flat" cmpd="sng">
              <a:solidFill>
                <a:srgbClr val="FF0000"/>
              </a:solidFill>
              <a:prstDash val="solid"/>
              <a:headEnd type="none" w="med" len="med"/>
              <a:tailEnd type="stealth" w="med" len="lg"/>
            </a:ln>
          </p:spPr>
        </p:sp>
        <p:sp>
          <p:nvSpPr>
            <p:cNvPr id="43048" name="Text Box 214"/>
            <p:cNvSpPr txBox="1"/>
            <p:nvPr/>
          </p:nvSpPr>
          <p:spPr>
            <a:xfrm>
              <a:off x="3605" y="1803"/>
              <a:ext cx="34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r>
                <a:rPr lang="en-US" altLang="zh-CN" sz="1800" baseline="-25000" dirty="0">
                  <a:solidFill>
                    <a:srgbClr val="FF0000"/>
                  </a:solidFill>
                  <a:latin typeface="Times New Roman" panose="02020603050405020304" pitchFamily="18" charset="0"/>
                </a:rPr>
                <a:t>2</a:t>
              </a:r>
              <a:endParaRPr lang="en-US" altLang="zh-CN" sz="1800" baseline="-25000" dirty="0">
                <a:solidFill>
                  <a:srgbClr val="FF0000"/>
                </a:solidFill>
                <a:latin typeface="Times New Roman" panose="02020603050405020304" pitchFamily="18" charset="0"/>
              </a:endParaRPr>
            </a:p>
          </p:txBody>
        </p:sp>
      </p:grpSp>
      <p:grpSp>
        <p:nvGrpSpPr>
          <p:cNvPr id="2478331" name="Group 251"/>
          <p:cNvGrpSpPr/>
          <p:nvPr/>
        </p:nvGrpSpPr>
        <p:grpSpPr>
          <a:xfrm>
            <a:off x="6297613" y="2295525"/>
            <a:ext cx="541337" cy="700088"/>
            <a:chOff x="4126" y="1803"/>
            <a:chExt cx="341" cy="441"/>
          </a:xfrm>
        </p:grpSpPr>
        <p:sp>
          <p:nvSpPr>
            <p:cNvPr id="43045" name="Line 215"/>
            <p:cNvSpPr/>
            <p:nvPr/>
          </p:nvSpPr>
          <p:spPr>
            <a:xfrm>
              <a:off x="4236" y="2017"/>
              <a:ext cx="0" cy="227"/>
            </a:xfrm>
            <a:prstGeom prst="line">
              <a:avLst/>
            </a:prstGeom>
            <a:ln w="19050" cap="flat" cmpd="sng">
              <a:solidFill>
                <a:srgbClr val="FF0000"/>
              </a:solidFill>
              <a:prstDash val="solid"/>
              <a:headEnd type="none" w="med" len="med"/>
              <a:tailEnd type="stealth" w="med" len="lg"/>
            </a:ln>
          </p:spPr>
        </p:sp>
        <p:sp>
          <p:nvSpPr>
            <p:cNvPr id="43046" name="Text Box 216"/>
            <p:cNvSpPr txBox="1"/>
            <p:nvPr/>
          </p:nvSpPr>
          <p:spPr>
            <a:xfrm>
              <a:off x="4126" y="1803"/>
              <a:ext cx="34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r>
                <a:rPr lang="en-US" altLang="zh-CN" sz="1800" baseline="-25000" dirty="0">
                  <a:solidFill>
                    <a:srgbClr val="FF0000"/>
                  </a:solidFill>
                  <a:latin typeface="Times New Roman" panose="02020603050405020304" pitchFamily="18" charset="0"/>
                </a:rPr>
                <a:t>3</a:t>
              </a:r>
              <a:endParaRPr lang="en-US" altLang="zh-CN" sz="1800" baseline="-25000" dirty="0">
                <a:solidFill>
                  <a:srgbClr val="FF0000"/>
                </a:solidFill>
                <a:latin typeface="Times New Roman" panose="02020603050405020304" pitchFamily="18" charset="0"/>
              </a:endParaRPr>
            </a:p>
          </p:txBody>
        </p:sp>
      </p:grpSp>
      <p:grpSp>
        <p:nvGrpSpPr>
          <p:cNvPr id="2478332" name="Group 252"/>
          <p:cNvGrpSpPr/>
          <p:nvPr/>
        </p:nvGrpSpPr>
        <p:grpSpPr>
          <a:xfrm>
            <a:off x="7162800" y="2295525"/>
            <a:ext cx="541338" cy="576263"/>
            <a:chOff x="4671" y="1803"/>
            <a:chExt cx="341" cy="363"/>
          </a:xfrm>
        </p:grpSpPr>
        <p:sp>
          <p:nvSpPr>
            <p:cNvPr id="43043" name="Line 218"/>
            <p:cNvSpPr/>
            <p:nvPr/>
          </p:nvSpPr>
          <p:spPr>
            <a:xfrm>
              <a:off x="4781" y="2017"/>
              <a:ext cx="0" cy="149"/>
            </a:xfrm>
            <a:prstGeom prst="line">
              <a:avLst/>
            </a:prstGeom>
            <a:ln w="9525" cap="flat" cmpd="sng">
              <a:solidFill>
                <a:srgbClr val="FF0000"/>
              </a:solidFill>
              <a:prstDash val="solid"/>
              <a:headEnd type="none" w="med" len="med"/>
              <a:tailEnd type="stealth" w="sm" len="lg"/>
            </a:ln>
          </p:spPr>
        </p:sp>
        <p:sp>
          <p:nvSpPr>
            <p:cNvPr id="43044" name="Text Box 219"/>
            <p:cNvSpPr txBox="1"/>
            <p:nvPr/>
          </p:nvSpPr>
          <p:spPr>
            <a:xfrm>
              <a:off x="4671" y="1803"/>
              <a:ext cx="341"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r>
                <a:rPr lang="en-US" altLang="zh-CN" sz="1800" baseline="-25000" dirty="0">
                  <a:solidFill>
                    <a:srgbClr val="FF0000"/>
                  </a:solidFill>
                  <a:latin typeface="Times New Roman" panose="02020603050405020304" pitchFamily="18" charset="0"/>
                </a:rPr>
                <a:t>4</a:t>
              </a:r>
              <a:endParaRPr lang="en-US" altLang="zh-CN" sz="1800" baseline="-25000" dirty="0">
                <a:solidFill>
                  <a:srgbClr val="FF0000"/>
                </a:solidFill>
                <a:latin typeface="Times New Roman" panose="02020603050405020304" pitchFamily="18" charset="0"/>
              </a:endParaRPr>
            </a:p>
          </p:txBody>
        </p:sp>
      </p:grpSp>
      <p:grpSp>
        <p:nvGrpSpPr>
          <p:cNvPr id="2478312" name="Group 232"/>
          <p:cNvGrpSpPr/>
          <p:nvPr/>
        </p:nvGrpSpPr>
        <p:grpSpPr>
          <a:xfrm>
            <a:off x="7126288" y="1376363"/>
            <a:ext cx="541337" cy="2195512"/>
            <a:chOff x="2925" y="958"/>
            <a:chExt cx="341" cy="1383"/>
          </a:xfrm>
        </p:grpSpPr>
        <p:sp>
          <p:nvSpPr>
            <p:cNvPr id="43039" name="Line 220"/>
            <p:cNvSpPr/>
            <p:nvPr/>
          </p:nvSpPr>
          <p:spPr>
            <a:xfrm>
              <a:off x="2948" y="1162"/>
              <a:ext cx="0" cy="1179"/>
            </a:xfrm>
            <a:prstGeom prst="line">
              <a:avLst/>
            </a:prstGeom>
            <a:ln w="38100" cap="flat" cmpd="sng">
              <a:solidFill>
                <a:srgbClr val="00FF00"/>
              </a:solidFill>
              <a:prstDash val="sysDot"/>
              <a:headEnd type="none" w="med" len="med"/>
              <a:tailEnd type="none" w="med" len="med"/>
            </a:ln>
          </p:spPr>
        </p:sp>
        <p:sp>
          <p:nvSpPr>
            <p:cNvPr id="43040" name="Line 221"/>
            <p:cNvSpPr/>
            <p:nvPr/>
          </p:nvSpPr>
          <p:spPr>
            <a:xfrm>
              <a:off x="2948" y="1162"/>
              <a:ext cx="295" cy="0"/>
            </a:xfrm>
            <a:prstGeom prst="line">
              <a:avLst/>
            </a:prstGeom>
            <a:ln w="38100" cap="flat" cmpd="sng">
              <a:solidFill>
                <a:srgbClr val="00FF00"/>
              </a:solidFill>
              <a:prstDash val="solid"/>
              <a:headEnd type="none" w="med" len="med"/>
              <a:tailEnd type="stealth" w="med" len="lg"/>
            </a:ln>
          </p:spPr>
        </p:sp>
        <p:sp>
          <p:nvSpPr>
            <p:cNvPr id="43041" name="Line 222"/>
            <p:cNvSpPr/>
            <p:nvPr/>
          </p:nvSpPr>
          <p:spPr>
            <a:xfrm>
              <a:off x="2948" y="2338"/>
              <a:ext cx="295" cy="0"/>
            </a:xfrm>
            <a:prstGeom prst="line">
              <a:avLst/>
            </a:prstGeom>
            <a:ln w="38100" cap="flat" cmpd="sng">
              <a:solidFill>
                <a:srgbClr val="00FF00"/>
              </a:solidFill>
              <a:prstDash val="solid"/>
              <a:headEnd type="none" w="med" len="med"/>
              <a:tailEnd type="stealth" w="med" len="lg"/>
            </a:ln>
          </p:spPr>
        </p:sp>
        <p:sp>
          <p:nvSpPr>
            <p:cNvPr id="43042" name="Text Box 223"/>
            <p:cNvSpPr txBox="1"/>
            <p:nvPr/>
          </p:nvSpPr>
          <p:spPr>
            <a:xfrm>
              <a:off x="2925" y="958"/>
              <a:ext cx="34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00CC00"/>
                  </a:solidFill>
                  <a:latin typeface="Arial Black" panose="020B0A04020102020204" pitchFamily="34" charset="0"/>
                  <a:ea typeface="黑体" panose="02010609060101010101" pitchFamily="49" charset="-122"/>
                </a:rPr>
                <a:t>Ⅲ</a:t>
              </a:r>
              <a:endParaRPr lang="en-US" altLang="zh-CN" sz="1600" dirty="0">
                <a:solidFill>
                  <a:srgbClr val="00CC00"/>
                </a:solidFill>
                <a:latin typeface="Arial Black" panose="020B0A04020102020204" pitchFamily="34" charset="0"/>
                <a:ea typeface="黑体" panose="02010609060101010101" pitchFamily="49" charset="-122"/>
              </a:endParaRPr>
            </a:p>
          </p:txBody>
        </p:sp>
      </p:grpSp>
      <p:grpSp>
        <p:nvGrpSpPr>
          <p:cNvPr id="2478313" name="Group 233"/>
          <p:cNvGrpSpPr/>
          <p:nvPr/>
        </p:nvGrpSpPr>
        <p:grpSpPr>
          <a:xfrm>
            <a:off x="6261100" y="1376363"/>
            <a:ext cx="541338" cy="2195512"/>
            <a:chOff x="2380" y="958"/>
            <a:chExt cx="341" cy="1383"/>
          </a:xfrm>
        </p:grpSpPr>
        <p:sp>
          <p:nvSpPr>
            <p:cNvPr id="43035" name="Line 224"/>
            <p:cNvSpPr/>
            <p:nvPr/>
          </p:nvSpPr>
          <p:spPr>
            <a:xfrm>
              <a:off x="2403" y="1162"/>
              <a:ext cx="0" cy="1179"/>
            </a:xfrm>
            <a:prstGeom prst="line">
              <a:avLst/>
            </a:prstGeom>
            <a:ln w="38100" cap="flat" cmpd="sng">
              <a:solidFill>
                <a:srgbClr val="00FF00"/>
              </a:solidFill>
              <a:prstDash val="sysDot"/>
              <a:headEnd type="none" w="med" len="med"/>
              <a:tailEnd type="none" w="med" len="med"/>
            </a:ln>
          </p:spPr>
        </p:sp>
        <p:sp>
          <p:nvSpPr>
            <p:cNvPr id="43036" name="Line 225"/>
            <p:cNvSpPr/>
            <p:nvPr/>
          </p:nvSpPr>
          <p:spPr>
            <a:xfrm>
              <a:off x="2403" y="1162"/>
              <a:ext cx="295" cy="0"/>
            </a:xfrm>
            <a:prstGeom prst="line">
              <a:avLst/>
            </a:prstGeom>
            <a:ln w="38100" cap="flat" cmpd="sng">
              <a:solidFill>
                <a:srgbClr val="00FF00"/>
              </a:solidFill>
              <a:prstDash val="solid"/>
              <a:headEnd type="none" w="med" len="med"/>
              <a:tailEnd type="stealth" w="med" len="lg"/>
            </a:ln>
          </p:spPr>
        </p:sp>
        <p:sp>
          <p:nvSpPr>
            <p:cNvPr id="43037" name="Line 226"/>
            <p:cNvSpPr/>
            <p:nvPr/>
          </p:nvSpPr>
          <p:spPr>
            <a:xfrm>
              <a:off x="2403" y="2338"/>
              <a:ext cx="295" cy="0"/>
            </a:xfrm>
            <a:prstGeom prst="line">
              <a:avLst/>
            </a:prstGeom>
            <a:ln w="38100" cap="flat" cmpd="sng">
              <a:solidFill>
                <a:srgbClr val="00FF00"/>
              </a:solidFill>
              <a:prstDash val="solid"/>
              <a:headEnd type="none" w="med" len="med"/>
              <a:tailEnd type="stealth" w="med" len="lg"/>
            </a:ln>
          </p:spPr>
        </p:sp>
        <p:sp>
          <p:nvSpPr>
            <p:cNvPr id="43038" name="Text Box 227"/>
            <p:cNvSpPr txBox="1"/>
            <p:nvPr/>
          </p:nvSpPr>
          <p:spPr>
            <a:xfrm>
              <a:off x="2380" y="958"/>
              <a:ext cx="341" cy="19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00CC00"/>
                  </a:solidFill>
                  <a:latin typeface="Arial Black" panose="020B0A04020102020204" pitchFamily="34" charset="0"/>
                  <a:ea typeface="黑体" panose="02010609060101010101" pitchFamily="49" charset="-122"/>
                </a:rPr>
                <a:t>Ⅱ</a:t>
              </a:r>
              <a:endParaRPr lang="en-US" altLang="zh-CN" sz="1600" dirty="0">
                <a:solidFill>
                  <a:srgbClr val="00CC00"/>
                </a:solidFill>
                <a:latin typeface="Arial Black" panose="020B0A04020102020204" pitchFamily="34" charset="0"/>
                <a:ea typeface="黑体" panose="02010609060101010101" pitchFamily="49" charset="-122"/>
              </a:endParaRPr>
            </a:p>
          </p:txBody>
        </p:sp>
      </p:grpSp>
      <p:grpSp>
        <p:nvGrpSpPr>
          <p:cNvPr id="2478314" name="Group 234"/>
          <p:cNvGrpSpPr/>
          <p:nvPr/>
        </p:nvGrpSpPr>
        <p:grpSpPr>
          <a:xfrm>
            <a:off x="5434013" y="1376363"/>
            <a:ext cx="541337" cy="2195512"/>
            <a:chOff x="1859" y="958"/>
            <a:chExt cx="341" cy="1383"/>
          </a:xfrm>
        </p:grpSpPr>
        <p:sp>
          <p:nvSpPr>
            <p:cNvPr id="43031" name="Line 228"/>
            <p:cNvSpPr/>
            <p:nvPr/>
          </p:nvSpPr>
          <p:spPr>
            <a:xfrm>
              <a:off x="1882" y="1162"/>
              <a:ext cx="0" cy="1179"/>
            </a:xfrm>
            <a:prstGeom prst="line">
              <a:avLst/>
            </a:prstGeom>
            <a:ln w="38100" cap="flat" cmpd="sng">
              <a:solidFill>
                <a:srgbClr val="00FF00"/>
              </a:solidFill>
              <a:prstDash val="sysDot"/>
              <a:headEnd type="none" w="med" len="med"/>
              <a:tailEnd type="none" w="med" len="med"/>
            </a:ln>
          </p:spPr>
        </p:sp>
        <p:sp>
          <p:nvSpPr>
            <p:cNvPr id="43032" name="Line 229"/>
            <p:cNvSpPr/>
            <p:nvPr/>
          </p:nvSpPr>
          <p:spPr>
            <a:xfrm>
              <a:off x="1882" y="1162"/>
              <a:ext cx="295" cy="0"/>
            </a:xfrm>
            <a:prstGeom prst="line">
              <a:avLst/>
            </a:prstGeom>
            <a:ln w="38100" cap="flat" cmpd="sng">
              <a:solidFill>
                <a:srgbClr val="00FF00"/>
              </a:solidFill>
              <a:prstDash val="solid"/>
              <a:headEnd type="none" w="med" len="med"/>
              <a:tailEnd type="stealth" w="med" len="lg"/>
            </a:ln>
          </p:spPr>
        </p:sp>
        <p:sp>
          <p:nvSpPr>
            <p:cNvPr id="43033" name="Line 230"/>
            <p:cNvSpPr/>
            <p:nvPr/>
          </p:nvSpPr>
          <p:spPr>
            <a:xfrm>
              <a:off x="1882" y="2338"/>
              <a:ext cx="295" cy="0"/>
            </a:xfrm>
            <a:prstGeom prst="line">
              <a:avLst/>
            </a:prstGeom>
            <a:ln w="38100" cap="flat" cmpd="sng">
              <a:solidFill>
                <a:srgbClr val="00FF00"/>
              </a:solidFill>
              <a:prstDash val="solid"/>
              <a:headEnd type="none" w="med" len="med"/>
              <a:tailEnd type="stealth" w="med" len="lg"/>
            </a:ln>
          </p:spPr>
        </p:sp>
        <p:sp>
          <p:nvSpPr>
            <p:cNvPr id="43034" name="Text Box 231"/>
            <p:cNvSpPr txBox="1"/>
            <p:nvPr/>
          </p:nvSpPr>
          <p:spPr>
            <a:xfrm>
              <a:off x="1859" y="958"/>
              <a:ext cx="341" cy="197"/>
            </a:xfrm>
            <a:prstGeom prst="rect">
              <a:avLst/>
            </a:prstGeom>
            <a:noFill/>
            <a:ln w="9525">
              <a:noFill/>
            </a:ln>
          </p:spPr>
          <p:txBody>
            <a:bodyPr>
              <a:spAutoFit/>
            </a:bodyPr>
            <a:p>
              <a:pPr eaLnBrk="1" hangingPunct="1">
                <a:lnSpc>
                  <a:spcPct val="90000"/>
                </a:lnSpc>
                <a:spcBef>
                  <a:spcPct val="50000"/>
                </a:spcBef>
              </a:pPr>
              <a:r>
                <a:rPr lang="en-US" altLang="en-US" sz="1600" dirty="0">
                  <a:solidFill>
                    <a:srgbClr val="00CC00"/>
                  </a:solidFill>
                  <a:latin typeface="Arial Black" panose="020B0A04020102020204" pitchFamily="34" charset="0"/>
                  <a:ea typeface="黑体" panose="02010609060101010101" pitchFamily="49" charset="-122"/>
                </a:rPr>
                <a:t>Ⅰ</a:t>
              </a:r>
              <a:endParaRPr lang="en-US" altLang="zh-CN" sz="1600" dirty="0">
                <a:solidFill>
                  <a:srgbClr val="00CC00"/>
                </a:solidFill>
                <a:latin typeface="Arial Black" panose="020B0A04020102020204" pitchFamily="34" charset="0"/>
                <a:ea typeface="黑体" panose="02010609060101010101" pitchFamily="49" charset="-122"/>
              </a:endParaRPr>
            </a:p>
          </p:txBody>
        </p:sp>
      </p:grpSp>
      <p:sp>
        <p:nvSpPr>
          <p:cNvPr id="2478316" name="Text Box 236"/>
          <p:cNvSpPr txBox="1"/>
          <p:nvPr/>
        </p:nvSpPr>
        <p:spPr>
          <a:xfrm>
            <a:off x="431800" y="1481138"/>
            <a:ext cx="3203575" cy="1077912"/>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Times New Roman" panose="02020603050405020304" pitchFamily="18" charset="0"/>
              </a:rPr>
              <a:t>以</a:t>
            </a:r>
            <a:r>
              <a:rPr lang="en-US" altLang="zh-CN" sz="2400" dirty="0">
                <a:solidFill>
                  <a:schemeClr val="tx1"/>
                </a:solidFill>
                <a:latin typeface="Times New Roman" panose="02020603050405020304" pitchFamily="18" charset="0"/>
              </a:rPr>
              <a:t>III</a:t>
            </a:r>
            <a:r>
              <a:rPr lang="zh-CN" altLang="en-US"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II</a:t>
            </a:r>
            <a:r>
              <a:rPr lang="zh-CN" altLang="en-US" sz="2400" dirty="0">
                <a:solidFill>
                  <a:schemeClr val="tx1"/>
                </a:solidFill>
                <a:latin typeface="Times New Roman" panose="02020603050405020304" pitchFamily="18" charset="0"/>
              </a:rPr>
              <a:t>，</a:t>
            </a:r>
            <a:r>
              <a:rPr lang="en-US" altLang="zh-CN" sz="2400" dirty="0">
                <a:solidFill>
                  <a:schemeClr val="tx1"/>
                </a:solidFill>
                <a:latin typeface="Times New Roman" panose="02020603050405020304" pitchFamily="18" charset="0"/>
              </a:rPr>
              <a:t>I</a:t>
            </a:r>
            <a:r>
              <a:rPr lang="zh-CN" altLang="en-US" sz="2400" dirty="0">
                <a:solidFill>
                  <a:schemeClr val="tx1"/>
                </a:solidFill>
                <a:latin typeface="Times New Roman" panose="02020603050405020304" pitchFamily="18" charset="0"/>
              </a:rPr>
              <a:t>为界面向右看的等效电阻阻值均为</a:t>
            </a:r>
            <a:r>
              <a:rPr lang="en-US" altLang="zh-CN" sz="2400" i="1" dirty="0">
                <a:solidFill>
                  <a:srgbClr val="FF0000"/>
                </a:solidFill>
                <a:latin typeface="Times New Roman" panose="02020603050405020304" pitchFamily="18" charset="0"/>
              </a:rPr>
              <a:t>R</a:t>
            </a:r>
            <a:r>
              <a:rPr lang="zh-CN" altLang="en-US" sz="2400" dirty="0">
                <a:solidFill>
                  <a:schemeClr val="tx1"/>
                </a:solidFill>
                <a:latin typeface="Times New Roman" panose="02020603050405020304" pitchFamily="18" charset="0"/>
              </a:rPr>
              <a:t>。</a:t>
            </a:r>
            <a:endParaRPr lang="zh-CN" altLang="en-US" sz="2400" dirty="0">
              <a:solidFill>
                <a:schemeClr val="tx1"/>
              </a:solidFill>
              <a:latin typeface="Times New Roman" panose="02020603050405020304" pitchFamily="18" charset="0"/>
            </a:endParaRPr>
          </a:p>
        </p:txBody>
      </p:sp>
      <p:graphicFrame>
        <p:nvGraphicFramePr>
          <p:cNvPr id="2478317" name="Object 237"/>
          <p:cNvGraphicFramePr>
            <a:graphicFrameLocks noGrp="1" noChangeAspect="1"/>
          </p:cNvGraphicFramePr>
          <p:nvPr>
            <p:ph sz="quarter" idx="1" hasCustomPrompt="1"/>
          </p:nvPr>
        </p:nvGraphicFramePr>
        <p:xfrm>
          <a:off x="581025" y="3176588"/>
          <a:ext cx="2619375" cy="844550"/>
        </p:xfrm>
        <a:graphic>
          <a:graphicData uri="http://schemas.openxmlformats.org/presentationml/2006/ole">
            <mc:AlternateContent xmlns:mc="http://schemas.openxmlformats.org/markup-compatibility/2006">
              <mc:Choice xmlns:v="urn:schemas-microsoft-com:vml" Requires="v">
                <p:oleObj spid="_x0000_s3084" name="" r:id="rId1" imgW="1218565" imgH="393700" progId="Equation.3">
                  <p:embed/>
                </p:oleObj>
              </mc:Choice>
              <mc:Fallback>
                <p:oleObj name="" r:id="rId1" imgW="1218565" imgH="393700" progId="Equation.3">
                  <p:embed/>
                  <p:pic>
                    <p:nvPicPr>
                      <p:cNvPr id="0" name="图片 3083"/>
                      <p:cNvPicPr/>
                      <p:nvPr/>
                    </p:nvPicPr>
                    <p:blipFill>
                      <a:blip r:embed="rId2"/>
                      <a:stretch>
                        <a:fillRect/>
                      </a:stretch>
                    </p:blipFill>
                    <p:spPr>
                      <a:xfrm>
                        <a:off x="581025" y="3176588"/>
                        <a:ext cx="2619375" cy="844550"/>
                      </a:xfrm>
                      <a:prstGeom prst="rect">
                        <a:avLst/>
                      </a:prstGeom>
                      <a:noFill/>
                      <a:ln w="38100">
                        <a:noFill/>
                        <a:miter/>
                      </a:ln>
                    </p:spPr>
                  </p:pic>
                </p:oleObj>
              </mc:Fallback>
            </mc:AlternateContent>
          </a:graphicData>
        </a:graphic>
      </p:graphicFrame>
      <p:graphicFrame>
        <p:nvGraphicFramePr>
          <p:cNvPr id="2478319" name="Object 239"/>
          <p:cNvGraphicFramePr>
            <a:graphicFrameLocks noGrp="1" noChangeAspect="1"/>
          </p:cNvGraphicFramePr>
          <p:nvPr>
            <p:ph sz="quarter" idx="2" hasCustomPrompt="1"/>
          </p:nvPr>
        </p:nvGraphicFramePr>
        <p:xfrm>
          <a:off x="581025" y="2643188"/>
          <a:ext cx="1444625" cy="500062"/>
        </p:xfrm>
        <a:graphic>
          <a:graphicData uri="http://schemas.openxmlformats.org/presentationml/2006/ole">
            <mc:AlternateContent xmlns:mc="http://schemas.openxmlformats.org/markup-compatibility/2006">
              <mc:Choice xmlns:v="urn:schemas-microsoft-com:vml" Requires="v">
                <p:oleObj spid="_x0000_s3085" name="" r:id="rId3" imgW="660400" imgH="228600" progId="Equation.3">
                  <p:embed/>
                </p:oleObj>
              </mc:Choice>
              <mc:Fallback>
                <p:oleObj name="" r:id="rId3" imgW="660400" imgH="228600" progId="Equation.3">
                  <p:embed/>
                  <p:pic>
                    <p:nvPicPr>
                      <p:cNvPr id="0" name="图片 3084"/>
                      <p:cNvPicPr/>
                      <p:nvPr/>
                    </p:nvPicPr>
                    <p:blipFill>
                      <a:blip r:embed="rId4"/>
                      <a:stretch>
                        <a:fillRect/>
                      </a:stretch>
                    </p:blipFill>
                    <p:spPr>
                      <a:xfrm>
                        <a:off x="581025" y="2643188"/>
                        <a:ext cx="1444625" cy="500062"/>
                      </a:xfrm>
                      <a:prstGeom prst="rect">
                        <a:avLst/>
                      </a:prstGeom>
                      <a:noFill/>
                      <a:ln w="38100">
                        <a:noFill/>
                        <a:miter/>
                      </a:ln>
                    </p:spPr>
                  </p:pic>
                </p:oleObj>
              </mc:Fallback>
            </mc:AlternateContent>
          </a:graphicData>
        </a:graphic>
      </p:graphicFrame>
      <p:graphicFrame>
        <p:nvGraphicFramePr>
          <p:cNvPr id="2478322" name="Object 242"/>
          <p:cNvGraphicFramePr>
            <a:graphicFrameLocks noGrp="1" noChangeAspect="1"/>
          </p:cNvGraphicFramePr>
          <p:nvPr>
            <p:ph sz="quarter" idx="3" hasCustomPrompt="1"/>
          </p:nvPr>
        </p:nvGraphicFramePr>
        <p:xfrm>
          <a:off x="576263" y="4065588"/>
          <a:ext cx="2735262" cy="839787"/>
        </p:xfrm>
        <a:graphic>
          <a:graphicData uri="http://schemas.openxmlformats.org/presentationml/2006/ole">
            <mc:AlternateContent xmlns:mc="http://schemas.openxmlformats.org/markup-compatibility/2006">
              <mc:Choice xmlns:v="urn:schemas-microsoft-com:vml" Requires="v">
                <p:oleObj spid="_x0000_s3079" name="" r:id="rId5" imgW="1282700" imgH="393700" progId="Equation.3">
                  <p:embed/>
                </p:oleObj>
              </mc:Choice>
              <mc:Fallback>
                <p:oleObj name="" r:id="rId5" imgW="1282700" imgH="393700" progId="Equation.3">
                  <p:embed/>
                  <p:pic>
                    <p:nvPicPr>
                      <p:cNvPr id="0" name="图片 3078"/>
                      <p:cNvPicPr/>
                      <p:nvPr/>
                    </p:nvPicPr>
                    <p:blipFill>
                      <a:blip r:embed="rId6"/>
                      <a:stretch>
                        <a:fillRect/>
                      </a:stretch>
                    </p:blipFill>
                    <p:spPr>
                      <a:xfrm>
                        <a:off x="576263" y="4065588"/>
                        <a:ext cx="2735262" cy="839787"/>
                      </a:xfrm>
                      <a:prstGeom prst="rect">
                        <a:avLst/>
                      </a:prstGeom>
                      <a:noFill/>
                      <a:ln w="38100">
                        <a:noFill/>
                        <a:miter/>
                      </a:ln>
                    </p:spPr>
                  </p:pic>
                </p:oleObj>
              </mc:Fallback>
            </mc:AlternateContent>
          </a:graphicData>
        </a:graphic>
      </p:graphicFrame>
      <p:graphicFrame>
        <p:nvGraphicFramePr>
          <p:cNvPr id="2478325" name="Object 245"/>
          <p:cNvGraphicFramePr>
            <a:graphicFrameLocks noGrp="1" noChangeAspect="1"/>
          </p:cNvGraphicFramePr>
          <p:nvPr>
            <p:ph sz="quarter" idx="4" hasCustomPrompt="1"/>
          </p:nvPr>
        </p:nvGraphicFramePr>
        <p:xfrm>
          <a:off x="581025" y="5045075"/>
          <a:ext cx="2730500" cy="831850"/>
        </p:xfrm>
        <a:graphic>
          <a:graphicData uri="http://schemas.openxmlformats.org/presentationml/2006/ole">
            <mc:AlternateContent xmlns:mc="http://schemas.openxmlformats.org/markup-compatibility/2006">
              <mc:Choice xmlns:v="urn:schemas-microsoft-com:vml" Requires="v">
                <p:oleObj spid="_x0000_s3082" name="" r:id="rId7" imgW="1295400" imgH="393700" progId="Equation.3">
                  <p:embed/>
                </p:oleObj>
              </mc:Choice>
              <mc:Fallback>
                <p:oleObj name="" r:id="rId7" imgW="1295400" imgH="393700" progId="Equation.3">
                  <p:embed/>
                  <p:pic>
                    <p:nvPicPr>
                      <p:cNvPr id="0" name="图片 3081"/>
                      <p:cNvPicPr/>
                      <p:nvPr/>
                    </p:nvPicPr>
                    <p:blipFill>
                      <a:blip r:embed="rId8"/>
                      <a:stretch>
                        <a:fillRect/>
                      </a:stretch>
                    </p:blipFill>
                    <p:spPr>
                      <a:xfrm>
                        <a:off x="581025" y="5045075"/>
                        <a:ext cx="2730500" cy="831850"/>
                      </a:xfrm>
                      <a:prstGeom prst="rect">
                        <a:avLst/>
                      </a:prstGeom>
                      <a:noFill/>
                      <a:ln w="38100">
                        <a:noFill/>
                        <a:miter/>
                      </a:ln>
                    </p:spPr>
                  </p:pic>
                </p:oleObj>
              </mc:Fallback>
            </mc:AlternateContent>
          </a:graphicData>
        </a:graphic>
      </p:graphicFrame>
      <p:graphicFrame>
        <p:nvGraphicFramePr>
          <p:cNvPr id="2478333" name="Object 253"/>
          <p:cNvGraphicFramePr>
            <a:graphicFrameLocks noChangeAspect="1"/>
          </p:cNvGraphicFramePr>
          <p:nvPr/>
        </p:nvGraphicFramePr>
        <p:xfrm>
          <a:off x="3554413" y="4292600"/>
          <a:ext cx="2601912" cy="727075"/>
        </p:xfrm>
        <a:graphic>
          <a:graphicData uri="http://schemas.openxmlformats.org/presentationml/2006/ole">
            <mc:AlternateContent xmlns:mc="http://schemas.openxmlformats.org/markup-compatibility/2006">
              <mc:Choice xmlns:v="urn:schemas-microsoft-com:vml" Requires="v">
                <p:oleObj spid="_x0000_s3086" name="" r:id="rId9" imgW="1409065" imgH="393700" progId="Equation.3">
                  <p:embed/>
                </p:oleObj>
              </mc:Choice>
              <mc:Fallback>
                <p:oleObj name="" r:id="rId9" imgW="1409065" imgH="393700" progId="Equation.3">
                  <p:embed/>
                  <p:pic>
                    <p:nvPicPr>
                      <p:cNvPr id="0" name="图片 3085"/>
                      <p:cNvPicPr/>
                      <p:nvPr/>
                    </p:nvPicPr>
                    <p:blipFill>
                      <a:blip r:embed="rId10"/>
                      <a:stretch>
                        <a:fillRect/>
                      </a:stretch>
                    </p:blipFill>
                    <p:spPr>
                      <a:xfrm>
                        <a:off x="3554413" y="4292600"/>
                        <a:ext cx="2601912" cy="727075"/>
                      </a:xfrm>
                      <a:prstGeom prst="rect">
                        <a:avLst/>
                      </a:prstGeom>
                      <a:solidFill>
                        <a:srgbClr val="FFCC99"/>
                      </a:solidFill>
                      <a:ln w="38100">
                        <a:noFill/>
                        <a:miter/>
                      </a:ln>
                    </p:spPr>
                  </p:pic>
                </p:oleObj>
              </mc:Fallback>
            </mc:AlternateContent>
          </a:graphicData>
        </a:graphic>
      </p:graphicFrame>
      <p:sp>
        <p:nvSpPr>
          <p:cNvPr id="2478334" name="AutoShape 254"/>
          <p:cNvSpPr/>
          <p:nvPr/>
        </p:nvSpPr>
        <p:spPr>
          <a:xfrm>
            <a:off x="215900" y="2868613"/>
            <a:ext cx="323850" cy="2865437"/>
          </a:xfrm>
          <a:prstGeom prst="leftBrace">
            <a:avLst>
              <a:gd name="adj1" fmla="val 73733"/>
              <a:gd name="adj2" fmla="val 50000"/>
            </a:avLst>
          </a:prstGeom>
          <a:noFill/>
          <a:ln w="19050" cap="flat" cmpd="sng">
            <a:solidFill>
              <a:srgbClr val="FF0000"/>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2478335" name="Object 255"/>
          <p:cNvGraphicFramePr>
            <a:graphicFrameLocks noChangeAspect="1"/>
          </p:cNvGraphicFramePr>
          <p:nvPr/>
        </p:nvGraphicFramePr>
        <p:xfrm>
          <a:off x="3554413" y="5164138"/>
          <a:ext cx="2601912" cy="727075"/>
        </p:xfrm>
        <a:graphic>
          <a:graphicData uri="http://schemas.openxmlformats.org/presentationml/2006/ole">
            <mc:AlternateContent xmlns:mc="http://schemas.openxmlformats.org/markup-compatibility/2006">
              <mc:Choice xmlns:v="urn:schemas-microsoft-com:vml" Requires="v">
                <p:oleObj spid="_x0000_s3081" name="" r:id="rId11" imgW="1497965" imgH="393700" progId="Equation.3">
                  <p:embed/>
                </p:oleObj>
              </mc:Choice>
              <mc:Fallback>
                <p:oleObj name="" r:id="rId11" imgW="1497965" imgH="393700" progId="Equation.3">
                  <p:embed/>
                  <p:pic>
                    <p:nvPicPr>
                      <p:cNvPr id="0" name="图片 3080"/>
                      <p:cNvPicPr/>
                      <p:nvPr/>
                    </p:nvPicPr>
                    <p:blipFill>
                      <a:blip r:embed="rId12"/>
                      <a:stretch>
                        <a:fillRect/>
                      </a:stretch>
                    </p:blipFill>
                    <p:spPr>
                      <a:xfrm>
                        <a:off x="3554413" y="5164138"/>
                        <a:ext cx="2601912" cy="727075"/>
                      </a:xfrm>
                      <a:prstGeom prst="rect">
                        <a:avLst/>
                      </a:prstGeom>
                      <a:solidFill>
                        <a:srgbClr val="FFCC99"/>
                      </a:solidFill>
                      <a:ln w="38100">
                        <a:noFill/>
                        <a:miter/>
                      </a:ln>
                    </p:spPr>
                  </p:pic>
                </p:oleObj>
              </mc:Fallback>
            </mc:AlternateContent>
          </a:graphicData>
        </a:graphic>
      </p:graphicFrame>
      <p:graphicFrame>
        <p:nvGraphicFramePr>
          <p:cNvPr id="2478336" name="Object 256"/>
          <p:cNvGraphicFramePr>
            <a:graphicFrameLocks noChangeAspect="1"/>
          </p:cNvGraphicFramePr>
          <p:nvPr/>
        </p:nvGraphicFramePr>
        <p:xfrm>
          <a:off x="6402388" y="4292600"/>
          <a:ext cx="2601912" cy="727075"/>
        </p:xfrm>
        <a:graphic>
          <a:graphicData uri="http://schemas.openxmlformats.org/presentationml/2006/ole">
            <mc:AlternateContent xmlns:mc="http://schemas.openxmlformats.org/markup-compatibility/2006">
              <mc:Choice xmlns:v="urn:schemas-microsoft-com:vml" Requires="v">
                <p:oleObj spid="_x0000_s3080" name="" r:id="rId13" imgW="1447165" imgH="393700" progId="Equation.3">
                  <p:embed/>
                </p:oleObj>
              </mc:Choice>
              <mc:Fallback>
                <p:oleObj name="" r:id="rId13" imgW="1447165" imgH="393700" progId="Equation.3">
                  <p:embed/>
                  <p:pic>
                    <p:nvPicPr>
                      <p:cNvPr id="0" name="图片 3079"/>
                      <p:cNvPicPr/>
                      <p:nvPr/>
                    </p:nvPicPr>
                    <p:blipFill>
                      <a:blip r:embed="rId14"/>
                      <a:stretch>
                        <a:fillRect/>
                      </a:stretch>
                    </p:blipFill>
                    <p:spPr>
                      <a:xfrm>
                        <a:off x="6402388" y="4292600"/>
                        <a:ext cx="2601912" cy="727075"/>
                      </a:xfrm>
                      <a:prstGeom prst="rect">
                        <a:avLst/>
                      </a:prstGeom>
                      <a:solidFill>
                        <a:srgbClr val="FFCC99"/>
                      </a:solidFill>
                      <a:ln w="38100">
                        <a:noFill/>
                        <a:miter/>
                      </a:ln>
                    </p:spPr>
                  </p:pic>
                </p:oleObj>
              </mc:Fallback>
            </mc:AlternateContent>
          </a:graphicData>
        </a:graphic>
      </p:graphicFrame>
      <p:graphicFrame>
        <p:nvGraphicFramePr>
          <p:cNvPr id="2478337" name="Object 257"/>
          <p:cNvGraphicFramePr>
            <a:graphicFrameLocks noChangeAspect="1"/>
          </p:cNvGraphicFramePr>
          <p:nvPr/>
        </p:nvGraphicFramePr>
        <p:xfrm>
          <a:off x="6402388" y="5172075"/>
          <a:ext cx="2601912" cy="727075"/>
        </p:xfrm>
        <a:graphic>
          <a:graphicData uri="http://schemas.openxmlformats.org/presentationml/2006/ole">
            <mc:AlternateContent xmlns:mc="http://schemas.openxmlformats.org/markup-compatibility/2006">
              <mc:Choice xmlns:v="urn:schemas-microsoft-com:vml" Requires="v">
                <p:oleObj spid="_x0000_s3083" name="" r:id="rId15" imgW="1497965" imgH="393700" progId="Equation.3">
                  <p:embed/>
                </p:oleObj>
              </mc:Choice>
              <mc:Fallback>
                <p:oleObj name="" r:id="rId15" imgW="1497965" imgH="393700" progId="Equation.3">
                  <p:embed/>
                  <p:pic>
                    <p:nvPicPr>
                      <p:cNvPr id="0" name="图片 3082"/>
                      <p:cNvPicPr/>
                      <p:nvPr/>
                    </p:nvPicPr>
                    <p:blipFill>
                      <a:blip r:embed="rId16"/>
                      <a:stretch>
                        <a:fillRect/>
                      </a:stretch>
                    </p:blipFill>
                    <p:spPr>
                      <a:xfrm>
                        <a:off x="6402388" y="5172075"/>
                        <a:ext cx="2601912" cy="727075"/>
                      </a:xfrm>
                      <a:prstGeom prst="rect">
                        <a:avLst/>
                      </a:prstGeom>
                      <a:solidFill>
                        <a:srgbClr val="FFCC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78315"/>
                                        </p:tgtEl>
                                        <p:attrNameLst>
                                          <p:attrName>style.visibility</p:attrName>
                                        </p:attrNameLst>
                                      </p:cBhvr>
                                      <p:to>
                                        <p:strVal val="visible"/>
                                      </p:to>
                                    </p:set>
                                    <p:animEffect transition="in" filter="dissolve">
                                      <p:cBhvr>
                                        <p:cTn id="7" dur="500"/>
                                        <p:tgtEl>
                                          <p:spTgt spid="2478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478312"/>
                                        </p:tgtEl>
                                        <p:attrNameLst>
                                          <p:attrName>style.visibility</p:attrName>
                                        </p:attrNameLst>
                                      </p:cBhvr>
                                      <p:to>
                                        <p:strVal val="visible"/>
                                      </p:to>
                                    </p:set>
                                    <p:animEffect transition="in" filter="wipe(left)">
                                      <p:cBhvr>
                                        <p:cTn id="12" dur="2000"/>
                                        <p:tgtEl>
                                          <p:spTgt spid="247831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478313"/>
                                        </p:tgtEl>
                                        <p:attrNameLst>
                                          <p:attrName>style.visibility</p:attrName>
                                        </p:attrNameLst>
                                      </p:cBhvr>
                                      <p:to>
                                        <p:strVal val="visible"/>
                                      </p:to>
                                    </p:set>
                                    <p:animEffect transition="in" filter="wipe(left)">
                                      <p:cBhvr>
                                        <p:cTn id="17" dur="2000"/>
                                        <p:tgtEl>
                                          <p:spTgt spid="247831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478314"/>
                                        </p:tgtEl>
                                        <p:attrNameLst>
                                          <p:attrName>style.visibility</p:attrName>
                                        </p:attrNameLst>
                                      </p:cBhvr>
                                      <p:to>
                                        <p:strVal val="visible"/>
                                      </p:to>
                                    </p:set>
                                    <p:animEffect transition="in" filter="wipe(left)">
                                      <p:cBhvr>
                                        <p:cTn id="22" dur="2000"/>
                                        <p:tgtEl>
                                          <p:spTgt spid="247831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478316"/>
                                        </p:tgtEl>
                                        <p:attrNameLst>
                                          <p:attrName>style.visibility</p:attrName>
                                        </p:attrNameLst>
                                      </p:cBhvr>
                                      <p:to>
                                        <p:strVal val="visible"/>
                                      </p:to>
                                    </p:set>
                                    <p:animEffect transition="in" filter="dissolve">
                                      <p:cBhvr>
                                        <p:cTn id="27" dur="500"/>
                                        <p:tgtEl>
                                          <p:spTgt spid="24783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78328"/>
                                        </p:tgtEl>
                                        <p:attrNameLst>
                                          <p:attrName>style.visibility</p:attrName>
                                        </p:attrNameLst>
                                      </p:cBhvr>
                                      <p:to>
                                        <p:strVal val="visible"/>
                                      </p:to>
                                    </p:set>
                                    <p:animEffect transition="in" filter="dissolve">
                                      <p:cBhvr>
                                        <p:cTn id="32" dur="500"/>
                                        <p:tgtEl>
                                          <p:spTgt spid="2478328"/>
                                        </p:tgtEl>
                                      </p:cBhvr>
                                    </p:animEffect>
                                  </p:childTnLst>
                                </p:cTn>
                              </p:par>
                              <p:par>
                                <p:cTn id="33" presetID="9" presetClass="entr" presetSubtype="0" fill="hold" nodeType="withEffect">
                                  <p:stCondLst>
                                    <p:cond delay="0"/>
                                  </p:stCondLst>
                                  <p:childTnLst>
                                    <p:set>
                                      <p:cBhvr>
                                        <p:cTn id="34" dur="1" fill="hold">
                                          <p:stCondLst>
                                            <p:cond delay="0"/>
                                          </p:stCondLst>
                                        </p:cTn>
                                        <p:tgtEl>
                                          <p:spTgt spid="2478317"/>
                                        </p:tgtEl>
                                        <p:attrNameLst>
                                          <p:attrName>style.visibility</p:attrName>
                                        </p:attrNameLst>
                                      </p:cBhvr>
                                      <p:to>
                                        <p:strVal val="visible"/>
                                      </p:to>
                                    </p:set>
                                    <p:animEffect transition="in" filter="dissolve">
                                      <p:cBhvr>
                                        <p:cTn id="35" dur="500"/>
                                        <p:tgtEl>
                                          <p:spTgt spid="2478317"/>
                                        </p:tgtEl>
                                      </p:cBhvr>
                                    </p:animEffect>
                                  </p:childTnLst>
                                </p:cTn>
                              </p:par>
                              <p:par>
                                <p:cTn id="36" presetID="9" presetClass="entr" presetSubtype="0" fill="hold" nodeType="withEffect">
                                  <p:stCondLst>
                                    <p:cond delay="0"/>
                                  </p:stCondLst>
                                  <p:childTnLst>
                                    <p:set>
                                      <p:cBhvr>
                                        <p:cTn id="37" dur="1" fill="hold">
                                          <p:stCondLst>
                                            <p:cond delay="0"/>
                                          </p:stCondLst>
                                        </p:cTn>
                                        <p:tgtEl>
                                          <p:spTgt spid="2478319"/>
                                        </p:tgtEl>
                                        <p:attrNameLst>
                                          <p:attrName>style.visibility</p:attrName>
                                        </p:attrNameLst>
                                      </p:cBhvr>
                                      <p:to>
                                        <p:strVal val="visible"/>
                                      </p:to>
                                    </p:set>
                                    <p:animEffect transition="in" filter="dissolve">
                                      <p:cBhvr>
                                        <p:cTn id="38" dur="500"/>
                                        <p:tgtEl>
                                          <p:spTgt spid="2478319"/>
                                        </p:tgtEl>
                                      </p:cBhvr>
                                    </p:animEffect>
                                  </p:childTnLst>
                                </p:cTn>
                              </p:par>
                              <p:par>
                                <p:cTn id="39" presetID="9" presetClass="entr" presetSubtype="0" fill="hold" nodeType="withEffect">
                                  <p:stCondLst>
                                    <p:cond delay="0"/>
                                  </p:stCondLst>
                                  <p:childTnLst>
                                    <p:set>
                                      <p:cBhvr>
                                        <p:cTn id="40" dur="1" fill="hold">
                                          <p:stCondLst>
                                            <p:cond delay="0"/>
                                          </p:stCondLst>
                                        </p:cTn>
                                        <p:tgtEl>
                                          <p:spTgt spid="2478322"/>
                                        </p:tgtEl>
                                        <p:attrNameLst>
                                          <p:attrName>style.visibility</p:attrName>
                                        </p:attrNameLst>
                                      </p:cBhvr>
                                      <p:to>
                                        <p:strVal val="visible"/>
                                      </p:to>
                                    </p:set>
                                    <p:animEffect transition="in" filter="dissolve">
                                      <p:cBhvr>
                                        <p:cTn id="41" dur="500"/>
                                        <p:tgtEl>
                                          <p:spTgt spid="2478322"/>
                                        </p:tgtEl>
                                      </p:cBhvr>
                                    </p:animEffect>
                                  </p:childTnLst>
                                </p:cTn>
                              </p:par>
                              <p:par>
                                <p:cTn id="42" presetID="9" presetClass="entr" presetSubtype="0" fill="hold" nodeType="withEffect">
                                  <p:stCondLst>
                                    <p:cond delay="0"/>
                                  </p:stCondLst>
                                  <p:childTnLst>
                                    <p:set>
                                      <p:cBhvr>
                                        <p:cTn id="43" dur="1" fill="hold">
                                          <p:stCondLst>
                                            <p:cond delay="0"/>
                                          </p:stCondLst>
                                        </p:cTn>
                                        <p:tgtEl>
                                          <p:spTgt spid="2478325"/>
                                        </p:tgtEl>
                                        <p:attrNameLst>
                                          <p:attrName>style.visibility</p:attrName>
                                        </p:attrNameLst>
                                      </p:cBhvr>
                                      <p:to>
                                        <p:strVal val="visible"/>
                                      </p:to>
                                    </p:set>
                                    <p:animEffect transition="in" filter="dissolve">
                                      <p:cBhvr>
                                        <p:cTn id="44" dur="500"/>
                                        <p:tgtEl>
                                          <p:spTgt spid="2478325"/>
                                        </p:tgtEl>
                                      </p:cBhvr>
                                    </p:animEffect>
                                  </p:childTnLst>
                                </p:cTn>
                              </p:par>
                              <p:par>
                                <p:cTn id="45" presetID="9" presetClass="entr" presetSubtype="0" fill="hold" nodeType="withEffect">
                                  <p:stCondLst>
                                    <p:cond delay="0"/>
                                  </p:stCondLst>
                                  <p:childTnLst>
                                    <p:set>
                                      <p:cBhvr>
                                        <p:cTn id="46" dur="1" fill="hold">
                                          <p:stCondLst>
                                            <p:cond delay="0"/>
                                          </p:stCondLst>
                                        </p:cTn>
                                        <p:tgtEl>
                                          <p:spTgt spid="2478334"/>
                                        </p:tgtEl>
                                        <p:attrNameLst>
                                          <p:attrName>style.visibility</p:attrName>
                                        </p:attrNameLst>
                                      </p:cBhvr>
                                      <p:to>
                                        <p:strVal val="visible"/>
                                      </p:to>
                                    </p:set>
                                    <p:animEffect transition="in" filter="dissolve">
                                      <p:cBhvr>
                                        <p:cTn id="47" dur="500"/>
                                        <p:tgtEl>
                                          <p:spTgt spid="2478334"/>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2478329"/>
                                        </p:tgtEl>
                                        <p:attrNameLst>
                                          <p:attrName>style.visibility</p:attrName>
                                        </p:attrNameLst>
                                      </p:cBhvr>
                                      <p:to>
                                        <p:strVal val="visible"/>
                                      </p:to>
                                    </p:set>
                                    <p:animEffect transition="in" filter="wipe(up)">
                                      <p:cBhvr>
                                        <p:cTn id="52" dur="500"/>
                                        <p:tgtEl>
                                          <p:spTgt spid="2478329"/>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478333"/>
                                        </p:tgtEl>
                                        <p:attrNameLst>
                                          <p:attrName>style.visibility</p:attrName>
                                        </p:attrNameLst>
                                      </p:cBhvr>
                                      <p:to>
                                        <p:strVal val="visible"/>
                                      </p:to>
                                    </p:set>
                                    <p:animEffect transition="in" filter="dissolve">
                                      <p:cBhvr>
                                        <p:cTn id="57" dur="500"/>
                                        <p:tgtEl>
                                          <p:spTgt spid="247833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1" fill="hold" nodeType="clickEffect">
                                  <p:stCondLst>
                                    <p:cond delay="0"/>
                                  </p:stCondLst>
                                  <p:childTnLst>
                                    <p:set>
                                      <p:cBhvr>
                                        <p:cTn id="61" dur="1" fill="hold">
                                          <p:stCondLst>
                                            <p:cond delay="0"/>
                                          </p:stCondLst>
                                        </p:cTn>
                                        <p:tgtEl>
                                          <p:spTgt spid="2478330"/>
                                        </p:tgtEl>
                                        <p:attrNameLst>
                                          <p:attrName>style.visibility</p:attrName>
                                        </p:attrNameLst>
                                      </p:cBhvr>
                                      <p:to>
                                        <p:strVal val="visible"/>
                                      </p:to>
                                    </p:set>
                                    <p:animEffect transition="in" filter="wipe(up)">
                                      <p:cBhvr>
                                        <p:cTn id="62" dur="500"/>
                                        <p:tgtEl>
                                          <p:spTgt spid="2478330"/>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2478336"/>
                                        </p:tgtEl>
                                        <p:attrNameLst>
                                          <p:attrName>style.visibility</p:attrName>
                                        </p:attrNameLst>
                                      </p:cBhvr>
                                      <p:to>
                                        <p:strVal val="visible"/>
                                      </p:to>
                                    </p:set>
                                    <p:animEffect transition="in" filter="dissolve">
                                      <p:cBhvr>
                                        <p:cTn id="67" dur="500"/>
                                        <p:tgtEl>
                                          <p:spTgt spid="247833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nodeType="clickEffect">
                                  <p:stCondLst>
                                    <p:cond delay="0"/>
                                  </p:stCondLst>
                                  <p:childTnLst>
                                    <p:set>
                                      <p:cBhvr>
                                        <p:cTn id="71" dur="1" fill="hold">
                                          <p:stCondLst>
                                            <p:cond delay="0"/>
                                          </p:stCondLst>
                                        </p:cTn>
                                        <p:tgtEl>
                                          <p:spTgt spid="2478331"/>
                                        </p:tgtEl>
                                        <p:attrNameLst>
                                          <p:attrName>style.visibility</p:attrName>
                                        </p:attrNameLst>
                                      </p:cBhvr>
                                      <p:to>
                                        <p:strVal val="visible"/>
                                      </p:to>
                                    </p:set>
                                    <p:animEffect transition="in" filter="wipe(up)">
                                      <p:cBhvr>
                                        <p:cTn id="72" dur="500"/>
                                        <p:tgtEl>
                                          <p:spTgt spid="2478331"/>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2478335"/>
                                        </p:tgtEl>
                                        <p:attrNameLst>
                                          <p:attrName>style.visibility</p:attrName>
                                        </p:attrNameLst>
                                      </p:cBhvr>
                                      <p:to>
                                        <p:strVal val="visible"/>
                                      </p:to>
                                    </p:set>
                                    <p:animEffect transition="in" filter="dissolve">
                                      <p:cBhvr>
                                        <p:cTn id="77" dur="500"/>
                                        <p:tgtEl>
                                          <p:spTgt spid="2478335"/>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2478332"/>
                                        </p:tgtEl>
                                        <p:attrNameLst>
                                          <p:attrName>style.visibility</p:attrName>
                                        </p:attrNameLst>
                                      </p:cBhvr>
                                      <p:to>
                                        <p:strVal val="visible"/>
                                      </p:to>
                                    </p:set>
                                    <p:animEffect transition="in" filter="wipe(up)">
                                      <p:cBhvr>
                                        <p:cTn id="82" dur="500"/>
                                        <p:tgtEl>
                                          <p:spTgt spid="2478332"/>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nodeType="clickEffect">
                                  <p:stCondLst>
                                    <p:cond delay="0"/>
                                  </p:stCondLst>
                                  <p:childTnLst>
                                    <p:set>
                                      <p:cBhvr>
                                        <p:cTn id="86" dur="1" fill="hold">
                                          <p:stCondLst>
                                            <p:cond delay="0"/>
                                          </p:stCondLst>
                                        </p:cTn>
                                        <p:tgtEl>
                                          <p:spTgt spid="2478337"/>
                                        </p:tgtEl>
                                        <p:attrNameLst>
                                          <p:attrName>style.visibility</p:attrName>
                                        </p:attrNameLst>
                                      </p:cBhvr>
                                      <p:to>
                                        <p:strVal val="visible"/>
                                      </p:to>
                                    </p:set>
                                    <p:animEffect transition="in" filter="dissolve">
                                      <p:cBhvr>
                                        <p:cTn id="87" dur="500"/>
                                        <p:tgtEl>
                                          <p:spTgt spid="24783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316"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89346" name="Rectangle 2"/>
          <p:cNvSpPr/>
          <p:nvPr/>
        </p:nvSpPr>
        <p:spPr>
          <a:xfrm>
            <a:off x="315913" y="4113213"/>
            <a:ext cx="4435475" cy="1836737"/>
          </a:xfrm>
          <a:prstGeom prst="rect">
            <a:avLst/>
          </a:prstGeom>
          <a:solidFill>
            <a:srgbClr val="CCFFFF"/>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89347" name="Text Box 3"/>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45060" name="Rectangle 4"/>
          <p:cNvSpPr/>
          <p:nvPr/>
        </p:nvSpPr>
        <p:spPr>
          <a:xfrm>
            <a:off x="431800" y="657225"/>
            <a:ext cx="44291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T</a:t>
            </a:r>
            <a:r>
              <a:rPr lang="zh-CN" altLang="en-US" sz="3200" dirty="0">
                <a:latin typeface="Times New Roman" panose="02020603050405020304" pitchFamily="18" charset="0"/>
              </a:rPr>
              <a:t>型电阻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45061" name="Rectangle 5"/>
          <p:cNvSpPr/>
          <p:nvPr/>
        </p:nvSpPr>
        <p:spPr>
          <a:xfrm>
            <a:off x="2919413" y="1343025"/>
            <a:ext cx="6119812" cy="266382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2" name="Line 6"/>
          <p:cNvSpPr/>
          <p:nvPr/>
        </p:nvSpPr>
        <p:spPr>
          <a:xfrm rot="-5400000">
            <a:off x="5981700" y="1222375"/>
            <a:ext cx="1588" cy="3878263"/>
          </a:xfrm>
          <a:prstGeom prst="line">
            <a:avLst/>
          </a:prstGeom>
          <a:ln w="12700" cap="flat" cmpd="sng">
            <a:solidFill>
              <a:schemeClr val="accent2"/>
            </a:solidFill>
            <a:prstDash val="solid"/>
            <a:headEnd type="none" w="med" len="med"/>
            <a:tailEnd type="none" w="med" len="med"/>
          </a:ln>
        </p:spPr>
      </p:sp>
      <p:sp>
        <p:nvSpPr>
          <p:cNvPr id="45063" name="Line 7"/>
          <p:cNvSpPr/>
          <p:nvPr/>
        </p:nvSpPr>
        <p:spPr>
          <a:xfrm rot="-5400000">
            <a:off x="5781675" y="1504950"/>
            <a:ext cx="0" cy="4054475"/>
          </a:xfrm>
          <a:prstGeom prst="line">
            <a:avLst/>
          </a:prstGeom>
          <a:ln w="12700" cap="flat" cmpd="sng">
            <a:solidFill>
              <a:schemeClr val="accent2"/>
            </a:solidFill>
            <a:prstDash val="solid"/>
            <a:headEnd type="none" w="med" len="med"/>
            <a:tailEnd type="none" w="med" len="med"/>
          </a:ln>
        </p:spPr>
      </p:sp>
      <p:sp>
        <p:nvSpPr>
          <p:cNvPr id="45064" name="Oval 8"/>
          <p:cNvSpPr/>
          <p:nvPr/>
        </p:nvSpPr>
        <p:spPr>
          <a:xfrm>
            <a:off x="3438525" y="1581150"/>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5" name="Line 9"/>
          <p:cNvSpPr/>
          <p:nvPr/>
        </p:nvSpPr>
        <p:spPr>
          <a:xfrm>
            <a:off x="7046913" y="2312988"/>
            <a:ext cx="250825" cy="0"/>
          </a:xfrm>
          <a:prstGeom prst="line">
            <a:avLst/>
          </a:prstGeom>
          <a:ln w="19050" cap="flat" cmpd="sng">
            <a:solidFill>
              <a:srgbClr val="000080"/>
            </a:solidFill>
            <a:prstDash val="solid"/>
            <a:headEnd type="none" w="med" len="med"/>
            <a:tailEnd type="none" w="med" len="med"/>
          </a:ln>
        </p:spPr>
      </p:sp>
      <p:sp>
        <p:nvSpPr>
          <p:cNvPr id="45066" name="Text Box 10"/>
          <p:cNvSpPr txBox="1"/>
          <p:nvPr/>
        </p:nvSpPr>
        <p:spPr>
          <a:xfrm>
            <a:off x="2881313" y="1423988"/>
            <a:ext cx="6826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45067" name="AutoShape 11"/>
          <p:cNvSpPr/>
          <p:nvPr/>
        </p:nvSpPr>
        <p:spPr>
          <a:xfrm rot="5400000">
            <a:off x="7789863" y="3001963"/>
            <a:ext cx="647700" cy="6905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68" name="Line 12"/>
          <p:cNvSpPr/>
          <p:nvPr/>
        </p:nvSpPr>
        <p:spPr>
          <a:xfrm>
            <a:off x="7453313" y="3529013"/>
            <a:ext cx="0" cy="358775"/>
          </a:xfrm>
          <a:prstGeom prst="line">
            <a:avLst/>
          </a:prstGeom>
          <a:ln w="12700" cap="flat" cmpd="sng">
            <a:solidFill>
              <a:schemeClr val="accent2"/>
            </a:solidFill>
            <a:prstDash val="solid"/>
            <a:headEnd type="none" w="med" len="med"/>
            <a:tailEnd type="none" w="med" len="med"/>
          </a:ln>
        </p:spPr>
      </p:sp>
      <p:sp>
        <p:nvSpPr>
          <p:cNvPr id="45069" name="Line 13"/>
          <p:cNvSpPr/>
          <p:nvPr/>
        </p:nvSpPr>
        <p:spPr>
          <a:xfrm>
            <a:off x="7327900" y="3887788"/>
            <a:ext cx="250825" cy="0"/>
          </a:xfrm>
          <a:prstGeom prst="line">
            <a:avLst/>
          </a:prstGeom>
          <a:ln w="19050" cap="flat" cmpd="sng">
            <a:solidFill>
              <a:srgbClr val="000080"/>
            </a:solidFill>
            <a:prstDash val="solid"/>
            <a:headEnd type="none" w="med" len="med"/>
            <a:tailEnd type="none" w="med" len="med"/>
          </a:ln>
        </p:spPr>
      </p:sp>
      <p:sp>
        <p:nvSpPr>
          <p:cNvPr id="45070" name="Line 14"/>
          <p:cNvSpPr/>
          <p:nvPr/>
        </p:nvSpPr>
        <p:spPr>
          <a:xfrm>
            <a:off x="7446963" y="2730500"/>
            <a:ext cx="0" cy="430213"/>
          </a:xfrm>
          <a:prstGeom prst="line">
            <a:avLst/>
          </a:prstGeom>
          <a:ln w="12700" cap="flat" cmpd="sng">
            <a:solidFill>
              <a:schemeClr val="accent2"/>
            </a:solidFill>
            <a:prstDash val="solid"/>
            <a:headEnd type="none" w="med" len="med"/>
            <a:tailEnd type="none" w="med" len="med"/>
          </a:ln>
        </p:spPr>
      </p:sp>
      <p:sp>
        <p:nvSpPr>
          <p:cNvPr id="45071" name="Line 15"/>
          <p:cNvSpPr/>
          <p:nvPr/>
        </p:nvSpPr>
        <p:spPr>
          <a:xfrm>
            <a:off x="7446963" y="2728913"/>
            <a:ext cx="1195387" cy="1587"/>
          </a:xfrm>
          <a:prstGeom prst="line">
            <a:avLst/>
          </a:prstGeom>
          <a:ln w="12700" cap="flat" cmpd="sng">
            <a:solidFill>
              <a:schemeClr val="accent2"/>
            </a:solidFill>
            <a:prstDash val="solid"/>
            <a:headEnd type="none" w="med" len="med"/>
            <a:tailEnd type="none" w="med" len="med"/>
          </a:ln>
        </p:spPr>
      </p:sp>
      <p:sp>
        <p:nvSpPr>
          <p:cNvPr id="45072" name="Line 16"/>
          <p:cNvSpPr/>
          <p:nvPr/>
        </p:nvSpPr>
        <p:spPr>
          <a:xfrm>
            <a:off x="8459788" y="3346450"/>
            <a:ext cx="325437" cy="0"/>
          </a:xfrm>
          <a:prstGeom prst="line">
            <a:avLst/>
          </a:prstGeom>
          <a:ln w="12700" cap="flat" cmpd="sng">
            <a:solidFill>
              <a:schemeClr val="accent2"/>
            </a:solidFill>
            <a:prstDash val="solid"/>
            <a:headEnd type="none" w="med" len="med"/>
            <a:tailEnd type="none" w="med" len="med"/>
          </a:ln>
        </p:spPr>
      </p:sp>
      <p:sp>
        <p:nvSpPr>
          <p:cNvPr id="45073" name="Line 17"/>
          <p:cNvSpPr/>
          <p:nvPr/>
        </p:nvSpPr>
        <p:spPr>
          <a:xfrm>
            <a:off x="8642350" y="2732088"/>
            <a:ext cx="0" cy="614362"/>
          </a:xfrm>
          <a:prstGeom prst="line">
            <a:avLst/>
          </a:prstGeom>
          <a:ln w="12700" cap="flat" cmpd="sng">
            <a:solidFill>
              <a:schemeClr val="accent2"/>
            </a:solidFill>
            <a:prstDash val="solid"/>
            <a:headEnd type="none" w="med" len="med"/>
            <a:tailEnd type="none" w="med" len="med"/>
          </a:ln>
        </p:spPr>
      </p:sp>
      <p:sp>
        <p:nvSpPr>
          <p:cNvPr id="45074" name="Rectangle 18"/>
          <p:cNvSpPr/>
          <p:nvPr/>
        </p:nvSpPr>
        <p:spPr>
          <a:xfrm>
            <a:off x="7885113" y="2692400"/>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75" name="Text Box 19"/>
          <p:cNvSpPr txBox="1"/>
          <p:nvPr/>
        </p:nvSpPr>
        <p:spPr>
          <a:xfrm>
            <a:off x="7897813" y="2711450"/>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45076" name="Text Box 20"/>
          <p:cNvSpPr txBox="1"/>
          <p:nvPr/>
        </p:nvSpPr>
        <p:spPr>
          <a:xfrm>
            <a:off x="8642350" y="3019425"/>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45077" name="Oval 21"/>
          <p:cNvSpPr/>
          <p:nvPr/>
        </p:nvSpPr>
        <p:spPr>
          <a:xfrm>
            <a:off x="8785225" y="33067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78" name="Text Box 22"/>
          <p:cNvSpPr txBox="1"/>
          <p:nvPr/>
        </p:nvSpPr>
        <p:spPr>
          <a:xfrm>
            <a:off x="7712075" y="3355975"/>
            <a:ext cx="755650" cy="339725"/>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45079" name="Rectangle 23"/>
          <p:cNvSpPr/>
          <p:nvPr/>
        </p:nvSpPr>
        <p:spPr>
          <a:xfrm>
            <a:off x="7718425" y="2874963"/>
            <a:ext cx="412750" cy="339725"/>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45080" name="Text Box 24"/>
          <p:cNvSpPr txBox="1"/>
          <p:nvPr/>
        </p:nvSpPr>
        <p:spPr>
          <a:xfrm>
            <a:off x="7921625" y="3168650"/>
            <a:ext cx="287338" cy="339725"/>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45081" name="Rectangle 25"/>
          <p:cNvSpPr/>
          <p:nvPr/>
        </p:nvSpPr>
        <p:spPr>
          <a:xfrm rot="-5400000">
            <a:off x="3592513" y="24812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82" name="Oval 26"/>
          <p:cNvSpPr/>
          <p:nvPr/>
        </p:nvSpPr>
        <p:spPr>
          <a:xfrm rot="-5400000">
            <a:off x="3719513" y="28749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83" name="Oval 27"/>
          <p:cNvSpPr/>
          <p:nvPr/>
        </p:nvSpPr>
        <p:spPr>
          <a:xfrm rot="-5400000">
            <a:off x="4006850" y="28749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84" name="Oval 28"/>
          <p:cNvSpPr/>
          <p:nvPr/>
        </p:nvSpPr>
        <p:spPr>
          <a:xfrm rot="-5400000">
            <a:off x="3862388" y="24796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85" name="Line 29"/>
          <p:cNvSpPr/>
          <p:nvPr/>
        </p:nvSpPr>
        <p:spPr>
          <a:xfrm rot="-5400000">
            <a:off x="3463925" y="2046288"/>
            <a:ext cx="865188" cy="0"/>
          </a:xfrm>
          <a:prstGeom prst="line">
            <a:avLst/>
          </a:prstGeom>
          <a:ln w="12700" cap="flat" cmpd="sng">
            <a:solidFill>
              <a:schemeClr val="accent2"/>
            </a:solidFill>
            <a:prstDash val="solid"/>
            <a:headEnd type="none" w="med" len="med"/>
            <a:tailEnd type="none" w="med" len="med"/>
          </a:ln>
        </p:spPr>
      </p:sp>
      <p:sp>
        <p:nvSpPr>
          <p:cNvPr id="45086" name="Line 30"/>
          <p:cNvSpPr/>
          <p:nvPr/>
        </p:nvSpPr>
        <p:spPr>
          <a:xfrm rot="-5400000">
            <a:off x="3463925" y="3238500"/>
            <a:ext cx="581025" cy="0"/>
          </a:xfrm>
          <a:prstGeom prst="line">
            <a:avLst/>
          </a:prstGeom>
          <a:ln w="12700" cap="flat" cmpd="sng">
            <a:solidFill>
              <a:schemeClr val="accent2"/>
            </a:solidFill>
            <a:prstDash val="solid"/>
            <a:headEnd type="none" w="med" len="med"/>
            <a:tailEnd type="none" w="med" len="med"/>
          </a:ln>
        </p:spPr>
      </p:sp>
      <p:sp>
        <p:nvSpPr>
          <p:cNvPr id="45087" name="Line 31"/>
          <p:cNvSpPr/>
          <p:nvPr/>
        </p:nvSpPr>
        <p:spPr>
          <a:xfrm rot="-5400000">
            <a:off x="3935413" y="3055938"/>
            <a:ext cx="215900" cy="0"/>
          </a:xfrm>
          <a:prstGeom prst="line">
            <a:avLst/>
          </a:prstGeom>
          <a:ln w="12700" cap="flat" cmpd="sng">
            <a:solidFill>
              <a:schemeClr val="accent2"/>
            </a:solidFill>
            <a:prstDash val="solid"/>
            <a:headEnd type="none" w="med" len="med"/>
            <a:tailEnd type="none" w="med" len="med"/>
          </a:ln>
        </p:spPr>
      </p:sp>
      <p:sp>
        <p:nvSpPr>
          <p:cNvPr id="45088" name="Rectangle 32"/>
          <p:cNvSpPr/>
          <p:nvPr/>
        </p:nvSpPr>
        <p:spPr>
          <a:xfrm rot="-5400000">
            <a:off x="3787775" y="19526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89" name="Line 33"/>
          <p:cNvSpPr/>
          <p:nvPr/>
        </p:nvSpPr>
        <p:spPr>
          <a:xfrm rot="-5400000" flipH="1" flipV="1">
            <a:off x="3646488" y="2693988"/>
            <a:ext cx="395287" cy="107950"/>
          </a:xfrm>
          <a:prstGeom prst="line">
            <a:avLst/>
          </a:prstGeom>
          <a:ln w="19050" cap="flat" cmpd="sng">
            <a:solidFill>
              <a:srgbClr val="FF0000"/>
            </a:solidFill>
            <a:prstDash val="solid"/>
            <a:headEnd type="none" w="med" len="med"/>
            <a:tailEnd type="none" w="med" len="med"/>
          </a:ln>
        </p:spPr>
      </p:sp>
      <p:sp>
        <p:nvSpPr>
          <p:cNvPr id="45090" name="Line 34"/>
          <p:cNvSpPr/>
          <p:nvPr/>
        </p:nvSpPr>
        <p:spPr>
          <a:xfrm rot="-5400000">
            <a:off x="3995738" y="2593975"/>
            <a:ext cx="1587" cy="269875"/>
          </a:xfrm>
          <a:prstGeom prst="line">
            <a:avLst/>
          </a:prstGeom>
          <a:ln w="12700" cap="flat" cmpd="sng">
            <a:solidFill>
              <a:srgbClr val="FF0000"/>
            </a:solidFill>
            <a:prstDash val="dash"/>
            <a:headEnd type="none" w="med" len="med"/>
            <a:tailEnd type="none" w="med" len="med"/>
          </a:ln>
        </p:spPr>
      </p:sp>
      <p:sp>
        <p:nvSpPr>
          <p:cNvPr id="45091" name="Line 35"/>
          <p:cNvSpPr/>
          <p:nvPr/>
        </p:nvSpPr>
        <p:spPr>
          <a:xfrm rot="-5400000">
            <a:off x="4230688" y="2633663"/>
            <a:ext cx="1587" cy="198437"/>
          </a:xfrm>
          <a:prstGeom prst="line">
            <a:avLst/>
          </a:prstGeom>
          <a:ln w="12700" cap="flat" cmpd="sng">
            <a:solidFill>
              <a:srgbClr val="FF0000"/>
            </a:solidFill>
            <a:prstDash val="solid"/>
            <a:headEnd type="stealth" w="med" len="lg"/>
            <a:tailEnd type="none" w="med" len="med"/>
          </a:ln>
        </p:spPr>
      </p:sp>
      <p:sp>
        <p:nvSpPr>
          <p:cNvPr id="45092" name="Line 36"/>
          <p:cNvSpPr/>
          <p:nvPr/>
        </p:nvSpPr>
        <p:spPr>
          <a:xfrm rot="-5400000" flipH="1">
            <a:off x="3862388" y="3200400"/>
            <a:ext cx="936625" cy="0"/>
          </a:xfrm>
          <a:prstGeom prst="line">
            <a:avLst/>
          </a:prstGeom>
          <a:ln w="12700" cap="flat" cmpd="sng">
            <a:solidFill>
              <a:srgbClr val="FF0000"/>
            </a:solidFill>
            <a:prstDash val="solid"/>
            <a:headEnd type="none" w="med" len="med"/>
            <a:tailEnd type="none" w="med" len="med"/>
          </a:ln>
        </p:spPr>
      </p:sp>
      <p:sp>
        <p:nvSpPr>
          <p:cNvPr id="45093" name="Rectangle 37"/>
          <p:cNvSpPr/>
          <p:nvPr/>
        </p:nvSpPr>
        <p:spPr>
          <a:xfrm rot="-5400000">
            <a:off x="4421188" y="24812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94" name="Oval 38"/>
          <p:cNvSpPr/>
          <p:nvPr/>
        </p:nvSpPr>
        <p:spPr>
          <a:xfrm rot="-5400000">
            <a:off x="4548188" y="28749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95" name="Oval 39"/>
          <p:cNvSpPr/>
          <p:nvPr/>
        </p:nvSpPr>
        <p:spPr>
          <a:xfrm rot="-5400000">
            <a:off x="4835525" y="28749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96" name="Oval 40"/>
          <p:cNvSpPr/>
          <p:nvPr/>
        </p:nvSpPr>
        <p:spPr>
          <a:xfrm rot="-5400000">
            <a:off x="4691063" y="24796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097" name="Line 41"/>
          <p:cNvSpPr/>
          <p:nvPr/>
        </p:nvSpPr>
        <p:spPr>
          <a:xfrm rot="-5400000">
            <a:off x="4294188" y="2046288"/>
            <a:ext cx="865187" cy="0"/>
          </a:xfrm>
          <a:prstGeom prst="line">
            <a:avLst/>
          </a:prstGeom>
          <a:ln w="12700" cap="flat" cmpd="sng">
            <a:solidFill>
              <a:schemeClr val="accent2"/>
            </a:solidFill>
            <a:prstDash val="solid"/>
            <a:headEnd type="none" w="med" len="med"/>
            <a:tailEnd type="none" w="med" len="med"/>
          </a:ln>
        </p:spPr>
      </p:sp>
      <p:sp>
        <p:nvSpPr>
          <p:cNvPr id="45098" name="Line 42"/>
          <p:cNvSpPr/>
          <p:nvPr/>
        </p:nvSpPr>
        <p:spPr>
          <a:xfrm rot="-5400000">
            <a:off x="4289425" y="3238500"/>
            <a:ext cx="585788" cy="0"/>
          </a:xfrm>
          <a:prstGeom prst="line">
            <a:avLst/>
          </a:prstGeom>
          <a:ln w="12700" cap="flat" cmpd="sng">
            <a:solidFill>
              <a:schemeClr val="accent2"/>
            </a:solidFill>
            <a:prstDash val="solid"/>
            <a:headEnd type="none" w="med" len="med"/>
            <a:tailEnd type="none" w="med" len="med"/>
          </a:ln>
        </p:spPr>
      </p:sp>
      <p:sp>
        <p:nvSpPr>
          <p:cNvPr id="45099" name="Line 43"/>
          <p:cNvSpPr/>
          <p:nvPr/>
        </p:nvSpPr>
        <p:spPr>
          <a:xfrm rot="-5400000">
            <a:off x="4764088" y="3055938"/>
            <a:ext cx="215900" cy="0"/>
          </a:xfrm>
          <a:prstGeom prst="line">
            <a:avLst/>
          </a:prstGeom>
          <a:ln w="12700" cap="flat" cmpd="sng">
            <a:solidFill>
              <a:schemeClr val="accent2"/>
            </a:solidFill>
            <a:prstDash val="solid"/>
            <a:headEnd type="none" w="med" len="med"/>
            <a:tailEnd type="none" w="med" len="med"/>
          </a:ln>
        </p:spPr>
      </p:sp>
      <p:sp>
        <p:nvSpPr>
          <p:cNvPr id="45100" name="Rectangle 44"/>
          <p:cNvSpPr/>
          <p:nvPr/>
        </p:nvSpPr>
        <p:spPr>
          <a:xfrm rot="-5400000">
            <a:off x="4618038" y="19526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01" name="Line 45"/>
          <p:cNvSpPr/>
          <p:nvPr/>
        </p:nvSpPr>
        <p:spPr>
          <a:xfrm rot="-5400000" flipH="1" flipV="1">
            <a:off x="4475163" y="2693988"/>
            <a:ext cx="395287" cy="107950"/>
          </a:xfrm>
          <a:prstGeom prst="line">
            <a:avLst/>
          </a:prstGeom>
          <a:ln w="19050" cap="flat" cmpd="sng">
            <a:solidFill>
              <a:srgbClr val="FF0000"/>
            </a:solidFill>
            <a:prstDash val="solid"/>
            <a:headEnd type="none" w="med" len="med"/>
            <a:tailEnd type="none" w="med" len="med"/>
          </a:ln>
        </p:spPr>
      </p:sp>
      <p:sp>
        <p:nvSpPr>
          <p:cNvPr id="45102" name="Line 46"/>
          <p:cNvSpPr/>
          <p:nvPr/>
        </p:nvSpPr>
        <p:spPr>
          <a:xfrm rot="-5400000">
            <a:off x="4824413" y="2593975"/>
            <a:ext cx="1587" cy="269875"/>
          </a:xfrm>
          <a:prstGeom prst="line">
            <a:avLst/>
          </a:prstGeom>
          <a:ln w="12700" cap="flat" cmpd="sng">
            <a:solidFill>
              <a:srgbClr val="FF0000"/>
            </a:solidFill>
            <a:prstDash val="dash"/>
            <a:headEnd type="none" w="med" len="med"/>
            <a:tailEnd type="none" w="med" len="med"/>
          </a:ln>
        </p:spPr>
      </p:sp>
      <p:sp>
        <p:nvSpPr>
          <p:cNvPr id="45103" name="Line 47"/>
          <p:cNvSpPr/>
          <p:nvPr/>
        </p:nvSpPr>
        <p:spPr>
          <a:xfrm rot="-5400000">
            <a:off x="5059363" y="2633663"/>
            <a:ext cx="1587" cy="198437"/>
          </a:xfrm>
          <a:prstGeom prst="line">
            <a:avLst/>
          </a:prstGeom>
          <a:ln w="12700" cap="flat" cmpd="sng">
            <a:solidFill>
              <a:srgbClr val="FF0000"/>
            </a:solidFill>
            <a:prstDash val="solid"/>
            <a:headEnd type="stealth" w="med" len="lg"/>
            <a:tailEnd type="none" w="med" len="med"/>
          </a:ln>
        </p:spPr>
      </p:sp>
      <p:sp>
        <p:nvSpPr>
          <p:cNvPr id="45104" name="Line 48"/>
          <p:cNvSpPr/>
          <p:nvPr/>
        </p:nvSpPr>
        <p:spPr>
          <a:xfrm rot="-5400000" flipH="1">
            <a:off x="4691063" y="3200400"/>
            <a:ext cx="936625" cy="0"/>
          </a:xfrm>
          <a:prstGeom prst="line">
            <a:avLst/>
          </a:prstGeom>
          <a:ln w="12700" cap="flat" cmpd="sng">
            <a:solidFill>
              <a:srgbClr val="FF0000"/>
            </a:solidFill>
            <a:prstDash val="solid"/>
            <a:headEnd type="none" w="med" len="med"/>
            <a:tailEnd type="none" w="med" len="med"/>
          </a:ln>
        </p:spPr>
      </p:sp>
      <p:sp>
        <p:nvSpPr>
          <p:cNvPr id="45105" name="Rectangle 49"/>
          <p:cNvSpPr/>
          <p:nvPr/>
        </p:nvSpPr>
        <p:spPr>
          <a:xfrm rot="-5400000">
            <a:off x="5254625" y="24812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06" name="Oval 50"/>
          <p:cNvSpPr/>
          <p:nvPr/>
        </p:nvSpPr>
        <p:spPr>
          <a:xfrm rot="-5400000">
            <a:off x="5381625" y="28749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07" name="Oval 51"/>
          <p:cNvSpPr/>
          <p:nvPr/>
        </p:nvSpPr>
        <p:spPr>
          <a:xfrm rot="-5400000">
            <a:off x="5668963" y="28749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08" name="Oval 52"/>
          <p:cNvSpPr/>
          <p:nvPr/>
        </p:nvSpPr>
        <p:spPr>
          <a:xfrm rot="-5400000">
            <a:off x="5524500" y="2479675"/>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09" name="Line 53"/>
          <p:cNvSpPr/>
          <p:nvPr/>
        </p:nvSpPr>
        <p:spPr>
          <a:xfrm rot="-5400000">
            <a:off x="5127625" y="2046288"/>
            <a:ext cx="865188" cy="0"/>
          </a:xfrm>
          <a:prstGeom prst="line">
            <a:avLst/>
          </a:prstGeom>
          <a:ln w="12700" cap="flat" cmpd="sng">
            <a:solidFill>
              <a:schemeClr val="accent2"/>
            </a:solidFill>
            <a:prstDash val="solid"/>
            <a:headEnd type="none" w="med" len="med"/>
            <a:tailEnd type="none" w="med" len="med"/>
          </a:ln>
        </p:spPr>
      </p:sp>
      <p:sp>
        <p:nvSpPr>
          <p:cNvPr id="45110" name="Line 54"/>
          <p:cNvSpPr/>
          <p:nvPr/>
        </p:nvSpPr>
        <p:spPr>
          <a:xfrm rot="-5400000">
            <a:off x="5122863" y="3238500"/>
            <a:ext cx="585787" cy="0"/>
          </a:xfrm>
          <a:prstGeom prst="line">
            <a:avLst/>
          </a:prstGeom>
          <a:ln w="12700" cap="flat" cmpd="sng">
            <a:solidFill>
              <a:schemeClr val="accent2"/>
            </a:solidFill>
            <a:prstDash val="solid"/>
            <a:headEnd type="none" w="med" len="med"/>
            <a:tailEnd type="none" w="med" len="med"/>
          </a:ln>
        </p:spPr>
      </p:sp>
      <p:sp>
        <p:nvSpPr>
          <p:cNvPr id="45111" name="Line 55"/>
          <p:cNvSpPr/>
          <p:nvPr/>
        </p:nvSpPr>
        <p:spPr>
          <a:xfrm rot="-5400000">
            <a:off x="5597525" y="3055938"/>
            <a:ext cx="215900" cy="0"/>
          </a:xfrm>
          <a:prstGeom prst="line">
            <a:avLst/>
          </a:prstGeom>
          <a:ln w="12700" cap="flat" cmpd="sng">
            <a:solidFill>
              <a:schemeClr val="accent2"/>
            </a:solidFill>
            <a:prstDash val="solid"/>
            <a:headEnd type="none" w="med" len="med"/>
            <a:tailEnd type="none" w="med" len="med"/>
          </a:ln>
        </p:spPr>
      </p:sp>
      <p:sp>
        <p:nvSpPr>
          <p:cNvPr id="45112" name="Rectangle 56"/>
          <p:cNvSpPr/>
          <p:nvPr/>
        </p:nvSpPr>
        <p:spPr>
          <a:xfrm rot="-5400000">
            <a:off x="5451475" y="19526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13" name="Line 57"/>
          <p:cNvSpPr/>
          <p:nvPr/>
        </p:nvSpPr>
        <p:spPr>
          <a:xfrm rot="-5400000" flipH="1" flipV="1">
            <a:off x="5308600" y="2693988"/>
            <a:ext cx="395288" cy="107950"/>
          </a:xfrm>
          <a:prstGeom prst="line">
            <a:avLst/>
          </a:prstGeom>
          <a:ln w="19050" cap="flat" cmpd="sng">
            <a:solidFill>
              <a:srgbClr val="FF0000"/>
            </a:solidFill>
            <a:prstDash val="solid"/>
            <a:headEnd type="none" w="med" len="med"/>
            <a:tailEnd type="none" w="med" len="med"/>
          </a:ln>
        </p:spPr>
      </p:sp>
      <p:sp>
        <p:nvSpPr>
          <p:cNvPr id="45114" name="Line 58"/>
          <p:cNvSpPr/>
          <p:nvPr/>
        </p:nvSpPr>
        <p:spPr>
          <a:xfrm rot="-5400000">
            <a:off x="5657850" y="2593975"/>
            <a:ext cx="1588" cy="269875"/>
          </a:xfrm>
          <a:prstGeom prst="line">
            <a:avLst/>
          </a:prstGeom>
          <a:ln w="12700" cap="flat" cmpd="sng">
            <a:solidFill>
              <a:srgbClr val="FF0000"/>
            </a:solidFill>
            <a:prstDash val="dash"/>
            <a:headEnd type="none" w="med" len="med"/>
            <a:tailEnd type="none" w="med" len="med"/>
          </a:ln>
        </p:spPr>
      </p:sp>
      <p:sp>
        <p:nvSpPr>
          <p:cNvPr id="45115" name="Line 59"/>
          <p:cNvSpPr/>
          <p:nvPr/>
        </p:nvSpPr>
        <p:spPr>
          <a:xfrm rot="-5400000">
            <a:off x="5892800" y="2633663"/>
            <a:ext cx="1588" cy="198437"/>
          </a:xfrm>
          <a:prstGeom prst="line">
            <a:avLst/>
          </a:prstGeom>
          <a:ln w="12700" cap="flat" cmpd="sng">
            <a:solidFill>
              <a:srgbClr val="FF0000"/>
            </a:solidFill>
            <a:prstDash val="solid"/>
            <a:headEnd type="stealth" w="med" len="lg"/>
            <a:tailEnd type="none" w="med" len="med"/>
          </a:ln>
        </p:spPr>
      </p:sp>
      <p:sp>
        <p:nvSpPr>
          <p:cNvPr id="45116" name="Line 60"/>
          <p:cNvSpPr/>
          <p:nvPr/>
        </p:nvSpPr>
        <p:spPr>
          <a:xfrm rot="-5400000" flipH="1">
            <a:off x="5524500" y="3200400"/>
            <a:ext cx="936625" cy="0"/>
          </a:xfrm>
          <a:prstGeom prst="line">
            <a:avLst/>
          </a:prstGeom>
          <a:ln w="12700" cap="flat" cmpd="sng">
            <a:solidFill>
              <a:srgbClr val="FF0000"/>
            </a:solidFill>
            <a:prstDash val="solid"/>
            <a:headEnd type="none" w="med" len="med"/>
            <a:tailEnd type="none" w="med" len="med"/>
          </a:ln>
        </p:spPr>
      </p:sp>
      <p:sp>
        <p:nvSpPr>
          <p:cNvPr id="45117" name="Rectangle 61"/>
          <p:cNvSpPr/>
          <p:nvPr/>
        </p:nvSpPr>
        <p:spPr>
          <a:xfrm rot="-5400000">
            <a:off x="6113463" y="24812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18" name="Oval 62"/>
          <p:cNvSpPr/>
          <p:nvPr/>
        </p:nvSpPr>
        <p:spPr>
          <a:xfrm rot="-5400000">
            <a:off x="6240463" y="28749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19" name="Oval 63"/>
          <p:cNvSpPr/>
          <p:nvPr/>
        </p:nvSpPr>
        <p:spPr>
          <a:xfrm rot="-5400000">
            <a:off x="6527800" y="28749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20" name="Oval 64"/>
          <p:cNvSpPr/>
          <p:nvPr/>
        </p:nvSpPr>
        <p:spPr>
          <a:xfrm rot="-5400000">
            <a:off x="6383338" y="24796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21" name="Line 65"/>
          <p:cNvSpPr/>
          <p:nvPr/>
        </p:nvSpPr>
        <p:spPr>
          <a:xfrm rot="-5400000">
            <a:off x="5986463" y="2046288"/>
            <a:ext cx="865187" cy="0"/>
          </a:xfrm>
          <a:prstGeom prst="line">
            <a:avLst/>
          </a:prstGeom>
          <a:ln w="12700" cap="flat" cmpd="sng">
            <a:solidFill>
              <a:schemeClr val="accent2"/>
            </a:solidFill>
            <a:prstDash val="solid"/>
            <a:headEnd type="none" w="med" len="med"/>
            <a:tailEnd type="none" w="med" len="med"/>
          </a:ln>
        </p:spPr>
      </p:sp>
      <p:sp>
        <p:nvSpPr>
          <p:cNvPr id="45122" name="Line 66"/>
          <p:cNvSpPr/>
          <p:nvPr/>
        </p:nvSpPr>
        <p:spPr>
          <a:xfrm rot="-5400000">
            <a:off x="5981700" y="3238500"/>
            <a:ext cx="585788" cy="0"/>
          </a:xfrm>
          <a:prstGeom prst="line">
            <a:avLst/>
          </a:prstGeom>
          <a:ln w="12700" cap="flat" cmpd="sng">
            <a:solidFill>
              <a:schemeClr val="accent2"/>
            </a:solidFill>
            <a:prstDash val="solid"/>
            <a:headEnd type="none" w="med" len="med"/>
            <a:tailEnd type="none" w="med" len="med"/>
          </a:ln>
        </p:spPr>
      </p:sp>
      <p:sp>
        <p:nvSpPr>
          <p:cNvPr id="45123" name="Line 67"/>
          <p:cNvSpPr/>
          <p:nvPr/>
        </p:nvSpPr>
        <p:spPr>
          <a:xfrm rot="-5400000">
            <a:off x="6456363" y="3055938"/>
            <a:ext cx="215900" cy="0"/>
          </a:xfrm>
          <a:prstGeom prst="line">
            <a:avLst/>
          </a:prstGeom>
          <a:ln w="12700" cap="flat" cmpd="sng">
            <a:solidFill>
              <a:schemeClr val="accent2"/>
            </a:solidFill>
            <a:prstDash val="solid"/>
            <a:headEnd type="none" w="med" len="med"/>
            <a:tailEnd type="none" w="med" len="med"/>
          </a:ln>
        </p:spPr>
      </p:sp>
      <p:sp>
        <p:nvSpPr>
          <p:cNvPr id="45124" name="Rectangle 68"/>
          <p:cNvSpPr/>
          <p:nvPr/>
        </p:nvSpPr>
        <p:spPr>
          <a:xfrm rot="-5400000">
            <a:off x="6310313" y="19526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25" name="Line 69"/>
          <p:cNvSpPr/>
          <p:nvPr/>
        </p:nvSpPr>
        <p:spPr>
          <a:xfrm rot="-5400000" flipH="1" flipV="1">
            <a:off x="6167438" y="2693988"/>
            <a:ext cx="395287" cy="107950"/>
          </a:xfrm>
          <a:prstGeom prst="line">
            <a:avLst/>
          </a:prstGeom>
          <a:ln w="19050" cap="flat" cmpd="sng">
            <a:solidFill>
              <a:srgbClr val="FF0000"/>
            </a:solidFill>
            <a:prstDash val="solid"/>
            <a:headEnd type="none" w="med" len="med"/>
            <a:tailEnd type="none" w="med" len="med"/>
          </a:ln>
        </p:spPr>
      </p:sp>
      <p:sp>
        <p:nvSpPr>
          <p:cNvPr id="45126" name="Line 70"/>
          <p:cNvSpPr/>
          <p:nvPr/>
        </p:nvSpPr>
        <p:spPr>
          <a:xfrm rot="-5400000">
            <a:off x="6516688" y="2593975"/>
            <a:ext cx="1587" cy="269875"/>
          </a:xfrm>
          <a:prstGeom prst="line">
            <a:avLst/>
          </a:prstGeom>
          <a:ln w="12700" cap="flat" cmpd="sng">
            <a:solidFill>
              <a:srgbClr val="FF0000"/>
            </a:solidFill>
            <a:prstDash val="dash"/>
            <a:headEnd type="none" w="med" len="med"/>
            <a:tailEnd type="none" w="med" len="med"/>
          </a:ln>
        </p:spPr>
      </p:sp>
      <p:sp>
        <p:nvSpPr>
          <p:cNvPr id="45127" name="Line 71"/>
          <p:cNvSpPr/>
          <p:nvPr/>
        </p:nvSpPr>
        <p:spPr>
          <a:xfrm rot="-5400000">
            <a:off x="6751638" y="2633663"/>
            <a:ext cx="1587" cy="198437"/>
          </a:xfrm>
          <a:prstGeom prst="line">
            <a:avLst/>
          </a:prstGeom>
          <a:ln w="12700" cap="flat" cmpd="sng">
            <a:solidFill>
              <a:srgbClr val="FF0000"/>
            </a:solidFill>
            <a:prstDash val="solid"/>
            <a:headEnd type="stealth" w="med" len="lg"/>
            <a:tailEnd type="none" w="med" len="med"/>
          </a:ln>
        </p:spPr>
      </p:sp>
      <p:sp>
        <p:nvSpPr>
          <p:cNvPr id="45128" name="Line 72"/>
          <p:cNvSpPr/>
          <p:nvPr/>
        </p:nvSpPr>
        <p:spPr>
          <a:xfrm rot="-5400000" flipH="1">
            <a:off x="6383338" y="3200400"/>
            <a:ext cx="936625" cy="0"/>
          </a:xfrm>
          <a:prstGeom prst="line">
            <a:avLst/>
          </a:prstGeom>
          <a:ln w="12700" cap="flat" cmpd="sng">
            <a:solidFill>
              <a:srgbClr val="FF0000"/>
            </a:solidFill>
            <a:prstDash val="solid"/>
            <a:headEnd type="none" w="med" len="med"/>
            <a:tailEnd type="none" w="med" len="med"/>
          </a:ln>
        </p:spPr>
      </p:sp>
      <p:sp>
        <p:nvSpPr>
          <p:cNvPr id="45129" name="Line 73"/>
          <p:cNvSpPr/>
          <p:nvPr/>
        </p:nvSpPr>
        <p:spPr>
          <a:xfrm rot="5400000" flipV="1">
            <a:off x="5340350" y="-217487"/>
            <a:ext cx="1588" cy="3662362"/>
          </a:xfrm>
          <a:prstGeom prst="line">
            <a:avLst/>
          </a:prstGeom>
          <a:ln w="12700" cap="flat" cmpd="sng">
            <a:solidFill>
              <a:schemeClr val="accent2"/>
            </a:solidFill>
            <a:prstDash val="solid"/>
            <a:headEnd type="none" w="med" len="med"/>
            <a:tailEnd type="none" w="med" len="med"/>
          </a:ln>
        </p:spPr>
      </p:sp>
      <p:sp>
        <p:nvSpPr>
          <p:cNvPr id="45130" name="Text Box 74"/>
          <p:cNvSpPr txBox="1"/>
          <p:nvPr/>
        </p:nvSpPr>
        <p:spPr>
          <a:xfrm>
            <a:off x="4070350" y="2322513"/>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45131" name="Text Box 75"/>
          <p:cNvSpPr txBox="1"/>
          <p:nvPr/>
        </p:nvSpPr>
        <p:spPr>
          <a:xfrm>
            <a:off x="3875088" y="1839913"/>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32" name="Text Box 76"/>
          <p:cNvSpPr txBox="1"/>
          <p:nvPr/>
        </p:nvSpPr>
        <p:spPr>
          <a:xfrm>
            <a:off x="4899025" y="2314575"/>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45133" name="Text Box 77"/>
          <p:cNvSpPr txBox="1"/>
          <p:nvPr/>
        </p:nvSpPr>
        <p:spPr>
          <a:xfrm>
            <a:off x="4162425" y="1327150"/>
            <a:ext cx="341313"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34" name="Text Box 78"/>
          <p:cNvSpPr txBox="1"/>
          <p:nvPr/>
        </p:nvSpPr>
        <p:spPr>
          <a:xfrm>
            <a:off x="5724525" y="231298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45135" name="Text Box 79"/>
          <p:cNvSpPr txBox="1"/>
          <p:nvPr/>
        </p:nvSpPr>
        <p:spPr>
          <a:xfrm>
            <a:off x="6597650" y="231298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45136" name="Text Box 80"/>
          <p:cNvSpPr txBox="1"/>
          <p:nvPr/>
        </p:nvSpPr>
        <p:spPr>
          <a:xfrm>
            <a:off x="4032250" y="36449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45137" name="Text Box 81"/>
          <p:cNvSpPr txBox="1"/>
          <p:nvPr/>
        </p:nvSpPr>
        <p:spPr>
          <a:xfrm>
            <a:off x="4860925" y="36449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45138" name="Text Box 82"/>
          <p:cNvSpPr txBox="1"/>
          <p:nvPr/>
        </p:nvSpPr>
        <p:spPr>
          <a:xfrm>
            <a:off x="5689600" y="36449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45139" name="Text Box 83"/>
          <p:cNvSpPr txBox="1"/>
          <p:nvPr/>
        </p:nvSpPr>
        <p:spPr>
          <a:xfrm>
            <a:off x="6553200" y="36449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45140" name="Oval 84"/>
          <p:cNvSpPr/>
          <p:nvPr/>
        </p:nvSpPr>
        <p:spPr>
          <a:xfrm rot="-5400000">
            <a:off x="4564063" y="35131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1" name="Oval 85"/>
          <p:cNvSpPr/>
          <p:nvPr/>
        </p:nvSpPr>
        <p:spPr>
          <a:xfrm rot="-5400000">
            <a:off x="6256338" y="35147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2" name="Oval 86"/>
          <p:cNvSpPr/>
          <p:nvPr/>
        </p:nvSpPr>
        <p:spPr>
          <a:xfrm rot="-5400000">
            <a:off x="5397500" y="35131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3" name="Oval 87"/>
          <p:cNvSpPr/>
          <p:nvPr/>
        </p:nvSpPr>
        <p:spPr>
          <a:xfrm rot="-5400000">
            <a:off x="5686425" y="31448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4" name="Oval 88"/>
          <p:cNvSpPr/>
          <p:nvPr/>
        </p:nvSpPr>
        <p:spPr>
          <a:xfrm rot="-5400000">
            <a:off x="4852988" y="31448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5" name="Oval 89"/>
          <p:cNvSpPr/>
          <p:nvPr/>
        </p:nvSpPr>
        <p:spPr>
          <a:xfrm rot="-5400000">
            <a:off x="6545263" y="31448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6" name="Oval 90"/>
          <p:cNvSpPr/>
          <p:nvPr/>
        </p:nvSpPr>
        <p:spPr>
          <a:xfrm rot="-5400000">
            <a:off x="4706938" y="15970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7" name="Oval 91"/>
          <p:cNvSpPr/>
          <p:nvPr/>
        </p:nvSpPr>
        <p:spPr>
          <a:xfrm rot="-5400000">
            <a:off x="3879850" y="15954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8" name="Oval 92"/>
          <p:cNvSpPr/>
          <p:nvPr/>
        </p:nvSpPr>
        <p:spPr>
          <a:xfrm rot="-5400000">
            <a:off x="5541963" y="15970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49" name="Oval 93"/>
          <p:cNvSpPr/>
          <p:nvPr/>
        </p:nvSpPr>
        <p:spPr>
          <a:xfrm>
            <a:off x="7427913" y="3143250"/>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50" name="Oval 94"/>
          <p:cNvSpPr/>
          <p:nvPr/>
        </p:nvSpPr>
        <p:spPr>
          <a:xfrm>
            <a:off x="8623300" y="3327400"/>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51" name="Text Box 95"/>
          <p:cNvSpPr txBox="1"/>
          <p:nvPr/>
        </p:nvSpPr>
        <p:spPr>
          <a:xfrm>
            <a:off x="4697413" y="18367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52" name="Text Box 96"/>
          <p:cNvSpPr txBox="1"/>
          <p:nvPr/>
        </p:nvSpPr>
        <p:spPr>
          <a:xfrm>
            <a:off x="5540375" y="1836738"/>
            <a:ext cx="446088"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53" name="Text Box 97"/>
          <p:cNvSpPr txBox="1"/>
          <p:nvPr/>
        </p:nvSpPr>
        <p:spPr>
          <a:xfrm>
            <a:off x="6399213" y="18367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54" name="Oval 98"/>
          <p:cNvSpPr/>
          <p:nvPr/>
        </p:nvSpPr>
        <p:spPr>
          <a:xfrm rot="-5400000">
            <a:off x="6399213" y="15970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55" name="Line 99"/>
          <p:cNvSpPr/>
          <p:nvPr/>
        </p:nvSpPr>
        <p:spPr>
          <a:xfrm rot="-5400000">
            <a:off x="6823075" y="1963738"/>
            <a:ext cx="698500" cy="0"/>
          </a:xfrm>
          <a:prstGeom prst="line">
            <a:avLst/>
          </a:prstGeom>
          <a:ln w="12700" cap="flat" cmpd="sng">
            <a:solidFill>
              <a:schemeClr val="accent2"/>
            </a:solidFill>
            <a:prstDash val="solid"/>
            <a:headEnd type="none" w="med" len="med"/>
            <a:tailEnd type="none" w="med" len="med"/>
          </a:ln>
        </p:spPr>
      </p:sp>
      <p:sp>
        <p:nvSpPr>
          <p:cNvPr id="45156" name="Rectangle 100"/>
          <p:cNvSpPr/>
          <p:nvPr/>
        </p:nvSpPr>
        <p:spPr>
          <a:xfrm rot="-5400000">
            <a:off x="7062788" y="19526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57" name="Text Box 101"/>
          <p:cNvSpPr txBox="1"/>
          <p:nvPr/>
        </p:nvSpPr>
        <p:spPr>
          <a:xfrm>
            <a:off x="7151688" y="18367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58" name="Rectangle 102"/>
          <p:cNvSpPr/>
          <p:nvPr/>
        </p:nvSpPr>
        <p:spPr>
          <a:xfrm>
            <a:off x="4213225" y="157797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59" name="Text Box 103"/>
          <p:cNvSpPr txBox="1"/>
          <p:nvPr/>
        </p:nvSpPr>
        <p:spPr>
          <a:xfrm>
            <a:off x="4987925" y="1327150"/>
            <a:ext cx="341313"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60" name="Rectangle 104"/>
          <p:cNvSpPr/>
          <p:nvPr/>
        </p:nvSpPr>
        <p:spPr>
          <a:xfrm>
            <a:off x="5038725" y="157797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5161" name="Text Box 105"/>
          <p:cNvSpPr txBox="1"/>
          <p:nvPr/>
        </p:nvSpPr>
        <p:spPr>
          <a:xfrm>
            <a:off x="5851525" y="1325563"/>
            <a:ext cx="341313"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5162" name="Rectangle 106"/>
          <p:cNvSpPr/>
          <p:nvPr/>
        </p:nvSpPr>
        <p:spPr>
          <a:xfrm>
            <a:off x="5902325" y="1576388"/>
            <a:ext cx="215900" cy="7143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nvGrpSpPr>
          <p:cNvPr id="2489451" name="Group 107"/>
          <p:cNvGrpSpPr/>
          <p:nvPr/>
        </p:nvGrpSpPr>
        <p:grpSpPr>
          <a:xfrm>
            <a:off x="7712075" y="2224088"/>
            <a:ext cx="652463" cy="339725"/>
            <a:chOff x="4858" y="1401"/>
            <a:chExt cx="411" cy="214"/>
          </a:xfrm>
        </p:grpSpPr>
        <p:sp>
          <p:nvSpPr>
            <p:cNvPr id="45170" name="Line 108"/>
            <p:cNvSpPr/>
            <p:nvPr/>
          </p:nvSpPr>
          <p:spPr>
            <a:xfrm>
              <a:off x="4858" y="1607"/>
              <a:ext cx="411" cy="0"/>
            </a:xfrm>
            <a:prstGeom prst="line">
              <a:avLst/>
            </a:prstGeom>
            <a:ln w="53975" cap="flat" cmpd="sng">
              <a:solidFill>
                <a:srgbClr val="FF0000"/>
              </a:solidFill>
              <a:prstDash val="solid"/>
              <a:headEnd type="none" w="med" len="med"/>
              <a:tailEnd type="stealth" w="med" len="lg"/>
            </a:ln>
          </p:spPr>
        </p:sp>
        <p:sp>
          <p:nvSpPr>
            <p:cNvPr id="45171" name="Text Box 109"/>
            <p:cNvSpPr txBox="1"/>
            <p:nvPr/>
          </p:nvSpPr>
          <p:spPr>
            <a:xfrm>
              <a:off x="4944" y="1401"/>
              <a:ext cx="310"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endParaRPr lang="en-US" altLang="zh-CN" sz="1800" i="1" dirty="0">
                <a:solidFill>
                  <a:srgbClr val="FF0000"/>
                </a:solidFill>
                <a:latin typeface="Times New Roman" panose="02020603050405020304" pitchFamily="18" charset="0"/>
              </a:endParaRPr>
            </a:p>
          </p:txBody>
        </p:sp>
      </p:grpSp>
      <p:graphicFrame>
        <p:nvGraphicFramePr>
          <p:cNvPr id="2489454" name="Object 110"/>
          <p:cNvGraphicFramePr>
            <a:graphicFrameLocks noGrp="1" noChangeAspect="1"/>
          </p:cNvGraphicFramePr>
          <p:nvPr>
            <p:ph sz="half" idx="1" hasCustomPrompt="1"/>
          </p:nvPr>
        </p:nvGraphicFramePr>
        <p:xfrm>
          <a:off x="315913" y="4113213"/>
          <a:ext cx="2052637" cy="406400"/>
        </p:xfrm>
        <a:graphic>
          <a:graphicData uri="http://schemas.openxmlformats.org/presentationml/2006/ole">
            <mc:AlternateContent xmlns:mc="http://schemas.openxmlformats.org/markup-compatibility/2006">
              <mc:Choice xmlns:v="urn:schemas-microsoft-com:vml" Requires="v">
                <p:oleObj spid="_x0000_s3089" name="" r:id="rId1" imgW="1155700" imgH="228600" progId="Equation.3">
                  <p:embed/>
                </p:oleObj>
              </mc:Choice>
              <mc:Fallback>
                <p:oleObj name="" r:id="rId1" imgW="1155700" imgH="228600" progId="Equation.3">
                  <p:embed/>
                  <p:pic>
                    <p:nvPicPr>
                      <p:cNvPr id="0" name="图片 3088"/>
                      <p:cNvPicPr/>
                      <p:nvPr/>
                    </p:nvPicPr>
                    <p:blipFill>
                      <a:blip r:embed="rId2"/>
                      <a:stretch>
                        <a:fillRect/>
                      </a:stretch>
                    </p:blipFill>
                    <p:spPr>
                      <a:xfrm>
                        <a:off x="315913" y="4113213"/>
                        <a:ext cx="2052637" cy="406400"/>
                      </a:xfrm>
                      <a:prstGeom prst="rect">
                        <a:avLst/>
                      </a:prstGeom>
                      <a:noFill/>
                      <a:ln w="38100">
                        <a:noFill/>
                        <a:miter/>
                      </a:ln>
                    </p:spPr>
                  </p:pic>
                </p:oleObj>
              </mc:Fallback>
            </mc:AlternateContent>
          </a:graphicData>
        </a:graphic>
      </p:graphicFrame>
      <p:graphicFrame>
        <p:nvGraphicFramePr>
          <p:cNvPr id="2489455" name="Object 111"/>
          <p:cNvGraphicFramePr>
            <a:graphicFrameLocks noGrp="1" noChangeAspect="1"/>
          </p:cNvGraphicFramePr>
          <p:nvPr>
            <p:ph sz="half" idx="2" hasCustomPrompt="1"/>
          </p:nvPr>
        </p:nvGraphicFramePr>
        <p:xfrm>
          <a:off x="495300" y="4568825"/>
          <a:ext cx="4219575" cy="1381125"/>
        </p:xfrm>
        <a:graphic>
          <a:graphicData uri="http://schemas.openxmlformats.org/presentationml/2006/ole">
            <mc:AlternateContent xmlns:mc="http://schemas.openxmlformats.org/markup-compatibility/2006">
              <mc:Choice xmlns:v="urn:schemas-microsoft-com:vml" Requires="v">
                <p:oleObj spid="_x0000_s3088" name="" r:id="rId3" imgW="2476500" imgH="812800" progId="Equation.3">
                  <p:embed/>
                </p:oleObj>
              </mc:Choice>
              <mc:Fallback>
                <p:oleObj name="" r:id="rId3" imgW="2476500" imgH="812800" progId="Equation.3">
                  <p:embed/>
                  <p:pic>
                    <p:nvPicPr>
                      <p:cNvPr id="0" name="图片 3087"/>
                      <p:cNvPicPr/>
                      <p:nvPr/>
                    </p:nvPicPr>
                    <p:blipFill>
                      <a:blip r:embed="rId4"/>
                      <a:stretch>
                        <a:fillRect/>
                      </a:stretch>
                    </p:blipFill>
                    <p:spPr>
                      <a:xfrm>
                        <a:off x="495300" y="4568825"/>
                        <a:ext cx="4219575" cy="1381125"/>
                      </a:xfrm>
                      <a:prstGeom prst="rect">
                        <a:avLst/>
                      </a:prstGeom>
                      <a:noFill/>
                      <a:ln w="38100">
                        <a:noFill/>
                        <a:miter/>
                      </a:ln>
                    </p:spPr>
                  </p:pic>
                </p:oleObj>
              </mc:Fallback>
            </mc:AlternateContent>
          </a:graphicData>
        </a:graphic>
      </p:graphicFrame>
      <p:sp>
        <p:nvSpPr>
          <p:cNvPr id="2489456" name="Text Box 112"/>
          <p:cNvSpPr txBox="1"/>
          <p:nvPr/>
        </p:nvSpPr>
        <p:spPr>
          <a:xfrm>
            <a:off x="184150" y="1539875"/>
            <a:ext cx="2663825" cy="2501900"/>
          </a:xfrm>
          <a:prstGeom prst="rect">
            <a:avLst/>
          </a:prstGeom>
          <a:noFill/>
          <a:ln w="9525">
            <a:noFill/>
          </a:ln>
        </p:spPr>
        <p:txBody>
          <a:bodyPr>
            <a:spAutoFit/>
          </a:bodyPr>
          <a:p>
            <a:pPr eaLnBrk="1" hangingPunct="1">
              <a:lnSpc>
                <a:spcPct val="110000"/>
              </a:lnSpc>
              <a:spcBef>
                <a:spcPct val="50000"/>
              </a:spcBef>
            </a:pPr>
            <a:r>
              <a:rPr lang="zh-CN" altLang="en-US" sz="2400" dirty="0">
                <a:latin typeface="Times New Roman" panose="02020603050405020304" pitchFamily="18" charset="0"/>
              </a:rPr>
              <a:t>当某位二进制数为“</a:t>
            </a:r>
            <a:r>
              <a:rPr lang="en-US" altLang="zh-CN" sz="2400" dirty="0">
                <a:latin typeface="Times New Roman" panose="02020603050405020304" pitchFamily="18" charset="0"/>
              </a:rPr>
              <a:t>1”</a:t>
            </a:r>
            <a:r>
              <a:rPr lang="zh-CN" altLang="en-US" sz="2400" dirty="0">
                <a:latin typeface="Times New Roman" panose="02020603050405020304" pitchFamily="18" charset="0"/>
              </a:rPr>
              <a:t>时，该支路电流流入放大器的虚地端，所以流入求和放大器的总电流为：</a:t>
            </a:r>
            <a:endParaRPr lang="zh-CN" altLang="en-US" sz="2400" dirty="0">
              <a:latin typeface="Times New Roman" panose="02020603050405020304" pitchFamily="18" charset="0"/>
            </a:endParaRPr>
          </a:p>
        </p:txBody>
      </p:sp>
      <p:sp>
        <p:nvSpPr>
          <p:cNvPr id="2489457" name="AutoShape 113"/>
          <p:cNvSpPr/>
          <p:nvPr/>
        </p:nvSpPr>
        <p:spPr>
          <a:xfrm>
            <a:off x="4906963" y="4941888"/>
            <a:ext cx="887412" cy="431800"/>
          </a:xfrm>
          <a:prstGeom prst="rightArrow">
            <a:avLst>
              <a:gd name="adj1" fmla="val 50000"/>
              <a:gd name="adj2" fmla="val 51378"/>
            </a:avLst>
          </a:prstGeom>
          <a:solidFill>
            <a:schemeClr val="accent1"/>
          </a:solidFill>
          <a:ln w="9525"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89458" name="Text Box 114"/>
          <p:cNvSpPr txBox="1"/>
          <p:nvPr/>
        </p:nvSpPr>
        <p:spPr>
          <a:xfrm>
            <a:off x="4895850" y="4610100"/>
            <a:ext cx="950913" cy="366713"/>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F</a:t>
            </a:r>
            <a:r>
              <a:rPr lang="en-US" altLang="zh-CN" sz="2000" dirty="0">
                <a:solidFill>
                  <a:srgbClr val="FF0000"/>
                </a:solidFill>
                <a:latin typeface="Times New Roman" panose="02020603050405020304" pitchFamily="18" charset="0"/>
              </a:rPr>
              <a:t>=</a:t>
            </a:r>
            <a:r>
              <a:rPr lang="en-US" altLang="zh-CN" sz="2000" i="1" dirty="0">
                <a:solidFill>
                  <a:srgbClr val="FF0000"/>
                </a:solidFill>
                <a:latin typeface="Times New Roman" panose="02020603050405020304" pitchFamily="18" charset="0"/>
              </a:rPr>
              <a:t>R</a:t>
            </a:r>
            <a:endParaRPr lang="en-US" altLang="zh-CN" sz="2000" i="1" dirty="0">
              <a:solidFill>
                <a:srgbClr val="FF0000"/>
              </a:solidFill>
              <a:latin typeface="Times New Roman" panose="02020603050405020304" pitchFamily="18" charset="0"/>
            </a:endParaRPr>
          </a:p>
        </p:txBody>
      </p:sp>
      <p:graphicFrame>
        <p:nvGraphicFramePr>
          <p:cNvPr id="2489462" name="Object 118"/>
          <p:cNvGraphicFramePr>
            <a:graphicFrameLocks noChangeAspect="1"/>
          </p:cNvGraphicFramePr>
          <p:nvPr/>
        </p:nvGraphicFramePr>
        <p:xfrm>
          <a:off x="5919788" y="4437063"/>
          <a:ext cx="2828925" cy="1389062"/>
        </p:xfrm>
        <a:graphic>
          <a:graphicData uri="http://schemas.openxmlformats.org/presentationml/2006/ole">
            <mc:AlternateContent xmlns:mc="http://schemas.openxmlformats.org/markup-compatibility/2006">
              <mc:Choice xmlns:v="urn:schemas-microsoft-com:vml" Requires="v">
                <p:oleObj spid="_x0000_s3087" name="" r:id="rId5" imgW="1346200" imgH="660400" progId="Equation.3">
                  <p:embed/>
                </p:oleObj>
              </mc:Choice>
              <mc:Fallback>
                <p:oleObj name="" r:id="rId5" imgW="1346200" imgH="660400" progId="Equation.3">
                  <p:embed/>
                  <p:pic>
                    <p:nvPicPr>
                      <p:cNvPr id="0" name="图片 3086"/>
                      <p:cNvPicPr/>
                      <p:nvPr/>
                    </p:nvPicPr>
                    <p:blipFill>
                      <a:blip r:embed="rId6"/>
                      <a:stretch>
                        <a:fillRect/>
                      </a:stretch>
                    </p:blipFill>
                    <p:spPr>
                      <a:xfrm>
                        <a:off x="5919788" y="4437063"/>
                        <a:ext cx="2828925" cy="1389062"/>
                      </a:xfrm>
                      <a:prstGeom prst="rect">
                        <a:avLst/>
                      </a:prstGeom>
                      <a:solidFill>
                        <a:srgbClr val="FFCC99"/>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489451"/>
                                        </p:tgtEl>
                                        <p:attrNameLst>
                                          <p:attrName>style.visibility</p:attrName>
                                        </p:attrNameLst>
                                      </p:cBhvr>
                                      <p:to>
                                        <p:strVal val="visible"/>
                                      </p:to>
                                    </p:set>
                                    <p:animEffect transition="in" filter="wipe(left)">
                                      <p:cBhvr>
                                        <p:cTn id="7" dur="500"/>
                                        <p:tgtEl>
                                          <p:spTgt spid="24894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89456"/>
                                        </p:tgtEl>
                                        <p:attrNameLst>
                                          <p:attrName>style.visibility</p:attrName>
                                        </p:attrNameLst>
                                      </p:cBhvr>
                                      <p:to>
                                        <p:strVal val="visible"/>
                                      </p:to>
                                    </p:set>
                                    <p:animEffect transition="in" filter="dissolve">
                                      <p:cBhvr>
                                        <p:cTn id="12" dur="500"/>
                                        <p:tgtEl>
                                          <p:spTgt spid="24894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89346"/>
                                        </p:tgtEl>
                                        <p:attrNameLst>
                                          <p:attrName>style.visibility</p:attrName>
                                        </p:attrNameLst>
                                      </p:cBhvr>
                                      <p:to>
                                        <p:strVal val="visible"/>
                                      </p:to>
                                    </p:set>
                                    <p:animEffect transition="in" filter="dissolve">
                                      <p:cBhvr>
                                        <p:cTn id="17" dur="500"/>
                                        <p:tgtEl>
                                          <p:spTgt spid="2489346"/>
                                        </p:tgtEl>
                                      </p:cBhvr>
                                    </p:animEffect>
                                  </p:childTnLst>
                                </p:cTn>
                              </p:par>
                              <p:par>
                                <p:cTn id="18" presetID="9" presetClass="entr" presetSubtype="0" fill="hold" nodeType="withEffect">
                                  <p:stCondLst>
                                    <p:cond delay="0"/>
                                  </p:stCondLst>
                                  <p:childTnLst>
                                    <p:set>
                                      <p:cBhvr>
                                        <p:cTn id="19" dur="1" fill="hold">
                                          <p:stCondLst>
                                            <p:cond delay="0"/>
                                          </p:stCondLst>
                                        </p:cTn>
                                        <p:tgtEl>
                                          <p:spTgt spid="2489454"/>
                                        </p:tgtEl>
                                        <p:attrNameLst>
                                          <p:attrName>style.visibility</p:attrName>
                                        </p:attrNameLst>
                                      </p:cBhvr>
                                      <p:to>
                                        <p:strVal val="visible"/>
                                      </p:to>
                                    </p:set>
                                    <p:animEffect transition="in" filter="dissolve">
                                      <p:cBhvr>
                                        <p:cTn id="20" dur="500"/>
                                        <p:tgtEl>
                                          <p:spTgt spid="2489454"/>
                                        </p:tgtEl>
                                      </p:cBhvr>
                                    </p:animEffect>
                                  </p:childTnLst>
                                </p:cTn>
                              </p:par>
                              <p:par>
                                <p:cTn id="21" presetID="9" presetClass="entr" presetSubtype="0" fill="hold" nodeType="withEffect">
                                  <p:stCondLst>
                                    <p:cond delay="0"/>
                                  </p:stCondLst>
                                  <p:childTnLst>
                                    <p:set>
                                      <p:cBhvr>
                                        <p:cTn id="22" dur="1" fill="hold">
                                          <p:stCondLst>
                                            <p:cond delay="0"/>
                                          </p:stCondLst>
                                        </p:cTn>
                                        <p:tgtEl>
                                          <p:spTgt spid="2489455"/>
                                        </p:tgtEl>
                                        <p:attrNameLst>
                                          <p:attrName>style.visibility</p:attrName>
                                        </p:attrNameLst>
                                      </p:cBhvr>
                                      <p:to>
                                        <p:strVal val="visible"/>
                                      </p:to>
                                    </p:set>
                                    <p:animEffect transition="in" filter="dissolve">
                                      <p:cBhvr>
                                        <p:cTn id="23" dur="500"/>
                                        <p:tgtEl>
                                          <p:spTgt spid="248945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2489458"/>
                                        </p:tgtEl>
                                        <p:attrNameLst>
                                          <p:attrName>style.visibility</p:attrName>
                                        </p:attrNameLst>
                                      </p:cBhvr>
                                      <p:to>
                                        <p:strVal val="visible"/>
                                      </p:to>
                                    </p:set>
                                    <p:animEffect transition="in" filter="wipe(left)">
                                      <p:cBhvr>
                                        <p:cTn id="28" dur="500"/>
                                        <p:tgtEl>
                                          <p:spTgt spid="2489458"/>
                                        </p:tgtEl>
                                      </p:cBhvr>
                                    </p:animEffect>
                                  </p:childTnLst>
                                </p:cTn>
                              </p:par>
                              <p:par>
                                <p:cTn id="29" presetID="22" presetClass="entr" presetSubtype="8" fill="hold" nodeType="withEffect">
                                  <p:stCondLst>
                                    <p:cond delay="0"/>
                                  </p:stCondLst>
                                  <p:childTnLst>
                                    <p:set>
                                      <p:cBhvr>
                                        <p:cTn id="30" dur="1" fill="hold">
                                          <p:stCondLst>
                                            <p:cond delay="0"/>
                                          </p:stCondLst>
                                        </p:cTn>
                                        <p:tgtEl>
                                          <p:spTgt spid="2489457"/>
                                        </p:tgtEl>
                                        <p:attrNameLst>
                                          <p:attrName>style.visibility</p:attrName>
                                        </p:attrNameLst>
                                      </p:cBhvr>
                                      <p:to>
                                        <p:strVal val="visible"/>
                                      </p:to>
                                    </p:set>
                                    <p:animEffect transition="in" filter="wipe(left)">
                                      <p:cBhvr>
                                        <p:cTn id="31" dur="500"/>
                                        <p:tgtEl>
                                          <p:spTgt spid="248945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489462"/>
                                        </p:tgtEl>
                                        <p:attrNameLst>
                                          <p:attrName>style.visibility</p:attrName>
                                        </p:attrNameLst>
                                      </p:cBhvr>
                                      <p:to>
                                        <p:strVal val="visible"/>
                                      </p:to>
                                    </p:set>
                                    <p:animEffect transition="in" filter="dissolve">
                                      <p:cBhvr>
                                        <p:cTn id="36" dur="500"/>
                                        <p:tgtEl>
                                          <p:spTgt spid="24894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9456" grpId="0"/>
      <p:bldP spid="2489458" grpId="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83202"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47107" name="Rectangle 3"/>
          <p:cNvSpPr/>
          <p:nvPr/>
        </p:nvSpPr>
        <p:spPr>
          <a:xfrm>
            <a:off x="431800" y="657225"/>
            <a:ext cx="44291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T</a:t>
            </a:r>
            <a:r>
              <a:rPr lang="zh-CN" altLang="en-US" sz="3200" dirty="0">
                <a:latin typeface="Times New Roman" panose="02020603050405020304" pitchFamily="18" charset="0"/>
              </a:rPr>
              <a:t>型电阻</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47108" name="Rectangle 5"/>
          <p:cNvSpPr/>
          <p:nvPr/>
        </p:nvSpPr>
        <p:spPr>
          <a:xfrm>
            <a:off x="2919413" y="1304925"/>
            <a:ext cx="6119812" cy="266382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09" name="Line 6"/>
          <p:cNvSpPr/>
          <p:nvPr/>
        </p:nvSpPr>
        <p:spPr>
          <a:xfrm rot="-5400000">
            <a:off x="5981700" y="1260475"/>
            <a:ext cx="1588" cy="3878263"/>
          </a:xfrm>
          <a:prstGeom prst="line">
            <a:avLst/>
          </a:prstGeom>
          <a:ln w="12700" cap="flat" cmpd="sng">
            <a:solidFill>
              <a:schemeClr val="accent2"/>
            </a:solidFill>
            <a:prstDash val="solid"/>
            <a:headEnd type="none" w="med" len="med"/>
            <a:tailEnd type="none" w="med" len="med"/>
          </a:ln>
        </p:spPr>
      </p:sp>
      <p:sp>
        <p:nvSpPr>
          <p:cNvPr id="47110" name="Line 7"/>
          <p:cNvSpPr/>
          <p:nvPr/>
        </p:nvSpPr>
        <p:spPr>
          <a:xfrm rot="-5400000">
            <a:off x="5781675" y="1543050"/>
            <a:ext cx="0" cy="4054475"/>
          </a:xfrm>
          <a:prstGeom prst="line">
            <a:avLst/>
          </a:prstGeom>
          <a:ln w="12700" cap="flat" cmpd="sng">
            <a:solidFill>
              <a:schemeClr val="accent2"/>
            </a:solidFill>
            <a:prstDash val="solid"/>
            <a:headEnd type="none" w="med" len="med"/>
            <a:tailEnd type="none" w="med" len="med"/>
          </a:ln>
        </p:spPr>
      </p:sp>
      <p:sp>
        <p:nvSpPr>
          <p:cNvPr id="47111" name="Oval 8"/>
          <p:cNvSpPr/>
          <p:nvPr/>
        </p:nvSpPr>
        <p:spPr>
          <a:xfrm>
            <a:off x="3438525" y="1619250"/>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12" name="Line 9"/>
          <p:cNvSpPr/>
          <p:nvPr/>
        </p:nvSpPr>
        <p:spPr>
          <a:xfrm>
            <a:off x="7046913" y="2351088"/>
            <a:ext cx="250825" cy="0"/>
          </a:xfrm>
          <a:prstGeom prst="line">
            <a:avLst/>
          </a:prstGeom>
          <a:ln w="19050" cap="flat" cmpd="sng">
            <a:solidFill>
              <a:srgbClr val="000080"/>
            </a:solidFill>
            <a:prstDash val="solid"/>
            <a:headEnd type="none" w="med" len="med"/>
            <a:tailEnd type="none" w="med" len="med"/>
          </a:ln>
        </p:spPr>
      </p:sp>
      <p:sp>
        <p:nvSpPr>
          <p:cNvPr id="47113" name="Text Box 10"/>
          <p:cNvSpPr txBox="1"/>
          <p:nvPr/>
        </p:nvSpPr>
        <p:spPr>
          <a:xfrm>
            <a:off x="2881313" y="1462088"/>
            <a:ext cx="6826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47114" name="AutoShape 11"/>
          <p:cNvSpPr/>
          <p:nvPr/>
        </p:nvSpPr>
        <p:spPr>
          <a:xfrm rot="5400000">
            <a:off x="7789863" y="3040063"/>
            <a:ext cx="647700" cy="6905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15" name="Line 12"/>
          <p:cNvSpPr/>
          <p:nvPr/>
        </p:nvSpPr>
        <p:spPr>
          <a:xfrm>
            <a:off x="7453313" y="3567113"/>
            <a:ext cx="0" cy="358775"/>
          </a:xfrm>
          <a:prstGeom prst="line">
            <a:avLst/>
          </a:prstGeom>
          <a:ln w="12700" cap="flat" cmpd="sng">
            <a:solidFill>
              <a:schemeClr val="accent2"/>
            </a:solidFill>
            <a:prstDash val="solid"/>
            <a:headEnd type="none" w="med" len="med"/>
            <a:tailEnd type="none" w="med" len="med"/>
          </a:ln>
        </p:spPr>
      </p:sp>
      <p:sp>
        <p:nvSpPr>
          <p:cNvPr id="47116" name="Line 13"/>
          <p:cNvSpPr/>
          <p:nvPr/>
        </p:nvSpPr>
        <p:spPr>
          <a:xfrm>
            <a:off x="7327900" y="3925888"/>
            <a:ext cx="250825" cy="0"/>
          </a:xfrm>
          <a:prstGeom prst="line">
            <a:avLst/>
          </a:prstGeom>
          <a:ln w="19050" cap="flat" cmpd="sng">
            <a:solidFill>
              <a:srgbClr val="000080"/>
            </a:solidFill>
            <a:prstDash val="solid"/>
            <a:headEnd type="none" w="med" len="med"/>
            <a:tailEnd type="none" w="med" len="med"/>
          </a:ln>
        </p:spPr>
      </p:sp>
      <p:sp>
        <p:nvSpPr>
          <p:cNvPr id="47117" name="Line 14"/>
          <p:cNvSpPr/>
          <p:nvPr/>
        </p:nvSpPr>
        <p:spPr>
          <a:xfrm>
            <a:off x="7446963" y="2768600"/>
            <a:ext cx="0" cy="430213"/>
          </a:xfrm>
          <a:prstGeom prst="line">
            <a:avLst/>
          </a:prstGeom>
          <a:ln w="12700" cap="flat" cmpd="sng">
            <a:solidFill>
              <a:schemeClr val="accent2"/>
            </a:solidFill>
            <a:prstDash val="solid"/>
            <a:headEnd type="none" w="med" len="med"/>
            <a:tailEnd type="none" w="med" len="med"/>
          </a:ln>
        </p:spPr>
      </p:sp>
      <p:sp>
        <p:nvSpPr>
          <p:cNvPr id="47118" name="Line 15"/>
          <p:cNvSpPr/>
          <p:nvPr/>
        </p:nvSpPr>
        <p:spPr>
          <a:xfrm>
            <a:off x="7446963" y="2767013"/>
            <a:ext cx="1195387" cy="1587"/>
          </a:xfrm>
          <a:prstGeom prst="line">
            <a:avLst/>
          </a:prstGeom>
          <a:ln w="12700" cap="flat" cmpd="sng">
            <a:solidFill>
              <a:schemeClr val="accent2"/>
            </a:solidFill>
            <a:prstDash val="solid"/>
            <a:headEnd type="none" w="med" len="med"/>
            <a:tailEnd type="none" w="med" len="med"/>
          </a:ln>
        </p:spPr>
      </p:sp>
      <p:sp>
        <p:nvSpPr>
          <p:cNvPr id="47119" name="Line 16"/>
          <p:cNvSpPr/>
          <p:nvPr/>
        </p:nvSpPr>
        <p:spPr>
          <a:xfrm>
            <a:off x="8459788" y="3384550"/>
            <a:ext cx="325437" cy="0"/>
          </a:xfrm>
          <a:prstGeom prst="line">
            <a:avLst/>
          </a:prstGeom>
          <a:ln w="12700" cap="flat" cmpd="sng">
            <a:solidFill>
              <a:schemeClr val="accent2"/>
            </a:solidFill>
            <a:prstDash val="solid"/>
            <a:headEnd type="none" w="med" len="med"/>
            <a:tailEnd type="none" w="med" len="med"/>
          </a:ln>
        </p:spPr>
      </p:sp>
      <p:sp>
        <p:nvSpPr>
          <p:cNvPr id="47120" name="Line 17"/>
          <p:cNvSpPr/>
          <p:nvPr/>
        </p:nvSpPr>
        <p:spPr>
          <a:xfrm>
            <a:off x="8642350" y="2770188"/>
            <a:ext cx="0" cy="614362"/>
          </a:xfrm>
          <a:prstGeom prst="line">
            <a:avLst/>
          </a:prstGeom>
          <a:ln w="12700" cap="flat" cmpd="sng">
            <a:solidFill>
              <a:schemeClr val="accent2"/>
            </a:solidFill>
            <a:prstDash val="solid"/>
            <a:headEnd type="none" w="med" len="med"/>
            <a:tailEnd type="none" w="med" len="med"/>
          </a:ln>
        </p:spPr>
      </p:sp>
      <p:sp>
        <p:nvSpPr>
          <p:cNvPr id="47121" name="Rectangle 18"/>
          <p:cNvSpPr/>
          <p:nvPr/>
        </p:nvSpPr>
        <p:spPr>
          <a:xfrm>
            <a:off x="7885113" y="2730500"/>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22" name="Text Box 19"/>
          <p:cNvSpPr txBox="1"/>
          <p:nvPr/>
        </p:nvSpPr>
        <p:spPr>
          <a:xfrm>
            <a:off x="7897813" y="2749550"/>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r>
              <a:rPr lang="en-US" altLang="zh-CN" sz="1600" baseline="-25000" dirty="0">
                <a:solidFill>
                  <a:srgbClr val="CC00CC"/>
                </a:solidFill>
                <a:latin typeface="Times New Roman" panose="02020603050405020304" pitchFamily="18" charset="0"/>
              </a:rPr>
              <a:t>F</a:t>
            </a:r>
            <a:endParaRPr lang="en-US" altLang="zh-CN" sz="1600" baseline="-25000" dirty="0">
              <a:solidFill>
                <a:srgbClr val="CC00CC"/>
              </a:solidFill>
              <a:latin typeface="Times New Roman" panose="02020603050405020304" pitchFamily="18" charset="0"/>
            </a:endParaRPr>
          </a:p>
        </p:txBody>
      </p:sp>
      <p:sp>
        <p:nvSpPr>
          <p:cNvPr id="47123" name="Text Box 20"/>
          <p:cNvSpPr txBox="1"/>
          <p:nvPr/>
        </p:nvSpPr>
        <p:spPr>
          <a:xfrm>
            <a:off x="8642350" y="3057525"/>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47124" name="Oval 21"/>
          <p:cNvSpPr/>
          <p:nvPr/>
        </p:nvSpPr>
        <p:spPr>
          <a:xfrm>
            <a:off x="8785225" y="33448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25" name="Text Box 22"/>
          <p:cNvSpPr txBox="1"/>
          <p:nvPr/>
        </p:nvSpPr>
        <p:spPr>
          <a:xfrm>
            <a:off x="7712075" y="3394075"/>
            <a:ext cx="755650" cy="339725"/>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47126" name="Rectangle 23"/>
          <p:cNvSpPr/>
          <p:nvPr/>
        </p:nvSpPr>
        <p:spPr>
          <a:xfrm>
            <a:off x="7718425" y="2913063"/>
            <a:ext cx="412750" cy="339725"/>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47127" name="Text Box 24"/>
          <p:cNvSpPr txBox="1"/>
          <p:nvPr/>
        </p:nvSpPr>
        <p:spPr>
          <a:xfrm>
            <a:off x="7921625" y="3206750"/>
            <a:ext cx="287338" cy="339725"/>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47128" name="Rectangle 25"/>
          <p:cNvSpPr/>
          <p:nvPr/>
        </p:nvSpPr>
        <p:spPr>
          <a:xfrm rot="-5400000">
            <a:off x="3592513" y="25193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29" name="Oval 26"/>
          <p:cNvSpPr/>
          <p:nvPr/>
        </p:nvSpPr>
        <p:spPr>
          <a:xfrm rot="-5400000">
            <a:off x="3719513" y="29130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30" name="Oval 27"/>
          <p:cNvSpPr/>
          <p:nvPr/>
        </p:nvSpPr>
        <p:spPr>
          <a:xfrm rot="-5400000">
            <a:off x="4006850" y="29130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31" name="Oval 28"/>
          <p:cNvSpPr/>
          <p:nvPr/>
        </p:nvSpPr>
        <p:spPr>
          <a:xfrm rot="-5400000">
            <a:off x="3862388" y="25177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32" name="Line 29"/>
          <p:cNvSpPr/>
          <p:nvPr/>
        </p:nvSpPr>
        <p:spPr>
          <a:xfrm rot="-5400000">
            <a:off x="3463925" y="2084388"/>
            <a:ext cx="865188" cy="0"/>
          </a:xfrm>
          <a:prstGeom prst="line">
            <a:avLst/>
          </a:prstGeom>
          <a:ln w="12700" cap="flat" cmpd="sng">
            <a:solidFill>
              <a:schemeClr val="accent2"/>
            </a:solidFill>
            <a:prstDash val="solid"/>
            <a:headEnd type="none" w="med" len="med"/>
            <a:tailEnd type="none" w="med" len="med"/>
          </a:ln>
        </p:spPr>
      </p:sp>
      <p:sp>
        <p:nvSpPr>
          <p:cNvPr id="47133" name="Line 30"/>
          <p:cNvSpPr/>
          <p:nvPr/>
        </p:nvSpPr>
        <p:spPr>
          <a:xfrm rot="-5400000">
            <a:off x="3463925" y="3276600"/>
            <a:ext cx="581025" cy="0"/>
          </a:xfrm>
          <a:prstGeom prst="line">
            <a:avLst/>
          </a:prstGeom>
          <a:ln w="12700" cap="flat" cmpd="sng">
            <a:solidFill>
              <a:schemeClr val="accent2"/>
            </a:solidFill>
            <a:prstDash val="solid"/>
            <a:headEnd type="none" w="med" len="med"/>
            <a:tailEnd type="none" w="med" len="med"/>
          </a:ln>
        </p:spPr>
      </p:sp>
      <p:sp>
        <p:nvSpPr>
          <p:cNvPr id="47134" name="Line 31"/>
          <p:cNvSpPr/>
          <p:nvPr/>
        </p:nvSpPr>
        <p:spPr>
          <a:xfrm rot="-5400000">
            <a:off x="3935413" y="3094038"/>
            <a:ext cx="215900" cy="0"/>
          </a:xfrm>
          <a:prstGeom prst="line">
            <a:avLst/>
          </a:prstGeom>
          <a:ln w="12700" cap="flat" cmpd="sng">
            <a:solidFill>
              <a:schemeClr val="accent2"/>
            </a:solidFill>
            <a:prstDash val="solid"/>
            <a:headEnd type="none" w="med" len="med"/>
            <a:tailEnd type="none" w="med" len="med"/>
          </a:ln>
        </p:spPr>
      </p:sp>
      <p:sp>
        <p:nvSpPr>
          <p:cNvPr id="47135" name="Rectangle 32"/>
          <p:cNvSpPr/>
          <p:nvPr/>
        </p:nvSpPr>
        <p:spPr>
          <a:xfrm rot="-5400000">
            <a:off x="3787775" y="1990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36" name="Line 33"/>
          <p:cNvSpPr/>
          <p:nvPr/>
        </p:nvSpPr>
        <p:spPr>
          <a:xfrm rot="-5400000" flipH="1" flipV="1">
            <a:off x="3646488" y="2732088"/>
            <a:ext cx="395287" cy="107950"/>
          </a:xfrm>
          <a:prstGeom prst="line">
            <a:avLst/>
          </a:prstGeom>
          <a:ln w="19050" cap="flat" cmpd="sng">
            <a:solidFill>
              <a:srgbClr val="FF0000"/>
            </a:solidFill>
            <a:prstDash val="solid"/>
            <a:headEnd type="none" w="med" len="med"/>
            <a:tailEnd type="none" w="med" len="med"/>
          </a:ln>
        </p:spPr>
      </p:sp>
      <p:sp>
        <p:nvSpPr>
          <p:cNvPr id="47137" name="Line 34"/>
          <p:cNvSpPr/>
          <p:nvPr/>
        </p:nvSpPr>
        <p:spPr>
          <a:xfrm rot="-5400000">
            <a:off x="3995738" y="2632075"/>
            <a:ext cx="1587" cy="269875"/>
          </a:xfrm>
          <a:prstGeom prst="line">
            <a:avLst/>
          </a:prstGeom>
          <a:ln w="12700" cap="flat" cmpd="sng">
            <a:solidFill>
              <a:srgbClr val="FF0000"/>
            </a:solidFill>
            <a:prstDash val="dash"/>
            <a:headEnd type="none" w="med" len="med"/>
            <a:tailEnd type="none" w="med" len="med"/>
          </a:ln>
        </p:spPr>
      </p:sp>
      <p:sp>
        <p:nvSpPr>
          <p:cNvPr id="47138" name="Line 35"/>
          <p:cNvSpPr/>
          <p:nvPr/>
        </p:nvSpPr>
        <p:spPr>
          <a:xfrm rot="-5400000">
            <a:off x="4230688" y="2671763"/>
            <a:ext cx="1587" cy="198437"/>
          </a:xfrm>
          <a:prstGeom prst="line">
            <a:avLst/>
          </a:prstGeom>
          <a:ln w="12700" cap="flat" cmpd="sng">
            <a:solidFill>
              <a:srgbClr val="FF0000"/>
            </a:solidFill>
            <a:prstDash val="solid"/>
            <a:headEnd type="stealth" w="med" len="lg"/>
            <a:tailEnd type="none" w="med" len="med"/>
          </a:ln>
        </p:spPr>
      </p:sp>
      <p:sp>
        <p:nvSpPr>
          <p:cNvPr id="47139" name="Line 36"/>
          <p:cNvSpPr/>
          <p:nvPr/>
        </p:nvSpPr>
        <p:spPr>
          <a:xfrm rot="-5400000" flipH="1">
            <a:off x="3862388" y="3238500"/>
            <a:ext cx="936625" cy="0"/>
          </a:xfrm>
          <a:prstGeom prst="line">
            <a:avLst/>
          </a:prstGeom>
          <a:ln w="12700" cap="flat" cmpd="sng">
            <a:solidFill>
              <a:srgbClr val="FF0000"/>
            </a:solidFill>
            <a:prstDash val="solid"/>
            <a:headEnd type="none" w="med" len="med"/>
            <a:tailEnd type="none" w="med" len="med"/>
          </a:ln>
        </p:spPr>
      </p:sp>
      <p:sp>
        <p:nvSpPr>
          <p:cNvPr id="47140" name="Rectangle 37"/>
          <p:cNvSpPr/>
          <p:nvPr/>
        </p:nvSpPr>
        <p:spPr>
          <a:xfrm rot="-5400000">
            <a:off x="4421188" y="25193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41" name="Oval 38"/>
          <p:cNvSpPr/>
          <p:nvPr/>
        </p:nvSpPr>
        <p:spPr>
          <a:xfrm rot="-5400000">
            <a:off x="4548188" y="29130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42" name="Oval 39"/>
          <p:cNvSpPr/>
          <p:nvPr/>
        </p:nvSpPr>
        <p:spPr>
          <a:xfrm rot="-5400000">
            <a:off x="4835525" y="29130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43" name="Oval 40"/>
          <p:cNvSpPr/>
          <p:nvPr/>
        </p:nvSpPr>
        <p:spPr>
          <a:xfrm rot="-5400000">
            <a:off x="4691063" y="25177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44" name="Line 41"/>
          <p:cNvSpPr/>
          <p:nvPr/>
        </p:nvSpPr>
        <p:spPr>
          <a:xfrm rot="-5400000">
            <a:off x="4294188" y="2084388"/>
            <a:ext cx="865187" cy="0"/>
          </a:xfrm>
          <a:prstGeom prst="line">
            <a:avLst/>
          </a:prstGeom>
          <a:ln w="12700" cap="flat" cmpd="sng">
            <a:solidFill>
              <a:schemeClr val="accent2"/>
            </a:solidFill>
            <a:prstDash val="solid"/>
            <a:headEnd type="none" w="med" len="med"/>
            <a:tailEnd type="none" w="med" len="med"/>
          </a:ln>
        </p:spPr>
      </p:sp>
      <p:sp>
        <p:nvSpPr>
          <p:cNvPr id="47145" name="Line 42"/>
          <p:cNvSpPr/>
          <p:nvPr/>
        </p:nvSpPr>
        <p:spPr>
          <a:xfrm rot="-5400000">
            <a:off x="4289425" y="3276600"/>
            <a:ext cx="585788" cy="0"/>
          </a:xfrm>
          <a:prstGeom prst="line">
            <a:avLst/>
          </a:prstGeom>
          <a:ln w="12700" cap="flat" cmpd="sng">
            <a:solidFill>
              <a:schemeClr val="accent2"/>
            </a:solidFill>
            <a:prstDash val="solid"/>
            <a:headEnd type="none" w="med" len="med"/>
            <a:tailEnd type="none" w="med" len="med"/>
          </a:ln>
        </p:spPr>
      </p:sp>
      <p:sp>
        <p:nvSpPr>
          <p:cNvPr id="47146" name="Line 43"/>
          <p:cNvSpPr/>
          <p:nvPr/>
        </p:nvSpPr>
        <p:spPr>
          <a:xfrm rot="-5400000">
            <a:off x="4764088" y="3094038"/>
            <a:ext cx="215900" cy="0"/>
          </a:xfrm>
          <a:prstGeom prst="line">
            <a:avLst/>
          </a:prstGeom>
          <a:ln w="12700" cap="flat" cmpd="sng">
            <a:solidFill>
              <a:schemeClr val="accent2"/>
            </a:solidFill>
            <a:prstDash val="solid"/>
            <a:headEnd type="none" w="med" len="med"/>
            <a:tailEnd type="none" w="med" len="med"/>
          </a:ln>
        </p:spPr>
      </p:sp>
      <p:sp>
        <p:nvSpPr>
          <p:cNvPr id="47147" name="Rectangle 44"/>
          <p:cNvSpPr/>
          <p:nvPr/>
        </p:nvSpPr>
        <p:spPr>
          <a:xfrm rot="-5400000">
            <a:off x="4618038" y="1990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48" name="Line 45"/>
          <p:cNvSpPr/>
          <p:nvPr/>
        </p:nvSpPr>
        <p:spPr>
          <a:xfrm rot="-5400000" flipH="1" flipV="1">
            <a:off x="4475163" y="2732088"/>
            <a:ext cx="395287" cy="107950"/>
          </a:xfrm>
          <a:prstGeom prst="line">
            <a:avLst/>
          </a:prstGeom>
          <a:ln w="19050" cap="flat" cmpd="sng">
            <a:solidFill>
              <a:srgbClr val="FF0000"/>
            </a:solidFill>
            <a:prstDash val="solid"/>
            <a:headEnd type="none" w="med" len="med"/>
            <a:tailEnd type="none" w="med" len="med"/>
          </a:ln>
        </p:spPr>
      </p:sp>
      <p:sp>
        <p:nvSpPr>
          <p:cNvPr id="47149" name="Line 46"/>
          <p:cNvSpPr/>
          <p:nvPr/>
        </p:nvSpPr>
        <p:spPr>
          <a:xfrm rot="-5400000">
            <a:off x="4824413" y="2632075"/>
            <a:ext cx="1587" cy="269875"/>
          </a:xfrm>
          <a:prstGeom prst="line">
            <a:avLst/>
          </a:prstGeom>
          <a:ln w="12700" cap="flat" cmpd="sng">
            <a:solidFill>
              <a:srgbClr val="FF0000"/>
            </a:solidFill>
            <a:prstDash val="dash"/>
            <a:headEnd type="none" w="med" len="med"/>
            <a:tailEnd type="none" w="med" len="med"/>
          </a:ln>
        </p:spPr>
      </p:sp>
      <p:sp>
        <p:nvSpPr>
          <p:cNvPr id="47150" name="Line 47"/>
          <p:cNvSpPr/>
          <p:nvPr/>
        </p:nvSpPr>
        <p:spPr>
          <a:xfrm rot="-5400000">
            <a:off x="5059363" y="2671763"/>
            <a:ext cx="1587" cy="198437"/>
          </a:xfrm>
          <a:prstGeom prst="line">
            <a:avLst/>
          </a:prstGeom>
          <a:ln w="12700" cap="flat" cmpd="sng">
            <a:solidFill>
              <a:srgbClr val="FF0000"/>
            </a:solidFill>
            <a:prstDash val="solid"/>
            <a:headEnd type="stealth" w="med" len="lg"/>
            <a:tailEnd type="none" w="med" len="med"/>
          </a:ln>
        </p:spPr>
      </p:sp>
      <p:sp>
        <p:nvSpPr>
          <p:cNvPr id="47151" name="Line 48"/>
          <p:cNvSpPr/>
          <p:nvPr/>
        </p:nvSpPr>
        <p:spPr>
          <a:xfrm rot="-5400000" flipH="1">
            <a:off x="4691063" y="3238500"/>
            <a:ext cx="936625" cy="0"/>
          </a:xfrm>
          <a:prstGeom prst="line">
            <a:avLst/>
          </a:prstGeom>
          <a:ln w="12700" cap="flat" cmpd="sng">
            <a:solidFill>
              <a:srgbClr val="FF0000"/>
            </a:solidFill>
            <a:prstDash val="solid"/>
            <a:headEnd type="none" w="med" len="med"/>
            <a:tailEnd type="none" w="med" len="med"/>
          </a:ln>
        </p:spPr>
      </p:sp>
      <p:sp>
        <p:nvSpPr>
          <p:cNvPr id="47152" name="Rectangle 49"/>
          <p:cNvSpPr/>
          <p:nvPr/>
        </p:nvSpPr>
        <p:spPr>
          <a:xfrm rot="-5400000">
            <a:off x="5254625" y="25193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53" name="Oval 50"/>
          <p:cNvSpPr/>
          <p:nvPr/>
        </p:nvSpPr>
        <p:spPr>
          <a:xfrm rot="-5400000">
            <a:off x="5381625" y="29130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54" name="Oval 51"/>
          <p:cNvSpPr/>
          <p:nvPr/>
        </p:nvSpPr>
        <p:spPr>
          <a:xfrm rot="-5400000">
            <a:off x="5668963" y="29130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55" name="Oval 52"/>
          <p:cNvSpPr/>
          <p:nvPr/>
        </p:nvSpPr>
        <p:spPr>
          <a:xfrm rot="-5400000">
            <a:off x="5524500" y="2517775"/>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56" name="Line 53"/>
          <p:cNvSpPr/>
          <p:nvPr/>
        </p:nvSpPr>
        <p:spPr>
          <a:xfrm rot="-5400000">
            <a:off x="5127625" y="2084388"/>
            <a:ext cx="865188" cy="0"/>
          </a:xfrm>
          <a:prstGeom prst="line">
            <a:avLst/>
          </a:prstGeom>
          <a:ln w="12700" cap="flat" cmpd="sng">
            <a:solidFill>
              <a:schemeClr val="accent2"/>
            </a:solidFill>
            <a:prstDash val="solid"/>
            <a:headEnd type="none" w="med" len="med"/>
            <a:tailEnd type="none" w="med" len="med"/>
          </a:ln>
        </p:spPr>
      </p:sp>
      <p:sp>
        <p:nvSpPr>
          <p:cNvPr id="47157" name="Line 54"/>
          <p:cNvSpPr/>
          <p:nvPr/>
        </p:nvSpPr>
        <p:spPr>
          <a:xfrm rot="-5400000">
            <a:off x="5122863" y="3276600"/>
            <a:ext cx="585787" cy="0"/>
          </a:xfrm>
          <a:prstGeom prst="line">
            <a:avLst/>
          </a:prstGeom>
          <a:ln w="12700" cap="flat" cmpd="sng">
            <a:solidFill>
              <a:schemeClr val="accent2"/>
            </a:solidFill>
            <a:prstDash val="solid"/>
            <a:headEnd type="none" w="med" len="med"/>
            <a:tailEnd type="none" w="med" len="med"/>
          </a:ln>
        </p:spPr>
      </p:sp>
      <p:sp>
        <p:nvSpPr>
          <p:cNvPr id="47158" name="Line 55"/>
          <p:cNvSpPr/>
          <p:nvPr/>
        </p:nvSpPr>
        <p:spPr>
          <a:xfrm rot="-5400000">
            <a:off x="5597525" y="3094038"/>
            <a:ext cx="215900" cy="0"/>
          </a:xfrm>
          <a:prstGeom prst="line">
            <a:avLst/>
          </a:prstGeom>
          <a:ln w="12700" cap="flat" cmpd="sng">
            <a:solidFill>
              <a:schemeClr val="accent2"/>
            </a:solidFill>
            <a:prstDash val="solid"/>
            <a:headEnd type="none" w="med" len="med"/>
            <a:tailEnd type="none" w="med" len="med"/>
          </a:ln>
        </p:spPr>
      </p:sp>
      <p:sp>
        <p:nvSpPr>
          <p:cNvPr id="47159" name="Rectangle 56"/>
          <p:cNvSpPr/>
          <p:nvPr/>
        </p:nvSpPr>
        <p:spPr>
          <a:xfrm rot="-5400000">
            <a:off x="5451475" y="1990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60" name="Line 57"/>
          <p:cNvSpPr/>
          <p:nvPr/>
        </p:nvSpPr>
        <p:spPr>
          <a:xfrm rot="-5400000" flipH="1" flipV="1">
            <a:off x="5308600" y="2732088"/>
            <a:ext cx="395288" cy="107950"/>
          </a:xfrm>
          <a:prstGeom prst="line">
            <a:avLst/>
          </a:prstGeom>
          <a:ln w="19050" cap="flat" cmpd="sng">
            <a:solidFill>
              <a:srgbClr val="FF0000"/>
            </a:solidFill>
            <a:prstDash val="solid"/>
            <a:headEnd type="none" w="med" len="med"/>
            <a:tailEnd type="none" w="med" len="med"/>
          </a:ln>
        </p:spPr>
      </p:sp>
      <p:sp>
        <p:nvSpPr>
          <p:cNvPr id="47161" name="Line 58"/>
          <p:cNvSpPr/>
          <p:nvPr/>
        </p:nvSpPr>
        <p:spPr>
          <a:xfrm rot="-5400000">
            <a:off x="5657850" y="2632075"/>
            <a:ext cx="1588" cy="269875"/>
          </a:xfrm>
          <a:prstGeom prst="line">
            <a:avLst/>
          </a:prstGeom>
          <a:ln w="12700" cap="flat" cmpd="sng">
            <a:solidFill>
              <a:srgbClr val="FF0000"/>
            </a:solidFill>
            <a:prstDash val="dash"/>
            <a:headEnd type="none" w="med" len="med"/>
            <a:tailEnd type="none" w="med" len="med"/>
          </a:ln>
        </p:spPr>
      </p:sp>
      <p:sp>
        <p:nvSpPr>
          <p:cNvPr id="47162" name="Line 59"/>
          <p:cNvSpPr/>
          <p:nvPr/>
        </p:nvSpPr>
        <p:spPr>
          <a:xfrm rot="-5400000">
            <a:off x="5892800" y="2671763"/>
            <a:ext cx="1588" cy="198437"/>
          </a:xfrm>
          <a:prstGeom prst="line">
            <a:avLst/>
          </a:prstGeom>
          <a:ln w="12700" cap="flat" cmpd="sng">
            <a:solidFill>
              <a:srgbClr val="FF0000"/>
            </a:solidFill>
            <a:prstDash val="solid"/>
            <a:headEnd type="stealth" w="med" len="lg"/>
            <a:tailEnd type="none" w="med" len="med"/>
          </a:ln>
        </p:spPr>
      </p:sp>
      <p:sp>
        <p:nvSpPr>
          <p:cNvPr id="47163" name="Line 60"/>
          <p:cNvSpPr/>
          <p:nvPr/>
        </p:nvSpPr>
        <p:spPr>
          <a:xfrm rot="-5400000" flipH="1">
            <a:off x="5524500" y="3238500"/>
            <a:ext cx="936625" cy="0"/>
          </a:xfrm>
          <a:prstGeom prst="line">
            <a:avLst/>
          </a:prstGeom>
          <a:ln w="12700" cap="flat" cmpd="sng">
            <a:solidFill>
              <a:srgbClr val="FF0000"/>
            </a:solidFill>
            <a:prstDash val="solid"/>
            <a:headEnd type="none" w="med" len="med"/>
            <a:tailEnd type="none" w="med" len="med"/>
          </a:ln>
        </p:spPr>
      </p:sp>
      <p:sp>
        <p:nvSpPr>
          <p:cNvPr id="47164" name="Rectangle 61"/>
          <p:cNvSpPr/>
          <p:nvPr/>
        </p:nvSpPr>
        <p:spPr>
          <a:xfrm rot="-5400000">
            <a:off x="6113463" y="251936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65" name="Oval 62"/>
          <p:cNvSpPr/>
          <p:nvPr/>
        </p:nvSpPr>
        <p:spPr>
          <a:xfrm rot="-5400000">
            <a:off x="6240463" y="29130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66" name="Oval 63"/>
          <p:cNvSpPr/>
          <p:nvPr/>
        </p:nvSpPr>
        <p:spPr>
          <a:xfrm rot="-5400000">
            <a:off x="6527800" y="29130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67" name="Oval 64"/>
          <p:cNvSpPr/>
          <p:nvPr/>
        </p:nvSpPr>
        <p:spPr>
          <a:xfrm rot="-5400000">
            <a:off x="6383338" y="25177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68" name="Line 65"/>
          <p:cNvSpPr/>
          <p:nvPr/>
        </p:nvSpPr>
        <p:spPr>
          <a:xfrm rot="-5400000">
            <a:off x="5986463" y="2084388"/>
            <a:ext cx="865187" cy="0"/>
          </a:xfrm>
          <a:prstGeom prst="line">
            <a:avLst/>
          </a:prstGeom>
          <a:ln w="12700" cap="flat" cmpd="sng">
            <a:solidFill>
              <a:schemeClr val="accent2"/>
            </a:solidFill>
            <a:prstDash val="solid"/>
            <a:headEnd type="none" w="med" len="med"/>
            <a:tailEnd type="none" w="med" len="med"/>
          </a:ln>
        </p:spPr>
      </p:sp>
      <p:sp>
        <p:nvSpPr>
          <p:cNvPr id="47169" name="Line 66"/>
          <p:cNvSpPr/>
          <p:nvPr/>
        </p:nvSpPr>
        <p:spPr>
          <a:xfrm rot="-5400000">
            <a:off x="5981700" y="3276600"/>
            <a:ext cx="585788" cy="0"/>
          </a:xfrm>
          <a:prstGeom prst="line">
            <a:avLst/>
          </a:prstGeom>
          <a:ln w="12700" cap="flat" cmpd="sng">
            <a:solidFill>
              <a:schemeClr val="accent2"/>
            </a:solidFill>
            <a:prstDash val="solid"/>
            <a:headEnd type="none" w="med" len="med"/>
            <a:tailEnd type="none" w="med" len="med"/>
          </a:ln>
        </p:spPr>
      </p:sp>
      <p:sp>
        <p:nvSpPr>
          <p:cNvPr id="47170" name="Line 67"/>
          <p:cNvSpPr/>
          <p:nvPr/>
        </p:nvSpPr>
        <p:spPr>
          <a:xfrm rot="-5400000">
            <a:off x="6456363" y="3094038"/>
            <a:ext cx="215900" cy="0"/>
          </a:xfrm>
          <a:prstGeom prst="line">
            <a:avLst/>
          </a:prstGeom>
          <a:ln w="12700" cap="flat" cmpd="sng">
            <a:solidFill>
              <a:schemeClr val="accent2"/>
            </a:solidFill>
            <a:prstDash val="solid"/>
            <a:headEnd type="none" w="med" len="med"/>
            <a:tailEnd type="none" w="med" len="med"/>
          </a:ln>
        </p:spPr>
      </p:sp>
      <p:sp>
        <p:nvSpPr>
          <p:cNvPr id="47171" name="Rectangle 68"/>
          <p:cNvSpPr/>
          <p:nvPr/>
        </p:nvSpPr>
        <p:spPr>
          <a:xfrm rot="-5400000">
            <a:off x="6310313" y="1990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72" name="Line 69"/>
          <p:cNvSpPr/>
          <p:nvPr/>
        </p:nvSpPr>
        <p:spPr>
          <a:xfrm rot="-5400000" flipH="1" flipV="1">
            <a:off x="6167438" y="2732088"/>
            <a:ext cx="395287" cy="107950"/>
          </a:xfrm>
          <a:prstGeom prst="line">
            <a:avLst/>
          </a:prstGeom>
          <a:ln w="19050" cap="flat" cmpd="sng">
            <a:solidFill>
              <a:srgbClr val="FF0000"/>
            </a:solidFill>
            <a:prstDash val="solid"/>
            <a:headEnd type="none" w="med" len="med"/>
            <a:tailEnd type="none" w="med" len="med"/>
          </a:ln>
        </p:spPr>
      </p:sp>
      <p:sp>
        <p:nvSpPr>
          <p:cNvPr id="47173" name="Line 70"/>
          <p:cNvSpPr/>
          <p:nvPr/>
        </p:nvSpPr>
        <p:spPr>
          <a:xfrm rot="-5400000">
            <a:off x="6516688" y="2632075"/>
            <a:ext cx="1587" cy="269875"/>
          </a:xfrm>
          <a:prstGeom prst="line">
            <a:avLst/>
          </a:prstGeom>
          <a:ln w="12700" cap="flat" cmpd="sng">
            <a:solidFill>
              <a:srgbClr val="FF0000"/>
            </a:solidFill>
            <a:prstDash val="dash"/>
            <a:headEnd type="none" w="med" len="med"/>
            <a:tailEnd type="none" w="med" len="med"/>
          </a:ln>
        </p:spPr>
      </p:sp>
      <p:sp>
        <p:nvSpPr>
          <p:cNvPr id="47174" name="Line 71"/>
          <p:cNvSpPr/>
          <p:nvPr/>
        </p:nvSpPr>
        <p:spPr>
          <a:xfrm rot="-5400000">
            <a:off x="6751638" y="2671763"/>
            <a:ext cx="1587" cy="198437"/>
          </a:xfrm>
          <a:prstGeom prst="line">
            <a:avLst/>
          </a:prstGeom>
          <a:ln w="12700" cap="flat" cmpd="sng">
            <a:solidFill>
              <a:srgbClr val="FF0000"/>
            </a:solidFill>
            <a:prstDash val="solid"/>
            <a:headEnd type="stealth" w="med" len="lg"/>
            <a:tailEnd type="none" w="med" len="med"/>
          </a:ln>
        </p:spPr>
      </p:sp>
      <p:sp>
        <p:nvSpPr>
          <p:cNvPr id="47175" name="Line 72"/>
          <p:cNvSpPr/>
          <p:nvPr/>
        </p:nvSpPr>
        <p:spPr>
          <a:xfrm rot="-5400000" flipH="1">
            <a:off x="6383338" y="3238500"/>
            <a:ext cx="936625" cy="0"/>
          </a:xfrm>
          <a:prstGeom prst="line">
            <a:avLst/>
          </a:prstGeom>
          <a:ln w="12700" cap="flat" cmpd="sng">
            <a:solidFill>
              <a:srgbClr val="FF0000"/>
            </a:solidFill>
            <a:prstDash val="solid"/>
            <a:headEnd type="none" w="med" len="med"/>
            <a:tailEnd type="none" w="med" len="med"/>
          </a:ln>
        </p:spPr>
      </p:sp>
      <p:sp>
        <p:nvSpPr>
          <p:cNvPr id="47176" name="Line 73"/>
          <p:cNvSpPr/>
          <p:nvPr/>
        </p:nvSpPr>
        <p:spPr>
          <a:xfrm rot="5400000" flipV="1">
            <a:off x="5340350" y="-179387"/>
            <a:ext cx="1588" cy="3662362"/>
          </a:xfrm>
          <a:prstGeom prst="line">
            <a:avLst/>
          </a:prstGeom>
          <a:ln w="12700" cap="flat" cmpd="sng">
            <a:solidFill>
              <a:schemeClr val="accent2"/>
            </a:solidFill>
            <a:prstDash val="solid"/>
            <a:headEnd type="none" w="med" len="med"/>
            <a:tailEnd type="none" w="med" len="med"/>
          </a:ln>
        </p:spPr>
      </p:sp>
      <p:sp>
        <p:nvSpPr>
          <p:cNvPr id="47177" name="Text Box 74"/>
          <p:cNvSpPr txBox="1"/>
          <p:nvPr/>
        </p:nvSpPr>
        <p:spPr>
          <a:xfrm>
            <a:off x="4070350" y="2360613"/>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47178" name="Text Box 75"/>
          <p:cNvSpPr txBox="1"/>
          <p:nvPr/>
        </p:nvSpPr>
        <p:spPr>
          <a:xfrm>
            <a:off x="3875088" y="1878013"/>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179" name="Text Box 76"/>
          <p:cNvSpPr txBox="1"/>
          <p:nvPr/>
        </p:nvSpPr>
        <p:spPr>
          <a:xfrm>
            <a:off x="4899025" y="2352675"/>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47180" name="Text Box 77"/>
          <p:cNvSpPr txBox="1"/>
          <p:nvPr/>
        </p:nvSpPr>
        <p:spPr>
          <a:xfrm>
            <a:off x="4162425" y="1365250"/>
            <a:ext cx="341313"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181" name="Text Box 78"/>
          <p:cNvSpPr txBox="1"/>
          <p:nvPr/>
        </p:nvSpPr>
        <p:spPr>
          <a:xfrm>
            <a:off x="5724525" y="235108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47182" name="Text Box 79"/>
          <p:cNvSpPr txBox="1"/>
          <p:nvPr/>
        </p:nvSpPr>
        <p:spPr>
          <a:xfrm>
            <a:off x="6597650" y="235108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47183" name="Text Box 80"/>
          <p:cNvSpPr txBox="1"/>
          <p:nvPr/>
        </p:nvSpPr>
        <p:spPr>
          <a:xfrm>
            <a:off x="4032250" y="36830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47184" name="Text Box 81"/>
          <p:cNvSpPr txBox="1"/>
          <p:nvPr/>
        </p:nvSpPr>
        <p:spPr>
          <a:xfrm>
            <a:off x="4860925" y="36830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47185" name="Text Box 82"/>
          <p:cNvSpPr txBox="1"/>
          <p:nvPr/>
        </p:nvSpPr>
        <p:spPr>
          <a:xfrm>
            <a:off x="5689600" y="36830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47186" name="Text Box 83"/>
          <p:cNvSpPr txBox="1"/>
          <p:nvPr/>
        </p:nvSpPr>
        <p:spPr>
          <a:xfrm>
            <a:off x="6553200" y="3683000"/>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47187" name="Oval 84"/>
          <p:cNvSpPr/>
          <p:nvPr/>
        </p:nvSpPr>
        <p:spPr>
          <a:xfrm rot="-5400000">
            <a:off x="4564063" y="35512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88" name="Oval 85"/>
          <p:cNvSpPr/>
          <p:nvPr/>
        </p:nvSpPr>
        <p:spPr>
          <a:xfrm rot="-5400000">
            <a:off x="6256338" y="35528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89" name="Oval 86"/>
          <p:cNvSpPr/>
          <p:nvPr/>
        </p:nvSpPr>
        <p:spPr>
          <a:xfrm rot="-5400000">
            <a:off x="5397500" y="35512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0" name="Oval 87"/>
          <p:cNvSpPr/>
          <p:nvPr/>
        </p:nvSpPr>
        <p:spPr>
          <a:xfrm rot="-5400000">
            <a:off x="5686425" y="31829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1" name="Oval 88"/>
          <p:cNvSpPr/>
          <p:nvPr/>
        </p:nvSpPr>
        <p:spPr>
          <a:xfrm rot="-5400000">
            <a:off x="4852988" y="31829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2" name="Oval 89"/>
          <p:cNvSpPr/>
          <p:nvPr/>
        </p:nvSpPr>
        <p:spPr>
          <a:xfrm rot="-5400000">
            <a:off x="6545263" y="318293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3" name="Oval 90"/>
          <p:cNvSpPr/>
          <p:nvPr/>
        </p:nvSpPr>
        <p:spPr>
          <a:xfrm rot="-5400000">
            <a:off x="4706938" y="16351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4" name="Oval 91"/>
          <p:cNvSpPr/>
          <p:nvPr/>
        </p:nvSpPr>
        <p:spPr>
          <a:xfrm rot="-5400000">
            <a:off x="3879850" y="16335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5" name="Oval 92"/>
          <p:cNvSpPr/>
          <p:nvPr/>
        </p:nvSpPr>
        <p:spPr>
          <a:xfrm rot="-5400000">
            <a:off x="5541963" y="16351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6" name="Oval 93"/>
          <p:cNvSpPr/>
          <p:nvPr/>
        </p:nvSpPr>
        <p:spPr>
          <a:xfrm>
            <a:off x="7427913" y="3181350"/>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7" name="Oval 94"/>
          <p:cNvSpPr/>
          <p:nvPr/>
        </p:nvSpPr>
        <p:spPr>
          <a:xfrm>
            <a:off x="8623300" y="3365500"/>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198" name="Text Box 96"/>
          <p:cNvSpPr txBox="1"/>
          <p:nvPr/>
        </p:nvSpPr>
        <p:spPr>
          <a:xfrm>
            <a:off x="4697413" y="18748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199" name="Text Box 97"/>
          <p:cNvSpPr txBox="1"/>
          <p:nvPr/>
        </p:nvSpPr>
        <p:spPr>
          <a:xfrm>
            <a:off x="5540375" y="1874838"/>
            <a:ext cx="446088"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200" name="Text Box 98"/>
          <p:cNvSpPr txBox="1"/>
          <p:nvPr/>
        </p:nvSpPr>
        <p:spPr>
          <a:xfrm>
            <a:off x="6399213" y="18748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201" name="Oval 99"/>
          <p:cNvSpPr/>
          <p:nvPr/>
        </p:nvSpPr>
        <p:spPr>
          <a:xfrm rot="-5400000">
            <a:off x="6399213" y="16351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47202" name="Line 100"/>
          <p:cNvSpPr/>
          <p:nvPr/>
        </p:nvSpPr>
        <p:spPr>
          <a:xfrm rot="-5400000">
            <a:off x="6823075" y="2001838"/>
            <a:ext cx="698500" cy="0"/>
          </a:xfrm>
          <a:prstGeom prst="line">
            <a:avLst/>
          </a:prstGeom>
          <a:ln w="12700" cap="flat" cmpd="sng">
            <a:solidFill>
              <a:schemeClr val="accent2"/>
            </a:solidFill>
            <a:prstDash val="solid"/>
            <a:headEnd type="none" w="med" len="med"/>
            <a:tailEnd type="none" w="med" len="med"/>
          </a:ln>
        </p:spPr>
      </p:sp>
      <p:sp>
        <p:nvSpPr>
          <p:cNvPr id="47203" name="Rectangle 101"/>
          <p:cNvSpPr/>
          <p:nvPr/>
        </p:nvSpPr>
        <p:spPr>
          <a:xfrm rot="-5400000">
            <a:off x="7062788" y="1990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204" name="Text Box 102"/>
          <p:cNvSpPr txBox="1"/>
          <p:nvPr/>
        </p:nvSpPr>
        <p:spPr>
          <a:xfrm>
            <a:off x="7151688" y="1874838"/>
            <a:ext cx="446087"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205" name="Rectangle 103"/>
          <p:cNvSpPr/>
          <p:nvPr/>
        </p:nvSpPr>
        <p:spPr>
          <a:xfrm>
            <a:off x="4213225" y="161607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206" name="Text Box 104"/>
          <p:cNvSpPr txBox="1"/>
          <p:nvPr/>
        </p:nvSpPr>
        <p:spPr>
          <a:xfrm>
            <a:off x="4987925" y="1365250"/>
            <a:ext cx="341313"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207" name="Rectangle 105"/>
          <p:cNvSpPr/>
          <p:nvPr/>
        </p:nvSpPr>
        <p:spPr>
          <a:xfrm>
            <a:off x="5038725" y="161607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47208" name="Text Box 106"/>
          <p:cNvSpPr txBox="1"/>
          <p:nvPr/>
        </p:nvSpPr>
        <p:spPr>
          <a:xfrm>
            <a:off x="5851525" y="1363663"/>
            <a:ext cx="341313"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47209" name="Rectangle 107"/>
          <p:cNvSpPr/>
          <p:nvPr/>
        </p:nvSpPr>
        <p:spPr>
          <a:xfrm>
            <a:off x="5902325" y="1614488"/>
            <a:ext cx="215900" cy="7143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nvGrpSpPr>
          <p:cNvPr id="47210" name="Group 119"/>
          <p:cNvGrpSpPr/>
          <p:nvPr/>
        </p:nvGrpSpPr>
        <p:grpSpPr>
          <a:xfrm>
            <a:off x="7712075" y="2185988"/>
            <a:ext cx="652463" cy="339725"/>
            <a:chOff x="4858" y="1401"/>
            <a:chExt cx="411" cy="214"/>
          </a:xfrm>
        </p:grpSpPr>
        <p:sp>
          <p:nvSpPr>
            <p:cNvPr id="47216" name="Line 117"/>
            <p:cNvSpPr/>
            <p:nvPr/>
          </p:nvSpPr>
          <p:spPr>
            <a:xfrm>
              <a:off x="4858" y="1607"/>
              <a:ext cx="411" cy="0"/>
            </a:xfrm>
            <a:prstGeom prst="line">
              <a:avLst/>
            </a:prstGeom>
            <a:ln w="53975" cap="flat" cmpd="sng">
              <a:solidFill>
                <a:srgbClr val="FF0000"/>
              </a:solidFill>
              <a:prstDash val="solid"/>
              <a:headEnd type="none" w="med" len="med"/>
              <a:tailEnd type="stealth" w="med" len="lg"/>
            </a:ln>
          </p:spPr>
        </p:sp>
        <p:sp>
          <p:nvSpPr>
            <p:cNvPr id="47217" name="Text Box 118"/>
            <p:cNvSpPr txBox="1"/>
            <p:nvPr/>
          </p:nvSpPr>
          <p:spPr>
            <a:xfrm>
              <a:off x="4944" y="1401"/>
              <a:ext cx="310" cy="214"/>
            </a:xfrm>
            <a:prstGeom prst="rect">
              <a:avLst/>
            </a:prstGeom>
            <a:noFill/>
            <a:ln w="9525">
              <a:noFill/>
            </a:ln>
          </p:spPr>
          <p:txBody>
            <a:bodyPr>
              <a:spAutoFit/>
            </a:bodyPr>
            <a:p>
              <a:pPr eaLnBrk="1" hangingPunct="1">
                <a:lnSpc>
                  <a:spcPct val="90000"/>
                </a:lnSpc>
                <a:spcBef>
                  <a:spcPct val="50000"/>
                </a:spcBef>
              </a:pPr>
              <a:r>
                <a:rPr lang="en-US" altLang="zh-CN" sz="1800" i="1" dirty="0">
                  <a:solidFill>
                    <a:srgbClr val="FF0000"/>
                  </a:solidFill>
                  <a:latin typeface="Times New Roman" panose="02020603050405020304" pitchFamily="18" charset="0"/>
                </a:rPr>
                <a:t>I</a:t>
              </a:r>
              <a:endParaRPr lang="en-US" altLang="zh-CN" sz="1800" i="1" dirty="0">
                <a:solidFill>
                  <a:srgbClr val="FF0000"/>
                </a:solidFill>
                <a:latin typeface="Times New Roman" panose="02020603050405020304" pitchFamily="18" charset="0"/>
              </a:endParaRPr>
            </a:p>
          </p:txBody>
        </p:sp>
      </p:grpSp>
      <p:sp>
        <p:nvSpPr>
          <p:cNvPr id="2483340" name="Text Box 140"/>
          <p:cNvSpPr txBox="1"/>
          <p:nvPr/>
        </p:nvSpPr>
        <p:spPr>
          <a:xfrm>
            <a:off x="107950" y="1450975"/>
            <a:ext cx="2447925" cy="1077913"/>
          </a:xfrm>
          <a:prstGeom prst="rect">
            <a:avLst/>
          </a:prstGeom>
          <a:noFill/>
          <a:ln w="9525">
            <a:noFill/>
          </a:ln>
        </p:spPr>
        <p:txBody>
          <a:bodyPr>
            <a:spAutoFit/>
          </a:bodyPr>
          <a:p>
            <a:pPr eaLnBrk="1" hangingPunct="1">
              <a:lnSpc>
                <a:spcPct val="90000"/>
              </a:lnSpc>
              <a:spcBef>
                <a:spcPct val="50000"/>
              </a:spcBef>
            </a:pPr>
            <a:r>
              <a:rPr lang="zh-CN" altLang="en-US" sz="2400" dirty="0">
                <a:latin typeface="Times New Roman" panose="02020603050405020304" pitchFamily="18" charset="0"/>
              </a:rPr>
              <a:t>对于</a:t>
            </a:r>
            <a:r>
              <a:rPr lang="en-US" altLang="zh-CN" sz="2400" i="1" dirty="0">
                <a:latin typeface="Times New Roman" panose="02020603050405020304" pitchFamily="18" charset="0"/>
              </a:rPr>
              <a:t>n</a:t>
            </a:r>
            <a:r>
              <a:rPr lang="zh-CN" altLang="en-US" sz="2400" dirty="0">
                <a:latin typeface="Times New Roman" panose="02020603050405020304" pitchFamily="18" charset="0"/>
              </a:rPr>
              <a:t>位的</a:t>
            </a:r>
            <a:r>
              <a:rPr lang="en-US" altLang="zh-CN" sz="2400" dirty="0">
                <a:latin typeface="Times New Roman" panose="02020603050405020304" pitchFamily="18" charset="0"/>
              </a:rPr>
              <a:t>T</a:t>
            </a:r>
            <a:r>
              <a:rPr lang="zh-CN" altLang="en-US" sz="2400" dirty="0">
                <a:latin typeface="Times New Roman" panose="02020603050405020304" pitchFamily="18" charset="0"/>
              </a:rPr>
              <a:t>型网络，则输出模拟电压为：</a:t>
            </a:r>
            <a:endParaRPr lang="zh-CN" altLang="en-US" sz="2400" dirty="0">
              <a:latin typeface="Times New Roman" panose="02020603050405020304" pitchFamily="18" charset="0"/>
            </a:endParaRPr>
          </a:p>
        </p:txBody>
      </p:sp>
      <p:graphicFrame>
        <p:nvGraphicFramePr>
          <p:cNvPr id="2483341" name="Object 141"/>
          <p:cNvGraphicFramePr>
            <a:graphicFrameLocks noGrp="1" noChangeAspect="1"/>
          </p:cNvGraphicFramePr>
          <p:nvPr>
            <p:ph idx="4294967295" hasCustomPrompt="1"/>
          </p:nvPr>
        </p:nvGraphicFramePr>
        <p:xfrm>
          <a:off x="88900" y="2589213"/>
          <a:ext cx="2773363" cy="1776412"/>
        </p:xfrm>
        <a:graphic>
          <a:graphicData uri="http://schemas.openxmlformats.org/presentationml/2006/ole">
            <mc:AlternateContent xmlns:mc="http://schemas.openxmlformats.org/markup-compatibility/2006">
              <mc:Choice xmlns:v="urn:schemas-microsoft-com:vml" Requires="v">
                <p:oleObj spid="_x0000_s3090" name="" r:id="rId1" imgW="1346200" imgH="889000" progId="Equation.3">
                  <p:embed/>
                </p:oleObj>
              </mc:Choice>
              <mc:Fallback>
                <p:oleObj name="" r:id="rId1" imgW="1346200" imgH="889000" progId="Equation.3">
                  <p:embed/>
                  <p:pic>
                    <p:nvPicPr>
                      <p:cNvPr id="0" name="图片 3089"/>
                      <p:cNvPicPr/>
                      <p:nvPr/>
                    </p:nvPicPr>
                    <p:blipFill>
                      <a:blip r:embed="rId2"/>
                      <a:stretch>
                        <a:fillRect/>
                      </a:stretch>
                    </p:blipFill>
                    <p:spPr>
                      <a:xfrm>
                        <a:off x="88900" y="2589213"/>
                        <a:ext cx="2773363" cy="1776412"/>
                      </a:xfrm>
                      <a:prstGeom prst="rect">
                        <a:avLst/>
                      </a:prstGeom>
                      <a:solidFill>
                        <a:srgbClr val="CCFFCC"/>
                      </a:solidFill>
                      <a:ln w="38100">
                        <a:noFill/>
                        <a:miter/>
                      </a:ln>
                    </p:spPr>
                  </p:pic>
                </p:oleObj>
              </mc:Fallback>
            </mc:AlternateContent>
          </a:graphicData>
        </a:graphic>
      </p:graphicFrame>
      <p:sp>
        <p:nvSpPr>
          <p:cNvPr id="2483343" name="Text Box 143"/>
          <p:cNvSpPr txBox="1"/>
          <p:nvPr/>
        </p:nvSpPr>
        <p:spPr>
          <a:xfrm>
            <a:off x="250825" y="4508500"/>
            <a:ext cx="2413000" cy="1244600"/>
          </a:xfrm>
          <a:prstGeom prst="rect">
            <a:avLst/>
          </a:prstGeom>
          <a:solidFill>
            <a:srgbClr val="FFCC99"/>
          </a:solid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ea typeface="黑体" panose="02010609060101010101" pitchFamily="49" charset="-122"/>
              </a:rPr>
              <a:t>输出的模拟电压正比于输入的数字量。</a:t>
            </a:r>
            <a:endParaRPr lang="zh-CN" altLang="en-US" sz="2800" dirty="0">
              <a:solidFill>
                <a:schemeClr val="tx1"/>
              </a:solidFill>
              <a:latin typeface="Times New Roman" panose="02020603050405020304" pitchFamily="18" charset="0"/>
              <a:ea typeface="黑体" panose="02010609060101010101" pitchFamily="49" charset="-122"/>
            </a:endParaRPr>
          </a:p>
        </p:txBody>
      </p:sp>
      <p:sp>
        <p:nvSpPr>
          <p:cNvPr id="2483344" name="Text Box 144"/>
          <p:cNvSpPr txBox="1"/>
          <p:nvPr/>
        </p:nvSpPr>
        <p:spPr>
          <a:xfrm>
            <a:off x="3095625" y="4119563"/>
            <a:ext cx="4610100" cy="420687"/>
          </a:xfrm>
          <a:prstGeom prst="rect">
            <a:avLst/>
          </a:prstGeom>
          <a:solidFill>
            <a:srgbClr val="99CCFF"/>
          </a:solidFill>
          <a:ln w="9525">
            <a:noFill/>
          </a:ln>
        </p:spPr>
        <p:txBody>
          <a:bodyPr>
            <a:spAutoFit/>
          </a:bodyPr>
          <a:p>
            <a:pPr eaLnBrk="1" hangingPunct="1">
              <a:lnSpc>
                <a:spcPct val="90000"/>
              </a:lnSpc>
              <a:spcBef>
                <a:spcPct val="50000"/>
              </a:spcBef>
            </a:pPr>
            <a:r>
              <a:rPr lang="en-US" altLang="zh-CN" sz="2400" dirty="0">
                <a:solidFill>
                  <a:schemeClr val="tx1"/>
                </a:solidFill>
                <a:latin typeface="Times New Roman" panose="02020603050405020304" pitchFamily="18" charset="0"/>
              </a:rPr>
              <a:t>T</a:t>
            </a:r>
            <a:r>
              <a:rPr lang="zh-CN" altLang="en-US" sz="2400" dirty="0">
                <a:solidFill>
                  <a:schemeClr val="tx1"/>
                </a:solidFill>
                <a:latin typeface="Times New Roman" panose="02020603050405020304" pitchFamily="18" charset="0"/>
              </a:rPr>
              <a:t>型电阻</a:t>
            </a:r>
            <a:r>
              <a:rPr lang="en-US" altLang="zh-CN" sz="2400" dirty="0">
                <a:solidFill>
                  <a:schemeClr val="tx1"/>
                </a:solidFill>
                <a:latin typeface="Times New Roman" panose="02020603050405020304" pitchFamily="18" charset="0"/>
              </a:rPr>
              <a:t>D/A</a:t>
            </a:r>
            <a:r>
              <a:rPr lang="zh-CN" altLang="en-US" sz="2400" dirty="0">
                <a:solidFill>
                  <a:schemeClr val="tx1"/>
                </a:solidFill>
                <a:latin typeface="Times New Roman" panose="02020603050405020304" pitchFamily="18" charset="0"/>
              </a:rPr>
              <a:t>转换器的突出特点：</a:t>
            </a:r>
            <a:endParaRPr lang="zh-CN" altLang="en-US" sz="2400" dirty="0">
              <a:solidFill>
                <a:schemeClr val="tx1"/>
              </a:solidFill>
              <a:latin typeface="Times New Roman" panose="02020603050405020304" pitchFamily="18" charset="0"/>
            </a:endParaRPr>
          </a:p>
        </p:txBody>
      </p:sp>
      <p:sp>
        <p:nvSpPr>
          <p:cNvPr id="2483345" name="Text Box 145"/>
          <p:cNvSpPr txBox="1"/>
          <p:nvPr/>
        </p:nvSpPr>
        <p:spPr>
          <a:xfrm>
            <a:off x="3008313" y="4638675"/>
            <a:ext cx="5919787" cy="1525588"/>
          </a:xfrm>
          <a:prstGeom prst="rect">
            <a:avLst/>
          </a:prstGeom>
          <a:noFill/>
          <a:ln w="9525">
            <a:noFill/>
          </a:ln>
        </p:spPr>
        <p:txBody>
          <a:bodyPr>
            <a:spAutoFit/>
          </a:bodyPr>
          <a:p>
            <a:pPr marL="447675" indent="-447675" eaLnBrk="1" hangingPunct="1">
              <a:lnSpc>
                <a:spcPct val="90000"/>
              </a:lnSpc>
              <a:spcBef>
                <a:spcPct val="20000"/>
              </a:spcBef>
              <a:buClr>
                <a:srgbClr val="FF0000"/>
              </a:buClr>
              <a:buFont typeface="Wingdings" panose="05000000000000000000" pitchFamily="2" charset="2"/>
              <a:buChar char="u"/>
            </a:pPr>
            <a:r>
              <a:rPr lang="zh-CN" altLang="en-US" sz="2000" dirty="0">
                <a:latin typeface="Times New Roman" panose="02020603050405020304" pitchFamily="18" charset="0"/>
              </a:rPr>
              <a:t>开关切换时开关端点的电压几乎没有变化，从根本上消除尖峰脉冲的产生；</a:t>
            </a:r>
            <a:endParaRPr lang="zh-CN" altLang="en-US" sz="2000" dirty="0">
              <a:latin typeface="Times New Roman" panose="02020603050405020304" pitchFamily="18" charset="0"/>
            </a:endParaRPr>
          </a:p>
          <a:p>
            <a:pPr marL="447675" indent="-447675" eaLnBrk="1" hangingPunct="1">
              <a:lnSpc>
                <a:spcPct val="90000"/>
              </a:lnSpc>
              <a:spcBef>
                <a:spcPct val="20000"/>
              </a:spcBef>
              <a:buClr>
                <a:srgbClr val="FF0000"/>
              </a:buClr>
              <a:buFont typeface="Wingdings" panose="05000000000000000000" pitchFamily="2" charset="2"/>
              <a:buChar char="u"/>
            </a:pPr>
            <a:r>
              <a:rPr lang="zh-CN" altLang="en-US" sz="2000" dirty="0">
                <a:latin typeface="Times New Roman" panose="02020603050405020304" pitchFamily="18" charset="0"/>
              </a:rPr>
              <a:t>不论输入数字量的各位是“</a:t>
            </a:r>
            <a:r>
              <a:rPr lang="en-US" altLang="zh-CN" sz="2000" dirty="0">
                <a:latin typeface="Times New Roman" panose="02020603050405020304" pitchFamily="18" charset="0"/>
              </a:rPr>
              <a:t>0”</a:t>
            </a:r>
            <a:r>
              <a:rPr lang="zh-CN" altLang="en-US" sz="2000" dirty="0">
                <a:latin typeface="Times New Roman" panose="02020603050405020304" pitchFamily="18" charset="0"/>
              </a:rPr>
              <a:t>还是“</a:t>
            </a:r>
            <a:r>
              <a:rPr lang="en-US" altLang="zh-CN" sz="2000" dirty="0">
                <a:latin typeface="Times New Roman" panose="02020603050405020304" pitchFamily="18" charset="0"/>
              </a:rPr>
              <a:t>1”</a:t>
            </a:r>
            <a:r>
              <a:rPr lang="zh-CN" altLang="en-US" sz="2000" dirty="0">
                <a:latin typeface="Times New Roman" panose="02020603050405020304" pitchFamily="18" charset="0"/>
              </a:rPr>
              <a:t>，对应支路电流的大小不变，进一步提高了转换速度。是目前</a:t>
            </a:r>
            <a:r>
              <a:rPr lang="en-US" altLang="zh-CN" sz="2000" dirty="0">
                <a:latin typeface="Times New Roman" panose="02020603050405020304" pitchFamily="18" charset="0"/>
              </a:rPr>
              <a:t>D/A</a:t>
            </a:r>
            <a:r>
              <a:rPr lang="zh-CN" altLang="en-US" sz="2000" dirty="0">
                <a:latin typeface="Times New Roman" panose="02020603050405020304" pitchFamily="18" charset="0"/>
              </a:rPr>
              <a:t>转换器中速度最快的一种。</a:t>
            </a:r>
            <a:endParaRPr lang="zh-CN" altLang="en-US" sz="20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83340"/>
                                        </p:tgtEl>
                                        <p:attrNameLst>
                                          <p:attrName>style.visibility</p:attrName>
                                        </p:attrNameLst>
                                      </p:cBhvr>
                                      <p:to>
                                        <p:strVal val="visible"/>
                                      </p:to>
                                    </p:set>
                                    <p:animEffect transition="in" filter="dissolve">
                                      <p:cBhvr>
                                        <p:cTn id="7" dur="500"/>
                                        <p:tgtEl>
                                          <p:spTgt spid="24833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83341"/>
                                        </p:tgtEl>
                                        <p:attrNameLst>
                                          <p:attrName>style.visibility</p:attrName>
                                        </p:attrNameLst>
                                      </p:cBhvr>
                                      <p:to>
                                        <p:strVal val="visible"/>
                                      </p:to>
                                    </p:set>
                                    <p:animEffect transition="in" filter="dissolve">
                                      <p:cBhvr>
                                        <p:cTn id="12" dur="500"/>
                                        <p:tgtEl>
                                          <p:spTgt spid="24833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83343"/>
                                        </p:tgtEl>
                                        <p:attrNameLst>
                                          <p:attrName>style.visibility</p:attrName>
                                        </p:attrNameLst>
                                      </p:cBhvr>
                                      <p:to>
                                        <p:strVal val="visible"/>
                                      </p:to>
                                    </p:set>
                                    <p:animEffect transition="in" filter="dissolve">
                                      <p:cBhvr>
                                        <p:cTn id="17" dur="500"/>
                                        <p:tgtEl>
                                          <p:spTgt spid="248334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483344"/>
                                        </p:tgtEl>
                                        <p:attrNameLst>
                                          <p:attrName>style.visibility</p:attrName>
                                        </p:attrNameLst>
                                      </p:cBhvr>
                                      <p:to>
                                        <p:strVal val="visible"/>
                                      </p:to>
                                    </p:set>
                                    <p:animEffect transition="in" filter="dissolve">
                                      <p:cBhvr>
                                        <p:cTn id="22" dur="500"/>
                                        <p:tgtEl>
                                          <p:spTgt spid="248334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83345">
                                            <p:txEl>
                                              <p:charRg st="0" end="34"/>
                                            </p:txEl>
                                          </p:spTgt>
                                        </p:tgtEl>
                                        <p:attrNameLst>
                                          <p:attrName>style.visibility</p:attrName>
                                        </p:attrNameLst>
                                      </p:cBhvr>
                                      <p:to>
                                        <p:strVal val="visible"/>
                                      </p:to>
                                    </p:set>
                                    <p:animEffect transition="in" filter="dissolve">
                                      <p:cBhvr>
                                        <p:cTn id="27" dur="500"/>
                                        <p:tgtEl>
                                          <p:spTgt spid="2483345">
                                            <p:txEl>
                                              <p:charRg st="0" end="3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83345">
                                            <p:txEl>
                                              <p:charRg st="34" end="96"/>
                                            </p:txEl>
                                          </p:spTgt>
                                        </p:tgtEl>
                                        <p:attrNameLst>
                                          <p:attrName>style.visibility</p:attrName>
                                        </p:attrNameLst>
                                      </p:cBhvr>
                                      <p:to>
                                        <p:strVal val="visible"/>
                                      </p:to>
                                    </p:set>
                                    <p:animEffect transition="in" filter="dissolve">
                                      <p:cBhvr>
                                        <p:cTn id="32" dur="500"/>
                                        <p:tgtEl>
                                          <p:spTgt spid="2483345">
                                            <p:txEl>
                                              <p:charRg st="34" end="9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3340" grpId="0"/>
      <p:bldP spid="2483343" grpId="0" bldLvl="0" animBg="1"/>
      <p:bldP spid="2483344" grpId="0" bldLvl="0" animBg="1"/>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93442"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93443" name="Rectangle 3"/>
          <p:cNvSpPr/>
          <p:nvPr/>
        </p:nvSpPr>
        <p:spPr>
          <a:xfrm>
            <a:off x="431800" y="657225"/>
            <a:ext cx="60039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  </a:t>
            </a:r>
            <a:r>
              <a:rPr lang="zh-CN" altLang="en-US" sz="3200" dirty="0">
                <a:latin typeface="Times New Roman" panose="02020603050405020304" pitchFamily="18" charset="0"/>
              </a:rPr>
              <a:t>具有双极性输出的</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2493555" name="Text Box 115"/>
          <p:cNvSpPr txBox="1"/>
          <p:nvPr/>
        </p:nvSpPr>
        <p:spPr>
          <a:xfrm>
            <a:off x="323850" y="1341438"/>
            <a:ext cx="2630488" cy="2012950"/>
          </a:xfrm>
          <a:prstGeom prst="rect">
            <a:avLst/>
          </a:prstGeom>
          <a:no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rPr>
              <a:t>实际应用中，有些场合需要</a:t>
            </a:r>
            <a:r>
              <a:rPr lang="en-US" altLang="zh-CN" sz="2800" dirty="0">
                <a:solidFill>
                  <a:schemeClr val="tx1"/>
                </a:solidFill>
                <a:latin typeface="Times New Roman" panose="02020603050405020304" pitchFamily="18" charset="0"/>
              </a:rPr>
              <a:t>D/A</a:t>
            </a:r>
            <a:r>
              <a:rPr lang="zh-CN" altLang="en-US" sz="2800" dirty="0">
                <a:solidFill>
                  <a:schemeClr val="tx1"/>
                </a:solidFill>
                <a:latin typeface="Times New Roman" panose="02020603050405020304" pitchFamily="18" charset="0"/>
              </a:rPr>
              <a:t>转换器输出电压是双极性的。</a:t>
            </a:r>
            <a:endParaRPr lang="zh-CN" altLang="en-US" sz="2800" dirty="0">
              <a:solidFill>
                <a:schemeClr val="tx1"/>
              </a:solidFill>
              <a:latin typeface="Times New Roman" panose="02020603050405020304" pitchFamily="18" charset="0"/>
            </a:endParaRPr>
          </a:p>
        </p:txBody>
      </p:sp>
      <p:sp>
        <p:nvSpPr>
          <p:cNvPr id="2493556" name="Text Box 116"/>
          <p:cNvSpPr txBox="1"/>
          <p:nvPr/>
        </p:nvSpPr>
        <p:spPr>
          <a:xfrm>
            <a:off x="395288" y="3394075"/>
            <a:ext cx="2341562" cy="1244600"/>
          </a:xfrm>
          <a:prstGeom prst="rect">
            <a:avLst/>
          </a:prstGeom>
          <a:solidFill>
            <a:srgbClr val="CCFFCC"/>
          </a:solid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ea typeface="黑体" panose="02010609060101010101" pitchFamily="49" charset="-122"/>
              </a:rPr>
              <a:t>输入数码是偏移二进制码或补码。</a:t>
            </a:r>
            <a:endParaRPr lang="zh-CN" altLang="en-US" sz="2800" dirty="0">
              <a:latin typeface="Times New Roman" panose="02020603050405020304" pitchFamily="18" charset="0"/>
              <a:ea typeface="黑体" panose="02010609060101010101" pitchFamily="49" charset="-122"/>
            </a:endParaRPr>
          </a:p>
        </p:txBody>
      </p:sp>
      <p:graphicFrame>
        <p:nvGraphicFramePr>
          <p:cNvPr id="2493613" name="Group 173"/>
          <p:cNvGraphicFramePr>
            <a:graphicFrameLocks noGrp="1"/>
          </p:cNvGraphicFramePr>
          <p:nvPr>
            <p:ph idx="4294967295"/>
          </p:nvPr>
        </p:nvGraphicFramePr>
        <p:xfrm>
          <a:off x="2987675" y="1412875"/>
          <a:ext cx="5976938" cy="3925888"/>
        </p:xfrm>
        <a:graphic>
          <a:graphicData uri="http://schemas.openxmlformats.org/drawingml/2006/table">
            <a:tbl>
              <a:tblPr/>
              <a:tblGrid>
                <a:gridCol w="1495425"/>
                <a:gridCol w="1493838"/>
                <a:gridCol w="1492250"/>
                <a:gridCol w="1495425"/>
              </a:tblGrid>
              <a:tr h="755711">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rPr>
                        <a:t>偏移二进制码</a:t>
                      </a:r>
                      <a:endPar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endParaRPr>
                    </a:p>
                  </a:txBody>
                  <a:tcPr marT="45724" marB="4572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rPr>
                        <a:t>补码</a:t>
                      </a:r>
                      <a:endPar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rPr>
                        <a:t>对应的十进制数</a:t>
                      </a:r>
                      <a:endPar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50000"/>
                        </a:spcBef>
                        <a:spcAft>
                          <a:spcPct val="0"/>
                        </a:spcAft>
                        <a:buClrTx/>
                        <a:buSzPct val="75000"/>
                        <a:buFont typeface="Wingdings" panose="05000000000000000000" pitchFamily="2" charset="2"/>
                        <a:buNone/>
                      </a:pPr>
                      <a:r>
                        <a:rPr kumimoji="0" lang="zh-CN" altLang="en-US" sz="2000" b="1" i="0" u="none" strike="noStrike" cap="none" normalizeH="0" baseline="0">
                          <a:ln>
                            <a:noFill/>
                          </a:ln>
                          <a:solidFill>
                            <a:schemeClr val="tx1"/>
                          </a:solidFill>
                          <a:effectLst/>
                          <a:latin typeface="黑体" panose="02010609060101010101" pitchFamily="49" charset="-122"/>
                          <a:ea typeface="黑体" panose="02010609060101010101" pitchFamily="49" charset="-122"/>
                        </a:rPr>
                        <a:t>所要求的输出电压</a:t>
                      </a:r>
                      <a:r>
                        <a:rPr kumimoji="0" lang="en-US" altLang="zh-CN" sz="2000" b="1" i="0" u="none" strike="noStrike" cap="none" normalizeH="0" baseline="0">
                          <a:ln>
                            <a:noFill/>
                          </a:ln>
                          <a:solidFill>
                            <a:schemeClr val="tx1"/>
                          </a:solidFill>
                          <a:effectLst/>
                          <a:latin typeface="黑体" panose="02010609060101010101" pitchFamily="49" charset="-122"/>
                          <a:ea typeface="黑体" panose="02010609060101010101" pitchFamily="49" charset="-122"/>
                        </a:rPr>
                        <a:t>(V)</a:t>
                      </a:r>
                      <a:endParaRPr kumimoji="0" lang="en-US" altLang="zh-CN" sz="2000" b="1" i="0" u="none" strike="noStrike" cap="none" normalizeH="0" baseline="0">
                        <a:ln>
                          <a:noFill/>
                        </a:ln>
                        <a:solidFill>
                          <a:schemeClr val="tx1"/>
                        </a:solidFill>
                        <a:effectLst/>
                        <a:latin typeface="黑体" panose="02010609060101010101" pitchFamily="49" charset="-122"/>
                        <a:ea typeface="黑体" panose="02010609060101010101" pitchFamily="49" charset="-122"/>
                      </a:endParaRPr>
                    </a:p>
                  </a:txBody>
                  <a:tcPr marT="45724" marB="4572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3170177">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111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110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101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100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011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010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001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000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4" marB="4572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011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010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001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000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111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110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101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100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-4</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1pPr>
                      <a:lvl2pPr marL="406400"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2pPr>
                      <a:lvl3pPr marL="814705"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3pPr>
                      <a:lvl4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4pPr>
                      <a:lvl5pPr defTabSz="678180">
                        <a:spcBef>
                          <a:spcPct val="50000"/>
                        </a:spcBef>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5pPr>
                      <a:lvl6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6pPr>
                      <a:lvl7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7pPr>
                      <a:lvl8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8pPr>
                      <a:lvl9pPr defTabSz="678180" fontAlgn="base">
                        <a:spcBef>
                          <a:spcPct val="50000"/>
                        </a:spcBef>
                        <a:spcAft>
                          <a:spcPct val="0"/>
                        </a:spcAft>
                        <a:buSzPct val="75000"/>
                        <a:buFont typeface="Wingdings" panose="05000000000000000000" pitchFamily="2" charset="2"/>
                        <a:defRPr b="1">
                          <a:solidFill>
                            <a:srgbClr val="000066"/>
                          </a:solidFill>
                          <a:latin typeface="Arial" panose="020B0604020202020204" pitchFamily="34" charset="0"/>
                          <a:ea typeface="宋体" panose="02010600030101010101" pitchFamily="2" charset="-122"/>
                        </a:defRPr>
                      </a:lvl9pPr>
                    </a:lstStyle>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0</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-1</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-2</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-3</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p>
                      <a:pPr marL="0" marR="0" lvl="0" indent="0" algn="ctr" defTabSz="678180" rtl="0" eaLnBrk="1" fontAlgn="base" latinLnBrk="0" hangingPunct="1">
                        <a:lnSpc>
                          <a:spcPct val="100000"/>
                        </a:lnSpc>
                        <a:spcBef>
                          <a:spcPct val="30000"/>
                        </a:spcBef>
                        <a:spcAft>
                          <a:spcPct val="0"/>
                        </a:spcAft>
                        <a:buClrTx/>
                        <a:buSzPct val="75000"/>
                        <a:buFont typeface="Wingdings" panose="05000000000000000000" pitchFamily="2" charset="2"/>
                        <a:buNone/>
                      </a:pPr>
                      <a:r>
                        <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rPr>
                        <a:t>-4</a:t>
                      </a:r>
                      <a:endParaRPr kumimoji="0" lang="en-US" altLang="zh-CN" sz="2000" b="1" i="0" u="none" strike="noStrike" cap="none" normalizeH="0" baseline="0">
                        <a:ln>
                          <a:noFill/>
                        </a:ln>
                        <a:solidFill>
                          <a:srgbClr val="000066"/>
                        </a:solidFill>
                        <a:effectLst/>
                        <a:latin typeface="Arial" panose="020B0604020202020204" pitchFamily="34" charset="0"/>
                        <a:ea typeface="宋体" panose="02010600030101010101" pitchFamily="2" charset="-122"/>
                      </a:endParaRPr>
                    </a:p>
                  </a:txBody>
                  <a:tcPr marT="45724" marB="4572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2493577" name="Text Box 137"/>
          <p:cNvSpPr txBox="1"/>
          <p:nvPr/>
        </p:nvSpPr>
        <p:spPr>
          <a:xfrm>
            <a:off x="3600450" y="5373688"/>
            <a:ext cx="4752975" cy="749300"/>
          </a:xfrm>
          <a:prstGeom prst="rect">
            <a:avLst/>
          </a:prstGeom>
          <a:noFill/>
          <a:ln w="9525">
            <a:noFill/>
          </a:ln>
        </p:spPr>
        <p:txBody>
          <a:bodyPr>
            <a:spAutoFit/>
          </a:bodyPr>
          <a:p>
            <a:pPr algn="ctr" eaLnBrk="1" hangingPunct="1">
              <a:lnSpc>
                <a:spcPct val="90000"/>
              </a:lnSpc>
              <a:spcBef>
                <a:spcPct val="50000"/>
              </a:spcBef>
            </a:pPr>
            <a:r>
              <a:rPr lang="zh-CN" altLang="en-US" sz="2400" dirty="0">
                <a:solidFill>
                  <a:srgbClr val="000099"/>
                </a:solidFill>
                <a:latin typeface="Times New Roman" panose="02020603050405020304" pitchFamily="18" charset="0"/>
              </a:rPr>
              <a:t>偏移二进制码、补码输入时所要求的输出电压</a:t>
            </a:r>
            <a:endParaRPr lang="zh-CN" altLang="en-US" sz="2400" dirty="0">
              <a:solidFill>
                <a:srgbClr val="000099"/>
              </a:solidFill>
              <a:latin typeface="Times New Roman" panose="02020603050405020304" pitchFamily="18" charset="0"/>
            </a:endParaRPr>
          </a:p>
        </p:txBody>
      </p:sp>
      <p:sp>
        <p:nvSpPr>
          <p:cNvPr id="2493614" name="Text Box 174"/>
          <p:cNvSpPr txBox="1"/>
          <p:nvPr/>
        </p:nvSpPr>
        <p:spPr>
          <a:xfrm>
            <a:off x="393700" y="4725988"/>
            <a:ext cx="2414588" cy="1244600"/>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偏移二进制码与补码只在符号位相反。</a:t>
            </a:r>
            <a:endParaRPr lang="zh-CN" altLang="en-US" sz="28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3443"/>
                                        </p:tgtEl>
                                        <p:attrNameLst>
                                          <p:attrName>style.visibility</p:attrName>
                                        </p:attrNameLst>
                                      </p:cBhvr>
                                      <p:to>
                                        <p:strVal val="visible"/>
                                      </p:to>
                                    </p:set>
                                    <p:animEffect transition="in" filter="dissolve">
                                      <p:cBhvr>
                                        <p:cTn id="7" dur="500"/>
                                        <p:tgtEl>
                                          <p:spTgt spid="249344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493555"/>
                                        </p:tgtEl>
                                        <p:attrNameLst>
                                          <p:attrName>style.visibility</p:attrName>
                                        </p:attrNameLst>
                                      </p:cBhvr>
                                      <p:to>
                                        <p:strVal val="visible"/>
                                      </p:to>
                                    </p:set>
                                    <p:animEffect transition="in" filter="dissolve">
                                      <p:cBhvr>
                                        <p:cTn id="12" dur="500"/>
                                        <p:tgtEl>
                                          <p:spTgt spid="24935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93556"/>
                                        </p:tgtEl>
                                        <p:attrNameLst>
                                          <p:attrName>style.visibility</p:attrName>
                                        </p:attrNameLst>
                                      </p:cBhvr>
                                      <p:to>
                                        <p:strVal val="visible"/>
                                      </p:to>
                                    </p:set>
                                    <p:animEffect transition="in" filter="dissolve">
                                      <p:cBhvr>
                                        <p:cTn id="17" dur="500"/>
                                        <p:tgtEl>
                                          <p:spTgt spid="249355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93613"/>
                                        </p:tgtEl>
                                        <p:attrNameLst>
                                          <p:attrName>style.visibility</p:attrName>
                                        </p:attrNameLst>
                                      </p:cBhvr>
                                      <p:to>
                                        <p:strVal val="visible"/>
                                      </p:to>
                                    </p:set>
                                    <p:animEffect transition="in" filter="dissolve">
                                      <p:cBhvr>
                                        <p:cTn id="22" dur="500"/>
                                        <p:tgtEl>
                                          <p:spTgt spid="249361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493577"/>
                                        </p:tgtEl>
                                        <p:attrNameLst>
                                          <p:attrName>style.visibility</p:attrName>
                                        </p:attrNameLst>
                                      </p:cBhvr>
                                      <p:to>
                                        <p:strVal val="visible"/>
                                      </p:to>
                                    </p:set>
                                    <p:animEffect transition="in" filter="dissolve">
                                      <p:cBhvr>
                                        <p:cTn id="25" dur="500"/>
                                        <p:tgtEl>
                                          <p:spTgt spid="2493577"/>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493614"/>
                                        </p:tgtEl>
                                        <p:attrNameLst>
                                          <p:attrName>style.visibility</p:attrName>
                                        </p:attrNameLst>
                                      </p:cBhvr>
                                      <p:to>
                                        <p:strVal val="visible"/>
                                      </p:to>
                                    </p:set>
                                    <p:animEffect transition="in" filter="dissolve">
                                      <p:cBhvr>
                                        <p:cTn id="30" dur="500"/>
                                        <p:tgtEl>
                                          <p:spTgt spid="24936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3443" grpId="0" bldLvl="0" animBg="1"/>
      <p:bldP spid="2493555" grpId="0"/>
      <p:bldP spid="2493556" grpId="0" bldLvl="0" animBg="1"/>
      <p:bldP spid="2493577" grpId="0"/>
      <p:bldP spid="2493614" grpId="0"/>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95490" name="Text Box 2"/>
          <p:cNvSpPr txBox="1">
            <a:spLocks noChangeArrowheads="1"/>
          </p:cNvSpPr>
          <p:nvPr/>
        </p:nvSpPr>
        <p:spPr bwMode="auto">
          <a:xfrm>
            <a:off x="2447925" y="49213"/>
            <a:ext cx="4679950"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7.3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并行</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51203" name="Rectangle 3"/>
          <p:cNvSpPr/>
          <p:nvPr/>
        </p:nvSpPr>
        <p:spPr>
          <a:xfrm>
            <a:off x="431800" y="657225"/>
            <a:ext cx="6003925"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  </a:t>
            </a:r>
            <a:r>
              <a:rPr lang="zh-CN" altLang="en-US" sz="3200" dirty="0">
                <a:latin typeface="Times New Roman" panose="02020603050405020304" pitchFamily="18" charset="0"/>
              </a:rPr>
              <a:t>具有双极性输出的</a:t>
            </a:r>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a:t>
            </a:r>
            <a:endParaRPr lang="zh-CN" altLang="en-US" sz="3200" dirty="0">
              <a:latin typeface="Times New Roman" panose="02020603050405020304" pitchFamily="18" charset="0"/>
            </a:endParaRPr>
          </a:p>
        </p:txBody>
      </p:sp>
      <p:sp>
        <p:nvSpPr>
          <p:cNvPr id="2495515" name="Rectangle 27"/>
          <p:cNvSpPr/>
          <p:nvPr/>
        </p:nvSpPr>
        <p:spPr>
          <a:xfrm>
            <a:off x="4319588" y="1665288"/>
            <a:ext cx="4697412" cy="4067175"/>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16" name="Line 28"/>
          <p:cNvSpPr/>
          <p:nvPr/>
        </p:nvSpPr>
        <p:spPr>
          <a:xfrm flipH="1">
            <a:off x="7000875" y="3330575"/>
            <a:ext cx="855663" cy="0"/>
          </a:xfrm>
          <a:prstGeom prst="line">
            <a:avLst/>
          </a:prstGeom>
          <a:ln w="12700" cap="flat" cmpd="sng">
            <a:solidFill>
              <a:schemeClr val="accent2"/>
            </a:solidFill>
            <a:prstDash val="solid"/>
            <a:headEnd type="none" w="med" len="med"/>
            <a:tailEnd type="none" w="med" len="med"/>
          </a:ln>
        </p:spPr>
      </p:sp>
      <p:sp>
        <p:nvSpPr>
          <p:cNvPr id="2495517" name="Rectangle 29"/>
          <p:cNvSpPr/>
          <p:nvPr/>
        </p:nvSpPr>
        <p:spPr>
          <a:xfrm>
            <a:off x="5595938" y="1981200"/>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18" name="Oval 30"/>
          <p:cNvSpPr/>
          <p:nvPr/>
        </p:nvSpPr>
        <p:spPr>
          <a:xfrm>
            <a:off x="5668963" y="203517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19" name="Oval 31"/>
          <p:cNvSpPr/>
          <p:nvPr/>
        </p:nvSpPr>
        <p:spPr>
          <a:xfrm>
            <a:off x="5668963" y="232251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20" name="Oval 32"/>
          <p:cNvSpPr/>
          <p:nvPr/>
        </p:nvSpPr>
        <p:spPr>
          <a:xfrm>
            <a:off x="6064250" y="2178050"/>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21" name="Line 33"/>
          <p:cNvSpPr/>
          <p:nvPr/>
        </p:nvSpPr>
        <p:spPr>
          <a:xfrm>
            <a:off x="6135688" y="2214563"/>
            <a:ext cx="865187" cy="0"/>
          </a:xfrm>
          <a:prstGeom prst="line">
            <a:avLst/>
          </a:prstGeom>
          <a:ln w="12700" cap="flat" cmpd="sng">
            <a:solidFill>
              <a:schemeClr val="accent2"/>
            </a:solidFill>
            <a:prstDash val="solid"/>
            <a:headEnd type="none" w="med" len="med"/>
            <a:tailEnd type="none" w="med" len="med"/>
          </a:ln>
        </p:spPr>
      </p:sp>
      <p:sp>
        <p:nvSpPr>
          <p:cNvPr id="2495522" name="Line 34"/>
          <p:cNvSpPr/>
          <p:nvPr/>
        </p:nvSpPr>
        <p:spPr>
          <a:xfrm>
            <a:off x="4948238" y="2070100"/>
            <a:ext cx="720725" cy="0"/>
          </a:xfrm>
          <a:prstGeom prst="line">
            <a:avLst/>
          </a:prstGeom>
          <a:ln w="12700" cap="flat" cmpd="sng">
            <a:solidFill>
              <a:schemeClr val="accent2"/>
            </a:solidFill>
            <a:prstDash val="solid"/>
            <a:headEnd type="none" w="med" len="med"/>
            <a:tailEnd type="none" w="med" len="med"/>
          </a:ln>
        </p:spPr>
      </p:sp>
      <p:sp>
        <p:nvSpPr>
          <p:cNvPr id="2495523" name="Line 35"/>
          <p:cNvSpPr/>
          <p:nvPr/>
        </p:nvSpPr>
        <p:spPr>
          <a:xfrm>
            <a:off x="5453063" y="2359025"/>
            <a:ext cx="215900" cy="0"/>
          </a:xfrm>
          <a:prstGeom prst="line">
            <a:avLst/>
          </a:prstGeom>
          <a:ln w="12700" cap="flat" cmpd="sng">
            <a:solidFill>
              <a:schemeClr val="accent2"/>
            </a:solidFill>
            <a:prstDash val="solid"/>
            <a:headEnd type="none" w="med" len="med"/>
            <a:tailEnd type="none" w="med" len="med"/>
          </a:ln>
        </p:spPr>
      </p:sp>
      <p:sp>
        <p:nvSpPr>
          <p:cNvPr id="2495524" name="Rectangle 36"/>
          <p:cNvSpPr/>
          <p:nvPr/>
        </p:nvSpPr>
        <p:spPr>
          <a:xfrm>
            <a:off x="6461125" y="2178050"/>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25" name="Line 37"/>
          <p:cNvSpPr/>
          <p:nvPr/>
        </p:nvSpPr>
        <p:spPr>
          <a:xfrm flipH="1" flipV="1">
            <a:off x="5668963" y="2106613"/>
            <a:ext cx="395287" cy="107950"/>
          </a:xfrm>
          <a:prstGeom prst="line">
            <a:avLst/>
          </a:prstGeom>
          <a:ln w="19050" cap="flat" cmpd="sng">
            <a:solidFill>
              <a:srgbClr val="FF0000"/>
            </a:solidFill>
            <a:prstDash val="solid"/>
            <a:headEnd type="none" w="med" len="med"/>
            <a:tailEnd type="none" w="med" len="med"/>
          </a:ln>
        </p:spPr>
      </p:sp>
      <p:sp>
        <p:nvSpPr>
          <p:cNvPr id="2495526" name="Line 38"/>
          <p:cNvSpPr/>
          <p:nvPr/>
        </p:nvSpPr>
        <p:spPr>
          <a:xfrm>
            <a:off x="5884863" y="2178050"/>
            <a:ext cx="0" cy="269875"/>
          </a:xfrm>
          <a:prstGeom prst="line">
            <a:avLst/>
          </a:prstGeom>
          <a:ln w="12700" cap="flat" cmpd="sng">
            <a:solidFill>
              <a:srgbClr val="FF0000"/>
            </a:solidFill>
            <a:prstDash val="dash"/>
            <a:headEnd type="none" w="med" len="med"/>
            <a:tailEnd type="none" w="med" len="med"/>
          </a:ln>
        </p:spPr>
      </p:sp>
      <p:sp>
        <p:nvSpPr>
          <p:cNvPr id="2495527" name="Line 39"/>
          <p:cNvSpPr/>
          <p:nvPr/>
        </p:nvSpPr>
        <p:spPr>
          <a:xfrm>
            <a:off x="5881688" y="2447925"/>
            <a:ext cx="0" cy="198438"/>
          </a:xfrm>
          <a:prstGeom prst="line">
            <a:avLst/>
          </a:prstGeom>
          <a:ln w="12700" cap="flat" cmpd="sng">
            <a:solidFill>
              <a:srgbClr val="FF0000"/>
            </a:solidFill>
            <a:prstDash val="solid"/>
            <a:headEnd type="stealth" w="med" len="lg"/>
            <a:tailEnd type="none" w="med" len="med"/>
          </a:ln>
        </p:spPr>
      </p:sp>
      <p:sp>
        <p:nvSpPr>
          <p:cNvPr id="2495528" name="Line 40"/>
          <p:cNvSpPr/>
          <p:nvPr/>
        </p:nvSpPr>
        <p:spPr>
          <a:xfrm flipH="1">
            <a:off x="4948238" y="2646363"/>
            <a:ext cx="936625" cy="0"/>
          </a:xfrm>
          <a:prstGeom prst="line">
            <a:avLst/>
          </a:prstGeom>
          <a:ln w="12700" cap="flat" cmpd="sng">
            <a:solidFill>
              <a:srgbClr val="FF0000"/>
            </a:solidFill>
            <a:prstDash val="solid"/>
            <a:headEnd type="none" w="med" len="med"/>
            <a:tailEnd type="none" w="med" len="med"/>
          </a:ln>
        </p:spPr>
      </p:sp>
      <p:sp>
        <p:nvSpPr>
          <p:cNvPr id="2495529" name="Text Box 41"/>
          <p:cNvSpPr txBox="1"/>
          <p:nvPr/>
        </p:nvSpPr>
        <p:spPr>
          <a:xfrm>
            <a:off x="5900738" y="166528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0</a:t>
            </a:r>
            <a:endParaRPr lang="en-US" altLang="zh-CN" sz="1600" baseline="-25000" dirty="0">
              <a:solidFill>
                <a:srgbClr val="CC00CC"/>
              </a:solidFill>
              <a:latin typeface="Times New Roman" panose="02020603050405020304" pitchFamily="18" charset="0"/>
            </a:endParaRPr>
          </a:p>
        </p:txBody>
      </p:sp>
      <p:sp>
        <p:nvSpPr>
          <p:cNvPr id="2495530" name="Text Box 42"/>
          <p:cNvSpPr txBox="1"/>
          <p:nvPr/>
        </p:nvSpPr>
        <p:spPr>
          <a:xfrm>
            <a:off x="6316663" y="1906588"/>
            <a:ext cx="576262"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0</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2495531" name="Rectangle 43"/>
          <p:cNvSpPr/>
          <p:nvPr/>
        </p:nvSpPr>
        <p:spPr>
          <a:xfrm>
            <a:off x="5595938" y="2809875"/>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32" name="Oval 44"/>
          <p:cNvSpPr/>
          <p:nvPr/>
        </p:nvSpPr>
        <p:spPr>
          <a:xfrm>
            <a:off x="5668963" y="2863850"/>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33" name="Oval 45"/>
          <p:cNvSpPr/>
          <p:nvPr/>
        </p:nvSpPr>
        <p:spPr>
          <a:xfrm>
            <a:off x="5668963" y="3151188"/>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34" name="Oval 46"/>
          <p:cNvSpPr/>
          <p:nvPr/>
        </p:nvSpPr>
        <p:spPr>
          <a:xfrm>
            <a:off x="6064250" y="3006725"/>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35" name="Line 47"/>
          <p:cNvSpPr/>
          <p:nvPr/>
        </p:nvSpPr>
        <p:spPr>
          <a:xfrm>
            <a:off x="6135688" y="3043238"/>
            <a:ext cx="865187" cy="0"/>
          </a:xfrm>
          <a:prstGeom prst="line">
            <a:avLst/>
          </a:prstGeom>
          <a:ln w="12700" cap="flat" cmpd="sng">
            <a:solidFill>
              <a:schemeClr val="accent2"/>
            </a:solidFill>
            <a:prstDash val="solid"/>
            <a:headEnd type="none" w="med" len="med"/>
            <a:tailEnd type="none" w="med" len="med"/>
          </a:ln>
        </p:spPr>
      </p:sp>
      <p:sp>
        <p:nvSpPr>
          <p:cNvPr id="2495536" name="Line 48"/>
          <p:cNvSpPr/>
          <p:nvPr/>
        </p:nvSpPr>
        <p:spPr>
          <a:xfrm>
            <a:off x="5200650" y="2898775"/>
            <a:ext cx="468313" cy="0"/>
          </a:xfrm>
          <a:prstGeom prst="line">
            <a:avLst/>
          </a:prstGeom>
          <a:ln w="12700" cap="flat" cmpd="sng">
            <a:solidFill>
              <a:schemeClr val="accent2"/>
            </a:solidFill>
            <a:prstDash val="solid"/>
            <a:headEnd type="none" w="med" len="med"/>
            <a:tailEnd type="none" w="med" len="med"/>
          </a:ln>
        </p:spPr>
      </p:sp>
      <p:sp>
        <p:nvSpPr>
          <p:cNvPr id="2495537" name="Line 49"/>
          <p:cNvSpPr/>
          <p:nvPr/>
        </p:nvSpPr>
        <p:spPr>
          <a:xfrm>
            <a:off x="5453063" y="3187700"/>
            <a:ext cx="215900" cy="0"/>
          </a:xfrm>
          <a:prstGeom prst="line">
            <a:avLst/>
          </a:prstGeom>
          <a:ln w="12700" cap="flat" cmpd="sng">
            <a:solidFill>
              <a:schemeClr val="accent2"/>
            </a:solidFill>
            <a:prstDash val="solid"/>
            <a:headEnd type="none" w="med" len="med"/>
            <a:tailEnd type="none" w="med" len="med"/>
          </a:ln>
        </p:spPr>
      </p:sp>
      <p:sp>
        <p:nvSpPr>
          <p:cNvPr id="2495538" name="Rectangle 50"/>
          <p:cNvSpPr/>
          <p:nvPr/>
        </p:nvSpPr>
        <p:spPr>
          <a:xfrm>
            <a:off x="6461125" y="300672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39" name="Line 51"/>
          <p:cNvSpPr/>
          <p:nvPr/>
        </p:nvSpPr>
        <p:spPr>
          <a:xfrm flipH="1" flipV="1">
            <a:off x="5668963" y="2935288"/>
            <a:ext cx="395287" cy="107950"/>
          </a:xfrm>
          <a:prstGeom prst="line">
            <a:avLst/>
          </a:prstGeom>
          <a:ln w="19050" cap="flat" cmpd="sng">
            <a:solidFill>
              <a:srgbClr val="FF0000"/>
            </a:solidFill>
            <a:prstDash val="solid"/>
            <a:headEnd type="none" w="med" len="med"/>
            <a:tailEnd type="none" w="med" len="med"/>
          </a:ln>
        </p:spPr>
      </p:sp>
      <p:sp>
        <p:nvSpPr>
          <p:cNvPr id="2495540" name="Line 52"/>
          <p:cNvSpPr/>
          <p:nvPr/>
        </p:nvSpPr>
        <p:spPr>
          <a:xfrm>
            <a:off x="5884863" y="3006725"/>
            <a:ext cx="0" cy="269875"/>
          </a:xfrm>
          <a:prstGeom prst="line">
            <a:avLst/>
          </a:prstGeom>
          <a:ln w="12700" cap="flat" cmpd="sng">
            <a:solidFill>
              <a:srgbClr val="FF0000"/>
            </a:solidFill>
            <a:prstDash val="dash"/>
            <a:headEnd type="none" w="med" len="med"/>
            <a:tailEnd type="none" w="med" len="med"/>
          </a:ln>
        </p:spPr>
      </p:sp>
      <p:sp>
        <p:nvSpPr>
          <p:cNvPr id="2495541" name="Line 53"/>
          <p:cNvSpPr/>
          <p:nvPr/>
        </p:nvSpPr>
        <p:spPr>
          <a:xfrm>
            <a:off x="5881688" y="3276600"/>
            <a:ext cx="0" cy="198438"/>
          </a:xfrm>
          <a:prstGeom prst="line">
            <a:avLst/>
          </a:prstGeom>
          <a:ln w="12700" cap="flat" cmpd="sng">
            <a:solidFill>
              <a:srgbClr val="FF0000"/>
            </a:solidFill>
            <a:prstDash val="solid"/>
            <a:headEnd type="stealth" w="med" len="lg"/>
            <a:tailEnd type="none" w="med" len="med"/>
          </a:ln>
        </p:spPr>
      </p:sp>
      <p:sp>
        <p:nvSpPr>
          <p:cNvPr id="2495542" name="Line 54"/>
          <p:cNvSpPr/>
          <p:nvPr/>
        </p:nvSpPr>
        <p:spPr>
          <a:xfrm flipH="1">
            <a:off x="4948238" y="3475038"/>
            <a:ext cx="936625" cy="0"/>
          </a:xfrm>
          <a:prstGeom prst="line">
            <a:avLst/>
          </a:prstGeom>
          <a:ln w="12700" cap="flat" cmpd="sng">
            <a:solidFill>
              <a:srgbClr val="FF0000"/>
            </a:solidFill>
            <a:prstDash val="solid"/>
            <a:headEnd type="none" w="med" len="med"/>
            <a:tailEnd type="none" w="med" len="med"/>
          </a:ln>
        </p:spPr>
      </p:sp>
      <p:sp>
        <p:nvSpPr>
          <p:cNvPr id="2495543" name="Text Box 55"/>
          <p:cNvSpPr txBox="1"/>
          <p:nvPr/>
        </p:nvSpPr>
        <p:spPr>
          <a:xfrm>
            <a:off x="5907088" y="2497138"/>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1</a:t>
            </a:r>
            <a:endParaRPr lang="en-US" altLang="zh-CN" sz="1600" baseline="-25000" dirty="0">
              <a:solidFill>
                <a:srgbClr val="CC00CC"/>
              </a:solidFill>
              <a:latin typeface="Times New Roman" panose="02020603050405020304" pitchFamily="18" charset="0"/>
            </a:endParaRPr>
          </a:p>
        </p:txBody>
      </p:sp>
      <p:sp>
        <p:nvSpPr>
          <p:cNvPr id="2495544" name="Text Box 56"/>
          <p:cNvSpPr txBox="1"/>
          <p:nvPr/>
        </p:nvSpPr>
        <p:spPr>
          <a:xfrm>
            <a:off x="6316663" y="2735263"/>
            <a:ext cx="576262"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1</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2495545" name="Rectangle 57"/>
          <p:cNvSpPr/>
          <p:nvPr/>
        </p:nvSpPr>
        <p:spPr>
          <a:xfrm>
            <a:off x="5595938" y="3643313"/>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46" name="Oval 58"/>
          <p:cNvSpPr/>
          <p:nvPr/>
        </p:nvSpPr>
        <p:spPr>
          <a:xfrm>
            <a:off x="5668963" y="3697288"/>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47" name="Oval 59"/>
          <p:cNvSpPr/>
          <p:nvPr/>
        </p:nvSpPr>
        <p:spPr>
          <a:xfrm>
            <a:off x="5668963" y="398462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48" name="Oval 60"/>
          <p:cNvSpPr/>
          <p:nvPr/>
        </p:nvSpPr>
        <p:spPr>
          <a:xfrm>
            <a:off x="6064250" y="3840163"/>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49" name="Line 61"/>
          <p:cNvSpPr/>
          <p:nvPr/>
        </p:nvSpPr>
        <p:spPr>
          <a:xfrm>
            <a:off x="6135688" y="3876675"/>
            <a:ext cx="865187" cy="0"/>
          </a:xfrm>
          <a:prstGeom prst="line">
            <a:avLst/>
          </a:prstGeom>
          <a:ln w="12700" cap="flat" cmpd="sng">
            <a:solidFill>
              <a:schemeClr val="accent2"/>
            </a:solidFill>
            <a:prstDash val="solid"/>
            <a:headEnd type="none" w="med" len="med"/>
            <a:tailEnd type="none" w="med" len="med"/>
          </a:ln>
        </p:spPr>
      </p:sp>
      <p:sp>
        <p:nvSpPr>
          <p:cNvPr id="2495550" name="Line 62"/>
          <p:cNvSpPr/>
          <p:nvPr/>
        </p:nvSpPr>
        <p:spPr>
          <a:xfrm>
            <a:off x="5200650" y="3732213"/>
            <a:ext cx="468313" cy="0"/>
          </a:xfrm>
          <a:prstGeom prst="line">
            <a:avLst/>
          </a:prstGeom>
          <a:ln w="12700" cap="flat" cmpd="sng">
            <a:solidFill>
              <a:schemeClr val="accent2"/>
            </a:solidFill>
            <a:prstDash val="solid"/>
            <a:headEnd type="none" w="med" len="med"/>
            <a:tailEnd type="none" w="med" len="med"/>
          </a:ln>
        </p:spPr>
      </p:sp>
      <p:sp>
        <p:nvSpPr>
          <p:cNvPr id="2495551" name="Line 63"/>
          <p:cNvSpPr/>
          <p:nvPr/>
        </p:nvSpPr>
        <p:spPr>
          <a:xfrm>
            <a:off x="5453063" y="4021138"/>
            <a:ext cx="215900" cy="0"/>
          </a:xfrm>
          <a:prstGeom prst="line">
            <a:avLst/>
          </a:prstGeom>
          <a:ln w="12700" cap="flat" cmpd="sng">
            <a:solidFill>
              <a:schemeClr val="accent2"/>
            </a:solidFill>
            <a:prstDash val="solid"/>
            <a:headEnd type="none" w="med" len="med"/>
            <a:tailEnd type="none" w="med" len="med"/>
          </a:ln>
        </p:spPr>
      </p:sp>
      <p:sp>
        <p:nvSpPr>
          <p:cNvPr id="2495552" name="Rectangle 64"/>
          <p:cNvSpPr/>
          <p:nvPr/>
        </p:nvSpPr>
        <p:spPr>
          <a:xfrm>
            <a:off x="6461125" y="3840163"/>
            <a:ext cx="215900" cy="71437"/>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53" name="Line 65"/>
          <p:cNvSpPr/>
          <p:nvPr/>
        </p:nvSpPr>
        <p:spPr>
          <a:xfrm flipH="1" flipV="1">
            <a:off x="5668963" y="3768725"/>
            <a:ext cx="395287" cy="107950"/>
          </a:xfrm>
          <a:prstGeom prst="line">
            <a:avLst/>
          </a:prstGeom>
          <a:ln w="19050" cap="flat" cmpd="sng">
            <a:solidFill>
              <a:srgbClr val="FF0000"/>
            </a:solidFill>
            <a:prstDash val="solid"/>
            <a:headEnd type="none" w="med" len="med"/>
            <a:tailEnd type="none" w="med" len="med"/>
          </a:ln>
        </p:spPr>
      </p:sp>
      <p:sp>
        <p:nvSpPr>
          <p:cNvPr id="2495554" name="Line 66"/>
          <p:cNvSpPr/>
          <p:nvPr/>
        </p:nvSpPr>
        <p:spPr>
          <a:xfrm>
            <a:off x="5884863" y="3840163"/>
            <a:ext cx="0" cy="269875"/>
          </a:xfrm>
          <a:prstGeom prst="line">
            <a:avLst/>
          </a:prstGeom>
          <a:ln w="12700" cap="flat" cmpd="sng">
            <a:solidFill>
              <a:srgbClr val="FF0000"/>
            </a:solidFill>
            <a:prstDash val="dash"/>
            <a:headEnd type="none" w="med" len="med"/>
            <a:tailEnd type="none" w="med" len="med"/>
          </a:ln>
        </p:spPr>
      </p:sp>
      <p:sp>
        <p:nvSpPr>
          <p:cNvPr id="2495555" name="Line 67"/>
          <p:cNvSpPr/>
          <p:nvPr/>
        </p:nvSpPr>
        <p:spPr>
          <a:xfrm>
            <a:off x="5881688" y="4110038"/>
            <a:ext cx="0" cy="198437"/>
          </a:xfrm>
          <a:prstGeom prst="line">
            <a:avLst/>
          </a:prstGeom>
          <a:ln w="12700" cap="flat" cmpd="sng">
            <a:solidFill>
              <a:srgbClr val="FF0000"/>
            </a:solidFill>
            <a:prstDash val="solid"/>
            <a:headEnd type="stealth" w="med" len="lg"/>
            <a:tailEnd type="none" w="med" len="med"/>
          </a:ln>
        </p:spPr>
      </p:sp>
      <p:sp>
        <p:nvSpPr>
          <p:cNvPr id="2495556" name="Line 68"/>
          <p:cNvSpPr/>
          <p:nvPr/>
        </p:nvSpPr>
        <p:spPr>
          <a:xfrm flipH="1">
            <a:off x="4948238" y="4308475"/>
            <a:ext cx="936625" cy="0"/>
          </a:xfrm>
          <a:prstGeom prst="line">
            <a:avLst/>
          </a:prstGeom>
          <a:ln w="12700" cap="flat" cmpd="sng">
            <a:solidFill>
              <a:srgbClr val="FF0000"/>
            </a:solidFill>
            <a:prstDash val="solid"/>
            <a:headEnd type="none" w="med" len="med"/>
            <a:tailEnd type="none" w="med" len="med"/>
          </a:ln>
        </p:spPr>
      </p:sp>
      <p:sp>
        <p:nvSpPr>
          <p:cNvPr id="2495557" name="Text Box 69"/>
          <p:cNvSpPr txBox="1"/>
          <p:nvPr/>
        </p:nvSpPr>
        <p:spPr>
          <a:xfrm>
            <a:off x="5907088" y="3330575"/>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2</a:t>
            </a:r>
            <a:endParaRPr lang="en-US" altLang="zh-CN" sz="1600" baseline="-25000" dirty="0">
              <a:solidFill>
                <a:srgbClr val="CC00CC"/>
              </a:solidFill>
              <a:latin typeface="Times New Roman" panose="02020603050405020304" pitchFamily="18" charset="0"/>
            </a:endParaRPr>
          </a:p>
        </p:txBody>
      </p:sp>
      <p:sp>
        <p:nvSpPr>
          <p:cNvPr id="2495558" name="Text Box 70"/>
          <p:cNvSpPr txBox="1"/>
          <p:nvPr/>
        </p:nvSpPr>
        <p:spPr>
          <a:xfrm>
            <a:off x="6316663" y="3568700"/>
            <a:ext cx="576262"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2</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2495559" name="Rectangle 71"/>
          <p:cNvSpPr/>
          <p:nvPr/>
        </p:nvSpPr>
        <p:spPr>
          <a:xfrm>
            <a:off x="5595938" y="4502150"/>
            <a:ext cx="612775" cy="466725"/>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60" name="Oval 72"/>
          <p:cNvSpPr/>
          <p:nvPr/>
        </p:nvSpPr>
        <p:spPr>
          <a:xfrm>
            <a:off x="5668963" y="4556125"/>
            <a:ext cx="71437"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61" name="Oval 73"/>
          <p:cNvSpPr/>
          <p:nvPr/>
        </p:nvSpPr>
        <p:spPr>
          <a:xfrm>
            <a:off x="5668963" y="4843463"/>
            <a:ext cx="71437"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62" name="Oval 74"/>
          <p:cNvSpPr/>
          <p:nvPr/>
        </p:nvSpPr>
        <p:spPr>
          <a:xfrm>
            <a:off x="6064250" y="4699000"/>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63" name="Line 75"/>
          <p:cNvSpPr/>
          <p:nvPr/>
        </p:nvSpPr>
        <p:spPr>
          <a:xfrm>
            <a:off x="6135688" y="4735513"/>
            <a:ext cx="865187" cy="0"/>
          </a:xfrm>
          <a:prstGeom prst="line">
            <a:avLst/>
          </a:prstGeom>
          <a:ln w="12700" cap="flat" cmpd="sng">
            <a:solidFill>
              <a:schemeClr val="accent2"/>
            </a:solidFill>
            <a:prstDash val="solid"/>
            <a:headEnd type="none" w="med" len="med"/>
            <a:tailEnd type="none" w="med" len="med"/>
          </a:ln>
        </p:spPr>
      </p:sp>
      <p:sp>
        <p:nvSpPr>
          <p:cNvPr id="2495564" name="Line 76"/>
          <p:cNvSpPr/>
          <p:nvPr/>
        </p:nvSpPr>
        <p:spPr>
          <a:xfrm>
            <a:off x="5200650" y="4591050"/>
            <a:ext cx="468313" cy="0"/>
          </a:xfrm>
          <a:prstGeom prst="line">
            <a:avLst/>
          </a:prstGeom>
          <a:ln w="12700" cap="flat" cmpd="sng">
            <a:solidFill>
              <a:schemeClr val="accent2"/>
            </a:solidFill>
            <a:prstDash val="solid"/>
            <a:headEnd type="none" w="med" len="med"/>
            <a:tailEnd type="none" w="med" len="med"/>
          </a:ln>
        </p:spPr>
      </p:sp>
      <p:sp>
        <p:nvSpPr>
          <p:cNvPr id="2495565" name="Line 77"/>
          <p:cNvSpPr/>
          <p:nvPr/>
        </p:nvSpPr>
        <p:spPr>
          <a:xfrm>
            <a:off x="5453063" y="4879975"/>
            <a:ext cx="215900" cy="0"/>
          </a:xfrm>
          <a:prstGeom prst="line">
            <a:avLst/>
          </a:prstGeom>
          <a:ln w="12700" cap="flat" cmpd="sng">
            <a:solidFill>
              <a:schemeClr val="accent2"/>
            </a:solidFill>
            <a:prstDash val="solid"/>
            <a:headEnd type="none" w="med" len="med"/>
            <a:tailEnd type="none" w="med" len="med"/>
          </a:ln>
        </p:spPr>
      </p:sp>
      <p:sp>
        <p:nvSpPr>
          <p:cNvPr id="2495566" name="Rectangle 78"/>
          <p:cNvSpPr/>
          <p:nvPr/>
        </p:nvSpPr>
        <p:spPr>
          <a:xfrm>
            <a:off x="6461125" y="4699000"/>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67" name="Line 79"/>
          <p:cNvSpPr/>
          <p:nvPr/>
        </p:nvSpPr>
        <p:spPr>
          <a:xfrm flipH="1" flipV="1">
            <a:off x="5668963" y="4627563"/>
            <a:ext cx="395287" cy="107950"/>
          </a:xfrm>
          <a:prstGeom prst="line">
            <a:avLst/>
          </a:prstGeom>
          <a:ln w="19050" cap="flat" cmpd="sng">
            <a:solidFill>
              <a:srgbClr val="FF0000"/>
            </a:solidFill>
            <a:prstDash val="solid"/>
            <a:headEnd type="none" w="med" len="med"/>
            <a:tailEnd type="none" w="med" len="med"/>
          </a:ln>
        </p:spPr>
      </p:sp>
      <p:sp>
        <p:nvSpPr>
          <p:cNvPr id="2495568" name="Line 80"/>
          <p:cNvSpPr/>
          <p:nvPr/>
        </p:nvSpPr>
        <p:spPr>
          <a:xfrm>
            <a:off x="5884863" y="4699000"/>
            <a:ext cx="0" cy="269875"/>
          </a:xfrm>
          <a:prstGeom prst="line">
            <a:avLst/>
          </a:prstGeom>
          <a:ln w="12700" cap="flat" cmpd="sng">
            <a:solidFill>
              <a:srgbClr val="FF0000"/>
            </a:solidFill>
            <a:prstDash val="dash"/>
            <a:headEnd type="none" w="med" len="med"/>
            <a:tailEnd type="none" w="med" len="med"/>
          </a:ln>
        </p:spPr>
      </p:sp>
      <p:sp>
        <p:nvSpPr>
          <p:cNvPr id="2495569" name="Line 81"/>
          <p:cNvSpPr/>
          <p:nvPr/>
        </p:nvSpPr>
        <p:spPr>
          <a:xfrm>
            <a:off x="5881688" y="4968875"/>
            <a:ext cx="0" cy="198438"/>
          </a:xfrm>
          <a:prstGeom prst="line">
            <a:avLst/>
          </a:prstGeom>
          <a:ln w="12700" cap="flat" cmpd="sng">
            <a:solidFill>
              <a:srgbClr val="FF0000"/>
            </a:solidFill>
            <a:prstDash val="solid"/>
            <a:headEnd type="stealth" w="med" len="lg"/>
            <a:tailEnd type="none" w="med" len="med"/>
          </a:ln>
        </p:spPr>
      </p:sp>
      <p:sp>
        <p:nvSpPr>
          <p:cNvPr id="2495570" name="Line 82"/>
          <p:cNvSpPr/>
          <p:nvPr/>
        </p:nvSpPr>
        <p:spPr>
          <a:xfrm flipH="1">
            <a:off x="4948238" y="5167313"/>
            <a:ext cx="936625" cy="0"/>
          </a:xfrm>
          <a:prstGeom prst="line">
            <a:avLst/>
          </a:prstGeom>
          <a:ln w="12700" cap="flat" cmpd="sng">
            <a:solidFill>
              <a:srgbClr val="FF0000"/>
            </a:solidFill>
            <a:prstDash val="solid"/>
            <a:headEnd type="none" w="med" len="med"/>
            <a:tailEnd type="none" w="med" len="med"/>
          </a:ln>
        </p:spPr>
      </p:sp>
      <p:sp>
        <p:nvSpPr>
          <p:cNvPr id="2495571" name="Text Box 83"/>
          <p:cNvSpPr txBox="1"/>
          <p:nvPr/>
        </p:nvSpPr>
        <p:spPr>
          <a:xfrm>
            <a:off x="5907088" y="4189413"/>
            <a:ext cx="4667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K</a:t>
            </a:r>
            <a:r>
              <a:rPr lang="en-US" altLang="zh-CN" sz="1600" baseline="-25000" dirty="0">
                <a:solidFill>
                  <a:srgbClr val="CC00CC"/>
                </a:solidFill>
                <a:latin typeface="Times New Roman" panose="02020603050405020304" pitchFamily="18" charset="0"/>
              </a:rPr>
              <a:t>3</a:t>
            </a:r>
            <a:endParaRPr lang="en-US" altLang="zh-CN" sz="1600" baseline="-25000" dirty="0">
              <a:solidFill>
                <a:srgbClr val="CC00CC"/>
              </a:solidFill>
              <a:latin typeface="Times New Roman" panose="02020603050405020304" pitchFamily="18" charset="0"/>
            </a:endParaRPr>
          </a:p>
        </p:txBody>
      </p:sp>
      <p:sp>
        <p:nvSpPr>
          <p:cNvPr id="2495572" name="Text Box 84"/>
          <p:cNvSpPr txBox="1"/>
          <p:nvPr/>
        </p:nvSpPr>
        <p:spPr>
          <a:xfrm>
            <a:off x="6316663" y="4427538"/>
            <a:ext cx="576262"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CC00CC"/>
                </a:solidFill>
                <a:latin typeface="Times New Roman" panose="02020603050405020304" pitchFamily="18" charset="0"/>
              </a:rPr>
              <a:t>2</a:t>
            </a:r>
            <a:r>
              <a:rPr lang="en-US" altLang="zh-CN" sz="1600" baseline="30000" dirty="0">
                <a:solidFill>
                  <a:srgbClr val="CC00CC"/>
                </a:solidFill>
                <a:latin typeface="Times New Roman" panose="02020603050405020304" pitchFamily="18" charset="0"/>
              </a:rPr>
              <a:t>3</a:t>
            </a:r>
            <a:r>
              <a:rPr lang="en-US" altLang="zh-CN" sz="1600" i="1" dirty="0">
                <a:solidFill>
                  <a:srgbClr val="CC00CC"/>
                </a:solidFill>
                <a:latin typeface="Times New Roman" panose="02020603050405020304" pitchFamily="18" charset="0"/>
              </a:rPr>
              <a:t>R</a:t>
            </a:r>
            <a:endParaRPr lang="en-US" altLang="zh-CN" sz="1600" i="1" dirty="0">
              <a:solidFill>
                <a:srgbClr val="CC00CC"/>
              </a:solidFill>
              <a:latin typeface="Times New Roman" panose="02020603050405020304" pitchFamily="18" charset="0"/>
            </a:endParaRPr>
          </a:p>
        </p:txBody>
      </p:sp>
      <p:sp>
        <p:nvSpPr>
          <p:cNvPr id="2495573" name="Line 85"/>
          <p:cNvSpPr/>
          <p:nvPr/>
        </p:nvSpPr>
        <p:spPr>
          <a:xfrm>
            <a:off x="7000875" y="2219325"/>
            <a:ext cx="0" cy="2520950"/>
          </a:xfrm>
          <a:prstGeom prst="line">
            <a:avLst/>
          </a:prstGeom>
          <a:ln w="12700" cap="flat" cmpd="sng">
            <a:solidFill>
              <a:schemeClr val="accent2"/>
            </a:solidFill>
            <a:prstDash val="solid"/>
            <a:headEnd type="none" w="med" len="med"/>
            <a:tailEnd type="none" w="med" len="med"/>
          </a:ln>
        </p:spPr>
      </p:sp>
      <p:sp>
        <p:nvSpPr>
          <p:cNvPr id="2495574" name="Line 86"/>
          <p:cNvSpPr/>
          <p:nvPr/>
        </p:nvSpPr>
        <p:spPr>
          <a:xfrm>
            <a:off x="5453063" y="2359025"/>
            <a:ext cx="0" cy="2922588"/>
          </a:xfrm>
          <a:prstGeom prst="line">
            <a:avLst/>
          </a:prstGeom>
          <a:ln w="12700" cap="flat" cmpd="sng">
            <a:solidFill>
              <a:schemeClr val="accent2"/>
            </a:solidFill>
            <a:prstDash val="solid"/>
            <a:headEnd type="none" w="med" len="med"/>
            <a:tailEnd type="none" w="med" len="med"/>
          </a:ln>
        </p:spPr>
      </p:sp>
      <p:sp>
        <p:nvSpPr>
          <p:cNvPr id="2495575" name="Line 87"/>
          <p:cNvSpPr/>
          <p:nvPr/>
        </p:nvSpPr>
        <p:spPr>
          <a:xfrm>
            <a:off x="5200650" y="2070100"/>
            <a:ext cx="0" cy="2520950"/>
          </a:xfrm>
          <a:prstGeom prst="line">
            <a:avLst/>
          </a:prstGeom>
          <a:ln w="12700" cap="flat" cmpd="sng">
            <a:solidFill>
              <a:schemeClr val="accent2"/>
            </a:solidFill>
            <a:prstDash val="solid"/>
            <a:headEnd type="none" w="med" len="med"/>
            <a:tailEnd type="none" w="med" len="med"/>
          </a:ln>
        </p:spPr>
      </p:sp>
      <p:sp>
        <p:nvSpPr>
          <p:cNvPr id="2495576" name="Oval 88"/>
          <p:cNvSpPr/>
          <p:nvPr/>
        </p:nvSpPr>
        <p:spPr>
          <a:xfrm>
            <a:off x="4876800" y="2035175"/>
            <a:ext cx="71438" cy="71438"/>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77" name="Text Box 89"/>
          <p:cNvSpPr txBox="1"/>
          <p:nvPr/>
        </p:nvSpPr>
        <p:spPr>
          <a:xfrm>
            <a:off x="4451350" y="2468563"/>
            <a:ext cx="576263"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-1</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1</a:t>
            </a:r>
            <a:endParaRPr lang="en-US" altLang="zh-CN" sz="1600" baseline="-25000" dirty="0">
              <a:solidFill>
                <a:srgbClr val="FF0000"/>
              </a:solidFill>
              <a:latin typeface="Times New Roman" panose="02020603050405020304" pitchFamily="18" charset="0"/>
            </a:endParaRPr>
          </a:p>
        </p:txBody>
      </p:sp>
      <p:sp>
        <p:nvSpPr>
          <p:cNvPr id="2495578" name="Text Box 90"/>
          <p:cNvSpPr txBox="1"/>
          <p:nvPr/>
        </p:nvSpPr>
        <p:spPr>
          <a:xfrm>
            <a:off x="4430713" y="3276600"/>
            <a:ext cx="576262"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-2</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2</a:t>
            </a:r>
            <a:endParaRPr lang="en-US" altLang="zh-CN" sz="1600" baseline="-25000" dirty="0">
              <a:solidFill>
                <a:srgbClr val="FF0000"/>
              </a:solidFill>
              <a:latin typeface="Times New Roman" panose="02020603050405020304" pitchFamily="18" charset="0"/>
            </a:endParaRPr>
          </a:p>
        </p:txBody>
      </p:sp>
      <p:sp>
        <p:nvSpPr>
          <p:cNvPr id="2495579" name="Text Box 91"/>
          <p:cNvSpPr txBox="1"/>
          <p:nvPr/>
        </p:nvSpPr>
        <p:spPr>
          <a:xfrm>
            <a:off x="4441825" y="4110038"/>
            <a:ext cx="576263" cy="312737"/>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-3</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3</a:t>
            </a:r>
            <a:endParaRPr lang="en-US" altLang="zh-CN" sz="1600" baseline="-25000" dirty="0">
              <a:solidFill>
                <a:srgbClr val="FF0000"/>
              </a:solidFill>
              <a:latin typeface="Times New Roman" panose="02020603050405020304" pitchFamily="18" charset="0"/>
            </a:endParaRPr>
          </a:p>
        </p:txBody>
      </p:sp>
      <p:sp>
        <p:nvSpPr>
          <p:cNvPr id="2495580" name="Text Box 92"/>
          <p:cNvSpPr txBox="1"/>
          <p:nvPr/>
        </p:nvSpPr>
        <p:spPr>
          <a:xfrm>
            <a:off x="4441825" y="4968875"/>
            <a:ext cx="576263" cy="312738"/>
          </a:xfrm>
          <a:prstGeom prst="rect">
            <a:avLst/>
          </a:prstGeom>
          <a:noFill/>
          <a:ln w="9525">
            <a:noFill/>
          </a:ln>
        </p:spPr>
        <p:txBody>
          <a:bodyPr>
            <a:spAutoFit/>
          </a:bodyPr>
          <a:p>
            <a:pPr eaLnBrk="1" hangingPunct="1">
              <a:lnSpc>
                <a:spcPct val="90000"/>
              </a:lnSpc>
              <a:spcBef>
                <a:spcPct val="50000"/>
              </a:spcBef>
            </a:pPr>
            <a:r>
              <a:rPr lang="en-US" altLang="zh-CN" sz="1600" dirty="0">
                <a:solidFill>
                  <a:srgbClr val="FF0000"/>
                </a:solidFill>
                <a:latin typeface="Times New Roman" panose="02020603050405020304" pitchFamily="18" charset="0"/>
              </a:rPr>
              <a:t>2</a:t>
            </a:r>
            <a:r>
              <a:rPr lang="en-US" altLang="zh-CN" sz="1600" baseline="30000" dirty="0">
                <a:solidFill>
                  <a:srgbClr val="FF0000"/>
                </a:solidFill>
                <a:latin typeface="Times New Roman" panose="02020603050405020304" pitchFamily="18" charset="0"/>
              </a:rPr>
              <a:t>-4</a:t>
            </a:r>
            <a:r>
              <a:rPr lang="en-US" altLang="zh-CN" sz="1600" i="1" dirty="0">
                <a:solidFill>
                  <a:srgbClr val="FF0000"/>
                </a:solidFill>
                <a:latin typeface="Times New Roman" panose="02020603050405020304" pitchFamily="18" charset="0"/>
              </a:rPr>
              <a:t>a</a:t>
            </a:r>
            <a:r>
              <a:rPr lang="en-US" altLang="zh-CN" sz="1600" baseline="-25000" dirty="0">
                <a:solidFill>
                  <a:srgbClr val="FF0000"/>
                </a:solidFill>
                <a:latin typeface="Times New Roman" panose="02020603050405020304" pitchFamily="18" charset="0"/>
              </a:rPr>
              <a:t>4</a:t>
            </a:r>
            <a:endParaRPr lang="en-US" altLang="zh-CN" sz="1600" baseline="-25000" dirty="0">
              <a:solidFill>
                <a:srgbClr val="FF0000"/>
              </a:solidFill>
              <a:latin typeface="Times New Roman" panose="02020603050405020304" pitchFamily="18" charset="0"/>
            </a:endParaRPr>
          </a:p>
        </p:txBody>
      </p:sp>
      <p:sp>
        <p:nvSpPr>
          <p:cNvPr id="2495581" name="Line 93"/>
          <p:cNvSpPr/>
          <p:nvPr/>
        </p:nvSpPr>
        <p:spPr>
          <a:xfrm>
            <a:off x="5324475" y="5281613"/>
            <a:ext cx="250825" cy="0"/>
          </a:xfrm>
          <a:prstGeom prst="line">
            <a:avLst/>
          </a:prstGeom>
          <a:ln w="19050" cap="flat" cmpd="sng">
            <a:solidFill>
              <a:srgbClr val="000080"/>
            </a:solidFill>
            <a:prstDash val="solid"/>
            <a:headEnd type="none" w="med" len="med"/>
            <a:tailEnd type="none" w="med" len="med"/>
          </a:ln>
        </p:spPr>
      </p:sp>
      <p:sp>
        <p:nvSpPr>
          <p:cNvPr id="2495582" name="Text Box 94"/>
          <p:cNvSpPr txBox="1"/>
          <p:nvPr/>
        </p:nvSpPr>
        <p:spPr>
          <a:xfrm>
            <a:off x="4319588" y="1878013"/>
            <a:ext cx="682625" cy="312737"/>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REF</a:t>
            </a:r>
            <a:endParaRPr lang="en-US" altLang="zh-CN" sz="1600" baseline="-25000" dirty="0">
              <a:solidFill>
                <a:srgbClr val="008000"/>
              </a:solidFill>
              <a:latin typeface="Times New Roman" panose="02020603050405020304" pitchFamily="18" charset="0"/>
            </a:endParaRPr>
          </a:p>
        </p:txBody>
      </p:sp>
      <p:sp>
        <p:nvSpPr>
          <p:cNvPr id="2495583" name="AutoShape 95"/>
          <p:cNvSpPr/>
          <p:nvPr/>
        </p:nvSpPr>
        <p:spPr>
          <a:xfrm rot="5400000">
            <a:off x="7697788" y="3170238"/>
            <a:ext cx="647700" cy="690562"/>
          </a:xfrm>
          <a:prstGeom prst="triangle">
            <a:avLst>
              <a:gd name="adj" fmla="val 50000"/>
            </a:avLst>
          </a:prstGeom>
          <a:solidFill>
            <a:srgbClr val="FFCC99"/>
          </a:solidFill>
          <a:ln w="19050" cap="flat" cmpd="sng">
            <a:solidFill>
              <a:srgbClr val="00008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84" name="Line 96"/>
          <p:cNvSpPr/>
          <p:nvPr/>
        </p:nvSpPr>
        <p:spPr>
          <a:xfrm flipH="1">
            <a:off x="7361238" y="3697288"/>
            <a:ext cx="315912" cy="0"/>
          </a:xfrm>
          <a:prstGeom prst="line">
            <a:avLst/>
          </a:prstGeom>
          <a:ln w="12700" cap="flat" cmpd="sng">
            <a:solidFill>
              <a:schemeClr val="accent2"/>
            </a:solidFill>
            <a:prstDash val="solid"/>
            <a:headEnd type="none" w="med" len="med"/>
            <a:tailEnd type="none" w="med" len="med"/>
          </a:ln>
        </p:spPr>
      </p:sp>
      <p:sp>
        <p:nvSpPr>
          <p:cNvPr id="2495585" name="Line 97"/>
          <p:cNvSpPr/>
          <p:nvPr/>
        </p:nvSpPr>
        <p:spPr>
          <a:xfrm>
            <a:off x="7361238" y="3697288"/>
            <a:ext cx="0" cy="358775"/>
          </a:xfrm>
          <a:prstGeom prst="line">
            <a:avLst/>
          </a:prstGeom>
          <a:ln w="12700" cap="flat" cmpd="sng">
            <a:solidFill>
              <a:schemeClr val="accent2"/>
            </a:solidFill>
            <a:prstDash val="solid"/>
            <a:headEnd type="none" w="med" len="med"/>
            <a:tailEnd type="none" w="med" len="med"/>
          </a:ln>
        </p:spPr>
      </p:sp>
      <p:sp>
        <p:nvSpPr>
          <p:cNvPr id="2495586" name="Line 98"/>
          <p:cNvSpPr/>
          <p:nvPr/>
        </p:nvSpPr>
        <p:spPr>
          <a:xfrm>
            <a:off x="7235825" y="4056063"/>
            <a:ext cx="250825" cy="0"/>
          </a:xfrm>
          <a:prstGeom prst="line">
            <a:avLst/>
          </a:prstGeom>
          <a:ln w="19050" cap="flat" cmpd="sng">
            <a:solidFill>
              <a:srgbClr val="000080"/>
            </a:solidFill>
            <a:prstDash val="solid"/>
            <a:headEnd type="none" w="med" len="med"/>
            <a:tailEnd type="none" w="med" len="med"/>
          </a:ln>
        </p:spPr>
      </p:sp>
      <p:sp>
        <p:nvSpPr>
          <p:cNvPr id="2495587" name="Line 99"/>
          <p:cNvSpPr/>
          <p:nvPr/>
        </p:nvSpPr>
        <p:spPr>
          <a:xfrm>
            <a:off x="7354888" y="2898775"/>
            <a:ext cx="0" cy="430213"/>
          </a:xfrm>
          <a:prstGeom prst="line">
            <a:avLst/>
          </a:prstGeom>
          <a:ln w="12700" cap="flat" cmpd="sng">
            <a:solidFill>
              <a:schemeClr val="accent2"/>
            </a:solidFill>
            <a:prstDash val="solid"/>
            <a:headEnd type="none" w="med" len="med"/>
            <a:tailEnd type="none" w="med" len="med"/>
          </a:ln>
        </p:spPr>
      </p:sp>
      <p:sp>
        <p:nvSpPr>
          <p:cNvPr id="2495588" name="Line 100"/>
          <p:cNvSpPr/>
          <p:nvPr/>
        </p:nvSpPr>
        <p:spPr>
          <a:xfrm>
            <a:off x="7354888" y="2897188"/>
            <a:ext cx="1195387" cy="1587"/>
          </a:xfrm>
          <a:prstGeom prst="line">
            <a:avLst/>
          </a:prstGeom>
          <a:ln w="12700" cap="flat" cmpd="sng">
            <a:solidFill>
              <a:schemeClr val="accent2"/>
            </a:solidFill>
            <a:prstDash val="solid"/>
            <a:headEnd type="none" w="med" len="med"/>
            <a:tailEnd type="none" w="med" len="med"/>
          </a:ln>
        </p:spPr>
      </p:sp>
      <p:sp>
        <p:nvSpPr>
          <p:cNvPr id="2495589" name="Line 101"/>
          <p:cNvSpPr/>
          <p:nvPr/>
        </p:nvSpPr>
        <p:spPr>
          <a:xfrm>
            <a:off x="8367713" y="3514725"/>
            <a:ext cx="325437" cy="0"/>
          </a:xfrm>
          <a:prstGeom prst="line">
            <a:avLst/>
          </a:prstGeom>
          <a:ln w="12700" cap="flat" cmpd="sng">
            <a:solidFill>
              <a:schemeClr val="accent2"/>
            </a:solidFill>
            <a:prstDash val="solid"/>
            <a:headEnd type="none" w="med" len="med"/>
            <a:tailEnd type="none" w="med" len="med"/>
          </a:ln>
        </p:spPr>
      </p:sp>
      <p:sp>
        <p:nvSpPr>
          <p:cNvPr id="2495590" name="Line 102"/>
          <p:cNvSpPr/>
          <p:nvPr/>
        </p:nvSpPr>
        <p:spPr>
          <a:xfrm>
            <a:off x="8550275" y="2900363"/>
            <a:ext cx="0" cy="614362"/>
          </a:xfrm>
          <a:prstGeom prst="line">
            <a:avLst/>
          </a:prstGeom>
          <a:ln w="12700" cap="flat" cmpd="sng">
            <a:solidFill>
              <a:schemeClr val="accent2"/>
            </a:solidFill>
            <a:prstDash val="solid"/>
            <a:headEnd type="none" w="med" len="med"/>
            <a:tailEnd type="none" w="med" len="med"/>
          </a:ln>
        </p:spPr>
      </p:sp>
      <p:sp>
        <p:nvSpPr>
          <p:cNvPr id="2495591" name="Rectangle 103"/>
          <p:cNvSpPr/>
          <p:nvPr/>
        </p:nvSpPr>
        <p:spPr>
          <a:xfrm>
            <a:off x="7885113" y="2860675"/>
            <a:ext cx="215900" cy="71438"/>
          </a:xfrm>
          <a:prstGeom prst="rect">
            <a:avLst/>
          </a:prstGeom>
          <a:solidFill>
            <a:srgbClr val="FFCC99"/>
          </a:solidFill>
          <a:ln w="1905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92" name="Text Box 104"/>
          <p:cNvSpPr txBox="1"/>
          <p:nvPr/>
        </p:nvSpPr>
        <p:spPr>
          <a:xfrm>
            <a:off x="7758113" y="2600325"/>
            <a:ext cx="65087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CC00CC"/>
                </a:solidFill>
                <a:latin typeface="Times New Roman" panose="02020603050405020304" pitchFamily="18" charset="0"/>
              </a:rPr>
              <a:t>R/2</a:t>
            </a:r>
            <a:endParaRPr lang="en-US" altLang="zh-CN" sz="1600" baseline="-25000" dirty="0">
              <a:solidFill>
                <a:srgbClr val="CC00CC"/>
              </a:solidFill>
              <a:latin typeface="Times New Roman" panose="02020603050405020304" pitchFamily="18" charset="0"/>
            </a:endParaRPr>
          </a:p>
        </p:txBody>
      </p:sp>
      <p:sp>
        <p:nvSpPr>
          <p:cNvPr id="2495593" name="Text Box 105"/>
          <p:cNvSpPr txBox="1"/>
          <p:nvPr/>
        </p:nvSpPr>
        <p:spPr>
          <a:xfrm>
            <a:off x="8550275" y="3187700"/>
            <a:ext cx="466725" cy="312738"/>
          </a:xfrm>
          <a:prstGeom prst="rect">
            <a:avLst/>
          </a:prstGeom>
          <a:noFill/>
          <a:ln w="9525">
            <a:noFill/>
          </a:ln>
        </p:spPr>
        <p:txBody>
          <a:bodyPr>
            <a:spAutoFit/>
          </a:bodyPr>
          <a:p>
            <a:pPr eaLnBrk="1" hangingPunct="1">
              <a:lnSpc>
                <a:spcPct val="90000"/>
              </a:lnSpc>
              <a:spcBef>
                <a:spcPct val="50000"/>
              </a:spcBef>
            </a:pPr>
            <a:r>
              <a:rPr lang="en-US" altLang="zh-CN" sz="1600" i="1" dirty="0">
                <a:solidFill>
                  <a:srgbClr val="008000"/>
                </a:solidFill>
                <a:latin typeface="Times New Roman" panose="02020603050405020304" pitchFamily="18" charset="0"/>
              </a:rPr>
              <a:t>U</a:t>
            </a:r>
            <a:r>
              <a:rPr lang="en-US" altLang="zh-CN" sz="1600" baseline="-25000" dirty="0">
                <a:solidFill>
                  <a:srgbClr val="008000"/>
                </a:solidFill>
                <a:latin typeface="Times New Roman" panose="02020603050405020304" pitchFamily="18" charset="0"/>
              </a:rPr>
              <a:t>O</a:t>
            </a:r>
            <a:endParaRPr lang="en-US" altLang="zh-CN" sz="1600" baseline="-25000" dirty="0">
              <a:solidFill>
                <a:srgbClr val="008000"/>
              </a:solidFill>
              <a:latin typeface="Times New Roman" panose="02020603050405020304" pitchFamily="18" charset="0"/>
            </a:endParaRPr>
          </a:p>
        </p:txBody>
      </p:sp>
      <p:sp>
        <p:nvSpPr>
          <p:cNvPr id="2495594" name="Oval 106"/>
          <p:cNvSpPr/>
          <p:nvPr/>
        </p:nvSpPr>
        <p:spPr>
          <a:xfrm>
            <a:off x="8693150" y="3475038"/>
            <a:ext cx="71438" cy="71437"/>
          </a:xfrm>
          <a:prstGeom prst="ellipse">
            <a:avLst/>
          </a:prstGeom>
          <a:noFill/>
          <a:ln w="19050" cap="flat" cmpd="sng">
            <a:solidFill>
              <a:srgbClr val="00008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95" name="Text Box 107"/>
          <p:cNvSpPr txBox="1"/>
          <p:nvPr/>
        </p:nvSpPr>
        <p:spPr>
          <a:xfrm>
            <a:off x="7620000" y="3524250"/>
            <a:ext cx="755650" cy="339725"/>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2495596" name="Rectangle 108"/>
          <p:cNvSpPr/>
          <p:nvPr/>
        </p:nvSpPr>
        <p:spPr>
          <a:xfrm>
            <a:off x="7626350" y="3043238"/>
            <a:ext cx="412750" cy="339725"/>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2495597" name="Text Box 109"/>
          <p:cNvSpPr txBox="1"/>
          <p:nvPr/>
        </p:nvSpPr>
        <p:spPr>
          <a:xfrm>
            <a:off x="7829550" y="3336925"/>
            <a:ext cx="287338" cy="339725"/>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2495598" name="Oval 110"/>
          <p:cNvSpPr/>
          <p:nvPr/>
        </p:nvSpPr>
        <p:spPr>
          <a:xfrm>
            <a:off x="5181600" y="2879725"/>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599" name="Oval 111"/>
          <p:cNvSpPr/>
          <p:nvPr/>
        </p:nvSpPr>
        <p:spPr>
          <a:xfrm>
            <a:off x="5181600" y="2051050"/>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0" name="Oval 112"/>
          <p:cNvSpPr/>
          <p:nvPr/>
        </p:nvSpPr>
        <p:spPr>
          <a:xfrm>
            <a:off x="5181600" y="3713163"/>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1" name="Oval 113"/>
          <p:cNvSpPr/>
          <p:nvPr/>
        </p:nvSpPr>
        <p:spPr>
          <a:xfrm>
            <a:off x="5434013" y="4002088"/>
            <a:ext cx="36512"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2" name="Oval 114"/>
          <p:cNvSpPr/>
          <p:nvPr/>
        </p:nvSpPr>
        <p:spPr>
          <a:xfrm>
            <a:off x="5434013" y="3168650"/>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3" name="Oval 115"/>
          <p:cNvSpPr/>
          <p:nvPr/>
        </p:nvSpPr>
        <p:spPr>
          <a:xfrm>
            <a:off x="5434013" y="48609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4" name="Oval 116"/>
          <p:cNvSpPr/>
          <p:nvPr/>
        </p:nvSpPr>
        <p:spPr>
          <a:xfrm>
            <a:off x="6981825" y="3022600"/>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5" name="Oval 117"/>
          <p:cNvSpPr/>
          <p:nvPr/>
        </p:nvSpPr>
        <p:spPr>
          <a:xfrm>
            <a:off x="6981825" y="3309938"/>
            <a:ext cx="36513" cy="36512"/>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6" name="Oval 118"/>
          <p:cNvSpPr/>
          <p:nvPr/>
        </p:nvSpPr>
        <p:spPr>
          <a:xfrm>
            <a:off x="6981825" y="3857625"/>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7" name="Oval 119"/>
          <p:cNvSpPr/>
          <p:nvPr/>
        </p:nvSpPr>
        <p:spPr>
          <a:xfrm>
            <a:off x="7335838" y="3311525"/>
            <a:ext cx="36512"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8" name="Oval 120"/>
          <p:cNvSpPr/>
          <p:nvPr/>
        </p:nvSpPr>
        <p:spPr>
          <a:xfrm>
            <a:off x="8531225" y="3495675"/>
            <a:ext cx="36513" cy="36513"/>
          </a:xfrm>
          <a:prstGeom prst="ellipse">
            <a:avLst/>
          </a:prstGeom>
          <a:solidFill>
            <a:schemeClr val="accent2"/>
          </a:solidFill>
          <a:ln w="12700" cap="flat" cmpd="sng">
            <a:solidFill>
              <a:schemeClr val="accent2"/>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2495609" name="Text Box 121"/>
          <p:cNvSpPr txBox="1"/>
          <p:nvPr/>
        </p:nvSpPr>
        <p:spPr>
          <a:xfrm>
            <a:off x="4860925" y="5408613"/>
            <a:ext cx="3887788" cy="366712"/>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四位权电阻</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转换器工作原理</a:t>
            </a:r>
            <a:endParaRPr lang="zh-CN" altLang="en-US" sz="2000" dirty="0">
              <a:solidFill>
                <a:srgbClr val="000099"/>
              </a:solidFill>
              <a:latin typeface="Times New Roman" panose="02020603050405020304" pitchFamily="18" charset="0"/>
            </a:endParaRPr>
          </a:p>
        </p:txBody>
      </p:sp>
      <p:sp>
        <p:nvSpPr>
          <p:cNvPr id="2495610" name="Text Box 122"/>
          <p:cNvSpPr txBox="1"/>
          <p:nvPr/>
        </p:nvSpPr>
        <p:spPr>
          <a:xfrm>
            <a:off x="4968875" y="5408613"/>
            <a:ext cx="3671888" cy="366712"/>
          </a:xfrm>
          <a:prstGeom prst="rect">
            <a:avLst/>
          </a:prstGeom>
          <a:noFill/>
          <a:ln w="9525">
            <a:noFill/>
          </a:ln>
        </p:spPr>
        <p:txBody>
          <a:bodyPr>
            <a:spAutoFit/>
          </a:bodyPr>
          <a:p>
            <a:pPr eaLnBrk="1" hangingPunct="1">
              <a:lnSpc>
                <a:spcPct val="90000"/>
              </a:lnSpc>
              <a:spcBef>
                <a:spcPct val="50000"/>
              </a:spcBef>
            </a:pPr>
            <a:r>
              <a:rPr lang="zh-CN" altLang="en-US" sz="2000" dirty="0">
                <a:solidFill>
                  <a:srgbClr val="000099"/>
                </a:solidFill>
                <a:latin typeface="Times New Roman" panose="02020603050405020304" pitchFamily="18" charset="0"/>
              </a:rPr>
              <a:t>具有双极性输出的</a:t>
            </a:r>
            <a:r>
              <a:rPr lang="en-US" altLang="zh-CN" sz="2000" dirty="0">
                <a:solidFill>
                  <a:srgbClr val="000099"/>
                </a:solidFill>
                <a:latin typeface="Times New Roman" panose="02020603050405020304" pitchFamily="18" charset="0"/>
              </a:rPr>
              <a:t>D/A</a:t>
            </a:r>
            <a:r>
              <a:rPr lang="zh-CN" altLang="en-US" sz="2000" dirty="0">
                <a:solidFill>
                  <a:srgbClr val="000099"/>
                </a:solidFill>
                <a:latin typeface="Times New Roman" panose="02020603050405020304" pitchFamily="18" charset="0"/>
              </a:rPr>
              <a:t>转换器</a:t>
            </a:r>
            <a:endParaRPr lang="zh-CN" altLang="en-US" sz="2000" dirty="0">
              <a:solidFill>
                <a:srgbClr val="000099"/>
              </a:solidFill>
              <a:latin typeface="Times New Roman" panose="02020603050405020304" pitchFamily="18" charset="0"/>
            </a:endParaRPr>
          </a:p>
        </p:txBody>
      </p:sp>
      <p:grpSp>
        <p:nvGrpSpPr>
          <p:cNvPr id="2495617" name="Group 129"/>
          <p:cNvGrpSpPr/>
          <p:nvPr/>
        </p:nvGrpSpPr>
        <p:grpSpPr>
          <a:xfrm>
            <a:off x="7367588" y="1628775"/>
            <a:ext cx="1090612" cy="1289050"/>
            <a:chOff x="4641" y="1026"/>
            <a:chExt cx="687" cy="812"/>
          </a:xfrm>
        </p:grpSpPr>
        <p:sp>
          <p:nvSpPr>
            <p:cNvPr id="51304" name="Line 124"/>
            <p:cNvSpPr/>
            <p:nvPr/>
          </p:nvSpPr>
          <p:spPr>
            <a:xfrm>
              <a:off x="4711" y="1198"/>
              <a:ext cx="0" cy="628"/>
            </a:xfrm>
            <a:prstGeom prst="line">
              <a:avLst/>
            </a:prstGeom>
            <a:ln w="50800" cap="flat" cmpd="sng">
              <a:solidFill>
                <a:srgbClr val="FF0000"/>
              </a:solidFill>
              <a:prstDash val="solid"/>
              <a:headEnd type="none" w="med" len="med"/>
              <a:tailEnd type="none" w="med" len="med"/>
            </a:ln>
          </p:spPr>
        </p:sp>
        <p:sp>
          <p:nvSpPr>
            <p:cNvPr id="51305" name="Rectangle 123"/>
            <p:cNvSpPr/>
            <p:nvPr/>
          </p:nvSpPr>
          <p:spPr>
            <a:xfrm>
              <a:off x="4641" y="1315"/>
              <a:ext cx="136" cy="352"/>
            </a:xfrm>
            <a:prstGeom prst="rect">
              <a:avLst/>
            </a:prstGeom>
            <a:solidFill>
              <a:srgbClr val="FFCC99"/>
            </a:solidFill>
            <a:ln w="50800" cap="flat" cmpd="sng">
              <a:solidFill>
                <a:srgbClr val="FF000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1306" name="Oval 125"/>
            <p:cNvSpPr/>
            <p:nvPr/>
          </p:nvSpPr>
          <p:spPr>
            <a:xfrm>
              <a:off x="4675" y="1139"/>
              <a:ext cx="68" cy="68"/>
            </a:xfrm>
            <a:prstGeom prst="ellipse">
              <a:avLst/>
            </a:prstGeom>
            <a:noFill/>
            <a:ln w="50800"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1307" name="Oval 126"/>
            <p:cNvSpPr/>
            <p:nvPr/>
          </p:nvSpPr>
          <p:spPr>
            <a:xfrm>
              <a:off x="4700" y="1815"/>
              <a:ext cx="23" cy="23"/>
            </a:xfrm>
            <a:prstGeom prst="ellipse">
              <a:avLst/>
            </a:prstGeom>
            <a:solidFill>
              <a:srgbClr val="FF0000"/>
            </a:solidFill>
            <a:ln w="50800" cap="flat" cmpd="sng">
              <a:solidFill>
                <a:srgbClr val="FF0000"/>
              </a:solidFill>
              <a:prstDash val="solid"/>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51308" name="Text Box 127"/>
            <p:cNvSpPr txBox="1"/>
            <p:nvPr/>
          </p:nvSpPr>
          <p:spPr>
            <a:xfrm>
              <a:off x="4740" y="1026"/>
              <a:ext cx="567"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U</a:t>
              </a:r>
              <a:r>
                <a:rPr lang="en-US" altLang="zh-CN" sz="2000" baseline="-25000" dirty="0">
                  <a:solidFill>
                    <a:srgbClr val="FF0000"/>
                  </a:solidFill>
                  <a:latin typeface="Times New Roman" panose="02020603050405020304" pitchFamily="18" charset="0"/>
                </a:rPr>
                <a:t>F</a:t>
              </a:r>
              <a:endParaRPr lang="en-US" altLang="zh-CN" sz="2000" baseline="-25000" dirty="0">
                <a:solidFill>
                  <a:srgbClr val="FF0000"/>
                </a:solidFill>
                <a:latin typeface="Times New Roman" panose="02020603050405020304" pitchFamily="18" charset="0"/>
              </a:endParaRPr>
            </a:p>
          </p:txBody>
        </p:sp>
        <p:sp>
          <p:nvSpPr>
            <p:cNvPr id="51309" name="Text Box 128"/>
            <p:cNvSpPr txBox="1"/>
            <p:nvPr/>
          </p:nvSpPr>
          <p:spPr>
            <a:xfrm>
              <a:off x="4761" y="1366"/>
              <a:ext cx="567" cy="231"/>
            </a:xfrm>
            <a:prstGeom prst="rect">
              <a:avLst/>
            </a:prstGeom>
            <a:noFill/>
            <a:ln w="9525">
              <a:noFill/>
            </a:ln>
          </p:spPr>
          <p:txBody>
            <a:bodyPr>
              <a:spAutoFit/>
            </a:bodyPr>
            <a:p>
              <a:pPr eaLnBrk="1" hangingPunct="1">
                <a:lnSpc>
                  <a:spcPct val="90000"/>
                </a:lnSpc>
                <a:spcBef>
                  <a:spcPct val="50000"/>
                </a:spcBef>
              </a:pPr>
              <a:r>
                <a:rPr lang="en-US" altLang="zh-CN" sz="2000" i="1"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F</a:t>
              </a:r>
              <a:endParaRPr lang="en-US" altLang="zh-CN" sz="2000" baseline="-25000" dirty="0">
                <a:solidFill>
                  <a:srgbClr val="FF0000"/>
                </a:solidFill>
                <a:latin typeface="Times New Roman" panose="02020603050405020304" pitchFamily="18" charset="0"/>
              </a:endParaRPr>
            </a:p>
          </p:txBody>
        </p:sp>
      </p:grpSp>
      <p:sp>
        <p:nvSpPr>
          <p:cNvPr id="2495618" name="Text Box 130"/>
          <p:cNvSpPr txBox="1"/>
          <p:nvPr/>
        </p:nvSpPr>
        <p:spPr>
          <a:xfrm>
            <a:off x="431800" y="1376363"/>
            <a:ext cx="3168650" cy="860425"/>
          </a:xfrm>
          <a:prstGeom prst="rect">
            <a:avLst/>
          </a:prstGeom>
          <a:noFill/>
          <a:ln w="9525">
            <a:noFill/>
          </a:ln>
        </p:spPr>
        <p:txBody>
          <a:bodyPr>
            <a:spAutoFit/>
          </a:bodyPr>
          <a:p>
            <a:pPr eaLnBrk="1" hangingPunct="1">
              <a:lnSpc>
                <a:spcPct val="90000"/>
              </a:lnSpc>
              <a:spcBef>
                <a:spcPct val="50000"/>
              </a:spcBef>
            </a:pPr>
            <a:r>
              <a:rPr lang="zh-CN" altLang="en-US" sz="2800" dirty="0">
                <a:solidFill>
                  <a:schemeClr val="tx1"/>
                </a:solidFill>
                <a:latin typeface="Times New Roman" panose="02020603050405020304" pitchFamily="18" charset="0"/>
              </a:rPr>
              <a:t>偏移电压</a:t>
            </a:r>
            <a:r>
              <a:rPr lang="en-US" altLang="zh-CN" sz="2800" i="1" dirty="0">
                <a:solidFill>
                  <a:srgbClr val="FF0000"/>
                </a:solidFill>
                <a:latin typeface="Times New Roman" panose="02020603050405020304" pitchFamily="18" charset="0"/>
              </a:rPr>
              <a:t>U</a:t>
            </a:r>
            <a:r>
              <a:rPr lang="en-US" altLang="zh-CN" sz="2800" baseline="-25000" dirty="0">
                <a:solidFill>
                  <a:srgbClr val="FF0000"/>
                </a:solidFill>
                <a:latin typeface="Times New Roman" panose="02020603050405020304" pitchFamily="18" charset="0"/>
              </a:rPr>
              <a:t>F</a:t>
            </a:r>
            <a:r>
              <a:rPr lang="zh-CN" altLang="en-US" sz="2800" dirty="0">
                <a:solidFill>
                  <a:schemeClr val="tx1"/>
                </a:solidFill>
                <a:latin typeface="Times New Roman" panose="02020603050405020304" pitchFamily="18" charset="0"/>
              </a:rPr>
              <a:t>与电阻</a:t>
            </a:r>
            <a:r>
              <a:rPr lang="en-US" altLang="zh-CN" sz="2800" i="1" dirty="0">
                <a:solidFill>
                  <a:srgbClr val="FF0000"/>
                </a:solidFill>
                <a:latin typeface="Times New Roman" panose="02020603050405020304" pitchFamily="18" charset="0"/>
              </a:rPr>
              <a:t>R</a:t>
            </a:r>
            <a:r>
              <a:rPr lang="en-US" altLang="zh-CN" sz="2800" baseline="-25000" dirty="0">
                <a:solidFill>
                  <a:srgbClr val="FF0000"/>
                </a:solidFill>
                <a:latin typeface="Times New Roman" panose="02020603050405020304" pitchFamily="18" charset="0"/>
              </a:rPr>
              <a:t>F</a:t>
            </a:r>
            <a:r>
              <a:rPr lang="zh-CN" altLang="en-US" sz="2800" dirty="0">
                <a:solidFill>
                  <a:schemeClr val="tx1"/>
                </a:solidFill>
                <a:latin typeface="Times New Roman" panose="02020603050405020304" pitchFamily="18" charset="0"/>
              </a:rPr>
              <a:t>需满足：</a:t>
            </a:r>
            <a:endParaRPr lang="zh-CN" altLang="en-US" sz="2800" dirty="0">
              <a:solidFill>
                <a:schemeClr val="tx1"/>
              </a:solidFill>
              <a:latin typeface="Times New Roman" panose="02020603050405020304" pitchFamily="18" charset="0"/>
            </a:endParaRPr>
          </a:p>
        </p:txBody>
      </p:sp>
      <p:graphicFrame>
        <p:nvGraphicFramePr>
          <p:cNvPr id="2495619" name="Object 131"/>
          <p:cNvGraphicFramePr>
            <a:graphicFrameLocks noGrp="1" noChangeAspect="1"/>
          </p:cNvGraphicFramePr>
          <p:nvPr>
            <p:ph idx="4294967295" hasCustomPrompt="1"/>
          </p:nvPr>
        </p:nvGraphicFramePr>
        <p:xfrm>
          <a:off x="971550" y="2324100"/>
          <a:ext cx="2016125" cy="1023938"/>
        </p:xfrm>
        <a:graphic>
          <a:graphicData uri="http://schemas.openxmlformats.org/presentationml/2006/ole">
            <mc:AlternateContent xmlns:mc="http://schemas.openxmlformats.org/markup-compatibility/2006">
              <mc:Choice xmlns:v="urn:schemas-microsoft-com:vml" Requires="v">
                <p:oleObj spid="_x0000_s3091" name="" r:id="rId1" imgW="850265" imgH="431800" progId="Equation.3">
                  <p:embed/>
                </p:oleObj>
              </mc:Choice>
              <mc:Fallback>
                <p:oleObj name="" r:id="rId1" imgW="850265" imgH="431800" progId="Equation.3">
                  <p:embed/>
                  <p:pic>
                    <p:nvPicPr>
                      <p:cNvPr id="0" name="图片 3090"/>
                      <p:cNvPicPr/>
                      <p:nvPr/>
                    </p:nvPicPr>
                    <p:blipFill>
                      <a:blip r:embed="rId2"/>
                      <a:stretch>
                        <a:fillRect/>
                      </a:stretch>
                    </p:blipFill>
                    <p:spPr>
                      <a:xfrm>
                        <a:off x="971550" y="2324100"/>
                        <a:ext cx="2016125" cy="1023938"/>
                      </a:xfrm>
                      <a:prstGeom prst="rect">
                        <a:avLst/>
                      </a:prstGeom>
                      <a:solidFill>
                        <a:srgbClr val="CCFFCC"/>
                      </a:solidFill>
                      <a:ln w="38100">
                        <a:noFill/>
                        <a:miter/>
                      </a:ln>
                    </p:spPr>
                  </p:pic>
                </p:oleObj>
              </mc:Fallback>
            </mc:AlternateContent>
          </a:graphicData>
        </a:graphic>
      </p:graphicFrame>
      <p:sp>
        <p:nvSpPr>
          <p:cNvPr id="2495621" name="Text Box 133"/>
          <p:cNvSpPr txBox="1"/>
          <p:nvPr/>
        </p:nvSpPr>
        <p:spPr>
          <a:xfrm>
            <a:off x="179388" y="3482975"/>
            <a:ext cx="4032250" cy="2574925"/>
          </a:xfrm>
          <a:prstGeom prst="rect">
            <a:avLst/>
          </a:prstGeom>
          <a:noFill/>
          <a:ln w="9525">
            <a:noFill/>
          </a:ln>
        </p:spPr>
        <p:txBody>
          <a:bodyPr>
            <a:spAutoFit/>
          </a:bodyPr>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如果输入是偏移二进制码，则右边电路即可实现双极性输出；</a:t>
            </a:r>
            <a:endParaRPr lang="zh-CN" altLang="en-US" sz="2400" dirty="0">
              <a:latin typeface="Times New Roman" panose="02020603050405020304" pitchFamily="18" charset="0"/>
            </a:endParaRPr>
          </a:p>
          <a:p>
            <a:pPr marL="361950" indent="-36195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如果输入是补码，则只要将符号位</a:t>
            </a:r>
            <a:r>
              <a:rPr lang="en-US" altLang="zh-CN" sz="2400" dirty="0">
                <a:latin typeface="Times New Roman" panose="02020603050405020304" pitchFamily="18" charset="0"/>
              </a:rPr>
              <a:t>a</a:t>
            </a:r>
            <a:r>
              <a:rPr lang="en-US" altLang="zh-CN" sz="2400" baseline="-25000" dirty="0">
                <a:latin typeface="Times New Roman" panose="02020603050405020304" pitchFamily="18" charset="0"/>
              </a:rPr>
              <a:t>1</a:t>
            </a:r>
            <a:r>
              <a:rPr lang="zh-CN" altLang="en-US" sz="2400" dirty="0">
                <a:latin typeface="Times New Roman" panose="02020603050405020304" pitchFamily="18" charset="0"/>
              </a:rPr>
              <a:t>经过一级反相器再输入即可。或者由计算机用程序取反。</a:t>
            </a:r>
            <a:endParaRPr lang="zh-CN" altLang="en-US"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95515"/>
                                        </p:tgtEl>
                                        <p:attrNameLst>
                                          <p:attrName>style.visibility</p:attrName>
                                        </p:attrNameLst>
                                      </p:cBhvr>
                                      <p:to>
                                        <p:strVal val="visible"/>
                                      </p:to>
                                    </p:set>
                                    <p:animEffect transition="in" filter="dissolve">
                                      <p:cBhvr>
                                        <p:cTn id="7" dur="500"/>
                                        <p:tgtEl>
                                          <p:spTgt spid="2495515"/>
                                        </p:tgtEl>
                                      </p:cBhvr>
                                    </p:animEffect>
                                  </p:childTnLst>
                                </p:cTn>
                              </p:par>
                              <p:par>
                                <p:cTn id="8" presetID="9" presetClass="entr" presetSubtype="0" fill="hold" nodeType="withEffect">
                                  <p:stCondLst>
                                    <p:cond delay="0"/>
                                  </p:stCondLst>
                                  <p:childTnLst>
                                    <p:set>
                                      <p:cBhvr>
                                        <p:cTn id="9" dur="1" fill="hold">
                                          <p:stCondLst>
                                            <p:cond delay="0"/>
                                          </p:stCondLst>
                                        </p:cTn>
                                        <p:tgtEl>
                                          <p:spTgt spid="2495516"/>
                                        </p:tgtEl>
                                        <p:attrNameLst>
                                          <p:attrName>style.visibility</p:attrName>
                                        </p:attrNameLst>
                                      </p:cBhvr>
                                      <p:to>
                                        <p:strVal val="visible"/>
                                      </p:to>
                                    </p:set>
                                    <p:animEffect transition="in" filter="dissolve">
                                      <p:cBhvr>
                                        <p:cTn id="10" dur="500"/>
                                        <p:tgtEl>
                                          <p:spTgt spid="2495516"/>
                                        </p:tgtEl>
                                      </p:cBhvr>
                                    </p:animEffect>
                                  </p:childTnLst>
                                </p:cTn>
                              </p:par>
                              <p:par>
                                <p:cTn id="11" presetID="9" presetClass="entr" presetSubtype="0" fill="hold" nodeType="withEffect">
                                  <p:stCondLst>
                                    <p:cond delay="0"/>
                                  </p:stCondLst>
                                  <p:childTnLst>
                                    <p:set>
                                      <p:cBhvr>
                                        <p:cTn id="12" dur="1" fill="hold">
                                          <p:stCondLst>
                                            <p:cond delay="0"/>
                                          </p:stCondLst>
                                        </p:cTn>
                                        <p:tgtEl>
                                          <p:spTgt spid="2495517"/>
                                        </p:tgtEl>
                                        <p:attrNameLst>
                                          <p:attrName>style.visibility</p:attrName>
                                        </p:attrNameLst>
                                      </p:cBhvr>
                                      <p:to>
                                        <p:strVal val="visible"/>
                                      </p:to>
                                    </p:set>
                                    <p:animEffect transition="in" filter="dissolve">
                                      <p:cBhvr>
                                        <p:cTn id="13" dur="500"/>
                                        <p:tgtEl>
                                          <p:spTgt spid="2495517"/>
                                        </p:tgtEl>
                                      </p:cBhvr>
                                    </p:animEffect>
                                  </p:childTnLst>
                                </p:cTn>
                              </p:par>
                              <p:par>
                                <p:cTn id="14" presetID="9" presetClass="entr" presetSubtype="0" fill="hold" nodeType="withEffect">
                                  <p:stCondLst>
                                    <p:cond delay="0"/>
                                  </p:stCondLst>
                                  <p:childTnLst>
                                    <p:set>
                                      <p:cBhvr>
                                        <p:cTn id="15" dur="1" fill="hold">
                                          <p:stCondLst>
                                            <p:cond delay="0"/>
                                          </p:stCondLst>
                                        </p:cTn>
                                        <p:tgtEl>
                                          <p:spTgt spid="2495518"/>
                                        </p:tgtEl>
                                        <p:attrNameLst>
                                          <p:attrName>style.visibility</p:attrName>
                                        </p:attrNameLst>
                                      </p:cBhvr>
                                      <p:to>
                                        <p:strVal val="visible"/>
                                      </p:to>
                                    </p:set>
                                    <p:animEffect transition="in" filter="dissolve">
                                      <p:cBhvr>
                                        <p:cTn id="16" dur="500"/>
                                        <p:tgtEl>
                                          <p:spTgt spid="2495518"/>
                                        </p:tgtEl>
                                      </p:cBhvr>
                                    </p:animEffect>
                                  </p:childTnLst>
                                </p:cTn>
                              </p:par>
                              <p:par>
                                <p:cTn id="17" presetID="9" presetClass="entr" presetSubtype="0" fill="hold" nodeType="withEffect">
                                  <p:stCondLst>
                                    <p:cond delay="0"/>
                                  </p:stCondLst>
                                  <p:childTnLst>
                                    <p:set>
                                      <p:cBhvr>
                                        <p:cTn id="18" dur="1" fill="hold">
                                          <p:stCondLst>
                                            <p:cond delay="0"/>
                                          </p:stCondLst>
                                        </p:cTn>
                                        <p:tgtEl>
                                          <p:spTgt spid="2495519"/>
                                        </p:tgtEl>
                                        <p:attrNameLst>
                                          <p:attrName>style.visibility</p:attrName>
                                        </p:attrNameLst>
                                      </p:cBhvr>
                                      <p:to>
                                        <p:strVal val="visible"/>
                                      </p:to>
                                    </p:set>
                                    <p:animEffect transition="in" filter="dissolve">
                                      <p:cBhvr>
                                        <p:cTn id="19" dur="500"/>
                                        <p:tgtEl>
                                          <p:spTgt spid="2495519"/>
                                        </p:tgtEl>
                                      </p:cBhvr>
                                    </p:animEffect>
                                  </p:childTnLst>
                                </p:cTn>
                              </p:par>
                              <p:par>
                                <p:cTn id="20" presetID="9" presetClass="entr" presetSubtype="0" fill="hold" nodeType="withEffect">
                                  <p:stCondLst>
                                    <p:cond delay="0"/>
                                  </p:stCondLst>
                                  <p:childTnLst>
                                    <p:set>
                                      <p:cBhvr>
                                        <p:cTn id="21" dur="1" fill="hold">
                                          <p:stCondLst>
                                            <p:cond delay="0"/>
                                          </p:stCondLst>
                                        </p:cTn>
                                        <p:tgtEl>
                                          <p:spTgt spid="2495520"/>
                                        </p:tgtEl>
                                        <p:attrNameLst>
                                          <p:attrName>style.visibility</p:attrName>
                                        </p:attrNameLst>
                                      </p:cBhvr>
                                      <p:to>
                                        <p:strVal val="visible"/>
                                      </p:to>
                                    </p:set>
                                    <p:animEffect transition="in" filter="dissolve">
                                      <p:cBhvr>
                                        <p:cTn id="22" dur="500"/>
                                        <p:tgtEl>
                                          <p:spTgt spid="2495520"/>
                                        </p:tgtEl>
                                      </p:cBhvr>
                                    </p:animEffect>
                                  </p:childTnLst>
                                </p:cTn>
                              </p:par>
                              <p:par>
                                <p:cTn id="23" presetID="9" presetClass="entr" presetSubtype="0" fill="hold" nodeType="withEffect">
                                  <p:stCondLst>
                                    <p:cond delay="0"/>
                                  </p:stCondLst>
                                  <p:childTnLst>
                                    <p:set>
                                      <p:cBhvr>
                                        <p:cTn id="24" dur="1" fill="hold">
                                          <p:stCondLst>
                                            <p:cond delay="0"/>
                                          </p:stCondLst>
                                        </p:cTn>
                                        <p:tgtEl>
                                          <p:spTgt spid="2495521"/>
                                        </p:tgtEl>
                                        <p:attrNameLst>
                                          <p:attrName>style.visibility</p:attrName>
                                        </p:attrNameLst>
                                      </p:cBhvr>
                                      <p:to>
                                        <p:strVal val="visible"/>
                                      </p:to>
                                    </p:set>
                                    <p:animEffect transition="in" filter="dissolve">
                                      <p:cBhvr>
                                        <p:cTn id="25" dur="500"/>
                                        <p:tgtEl>
                                          <p:spTgt spid="2495521"/>
                                        </p:tgtEl>
                                      </p:cBhvr>
                                    </p:animEffect>
                                  </p:childTnLst>
                                </p:cTn>
                              </p:par>
                              <p:par>
                                <p:cTn id="26" presetID="9" presetClass="entr" presetSubtype="0" fill="hold" nodeType="withEffect">
                                  <p:stCondLst>
                                    <p:cond delay="0"/>
                                  </p:stCondLst>
                                  <p:childTnLst>
                                    <p:set>
                                      <p:cBhvr>
                                        <p:cTn id="27" dur="1" fill="hold">
                                          <p:stCondLst>
                                            <p:cond delay="0"/>
                                          </p:stCondLst>
                                        </p:cTn>
                                        <p:tgtEl>
                                          <p:spTgt spid="2495522"/>
                                        </p:tgtEl>
                                        <p:attrNameLst>
                                          <p:attrName>style.visibility</p:attrName>
                                        </p:attrNameLst>
                                      </p:cBhvr>
                                      <p:to>
                                        <p:strVal val="visible"/>
                                      </p:to>
                                    </p:set>
                                    <p:animEffect transition="in" filter="dissolve">
                                      <p:cBhvr>
                                        <p:cTn id="28" dur="500"/>
                                        <p:tgtEl>
                                          <p:spTgt spid="2495522"/>
                                        </p:tgtEl>
                                      </p:cBhvr>
                                    </p:animEffect>
                                  </p:childTnLst>
                                </p:cTn>
                              </p:par>
                              <p:par>
                                <p:cTn id="29" presetID="9" presetClass="entr" presetSubtype="0" fill="hold" nodeType="withEffect">
                                  <p:stCondLst>
                                    <p:cond delay="0"/>
                                  </p:stCondLst>
                                  <p:childTnLst>
                                    <p:set>
                                      <p:cBhvr>
                                        <p:cTn id="30" dur="1" fill="hold">
                                          <p:stCondLst>
                                            <p:cond delay="0"/>
                                          </p:stCondLst>
                                        </p:cTn>
                                        <p:tgtEl>
                                          <p:spTgt spid="2495523"/>
                                        </p:tgtEl>
                                        <p:attrNameLst>
                                          <p:attrName>style.visibility</p:attrName>
                                        </p:attrNameLst>
                                      </p:cBhvr>
                                      <p:to>
                                        <p:strVal val="visible"/>
                                      </p:to>
                                    </p:set>
                                    <p:animEffect transition="in" filter="dissolve">
                                      <p:cBhvr>
                                        <p:cTn id="31" dur="500"/>
                                        <p:tgtEl>
                                          <p:spTgt spid="2495523"/>
                                        </p:tgtEl>
                                      </p:cBhvr>
                                    </p:animEffect>
                                  </p:childTnLst>
                                </p:cTn>
                              </p:par>
                              <p:par>
                                <p:cTn id="32" presetID="9" presetClass="entr" presetSubtype="0" fill="hold" nodeType="withEffect">
                                  <p:stCondLst>
                                    <p:cond delay="0"/>
                                  </p:stCondLst>
                                  <p:childTnLst>
                                    <p:set>
                                      <p:cBhvr>
                                        <p:cTn id="33" dur="1" fill="hold">
                                          <p:stCondLst>
                                            <p:cond delay="0"/>
                                          </p:stCondLst>
                                        </p:cTn>
                                        <p:tgtEl>
                                          <p:spTgt spid="2495524"/>
                                        </p:tgtEl>
                                        <p:attrNameLst>
                                          <p:attrName>style.visibility</p:attrName>
                                        </p:attrNameLst>
                                      </p:cBhvr>
                                      <p:to>
                                        <p:strVal val="visible"/>
                                      </p:to>
                                    </p:set>
                                    <p:animEffect transition="in" filter="dissolve">
                                      <p:cBhvr>
                                        <p:cTn id="34" dur="500"/>
                                        <p:tgtEl>
                                          <p:spTgt spid="2495524"/>
                                        </p:tgtEl>
                                      </p:cBhvr>
                                    </p:animEffect>
                                  </p:childTnLst>
                                </p:cTn>
                              </p:par>
                              <p:par>
                                <p:cTn id="35" presetID="9" presetClass="entr" presetSubtype="0" fill="hold" nodeType="withEffect">
                                  <p:stCondLst>
                                    <p:cond delay="0"/>
                                  </p:stCondLst>
                                  <p:childTnLst>
                                    <p:set>
                                      <p:cBhvr>
                                        <p:cTn id="36" dur="1" fill="hold">
                                          <p:stCondLst>
                                            <p:cond delay="0"/>
                                          </p:stCondLst>
                                        </p:cTn>
                                        <p:tgtEl>
                                          <p:spTgt spid="2495525"/>
                                        </p:tgtEl>
                                        <p:attrNameLst>
                                          <p:attrName>style.visibility</p:attrName>
                                        </p:attrNameLst>
                                      </p:cBhvr>
                                      <p:to>
                                        <p:strVal val="visible"/>
                                      </p:to>
                                    </p:set>
                                    <p:animEffect transition="in" filter="dissolve">
                                      <p:cBhvr>
                                        <p:cTn id="37" dur="500"/>
                                        <p:tgtEl>
                                          <p:spTgt spid="2495525"/>
                                        </p:tgtEl>
                                      </p:cBhvr>
                                    </p:animEffect>
                                  </p:childTnLst>
                                </p:cTn>
                              </p:par>
                              <p:par>
                                <p:cTn id="38" presetID="9" presetClass="entr" presetSubtype="0" fill="hold" nodeType="withEffect">
                                  <p:stCondLst>
                                    <p:cond delay="0"/>
                                  </p:stCondLst>
                                  <p:childTnLst>
                                    <p:set>
                                      <p:cBhvr>
                                        <p:cTn id="39" dur="1" fill="hold">
                                          <p:stCondLst>
                                            <p:cond delay="0"/>
                                          </p:stCondLst>
                                        </p:cTn>
                                        <p:tgtEl>
                                          <p:spTgt spid="2495526"/>
                                        </p:tgtEl>
                                        <p:attrNameLst>
                                          <p:attrName>style.visibility</p:attrName>
                                        </p:attrNameLst>
                                      </p:cBhvr>
                                      <p:to>
                                        <p:strVal val="visible"/>
                                      </p:to>
                                    </p:set>
                                    <p:animEffect transition="in" filter="dissolve">
                                      <p:cBhvr>
                                        <p:cTn id="40" dur="500"/>
                                        <p:tgtEl>
                                          <p:spTgt spid="2495526"/>
                                        </p:tgtEl>
                                      </p:cBhvr>
                                    </p:animEffect>
                                  </p:childTnLst>
                                </p:cTn>
                              </p:par>
                              <p:par>
                                <p:cTn id="41" presetID="9" presetClass="entr" presetSubtype="0" fill="hold" nodeType="withEffect">
                                  <p:stCondLst>
                                    <p:cond delay="0"/>
                                  </p:stCondLst>
                                  <p:childTnLst>
                                    <p:set>
                                      <p:cBhvr>
                                        <p:cTn id="42" dur="1" fill="hold">
                                          <p:stCondLst>
                                            <p:cond delay="0"/>
                                          </p:stCondLst>
                                        </p:cTn>
                                        <p:tgtEl>
                                          <p:spTgt spid="2495527"/>
                                        </p:tgtEl>
                                        <p:attrNameLst>
                                          <p:attrName>style.visibility</p:attrName>
                                        </p:attrNameLst>
                                      </p:cBhvr>
                                      <p:to>
                                        <p:strVal val="visible"/>
                                      </p:to>
                                    </p:set>
                                    <p:animEffect transition="in" filter="dissolve">
                                      <p:cBhvr>
                                        <p:cTn id="43" dur="500"/>
                                        <p:tgtEl>
                                          <p:spTgt spid="2495527"/>
                                        </p:tgtEl>
                                      </p:cBhvr>
                                    </p:animEffect>
                                  </p:childTnLst>
                                </p:cTn>
                              </p:par>
                              <p:par>
                                <p:cTn id="44" presetID="9" presetClass="entr" presetSubtype="0" fill="hold" nodeType="withEffect">
                                  <p:stCondLst>
                                    <p:cond delay="0"/>
                                  </p:stCondLst>
                                  <p:childTnLst>
                                    <p:set>
                                      <p:cBhvr>
                                        <p:cTn id="45" dur="1" fill="hold">
                                          <p:stCondLst>
                                            <p:cond delay="0"/>
                                          </p:stCondLst>
                                        </p:cTn>
                                        <p:tgtEl>
                                          <p:spTgt spid="2495528"/>
                                        </p:tgtEl>
                                        <p:attrNameLst>
                                          <p:attrName>style.visibility</p:attrName>
                                        </p:attrNameLst>
                                      </p:cBhvr>
                                      <p:to>
                                        <p:strVal val="visible"/>
                                      </p:to>
                                    </p:set>
                                    <p:animEffect transition="in" filter="dissolve">
                                      <p:cBhvr>
                                        <p:cTn id="46" dur="500"/>
                                        <p:tgtEl>
                                          <p:spTgt spid="249552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495529"/>
                                        </p:tgtEl>
                                        <p:attrNameLst>
                                          <p:attrName>style.visibility</p:attrName>
                                        </p:attrNameLst>
                                      </p:cBhvr>
                                      <p:to>
                                        <p:strVal val="visible"/>
                                      </p:to>
                                    </p:set>
                                    <p:animEffect transition="in" filter="dissolve">
                                      <p:cBhvr>
                                        <p:cTn id="49" dur="500"/>
                                        <p:tgtEl>
                                          <p:spTgt spid="249552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495530"/>
                                        </p:tgtEl>
                                        <p:attrNameLst>
                                          <p:attrName>style.visibility</p:attrName>
                                        </p:attrNameLst>
                                      </p:cBhvr>
                                      <p:to>
                                        <p:strVal val="visible"/>
                                      </p:to>
                                    </p:set>
                                    <p:animEffect transition="in" filter="dissolve">
                                      <p:cBhvr>
                                        <p:cTn id="52" dur="500"/>
                                        <p:tgtEl>
                                          <p:spTgt spid="2495530"/>
                                        </p:tgtEl>
                                      </p:cBhvr>
                                    </p:animEffect>
                                  </p:childTnLst>
                                </p:cTn>
                              </p:par>
                              <p:par>
                                <p:cTn id="53" presetID="9" presetClass="entr" presetSubtype="0" fill="hold" nodeType="withEffect">
                                  <p:stCondLst>
                                    <p:cond delay="0"/>
                                  </p:stCondLst>
                                  <p:childTnLst>
                                    <p:set>
                                      <p:cBhvr>
                                        <p:cTn id="54" dur="1" fill="hold">
                                          <p:stCondLst>
                                            <p:cond delay="0"/>
                                          </p:stCondLst>
                                        </p:cTn>
                                        <p:tgtEl>
                                          <p:spTgt spid="2495531"/>
                                        </p:tgtEl>
                                        <p:attrNameLst>
                                          <p:attrName>style.visibility</p:attrName>
                                        </p:attrNameLst>
                                      </p:cBhvr>
                                      <p:to>
                                        <p:strVal val="visible"/>
                                      </p:to>
                                    </p:set>
                                    <p:animEffect transition="in" filter="dissolve">
                                      <p:cBhvr>
                                        <p:cTn id="55" dur="500"/>
                                        <p:tgtEl>
                                          <p:spTgt spid="2495531"/>
                                        </p:tgtEl>
                                      </p:cBhvr>
                                    </p:animEffect>
                                  </p:childTnLst>
                                </p:cTn>
                              </p:par>
                              <p:par>
                                <p:cTn id="56" presetID="9" presetClass="entr" presetSubtype="0" fill="hold" nodeType="withEffect">
                                  <p:stCondLst>
                                    <p:cond delay="0"/>
                                  </p:stCondLst>
                                  <p:childTnLst>
                                    <p:set>
                                      <p:cBhvr>
                                        <p:cTn id="57" dur="1" fill="hold">
                                          <p:stCondLst>
                                            <p:cond delay="0"/>
                                          </p:stCondLst>
                                        </p:cTn>
                                        <p:tgtEl>
                                          <p:spTgt spid="2495532"/>
                                        </p:tgtEl>
                                        <p:attrNameLst>
                                          <p:attrName>style.visibility</p:attrName>
                                        </p:attrNameLst>
                                      </p:cBhvr>
                                      <p:to>
                                        <p:strVal val="visible"/>
                                      </p:to>
                                    </p:set>
                                    <p:animEffect transition="in" filter="dissolve">
                                      <p:cBhvr>
                                        <p:cTn id="58" dur="500"/>
                                        <p:tgtEl>
                                          <p:spTgt spid="2495532"/>
                                        </p:tgtEl>
                                      </p:cBhvr>
                                    </p:animEffect>
                                  </p:childTnLst>
                                </p:cTn>
                              </p:par>
                              <p:par>
                                <p:cTn id="59" presetID="9" presetClass="entr" presetSubtype="0" fill="hold" nodeType="withEffect">
                                  <p:stCondLst>
                                    <p:cond delay="0"/>
                                  </p:stCondLst>
                                  <p:childTnLst>
                                    <p:set>
                                      <p:cBhvr>
                                        <p:cTn id="60" dur="1" fill="hold">
                                          <p:stCondLst>
                                            <p:cond delay="0"/>
                                          </p:stCondLst>
                                        </p:cTn>
                                        <p:tgtEl>
                                          <p:spTgt spid="2495533"/>
                                        </p:tgtEl>
                                        <p:attrNameLst>
                                          <p:attrName>style.visibility</p:attrName>
                                        </p:attrNameLst>
                                      </p:cBhvr>
                                      <p:to>
                                        <p:strVal val="visible"/>
                                      </p:to>
                                    </p:set>
                                    <p:animEffect transition="in" filter="dissolve">
                                      <p:cBhvr>
                                        <p:cTn id="61" dur="500"/>
                                        <p:tgtEl>
                                          <p:spTgt spid="2495533"/>
                                        </p:tgtEl>
                                      </p:cBhvr>
                                    </p:animEffect>
                                  </p:childTnLst>
                                </p:cTn>
                              </p:par>
                              <p:par>
                                <p:cTn id="62" presetID="9" presetClass="entr" presetSubtype="0" fill="hold" nodeType="withEffect">
                                  <p:stCondLst>
                                    <p:cond delay="0"/>
                                  </p:stCondLst>
                                  <p:childTnLst>
                                    <p:set>
                                      <p:cBhvr>
                                        <p:cTn id="63" dur="1" fill="hold">
                                          <p:stCondLst>
                                            <p:cond delay="0"/>
                                          </p:stCondLst>
                                        </p:cTn>
                                        <p:tgtEl>
                                          <p:spTgt spid="2495534"/>
                                        </p:tgtEl>
                                        <p:attrNameLst>
                                          <p:attrName>style.visibility</p:attrName>
                                        </p:attrNameLst>
                                      </p:cBhvr>
                                      <p:to>
                                        <p:strVal val="visible"/>
                                      </p:to>
                                    </p:set>
                                    <p:animEffect transition="in" filter="dissolve">
                                      <p:cBhvr>
                                        <p:cTn id="64" dur="500"/>
                                        <p:tgtEl>
                                          <p:spTgt spid="2495534"/>
                                        </p:tgtEl>
                                      </p:cBhvr>
                                    </p:animEffect>
                                  </p:childTnLst>
                                </p:cTn>
                              </p:par>
                              <p:par>
                                <p:cTn id="65" presetID="9" presetClass="entr" presetSubtype="0" fill="hold" nodeType="withEffect">
                                  <p:stCondLst>
                                    <p:cond delay="0"/>
                                  </p:stCondLst>
                                  <p:childTnLst>
                                    <p:set>
                                      <p:cBhvr>
                                        <p:cTn id="66" dur="1" fill="hold">
                                          <p:stCondLst>
                                            <p:cond delay="0"/>
                                          </p:stCondLst>
                                        </p:cTn>
                                        <p:tgtEl>
                                          <p:spTgt spid="2495535"/>
                                        </p:tgtEl>
                                        <p:attrNameLst>
                                          <p:attrName>style.visibility</p:attrName>
                                        </p:attrNameLst>
                                      </p:cBhvr>
                                      <p:to>
                                        <p:strVal val="visible"/>
                                      </p:to>
                                    </p:set>
                                    <p:animEffect transition="in" filter="dissolve">
                                      <p:cBhvr>
                                        <p:cTn id="67" dur="500"/>
                                        <p:tgtEl>
                                          <p:spTgt spid="2495535"/>
                                        </p:tgtEl>
                                      </p:cBhvr>
                                    </p:animEffect>
                                  </p:childTnLst>
                                </p:cTn>
                              </p:par>
                              <p:par>
                                <p:cTn id="68" presetID="9" presetClass="entr" presetSubtype="0" fill="hold" nodeType="withEffect">
                                  <p:stCondLst>
                                    <p:cond delay="0"/>
                                  </p:stCondLst>
                                  <p:childTnLst>
                                    <p:set>
                                      <p:cBhvr>
                                        <p:cTn id="69" dur="1" fill="hold">
                                          <p:stCondLst>
                                            <p:cond delay="0"/>
                                          </p:stCondLst>
                                        </p:cTn>
                                        <p:tgtEl>
                                          <p:spTgt spid="2495536"/>
                                        </p:tgtEl>
                                        <p:attrNameLst>
                                          <p:attrName>style.visibility</p:attrName>
                                        </p:attrNameLst>
                                      </p:cBhvr>
                                      <p:to>
                                        <p:strVal val="visible"/>
                                      </p:to>
                                    </p:set>
                                    <p:animEffect transition="in" filter="dissolve">
                                      <p:cBhvr>
                                        <p:cTn id="70" dur="500"/>
                                        <p:tgtEl>
                                          <p:spTgt spid="2495536"/>
                                        </p:tgtEl>
                                      </p:cBhvr>
                                    </p:animEffect>
                                  </p:childTnLst>
                                </p:cTn>
                              </p:par>
                              <p:par>
                                <p:cTn id="71" presetID="9" presetClass="entr" presetSubtype="0" fill="hold" nodeType="withEffect">
                                  <p:stCondLst>
                                    <p:cond delay="0"/>
                                  </p:stCondLst>
                                  <p:childTnLst>
                                    <p:set>
                                      <p:cBhvr>
                                        <p:cTn id="72" dur="1" fill="hold">
                                          <p:stCondLst>
                                            <p:cond delay="0"/>
                                          </p:stCondLst>
                                        </p:cTn>
                                        <p:tgtEl>
                                          <p:spTgt spid="2495537"/>
                                        </p:tgtEl>
                                        <p:attrNameLst>
                                          <p:attrName>style.visibility</p:attrName>
                                        </p:attrNameLst>
                                      </p:cBhvr>
                                      <p:to>
                                        <p:strVal val="visible"/>
                                      </p:to>
                                    </p:set>
                                    <p:animEffect transition="in" filter="dissolve">
                                      <p:cBhvr>
                                        <p:cTn id="73" dur="500"/>
                                        <p:tgtEl>
                                          <p:spTgt spid="2495537"/>
                                        </p:tgtEl>
                                      </p:cBhvr>
                                    </p:animEffect>
                                  </p:childTnLst>
                                </p:cTn>
                              </p:par>
                              <p:par>
                                <p:cTn id="74" presetID="9" presetClass="entr" presetSubtype="0" fill="hold" nodeType="withEffect">
                                  <p:stCondLst>
                                    <p:cond delay="0"/>
                                  </p:stCondLst>
                                  <p:childTnLst>
                                    <p:set>
                                      <p:cBhvr>
                                        <p:cTn id="75" dur="1" fill="hold">
                                          <p:stCondLst>
                                            <p:cond delay="0"/>
                                          </p:stCondLst>
                                        </p:cTn>
                                        <p:tgtEl>
                                          <p:spTgt spid="2495538"/>
                                        </p:tgtEl>
                                        <p:attrNameLst>
                                          <p:attrName>style.visibility</p:attrName>
                                        </p:attrNameLst>
                                      </p:cBhvr>
                                      <p:to>
                                        <p:strVal val="visible"/>
                                      </p:to>
                                    </p:set>
                                    <p:animEffect transition="in" filter="dissolve">
                                      <p:cBhvr>
                                        <p:cTn id="76" dur="500"/>
                                        <p:tgtEl>
                                          <p:spTgt spid="2495538"/>
                                        </p:tgtEl>
                                      </p:cBhvr>
                                    </p:animEffect>
                                  </p:childTnLst>
                                </p:cTn>
                              </p:par>
                              <p:par>
                                <p:cTn id="77" presetID="9" presetClass="entr" presetSubtype="0" fill="hold" nodeType="withEffect">
                                  <p:stCondLst>
                                    <p:cond delay="0"/>
                                  </p:stCondLst>
                                  <p:childTnLst>
                                    <p:set>
                                      <p:cBhvr>
                                        <p:cTn id="78" dur="1" fill="hold">
                                          <p:stCondLst>
                                            <p:cond delay="0"/>
                                          </p:stCondLst>
                                        </p:cTn>
                                        <p:tgtEl>
                                          <p:spTgt spid="2495539"/>
                                        </p:tgtEl>
                                        <p:attrNameLst>
                                          <p:attrName>style.visibility</p:attrName>
                                        </p:attrNameLst>
                                      </p:cBhvr>
                                      <p:to>
                                        <p:strVal val="visible"/>
                                      </p:to>
                                    </p:set>
                                    <p:animEffect transition="in" filter="dissolve">
                                      <p:cBhvr>
                                        <p:cTn id="79" dur="500"/>
                                        <p:tgtEl>
                                          <p:spTgt spid="2495539"/>
                                        </p:tgtEl>
                                      </p:cBhvr>
                                    </p:animEffect>
                                  </p:childTnLst>
                                </p:cTn>
                              </p:par>
                              <p:par>
                                <p:cTn id="80" presetID="9" presetClass="entr" presetSubtype="0" fill="hold" nodeType="withEffect">
                                  <p:stCondLst>
                                    <p:cond delay="0"/>
                                  </p:stCondLst>
                                  <p:childTnLst>
                                    <p:set>
                                      <p:cBhvr>
                                        <p:cTn id="81" dur="1" fill="hold">
                                          <p:stCondLst>
                                            <p:cond delay="0"/>
                                          </p:stCondLst>
                                        </p:cTn>
                                        <p:tgtEl>
                                          <p:spTgt spid="2495540"/>
                                        </p:tgtEl>
                                        <p:attrNameLst>
                                          <p:attrName>style.visibility</p:attrName>
                                        </p:attrNameLst>
                                      </p:cBhvr>
                                      <p:to>
                                        <p:strVal val="visible"/>
                                      </p:to>
                                    </p:set>
                                    <p:animEffect transition="in" filter="dissolve">
                                      <p:cBhvr>
                                        <p:cTn id="82" dur="500"/>
                                        <p:tgtEl>
                                          <p:spTgt spid="2495540"/>
                                        </p:tgtEl>
                                      </p:cBhvr>
                                    </p:animEffect>
                                  </p:childTnLst>
                                </p:cTn>
                              </p:par>
                              <p:par>
                                <p:cTn id="83" presetID="9" presetClass="entr" presetSubtype="0" fill="hold" nodeType="withEffect">
                                  <p:stCondLst>
                                    <p:cond delay="0"/>
                                  </p:stCondLst>
                                  <p:childTnLst>
                                    <p:set>
                                      <p:cBhvr>
                                        <p:cTn id="84" dur="1" fill="hold">
                                          <p:stCondLst>
                                            <p:cond delay="0"/>
                                          </p:stCondLst>
                                        </p:cTn>
                                        <p:tgtEl>
                                          <p:spTgt spid="2495541"/>
                                        </p:tgtEl>
                                        <p:attrNameLst>
                                          <p:attrName>style.visibility</p:attrName>
                                        </p:attrNameLst>
                                      </p:cBhvr>
                                      <p:to>
                                        <p:strVal val="visible"/>
                                      </p:to>
                                    </p:set>
                                    <p:animEffect transition="in" filter="dissolve">
                                      <p:cBhvr>
                                        <p:cTn id="85" dur="500"/>
                                        <p:tgtEl>
                                          <p:spTgt spid="2495541"/>
                                        </p:tgtEl>
                                      </p:cBhvr>
                                    </p:animEffect>
                                  </p:childTnLst>
                                </p:cTn>
                              </p:par>
                              <p:par>
                                <p:cTn id="86" presetID="9" presetClass="entr" presetSubtype="0" fill="hold" nodeType="withEffect">
                                  <p:stCondLst>
                                    <p:cond delay="0"/>
                                  </p:stCondLst>
                                  <p:childTnLst>
                                    <p:set>
                                      <p:cBhvr>
                                        <p:cTn id="87" dur="1" fill="hold">
                                          <p:stCondLst>
                                            <p:cond delay="0"/>
                                          </p:stCondLst>
                                        </p:cTn>
                                        <p:tgtEl>
                                          <p:spTgt spid="2495542"/>
                                        </p:tgtEl>
                                        <p:attrNameLst>
                                          <p:attrName>style.visibility</p:attrName>
                                        </p:attrNameLst>
                                      </p:cBhvr>
                                      <p:to>
                                        <p:strVal val="visible"/>
                                      </p:to>
                                    </p:set>
                                    <p:animEffect transition="in" filter="dissolve">
                                      <p:cBhvr>
                                        <p:cTn id="88" dur="500"/>
                                        <p:tgtEl>
                                          <p:spTgt spid="2495542"/>
                                        </p:tgtEl>
                                      </p:cBhvr>
                                    </p:animEffect>
                                  </p:childTnLst>
                                </p:cTn>
                              </p:par>
                              <p:par>
                                <p:cTn id="89" presetID="9" presetClass="entr" presetSubtype="0" fill="hold" grpId="0" nodeType="withEffect">
                                  <p:stCondLst>
                                    <p:cond delay="0"/>
                                  </p:stCondLst>
                                  <p:childTnLst>
                                    <p:set>
                                      <p:cBhvr>
                                        <p:cTn id="90" dur="1" fill="hold">
                                          <p:stCondLst>
                                            <p:cond delay="0"/>
                                          </p:stCondLst>
                                        </p:cTn>
                                        <p:tgtEl>
                                          <p:spTgt spid="2495543"/>
                                        </p:tgtEl>
                                        <p:attrNameLst>
                                          <p:attrName>style.visibility</p:attrName>
                                        </p:attrNameLst>
                                      </p:cBhvr>
                                      <p:to>
                                        <p:strVal val="visible"/>
                                      </p:to>
                                    </p:set>
                                    <p:animEffect transition="in" filter="dissolve">
                                      <p:cBhvr>
                                        <p:cTn id="91" dur="500"/>
                                        <p:tgtEl>
                                          <p:spTgt spid="2495543"/>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2495544"/>
                                        </p:tgtEl>
                                        <p:attrNameLst>
                                          <p:attrName>style.visibility</p:attrName>
                                        </p:attrNameLst>
                                      </p:cBhvr>
                                      <p:to>
                                        <p:strVal val="visible"/>
                                      </p:to>
                                    </p:set>
                                    <p:animEffect transition="in" filter="dissolve">
                                      <p:cBhvr>
                                        <p:cTn id="94" dur="500"/>
                                        <p:tgtEl>
                                          <p:spTgt spid="2495544"/>
                                        </p:tgtEl>
                                      </p:cBhvr>
                                    </p:animEffect>
                                  </p:childTnLst>
                                </p:cTn>
                              </p:par>
                              <p:par>
                                <p:cTn id="95" presetID="9" presetClass="entr" presetSubtype="0" fill="hold" nodeType="withEffect">
                                  <p:stCondLst>
                                    <p:cond delay="0"/>
                                  </p:stCondLst>
                                  <p:childTnLst>
                                    <p:set>
                                      <p:cBhvr>
                                        <p:cTn id="96" dur="1" fill="hold">
                                          <p:stCondLst>
                                            <p:cond delay="0"/>
                                          </p:stCondLst>
                                        </p:cTn>
                                        <p:tgtEl>
                                          <p:spTgt spid="2495545"/>
                                        </p:tgtEl>
                                        <p:attrNameLst>
                                          <p:attrName>style.visibility</p:attrName>
                                        </p:attrNameLst>
                                      </p:cBhvr>
                                      <p:to>
                                        <p:strVal val="visible"/>
                                      </p:to>
                                    </p:set>
                                    <p:animEffect transition="in" filter="dissolve">
                                      <p:cBhvr>
                                        <p:cTn id="97" dur="500"/>
                                        <p:tgtEl>
                                          <p:spTgt spid="2495545"/>
                                        </p:tgtEl>
                                      </p:cBhvr>
                                    </p:animEffect>
                                  </p:childTnLst>
                                </p:cTn>
                              </p:par>
                              <p:par>
                                <p:cTn id="98" presetID="9" presetClass="entr" presetSubtype="0" fill="hold" nodeType="withEffect">
                                  <p:stCondLst>
                                    <p:cond delay="0"/>
                                  </p:stCondLst>
                                  <p:childTnLst>
                                    <p:set>
                                      <p:cBhvr>
                                        <p:cTn id="99" dur="1" fill="hold">
                                          <p:stCondLst>
                                            <p:cond delay="0"/>
                                          </p:stCondLst>
                                        </p:cTn>
                                        <p:tgtEl>
                                          <p:spTgt spid="2495546"/>
                                        </p:tgtEl>
                                        <p:attrNameLst>
                                          <p:attrName>style.visibility</p:attrName>
                                        </p:attrNameLst>
                                      </p:cBhvr>
                                      <p:to>
                                        <p:strVal val="visible"/>
                                      </p:to>
                                    </p:set>
                                    <p:animEffect transition="in" filter="dissolve">
                                      <p:cBhvr>
                                        <p:cTn id="100" dur="500"/>
                                        <p:tgtEl>
                                          <p:spTgt spid="2495546"/>
                                        </p:tgtEl>
                                      </p:cBhvr>
                                    </p:animEffect>
                                  </p:childTnLst>
                                </p:cTn>
                              </p:par>
                              <p:par>
                                <p:cTn id="101" presetID="9" presetClass="entr" presetSubtype="0" fill="hold" nodeType="withEffect">
                                  <p:stCondLst>
                                    <p:cond delay="0"/>
                                  </p:stCondLst>
                                  <p:childTnLst>
                                    <p:set>
                                      <p:cBhvr>
                                        <p:cTn id="102" dur="1" fill="hold">
                                          <p:stCondLst>
                                            <p:cond delay="0"/>
                                          </p:stCondLst>
                                        </p:cTn>
                                        <p:tgtEl>
                                          <p:spTgt spid="2495547"/>
                                        </p:tgtEl>
                                        <p:attrNameLst>
                                          <p:attrName>style.visibility</p:attrName>
                                        </p:attrNameLst>
                                      </p:cBhvr>
                                      <p:to>
                                        <p:strVal val="visible"/>
                                      </p:to>
                                    </p:set>
                                    <p:animEffect transition="in" filter="dissolve">
                                      <p:cBhvr>
                                        <p:cTn id="103" dur="500"/>
                                        <p:tgtEl>
                                          <p:spTgt spid="2495547"/>
                                        </p:tgtEl>
                                      </p:cBhvr>
                                    </p:animEffect>
                                  </p:childTnLst>
                                </p:cTn>
                              </p:par>
                              <p:par>
                                <p:cTn id="104" presetID="9" presetClass="entr" presetSubtype="0" fill="hold" nodeType="withEffect">
                                  <p:stCondLst>
                                    <p:cond delay="0"/>
                                  </p:stCondLst>
                                  <p:childTnLst>
                                    <p:set>
                                      <p:cBhvr>
                                        <p:cTn id="105" dur="1" fill="hold">
                                          <p:stCondLst>
                                            <p:cond delay="0"/>
                                          </p:stCondLst>
                                        </p:cTn>
                                        <p:tgtEl>
                                          <p:spTgt spid="2495548"/>
                                        </p:tgtEl>
                                        <p:attrNameLst>
                                          <p:attrName>style.visibility</p:attrName>
                                        </p:attrNameLst>
                                      </p:cBhvr>
                                      <p:to>
                                        <p:strVal val="visible"/>
                                      </p:to>
                                    </p:set>
                                    <p:animEffect transition="in" filter="dissolve">
                                      <p:cBhvr>
                                        <p:cTn id="106" dur="500"/>
                                        <p:tgtEl>
                                          <p:spTgt spid="2495548"/>
                                        </p:tgtEl>
                                      </p:cBhvr>
                                    </p:animEffect>
                                  </p:childTnLst>
                                </p:cTn>
                              </p:par>
                              <p:par>
                                <p:cTn id="107" presetID="9" presetClass="entr" presetSubtype="0" fill="hold" nodeType="withEffect">
                                  <p:stCondLst>
                                    <p:cond delay="0"/>
                                  </p:stCondLst>
                                  <p:childTnLst>
                                    <p:set>
                                      <p:cBhvr>
                                        <p:cTn id="108" dur="1" fill="hold">
                                          <p:stCondLst>
                                            <p:cond delay="0"/>
                                          </p:stCondLst>
                                        </p:cTn>
                                        <p:tgtEl>
                                          <p:spTgt spid="2495549"/>
                                        </p:tgtEl>
                                        <p:attrNameLst>
                                          <p:attrName>style.visibility</p:attrName>
                                        </p:attrNameLst>
                                      </p:cBhvr>
                                      <p:to>
                                        <p:strVal val="visible"/>
                                      </p:to>
                                    </p:set>
                                    <p:animEffect transition="in" filter="dissolve">
                                      <p:cBhvr>
                                        <p:cTn id="109" dur="500"/>
                                        <p:tgtEl>
                                          <p:spTgt spid="2495549"/>
                                        </p:tgtEl>
                                      </p:cBhvr>
                                    </p:animEffect>
                                  </p:childTnLst>
                                </p:cTn>
                              </p:par>
                              <p:par>
                                <p:cTn id="110" presetID="9" presetClass="entr" presetSubtype="0" fill="hold" nodeType="withEffect">
                                  <p:stCondLst>
                                    <p:cond delay="0"/>
                                  </p:stCondLst>
                                  <p:childTnLst>
                                    <p:set>
                                      <p:cBhvr>
                                        <p:cTn id="111" dur="1" fill="hold">
                                          <p:stCondLst>
                                            <p:cond delay="0"/>
                                          </p:stCondLst>
                                        </p:cTn>
                                        <p:tgtEl>
                                          <p:spTgt spid="2495550"/>
                                        </p:tgtEl>
                                        <p:attrNameLst>
                                          <p:attrName>style.visibility</p:attrName>
                                        </p:attrNameLst>
                                      </p:cBhvr>
                                      <p:to>
                                        <p:strVal val="visible"/>
                                      </p:to>
                                    </p:set>
                                    <p:animEffect transition="in" filter="dissolve">
                                      <p:cBhvr>
                                        <p:cTn id="112" dur="500"/>
                                        <p:tgtEl>
                                          <p:spTgt spid="2495550"/>
                                        </p:tgtEl>
                                      </p:cBhvr>
                                    </p:animEffect>
                                  </p:childTnLst>
                                </p:cTn>
                              </p:par>
                              <p:par>
                                <p:cTn id="113" presetID="9" presetClass="entr" presetSubtype="0" fill="hold" nodeType="withEffect">
                                  <p:stCondLst>
                                    <p:cond delay="0"/>
                                  </p:stCondLst>
                                  <p:childTnLst>
                                    <p:set>
                                      <p:cBhvr>
                                        <p:cTn id="114" dur="1" fill="hold">
                                          <p:stCondLst>
                                            <p:cond delay="0"/>
                                          </p:stCondLst>
                                        </p:cTn>
                                        <p:tgtEl>
                                          <p:spTgt spid="2495551"/>
                                        </p:tgtEl>
                                        <p:attrNameLst>
                                          <p:attrName>style.visibility</p:attrName>
                                        </p:attrNameLst>
                                      </p:cBhvr>
                                      <p:to>
                                        <p:strVal val="visible"/>
                                      </p:to>
                                    </p:set>
                                    <p:animEffect transition="in" filter="dissolve">
                                      <p:cBhvr>
                                        <p:cTn id="115" dur="500"/>
                                        <p:tgtEl>
                                          <p:spTgt spid="2495551"/>
                                        </p:tgtEl>
                                      </p:cBhvr>
                                    </p:animEffect>
                                  </p:childTnLst>
                                </p:cTn>
                              </p:par>
                              <p:par>
                                <p:cTn id="116" presetID="9" presetClass="entr" presetSubtype="0" fill="hold" nodeType="withEffect">
                                  <p:stCondLst>
                                    <p:cond delay="0"/>
                                  </p:stCondLst>
                                  <p:childTnLst>
                                    <p:set>
                                      <p:cBhvr>
                                        <p:cTn id="117" dur="1" fill="hold">
                                          <p:stCondLst>
                                            <p:cond delay="0"/>
                                          </p:stCondLst>
                                        </p:cTn>
                                        <p:tgtEl>
                                          <p:spTgt spid="2495552"/>
                                        </p:tgtEl>
                                        <p:attrNameLst>
                                          <p:attrName>style.visibility</p:attrName>
                                        </p:attrNameLst>
                                      </p:cBhvr>
                                      <p:to>
                                        <p:strVal val="visible"/>
                                      </p:to>
                                    </p:set>
                                    <p:animEffect transition="in" filter="dissolve">
                                      <p:cBhvr>
                                        <p:cTn id="118" dur="500"/>
                                        <p:tgtEl>
                                          <p:spTgt spid="2495552"/>
                                        </p:tgtEl>
                                      </p:cBhvr>
                                    </p:animEffect>
                                  </p:childTnLst>
                                </p:cTn>
                              </p:par>
                              <p:par>
                                <p:cTn id="119" presetID="9" presetClass="entr" presetSubtype="0" fill="hold" nodeType="withEffect">
                                  <p:stCondLst>
                                    <p:cond delay="0"/>
                                  </p:stCondLst>
                                  <p:childTnLst>
                                    <p:set>
                                      <p:cBhvr>
                                        <p:cTn id="120" dur="1" fill="hold">
                                          <p:stCondLst>
                                            <p:cond delay="0"/>
                                          </p:stCondLst>
                                        </p:cTn>
                                        <p:tgtEl>
                                          <p:spTgt spid="2495553"/>
                                        </p:tgtEl>
                                        <p:attrNameLst>
                                          <p:attrName>style.visibility</p:attrName>
                                        </p:attrNameLst>
                                      </p:cBhvr>
                                      <p:to>
                                        <p:strVal val="visible"/>
                                      </p:to>
                                    </p:set>
                                    <p:animEffect transition="in" filter="dissolve">
                                      <p:cBhvr>
                                        <p:cTn id="121" dur="500"/>
                                        <p:tgtEl>
                                          <p:spTgt spid="2495553"/>
                                        </p:tgtEl>
                                      </p:cBhvr>
                                    </p:animEffect>
                                  </p:childTnLst>
                                </p:cTn>
                              </p:par>
                              <p:par>
                                <p:cTn id="122" presetID="9" presetClass="entr" presetSubtype="0" fill="hold" nodeType="withEffect">
                                  <p:stCondLst>
                                    <p:cond delay="0"/>
                                  </p:stCondLst>
                                  <p:childTnLst>
                                    <p:set>
                                      <p:cBhvr>
                                        <p:cTn id="123" dur="1" fill="hold">
                                          <p:stCondLst>
                                            <p:cond delay="0"/>
                                          </p:stCondLst>
                                        </p:cTn>
                                        <p:tgtEl>
                                          <p:spTgt spid="2495554"/>
                                        </p:tgtEl>
                                        <p:attrNameLst>
                                          <p:attrName>style.visibility</p:attrName>
                                        </p:attrNameLst>
                                      </p:cBhvr>
                                      <p:to>
                                        <p:strVal val="visible"/>
                                      </p:to>
                                    </p:set>
                                    <p:animEffect transition="in" filter="dissolve">
                                      <p:cBhvr>
                                        <p:cTn id="124" dur="500"/>
                                        <p:tgtEl>
                                          <p:spTgt spid="2495554"/>
                                        </p:tgtEl>
                                      </p:cBhvr>
                                    </p:animEffect>
                                  </p:childTnLst>
                                </p:cTn>
                              </p:par>
                              <p:par>
                                <p:cTn id="125" presetID="9" presetClass="entr" presetSubtype="0" fill="hold" nodeType="withEffect">
                                  <p:stCondLst>
                                    <p:cond delay="0"/>
                                  </p:stCondLst>
                                  <p:childTnLst>
                                    <p:set>
                                      <p:cBhvr>
                                        <p:cTn id="126" dur="1" fill="hold">
                                          <p:stCondLst>
                                            <p:cond delay="0"/>
                                          </p:stCondLst>
                                        </p:cTn>
                                        <p:tgtEl>
                                          <p:spTgt spid="2495555"/>
                                        </p:tgtEl>
                                        <p:attrNameLst>
                                          <p:attrName>style.visibility</p:attrName>
                                        </p:attrNameLst>
                                      </p:cBhvr>
                                      <p:to>
                                        <p:strVal val="visible"/>
                                      </p:to>
                                    </p:set>
                                    <p:animEffect transition="in" filter="dissolve">
                                      <p:cBhvr>
                                        <p:cTn id="127" dur="500"/>
                                        <p:tgtEl>
                                          <p:spTgt spid="2495555"/>
                                        </p:tgtEl>
                                      </p:cBhvr>
                                    </p:animEffect>
                                  </p:childTnLst>
                                </p:cTn>
                              </p:par>
                              <p:par>
                                <p:cTn id="128" presetID="9" presetClass="entr" presetSubtype="0" fill="hold" nodeType="withEffect">
                                  <p:stCondLst>
                                    <p:cond delay="0"/>
                                  </p:stCondLst>
                                  <p:childTnLst>
                                    <p:set>
                                      <p:cBhvr>
                                        <p:cTn id="129" dur="1" fill="hold">
                                          <p:stCondLst>
                                            <p:cond delay="0"/>
                                          </p:stCondLst>
                                        </p:cTn>
                                        <p:tgtEl>
                                          <p:spTgt spid="2495556"/>
                                        </p:tgtEl>
                                        <p:attrNameLst>
                                          <p:attrName>style.visibility</p:attrName>
                                        </p:attrNameLst>
                                      </p:cBhvr>
                                      <p:to>
                                        <p:strVal val="visible"/>
                                      </p:to>
                                    </p:set>
                                    <p:animEffect transition="in" filter="dissolve">
                                      <p:cBhvr>
                                        <p:cTn id="130" dur="500"/>
                                        <p:tgtEl>
                                          <p:spTgt spid="2495556"/>
                                        </p:tgtEl>
                                      </p:cBhvr>
                                    </p:animEffect>
                                  </p:childTnLst>
                                </p:cTn>
                              </p:par>
                              <p:par>
                                <p:cTn id="131" presetID="9" presetClass="entr" presetSubtype="0" fill="hold" grpId="0" nodeType="withEffect">
                                  <p:stCondLst>
                                    <p:cond delay="0"/>
                                  </p:stCondLst>
                                  <p:childTnLst>
                                    <p:set>
                                      <p:cBhvr>
                                        <p:cTn id="132" dur="1" fill="hold">
                                          <p:stCondLst>
                                            <p:cond delay="0"/>
                                          </p:stCondLst>
                                        </p:cTn>
                                        <p:tgtEl>
                                          <p:spTgt spid="2495557"/>
                                        </p:tgtEl>
                                        <p:attrNameLst>
                                          <p:attrName>style.visibility</p:attrName>
                                        </p:attrNameLst>
                                      </p:cBhvr>
                                      <p:to>
                                        <p:strVal val="visible"/>
                                      </p:to>
                                    </p:set>
                                    <p:animEffect transition="in" filter="dissolve">
                                      <p:cBhvr>
                                        <p:cTn id="133" dur="500"/>
                                        <p:tgtEl>
                                          <p:spTgt spid="2495557"/>
                                        </p:tgtEl>
                                      </p:cBhvr>
                                    </p:animEffect>
                                  </p:childTnLst>
                                </p:cTn>
                              </p:par>
                              <p:par>
                                <p:cTn id="134" presetID="9" presetClass="entr" presetSubtype="0" fill="hold" grpId="0" nodeType="withEffect">
                                  <p:stCondLst>
                                    <p:cond delay="0"/>
                                  </p:stCondLst>
                                  <p:childTnLst>
                                    <p:set>
                                      <p:cBhvr>
                                        <p:cTn id="135" dur="1" fill="hold">
                                          <p:stCondLst>
                                            <p:cond delay="0"/>
                                          </p:stCondLst>
                                        </p:cTn>
                                        <p:tgtEl>
                                          <p:spTgt spid="2495558"/>
                                        </p:tgtEl>
                                        <p:attrNameLst>
                                          <p:attrName>style.visibility</p:attrName>
                                        </p:attrNameLst>
                                      </p:cBhvr>
                                      <p:to>
                                        <p:strVal val="visible"/>
                                      </p:to>
                                    </p:set>
                                    <p:animEffect transition="in" filter="dissolve">
                                      <p:cBhvr>
                                        <p:cTn id="136" dur="500"/>
                                        <p:tgtEl>
                                          <p:spTgt spid="2495558"/>
                                        </p:tgtEl>
                                      </p:cBhvr>
                                    </p:animEffect>
                                  </p:childTnLst>
                                </p:cTn>
                              </p:par>
                              <p:par>
                                <p:cTn id="137" presetID="9" presetClass="entr" presetSubtype="0" fill="hold" nodeType="withEffect">
                                  <p:stCondLst>
                                    <p:cond delay="0"/>
                                  </p:stCondLst>
                                  <p:childTnLst>
                                    <p:set>
                                      <p:cBhvr>
                                        <p:cTn id="138" dur="1" fill="hold">
                                          <p:stCondLst>
                                            <p:cond delay="0"/>
                                          </p:stCondLst>
                                        </p:cTn>
                                        <p:tgtEl>
                                          <p:spTgt spid="2495559"/>
                                        </p:tgtEl>
                                        <p:attrNameLst>
                                          <p:attrName>style.visibility</p:attrName>
                                        </p:attrNameLst>
                                      </p:cBhvr>
                                      <p:to>
                                        <p:strVal val="visible"/>
                                      </p:to>
                                    </p:set>
                                    <p:animEffect transition="in" filter="dissolve">
                                      <p:cBhvr>
                                        <p:cTn id="139" dur="500"/>
                                        <p:tgtEl>
                                          <p:spTgt spid="2495559"/>
                                        </p:tgtEl>
                                      </p:cBhvr>
                                    </p:animEffect>
                                  </p:childTnLst>
                                </p:cTn>
                              </p:par>
                              <p:par>
                                <p:cTn id="140" presetID="9" presetClass="entr" presetSubtype="0" fill="hold" nodeType="withEffect">
                                  <p:stCondLst>
                                    <p:cond delay="0"/>
                                  </p:stCondLst>
                                  <p:childTnLst>
                                    <p:set>
                                      <p:cBhvr>
                                        <p:cTn id="141" dur="1" fill="hold">
                                          <p:stCondLst>
                                            <p:cond delay="0"/>
                                          </p:stCondLst>
                                        </p:cTn>
                                        <p:tgtEl>
                                          <p:spTgt spid="2495560"/>
                                        </p:tgtEl>
                                        <p:attrNameLst>
                                          <p:attrName>style.visibility</p:attrName>
                                        </p:attrNameLst>
                                      </p:cBhvr>
                                      <p:to>
                                        <p:strVal val="visible"/>
                                      </p:to>
                                    </p:set>
                                    <p:animEffect transition="in" filter="dissolve">
                                      <p:cBhvr>
                                        <p:cTn id="142" dur="500"/>
                                        <p:tgtEl>
                                          <p:spTgt spid="2495560"/>
                                        </p:tgtEl>
                                      </p:cBhvr>
                                    </p:animEffect>
                                  </p:childTnLst>
                                </p:cTn>
                              </p:par>
                              <p:par>
                                <p:cTn id="143" presetID="9" presetClass="entr" presetSubtype="0" fill="hold" nodeType="withEffect">
                                  <p:stCondLst>
                                    <p:cond delay="0"/>
                                  </p:stCondLst>
                                  <p:childTnLst>
                                    <p:set>
                                      <p:cBhvr>
                                        <p:cTn id="144" dur="1" fill="hold">
                                          <p:stCondLst>
                                            <p:cond delay="0"/>
                                          </p:stCondLst>
                                        </p:cTn>
                                        <p:tgtEl>
                                          <p:spTgt spid="2495561"/>
                                        </p:tgtEl>
                                        <p:attrNameLst>
                                          <p:attrName>style.visibility</p:attrName>
                                        </p:attrNameLst>
                                      </p:cBhvr>
                                      <p:to>
                                        <p:strVal val="visible"/>
                                      </p:to>
                                    </p:set>
                                    <p:animEffect transition="in" filter="dissolve">
                                      <p:cBhvr>
                                        <p:cTn id="145" dur="500"/>
                                        <p:tgtEl>
                                          <p:spTgt spid="2495561"/>
                                        </p:tgtEl>
                                      </p:cBhvr>
                                    </p:animEffect>
                                  </p:childTnLst>
                                </p:cTn>
                              </p:par>
                              <p:par>
                                <p:cTn id="146" presetID="9" presetClass="entr" presetSubtype="0" fill="hold" nodeType="withEffect">
                                  <p:stCondLst>
                                    <p:cond delay="0"/>
                                  </p:stCondLst>
                                  <p:childTnLst>
                                    <p:set>
                                      <p:cBhvr>
                                        <p:cTn id="147" dur="1" fill="hold">
                                          <p:stCondLst>
                                            <p:cond delay="0"/>
                                          </p:stCondLst>
                                        </p:cTn>
                                        <p:tgtEl>
                                          <p:spTgt spid="2495562"/>
                                        </p:tgtEl>
                                        <p:attrNameLst>
                                          <p:attrName>style.visibility</p:attrName>
                                        </p:attrNameLst>
                                      </p:cBhvr>
                                      <p:to>
                                        <p:strVal val="visible"/>
                                      </p:to>
                                    </p:set>
                                    <p:animEffect transition="in" filter="dissolve">
                                      <p:cBhvr>
                                        <p:cTn id="148" dur="500"/>
                                        <p:tgtEl>
                                          <p:spTgt spid="2495562"/>
                                        </p:tgtEl>
                                      </p:cBhvr>
                                    </p:animEffect>
                                  </p:childTnLst>
                                </p:cTn>
                              </p:par>
                              <p:par>
                                <p:cTn id="149" presetID="9" presetClass="entr" presetSubtype="0" fill="hold" nodeType="withEffect">
                                  <p:stCondLst>
                                    <p:cond delay="0"/>
                                  </p:stCondLst>
                                  <p:childTnLst>
                                    <p:set>
                                      <p:cBhvr>
                                        <p:cTn id="150" dur="1" fill="hold">
                                          <p:stCondLst>
                                            <p:cond delay="0"/>
                                          </p:stCondLst>
                                        </p:cTn>
                                        <p:tgtEl>
                                          <p:spTgt spid="2495563"/>
                                        </p:tgtEl>
                                        <p:attrNameLst>
                                          <p:attrName>style.visibility</p:attrName>
                                        </p:attrNameLst>
                                      </p:cBhvr>
                                      <p:to>
                                        <p:strVal val="visible"/>
                                      </p:to>
                                    </p:set>
                                    <p:animEffect transition="in" filter="dissolve">
                                      <p:cBhvr>
                                        <p:cTn id="151" dur="500"/>
                                        <p:tgtEl>
                                          <p:spTgt spid="2495563"/>
                                        </p:tgtEl>
                                      </p:cBhvr>
                                    </p:animEffect>
                                  </p:childTnLst>
                                </p:cTn>
                              </p:par>
                              <p:par>
                                <p:cTn id="152" presetID="9" presetClass="entr" presetSubtype="0" fill="hold" nodeType="withEffect">
                                  <p:stCondLst>
                                    <p:cond delay="0"/>
                                  </p:stCondLst>
                                  <p:childTnLst>
                                    <p:set>
                                      <p:cBhvr>
                                        <p:cTn id="153" dur="1" fill="hold">
                                          <p:stCondLst>
                                            <p:cond delay="0"/>
                                          </p:stCondLst>
                                        </p:cTn>
                                        <p:tgtEl>
                                          <p:spTgt spid="2495564"/>
                                        </p:tgtEl>
                                        <p:attrNameLst>
                                          <p:attrName>style.visibility</p:attrName>
                                        </p:attrNameLst>
                                      </p:cBhvr>
                                      <p:to>
                                        <p:strVal val="visible"/>
                                      </p:to>
                                    </p:set>
                                    <p:animEffect transition="in" filter="dissolve">
                                      <p:cBhvr>
                                        <p:cTn id="154" dur="500"/>
                                        <p:tgtEl>
                                          <p:spTgt spid="2495564"/>
                                        </p:tgtEl>
                                      </p:cBhvr>
                                    </p:animEffect>
                                  </p:childTnLst>
                                </p:cTn>
                              </p:par>
                              <p:par>
                                <p:cTn id="155" presetID="9" presetClass="entr" presetSubtype="0" fill="hold" nodeType="withEffect">
                                  <p:stCondLst>
                                    <p:cond delay="0"/>
                                  </p:stCondLst>
                                  <p:childTnLst>
                                    <p:set>
                                      <p:cBhvr>
                                        <p:cTn id="156" dur="1" fill="hold">
                                          <p:stCondLst>
                                            <p:cond delay="0"/>
                                          </p:stCondLst>
                                        </p:cTn>
                                        <p:tgtEl>
                                          <p:spTgt spid="2495565"/>
                                        </p:tgtEl>
                                        <p:attrNameLst>
                                          <p:attrName>style.visibility</p:attrName>
                                        </p:attrNameLst>
                                      </p:cBhvr>
                                      <p:to>
                                        <p:strVal val="visible"/>
                                      </p:to>
                                    </p:set>
                                    <p:animEffect transition="in" filter="dissolve">
                                      <p:cBhvr>
                                        <p:cTn id="157" dur="500"/>
                                        <p:tgtEl>
                                          <p:spTgt spid="2495565"/>
                                        </p:tgtEl>
                                      </p:cBhvr>
                                    </p:animEffect>
                                  </p:childTnLst>
                                </p:cTn>
                              </p:par>
                              <p:par>
                                <p:cTn id="158" presetID="9" presetClass="entr" presetSubtype="0" fill="hold" nodeType="withEffect">
                                  <p:stCondLst>
                                    <p:cond delay="0"/>
                                  </p:stCondLst>
                                  <p:childTnLst>
                                    <p:set>
                                      <p:cBhvr>
                                        <p:cTn id="159" dur="1" fill="hold">
                                          <p:stCondLst>
                                            <p:cond delay="0"/>
                                          </p:stCondLst>
                                        </p:cTn>
                                        <p:tgtEl>
                                          <p:spTgt spid="2495566"/>
                                        </p:tgtEl>
                                        <p:attrNameLst>
                                          <p:attrName>style.visibility</p:attrName>
                                        </p:attrNameLst>
                                      </p:cBhvr>
                                      <p:to>
                                        <p:strVal val="visible"/>
                                      </p:to>
                                    </p:set>
                                    <p:animEffect transition="in" filter="dissolve">
                                      <p:cBhvr>
                                        <p:cTn id="160" dur="500"/>
                                        <p:tgtEl>
                                          <p:spTgt spid="2495566"/>
                                        </p:tgtEl>
                                      </p:cBhvr>
                                    </p:animEffect>
                                  </p:childTnLst>
                                </p:cTn>
                              </p:par>
                              <p:par>
                                <p:cTn id="161" presetID="9" presetClass="entr" presetSubtype="0" fill="hold" nodeType="withEffect">
                                  <p:stCondLst>
                                    <p:cond delay="0"/>
                                  </p:stCondLst>
                                  <p:childTnLst>
                                    <p:set>
                                      <p:cBhvr>
                                        <p:cTn id="162" dur="1" fill="hold">
                                          <p:stCondLst>
                                            <p:cond delay="0"/>
                                          </p:stCondLst>
                                        </p:cTn>
                                        <p:tgtEl>
                                          <p:spTgt spid="2495567"/>
                                        </p:tgtEl>
                                        <p:attrNameLst>
                                          <p:attrName>style.visibility</p:attrName>
                                        </p:attrNameLst>
                                      </p:cBhvr>
                                      <p:to>
                                        <p:strVal val="visible"/>
                                      </p:to>
                                    </p:set>
                                    <p:animEffect transition="in" filter="dissolve">
                                      <p:cBhvr>
                                        <p:cTn id="163" dur="500"/>
                                        <p:tgtEl>
                                          <p:spTgt spid="2495567"/>
                                        </p:tgtEl>
                                      </p:cBhvr>
                                    </p:animEffect>
                                  </p:childTnLst>
                                </p:cTn>
                              </p:par>
                              <p:par>
                                <p:cTn id="164" presetID="9" presetClass="entr" presetSubtype="0" fill="hold" nodeType="withEffect">
                                  <p:stCondLst>
                                    <p:cond delay="0"/>
                                  </p:stCondLst>
                                  <p:childTnLst>
                                    <p:set>
                                      <p:cBhvr>
                                        <p:cTn id="165" dur="1" fill="hold">
                                          <p:stCondLst>
                                            <p:cond delay="0"/>
                                          </p:stCondLst>
                                        </p:cTn>
                                        <p:tgtEl>
                                          <p:spTgt spid="2495568"/>
                                        </p:tgtEl>
                                        <p:attrNameLst>
                                          <p:attrName>style.visibility</p:attrName>
                                        </p:attrNameLst>
                                      </p:cBhvr>
                                      <p:to>
                                        <p:strVal val="visible"/>
                                      </p:to>
                                    </p:set>
                                    <p:animEffect transition="in" filter="dissolve">
                                      <p:cBhvr>
                                        <p:cTn id="166" dur="500"/>
                                        <p:tgtEl>
                                          <p:spTgt spid="2495568"/>
                                        </p:tgtEl>
                                      </p:cBhvr>
                                    </p:animEffect>
                                  </p:childTnLst>
                                </p:cTn>
                              </p:par>
                              <p:par>
                                <p:cTn id="167" presetID="9" presetClass="entr" presetSubtype="0" fill="hold" nodeType="withEffect">
                                  <p:stCondLst>
                                    <p:cond delay="0"/>
                                  </p:stCondLst>
                                  <p:childTnLst>
                                    <p:set>
                                      <p:cBhvr>
                                        <p:cTn id="168" dur="1" fill="hold">
                                          <p:stCondLst>
                                            <p:cond delay="0"/>
                                          </p:stCondLst>
                                        </p:cTn>
                                        <p:tgtEl>
                                          <p:spTgt spid="2495569"/>
                                        </p:tgtEl>
                                        <p:attrNameLst>
                                          <p:attrName>style.visibility</p:attrName>
                                        </p:attrNameLst>
                                      </p:cBhvr>
                                      <p:to>
                                        <p:strVal val="visible"/>
                                      </p:to>
                                    </p:set>
                                    <p:animEffect transition="in" filter="dissolve">
                                      <p:cBhvr>
                                        <p:cTn id="169" dur="500"/>
                                        <p:tgtEl>
                                          <p:spTgt spid="2495569"/>
                                        </p:tgtEl>
                                      </p:cBhvr>
                                    </p:animEffect>
                                  </p:childTnLst>
                                </p:cTn>
                              </p:par>
                              <p:par>
                                <p:cTn id="170" presetID="9" presetClass="entr" presetSubtype="0" fill="hold" nodeType="withEffect">
                                  <p:stCondLst>
                                    <p:cond delay="0"/>
                                  </p:stCondLst>
                                  <p:childTnLst>
                                    <p:set>
                                      <p:cBhvr>
                                        <p:cTn id="171" dur="1" fill="hold">
                                          <p:stCondLst>
                                            <p:cond delay="0"/>
                                          </p:stCondLst>
                                        </p:cTn>
                                        <p:tgtEl>
                                          <p:spTgt spid="2495570"/>
                                        </p:tgtEl>
                                        <p:attrNameLst>
                                          <p:attrName>style.visibility</p:attrName>
                                        </p:attrNameLst>
                                      </p:cBhvr>
                                      <p:to>
                                        <p:strVal val="visible"/>
                                      </p:to>
                                    </p:set>
                                    <p:animEffect transition="in" filter="dissolve">
                                      <p:cBhvr>
                                        <p:cTn id="172" dur="500"/>
                                        <p:tgtEl>
                                          <p:spTgt spid="2495570"/>
                                        </p:tgtEl>
                                      </p:cBhvr>
                                    </p:animEffect>
                                  </p:childTnLst>
                                </p:cTn>
                              </p:par>
                              <p:par>
                                <p:cTn id="173" presetID="9" presetClass="entr" presetSubtype="0" fill="hold" grpId="0" nodeType="withEffect">
                                  <p:stCondLst>
                                    <p:cond delay="0"/>
                                  </p:stCondLst>
                                  <p:childTnLst>
                                    <p:set>
                                      <p:cBhvr>
                                        <p:cTn id="174" dur="1" fill="hold">
                                          <p:stCondLst>
                                            <p:cond delay="0"/>
                                          </p:stCondLst>
                                        </p:cTn>
                                        <p:tgtEl>
                                          <p:spTgt spid="2495571"/>
                                        </p:tgtEl>
                                        <p:attrNameLst>
                                          <p:attrName>style.visibility</p:attrName>
                                        </p:attrNameLst>
                                      </p:cBhvr>
                                      <p:to>
                                        <p:strVal val="visible"/>
                                      </p:to>
                                    </p:set>
                                    <p:animEffect transition="in" filter="dissolve">
                                      <p:cBhvr>
                                        <p:cTn id="175" dur="500"/>
                                        <p:tgtEl>
                                          <p:spTgt spid="2495571"/>
                                        </p:tgtEl>
                                      </p:cBhvr>
                                    </p:animEffect>
                                  </p:childTnLst>
                                </p:cTn>
                              </p:par>
                              <p:par>
                                <p:cTn id="176" presetID="9" presetClass="entr" presetSubtype="0" fill="hold" grpId="0" nodeType="withEffect">
                                  <p:stCondLst>
                                    <p:cond delay="0"/>
                                  </p:stCondLst>
                                  <p:childTnLst>
                                    <p:set>
                                      <p:cBhvr>
                                        <p:cTn id="177" dur="1" fill="hold">
                                          <p:stCondLst>
                                            <p:cond delay="0"/>
                                          </p:stCondLst>
                                        </p:cTn>
                                        <p:tgtEl>
                                          <p:spTgt spid="2495572"/>
                                        </p:tgtEl>
                                        <p:attrNameLst>
                                          <p:attrName>style.visibility</p:attrName>
                                        </p:attrNameLst>
                                      </p:cBhvr>
                                      <p:to>
                                        <p:strVal val="visible"/>
                                      </p:to>
                                    </p:set>
                                    <p:animEffect transition="in" filter="dissolve">
                                      <p:cBhvr>
                                        <p:cTn id="178" dur="500"/>
                                        <p:tgtEl>
                                          <p:spTgt spid="2495572"/>
                                        </p:tgtEl>
                                      </p:cBhvr>
                                    </p:animEffect>
                                  </p:childTnLst>
                                </p:cTn>
                              </p:par>
                              <p:par>
                                <p:cTn id="179" presetID="9" presetClass="entr" presetSubtype="0" fill="hold" nodeType="withEffect">
                                  <p:stCondLst>
                                    <p:cond delay="0"/>
                                  </p:stCondLst>
                                  <p:childTnLst>
                                    <p:set>
                                      <p:cBhvr>
                                        <p:cTn id="180" dur="1" fill="hold">
                                          <p:stCondLst>
                                            <p:cond delay="0"/>
                                          </p:stCondLst>
                                        </p:cTn>
                                        <p:tgtEl>
                                          <p:spTgt spid="2495573"/>
                                        </p:tgtEl>
                                        <p:attrNameLst>
                                          <p:attrName>style.visibility</p:attrName>
                                        </p:attrNameLst>
                                      </p:cBhvr>
                                      <p:to>
                                        <p:strVal val="visible"/>
                                      </p:to>
                                    </p:set>
                                    <p:animEffect transition="in" filter="dissolve">
                                      <p:cBhvr>
                                        <p:cTn id="181" dur="500"/>
                                        <p:tgtEl>
                                          <p:spTgt spid="2495573"/>
                                        </p:tgtEl>
                                      </p:cBhvr>
                                    </p:animEffect>
                                  </p:childTnLst>
                                </p:cTn>
                              </p:par>
                              <p:par>
                                <p:cTn id="182" presetID="9" presetClass="entr" presetSubtype="0" fill="hold" nodeType="withEffect">
                                  <p:stCondLst>
                                    <p:cond delay="0"/>
                                  </p:stCondLst>
                                  <p:childTnLst>
                                    <p:set>
                                      <p:cBhvr>
                                        <p:cTn id="183" dur="1" fill="hold">
                                          <p:stCondLst>
                                            <p:cond delay="0"/>
                                          </p:stCondLst>
                                        </p:cTn>
                                        <p:tgtEl>
                                          <p:spTgt spid="2495574"/>
                                        </p:tgtEl>
                                        <p:attrNameLst>
                                          <p:attrName>style.visibility</p:attrName>
                                        </p:attrNameLst>
                                      </p:cBhvr>
                                      <p:to>
                                        <p:strVal val="visible"/>
                                      </p:to>
                                    </p:set>
                                    <p:animEffect transition="in" filter="dissolve">
                                      <p:cBhvr>
                                        <p:cTn id="184" dur="500"/>
                                        <p:tgtEl>
                                          <p:spTgt spid="2495574"/>
                                        </p:tgtEl>
                                      </p:cBhvr>
                                    </p:animEffect>
                                  </p:childTnLst>
                                </p:cTn>
                              </p:par>
                              <p:par>
                                <p:cTn id="185" presetID="9" presetClass="entr" presetSubtype="0" fill="hold" nodeType="withEffect">
                                  <p:stCondLst>
                                    <p:cond delay="0"/>
                                  </p:stCondLst>
                                  <p:childTnLst>
                                    <p:set>
                                      <p:cBhvr>
                                        <p:cTn id="186" dur="1" fill="hold">
                                          <p:stCondLst>
                                            <p:cond delay="0"/>
                                          </p:stCondLst>
                                        </p:cTn>
                                        <p:tgtEl>
                                          <p:spTgt spid="2495575"/>
                                        </p:tgtEl>
                                        <p:attrNameLst>
                                          <p:attrName>style.visibility</p:attrName>
                                        </p:attrNameLst>
                                      </p:cBhvr>
                                      <p:to>
                                        <p:strVal val="visible"/>
                                      </p:to>
                                    </p:set>
                                    <p:animEffect transition="in" filter="dissolve">
                                      <p:cBhvr>
                                        <p:cTn id="187" dur="500"/>
                                        <p:tgtEl>
                                          <p:spTgt spid="2495575"/>
                                        </p:tgtEl>
                                      </p:cBhvr>
                                    </p:animEffect>
                                  </p:childTnLst>
                                </p:cTn>
                              </p:par>
                              <p:par>
                                <p:cTn id="188" presetID="9" presetClass="entr" presetSubtype="0" fill="hold" nodeType="withEffect">
                                  <p:stCondLst>
                                    <p:cond delay="0"/>
                                  </p:stCondLst>
                                  <p:childTnLst>
                                    <p:set>
                                      <p:cBhvr>
                                        <p:cTn id="189" dur="1" fill="hold">
                                          <p:stCondLst>
                                            <p:cond delay="0"/>
                                          </p:stCondLst>
                                        </p:cTn>
                                        <p:tgtEl>
                                          <p:spTgt spid="2495576"/>
                                        </p:tgtEl>
                                        <p:attrNameLst>
                                          <p:attrName>style.visibility</p:attrName>
                                        </p:attrNameLst>
                                      </p:cBhvr>
                                      <p:to>
                                        <p:strVal val="visible"/>
                                      </p:to>
                                    </p:set>
                                    <p:animEffect transition="in" filter="dissolve">
                                      <p:cBhvr>
                                        <p:cTn id="190" dur="500"/>
                                        <p:tgtEl>
                                          <p:spTgt spid="2495576"/>
                                        </p:tgtEl>
                                      </p:cBhvr>
                                    </p:animEffect>
                                  </p:childTnLst>
                                </p:cTn>
                              </p:par>
                              <p:par>
                                <p:cTn id="191" presetID="9" presetClass="entr" presetSubtype="0" fill="hold" grpId="0" nodeType="withEffect">
                                  <p:stCondLst>
                                    <p:cond delay="0"/>
                                  </p:stCondLst>
                                  <p:childTnLst>
                                    <p:set>
                                      <p:cBhvr>
                                        <p:cTn id="192" dur="1" fill="hold">
                                          <p:stCondLst>
                                            <p:cond delay="0"/>
                                          </p:stCondLst>
                                        </p:cTn>
                                        <p:tgtEl>
                                          <p:spTgt spid="2495577"/>
                                        </p:tgtEl>
                                        <p:attrNameLst>
                                          <p:attrName>style.visibility</p:attrName>
                                        </p:attrNameLst>
                                      </p:cBhvr>
                                      <p:to>
                                        <p:strVal val="visible"/>
                                      </p:to>
                                    </p:set>
                                    <p:animEffect transition="in" filter="dissolve">
                                      <p:cBhvr>
                                        <p:cTn id="193" dur="500"/>
                                        <p:tgtEl>
                                          <p:spTgt spid="2495577"/>
                                        </p:tgtEl>
                                      </p:cBhvr>
                                    </p:animEffect>
                                  </p:childTnLst>
                                </p:cTn>
                              </p:par>
                              <p:par>
                                <p:cTn id="194" presetID="9" presetClass="entr" presetSubtype="0" fill="hold" grpId="0" nodeType="withEffect">
                                  <p:stCondLst>
                                    <p:cond delay="0"/>
                                  </p:stCondLst>
                                  <p:childTnLst>
                                    <p:set>
                                      <p:cBhvr>
                                        <p:cTn id="195" dur="1" fill="hold">
                                          <p:stCondLst>
                                            <p:cond delay="0"/>
                                          </p:stCondLst>
                                        </p:cTn>
                                        <p:tgtEl>
                                          <p:spTgt spid="2495578"/>
                                        </p:tgtEl>
                                        <p:attrNameLst>
                                          <p:attrName>style.visibility</p:attrName>
                                        </p:attrNameLst>
                                      </p:cBhvr>
                                      <p:to>
                                        <p:strVal val="visible"/>
                                      </p:to>
                                    </p:set>
                                    <p:animEffect transition="in" filter="dissolve">
                                      <p:cBhvr>
                                        <p:cTn id="196" dur="500"/>
                                        <p:tgtEl>
                                          <p:spTgt spid="2495578"/>
                                        </p:tgtEl>
                                      </p:cBhvr>
                                    </p:animEffect>
                                  </p:childTnLst>
                                </p:cTn>
                              </p:par>
                              <p:par>
                                <p:cTn id="197" presetID="9" presetClass="entr" presetSubtype="0" fill="hold" grpId="0" nodeType="withEffect">
                                  <p:stCondLst>
                                    <p:cond delay="0"/>
                                  </p:stCondLst>
                                  <p:childTnLst>
                                    <p:set>
                                      <p:cBhvr>
                                        <p:cTn id="198" dur="1" fill="hold">
                                          <p:stCondLst>
                                            <p:cond delay="0"/>
                                          </p:stCondLst>
                                        </p:cTn>
                                        <p:tgtEl>
                                          <p:spTgt spid="2495579"/>
                                        </p:tgtEl>
                                        <p:attrNameLst>
                                          <p:attrName>style.visibility</p:attrName>
                                        </p:attrNameLst>
                                      </p:cBhvr>
                                      <p:to>
                                        <p:strVal val="visible"/>
                                      </p:to>
                                    </p:set>
                                    <p:animEffect transition="in" filter="dissolve">
                                      <p:cBhvr>
                                        <p:cTn id="199" dur="500"/>
                                        <p:tgtEl>
                                          <p:spTgt spid="2495579"/>
                                        </p:tgtEl>
                                      </p:cBhvr>
                                    </p:animEffect>
                                  </p:childTnLst>
                                </p:cTn>
                              </p:par>
                              <p:par>
                                <p:cTn id="200" presetID="9" presetClass="entr" presetSubtype="0" fill="hold" grpId="0" nodeType="withEffect">
                                  <p:stCondLst>
                                    <p:cond delay="0"/>
                                  </p:stCondLst>
                                  <p:childTnLst>
                                    <p:set>
                                      <p:cBhvr>
                                        <p:cTn id="201" dur="1" fill="hold">
                                          <p:stCondLst>
                                            <p:cond delay="0"/>
                                          </p:stCondLst>
                                        </p:cTn>
                                        <p:tgtEl>
                                          <p:spTgt spid="2495580"/>
                                        </p:tgtEl>
                                        <p:attrNameLst>
                                          <p:attrName>style.visibility</p:attrName>
                                        </p:attrNameLst>
                                      </p:cBhvr>
                                      <p:to>
                                        <p:strVal val="visible"/>
                                      </p:to>
                                    </p:set>
                                    <p:animEffect transition="in" filter="dissolve">
                                      <p:cBhvr>
                                        <p:cTn id="202" dur="500"/>
                                        <p:tgtEl>
                                          <p:spTgt spid="2495580"/>
                                        </p:tgtEl>
                                      </p:cBhvr>
                                    </p:animEffect>
                                  </p:childTnLst>
                                </p:cTn>
                              </p:par>
                              <p:par>
                                <p:cTn id="203" presetID="9" presetClass="entr" presetSubtype="0" fill="hold" nodeType="withEffect">
                                  <p:stCondLst>
                                    <p:cond delay="0"/>
                                  </p:stCondLst>
                                  <p:childTnLst>
                                    <p:set>
                                      <p:cBhvr>
                                        <p:cTn id="204" dur="1" fill="hold">
                                          <p:stCondLst>
                                            <p:cond delay="0"/>
                                          </p:stCondLst>
                                        </p:cTn>
                                        <p:tgtEl>
                                          <p:spTgt spid="2495581"/>
                                        </p:tgtEl>
                                        <p:attrNameLst>
                                          <p:attrName>style.visibility</p:attrName>
                                        </p:attrNameLst>
                                      </p:cBhvr>
                                      <p:to>
                                        <p:strVal val="visible"/>
                                      </p:to>
                                    </p:set>
                                    <p:animEffect transition="in" filter="dissolve">
                                      <p:cBhvr>
                                        <p:cTn id="205" dur="500"/>
                                        <p:tgtEl>
                                          <p:spTgt spid="2495581"/>
                                        </p:tgtEl>
                                      </p:cBhvr>
                                    </p:animEffect>
                                  </p:childTnLst>
                                </p:cTn>
                              </p:par>
                              <p:par>
                                <p:cTn id="206" presetID="9" presetClass="entr" presetSubtype="0" fill="hold" grpId="0" nodeType="withEffect">
                                  <p:stCondLst>
                                    <p:cond delay="0"/>
                                  </p:stCondLst>
                                  <p:childTnLst>
                                    <p:set>
                                      <p:cBhvr>
                                        <p:cTn id="207" dur="1" fill="hold">
                                          <p:stCondLst>
                                            <p:cond delay="0"/>
                                          </p:stCondLst>
                                        </p:cTn>
                                        <p:tgtEl>
                                          <p:spTgt spid="2495582"/>
                                        </p:tgtEl>
                                        <p:attrNameLst>
                                          <p:attrName>style.visibility</p:attrName>
                                        </p:attrNameLst>
                                      </p:cBhvr>
                                      <p:to>
                                        <p:strVal val="visible"/>
                                      </p:to>
                                    </p:set>
                                    <p:animEffect transition="in" filter="dissolve">
                                      <p:cBhvr>
                                        <p:cTn id="208" dur="500"/>
                                        <p:tgtEl>
                                          <p:spTgt spid="2495582"/>
                                        </p:tgtEl>
                                      </p:cBhvr>
                                    </p:animEffect>
                                  </p:childTnLst>
                                </p:cTn>
                              </p:par>
                              <p:par>
                                <p:cTn id="209" presetID="9" presetClass="entr" presetSubtype="0" fill="hold" nodeType="withEffect">
                                  <p:stCondLst>
                                    <p:cond delay="0"/>
                                  </p:stCondLst>
                                  <p:childTnLst>
                                    <p:set>
                                      <p:cBhvr>
                                        <p:cTn id="210" dur="1" fill="hold">
                                          <p:stCondLst>
                                            <p:cond delay="0"/>
                                          </p:stCondLst>
                                        </p:cTn>
                                        <p:tgtEl>
                                          <p:spTgt spid="2495583"/>
                                        </p:tgtEl>
                                        <p:attrNameLst>
                                          <p:attrName>style.visibility</p:attrName>
                                        </p:attrNameLst>
                                      </p:cBhvr>
                                      <p:to>
                                        <p:strVal val="visible"/>
                                      </p:to>
                                    </p:set>
                                    <p:animEffect transition="in" filter="dissolve">
                                      <p:cBhvr>
                                        <p:cTn id="211" dur="500"/>
                                        <p:tgtEl>
                                          <p:spTgt spid="2495583"/>
                                        </p:tgtEl>
                                      </p:cBhvr>
                                    </p:animEffect>
                                  </p:childTnLst>
                                </p:cTn>
                              </p:par>
                              <p:par>
                                <p:cTn id="212" presetID="9" presetClass="entr" presetSubtype="0" fill="hold" nodeType="withEffect">
                                  <p:stCondLst>
                                    <p:cond delay="0"/>
                                  </p:stCondLst>
                                  <p:childTnLst>
                                    <p:set>
                                      <p:cBhvr>
                                        <p:cTn id="213" dur="1" fill="hold">
                                          <p:stCondLst>
                                            <p:cond delay="0"/>
                                          </p:stCondLst>
                                        </p:cTn>
                                        <p:tgtEl>
                                          <p:spTgt spid="2495584"/>
                                        </p:tgtEl>
                                        <p:attrNameLst>
                                          <p:attrName>style.visibility</p:attrName>
                                        </p:attrNameLst>
                                      </p:cBhvr>
                                      <p:to>
                                        <p:strVal val="visible"/>
                                      </p:to>
                                    </p:set>
                                    <p:animEffect transition="in" filter="dissolve">
                                      <p:cBhvr>
                                        <p:cTn id="214" dur="500"/>
                                        <p:tgtEl>
                                          <p:spTgt spid="2495584"/>
                                        </p:tgtEl>
                                      </p:cBhvr>
                                    </p:animEffect>
                                  </p:childTnLst>
                                </p:cTn>
                              </p:par>
                              <p:par>
                                <p:cTn id="215" presetID="9" presetClass="entr" presetSubtype="0" fill="hold" nodeType="withEffect">
                                  <p:stCondLst>
                                    <p:cond delay="0"/>
                                  </p:stCondLst>
                                  <p:childTnLst>
                                    <p:set>
                                      <p:cBhvr>
                                        <p:cTn id="216" dur="1" fill="hold">
                                          <p:stCondLst>
                                            <p:cond delay="0"/>
                                          </p:stCondLst>
                                        </p:cTn>
                                        <p:tgtEl>
                                          <p:spTgt spid="2495585"/>
                                        </p:tgtEl>
                                        <p:attrNameLst>
                                          <p:attrName>style.visibility</p:attrName>
                                        </p:attrNameLst>
                                      </p:cBhvr>
                                      <p:to>
                                        <p:strVal val="visible"/>
                                      </p:to>
                                    </p:set>
                                    <p:animEffect transition="in" filter="dissolve">
                                      <p:cBhvr>
                                        <p:cTn id="217" dur="500"/>
                                        <p:tgtEl>
                                          <p:spTgt spid="2495585"/>
                                        </p:tgtEl>
                                      </p:cBhvr>
                                    </p:animEffect>
                                  </p:childTnLst>
                                </p:cTn>
                              </p:par>
                              <p:par>
                                <p:cTn id="218" presetID="9" presetClass="entr" presetSubtype="0" fill="hold" nodeType="withEffect">
                                  <p:stCondLst>
                                    <p:cond delay="0"/>
                                  </p:stCondLst>
                                  <p:childTnLst>
                                    <p:set>
                                      <p:cBhvr>
                                        <p:cTn id="219" dur="1" fill="hold">
                                          <p:stCondLst>
                                            <p:cond delay="0"/>
                                          </p:stCondLst>
                                        </p:cTn>
                                        <p:tgtEl>
                                          <p:spTgt spid="2495586"/>
                                        </p:tgtEl>
                                        <p:attrNameLst>
                                          <p:attrName>style.visibility</p:attrName>
                                        </p:attrNameLst>
                                      </p:cBhvr>
                                      <p:to>
                                        <p:strVal val="visible"/>
                                      </p:to>
                                    </p:set>
                                    <p:animEffect transition="in" filter="dissolve">
                                      <p:cBhvr>
                                        <p:cTn id="220" dur="500"/>
                                        <p:tgtEl>
                                          <p:spTgt spid="2495586"/>
                                        </p:tgtEl>
                                      </p:cBhvr>
                                    </p:animEffect>
                                  </p:childTnLst>
                                </p:cTn>
                              </p:par>
                              <p:par>
                                <p:cTn id="221" presetID="9" presetClass="entr" presetSubtype="0" fill="hold" nodeType="withEffect">
                                  <p:stCondLst>
                                    <p:cond delay="0"/>
                                  </p:stCondLst>
                                  <p:childTnLst>
                                    <p:set>
                                      <p:cBhvr>
                                        <p:cTn id="222" dur="1" fill="hold">
                                          <p:stCondLst>
                                            <p:cond delay="0"/>
                                          </p:stCondLst>
                                        </p:cTn>
                                        <p:tgtEl>
                                          <p:spTgt spid="2495587"/>
                                        </p:tgtEl>
                                        <p:attrNameLst>
                                          <p:attrName>style.visibility</p:attrName>
                                        </p:attrNameLst>
                                      </p:cBhvr>
                                      <p:to>
                                        <p:strVal val="visible"/>
                                      </p:to>
                                    </p:set>
                                    <p:animEffect transition="in" filter="dissolve">
                                      <p:cBhvr>
                                        <p:cTn id="223" dur="500"/>
                                        <p:tgtEl>
                                          <p:spTgt spid="2495587"/>
                                        </p:tgtEl>
                                      </p:cBhvr>
                                    </p:animEffect>
                                  </p:childTnLst>
                                </p:cTn>
                              </p:par>
                              <p:par>
                                <p:cTn id="224" presetID="9" presetClass="entr" presetSubtype="0" fill="hold" nodeType="withEffect">
                                  <p:stCondLst>
                                    <p:cond delay="0"/>
                                  </p:stCondLst>
                                  <p:childTnLst>
                                    <p:set>
                                      <p:cBhvr>
                                        <p:cTn id="225" dur="1" fill="hold">
                                          <p:stCondLst>
                                            <p:cond delay="0"/>
                                          </p:stCondLst>
                                        </p:cTn>
                                        <p:tgtEl>
                                          <p:spTgt spid="2495588"/>
                                        </p:tgtEl>
                                        <p:attrNameLst>
                                          <p:attrName>style.visibility</p:attrName>
                                        </p:attrNameLst>
                                      </p:cBhvr>
                                      <p:to>
                                        <p:strVal val="visible"/>
                                      </p:to>
                                    </p:set>
                                    <p:animEffect transition="in" filter="dissolve">
                                      <p:cBhvr>
                                        <p:cTn id="226" dur="500"/>
                                        <p:tgtEl>
                                          <p:spTgt spid="2495588"/>
                                        </p:tgtEl>
                                      </p:cBhvr>
                                    </p:animEffect>
                                  </p:childTnLst>
                                </p:cTn>
                              </p:par>
                              <p:par>
                                <p:cTn id="227" presetID="9" presetClass="entr" presetSubtype="0" fill="hold" nodeType="withEffect">
                                  <p:stCondLst>
                                    <p:cond delay="0"/>
                                  </p:stCondLst>
                                  <p:childTnLst>
                                    <p:set>
                                      <p:cBhvr>
                                        <p:cTn id="228" dur="1" fill="hold">
                                          <p:stCondLst>
                                            <p:cond delay="0"/>
                                          </p:stCondLst>
                                        </p:cTn>
                                        <p:tgtEl>
                                          <p:spTgt spid="2495589"/>
                                        </p:tgtEl>
                                        <p:attrNameLst>
                                          <p:attrName>style.visibility</p:attrName>
                                        </p:attrNameLst>
                                      </p:cBhvr>
                                      <p:to>
                                        <p:strVal val="visible"/>
                                      </p:to>
                                    </p:set>
                                    <p:animEffect transition="in" filter="dissolve">
                                      <p:cBhvr>
                                        <p:cTn id="229" dur="500"/>
                                        <p:tgtEl>
                                          <p:spTgt spid="2495589"/>
                                        </p:tgtEl>
                                      </p:cBhvr>
                                    </p:animEffect>
                                  </p:childTnLst>
                                </p:cTn>
                              </p:par>
                              <p:par>
                                <p:cTn id="230" presetID="9" presetClass="entr" presetSubtype="0" fill="hold" nodeType="withEffect">
                                  <p:stCondLst>
                                    <p:cond delay="0"/>
                                  </p:stCondLst>
                                  <p:childTnLst>
                                    <p:set>
                                      <p:cBhvr>
                                        <p:cTn id="231" dur="1" fill="hold">
                                          <p:stCondLst>
                                            <p:cond delay="0"/>
                                          </p:stCondLst>
                                        </p:cTn>
                                        <p:tgtEl>
                                          <p:spTgt spid="2495590"/>
                                        </p:tgtEl>
                                        <p:attrNameLst>
                                          <p:attrName>style.visibility</p:attrName>
                                        </p:attrNameLst>
                                      </p:cBhvr>
                                      <p:to>
                                        <p:strVal val="visible"/>
                                      </p:to>
                                    </p:set>
                                    <p:animEffect transition="in" filter="dissolve">
                                      <p:cBhvr>
                                        <p:cTn id="232" dur="500"/>
                                        <p:tgtEl>
                                          <p:spTgt spid="2495590"/>
                                        </p:tgtEl>
                                      </p:cBhvr>
                                    </p:animEffect>
                                  </p:childTnLst>
                                </p:cTn>
                              </p:par>
                              <p:par>
                                <p:cTn id="233" presetID="9" presetClass="entr" presetSubtype="0" fill="hold" nodeType="withEffect">
                                  <p:stCondLst>
                                    <p:cond delay="0"/>
                                  </p:stCondLst>
                                  <p:childTnLst>
                                    <p:set>
                                      <p:cBhvr>
                                        <p:cTn id="234" dur="1" fill="hold">
                                          <p:stCondLst>
                                            <p:cond delay="0"/>
                                          </p:stCondLst>
                                        </p:cTn>
                                        <p:tgtEl>
                                          <p:spTgt spid="2495591"/>
                                        </p:tgtEl>
                                        <p:attrNameLst>
                                          <p:attrName>style.visibility</p:attrName>
                                        </p:attrNameLst>
                                      </p:cBhvr>
                                      <p:to>
                                        <p:strVal val="visible"/>
                                      </p:to>
                                    </p:set>
                                    <p:animEffect transition="in" filter="dissolve">
                                      <p:cBhvr>
                                        <p:cTn id="235" dur="500"/>
                                        <p:tgtEl>
                                          <p:spTgt spid="2495591"/>
                                        </p:tgtEl>
                                      </p:cBhvr>
                                    </p:animEffect>
                                  </p:childTnLst>
                                </p:cTn>
                              </p:par>
                              <p:par>
                                <p:cTn id="236" presetID="9" presetClass="entr" presetSubtype="0" fill="hold" grpId="0" nodeType="withEffect">
                                  <p:stCondLst>
                                    <p:cond delay="0"/>
                                  </p:stCondLst>
                                  <p:childTnLst>
                                    <p:set>
                                      <p:cBhvr>
                                        <p:cTn id="237" dur="1" fill="hold">
                                          <p:stCondLst>
                                            <p:cond delay="0"/>
                                          </p:stCondLst>
                                        </p:cTn>
                                        <p:tgtEl>
                                          <p:spTgt spid="2495592"/>
                                        </p:tgtEl>
                                        <p:attrNameLst>
                                          <p:attrName>style.visibility</p:attrName>
                                        </p:attrNameLst>
                                      </p:cBhvr>
                                      <p:to>
                                        <p:strVal val="visible"/>
                                      </p:to>
                                    </p:set>
                                    <p:animEffect transition="in" filter="dissolve">
                                      <p:cBhvr>
                                        <p:cTn id="238" dur="500"/>
                                        <p:tgtEl>
                                          <p:spTgt spid="2495592"/>
                                        </p:tgtEl>
                                      </p:cBhvr>
                                    </p:animEffect>
                                  </p:childTnLst>
                                </p:cTn>
                              </p:par>
                              <p:par>
                                <p:cTn id="239" presetID="9" presetClass="entr" presetSubtype="0" fill="hold" grpId="0" nodeType="withEffect">
                                  <p:stCondLst>
                                    <p:cond delay="0"/>
                                  </p:stCondLst>
                                  <p:childTnLst>
                                    <p:set>
                                      <p:cBhvr>
                                        <p:cTn id="240" dur="1" fill="hold">
                                          <p:stCondLst>
                                            <p:cond delay="0"/>
                                          </p:stCondLst>
                                        </p:cTn>
                                        <p:tgtEl>
                                          <p:spTgt spid="2495593"/>
                                        </p:tgtEl>
                                        <p:attrNameLst>
                                          <p:attrName>style.visibility</p:attrName>
                                        </p:attrNameLst>
                                      </p:cBhvr>
                                      <p:to>
                                        <p:strVal val="visible"/>
                                      </p:to>
                                    </p:set>
                                    <p:animEffect transition="in" filter="dissolve">
                                      <p:cBhvr>
                                        <p:cTn id="241" dur="500"/>
                                        <p:tgtEl>
                                          <p:spTgt spid="2495593"/>
                                        </p:tgtEl>
                                      </p:cBhvr>
                                    </p:animEffect>
                                  </p:childTnLst>
                                </p:cTn>
                              </p:par>
                              <p:par>
                                <p:cTn id="242" presetID="9" presetClass="entr" presetSubtype="0" fill="hold" nodeType="withEffect">
                                  <p:stCondLst>
                                    <p:cond delay="0"/>
                                  </p:stCondLst>
                                  <p:childTnLst>
                                    <p:set>
                                      <p:cBhvr>
                                        <p:cTn id="243" dur="1" fill="hold">
                                          <p:stCondLst>
                                            <p:cond delay="0"/>
                                          </p:stCondLst>
                                        </p:cTn>
                                        <p:tgtEl>
                                          <p:spTgt spid="2495594"/>
                                        </p:tgtEl>
                                        <p:attrNameLst>
                                          <p:attrName>style.visibility</p:attrName>
                                        </p:attrNameLst>
                                      </p:cBhvr>
                                      <p:to>
                                        <p:strVal val="visible"/>
                                      </p:to>
                                    </p:set>
                                    <p:animEffect transition="in" filter="dissolve">
                                      <p:cBhvr>
                                        <p:cTn id="244" dur="500"/>
                                        <p:tgtEl>
                                          <p:spTgt spid="2495594"/>
                                        </p:tgtEl>
                                      </p:cBhvr>
                                    </p:animEffect>
                                  </p:childTnLst>
                                </p:cTn>
                              </p:par>
                              <p:par>
                                <p:cTn id="245" presetID="9" presetClass="entr" presetSubtype="0" fill="hold" grpId="0" nodeType="withEffect">
                                  <p:stCondLst>
                                    <p:cond delay="0"/>
                                  </p:stCondLst>
                                  <p:childTnLst>
                                    <p:set>
                                      <p:cBhvr>
                                        <p:cTn id="246" dur="1" fill="hold">
                                          <p:stCondLst>
                                            <p:cond delay="0"/>
                                          </p:stCondLst>
                                        </p:cTn>
                                        <p:tgtEl>
                                          <p:spTgt spid="2495595"/>
                                        </p:tgtEl>
                                        <p:attrNameLst>
                                          <p:attrName>style.visibility</p:attrName>
                                        </p:attrNameLst>
                                      </p:cBhvr>
                                      <p:to>
                                        <p:strVal val="visible"/>
                                      </p:to>
                                    </p:set>
                                    <p:animEffect transition="in" filter="dissolve">
                                      <p:cBhvr>
                                        <p:cTn id="247" dur="500"/>
                                        <p:tgtEl>
                                          <p:spTgt spid="2495595"/>
                                        </p:tgtEl>
                                      </p:cBhvr>
                                    </p:animEffect>
                                  </p:childTnLst>
                                </p:cTn>
                              </p:par>
                              <p:par>
                                <p:cTn id="248" presetID="9" presetClass="entr" presetSubtype="0" fill="hold" grpId="0" nodeType="withEffect">
                                  <p:stCondLst>
                                    <p:cond delay="0"/>
                                  </p:stCondLst>
                                  <p:childTnLst>
                                    <p:set>
                                      <p:cBhvr>
                                        <p:cTn id="249" dur="1" fill="hold">
                                          <p:stCondLst>
                                            <p:cond delay="0"/>
                                          </p:stCondLst>
                                        </p:cTn>
                                        <p:tgtEl>
                                          <p:spTgt spid="2495596"/>
                                        </p:tgtEl>
                                        <p:attrNameLst>
                                          <p:attrName>style.visibility</p:attrName>
                                        </p:attrNameLst>
                                      </p:cBhvr>
                                      <p:to>
                                        <p:strVal val="visible"/>
                                      </p:to>
                                    </p:set>
                                    <p:animEffect transition="in" filter="dissolve">
                                      <p:cBhvr>
                                        <p:cTn id="250" dur="500"/>
                                        <p:tgtEl>
                                          <p:spTgt spid="2495596"/>
                                        </p:tgtEl>
                                      </p:cBhvr>
                                    </p:animEffect>
                                  </p:childTnLst>
                                </p:cTn>
                              </p:par>
                              <p:par>
                                <p:cTn id="251" presetID="9" presetClass="entr" presetSubtype="0" fill="hold" grpId="0" nodeType="withEffect">
                                  <p:stCondLst>
                                    <p:cond delay="0"/>
                                  </p:stCondLst>
                                  <p:childTnLst>
                                    <p:set>
                                      <p:cBhvr>
                                        <p:cTn id="252" dur="1" fill="hold">
                                          <p:stCondLst>
                                            <p:cond delay="0"/>
                                          </p:stCondLst>
                                        </p:cTn>
                                        <p:tgtEl>
                                          <p:spTgt spid="2495597"/>
                                        </p:tgtEl>
                                        <p:attrNameLst>
                                          <p:attrName>style.visibility</p:attrName>
                                        </p:attrNameLst>
                                      </p:cBhvr>
                                      <p:to>
                                        <p:strVal val="visible"/>
                                      </p:to>
                                    </p:set>
                                    <p:animEffect transition="in" filter="dissolve">
                                      <p:cBhvr>
                                        <p:cTn id="253" dur="500"/>
                                        <p:tgtEl>
                                          <p:spTgt spid="2495597"/>
                                        </p:tgtEl>
                                      </p:cBhvr>
                                    </p:animEffect>
                                  </p:childTnLst>
                                </p:cTn>
                              </p:par>
                              <p:par>
                                <p:cTn id="254" presetID="9" presetClass="entr" presetSubtype="0" fill="hold" nodeType="withEffect">
                                  <p:stCondLst>
                                    <p:cond delay="0"/>
                                  </p:stCondLst>
                                  <p:childTnLst>
                                    <p:set>
                                      <p:cBhvr>
                                        <p:cTn id="255" dur="1" fill="hold">
                                          <p:stCondLst>
                                            <p:cond delay="0"/>
                                          </p:stCondLst>
                                        </p:cTn>
                                        <p:tgtEl>
                                          <p:spTgt spid="2495598"/>
                                        </p:tgtEl>
                                        <p:attrNameLst>
                                          <p:attrName>style.visibility</p:attrName>
                                        </p:attrNameLst>
                                      </p:cBhvr>
                                      <p:to>
                                        <p:strVal val="visible"/>
                                      </p:to>
                                    </p:set>
                                    <p:animEffect transition="in" filter="dissolve">
                                      <p:cBhvr>
                                        <p:cTn id="256" dur="500"/>
                                        <p:tgtEl>
                                          <p:spTgt spid="2495598"/>
                                        </p:tgtEl>
                                      </p:cBhvr>
                                    </p:animEffect>
                                  </p:childTnLst>
                                </p:cTn>
                              </p:par>
                              <p:par>
                                <p:cTn id="257" presetID="9" presetClass="entr" presetSubtype="0" fill="hold" nodeType="withEffect">
                                  <p:stCondLst>
                                    <p:cond delay="0"/>
                                  </p:stCondLst>
                                  <p:childTnLst>
                                    <p:set>
                                      <p:cBhvr>
                                        <p:cTn id="258" dur="1" fill="hold">
                                          <p:stCondLst>
                                            <p:cond delay="0"/>
                                          </p:stCondLst>
                                        </p:cTn>
                                        <p:tgtEl>
                                          <p:spTgt spid="2495599"/>
                                        </p:tgtEl>
                                        <p:attrNameLst>
                                          <p:attrName>style.visibility</p:attrName>
                                        </p:attrNameLst>
                                      </p:cBhvr>
                                      <p:to>
                                        <p:strVal val="visible"/>
                                      </p:to>
                                    </p:set>
                                    <p:animEffect transition="in" filter="dissolve">
                                      <p:cBhvr>
                                        <p:cTn id="259" dur="500"/>
                                        <p:tgtEl>
                                          <p:spTgt spid="2495599"/>
                                        </p:tgtEl>
                                      </p:cBhvr>
                                    </p:animEffect>
                                  </p:childTnLst>
                                </p:cTn>
                              </p:par>
                              <p:par>
                                <p:cTn id="260" presetID="9" presetClass="entr" presetSubtype="0" fill="hold" nodeType="withEffect">
                                  <p:stCondLst>
                                    <p:cond delay="0"/>
                                  </p:stCondLst>
                                  <p:childTnLst>
                                    <p:set>
                                      <p:cBhvr>
                                        <p:cTn id="261" dur="1" fill="hold">
                                          <p:stCondLst>
                                            <p:cond delay="0"/>
                                          </p:stCondLst>
                                        </p:cTn>
                                        <p:tgtEl>
                                          <p:spTgt spid="2495600"/>
                                        </p:tgtEl>
                                        <p:attrNameLst>
                                          <p:attrName>style.visibility</p:attrName>
                                        </p:attrNameLst>
                                      </p:cBhvr>
                                      <p:to>
                                        <p:strVal val="visible"/>
                                      </p:to>
                                    </p:set>
                                    <p:animEffect transition="in" filter="dissolve">
                                      <p:cBhvr>
                                        <p:cTn id="262" dur="500"/>
                                        <p:tgtEl>
                                          <p:spTgt spid="2495600"/>
                                        </p:tgtEl>
                                      </p:cBhvr>
                                    </p:animEffect>
                                  </p:childTnLst>
                                </p:cTn>
                              </p:par>
                              <p:par>
                                <p:cTn id="263" presetID="9" presetClass="entr" presetSubtype="0" fill="hold" nodeType="withEffect">
                                  <p:stCondLst>
                                    <p:cond delay="0"/>
                                  </p:stCondLst>
                                  <p:childTnLst>
                                    <p:set>
                                      <p:cBhvr>
                                        <p:cTn id="264" dur="1" fill="hold">
                                          <p:stCondLst>
                                            <p:cond delay="0"/>
                                          </p:stCondLst>
                                        </p:cTn>
                                        <p:tgtEl>
                                          <p:spTgt spid="2495601"/>
                                        </p:tgtEl>
                                        <p:attrNameLst>
                                          <p:attrName>style.visibility</p:attrName>
                                        </p:attrNameLst>
                                      </p:cBhvr>
                                      <p:to>
                                        <p:strVal val="visible"/>
                                      </p:to>
                                    </p:set>
                                    <p:animEffect transition="in" filter="dissolve">
                                      <p:cBhvr>
                                        <p:cTn id="265" dur="500"/>
                                        <p:tgtEl>
                                          <p:spTgt spid="2495601"/>
                                        </p:tgtEl>
                                      </p:cBhvr>
                                    </p:animEffect>
                                  </p:childTnLst>
                                </p:cTn>
                              </p:par>
                              <p:par>
                                <p:cTn id="266" presetID="9" presetClass="entr" presetSubtype="0" fill="hold" nodeType="withEffect">
                                  <p:stCondLst>
                                    <p:cond delay="0"/>
                                  </p:stCondLst>
                                  <p:childTnLst>
                                    <p:set>
                                      <p:cBhvr>
                                        <p:cTn id="267" dur="1" fill="hold">
                                          <p:stCondLst>
                                            <p:cond delay="0"/>
                                          </p:stCondLst>
                                        </p:cTn>
                                        <p:tgtEl>
                                          <p:spTgt spid="2495602"/>
                                        </p:tgtEl>
                                        <p:attrNameLst>
                                          <p:attrName>style.visibility</p:attrName>
                                        </p:attrNameLst>
                                      </p:cBhvr>
                                      <p:to>
                                        <p:strVal val="visible"/>
                                      </p:to>
                                    </p:set>
                                    <p:animEffect transition="in" filter="dissolve">
                                      <p:cBhvr>
                                        <p:cTn id="268" dur="500"/>
                                        <p:tgtEl>
                                          <p:spTgt spid="2495602"/>
                                        </p:tgtEl>
                                      </p:cBhvr>
                                    </p:animEffect>
                                  </p:childTnLst>
                                </p:cTn>
                              </p:par>
                              <p:par>
                                <p:cTn id="269" presetID="9" presetClass="entr" presetSubtype="0" fill="hold" nodeType="withEffect">
                                  <p:stCondLst>
                                    <p:cond delay="0"/>
                                  </p:stCondLst>
                                  <p:childTnLst>
                                    <p:set>
                                      <p:cBhvr>
                                        <p:cTn id="270" dur="1" fill="hold">
                                          <p:stCondLst>
                                            <p:cond delay="0"/>
                                          </p:stCondLst>
                                        </p:cTn>
                                        <p:tgtEl>
                                          <p:spTgt spid="2495603"/>
                                        </p:tgtEl>
                                        <p:attrNameLst>
                                          <p:attrName>style.visibility</p:attrName>
                                        </p:attrNameLst>
                                      </p:cBhvr>
                                      <p:to>
                                        <p:strVal val="visible"/>
                                      </p:to>
                                    </p:set>
                                    <p:animEffect transition="in" filter="dissolve">
                                      <p:cBhvr>
                                        <p:cTn id="271" dur="500"/>
                                        <p:tgtEl>
                                          <p:spTgt spid="2495603"/>
                                        </p:tgtEl>
                                      </p:cBhvr>
                                    </p:animEffect>
                                  </p:childTnLst>
                                </p:cTn>
                              </p:par>
                              <p:par>
                                <p:cTn id="272" presetID="9" presetClass="entr" presetSubtype="0" fill="hold" nodeType="withEffect">
                                  <p:stCondLst>
                                    <p:cond delay="0"/>
                                  </p:stCondLst>
                                  <p:childTnLst>
                                    <p:set>
                                      <p:cBhvr>
                                        <p:cTn id="273" dur="1" fill="hold">
                                          <p:stCondLst>
                                            <p:cond delay="0"/>
                                          </p:stCondLst>
                                        </p:cTn>
                                        <p:tgtEl>
                                          <p:spTgt spid="2495604"/>
                                        </p:tgtEl>
                                        <p:attrNameLst>
                                          <p:attrName>style.visibility</p:attrName>
                                        </p:attrNameLst>
                                      </p:cBhvr>
                                      <p:to>
                                        <p:strVal val="visible"/>
                                      </p:to>
                                    </p:set>
                                    <p:animEffect transition="in" filter="dissolve">
                                      <p:cBhvr>
                                        <p:cTn id="274" dur="500"/>
                                        <p:tgtEl>
                                          <p:spTgt spid="2495604"/>
                                        </p:tgtEl>
                                      </p:cBhvr>
                                    </p:animEffect>
                                  </p:childTnLst>
                                </p:cTn>
                              </p:par>
                              <p:par>
                                <p:cTn id="275" presetID="9" presetClass="entr" presetSubtype="0" fill="hold" nodeType="withEffect">
                                  <p:stCondLst>
                                    <p:cond delay="0"/>
                                  </p:stCondLst>
                                  <p:childTnLst>
                                    <p:set>
                                      <p:cBhvr>
                                        <p:cTn id="276" dur="1" fill="hold">
                                          <p:stCondLst>
                                            <p:cond delay="0"/>
                                          </p:stCondLst>
                                        </p:cTn>
                                        <p:tgtEl>
                                          <p:spTgt spid="2495605"/>
                                        </p:tgtEl>
                                        <p:attrNameLst>
                                          <p:attrName>style.visibility</p:attrName>
                                        </p:attrNameLst>
                                      </p:cBhvr>
                                      <p:to>
                                        <p:strVal val="visible"/>
                                      </p:to>
                                    </p:set>
                                    <p:animEffect transition="in" filter="dissolve">
                                      <p:cBhvr>
                                        <p:cTn id="277" dur="500"/>
                                        <p:tgtEl>
                                          <p:spTgt spid="2495605"/>
                                        </p:tgtEl>
                                      </p:cBhvr>
                                    </p:animEffect>
                                  </p:childTnLst>
                                </p:cTn>
                              </p:par>
                              <p:par>
                                <p:cTn id="278" presetID="9" presetClass="entr" presetSubtype="0" fill="hold" nodeType="withEffect">
                                  <p:stCondLst>
                                    <p:cond delay="0"/>
                                  </p:stCondLst>
                                  <p:childTnLst>
                                    <p:set>
                                      <p:cBhvr>
                                        <p:cTn id="279" dur="1" fill="hold">
                                          <p:stCondLst>
                                            <p:cond delay="0"/>
                                          </p:stCondLst>
                                        </p:cTn>
                                        <p:tgtEl>
                                          <p:spTgt spid="2495606"/>
                                        </p:tgtEl>
                                        <p:attrNameLst>
                                          <p:attrName>style.visibility</p:attrName>
                                        </p:attrNameLst>
                                      </p:cBhvr>
                                      <p:to>
                                        <p:strVal val="visible"/>
                                      </p:to>
                                    </p:set>
                                    <p:animEffect transition="in" filter="dissolve">
                                      <p:cBhvr>
                                        <p:cTn id="280" dur="500"/>
                                        <p:tgtEl>
                                          <p:spTgt spid="2495606"/>
                                        </p:tgtEl>
                                      </p:cBhvr>
                                    </p:animEffect>
                                  </p:childTnLst>
                                </p:cTn>
                              </p:par>
                              <p:par>
                                <p:cTn id="281" presetID="9" presetClass="entr" presetSubtype="0" fill="hold" nodeType="withEffect">
                                  <p:stCondLst>
                                    <p:cond delay="0"/>
                                  </p:stCondLst>
                                  <p:childTnLst>
                                    <p:set>
                                      <p:cBhvr>
                                        <p:cTn id="282" dur="1" fill="hold">
                                          <p:stCondLst>
                                            <p:cond delay="0"/>
                                          </p:stCondLst>
                                        </p:cTn>
                                        <p:tgtEl>
                                          <p:spTgt spid="2495607"/>
                                        </p:tgtEl>
                                        <p:attrNameLst>
                                          <p:attrName>style.visibility</p:attrName>
                                        </p:attrNameLst>
                                      </p:cBhvr>
                                      <p:to>
                                        <p:strVal val="visible"/>
                                      </p:to>
                                    </p:set>
                                    <p:animEffect transition="in" filter="dissolve">
                                      <p:cBhvr>
                                        <p:cTn id="283" dur="500"/>
                                        <p:tgtEl>
                                          <p:spTgt spid="2495607"/>
                                        </p:tgtEl>
                                      </p:cBhvr>
                                    </p:animEffect>
                                  </p:childTnLst>
                                </p:cTn>
                              </p:par>
                              <p:par>
                                <p:cTn id="284" presetID="9" presetClass="entr" presetSubtype="0" fill="hold" nodeType="withEffect">
                                  <p:stCondLst>
                                    <p:cond delay="0"/>
                                  </p:stCondLst>
                                  <p:childTnLst>
                                    <p:set>
                                      <p:cBhvr>
                                        <p:cTn id="285" dur="1" fill="hold">
                                          <p:stCondLst>
                                            <p:cond delay="0"/>
                                          </p:stCondLst>
                                        </p:cTn>
                                        <p:tgtEl>
                                          <p:spTgt spid="2495608"/>
                                        </p:tgtEl>
                                        <p:attrNameLst>
                                          <p:attrName>style.visibility</p:attrName>
                                        </p:attrNameLst>
                                      </p:cBhvr>
                                      <p:to>
                                        <p:strVal val="visible"/>
                                      </p:to>
                                    </p:set>
                                    <p:animEffect transition="in" filter="dissolve">
                                      <p:cBhvr>
                                        <p:cTn id="286" dur="500"/>
                                        <p:tgtEl>
                                          <p:spTgt spid="2495608"/>
                                        </p:tgtEl>
                                      </p:cBhvr>
                                    </p:animEffect>
                                  </p:childTnLst>
                                </p:cTn>
                              </p:par>
                              <p:par>
                                <p:cTn id="287" presetID="9" presetClass="entr" presetSubtype="0" fill="hold" grpId="0" nodeType="withEffect">
                                  <p:stCondLst>
                                    <p:cond delay="0"/>
                                  </p:stCondLst>
                                  <p:childTnLst>
                                    <p:set>
                                      <p:cBhvr>
                                        <p:cTn id="288" dur="1" fill="hold">
                                          <p:stCondLst>
                                            <p:cond delay="0"/>
                                          </p:stCondLst>
                                        </p:cTn>
                                        <p:tgtEl>
                                          <p:spTgt spid="2495609"/>
                                        </p:tgtEl>
                                        <p:attrNameLst>
                                          <p:attrName>style.visibility</p:attrName>
                                        </p:attrNameLst>
                                      </p:cBhvr>
                                      <p:to>
                                        <p:strVal val="visible"/>
                                      </p:to>
                                    </p:set>
                                    <p:animEffect transition="in" filter="dissolve">
                                      <p:cBhvr>
                                        <p:cTn id="289" dur="500"/>
                                        <p:tgtEl>
                                          <p:spTgt spid="2495609"/>
                                        </p:tgtEl>
                                      </p:cBhvr>
                                    </p:animEffect>
                                  </p:childTnLst>
                                </p:cTn>
                              </p:par>
                            </p:childTnLst>
                          </p:cTn>
                        </p:par>
                      </p:childTnLst>
                    </p:cTn>
                  </p:par>
                  <p:par>
                    <p:cTn id="290" fill="hold">
                      <p:stCondLst>
                        <p:cond delay="indefinite"/>
                      </p:stCondLst>
                      <p:childTnLst>
                        <p:par>
                          <p:cTn id="291" fill="hold">
                            <p:stCondLst>
                              <p:cond delay="0"/>
                            </p:stCondLst>
                            <p:childTnLst>
                              <p:par>
                                <p:cTn id="292" presetID="3" presetClass="exit" presetSubtype="10" fill="hold" grpId="1" nodeType="clickEffect">
                                  <p:stCondLst>
                                    <p:cond delay="0"/>
                                  </p:stCondLst>
                                  <p:childTnLst>
                                    <p:animEffect transition="out" filter="blinds(horizontal)">
                                      <p:cBhvr>
                                        <p:cTn id="293" dur="500"/>
                                        <p:tgtEl>
                                          <p:spTgt spid="2495609"/>
                                        </p:tgtEl>
                                      </p:cBhvr>
                                    </p:animEffect>
                                    <p:set>
                                      <p:cBhvr>
                                        <p:cTn id="294" dur="1" fill="hold">
                                          <p:stCondLst>
                                            <p:cond delay="499"/>
                                          </p:stCondLst>
                                        </p:cTn>
                                        <p:tgtEl>
                                          <p:spTgt spid="2495609"/>
                                        </p:tgtEl>
                                        <p:attrNameLst>
                                          <p:attrName>style.visibility</p:attrName>
                                        </p:attrNameLst>
                                      </p:cBhvr>
                                      <p:to>
                                        <p:strVal val="hidden"/>
                                      </p:to>
                                    </p:set>
                                  </p:childTnLst>
                                </p:cTn>
                              </p:par>
                            </p:childTnLst>
                          </p:cTn>
                        </p:par>
                        <p:par>
                          <p:cTn id="295" fill="hold">
                            <p:stCondLst>
                              <p:cond delay="500"/>
                            </p:stCondLst>
                            <p:childTnLst>
                              <p:par>
                                <p:cTn id="296" presetID="9" presetClass="entr" presetSubtype="0" fill="hold" grpId="0" nodeType="afterEffect">
                                  <p:stCondLst>
                                    <p:cond delay="0"/>
                                  </p:stCondLst>
                                  <p:childTnLst>
                                    <p:set>
                                      <p:cBhvr>
                                        <p:cTn id="297" dur="1" fill="hold">
                                          <p:stCondLst>
                                            <p:cond delay="0"/>
                                          </p:stCondLst>
                                        </p:cTn>
                                        <p:tgtEl>
                                          <p:spTgt spid="2495610"/>
                                        </p:tgtEl>
                                        <p:attrNameLst>
                                          <p:attrName>style.visibility</p:attrName>
                                        </p:attrNameLst>
                                      </p:cBhvr>
                                      <p:to>
                                        <p:strVal val="visible"/>
                                      </p:to>
                                    </p:set>
                                    <p:animEffect transition="in" filter="dissolve">
                                      <p:cBhvr>
                                        <p:cTn id="298" dur="500"/>
                                        <p:tgtEl>
                                          <p:spTgt spid="2495610"/>
                                        </p:tgtEl>
                                      </p:cBhvr>
                                    </p:animEffect>
                                  </p:childTnLst>
                                </p:cTn>
                              </p:par>
                            </p:childTnLst>
                          </p:cTn>
                        </p:par>
                      </p:childTnLst>
                    </p:cTn>
                  </p:par>
                  <p:par>
                    <p:cTn id="299" fill="hold">
                      <p:stCondLst>
                        <p:cond delay="indefinite"/>
                      </p:stCondLst>
                      <p:childTnLst>
                        <p:par>
                          <p:cTn id="300" fill="hold">
                            <p:stCondLst>
                              <p:cond delay="0"/>
                            </p:stCondLst>
                            <p:childTnLst>
                              <p:par>
                                <p:cTn id="301" presetID="22" presetClass="entr" presetSubtype="1" fill="hold" nodeType="clickEffect">
                                  <p:stCondLst>
                                    <p:cond delay="0"/>
                                  </p:stCondLst>
                                  <p:childTnLst>
                                    <p:set>
                                      <p:cBhvr>
                                        <p:cTn id="302" dur="1" fill="hold">
                                          <p:stCondLst>
                                            <p:cond delay="0"/>
                                          </p:stCondLst>
                                        </p:cTn>
                                        <p:tgtEl>
                                          <p:spTgt spid="2495617"/>
                                        </p:tgtEl>
                                        <p:attrNameLst>
                                          <p:attrName>style.visibility</p:attrName>
                                        </p:attrNameLst>
                                      </p:cBhvr>
                                      <p:to>
                                        <p:strVal val="visible"/>
                                      </p:to>
                                    </p:set>
                                    <p:animEffect transition="in" filter="wipe(up)">
                                      <p:cBhvr>
                                        <p:cTn id="303" dur="500"/>
                                        <p:tgtEl>
                                          <p:spTgt spid="2495617"/>
                                        </p:tgtEl>
                                      </p:cBhvr>
                                    </p:animEffect>
                                  </p:childTnLst>
                                </p:cTn>
                              </p:par>
                            </p:childTnLst>
                          </p:cTn>
                        </p:par>
                      </p:childTnLst>
                    </p:cTn>
                  </p:par>
                  <p:par>
                    <p:cTn id="304" fill="hold">
                      <p:stCondLst>
                        <p:cond delay="indefinite"/>
                      </p:stCondLst>
                      <p:childTnLst>
                        <p:par>
                          <p:cTn id="305" fill="hold">
                            <p:stCondLst>
                              <p:cond delay="0"/>
                            </p:stCondLst>
                            <p:childTnLst>
                              <p:par>
                                <p:cTn id="306" presetID="9" presetClass="entr" presetSubtype="0" fill="hold" grpId="0" nodeType="clickEffect">
                                  <p:stCondLst>
                                    <p:cond delay="0"/>
                                  </p:stCondLst>
                                  <p:childTnLst>
                                    <p:set>
                                      <p:cBhvr>
                                        <p:cTn id="307" dur="1" fill="hold">
                                          <p:stCondLst>
                                            <p:cond delay="0"/>
                                          </p:stCondLst>
                                        </p:cTn>
                                        <p:tgtEl>
                                          <p:spTgt spid="2495618"/>
                                        </p:tgtEl>
                                        <p:attrNameLst>
                                          <p:attrName>style.visibility</p:attrName>
                                        </p:attrNameLst>
                                      </p:cBhvr>
                                      <p:to>
                                        <p:strVal val="visible"/>
                                      </p:to>
                                    </p:set>
                                    <p:animEffect transition="in" filter="dissolve">
                                      <p:cBhvr>
                                        <p:cTn id="308" dur="500"/>
                                        <p:tgtEl>
                                          <p:spTgt spid="2495618"/>
                                        </p:tgtEl>
                                      </p:cBhvr>
                                    </p:animEffect>
                                  </p:childTnLst>
                                </p:cTn>
                              </p:par>
                              <p:par>
                                <p:cTn id="309" presetID="9" presetClass="entr" presetSubtype="0" fill="hold" nodeType="withEffect">
                                  <p:stCondLst>
                                    <p:cond delay="0"/>
                                  </p:stCondLst>
                                  <p:childTnLst>
                                    <p:set>
                                      <p:cBhvr>
                                        <p:cTn id="310" dur="1" fill="hold">
                                          <p:stCondLst>
                                            <p:cond delay="0"/>
                                          </p:stCondLst>
                                        </p:cTn>
                                        <p:tgtEl>
                                          <p:spTgt spid="2495619"/>
                                        </p:tgtEl>
                                        <p:attrNameLst>
                                          <p:attrName>style.visibility</p:attrName>
                                        </p:attrNameLst>
                                      </p:cBhvr>
                                      <p:to>
                                        <p:strVal val="visible"/>
                                      </p:to>
                                    </p:set>
                                    <p:animEffect transition="in" filter="dissolve">
                                      <p:cBhvr>
                                        <p:cTn id="311" dur="500"/>
                                        <p:tgtEl>
                                          <p:spTgt spid="2495619"/>
                                        </p:tgtEl>
                                      </p:cBhvr>
                                    </p:animEffect>
                                  </p:childTnLst>
                                </p:cTn>
                              </p:par>
                            </p:childTnLst>
                          </p:cTn>
                        </p:par>
                      </p:childTnLst>
                    </p:cTn>
                  </p:par>
                  <p:par>
                    <p:cTn id="312" fill="hold">
                      <p:stCondLst>
                        <p:cond delay="indefinite"/>
                      </p:stCondLst>
                      <p:childTnLst>
                        <p:par>
                          <p:cTn id="313" fill="hold">
                            <p:stCondLst>
                              <p:cond delay="0"/>
                            </p:stCondLst>
                            <p:childTnLst>
                              <p:par>
                                <p:cTn id="314" presetID="9" presetClass="entr" presetSubtype="0" fill="hold" nodeType="clickEffect">
                                  <p:stCondLst>
                                    <p:cond delay="0"/>
                                  </p:stCondLst>
                                  <p:childTnLst>
                                    <p:set>
                                      <p:cBhvr>
                                        <p:cTn id="315" dur="1" fill="hold">
                                          <p:stCondLst>
                                            <p:cond delay="0"/>
                                          </p:stCondLst>
                                        </p:cTn>
                                        <p:tgtEl>
                                          <p:spTgt spid="2495621">
                                            <p:txEl>
                                              <p:charRg st="0" end="28"/>
                                            </p:txEl>
                                          </p:spTgt>
                                        </p:tgtEl>
                                        <p:attrNameLst>
                                          <p:attrName>style.visibility</p:attrName>
                                        </p:attrNameLst>
                                      </p:cBhvr>
                                      <p:to>
                                        <p:strVal val="visible"/>
                                      </p:to>
                                    </p:set>
                                    <p:animEffect transition="in" filter="dissolve">
                                      <p:cBhvr>
                                        <p:cTn id="316" dur="500"/>
                                        <p:tgtEl>
                                          <p:spTgt spid="2495621">
                                            <p:txEl>
                                              <p:charRg st="0" end="28"/>
                                            </p:txEl>
                                          </p:spTgt>
                                        </p:tgtEl>
                                      </p:cBhvr>
                                    </p:animEffect>
                                  </p:childTnLst>
                                </p:cTn>
                              </p:par>
                            </p:childTnLst>
                          </p:cTn>
                        </p:par>
                      </p:childTnLst>
                    </p:cTn>
                  </p:par>
                  <p:par>
                    <p:cTn id="317" fill="hold">
                      <p:stCondLst>
                        <p:cond delay="indefinite"/>
                      </p:stCondLst>
                      <p:childTnLst>
                        <p:par>
                          <p:cTn id="318" fill="hold">
                            <p:stCondLst>
                              <p:cond delay="0"/>
                            </p:stCondLst>
                            <p:childTnLst>
                              <p:par>
                                <p:cTn id="319" presetID="9" presetClass="entr" presetSubtype="0" fill="hold" nodeType="clickEffect">
                                  <p:stCondLst>
                                    <p:cond delay="0"/>
                                  </p:stCondLst>
                                  <p:childTnLst>
                                    <p:set>
                                      <p:cBhvr>
                                        <p:cTn id="320" dur="1" fill="hold">
                                          <p:stCondLst>
                                            <p:cond delay="0"/>
                                          </p:stCondLst>
                                        </p:cTn>
                                        <p:tgtEl>
                                          <p:spTgt spid="2495621">
                                            <p:txEl>
                                              <p:charRg st="28" end="71"/>
                                            </p:txEl>
                                          </p:spTgt>
                                        </p:tgtEl>
                                        <p:attrNameLst>
                                          <p:attrName>style.visibility</p:attrName>
                                        </p:attrNameLst>
                                      </p:cBhvr>
                                      <p:to>
                                        <p:strVal val="visible"/>
                                      </p:to>
                                    </p:set>
                                    <p:animEffect transition="in" filter="dissolve">
                                      <p:cBhvr>
                                        <p:cTn id="321" dur="500"/>
                                        <p:tgtEl>
                                          <p:spTgt spid="2495621">
                                            <p:txEl>
                                              <p:charRg st="28" end="7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5529" grpId="0"/>
      <p:bldP spid="2495530" grpId="0"/>
      <p:bldP spid="2495543" grpId="0"/>
      <p:bldP spid="2495544" grpId="0"/>
      <p:bldP spid="2495557" grpId="0"/>
      <p:bldP spid="2495558" grpId="0"/>
      <p:bldP spid="2495571" grpId="0"/>
      <p:bldP spid="2495572" grpId="0"/>
      <p:bldP spid="2495577" grpId="0"/>
      <p:bldP spid="2495578" grpId="0"/>
      <p:bldP spid="2495579" grpId="0"/>
      <p:bldP spid="2495580" grpId="0"/>
      <p:bldP spid="2495582" grpId="0"/>
      <p:bldP spid="2495592" grpId="0"/>
      <p:bldP spid="2495593" grpId="0"/>
      <p:bldP spid="2495595" grpId="0"/>
      <p:bldP spid="2495596" grpId="0"/>
      <p:bldP spid="2495597" grpId="0"/>
      <p:bldP spid="2495609" grpId="0"/>
      <p:bldP spid="2495609" grpId="1"/>
      <p:bldP spid="2495610" grpId="0"/>
      <p:bldP spid="2495618"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97538"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97539" name="Rectangle 3"/>
          <p:cNvSpPr/>
          <p:nvPr/>
        </p:nvSpPr>
        <p:spPr>
          <a:xfrm>
            <a:off x="431800" y="765175"/>
            <a:ext cx="4500563" cy="579438"/>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D/A</a:t>
            </a:r>
            <a:r>
              <a:rPr lang="zh-CN" altLang="en-US" sz="3200" dirty="0">
                <a:latin typeface="Times New Roman" panose="02020603050405020304" pitchFamily="18" charset="0"/>
              </a:rPr>
              <a:t>转换器芯片的分类</a:t>
            </a:r>
            <a:endParaRPr lang="zh-CN" altLang="en-US" sz="3200" dirty="0">
              <a:latin typeface="Times New Roman" panose="02020603050405020304" pitchFamily="18" charset="0"/>
            </a:endParaRPr>
          </a:p>
        </p:txBody>
      </p:sp>
      <p:sp>
        <p:nvSpPr>
          <p:cNvPr id="2497647" name="Text Box 111"/>
          <p:cNvSpPr txBox="1"/>
          <p:nvPr/>
        </p:nvSpPr>
        <p:spPr>
          <a:xfrm>
            <a:off x="539750" y="1665288"/>
            <a:ext cx="8172450" cy="2271712"/>
          </a:xfrm>
          <a:prstGeom prst="rect">
            <a:avLst/>
          </a:prstGeom>
          <a:noFill/>
          <a:ln w="9525">
            <a:noFill/>
          </a:ln>
        </p:spPr>
        <p:txBody>
          <a:bodyPr>
            <a:spAutoFit/>
          </a:bodyPr>
          <a:p>
            <a:pPr marL="542925" indent="-54292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rPr>
              <a:t>按照转换速度分</a:t>
            </a:r>
            <a:r>
              <a:rPr lang="zh-CN" altLang="en-US" sz="2800" dirty="0">
                <a:latin typeface="Times New Roman" panose="02020603050405020304" pitchFamily="18" charset="0"/>
              </a:rPr>
              <a:t>：高、中、低</a:t>
            </a:r>
            <a:endParaRPr lang="zh-CN" altLang="en-US" sz="2800" dirty="0">
              <a:latin typeface="Times New Roman" panose="02020603050405020304" pitchFamily="18" charset="0"/>
            </a:endParaRPr>
          </a:p>
          <a:p>
            <a:pPr marL="542925" indent="-54292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rPr>
              <a:t>按照位数分</a:t>
            </a:r>
            <a:r>
              <a:rPr lang="zh-CN" altLang="en-US" sz="2800" dirty="0">
                <a:latin typeface="Times New Roman" panose="02020603050405020304" pitchFamily="18" charset="0"/>
              </a:rPr>
              <a:t>：</a:t>
            </a:r>
            <a:r>
              <a:rPr lang="en-US" altLang="zh-CN" sz="2800" dirty="0">
                <a:latin typeface="Times New Roman" panose="02020603050405020304" pitchFamily="18" charset="0"/>
              </a:rPr>
              <a:t>8</a:t>
            </a:r>
            <a:r>
              <a:rPr lang="zh-CN" altLang="en-US" sz="2800" dirty="0">
                <a:latin typeface="Times New Roman" panose="02020603050405020304" pitchFamily="18" charset="0"/>
              </a:rPr>
              <a:t>位，</a:t>
            </a:r>
            <a:r>
              <a:rPr lang="en-US" altLang="zh-CN" sz="2800" dirty="0">
                <a:latin typeface="Times New Roman" panose="02020603050405020304" pitchFamily="18" charset="0"/>
              </a:rPr>
              <a:t>10</a:t>
            </a:r>
            <a:r>
              <a:rPr lang="zh-CN" altLang="en-US" sz="2800" dirty="0">
                <a:latin typeface="Times New Roman" panose="02020603050405020304" pitchFamily="18" charset="0"/>
              </a:rPr>
              <a:t>，</a:t>
            </a:r>
            <a:r>
              <a:rPr lang="en-US" altLang="zh-CN" sz="2800" dirty="0">
                <a:latin typeface="Times New Roman" panose="02020603050405020304" pitchFamily="18" charset="0"/>
              </a:rPr>
              <a:t>12</a:t>
            </a:r>
            <a:r>
              <a:rPr lang="zh-CN" altLang="en-US" sz="2800" dirty="0">
                <a:latin typeface="Times New Roman" panose="02020603050405020304" pitchFamily="18" charset="0"/>
              </a:rPr>
              <a:t>位，</a:t>
            </a:r>
            <a:r>
              <a:rPr lang="en-US" altLang="zh-CN" sz="2800" dirty="0">
                <a:latin typeface="Times New Roman" panose="02020603050405020304" pitchFamily="18" charset="0"/>
              </a:rPr>
              <a:t>14</a:t>
            </a:r>
            <a:r>
              <a:rPr lang="zh-CN" altLang="en-US" sz="2800" dirty="0">
                <a:latin typeface="Times New Roman" panose="02020603050405020304" pitchFamily="18" charset="0"/>
              </a:rPr>
              <a:t>位，</a:t>
            </a:r>
            <a:r>
              <a:rPr lang="en-US" altLang="zh-CN" sz="2800" dirty="0">
                <a:latin typeface="Times New Roman" panose="02020603050405020304" pitchFamily="18" charset="0"/>
              </a:rPr>
              <a:t>16</a:t>
            </a:r>
            <a:r>
              <a:rPr lang="zh-CN" altLang="en-US" sz="2800" dirty="0">
                <a:latin typeface="Times New Roman" panose="02020603050405020304" pitchFamily="18" charset="0"/>
              </a:rPr>
              <a:t>位，</a:t>
            </a:r>
            <a:r>
              <a:rPr lang="en-US" altLang="zh-CN" sz="2800" dirty="0">
                <a:latin typeface="Times New Roman" panose="02020603050405020304" pitchFamily="18" charset="0"/>
              </a:rPr>
              <a:t>…</a:t>
            </a:r>
            <a:endParaRPr lang="en-US" altLang="zh-CN" sz="2800" dirty="0">
              <a:latin typeface="Times New Roman" panose="02020603050405020304" pitchFamily="18" charset="0"/>
            </a:endParaRPr>
          </a:p>
          <a:p>
            <a:pPr marL="542925" indent="-54292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rPr>
              <a:t>按照输入形式分</a:t>
            </a:r>
            <a:r>
              <a:rPr lang="zh-CN" altLang="en-US" sz="2800" dirty="0">
                <a:latin typeface="Times New Roman" panose="02020603050405020304" pitchFamily="18" charset="0"/>
              </a:rPr>
              <a:t>：并行输入、串行输入</a:t>
            </a:r>
            <a:endParaRPr lang="zh-CN" altLang="en-US" sz="2800" dirty="0">
              <a:latin typeface="Times New Roman" panose="02020603050405020304" pitchFamily="18" charset="0"/>
            </a:endParaRPr>
          </a:p>
          <a:p>
            <a:pPr marL="542925" indent="-542925" eaLnBrk="1" hangingPunct="1">
              <a:lnSpc>
                <a:spcPct val="90000"/>
              </a:lnSpc>
              <a:spcBef>
                <a:spcPct val="50000"/>
              </a:spcBef>
              <a:buClr>
                <a:srgbClr val="FF0000"/>
              </a:buClr>
              <a:buFont typeface="Wingdings" panose="05000000000000000000" pitchFamily="2" charset="2"/>
              <a:buChar char="u"/>
            </a:pPr>
            <a:r>
              <a:rPr lang="zh-CN" altLang="en-US" sz="2800" dirty="0">
                <a:solidFill>
                  <a:srgbClr val="FF0000"/>
                </a:solidFill>
                <a:latin typeface="Times New Roman" panose="02020603050405020304" pitchFamily="18" charset="0"/>
              </a:rPr>
              <a:t>按照包含模块的多少分</a:t>
            </a:r>
            <a:r>
              <a:rPr lang="zh-CN" altLang="en-US" sz="2800" dirty="0">
                <a:latin typeface="Times New Roman" panose="02020603050405020304" pitchFamily="18" charset="0"/>
              </a:rPr>
              <a:t>：</a:t>
            </a:r>
            <a:endParaRPr lang="zh-CN" altLang="en-US" sz="2800" dirty="0">
              <a:latin typeface="Times New Roman" panose="02020603050405020304" pitchFamily="18" charset="0"/>
            </a:endParaRPr>
          </a:p>
        </p:txBody>
      </p:sp>
      <p:sp>
        <p:nvSpPr>
          <p:cNvPr id="2497648" name="Text Box 112"/>
          <p:cNvSpPr txBox="1"/>
          <p:nvPr/>
        </p:nvSpPr>
        <p:spPr>
          <a:xfrm>
            <a:off x="1800225" y="4076700"/>
            <a:ext cx="6084888" cy="1771650"/>
          </a:xfrm>
          <a:prstGeom prst="rect">
            <a:avLst/>
          </a:prstGeom>
          <a:noFill/>
          <a:ln w="9525">
            <a:noFill/>
          </a:ln>
        </p:spPr>
        <p:txBody>
          <a:bodyPr>
            <a:spAutoFit/>
          </a:bodyPr>
          <a:p>
            <a:pPr marL="447675" indent="-447675" eaLnBrk="1" hangingPunct="1">
              <a:lnSpc>
                <a:spcPct val="90000"/>
              </a:lnSpc>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只含电阻网络和模拟开关；</a:t>
            </a:r>
            <a:endParaRPr lang="zh-CN" altLang="en-US" sz="2400" dirty="0">
              <a:solidFill>
                <a:schemeClr val="tx1"/>
              </a:solidFill>
              <a:latin typeface="Times New Roman" panose="02020603050405020304" pitchFamily="18" charset="0"/>
              <a:ea typeface="黑体" panose="02010609060101010101" pitchFamily="49" charset="-122"/>
            </a:endParaRPr>
          </a:p>
          <a:p>
            <a:pPr marL="447675" indent="-447675" eaLnBrk="1" hangingPunct="1">
              <a:lnSpc>
                <a:spcPct val="90000"/>
              </a:lnSpc>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包含电阻网络、模拟开关和基准电源；</a:t>
            </a:r>
            <a:endParaRPr lang="zh-CN" altLang="en-US" sz="2400" dirty="0">
              <a:solidFill>
                <a:schemeClr val="tx1"/>
              </a:solidFill>
              <a:latin typeface="Times New Roman" panose="02020603050405020304" pitchFamily="18" charset="0"/>
              <a:ea typeface="黑体" panose="02010609060101010101" pitchFamily="49" charset="-122"/>
            </a:endParaRPr>
          </a:p>
          <a:p>
            <a:pPr marL="447675" indent="-447675" eaLnBrk="1" hangingPunct="1">
              <a:lnSpc>
                <a:spcPct val="90000"/>
              </a:lnSpc>
              <a:spcBef>
                <a:spcPct val="50000"/>
              </a:spcBef>
              <a:buClr>
                <a:srgbClr val="FF0000"/>
              </a:buClr>
              <a:buFont typeface="Wingdings" panose="05000000000000000000" pitchFamily="2" charset="2"/>
              <a:buChar char="Ø"/>
            </a:pPr>
            <a:r>
              <a:rPr lang="zh-CN" altLang="en-US" sz="2400" dirty="0">
                <a:solidFill>
                  <a:schemeClr val="tx1"/>
                </a:solidFill>
                <a:latin typeface="Times New Roman" panose="02020603050405020304" pitchFamily="18" charset="0"/>
                <a:ea typeface="黑体" panose="02010609060101010101" pitchFamily="49" charset="-122"/>
              </a:rPr>
              <a:t>包含电阻网络、模拟开关、基准电源和运算放大器。</a:t>
            </a:r>
            <a:endParaRPr lang="zh-CN" altLang="en-US" sz="2400" dirty="0">
              <a:solidFill>
                <a:schemeClr val="tx1"/>
              </a:solidFill>
              <a:latin typeface="Times New Roman" panose="02020603050405020304" pitchFamily="18" charset="0"/>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7539"/>
                                        </p:tgtEl>
                                        <p:attrNameLst>
                                          <p:attrName>style.visibility</p:attrName>
                                        </p:attrNameLst>
                                      </p:cBhvr>
                                      <p:to>
                                        <p:strVal val="visible"/>
                                      </p:to>
                                    </p:set>
                                    <p:animEffect transition="in" filter="dissolve">
                                      <p:cBhvr>
                                        <p:cTn id="7" dur="500"/>
                                        <p:tgtEl>
                                          <p:spTgt spid="249753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97647">
                                            <p:txEl>
                                              <p:charRg st="0" end="14"/>
                                            </p:txEl>
                                          </p:spTgt>
                                        </p:tgtEl>
                                        <p:attrNameLst>
                                          <p:attrName>style.visibility</p:attrName>
                                        </p:attrNameLst>
                                      </p:cBhvr>
                                      <p:to>
                                        <p:strVal val="visible"/>
                                      </p:to>
                                    </p:set>
                                    <p:animEffect transition="in" filter="dissolve">
                                      <p:cBhvr>
                                        <p:cTn id="12" dur="500"/>
                                        <p:tgtEl>
                                          <p:spTgt spid="2497647">
                                            <p:txEl>
                                              <p:charRg st="0" end="1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497647">
                                            <p:txEl>
                                              <p:charRg st="14" end="40"/>
                                            </p:txEl>
                                          </p:spTgt>
                                        </p:tgtEl>
                                        <p:attrNameLst>
                                          <p:attrName>style.visibility</p:attrName>
                                        </p:attrNameLst>
                                      </p:cBhvr>
                                      <p:to>
                                        <p:strVal val="visible"/>
                                      </p:to>
                                    </p:set>
                                    <p:animEffect transition="in" filter="dissolve">
                                      <p:cBhvr>
                                        <p:cTn id="17" dur="500"/>
                                        <p:tgtEl>
                                          <p:spTgt spid="2497647">
                                            <p:txEl>
                                              <p:charRg st="14" end="4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97647">
                                            <p:txEl>
                                              <p:charRg st="40" end="58"/>
                                            </p:txEl>
                                          </p:spTgt>
                                        </p:tgtEl>
                                        <p:attrNameLst>
                                          <p:attrName>style.visibility</p:attrName>
                                        </p:attrNameLst>
                                      </p:cBhvr>
                                      <p:to>
                                        <p:strVal val="visible"/>
                                      </p:to>
                                    </p:set>
                                    <p:animEffect transition="in" filter="dissolve">
                                      <p:cBhvr>
                                        <p:cTn id="22" dur="500"/>
                                        <p:tgtEl>
                                          <p:spTgt spid="2497647">
                                            <p:txEl>
                                              <p:charRg st="40" end="58"/>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497647">
                                            <p:txEl>
                                              <p:charRg st="58" end="70"/>
                                            </p:txEl>
                                          </p:spTgt>
                                        </p:tgtEl>
                                        <p:attrNameLst>
                                          <p:attrName>style.visibility</p:attrName>
                                        </p:attrNameLst>
                                      </p:cBhvr>
                                      <p:to>
                                        <p:strVal val="visible"/>
                                      </p:to>
                                    </p:set>
                                    <p:animEffect transition="in" filter="dissolve">
                                      <p:cBhvr>
                                        <p:cTn id="27" dur="500"/>
                                        <p:tgtEl>
                                          <p:spTgt spid="2497647">
                                            <p:txEl>
                                              <p:charRg st="58" end="7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497648">
                                            <p:txEl>
                                              <p:charRg st="0" end="13"/>
                                            </p:txEl>
                                          </p:spTgt>
                                        </p:tgtEl>
                                        <p:attrNameLst>
                                          <p:attrName>style.visibility</p:attrName>
                                        </p:attrNameLst>
                                      </p:cBhvr>
                                      <p:to>
                                        <p:strVal val="visible"/>
                                      </p:to>
                                    </p:set>
                                    <p:animEffect transition="in" filter="dissolve">
                                      <p:cBhvr>
                                        <p:cTn id="30" dur="500"/>
                                        <p:tgtEl>
                                          <p:spTgt spid="2497648">
                                            <p:txEl>
                                              <p:charRg st="0" end="13"/>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2497648">
                                            <p:txEl>
                                              <p:charRg st="13" end="31"/>
                                            </p:txEl>
                                          </p:spTgt>
                                        </p:tgtEl>
                                        <p:attrNameLst>
                                          <p:attrName>style.visibility</p:attrName>
                                        </p:attrNameLst>
                                      </p:cBhvr>
                                      <p:to>
                                        <p:strVal val="visible"/>
                                      </p:to>
                                    </p:set>
                                    <p:animEffect transition="in" filter="dissolve">
                                      <p:cBhvr>
                                        <p:cTn id="33" dur="500"/>
                                        <p:tgtEl>
                                          <p:spTgt spid="2497648">
                                            <p:txEl>
                                              <p:charRg st="13" end="3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497648">
                                            <p:txEl>
                                              <p:charRg st="31" end="55"/>
                                            </p:txEl>
                                          </p:spTgt>
                                        </p:tgtEl>
                                        <p:attrNameLst>
                                          <p:attrName>style.visibility</p:attrName>
                                        </p:attrNameLst>
                                      </p:cBhvr>
                                      <p:to>
                                        <p:strVal val="visible"/>
                                      </p:to>
                                    </p:set>
                                    <p:animEffect transition="in" filter="dissolve">
                                      <p:cBhvr>
                                        <p:cTn id="36" dur="500"/>
                                        <p:tgtEl>
                                          <p:spTgt spid="2497648">
                                            <p:txEl>
                                              <p:charRg st="31" end="5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7539" grpId="0" bldLvl="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99586"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499587"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2499590" name="Text Box 6"/>
          <p:cNvSpPr txBox="1"/>
          <p:nvPr/>
        </p:nvSpPr>
        <p:spPr>
          <a:xfrm>
            <a:off x="142875" y="1339850"/>
            <a:ext cx="1476375" cy="585788"/>
          </a:xfrm>
          <a:prstGeom prst="rect">
            <a:avLst/>
          </a:prstGeom>
          <a:noFill/>
          <a:ln w="9525">
            <a:noFill/>
          </a:ln>
        </p:spPr>
        <p:txBody>
          <a:bodyPr>
            <a:spAutoFit/>
          </a:bodyPr>
          <a:p>
            <a:pPr eaLnBrk="1" hangingPunct="1">
              <a:lnSpc>
                <a:spcPct val="90000"/>
              </a:lnSpc>
              <a:spcBef>
                <a:spcPct val="50000"/>
              </a:spcBef>
            </a:pPr>
            <a:r>
              <a:rPr lang="zh-CN" altLang="en-US" dirty="0">
                <a:solidFill>
                  <a:srgbClr val="FF0000"/>
                </a:solidFill>
                <a:latin typeface="Times New Roman" panose="02020603050405020304" pitchFamily="18" charset="0"/>
              </a:rPr>
              <a:t>特点：</a:t>
            </a:r>
            <a:endParaRPr lang="zh-CN" altLang="en-US" dirty="0">
              <a:solidFill>
                <a:srgbClr val="FF0000"/>
              </a:solidFill>
              <a:latin typeface="Times New Roman" panose="02020603050405020304" pitchFamily="18" charset="0"/>
            </a:endParaRPr>
          </a:p>
        </p:txBody>
      </p:sp>
      <p:sp>
        <p:nvSpPr>
          <p:cNvPr id="2499591" name="Rectangle 7"/>
          <p:cNvSpPr/>
          <p:nvPr/>
        </p:nvSpPr>
        <p:spPr>
          <a:xfrm>
            <a:off x="179388" y="1925638"/>
            <a:ext cx="5580062" cy="4108450"/>
          </a:xfrm>
          <a:prstGeom prst="rect">
            <a:avLst/>
          </a:prstGeom>
          <a:noFill/>
          <a:ln w="9525">
            <a:noFill/>
          </a:ln>
        </p:spPr>
        <p:txBody>
          <a:bodyPr anchor="ctr" anchorCtr="0">
            <a:spAutoFit/>
          </a:bodyPr>
          <a:p>
            <a:pPr marL="447675" indent="-447675" eaLnBrk="1" hangingPunct="1">
              <a:buClr>
                <a:srgbClr val="FF0000"/>
              </a:buClr>
              <a:buFont typeface="Wingdings" panose="05000000000000000000" pitchFamily="2" charset="2"/>
              <a:buChar char="u"/>
            </a:pPr>
            <a:r>
              <a:rPr lang="en-US" altLang="zh-CN" sz="2400" dirty="0">
                <a:latin typeface="黑体" panose="02010609060101010101" pitchFamily="49" charset="-122"/>
                <a:ea typeface="黑体" panose="02010609060101010101" pitchFamily="49" charset="-122"/>
              </a:rPr>
              <a:t>8</a:t>
            </a:r>
            <a:r>
              <a:rPr lang="zh-CN" altLang="en-US" sz="2400" dirty="0">
                <a:latin typeface="黑体" panose="02010609060101010101" pitchFamily="49" charset="-122"/>
                <a:ea typeface="黑体" panose="02010609060101010101" pitchFamily="49" charset="-122"/>
              </a:rPr>
              <a:t>位分辨率的</a:t>
            </a:r>
            <a:r>
              <a:rPr lang="en-US" altLang="zh-CN" sz="2400" dirty="0">
                <a:latin typeface="Times New Roman" panose="02020603050405020304" pitchFamily="18" charset="0"/>
                <a:ea typeface="黑体" panose="02010609060101010101" pitchFamily="49" charset="-122"/>
              </a:rPr>
              <a:t>D/A</a:t>
            </a:r>
            <a:r>
              <a:rPr lang="zh-CN" altLang="en-US" sz="2400" dirty="0">
                <a:latin typeface="黑体" panose="02010609060101010101" pitchFamily="49" charset="-122"/>
                <a:ea typeface="黑体" panose="02010609060101010101" pitchFamily="49" charset="-122"/>
              </a:rPr>
              <a:t>转换集成芯片；</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具有两个输入数据寄存器，可直接与</a:t>
            </a:r>
            <a:r>
              <a:rPr lang="en-US" altLang="zh-CN" sz="2400" dirty="0">
                <a:latin typeface="黑体" panose="02010609060101010101" pitchFamily="49" charset="-122"/>
                <a:ea typeface="黑体" panose="02010609060101010101" pitchFamily="49" charset="-122"/>
              </a:rPr>
              <a:t>8031</a:t>
            </a:r>
            <a:r>
              <a:rPr lang="zh-CN" altLang="en-US" sz="2400" dirty="0">
                <a:latin typeface="黑体" panose="02010609060101010101" pitchFamily="49" charset="-122"/>
                <a:ea typeface="黑体" panose="02010609060101010101" pitchFamily="49" charset="-122"/>
              </a:rPr>
              <a:t>单片机、</a:t>
            </a:r>
            <a:r>
              <a:rPr lang="en-US" altLang="zh-CN" sz="2400" dirty="0">
                <a:latin typeface="黑体" panose="02010609060101010101" pitchFamily="49" charset="-122"/>
                <a:ea typeface="黑体" panose="02010609060101010101" pitchFamily="49" charset="-122"/>
              </a:rPr>
              <a:t>PC</a:t>
            </a:r>
            <a:r>
              <a:rPr lang="zh-CN" altLang="en-US" sz="2400" dirty="0">
                <a:latin typeface="黑体" panose="02010609060101010101" pitchFamily="49" charset="-122"/>
                <a:ea typeface="黑体" panose="02010609060101010101" pitchFamily="49" charset="-122"/>
              </a:rPr>
              <a:t>机接口；</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芯片内有</a:t>
            </a:r>
            <a:r>
              <a:rPr lang="en-US" altLang="zh-CN" sz="2400" dirty="0">
                <a:latin typeface="Times New Roman" panose="02020603050405020304" pitchFamily="18" charset="0"/>
                <a:ea typeface="黑体" panose="02010609060101010101" pitchFamily="49" charset="-122"/>
              </a:rPr>
              <a:t>T</a:t>
            </a:r>
            <a:r>
              <a:rPr lang="zh-CN" altLang="en-US" sz="2400" dirty="0">
                <a:latin typeface="黑体" panose="02010609060101010101" pitchFamily="49" charset="-122"/>
                <a:ea typeface="黑体" panose="02010609060101010101" pitchFamily="49" charset="-122"/>
              </a:rPr>
              <a:t>型电阻网络；</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价格低廉、接口简单、转换控制容易；</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电流稳定时间</a:t>
            </a:r>
            <a:r>
              <a:rPr lang="en-US" altLang="zh-CN" sz="2400" dirty="0">
                <a:latin typeface="Times New Roman" panose="02020603050405020304" pitchFamily="18" charset="0"/>
                <a:ea typeface="黑体" panose="02010609060101010101" pitchFamily="49" charset="-122"/>
              </a:rPr>
              <a:t>1us</a:t>
            </a:r>
            <a:r>
              <a:rPr lang="zh-CN" altLang="en-US" sz="2400" dirty="0">
                <a:latin typeface="Times New Roman" panose="02020603050405020304" pitchFamily="18" charset="0"/>
                <a:ea typeface="黑体" panose="02010609060101010101" pitchFamily="49" charset="-122"/>
              </a:rPr>
              <a:t>，属于中速</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可单缓冲、双缓冲或直接数字输入； </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只需在满量程下调整其线性度； </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单一电源供电</a:t>
            </a:r>
            <a:r>
              <a:rPr lang="zh-CN" altLang="en-US" sz="2400" dirty="0">
                <a:latin typeface="Times New Roman" panose="02020603050405020304" pitchFamily="18" charset="0"/>
                <a:ea typeface="黑体" panose="02010609060101010101" pitchFamily="49" charset="-122"/>
              </a:rPr>
              <a:t>（</a:t>
            </a:r>
            <a:r>
              <a:rPr lang="en-US" altLang="zh-CN" sz="2400" dirty="0">
                <a:latin typeface="Times New Roman" panose="02020603050405020304" pitchFamily="18" charset="0"/>
                <a:ea typeface="黑体" panose="02010609060101010101" pitchFamily="49" charset="-122"/>
              </a:rPr>
              <a:t>+5V</a:t>
            </a:r>
            <a:r>
              <a:rPr lang="zh-CN" altLang="en-US" sz="2400" dirty="0">
                <a:latin typeface="Times New Roman" panose="02020603050405020304" pitchFamily="18" charset="0"/>
                <a:ea typeface="黑体" panose="02010609060101010101" pitchFamily="49" charset="-122"/>
              </a:rPr>
              <a:t>～</a:t>
            </a:r>
            <a:r>
              <a:rPr lang="en-US" altLang="zh-CN" sz="2400" dirty="0">
                <a:latin typeface="Times New Roman" panose="02020603050405020304" pitchFamily="18" charset="0"/>
                <a:ea typeface="黑体" panose="02010609060101010101" pitchFamily="49" charset="-122"/>
              </a:rPr>
              <a:t>+15V</a:t>
            </a:r>
            <a:r>
              <a:rPr lang="zh-CN" altLang="en-US" sz="2400" dirty="0">
                <a:latin typeface="Times New Roman" panose="02020603050405020304" pitchFamily="18" charset="0"/>
                <a:ea typeface="黑体" panose="02010609060101010101" pitchFamily="49" charset="-122"/>
              </a:rPr>
              <a:t>）</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a:p>
            <a:pPr marL="447675" indent="-447675" eaLnBrk="1" hangingPunct="1">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低功耗，</a:t>
            </a:r>
            <a:r>
              <a:rPr lang="en-US" altLang="zh-CN" sz="2400" dirty="0">
                <a:latin typeface="Times New Roman" panose="02020603050405020304" pitchFamily="18" charset="0"/>
                <a:ea typeface="黑体" panose="02010609060101010101" pitchFamily="49" charset="-122"/>
              </a:rPr>
              <a:t>20mW</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p:txBody>
      </p:sp>
      <p:grpSp>
        <p:nvGrpSpPr>
          <p:cNvPr id="2499595" name="Group 11"/>
          <p:cNvGrpSpPr/>
          <p:nvPr/>
        </p:nvGrpSpPr>
        <p:grpSpPr>
          <a:xfrm>
            <a:off x="5832475" y="692150"/>
            <a:ext cx="3132138" cy="5508625"/>
            <a:chOff x="3674" y="436"/>
            <a:chExt cx="1973" cy="3470"/>
          </a:xfrm>
        </p:grpSpPr>
        <p:pic>
          <p:nvPicPr>
            <p:cNvPr id="55303" name="Picture 8"/>
            <p:cNvPicPr>
              <a:picLocks noChangeAspect="1"/>
            </p:cNvPicPr>
            <p:nvPr/>
          </p:nvPicPr>
          <p:blipFill>
            <a:blip r:embed="rId1"/>
            <a:stretch>
              <a:fillRect/>
            </a:stretch>
          </p:blipFill>
          <p:spPr>
            <a:xfrm>
              <a:off x="3719" y="459"/>
              <a:ext cx="1855" cy="1842"/>
            </a:xfrm>
            <a:prstGeom prst="rect">
              <a:avLst/>
            </a:prstGeom>
            <a:noFill/>
            <a:ln w="9525">
              <a:noFill/>
            </a:ln>
          </p:spPr>
        </p:pic>
        <p:pic>
          <p:nvPicPr>
            <p:cNvPr id="55304" name="Picture 9"/>
            <p:cNvPicPr>
              <a:picLocks noChangeAspect="1"/>
            </p:cNvPicPr>
            <p:nvPr/>
          </p:nvPicPr>
          <p:blipFill>
            <a:blip r:embed="rId2"/>
            <a:stretch>
              <a:fillRect/>
            </a:stretch>
          </p:blipFill>
          <p:spPr>
            <a:xfrm>
              <a:off x="3810" y="2382"/>
              <a:ext cx="1791" cy="1479"/>
            </a:xfrm>
            <a:prstGeom prst="rect">
              <a:avLst/>
            </a:prstGeom>
            <a:noFill/>
            <a:ln w="9525">
              <a:noFill/>
            </a:ln>
          </p:spPr>
        </p:pic>
        <p:sp>
          <p:nvSpPr>
            <p:cNvPr id="55305" name="Rectangle 10"/>
            <p:cNvSpPr/>
            <p:nvPr/>
          </p:nvSpPr>
          <p:spPr>
            <a:xfrm>
              <a:off x="3674" y="436"/>
              <a:ext cx="1973" cy="3470"/>
            </a:xfrm>
            <a:prstGeom prst="rect">
              <a:avLst/>
            </a:prstGeom>
            <a:noFill/>
            <a:ln w="9525" cap="flat" cmpd="sng">
              <a:solidFill>
                <a:srgbClr val="FF660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9587"/>
                                        </p:tgtEl>
                                        <p:attrNameLst>
                                          <p:attrName>style.visibility</p:attrName>
                                        </p:attrNameLst>
                                      </p:cBhvr>
                                      <p:to>
                                        <p:strVal val="visible"/>
                                      </p:to>
                                    </p:set>
                                    <p:animEffect transition="in" filter="dissolve">
                                      <p:cBhvr>
                                        <p:cTn id="7" dur="500"/>
                                        <p:tgtEl>
                                          <p:spTgt spid="24995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99595"/>
                                        </p:tgtEl>
                                        <p:attrNameLst>
                                          <p:attrName>style.visibility</p:attrName>
                                        </p:attrNameLst>
                                      </p:cBhvr>
                                      <p:to>
                                        <p:strVal val="visible"/>
                                      </p:to>
                                    </p:set>
                                    <p:animEffect transition="in" filter="dissolve">
                                      <p:cBhvr>
                                        <p:cTn id="12" dur="500"/>
                                        <p:tgtEl>
                                          <p:spTgt spid="249959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499590"/>
                                        </p:tgtEl>
                                        <p:attrNameLst>
                                          <p:attrName>style.visibility</p:attrName>
                                        </p:attrNameLst>
                                      </p:cBhvr>
                                      <p:to>
                                        <p:strVal val="visible"/>
                                      </p:to>
                                    </p:set>
                                    <p:animEffect transition="in" filter="dissolve">
                                      <p:cBhvr>
                                        <p:cTn id="17" dur="500"/>
                                        <p:tgtEl>
                                          <p:spTgt spid="2499590"/>
                                        </p:tgtEl>
                                      </p:cBhvr>
                                    </p:animEffect>
                                  </p:childTnLst>
                                </p:cTn>
                              </p:par>
                              <p:par>
                                <p:cTn id="18" presetID="9" presetClass="entr" presetSubtype="0" fill="hold" nodeType="withEffect">
                                  <p:stCondLst>
                                    <p:cond delay="0"/>
                                  </p:stCondLst>
                                  <p:childTnLst>
                                    <p:set>
                                      <p:cBhvr>
                                        <p:cTn id="19" dur="1" fill="hold">
                                          <p:stCondLst>
                                            <p:cond delay="0"/>
                                          </p:stCondLst>
                                        </p:cTn>
                                        <p:tgtEl>
                                          <p:spTgt spid="2499591">
                                            <p:txEl>
                                              <p:charRg st="0" end="17"/>
                                            </p:txEl>
                                          </p:spTgt>
                                        </p:tgtEl>
                                        <p:attrNameLst>
                                          <p:attrName>style.visibility</p:attrName>
                                        </p:attrNameLst>
                                      </p:cBhvr>
                                      <p:to>
                                        <p:strVal val="visible"/>
                                      </p:to>
                                    </p:set>
                                    <p:animEffect transition="in" filter="dissolve">
                                      <p:cBhvr>
                                        <p:cTn id="20" dur="500"/>
                                        <p:tgtEl>
                                          <p:spTgt spid="2499591">
                                            <p:txEl>
                                              <p:charRg st="0" end="17"/>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2499591">
                                            <p:txEl>
                                              <p:charRg st="17" end="48"/>
                                            </p:txEl>
                                          </p:spTgt>
                                        </p:tgtEl>
                                        <p:attrNameLst>
                                          <p:attrName>style.visibility</p:attrName>
                                        </p:attrNameLst>
                                      </p:cBhvr>
                                      <p:to>
                                        <p:strVal val="visible"/>
                                      </p:to>
                                    </p:set>
                                    <p:animEffect transition="in" filter="dissolve">
                                      <p:cBhvr>
                                        <p:cTn id="23" dur="500"/>
                                        <p:tgtEl>
                                          <p:spTgt spid="2499591">
                                            <p:txEl>
                                              <p:charRg st="17" end="48"/>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2499591">
                                            <p:txEl>
                                              <p:charRg st="48" end="60"/>
                                            </p:txEl>
                                          </p:spTgt>
                                        </p:tgtEl>
                                        <p:attrNameLst>
                                          <p:attrName>style.visibility</p:attrName>
                                        </p:attrNameLst>
                                      </p:cBhvr>
                                      <p:to>
                                        <p:strVal val="visible"/>
                                      </p:to>
                                    </p:set>
                                    <p:animEffect transition="in" filter="dissolve">
                                      <p:cBhvr>
                                        <p:cTn id="26" dur="500"/>
                                        <p:tgtEl>
                                          <p:spTgt spid="2499591">
                                            <p:txEl>
                                              <p:charRg st="48" end="60"/>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499591">
                                            <p:txEl>
                                              <p:charRg st="60" end="78"/>
                                            </p:txEl>
                                          </p:spTgt>
                                        </p:tgtEl>
                                        <p:attrNameLst>
                                          <p:attrName>style.visibility</p:attrName>
                                        </p:attrNameLst>
                                      </p:cBhvr>
                                      <p:to>
                                        <p:strVal val="visible"/>
                                      </p:to>
                                    </p:set>
                                    <p:animEffect transition="in" filter="dissolve">
                                      <p:cBhvr>
                                        <p:cTn id="29" dur="500"/>
                                        <p:tgtEl>
                                          <p:spTgt spid="2499591">
                                            <p:txEl>
                                              <p:charRg st="60" end="78"/>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499591">
                                            <p:txEl>
                                              <p:charRg st="78" end="95"/>
                                            </p:txEl>
                                          </p:spTgt>
                                        </p:tgtEl>
                                        <p:attrNameLst>
                                          <p:attrName>style.visibility</p:attrName>
                                        </p:attrNameLst>
                                      </p:cBhvr>
                                      <p:to>
                                        <p:strVal val="visible"/>
                                      </p:to>
                                    </p:set>
                                    <p:animEffect transition="in" filter="dissolve">
                                      <p:cBhvr>
                                        <p:cTn id="32" dur="500"/>
                                        <p:tgtEl>
                                          <p:spTgt spid="2499591">
                                            <p:txEl>
                                              <p:charRg st="78" end="9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2499591">
                                            <p:txEl>
                                              <p:charRg st="95" end="113"/>
                                            </p:txEl>
                                          </p:spTgt>
                                        </p:tgtEl>
                                        <p:attrNameLst>
                                          <p:attrName>style.visibility</p:attrName>
                                        </p:attrNameLst>
                                      </p:cBhvr>
                                      <p:to>
                                        <p:strVal val="visible"/>
                                      </p:to>
                                    </p:set>
                                    <p:animEffect transition="in" filter="dissolve">
                                      <p:cBhvr>
                                        <p:cTn id="35" dur="500"/>
                                        <p:tgtEl>
                                          <p:spTgt spid="2499591">
                                            <p:txEl>
                                              <p:charRg st="95" end="113"/>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2499591">
                                            <p:txEl>
                                              <p:charRg st="113" end="129"/>
                                            </p:txEl>
                                          </p:spTgt>
                                        </p:tgtEl>
                                        <p:attrNameLst>
                                          <p:attrName>style.visibility</p:attrName>
                                        </p:attrNameLst>
                                      </p:cBhvr>
                                      <p:to>
                                        <p:strVal val="visible"/>
                                      </p:to>
                                    </p:set>
                                    <p:animEffect transition="in" filter="dissolve">
                                      <p:cBhvr>
                                        <p:cTn id="38" dur="500"/>
                                        <p:tgtEl>
                                          <p:spTgt spid="2499591">
                                            <p:txEl>
                                              <p:charRg st="113" end="129"/>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2499591">
                                            <p:txEl>
                                              <p:charRg st="129" end="148"/>
                                            </p:txEl>
                                          </p:spTgt>
                                        </p:tgtEl>
                                        <p:attrNameLst>
                                          <p:attrName>style.visibility</p:attrName>
                                        </p:attrNameLst>
                                      </p:cBhvr>
                                      <p:to>
                                        <p:strVal val="visible"/>
                                      </p:to>
                                    </p:set>
                                    <p:animEffect transition="in" filter="dissolve">
                                      <p:cBhvr>
                                        <p:cTn id="41" dur="500"/>
                                        <p:tgtEl>
                                          <p:spTgt spid="2499591">
                                            <p:txEl>
                                              <p:charRg st="129" end="148"/>
                                            </p:txEl>
                                          </p:spTgt>
                                        </p:tgtEl>
                                      </p:cBhvr>
                                    </p:animEffect>
                                  </p:childTnLst>
                                </p:cTn>
                              </p:par>
                              <p:par>
                                <p:cTn id="42" presetID="9" presetClass="entr" presetSubtype="0" fill="hold" nodeType="withEffect">
                                  <p:stCondLst>
                                    <p:cond delay="0"/>
                                  </p:stCondLst>
                                  <p:childTnLst>
                                    <p:set>
                                      <p:cBhvr>
                                        <p:cTn id="43" dur="1" fill="hold">
                                          <p:stCondLst>
                                            <p:cond delay="0"/>
                                          </p:stCondLst>
                                        </p:cTn>
                                        <p:tgtEl>
                                          <p:spTgt spid="2499591">
                                            <p:txEl>
                                              <p:charRg st="148" end="161"/>
                                            </p:txEl>
                                          </p:spTgt>
                                        </p:tgtEl>
                                        <p:attrNameLst>
                                          <p:attrName>style.visibility</p:attrName>
                                        </p:attrNameLst>
                                      </p:cBhvr>
                                      <p:to>
                                        <p:strVal val="visible"/>
                                      </p:to>
                                    </p:set>
                                    <p:animEffect transition="in" filter="dissolve">
                                      <p:cBhvr>
                                        <p:cTn id="44" dur="500"/>
                                        <p:tgtEl>
                                          <p:spTgt spid="2499591">
                                            <p:txEl>
                                              <p:charRg st="148" end="16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9587" grpId="0" bldLvl="0" animBg="1"/>
      <p:bldP spid="2499590" grpId="0"/>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1634"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57347"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pic>
        <p:nvPicPr>
          <p:cNvPr id="2501725" name="Picture 93"/>
          <p:cNvPicPr>
            <a:picLocks noChangeAspect="1"/>
          </p:cNvPicPr>
          <p:nvPr/>
        </p:nvPicPr>
        <p:blipFill>
          <a:blip r:embed="rId1"/>
          <a:stretch>
            <a:fillRect/>
          </a:stretch>
        </p:blipFill>
        <p:spPr>
          <a:xfrm>
            <a:off x="3959225" y="1439863"/>
            <a:ext cx="5113338" cy="3959225"/>
          </a:xfrm>
          <a:prstGeom prst="rect">
            <a:avLst/>
          </a:prstGeom>
          <a:noFill/>
          <a:ln w="9525">
            <a:noFill/>
          </a:ln>
        </p:spPr>
      </p:pic>
      <p:sp>
        <p:nvSpPr>
          <p:cNvPr id="2501726" name="Text Box 94"/>
          <p:cNvSpPr txBox="1"/>
          <p:nvPr/>
        </p:nvSpPr>
        <p:spPr>
          <a:xfrm>
            <a:off x="5219700" y="5408613"/>
            <a:ext cx="3060700" cy="420687"/>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000099"/>
                </a:solidFill>
                <a:latin typeface="Times New Roman" panose="02020603050405020304" pitchFamily="18" charset="0"/>
              </a:rPr>
              <a:t>DAC0832</a:t>
            </a:r>
            <a:r>
              <a:rPr lang="zh-CN" altLang="en-US" sz="2400" dirty="0">
                <a:solidFill>
                  <a:srgbClr val="000099"/>
                </a:solidFill>
                <a:latin typeface="Times New Roman" panose="02020603050405020304" pitchFamily="18" charset="0"/>
              </a:rPr>
              <a:t>结构框图</a:t>
            </a:r>
            <a:endParaRPr lang="zh-CN" altLang="en-US" sz="2400" dirty="0">
              <a:solidFill>
                <a:srgbClr val="000099"/>
              </a:solidFill>
              <a:latin typeface="Times New Roman" panose="02020603050405020304" pitchFamily="18" charset="0"/>
            </a:endParaRPr>
          </a:p>
        </p:txBody>
      </p:sp>
      <p:sp>
        <p:nvSpPr>
          <p:cNvPr id="2501727" name="Rectangle 95"/>
          <p:cNvSpPr/>
          <p:nvPr/>
        </p:nvSpPr>
        <p:spPr>
          <a:xfrm>
            <a:off x="107950" y="1371600"/>
            <a:ext cx="3708400" cy="4802188"/>
          </a:xfrm>
          <a:prstGeom prst="rect">
            <a:avLst/>
          </a:prstGeom>
          <a:noFill/>
          <a:ln w="9525">
            <a:noFill/>
          </a:ln>
        </p:spPr>
        <p:txBody>
          <a:bodyPr anchor="ctr" anchorCtr="0">
            <a:spAutoFit/>
          </a:bodyPr>
          <a:p>
            <a:pPr marL="360680" indent="-360680" eaLnBrk="1" hangingPunct="1">
              <a:spcBef>
                <a:spcPct val="15000"/>
              </a:spcBef>
              <a:buClr>
                <a:srgbClr val="FF0000"/>
              </a:buClr>
              <a:buFont typeface="Wingdings" panose="05000000000000000000" pitchFamily="2" charset="2"/>
              <a:buChar char="u"/>
            </a:pPr>
            <a:r>
              <a:rPr lang="en-US" altLang="zh-CN" sz="2000" dirty="0">
                <a:latin typeface="Times New Roman" panose="02020603050405020304" pitchFamily="18" charset="0"/>
                <a:ea typeface="黑体" panose="02010609060101010101" pitchFamily="49" charset="-122"/>
              </a:rPr>
              <a:t>DAC0832</a:t>
            </a:r>
            <a:r>
              <a:rPr lang="zh-CN" altLang="en-US" sz="2000" dirty="0">
                <a:latin typeface="黑体" panose="02010609060101010101" pitchFamily="49" charset="-122"/>
                <a:ea typeface="黑体" panose="02010609060101010101" pitchFamily="49" charset="-122"/>
              </a:rPr>
              <a:t>中有两级锁存器，第一级锁存器称为输入寄存器，它的锁存信号为</a:t>
            </a:r>
            <a:r>
              <a:rPr lang="en-US" altLang="zh-CN" sz="2000" dirty="0">
                <a:solidFill>
                  <a:srgbClr val="FF0000"/>
                </a:solidFill>
                <a:latin typeface="Times New Roman" panose="02020603050405020304" pitchFamily="18" charset="0"/>
                <a:ea typeface="黑体" panose="02010609060101010101" pitchFamily="49" charset="-122"/>
              </a:rPr>
              <a:t>ILE</a:t>
            </a:r>
            <a:r>
              <a:rPr lang="zh-CN" altLang="en-US" sz="2000" dirty="0">
                <a:latin typeface="黑体" panose="02010609060101010101" pitchFamily="49" charset="-122"/>
                <a:ea typeface="黑体" panose="02010609060101010101" pitchFamily="49" charset="-122"/>
              </a:rPr>
              <a:t>；</a:t>
            </a:r>
            <a:endParaRPr lang="zh-CN" altLang="en-US" sz="2000" dirty="0">
              <a:latin typeface="黑体" panose="02010609060101010101" pitchFamily="49" charset="-122"/>
              <a:ea typeface="黑体" panose="02010609060101010101" pitchFamily="49" charset="-122"/>
            </a:endParaRPr>
          </a:p>
          <a:p>
            <a:pPr marL="360680" indent="-360680" eaLnBrk="1" hangingPunct="1">
              <a:spcBef>
                <a:spcPct val="15000"/>
              </a:spcBef>
              <a:buClr>
                <a:srgbClr val="FF0000"/>
              </a:buClr>
              <a:buFont typeface="Wingdings" panose="05000000000000000000" pitchFamily="2" charset="2"/>
              <a:buChar char="u"/>
            </a:pPr>
            <a:r>
              <a:rPr lang="zh-CN" altLang="en-US" sz="2000" dirty="0">
                <a:latin typeface="黑体" panose="02010609060101010101" pitchFamily="49" charset="-122"/>
                <a:ea typeface="黑体" panose="02010609060101010101" pitchFamily="49" charset="-122"/>
              </a:rPr>
              <a:t>第二级锁存器称为</a:t>
            </a:r>
            <a:r>
              <a:rPr lang="en-US" altLang="zh-CN" sz="2000" dirty="0">
                <a:latin typeface="Times New Roman" panose="02020603050405020304" pitchFamily="18" charset="0"/>
                <a:ea typeface="黑体" panose="02010609060101010101" pitchFamily="49" charset="-122"/>
              </a:rPr>
              <a:t>DAC</a:t>
            </a:r>
            <a:r>
              <a:rPr lang="zh-CN" altLang="en-US" sz="2000" dirty="0">
                <a:latin typeface="黑体" panose="02010609060101010101" pitchFamily="49" charset="-122"/>
                <a:ea typeface="黑体" panose="02010609060101010101" pitchFamily="49" charset="-122"/>
              </a:rPr>
              <a:t>寄存器，它的锁存信号为传输控制信号</a:t>
            </a:r>
            <a:r>
              <a:rPr lang="en-US" altLang="zh-CN" sz="2000" dirty="0">
                <a:solidFill>
                  <a:srgbClr val="FF0000"/>
                </a:solidFill>
                <a:latin typeface="Times New Roman" panose="02020603050405020304" pitchFamily="18" charset="0"/>
                <a:ea typeface="黑体" panose="02010609060101010101" pitchFamily="49" charset="-122"/>
              </a:rPr>
              <a:t>XFER</a:t>
            </a:r>
            <a:r>
              <a:rPr lang="zh-CN" altLang="en-US" sz="2000" dirty="0">
                <a:latin typeface="黑体" panose="02010609060101010101" pitchFamily="49" charset="-122"/>
                <a:ea typeface="黑体" panose="02010609060101010101" pitchFamily="49" charset="-122"/>
              </a:rPr>
              <a:t>。</a:t>
            </a:r>
            <a:endParaRPr lang="zh-CN" altLang="en-US" sz="2000" dirty="0">
              <a:latin typeface="黑体" panose="02010609060101010101" pitchFamily="49" charset="-122"/>
              <a:ea typeface="黑体" panose="02010609060101010101" pitchFamily="49" charset="-122"/>
            </a:endParaRPr>
          </a:p>
          <a:p>
            <a:pPr marL="360680" indent="-360680" eaLnBrk="1" hangingPunct="1">
              <a:spcBef>
                <a:spcPct val="15000"/>
              </a:spcBef>
              <a:buClr>
                <a:srgbClr val="FF0000"/>
              </a:buClr>
              <a:buFont typeface="Wingdings" panose="05000000000000000000" pitchFamily="2" charset="2"/>
              <a:buChar char="u"/>
            </a:pPr>
            <a:r>
              <a:rPr lang="zh-CN" altLang="en-US" sz="2000" dirty="0">
                <a:latin typeface="黑体" panose="02010609060101010101" pitchFamily="49" charset="-122"/>
                <a:ea typeface="黑体" panose="02010609060101010101" pitchFamily="49" charset="-122"/>
              </a:rPr>
              <a:t>因为有两级锁存器，</a:t>
            </a:r>
            <a:r>
              <a:rPr lang="zh-CN" altLang="en-US" sz="2000" dirty="0">
                <a:latin typeface="Times New Roman" panose="02020603050405020304" pitchFamily="18" charset="0"/>
                <a:ea typeface="黑体" panose="02010609060101010101" pitchFamily="49" charset="-122"/>
              </a:rPr>
              <a:t>因此</a:t>
            </a:r>
            <a:r>
              <a:rPr lang="zh-CN" altLang="en-US" sz="2000" dirty="0">
                <a:latin typeface="黑体" panose="02010609060101010101" pitchFamily="49" charset="-122"/>
                <a:ea typeface="黑体" panose="02010609060101010101" pitchFamily="49" charset="-122"/>
              </a:rPr>
              <a:t>可以工作在双缓冲器方式，即在输出模拟信号的同时采集下一个数字量，这样能有效地提高转换速度。</a:t>
            </a:r>
            <a:endParaRPr lang="zh-CN" altLang="en-US" sz="2000" dirty="0">
              <a:latin typeface="黑体" panose="02010609060101010101" pitchFamily="49" charset="-122"/>
              <a:ea typeface="黑体" panose="02010609060101010101" pitchFamily="49" charset="-122"/>
            </a:endParaRPr>
          </a:p>
          <a:p>
            <a:pPr marL="360680" indent="-360680" eaLnBrk="1" hangingPunct="1">
              <a:spcBef>
                <a:spcPct val="15000"/>
              </a:spcBef>
              <a:buClr>
                <a:srgbClr val="FF0000"/>
              </a:buClr>
              <a:buFont typeface="Wingdings" panose="05000000000000000000" pitchFamily="2" charset="2"/>
              <a:buChar char="u"/>
            </a:pPr>
            <a:r>
              <a:rPr lang="zh-CN" altLang="en-US" sz="2000" dirty="0">
                <a:latin typeface="黑体" panose="02010609060101010101" pitchFamily="49" charset="-122"/>
                <a:ea typeface="黑体" panose="02010609060101010101" pitchFamily="49" charset="-122"/>
              </a:rPr>
              <a:t>此外，两级锁存器还可以在多个</a:t>
            </a:r>
            <a:r>
              <a:rPr lang="en-US" altLang="zh-CN" sz="2000" dirty="0">
                <a:latin typeface="Times New Roman" panose="02020603050405020304" pitchFamily="18" charset="0"/>
                <a:ea typeface="黑体" panose="02010609060101010101" pitchFamily="49" charset="-122"/>
              </a:rPr>
              <a:t>D/A</a:t>
            </a:r>
            <a:r>
              <a:rPr lang="zh-CN" altLang="en-US" sz="2000" dirty="0">
                <a:latin typeface="黑体" panose="02010609060101010101" pitchFamily="49" charset="-122"/>
                <a:ea typeface="黑体" panose="02010609060101010101" pitchFamily="49" charset="-122"/>
              </a:rPr>
              <a:t>转换器同时工作时，利用第二级锁存信号来实现多个转换器同步输出。 </a:t>
            </a:r>
            <a:endParaRPr lang="zh-CN" altLang="en-US" sz="2000" dirty="0">
              <a:latin typeface="黑体" panose="02010609060101010101" pitchFamily="49" charset="-122"/>
              <a:ea typeface="黑体" panose="02010609060101010101" pitchFamily="49" charset="-122"/>
            </a:endParaRPr>
          </a:p>
        </p:txBody>
      </p:sp>
      <p:sp>
        <p:nvSpPr>
          <p:cNvPr id="2501728" name="Line 96"/>
          <p:cNvSpPr/>
          <p:nvPr/>
        </p:nvSpPr>
        <p:spPr>
          <a:xfrm>
            <a:off x="1358900" y="3005138"/>
            <a:ext cx="647700" cy="0"/>
          </a:xfrm>
          <a:prstGeom prst="line">
            <a:avLst/>
          </a:prstGeom>
          <a:ln w="19050" cap="flat" cmpd="sng">
            <a:solidFill>
              <a:srgbClr val="FF0000"/>
            </a:solidFill>
            <a:prstDash val="solid"/>
            <a:headEnd type="none" w="med" len="med"/>
            <a:tailEnd type="none" w="med" len="med"/>
          </a:ln>
        </p:spPr>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01725"/>
                                        </p:tgtEl>
                                        <p:attrNameLst>
                                          <p:attrName>style.visibility</p:attrName>
                                        </p:attrNameLst>
                                      </p:cBhvr>
                                      <p:to>
                                        <p:strVal val="visible"/>
                                      </p:to>
                                    </p:set>
                                    <p:animEffect transition="in" filter="dissolve">
                                      <p:cBhvr>
                                        <p:cTn id="7" dur="500"/>
                                        <p:tgtEl>
                                          <p:spTgt spid="250172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01726"/>
                                        </p:tgtEl>
                                        <p:attrNameLst>
                                          <p:attrName>style.visibility</p:attrName>
                                        </p:attrNameLst>
                                      </p:cBhvr>
                                      <p:to>
                                        <p:strVal val="visible"/>
                                      </p:to>
                                    </p:set>
                                    <p:animEffect transition="in" filter="dissolve">
                                      <p:cBhvr>
                                        <p:cTn id="10" dur="500"/>
                                        <p:tgtEl>
                                          <p:spTgt spid="25017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01727">
                                            <p:txEl>
                                              <p:charRg st="0" end="41"/>
                                            </p:txEl>
                                          </p:spTgt>
                                        </p:tgtEl>
                                        <p:attrNameLst>
                                          <p:attrName>style.visibility</p:attrName>
                                        </p:attrNameLst>
                                      </p:cBhvr>
                                      <p:to>
                                        <p:strVal val="visible"/>
                                      </p:to>
                                    </p:set>
                                    <p:animEffect transition="in" filter="dissolve">
                                      <p:cBhvr>
                                        <p:cTn id="15" dur="500"/>
                                        <p:tgtEl>
                                          <p:spTgt spid="2501727">
                                            <p:txEl>
                                              <p:charRg st="0" end="4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01727">
                                            <p:txEl>
                                              <p:charRg st="41" end="75"/>
                                            </p:txEl>
                                          </p:spTgt>
                                        </p:tgtEl>
                                        <p:attrNameLst>
                                          <p:attrName>style.visibility</p:attrName>
                                        </p:attrNameLst>
                                      </p:cBhvr>
                                      <p:to>
                                        <p:strVal val="visible"/>
                                      </p:to>
                                    </p:set>
                                    <p:animEffect transition="in" filter="dissolve">
                                      <p:cBhvr>
                                        <p:cTn id="20" dur="500"/>
                                        <p:tgtEl>
                                          <p:spTgt spid="2501727">
                                            <p:txEl>
                                              <p:charRg st="41" end="7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2501728"/>
                                        </p:tgtEl>
                                        <p:attrNameLst>
                                          <p:attrName>style.visibility</p:attrName>
                                        </p:attrNameLst>
                                      </p:cBhvr>
                                      <p:to>
                                        <p:strVal val="visible"/>
                                      </p:to>
                                    </p:set>
                                    <p:animEffect transition="in" filter="dissolve">
                                      <p:cBhvr>
                                        <p:cTn id="23" dur="500"/>
                                        <p:tgtEl>
                                          <p:spTgt spid="250172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501727">
                                            <p:txEl>
                                              <p:charRg st="75" end="132"/>
                                            </p:txEl>
                                          </p:spTgt>
                                        </p:tgtEl>
                                        <p:attrNameLst>
                                          <p:attrName>style.visibility</p:attrName>
                                        </p:attrNameLst>
                                      </p:cBhvr>
                                      <p:to>
                                        <p:strVal val="visible"/>
                                      </p:to>
                                    </p:set>
                                    <p:animEffect transition="in" filter="dissolve">
                                      <p:cBhvr>
                                        <p:cTn id="28" dur="500"/>
                                        <p:tgtEl>
                                          <p:spTgt spid="2501727">
                                            <p:txEl>
                                              <p:charRg st="75" end="13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501727">
                                            <p:txEl>
                                              <p:charRg st="132" end="182"/>
                                            </p:txEl>
                                          </p:spTgt>
                                        </p:tgtEl>
                                        <p:attrNameLst>
                                          <p:attrName>style.visibility</p:attrName>
                                        </p:attrNameLst>
                                      </p:cBhvr>
                                      <p:to>
                                        <p:strVal val="visible"/>
                                      </p:to>
                                    </p:set>
                                    <p:animEffect transition="in" filter="dissolve">
                                      <p:cBhvr>
                                        <p:cTn id="33" dur="500"/>
                                        <p:tgtEl>
                                          <p:spTgt spid="2501727">
                                            <p:txEl>
                                              <p:charRg st="132" end="18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1726"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5730"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59395"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pic>
        <p:nvPicPr>
          <p:cNvPr id="59396" name="Picture 4"/>
          <p:cNvPicPr>
            <a:picLocks noChangeAspect="1"/>
          </p:cNvPicPr>
          <p:nvPr/>
        </p:nvPicPr>
        <p:blipFill>
          <a:blip r:embed="rId1"/>
          <a:stretch>
            <a:fillRect/>
          </a:stretch>
        </p:blipFill>
        <p:spPr>
          <a:xfrm>
            <a:off x="3959225" y="1439863"/>
            <a:ext cx="5113338" cy="3959225"/>
          </a:xfrm>
          <a:prstGeom prst="rect">
            <a:avLst/>
          </a:prstGeom>
          <a:noFill/>
          <a:ln w="9525">
            <a:noFill/>
          </a:ln>
        </p:spPr>
      </p:pic>
      <p:sp>
        <p:nvSpPr>
          <p:cNvPr id="59397" name="Text Box 5"/>
          <p:cNvSpPr txBox="1"/>
          <p:nvPr/>
        </p:nvSpPr>
        <p:spPr>
          <a:xfrm>
            <a:off x="5219700" y="5408613"/>
            <a:ext cx="3060700" cy="420687"/>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000099"/>
                </a:solidFill>
                <a:latin typeface="Times New Roman" panose="02020603050405020304" pitchFamily="18" charset="0"/>
              </a:rPr>
              <a:t>DAC0832</a:t>
            </a:r>
            <a:r>
              <a:rPr lang="zh-CN" altLang="en-US" sz="2400" dirty="0">
                <a:solidFill>
                  <a:srgbClr val="000099"/>
                </a:solidFill>
                <a:latin typeface="Times New Roman" panose="02020603050405020304" pitchFamily="18" charset="0"/>
              </a:rPr>
              <a:t>结构框图</a:t>
            </a:r>
            <a:endParaRPr lang="zh-CN" altLang="en-US" sz="2400" dirty="0">
              <a:solidFill>
                <a:srgbClr val="000099"/>
              </a:solidFill>
              <a:latin typeface="Times New Roman" panose="02020603050405020304" pitchFamily="18" charset="0"/>
            </a:endParaRPr>
          </a:p>
        </p:txBody>
      </p:sp>
      <p:sp>
        <p:nvSpPr>
          <p:cNvPr id="2505734" name="Rectangle 6"/>
          <p:cNvSpPr/>
          <p:nvPr/>
        </p:nvSpPr>
        <p:spPr>
          <a:xfrm>
            <a:off x="107950" y="1557338"/>
            <a:ext cx="3708400" cy="2378075"/>
          </a:xfrm>
          <a:prstGeom prst="rect">
            <a:avLst/>
          </a:prstGeom>
          <a:noFill/>
          <a:ln w="9525">
            <a:noFill/>
          </a:ln>
        </p:spPr>
        <p:txBody>
          <a:bodyPr anchor="ctr" anchorCtr="0">
            <a:spAutoFit/>
          </a:bodyPr>
          <a:p>
            <a:pPr marL="360680" indent="-360680" eaLnBrk="1" hangingPunct="1">
              <a:spcBef>
                <a:spcPct val="50000"/>
              </a:spcBef>
              <a:buClr>
                <a:srgbClr val="FF0000"/>
              </a:buClr>
              <a:buFont typeface="Wingdings" panose="05000000000000000000" pitchFamily="2" charset="2"/>
              <a:buChar char="u"/>
            </a:pPr>
            <a:r>
              <a:rPr lang="en-US" altLang="zh-CN" sz="2000" dirty="0">
                <a:latin typeface="Times New Roman" panose="02020603050405020304" pitchFamily="18" charset="0"/>
                <a:ea typeface="黑体" panose="02010609060101010101" pitchFamily="49" charset="-122"/>
              </a:rPr>
              <a:t>8</a:t>
            </a:r>
            <a:r>
              <a:rPr lang="zh-CN" altLang="en-US" sz="2000" dirty="0">
                <a:latin typeface="Times New Roman" panose="02020603050405020304" pitchFamily="18" charset="0"/>
                <a:ea typeface="黑体" panose="02010609060101010101" pitchFamily="49" charset="-122"/>
              </a:rPr>
              <a:t>位</a:t>
            </a:r>
            <a:r>
              <a:rPr lang="en-US" altLang="zh-CN" sz="2000" dirty="0">
                <a:latin typeface="Times New Roman" panose="02020603050405020304" pitchFamily="18" charset="0"/>
                <a:ea typeface="黑体" panose="02010609060101010101" pitchFamily="49" charset="-122"/>
              </a:rPr>
              <a:t>D/A</a:t>
            </a:r>
            <a:r>
              <a:rPr lang="zh-CN" altLang="en-US" sz="2000" dirty="0">
                <a:latin typeface="Times New Roman" panose="02020603050405020304" pitchFamily="18" charset="0"/>
                <a:ea typeface="黑体" panose="02010609060101010101" pitchFamily="49" charset="-122"/>
              </a:rPr>
              <a:t>转换器主要由</a:t>
            </a:r>
            <a:r>
              <a:rPr lang="en-US" altLang="zh-CN" sz="2000" i="1" dirty="0">
                <a:solidFill>
                  <a:srgbClr val="FF0000"/>
                </a:solidFill>
                <a:latin typeface="Times New Roman" panose="02020603050405020304" pitchFamily="18" charset="0"/>
                <a:ea typeface="黑体" panose="02010609060101010101" pitchFamily="49" charset="-122"/>
              </a:rPr>
              <a:t>R</a:t>
            </a:r>
            <a:r>
              <a:rPr lang="zh-CN" altLang="en-US" sz="2000" dirty="0">
                <a:latin typeface="Times New Roman" panose="02020603050405020304" pitchFamily="18" charset="0"/>
                <a:ea typeface="黑体" panose="02010609060101010101" pitchFamily="49" charset="-122"/>
              </a:rPr>
              <a:t>，</a:t>
            </a:r>
            <a:r>
              <a:rPr lang="en-US" altLang="zh-CN" sz="2000" i="1" dirty="0">
                <a:solidFill>
                  <a:srgbClr val="FF0000"/>
                </a:solidFill>
                <a:latin typeface="Times New Roman" panose="02020603050405020304" pitchFamily="18" charset="0"/>
                <a:ea typeface="黑体" panose="02010609060101010101" pitchFamily="49" charset="-122"/>
              </a:rPr>
              <a:t>2R</a:t>
            </a:r>
            <a:r>
              <a:rPr lang="zh-CN" altLang="en-US" sz="2000" dirty="0">
                <a:latin typeface="Times New Roman" panose="02020603050405020304" pitchFamily="18" charset="0"/>
                <a:ea typeface="黑体" panose="02010609060101010101" pitchFamily="49" charset="-122"/>
              </a:rPr>
              <a:t>组成的</a:t>
            </a:r>
            <a:r>
              <a:rPr lang="en-US" altLang="zh-CN" sz="2000" dirty="0">
                <a:latin typeface="Times New Roman" panose="02020603050405020304" pitchFamily="18" charset="0"/>
                <a:ea typeface="黑体" panose="02010609060101010101" pitchFamily="49" charset="-122"/>
              </a:rPr>
              <a:t>T</a:t>
            </a:r>
            <a:r>
              <a:rPr lang="zh-CN" altLang="en-US" sz="2000" dirty="0">
                <a:latin typeface="Times New Roman" panose="02020603050405020304" pitchFamily="18" charset="0"/>
                <a:ea typeface="黑体" panose="02010609060101010101" pitchFamily="49" charset="-122"/>
              </a:rPr>
              <a:t>型电阻网络和模拟切换开关组成，并且芯片内集成了一个求和反馈电阻</a:t>
            </a:r>
            <a:r>
              <a:rPr lang="en-US" altLang="zh-CN" sz="2000" i="1" dirty="0">
                <a:solidFill>
                  <a:srgbClr val="FF0000"/>
                </a:solidFill>
                <a:latin typeface="Times New Roman" panose="02020603050405020304" pitchFamily="18" charset="0"/>
                <a:ea typeface="黑体" panose="02010609060101010101" pitchFamily="49" charset="-122"/>
              </a:rPr>
              <a:t>R</a:t>
            </a:r>
            <a:r>
              <a:rPr lang="zh-CN" altLang="en-US" sz="2000" dirty="0">
                <a:latin typeface="Times New Roman" panose="02020603050405020304" pitchFamily="18" charset="0"/>
                <a:ea typeface="黑体" panose="02010609060101010101" pitchFamily="49" charset="-122"/>
              </a:rPr>
              <a:t>。</a:t>
            </a:r>
            <a:endParaRPr lang="zh-CN" altLang="en-US" sz="2000" dirty="0">
              <a:latin typeface="Times New Roman" panose="02020603050405020304" pitchFamily="18" charset="0"/>
              <a:ea typeface="黑体" panose="02010609060101010101" pitchFamily="49" charset="-122"/>
            </a:endParaRPr>
          </a:p>
          <a:p>
            <a:pPr marL="360680" indent="-360680" eaLnBrk="1" hangingPunct="1">
              <a:spcBef>
                <a:spcPct val="50000"/>
              </a:spcBef>
              <a:buClr>
                <a:srgbClr val="FF0000"/>
              </a:buClr>
              <a:buFont typeface="Wingdings" panose="05000000000000000000" pitchFamily="2" charset="2"/>
              <a:buChar char="u"/>
            </a:pPr>
            <a:r>
              <a:rPr lang="zh-CN" altLang="en-US" sz="2000" dirty="0">
                <a:latin typeface="Times New Roman" panose="02020603050405020304" pitchFamily="18" charset="0"/>
                <a:ea typeface="黑体" panose="02010609060101010101" pitchFamily="49" charset="-122"/>
              </a:rPr>
              <a:t>芯片的输出是电流形式，需要外接一个运算放大器，将电流转化为电压：</a:t>
            </a:r>
            <a:endParaRPr lang="zh-CN" altLang="en-US" sz="2000" dirty="0">
              <a:latin typeface="黑体" panose="02010609060101010101" pitchFamily="49" charset="-122"/>
              <a:ea typeface="黑体" panose="02010609060101010101" pitchFamily="49" charset="-122"/>
            </a:endParaRPr>
          </a:p>
        </p:txBody>
      </p:sp>
      <p:graphicFrame>
        <p:nvGraphicFramePr>
          <p:cNvPr id="2505736" name="Object 8"/>
          <p:cNvGraphicFramePr>
            <a:graphicFrameLocks noGrp="1" noChangeAspect="1"/>
          </p:cNvGraphicFramePr>
          <p:nvPr>
            <p:ph idx="4294967295" hasCustomPrompt="1"/>
          </p:nvPr>
        </p:nvGraphicFramePr>
        <p:xfrm>
          <a:off x="431800" y="4029075"/>
          <a:ext cx="3276600" cy="928688"/>
        </p:xfrm>
        <a:graphic>
          <a:graphicData uri="http://schemas.openxmlformats.org/presentationml/2006/ole">
            <mc:AlternateContent xmlns:mc="http://schemas.openxmlformats.org/markup-compatibility/2006">
              <mc:Choice xmlns:v="urn:schemas-microsoft-com:vml" Requires="v">
                <p:oleObj spid="_x0000_s3092" name="" r:id="rId2" imgW="1524000" imgH="431800" progId="Equation.3">
                  <p:embed/>
                </p:oleObj>
              </mc:Choice>
              <mc:Fallback>
                <p:oleObj name="" r:id="rId2" imgW="1524000" imgH="431800" progId="Equation.3">
                  <p:embed/>
                  <p:pic>
                    <p:nvPicPr>
                      <p:cNvPr id="0" name="图片 3091"/>
                      <p:cNvPicPr/>
                      <p:nvPr/>
                    </p:nvPicPr>
                    <p:blipFill>
                      <a:blip r:embed="rId3"/>
                      <a:stretch>
                        <a:fillRect/>
                      </a:stretch>
                    </p:blipFill>
                    <p:spPr>
                      <a:xfrm>
                        <a:off x="431800" y="4029075"/>
                        <a:ext cx="3276600" cy="928688"/>
                      </a:xfrm>
                      <a:prstGeom prst="rect">
                        <a:avLst/>
                      </a:prstGeom>
                      <a:solidFill>
                        <a:srgbClr val="CCFFCC"/>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05734">
                                            <p:txEl>
                                              <p:charRg st="0" end="53"/>
                                            </p:txEl>
                                          </p:spTgt>
                                        </p:tgtEl>
                                        <p:attrNameLst>
                                          <p:attrName>style.visibility</p:attrName>
                                        </p:attrNameLst>
                                      </p:cBhvr>
                                      <p:to>
                                        <p:strVal val="visible"/>
                                      </p:to>
                                    </p:set>
                                    <p:animEffect transition="in" filter="dissolve">
                                      <p:cBhvr>
                                        <p:cTn id="7" dur="500"/>
                                        <p:tgtEl>
                                          <p:spTgt spid="2505734">
                                            <p:txEl>
                                              <p:charRg st="0" end="5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05734">
                                            <p:txEl>
                                              <p:charRg st="53" end="86"/>
                                            </p:txEl>
                                          </p:spTgt>
                                        </p:tgtEl>
                                        <p:attrNameLst>
                                          <p:attrName>style.visibility</p:attrName>
                                        </p:attrNameLst>
                                      </p:cBhvr>
                                      <p:to>
                                        <p:strVal val="visible"/>
                                      </p:to>
                                    </p:set>
                                    <p:animEffect transition="in" filter="dissolve">
                                      <p:cBhvr>
                                        <p:cTn id="12" dur="500"/>
                                        <p:tgtEl>
                                          <p:spTgt spid="2505734">
                                            <p:txEl>
                                              <p:charRg st="53" end="86"/>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05736"/>
                                        </p:tgtEl>
                                        <p:attrNameLst>
                                          <p:attrName>style.visibility</p:attrName>
                                        </p:attrNameLst>
                                      </p:cBhvr>
                                      <p:to>
                                        <p:strVal val="visible"/>
                                      </p:to>
                                    </p:set>
                                    <p:animEffect transition="in" filter="dissolve">
                                      <p:cBhvr>
                                        <p:cTn id="17" dur="500"/>
                                        <p:tgtEl>
                                          <p:spTgt spid="25057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3683" name="Text Box 3"/>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61443" name="Rectangle 4"/>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pic>
        <p:nvPicPr>
          <p:cNvPr id="61444" name="Picture 85"/>
          <p:cNvPicPr>
            <a:picLocks noChangeAspect="1"/>
          </p:cNvPicPr>
          <p:nvPr/>
        </p:nvPicPr>
        <p:blipFill>
          <a:blip r:embed="rId1"/>
          <a:stretch>
            <a:fillRect/>
          </a:stretch>
        </p:blipFill>
        <p:spPr>
          <a:xfrm>
            <a:off x="3959225" y="1439863"/>
            <a:ext cx="5113338" cy="3959225"/>
          </a:xfrm>
          <a:prstGeom prst="rect">
            <a:avLst/>
          </a:prstGeom>
          <a:noFill/>
          <a:ln w="9525">
            <a:noFill/>
          </a:ln>
        </p:spPr>
      </p:pic>
      <p:sp>
        <p:nvSpPr>
          <p:cNvPr id="61445" name="Text Box 86"/>
          <p:cNvSpPr txBox="1"/>
          <p:nvPr/>
        </p:nvSpPr>
        <p:spPr>
          <a:xfrm>
            <a:off x="5219700" y="5408613"/>
            <a:ext cx="3060700" cy="420687"/>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000099"/>
                </a:solidFill>
                <a:latin typeface="Times New Roman" panose="02020603050405020304" pitchFamily="18" charset="0"/>
              </a:rPr>
              <a:t>DAC0832</a:t>
            </a:r>
            <a:r>
              <a:rPr lang="zh-CN" altLang="en-US" sz="2400" dirty="0">
                <a:solidFill>
                  <a:srgbClr val="000099"/>
                </a:solidFill>
                <a:latin typeface="Times New Roman" panose="02020603050405020304" pitchFamily="18" charset="0"/>
              </a:rPr>
              <a:t>结构框图</a:t>
            </a:r>
            <a:endParaRPr lang="zh-CN" altLang="en-US" sz="2400" dirty="0">
              <a:solidFill>
                <a:srgbClr val="000099"/>
              </a:solidFill>
              <a:latin typeface="Times New Roman" panose="02020603050405020304" pitchFamily="18" charset="0"/>
            </a:endParaRPr>
          </a:p>
        </p:txBody>
      </p:sp>
      <p:sp>
        <p:nvSpPr>
          <p:cNvPr id="2503768" name="Text Box 88"/>
          <p:cNvSpPr txBox="1"/>
          <p:nvPr/>
        </p:nvSpPr>
        <p:spPr>
          <a:xfrm>
            <a:off x="142875" y="1374775"/>
            <a:ext cx="3816350" cy="4791075"/>
          </a:xfrm>
          <a:prstGeom prst="rect">
            <a:avLst/>
          </a:prstGeom>
          <a:noFill/>
          <a:ln w="9525">
            <a:noFill/>
          </a:ln>
        </p:spPr>
        <p:txBody>
          <a:bodyPr>
            <a:spAutoFit/>
          </a:bodyPr>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V</a:t>
            </a:r>
            <a:r>
              <a:rPr lang="en-US" altLang="zh-CN" sz="2000" baseline="-25000" dirty="0">
                <a:solidFill>
                  <a:srgbClr val="FF0000"/>
                </a:solidFill>
                <a:latin typeface="Times New Roman" panose="02020603050405020304" pitchFamily="18" charset="0"/>
              </a:rPr>
              <a:t>CC</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芯片电源电压</a:t>
            </a:r>
            <a:r>
              <a:rPr lang="en-US" altLang="zh-CN" sz="2000" dirty="0">
                <a:solidFill>
                  <a:srgbClr val="000099"/>
                </a:solidFill>
                <a:latin typeface="Times New Roman" panose="02020603050405020304" pitchFamily="18" charset="0"/>
              </a:rPr>
              <a:t>, +5V</a:t>
            </a:r>
            <a:r>
              <a:rPr lang="zh-CN" altLang="en-US" sz="2000" dirty="0">
                <a:solidFill>
                  <a:srgbClr val="000099"/>
                </a:solidFill>
                <a:latin typeface="Times New Roman" panose="02020603050405020304" pitchFamily="18" charset="0"/>
              </a:rPr>
              <a:t>～</a:t>
            </a:r>
            <a:r>
              <a:rPr lang="en-US" altLang="zh-CN" sz="2000" dirty="0">
                <a:solidFill>
                  <a:srgbClr val="000099"/>
                </a:solidFill>
                <a:latin typeface="Times New Roman" panose="02020603050405020304" pitchFamily="18" charset="0"/>
              </a:rPr>
              <a:t>+15V</a:t>
            </a:r>
            <a:endParaRPr lang="en-US" altLang="zh-CN"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V</a:t>
            </a:r>
            <a:r>
              <a:rPr lang="en-US" altLang="zh-CN" sz="2000" baseline="-25000" dirty="0">
                <a:solidFill>
                  <a:srgbClr val="FF0000"/>
                </a:solidFill>
                <a:latin typeface="Times New Roman" panose="02020603050405020304" pitchFamily="18" charset="0"/>
              </a:rPr>
              <a:t>REF</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参考电压</a:t>
            </a:r>
            <a:r>
              <a:rPr lang="en-US" altLang="zh-CN" sz="2000" dirty="0">
                <a:solidFill>
                  <a:srgbClr val="000099"/>
                </a:solidFill>
                <a:latin typeface="Times New Roman" panose="02020603050405020304" pitchFamily="18" charset="0"/>
              </a:rPr>
              <a:t>,</a:t>
            </a:r>
            <a:r>
              <a:rPr lang="en-US" altLang="zh-CN" sz="2000" dirty="0">
                <a:solidFill>
                  <a:schemeClr val="tx1"/>
                </a:solidFill>
                <a:latin typeface="Times New Roman" panose="02020603050405020304" pitchFamily="18" charset="0"/>
              </a:rPr>
              <a:t>  </a:t>
            </a:r>
            <a:r>
              <a:rPr lang="en-US" altLang="zh-CN" sz="2000" dirty="0">
                <a:solidFill>
                  <a:srgbClr val="000099"/>
                </a:solidFill>
                <a:latin typeface="Times New Roman" panose="02020603050405020304" pitchFamily="18" charset="0"/>
              </a:rPr>
              <a:t>-10V</a:t>
            </a:r>
            <a:r>
              <a:rPr lang="zh-CN" altLang="en-US" sz="2000" dirty="0">
                <a:solidFill>
                  <a:srgbClr val="000099"/>
                </a:solidFill>
                <a:latin typeface="Times New Roman" panose="02020603050405020304" pitchFamily="18" charset="0"/>
              </a:rPr>
              <a:t>～</a:t>
            </a:r>
            <a:r>
              <a:rPr lang="en-US" altLang="zh-CN" sz="2000" dirty="0">
                <a:solidFill>
                  <a:srgbClr val="000099"/>
                </a:solidFill>
                <a:latin typeface="Times New Roman" panose="02020603050405020304" pitchFamily="18" charset="0"/>
              </a:rPr>
              <a:t>+10V </a:t>
            </a:r>
            <a:endParaRPr lang="en-US" altLang="zh-CN"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R</a:t>
            </a:r>
            <a:r>
              <a:rPr lang="en-US" altLang="zh-CN" sz="2000" baseline="-25000" dirty="0">
                <a:solidFill>
                  <a:srgbClr val="FF0000"/>
                </a:solidFill>
                <a:latin typeface="Times New Roman" panose="02020603050405020304" pitchFamily="18" charset="0"/>
              </a:rPr>
              <a:t>FB</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反馈电阻引出端</a:t>
            </a:r>
            <a:r>
              <a:rPr lang="en-US" altLang="zh-CN" sz="2000" dirty="0">
                <a:solidFill>
                  <a:srgbClr val="000099"/>
                </a:solidFill>
                <a:latin typeface="Times New Roman" panose="02020603050405020304" pitchFamily="18" charset="0"/>
              </a:rPr>
              <a:t>, </a:t>
            </a:r>
            <a:r>
              <a:rPr lang="zh-CN" altLang="en-US" sz="2000" dirty="0">
                <a:solidFill>
                  <a:srgbClr val="000099"/>
                </a:solidFill>
                <a:latin typeface="Times New Roman" panose="02020603050405020304" pitchFamily="18" charset="0"/>
              </a:rPr>
              <a:t>此端可接运算放大器输出端</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AGND</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模拟信号地</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DGND</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数字信号地</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DI</a:t>
            </a:r>
            <a:r>
              <a:rPr lang="en-US" altLang="zh-CN" sz="2000" baseline="-25000" dirty="0">
                <a:solidFill>
                  <a:srgbClr val="FF0000"/>
                </a:solidFill>
                <a:latin typeface="Times New Roman" panose="02020603050405020304" pitchFamily="18" charset="0"/>
              </a:rPr>
              <a:t>7</a:t>
            </a:r>
            <a:r>
              <a:rPr lang="en-US" altLang="zh-CN" sz="2000" dirty="0">
                <a:solidFill>
                  <a:srgbClr val="FF0000"/>
                </a:solidFill>
                <a:latin typeface="Times New Roman" panose="02020603050405020304" pitchFamily="18" charset="0"/>
              </a:rPr>
              <a:t>~ DI</a:t>
            </a:r>
            <a:r>
              <a:rPr lang="en-US" altLang="zh-CN" sz="2000" baseline="-25000" dirty="0">
                <a:solidFill>
                  <a:srgbClr val="FF0000"/>
                </a:solidFill>
                <a:latin typeface="Times New Roman" panose="02020603050405020304" pitchFamily="18" charset="0"/>
              </a:rPr>
              <a:t>0</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数字量输入信号</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ILE</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输入锁存允许信号</a:t>
            </a:r>
            <a:r>
              <a:rPr lang="en-US" altLang="zh-CN" sz="2000" dirty="0">
                <a:solidFill>
                  <a:srgbClr val="000099"/>
                </a:solidFill>
                <a:latin typeface="Times New Roman" panose="02020603050405020304" pitchFamily="18" charset="0"/>
              </a:rPr>
              <a:t>, </a:t>
            </a:r>
            <a:r>
              <a:rPr lang="zh-CN" altLang="en-US" sz="2000" dirty="0">
                <a:solidFill>
                  <a:srgbClr val="000099"/>
                </a:solidFill>
                <a:latin typeface="Times New Roman" panose="02020603050405020304" pitchFamily="18" charset="0"/>
              </a:rPr>
              <a:t>高电平有效</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CS</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片选信号</a:t>
            </a:r>
            <a:r>
              <a:rPr lang="en-US" altLang="zh-CN" sz="2000" dirty="0">
                <a:solidFill>
                  <a:srgbClr val="000099"/>
                </a:solidFill>
                <a:latin typeface="Times New Roman" panose="02020603050405020304" pitchFamily="18" charset="0"/>
              </a:rPr>
              <a:t>, </a:t>
            </a:r>
            <a:r>
              <a:rPr lang="zh-CN" altLang="en-US" sz="2000" dirty="0">
                <a:solidFill>
                  <a:srgbClr val="000099"/>
                </a:solidFill>
                <a:latin typeface="Times New Roman" panose="02020603050405020304" pitchFamily="18" charset="0"/>
              </a:rPr>
              <a:t>低电平有效</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WR1</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写信号</a:t>
            </a:r>
            <a:r>
              <a:rPr lang="en-US" altLang="zh-CN" sz="2000" dirty="0">
                <a:solidFill>
                  <a:srgbClr val="000099"/>
                </a:solidFill>
                <a:latin typeface="Times New Roman" panose="02020603050405020304" pitchFamily="18" charset="0"/>
              </a:rPr>
              <a:t>1</a:t>
            </a:r>
            <a:r>
              <a:rPr lang="zh-CN" altLang="en-US" sz="2000" dirty="0">
                <a:solidFill>
                  <a:srgbClr val="000099"/>
                </a:solidFill>
                <a:latin typeface="Times New Roman" panose="02020603050405020304" pitchFamily="18" charset="0"/>
              </a:rPr>
              <a:t>，低电平有效</a:t>
            </a:r>
            <a:endParaRPr lang="zh-CN" altLang="en-US" sz="2000" dirty="0">
              <a:solidFill>
                <a:srgbClr val="000099"/>
              </a:solidFill>
              <a:latin typeface="Times New Roman" panose="02020603050405020304" pitchFamily="18" charset="0"/>
            </a:endParaRPr>
          </a:p>
        </p:txBody>
      </p:sp>
      <p:sp>
        <p:nvSpPr>
          <p:cNvPr id="2503769" name="Line 89"/>
          <p:cNvSpPr/>
          <p:nvPr/>
        </p:nvSpPr>
        <p:spPr>
          <a:xfrm>
            <a:off x="604838" y="5427663"/>
            <a:ext cx="323850" cy="0"/>
          </a:xfrm>
          <a:prstGeom prst="line">
            <a:avLst/>
          </a:prstGeom>
          <a:ln w="19050" cap="flat" cmpd="sng">
            <a:solidFill>
              <a:srgbClr val="FF0000"/>
            </a:solidFill>
            <a:prstDash val="solid"/>
            <a:headEnd type="none" w="med" len="med"/>
            <a:tailEnd type="none" w="med" len="med"/>
          </a:ln>
        </p:spPr>
      </p:sp>
      <p:sp>
        <p:nvSpPr>
          <p:cNvPr id="2503770" name="Line 90"/>
          <p:cNvSpPr/>
          <p:nvPr/>
        </p:nvSpPr>
        <p:spPr>
          <a:xfrm>
            <a:off x="604838" y="5829300"/>
            <a:ext cx="546100" cy="0"/>
          </a:xfrm>
          <a:prstGeom prst="line">
            <a:avLst/>
          </a:prstGeom>
          <a:ln w="19050" cap="flat" cmpd="sng">
            <a:solidFill>
              <a:srgbClr val="FF0000"/>
            </a:solidFill>
            <a:prstDash val="solid"/>
            <a:headEnd type="none" w="med" len="med"/>
            <a:tailEnd type="none" w="med" len="med"/>
          </a:ln>
        </p:spPr>
      </p:sp>
      <p:grpSp>
        <p:nvGrpSpPr>
          <p:cNvPr id="2503779" name="Group 99"/>
          <p:cNvGrpSpPr/>
          <p:nvPr/>
        </p:nvGrpSpPr>
        <p:grpSpPr>
          <a:xfrm>
            <a:off x="6443663" y="2816225"/>
            <a:ext cx="2628900" cy="2738438"/>
            <a:chOff x="4059" y="1774"/>
            <a:chExt cx="1656" cy="1725"/>
          </a:xfrm>
        </p:grpSpPr>
        <p:sp>
          <p:nvSpPr>
            <p:cNvPr id="61450" name="AutoShape 92"/>
            <p:cNvSpPr/>
            <p:nvPr/>
          </p:nvSpPr>
          <p:spPr>
            <a:xfrm>
              <a:off x="4059" y="1774"/>
              <a:ext cx="1656" cy="1725"/>
            </a:xfrm>
            <a:prstGeom prst="wedgeRoundRectCallout">
              <a:avLst>
                <a:gd name="adj1" fmla="val -71921"/>
                <a:gd name="adj2" fmla="val -46755"/>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61451" name="Rectangle 91"/>
            <p:cNvSpPr/>
            <p:nvPr/>
          </p:nvSpPr>
          <p:spPr>
            <a:xfrm>
              <a:off x="4105" y="1836"/>
              <a:ext cx="1588" cy="1663"/>
            </a:xfrm>
            <a:prstGeom prst="rect">
              <a:avLst/>
            </a:prstGeom>
            <a:noFill/>
            <a:ln w="9525">
              <a:noFill/>
            </a:ln>
          </p:spPr>
          <p:txBody>
            <a:bodyPr>
              <a:spAutoFit/>
            </a:bodyPr>
            <a:p>
              <a:pPr marL="268605" indent="-268605" eaLnBrk="1" hangingPunct="1">
                <a:lnSpc>
                  <a:spcPct val="90000"/>
                </a:lnSpc>
                <a:spcBef>
                  <a:spcPct val="25000"/>
                </a:spcBef>
                <a:buClr>
                  <a:srgbClr val="FF0000"/>
                </a:buClr>
                <a:buChar char="•"/>
              </a:pPr>
              <a:r>
                <a:rPr lang="zh-CN" altLang="en-US" sz="2000" dirty="0">
                  <a:solidFill>
                    <a:schemeClr val="tx1"/>
                  </a:solidFill>
                  <a:latin typeface="Times New Roman" panose="02020603050405020304" pitchFamily="18" charset="0"/>
                </a:rPr>
                <a:t>当 </a:t>
              </a:r>
              <a:r>
                <a:rPr lang="en-US" altLang="zh-CN" sz="2000" dirty="0">
                  <a:solidFill>
                    <a:srgbClr val="FF0000"/>
                  </a:solidFill>
                  <a:latin typeface="Times New Roman" panose="02020603050405020304" pitchFamily="18" charset="0"/>
                </a:rPr>
                <a:t>ILE</a:t>
              </a:r>
              <a:r>
                <a:rPr lang="en-US" altLang="zh-CN" sz="2000" dirty="0">
                  <a:solidFill>
                    <a:schemeClr val="tx1"/>
                  </a:solidFill>
                  <a:latin typeface="Times New Roman" panose="02020603050405020304" pitchFamily="18" charset="0"/>
                </a:rPr>
                <a:t>、</a:t>
              </a:r>
              <a:r>
                <a:rPr lang="en-US" altLang="zh-CN" sz="2000" dirty="0">
                  <a:solidFill>
                    <a:srgbClr val="FF0000"/>
                  </a:solidFill>
                  <a:latin typeface="Times New Roman" panose="02020603050405020304" pitchFamily="18" charset="0"/>
                </a:rPr>
                <a:t>CS</a:t>
              </a:r>
              <a:r>
                <a:rPr lang="en-US" altLang="zh-CN" sz="2000" dirty="0">
                  <a:solidFill>
                    <a:schemeClr val="tx1"/>
                  </a:solidFill>
                  <a:latin typeface="Times New Roman" panose="02020603050405020304" pitchFamily="18" charset="0"/>
                </a:rPr>
                <a:t>、</a:t>
              </a:r>
              <a:r>
                <a:rPr lang="en-US" altLang="zh-CN" sz="2000" dirty="0">
                  <a:solidFill>
                    <a:srgbClr val="FF0000"/>
                  </a:solidFill>
                  <a:latin typeface="Times New Roman" panose="02020603050405020304" pitchFamily="18" charset="0"/>
                </a:rPr>
                <a:t>WR1</a:t>
              </a:r>
              <a:r>
                <a:rPr lang="zh-CN" altLang="en-US" sz="2000" dirty="0">
                  <a:solidFill>
                    <a:schemeClr val="tx1"/>
                  </a:solidFill>
                  <a:latin typeface="Times New Roman" panose="02020603050405020304" pitchFamily="18" charset="0"/>
                </a:rPr>
                <a:t>同时有效时</a:t>
              </a:r>
              <a:r>
                <a:rPr lang="en-US" altLang="zh-CN" sz="2000" dirty="0">
                  <a:solidFill>
                    <a:schemeClr val="tx1"/>
                  </a:solidFill>
                  <a:latin typeface="Times New Roman" panose="02020603050405020304" pitchFamily="18" charset="0"/>
                </a:rPr>
                <a:t>, </a:t>
              </a:r>
              <a:r>
                <a:rPr lang="en-US" altLang="zh-CN" sz="2000" dirty="0">
                  <a:solidFill>
                    <a:srgbClr val="FF0000"/>
                  </a:solidFill>
                  <a:latin typeface="Times New Roman" panose="02020603050405020304" pitchFamily="18" charset="0"/>
                </a:rPr>
                <a:t>LE=1</a:t>
              </a:r>
              <a:r>
                <a:rPr lang="zh-CN" altLang="en-US" sz="2000" dirty="0">
                  <a:solidFill>
                    <a:schemeClr val="tx1"/>
                  </a:solidFill>
                  <a:latin typeface="Times New Roman" panose="02020603050405020304" pitchFamily="18" charset="0"/>
                </a:rPr>
                <a:t>，输入寄存器的输出随输入而变化。</a:t>
              </a:r>
              <a:endParaRPr lang="zh-CN" altLang="en-US" sz="2000" dirty="0">
                <a:solidFill>
                  <a:schemeClr val="tx1"/>
                </a:solidFill>
                <a:latin typeface="Times New Roman" panose="02020603050405020304" pitchFamily="18" charset="0"/>
              </a:endParaRPr>
            </a:p>
            <a:p>
              <a:pPr marL="268605" indent="-268605" eaLnBrk="1" hangingPunct="1">
                <a:lnSpc>
                  <a:spcPct val="90000"/>
                </a:lnSpc>
                <a:spcBef>
                  <a:spcPct val="25000"/>
                </a:spcBef>
                <a:buClr>
                  <a:srgbClr val="FF0000"/>
                </a:buClr>
                <a:buChar char="•"/>
              </a:pPr>
              <a:r>
                <a:rPr lang="zh-CN" altLang="en-US" sz="2000" dirty="0">
                  <a:solidFill>
                    <a:schemeClr val="tx1"/>
                  </a:solidFill>
                  <a:latin typeface="Times New Roman" panose="02020603050405020304" pitchFamily="18" charset="0"/>
                </a:rPr>
                <a:t>当</a:t>
              </a:r>
              <a:r>
                <a:rPr lang="en-US" altLang="zh-CN" sz="2000" dirty="0">
                  <a:solidFill>
                    <a:srgbClr val="FF0000"/>
                  </a:solidFill>
                  <a:latin typeface="Times New Roman" panose="02020603050405020304" pitchFamily="18" charset="0"/>
                </a:rPr>
                <a:t>WR1</a:t>
              </a:r>
              <a:r>
                <a:rPr lang="en-US" altLang="zh-CN" sz="2000" dirty="0">
                  <a:solidFill>
                    <a:schemeClr val="tx1"/>
                  </a:solidFill>
                  <a:latin typeface="Times New Roman" panose="02020603050405020304" pitchFamily="18" charset="0"/>
                </a:rPr>
                <a:t>       </a:t>
              </a:r>
              <a:r>
                <a:rPr lang="zh-CN" altLang="en-US" sz="2000" dirty="0">
                  <a:solidFill>
                    <a:schemeClr val="tx1"/>
                  </a:solidFill>
                  <a:latin typeface="Times New Roman" panose="02020603050405020304" pitchFamily="18" charset="0"/>
                </a:rPr>
                <a:t>时，</a:t>
              </a:r>
              <a:r>
                <a:rPr lang="en-US" altLang="zh-CN" sz="2000" dirty="0">
                  <a:solidFill>
                    <a:srgbClr val="FF0000"/>
                  </a:solidFill>
                  <a:latin typeface="Times New Roman" panose="02020603050405020304" pitchFamily="18" charset="0"/>
                </a:rPr>
                <a:t>LE=0</a:t>
              </a:r>
              <a:r>
                <a:rPr lang="zh-CN" altLang="en-US" sz="2000" dirty="0">
                  <a:solidFill>
                    <a:schemeClr val="tx1"/>
                  </a:solidFill>
                  <a:latin typeface="Times New Roman" panose="02020603050405020304" pitchFamily="18" charset="0"/>
                </a:rPr>
                <a:t>，将输入数据锁存到输入寄存器。</a:t>
              </a:r>
              <a:endParaRPr lang="zh-CN" altLang="en-US" sz="2000" dirty="0">
                <a:solidFill>
                  <a:schemeClr val="tx1"/>
                </a:solidFill>
                <a:latin typeface="Times New Roman" panose="02020603050405020304" pitchFamily="18" charset="0"/>
              </a:endParaRPr>
            </a:p>
          </p:txBody>
        </p:sp>
        <p:sp>
          <p:nvSpPr>
            <p:cNvPr id="61452" name="Line 93"/>
            <p:cNvSpPr/>
            <p:nvPr/>
          </p:nvSpPr>
          <p:spPr>
            <a:xfrm>
              <a:off x="4961" y="1852"/>
              <a:ext cx="227" cy="0"/>
            </a:xfrm>
            <a:prstGeom prst="line">
              <a:avLst/>
            </a:prstGeom>
            <a:ln w="19050" cap="flat" cmpd="sng">
              <a:solidFill>
                <a:srgbClr val="FF0000"/>
              </a:solidFill>
              <a:prstDash val="solid"/>
              <a:headEnd type="none" w="med" len="med"/>
              <a:tailEnd type="none" w="med" len="med"/>
            </a:ln>
          </p:spPr>
        </p:sp>
        <p:sp>
          <p:nvSpPr>
            <p:cNvPr id="61453" name="Line 94"/>
            <p:cNvSpPr/>
            <p:nvPr/>
          </p:nvSpPr>
          <p:spPr>
            <a:xfrm>
              <a:off x="4332" y="2036"/>
              <a:ext cx="340" cy="0"/>
            </a:xfrm>
            <a:prstGeom prst="line">
              <a:avLst/>
            </a:prstGeom>
            <a:ln w="19050" cap="flat" cmpd="sng">
              <a:solidFill>
                <a:srgbClr val="FF0000"/>
              </a:solidFill>
              <a:prstDash val="solid"/>
              <a:headEnd type="none" w="med" len="med"/>
              <a:tailEnd type="none" w="med" len="med"/>
            </a:ln>
          </p:spPr>
        </p:sp>
        <p:sp>
          <p:nvSpPr>
            <p:cNvPr id="61454" name="Line 95"/>
            <p:cNvSpPr/>
            <p:nvPr/>
          </p:nvSpPr>
          <p:spPr>
            <a:xfrm>
              <a:off x="4490" y="2772"/>
              <a:ext cx="340" cy="0"/>
            </a:xfrm>
            <a:prstGeom prst="line">
              <a:avLst/>
            </a:prstGeom>
            <a:ln w="19050" cap="flat" cmpd="sng">
              <a:solidFill>
                <a:srgbClr val="FF0000"/>
              </a:solidFill>
              <a:prstDash val="solid"/>
              <a:headEnd type="none" w="med" len="med"/>
              <a:tailEnd type="none" w="med" len="med"/>
            </a:ln>
          </p:spPr>
        </p:sp>
        <p:sp>
          <p:nvSpPr>
            <p:cNvPr id="61455" name="Line 96"/>
            <p:cNvSpPr/>
            <p:nvPr/>
          </p:nvSpPr>
          <p:spPr>
            <a:xfrm>
              <a:off x="4887" y="2886"/>
              <a:ext cx="108" cy="0"/>
            </a:xfrm>
            <a:prstGeom prst="line">
              <a:avLst/>
            </a:prstGeom>
            <a:ln w="25400" cap="flat" cmpd="sng">
              <a:solidFill>
                <a:srgbClr val="0000FF"/>
              </a:solidFill>
              <a:prstDash val="solid"/>
              <a:headEnd type="none" w="med" len="med"/>
              <a:tailEnd type="none" w="med" len="med"/>
            </a:ln>
          </p:spPr>
        </p:sp>
        <p:sp>
          <p:nvSpPr>
            <p:cNvPr id="61456" name="Line 97"/>
            <p:cNvSpPr/>
            <p:nvPr/>
          </p:nvSpPr>
          <p:spPr>
            <a:xfrm flipV="1">
              <a:off x="4995" y="2772"/>
              <a:ext cx="0" cy="114"/>
            </a:xfrm>
            <a:prstGeom prst="line">
              <a:avLst/>
            </a:prstGeom>
            <a:ln w="25400" cap="flat" cmpd="sng">
              <a:solidFill>
                <a:srgbClr val="0000FF"/>
              </a:solidFill>
              <a:prstDash val="solid"/>
              <a:headEnd type="none" w="med" len="med"/>
              <a:tailEnd type="stealth" w="med" len="lg"/>
            </a:ln>
          </p:spPr>
        </p:sp>
        <p:sp>
          <p:nvSpPr>
            <p:cNvPr id="61457" name="Line 98"/>
            <p:cNvSpPr/>
            <p:nvPr/>
          </p:nvSpPr>
          <p:spPr>
            <a:xfrm>
              <a:off x="4995" y="2772"/>
              <a:ext cx="108" cy="0"/>
            </a:xfrm>
            <a:prstGeom prst="line">
              <a:avLst/>
            </a:prstGeom>
            <a:ln w="25400" cap="flat" cmpd="sng">
              <a:solidFill>
                <a:srgbClr val="0000FF"/>
              </a:solidFill>
              <a:prstDash val="solid"/>
              <a:headEnd type="none" w="med" len="med"/>
              <a:tailEnd type="none" w="med" len="med"/>
            </a:ln>
          </p:spPr>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03768">
                                            <p:txEl>
                                              <p:charRg st="0" end="21"/>
                                            </p:txEl>
                                          </p:spTgt>
                                        </p:tgtEl>
                                        <p:attrNameLst>
                                          <p:attrName>style.visibility</p:attrName>
                                        </p:attrNameLst>
                                      </p:cBhvr>
                                      <p:to>
                                        <p:strVal val="visible"/>
                                      </p:to>
                                    </p:set>
                                    <p:animEffect transition="in" filter="dissolve">
                                      <p:cBhvr>
                                        <p:cTn id="7" dur="500"/>
                                        <p:tgtEl>
                                          <p:spTgt spid="2503768">
                                            <p:txEl>
                                              <p:charRg st="0" end="2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03768">
                                            <p:txEl>
                                              <p:charRg st="21" end="44"/>
                                            </p:txEl>
                                          </p:spTgt>
                                        </p:tgtEl>
                                        <p:attrNameLst>
                                          <p:attrName>style.visibility</p:attrName>
                                        </p:attrNameLst>
                                      </p:cBhvr>
                                      <p:to>
                                        <p:strVal val="visible"/>
                                      </p:to>
                                    </p:set>
                                    <p:animEffect transition="in" filter="dissolve">
                                      <p:cBhvr>
                                        <p:cTn id="10" dur="500"/>
                                        <p:tgtEl>
                                          <p:spTgt spid="2503768">
                                            <p:txEl>
                                              <p:charRg st="21" end="4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503768">
                                            <p:txEl>
                                              <p:charRg st="44" end="70"/>
                                            </p:txEl>
                                          </p:spTgt>
                                        </p:tgtEl>
                                        <p:attrNameLst>
                                          <p:attrName>style.visibility</p:attrName>
                                        </p:attrNameLst>
                                      </p:cBhvr>
                                      <p:to>
                                        <p:strVal val="visible"/>
                                      </p:to>
                                    </p:set>
                                    <p:animEffect transition="in" filter="dissolve">
                                      <p:cBhvr>
                                        <p:cTn id="13" dur="500"/>
                                        <p:tgtEl>
                                          <p:spTgt spid="2503768">
                                            <p:txEl>
                                              <p:charRg st="44" end="70"/>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503768">
                                            <p:txEl>
                                              <p:charRg st="70" end="81"/>
                                            </p:txEl>
                                          </p:spTgt>
                                        </p:tgtEl>
                                        <p:attrNameLst>
                                          <p:attrName>style.visibility</p:attrName>
                                        </p:attrNameLst>
                                      </p:cBhvr>
                                      <p:to>
                                        <p:strVal val="visible"/>
                                      </p:to>
                                    </p:set>
                                    <p:animEffect transition="in" filter="dissolve">
                                      <p:cBhvr>
                                        <p:cTn id="16" dur="500"/>
                                        <p:tgtEl>
                                          <p:spTgt spid="2503768">
                                            <p:txEl>
                                              <p:charRg st="70" end="8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503768">
                                            <p:txEl>
                                              <p:charRg st="81" end="92"/>
                                            </p:txEl>
                                          </p:spTgt>
                                        </p:tgtEl>
                                        <p:attrNameLst>
                                          <p:attrName>style.visibility</p:attrName>
                                        </p:attrNameLst>
                                      </p:cBhvr>
                                      <p:to>
                                        <p:strVal val="visible"/>
                                      </p:to>
                                    </p:set>
                                    <p:animEffect transition="in" filter="dissolve">
                                      <p:cBhvr>
                                        <p:cTn id="19" dur="500"/>
                                        <p:tgtEl>
                                          <p:spTgt spid="2503768">
                                            <p:txEl>
                                              <p:charRg st="81" end="9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2503768">
                                            <p:txEl>
                                              <p:charRg st="92" end="109"/>
                                            </p:txEl>
                                          </p:spTgt>
                                        </p:tgtEl>
                                        <p:attrNameLst>
                                          <p:attrName>style.visibility</p:attrName>
                                        </p:attrNameLst>
                                      </p:cBhvr>
                                      <p:to>
                                        <p:strVal val="visible"/>
                                      </p:to>
                                    </p:set>
                                    <p:animEffect transition="in" filter="dissolve">
                                      <p:cBhvr>
                                        <p:cTn id="22" dur="500"/>
                                        <p:tgtEl>
                                          <p:spTgt spid="2503768">
                                            <p:txEl>
                                              <p:charRg st="92" end="109"/>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2503768">
                                            <p:txEl>
                                              <p:charRg st="109" end="129"/>
                                            </p:txEl>
                                          </p:spTgt>
                                        </p:tgtEl>
                                        <p:attrNameLst>
                                          <p:attrName>style.visibility</p:attrName>
                                        </p:attrNameLst>
                                      </p:cBhvr>
                                      <p:to>
                                        <p:strVal val="visible"/>
                                      </p:to>
                                    </p:set>
                                    <p:animEffect transition="in" filter="dissolve">
                                      <p:cBhvr>
                                        <p:cTn id="25" dur="500"/>
                                        <p:tgtEl>
                                          <p:spTgt spid="2503768">
                                            <p:txEl>
                                              <p:charRg st="109" end="129"/>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503768">
                                            <p:txEl>
                                              <p:charRg st="129" end="144"/>
                                            </p:txEl>
                                          </p:spTgt>
                                        </p:tgtEl>
                                        <p:attrNameLst>
                                          <p:attrName>style.visibility</p:attrName>
                                        </p:attrNameLst>
                                      </p:cBhvr>
                                      <p:to>
                                        <p:strVal val="visible"/>
                                      </p:to>
                                    </p:set>
                                    <p:animEffect transition="in" filter="dissolve">
                                      <p:cBhvr>
                                        <p:cTn id="28" dur="500"/>
                                        <p:tgtEl>
                                          <p:spTgt spid="2503768">
                                            <p:txEl>
                                              <p:charRg st="129" end="144"/>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2503769"/>
                                        </p:tgtEl>
                                        <p:attrNameLst>
                                          <p:attrName>style.visibility</p:attrName>
                                        </p:attrNameLst>
                                      </p:cBhvr>
                                      <p:to>
                                        <p:strVal val="visible"/>
                                      </p:to>
                                    </p:set>
                                    <p:animEffect transition="in" filter="dissolve">
                                      <p:cBhvr>
                                        <p:cTn id="31" dur="500"/>
                                        <p:tgtEl>
                                          <p:spTgt spid="2503769"/>
                                        </p:tgtEl>
                                      </p:cBhvr>
                                    </p:animEffect>
                                  </p:childTnLst>
                                </p:cTn>
                              </p:par>
                              <p:par>
                                <p:cTn id="32" presetID="9" presetClass="entr" presetSubtype="0" fill="hold" nodeType="withEffect">
                                  <p:stCondLst>
                                    <p:cond delay="0"/>
                                  </p:stCondLst>
                                  <p:childTnLst>
                                    <p:set>
                                      <p:cBhvr>
                                        <p:cTn id="33" dur="1" fill="hold">
                                          <p:stCondLst>
                                            <p:cond delay="0"/>
                                          </p:stCondLst>
                                        </p:cTn>
                                        <p:tgtEl>
                                          <p:spTgt spid="2503768">
                                            <p:txEl>
                                              <p:charRg st="144" end="159"/>
                                            </p:txEl>
                                          </p:spTgt>
                                        </p:tgtEl>
                                        <p:attrNameLst>
                                          <p:attrName>style.visibility</p:attrName>
                                        </p:attrNameLst>
                                      </p:cBhvr>
                                      <p:to>
                                        <p:strVal val="visible"/>
                                      </p:to>
                                    </p:set>
                                    <p:animEffect transition="in" filter="dissolve">
                                      <p:cBhvr>
                                        <p:cTn id="34" dur="500"/>
                                        <p:tgtEl>
                                          <p:spTgt spid="2503768">
                                            <p:txEl>
                                              <p:charRg st="144" end="159"/>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2503770"/>
                                        </p:tgtEl>
                                        <p:attrNameLst>
                                          <p:attrName>style.visibility</p:attrName>
                                        </p:attrNameLst>
                                      </p:cBhvr>
                                      <p:to>
                                        <p:strVal val="visible"/>
                                      </p:to>
                                    </p:set>
                                    <p:animEffect transition="in" filter="dissolve">
                                      <p:cBhvr>
                                        <p:cTn id="37" dur="500"/>
                                        <p:tgtEl>
                                          <p:spTgt spid="2503770"/>
                                        </p:tgtEl>
                                      </p:cBhvr>
                                    </p:animEffect>
                                  </p:childTnLst>
                                </p:cTn>
                              </p:par>
                              <p:par>
                                <p:cTn id="38" presetID="9" presetClass="entr" presetSubtype="0" fill="hold" nodeType="withEffect">
                                  <p:stCondLst>
                                    <p:cond delay="0"/>
                                  </p:stCondLst>
                                  <p:childTnLst>
                                    <p:set>
                                      <p:cBhvr>
                                        <p:cTn id="39" dur="1" fill="hold">
                                          <p:stCondLst>
                                            <p:cond delay="0"/>
                                          </p:stCondLst>
                                        </p:cTn>
                                        <p:tgtEl>
                                          <p:spTgt spid="2503779"/>
                                        </p:tgtEl>
                                        <p:attrNameLst>
                                          <p:attrName>style.visibility</p:attrName>
                                        </p:attrNameLst>
                                      </p:cBhvr>
                                      <p:to>
                                        <p:strVal val="visible"/>
                                      </p:to>
                                    </p:set>
                                    <p:animEffect transition="in" filter="dissolve">
                                      <p:cBhvr>
                                        <p:cTn id="40" dur="500"/>
                                        <p:tgtEl>
                                          <p:spTgt spid="25037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9826"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63491"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pic>
        <p:nvPicPr>
          <p:cNvPr id="63492" name="Picture 4"/>
          <p:cNvPicPr>
            <a:picLocks noChangeAspect="1"/>
          </p:cNvPicPr>
          <p:nvPr/>
        </p:nvPicPr>
        <p:blipFill>
          <a:blip r:embed="rId1"/>
          <a:stretch>
            <a:fillRect/>
          </a:stretch>
        </p:blipFill>
        <p:spPr>
          <a:xfrm>
            <a:off x="3959225" y="1439863"/>
            <a:ext cx="5113338" cy="3959225"/>
          </a:xfrm>
          <a:prstGeom prst="rect">
            <a:avLst/>
          </a:prstGeom>
          <a:noFill/>
          <a:ln w="9525">
            <a:noFill/>
          </a:ln>
        </p:spPr>
      </p:pic>
      <p:sp>
        <p:nvSpPr>
          <p:cNvPr id="63493" name="Text Box 5"/>
          <p:cNvSpPr txBox="1"/>
          <p:nvPr/>
        </p:nvSpPr>
        <p:spPr>
          <a:xfrm>
            <a:off x="5219700" y="5408613"/>
            <a:ext cx="3060700" cy="420687"/>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000099"/>
                </a:solidFill>
                <a:latin typeface="Times New Roman" panose="02020603050405020304" pitchFamily="18" charset="0"/>
              </a:rPr>
              <a:t>DAC0832</a:t>
            </a:r>
            <a:r>
              <a:rPr lang="zh-CN" altLang="en-US" sz="2400" dirty="0">
                <a:solidFill>
                  <a:srgbClr val="000099"/>
                </a:solidFill>
                <a:latin typeface="Times New Roman" panose="02020603050405020304" pitchFamily="18" charset="0"/>
              </a:rPr>
              <a:t>结构框图</a:t>
            </a:r>
            <a:endParaRPr lang="zh-CN" altLang="en-US" sz="2400" dirty="0">
              <a:solidFill>
                <a:srgbClr val="000099"/>
              </a:solidFill>
              <a:latin typeface="Times New Roman" panose="02020603050405020304" pitchFamily="18" charset="0"/>
            </a:endParaRPr>
          </a:p>
        </p:txBody>
      </p:sp>
      <p:sp>
        <p:nvSpPr>
          <p:cNvPr id="2509830" name="Text Box 6"/>
          <p:cNvSpPr txBox="1"/>
          <p:nvPr/>
        </p:nvSpPr>
        <p:spPr>
          <a:xfrm>
            <a:off x="142875" y="1374775"/>
            <a:ext cx="3816350" cy="3784600"/>
          </a:xfrm>
          <a:prstGeom prst="rect">
            <a:avLst/>
          </a:prstGeom>
          <a:noFill/>
          <a:ln w="9525">
            <a:noFill/>
          </a:ln>
        </p:spPr>
        <p:txBody>
          <a:bodyPr>
            <a:spAutoFit/>
          </a:bodyPr>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XFER</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控制转移信号</a:t>
            </a:r>
            <a:r>
              <a:rPr lang="en-US" altLang="zh-CN" sz="2000" dirty="0">
                <a:solidFill>
                  <a:srgbClr val="000099"/>
                </a:solidFill>
                <a:latin typeface="Times New Roman" panose="02020603050405020304" pitchFamily="18" charset="0"/>
              </a:rPr>
              <a:t>, </a:t>
            </a:r>
            <a:r>
              <a:rPr lang="zh-CN" altLang="en-US" sz="2000" dirty="0">
                <a:solidFill>
                  <a:srgbClr val="000099"/>
                </a:solidFill>
                <a:latin typeface="Times New Roman" panose="02020603050405020304" pitchFamily="18" charset="0"/>
              </a:rPr>
              <a:t>低电平有效</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WR</a:t>
            </a:r>
            <a:r>
              <a:rPr lang="en-US" altLang="zh-CN" sz="2000" dirty="0">
                <a:solidFill>
                  <a:srgbClr val="FF0000"/>
                </a:solidFill>
                <a:latin typeface="Times New Roman" panose="02020603050405020304" pitchFamily="18" charset="0"/>
              </a:rPr>
              <a:t>2</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写信号</a:t>
            </a:r>
            <a:r>
              <a:rPr lang="en-US" altLang="zh-CN" sz="2000" dirty="0">
                <a:solidFill>
                  <a:srgbClr val="000099"/>
                </a:solidFill>
                <a:latin typeface="Times New Roman" panose="02020603050405020304" pitchFamily="18" charset="0"/>
              </a:rPr>
              <a:t>2</a:t>
            </a:r>
            <a:r>
              <a:rPr lang="zh-CN" altLang="en-US" sz="2000" dirty="0">
                <a:solidFill>
                  <a:srgbClr val="000099"/>
                </a:solidFill>
                <a:latin typeface="Times New Roman" panose="02020603050405020304" pitchFamily="18" charset="0"/>
              </a:rPr>
              <a:t>，低电平有效</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IOUT1</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模拟电流输出端</a:t>
            </a:r>
            <a:r>
              <a:rPr lang="en-US" altLang="zh-CN" sz="2000" dirty="0">
                <a:solidFill>
                  <a:srgbClr val="000099"/>
                </a:solidFill>
                <a:latin typeface="Times New Roman" panose="02020603050405020304" pitchFamily="18" charset="0"/>
              </a:rPr>
              <a:t>1</a:t>
            </a:r>
            <a:endParaRPr lang="en-US" altLang="zh-CN"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pPr>
            <a:r>
              <a:rPr lang="en-US" altLang="zh-CN" sz="2000" dirty="0">
                <a:solidFill>
                  <a:srgbClr val="000099"/>
                </a:solidFill>
                <a:latin typeface="Times New Roman" panose="02020603050405020304" pitchFamily="18" charset="0"/>
              </a:rPr>
              <a:t>     </a:t>
            </a:r>
            <a:r>
              <a:rPr lang="zh-CN" altLang="en-US" sz="2000" dirty="0">
                <a:solidFill>
                  <a:schemeClr val="tx1"/>
                </a:solidFill>
                <a:latin typeface="Times New Roman" panose="02020603050405020304" pitchFamily="18" charset="0"/>
              </a:rPr>
              <a:t>当输入数字为全“</a:t>
            </a:r>
            <a:r>
              <a:rPr lang="en-US" altLang="zh-CN" sz="2000" dirty="0">
                <a:solidFill>
                  <a:srgbClr val="FF0000"/>
                </a:solidFill>
                <a:latin typeface="Times New Roman" panose="02020603050405020304" pitchFamily="18" charset="0"/>
              </a:rPr>
              <a:t>1</a:t>
            </a:r>
            <a:r>
              <a:rPr lang="en-US" altLang="zh-CN" sz="2000" dirty="0">
                <a:solidFill>
                  <a:schemeClr val="tx1"/>
                </a:solidFill>
                <a:latin typeface="Times New Roman" panose="02020603050405020304" pitchFamily="18" charset="0"/>
              </a:rPr>
              <a:t>”</a:t>
            </a:r>
            <a:r>
              <a:rPr lang="zh-CN" altLang="en-US" sz="2000" dirty="0">
                <a:solidFill>
                  <a:schemeClr val="tx1"/>
                </a:solidFill>
                <a:latin typeface="Times New Roman" panose="02020603050405020304" pitchFamily="18" charset="0"/>
              </a:rPr>
              <a:t>时，输出电流最大，约为：</a:t>
            </a:r>
            <a:r>
              <a:rPr lang="zh-CN" altLang="en-US" sz="2000" dirty="0">
                <a:solidFill>
                  <a:srgbClr val="000099"/>
                </a:solidFill>
                <a:latin typeface="Times New Roman" panose="02020603050405020304" pitchFamily="18" charset="0"/>
              </a:rPr>
              <a:t>                   </a:t>
            </a:r>
            <a:endParaRPr lang="zh-CN" altLang="en-US" sz="2000" dirty="0">
              <a:solidFill>
                <a:srgbClr val="000099"/>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pPr>
            <a:endParaRPr lang="zh-CN" altLang="en-US" sz="2000" dirty="0">
              <a:solidFill>
                <a:schemeClr val="tx1"/>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pPr>
            <a:endParaRPr lang="zh-CN" altLang="en-US" sz="2000" dirty="0">
              <a:solidFill>
                <a:schemeClr val="tx1"/>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pPr>
            <a:r>
              <a:rPr lang="zh-CN" altLang="en-US" sz="2000" dirty="0">
                <a:solidFill>
                  <a:schemeClr val="tx1"/>
                </a:solidFill>
                <a:latin typeface="Times New Roman" panose="02020603050405020304" pitchFamily="18" charset="0"/>
              </a:rPr>
              <a:t>     全“</a:t>
            </a:r>
            <a:r>
              <a:rPr lang="en-US" altLang="zh-CN" sz="2000" dirty="0">
                <a:solidFill>
                  <a:srgbClr val="FF0000"/>
                </a:solidFill>
                <a:latin typeface="Times New Roman" panose="02020603050405020304" pitchFamily="18" charset="0"/>
              </a:rPr>
              <a:t>0</a:t>
            </a:r>
            <a:r>
              <a:rPr lang="en-US" altLang="zh-CN" sz="2000" dirty="0">
                <a:solidFill>
                  <a:schemeClr val="tx1"/>
                </a:solidFill>
                <a:latin typeface="Times New Roman" panose="02020603050405020304" pitchFamily="18" charset="0"/>
              </a:rPr>
              <a:t>”</a:t>
            </a:r>
            <a:r>
              <a:rPr lang="zh-CN" altLang="en-US" sz="2000" dirty="0">
                <a:solidFill>
                  <a:schemeClr val="tx1"/>
                </a:solidFill>
                <a:latin typeface="Times New Roman" panose="02020603050405020304" pitchFamily="18" charset="0"/>
              </a:rPr>
              <a:t>时，输出电流为</a:t>
            </a:r>
            <a:r>
              <a:rPr lang="en-US" altLang="zh-CN" sz="2000" dirty="0">
                <a:solidFill>
                  <a:srgbClr val="FF0000"/>
                </a:solidFill>
                <a:latin typeface="Times New Roman" panose="02020603050405020304" pitchFamily="18" charset="0"/>
              </a:rPr>
              <a:t>0</a:t>
            </a:r>
            <a:r>
              <a:rPr lang="zh-CN" altLang="en-US" sz="2000" dirty="0">
                <a:solidFill>
                  <a:schemeClr val="tx1"/>
                </a:solidFill>
                <a:latin typeface="Times New Roman" panose="02020603050405020304" pitchFamily="18" charset="0"/>
              </a:rPr>
              <a:t>。</a:t>
            </a:r>
            <a:endParaRPr lang="zh-CN" altLang="en-US" sz="2000" dirty="0">
              <a:solidFill>
                <a:schemeClr val="tx1"/>
              </a:solidFill>
              <a:latin typeface="Times New Roman" panose="02020603050405020304" pitchFamily="18" charset="0"/>
            </a:endParaRPr>
          </a:p>
          <a:p>
            <a:pPr marL="360680" indent="-360680" eaLnBrk="1" hangingPunct="1">
              <a:spcAft>
                <a:spcPct val="30000"/>
              </a:spcAft>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IOUT2</a:t>
            </a:r>
            <a:r>
              <a:rPr lang="zh-CN" altLang="en-US" sz="2000" dirty="0">
                <a:solidFill>
                  <a:srgbClr val="FF0000"/>
                </a:solidFill>
                <a:latin typeface="Times New Roman" panose="02020603050405020304" pitchFamily="18" charset="0"/>
              </a:rPr>
              <a:t>：</a:t>
            </a:r>
            <a:r>
              <a:rPr lang="zh-CN" altLang="en-US" sz="2000" dirty="0">
                <a:solidFill>
                  <a:srgbClr val="000099"/>
                </a:solidFill>
                <a:latin typeface="Times New Roman" panose="02020603050405020304" pitchFamily="18" charset="0"/>
              </a:rPr>
              <a:t>模拟电流输出端</a:t>
            </a:r>
            <a:r>
              <a:rPr lang="en-US" altLang="zh-CN" sz="2000" dirty="0">
                <a:solidFill>
                  <a:srgbClr val="000099"/>
                </a:solidFill>
                <a:latin typeface="Times New Roman" panose="02020603050405020304" pitchFamily="18" charset="0"/>
              </a:rPr>
              <a:t>2</a:t>
            </a:r>
            <a:endParaRPr lang="en-US" altLang="zh-CN" sz="2000" dirty="0">
              <a:solidFill>
                <a:srgbClr val="000099"/>
              </a:solidFill>
              <a:latin typeface="Times New Roman" panose="02020603050405020304" pitchFamily="18" charset="0"/>
            </a:endParaRPr>
          </a:p>
        </p:txBody>
      </p:sp>
      <p:sp>
        <p:nvSpPr>
          <p:cNvPr id="2509831" name="Line 7"/>
          <p:cNvSpPr/>
          <p:nvPr/>
        </p:nvSpPr>
        <p:spPr>
          <a:xfrm>
            <a:off x="604838" y="1449388"/>
            <a:ext cx="690562" cy="0"/>
          </a:xfrm>
          <a:prstGeom prst="line">
            <a:avLst/>
          </a:prstGeom>
          <a:ln w="19050" cap="flat" cmpd="sng">
            <a:solidFill>
              <a:srgbClr val="FF0000"/>
            </a:solidFill>
            <a:prstDash val="solid"/>
            <a:headEnd type="none" w="med" len="med"/>
            <a:tailEnd type="none" w="med" len="med"/>
          </a:ln>
        </p:spPr>
      </p:sp>
      <p:sp>
        <p:nvSpPr>
          <p:cNvPr id="2509832" name="Line 8"/>
          <p:cNvSpPr/>
          <p:nvPr/>
        </p:nvSpPr>
        <p:spPr>
          <a:xfrm>
            <a:off x="604838" y="2138363"/>
            <a:ext cx="546100" cy="0"/>
          </a:xfrm>
          <a:prstGeom prst="line">
            <a:avLst/>
          </a:prstGeom>
          <a:ln w="19050" cap="flat" cmpd="sng">
            <a:solidFill>
              <a:srgbClr val="FF0000"/>
            </a:solidFill>
            <a:prstDash val="solid"/>
            <a:headEnd type="none" w="med" len="med"/>
            <a:tailEnd type="none" w="med" len="med"/>
          </a:ln>
        </p:spPr>
      </p:sp>
      <p:grpSp>
        <p:nvGrpSpPr>
          <p:cNvPr id="2509842" name="Group 18"/>
          <p:cNvGrpSpPr/>
          <p:nvPr/>
        </p:nvGrpSpPr>
        <p:grpSpPr>
          <a:xfrm>
            <a:off x="6911975" y="2673350"/>
            <a:ext cx="2160588" cy="3535363"/>
            <a:chOff x="4354" y="1684"/>
            <a:chExt cx="1361" cy="2227"/>
          </a:xfrm>
        </p:grpSpPr>
        <p:sp>
          <p:nvSpPr>
            <p:cNvPr id="63500" name="AutoShape 10"/>
            <p:cNvSpPr/>
            <p:nvPr/>
          </p:nvSpPr>
          <p:spPr>
            <a:xfrm>
              <a:off x="4354" y="1684"/>
              <a:ext cx="1361" cy="2227"/>
            </a:xfrm>
            <a:prstGeom prst="wedgeRoundRectCallout">
              <a:avLst>
                <a:gd name="adj1" fmla="val -55144"/>
                <a:gd name="adj2" fmla="val -4254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63501" name="Rectangle 11"/>
            <p:cNvSpPr/>
            <p:nvPr/>
          </p:nvSpPr>
          <p:spPr>
            <a:xfrm>
              <a:off x="4354" y="1729"/>
              <a:ext cx="1361" cy="2182"/>
            </a:xfrm>
            <a:prstGeom prst="rect">
              <a:avLst/>
            </a:prstGeom>
            <a:noFill/>
            <a:ln w="9525">
              <a:noFill/>
            </a:ln>
          </p:spPr>
          <p:txBody>
            <a:bodyPr>
              <a:spAutoFit/>
            </a:bodyPr>
            <a:p>
              <a:pPr marL="268605" indent="-268605" eaLnBrk="1" hangingPunct="1">
                <a:lnSpc>
                  <a:spcPct val="90000"/>
                </a:lnSpc>
                <a:spcBef>
                  <a:spcPct val="25000"/>
                </a:spcBef>
                <a:buClr>
                  <a:srgbClr val="FF0000"/>
                </a:buClr>
                <a:buChar char="•"/>
              </a:pPr>
              <a:r>
                <a:rPr lang="zh-CN" altLang="en-US" sz="2000" dirty="0">
                  <a:solidFill>
                    <a:schemeClr val="tx1"/>
                  </a:solidFill>
                  <a:latin typeface="Times New Roman" panose="02020603050405020304" pitchFamily="18" charset="0"/>
                </a:rPr>
                <a:t>当 </a:t>
              </a:r>
              <a:r>
                <a:rPr lang="en-US" altLang="zh-CN" sz="2000" dirty="0">
                  <a:solidFill>
                    <a:srgbClr val="FF0000"/>
                  </a:solidFill>
                  <a:latin typeface="Times New Roman" panose="02020603050405020304" pitchFamily="18" charset="0"/>
                </a:rPr>
                <a:t>XFER</a:t>
              </a:r>
              <a:r>
                <a:rPr lang="en-US" altLang="zh-CN" sz="2000" dirty="0">
                  <a:solidFill>
                    <a:schemeClr val="tx1"/>
                  </a:solidFill>
                  <a:latin typeface="Times New Roman" panose="02020603050405020304" pitchFamily="18" charset="0"/>
                </a:rPr>
                <a:t>、</a:t>
              </a:r>
              <a:r>
                <a:rPr lang="en-US" altLang="zh-CN" sz="2000" dirty="0">
                  <a:solidFill>
                    <a:srgbClr val="FF0000"/>
                  </a:solidFill>
                  <a:latin typeface="Times New Roman" panose="02020603050405020304" pitchFamily="18" charset="0"/>
                </a:rPr>
                <a:t>WR</a:t>
              </a:r>
              <a:r>
                <a:rPr lang="en-US" altLang="zh-CN" sz="2000" dirty="0">
                  <a:solidFill>
                    <a:srgbClr val="FF0000"/>
                  </a:solidFill>
                  <a:latin typeface="Times New Roman" panose="02020603050405020304" pitchFamily="18" charset="0"/>
                </a:rPr>
                <a:t>2</a:t>
              </a:r>
              <a:r>
                <a:rPr lang="zh-CN" altLang="en-US" sz="2000" dirty="0">
                  <a:solidFill>
                    <a:schemeClr val="tx1"/>
                  </a:solidFill>
                  <a:latin typeface="Times New Roman" panose="02020603050405020304" pitchFamily="18" charset="0"/>
                </a:rPr>
                <a:t>同时有效时</a:t>
              </a:r>
              <a:r>
                <a:rPr lang="en-US" altLang="zh-CN" sz="2000" dirty="0">
                  <a:solidFill>
                    <a:schemeClr val="tx1"/>
                  </a:solidFill>
                  <a:latin typeface="Times New Roman" panose="02020603050405020304" pitchFamily="18" charset="0"/>
                </a:rPr>
                <a:t>, </a:t>
              </a:r>
              <a:r>
                <a:rPr lang="en-US" altLang="zh-CN" sz="2000" dirty="0">
                  <a:solidFill>
                    <a:srgbClr val="FF0000"/>
                  </a:solidFill>
                  <a:latin typeface="Times New Roman" panose="02020603050405020304" pitchFamily="18" charset="0"/>
                </a:rPr>
                <a:t>LE=1</a:t>
              </a:r>
              <a:r>
                <a:rPr lang="zh-CN" altLang="en-US" sz="2000" dirty="0">
                  <a:solidFill>
                    <a:schemeClr val="tx1"/>
                  </a:solidFill>
                  <a:latin typeface="Times New Roman" panose="02020603050405020304" pitchFamily="18" charset="0"/>
                </a:rPr>
                <a:t>，</a:t>
              </a:r>
              <a:r>
                <a:rPr lang="en-US" altLang="zh-CN" sz="2000" dirty="0">
                  <a:solidFill>
                    <a:schemeClr val="tx1"/>
                  </a:solidFill>
                  <a:latin typeface="Times New Roman" panose="02020603050405020304" pitchFamily="18" charset="0"/>
                </a:rPr>
                <a:t>DAC</a:t>
              </a:r>
              <a:r>
                <a:rPr lang="zh-CN" altLang="en-US" sz="2000" dirty="0">
                  <a:solidFill>
                    <a:schemeClr val="tx1"/>
                  </a:solidFill>
                  <a:latin typeface="Times New Roman" panose="02020603050405020304" pitchFamily="18" charset="0"/>
                </a:rPr>
                <a:t>寄存器输出随输入变化。</a:t>
              </a:r>
              <a:endParaRPr lang="zh-CN" altLang="en-US" sz="2000" dirty="0">
                <a:solidFill>
                  <a:schemeClr val="tx1"/>
                </a:solidFill>
                <a:latin typeface="Times New Roman" panose="02020603050405020304" pitchFamily="18" charset="0"/>
              </a:endParaRPr>
            </a:p>
            <a:p>
              <a:pPr marL="268605" indent="-268605" eaLnBrk="1" hangingPunct="1">
                <a:lnSpc>
                  <a:spcPct val="90000"/>
                </a:lnSpc>
                <a:spcBef>
                  <a:spcPct val="25000"/>
                </a:spcBef>
                <a:buClr>
                  <a:srgbClr val="FF0000"/>
                </a:buClr>
                <a:buChar char="•"/>
              </a:pPr>
              <a:r>
                <a:rPr lang="zh-CN" altLang="en-US" sz="2000" dirty="0">
                  <a:solidFill>
                    <a:schemeClr val="tx1"/>
                  </a:solidFill>
                  <a:latin typeface="Times New Roman" panose="02020603050405020304" pitchFamily="18" charset="0"/>
                </a:rPr>
                <a:t>当</a:t>
              </a:r>
              <a:r>
                <a:rPr lang="en-US" altLang="zh-CN" sz="2000" dirty="0">
                  <a:solidFill>
                    <a:srgbClr val="FF0000"/>
                  </a:solidFill>
                  <a:latin typeface="Times New Roman" panose="02020603050405020304" pitchFamily="18" charset="0"/>
                </a:rPr>
                <a:t>WR2</a:t>
              </a:r>
              <a:r>
                <a:rPr lang="en-US" altLang="zh-CN" sz="2000" dirty="0">
                  <a:solidFill>
                    <a:schemeClr val="tx1"/>
                  </a:solidFill>
                  <a:latin typeface="Times New Roman" panose="02020603050405020304" pitchFamily="18" charset="0"/>
                </a:rPr>
                <a:t>        </a:t>
              </a:r>
              <a:r>
                <a:rPr lang="zh-CN" altLang="en-US" sz="2000" dirty="0">
                  <a:solidFill>
                    <a:schemeClr val="tx1"/>
                  </a:solidFill>
                  <a:latin typeface="Times New Roman" panose="02020603050405020304" pitchFamily="18" charset="0"/>
                </a:rPr>
                <a:t>时</a:t>
              </a:r>
              <a:r>
                <a:rPr lang="en-US" altLang="zh-CN" sz="2000" dirty="0">
                  <a:solidFill>
                    <a:schemeClr val="tx1"/>
                  </a:solidFill>
                  <a:latin typeface="Times New Roman" panose="02020603050405020304" pitchFamily="18" charset="0"/>
                </a:rPr>
                <a:t>, </a:t>
              </a:r>
              <a:r>
                <a:rPr lang="en-US" altLang="zh-CN" sz="2000" dirty="0">
                  <a:solidFill>
                    <a:srgbClr val="FF0000"/>
                  </a:solidFill>
                  <a:latin typeface="Times New Roman" panose="02020603050405020304" pitchFamily="18" charset="0"/>
                </a:rPr>
                <a:t>LE=0</a:t>
              </a:r>
              <a:r>
                <a:rPr lang="zh-CN" altLang="en-US" sz="2000" dirty="0">
                  <a:solidFill>
                    <a:schemeClr val="tx1"/>
                  </a:solidFill>
                  <a:latin typeface="Times New Roman" panose="02020603050405020304" pitchFamily="18" charset="0"/>
                </a:rPr>
                <a:t>，将输入数据锁存到</a:t>
              </a:r>
              <a:r>
                <a:rPr lang="en-US" altLang="zh-CN" sz="2000" dirty="0">
                  <a:solidFill>
                    <a:schemeClr val="tx1"/>
                  </a:solidFill>
                  <a:latin typeface="Times New Roman" panose="02020603050405020304" pitchFamily="18" charset="0"/>
                </a:rPr>
                <a:t>DAC</a:t>
              </a:r>
              <a:r>
                <a:rPr lang="zh-CN" altLang="en-US" sz="2000" dirty="0">
                  <a:solidFill>
                    <a:schemeClr val="tx1"/>
                  </a:solidFill>
                  <a:latin typeface="Times New Roman" panose="02020603050405020304" pitchFamily="18" charset="0"/>
                </a:rPr>
                <a:t>寄存器。数据进入</a:t>
              </a:r>
              <a:r>
                <a:rPr lang="en-US" altLang="zh-CN" sz="2000" dirty="0">
                  <a:solidFill>
                    <a:schemeClr val="tx1"/>
                  </a:solidFill>
                  <a:latin typeface="Times New Roman" panose="02020603050405020304" pitchFamily="18" charset="0"/>
                </a:rPr>
                <a:t>D/A</a:t>
              </a:r>
              <a:r>
                <a:rPr lang="zh-CN" altLang="en-US" sz="2000" dirty="0">
                  <a:solidFill>
                    <a:schemeClr val="tx1"/>
                  </a:solidFill>
                  <a:latin typeface="Times New Roman" panose="02020603050405020304" pitchFamily="18" charset="0"/>
                </a:rPr>
                <a:t>转换器，开始</a:t>
              </a:r>
              <a:r>
                <a:rPr lang="en-US" altLang="zh-CN" sz="2000" dirty="0">
                  <a:solidFill>
                    <a:schemeClr val="tx1"/>
                  </a:solidFill>
                  <a:latin typeface="Times New Roman" panose="02020603050405020304" pitchFamily="18" charset="0"/>
                </a:rPr>
                <a:t>D/A</a:t>
              </a:r>
              <a:r>
                <a:rPr lang="zh-CN" altLang="en-US" sz="2000" dirty="0">
                  <a:solidFill>
                    <a:schemeClr val="tx1"/>
                  </a:solidFill>
                  <a:latin typeface="Times New Roman" panose="02020603050405020304" pitchFamily="18" charset="0"/>
                </a:rPr>
                <a:t>转换。</a:t>
              </a:r>
              <a:endParaRPr lang="zh-CN" altLang="en-US" sz="2000" dirty="0">
                <a:solidFill>
                  <a:schemeClr val="tx1"/>
                </a:solidFill>
                <a:latin typeface="Times New Roman" panose="02020603050405020304" pitchFamily="18" charset="0"/>
              </a:endParaRPr>
            </a:p>
          </p:txBody>
        </p:sp>
        <p:sp>
          <p:nvSpPr>
            <p:cNvPr id="63502" name="Line 12"/>
            <p:cNvSpPr/>
            <p:nvPr/>
          </p:nvSpPr>
          <p:spPr>
            <a:xfrm>
              <a:off x="4785" y="1761"/>
              <a:ext cx="431" cy="0"/>
            </a:xfrm>
            <a:prstGeom prst="line">
              <a:avLst/>
            </a:prstGeom>
            <a:ln w="19050" cap="flat" cmpd="sng">
              <a:solidFill>
                <a:srgbClr val="FF0000"/>
              </a:solidFill>
              <a:prstDash val="solid"/>
              <a:headEnd type="none" w="med" len="med"/>
              <a:tailEnd type="none" w="med" len="med"/>
            </a:ln>
          </p:spPr>
        </p:sp>
        <p:sp>
          <p:nvSpPr>
            <p:cNvPr id="63503" name="Line 13"/>
            <p:cNvSpPr/>
            <p:nvPr/>
          </p:nvSpPr>
          <p:spPr>
            <a:xfrm>
              <a:off x="4579" y="1933"/>
              <a:ext cx="340" cy="0"/>
            </a:xfrm>
            <a:prstGeom prst="line">
              <a:avLst/>
            </a:prstGeom>
            <a:ln w="19050" cap="flat" cmpd="sng">
              <a:solidFill>
                <a:srgbClr val="FF0000"/>
              </a:solidFill>
              <a:prstDash val="solid"/>
              <a:headEnd type="none" w="med" len="med"/>
              <a:tailEnd type="none" w="med" len="med"/>
            </a:ln>
          </p:spPr>
        </p:sp>
        <p:sp>
          <p:nvSpPr>
            <p:cNvPr id="63504" name="Line 14"/>
            <p:cNvSpPr/>
            <p:nvPr/>
          </p:nvSpPr>
          <p:spPr>
            <a:xfrm>
              <a:off x="4745" y="2677"/>
              <a:ext cx="340" cy="0"/>
            </a:xfrm>
            <a:prstGeom prst="line">
              <a:avLst/>
            </a:prstGeom>
            <a:ln w="19050" cap="flat" cmpd="sng">
              <a:solidFill>
                <a:srgbClr val="FF0000"/>
              </a:solidFill>
              <a:prstDash val="solid"/>
              <a:headEnd type="none" w="med" len="med"/>
              <a:tailEnd type="none" w="med" len="med"/>
            </a:ln>
          </p:spPr>
        </p:sp>
        <p:sp>
          <p:nvSpPr>
            <p:cNvPr id="63505" name="Line 15"/>
            <p:cNvSpPr/>
            <p:nvPr/>
          </p:nvSpPr>
          <p:spPr>
            <a:xfrm>
              <a:off x="5140" y="2818"/>
              <a:ext cx="108" cy="0"/>
            </a:xfrm>
            <a:prstGeom prst="line">
              <a:avLst/>
            </a:prstGeom>
            <a:ln w="25400" cap="flat" cmpd="sng">
              <a:solidFill>
                <a:srgbClr val="0000FF"/>
              </a:solidFill>
              <a:prstDash val="solid"/>
              <a:headEnd type="none" w="med" len="med"/>
              <a:tailEnd type="none" w="med" len="med"/>
            </a:ln>
          </p:spPr>
        </p:sp>
        <p:sp>
          <p:nvSpPr>
            <p:cNvPr id="63506" name="Line 16"/>
            <p:cNvSpPr/>
            <p:nvPr/>
          </p:nvSpPr>
          <p:spPr>
            <a:xfrm flipV="1">
              <a:off x="5248" y="2704"/>
              <a:ext cx="0" cy="114"/>
            </a:xfrm>
            <a:prstGeom prst="line">
              <a:avLst/>
            </a:prstGeom>
            <a:ln w="25400" cap="flat" cmpd="sng">
              <a:solidFill>
                <a:srgbClr val="0000FF"/>
              </a:solidFill>
              <a:prstDash val="solid"/>
              <a:headEnd type="none" w="med" len="med"/>
              <a:tailEnd type="stealth" w="med" len="lg"/>
            </a:ln>
          </p:spPr>
        </p:sp>
        <p:sp>
          <p:nvSpPr>
            <p:cNvPr id="63507" name="Line 17"/>
            <p:cNvSpPr/>
            <p:nvPr/>
          </p:nvSpPr>
          <p:spPr>
            <a:xfrm>
              <a:off x="5248" y="2704"/>
              <a:ext cx="108" cy="0"/>
            </a:xfrm>
            <a:prstGeom prst="line">
              <a:avLst/>
            </a:prstGeom>
            <a:ln w="25400" cap="flat" cmpd="sng">
              <a:solidFill>
                <a:srgbClr val="0000FF"/>
              </a:solidFill>
              <a:prstDash val="solid"/>
              <a:headEnd type="none" w="med" len="med"/>
              <a:tailEnd type="none" w="med" len="med"/>
            </a:ln>
          </p:spPr>
        </p:sp>
      </p:grpSp>
      <p:graphicFrame>
        <p:nvGraphicFramePr>
          <p:cNvPr id="2509843" name="Object 19"/>
          <p:cNvGraphicFramePr>
            <a:graphicFrameLocks noGrp="1" noChangeAspect="1"/>
          </p:cNvGraphicFramePr>
          <p:nvPr>
            <p:ph sz="half" idx="1" hasCustomPrompt="1"/>
          </p:nvPr>
        </p:nvGraphicFramePr>
        <p:xfrm>
          <a:off x="431800" y="5219700"/>
          <a:ext cx="3276600" cy="801688"/>
        </p:xfrm>
        <a:graphic>
          <a:graphicData uri="http://schemas.openxmlformats.org/presentationml/2006/ole">
            <mc:AlternateContent xmlns:mc="http://schemas.openxmlformats.org/markup-compatibility/2006">
              <mc:Choice xmlns:v="urn:schemas-microsoft-com:vml" Requires="v">
                <p:oleObj spid="_x0000_s3093" name="" r:id="rId2" imgW="1765300" imgH="431800" progId="Equation.3">
                  <p:embed/>
                </p:oleObj>
              </mc:Choice>
              <mc:Fallback>
                <p:oleObj name="" r:id="rId2" imgW="1765300" imgH="431800" progId="Equation.3">
                  <p:embed/>
                  <p:pic>
                    <p:nvPicPr>
                      <p:cNvPr id="0" name="图片 3092"/>
                      <p:cNvPicPr/>
                      <p:nvPr/>
                    </p:nvPicPr>
                    <p:blipFill>
                      <a:blip r:embed="rId3"/>
                      <a:stretch>
                        <a:fillRect/>
                      </a:stretch>
                    </p:blipFill>
                    <p:spPr>
                      <a:xfrm>
                        <a:off x="431800" y="5219700"/>
                        <a:ext cx="3276600" cy="801688"/>
                      </a:xfrm>
                      <a:prstGeom prst="rect">
                        <a:avLst/>
                      </a:prstGeom>
                      <a:solidFill>
                        <a:srgbClr val="CCFFCC"/>
                      </a:solidFill>
                      <a:ln w="38100">
                        <a:noFill/>
                        <a:miter/>
                      </a:ln>
                    </p:spPr>
                  </p:pic>
                </p:oleObj>
              </mc:Fallback>
            </mc:AlternateContent>
          </a:graphicData>
        </a:graphic>
      </p:graphicFrame>
      <p:graphicFrame>
        <p:nvGraphicFramePr>
          <p:cNvPr id="2509844" name="Object 20"/>
          <p:cNvGraphicFramePr>
            <a:graphicFrameLocks noGrp="1" noChangeAspect="1"/>
          </p:cNvGraphicFramePr>
          <p:nvPr>
            <p:ph sz="half" idx="2" hasCustomPrompt="1"/>
          </p:nvPr>
        </p:nvGraphicFramePr>
        <p:xfrm>
          <a:off x="1397000" y="3568700"/>
          <a:ext cx="1338263" cy="760413"/>
        </p:xfrm>
        <a:graphic>
          <a:graphicData uri="http://schemas.openxmlformats.org/presentationml/2006/ole">
            <mc:AlternateContent xmlns:mc="http://schemas.openxmlformats.org/markup-compatibility/2006">
              <mc:Choice xmlns:v="urn:schemas-microsoft-com:vml" Requires="v">
                <p:oleObj spid="_x0000_s3094" name="" r:id="rId4" imgW="596900" imgH="431800" progId="Equation.3">
                  <p:embed/>
                </p:oleObj>
              </mc:Choice>
              <mc:Fallback>
                <p:oleObj name="" r:id="rId4" imgW="596900" imgH="431800" progId="Equation.3">
                  <p:embed/>
                  <p:pic>
                    <p:nvPicPr>
                      <p:cNvPr id="0" name="图片 3093"/>
                      <p:cNvPicPr/>
                      <p:nvPr/>
                    </p:nvPicPr>
                    <p:blipFill>
                      <a:blip r:embed="rId5"/>
                      <a:stretch>
                        <a:fillRect/>
                      </a:stretch>
                    </p:blipFill>
                    <p:spPr>
                      <a:xfrm>
                        <a:off x="1397000" y="3568700"/>
                        <a:ext cx="1338263" cy="760413"/>
                      </a:xfrm>
                      <a:prstGeom prst="rect">
                        <a:avLst/>
                      </a:prstGeom>
                      <a:solidFill>
                        <a:srgbClr val="CCFFFF"/>
                      </a:solidFill>
                      <a:ln w="38100">
                        <a:noFill/>
                        <a:miter/>
                      </a:ln>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09830">
                                            <p:txEl>
                                              <p:charRg st="0" end="19"/>
                                            </p:txEl>
                                          </p:spTgt>
                                        </p:tgtEl>
                                        <p:attrNameLst>
                                          <p:attrName>style.visibility</p:attrName>
                                        </p:attrNameLst>
                                      </p:cBhvr>
                                      <p:to>
                                        <p:strVal val="visible"/>
                                      </p:to>
                                    </p:set>
                                    <p:animEffect transition="in" filter="dissolve">
                                      <p:cBhvr>
                                        <p:cTn id="7" dur="500"/>
                                        <p:tgtEl>
                                          <p:spTgt spid="2509830">
                                            <p:txEl>
                                              <p:charRg st="0" end="19"/>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09831"/>
                                        </p:tgtEl>
                                        <p:attrNameLst>
                                          <p:attrName>style.visibility</p:attrName>
                                        </p:attrNameLst>
                                      </p:cBhvr>
                                      <p:to>
                                        <p:strVal val="visible"/>
                                      </p:to>
                                    </p:set>
                                    <p:animEffect transition="in" filter="dissolve">
                                      <p:cBhvr>
                                        <p:cTn id="10" dur="500"/>
                                        <p:tgtEl>
                                          <p:spTgt spid="250983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09830">
                                            <p:txEl>
                                              <p:charRg st="19" end="34"/>
                                            </p:txEl>
                                          </p:spTgt>
                                        </p:tgtEl>
                                        <p:attrNameLst>
                                          <p:attrName>style.visibility</p:attrName>
                                        </p:attrNameLst>
                                      </p:cBhvr>
                                      <p:to>
                                        <p:strVal val="visible"/>
                                      </p:to>
                                    </p:set>
                                    <p:animEffect transition="in" filter="dissolve">
                                      <p:cBhvr>
                                        <p:cTn id="15" dur="500"/>
                                        <p:tgtEl>
                                          <p:spTgt spid="2509830">
                                            <p:txEl>
                                              <p:charRg st="19" end="3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09832"/>
                                        </p:tgtEl>
                                        <p:attrNameLst>
                                          <p:attrName>style.visibility</p:attrName>
                                        </p:attrNameLst>
                                      </p:cBhvr>
                                      <p:to>
                                        <p:strVal val="visible"/>
                                      </p:to>
                                    </p:set>
                                    <p:animEffect transition="in" filter="dissolve">
                                      <p:cBhvr>
                                        <p:cTn id="18" dur="500"/>
                                        <p:tgtEl>
                                          <p:spTgt spid="2509832"/>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509842"/>
                                        </p:tgtEl>
                                        <p:attrNameLst>
                                          <p:attrName>style.visibility</p:attrName>
                                        </p:attrNameLst>
                                      </p:cBhvr>
                                      <p:to>
                                        <p:strVal val="visible"/>
                                      </p:to>
                                    </p:set>
                                    <p:animEffect transition="in" filter="dissolve">
                                      <p:cBhvr>
                                        <p:cTn id="23" dur="500"/>
                                        <p:tgtEl>
                                          <p:spTgt spid="2509842"/>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xit" presetSubtype="10" fill="hold" nodeType="clickEffect">
                                  <p:stCondLst>
                                    <p:cond delay="0"/>
                                  </p:stCondLst>
                                  <p:childTnLst>
                                    <p:animEffect transition="out" filter="blinds(horizontal)">
                                      <p:cBhvr>
                                        <p:cTn id="27" dur="500"/>
                                        <p:tgtEl>
                                          <p:spTgt spid="2509842"/>
                                        </p:tgtEl>
                                      </p:cBhvr>
                                    </p:animEffect>
                                    <p:set>
                                      <p:cBhvr>
                                        <p:cTn id="28" dur="1" fill="hold">
                                          <p:stCondLst>
                                            <p:cond delay="499"/>
                                          </p:stCondLst>
                                        </p:cTn>
                                        <p:tgtEl>
                                          <p:spTgt spid="250984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509830">
                                            <p:txEl>
                                              <p:charRg st="34" end="49"/>
                                            </p:txEl>
                                          </p:spTgt>
                                        </p:tgtEl>
                                        <p:attrNameLst>
                                          <p:attrName>style.visibility</p:attrName>
                                        </p:attrNameLst>
                                      </p:cBhvr>
                                      <p:to>
                                        <p:strVal val="visible"/>
                                      </p:to>
                                    </p:set>
                                    <p:animEffect transition="in" filter="dissolve">
                                      <p:cBhvr>
                                        <p:cTn id="33" dur="500"/>
                                        <p:tgtEl>
                                          <p:spTgt spid="2509830">
                                            <p:txEl>
                                              <p:charRg st="34" end="49"/>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2509830">
                                            <p:txEl>
                                              <p:charRg st="49" end="96"/>
                                            </p:txEl>
                                          </p:spTgt>
                                        </p:tgtEl>
                                        <p:attrNameLst>
                                          <p:attrName>style.visibility</p:attrName>
                                        </p:attrNameLst>
                                      </p:cBhvr>
                                      <p:to>
                                        <p:strVal val="visible"/>
                                      </p:to>
                                    </p:set>
                                    <p:animEffect transition="in" filter="dissolve">
                                      <p:cBhvr>
                                        <p:cTn id="38" dur="500"/>
                                        <p:tgtEl>
                                          <p:spTgt spid="2509830">
                                            <p:txEl>
                                              <p:charRg st="49" end="9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2509844"/>
                                        </p:tgtEl>
                                        <p:attrNameLst>
                                          <p:attrName>style.visibility</p:attrName>
                                        </p:attrNameLst>
                                      </p:cBhvr>
                                      <p:to>
                                        <p:strVal val="visible"/>
                                      </p:to>
                                    </p:set>
                                    <p:animEffect transition="in" filter="dissolve">
                                      <p:cBhvr>
                                        <p:cTn id="41" dur="500"/>
                                        <p:tgtEl>
                                          <p:spTgt spid="2509844"/>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2509830">
                                            <p:txEl>
                                              <p:charRg st="98" end="117"/>
                                            </p:txEl>
                                          </p:spTgt>
                                        </p:tgtEl>
                                        <p:attrNameLst>
                                          <p:attrName>style.visibility</p:attrName>
                                        </p:attrNameLst>
                                      </p:cBhvr>
                                      <p:to>
                                        <p:strVal val="visible"/>
                                      </p:to>
                                    </p:set>
                                    <p:animEffect transition="in" filter="dissolve">
                                      <p:cBhvr>
                                        <p:cTn id="46" dur="500"/>
                                        <p:tgtEl>
                                          <p:spTgt spid="2509830">
                                            <p:txEl>
                                              <p:charRg st="98" end="117"/>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2509830">
                                            <p:txEl>
                                              <p:charRg st="117" end="132"/>
                                            </p:txEl>
                                          </p:spTgt>
                                        </p:tgtEl>
                                        <p:attrNameLst>
                                          <p:attrName>style.visibility</p:attrName>
                                        </p:attrNameLst>
                                      </p:cBhvr>
                                      <p:to>
                                        <p:strVal val="visible"/>
                                      </p:to>
                                    </p:set>
                                    <p:animEffect transition="in" filter="dissolve">
                                      <p:cBhvr>
                                        <p:cTn id="51" dur="500"/>
                                        <p:tgtEl>
                                          <p:spTgt spid="2509830">
                                            <p:txEl>
                                              <p:charRg st="117" end="132"/>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nodeType="clickEffect">
                                  <p:stCondLst>
                                    <p:cond delay="0"/>
                                  </p:stCondLst>
                                  <p:childTnLst>
                                    <p:set>
                                      <p:cBhvr>
                                        <p:cTn id="55" dur="1" fill="hold">
                                          <p:stCondLst>
                                            <p:cond delay="0"/>
                                          </p:stCondLst>
                                        </p:cTn>
                                        <p:tgtEl>
                                          <p:spTgt spid="2509843"/>
                                        </p:tgtEl>
                                        <p:attrNameLst>
                                          <p:attrName>style.visibility</p:attrName>
                                        </p:attrNameLst>
                                      </p:cBhvr>
                                      <p:to>
                                        <p:strVal val="visible"/>
                                      </p:to>
                                    </p:set>
                                    <p:animEffect transition="in" filter="dissolve">
                                      <p:cBhvr>
                                        <p:cTn id="56" dur="500"/>
                                        <p:tgtEl>
                                          <p:spTgt spid="25098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07779" name="Text Box 3"/>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65539" name="Rectangle 4"/>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2507861" name="Text Box 85"/>
          <p:cNvSpPr txBox="1"/>
          <p:nvPr/>
        </p:nvSpPr>
        <p:spPr>
          <a:xfrm>
            <a:off x="358775" y="1376363"/>
            <a:ext cx="2628900" cy="860425"/>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的典型接线方式</a:t>
            </a:r>
            <a:endParaRPr lang="zh-CN" altLang="en-US" sz="2800" dirty="0">
              <a:solidFill>
                <a:srgbClr val="FF0000"/>
              </a:solidFill>
              <a:latin typeface="黑体" panose="02010609060101010101" pitchFamily="49" charset="-122"/>
              <a:ea typeface="黑体" panose="02010609060101010101" pitchFamily="49" charset="-122"/>
            </a:endParaRPr>
          </a:p>
        </p:txBody>
      </p:sp>
      <p:pic>
        <p:nvPicPr>
          <p:cNvPr id="2507862" name="Picture 86"/>
          <p:cNvPicPr>
            <a:picLocks noChangeAspect="1"/>
          </p:cNvPicPr>
          <p:nvPr/>
        </p:nvPicPr>
        <p:blipFill>
          <a:blip r:embed="rId1"/>
          <a:stretch>
            <a:fillRect/>
          </a:stretch>
        </p:blipFill>
        <p:spPr>
          <a:xfrm>
            <a:off x="865188" y="2420938"/>
            <a:ext cx="7270750" cy="3852862"/>
          </a:xfrm>
          <a:prstGeom prst="rect">
            <a:avLst/>
          </a:prstGeom>
          <a:noFill/>
          <a:ln w="9525">
            <a:noFill/>
          </a:ln>
        </p:spPr>
      </p:pic>
      <p:grpSp>
        <p:nvGrpSpPr>
          <p:cNvPr id="2507879" name="Group 103"/>
          <p:cNvGrpSpPr/>
          <p:nvPr/>
        </p:nvGrpSpPr>
        <p:grpSpPr>
          <a:xfrm>
            <a:off x="3222625" y="690563"/>
            <a:ext cx="5884863" cy="2162175"/>
            <a:chOff x="2030" y="435"/>
            <a:chExt cx="3707" cy="1430"/>
          </a:xfrm>
        </p:grpSpPr>
        <p:pic>
          <p:nvPicPr>
            <p:cNvPr id="65545" name="Picture 87"/>
            <p:cNvPicPr>
              <a:picLocks noChangeAspect="1"/>
            </p:cNvPicPr>
            <p:nvPr/>
          </p:nvPicPr>
          <p:blipFill>
            <a:blip r:embed="rId2"/>
            <a:stretch>
              <a:fillRect/>
            </a:stretch>
          </p:blipFill>
          <p:spPr>
            <a:xfrm>
              <a:off x="2154" y="481"/>
              <a:ext cx="3583" cy="1316"/>
            </a:xfrm>
            <a:prstGeom prst="rect">
              <a:avLst/>
            </a:prstGeom>
            <a:noFill/>
            <a:ln w="9525">
              <a:noFill/>
            </a:ln>
          </p:spPr>
        </p:pic>
        <p:sp>
          <p:nvSpPr>
            <p:cNvPr id="65546" name="Text Box 88"/>
            <p:cNvSpPr txBox="1"/>
            <p:nvPr/>
          </p:nvSpPr>
          <p:spPr>
            <a:xfrm>
              <a:off x="2030" y="471"/>
              <a:ext cx="454" cy="315"/>
            </a:xfrm>
            <a:prstGeom prst="rect">
              <a:avLst/>
            </a:prstGeom>
            <a:solidFill>
              <a:schemeClr val="bg1"/>
            </a:solidFill>
            <a:ln w="9525">
              <a:noFill/>
            </a:ln>
          </p:spPr>
          <p:txBody>
            <a:bodyPr>
              <a:spAutoFit/>
            </a:bodyPr>
            <a:p>
              <a:pPr algn="ctr" eaLnBrk="1" hangingPunct="1">
                <a:lnSpc>
                  <a:spcPct val="90000"/>
                </a:lnSpc>
                <a:spcBef>
                  <a:spcPct val="50000"/>
                </a:spcBef>
              </a:pPr>
              <a:r>
                <a:rPr lang="en-US" altLang="zh-CN" sz="1400" dirty="0">
                  <a:solidFill>
                    <a:srgbClr val="CC00CC"/>
                  </a:solidFill>
                  <a:latin typeface="Times New Roman" panose="02020603050405020304" pitchFamily="18" charset="0"/>
                </a:rPr>
                <a:t>DATA BUS</a:t>
              </a:r>
              <a:endParaRPr lang="en-US" altLang="zh-CN" sz="1400" dirty="0">
                <a:solidFill>
                  <a:srgbClr val="CC00CC"/>
                </a:solidFill>
                <a:latin typeface="Times New Roman" panose="02020603050405020304" pitchFamily="18" charset="0"/>
              </a:endParaRPr>
            </a:p>
          </p:txBody>
        </p:sp>
        <p:grpSp>
          <p:nvGrpSpPr>
            <p:cNvPr id="65547" name="Group 91"/>
            <p:cNvGrpSpPr/>
            <p:nvPr/>
          </p:nvGrpSpPr>
          <p:grpSpPr>
            <a:xfrm>
              <a:off x="2098" y="796"/>
              <a:ext cx="351" cy="188"/>
              <a:chOff x="2098" y="796"/>
              <a:chExt cx="351" cy="188"/>
            </a:xfrm>
          </p:grpSpPr>
          <p:sp>
            <p:nvSpPr>
              <p:cNvPr id="65556" name="Text Box 89"/>
              <p:cNvSpPr txBox="1"/>
              <p:nvPr/>
            </p:nvSpPr>
            <p:spPr>
              <a:xfrm>
                <a:off x="2098" y="796"/>
                <a:ext cx="351" cy="188"/>
              </a:xfrm>
              <a:prstGeom prst="rect">
                <a:avLst/>
              </a:prstGeom>
              <a:solidFill>
                <a:schemeClr val="bg1"/>
              </a:solidFill>
              <a:ln w="9525">
                <a:noFill/>
              </a:ln>
            </p:spPr>
            <p:txBody>
              <a:bodyPr>
                <a:spAutoFit/>
              </a:bodyPr>
              <a:p>
                <a:pPr algn="ctr" eaLnBrk="1" hangingPunct="1">
                  <a:lnSpc>
                    <a:spcPct val="90000"/>
                  </a:lnSpc>
                  <a:spcBef>
                    <a:spcPct val="50000"/>
                  </a:spcBef>
                </a:pPr>
                <a:r>
                  <a:rPr lang="en-US" altLang="zh-CN" sz="1400" dirty="0">
                    <a:solidFill>
                      <a:srgbClr val="CC00CC"/>
                    </a:solidFill>
                    <a:latin typeface="Times New Roman" panose="02020603050405020304" pitchFamily="18" charset="0"/>
                  </a:rPr>
                  <a:t>CS</a:t>
                </a:r>
                <a:endParaRPr lang="en-US" altLang="zh-CN" sz="1400" dirty="0">
                  <a:solidFill>
                    <a:srgbClr val="CC00CC"/>
                  </a:solidFill>
                  <a:latin typeface="Times New Roman" panose="02020603050405020304" pitchFamily="18" charset="0"/>
                </a:endParaRPr>
              </a:p>
            </p:txBody>
          </p:sp>
          <p:sp>
            <p:nvSpPr>
              <p:cNvPr id="65557" name="Line 90"/>
              <p:cNvSpPr/>
              <p:nvPr/>
            </p:nvSpPr>
            <p:spPr>
              <a:xfrm>
                <a:off x="2200" y="824"/>
                <a:ext cx="158" cy="0"/>
              </a:xfrm>
              <a:prstGeom prst="line">
                <a:avLst/>
              </a:prstGeom>
              <a:ln w="19050" cap="flat" cmpd="sng">
                <a:solidFill>
                  <a:srgbClr val="CC00CC"/>
                </a:solidFill>
                <a:prstDash val="solid"/>
                <a:headEnd type="none" w="med" len="med"/>
                <a:tailEnd type="none" w="med" len="med"/>
              </a:ln>
            </p:spPr>
          </p:sp>
        </p:grpSp>
        <p:grpSp>
          <p:nvGrpSpPr>
            <p:cNvPr id="65548" name="Group 95"/>
            <p:cNvGrpSpPr/>
            <p:nvPr/>
          </p:nvGrpSpPr>
          <p:grpSpPr>
            <a:xfrm>
              <a:off x="2041" y="1089"/>
              <a:ext cx="489" cy="315"/>
              <a:chOff x="2041" y="1089"/>
              <a:chExt cx="489" cy="315"/>
            </a:xfrm>
          </p:grpSpPr>
          <p:sp>
            <p:nvSpPr>
              <p:cNvPr id="65553" name="Text Box 92"/>
              <p:cNvSpPr txBox="1"/>
              <p:nvPr/>
            </p:nvSpPr>
            <p:spPr>
              <a:xfrm>
                <a:off x="2041" y="1089"/>
                <a:ext cx="489" cy="315"/>
              </a:xfrm>
              <a:prstGeom prst="rect">
                <a:avLst/>
              </a:prstGeom>
              <a:solidFill>
                <a:schemeClr val="bg1"/>
              </a:solidFill>
              <a:ln w="9525">
                <a:noFill/>
              </a:ln>
            </p:spPr>
            <p:txBody>
              <a:bodyPr>
                <a:spAutoFit/>
              </a:bodyPr>
              <a:p>
                <a:pPr algn="ctr" eaLnBrk="1" hangingPunct="1">
                  <a:lnSpc>
                    <a:spcPct val="90000"/>
                  </a:lnSpc>
                  <a:spcBef>
                    <a:spcPct val="50000"/>
                  </a:spcBef>
                </a:pPr>
                <a:r>
                  <a:rPr lang="en-US" altLang="zh-CN" sz="1400" dirty="0">
                    <a:solidFill>
                      <a:srgbClr val="CC00CC"/>
                    </a:solidFill>
                    <a:latin typeface="Times New Roman" panose="02020603050405020304" pitchFamily="18" charset="0"/>
                  </a:rPr>
                  <a:t>WR1 &amp; WR2</a:t>
                </a:r>
                <a:endParaRPr lang="en-US" altLang="zh-CN" sz="1400" dirty="0">
                  <a:solidFill>
                    <a:srgbClr val="CC00CC"/>
                  </a:solidFill>
                  <a:latin typeface="Times New Roman" panose="02020603050405020304" pitchFamily="18" charset="0"/>
                </a:endParaRPr>
              </a:p>
            </p:txBody>
          </p:sp>
          <p:sp>
            <p:nvSpPr>
              <p:cNvPr id="65554" name="Line 93"/>
              <p:cNvSpPr/>
              <p:nvPr/>
            </p:nvSpPr>
            <p:spPr>
              <a:xfrm>
                <a:off x="2089" y="1117"/>
                <a:ext cx="260" cy="0"/>
              </a:xfrm>
              <a:prstGeom prst="line">
                <a:avLst/>
              </a:prstGeom>
              <a:ln w="19050" cap="flat" cmpd="sng">
                <a:solidFill>
                  <a:srgbClr val="FF00FF"/>
                </a:solidFill>
                <a:prstDash val="solid"/>
                <a:headEnd type="none" w="med" len="med"/>
                <a:tailEnd type="none" w="med" len="med"/>
              </a:ln>
            </p:spPr>
          </p:sp>
          <p:sp>
            <p:nvSpPr>
              <p:cNvPr id="65555" name="Line 94"/>
              <p:cNvSpPr/>
              <p:nvPr/>
            </p:nvSpPr>
            <p:spPr>
              <a:xfrm>
                <a:off x="2148" y="1242"/>
                <a:ext cx="260" cy="0"/>
              </a:xfrm>
              <a:prstGeom prst="line">
                <a:avLst/>
              </a:prstGeom>
              <a:ln w="19050" cap="flat" cmpd="sng">
                <a:solidFill>
                  <a:srgbClr val="FF00FF"/>
                </a:solidFill>
                <a:prstDash val="solid"/>
                <a:headEnd type="none" w="med" len="med"/>
                <a:tailEnd type="none" w="med" len="med"/>
              </a:ln>
            </p:spPr>
          </p:sp>
        </p:grpSp>
        <p:grpSp>
          <p:nvGrpSpPr>
            <p:cNvPr id="65549" name="Group 101"/>
            <p:cNvGrpSpPr/>
            <p:nvPr/>
          </p:nvGrpSpPr>
          <p:grpSpPr>
            <a:xfrm>
              <a:off x="2040" y="1497"/>
              <a:ext cx="433" cy="187"/>
              <a:chOff x="2040" y="1497"/>
              <a:chExt cx="433" cy="187"/>
            </a:xfrm>
          </p:grpSpPr>
          <p:sp>
            <p:nvSpPr>
              <p:cNvPr id="65551" name="Text Box 98"/>
              <p:cNvSpPr txBox="1"/>
              <p:nvPr/>
            </p:nvSpPr>
            <p:spPr>
              <a:xfrm>
                <a:off x="2040" y="1497"/>
                <a:ext cx="433" cy="187"/>
              </a:xfrm>
              <a:prstGeom prst="rect">
                <a:avLst/>
              </a:prstGeom>
              <a:solidFill>
                <a:schemeClr val="bg1"/>
              </a:solidFill>
              <a:ln w="9525">
                <a:noFill/>
              </a:ln>
            </p:spPr>
            <p:txBody>
              <a:bodyPr>
                <a:spAutoFit/>
              </a:bodyPr>
              <a:p>
                <a:pPr algn="ctr" eaLnBrk="1" hangingPunct="1">
                  <a:lnSpc>
                    <a:spcPct val="90000"/>
                  </a:lnSpc>
                  <a:spcBef>
                    <a:spcPct val="50000"/>
                  </a:spcBef>
                </a:pPr>
                <a:r>
                  <a:rPr lang="en-US" altLang="zh-CN" sz="1400" dirty="0">
                    <a:solidFill>
                      <a:srgbClr val="CC00CC"/>
                    </a:solidFill>
                    <a:latin typeface="Times New Roman" panose="02020603050405020304" pitchFamily="18" charset="0"/>
                  </a:rPr>
                  <a:t>XFER</a:t>
                </a:r>
                <a:endParaRPr lang="en-US" altLang="zh-CN" sz="1400" dirty="0">
                  <a:solidFill>
                    <a:srgbClr val="CC00CC"/>
                  </a:solidFill>
                  <a:latin typeface="Times New Roman" panose="02020603050405020304" pitchFamily="18" charset="0"/>
                </a:endParaRPr>
              </a:p>
            </p:txBody>
          </p:sp>
          <p:sp>
            <p:nvSpPr>
              <p:cNvPr id="65552" name="Line 99"/>
              <p:cNvSpPr/>
              <p:nvPr/>
            </p:nvSpPr>
            <p:spPr>
              <a:xfrm>
                <a:off x="2109" y="1523"/>
                <a:ext cx="299" cy="0"/>
              </a:xfrm>
              <a:prstGeom prst="line">
                <a:avLst/>
              </a:prstGeom>
              <a:ln w="19050" cap="flat" cmpd="sng">
                <a:solidFill>
                  <a:srgbClr val="FF00FF"/>
                </a:solidFill>
                <a:prstDash val="solid"/>
                <a:headEnd type="none" w="med" len="med"/>
                <a:tailEnd type="none" w="med" len="med"/>
              </a:ln>
            </p:spPr>
          </p:sp>
        </p:grpSp>
        <p:sp>
          <p:nvSpPr>
            <p:cNvPr id="65550" name="Rectangle 102"/>
            <p:cNvSpPr/>
            <p:nvPr/>
          </p:nvSpPr>
          <p:spPr>
            <a:xfrm>
              <a:off x="2030" y="435"/>
              <a:ext cx="3707" cy="1430"/>
            </a:xfrm>
            <a:prstGeom prst="rect">
              <a:avLst/>
            </a:prstGeom>
            <a:noFill/>
            <a:ln w="9525" cap="flat" cmpd="sng">
              <a:solidFill>
                <a:srgbClr val="FF660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pSp>
      <p:sp>
        <p:nvSpPr>
          <p:cNvPr id="2507882" name="AutoShape 106"/>
          <p:cNvSpPr/>
          <p:nvPr/>
        </p:nvSpPr>
        <p:spPr>
          <a:xfrm>
            <a:off x="5389563" y="2808288"/>
            <a:ext cx="2052637" cy="576262"/>
          </a:xfrm>
          <a:prstGeom prst="wedgeRoundRectCallout">
            <a:avLst>
              <a:gd name="adj1" fmla="val -39329"/>
              <a:gd name="adj2" fmla="val -84986"/>
              <a:gd name="adj3" fmla="val 16667"/>
            </a:avLst>
          </a:prstGeom>
          <a:solidFill>
            <a:schemeClr val="accent1"/>
          </a:solidFill>
          <a:ln w="9525" cap="flat" cmpd="sng">
            <a:solidFill>
              <a:schemeClr val="tx1"/>
            </a:solidFill>
            <a:prstDash val="solid"/>
            <a:miter/>
            <a:headEnd type="none" w="med" len="med"/>
            <a:tailEnd type="none" w="med" len="med"/>
          </a:ln>
        </p:spPr>
        <p:txBody>
          <a:bodyPr/>
          <a:p>
            <a:pPr algn="ctr" eaLnBrk="1" hangingPunct="1">
              <a:lnSpc>
                <a:spcPct val="90000"/>
              </a:lnSpc>
            </a:pPr>
            <a:endParaRPr lang="zh-CN" altLang="zh-CN" dirty="0">
              <a:latin typeface="Times New Roman" panose="02020603050405020304" pitchFamily="18" charset="0"/>
            </a:endParaRPr>
          </a:p>
        </p:txBody>
      </p:sp>
      <p:sp>
        <p:nvSpPr>
          <p:cNvPr id="2507880" name="Text Box 104"/>
          <p:cNvSpPr txBox="1"/>
          <p:nvPr/>
        </p:nvSpPr>
        <p:spPr>
          <a:xfrm>
            <a:off x="5435600" y="2900363"/>
            <a:ext cx="2052638" cy="420687"/>
          </a:xfrm>
          <a:prstGeom prst="rect">
            <a:avLst/>
          </a:prstGeom>
          <a:noFill/>
          <a:ln w="9525">
            <a:noFill/>
          </a:ln>
        </p:spPr>
        <p:txBody>
          <a:bodyPr>
            <a:spAutoFit/>
          </a:bodyPr>
          <a:p>
            <a:pPr eaLnBrk="1" hangingPunct="1">
              <a:lnSpc>
                <a:spcPct val="90000"/>
              </a:lnSpc>
              <a:spcBef>
                <a:spcPct val="50000"/>
              </a:spcBef>
            </a:pPr>
            <a:r>
              <a:rPr lang="en-US" altLang="zh-CN" sz="2400" dirty="0">
                <a:solidFill>
                  <a:srgbClr val="FF0000"/>
                </a:solidFill>
                <a:latin typeface="Times New Roman" panose="02020603050405020304" pitchFamily="18" charset="0"/>
              </a:rPr>
              <a:t>I</a:t>
            </a:r>
            <a:r>
              <a:rPr lang="en-US" altLang="zh-CN" sz="2400" baseline="-25000" dirty="0">
                <a:solidFill>
                  <a:srgbClr val="FF0000"/>
                </a:solidFill>
                <a:latin typeface="Times New Roman" panose="02020603050405020304" pitchFamily="18" charset="0"/>
              </a:rPr>
              <a:t>LE</a:t>
            </a:r>
            <a:r>
              <a:rPr lang="zh-CN" altLang="en-US" sz="2400" dirty="0">
                <a:latin typeface="Times New Roman" panose="02020603050405020304" pitchFamily="18" charset="0"/>
              </a:rPr>
              <a:t>接逻辑“</a:t>
            </a:r>
            <a:r>
              <a:rPr lang="en-US" altLang="zh-CN" sz="2400" dirty="0">
                <a:solidFill>
                  <a:srgbClr val="FF0000"/>
                </a:solidFill>
                <a:latin typeface="Times New Roman" panose="02020603050405020304" pitchFamily="18" charset="0"/>
              </a:rPr>
              <a:t>1</a:t>
            </a:r>
            <a:r>
              <a:rPr lang="en-US" altLang="zh-CN" sz="2400" dirty="0">
                <a:latin typeface="Times New Roman" panose="02020603050405020304" pitchFamily="18" charset="0"/>
              </a:rPr>
              <a:t>”</a:t>
            </a:r>
            <a:endParaRPr lang="en-US" altLang="zh-CN" sz="24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07861"/>
                                        </p:tgtEl>
                                        <p:attrNameLst>
                                          <p:attrName>style.visibility</p:attrName>
                                        </p:attrNameLst>
                                      </p:cBhvr>
                                      <p:to>
                                        <p:strVal val="visible"/>
                                      </p:to>
                                    </p:set>
                                    <p:animEffect transition="in" filter="dissolve">
                                      <p:cBhvr>
                                        <p:cTn id="7" dur="500"/>
                                        <p:tgtEl>
                                          <p:spTgt spid="250786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07862"/>
                                        </p:tgtEl>
                                        <p:attrNameLst>
                                          <p:attrName>style.visibility</p:attrName>
                                        </p:attrNameLst>
                                      </p:cBhvr>
                                      <p:to>
                                        <p:strVal val="visible"/>
                                      </p:to>
                                    </p:set>
                                    <p:animEffect transition="in" filter="dissolve">
                                      <p:cBhvr>
                                        <p:cTn id="12" dur="500"/>
                                        <p:tgtEl>
                                          <p:spTgt spid="25078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07879"/>
                                        </p:tgtEl>
                                        <p:attrNameLst>
                                          <p:attrName>style.visibility</p:attrName>
                                        </p:attrNameLst>
                                      </p:cBhvr>
                                      <p:to>
                                        <p:strVal val="visible"/>
                                      </p:to>
                                    </p:set>
                                    <p:animEffect transition="in" filter="dissolve">
                                      <p:cBhvr>
                                        <p:cTn id="17" dur="500"/>
                                        <p:tgtEl>
                                          <p:spTgt spid="2507879"/>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507880"/>
                                        </p:tgtEl>
                                        <p:attrNameLst>
                                          <p:attrName>style.visibility</p:attrName>
                                        </p:attrNameLst>
                                      </p:cBhvr>
                                      <p:to>
                                        <p:strVal val="visible"/>
                                      </p:to>
                                    </p:set>
                                    <p:animEffect transition="in" filter="dissolve">
                                      <p:cBhvr>
                                        <p:cTn id="20" dur="500"/>
                                        <p:tgtEl>
                                          <p:spTgt spid="2507880"/>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507882"/>
                                        </p:tgtEl>
                                        <p:attrNameLst>
                                          <p:attrName>style.visibility</p:attrName>
                                        </p:attrNameLst>
                                      </p:cBhvr>
                                      <p:to>
                                        <p:strVal val="visible"/>
                                      </p:to>
                                    </p:set>
                                    <p:animEffect transition="in" filter="dissolve">
                                      <p:cBhvr>
                                        <p:cTn id="23" dur="500"/>
                                        <p:tgtEl>
                                          <p:spTgt spid="2507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7861" grpId="0"/>
      <p:bldP spid="2507882" grpId="0" bldLvl="0" animBg="1"/>
      <p:bldP spid="2507880"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514966" name="Picture 22"/>
          <p:cNvPicPr>
            <a:picLocks noChangeAspect="1"/>
          </p:cNvPicPr>
          <p:nvPr/>
        </p:nvPicPr>
        <p:blipFill>
          <a:blip r:embed="rId1"/>
          <a:stretch>
            <a:fillRect/>
          </a:stretch>
        </p:blipFill>
        <p:spPr>
          <a:xfrm>
            <a:off x="1079500" y="1700213"/>
            <a:ext cx="7132638" cy="4505325"/>
          </a:xfrm>
          <a:prstGeom prst="rect">
            <a:avLst/>
          </a:prstGeom>
          <a:noFill/>
          <a:ln w="9525">
            <a:noFill/>
          </a:ln>
        </p:spPr>
      </p:pic>
      <p:sp>
        <p:nvSpPr>
          <p:cNvPr id="2514946"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67588"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67589" name="Text Box 4"/>
          <p:cNvSpPr txBox="1"/>
          <p:nvPr/>
        </p:nvSpPr>
        <p:spPr>
          <a:xfrm>
            <a:off x="358775" y="1376363"/>
            <a:ext cx="4573588"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的典型接线方式</a:t>
            </a:r>
            <a:endParaRPr lang="zh-CN" altLang="en-US" sz="2800" dirty="0">
              <a:solidFill>
                <a:srgbClr val="FF0000"/>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14966"/>
                                        </p:tgtEl>
                                        <p:attrNameLst>
                                          <p:attrName>style.visibility</p:attrName>
                                        </p:attrNameLst>
                                      </p:cBhvr>
                                      <p:to>
                                        <p:strVal val="visible"/>
                                      </p:to>
                                    </p:set>
                                    <p:animEffect transition="in" filter="dissolve">
                                      <p:cBhvr>
                                        <p:cTn id="7" dur="500"/>
                                        <p:tgtEl>
                                          <p:spTgt spid="25149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16995" name="Text Box 3"/>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69635" name="Rectangle 4"/>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69636" name="Text Box 5"/>
          <p:cNvSpPr txBox="1"/>
          <p:nvPr/>
        </p:nvSpPr>
        <p:spPr>
          <a:xfrm>
            <a:off x="358775" y="1376363"/>
            <a:ext cx="4573588"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的典型接线方式</a:t>
            </a:r>
            <a:endParaRPr lang="zh-CN" altLang="en-US" sz="2800" dirty="0">
              <a:solidFill>
                <a:srgbClr val="FF0000"/>
              </a:solidFill>
              <a:latin typeface="黑体" panose="02010609060101010101" pitchFamily="49" charset="-122"/>
              <a:ea typeface="黑体" panose="02010609060101010101" pitchFamily="49" charset="-122"/>
            </a:endParaRPr>
          </a:p>
        </p:txBody>
      </p:sp>
      <p:pic>
        <p:nvPicPr>
          <p:cNvPr id="2516998" name="Picture 6"/>
          <p:cNvPicPr>
            <a:picLocks noChangeAspect="1"/>
          </p:cNvPicPr>
          <p:nvPr/>
        </p:nvPicPr>
        <p:blipFill>
          <a:blip r:embed="rId1"/>
          <a:stretch>
            <a:fillRect/>
          </a:stretch>
        </p:blipFill>
        <p:spPr>
          <a:xfrm>
            <a:off x="358775" y="2370138"/>
            <a:ext cx="8351838" cy="2209800"/>
          </a:xfrm>
          <a:prstGeom prst="rect">
            <a:avLst/>
          </a:prstGeom>
          <a:noFill/>
          <a:ln w="9525">
            <a:noFill/>
          </a:ln>
        </p:spPr>
      </p:pic>
      <p:sp>
        <p:nvSpPr>
          <p:cNvPr id="2516999" name="Text Box 7"/>
          <p:cNvSpPr txBox="1"/>
          <p:nvPr/>
        </p:nvSpPr>
        <p:spPr>
          <a:xfrm>
            <a:off x="3995738" y="2000250"/>
            <a:ext cx="1873250" cy="420688"/>
          </a:xfrm>
          <a:prstGeom prst="rect">
            <a:avLst/>
          </a:prstGeom>
          <a:solidFill>
            <a:srgbClr val="FFCC99"/>
          </a:solidFill>
          <a:ln w="9525">
            <a:noFill/>
          </a:ln>
        </p:spPr>
        <p:txBody>
          <a:bodyPr>
            <a:spAutoFit/>
          </a:bodyPr>
          <a:p>
            <a:pPr eaLnBrk="1" hangingPunct="1">
              <a:lnSpc>
                <a:spcPct val="90000"/>
              </a:lnSpc>
              <a:spcBef>
                <a:spcPct val="50000"/>
              </a:spcBef>
            </a:pPr>
            <a:r>
              <a:rPr lang="zh-CN" altLang="en-US" sz="2400" dirty="0">
                <a:solidFill>
                  <a:srgbClr val="000099"/>
                </a:solidFill>
                <a:latin typeface="Times New Roman" panose="02020603050405020304" pitchFamily="18" charset="0"/>
              </a:rPr>
              <a:t>双极性输出</a:t>
            </a:r>
            <a:endParaRPr lang="zh-CN" altLang="en-US" sz="2400" dirty="0">
              <a:solidFill>
                <a:srgbClr val="000099"/>
              </a:solidFill>
              <a:latin typeface="Times New Roman" panose="02020603050405020304" pitchFamily="18" charset="0"/>
            </a:endParaRPr>
          </a:p>
        </p:txBody>
      </p:sp>
      <p:sp>
        <p:nvSpPr>
          <p:cNvPr id="2517002" name="Rectangle 10"/>
          <p:cNvSpPr/>
          <p:nvPr/>
        </p:nvSpPr>
        <p:spPr>
          <a:xfrm>
            <a:off x="215900" y="1924050"/>
            <a:ext cx="8640763" cy="2800350"/>
          </a:xfrm>
          <a:prstGeom prst="rect">
            <a:avLst/>
          </a:prstGeom>
          <a:noFill/>
          <a:ln w="9525" cap="flat" cmpd="sng">
            <a:solidFill>
              <a:srgbClr val="FF6600"/>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graphicFrame>
        <p:nvGraphicFramePr>
          <p:cNvPr id="2517004" name="Object 12"/>
          <p:cNvGraphicFramePr>
            <a:graphicFrameLocks noGrp="1" noChangeAspect="1"/>
          </p:cNvGraphicFramePr>
          <p:nvPr>
            <p:ph idx="4294967295" hasCustomPrompt="1"/>
          </p:nvPr>
        </p:nvGraphicFramePr>
        <p:xfrm>
          <a:off x="2663825" y="4905375"/>
          <a:ext cx="3313113" cy="909638"/>
        </p:xfrm>
        <a:graphic>
          <a:graphicData uri="http://schemas.openxmlformats.org/presentationml/2006/ole">
            <mc:AlternateContent xmlns:mc="http://schemas.openxmlformats.org/markup-compatibility/2006">
              <mc:Choice xmlns:v="urn:schemas-microsoft-com:vml" Requires="v">
                <p:oleObj spid="_x0000_s3095" name="" r:id="rId2" imgW="1435100" imgH="393700" progId="Equation.3">
                  <p:embed/>
                </p:oleObj>
              </mc:Choice>
              <mc:Fallback>
                <p:oleObj name="" r:id="rId2" imgW="1435100" imgH="393700" progId="Equation.3">
                  <p:embed/>
                  <p:pic>
                    <p:nvPicPr>
                      <p:cNvPr id="0" name="图片 3094"/>
                      <p:cNvPicPr/>
                      <p:nvPr/>
                    </p:nvPicPr>
                    <p:blipFill>
                      <a:blip r:embed="rId3"/>
                      <a:stretch>
                        <a:fillRect/>
                      </a:stretch>
                    </p:blipFill>
                    <p:spPr>
                      <a:xfrm>
                        <a:off x="2663825" y="4905375"/>
                        <a:ext cx="3313113" cy="909638"/>
                      </a:xfrm>
                      <a:prstGeom prst="rect">
                        <a:avLst/>
                      </a:prstGeom>
                      <a:solidFill>
                        <a:srgbClr val="CCFFCC"/>
                      </a:solidFill>
                      <a:ln w="38100">
                        <a:noFill/>
                        <a:miter/>
                      </a:ln>
                    </p:spPr>
                  </p:pic>
                </p:oleObj>
              </mc:Fallback>
            </mc:AlternateContent>
          </a:graphicData>
        </a:graphic>
      </p:graphicFrame>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17002"/>
                                        </p:tgtEl>
                                        <p:attrNameLst>
                                          <p:attrName>style.visibility</p:attrName>
                                        </p:attrNameLst>
                                      </p:cBhvr>
                                      <p:to>
                                        <p:strVal val="visible"/>
                                      </p:to>
                                    </p:set>
                                    <p:animEffect transition="in" filter="dissolve">
                                      <p:cBhvr>
                                        <p:cTn id="7" dur="500"/>
                                        <p:tgtEl>
                                          <p:spTgt spid="251700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6999"/>
                                        </p:tgtEl>
                                        <p:attrNameLst>
                                          <p:attrName>style.visibility</p:attrName>
                                        </p:attrNameLst>
                                      </p:cBhvr>
                                      <p:to>
                                        <p:strVal val="visible"/>
                                      </p:to>
                                    </p:set>
                                    <p:animEffect transition="in" filter="dissolve">
                                      <p:cBhvr>
                                        <p:cTn id="10" dur="500"/>
                                        <p:tgtEl>
                                          <p:spTgt spid="2516999"/>
                                        </p:tgtEl>
                                      </p:cBhvr>
                                    </p:animEffect>
                                  </p:childTnLst>
                                </p:cTn>
                              </p:par>
                              <p:par>
                                <p:cTn id="11" presetID="9" presetClass="entr" presetSubtype="0" fill="hold" nodeType="withEffect">
                                  <p:stCondLst>
                                    <p:cond delay="0"/>
                                  </p:stCondLst>
                                  <p:childTnLst>
                                    <p:set>
                                      <p:cBhvr>
                                        <p:cTn id="12" dur="1" fill="hold">
                                          <p:stCondLst>
                                            <p:cond delay="0"/>
                                          </p:stCondLst>
                                        </p:cTn>
                                        <p:tgtEl>
                                          <p:spTgt spid="2516998"/>
                                        </p:tgtEl>
                                        <p:attrNameLst>
                                          <p:attrName>style.visibility</p:attrName>
                                        </p:attrNameLst>
                                      </p:cBhvr>
                                      <p:to>
                                        <p:strVal val="visible"/>
                                      </p:to>
                                    </p:set>
                                    <p:animEffect transition="in" filter="dissolve">
                                      <p:cBhvr>
                                        <p:cTn id="13" dur="500"/>
                                        <p:tgtEl>
                                          <p:spTgt spid="2516998"/>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517004"/>
                                        </p:tgtEl>
                                        <p:attrNameLst>
                                          <p:attrName>style.visibility</p:attrName>
                                        </p:attrNameLst>
                                      </p:cBhvr>
                                      <p:to>
                                        <p:strVal val="visible"/>
                                      </p:to>
                                    </p:set>
                                    <p:animEffect transition="in" filter="dissolve">
                                      <p:cBhvr>
                                        <p:cTn id="18" dur="500"/>
                                        <p:tgtEl>
                                          <p:spTgt spid="25170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6999" grpId="0" bldLvl="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23139" name="Text Box 3"/>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1683" name="Rectangle 4"/>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2523141" name="Text Box 5"/>
          <p:cNvSpPr txBox="1"/>
          <p:nvPr/>
        </p:nvSpPr>
        <p:spPr>
          <a:xfrm>
            <a:off x="395288" y="1449388"/>
            <a:ext cx="4970462"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与微机的连接</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523171" name="Text Box 35"/>
          <p:cNvSpPr txBox="1"/>
          <p:nvPr/>
        </p:nvSpPr>
        <p:spPr>
          <a:xfrm>
            <a:off x="395288" y="1925638"/>
            <a:ext cx="8245475" cy="3929062"/>
          </a:xfrm>
          <a:prstGeom prst="rect">
            <a:avLst/>
          </a:prstGeom>
          <a:noFill/>
          <a:ln w="9525">
            <a:noFill/>
          </a:ln>
        </p:spPr>
        <p:txBody>
          <a:bodyPr>
            <a:spAutoFit/>
          </a:bodyPr>
          <a:p>
            <a:pPr eaLnBrk="1" hangingPunct="1">
              <a:buClr>
                <a:srgbClr val="FF00FF"/>
              </a:buClr>
              <a:buSzPct val="90000"/>
              <a:buFont typeface="Monotype Sorts" pitchFamily="2" charset="2"/>
            </a:pPr>
            <a:r>
              <a:rPr lang="en-US" altLang="zh-CN" sz="2800" dirty="0">
                <a:solidFill>
                  <a:srgbClr val="FF3300"/>
                </a:solidFill>
                <a:latin typeface="Times New Roman" panose="02020603050405020304" pitchFamily="18" charset="0"/>
              </a:rPr>
              <a:t>1)</a:t>
            </a:r>
            <a:r>
              <a:rPr lang="zh-CN" altLang="en-US" sz="2800" dirty="0">
                <a:solidFill>
                  <a:srgbClr val="FF3300"/>
                </a:solidFill>
                <a:latin typeface="Times New Roman" panose="02020603050405020304" pitchFamily="18" charset="0"/>
              </a:rPr>
              <a:t>单缓冲工作方式</a:t>
            </a:r>
            <a:endParaRPr lang="zh-CN" altLang="en-US" sz="2400" dirty="0">
              <a:solidFill>
                <a:schemeClr val="tx1"/>
              </a:solidFill>
              <a:latin typeface="Times New Roman" panose="02020603050405020304" pitchFamily="18" charset="0"/>
            </a:endParaRPr>
          </a:p>
          <a:p>
            <a:pPr eaLnBrk="1" hangingPunct="1">
              <a:buClr>
                <a:srgbClr val="FF00FF"/>
              </a:buClr>
              <a:buSzPct val="90000"/>
              <a:buFont typeface="Monotype Sorts" pitchFamily="2" charset="2"/>
            </a:pPr>
            <a:r>
              <a:rPr lang="zh-CN" altLang="en-US" sz="2400" dirty="0">
                <a:solidFill>
                  <a:schemeClr val="tx1"/>
                </a:solidFill>
                <a:latin typeface="Times New Roman" panose="02020603050405020304" pitchFamily="18" charset="0"/>
              </a:rPr>
              <a:t>一个寄存器工作于直通状态，另一个工作于受控锁存器状态</a:t>
            </a:r>
            <a:endParaRPr lang="zh-CN" altLang="en-US" sz="2400" dirty="0">
              <a:solidFill>
                <a:schemeClr val="tx1"/>
              </a:solidFill>
              <a:latin typeface="Times New Roman" panose="02020603050405020304" pitchFamily="18" charset="0"/>
            </a:endParaRPr>
          </a:p>
          <a:p>
            <a:pPr lvl="2" eaLnBrk="1" hangingPunct="1"/>
            <a:endParaRPr lang="zh-CN" altLang="en-US" sz="2400" dirty="0">
              <a:solidFill>
                <a:srgbClr val="0000FF"/>
              </a:solidFill>
              <a:latin typeface="Times New Roman" panose="02020603050405020304" pitchFamily="18" charset="0"/>
            </a:endParaRPr>
          </a:p>
          <a:p>
            <a:pPr eaLnBrk="1" hangingPunct="1"/>
            <a:r>
              <a:rPr lang="zh-CN" altLang="en-US" sz="2400" dirty="0">
                <a:solidFill>
                  <a:srgbClr val="0000FF"/>
                </a:solidFill>
                <a:latin typeface="Times New Roman" panose="02020603050405020304" pitchFamily="18" charset="0"/>
              </a:rPr>
              <a:t> </a:t>
            </a:r>
            <a:endParaRPr lang="zh-CN" altLang="en-US" sz="2400" dirty="0">
              <a:solidFill>
                <a:srgbClr val="0000FF"/>
              </a:solidFill>
              <a:latin typeface="Times New Roman" panose="02020603050405020304" pitchFamily="18" charset="0"/>
            </a:endParaRPr>
          </a:p>
          <a:p>
            <a:pPr eaLnBrk="1" hangingPunct="1"/>
            <a:endParaRPr lang="zh-CN" altLang="en-US" sz="2400" dirty="0">
              <a:solidFill>
                <a:srgbClr val="0000FF"/>
              </a:solidFill>
              <a:latin typeface="Times New Roman" panose="02020603050405020304" pitchFamily="18" charset="0"/>
            </a:endParaRPr>
          </a:p>
          <a:p>
            <a:pPr eaLnBrk="1" hangingPunct="1"/>
            <a:r>
              <a:rPr lang="en-US" altLang="zh-CN" sz="2800" dirty="0">
                <a:solidFill>
                  <a:srgbClr val="FF3300"/>
                </a:solidFill>
                <a:latin typeface="Times New Roman" panose="02020603050405020304" pitchFamily="18" charset="0"/>
              </a:rPr>
              <a:t>2)</a:t>
            </a:r>
            <a:r>
              <a:rPr lang="zh-CN" altLang="en-US" sz="2800" dirty="0">
                <a:solidFill>
                  <a:srgbClr val="FF3300"/>
                </a:solidFill>
                <a:latin typeface="Times New Roman" panose="02020603050405020304" pitchFamily="18" charset="0"/>
              </a:rPr>
              <a:t>双缓冲工作方式</a:t>
            </a:r>
            <a:endParaRPr lang="zh-CN" altLang="en-US" sz="2400" dirty="0">
              <a:solidFill>
                <a:srgbClr val="0000FF"/>
              </a:solidFill>
              <a:latin typeface="Times New Roman" panose="02020603050405020304" pitchFamily="18" charset="0"/>
            </a:endParaRPr>
          </a:p>
          <a:p>
            <a:pPr eaLnBrk="1" hangingPunct="1"/>
            <a:r>
              <a:rPr lang="zh-CN" altLang="en-US" sz="2400" dirty="0">
                <a:solidFill>
                  <a:schemeClr val="tx1"/>
                </a:solidFill>
                <a:latin typeface="Times New Roman" panose="02020603050405020304" pitchFamily="18" charset="0"/>
              </a:rPr>
              <a:t>两个寄存器均工作于受控锁存器状态，</a:t>
            </a:r>
            <a:endParaRPr lang="zh-CN" altLang="en-US" sz="2400" dirty="0">
              <a:solidFill>
                <a:schemeClr val="tx1"/>
              </a:solidFill>
              <a:latin typeface="Times New Roman" panose="02020603050405020304" pitchFamily="18" charset="0"/>
            </a:endParaRPr>
          </a:p>
          <a:p>
            <a:pPr eaLnBrk="1" hangingPunct="1"/>
            <a:endParaRPr lang="zh-CN" altLang="en-US" sz="2400" dirty="0">
              <a:solidFill>
                <a:schemeClr val="tx1"/>
              </a:solidFill>
              <a:latin typeface="Times New Roman" panose="02020603050405020304" pitchFamily="18" charset="0"/>
            </a:endParaRPr>
          </a:p>
          <a:p>
            <a:pPr eaLnBrk="1" hangingPunct="1"/>
            <a:endParaRPr lang="zh-CN" altLang="en-US" sz="2400" dirty="0">
              <a:solidFill>
                <a:schemeClr val="tx1"/>
              </a:solidFill>
              <a:latin typeface="Times New Roman" panose="02020603050405020304" pitchFamily="18" charset="0"/>
            </a:endParaRPr>
          </a:p>
          <a:p>
            <a:pPr eaLnBrk="1" hangingPunct="1"/>
            <a:r>
              <a:rPr lang="en-US" altLang="zh-CN" sz="2800" dirty="0">
                <a:solidFill>
                  <a:srgbClr val="FF3300"/>
                </a:solidFill>
                <a:latin typeface="Times New Roman" panose="02020603050405020304" pitchFamily="18" charset="0"/>
              </a:rPr>
              <a:t>3)</a:t>
            </a:r>
            <a:r>
              <a:rPr lang="zh-CN" altLang="en-US" sz="2800" dirty="0">
                <a:solidFill>
                  <a:srgbClr val="FF3300"/>
                </a:solidFill>
                <a:latin typeface="Times New Roman" panose="02020603050405020304" pitchFamily="18" charset="0"/>
              </a:rPr>
              <a:t>直通工作方式</a:t>
            </a:r>
            <a:endParaRPr lang="zh-CN" altLang="en-US" sz="2800" dirty="0">
              <a:solidFill>
                <a:srgbClr val="FF3300"/>
              </a:solidFill>
              <a:latin typeface="Times New Roman" panose="02020603050405020304" pitchFamily="18" charset="0"/>
            </a:endParaRPr>
          </a:p>
        </p:txBody>
      </p:sp>
      <p:sp>
        <p:nvSpPr>
          <p:cNvPr id="2523172" name="Text Box 36"/>
          <p:cNvSpPr txBox="1"/>
          <p:nvPr/>
        </p:nvSpPr>
        <p:spPr>
          <a:xfrm>
            <a:off x="503238" y="2924175"/>
            <a:ext cx="8064500" cy="730250"/>
          </a:xfrm>
          <a:prstGeom prst="rect">
            <a:avLst/>
          </a:prstGeom>
          <a:solidFill>
            <a:srgbClr val="CCFFCC"/>
          </a:solidFill>
          <a:ln w="38100">
            <a:noFill/>
          </a:ln>
        </p:spPr>
        <p:txBody>
          <a:bodyPr lIns="0" tIns="0" rIns="0" bIns="0">
            <a:spAutoFit/>
          </a:bodyPr>
          <a:p>
            <a:pPr eaLnBrk="1" hangingPunct="1"/>
            <a:r>
              <a:rPr lang="zh-CN" altLang="en-US" sz="2400" dirty="0">
                <a:solidFill>
                  <a:srgbClr val="000099"/>
                </a:solidFill>
                <a:latin typeface="黑体" panose="02010609060101010101" pitchFamily="49" charset="-122"/>
                <a:ea typeface="黑体" panose="02010609060101010101" pitchFamily="49" charset="-122"/>
              </a:rPr>
              <a:t>在不要求多相</a:t>
            </a:r>
            <a:r>
              <a:rPr lang="en-US" altLang="zh-CN" sz="2400" dirty="0">
                <a:solidFill>
                  <a:srgbClr val="000099"/>
                </a:solidFill>
                <a:latin typeface="Times New Roman" panose="02020603050405020304" pitchFamily="18" charset="0"/>
                <a:ea typeface="黑体" panose="02010609060101010101" pitchFamily="49" charset="-122"/>
              </a:rPr>
              <a:t>D/A</a:t>
            </a:r>
            <a:r>
              <a:rPr lang="zh-CN" altLang="en-US" sz="2400" dirty="0">
                <a:solidFill>
                  <a:srgbClr val="000099"/>
                </a:solidFill>
                <a:latin typeface="黑体" panose="02010609060101010101" pitchFamily="49" charset="-122"/>
                <a:ea typeface="黑体" panose="02010609060101010101" pitchFamily="49" charset="-122"/>
              </a:rPr>
              <a:t>同时输出时，可以采用单缓冲方式，此时只需一次写操作，就开始转换，可以提高</a:t>
            </a:r>
            <a:r>
              <a:rPr lang="en-US" altLang="zh-CN" sz="2400" dirty="0">
                <a:solidFill>
                  <a:srgbClr val="000099"/>
                </a:solidFill>
                <a:latin typeface="Times New Roman" panose="02020603050405020304" pitchFamily="18" charset="0"/>
                <a:ea typeface="黑体" panose="02010609060101010101" pitchFamily="49" charset="-122"/>
              </a:rPr>
              <a:t>D/A</a:t>
            </a:r>
            <a:r>
              <a:rPr lang="zh-CN" altLang="en-US" sz="2400" dirty="0">
                <a:solidFill>
                  <a:srgbClr val="000099"/>
                </a:solidFill>
                <a:latin typeface="黑体" panose="02010609060101010101" pitchFamily="49" charset="-122"/>
                <a:ea typeface="黑体" panose="02010609060101010101" pitchFamily="49" charset="-122"/>
              </a:rPr>
              <a:t>的数据吞吐量。</a:t>
            </a:r>
            <a:endParaRPr lang="zh-CN" altLang="en-US" sz="2400" dirty="0">
              <a:solidFill>
                <a:srgbClr val="000099"/>
              </a:solidFill>
              <a:latin typeface="黑体" panose="02010609060101010101" pitchFamily="49" charset="-122"/>
              <a:ea typeface="黑体" panose="02010609060101010101" pitchFamily="49" charset="-122"/>
            </a:endParaRPr>
          </a:p>
        </p:txBody>
      </p:sp>
      <p:sp>
        <p:nvSpPr>
          <p:cNvPr id="2523173" name="Text Box 37"/>
          <p:cNvSpPr txBox="1"/>
          <p:nvPr/>
        </p:nvSpPr>
        <p:spPr>
          <a:xfrm>
            <a:off x="503238" y="4797425"/>
            <a:ext cx="8064500" cy="365125"/>
          </a:xfrm>
          <a:prstGeom prst="rect">
            <a:avLst/>
          </a:prstGeom>
          <a:solidFill>
            <a:srgbClr val="CCFFCC"/>
          </a:solidFill>
          <a:ln w="38100">
            <a:noFill/>
          </a:ln>
        </p:spPr>
        <p:txBody>
          <a:bodyPr lIns="0" tIns="0" rIns="0" bIns="0">
            <a:spAutoFit/>
          </a:bodyPr>
          <a:p>
            <a:pPr eaLnBrk="1" hangingPunct="1"/>
            <a:r>
              <a:rPr lang="zh-CN" altLang="en-US" sz="2400" dirty="0">
                <a:solidFill>
                  <a:srgbClr val="000099"/>
                </a:solidFill>
                <a:latin typeface="黑体" panose="02010609060101010101" pitchFamily="49" charset="-122"/>
                <a:ea typeface="黑体" panose="02010609060101010101" pitchFamily="49" charset="-122"/>
              </a:rPr>
              <a:t>当要求多个模拟量同时输出时，可采用双重缓冲方式。</a:t>
            </a:r>
            <a:endParaRPr lang="zh-CN" altLang="en-US" sz="2400" dirty="0">
              <a:solidFill>
                <a:srgbClr val="000099"/>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23141"/>
                                        </p:tgtEl>
                                        <p:attrNameLst>
                                          <p:attrName>style.visibility</p:attrName>
                                        </p:attrNameLst>
                                      </p:cBhvr>
                                      <p:to>
                                        <p:strVal val="visible"/>
                                      </p:to>
                                    </p:set>
                                    <p:animEffect transition="in" filter="dissolve">
                                      <p:cBhvr>
                                        <p:cTn id="7" dur="500"/>
                                        <p:tgtEl>
                                          <p:spTgt spid="25231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23171">
                                            <p:txEl>
                                              <p:charRg st="0" end="10"/>
                                            </p:txEl>
                                          </p:spTgt>
                                        </p:tgtEl>
                                        <p:attrNameLst>
                                          <p:attrName>style.visibility</p:attrName>
                                        </p:attrNameLst>
                                      </p:cBhvr>
                                      <p:to>
                                        <p:strVal val="visible"/>
                                      </p:to>
                                    </p:set>
                                    <p:animEffect transition="in" filter="dissolve">
                                      <p:cBhvr>
                                        <p:cTn id="12" dur="500"/>
                                        <p:tgtEl>
                                          <p:spTgt spid="2523171">
                                            <p:txEl>
                                              <p:charRg st="0" end="1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23171">
                                            <p:txEl>
                                              <p:charRg st="10" end="37"/>
                                            </p:txEl>
                                          </p:spTgt>
                                        </p:tgtEl>
                                        <p:attrNameLst>
                                          <p:attrName>style.visibility</p:attrName>
                                        </p:attrNameLst>
                                      </p:cBhvr>
                                      <p:to>
                                        <p:strVal val="visible"/>
                                      </p:to>
                                    </p:set>
                                    <p:animEffect transition="in" filter="dissolve">
                                      <p:cBhvr>
                                        <p:cTn id="17" dur="500"/>
                                        <p:tgtEl>
                                          <p:spTgt spid="2523171">
                                            <p:txEl>
                                              <p:charRg st="10" end="3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23172"/>
                                        </p:tgtEl>
                                        <p:attrNameLst>
                                          <p:attrName>style.visibility</p:attrName>
                                        </p:attrNameLst>
                                      </p:cBhvr>
                                      <p:to>
                                        <p:strVal val="visible"/>
                                      </p:to>
                                    </p:set>
                                    <p:animEffect transition="in" filter="dissolve">
                                      <p:cBhvr>
                                        <p:cTn id="22" dur="500"/>
                                        <p:tgtEl>
                                          <p:spTgt spid="252317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23171">
                                            <p:txEl>
                                              <p:charRg st="41" end="51"/>
                                            </p:txEl>
                                          </p:spTgt>
                                        </p:tgtEl>
                                        <p:attrNameLst>
                                          <p:attrName>style.visibility</p:attrName>
                                        </p:attrNameLst>
                                      </p:cBhvr>
                                      <p:to>
                                        <p:strVal val="visible"/>
                                      </p:to>
                                    </p:set>
                                    <p:animEffect transition="in" filter="dissolve">
                                      <p:cBhvr>
                                        <p:cTn id="27" dur="500"/>
                                        <p:tgtEl>
                                          <p:spTgt spid="2523171">
                                            <p:txEl>
                                              <p:charRg st="41" end="5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23171">
                                            <p:txEl>
                                              <p:charRg st="51" end="69"/>
                                            </p:txEl>
                                          </p:spTgt>
                                        </p:tgtEl>
                                        <p:attrNameLst>
                                          <p:attrName>style.visibility</p:attrName>
                                        </p:attrNameLst>
                                      </p:cBhvr>
                                      <p:to>
                                        <p:strVal val="visible"/>
                                      </p:to>
                                    </p:set>
                                    <p:animEffect transition="in" filter="dissolve">
                                      <p:cBhvr>
                                        <p:cTn id="30" dur="500"/>
                                        <p:tgtEl>
                                          <p:spTgt spid="2523171">
                                            <p:txEl>
                                              <p:charRg st="51" end="69"/>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523173"/>
                                        </p:tgtEl>
                                        <p:attrNameLst>
                                          <p:attrName>style.visibility</p:attrName>
                                        </p:attrNameLst>
                                      </p:cBhvr>
                                      <p:to>
                                        <p:strVal val="visible"/>
                                      </p:to>
                                    </p:set>
                                    <p:animEffect transition="in" filter="dissolve">
                                      <p:cBhvr>
                                        <p:cTn id="35" dur="500"/>
                                        <p:tgtEl>
                                          <p:spTgt spid="2523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2523171">
                                            <p:txEl>
                                              <p:charRg st="71" end="80"/>
                                            </p:txEl>
                                          </p:spTgt>
                                        </p:tgtEl>
                                        <p:attrNameLst>
                                          <p:attrName>style.visibility</p:attrName>
                                        </p:attrNameLst>
                                      </p:cBhvr>
                                      <p:to>
                                        <p:strVal val="visible"/>
                                      </p:to>
                                    </p:set>
                                    <p:animEffect transition="in" filter="dissolve">
                                      <p:cBhvr>
                                        <p:cTn id="40" dur="500"/>
                                        <p:tgtEl>
                                          <p:spTgt spid="2523171">
                                            <p:txEl>
                                              <p:charRg st="71" end="8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23141" grpId="0"/>
      <p:bldP spid="2523172" grpId="0" bldLvl="0" animBg="1"/>
      <p:bldP spid="2523173" grpId="0" bldLvl="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25186"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3731"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73732" name="Text Box 4"/>
          <p:cNvSpPr txBox="1"/>
          <p:nvPr/>
        </p:nvSpPr>
        <p:spPr>
          <a:xfrm>
            <a:off x="468313" y="1449388"/>
            <a:ext cx="4573587"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与微机的连接</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525189" name="Text Box 5"/>
          <p:cNvSpPr txBox="1"/>
          <p:nvPr/>
        </p:nvSpPr>
        <p:spPr>
          <a:xfrm>
            <a:off x="827088" y="1952625"/>
            <a:ext cx="3492500" cy="519113"/>
          </a:xfrm>
          <a:prstGeom prst="rect">
            <a:avLst/>
          </a:prstGeom>
          <a:noFill/>
          <a:ln w="9525">
            <a:noFill/>
          </a:ln>
        </p:spPr>
        <p:txBody>
          <a:bodyPr>
            <a:spAutoFit/>
          </a:bodyPr>
          <a:p>
            <a:pPr eaLnBrk="1" hangingPunct="1">
              <a:spcAft>
                <a:spcPct val="30000"/>
              </a:spcAft>
              <a:buClr>
                <a:srgbClr val="FF00FF"/>
              </a:buClr>
              <a:buSzPct val="90000"/>
              <a:buFont typeface="Monotype Sorts" pitchFamily="2" charset="2"/>
            </a:pPr>
            <a:r>
              <a:rPr lang="en-US" altLang="zh-CN" sz="2800" dirty="0">
                <a:solidFill>
                  <a:srgbClr val="000099"/>
                </a:solidFill>
                <a:latin typeface="Times New Roman" panose="02020603050405020304" pitchFamily="18" charset="0"/>
              </a:rPr>
              <a:t>1)</a:t>
            </a:r>
            <a:r>
              <a:rPr lang="zh-CN" altLang="en-US" sz="2800" dirty="0">
                <a:solidFill>
                  <a:srgbClr val="000099"/>
                </a:solidFill>
                <a:latin typeface="Times New Roman" panose="02020603050405020304" pitchFamily="18" charset="0"/>
              </a:rPr>
              <a:t>单缓冲工作方式</a:t>
            </a:r>
            <a:endParaRPr lang="zh-CN" altLang="en-US" sz="2400" dirty="0">
              <a:solidFill>
                <a:srgbClr val="000099"/>
              </a:solidFill>
              <a:latin typeface="Times New Roman" panose="02020603050405020304" pitchFamily="18" charset="0"/>
            </a:endParaRPr>
          </a:p>
        </p:txBody>
      </p:sp>
      <p:pic>
        <p:nvPicPr>
          <p:cNvPr id="2525190" name="Picture 6"/>
          <p:cNvPicPr>
            <a:picLocks noChangeAspect="1"/>
          </p:cNvPicPr>
          <p:nvPr/>
        </p:nvPicPr>
        <p:blipFill>
          <a:blip r:embed="rId1"/>
          <a:stretch>
            <a:fillRect/>
          </a:stretch>
        </p:blipFill>
        <p:spPr>
          <a:xfrm>
            <a:off x="107950" y="2552700"/>
            <a:ext cx="8856663" cy="3576638"/>
          </a:xfrm>
          <a:prstGeom prst="rect">
            <a:avLst/>
          </a:prstGeom>
          <a:noFill/>
          <a:ln w="9525">
            <a:noFill/>
          </a:ln>
        </p:spPr>
      </p:pic>
      <p:sp>
        <p:nvSpPr>
          <p:cNvPr id="2525191" name="Rectangle 7"/>
          <p:cNvSpPr/>
          <p:nvPr/>
        </p:nvSpPr>
        <p:spPr>
          <a:xfrm>
            <a:off x="4824413" y="1722438"/>
            <a:ext cx="3997325" cy="749300"/>
          </a:xfrm>
          <a:prstGeom prst="rect">
            <a:avLst/>
          </a:prstGeom>
          <a:solidFill>
            <a:srgbClr val="CCFFCC"/>
          </a:solidFill>
          <a:ln w="9525">
            <a:noFill/>
          </a:ln>
        </p:spPr>
        <p:txBody>
          <a:bodyPr>
            <a:spAutoFit/>
          </a:bodyPr>
          <a:p>
            <a:pPr eaLnBrk="1" hangingPunct="1">
              <a:lnSpc>
                <a:spcPct val="90000"/>
              </a:lnSpc>
            </a:pPr>
            <a:r>
              <a:rPr lang="zh-CN" altLang="en-US" sz="2400" dirty="0">
                <a:solidFill>
                  <a:srgbClr val="FF3300"/>
                </a:solidFill>
                <a:latin typeface="Times New Roman" panose="02020603050405020304" pitchFamily="18" charset="0"/>
              </a:rPr>
              <a:t>输入寄存器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受控</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a:p>
            <a:pPr eaLnBrk="1" hangingPunct="1">
              <a:lnSpc>
                <a:spcPct val="90000"/>
              </a:lnSpc>
            </a:pPr>
            <a:r>
              <a:rPr lang="en-US" altLang="zh-CN" sz="2400" dirty="0">
                <a:solidFill>
                  <a:srgbClr val="FF3300"/>
                </a:solidFill>
                <a:latin typeface="Times New Roman" panose="02020603050405020304" pitchFamily="18" charset="0"/>
              </a:rPr>
              <a:t>DAC</a:t>
            </a:r>
            <a:r>
              <a:rPr lang="zh-CN" altLang="en-US" sz="2400" dirty="0">
                <a:solidFill>
                  <a:srgbClr val="FF3300"/>
                </a:solidFill>
                <a:latin typeface="Times New Roman" panose="02020603050405020304" pitchFamily="18" charset="0"/>
              </a:rPr>
              <a:t>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直通</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25189">
                                            <p:txEl>
                                              <p:charRg st="0" end="10"/>
                                            </p:txEl>
                                          </p:spTgt>
                                        </p:tgtEl>
                                        <p:attrNameLst>
                                          <p:attrName>style.visibility</p:attrName>
                                        </p:attrNameLst>
                                      </p:cBhvr>
                                      <p:to>
                                        <p:strVal val="visible"/>
                                      </p:to>
                                    </p:set>
                                    <p:animEffect transition="in" filter="dissolve">
                                      <p:cBhvr>
                                        <p:cTn id="7" dur="500"/>
                                        <p:tgtEl>
                                          <p:spTgt spid="2525189">
                                            <p:txEl>
                                              <p:charRg st="0" end="1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25191"/>
                                        </p:tgtEl>
                                        <p:attrNameLst>
                                          <p:attrName>style.visibility</p:attrName>
                                        </p:attrNameLst>
                                      </p:cBhvr>
                                      <p:to>
                                        <p:strVal val="visible"/>
                                      </p:to>
                                    </p:set>
                                    <p:animEffect transition="in" filter="dissolve">
                                      <p:cBhvr>
                                        <p:cTn id="12" dur="500"/>
                                        <p:tgtEl>
                                          <p:spTgt spid="25251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25190"/>
                                        </p:tgtEl>
                                        <p:attrNameLst>
                                          <p:attrName>style.visibility</p:attrName>
                                        </p:attrNameLst>
                                      </p:cBhvr>
                                      <p:to>
                                        <p:strVal val="visible"/>
                                      </p:to>
                                    </p:set>
                                    <p:animEffect transition="in" filter="dissolve">
                                      <p:cBhvr>
                                        <p:cTn id="17" dur="500"/>
                                        <p:tgtEl>
                                          <p:spTgt spid="25251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25191" grpId="0" bldLvl="0" animBg="1"/>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27234"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5779"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75780" name="Text Box 4"/>
          <p:cNvSpPr txBox="1"/>
          <p:nvPr/>
        </p:nvSpPr>
        <p:spPr>
          <a:xfrm>
            <a:off x="468313" y="1449388"/>
            <a:ext cx="4573587"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与微机的连接</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75781" name="Text Box 5"/>
          <p:cNvSpPr txBox="1"/>
          <p:nvPr/>
        </p:nvSpPr>
        <p:spPr>
          <a:xfrm>
            <a:off x="827088" y="1952625"/>
            <a:ext cx="3492500" cy="519113"/>
          </a:xfrm>
          <a:prstGeom prst="rect">
            <a:avLst/>
          </a:prstGeom>
          <a:noFill/>
          <a:ln w="9525">
            <a:noFill/>
          </a:ln>
        </p:spPr>
        <p:txBody>
          <a:bodyPr>
            <a:spAutoFit/>
          </a:bodyPr>
          <a:p>
            <a:pPr eaLnBrk="1" hangingPunct="1">
              <a:spcAft>
                <a:spcPct val="30000"/>
              </a:spcAft>
              <a:buClr>
                <a:srgbClr val="FF00FF"/>
              </a:buClr>
              <a:buSzPct val="90000"/>
              <a:buFont typeface="Monotype Sorts" pitchFamily="2" charset="2"/>
            </a:pPr>
            <a:r>
              <a:rPr lang="en-US" altLang="zh-CN" sz="2800" dirty="0">
                <a:solidFill>
                  <a:srgbClr val="000099"/>
                </a:solidFill>
                <a:latin typeface="Times New Roman" panose="02020603050405020304" pitchFamily="18" charset="0"/>
              </a:rPr>
              <a:t>1)</a:t>
            </a:r>
            <a:r>
              <a:rPr lang="zh-CN" altLang="en-US" sz="2800" dirty="0">
                <a:solidFill>
                  <a:srgbClr val="000099"/>
                </a:solidFill>
                <a:latin typeface="Times New Roman" panose="02020603050405020304" pitchFamily="18" charset="0"/>
              </a:rPr>
              <a:t>单缓冲工作方式</a:t>
            </a:r>
            <a:endParaRPr lang="zh-CN" altLang="en-US" sz="2400" dirty="0">
              <a:solidFill>
                <a:srgbClr val="000099"/>
              </a:solidFill>
              <a:latin typeface="Times New Roman" panose="02020603050405020304" pitchFamily="18" charset="0"/>
            </a:endParaRPr>
          </a:p>
        </p:txBody>
      </p:sp>
      <p:sp>
        <p:nvSpPr>
          <p:cNvPr id="2527239" name="Rectangle 7"/>
          <p:cNvSpPr/>
          <p:nvPr/>
        </p:nvSpPr>
        <p:spPr>
          <a:xfrm>
            <a:off x="4824413" y="1722438"/>
            <a:ext cx="3997325" cy="749300"/>
          </a:xfrm>
          <a:prstGeom prst="rect">
            <a:avLst/>
          </a:prstGeom>
          <a:solidFill>
            <a:srgbClr val="CCFFCC"/>
          </a:solidFill>
          <a:ln w="9525">
            <a:noFill/>
          </a:ln>
        </p:spPr>
        <p:txBody>
          <a:bodyPr>
            <a:spAutoFit/>
          </a:bodyPr>
          <a:p>
            <a:pPr eaLnBrk="1" hangingPunct="1">
              <a:lnSpc>
                <a:spcPct val="90000"/>
              </a:lnSpc>
            </a:pPr>
            <a:r>
              <a:rPr lang="zh-CN" altLang="en-US" sz="2400" dirty="0">
                <a:solidFill>
                  <a:srgbClr val="FF3300"/>
                </a:solidFill>
                <a:latin typeface="Times New Roman" panose="02020603050405020304" pitchFamily="18" charset="0"/>
              </a:rPr>
              <a:t>输入寄存器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直通</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a:p>
            <a:pPr eaLnBrk="1" hangingPunct="1">
              <a:lnSpc>
                <a:spcPct val="90000"/>
              </a:lnSpc>
            </a:pPr>
            <a:r>
              <a:rPr lang="en-US" altLang="zh-CN" sz="2400" dirty="0">
                <a:solidFill>
                  <a:srgbClr val="FF3300"/>
                </a:solidFill>
                <a:latin typeface="Times New Roman" panose="02020603050405020304" pitchFamily="18" charset="0"/>
              </a:rPr>
              <a:t>DAC</a:t>
            </a:r>
            <a:r>
              <a:rPr lang="zh-CN" altLang="en-US" sz="2400" dirty="0">
                <a:solidFill>
                  <a:srgbClr val="FF3300"/>
                </a:solidFill>
                <a:latin typeface="Times New Roman" panose="02020603050405020304" pitchFamily="18" charset="0"/>
              </a:rPr>
              <a:t>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受控</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p:txBody>
      </p:sp>
      <p:pic>
        <p:nvPicPr>
          <p:cNvPr id="2527240" name="Picture 8"/>
          <p:cNvPicPr>
            <a:picLocks noChangeAspect="1"/>
          </p:cNvPicPr>
          <p:nvPr/>
        </p:nvPicPr>
        <p:blipFill>
          <a:blip r:embed="rId1"/>
          <a:stretch>
            <a:fillRect/>
          </a:stretch>
        </p:blipFill>
        <p:spPr>
          <a:xfrm>
            <a:off x="142875" y="2573338"/>
            <a:ext cx="8793163" cy="3519487"/>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27239"/>
                                        </p:tgtEl>
                                        <p:attrNameLst>
                                          <p:attrName>style.visibility</p:attrName>
                                        </p:attrNameLst>
                                      </p:cBhvr>
                                      <p:to>
                                        <p:strVal val="visible"/>
                                      </p:to>
                                    </p:set>
                                    <p:animEffect transition="in" filter="dissolve">
                                      <p:cBhvr>
                                        <p:cTn id="7" dur="500"/>
                                        <p:tgtEl>
                                          <p:spTgt spid="252723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27240"/>
                                        </p:tgtEl>
                                        <p:attrNameLst>
                                          <p:attrName>style.visibility</p:attrName>
                                        </p:attrNameLst>
                                      </p:cBhvr>
                                      <p:to>
                                        <p:strVal val="visible"/>
                                      </p:to>
                                    </p:set>
                                    <p:animEffect transition="in" filter="dissolve">
                                      <p:cBhvr>
                                        <p:cTn id="12" dur="500"/>
                                        <p:tgtEl>
                                          <p:spTgt spid="2527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27239" grpId="0" bldLvl="0" animBg="1"/>
    </p:bld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31330"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7827"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sp>
        <p:nvSpPr>
          <p:cNvPr id="77828" name="Text Box 4"/>
          <p:cNvSpPr txBox="1"/>
          <p:nvPr/>
        </p:nvSpPr>
        <p:spPr>
          <a:xfrm>
            <a:off x="468313" y="1449388"/>
            <a:ext cx="4573587"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与微机的连接</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531333" name="Text Box 5"/>
          <p:cNvSpPr txBox="1"/>
          <p:nvPr/>
        </p:nvSpPr>
        <p:spPr>
          <a:xfrm>
            <a:off x="827088" y="1952625"/>
            <a:ext cx="3492500" cy="519113"/>
          </a:xfrm>
          <a:prstGeom prst="rect">
            <a:avLst/>
          </a:prstGeom>
          <a:noFill/>
          <a:ln w="9525">
            <a:noFill/>
          </a:ln>
        </p:spPr>
        <p:txBody>
          <a:bodyPr>
            <a:spAutoFit/>
          </a:bodyPr>
          <a:p>
            <a:pPr eaLnBrk="1" hangingPunct="1">
              <a:spcAft>
                <a:spcPct val="30000"/>
              </a:spcAft>
              <a:buClr>
                <a:srgbClr val="FF00FF"/>
              </a:buClr>
              <a:buSzPct val="90000"/>
              <a:buFont typeface="Monotype Sorts" pitchFamily="2" charset="2"/>
            </a:pPr>
            <a:r>
              <a:rPr lang="en-US" altLang="zh-CN" sz="2800" dirty="0">
                <a:solidFill>
                  <a:srgbClr val="000099"/>
                </a:solidFill>
                <a:latin typeface="Times New Roman" panose="02020603050405020304" pitchFamily="18" charset="0"/>
              </a:rPr>
              <a:t>2)</a:t>
            </a:r>
            <a:r>
              <a:rPr lang="zh-CN" altLang="en-US" sz="2800" dirty="0">
                <a:solidFill>
                  <a:srgbClr val="000099"/>
                </a:solidFill>
                <a:latin typeface="Times New Roman" panose="02020603050405020304" pitchFamily="18" charset="0"/>
              </a:rPr>
              <a:t>双缓冲工作方式</a:t>
            </a:r>
            <a:endParaRPr lang="zh-CN" altLang="en-US" sz="2400" dirty="0">
              <a:solidFill>
                <a:srgbClr val="000099"/>
              </a:solidFill>
              <a:latin typeface="Times New Roman" panose="02020603050405020304" pitchFamily="18" charset="0"/>
            </a:endParaRPr>
          </a:p>
        </p:txBody>
      </p:sp>
      <p:sp>
        <p:nvSpPr>
          <p:cNvPr id="2531334" name="Rectangle 6"/>
          <p:cNvSpPr/>
          <p:nvPr/>
        </p:nvSpPr>
        <p:spPr>
          <a:xfrm>
            <a:off x="4824413" y="1722438"/>
            <a:ext cx="3997325" cy="749300"/>
          </a:xfrm>
          <a:prstGeom prst="rect">
            <a:avLst/>
          </a:prstGeom>
          <a:solidFill>
            <a:srgbClr val="CCFFCC"/>
          </a:solidFill>
          <a:ln w="9525">
            <a:noFill/>
          </a:ln>
        </p:spPr>
        <p:txBody>
          <a:bodyPr>
            <a:spAutoFit/>
          </a:bodyPr>
          <a:p>
            <a:pPr eaLnBrk="1" hangingPunct="1">
              <a:lnSpc>
                <a:spcPct val="90000"/>
              </a:lnSpc>
            </a:pPr>
            <a:r>
              <a:rPr lang="zh-CN" altLang="en-US" sz="2400" dirty="0">
                <a:solidFill>
                  <a:srgbClr val="FF3300"/>
                </a:solidFill>
                <a:latin typeface="Times New Roman" panose="02020603050405020304" pitchFamily="18" charset="0"/>
              </a:rPr>
              <a:t>输入寄存器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受控</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a:p>
            <a:pPr eaLnBrk="1" hangingPunct="1">
              <a:lnSpc>
                <a:spcPct val="90000"/>
              </a:lnSpc>
            </a:pPr>
            <a:r>
              <a:rPr lang="en-US" altLang="zh-CN" sz="2400" dirty="0">
                <a:solidFill>
                  <a:srgbClr val="FF3300"/>
                </a:solidFill>
                <a:latin typeface="Times New Roman" panose="02020603050405020304" pitchFamily="18" charset="0"/>
              </a:rPr>
              <a:t>DAC</a:t>
            </a:r>
            <a:r>
              <a:rPr lang="zh-CN" altLang="en-US" sz="2400" dirty="0">
                <a:solidFill>
                  <a:srgbClr val="FF3300"/>
                </a:solidFill>
                <a:latin typeface="Times New Roman" panose="02020603050405020304" pitchFamily="18" charset="0"/>
              </a:rPr>
              <a:t>寄存器</a:t>
            </a:r>
            <a:r>
              <a:rPr lang="zh-CN" altLang="en-US" sz="2400" dirty="0">
                <a:solidFill>
                  <a:schemeClr val="tx1"/>
                </a:solidFill>
                <a:latin typeface="Times New Roman" panose="02020603050405020304" pitchFamily="18" charset="0"/>
              </a:rPr>
              <a:t>工作于</a:t>
            </a:r>
            <a:r>
              <a:rPr lang="zh-CN" altLang="en-US" sz="2400" dirty="0">
                <a:solidFill>
                  <a:srgbClr val="FF3300"/>
                </a:solidFill>
                <a:latin typeface="Times New Roman" panose="02020603050405020304" pitchFamily="18" charset="0"/>
              </a:rPr>
              <a:t>受控</a:t>
            </a:r>
            <a:r>
              <a:rPr lang="zh-CN" altLang="en-US" sz="2400" dirty="0">
                <a:solidFill>
                  <a:schemeClr val="tx1"/>
                </a:solidFill>
                <a:latin typeface="Times New Roman" panose="02020603050405020304" pitchFamily="18" charset="0"/>
              </a:rPr>
              <a:t>状态</a:t>
            </a:r>
            <a:endParaRPr lang="zh-CN" altLang="en-US" sz="2400" dirty="0">
              <a:solidFill>
                <a:schemeClr val="tx1"/>
              </a:solidFill>
              <a:latin typeface="Times New Roman" panose="02020603050405020304" pitchFamily="18" charset="0"/>
            </a:endParaRPr>
          </a:p>
        </p:txBody>
      </p:sp>
      <p:pic>
        <p:nvPicPr>
          <p:cNvPr id="2531336" name="Picture 8"/>
          <p:cNvPicPr>
            <a:picLocks noChangeAspect="1"/>
          </p:cNvPicPr>
          <p:nvPr/>
        </p:nvPicPr>
        <p:blipFill>
          <a:blip r:embed="rId1"/>
          <a:stretch>
            <a:fillRect/>
          </a:stretch>
        </p:blipFill>
        <p:spPr>
          <a:xfrm>
            <a:off x="122238" y="2563813"/>
            <a:ext cx="8878887" cy="3548062"/>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1333"/>
                                        </p:tgtEl>
                                        <p:attrNameLst>
                                          <p:attrName>style.visibility</p:attrName>
                                        </p:attrNameLst>
                                      </p:cBhvr>
                                      <p:to>
                                        <p:strVal val="visible"/>
                                      </p:to>
                                    </p:set>
                                    <p:animEffect transition="in" filter="dissolve">
                                      <p:cBhvr>
                                        <p:cTn id="7" dur="500"/>
                                        <p:tgtEl>
                                          <p:spTgt spid="25313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31334"/>
                                        </p:tgtEl>
                                        <p:attrNameLst>
                                          <p:attrName>style.visibility</p:attrName>
                                        </p:attrNameLst>
                                      </p:cBhvr>
                                      <p:to>
                                        <p:strVal val="visible"/>
                                      </p:to>
                                    </p:set>
                                    <p:animEffect transition="in" filter="dissolve">
                                      <p:cBhvr>
                                        <p:cTn id="12" dur="500"/>
                                        <p:tgtEl>
                                          <p:spTgt spid="25313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31336"/>
                                        </p:tgtEl>
                                        <p:attrNameLst>
                                          <p:attrName>style.visibility</p:attrName>
                                        </p:attrNameLst>
                                      </p:cBhvr>
                                      <p:to>
                                        <p:strVal val="visible"/>
                                      </p:to>
                                    </p:set>
                                    <p:animEffect transition="in" filter="dissolve">
                                      <p:cBhvr>
                                        <p:cTn id="17" dur="500"/>
                                        <p:tgtEl>
                                          <p:spTgt spid="25313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1333" grpId="0"/>
      <p:bldP spid="2531334" grpId="0" bldLvl="0" animBg="1"/>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12899" name="Text Box 3"/>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79875" name="Rectangle 4"/>
          <p:cNvSpPr/>
          <p:nvPr/>
        </p:nvSpPr>
        <p:spPr>
          <a:xfrm>
            <a:off x="395288" y="62071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1. DAC0832</a:t>
            </a:r>
            <a:endParaRPr lang="en-US" altLang="zh-CN" sz="3200" dirty="0">
              <a:latin typeface="Times New Roman" panose="02020603050405020304" pitchFamily="18" charset="0"/>
            </a:endParaRPr>
          </a:p>
        </p:txBody>
      </p:sp>
      <p:grpSp>
        <p:nvGrpSpPr>
          <p:cNvPr id="79876" name="Group 88"/>
          <p:cNvGrpSpPr/>
          <p:nvPr/>
        </p:nvGrpSpPr>
        <p:grpSpPr>
          <a:xfrm>
            <a:off x="1230313" y="2374900"/>
            <a:ext cx="7086600" cy="3733800"/>
            <a:chOff x="657" y="1143"/>
            <a:chExt cx="4464" cy="2352"/>
          </a:xfrm>
        </p:grpSpPr>
        <p:sp>
          <p:nvSpPr>
            <p:cNvPr id="79882" name="Rectangle 5"/>
            <p:cNvSpPr/>
            <p:nvPr/>
          </p:nvSpPr>
          <p:spPr>
            <a:xfrm>
              <a:off x="1377" y="1143"/>
              <a:ext cx="3016" cy="2352"/>
            </a:xfrm>
            <a:prstGeom prst="rect">
              <a:avLst/>
            </a:prstGeom>
            <a:solidFill>
              <a:srgbClr val="CC99FF">
                <a:alpha val="50195"/>
              </a:srgbClr>
            </a:solidFill>
            <a:ln w="25400" cap="flat" cmpd="sng">
              <a:solidFill>
                <a:srgbClr val="FFCC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883" name="Text Box 6"/>
            <p:cNvSpPr txBox="1"/>
            <p:nvPr/>
          </p:nvSpPr>
          <p:spPr>
            <a:xfrm>
              <a:off x="2627" y="1284"/>
              <a:ext cx="555" cy="536"/>
            </a:xfrm>
            <a:prstGeom prst="rect">
              <a:avLst/>
            </a:prstGeom>
            <a:solidFill>
              <a:srgbClr val="99CCFF"/>
            </a:solidFill>
            <a:ln w="12700" cap="flat" cmpd="sng">
              <a:solidFill>
                <a:srgbClr val="000000"/>
              </a:solidFill>
              <a:prstDash val="solid"/>
              <a:miter/>
              <a:headEnd type="none" w="med" len="med"/>
              <a:tailEnd type="none" w="med" len="med"/>
            </a:ln>
          </p:spPr>
          <p:txBody>
            <a:bodyPr lIns="0" rIns="0"/>
            <a:p>
              <a:pPr algn="ctr" eaLnBrk="1" hangingPunct="1">
                <a:lnSpc>
                  <a:spcPct val="90000"/>
                </a:lnSpc>
              </a:pPr>
              <a:r>
                <a:rPr lang="en-US" altLang="zh-CN" sz="1800" dirty="0">
                  <a:solidFill>
                    <a:schemeClr val="tx2"/>
                  </a:solidFill>
                  <a:latin typeface="Times New Roman" panose="02020603050405020304" pitchFamily="18" charset="0"/>
                </a:rPr>
                <a:t>8</a:t>
              </a:r>
              <a:r>
                <a:rPr lang="zh-CN" altLang="en-US" sz="1800" dirty="0">
                  <a:solidFill>
                    <a:schemeClr val="tx2"/>
                  </a:solidFill>
                  <a:latin typeface="Times New Roman" panose="02020603050405020304" pitchFamily="18" charset="0"/>
                </a:rPr>
                <a:t>位</a:t>
              </a:r>
              <a:endParaRPr lang="zh-CN" altLang="en-US" sz="1800" dirty="0">
                <a:solidFill>
                  <a:schemeClr val="tx2"/>
                </a:solidFill>
                <a:latin typeface="Times New Roman" panose="02020603050405020304" pitchFamily="18" charset="0"/>
              </a:endParaRPr>
            </a:p>
            <a:p>
              <a:pPr algn="ctr" eaLnBrk="1" hangingPunct="1">
                <a:lnSpc>
                  <a:spcPct val="90000"/>
                </a:lnSpc>
              </a:pPr>
              <a:r>
                <a:rPr lang="en-US" altLang="zh-CN" sz="1800" dirty="0">
                  <a:solidFill>
                    <a:schemeClr val="tx2"/>
                  </a:solidFill>
                  <a:latin typeface="Times New Roman" panose="02020603050405020304" pitchFamily="18" charset="0"/>
                </a:rPr>
                <a:t>DAC</a:t>
              </a:r>
              <a:endParaRPr lang="en-US" altLang="zh-CN" sz="1800" dirty="0">
                <a:solidFill>
                  <a:schemeClr val="tx2"/>
                </a:solidFill>
                <a:latin typeface="Times New Roman" panose="02020603050405020304" pitchFamily="18" charset="0"/>
              </a:endParaRPr>
            </a:p>
            <a:p>
              <a:pPr algn="ctr" eaLnBrk="1" hangingPunct="1">
                <a:lnSpc>
                  <a:spcPct val="90000"/>
                </a:lnSpc>
              </a:pPr>
              <a:r>
                <a:rPr lang="zh-CN" altLang="en-US" sz="1800" dirty="0">
                  <a:solidFill>
                    <a:schemeClr val="tx2"/>
                  </a:solidFill>
                  <a:latin typeface="Times New Roman" panose="02020603050405020304" pitchFamily="18" charset="0"/>
                </a:rPr>
                <a:t>寄存器</a:t>
              </a:r>
              <a:endParaRPr lang="zh-CN" altLang="en-US" sz="2400" dirty="0">
                <a:solidFill>
                  <a:schemeClr val="tx2"/>
                </a:solidFill>
                <a:latin typeface="Times New Roman" panose="02020603050405020304" pitchFamily="18" charset="0"/>
              </a:endParaRPr>
            </a:p>
          </p:txBody>
        </p:sp>
        <p:sp>
          <p:nvSpPr>
            <p:cNvPr id="79884" name="Text Box 7"/>
            <p:cNvSpPr txBox="1"/>
            <p:nvPr/>
          </p:nvSpPr>
          <p:spPr>
            <a:xfrm>
              <a:off x="3561" y="1272"/>
              <a:ext cx="555" cy="548"/>
            </a:xfrm>
            <a:prstGeom prst="rect">
              <a:avLst/>
            </a:prstGeom>
            <a:solidFill>
              <a:srgbClr val="00FFFF"/>
            </a:solidFill>
            <a:ln w="12700" cap="flat" cmpd="sng">
              <a:solidFill>
                <a:srgbClr val="000000"/>
              </a:solidFill>
              <a:prstDash val="solid"/>
              <a:miter/>
              <a:headEnd type="none" w="med" len="med"/>
              <a:tailEnd type="none" w="med" len="med"/>
            </a:ln>
          </p:spPr>
          <p:txBody>
            <a:bodyPr lIns="0" rIns="0"/>
            <a:p>
              <a:pPr algn="ctr" eaLnBrk="1" hangingPunct="1">
                <a:lnSpc>
                  <a:spcPct val="90000"/>
                </a:lnSpc>
              </a:pPr>
              <a:r>
                <a:rPr lang="en-US" altLang="zh-CN" sz="1800" dirty="0">
                  <a:solidFill>
                    <a:schemeClr val="tx2"/>
                  </a:solidFill>
                  <a:latin typeface="Times New Roman" panose="02020603050405020304" pitchFamily="18" charset="0"/>
                </a:rPr>
                <a:t>8</a:t>
              </a:r>
              <a:r>
                <a:rPr lang="zh-CN" altLang="en-US" sz="1800" dirty="0">
                  <a:solidFill>
                    <a:schemeClr val="tx2"/>
                  </a:solidFill>
                  <a:latin typeface="Times New Roman" panose="02020603050405020304" pitchFamily="18" charset="0"/>
                </a:rPr>
                <a:t>位</a:t>
              </a:r>
              <a:endParaRPr lang="zh-CN" altLang="en-US" sz="1800" dirty="0">
                <a:solidFill>
                  <a:schemeClr val="tx2"/>
                </a:solidFill>
                <a:latin typeface="Times New Roman" panose="02020603050405020304" pitchFamily="18" charset="0"/>
              </a:endParaRPr>
            </a:p>
            <a:p>
              <a:pPr algn="ctr" eaLnBrk="1" hangingPunct="1"/>
              <a:r>
                <a:rPr lang="en-US" altLang="zh-CN" sz="1800" dirty="0">
                  <a:solidFill>
                    <a:schemeClr val="tx2"/>
                  </a:solidFill>
                  <a:latin typeface="Times New Roman" panose="02020603050405020304" pitchFamily="18" charset="0"/>
                </a:rPr>
                <a:t>D/A</a:t>
              </a:r>
              <a:endParaRPr lang="en-US" altLang="zh-CN" sz="1800" dirty="0">
                <a:solidFill>
                  <a:schemeClr val="tx2"/>
                </a:solidFill>
                <a:latin typeface="Times New Roman" panose="02020603050405020304" pitchFamily="18" charset="0"/>
              </a:endParaRPr>
            </a:p>
            <a:p>
              <a:pPr algn="ctr" eaLnBrk="1" hangingPunct="1">
                <a:lnSpc>
                  <a:spcPct val="90000"/>
                </a:lnSpc>
              </a:pPr>
              <a:r>
                <a:rPr lang="zh-CN" altLang="en-US" sz="1800" dirty="0">
                  <a:solidFill>
                    <a:schemeClr val="tx2"/>
                  </a:solidFill>
                  <a:latin typeface="Times New Roman" panose="02020603050405020304" pitchFamily="18" charset="0"/>
                </a:rPr>
                <a:t>转换器</a:t>
              </a:r>
              <a:endParaRPr lang="zh-CN" altLang="en-US" sz="2400" dirty="0">
                <a:solidFill>
                  <a:schemeClr val="tx2"/>
                </a:solidFill>
                <a:latin typeface="Times New Roman" panose="02020603050405020304" pitchFamily="18" charset="0"/>
                <a:ea typeface="宋体" panose="02010600030101010101" pitchFamily="2" charset="-122"/>
              </a:endParaRPr>
            </a:p>
          </p:txBody>
        </p:sp>
        <p:sp>
          <p:nvSpPr>
            <p:cNvPr id="79885" name="Line 8"/>
            <p:cNvSpPr/>
            <p:nvPr/>
          </p:nvSpPr>
          <p:spPr>
            <a:xfrm>
              <a:off x="4116" y="1314"/>
              <a:ext cx="365" cy="0"/>
            </a:xfrm>
            <a:prstGeom prst="line">
              <a:avLst/>
            </a:prstGeom>
            <a:ln w="25400" cap="flat" cmpd="sng">
              <a:solidFill>
                <a:srgbClr val="000000"/>
              </a:solidFill>
              <a:prstDash val="solid"/>
              <a:headEnd type="none" w="med" len="med"/>
              <a:tailEnd type="none" w="med" len="med"/>
            </a:ln>
          </p:spPr>
        </p:sp>
        <p:sp>
          <p:nvSpPr>
            <p:cNvPr id="79886" name="Text Box 9"/>
            <p:cNvSpPr txBox="1"/>
            <p:nvPr/>
          </p:nvSpPr>
          <p:spPr>
            <a:xfrm>
              <a:off x="4580" y="1221"/>
              <a:ext cx="467" cy="174"/>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V</a:t>
              </a:r>
              <a:r>
                <a:rPr lang="en-US" altLang="zh-CN" sz="1400" baseline="-25000" dirty="0">
                  <a:solidFill>
                    <a:schemeClr val="tx1"/>
                  </a:solidFill>
                  <a:latin typeface="Times New Roman" panose="02020603050405020304" pitchFamily="18" charset="0"/>
                  <a:ea typeface="宋体" panose="02010600030101010101" pitchFamily="2" charset="-122"/>
                </a:rPr>
                <a:t>REF</a:t>
              </a:r>
              <a:endParaRPr lang="en-US" altLang="zh-CN" sz="1400" baseline="-25000" dirty="0">
                <a:solidFill>
                  <a:schemeClr val="tx1"/>
                </a:solidFill>
                <a:latin typeface="Times New Roman" panose="02020603050405020304" pitchFamily="18" charset="0"/>
                <a:ea typeface="宋体" panose="02010600030101010101" pitchFamily="2" charset="-122"/>
              </a:endParaRPr>
            </a:p>
          </p:txBody>
        </p:sp>
        <p:sp>
          <p:nvSpPr>
            <p:cNvPr id="79887" name="Oval 10"/>
            <p:cNvSpPr/>
            <p:nvPr/>
          </p:nvSpPr>
          <p:spPr>
            <a:xfrm>
              <a:off x="4481" y="1298"/>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888" name="Line 11"/>
            <p:cNvSpPr/>
            <p:nvPr/>
          </p:nvSpPr>
          <p:spPr>
            <a:xfrm>
              <a:off x="4116" y="1547"/>
              <a:ext cx="364" cy="0"/>
            </a:xfrm>
            <a:prstGeom prst="line">
              <a:avLst/>
            </a:prstGeom>
            <a:ln w="25400" cap="flat" cmpd="sng">
              <a:solidFill>
                <a:srgbClr val="000000"/>
              </a:solidFill>
              <a:prstDash val="solid"/>
              <a:headEnd type="none" w="med" len="med"/>
              <a:tailEnd type="none" w="med" len="med"/>
            </a:ln>
          </p:spPr>
        </p:sp>
        <p:sp>
          <p:nvSpPr>
            <p:cNvPr id="79889" name="Text Box 12"/>
            <p:cNvSpPr txBox="1"/>
            <p:nvPr/>
          </p:nvSpPr>
          <p:spPr>
            <a:xfrm>
              <a:off x="4574" y="1467"/>
              <a:ext cx="547" cy="169"/>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I</a:t>
              </a:r>
              <a:r>
                <a:rPr lang="en-US" altLang="zh-CN" sz="1400" dirty="0">
                  <a:solidFill>
                    <a:schemeClr val="tx1"/>
                  </a:solidFill>
                  <a:latin typeface="Times New Roman" panose="02020603050405020304" pitchFamily="18" charset="0"/>
                  <a:ea typeface="宋体" panose="02010600030101010101" pitchFamily="2" charset="-122"/>
                </a:rPr>
                <a:t>OUT2</a:t>
              </a:r>
              <a:endParaRPr lang="en-US" altLang="zh-CN" sz="2200" dirty="0">
                <a:solidFill>
                  <a:schemeClr val="tx1"/>
                </a:solidFill>
                <a:latin typeface="Times New Roman" panose="02020603050405020304" pitchFamily="18" charset="0"/>
                <a:ea typeface="宋体" panose="02010600030101010101" pitchFamily="2" charset="-122"/>
              </a:endParaRPr>
            </a:p>
          </p:txBody>
        </p:sp>
        <p:sp>
          <p:nvSpPr>
            <p:cNvPr id="79890" name="Line 13"/>
            <p:cNvSpPr/>
            <p:nvPr/>
          </p:nvSpPr>
          <p:spPr>
            <a:xfrm>
              <a:off x="4116" y="1779"/>
              <a:ext cx="364" cy="0"/>
            </a:xfrm>
            <a:prstGeom prst="line">
              <a:avLst/>
            </a:prstGeom>
            <a:ln w="25400" cap="flat" cmpd="sng">
              <a:solidFill>
                <a:srgbClr val="000000"/>
              </a:solidFill>
              <a:prstDash val="solid"/>
              <a:headEnd type="none" w="med" len="med"/>
              <a:tailEnd type="none" w="med" len="med"/>
            </a:ln>
          </p:spPr>
        </p:sp>
        <p:sp>
          <p:nvSpPr>
            <p:cNvPr id="79891" name="Line 14"/>
            <p:cNvSpPr/>
            <p:nvPr/>
          </p:nvSpPr>
          <p:spPr>
            <a:xfrm>
              <a:off x="4211" y="1779"/>
              <a:ext cx="0" cy="214"/>
            </a:xfrm>
            <a:prstGeom prst="line">
              <a:avLst/>
            </a:prstGeom>
            <a:ln w="25400" cap="flat" cmpd="sng">
              <a:solidFill>
                <a:srgbClr val="000000"/>
              </a:solidFill>
              <a:prstDash val="solid"/>
              <a:headEnd type="none" w="med" len="med"/>
              <a:tailEnd type="none" w="med" len="med"/>
            </a:ln>
          </p:spPr>
        </p:sp>
        <p:sp>
          <p:nvSpPr>
            <p:cNvPr id="79892" name="Rectangle 15"/>
            <p:cNvSpPr/>
            <p:nvPr/>
          </p:nvSpPr>
          <p:spPr>
            <a:xfrm>
              <a:off x="4156" y="1999"/>
              <a:ext cx="118" cy="235"/>
            </a:xfrm>
            <a:prstGeom prst="rect">
              <a:avLst/>
            </a:prstGeom>
            <a:solidFill>
              <a:srgbClr val="993366"/>
            </a:solidFill>
            <a:ln w="254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893" name="Line 16"/>
            <p:cNvSpPr/>
            <p:nvPr/>
          </p:nvSpPr>
          <p:spPr>
            <a:xfrm flipV="1">
              <a:off x="4211" y="2396"/>
              <a:ext cx="285" cy="0"/>
            </a:xfrm>
            <a:prstGeom prst="line">
              <a:avLst/>
            </a:prstGeom>
            <a:ln w="25400" cap="flat" cmpd="sng">
              <a:solidFill>
                <a:srgbClr val="000000"/>
              </a:solidFill>
              <a:prstDash val="solid"/>
              <a:headEnd type="none" w="med" len="med"/>
              <a:tailEnd type="none" w="med" len="med"/>
            </a:ln>
          </p:spPr>
        </p:sp>
        <p:sp>
          <p:nvSpPr>
            <p:cNvPr id="79894" name="Text Box 17"/>
            <p:cNvSpPr txBox="1"/>
            <p:nvPr/>
          </p:nvSpPr>
          <p:spPr>
            <a:xfrm>
              <a:off x="4597" y="2304"/>
              <a:ext cx="374" cy="174"/>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R</a:t>
              </a:r>
              <a:r>
                <a:rPr lang="en-US" altLang="zh-CN" sz="1400" dirty="0">
                  <a:solidFill>
                    <a:schemeClr val="tx1"/>
                  </a:solidFill>
                  <a:latin typeface="Times New Roman" panose="02020603050405020304" pitchFamily="18" charset="0"/>
                  <a:ea typeface="宋体" panose="02010600030101010101" pitchFamily="2" charset="-122"/>
                </a:rPr>
                <a:t>FB</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895" name="Line 18"/>
            <p:cNvSpPr/>
            <p:nvPr/>
          </p:nvSpPr>
          <p:spPr>
            <a:xfrm>
              <a:off x="4211" y="2227"/>
              <a:ext cx="0" cy="169"/>
            </a:xfrm>
            <a:prstGeom prst="line">
              <a:avLst/>
            </a:prstGeom>
            <a:ln w="25400" cap="flat" cmpd="sng">
              <a:solidFill>
                <a:srgbClr val="000000"/>
              </a:solidFill>
              <a:prstDash val="solid"/>
              <a:headEnd type="none" w="med" len="med"/>
              <a:tailEnd type="none" w="med" len="med"/>
            </a:ln>
          </p:spPr>
        </p:sp>
        <p:sp>
          <p:nvSpPr>
            <p:cNvPr id="79896" name="Line 19"/>
            <p:cNvSpPr/>
            <p:nvPr/>
          </p:nvSpPr>
          <p:spPr>
            <a:xfrm>
              <a:off x="3815" y="1820"/>
              <a:ext cx="0" cy="881"/>
            </a:xfrm>
            <a:prstGeom prst="line">
              <a:avLst/>
            </a:prstGeom>
            <a:ln w="25400" cap="flat" cmpd="sng">
              <a:solidFill>
                <a:srgbClr val="000000"/>
              </a:solidFill>
              <a:prstDash val="solid"/>
              <a:headEnd type="none" w="med" len="med"/>
              <a:tailEnd type="none" w="med" len="med"/>
            </a:ln>
          </p:spPr>
        </p:sp>
        <p:sp>
          <p:nvSpPr>
            <p:cNvPr id="79897" name="Line 20"/>
            <p:cNvSpPr/>
            <p:nvPr/>
          </p:nvSpPr>
          <p:spPr>
            <a:xfrm>
              <a:off x="3815" y="2701"/>
              <a:ext cx="665" cy="0"/>
            </a:xfrm>
            <a:prstGeom prst="line">
              <a:avLst/>
            </a:prstGeom>
            <a:ln w="25400" cap="flat" cmpd="sng">
              <a:solidFill>
                <a:srgbClr val="000000"/>
              </a:solidFill>
              <a:prstDash val="solid"/>
              <a:headEnd type="none" w="med" len="med"/>
              <a:tailEnd type="none" w="med" len="med"/>
            </a:ln>
          </p:spPr>
        </p:sp>
        <p:sp>
          <p:nvSpPr>
            <p:cNvPr id="79898" name="Text Box 21"/>
            <p:cNvSpPr txBox="1"/>
            <p:nvPr/>
          </p:nvSpPr>
          <p:spPr>
            <a:xfrm>
              <a:off x="4567" y="2628"/>
              <a:ext cx="482" cy="170"/>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A</a:t>
              </a:r>
              <a:r>
                <a:rPr lang="en-US" altLang="zh-CN" sz="1400" dirty="0">
                  <a:solidFill>
                    <a:schemeClr val="tx1"/>
                  </a:solidFill>
                  <a:latin typeface="Times New Roman" panose="02020603050405020304" pitchFamily="18" charset="0"/>
                  <a:ea typeface="宋体" panose="02010600030101010101" pitchFamily="2" charset="-122"/>
                </a:rPr>
                <a:t>GND</a:t>
              </a:r>
              <a:endParaRPr lang="en-US" altLang="zh-CN" sz="2200" dirty="0">
                <a:solidFill>
                  <a:schemeClr val="tx1"/>
                </a:solidFill>
                <a:latin typeface="Times New Roman" panose="02020603050405020304" pitchFamily="18" charset="0"/>
                <a:ea typeface="宋体" panose="02010600030101010101" pitchFamily="2" charset="-122"/>
              </a:endParaRPr>
            </a:p>
          </p:txBody>
        </p:sp>
        <p:sp>
          <p:nvSpPr>
            <p:cNvPr id="79899" name="Line 22"/>
            <p:cNvSpPr/>
            <p:nvPr/>
          </p:nvSpPr>
          <p:spPr>
            <a:xfrm flipV="1">
              <a:off x="4199" y="3001"/>
              <a:ext cx="277" cy="0"/>
            </a:xfrm>
            <a:prstGeom prst="line">
              <a:avLst/>
            </a:prstGeom>
            <a:ln w="25400" cap="flat" cmpd="sng">
              <a:solidFill>
                <a:srgbClr val="000000"/>
              </a:solidFill>
              <a:prstDash val="solid"/>
              <a:headEnd type="none" w="med" len="med"/>
              <a:tailEnd type="none" w="med" len="med"/>
            </a:ln>
          </p:spPr>
        </p:sp>
        <p:sp>
          <p:nvSpPr>
            <p:cNvPr id="79900" name="Text Box 23"/>
            <p:cNvSpPr txBox="1"/>
            <p:nvPr/>
          </p:nvSpPr>
          <p:spPr>
            <a:xfrm>
              <a:off x="4575" y="2916"/>
              <a:ext cx="374" cy="181"/>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V</a:t>
              </a:r>
              <a:r>
                <a:rPr lang="en-US" altLang="zh-CN" sz="1400" dirty="0">
                  <a:solidFill>
                    <a:schemeClr val="tx1"/>
                  </a:solidFill>
                  <a:latin typeface="Times New Roman" panose="02020603050405020304" pitchFamily="18" charset="0"/>
                  <a:ea typeface="宋体" panose="02010600030101010101" pitchFamily="2" charset="-122"/>
                </a:rPr>
                <a:t>CC</a:t>
              </a:r>
              <a:endParaRPr lang="en-US" altLang="zh-CN" sz="2200" dirty="0">
                <a:solidFill>
                  <a:schemeClr val="tx1"/>
                </a:solidFill>
                <a:latin typeface="Times New Roman" panose="02020603050405020304" pitchFamily="18" charset="0"/>
                <a:ea typeface="宋体" panose="02010600030101010101" pitchFamily="2" charset="-122"/>
              </a:endParaRPr>
            </a:p>
          </p:txBody>
        </p:sp>
        <p:sp>
          <p:nvSpPr>
            <p:cNvPr id="79901" name="Line 24"/>
            <p:cNvSpPr/>
            <p:nvPr/>
          </p:nvSpPr>
          <p:spPr>
            <a:xfrm flipV="1">
              <a:off x="4199" y="3337"/>
              <a:ext cx="278" cy="0"/>
            </a:xfrm>
            <a:prstGeom prst="line">
              <a:avLst/>
            </a:prstGeom>
            <a:ln w="25400" cap="flat" cmpd="sng">
              <a:solidFill>
                <a:srgbClr val="000000"/>
              </a:solidFill>
              <a:prstDash val="solid"/>
              <a:headEnd type="none" w="med" len="med"/>
              <a:tailEnd type="none" w="med" len="med"/>
            </a:ln>
          </p:spPr>
        </p:sp>
        <p:sp>
          <p:nvSpPr>
            <p:cNvPr id="79902" name="Text Box 25"/>
            <p:cNvSpPr txBox="1"/>
            <p:nvPr/>
          </p:nvSpPr>
          <p:spPr>
            <a:xfrm>
              <a:off x="4561" y="3252"/>
              <a:ext cx="476" cy="171"/>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D</a:t>
              </a:r>
              <a:r>
                <a:rPr lang="en-US" altLang="zh-CN" sz="1400" dirty="0">
                  <a:solidFill>
                    <a:schemeClr val="tx1"/>
                  </a:solidFill>
                  <a:latin typeface="Times New Roman" panose="02020603050405020304" pitchFamily="18" charset="0"/>
                  <a:ea typeface="宋体" panose="02010600030101010101" pitchFamily="2" charset="-122"/>
                </a:rPr>
                <a:t>GND</a:t>
              </a:r>
              <a:endParaRPr lang="en-US" altLang="zh-CN" sz="2200" dirty="0">
                <a:solidFill>
                  <a:schemeClr val="tx1"/>
                </a:solidFill>
                <a:latin typeface="Times New Roman" panose="02020603050405020304" pitchFamily="18" charset="0"/>
                <a:ea typeface="宋体" panose="02010600030101010101" pitchFamily="2" charset="-122"/>
              </a:endParaRPr>
            </a:p>
          </p:txBody>
        </p:sp>
        <p:sp>
          <p:nvSpPr>
            <p:cNvPr id="79903" name="AutoShape 26"/>
            <p:cNvSpPr/>
            <p:nvPr/>
          </p:nvSpPr>
          <p:spPr>
            <a:xfrm>
              <a:off x="3182" y="1419"/>
              <a:ext cx="379" cy="234"/>
            </a:xfrm>
            <a:prstGeom prst="rightArrow">
              <a:avLst>
                <a:gd name="adj1" fmla="val 50064"/>
                <a:gd name="adj2" fmla="val 55000"/>
              </a:avLst>
            </a:prstGeom>
            <a:solidFill>
              <a:srgbClr val="FF00FF"/>
            </a:solidFill>
            <a:ln w="127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04" name="AutoShape 27"/>
            <p:cNvSpPr/>
            <p:nvPr/>
          </p:nvSpPr>
          <p:spPr>
            <a:xfrm>
              <a:off x="2240" y="1399"/>
              <a:ext cx="380" cy="234"/>
            </a:xfrm>
            <a:prstGeom prst="rightArrow">
              <a:avLst>
                <a:gd name="adj1" fmla="val 50064"/>
                <a:gd name="adj2" fmla="val 55146"/>
              </a:avLst>
            </a:prstGeom>
            <a:solidFill>
              <a:srgbClr val="3366FF"/>
            </a:solidFill>
            <a:ln w="127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05" name="Text Box 28"/>
            <p:cNvSpPr txBox="1"/>
            <p:nvPr/>
          </p:nvSpPr>
          <p:spPr>
            <a:xfrm>
              <a:off x="769" y="1270"/>
              <a:ext cx="704" cy="189"/>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DI</a:t>
              </a:r>
              <a:r>
                <a:rPr lang="en-US" altLang="zh-CN" sz="1800" baseline="-25000" dirty="0">
                  <a:solidFill>
                    <a:schemeClr val="tx1"/>
                  </a:solidFill>
                  <a:latin typeface="Times New Roman" panose="02020603050405020304" pitchFamily="18" charset="0"/>
                  <a:ea typeface="宋体" panose="02010600030101010101" pitchFamily="2" charset="-122"/>
                </a:rPr>
                <a:t>7</a:t>
              </a:r>
              <a:r>
                <a:rPr lang="en-US" altLang="zh-CN" sz="1800" dirty="0">
                  <a:solidFill>
                    <a:schemeClr val="tx1"/>
                  </a:solidFill>
                  <a:latin typeface="Times New Roman" panose="02020603050405020304" pitchFamily="18" charset="0"/>
                  <a:ea typeface="宋体" panose="02010600030101010101" pitchFamily="2" charset="-122"/>
                </a:rPr>
                <a:t>~DI</a:t>
              </a:r>
              <a:r>
                <a:rPr lang="en-US" altLang="zh-CN" sz="1800" baseline="-25000" dirty="0">
                  <a:solidFill>
                    <a:schemeClr val="tx1"/>
                  </a:solidFill>
                  <a:latin typeface="Times New Roman" panose="02020603050405020304" pitchFamily="18" charset="0"/>
                  <a:ea typeface="宋体" panose="02010600030101010101" pitchFamily="2" charset="-122"/>
                </a:rPr>
                <a:t>0</a:t>
              </a:r>
              <a:endParaRPr lang="en-US" altLang="zh-CN" sz="1800" baseline="-25000" dirty="0">
                <a:solidFill>
                  <a:schemeClr val="tx1"/>
                </a:solidFill>
                <a:latin typeface="Times New Roman" panose="02020603050405020304" pitchFamily="18" charset="0"/>
                <a:ea typeface="宋体" panose="02010600030101010101" pitchFamily="2" charset="-122"/>
              </a:endParaRPr>
            </a:p>
          </p:txBody>
        </p:sp>
        <p:sp>
          <p:nvSpPr>
            <p:cNvPr id="79906" name="Oval 29"/>
            <p:cNvSpPr/>
            <p:nvPr/>
          </p:nvSpPr>
          <p:spPr>
            <a:xfrm>
              <a:off x="4480" y="1531"/>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07" name="Oval 30"/>
            <p:cNvSpPr/>
            <p:nvPr/>
          </p:nvSpPr>
          <p:spPr>
            <a:xfrm>
              <a:off x="4480" y="1763"/>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08" name="Oval 31"/>
            <p:cNvSpPr/>
            <p:nvPr/>
          </p:nvSpPr>
          <p:spPr>
            <a:xfrm>
              <a:off x="4480" y="2377"/>
              <a:ext cx="34" cy="35"/>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09" name="Oval 32"/>
            <p:cNvSpPr/>
            <p:nvPr/>
          </p:nvSpPr>
          <p:spPr>
            <a:xfrm>
              <a:off x="4476" y="2683"/>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10" name="Oval 33"/>
            <p:cNvSpPr/>
            <p:nvPr/>
          </p:nvSpPr>
          <p:spPr>
            <a:xfrm>
              <a:off x="4470" y="2983"/>
              <a:ext cx="34" cy="35"/>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11" name="Oval 34"/>
            <p:cNvSpPr/>
            <p:nvPr/>
          </p:nvSpPr>
          <p:spPr>
            <a:xfrm>
              <a:off x="4470" y="3319"/>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12" name="Line 35"/>
            <p:cNvSpPr/>
            <p:nvPr/>
          </p:nvSpPr>
          <p:spPr>
            <a:xfrm>
              <a:off x="2164" y="3276"/>
              <a:ext cx="737" cy="0"/>
            </a:xfrm>
            <a:prstGeom prst="line">
              <a:avLst/>
            </a:prstGeom>
            <a:ln w="25400" cap="flat" cmpd="sng">
              <a:solidFill>
                <a:srgbClr val="000000"/>
              </a:solidFill>
              <a:prstDash val="solid"/>
              <a:headEnd type="none" w="med" len="med"/>
              <a:tailEnd type="none" w="med" len="med"/>
            </a:ln>
          </p:spPr>
        </p:sp>
        <p:sp>
          <p:nvSpPr>
            <p:cNvPr id="79913" name="Line 36"/>
            <p:cNvSpPr/>
            <p:nvPr/>
          </p:nvSpPr>
          <p:spPr>
            <a:xfrm>
              <a:off x="2905" y="1820"/>
              <a:ext cx="0" cy="1456"/>
            </a:xfrm>
            <a:prstGeom prst="line">
              <a:avLst/>
            </a:prstGeom>
            <a:ln w="25400" cap="flat" cmpd="sng">
              <a:solidFill>
                <a:srgbClr val="000000"/>
              </a:solidFill>
              <a:prstDash val="solid"/>
              <a:headEnd type="none" w="med" len="med"/>
              <a:tailEnd type="none" w="med" len="med"/>
            </a:ln>
          </p:spPr>
        </p:sp>
        <p:sp>
          <p:nvSpPr>
            <p:cNvPr id="79914" name="Text Box 37"/>
            <p:cNvSpPr txBox="1"/>
            <p:nvPr/>
          </p:nvSpPr>
          <p:spPr>
            <a:xfrm>
              <a:off x="2961" y="1820"/>
              <a:ext cx="411" cy="141"/>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LE</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15" name="Text Box 38"/>
            <p:cNvSpPr txBox="1"/>
            <p:nvPr/>
          </p:nvSpPr>
          <p:spPr>
            <a:xfrm>
              <a:off x="4583" y="1697"/>
              <a:ext cx="483" cy="168"/>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I</a:t>
              </a:r>
              <a:r>
                <a:rPr lang="en-US" altLang="zh-CN" sz="1400" dirty="0">
                  <a:solidFill>
                    <a:schemeClr val="tx1"/>
                  </a:solidFill>
                  <a:latin typeface="Times New Roman" panose="02020603050405020304" pitchFamily="18" charset="0"/>
                  <a:ea typeface="宋体" panose="02010600030101010101" pitchFamily="2" charset="-122"/>
                </a:rPr>
                <a:t>OUT1</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16" name="AutoShape 39"/>
            <p:cNvSpPr/>
            <p:nvPr/>
          </p:nvSpPr>
          <p:spPr>
            <a:xfrm>
              <a:off x="657" y="1411"/>
              <a:ext cx="1029" cy="227"/>
            </a:xfrm>
            <a:prstGeom prst="rightArrow">
              <a:avLst>
                <a:gd name="adj1" fmla="val 50000"/>
                <a:gd name="adj2" fmla="val 91038"/>
              </a:avLst>
            </a:prstGeom>
            <a:solidFill>
              <a:srgbClr val="00CCFF"/>
            </a:solidFill>
            <a:ln w="127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17" name="Line 40"/>
            <p:cNvSpPr/>
            <p:nvPr/>
          </p:nvSpPr>
          <p:spPr>
            <a:xfrm>
              <a:off x="2001" y="1798"/>
              <a:ext cx="0" cy="384"/>
            </a:xfrm>
            <a:prstGeom prst="line">
              <a:avLst/>
            </a:prstGeom>
            <a:ln w="25400" cap="flat" cmpd="sng">
              <a:solidFill>
                <a:srgbClr val="000000"/>
              </a:solidFill>
              <a:prstDash val="solid"/>
              <a:headEnd type="none" w="med" len="med"/>
              <a:tailEnd type="none" w="med" len="med"/>
            </a:ln>
          </p:spPr>
        </p:sp>
        <p:sp>
          <p:nvSpPr>
            <p:cNvPr id="79918" name="Text Box 41"/>
            <p:cNvSpPr txBox="1"/>
            <p:nvPr/>
          </p:nvSpPr>
          <p:spPr>
            <a:xfrm>
              <a:off x="2047" y="1820"/>
              <a:ext cx="373" cy="147"/>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LE</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19" name="Line 42"/>
            <p:cNvSpPr/>
            <p:nvPr/>
          </p:nvSpPr>
          <p:spPr>
            <a:xfrm>
              <a:off x="1857" y="2182"/>
              <a:ext cx="144" cy="0"/>
            </a:xfrm>
            <a:prstGeom prst="line">
              <a:avLst/>
            </a:prstGeom>
            <a:ln w="25400" cap="flat" cmpd="sng">
              <a:solidFill>
                <a:srgbClr val="000000"/>
              </a:solidFill>
              <a:prstDash val="solid"/>
              <a:headEnd type="none" w="med" len="med"/>
              <a:tailEnd type="none" w="med" len="med"/>
            </a:ln>
          </p:spPr>
        </p:sp>
        <p:sp>
          <p:nvSpPr>
            <p:cNvPr id="79920" name="Line 43"/>
            <p:cNvSpPr/>
            <p:nvPr/>
          </p:nvSpPr>
          <p:spPr>
            <a:xfrm>
              <a:off x="1496" y="2473"/>
              <a:ext cx="958" cy="0"/>
            </a:xfrm>
            <a:prstGeom prst="line">
              <a:avLst/>
            </a:prstGeom>
            <a:ln w="25400" cap="flat" cmpd="sng">
              <a:solidFill>
                <a:srgbClr val="000000"/>
              </a:solidFill>
              <a:prstDash val="solid"/>
              <a:headEnd type="none" w="med" len="med"/>
              <a:tailEnd type="none" w="med" len="med"/>
            </a:ln>
          </p:spPr>
        </p:sp>
        <p:sp>
          <p:nvSpPr>
            <p:cNvPr id="79921" name="Line 44"/>
            <p:cNvSpPr/>
            <p:nvPr/>
          </p:nvSpPr>
          <p:spPr>
            <a:xfrm>
              <a:off x="2462" y="2473"/>
              <a:ext cx="0" cy="280"/>
            </a:xfrm>
            <a:prstGeom prst="line">
              <a:avLst/>
            </a:prstGeom>
            <a:ln w="25400" cap="flat" cmpd="sng">
              <a:solidFill>
                <a:srgbClr val="000000"/>
              </a:solidFill>
              <a:prstDash val="solid"/>
              <a:headEnd type="none" w="med" len="med"/>
              <a:tailEnd type="none" w="med" len="med"/>
            </a:ln>
          </p:spPr>
        </p:sp>
        <p:sp>
          <p:nvSpPr>
            <p:cNvPr id="79922" name="Line 45"/>
            <p:cNvSpPr/>
            <p:nvPr/>
          </p:nvSpPr>
          <p:spPr>
            <a:xfrm flipV="1">
              <a:off x="2153" y="2749"/>
              <a:ext cx="309" cy="0"/>
            </a:xfrm>
            <a:prstGeom prst="line">
              <a:avLst/>
            </a:prstGeom>
            <a:ln w="25400" cap="flat" cmpd="sng">
              <a:solidFill>
                <a:srgbClr val="000000"/>
              </a:solidFill>
              <a:prstDash val="solid"/>
              <a:headEnd type="none" w="med" len="med"/>
              <a:tailEnd type="none" w="med" len="med"/>
            </a:ln>
          </p:spPr>
        </p:sp>
        <p:sp>
          <p:nvSpPr>
            <p:cNvPr id="79923" name="Text Box 46"/>
            <p:cNvSpPr txBox="1"/>
            <p:nvPr/>
          </p:nvSpPr>
          <p:spPr>
            <a:xfrm>
              <a:off x="897" y="2595"/>
              <a:ext cx="246" cy="171"/>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CS</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24" name="Line 47"/>
            <p:cNvSpPr/>
            <p:nvPr/>
          </p:nvSpPr>
          <p:spPr>
            <a:xfrm>
              <a:off x="887" y="2613"/>
              <a:ext cx="214" cy="0"/>
            </a:xfrm>
            <a:prstGeom prst="line">
              <a:avLst/>
            </a:prstGeom>
            <a:ln w="25400" cap="flat" cmpd="sng">
              <a:solidFill>
                <a:schemeClr val="tx1"/>
              </a:solidFill>
              <a:prstDash val="solid"/>
              <a:headEnd type="none" w="med" len="med"/>
              <a:tailEnd type="none" w="med" len="med"/>
            </a:ln>
          </p:spPr>
        </p:sp>
        <p:sp>
          <p:nvSpPr>
            <p:cNvPr id="79925" name="Text Box 48"/>
            <p:cNvSpPr txBox="1"/>
            <p:nvPr/>
          </p:nvSpPr>
          <p:spPr>
            <a:xfrm>
              <a:off x="786" y="2747"/>
              <a:ext cx="396" cy="172"/>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WR1</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26" name="Line 49"/>
            <p:cNvSpPr/>
            <p:nvPr/>
          </p:nvSpPr>
          <p:spPr>
            <a:xfrm flipV="1">
              <a:off x="786" y="2758"/>
              <a:ext cx="303" cy="0"/>
            </a:xfrm>
            <a:prstGeom prst="line">
              <a:avLst/>
            </a:prstGeom>
            <a:ln w="25400" cap="flat" cmpd="sng">
              <a:solidFill>
                <a:schemeClr val="tx1"/>
              </a:solidFill>
              <a:prstDash val="solid"/>
              <a:headEnd type="none" w="med" len="med"/>
              <a:tailEnd type="none" w="med" len="med"/>
            </a:ln>
          </p:spPr>
        </p:sp>
        <p:sp>
          <p:nvSpPr>
            <p:cNvPr id="79927" name="Text Box 50"/>
            <p:cNvSpPr txBox="1"/>
            <p:nvPr/>
          </p:nvSpPr>
          <p:spPr>
            <a:xfrm>
              <a:off x="800" y="3286"/>
              <a:ext cx="369" cy="144"/>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WR2</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28" name="Line 51"/>
            <p:cNvSpPr/>
            <p:nvPr/>
          </p:nvSpPr>
          <p:spPr>
            <a:xfrm>
              <a:off x="801" y="3301"/>
              <a:ext cx="306" cy="0"/>
            </a:xfrm>
            <a:prstGeom prst="line">
              <a:avLst/>
            </a:prstGeom>
            <a:ln w="25400" cap="flat" cmpd="sng">
              <a:solidFill>
                <a:srgbClr val="000000"/>
              </a:solidFill>
              <a:prstDash val="solid"/>
              <a:headEnd type="none" w="med" len="med"/>
              <a:tailEnd type="none" w="med" len="med"/>
            </a:ln>
          </p:spPr>
        </p:sp>
        <p:grpSp>
          <p:nvGrpSpPr>
            <p:cNvPr id="79929" name="Group 52"/>
            <p:cNvGrpSpPr/>
            <p:nvPr/>
          </p:nvGrpSpPr>
          <p:grpSpPr>
            <a:xfrm>
              <a:off x="744" y="3099"/>
              <a:ext cx="393" cy="139"/>
              <a:chOff x="612" y="7217"/>
              <a:chExt cx="620" cy="560"/>
            </a:xfrm>
          </p:grpSpPr>
          <p:sp>
            <p:nvSpPr>
              <p:cNvPr id="79960" name="Text Box 53"/>
              <p:cNvSpPr txBox="1"/>
              <p:nvPr/>
            </p:nvSpPr>
            <p:spPr>
              <a:xfrm>
                <a:off x="612" y="7217"/>
                <a:ext cx="620" cy="560"/>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XFER</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61" name="Line 54"/>
              <p:cNvSpPr/>
              <p:nvPr/>
            </p:nvSpPr>
            <p:spPr>
              <a:xfrm>
                <a:off x="652" y="7277"/>
                <a:ext cx="540" cy="0"/>
              </a:xfrm>
              <a:prstGeom prst="line">
                <a:avLst/>
              </a:prstGeom>
              <a:ln w="25400" cap="flat" cmpd="sng">
                <a:solidFill>
                  <a:srgbClr val="000000"/>
                </a:solidFill>
                <a:prstDash val="solid"/>
                <a:headEnd type="none" w="med" len="med"/>
                <a:tailEnd type="none" w="med" len="med"/>
              </a:ln>
            </p:spPr>
          </p:sp>
        </p:grpSp>
        <p:sp>
          <p:nvSpPr>
            <p:cNvPr id="79930" name="Oval 55"/>
            <p:cNvSpPr/>
            <p:nvPr/>
          </p:nvSpPr>
          <p:spPr>
            <a:xfrm>
              <a:off x="1799" y="2630"/>
              <a:ext cx="52" cy="51"/>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31" name="Line 56"/>
            <p:cNvSpPr/>
            <p:nvPr/>
          </p:nvSpPr>
          <p:spPr>
            <a:xfrm>
              <a:off x="1180" y="2656"/>
              <a:ext cx="614" cy="0"/>
            </a:xfrm>
            <a:prstGeom prst="line">
              <a:avLst/>
            </a:prstGeom>
            <a:ln w="25400" cap="flat" cmpd="sng">
              <a:solidFill>
                <a:srgbClr val="000000"/>
              </a:solidFill>
              <a:prstDash val="solid"/>
              <a:headEnd type="none" w="med" len="med"/>
              <a:tailEnd type="none" w="med" len="med"/>
            </a:ln>
          </p:spPr>
        </p:sp>
        <p:sp>
          <p:nvSpPr>
            <p:cNvPr id="79932" name="Oval 57"/>
            <p:cNvSpPr/>
            <p:nvPr/>
          </p:nvSpPr>
          <p:spPr>
            <a:xfrm>
              <a:off x="1799" y="2791"/>
              <a:ext cx="52" cy="52"/>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33" name="Line 58"/>
            <p:cNvSpPr/>
            <p:nvPr/>
          </p:nvSpPr>
          <p:spPr>
            <a:xfrm>
              <a:off x="1179" y="2817"/>
              <a:ext cx="620" cy="0"/>
            </a:xfrm>
            <a:prstGeom prst="line">
              <a:avLst/>
            </a:prstGeom>
            <a:ln w="25400" cap="flat" cmpd="sng">
              <a:solidFill>
                <a:srgbClr val="000000"/>
              </a:solidFill>
              <a:prstDash val="solid"/>
              <a:headEnd type="none" w="med" len="med"/>
              <a:tailEnd type="none" w="med" len="med"/>
            </a:ln>
          </p:spPr>
        </p:sp>
        <p:sp>
          <p:nvSpPr>
            <p:cNvPr id="79934" name="Oval 59"/>
            <p:cNvSpPr/>
            <p:nvPr/>
          </p:nvSpPr>
          <p:spPr>
            <a:xfrm>
              <a:off x="1794" y="3165"/>
              <a:ext cx="52" cy="52"/>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35" name="Line 60"/>
            <p:cNvSpPr/>
            <p:nvPr/>
          </p:nvSpPr>
          <p:spPr>
            <a:xfrm>
              <a:off x="1197" y="3191"/>
              <a:ext cx="597" cy="0"/>
            </a:xfrm>
            <a:prstGeom prst="line">
              <a:avLst/>
            </a:prstGeom>
            <a:ln w="25400" cap="flat" cmpd="sng">
              <a:solidFill>
                <a:srgbClr val="000000"/>
              </a:solidFill>
              <a:prstDash val="solid"/>
              <a:headEnd type="none" w="med" len="med"/>
              <a:tailEnd type="none" w="med" len="med"/>
            </a:ln>
          </p:spPr>
        </p:sp>
        <p:sp>
          <p:nvSpPr>
            <p:cNvPr id="79936" name="Oval 61"/>
            <p:cNvSpPr/>
            <p:nvPr/>
          </p:nvSpPr>
          <p:spPr>
            <a:xfrm>
              <a:off x="1168" y="3173"/>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37" name="Oval 62"/>
            <p:cNvSpPr/>
            <p:nvPr/>
          </p:nvSpPr>
          <p:spPr>
            <a:xfrm>
              <a:off x="1794" y="3320"/>
              <a:ext cx="52" cy="52"/>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38" name="Line 63"/>
            <p:cNvSpPr/>
            <p:nvPr/>
          </p:nvSpPr>
          <p:spPr>
            <a:xfrm>
              <a:off x="1185" y="3346"/>
              <a:ext cx="617" cy="0"/>
            </a:xfrm>
            <a:prstGeom prst="line">
              <a:avLst/>
            </a:prstGeom>
            <a:ln w="25400" cap="flat" cmpd="sng">
              <a:solidFill>
                <a:srgbClr val="000000"/>
              </a:solidFill>
              <a:prstDash val="solid"/>
              <a:headEnd type="none" w="med" len="med"/>
              <a:tailEnd type="none" w="med" len="med"/>
            </a:ln>
          </p:spPr>
        </p:sp>
        <p:sp>
          <p:nvSpPr>
            <p:cNvPr id="79939" name="Oval 64"/>
            <p:cNvSpPr/>
            <p:nvPr/>
          </p:nvSpPr>
          <p:spPr>
            <a:xfrm>
              <a:off x="1167" y="3328"/>
              <a:ext cx="34" cy="35"/>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40" name="Text Box 65"/>
            <p:cNvSpPr txBox="1"/>
            <p:nvPr/>
          </p:nvSpPr>
          <p:spPr>
            <a:xfrm>
              <a:off x="839" y="2003"/>
              <a:ext cx="333" cy="189"/>
            </a:xfrm>
            <a:prstGeom prst="rect">
              <a:avLst/>
            </a:prstGeom>
            <a:noFill/>
            <a:ln w="25400">
              <a:noFill/>
            </a:ln>
          </p:spPr>
          <p:txBody>
            <a:bodyPr lIns="0" tIns="0" rIns="0" bIns="0"/>
            <a:p>
              <a:pPr algn="just" eaLnBrk="1" hangingPunct="1"/>
              <a:r>
                <a:rPr lang="en-US" altLang="zh-CN" sz="1800" dirty="0">
                  <a:solidFill>
                    <a:schemeClr val="tx1"/>
                  </a:solidFill>
                  <a:latin typeface="Times New Roman" panose="02020603050405020304" pitchFamily="18" charset="0"/>
                  <a:ea typeface="宋体" panose="02010600030101010101" pitchFamily="2" charset="-122"/>
                </a:rPr>
                <a:t>ILE</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41" name="Line 66"/>
            <p:cNvSpPr/>
            <p:nvPr/>
          </p:nvSpPr>
          <p:spPr>
            <a:xfrm>
              <a:off x="1185" y="2100"/>
              <a:ext cx="414" cy="0"/>
            </a:xfrm>
            <a:prstGeom prst="line">
              <a:avLst/>
            </a:prstGeom>
            <a:ln w="25400" cap="flat" cmpd="sng">
              <a:solidFill>
                <a:srgbClr val="000000"/>
              </a:solidFill>
              <a:prstDash val="solid"/>
              <a:headEnd type="none" w="med" len="med"/>
              <a:tailEnd type="none" w="med" len="med"/>
            </a:ln>
          </p:spPr>
        </p:sp>
        <p:sp>
          <p:nvSpPr>
            <p:cNvPr id="79942" name="Line 67"/>
            <p:cNvSpPr/>
            <p:nvPr/>
          </p:nvSpPr>
          <p:spPr>
            <a:xfrm>
              <a:off x="1504" y="2284"/>
              <a:ext cx="110" cy="0"/>
            </a:xfrm>
            <a:prstGeom prst="line">
              <a:avLst/>
            </a:prstGeom>
            <a:ln w="25400" cap="flat" cmpd="sng">
              <a:solidFill>
                <a:srgbClr val="000000"/>
              </a:solidFill>
              <a:prstDash val="solid"/>
              <a:headEnd type="none" w="med" len="med"/>
              <a:tailEnd type="none" w="med" len="med"/>
            </a:ln>
          </p:spPr>
        </p:sp>
        <p:sp>
          <p:nvSpPr>
            <p:cNvPr id="79943" name="Line 68"/>
            <p:cNvSpPr/>
            <p:nvPr/>
          </p:nvSpPr>
          <p:spPr>
            <a:xfrm>
              <a:off x="1504" y="2284"/>
              <a:ext cx="0" cy="195"/>
            </a:xfrm>
            <a:prstGeom prst="line">
              <a:avLst/>
            </a:prstGeom>
            <a:ln w="25400" cap="flat" cmpd="sng">
              <a:solidFill>
                <a:srgbClr val="000000"/>
              </a:solidFill>
              <a:prstDash val="solid"/>
              <a:headEnd type="none" w="med" len="med"/>
              <a:tailEnd type="none" w="med" len="med"/>
            </a:ln>
          </p:spPr>
        </p:sp>
        <p:sp>
          <p:nvSpPr>
            <p:cNvPr id="79944" name="Oval 69"/>
            <p:cNvSpPr/>
            <p:nvPr/>
          </p:nvSpPr>
          <p:spPr>
            <a:xfrm>
              <a:off x="1167" y="2081"/>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45" name="Rectangle 70"/>
            <p:cNvSpPr>
              <a:spLocks noChangeAspect="1"/>
            </p:cNvSpPr>
            <p:nvPr/>
          </p:nvSpPr>
          <p:spPr>
            <a:xfrm>
              <a:off x="1579" y="2031"/>
              <a:ext cx="309" cy="306"/>
            </a:xfrm>
            <a:prstGeom prst="rect">
              <a:avLst/>
            </a:prstGeom>
            <a:solidFill>
              <a:srgbClr val="FF99CC"/>
            </a:solidFill>
            <a:ln w="254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46" name="Text Box 71"/>
            <p:cNvSpPr txBox="1">
              <a:spLocks noChangeAspect="1"/>
            </p:cNvSpPr>
            <p:nvPr/>
          </p:nvSpPr>
          <p:spPr>
            <a:xfrm>
              <a:off x="1592" y="2007"/>
              <a:ext cx="265" cy="274"/>
            </a:xfrm>
            <a:prstGeom prst="rect">
              <a:avLst/>
            </a:prstGeom>
            <a:noFill/>
            <a:ln w="25400">
              <a:noFill/>
            </a:ln>
          </p:spPr>
          <p:txBody>
            <a:bodyPr lIns="0" tIns="0" rIns="0" bIns="0"/>
            <a:p>
              <a:pPr algn="ctr" eaLnBrk="1" hangingPunct="1">
                <a:lnSpc>
                  <a:spcPct val="160000"/>
                </a:lnSpc>
              </a:pPr>
              <a:r>
                <a:rPr lang="en-US" altLang="zh-CN" sz="1800" dirty="0">
                  <a:solidFill>
                    <a:schemeClr val="tx1"/>
                  </a:solidFill>
                  <a:latin typeface="Times New Roman" panose="02020603050405020304" pitchFamily="18" charset="0"/>
                  <a:ea typeface="黑体" panose="02010609060101010101" pitchFamily="49" charset="-122"/>
                </a:rPr>
                <a:t>&amp;</a:t>
              </a:r>
              <a:endParaRPr lang="en-US" altLang="zh-CN" sz="1800" dirty="0">
                <a:solidFill>
                  <a:schemeClr val="tx1"/>
                </a:solidFill>
                <a:latin typeface="Times New Roman" panose="02020603050405020304" pitchFamily="18" charset="0"/>
                <a:ea typeface="黑体" panose="02010609060101010101" pitchFamily="49" charset="-122"/>
              </a:endParaRPr>
            </a:p>
          </p:txBody>
        </p:sp>
        <p:sp>
          <p:nvSpPr>
            <p:cNvPr id="79947" name="Rectangle 72"/>
            <p:cNvSpPr>
              <a:spLocks noChangeAspect="1"/>
            </p:cNvSpPr>
            <p:nvPr/>
          </p:nvSpPr>
          <p:spPr>
            <a:xfrm>
              <a:off x="1857" y="2596"/>
              <a:ext cx="309" cy="306"/>
            </a:xfrm>
            <a:prstGeom prst="rect">
              <a:avLst/>
            </a:prstGeom>
            <a:solidFill>
              <a:srgbClr val="FF99CC"/>
            </a:solidFill>
            <a:ln w="254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48" name="Text Box 73"/>
            <p:cNvSpPr txBox="1">
              <a:spLocks noChangeAspect="1"/>
            </p:cNvSpPr>
            <p:nvPr/>
          </p:nvSpPr>
          <p:spPr>
            <a:xfrm>
              <a:off x="1870" y="2572"/>
              <a:ext cx="265" cy="274"/>
            </a:xfrm>
            <a:prstGeom prst="rect">
              <a:avLst/>
            </a:prstGeom>
            <a:noFill/>
            <a:ln w="25400">
              <a:noFill/>
            </a:ln>
          </p:spPr>
          <p:txBody>
            <a:bodyPr lIns="0" tIns="0" rIns="0" bIns="0"/>
            <a:p>
              <a:pPr algn="ctr" eaLnBrk="1" hangingPunct="1">
                <a:lnSpc>
                  <a:spcPct val="160000"/>
                </a:lnSpc>
              </a:pPr>
              <a:r>
                <a:rPr lang="en-US" altLang="zh-CN" sz="1800" dirty="0">
                  <a:solidFill>
                    <a:schemeClr val="tx1"/>
                  </a:solidFill>
                  <a:latin typeface="Times New Roman" panose="02020603050405020304" pitchFamily="18" charset="0"/>
                  <a:ea typeface="黑体" panose="02010609060101010101" pitchFamily="49" charset="-122"/>
                </a:rPr>
                <a:t>&amp;</a:t>
              </a:r>
              <a:endParaRPr lang="en-US" altLang="zh-CN" sz="1800" dirty="0">
                <a:solidFill>
                  <a:schemeClr val="tx1"/>
                </a:solidFill>
                <a:latin typeface="Times New Roman" panose="02020603050405020304" pitchFamily="18" charset="0"/>
                <a:ea typeface="黑体" panose="02010609060101010101" pitchFamily="49" charset="-122"/>
              </a:endParaRPr>
            </a:p>
          </p:txBody>
        </p:sp>
        <p:sp>
          <p:nvSpPr>
            <p:cNvPr id="79949" name="Rectangle 74"/>
            <p:cNvSpPr>
              <a:spLocks noChangeAspect="1"/>
            </p:cNvSpPr>
            <p:nvPr/>
          </p:nvSpPr>
          <p:spPr>
            <a:xfrm>
              <a:off x="1857" y="3118"/>
              <a:ext cx="309" cy="306"/>
            </a:xfrm>
            <a:prstGeom prst="rect">
              <a:avLst/>
            </a:prstGeom>
            <a:solidFill>
              <a:srgbClr val="FF99CC"/>
            </a:solidFill>
            <a:ln w="25400" cap="flat" cmpd="sng">
              <a:solidFill>
                <a:srgbClr val="000000"/>
              </a:solidFill>
              <a:prstDash val="solid"/>
              <a:miter/>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50" name="Text Box 75"/>
            <p:cNvSpPr txBox="1">
              <a:spLocks noChangeAspect="1"/>
            </p:cNvSpPr>
            <p:nvPr/>
          </p:nvSpPr>
          <p:spPr>
            <a:xfrm>
              <a:off x="1870" y="3094"/>
              <a:ext cx="265" cy="274"/>
            </a:xfrm>
            <a:prstGeom prst="rect">
              <a:avLst/>
            </a:prstGeom>
            <a:noFill/>
            <a:ln w="25400">
              <a:noFill/>
            </a:ln>
          </p:spPr>
          <p:txBody>
            <a:bodyPr lIns="0" tIns="0" rIns="0" bIns="0"/>
            <a:p>
              <a:pPr algn="ctr" eaLnBrk="1" hangingPunct="1">
                <a:lnSpc>
                  <a:spcPct val="160000"/>
                </a:lnSpc>
              </a:pPr>
              <a:r>
                <a:rPr lang="en-US" altLang="zh-CN" sz="1800" dirty="0">
                  <a:solidFill>
                    <a:schemeClr val="tx1"/>
                  </a:solidFill>
                  <a:latin typeface="Times New Roman" panose="02020603050405020304" pitchFamily="18" charset="0"/>
                  <a:ea typeface="黑体" panose="02010609060101010101" pitchFamily="49" charset="-122"/>
                </a:rPr>
                <a:t>&amp;</a:t>
              </a:r>
              <a:endParaRPr lang="en-US" altLang="zh-CN" sz="1800" dirty="0">
                <a:solidFill>
                  <a:schemeClr val="tx1"/>
                </a:solidFill>
                <a:latin typeface="Times New Roman" panose="02020603050405020304" pitchFamily="18" charset="0"/>
                <a:ea typeface="黑体" panose="02010609060101010101" pitchFamily="49" charset="-122"/>
              </a:endParaRPr>
            </a:p>
          </p:txBody>
        </p:sp>
        <p:sp>
          <p:nvSpPr>
            <p:cNvPr id="79951" name="Text Box 76"/>
            <p:cNvSpPr txBox="1"/>
            <p:nvPr/>
          </p:nvSpPr>
          <p:spPr>
            <a:xfrm>
              <a:off x="1685" y="1284"/>
              <a:ext cx="555" cy="536"/>
            </a:xfrm>
            <a:prstGeom prst="rect">
              <a:avLst/>
            </a:prstGeom>
            <a:solidFill>
              <a:srgbClr val="CCFFCC"/>
            </a:solidFill>
            <a:ln w="12700" cap="flat" cmpd="sng">
              <a:solidFill>
                <a:srgbClr val="000000"/>
              </a:solidFill>
              <a:prstDash val="solid"/>
              <a:miter/>
              <a:headEnd type="none" w="med" len="med"/>
              <a:tailEnd type="none" w="med" len="med"/>
            </a:ln>
          </p:spPr>
          <p:txBody>
            <a:bodyPr lIns="0" rIns="0"/>
            <a:p>
              <a:pPr algn="ctr" eaLnBrk="1" hangingPunct="1">
                <a:lnSpc>
                  <a:spcPct val="90000"/>
                </a:lnSpc>
              </a:pPr>
              <a:r>
                <a:rPr lang="en-US" altLang="zh-CN" sz="1800" dirty="0">
                  <a:solidFill>
                    <a:schemeClr val="tx2"/>
                  </a:solidFill>
                  <a:latin typeface="Times New Roman" panose="02020603050405020304" pitchFamily="18" charset="0"/>
                </a:rPr>
                <a:t>8</a:t>
              </a:r>
              <a:r>
                <a:rPr lang="zh-CN" altLang="en-US" sz="1800" dirty="0">
                  <a:solidFill>
                    <a:schemeClr val="tx2"/>
                  </a:solidFill>
                  <a:latin typeface="Times New Roman" panose="02020603050405020304" pitchFamily="18" charset="0"/>
                </a:rPr>
                <a:t>位</a:t>
              </a:r>
              <a:endParaRPr lang="zh-CN" altLang="en-US" sz="1800" dirty="0">
                <a:solidFill>
                  <a:schemeClr val="tx2"/>
                </a:solidFill>
                <a:latin typeface="Times New Roman" panose="02020603050405020304" pitchFamily="18" charset="0"/>
              </a:endParaRPr>
            </a:p>
            <a:p>
              <a:pPr algn="ctr" eaLnBrk="1" hangingPunct="1">
                <a:lnSpc>
                  <a:spcPct val="90000"/>
                </a:lnSpc>
              </a:pPr>
              <a:r>
                <a:rPr lang="zh-CN" altLang="en-US" sz="1800" dirty="0">
                  <a:solidFill>
                    <a:schemeClr val="tx2"/>
                  </a:solidFill>
                  <a:latin typeface="Times New Roman" panose="02020603050405020304" pitchFamily="18" charset="0"/>
                </a:rPr>
                <a:t>输入</a:t>
              </a:r>
              <a:endParaRPr lang="zh-CN" altLang="en-US" sz="1800" dirty="0">
                <a:solidFill>
                  <a:schemeClr val="tx2"/>
                </a:solidFill>
                <a:latin typeface="Times New Roman" panose="02020603050405020304" pitchFamily="18" charset="0"/>
              </a:endParaRPr>
            </a:p>
            <a:p>
              <a:pPr algn="ctr" eaLnBrk="1" hangingPunct="1">
                <a:lnSpc>
                  <a:spcPct val="90000"/>
                </a:lnSpc>
              </a:pPr>
              <a:r>
                <a:rPr lang="zh-CN" altLang="en-US" sz="1800" dirty="0">
                  <a:solidFill>
                    <a:schemeClr val="tx2"/>
                  </a:solidFill>
                  <a:latin typeface="Times New Roman" panose="02020603050405020304" pitchFamily="18" charset="0"/>
                </a:rPr>
                <a:t>寄存器</a:t>
              </a:r>
              <a:endParaRPr lang="zh-CN" altLang="en-US" sz="2400" dirty="0">
                <a:solidFill>
                  <a:schemeClr val="tx2"/>
                </a:solidFill>
                <a:latin typeface="Times New Roman" panose="02020603050405020304" pitchFamily="18" charset="0"/>
              </a:endParaRPr>
            </a:p>
          </p:txBody>
        </p:sp>
        <p:sp>
          <p:nvSpPr>
            <p:cNvPr id="79952" name="Text Box 77"/>
            <p:cNvSpPr txBox="1"/>
            <p:nvPr/>
          </p:nvSpPr>
          <p:spPr>
            <a:xfrm>
              <a:off x="3825" y="2038"/>
              <a:ext cx="336" cy="192"/>
            </a:xfrm>
            <a:prstGeom prst="rect">
              <a:avLst/>
            </a:prstGeom>
            <a:noFill/>
            <a:ln w="38100">
              <a:noFill/>
            </a:ln>
          </p:spPr>
          <p:txBody>
            <a:bodyPr lIns="0" tIns="0" rIns="0" bIns="0">
              <a:spAutoFit/>
            </a:bodyPr>
            <a:p>
              <a:pPr algn="ctr" eaLnBrk="1" hangingPunct="1">
                <a:spcBef>
                  <a:spcPct val="50000"/>
                </a:spcBef>
              </a:pPr>
              <a:r>
                <a:rPr lang="en-US" altLang="zh-CN" sz="2000" dirty="0">
                  <a:solidFill>
                    <a:schemeClr val="tx1"/>
                  </a:solidFill>
                  <a:latin typeface="Times New Roman" panose="02020603050405020304" pitchFamily="18" charset="0"/>
                  <a:ea typeface="宋体" panose="02010600030101010101" pitchFamily="2" charset="-122"/>
                </a:rPr>
                <a:t>R</a:t>
              </a:r>
              <a:r>
                <a:rPr lang="en-US" altLang="zh-CN" sz="1600" dirty="0">
                  <a:solidFill>
                    <a:schemeClr val="tx1"/>
                  </a:solidFill>
                  <a:latin typeface="Times New Roman" panose="02020603050405020304" pitchFamily="18" charset="0"/>
                  <a:ea typeface="宋体" panose="02010600030101010101" pitchFamily="2" charset="-122"/>
                </a:rPr>
                <a:t>FB</a:t>
              </a:r>
              <a:endParaRPr lang="en-US" altLang="zh-CN" sz="1800" dirty="0">
                <a:solidFill>
                  <a:srgbClr val="0000FF"/>
                </a:solidFill>
                <a:latin typeface="Times New Roman" panose="02020603050405020304" pitchFamily="18" charset="0"/>
                <a:ea typeface="宋体" panose="02010600030101010101" pitchFamily="2" charset="-122"/>
              </a:endParaRPr>
            </a:p>
          </p:txBody>
        </p:sp>
        <p:sp>
          <p:nvSpPr>
            <p:cNvPr id="79953" name="Text Box 78"/>
            <p:cNvSpPr txBox="1"/>
            <p:nvPr/>
          </p:nvSpPr>
          <p:spPr>
            <a:xfrm>
              <a:off x="1425" y="2488"/>
              <a:ext cx="144" cy="346"/>
            </a:xfrm>
            <a:prstGeom prst="rect">
              <a:avLst/>
            </a:prstGeom>
            <a:noFill/>
            <a:ln w="9525">
              <a:noFill/>
            </a:ln>
          </p:spPr>
          <p:txBody>
            <a:bodyPr lIns="0" tIns="0" rIns="0" bIns="0">
              <a:spAutoFit/>
            </a:bodyPr>
            <a:p>
              <a:pPr algn="just" eaLnBrk="1" hangingPunct="1">
                <a:lnSpc>
                  <a:spcPct val="90000"/>
                </a:lnSpc>
              </a:pPr>
              <a:r>
                <a:rPr lang="en-US" altLang="zh-CN" sz="2000" dirty="0">
                  <a:solidFill>
                    <a:srgbClr val="FF3300"/>
                  </a:solidFill>
                  <a:latin typeface="Times New Roman" panose="02020603050405020304" pitchFamily="18" charset="0"/>
                  <a:ea typeface="宋体" panose="02010600030101010101" pitchFamily="2" charset="-122"/>
                </a:rPr>
                <a:t>0</a:t>
              </a:r>
              <a:endParaRPr lang="en-US" altLang="zh-CN" sz="2000" dirty="0">
                <a:solidFill>
                  <a:srgbClr val="FF3300"/>
                </a:solidFill>
                <a:latin typeface="Times New Roman" panose="02020603050405020304" pitchFamily="18" charset="0"/>
                <a:ea typeface="宋体" panose="02010600030101010101" pitchFamily="2" charset="-122"/>
              </a:endParaRPr>
            </a:p>
            <a:p>
              <a:pPr algn="just" eaLnBrk="1" hangingPunct="1">
                <a:lnSpc>
                  <a:spcPct val="90000"/>
                </a:lnSpc>
              </a:pPr>
              <a:r>
                <a:rPr lang="en-US" altLang="zh-CN" sz="2000" dirty="0">
                  <a:solidFill>
                    <a:srgbClr val="FF3300"/>
                  </a:solidFill>
                  <a:latin typeface="Times New Roman" panose="02020603050405020304" pitchFamily="18" charset="0"/>
                  <a:ea typeface="宋体" panose="02010600030101010101" pitchFamily="2" charset="-122"/>
                </a:rPr>
                <a:t>0</a:t>
              </a:r>
              <a:endParaRPr lang="en-US" altLang="zh-CN" sz="1800" dirty="0">
                <a:solidFill>
                  <a:schemeClr val="tx1"/>
                </a:solidFill>
                <a:latin typeface="Times New Roman" panose="02020603050405020304" pitchFamily="18" charset="0"/>
                <a:ea typeface="宋体" panose="02010600030101010101" pitchFamily="2" charset="-122"/>
              </a:endParaRPr>
            </a:p>
          </p:txBody>
        </p:sp>
        <p:sp>
          <p:nvSpPr>
            <p:cNvPr id="79954" name="Text Box 79"/>
            <p:cNvSpPr txBox="1"/>
            <p:nvPr/>
          </p:nvSpPr>
          <p:spPr>
            <a:xfrm>
              <a:off x="1425" y="1894"/>
              <a:ext cx="144" cy="192"/>
            </a:xfrm>
            <a:prstGeom prst="rect">
              <a:avLst/>
            </a:prstGeom>
            <a:noFill/>
            <a:ln w="9525">
              <a:noFill/>
            </a:ln>
          </p:spPr>
          <p:txBody>
            <a:bodyPr lIns="0" tIns="0" rIns="0" bIns="0">
              <a:spAutoFit/>
            </a:bodyPr>
            <a:p>
              <a:pPr algn="just" eaLnBrk="1" hangingPunct="1"/>
              <a:r>
                <a:rPr lang="en-US" altLang="zh-CN" sz="2000" dirty="0">
                  <a:solidFill>
                    <a:srgbClr val="FF3300"/>
                  </a:solidFill>
                  <a:latin typeface="Times New Roman" panose="02020603050405020304" pitchFamily="18" charset="0"/>
                  <a:ea typeface="宋体" panose="02010600030101010101" pitchFamily="2" charset="-122"/>
                </a:rPr>
                <a:t>1</a:t>
              </a:r>
              <a:endParaRPr lang="en-US" altLang="zh-CN" sz="2000" dirty="0">
                <a:solidFill>
                  <a:schemeClr val="tx1"/>
                </a:solidFill>
                <a:latin typeface="Times New Roman" panose="02020603050405020304" pitchFamily="18" charset="0"/>
                <a:ea typeface="宋体" panose="02010600030101010101" pitchFamily="2" charset="-122"/>
              </a:endParaRPr>
            </a:p>
          </p:txBody>
        </p:sp>
        <p:sp>
          <p:nvSpPr>
            <p:cNvPr id="79955" name="Text Box 80"/>
            <p:cNvSpPr txBox="1"/>
            <p:nvPr/>
          </p:nvSpPr>
          <p:spPr>
            <a:xfrm>
              <a:off x="2049" y="2038"/>
              <a:ext cx="144" cy="192"/>
            </a:xfrm>
            <a:prstGeom prst="rect">
              <a:avLst/>
            </a:prstGeom>
            <a:noFill/>
            <a:ln w="9525">
              <a:noFill/>
            </a:ln>
          </p:spPr>
          <p:txBody>
            <a:bodyPr lIns="0" tIns="0" rIns="0" bIns="0">
              <a:spAutoFit/>
            </a:bodyPr>
            <a:p>
              <a:pPr algn="just" eaLnBrk="1" hangingPunct="1"/>
              <a:r>
                <a:rPr lang="en-US" altLang="zh-CN" sz="2000" dirty="0">
                  <a:solidFill>
                    <a:srgbClr val="FF3300"/>
                  </a:solidFill>
                  <a:latin typeface="Times New Roman" panose="02020603050405020304" pitchFamily="18" charset="0"/>
                  <a:ea typeface="宋体" panose="02010600030101010101" pitchFamily="2" charset="-122"/>
                </a:rPr>
                <a:t>1</a:t>
              </a:r>
              <a:endParaRPr lang="en-US" altLang="zh-CN" sz="2000" dirty="0">
                <a:solidFill>
                  <a:schemeClr val="tx1"/>
                </a:solidFill>
                <a:latin typeface="Times New Roman" panose="02020603050405020304" pitchFamily="18" charset="0"/>
                <a:ea typeface="宋体" panose="02010600030101010101" pitchFamily="2" charset="-122"/>
              </a:endParaRPr>
            </a:p>
          </p:txBody>
        </p:sp>
        <p:sp>
          <p:nvSpPr>
            <p:cNvPr id="79956" name="Oval 81"/>
            <p:cNvSpPr/>
            <p:nvPr/>
          </p:nvSpPr>
          <p:spPr>
            <a:xfrm>
              <a:off x="1973" y="1825"/>
              <a:ext cx="52" cy="52"/>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57" name="Oval 82"/>
            <p:cNvSpPr/>
            <p:nvPr/>
          </p:nvSpPr>
          <p:spPr>
            <a:xfrm>
              <a:off x="2877" y="1826"/>
              <a:ext cx="52" cy="52"/>
            </a:xfrm>
            <a:prstGeom prst="ellipse">
              <a:avLst/>
            </a:prstGeom>
            <a:solidFill>
              <a:srgbClr val="FFFFFF"/>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58" name="Oval 83"/>
            <p:cNvSpPr/>
            <p:nvPr/>
          </p:nvSpPr>
          <p:spPr>
            <a:xfrm>
              <a:off x="1163" y="2638"/>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79959" name="Oval 84"/>
            <p:cNvSpPr/>
            <p:nvPr/>
          </p:nvSpPr>
          <p:spPr>
            <a:xfrm>
              <a:off x="1163" y="2799"/>
              <a:ext cx="34" cy="34"/>
            </a:xfrm>
            <a:prstGeom prst="ellipse">
              <a:avLst/>
            </a:prstGeom>
            <a:solidFill>
              <a:srgbClr val="000000"/>
            </a:solidFill>
            <a:ln w="25400" cap="flat" cmpd="sng">
              <a:solidFill>
                <a:srgbClr val="000000"/>
              </a:solidFill>
              <a:prstDash val="soli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grpSp>
      <p:sp>
        <p:nvSpPr>
          <p:cNvPr id="79877" name="Text Box 86"/>
          <p:cNvSpPr txBox="1"/>
          <p:nvPr/>
        </p:nvSpPr>
        <p:spPr>
          <a:xfrm>
            <a:off x="395288" y="1196975"/>
            <a:ext cx="4573587" cy="476250"/>
          </a:xfrm>
          <a:prstGeom prst="rect">
            <a:avLst/>
          </a:prstGeom>
          <a:noFill/>
          <a:ln w="9525">
            <a:noFill/>
          </a:ln>
        </p:spPr>
        <p:txBody>
          <a:bodyPr>
            <a:spAutoFit/>
          </a:bodyPr>
          <a:p>
            <a:pPr eaLnBrk="1" hangingPunct="1">
              <a:lnSpc>
                <a:spcPct val="90000"/>
              </a:lnSpc>
              <a:spcBef>
                <a:spcPct val="50000"/>
              </a:spcBef>
            </a:pPr>
            <a:r>
              <a:rPr lang="en-US" altLang="zh-CN" sz="2800" dirty="0">
                <a:solidFill>
                  <a:srgbClr val="FF0000"/>
                </a:solidFill>
                <a:latin typeface="Times New Roman" panose="02020603050405020304" pitchFamily="18" charset="0"/>
                <a:ea typeface="黑体" panose="02010609060101010101" pitchFamily="49" charset="-122"/>
              </a:rPr>
              <a:t>DAC0832</a:t>
            </a:r>
            <a:r>
              <a:rPr lang="zh-CN" altLang="en-US" sz="2800" dirty="0">
                <a:solidFill>
                  <a:srgbClr val="FF0000"/>
                </a:solidFill>
                <a:latin typeface="黑体" panose="02010609060101010101" pitchFamily="49" charset="-122"/>
                <a:ea typeface="黑体" panose="02010609060101010101" pitchFamily="49" charset="-122"/>
              </a:rPr>
              <a:t>与微机的连接</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79878" name="Text Box 87"/>
          <p:cNvSpPr txBox="1"/>
          <p:nvPr/>
        </p:nvSpPr>
        <p:spPr>
          <a:xfrm>
            <a:off x="4500563" y="1125538"/>
            <a:ext cx="3492500" cy="519112"/>
          </a:xfrm>
          <a:prstGeom prst="rect">
            <a:avLst/>
          </a:prstGeom>
          <a:noFill/>
          <a:ln w="9525">
            <a:noFill/>
          </a:ln>
        </p:spPr>
        <p:txBody>
          <a:bodyPr>
            <a:spAutoFit/>
          </a:bodyPr>
          <a:p>
            <a:pPr eaLnBrk="1" hangingPunct="1">
              <a:spcAft>
                <a:spcPct val="30000"/>
              </a:spcAft>
              <a:buClr>
                <a:srgbClr val="FF00FF"/>
              </a:buClr>
              <a:buSzPct val="90000"/>
              <a:buFont typeface="Monotype Sorts" pitchFamily="2" charset="2"/>
            </a:pPr>
            <a:r>
              <a:rPr lang="en-US" altLang="zh-CN" sz="2800" dirty="0">
                <a:solidFill>
                  <a:srgbClr val="000099"/>
                </a:solidFill>
                <a:latin typeface="Times New Roman" panose="02020603050405020304" pitchFamily="18" charset="0"/>
              </a:rPr>
              <a:t>2)</a:t>
            </a:r>
            <a:r>
              <a:rPr lang="zh-CN" altLang="en-US" sz="2800" dirty="0">
                <a:solidFill>
                  <a:srgbClr val="000099"/>
                </a:solidFill>
                <a:latin typeface="Times New Roman" panose="02020603050405020304" pitchFamily="18" charset="0"/>
              </a:rPr>
              <a:t>双缓冲工作方式</a:t>
            </a:r>
            <a:endParaRPr lang="zh-CN" altLang="en-US" sz="2400" dirty="0">
              <a:solidFill>
                <a:srgbClr val="000099"/>
              </a:solidFill>
              <a:latin typeface="Times New Roman" panose="02020603050405020304" pitchFamily="18" charset="0"/>
            </a:endParaRPr>
          </a:p>
        </p:txBody>
      </p:sp>
      <p:sp>
        <p:nvSpPr>
          <p:cNvPr id="79879" name="Rectangle 90"/>
          <p:cNvSpPr/>
          <p:nvPr/>
        </p:nvSpPr>
        <p:spPr>
          <a:xfrm>
            <a:off x="395288" y="2005013"/>
            <a:ext cx="8424862" cy="4232275"/>
          </a:xfrm>
          <a:prstGeom prst="rect">
            <a:avLst/>
          </a:prstGeom>
          <a:solidFill>
            <a:schemeClr val="bg1"/>
          </a:solidFill>
          <a:ln w="9525">
            <a:noFill/>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pic>
        <p:nvPicPr>
          <p:cNvPr id="2512981" name="Picture 85"/>
          <p:cNvPicPr>
            <a:picLocks noChangeAspect="1"/>
          </p:cNvPicPr>
          <p:nvPr/>
        </p:nvPicPr>
        <p:blipFill>
          <a:blip r:embed="rId1"/>
          <a:stretch>
            <a:fillRect/>
          </a:stretch>
        </p:blipFill>
        <p:spPr>
          <a:xfrm>
            <a:off x="1017588" y="2076450"/>
            <a:ext cx="7083425" cy="4089400"/>
          </a:xfrm>
          <a:prstGeom prst="rect">
            <a:avLst/>
          </a:prstGeom>
          <a:noFill/>
          <a:ln w="9525">
            <a:noFill/>
          </a:ln>
        </p:spPr>
      </p:pic>
      <p:sp>
        <p:nvSpPr>
          <p:cNvPr id="2512985" name="Text Box 89"/>
          <p:cNvSpPr txBox="1"/>
          <p:nvPr/>
        </p:nvSpPr>
        <p:spPr>
          <a:xfrm>
            <a:off x="815975" y="1700213"/>
            <a:ext cx="7427913" cy="365125"/>
          </a:xfrm>
          <a:prstGeom prst="rect">
            <a:avLst/>
          </a:prstGeom>
          <a:solidFill>
            <a:srgbClr val="CCFFCC"/>
          </a:solidFill>
          <a:ln w="38100">
            <a:noFill/>
          </a:ln>
        </p:spPr>
        <p:txBody>
          <a:bodyPr lIns="0" tIns="0" rIns="0" bIns="0">
            <a:spAutoFit/>
          </a:bodyPr>
          <a:p>
            <a:pPr eaLnBrk="1" hangingPunct="1"/>
            <a:r>
              <a:rPr lang="zh-CN" altLang="en-US" sz="2400" dirty="0">
                <a:solidFill>
                  <a:srgbClr val="000099"/>
                </a:solidFill>
                <a:latin typeface="黑体" panose="02010609060101010101" pitchFamily="49" charset="-122"/>
                <a:ea typeface="黑体" panose="02010609060101010101" pitchFamily="49" charset="-122"/>
              </a:rPr>
              <a:t>当要求多个模拟量同时输出时，可采用双重缓冲方式。</a:t>
            </a:r>
            <a:endParaRPr lang="zh-CN" altLang="en-US" sz="2400" dirty="0">
              <a:solidFill>
                <a:srgbClr val="000099"/>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12985"/>
                                        </p:tgtEl>
                                        <p:attrNameLst>
                                          <p:attrName>style.visibility</p:attrName>
                                        </p:attrNameLst>
                                      </p:cBhvr>
                                      <p:to>
                                        <p:strVal val="visible"/>
                                      </p:to>
                                    </p:set>
                                    <p:animEffect transition="in" filter="dissolve">
                                      <p:cBhvr>
                                        <p:cTn id="7" dur="500"/>
                                        <p:tgtEl>
                                          <p:spTgt spid="25129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12981"/>
                                        </p:tgtEl>
                                        <p:attrNameLst>
                                          <p:attrName>style.visibility</p:attrName>
                                        </p:attrNameLst>
                                      </p:cBhvr>
                                      <p:to>
                                        <p:strVal val="visible"/>
                                      </p:to>
                                    </p:set>
                                    <p:animEffect transition="in" filter="dissolve">
                                      <p:cBhvr>
                                        <p:cTn id="12" dur="500"/>
                                        <p:tgtEl>
                                          <p:spTgt spid="25129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2985" grpId="0" bldLvl="0" animBg="1"/>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39522"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539523"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DAC1210</a:t>
            </a:r>
            <a:endParaRPr lang="en-US" altLang="zh-CN" sz="3200" dirty="0">
              <a:latin typeface="Times New Roman" panose="02020603050405020304" pitchFamily="18" charset="0"/>
            </a:endParaRPr>
          </a:p>
        </p:txBody>
      </p:sp>
      <p:sp>
        <p:nvSpPr>
          <p:cNvPr id="2539524" name="Text Box 4"/>
          <p:cNvSpPr txBox="1"/>
          <p:nvPr/>
        </p:nvSpPr>
        <p:spPr>
          <a:xfrm>
            <a:off x="179388" y="1474788"/>
            <a:ext cx="1476375" cy="585787"/>
          </a:xfrm>
          <a:prstGeom prst="rect">
            <a:avLst/>
          </a:prstGeom>
          <a:noFill/>
          <a:ln w="9525">
            <a:noFill/>
          </a:ln>
        </p:spPr>
        <p:txBody>
          <a:bodyPr>
            <a:spAutoFit/>
          </a:bodyPr>
          <a:p>
            <a:pPr eaLnBrk="1" hangingPunct="1">
              <a:lnSpc>
                <a:spcPct val="90000"/>
              </a:lnSpc>
              <a:spcBef>
                <a:spcPct val="50000"/>
              </a:spcBef>
            </a:pPr>
            <a:r>
              <a:rPr lang="zh-CN" altLang="en-US" dirty="0">
                <a:solidFill>
                  <a:srgbClr val="FF0000"/>
                </a:solidFill>
                <a:latin typeface="Times New Roman" panose="02020603050405020304" pitchFamily="18" charset="0"/>
              </a:rPr>
              <a:t>特点：</a:t>
            </a:r>
            <a:endParaRPr lang="zh-CN" altLang="en-US" dirty="0">
              <a:solidFill>
                <a:srgbClr val="FF0000"/>
              </a:solidFill>
              <a:latin typeface="Times New Roman" panose="02020603050405020304" pitchFamily="18" charset="0"/>
            </a:endParaRPr>
          </a:p>
        </p:txBody>
      </p:sp>
      <p:sp>
        <p:nvSpPr>
          <p:cNvPr id="2539525" name="Rectangle 5"/>
          <p:cNvSpPr/>
          <p:nvPr/>
        </p:nvSpPr>
        <p:spPr>
          <a:xfrm>
            <a:off x="287338" y="2074863"/>
            <a:ext cx="4789487" cy="3597275"/>
          </a:xfrm>
          <a:prstGeom prst="rect">
            <a:avLst/>
          </a:prstGeom>
          <a:noFill/>
          <a:ln w="9525">
            <a:noFill/>
          </a:ln>
        </p:spPr>
        <p:txBody>
          <a:bodyPr anchor="ctr" anchorCtr="0">
            <a:spAutoFit/>
          </a:bodyPr>
          <a:p>
            <a:pPr marL="447675" indent="-447675" eaLnBrk="1" hangingPunct="1">
              <a:lnSpc>
                <a:spcPct val="120000"/>
              </a:lnSpc>
              <a:buClr>
                <a:srgbClr val="FF0000"/>
              </a:buClr>
              <a:buFont typeface="Wingdings" panose="05000000000000000000" pitchFamily="2" charset="2"/>
              <a:buChar char="u"/>
            </a:pPr>
            <a:r>
              <a:rPr lang="en-US" altLang="zh-CN" sz="2400" dirty="0">
                <a:latin typeface="黑体" panose="02010609060101010101" pitchFamily="49" charset="-122"/>
                <a:ea typeface="黑体" panose="02010609060101010101" pitchFamily="49" charset="-122"/>
              </a:rPr>
              <a:t>12</a:t>
            </a:r>
            <a:r>
              <a:rPr lang="zh-CN" altLang="en-US" sz="2400" dirty="0">
                <a:latin typeface="黑体" panose="02010609060101010101" pitchFamily="49" charset="-122"/>
                <a:ea typeface="黑体" panose="02010609060101010101" pitchFamily="49" charset="-122"/>
              </a:rPr>
              <a:t>位分辨率的</a:t>
            </a:r>
            <a:r>
              <a:rPr lang="en-US" altLang="zh-CN" sz="2400" dirty="0">
                <a:latin typeface="Times New Roman" panose="02020603050405020304" pitchFamily="18" charset="0"/>
                <a:ea typeface="黑体" panose="02010609060101010101" pitchFamily="49" charset="-122"/>
              </a:rPr>
              <a:t>D/A</a:t>
            </a:r>
            <a:r>
              <a:rPr lang="zh-CN" altLang="en-US" sz="2400" dirty="0">
                <a:latin typeface="黑体" panose="02010609060101010101" pitchFamily="49" charset="-122"/>
                <a:ea typeface="黑体" panose="02010609060101010101" pitchFamily="49" charset="-122"/>
              </a:rPr>
              <a:t>转换集成芯片；</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具有三个独立寻址的寄存器组成两级缓冲器；</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芯片内有</a:t>
            </a:r>
            <a:r>
              <a:rPr lang="en-US" altLang="zh-CN" sz="2400" dirty="0">
                <a:latin typeface="Times New Roman" panose="02020603050405020304" pitchFamily="18" charset="0"/>
                <a:ea typeface="黑体" panose="02010609060101010101" pitchFamily="49" charset="-122"/>
              </a:rPr>
              <a:t>T</a:t>
            </a:r>
            <a:r>
              <a:rPr lang="zh-CN" altLang="en-US" sz="2400" dirty="0">
                <a:latin typeface="黑体" panose="02010609060101010101" pitchFamily="49" charset="-122"/>
                <a:ea typeface="黑体" panose="02010609060101010101" pitchFamily="49" charset="-122"/>
              </a:rPr>
              <a:t>型电阻网络；</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电流稳定时间</a:t>
            </a:r>
            <a:r>
              <a:rPr lang="en-US" altLang="zh-CN" sz="2400" dirty="0">
                <a:latin typeface="Times New Roman" panose="02020603050405020304" pitchFamily="18" charset="0"/>
                <a:ea typeface="黑体" panose="02010609060101010101" pitchFamily="49" charset="-122"/>
              </a:rPr>
              <a:t>1us</a:t>
            </a:r>
            <a:r>
              <a:rPr lang="zh-CN" altLang="en-US" sz="2400" dirty="0">
                <a:latin typeface="Times New Roman" panose="02020603050405020304" pitchFamily="18" charset="0"/>
                <a:ea typeface="黑体" panose="02010609060101010101" pitchFamily="49" charset="-122"/>
              </a:rPr>
              <a:t>，属于中速</a:t>
            </a:r>
            <a:r>
              <a:rPr lang="zh-CN" altLang="en-US" sz="2400" dirty="0">
                <a:latin typeface="黑体" panose="02010609060101010101" pitchFamily="49" charset="-122"/>
                <a:ea typeface="黑体" panose="02010609060101010101" pitchFamily="49" charset="-122"/>
              </a:rPr>
              <a:t>；</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单一电源供电（</a:t>
            </a:r>
            <a:r>
              <a:rPr lang="en-US" altLang="zh-CN" sz="2400" dirty="0">
                <a:latin typeface="黑体" panose="02010609060101010101" pitchFamily="49" charset="-122"/>
                <a:ea typeface="黑体" panose="02010609060101010101" pitchFamily="49" charset="-122"/>
              </a:rPr>
              <a:t>+5V</a:t>
            </a:r>
            <a:r>
              <a:rPr lang="zh-CN" altLang="en-US" sz="2400" dirty="0">
                <a:latin typeface="黑体" panose="02010609060101010101" pitchFamily="49" charset="-122"/>
                <a:ea typeface="黑体" panose="02010609060101010101" pitchFamily="49" charset="-122"/>
              </a:rPr>
              <a:t>～</a:t>
            </a:r>
            <a:r>
              <a:rPr lang="en-US" altLang="zh-CN" sz="2400" dirty="0">
                <a:latin typeface="黑体" panose="02010609060101010101" pitchFamily="49" charset="-122"/>
                <a:ea typeface="黑体" panose="02010609060101010101" pitchFamily="49" charset="-122"/>
              </a:rPr>
              <a:t>+15V</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低功耗，</a:t>
            </a:r>
            <a:r>
              <a:rPr lang="en-US" altLang="zh-CN" sz="2400" dirty="0">
                <a:latin typeface="Times New Roman" panose="02020603050405020304" pitchFamily="18" charset="0"/>
                <a:ea typeface="黑体" panose="02010609060101010101" pitchFamily="49" charset="-122"/>
              </a:rPr>
              <a:t>20mW</a:t>
            </a:r>
            <a:r>
              <a:rPr lang="zh-CN" altLang="en-US" sz="2400" dirty="0">
                <a:latin typeface="黑体" panose="02010609060101010101" pitchFamily="49" charset="-122"/>
                <a:ea typeface="黑体" panose="02010609060101010101" pitchFamily="49" charset="-122"/>
              </a:rPr>
              <a:t>。   </a:t>
            </a:r>
            <a:endParaRPr lang="zh-CN" altLang="en-US" sz="2400" dirty="0">
              <a:latin typeface="黑体" panose="02010609060101010101" pitchFamily="49" charset="-122"/>
              <a:ea typeface="黑体" panose="02010609060101010101" pitchFamily="49" charset="-122"/>
            </a:endParaRPr>
          </a:p>
        </p:txBody>
      </p:sp>
      <p:sp>
        <p:nvSpPr>
          <p:cNvPr id="2539530" name="Text Box 10"/>
          <p:cNvSpPr txBox="1"/>
          <p:nvPr/>
        </p:nvSpPr>
        <p:spPr>
          <a:xfrm>
            <a:off x="3492500" y="1125538"/>
            <a:ext cx="3995738" cy="585787"/>
          </a:xfrm>
          <a:prstGeom prst="rect">
            <a:avLst/>
          </a:prstGeom>
          <a:solidFill>
            <a:srgbClr val="CCFFCC"/>
          </a:solidFill>
          <a:ln w="9525">
            <a:noFill/>
          </a:ln>
        </p:spPr>
        <p:txBody>
          <a:bodyPr>
            <a:spAutoFit/>
          </a:bodyPr>
          <a:p>
            <a:pPr eaLnBrk="1" hangingPunct="1">
              <a:lnSpc>
                <a:spcPct val="90000"/>
              </a:lnSpc>
              <a:spcBef>
                <a:spcPct val="50000"/>
              </a:spcBef>
            </a:pPr>
            <a:r>
              <a:rPr lang="zh-CN" altLang="en-US" dirty="0">
                <a:solidFill>
                  <a:schemeClr val="tx1"/>
                </a:solidFill>
                <a:latin typeface="Times New Roman" panose="02020603050405020304" pitchFamily="18" charset="0"/>
              </a:rPr>
              <a:t>和</a:t>
            </a:r>
            <a:r>
              <a:rPr lang="en-US" altLang="zh-CN" dirty="0">
                <a:solidFill>
                  <a:schemeClr val="tx1"/>
                </a:solidFill>
                <a:latin typeface="Times New Roman" panose="02020603050405020304" pitchFamily="18" charset="0"/>
              </a:rPr>
              <a:t>DAC0832</a:t>
            </a:r>
            <a:r>
              <a:rPr lang="zh-CN" altLang="en-US" dirty="0">
                <a:solidFill>
                  <a:schemeClr val="tx1"/>
                </a:solidFill>
                <a:latin typeface="Times New Roman" panose="02020603050405020304" pitchFamily="18" charset="0"/>
              </a:rPr>
              <a:t>类似。</a:t>
            </a:r>
            <a:endParaRPr lang="zh-CN" altLang="en-US" dirty="0">
              <a:solidFill>
                <a:schemeClr val="tx1"/>
              </a:solidFill>
              <a:latin typeface="Times New Roman" panose="02020603050405020304" pitchFamily="18" charset="0"/>
            </a:endParaRPr>
          </a:p>
        </p:txBody>
      </p:sp>
      <p:grpSp>
        <p:nvGrpSpPr>
          <p:cNvPr id="2539590" name="Group 70"/>
          <p:cNvGrpSpPr/>
          <p:nvPr/>
        </p:nvGrpSpPr>
        <p:grpSpPr>
          <a:xfrm>
            <a:off x="5076825" y="2205038"/>
            <a:ext cx="4064000" cy="3095625"/>
            <a:chOff x="3198" y="1389"/>
            <a:chExt cx="2560" cy="1950"/>
          </a:xfrm>
        </p:grpSpPr>
        <p:sp>
          <p:nvSpPr>
            <p:cNvPr id="81928" name="Rectangle 12"/>
            <p:cNvSpPr/>
            <p:nvPr/>
          </p:nvSpPr>
          <p:spPr>
            <a:xfrm>
              <a:off x="3861" y="1389"/>
              <a:ext cx="765" cy="1950"/>
            </a:xfrm>
            <a:prstGeom prst="rect">
              <a:avLst/>
            </a:prstGeom>
            <a:solidFill>
              <a:srgbClr val="FFCC99"/>
            </a:solidFill>
            <a:ln w="25400" cap="flat" cmpd="sng">
              <a:solidFill>
                <a:srgbClr val="000080"/>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81929" name="Line 13"/>
            <p:cNvSpPr/>
            <p:nvPr/>
          </p:nvSpPr>
          <p:spPr>
            <a:xfrm>
              <a:off x="3657" y="1546"/>
              <a:ext cx="204" cy="0"/>
            </a:xfrm>
            <a:prstGeom prst="line">
              <a:avLst/>
            </a:prstGeom>
            <a:ln w="25400" cap="flat" cmpd="sng">
              <a:solidFill>
                <a:schemeClr val="tx1"/>
              </a:solidFill>
              <a:prstDash val="solid"/>
              <a:headEnd type="none" w="med" len="med"/>
              <a:tailEnd type="none" w="med" len="med"/>
            </a:ln>
          </p:spPr>
        </p:sp>
        <p:sp>
          <p:nvSpPr>
            <p:cNvPr id="81930" name="Text Box 14"/>
            <p:cNvSpPr txBox="1"/>
            <p:nvPr/>
          </p:nvSpPr>
          <p:spPr>
            <a:xfrm>
              <a:off x="3407" y="1453"/>
              <a:ext cx="386"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CS</a:t>
              </a:r>
              <a:endParaRPr lang="en-US" altLang="zh-CN" sz="1600" dirty="0">
                <a:solidFill>
                  <a:schemeClr val="tx1"/>
                </a:solidFill>
                <a:latin typeface="Times New Roman" panose="02020603050405020304" pitchFamily="18" charset="0"/>
              </a:endParaRPr>
            </a:p>
          </p:txBody>
        </p:sp>
        <p:sp>
          <p:nvSpPr>
            <p:cNvPr id="81931" name="Line 15"/>
            <p:cNvSpPr/>
            <p:nvPr/>
          </p:nvSpPr>
          <p:spPr>
            <a:xfrm>
              <a:off x="3657" y="1700"/>
              <a:ext cx="204" cy="0"/>
            </a:xfrm>
            <a:prstGeom prst="line">
              <a:avLst/>
            </a:prstGeom>
            <a:ln w="25400" cap="flat" cmpd="sng">
              <a:solidFill>
                <a:schemeClr val="tx1"/>
              </a:solidFill>
              <a:prstDash val="solid"/>
              <a:headEnd type="none" w="med" len="med"/>
              <a:tailEnd type="none" w="med" len="med"/>
            </a:ln>
          </p:spPr>
        </p:sp>
        <p:sp>
          <p:nvSpPr>
            <p:cNvPr id="81932" name="Text Box 16"/>
            <p:cNvSpPr txBox="1"/>
            <p:nvPr/>
          </p:nvSpPr>
          <p:spPr>
            <a:xfrm>
              <a:off x="3294" y="1609"/>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WR1</a:t>
              </a:r>
              <a:endParaRPr lang="en-US" altLang="zh-CN" sz="1600" dirty="0">
                <a:solidFill>
                  <a:schemeClr val="tx1"/>
                </a:solidFill>
                <a:latin typeface="Times New Roman" panose="02020603050405020304" pitchFamily="18" charset="0"/>
              </a:endParaRPr>
            </a:p>
          </p:txBody>
        </p:sp>
        <p:sp>
          <p:nvSpPr>
            <p:cNvPr id="81933" name="Line 17"/>
            <p:cNvSpPr/>
            <p:nvPr/>
          </p:nvSpPr>
          <p:spPr>
            <a:xfrm>
              <a:off x="3657" y="1843"/>
              <a:ext cx="204" cy="0"/>
            </a:xfrm>
            <a:prstGeom prst="line">
              <a:avLst/>
            </a:prstGeom>
            <a:ln w="25400" cap="flat" cmpd="sng">
              <a:solidFill>
                <a:schemeClr val="tx1"/>
              </a:solidFill>
              <a:prstDash val="solid"/>
              <a:headEnd type="none" w="med" len="med"/>
              <a:tailEnd type="none" w="med" len="med"/>
            </a:ln>
          </p:spPr>
        </p:sp>
        <p:sp>
          <p:nvSpPr>
            <p:cNvPr id="81934" name="Text Box 18"/>
            <p:cNvSpPr txBox="1"/>
            <p:nvPr/>
          </p:nvSpPr>
          <p:spPr>
            <a:xfrm>
              <a:off x="3198" y="1752"/>
              <a:ext cx="499"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AGND</a:t>
              </a:r>
              <a:endParaRPr lang="en-US" altLang="zh-CN" sz="1600" dirty="0">
                <a:solidFill>
                  <a:schemeClr val="tx1"/>
                </a:solidFill>
                <a:latin typeface="Times New Roman" panose="02020603050405020304" pitchFamily="18" charset="0"/>
              </a:endParaRPr>
            </a:p>
          </p:txBody>
        </p:sp>
        <p:sp>
          <p:nvSpPr>
            <p:cNvPr id="81935" name="Line 19"/>
            <p:cNvSpPr/>
            <p:nvPr/>
          </p:nvSpPr>
          <p:spPr>
            <a:xfrm>
              <a:off x="3657" y="1986"/>
              <a:ext cx="204" cy="0"/>
            </a:xfrm>
            <a:prstGeom prst="line">
              <a:avLst/>
            </a:prstGeom>
            <a:ln w="25400" cap="flat" cmpd="sng">
              <a:solidFill>
                <a:schemeClr val="tx1"/>
              </a:solidFill>
              <a:prstDash val="solid"/>
              <a:headEnd type="none" w="med" len="med"/>
              <a:tailEnd type="none" w="med" len="med"/>
            </a:ln>
          </p:spPr>
        </p:sp>
        <p:sp>
          <p:nvSpPr>
            <p:cNvPr id="81936" name="Text Box 20"/>
            <p:cNvSpPr txBox="1"/>
            <p:nvPr/>
          </p:nvSpPr>
          <p:spPr>
            <a:xfrm>
              <a:off x="3384" y="1895"/>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5</a:t>
              </a:r>
              <a:endParaRPr lang="en-US" altLang="zh-CN" sz="1600" baseline="-25000" dirty="0">
                <a:solidFill>
                  <a:schemeClr val="tx1"/>
                </a:solidFill>
                <a:latin typeface="Times New Roman" panose="02020603050405020304" pitchFamily="18" charset="0"/>
              </a:endParaRPr>
            </a:p>
          </p:txBody>
        </p:sp>
        <p:sp>
          <p:nvSpPr>
            <p:cNvPr id="81937" name="Line 21"/>
            <p:cNvSpPr/>
            <p:nvPr/>
          </p:nvSpPr>
          <p:spPr>
            <a:xfrm>
              <a:off x="3658" y="2138"/>
              <a:ext cx="204" cy="0"/>
            </a:xfrm>
            <a:prstGeom prst="line">
              <a:avLst/>
            </a:prstGeom>
            <a:ln w="25400" cap="flat" cmpd="sng">
              <a:solidFill>
                <a:schemeClr val="tx1"/>
              </a:solidFill>
              <a:prstDash val="solid"/>
              <a:headEnd type="none" w="med" len="med"/>
              <a:tailEnd type="none" w="med" len="med"/>
            </a:ln>
          </p:spPr>
        </p:sp>
        <p:sp>
          <p:nvSpPr>
            <p:cNvPr id="81938" name="Text Box 22"/>
            <p:cNvSpPr txBox="1"/>
            <p:nvPr/>
          </p:nvSpPr>
          <p:spPr>
            <a:xfrm>
              <a:off x="3385" y="2047"/>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4</a:t>
              </a:r>
              <a:endParaRPr lang="en-US" altLang="zh-CN" sz="1600" baseline="-25000" dirty="0">
                <a:solidFill>
                  <a:schemeClr val="tx1"/>
                </a:solidFill>
                <a:latin typeface="Times New Roman" panose="02020603050405020304" pitchFamily="18" charset="0"/>
              </a:endParaRPr>
            </a:p>
          </p:txBody>
        </p:sp>
        <p:sp>
          <p:nvSpPr>
            <p:cNvPr id="81939" name="Line 23"/>
            <p:cNvSpPr/>
            <p:nvPr/>
          </p:nvSpPr>
          <p:spPr>
            <a:xfrm>
              <a:off x="3656" y="2288"/>
              <a:ext cx="204" cy="0"/>
            </a:xfrm>
            <a:prstGeom prst="line">
              <a:avLst/>
            </a:prstGeom>
            <a:ln w="25400" cap="flat" cmpd="sng">
              <a:solidFill>
                <a:schemeClr val="tx1"/>
              </a:solidFill>
              <a:prstDash val="solid"/>
              <a:headEnd type="none" w="med" len="med"/>
              <a:tailEnd type="none" w="med" len="med"/>
            </a:ln>
          </p:spPr>
        </p:sp>
        <p:sp>
          <p:nvSpPr>
            <p:cNvPr id="81940" name="Text Box 24"/>
            <p:cNvSpPr txBox="1"/>
            <p:nvPr/>
          </p:nvSpPr>
          <p:spPr>
            <a:xfrm>
              <a:off x="3383" y="2197"/>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3</a:t>
              </a:r>
              <a:endParaRPr lang="en-US" altLang="zh-CN" sz="1600" baseline="-25000" dirty="0">
                <a:solidFill>
                  <a:schemeClr val="tx1"/>
                </a:solidFill>
                <a:latin typeface="Times New Roman" panose="02020603050405020304" pitchFamily="18" charset="0"/>
              </a:endParaRPr>
            </a:p>
          </p:txBody>
        </p:sp>
        <p:sp>
          <p:nvSpPr>
            <p:cNvPr id="81941" name="Line 25"/>
            <p:cNvSpPr/>
            <p:nvPr/>
          </p:nvSpPr>
          <p:spPr>
            <a:xfrm>
              <a:off x="3657" y="2440"/>
              <a:ext cx="204" cy="0"/>
            </a:xfrm>
            <a:prstGeom prst="line">
              <a:avLst/>
            </a:prstGeom>
            <a:ln w="25400" cap="flat" cmpd="sng">
              <a:solidFill>
                <a:schemeClr val="tx1"/>
              </a:solidFill>
              <a:prstDash val="solid"/>
              <a:headEnd type="none" w="med" len="med"/>
              <a:tailEnd type="none" w="med" len="med"/>
            </a:ln>
          </p:spPr>
        </p:sp>
        <p:sp>
          <p:nvSpPr>
            <p:cNvPr id="81942" name="Text Box 26"/>
            <p:cNvSpPr txBox="1"/>
            <p:nvPr/>
          </p:nvSpPr>
          <p:spPr>
            <a:xfrm>
              <a:off x="3384" y="2349"/>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2</a:t>
              </a:r>
              <a:endParaRPr lang="en-US" altLang="zh-CN" sz="1600" baseline="-25000" dirty="0">
                <a:solidFill>
                  <a:schemeClr val="tx1"/>
                </a:solidFill>
                <a:latin typeface="Times New Roman" panose="02020603050405020304" pitchFamily="18" charset="0"/>
              </a:endParaRPr>
            </a:p>
          </p:txBody>
        </p:sp>
        <p:sp>
          <p:nvSpPr>
            <p:cNvPr id="81943" name="Line 27"/>
            <p:cNvSpPr/>
            <p:nvPr/>
          </p:nvSpPr>
          <p:spPr>
            <a:xfrm>
              <a:off x="3658" y="2583"/>
              <a:ext cx="204" cy="0"/>
            </a:xfrm>
            <a:prstGeom prst="line">
              <a:avLst/>
            </a:prstGeom>
            <a:ln w="25400" cap="flat" cmpd="sng">
              <a:solidFill>
                <a:schemeClr val="tx1"/>
              </a:solidFill>
              <a:prstDash val="solid"/>
              <a:headEnd type="none" w="med" len="med"/>
              <a:tailEnd type="none" w="med" len="med"/>
            </a:ln>
          </p:spPr>
        </p:sp>
        <p:sp>
          <p:nvSpPr>
            <p:cNvPr id="81944" name="Text Box 28"/>
            <p:cNvSpPr txBox="1"/>
            <p:nvPr/>
          </p:nvSpPr>
          <p:spPr>
            <a:xfrm>
              <a:off x="3385" y="2492"/>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1</a:t>
              </a:r>
              <a:endParaRPr lang="en-US" altLang="zh-CN" sz="1600" baseline="-25000" dirty="0">
                <a:solidFill>
                  <a:schemeClr val="tx1"/>
                </a:solidFill>
                <a:latin typeface="Times New Roman" panose="02020603050405020304" pitchFamily="18" charset="0"/>
              </a:endParaRPr>
            </a:p>
          </p:txBody>
        </p:sp>
        <p:sp>
          <p:nvSpPr>
            <p:cNvPr id="81945" name="Line 29"/>
            <p:cNvSpPr/>
            <p:nvPr/>
          </p:nvSpPr>
          <p:spPr>
            <a:xfrm>
              <a:off x="3659" y="2735"/>
              <a:ext cx="204" cy="0"/>
            </a:xfrm>
            <a:prstGeom prst="line">
              <a:avLst/>
            </a:prstGeom>
            <a:ln w="25400" cap="flat" cmpd="sng">
              <a:solidFill>
                <a:schemeClr val="tx1"/>
              </a:solidFill>
              <a:prstDash val="solid"/>
              <a:headEnd type="none" w="med" len="med"/>
              <a:tailEnd type="none" w="med" len="med"/>
            </a:ln>
          </p:spPr>
        </p:sp>
        <p:sp>
          <p:nvSpPr>
            <p:cNvPr id="81946" name="Text Box 30"/>
            <p:cNvSpPr txBox="1"/>
            <p:nvPr/>
          </p:nvSpPr>
          <p:spPr>
            <a:xfrm>
              <a:off x="3386" y="2644"/>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p:txBody>
        </p:sp>
        <p:sp>
          <p:nvSpPr>
            <p:cNvPr id="81947" name="Line 31"/>
            <p:cNvSpPr/>
            <p:nvPr/>
          </p:nvSpPr>
          <p:spPr>
            <a:xfrm>
              <a:off x="3656" y="2878"/>
              <a:ext cx="204" cy="0"/>
            </a:xfrm>
            <a:prstGeom prst="line">
              <a:avLst/>
            </a:prstGeom>
            <a:ln w="25400" cap="flat" cmpd="sng">
              <a:solidFill>
                <a:schemeClr val="tx1"/>
              </a:solidFill>
              <a:prstDash val="solid"/>
              <a:headEnd type="none" w="med" len="med"/>
              <a:tailEnd type="none" w="med" len="med"/>
            </a:ln>
          </p:spPr>
        </p:sp>
        <p:sp>
          <p:nvSpPr>
            <p:cNvPr id="81948" name="Text Box 32"/>
            <p:cNvSpPr txBox="1"/>
            <p:nvPr/>
          </p:nvSpPr>
          <p:spPr>
            <a:xfrm>
              <a:off x="3316" y="2787"/>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V</a:t>
              </a:r>
              <a:r>
                <a:rPr lang="en-US" altLang="zh-CN" sz="1600" baseline="-25000" dirty="0">
                  <a:solidFill>
                    <a:schemeClr val="tx1"/>
                  </a:solidFill>
                  <a:latin typeface="Times New Roman" panose="02020603050405020304" pitchFamily="18" charset="0"/>
                </a:rPr>
                <a:t>REF</a:t>
              </a:r>
              <a:endParaRPr lang="en-US" altLang="zh-CN" sz="1600" baseline="-25000" dirty="0">
                <a:solidFill>
                  <a:schemeClr val="tx1"/>
                </a:solidFill>
                <a:latin typeface="Times New Roman" panose="02020603050405020304" pitchFamily="18" charset="0"/>
              </a:endParaRPr>
            </a:p>
          </p:txBody>
        </p:sp>
        <p:sp>
          <p:nvSpPr>
            <p:cNvPr id="81949" name="Line 33"/>
            <p:cNvSpPr/>
            <p:nvPr/>
          </p:nvSpPr>
          <p:spPr>
            <a:xfrm>
              <a:off x="3657" y="3030"/>
              <a:ext cx="204" cy="0"/>
            </a:xfrm>
            <a:prstGeom prst="line">
              <a:avLst/>
            </a:prstGeom>
            <a:ln w="25400" cap="flat" cmpd="sng">
              <a:solidFill>
                <a:schemeClr val="tx1"/>
              </a:solidFill>
              <a:prstDash val="solid"/>
              <a:headEnd type="none" w="med" len="med"/>
              <a:tailEnd type="none" w="med" len="med"/>
            </a:ln>
          </p:spPr>
        </p:sp>
        <p:sp>
          <p:nvSpPr>
            <p:cNvPr id="81950" name="Text Box 34"/>
            <p:cNvSpPr txBox="1"/>
            <p:nvPr/>
          </p:nvSpPr>
          <p:spPr>
            <a:xfrm>
              <a:off x="3384" y="2939"/>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R</a:t>
              </a:r>
              <a:r>
                <a:rPr lang="en-US" altLang="zh-CN" sz="1600" baseline="-25000" dirty="0">
                  <a:solidFill>
                    <a:schemeClr val="tx1"/>
                  </a:solidFill>
                  <a:latin typeface="Times New Roman" panose="02020603050405020304" pitchFamily="18" charset="0"/>
                </a:rPr>
                <a:t>FB</a:t>
              </a:r>
              <a:endParaRPr lang="en-US" altLang="zh-CN" sz="1600" baseline="-25000" dirty="0">
                <a:solidFill>
                  <a:schemeClr val="tx1"/>
                </a:solidFill>
                <a:latin typeface="Times New Roman" panose="02020603050405020304" pitchFamily="18" charset="0"/>
              </a:endParaRPr>
            </a:p>
          </p:txBody>
        </p:sp>
        <p:sp>
          <p:nvSpPr>
            <p:cNvPr id="81951" name="Line 35"/>
            <p:cNvSpPr/>
            <p:nvPr/>
          </p:nvSpPr>
          <p:spPr>
            <a:xfrm>
              <a:off x="3658" y="3188"/>
              <a:ext cx="204" cy="0"/>
            </a:xfrm>
            <a:prstGeom prst="line">
              <a:avLst/>
            </a:prstGeom>
            <a:ln w="25400" cap="flat" cmpd="sng">
              <a:solidFill>
                <a:schemeClr val="tx1"/>
              </a:solidFill>
              <a:prstDash val="solid"/>
              <a:headEnd type="none" w="med" len="med"/>
              <a:tailEnd type="none" w="med" len="med"/>
            </a:ln>
          </p:spPr>
        </p:sp>
        <p:sp>
          <p:nvSpPr>
            <p:cNvPr id="81952" name="Text Box 36"/>
            <p:cNvSpPr txBox="1"/>
            <p:nvPr/>
          </p:nvSpPr>
          <p:spPr>
            <a:xfrm>
              <a:off x="3198" y="3097"/>
              <a:ext cx="545"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DGND</a:t>
              </a:r>
              <a:endParaRPr lang="en-US" altLang="zh-CN" sz="1600" baseline="-25000" dirty="0">
                <a:solidFill>
                  <a:schemeClr val="tx1"/>
                </a:solidFill>
                <a:latin typeface="Times New Roman" panose="02020603050405020304" pitchFamily="18" charset="0"/>
              </a:endParaRPr>
            </a:p>
          </p:txBody>
        </p:sp>
        <p:sp>
          <p:nvSpPr>
            <p:cNvPr id="81953" name="Line 37"/>
            <p:cNvSpPr/>
            <p:nvPr/>
          </p:nvSpPr>
          <p:spPr>
            <a:xfrm>
              <a:off x="4622" y="1545"/>
              <a:ext cx="204" cy="0"/>
            </a:xfrm>
            <a:prstGeom prst="line">
              <a:avLst/>
            </a:prstGeom>
            <a:ln w="25400" cap="flat" cmpd="sng">
              <a:solidFill>
                <a:schemeClr val="tx1"/>
              </a:solidFill>
              <a:prstDash val="solid"/>
              <a:headEnd type="none" w="med" len="med"/>
              <a:tailEnd type="none" w="med" len="med"/>
            </a:ln>
          </p:spPr>
        </p:sp>
        <p:sp>
          <p:nvSpPr>
            <p:cNvPr id="81954" name="Line 38"/>
            <p:cNvSpPr/>
            <p:nvPr/>
          </p:nvSpPr>
          <p:spPr>
            <a:xfrm>
              <a:off x="4622" y="1699"/>
              <a:ext cx="204" cy="0"/>
            </a:xfrm>
            <a:prstGeom prst="line">
              <a:avLst/>
            </a:prstGeom>
            <a:ln w="25400" cap="flat" cmpd="sng">
              <a:solidFill>
                <a:schemeClr val="tx1"/>
              </a:solidFill>
              <a:prstDash val="solid"/>
              <a:headEnd type="none" w="med" len="med"/>
              <a:tailEnd type="none" w="med" len="med"/>
            </a:ln>
          </p:spPr>
        </p:sp>
        <p:sp>
          <p:nvSpPr>
            <p:cNvPr id="81955" name="Line 39"/>
            <p:cNvSpPr/>
            <p:nvPr/>
          </p:nvSpPr>
          <p:spPr>
            <a:xfrm>
              <a:off x="4622" y="1842"/>
              <a:ext cx="204" cy="0"/>
            </a:xfrm>
            <a:prstGeom prst="line">
              <a:avLst/>
            </a:prstGeom>
            <a:ln w="25400" cap="flat" cmpd="sng">
              <a:solidFill>
                <a:schemeClr val="tx1"/>
              </a:solidFill>
              <a:prstDash val="solid"/>
              <a:headEnd type="none" w="med" len="med"/>
              <a:tailEnd type="none" w="med" len="med"/>
            </a:ln>
          </p:spPr>
        </p:sp>
        <p:sp>
          <p:nvSpPr>
            <p:cNvPr id="81956" name="Line 40"/>
            <p:cNvSpPr/>
            <p:nvPr/>
          </p:nvSpPr>
          <p:spPr>
            <a:xfrm>
              <a:off x="4622" y="1985"/>
              <a:ext cx="204" cy="0"/>
            </a:xfrm>
            <a:prstGeom prst="line">
              <a:avLst/>
            </a:prstGeom>
            <a:ln w="25400" cap="flat" cmpd="sng">
              <a:solidFill>
                <a:schemeClr val="tx1"/>
              </a:solidFill>
              <a:prstDash val="solid"/>
              <a:headEnd type="none" w="med" len="med"/>
              <a:tailEnd type="none" w="med" len="med"/>
            </a:ln>
          </p:spPr>
        </p:sp>
        <p:sp>
          <p:nvSpPr>
            <p:cNvPr id="81957" name="Line 41"/>
            <p:cNvSpPr/>
            <p:nvPr/>
          </p:nvSpPr>
          <p:spPr>
            <a:xfrm>
              <a:off x="4623" y="2137"/>
              <a:ext cx="204" cy="0"/>
            </a:xfrm>
            <a:prstGeom prst="line">
              <a:avLst/>
            </a:prstGeom>
            <a:ln w="25400" cap="flat" cmpd="sng">
              <a:solidFill>
                <a:schemeClr val="tx1"/>
              </a:solidFill>
              <a:prstDash val="solid"/>
              <a:headEnd type="none" w="med" len="med"/>
              <a:tailEnd type="none" w="med" len="med"/>
            </a:ln>
          </p:spPr>
        </p:sp>
        <p:sp>
          <p:nvSpPr>
            <p:cNvPr id="81958" name="Line 42"/>
            <p:cNvSpPr/>
            <p:nvPr/>
          </p:nvSpPr>
          <p:spPr>
            <a:xfrm>
              <a:off x="4621" y="2287"/>
              <a:ext cx="204" cy="0"/>
            </a:xfrm>
            <a:prstGeom prst="line">
              <a:avLst/>
            </a:prstGeom>
            <a:ln w="25400" cap="flat" cmpd="sng">
              <a:solidFill>
                <a:schemeClr val="tx1"/>
              </a:solidFill>
              <a:prstDash val="solid"/>
              <a:headEnd type="none" w="med" len="med"/>
              <a:tailEnd type="none" w="med" len="med"/>
            </a:ln>
          </p:spPr>
        </p:sp>
        <p:sp>
          <p:nvSpPr>
            <p:cNvPr id="81959" name="Line 43"/>
            <p:cNvSpPr/>
            <p:nvPr/>
          </p:nvSpPr>
          <p:spPr>
            <a:xfrm>
              <a:off x="4622" y="2439"/>
              <a:ext cx="204" cy="0"/>
            </a:xfrm>
            <a:prstGeom prst="line">
              <a:avLst/>
            </a:prstGeom>
            <a:ln w="25400" cap="flat" cmpd="sng">
              <a:solidFill>
                <a:schemeClr val="tx1"/>
              </a:solidFill>
              <a:prstDash val="solid"/>
              <a:headEnd type="none" w="med" len="med"/>
              <a:tailEnd type="none" w="med" len="med"/>
            </a:ln>
          </p:spPr>
        </p:sp>
        <p:sp>
          <p:nvSpPr>
            <p:cNvPr id="81960" name="Line 44"/>
            <p:cNvSpPr/>
            <p:nvPr/>
          </p:nvSpPr>
          <p:spPr>
            <a:xfrm>
              <a:off x="4623" y="2582"/>
              <a:ext cx="204" cy="0"/>
            </a:xfrm>
            <a:prstGeom prst="line">
              <a:avLst/>
            </a:prstGeom>
            <a:ln w="25400" cap="flat" cmpd="sng">
              <a:solidFill>
                <a:schemeClr val="tx1"/>
              </a:solidFill>
              <a:prstDash val="solid"/>
              <a:headEnd type="none" w="med" len="med"/>
              <a:tailEnd type="none" w="med" len="med"/>
            </a:ln>
          </p:spPr>
        </p:sp>
        <p:sp>
          <p:nvSpPr>
            <p:cNvPr id="81961" name="Line 45"/>
            <p:cNvSpPr/>
            <p:nvPr/>
          </p:nvSpPr>
          <p:spPr>
            <a:xfrm>
              <a:off x="4624" y="2734"/>
              <a:ext cx="204" cy="0"/>
            </a:xfrm>
            <a:prstGeom prst="line">
              <a:avLst/>
            </a:prstGeom>
            <a:ln w="25400" cap="flat" cmpd="sng">
              <a:solidFill>
                <a:schemeClr val="tx1"/>
              </a:solidFill>
              <a:prstDash val="solid"/>
              <a:headEnd type="none" w="med" len="med"/>
              <a:tailEnd type="none" w="med" len="med"/>
            </a:ln>
          </p:spPr>
        </p:sp>
        <p:sp>
          <p:nvSpPr>
            <p:cNvPr id="81962" name="Line 46"/>
            <p:cNvSpPr/>
            <p:nvPr/>
          </p:nvSpPr>
          <p:spPr>
            <a:xfrm>
              <a:off x="4621" y="2877"/>
              <a:ext cx="204" cy="0"/>
            </a:xfrm>
            <a:prstGeom prst="line">
              <a:avLst/>
            </a:prstGeom>
            <a:ln w="25400" cap="flat" cmpd="sng">
              <a:solidFill>
                <a:schemeClr val="tx1"/>
              </a:solidFill>
              <a:prstDash val="solid"/>
              <a:headEnd type="none" w="med" len="med"/>
              <a:tailEnd type="none" w="med" len="med"/>
            </a:ln>
          </p:spPr>
        </p:sp>
        <p:sp>
          <p:nvSpPr>
            <p:cNvPr id="81963" name="Line 47"/>
            <p:cNvSpPr/>
            <p:nvPr/>
          </p:nvSpPr>
          <p:spPr>
            <a:xfrm>
              <a:off x="4622" y="3029"/>
              <a:ext cx="204" cy="0"/>
            </a:xfrm>
            <a:prstGeom prst="line">
              <a:avLst/>
            </a:prstGeom>
            <a:ln w="25400" cap="flat" cmpd="sng">
              <a:solidFill>
                <a:schemeClr val="tx1"/>
              </a:solidFill>
              <a:prstDash val="solid"/>
              <a:headEnd type="none" w="med" len="med"/>
              <a:tailEnd type="none" w="med" len="med"/>
            </a:ln>
          </p:spPr>
        </p:sp>
        <p:sp>
          <p:nvSpPr>
            <p:cNvPr id="81964" name="Line 48"/>
            <p:cNvSpPr/>
            <p:nvPr/>
          </p:nvSpPr>
          <p:spPr>
            <a:xfrm>
              <a:off x="4623" y="3187"/>
              <a:ext cx="204" cy="0"/>
            </a:xfrm>
            <a:prstGeom prst="line">
              <a:avLst/>
            </a:prstGeom>
            <a:ln w="25400" cap="flat" cmpd="sng">
              <a:solidFill>
                <a:schemeClr val="tx1"/>
              </a:solidFill>
              <a:prstDash val="solid"/>
              <a:headEnd type="none" w="med" len="med"/>
              <a:tailEnd type="none" w="med" len="med"/>
            </a:ln>
          </p:spPr>
        </p:sp>
        <p:sp>
          <p:nvSpPr>
            <p:cNvPr id="81965" name="Text Box 49"/>
            <p:cNvSpPr txBox="1"/>
            <p:nvPr/>
          </p:nvSpPr>
          <p:spPr>
            <a:xfrm>
              <a:off x="4783" y="3088"/>
              <a:ext cx="545"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I</a:t>
              </a:r>
              <a:r>
                <a:rPr lang="en-US" altLang="zh-CN" sz="1600" baseline="-25000" dirty="0">
                  <a:solidFill>
                    <a:schemeClr val="tx1"/>
                  </a:solidFill>
                  <a:latin typeface="Times New Roman" panose="02020603050405020304" pitchFamily="18" charset="0"/>
                </a:rPr>
                <a:t>OUT1</a:t>
              </a:r>
              <a:endParaRPr lang="en-US" altLang="zh-CN" sz="1600" baseline="-25000" dirty="0">
                <a:solidFill>
                  <a:schemeClr val="tx1"/>
                </a:solidFill>
                <a:latin typeface="Times New Roman" panose="02020603050405020304" pitchFamily="18" charset="0"/>
              </a:endParaRPr>
            </a:p>
          </p:txBody>
        </p:sp>
        <p:sp>
          <p:nvSpPr>
            <p:cNvPr id="81966" name="Text Box 50"/>
            <p:cNvSpPr txBox="1"/>
            <p:nvPr/>
          </p:nvSpPr>
          <p:spPr>
            <a:xfrm>
              <a:off x="4783" y="2931"/>
              <a:ext cx="545"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I</a:t>
              </a:r>
              <a:r>
                <a:rPr lang="en-US" altLang="zh-CN" sz="1600" baseline="-25000" dirty="0">
                  <a:solidFill>
                    <a:schemeClr val="tx1"/>
                  </a:solidFill>
                  <a:latin typeface="Times New Roman" panose="02020603050405020304" pitchFamily="18" charset="0"/>
                </a:rPr>
                <a:t>OUT2</a:t>
              </a:r>
              <a:endParaRPr lang="en-US" altLang="zh-CN" sz="1600" baseline="-25000" dirty="0">
                <a:solidFill>
                  <a:schemeClr val="tx1"/>
                </a:solidFill>
                <a:latin typeface="Times New Roman" panose="02020603050405020304" pitchFamily="18" charset="0"/>
              </a:endParaRPr>
            </a:p>
          </p:txBody>
        </p:sp>
        <p:sp>
          <p:nvSpPr>
            <p:cNvPr id="81967" name="Text Box 51"/>
            <p:cNvSpPr txBox="1"/>
            <p:nvPr/>
          </p:nvSpPr>
          <p:spPr>
            <a:xfrm>
              <a:off x="4781" y="2008"/>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6</a:t>
              </a:r>
              <a:endParaRPr lang="en-US" altLang="zh-CN" sz="1600" baseline="-25000" dirty="0">
                <a:solidFill>
                  <a:schemeClr val="tx1"/>
                </a:solidFill>
                <a:latin typeface="Times New Roman" panose="02020603050405020304" pitchFamily="18" charset="0"/>
              </a:endParaRPr>
            </a:p>
          </p:txBody>
        </p:sp>
        <p:sp>
          <p:nvSpPr>
            <p:cNvPr id="81968" name="Text Box 52"/>
            <p:cNvSpPr txBox="1"/>
            <p:nvPr/>
          </p:nvSpPr>
          <p:spPr>
            <a:xfrm>
              <a:off x="4782" y="2160"/>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7</a:t>
              </a:r>
              <a:endParaRPr lang="en-US" altLang="zh-CN" sz="1600" baseline="-25000" dirty="0">
                <a:solidFill>
                  <a:schemeClr val="tx1"/>
                </a:solidFill>
                <a:latin typeface="Times New Roman" panose="02020603050405020304" pitchFamily="18" charset="0"/>
              </a:endParaRPr>
            </a:p>
          </p:txBody>
        </p:sp>
        <p:sp>
          <p:nvSpPr>
            <p:cNvPr id="81969" name="Text Box 53"/>
            <p:cNvSpPr txBox="1"/>
            <p:nvPr/>
          </p:nvSpPr>
          <p:spPr>
            <a:xfrm>
              <a:off x="4780" y="2310"/>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8</a:t>
              </a:r>
              <a:endParaRPr lang="en-US" altLang="zh-CN" sz="1600" baseline="-25000" dirty="0">
                <a:solidFill>
                  <a:schemeClr val="tx1"/>
                </a:solidFill>
                <a:latin typeface="Times New Roman" panose="02020603050405020304" pitchFamily="18" charset="0"/>
              </a:endParaRPr>
            </a:p>
          </p:txBody>
        </p:sp>
        <p:sp>
          <p:nvSpPr>
            <p:cNvPr id="81970" name="Text Box 54"/>
            <p:cNvSpPr txBox="1"/>
            <p:nvPr/>
          </p:nvSpPr>
          <p:spPr>
            <a:xfrm>
              <a:off x="4781" y="2462"/>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9</a:t>
              </a:r>
              <a:endParaRPr lang="en-US" altLang="zh-CN" sz="1600" baseline="-25000" dirty="0">
                <a:solidFill>
                  <a:schemeClr val="tx1"/>
                </a:solidFill>
                <a:latin typeface="Times New Roman" panose="02020603050405020304" pitchFamily="18" charset="0"/>
              </a:endParaRPr>
            </a:p>
          </p:txBody>
        </p:sp>
        <p:sp>
          <p:nvSpPr>
            <p:cNvPr id="81971" name="Text Box 55"/>
            <p:cNvSpPr txBox="1"/>
            <p:nvPr/>
          </p:nvSpPr>
          <p:spPr>
            <a:xfrm>
              <a:off x="4782" y="2605"/>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10</a:t>
              </a:r>
              <a:endParaRPr lang="en-US" altLang="zh-CN" sz="1600" baseline="-25000" dirty="0">
                <a:solidFill>
                  <a:schemeClr val="tx1"/>
                </a:solidFill>
                <a:latin typeface="Times New Roman" panose="02020603050405020304" pitchFamily="18" charset="0"/>
              </a:endParaRPr>
            </a:p>
          </p:txBody>
        </p:sp>
        <p:sp>
          <p:nvSpPr>
            <p:cNvPr id="81972" name="Text Box 56"/>
            <p:cNvSpPr txBox="1"/>
            <p:nvPr/>
          </p:nvSpPr>
          <p:spPr>
            <a:xfrm>
              <a:off x="4783" y="2757"/>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DI</a:t>
              </a:r>
              <a:r>
                <a:rPr lang="en-US" altLang="zh-CN" sz="1600" baseline="-25000" dirty="0">
                  <a:solidFill>
                    <a:schemeClr val="tx1"/>
                  </a:solidFill>
                  <a:latin typeface="Times New Roman" panose="02020603050405020304" pitchFamily="18" charset="0"/>
                </a:rPr>
                <a:t>11</a:t>
              </a:r>
              <a:endParaRPr lang="en-US" altLang="zh-CN" sz="1600" baseline="-25000" dirty="0">
                <a:solidFill>
                  <a:schemeClr val="tx1"/>
                </a:solidFill>
                <a:latin typeface="Times New Roman" panose="02020603050405020304" pitchFamily="18" charset="0"/>
              </a:endParaRPr>
            </a:p>
          </p:txBody>
        </p:sp>
        <p:sp>
          <p:nvSpPr>
            <p:cNvPr id="81973" name="Text Box 57"/>
            <p:cNvSpPr txBox="1"/>
            <p:nvPr/>
          </p:nvSpPr>
          <p:spPr>
            <a:xfrm>
              <a:off x="4783" y="1885"/>
              <a:ext cx="499"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XFER</a:t>
              </a:r>
              <a:endParaRPr lang="en-US" altLang="zh-CN" sz="1600" dirty="0">
                <a:solidFill>
                  <a:schemeClr val="tx1"/>
                </a:solidFill>
                <a:latin typeface="Times New Roman" panose="02020603050405020304" pitchFamily="18" charset="0"/>
              </a:endParaRPr>
            </a:p>
          </p:txBody>
        </p:sp>
        <p:sp>
          <p:nvSpPr>
            <p:cNvPr id="81974" name="Text Box 58"/>
            <p:cNvSpPr txBox="1"/>
            <p:nvPr/>
          </p:nvSpPr>
          <p:spPr>
            <a:xfrm>
              <a:off x="4778" y="1741"/>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WR2</a:t>
              </a:r>
              <a:endParaRPr lang="en-US" altLang="zh-CN" sz="1600" dirty="0">
                <a:solidFill>
                  <a:schemeClr val="tx1"/>
                </a:solidFill>
                <a:latin typeface="Times New Roman" panose="02020603050405020304" pitchFamily="18" charset="0"/>
              </a:endParaRPr>
            </a:p>
          </p:txBody>
        </p:sp>
        <p:sp>
          <p:nvSpPr>
            <p:cNvPr id="81975" name="Text Box 59"/>
            <p:cNvSpPr txBox="1"/>
            <p:nvPr/>
          </p:nvSpPr>
          <p:spPr>
            <a:xfrm>
              <a:off x="4778" y="1600"/>
              <a:ext cx="980"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BYTE1/BYTE2</a:t>
              </a:r>
              <a:endParaRPr lang="en-US" altLang="zh-CN" sz="1600" dirty="0">
                <a:solidFill>
                  <a:schemeClr val="tx1"/>
                </a:solidFill>
                <a:latin typeface="Times New Roman" panose="02020603050405020304" pitchFamily="18" charset="0"/>
              </a:endParaRPr>
            </a:p>
          </p:txBody>
        </p:sp>
        <p:sp>
          <p:nvSpPr>
            <p:cNvPr id="81976" name="Text Box 60"/>
            <p:cNvSpPr txBox="1"/>
            <p:nvPr/>
          </p:nvSpPr>
          <p:spPr>
            <a:xfrm>
              <a:off x="4778" y="1444"/>
              <a:ext cx="454" cy="197"/>
            </a:xfrm>
            <a:prstGeom prst="rect">
              <a:avLst/>
            </a:prstGeom>
            <a:noFill/>
            <a:ln w="9525">
              <a:noFill/>
            </a:ln>
          </p:spPr>
          <p:txBody>
            <a:bodyPr>
              <a:spAutoFit/>
            </a:bodyPr>
            <a:p>
              <a:pPr eaLnBrk="1" hangingPunct="1">
                <a:lnSpc>
                  <a:spcPct val="90000"/>
                </a:lnSpc>
                <a:spcBef>
                  <a:spcPct val="50000"/>
                </a:spcBef>
              </a:pPr>
              <a:r>
                <a:rPr lang="en-US" altLang="zh-CN" sz="1600" dirty="0">
                  <a:solidFill>
                    <a:schemeClr val="tx1"/>
                  </a:solidFill>
                  <a:latin typeface="Times New Roman" panose="02020603050405020304" pitchFamily="18" charset="0"/>
                </a:rPr>
                <a:t>V</a:t>
              </a:r>
              <a:r>
                <a:rPr lang="en-US" altLang="zh-CN" sz="1600" baseline="-25000" dirty="0">
                  <a:solidFill>
                    <a:schemeClr val="tx1"/>
                  </a:solidFill>
                  <a:latin typeface="Times New Roman" panose="02020603050405020304" pitchFamily="18" charset="0"/>
                </a:rPr>
                <a:t>CC</a:t>
              </a:r>
              <a:endParaRPr lang="en-US" altLang="zh-CN" sz="1600" baseline="-25000" dirty="0">
                <a:solidFill>
                  <a:schemeClr val="tx1"/>
                </a:solidFill>
                <a:latin typeface="Times New Roman" panose="02020603050405020304" pitchFamily="18" charset="0"/>
              </a:endParaRPr>
            </a:p>
          </p:txBody>
        </p:sp>
        <p:sp>
          <p:nvSpPr>
            <p:cNvPr id="81977" name="Text Box 61"/>
            <p:cNvSpPr txBox="1"/>
            <p:nvPr/>
          </p:nvSpPr>
          <p:spPr>
            <a:xfrm>
              <a:off x="3856" y="1434"/>
              <a:ext cx="294" cy="1846"/>
            </a:xfrm>
            <a:prstGeom prst="rect">
              <a:avLst/>
            </a:prstGeom>
            <a:noFill/>
            <a:ln w="9525">
              <a:noFill/>
            </a:ln>
          </p:spPr>
          <p:txBody>
            <a:bodyPr>
              <a:spAutoFit/>
            </a:bodyPr>
            <a:p>
              <a:pPr eaLnBrk="1" hangingPunct="1">
                <a:lnSpc>
                  <a:spcPct val="97000"/>
                </a:lnSpc>
              </a:pPr>
              <a:r>
                <a:rPr lang="en-US" altLang="zh-CN" sz="1600" dirty="0">
                  <a:latin typeface="Times New Roman" panose="02020603050405020304" pitchFamily="18" charset="0"/>
                </a:rPr>
                <a:t>1</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2</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3</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4</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5</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6</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7</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8</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9</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10</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11</a:t>
              </a:r>
              <a:endParaRPr lang="en-US" altLang="zh-CN" sz="1600" dirty="0">
                <a:latin typeface="Times New Roman" panose="02020603050405020304" pitchFamily="18" charset="0"/>
              </a:endParaRPr>
            </a:p>
            <a:p>
              <a:pPr eaLnBrk="1" hangingPunct="1">
                <a:lnSpc>
                  <a:spcPct val="97000"/>
                </a:lnSpc>
              </a:pPr>
              <a:r>
                <a:rPr lang="en-US" altLang="zh-CN" sz="1600" dirty="0">
                  <a:latin typeface="Times New Roman" panose="02020603050405020304" pitchFamily="18" charset="0"/>
                </a:rPr>
                <a:t>12</a:t>
              </a:r>
              <a:endParaRPr lang="en-US" altLang="zh-CN" sz="1600" dirty="0">
                <a:latin typeface="Times New Roman" panose="02020603050405020304" pitchFamily="18" charset="0"/>
              </a:endParaRPr>
            </a:p>
          </p:txBody>
        </p:sp>
        <p:sp>
          <p:nvSpPr>
            <p:cNvPr id="81978" name="Text Box 62"/>
            <p:cNvSpPr txBox="1"/>
            <p:nvPr/>
          </p:nvSpPr>
          <p:spPr>
            <a:xfrm>
              <a:off x="4332" y="1444"/>
              <a:ext cx="294" cy="1846"/>
            </a:xfrm>
            <a:prstGeom prst="rect">
              <a:avLst/>
            </a:prstGeom>
            <a:noFill/>
            <a:ln w="9525">
              <a:noFill/>
            </a:ln>
          </p:spPr>
          <p:txBody>
            <a:bodyPr>
              <a:spAutoFit/>
            </a:bodyPr>
            <a:p>
              <a:pPr algn="r" eaLnBrk="1" hangingPunct="1">
                <a:lnSpc>
                  <a:spcPct val="97000"/>
                </a:lnSpc>
              </a:pPr>
              <a:r>
                <a:rPr lang="en-US" altLang="zh-CN" sz="1600" dirty="0">
                  <a:latin typeface="Times New Roman" panose="02020603050405020304" pitchFamily="18" charset="0"/>
                </a:rPr>
                <a:t>24</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23</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22</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21</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20</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19</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18</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17</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16</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15</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14</a:t>
              </a:r>
              <a:endParaRPr lang="en-US" altLang="zh-CN" sz="1600" dirty="0">
                <a:latin typeface="Times New Roman" panose="02020603050405020304" pitchFamily="18" charset="0"/>
              </a:endParaRPr>
            </a:p>
            <a:p>
              <a:pPr algn="r" eaLnBrk="1" hangingPunct="1">
                <a:lnSpc>
                  <a:spcPct val="97000"/>
                </a:lnSpc>
              </a:pPr>
              <a:r>
                <a:rPr lang="en-US" altLang="zh-CN" sz="1600" dirty="0">
                  <a:latin typeface="Times New Roman" panose="02020603050405020304" pitchFamily="18" charset="0"/>
                </a:rPr>
                <a:t>13</a:t>
              </a:r>
              <a:endParaRPr lang="en-US" altLang="zh-CN" sz="1600" dirty="0">
                <a:latin typeface="Times New Roman" panose="02020603050405020304" pitchFamily="18" charset="0"/>
              </a:endParaRPr>
            </a:p>
          </p:txBody>
        </p:sp>
        <p:sp>
          <p:nvSpPr>
            <p:cNvPr id="81979" name="Text Box 63"/>
            <p:cNvSpPr txBox="1"/>
            <p:nvPr/>
          </p:nvSpPr>
          <p:spPr>
            <a:xfrm>
              <a:off x="4014" y="2119"/>
              <a:ext cx="437" cy="336"/>
            </a:xfrm>
            <a:prstGeom prst="rect">
              <a:avLst/>
            </a:prstGeom>
            <a:noFill/>
            <a:ln w="9525">
              <a:noFill/>
            </a:ln>
          </p:spPr>
          <p:txBody>
            <a:bodyPr>
              <a:spAutoFit/>
            </a:bodyPr>
            <a:p>
              <a:pPr algn="ctr" eaLnBrk="1" hangingPunct="1">
                <a:lnSpc>
                  <a:spcPct val="90000"/>
                </a:lnSpc>
                <a:spcBef>
                  <a:spcPct val="50000"/>
                </a:spcBef>
              </a:pPr>
              <a:r>
                <a:rPr lang="en-US" altLang="zh-CN" sz="1600" dirty="0">
                  <a:solidFill>
                    <a:srgbClr val="FF0000"/>
                  </a:solidFill>
                  <a:latin typeface="Times New Roman" panose="02020603050405020304" pitchFamily="18" charset="0"/>
                </a:rPr>
                <a:t>DAC1210</a:t>
              </a:r>
              <a:endParaRPr lang="en-US" altLang="zh-CN" sz="1600" dirty="0">
                <a:solidFill>
                  <a:srgbClr val="FF0000"/>
                </a:solidFill>
                <a:latin typeface="Times New Roman" panose="02020603050405020304" pitchFamily="18" charset="0"/>
              </a:endParaRPr>
            </a:p>
          </p:txBody>
        </p:sp>
        <p:sp>
          <p:nvSpPr>
            <p:cNvPr id="81980" name="Line 65"/>
            <p:cNvSpPr/>
            <p:nvPr/>
          </p:nvSpPr>
          <p:spPr>
            <a:xfrm>
              <a:off x="3464" y="1477"/>
              <a:ext cx="186" cy="0"/>
            </a:xfrm>
            <a:prstGeom prst="line">
              <a:avLst/>
            </a:prstGeom>
            <a:ln w="19050" cap="flat" cmpd="sng">
              <a:solidFill>
                <a:schemeClr val="tx1"/>
              </a:solidFill>
              <a:prstDash val="solid"/>
              <a:headEnd type="none" w="med" len="med"/>
              <a:tailEnd type="none" w="med" len="med"/>
            </a:ln>
          </p:spPr>
        </p:sp>
        <p:sp>
          <p:nvSpPr>
            <p:cNvPr id="81981" name="Line 66"/>
            <p:cNvSpPr/>
            <p:nvPr/>
          </p:nvSpPr>
          <p:spPr>
            <a:xfrm>
              <a:off x="3358" y="1635"/>
              <a:ext cx="267" cy="0"/>
            </a:xfrm>
            <a:prstGeom prst="line">
              <a:avLst/>
            </a:prstGeom>
            <a:ln w="19050" cap="flat" cmpd="sng">
              <a:solidFill>
                <a:schemeClr val="tx1"/>
              </a:solidFill>
              <a:prstDash val="solid"/>
              <a:headEnd type="none" w="med" len="med"/>
              <a:tailEnd type="none" w="med" len="med"/>
            </a:ln>
          </p:spPr>
        </p:sp>
        <p:sp>
          <p:nvSpPr>
            <p:cNvPr id="81982" name="Line 67"/>
            <p:cNvSpPr/>
            <p:nvPr/>
          </p:nvSpPr>
          <p:spPr>
            <a:xfrm>
              <a:off x="5282" y="1620"/>
              <a:ext cx="410" cy="0"/>
            </a:xfrm>
            <a:prstGeom prst="line">
              <a:avLst/>
            </a:prstGeom>
            <a:ln w="19050" cap="flat" cmpd="sng">
              <a:solidFill>
                <a:schemeClr val="tx1"/>
              </a:solidFill>
              <a:prstDash val="solid"/>
              <a:headEnd type="none" w="med" len="med"/>
              <a:tailEnd type="none" w="med" len="med"/>
            </a:ln>
          </p:spPr>
        </p:sp>
        <p:sp>
          <p:nvSpPr>
            <p:cNvPr id="81983" name="Line 68"/>
            <p:cNvSpPr/>
            <p:nvPr/>
          </p:nvSpPr>
          <p:spPr>
            <a:xfrm>
              <a:off x="4828" y="1769"/>
              <a:ext cx="297" cy="0"/>
            </a:xfrm>
            <a:prstGeom prst="line">
              <a:avLst/>
            </a:prstGeom>
            <a:ln w="19050" cap="flat" cmpd="sng">
              <a:solidFill>
                <a:schemeClr val="tx1"/>
              </a:solidFill>
              <a:prstDash val="solid"/>
              <a:headEnd type="none" w="med" len="med"/>
              <a:tailEnd type="none" w="med" len="med"/>
            </a:ln>
          </p:spPr>
        </p:sp>
        <p:sp>
          <p:nvSpPr>
            <p:cNvPr id="81984" name="Line 69"/>
            <p:cNvSpPr/>
            <p:nvPr/>
          </p:nvSpPr>
          <p:spPr>
            <a:xfrm>
              <a:off x="4843" y="1918"/>
              <a:ext cx="350" cy="0"/>
            </a:xfrm>
            <a:prstGeom prst="line">
              <a:avLst/>
            </a:prstGeom>
            <a:ln w="19050" cap="flat" cmpd="sng">
              <a:solidFill>
                <a:schemeClr val="tx1"/>
              </a:solidFill>
              <a:prstDash val="solid"/>
              <a:headEnd type="none" w="med" len="med"/>
              <a:tailEnd type="none" w="med" len="med"/>
            </a:ln>
          </p:spPr>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9523"/>
                                        </p:tgtEl>
                                        <p:attrNameLst>
                                          <p:attrName>style.visibility</p:attrName>
                                        </p:attrNameLst>
                                      </p:cBhvr>
                                      <p:to>
                                        <p:strVal val="visible"/>
                                      </p:to>
                                    </p:set>
                                    <p:animEffect transition="in" filter="dissolve">
                                      <p:cBhvr>
                                        <p:cTn id="7" dur="500"/>
                                        <p:tgtEl>
                                          <p:spTgt spid="25395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39590"/>
                                        </p:tgtEl>
                                        <p:attrNameLst>
                                          <p:attrName>style.visibility</p:attrName>
                                        </p:attrNameLst>
                                      </p:cBhvr>
                                      <p:to>
                                        <p:strVal val="visible"/>
                                      </p:to>
                                    </p:set>
                                    <p:animEffect transition="in" filter="dissolve">
                                      <p:cBhvr>
                                        <p:cTn id="12" dur="500"/>
                                        <p:tgtEl>
                                          <p:spTgt spid="253959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39530"/>
                                        </p:tgtEl>
                                        <p:attrNameLst>
                                          <p:attrName>style.visibility</p:attrName>
                                        </p:attrNameLst>
                                      </p:cBhvr>
                                      <p:to>
                                        <p:strVal val="visible"/>
                                      </p:to>
                                    </p:set>
                                    <p:animEffect transition="in" filter="dissolve">
                                      <p:cBhvr>
                                        <p:cTn id="17" dur="500"/>
                                        <p:tgtEl>
                                          <p:spTgt spid="253953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39524"/>
                                        </p:tgtEl>
                                        <p:attrNameLst>
                                          <p:attrName>style.visibility</p:attrName>
                                        </p:attrNameLst>
                                      </p:cBhvr>
                                      <p:to>
                                        <p:strVal val="visible"/>
                                      </p:to>
                                    </p:set>
                                    <p:animEffect transition="in" filter="dissolve">
                                      <p:cBhvr>
                                        <p:cTn id="22" dur="500"/>
                                        <p:tgtEl>
                                          <p:spTgt spid="2539524"/>
                                        </p:tgtEl>
                                      </p:cBhvr>
                                    </p:animEffect>
                                  </p:childTnLst>
                                </p:cTn>
                              </p:par>
                              <p:par>
                                <p:cTn id="23" presetID="9" presetClass="entr" presetSubtype="0" fill="hold" nodeType="withEffect">
                                  <p:stCondLst>
                                    <p:cond delay="0"/>
                                  </p:stCondLst>
                                  <p:childTnLst>
                                    <p:set>
                                      <p:cBhvr>
                                        <p:cTn id="24" dur="1" fill="hold">
                                          <p:stCondLst>
                                            <p:cond delay="0"/>
                                          </p:stCondLst>
                                        </p:cTn>
                                        <p:tgtEl>
                                          <p:spTgt spid="2539525">
                                            <p:txEl>
                                              <p:charRg st="0" end="18"/>
                                            </p:txEl>
                                          </p:spTgt>
                                        </p:tgtEl>
                                        <p:attrNameLst>
                                          <p:attrName>style.visibility</p:attrName>
                                        </p:attrNameLst>
                                      </p:cBhvr>
                                      <p:to>
                                        <p:strVal val="visible"/>
                                      </p:to>
                                    </p:set>
                                    <p:animEffect transition="in" filter="dissolve">
                                      <p:cBhvr>
                                        <p:cTn id="25" dur="500"/>
                                        <p:tgtEl>
                                          <p:spTgt spid="2539525">
                                            <p:txEl>
                                              <p:charRg st="0" end="18"/>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539525">
                                            <p:txEl>
                                              <p:charRg st="18" end="39"/>
                                            </p:txEl>
                                          </p:spTgt>
                                        </p:tgtEl>
                                        <p:attrNameLst>
                                          <p:attrName>style.visibility</p:attrName>
                                        </p:attrNameLst>
                                      </p:cBhvr>
                                      <p:to>
                                        <p:strVal val="visible"/>
                                      </p:to>
                                    </p:set>
                                    <p:animEffect transition="in" filter="dissolve">
                                      <p:cBhvr>
                                        <p:cTn id="28" dur="500"/>
                                        <p:tgtEl>
                                          <p:spTgt spid="2539525">
                                            <p:txEl>
                                              <p:charRg st="18" end="39"/>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2539525">
                                            <p:txEl>
                                              <p:charRg st="39" end="51"/>
                                            </p:txEl>
                                          </p:spTgt>
                                        </p:tgtEl>
                                        <p:attrNameLst>
                                          <p:attrName>style.visibility</p:attrName>
                                        </p:attrNameLst>
                                      </p:cBhvr>
                                      <p:to>
                                        <p:strVal val="visible"/>
                                      </p:to>
                                    </p:set>
                                    <p:animEffect transition="in" filter="dissolve">
                                      <p:cBhvr>
                                        <p:cTn id="31" dur="500"/>
                                        <p:tgtEl>
                                          <p:spTgt spid="2539525">
                                            <p:txEl>
                                              <p:charRg st="39" end="5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2539525">
                                            <p:txEl>
                                              <p:charRg st="51" end="67"/>
                                            </p:txEl>
                                          </p:spTgt>
                                        </p:tgtEl>
                                        <p:attrNameLst>
                                          <p:attrName>style.visibility</p:attrName>
                                        </p:attrNameLst>
                                      </p:cBhvr>
                                      <p:to>
                                        <p:strVal val="visible"/>
                                      </p:to>
                                    </p:set>
                                    <p:animEffect transition="in" filter="dissolve">
                                      <p:cBhvr>
                                        <p:cTn id="34" dur="500"/>
                                        <p:tgtEl>
                                          <p:spTgt spid="2539525">
                                            <p:txEl>
                                              <p:charRg st="51" end="67"/>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2539525">
                                            <p:txEl>
                                              <p:charRg st="67" end="86"/>
                                            </p:txEl>
                                          </p:spTgt>
                                        </p:tgtEl>
                                        <p:attrNameLst>
                                          <p:attrName>style.visibility</p:attrName>
                                        </p:attrNameLst>
                                      </p:cBhvr>
                                      <p:to>
                                        <p:strVal val="visible"/>
                                      </p:to>
                                    </p:set>
                                    <p:animEffect transition="in" filter="dissolve">
                                      <p:cBhvr>
                                        <p:cTn id="37" dur="500"/>
                                        <p:tgtEl>
                                          <p:spTgt spid="2539525">
                                            <p:txEl>
                                              <p:charRg st="67" end="86"/>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2539525">
                                            <p:txEl>
                                              <p:charRg st="86" end="99"/>
                                            </p:txEl>
                                          </p:spTgt>
                                        </p:tgtEl>
                                        <p:attrNameLst>
                                          <p:attrName>style.visibility</p:attrName>
                                        </p:attrNameLst>
                                      </p:cBhvr>
                                      <p:to>
                                        <p:strVal val="visible"/>
                                      </p:to>
                                    </p:set>
                                    <p:animEffect transition="in" filter="dissolve">
                                      <p:cBhvr>
                                        <p:cTn id="40" dur="500"/>
                                        <p:tgtEl>
                                          <p:spTgt spid="2539525">
                                            <p:txEl>
                                              <p:charRg st="86" end="9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9523" grpId="0" bldLvl="0" animBg="1"/>
      <p:bldP spid="2539524" grpId="0"/>
      <p:bldP spid="2539530" grpId="0" bldLvl="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9156" name="Text Box 468"/>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3971" name="Rectangle 469"/>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DAC1210</a:t>
            </a:r>
            <a:endParaRPr lang="en-US" altLang="zh-CN" sz="3200" dirty="0">
              <a:latin typeface="Times New Roman" panose="02020603050405020304" pitchFamily="18" charset="0"/>
            </a:endParaRPr>
          </a:p>
        </p:txBody>
      </p:sp>
      <p:sp>
        <p:nvSpPr>
          <p:cNvPr id="2419158" name="Text Box 470"/>
          <p:cNvSpPr txBox="1"/>
          <p:nvPr/>
        </p:nvSpPr>
        <p:spPr>
          <a:xfrm>
            <a:off x="4500563" y="981075"/>
            <a:ext cx="3348037" cy="420688"/>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DAC1210</a:t>
            </a:r>
            <a:r>
              <a:rPr lang="zh-CN" altLang="en-US" sz="2400" dirty="0">
                <a:latin typeface="Times New Roman" panose="02020603050405020304" pitchFamily="18" charset="0"/>
              </a:rPr>
              <a:t>的架构框图</a:t>
            </a:r>
            <a:endParaRPr lang="zh-CN" altLang="en-US" sz="2400" dirty="0">
              <a:latin typeface="Times New Roman" panose="02020603050405020304" pitchFamily="18" charset="0"/>
            </a:endParaRPr>
          </a:p>
        </p:txBody>
      </p:sp>
      <p:sp>
        <p:nvSpPr>
          <p:cNvPr id="2419159" name="Text Box 471"/>
          <p:cNvSpPr txBox="1"/>
          <p:nvPr/>
        </p:nvSpPr>
        <p:spPr>
          <a:xfrm>
            <a:off x="142875" y="1449388"/>
            <a:ext cx="2520950" cy="4071937"/>
          </a:xfrm>
          <a:prstGeom prst="rect">
            <a:avLst/>
          </a:prstGeom>
          <a:noFill/>
          <a:ln w="9525">
            <a:noFill/>
          </a:ln>
        </p:spPr>
        <p:txBody>
          <a:bodyPr>
            <a:spAutoFit/>
          </a:bodyPr>
          <a:p>
            <a:pPr marL="266700" indent="-26670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三个独立寻址的寄存器组成两级缓冲器。</a:t>
            </a:r>
            <a:endParaRPr lang="zh-CN" altLang="en-US" sz="2400" dirty="0">
              <a:latin typeface="Times New Roman" panose="02020603050405020304" pitchFamily="18" charset="0"/>
            </a:endParaRPr>
          </a:p>
          <a:p>
            <a:pPr marL="266700" indent="-26670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第一级为</a:t>
            </a:r>
            <a:r>
              <a:rPr lang="en-US" altLang="zh-CN" sz="2400" dirty="0">
                <a:latin typeface="Times New Roman" panose="02020603050405020304" pitchFamily="18" charset="0"/>
              </a:rPr>
              <a:t>8</a:t>
            </a:r>
            <a:r>
              <a:rPr lang="zh-CN" altLang="en-US" sz="2400" dirty="0">
                <a:latin typeface="Times New Roman" panose="02020603050405020304" pitchFamily="18" charset="0"/>
              </a:rPr>
              <a:t>位输入寄存器和</a:t>
            </a:r>
            <a:r>
              <a:rPr lang="en-US" altLang="zh-CN" sz="2400" dirty="0">
                <a:latin typeface="Times New Roman" panose="02020603050405020304" pitchFamily="18" charset="0"/>
              </a:rPr>
              <a:t>4</a:t>
            </a:r>
            <a:r>
              <a:rPr lang="zh-CN" altLang="en-US" sz="2400" dirty="0">
                <a:latin typeface="Times New Roman" panose="02020603050405020304" pitchFamily="18" charset="0"/>
              </a:rPr>
              <a:t>位输入寄存器组成，可直接从</a:t>
            </a:r>
            <a:r>
              <a:rPr lang="en-US" altLang="zh-CN" sz="2400" dirty="0">
                <a:latin typeface="Times New Roman" panose="02020603050405020304" pitchFamily="18" charset="0"/>
              </a:rPr>
              <a:t>8</a:t>
            </a:r>
            <a:r>
              <a:rPr lang="zh-CN" altLang="en-US" sz="2400" dirty="0">
                <a:latin typeface="Times New Roman" panose="02020603050405020304" pitchFamily="18" charset="0"/>
              </a:rPr>
              <a:t>位或</a:t>
            </a:r>
            <a:r>
              <a:rPr lang="en-US" altLang="zh-CN" sz="2400" dirty="0">
                <a:latin typeface="Times New Roman" panose="02020603050405020304" pitchFamily="18" charset="0"/>
              </a:rPr>
              <a:t>12</a:t>
            </a:r>
            <a:r>
              <a:rPr lang="zh-CN" altLang="en-US" sz="2400" dirty="0">
                <a:latin typeface="Times New Roman" panose="02020603050405020304" pitchFamily="18" charset="0"/>
              </a:rPr>
              <a:t>位数据总线取数。</a:t>
            </a:r>
            <a:endParaRPr lang="zh-CN" altLang="en-US" sz="2400" dirty="0">
              <a:latin typeface="Times New Roman" panose="02020603050405020304" pitchFamily="18" charset="0"/>
            </a:endParaRPr>
          </a:p>
          <a:p>
            <a:pPr marL="266700" indent="-266700" eaLnBrk="1" hangingPunct="1">
              <a:lnSpc>
                <a:spcPct val="90000"/>
              </a:lnSpc>
              <a:spcBef>
                <a:spcPct val="50000"/>
              </a:spcBef>
              <a:buClr>
                <a:srgbClr val="FF0000"/>
              </a:buClr>
              <a:buFont typeface="Wingdings" panose="05000000000000000000" pitchFamily="2" charset="2"/>
              <a:buChar char="u"/>
            </a:pPr>
            <a:r>
              <a:rPr lang="zh-CN" altLang="en-US" sz="2400" dirty="0">
                <a:latin typeface="Times New Roman" panose="02020603050405020304" pitchFamily="18" charset="0"/>
              </a:rPr>
              <a:t>第二级为</a:t>
            </a:r>
            <a:r>
              <a:rPr lang="en-US" altLang="zh-CN" sz="2400" dirty="0">
                <a:latin typeface="Times New Roman" panose="02020603050405020304" pitchFamily="18" charset="0"/>
              </a:rPr>
              <a:t>12</a:t>
            </a:r>
            <a:r>
              <a:rPr lang="zh-CN" altLang="en-US" sz="2400" dirty="0">
                <a:latin typeface="Times New Roman" panose="02020603050405020304" pitchFamily="18" charset="0"/>
              </a:rPr>
              <a:t>位并行</a:t>
            </a:r>
            <a:r>
              <a:rPr lang="en-US" altLang="zh-CN" sz="2400" dirty="0">
                <a:latin typeface="Times New Roman" panose="02020603050405020304" pitchFamily="18" charset="0"/>
              </a:rPr>
              <a:t>D/A</a:t>
            </a:r>
            <a:r>
              <a:rPr lang="zh-CN" altLang="en-US" sz="2400" dirty="0">
                <a:latin typeface="Times New Roman" panose="02020603050405020304" pitchFamily="18" charset="0"/>
              </a:rPr>
              <a:t>寄存器。</a:t>
            </a:r>
            <a:endParaRPr lang="zh-CN" altLang="en-US" sz="2400" dirty="0">
              <a:latin typeface="Times New Roman" panose="02020603050405020304" pitchFamily="18" charset="0"/>
            </a:endParaRPr>
          </a:p>
        </p:txBody>
      </p:sp>
      <p:pic>
        <p:nvPicPr>
          <p:cNvPr id="2419160" name="Picture 472"/>
          <p:cNvPicPr>
            <a:picLocks noChangeAspect="1"/>
          </p:cNvPicPr>
          <p:nvPr/>
        </p:nvPicPr>
        <p:blipFill>
          <a:blip r:embed="rId1"/>
          <a:stretch>
            <a:fillRect/>
          </a:stretch>
        </p:blipFill>
        <p:spPr>
          <a:xfrm>
            <a:off x="2771775" y="1376363"/>
            <a:ext cx="6300788" cy="4794250"/>
          </a:xfrm>
          <a:prstGeom prst="rect">
            <a:avLst/>
          </a:prstGeom>
          <a:noFill/>
          <a:ln w="9525">
            <a:noFill/>
          </a:ln>
        </p:spPr>
      </p:pic>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19158"/>
                                        </p:tgtEl>
                                        <p:attrNameLst>
                                          <p:attrName>style.visibility</p:attrName>
                                        </p:attrNameLst>
                                      </p:cBhvr>
                                      <p:to>
                                        <p:strVal val="visible"/>
                                      </p:to>
                                    </p:set>
                                    <p:animEffect transition="in" filter="dissolve">
                                      <p:cBhvr>
                                        <p:cTn id="7" dur="500"/>
                                        <p:tgtEl>
                                          <p:spTgt spid="2419158"/>
                                        </p:tgtEl>
                                      </p:cBhvr>
                                    </p:animEffect>
                                  </p:childTnLst>
                                </p:cTn>
                              </p:par>
                              <p:par>
                                <p:cTn id="8" presetID="9" presetClass="entr" presetSubtype="0" fill="hold" nodeType="withEffect">
                                  <p:stCondLst>
                                    <p:cond delay="0"/>
                                  </p:stCondLst>
                                  <p:childTnLst>
                                    <p:set>
                                      <p:cBhvr>
                                        <p:cTn id="9" dur="1" fill="hold">
                                          <p:stCondLst>
                                            <p:cond delay="0"/>
                                          </p:stCondLst>
                                        </p:cTn>
                                        <p:tgtEl>
                                          <p:spTgt spid="2419160"/>
                                        </p:tgtEl>
                                        <p:attrNameLst>
                                          <p:attrName>style.visibility</p:attrName>
                                        </p:attrNameLst>
                                      </p:cBhvr>
                                      <p:to>
                                        <p:strVal val="visible"/>
                                      </p:to>
                                    </p:set>
                                    <p:animEffect transition="in" filter="dissolve">
                                      <p:cBhvr>
                                        <p:cTn id="10" dur="500"/>
                                        <p:tgtEl>
                                          <p:spTgt spid="241916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19159">
                                            <p:txEl>
                                              <p:charRg st="0" end="19"/>
                                            </p:txEl>
                                          </p:spTgt>
                                        </p:tgtEl>
                                        <p:attrNameLst>
                                          <p:attrName>style.visibility</p:attrName>
                                        </p:attrNameLst>
                                      </p:cBhvr>
                                      <p:to>
                                        <p:strVal val="visible"/>
                                      </p:to>
                                    </p:set>
                                    <p:animEffect transition="in" filter="dissolve">
                                      <p:cBhvr>
                                        <p:cTn id="15" dur="500"/>
                                        <p:tgtEl>
                                          <p:spTgt spid="2419159">
                                            <p:txEl>
                                              <p:charRg st="0" end="19"/>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419159">
                                            <p:txEl>
                                              <p:charRg st="19" end="59"/>
                                            </p:txEl>
                                          </p:spTgt>
                                        </p:tgtEl>
                                        <p:attrNameLst>
                                          <p:attrName>style.visibility</p:attrName>
                                        </p:attrNameLst>
                                      </p:cBhvr>
                                      <p:to>
                                        <p:strVal val="visible"/>
                                      </p:to>
                                    </p:set>
                                    <p:animEffect transition="in" filter="dissolve">
                                      <p:cBhvr>
                                        <p:cTn id="20" dur="500"/>
                                        <p:tgtEl>
                                          <p:spTgt spid="2419159">
                                            <p:txEl>
                                              <p:charRg st="19" end="59"/>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419159">
                                            <p:txEl>
                                              <p:charRg st="59" end="76"/>
                                            </p:txEl>
                                          </p:spTgt>
                                        </p:tgtEl>
                                        <p:attrNameLst>
                                          <p:attrName>style.visibility</p:attrName>
                                        </p:attrNameLst>
                                      </p:cBhvr>
                                      <p:to>
                                        <p:strVal val="visible"/>
                                      </p:to>
                                    </p:set>
                                    <p:animEffect transition="in" filter="dissolve">
                                      <p:cBhvr>
                                        <p:cTn id="25" dur="500"/>
                                        <p:tgtEl>
                                          <p:spTgt spid="2419159">
                                            <p:txEl>
                                              <p:charRg st="59" end="7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9158" grpId="0"/>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2594"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4995"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DAC1210</a:t>
            </a:r>
            <a:endParaRPr lang="en-US" altLang="zh-CN" sz="3200" dirty="0">
              <a:latin typeface="Times New Roman" panose="02020603050405020304" pitchFamily="18" charset="0"/>
            </a:endParaRPr>
          </a:p>
        </p:txBody>
      </p:sp>
      <p:sp>
        <p:nvSpPr>
          <p:cNvPr id="84996" name="Text Box 4"/>
          <p:cNvSpPr txBox="1"/>
          <p:nvPr/>
        </p:nvSpPr>
        <p:spPr>
          <a:xfrm>
            <a:off x="4500563" y="981075"/>
            <a:ext cx="3348037" cy="420688"/>
          </a:xfrm>
          <a:prstGeom prst="rect">
            <a:avLst/>
          </a:prstGeom>
          <a:noFill/>
          <a:ln w="9525">
            <a:noFill/>
          </a:ln>
        </p:spPr>
        <p:txBody>
          <a:bodyPr>
            <a:spAutoFit/>
          </a:bodyPr>
          <a:p>
            <a:pPr eaLnBrk="1" hangingPunct="1">
              <a:lnSpc>
                <a:spcPct val="90000"/>
              </a:lnSpc>
              <a:spcBef>
                <a:spcPct val="50000"/>
              </a:spcBef>
            </a:pPr>
            <a:r>
              <a:rPr lang="en-US" altLang="zh-CN" sz="2400" dirty="0">
                <a:latin typeface="Times New Roman" panose="02020603050405020304" pitchFamily="18" charset="0"/>
              </a:rPr>
              <a:t>DAC1210</a:t>
            </a:r>
            <a:r>
              <a:rPr lang="zh-CN" altLang="en-US" sz="2400" dirty="0">
                <a:latin typeface="Times New Roman" panose="02020603050405020304" pitchFamily="18" charset="0"/>
              </a:rPr>
              <a:t>的架构框图</a:t>
            </a:r>
            <a:endParaRPr lang="zh-CN" altLang="en-US" sz="2400" dirty="0">
              <a:latin typeface="Times New Roman" panose="02020603050405020304" pitchFamily="18" charset="0"/>
            </a:endParaRPr>
          </a:p>
        </p:txBody>
      </p:sp>
      <p:sp>
        <p:nvSpPr>
          <p:cNvPr id="2542597" name="Text Box 5"/>
          <p:cNvSpPr txBox="1"/>
          <p:nvPr/>
        </p:nvSpPr>
        <p:spPr>
          <a:xfrm>
            <a:off x="71438" y="1449388"/>
            <a:ext cx="2628900" cy="4587875"/>
          </a:xfrm>
          <a:prstGeom prst="rect">
            <a:avLst/>
          </a:prstGeom>
          <a:noFill/>
          <a:ln w="9525">
            <a:noFill/>
          </a:ln>
        </p:spPr>
        <p:txBody>
          <a:bodyPr>
            <a:spAutoFit/>
          </a:bodyPr>
          <a:p>
            <a:pPr marL="266700" indent="-266700" eaLnBrk="1" hangingPunct="1">
              <a:spcBef>
                <a:spcPct val="25000"/>
              </a:spcBef>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LE1</a:t>
            </a:r>
            <a:r>
              <a:rPr lang="zh-CN" altLang="en-US" sz="2000" dirty="0">
                <a:latin typeface="Times New Roman" panose="02020603050405020304" pitchFamily="18" charset="0"/>
              </a:rPr>
              <a:t>端由</a:t>
            </a:r>
            <a:r>
              <a:rPr lang="en-US" altLang="zh-CN" sz="2000" dirty="0">
                <a:solidFill>
                  <a:srgbClr val="FF0000"/>
                </a:solidFill>
                <a:latin typeface="Times New Roman" panose="02020603050405020304" pitchFamily="18" charset="0"/>
              </a:rPr>
              <a:t>CS</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WR</a:t>
            </a:r>
            <a:r>
              <a:rPr lang="en-US" altLang="zh-CN" sz="2000" baseline="-25000" dirty="0">
                <a:solidFill>
                  <a:srgbClr val="FF0000"/>
                </a:solidFill>
                <a:latin typeface="Times New Roman" panose="02020603050405020304" pitchFamily="18" charset="0"/>
              </a:rPr>
              <a:t>1</a:t>
            </a:r>
            <a:r>
              <a:rPr lang="en-US" altLang="zh-CN" sz="2000" dirty="0">
                <a:latin typeface="Times New Roman" panose="02020603050405020304" pitchFamily="18" charset="0"/>
              </a:rPr>
              <a:t>, </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控制。</a:t>
            </a:r>
            <a:endParaRPr lang="zh-CN" altLang="en-US" sz="2000" dirty="0">
              <a:latin typeface="Times New Roman" panose="02020603050405020304" pitchFamily="18" charset="0"/>
            </a:endParaRPr>
          </a:p>
          <a:p>
            <a:pPr marL="266700" indent="-266700" eaLnBrk="1" hangingPunct="1">
              <a:spcBef>
                <a:spcPct val="25000"/>
              </a:spcBef>
              <a:buClr>
                <a:srgbClr val="FF0000"/>
              </a:buClr>
              <a:buFont typeface="Wingdings" panose="05000000000000000000" pitchFamily="2" charset="2"/>
              <a:buChar char="u"/>
            </a:pPr>
            <a:r>
              <a:rPr lang="en-US" altLang="zh-CN" sz="2000" dirty="0">
                <a:latin typeface="Times New Roman" panose="02020603050405020304" pitchFamily="18" charset="0"/>
              </a:rPr>
              <a:t>LE2</a:t>
            </a:r>
            <a:r>
              <a:rPr lang="zh-CN" altLang="en-US" sz="2000" dirty="0">
                <a:latin typeface="Times New Roman" panose="02020603050405020304" pitchFamily="18" charset="0"/>
              </a:rPr>
              <a:t>端由</a:t>
            </a:r>
            <a:r>
              <a:rPr lang="en-US" altLang="zh-CN" sz="2000" dirty="0">
                <a:solidFill>
                  <a:srgbClr val="FF0000"/>
                </a:solidFill>
                <a:latin typeface="Times New Roman" panose="02020603050405020304" pitchFamily="18" charset="0"/>
              </a:rPr>
              <a:t>CS</a:t>
            </a:r>
            <a:r>
              <a:rPr lang="zh-CN" altLang="en-US" sz="2000" dirty="0">
                <a:latin typeface="Times New Roman" panose="02020603050405020304" pitchFamily="18" charset="0"/>
              </a:rPr>
              <a:t>，</a:t>
            </a:r>
            <a:r>
              <a:rPr lang="en-US" altLang="zh-CN" sz="2000" dirty="0">
                <a:solidFill>
                  <a:srgbClr val="FF0000"/>
                </a:solidFill>
                <a:latin typeface="Times New Roman" panose="02020603050405020304" pitchFamily="18" charset="0"/>
              </a:rPr>
              <a:t>WR</a:t>
            </a:r>
            <a:r>
              <a:rPr lang="en-US" altLang="zh-CN" sz="2000" baseline="-25000" dirty="0">
                <a:solidFill>
                  <a:srgbClr val="FF0000"/>
                </a:solidFill>
                <a:latin typeface="Times New Roman" panose="02020603050405020304" pitchFamily="18" charset="0"/>
              </a:rPr>
              <a:t>1</a:t>
            </a:r>
            <a:r>
              <a:rPr lang="en-US" altLang="zh-CN" sz="2000" dirty="0">
                <a:latin typeface="Times New Roman" panose="02020603050405020304" pitchFamily="18" charset="0"/>
              </a:rPr>
              <a:t> </a:t>
            </a:r>
            <a:r>
              <a:rPr lang="zh-CN" altLang="en-US" sz="2000" dirty="0">
                <a:latin typeface="Times New Roman" panose="02020603050405020304" pitchFamily="18" charset="0"/>
              </a:rPr>
              <a:t>控制。</a:t>
            </a:r>
            <a:endParaRPr lang="zh-CN" altLang="en-US" sz="2000" dirty="0">
              <a:latin typeface="Times New Roman" panose="02020603050405020304" pitchFamily="18" charset="0"/>
            </a:endParaRPr>
          </a:p>
          <a:p>
            <a:pPr marL="266700" indent="-266700" eaLnBrk="1" hangingPunct="1">
              <a:spcBef>
                <a:spcPct val="25000"/>
              </a:spcBef>
              <a:buClr>
                <a:srgbClr val="FF0000"/>
              </a:buClr>
              <a:buFont typeface="Wingdings" panose="05000000000000000000" pitchFamily="2" charset="2"/>
              <a:buChar char="u"/>
            </a:pPr>
            <a:r>
              <a:rPr lang="en-US" altLang="zh-CN" sz="2000" dirty="0">
                <a:solidFill>
                  <a:srgbClr val="FF0000"/>
                </a:solidFill>
                <a:latin typeface="Times New Roman" panose="02020603050405020304" pitchFamily="18" charset="0"/>
              </a:rPr>
              <a:t>LE3</a:t>
            </a:r>
            <a:r>
              <a:rPr lang="zh-CN" altLang="en-US" sz="2000" dirty="0">
                <a:latin typeface="Times New Roman" panose="02020603050405020304" pitchFamily="18" charset="0"/>
              </a:rPr>
              <a:t>端由</a:t>
            </a:r>
            <a:r>
              <a:rPr lang="en-US" altLang="zh-CN" sz="2000" dirty="0">
                <a:solidFill>
                  <a:srgbClr val="FF0000"/>
                </a:solidFill>
                <a:latin typeface="Times New Roman" panose="02020603050405020304" pitchFamily="18" charset="0"/>
              </a:rPr>
              <a:t>WR</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和</a:t>
            </a:r>
            <a:r>
              <a:rPr lang="en-US" altLang="zh-CN" sz="2000" dirty="0">
                <a:solidFill>
                  <a:srgbClr val="FF0000"/>
                </a:solidFill>
                <a:latin typeface="Times New Roman" panose="02020603050405020304" pitchFamily="18" charset="0"/>
              </a:rPr>
              <a:t>XFER</a:t>
            </a:r>
            <a:r>
              <a:rPr lang="zh-CN" altLang="en-US" sz="2000" dirty="0">
                <a:latin typeface="Times New Roman" panose="02020603050405020304" pitchFamily="18" charset="0"/>
              </a:rPr>
              <a:t>控制。</a:t>
            </a:r>
            <a:endParaRPr lang="zh-CN" altLang="en-US" sz="2000" dirty="0">
              <a:latin typeface="Times New Roman" panose="02020603050405020304" pitchFamily="18" charset="0"/>
            </a:endParaRPr>
          </a:p>
          <a:p>
            <a:pPr marL="266700" indent="-266700" eaLnBrk="1" hangingPunct="1">
              <a:spcBef>
                <a:spcPct val="25000"/>
              </a:spcBef>
              <a:buClr>
                <a:srgbClr val="FF0000"/>
              </a:buClr>
              <a:buFont typeface="Wingdings" panose="05000000000000000000" pitchFamily="2" charset="2"/>
              <a:buChar char="u"/>
            </a:pPr>
            <a:r>
              <a:rPr lang="zh-CN" altLang="en-US" sz="2000" dirty="0">
                <a:latin typeface="Times New Roman" panose="02020603050405020304" pitchFamily="18" charset="0"/>
              </a:rPr>
              <a:t>当</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为高电平时，</a:t>
            </a:r>
            <a:r>
              <a:rPr lang="en-US" altLang="zh-CN" sz="2000" dirty="0">
                <a:solidFill>
                  <a:srgbClr val="FF0000"/>
                </a:solidFill>
                <a:latin typeface="Times New Roman" panose="02020603050405020304" pitchFamily="18" charset="0"/>
              </a:rPr>
              <a:t>12</a:t>
            </a:r>
            <a:r>
              <a:rPr lang="zh-CN" altLang="en-US" sz="2000" dirty="0">
                <a:latin typeface="Times New Roman" panose="02020603050405020304" pitchFamily="18" charset="0"/>
              </a:rPr>
              <a:t>位数据同时存入第一级的两个输入寄存器。反之，当该信号为低电平时，只将低</a:t>
            </a:r>
            <a:r>
              <a:rPr lang="en-US" altLang="zh-CN" sz="2000" dirty="0">
                <a:solidFill>
                  <a:srgbClr val="FF0000"/>
                </a:solidFill>
                <a:latin typeface="Times New Roman" panose="02020603050405020304" pitchFamily="18" charset="0"/>
              </a:rPr>
              <a:t>4</a:t>
            </a:r>
            <a:r>
              <a:rPr lang="zh-CN" altLang="en-US" sz="2000" dirty="0">
                <a:latin typeface="Times New Roman" panose="02020603050405020304" pitchFamily="18" charset="0"/>
              </a:rPr>
              <a:t>位数据存入</a:t>
            </a:r>
            <a:r>
              <a:rPr lang="en-US" altLang="zh-CN" sz="2000" dirty="0">
                <a:solidFill>
                  <a:srgbClr val="FF0000"/>
                </a:solidFill>
                <a:latin typeface="Times New Roman" panose="02020603050405020304" pitchFamily="18" charset="0"/>
              </a:rPr>
              <a:t>4</a:t>
            </a:r>
            <a:r>
              <a:rPr lang="zh-CN" altLang="en-US" sz="2000" dirty="0">
                <a:latin typeface="Times New Roman" panose="02020603050405020304" pitchFamily="18" charset="0"/>
              </a:rPr>
              <a:t>位输入寄存器。</a:t>
            </a:r>
            <a:endParaRPr lang="zh-CN" altLang="en-US" sz="2000" dirty="0">
              <a:latin typeface="Times New Roman" panose="02020603050405020304" pitchFamily="18" charset="0"/>
            </a:endParaRPr>
          </a:p>
        </p:txBody>
      </p:sp>
      <p:pic>
        <p:nvPicPr>
          <p:cNvPr id="84998" name="Picture 6"/>
          <p:cNvPicPr>
            <a:picLocks noChangeAspect="1"/>
          </p:cNvPicPr>
          <p:nvPr/>
        </p:nvPicPr>
        <p:blipFill>
          <a:blip r:embed="rId1"/>
          <a:stretch>
            <a:fillRect/>
          </a:stretch>
        </p:blipFill>
        <p:spPr>
          <a:xfrm>
            <a:off x="2771775" y="1376363"/>
            <a:ext cx="6300788" cy="4794250"/>
          </a:xfrm>
          <a:prstGeom prst="rect">
            <a:avLst/>
          </a:prstGeom>
          <a:noFill/>
          <a:ln w="9525">
            <a:noFill/>
          </a:ln>
        </p:spPr>
      </p:pic>
      <p:sp>
        <p:nvSpPr>
          <p:cNvPr id="2542599" name="Line 7"/>
          <p:cNvSpPr/>
          <p:nvPr/>
        </p:nvSpPr>
        <p:spPr>
          <a:xfrm>
            <a:off x="1987550" y="1516063"/>
            <a:ext cx="504825" cy="0"/>
          </a:xfrm>
          <a:prstGeom prst="line">
            <a:avLst/>
          </a:prstGeom>
          <a:ln w="19050" cap="flat" cmpd="sng">
            <a:solidFill>
              <a:srgbClr val="FF0000"/>
            </a:solidFill>
            <a:prstDash val="solid"/>
            <a:headEnd type="none" w="med" len="med"/>
            <a:tailEnd type="none" w="med" len="med"/>
          </a:ln>
        </p:spPr>
      </p:sp>
      <p:sp>
        <p:nvSpPr>
          <p:cNvPr id="2542600" name="Line 8"/>
          <p:cNvSpPr/>
          <p:nvPr/>
        </p:nvSpPr>
        <p:spPr>
          <a:xfrm>
            <a:off x="1412875" y="1516063"/>
            <a:ext cx="323850" cy="0"/>
          </a:xfrm>
          <a:prstGeom prst="line">
            <a:avLst/>
          </a:prstGeom>
          <a:ln w="19050" cap="flat" cmpd="sng">
            <a:solidFill>
              <a:srgbClr val="FF0000"/>
            </a:solidFill>
            <a:prstDash val="solid"/>
            <a:headEnd type="none" w="med" len="med"/>
            <a:tailEnd type="none" w="med" len="med"/>
          </a:ln>
        </p:spPr>
      </p:sp>
      <p:sp>
        <p:nvSpPr>
          <p:cNvPr id="2542601" name="Line 9"/>
          <p:cNvSpPr/>
          <p:nvPr/>
        </p:nvSpPr>
        <p:spPr>
          <a:xfrm>
            <a:off x="1300163" y="1825625"/>
            <a:ext cx="719137" cy="0"/>
          </a:xfrm>
          <a:prstGeom prst="line">
            <a:avLst/>
          </a:prstGeom>
          <a:ln w="19050" cap="flat" cmpd="sng">
            <a:solidFill>
              <a:srgbClr val="FF0000"/>
            </a:solidFill>
            <a:prstDash val="solid"/>
            <a:headEnd type="none" w="med" len="med"/>
            <a:tailEnd type="none" w="med" len="med"/>
          </a:ln>
        </p:spPr>
      </p:sp>
      <p:sp>
        <p:nvSpPr>
          <p:cNvPr id="2542602" name="Line 10"/>
          <p:cNvSpPr/>
          <p:nvPr/>
        </p:nvSpPr>
        <p:spPr>
          <a:xfrm>
            <a:off x="1979613" y="2200275"/>
            <a:ext cx="504825" cy="0"/>
          </a:xfrm>
          <a:prstGeom prst="line">
            <a:avLst/>
          </a:prstGeom>
          <a:ln w="19050" cap="flat" cmpd="sng">
            <a:solidFill>
              <a:srgbClr val="FF0000"/>
            </a:solidFill>
            <a:prstDash val="solid"/>
            <a:headEnd type="none" w="med" len="med"/>
            <a:tailEnd type="none" w="med" len="med"/>
          </a:ln>
        </p:spPr>
      </p:sp>
      <p:sp>
        <p:nvSpPr>
          <p:cNvPr id="2542603" name="Line 11"/>
          <p:cNvSpPr/>
          <p:nvPr/>
        </p:nvSpPr>
        <p:spPr>
          <a:xfrm>
            <a:off x="1404938" y="2200275"/>
            <a:ext cx="323850" cy="0"/>
          </a:xfrm>
          <a:prstGeom prst="line">
            <a:avLst/>
          </a:prstGeom>
          <a:ln w="19050" cap="flat" cmpd="sng">
            <a:solidFill>
              <a:srgbClr val="FF0000"/>
            </a:solidFill>
            <a:prstDash val="solid"/>
            <a:headEnd type="none" w="med" len="med"/>
            <a:tailEnd type="none" w="med" len="med"/>
          </a:ln>
        </p:spPr>
      </p:sp>
      <p:sp>
        <p:nvSpPr>
          <p:cNvPr id="2542604" name="Line 12"/>
          <p:cNvSpPr/>
          <p:nvPr/>
        </p:nvSpPr>
        <p:spPr>
          <a:xfrm>
            <a:off x="1412875" y="2895600"/>
            <a:ext cx="504825" cy="0"/>
          </a:xfrm>
          <a:prstGeom prst="line">
            <a:avLst/>
          </a:prstGeom>
          <a:ln w="19050" cap="flat" cmpd="sng">
            <a:solidFill>
              <a:srgbClr val="FF0000"/>
            </a:solidFill>
            <a:prstDash val="solid"/>
            <a:headEnd type="none" w="med" len="med"/>
            <a:tailEnd type="none" w="med" len="med"/>
          </a:ln>
        </p:spPr>
      </p:sp>
      <p:sp>
        <p:nvSpPr>
          <p:cNvPr id="2542605" name="Line 13"/>
          <p:cNvSpPr/>
          <p:nvPr/>
        </p:nvSpPr>
        <p:spPr>
          <a:xfrm>
            <a:off x="431800" y="3194050"/>
            <a:ext cx="684213" cy="0"/>
          </a:xfrm>
          <a:prstGeom prst="line">
            <a:avLst/>
          </a:prstGeom>
          <a:ln w="19050" cap="flat" cmpd="sng">
            <a:solidFill>
              <a:srgbClr val="FF0000"/>
            </a:solidFill>
            <a:prstDash val="solid"/>
            <a:headEnd type="none" w="med" len="med"/>
            <a:tailEnd type="none" w="med" len="med"/>
          </a:ln>
        </p:spPr>
      </p:sp>
      <p:sp>
        <p:nvSpPr>
          <p:cNvPr id="2542606" name="Line 14"/>
          <p:cNvSpPr/>
          <p:nvPr/>
        </p:nvSpPr>
        <p:spPr>
          <a:xfrm>
            <a:off x="1557338" y="3579813"/>
            <a:ext cx="719137" cy="0"/>
          </a:xfrm>
          <a:prstGeom prst="line">
            <a:avLst/>
          </a:prstGeom>
          <a:ln w="19050" cap="flat" cmpd="sng">
            <a:solidFill>
              <a:srgbClr val="FF0000"/>
            </a:solidFill>
            <a:prstDash val="solid"/>
            <a:headEnd type="none" w="med" len="med"/>
            <a:tailEnd type="none" w="med" len="med"/>
          </a:ln>
        </p:spPr>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42597">
                                            <p:txEl>
                                              <p:charRg st="0" end="28"/>
                                            </p:txEl>
                                          </p:spTgt>
                                        </p:tgtEl>
                                        <p:attrNameLst>
                                          <p:attrName>style.visibility</p:attrName>
                                        </p:attrNameLst>
                                      </p:cBhvr>
                                      <p:to>
                                        <p:strVal val="visible"/>
                                      </p:to>
                                    </p:set>
                                    <p:animEffect transition="in" filter="dissolve">
                                      <p:cBhvr>
                                        <p:cTn id="7" dur="500"/>
                                        <p:tgtEl>
                                          <p:spTgt spid="2542597">
                                            <p:txEl>
                                              <p:charRg st="0" end="28"/>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42600"/>
                                        </p:tgtEl>
                                        <p:attrNameLst>
                                          <p:attrName>style.visibility</p:attrName>
                                        </p:attrNameLst>
                                      </p:cBhvr>
                                      <p:to>
                                        <p:strVal val="visible"/>
                                      </p:to>
                                    </p:set>
                                    <p:animEffect transition="in" filter="dissolve">
                                      <p:cBhvr>
                                        <p:cTn id="10" dur="500"/>
                                        <p:tgtEl>
                                          <p:spTgt spid="2542600"/>
                                        </p:tgtEl>
                                      </p:cBhvr>
                                    </p:animEffect>
                                  </p:childTnLst>
                                </p:cTn>
                              </p:par>
                              <p:par>
                                <p:cTn id="11" presetID="9" presetClass="entr" presetSubtype="0" fill="hold" nodeType="withEffect">
                                  <p:stCondLst>
                                    <p:cond delay="0"/>
                                  </p:stCondLst>
                                  <p:childTnLst>
                                    <p:set>
                                      <p:cBhvr>
                                        <p:cTn id="12" dur="1" fill="hold">
                                          <p:stCondLst>
                                            <p:cond delay="0"/>
                                          </p:stCondLst>
                                        </p:cTn>
                                        <p:tgtEl>
                                          <p:spTgt spid="2542599"/>
                                        </p:tgtEl>
                                        <p:attrNameLst>
                                          <p:attrName>style.visibility</p:attrName>
                                        </p:attrNameLst>
                                      </p:cBhvr>
                                      <p:to>
                                        <p:strVal val="visible"/>
                                      </p:to>
                                    </p:set>
                                    <p:animEffect transition="in" filter="dissolve">
                                      <p:cBhvr>
                                        <p:cTn id="13" dur="500"/>
                                        <p:tgtEl>
                                          <p:spTgt spid="2542599"/>
                                        </p:tgtEl>
                                      </p:cBhvr>
                                    </p:animEffect>
                                  </p:childTnLst>
                                </p:cTn>
                              </p:par>
                              <p:par>
                                <p:cTn id="14" presetID="9" presetClass="entr" presetSubtype="0" fill="hold" nodeType="withEffect">
                                  <p:stCondLst>
                                    <p:cond delay="0"/>
                                  </p:stCondLst>
                                  <p:childTnLst>
                                    <p:set>
                                      <p:cBhvr>
                                        <p:cTn id="15" dur="1" fill="hold">
                                          <p:stCondLst>
                                            <p:cond delay="0"/>
                                          </p:stCondLst>
                                        </p:cTn>
                                        <p:tgtEl>
                                          <p:spTgt spid="2542601"/>
                                        </p:tgtEl>
                                        <p:attrNameLst>
                                          <p:attrName>style.visibility</p:attrName>
                                        </p:attrNameLst>
                                      </p:cBhvr>
                                      <p:to>
                                        <p:strVal val="visible"/>
                                      </p:to>
                                    </p:set>
                                    <p:animEffect transition="in" filter="dissolve">
                                      <p:cBhvr>
                                        <p:cTn id="16" dur="500"/>
                                        <p:tgtEl>
                                          <p:spTgt spid="254260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2542597">
                                            <p:txEl>
                                              <p:charRg st="28" end="44"/>
                                            </p:txEl>
                                          </p:spTgt>
                                        </p:tgtEl>
                                        <p:attrNameLst>
                                          <p:attrName>style.visibility</p:attrName>
                                        </p:attrNameLst>
                                      </p:cBhvr>
                                      <p:to>
                                        <p:strVal val="visible"/>
                                      </p:to>
                                    </p:set>
                                    <p:animEffect transition="in" filter="dissolve">
                                      <p:cBhvr>
                                        <p:cTn id="21" dur="500"/>
                                        <p:tgtEl>
                                          <p:spTgt spid="2542597">
                                            <p:txEl>
                                              <p:charRg st="28" end="4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542603"/>
                                        </p:tgtEl>
                                        <p:attrNameLst>
                                          <p:attrName>style.visibility</p:attrName>
                                        </p:attrNameLst>
                                      </p:cBhvr>
                                      <p:to>
                                        <p:strVal val="visible"/>
                                      </p:to>
                                    </p:set>
                                    <p:animEffect transition="in" filter="dissolve">
                                      <p:cBhvr>
                                        <p:cTn id="24" dur="500"/>
                                        <p:tgtEl>
                                          <p:spTgt spid="2542603"/>
                                        </p:tgtEl>
                                      </p:cBhvr>
                                    </p:animEffect>
                                  </p:childTnLst>
                                </p:cTn>
                              </p:par>
                              <p:par>
                                <p:cTn id="25" presetID="9" presetClass="entr" presetSubtype="0" fill="hold" nodeType="withEffect">
                                  <p:stCondLst>
                                    <p:cond delay="0"/>
                                  </p:stCondLst>
                                  <p:childTnLst>
                                    <p:set>
                                      <p:cBhvr>
                                        <p:cTn id="26" dur="1" fill="hold">
                                          <p:stCondLst>
                                            <p:cond delay="0"/>
                                          </p:stCondLst>
                                        </p:cTn>
                                        <p:tgtEl>
                                          <p:spTgt spid="2542602"/>
                                        </p:tgtEl>
                                        <p:attrNameLst>
                                          <p:attrName>style.visibility</p:attrName>
                                        </p:attrNameLst>
                                      </p:cBhvr>
                                      <p:to>
                                        <p:strVal val="visible"/>
                                      </p:to>
                                    </p:set>
                                    <p:animEffect transition="in" filter="dissolve">
                                      <p:cBhvr>
                                        <p:cTn id="27" dur="500"/>
                                        <p:tgtEl>
                                          <p:spTgt spid="254260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542597">
                                            <p:txEl>
                                              <p:charRg st="44" end="61"/>
                                            </p:txEl>
                                          </p:spTgt>
                                        </p:tgtEl>
                                        <p:attrNameLst>
                                          <p:attrName>style.visibility</p:attrName>
                                        </p:attrNameLst>
                                      </p:cBhvr>
                                      <p:to>
                                        <p:strVal val="visible"/>
                                      </p:to>
                                    </p:set>
                                    <p:animEffect transition="in" filter="dissolve">
                                      <p:cBhvr>
                                        <p:cTn id="32" dur="500"/>
                                        <p:tgtEl>
                                          <p:spTgt spid="2542597">
                                            <p:txEl>
                                              <p:charRg st="44" end="61"/>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2542604"/>
                                        </p:tgtEl>
                                        <p:attrNameLst>
                                          <p:attrName>style.visibility</p:attrName>
                                        </p:attrNameLst>
                                      </p:cBhvr>
                                      <p:to>
                                        <p:strVal val="visible"/>
                                      </p:to>
                                    </p:set>
                                    <p:animEffect transition="in" filter="dissolve">
                                      <p:cBhvr>
                                        <p:cTn id="35" dur="500"/>
                                        <p:tgtEl>
                                          <p:spTgt spid="2542604"/>
                                        </p:tgtEl>
                                      </p:cBhvr>
                                    </p:animEffect>
                                  </p:childTnLst>
                                </p:cTn>
                              </p:par>
                              <p:par>
                                <p:cTn id="36" presetID="9" presetClass="entr" presetSubtype="0" fill="hold" nodeType="withEffect">
                                  <p:stCondLst>
                                    <p:cond delay="0"/>
                                  </p:stCondLst>
                                  <p:childTnLst>
                                    <p:set>
                                      <p:cBhvr>
                                        <p:cTn id="37" dur="1" fill="hold">
                                          <p:stCondLst>
                                            <p:cond delay="0"/>
                                          </p:stCondLst>
                                        </p:cTn>
                                        <p:tgtEl>
                                          <p:spTgt spid="2542605"/>
                                        </p:tgtEl>
                                        <p:attrNameLst>
                                          <p:attrName>style.visibility</p:attrName>
                                        </p:attrNameLst>
                                      </p:cBhvr>
                                      <p:to>
                                        <p:strVal val="visible"/>
                                      </p:to>
                                    </p:set>
                                    <p:animEffect transition="in" filter="dissolve">
                                      <p:cBhvr>
                                        <p:cTn id="38" dur="500"/>
                                        <p:tgtEl>
                                          <p:spTgt spid="2542605"/>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2542597">
                                            <p:txEl>
                                              <p:charRg st="61" end="131"/>
                                            </p:txEl>
                                          </p:spTgt>
                                        </p:tgtEl>
                                        <p:attrNameLst>
                                          <p:attrName>style.visibility</p:attrName>
                                        </p:attrNameLst>
                                      </p:cBhvr>
                                      <p:to>
                                        <p:strVal val="visible"/>
                                      </p:to>
                                    </p:set>
                                    <p:animEffect transition="in" filter="dissolve">
                                      <p:cBhvr>
                                        <p:cTn id="43" dur="500"/>
                                        <p:tgtEl>
                                          <p:spTgt spid="2542597">
                                            <p:txEl>
                                              <p:charRg st="61" end="131"/>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2542606"/>
                                        </p:tgtEl>
                                        <p:attrNameLst>
                                          <p:attrName>style.visibility</p:attrName>
                                        </p:attrNameLst>
                                      </p:cBhvr>
                                      <p:to>
                                        <p:strVal val="visible"/>
                                      </p:to>
                                    </p:set>
                                    <p:animEffect transition="in" filter="dissolve">
                                      <p:cBhvr>
                                        <p:cTn id="46" dur="500"/>
                                        <p:tgtEl>
                                          <p:spTgt spid="25426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3618"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6019"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DAC1210</a:t>
            </a:r>
            <a:endParaRPr lang="en-US" altLang="zh-CN" sz="3200" dirty="0">
              <a:latin typeface="Times New Roman" panose="02020603050405020304" pitchFamily="18" charset="0"/>
            </a:endParaRPr>
          </a:p>
        </p:txBody>
      </p:sp>
      <p:sp>
        <p:nvSpPr>
          <p:cNvPr id="2543623" name="Rectangle 7"/>
          <p:cNvSpPr/>
          <p:nvPr/>
        </p:nvSpPr>
        <p:spPr>
          <a:xfrm>
            <a:off x="395288" y="1416050"/>
            <a:ext cx="2771775" cy="860425"/>
          </a:xfrm>
          <a:prstGeom prst="rect">
            <a:avLst/>
          </a:prstGeom>
          <a:noFill/>
          <a:ln w="9525">
            <a:noFill/>
          </a:ln>
        </p:spPr>
        <p:txBody>
          <a:bodyPr>
            <a:spAutoFit/>
          </a:bodyPr>
          <a:p>
            <a:pPr eaLnBrk="1" hangingPunct="1">
              <a:lnSpc>
                <a:spcPct val="90000"/>
              </a:lnSpc>
            </a:pPr>
            <a:r>
              <a:rPr lang="en-US" altLang="zh-CN" sz="2800" dirty="0">
                <a:solidFill>
                  <a:srgbClr val="FF0000"/>
                </a:solidFill>
                <a:latin typeface="Times New Roman" panose="02020603050405020304" pitchFamily="18" charset="0"/>
                <a:ea typeface="黑体" panose="02010609060101010101" pitchFamily="49" charset="-122"/>
              </a:rPr>
              <a:t>DAC1210</a:t>
            </a:r>
            <a:r>
              <a:rPr lang="zh-CN" altLang="en-US" sz="2800" dirty="0">
                <a:solidFill>
                  <a:srgbClr val="FF0000"/>
                </a:solidFill>
                <a:latin typeface="黑体" panose="02010609060101010101" pitchFamily="49" charset="-122"/>
                <a:ea typeface="黑体" panose="02010609060101010101" pitchFamily="49" charset="-122"/>
              </a:rPr>
              <a:t>的典型接线方式</a:t>
            </a:r>
            <a:endParaRPr lang="zh-CN" altLang="en-US" sz="2800" dirty="0">
              <a:solidFill>
                <a:srgbClr val="FF0000"/>
              </a:solidFill>
              <a:latin typeface="黑体" panose="02010609060101010101" pitchFamily="49" charset="-122"/>
              <a:ea typeface="黑体" panose="02010609060101010101" pitchFamily="49" charset="-122"/>
            </a:endParaRPr>
          </a:p>
        </p:txBody>
      </p:sp>
      <p:pic>
        <p:nvPicPr>
          <p:cNvPr id="2543624" name="Picture 8"/>
          <p:cNvPicPr>
            <a:picLocks noChangeAspect="1"/>
          </p:cNvPicPr>
          <p:nvPr/>
        </p:nvPicPr>
        <p:blipFill>
          <a:blip r:embed="rId1"/>
          <a:stretch>
            <a:fillRect/>
          </a:stretch>
        </p:blipFill>
        <p:spPr>
          <a:xfrm>
            <a:off x="3392488" y="620713"/>
            <a:ext cx="5653087" cy="5548312"/>
          </a:xfrm>
          <a:prstGeom prst="rect">
            <a:avLst/>
          </a:prstGeom>
          <a:noFill/>
          <a:ln w="9525" cap="flat" cmpd="sng">
            <a:solidFill>
              <a:srgbClr val="FF6600"/>
            </a:solidFill>
            <a:prstDash val="solid"/>
            <a:miter/>
            <a:headEnd type="none" w="med" len="med"/>
            <a:tailEnd type="none" w="med" len="med"/>
          </a:ln>
        </p:spPr>
      </p:pic>
      <p:pic>
        <p:nvPicPr>
          <p:cNvPr id="2543625" name="Picture 9"/>
          <p:cNvPicPr>
            <a:picLocks noChangeAspect="1"/>
          </p:cNvPicPr>
          <p:nvPr/>
        </p:nvPicPr>
        <p:blipFill>
          <a:blip r:embed="rId2"/>
          <a:stretch>
            <a:fillRect/>
          </a:stretch>
        </p:blipFill>
        <p:spPr>
          <a:xfrm>
            <a:off x="204788" y="3679825"/>
            <a:ext cx="3179762" cy="1873250"/>
          </a:xfrm>
          <a:prstGeom prst="rect">
            <a:avLst/>
          </a:prstGeom>
          <a:noFill/>
          <a:ln w="9525" cap="flat" cmpd="sng">
            <a:solidFill>
              <a:srgbClr val="FF6600"/>
            </a:solidFill>
            <a:prstDash val="solid"/>
            <a:miter/>
            <a:headEnd type="none" w="med" len="med"/>
            <a:tailEnd type="none" w="med" len="med"/>
          </a:ln>
        </p:spPr>
      </p:pic>
      <p:sp>
        <p:nvSpPr>
          <p:cNvPr id="2543626" name="Text Box 10"/>
          <p:cNvSpPr txBox="1"/>
          <p:nvPr/>
        </p:nvSpPr>
        <p:spPr>
          <a:xfrm>
            <a:off x="539750" y="2420938"/>
            <a:ext cx="2592388" cy="860425"/>
          </a:xfrm>
          <a:prstGeom prst="rect">
            <a:avLst/>
          </a:prstGeom>
          <a:no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rPr>
              <a:t>与微机的</a:t>
            </a:r>
            <a:r>
              <a:rPr lang="en-US" altLang="zh-CN" sz="2800" dirty="0">
                <a:latin typeface="Times New Roman" panose="02020603050405020304" pitchFamily="18" charset="0"/>
              </a:rPr>
              <a:t>16</a:t>
            </a:r>
            <a:r>
              <a:rPr lang="zh-CN" altLang="en-US" sz="2800" dirty="0">
                <a:latin typeface="Times New Roman" panose="02020603050405020304" pitchFamily="18" charset="0"/>
              </a:rPr>
              <a:t>位总线连接</a:t>
            </a:r>
            <a:endParaRPr lang="zh-CN" altLang="en-US" sz="2800" dirty="0">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43623"/>
                                        </p:tgtEl>
                                        <p:attrNameLst>
                                          <p:attrName>style.visibility</p:attrName>
                                        </p:attrNameLst>
                                      </p:cBhvr>
                                      <p:to>
                                        <p:strVal val="visible"/>
                                      </p:to>
                                    </p:set>
                                    <p:animEffect transition="in" filter="dissolve">
                                      <p:cBhvr>
                                        <p:cTn id="7" dur="500"/>
                                        <p:tgtEl>
                                          <p:spTgt spid="25436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43626"/>
                                        </p:tgtEl>
                                        <p:attrNameLst>
                                          <p:attrName>style.visibility</p:attrName>
                                        </p:attrNameLst>
                                      </p:cBhvr>
                                      <p:to>
                                        <p:strVal val="visible"/>
                                      </p:to>
                                    </p:set>
                                    <p:animEffect transition="in" filter="dissolve">
                                      <p:cBhvr>
                                        <p:cTn id="12" dur="500"/>
                                        <p:tgtEl>
                                          <p:spTgt spid="25436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43624"/>
                                        </p:tgtEl>
                                        <p:attrNameLst>
                                          <p:attrName>style.visibility</p:attrName>
                                        </p:attrNameLst>
                                      </p:cBhvr>
                                      <p:to>
                                        <p:strVal val="visible"/>
                                      </p:to>
                                    </p:set>
                                    <p:animEffect transition="in" filter="dissolve">
                                      <p:cBhvr>
                                        <p:cTn id="17" dur="500"/>
                                        <p:tgtEl>
                                          <p:spTgt spid="254362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3625"/>
                                        </p:tgtEl>
                                        <p:attrNameLst>
                                          <p:attrName>style.visibility</p:attrName>
                                        </p:attrNameLst>
                                      </p:cBhvr>
                                      <p:to>
                                        <p:strVal val="visible"/>
                                      </p:to>
                                    </p:set>
                                    <p:animEffect transition="in" filter="dissolve">
                                      <p:cBhvr>
                                        <p:cTn id="22" dur="500"/>
                                        <p:tgtEl>
                                          <p:spTgt spid="25436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3623" grpId="0"/>
      <p:bldP spid="2543626" grpId="0"/>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5666"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87043" name="Rectangle 3"/>
          <p:cNvSpPr/>
          <p:nvPr/>
        </p:nvSpPr>
        <p:spPr>
          <a:xfrm>
            <a:off x="395288" y="728663"/>
            <a:ext cx="248443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2. DAC1210</a:t>
            </a:r>
            <a:endParaRPr lang="en-US" altLang="zh-CN" sz="3200" dirty="0">
              <a:latin typeface="Times New Roman" panose="02020603050405020304" pitchFamily="18" charset="0"/>
            </a:endParaRPr>
          </a:p>
        </p:txBody>
      </p:sp>
      <p:sp>
        <p:nvSpPr>
          <p:cNvPr id="87044" name="Rectangle 4"/>
          <p:cNvSpPr/>
          <p:nvPr/>
        </p:nvSpPr>
        <p:spPr>
          <a:xfrm>
            <a:off x="395288" y="1416050"/>
            <a:ext cx="4641850" cy="476250"/>
          </a:xfrm>
          <a:prstGeom prst="rect">
            <a:avLst/>
          </a:prstGeom>
          <a:noFill/>
          <a:ln w="9525">
            <a:noFill/>
          </a:ln>
        </p:spPr>
        <p:txBody>
          <a:bodyPr>
            <a:spAutoFit/>
          </a:bodyPr>
          <a:p>
            <a:pPr eaLnBrk="1" hangingPunct="1">
              <a:lnSpc>
                <a:spcPct val="90000"/>
              </a:lnSpc>
            </a:pPr>
            <a:r>
              <a:rPr lang="en-US" altLang="zh-CN" sz="2800" dirty="0">
                <a:solidFill>
                  <a:srgbClr val="FF0000"/>
                </a:solidFill>
                <a:latin typeface="Times New Roman" panose="02020603050405020304" pitchFamily="18" charset="0"/>
                <a:ea typeface="黑体" panose="02010609060101010101" pitchFamily="49" charset="-122"/>
              </a:rPr>
              <a:t>DAC1210</a:t>
            </a:r>
            <a:r>
              <a:rPr lang="zh-CN" altLang="en-US" sz="2800" dirty="0">
                <a:solidFill>
                  <a:srgbClr val="FF0000"/>
                </a:solidFill>
                <a:latin typeface="黑体" panose="02010609060101010101" pitchFamily="49" charset="-122"/>
                <a:ea typeface="黑体" panose="02010609060101010101" pitchFamily="49" charset="-122"/>
              </a:rPr>
              <a:t>的典型接线方式</a:t>
            </a:r>
            <a:endParaRPr lang="zh-CN" altLang="en-US" sz="2800" dirty="0">
              <a:solidFill>
                <a:srgbClr val="FF0000"/>
              </a:solidFill>
              <a:latin typeface="黑体" panose="02010609060101010101" pitchFamily="49" charset="-122"/>
              <a:ea typeface="黑体" panose="02010609060101010101" pitchFamily="49" charset="-122"/>
            </a:endParaRPr>
          </a:p>
        </p:txBody>
      </p:sp>
      <p:sp>
        <p:nvSpPr>
          <p:cNvPr id="2545671" name="Text Box 7"/>
          <p:cNvSpPr txBox="1"/>
          <p:nvPr/>
        </p:nvSpPr>
        <p:spPr>
          <a:xfrm>
            <a:off x="4789488" y="1416050"/>
            <a:ext cx="4030662" cy="476250"/>
          </a:xfrm>
          <a:prstGeom prst="rect">
            <a:avLst/>
          </a:prstGeom>
          <a:noFill/>
          <a:ln w="9525">
            <a:noFill/>
          </a:ln>
        </p:spPr>
        <p:txBody>
          <a:bodyPr>
            <a:spAutoFit/>
          </a:bodyPr>
          <a:p>
            <a:pPr eaLnBrk="1" hangingPunct="1">
              <a:lnSpc>
                <a:spcPct val="90000"/>
              </a:lnSpc>
              <a:spcBef>
                <a:spcPct val="50000"/>
              </a:spcBef>
            </a:pPr>
            <a:r>
              <a:rPr lang="zh-CN" altLang="en-US" sz="2800" dirty="0">
                <a:latin typeface="Times New Roman" panose="02020603050405020304" pitchFamily="18" charset="0"/>
              </a:rPr>
              <a:t>与微机的</a:t>
            </a:r>
            <a:r>
              <a:rPr lang="en-US" altLang="zh-CN" sz="2800" dirty="0">
                <a:latin typeface="Times New Roman" panose="02020603050405020304" pitchFamily="18" charset="0"/>
              </a:rPr>
              <a:t>8</a:t>
            </a:r>
            <a:r>
              <a:rPr lang="zh-CN" altLang="en-US" sz="2800" dirty="0">
                <a:latin typeface="Times New Roman" panose="02020603050405020304" pitchFamily="18" charset="0"/>
              </a:rPr>
              <a:t>位总线连接</a:t>
            </a:r>
            <a:endParaRPr lang="zh-CN" altLang="en-US" sz="2800" dirty="0">
              <a:latin typeface="Times New Roman" panose="02020603050405020304" pitchFamily="18" charset="0"/>
            </a:endParaRPr>
          </a:p>
        </p:txBody>
      </p:sp>
      <p:sp>
        <p:nvSpPr>
          <p:cNvPr id="2545893" name="Text Box 229"/>
          <p:cNvSpPr txBox="1"/>
          <p:nvPr/>
        </p:nvSpPr>
        <p:spPr>
          <a:xfrm>
            <a:off x="179388" y="1952625"/>
            <a:ext cx="2484437" cy="420688"/>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ea typeface="黑体" panose="02010609060101010101" pitchFamily="49" charset="-122"/>
              </a:rPr>
              <a:t>正确的操作步骤：</a:t>
            </a:r>
            <a:endParaRPr lang="zh-CN" altLang="en-US" sz="2400" dirty="0">
              <a:solidFill>
                <a:schemeClr val="tx1"/>
              </a:solidFill>
              <a:latin typeface="Times New Roman" panose="02020603050405020304" pitchFamily="18" charset="0"/>
              <a:ea typeface="黑体" panose="02010609060101010101" pitchFamily="49" charset="-122"/>
            </a:endParaRPr>
          </a:p>
        </p:txBody>
      </p:sp>
      <p:sp>
        <p:nvSpPr>
          <p:cNvPr id="2545895" name="Text Box 231"/>
          <p:cNvSpPr txBox="1"/>
          <p:nvPr/>
        </p:nvSpPr>
        <p:spPr>
          <a:xfrm>
            <a:off x="179388" y="2447925"/>
            <a:ext cx="2952750" cy="3692525"/>
          </a:xfrm>
          <a:prstGeom prst="rect">
            <a:avLst/>
          </a:prstGeom>
          <a:noFill/>
          <a:ln w="9525">
            <a:noFill/>
          </a:ln>
        </p:spPr>
        <p:txBody>
          <a:bodyPr>
            <a:spAutoFit/>
          </a:bodyPr>
          <a:p>
            <a:pPr marL="266700" indent="-266700" eaLnBrk="1" hangingPunct="1">
              <a:lnSpc>
                <a:spcPct val="90000"/>
              </a:lnSpc>
              <a:spcBef>
                <a:spcPct val="50000"/>
              </a:spcBef>
              <a:buClr>
                <a:srgbClr val="FF0000"/>
              </a:buClr>
              <a:buFont typeface="Wingdings" panose="05000000000000000000" pitchFamily="2" charset="2"/>
              <a:buChar char="u"/>
            </a:pPr>
            <a:r>
              <a:rPr lang="zh-CN" altLang="en-US" sz="2000" dirty="0">
                <a:latin typeface="Times New Roman" panose="02020603050405020304" pitchFamily="18" charset="0"/>
              </a:rPr>
              <a:t>先使</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为高电平，将高</a:t>
            </a:r>
            <a:r>
              <a:rPr lang="en-US" altLang="zh-CN" sz="2000" dirty="0">
                <a:solidFill>
                  <a:srgbClr val="FF0000"/>
                </a:solidFill>
                <a:latin typeface="Times New Roman" panose="02020603050405020304" pitchFamily="18" charset="0"/>
              </a:rPr>
              <a:t>8</a:t>
            </a:r>
            <a:r>
              <a:rPr lang="zh-CN" altLang="en-US" sz="2000" dirty="0">
                <a:latin typeface="Times New Roman" panose="02020603050405020304" pitchFamily="18" charset="0"/>
              </a:rPr>
              <a:t>位数据写入</a:t>
            </a:r>
            <a:r>
              <a:rPr lang="en-US" altLang="zh-CN" sz="2000" dirty="0">
                <a:solidFill>
                  <a:srgbClr val="FF0000"/>
                </a:solidFill>
                <a:latin typeface="Times New Roman" panose="02020603050405020304" pitchFamily="18" charset="0"/>
              </a:rPr>
              <a:t>8</a:t>
            </a:r>
            <a:r>
              <a:rPr lang="zh-CN" altLang="en-US" sz="2000" dirty="0">
                <a:latin typeface="Times New Roman" panose="02020603050405020304" pitchFamily="18" charset="0"/>
              </a:rPr>
              <a:t>位寄存器；</a:t>
            </a:r>
            <a:r>
              <a:rPr lang="en-US" altLang="zh-CN" sz="2000" dirty="0">
                <a:latin typeface="Times New Roman" panose="02020603050405020304" pitchFamily="18" charset="0"/>
              </a:rPr>
              <a:t>(</a:t>
            </a:r>
            <a:r>
              <a:rPr lang="zh-CN" altLang="en-US" sz="2000" dirty="0">
                <a:latin typeface="Times New Roman" panose="02020603050405020304" pitchFamily="18" charset="0"/>
              </a:rPr>
              <a:t>地址</a:t>
            </a:r>
            <a:r>
              <a:rPr lang="en-US" altLang="zh-CN" sz="2000" dirty="0">
                <a:solidFill>
                  <a:srgbClr val="FF0000"/>
                </a:solidFill>
                <a:latin typeface="Times New Roman" panose="02020603050405020304" pitchFamily="18" charset="0"/>
              </a:rPr>
              <a:t>220H</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marL="266700" indent="-266700" eaLnBrk="1" hangingPunct="1">
              <a:lnSpc>
                <a:spcPct val="90000"/>
              </a:lnSpc>
              <a:spcBef>
                <a:spcPct val="50000"/>
              </a:spcBef>
              <a:buClr>
                <a:srgbClr val="FF0000"/>
              </a:buClr>
              <a:buFont typeface="Wingdings" panose="05000000000000000000" pitchFamily="2" charset="2"/>
              <a:buChar char="u"/>
            </a:pPr>
            <a:r>
              <a:rPr lang="zh-CN" altLang="en-US" sz="2000" dirty="0">
                <a:latin typeface="Times New Roman" panose="02020603050405020304" pitchFamily="18" charset="0"/>
              </a:rPr>
              <a:t>然后使</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1</a:t>
            </a:r>
            <a:r>
              <a:rPr lang="en-US" altLang="zh-CN" sz="2000" dirty="0">
                <a:solidFill>
                  <a:srgbClr val="FF0000"/>
                </a:solidFill>
                <a:latin typeface="Times New Roman" panose="02020603050405020304" pitchFamily="18" charset="0"/>
              </a:rPr>
              <a:t>/BYTE</a:t>
            </a:r>
            <a:r>
              <a:rPr lang="en-US" altLang="zh-CN" sz="2000" baseline="-25000" dirty="0">
                <a:solidFill>
                  <a:srgbClr val="FF0000"/>
                </a:solidFill>
                <a:latin typeface="Times New Roman" panose="02020603050405020304" pitchFamily="18" charset="0"/>
              </a:rPr>
              <a:t>2</a:t>
            </a:r>
            <a:r>
              <a:rPr lang="zh-CN" altLang="en-US" sz="2000" dirty="0">
                <a:latin typeface="Times New Roman" panose="02020603050405020304" pitchFamily="18" charset="0"/>
              </a:rPr>
              <a:t>为低电平，保护</a:t>
            </a:r>
            <a:r>
              <a:rPr lang="en-US" altLang="zh-CN" sz="2000" dirty="0">
                <a:solidFill>
                  <a:srgbClr val="FF0000"/>
                </a:solidFill>
                <a:latin typeface="Times New Roman" panose="02020603050405020304" pitchFamily="18" charset="0"/>
              </a:rPr>
              <a:t>8</a:t>
            </a:r>
            <a:r>
              <a:rPr lang="zh-CN" altLang="en-US" sz="2000" dirty="0">
                <a:latin typeface="Times New Roman" panose="02020603050405020304" pitchFamily="18" charset="0"/>
              </a:rPr>
              <a:t>位寄存器内容，将低</a:t>
            </a:r>
            <a:r>
              <a:rPr lang="en-US" altLang="zh-CN" sz="2000" dirty="0">
                <a:solidFill>
                  <a:srgbClr val="FF0000"/>
                </a:solidFill>
                <a:latin typeface="Times New Roman" panose="02020603050405020304" pitchFamily="18" charset="0"/>
              </a:rPr>
              <a:t>4</a:t>
            </a:r>
            <a:r>
              <a:rPr lang="zh-CN" altLang="en-US" sz="2000" dirty="0">
                <a:latin typeface="Times New Roman" panose="02020603050405020304" pitchFamily="18" charset="0"/>
              </a:rPr>
              <a:t>位数据写入</a:t>
            </a:r>
            <a:r>
              <a:rPr lang="en-US" altLang="zh-CN" sz="2000" dirty="0">
                <a:solidFill>
                  <a:srgbClr val="FF0000"/>
                </a:solidFill>
                <a:latin typeface="Times New Roman" panose="02020603050405020304" pitchFamily="18" charset="0"/>
              </a:rPr>
              <a:t>4</a:t>
            </a:r>
            <a:r>
              <a:rPr lang="zh-CN" altLang="en-US" sz="2000" dirty="0">
                <a:latin typeface="Times New Roman" panose="02020603050405020304" pitchFamily="18" charset="0"/>
              </a:rPr>
              <a:t>位寄存器；</a:t>
            </a:r>
            <a:r>
              <a:rPr lang="en-US" altLang="zh-CN" sz="2000" dirty="0">
                <a:latin typeface="Times New Roman" panose="02020603050405020304" pitchFamily="18" charset="0"/>
              </a:rPr>
              <a:t>(</a:t>
            </a:r>
            <a:r>
              <a:rPr lang="zh-CN" altLang="en-US" sz="2000" dirty="0">
                <a:latin typeface="Times New Roman" panose="02020603050405020304" pitchFamily="18" charset="0"/>
              </a:rPr>
              <a:t>地址</a:t>
            </a:r>
            <a:r>
              <a:rPr lang="en-US" altLang="zh-CN" sz="2000" dirty="0">
                <a:solidFill>
                  <a:srgbClr val="FF0000"/>
                </a:solidFill>
                <a:latin typeface="Times New Roman" panose="02020603050405020304" pitchFamily="18" charset="0"/>
              </a:rPr>
              <a:t>221H</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a:p>
            <a:pPr marL="266700" indent="-266700" eaLnBrk="1" hangingPunct="1">
              <a:lnSpc>
                <a:spcPct val="90000"/>
              </a:lnSpc>
              <a:spcBef>
                <a:spcPct val="50000"/>
              </a:spcBef>
              <a:buClr>
                <a:srgbClr val="FF0000"/>
              </a:buClr>
              <a:buFont typeface="Wingdings" panose="05000000000000000000" pitchFamily="2" charset="2"/>
              <a:buChar char="u"/>
            </a:pPr>
            <a:r>
              <a:rPr lang="zh-CN" altLang="en-US" sz="2000" dirty="0">
                <a:latin typeface="Times New Roman" panose="02020603050405020304" pitchFamily="18" charset="0"/>
              </a:rPr>
              <a:t>最后使</a:t>
            </a:r>
            <a:r>
              <a:rPr lang="en-US" altLang="zh-CN" sz="2000" dirty="0">
                <a:solidFill>
                  <a:srgbClr val="FF0000"/>
                </a:solidFill>
                <a:latin typeface="Times New Roman" panose="02020603050405020304" pitchFamily="18" charset="0"/>
              </a:rPr>
              <a:t>XFER</a:t>
            </a:r>
            <a:r>
              <a:rPr lang="zh-CN" altLang="en-US" sz="2000" dirty="0">
                <a:latin typeface="Times New Roman" panose="02020603050405020304" pitchFamily="18" charset="0"/>
              </a:rPr>
              <a:t>为低电平，使</a:t>
            </a:r>
            <a:r>
              <a:rPr lang="en-US" altLang="zh-CN" sz="2000" dirty="0">
                <a:latin typeface="Times New Roman" panose="02020603050405020304" pitchFamily="18" charset="0"/>
              </a:rPr>
              <a:t>DA</a:t>
            </a:r>
            <a:r>
              <a:rPr lang="zh-CN" altLang="en-US" sz="2000" dirty="0">
                <a:latin typeface="Times New Roman" panose="02020603050405020304" pitchFamily="18" charset="0"/>
              </a:rPr>
              <a:t>转换器工作。</a:t>
            </a:r>
            <a:r>
              <a:rPr lang="en-US" altLang="zh-CN" sz="2000" dirty="0">
                <a:latin typeface="Times New Roman" panose="02020603050405020304" pitchFamily="18" charset="0"/>
              </a:rPr>
              <a:t>(</a:t>
            </a:r>
            <a:r>
              <a:rPr lang="zh-CN" altLang="en-US" sz="2000" dirty="0">
                <a:latin typeface="Times New Roman" panose="02020603050405020304" pitchFamily="18" charset="0"/>
              </a:rPr>
              <a:t>地址</a:t>
            </a:r>
            <a:r>
              <a:rPr lang="en-US" altLang="zh-CN" sz="2000" dirty="0">
                <a:solidFill>
                  <a:srgbClr val="FF0000"/>
                </a:solidFill>
                <a:latin typeface="Times New Roman" panose="02020603050405020304" pitchFamily="18" charset="0"/>
              </a:rPr>
              <a:t>222H</a:t>
            </a:r>
            <a:r>
              <a:rPr lang="en-US" altLang="zh-CN" sz="2000" dirty="0">
                <a:latin typeface="Times New Roman" panose="02020603050405020304" pitchFamily="18" charset="0"/>
              </a:rPr>
              <a:t>)</a:t>
            </a:r>
            <a:endParaRPr lang="en-US" altLang="zh-CN" sz="2000" dirty="0">
              <a:latin typeface="Times New Roman" panose="02020603050405020304" pitchFamily="18" charset="0"/>
            </a:endParaRPr>
          </a:p>
        </p:txBody>
      </p:sp>
      <p:sp>
        <p:nvSpPr>
          <p:cNvPr id="2545896" name="Line 232"/>
          <p:cNvSpPr/>
          <p:nvPr/>
        </p:nvSpPr>
        <p:spPr>
          <a:xfrm>
            <a:off x="1871663" y="2484438"/>
            <a:ext cx="792162" cy="0"/>
          </a:xfrm>
          <a:prstGeom prst="line">
            <a:avLst/>
          </a:prstGeom>
          <a:ln w="15875" cap="flat" cmpd="sng">
            <a:solidFill>
              <a:srgbClr val="FF0000"/>
            </a:solidFill>
            <a:prstDash val="solid"/>
            <a:headEnd type="none" w="med" len="med"/>
            <a:tailEnd type="none" w="med" len="med"/>
          </a:ln>
        </p:spPr>
      </p:sp>
      <p:sp>
        <p:nvSpPr>
          <p:cNvPr id="2545897" name="Line 233"/>
          <p:cNvSpPr/>
          <p:nvPr/>
        </p:nvSpPr>
        <p:spPr>
          <a:xfrm>
            <a:off x="2149475" y="3744913"/>
            <a:ext cx="792163" cy="0"/>
          </a:xfrm>
          <a:prstGeom prst="line">
            <a:avLst/>
          </a:prstGeom>
          <a:ln w="15875" cap="flat" cmpd="sng">
            <a:solidFill>
              <a:srgbClr val="FF0000"/>
            </a:solidFill>
            <a:prstDash val="solid"/>
            <a:headEnd type="none" w="med" len="med"/>
            <a:tailEnd type="none" w="med" len="med"/>
          </a:ln>
        </p:spPr>
      </p:sp>
      <p:sp>
        <p:nvSpPr>
          <p:cNvPr id="2545898" name="Line 234"/>
          <p:cNvSpPr/>
          <p:nvPr/>
        </p:nvSpPr>
        <p:spPr>
          <a:xfrm>
            <a:off x="1309688" y="5264150"/>
            <a:ext cx="706437" cy="0"/>
          </a:xfrm>
          <a:prstGeom prst="line">
            <a:avLst/>
          </a:prstGeom>
          <a:ln w="15875" cap="flat" cmpd="sng">
            <a:solidFill>
              <a:srgbClr val="FF0000"/>
            </a:solidFill>
            <a:prstDash val="solid"/>
            <a:headEnd type="none" w="med" len="med"/>
            <a:tailEnd type="none" w="med" len="med"/>
          </a:ln>
        </p:spPr>
      </p:sp>
      <p:grpSp>
        <p:nvGrpSpPr>
          <p:cNvPr id="2545901" name="Group 237"/>
          <p:cNvGrpSpPr/>
          <p:nvPr/>
        </p:nvGrpSpPr>
        <p:grpSpPr>
          <a:xfrm>
            <a:off x="3132138" y="1916113"/>
            <a:ext cx="5903912" cy="3635375"/>
            <a:chOff x="1973" y="1207"/>
            <a:chExt cx="3719" cy="2290"/>
          </a:xfrm>
        </p:grpSpPr>
        <p:sp>
          <p:nvSpPr>
            <p:cNvPr id="87052" name="Rectangle 9"/>
            <p:cNvSpPr/>
            <p:nvPr/>
          </p:nvSpPr>
          <p:spPr>
            <a:xfrm>
              <a:off x="1973" y="1207"/>
              <a:ext cx="3719" cy="2290"/>
            </a:xfrm>
            <a:prstGeom prst="rect">
              <a:avLst/>
            </a:prstGeom>
            <a:solidFill>
              <a:srgbClr val="FFFF99"/>
            </a:solidFill>
            <a:ln w="9525">
              <a:noFill/>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87053" name="Rectangle 12"/>
            <p:cNvSpPr/>
            <p:nvPr/>
          </p:nvSpPr>
          <p:spPr>
            <a:xfrm>
              <a:off x="3751" y="1270"/>
              <a:ext cx="981" cy="2159"/>
            </a:xfrm>
            <a:prstGeom prst="rect">
              <a:avLst/>
            </a:prstGeom>
            <a:solidFill>
              <a:srgbClr val="FFCC99"/>
            </a:solidFill>
            <a:ln w="19050"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054" name="Rectangle 20"/>
            <p:cNvSpPr/>
            <p:nvPr/>
          </p:nvSpPr>
          <p:spPr>
            <a:xfrm>
              <a:off x="3796" y="1300"/>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a:t>
              </a:r>
              <a:endParaRPr lang="en-US" altLang="zh-CN" dirty="0">
                <a:latin typeface="Times New Roman" panose="02020603050405020304" pitchFamily="18" charset="0"/>
              </a:endParaRPr>
            </a:p>
          </p:txBody>
        </p:sp>
        <p:sp>
          <p:nvSpPr>
            <p:cNvPr id="87055" name="Rectangle 21"/>
            <p:cNvSpPr/>
            <p:nvPr/>
          </p:nvSpPr>
          <p:spPr>
            <a:xfrm>
              <a:off x="3864" y="1330"/>
              <a:ext cx="48"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11</a:t>
              </a:r>
              <a:endParaRPr lang="en-US" altLang="zh-CN" dirty="0">
                <a:latin typeface="Times New Roman" panose="02020603050405020304" pitchFamily="18" charset="0"/>
              </a:endParaRPr>
            </a:p>
          </p:txBody>
        </p:sp>
        <p:sp>
          <p:nvSpPr>
            <p:cNvPr id="87056" name="Line 22"/>
            <p:cNvSpPr/>
            <p:nvPr/>
          </p:nvSpPr>
          <p:spPr>
            <a:xfrm flipV="1">
              <a:off x="3835" y="1525"/>
              <a:ext cx="0" cy="3"/>
            </a:xfrm>
            <a:prstGeom prst="line">
              <a:avLst/>
            </a:prstGeom>
            <a:ln w="25400" cap="rnd" cmpd="sng">
              <a:solidFill>
                <a:srgbClr val="000000"/>
              </a:solidFill>
              <a:prstDash val="solid"/>
              <a:headEnd type="none" w="med" len="med"/>
              <a:tailEnd type="none" w="med" len="med"/>
            </a:ln>
          </p:spPr>
        </p:sp>
        <p:sp>
          <p:nvSpPr>
            <p:cNvPr id="87057" name="Line 23"/>
            <p:cNvSpPr/>
            <p:nvPr/>
          </p:nvSpPr>
          <p:spPr>
            <a:xfrm flipV="1">
              <a:off x="3835" y="1462"/>
              <a:ext cx="0" cy="2"/>
            </a:xfrm>
            <a:prstGeom prst="line">
              <a:avLst/>
            </a:prstGeom>
            <a:ln w="25400" cap="rnd" cmpd="sng">
              <a:solidFill>
                <a:srgbClr val="000000"/>
              </a:solidFill>
              <a:prstDash val="solid"/>
              <a:headEnd type="none" w="med" len="med"/>
              <a:tailEnd type="none" w="med" len="med"/>
            </a:ln>
          </p:spPr>
        </p:sp>
        <p:sp>
          <p:nvSpPr>
            <p:cNvPr id="87058" name="Line 24"/>
            <p:cNvSpPr/>
            <p:nvPr/>
          </p:nvSpPr>
          <p:spPr>
            <a:xfrm flipV="1">
              <a:off x="3835" y="1588"/>
              <a:ext cx="0" cy="3"/>
            </a:xfrm>
            <a:prstGeom prst="line">
              <a:avLst/>
            </a:prstGeom>
            <a:ln w="25400" cap="rnd" cmpd="sng">
              <a:solidFill>
                <a:srgbClr val="000000"/>
              </a:solidFill>
              <a:prstDash val="solid"/>
              <a:headEnd type="none" w="med" len="med"/>
              <a:tailEnd type="none" w="med" len="med"/>
            </a:ln>
          </p:spPr>
        </p:sp>
        <p:sp>
          <p:nvSpPr>
            <p:cNvPr id="87059" name="Line 25"/>
            <p:cNvSpPr/>
            <p:nvPr/>
          </p:nvSpPr>
          <p:spPr>
            <a:xfrm flipV="1">
              <a:off x="3835" y="1651"/>
              <a:ext cx="0" cy="3"/>
            </a:xfrm>
            <a:prstGeom prst="line">
              <a:avLst/>
            </a:prstGeom>
            <a:ln w="25400" cap="rnd" cmpd="sng">
              <a:solidFill>
                <a:srgbClr val="000000"/>
              </a:solidFill>
              <a:prstDash val="solid"/>
              <a:headEnd type="none" w="med" len="med"/>
              <a:tailEnd type="none" w="med" len="med"/>
            </a:ln>
          </p:spPr>
        </p:sp>
        <p:sp>
          <p:nvSpPr>
            <p:cNvPr id="87060" name="Line 26"/>
            <p:cNvSpPr/>
            <p:nvPr/>
          </p:nvSpPr>
          <p:spPr>
            <a:xfrm flipV="1">
              <a:off x="3835" y="1715"/>
              <a:ext cx="0" cy="2"/>
            </a:xfrm>
            <a:prstGeom prst="line">
              <a:avLst/>
            </a:prstGeom>
            <a:ln w="25400" cap="rnd" cmpd="sng">
              <a:solidFill>
                <a:srgbClr val="000000"/>
              </a:solidFill>
              <a:prstDash val="solid"/>
              <a:headEnd type="none" w="med" len="med"/>
              <a:tailEnd type="none" w="med" len="med"/>
            </a:ln>
          </p:spPr>
        </p:sp>
        <p:sp>
          <p:nvSpPr>
            <p:cNvPr id="87061" name="Rectangle 27"/>
            <p:cNvSpPr/>
            <p:nvPr/>
          </p:nvSpPr>
          <p:spPr>
            <a:xfrm>
              <a:off x="3796" y="1790"/>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a:t>
              </a:r>
              <a:endParaRPr lang="en-US" altLang="zh-CN" dirty="0">
                <a:latin typeface="Times New Roman" panose="02020603050405020304" pitchFamily="18" charset="0"/>
              </a:endParaRPr>
            </a:p>
          </p:txBody>
        </p:sp>
        <p:sp>
          <p:nvSpPr>
            <p:cNvPr id="87062" name="Rectangle 28"/>
            <p:cNvSpPr/>
            <p:nvPr/>
          </p:nvSpPr>
          <p:spPr>
            <a:xfrm>
              <a:off x="3873" y="1819"/>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4</a:t>
              </a:r>
              <a:endParaRPr lang="en-US" altLang="zh-CN" dirty="0">
                <a:latin typeface="Times New Roman" panose="02020603050405020304" pitchFamily="18" charset="0"/>
              </a:endParaRPr>
            </a:p>
          </p:txBody>
        </p:sp>
        <p:sp>
          <p:nvSpPr>
            <p:cNvPr id="87063" name="Rectangle 29"/>
            <p:cNvSpPr/>
            <p:nvPr/>
          </p:nvSpPr>
          <p:spPr>
            <a:xfrm>
              <a:off x="3796" y="1937"/>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a:t>
              </a:r>
              <a:endParaRPr lang="en-US" altLang="zh-CN" dirty="0">
                <a:latin typeface="Times New Roman" panose="02020603050405020304" pitchFamily="18" charset="0"/>
              </a:endParaRPr>
            </a:p>
          </p:txBody>
        </p:sp>
        <p:sp>
          <p:nvSpPr>
            <p:cNvPr id="87064" name="Rectangle 30"/>
            <p:cNvSpPr/>
            <p:nvPr/>
          </p:nvSpPr>
          <p:spPr>
            <a:xfrm>
              <a:off x="3873" y="1966"/>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3</a:t>
              </a:r>
              <a:endParaRPr lang="en-US" altLang="zh-CN" dirty="0">
                <a:latin typeface="Times New Roman" panose="02020603050405020304" pitchFamily="18" charset="0"/>
              </a:endParaRPr>
            </a:p>
          </p:txBody>
        </p:sp>
        <p:sp>
          <p:nvSpPr>
            <p:cNvPr id="87065" name="Rectangle 31"/>
            <p:cNvSpPr/>
            <p:nvPr/>
          </p:nvSpPr>
          <p:spPr>
            <a:xfrm>
              <a:off x="3796" y="2191"/>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a:t>
              </a:r>
              <a:endParaRPr lang="en-US" altLang="zh-CN" dirty="0">
                <a:latin typeface="Times New Roman" panose="02020603050405020304" pitchFamily="18" charset="0"/>
              </a:endParaRPr>
            </a:p>
          </p:txBody>
        </p:sp>
        <p:sp>
          <p:nvSpPr>
            <p:cNvPr id="87066" name="Rectangle 32"/>
            <p:cNvSpPr/>
            <p:nvPr/>
          </p:nvSpPr>
          <p:spPr>
            <a:xfrm>
              <a:off x="3873" y="2221"/>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0</a:t>
              </a:r>
              <a:endParaRPr lang="en-US" altLang="zh-CN" dirty="0">
                <a:latin typeface="Times New Roman" panose="02020603050405020304" pitchFamily="18" charset="0"/>
              </a:endParaRPr>
            </a:p>
          </p:txBody>
        </p:sp>
        <p:sp>
          <p:nvSpPr>
            <p:cNvPr id="87067" name="Line 33"/>
            <p:cNvSpPr/>
            <p:nvPr/>
          </p:nvSpPr>
          <p:spPr>
            <a:xfrm flipV="1">
              <a:off x="3835" y="2108"/>
              <a:ext cx="0" cy="2"/>
            </a:xfrm>
            <a:prstGeom prst="line">
              <a:avLst/>
            </a:prstGeom>
            <a:ln w="25400" cap="rnd" cmpd="sng">
              <a:solidFill>
                <a:srgbClr val="000000"/>
              </a:solidFill>
              <a:prstDash val="solid"/>
              <a:headEnd type="none" w="med" len="med"/>
              <a:tailEnd type="none" w="med" len="med"/>
            </a:ln>
          </p:spPr>
        </p:sp>
        <p:sp>
          <p:nvSpPr>
            <p:cNvPr id="87068" name="Line 34"/>
            <p:cNvSpPr/>
            <p:nvPr/>
          </p:nvSpPr>
          <p:spPr>
            <a:xfrm flipV="1">
              <a:off x="3835" y="2069"/>
              <a:ext cx="0" cy="1"/>
            </a:xfrm>
            <a:prstGeom prst="line">
              <a:avLst/>
            </a:prstGeom>
            <a:ln w="25400" cap="rnd" cmpd="sng">
              <a:solidFill>
                <a:srgbClr val="000000"/>
              </a:solidFill>
              <a:prstDash val="solid"/>
              <a:headEnd type="none" w="med" len="med"/>
              <a:tailEnd type="none" w="med" len="med"/>
            </a:ln>
          </p:spPr>
        </p:sp>
        <p:sp>
          <p:nvSpPr>
            <p:cNvPr id="87069" name="Line 35"/>
            <p:cNvSpPr/>
            <p:nvPr/>
          </p:nvSpPr>
          <p:spPr>
            <a:xfrm flipV="1">
              <a:off x="3835" y="2148"/>
              <a:ext cx="0" cy="2"/>
            </a:xfrm>
            <a:prstGeom prst="line">
              <a:avLst/>
            </a:prstGeom>
            <a:ln w="25400" cap="rnd" cmpd="sng">
              <a:solidFill>
                <a:srgbClr val="000000"/>
              </a:solidFill>
              <a:prstDash val="solid"/>
              <a:headEnd type="none" w="med" len="med"/>
              <a:tailEnd type="none" w="med" len="med"/>
            </a:ln>
          </p:spPr>
        </p:sp>
        <p:sp>
          <p:nvSpPr>
            <p:cNvPr id="87070" name="Line 36"/>
            <p:cNvSpPr/>
            <p:nvPr/>
          </p:nvSpPr>
          <p:spPr>
            <a:xfrm>
              <a:off x="2314" y="1347"/>
              <a:ext cx="1437" cy="0"/>
            </a:xfrm>
            <a:prstGeom prst="line">
              <a:avLst/>
            </a:prstGeom>
            <a:ln w="19050" cap="rnd" cmpd="sng">
              <a:solidFill>
                <a:srgbClr val="000000"/>
              </a:solidFill>
              <a:prstDash val="solid"/>
              <a:headEnd type="none" w="med" len="med"/>
              <a:tailEnd type="none" w="med" len="med"/>
            </a:ln>
          </p:spPr>
        </p:sp>
        <p:sp>
          <p:nvSpPr>
            <p:cNvPr id="87071" name="Line 37"/>
            <p:cNvSpPr/>
            <p:nvPr/>
          </p:nvSpPr>
          <p:spPr>
            <a:xfrm>
              <a:off x="2314" y="1668"/>
              <a:ext cx="1437" cy="0"/>
            </a:xfrm>
            <a:prstGeom prst="line">
              <a:avLst/>
            </a:prstGeom>
            <a:ln w="19050" cap="rnd" cmpd="sng">
              <a:solidFill>
                <a:srgbClr val="000000"/>
              </a:solidFill>
              <a:prstDash val="solid"/>
              <a:headEnd type="none" w="med" len="med"/>
              <a:tailEnd type="none" w="med" len="med"/>
            </a:ln>
          </p:spPr>
        </p:sp>
        <p:sp>
          <p:nvSpPr>
            <p:cNvPr id="87072" name="Line 38"/>
            <p:cNvSpPr/>
            <p:nvPr/>
          </p:nvSpPr>
          <p:spPr>
            <a:xfrm>
              <a:off x="2314" y="1428"/>
              <a:ext cx="1437" cy="0"/>
            </a:xfrm>
            <a:prstGeom prst="line">
              <a:avLst/>
            </a:prstGeom>
            <a:ln w="19050" cap="rnd" cmpd="sng">
              <a:solidFill>
                <a:srgbClr val="000000"/>
              </a:solidFill>
              <a:prstDash val="solid"/>
              <a:headEnd type="none" w="med" len="med"/>
              <a:tailEnd type="none" w="med" len="med"/>
            </a:ln>
          </p:spPr>
        </p:sp>
        <p:sp>
          <p:nvSpPr>
            <p:cNvPr id="87073" name="Line 39"/>
            <p:cNvSpPr/>
            <p:nvPr/>
          </p:nvSpPr>
          <p:spPr>
            <a:xfrm>
              <a:off x="2314" y="1508"/>
              <a:ext cx="1437" cy="0"/>
            </a:xfrm>
            <a:prstGeom prst="line">
              <a:avLst/>
            </a:prstGeom>
            <a:ln w="19050" cap="rnd" cmpd="sng">
              <a:solidFill>
                <a:srgbClr val="000000"/>
              </a:solidFill>
              <a:prstDash val="solid"/>
              <a:headEnd type="none" w="med" len="med"/>
              <a:tailEnd type="none" w="med" len="med"/>
            </a:ln>
          </p:spPr>
        </p:sp>
        <p:sp>
          <p:nvSpPr>
            <p:cNvPr id="87074" name="Line 40"/>
            <p:cNvSpPr/>
            <p:nvPr/>
          </p:nvSpPr>
          <p:spPr>
            <a:xfrm>
              <a:off x="2314" y="1748"/>
              <a:ext cx="1437" cy="0"/>
            </a:xfrm>
            <a:prstGeom prst="line">
              <a:avLst/>
            </a:prstGeom>
            <a:ln w="19050" cap="rnd" cmpd="sng">
              <a:solidFill>
                <a:srgbClr val="000000"/>
              </a:solidFill>
              <a:prstDash val="solid"/>
              <a:headEnd type="none" w="med" len="med"/>
              <a:tailEnd type="none" w="med" len="med"/>
            </a:ln>
          </p:spPr>
        </p:sp>
        <p:sp>
          <p:nvSpPr>
            <p:cNvPr id="87075" name="Line 41"/>
            <p:cNvSpPr/>
            <p:nvPr/>
          </p:nvSpPr>
          <p:spPr>
            <a:xfrm>
              <a:off x="2314" y="1829"/>
              <a:ext cx="1437" cy="0"/>
            </a:xfrm>
            <a:prstGeom prst="line">
              <a:avLst/>
            </a:prstGeom>
            <a:ln w="19050" cap="rnd" cmpd="sng">
              <a:solidFill>
                <a:srgbClr val="000000"/>
              </a:solidFill>
              <a:prstDash val="solid"/>
              <a:headEnd type="none" w="med" len="med"/>
              <a:tailEnd type="none" w="med" len="med"/>
            </a:ln>
          </p:spPr>
        </p:sp>
        <p:sp>
          <p:nvSpPr>
            <p:cNvPr id="87076" name="Line 42"/>
            <p:cNvSpPr/>
            <p:nvPr/>
          </p:nvSpPr>
          <p:spPr>
            <a:xfrm>
              <a:off x="2314" y="1588"/>
              <a:ext cx="1437" cy="0"/>
            </a:xfrm>
            <a:prstGeom prst="line">
              <a:avLst/>
            </a:prstGeom>
            <a:ln w="19050" cap="rnd" cmpd="sng">
              <a:solidFill>
                <a:srgbClr val="000000"/>
              </a:solidFill>
              <a:prstDash val="solid"/>
              <a:headEnd type="none" w="med" len="med"/>
              <a:tailEnd type="none" w="med" len="med"/>
            </a:ln>
          </p:spPr>
        </p:sp>
        <p:sp>
          <p:nvSpPr>
            <p:cNvPr id="87077" name="Freeform 43"/>
            <p:cNvSpPr/>
            <p:nvPr/>
          </p:nvSpPr>
          <p:spPr>
            <a:xfrm>
              <a:off x="3641" y="1366"/>
              <a:ext cx="110" cy="608"/>
            </a:xfrm>
            <a:custGeom>
              <a:avLst/>
              <a:gdLst/>
              <a:ahLst/>
              <a:cxnLst>
                <a:cxn ang="0">
                  <a:pos x="0" y="0"/>
                </a:cxn>
                <a:cxn ang="0">
                  <a:pos x="0" y="608"/>
                </a:cxn>
                <a:cxn ang="0">
                  <a:pos x="110" y="608"/>
                </a:cxn>
              </a:cxnLst>
              <a:pathLst>
                <a:path w="110" h="608">
                  <a:moveTo>
                    <a:pt x="0" y="0"/>
                  </a:moveTo>
                  <a:lnTo>
                    <a:pt x="0" y="608"/>
                  </a:lnTo>
                  <a:lnTo>
                    <a:pt x="110" y="608"/>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078" name="Freeform 44"/>
            <p:cNvSpPr/>
            <p:nvPr/>
          </p:nvSpPr>
          <p:spPr>
            <a:xfrm>
              <a:off x="3568" y="1446"/>
              <a:ext cx="183" cy="616"/>
            </a:xfrm>
            <a:custGeom>
              <a:avLst/>
              <a:gdLst/>
              <a:ahLst/>
              <a:cxnLst>
                <a:cxn ang="0">
                  <a:pos x="0" y="0"/>
                </a:cxn>
                <a:cxn ang="0">
                  <a:pos x="0" y="616"/>
                </a:cxn>
                <a:cxn ang="0">
                  <a:pos x="183" y="616"/>
                </a:cxn>
              </a:cxnLst>
              <a:pathLst>
                <a:path w="183" h="616">
                  <a:moveTo>
                    <a:pt x="0" y="0"/>
                  </a:moveTo>
                  <a:lnTo>
                    <a:pt x="0" y="616"/>
                  </a:lnTo>
                  <a:lnTo>
                    <a:pt x="183" y="616"/>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079" name="Freeform 45"/>
            <p:cNvSpPr/>
            <p:nvPr/>
          </p:nvSpPr>
          <p:spPr>
            <a:xfrm>
              <a:off x="3496" y="1522"/>
              <a:ext cx="255" cy="633"/>
            </a:xfrm>
            <a:custGeom>
              <a:avLst/>
              <a:gdLst/>
              <a:ahLst/>
              <a:cxnLst>
                <a:cxn ang="0">
                  <a:pos x="0" y="0"/>
                </a:cxn>
                <a:cxn ang="0">
                  <a:pos x="0" y="633"/>
                </a:cxn>
                <a:cxn ang="0">
                  <a:pos x="255" y="633"/>
                </a:cxn>
              </a:cxnLst>
              <a:pathLst>
                <a:path w="255" h="633">
                  <a:moveTo>
                    <a:pt x="0" y="0"/>
                  </a:moveTo>
                  <a:lnTo>
                    <a:pt x="0" y="633"/>
                  </a:lnTo>
                  <a:lnTo>
                    <a:pt x="255" y="633"/>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080" name="Freeform 46"/>
            <p:cNvSpPr/>
            <p:nvPr/>
          </p:nvSpPr>
          <p:spPr>
            <a:xfrm>
              <a:off x="3423" y="1603"/>
              <a:ext cx="328" cy="633"/>
            </a:xfrm>
            <a:custGeom>
              <a:avLst/>
              <a:gdLst/>
              <a:ahLst/>
              <a:cxnLst>
                <a:cxn ang="0">
                  <a:pos x="0" y="0"/>
                </a:cxn>
                <a:cxn ang="0">
                  <a:pos x="0" y="633"/>
                </a:cxn>
                <a:cxn ang="0">
                  <a:pos x="328" y="633"/>
                </a:cxn>
              </a:cxnLst>
              <a:pathLst>
                <a:path w="328" h="633">
                  <a:moveTo>
                    <a:pt x="0" y="0"/>
                  </a:moveTo>
                  <a:lnTo>
                    <a:pt x="0" y="633"/>
                  </a:lnTo>
                  <a:lnTo>
                    <a:pt x="328" y="633"/>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081" name="Line 47"/>
            <p:cNvSpPr/>
            <p:nvPr/>
          </p:nvSpPr>
          <p:spPr>
            <a:xfrm flipV="1">
              <a:off x="3641" y="1346"/>
              <a:ext cx="0" cy="3"/>
            </a:xfrm>
            <a:prstGeom prst="line">
              <a:avLst/>
            </a:prstGeom>
            <a:ln w="63500" cap="rnd" cmpd="sng">
              <a:solidFill>
                <a:srgbClr val="000000"/>
              </a:solidFill>
              <a:prstDash val="solid"/>
              <a:headEnd type="none" w="med" len="med"/>
              <a:tailEnd type="none" w="med" len="med"/>
            </a:ln>
          </p:spPr>
        </p:sp>
        <p:sp>
          <p:nvSpPr>
            <p:cNvPr id="87082" name="Line 48"/>
            <p:cNvSpPr/>
            <p:nvPr/>
          </p:nvSpPr>
          <p:spPr>
            <a:xfrm flipV="1">
              <a:off x="3568" y="1426"/>
              <a:ext cx="0" cy="3"/>
            </a:xfrm>
            <a:prstGeom prst="line">
              <a:avLst/>
            </a:prstGeom>
            <a:ln w="63500" cap="rnd" cmpd="sng">
              <a:solidFill>
                <a:srgbClr val="000000"/>
              </a:solidFill>
              <a:prstDash val="solid"/>
              <a:headEnd type="none" w="med" len="med"/>
              <a:tailEnd type="none" w="med" len="med"/>
            </a:ln>
          </p:spPr>
        </p:sp>
        <p:sp>
          <p:nvSpPr>
            <p:cNvPr id="87083" name="Line 49"/>
            <p:cNvSpPr/>
            <p:nvPr/>
          </p:nvSpPr>
          <p:spPr>
            <a:xfrm flipV="1">
              <a:off x="3496" y="1508"/>
              <a:ext cx="0" cy="2"/>
            </a:xfrm>
            <a:prstGeom prst="line">
              <a:avLst/>
            </a:prstGeom>
            <a:ln w="63500" cap="rnd" cmpd="sng">
              <a:solidFill>
                <a:srgbClr val="000000"/>
              </a:solidFill>
              <a:prstDash val="solid"/>
              <a:headEnd type="none" w="med" len="med"/>
              <a:tailEnd type="none" w="med" len="med"/>
            </a:ln>
          </p:spPr>
        </p:sp>
        <p:sp>
          <p:nvSpPr>
            <p:cNvPr id="87084" name="Line 50"/>
            <p:cNvSpPr/>
            <p:nvPr/>
          </p:nvSpPr>
          <p:spPr>
            <a:xfrm flipV="1">
              <a:off x="3423" y="1584"/>
              <a:ext cx="0" cy="3"/>
            </a:xfrm>
            <a:prstGeom prst="line">
              <a:avLst/>
            </a:prstGeom>
            <a:ln w="63500" cap="rnd" cmpd="sng">
              <a:solidFill>
                <a:srgbClr val="000000"/>
              </a:solidFill>
              <a:prstDash val="solid"/>
              <a:headEnd type="none" w="med" len="med"/>
              <a:tailEnd type="none" w="med" len="med"/>
            </a:ln>
          </p:spPr>
        </p:sp>
        <p:sp>
          <p:nvSpPr>
            <p:cNvPr id="87085" name="Rectangle 52"/>
            <p:cNvSpPr/>
            <p:nvPr/>
          </p:nvSpPr>
          <p:spPr>
            <a:xfrm>
              <a:off x="3796" y="2671"/>
              <a:ext cx="10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CS</a:t>
              </a:r>
              <a:endParaRPr lang="en-US" altLang="zh-CN" dirty="0">
                <a:latin typeface="Times New Roman" panose="02020603050405020304" pitchFamily="18" charset="0"/>
              </a:endParaRPr>
            </a:p>
          </p:txBody>
        </p:sp>
        <p:sp>
          <p:nvSpPr>
            <p:cNvPr id="87086" name="Rectangle 53"/>
            <p:cNvSpPr/>
            <p:nvPr/>
          </p:nvSpPr>
          <p:spPr>
            <a:xfrm>
              <a:off x="3787" y="2942"/>
              <a:ext cx="51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BYTE</a:t>
              </a:r>
              <a:r>
                <a:rPr lang="en-US" altLang="zh-CN" sz="1000" baseline="-25000" dirty="0">
                  <a:solidFill>
                    <a:srgbClr val="000000"/>
                  </a:solidFill>
                  <a:latin typeface="Times New Roman" panose="02020603050405020304" pitchFamily="18" charset="0"/>
                </a:rPr>
                <a:t>1</a:t>
              </a:r>
              <a:r>
                <a:rPr lang="en-US" altLang="zh-CN" sz="1000" dirty="0">
                  <a:solidFill>
                    <a:srgbClr val="000000"/>
                  </a:solidFill>
                  <a:latin typeface="Times New Roman" panose="02020603050405020304" pitchFamily="18" charset="0"/>
                </a:rPr>
                <a:t>/BYTE</a:t>
              </a:r>
              <a:r>
                <a:rPr lang="en-US" altLang="zh-CN" sz="1000" baseline="-25000" dirty="0">
                  <a:solidFill>
                    <a:srgbClr val="000000"/>
                  </a:solidFill>
                  <a:latin typeface="Times New Roman" panose="02020603050405020304" pitchFamily="18" charset="0"/>
                </a:rPr>
                <a:t>2</a:t>
              </a:r>
              <a:endParaRPr lang="en-US" altLang="zh-CN" sz="1000" baseline="-25000" dirty="0">
                <a:solidFill>
                  <a:srgbClr val="000000"/>
                </a:solidFill>
                <a:latin typeface="Times New Roman" panose="02020603050405020304" pitchFamily="18" charset="0"/>
              </a:endParaRPr>
            </a:p>
          </p:txBody>
        </p:sp>
        <p:sp>
          <p:nvSpPr>
            <p:cNvPr id="87087" name="Rectangle 55"/>
            <p:cNvSpPr/>
            <p:nvPr/>
          </p:nvSpPr>
          <p:spPr>
            <a:xfrm>
              <a:off x="3796" y="3151"/>
              <a:ext cx="166"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WR</a:t>
              </a:r>
              <a:r>
                <a:rPr lang="en-US" altLang="zh-CN" sz="1000" baseline="-25000" dirty="0">
                  <a:solidFill>
                    <a:srgbClr val="000000"/>
                  </a:solidFill>
                  <a:latin typeface="Times New Roman" panose="02020603050405020304" pitchFamily="18" charset="0"/>
                </a:rPr>
                <a:t>1</a:t>
              </a:r>
              <a:endParaRPr lang="en-US" altLang="zh-CN" sz="1000" baseline="-25000" dirty="0">
                <a:solidFill>
                  <a:srgbClr val="000000"/>
                </a:solidFill>
                <a:latin typeface="Times New Roman" panose="02020603050405020304" pitchFamily="18" charset="0"/>
              </a:endParaRPr>
            </a:p>
          </p:txBody>
        </p:sp>
        <p:sp>
          <p:nvSpPr>
            <p:cNvPr id="87088" name="Line 91"/>
            <p:cNvSpPr/>
            <p:nvPr/>
          </p:nvSpPr>
          <p:spPr>
            <a:xfrm>
              <a:off x="3496" y="2706"/>
              <a:ext cx="255" cy="0"/>
            </a:xfrm>
            <a:prstGeom prst="line">
              <a:avLst/>
            </a:prstGeom>
            <a:ln w="19050" cap="rnd" cmpd="sng">
              <a:solidFill>
                <a:srgbClr val="000000"/>
              </a:solidFill>
              <a:prstDash val="solid"/>
              <a:headEnd type="none" w="med" len="med"/>
              <a:tailEnd type="none" w="med" len="med"/>
            </a:ln>
          </p:spPr>
        </p:sp>
        <p:sp>
          <p:nvSpPr>
            <p:cNvPr id="87089" name="Line 97"/>
            <p:cNvSpPr/>
            <p:nvPr/>
          </p:nvSpPr>
          <p:spPr>
            <a:xfrm>
              <a:off x="2314" y="3194"/>
              <a:ext cx="1437" cy="0"/>
            </a:xfrm>
            <a:prstGeom prst="line">
              <a:avLst/>
            </a:prstGeom>
            <a:ln w="19050" cap="rnd" cmpd="sng">
              <a:solidFill>
                <a:srgbClr val="000000"/>
              </a:solidFill>
              <a:prstDash val="solid"/>
              <a:headEnd type="none" w="med" len="med"/>
              <a:tailEnd type="none" w="med" len="med"/>
            </a:ln>
          </p:spPr>
        </p:sp>
        <p:sp>
          <p:nvSpPr>
            <p:cNvPr id="87090" name="Freeform 105"/>
            <p:cNvSpPr/>
            <p:nvPr/>
          </p:nvSpPr>
          <p:spPr>
            <a:xfrm>
              <a:off x="3513" y="3194"/>
              <a:ext cx="236" cy="122"/>
            </a:xfrm>
            <a:custGeom>
              <a:avLst/>
              <a:gdLst/>
              <a:ahLst/>
              <a:cxnLst>
                <a:cxn ang="0">
                  <a:pos x="0" y="0"/>
                </a:cxn>
                <a:cxn ang="0">
                  <a:pos x="0" y="77"/>
                </a:cxn>
                <a:cxn ang="0">
                  <a:pos x="236" y="77"/>
                </a:cxn>
              </a:cxnLst>
              <a:pathLst>
                <a:path w="236" h="193">
                  <a:moveTo>
                    <a:pt x="0" y="0"/>
                  </a:moveTo>
                  <a:lnTo>
                    <a:pt x="0" y="193"/>
                  </a:lnTo>
                  <a:lnTo>
                    <a:pt x="236" y="193"/>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091" name="Line 106"/>
            <p:cNvSpPr/>
            <p:nvPr/>
          </p:nvSpPr>
          <p:spPr>
            <a:xfrm flipV="1">
              <a:off x="3513" y="3194"/>
              <a:ext cx="0" cy="3"/>
            </a:xfrm>
            <a:prstGeom prst="line">
              <a:avLst/>
            </a:prstGeom>
            <a:ln w="63500" cap="rnd" cmpd="sng">
              <a:solidFill>
                <a:srgbClr val="000000"/>
              </a:solidFill>
              <a:prstDash val="solid"/>
              <a:headEnd type="none" w="med" len="med"/>
              <a:tailEnd type="none" w="med" len="med"/>
            </a:ln>
          </p:spPr>
        </p:sp>
        <p:sp>
          <p:nvSpPr>
            <p:cNvPr id="87092" name="Line 113"/>
            <p:cNvSpPr/>
            <p:nvPr/>
          </p:nvSpPr>
          <p:spPr>
            <a:xfrm>
              <a:off x="3804" y="2670"/>
              <a:ext cx="89" cy="0"/>
            </a:xfrm>
            <a:prstGeom prst="line">
              <a:avLst/>
            </a:prstGeom>
            <a:ln w="12700" cap="rnd" cmpd="sng">
              <a:solidFill>
                <a:srgbClr val="000000"/>
              </a:solidFill>
              <a:prstDash val="solid"/>
              <a:headEnd type="none" w="med" len="med"/>
              <a:tailEnd type="none" w="med" len="med"/>
            </a:ln>
          </p:spPr>
        </p:sp>
        <p:sp>
          <p:nvSpPr>
            <p:cNvPr id="87093" name="Line 114"/>
            <p:cNvSpPr/>
            <p:nvPr/>
          </p:nvSpPr>
          <p:spPr>
            <a:xfrm>
              <a:off x="3796" y="3148"/>
              <a:ext cx="166" cy="0"/>
            </a:xfrm>
            <a:prstGeom prst="line">
              <a:avLst/>
            </a:prstGeom>
            <a:ln w="12700" cap="rnd" cmpd="sng">
              <a:solidFill>
                <a:srgbClr val="000000"/>
              </a:solidFill>
              <a:prstDash val="solid"/>
              <a:headEnd type="none" w="med" len="med"/>
              <a:tailEnd type="none" w="med" len="med"/>
            </a:ln>
          </p:spPr>
        </p:sp>
        <p:sp>
          <p:nvSpPr>
            <p:cNvPr id="87094" name="Rectangle 116"/>
            <p:cNvSpPr/>
            <p:nvPr/>
          </p:nvSpPr>
          <p:spPr>
            <a:xfrm>
              <a:off x="4066" y="2201"/>
              <a:ext cx="399" cy="104"/>
            </a:xfrm>
            <a:prstGeom prst="rect">
              <a:avLst/>
            </a:prstGeom>
            <a:noFill/>
            <a:ln w="9525">
              <a:noFill/>
            </a:ln>
          </p:spPr>
          <p:txBody>
            <a:bodyPr wrap="none" lIns="0" tIns="0" rIns="0" bIns="0">
              <a:spAutoFit/>
            </a:bodyPr>
            <a:p>
              <a:pPr eaLnBrk="1" hangingPunct="1">
                <a:lnSpc>
                  <a:spcPct val="90000"/>
                </a:lnSpc>
              </a:pPr>
              <a:r>
                <a:rPr lang="en-US" altLang="zh-CN" sz="1200" dirty="0">
                  <a:solidFill>
                    <a:srgbClr val="CC00CC"/>
                  </a:solidFill>
                  <a:latin typeface="Times New Roman" panose="02020603050405020304" pitchFamily="18" charset="0"/>
                </a:rPr>
                <a:t>DAC1210</a:t>
              </a:r>
              <a:endParaRPr lang="en-US" altLang="zh-CN" sz="4000" dirty="0">
                <a:solidFill>
                  <a:srgbClr val="CC00CC"/>
                </a:solidFill>
                <a:latin typeface="Times New Roman" panose="02020603050405020304" pitchFamily="18" charset="0"/>
              </a:endParaRPr>
            </a:p>
          </p:txBody>
        </p:sp>
        <p:sp>
          <p:nvSpPr>
            <p:cNvPr id="87095" name="Rectangle 117"/>
            <p:cNvSpPr/>
            <p:nvPr/>
          </p:nvSpPr>
          <p:spPr>
            <a:xfrm>
              <a:off x="4531" y="1349"/>
              <a:ext cx="169"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U</a:t>
              </a:r>
              <a:r>
                <a:rPr lang="en-US" altLang="zh-CN" sz="1000" baseline="-25000" dirty="0">
                  <a:solidFill>
                    <a:srgbClr val="000000"/>
                  </a:solidFill>
                  <a:latin typeface="Times New Roman" panose="02020603050405020304" pitchFamily="18" charset="0"/>
                </a:rPr>
                <a:t>REF</a:t>
              </a:r>
              <a:endParaRPr lang="en-US" altLang="zh-CN" sz="1000" baseline="-25000" dirty="0">
                <a:solidFill>
                  <a:srgbClr val="000000"/>
                </a:solidFill>
                <a:latin typeface="Times New Roman" panose="02020603050405020304" pitchFamily="18" charset="0"/>
              </a:endParaRPr>
            </a:p>
          </p:txBody>
        </p:sp>
        <p:sp>
          <p:nvSpPr>
            <p:cNvPr id="87096" name="Rectangle 119"/>
            <p:cNvSpPr/>
            <p:nvPr/>
          </p:nvSpPr>
          <p:spPr>
            <a:xfrm>
              <a:off x="4566" y="1654"/>
              <a:ext cx="129" cy="86"/>
            </a:xfrm>
            <a:prstGeom prst="rect">
              <a:avLst/>
            </a:prstGeom>
            <a:noFill/>
            <a:ln w="9525">
              <a:noFill/>
            </a:ln>
          </p:spPr>
          <p:txBody>
            <a:bodyPr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R</a:t>
              </a:r>
              <a:r>
                <a:rPr lang="en-US" altLang="zh-CN" sz="1000" baseline="-25000" dirty="0">
                  <a:solidFill>
                    <a:srgbClr val="000000"/>
                  </a:solidFill>
                  <a:latin typeface="Times New Roman" panose="02020603050405020304" pitchFamily="18" charset="0"/>
                </a:rPr>
                <a:t>FB</a:t>
              </a:r>
              <a:endParaRPr lang="en-US" altLang="zh-CN" sz="1000" baseline="-25000" dirty="0">
                <a:solidFill>
                  <a:srgbClr val="000000"/>
                </a:solidFill>
                <a:latin typeface="Times New Roman" panose="02020603050405020304" pitchFamily="18" charset="0"/>
              </a:endParaRPr>
            </a:p>
          </p:txBody>
        </p:sp>
        <p:sp>
          <p:nvSpPr>
            <p:cNvPr id="87097" name="Line 126"/>
            <p:cNvSpPr/>
            <p:nvPr/>
          </p:nvSpPr>
          <p:spPr>
            <a:xfrm>
              <a:off x="4732" y="1388"/>
              <a:ext cx="219" cy="0"/>
            </a:xfrm>
            <a:prstGeom prst="line">
              <a:avLst/>
            </a:prstGeom>
            <a:ln w="19050" cap="rnd" cmpd="sng">
              <a:solidFill>
                <a:srgbClr val="000000"/>
              </a:solidFill>
              <a:prstDash val="solid"/>
              <a:headEnd type="none" w="med" len="med"/>
              <a:tailEnd type="none" w="med" len="med"/>
            </a:ln>
          </p:spPr>
        </p:sp>
        <p:sp>
          <p:nvSpPr>
            <p:cNvPr id="87098" name="Line 128"/>
            <p:cNvSpPr/>
            <p:nvPr/>
          </p:nvSpPr>
          <p:spPr>
            <a:xfrm>
              <a:off x="4732" y="1943"/>
              <a:ext cx="219" cy="0"/>
            </a:xfrm>
            <a:prstGeom prst="line">
              <a:avLst/>
            </a:prstGeom>
            <a:ln w="19050" cap="rnd" cmpd="sng">
              <a:solidFill>
                <a:srgbClr val="000000"/>
              </a:solidFill>
              <a:prstDash val="solid"/>
              <a:headEnd type="none" w="med" len="med"/>
              <a:tailEnd type="none" w="med" len="med"/>
            </a:ln>
          </p:spPr>
        </p:sp>
        <p:sp>
          <p:nvSpPr>
            <p:cNvPr id="87099" name="Line 129"/>
            <p:cNvSpPr/>
            <p:nvPr/>
          </p:nvSpPr>
          <p:spPr>
            <a:xfrm>
              <a:off x="4732" y="2091"/>
              <a:ext cx="219" cy="0"/>
            </a:xfrm>
            <a:prstGeom prst="line">
              <a:avLst/>
            </a:prstGeom>
            <a:ln w="19050" cap="rnd" cmpd="sng">
              <a:solidFill>
                <a:srgbClr val="000000"/>
              </a:solidFill>
              <a:prstDash val="solid"/>
              <a:headEnd type="none" w="med" len="med"/>
              <a:tailEnd type="none" w="med" len="med"/>
            </a:ln>
          </p:spPr>
        </p:sp>
        <p:sp>
          <p:nvSpPr>
            <p:cNvPr id="87100" name="Freeform 130"/>
            <p:cNvSpPr/>
            <p:nvPr/>
          </p:nvSpPr>
          <p:spPr>
            <a:xfrm>
              <a:off x="4951" y="1374"/>
              <a:ext cx="27" cy="28"/>
            </a:xfrm>
            <a:custGeom>
              <a:avLst/>
              <a:gdLst/>
              <a:ahLst/>
              <a:cxnLst>
                <a:cxn ang="0">
                  <a:pos x="0" y="9"/>
                </a:cxn>
                <a:cxn ang="0">
                  <a:pos x="8" y="0"/>
                </a:cxn>
                <a:cxn ang="0">
                  <a:pos x="16" y="9"/>
                </a:cxn>
                <a:cxn ang="0">
                  <a:pos x="16" y="9"/>
                </a:cxn>
                <a:cxn ang="0">
                  <a:pos x="8" y="17"/>
                </a:cxn>
                <a:cxn ang="0">
                  <a:pos x="0" y="9"/>
                </a:cxn>
              </a:cxnLst>
              <a:pathLst>
                <a:path w="46" h="46">
                  <a:moveTo>
                    <a:pt x="0" y="23"/>
                  </a:moveTo>
                  <a:cubicBezTo>
                    <a:pt x="0" y="11"/>
                    <a:pt x="10" y="0"/>
                    <a:pt x="23" y="0"/>
                  </a:cubicBezTo>
                  <a:cubicBezTo>
                    <a:pt x="36" y="0"/>
                    <a:pt x="46" y="11"/>
                    <a:pt x="46" y="23"/>
                  </a:cubicBezTo>
                  <a:cubicBezTo>
                    <a:pt x="46" y="23"/>
                    <a:pt x="46" y="23"/>
                    <a:pt x="46" y="23"/>
                  </a:cubicBezTo>
                  <a:cubicBezTo>
                    <a:pt x="46" y="36"/>
                    <a:pt x="36" y="46"/>
                    <a:pt x="23" y="46"/>
                  </a:cubicBezTo>
                  <a:cubicBezTo>
                    <a:pt x="10" y="46"/>
                    <a:pt x="0" y="36"/>
                    <a:pt x="0" y="23"/>
                  </a:cubicBezTo>
                </a:path>
              </a:pathLst>
            </a:custGeom>
            <a:solidFill>
              <a:srgbClr val="FFFFFF">
                <a:alpha val="100000"/>
              </a:srgbClr>
            </a:solidFill>
            <a:ln w="0" cap="flat" cmpd="sng">
              <a:solidFill>
                <a:srgbClr val="000000">
                  <a:alpha val="100000"/>
                </a:srgbClr>
              </a:solidFill>
              <a:prstDash val="solid"/>
              <a:round/>
              <a:headEnd type="none" w="med" len="med"/>
              <a:tailEnd type="none" w="med" len="med"/>
            </a:ln>
          </p:spPr>
          <p:txBody>
            <a:bodyPr/>
            <a:p>
              <a:endParaRPr lang="zh-CN" altLang="en-US"/>
            </a:p>
          </p:txBody>
        </p:sp>
        <p:sp>
          <p:nvSpPr>
            <p:cNvPr id="87101" name="Freeform 131"/>
            <p:cNvSpPr/>
            <p:nvPr/>
          </p:nvSpPr>
          <p:spPr>
            <a:xfrm>
              <a:off x="4951" y="1374"/>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2"/>
                    <a:pt x="21" y="28"/>
                    <a:pt x="13" y="28"/>
                  </a:cubicBezTo>
                  <a:cubicBezTo>
                    <a:pt x="6" y="28"/>
                    <a:pt x="0" y="22"/>
                    <a:pt x="0" y="14"/>
                  </a:cubicBez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02" name="Rectangle 138"/>
            <p:cNvSpPr/>
            <p:nvPr/>
          </p:nvSpPr>
          <p:spPr>
            <a:xfrm>
              <a:off x="5028" y="1349"/>
              <a:ext cx="46"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87103" name="Rectangle 139"/>
            <p:cNvSpPr/>
            <p:nvPr/>
          </p:nvSpPr>
          <p:spPr>
            <a:xfrm>
              <a:off x="5067" y="1349"/>
              <a:ext cx="80"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15</a:t>
              </a:r>
              <a:endParaRPr lang="en-US" altLang="zh-CN" dirty="0">
                <a:latin typeface="Times New Roman" panose="02020603050405020304" pitchFamily="18" charset="0"/>
              </a:endParaRPr>
            </a:p>
          </p:txBody>
        </p:sp>
        <p:sp>
          <p:nvSpPr>
            <p:cNvPr id="87104" name="Rectangle 140"/>
            <p:cNvSpPr/>
            <p:nvPr/>
          </p:nvSpPr>
          <p:spPr>
            <a:xfrm>
              <a:off x="5144" y="1349"/>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V</a:t>
              </a:r>
              <a:endParaRPr lang="en-US" altLang="zh-CN" dirty="0">
                <a:latin typeface="Times New Roman" panose="02020603050405020304" pitchFamily="18" charset="0"/>
              </a:endParaRPr>
            </a:p>
          </p:txBody>
        </p:sp>
        <p:sp>
          <p:nvSpPr>
            <p:cNvPr id="87105" name="Line 144"/>
            <p:cNvSpPr/>
            <p:nvPr/>
          </p:nvSpPr>
          <p:spPr>
            <a:xfrm>
              <a:off x="4732" y="1698"/>
              <a:ext cx="711" cy="0"/>
            </a:xfrm>
            <a:prstGeom prst="line">
              <a:avLst/>
            </a:prstGeom>
            <a:ln w="19050" cap="rnd" cmpd="sng">
              <a:solidFill>
                <a:srgbClr val="000000"/>
              </a:solidFill>
              <a:prstDash val="solid"/>
              <a:headEnd type="none" w="med" len="med"/>
              <a:tailEnd type="none" w="med" len="med"/>
            </a:ln>
          </p:spPr>
        </p:sp>
        <p:sp>
          <p:nvSpPr>
            <p:cNvPr id="87106" name="Rectangle 152"/>
            <p:cNvSpPr/>
            <p:nvPr/>
          </p:nvSpPr>
          <p:spPr>
            <a:xfrm>
              <a:off x="4820" y="1661"/>
              <a:ext cx="182" cy="74"/>
            </a:xfrm>
            <a:prstGeom prst="rect">
              <a:avLst/>
            </a:prstGeom>
            <a:solidFill>
              <a:srgbClr val="FFFFFF"/>
            </a:solidFill>
            <a:ln w="9525">
              <a:noFill/>
            </a:ln>
          </p:spPr>
          <p:txBody>
            <a:bodyPr/>
            <a:p>
              <a:pPr eaLnBrk="1" hangingPunct="1">
                <a:lnSpc>
                  <a:spcPct val="90000"/>
                </a:lnSpc>
              </a:pPr>
              <a:endParaRPr lang="zh-CN" altLang="en-US" dirty="0">
                <a:latin typeface="Times New Roman" panose="02020603050405020304" pitchFamily="18" charset="0"/>
              </a:endParaRPr>
            </a:p>
          </p:txBody>
        </p:sp>
        <p:sp>
          <p:nvSpPr>
            <p:cNvPr id="87107" name="Rectangle 153"/>
            <p:cNvSpPr/>
            <p:nvPr/>
          </p:nvSpPr>
          <p:spPr>
            <a:xfrm>
              <a:off x="4820" y="1661"/>
              <a:ext cx="182" cy="74"/>
            </a:xfrm>
            <a:prstGeom prst="rect">
              <a:avLst/>
            </a:prstGeom>
            <a:noFill/>
            <a:ln w="4763"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108" name="Rectangle 154"/>
            <p:cNvSpPr/>
            <p:nvPr/>
          </p:nvSpPr>
          <p:spPr>
            <a:xfrm>
              <a:off x="4820" y="1661"/>
              <a:ext cx="182" cy="74"/>
            </a:xfrm>
            <a:prstGeom prst="rect">
              <a:avLst/>
            </a:prstGeom>
            <a:solidFill>
              <a:srgbClr val="FFCC99"/>
            </a:solidFill>
            <a:ln w="19050"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109" name="Freeform 156"/>
            <p:cNvSpPr/>
            <p:nvPr/>
          </p:nvSpPr>
          <p:spPr>
            <a:xfrm>
              <a:off x="4911" y="1547"/>
              <a:ext cx="240" cy="85"/>
            </a:xfrm>
            <a:custGeom>
              <a:avLst/>
              <a:gdLst/>
              <a:ahLst/>
              <a:cxnLst>
                <a:cxn ang="0">
                  <a:pos x="240" y="0"/>
                </a:cxn>
                <a:cxn ang="0">
                  <a:pos x="0" y="0"/>
                </a:cxn>
                <a:cxn ang="0">
                  <a:pos x="0" y="85"/>
                </a:cxn>
              </a:cxnLst>
              <a:pathLst>
                <a:path w="240" h="85">
                  <a:moveTo>
                    <a:pt x="240" y="0"/>
                  </a:moveTo>
                  <a:lnTo>
                    <a:pt x="0" y="0"/>
                  </a:lnTo>
                  <a:lnTo>
                    <a:pt x="0" y="85"/>
                  </a:ln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10" name="Freeform 157"/>
            <p:cNvSpPr/>
            <p:nvPr/>
          </p:nvSpPr>
          <p:spPr>
            <a:xfrm>
              <a:off x="4875" y="1625"/>
              <a:ext cx="71" cy="36"/>
            </a:xfrm>
            <a:custGeom>
              <a:avLst/>
              <a:gdLst/>
              <a:ahLst/>
              <a:cxnLst>
                <a:cxn ang="0">
                  <a:pos x="71" y="0"/>
                </a:cxn>
                <a:cxn ang="0">
                  <a:pos x="36" y="36"/>
                </a:cxn>
                <a:cxn ang="0">
                  <a:pos x="0" y="0"/>
                </a:cxn>
                <a:cxn ang="0">
                  <a:pos x="71" y="0"/>
                </a:cxn>
              </a:cxnLst>
              <a:pathLst>
                <a:path w="71" h="36">
                  <a:moveTo>
                    <a:pt x="71" y="0"/>
                  </a:moveTo>
                  <a:lnTo>
                    <a:pt x="36" y="36"/>
                  </a:lnTo>
                  <a:lnTo>
                    <a:pt x="0" y="0"/>
                  </a:lnTo>
                  <a:lnTo>
                    <a:pt x="71" y="0"/>
                  </a:lnTo>
                  <a:close/>
                </a:path>
              </a:pathLst>
            </a:custGeom>
            <a:solidFill>
              <a:srgbClr val="000000">
                <a:alpha val="100000"/>
              </a:srgbClr>
            </a:solidFill>
            <a:ln w="9525">
              <a:noFill/>
            </a:ln>
          </p:spPr>
          <p:txBody>
            <a:bodyPr/>
            <a:p>
              <a:endParaRPr lang="zh-CN" altLang="en-US"/>
            </a:p>
          </p:txBody>
        </p:sp>
        <p:sp>
          <p:nvSpPr>
            <p:cNvPr id="87111" name="Line 160"/>
            <p:cNvSpPr/>
            <p:nvPr/>
          </p:nvSpPr>
          <p:spPr>
            <a:xfrm flipV="1">
              <a:off x="5151" y="1698"/>
              <a:ext cx="0" cy="2"/>
            </a:xfrm>
            <a:prstGeom prst="line">
              <a:avLst/>
            </a:prstGeom>
            <a:ln w="63500" cap="rnd" cmpd="sng">
              <a:solidFill>
                <a:srgbClr val="000000"/>
              </a:solidFill>
              <a:prstDash val="solid"/>
              <a:headEnd type="none" w="med" len="med"/>
              <a:tailEnd type="none" w="med" len="med"/>
            </a:ln>
          </p:spPr>
        </p:sp>
        <p:sp>
          <p:nvSpPr>
            <p:cNvPr id="87112" name="Rectangle 175"/>
            <p:cNvSpPr/>
            <p:nvPr/>
          </p:nvSpPr>
          <p:spPr>
            <a:xfrm>
              <a:off x="4587" y="1897"/>
              <a:ext cx="103"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I</a:t>
              </a:r>
              <a:r>
                <a:rPr lang="en-US" altLang="zh-CN" sz="1000" baseline="-25000" dirty="0">
                  <a:solidFill>
                    <a:srgbClr val="000000"/>
                  </a:solidFill>
                  <a:latin typeface="Times New Roman" panose="02020603050405020304" pitchFamily="18" charset="0"/>
                </a:rPr>
                <a:t>O1</a:t>
              </a:r>
              <a:endParaRPr lang="en-US" altLang="zh-CN" sz="1000" baseline="-25000" dirty="0">
                <a:solidFill>
                  <a:srgbClr val="000000"/>
                </a:solidFill>
                <a:latin typeface="Times New Roman" panose="02020603050405020304" pitchFamily="18" charset="0"/>
              </a:endParaRPr>
            </a:p>
          </p:txBody>
        </p:sp>
        <p:sp>
          <p:nvSpPr>
            <p:cNvPr id="87113" name="Line 191"/>
            <p:cNvSpPr/>
            <p:nvPr/>
          </p:nvSpPr>
          <p:spPr>
            <a:xfrm>
              <a:off x="2978" y="2439"/>
              <a:ext cx="773" cy="0"/>
            </a:xfrm>
            <a:prstGeom prst="line">
              <a:avLst/>
            </a:prstGeom>
            <a:ln w="19050" cap="rnd" cmpd="sng">
              <a:solidFill>
                <a:srgbClr val="000000"/>
              </a:solidFill>
              <a:prstDash val="solid"/>
              <a:headEnd type="none" w="med" len="med"/>
              <a:tailEnd type="none" w="med" len="med"/>
            </a:ln>
          </p:spPr>
        </p:sp>
        <p:sp>
          <p:nvSpPr>
            <p:cNvPr id="87114" name="Rectangle 193"/>
            <p:cNvSpPr/>
            <p:nvPr/>
          </p:nvSpPr>
          <p:spPr>
            <a:xfrm>
              <a:off x="3793" y="2397"/>
              <a:ext cx="21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XFER</a:t>
              </a:r>
              <a:endParaRPr lang="en-US" altLang="zh-CN" dirty="0">
                <a:latin typeface="Times New Roman" panose="02020603050405020304" pitchFamily="18" charset="0"/>
              </a:endParaRPr>
            </a:p>
          </p:txBody>
        </p:sp>
        <p:sp>
          <p:nvSpPr>
            <p:cNvPr id="87115" name="Line 194"/>
            <p:cNvSpPr/>
            <p:nvPr/>
          </p:nvSpPr>
          <p:spPr>
            <a:xfrm>
              <a:off x="3796" y="2392"/>
              <a:ext cx="215" cy="0"/>
            </a:xfrm>
            <a:prstGeom prst="line">
              <a:avLst/>
            </a:prstGeom>
            <a:ln w="12700" cap="rnd" cmpd="sng">
              <a:solidFill>
                <a:srgbClr val="000000"/>
              </a:solidFill>
              <a:prstDash val="solid"/>
              <a:headEnd type="none" w="med" len="med"/>
              <a:tailEnd type="none" w="med" len="med"/>
            </a:ln>
          </p:spPr>
        </p:sp>
        <p:sp>
          <p:nvSpPr>
            <p:cNvPr id="87116" name="Line 197"/>
            <p:cNvSpPr/>
            <p:nvPr/>
          </p:nvSpPr>
          <p:spPr>
            <a:xfrm>
              <a:off x="2773" y="2989"/>
              <a:ext cx="978" cy="0"/>
            </a:xfrm>
            <a:prstGeom prst="line">
              <a:avLst/>
            </a:prstGeom>
            <a:ln w="19050" cap="rnd" cmpd="sng">
              <a:solidFill>
                <a:srgbClr val="FF0000"/>
              </a:solidFill>
              <a:prstDash val="solid"/>
              <a:headEnd type="none" w="med" len="med"/>
              <a:tailEnd type="none" w="med" len="med"/>
            </a:ln>
          </p:spPr>
        </p:sp>
        <p:sp>
          <p:nvSpPr>
            <p:cNvPr id="87117" name="Line 200"/>
            <p:cNvSpPr/>
            <p:nvPr/>
          </p:nvSpPr>
          <p:spPr>
            <a:xfrm>
              <a:off x="4066" y="2935"/>
              <a:ext cx="215" cy="0"/>
            </a:xfrm>
            <a:prstGeom prst="line">
              <a:avLst/>
            </a:prstGeom>
            <a:ln w="12700" cap="rnd" cmpd="sng">
              <a:solidFill>
                <a:srgbClr val="000000"/>
              </a:solidFill>
              <a:prstDash val="solid"/>
              <a:headEnd type="none" w="med" len="med"/>
              <a:tailEnd type="none" w="med" len="med"/>
            </a:ln>
          </p:spPr>
        </p:sp>
        <p:sp>
          <p:nvSpPr>
            <p:cNvPr id="87118" name="Rectangle 201"/>
            <p:cNvSpPr/>
            <p:nvPr/>
          </p:nvSpPr>
          <p:spPr>
            <a:xfrm>
              <a:off x="3791" y="3272"/>
              <a:ext cx="166"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WR</a:t>
              </a:r>
              <a:r>
                <a:rPr lang="en-US" altLang="zh-CN" sz="1000" baseline="-25000" dirty="0">
                  <a:solidFill>
                    <a:srgbClr val="000000"/>
                  </a:solidFill>
                  <a:latin typeface="Times New Roman" panose="02020603050405020304" pitchFamily="18" charset="0"/>
                </a:rPr>
                <a:t>2</a:t>
              </a:r>
              <a:endParaRPr lang="en-US" altLang="zh-CN" sz="1000" baseline="-25000" dirty="0">
                <a:solidFill>
                  <a:srgbClr val="000000"/>
                </a:solidFill>
                <a:latin typeface="Times New Roman" panose="02020603050405020304" pitchFamily="18" charset="0"/>
              </a:endParaRPr>
            </a:p>
          </p:txBody>
        </p:sp>
        <p:sp>
          <p:nvSpPr>
            <p:cNvPr id="87119" name="Line 202"/>
            <p:cNvSpPr/>
            <p:nvPr/>
          </p:nvSpPr>
          <p:spPr>
            <a:xfrm>
              <a:off x="3791" y="3269"/>
              <a:ext cx="166" cy="0"/>
            </a:xfrm>
            <a:prstGeom prst="line">
              <a:avLst/>
            </a:prstGeom>
            <a:ln w="12700" cap="rnd" cmpd="sng">
              <a:solidFill>
                <a:srgbClr val="000000"/>
              </a:solidFill>
              <a:prstDash val="solid"/>
              <a:headEnd type="none" w="med" len="med"/>
              <a:tailEnd type="none" w="med" len="med"/>
            </a:ln>
          </p:spPr>
        </p:sp>
        <p:sp>
          <p:nvSpPr>
            <p:cNvPr id="87120" name="Rectangle 203"/>
            <p:cNvSpPr/>
            <p:nvPr/>
          </p:nvSpPr>
          <p:spPr>
            <a:xfrm>
              <a:off x="4587" y="2048"/>
              <a:ext cx="103"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I</a:t>
              </a:r>
              <a:r>
                <a:rPr lang="en-US" altLang="zh-CN" sz="1000" baseline="-25000" dirty="0">
                  <a:solidFill>
                    <a:srgbClr val="000000"/>
                  </a:solidFill>
                  <a:latin typeface="Times New Roman" panose="02020603050405020304" pitchFamily="18" charset="0"/>
                </a:rPr>
                <a:t>O2</a:t>
              </a:r>
              <a:endParaRPr lang="en-US" altLang="zh-CN" sz="1000" baseline="-25000" dirty="0">
                <a:solidFill>
                  <a:srgbClr val="000000"/>
                </a:solidFill>
                <a:latin typeface="Times New Roman" panose="02020603050405020304" pitchFamily="18" charset="0"/>
              </a:endParaRPr>
            </a:p>
          </p:txBody>
        </p:sp>
        <p:sp>
          <p:nvSpPr>
            <p:cNvPr id="87121" name="AutoShape 204"/>
            <p:cNvSpPr/>
            <p:nvPr/>
          </p:nvSpPr>
          <p:spPr>
            <a:xfrm rot="5400000">
              <a:off x="4948" y="1790"/>
              <a:ext cx="408" cy="435"/>
            </a:xfrm>
            <a:prstGeom prst="triangle">
              <a:avLst>
                <a:gd name="adj" fmla="val 50000"/>
              </a:avLst>
            </a:prstGeom>
            <a:solidFill>
              <a:srgbClr val="FFCC99"/>
            </a:solidFill>
            <a:ln w="19050" cap="flat" cmpd="sng">
              <a:solidFill>
                <a:schemeClr val="tx1"/>
              </a:solidFill>
              <a:prstDash val="solid"/>
              <a:miter/>
              <a:headEnd type="none" w="med" len="med"/>
              <a:tailEnd type="none" w="med" len="med"/>
            </a:ln>
          </p:spPr>
          <p:txBody>
            <a:bodyPr wrap="none" anchor="ctr" anchorCtr="0">
              <a:spAutoFit/>
            </a:bodyPr>
            <a:p>
              <a:pPr eaLnBrk="1" hangingPunct="1">
                <a:lnSpc>
                  <a:spcPct val="90000"/>
                </a:lnSpc>
              </a:pPr>
              <a:endParaRPr lang="zh-CN" altLang="en-US" dirty="0">
                <a:latin typeface="Times New Roman" panose="02020603050405020304" pitchFamily="18" charset="0"/>
              </a:endParaRPr>
            </a:p>
          </p:txBody>
        </p:sp>
        <p:sp>
          <p:nvSpPr>
            <p:cNvPr id="87122" name="Text Box 205"/>
            <p:cNvSpPr txBox="1"/>
            <p:nvPr/>
          </p:nvSpPr>
          <p:spPr>
            <a:xfrm>
              <a:off x="4895" y="1985"/>
              <a:ext cx="476" cy="214"/>
            </a:xfrm>
            <a:prstGeom prst="rect">
              <a:avLst/>
            </a:prstGeom>
            <a:noFill/>
            <a:ln w="9525">
              <a:noFill/>
            </a:ln>
          </p:spPr>
          <p:txBody>
            <a:bodyPr>
              <a:spAutoFit/>
            </a:bodyPr>
            <a:p>
              <a:pPr eaLnBrk="1" hangingPunct="1">
                <a:lnSpc>
                  <a:spcPct val="90000"/>
                </a:lnSpc>
                <a:spcBef>
                  <a:spcPct val="50000"/>
                </a:spcBef>
              </a:pPr>
              <a:r>
                <a:rPr lang="en-US" altLang="zh-CN" sz="1800" dirty="0">
                  <a:latin typeface="Times New Roman" panose="02020603050405020304" pitchFamily="18" charset="0"/>
                </a:rPr>
                <a:t>+</a:t>
              </a:r>
              <a:endParaRPr lang="en-US" altLang="zh-CN" sz="1800" dirty="0">
                <a:latin typeface="Times New Roman" panose="02020603050405020304" pitchFamily="18" charset="0"/>
              </a:endParaRPr>
            </a:p>
          </p:txBody>
        </p:sp>
        <p:sp>
          <p:nvSpPr>
            <p:cNvPr id="87123" name="Rectangle 206"/>
            <p:cNvSpPr/>
            <p:nvPr/>
          </p:nvSpPr>
          <p:spPr>
            <a:xfrm>
              <a:off x="4903" y="1762"/>
              <a:ext cx="260" cy="214"/>
            </a:xfrm>
            <a:prstGeom prst="rect">
              <a:avLst/>
            </a:prstGeom>
            <a:noFill/>
            <a:ln w="9525">
              <a:noFill/>
            </a:ln>
          </p:spPr>
          <p:txBody>
            <a:bodyPr>
              <a:spAutoFit/>
            </a:bodyPr>
            <a:p>
              <a:pPr eaLnBrk="1" hangingPunct="1">
                <a:lnSpc>
                  <a:spcPct val="90000"/>
                </a:lnSpc>
              </a:pPr>
              <a:r>
                <a:rPr lang="en-US" altLang="zh-CN" sz="1800" dirty="0">
                  <a:latin typeface="Times New Roman" panose="02020603050405020304" pitchFamily="18" charset="0"/>
                </a:rPr>
                <a:t>_</a:t>
              </a:r>
              <a:endParaRPr lang="en-US" altLang="zh-CN" sz="1800" dirty="0">
                <a:latin typeface="Times New Roman" panose="02020603050405020304" pitchFamily="18" charset="0"/>
              </a:endParaRPr>
            </a:p>
          </p:txBody>
        </p:sp>
        <p:sp>
          <p:nvSpPr>
            <p:cNvPr id="87124" name="Text Box 207"/>
            <p:cNvSpPr txBox="1"/>
            <p:nvPr/>
          </p:nvSpPr>
          <p:spPr>
            <a:xfrm>
              <a:off x="5031" y="1895"/>
              <a:ext cx="181" cy="214"/>
            </a:xfrm>
            <a:prstGeom prst="rect">
              <a:avLst/>
            </a:prstGeom>
            <a:noFill/>
            <a:ln w="9525">
              <a:noFill/>
            </a:ln>
          </p:spPr>
          <p:txBody>
            <a:bodyPr>
              <a:spAutoFit/>
            </a:bodyPr>
            <a:p>
              <a:pPr eaLnBrk="1" hangingPunct="1">
                <a:lnSpc>
                  <a:spcPct val="90000"/>
                </a:lnSpc>
                <a:spcBef>
                  <a:spcPct val="50000"/>
                </a:spcBef>
              </a:pPr>
              <a:r>
                <a:rPr lang="en-US" altLang="zh-CN" sz="1800" dirty="0">
                  <a:solidFill>
                    <a:srgbClr val="CC00CC"/>
                  </a:solidFill>
                  <a:latin typeface="Times New Roman" panose="02020603050405020304" pitchFamily="18" charset="0"/>
                </a:rPr>
                <a:t>A</a:t>
              </a:r>
              <a:endParaRPr lang="en-US" altLang="zh-CN" sz="1800" dirty="0">
                <a:solidFill>
                  <a:srgbClr val="CC00CC"/>
                </a:solidFill>
                <a:latin typeface="Times New Roman" panose="02020603050405020304" pitchFamily="18" charset="0"/>
              </a:endParaRPr>
            </a:p>
          </p:txBody>
        </p:sp>
        <p:sp>
          <p:nvSpPr>
            <p:cNvPr id="87125" name="Line 208"/>
            <p:cNvSpPr/>
            <p:nvPr/>
          </p:nvSpPr>
          <p:spPr>
            <a:xfrm>
              <a:off x="5371" y="2007"/>
              <a:ext cx="219" cy="0"/>
            </a:xfrm>
            <a:prstGeom prst="line">
              <a:avLst/>
            </a:prstGeom>
            <a:ln w="19050" cap="rnd" cmpd="sng">
              <a:solidFill>
                <a:srgbClr val="000000"/>
              </a:solidFill>
              <a:prstDash val="solid"/>
              <a:headEnd type="none" w="med" len="med"/>
              <a:tailEnd type="none" w="med" len="med"/>
            </a:ln>
          </p:spPr>
        </p:sp>
        <p:sp>
          <p:nvSpPr>
            <p:cNvPr id="87126" name="Line 209"/>
            <p:cNvSpPr/>
            <p:nvPr/>
          </p:nvSpPr>
          <p:spPr>
            <a:xfrm>
              <a:off x="5443" y="1698"/>
              <a:ext cx="0" cy="309"/>
            </a:xfrm>
            <a:prstGeom prst="line">
              <a:avLst/>
            </a:prstGeom>
            <a:ln w="19050" cap="rnd" cmpd="sng">
              <a:solidFill>
                <a:srgbClr val="000000"/>
              </a:solidFill>
              <a:prstDash val="solid"/>
              <a:headEnd type="none" w="med" len="med"/>
              <a:tailEnd type="none" w="med" len="med"/>
            </a:ln>
          </p:spPr>
        </p:sp>
        <p:sp>
          <p:nvSpPr>
            <p:cNvPr id="87127" name="Line 210"/>
            <p:cNvSpPr/>
            <p:nvPr/>
          </p:nvSpPr>
          <p:spPr>
            <a:xfrm>
              <a:off x="5151" y="1547"/>
              <a:ext cx="0" cy="151"/>
            </a:xfrm>
            <a:prstGeom prst="line">
              <a:avLst/>
            </a:prstGeom>
            <a:ln w="19050" cap="rnd" cmpd="sng">
              <a:solidFill>
                <a:srgbClr val="000000"/>
              </a:solidFill>
              <a:prstDash val="solid"/>
              <a:headEnd type="none" w="med" len="med"/>
              <a:tailEnd type="none" w="med" len="med"/>
            </a:ln>
          </p:spPr>
        </p:sp>
        <p:sp>
          <p:nvSpPr>
            <p:cNvPr id="87128" name="Line 211"/>
            <p:cNvSpPr/>
            <p:nvPr/>
          </p:nvSpPr>
          <p:spPr>
            <a:xfrm flipV="1">
              <a:off x="5443" y="2008"/>
              <a:ext cx="0" cy="2"/>
            </a:xfrm>
            <a:prstGeom prst="line">
              <a:avLst/>
            </a:prstGeom>
            <a:ln w="63500" cap="rnd" cmpd="sng">
              <a:solidFill>
                <a:srgbClr val="000000"/>
              </a:solidFill>
              <a:prstDash val="solid"/>
              <a:headEnd type="none" w="med" len="med"/>
              <a:tailEnd type="none" w="med" len="med"/>
            </a:ln>
          </p:spPr>
        </p:sp>
        <p:sp>
          <p:nvSpPr>
            <p:cNvPr id="87129" name="Freeform 212"/>
            <p:cNvSpPr/>
            <p:nvPr/>
          </p:nvSpPr>
          <p:spPr>
            <a:xfrm>
              <a:off x="5590" y="1993"/>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2"/>
                    <a:pt x="21" y="28"/>
                    <a:pt x="13" y="28"/>
                  </a:cubicBezTo>
                  <a:cubicBezTo>
                    <a:pt x="6" y="28"/>
                    <a:pt x="0" y="22"/>
                    <a:pt x="0" y="14"/>
                  </a:cubicBez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30" name="Line 213"/>
            <p:cNvSpPr/>
            <p:nvPr/>
          </p:nvSpPr>
          <p:spPr>
            <a:xfrm>
              <a:off x="4999" y="2182"/>
              <a:ext cx="0" cy="309"/>
            </a:xfrm>
            <a:prstGeom prst="line">
              <a:avLst/>
            </a:prstGeom>
            <a:ln w="19050" cap="rnd" cmpd="sng">
              <a:solidFill>
                <a:srgbClr val="000000"/>
              </a:solidFill>
              <a:prstDash val="solid"/>
              <a:headEnd type="none" w="med" len="med"/>
              <a:tailEnd type="none" w="med" len="med"/>
            </a:ln>
          </p:spPr>
        </p:sp>
        <p:sp>
          <p:nvSpPr>
            <p:cNvPr id="87131" name="Line 214"/>
            <p:cNvSpPr/>
            <p:nvPr/>
          </p:nvSpPr>
          <p:spPr>
            <a:xfrm>
              <a:off x="5002" y="2493"/>
              <a:ext cx="301" cy="0"/>
            </a:xfrm>
            <a:prstGeom prst="line">
              <a:avLst/>
            </a:prstGeom>
            <a:ln w="19050" cap="rnd" cmpd="sng">
              <a:solidFill>
                <a:srgbClr val="000000"/>
              </a:solidFill>
              <a:prstDash val="solid"/>
              <a:headEnd type="none" w="med" len="med"/>
              <a:tailEnd type="none" w="med" len="med"/>
            </a:ln>
          </p:spPr>
        </p:sp>
        <p:sp>
          <p:nvSpPr>
            <p:cNvPr id="87132" name="Rectangle 215"/>
            <p:cNvSpPr/>
            <p:nvPr/>
          </p:nvSpPr>
          <p:spPr>
            <a:xfrm>
              <a:off x="5057" y="2455"/>
              <a:ext cx="182" cy="75"/>
            </a:xfrm>
            <a:prstGeom prst="rect">
              <a:avLst/>
            </a:prstGeom>
            <a:solidFill>
              <a:srgbClr val="FFCC99"/>
            </a:solidFill>
            <a:ln w="19050"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133" name="Line 217"/>
            <p:cNvSpPr/>
            <p:nvPr/>
          </p:nvSpPr>
          <p:spPr>
            <a:xfrm>
              <a:off x="5303" y="2048"/>
              <a:ext cx="0" cy="441"/>
            </a:xfrm>
            <a:prstGeom prst="line">
              <a:avLst/>
            </a:prstGeom>
            <a:ln w="19050" cap="rnd" cmpd="sng">
              <a:solidFill>
                <a:srgbClr val="000000"/>
              </a:solidFill>
              <a:prstDash val="solid"/>
              <a:headEnd type="none" w="med" len="med"/>
              <a:tailEnd type="none" w="med" len="med"/>
            </a:ln>
          </p:spPr>
        </p:sp>
        <p:sp>
          <p:nvSpPr>
            <p:cNvPr id="87134" name="Freeform 218"/>
            <p:cNvSpPr/>
            <p:nvPr/>
          </p:nvSpPr>
          <p:spPr>
            <a:xfrm>
              <a:off x="5111" y="2530"/>
              <a:ext cx="71" cy="37"/>
            </a:xfrm>
            <a:custGeom>
              <a:avLst/>
              <a:gdLst/>
              <a:ahLst/>
              <a:cxnLst>
                <a:cxn ang="0">
                  <a:pos x="0" y="37"/>
                </a:cxn>
                <a:cxn ang="0">
                  <a:pos x="36" y="0"/>
                </a:cxn>
                <a:cxn ang="0">
                  <a:pos x="71" y="37"/>
                </a:cxn>
                <a:cxn ang="0">
                  <a:pos x="0" y="37"/>
                </a:cxn>
              </a:cxnLst>
              <a:pathLst>
                <a:path w="71" h="37">
                  <a:moveTo>
                    <a:pt x="0" y="37"/>
                  </a:moveTo>
                  <a:lnTo>
                    <a:pt x="36" y="0"/>
                  </a:lnTo>
                  <a:lnTo>
                    <a:pt x="71" y="37"/>
                  </a:lnTo>
                  <a:lnTo>
                    <a:pt x="0" y="37"/>
                  </a:lnTo>
                  <a:close/>
                </a:path>
              </a:pathLst>
            </a:custGeom>
            <a:solidFill>
              <a:srgbClr val="000000">
                <a:alpha val="100000"/>
              </a:srgbClr>
            </a:solidFill>
            <a:ln w="9525">
              <a:noFill/>
            </a:ln>
          </p:spPr>
          <p:txBody>
            <a:bodyPr/>
            <a:p>
              <a:endParaRPr lang="zh-CN" altLang="en-US"/>
            </a:p>
          </p:txBody>
        </p:sp>
        <p:sp>
          <p:nvSpPr>
            <p:cNvPr id="87135" name="Line 219"/>
            <p:cNvSpPr/>
            <p:nvPr/>
          </p:nvSpPr>
          <p:spPr>
            <a:xfrm>
              <a:off x="5148" y="2551"/>
              <a:ext cx="0" cy="180"/>
            </a:xfrm>
            <a:prstGeom prst="line">
              <a:avLst/>
            </a:prstGeom>
            <a:ln w="19050" cap="rnd" cmpd="sng">
              <a:solidFill>
                <a:srgbClr val="000000"/>
              </a:solidFill>
              <a:prstDash val="solid"/>
              <a:headEnd type="none" w="med" len="med"/>
              <a:tailEnd type="none" w="med" len="med"/>
            </a:ln>
          </p:spPr>
        </p:sp>
        <p:sp>
          <p:nvSpPr>
            <p:cNvPr id="87136" name="Rectangle 220"/>
            <p:cNvSpPr/>
            <p:nvPr/>
          </p:nvSpPr>
          <p:spPr>
            <a:xfrm>
              <a:off x="5066" y="2757"/>
              <a:ext cx="165"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-15V</a:t>
              </a:r>
              <a:endParaRPr lang="en-US" altLang="zh-CN" dirty="0">
                <a:latin typeface="Times New Roman" panose="02020603050405020304" pitchFamily="18" charset="0"/>
              </a:endParaRPr>
            </a:p>
          </p:txBody>
        </p:sp>
        <p:sp>
          <p:nvSpPr>
            <p:cNvPr id="87137" name="Rectangle 221"/>
            <p:cNvSpPr/>
            <p:nvPr/>
          </p:nvSpPr>
          <p:spPr>
            <a:xfrm>
              <a:off x="5550" y="2048"/>
              <a:ext cx="10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U</a:t>
              </a:r>
              <a:r>
                <a:rPr lang="en-US" altLang="zh-CN" sz="1000" baseline="-25000" dirty="0">
                  <a:solidFill>
                    <a:srgbClr val="000000"/>
                  </a:solidFill>
                  <a:latin typeface="Times New Roman" panose="02020603050405020304" pitchFamily="18" charset="0"/>
                </a:rPr>
                <a:t>O</a:t>
              </a:r>
              <a:endParaRPr lang="en-US" altLang="zh-CN" sz="1000" baseline="-25000" dirty="0">
                <a:solidFill>
                  <a:srgbClr val="000000"/>
                </a:solidFill>
                <a:latin typeface="Times New Roman" panose="02020603050405020304" pitchFamily="18" charset="0"/>
              </a:endParaRPr>
            </a:p>
          </p:txBody>
        </p:sp>
        <p:sp>
          <p:nvSpPr>
            <p:cNvPr id="87138" name="Text Box 222"/>
            <p:cNvSpPr txBox="1"/>
            <p:nvPr/>
          </p:nvSpPr>
          <p:spPr>
            <a:xfrm>
              <a:off x="5117" y="2578"/>
              <a:ext cx="349" cy="144"/>
            </a:xfrm>
            <a:prstGeom prst="rect">
              <a:avLst/>
            </a:prstGeom>
            <a:noFill/>
            <a:ln w="9525">
              <a:noFill/>
            </a:ln>
          </p:spPr>
          <p:txBody>
            <a:bodyPr>
              <a:spAutoFit/>
            </a:bodyPr>
            <a:p>
              <a:pPr eaLnBrk="1" hangingPunct="1">
                <a:lnSpc>
                  <a:spcPct val="90000"/>
                </a:lnSpc>
                <a:spcBef>
                  <a:spcPct val="50000"/>
                </a:spcBef>
              </a:pPr>
              <a:r>
                <a:rPr lang="zh-CN" altLang="en-US" sz="1000" dirty="0">
                  <a:solidFill>
                    <a:schemeClr val="tx1"/>
                  </a:solidFill>
                  <a:latin typeface="Times New Roman" panose="02020603050405020304" pitchFamily="18" charset="0"/>
                </a:rPr>
                <a:t>调零</a:t>
              </a:r>
              <a:endParaRPr lang="zh-CN" altLang="en-US" sz="1000" dirty="0">
                <a:solidFill>
                  <a:schemeClr val="tx1"/>
                </a:solidFill>
                <a:latin typeface="Times New Roman" panose="02020603050405020304" pitchFamily="18" charset="0"/>
              </a:endParaRPr>
            </a:p>
          </p:txBody>
        </p:sp>
        <p:sp>
          <p:nvSpPr>
            <p:cNvPr id="87139" name="Freeform 223"/>
            <p:cNvSpPr/>
            <p:nvPr/>
          </p:nvSpPr>
          <p:spPr>
            <a:xfrm>
              <a:off x="5133" y="2730"/>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2"/>
                    <a:pt x="21" y="28"/>
                    <a:pt x="13" y="28"/>
                  </a:cubicBezTo>
                  <a:cubicBezTo>
                    <a:pt x="6" y="28"/>
                    <a:pt x="0" y="22"/>
                    <a:pt x="0" y="14"/>
                  </a:cubicBez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40" name="Text Box 224"/>
            <p:cNvSpPr txBox="1"/>
            <p:nvPr/>
          </p:nvSpPr>
          <p:spPr>
            <a:xfrm>
              <a:off x="5133" y="1510"/>
              <a:ext cx="417" cy="144"/>
            </a:xfrm>
            <a:prstGeom prst="rect">
              <a:avLst/>
            </a:prstGeom>
            <a:noFill/>
            <a:ln w="9525">
              <a:noFill/>
            </a:ln>
          </p:spPr>
          <p:txBody>
            <a:bodyPr>
              <a:spAutoFit/>
            </a:bodyPr>
            <a:p>
              <a:pPr eaLnBrk="1" hangingPunct="1">
                <a:lnSpc>
                  <a:spcPct val="90000"/>
                </a:lnSpc>
                <a:spcBef>
                  <a:spcPct val="50000"/>
                </a:spcBef>
              </a:pPr>
              <a:r>
                <a:rPr lang="zh-CN" altLang="en-US" sz="1000" dirty="0">
                  <a:solidFill>
                    <a:schemeClr val="tx1"/>
                  </a:solidFill>
                  <a:latin typeface="Times New Roman" panose="02020603050405020304" pitchFamily="18" charset="0"/>
                </a:rPr>
                <a:t>调满度</a:t>
              </a:r>
              <a:endParaRPr lang="zh-CN" altLang="en-US" sz="1000" dirty="0">
                <a:solidFill>
                  <a:schemeClr val="tx1"/>
                </a:solidFill>
                <a:latin typeface="Times New Roman" panose="02020603050405020304" pitchFamily="18" charset="0"/>
              </a:endParaRPr>
            </a:p>
          </p:txBody>
        </p:sp>
        <p:sp>
          <p:nvSpPr>
            <p:cNvPr id="87141" name="Line 225"/>
            <p:cNvSpPr/>
            <p:nvPr/>
          </p:nvSpPr>
          <p:spPr>
            <a:xfrm>
              <a:off x="4846" y="2091"/>
              <a:ext cx="0" cy="306"/>
            </a:xfrm>
            <a:prstGeom prst="line">
              <a:avLst/>
            </a:prstGeom>
            <a:ln w="19050" cap="flat" cmpd="sng">
              <a:solidFill>
                <a:schemeClr val="tx1"/>
              </a:solidFill>
              <a:prstDash val="solid"/>
              <a:headEnd type="none" w="med" len="med"/>
              <a:tailEnd type="none" w="med" len="med"/>
            </a:ln>
          </p:spPr>
        </p:sp>
        <p:sp>
          <p:nvSpPr>
            <p:cNvPr id="87142" name="Line 226"/>
            <p:cNvSpPr/>
            <p:nvPr/>
          </p:nvSpPr>
          <p:spPr>
            <a:xfrm flipV="1">
              <a:off x="4847" y="2091"/>
              <a:ext cx="0" cy="2"/>
            </a:xfrm>
            <a:prstGeom prst="line">
              <a:avLst/>
            </a:prstGeom>
            <a:ln w="63500" cap="rnd" cmpd="sng">
              <a:solidFill>
                <a:srgbClr val="000000"/>
              </a:solidFill>
              <a:prstDash val="solid"/>
              <a:headEnd type="none" w="med" len="med"/>
              <a:tailEnd type="none" w="med" len="med"/>
            </a:ln>
          </p:spPr>
        </p:sp>
        <p:sp>
          <p:nvSpPr>
            <p:cNvPr id="87143" name="AutoShape 227"/>
            <p:cNvSpPr/>
            <p:nvPr/>
          </p:nvSpPr>
          <p:spPr>
            <a:xfrm>
              <a:off x="4790" y="2392"/>
              <a:ext cx="107" cy="63"/>
            </a:xfrm>
            <a:prstGeom prst="flowChartMerge">
              <a:avLst/>
            </a:prstGeom>
            <a:no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87144" name="Rectangle 11"/>
            <p:cNvSpPr/>
            <p:nvPr/>
          </p:nvSpPr>
          <p:spPr>
            <a:xfrm>
              <a:off x="2041" y="1270"/>
              <a:ext cx="619" cy="2159"/>
            </a:xfrm>
            <a:prstGeom prst="rect">
              <a:avLst/>
            </a:prstGeom>
            <a:solidFill>
              <a:srgbClr val="FFCC99"/>
            </a:solidFill>
            <a:ln w="19050"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145" name="Line 13"/>
            <p:cNvSpPr/>
            <p:nvPr/>
          </p:nvSpPr>
          <p:spPr>
            <a:xfrm flipV="1">
              <a:off x="2569" y="1542"/>
              <a:ext cx="0" cy="2"/>
            </a:xfrm>
            <a:prstGeom prst="line">
              <a:avLst/>
            </a:prstGeom>
            <a:ln w="25400" cap="rnd" cmpd="sng">
              <a:solidFill>
                <a:srgbClr val="000000"/>
              </a:solidFill>
              <a:prstDash val="solid"/>
              <a:headEnd type="none" w="med" len="med"/>
              <a:tailEnd type="none" w="med" len="med"/>
            </a:ln>
          </p:spPr>
        </p:sp>
        <p:sp>
          <p:nvSpPr>
            <p:cNvPr id="87146" name="Line 14"/>
            <p:cNvSpPr/>
            <p:nvPr/>
          </p:nvSpPr>
          <p:spPr>
            <a:xfrm flipV="1">
              <a:off x="2569" y="1496"/>
              <a:ext cx="0" cy="1"/>
            </a:xfrm>
            <a:prstGeom prst="line">
              <a:avLst/>
            </a:prstGeom>
            <a:ln w="25400" cap="rnd" cmpd="sng">
              <a:solidFill>
                <a:srgbClr val="000000"/>
              </a:solidFill>
              <a:prstDash val="solid"/>
              <a:headEnd type="none" w="med" len="med"/>
              <a:tailEnd type="none" w="med" len="med"/>
            </a:ln>
          </p:spPr>
        </p:sp>
        <p:sp>
          <p:nvSpPr>
            <p:cNvPr id="87147" name="Line 15"/>
            <p:cNvSpPr/>
            <p:nvPr/>
          </p:nvSpPr>
          <p:spPr>
            <a:xfrm flipV="1">
              <a:off x="2569" y="1589"/>
              <a:ext cx="0" cy="1"/>
            </a:xfrm>
            <a:prstGeom prst="line">
              <a:avLst/>
            </a:prstGeom>
            <a:ln w="25400" cap="rnd" cmpd="sng">
              <a:solidFill>
                <a:srgbClr val="000000"/>
              </a:solidFill>
              <a:prstDash val="solid"/>
              <a:headEnd type="none" w="med" len="med"/>
              <a:tailEnd type="none" w="med" len="med"/>
            </a:ln>
          </p:spPr>
        </p:sp>
        <p:sp>
          <p:nvSpPr>
            <p:cNvPr id="87148" name="Line 16"/>
            <p:cNvSpPr/>
            <p:nvPr/>
          </p:nvSpPr>
          <p:spPr>
            <a:xfrm flipV="1">
              <a:off x="2569" y="1635"/>
              <a:ext cx="0" cy="2"/>
            </a:xfrm>
            <a:prstGeom prst="line">
              <a:avLst/>
            </a:prstGeom>
            <a:ln w="25400" cap="rnd" cmpd="sng">
              <a:solidFill>
                <a:srgbClr val="000000"/>
              </a:solidFill>
              <a:prstDash val="solid"/>
              <a:headEnd type="none" w="med" len="med"/>
              <a:tailEnd type="none" w="med" len="med"/>
            </a:ln>
          </p:spPr>
        </p:sp>
        <p:sp>
          <p:nvSpPr>
            <p:cNvPr id="87149" name="Line 17"/>
            <p:cNvSpPr/>
            <p:nvPr/>
          </p:nvSpPr>
          <p:spPr>
            <a:xfrm flipV="1">
              <a:off x="2569" y="1682"/>
              <a:ext cx="0" cy="2"/>
            </a:xfrm>
            <a:prstGeom prst="line">
              <a:avLst/>
            </a:prstGeom>
            <a:ln w="25400" cap="rnd" cmpd="sng">
              <a:solidFill>
                <a:srgbClr val="000000"/>
              </a:solidFill>
              <a:prstDash val="solid"/>
              <a:headEnd type="none" w="med" len="med"/>
              <a:tailEnd type="none" w="med" len="med"/>
            </a:ln>
          </p:spPr>
        </p:sp>
        <p:sp>
          <p:nvSpPr>
            <p:cNvPr id="87150" name="Rectangle 18"/>
            <p:cNvSpPr/>
            <p:nvPr/>
          </p:nvSpPr>
          <p:spPr>
            <a:xfrm>
              <a:off x="2497" y="1790"/>
              <a:ext cx="111"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DB</a:t>
              </a:r>
              <a:endParaRPr lang="en-US" altLang="zh-CN" dirty="0">
                <a:latin typeface="Times New Roman" panose="02020603050405020304" pitchFamily="18" charset="0"/>
              </a:endParaRPr>
            </a:p>
          </p:txBody>
        </p:sp>
        <p:sp>
          <p:nvSpPr>
            <p:cNvPr id="87151" name="Rectangle 19"/>
            <p:cNvSpPr/>
            <p:nvPr/>
          </p:nvSpPr>
          <p:spPr>
            <a:xfrm>
              <a:off x="2606" y="1831"/>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0</a:t>
              </a:r>
              <a:endParaRPr lang="en-US" altLang="zh-CN" dirty="0">
                <a:latin typeface="Times New Roman" panose="02020603050405020304" pitchFamily="18" charset="0"/>
              </a:endParaRPr>
            </a:p>
          </p:txBody>
        </p:sp>
        <p:sp>
          <p:nvSpPr>
            <p:cNvPr id="87152" name="Rectangle 63"/>
            <p:cNvSpPr/>
            <p:nvPr/>
          </p:nvSpPr>
          <p:spPr>
            <a:xfrm>
              <a:off x="2773" y="2998"/>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FF0000"/>
                  </a:solidFill>
                  <a:latin typeface="Times New Roman" panose="02020603050405020304" pitchFamily="18" charset="0"/>
                </a:rPr>
                <a:t>A</a:t>
              </a:r>
              <a:endParaRPr lang="en-US" altLang="zh-CN" dirty="0">
                <a:solidFill>
                  <a:srgbClr val="FF0000"/>
                </a:solidFill>
                <a:latin typeface="Times New Roman" panose="02020603050405020304" pitchFamily="18" charset="0"/>
              </a:endParaRPr>
            </a:p>
          </p:txBody>
        </p:sp>
        <p:sp>
          <p:nvSpPr>
            <p:cNvPr id="87153" name="Rectangle 64"/>
            <p:cNvSpPr/>
            <p:nvPr/>
          </p:nvSpPr>
          <p:spPr>
            <a:xfrm>
              <a:off x="2841" y="3038"/>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FF0000"/>
                  </a:solidFill>
                  <a:latin typeface="Times New Roman" panose="02020603050405020304" pitchFamily="18" charset="0"/>
                </a:rPr>
                <a:t>0</a:t>
              </a:r>
              <a:endParaRPr lang="en-US" altLang="zh-CN" dirty="0">
                <a:solidFill>
                  <a:srgbClr val="FF0000"/>
                </a:solidFill>
                <a:latin typeface="Times New Roman" panose="02020603050405020304" pitchFamily="18" charset="0"/>
              </a:endParaRPr>
            </a:p>
          </p:txBody>
        </p:sp>
        <p:sp>
          <p:nvSpPr>
            <p:cNvPr id="87154" name="Rectangle 65"/>
            <p:cNvSpPr/>
            <p:nvPr/>
          </p:nvSpPr>
          <p:spPr>
            <a:xfrm>
              <a:off x="2458" y="3171"/>
              <a:ext cx="173"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IOW</a:t>
              </a:r>
              <a:endParaRPr lang="en-US" altLang="zh-CN" dirty="0">
                <a:latin typeface="Times New Roman" panose="02020603050405020304" pitchFamily="18" charset="0"/>
              </a:endParaRPr>
            </a:p>
          </p:txBody>
        </p:sp>
        <p:sp>
          <p:nvSpPr>
            <p:cNvPr id="87155" name="Rectangle 67"/>
            <p:cNvSpPr/>
            <p:nvPr/>
          </p:nvSpPr>
          <p:spPr>
            <a:xfrm>
              <a:off x="2535" y="2558"/>
              <a:ext cx="5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A</a:t>
              </a:r>
              <a:endParaRPr lang="en-US" altLang="zh-CN" dirty="0">
                <a:latin typeface="Times New Roman" panose="02020603050405020304" pitchFamily="18" charset="0"/>
              </a:endParaRPr>
            </a:p>
          </p:txBody>
        </p:sp>
        <p:sp>
          <p:nvSpPr>
            <p:cNvPr id="87156" name="Rectangle 68"/>
            <p:cNvSpPr/>
            <p:nvPr/>
          </p:nvSpPr>
          <p:spPr>
            <a:xfrm>
              <a:off x="2602" y="2598"/>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0</a:t>
              </a:r>
              <a:endParaRPr lang="en-US" altLang="zh-CN" dirty="0">
                <a:latin typeface="Times New Roman" panose="02020603050405020304" pitchFamily="18" charset="0"/>
              </a:endParaRPr>
            </a:p>
          </p:txBody>
        </p:sp>
        <p:sp>
          <p:nvSpPr>
            <p:cNvPr id="87157" name="Rectangle 69"/>
            <p:cNvSpPr/>
            <p:nvPr/>
          </p:nvSpPr>
          <p:spPr>
            <a:xfrm>
              <a:off x="2400" y="2558"/>
              <a:ext cx="98"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A  </a:t>
              </a:r>
              <a:endParaRPr lang="en-US" altLang="zh-CN" dirty="0">
                <a:latin typeface="Times New Roman" panose="02020603050405020304" pitchFamily="18" charset="0"/>
              </a:endParaRPr>
            </a:p>
          </p:txBody>
        </p:sp>
        <p:sp>
          <p:nvSpPr>
            <p:cNvPr id="87158" name="Rectangle 70"/>
            <p:cNvSpPr/>
            <p:nvPr/>
          </p:nvSpPr>
          <p:spPr>
            <a:xfrm>
              <a:off x="2497" y="2558"/>
              <a:ext cx="4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a:t>
              </a:r>
              <a:endParaRPr lang="en-US" altLang="zh-CN" dirty="0">
                <a:latin typeface="Times New Roman" panose="02020603050405020304" pitchFamily="18" charset="0"/>
              </a:endParaRPr>
            </a:p>
          </p:txBody>
        </p:sp>
        <p:sp>
          <p:nvSpPr>
            <p:cNvPr id="87159" name="Rectangle 71"/>
            <p:cNvSpPr/>
            <p:nvPr/>
          </p:nvSpPr>
          <p:spPr>
            <a:xfrm>
              <a:off x="2458" y="2588"/>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9</a:t>
              </a:r>
              <a:endParaRPr lang="en-US" altLang="zh-CN" dirty="0">
                <a:latin typeface="Times New Roman" panose="02020603050405020304" pitchFamily="18" charset="0"/>
              </a:endParaRPr>
            </a:p>
          </p:txBody>
        </p:sp>
        <p:sp>
          <p:nvSpPr>
            <p:cNvPr id="87160" name="Rectangle 72"/>
            <p:cNvSpPr/>
            <p:nvPr/>
          </p:nvSpPr>
          <p:spPr>
            <a:xfrm>
              <a:off x="2205" y="2197"/>
              <a:ext cx="128" cy="104"/>
            </a:xfrm>
            <a:prstGeom prst="rect">
              <a:avLst/>
            </a:prstGeom>
            <a:noFill/>
            <a:ln w="9525">
              <a:noFill/>
            </a:ln>
          </p:spPr>
          <p:txBody>
            <a:bodyPr wrap="none" lIns="0" tIns="0" rIns="0" bIns="0">
              <a:spAutoFit/>
            </a:bodyPr>
            <a:p>
              <a:pPr eaLnBrk="1" hangingPunct="1">
                <a:lnSpc>
                  <a:spcPct val="90000"/>
                </a:lnSpc>
              </a:pPr>
              <a:r>
                <a:rPr lang="en-US" altLang="zh-CN" sz="1200" dirty="0">
                  <a:solidFill>
                    <a:srgbClr val="CC00CC"/>
                  </a:solidFill>
                  <a:latin typeface="Times New Roman" panose="02020603050405020304" pitchFamily="18" charset="0"/>
                </a:rPr>
                <a:t>PC</a:t>
              </a:r>
              <a:endParaRPr lang="en-US" altLang="zh-CN" sz="4000" dirty="0">
                <a:solidFill>
                  <a:srgbClr val="CC00CC"/>
                </a:solidFill>
                <a:latin typeface="Times New Roman" panose="02020603050405020304" pitchFamily="18" charset="0"/>
              </a:endParaRPr>
            </a:p>
          </p:txBody>
        </p:sp>
        <p:sp>
          <p:nvSpPr>
            <p:cNvPr id="87161" name="Rectangle 73"/>
            <p:cNvSpPr/>
            <p:nvPr/>
          </p:nvSpPr>
          <p:spPr>
            <a:xfrm>
              <a:off x="2329" y="2197"/>
              <a:ext cx="192" cy="104"/>
            </a:xfrm>
            <a:prstGeom prst="rect">
              <a:avLst/>
            </a:prstGeom>
            <a:noFill/>
            <a:ln w="9525">
              <a:noFill/>
            </a:ln>
          </p:spPr>
          <p:txBody>
            <a:bodyPr wrap="none" lIns="0" tIns="0" rIns="0" bIns="0">
              <a:spAutoFit/>
            </a:bodyPr>
            <a:p>
              <a:pPr eaLnBrk="1" hangingPunct="1">
                <a:lnSpc>
                  <a:spcPct val="90000"/>
                </a:lnSpc>
              </a:pPr>
              <a:r>
                <a:rPr lang="zh-CN" altLang="en-US" sz="1200" dirty="0">
                  <a:solidFill>
                    <a:srgbClr val="CC00CC"/>
                  </a:solidFill>
                  <a:latin typeface="宋体" panose="02010600030101010101" pitchFamily="2" charset="-122"/>
                  <a:ea typeface="宋体" panose="02010600030101010101" pitchFamily="2" charset="-122"/>
                </a:rPr>
                <a:t>总线</a:t>
              </a:r>
              <a:endParaRPr lang="zh-CN" altLang="en-US" sz="4000" dirty="0">
                <a:solidFill>
                  <a:srgbClr val="CC00CC"/>
                </a:solidFill>
                <a:latin typeface="Times New Roman" panose="02020603050405020304" pitchFamily="18" charset="0"/>
              </a:endParaRPr>
            </a:p>
          </p:txBody>
        </p:sp>
        <p:sp>
          <p:nvSpPr>
            <p:cNvPr id="87162" name="Rectangle 78"/>
            <p:cNvSpPr/>
            <p:nvPr/>
          </p:nvSpPr>
          <p:spPr>
            <a:xfrm>
              <a:off x="2919" y="2324"/>
              <a:ext cx="218" cy="556"/>
            </a:xfrm>
            <a:prstGeom prst="rect">
              <a:avLst/>
            </a:prstGeom>
            <a:solidFill>
              <a:srgbClr val="FFFFFF"/>
            </a:solidFill>
            <a:ln w="9525">
              <a:noFill/>
            </a:ln>
          </p:spPr>
          <p:txBody>
            <a:bodyPr/>
            <a:p>
              <a:pPr eaLnBrk="1" hangingPunct="1">
                <a:lnSpc>
                  <a:spcPct val="90000"/>
                </a:lnSpc>
              </a:pPr>
              <a:endParaRPr lang="zh-CN" altLang="en-US" dirty="0">
                <a:latin typeface="Times New Roman" panose="02020603050405020304" pitchFamily="18" charset="0"/>
              </a:endParaRPr>
            </a:p>
          </p:txBody>
        </p:sp>
        <p:sp>
          <p:nvSpPr>
            <p:cNvPr id="87163" name="Rectangle 79"/>
            <p:cNvSpPr/>
            <p:nvPr/>
          </p:nvSpPr>
          <p:spPr>
            <a:xfrm>
              <a:off x="2919" y="2324"/>
              <a:ext cx="218" cy="556"/>
            </a:xfrm>
            <a:prstGeom prst="rect">
              <a:avLst/>
            </a:prstGeom>
            <a:solidFill>
              <a:srgbClr val="FFCC99"/>
            </a:solidFill>
            <a:ln w="19050" cap="rnd" cmpd="sng">
              <a:solidFill>
                <a:srgbClr val="000000"/>
              </a:solidFill>
              <a:prstDash val="solid"/>
              <a:round/>
              <a:headEnd type="none" w="med" len="med"/>
              <a:tailEnd type="none" w="med" len="med"/>
            </a:ln>
          </p:spPr>
          <p:txBody>
            <a:bodyPr/>
            <a:p>
              <a:pPr eaLnBrk="1" hangingPunct="1">
                <a:lnSpc>
                  <a:spcPct val="90000"/>
                </a:lnSpc>
              </a:pPr>
              <a:endParaRPr lang="zh-CN" altLang="en-US" dirty="0">
                <a:latin typeface="Times New Roman" panose="02020603050405020304" pitchFamily="18" charset="0"/>
              </a:endParaRPr>
            </a:p>
          </p:txBody>
        </p:sp>
        <p:sp>
          <p:nvSpPr>
            <p:cNvPr id="87164" name="Rectangle 80"/>
            <p:cNvSpPr/>
            <p:nvPr/>
          </p:nvSpPr>
          <p:spPr>
            <a:xfrm>
              <a:off x="2978" y="2417"/>
              <a:ext cx="112" cy="121"/>
            </a:xfrm>
            <a:prstGeom prst="rect">
              <a:avLst/>
            </a:prstGeom>
            <a:noFill/>
            <a:ln w="9525">
              <a:noFill/>
            </a:ln>
          </p:spPr>
          <p:txBody>
            <a:bodyPr wrap="none" lIns="0" tIns="0" rIns="0" bIns="0">
              <a:spAutoFit/>
            </a:bodyPr>
            <a:p>
              <a:pPr eaLnBrk="1" hangingPunct="1">
                <a:lnSpc>
                  <a:spcPct val="90000"/>
                </a:lnSpc>
              </a:pPr>
              <a:r>
                <a:rPr lang="zh-CN" altLang="en-US" sz="1400" b="0" dirty="0">
                  <a:solidFill>
                    <a:srgbClr val="000000"/>
                  </a:solidFill>
                  <a:latin typeface="宋体" panose="02010600030101010101" pitchFamily="2" charset="-122"/>
                  <a:ea typeface="宋体" panose="02010600030101010101" pitchFamily="2" charset="-122"/>
                </a:rPr>
                <a:t>译</a:t>
              </a:r>
              <a:endParaRPr lang="zh-CN" altLang="en-US" dirty="0">
                <a:latin typeface="Times New Roman" panose="02020603050405020304" pitchFamily="18" charset="0"/>
              </a:endParaRPr>
            </a:p>
          </p:txBody>
        </p:sp>
        <p:sp>
          <p:nvSpPr>
            <p:cNvPr id="87165" name="Rectangle 81"/>
            <p:cNvSpPr/>
            <p:nvPr/>
          </p:nvSpPr>
          <p:spPr>
            <a:xfrm>
              <a:off x="2978" y="2682"/>
              <a:ext cx="112" cy="121"/>
            </a:xfrm>
            <a:prstGeom prst="rect">
              <a:avLst/>
            </a:prstGeom>
            <a:noFill/>
            <a:ln w="9525">
              <a:noFill/>
            </a:ln>
          </p:spPr>
          <p:txBody>
            <a:bodyPr wrap="none" lIns="0" tIns="0" rIns="0" bIns="0">
              <a:spAutoFit/>
            </a:bodyPr>
            <a:p>
              <a:pPr eaLnBrk="1" hangingPunct="1">
                <a:lnSpc>
                  <a:spcPct val="90000"/>
                </a:lnSpc>
              </a:pPr>
              <a:r>
                <a:rPr lang="zh-CN" altLang="en-US" sz="1400" b="0" dirty="0">
                  <a:solidFill>
                    <a:srgbClr val="000000"/>
                  </a:solidFill>
                  <a:latin typeface="宋体" panose="02010600030101010101" pitchFamily="2" charset="-122"/>
                  <a:ea typeface="宋体" panose="02010600030101010101" pitchFamily="2" charset="-122"/>
                </a:rPr>
                <a:t>码</a:t>
              </a:r>
              <a:endParaRPr lang="zh-CN" altLang="en-US" dirty="0">
                <a:latin typeface="Times New Roman" panose="02020603050405020304" pitchFamily="18" charset="0"/>
              </a:endParaRPr>
            </a:p>
          </p:txBody>
        </p:sp>
        <p:sp>
          <p:nvSpPr>
            <p:cNvPr id="87166" name="Freeform 85"/>
            <p:cNvSpPr/>
            <p:nvPr/>
          </p:nvSpPr>
          <p:spPr>
            <a:xfrm>
              <a:off x="3137" y="2757"/>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1"/>
                    <a:pt x="21" y="28"/>
                    <a:pt x="13" y="28"/>
                  </a:cubicBezTo>
                  <a:cubicBezTo>
                    <a:pt x="6" y="28"/>
                    <a:pt x="0" y="21"/>
                    <a:pt x="0" y="14"/>
                  </a:cubicBez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67" name="Line 111"/>
            <p:cNvSpPr/>
            <p:nvPr/>
          </p:nvSpPr>
          <p:spPr>
            <a:xfrm>
              <a:off x="2467" y="3168"/>
              <a:ext cx="145" cy="0"/>
            </a:xfrm>
            <a:prstGeom prst="line">
              <a:avLst/>
            </a:prstGeom>
            <a:ln w="12700" cap="rnd" cmpd="sng">
              <a:solidFill>
                <a:srgbClr val="000000"/>
              </a:solidFill>
              <a:prstDash val="solid"/>
              <a:headEnd type="none" w="med" len="med"/>
              <a:tailEnd type="none" w="med" len="med"/>
            </a:ln>
          </p:spPr>
        </p:sp>
        <p:sp>
          <p:nvSpPr>
            <p:cNvPr id="87168" name="Rectangle 167"/>
            <p:cNvSpPr/>
            <p:nvPr/>
          </p:nvSpPr>
          <p:spPr>
            <a:xfrm>
              <a:off x="2497" y="1300"/>
              <a:ext cx="111"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DB</a:t>
              </a:r>
              <a:endParaRPr lang="en-US" altLang="zh-CN" dirty="0">
                <a:latin typeface="Times New Roman" panose="02020603050405020304" pitchFamily="18" charset="0"/>
              </a:endParaRPr>
            </a:p>
          </p:txBody>
        </p:sp>
        <p:sp>
          <p:nvSpPr>
            <p:cNvPr id="87169" name="Rectangle 168"/>
            <p:cNvSpPr/>
            <p:nvPr/>
          </p:nvSpPr>
          <p:spPr>
            <a:xfrm>
              <a:off x="2602" y="1330"/>
              <a:ext cx="24" cy="52"/>
            </a:xfrm>
            <a:prstGeom prst="rect">
              <a:avLst/>
            </a:prstGeom>
            <a:noFill/>
            <a:ln w="9525">
              <a:noFill/>
            </a:ln>
          </p:spPr>
          <p:txBody>
            <a:bodyPr wrap="none" lIns="0" tIns="0" rIns="0" bIns="0">
              <a:spAutoFit/>
            </a:bodyPr>
            <a:p>
              <a:pPr eaLnBrk="1" hangingPunct="1">
                <a:lnSpc>
                  <a:spcPct val="90000"/>
                </a:lnSpc>
              </a:pPr>
              <a:r>
                <a:rPr lang="en-US" altLang="zh-CN" sz="600" dirty="0">
                  <a:solidFill>
                    <a:srgbClr val="000000"/>
                  </a:solidFill>
                  <a:latin typeface="Times New Roman" panose="02020603050405020304" pitchFamily="18" charset="0"/>
                </a:rPr>
                <a:t>7</a:t>
              </a:r>
              <a:endParaRPr lang="en-US" altLang="zh-CN" dirty="0">
                <a:latin typeface="Times New Roman" panose="02020603050405020304" pitchFamily="18" charset="0"/>
              </a:endParaRPr>
            </a:p>
          </p:txBody>
        </p:sp>
        <p:sp>
          <p:nvSpPr>
            <p:cNvPr id="87170" name="Rectangle 184"/>
            <p:cNvSpPr/>
            <p:nvPr/>
          </p:nvSpPr>
          <p:spPr>
            <a:xfrm>
              <a:off x="3165" y="2535"/>
              <a:ext cx="18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FF0000"/>
                  </a:solidFill>
                  <a:latin typeface="Times New Roman" panose="02020603050405020304" pitchFamily="18" charset="0"/>
                </a:rPr>
                <a:t>220H</a:t>
              </a:r>
              <a:endParaRPr lang="en-US" altLang="zh-CN" dirty="0">
                <a:solidFill>
                  <a:srgbClr val="FF0000"/>
                </a:solidFill>
                <a:latin typeface="Times New Roman" panose="02020603050405020304" pitchFamily="18" charset="0"/>
              </a:endParaRPr>
            </a:p>
          </p:txBody>
        </p:sp>
        <p:sp>
          <p:nvSpPr>
            <p:cNvPr id="87171" name="Line 187"/>
            <p:cNvSpPr/>
            <p:nvPr/>
          </p:nvSpPr>
          <p:spPr>
            <a:xfrm>
              <a:off x="3165" y="2636"/>
              <a:ext cx="259" cy="0"/>
            </a:xfrm>
            <a:prstGeom prst="line">
              <a:avLst/>
            </a:prstGeom>
            <a:ln w="19050" cap="rnd" cmpd="sng">
              <a:solidFill>
                <a:srgbClr val="000000"/>
              </a:solidFill>
              <a:prstDash val="solid"/>
              <a:headEnd type="none" w="med" len="med"/>
              <a:tailEnd type="none" w="med" len="med"/>
            </a:ln>
          </p:spPr>
        </p:sp>
        <p:sp>
          <p:nvSpPr>
            <p:cNvPr id="87172" name="Line 188"/>
            <p:cNvSpPr/>
            <p:nvPr/>
          </p:nvSpPr>
          <p:spPr>
            <a:xfrm>
              <a:off x="3164" y="2772"/>
              <a:ext cx="259" cy="0"/>
            </a:xfrm>
            <a:prstGeom prst="line">
              <a:avLst/>
            </a:prstGeom>
            <a:ln w="19050" cap="rnd" cmpd="sng">
              <a:solidFill>
                <a:srgbClr val="000000"/>
              </a:solidFill>
              <a:prstDash val="solid"/>
              <a:headEnd type="none" w="med" len="med"/>
              <a:tailEnd type="none" w="med" len="med"/>
            </a:ln>
          </p:spPr>
        </p:sp>
        <p:sp>
          <p:nvSpPr>
            <p:cNvPr id="87173" name="AutoShape 186"/>
            <p:cNvSpPr/>
            <p:nvPr/>
          </p:nvSpPr>
          <p:spPr>
            <a:xfrm>
              <a:off x="3355" y="2600"/>
              <a:ext cx="211" cy="206"/>
            </a:xfrm>
            <a:prstGeom prst="flowChartDelay">
              <a:avLst/>
            </a:prstGeom>
            <a:solidFill>
              <a:srgbClr val="FFCC99"/>
            </a:solidFill>
            <a:ln w="1905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87174" name="Freeform 189"/>
            <p:cNvSpPr/>
            <p:nvPr/>
          </p:nvSpPr>
          <p:spPr>
            <a:xfrm>
              <a:off x="3138" y="2622"/>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1"/>
                    <a:pt x="21" y="28"/>
                    <a:pt x="13" y="28"/>
                  </a:cubicBezTo>
                  <a:cubicBezTo>
                    <a:pt x="6" y="28"/>
                    <a:pt x="0" y="21"/>
                    <a:pt x="0" y="14"/>
                  </a:cubicBezTo>
                </a:path>
              </a:pathLst>
            </a:custGeom>
            <a:no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75" name="Rectangle 190"/>
            <p:cNvSpPr/>
            <p:nvPr/>
          </p:nvSpPr>
          <p:spPr>
            <a:xfrm>
              <a:off x="3162" y="2675"/>
              <a:ext cx="18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FF0000"/>
                  </a:solidFill>
                  <a:latin typeface="Times New Roman" panose="02020603050405020304" pitchFamily="18" charset="0"/>
                </a:rPr>
                <a:t>221H</a:t>
              </a:r>
              <a:endParaRPr lang="en-US" altLang="zh-CN" dirty="0">
                <a:solidFill>
                  <a:srgbClr val="FF0000"/>
                </a:solidFill>
                <a:latin typeface="Times New Roman" panose="02020603050405020304" pitchFamily="18" charset="0"/>
              </a:endParaRPr>
            </a:p>
          </p:txBody>
        </p:sp>
        <p:sp>
          <p:nvSpPr>
            <p:cNvPr id="87176" name="Freeform 192"/>
            <p:cNvSpPr/>
            <p:nvPr/>
          </p:nvSpPr>
          <p:spPr>
            <a:xfrm>
              <a:off x="3138" y="2425"/>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1"/>
                    <a:pt x="21" y="28"/>
                    <a:pt x="13" y="28"/>
                  </a:cubicBezTo>
                  <a:cubicBezTo>
                    <a:pt x="6" y="28"/>
                    <a:pt x="0" y="21"/>
                    <a:pt x="0" y="14"/>
                  </a:cubicBezTo>
                </a:path>
              </a:pathLst>
            </a:custGeom>
            <a:solidFill>
              <a:srgbClr val="FFFF99">
                <a:alpha val="100000"/>
              </a:srgbClr>
            </a:solid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77" name="Rectangle 195"/>
            <p:cNvSpPr/>
            <p:nvPr/>
          </p:nvSpPr>
          <p:spPr>
            <a:xfrm>
              <a:off x="3173" y="2335"/>
              <a:ext cx="18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FF0000"/>
                  </a:solidFill>
                  <a:latin typeface="Times New Roman" panose="02020603050405020304" pitchFamily="18" charset="0"/>
                </a:rPr>
                <a:t>222H</a:t>
              </a:r>
              <a:endParaRPr lang="en-US" altLang="zh-CN" dirty="0">
                <a:solidFill>
                  <a:srgbClr val="FF0000"/>
                </a:solidFill>
                <a:latin typeface="Times New Roman" panose="02020603050405020304" pitchFamily="18" charset="0"/>
              </a:endParaRPr>
            </a:p>
          </p:txBody>
        </p:sp>
        <p:sp>
          <p:nvSpPr>
            <p:cNvPr id="87178" name="Line 198"/>
            <p:cNvSpPr/>
            <p:nvPr/>
          </p:nvSpPr>
          <p:spPr>
            <a:xfrm>
              <a:off x="2773" y="2650"/>
              <a:ext cx="0" cy="339"/>
            </a:xfrm>
            <a:prstGeom prst="line">
              <a:avLst/>
            </a:prstGeom>
            <a:ln w="19050" cap="flat" cmpd="sng">
              <a:solidFill>
                <a:srgbClr val="FF0000"/>
              </a:solidFill>
              <a:prstDash val="solid"/>
              <a:headEnd type="none" w="med" len="med"/>
              <a:tailEnd type="none" w="med" len="med"/>
            </a:ln>
          </p:spPr>
        </p:sp>
        <p:sp>
          <p:nvSpPr>
            <p:cNvPr id="87179" name="Freeform 180"/>
            <p:cNvSpPr/>
            <p:nvPr/>
          </p:nvSpPr>
          <p:spPr>
            <a:xfrm rot="10800000">
              <a:off x="3243" y="2896"/>
              <a:ext cx="158" cy="185"/>
            </a:xfrm>
            <a:custGeom>
              <a:avLst/>
              <a:gdLst/>
              <a:ahLst/>
              <a:cxnLst>
                <a:cxn ang="0">
                  <a:pos x="158" y="0"/>
                </a:cxn>
                <a:cxn ang="0">
                  <a:pos x="158" y="185"/>
                </a:cxn>
                <a:cxn ang="0">
                  <a:pos x="0" y="93"/>
                </a:cxn>
                <a:cxn ang="0">
                  <a:pos x="158" y="0"/>
                </a:cxn>
              </a:cxnLst>
              <a:pathLst>
                <a:path w="158" h="185">
                  <a:moveTo>
                    <a:pt x="158" y="0"/>
                  </a:moveTo>
                  <a:lnTo>
                    <a:pt x="158" y="185"/>
                  </a:lnTo>
                  <a:lnTo>
                    <a:pt x="0" y="93"/>
                  </a:lnTo>
                  <a:lnTo>
                    <a:pt x="158" y="0"/>
                  </a:lnTo>
                  <a:close/>
                </a:path>
              </a:pathLst>
            </a:custGeom>
            <a:solidFill>
              <a:srgbClr val="FFCC99">
                <a:alpha val="100000"/>
              </a:srgbClr>
            </a:solid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80" name="Freeform 199"/>
            <p:cNvSpPr/>
            <p:nvPr/>
          </p:nvSpPr>
          <p:spPr>
            <a:xfrm>
              <a:off x="3402" y="2974"/>
              <a:ext cx="27" cy="28"/>
            </a:xfrm>
            <a:custGeom>
              <a:avLst/>
              <a:gdLst/>
              <a:ahLst/>
              <a:cxnLst>
                <a:cxn ang="0">
                  <a:pos x="0" y="14"/>
                </a:cxn>
                <a:cxn ang="0">
                  <a:pos x="13" y="0"/>
                </a:cxn>
                <a:cxn ang="0">
                  <a:pos x="27" y="14"/>
                </a:cxn>
                <a:cxn ang="0">
                  <a:pos x="27" y="14"/>
                </a:cxn>
                <a:cxn ang="0">
                  <a:pos x="13" y="28"/>
                </a:cxn>
                <a:cxn ang="0">
                  <a:pos x="0" y="14"/>
                </a:cxn>
              </a:cxnLst>
              <a:pathLst>
                <a:path w="27" h="28">
                  <a:moveTo>
                    <a:pt x="0" y="14"/>
                  </a:moveTo>
                  <a:cubicBezTo>
                    <a:pt x="0" y="6"/>
                    <a:pt x="6" y="0"/>
                    <a:pt x="13" y="0"/>
                  </a:cubicBezTo>
                  <a:cubicBezTo>
                    <a:pt x="21" y="0"/>
                    <a:pt x="27" y="6"/>
                    <a:pt x="27" y="14"/>
                  </a:cubicBezTo>
                  <a:cubicBezTo>
                    <a:pt x="27" y="14"/>
                    <a:pt x="27" y="14"/>
                    <a:pt x="27" y="14"/>
                  </a:cubicBezTo>
                  <a:cubicBezTo>
                    <a:pt x="27" y="21"/>
                    <a:pt x="21" y="28"/>
                    <a:pt x="13" y="28"/>
                  </a:cubicBezTo>
                  <a:cubicBezTo>
                    <a:pt x="6" y="28"/>
                    <a:pt x="0" y="21"/>
                    <a:pt x="0" y="14"/>
                  </a:cubicBezTo>
                </a:path>
              </a:pathLst>
            </a:custGeom>
            <a:solidFill>
              <a:srgbClr val="FFFF99">
                <a:alpha val="100000"/>
              </a:srgbClr>
            </a:solidFill>
            <a:ln w="19050" cap="rnd" cmpd="sng">
              <a:solidFill>
                <a:srgbClr val="000000">
                  <a:alpha val="100000"/>
                </a:srgbClr>
              </a:solidFill>
              <a:prstDash val="solid"/>
              <a:round/>
              <a:headEnd type="none" w="med" len="med"/>
              <a:tailEnd type="none" w="med" len="med"/>
            </a:ln>
          </p:spPr>
          <p:txBody>
            <a:bodyPr/>
            <a:p>
              <a:endParaRPr lang="zh-CN" altLang="en-US"/>
            </a:p>
          </p:txBody>
        </p:sp>
        <p:sp>
          <p:nvSpPr>
            <p:cNvPr id="87181" name="AutoShape 196"/>
            <p:cNvSpPr/>
            <p:nvPr/>
          </p:nvSpPr>
          <p:spPr>
            <a:xfrm>
              <a:off x="2660" y="2465"/>
              <a:ext cx="259" cy="266"/>
            </a:xfrm>
            <a:prstGeom prst="rightArrow">
              <a:avLst>
                <a:gd name="adj1" fmla="val 50000"/>
                <a:gd name="adj2" fmla="val 25000"/>
              </a:avLst>
            </a:prstGeom>
            <a:solidFill>
              <a:schemeClr val="accent1"/>
            </a:solidFill>
            <a:ln w="12700" cap="flat" cmpd="sng">
              <a:solidFill>
                <a:schemeClr val="tx1"/>
              </a:solidFill>
              <a:prstDash val="solid"/>
              <a:miter/>
              <a:headEnd type="none" w="med" len="med"/>
              <a:tailEnd type="none" w="med" len="med"/>
            </a:ln>
          </p:spPr>
          <p:txBody>
            <a:bodyPr anchor="ctr" anchorCtr="0">
              <a:spAutoFit/>
            </a:bodyPr>
            <a:p>
              <a:pPr eaLnBrk="1" hangingPunct="1">
                <a:lnSpc>
                  <a:spcPct val="90000"/>
                </a:lnSpc>
              </a:pPr>
              <a:endParaRPr lang="zh-CN" altLang="en-US" dirty="0">
                <a:latin typeface="Times New Roman" panose="02020603050405020304" pitchFamily="18" charset="0"/>
              </a:endParaRPr>
            </a:p>
          </p:txBody>
        </p:sp>
        <p:sp>
          <p:nvSpPr>
            <p:cNvPr id="87182" name="Rectangle 235"/>
            <p:cNvSpPr/>
            <p:nvPr/>
          </p:nvSpPr>
          <p:spPr>
            <a:xfrm>
              <a:off x="5002" y="1740"/>
              <a:ext cx="160"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50</a:t>
              </a:r>
              <a:r>
                <a:rPr lang="el-GR" altLang="zh-CN" sz="1000" dirty="0">
                  <a:solidFill>
                    <a:srgbClr val="000000"/>
                  </a:solidFill>
                  <a:latin typeface="Times New Roman" panose="02020603050405020304" pitchFamily="18" charset="0"/>
                  <a:cs typeface="Times New Roman" panose="02020603050405020304" pitchFamily="18" charset="0"/>
                </a:rPr>
                <a:t>Ω</a:t>
              </a:r>
              <a:endParaRPr lang="el-GR" altLang="zh-CN" dirty="0">
                <a:latin typeface="Times New Roman" panose="02020603050405020304" pitchFamily="18" charset="0"/>
                <a:ea typeface="Times New Roman" panose="02020603050405020304" pitchFamily="18" charset="0"/>
              </a:endParaRPr>
            </a:p>
          </p:txBody>
        </p:sp>
        <p:sp>
          <p:nvSpPr>
            <p:cNvPr id="87183" name="Rectangle 236"/>
            <p:cNvSpPr/>
            <p:nvPr/>
          </p:nvSpPr>
          <p:spPr>
            <a:xfrm>
              <a:off x="5073" y="2363"/>
              <a:ext cx="142" cy="86"/>
            </a:xfrm>
            <a:prstGeom prst="rect">
              <a:avLst/>
            </a:prstGeom>
            <a:noFill/>
            <a:ln w="9525">
              <a:noFill/>
            </a:ln>
          </p:spPr>
          <p:txBody>
            <a:bodyPr wrap="none" lIns="0" tIns="0" rIns="0" bIns="0">
              <a:spAutoFit/>
            </a:bodyPr>
            <a:p>
              <a:pPr eaLnBrk="1" hangingPunct="1">
                <a:lnSpc>
                  <a:spcPct val="90000"/>
                </a:lnSpc>
              </a:pPr>
              <a:r>
                <a:rPr lang="en-US" altLang="zh-CN" sz="1000" dirty="0">
                  <a:solidFill>
                    <a:srgbClr val="000000"/>
                  </a:solidFill>
                  <a:latin typeface="Times New Roman" panose="02020603050405020304" pitchFamily="18" charset="0"/>
                </a:rPr>
                <a:t>10</a:t>
              </a:r>
              <a:r>
                <a:rPr lang="en-US" altLang="zh-CN" sz="1000" dirty="0">
                  <a:solidFill>
                    <a:srgbClr val="000000"/>
                  </a:solidFill>
                  <a:latin typeface="Times New Roman" panose="02020603050405020304" pitchFamily="18" charset="0"/>
                  <a:cs typeface="Times New Roman" panose="02020603050405020304" pitchFamily="18" charset="0"/>
                </a:rPr>
                <a:t>K</a:t>
              </a:r>
              <a:endParaRPr lang="el-GR" altLang="zh-CN" dirty="0">
                <a:latin typeface="Times New Roman" panose="02020603050405020304" pitchFamily="18" charset="0"/>
                <a:ea typeface="Times New Roman" panose="02020603050405020304" pitchFamily="18" charset="0"/>
              </a:endParaRPr>
            </a:p>
          </p:txBody>
        </p:sp>
      </p:gr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45671"/>
                                        </p:tgtEl>
                                        <p:attrNameLst>
                                          <p:attrName>style.visibility</p:attrName>
                                        </p:attrNameLst>
                                      </p:cBhvr>
                                      <p:to>
                                        <p:strVal val="visible"/>
                                      </p:to>
                                    </p:set>
                                    <p:animEffect transition="in" filter="dissolve">
                                      <p:cBhvr>
                                        <p:cTn id="7" dur="500"/>
                                        <p:tgtEl>
                                          <p:spTgt spid="254567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45901"/>
                                        </p:tgtEl>
                                        <p:attrNameLst>
                                          <p:attrName>style.visibility</p:attrName>
                                        </p:attrNameLst>
                                      </p:cBhvr>
                                      <p:to>
                                        <p:strVal val="visible"/>
                                      </p:to>
                                    </p:set>
                                    <p:animEffect transition="in" filter="dissolve">
                                      <p:cBhvr>
                                        <p:cTn id="12" dur="500"/>
                                        <p:tgtEl>
                                          <p:spTgt spid="254590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45893"/>
                                        </p:tgtEl>
                                        <p:attrNameLst>
                                          <p:attrName>style.visibility</p:attrName>
                                        </p:attrNameLst>
                                      </p:cBhvr>
                                      <p:to>
                                        <p:strVal val="visible"/>
                                      </p:to>
                                    </p:set>
                                    <p:animEffect transition="in" filter="dissolve">
                                      <p:cBhvr>
                                        <p:cTn id="17" dur="500"/>
                                        <p:tgtEl>
                                          <p:spTgt spid="254589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5895">
                                            <p:txEl>
                                              <p:charRg st="0" end="41"/>
                                            </p:txEl>
                                          </p:spTgt>
                                        </p:tgtEl>
                                        <p:attrNameLst>
                                          <p:attrName>style.visibility</p:attrName>
                                        </p:attrNameLst>
                                      </p:cBhvr>
                                      <p:to>
                                        <p:strVal val="visible"/>
                                      </p:to>
                                    </p:set>
                                    <p:animEffect transition="in" filter="dissolve">
                                      <p:cBhvr>
                                        <p:cTn id="22" dur="500"/>
                                        <p:tgtEl>
                                          <p:spTgt spid="2545895">
                                            <p:txEl>
                                              <p:charRg st="0" end="41"/>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2545896"/>
                                        </p:tgtEl>
                                        <p:attrNameLst>
                                          <p:attrName>style.visibility</p:attrName>
                                        </p:attrNameLst>
                                      </p:cBhvr>
                                      <p:to>
                                        <p:strVal val="visible"/>
                                      </p:to>
                                    </p:set>
                                    <p:animEffect transition="in" filter="dissolve">
                                      <p:cBhvr>
                                        <p:cTn id="25" dur="500"/>
                                        <p:tgtEl>
                                          <p:spTgt spid="2545896"/>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545895">
                                            <p:txEl>
                                              <p:charRg st="41" end="93"/>
                                            </p:txEl>
                                          </p:spTgt>
                                        </p:tgtEl>
                                        <p:attrNameLst>
                                          <p:attrName>style.visibility</p:attrName>
                                        </p:attrNameLst>
                                      </p:cBhvr>
                                      <p:to>
                                        <p:strVal val="visible"/>
                                      </p:to>
                                    </p:set>
                                    <p:animEffect transition="in" filter="dissolve">
                                      <p:cBhvr>
                                        <p:cTn id="30" dur="500"/>
                                        <p:tgtEl>
                                          <p:spTgt spid="2545895">
                                            <p:txEl>
                                              <p:charRg st="41" end="93"/>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2545897"/>
                                        </p:tgtEl>
                                        <p:attrNameLst>
                                          <p:attrName>style.visibility</p:attrName>
                                        </p:attrNameLst>
                                      </p:cBhvr>
                                      <p:to>
                                        <p:strVal val="visible"/>
                                      </p:to>
                                    </p:set>
                                    <p:animEffect transition="in" filter="dissolve">
                                      <p:cBhvr>
                                        <p:cTn id="33" dur="500"/>
                                        <p:tgtEl>
                                          <p:spTgt spid="254589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2545895">
                                            <p:txEl>
                                              <p:charRg st="93" end="123"/>
                                            </p:txEl>
                                          </p:spTgt>
                                        </p:tgtEl>
                                        <p:attrNameLst>
                                          <p:attrName>style.visibility</p:attrName>
                                        </p:attrNameLst>
                                      </p:cBhvr>
                                      <p:to>
                                        <p:strVal val="visible"/>
                                      </p:to>
                                    </p:set>
                                    <p:animEffect transition="in" filter="dissolve">
                                      <p:cBhvr>
                                        <p:cTn id="38" dur="500"/>
                                        <p:tgtEl>
                                          <p:spTgt spid="2545895">
                                            <p:txEl>
                                              <p:charRg st="93" end="123"/>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2545898"/>
                                        </p:tgtEl>
                                        <p:attrNameLst>
                                          <p:attrName>style.visibility</p:attrName>
                                        </p:attrNameLst>
                                      </p:cBhvr>
                                      <p:to>
                                        <p:strVal val="visible"/>
                                      </p:to>
                                    </p:set>
                                    <p:animEffect transition="in" filter="dissolve">
                                      <p:cBhvr>
                                        <p:cTn id="41" dur="500"/>
                                        <p:tgtEl>
                                          <p:spTgt spid="25458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5671" grpId="0"/>
      <p:bldP spid="2545893" grpId="0"/>
    </p:bld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54882" name="Text Box 2"/>
          <p:cNvSpPr txBox="1">
            <a:spLocks noChangeArrowheads="1"/>
          </p:cNvSpPr>
          <p:nvPr/>
        </p:nvSpPr>
        <p:spPr bwMode="auto">
          <a:xfrm>
            <a:off x="1871663" y="49213"/>
            <a:ext cx="58324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7.4  </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单片集成</a:t>
            </a: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554883" name="Rectangle 3"/>
          <p:cNvSpPr/>
          <p:nvPr/>
        </p:nvSpPr>
        <p:spPr>
          <a:xfrm>
            <a:off x="395288" y="728663"/>
            <a:ext cx="2160587" cy="579437"/>
          </a:xfrm>
          <a:prstGeom prst="rect">
            <a:avLst/>
          </a:prstGeom>
          <a:solidFill>
            <a:srgbClr val="99CCFF"/>
          </a:solidFill>
          <a:ln w="9525">
            <a:noFill/>
          </a:ln>
        </p:spPr>
        <p:txBody>
          <a:bodyPr>
            <a:spAutoFit/>
          </a:bodyPr>
          <a:p>
            <a:pPr eaLnBrk="1" hangingPunct="1"/>
            <a:r>
              <a:rPr lang="en-US" altLang="zh-CN" sz="3200" dirty="0">
                <a:latin typeface="Times New Roman" panose="02020603050405020304" pitchFamily="18" charset="0"/>
              </a:rPr>
              <a:t>3. AD7543</a:t>
            </a:r>
            <a:endParaRPr lang="en-US" altLang="zh-CN" sz="3200" dirty="0">
              <a:latin typeface="Times New Roman" panose="02020603050405020304" pitchFamily="18" charset="0"/>
            </a:endParaRPr>
          </a:p>
        </p:txBody>
      </p:sp>
      <p:sp>
        <p:nvSpPr>
          <p:cNvPr id="2554888" name="Text Box 8"/>
          <p:cNvSpPr txBox="1"/>
          <p:nvPr/>
        </p:nvSpPr>
        <p:spPr>
          <a:xfrm>
            <a:off x="287338" y="1474788"/>
            <a:ext cx="1476375" cy="476250"/>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特点：</a:t>
            </a:r>
            <a:endParaRPr lang="zh-CN" altLang="en-US" sz="2800" dirty="0">
              <a:solidFill>
                <a:srgbClr val="FF0000"/>
              </a:solidFill>
              <a:latin typeface="Times New Roman" panose="02020603050405020304" pitchFamily="18" charset="0"/>
            </a:endParaRPr>
          </a:p>
        </p:txBody>
      </p:sp>
      <p:sp>
        <p:nvSpPr>
          <p:cNvPr id="2554889" name="Rectangle 9"/>
          <p:cNvSpPr/>
          <p:nvPr/>
        </p:nvSpPr>
        <p:spPr>
          <a:xfrm>
            <a:off x="1403350" y="1255713"/>
            <a:ext cx="7740650" cy="2282825"/>
          </a:xfrm>
          <a:prstGeom prst="rect">
            <a:avLst/>
          </a:prstGeom>
          <a:noFill/>
          <a:ln w="9525">
            <a:noFill/>
          </a:ln>
        </p:spPr>
        <p:txBody>
          <a:bodyPr anchor="ctr" anchorCtr="0">
            <a:spAutoFit/>
          </a:bodyPr>
          <a:p>
            <a:pPr marL="447675" indent="-447675" eaLnBrk="1" hangingPunct="1">
              <a:lnSpc>
                <a:spcPct val="120000"/>
              </a:lnSpc>
              <a:buClr>
                <a:srgbClr val="FF0000"/>
              </a:buClr>
              <a:buFont typeface="Wingdings" panose="05000000000000000000" pitchFamily="2" charset="2"/>
              <a:buChar char="u"/>
            </a:pPr>
            <a:r>
              <a:rPr lang="en-US" altLang="zh-CN" sz="2400" dirty="0">
                <a:solidFill>
                  <a:schemeClr val="tx1"/>
                </a:solidFill>
                <a:latin typeface="黑体" panose="02010609060101010101" pitchFamily="49" charset="-122"/>
                <a:ea typeface="黑体" panose="02010609060101010101" pitchFamily="49" charset="-122"/>
              </a:rPr>
              <a:t>12</a:t>
            </a:r>
            <a:r>
              <a:rPr lang="zh-CN" altLang="en-US" sz="2400" dirty="0">
                <a:solidFill>
                  <a:schemeClr val="tx1"/>
                </a:solidFill>
                <a:latin typeface="黑体" panose="02010609060101010101" pitchFamily="49" charset="-122"/>
                <a:ea typeface="黑体" panose="02010609060101010101" pitchFamily="49" charset="-122"/>
              </a:rPr>
              <a:t>位串行</a:t>
            </a:r>
            <a:r>
              <a:rPr lang="en-US" altLang="zh-CN" sz="2400" dirty="0">
                <a:solidFill>
                  <a:schemeClr val="tx1"/>
                </a:solidFill>
                <a:latin typeface="黑体" panose="02010609060101010101" pitchFamily="49" charset="-122"/>
                <a:ea typeface="黑体" panose="02010609060101010101" pitchFamily="49" charset="-122"/>
              </a:rPr>
              <a:t>D/A</a:t>
            </a:r>
            <a:r>
              <a:rPr lang="zh-CN" altLang="en-US" sz="2400" dirty="0">
                <a:solidFill>
                  <a:schemeClr val="tx1"/>
                </a:solidFill>
                <a:latin typeface="黑体" panose="02010609060101010101" pitchFamily="49" charset="-122"/>
                <a:ea typeface="黑体" panose="02010609060101010101" pitchFamily="49" charset="-122"/>
              </a:rPr>
              <a:t>转换器芯片；</a:t>
            </a:r>
            <a:endParaRPr lang="zh-CN" altLang="en-US" sz="2400" dirty="0">
              <a:solidFill>
                <a:schemeClr val="tx1"/>
              </a:solidFill>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由一个</a:t>
            </a:r>
            <a:r>
              <a:rPr lang="en-US" altLang="zh-CN" sz="2400" dirty="0">
                <a:solidFill>
                  <a:schemeClr val="tx1"/>
                </a:solidFill>
                <a:latin typeface="黑体" panose="02010609060101010101" pitchFamily="49" charset="-122"/>
                <a:ea typeface="黑体" panose="02010609060101010101" pitchFamily="49" charset="-122"/>
              </a:rPr>
              <a:t>12</a:t>
            </a:r>
            <a:r>
              <a:rPr lang="zh-CN" altLang="en-US" sz="2400" dirty="0">
                <a:solidFill>
                  <a:schemeClr val="tx1"/>
                </a:solidFill>
                <a:latin typeface="黑体" panose="02010609060101010101" pitchFamily="49" charset="-122"/>
                <a:ea typeface="黑体" panose="02010609060101010101" pitchFamily="49" charset="-122"/>
              </a:rPr>
              <a:t>位</a:t>
            </a:r>
            <a:r>
              <a:rPr lang="en-US" altLang="zh-CN" sz="2400" dirty="0">
                <a:solidFill>
                  <a:schemeClr val="tx1"/>
                </a:solidFill>
                <a:latin typeface="黑体" panose="02010609060101010101" pitchFamily="49" charset="-122"/>
                <a:ea typeface="黑体" panose="02010609060101010101" pitchFamily="49" charset="-122"/>
              </a:rPr>
              <a:t>D/A</a:t>
            </a:r>
            <a:r>
              <a:rPr lang="zh-CN" altLang="en-US" sz="2400" dirty="0">
                <a:solidFill>
                  <a:schemeClr val="tx1"/>
                </a:solidFill>
                <a:latin typeface="黑体" panose="02010609060101010101" pitchFamily="49" charset="-122"/>
                <a:ea typeface="黑体" panose="02010609060101010101" pitchFamily="49" charset="-122"/>
              </a:rPr>
              <a:t>转换器、寄存器</a:t>
            </a:r>
            <a:r>
              <a:rPr lang="en-US" altLang="zh-CN" sz="2400" dirty="0">
                <a:solidFill>
                  <a:schemeClr val="tx1"/>
                </a:solidFill>
                <a:latin typeface="黑体" panose="02010609060101010101" pitchFamily="49" charset="-122"/>
                <a:ea typeface="黑体" panose="02010609060101010101" pitchFamily="49" charset="-122"/>
              </a:rPr>
              <a:t>B</a:t>
            </a:r>
            <a:r>
              <a:rPr lang="zh-CN" altLang="en-US" sz="2400" dirty="0">
                <a:solidFill>
                  <a:schemeClr val="tx1"/>
                </a:solidFill>
                <a:latin typeface="黑体" panose="02010609060101010101" pitchFamily="49" charset="-122"/>
                <a:ea typeface="黑体" panose="02010609060101010101" pitchFamily="49" charset="-122"/>
              </a:rPr>
              <a:t>和移位寄存器</a:t>
            </a:r>
            <a:r>
              <a:rPr lang="en-US" altLang="zh-CN" sz="2400" dirty="0">
                <a:solidFill>
                  <a:schemeClr val="tx1"/>
                </a:solidFill>
                <a:latin typeface="黑体" panose="02010609060101010101" pitchFamily="49" charset="-122"/>
                <a:ea typeface="黑体" panose="02010609060101010101" pitchFamily="49" charset="-122"/>
              </a:rPr>
              <a:t>A</a:t>
            </a:r>
            <a:r>
              <a:rPr lang="zh-CN" altLang="en-US" sz="2400" dirty="0">
                <a:solidFill>
                  <a:schemeClr val="tx1"/>
                </a:solidFill>
                <a:latin typeface="黑体" panose="02010609060101010101" pitchFamily="49" charset="-122"/>
                <a:ea typeface="黑体" panose="02010609060101010101" pitchFamily="49" charset="-122"/>
              </a:rPr>
              <a:t>组成；</a:t>
            </a:r>
            <a:endParaRPr lang="zh-CN" altLang="en-US" sz="2400" dirty="0">
              <a:solidFill>
                <a:schemeClr val="tx1"/>
              </a:solidFill>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单一电源供电（</a:t>
            </a:r>
            <a:r>
              <a:rPr lang="en-US" altLang="en-US" sz="2400" dirty="0">
                <a:solidFill>
                  <a:schemeClr val="tx1"/>
                </a:solidFill>
                <a:latin typeface="黑体" panose="02010609060101010101" pitchFamily="49" charset="-122"/>
                <a:ea typeface="黑体" panose="02010609060101010101" pitchFamily="49" charset="-122"/>
              </a:rPr>
              <a:t>±</a:t>
            </a:r>
            <a:r>
              <a:rPr lang="en-US" altLang="zh-CN" sz="2400" dirty="0">
                <a:solidFill>
                  <a:schemeClr val="tx1"/>
                </a:solidFill>
                <a:latin typeface="黑体" panose="02010609060101010101" pitchFamily="49" charset="-122"/>
                <a:ea typeface="黑体" panose="02010609060101010101" pitchFamily="49" charset="-122"/>
              </a:rPr>
              <a:t>5V</a:t>
            </a:r>
            <a:r>
              <a:rPr lang="zh-CN" altLang="en-US" sz="2400" dirty="0">
                <a:solidFill>
                  <a:schemeClr val="tx1"/>
                </a:solidFill>
                <a:latin typeface="黑体" panose="02010609060101010101" pitchFamily="49" charset="-122"/>
                <a:ea typeface="黑体" panose="02010609060101010101" pitchFamily="49" charset="-122"/>
              </a:rPr>
              <a:t>）； </a:t>
            </a:r>
            <a:endParaRPr lang="zh-CN" altLang="en-US" sz="2400" dirty="0">
              <a:solidFill>
                <a:schemeClr val="tx1"/>
              </a:solidFill>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串行输入，转换速度慢，适宜远距离传送信号。</a:t>
            </a:r>
            <a:endParaRPr lang="zh-CN" altLang="en-US" sz="2400" dirty="0">
              <a:solidFill>
                <a:schemeClr val="tx1"/>
              </a:solidFill>
              <a:latin typeface="黑体" panose="02010609060101010101" pitchFamily="49" charset="-122"/>
              <a:ea typeface="黑体" panose="02010609060101010101" pitchFamily="49" charset="-122"/>
            </a:endParaRPr>
          </a:p>
        </p:txBody>
      </p:sp>
      <p:sp>
        <p:nvSpPr>
          <p:cNvPr id="2554948" name="Rectangle 68"/>
          <p:cNvSpPr/>
          <p:nvPr/>
        </p:nvSpPr>
        <p:spPr>
          <a:xfrm>
            <a:off x="1403350" y="3824288"/>
            <a:ext cx="7740650" cy="2282825"/>
          </a:xfrm>
          <a:prstGeom prst="rect">
            <a:avLst/>
          </a:prstGeom>
          <a:noFill/>
          <a:ln w="9525">
            <a:noFill/>
          </a:ln>
        </p:spPr>
        <p:txBody>
          <a:bodyPr anchor="ctr" anchorCtr="0">
            <a:spAutoFit/>
          </a:bodyPr>
          <a:p>
            <a:pPr marL="447675" indent="-447675" eaLnBrk="1" hangingPunct="1">
              <a:lnSpc>
                <a:spcPct val="120000"/>
              </a:lnSpc>
              <a:buClr>
                <a:srgbClr val="FF0000"/>
              </a:buClr>
              <a:buFont typeface="Wingdings" panose="05000000000000000000" pitchFamily="2" charset="2"/>
              <a:buChar char="u"/>
            </a:pPr>
            <a:r>
              <a:rPr lang="zh-CN" altLang="en-US" sz="2400" dirty="0">
                <a:latin typeface="黑体" panose="02010609060101010101" pitchFamily="49" charset="-122"/>
                <a:ea typeface="黑体" panose="02010609060101010101" pitchFamily="49" charset="-122"/>
              </a:rPr>
              <a:t>输入的串行数字量从</a:t>
            </a:r>
            <a:r>
              <a:rPr lang="en-US" altLang="zh-CN" sz="2400" dirty="0">
                <a:latin typeface="黑体" panose="02010609060101010101" pitchFamily="49" charset="-122"/>
                <a:ea typeface="黑体" panose="02010609060101010101" pitchFamily="49" charset="-122"/>
              </a:rPr>
              <a:t>SRI</a:t>
            </a:r>
            <a:r>
              <a:rPr lang="zh-CN" altLang="en-US" sz="2400" dirty="0">
                <a:latin typeface="黑体" panose="02010609060101010101" pitchFamily="49" charset="-122"/>
                <a:ea typeface="黑体" panose="02010609060101010101" pitchFamily="49" charset="-122"/>
              </a:rPr>
              <a:t>送到移位寄存器</a:t>
            </a: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每选通一次，</a:t>
            </a: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中的数字左移一位，并将</a:t>
            </a:r>
            <a:r>
              <a:rPr lang="en-US" altLang="zh-CN" sz="2400" dirty="0">
                <a:latin typeface="黑体" panose="02010609060101010101" pitchFamily="49" charset="-122"/>
                <a:ea typeface="黑体" panose="02010609060101010101" pitchFamily="49" charset="-122"/>
              </a:rPr>
              <a:t>SRI</a:t>
            </a:r>
            <a:r>
              <a:rPr lang="zh-CN" altLang="en-US" sz="2400" dirty="0">
                <a:latin typeface="黑体" panose="02010609060101010101" pitchFamily="49" charset="-122"/>
                <a:ea typeface="黑体" panose="02010609060101010101" pitchFamily="49" charset="-122"/>
              </a:rPr>
              <a:t>端的数字记入</a:t>
            </a: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的最低位；</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选通</a:t>
            </a:r>
            <a:r>
              <a:rPr lang="en-US" altLang="zh-CN" sz="2400" dirty="0">
                <a:latin typeface="黑体" panose="02010609060101010101" pitchFamily="49" charset="-122"/>
                <a:ea typeface="黑体" panose="02010609060101010101" pitchFamily="49" charset="-122"/>
              </a:rPr>
              <a:t>12</a:t>
            </a:r>
            <a:r>
              <a:rPr lang="zh-CN" altLang="en-US" sz="2400" dirty="0">
                <a:latin typeface="黑体" panose="02010609060101010101" pitchFamily="49" charset="-122"/>
                <a:ea typeface="黑体" panose="02010609060101010101" pitchFamily="49" charset="-122"/>
              </a:rPr>
              <a:t>次后，将</a:t>
            </a:r>
            <a:r>
              <a:rPr lang="en-US" altLang="zh-CN" sz="2400" dirty="0">
                <a:latin typeface="黑体" panose="02010609060101010101" pitchFamily="49" charset="-122"/>
                <a:ea typeface="黑体" panose="02010609060101010101" pitchFamily="49" charset="-122"/>
              </a:rPr>
              <a:t>A</a:t>
            </a:r>
            <a:r>
              <a:rPr lang="zh-CN" altLang="en-US" sz="2400" dirty="0">
                <a:latin typeface="黑体" panose="02010609060101010101" pitchFamily="49" charset="-122"/>
                <a:ea typeface="黑体" panose="02010609060101010101" pitchFamily="49" charset="-122"/>
              </a:rPr>
              <a:t>中的</a:t>
            </a:r>
            <a:r>
              <a:rPr lang="en-US" altLang="zh-CN" sz="2400" dirty="0">
                <a:latin typeface="黑体" panose="02010609060101010101" pitchFamily="49" charset="-122"/>
                <a:ea typeface="黑体" panose="02010609060101010101" pitchFamily="49" charset="-122"/>
              </a:rPr>
              <a:t>12</a:t>
            </a:r>
            <a:r>
              <a:rPr lang="zh-CN" altLang="en-US" sz="2400" dirty="0">
                <a:latin typeface="黑体" panose="02010609060101010101" pitchFamily="49" charset="-122"/>
                <a:ea typeface="黑体" panose="02010609060101010101" pitchFamily="49" charset="-122"/>
              </a:rPr>
              <a:t>位数字并行送入寄存器</a:t>
            </a:r>
            <a:r>
              <a:rPr lang="en-US" altLang="zh-CN" sz="2400" dirty="0">
                <a:latin typeface="黑体" panose="02010609060101010101" pitchFamily="49" charset="-122"/>
                <a:ea typeface="黑体" panose="02010609060101010101" pitchFamily="49" charset="-122"/>
              </a:rPr>
              <a:t>B</a:t>
            </a:r>
            <a:r>
              <a:rPr lang="zh-CN" altLang="en-US" sz="2400" dirty="0">
                <a:latin typeface="黑体" panose="02010609060101010101" pitchFamily="49" charset="-122"/>
                <a:ea typeface="黑体" panose="02010609060101010101" pitchFamily="49" charset="-122"/>
              </a:rPr>
              <a:t>；</a:t>
            </a:r>
            <a:endParaRPr lang="zh-CN" altLang="en-US" sz="2400" dirty="0">
              <a:latin typeface="黑体" panose="02010609060101010101" pitchFamily="49" charset="-122"/>
              <a:ea typeface="黑体" panose="02010609060101010101" pitchFamily="49" charset="-122"/>
            </a:endParaRPr>
          </a:p>
          <a:p>
            <a:pPr marL="447675" indent="-447675" eaLnBrk="1" hangingPunct="1">
              <a:lnSpc>
                <a:spcPct val="120000"/>
              </a:lnSpc>
              <a:buClr>
                <a:srgbClr val="FF0000"/>
              </a:buClr>
              <a:buFont typeface="Wingdings" panose="05000000000000000000" pitchFamily="2" charset="2"/>
              <a:buChar char="u"/>
            </a:pPr>
            <a:r>
              <a:rPr lang="en-US" altLang="zh-CN" sz="2400" dirty="0">
                <a:latin typeface="黑体" panose="02010609060101010101" pitchFamily="49" charset="-122"/>
                <a:ea typeface="黑体" panose="02010609060101010101" pitchFamily="49" charset="-122"/>
              </a:rPr>
              <a:t>B</a:t>
            </a:r>
            <a:r>
              <a:rPr lang="zh-CN" altLang="en-US" sz="2400" dirty="0">
                <a:latin typeface="黑体" panose="02010609060101010101" pitchFamily="49" charset="-122"/>
                <a:ea typeface="黑体" panose="02010609060101010101" pitchFamily="49" charset="-122"/>
              </a:rPr>
              <a:t>输出数据到</a:t>
            </a:r>
            <a:r>
              <a:rPr lang="en-US" altLang="zh-CN" sz="2400" dirty="0">
                <a:latin typeface="黑体" panose="02010609060101010101" pitchFamily="49" charset="-122"/>
                <a:ea typeface="黑体" panose="02010609060101010101" pitchFamily="49" charset="-122"/>
              </a:rPr>
              <a:t>D/A</a:t>
            </a:r>
            <a:r>
              <a:rPr lang="zh-CN" altLang="en-US" sz="2400" dirty="0">
                <a:latin typeface="黑体" panose="02010609060101010101" pitchFamily="49" charset="-122"/>
                <a:ea typeface="黑体" panose="02010609060101010101" pitchFamily="49" charset="-122"/>
              </a:rPr>
              <a:t>转换器进行</a:t>
            </a:r>
            <a:r>
              <a:rPr lang="en-US" altLang="zh-CN" sz="2400" dirty="0">
                <a:latin typeface="黑体" panose="02010609060101010101" pitchFamily="49" charset="-122"/>
                <a:ea typeface="黑体" panose="02010609060101010101" pitchFamily="49" charset="-122"/>
              </a:rPr>
              <a:t>D/A</a:t>
            </a:r>
            <a:r>
              <a:rPr lang="zh-CN" altLang="en-US" sz="2400" dirty="0">
                <a:latin typeface="黑体" panose="02010609060101010101" pitchFamily="49" charset="-122"/>
                <a:ea typeface="黑体" panose="02010609060101010101" pitchFamily="49" charset="-122"/>
              </a:rPr>
              <a:t>转换。</a:t>
            </a:r>
            <a:endParaRPr lang="zh-CN" altLang="en-US" sz="2400" dirty="0">
              <a:latin typeface="黑体" panose="02010609060101010101" pitchFamily="49" charset="-122"/>
              <a:ea typeface="黑体" panose="02010609060101010101" pitchFamily="49" charset="-122"/>
            </a:endParaRPr>
          </a:p>
        </p:txBody>
      </p:sp>
      <p:sp>
        <p:nvSpPr>
          <p:cNvPr id="2554949" name="Text Box 69"/>
          <p:cNvSpPr txBox="1"/>
          <p:nvPr/>
        </p:nvSpPr>
        <p:spPr>
          <a:xfrm>
            <a:off x="287338" y="3968750"/>
            <a:ext cx="1189037" cy="860425"/>
          </a:xfrm>
          <a:prstGeom prst="rect">
            <a:avLst/>
          </a:prstGeom>
          <a:noFill/>
          <a:ln w="9525">
            <a:noFill/>
          </a:ln>
        </p:spPr>
        <p:txBody>
          <a:bodyPr>
            <a:spAutoFit/>
          </a:bodyPr>
          <a:p>
            <a:pPr eaLnBrk="1" hangingPunct="1">
              <a:lnSpc>
                <a:spcPct val="90000"/>
              </a:lnSpc>
              <a:spcBef>
                <a:spcPct val="50000"/>
              </a:spcBef>
            </a:pPr>
            <a:r>
              <a:rPr lang="zh-CN" altLang="en-US" sz="2800" dirty="0">
                <a:solidFill>
                  <a:srgbClr val="FF0000"/>
                </a:solidFill>
                <a:latin typeface="Times New Roman" panose="02020603050405020304" pitchFamily="18" charset="0"/>
              </a:rPr>
              <a:t>工作流程：</a:t>
            </a:r>
            <a:endParaRPr lang="zh-CN" altLang="en-US" sz="2800" dirty="0">
              <a:solidFill>
                <a:srgbClr val="FF0000"/>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54883"/>
                                        </p:tgtEl>
                                        <p:attrNameLst>
                                          <p:attrName>style.visibility</p:attrName>
                                        </p:attrNameLst>
                                      </p:cBhvr>
                                      <p:to>
                                        <p:strVal val="visible"/>
                                      </p:to>
                                    </p:set>
                                    <p:animEffect transition="in" filter="dissolve">
                                      <p:cBhvr>
                                        <p:cTn id="7" dur="500"/>
                                        <p:tgtEl>
                                          <p:spTgt spid="255488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54888"/>
                                        </p:tgtEl>
                                        <p:attrNameLst>
                                          <p:attrName>style.visibility</p:attrName>
                                        </p:attrNameLst>
                                      </p:cBhvr>
                                      <p:to>
                                        <p:strVal val="visible"/>
                                      </p:to>
                                    </p:set>
                                    <p:animEffect transition="in" filter="dissolve">
                                      <p:cBhvr>
                                        <p:cTn id="12" dur="500"/>
                                        <p:tgtEl>
                                          <p:spTgt spid="255488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554889"/>
                                        </p:tgtEl>
                                        <p:attrNameLst>
                                          <p:attrName>style.visibility</p:attrName>
                                        </p:attrNameLst>
                                      </p:cBhvr>
                                      <p:to>
                                        <p:strVal val="visible"/>
                                      </p:to>
                                    </p:set>
                                    <p:animEffect transition="in" filter="dissolve">
                                      <p:cBhvr>
                                        <p:cTn id="15" dur="500"/>
                                        <p:tgtEl>
                                          <p:spTgt spid="255488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554948"/>
                                        </p:tgtEl>
                                        <p:attrNameLst>
                                          <p:attrName>style.visibility</p:attrName>
                                        </p:attrNameLst>
                                      </p:cBhvr>
                                      <p:to>
                                        <p:strVal val="visible"/>
                                      </p:to>
                                    </p:set>
                                    <p:animEffect transition="in" filter="dissolve">
                                      <p:cBhvr>
                                        <p:cTn id="20" dur="500"/>
                                        <p:tgtEl>
                                          <p:spTgt spid="255494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554949"/>
                                        </p:tgtEl>
                                        <p:attrNameLst>
                                          <p:attrName>style.visibility</p:attrName>
                                        </p:attrNameLst>
                                      </p:cBhvr>
                                      <p:to>
                                        <p:strVal val="visible"/>
                                      </p:to>
                                    </p:set>
                                    <p:animEffect transition="in" filter="dissolve">
                                      <p:cBhvr>
                                        <p:cTn id="23" dur="500"/>
                                        <p:tgtEl>
                                          <p:spTgt spid="25549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4883" grpId="0" bldLvl="0" animBg="1"/>
      <p:bldP spid="2554888" grpId="0"/>
      <p:bldP spid="2554889" grpId="0"/>
      <p:bldP spid="2554948" grpId="0"/>
      <p:bldP spid="2554949" grpId="0"/>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8738" name="Text Box 2"/>
          <p:cNvSpPr txBox="1">
            <a:spLocks noChangeArrowheads="1"/>
          </p:cNvSpPr>
          <p:nvPr/>
        </p:nvSpPr>
        <p:spPr bwMode="auto">
          <a:xfrm>
            <a:off x="1692275" y="49213"/>
            <a:ext cx="615632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7.5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转换器接口的隔离</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548876" name="Text Box 140"/>
          <p:cNvSpPr txBox="1"/>
          <p:nvPr/>
        </p:nvSpPr>
        <p:spPr>
          <a:xfrm>
            <a:off x="792163" y="690563"/>
            <a:ext cx="7362825" cy="749300"/>
          </a:xfrm>
          <a:prstGeom prst="rect">
            <a:avLst/>
          </a:prstGeom>
          <a:solidFill>
            <a:srgbClr val="99CCFF"/>
          </a:solid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由于</a:t>
            </a:r>
            <a:r>
              <a:rPr lang="en-US" altLang="zh-CN" sz="2400" dirty="0">
                <a:solidFill>
                  <a:schemeClr val="tx1"/>
                </a:solidFill>
                <a:latin typeface="Times New Roman" panose="02020603050405020304" pitchFamily="18" charset="0"/>
              </a:rPr>
              <a:t>D/A</a:t>
            </a:r>
            <a:r>
              <a:rPr lang="zh-CN" altLang="en-US" sz="2400" dirty="0">
                <a:solidFill>
                  <a:schemeClr val="tx1"/>
                </a:solidFill>
                <a:latin typeface="Times New Roman" panose="02020603050405020304" pitchFamily="18" charset="0"/>
              </a:rPr>
              <a:t>转换器的输出直接与被控制对象相连，容易通过公共地线引入干扰，因此必须采取隔离措施。</a:t>
            </a:r>
            <a:endParaRPr lang="zh-CN" altLang="en-US" sz="2400" dirty="0">
              <a:solidFill>
                <a:schemeClr val="tx1"/>
              </a:solidFill>
              <a:latin typeface="Times New Roman" panose="02020603050405020304" pitchFamily="18" charset="0"/>
            </a:endParaRPr>
          </a:p>
        </p:txBody>
      </p:sp>
      <p:pic>
        <p:nvPicPr>
          <p:cNvPr id="2548877" name="Picture 141"/>
          <p:cNvPicPr>
            <a:picLocks noChangeAspect="1"/>
          </p:cNvPicPr>
          <p:nvPr/>
        </p:nvPicPr>
        <p:blipFill>
          <a:blip r:embed="rId1"/>
          <a:stretch>
            <a:fillRect/>
          </a:stretch>
        </p:blipFill>
        <p:spPr>
          <a:xfrm>
            <a:off x="1520825" y="1941513"/>
            <a:ext cx="6119813" cy="3384550"/>
          </a:xfrm>
          <a:prstGeom prst="rect">
            <a:avLst/>
          </a:prstGeom>
          <a:noFill/>
          <a:ln w="9525">
            <a:noFill/>
          </a:ln>
        </p:spPr>
      </p:pic>
      <p:sp>
        <p:nvSpPr>
          <p:cNvPr id="2548878" name="Text Box 142"/>
          <p:cNvSpPr txBox="1"/>
          <p:nvPr/>
        </p:nvSpPr>
        <p:spPr>
          <a:xfrm>
            <a:off x="1042988" y="1520825"/>
            <a:ext cx="7272337" cy="420688"/>
          </a:xfrm>
          <a:prstGeom prst="rect">
            <a:avLst/>
          </a:prstGeom>
          <a:noFill/>
          <a:ln w="9525">
            <a:noFill/>
          </a:ln>
        </p:spPr>
        <p:txBody>
          <a:bodyPr>
            <a:spAutoFit/>
          </a:bodyPr>
          <a:p>
            <a:pPr eaLnBrk="1" hangingPunct="1">
              <a:lnSpc>
                <a:spcPct val="90000"/>
              </a:lnSpc>
              <a:spcBef>
                <a:spcPct val="50000"/>
              </a:spcBef>
            </a:pPr>
            <a:r>
              <a:rPr lang="zh-CN" altLang="en-US" sz="2400" dirty="0">
                <a:solidFill>
                  <a:srgbClr val="FF0000"/>
                </a:solidFill>
                <a:latin typeface="Times New Roman" panose="02020603050405020304" pitchFamily="18" charset="0"/>
                <a:ea typeface="黑体" panose="02010609060101010101" pitchFamily="49" charset="-122"/>
              </a:rPr>
              <a:t>通常采用光电耦合器，使两者之间只有光的联系。</a:t>
            </a:r>
            <a:endParaRPr lang="zh-CN" altLang="en-US" sz="2400" dirty="0">
              <a:solidFill>
                <a:srgbClr val="FF0000"/>
              </a:solidFill>
              <a:latin typeface="Times New Roman" panose="02020603050405020304" pitchFamily="18" charset="0"/>
              <a:ea typeface="黑体" panose="02010609060101010101" pitchFamily="49" charset="-122"/>
            </a:endParaRPr>
          </a:p>
        </p:txBody>
      </p:sp>
      <p:sp>
        <p:nvSpPr>
          <p:cNvPr id="2548879" name="Text Box 143"/>
          <p:cNvSpPr txBox="1"/>
          <p:nvPr/>
        </p:nvSpPr>
        <p:spPr>
          <a:xfrm>
            <a:off x="1403350" y="5430838"/>
            <a:ext cx="6597650" cy="749300"/>
          </a:xfrm>
          <a:prstGeom prst="rect">
            <a:avLst/>
          </a:prstGeom>
          <a:noFill/>
          <a:ln w="9525">
            <a:noFill/>
          </a:ln>
        </p:spPr>
        <p:txBody>
          <a:bodyPr>
            <a:spAutoFit/>
          </a:bodyPr>
          <a:p>
            <a:pPr eaLnBrk="1" hangingPunct="1">
              <a:lnSpc>
                <a:spcPct val="90000"/>
              </a:lnSpc>
              <a:spcBef>
                <a:spcPct val="50000"/>
              </a:spcBef>
            </a:pPr>
            <a:r>
              <a:rPr lang="zh-CN" altLang="en-US" sz="2400" dirty="0">
                <a:solidFill>
                  <a:schemeClr val="tx1"/>
                </a:solidFill>
                <a:latin typeface="Times New Roman" panose="02020603050405020304" pitchFamily="18" charset="0"/>
              </a:rPr>
              <a:t>关于光电耦合器的隔离电路，请参考第</a:t>
            </a:r>
            <a:r>
              <a:rPr lang="en-US" altLang="zh-CN" sz="2400" dirty="0">
                <a:solidFill>
                  <a:schemeClr val="tx1"/>
                </a:solidFill>
                <a:latin typeface="Times New Roman" panose="02020603050405020304" pitchFamily="18" charset="0"/>
              </a:rPr>
              <a:t>4</a:t>
            </a:r>
            <a:r>
              <a:rPr lang="zh-CN" altLang="en-US" sz="2400" dirty="0">
                <a:solidFill>
                  <a:schemeClr val="tx1"/>
                </a:solidFill>
                <a:latin typeface="Times New Roman" panose="02020603050405020304" pitchFamily="18" charset="0"/>
              </a:rPr>
              <a:t>章“测量放大器”的</a:t>
            </a:r>
            <a:r>
              <a:rPr lang="en-US" altLang="zh-CN" sz="2400" dirty="0">
                <a:solidFill>
                  <a:schemeClr val="tx1"/>
                </a:solidFill>
                <a:latin typeface="Times New Roman" panose="02020603050405020304" pitchFamily="18" charset="0"/>
              </a:rPr>
              <a:t>PPT</a:t>
            </a:r>
            <a:r>
              <a:rPr lang="zh-CN" altLang="en-US" sz="2400" dirty="0">
                <a:solidFill>
                  <a:schemeClr val="tx1"/>
                </a:solidFill>
                <a:latin typeface="Times New Roman" panose="02020603050405020304" pitchFamily="18" charset="0"/>
              </a:rPr>
              <a:t>内容</a:t>
            </a:r>
            <a:endParaRPr lang="zh-CN" altLang="en-US" sz="2400" dirty="0">
              <a:solidFill>
                <a:schemeClr val="tx1"/>
              </a:solidFill>
              <a:latin typeface="Times New Roman" panose="02020603050405020304" pitchFamily="18" charset="0"/>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48876"/>
                                        </p:tgtEl>
                                        <p:attrNameLst>
                                          <p:attrName>style.visibility</p:attrName>
                                        </p:attrNameLst>
                                      </p:cBhvr>
                                      <p:to>
                                        <p:strVal val="visible"/>
                                      </p:to>
                                    </p:set>
                                    <p:animEffect transition="in" filter="dissolve">
                                      <p:cBhvr>
                                        <p:cTn id="7" dur="500"/>
                                        <p:tgtEl>
                                          <p:spTgt spid="254887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48878"/>
                                        </p:tgtEl>
                                        <p:attrNameLst>
                                          <p:attrName>style.visibility</p:attrName>
                                        </p:attrNameLst>
                                      </p:cBhvr>
                                      <p:to>
                                        <p:strVal val="visible"/>
                                      </p:to>
                                    </p:set>
                                    <p:animEffect transition="in" filter="dissolve">
                                      <p:cBhvr>
                                        <p:cTn id="12" dur="500"/>
                                        <p:tgtEl>
                                          <p:spTgt spid="254887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48877"/>
                                        </p:tgtEl>
                                        <p:attrNameLst>
                                          <p:attrName>style.visibility</p:attrName>
                                        </p:attrNameLst>
                                      </p:cBhvr>
                                      <p:to>
                                        <p:strVal val="visible"/>
                                      </p:to>
                                    </p:set>
                                    <p:animEffect transition="in" filter="dissolve">
                                      <p:cBhvr>
                                        <p:cTn id="17" dur="500"/>
                                        <p:tgtEl>
                                          <p:spTgt spid="25488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48879"/>
                                        </p:tgtEl>
                                        <p:attrNameLst>
                                          <p:attrName>style.visibility</p:attrName>
                                        </p:attrNameLst>
                                      </p:cBhvr>
                                      <p:to>
                                        <p:strVal val="visible"/>
                                      </p:to>
                                    </p:set>
                                    <p:animEffect transition="in" filter="dissolve">
                                      <p:cBhvr>
                                        <p:cTn id="22" dur="500"/>
                                        <p:tgtEl>
                                          <p:spTgt spid="25488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8876" grpId="0" bldLvl="0" animBg="1"/>
      <p:bldP spid="2548878" grpId="0"/>
      <p:bldP spid="2548879"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49762" name="Text Box 2"/>
          <p:cNvSpPr txBox="1">
            <a:spLocks noChangeArrowheads="1"/>
          </p:cNvSpPr>
          <p:nvPr/>
        </p:nvSpPr>
        <p:spPr bwMode="auto">
          <a:xfrm>
            <a:off x="1403350" y="49213"/>
            <a:ext cx="6911975" cy="641350"/>
          </a:xfrm>
          <a:prstGeom prst="rect">
            <a:avLst/>
          </a:prstGeom>
          <a:noFill/>
          <a:ln>
            <a:noFill/>
          </a:ln>
          <a:effectLst/>
        </p:spPr>
        <p:txBody>
          <a:bodyPr>
            <a:spAutoFit/>
          </a:bodyPr>
          <a:lstStyle/>
          <a:p>
            <a:pPr marR="0" defTabSz="914400" eaLnBrk="1" hangingPunct="1">
              <a:lnSpc>
                <a:spcPct val="90000"/>
              </a:lnSpc>
              <a:buClrTx/>
              <a:buSzTx/>
              <a:buFontTx/>
              <a:buNone/>
              <a:defRPr/>
            </a:pPr>
            <a:r>
              <a:rPr kumimoji="1" lang="en-US" altLang="zh-CN"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7.6  D/A</a:t>
            </a:r>
            <a:r>
              <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rPr>
              <a:t>转换器与微机的接口</a:t>
            </a:r>
            <a:endParaRPr kumimoji="1" lang="zh-CN" altLang="en-US" sz="4000" kern="1200" cap="none" spc="0" normalizeH="0" baseline="0" noProof="0">
              <a:solidFill>
                <a:srgbClr val="FF0000"/>
              </a:solidFill>
              <a:effectLst>
                <a:outerShdw blurRad="38100" dist="38100" dir="2700000" algn="tl">
                  <a:srgbClr val="C0C0C0"/>
                </a:outerShdw>
              </a:effectLst>
              <a:latin typeface="Times New Roman" panose="02020603050405020304" pitchFamily="18" charset="0"/>
              <a:ea typeface="楷体_GB2312" pitchFamily="49" charset="-122"/>
              <a:cs typeface="+mn-cs"/>
            </a:endParaRPr>
          </a:p>
        </p:txBody>
      </p:sp>
      <p:sp>
        <p:nvSpPr>
          <p:cNvPr id="2549767" name="Text Box 7"/>
          <p:cNvSpPr txBox="1"/>
          <p:nvPr/>
        </p:nvSpPr>
        <p:spPr>
          <a:xfrm>
            <a:off x="358775" y="692150"/>
            <a:ext cx="7021513" cy="476250"/>
          </a:xfrm>
          <a:prstGeom prst="rect">
            <a:avLst/>
          </a:prstGeom>
          <a:solidFill>
            <a:srgbClr val="99CCFF"/>
          </a:solid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1. </a:t>
            </a:r>
            <a:r>
              <a:rPr lang="zh-CN" altLang="en-US" sz="2800" dirty="0">
                <a:latin typeface="Times New Roman" panose="02020603050405020304" pitchFamily="18" charset="0"/>
              </a:rPr>
              <a:t>无输入锁存器的</a:t>
            </a:r>
            <a:r>
              <a:rPr lang="en-US" altLang="zh-CN" sz="2800" dirty="0">
                <a:latin typeface="Times New Roman" panose="02020603050405020304" pitchFamily="18" charset="0"/>
              </a:rPr>
              <a:t>D/A</a:t>
            </a:r>
            <a:r>
              <a:rPr lang="zh-CN" altLang="en-US" sz="2800" dirty="0">
                <a:latin typeface="Times New Roman" panose="02020603050405020304" pitchFamily="18" charset="0"/>
              </a:rPr>
              <a:t>转换器与微机的接口</a:t>
            </a:r>
            <a:endParaRPr lang="zh-CN" altLang="en-US" sz="2800" dirty="0">
              <a:latin typeface="Times New Roman" panose="02020603050405020304" pitchFamily="18" charset="0"/>
            </a:endParaRPr>
          </a:p>
        </p:txBody>
      </p:sp>
      <p:sp>
        <p:nvSpPr>
          <p:cNvPr id="2549768" name="Text Box 8"/>
          <p:cNvSpPr txBox="1"/>
          <p:nvPr/>
        </p:nvSpPr>
        <p:spPr>
          <a:xfrm>
            <a:off x="1079500" y="1376363"/>
            <a:ext cx="7129463" cy="1771650"/>
          </a:xfrm>
          <a:prstGeom prst="rect">
            <a:avLst/>
          </a:prstGeom>
          <a:noFill/>
          <a:ln w="9525">
            <a:noFill/>
          </a:ln>
        </p:spPr>
        <p:txBody>
          <a:bodyPr>
            <a:spAutoFit/>
          </a:bodyPr>
          <a:p>
            <a:pPr marL="541655" indent="-54165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外加一级或两级锁存器。</a:t>
            </a:r>
            <a:endParaRPr lang="zh-CN" altLang="en-US" sz="2400" dirty="0">
              <a:solidFill>
                <a:schemeClr val="tx1"/>
              </a:solidFill>
              <a:latin typeface="黑体" panose="02010609060101010101" pitchFamily="49" charset="-122"/>
              <a:ea typeface="黑体" panose="02010609060101010101" pitchFamily="49" charset="-122"/>
            </a:endParaRPr>
          </a:p>
          <a:p>
            <a:pPr marL="541655" indent="-54165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利用专用</a:t>
            </a:r>
            <a:r>
              <a:rPr lang="en-US" altLang="zh-CN" sz="2400" dirty="0">
                <a:solidFill>
                  <a:schemeClr val="tx1"/>
                </a:solidFill>
                <a:latin typeface="Times New Roman" panose="02020603050405020304" pitchFamily="18" charset="0"/>
                <a:ea typeface="黑体" panose="02010609060101010101" pitchFamily="49" charset="-122"/>
              </a:rPr>
              <a:t>I/O</a:t>
            </a:r>
            <a:r>
              <a:rPr lang="zh-CN" altLang="en-US" sz="2400" dirty="0">
                <a:solidFill>
                  <a:schemeClr val="tx1"/>
                </a:solidFill>
                <a:latin typeface="黑体" panose="02010609060101010101" pitchFamily="49" charset="-122"/>
                <a:ea typeface="黑体" panose="02010609060101010101" pitchFamily="49" charset="-122"/>
              </a:rPr>
              <a:t>接口芯片与微机相连，如</a:t>
            </a:r>
            <a:r>
              <a:rPr lang="en-US" altLang="zh-CN" sz="2400" dirty="0">
                <a:solidFill>
                  <a:schemeClr val="tx1"/>
                </a:solidFill>
                <a:latin typeface="Times New Roman" panose="02020603050405020304" pitchFamily="18" charset="0"/>
                <a:ea typeface="黑体" panose="02010609060101010101" pitchFamily="49" charset="-122"/>
              </a:rPr>
              <a:t>8255A</a:t>
            </a:r>
            <a:r>
              <a:rPr lang="zh-CN" altLang="en-US" sz="2400" dirty="0">
                <a:solidFill>
                  <a:schemeClr val="tx1"/>
                </a:solidFill>
                <a:latin typeface="黑体" panose="02010609060101010101" pitchFamily="49" charset="-122"/>
                <a:ea typeface="黑体" panose="02010609060101010101" pitchFamily="49" charset="-122"/>
              </a:rPr>
              <a:t>等。</a:t>
            </a:r>
            <a:endParaRPr lang="zh-CN" altLang="en-US" sz="2400" dirty="0">
              <a:solidFill>
                <a:schemeClr val="tx1"/>
              </a:solidFill>
              <a:latin typeface="黑体" panose="02010609060101010101" pitchFamily="49" charset="-122"/>
              <a:ea typeface="黑体" panose="02010609060101010101" pitchFamily="49" charset="-122"/>
            </a:endParaRPr>
          </a:p>
          <a:p>
            <a:pPr marL="541655" indent="-541655" eaLnBrk="1" hangingPunct="1">
              <a:lnSpc>
                <a:spcPct val="90000"/>
              </a:lnSpc>
              <a:spcBef>
                <a:spcPct val="50000"/>
              </a:spcBef>
              <a:buClr>
                <a:srgbClr val="FF0000"/>
              </a:buClr>
              <a:buFont typeface="Wingdings" panose="05000000000000000000" pitchFamily="2" charset="2"/>
            </a:pPr>
            <a:r>
              <a:rPr lang="zh-CN" altLang="en-US" sz="2400" dirty="0">
                <a:solidFill>
                  <a:srgbClr val="FF0000"/>
                </a:solidFill>
                <a:latin typeface="黑体" panose="02010609060101010101" pitchFamily="49" charset="-122"/>
                <a:ea typeface="黑体" panose="02010609060101010101" pitchFamily="49" charset="-122"/>
              </a:rPr>
              <a:t>注意：当</a:t>
            </a:r>
            <a:r>
              <a:rPr lang="en-US" altLang="zh-CN" sz="2400" dirty="0">
                <a:solidFill>
                  <a:srgbClr val="FF0000"/>
                </a:solidFill>
                <a:latin typeface="Times New Roman" panose="02020603050405020304" pitchFamily="18" charset="0"/>
                <a:ea typeface="黑体" panose="02010609060101010101" pitchFamily="49" charset="-122"/>
              </a:rPr>
              <a:t>DAC</a:t>
            </a:r>
            <a:r>
              <a:rPr lang="zh-CN" altLang="en-US" sz="2400" dirty="0">
                <a:solidFill>
                  <a:srgbClr val="FF0000"/>
                </a:solidFill>
                <a:latin typeface="黑体" panose="02010609060101010101" pitchFamily="49" charset="-122"/>
                <a:ea typeface="黑体" panose="02010609060101010101" pitchFamily="49" charset="-122"/>
              </a:rPr>
              <a:t>的位数高于数据总线位数时，需要</a:t>
            </a:r>
            <a:r>
              <a:rPr lang="en-US" altLang="zh-CN" sz="2400" dirty="0">
                <a:solidFill>
                  <a:srgbClr val="FF0000"/>
                </a:solidFill>
                <a:latin typeface="黑体" panose="02010609060101010101" pitchFamily="49" charset="-122"/>
                <a:ea typeface="黑体" panose="02010609060101010101" pitchFamily="49" charset="-122"/>
              </a:rPr>
              <a:t>2</a:t>
            </a:r>
            <a:r>
              <a:rPr lang="zh-CN" altLang="en-US" sz="2400" dirty="0">
                <a:solidFill>
                  <a:srgbClr val="FF0000"/>
                </a:solidFill>
                <a:latin typeface="黑体" panose="02010609060101010101" pitchFamily="49" charset="-122"/>
                <a:ea typeface="黑体" panose="02010609060101010101" pitchFamily="49" charset="-122"/>
              </a:rPr>
              <a:t>个字节（写周期）分别传送高位和低位数据。</a:t>
            </a:r>
            <a:endParaRPr lang="zh-CN" altLang="en-US" sz="2400" dirty="0">
              <a:solidFill>
                <a:srgbClr val="FF0000"/>
              </a:solidFill>
              <a:latin typeface="黑体" panose="02010609060101010101" pitchFamily="49" charset="-122"/>
              <a:ea typeface="黑体" panose="02010609060101010101" pitchFamily="49" charset="-122"/>
            </a:endParaRPr>
          </a:p>
        </p:txBody>
      </p:sp>
      <p:sp>
        <p:nvSpPr>
          <p:cNvPr id="2549769" name="Text Box 9"/>
          <p:cNvSpPr txBox="1"/>
          <p:nvPr/>
        </p:nvSpPr>
        <p:spPr>
          <a:xfrm>
            <a:off x="358775" y="3213100"/>
            <a:ext cx="7021513" cy="476250"/>
          </a:xfrm>
          <a:prstGeom prst="rect">
            <a:avLst/>
          </a:prstGeom>
          <a:solidFill>
            <a:srgbClr val="99CCFF"/>
          </a:solidFill>
          <a:ln w="9525">
            <a:noFill/>
          </a:ln>
        </p:spPr>
        <p:txBody>
          <a:bodyPr>
            <a:spAutoFit/>
          </a:bodyPr>
          <a:p>
            <a:pPr eaLnBrk="1" hangingPunct="1">
              <a:lnSpc>
                <a:spcPct val="90000"/>
              </a:lnSpc>
              <a:spcBef>
                <a:spcPct val="50000"/>
              </a:spcBef>
            </a:pPr>
            <a:r>
              <a:rPr lang="en-US" altLang="zh-CN" sz="2800" dirty="0">
                <a:latin typeface="Times New Roman" panose="02020603050405020304" pitchFamily="18" charset="0"/>
              </a:rPr>
              <a:t>2. </a:t>
            </a:r>
            <a:r>
              <a:rPr lang="zh-CN" altLang="en-US" sz="2800" dirty="0">
                <a:latin typeface="Times New Roman" panose="02020603050405020304" pitchFamily="18" charset="0"/>
              </a:rPr>
              <a:t>具有输入锁存的</a:t>
            </a:r>
            <a:r>
              <a:rPr lang="en-US" altLang="zh-CN" sz="2800" dirty="0">
                <a:latin typeface="Times New Roman" panose="02020603050405020304" pitchFamily="18" charset="0"/>
              </a:rPr>
              <a:t>D/A</a:t>
            </a:r>
            <a:r>
              <a:rPr lang="zh-CN" altLang="en-US" sz="2800" dirty="0">
                <a:latin typeface="Times New Roman" panose="02020603050405020304" pitchFamily="18" charset="0"/>
              </a:rPr>
              <a:t>转换器与微机的接口</a:t>
            </a:r>
            <a:endParaRPr lang="zh-CN" altLang="en-US" sz="2800" dirty="0">
              <a:latin typeface="Times New Roman" panose="02020603050405020304" pitchFamily="18" charset="0"/>
            </a:endParaRPr>
          </a:p>
        </p:txBody>
      </p:sp>
      <p:sp>
        <p:nvSpPr>
          <p:cNvPr id="2549771" name="Text Box 11"/>
          <p:cNvSpPr txBox="1"/>
          <p:nvPr/>
        </p:nvSpPr>
        <p:spPr>
          <a:xfrm>
            <a:off x="1079500" y="3789363"/>
            <a:ext cx="7129463" cy="2246312"/>
          </a:xfrm>
          <a:prstGeom prst="rect">
            <a:avLst/>
          </a:prstGeom>
          <a:noFill/>
          <a:ln w="9525">
            <a:noFill/>
          </a:ln>
        </p:spPr>
        <p:txBody>
          <a:bodyPr>
            <a:spAutoFit/>
          </a:bodyPr>
          <a:p>
            <a:pPr marL="541655" indent="-54165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单级缓冲</a:t>
            </a:r>
            <a:r>
              <a:rPr lang="en-US" altLang="zh-CN" sz="2400" dirty="0">
                <a:solidFill>
                  <a:schemeClr val="tx1"/>
                </a:solidFill>
                <a:latin typeface="黑体" panose="02010609060101010101" pitchFamily="49" charset="-122"/>
                <a:ea typeface="黑体" panose="02010609060101010101" pitchFamily="49" charset="-122"/>
              </a:rPr>
              <a:t>D/A</a:t>
            </a:r>
            <a:r>
              <a:rPr lang="zh-CN" altLang="en-US" sz="2400" dirty="0">
                <a:solidFill>
                  <a:schemeClr val="tx1"/>
                </a:solidFill>
                <a:latin typeface="黑体" panose="02010609060101010101" pitchFamily="49" charset="-122"/>
                <a:ea typeface="黑体" panose="02010609060101010101" pitchFamily="49" charset="-122"/>
              </a:rPr>
              <a:t>转换器，当转换器的位数小于或等于数据总线位数时，转换器的输入端可以直接连接到数据总线上。如果位数大于数据总线位数，则需外加一个锁存器。</a:t>
            </a:r>
            <a:endParaRPr lang="zh-CN" altLang="en-US" sz="2400" dirty="0">
              <a:solidFill>
                <a:schemeClr val="tx1"/>
              </a:solidFill>
              <a:latin typeface="黑体" panose="02010609060101010101" pitchFamily="49" charset="-122"/>
              <a:ea typeface="黑体" panose="02010609060101010101" pitchFamily="49" charset="-122"/>
            </a:endParaRPr>
          </a:p>
          <a:p>
            <a:pPr marL="541655" indent="-541655" eaLnBrk="1" hangingPunct="1">
              <a:lnSpc>
                <a:spcPct val="90000"/>
              </a:lnSpc>
              <a:spcBef>
                <a:spcPct val="50000"/>
              </a:spcBef>
              <a:buClr>
                <a:srgbClr val="FF0000"/>
              </a:buClr>
              <a:buFont typeface="Wingdings" panose="05000000000000000000" pitchFamily="2" charset="2"/>
              <a:buChar char="u"/>
            </a:pPr>
            <a:r>
              <a:rPr lang="zh-CN" altLang="en-US" sz="2400" dirty="0">
                <a:solidFill>
                  <a:schemeClr val="tx1"/>
                </a:solidFill>
                <a:latin typeface="黑体" panose="02010609060101010101" pitchFamily="49" charset="-122"/>
                <a:ea typeface="黑体" panose="02010609060101010101" pitchFamily="49" charset="-122"/>
              </a:rPr>
              <a:t>双缓冲</a:t>
            </a:r>
            <a:r>
              <a:rPr lang="en-US" altLang="zh-CN" sz="2400" dirty="0">
                <a:solidFill>
                  <a:schemeClr val="tx1"/>
                </a:solidFill>
                <a:latin typeface="黑体" panose="02010609060101010101" pitchFamily="49" charset="-122"/>
                <a:ea typeface="黑体" panose="02010609060101010101" pitchFamily="49" charset="-122"/>
              </a:rPr>
              <a:t>D/A</a:t>
            </a:r>
            <a:r>
              <a:rPr lang="zh-CN" altLang="en-US" sz="2400" dirty="0">
                <a:solidFill>
                  <a:schemeClr val="tx1"/>
                </a:solidFill>
                <a:latin typeface="黑体" panose="02010609060101010101" pitchFamily="49" charset="-122"/>
                <a:ea typeface="黑体" panose="02010609060101010101" pitchFamily="49" charset="-122"/>
              </a:rPr>
              <a:t>转换器的输入端可以直接与微机数据总线相连接，分两次先高位后低位写入数据。</a:t>
            </a:r>
            <a:endParaRPr lang="zh-CN" altLang="en-US" sz="2400" dirty="0">
              <a:solidFill>
                <a:schemeClr val="tx1"/>
              </a:solidFill>
              <a:latin typeface="黑体" panose="02010609060101010101" pitchFamily="49" charset="-122"/>
              <a:ea typeface="黑体" panose="02010609060101010101" pitchFamily="49" charset="-122"/>
            </a:endParaRPr>
          </a:p>
        </p:txBody>
      </p:sp>
    </p:spTree>
  </p:cSld>
  <p:clrMapOvr>
    <a:masterClrMapping/>
  </p:clrMapOvr>
  <p:transition spd="med">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49767"/>
                                        </p:tgtEl>
                                        <p:attrNameLst>
                                          <p:attrName>style.visibility</p:attrName>
                                        </p:attrNameLst>
                                      </p:cBhvr>
                                      <p:to>
                                        <p:strVal val="visible"/>
                                      </p:to>
                                    </p:set>
                                    <p:animEffect transition="in" filter="dissolve">
                                      <p:cBhvr>
                                        <p:cTn id="7" dur="500"/>
                                        <p:tgtEl>
                                          <p:spTgt spid="25497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49768">
                                            <p:txEl>
                                              <p:charRg st="0" end="12"/>
                                            </p:txEl>
                                          </p:spTgt>
                                        </p:tgtEl>
                                        <p:attrNameLst>
                                          <p:attrName>style.visibility</p:attrName>
                                        </p:attrNameLst>
                                      </p:cBhvr>
                                      <p:to>
                                        <p:strVal val="visible"/>
                                      </p:to>
                                    </p:set>
                                    <p:animEffect transition="in" filter="dissolve">
                                      <p:cBhvr>
                                        <p:cTn id="12" dur="500"/>
                                        <p:tgtEl>
                                          <p:spTgt spid="2549768">
                                            <p:txEl>
                                              <p:charRg st="0" end="1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49768">
                                            <p:txEl>
                                              <p:charRg st="12" end="38"/>
                                            </p:txEl>
                                          </p:spTgt>
                                        </p:tgtEl>
                                        <p:attrNameLst>
                                          <p:attrName>style.visibility</p:attrName>
                                        </p:attrNameLst>
                                      </p:cBhvr>
                                      <p:to>
                                        <p:strVal val="visible"/>
                                      </p:to>
                                    </p:set>
                                    <p:animEffect transition="in" filter="dissolve">
                                      <p:cBhvr>
                                        <p:cTn id="17" dur="500"/>
                                        <p:tgtEl>
                                          <p:spTgt spid="2549768">
                                            <p:txEl>
                                              <p:charRg st="12" end="38"/>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9768">
                                            <p:txEl>
                                              <p:charRg st="38" end="82"/>
                                            </p:txEl>
                                          </p:spTgt>
                                        </p:tgtEl>
                                        <p:attrNameLst>
                                          <p:attrName>style.visibility</p:attrName>
                                        </p:attrNameLst>
                                      </p:cBhvr>
                                      <p:to>
                                        <p:strVal val="visible"/>
                                      </p:to>
                                    </p:set>
                                    <p:animEffect transition="in" filter="dissolve">
                                      <p:cBhvr>
                                        <p:cTn id="22" dur="500"/>
                                        <p:tgtEl>
                                          <p:spTgt spid="2549768">
                                            <p:txEl>
                                              <p:charRg st="38" end="8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549769"/>
                                        </p:tgtEl>
                                        <p:attrNameLst>
                                          <p:attrName>style.visibility</p:attrName>
                                        </p:attrNameLst>
                                      </p:cBhvr>
                                      <p:to>
                                        <p:strVal val="visible"/>
                                      </p:to>
                                    </p:set>
                                    <p:animEffect transition="in" filter="dissolve">
                                      <p:cBhvr>
                                        <p:cTn id="27" dur="500"/>
                                        <p:tgtEl>
                                          <p:spTgt spid="254976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549771">
                                            <p:txEl>
                                              <p:charRg st="0" end="75"/>
                                            </p:txEl>
                                          </p:spTgt>
                                        </p:tgtEl>
                                        <p:attrNameLst>
                                          <p:attrName>style.visibility</p:attrName>
                                        </p:attrNameLst>
                                      </p:cBhvr>
                                      <p:to>
                                        <p:strVal val="visible"/>
                                      </p:to>
                                    </p:set>
                                    <p:animEffect transition="in" filter="dissolve">
                                      <p:cBhvr>
                                        <p:cTn id="32" dur="500"/>
                                        <p:tgtEl>
                                          <p:spTgt spid="2549771">
                                            <p:txEl>
                                              <p:charRg st="0" end="7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549771">
                                            <p:txEl>
                                              <p:charRg st="75" end="118"/>
                                            </p:txEl>
                                          </p:spTgt>
                                        </p:tgtEl>
                                        <p:attrNameLst>
                                          <p:attrName>style.visibility</p:attrName>
                                        </p:attrNameLst>
                                      </p:cBhvr>
                                      <p:to>
                                        <p:strVal val="visible"/>
                                      </p:to>
                                    </p:set>
                                    <p:animEffect transition="in" filter="dissolve">
                                      <p:cBhvr>
                                        <p:cTn id="37" dur="500"/>
                                        <p:tgtEl>
                                          <p:spTgt spid="2549771">
                                            <p:txEl>
                                              <p:charRg st="75" end="1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767" grpId="0" bldLvl="0" animBg="1"/>
      <p:bldP spid="2549769" grpId="0" bldLvl="0" animBg="1"/>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483778" name="图片 1483777" descr="Turm_blau_hell"/>
          <p:cNvPicPr>
            <a:picLocks noChangeAspect="1"/>
          </p:cNvPicPr>
          <p:nvPr/>
        </p:nvPicPr>
        <p:blipFill>
          <a:blip r:embed="rId1"/>
          <a:stretch>
            <a:fillRect/>
          </a:stretch>
        </p:blipFill>
        <p:spPr>
          <a:xfrm>
            <a:off x="3606800" y="928688"/>
            <a:ext cx="5178425" cy="4953000"/>
          </a:xfrm>
          <a:prstGeom prst="rect">
            <a:avLst/>
          </a:prstGeom>
          <a:noFill/>
          <a:ln w="9525">
            <a:noFill/>
          </a:ln>
        </p:spPr>
      </p:pic>
      <p:sp>
        <p:nvSpPr>
          <p:cNvPr id="1483780" name="任意多边形 1483779"/>
          <p:cNvSpPr/>
          <p:nvPr/>
        </p:nvSpPr>
        <p:spPr>
          <a:xfrm>
            <a:off x="236538" y="661988"/>
            <a:ext cx="6934200" cy="381000"/>
          </a:xfrm>
          <a:custGeom>
            <a:avLst/>
            <a:gdLst/>
            <a:ahLst/>
            <a:cxnLst/>
            <a:pathLst>
              <a:path w="4272" h="1008">
                <a:moveTo>
                  <a:pt x="0" y="0"/>
                </a:moveTo>
                <a:lnTo>
                  <a:pt x="384" y="0"/>
                </a:lnTo>
                <a:lnTo>
                  <a:pt x="384" y="1008"/>
                </a:lnTo>
                <a:lnTo>
                  <a:pt x="4272" y="1008"/>
                </a:lnTo>
              </a:path>
            </a:pathLst>
          </a:custGeom>
          <a:noFill/>
          <a:ln w="12700" cap="flat" cmpd="sng">
            <a:solidFill>
              <a:schemeClr val="bg2">
                <a:alpha val="100000"/>
              </a:schemeClr>
            </a:solidFill>
            <a:prstDash val="solid"/>
            <a:headEnd type="none" w="med" len="med"/>
            <a:tailEnd type="diamond" w="med" len="med"/>
          </a:ln>
        </p:spPr>
        <p:txBody>
          <a:bodyPr/>
          <a:p>
            <a:pPr eaLnBrk="1" hangingPunct="1">
              <a:lnSpc>
                <a:spcPct val="90000"/>
              </a:lnSpc>
            </a:pPr>
            <a:endParaRPr lang="zh-CN" altLang="en-US" b="1">
              <a:solidFill>
                <a:srgbClr val="333399"/>
              </a:solidFill>
            </a:endParaRPr>
          </a:p>
        </p:txBody>
      </p:sp>
      <p:sp>
        <p:nvSpPr>
          <p:cNvPr id="1483781" name="任意多边形 1483780"/>
          <p:cNvSpPr/>
          <p:nvPr/>
        </p:nvSpPr>
        <p:spPr>
          <a:xfrm>
            <a:off x="1054100" y="1047750"/>
            <a:ext cx="228600" cy="508000"/>
          </a:xfrm>
          <a:custGeom>
            <a:avLst/>
            <a:gdLst/>
            <a:ahLst/>
            <a:cxnLst/>
            <a:pathLst>
              <a:path w="144" h="144">
                <a:moveTo>
                  <a:pt x="0" y="0"/>
                </a:moveTo>
                <a:lnTo>
                  <a:pt x="0" y="144"/>
                </a:lnTo>
                <a:lnTo>
                  <a:pt x="144" y="144"/>
                </a:lnTo>
              </a:path>
            </a:pathLst>
          </a:custGeom>
          <a:noFill/>
          <a:ln w="12700" cap="flat" cmpd="sng">
            <a:solidFill>
              <a:schemeClr val="bg2">
                <a:alpha val="100000"/>
              </a:schemeClr>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1483782" name="任意多边形 1483781"/>
          <p:cNvSpPr/>
          <p:nvPr/>
        </p:nvSpPr>
        <p:spPr>
          <a:xfrm>
            <a:off x="1052513" y="1539875"/>
            <a:ext cx="217487" cy="742950"/>
          </a:xfrm>
          <a:custGeom>
            <a:avLst/>
            <a:gdLst/>
            <a:ahLst/>
            <a:cxnLst/>
            <a:pathLst>
              <a:path w="144" h="144">
                <a:moveTo>
                  <a:pt x="0" y="0"/>
                </a:moveTo>
                <a:lnTo>
                  <a:pt x="0" y="144"/>
                </a:lnTo>
                <a:lnTo>
                  <a:pt x="144" y="144"/>
                </a:lnTo>
              </a:path>
            </a:pathLst>
          </a:custGeom>
          <a:noFill/>
          <a:ln w="12700" cap="flat" cmpd="sng">
            <a:solidFill>
              <a:schemeClr val="bg2">
                <a:alpha val="100000"/>
              </a:schemeClr>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1483785" name="副标题 1483784"/>
          <p:cNvSpPr>
            <a:spLocks noGrp="1"/>
          </p:cNvSpPr>
          <p:nvPr>
            <p:ph type="subTitle" idx="1"/>
          </p:nvPr>
        </p:nvSpPr>
        <p:spPr>
          <a:xfrm>
            <a:off x="1774825" y="1135063"/>
            <a:ext cx="6219825" cy="625475"/>
          </a:xfrm>
          <a:noFill/>
          <a:ln>
            <a:noFill/>
          </a:ln>
        </p:spPr>
        <p:txBody>
          <a:bodyPr lIns="82550" tIns="41275" rIns="82550" bIns="41275"/>
          <a:p>
            <a:pPr marL="476250" indent="-476250" algn="l" defTabSz="678180">
              <a:lnSpc>
                <a:spcPct val="130000"/>
              </a:lnSpc>
              <a:spcBef>
                <a:spcPct val="0"/>
              </a:spcBef>
              <a:buClr>
                <a:srgbClr val="000066"/>
              </a:buClr>
              <a:buSzPct val="75000"/>
            </a:pPr>
            <a:r>
              <a:rPr lang="en-US" altLang="zh-CN" sz="3600" kern="1200" baseline="0">
                <a:solidFill>
                  <a:srgbClr val="000099"/>
                </a:solidFill>
                <a:effectLst>
                  <a:outerShdw blurRad="38100" dist="38100" dir="2700000">
                    <a:srgbClr val="C0C0C0"/>
                  </a:outerShdw>
                </a:effectLst>
                <a:latin typeface="Arial Black" panose="020B0A04020102020204" pitchFamily="34" charset="0"/>
                <a:ea typeface="宋体" panose="02010600030101010101" pitchFamily="2" charset="-122"/>
              </a:rPr>
              <a:t>10.1 </a:t>
            </a:r>
            <a:r>
              <a:rPr lang="zh-CN" altLang="en-US" sz="3600" kern="1200" baseline="0" dirty="0">
                <a:solidFill>
                  <a:srgbClr val="333399"/>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3600" kern="1200" baseline="0" dirty="0">
              <a:solidFill>
                <a:srgbClr val="333399"/>
              </a:solidFill>
              <a:effectLst>
                <a:outerShdw blurRad="38100" dist="38100" dir="2700000">
                  <a:srgbClr val="C0C0C0"/>
                </a:outerShdw>
              </a:effectLst>
              <a:latin typeface="Times New Roman" panose="02020603050405020304" pitchFamily="18" charset="0"/>
              <a:ea typeface="楷体_GB2312" pitchFamily="49" charset="-122"/>
            </a:endParaRPr>
          </a:p>
        </p:txBody>
      </p:sp>
      <p:pic>
        <p:nvPicPr>
          <p:cNvPr id="1483793" name="图片 1483792" descr="kugel_blau"/>
          <p:cNvPicPr>
            <a:picLocks noChangeAspect="1"/>
          </p:cNvPicPr>
          <p:nvPr/>
        </p:nvPicPr>
        <p:blipFill>
          <a:blip r:embed="rId2"/>
          <a:stretch>
            <a:fillRect/>
          </a:stretch>
        </p:blipFill>
        <p:spPr>
          <a:xfrm>
            <a:off x="1373188" y="1398588"/>
            <a:ext cx="457200" cy="315912"/>
          </a:xfrm>
          <a:prstGeom prst="rect">
            <a:avLst/>
          </a:prstGeom>
          <a:noFill/>
          <a:ln w="9525">
            <a:noFill/>
          </a:ln>
        </p:spPr>
      </p:pic>
      <p:pic>
        <p:nvPicPr>
          <p:cNvPr id="1483794" name="图片 1483793" descr="kugel_blau"/>
          <p:cNvPicPr>
            <a:picLocks noChangeAspect="1"/>
          </p:cNvPicPr>
          <p:nvPr/>
        </p:nvPicPr>
        <p:blipFill>
          <a:blip r:embed="rId2"/>
          <a:stretch>
            <a:fillRect/>
          </a:stretch>
        </p:blipFill>
        <p:spPr>
          <a:xfrm>
            <a:off x="1341438" y="2132013"/>
            <a:ext cx="457200" cy="315912"/>
          </a:xfrm>
          <a:prstGeom prst="rect">
            <a:avLst/>
          </a:prstGeom>
          <a:noFill/>
          <a:ln w="9525">
            <a:noFill/>
          </a:ln>
        </p:spPr>
      </p:pic>
      <p:sp>
        <p:nvSpPr>
          <p:cNvPr id="1483798" name="矩形 1483797"/>
          <p:cNvSpPr/>
          <p:nvPr/>
        </p:nvSpPr>
        <p:spPr>
          <a:xfrm>
            <a:off x="1746250" y="1855788"/>
            <a:ext cx="6867525" cy="744537"/>
          </a:xfrm>
          <a:prstGeom prst="rect">
            <a:avLst/>
          </a:prstGeom>
          <a:noFill/>
          <a:ln w="9525">
            <a:noFill/>
          </a:ln>
        </p:spPr>
        <p:txBody>
          <a:bodyPr lIns="82550" tIns="41275" rIns="82550" bIns="41275"/>
          <a:p>
            <a:pPr marL="476250" indent="-476250"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3366CC"/>
                </a:solidFill>
                <a:effectLst>
                  <a:outerShdw blurRad="38100" dist="38100" dir="2700000">
                    <a:srgbClr val="C0C0C0"/>
                  </a:outerShdw>
                </a:effectLst>
                <a:latin typeface="Arial Black" panose="020B0A04020102020204" pitchFamily="34" charset="0"/>
                <a:ea typeface="宋体" panose="02010600030101010101" pitchFamily="2" charset="-122"/>
              </a:rPr>
              <a:t>10.2 </a:t>
            </a:r>
            <a:r>
              <a:rPr lang="zh-CN" altLang="en-US" b="1" dirty="0">
                <a:solidFill>
                  <a:srgbClr val="3366CC"/>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b="1" dirty="0">
              <a:solidFill>
                <a:srgbClr val="3366CC"/>
              </a:solidFill>
              <a:effectLst>
                <a:outerShdw blurRad="38100" dist="38100" dir="2700000">
                  <a:srgbClr val="C0C0C0"/>
                </a:outerShdw>
              </a:effectLst>
              <a:latin typeface="Times New Roman" panose="02020603050405020304" pitchFamily="18" charset="0"/>
              <a:ea typeface="楷体_GB2312" pitchFamily="49" charset="-122"/>
            </a:endParaRPr>
          </a:p>
        </p:txBody>
      </p:sp>
      <p:pic>
        <p:nvPicPr>
          <p:cNvPr id="1483803" name="图片 1483802" descr="kugel_blau"/>
          <p:cNvPicPr>
            <a:picLocks noChangeAspect="1"/>
          </p:cNvPicPr>
          <p:nvPr/>
        </p:nvPicPr>
        <p:blipFill>
          <a:blip r:embed="rId2"/>
          <a:stretch>
            <a:fillRect/>
          </a:stretch>
        </p:blipFill>
        <p:spPr>
          <a:xfrm>
            <a:off x="1347788" y="2897188"/>
            <a:ext cx="457200" cy="315912"/>
          </a:xfrm>
          <a:prstGeom prst="rect">
            <a:avLst/>
          </a:prstGeom>
          <a:noFill/>
          <a:ln w="9525">
            <a:noFill/>
          </a:ln>
        </p:spPr>
      </p:pic>
      <p:sp>
        <p:nvSpPr>
          <p:cNvPr id="1483804" name="矩形 1483803"/>
          <p:cNvSpPr/>
          <p:nvPr/>
        </p:nvSpPr>
        <p:spPr>
          <a:xfrm>
            <a:off x="1747838" y="2635250"/>
            <a:ext cx="7037387" cy="744538"/>
          </a:xfrm>
          <a:prstGeom prst="rect">
            <a:avLst/>
          </a:prstGeom>
          <a:noFill/>
          <a:ln w="9525">
            <a:noFill/>
          </a:ln>
        </p:spPr>
        <p:txBody>
          <a:bodyPr lIns="82550" tIns="41275" rIns="82550" bIns="41275"/>
          <a:p>
            <a:pPr marL="476250" indent="-476250"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333399"/>
                </a:solidFill>
                <a:effectLst>
                  <a:outerShdw blurRad="38100" dist="38100" dir="2700000">
                    <a:srgbClr val="C0C0C0"/>
                  </a:outerShdw>
                </a:effectLst>
                <a:latin typeface="Arial Black" panose="020B0A04020102020204" pitchFamily="34" charset="0"/>
                <a:ea typeface="宋体" panose="02010600030101010101" pitchFamily="2" charset="-122"/>
              </a:rPr>
              <a:t>10.3 </a:t>
            </a:r>
            <a:r>
              <a:rPr lang="zh-CN" altLang="en-US" b="1" dirty="0">
                <a:solidFill>
                  <a:srgbClr val="333399"/>
                </a:solidFill>
                <a:effectLst>
                  <a:outerShdw blurRad="38100" dist="38100" dir="2700000">
                    <a:srgbClr val="C0C0C0"/>
                  </a:outerShdw>
                </a:effectLst>
                <a:latin typeface="Times New Roman" panose="02020603050405020304" pitchFamily="18" charset="0"/>
                <a:ea typeface="楷体_GB2312" pitchFamily="49" charset="-122"/>
              </a:rPr>
              <a:t>剔除采样数据中的奇异项</a:t>
            </a:r>
            <a:endParaRPr lang="zh-CN" altLang="en-US" b="1" dirty="0">
              <a:solidFill>
                <a:srgbClr val="333399"/>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1483807" name="任意多边形 1483806"/>
          <p:cNvSpPr/>
          <p:nvPr/>
        </p:nvSpPr>
        <p:spPr>
          <a:xfrm>
            <a:off x="1054100" y="2247900"/>
            <a:ext cx="242888" cy="825500"/>
          </a:xfrm>
          <a:custGeom>
            <a:avLst/>
            <a:gdLst/>
            <a:ahLst/>
            <a:cxnLst/>
            <a:pathLst>
              <a:path w="144" h="144">
                <a:moveTo>
                  <a:pt x="0" y="0"/>
                </a:moveTo>
                <a:lnTo>
                  <a:pt x="0" y="144"/>
                </a:lnTo>
                <a:lnTo>
                  <a:pt x="144" y="144"/>
                </a:lnTo>
              </a:path>
            </a:pathLst>
          </a:custGeom>
          <a:noFill/>
          <a:ln w="12700" cap="flat" cmpd="sng">
            <a:solidFill>
              <a:schemeClr val="bg2">
                <a:alpha val="100000"/>
              </a:schemeClr>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1483809" name="矩形 1483808"/>
          <p:cNvSpPr/>
          <p:nvPr/>
        </p:nvSpPr>
        <p:spPr>
          <a:xfrm>
            <a:off x="1373188" y="242888"/>
            <a:ext cx="6799262" cy="628650"/>
          </a:xfrm>
          <a:prstGeom prst="rect">
            <a:avLst/>
          </a:prstGeom>
          <a:noFill/>
          <a:ln w="9525">
            <a:noFill/>
          </a:ln>
        </p:spPr>
        <p:txBody>
          <a:bodyPr lIns="82550" tIns="41275" rIns="82550" bIns="41275"/>
          <a:p>
            <a:pPr marL="254000" indent="-254000" algn="ctr" defTabSz="678180" eaLnBrk="0" hangingPunct="0">
              <a:lnSpc>
                <a:spcPct val="90000"/>
              </a:lnSpc>
              <a:spcBef>
                <a:spcPct val="50000"/>
              </a:spcBef>
              <a:buSzPct val="75000"/>
            </a:pPr>
            <a:r>
              <a:rPr lang="zh-CN" altLang="en-US" sz="4400" b="1" dirty="0">
                <a:solidFill>
                  <a:srgbClr val="FF0000"/>
                </a:solidFill>
                <a:effectLst>
                  <a:outerShdw blurRad="38100" dist="38100" dir="2700000">
                    <a:srgbClr val="C0C0C0"/>
                  </a:outerShdw>
                </a:effectLst>
                <a:latin typeface="楷体_GB2312" pitchFamily="49" charset="-122"/>
                <a:ea typeface="楷体_GB2312" pitchFamily="49" charset="-122"/>
              </a:rPr>
              <a:t>第</a:t>
            </a:r>
            <a:r>
              <a:rPr lang="en-US" altLang="zh-CN" sz="44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a:t>
            </a:r>
            <a:r>
              <a:rPr lang="zh-CN" altLang="en-US" sz="4400" b="1" dirty="0">
                <a:solidFill>
                  <a:srgbClr val="FF0000"/>
                </a:solidFill>
                <a:effectLst>
                  <a:outerShdw blurRad="38100" dist="38100" dir="2700000">
                    <a:srgbClr val="C0C0C0"/>
                  </a:outerShdw>
                </a:effectLst>
                <a:latin typeface="楷体_GB2312" pitchFamily="49" charset="-122"/>
                <a:ea typeface="楷体_GB2312" pitchFamily="49" charset="-122"/>
              </a:rPr>
              <a:t>章 采样数据的预处理</a:t>
            </a:r>
            <a:endParaRPr lang="zh-CN" altLang="en-US" sz="4400" b="1" dirty="0">
              <a:solidFill>
                <a:srgbClr val="FF0000"/>
              </a:solidFill>
              <a:effectLst>
                <a:outerShdw blurRad="38100" dist="38100" dir="2700000">
                  <a:srgbClr val="C0C0C0"/>
                </a:outerShdw>
              </a:effectLst>
              <a:latin typeface="楷体_GB2312" pitchFamily="49" charset="-122"/>
              <a:ea typeface="楷体_GB2312" pitchFamily="49" charset="-122"/>
            </a:endParaRPr>
          </a:p>
        </p:txBody>
      </p:sp>
      <p:pic>
        <p:nvPicPr>
          <p:cNvPr id="1483810" name="图片 1483809" descr="kugel_blau"/>
          <p:cNvPicPr>
            <a:picLocks noChangeAspect="1"/>
          </p:cNvPicPr>
          <p:nvPr/>
        </p:nvPicPr>
        <p:blipFill>
          <a:blip r:embed="rId2"/>
          <a:stretch>
            <a:fillRect/>
          </a:stretch>
        </p:blipFill>
        <p:spPr>
          <a:xfrm>
            <a:off x="1354138" y="3724275"/>
            <a:ext cx="457200" cy="315913"/>
          </a:xfrm>
          <a:prstGeom prst="rect">
            <a:avLst/>
          </a:prstGeom>
          <a:noFill/>
          <a:ln w="9525">
            <a:noFill/>
          </a:ln>
        </p:spPr>
      </p:pic>
      <p:pic>
        <p:nvPicPr>
          <p:cNvPr id="1483811" name="图片 1483810" descr="kugel_blau"/>
          <p:cNvPicPr>
            <a:picLocks noChangeAspect="1"/>
          </p:cNvPicPr>
          <p:nvPr/>
        </p:nvPicPr>
        <p:blipFill>
          <a:blip r:embed="rId2"/>
          <a:stretch>
            <a:fillRect/>
          </a:stretch>
        </p:blipFill>
        <p:spPr>
          <a:xfrm>
            <a:off x="1349375" y="4498975"/>
            <a:ext cx="457200" cy="315913"/>
          </a:xfrm>
          <a:prstGeom prst="rect">
            <a:avLst/>
          </a:prstGeom>
          <a:noFill/>
          <a:ln w="9525">
            <a:noFill/>
          </a:ln>
        </p:spPr>
      </p:pic>
      <p:sp>
        <p:nvSpPr>
          <p:cNvPr id="1483813" name="矩形 1483812"/>
          <p:cNvSpPr/>
          <p:nvPr/>
        </p:nvSpPr>
        <p:spPr>
          <a:xfrm>
            <a:off x="1728788" y="3567113"/>
            <a:ext cx="7056437" cy="625475"/>
          </a:xfrm>
          <a:prstGeom prst="rect">
            <a:avLst/>
          </a:prstGeom>
          <a:noFill/>
          <a:ln w="9525">
            <a:noFill/>
          </a:ln>
        </p:spPr>
        <p:txBody>
          <a:bodyPr lIns="82550" tIns="41275" rIns="82550" bIns="41275"/>
          <a:p>
            <a:pPr marL="476250" indent="-476250" defTabSz="678180" eaLnBrk="0" hangingPunct="0">
              <a:lnSpc>
                <a:spcPct val="95000"/>
              </a:lnSpc>
              <a:spcBef>
                <a:spcPct val="50000"/>
              </a:spcBef>
              <a:buClr>
                <a:srgbClr val="000066"/>
              </a:buClr>
              <a:buSzPct val="75000"/>
              <a:buFont typeface="Wingdings" panose="05000000000000000000" pitchFamily="2" charset="2"/>
            </a:pPr>
            <a:r>
              <a:rPr lang="en-US" altLang="zh-CN" b="1">
                <a:solidFill>
                  <a:srgbClr val="3366CC"/>
                </a:solidFill>
                <a:effectLst>
                  <a:outerShdw blurRad="38100" dist="38100" dir="2700000">
                    <a:srgbClr val="C0C0C0"/>
                  </a:outerShdw>
                </a:effectLst>
                <a:latin typeface="Arial Black" panose="020B0A04020102020204" pitchFamily="34" charset="0"/>
                <a:ea typeface="宋体" panose="02010600030101010101" pitchFamily="2" charset="-122"/>
              </a:rPr>
              <a:t>10.4 </a:t>
            </a:r>
            <a:r>
              <a:rPr lang="zh-CN" altLang="en-US" b="1" dirty="0">
                <a:solidFill>
                  <a:srgbClr val="3366CC"/>
                </a:solidFill>
                <a:effectLst>
                  <a:outerShdw blurRad="38100" dist="38100" dir="2700000">
                    <a:srgbClr val="C0C0C0"/>
                  </a:outerShdw>
                </a:effectLst>
                <a:latin typeface="楷体_GB2312" pitchFamily="49" charset="-122"/>
                <a:ea typeface="楷体_GB2312" pitchFamily="49" charset="-122"/>
              </a:rPr>
              <a:t>去除或提取采样数据趋势项</a:t>
            </a:r>
            <a:endParaRPr lang="zh-CN" altLang="en-US" b="1" dirty="0">
              <a:solidFill>
                <a:srgbClr val="3366CC"/>
              </a:solidFill>
              <a:effectLst>
                <a:outerShdw blurRad="38100" dist="38100" dir="2700000">
                  <a:srgbClr val="C0C0C0"/>
                </a:outerShdw>
              </a:effectLst>
              <a:latin typeface="楷体_GB2312" pitchFamily="49" charset="-122"/>
              <a:ea typeface="楷体_GB2312" pitchFamily="49" charset="-122"/>
            </a:endParaRPr>
          </a:p>
        </p:txBody>
      </p:sp>
      <p:sp>
        <p:nvSpPr>
          <p:cNvPr id="1483814" name="矩形 1483813"/>
          <p:cNvSpPr/>
          <p:nvPr/>
        </p:nvSpPr>
        <p:spPr>
          <a:xfrm>
            <a:off x="1741488" y="4229100"/>
            <a:ext cx="6162675" cy="744538"/>
          </a:xfrm>
          <a:prstGeom prst="rect">
            <a:avLst/>
          </a:prstGeom>
          <a:noFill/>
          <a:ln w="9525">
            <a:noFill/>
          </a:ln>
        </p:spPr>
        <p:txBody>
          <a:bodyPr lIns="82550" tIns="41275" rIns="82550" bIns="41275"/>
          <a:p>
            <a:pPr marL="476250" indent="-476250" defTabSz="678180" eaLnBrk="0" hangingPunct="0">
              <a:lnSpc>
                <a:spcPct val="130000"/>
              </a:lnSpc>
              <a:spcBef>
                <a:spcPct val="50000"/>
              </a:spcBef>
              <a:buClr>
                <a:srgbClr val="000066"/>
              </a:buClr>
              <a:buSzPct val="75000"/>
              <a:buFont typeface="Wingdings" panose="05000000000000000000" pitchFamily="2" charset="2"/>
            </a:pPr>
            <a:r>
              <a:rPr lang="en-US" altLang="zh-CN" b="1">
                <a:solidFill>
                  <a:srgbClr val="000099"/>
                </a:solidFill>
                <a:effectLst>
                  <a:outerShdw blurRad="38100" dist="38100" dir="2700000">
                    <a:srgbClr val="C0C0C0"/>
                  </a:outerShdw>
                </a:effectLst>
                <a:latin typeface="Arial Black" panose="020B0A04020102020204" pitchFamily="34" charset="0"/>
                <a:ea typeface="宋体" panose="02010600030101010101" pitchFamily="2" charset="-122"/>
              </a:rPr>
              <a:t>10.5 </a:t>
            </a:r>
            <a:r>
              <a:rPr lang="zh-CN" altLang="en-US" b="1" dirty="0">
                <a:solidFill>
                  <a:srgbClr val="333399"/>
                </a:solidFill>
                <a:effectLst>
                  <a:outerShdw blurRad="38100" dist="38100" dir="2700000">
                    <a:srgbClr val="C0C0C0"/>
                  </a:outerShdw>
                </a:effectLst>
                <a:latin typeface="Times New Roman" panose="02020603050405020304" pitchFamily="18" charset="0"/>
                <a:ea typeface="楷体_GB2312" pitchFamily="49" charset="-122"/>
              </a:rPr>
              <a:t>采样数据的平滑处理</a:t>
            </a:r>
            <a:endParaRPr lang="zh-CN" altLang="en-US" b="1" dirty="0">
              <a:solidFill>
                <a:srgbClr val="333399"/>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1483816" name="任意多边形 1483815"/>
          <p:cNvSpPr/>
          <p:nvPr/>
        </p:nvSpPr>
        <p:spPr>
          <a:xfrm>
            <a:off x="1054100" y="3057525"/>
            <a:ext cx="217488" cy="847725"/>
          </a:xfrm>
          <a:custGeom>
            <a:avLst/>
            <a:gdLst/>
            <a:ahLst/>
            <a:cxnLst/>
            <a:pathLst>
              <a:path w="144" h="144">
                <a:moveTo>
                  <a:pt x="0" y="0"/>
                </a:moveTo>
                <a:lnTo>
                  <a:pt x="0" y="144"/>
                </a:lnTo>
                <a:lnTo>
                  <a:pt x="144" y="144"/>
                </a:lnTo>
              </a:path>
            </a:pathLst>
          </a:custGeom>
          <a:noFill/>
          <a:ln w="12700" cap="flat" cmpd="sng">
            <a:solidFill>
              <a:schemeClr val="bg2">
                <a:alpha val="100000"/>
              </a:schemeClr>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1483817" name="任意多边形 1483816"/>
          <p:cNvSpPr/>
          <p:nvPr/>
        </p:nvSpPr>
        <p:spPr>
          <a:xfrm>
            <a:off x="1054100" y="3863975"/>
            <a:ext cx="217488" cy="808038"/>
          </a:xfrm>
          <a:custGeom>
            <a:avLst/>
            <a:gdLst/>
            <a:ahLst/>
            <a:cxnLst/>
            <a:pathLst>
              <a:path w="144" h="144">
                <a:moveTo>
                  <a:pt x="0" y="0"/>
                </a:moveTo>
                <a:lnTo>
                  <a:pt x="0" y="144"/>
                </a:lnTo>
                <a:lnTo>
                  <a:pt x="144" y="144"/>
                </a:lnTo>
              </a:path>
            </a:pathLst>
          </a:custGeom>
          <a:noFill/>
          <a:ln w="12700" cap="flat" cmpd="sng">
            <a:solidFill>
              <a:schemeClr val="bg2">
                <a:alpha val="100000"/>
              </a:schemeClr>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1483779" name="矩形 1483778"/>
          <p:cNvSpPr/>
          <p:nvPr/>
        </p:nvSpPr>
        <p:spPr>
          <a:xfrm>
            <a:off x="0" y="455613"/>
            <a:ext cx="609600" cy="5486400"/>
          </a:xfrm>
          <a:prstGeom prst="rect">
            <a:avLst/>
          </a:prstGeom>
          <a:solidFill>
            <a:schemeClr val="folHlink"/>
          </a:solidFill>
          <a:ln w="12700">
            <a:noFill/>
          </a:ln>
        </p:spPr>
        <p:txBody>
          <a:bodyPr/>
          <a:p>
            <a:pPr eaLnBrk="1" hangingPunct="1">
              <a:lnSpc>
                <a:spcPct val="90000"/>
              </a:lnSpc>
            </a:pPr>
            <a:endParaRPr lang="zh-CN" altLang="en-US" b="1">
              <a:solidFill>
                <a:srgbClr val="333399"/>
              </a:solidFill>
            </a:endParaRPr>
          </a:p>
        </p:txBody>
      </p:sp>
    </p:spTree>
  </p:cSld>
  <p:clrMapOvr>
    <a:masterClrMapping/>
  </p:clrMapOvr>
  <p:transition spd="med">
    <p:cover/>
  </p:transition>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57955" name="矩形 2557954"/>
          <p:cNvSpPr/>
          <p:nvPr/>
        </p:nvSpPr>
        <p:spPr>
          <a:xfrm>
            <a:off x="573088" y="2360613"/>
            <a:ext cx="6051550" cy="519112"/>
          </a:xfrm>
          <a:prstGeom prst="rect">
            <a:avLst/>
          </a:prstGeom>
          <a:noFill/>
          <a:ln w="9525">
            <a:noFill/>
          </a:ln>
        </p:spPr>
        <p:txBody>
          <a:bodyPr wrap="none" anchor="ctr" anchorCtr="0">
            <a:spAutoFit/>
          </a:bodyPr>
          <a:p>
            <a:pPr eaLnBrk="1" hangingPunct="1">
              <a:lnSpc>
                <a:spcPct val="100000"/>
              </a:lnSpc>
            </a:pPr>
            <a:r>
              <a:rPr lang="en-US" altLang="zh-CN" sz="2800" b="1" dirty="0">
                <a:solidFill>
                  <a:srgbClr val="3333FF"/>
                </a:solidFill>
                <a:effectLst>
                  <a:outerShdw blurRad="38100" dist="38100" dir="2700000">
                    <a:srgbClr val="C0C0C0"/>
                  </a:outerShdw>
                </a:effectLst>
                <a:latin typeface="楷体_GB2312" pitchFamily="49" charset="-122"/>
                <a:ea typeface="楷体_GB2312" pitchFamily="49" charset="-122"/>
              </a:rPr>
              <a:t>① </a:t>
            </a:r>
            <a:r>
              <a:rPr lang="zh-CN" altLang="en-US" sz="28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各种物理量有不同的单位和数值。</a:t>
            </a:r>
            <a:endParaRPr lang="zh-CN" altLang="en-US" sz="28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57956" name="矩形 2557955"/>
          <p:cNvSpPr/>
          <p:nvPr/>
        </p:nvSpPr>
        <p:spPr>
          <a:xfrm>
            <a:off x="466725" y="735013"/>
            <a:ext cx="8007350" cy="1433512"/>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采样数据的预处理：通常指用软件去掉干扰成分，</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使采样数据尽可能接近真实值，以便数据的二次处</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理结果更加精确。</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57957" name="矩形 2557956"/>
          <p:cNvSpPr/>
          <p:nvPr/>
        </p:nvSpPr>
        <p:spPr>
          <a:xfrm>
            <a:off x="1116013" y="2909888"/>
            <a:ext cx="7812087" cy="519112"/>
          </a:xfrm>
          <a:prstGeom prst="rect">
            <a:avLst/>
          </a:prstGeom>
          <a:noFill/>
          <a:ln w="9525">
            <a:noFill/>
          </a:ln>
        </p:spPr>
        <p:txBody>
          <a:bodyPr anchor="ctr" anchorCtr="0">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压力的单位为</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Pa</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温度的单位为</a:t>
            </a:r>
            <a:r>
              <a:rPr lang="en-US" altLang="zh-CN"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0">
                <a:solidFill>
                  <a:schemeClr val="tx1"/>
                </a:solidFill>
                <a:latin typeface="Arial" panose="020B0604020202020204" pitchFamily="34" charset="0"/>
                <a:ea typeface="宋体" panose="02010600030101010101" pitchFamily="2" charset="-122"/>
              </a:rPr>
              <a:t> </a:t>
            </a:r>
            <a:endParaRPr lang="en-US" altLang="zh-CN" sz="2800" b="1">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57958" name="矩形 2557957"/>
          <p:cNvSpPr/>
          <p:nvPr/>
        </p:nvSpPr>
        <p:spPr>
          <a:xfrm>
            <a:off x="577850" y="3419475"/>
            <a:ext cx="8423275" cy="946150"/>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②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物理量经</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D</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转换后变成一系列无单位的数字量</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数字量的变化范围由</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ADC</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的位数决定。</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57959" name="矩形 2557958"/>
          <p:cNvSpPr/>
          <p:nvPr/>
        </p:nvSpPr>
        <p:spPr>
          <a:xfrm>
            <a:off x="360363" y="4616450"/>
            <a:ext cx="8675687" cy="1373188"/>
          </a:xfrm>
          <a:prstGeom prst="rect">
            <a:avLst/>
          </a:prstGeom>
          <a:noFill/>
          <a:ln w="9525">
            <a:noFill/>
          </a:ln>
        </p:spPr>
        <p:txBody>
          <a:bodyPr anchor="ctr" anchorCtr="0">
            <a:spAutoFit/>
          </a:bodyPr>
          <a:p>
            <a:pPr eaLnBrk="1" hangingPunct="1">
              <a:lnSpc>
                <a:spcPct val="100000"/>
              </a:lnSpc>
            </a:pPr>
            <a:r>
              <a:rPr lang="en-US" altLang="zh-CN" sz="28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en-US" altLang="zh-CN" sz="9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例如，被测温度为</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50</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100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，采用</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4</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20 </a:t>
            </a:r>
            <a:r>
              <a:rPr lang="en-US" altLang="zh-CN" sz="2800" b="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mA</a:t>
            </a:r>
            <a:endParaRPr lang="en-US" altLang="zh-CN" sz="2800" b="1">
              <a:solidFill>
                <a:schemeClr val="tx1"/>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电流传送温度模拟信号，用</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8</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位</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D</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转换器转换成数</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字量。温度、电流、数字量之间的关系如下图所示。</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57960" name="文本框 255795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57956"/>
                                        </p:tgtEl>
                                        <p:attrNameLst>
                                          <p:attrName>style.visibility</p:attrName>
                                        </p:attrNameLst>
                                      </p:cBhvr>
                                      <p:to>
                                        <p:strVal val="visible"/>
                                      </p:to>
                                    </p:set>
                                    <p:animEffect transition="in" filter="dissolve">
                                      <p:cBhvr>
                                        <p:cTn id="7" dur="500"/>
                                        <p:tgtEl>
                                          <p:spTgt spid="255795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57955"/>
                                        </p:tgtEl>
                                        <p:attrNameLst>
                                          <p:attrName>style.visibility</p:attrName>
                                        </p:attrNameLst>
                                      </p:cBhvr>
                                      <p:to>
                                        <p:strVal val="visible"/>
                                      </p:to>
                                    </p:set>
                                    <p:animEffect transition="in" filter="wipe(left)">
                                      <p:cBhvr>
                                        <p:cTn id="12" dur="500"/>
                                        <p:tgtEl>
                                          <p:spTgt spid="2557955"/>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557957">
                                            <p:txEl>
                                              <p:charRg st="0" end="20"/>
                                            </p:txEl>
                                          </p:spTgt>
                                        </p:tgtEl>
                                        <p:attrNameLst>
                                          <p:attrName>style.visibility</p:attrName>
                                        </p:attrNameLst>
                                      </p:cBhvr>
                                      <p:to>
                                        <p:strVal val="visible"/>
                                      </p:to>
                                    </p:set>
                                    <p:animEffect transition="in" filter="dissolve">
                                      <p:cBhvr>
                                        <p:cTn id="15" dur="500"/>
                                        <p:tgtEl>
                                          <p:spTgt spid="2557957">
                                            <p:txEl>
                                              <p:charRg st="0" end="2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57958">
                                            <p:txEl>
                                              <p:charRg st="0" end="44"/>
                                            </p:txEl>
                                          </p:spTgt>
                                        </p:tgtEl>
                                        <p:attrNameLst>
                                          <p:attrName>style.visibility</p:attrName>
                                        </p:attrNameLst>
                                      </p:cBhvr>
                                      <p:to>
                                        <p:strVal val="visible"/>
                                      </p:to>
                                    </p:set>
                                    <p:animEffect transition="in" filter="wipe(left)">
                                      <p:cBhvr>
                                        <p:cTn id="20" dur="500"/>
                                        <p:tgtEl>
                                          <p:spTgt spid="2557958">
                                            <p:txEl>
                                              <p:charRg st="0" end="4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557959"/>
                                        </p:tgtEl>
                                        <p:attrNameLst>
                                          <p:attrName>style.visibility</p:attrName>
                                        </p:attrNameLst>
                                      </p:cBhvr>
                                      <p:to>
                                        <p:strVal val="visible"/>
                                      </p:to>
                                    </p:set>
                                    <p:animEffect transition="in" filter="dissolve">
                                      <p:cBhvr>
                                        <p:cTn id="25" dur="500"/>
                                        <p:tgtEl>
                                          <p:spTgt spid="25579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7955" grpId="0"/>
      <p:bldP spid="2557956" grpId="0"/>
      <p:bldP spid="2557957" grpId="0" build="p"/>
      <p:bldP spid="2557958" grpId="0" build="p"/>
      <p:bldP spid="2557959"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558995" name="表格 2558994"/>
          <p:cNvGraphicFramePr/>
          <p:nvPr/>
        </p:nvGraphicFramePr>
        <p:xfrm>
          <a:off x="541338" y="736600"/>
          <a:ext cx="6550025" cy="820738"/>
        </p:xfrm>
        <a:graphic>
          <a:graphicData uri="http://schemas.openxmlformats.org/drawingml/2006/table">
            <a:tbl>
              <a:tblPr/>
              <a:tblGrid>
                <a:gridCol w="6550025"/>
              </a:tblGrid>
              <a:tr h="820738">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algn="just" defTabSz="914400">
                        <a:spcBef>
                          <a:spcPct val="0"/>
                        </a:spcBef>
                        <a:buNone/>
                      </a:pPr>
                      <a:r>
                        <a:rPr lang="zh-CN" altLang="en-US" sz="2400" b="0" dirty="0">
                          <a:solidFill>
                            <a:schemeClr val="accent2"/>
                          </a:solidFill>
                          <a:effectLst>
                            <a:outerShdw blurRad="38100" dist="38100" dir="2700000">
                              <a:srgbClr val="C0C0C0"/>
                            </a:outerShdw>
                          </a:effectLst>
                          <a:latin typeface="楷体_GB2312" pitchFamily="49" charset="-122"/>
                          <a:ea typeface="楷体_GB2312" pitchFamily="49" charset="-122"/>
                        </a:rPr>
                        <a:t>变送器输      </a:t>
                      </a:r>
                      <a:r>
                        <a:rPr lang="en-US" altLang="zh-CN" sz="2400" b="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400" b="0">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400" b="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D</a:t>
                      </a:r>
                      <a:r>
                        <a:rPr lang="zh-CN" altLang="en-US" sz="2400" b="0" dirty="0">
                          <a:solidFill>
                            <a:schemeClr val="accent2"/>
                          </a:solidFill>
                          <a:effectLst>
                            <a:outerShdw blurRad="38100" dist="38100" dir="2700000">
                              <a:srgbClr val="C0C0C0"/>
                            </a:outerShdw>
                          </a:effectLst>
                          <a:latin typeface="楷体_GB2312" pitchFamily="49" charset="-122"/>
                          <a:ea typeface="楷体_GB2312" pitchFamily="49" charset="-122"/>
                        </a:rPr>
                        <a:t>转换    温度</a:t>
                      </a:r>
                      <a:r>
                        <a:rPr lang="en-US" altLang="zh-CN" sz="2400" b="0">
                          <a:solidFill>
                            <a:schemeClr val="accent2"/>
                          </a:solidFill>
                          <a:effectLst>
                            <a:outerShdw blurRad="38100" dist="38100" dir="2700000">
                              <a:srgbClr val="C0C0C0"/>
                            </a:outerShdw>
                          </a:effectLst>
                          <a:latin typeface="楷体_GB2312" pitchFamily="49" charset="-122"/>
                          <a:ea typeface="楷体_GB2312" pitchFamily="49" charset="-122"/>
                        </a:rPr>
                        <a:t>(℃) </a:t>
                      </a:r>
                      <a:endParaRPr lang="en-US" altLang="zh-CN" sz="2400" b="0">
                        <a:solidFill>
                          <a:schemeClr val="accent2"/>
                        </a:solidFill>
                        <a:effectLst>
                          <a:outerShdw blurRad="38100" dist="38100" dir="2700000">
                            <a:srgbClr val="C0C0C0"/>
                          </a:outerShdw>
                        </a:effectLst>
                        <a:latin typeface="楷体_GB2312" pitchFamily="49" charset="-122"/>
                        <a:ea typeface="楷体_GB2312" pitchFamily="49" charset="-122"/>
                      </a:endParaRPr>
                    </a:p>
                    <a:p>
                      <a:pPr marL="0" lvl="0" indent="0" algn="just" defTabSz="914400">
                        <a:spcBef>
                          <a:spcPct val="0"/>
                        </a:spcBef>
                        <a:buNone/>
                      </a:pPr>
                      <a:r>
                        <a:rPr lang="zh-CN" altLang="en-US" sz="2400" b="0" dirty="0">
                          <a:solidFill>
                            <a:schemeClr val="accent2"/>
                          </a:solidFill>
                          <a:effectLst>
                            <a:outerShdw blurRad="38100" dist="38100" dir="2700000">
                              <a:srgbClr val="C0C0C0"/>
                            </a:outerShdw>
                          </a:effectLst>
                          <a:latin typeface="楷体_GB2312" pitchFamily="49" charset="-122"/>
                          <a:ea typeface="楷体_GB2312" pitchFamily="49" charset="-122"/>
                        </a:rPr>
                        <a:t>出电流</a:t>
                      </a:r>
                      <a:r>
                        <a:rPr lang="en-US" altLang="zh-CN" sz="2400" b="0">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400" b="0"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mA</a:t>
                      </a:r>
                      <a:r>
                        <a:rPr lang="en-US" altLang="zh-CN" sz="2400" b="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400" b="0" dirty="0">
                          <a:solidFill>
                            <a:schemeClr val="accent2"/>
                          </a:solidFill>
                          <a:effectLst>
                            <a:outerShdw blurRad="38100" dist="38100" dir="2700000">
                              <a:srgbClr val="C0C0C0"/>
                            </a:outerShdw>
                          </a:effectLst>
                          <a:latin typeface="楷体_GB2312" pitchFamily="49" charset="-122"/>
                          <a:ea typeface="楷体_GB2312" pitchFamily="49" charset="-122"/>
                        </a:rPr>
                        <a:t>器输出</a:t>
                      </a:r>
                      <a:endParaRPr lang="zh-CN" altLang="en-US" sz="2400" b="0">
                        <a:solidFill>
                          <a:schemeClr val="accent2"/>
                        </a:solidFill>
                        <a:effectLst>
                          <a:outerShdw blurRad="38100" dist="38100" dir="2700000">
                            <a:srgbClr val="C0C0C0"/>
                          </a:outerShdw>
                        </a:effectLst>
                        <a:latin typeface="楷体_GB2312" pitchFamily="49" charset="-122"/>
                        <a:ea typeface="楷体_GB2312" pitchFamily="49" charset="-122"/>
                      </a:endParaRPr>
                    </a:p>
                  </a:txBody>
                  <a:tcPr>
                    <a:lnL cap="flat">
                      <a:noFill/>
                    </a:lnL>
                    <a:lnR cap="flat">
                      <a:noFill/>
                    </a:lnR>
                    <a:lnT cap="flat">
                      <a:noFill/>
                    </a:lnT>
                    <a:lnB cap="flat">
                      <a:noFill/>
                    </a:lnB>
                    <a:lnTlToBr>
                      <a:noFill/>
                    </a:lnTlToBr>
                    <a:lnBlToTr>
                      <a:noFill/>
                    </a:lnBlToTr>
                    <a:noFill/>
                  </a:tcPr>
                </a:tc>
              </a:tr>
            </a:tbl>
          </a:graphicData>
        </a:graphic>
      </p:graphicFrame>
      <p:pic>
        <p:nvPicPr>
          <p:cNvPr id="2558985" name="图片 2558984"/>
          <p:cNvPicPr>
            <a:picLocks noChangeAspect="1"/>
          </p:cNvPicPr>
          <p:nvPr/>
        </p:nvPicPr>
        <p:blipFill>
          <a:blip r:embed="rId1"/>
          <a:stretch>
            <a:fillRect/>
          </a:stretch>
        </p:blipFill>
        <p:spPr>
          <a:xfrm>
            <a:off x="719138" y="1624013"/>
            <a:ext cx="5183187" cy="4541837"/>
          </a:xfrm>
          <a:prstGeom prst="rect">
            <a:avLst/>
          </a:prstGeom>
          <a:noFill/>
          <a:ln w="9525">
            <a:noFill/>
          </a:ln>
        </p:spPr>
      </p:pic>
      <p:sp>
        <p:nvSpPr>
          <p:cNvPr id="2558992" name="矩形 2558991"/>
          <p:cNvSpPr/>
          <p:nvPr/>
        </p:nvSpPr>
        <p:spPr>
          <a:xfrm>
            <a:off x="6083300" y="2125663"/>
            <a:ext cx="2701925" cy="3081337"/>
          </a:xfrm>
          <a:prstGeom prst="rect">
            <a:avLst/>
          </a:prstGeom>
          <a:noFill/>
          <a:ln w="9525">
            <a:noFill/>
          </a:ln>
        </p:spPr>
        <p:txBody>
          <a:bodyPr anchor="ctr" anchorCtr="0">
            <a:spAutoFit/>
          </a:bodyPr>
          <a:p>
            <a:pPr indent="269875"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当温度为</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100</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时，</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ADC</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的输出为</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255</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a:p>
            <a:pPr indent="269875" eaLnBrk="1" hangingPunct="1">
              <a:lnSpc>
                <a:spcPct val="100000"/>
              </a:lnSpc>
            </a:pP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a:p>
            <a:pPr indent="269875"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当温度为</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75</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时，</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ADC</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的输出为</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153</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58993" name="文本框 2558992"/>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558992">
                                            <p:txEl>
                                              <p:charRg st="0" end="24"/>
                                            </p:txEl>
                                          </p:spTgt>
                                        </p:tgtEl>
                                        <p:attrNameLst>
                                          <p:attrName>style.visibility</p:attrName>
                                        </p:attrNameLst>
                                      </p:cBhvr>
                                      <p:to>
                                        <p:strVal val="visible"/>
                                      </p:to>
                                    </p:set>
                                    <p:animEffect transition="in" filter="wipe(left)">
                                      <p:cBhvr>
                                        <p:cTn id="7" dur="500"/>
                                        <p:tgtEl>
                                          <p:spTgt spid="2558992">
                                            <p:txEl>
                                              <p:charRg st="0" end="24"/>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58992">
                                            <p:txEl>
                                              <p:charRg st="25" end="48"/>
                                            </p:txEl>
                                          </p:spTgt>
                                        </p:tgtEl>
                                        <p:attrNameLst>
                                          <p:attrName>style.visibility</p:attrName>
                                        </p:attrNameLst>
                                      </p:cBhvr>
                                      <p:to>
                                        <p:strVal val="visible"/>
                                      </p:to>
                                    </p:set>
                                    <p:animEffect transition="in" filter="wipe(left)">
                                      <p:cBhvr>
                                        <p:cTn id="12" dur="500"/>
                                        <p:tgtEl>
                                          <p:spTgt spid="2558992">
                                            <p:txEl>
                                              <p:charRg st="25" end="4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8992" grpId="0" uiExpand="1" build="p"/>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0003" name="矩形 2560002"/>
          <p:cNvSpPr/>
          <p:nvPr/>
        </p:nvSpPr>
        <p:spPr>
          <a:xfrm>
            <a:off x="755650" y="2763838"/>
            <a:ext cx="7943850" cy="519112"/>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③</a:t>
            </a: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计算机要对</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物理量进行判断、显示。</a:t>
            </a:r>
            <a:endPar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0004" name="矩形 2560003"/>
          <p:cNvSpPr/>
          <p:nvPr/>
        </p:nvSpPr>
        <p:spPr>
          <a:xfrm>
            <a:off x="800100" y="1308100"/>
            <a:ext cx="7899400"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可见，如果直接把</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D</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转换器输出的数字量显示或打印出来，操作者不好理解。</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0006" name="文本框 256000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2560007" name="矩形 2560006"/>
          <p:cNvSpPr/>
          <p:nvPr/>
        </p:nvSpPr>
        <p:spPr>
          <a:xfrm>
            <a:off x="755650" y="3400425"/>
            <a:ext cx="7777163" cy="1433513"/>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即必须把</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A/D</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转换的数字量变换为带有工程单位的数字量（十进制），称为标度变换或工程变换。</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0004"/>
                                        </p:tgtEl>
                                        <p:attrNameLst>
                                          <p:attrName>style.visibility</p:attrName>
                                        </p:attrNameLst>
                                      </p:cBhvr>
                                      <p:to>
                                        <p:strVal val="visible"/>
                                      </p:to>
                                    </p:set>
                                    <p:animEffect transition="in" filter="dissolve">
                                      <p:cBhvr>
                                        <p:cTn id="7" dur="500"/>
                                        <p:tgtEl>
                                          <p:spTgt spid="256000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0003"/>
                                        </p:tgtEl>
                                        <p:attrNameLst>
                                          <p:attrName>style.visibility</p:attrName>
                                        </p:attrNameLst>
                                      </p:cBhvr>
                                      <p:to>
                                        <p:strVal val="visible"/>
                                      </p:to>
                                    </p:set>
                                    <p:animEffect transition="in" filter="wipe(left)">
                                      <p:cBhvr>
                                        <p:cTn id="12" dur="500"/>
                                        <p:tgtEl>
                                          <p:spTgt spid="256000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60007"/>
                                        </p:tgtEl>
                                        <p:attrNameLst>
                                          <p:attrName>style.visibility</p:attrName>
                                        </p:attrNameLst>
                                      </p:cBhvr>
                                      <p:to>
                                        <p:strVal val="visible"/>
                                      </p:to>
                                    </p:set>
                                    <p:animEffect transition="in" filter="dissolve">
                                      <p:cBhvr>
                                        <p:cTn id="17" dur="500"/>
                                        <p:tgtEl>
                                          <p:spTgt spid="25600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03" grpId="0"/>
      <p:bldP spid="2560004" grpId="0"/>
      <p:bldP spid="2560007"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2051" name="矩形 2562050"/>
          <p:cNvSpPr/>
          <p:nvPr/>
        </p:nvSpPr>
        <p:spPr>
          <a:xfrm>
            <a:off x="684213" y="800100"/>
            <a:ext cx="4824412" cy="579438"/>
          </a:xfrm>
          <a:prstGeom prst="rect">
            <a:avLst/>
          </a:prstGeom>
          <a:noFill/>
          <a:ln w="9525">
            <a:noFill/>
          </a:ln>
        </p:spPr>
        <p:txBody>
          <a:bodyPr wrap="none" anchor="ctr" anchorCtr="0">
            <a:spAutoFit/>
          </a:bodyPr>
          <a:p>
            <a:pPr eaLnBrk="1" hangingPunct="1">
              <a:lnSpc>
                <a:spcPct val="100000"/>
              </a:lnSpc>
            </a:pPr>
            <a:r>
              <a:rPr lang="en-US" altLang="zh-CN" sz="3200" b="1">
                <a:solidFill>
                  <a:schemeClr val="accent2"/>
                </a:solidFill>
                <a:effectLst>
                  <a:outerShdw blurRad="38100" dist="38100" dir="2700000">
                    <a:srgbClr val="C0C0C0"/>
                  </a:outerShdw>
                </a:effectLst>
                <a:latin typeface="Arial Black" panose="020B0A04020102020204" pitchFamily="34" charset="0"/>
                <a:ea typeface="宋体" panose="02010600030101010101" pitchFamily="2" charset="-122"/>
              </a:rPr>
              <a:t>1.</a:t>
            </a:r>
            <a:r>
              <a:rPr lang="en-US" altLang="zh-CN" sz="3200" b="1">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线性参数的标度变换</a:t>
            </a:r>
            <a:r>
              <a:rPr lang="zh-CN" altLang="en-US" sz="3200" b="1" dirty="0">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endParaRPr>
          </a:p>
        </p:txBody>
      </p:sp>
      <p:sp>
        <p:nvSpPr>
          <p:cNvPr id="2562052" name="矩形 2562051"/>
          <p:cNvSpPr/>
          <p:nvPr/>
        </p:nvSpPr>
        <p:spPr>
          <a:xfrm>
            <a:off x="808038" y="1406525"/>
            <a:ext cx="7688262"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当被测物理量与传感器或仪表的输出关系为线性关系时，采用线性变换。</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62055" name="矩形 2562054"/>
          <p:cNvSpPr/>
          <p:nvPr/>
        </p:nvSpPr>
        <p:spPr>
          <a:xfrm>
            <a:off x="0" y="3779838"/>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sp>
        <p:nvSpPr>
          <p:cNvPr id="2562056" name="文本框 256205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graphicFrame>
        <p:nvGraphicFramePr>
          <p:cNvPr id="2562057" name="对象 2562056"/>
          <p:cNvGraphicFramePr/>
          <p:nvPr/>
        </p:nvGraphicFramePr>
        <p:xfrm>
          <a:off x="2195513" y="2727325"/>
          <a:ext cx="4787900" cy="1052513"/>
        </p:xfrm>
        <a:graphic>
          <a:graphicData uri="http://schemas.openxmlformats.org/presentationml/2006/ole">
            <mc:AlternateContent xmlns:mc="http://schemas.openxmlformats.org/markup-compatibility/2006">
              <mc:Choice xmlns:v="urn:schemas-microsoft-com:vml" Requires="v">
                <p:oleObj spid="_x0000_s3077" name="" r:id="rId1" imgW="1765300" imgH="431800" progId="Equation.3">
                  <p:embed/>
                </p:oleObj>
              </mc:Choice>
              <mc:Fallback>
                <p:oleObj name="" r:id="rId1" imgW="1765300" imgH="431800" progId="Equation.3">
                  <p:embed/>
                  <p:pic>
                    <p:nvPicPr>
                      <p:cNvPr id="0" name="图片 3076"/>
                      <p:cNvPicPr/>
                      <p:nvPr/>
                    </p:nvPicPr>
                    <p:blipFill>
                      <a:blip r:embed="rId2"/>
                      <a:stretch>
                        <a:fillRect/>
                      </a:stretch>
                    </p:blipFill>
                    <p:spPr>
                      <a:xfrm>
                        <a:off x="2195513" y="2727325"/>
                        <a:ext cx="4787900" cy="1052513"/>
                      </a:xfrm>
                      <a:prstGeom prst="rect">
                        <a:avLst/>
                      </a:prstGeom>
                      <a:noFill/>
                      <a:ln w="38100">
                        <a:noFill/>
                        <a:miter/>
                      </a:ln>
                    </p:spPr>
                  </p:pic>
                </p:oleObj>
              </mc:Fallback>
            </mc:AlternateContent>
          </a:graphicData>
        </a:graphic>
      </p:graphicFrame>
      <p:sp>
        <p:nvSpPr>
          <p:cNvPr id="2562065" name="矩形 2562064"/>
          <p:cNvSpPr/>
          <p:nvPr/>
        </p:nvSpPr>
        <p:spPr>
          <a:xfrm>
            <a:off x="658813" y="3968750"/>
            <a:ext cx="3714750" cy="519113"/>
          </a:xfrm>
          <a:prstGeom prst="rect">
            <a:avLst/>
          </a:prstGeom>
          <a:noFill/>
          <a:ln w="9525">
            <a:noFill/>
          </a:ln>
        </p:spPr>
        <p:txBody>
          <a:bodyPr wrap="none" anchor="ctr" anchorCtr="0">
            <a:spAutoFit/>
          </a:bodyPr>
          <a:p>
            <a:pPr eaLnBrk="1" hangingPunct="1">
              <a:lnSpc>
                <a:spcPct val="100000"/>
              </a:lnSpc>
            </a:pPr>
            <a:r>
              <a:rPr lang="en-US" altLang="zh-CN" sz="24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4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0</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：被测量量程的下限；</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2066" name="矩形 2562065"/>
          <p:cNvSpPr/>
          <p:nvPr/>
        </p:nvSpPr>
        <p:spPr>
          <a:xfrm>
            <a:off x="4695825" y="3968750"/>
            <a:ext cx="3783013" cy="519113"/>
          </a:xfrm>
          <a:prstGeom prst="rect">
            <a:avLst/>
          </a:prstGeom>
          <a:noFill/>
          <a:ln w="9525">
            <a:noFill/>
          </a:ln>
        </p:spPr>
        <p:txBody>
          <a:bodyPr wrap="none" anchor="ctr" anchorCtr="0">
            <a:spAutoFit/>
          </a:bodyPr>
          <a:p>
            <a:pPr eaLnBrk="1" hangingPunct="1">
              <a:lnSpc>
                <a:spcPct val="100000"/>
              </a:lnSpc>
            </a:pPr>
            <a:r>
              <a:rPr lang="en-US" altLang="zh-CN" sz="24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400" b="1" baseline="-25000"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m</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：被测量量程的上限；</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2067" name="矩形 2562066"/>
          <p:cNvSpPr/>
          <p:nvPr/>
        </p:nvSpPr>
        <p:spPr>
          <a:xfrm>
            <a:off x="641350" y="4652963"/>
            <a:ext cx="4362450" cy="519112"/>
          </a:xfrm>
          <a:prstGeom prst="rect">
            <a:avLst/>
          </a:prstGeom>
          <a:noFill/>
          <a:ln w="9525">
            <a:noFill/>
          </a:ln>
        </p:spPr>
        <p:txBody>
          <a:bodyPr wrap="none" anchor="ctr" anchorCtr="0">
            <a:spAutoFit/>
          </a:bodyPr>
          <a:p>
            <a:pPr eaLnBrk="1" hangingPunct="1">
              <a:lnSpc>
                <a:spcPct val="100000"/>
              </a:lnSpc>
            </a:pPr>
            <a:r>
              <a:rPr lang="en-US" altLang="zh-CN" sz="24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4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0</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：传感器输出电压的下限；</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2068" name="矩形 2562067"/>
          <p:cNvSpPr/>
          <p:nvPr/>
        </p:nvSpPr>
        <p:spPr>
          <a:xfrm>
            <a:off x="4676775" y="4714875"/>
            <a:ext cx="4251325" cy="457200"/>
          </a:xfrm>
          <a:prstGeom prst="rect">
            <a:avLst/>
          </a:prstGeom>
          <a:noFill/>
          <a:ln w="9525">
            <a:noFill/>
          </a:ln>
        </p:spPr>
        <p:txBody>
          <a:bodyPr wrap="none" anchor="ctr" anchorCtr="0">
            <a:spAutoFit/>
          </a:bodyPr>
          <a:p>
            <a:pPr eaLnBrk="1" hangingPunct="1">
              <a:lnSpc>
                <a:spcPct val="100000"/>
              </a:lnSpc>
            </a:pPr>
            <a:r>
              <a:rPr lang="en-US" altLang="zh-CN" sz="24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4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m</a:t>
            </a:r>
            <a:r>
              <a:rPr lang="zh-CN" altLang="en-US" sz="24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传感器输出电压的上限；</a:t>
            </a:r>
            <a:endPar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2069" name="矩形 2562068"/>
          <p:cNvSpPr/>
          <p:nvPr/>
        </p:nvSpPr>
        <p:spPr>
          <a:xfrm>
            <a:off x="684213" y="5365750"/>
            <a:ext cx="3273425" cy="519113"/>
          </a:xfrm>
          <a:prstGeom prst="rect">
            <a:avLst/>
          </a:prstGeom>
          <a:noFill/>
          <a:ln w="9525">
            <a:noFill/>
          </a:ln>
        </p:spPr>
        <p:txBody>
          <a:bodyPr wrap="none" anchor="ctr" anchorCtr="0">
            <a:spAutoFit/>
          </a:bodyPr>
          <a:p>
            <a:pPr eaLnBrk="1" hangingPunct="1">
              <a:lnSpc>
                <a:spcPct val="100000"/>
              </a:lnSpc>
            </a:pPr>
            <a:r>
              <a:rPr lang="en-US" altLang="zh-CN" sz="24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 </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：待变换的数值；</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2070" name="矩形 2562069"/>
          <p:cNvSpPr/>
          <p:nvPr/>
        </p:nvSpPr>
        <p:spPr>
          <a:xfrm>
            <a:off x="4895850" y="5365750"/>
            <a:ext cx="3179763" cy="519113"/>
          </a:xfrm>
          <a:prstGeom prst="rect">
            <a:avLst/>
          </a:prstGeom>
          <a:noFill/>
          <a:ln w="9525">
            <a:noFill/>
          </a:ln>
        </p:spPr>
        <p:txBody>
          <a:bodyPr wrap="none" anchor="ctr" anchorCtr="0">
            <a:spAutoFit/>
          </a:bodyPr>
          <a:p>
            <a:pPr eaLnBrk="1" hangingPunct="1">
              <a:lnSpc>
                <a:spcPct val="100000"/>
              </a:lnSpc>
            </a:pPr>
            <a:r>
              <a:rPr lang="en-US" altLang="zh-CN" sz="24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Y</a:t>
            </a:r>
            <a:r>
              <a:rPr lang="zh-CN" altLang="en-US" sz="24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400" b="1" dirty="0">
                <a:solidFill>
                  <a:schemeClr val="accent2"/>
                </a:solidFill>
                <a:effectLst>
                  <a:outerShdw blurRad="38100" dist="38100" dir="2700000">
                    <a:srgbClr val="C0C0C0"/>
                  </a:outerShdw>
                </a:effectLst>
                <a:latin typeface="楷体_GB2312" pitchFamily="49" charset="-122"/>
                <a:ea typeface="楷体_GB2312" pitchFamily="49" charset="-122"/>
              </a:rPr>
              <a:t>变换后的数据。</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2051"/>
                                        </p:tgtEl>
                                        <p:attrNameLst>
                                          <p:attrName>style.visibility</p:attrName>
                                        </p:attrNameLst>
                                      </p:cBhvr>
                                      <p:to>
                                        <p:strVal val="visible"/>
                                      </p:to>
                                    </p:set>
                                    <p:animEffect transition="in" filter="dissolve">
                                      <p:cBhvr>
                                        <p:cTn id="7" dur="500"/>
                                        <p:tgtEl>
                                          <p:spTgt spid="25620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2052">
                                            <p:txEl>
                                              <p:charRg st="0" end="38"/>
                                            </p:txEl>
                                          </p:spTgt>
                                        </p:tgtEl>
                                        <p:attrNameLst>
                                          <p:attrName>style.visibility</p:attrName>
                                        </p:attrNameLst>
                                      </p:cBhvr>
                                      <p:to>
                                        <p:strVal val="visible"/>
                                      </p:to>
                                    </p:set>
                                    <p:animEffect transition="in" filter="wipe(left)">
                                      <p:cBhvr>
                                        <p:cTn id="12" dur="500"/>
                                        <p:tgtEl>
                                          <p:spTgt spid="2562052">
                                            <p:txEl>
                                              <p:charRg st="0" end="3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62057"/>
                                        </p:tgtEl>
                                        <p:attrNameLst>
                                          <p:attrName>style.visibility</p:attrName>
                                        </p:attrNameLst>
                                      </p:cBhvr>
                                      <p:to>
                                        <p:strVal val="visible"/>
                                      </p:to>
                                    </p:set>
                                    <p:animEffect transition="in" filter="dissolve">
                                      <p:cBhvr>
                                        <p:cTn id="17" dur="500"/>
                                        <p:tgtEl>
                                          <p:spTgt spid="256205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2065"/>
                                        </p:tgtEl>
                                        <p:attrNameLst>
                                          <p:attrName>style.visibility</p:attrName>
                                        </p:attrNameLst>
                                      </p:cBhvr>
                                      <p:to>
                                        <p:strVal val="visible"/>
                                      </p:to>
                                    </p:set>
                                    <p:animEffect transition="in" filter="wipe(left)">
                                      <p:cBhvr>
                                        <p:cTn id="22" dur="500"/>
                                        <p:tgtEl>
                                          <p:spTgt spid="2562065"/>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562066"/>
                                        </p:tgtEl>
                                        <p:attrNameLst>
                                          <p:attrName>style.visibility</p:attrName>
                                        </p:attrNameLst>
                                      </p:cBhvr>
                                      <p:to>
                                        <p:strVal val="visible"/>
                                      </p:to>
                                    </p:set>
                                    <p:animEffect transition="in" filter="wipe(left)">
                                      <p:cBhvr>
                                        <p:cTn id="25" dur="500"/>
                                        <p:tgtEl>
                                          <p:spTgt spid="2562066"/>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2562067"/>
                                        </p:tgtEl>
                                        <p:attrNameLst>
                                          <p:attrName>style.visibility</p:attrName>
                                        </p:attrNameLst>
                                      </p:cBhvr>
                                      <p:to>
                                        <p:strVal val="visible"/>
                                      </p:to>
                                    </p:set>
                                    <p:animEffect transition="in" filter="wipe(left)">
                                      <p:cBhvr>
                                        <p:cTn id="28" dur="500"/>
                                        <p:tgtEl>
                                          <p:spTgt spid="2562067"/>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2562068"/>
                                        </p:tgtEl>
                                        <p:attrNameLst>
                                          <p:attrName>style.visibility</p:attrName>
                                        </p:attrNameLst>
                                      </p:cBhvr>
                                      <p:to>
                                        <p:strVal val="visible"/>
                                      </p:to>
                                    </p:set>
                                    <p:animEffect transition="in" filter="wipe(left)">
                                      <p:cBhvr>
                                        <p:cTn id="31" dur="500"/>
                                        <p:tgtEl>
                                          <p:spTgt spid="2562068"/>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2562069"/>
                                        </p:tgtEl>
                                        <p:attrNameLst>
                                          <p:attrName>style.visibility</p:attrName>
                                        </p:attrNameLst>
                                      </p:cBhvr>
                                      <p:to>
                                        <p:strVal val="visible"/>
                                      </p:to>
                                    </p:set>
                                    <p:animEffect transition="in" filter="wipe(left)">
                                      <p:cBhvr>
                                        <p:cTn id="34" dur="500"/>
                                        <p:tgtEl>
                                          <p:spTgt spid="2562069"/>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2562070"/>
                                        </p:tgtEl>
                                        <p:attrNameLst>
                                          <p:attrName>style.visibility</p:attrName>
                                        </p:attrNameLst>
                                      </p:cBhvr>
                                      <p:to>
                                        <p:strVal val="visible"/>
                                      </p:to>
                                    </p:set>
                                    <p:animEffect transition="in" filter="wipe(left)">
                                      <p:cBhvr>
                                        <p:cTn id="37" dur="500"/>
                                        <p:tgtEl>
                                          <p:spTgt spid="25620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2051" grpId="0"/>
      <p:bldP spid="2562052" grpId="0" build="p"/>
      <p:bldP spid="2562065" grpId="0"/>
      <p:bldP spid="2562066" grpId="0"/>
      <p:bldP spid="2562067" grpId="0"/>
      <p:bldP spid="2562068" grpId="0"/>
      <p:bldP spid="2562069" grpId="0"/>
      <p:bldP spid="2562070"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4099" name="矩形 2564098"/>
          <p:cNvSpPr/>
          <p:nvPr/>
        </p:nvSpPr>
        <p:spPr>
          <a:xfrm>
            <a:off x="468313" y="1112838"/>
            <a:ext cx="8278812" cy="946150"/>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例如，</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在变送器的输出端跨接一个</a:t>
            </a:r>
            <a:r>
              <a:rPr lang="en-US" altLang="zh-CN" sz="2800" b="1">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250Ω</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电阻，将电流</a:t>
            </a:r>
            <a:endPar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4100" name="矩形 2564099"/>
          <p:cNvSpPr/>
          <p:nvPr/>
        </p:nvSpPr>
        <p:spPr>
          <a:xfrm>
            <a:off x="1298575" y="2420938"/>
            <a:ext cx="7016750" cy="519112"/>
          </a:xfrm>
          <a:prstGeom prst="rect">
            <a:avLst/>
          </a:prstGeom>
          <a:noFill/>
          <a:ln w="9525">
            <a:noFill/>
          </a:ln>
        </p:spPr>
        <p:txBody>
          <a:bodyPr>
            <a:spAutoFit/>
          </a:bodyPr>
          <a:p>
            <a:pPr eaLnBrk="1" hangingPunct="1">
              <a:lnSpc>
                <a:spcPct val="100000"/>
              </a:lnSpc>
            </a:pP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4mA → 1V</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20 </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mA</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→5V</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12 </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mA</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→3V</a:t>
            </a:r>
            <a:endPar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endParaRPr>
          </a:p>
        </p:txBody>
      </p:sp>
      <p:grpSp>
        <p:nvGrpSpPr>
          <p:cNvPr id="2564101" name="组合 2564100"/>
          <p:cNvGrpSpPr/>
          <p:nvPr/>
        </p:nvGrpSpPr>
        <p:grpSpPr>
          <a:xfrm>
            <a:off x="539750" y="3370263"/>
            <a:ext cx="7065963" cy="635000"/>
            <a:chOff x="340" y="2123"/>
            <a:chExt cx="4452" cy="400"/>
          </a:xfrm>
        </p:grpSpPr>
        <p:sp>
          <p:nvSpPr>
            <p:cNvPr id="2564102" name="矩形 2564101"/>
            <p:cNvSpPr/>
            <p:nvPr/>
          </p:nvSpPr>
          <p:spPr>
            <a:xfrm>
              <a:off x="340" y="2123"/>
              <a:ext cx="599" cy="365"/>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若</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64103" name="矩形 2564102"/>
            <p:cNvSpPr/>
            <p:nvPr/>
          </p:nvSpPr>
          <p:spPr>
            <a:xfrm>
              <a:off x="966" y="2158"/>
              <a:ext cx="3826" cy="365"/>
            </a:xfrm>
            <a:prstGeom prst="rect">
              <a:avLst/>
            </a:prstGeom>
            <a:noFill/>
            <a:ln w="9525">
              <a:noFill/>
            </a:ln>
          </p:spPr>
          <p:txBody>
            <a:bodyPr wrap="none" anchor="ctr" anchorCtr="0">
              <a:spAutoFit/>
            </a:bodyPr>
            <a:p>
              <a:pPr eaLnBrk="1" hangingPunct="1">
                <a:lnSpc>
                  <a:spcPct val="100000"/>
                </a:lnSpc>
              </a:pP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m</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=100</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0</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=50</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i="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m</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=5</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0</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=3</a:t>
              </a:r>
              <a:r>
                <a:rPr lang="en-US" altLang="zh-CN" sz="3200" b="1">
                  <a:solidFill>
                    <a:schemeClr val="tx1"/>
                  </a:solidFill>
                  <a:effectLst>
                    <a:outerShdw blurRad="38100" dist="38100" dir="2700000">
                      <a:srgbClr val="C0C0C0"/>
                    </a:outerShdw>
                  </a:effectLst>
                  <a:latin typeface="楷体_GB2312" pitchFamily="49" charset="-122"/>
                  <a:ea typeface="楷体_GB2312" pitchFamily="49" charset="-122"/>
                </a:rPr>
                <a:t> </a:t>
              </a:r>
              <a:endParaRPr lang="en-US" altLang="zh-CN" sz="3200" b="1">
                <a:solidFill>
                  <a:schemeClr val="tx1"/>
                </a:solidFill>
                <a:effectLst>
                  <a:outerShdw blurRad="38100" dist="38100" dir="2700000">
                    <a:srgbClr val="C0C0C0"/>
                  </a:outerShdw>
                </a:effectLst>
                <a:latin typeface="楷体_GB2312" pitchFamily="49" charset="-122"/>
                <a:ea typeface="楷体_GB2312" pitchFamily="49" charset="-122"/>
              </a:endParaRPr>
            </a:p>
          </p:txBody>
        </p:sp>
      </p:grpSp>
      <p:sp>
        <p:nvSpPr>
          <p:cNvPr id="2564104" name="矩形 2564103"/>
          <p:cNvSpPr/>
          <p:nvPr/>
        </p:nvSpPr>
        <p:spPr>
          <a:xfrm>
            <a:off x="539750" y="4662488"/>
            <a:ext cx="1308100" cy="579437"/>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则有</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4105" name="矩形 2564104"/>
          <p:cNvSpPr/>
          <p:nvPr/>
        </p:nvSpPr>
        <p:spPr>
          <a:xfrm>
            <a:off x="0" y="3181350"/>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grpSp>
        <p:nvGrpSpPr>
          <p:cNvPr id="2564106" name="组合 2564105"/>
          <p:cNvGrpSpPr/>
          <p:nvPr/>
        </p:nvGrpSpPr>
        <p:grpSpPr>
          <a:xfrm>
            <a:off x="1763713" y="4656138"/>
            <a:ext cx="6418262" cy="896937"/>
            <a:chOff x="1111" y="2801"/>
            <a:chExt cx="4605" cy="790"/>
          </a:xfrm>
        </p:grpSpPr>
        <p:graphicFrame>
          <p:nvGraphicFramePr>
            <p:cNvPr id="2564107" name="对象 2564106"/>
            <p:cNvGraphicFramePr/>
            <p:nvPr/>
          </p:nvGraphicFramePr>
          <p:xfrm>
            <a:off x="1111" y="2801"/>
            <a:ext cx="3584" cy="790"/>
          </p:xfrm>
          <a:graphic>
            <a:graphicData uri="http://schemas.openxmlformats.org/presentationml/2006/ole">
              <mc:AlternateContent xmlns:mc="http://schemas.openxmlformats.org/markup-compatibility/2006">
                <mc:Choice xmlns:v="urn:schemas-microsoft-com:vml" Requires="v">
                  <p:oleObj spid="_x0000_s3078" name="" r:id="rId1" imgW="1841500" imgH="393700" progId="Equation.3">
                    <p:embed/>
                  </p:oleObj>
                </mc:Choice>
                <mc:Fallback>
                  <p:oleObj name="" r:id="rId1" imgW="1841500" imgH="393700" progId="Equation.3">
                    <p:embed/>
                    <p:pic>
                      <p:nvPicPr>
                        <p:cNvPr id="0" name="图片 3077"/>
                        <p:cNvPicPr/>
                        <p:nvPr/>
                      </p:nvPicPr>
                      <p:blipFill>
                        <a:blip r:embed="rId2"/>
                        <a:stretch>
                          <a:fillRect/>
                        </a:stretch>
                      </p:blipFill>
                      <p:spPr>
                        <a:xfrm>
                          <a:off x="1111" y="2801"/>
                          <a:ext cx="3584" cy="790"/>
                        </a:xfrm>
                        <a:prstGeom prst="rect">
                          <a:avLst/>
                        </a:prstGeom>
                        <a:noFill/>
                        <a:ln w="38100">
                          <a:noFill/>
                          <a:miter/>
                        </a:ln>
                      </p:spPr>
                    </p:pic>
                  </p:oleObj>
                </mc:Fallback>
              </mc:AlternateContent>
            </a:graphicData>
          </a:graphic>
        </p:graphicFrame>
        <p:sp>
          <p:nvSpPr>
            <p:cNvPr id="2564108" name="矩形 2564107"/>
            <p:cNvSpPr/>
            <p:nvPr/>
          </p:nvSpPr>
          <p:spPr>
            <a:xfrm>
              <a:off x="4559" y="2903"/>
              <a:ext cx="1157" cy="510"/>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3200" b="1" dirty="0">
                  <a:solidFill>
                    <a:schemeClr val="tx1"/>
                  </a:solidFill>
                  <a:effectLst>
                    <a:outerShdw blurRad="38100" dist="38100" dir="2700000">
                      <a:srgbClr val="C0C0C0"/>
                    </a:outerShdw>
                  </a:effectLst>
                  <a:latin typeface="楷体_GB2312" pitchFamily="49" charset="-122"/>
                  <a:ea typeface="楷体_GB2312" pitchFamily="49" charset="-122"/>
                </a:rPr>
                <a:t>℃</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grpSp>
      <p:sp>
        <p:nvSpPr>
          <p:cNvPr id="2564109" name="文本框 2564108"/>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4099"/>
                                        </p:tgtEl>
                                        <p:attrNameLst>
                                          <p:attrName>style.visibility</p:attrName>
                                        </p:attrNameLst>
                                      </p:cBhvr>
                                      <p:to>
                                        <p:strVal val="visible"/>
                                      </p:to>
                                    </p:set>
                                    <p:animEffect transition="in" filter="dissolve">
                                      <p:cBhvr>
                                        <p:cTn id="7" dur="500"/>
                                        <p:tgtEl>
                                          <p:spTgt spid="256409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4100"/>
                                        </p:tgtEl>
                                        <p:attrNameLst>
                                          <p:attrName>style.visibility</p:attrName>
                                        </p:attrNameLst>
                                      </p:cBhvr>
                                      <p:to>
                                        <p:strVal val="visible"/>
                                      </p:to>
                                    </p:set>
                                    <p:animEffect transition="in" filter="wipe(left)">
                                      <p:cBhvr>
                                        <p:cTn id="12" dur="500"/>
                                        <p:tgtEl>
                                          <p:spTgt spid="256410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64101"/>
                                        </p:tgtEl>
                                        <p:attrNameLst>
                                          <p:attrName>style.visibility</p:attrName>
                                        </p:attrNameLst>
                                      </p:cBhvr>
                                      <p:to>
                                        <p:strVal val="visible"/>
                                      </p:to>
                                    </p:set>
                                    <p:animEffect transition="in" filter="wipe(left)">
                                      <p:cBhvr>
                                        <p:cTn id="17" dur="500"/>
                                        <p:tgtEl>
                                          <p:spTgt spid="256410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4104"/>
                                        </p:tgtEl>
                                        <p:attrNameLst>
                                          <p:attrName>style.visibility</p:attrName>
                                        </p:attrNameLst>
                                      </p:cBhvr>
                                      <p:to>
                                        <p:strVal val="visible"/>
                                      </p:to>
                                    </p:set>
                                    <p:animEffect transition="in" filter="wipe(left)">
                                      <p:cBhvr>
                                        <p:cTn id="22" dur="500"/>
                                        <p:tgtEl>
                                          <p:spTgt spid="2564104"/>
                                        </p:tgtEl>
                                      </p:cBhvr>
                                    </p:animEffect>
                                  </p:childTnLst>
                                </p:cTn>
                              </p:par>
                              <p:par>
                                <p:cTn id="23" presetID="22" presetClass="entr" presetSubtype="8" fill="hold" nodeType="withEffect">
                                  <p:stCondLst>
                                    <p:cond delay="0"/>
                                  </p:stCondLst>
                                  <p:childTnLst>
                                    <p:set>
                                      <p:cBhvr>
                                        <p:cTn id="24" dur="1" fill="hold">
                                          <p:stCondLst>
                                            <p:cond delay="0"/>
                                          </p:stCondLst>
                                        </p:cTn>
                                        <p:tgtEl>
                                          <p:spTgt spid="2564106"/>
                                        </p:tgtEl>
                                        <p:attrNameLst>
                                          <p:attrName>style.visibility</p:attrName>
                                        </p:attrNameLst>
                                      </p:cBhvr>
                                      <p:to>
                                        <p:strVal val="visible"/>
                                      </p:to>
                                    </p:set>
                                    <p:animEffect transition="in" filter="wipe(left)">
                                      <p:cBhvr>
                                        <p:cTn id="25" dur="500"/>
                                        <p:tgtEl>
                                          <p:spTgt spid="2564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4099" grpId="0"/>
      <p:bldP spid="2564100" grpId="0"/>
      <p:bldP spid="2564104" grpId="0"/>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5123" name="矩形 2565122"/>
          <p:cNvSpPr/>
          <p:nvPr/>
        </p:nvSpPr>
        <p:spPr>
          <a:xfrm>
            <a:off x="612775" y="1163638"/>
            <a:ext cx="5119688"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en-US" altLang="zh-CN" sz="3200" b="1">
                <a:solidFill>
                  <a:schemeClr val="accent2"/>
                </a:solidFill>
                <a:effectLst>
                  <a:outerShdw blurRad="38100" dist="38100" dir="2700000">
                    <a:srgbClr val="C0C0C0"/>
                  </a:outerShdw>
                </a:effectLst>
                <a:latin typeface="Arial Black" panose="020B0A04020102020204" pitchFamily="34" charset="0"/>
                <a:ea typeface="宋体" panose="02010600030101010101" pitchFamily="2" charset="-122"/>
              </a:rPr>
              <a:t>2.</a:t>
            </a:r>
            <a:r>
              <a:rPr lang="en-US" altLang="zh-CN" sz="3200" b="1">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非线性参数的标度变换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5125" name="矩形 2565124"/>
          <p:cNvSpPr/>
          <p:nvPr/>
        </p:nvSpPr>
        <p:spPr>
          <a:xfrm>
            <a:off x="612775" y="1947863"/>
            <a:ext cx="8196263" cy="1433512"/>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传感器或变送器的输出信号与被测量之间的关系是非线性关系，则应具体问题具体分析，求出被测量对应的标度变换公式，再进行变换。</a:t>
            </a:r>
            <a:r>
              <a:rPr lang="zh-CN" altLang="en-US" sz="3200" b="1">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65126" name="矩形 2565125"/>
          <p:cNvSpPr/>
          <p:nvPr/>
        </p:nvSpPr>
        <p:spPr>
          <a:xfrm>
            <a:off x="1244600" y="3717925"/>
            <a:ext cx="2449513" cy="579438"/>
          </a:xfrm>
          <a:prstGeom prst="rect">
            <a:avLst/>
          </a:prstGeom>
          <a:noFill/>
          <a:ln w="9525">
            <a:noFill/>
          </a:ln>
        </p:spPr>
        <p:txBody>
          <a:bodyPr wrap="none" anchor="ctr" anchorCtr="0">
            <a:spAutoFit/>
          </a:bodyPr>
          <a:p>
            <a:pPr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公式变换法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pic>
        <p:nvPicPr>
          <p:cNvPr id="2565127" name="图片 2565126" descr="kugel_blau"/>
          <p:cNvPicPr>
            <a:picLocks noChangeAspect="1"/>
          </p:cNvPicPr>
          <p:nvPr/>
        </p:nvPicPr>
        <p:blipFill>
          <a:blip r:embed="rId1"/>
          <a:stretch>
            <a:fillRect/>
          </a:stretch>
        </p:blipFill>
        <p:spPr>
          <a:xfrm>
            <a:off x="755650" y="3833813"/>
            <a:ext cx="457200" cy="315912"/>
          </a:xfrm>
          <a:prstGeom prst="rect">
            <a:avLst/>
          </a:prstGeom>
          <a:noFill/>
          <a:ln w="9525">
            <a:noFill/>
          </a:ln>
        </p:spPr>
      </p:pic>
      <p:sp>
        <p:nvSpPr>
          <p:cNvPr id="2565129" name="矩形 2565128"/>
          <p:cNvSpPr/>
          <p:nvPr/>
        </p:nvSpPr>
        <p:spPr>
          <a:xfrm>
            <a:off x="612775" y="4411663"/>
            <a:ext cx="8196263" cy="1433512"/>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传感器的输出信号与被测信号之间的关系可以用解析式表示，则可通过解析式来推导出所需要的参量。</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65130" name="文本框 256512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5123"/>
                                        </p:tgtEl>
                                        <p:attrNameLst>
                                          <p:attrName>style.visibility</p:attrName>
                                        </p:attrNameLst>
                                      </p:cBhvr>
                                      <p:to>
                                        <p:strVal val="visible"/>
                                      </p:to>
                                    </p:set>
                                    <p:animEffect transition="in" filter="dissolve">
                                      <p:cBhvr>
                                        <p:cTn id="7" dur="500"/>
                                        <p:tgtEl>
                                          <p:spTgt spid="25651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5125">
                                            <p:txEl>
                                              <p:charRg st="0" end="66"/>
                                            </p:txEl>
                                          </p:spTgt>
                                        </p:tgtEl>
                                        <p:attrNameLst>
                                          <p:attrName>style.visibility</p:attrName>
                                        </p:attrNameLst>
                                      </p:cBhvr>
                                      <p:to>
                                        <p:strVal val="visible"/>
                                      </p:to>
                                    </p:set>
                                    <p:animEffect transition="in" filter="wipe(left)">
                                      <p:cBhvr>
                                        <p:cTn id="12" dur="500"/>
                                        <p:tgtEl>
                                          <p:spTgt spid="2565125">
                                            <p:txEl>
                                              <p:charRg st="0" end="66"/>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565127"/>
                                        </p:tgtEl>
                                        <p:attrNameLst>
                                          <p:attrName>style.visibility</p:attrName>
                                        </p:attrNameLst>
                                      </p:cBhvr>
                                      <p:to>
                                        <p:strVal val="visible"/>
                                      </p:to>
                                    </p:set>
                                    <p:anim calcmode="lin" valueType="num">
                                      <p:cBhvr additive="base">
                                        <p:cTn id="17" dur="500" fill="hold"/>
                                        <p:tgtEl>
                                          <p:spTgt spid="2565127"/>
                                        </p:tgtEl>
                                        <p:attrNameLst>
                                          <p:attrName>ppt_x</p:attrName>
                                        </p:attrNameLst>
                                      </p:cBhvr>
                                      <p:tavLst>
                                        <p:tav tm="0">
                                          <p:val>
                                            <p:strVal val="0-#ppt_w/2"/>
                                          </p:val>
                                        </p:tav>
                                        <p:tav tm="100000">
                                          <p:val>
                                            <p:strVal val="#ppt_x"/>
                                          </p:val>
                                        </p:tav>
                                      </p:tavLst>
                                    </p:anim>
                                    <p:anim calcmode="lin" valueType="num">
                                      <p:cBhvr additive="base">
                                        <p:cTn id="18" dur="500" fill="hold"/>
                                        <p:tgtEl>
                                          <p:spTgt spid="2565127"/>
                                        </p:tgtEl>
                                        <p:attrNameLst>
                                          <p:attrName>ppt_y</p:attrName>
                                        </p:attrNameLst>
                                      </p:cBhvr>
                                      <p:tavLst>
                                        <p:tav tm="0">
                                          <p:val>
                                            <p:strVal val="#ppt_y"/>
                                          </p:val>
                                        </p:tav>
                                        <p:tav tm="100000">
                                          <p:val>
                                            <p:strVal val="#ppt_y"/>
                                          </p:val>
                                        </p:tav>
                                      </p:tavLst>
                                    </p:anim>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2565126"/>
                                        </p:tgtEl>
                                        <p:attrNameLst>
                                          <p:attrName>style.visibility</p:attrName>
                                        </p:attrNameLst>
                                      </p:cBhvr>
                                      <p:to>
                                        <p:strVal val="visible"/>
                                      </p:to>
                                    </p:set>
                                    <p:animEffect transition="in" filter="wipe(left)">
                                      <p:cBhvr>
                                        <p:cTn id="22" dur="500"/>
                                        <p:tgtEl>
                                          <p:spTgt spid="2565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565129">
                                            <p:txEl>
                                              <p:charRg st="0" end="51"/>
                                            </p:txEl>
                                          </p:spTgt>
                                        </p:tgtEl>
                                        <p:attrNameLst>
                                          <p:attrName>style.visibility</p:attrName>
                                        </p:attrNameLst>
                                      </p:cBhvr>
                                      <p:to>
                                        <p:strVal val="visible"/>
                                      </p:to>
                                    </p:set>
                                    <p:animEffect transition="in" filter="wipe(left)">
                                      <p:cBhvr>
                                        <p:cTn id="27" dur="500"/>
                                        <p:tgtEl>
                                          <p:spTgt spid="2565129">
                                            <p:txEl>
                                              <p:charRg st="0" end="5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5123" grpId="0"/>
      <p:bldP spid="2565125" grpId="0" build="p"/>
      <p:bldP spid="2565126" grpId="0"/>
      <p:bldP spid="2565129" grpId="0" build="p"/>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6147" name="矩形 2566146"/>
          <p:cNvSpPr/>
          <p:nvPr/>
        </p:nvSpPr>
        <p:spPr>
          <a:xfrm>
            <a:off x="612775" y="1082675"/>
            <a:ext cx="8278813" cy="1006475"/>
          </a:xfrm>
          <a:prstGeom prst="rect">
            <a:avLst/>
          </a:prstGeom>
          <a:noFill/>
          <a:ln w="9525">
            <a:noFill/>
          </a:ln>
        </p:spPr>
        <p:txBody>
          <a:bodyPr anchor="ctr" anchorCtr="0">
            <a:spAutoFit/>
          </a:bodyPr>
          <a:p>
            <a:pPr eaLnBrk="1" hangingPunct="1">
              <a:lnSpc>
                <a:spcPct val="100000"/>
              </a:lnSpc>
              <a:buNone/>
            </a:pPr>
            <a:r>
              <a:rPr lang="en-US" altLang="zh-CN" sz="32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例如，在流量测量中，从差压变送器来的信号</a:t>
            </a:r>
            <a:r>
              <a:rPr lang="en-US" altLang="zh-CN" sz="2800" b="1" dirty="0">
                <a:solidFill>
                  <a:srgbClr val="FF0000"/>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P</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与实际流量</a:t>
            </a:r>
            <a:r>
              <a:rPr lang="en-US" altLang="zh-CN" sz="2800" b="1" i="1">
                <a:solidFill>
                  <a:srgbClr val="FF0000"/>
                </a:solidFill>
                <a:effectLst>
                  <a:outerShdw blurRad="38100" dist="38100" dir="2700000">
                    <a:srgbClr val="C0C0C0"/>
                  </a:outerShdw>
                </a:effectLst>
                <a:latin typeface="Times New Roman" panose="02020603050405020304" pitchFamily="18" charset="0"/>
                <a:ea typeface="楷体_GB2312" pitchFamily="49" charset="-122"/>
              </a:rPr>
              <a:t>Q</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成平方根关系，即</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66149" name="对象 2566148"/>
          <p:cNvGraphicFramePr/>
          <p:nvPr/>
        </p:nvGraphicFramePr>
        <p:xfrm>
          <a:off x="3276600" y="2312988"/>
          <a:ext cx="2098675" cy="611187"/>
        </p:xfrm>
        <a:graphic>
          <a:graphicData uri="http://schemas.openxmlformats.org/presentationml/2006/ole">
            <mc:AlternateContent xmlns:mc="http://schemas.openxmlformats.org/markup-compatibility/2006">
              <mc:Choice xmlns:v="urn:schemas-microsoft-com:vml" Requires="v">
                <p:oleObj spid="_x0000_s3080" name="" r:id="rId1" imgW="748665" imgH="241300" progId="Equation.3">
                  <p:embed/>
                </p:oleObj>
              </mc:Choice>
              <mc:Fallback>
                <p:oleObj name="" r:id="rId1" imgW="748665" imgH="241300" progId="Equation.3">
                  <p:embed/>
                  <p:pic>
                    <p:nvPicPr>
                      <p:cNvPr id="0" name="图片 3079"/>
                      <p:cNvPicPr/>
                      <p:nvPr/>
                    </p:nvPicPr>
                    <p:blipFill>
                      <a:blip r:embed="rId2"/>
                      <a:stretch>
                        <a:fillRect/>
                      </a:stretch>
                    </p:blipFill>
                    <p:spPr>
                      <a:xfrm>
                        <a:off x="3276600" y="2312988"/>
                        <a:ext cx="2098675" cy="611187"/>
                      </a:xfrm>
                      <a:prstGeom prst="rect">
                        <a:avLst/>
                      </a:prstGeom>
                      <a:noFill/>
                      <a:ln w="38100">
                        <a:noFill/>
                        <a:miter/>
                      </a:ln>
                    </p:spPr>
                  </p:pic>
                </p:oleObj>
              </mc:Fallback>
            </mc:AlternateContent>
          </a:graphicData>
        </a:graphic>
      </p:graphicFrame>
      <p:sp>
        <p:nvSpPr>
          <p:cNvPr id="2566153" name="矩形 2566152"/>
          <p:cNvSpPr/>
          <p:nvPr/>
        </p:nvSpPr>
        <p:spPr>
          <a:xfrm>
            <a:off x="431800" y="3217863"/>
            <a:ext cx="8636000" cy="519112"/>
          </a:xfrm>
          <a:prstGeom prst="rect">
            <a:avLst/>
          </a:prstGeom>
          <a:noFill/>
          <a:ln w="9525">
            <a:noFill/>
          </a:ln>
        </p:spPr>
        <p:txBody>
          <a:bodyPr wrap="none" anchor="ctr" anchorCtr="0">
            <a:spAutoFit/>
          </a:bodyPr>
          <a:p>
            <a:pPr eaLnBrk="1" hangingPunct="1">
              <a:lnSpc>
                <a:spcPct val="100000"/>
              </a:lnSpc>
            </a:pP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K</a:t>
            </a:r>
            <a:r>
              <a:rPr lang="zh-CN" altLang="en-US" sz="28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刻度系数，与流体的性质和节流装置的尺寸有关。</a:t>
            </a:r>
            <a:endPar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6154" name="矩形 2566153"/>
          <p:cNvSpPr/>
          <p:nvPr/>
        </p:nvSpPr>
        <p:spPr>
          <a:xfrm>
            <a:off x="684213" y="3930650"/>
            <a:ext cx="5441950" cy="579438"/>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则测量流量的标度变换公式为</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66155" name="对象 2566154"/>
          <p:cNvGraphicFramePr/>
          <p:nvPr/>
        </p:nvGraphicFramePr>
        <p:xfrm>
          <a:off x="1981200" y="4797425"/>
          <a:ext cx="4967288" cy="1203325"/>
        </p:xfrm>
        <a:graphic>
          <a:graphicData uri="http://schemas.openxmlformats.org/presentationml/2006/ole">
            <mc:AlternateContent xmlns:mc="http://schemas.openxmlformats.org/markup-compatibility/2006">
              <mc:Choice xmlns:v="urn:schemas-microsoft-com:vml" Requires="v">
                <p:oleObj spid="_x0000_s3079" name="" r:id="rId3" imgW="1816100" imgH="508000" progId="Equation.3">
                  <p:embed/>
                </p:oleObj>
              </mc:Choice>
              <mc:Fallback>
                <p:oleObj name="" r:id="rId3" imgW="1816100" imgH="508000" progId="Equation.3">
                  <p:embed/>
                  <p:pic>
                    <p:nvPicPr>
                      <p:cNvPr id="0" name="图片 3078"/>
                      <p:cNvPicPr/>
                      <p:nvPr/>
                    </p:nvPicPr>
                    <p:blipFill>
                      <a:blip r:embed="rId4"/>
                      <a:stretch>
                        <a:fillRect/>
                      </a:stretch>
                    </p:blipFill>
                    <p:spPr>
                      <a:xfrm>
                        <a:off x="1981200" y="4797425"/>
                        <a:ext cx="4967288" cy="1203325"/>
                      </a:xfrm>
                      <a:prstGeom prst="rect">
                        <a:avLst/>
                      </a:prstGeom>
                      <a:noFill/>
                      <a:ln w="38100">
                        <a:noFill/>
                        <a:miter/>
                      </a:ln>
                    </p:spPr>
                  </p:pic>
                </p:oleObj>
              </mc:Fallback>
            </mc:AlternateContent>
          </a:graphicData>
        </a:graphic>
      </p:graphicFrame>
      <p:sp>
        <p:nvSpPr>
          <p:cNvPr id="2566156" name="文本框 256615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6147"/>
                                        </p:tgtEl>
                                        <p:attrNameLst>
                                          <p:attrName>style.visibility</p:attrName>
                                        </p:attrNameLst>
                                      </p:cBhvr>
                                      <p:to>
                                        <p:strVal val="visible"/>
                                      </p:to>
                                    </p:set>
                                    <p:animEffect transition="in" filter="dissolve">
                                      <p:cBhvr>
                                        <p:cTn id="7" dur="500"/>
                                        <p:tgtEl>
                                          <p:spTgt spid="25661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66149"/>
                                        </p:tgtEl>
                                        <p:attrNameLst>
                                          <p:attrName>style.visibility</p:attrName>
                                        </p:attrNameLst>
                                      </p:cBhvr>
                                      <p:to>
                                        <p:strVal val="visible"/>
                                      </p:to>
                                    </p:set>
                                    <p:animEffect transition="in" filter="dissolve">
                                      <p:cBhvr>
                                        <p:cTn id="12" dur="500"/>
                                        <p:tgtEl>
                                          <p:spTgt spid="256614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66153"/>
                                        </p:tgtEl>
                                        <p:attrNameLst>
                                          <p:attrName>style.visibility</p:attrName>
                                        </p:attrNameLst>
                                      </p:cBhvr>
                                      <p:to>
                                        <p:strVal val="visible"/>
                                      </p:to>
                                    </p:set>
                                    <p:animEffect transition="in" filter="dissolve">
                                      <p:cBhvr>
                                        <p:cTn id="17" dur="500"/>
                                        <p:tgtEl>
                                          <p:spTgt spid="25661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6154"/>
                                        </p:tgtEl>
                                        <p:attrNameLst>
                                          <p:attrName>style.visibility</p:attrName>
                                        </p:attrNameLst>
                                      </p:cBhvr>
                                      <p:to>
                                        <p:strVal val="visible"/>
                                      </p:to>
                                    </p:set>
                                    <p:animEffect transition="in" filter="wipe(left)">
                                      <p:cBhvr>
                                        <p:cTn id="22" dur="500"/>
                                        <p:tgtEl>
                                          <p:spTgt spid="256615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566155"/>
                                        </p:tgtEl>
                                        <p:attrNameLst>
                                          <p:attrName>style.visibility</p:attrName>
                                        </p:attrNameLst>
                                      </p:cBhvr>
                                      <p:to>
                                        <p:strVal val="visible"/>
                                      </p:to>
                                    </p:set>
                                    <p:animEffect transition="in" filter="wipe(left)">
                                      <p:cBhvr>
                                        <p:cTn id="27" dur="500"/>
                                        <p:tgtEl>
                                          <p:spTgt spid="2566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6147" grpId="0"/>
      <p:bldP spid="2566153" grpId="0"/>
      <p:bldP spid="2566154" grpId="0"/>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7171" name="矩形 2567170"/>
          <p:cNvSpPr/>
          <p:nvPr/>
        </p:nvSpPr>
        <p:spPr>
          <a:xfrm>
            <a:off x="539750" y="981075"/>
            <a:ext cx="1308100" cy="579438"/>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则有</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67172" name="矩形 2567171"/>
          <p:cNvSpPr/>
          <p:nvPr/>
        </p:nvSpPr>
        <p:spPr>
          <a:xfrm>
            <a:off x="0" y="3017838"/>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graphicFrame>
        <p:nvGraphicFramePr>
          <p:cNvPr id="2567174" name="对象 2567173"/>
          <p:cNvGraphicFramePr/>
          <p:nvPr/>
        </p:nvGraphicFramePr>
        <p:xfrm>
          <a:off x="1847850" y="1412875"/>
          <a:ext cx="5364163" cy="1192213"/>
        </p:xfrm>
        <a:graphic>
          <a:graphicData uri="http://schemas.openxmlformats.org/presentationml/2006/ole">
            <mc:AlternateContent xmlns:mc="http://schemas.openxmlformats.org/markup-compatibility/2006">
              <mc:Choice xmlns:v="urn:schemas-microsoft-com:vml" Requires="v">
                <p:oleObj spid="_x0000_s3076" name="" r:id="rId1" imgW="2057400" imgH="508000" progId="Equation.3">
                  <p:embed/>
                </p:oleObj>
              </mc:Choice>
              <mc:Fallback>
                <p:oleObj name="" r:id="rId1" imgW="2057400" imgH="508000" progId="Equation.3">
                  <p:embed/>
                  <p:pic>
                    <p:nvPicPr>
                      <p:cNvPr id="0" name="图片 3075"/>
                      <p:cNvPicPr/>
                      <p:nvPr/>
                    </p:nvPicPr>
                    <p:blipFill>
                      <a:blip r:embed="rId2"/>
                      <a:stretch>
                        <a:fillRect/>
                      </a:stretch>
                    </p:blipFill>
                    <p:spPr>
                      <a:xfrm>
                        <a:off x="1847850" y="1412875"/>
                        <a:ext cx="5364163" cy="1192213"/>
                      </a:xfrm>
                      <a:prstGeom prst="rect">
                        <a:avLst/>
                      </a:prstGeom>
                      <a:noFill/>
                      <a:ln w="38100">
                        <a:noFill/>
                        <a:miter/>
                      </a:ln>
                    </p:spPr>
                  </p:pic>
                </p:oleObj>
              </mc:Fallback>
            </mc:AlternateContent>
          </a:graphicData>
        </a:graphic>
      </p:graphicFrame>
      <p:sp>
        <p:nvSpPr>
          <p:cNvPr id="2567176" name="矩形 2567175"/>
          <p:cNvSpPr/>
          <p:nvPr/>
        </p:nvSpPr>
        <p:spPr>
          <a:xfrm>
            <a:off x="1101725" y="3065463"/>
            <a:ext cx="2970213"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多项式变换法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pic>
        <p:nvPicPr>
          <p:cNvPr id="2567177" name="图片 2567176" descr="kugel_blau"/>
          <p:cNvPicPr>
            <a:picLocks noChangeAspect="1"/>
          </p:cNvPicPr>
          <p:nvPr/>
        </p:nvPicPr>
        <p:blipFill>
          <a:blip r:embed="rId3"/>
          <a:stretch>
            <a:fillRect/>
          </a:stretch>
        </p:blipFill>
        <p:spPr>
          <a:xfrm>
            <a:off x="684213" y="3222625"/>
            <a:ext cx="457200" cy="315913"/>
          </a:xfrm>
          <a:prstGeom prst="rect">
            <a:avLst/>
          </a:prstGeom>
          <a:noFill/>
          <a:ln w="9525">
            <a:noFill/>
          </a:ln>
        </p:spPr>
      </p:pic>
      <p:sp>
        <p:nvSpPr>
          <p:cNvPr id="2567178" name="矩形 2567177"/>
          <p:cNvSpPr/>
          <p:nvPr/>
        </p:nvSpPr>
        <p:spPr>
          <a:xfrm>
            <a:off x="684213" y="4076700"/>
            <a:ext cx="7631112" cy="1373188"/>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        </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传感器输出信号与被测物理量之间的关系无法用解析式表示。但是，它们之间的关系是已知的，可用多项式变换法。</a:t>
            </a:r>
            <a:endPar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7180" name="文本框 256717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7171"/>
                                        </p:tgtEl>
                                        <p:attrNameLst>
                                          <p:attrName>style.visibility</p:attrName>
                                        </p:attrNameLst>
                                      </p:cBhvr>
                                      <p:to>
                                        <p:strVal val="visible"/>
                                      </p:to>
                                    </p:set>
                                    <p:animEffect transition="in" filter="dissolve">
                                      <p:cBhvr>
                                        <p:cTn id="7" dur="500"/>
                                        <p:tgtEl>
                                          <p:spTgt spid="256717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67174"/>
                                        </p:tgtEl>
                                        <p:attrNameLst>
                                          <p:attrName>style.visibility</p:attrName>
                                        </p:attrNameLst>
                                      </p:cBhvr>
                                      <p:to>
                                        <p:strVal val="visible"/>
                                      </p:to>
                                    </p:set>
                                    <p:animEffect transition="in" filter="dissolve">
                                      <p:cBhvr>
                                        <p:cTn id="12" dur="500"/>
                                        <p:tgtEl>
                                          <p:spTgt spid="256717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567177"/>
                                        </p:tgtEl>
                                        <p:attrNameLst>
                                          <p:attrName>style.visibility</p:attrName>
                                        </p:attrNameLst>
                                      </p:cBhvr>
                                      <p:to>
                                        <p:strVal val="visible"/>
                                      </p:to>
                                    </p:set>
                                    <p:anim calcmode="lin" valueType="num">
                                      <p:cBhvr additive="base">
                                        <p:cTn id="17" dur="500" fill="hold"/>
                                        <p:tgtEl>
                                          <p:spTgt spid="2567177"/>
                                        </p:tgtEl>
                                        <p:attrNameLst>
                                          <p:attrName>ppt_x</p:attrName>
                                        </p:attrNameLst>
                                      </p:cBhvr>
                                      <p:tavLst>
                                        <p:tav tm="0">
                                          <p:val>
                                            <p:strVal val="0-#ppt_w/2"/>
                                          </p:val>
                                        </p:tav>
                                        <p:tav tm="100000">
                                          <p:val>
                                            <p:strVal val="#ppt_x"/>
                                          </p:val>
                                        </p:tav>
                                      </p:tavLst>
                                    </p:anim>
                                    <p:anim calcmode="lin" valueType="num">
                                      <p:cBhvr additive="base">
                                        <p:cTn id="18" dur="500" fill="hold"/>
                                        <p:tgtEl>
                                          <p:spTgt spid="2567177"/>
                                        </p:tgtEl>
                                        <p:attrNameLst>
                                          <p:attrName>ppt_y</p:attrName>
                                        </p:attrNameLst>
                                      </p:cBhvr>
                                      <p:tavLst>
                                        <p:tav tm="0">
                                          <p:val>
                                            <p:strVal val="#ppt_y"/>
                                          </p:val>
                                        </p:tav>
                                        <p:tav tm="100000">
                                          <p:val>
                                            <p:strVal val="#ppt_y"/>
                                          </p:val>
                                        </p:tav>
                                      </p:tavLst>
                                    </p:anim>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2567176"/>
                                        </p:tgtEl>
                                        <p:attrNameLst>
                                          <p:attrName>style.visibility</p:attrName>
                                        </p:attrNameLst>
                                      </p:cBhvr>
                                      <p:to>
                                        <p:strVal val="visible"/>
                                      </p:to>
                                    </p:set>
                                    <p:animEffect transition="in" filter="wipe(left)">
                                      <p:cBhvr>
                                        <p:cTn id="22" dur="500"/>
                                        <p:tgtEl>
                                          <p:spTgt spid="256717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567178">
                                            <p:txEl>
                                              <p:charRg st="0" end="60"/>
                                            </p:txEl>
                                          </p:spTgt>
                                        </p:tgtEl>
                                        <p:attrNameLst>
                                          <p:attrName>style.visibility</p:attrName>
                                        </p:attrNameLst>
                                      </p:cBhvr>
                                      <p:to>
                                        <p:strVal val="visible"/>
                                      </p:to>
                                    </p:set>
                                    <p:animEffect transition="in" filter="wipe(left)">
                                      <p:cBhvr>
                                        <p:cTn id="27" dur="500"/>
                                        <p:tgtEl>
                                          <p:spTgt spid="2567178">
                                            <p:txEl>
                                              <p:charRg st="0" end="6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7171" grpId="0"/>
      <p:bldP spid="2567176" grpId="0"/>
      <p:bldP spid="2567178" grpId="0" build="p"/>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8195" name="矩形 2568194"/>
          <p:cNvSpPr/>
          <p:nvPr/>
        </p:nvSpPr>
        <p:spPr>
          <a:xfrm>
            <a:off x="1223963" y="690563"/>
            <a:ext cx="6659562" cy="457200"/>
          </a:xfrm>
          <a:prstGeom prst="rect">
            <a:avLst/>
          </a:prstGeom>
          <a:noFill/>
          <a:ln w="9525">
            <a:noFill/>
          </a:ln>
        </p:spPr>
        <p:txBody>
          <a:bodyPr anchor="ctr" anchorCtr="0">
            <a:spAutoFit/>
          </a:bodyPr>
          <a:p>
            <a:pPr algn="ctr" defTabSz="914400" eaLnBrk="1" hangingPunct="1">
              <a:lnSpc>
                <a:spcPct val="100000"/>
              </a:lnSpc>
              <a:tabLst>
                <a:tab pos="-1295400" algn="l"/>
              </a:tabLst>
            </a:pPr>
            <a:r>
              <a:rPr lang="zh-CN" altLang="en-US" sz="2400" b="1" dirty="0">
                <a:solidFill>
                  <a:schemeClr val="tx1"/>
                </a:solidFill>
                <a:effectLst>
                  <a:outerShdw blurRad="38100" dist="38100" dir="2700000">
                    <a:srgbClr val="C0C0C0"/>
                  </a:outerShdw>
                </a:effectLst>
                <a:latin typeface="楷体_GB2312" pitchFamily="49" charset="-122"/>
                <a:ea typeface="楷体_GB2312" pitchFamily="49" charset="-122"/>
              </a:rPr>
              <a:t>热敏电阻的温度</a:t>
            </a:r>
            <a:r>
              <a:rPr lang="en-US" altLang="zh-CN" sz="24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400" b="1" dirty="0">
                <a:solidFill>
                  <a:schemeClr val="tx1"/>
                </a:solidFill>
                <a:effectLst>
                  <a:outerShdw blurRad="38100" dist="38100" dir="2700000">
                    <a:srgbClr val="C0C0C0"/>
                  </a:outerShdw>
                </a:effectLst>
                <a:latin typeface="楷体_GB2312" pitchFamily="49" charset="-122"/>
                <a:ea typeface="楷体_GB2312" pitchFamily="49" charset="-122"/>
              </a:rPr>
              <a:t>电阻特性</a:t>
            </a:r>
            <a:endParaRPr lang="zh-CN" altLang="en-US" sz="24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68216" name="表格 2568215"/>
          <p:cNvGraphicFramePr/>
          <p:nvPr/>
        </p:nvGraphicFramePr>
        <p:xfrm>
          <a:off x="1619250" y="1290638"/>
          <a:ext cx="5888038" cy="4849813"/>
        </p:xfrm>
        <a:graphic>
          <a:graphicData uri="http://schemas.openxmlformats.org/drawingml/2006/table">
            <a:tbl>
              <a:tblPr/>
              <a:tblGrid>
                <a:gridCol w="1371600"/>
                <a:gridCol w="1592263"/>
                <a:gridCol w="1417637"/>
                <a:gridCol w="1506538"/>
              </a:tblGrid>
              <a:tr h="365125">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dirty="0">
                          <a:ea typeface="楷体_GB2312" pitchFamily="49" charset="-122"/>
                        </a:rPr>
                        <a:t> </a:t>
                      </a:r>
                      <a:r>
                        <a:rPr lang="zh-CN" altLang="en-US" b="0" dirty="0">
                          <a:effectLst>
                            <a:outerShdw blurRad="38100" dist="38100" dir="2700000">
                              <a:srgbClr val="C0C0C0"/>
                            </a:outerShdw>
                          </a:effectLst>
                          <a:ea typeface="楷体_GB2312" pitchFamily="49" charset="-122"/>
                        </a:rPr>
                        <a:t>温度</a:t>
                      </a:r>
                      <a:r>
                        <a:rPr lang="en-US" altLang="zh-CN" b="0" i="1">
                          <a:effectLst>
                            <a:outerShdw blurRad="38100" dist="38100" dir="2700000">
                              <a:srgbClr val="C0C0C0"/>
                            </a:outerShdw>
                          </a:effectLst>
                          <a:latin typeface="Times New Roman" panose="02020603050405020304" pitchFamily="18" charset="0"/>
                        </a:rPr>
                        <a:t>t</a:t>
                      </a:r>
                      <a:r>
                        <a:rPr lang="en-US" altLang="zh-CN" b="0">
                          <a:effectLst>
                            <a:outerShdw blurRad="38100" dist="38100" dir="2700000">
                              <a:srgbClr val="C0C0C0"/>
                            </a:outerShdw>
                          </a:effectLst>
                        </a:rPr>
                        <a:t> (℃)</a:t>
                      </a:r>
                      <a:r>
                        <a:rPr lang="en-US" altLang="zh-CN"/>
                        <a:t> </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zh-CN" altLang="en-US" b="0" dirty="0">
                          <a:effectLst>
                            <a:outerShdw blurRad="38100" dist="38100" dir="2700000">
                              <a:srgbClr val="C0C0C0"/>
                            </a:outerShdw>
                          </a:effectLst>
                          <a:latin typeface="楷体_GB2312" pitchFamily="49" charset="-122"/>
                          <a:ea typeface="楷体_GB2312" pitchFamily="49" charset="-122"/>
                        </a:rPr>
                        <a:t>阻值</a:t>
                      </a:r>
                      <a:r>
                        <a:rPr lang="en-US" altLang="zh-CN" b="0" i="1" err="1">
                          <a:effectLst>
                            <a:outerShdw blurRad="38100" dist="38100" dir="2700000">
                              <a:srgbClr val="C0C0C0"/>
                            </a:outerShdw>
                          </a:effectLst>
                          <a:latin typeface="Times New Roman" panose="02020603050405020304" pitchFamily="18" charset="0"/>
                          <a:ea typeface="楷体_GB2312" pitchFamily="49" charset="-122"/>
                        </a:rPr>
                        <a:t>R</a:t>
                      </a:r>
                      <a:r>
                        <a:rPr lang="en-US" altLang="zh-CN" b="0" err="1">
                          <a:effectLst>
                            <a:outerShdw blurRad="38100" dist="38100" dir="2700000">
                              <a:srgbClr val="C0C0C0"/>
                            </a:outerShdw>
                          </a:effectLst>
                          <a:latin typeface="楷体_GB2312" pitchFamily="49" charset="-122"/>
                          <a:ea typeface="楷体_GB2312" pitchFamily="49" charset="-122"/>
                        </a:rPr>
                        <a:t>(</a:t>
                      </a:r>
                      <a:r>
                        <a:rPr lang="en-US" altLang="zh-CN" b="0" err="1">
                          <a:effectLst>
                            <a:outerShdw blurRad="38100" dist="38100" dir="2700000">
                              <a:srgbClr val="C0C0C0"/>
                            </a:outerShdw>
                          </a:effectLst>
                          <a:latin typeface="Times New Roman" panose="02020603050405020304" pitchFamily="18" charset="0"/>
                          <a:ea typeface="楷体_GB2312" pitchFamily="49" charset="-122"/>
                        </a:rPr>
                        <a:t>k</a:t>
                      </a:r>
                      <a:r>
                        <a:rPr lang="el-GR" altLang="zh-CN" b="0" dirty="0">
                          <a:effectLst>
                            <a:outerShdw blurRad="38100" dist="38100" dir="2700000">
                              <a:srgbClr val="C0C0C0"/>
                            </a:outerShdw>
                          </a:effectLst>
                          <a:latin typeface="楷体_GB2312" pitchFamily="49" charset="-122"/>
                          <a:ea typeface="楷体_GB2312" pitchFamily="49" charset="-122"/>
                        </a:rPr>
                        <a:t>Ω</a:t>
                      </a:r>
                      <a:r>
                        <a:rPr lang="en-US" altLang="zh-CN" b="0">
                          <a:effectLst>
                            <a:outerShdw blurRad="38100" dist="38100" dir="2700000">
                              <a:srgbClr val="C0C0C0"/>
                            </a:outerShdw>
                          </a:effectLst>
                          <a:latin typeface="楷体_GB2312" pitchFamily="49" charset="-122"/>
                          <a:ea typeface="楷体_GB2312" pitchFamily="49" charset="-122"/>
                        </a:rPr>
                        <a:t>)</a:t>
                      </a:r>
                      <a:r>
                        <a:rPr lang="en-US" altLang="zh-CN"/>
                        <a:t> </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b="0" dirty="0">
                          <a:effectLst>
                            <a:outerShdw blurRad="38100" dist="38100" dir="2700000">
                              <a:srgbClr val="C0C0C0"/>
                            </a:outerShdw>
                          </a:effectLst>
                          <a:ea typeface="楷体_GB2312" pitchFamily="49" charset="-122"/>
                        </a:rPr>
                        <a:t> </a:t>
                      </a:r>
                      <a:r>
                        <a:rPr lang="zh-CN" altLang="en-US" b="0" dirty="0">
                          <a:effectLst>
                            <a:outerShdw blurRad="38100" dist="38100" dir="2700000">
                              <a:srgbClr val="C0C0C0"/>
                            </a:outerShdw>
                          </a:effectLst>
                          <a:ea typeface="楷体_GB2312" pitchFamily="49" charset="-122"/>
                        </a:rPr>
                        <a:t>温度</a:t>
                      </a:r>
                      <a:r>
                        <a:rPr lang="en-US" altLang="zh-CN" b="0" i="1">
                          <a:effectLst>
                            <a:outerShdw blurRad="38100" dist="38100" dir="2700000">
                              <a:srgbClr val="C0C0C0"/>
                            </a:outerShdw>
                          </a:effectLst>
                          <a:latin typeface="Times New Roman" panose="02020603050405020304" pitchFamily="18" charset="0"/>
                        </a:rPr>
                        <a:t>t</a:t>
                      </a:r>
                      <a:r>
                        <a:rPr lang="en-US" altLang="zh-CN" b="0" i="1">
                          <a:effectLst>
                            <a:outerShdw blurRad="38100" dist="38100" dir="2700000">
                              <a:srgbClr val="C0C0C0"/>
                            </a:outerShdw>
                          </a:effectLst>
                        </a:rPr>
                        <a:t> </a:t>
                      </a:r>
                      <a:r>
                        <a:rPr lang="en-US" altLang="zh-CN" b="0">
                          <a:effectLst>
                            <a:outerShdw blurRad="38100" dist="38100" dir="2700000">
                              <a:srgbClr val="C0C0C0"/>
                            </a:outerShdw>
                          </a:effectLst>
                        </a:rPr>
                        <a:t>(℃)</a:t>
                      </a:r>
                      <a:r>
                        <a:rPr lang="en-US" altLang="zh-CN"/>
                        <a:t> </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zh-CN" altLang="en-US" b="0" dirty="0">
                          <a:effectLst>
                            <a:outerShdw blurRad="38100" dist="38100" dir="2700000">
                              <a:srgbClr val="C0C0C0"/>
                            </a:outerShdw>
                          </a:effectLst>
                          <a:ea typeface="楷体_GB2312" pitchFamily="49" charset="-122"/>
                        </a:rPr>
                        <a:t>阻值</a:t>
                      </a:r>
                      <a:r>
                        <a:rPr lang="en-US" altLang="zh-CN" b="0" i="1" err="1">
                          <a:effectLst>
                            <a:outerShdw blurRad="38100" dist="38100" dir="2700000">
                              <a:srgbClr val="C0C0C0"/>
                            </a:outerShdw>
                          </a:effectLst>
                          <a:latin typeface="Times New Roman" panose="02020603050405020304" pitchFamily="18" charset="0"/>
                        </a:rPr>
                        <a:t>R</a:t>
                      </a:r>
                      <a:r>
                        <a:rPr lang="en-US" altLang="zh-CN" b="0" err="1">
                          <a:effectLst>
                            <a:outerShdw blurRad="38100" dist="38100" dir="2700000">
                              <a:srgbClr val="C0C0C0"/>
                            </a:outerShdw>
                          </a:effectLst>
                        </a:rPr>
                        <a:t>(</a:t>
                      </a:r>
                      <a:r>
                        <a:rPr lang="en-US" altLang="zh-CN" b="0" err="1">
                          <a:effectLst>
                            <a:outerShdw blurRad="38100" dist="38100" dir="2700000">
                              <a:srgbClr val="C0C0C0"/>
                            </a:outerShdw>
                          </a:effectLst>
                          <a:latin typeface="Times New Roman" panose="02020603050405020304" pitchFamily="18" charset="0"/>
                        </a:rPr>
                        <a:t>k</a:t>
                      </a:r>
                      <a:r>
                        <a:rPr lang="el-GR" altLang="zh-CN" b="0" dirty="0">
                          <a:effectLst>
                            <a:outerShdw blurRad="38100" dist="38100" dir="2700000">
                              <a:srgbClr val="C0C0C0"/>
                            </a:outerShdw>
                          </a:effectLst>
                        </a:rPr>
                        <a:t>Ω</a:t>
                      </a:r>
                      <a:r>
                        <a:rPr lang="en-US" altLang="zh-CN" b="0">
                          <a:effectLst>
                            <a:outerShdw blurRad="38100" dist="38100" dir="2700000">
                              <a:srgbClr val="C0C0C0"/>
                            </a:outerShdw>
                          </a:effectLst>
                        </a:rPr>
                        <a:t>)</a:t>
                      </a:r>
                      <a:endParaRPr lang="zh-CN" altLang="en-US" b="0">
                        <a:effectLst>
                          <a:outerShdw blurRad="38100" dist="38100" dir="2700000">
                            <a:srgbClr val="C0C0C0"/>
                          </a:outerShdw>
                        </a:effectLst>
                      </a:endParaRPr>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r h="4484688">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dirty="0">
                          <a:latin typeface="Times New Roman" panose="02020603050405020304" pitchFamily="18" charset="0"/>
                          <a:cs typeface="Times New Roman" panose="02020603050405020304" pitchFamily="18" charset="0"/>
                        </a:rPr>
                        <a:t>     </a:t>
                      </a:r>
                      <a:r>
                        <a:rPr lang="en-US" altLang="zh-CN">
                          <a:latin typeface="Times New Roman" panose="02020603050405020304" pitchFamily="18" charset="0"/>
                          <a:cs typeface="Times New Roman" panose="02020603050405020304" pitchFamily="18" charset="0"/>
                        </a:rPr>
                        <a:t>10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12</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15</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17</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18</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19</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22</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25</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dirty="0">
                          <a:latin typeface="Times New Roman" panose="02020603050405020304" pitchFamily="18" charset="0"/>
                          <a:cs typeface="Times New Roman" panose="02020603050405020304" pitchFamily="18" charset="0"/>
                        </a:rPr>
                        <a:t>      </a:t>
                      </a:r>
                      <a:r>
                        <a:rPr lang="en-US" altLang="zh-CN">
                          <a:latin typeface="Times New Roman" panose="02020603050405020304" pitchFamily="18" charset="0"/>
                          <a:cs typeface="Times New Roman" panose="02020603050405020304" pitchFamily="18" charset="0"/>
                        </a:rPr>
                        <a:t>8.0000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7.8431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7.6923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7.5471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7.4074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7.2727</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7.1428</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7.0174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6.8965</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6.7796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6.6670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6.5574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6.4516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6.3491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6.2500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6.1538</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dirty="0">
                          <a:latin typeface="Times New Roman" panose="02020603050405020304" pitchFamily="18" charset="0"/>
                          <a:cs typeface="Times New Roman" panose="02020603050405020304" pitchFamily="18" charset="0"/>
                        </a:rPr>
                        <a:t>     </a:t>
                      </a:r>
                      <a:r>
                        <a:rPr lang="en-US" altLang="zh-CN">
                          <a:latin typeface="Times New Roman" panose="02020603050405020304" pitchFamily="18" charset="0"/>
                          <a:cs typeface="Times New Roman" panose="02020603050405020304" pitchFamily="18" charset="0"/>
                        </a:rPr>
                        <a:t>26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27</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28</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29</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32</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35</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37</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38</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39</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40</a:t>
                      </a:r>
                      <a:endParaRPr lang="zh-CN" altLang="en-US">
                        <a:ea typeface="Times New Roman" panose="02020603050405020304" pitchFamily="18" charset="0"/>
                      </a:endParaRPr>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defTabSz="914400">
                        <a:spcBef>
                          <a:spcPct val="0"/>
                        </a:spcBef>
                        <a:buNone/>
                        <a:tabLst>
                          <a:tab pos="-1295400" algn="l"/>
                        </a:tabLst>
                      </a:pPr>
                      <a:r>
                        <a:rPr lang="en-US" altLang="zh-CN" dirty="0">
                          <a:latin typeface="Times New Roman" panose="02020603050405020304" pitchFamily="18" charset="0"/>
                          <a:cs typeface="Times New Roman" panose="02020603050405020304" pitchFamily="18" charset="0"/>
                        </a:rPr>
                        <a:t>    </a:t>
                      </a:r>
                      <a:r>
                        <a:rPr lang="en-US" altLang="zh-CN">
                          <a:latin typeface="Times New Roman" panose="02020603050405020304" pitchFamily="18" charset="0"/>
                          <a:cs typeface="Times New Roman" panose="02020603050405020304" pitchFamily="18" charset="0"/>
                        </a:rPr>
                        <a:t>6.0606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5.9701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5.8823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5.7970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5.7142</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5.6337</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5.5554</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5.4793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5.4053</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5.3332</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5.2630</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5.1946</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5.1281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5.0631</a:t>
                      </a:r>
                      <a:endParaRPr lang="en-US" altLang="zh-CN">
                        <a:cs typeface="Times New Roman" panose="02020603050405020304" pitchFamily="18" charset="0"/>
                      </a:endParaRPr>
                    </a:p>
                    <a:p>
                      <a:pPr marL="0" lvl="0" indent="0" defTabSz="914400" eaLnBrk="0" hangingPunct="0">
                        <a:spcBef>
                          <a:spcPct val="0"/>
                        </a:spcBef>
                        <a:buNone/>
                        <a:tabLst>
                          <a:tab pos="-1295400" algn="l"/>
                        </a:tabLst>
                      </a:pPr>
                      <a:r>
                        <a:rPr lang="en-US" altLang="zh-CN">
                          <a:latin typeface="Times New Roman" panose="02020603050405020304" pitchFamily="18" charset="0"/>
                          <a:cs typeface="Times New Roman" panose="02020603050405020304" pitchFamily="18" charset="0"/>
                        </a:rPr>
                        <a:t>    5.0000</a:t>
                      </a:r>
                      <a:endParaRPr lang="zh-CN" altLang="en-US"/>
                    </a:p>
                  </a:txBody>
                  <a:tcPr>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noFill/>
                  </a:tcPr>
                </a:tc>
              </a:tr>
            </a:tbl>
          </a:graphicData>
        </a:graphic>
      </p:graphicFrame>
      <p:sp>
        <p:nvSpPr>
          <p:cNvPr id="2568213" name="文本框 2568212"/>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69219" name="矩形 2569218"/>
          <p:cNvSpPr/>
          <p:nvPr/>
        </p:nvSpPr>
        <p:spPr>
          <a:xfrm>
            <a:off x="684213" y="1527175"/>
            <a:ext cx="7848600" cy="1006475"/>
          </a:xfrm>
          <a:prstGeom prst="rect">
            <a:avLst/>
          </a:prstGeom>
          <a:noFill/>
          <a:ln w="9525">
            <a:noFill/>
          </a:ln>
        </p:spPr>
        <p:txBody>
          <a:bodyPr anchor="ctr" anchorCtr="0">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采用多项式变换的关键是找出一个能够较准确地反映传感器输出信号与被测量</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之间关系</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的</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多项式</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69221" name="矩形 2569220"/>
          <p:cNvSpPr/>
          <p:nvPr/>
        </p:nvSpPr>
        <p:spPr>
          <a:xfrm>
            <a:off x="1422400" y="3886200"/>
            <a:ext cx="3348038" cy="579438"/>
          </a:xfrm>
          <a:prstGeom prst="rect">
            <a:avLst/>
          </a:prstGeom>
          <a:noFill/>
          <a:ln w="9525">
            <a:noFill/>
          </a:ln>
        </p:spPr>
        <p:txBody>
          <a:bodyPr>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寻找多项式的方法</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9222" name="左大括号 2569221"/>
          <p:cNvSpPr/>
          <p:nvPr/>
        </p:nvSpPr>
        <p:spPr>
          <a:xfrm>
            <a:off x="4770438" y="3565525"/>
            <a:ext cx="217487" cy="1295400"/>
          </a:xfrm>
          <a:prstGeom prst="leftBrace">
            <a:avLst>
              <a:gd name="adj1" fmla="val 49635"/>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69223" name="矩形 2569222"/>
          <p:cNvSpPr/>
          <p:nvPr/>
        </p:nvSpPr>
        <p:spPr>
          <a:xfrm>
            <a:off x="5113338" y="3282950"/>
            <a:ext cx="3022600" cy="579438"/>
          </a:xfrm>
          <a:prstGeom prst="rect">
            <a:avLst/>
          </a:prstGeom>
          <a:noFill/>
          <a:ln w="9525">
            <a:noFill/>
          </a:ln>
        </p:spPr>
        <p:txBody>
          <a:bodyPr>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最小二乘法</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9224" name="矩形 2569223"/>
          <p:cNvSpPr/>
          <p:nvPr/>
        </p:nvSpPr>
        <p:spPr>
          <a:xfrm>
            <a:off x="5113338" y="4578350"/>
            <a:ext cx="2879725" cy="579438"/>
          </a:xfrm>
          <a:prstGeom prst="rect">
            <a:avLst/>
          </a:prstGeom>
          <a:noFill/>
          <a:ln w="9525">
            <a:noFill/>
          </a:ln>
        </p:spPr>
        <p:txBody>
          <a:bodyPr>
            <a:spAutoFit/>
          </a:bodyPr>
          <a:p>
            <a:pPr eaLnBrk="1" hangingPunct="1">
              <a:lnSpc>
                <a:spcPct val="100000"/>
              </a:lnSpc>
            </a:pPr>
            <a:r>
              <a:rPr lang="zh-CN" altLang="en-US" sz="2800" b="1" dirty="0">
                <a:solidFill>
                  <a:srgbClr val="FF0000"/>
                </a:solidFill>
                <a:effectLst>
                  <a:outerShdw blurRad="38100" dist="38100" dir="2700000">
                    <a:srgbClr val="C0C0C0"/>
                  </a:outerShdw>
                </a:effectLst>
                <a:latin typeface="Arial" panose="020B0604020202020204" pitchFamily="34" charset="0"/>
                <a:ea typeface="楷体_GB2312" pitchFamily="49" charset="-122"/>
              </a:rPr>
              <a:t>代数插值法</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69225" name="文本框 256922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69219"/>
                                        </p:tgtEl>
                                        <p:attrNameLst>
                                          <p:attrName>style.visibility</p:attrName>
                                        </p:attrNameLst>
                                      </p:cBhvr>
                                      <p:to>
                                        <p:strVal val="visible"/>
                                      </p:to>
                                    </p:set>
                                    <p:animEffect transition="in" filter="dissolve">
                                      <p:cBhvr>
                                        <p:cTn id="7" dur="500"/>
                                        <p:tgtEl>
                                          <p:spTgt spid="256921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9221"/>
                                        </p:tgtEl>
                                        <p:attrNameLst>
                                          <p:attrName>style.visibility</p:attrName>
                                        </p:attrNameLst>
                                      </p:cBhvr>
                                      <p:to>
                                        <p:strVal val="visible"/>
                                      </p:to>
                                    </p:set>
                                    <p:animEffect transition="in" filter="wipe(left)">
                                      <p:cBhvr>
                                        <p:cTn id="12" dur="500"/>
                                        <p:tgtEl>
                                          <p:spTgt spid="2569221"/>
                                        </p:tgtEl>
                                      </p:cBhvr>
                                    </p:animEffect>
                                  </p:childTnLst>
                                </p:cTn>
                              </p:par>
                              <p:par>
                                <p:cTn id="13" presetID="22" presetClass="entr" presetSubtype="1" fill="hold" nodeType="withEffect">
                                  <p:stCondLst>
                                    <p:cond delay="0"/>
                                  </p:stCondLst>
                                  <p:childTnLst>
                                    <p:set>
                                      <p:cBhvr>
                                        <p:cTn id="14" dur="1" fill="hold">
                                          <p:stCondLst>
                                            <p:cond delay="0"/>
                                          </p:stCondLst>
                                        </p:cTn>
                                        <p:tgtEl>
                                          <p:spTgt spid="2569222"/>
                                        </p:tgtEl>
                                        <p:attrNameLst>
                                          <p:attrName>style.visibility</p:attrName>
                                        </p:attrNameLst>
                                      </p:cBhvr>
                                      <p:to>
                                        <p:strVal val="visible"/>
                                      </p:to>
                                    </p:set>
                                    <p:animEffect transition="in" filter="wipe(up)">
                                      <p:cBhvr>
                                        <p:cTn id="15" dur="500"/>
                                        <p:tgtEl>
                                          <p:spTgt spid="256922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69223"/>
                                        </p:tgtEl>
                                        <p:attrNameLst>
                                          <p:attrName>style.visibility</p:attrName>
                                        </p:attrNameLst>
                                      </p:cBhvr>
                                      <p:to>
                                        <p:strVal val="visible"/>
                                      </p:to>
                                    </p:set>
                                    <p:animEffect transition="in" filter="wipe(left)">
                                      <p:cBhvr>
                                        <p:cTn id="20" dur="500"/>
                                        <p:tgtEl>
                                          <p:spTgt spid="2569223"/>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2569224"/>
                                        </p:tgtEl>
                                        <p:attrNameLst>
                                          <p:attrName>style.visibility</p:attrName>
                                        </p:attrNameLst>
                                      </p:cBhvr>
                                      <p:to>
                                        <p:strVal val="visible"/>
                                      </p:to>
                                    </p:set>
                                    <p:animEffect transition="in" filter="wipe(left)">
                                      <p:cBhvr>
                                        <p:cTn id="23" dur="500"/>
                                        <p:tgtEl>
                                          <p:spTgt spid="256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9219" grpId="0"/>
      <p:bldP spid="2569221" grpId="0"/>
      <p:bldP spid="2569223" grpId="0"/>
      <p:bldP spid="2569224" grpId="0"/>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0243" name="矩形 2570242"/>
          <p:cNvSpPr/>
          <p:nvPr/>
        </p:nvSpPr>
        <p:spPr>
          <a:xfrm>
            <a:off x="504825" y="1052513"/>
            <a:ext cx="3132138" cy="579437"/>
          </a:xfrm>
          <a:prstGeom prst="rect">
            <a:avLst/>
          </a:prstGeom>
          <a:noFill/>
          <a:ln w="9525">
            <a:noFill/>
          </a:ln>
        </p:spPr>
        <p:txBody>
          <a:bodyPr>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代数插值法</a:t>
            </a:r>
            <a:r>
              <a:rPr lang="en-US" altLang="zh-CN" sz="2800" b="1">
                <a:solidFill>
                  <a:schemeClr val="accent2"/>
                </a:solidFill>
                <a:effectLst>
                  <a:outerShdw blurRad="38100" dist="38100" dir="2700000">
                    <a:srgbClr val="C0C0C0"/>
                  </a:outerShdw>
                </a:effectLst>
                <a:latin typeface="Arial" panose="020B0604020202020204" pitchFamily="34" charset="0"/>
                <a:ea typeface="楷体_GB2312" pitchFamily="49" charset="-122"/>
              </a:rPr>
              <a:t>:</a:t>
            </a:r>
            <a:r>
              <a:rPr lang="en-US" altLang="zh-CN" sz="3200" b="1">
                <a:solidFill>
                  <a:schemeClr val="accent2"/>
                </a:solidFill>
                <a:effectLst>
                  <a:outerShdw blurRad="38100" dist="38100" dir="2700000">
                    <a:srgbClr val="C0C0C0"/>
                  </a:outerShdw>
                </a:effectLst>
                <a:latin typeface="Arial" panose="020B0604020202020204" pitchFamily="34" charset="0"/>
                <a:ea typeface="楷体_GB2312" pitchFamily="49" charset="-122"/>
              </a:rPr>
              <a:t>   </a:t>
            </a:r>
            <a:endParaRPr lang="en-US" altLang="zh-CN" sz="3200" b="1">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0244" name="矩形 2570243"/>
          <p:cNvSpPr/>
          <p:nvPr/>
        </p:nvSpPr>
        <p:spPr>
          <a:xfrm>
            <a:off x="576263" y="1946275"/>
            <a:ext cx="7265987" cy="1006475"/>
          </a:xfrm>
          <a:prstGeom prst="rect">
            <a:avLst/>
          </a:prstGeom>
          <a:noFill/>
          <a:ln w="9525">
            <a:noFill/>
          </a:ln>
        </p:spPr>
        <p:txBody>
          <a:bodyPr wrap="none"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设被测量</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f</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0"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与</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传感器的输出值</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在</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 </a:t>
            </a:r>
            <a:endPar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个相异点</a:t>
            </a:r>
            <a:r>
              <a:rPr lang="zh-CN" altLang="en-US" sz="1800" b="0" dirty="0">
                <a:solidFill>
                  <a:schemeClr val="tx1"/>
                </a:solidFill>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70245" name="对象 2570244"/>
          <p:cNvGraphicFramePr/>
          <p:nvPr/>
        </p:nvGraphicFramePr>
        <p:xfrm>
          <a:off x="1547813" y="3213100"/>
          <a:ext cx="5653087" cy="620713"/>
        </p:xfrm>
        <a:graphic>
          <a:graphicData uri="http://schemas.openxmlformats.org/presentationml/2006/ole">
            <mc:AlternateContent xmlns:mc="http://schemas.openxmlformats.org/markup-compatibility/2006">
              <mc:Choice xmlns:v="urn:schemas-microsoft-com:vml" Requires="v">
                <p:oleObj spid="_x0000_s3078" name="" r:id="rId1" imgW="1879600" imgH="203200" progId="Equation.3">
                  <p:embed/>
                </p:oleObj>
              </mc:Choice>
              <mc:Fallback>
                <p:oleObj name="" r:id="rId1" imgW="1879600" imgH="203200" progId="Equation.3">
                  <p:embed/>
                  <p:pic>
                    <p:nvPicPr>
                      <p:cNvPr id="0" name="图片 3077"/>
                      <p:cNvPicPr/>
                      <p:nvPr/>
                    </p:nvPicPr>
                    <p:blipFill>
                      <a:blip r:embed="rId2"/>
                      <a:stretch>
                        <a:fillRect/>
                      </a:stretch>
                    </p:blipFill>
                    <p:spPr>
                      <a:xfrm>
                        <a:off x="1547813" y="3213100"/>
                        <a:ext cx="5653087" cy="620713"/>
                      </a:xfrm>
                      <a:prstGeom prst="rect">
                        <a:avLst/>
                      </a:prstGeom>
                      <a:noFill/>
                      <a:ln w="38100">
                        <a:noFill/>
                        <a:miter/>
                      </a:ln>
                    </p:spPr>
                  </p:pic>
                </p:oleObj>
              </mc:Fallback>
            </mc:AlternateContent>
          </a:graphicData>
        </a:graphic>
      </p:graphicFrame>
      <p:sp>
        <p:nvSpPr>
          <p:cNvPr id="2570246" name="矩形 2570245"/>
          <p:cNvSpPr/>
          <p:nvPr/>
        </p:nvSpPr>
        <p:spPr>
          <a:xfrm>
            <a:off x="612775" y="4073525"/>
            <a:ext cx="2327275" cy="519113"/>
          </a:xfrm>
          <a:prstGeom prst="rect">
            <a:avLst/>
          </a:prstGeom>
          <a:noFill/>
          <a:ln w="9525">
            <a:noFill/>
          </a:ln>
        </p:spPr>
        <p:txBody>
          <a:bodyPr wrap="none" anchor="ctr" anchorCtr="0">
            <a:spAutoFit/>
          </a:bodyPr>
          <a:p>
            <a:pPr defTabSz="914400" eaLnBrk="1" hangingPunct="1">
              <a:lnSpc>
                <a:spcPct val="100000"/>
              </a:lnSpc>
              <a:tabLst>
                <a:tab pos="-1295400" algn="l"/>
              </a:tabLst>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处的函数值为</a:t>
            </a:r>
            <a:endPar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0247" name="矩形 2570246"/>
          <p:cNvSpPr/>
          <p:nvPr/>
        </p:nvSpPr>
        <p:spPr>
          <a:xfrm>
            <a:off x="1547813" y="5043488"/>
            <a:ext cx="5138737" cy="519112"/>
          </a:xfrm>
          <a:prstGeom prst="rect">
            <a:avLst/>
          </a:prstGeom>
          <a:noFill/>
          <a:ln w="9525">
            <a:noFill/>
          </a:ln>
        </p:spPr>
        <p:txBody>
          <a:bodyPr wrap="none" anchor="ctr" anchorCtr="0">
            <a:spAutoFit/>
          </a:bodyPr>
          <a:p>
            <a:pPr defTabSz="914400" eaLnBrk="1" hangingPunct="1">
              <a:lnSpc>
                <a:spcPct val="100000"/>
              </a:lnSpc>
              <a:tabLst>
                <a:tab pos="-1295400" algn="l"/>
              </a:tabLst>
            </a:pP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f</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x</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0</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y</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0</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f</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x</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y</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f</a:t>
            </a:r>
            <a:r>
              <a:rPr lang="en-US" altLang="zh-CN" sz="2800" b="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x</a:t>
            </a:r>
            <a:r>
              <a:rPr lang="en-US" altLang="zh-CN" sz="2800" b="1" baseline="-25000"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n</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y</a:t>
            </a:r>
            <a:r>
              <a:rPr lang="en-US" altLang="zh-CN" sz="2800" b="1" baseline="-25000"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n</a:t>
            </a:r>
            <a:endParaRPr lang="en-US" altLang="zh-CN" sz="2800" b="1" baseline="-25000"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70248" name="文本框 257024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570243"/>
                                        </p:tgtEl>
                                        <p:attrNameLst>
                                          <p:attrName>style.visibility</p:attrName>
                                        </p:attrNameLst>
                                      </p:cBhvr>
                                      <p:to>
                                        <p:strVal val="visible"/>
                                      </p:to>
                                    </p:set>
                                    <p:animEffect transition="in" filter="wipe(left)">
                                      <p:cBhvr>
                                        <p:cTn id="7" dur="500"/>
                                        <p:tgtEl>
                                          <p:spTgt spid="257024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70244">
                                            <p:txEl>
                                              <p:charRg st="0" end="29"/>
                                            </p:txEl>
                                          </p:spTgt>
                                        </p:tgtEl>
                                        <p:attrNameLst>
                                          <p:attrName>style.visibility</p:attrName>
                                        </p:attrNameLst>
                                      </p:cBhvr>
                                      <p:to>
                                        <p:strVal val="visible"/>
                                      </p:to>
                                    </p:set>
                                    <p:animEffect transition="in" filter="wipe(left)">
                                      <p:cBhvr>
                                        <p:cTn id="12" dur="500"/>
                                        <p:tgtEl>
                                          <p:spTgt spid="2570244">
                                            <p:txEl>
                                              <p:charRg st="0" end="29"/>
                                            </p:txEl>
                                          </p:spTgt>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70244">
                                            <p:txEl>
                                              <p:charRg st="29" end="36"/>
                                            </p:txEl>
                                          </p:spTgt>
                                        </p:tgtEl>
                                        <p:attrNameLst>
                                          <p:attrName>style.visibility</p:attrName>
                                        </p:attrNameLst>
                                      </p:cBhvr>
                                      <p:to>
                                        <p:strVal val="visible"/>
                                      </p:to>
                                    </p:set>
                                    <p:animEffect transition="in" filter="wipe(left)">
                                      <p:cBhvr>
                                        <p:cTn id="15" dur="500"/>
                                        <p:tgtEl>
                                          <p:spTgt spid="2570244">
                                            <p:txEl>
                                              <p:charRg st="29" end="36"/>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570245"/>
                                        </p:tgtEl>
                                        <p:attrNameLst>
                                          <p:attrName>style.visibility</p:attrName>
                                        </p:attrNameLst>
                                      </p:cBhvr>
                                      <p:to>
                                        <p:strVal val="visible"/>
                                      </p:to>
                                    </p:set>
                                    <p:animEffect transition="in" filter="wipe(left)">
                                      <p:cBhvr>
                                        <p:cTn id="20" dur="500"/>
                                        <p:tgtEl>
                                          <p:spTgt spid="257024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2570246"/>
                                        </p:tgtEl>
                                        <p:attrNameLst>
                                          <p:attrName>style.visibility</p:attrName>
                                        </p:attrNameLst>
                                      </p:cBhvr>
                                      <p:to>
                                        <p:strVal val="visible"/>
                                      </p:to>
                                    </p:set>
                                    <p:animEffect transition="in" filter="wipe(left)">
                                      <p:cBhvr>
                                        <p:cTn id="25" dur="500"/>
                                        <p:tgtEl>
                                          <p:spTgt spid="257024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2570247"/>
                                        </p:tgtEl>
                                        <p:attrNameLst>
                                          <p:attrName>style.visibility</p:attrName>
                                        </p:attrNameLst>
                                      </p:cBhvr>
                                      <p:to>
                                        <p:strVal val="visible"/>
                                      </p:to>
                                    </p:set>
                                    <p:animEffect transition="in" filter="wipe(left)">
                                      <p:cBhvr>
                                        <p:cTn id="30" dur="500"/>
                                        <p:tgtEl>
                                          <p:spTgt spid="25702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0243" grpId="0"/>
      <p:bldP spid="2570244" grpId="0" uiExpand="1" build="p"/>
      <p:bldP spid="2570246" grpId="0"/>
      <p:bldP spid="2570247"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1267" name="矩形 2571266"/>
          <p:cNvSpPr/>
          <p:nvPr/>
        </p:nvSpPr>
        <p:spPr>
          <a:xfrm>
            <a:off x="684213" y="1120775"/>
            <a:ext cx="5399087" cy="519113"/>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用一个阶数为</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的多项式</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pSp>
        <p:nvGrpSpPr>
          <p:cNvPr id="2571268" name="组合 2571267"/>
          <p:cNvGrpSpPr/>
          <p:nvPr/>
        </p:nvGrpSpPr>
        <p:grpSpPr>
          <a:xfrm>
            <a:off x="684213" y="1989138"/>
            <a:ext cx="8189912" cy="534987"/>
            <a:chOff x="431" y="1298"/>
            <a:chExt cx="5375" cy="357"/>
          </a:xfrm>
        </p:grpSpPr>
        <p:graphicFrame>
          <p:nvGraphicFramePr>
            <p:cNvPr id="2571269" name="对象 2571268"/>
            <p:cNvGraphicFramePr/>
            <p:nvPr/>
          </p:nvGraphicFramePr>
          <p:xfrm>
            <a:off x="431" y="1298"/>
            <a:ext cx="4581" cy="357"/>
          </p:xfrm>
          <a:graphic>
            <a:graphicData uri="http://schemas.openxmlformats.org/presentationml/2006/ole">
              <mc:AlternateContent xmlns:mc="http://schemas.openxmlformats.org/markup-compatibility/2006">
                <mc:Choice xmlns:v="urn:schemas-microsoft-com:vml" Requires="v">
                  <p:oleObj spid="_x0000_s3077" name="" r:id="rId1" imgW="2451100" imgH="228600" progId="Equation.3">
                    <p:embed/>
                  </p:oleObj>
                </mc:Choice>
                <mc:Fallback>
                  <p:oleObj name="" r:id="rId1" imgW="2451100" imgH="228600" progId="Equation.3">
                    <p:embed/>
                    <p:pic>
                      <p:nvPicPr>
                        <p:cNvPr id="0" name="图片 3076"/>
                        <p:cNvPicPr/>
                        <p:nvPr/>
                      </p:nvPicPr>
                      <p:blipFill>
                        <a:blip r:embed="rId2"/>
                        <a:stretch>
                          <a:fillRect/>
                        </a:stretch>
                      </p:blipFill>
                      <p:spPr>
                        <a:xfrm>
                          <a:off x="431" y="1298"/>
                          <a:ext cx="4581" cy="357"/>
                        </a:xfrm>
                        <a:prstGeom prst="rect">
                          <a:avLst/>
                        </a:prstGeom>
                        <a:noFill/>
                        <a:ln w="38100">
                          <a:noFill/>
                          <a:miter/>
                        </a:ln>
                      </p:spPr>
                    </p:pic>
                  </p:oleObj>
                </mc:Fallback>
              </mc:AlternateContent>
            </a:graphicData>
          </a:graphic>
        </p:graphicFrame>
        <p:sp>
          <p:nvSpPr>
            <p:cNvPr id="2571270" name="矩形 2571269"/>
            <p:cNvSpPr/>
            <p:nvPr/>
          </p:nvSpPr>
          <p:spPr>
            <a:xfrm>
              <a:off x="4926" y="1298"/>
              <a:ext cx="880" cy="346"/>
            </a:xfrm>
            <a:prstGeom prst="rect">
              <a:avLst/>
            </a:prstGeom>
            <a:noFill/>
            <a:ln w="9525">
              <a:noFill/>
            </a:ln>
          </p:spPr>
          <p:txBody>
            <a:bodyPr wrap="none" anchor="ctr" anchorCtr="0">
              <a:spAutoFit/>
            </a:bodyPr>
            <a:p>
              <a:pPr eaLnBrk="1" hangingPunct="1">
                <a:lnSpc>
                  <a:spcPct val="100000"/>
                </a:lnSpc>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( 10-4 )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571271" name="矩形 2571270"/>
          <p:cNvSpPr/>
          <p:nvPr/>
        </p:nvSpPr>
        <p:spPr>
          <a:xfrm>
            <a:off x="684213" y="2852738"/>
            <a:ext cx="8135937" cy="579437"/>
          </a:xfrm>
          <a:prstGeom prst="rect">
            <a:avLst/>
          </a:prstGeom>
          <a:noFill/>
          <a:ln w="9525">
            <a:noFill/>
          </a:ln>
        </p:spPr>
        <p:txBody>
          <a:bodyPr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去逼近函数</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f</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，使</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P</a:t>
            </a:r>
            <a:r>
              <a:rPr lang="en-US" altLang="zh-CN" sz="2800" b="1" baseline="-25000"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在点</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处满足</a:t>
            </a:r>
            <a:r>
              <a:rPr lang="zh-CN" altLang="en-US" sz="1800" b="0" dirty="0">
                <a:solidFill>
                  <a:schemeClr val="tx1"/>
                </a:solidFill>
                <a:latin typeface="Arial" panose="020B0604020202020204" pitchFamily="34" charset="0"/>
                <a:ea typeface="宋体" panose="02010600030101010101" pitchFamily="2" charset="-122"/>
              </a:rPr>
              <a:t> </a:t>
            </a:r>
            <a:r>
              <a:rPr lang="zh-CN" altLang="en-US" sz="3200" b="0">
                <a:solidFill>
                  <a:schemeClr val="accent2"/>
                </a:solidFill>
                <a:latin typeface="楷体_GB2312" pitchFamily="49" charset="-122"/>
                <a:ea typeface="楷体_GB2312" pitchFamily="49" charset="-122"/>
              </a:rPr>
              <a:t> </a:t>
            </a:r>
            <a:r>
              <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grpSp>
        <p:nvGrpSpPr>
          <p:cNvPr id="2571272" name="组合 2571271"/>
          <p:cNvGrpSpPr/>
          <p:nvPr/>
        </p:nvGrpSpPr>
        <p:grpSpPr>
          <a:xfrm>
            <a:off x="828675" y="3789363"/>
            <a:ext cx="8067675" cy="525462"/>
            <a:chOff x="522" y="2523"/>
            <a:chExt cx="5340" cy="343"/>
          </a:xfrm>
        </p:grpSpPr>
        <p:graphicFrame>
          <p:nvGraphicFramePr>
            <p:cNvPr id="2571273" name="对象 2571272"/>
            <p:cNvGraphicFramePr/>
            <p:nvPr/>
          </p:nvGraphicFramePr>
          <p:xfrm>
            <a:off x="522" y="2523"/>
            <a:ext cx="2177" cy="325"/>
          </p:xfrm>
          <a:graphic>
            <a:graphicData uri="http://schemas.openxmlformats.org/presentationml/2006/ole">
              <mc:AlternateContent xmlns:mc="http://schemas.openxmlformats.org/markup-compatibility/2006">
                <mc:Choice xmlns:v="urn:schemas-microsoft-com:vml" Requires="v">
                  <p:oleObj spid="_x0000_s3076" name="" r:id="rId3" imgW="1244600" imgH="203200" progId="Equation.3">
                    <p:embed/>
                  </p:oleObj>
                </mc:Choice>
                <mc:Fallback>
                  <p:oleObj name="" r:id="rId3" imgW="1244600" imgH="203200" progId="Equation.3">
                    <p:embed/>
                    <p:pic>
                      <p:nvPicPr>
                        <p:cNvPr id="0" name="图片 3075"/>
                        <p:cNvPicPr/>
                        <p:nvPr/>
                      </p:nvPicPr>
                      <p:blipFill>
                        <a:blip r:embed="rId4"/>
                        <a:stretch>
                          <a:fillRect/>
                        </a:stretch>
                      </p:blipFill>
                      <p:spPr>
                        <a:xfrm>
                          <a:off x="522" y="2523"/>
                          <a:ext cx="2177" cy="325"/>
                        </a:xfrm>
                        <a:prstGeom prst="rect">
                          <a:avLst/>
                        </a:prstGeom>
                        <a:noFill/>
                        <a:ln w="38100">
                          <a:noFill/>
                          <a:miter/>
                        </a:ln>
                      </p:spPr>
                    </p:pic>
                  </p:oleObj>
                </mc:Fallback>
              </mc:AlternateContent>
            </a:graphicData>
          </a:graphic>
        </p:graphicFrame>
        <p:sp>
          <p:nvSpPr>
            <p:cNvPr id="2571274" name="矩形 2571273"/>
            <p:cNvSpPr/>
            <p:nvPr/>
          </p:nvSpPr>
          <p:spPr>
            <a:xfrm>
              <a:off x="2835" y="2527"/>
              <a:ext cx="3027" cy="339"/>
            </a:xfrm>
            <a:prstGeom prst="rect">
              <a:avLst/>
            </a:prstGeom>
            <a:noFill/>
            <a:ln w="9525">
              <a:noFill/>
            </a:ln>
          </p:spPr>
          <p:txBody>
            <a:bodyPr wrap="none" anchor="ctr" anchorCtr="0">
              <a:spAutoFit/>
            </a:bodyPr>
            <a:p>
              <a:pPr eaLnBrk="1" hangingPunct="1">
                <a:lnSpc>
                  <a:spcPct val="100000"/>
                </a:lnSpc>
              </a:pPr>
              <a:r>
                <a:rPr lang="zh-CN" altLang="en-US" sz="2800" b="0" dirty="0">
                  <a:solidFill>
                    <a:schemeClr val="tx1"/>
                  </a:solidFill>
                  <a:latin typeface="Times New Roman" panose="02020603050405020304" pitchFamily="18" charset="0"/>
                  <a:ea typeface="宋体" panose="02010600030101010101" pitchFamily="2" charset="-122"/>
                </a:rPr>
                <a:t>（</a:t>
              </a:r>
              <a:r>
                <a:rPr lang="en-US" altLang="zh-CN" sz="2800" b="0" i="1">
                  <a:solidFill>
                    <a:schemeClr val="tx1"/>
                  </a:solidFill>
                  <a:latin typeface="Times New Roman" panose="02020603050405020304" pitchFamily="18" charset="0"/>
                  <a:ea typeface="宋体" panose="02010600030101010101" pitchFamily="2" charset="-122"/>
                </a:rPr>
                <a:t>i </a:t>
              </a:r>
              <a:r>
                <a:rPr lang="en-US" altLang="zh-CN" sz="2800" b="0">
                  <a:solidFill>
                    <a:schemeClr val="tx1"/>
                  </a:solidFill>
                  <a:latin typeface="Times New Roman" panose="02020603050405020304" pitchFamily="18" charset="0"/>
                  <a:ea typeface="宋体" panose="02010600030101010101" pitchFamily="2" charset="-122"/>
                </a:rPr>
                <a:t>= 0</a:t>
              </a:r>
              <a:r>
                <a:rPr lang="zh-CN" altLang="en-US" sz="2800" b="0" dirty="0">
                  <a:solidFill>
                    <a:schemeClr val="tx1"/>
                  </a:solidFill>
                  <a:latin typeface="Times New Roman" panose="02020603050405020304" pitchFamily="18" charset="0"/>
                  <a:ea typeface="宋体" panose="02010600030101010101" pitchFamily="2" charset="-122"/>
                </a:rPr>
                <a:t>，</a:t>
              </a:r>
              <a:r>
                <a:rPr lang="en-US" altLang="zh-CN" sz="2800" b="0">
                  <a:solidFill>
                    <a:schemeClr val="tx1"/>
                  </a:solidFill>
                  <a:latin typeface="Times New Roman" panose="02020603050405020304" pitchFamily="18" charset="0"/>
                  <a:ea typeface="宋体" panose="02010600030101010101" pitchFamily="2" charset="-122"/>
                </a:rPr>
                <a:t>1</a:t>
              </a:r>
              <a:r>
                <a:rPr lang="zh-CN" altLang="en-US" sz="2800" b="0" dirty="0">
                  <a:solidFill>
                    <a:schemeClr val="tx1"/>
                  </a:solidFill>
                  <a:latin typeface="Times New Roman" panose="02020603050405020304" pitchFamily="18" charset="0"/>
                  <a:ea typeface="宋体" panose="02010600030101010101" pitchFamily="2" charset="-122"/>
                </a:rPr>
                <a:t>，</a:t>
              </a:r>
              <a:r>
                <a:rPr lang="en-US" altLang="zh-CN" sz="2800" b="0">
                  <a:solidFill>
                    <a:schemeClr val="tx1"/>
                  </a:solidFill>
                  <a:latin typeface="Times New Roman" panose="02020603050405020304" pitchFamily="18" charset="0"/>
                  <a:ea typeface="宋体" panose="02010600030101010101" pitchFamily="2" charset="-122"/>
                </a:rPr>
                <a:t>…</a:t>
              </a:r>
              <a:r>
                <a:rPr lang="zh-CN" altLang="en-US" sz="2800" b="0" dirty="0">
                  <a:solidFill>
                    <a:schemeClr val="tx1"/>
                  </a:solidFill>
                  <a:latin typeface="Times New Roman" panose="02020603050405020304" pitchFamily="18" charset="0"/>
                  <a:ea typeface="宋体" panose="02010600030101010101" pitchFamily="2" charset="-122"/>
                </a:rPr>
                <a:t>，</a:t>
              </a:r>
              <a:r>
                <a:rPr lang="en-US" altLang="zh-CN" sz="2800" b="0" i="1">
                  <a:solidFill>
                    <a:schemeClr val="tx1"/>
                  </a:solidFill>
                  <a:latin typeface="Times New Roman" panose="02020603050405020304" pitchFamily="18" charset="0"/>
                  <a:ea typeface="宋体" panose="02010600030101010101" pitchFamily="2" charset="-122"/>
                </a:rPr>
                <a:t>n</a:t>
              </a:r>
              <a:r>
                <a:rPr lang="zh-CN" altLang="en-US" sz="2800" b="0" dirty="0">
                  <a:solidFill>
                    <a:schemeClr val="tx1"/>
                  </a:solidFill>
                  <a:latin typeface="Times New Roman" panose="02020603050405020304" pitchFamily="18" charset="0"/>
                  <a:ea typeface="宋体" panose="02010600030101010101" pitchFamily="2" charset="-122"/>
                </a:rPr>
                <a:t>）</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( 10-5 )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571275" name="矩形 2571274"/>
          <p:cNvSpPr/>
          <p:nvPr/>
        </p:nvSpPr>
        <p:spPr>
          <a:xfrm>
            <a:off x="477838" y="4648200"/>
            <a:ext cx="8485187" cy="1373188"/>
          </a:xfrm>
          <a:prstGeom prst="rect">
            <a:avLst/>
          </a:prstGeom>
          <a:noFill/>
          <a:ln w="9525">
            <a:noFill/>
          </a:ln>
        </p:spPr>
        <p:txBody>
          <a:bodyPr anchor="ctr" anchorCtr="0">
            <a:spAutoFit/>
          </a:bodyPr>
          <a:p>
            <a:pPr eaLnBrk="1" hangingPunct="1">
              <a:lnSpc>
                <a:spcPct val="100000"/>
              </a:lnSpc>
            </a:pPr>
            <a:r>
              <a:rPr lang="en-US" altLang="zh-CN" sz="28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由于式（</a:t>
            </a: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10-4</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）中的待定系数</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baseline="-25000">
                <a:solidFill>
                  <a:srgbClr val="3333FF"/>
                </a:solidFill>
                <a:effectLst>
                  <a:outerShdw blurRad="38100" dist="38100" dir="2700000">
                    <a:srgbClr val="C0C0C0"/>
                  </a:outerShdw>
                </a:effectLst>
                <a:latin typeface="Times New Roman" panose="02020603050405020304" pitchFamily="18" charset="0"/>
                <a:ea typeface="楷体_GB2312" pitchFamily="49" charset="-122"/>
              </a:rPr>
              <a:t>0</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baseline="-25000">
                <a:solidFill>
                  <a:srgbClr val="3333FF"/>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a:t>
            </a:r>
            <a:r>
              <a:rPr lang="en-US" altLang="zh-CN" sz="2800" b="1">
                <a:solidFill>
                  <a:srgbClr val="3333FF"/>
                </a:solidFill>
                <a:latin typeface="宋体" panose="02010600030101010101" pitchFamily="2" charset="-122"/>
                <a:ea typeface="楷体_GB2312" pitchFamily="49" charset="-122"/>
              </a:rPr>
              <a:t>…</a:t>
            </a:r>
            <a:r>
              <a:rPr lang="en-US" altLang="zh-CN" sz="2800" b="1">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i="1" baseline="-25000">
                <a:solidFill>
                  <a:srgbClr val="3333FF"/>
                </a:solidFill>
                <a:effectLst>
                  <a:outerShdw blurRad="38100" dist="38100" dir="2700000">
                    <a:srgbClr val="C0C0C0"/>
                  </a:outerShdw>
                </a:effectLst>
                <a:latin typeface="Times New Roman" panose="02020603050405020304" pitchFamily="18" charset="0"/>
                <a:ea typeface="楷体_GB2312" pitchFamily="49" charset="-122"/>
              </a:rPr>
              <a:t>n</a:t>
            </a:r>
            <a:endParaRPr lang="en-US" altLang="zh-CN" sz="2800" b="1" i="1" baseline="-25000">
              <a:solidFill>
                <a:srgbClr val="3333FF"/>
              </a:solidFill>
              <a:effectLst>
                <a:outerShdw blurRad="38100" dist="38100" dir="2700000">
                  <a:srgbClr val="C0C0C0"/>
                </a:outerShdw>
              </a:effectLst>
              <a:latin typeface="Times New Roman" panose="02020603050405020304" pitchFamily="18" charset="0"/>
              <a:ea typeface="楷体_GB2312" pitchFamily="49" charset="-122"/>
            </a:endParaRPr>
          </a:p>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共有</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个 ，而它所应满足的方程（</a:t>
            </a: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10-5</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）也有</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+1</a:t>
            </a:r>
            <a:endParaRPr lang="en-US" altLang="zh-CN" sz="2800" b="1">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个，因此，可以得到以下方程组</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1276" name="文本框 257127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1267"/>
                                        </p:tgtEl>
                                        <p:attrNameLst>
                                          <p:attrName>style.visibility</p:attrName>
                                        </p:attrNameLst>
                                      </p:cBhvr>
                                      <p:to>
                                        <p:strVal val="visible"/>
                                      </p:to>
                                    </p:set>
                                    <p:animEffect transition="in" filter="dissolve">
                                      <p:cBhvr>
                                        <p:cTn id="7" dur="500"/>
                                        <p:tgtEl>
                                          <p:spTgt spid="257126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71268"/>
                                        </p:tgtEl>
                                        <p:attrNameLst>
                                          <p:attrName>style.visibility</p:attrName>
                                        </p:attrNameLst>
                                      </p:cBhvr>
                                      <p:to>
                                        <p:strVal val="visible"/>
                                      </p:to>
                                    </p:set>
                                    <p:animEffect transition="in" filter="wipe(left)">
                                      <p:cBhvr>
                                        <p:cTn id="12" dur="500"/>
                                        <p:tgtEl>
                                          <p:spTgt spid="257126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71271"/>
                                        </p:tgtEl>
                                        <p:attrNameLst>
                                          <p:attrName>style.visibility</p:attrName>
                                        </p:attrNameLst>
                                      </p:cBhvr>
                                      <p:to>
                                        <p:strVal val="visible"/>
                                      </p:to>
                                    </p:set>
                                    <p:animEffect transition="in" filter="dissolve">
                                      <p:cBhvr>
                                        <p:cTn id="17" dur="500"/>
                                        <p:tgtEl>
                                          <p:spTgt spid="257127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571272"/>
                                        </p:tgtEl>
                                        <p:attrNameLst>
                                          <p:attrName>style.visibility</p:attrName>
                                        </p:attrNameLst>
                                      </p:cBhvr>
                                      <p:to>
                                        <p:strVal val="visible"/>
                                      </p:to>
                                    </p:set>
                                    <p:animEffect transition="in" filter="wipe(left)">
                                      <p:cBhvr>
                                        <p:cTn id="22" dur="500"/>
                                        <p:tgtEl>
                                          <p:spTgt spid="257127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571275"/>
                                        </p:tgtEl>
                                        <p:attrNameLst>
                                          <p:attrName>style.visibility</p:attrName>
                                        </p:attrNameLst>
                                      </p:cBhvr>
                                      <p:to>
                                        <p:strVal val="visible"/>
                                      </p:to>
                                    </p:set>
                                    <p:animEffect transition="in" filter="dissolve">
                                      <p:cBhvr>
                                        <p:cTn id="27" dur="500"/>
                                        <p:tgtEl>
                                          <p:spTgt spid="2571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1267" grpId="0"/>
      <p:bldP spid="2571271" grpId="0"/>
      <p:bldP spid="2571275"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2291" name="矩形 2572290"/>
          <p:cNvSpPr/>
          <p:nvPr/>
        </p:nvSpPr>
        <p:spPr>
          <a:xfrm>
            <a:off x="0" y="2368550"/>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graphicFrame>
        <p:nvGraphicFramePr>
          <p:cNvPr id="2572292" name="对象 2572291"/>
          <p:cNvGraphicFramePr/>
          <p:nvPr/>
        </p:nvGraphicFramePr>
        <p:xfrm>
          <a:off x="396875" y="765175"/>
          <a:ext cx="7488238" cy="3084513"/>
        </p:xfrm>
        <a:graphic>
          <a:graphicData uri="http://schemas.openxmlformats.org/presentationml/2006/ole">
            <mc:AlternateContent xmlns:mc="http://schemas.openxmlformats.org/markup-compatibility/2006">
              <mc:Choice xmlns:v="urn:schemas-microsoft-com:vml" Requires="v">
                <p:oleObj spid="_x0000_s3086" name="" r:id="rId1" imgW="2362200" imgH="1295400" progId="Equation.3">
                  <p:embed/>
                </p:oleObj>
              </mc:Choice>
              <mc:Fallback>
                <p:oleObj name="" r:id="rId1" imgW="2362200" imgH="1295400" progId="Equation.3">
                  <p:embed/>
                  <p:pic>
                    <p:nvPicPr>
                      <p:cNvPr id="0" name="图片 3085"/>
                      <p:cNvPicPr/>
                      <p:nvPr/>
                    </p:nvPicPr>
                    <p:blipFill>
                      <a:blip r:embed="rId2"/>
                      <a:stretch>
                        <a:fillRect/>
                      </a:stretch>
                    </p:blipFill>
                    <p:spPr>
                      <a:xfrm>
                        <a:off x="396875" y="765175"/>
                        <a:ext cx="7488238" cy="3084513"/>
                      </a:xfrm>
                      <a:prstGeom prst="rect">
                        <a:avLst/>
                      </a:prstGeom>
                      <a:noFill/>
                      <a:ln w="38100">
                        <a:noFill/>
                        <a:miter/>
                      </a:ln>
                    </p:spPr>
                  </p:pic>
                </p:oleObj>
              </mc:Fallback>
            </mc:AlternateContent>
          </a:graphicData>
        </a:graphic>
      </p:graphicFrame>
      <p:sp>
        <p:nvSpPr>
          <p:cNvPr id="2572293" name="矩形 2572292"/>
          <p:cNvSpPr/>
          <p:nvPr/>
        </p:nvSpPr>
        <p:spPr>
          <a:xfrm>
            <a:off x="7561263" y="2205038"/>
            <a:ext cx="1474787" cy="519112"/>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( 10-6 )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72294" name="矩形 2572293"/>
          <p:cNvSpPr/>
          <p:nvPr/>
        </p:nvSpPr>
        <p:spPr>
          <a:xfrm>
            <a:off x="612775" y="3968750"/>
            <a:ext cx="2635250" cy="579438"/>
          </a:xfrm>
          <a:prstGeom prst="rect">
            <a:avLst/>
          </a:prstGeom>
          <a:noFill/>
          <a:ln w="9525">
            <a:noFill/>
          </a:ln>
        </p:spPr>
        <p:txBody>
          <a:bodyPr wrap="none"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可以证明</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2295" name="矩形 2572294"/>
          <p:cNvSpPr/>
          <p:nvPr/>
        </p:nvSpPr>
        <p:spPr>
          <a:xfrm>
            <a:off x="2597150" y="4048125"/>
            <a:ext cx="6149975" cy="1006475"/>
          </a:xfrm>
          <a:prstGeom prst="rect">
            <a:avLst/>
          </a:prstGeom>
          <a:noFill/>
          <a:ln w="9525">
            <a:noFill/>
          </a:ln>
        </p:spPr>
        <p:txBody>
          <a:bodyPr anchor="ctr" anchorCtr="0">
            <a:spAutoFit/>
          </a:bodyPr>
          <a:p>
            <a:pPr eaLnBrk="1" hangingPunct="1">
              <a:lnSpc>
                <a:spcPct val="100000"/>
              </a:lnSpc>
            </a:pP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当</a:t>
            </a:r>
            <a:r>
              <a:rPr lang="en-US" altLang="zh-CN" sz="2800" b="1" i="1">
                <a:solidFill>
                  <a:srgbClr val="FF0000"/>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baseline="-25000">
                <a:solidFill>
                  <a:srgbClr val="FF0000"/>
                </a:solidFill>
                <a:effectLst>
                  <a:outerShdw blurRad="38100" dist="38100" dir="2700000">
                    <a:srgbClr val="C0C0C0"/>
                  </a:outerShdw>
                </a:effectLst>
                <a:latin typeface="Times New Roman" panose="02020603050405020304" pitchFamily="18" charset="0"/>
                <a:ea typeface="楷体_GB2312" pitchFamily="49" charset="-122"/>
              </a:rPr>
              <a:t>0</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2800" b="1" i="1">
                <a:solidFill>
                  <a:srgbClr val="FF0000"/>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baseline="-25000">
                <a:solidFill>
                  <a:srgbClr val="FF0000"/>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2800" b="1">
                <a:solidFill>
                  <a:srgbClr val="FF0000"/>
                </a:solidFill>
                <a:effectLst>
                  <a:outerShdw blurRad="38100" dist="38100" dir="2700000">
                    <a:srgbClr val="C0C0C0"/>
                  </a:outerShdw>
                </a:effectLst>
                <a:latin typeface="宋体" panose="02010600030101010101" pitchFamily="2" charset="-122"/>
                <a:ea typeface="楷体_GB2312" pitchFamily="49" charset="-122"/>
              </a:rPr>
              <a:t>…</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2800" b="1" i="1"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互异时，方程组（</a:t>
            </a:r>
            <a:r>
              <a:rPr lang="en-US" altLang="zh-CN" sz="28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10-6</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）有唯一的一组解。</a:t>
            </a:r>
            <a:r>
              <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rPr>
              <a:t> </a:t>
            </a:r>
            <a:r>
              <a:rPr lang="zh-CN" altLang="en-US" sz="3200" b="1">
                <a:solidFill>
                  <a:srgbClr val="FF0000"/>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rgbClr val="FF0000"/>
              </a:solidFill>
              <a:effectLst>
                <a:outerShdw blurRad="38100" dist="38100" dir="2700000">
                  <a:srgbClr val="C0C0C0"/>
                </a:outerShdw>
              </a:effectLst>
              <a:latin typeface="楷体_GB2312" pitchFamily="49" charset="-122"/>
              <a:ea typeface="楷体_GB2312" pitchFamily="49" charset="-122"/>
            </a:endParaRPr>
          </a:p>
        </p:txBody>
      </p:sp>
      <p:sp>
        <p:nvSpPr>
          <p:cNvPr id="2572296" name="矩形 2572295"/>
          <p:cNvSpPr/>
          <p:nvPr/>
        </p:nvSpPr>
        <p:spPr>
          <a:xfrm>
            <a:off x="539750" y="5157788"/>
            <a:ext cx="8278813" cy="946150"/>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这样，只要对已知的</a:t>
            </a:r>
            <a:r>
              <a:rPr lang="en-US" altLang="zh-CN" sz="2800" b="1" i="1">
                <a:solidFill>
                  <a:srgbClr val="FF0000"/>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rgbClr val="FF0000"/>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和</a:t>
            </a:r>
            <a:r>
              <a:rPr lang="en-US" altLang="zh-CN" sz="2800" b="1" i="1"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i="1" baseline="-25000"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1" i="1" baseline="-25000">
                <a:solidFill>
                  <a:srgbClr val="FF0000"/>
                </a:solidFill>
                <a:effectLst>
                  <a:outerShdw blurRad="38100" dist="38100" dir="2700000">
                    <a:srgbClr val="C0C0C0"/>
                  </a:outerShdw>
                </a:effectLst>
                <a:latin typeface="Times New Roman" panose="02020603050405020304" pitchFamily="18" charset="0"/>
                <a:ea typeface="楷体_GB2312" pitchFamily="49" charset="-122"/>
              </a:rPr>
              <a:t> </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=0,1,2,…,</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）去解方程（</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10-6</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），就可以得到多项式</a:t>
            </a:r>
            <a:r>
              <a:rPr lang="en-US" altLang="zh-CN" sz="2800" b="1" i="1"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P</a:t>
            </a:r>
            <a:r>
              <a:rPr lang="en-US" altLang="zh-CN" sz="2800" b="1" i="1" baseline="-25000"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i="1" err="1">
                <a:solidFill>
                  <a:srgbClr val="FF0000"/>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a:solidFill>
                  <a:srgbClr val="FF0000"/>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a:t>
            </a:r>
            <a:endPar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2297" name="文本框 2572296"/>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72292"/>
                                        </p:tgtEl>
                                        <p:attrNameLst>
                                          <p:attrName>style.visibility</p:attrName>
                                        </p:attrNameLst>
                                      </p:cBhvr>
                                      <p:to>
                                        <p:strVal val="visible"/>
                                      </p:to>
                                    </p:set>
                                    <p:animEffect transition="in" filter="dissolve">
                                      <p:cBhvr>
                                        <p:cTn id="7" dur="500"/>
                                        <p:tgtEl>
                                          <p:spTgt spid="2572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72293"/>
                                        </p:tgtEl>
                                        <p:attrNameLst>
                                          <p:attrName>style.visibility</p:attrName>
                                        </p:attrNameLst>
                                      </p:cBhvr>
                                      <p:to>
                                        <p:strVal val="visible"/>
                                      </p:to>
                                    </p:set>
                                    <p:animEffect transition="in" filter="dissolve">
                                      <p:cBhvr>
                                        <p:cTn id="10" dur="500"/>
                                        <p:tgtEl>
                                          <p:spTgt spid="257229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2572294"/>
                                        </p:tgtEl>
                                        <p:attrNameLst>
                                          <p:attrName>style.visibility</p:attrName>
                                        </p:attrNameLst>
                                      </p:cBhvr>
                                      <p:to>
                                        <p:strVal val="visible"/>
                                      </p:to>
                                    </p:set>
                                    <p:animEffect transition="in" filter="wipe(left)">
                                      <p:cBhvr>
                                        <p:cTn id="15" dur="500"/>
                                        <p:tgtEl>
                                          <p:spTgt spid="257229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72295">
                                            <p:txEl>
                                              <p:charRg st="0" end="35"/>
                                            </p:txEl>
                                          </p:spTgt>
                                        </p:tgtEl>
                                        <p:attrNameLst>
                                          <p:attrName>style.visibility</p:attrName>
                                        </p:attrNameLst>
                                      </p:cBhvr>
                                      <p:to>
                                        <p:strVal val="visible"/>
                                      </p:to>
                                    </p:set>
                                    <p:animEffect transition="in" filter="wipe(left)">
                                      <p:cBhvr>
                                        <p:cTn id="20" dur="500"/>
                                        <p:tgtEl>
                                          <p:spTgt spid="2572295">
                                            <p:txEl>
                                              <p:charRg st="0" end="35"/>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572296">
                                            <p:txEl>
                                              <p:charRg st="0" end="61"/>
                                            </p:txEl>
                                          </p:spTgt>
                                        </p:tgtEl>
                                        <p:attrNameLst>
                                          <p:attrName>style.visibility</p:attrName>
                                        </p:attrNameLst>
                                      </p:cBhvr>
                                      <p:to>
                                        <p:strVal val="visible"/>
                                      </p:to>
                                    </p:set>
                                    <p:animEffect transition="in" filter="dissolve">
                                      <p:cBhvr>
                                        <p:cTn id="25" dur="500"/>
                                        <p:tgtEl>
                                          <p:spTgt spid="2572296">
                                            <p:txEl>
                                              <p:charRg st="0" end="6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2293" grpId="0"/>
      <p:bldP spid="2572294" grpId="0"/>
      <p:bldP spid="2572295" grpId="0" build="p"/>
      <p:bldP spid="2572296" grpId="0" build="p"/>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3315" name="矩形 2573314"/>
          <p:cNvSpPr/>
          <p:nvPr/>
        </p:nvSpPr>
        <p:spPr>
          <a:xfrm>
            <a:off x="684213" y="2487613"/>
            <a:ext cx="6191250" cy="579437"/>
          </a:xfrm>
          <a:prstGeom prst="rect">
            <a:avLst/>
          </a:prstGeom>
          <a:noFill/>
          <a:ln w="9525">
            <a:noFill/>
          </a:ln>
        </p:spPr>
        <p:txBody>
          <a:bodyPr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设多项式</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P</a:t>
            </a:r>
            <a:r>
              <a:rPr lang="en-US" altLang="zh-CN" sz="2800" b="1" baseline="-25000"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为三阶多项式</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73316" name="对象 2573315"/>
          <p:cNvGraphicFramePr/>
          <p:nvPr/>
        </p:nvGraphicFramePr>
        <p:xfrm>
          <a:off x="1189038" y="3463925"/>
          <a:ext cx="6946900" cy="568325"/>
        </p:xfrm>
        <a:graphic>
          <a:graphicData uri="http://schemas.openxmlformats.org/presentationml/2006/ole">
            <mc:AlternateContent xmlns:mc="http://schemas.openxmlformats.org/markup-compatibility/2006">
              <mc:Choice xmlns:v="urn:schemas-microsoft-com:vml" Requires="v">
                <p:oleObj spid="_x0000_s3082" name="" r:id="rId1" imgW="2298700" imgH="228600" progId="Equation.3">
                  <p:embed/>
                </p:oleObj>
              </mc:Choice>
              <mc:Fallback>
                <p:oleObj name="" r:id="rId1" imgW="2298700" imgH="228600" progId="Equation.3">
                  <p:embed/>
                  <p:pic>
                    <p:nvPicPr>
                      <p:cNvPr id="0" name="图片 3081"/>
                      <p:cNvPicPr/>
                      <p:nvPr/>
                    </p:nvPicPr>
                    <p:blipFill>
                      <a:blip r:embed="rId2"/>
                      <a:stretch>
                        <a:fillRect/>
                      </a:stretch>
                    </p:blipFill>
                    <p:spPr>
                      <a:xfrm>
                        <a:off x="1189038" y="3463925"/>
                        <a:ext cx="6946900" cy="568325"/>
                      </a:xfrm>
                      <a:prstGeom prst="rect">
                        <a:avLst/>
                      </a:prstGeom>
                      <a:noFill/>
                      <a:ln w="38100">
                        <a:noFill/>
                        <a:miter/>
                      </a:ln>
                    </p:spPr>
                  </p:pic>
                </p:oleObj>
              </mc:Fallback>
            </mc:AlternateContent>
          </a:graphicData>
        </a:graphic>
      </p:graphicFrame>
      <p:sp>
        <p:nvSpPr>
          <p:cNvPr id="2573317" name="矩形 2573316"/>
          <p:cNvSpPr/>
          <p:nvPr/>
        </p:nvSpPr>
        <p:spPr>
          <a:xfrm>
            <a:off x="684213" y="4654550"/>
            <a:ext cx="7812087"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在表</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10.1</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中取</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t</a:t>
            </a:r>
            <a:r>
              <a:rPr lang="en-US" altLang="zh-CN" sz="2800" b="1" i="1">
                <a:solidFill>
                  <a:schemeClr val="accent2"/>
                </a:solidFill>
                <a:effectLst>
                  <a:outerShdw blurRad="38100" dist="38100" dir="2700000">
                    <a:srgbClr val="C0C0C0"/>
                  </a:outerShdw>
                </a:effectLst>
                <a:latin typeface="楷体_GB2312" pitchFamily="49" charset="-122"/>
                <a:ea typeface="楷体_GB2312" pitchFamily="49" charset="-122"/>
              </a:rPr>
              <a:t> </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10</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17</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27</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39</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这四点为插值点，便可以得到方程组：</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3318" name="文本框 257331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2573319" name="矩形 2573318"/>
          <p:cNvSpPr/>
          <p:nvPr/>
        </p:nvSpPr>
        <p:spPr>
          <a:xfrm>
            <a:off x="539750" y="839788"/>
            <a:ext cx="8278813" cy="1373187"/>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下面以热敏电阻测量温度为例进行说明。由于热敏电阻的阻值与温度之间的关系是非线性的，必须用多项式变换法进行标度变换。</a:t>
            </a:r>
            <a:endPar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3319">
                                            <p:txEl>
                                              <p:charRg st="0" end="65"/>
                                            </p:txEl>
                                          </p:spTgt>
                                        </p:tgtEl>
                                        <p:attrNameLst>
                                          <p:attrName>style.visibility</p:attrName>
                                        </p:attrNameLst>
                                      </p:cBhvr>
                                      <p:to>
                                        <p:strVal val="visible"/>
                                      </p:to>
                                    </p:set>
                                    <p:animEffect transition="in" filter="dissolve">
                                      <p:cBhvr>
                                        <p:cTn id="7" dur="500"/>
                                        <p:tgtEl>
                                          <p:spTgt spid="2573319">
                                            <p:txEl>
                                              <p:charRg st="0" end="65"/>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73315"/>
                                        </p:tgtEl>
                                        <p:attrNameLst>
                                          <p:attrName>style.visibility</p:attrName>
                                        </p:attrNameLst>
                                      </p:cBhvr>
                                      <p:to>
                                        <p:strVal val="visible"/>
                                      </p:to>
                                    </p:set>
                                    <p:animEffect transition="in" filter="dissolve">
                                      <p:cBhvr>
                                        <p:cTn id="12" dur="500"/>
                                        <p:tgtEl>
                                          <p:spTgt spid="25733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73316"/>
                                        </p:tgtEl>
                                        <p:attrNameLst>
                                          <p:attrName>style.visibility</p:attrName>
                                        </p:attrNameLst>
                                      </p:cBhvr>
                                      <p:to>
                                        <p:strVal val="visible"/>
                                      </p:to>
                                    </p:set>
                                    <p:animEffect transition="in" filter="wipe(left)">
                                      <p:cBhvr>
                                        <p:cTn id="17" dur="500"/>
                                        <p:tgtEl>
                                          <p:spTgt spid="257331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73317">
                                            <p:txEl>
                                              <p:charRg st="0" end="45"/>
                                            </p:txEl>
                                          </p:spTgt>
                                        </p:tgtEl>
                                        <p:attrNameLst>
                                          <p:attrName>style.visibility</p:attrName>
                                        </p:attrNameLst>
                                      </p:cBhvr>
                                      <p:to>
                                        <p:strVal val="visible"/>
                                      </p:to>
                                    </p:set>
                                    <p:animEffect transition="in" filter="dissolve">
                                      <p:cBhvr>
                                        <p:cTn id="22" dur="500"/>
                                        <p:tgtEl>
                                          <p:spTgt spid="2573317">
                                            <p:txEl>
                                              <p:charRg st="0" end="4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3315" grpId="0"/>
      <p:bldP spid="2573317" grpId="0" build="p"/>
      <p:bldP spid="2573319" grpId="0" build="p"/>
    </p:bld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aphicFrame>
        <p:nvGraphicFramePr>
          <p:cNvPr id="2574339" name="对象 2574338"/>
          <p:cNvGraphicFramePr/>
          <p:nvPr/>
        </p:nvGraphicFramePr>
        <p:xfrm>
          <a:off x="468313" y="1052513"/>
          <a:ext cx="8564562" cy="1163637"/>
        </p:xfrm>
        <a:graphic>
          <a:graphicData uri="http://schemas.openxmlformats.org/presentationml/2006/ole">
            <mc:AlternateContent xmlns:mc="http://schemas.openxmlformats.org/markup-compatibility/2006">
              <mc:Choice xmlns:v="urn:schemas-microsoft-com:vml" Requires="v">
                <p:oleObj spid="_x0000_s3087" name="" r:id="rId1" imgW="3200400" imgH="457200" progId="Equation.3">
                  <p:embed/>
                </p:oleObj>
              </mc:Choice>
              <mc:Fallback>
                <p:oleObj name="" r:id="rId1" imgW="3200400" imgH="457200" progId="Equation.3">
                  <p:embed/>
                  <p:pic>
                    <p:nvPicPr>
                      <p:cNvPr id="0" name="图片 3086"/>
                      <p:cNvPicPr/>
                      <p:nvPr/>
                    </p:nvPicPr>
                    <p:blipFill>
                      <a:blip r:embed="rId2"/>
                      <a:stretch>
                        <a:fillRect/>
                      </a:stretch>
                    </p:blipFill>
                    <p:spPr>
                      <a:xfrm>
                        <a:off x="468313" y="1052513"/>
                        <a:ext cx="8564562" cy="1163637"/>
                      </a:xfrm>
                      <a:prstGeom prst="rect">
                        <a:avLst/>
                      </a:prstGeom>
                      <a:noFill/>
                      <a:ln w="38100">
                        <a:noFill/>
                        <a:miter/>
                      </a:ln>
                    </p:spPr>
                  </p:pic>
                </p:oleObj>
              </mc:Fallback>
            </mc:AlternateContent>
          </a:graphicData>
        </a:graphic>
      </p:graphicFrame>
      <p:graphicFrame>
        <p:nvGraphicFramePr>
          <p:cNvPr id="2574340" name="对象 2574339"/>
          <p:cNvGraphicFramePr/>
          <p:nvPr/>
        </p:nvGraphicFramePr>
        <p:xfrm>
          <a:off x="485775" y="2181225"/>
          <a:ext cx="7613650" cy="623888"/>
        </p:xfrm>
        <a:graphic>
          <a:graphicData uri="http://schemas.openxmlformats.org/presentationml/2006/ole">
            <mc:AlternateContent xmlns:mc="http://schemas.openxmlformats.org/markup-compatibility/2006">
              <mc:Choice xmlns:v="urn:schemas-microsoft-com:vml" Requires="v">
                <p:oleObj spid="_x0000_s3083" name="" r:id="rId3" imgW="3111500" imgH="228600" progId="Equation.3">
                  <p:embed/>
                </p:oleObj>
              </mc:Choice>
              <mc:Fallback>
                <p:oleObj name="" r:id="rId3" imgW="3111500" imgH="228600" progId="Equation.3">
                  <p:embed/>
                  <p:pic>
                    <p:nvPicPr>
                      <p:cNvPr id="0" name="图片 3082"/>
                      <p:cNvPicPr/>
                      <p:nvPr/>
                    </p:nvPicPr>
                    <p:blipFill>
                      <a:blip r:embed="rId4"/>
                      <a:stretch>
                        <a:fillRect/>
                      </a:stretch>
                    </p:blipFill>
                    <p:spPr>
                      <a:xfrm>
                        <a:off x="485775" y="2181225"/>
                        <a:ext cx="7613650" cy="623888"/>
                      </a:xfrm>
                      <a:prstGeom prst="rect">
                        <a:avLst/>
                      </a:prstGeom>
                      <a:noFill/>
                      <a:ln w="38100">
                        <a:noFill/>
                        <a:miter/>
                      </a:ln>
                    </p:spPr>
                  </p:pic>
                </p:oleObj>
              </mc:Fallback>
            </mc:AlternateContent>
          </a:graphicData>
        </a:graphic>
      </p:graphicFrame>
      <p:graphicFrame>
        <p:nvGraphicFramePr>
          <p:cNvPr id="2574341" name="对象 2574340"/>
          <p:cNvGraphicFramePr/>
          <p:nvPr/>
        </p:nvGraphicFramePr>
        <p:xfrm>
          <a:off x="500063" y="2870200"/>
          <a:ext cx="7167562" cy="598488"/>
        </p:xfrm>
        <a:graphic>
          <a:graphicData uri="http://schemas.openxmlformats.org/presentationml/2006/ole">
            <mc:AlternateContent xmlns:mc="http://schemas.openxmlformats.org/markup-compatibility/2006">
              <mc:Choice xmlns:v="urn:schemas-microsoft-com:vml" Requires="v">
                <p:oleObj spid="_x0000_s3084" name="" r:id="rId5" imgW="3111500" imgH="228600" progId="Equation.3">
                  <p:embed/>
                </p:oleObj>
              </mc:Choice>
              <mc:Fallback>
                <p:oleObj name="" r:id="rId5" imgW="3111500" imgH="228600" progId="Equation.3">
                  <p:embed/>
                  <p:pic>
                    <p:nvPicPr>
                      <p:cNvPr id="0" name="图片 3083"/>
                      <p:cNvPicPr/>
                      <p:nvPr/>
                    </p:nvPicPr>
                    <p:blipFill>
                      <a:blip r:embed="rId6"/>
                      <a:stretch>
                        <a:fillRect/>
                      </a:stretch>
                    </p:blipFill>
                    <p:spPr>
                      <a:xfrm>
                        <a:off x="500063" y="2870200"/>
                        <a:ext cx="7167562" cy="598488"/>
                      </a:xfrm>
                      <a:prstGeom prst="rect">
                        <a:avLst/>
                      </a:prstGeom>
                      <a:noFill/>
                      <a:ln w="38100">
                        <a:noFill/>
                        <a:miter/>
                      </a:ln>
                    </p:spPr>
                  </p:pic>
                </p:oleObj>
              </mc:Fallback>
            </mc:AlternateContent>
          </a:graphicData>
        </a:graphic>
      </p:graphicFrame>
      <p:sp>
        <p:nvSpPr>
          <p:cNvPr id="2574342" name="矩形 2574341"/>
          <p:cNvSpPr/>
          <p:nvPr/>
        </p:nvSpPr>
        <p:spPr>
          <a:xfrm>
            <a:off x="539750" y="3860800"/>
            <a:ext cx="4391025" cy="579438"/>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解上述方程组，得</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4343" name="矩形 2574342"/>
          <p:cNvSpPr/>
          <p:nvPr/>
        </p:nvSpPr>
        <p:spPr>
          <a:xfrm>
            <a:off x="0" y="3176588"/>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graphicFrame>
        <p:nvGraphicFramePr>
          <p:cNvPr id="2574344" name="对象 2574343"/>
          <p:cNvGraphicFramePr/>
          <p:nvPr/>
        </p:nvGraphicFramePr>
        <p:xfrm>
          <a:off x="1044575" y="4652963"/>
          <a:ext cx="6983413" cy="1263650"/>
        </p:xfrm>
        <a:graphic>
          <a:graphicData uri="http://schemas.openxmlformats.org/presentationml/2006/ole">
            <mc:AlternateContent xmlns:mc="http://schemas.openxmlformats.org/markup-compatibility/2006">
              <mc:Choice xmlns:v="urn:schemas-microsoft-com:vml" Requires="v">
                <p:oleObj spid="_x0000_s3085" name="" r:id="rId7" imgW="2260600" imgH="444500" progId="Equation.3">
                  <p:embed/>
                </p:oleObj>
              </mc:Choice>
              <mc:Fallback>
                <p:oleObj name="" r:id="rId7" imgW="2260600" imgH="444500" progId="Equation.3">
                  <p:embed/>
                  <p:pic>
                    <p:nvPicPr>
                      <p:cNvPr id="0" name="图片 3084"/>
                      <p:cNvPicPr/>
                      <p:nvPr/>
                    </p:nvPicPr>
                    <p:blipFill>
                      <a:blip r:embed="rId8"/>
                      <a:stretch>
                        <a:fillRect/>
                      </a:stretch>
                    </p:blipFill>
                    <p:spPr>
                      <a:xfrm>
                        <a:off x="1044575" y="4652963"/>
                        <a:ext cx="6983413" cy="1263650"/>
                      </a:xfrm>
                      <a:prstGeom prst="rect">
                        <a:avLst/>
                      </a:prstGeom>
                      <a:noFill/>
                      <a:ln w="38100">
                        <a:noFill/>
                        <a:miter/>
                      </a:ln>
                    </p:spPr>
                  </p:pic>
                </p:oleObj>
              </mc:Fallback>
            </mc:AlternateContent>
          </a:graphicData>
        </a:graphic>
      </p:graphicFrame>
      <p:sp>
        <p:nvSpPr>
          <p:cNvPr id="2574345" name="文本框 257434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574339"/>
                                        </p:tgtEl>
                                        <p:attrNameLst>
                                          <p:attrName>style.visibility</p:attrName>
                                        </p:attrNameLst>
                                      </p:cBhvr>
                                      <p:to>
                                        <p:strVal val="visible"/>
                                      </p:to>
                                    </p:set>
                                    <p:animEffect transition="in" filter="wipe(up)">
                                      <p:cBhvr>
                                        <p:cTn id="7" dur="500"/>
                                        <p:tgtEl>
                                          <p:spTgt spid="2574339"/>
                                        </p:tgtEl>
                                      </p:cBhvr>
                                    </p:animEffect>
                                  </p:childTnLst>
                                </p:cTn>
                              </p:par>
                              <p:par>
                                <p:cTn id="8" presetID="22" presetClass="entr" presetSubtype="1" fill="hold" nodeType="withEffect">
                                  <p:stCondLst>
                                    <p:cond delay="0"/>
                                  </p:stCondLst>
                                  <p:childTnLst>
                                    <p:set>
                                      <p:cBhvr>
                                        <p:cTn id="9" dur="1" fill="hold">
                                          <p:stCondLst>
                                            <p:cond delay="0"/>
                                          </p:stCondLst>
                                        </p:cTn>
                                        <p:tgtEl>
                                          <p:spTgt spid="2574340"/>
                                        </p:tgtEl>
                                        <p:attrNameLst>
                                          <p:attrName>style.visibility</p:attrName>
                                        </p:attrNameLst>
                                      </p:cBhvr>
                                      <p:to>
                                        <p:strVal val="visible"/>
                                      </p:to>
                                    </p:set>
                                    <p:animEffect transition="in" filter="wipe(up)">
                                      <p:cBhvr>
                                        <p:cTn id="10" dur="500"/>
                                        <p:tgtEl>
                                          <p:spTgt spid="2574340"/>
                                        </p:tgtEl>
                                      </p:cBhvr>
                                    </p:animEffect>
                                  </p:childTnLst>
                                </p:cTn>
                              </p:par>
                              <p:par>
                                <p:cTn id="11" presetID="22" presetClass="entr" presetSubtype="1" fill="hold" nodeType="withEffect">
                                  <p:stCondLst>
                                    <p:cond delay="0"/>
                                  </p:stCondLst>
                                  <p:childTnLst>
                                    <p:set>
                                      <p:cBhvr>
                                        <p:cTn id="12" dur="1" fill="hold">
                                          <p:stCondLst>
                                            <p:cond delay="0"/>
                                          </p:stCondLst>
                                        </p:cTn>
                                        <p:tgtEl>
                                          <p:spTgt spid="2574341"/>
                                        </p:tgtEl>
                                        <p:attrNameLst>
                                          <p:attrName>style.visibility</p:attrName>
                                        </p:attrNameLst>
                                      </p:cBhvr>
                                      <p:to>
                                        <p:strVal val="visible"/>
                                      </p:to>
                                    </p:set>
                                    <p:animEffect transition="in" filter="wipe(up)">
                                      <p:cBhvr>
                                        <p:cTn id="13" dur="500"/>
                                        <p:tgtEl>
                                          <p:spTgt spid="257434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574342"/>
                                        </p:tgtEl>
                                        <p:attrNameLst>
                                          <p:attrName>style.visibility</p:attrName>
                                        </p:attrNameLst>
                                      </p:cBhvr>
                                      <p:to>
                                        <p:strVal val="visible"/>
                                      </p:to>
                                    </p:set>
                                    <p:animEffect transition="in" filter="dissolve">
                                      <p:cBhvr>
                                        <p:cTn id="18" dur="500"/>
                                        <p:tgtEl>
                                          <p:spTgt spid="2574342"/>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2574344"/>
                                        </p:tgtEl>
                                        <p:attrNameLst>
                                          <p:attrName>style.visibility</p:attrName>
                                        </p:attrNameLst>
                                      </p:cBhvr>
                                      <p:to>
                                        <p:strVal val="visible"/>
                                      </p:to>
                                    </p:set>
                                    <p:animEffect transition="in" filter="wipe(up)">
                                      <p:cBhvr>
                                        <p:cTn id="23" dur="500"/>
                                        <p:tgtEl>
                                          <p:spTgt spid="25743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4342" grpId="0"/>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5363" name="矩形 2575362"/>
          <p:cNvSpPr/>
          <p:nvPr/>
        </p:nvSpPr>
        <p:spPr>
          <a:xfrm>
            <a:off x="684213" y="1196975"/>
            <a:ext cx="6191250" cy="579438"/>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因此，所求的变换多项式为</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graphicFrame>
        <p:nvGraphicFramePr>
          <p:cNvPr id="2575364" name="对象 2575363"/>
          <p:cNvGraphicFramePr/>
          <p:nvPr/>
        </p:nvGraphicFramePr>
        <p:xfrm>
          <a:off x="468313" y="2205038"/>
          <a:ext cx="8351837" cy="498475"/>
        </p:xfrm>
        <a:graphic>
          <a:graphicData uri="http://schemas.openxmlformats.org/presentationml/2006/ole">
            <mc:AlternateContent xmlns:mc="http://schemas.openxmlformats.org/markup-compatibility/2006">
              <mc:Choice xmlns:v="urn:schemas-microsoft-com:vml" Requires="v">
                <p:oleObj spid="_x0000_s3079" name="" r:id="rId1" imgW="3543300" imgH="190500" progId="Equation.3">
                  <p:embed/>
                </p:oleObj>
              </mc:Choice>
              <mc:Fallback>
                <p:oleObj name="" r:id="rId1" imgW="3543300" imgH="190500" progId="Equation.3">
                  <p:embed/>
                  <p:pic>
                    <p:nvPicPr>
                      <p:cNvPr id="0" name="图片 3078"/>
                      <p:cNvPicPr/>
                      <p:nvPr/>
                    </p:nvPicPr>
                    <p:blipFill>
                      <a:blip r:embed="rId2"/>
                      <a:stretch>
                        <a:fillRect/>
                      </a:stretch>
                    </p:blipFill>
                    <p:spPr>
                      <a:xfrm>
                        <a:off x="468313" y="2205038"/>
                        <a:ext cx="8351837" cy="498475"/>
                      </a:xfrm>
                      <a:prstGeom prst="rect">
                        <a:avLst/>
                      </a:prstGeom>
                      <a:noFill/>
                      <a:ln w="38100">
                        <a:noFill/>
                        <a:miter/>
                      </a:ln>
                    </p:spPr>
                  </p:pic>
                </p:oleObj>
              </mc:Fallback>
            </mc:AlternateContent>
          </a:graphicData>
        </a:graphic>
      </p:graphicFrame>
      <p:sp>
        <p:nvSpPr>
          <p:cNvPr id="2575365" name="矩形 2575364"/>
          <p:cNvSpPr/>
          <p:nvPr/>
        </p:nvSpPr>
        <p:spPr>
          <a:xfrm>
            <a:off x="539750" y="3286125"/>
            <a:ext cx="8064500" cy="946150"/>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将采样所得到的电阻值</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R</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代入上式，即可求出被测温度</a:t>
            </a:r>
            <a:r>
              <a:rPr lang="en-US" altLang="zh-CN" sz="2800" b="1" i="1">
                <a:solidFill>
                  <a:schemeClr val="accent2"/>
                </a:solidFill>
                <a:effectLst>
                  <a:outerShdw blurRad="38100" dist="38100" dir="2700000">
                    <a:srgbClr val="C0C0C0"/>
                  </a:outerShdw>
                </a:effectLst>
                <a:latin typeface="楷体_GB2312" pitchFamily="49" charset="-122"/>
                <a:ea typeface="楷体_GB2312" pitchFamily="49" charset="-122"/>
              </a:rPr>
              <a:t>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5366" name="矩形 2575365"/>
          <p:cNvSpPr/>
          <p:nvPr/>
        </p:nvSpPr>
        <p:spPr>
          <a:xfrm>
            <a:off x="1908175" y="4516438"/>
            <a:ext cx="6696075" cy="1433512"/>
          </a:xfrm>
          <a:prstGeom prst="rect">
            <a:avLst/>
          </a:prstGeom>
          <a:noFill/>
          <a:ln w="9525">
            <a:noFill/>
          </a:ln>
        </p:spPr>
        <p:txBody>
          <a:bodyPr anchor="ctr" anchorCtr="0">
            <a:spAutoFit/>
          </a:bodyPr>
          <a:p>
            <a:pPr eaLnBrk="1" hangingPunct="1">
              <a:lnSpc>
                <a:spcPct val="100000"/>
              </a:lnSpc>
            </a:pP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插值点的选择对于逼近的精度影响很大。</a:t>
            </a:r>
            <a:endPar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在函数曲线上曲率比较大的地方应适当加密插值点，以保证高精度。</a:t>
            </a:r>
            <a:r>
              <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endParaRPr>
          </a:p>
        </p:txBody>
      </p:sp>
      <p:sp>
        <p:nvSpPr>
          <p:cNvPr id="2575367" name="矩形 2575366"/>
          <p:cNvSpPr/>
          <p:nvPr/>
        </p:nvSpPr>
        <p:spPr>
          <a:xfrm>
            <a:off x="612775" y="4476750"/>
            <a:ext cx="1727200" cy="579438"/>
          </a:xfrm>
          <a:prstGeom prst="rect">
            <a:avLst/>
          </a:prstGeom>
          <a:noFill/>
          <a:ln w="9525">
            <a:noFill/>
          </a:ln>
        </p:spPr>
        <p:txBody>
          <a:bodyPr>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注意：</a:t>
            </a: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5368" name="文本框 257536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5363"/>
                                        </p:tgtEl>
                                        <p:attrNameLst>
                                          <p:attrName>style.visibility</p:attrName>
                                        </p:attrNameLst>
                                      </p:cBhvr>
                                      <p:to>
                                        <p:strVal val="visible"/>
                                      </p:to>
                                    </p:set>
                                    <p:animEffect transition="in" filter="dissolve">
                                      <p:cBhvr>
                                        <p:cTn id="7" dur="500"/>
                                        <p:tgtEl>
                                          <p:spTgt spid="25753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75364"/>
                                        </p:tgtEl>
                                        <p:attrNameLst>
                                          <p:attrName>style.visibility</p:attrName>
                                        </p:attrNameLst>
                                      </p:cBhvr>
                                      <p:to>
                                        <p:strVal val="visible"/>
                                      </p:to>
                                    </p:set>
                                    <p:animEffect transition="in" filter="wipe(left)">
                                      <p:cBhvr>
                                        <p:cTn id="12" dur="500"/>
                                        <p:tgtEl>
                                          <p:spTgt spid="257536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75365">
                                            <p:txEl>
                                              <p:charRg st="0" end="31"/>
                                            </p:txEl>
                                          </p:spTgt>
                                        </p:tgtEl>
                                        <p:attrNameLst>
                                          <p:attrName>style.visibility</p:attrName>
                                        </p:attrNameLst>
                                      </p:cBhvr>
                                      <p:to>
                                        <p:strVal val="visible"/>
                                      </p:to>
                                    </p:set>
                                    <p:animEffect transition="in" filter="dissolve">
                                      <p:cBhvr>
                                        <p:cTn id="17" dur="500"/>
                                        <p:tgtEl>
                                          <p:spTgt spid="2575365">
                                            <p:txEl>
                                              <p:charRg st="0" end="3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75367"/>
                                        </p:tgtEl>
                                        <p:attrNameLst>
                                          <p:attrName>style.visibility</p:attrName>
                                        </p:attrNameLst>
                                      </p:cBhvr>
                                      <p:to>
                                        <p:strVal val="visible"/>
                                      </p:to>
                                    </p:set>
                                    <p:animEffect transition="in" filter="wipe(left)">
                                      <p:cBhvr>
                                        <p:cTn id="22" dur="500"/>
                                        <p:tgtEl>
                                          <p:spTgt spid="2575367"/>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575366">
                                            <p:txEl>
                                              <p:charRg st="0" end="19"/>
                                            </p:txEl>
                                          </p:spTgt>
                                        </p:tgtEl>
                                        <p:attrNameLst>
                                          <p:attrName>style.visibility</p:attrName>
                                        </p:attrNameLst>
                                      </p:cBhvr>
                                      <p:to>
                                        <p:strVal val="visible"/>
                                      </p:to>
                                    </p:set>
                                    <p:animEffect transition="in" filter="wipe(left)">
                                      <p:cBhvr>
                                        <p:cTn id="25" dur="500"/>
                                        <p:tgtEl>
                                          <p:spTgt spid="2575366">
                                            <p:txEl>
                                              <p:charRg st="0" end="19"/>
                                            </p:txEl>
                                          </p:spTgt>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2575366">
                                            <p:txEl>
                                              <p:charRg st="19" end="51"/>
                                            </p:txEl>
                                          </p:spTgt>
                                        </p:tgtEl>
                                        <p:attrNameLst>
                                          <p:attrName>style.visibility</p:attrName>
                                        </p:attrNameLst>
                                      </p:cBhvr>
                                      <p:to>
                                        <p:strVal val="visible"/>
                                      </p:to>
                                    </p:set>
                                    <p:animEffect transition="in" filter="wipe(left)">
                                      <p:cBhvr>
                                        <p:cTn id="28" dur="500"/>
                                        <p:tgtEl>
                                          <p:spTgt spid="2575366">
                                            <p:txEl>
                                              <p:charRg st="19" end="5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5363" grpId="0"/>
      <p:bldP spid="2575365" grpId="0" build="p"/>
      <p:bldP spid="2575366" grpId="0" uiExpand="1" build="p"/>
      <p:bldP spid="2575367" grpId="0"/>
    </p:bld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6387" name="矩形 2576386"/>
          <p:cNvSpPr/>
          <p:nvPr/>
        </p:nvSpPr>
        <p:spPr>
          <a:xfrm>
            <a:off x="2916238" y="1343025"/>
            <a:ext cx="5903912" cy="1373188"/>
          </a:xfrm>
          <a:prstGeom prst="rect">
            <a:avLst/>
          </a:prstGeom>
          <a:noFill/>
          <a:ln w="9525">
            <a:noFill/>
          </a:ln>
        </p:spPr>
        <p:txBody>
          <a:bodyPr anchor="ctr" anchorCtr="0">
            <a:spAutoFit/>
          </a:bodyPr>
          <a:p>
            <a:pPr eaLnBrk="1" hangingPunct="1">
              <a:lnSpc>
                <a:spcPct val="10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增加多项式的阶次，从而增加计算多项式的时间，影响数据采集与处理系统的速度。</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6388" name="矩形 2576387"/>
          <p:cNvSpPr/>
          <p:nvPr/>
        </p:nvSpPr>
        <p:spPr>
          <a:xfrm>
            <a:off x="539750" y="1304925"/>
            <a:ext cx="2532063" cy="579438"/>
          </a:xfrm>
          <a:prstGeom prst="rect">
            <a:avLst/>
          </a:prstGeom>
          <a:noFill/>
          <a:ln w="9525">
            <a:noFill/>
          </a:ln>
        </p:spPr>
        <p:txBody>
          <a:bodyPr wrap="none" anchor="t"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产生的问题：</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6389" name="矩形 2576388"/>
          <p:cNvSpPr/>
          <p:nvPr/>
        </p:nvSpPr>
        <p:spPr>
          <a:xfrm>
            <a:off x="612775" y="3332163"/>
            <a:ext cx="8134350" cy="1281112"/>
          </a:xfrm>
          <a:prstGeom prst="rect">
            <a:avLst/>
          </a:prstGeom>
          <a:noFill/>
          <a:ln w="9525">
            <a:noFill/>
          </a:ln>
        </p:spPr>
        <p:txBody>
          <a:bodyPr anchor="ctr" anchorCtr="0">
            <a:spAutoFit/>
          </a:bodyPr>
          <a:p>
            <a:pPr eaLnBrk="1" hangingPunct="1">
              <a:lnSpc>
                <a:spcPct val="130000"/>
              </a:lnSpc>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为了避免增加计算时间，经常采用表格法对非线性参数做标度变换。</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6390" name="文本框 257638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6388"/>
                                        </p:tgtEl>
                                        <p:attrNameLst>
                                          <p:attrName>style.visibility</p:attrName>
                                        </p:attrNameLst>
                                      </p:cBhvr>
                                      <p:to>
                                        <p:strVal val="visible"/>
                                      </p:to>
                                    </p:set>
                                    <p:animEffect transition="in" filter="dissolve">
                                      <p:cBhvr>
                                        <p:cTn id="7" dur="500"/>
                                        <p:tgtEl>
                                          <p:spTgt spid="257638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576387">
                                            <p:txEl>
                                              <p:charRg st="0" end="38"/>
                                            </p:txEl>
                                          </p:spTgt>
                                        </p:tgtEl>
                                        <p:attrNameLst>
                                          <p:attrName>style.visibility</p:attrName>
                                        </p:attrNameLst>
                                      </p:cBhvr>
                                      <p:to>
                                        <p:strVal val="visible"/>
                                      </p:to>
                                    </p:set>
                                    <p:animEffect transition="in" filter="wipe(left)">
                                      <p:cBhvr>
                                        <p:cTn id="10" dur="500"/>
                                        <p:tgtEl>
                                          <p:spTgt spid="2576387">
                                            <p:txEl>
                                              <p:charRg st="0" end="3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576389">
                                            <p:txEl>
                                              <p:charRg st="0" end="36"/>
                                            </p:txEl>
                                          </p:spTgt>
                                        </p:tgtEl>
                                        <p:attrNameLst>
                                          <p:attrName>style.visibility</p:attrName>
                                        </p:attrNameLst>
                                      </p:cBhvr>
                                      <p:to>
                                        <p:strVal val="visible"/>
                                      </p:to>
                                    </p:set>
                                    <p:animEffect transition="in" filter="dissolve">
                                      <p:cBhvr>
                                        <p:cTn id="15" dur="500"/>
                                        <p:tgtEl>
                                          <p:spTgt spid="2576389">
                                            <p:txEl>
                                              <p:charRg st="0" end="3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6387" grpId="0" build="p"/>
      <p:bldP spid="2576388" grpId="0"/>
      <p:bldP spid="2576389" grpId="0" build="p"/>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7411" name="矩形 2577410"/>
          <p:cNvSpPr/>
          <p:nvPr/>
        </p:nvSpPr>
        <p:spPr>
          <a:xfrm>
            <a:off x="1260475" y="949325"/>
            <a:ext cx="2160588" cy="579438"/>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表格法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pic>
        <p:nvPicPr>
          <p:cNvPr id="2577412" name="图片 2577411" descr="kugel_blau"/>
          <p:cNvPicPr>
            <a:picLocks noChangeAspect="1"/>
          </p:cNvPicPr>
          <p:nvPr/>
        </p:nvPicPr>
        <p:blipFill>
          <a:blip r:embed="rId1"/>
          <a:stretch>
            <a:fillRect/>
          </a:stretch>
        </p:blipFill>
        <p:spPr>
          <a:xfrm>
            <a:off x="755650" y="1143000"/>
            <a:ext cx="457200" cy="315913"/>
          </a:xfrm>
          <a:prstGeom prst="rect">
            <a:avLst/>
          </a:prstGeom>
          <a:noFill/>
          <a:ln w="9525">
            <a:noFill/>
          </a:ln>
        </p:spPr>
      </p:pic>
      <p:sp>
        <p:nvSpPr>
          <p:cNvPr id="2577413" name="矩形 2577412"/>
          <p:cNvSpPr/>
          <p:nvPr/>
        </p:nvSpPr>
        <p:spPr>
          <a:xfrm>
            <a:off x="612775" y="1868488"/>
            <a:ext cx="7991475" cy="1800225"/>
          </a:xfrm>
          <a:prstGeom prst="rect">
            <a:avLst/>
          </a:prstGeom>
          <a:noFill/>
          <a:ln w="9525">
            <a:noFill/>
          </a:ln>
        </p:spPr>
        <p:txBody>
          <a:bodyPr anchor="ctr" anchorCtr="0">
            <a:spAutoFit/>
          </a:bodyPr>
          <a:p>
            <a:pPr indent="12700" defTabSz="914400" eaLnBrk="1" hangingPunct="1">
              <a:lnSpc>
                <a:spcPct val="100000"/>
              </a:lnSpc>
              <a:tabLst>
                <a:tab pos="-1295400" algn="l"/>
              </a:tabLst>
            </a:pPr>
            <a:r>
              <a:rPr lang="en-US" altLang="zh-CN" sz="28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指在被测量与传感器输出关系曲线上选取若干个样点，并以表格形式存储在计算机中。即把关系曲线分段，对需要做标度变换的数据</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y</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，查表找出所在区间，然后在区间内用</a:t>
            </a:r>
            <a:r>
              <a:rPr lang="zh-CN" altLang="en-US" sz="2800" b="1" dirty="0">
                <a:solidFill>
                  <a:srgbClr val="FF0000"/>
                </a:solidFill>
                <a:effectLst>
                  <a:outerShdw blurRad="38100" dist="38100" dir="2700000">
                    <a:srgbClr val="C0C0C0"/>
                  </a:outerShdw>
                </a:effectLst>
                <a:latin typeface="楷体_GB2312" pitchFamily="49" charset="-122"/>
                <a:ea typeface="楷体_GB2312" pitchFamily="49" charset="-122"/>
              </a:rPr>
              <a:t>线性插值</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公式</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7415" name="矩形 2577414"/>
          <p:cNvSpPr/>
          <p:nvPr/>
        </p:nvSpPr>
        <p:spPr>
          <a:xfrm>
            <a:off x="7416800" y="4132263"/>
            <a:ext cx="1341438" cy="519112"/>
          </a:xfrm>
          <a:prstGeom prst="rect">
            <a:avLst/>
          </a:prstGeom>
          <a:noFill/>
          <a:ln w="9525">
            <a:noFill/>
          </a:ln>
        </p:spPr>
        <p:txBody>
          <a:bodyPr wrap="none" anchor="ctr" anchorCtr="0">
            <a:spAutoFit/>
          </a:bodyPr>
          <a:p>
            <a:pPr eaLnBrk="1" hangingPunct="1">
              <a:lnSpc>
                <a:spcPct val="100000"/>
              </a:lnSpc>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( 10-7 )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aphicFrame>
        <p:nvGraphicFramePr>
          <p:cNvPr id="2577416" name="对象 2577415"/>
          <p:cNvGraphicFramePr/>
          <p:nvPr/>
        </p:nvGraphicFramePr>
        <p:xfrm>
          <a:off x="684213" y="3960813"/>
          <a:ext cx="6548437" cy="981075"/>
        </p:xfrm>
        <a:graphic>
          <a:graphicData uri="http://schemas.openxmlformats.org/presentationml/2006/ole">
            <mc:AlternateContent xmlns:mc="http://schemas.openxmlformats.org/markup-compatibility/2006">
              <mc:Choice xmlns:v="urn:schemas-microsoft-com:vml" Requires="v">
                <p:oleObj spid="_x0000_s3080" name="" r:id="rId2" imgW="2449830" imgH="431800" progId="Equation.DSMT4">
                  <p:embed/>
                </p:oleObj>
              </mc:Choice>
              <mc:Fallback>
                <p:oleObj name="" r:id="rId2" imgW="2449830" imgH="431800" progId="Equation.DSMT4">
                  <p:embed/>
                  <p:pic>
                    <p:nvPicPr>
                      <p:cNvPr id="0" name="图片 3079"/>
                      <p:cNvPicPr/>
                      <p:nvPr/>
                    </p:nvPicPr>
                    <p:blipFill>
                      <a:blip r:embed="rId3"/>
                      <a:stretch>
                        <a:fillRect/>
                      </a:stretch>
                    </p:blipFill>
                    <p:spPr>
                      <a:xfrm>
                        <a:off x="684213" y="3960813"/>
                        <a:ext cx="6548437" cy="981075"/>
                      </a:xfrm>
                      <a:prstGeom prst="rect">
                        <a:avLst/>
                      </a:prstGeom>
                      <a:noFill/>
                      <a:ln w="38100">
                        <a:noFill/>
                        <a:miter/>
                      </a:ln>
                    </p:spPr>
                  </p:pic>
                </p:oleObj>
              </mc:Fallback>
            </mc:AlternateContent>
          </a:graphicData>
        </a:graphic>
      </p:graphicFrame>
      <p:sp>
        <p:nvSpPr>
          <p:cNvPr id="2577417" name="矩形 2577416"/>
          <p:cNvSpPr/>
          <p:nvPr/>
        </p:nvSpPr>
        <p:spPr>
          <a:xfrm>
            <a:off x="684213" y="5192713"/>
            <a:ext cx="5410200"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zh-CN" altLang="en-US" sz="28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进行计算，即可完成标度变换。</a:t>
            </a: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77418" name="文本框 257741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77412"/>
                                        </p:tgtEl>
                                        <p:attrNameLst>
                                          <p:attrName>style.visibility</p:attrName>
                                        </p:attrNameLst>
                                      </p:cBhvr>
                                      <p:to>
                                        <p:strVal val="visible"/>
                                      </p:to>
                                    </p:set>
                                    <p:anim calcmode="lin" valueType="num">
                                      <p:cBhvr additive="base">
                                        <p:cTn id="7" dur="500" fill="hold"/>
                                        <p:tgtEl>
                                          <p:spTgt spid="2577412"/>
                                        </p:tgtEl>
                                        <p:attrNameLst>
                                          <p:attrName>ppt_x</p:attrName>
                                        </p:attrNameLst>
                                      </p:cBhvr>
                                      <p:tavLst>
                                        <p:tav tm="0">
                                          <p:val>
                                            <p:strVal val="0-#ppt_w/2"/>
                                          </p:val>
                                        </p:tav>
                                        <p:tav tm="100000">
                                          <p:val>
                                            <p:strVal val="#ppt_x"/>
                                          </p:val>
                                        </p:tav>
                                      </p:tavLst>
                                    </p:anim>
                                    <p:anim calcmode="lin" valueType="num">
                                      <p:cBhvr additive="base">
                                        <p:cTn id="8" dur="500" fill="hold"/>
                                        <p:tgtEl>
                                          <p:spTgt spid="257741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77411"/>
                                        </p:tgtEl>
                                        <p:attrNameLst>
                                          <p:attrName>style.visibility</p:attrName>
                                        </p:attrNameLst>
                                      </p:cBhvr>
                                      <p:to>
                                        <p:strVal val="visible"/>
                                      </p:to>
                                    </p:set>
                                    <p:animEffect transition="in" filter="wipe(left)">
                                      <p:cBhvr>
                                        <p:cTn id="12" dur="500"/>
                                        <p:tgtEl>
                                          <p:spTgt spid="25774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77413">
                                            <p:txEl>
                                              <p:charRg st="0" end="87"/>
                                            </p:txEl>
                                          </p:spTgt>
                                        </p:tgtEl>
                                        <p:attrNameLst>
                                          <p:attrName>style.visibility</p:attrName>
                                        </p:attrNameLst>
                                      </p:cBhvr>
                                      <p:to>
                                        <p:strVal val="visible"/>
                                      </p:to>
                                    </p:set>
                                    <p:animEffect transition="in" filter="dissolve">
                                      <p:cBhvr>
                                        <p:cTn id="17" dur="500"/>
                                        <p:tgtEl>
                                          <p:spTgt spid="2577413">
                                            <p:txEl>
                                              <p:charRg st="0" end="8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77417"/>
                                        </p:tgtEl>
                                        <p:attrNameLst>
                                          <p:attrName>style.visibility</p:attrName>
                                        </p:attrNameLst>
                                      </p:cBhvr>
                                      <p:to>
                                        <p:strVal val="visible"/>
                                      </p:to>
                                    </p:set>
                                    <p:animEffect transition="in" filter="dissolve">
                                      <p:cBhvr>
                                        <p:cTn id="22" dur="500"/>
                                        <p:tgtEl>
                                          <p:spTgt spid="2577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7411" grpId="0"/>
      <p:bldP spid="2577413" grpId="0" build="p"/>
      <p:bldP spid="2577417" grpId="0"/>
    </p:bld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8435" name="矩形 2578434"/>
          <p:cNvSpPr/>
          <p:nvPr/>
        </p:nvSpPr>
        <p:spPr>
          <a:xfrm>
            <a:off x="684213" y="3228975"/>
            <a:ext cx="1584325" cy="579438"/>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步骤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8436" name="左大括号 2578435"/>
          <p:cNvSpPr/>
          <p:nvPr/>
        </p:nvSpPr>
        <p:spPr>
          <a:xfrm>
            <a:off x="1763713" y="1268413"/>
            <a:ext cx="144462" cy="4608512"/>
          </a:xfrm>
          <a:prstGeom prst="leftBrace">
            <a:avLst>
              <a:gd name="adj1" fmla="val 265843"/>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78437" name="矩形 2578436"/>
          <p:cNvSpPr/>
          <p:nvPr/>
        </p:nvSpPr>
        <p:spPr>
          <a:xfrm>
            <a:off x="2052638" y="766763"/>
            <a:ext cx="6478587"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①</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用实验</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法测出被测量与传感器输出之间的关系曲线 </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f(x</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3200" b="1">
                <a:solidFill>
                  <a:schemeClr val="tx1"/>
                </a:solidFill>
                <a:effectLst>
                  <a:outerShdw blurRad="38100" dist="38100" dir="2700000">
                    <a:srgbClr val="C0C0C0"/>
                  </a:outerShdw>
                </a:effectLst>
                <a:latin typeface="楷体_GB2312" pitchFamily="49" charset="-122"/>
                <a:ea typeface="楷体_GB2312" pitchFamily="49" charset="-122"/>
              </a:rPr>
              <a:t>  </a:t>
            </a:r>
            <a:endParaRPr lang="en-US" altLang="zh-CN" sz="3200" b="1">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8438" name="矩形 2578437"/>
          <p:cNvSpPr/>
          <p:nvPr/>
        </p:nvSpPr>
        <p:spPr>
          <a:xfrm>
            <a:off x="2052638" y="2019300"/>
            <a:ext cx="3598862"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②</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关系曲线分段</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 （选插值点）</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8439" name="左大括号 2578438"/>
          <p:cNvSpPr/>
          <p:nvPr/>
        </p:nvSpPr>
        <p:spPr>
          <a:xfrm>
            <a:off x="4716463" y="2097088"/>
            <a:ext cx="144462" cy="863600"/>
          </a:xfrm>
          <a:prstGeom prst="leftBrace">
            <a:avLst>
              <a:gd name="adj1" fmla="val 49817"/>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78440" name="矩形 2578439"/>
          <p:cNvSpPr/>
          <p:nvPr/>
        </p:nvSpPr>
        <p:spPr>
          <a:xfrm>
            <a:off x="4859338" y="1878013"/>
            <a:ext cx="4284662" cy="579437"/>
          </a:xfrm>
          <a:prstGeom prst="rect">
            <a:avLst/>
          </a:prstGeom>
          <a:noFill/>
          <a:ln w="9525">
            <a:noFill/>
          </a:ln>
        </p:spPr>
        <p:txBody>
          <a:bodyPr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等距：计算简单，误差大</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8441" name="矩形 2578440"/>
          <p:cNvSpPr/>
          <p:nvPr/>
        </p:nvSpPr>
        <p:spPr>
          <a:xfrm>
            <a:off x="4859338" y="2492375"/>
            <a:ext cx="3887787" cy="579438"/>
          </a:xfrm>
          <a:prstGeom prst="rect">
            <a:avLst/>
          </a:prstGeom>
          <a:noFill/>
          <a:ln w="9525">
            <a:noFill/>
          </a:ln>
        </p:spPr>
        <p:txBody>
          <a:bodyPr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非等距：复杂，精度高</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78442" name="矩形 2578441"/>
          <p:cNvSpPr/>
          <p:nvPr/>
        </p:nvSpPr>
        <p:spPr>
          <a:xfrm>
            <a:off x="2052638" y="3314700"/>
            <a:ext cx="6910387"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③</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计算相邻样点间拟合直线的斜率</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k</a:t>
            </a:r>
            <a:r>
              <a:rPr lang="en-US" altLang="zh-CN" sz="28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1" i="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 </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将样点</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和</a:t>
            </a: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k</a:t>
            </a:r>
            <a:r>
              <a:rPr lang="en-US" altLang="zh-CN" sz="28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以表格形式</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存入计算机</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8443" name="矩形 2578442"/>
          <p:cNvSpPr/>
          <p:nvPr/>
        </p:nvSpPr>
        <p:spPr>
          <a:xfrm>
            <a:off x="2052638" y="4624388"/>
            <a:ext cx="6694487" cy="1006475"/>
          </a:xfrm>
          <a:prstGeom prst="rect">
            <a:avLst/>
          </a:prstGeom>
          <a:noFill/>
          <a:ln w="9525">
            <a:noFill/>
          </a:ln>
        </p:spPr>
        <p:txBody>
          <a:bodyPr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④</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对得到的</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查表，找出</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所在区间</a:t>
            </a:r>
            <a:endPar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8444" name="矩形 2578443"/>
          <p:cNvSpPr/>
          <p:nvPr/>
        </p:nvSpPr>
        <p:spPr>
          <a:xfrm>
            <a:off x="2052638" y="5657850"/>
            <a:ext cx="6910387" cy="579438"/>
          </a:xfrm>
          <a:prstGeom prst="rect">
            <a:avLst/>
          </a:prstGeom>
          <a:noFill/>
          <a:ln w="9525">
            <a:noFill/>
          </a:ln>
        </p:spPr>
        <p:txBody>
          <a:bodyPr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⑤</a:t>
            </a:r>
            <a:r>
              <a:rPr lang="en-US" altLang="zh-CN" sz="28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由式（</a:t>
            </a:r>
            <a:r>
              <a:rPr lang="en-US" altLang="zh-CN" sz="28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10-7</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）得标度变换值 </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3200" b="1">
                <a:solidFill>
                  <a:schemeClr val="tx1"/>
                </a:solidFill>
                <a:effectLst>
                  <a:outerShdw blurRad="38100" dist="38100" dir="2700000">
                    <a:srgbClr val="C0C0C0"/>
                  </a:outerShdw>
                </a:effectLst>
                <a:latin typeface="楷体_GB2312" pitchFamily="49" charset="-122"/>
                <a:ea typeface="楷体_GB2312" pitchFamily="49" charset="-122"/>
              </a:rPr>
              <a:t>  </a:t>
            </a:r>
            <a:endParaRPr lang="en-US" altLang="zh-CN" sz="3200" b="1">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8445" name="文本框 257844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8435"/>
                                        </p:tgtEl>
                                        <p:attrNameLst>
                                          <p:attrName>style.visibility</p:attrName>
                                        </p:attrNameLst>
                                      </p:cBhvr>
                                      <p:to>
                                        <p:strVal val="visible"/>
                                      </p:to>
                                    </p:set>
                                    <p:animEffect transition="in" filter="dissolve">
                                      <p:cBhvr>
                                        <p:cTn id="7" dur="500"/>
                                        <p:tgtEl>
                                          <p:spTgt spid="257843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578436"/>
                                        </p:tgtEl>
                                        <p:attrNameLst>
                                          <p:attrName>style.visibility</p:attrName>
                                        </p:attrNameLst>
                                      </p:cBhvr>
                                      <p:to>
                                        <p:strVal val="visible"/>
                                      </p:to>
                                    </p:set>
                                    <p:animEffect transition="in" filter="wipe(up)">
                                      <p:cBhvr>
                                        <p:cTn id="12" dur="500"/>
                                        <p:tgtEl>
                                          <p:spTgt spid="257843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78437"/>
                                        </p:tgtEl>
                                        <p:attrNameLst>
                                          <p:attrName>style.visibility</p:attrName>
                                        </p:attrNameLst>
                                      </p:cBhvr>
                                      <p:to>
                                        <p:strVal val="visible"/>
                                      </p:to>
                                    </p:set>
                                    <p:animEffect transition="in" filter="wipe(left)">
                                      <p:cBhvr>
                                        <p:cTn id="17" dur="500"/>
                                        <p:tgtEl>
                                          <p:spTgt spid="25784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78438">
                                            <p:txEl>
                                              <p:charRg st="0" end="8"/>
                                            </p:txEl>
                                          </p:spTgt>
                                        </p:tgtEl>
                                        <p:attrNameLst>
                                          <p:attrName>style.visibility</p:attrName>
                                        </p:attrNameLst>
                                      </p:cBhvr>
                                      <p:to>
                                        <p:strVal val="visible"/>
                                      </p:to>
                                    </p:set>
                                    <p:animEffect transition="in" filter="wipe(left)">
                                      <p:cBhvr>
                                        <p:cTn id="22" dur="500"/>
                                        <p:tgtEl>
                                          <p:spTgt spid="2578438">
                                            <p:txEl>
                                              <p:charRg st="0" end="8"/>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578438">
                                            <p:txEl>
                                              <p:charRg st="8" end="18"/>
                                            </p:txEl>
                                          </p:spTgt>
                                        </p:tgtEl>
                                        <p:attrNameLst>
                                          <p:attrName>style.visibility</p:attrName>
                                        </p:attrNameLst>
                                      </p:cBhvr>
                                      <p:to>
                                        <p:strVal val="visible"/>
                                      </p:to>
                                    </p:set>
                                    <p:animEffect transition="in" filter="wipe(left)">
                                      <p:cBhvr>
                                        <p:cTn id="25" dur="500"/>
                                        <p:tgtEl>
                                          <p:spTgt spid="2578438">
                                            <p:txEl>
                                              <p:charRg st="8" end="18"/>
                                            </p:txEl>
                                          </p:spTgt>
                                        </p:tgtEl>
                                      </p:cBhvr>
                                    </p:animEffect>
                                  </p:childTnLst>
                                </p:cTn>
                              </p:par>
                              <p:par>
                                <p:cTn id="26" presetID="22" presetClass="entr" presetSubtype="1" fill="hold" nodeType="withEffect">
                                  <p:stCondLst>
                                    <p:cond delay="0"/>
                                  </p:stCondLst>
                                  <p:childTnLst>
                                    <p:set>
                                      <p:cBhvr>
                                        <p:cTn id="27" dur="1" fill="hold">
                                          <p:stCondLst>
                                            <p:cond delay="0"/>
                                          </p:stCondLst>
                                        </p:cTn>
                                        <p:tgtEl>
                                          <p:spTgt spid="2578439"/>
                                        </p:tgtEl>
                                        <p:attrNameLst>
                                          <p:attrName>style.visibility</p:attrName>
                                        </p:attrNameLst>
                                      </p:cBhvr>
                                      <p:to>
                                        <p:strVal val="visible"/>
                                      </p:to>
                                    </p:set>
                                    <p:animEffect transition="in" filter="wipe(up)">
                                      <p:cBhvr>
                                        <p:cTn id="28" dur="500"/>
                                        <p:tgtEl>
                                          <p:spTgt spid="2578439"/>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2578440"/>
                                        </p:tgtEl>
                                        <p:attrNameLst>
                                          <p:attrName>style.visibility</p:attrName>
                                        </p:attrNameLst>
                                      </p:cBhvr>
                                      <p:to>
                                        <p:strVal val="visible"/>
                                      </p:to>
                                    </p:set>
                                    <p:animEffect transition="in" filter="wipe(left)">
                                      <p:cBhvr>
                                        <p:cTn id="31" dur="500"/>
                                        <p:tgtEl>
                                          <p:spTgt spid="2578440"/>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2578441"/>
                                        </p:tgtEl>
                                        <p:attrNameLst>
                                          <p:attrName>style.visibility</p:attrName>
                                        </p:attrNameLst>
                                      </p:cBhvr>
                                      <p:to>
                                        <p:strVal val="visible"/>
                                      </p:to>
                                    </p:set>
                                    <p:animEffect transition="in" filter="wipe(left)">
                                      <p:cBhvr>
                                        <p:cTn id="34" dur="500"/>
                                        <p:tgtEl>
                                          <p:spTgt spid="2578441"/>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2578442">
                                            <p:txEl>
                                              <p:charRg st="0" end="43"/>
                                            </p:txEl>
                                          </p:spTgt>
                                        </p:tgtEl>
                                        <p:attrNameLst>
                                          <p:attrName>style.visibility</p:attrName>
                                        </p:attrNameLst>
                                      </p:cBhvr>
                                      <p:to>
                                        <p:strVal val="visible"/>
                                      </p:to>
                                    </p:set>
                                    <p:animEffect transition="in" filter="wipe(left)">
                                      <p:cBhvr>
                                        <p:cTn id="39" dur="500"/>
                                        <p:tgtEl>
                                          <p:spTgt spid="2578442">
                                            <p:txEl>
                                              <p:charRg st="0" end="43"/>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2578443">
                                            <p:txEl>
                                              <p:charRg st="0" end="17"/>
                                            </p:txEl>
                                          </p:spTgt>
                                        </p:tgtEl>
                                        <p:attrNameLst>
                                          <p:attrName>style.visibility</p:attrName>
                                        </p:attrNameLst>
                                      </p:cBhvr>
                                      <p:to>
                                        <p:strVal val="visible"/>
                                      </p:to>
                                    </p:set>
                                    <p:animEffect transition="in" filter="wipe(left)">
                                      <p:cBhvr>
                                        <p:cTn id="44" dur="500"/>
                                        <p:tgtEl>
                                          <p:spTgt spid="2578443">
                                            <p:txEl>
                                              <p:charRg st="0" end="17"/>
                                            </p:txEl>
                                          </p:spTgt>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2578443">
                                            <p:txEl>
                                              <p:charRg st="17" end="33"/>
                                            </p:txEl>
                                          </p:spTgt>
                                        </p:tgtEl>
                                        <p:attrNameLst>
                                          <p:attrName>style.visibility</p:attrName>
                                        </p:attrNameLst>
                                      </p:cBhvr>
                                      <p:to>
                                        <p:strVal val="visible"/>
                                      </p:to>
                                    </p:set>
                                    <p:animEffect transition="in" filter="wipe(left)">
                                      <p:cBhvr>
                                        <p:cTn id="47" dur="500"/>
                                        <p:tgtEl>
                                          <p:spTgt spid="2578443">
                                            <p:txEl>
                                              <p:charRg st="17" end="33"/>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2578444"/>
                                        </p:tgtEl>
                                        <p:attrNameLst>
                                          <p:attrName>style.visibility</p:attrName>
                                        </p:attrNameLst>
                                      </p:cBhvr>
                                      <p:to>
                                        <p:strVal val="visible"/>
                                      </p:to>
                                    </p:set>
                                    <p:animEffect transition="in" filter="wipe(left)">
                                      <p:cBhvr>
                                        <p:cTn id="52" dur="500"/>
                                        <p:tgtEl>
                                          <p:spTgt spid="25784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8435" grpId="0"/>
      <p:bldP spid="2578437" grpId="0"/>
      <p:bldP spid="2578438" grpId="0" uiExpand="1" build="p"/>
      <p:bldP spid="2578440" grpId="0"/>
      <p:bldP spid="2578441" grpId="0"/>
      <p:bldP spid="2578442" grpId="0" build="p"/>
      <p:bldP spid="2578443" grpId="0" uiExpand="1" build="p"/>
      <p:bldP spid="2578444" grpId="0"/>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79459" name="矩形 2579458"/>
          <p:cNvSpPr/>
          <p:nvPr/>
        </p:nvSpPr>
        <p:spPr>
          <a:xfrm>
            <a:off x="539750" y="1052513"/>
            <a:ext cx="2913063"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en-US" altLang="zh-CN" sz="3200" b="0">
                <a:solidFill>
                  <a:schemeClr val="accent2"/>
                </a:solidFill>
                <a:latin typeface="Arial Black" panose="020B0A04020102020204" pitchFamily="34" charset="0"/>
                <a:ea typeface="宋体" panose="02010600030101010101" pitchFamily="2" charset="-122"/>
              </a:rPr>
              <a:t>3.</a:t>
            </a:r>
            <a:r>
              <a:rPr lang="en-US" altLang="zh-CN" sz="3200" b="0">
                <a:solidFill>
                  <a:schemeClr val="accent2"/>
                </a:solidFill>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应用举例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pic>
        <p:nvPicPr>
          <p:cNvPr id="2579460" name="图片 2579459"/>
          <p:cNvPicPr>
            <a:picLocks noChangeAspect="1"/>
          </p:cNvPicPr>
          <p:nvPr/>
        </p:nvPicPr>
        <p:blipFill>
          <a:blip r:embed="rId1"/>
          <a:stretch>
            <a:fillRect/>
          </a:stretch>
        </p:blipFill>
        <p:spPr>
          <a:xfrm>
            <a:off x="252413" y="1989138"/>
            <a:ext cx="4535487" cy="3384550"/>
          </a:xfrm>
          <a:prstGeom prst="rect">
            <a:avLst/>
          </a:prstGeom>
          <a:noFill/>
          <a:ln w="9525">
            <a:noFill/>
          </a:ln>
        </p:spPr>
      </p:pic>
      <p:sp>
        <p:nvSpPr>
          <p:cNvPr id="2579461" name="矩形 2579460"/>
          <p:cNvSpPr/>
          <p:nvPr/>
        </p:nvSpPr>
        <p:spPr>
          <a:xfrm>
            <a:off x="323850" y="5589588"/>
            <a:ext cx="4319588" cy="457200"/>
          </a:xfrm>
          <a:prstGeom prst="rect">
            <a:avLst/>
          </a:prstGeom>
          <a:noFill/>
          <a:ln w="9525">
            <a:noFill/>
          </a:ln>
        </p:spPr>
        <p:txBody>
          <a:bodyPr anchor="ctr" anchorCtr="0">
            <a:spAutoFit/>
          </a:bodyPr>
          <a:p>
            <a:pPr algn="ctr" defTabSz="914400" eaLnBrk="1" hangingPunct="1">
              <a:lnSpc>
                <a:spcPct val="100000"/>
              </a:lnSpc>
              <a:tabLst>
                <a:tab pos="-1295400" algn="l"/>
              </a:tabLst>
            </a:pPr>
            <a:r>
              <a:rPr lang="zh-CN" altLang="en-US" sz="2400" b="1" dirty="0">
                <a:solidFill>
                  <a:schemeClr val="tx1"/>
                </a:solidFill>
                <a:effectLst>
                  <a:outerShdw blurRad="38100" dist="38100" dir="2700000">
                    <a:srgbClr val="C0C0C0"/>
                  </a:outerShdw>
                </a:effectLst>
                <a:latin typeface="楷体_GB2312" pitchFamily="49" charset="-122"/>
                <a:ea typeface="楷体_GB2312" pitchFamily="49" charset="-122"/>
              </a:rPr>
              <a:t>高度传感器特性示意图</a:t>
            </a:r>
            <a:endParaRPr lang="zh-CN" altLang="en-US" sz="24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9463" name="矩形 2579462"/>
          <p:cNvSpPr/>
          <p:nvPr/>
        </p:nvSpPr>
        <p:spPr>
          <a:xfrm>
            <a:off x="5146675" y="1631950"/>
            <a:ext cx="3578225" cy="2227263"/>
          </a:xfrm>
          <a:prstGeom prst="rect">
            <a:avLst/>
          </a:prstGeom>
          <a:noFill/>
          <a:ln w="9525">
            <a:noFill/>
          </a:ln>
        </p:spPr>
        <p:txBody>
          <a:bodyPr wrap="none" anchor="ctr" anchorCtr="0">
            <a:spAutoFit/>
          </a:bodyPr>
          <a:p>
            <a:pPr eaLnBrk="1" hangingPunct="1">
              <a:lnSpc>
                <a:spcPct val="100000"/>
              </a:lnSpc>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高度传感器输出</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电压和高度值的关系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是非线性的。很难用</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一个具体的函数式来</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表示。 </a:t>
            </a:r>
            <a:r>
              <a:rPr lang="zh-CN" altLang="en-US" sz="28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9464" name="矩形 2579463"/>
          <p:cNvSpPr/>
          <p:nvPr/>
        </p:nvSpPr>
        <p:spPr>
          <a:xfrm>
            <a:off x="5146675" y="3271838"/>
            <a:ext cx="901700" cy="519112"/>
          </a:xfrm>
          <a:prstGeom prst="rect">
            <a:avLst/>
          </a:prstGeom>
          <a:noFill/>
          <a:ln w="9525">
            <a:noFill/>
          </a:ln>
        </p:spPr>
        <p:txBody>
          <a:bodyPr wrap="none" anchor="ctr" anchorCtr="0">
            <a:spAutoFit/>
          </a:bodyPr>
          <a:p>
            <a:pPr eaLnBrk="1" hangingPunct="1">
              <a:lnSpc>
                <a:spcPct val="100000"/>
              </a:lnSpc>
            </a:pPr>
            <a:r>
              <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en-US" altLang="zh-CN"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79465" name="矩形 2579464"/>
          <p:cNvSpPr/>
          <p:nvPr/>
        </p:nvSpPr>
        <p:spPr>
          <a:xfrm>
            <a:off x="5219700" y="4478338"/>
            <a:ext cx="3935413" cy="519112"/>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要用表格法进行处理。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79466" name="文本框 257946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79459"/>
                                        </p:tgtEl>
                                        <p:attrNameLst>
                                          <p:attrName>style.visibility</p:attrName>
                                        </p:attrNameLst>
                                      </p:cBhvr>
                                      <p:to>
                                        <p:strVal val="visible"/>
                                      </p:to>
                                    </p:set>
                                    <p:animEffect transition="in" filter="dissolve">
                                      <p:cBhvr>
                                        <p:cTn id="7" dur="500"/>
                                        <p:tgtEl>
                                          <p:spTgt spid="2579459"/>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2579460"/>
                                        </p:tgtEl>
                                        <p:attrNameLst>
                                          <p:attrName>style.visibility</p:attrName>
                                        </p:attrNameLst>
                                      </p:cBhvr>
                                      <p:to>
                                        <p:strVal val="visible"/>
                                      </p:to>
                                    </p:set>
                                    <p:anim calcmode="lin" valueType="num">
                                      <p:cBhvr>
                                        <p:cTn id="12" dur="500" fill="hold"/>
                                        <p:tgtEl>
                                          <p:spTgt spid="2579460"/>
                                        </p:tgtEl>
                                        <p:attrNameLst>
                                          <p:attrName>ppt_w</p:attrName>
                                        </p:attrNameLst>
                                      </p:cBhvr>
                                      <p:tavLst>
                                        <p:tav tm="0">
                                          <p:val>
                                            <p:fltVal val="0.000000"/>
                                          </p:val>
                                        </p:tav>
                                        <p:tav tm="100000">
                                          <p:val>
                                            <p:strVal val="#ppt_w"/>
                                          </p:val>
                                        </p:tav>
                                      </p:tavLst>
                                    </p:anim>
                                    <p:anim calcmode="lin" valueType="num">
                                      <p:cBhvr>
                                        <p:cTn id="13" dur="500" fill="hold"/>
                                        <p:tgtEl>
                                          <p:spTgt spid="2579460"/>
                                        </p:tgtEl>
                                        <p:attrNameLst>
                                          <p:attrName>ppt_h</p:attrName>
                                        </p:attrNameLst>
                                      </p:cBhvr>
                                      <p:tavLst>
                                        <p:tav tm="0">
                                          <p:val>
                                            <p:fltVal val="0.000000"/>
                                          </p:val>
                                        </p:tav>
                                        <p:tav tm="100000">
                                          <p:val>
                                            <p:strVal val="#ppt_h"/>
                                          </p:val>
                                        </p:tav>
                                      </p:tavLst>
                                    </p:anim>
                                    <p:animEffect transition="in" filter="fade">
                                      <p:cBhvr>
                                        <p:cTn id="14" dur="500"/>
                                        <p:tgtEl>
                                          <p:spTgt spid="2579460"/>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579461"/>
                                        </p:tgtEl>
                                        <p:attrNameLst>
                                          <p:attrName>style.visibility</p:attrName>
                                        </p:attrNameLst>
                                      </p:cBhvr>
                                      <p:to>
                                        <p:strVal val="visible"/>
                                      </p:to>
                                    </p:set>
                                    <p:anim calcmode="lin" valueType="num">
                                      <p:cBhvr>
                                        <p:cTn id="17" dur="500" fill="hold"/>
                                        <p:tgtEl>
                                          <p:spTgt spid="2579461"/>
                                        </p:tgtEl>
                                        <p:attrNameLst>
                                          <p:attrName>ppt_w</p:attrName>
                                        </p:attrNameLst>
                                      </p:cBhvr>
                                      <p:tavLst>
                                        <p:tav tm="0">
                                          <p:val>
                                            <p:fltVal val="0.000000"/>
                                          </p:val>
                                        </p:tav>
                                        <p:tav tm="100000">
                                          <p:val>
                                            <p:strVal val="#ppt_w"/>
                                          </p:val>
                                        </p:tav>
                                      </p:tavLst>
                                    </p:anim>
                                    <p:anim calcmode="lin" valueType="num">
                                      <p:cBhvr>
                                        <p:cTn id="18" dur="500" fill="hold"/>
                                        <p:tgtEl>
                                          <p:spTgt spid="2579461"/>
                                        </p:tgtEl>
                                        <p:attrNameLst>
                                          <p:attrName>ppt_h</p:attrName>
                                        </p:attrNameLst>
                                      </p:cBhvr>
                                      <p:tavLst>
                                        <p:tav tm="0">
                                          <p:val>
                                            <p:fltVal val="0.000000"/>
                                          </p:val>
                                        </p:tav>
                                        <p:tav tm="100000">
                                          <p:val>
                                            <p:strVal val="#ppt_h"/>
                                          </p:val>
                                        </p:tav>
                                      </p:tavLst>
                                    </p:anim>
                                    <p:animEffect transition="in" filter="fade">
                                      <p:cBhvr>
                                        <p:cTn id="19" dur="500"/>
                                        <p:tgtEl>
                                          <p:spTgt spid="2579461"/>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2579463"/>
                                        </p:tgtEl>
                                        <p:attrNameLst>
                                          <p:attrName>style.visibility</p:attrName>
                                        </p:attrNameLst>
                                      </p:cBhvr>
                                      <p:to>
                                        <p:strVal val="visible"/>
                                      </p:to>
                                    </p:set>
                                    <p:animEffect transition="in" filter="dissolve">
                                      <p:cBhvr>
                                        <p:cTn id="24" dur="500"/>
                                        <p:tgtEl>
                                          <p:spTgt spid="257946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579465"/>
                                        </p:tgtEl>
                                        <p:attrNameLst>
                                          <p:attrName>style.visibility</p:attrName>
                                        </p:attrNameLst>
                                      </p:cBhvr>
                                      <p:to>
                                        <p:strVal val="visible"/>
                                      </p:to>
                                    </p:set>
                                    <p:animEffect transition="in" filter="wipe(left)">
                                      <p:cBhvr>
                                        <p:cTn id="29" dur="500"/>
                                        <p:tgtEl>
                                          <p:spTgt spid="25794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9459" grpId="0"/>
      <p:bldP spid="2579461" grpId="0"/>
      <p:bldP spid="2579463" grpId="0"/>
      <p:bldP spid="2579465" grpId="0"/>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0483" name="矩形 2580482"/>
          <p:cNvSpPr/>
          <p:nvPr/>
        </p:nvSpPr>
        <p:spPr>
          <a:xfrm>
            <a:off x="684213" y="977900"/>
            <a:ext cx="2952750" cy="579438"/>
          </a:xfrm>
          <a:prstGeom prst="rect">
            <a:avLst/>
          </a:prstGeom>
          <a:noFill/>
          <a:ln w="9525">
            <a:noFill/>
          </a:ln>
        </p:spPr>
        <p:txBody>
          <a:bodyPr>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处理方法：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0484" name="矩形 2580483"/>
          <p:cNvSpPr/>
          <p:nvPr/>
        </p:nvSpPr>
        <p:spPr>
          <a:xfrm>
            <a:off x="1241425" y="1703388"/>
            <a:ext cx="7721600" cy="946150"/>
          </a:xfrm>
          <a:prstGeom prst="rect">
            <a:avLst/>
          </a:prstGeom>
          <a:noFill/>
          <a:ln w="9525">
            <a:noFill/>
          </a:ln>
        </p:spPr>
        <p:txBody>
          <a:bodyPr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将曲线分成</a:t>
            </a:r>
            <a:r>
              <a:rPr lang="en-US" altLang="zh-CN" sz="2800" b="1">
                <a:solidFill>
                  <a:srgbClr val="3333FF"/>
                </a:solidFill>
                <a:effectLst>
                  <a:outerShdw blurRad="38100" dist="38100" dir="2700000">
                    <a:srgbClr val="C0C0C0"/>
                  </a:outerShdw>
                </a:effectLst>
                <a:latin typeface="楷体_GB2312" pitchFamily="49" charset="-122"/>
                <a:ea typeface="楷体_GB2312" pitchFamily="49" charset="-122"/>
              </a:rPr>
              <a:t>4</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段，得出高度与传感器输出电压的</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关系式： </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pic>
        <p:nvPicPr>
          <p:cNvPr id="2580485" name="图片 2580484" descr="kugel_blau"/>
          <p:cNvPicPr>
            <a:picLocks noChangeAspect="1"/>
          </p:cNvPicPr>
          <p:nvPr/>
        </p:nvPicPr>
        <p:blipFill>
          <a:blip r:embed="rId1"/>
          <a:stretch>
            <a:fillRect/>
          </a:stretch>
        </p:blipFill>
        <p:spPr>
          <a:xfrm>
            <a:off x="755650" y="1851025"/>
            <a:ext cx="457200" cy="315913"/>
          </a:xfrm>
          <a:prstGeom prst="rect">
            <a:avLst/>
          </a:prstGeom>
          <a:noFill/>
          <a:ln w="9525">
            <a:noFill/>
          </a:ln>
        </p:spPr>
      </p:pic>
      <p:sp>
        <p:nvSpPr>
          <p:cNvPr id="2580486" name="矩形 2580485"/>
          <p:cNvSpPr/>
          <p:nvPr/>
        </p:nvSpPr>
        <p:spPr>
          <a:xfrm>
            <a:off x="0" y="2509838"/>
            <a:ext cx="9144000" cy="0"/>
          </a:xfrm>
          <a:prstGeom prst="rect">
            <a:avLst/>
          </a:prstGeom>
          <a:noFill/>
          <a:ln w="9525">
            <a:noFill/>
          </a:ln>
        </p:spPr>
        <p:txBody>
          <a:bodyPr/>
          <a:p>
            <a:pPr eaLnBrk="1" hangingPunct="1">
              <a:lnSpc>
                <a:spcPct val="90000"/>
              </a:lnSpc>
            </a:pPr>
            <a:endParaRPr lang="zh-CN" altLang="en-US" b="1">
              <a:solidFill>
                <a:srgbClr val="333399"/>
              </a:solidFill>
            </a:endParaRPr>
          </a:p>
        </p:txBody>
      </p:sp>
      <p:graphicFrame>
        <p:nvGraphicFramePr>
          <p:cNvPr id="2580487" name="对象 2580486"/>
          <p:cNvGraphicFramePr/>
          <p:nvPr/>
        </p:nvGraphicFramePr>
        <p:xfrm>
          <a:off x="1044575" y="2852738"/>
          <a:ext cx="6767513" cy="3275012"/>
        </p:xfrm>
        <a:graphic>
          <a:graphicData uri="http://schemas.openxmlformats.org/presentationml/2006/ole">
            <mc:AlternateContent xmlns:mc="http://schemas.openxmlformats.org/markup-compatibility/2006">
              <mc:Choice xmlns:v="urn:schemas-microsoft-com:vml" Requires="v">
                <p:oleObj spid="_x0000_s3081" name="" r:id="rId2" imgW="3429000" imgH="1828800" progId="Equation.3">
                  <p:embed/>
                </p:oleObj>
              </mc:Choice>
              <mc:Fallback>
                <p:oleObj name="" r:id="rId2" imgW="3429000" imgH="1828800" progId="Equation.3">
                  <p:embed/>
                  <p:pic>
                    <p:nvPicPr>
                      <p:cNvPr id="0" name="图片 3080"/>
                      <p:cNvPicPr/>
                      <p:nvPr/>
                    </p:nvPicPr>
                    <p:blipFill>
                      <a:blip r:embed="rId3"/>
                      <a:stretch>
                        <a:fillRect/>
                      </a:stretch>
                    </p:blipFill>
                    <p:spPr>
                      <a:xfrm>
                        <a:off x="1044575" y="2852738"/>
                        <a:ext cx="6767513" cy="3275012"/>
                      </a:xfrm>
                      <a:prstGeom prst="rect">
                        <a:avLst/>
                      </a:prstGeom>
                      <a:noFill/>
                      <a:ln w="38100">
                        <a:noFill/>
                        <a:miter/>
                      </a:ln>
                    </p:spPr>
                  </p:pic>
                </p:oleObj>
              </mc:Fallback>
            </mc:AlternateContent>
          </a:graphicData>
        </a:graphic>
      </p:graphicFrame>
      <p:sp>
        <p:nvSpPr>
          <p:cNvPr id="2580488" name="文本框 258048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80483"/>
                                        </p:tgtEl>
                                        <p:attrNameLst>
                                          <p:attrName>style.visibility</p:attrName>
                                        </p:attrNameLst>
                                      </p:cBhvr>
                                      <p:to>
                                        <p:strVal val="visible"/>
                                      </p:to>
                                    </p:set>
                                    <p:animEffect transition="in" filter="dissolve">
                                      <p:cBhvr>
                                        <p:cTn id="7" dur="500"/>
                                        <p:tgtEl>
                                          <p:spTgt spid="258048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580485"/>
                                        </p:tgtEl>
                                        <p:attrNameLst>
                                          <p:attrName>style.visibility</p:attrName>
                                        </p:attrNameLst>
                                      </p:cBhvr>
                                      <p:to>
                                        <p:strVal val="visible"/>
                                      </p:to>
                                    </p:set>
                                    <p:anim calcmode="lin" valueType="num">
                                      <p:cBhvr additive="base">
                                        <p:cTn id="12" dur="500" fill="hold"/>
                                        <p:tgtEl>
                                          <p:spTgt spid="2580485"/>
                                        </p:tgtEl>
                                        <p:attrNameLst>
                                          <p:attrName>ppt_x</p:attrName>
                                        </p:attrNameLst>
                                      </p:cBhvr>
                                      <p:tavLst>
                                        <p:tav tm="0">
                                          <p:val>
                                            <p:strVal val="0-#ppt_w/2"/>
                                          </p:val>
                                        </p:tav>
                                        <p:tav tm="100000">
                                          <p:val>
                                            <p:strVal val="#ppt_x"/>
                                          </p:val>
                                        </p:tav>
                                      </p:tavLst>
                                    </p:anim>
                                    <p:anim calcmode="lin" valueType="num">
                                      <p:cBhvr additive="base">
                                        <p:cTn id="13" dur="500" fill="hold"/>
                                        <p:tgtEl>
                                          <p:spTgt spid="2580485"/>
                                        </p:tgtEl>
                                        <p:attrNameLst>
                                          <p:attrName>ppt_y</p:attrName>
                                        </p:attrNameLst>
                                      </p:cBhvr>
                                      <p:tavLst>
                                        <p:tav tm="0">
                                          <p:val>
                                            <p:strVal val="#ppt_y"/>
                                          </p:val>
                                        </p:tav>
                                        <p:tav tm="100000">
                                          <p:val>
                                            <p:strVal val="#ppt_y"/>
                                          </p:val>
                                        </p:tav>
                                      </p:tavLst>
                                    </p:anim>
                                  </p:childTnLst>
                                </p:cTn>
                              </p:par>
                              <p:par>
                                <p:cTn id="14" presetID="22" presetClass="entr" presetSubtype="8" fill="hold" grpId="0" nodeType="withEffect">
                                  <p:stCondLst>
                                    <p:cond delay="0"/>
                                  </p:stCondLst>
                                  <p:childTnLst>
                                    <p:set>
                                      <p:cBhvr>
                                        <p:cTn id="15" dur="1" fill="hold">
                                          <p:stCondLst>
                                            <p:cond delay="0"/>
                                          </p:stCondLst>
                                        </p:cTn>
                                        <p:tgtEl>
                                          <p:spTgt spid="2580484">
                                            <p:txEl>
                                              <p:charRg st="0" end="22"/>
                                            </p:txEl>
                                          </p:spTgt>
                                        </p:tgtEl>
                                        <p:attrNameLst>
                                          <p:attrName>style.visibility</p:attrName>
                                        </p:attrNameLst>
                                      </p:cBhvr>
                                      <p:to>
                                        <p:strVal val="visible"/>
                                      </p:to>
                                    </p:set>
                                    <p:animEffect transition="in" filter="wipe(left)">
                                      <p:cBhvr>
                                        <p:cTn id="16" dur="500"/>
                                        <p:tgtEl>
                                          <p:spTgt spid="2580484">
                                            <p:txEl>
                                              <p:charRg st="0" end="22"/>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580484">
                                            <p:txEl>
                                              <p:charRg st="22" end="28"/>
                                            </p:txEl>
                                          </p:spTgt>
                                        </p:tgtEl>
                                        <p:attrNameLst>
                                          <p:attrName>style.visibility</p:attrName>
                                        </p:attrNameLst>
                                      </p:cBhvr>
                                      <p:to>
                                        <p:strVal val="visible"/>
                                      </p:to>
                                    </p:set>
                                    <p:animEffect transition="in" filter="wipe(left)">
                                      <p:cBhvr>
                                        <p:cTn id="19" dur="500"/>
                                        <p:tgtEl>
                                          <p:spTgt spid="2580484">
                                            <p:txEl>
                                              <p:charRg st="22" end="28"/>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2580487"/>
                                        </p:tgtEl>
                                        <p:attrNameLst>
                                          <p:attrName>style.visibility</p:attrName>
                                        </p:attrNameLst>
                                      </p:cBhvr>
                                      <p:to>
                                        <p:strVal val="visible"/>
                                      </p:to>
                                    </p:set>
                                    <p:anim calcmode="lin" valueType="num">
                                      <p:cBhvr>
                                        <p:cTn id="24" dur="500" fill="hold"/>
                                        <p:tgtEl>
                                          <p:spTgt spid="2580487"/>
                                        </p:tgtEl>
                                        <p:attrNameLst>
                                          <p:attrName>ppt_w</p:attrName>
                                        </p:attrNameLst>
                                      </p:cBhvr>
                                      <p:tavLst>
                                        <p:tav tm="0">
                                          <p:val>
                                            <p:fltVal val="0.000000"/>
                                          </p:val>
                                        </p:tav>
                                        <p:tav tm="100000">
                                          <p:val>
                                            <p:strVal val="#ppt_w"/>
                                          </p:val>
                                        </p:tav>
                                      </p:tavLst>
                                    </p:anim>
                                    <p:anim calcmode="lin" valueType="num">
                                      <p:cBhvr>
                                        <p:cTn id="25" dur="500" fill="hold"/>
                                        <p:tgtEl>
                                          <p:spTgt spid="2580487"/>
                                        </p:tgtEl>
                                        <p:attrNameLst>
                                          <p:attrName>ppt_h</p:attrName>
                                        </p:attrNameLst>
                                      </p:cBhvr>
                                      <p:tavLst>
                                        <p:tav tm="0">
                                          <p:val>
                                            <p:fltVal val="0.000000"/>
                                          </p:val>
                                        </p:tav>
                                        <p:tav tm="100000">
                                          <p:val>
                                            <p:strVal val="#ppt_h"/>
                                          </p:val>
                                        </p:tav>
                                      </p:tavLst>
                                    </p:anim>
                                    <p:animEffect transition="in" filter="fade">
                                      <p:cBhvr>
                                        <p:cTn id="26" dur="500"/>
                                        <p:tgtEl>
                                          <p:spTgt spid="25804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0483" grpId="0"/>
      <p:bldP spid="2580484" grpId="0" build="p"/>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1507" name="矩形 2581506"/>
          <p:cNvSpPr/>
          <p:nvPr/>
        </p:nvSpPr>
        <p:spPr>
          <a:xfrm>
            <a:off x="1238250" y="1738313"/>
            <a:ext cx="7473950" cy="1006475"/>
          </a:xfrm>
          <a:prstGeom prst="rect">
            <a:avLst/>
          </a:prstGeom>
          <a:noFill/>
          <a:ln w="9525">
            <a:noFill/>
          </a:ln>
        </p:spPr>
        <p:txBody>
          <a:bodyPr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把曲线上各个样点的</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H</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U</a:t>
            </a:r>
            <a:r>
              <a:rPr lang="en-US" altLang="zh-CN" sz="2800" b="1" i="1" baseline="-25000"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以表格形式存放在计算机</a:t>
            </a:r>
            <a:r>
              <a:rPr lang="zh-CN" altLang="en-US" sz="1800" b="0" dirty="0">
                <a:solidFill>
                  <a:schemeClr val="tx1"/>
                </a:solidFill>
                <a:latin typeface="Arial" panose="020B0604020202020204" pitchFamily="34" charset="0"/>
                <a:ea typeface="宋体" panose="02010600030101010101" pitchFamily="2" charset="-122"/>
              </a:rPr>
              <a:t> </a:t>
            </a:r>
            <a:r>
              <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pic>
        <p:nvPicPr>
          <p:cNvPr id="2581508" name="图片 2581507" descr="kugel_blau"/>
          <p:cNvPicPr>
            <a:picLocks noChangeAspect="1"/>
          </p:cNvPicPr>
          <p:nvPr/>
        </p:nvPicPr>
        <p:blipFill>
          <a:blip r:embed="rId1"/>
          <a:stretch>
            <a:fillRect/>
          </a:stretch>
        </p:blipFill>
        <p:spPr>
          <a:xfrm>
            <a:off x="755650" y="1854200"/>
            <a:ext cx="457200" cy="315913"/>
          </a:xfrm>
          <a:prstGeom prst="rect">
            <a:avLst/>
          </a:prstGeom>
          <a:noFill/>
          <a:ln w="9525">
            <a:noFill/>
          </a:ln>
        </p:spPr>
      </p:pic>
      <p:sp>
        <p:nvSpPr>
          <p:cNvPr id="2581509" name="矩形 2581508"/>
          <p:cNvSpPr/>
          <p:nvPr/>
        </p:nvSpPr>
        <p:spPr>
          <a:xfrm>
            <a:off x="1281113" y="3860800"/>
            <a:ext cx="7610475" cy="1373188"/>
          </a:xfrm>
          <a:prstGeom prst="rect">
            <a:avLst/>
          </a:prstGeom>
          <a:noFill/>
          <a:ln w="9525">
            <a:noFill/>
          </a:ln>
        </p:spPr>
        <p:txBody>
          <a:bodyPr anchor="ctr" anchorCtr="0">
            <a:spAutoFit/>
          </a:bodyPr>
          <a:p>
            <a:pPr indent="14605" defTabSz="914400" eaLnBrk="1" hangingPunct="1">
              <a:lnSpc>
                <a:spcPct val="100000"/>
              </a:lnSpc>
              <a:tabLst>
                <a:tab pos="-1295400" algn="l"/>
              </a:tabLst>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对需要转换的电压</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U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判断其所在的区间，用其所在区间对应的关系式进行线性插值换算，求得对应的高度值。</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pic>
        <p:nvPicPr>
          <p:cNvPr id="2581510" name="图片 2581509" descr="kugel_blau"/>
          <p:cNvPicPr>
            <a:picLocks noChangeAspect="1"/>
          </p:cNvPicPr>
          <p:nvPr/>
        </p:nvPicPr>
        <p:blipFill>
          <a:blip r:embed="rId1"/>
          <a:stretch>
            <a:fillRect/>
          </a:stretch>
        </p:blipFill>
        <p:spPr>
          <a:xfrm>
            <a:off x="771525" y="3929063"/>
            <a:ext cx="457200" cy="315912"/>
          </a:xfrm>
          <a:prstGeom prst="rect">
            <a:avLst/>
          </a:prstGeom>
          <a:noFill/>
          <a:ln w="9525">
            <a:noFill/>
          </a:ln>
        </p:spPr>
      </p:pic>
      <p:sp>
        <p:nvSpPr>
          <p:cNvPr id="2581511" name="文本框 2581510"/>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81508"/>
                                        </p:tgtEl>
                                        <p:attrNameLst>
                                          <p:attrName>style.visibility</p:attrName>
                                        </p:attrNameLst>
                                      </p:cBhvr>
                                      <p:to>
                                        <p:strVal val="visible"/>
                                      </p:to>
                                    </p:set>
                                    <p:anim calcmode="lin" valueType="num">
                                      <p:cBhvr additive="base">
                                        <p:cTn id="7" dur="500" fill="hold"/>
                                        <p:tgtEl>
                                          <p:spTgt spid="2581508"/>
                                        </p:tgtEl>
                                        <p:attrNameLst>
                                          <p:attrName>ppt_x</p:attrName>
                                        </p:attrNameLst>
                                      </p:cBhvr>
                                      <p:tavLst>
                                        <p:tav tm="0">
                                          <p:val>
                                            <p:strVal val="0-#ppt_w/2"/>
                                          </p:val>
                                        </p:tav>
                                        <p:tav tm="100000">
                                          <p:val>
                                            <p:strVal val="#ppt_x"/>
                                          </p:val>
                                        </p:tav>
                                      </p:tavLst>
                                    </p:anim>
                                    <p:anim calcmode="lin" valueType="num">
                                      <p:cBhvr additive="base">
                                        <p:cTn id="8" dur="500" fill="hold"/>
                                        <p:tgtEl>
                                          <p:spTgt spid="2581508"/>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2581507">
                                            <p:txEl>
                                              <p:charRg st="0" end="28"/>
                                            </p:txEl>
                                          </p:spTgt>
                                        </p:tgtEl>
                                        <p:attrNameLst>
                                          <p:attrName>style.visibility</p:attrName>
                                        </p:attrNameLst>
                                      </p:cBhvr>
                                      <p:to>
                                        <p:strVal val="visible"/>
                                      </p:to>
                                    </p:set>
                                    <p:animEffect transition="in" filter="wipe(left)">
                                      <p:cBhvr>
                                        <p:cTn id="11" dur="500"/>
                                        <p:tgtEl>
                                          <p:spTgt spid="2581507">
                                            <p:txEl>
                                              <p:charRg st="0" end="28"/>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2" presetClass="entr" presetSubtype="8" fill="hold" nodeType="clickEffect">
                                  <p:stCondLst>
                                    <p:cond delay="0"/>
                                  </p:stCondLst>
                                  <p:childTnLst>
                                    <p:set>
                                      <p:cBhvr>
                                        <p:cTn id="15" dur="1" fill="hold">
                                          <p:stCondLst>
                                            <p:cond delay="0"/>
                                          </p:stCondLst>
                                        </p:cTn>
                                        <p:tgtEl>
                                          <p:spTgt spid="2581510"/>
                                        </p:tgtEl>
                                        <p:attrNameLst>
                                          <p:attrName>style.visibility</p:attrName>
                                        </p:attrNameLst>
                                      </p:cBhvr>
                                      <p:to>
                                        <p:strVal val="visible"/>
                                      </p:to>
                                    </p:set>
                                    <p:anim calcmode="lin" valueType="num">
                                      <p:cBhvr additive="base">
                                        <p:cTn id="16" dur="500" fill="hold"/>
                                        <p:tgtEl>
                                          <p:spTgt spid="2581510"/>
                                        </p:tgtEl>
                                        <p:attrNameLst>
                                          <p:attrName>ppt_x</p:attrName>
                                        </p:attrNameLst>
                                      </p:cBhvr>
                                      <p:tavLst>
                                        <p:tav tm="0">
                                          <p:val>
                                            <p:strVal val="0-#ppt_w/2"/>
                                          </p:val>
                                        </p:tav>
                                        <p:tav tm="100000">
                                          <p:val>
                                            <p:strVal val="#ppt_x"/>
                                          </p:val>
                                        </p:tav>
                                      </p:tavLst>
                                    </p:anim>
                                    <p:anim calcmode="lin" valueType="num">
                                      <p:cBhvr additive="base">
                                        <p:cTn id="17" dur="500" fill="hold"/>
                                        <p:tgtEl>
                                          <p:spTgt spid="2581510"/>
                                        </p:tgtEl>
                                        <p:attrNameLst>
                                          <p:attrName>ppt_y</p:attrName>
                                        </p:attrNameLst>
                                      </p:cBhvr>
                                      <p:tavLst>
                                        <p:tav tm="0">
                                          <p:val>
                                            <p:strVal val="#ppt_y"/>
                                          </p:val>
                                        </p:tav>
                                        <p:tav tm="100000">
                                          <p:val>
                                            <p:strVal val="#ppt_y"/>
                                          </p:val>
                                        </p:tav>
                                      </p:tavLst>
                                    </p:anim>
                                  </p:childTnLst>
                                </p:cTn>
                              </p:par>
                              <p:par>
                                <p:cTn id="18" presetID="22" presetClass="entr" presetSubtype="8" fill="hold" grpId="0" nodeType="withEffect">
                                  <p:stCondLst>
                                    <p:cond delay="0"/>
                                  </p:stCondLst>
                                  <p:childTnLst>
                                    <p:set>
                                      <p:cBhvr>
                                        <p:cTn id="19" dur="1" fill="hold">
                                          <p:stCondLst>
                                            <p:cond delay="0"/>
                                          </p:stCondLst>
                                        </p:cTn>
                                        <p:tgtEl>
                                          <p:spTgt spid="2581509">
                                            <p:txEl>
                                              <p:charRg st="0" end="50"/>
                                            </p:txEl>
                                          </p:spTgt>
                                        </p:tgtEl>
                                        <p:attrNameLst>
                                          <p:attrName>style.visibility</p:attrName>
                                        </p:attrNameLst>
                                      </p:cBhvr>
                                      <p:to>
                                        <p:strVal val="visible"/>
                                      </p:to>
                                    </p:set>
                                    <p:animEffect transition="in" filter="wipe(left)">
                                      <p:cBhvr>
                                        <p:cTn id="20" dur="500"/>
                                        <p:tgtEl>
                                          <p:spTgt spid="2581509">
                                            <p:txEl>
                                              <p:charRg st="0" end="5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1507" grpId="0" build="p"/>
      <p:bldP spid="2581509" grpId="0" build="p"/>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582530" name="图片 2582529"/>
          <p:cNvPicPr>
            <a:picLocks noChangeAspect="1"/>
          </p:cNvPicPr>
          <p:nvPr/>
        </p:nvPicPr>
        <p:blipFill>
          <a:blip r:embed="rId1"/>
          <a:stretch>
            <a:fillRect/>
          </a:stretch>
        </p:blipFill>
        <p:spPr>
          <a:xfrm>
            <a:off x="2124075" y="836613"/>
            <a:ext cx="4894263" cy="5184775"/>
          </a:xfrm>
          <a:prstGeom prst="rect">
            <a:avLst/>
          </a:prstGeom>
          <a:noFill/>
          <a:ln w="9525">
            <a:noFill/>
          </a:ln>
        </p:spPr>
      </p:pic>
      <p:sp>
        <p:nvSpPr>
          <p:cNvPr id="2582538" name="文本框 258253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3555" name="矩形 2583554"/>
          <p:cNvSpPr/>
          <p:nvPr/>
        </p:nvSpPr>
        <p:spPr>
          <a:xfrm>
            <a:off x="684213" y="1011238"/>
            <a:ext cx="8004175" cy="519112"/>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用</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Quick BASIC</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语言编写的插值运算程序如下：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83556" name="矩形 2583555"/>
          <p:cNvSpPr/>
          <p:nvPr/>
        </p:nvSpPr>
        <p:spPr>
          <a:xfrm>
            <a:off x="755650" y="1682750"/>
            <a:ext cx="8064500" cy="4194175"/>
          </a:xfrm>
          <a:prstGeom prst="rect">
            <a:avLst/>
          </a:prstGeom>
          <a:noFill/>
          <a:ln w="9525">
            <a:noFill/>
          </a:ln>
        </p:spPr>
        <p:txBody>
          <a:bodyPr anchor="ctr" anchorCtr="0">
            <a:spAutoFit/>
          </a:bodyPr>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N=5 : CN=0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DIM  H(N) , U(N)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FOR  I = 0  TO  N</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READ H(I) , U(I)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NEXT  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DATA  0, 0, 0.5, 1, 1, 2, 1.5, 3, 2, 4</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10	INPUT " U= " </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U</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IF  U &lt; U(0)  OR  U &gt; U(N</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  THEN  10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83557" name="文本框 2583556"/>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4579" name="矩形 2584578"/>
          <p:cNvSpPr/>
          <p:nvPr/>
        </p:nvSpPr>
        <p:spPr>
          <a:xfrm>
            <a:off x="755650" y="550863"/>
            <a:ext cx="6767513" cy="5686425"/>
          </a:xfrm>
          <a:prstGeom prst="rect">
            <a:avLst/>
          </a:prstGeom>
          <a:noFill/>
          <a:ln w="9525">
            <a:noFill/>
          </a:ln>
        </p:spPr>
        <p:txBody>
          <a:bodyPr lIns="-12696" bIns="0" anchor="ctr" anchorCtr="0">
            <a:spAutoFit/>
          </a:bodyPr>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FOR  K = 1  TO  N</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IF  U &lt; U(K)  THEN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 = K</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GOTO  15</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ENDIF</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NEXT  K</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IF  U = U(4)  THEN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H = H(4)</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GOTO  20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ELSE  END</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ENDIF</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84580" name="文本框 258457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5603" name="矩形 2585602"/>
          <p:cNvSpPr/>
          <p:nvPr/>
        </p:nvSpPr>
        <p:spPr>
          <a:xfrm>
            <a:off x="539750" y="1052513"/>
            <a:ext cx="8374063" cy="2655887"/>
          </a:xfrm>
          <a:prstGeom prst="rect">
            <a:avLst/>
          </a:prstGeom>
          <a:noFill/>
          <a:ln w="9525">
            <a:noFill/>
          </a:ln>
        </p:spPr>
        <p:txBody>
          <a:bodyPr wrap="none" anchor="ctr" anchorCtr="0">
            <a:spAutoFit/>
          </a:bodyPr>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15  	H = H(I)</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(H(I</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H(I))</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(U</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U(I))</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(U(I</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U(I))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20   	PRINT " H= " </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H</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CN = </a:t>
            </a:r>
            <a:r>
              <a:rPr lang="en-US" altLang="zh-CN" sz="2800" b="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CN</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IF  CN &lt; N  THEN  10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END</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85604" name="文本框 2585603"/>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10.1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采样数据的标度变换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9394" name="矩形 2619393"/>
          <p:cNvSpPr/>
          <p:nvPr/>
        </p:nvSpPr>
        <p:spPr>
          <a:xfrm>
            <a:off x="1238250" y="1525588"/>
            <a:ext cx="7473950" cy="1433512"/>
          </a:xfrm>
          <a:prstGeom prst="rect">
            <a:avLst/>
          </a:prstGeom>
          <a:noFill/>
          <a:ln w="9525">
            <a:noFill/>
          </a:ln>
        </p:spPr>
        <p:txBody>
          <a:bodyPr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工业生产和科学实验现场环境恶劣，干扰源多，为了减少对采样数据的干扰，提高系统性能，必须在数据处理之前，进行数字滤波。</a:t>
            </a:r>
            <a:r>
              <a:rPr lang="zh-CN" altLang="en-US" sz="1800" b="0" dirty="0">
                <a:solidFill>
                  <a:schemeClr val="tx1"/>
                </a:solidFill>
                <a:latin typeface="Arial" panose="020B0604020202020204" pitchFamily="34" charset="0"/>
                <a:ea typeface="宋体" panose="02010600030101010101" pitchFamily="2" charset="-122"/>
              </a:rPr>
              <a:t> </a:t>
            </a:r>
            <a:r>
              <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pic>
        <p:nvPicPr>
          <p:cNvPr id="2619395" name="图片 2619394" descr="kugel_blau"/>
          <p:cNvPicPr>
            <a:picLocks noChangeAspect="1"/>
          </p:cNvPicPr>
          <p:nvPr/>
        </p:nvPicPr>
        <p:blipFill>
          <a:blip r:embed="rId1"/>
          <a:stretch>
            <a:fillRect/>
          </a:stretch>
        </p:blipFill>
        <p:spPr>
          <a:xfrm>
            <a:off x="771525" y="1695450"/>
            <a:ext cx="457200" cy="315913"/>
          </a:xfrm>
          <a:prstGeom prst="rect">
            <a:avLst/>
          </a:prstGeom>
          <a:noFill/>
          <a:ln w="9525">
            <a:noFill/>
          </a:ln>
        </p:spPr>
      </p:pic>
      <p:sp>
        <p:nvSpPr>
          <p:cNvPr id="2619396" name="矩形 2619395"/>
          <p:cNvSpPr/>
          <p:nvPr/>
        </p:nvSpPr>
        <p:spPr>
          <a:xfrm>
            <a:off x="1238250" y="3771900"/>
            <a:ext cx="7610475" cy="946150"/>
          </a:xfrm>
          <a:prstGeom prst="rect">
            <a:avLst/>
          </a:prstGeom>
          <a:noFill/>
          <a:ln w="9525">
            <a:noFill/>
          </a:ln>
        </p:spPr>
        <p:txBody>
          <a:bodyPr anchor="ctr" anchorCtr="0">
            <a:spAutoFit/>
          </a:bodyPr>
          <a:p>
            <a:pPr indent="14605" defTabSz="914400" eaLnBrk="1" hangingPunct="1">
              <a:lnSpc>
                <a:spcPct val="100000"/>
              </a:lnSpc>
              <a:tabLst>
                <a:tab pos="-1295400" algn="l"/>
              </a:tabLst>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数字滤波：通过特定的计算程序对采样数据进行处理，减少干扰信号在有用信号中的比重。</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pic>
        <p:nvPicPr>
          <p:cNvPr id="2619397" name="图片 2619396" descr="kugel_blau"/>
          <p:cNvPicPr>
            <a:picLocks noChangeAspect="1"/>
          </p:cNvPicPr>
          <p:nvPr/>
        </p:nvPicPr>
        <p:blipFill>
          <a:blip r:embed="rId1"/>
          <a:stretch>
            <a:fillRect/>
          </a:stretch>
        </p:blipFill>
        <p:spPr>
          <a:xfrm>
            <a:off x="771525" y="3929063"/>
            <a:ext cx="457200" cy="315912"/>
          </a:xfrm>
          <a:prstGeom prst="rect">
            <a:avLst/>
          </a:prstGeom>
          <a:noFill/>
          <a:ln w="9525">
            <a:noFill/>
          </a:ln>
        </p:spPr>
      </p:pic>
      <p:sp>
        <p:nvSpPr>
          <p:cNvPr id="2619399" name="文本框 2619398"/>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619395"/>
                                        </p:tgtEl>
                                        <p:attrNameLst>
                                          <p:attrName>style.visibility</p:attrName>
                                        </p:attrNameLst>
                                      </p:cBhvr>
                                      <p:to>
                                        <p:strVal val="visible"/>
                                      </p:to>
                                    </p:set>
                                    <p:anim calcmode="lin" valueType="num">
                                      <p:cBhvr additive="base">
                                        <p:cTn id="7" dur="500" fill="hold"/>
                                        <p:tgtEl>
                                          <p:spTgt spid="2619395"/>
                                        </p:tgtEl>
                                        <p:attrNameLst>
                                          <p:attrName>ppt_x</p:attrName>
                                        </p:attrNameLst>
                                      </p:cBhvr>
                                      <p:tavLst>
                                        <p:tav tm="0">
                                          <p:val>
                                            <p:strVal val="0-#ppt_w/2"/>
                                          </p:val>
                                        </p:tav>
                                        <p:tav tm="100000">
                                          <p:val>
                                            <p:strVal val="#ppt_x"/>
                                          </p:val>
                                        </p:tav>
                                      </p:tavLst>
                                    </p:anim>
                                    <p:anim calcmode="lin" valueType="num">
                                      <p:cBhvr additive="base">
                                        <p:cTn id="8" dur="500" fill="hold"/>
                                        <p:tgtEl>
                                          <p:spTgt spid="2619395"/>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2619394">
                                            <p:txEl>
                                              <p:charRg st="0" end="61"/>
                                            </p:txEl>
                                          </p:spTgt>
                                        </p:tgtEl>
                                        <p:attrNameLst>
                                          <p:attrName>style.visibility</p:attrName>
                                        </p:attrNameLst>
                                      </p:cBhvr>
                                      <p:to>
                                        <p:strVal val="visible"/>
                                      </p:to>
                                    </p:set>
                                    <p:animEffect transition="in" filter="wipe(left)">
                                      <p:cBhvr>
                                        <p:cTn id="11" dur="500"/>
                                        <p:tgtEl>
                                          <p:spTgt spid="2619394">
                                            <p:txEl>
                                              <p:charRg st="0" end="61"/>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2" presetClass="entr" presetSubtype="8" fill="hold" nodeType="clickEffect">
                                  <p:stCondLst>
                                    <p:cond delay="0"/>
                                  </p:stCondLst>
                                  <p:childTnLst>
                                    <p:set>
                                      <p:cBhvr>
                                        <p:cTn id="15" dur="1" fill="hold">
                                          <p:stCondLst>
                                            <p:cond delay="0"/>
                                          </p:stCondLst>
                                        </p:cTn>
                                        <p:tgtEl>
                                          <p:spTgt spid="2619397"/>
                                        </p:tgtEl>
                                        <p:attrNameLst>
                                          <p:attrName>style.visibility</p:attrName>
                                        </p:attrNameLst>
                                      </p:cBhvr>
                                      <p:to>
                                        <p:strVal val="visible"/>
                                      </p:to>
                                    </p:set>
                                    <p:anim calcmode="lin" valueType="num">
                                      <p:cBhvr additive="base">
                                        <p:cTn id="16" dur="500" fill="hold"/>
                                        <p:tgtEl>
                                          <p:spTgt spid="2619397"/>
                                        </p:tgtEl>
                                        <p:attrNameLst>
                                          <p:attrName>ppt_x</p:attrName>
                                        </p:attrNameLst>
                                      </p:cBhvr>
                                      <p:tavLst>
                                        <p:tav tm="0">
                                          <p:val>
                                            <p:strVal val="0-#ppt_w/2"/>
                                          </p:val>
                                        </p:tav>
                                        <p:tav tm="100000">
                                          <p:val>
                                            <p:strVal val="#ppt_x"/>
                                          </p:val>
                                        </p:tav>
                                      </p:tavLst>
                                    </p:anim>
                                    <p:anim calcmode="lin" valueType="num">
                                      <p:cBhvr additive="base">
                                        <p:cTn id="17" dur="500" fill="hold"/>
                                        <p:tgtEl>
                                          <p:spTgt spid="2619397"/>
                                        </p:tgtEl>
                                        <p:attrNameLst>
                                          <p:attrName>ppt_y</p:attrName>
                                        </p:attrNameLst>
                                      </p:cBhvr>
                                      <p:tavLst>
                                        <p:tav tm="0">
                                          <p:val>
                                            <p:strVal val="#ppt_y"/>
                                          </p:val>
                                        </p:tav>
                                        <p:tav tm="100000">
                                          <p:val>
                                            <p:strVal val="#ppt_y"/>
                                          </p:val>
                                        </p:tav>
                                      </p:tavLst>
                                    </p:anim>
                                  </p:childTnLst>
                                </p:cTn>
                              </p:par>
                              <p:par>
                                <p:cTn id="18" presetID="22" presetClass="entr" presetSubtype="8" fill="hold" grpId="0" nodeType="withEffect">
                                  <p:stCondLst>
                                    <p:cond delay="0"/>
                                  </p:stCondLst>
                                  <p:childTnLst>
                                    <p:set>
                                      <p:cBhvr>
                                        <p:cTn id="19" dur="1" fill="hold">
                                          <p:stCondLst>
                                            <p:cond delay="0"/>
                                          </p:stCondLst>
                                        </p:cTn>
                                        <p:tgtEl>
                                          <p:spTgt spid="2619396">
                                            <p:txEl>
                                              <p:charRg st="0" end="41"/>
                                            </p:txEl>
                                          </p:spTgt>
                                        </p:tgtEl>
                                        <p:attrNameLst>
                                          <p:attrName>style.visibility</p:attrName>
                                        </p:attrNameLst>
                                      </p:cBhvr>
                                      <p:to>
                                        <p:strVal val="visible"/>
                                      </p:to>
                                    </p:set>
                                    <p:animEffect transition="in" filter="wipe(left)">
                                      <p:cBhvr>
                                        <p:cTn id="20" dur="500"/>
                                        <p:tgtEl>
                                          <p:spTgt spid="2619396">
                                            <p:txEl>
                                              <p:charRg st="0" end="4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9394" grpId="0" build="p"/>
      <p:bldP spid="2619396" grpId="0" build="p"/>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89698" name="矩形 2589697"/>
          <p:cNvSpPr/>
          <p:nvPr/>
        </p:nvSpPr>
        <p:spPr>
          <a:xfrm>
            <a:off x="612775" y="2671763"/>
            <a:ext cx="2376488" cy="1066800"/>
          </a:xfrm>
          <a:prstGeom prst="rect">
            <a:avLst/>
          </a:prstGeom>
          <a:noFill/>
          <a:ln w="9525">
            <a:noFill/>
          </a:ln>
        </p:spPr>
        <p:txBody>
          <a:bodyPr>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数字滤波</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的优点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9699" name="左大括号 2589698"/>
          <p:cNvSpPr/>
          <p:nvPr/>
        </p:nvSpPr>
        <p:spPr>
          <a:xfrm>
            <a:off x="2486025" y="1557338"/>
            <a:ext cx="215900" cy="3313112"/>
          </a:xfrm>
          <a:prstGeom prst="leftBrace">
            <a:avLst>
              <a:gd name="adj1" fmla="val 127879"/>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89700" name="矩形 2589699"/>
          <p:cNvSpPr/>
          <p:nvPr/>
        </p:nvSpPr>
        <p:spPr>
          <a:xfrm>
            <a:off x="2846388" y="1365250"/>
            <a:ext cx="5757862" cy="579438"/>
          </a:xfrm>
          <a:prstGeom prst="rect">
            <a:avLst/>
          </a:prstGeom>
          <a:noFill/>
          <a:ln w="9525">
            <a:noFill/>
          </a:ln>
        </p:spPr>
        <p:txBody>
          <a:bodyPr>
            <a:spAutoFit/>
          </a:bodyPr>
          <a:p>
            <a:pPr eaLnBrk="1" hangingPunct="1">
              <a:lnSpc>
                <a:spcPct val="100000"/>
              </a:lnSpc>
            </a:pPr>
            <a:r>
              <a:rPr lang="en-US" altLang="zh-CN"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①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用程序实现，不需增加硬件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9701" name="矩形 2589700"/>
          <p:cNvSpPr/>
          <p:nvPr/>
        </p:nvSpPr>
        <p:spPr>
          <a:xfrm>
            <a:off x="2876550" y="2417763"/>
            <a:ext cx="5151438" cy="579437"/>
          </a:xfrm>
          <a:prstGeom prst="rect">
            <a:avLst/>
          </a:prstGeom>
          <a:noFill/>
          <a:ln w="9525">
            <a:noFill/>
          </a:ln>
        </p:spPr>
        <p:txBody>
          <a:bodyPr>
            <a:spAutoFit/>
          </a:bodyPr>
          <a:p>
            <a:pPr eaLnBrk="1" hangingPunct="1">
              <a:lnSpc>
                <a:spcPct val="100000"/>
              </a:lnSpc>
            </a:pPr>
            <a:r>
              <a:rPr lang="en-US" altLang="zh-CN"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② </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可靠性高，稳定性好  </a:t>
            </a:r>
            <a:endPar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9702" name="矩形 2589701"/>
          <p:cNvSpPr/>
          <p:nvPr/>
        </p:nvSpPr>
        <p:spPr>
          <a:xfrm>
            <a:off x="2773363" y="3498850"/>
            <a:ext cx="6264275" cy="579438"/>
          </a:xfrm>
          <a:prstGeom prst="rect">
            <a:avLst/>
          </a:prstGeom>
          <a:noFill/>
          <a:ln w="9525">
            <a:noFill/>
          </a:ln>
        </p:spPr>
        <p:txBody>
          <a:bodyPr wrap="none" anchor="t" anchorCtr="0">
            <a:spAutoFit/>
          </a:bodyPr>
          <a:p>
            <a:pPr eaLnBrk="1" hangingPunct="1">
              <a:lnSpc>
                <a:spcPct val="100000"/>
              </a:lnSpc>
            </a:pPr>
            <a:r>
              <a:rPr lang="en-US" altLang="zh-CN"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③</a:t>
            </a:r>
            <a:r>
              <a:rPr lang="en-US" altLang="zh-CN" sz="18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可对低频信号（</a:t>
            </a:r>
            <a:r>
              <a:rPr lang="en-US" altLang="zh-CN" sz="32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0.01Hz</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）滤波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9703" name="矩形 2589702"/>
          <p:cNvSpPr/>
          <p:nvPr/>
        </p:nvSpPr>
        <p:spPr>
          <a:xfrm>
            <a:off x="2876550" y="4578350"/>
            <a:ext cx="5908675" cy="1066800"/>
          </a:xfrm>
          <a:prstGeom prst="rect">
            <a:avLst/>
          </a:prstGeom>
          <a:noFill/>
          <a:ln w="9525">
            <a:noFill/>
          </a:ln>
        </p:spPr>
        <p:txBody>
          <a:bodyPr>
            <a:spAutoFit/>
          </a:bodyPr>
          <a:p>
            <a:pPr eaLnBrk="1" hangingPunct="1">
              <a:lnSpc>
                <a:spcPct val="100000"/>
              </a:lnSpc>
            </a:pPr>
            <a:r>
              <a:rPr lang="en-US" altLang="zh-CN"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④ </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容易更换滤波方法，灵活改变滤波参数  </a:t>
            </a:r>
            <a:endPar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89705" name="文本框 258970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89698"/>
                                        </p:tgtEl>
                                        <p:attrNameLst>
                                          <p:attrName>style.visibility</p:attrName>
                                        </p:attrNameLst>
                                      </p:cBhvr>
                                      <p:to>
                                        <p:strVal val="visible"/>
                                      </p:to>
                                    </p:set>
                                    <p:animEffect transition="in" filter="dissolve">
                                      <p:cBhvr>
                                        <p:cTn id="7" dur="500"/>
                                        <p:tgtEl>
                                          <p:spTgt spid="258969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589699"/>
                                        </p:tgtEl>
                                        <p:attrNameLst>
                                          <p:attrName>style.visibility</p:attrName>
                                        </p:attrNameLst>
                                      </p:cBhvr>
                                      <p:to>
                                        <p:strVal val="visible"/>
                                      </p:to>
                                    </p:set>
                                    <p:animEffect transition="in" filter="wipe(up)">
                                      <p:cBhvr>
                                        <p:cTn id="12" dur="500"/>
                                        <p:tgtEl>
                                          <p:spTgt spid="258969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89700"/>
                                        </p:tgtEl>
                                        <p:attrNameLst>
                                          <p:attrName>style.visibility</p:attrName>
                                        </p:attrNameLst>
                                      </p:cBhvr>
                                      <p:to>
                                        <p:strVal val="visible"/>
                                      </p:to>
                                    </p:set>
                                    <p:animEffect transition="in" filter="wipe(left)">
                                      <p:cBhvr>
                                        <p:cTn id="17" dur="500"/>
                                        <p:tgtEl>
                                          <p:spTgt spid="25897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89701"/>
                                        </p:tgtEl>
                                        <p:attrNameLst>
                                          <p:attrName>style.visibility</p:attrName>
                                        </p:attrNameLst>
                                      </p:cBhvr>
                                      <p:to>
                                        <p:strVal val="visible"/>
                                      </p:to>
                                    </p:set>
                                    <p:animEffect transition="in" filter="wipe(left)">
                                      <p:cBhvr>
                                        <p:cTn id="22" dur="500"/>
                                        <p:tgtEl>
                                          <p:spTgt spid="258970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589702"/>
                                        </p:tgtEl>
                                        <p:attrNameLst>
                                          <p:attrName>style.visibility</p:attrName>
                                        </p:attrNameLst>
                                      </p:cBhvr>
                                      <p:to>
                                        <p:strVal val="visible"/>
                                      </p:to>
                                    </p:set>
                                    <p:animEffect transition="in" filter="wipe(left)">
                                      <p:cBhvr>
                                        <p:cTn id="27" dur="500"/>
                                        <p:tgtEl>
                                          <p:spTgt spid="258970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589703"/>
                                        </p:tgtEl>
                                        <p:attrNameLst>
                                          <p:attrName>style.visibility</p:attrName>
                                        </p:attrNameLst>
                                      </p:cBhvr>
                                      <p:to>
                                        <p:strVal val="visible"/>
                                      </p:to>
                                    </p:set>
                                    <p:animEffect transition="in" filter="wipe(left)">
                                      <p:cBhvr>
                                        <p:cTn id="32" dur="500"/>
                                        <p:tgtEl>
                                          <p:spTgt spid="25897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9698" grpId="0"/>
      <p:bldP spid="2589700" grpId="0"/>
      <p:bldP spid="2589701" grpId="0"/>
      <p:bldP spid="2589702" grpId="0"/>
      <p:bldP spid="2589703"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0722" name="矩形 2590721"/>
          <p:cNvSpPr/>
          <p:nvPr/>
        </p:nvSpPr>
        <p:spPr>
          <a:xfrm>
            <a:off x="612775" y="981075"/>
            <a:ext cx="3241675" cy="579438"/>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3200" b="1">
                <a:solidFill>
                  <a:schemeClr val="accent2"/>
                </a:solidFill>
                <a:effectLst>
                  <a:outerShdw blurRad="38100" dist="38100" dir="2700000">
                    <a:srgbClr val="C0C0C0"/>
                  </a:outerShdw>
                </a:effectLst>
                <a:latin typeface="Arial Black" panose="020B0A04020102020204" pitchFamily="34" charset="0"/>
                <a:ea typeface="楷体_GB2312" pitchFamily="49" charset="-122"/>
              </a:rPr>
              <a:t>1.</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中值滤波法</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pSp>
        <p:nvGrpSpPr>
          <p:cNvPr id="2590723" name="组合 2590722"/>
          <p:cNvGrpSpPr/>
          <p:nvPr/>
        </p:nvGrpSpPr>
        <p:grpSpPr>
          <a:xfrm>
            <a:off x="1531938" y="2708275"/>
            <a:ext cx="1871662" cy="1800225"/>
            <a:chOff x="1246" y="1102"/>
            <a:chExt cx="1725" cy="1874"/>
          </a:xfrm>
        </p:grpSpPr>
        <p:grpSp>
          <p:nvGrpSpPr>
            <p:cNvPr id="2590724" name="组合 2590723"/>
            <p:cNvGrpSpPr/>
            <p:nvPr/>
          </p:nvGrpSpPr>
          <p:grpSpPr>
            <a:xfrm>
              <a:off x="1246" y="1102"/>
              <a:ext cx="1407" cy="1874"/>
              <a:chOff x="1246" y="1102"/>
              <a:chExt cx="1407" cy="1874"/>
            </a:xfrm>
          </p:grpSpPr>
          <p:grpSp>
            <p:nvGrpSpPr>
              <p:cNvPr id="2590725" name="组合 2590724"/>
              <p:cNvGrpSpPr/>
              <p:nvPr/>
            </p:nvGrpSpPr>
            <p:grpSpPr>
              <a:xfrm>
                <a:off x="1504" y="1102"/>
                <a:ext cx="448" cy="666"/>
                <a:chOff x="1504" y="1102"/>
                <a:chExt cx="448" cy="666"/>
              </a:xfrm>
            </p:grpSpPr>
            <p:grpSp>
              <p:nvGrpSpPr>
                <p:cNvPr id="2590726" name="组合 2590725"/>
                <p:cNvGrpSpPr/>
                <p:nvPr/>
              </p:nvGrpSpPr>
              <p:grpSpPr>
                <a:xfrm>
                  <a:off x="1557" y="1399"/>
                  <a:ext cx="395" cy="369"/>
                  <a:chOff x="1557" y="1399"/>
                  <a:chExt cx="395" cy="369"/>
                </a:xfrm>
              </p:grpSpPr>
              <p:grpSp>
                <p:nvGrpSpPr>
                  <p:cNvPr id="2590727" name="组合 2590726"/>
                  <p:cNvGrpSpPr/>
                  <p:nvPr/>
                </p:nvGrpSpPr>
                <p:grpSpPr>
                  <a:xfrm>
                    <a:off x="1585" y="1411"/>
                    <a:ext cx="367" cy="357"/>
                    <a:chOff x="1585" y="1411"/>
                    <a:chExt cx="367" cy="357"/>
                  </a:xfrm>
                </p:grpSpPr>
                <p:grpSp>
                  <p:nvGrpSpPr>
                    <p:cNvPr id="2590728" name="组合 2590727"/>
                    <p:cNvGrpSpPr/>
                    <p:nvPr/>
                  </p:nvGrpSpPr>
                  <p:grpSpPr>
                    <a:xfrm>
                      <a:off x="1585" y="1411"/>
                      <a:ext cx="367" cy="357"/>
                      <a:chOff x="1585" y="1411"/>
                      <a:chExt cx="367" cy="357"/>
                    </a:xfrm>
                  </p:grpSpPr>
                  <p:grpSp>
                    <p:nvGrpSpPr>
                      <p:cNvPr id="2590729" name="组合 2590728"/>
                      <p:cNvGrpSpPr/>
                      <p:nvPr/>
                    </p:nvGrpSpPr>
                    <p:grpSpPr>
                      <a:xfrm>
                        <a:off x="1585" y="1411"/>
                        <a:ext cx="367" cy="357"/>
                        <a:chOff x="1585" y="1411"/>
                        <a:chExt cx="367" cy="357"/>
                      </a:xfrm>
                    </p:grpSpPr>
                    <p:sp>
                      <p:nvSpPr>
                        <p:cNvPr id="2590730" name="任意多边形 2590729"/>
                        <p:cNvSpPr/>
                        <p:nvPr/>
                      </p:nvSpPr>
                      <p:spPr>
                        <a:xfrm>
                          <a:off x="1619" y="1411"/>
                          <a:ext cx="327" cy="357"/>
                        </a:xfrm>
                        <a:custGeom>
                          <a:avLst/>
                          <a:gdLst/>
                          <a:ahLst/>
                          <a:cxnLst/>
                          <a:pathLst>
                            <a:path w="327" h="357">
                              <a:moveTo>
                                <a:pt x="281" y="27"/>
                              </a:moveTo>
                              <a:lnTo>
                                <a:pt x="274" y="17"/>
                              </a:lnTo>
                              <a:lnTo>
                                <a:pt x="255" y="0"/>
                              </a:lnTo>
                              <a:lnTo>
                                <a:pt x="144" y="9"/>
                              </a:lnTo>
                              <a:lnTo>
                                <a:pt x="45" y="90"/>
                              </a:lnTo>
                              <a:lnTo>
                                <a:pt x="0" y="206"/>
                              </a:lnTo>
                              <a:lnTo>
                                <a:pt x="16" y="231"/>
                              </a:lnTo>
                              <a:lnTo>
                                <a:pt x="64" y="283"/>
                              </a:lnTo>
                              <a:lnTo>
                                <a:pt x="63" y="293"/>
                              </a:lnTo>
                              <a:lnTo>
                                <a:pt x="65" y="304"/>
                              </a:lnTo>
                              <a:lnTo>
                                <a:pt x="72" y="311"/>
                              </a:lnTo>
                              <a:lnTo>
                                <a:pt x="82" y="318"/>
                              </a:lnTo>
                              <a:lnTo>
                                <a:pt x="92" y="325"/>
                              </a:lnTo>
                              <a:lnTo>
                                <a:pt x="102" y="331"/>
                              </a:lnTo>
                              <a:lnTo>
                                <a:pt x="114" y="337"/>
                              </a:lnTo>
                              <a:lnTo>
                                <a:pt x="126" y="343"/>
                              </a:lnTo>
                              <a:lnTo>
                                <a:pt x="138" y="346"/>
                              </a:lnTo>
                              <a:lnTo>
                                <a:pt x="154" y="351"/>
                              </a:lnTo>
                              <a:lnTo>
                                <a:pt x="168" y="354"/>
                              </a:lnTo>
                              <a:lnTo>
                                <a:pt x="182" y="357"/>
                              </a:lnTo>
                              <a:lnTo>
                                <a:pt x="195" y="353"/>
                              </a:lnTo>
                              <a:lnTo>
                                <a:pt x="203" y="350"/>
                              </a:lnTo>
                              <a:lnTo>
                                <a:pt x="213" y="341"/>
                              </a:lnTo>
                              <a:lnTo>
                                <a:pt x="220" y="336"/>
                              </a:lnTo>
                              <a:lnTo>
                                <a:pt x="228" y="341"/>
                              </a:lnTo>
                              <a:lnTo>
                                <a:pt x="238" y="346"/>
                              </a:lnTo>
                              <a:lnTo>
                                <a:pt x="255" y="349"/>
                              </a:lnTo>
                              <a:lnTo>
                                <a:pt x="267" y="344"/>
                              </a:lnTo>
                              <a:lnTo>
                                <a:pt x="276" y="336"/>
                              </a:lnTo>
                              <a:lnTo>
                                <a:pt x="283" y="326"/>
                              </a:lnTo>
                              <a:lnTo>
                                <a:pt x="288" y="312"/>
                              </a:lnTo>
                              <a:lnTo>
                                <a:pt x="327" y="259"/>
                              </a:lnTo>
                              <a:lnTo>
                                <a:pt x="292" y="185"/>
                              </a:lnTo>
                              <a:lnTo>
                                <a:pt x="281" y="27"/>
                              </a:lnTo>
                              <a:close/>
                            </a:path>
                          </a:pathLst>
                        </a:cu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0731" name="椭圆 2590730"/>
                        <p:cNvSpPr/>
                        <p:nvPr/>
                      </p:nvSpPr>
                      <p:spPr>
                        <a:xfrm>
                          <a:off x="1585" y="1572"/>
                          <a:ext cx="72" cy="7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0732" name="椭圆 2590731"/>
                        <p:cNvSpPr/>
                        <p:nvPr/>
                      </p:nvSpPr>
                      <p:spPr>
                        <a:xfrm>
                          <a:off x="1638" y="1611"/>
                          <a:ext cx="83" cy="84"/>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0733" name="椭圆 2590732"/>
                        <p:cNvSpPr/>
                        <p:nvPr/>
                      </p:nvSpPr>
                      <p:spPr>
                        <a:xfrm>
                          <a:off x="1844" y="1613"/>
                          <a:ext cx="108" cy="11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0734" name="椭圆 2590733"/>
                        <p:cNvSpPr/>
                        <p:nvPr/>
                      </p:nvSpPr>
                      <p:spPr>
                        <a:xfrm>
                          <a:off x="1819" y="1672"/>
                          <a:ext cx="92" cy="9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grpSp>
                  <p:grpSp>
                    <p:nvGrpSpPr>
                      <p:cNvPr id="2590735" name="组合 2590734"/>
                      <p:cNvGrpSpPr/>
                      <p:nvPr/>
                    </p:nvGrpSpPr>
                    <p:grpSpPr>
                      <a:xfrm>
                        <a:off x="1602" y="1572"/>
                        <a:ext cx="337" cy="124"/>
                        <a:chOff x="1602" y="1572"/>
                        <a:chExt cx="337" cy="124"/>
                      </a:xfrm>
                    </p:grpSpPr>
                    <p:sp>
                      <p:nvSpPr>
                        <p:cNvPr id="2590736" name="椭圆 2590735"/>
                        <p:cNvSpPr/>
                        <p:nvPr/>
                      </p:nvSpPr>
                      <p:spPr>
                        <a:xfrm>
                          <a:off x="1742" y="1572"/>
                          <a:ext cx="113" cy="11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37" name="椭圆 2590736"/>
                        <p:cNvSpPr/>
                        <p:nvPr/>
                      </p:nvSpPr>
                      <p:spPr>
                        <a:xfrm>
                          <a:off x="1602" y="1589"/>
                          <a:ext cx="47" cy="43"/>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38" name="椭圆 2590737"/>
                        <p:cNvSpPr/>
                        <p:nvPr/>
                      </p:nvSpPr>
                      <p:spPr>
                        <a:xfrm>
                          <a:off x="1816" y="1631"/>
                          <a:ext cx="123" cy="65"/>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39" name="椭圆 2590738"/>
                        <p:cNvSpPr/>
                        <p:nvPr/>
                      </p:nvSpPr>
                      <p:spPr>
                        <a:xfrm>
                          <a:off x="1823" y="1629"/>
                          <a:ext cx="116" cy="57"/>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0740" name="椭圆 2590739"/>
                        <p:cNvSpPr/>
                        <p:nvPr/>
                      </p:nvSpPr>
                      <p:spPr>
                        <a:xfrm>
                          <a:off x="1603" y="1594"/>
                          <a:ext cx="47" cy="41"/>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sp>
                      <p:nvSpPr>
                        <p:cNvPr id="2590741" name="椭圆 2590740"/>
                        <p:cNvSpPr/>
                        <p:nvPr/>
                      </p:nvSpPr>
                      <p:spPr>
                        <a:xfrm>
                          <a:off x="1733" y="1580"/>
                          <a:ext cx="115" cy="98"/>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sp>
                      <p:nvSpPr>
                        <p:cNvPr id="2590742" name="椭圆 2590741"/>
                        <p:cNvSpPr/>
                        <p:nvPr/>
                      </p:nvSpPr>
                      <p:spPr>
                        <a:xfrm>
                          <a:off x="1743" y="1580"/>
                          <a:ext cx="116" cy="93"/>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grpSp>
                </p:grpSp>
                <p:grpSp>
                  <p:nvGrpSpPr>
                    <p:cNvPr id="2590743" name="组合 2590742"/>
                    <p:cNvGrpSpPr/>
                    <p:nvPr/>
                  </p:nvGrpSpPr>
                  <p:grpSpPr>
                    <a:xfrm>
                      <a:off x="1795" y="1431"/>
                      <a:ext cx="152" cy="209"/>
                      <a:chOff x="1795" y="1431"/>
                      <a:chExt cx="152" cy="209"/>
                    </a:xfrm>
                  </p:grpSpPr>
                  <p:grpSp>
                    <p:nvGrpSpPr>
                      <p:cNvPr id="2590744" name="组合 2590743"/>
                      <p:cNvGrpSpPr/>
                      <p:nvPr/>
                    </p:nvGrpSpPr>
                    <p:grpSpPr>
                      <a:xfrm>
                        <a:off x="1795" y="1431"/>
                        <a:ext cx="132" cy="153"/>
                        <a:chOff x="1795" y="1431"/>
                        <a:chExt cx="132" cy="153"/>
                      </a:xfrm>
                    </p:grpSpPr>
                    <p:grpSp>
                      <p:nvGrpSpPr>
                        <p:cNvPr id="2590745" name="组合 2590744"/>
                        <p:cNvGrpSpPr/>
                        <p:nvPr/>
                      </p:nvGrpSpPr>
                      <p:grpSpPr>
                        <a:xfrm>
                          <a:off x="1795" y="1431"/>
                          <a:ext cx="132" cy="153"/>
                          <a:chOff x="1795" y="1431"/>
                          <a:chExt cx="132" cy="153"/>
                        </a:xfrm>
                      </p:grpSpPr>
                      <p:grpSp>
                        <p:nvGrpSpPr>
                          <p:cNvPr id="2590746" name="组合 2590745"/>
                          <p:cNvGrpSpPr/>
                          <p:nvPr/>
                        </p:nvGrpSpPr>
                        <p:grpSpPr>
                          <a:xfrm>
                            <a:off x="1795" y="1447"/>
                            <a:ext cx="132" cy="137"/>
                            <a:chOff x="1795" y="1447"/>
                            <a:chExt cx="132" cy="137"/>
                          </a:xfrm>
                        </p:grpSpPr>
                        <p:sp>
                          <p:nvSpPr>
                            <p:cNvPr id="2590747" name="椭圆 2590746"/>
                            <p:cNvSpPr/>
                            <p:nvPr/>
                          </p:nvSpPr>
                          <p:spPr>
                            <a:xfrm>
                              <a:off x="1795" y="1447"/>
                              <a:ext cx="90" cy="137"/>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48" name="椭圆 2590747"/>
                            <p:cNvSpPr/>
                            <p:nvPr/>
                          </p:nvSpPr>
                          <p:spPr>
                            <a:xfrm>
                              <a:off x="1865" y="1447"/>
                              <a:ext cx="62" cy="122"/>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0749" name="组合 2590748"/>
                          <p:cNvGrpSpPr/>
                          <p:nvPr/>
                        </p:nvGrpSpPr>
                        <p:grpSpPr>
                          <a:xfrm>
                            <a:off x="1802" y="1452"/>
                            <a:ext cx="124" cy="132"/>
                            <a:chOff x="1802" y="1452"/>
                            <a:chExt cx="124" cy="132"/>
                          </a:xfrm>
                        </p:grpSpPr>
                        <p:sp>
                          <p:nvSpPr>
                            <p:cNvPr id="2590750" name="椭圆 2590749"/>
                            <p:cNvSpPr/>
                            <p:nvPr/>
                          </p:nvSpPr>
                          <p:spPr>
                            <a:xfrm>
                              <a:off x="1802" y="1453"/>
                              <a:ext cx="81" cy="131"/>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751" name="椭圆 2590750"/>
                            <p:cNvSpPr/>
                            <p:nvPr/>
                          </p:nvSpPr>
                          <p:spPr>
                            <a:xfrm>
                              <a:off x="1863" y="1452"/>
                              <a:ext cx="63" cy="12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0752" name="组合 2590751"/>
                          <p:cNvGrpSpPr/>
                          <p:nvPr/>
                        </p:nvGrpSpPr>
                        <p:grpSpPr>
                          <a:xfrm>
                            <a:off x="1822" y="1431"/>
                            <a:ext cx="86" cy="47"/>
                            <a:chOff x="1822" y="1431"/>
                            <a:chExt cx="86" cy="47"/>
                          </a:xfrm>
                        </p:grpSpPr>
                        <p:sp>
                          <p:nvSpPr>
                            <p:cNvPr id="2590753" name="任意多边形 2590752"/>
                            <p:cNvSpPr/>
                            <p:nvPr/>
                          </p:nvSpPr>
                          <p:spPr>
                            <a:xfrm>
                              <a:off x="1880" y="1431"/>
                              <a:ext cx="28" cy="46"/>
                            </a:xfrm>
                            <a:custGeom>
                              <a:avLst/>
                              <a:gdLst/>
                              <a:ahLst/>
                              <a:cxnLst/>
                              <a:pathLst>
                                <a:path w="28" h="46">
                                  <a:moveTo>
                                    <a:pt x="0" y="29"/>
                                  </a:moveTo>
                                  <a:lnTo>
                                    <a:pt x="7" y="46"/>
                                  </a:lnTo>
                                  <a:lnTo>
                                    <a:pt x="28" y="15"/>
                                  </a:lnTo>
                                  <a:lnTo>
                                    <a:pt x="20" y="0"/>
                                  </a:lnTo>
                                  <a:lnTo>
                                    <a:pt x="0" y="29"/>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54" name="任意多边形 2590753"/>
                            <p:cNvSpPr/>
                            <p:nvPr/>
                          </p:nvSpPr>
                          <p:spPr>
                            <a:xfrm>
                              <a:off x="1822" y="1434"/>
                              <a:ext cx="58" cy="44"/>
                            </a:xfrm>
                            <a:custGeom>
                              <a:avLst/>
                              <a:gdLst/>
                              <a:ahLst/>
                              <a:cxnLst/>
                              <a:pathLst>
                                <a:path w="58" h="44">
                                  <a:moveTo>
                                    <a:pt x="8" y="0"/>
                                  </a:moveTo>
                                  <a:lnTo>
                                    <a:pt x="58" y="30"/>
                                  </a:lnTo>
                                  <a:lnTo>
                                    <a:pt x="54" y="44"/>
                                  </a:lnTo>
                                  <a:lnTo>
                                    <a:pt x="0" y="18"/>
                                  </a:lnTo>
                                  <a:lnTo>
                                    <a:pt x="8" y="0"/>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grpSp>
                      <p:nvGrpSpPr>
                        <p:cNvPr id="2590755" name="组合 2590754"/>
                        <p:cNvGrpSpPr/>
                        <p:nvPr/>
                      </p:nvGrpSpPr>
                      <p:grpSpPr>
                        <a:xfrm>
                          <a:off x="1857" y="1523"/>
                          <a:ext cx="69" cy="56"/>
                          <a:chOff x="1857" y="1523"/>
                          <a:chExt cx="69" cy="56"/>
                        </a:xfrm>
                      </p:grpSpPr>
                      <p:grpSp>
                        <p:nvGrpSpPr>
                          <p:cNvPr id="2590756" name="组合 2590755"/>
                          <p:cNvGrpSpPr/>
                          <p:nvPr/>
                        </p:nvGrpSpPr>
                        <p:grpSpPr>
                          <a:xfrm>
                            <a:off x="1857" y="1523"/>
                            <a:ext cx="29" cy="56"/>
                            <a:chOff x="1857" y="1523"/>
                            <a:chExt cx="29" cy="56"/>
                          </a:xfrm>
                        </p:grpSpPr>
                        <p:sp>
                          <p:nvSpPr>
                            <p:cNvPr id="2590757" name="椭圆 2590756"/>
                            <p:cNvSpPr/>
                            <p:nvPr/>
                          </p:nvSpPr>
                          <p:spPr>
                            <a:xfrm>
                              <a:off x="1861" y="1523"/>
                              <a:ext cx="25" cy="56"/>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58" name="任意多边形 2590757"/>
                            <p:cNvSpPr/>
                            <p:nvPr/>
                          </p:nvSpPr>
                          <p:spPr>
                            <a:xfrm>
                              <a:off x="1857" y="1540"/>
                              <a:ext cx="13" cy="7"/>
                            </a:xfrm>
                            <a:custGeom>
                              <a:avLst/>
                              <a:gdLst/>
                              <a:ahLst/>
                              <a:cxnLst/>
                              <a:pathLst>
                                <a:path w="13" h="7">
                                  <a:moveTo>
                                    <a:pt x="3" y="0"/>
                                  </a:moveTo>
                                  <a:lnTo>
                                    <a:pt x="13" y="7"/>
                                  </a:lnTo>
                                  <a:lnTo>
                                    <a:pt x="0" y="7"/>
                                  </a:lnTo>
                                  <a:lnTo>
                                    <a:pt x="3" y="0"/>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0759" name="组合 2590758"/>
                          <p:cNvGrpSpPr/>
                          <p:nvPr/>
                        </p:nvGrpSpPr>
                        <p:grpSpPr>
                          <a:xfrm>
                            <a:off x="1898" y="1523"/>
                            <a:ext cx="28" cy="56"/>
                            <a:chOff x="1898" y="1523"/>
                            <a:chExt cx="28" cy="56"/>
                          </a:xfrm>
                        </p:grpSpPr>
                        <p:sp>
                          <p:nvSpPr>
                            <p:cNvPr id="2590760" name="椭圆 2590759"/>
                            <p:cNvSpPr/>
                            <p:nvPr/>
                          </p:nvSpPr>
                          <p:spPr>
                            <a:xfrm>
                              <a:off x="1901" y="1523"/>
                              <a:ext cx="25" cy="56"/>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61" name="任意多边形 2590760"/>
                            <p:cNvSpPr/>
                            <p:nvPr/>
                          </p:nvSpPr>
                          <p:spPr>
                            <a:xfrm>
                              <a:off x="1898" y="1540"/>
                              <a:ext cx="13" cy="7"/>
                            </a:xfrm>
                            <a:custGeom>
                              <a:avLst/>
                              <a:gdLst/>
                              <a:ahLst/>
                              <a:cxnLst/>
                              <a:pathLst>
                                <a:path w="13" h="7">
                                  <a:moveTo>
                                    <a:pt x="2" y="0"/>
                                  </a:moveTo>
                                  <a:lnTo>
                                    <a:pt x="13" y="7"/>
                                  </a:lnTo>
                                  <a:lnTo>
                                    <a:pt x="0" y="7"/>
                                  </a:lnTo>
                                  <a:lnTo>
                                    <a:pt x="2" y="0"/>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grpSp>
                  <p:grpSp>
                    <p:nvGrpSpPr>
                      <p:cNvPr id="2590762" name="组合 2590761"/>
                      <p:cNvGrpSpPr/>
                      <p:nvPr/>
                    </p:nvGrpSpPr>
                    <p:grpSpPr>
                      <a:xfrm>
                        <a:off x="1857" y="1564"/>
                        <a:ext cx="90" cy="76"/>
                        <a:chOff x="1857" y="1564"/>
                        <a:chExt cx="90" cy="76"/>
                      </a:xfrm>
                    </p:grpSpPr>
                    <p:sp>
                      <p:nvSpPr>
                        <p:cNvPr id="2590763" name="椭圆 2590762"/>
                        <p:cNvSpPr/>
                        <p:nvPr/>
                      </p:nvSpPr>
                      <p:spPr>
                        <a:xfrm>
                          <a:off x="1857" y="1571"/>
                          <a:ext cx="85"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64" name="椭圆 2590763"/>
                        <p:cNvSpPr/>
                        <p:nvPr/>
                      </p:nvSpPr>
                      <p:spPr>
                        <a:xfrm>
                          <a:off x="1862" y="1564"/>
                          <a:ext cx="85" cy="7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grpSp>
                </p:grpSp>
              </p:grpSp>
              <p:sp>
                <p:nvSpPr>
                  <p:cNvPr id="2590765" name="任意多边形 2590764"/>
                  <p:cNvSpPr/>
                  <p:nvPr/>
                </p:nvSpPr>
                <p:spPr>
                  <a:xfrm>
                    <a:off x="1557" y="1399"/>
                    <a:ext cx="249" cy="195"/>
                  </a:xfrm>
                  <a:custGeom>
                    <a:avLst/>
                    <a:gdLst/>
                    <a:ahLst/>
                    <a:cxnLst/>
                    <a:pathLst>
                      <a:path w="249" h="195">
                        <a:moveTo>
                          <a:pt x="31" y="34"/>
                        </a:moveTo>
                        <a:lnTo>
                          <a:pt x="18" y="50"/>
                        </a:lnTo>
                        <a:lnTo>
                          <a:pt x="8" y="66"/>
                        </a:lnTo>
                        <a:lnTo>
                          <a:pt x="2" y="87"/>
                        </a:lnTo>
                        <a:lnTo>
                          <a:pt x="0" y="111"/>
                        </a:lnTo>
                        <a:lnTo>
                          <a:pt x="1" y="129"/>
                        </a:lnTo>
                        <a:lnTo>
                          <a:pt x="7" y="148"/>
                        </a:lnTo>
                        <a:lnTo>
                          <a:pt x="14" y="166"/>
                        </a:lnTo>
                        <a:lnTo>
                          <a:pt x="25" y="183"/>
                        </a:lnTo>
                        <a:lnTo>
                          <a:pt x="35" y="195"/>
                        </a:lnTo>
                        <a:lnTo>
                          <a:pt x="43" y="187"/>
                        </a:lnTo>
                        <a:lnTo>
                          <a:pt x="53" y="180"/>
                        </a:lnTo>
                        <a:lnTo>
                          <a:pt x="65" y="177"/>
                        </a:lnTo>
                        <a:lnTo>
                          <a:pt x="76" y="174"/>
                        </a:lnTo>
                        <a:lnTo>
                          <a:pt x="89" y="175"/>
                        </a:lnTo>
                        <a:lnTo>
                          <a:pt x="102" y="179"/>
                        </a:lnTo>
                        <a:lnTo>
                          <a:pt x="113" y="186"/>
                        </a:lnTo>
                        <a:lnTo>
                          <a:pt x="121" y="188"/>
                        </a:lnTo>
                        <a:lnTo>
                          <a:pt x="120" y="164"/>
                        </a:lnTo>
                        <a:lnTo>
                          <a:pt x="124" y="146"/>
                        </a:lnTo>
                        <a:lnTo>
                          <a:pt x="130" y="129"/>
                        </a:lnTo>
                        <a:lnTo>
                          <a:pt x="139" y="113"/>
                        </a:lnTo>
                        <a:lnTo>
                          <a:pt x="150" y="98"/>
                        </a:lnTo>
                        <a:lnTo>
                          <a:pt x="160" y="83"/>
                        </a:lnTo>
                        <a:lnTo>
                          <a:pt x="176" y="67"/>
                        </a:lnTo>
                        <a:lnTo>
                          <a:pt x="190" y="54"/>
                        </a:lnTo>
                        <a:lnTo>
                          <a:pt x="207" y="43"/>
                        </a:lnTo>
                        <a:lnTo>
                          <a:pt x="225" y="33"/>
                        </a:lnTo>
                        <a:lnTo>
                          <a:pt x="249" y="20"/>
                        </a:lnTo>
                        <a:lnTo>
                          <a:pt x="142" y="0"/>
                        </a:lnTo>
                        <a:lnTo>
                          <a:pt x="31" y="34"/>
                        </a:lnTo>
                        <a:close/>
                      </a:path>
                    </a:pathLst>
                  </a:custGeom>
                  <a:solidFill>
                    <a:srgbClr val="5F5F5F"/>
                  </a:solidFill>
                  <a:ln w="9525">
                    <a:noFill/>
                  </a:ln>
                </p:spPr>
                <p:txBody>
                  <a:bodyPr/>
                  <a:p>
                    <a:pPr eaLnBrk="1" hangingPunct="1">
                      <a:lnSpc>
                        <a:spcPct val="90000"/>
                      </a:lnSpc>
                    </a:pPr>
                    <a:endParaRPr lang="zh-CN" altLang="en-US" b="1">
                      <a:solidFill>
                        <a:srgbClr val="333399"/>
                      </a:solidFill>
                    </a:endParaRPr>
                  </a:p>
                </p:txBody>
              </p:sp>
            </p:grpSp>
            <p:grpSp>
              <p:nvGrpSpPr>
                <p:cNvPr id="2590766" name="组合 2590765"/>
                <p:cNvGrpSpPr/>
                <p:nvPr/>
              </p:nvGrpSpPr>
              <p:grpSpPr>
                <a:xfrm>
                  <a:off x="1504" y="1102"/>
                  <a:ext cx="440" cy="424"/>
                  <a:chOff x="1504" y="1102"/>
                  <a:chExt cx="440" cy="424"/>
                </a:xfrm>
              </p:grpSpPr>
              <p:grpSp>
                <p:nvGrpSpPr>
                  <p:cNvPr id="2590767" name="组合 2590766"/>
                  <p:cNvGrpSpPr/>
                  <p:nvPr/>
                </p:nvGrpSpPr>
                <p:grpSpPr>
                  <a:xfrm>
                    <a:off x="1589" y="1102"/>
                    <a:ext cx="316" cy="194"/>
                    <a:chOff x="1589" y="1102"/>
                    <a:chExt cx="316" cy="194"/>
                  </a:xfrm>
                </p:grpSpPr>
                <p:sp>
                  <p:nvSpPr>
                    <p:cNvPr id="2590768" name="任意多边形 2590767"/>
                    <p:cNvSpPr/>
                    <p:nvPr/>
                  </p:nvSpPr>
                  <p:spPr>
                    <a:xfrm>
                      <a:off x="1589" y="1122"/>
                      <a:ext cx="313" cy="174"/>
                    </a:xfrm>
                    <a:custGeom>
                      <a:avLst/>
                      <a:gdLst/>
                      <a:ahLst/>
                      <a:cxnLst/>
                      <a:pathLst>
                        <a:path w="313" h="174">
                          <a:moveTo>
                            <a:pt x="0" y="0"/>
                          </a:moveTo>
                          <a:lnTo>
                            <a:pt x="8" y="174"/>
                          </a:lnTo>
                          <a:lnTo>
                            <a:pt x="304" y="173"/>
                          </a:lnTo>
                          <a:lnTo>
                            <a:pt x="313" y="0"/>
                          </a:lnTo>
                          <a:lnTo>
                            <a:pt x="0" y="0"/>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sp>
                  <p:nvSpPr>
                    <p:cNvPr id="2590769" name="椭圆 2590768"/>
                    <p:cNvSpPr/>
                    <p:nvPr/>
                  </p:nvSpPr>
                  <p:spPr>
                    <a:xfrm>
                      <a:off x="1589" y="1102"/>
                      <a:ext cx="316" cy="42"/>
                    </a:xfrm>
                    <a:prstGeom prst="ellipse">
                      <a:avLst/>
                    </a:prstGeom>
                    <a:solidFill>
                      <a:srgbClr val="9F3FDF"/>
                    </a:solidFill>
                    <a:ln w="9525">
                      <a:noFill/>
                    </a:ln>
                  </p:spPr>
                  <p:txBody>
                    <a:bodyPr/>
                    <a:p>
                      <a:pPr eaLnBrk="1" hangingPunct="1">
                        <a:lnSpc>
                          <a:spcPct val="90000"/>
                        </a:lnSpc>
                      </a:pPr>
                      <a:endParaRPr lang="zh-CN" altLang="en-US" b="1">
                        <a:solidFill>
                          <a:srgbClr val="333399"/>
                        </a:solidFill>
                      </a:endParaRPr>
                    </a:p>
                  </p:txBody>
                </p:sp>
              </p:grpSp>
              <p:grpSp>
                <p:nvGrpSpPr>
                  <p:cNvPr id="2590770" name="组合 2590769"/>
                  <p:cNvGrpSpPr/>
                  <p:nvPr/>
                </p:nvGrpSpPr>
                <p:grpSpPr>
                  <a:xfrm>
                    <a:off x="1504" y="1223"/>
                    <a:ext cx="440" cy="303"/>
                    <a:chOff x="1504" y="1223"/>
                    <a:chExt cx="440" cy="303"/>
                  </a:xfrm>
                </p:grpSpPr>
                <p:grpSp>
                  <p:nvGrpSpPr>
                    <p:cNvPr id="2590771" name="组合 2590770"/>
                    <p:cNvGrpSpPr/>
                    <p:nvPr/>
                  </p:nvGrpSpPr>
                  <p:grpSpPr>
                    <a:xfrm>
                      <a:off x="1595" y="1223"/>
                      <a:ext cx="303" cy="196"/>
                      <a:chOff x="1595" y="1223"/>
                      <a:chExt cx="303" cy="196"/>
                    </a:xfrm>
                  </p:grpSpPr>
                  <p:sp>
                    <p:nvSpPr>
                      <p:cNvPr id="2590772" name="任意多边形 2590771"/>
                      <p:cNvSpPr/>
                      <p:nvPr/>
                    </p:nvSpPr>
                    <p:spPr>
                      <a:xfrm>
                        <a:off x="1595" y="1260"/>
                        <a:ext cx="300" cy="159"/>
                      </a:xfrm>
                      <a:custGeom>
                        <a:avLst/>
                        <a:gdLst/>
                        <a:ahLst/>
                        <a:cxnLst/>
                        <a:pathLst>
                          <a:path w="300" h="159">
                            <a:moveTo>
                              <a:pt x="0" y="0"/>
                            </a:moveTo>
                            <a:lnTo>
                              <a:pt x="8" y="151"/>
                            </a:lnTo>
                            <a:lnTo>
                              <a:pt x="294" y="159"/>
                            </a:lnTo>
                            <a:lnTo>
                              <a:pt x="300" y="0"/>
                            </a:lnTo>
                            <a:lnTo>
                              <a:pt x="0" y="0"/>
                            </a:lnTo>
                            <a:close/>
                          </a:path>
                        </a:pathLst>
                      </a:custGeom>
                      <a:solidFill>
                        <a:srgbClr val="FF0000"/>
                      </a:solidFill>
                      <a:ln w="9525">
                        <a:noFill/>
                      </a:ln>
                    </p:spPr>
                    <p:txBody>
                      <a:bodyPr/>
                      <a:p>
                        <a:pPr eaLnBrk="1" hangingPunct="1">
                          <a:lnSpc>
                            <a:spcPct val="90000"/>
                          </a:lnSpc>
                        </a:pPr>
                        <a:endParaRPr lang="zh-CN" altLang="en-US" b="1">
                          <a:solidFill>
                            <a:srgbClr val="333399"/>
                          </a:solidFill>
                        </a:endParaRPr>
                      </a:p>
                    </p:txBody>
                  </p:sp>
                  <p:sp>
                    <p:nvSpPr>
                      <p:cNvPr id="2590773" name="椭圆 2590772"/>
                      <p:cNvSpPr/>
                      <p:nvPr/>
                    </p:nvSpPr>
                    <p:spPr>
                      <a:xfrm>
                        <a:off x="1597" y="1223"/>
                        <a:ext cx="301" cy="80"/>
                      </a:xfrm>
                      <a:prstGeom prst="ellipse">
                        <a:avLst/>
                      </a:prstGeom>
                      <a:solidFill>
                        <a:srgbClr val="FF0000"/>
                      </a:solidFill>
                      <a:ln w="9525">
                        <a:noFill/>
                      </a:ln>
                    </p:spPr>
                    <p:txBody>
                      <a:bodyPr/>
                      <a:p>
                        <a:pPr eaLnBrk="1" hangingPunct="1">
                          <a:lnSpc>
                            <a:spcPct val="90000"/>
                          </a:lnSpc>
                        </a:pPr>
                        <a:endParaRPr lang="zh-CN" altLang="en-US" b="1">
                          <a:solidFill>
                            <a:srgbClr val="333399"/>
                          </a:solidFill>
                        </a:endParaRPr>
                      </a:p>
                    </p:txBody>
                  </p:sp>
                </p:grpSp>
                <p:sp>
                  <p:nvSpPr>
                    <p:cNvPr id="2590774" name="任意多边形 2590773"/>
                    <p:cNvSpPr/>
                    <p:nvPr/>
                  </p:nvSpPr>
                  <p:spPr>
                    <a:xfrm>
                      <a:off x="1504" y="1388"/>
                      <a:ext cx="440" cy="138"/>
                    </a:xfrm>
                    <a:custGeom>
                      <a:avLst/>
                      <a:gdLst/>
                      <a:ahLst/>
                      <a:cxnLst/>
                      <a:pathLst>
                        <a:path w="440" h="138">
                          <a:moveTo>
                            <a:pt x="98" y="3"/>
                          </a:moveTo>
                          <a:lnTo>
                            <a:pt x="122" y="0"/>
                          </a:lnTo>
                          <a:lnTo>
                            <a:pt x="155" y="0"/>
                          </a:lnTo>
                          <a:lnTo>
                            <a:pt x="193" y="3"/>
                          </a:lnTo>
                          <a:lnTo>
                            <a:pt x="227" y="8"/>
                          </a:lnTo>
                          <a:lnTo>
                            <a:pt x="262" y="14"/>
                          </a:lnTo>
                          <a:lnTo>
                            <a:pt x="298" y="20"/>
                          </a:lnTo>
                          <a:lnTo>
                            <a:pt x="324" y="24"/>
                          </a:lnTo>
                          <a:lnTo>
                            <a:pt x="344" y="25"/>
                          </a:lnTo>
                          <a:lnTo>
                            <a:pt x="372" y="24"/>
                          </a:lnTo>
                          <a:lnTo>
                            <a:pt x="398" y="23"/>
                          </a:lnTo>
                          <a:lnTo>
                            <a:pt x="416" y="20"/>
                          </a:lnTo>
                          <a:lnTo>
                            <a:pt x="440" y="18"/>
                          </a:lnTo>
                          <a:lnTo>
                            <a:pt x="440" y="31"/>
                          </a:lnTo>
                          <a:lnTo>
                            <a:pt x="417" y="34"/>
                          </a:lnTo>
                          <a:lnTo>
                            <a:pt x="389" y="36"/>
                          </a:lnTo>
                          <a:lnTo>
                            <a:pt x="355" y="37"/>
                          </a:lnTo>
                          <a:lnTo>
                            <a:pt x="316" y="36"/>
                          </a:lnTo>
                          <a:lnTo>
                            <a:pt x="278" y="36"/>
                          </a:lnTo>
                          <a:lnTo>
                            <a:pt x="239" y="34"/>
                          </a:lnTo>
                          <a:lnTo>
                            <a:pt x="201" y="34"/>
                          </a:lnTo>
                          <a:lnTo>
                            <a:pt x="173" y="36"/>
                          </a:lnTo>
                          <a:lnTo>
                            <a:pt x="147" y="40"/>
                          </a:lnTo>
                          <a:lnTo>
                            <a:pt x="124" y="47"/>
                          </a:lnTo>
                          <a:lnTo>
                            <a:pt x="104" y="57"/>
                          </a:lnTo>
                          <a:lnTo>
                            <a:pt x="87" y="67"/>
                          </a:lnTo>
                          <a:lnTo>
                            <a:pt x="72" y="82"/>
                          </a:lnTo>
                          <a:lnTo>
                            <a:pt x="62" y="96"/>
                          </a:lnTo>
                          <a:lnTo>
                            <a:pt x="55" y="109"/>
                          </a:lnTo>
                          <a:lnTo>
                            <a:pt x="54" y="123"/>
                          </a:lnTo>
                          <a:lnTo>
                            <a:pt x="55" y="138"/>
                          </a:lnTo>
                          <a:lnTo>
                            <a:pt x="40" y="135"/>
                          </a:lnTo>
                          <a:lnTo>
                            <a:pt x="29" y="130"/>
                          </a:lnTo>
                          <a:lnTo>
                            <a:pt x="16" y="120"/>
                          </a:lnTo>
                          <a:lnTo>
                            <a:pt x="7" y="109"/>
                          </a:lnTo>
                          <a:lnTo>
                            <a:pt x="1" y="96"/>
                          </a:lnTo>
                          <a:lnTo>
                            <a:pt x="0" y="80"/>
                          </a:lnTo>
                          <a:lnTo>
                            <a:pt x="1" y="66"/>
                          </a:lnTo>
                          <a:lnTo>
                            <a:pt x="5" y="53"/>
                          </a:lnTo>
                          <a:lnTo>
                            <a:pt x="12" y="43"/>
                          </a:lnTo>
                          <a:lnTo>
                            <a:pt x="21" y="34"/>
                          </a:lnTo>
                          <a:lnTo>
                            <a:pt x="33" y="26"/>
                          </a:lnTo>
                          <a:lnTo>
                            <a:pt x="48" y="18"/>
                          </a:lnTo>
                          <a:lnTo>
                            <a:pt x="63" y="12"/>
                          </a:lnTo>
                          <a:lnTo>
                            <a:pt x="80" y="7"/>
                          </a:lnTo>
                          <a:lnTo>
                            <a:pt x="98" y="3"/>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grpSp>
            </p:grpSp>
          </p:grpSp>
          <p:grpSp>
            <p:nvGrpSpPr>
              <p:cNvPr id="2590775" name="组合 2590774"/>
              <p:cNvGrpSpPr/>
              <p:nvPr/>
            </p:nvGrpSpPr>
            <p:grpSpPr>
              <a:xfrm>
                <a:off x="1246" y="1334"/>
                <a:ext cx="1407" cy="1642"/>
                <a:chOff x="1246" y="1334"/>
                <a:chExt cx="1407" cy="1642"/>
              </a:xfrm>
            </p:grpSpPr>
            <p:grpSp>
              <p:nvGrpSpPr>
                <p:cNvPr id="2590776" name="组合 2590775"/>
                <p:cNvGrpSpPr/>
                <p:nvPr/>
              </p:nvGrpSpPr>
              <p:grpSpPr>
                <a:xfrm>
                  <a:off x="1485" y="2660"/>
                  <a:ext cx="902" cy="316"/>
                  <a:chOff x="1485" y="2660"/>
                  <a:chExt cx="902" cy="316"/>
                </a:xfrm>
              </p:grpSpPr>
              <p:sp>
                <p:nvSpPr>
                  <p:cNvPr id="2590777" name="任意多边形 2590776"/>
                  <p:cNvSpPr/>
                  <p:nvPr/>
                </p:nvSpPr>
                <p:spPr>
                  <a:xfrm>
                    <a:off x="1974" y="2691"/>
                    <a:ext cx="413" cy="222"/>
                  </a:xfrm>
                  <a:custGeom>
                    <a:avLst/>
                    <a:gdLst/>
                    <a:ahLst/>
                    <a:cxnLst/>
                    <a:pathLst>
                      <a:path w="413" h="222">
                        <a:moveTo>
                          <a:pt x="53" y="7"/>
                        </a:moveTo>
                        <a:lnTo>
                          <a:pt x="41" y="15"/>
                        </a:lnTo>
                        <a:lnTo>
                          <a:pt x="31" y="28"/>
                        </a:lnTo>
                        <a:lnTo>
                          <a:pt x="19" y="46"/>
                        </a:lnTo>
                        <a:lnTo>
                          <a:pt x="10" y="62"/>
                        </a:lnTo>
                        <a:lnTo>
                          <a:pt x="4" y="81"/>
                        </a:lnTo>
                        <a:lnTo>
                          <a:pt x="0" y="105"/>
                        </a:lnTo>
                        <a:lnTo>
                          <a:pt x="4" y="126"/>
                        </a:lnTo>
                        <a:lnTo>
                          <a:pt x="13" y="151"/>
                        </a:lnTo>
                        <a:lnTo>
                          <a:pt x="24" y="156"/>
                        </a:lnTo>
                        <a:lnTo>
                          <a:pt x="49" y="154"/>
                        </a:lnTo>
                        <a:lnTo>
                          <a:pt x="53" y="170"/>
                        </a:lnTo>
                        <a:lnTo>
                          <a:pt x="60" y="189"/>
                        </a:lnTo>
                        <a:lnTo>
                          <a:pt x="72" y="196"/>
                        </a:lnTo>
                        <a:lnTo>
                          <a:pt x="94" y="206"/>
                        </a:lnTo>
                        <a:lnTo>
                          <a:pt x="118" y="213"/>
                        </a:lnTo>
                        <a:lnTo>
                          <a:pt x="146" y="219"/>
                        </a:lnTo>
                        <a:lnTo>
                          <a:pt x="172" y="222"/>
                        </a:lnTo>
                        <a:lnTo>
                          <a:pt x="202" y="220"/>
                        </a:lnTo>
                        <a:lnTo>
                          <a:pt x="232" y="218"/>
                        </a:lnTo>
                        <a:lnTo>
                          <a:pt x="261" y="213"/>
                        </a:lnTo>
                        <a:lnTo>
                          <a:pt x="293" y="206"/>
                        </a:lnTo>
                        <a:lnTo>
                          <a:pt x="323" y="197"/>
                        </a:lnTo>
                        <a:lnTo>
                          <a:pt x="347" y="186"/>
                        </a:lnTo>
                        <a:lnTo>
                          <a:pt x="368" y="174"/>
                        </a:lnTo>
                        <a:lnTo>
                          <a:pt x="389" y="158"/>
                        </a:lnTo>
                        <a:lnTo>
                          <a:pt x="401" y="144"/>
                        </a:lnTo>
                        <a:lnTo>
                          <a:pt x="409" y="130"/>
                        </a:lnTo>
                        <a:lnTo>
                          <a:pt x="413" y="118"/>
                        </a:lnTo>
                        <a:lnTo>
                          <a:pt x="410" y="104"/>
                        </a:lnTo>
                        <a:lnTo>
                          <a:pt x="405" y="90"/>
                        </a:lnTo>
                        <a:lnTo>
                          <a:pt x="397" y="80"/>
                        </a:lnTo>
                        <a:lnTo>
                          <a:pt x="387" y="73"/>
                        </a:lnTo>
                        <a:lnTo>
                          <a:pt x="374" y="68"/>
                        </a:lnTo>
                        <a:lnTo>
                          <a:pt x="350" y="61"/>
                        </a:lnTo>
                        <a:lnTo>
                          <a:pt x="311" y="50"/>
                        </a:lnTo>
                        <a:lnTo>
                          <a:pt x="271" y="38"/>
                        </a:lnTo>
                        <a:lnTo>
                          <a:pt x="234" y="28"/>
                        </a:lnTo>
                        <a:lnTo>
                          <a:pt x="211" y="24"/>
                        </a:lnTo>
                        <a:lnTo>
                          <a:pt x="202" y="15"/>
                        </a:lnTo>
                        <a:lnTo>
                          <a:pt x="179" y="0"/>
                        </a:lnTo>
                        <a:lnTo>
                          <a:pt x="53" y="7"/>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778" name="任意多边形 2590777"/>
                  <p:cNvSpPr/>
                  <p:nvPr/>
                </p:nvSpPr>
                <p:spPr>
                  <a:xfrm>
                    <a:off x="1485" y="2660"/>
                    <a:ext cx="427" cy="316"/>
                  </a:xfrm>
                  <a:custGeom>
                    <a:avLst/>
                    <a:gdLst/>
                    <a:ahLst/>
                    <a:cxnLst/>
                    <a:pathLst>
                      <a:path w="427" h="316">
                        <a:moveTo>
                          <a:pt x="257" y="3"/>
                        </a:moveTo>
                        <a:lnTo>
                          <a:pt x="238" y="16"/>
                        </a:lnTo>
                        <a:lnTo>
                          <a:pt x="211" y="31"/>
                        </a:lnTo>
                        <a:lnTo>
                          <a:pt x="184" y="49"/>
                        </a:lnTo>
                        <a:lnTo>
                          <a:pt x="165" y="62"/>
                        </a:lnTo>
                        <a:lnTo>
                          <a:pt x="145" y="75"/>
                        </a:lnTo>
                        <a:lnTo>
                          <a:pt x="126" y="86"/>
                        </a:lnTo>
                        <a:lnTo>
                          <a:pt x="105" y="101"/>
                        </a:lnTo>
                        <a:lnTo>
                          <a:pt x="77" y="118"/>
                        </a:lnTo>
                        <a:lnTo>
                          <a:pt x="47" y="135"/>
                        </a:lnTo>
                        <a:lnTo>
                          <a:pt x="36" y="142"/>
                        </a:lnTo>
                        <a:lnTo>
                          <a:pt x="25" y="157"/>
                        </a:lnTo>
                        <a:lnTo>
                          <a:pt x="15" y="174"/>
                        </a:lnTo>
                        <a:lnTo>
                          <a:pt x="7" y="196"/>
                        </a:lnTo>
                        <a:lnTo>
                          <a:pt x="2" y="215"/>
                        </a:lnTo>
                        <a:lnTo>
                          <a:pt x="0" y="235"/>
                        </a:lnTo>
                        <a:lnTo>
                          <a:pt x="0" y="257"/>
                        </a:lnTo>
                        <a:lnTo>
                          <a:pt x="2" y="277"/>
                        </a:lnTo>
                        <a:lnTo>
                          <a:pt x="8" y="296"/>
                        </a:lnTo>
                        <a:lnTo>
                          <a:pt x="13" y="302"/>
                        </a:lnTo>
                        <a:lnTo>
                          <a:pt x="26" y="309"/>
                        </a:lnTo>
                        <a:lnTo>
                          <a:pt x="45" y="314"/>
                        </a:lnTo>
                        <a:lnTo>
                          <a:pt x="73" y="316"/>
                        </a:lnTo>
                        <a:lnTo>
                          <a:pt x="104" y="315"/>
                        </a:lnTo>
                        <a:lnTo>
                          <a:pt x="138" y="312"/>
                        </a:lnTo>
                        <a:lnTo>
                          <a:pt x="169" y="308"/>
                        </a:lnTo>
                        <a:lnTo>
                          <a:pt x="199" y="302"/>
                        </a:lnTo>
                        <a:lnTo>
                          <a:pt x="231" y="295"/>
                        </a:lnTo>
                        <a:lnTo>
                          <a:pt x="260" y="287"/>
                        </a:lnTo>
                        <a:lnTo>
                          <a:pt x="283" y="272"/>
                        </a:lnTo>
                        <a:lnTo>
                          <a:pt x="303" y="247"/>
                        </a:lnTo>
                        <a:lnTo>
                          <a:pt x="318" y="221"/>
                        </a:lnTo>
                        <a:lnTo>
                          <a:pt x="332" y="196"/>
                        </a:lnTo>
                        <a:lnTo>
                          <a:pt x="348" y="175"/>
                        </a:lnTo>
                        <a:lnTo>
                          <a:pt x="362" y="157"/>
                        </a:lnTo>
                        <a:lnTo>
                          <a:pt x="381" y="149"/>
                        </a:lnTo>
                        <a:lnTo>
                          <a:pt x="401" y="136"/>
                        </a:lnTo>
                        <a:lnTo>
                          <a:pt x="417" y="124"/>
                        </a:lnTo>
                        <a:lnTo>
                          <a:pt x="423" y="104"/>
                        </a:lnTo>
                        <a:lnTo>
                          <a:pt x="426" y="83"/>
                        </a:lnTo>
                        <a:lnTo>
                          <a:pt x="427" y="66"/>
                        </a:lnTo>
                        <a:lnTo>
                          <a:pt x="421" y="50"/>
                        </a:lnTo>
                        <a:lnTo>
                          <a:pt x="411" y="36"/>
                        </a:lnTo>
                        <a:lnTo>
                          <a:pt x="402" y="24"/>
                        </a:lnTo>
                        <a:lnTo>
                          <a:pt x="390" y="13"/>
                        </a:lnTo>
                        <a:lnTo>
                          <a:pt x="369" y="0"/>
                        </a:lnTo>
                        <a:lnTo>
                          <a:pt x="257" y="3"/>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0779" name="组合 2590778"/>
                <p:cNvGrpSpPr/>
                <p:nvPr/>
              </p:nvGrpSpPr>
              <p:grpSpPr>
                <a:xfrm>
                  <a:off x="1246" y="1334"/>
                  <a:ext cx="1407" cy="1392"/>
                  <a:chOff x="1246" y="1334"/>
                  <a:chExt cx="1407" cy="1392"/>
                </a:xfrm>
              </p:grpSpPr>
              <p:grpSp>
                <p:nvGrpSpPr>
                  <p:cNvPr id="2590780" name="组合 2590779"/>
                  <p:cNvGrpSpPr/>
                  <p:nvPr/>
                </p:nvGrpSpPr>
                <p:grpSpPr>
                  <a:xfrm>
                    <a:off x="1246" y="1334"/>
                    <a:ext cx="1407" cy="1392"/>
                    <a:chOff x="1246" y="1334"/>
                    <a:chExt cx="1407" cy="1392"/>
                  </a:xfrm>
                </p:grpSpPr>
                <p:grpSp>
                  <p:nvGrpSpPr>
                    <p:cNvPr id="2590781" name="组合 2590780"/>
                    <p:cNvGrpSpPr/>
                    <p:nvPr/>
                  </p:nvGrpSpPr>
                  <p:grpSpPr>
                    <a:xfrm>
                      <a:off x="2311" y="1334"/>
                      <a:ext cx="342" cy="291"/>
                      <a:chOff x="2311" y="1334"/>
                      <a:chExt cx="342" cy="291"/>
                    </a:xfrm>
                  </p:grpSpPr>
                  <p:sp>
                    <p:nvSpPr>
                      <p:cNvPr id="2590782" name="任意多边形 2590781"/>
                      <p:cNvSpPr/>
                      <p:nvPr/>
                    </p:nvSpPr>
                    <p:spPr>
                      <a:xfrm>
                        <a:off x="2311" y="1334"/>
                        <a:ext cx="342" cy="291"/>
                      </a:xfrm>
                      <a:custGeom>
                        <a:avLst/>
                        <a:gdLst/>
                        <a:ahLst/>
                        <a:cxnLst/>
                        <a:pathLst>
                          <a:path w="342" h="291">
                            <a:moveTo>
                              <a:pt x="0" y="186"/>
                            </a:moveTo>
                            <a:lnTo>
                              <a:pt x="16" y="177"/>
                            </a:lnTo>
                            <a:lnTo>
                              <a:pt x="36" y="169"/>
                            </a:lnTo>
                            <a:lnTo>
                              <a:pt x="57" y="160"/>
                            </a:lnTo>
                            <a:lnTo>
                              <a:pt x="60" y="141"/>
                            </a:lnTo>
                            <a:lnTo>
                              <a:pt x="66" y="121"/>
                            </a:lnTo>
                            <a:lnTo>
                              <a:pt x="71" y="105"/>
                            </a:lnTo>
                            <a:lnTo>
                              <a:pt x="79" y="87"/>
                            </a:lnTo>
                            <a:lnTo>
                              <a:pt x="91" y="71"/>
                            </a:lnTo>
                            <a:lnTo>
                              <a:pt x="102" y="61"/>
                            </a:lnTo>
                            <a:lnTo>
                              <a:pt x="112" y="53"/>
                            </a:lnTo>
                            <a:lnTo>
                              <a:pt x="125" y="47"/>
                            </a:lnTo>
                            <a:lnTo>
                              <a:pt x="142" y="42"/>
                            </a:lnTo>
                            <a:lnTo>
                              <a:pt x="163" y="40"/>
                            </a:lnTo>
                            <a:lnTo>
                              <a:pt x="188" y="42"/>
                            </a:lnTo>
                            <a:lnTo>
                              <a:pt x="191" y="27"/>
                            </a:lnTo>
                            <a:lnTo>
                              <a:pt x="197" y="12"/>
                            </a:lnTo>
                            <a:lnTo>
                              <a:pt x="213" y="7"/>
                            </a:lnTo>
                            <a:lnTo>
                              <a:pt x="230" y="3"/>
                            </a:lnTo>
                            <a:lnTo>
                              <a:pt x="251" y="0"/>
                            </a:lnTo>
                            <a:lnTo>
                              <a:pt x="260" y="2"/>
                            </a:lnTo>
                            <a:lnTo>
                              <a:pt x="268" y="6"/>
                            </a:lnTo>
                            <a:lnTo>
                              <a:pt x="273" y="11"/>
                            </a:lnTo>
                            <a:lnTo>
                              <a:pt x="275" y="18"/>
                            </a:lnTo>
                            <a:lnTo>
                              <a:pt x="274" y="27"/>
                            </a:lnTo>
                            <a:lnTo>
                              <a:pt x="270" y="36"/>
                            </a:lnTo>
                            <a:lnTo>
                              <a:pt x="263" y="45"/>
                            </a:lnTo>
                            <a:lnTo>
                              <a:pt x="256" y="49"/>
                            </a:lnTo>
                            <a:lnTo>
                              <a:pt x="244" y="57"/>
                            </a:lnTo>
                            <a:lnTo>
                              <a:pt x="233" y="61"/>
                            </a:lnTo>
                            <a:lnTo>
                              <a:pt x="234" y="72"/>
                            </a:lnTo>
                            <a:lnTo>
                              <a:pt x="246" y="74"/>
                            </a:lnTo>
                            <a:lnTo>
                              <a:pt x="258" y="78"/>
                            </a:lnTo>
                            <a:lnTo>
                              <a:pt x="270" y="82"/>
                            </a:lnTo>
                            <a:lnTo>
                              <a:pt x="281" y="90"/>
                            </a:lnTo>
                            <a:lnTo>
                              <a:pt x="289" y="99"/>
                            </a:lnTo>
                            <a:lnTo>
                              <a:pt x="293" y="114"/>
                            </a:lnTo>
                            <a:lnTo>
                              <a:pt x="290" y="130"/>
                            </a:lnTo>
                            <a:lnTo>
                              <a:pt x="307" y="131"/>
                            </a:lnTo>
                            <a:lnTo>
                              <a:pt x="326" y="134"/>
                            </a:lnTo>
                            <a:lnTo>
                              <a:pt x="334" y="146"/>
                            </a:lnTo>
                            <a:lnTo>
                              <a:pt x="340" y="169"/>
                            </a:lnTo>
                            <a:lnTo>
                              <a:pt x="342" y="190"/>
                            </a:lnTo>
                            <a:lnTo>
                              <a:pt x="341" y="210"/>
                            </a:lnTo>
                            <a:lnTo>
                              <a:pt x="337" y="230"/>
                            </a:lnTo>
                            <a:lnTo>
                              <a:pt x="330" y="252"/>
                            </a:lnTo>
                            <a:lnTo>
                              <a:pt x="323" y="270"/>
                            </a:lnTo>
                            <a:lnTo>
                              <a:pt x="317" y="286"/>
                            </a:lnTo>
                            <a:lnTo>
                              <a:pt x="295" y="290"/>
                            </a:lnTo>
                            <a:lnTo>
                              <a:pt x="276" y="291"/>
                            </a:lnTo>
                            <a:lnTo>
                              <a:pt x="262" y="289"/>
                            </a:lnTo>
                            <a:lnTo>
                              <a:pt x="246" y="283"/>
                            </a:lnTo>
                            <a:lnTo>
                              <a:pt x="229" y="278"/>
                            </a:lnTo>
                            <a:lnTo>
                              <a:pt x="210" y="281"/>
                            </a:lnTo>
                            <a:lnTo>
                              <a:pt x="196" y="284"/>
                            </a:lnTo>
                            <a:lnTo>
                              <a:pt x="175" y="286"/>
                            </a:lnTo>
                            <a:lnTo>
                              <a:pt x="156" y="284"/>
                            </a:lnTo>
                            <a:lnTo>
                              <a:pt x="138" y="279"/>
                            </a:lnTo>
                            <a:lnTo>
                              <a:pt x="119" y="271"/>
                            </a:lnTo>
                            <a:lnTo>
                              <a:pt x="106" y="263"/>
                            </a:lnTo>
                            <a:lnTo>
                              <a:pt x="93" y="256"/>
                            </a:lnTo>
                            <a:lnTo>
                              <a:pt x="83" y="264"/>
                            </a:lnTo>
                            <a:lnTo>
                              <a:pt x="71" y="271"/>
                            </a:lnTo>
                            <a:lnTo>
                              <a:pt x="55" y="277"/>
                            </a:lnTo>
                            <a:lnTo>
                              <a:pt x="0" y="186"/>
                            </a:lnTo>
                            <a:close/>
                          </a:path>
                        </a:pathLst>
                      </a:custGeom>
                      <a:solidFill>
                        <a:srgbClr val="FFFFFF"/>
                      </a:solid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0783" name="任意多边形 2590782"/>
                      <p:cNvSpPr/>
                      <p:nvPr/>
                    </p:nvSpPr>
                    <p:spPr>
                      <a:xfrm>
                        <a:off x="2416" y="1436"/>
                        <a:ext cx="54" cy="72"/>
                      </a:xfrm>
                      <a:custGeom>
                        <a:avLst/>
                        <a:gdLst/>
                        <a:ahLst/>
                        <a:cxnLst/>
                        <a:pathLst>
                          <a:path w="54" h="72">
                            <a:moveTo>
                              <a:pt x="0" y="72"/>
                            </a:moveTo>
                            <a:lnTo>
                              <a:pt x="23" y="22"/>
                            </a:lnTo>
                            <a:lnTo>
                              <a:pt x="54" y="0"/>
                            </a:lnTo>
                          </a:path>
                        </a:pathLst>
                      </a:custGeom>
                      <a:no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0784" name="任意多边形 2590783"/>
                      <p:cNvSpPr/>
                      <p:nvPr/>
                    </p:nvSpPr>
                    <p:spPr>
                      <a:xfrm>
                        <a:off x="2439" y="1462"/>
                        <a:ext cx="72" cy="62"/>
                      </a:xfrm>
                      <a:custGeom>
                        <a:avLst/>
                        <a:gdLst/>
                        <a:ahLst/>
                        <a:cxnLst/>
                        <a:pathLst>
                          <a:path w="72" h="62">
                            <a:moveTo>
                              <a:pt x="0" y="62"/>
                            </a:moveTo>
                            <a:lnTo>
                              <a:pt x="28" y="17"/>
                            </a:lnTo>
                            <a:lnTo>
                              <a:pt x="72" y="0"/>
                            </a:lnTo>
                          </a:path>
                        </a:pathLst>
                      </a:custGeom>
                      <a:no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grpSp>
                <p:grpSp>
                  <p:nvGrpSpPr>
                    <p:cNvPr id="2590785" name="组合 2590784"/>
                    <p:cNvGrpSpPr/>
                    <p:nvPr/>
                  </p:nvGrpSpPr>
                  <p:grpSpPr>
                    <a:xfrm>
                      <a:off x="1246" y="1512"/>
                      <a:ext cx="1131" cy="1214"/>
                      <a:chOff x="1246" y="1512"/>
                      <a:chExt cx="1131" cy="1214"/>
                    </a:xfrm>
                  </p:grpSpPr>
                  <p:grpSp>
                    <p:nvGrpSpPr>
                      <p:cNvPr id="2590786" name="组合 2590785"/>
                      <p:cNvGrpSpPr/>
                      <p:nvPr/>
                    </p:nvGrpSpPr>
                    <p:grpSpPr>
                      <a:xfrm>
                        <a:off x="1246" y="1512"/>
                        <a:ext cx="1131" cy="1214"/>
                        <a:chOff x="1246" y="1512"/>
                        <a:chExt cx="1131" cy="1214"/>
                      </a:xfrm>
                    </p:grpSpPr>
                    <p:grpSp>
                      <p:nvGrpSpPr>
                        <p:cNvPr id="2590787" name="组合 2590786"/>
                        <p:cNvGrpSpPr/>
                        <p:nvPr/>
                      </p:nvGrpSpPr>
                      <p:grpSpPr>
                        <a:xfrm>
                          <a:off x="1246" y="1731"/>
                          <a:ext cx="639" cy="491"/>
                          <a:chOff x="1246" y="1731"/>
                          <a:chExt cx="639" cy="491"/>
                        </a:xfrm>
                      </p:grpSpPr>
                      <p:sp>
                        <p:nvSpPr>
                          <p:cNvPr id="2590788" name="任意多边形 2590787"/>
                          <p:cNvSpPr/>
                          <p:nvPr/>
                        </p:nvSpPr>
                        <p:spPr>
                          <a:xfrm>
                            <a:off x="1460" y="1862"/>
                            <a:ext cx="425" cy="360"/>
                          </a:xfrm>
                          <a:custGeom>
                            <a:avLst/>
                            <a:gdLst/>
                            <a:ahLst/>
                            <a:cxnLst/>
                            <a:pathLst>
                              <a:path w="425" h="360">
                                <a:moveTo>
                                  <a:pt x="0" y="195"/>
                                </a:moveTo>
                                <a:lnTo>
                                  <a:pt x="17" y="201"/>
                                </a:lnTo>
                                <a:lnTo>
                                  <a:pt x="28" y="209"/>
                                </a:lnTo>
                                <a:lnTo>
                                  <a:pt x="41" y="219"/>
                                </a:lnTo>
                                <a:lnTo>
                                  <a:pt x="50" y="231"/>
                                </a:lnTo>
                                <a:lnTo>
                                  <a:pt x="59" y="245"/>
                                </a:lnTo>
                                <a:lnTo>
                                  <a:pt x="69" y="262"/>
                                </a:lnTo>
                                <a:lnTo>
                                  <a:pt x="78" y="280"/>
                                </a:lnTo>
                                <a:lnTo>
                                  <a:pt x="87" y="294"/>
                                </a:lnTo>
                                <a:lnTo>
                                  <a:pt x="96" y="308"/>
                                </a:lnTo>
                                <a:lnTo>
                                  <a:pt x="106" y="322"/>
                                </a:lnTo>
                                <a:lnTo>
                                  <a:pt x="122" y="336"/>
                                </a:lnTo>
                                <a:lnTo>
                                  <a:pt x="135" y="346"/>
                                </a:lnTo>
                                <a:lnTo>
                                  <a:pt x="153" y="353"/>
                                </a:lnTo>
                                <a:lnTo>
                                  <a:pt x="171" y="357"/>
                                </a:lnTo>
                                <a:lnTo>
                                  <a:pt x="194" y="360"/>
                                </a:lnTo>
                                <a:lnTo>
                                  <a:pt x="214" y="359"/>
                                </a:lnTo>
                                <a:lnTo>
                                  <a:pt x="236" y="353"/>
                                </a:lnTo>
                                <a:lnTo>
                                  <a:pt x="350" y="307"/>
                                </a:lnTo>
                                <a:lnTo>
                                  <a:pt x="425" y="175"/>
                                </a:lnTo>
                                <a:lnTo>
                                  <a:pt x="425" y="40"/>
                                </a:lnTo>
                                <a:lnTo>
                                  <a:pt x="354" y="0"/>
                                </a:lnTo>
                                <a:lnTo>
                                  <a:pt x="288" y="77"/>
                                </a:lnTo>
                                <a:lnTo>
                                  <a:pt x="0" y="195"/>
                                </a:lnTo>
                                <a:close/>
                              </a:path>
                            </a:pathLst>
                          </a:custGeom>
                          <a:solidFill>
                            <a:srgbClr val="800000"/>
                          </a:solidFill>
                          <a:ln w="9525">
                            <a:noFill/>
                          </a:ln>
                        </p:spPr>
                        <p:txBody>
                          <a:bodyPr/>
                          <a:p>
                            <a:pPr eaLnBrk="1" hangingPunct="1">
                              <a:lnSpc>
                                <a:spcPct val="90000"/>
                              </a:lnSpc>
                            </a:pPr>
                            <a:endParaRPr lang="zh-CN" altLang="en-US" b="1">
                              <a:solidFill>
                                <a:srgbClr val="333399"/>
                              </a:solidFill>
                            </a:endParaRPr>
                          </a:p>
                        </p:txBody>
                      </p:sp>
                      <p:sp>
                        <p:nvSpPr>
                          <p:cNvPr id="2590789" name="任意多边形 2590788"/>
                          <p:cNvSpPr/>
                          <p:nvPr/>
                        </p:nvSpPr>
                        <p:spPr>
                          <a:xfrm>
                            <a:off x="1305" y="1731"/>
                            <a:ext cx="514" cy="188"/>
                          </a:xfrm>
                          <a:custGeom>
                            <a:avLst/>
                            <a:gdLst/>
                            <a:ahLst/>
                            <a:cxnLst/>
                            <a:pathLst>
                              <a:path w="514" h="188">
                                <a:moveTo>
                                  <a:pt x="159" y="179"/>
                                </a:moveTo>
                                <a:lnTo>
                                  <a:pt x="15" y="188"/>
                                </a:lnTo>
                                <a:lnTo>
                                  <a:pt x="0" y="158"/>
                                </a:lnTo>
                                <a:lnTo>
                                  <a:pt x="26" y="163"/>
                                </a:lnTo>
                                <a:lnTo>
                                  <a:pt x="43" y="162"/>
                                </a:lnTo>
                                <a:lnTo>
                                  <a:pt x="63" y="161"/>
                                </a:lnTo>
                                <a:lnTo>
                                  <a:pt x="87" y="156"/>
                                </a:lnTo>
                                <a:lnTo>
                                  <a:pt x="108" y="149"/>
                                </a:lnTo>
                                <a:lnTo>
                                  <a:pt x="129" y="141"/>
                                </a:lnTo>
                                <a:lnTo>
                                  <a:pt x="148" y="130"/>
                                </a:lnTo>
                                <a:lnTo>
                                  <a:pt x="165" y="119"/>
                                </a:lnTo>
                                <a:lnTo>
                                  <a:pt x="178" y="108"/>
                                </a:lnTo>
                                <a:lnTo>
                                  <a:pt x="191" y="93"/>
                                </a:lnTo>
                                <a:lnTo>
                                  <a:pt x="204" y="77"/>
                                </a:lnTo>
                                <a:lnTo>
                                  <a:pt x="215" y="62"/>
                                </a:lnTo>
                                <a:lnTo>
                                  <a:pt x="226" y="47"/>
                                </a:lnTo>
                                <a:lnTo>
                                  <a:pt x="238" y="34"/>
                                </a:lnTo>
                                <a:lnTo>
                                  <a:pt x="252" y="23"/>
                                </a:lnTo>
                                <a:lnTo>
                                  <a:pt x="267" y="13"/>
                                </a:lnTo>
                                <a:lnTo>
                                  <a:pt x="285" y="7"/>
                                </a:lnTo>
                                <a:lnTo>
                                  <a:pt x="303" y="4"/>
                                </a:lnTo>
                                <a:lnTo>
                                  <a:pt x="324" y="1"/>
                                </a:lnTo>
                                <a:lnTo>
                                  <a:pt x="345" y="0"/>
                                </a:lnTo>
                                <a:lnTo>
                                  <a:pt x="367" y="1"/>
                                </a:lnTo>
                                <a:lnTo>
                                  <a:pt x="387" y="4"/>
                                </a:lnTo>
                                <a:lnTo>
                                  <a:pt x="410" y="6"/>
                                </a:lnTo>
                                <a:lnTo>
                                  <a:pt x="432" y="10"/>
                                </a:lnTo>
                                <a:lnTo>
                                  <a:pt x="455" y="13"/>
                                </a:lnTo>
                                <a:lnTo>
                                  <a:pt x="476" y="17"/>
                                </a:lnTo>
                                <a:lnTo>
                                  <a:pt x="501" y="20"/>
                                </a:lnTo>
                                <a:lnTo>
                                  <a:pt x="514" y="63"/>
                                </a:lnTo>
                                <a:lnTo>
                                  <a:pt x="320" y="93"/>
                                </a:lnTo>
                                <a:lnTo>
                                  <a:pt x="159" y="179"/>
                                </a:lnTo>
                                <a:close/>
                              </a:path>
                            </a:pathLst>
                          </a:custGeom>
                          <a:solidFill>
                            <a:srgbClr val="FF1F3F"/>
                          </a:solidFill>
                          <a:ln w="9525">
                            <a:noFill/>
                          </a:ln>
                        </p:spPr>
                        <p:txBody>
                          <a:bodyPr/>
                          <a:p>
                            <a:pPr eaLnBrk="1" hangingPunct="1">
                              <a:lnSpc>
                                <a:spcPct val="90000"/>
                              </a:lnSpc>
                            </a:pPr>
                            <a:endParaRPr lang="zh-CN" altLang="en-US" b="1">
                              <a:solidFill>
                                <a:srgbClr val="333399"/>
                              </a:solidFill>
                            </a:endParaRPr>
                          </a:p>
                        </p:txBody>
                      </p:sp>
                      <p:sp>
                        <p:nvSpPr>
                          <p:cNvPr id="2590790" name="任意多边形 2590789"/>
                          <p:cNvSpPr/>
                          <p:nvPr/>
                        </p:nvSpPr>
                        <p:spPr>
                          <a:xfrm>
                            <a:off x="1246" y="1777"/>
                            <a:ext cx="574" cy="290"/>
                          </a:xfrm>
                          <a:custGeom>
                            <a:avLst/>
                            <a:gdLst/>
                            <a:ahLst/>
                            <a:cxnLst/>
                            <a:pathLst>
                              <a:path w="574" h="290">
                                <a:moveTo>
                                  <a:pt x="547" y="6"/>
                                </a:moveTo>
                                <a:lnTo>
                                  <a:pt x="525" y="3"/>
                                </a:lnTo>
                                <a:lnTo>
                                  <a:pt x="504" y="1"/>
                                </a:lnTo>
                                <a:lnTo>
                                  <a:pt x="483" y="0"/>
                                </a:lnTo>
                                <a:lnTo>
                                  <a:pt x="452" y="3"/>
                                </a:lnTo>
                                <a:lnTo>
                                  <a:pt x="426" y="6"/>
                                </a:lnTo>
                                <a:lnTo>
                                  <a:pt x="397" y="11"/>
                                </a:lnTo>
                                <a:lnTo>
                                  <a:pt x="373" y="17"/>
                                </a:lnTo>
                                <a:lnTo>
                                  <a:pt x="351" y="25"/>
                                </a:lnTo>
                                <a:lnTo>
                                  <a:pt x="337" y="36"/>
                                </a:lnTo>
                                <a:lnTo>
                                  <a:pt x="323" y="47"/>
                                </a:lnTo>
                                <a:lnTo>
                                  <a:pt x="307" y="60"/>
                                </a:lnTo>
                                <a:lnTo>
                                  <a:pt x="296" y="71"/>
                                </a:lnTo>
                                <a:lnTo>
                                  <a:pt x="283" y="79"/>
                                </a:lnTo>
                                <a:lnTo>
                                  <a:pt x="265" y="91"/>
                                </a:lnTo>
                                <a:lnTo>
                                  <a:pt x="245" y="102"/>
                                </a:lnTo>
                                <a:lnTo>
                                  <a:pt x="227" y="110"/>
                                </a:lnTo>
                                <a:lnTo>
                                  <a:pt x="206" y="117"/>
                                </a:lnTo>
                                <a:lnTo>
                                  <a:pt x="186" y="122"/>
                                </a:lnTo>
                                <a:lnTo>
                                  <a:pt x="164" y="125"/>
                                </a:lnTo>
                                <a:lnTo>
                                  <a:pt x="142" y="126"/>
                                </a:lnTo>
                                <a:lnTo>
                                  <a:pt x="121" y="125"/>
                                </a:lnTo>
                                <a:lnTo>
                                  <a:pt x="100" y="124"/>
                                </a:lnTo>
                                <a:lnTo>
                                  <a:pt x="77" y="119"/>
                                </a:lnTo>
                                <a:lnTo>
                                  <a:pt x="57" y="116"/>
                                </a:lnTo>
                                <a:lnTo>
                                  <a:pt x="37" y="109"/>
                                </a:lnTo>
                                <a:lnTo>
                                  <a:pt x="17" y="97"/>
                                </a:lnTo>
                                <a:lnTo>
                                  <a:pt x="3" y="86"/>
                                </a:lnTo>
                                <a:lnTo>
                                  <a:pt x="1" y="99"/>
                                </a:lnTo>
                                <a:lnTo>
                                  <a:pt x="0" y="115"/>
                                </a:lnTo>
                                <a:lnTo>
                                  <a:pt x="0" y="129"/>
                                </a:lnTo>
                                <a:lnTo>
                                  <a:pt x="2" y="144"/>
                                </a:lnTo>
                                <a:lnTo>
                                  <a:pt x="6" y="159"/>
                                </a:lnTo>
                                <a:lnTo>
                                  <a:pt x="11" y="176"/>
                                </a:lnTo>
                                <a:lnTo>
                                  <a:pt x="20" y="190"/>
                                </a:lnTo>
                                <a:lnTo>
                                  <a:pt x="28" y="204"/>
                                </a:lnTo>
                                <a:lnTo>
                                  <a:pt x="39" y="216"/>
                                </a:lnTo>
                                <a:lnTo>
                                  <a:pt x="50" y="228"/>
                                </a:lnTo>
                                <a:lnTo>
                                  <a:pt x="62" y="237"/>
                                </a:lnTo>
                                <a:lnTo>
                                  <a:pt x="75" y="247"/>
                                </a:lnTo>
                                <a:lnTo>
                                  <a:pt x="92" y="256"/>
                                </a:lnTo>
                                <a:lnTo>
                                  <a:pt x="108" y="263"/>
                                </a:lnTo>
                                <a:lnTo>
                                  <a:pt x="126" y="270"/>
                                </a:lnTo>
                                <a:lnTo>
                                  <a:pt x="143" y="276"/>
                                </a:lnTo>
                                <a:lnTo>
                                  <a:pt x="164" y="282"/>
                                </a:lnTo>
                                <a:lnTo>
                                  <a:pt x="186" y="287"/>
                                </a:lnTo>
                                <a:lnTo>
                                  <a:pt x="212" y="289"/>
                                </a:lnTo>
                                <a:lnTo>
                                  <a:pt x="237" y="290"/>
                                </a:lnTo>
                                <a:lnTo>
                                  <a:pt x="254" y="289"/>
                                </a:lnTo>
                                <a:lnTo>
                                  <a:pt x="278" y="287"/>
                                </a:lnTo>
                                <a:lnTo>
                                  <a:pt x="301" y="283"/>
                                </a:lnTo>
                                <a:lnTo>
                                  <a:pt x="330" y="277"/>
                                </a:lnTo>
                                <a:lnTo>
                                  <a:pt x="351" y="270"/>
                                </a:lnTo>
                                <a:lnTo>
                                  <a:pt x="372" y="263"/>
                                </a:lnTo>
                                <a:lnTo>
                                  <a:pt x="391" y="256"/>
                                </a:lnTo>
                                <a:lnTo>
                                  <a:pt x="413" y="247"/>
                                </a:lnTo>
                                <a:lnTo>
                                  <a:pt x="439" y="234"/>
                                </a:lnTo>
                                <a:lnTo>
                                  <a:pt x="462" y="221"/>
                                </a:lnTo>
                                <a:lnTo>
                                  <a:pt x="482" y="209"/>
                                </a:lnTo>
                                <a:lnTo>
                                  <a:pt x="504" y="195"/>
                                </a:lnTo>
                                <a:lnTo>
                                  <a:pt x="525" y="178"/>
                                </a:lnTo>
                                <a:lnTo>
                                  <a:pt x="568" y="87"/>
                                </a:lnTo>
                                <a:lnTo>
                                  <a:pt x="574" y="51"/>
                                </a:lnTo>
                                <a:lnTo>
                                  <a:pt x="547" y="6"/>
                                </a:lnTo>
                                <a:close/>
                              </a:path>
                            </a:pathLst>
                          </a:custGeom>
                          <a:solidFill>
                            <a:srgbClr val="FF0000"/>
                          </a:solidFill>
                          <a:ln w="9525">
                            <a:noFill/>
                          </a:ln>
                        </p:spPr>
                        <p:txBody>
                          <a:bodyPr/>
                          <a:p>
                            <a:pPr eaLnBrk="1" hangingPunct="1">
                              <a:lnSpc>
                                <a:spcPct val="90000"/>
                              </a:lnSpc>
                            </a:pPr>
                            <a:endParaRPr lang="zh-CN" altLang="en-US" b="1">
                              <a:solidFill>
                                <a:srgbClr val="333399"/>
                              </a:solidFill>
                            </a:endParaRPr>
                          </a:p>
                        </p:txBody>
                      </p:sp>
                    </p:grpSp>
                    <p:grpSp>
                      <p:nvGrpSpPr>
                        <p:cNvPr id="2590791" name="组合 2590790"/>
                        <p:cNvGrpSpPr/>
                        <p:nvPr/>
                      </p:nvGrpSpPr>
                      <p:grpSpPr>
                        <a:xfrm>
                          <a:off x="1622" y="1512"/>
                          <a:ext cx="755" cy="1214"/>
                          <a:chOff x="1622" y="1512"/>
                          <a:chExt cx="755" cy="1214"/>
                        </a:xfrm>
                      </p:grpSpPr>
                      <p:grpSp>
                        <p:nvGrpSpPr>
                          <p:cNvPr id="2590792" name="组合 2590791"/>
                          <p:cNvGrpSpPr/>
                          <p:nvPr/>
                        </p:nvGrpSpPr>
                        <p:grpSpPr>
                          <a:xfrm>
                            <a:off x="1622" y="1512"/>
                            <a:ext cx="755" cy="1214"/>
                            <a:chOff x="1622" y="1512"/>
                            <a:chExt cx="755" cy="1214"/>
                          </a:xfrm>
                        </p:grpSpPr>
                        <p:grpSp>
                          <p:nvGrpSpPr>
                            <p:cNvPr id="2590793" name="组合 2590792"/>
                            <p:cNvGrpSpPr/>
                            <p:nvPr/>
                          </p:nvGrpSpPr>
                          <p:grpSpPr>
                            <a:xfrm>
                              <a:off x="1728" y="1512"/>
                              <a:ext cx="649" cy="1214"/>
                              <a:chOff x="1728" y="1512"/>
                              <a:chExt cx="649" cy="1214"/>
                            </a:xfrm>
                          </p:grpSpPr>
                          <p:grpSp>
                            <p:nvGrpSpPr>
                              <p:cNvPr id="2590794" name="组合 2590793"/>
                              <p:cNvGrpSpPr/>
                              <p:nvPr/>
                            </p:nvGrpSpPr>
                            <p:grpSpPr>
                              <a:xfrm>
                                <a:off x="1898" y="1512"/>
                                <a:ext cx="479" cy="969"/>
                                <a:chOff x="1898" y="1512"/>
                                <a:chExt cx="479" cy="969"/>
                              </a:xfrm>
                            </p:grpSpPr>
                            <p:sp>
                              <p:nvSpPr>
                                <p:cNvPr id="2590795" name="任意多边形 2590794"/>
                                <p:cNvSpPr/>
                                <p:nvPr/>
                              </p:nvSpPr>
                              <p:spPr>
                                <a:xfrm>
                                  <a:off x="1961" y="1512"/>
                                  <a:ext cx="416" cy="306"/>
                                </a:xfrm>
                                <a:custGeom>
                                  <a:avLst/>
                                  <a:gdLst/>
                                  <a:ahLst/>
                                  <a:cxnLst/>
                                  <a:pathLst>
                                    <a:path w="416" h="306">
                                      <a:moveTo>
                                        <a:pt x="0" y="215"/>
                                      </a:moveTo>
                                      <a:lnTo>
                                        <a:pt x="19" y="206"/>
                                      </a:lnTo>
                                      <a:lnTo>
                                        <a:pt x="57" y="190"/>
                                      </a:lnTo>
                                      <a:lnTo>
                                        <a:pt x="91" y="174"/>
                                      </a:lnTo>
                                      <a:lnTo>
                                        <a:pt x="123" y="163"/>
                                      </a:lnTo>
                                      <a:lnTo>
                                        <a:pt x="150" y="152"/>
                                      </a:lnTo>
                                      <a:lnTo>
                                        <a:pt x="175" y="143"/>
                                      </a:lnTo>
                                      <a:lnTo>
                                        <a:pt x="196" y="125"/>
                                      </a:lnTo>
                                      <a:lnTo>
                                        <a:pt x="223" y="104"/>
                                      </a:lnTo>
                                      <a:lnTo>
                                        <a:pt x="249" y="84"/>
                                      </a:lnTo>
                                      <a:lnTo>
                                        <a:pt x="275" y="66"/>
                                      </a:lnTo>
                                      <a:lnTo>
                                        <a:pt x="296" y="48"/>
                                      </a:lnTo>
                                      <a:lnTo>
                                        <a:pt x="318" y="26"/>
                                      </a:lnTo>
                                      <a:lnTo>
                                        <a:pt x="346" y="0"/>
                                      </a:lnTo>
                                      <a:lnTo>
                                        <a:pt x="362" y="18"/>
                                      </a:lnTo>
                                      <a:lnTo>
                                        <a:pt x="377" y="39"/>
                                      </a:lnTo>
                                      <a:lnTo>
                                        <a:pt x="395" y="67"/>
                                      </a:lnTo>
                                      <a:lnTo>
                                        <a:pt x="407" y="84"/>
                                      </a:lnTo>
                                      <a:lnTo>
                                        <a:pt x="416" y="100"/>
                                      </a:lnTo>
                                      <a:lnTo>
                                        <a:pt x="399" y="117"/>
                                      </a:lnTo>
                                      <a:lnTo>
                                        <a:pt x="377" y="134"/>
                                      </a:lnTo>
                                      <a:lnTo>
                                        <a:pt x="357" y="151"/>
                                      </a:lnTo>
                                      <a:lnTo>
                                        <a:pt x="339" y="167"/>
                                      </a:lnTo>
                                      <a:lnTo>
                                        <a:pt x="318" y="180"/>
                                      </a:lnTo>
                                      <a:lnTo>
                                        <a:pt x="297" y="196"/>
                                      </a:lnTo>
                                      <a:lnTo>
                                        <a:pt x="274" y="210"/>
                                      </a:lnTo>
                                      <a:lnTo>
                                        <a:pt x="256" y="220"/>
                                      </a:lnTo>
                                      <a:lnTo>
                                        <a:pt x="234" y="232"/>
                                      </a:lnTo>
                                      <a:lnTo>
                                        <a:pt x="211" y="244"/>
                                      </a:lnTo>
                                      <a:lnTo>
                                        <a:pt x="196" y="252"/>
                                      </a:lnTo>
                                      <a:lnTo>
                                        <a:pt x="177" y="264"/>
                                      </a:lnTo>
                                      <a:lnTo>
                                        <a:pt x="158" y="276"/>
                                      </a:lnTo>
                                      <a:lnTo>
                                        <a:pt x="142" y="288"/>
                                      </a:lnTo>
                                      <a:lnTo>
                                        <a:pt x="115" y="306"/>
                                      </a:lnTo>
                                      <a:lnTo>
                                        <a:pt x="51" y="289"/>
                                      </a:lnTo>
                                      <a:lnTo>
                                        <a:pt x="0" y="215"/>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sp>
                              <p:nvSpPr>
                                <p:cNvPr id="2590796" name="任意多边形 2590795"/>
                                <p:cNvSpPr/>
                                <p:nvPr/>
                              </p:nvSpPr>
                              <p:spPr>
                                <a:xfrm>
                                  <a:off x="1939" y="1729"/>
                                  <a:ext cx="184" cy="245"/>
                                </a:xfrm>
                                <a:custGeom>
                                  <a:avLst/>
                                  <a:gdLst/>
                                  <a:ahLst/>
                                  <a:cxnLst/>
                                  <a:pathLst>
                                    <a:path w="184" h="245">
                                      <a:moveTo>
                                        <a:pt x="0" y="1"/>
                                      </a:moveTo>
                                      <a:lnTo>
                                        <a:pt x="79" y="0"/>
                                      </a:lnTo>
                                      <a:lnTo>
                                        <a:pt x="79" y="60"/>
                                      </a:lnTo>
                                      <a:lnTo>
                                        <a:pt x="135" y="44"/>
                                      </a:lnTo>
                                      <a:lnTo>
                                        <a:pt x="142" y="108"/>
                                      </a:lnTo>
                                      <a:lnTo>
                                        <a:pt x="183" y="223"/>
                                      </a:lnTo>
                                      <a:lnTo>
                                        <a:pt x="184" y="242"/>
                                      </a:lnTo>
                                      <a:lnTo>
                                        <a:pt x="172" y="245"/>
                                      </a:lnTo>
                                      <a:lnTo>
                                        <a:pt x="129" y="185"/>
                                      </a:lnTo>
                                      <a:lnTo>
                                        <a:pt x="41" y="101"/>
                                      </a:lnTo>
                                      <a:lnTo>
                                        <a:pt x="5" y="77"/>
                                      </a:lnTo>
                                      <a:lnTo>
                                        <a:pt x="0" y="1"/>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sp>
                              <p:nvSpPr>
                                <p:cNvPr id="2590797" name="任意多边形 2590796"/>
                                <p:cNvSpPr/>
                                <p:nvPr/>
                              </p:nvSpPr>
                              <p:spPr>
                                <a:xfrm>
                                  <a:off x="1898" y="2158"/>
                                  <a:ext cx="166" cy="323"/>
                                </a:xfrm>
                                <a:custGeom>
                                  <a:avLst/>
                                  <a:gdLst/>
                                  <a:ahLst/>
                                  <a:cxnLst/>
                                  <a:pathLst>
                                    <a:path w="166" h="323">
                                      <a:moveTo>
                                        <a:pt x="166" y="33"/>
                                      </a:moveTo>
                                      <a:lnTo>
                                        <a:pt x="162" y="44"/>
                                      </a:lnTo>
                                      <a:lnTo>
                                        <a:pt x="159" y="54"/>
                                      </a:lnTo>
                                      <a:lnTo>
                                        <a:pt x="152" y="63"/>
                                      </a:lnTo>
                                      <a:lnTo>
                                        <a:pt x="143" y="71"/>
                                      </a:lnTo>
                                      <a:lnTo>
                                        <a:pt x="134" y="78"/>
                                      </a:lnTo>
                                      <a:lnTo>
                                        <a:pt x="123" y="85"/>
                                      </a:lnTo>
                                      <a:lnTo>
                                        <a:pt x="114" y="91"/>
                                      </a:lnTo>
                                      <a:lnTo>
                                        <a:pt x="102" y="98"/>
                                      </a:lnTo>
                                      <a:lnTo>
                                        <a:pt x="87" y="109"/>
                                      </a:lnTo>
                                      <a:lnTo>
                                        <a:pt x="76" y="118"/>
                                      </a:lnTo>
                                      <a:lnTo>
                                        <a:pt x="69" y="126"/>
                                      </a:lnTo>
                                      <a:lnTo>
                                        <a:pt x="61" y="137"/>
                                      </a:lnTo>
                                      <a:lnTo>
                                        <a:pt x="54" y="150"/>
                                      </a:lnTo>
                                      <a:lnTo>
                                        <a:pt x="49" y="164"/>
                                      </a:lnTo>
                                      <a:lnTo>
                                        <a:pt x="44" y="178"/>
                                      </a:lnTo>
                                      <a:lnTo>
                                        <a:pt x="42" y="192"/>
                                      </a:lnTo>
                                      <a:lnTo>
                                        <a:pt x="41" y="209"/>
                                      </a:lnTo>
                                      <a:lnTo>
                                        <a:pt x="42" y="226"/>
                                      </a:lnTo>
                                      <a:lnTo>
                                        <a:pt x="43" y="243"/>
                                      </a:lnTo>
                                      <a:lnTo>
                                        <a:pt x="48" y="258"/>
                                      </a:lnTo>
                                      <a:lnTo>
                                        <a:pt x="54" y="274"/>
                                      </a:lnTo>
                                      <a:lnTo>
                                        <a:pt x="63" y="285"/>
                                      </a:lnTo>
                                      <a:lnTo>
                                        <a:pt x="75" y="300"/>
                                      </a:lnTo>
                                      <a:lnTo>
                                        <a:pt x="87" y="310"/>
                                      </a:lnTo>
                                      <a:lnTo>
                                        <a:pt x="102" y="323"/>
                                      </a:lnTo>
                                      <a:lnTo>
                                        <a:pt x="82" y="320"/>
                                      </a:lnTo>
                                      <a:lnTo>
                                        <a:pt x="70" y="313"/>
                                      </a:lnTo>
                                      <a:lnTo>
                                        <a:pt x="60" y="305"/>
                                      </a:lnTo>
                                      <a:lnTo>
                                        <a:pt x="48" y="296"/>
                                      </a:lnTo>
                                      <a:lnTo>
                                        <a:pt x="38" y="287"/>
                                      </a:lnTo>
                                      <a:lnTo>
                                        <a:pt x="29" y="278"/>
                                      </a:lnTo>
                                      <a:lnTo>
                                        <a:pt x="22" y="269"/>
                                      </a:lnTo>
                                      <a:lnTo>
                                        <a:pt x="14" y="256"/>
                                      </a:lnTo>
                                      <a:lnTo>
                                        <a:pt x="5" y="243"/>
                                      </a:lnTo>
                                      <a:lnTo>
                                        <a:pt x="0" y="226"/>
                                      </a:lnTo>
                                      <a:lnTo>
                                        <a:pt x="73" y="31"/>
                                      </a:lnTo>
                                      <a:lnTo>
                                        <a:pt x="106" y="0"/>
                                      </a:lnTo>
                                      <a:lnTo>
                                        <a:pt x="147" y="5"/>
                                      </a:lnTo>
                                      <a:lnTo>
                                        <a:pt x="162" y="18"/>
                                      </a:lnTo>
                                      <a:lnTo>
                                        <a:pt x="166" y="33"/>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grpSp>
                          <p:sp>
                            <p:nvSpPr>
                              <p:cNvPr id="2590798" name="任意多边形 2590797"/>
                              <p:cNvSpPr/>
                              <p:nvPr/>
                            </p:nvSpPr>
                            <p:spPr>
                              <a:xfrm>
                                <a:off x="1728" y="1795"/>
                                <a:ext cx="444" cy="931"/>
                              </a:xfrm>
                              <a:custGeom>
                                <a:avLst/>
                                <a:gdLst/>
                                <a:ahLst/>
                                <a:cxnLst/>
                                <a:pathLst>
                                  <a:path w="444" h="931">
                                    <a:moveTo>
                                      <a:pt x="219" y="0"/>
                                    </a:moveTo>
                                    <a:lnTo>
                                      <a:pt x="251" y="21"/>
                                    </a:lnTo>
                                    <a:lnTo>
                                      <a:pt x="279" y="44"/>
                                    </a:lnTo>
                                    <a:lnTo>
                                      <a:pt x="309" y="69"/>
                                    </a:lnTo>
                                    <a:lnTo>
                                      <a:pt x="335" y="98"/>
                                    </a:lnTo>
                                    <a:lnTo>
                                      <a:pt x="361" y="126"/>
                                    </a:lnTo>
                                    <a:lnTo>
                                      <a:pt x="381" y="150"/>
                                    </a:lnTo>
                                    <a:lnTo>
                                      <a:pt x="389" y="163"/>
                                    </a:lnTo>
                                    <a:lnTo>
                                      <a:pt x="421" y="350"/>
                                    </a:lnTo>
                                    <a:lnTo>
                                      <a:pt x="421" y="804"/>
                                    </a:lnTo>
                                    <a:lnTo>
                                      <a:pt x="430" y="857"/>
                                    </a:lnTo>
                                    <a:lnTo>
                                      <a:pt x="444" y="884"/>
                                    </a:lnTo>
                                    <a:lnTo>
                                      <a:pt x="411" y="916"/>
                                    </a:lnTo>
                                    <a:lnTo>
                                      <a:pt x="345" y="931"/>
                                    </a:lnTo>
                                    <a:lnTo>
                                      <a:pt x="295" y="921"/>
                                    </a:lnTo>
                                    <a:lnTo>
                                      <a:pt x="306" y="815"/>
                                    </a:lnTo>
                                    <a:lnTo>
                                      <a:pt x="313" y="737"/>
                                    </a:lnTo>
                                    <a:lnTo>
                                      <a:pt x="333" y="541"/>
                                    </a:lnTo>
                                    <a:lnTo>
                                      <a:pt x="338" y="440"/>
                                    </a:lnTo>
                                    <a:lnTo>
                                      <a:pt x="337" y="421"/>
                                    </a:lnTo>
                                    <a:lnTo>
                                      <a:pt x="336" y="406"/>
                                    </a:lnTo>
                                    <a:lnTo>
                                      <a:pt x="332" y="390"/>
                                    </a:lnTo>
                                    <a:lnTo>
                                      <a:pt x="328" y="380"/>
                                    </a:lnTo>
                                    <a:lnTo>
                                      <a:pt x="318" y="371"/>
                                    </a:lnTo>
                                    <a:lnTo>
                                      <a:pt x="307" y="368"/>
                                    </a:lnTo>
                                    <a:lnTo>
                                      <a:pt x="295" y="365"/>
                                    </a:lnTo>
                                    <a:lnTo>
                                      <a:pt x="280" y="367"/>
                                    </a:lnTo>
                                    <a:lnTo>
                                      <a:pt x="270" y="370"/>
                                    </a:lnTo>
                                    <a:lnTo>
                                      <a:pt x="260" y="380"/>
                                    </a:lnTo>
                                    <a:lnTo>
                                      <a:pt x="250" y="396"/>
                                    </a:lnTo>
                                    <a:lnTo>
                                      <a:pt x="193" y="539"/>
                                    </a:lnTo>
                                    <a:lnTo>
                                      <a:pt x="165" y="607"/>
                                    </a:lnTo>
                                    <a:lnTo>
                                      <a:pt x="139" y="776"/>
                                    </a:lnTo>
                                    <a:lnTo>
                                      <a:pt x="138" y="909"/>
                                    </a:lnTo>
                                    <a:lnTo>
                                      <a:pt x="0" y="887"/>
                                    </a:lnTo>
                                    <a:lnTo>
                                      <a:pt x="19" y="846"/>
                                    </a:lnTo>
                                    <a:lnTo>
                                      <a:pt x="29" y="790"/>
                                    </a:lnTo>
                                    <a:lnTo>
                                      <a:pt x="69" y="658"/>
                                    </a:lnTo>
                                    <a:lnTo>
                                      <a:pt x="108" y="522"/>
                                    </a:lnTo>
                                    <a:lnTo>
                                      <a:pt x="146" y="398"/>
                                    </a:lnTo>
                                    <a:lnTo>
                                      <a:pt x="217" y="298"/>
                                    </a:lnTo>
                                    <a:lnTo>
                                      <a:pt x="210" y="151"/>
                                    </a:lnTo>
                                    <a:lnTo>
                                      <a:pt x="132" y="7"/>
                                    </a:lnTo>
                                    <a:lnTo>
                                      <a:pt x="219" y="0"/>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grpSp>
                        <p:sp>
                          <p:nvSpPr>
                            <p:cNvPr id="2590799" name="任意多边形 2590798"/>
                            <p:cNvSpPr/>
                            <p:nvPr/>
                          </p:nvSpPr>
                          <p:spPr>
                            <a:xfrm>
                              <a:off x="1622" y="1795"/>
                              <a:ext cx="336" cy="633"/>
                            </a:xfrm>
                            <a:custGeom>
                              <a:avLst/>
                              <a:gdLst/>
                              <a:ahLst/>
                              <a:cxnLst/>
                              <a:pathLst>
                                <a:path w="336" h="633">
                                  <a:moveTo>
                                    <a:pt x="135" y="0"/>
                                  </a:moveTo>
                                  <a:lnTo>
                                    <a:pt x="234" y="0"/>
                                  </a:lnTo>
                                  <a:lnTo>
                                    <a:pt x="252" y="18"/>
                                  </a:lnTo>
                                  <a:lnTo>
                                    <a:pt x="264" y="32"/>
                                  </a:lnTo>
                                  <a:lnTo>
                                    <a:pt x="277" y="53"/>
                                  </a:lnTo>
                                  <a:lnTo>
                                    <a:pt x="290" y="74"/>
                                  </a:lnTo>
                                  <a:lnTo>
                                    <a:pt x="301" y="97"/>
                                  </a:lnTo>
                                  <a:lnTo>
                                    <a:pt x="312" y="119"/>
                                  </a:lnTo>
                                  <a:lnTo>
                                    <a:pt x="323" y="139"/>
                                  </a:lnTo>
                                  <a:lnTo>
                                    <a:pt x="333" y="160"/>
                                  </a:lnTo>
                                  <a:lnTo>
                                    <a:pt x="336" y="180"/>
                                  </a:lnTo>
                                  <a:lnTo>
                                    <a:pt x="331" y="295"/>
                                  </a:lnTo>
                                  <a:lnTo>
                                    <a:pt x="323" y="316"/>
                                  </a:lnTo>
                                  <a:lnTo>
                                    <a:pt x="314" y="335"/>
                                  </a:lnTo>
                                  <a:lnTo>
                                    <a:pt x="305" y="351"/>
                                  </a:lnTo>
                                  <a:lnTo>
                                    <a:pt x="293" y="367"/>
                                  </a:lnTo>
                                  <a:lnTo>
                                    <a:pt x="280" y="382"/>
                                  </a:lnTo>
                                  <a:lnTo>
                                    <a:pt x="263" y="395"/>
                                  </a:lnTo>
                                  <a:lnTo>
                                    <a:pt x="246" y="406"/>
                                  </a:lnTo>
                                  <a:lnTo>
                                    <a:pt x="225" y="415"/>
                                  </a:lnTo>
                                  <a:lnTo>
                                    <a:pt x="205" y="423"/>
                                  </a:lnTo>
                                  <a:lnTo>
                                    <a:pt x="184" y="431"/>
                                  </a:lnTo>
                                  <a:lnTo>
                                    <a:pt x="164" y="440"/>
                                  </a:lnTo>
                                  <a:lnTo>
                                    <a:pt x="145" y="446"/>
                                  </a:lnTo>
                                  <a:lnTo>
                                    <a:pt x="123" y="454"/>
                                  </a:lnTo>
                                  <a:lnTo>
                                    <a:pt x="107" y="461"/>
                                  </a:lnTo>
                                  <a:lnTo>
                                    <a:pt x="90" y="470"/>
                                  </a:lnTo>
                                  <a:lnTo>
                                    <a:pt x="73" y="482"/>
                                  </a:lnTo>
                                  <a:lnTo>
                                    <a:pt x="59" y="495"/>
                                  </a:lnTo>
                                  <a:lnTo>
                                    <a:pt x="47" y="509"/>
                                  </a:lnTo>
                                  <a:lnTo>
                                    <a:pt x="37" y="526"/>
                                  </a:lnTo>
                                  <a:lnTo>
                                    <a:pt x="29" y="543"/>
                                  </a:lnTo>
                                  <a:lnTo>
                                    <a:pt x="21" y="564"/>
                                  </a:lnTo>
                                  <a:lnTo>
                                    <a:pt x="15" y="582"/>
                                  </a:lnTo>
                                  <a:lnTo>
                                    <a:pt x="10" y="604"/>
                                  </a:lnTo>
                                  <a:lnTo>
                                    <a:pt x="7" y="627"/>
                                  </a:lnTo>
                                  <a:lnTo>
                                    <a:pt x="4" y="633"/>
                                  </a:lnTo>
                                  <a:lnTo>
                                    <a:pt x="0" y="585"/>
                                  </a:lnTo>
                                  <a:lnTo>
                                    <a:pt x="2" y="551"/>
                                  </a:lnTo>
                                  <a:lnTo>
                                    <a:pt x="4" y="525"/>
                                  </a:lnTo>
                                  <a:lnTo>
                                    <a:pt x="9" y="506"/>
                                  </a:lnTo>
                                  <a:lnTo>
                                    <a:pt x="14" y="486"/>
                                  </a:lnTo>
                                  <a:lnTo>
                                    <a:pt x="23" y="470"/>
                                  </a:lnTo>
                                  <a:lnTo>
                                    <a:pt x="32" y="456"/>
                                  </a:lnTo>
                                  <a:lnTo>
                                    <a:pt x="42" y="442"/>
                                  </a:lnTo>
                                  <a:lnTo>
                                    <a:pt x="56" y="427"/>
                                  </a:lnTo>
                                  <a:lnTo>
                                    <a:pt x="69" y="415"/>
                                  </a:lnTo>
                                  <a:lnTo>
                                    <a:pt x="85" y="401"/>
                                  </a:lnTo>
                                  <a:lnTo>
                                    <a:pt x="102" y="385"/>
                                  </a:lnTo>
                                  <a:lnTo>
                                    <a:pt x="122" y="368"/>
                                  </a:lnTo>
                                  <a:lnTo>
                                    <a:pt x="139" y="352"/>
                                  </a:lnTo>
                                  <a:lnTo>
                                    <a:pt x="154" y="336"/>
                                  </a:lnTo>
                                  <a:lnTo>
                                    <a:pt x="167" y="319"/>
                                  </a:lnTo>
                                  <a:lnTo>
                                    <a:pt x="178" y="303"/>
                                  </a:lnTo>
                                  <a:lnTo>
                                    <a:pt x="188" y="286"/>
                                  </a:lnTo>
                                  <a:lnTo>
                                    <a:pt x="197" y="268"/>
                                  </a:lnTo>
                                  <a:lnTo>
                                    <a:pt x="205" y="248"/>
                                  </a:lnTo>
                                  <a:lnTo>
                                    <a:pt x="210" y="233"/>
                                  </a:lnTo>
                                  <a:lnTo>
                                    <a:pt x="135" y="0"/>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grpSp>
                      <p:grpSp>
                        <p:nvGrpSpPr>
                          <p:cNvPr id="2590800" name="组合 2590799"/>
                          <p:cNvGrpSpPr/>
                          <p:nvPr/>
                        </p:nvGrpSpPr>
                        <p:grpSpPr>
                          <a:xfrm>
                            <a:off x="1684" y="1807"/>
                            <a:ext cx="394" cy="299"/>
                            <a:chOff x="1684" y="1807"/>
                            <a:chExt cx="394" cy="299"/>
                          </a:xfrm>
                        </p:grpSpPr>
                        <p:sp>
                          <p:nvSpPr>
                            <p:cNvPr id="2590801" name="任意多边形 2590800"/>
                            <p:cNvSpPr/>
                            <p:nvPr/>
                          </p:nvSpPr>
                          <p:spPr>
                            <a:xfrm>
                              <a:off x="1684" y="1807"/>
                              <a:ext cx="337" cy="294"/>
                            </a:xfrm>
                            <a:custGeom>
                              <a:avLst/>
                              <a:gdLst/>
                              <a:ahLst/>
                              <a:cxnLst/>
                              <a:pathLst>
                                <a:path w="337" h="294">
                                  <a:moveTo>
                                    <a:pt x="99" y="8"/>
                                  </a:moveTo>
                                  <a:lnTo>
                                    <a:pt x="84" y="3"/>
                                  </a:lnTo>
                                  <a:lnTo>
                                    <a:pt x="64" y="0"/>
                                  </a:lnTo>
                                  <a:lnTo>
                                    <a:pt x="46" y="2"/>
                                  </a:lnTo>
                                  <a:lnTo>
                                    <a:pt x="28" y="7"/>
                                  </a:lnTo>
                                  <a:lnTo>
                                    <a:pt x="14" y="16"/>
                                  </a:lnTo>
                                  <a:lnTo>
                                    <a:pt x="7" y="27"/>
                                  </a:lnTo>
                                  <a:lnTo>
                                    <a:pt x="3" y="42"/>
                                  </a:lnTo>
                                  <a:lnTo>
                                    <a:pt x="0" y="56"/>
                                  </a:lnTo>
                                  <a:lnTo>
                                    <a:pt x="1" y="70"/>
                                  </a:lnTo>
                                  <a:lnTo>
                                    <a:pt x="4" y="87"/>
                                  </a:lnTo>
                                  <a:lnTo>
                                    <a:pt x="7" y="108"/>
                                  </a:lnTo>
                                  <a:lnTo>
                                    <a:pt x="11" y="118"/>
                                  </a:lnTo>
                                  <a:lnTo>
                                    <a:pt x="28" y="127"/>
                                  </a:lnTo>
                                  <a:lnTo>
                                    <a:pt x="43" y="135"/>
                                  </a:lnTo>
                                  <a:lnTo>
                                    <a:pt x="57" y="144"/>
                                  </a:lnTo>
                                  <a:lnTo>
                                    <a:pt x="71" y="154"/>
                                  </a:lnTo>
                                  <a:lnTo>
                                    <a:pt x="85" y="166"/>
                                  </a:lnTo>
                                  <a:lnTo>
                                    <a:pt x="98" y="177"/>
                                  </a:lnTo>
                                  <a:lnTo>
                                    <a:pt x="111" y="187"/>
                                  </a:lnTo>
                                  <a:lnTo>
                                    <a:pt x="125" y="203"/>
                                  </a:lnTo>
                                  <a:lnTo>
                                    <a:pt x="139" y="220"/>
                                  </a:lnTo>
                                  <a:lnTo>
                                    <a:pt x="152" y="236"/>
                                  </a:lnTo>
                                  <a:lnTo>
                                    <a:pt x="157" y="240"/>
                                  </a:lnTo>
                                  <a:lnTo>
                                    <a:pt x="179" y="247"/>
                                  </a:lnTo>
                                  <a:lnTo>
                                    <a:pt x="209" y="257"/>
                                  </a:lnTo>
                                  <a:lnTo>
                                    <a:pt x="237" y="269"/>
                                  </a:lnTo>
                                  <a:lnTo>
                                    <a:pt x="263" y="280"/>
                                  </a:lnTo>
                                  <a:lnTo>
                                    <a:pt x="285" y="287"/>
                                  </a:lnTo>
                                  <a:lnTo>
                                    <a:pt x="313" y="294"/>
                                  </a:lnTo>
                                  <a:lnTo>
                                    <a:pt x="337" y="294"/>
                                  </a:lnTo>
                                  <a:lnTo>
                                    <a:pt x="323" y="161"/>
                                  </a:lnTo>
                                  <a:lnTo>
                                    <a:pt x="293" y="164"/>
                                  </a:lnTo>
                                  <a:lnTo>
                                    <a:pt x="267" y="160"/>
                                  </a:lnTo>
                                  <a:lnTo>
                                    <a:pt x="245" y="155"/>
                                  </a:lnTo>
                                  <a:lnTo>
                                    <a:pt x="225" y="151"/>
                                  </a:lnTo>
                                  <a:lnTo>
                                    <a:pt x="210" y="139"/>
                                  </a:lnTo>
                                  <a:lnTo>
                                    <a:pt x="196" y="128"/>
                                  </a:lnTo>
                                  <a:lnTo>
                                    <a:pt x="178" y="116"/>
                                  </a:lnTo>
                                  <a:lnTo>
                                    <a:pt x="162" y="107"/>
                                  </a:lnTo>
                                  <a:lnTo>
                                    <a:pt x="153" y="101"/>
                                  </a:lnTo>
                                  <a:lnTo>
                                    <a:pt x="143" y="80"/>
                                  </a:lnTo>
                                  <a:lnTo>
                                    <a:pt x="127" y="57"/>
                                  </a:lnTo>
                                  <a:lnTo>
                                    <a:pt x="116" y="34"/>
                                  </a:lnTo>
                                  <a:lnTo>
                                    <a:pt x="99" y="8"/>
                                  </a:lnTo>
                                  <a:close/>
                                </a:path>
                              </a:pathLst>
                            </a:custGeom>
                            <a:solidFill>
                              <a:srgbClr val="BF5FFF"/>
                            </a:solidFill>
                            <a:ln w="9525">
                              <a:noFill/>
                            </a:ln>
                          </p:spPr>
                          <p:txBody>
                            <a:bodyPr/>
                            <a:p>
                              <a:pPr eaLnBrk="1" hangingPunct="1">
                                <a:lnSpc>
                                  <a:spcPct val="90000"/>
                                </a:lnSpc>
                              </a:pPr>
                              <a:endParaRPr lang="zh-CN" altLang="en-US" b="1">
                                <a:solidFill>
                                  <a:srgbClr val="333399"/>
                                </a:solidFill>
                              </a:endParaRPr>
                            </a:p>
                          </p:txBody>
                        </p:sp>
                        <p:sp>
                          <p:nvSpPr>
                            <p:cNvPr id="2590802" name="椭圆 2590801"/>
                            <p:cNvSpPr/>
                            <p:nvPr/>
                          </p:nvSpPr>
                          <p:spPr>
                            <a:xfrm>
                              <a:off x="1965" y="1967"/>
                              <a:ext cx="113" cy="139"/>
                            </a:xfrm>
                            <a:prstGeom prst="ellipse">
                              <a:avLst/>
                            </a:prstGeom>
                            <a:solidFill>
                              <a:srgbClr val="5F009F"/>
                            </a:solidFill>
                            <a:ln w="9525">
                              <a:noFill/>
                            </a:ln>
                          </p:spPr>
                          <p:txBody>
                            <a:bodyPr/>
                            <a:p>
                              <a:pPr eaLnBrk="1" hangingPunct="1">
                                <a:lnSpc>
                                  <a:spcPct val="90000"/>
                                </a:lnSpc>
                              </a:pPr>
                              <a:endParaRPr lang="zh-CN" altLang="en-US" b="1">
                                <a:solidFill>
                                  <a:srgbClr val="333399"/>
                                </a:solidFill>
                              </a:endParaRPr>
                            </a:p>
                          </p:txBody>
                        </p:sp>
                      </p:grpSp>
                    </p:grpSp>
                  </p:grpSp>
                  <p:grpSp>
                    <p:nvGrpSpPr>
                      <p:cNvPr id="2590803" name="组合 2590802"/>
                      <p:cNvGrpSpPr/>
                      <p:nvPr/>
                    </p:nvGrpSpPr>
                    <p:grpSpPr>
                      <a:xfrm>
                        <a:off x="1786" y="1712"/>
                        <a:ext cx="196" cy="141"/>
                        <a:chOff x="1786" y="1712"/>
                        <a:chExt cx="196" cy="141"/>
                      </a:xfrm>
                    </p:grpSpPr>
                    <p:sp>
                      <p:nvSpPr>
                        <p:cNvPr id="2590804" name="任意多边形 2590803"/>
                        <p:cNvSpPr/>
                        <p:nvPr/>
                      </p:nvSpPr>
                      <p:spPr>
                        <a:xfrm>
                          <a:off x="1786" y="1712"/>
                          <a:ext cx="196" cy="141"/>
                        </a:xfrm>
                        <a:custGeom>
                          <a:avLst/>
                          <a:gdLst/>
                          <a:ahLst/>
                          <a:cxnLst/>
                          <a:pathLst>
                            <a:path w="196" h="141">
                              <a:moveTo>
                                <a:pt x="108" y="39"/>
                              </a:moveTo>
                              <a:lnTo>
                                <a:pt x="127" y="2"/>
                              </a:lnTo>
                              <a:lnTo>
                                <a:pt x="141" y="0"/>
                              </a:lnTo>
                              <a:lnTo>
                                <a:pt x="154" y="3"/>
                              </a:lnTo>
                              <a:lnTo>
                                <a:pt x="167" y="7"/>
                              </a:lnTo>
                              <a:lnTo>
                                <a:pt x="178" y="15"/>
                              </a:lnTo>
                              <a:lnTo>
                                <a:pt x="186" y="25"/>
                              </a:lnTo>
                              <a:lnTo>
                                <a:pt x="193" y="37"/>
                              </a:lnTo>
                              <a:lnTo>
                                <a:pt x="196" y="52"/>
                              </a:lnTo>
                              <a:lnTo>
                                <a:pt x="195" y="70"/>
                              </a:lnTo>
                              <a:lnTo>
                                <a:pt x="189" y="84"/>
                              </a:lnTo>
                              <a:lnTo>
                                <a:pt x="182" y="97"/>
                              </a:lnTo>
                              <a:lnTo>
                                <a:pt x="175" y="106"/>
                              </a:lnTo>
                              <a:lnTo>
                                <a:pt x="168" y="115"/>
                              </a:lnTo>
                              <a:lnTo>
                                <a:pt x="104" y="88"/>
                              </a:lnTo>
                              <a:lnTo>
                                <a:pt x="87" y="95"/>
                              </a:lnTo>
                              <a:lnTo>
                                <a:pt x="42" y="141"/>
                              </a:lnTo>
                              <a:lnTo>
                                <a:pt x="31" y="135"/>
                              </a:lnTo>
                              <a:lnTo>
                                <a:pt x="24" y="129"/>
                              </a:lnTo>
                              <a:lnTo>
                                <a:pt x="17" y="121"/>
                              </a:lnTo>
                              <a:lnTo>
                                <a:pt x="10" y="110"/>
                              </a:lnTo>
                              <a:lnTo>
                                <a:pt x="3" y="97"/>
                              </a:lnTo>
                              <a:lnTo>
                                <a:pt x="0" y="82"/>
                              </a:lnTo>
                              <a:lnTo>
                                <a:pt x="0" y="65"/>
                              </a:lnTo>
                              <a:lnTo>
                                <a:pt x="2" y="51"/>
                              </a:lnTo>
                              <a:lnTo>
                                <a:pt x="5" y="37"/>
                              </a:lnTo>
                              <a:lnTo>
                                <a:pt x="10" y="28"/>
                              </a:lnTo>
                              <a:lnTo>
                                <a:pt x="16" y="17"/>
                              </a:lnTo>
                              <a:lnTo>
                                <a:pt x="76" y="42"/>
                              </a:lnTo>
                              <a:lnTo>
                                <a:pt x="108" y="39"/>
                              </a:lnTo>
                              <a:close/>
                            </a:path>
                          </a:pathLst>
                        </a:custGeom>
                        <a:solidFill>
                          <a:srgbClr val="FFFF00"/>
                        </a:solidFill>
                        <a:ln w="9525">
                          <a:noFill/>
                        </a:ln>
                      </p:spPr>
                      <p:txBody>
                        <a:bodyPr/>
                        <a:p>
                          <a:pPr eaLnBrk="1" hangingPunct="1">
                            <a:lnSpc>
                              <a:spcPct val="90000"/>
                            </a:lnSpc>
                          </a:pPr>
                          <a:endParaRPr lang="zh-CN" altLang="en-US" b="1">
                            <a:solidFill>
                              <a:srgbClr val="333399"/>
                            </a:solidFill>
                          </a:endParaRPr>
                        </a:p>
                      </p:txBody>
                    </p:sp>
                    <p:sp>
                      <p:nvSpPr>
                        <p:cNvPr id="2590805" name="椭圆 2590804"/>
                        <p:cNvSpPr/>
                        <p:nvPr/>
                      </p:nvSpPr>
                      <p:spPr>
                        <a:xfrm>
                          <a:off x="1849" y="1744"/>
                          <a:ext cx="79"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06" name="椭圆 2590805"/>
                        <p:cNvSpPr/>
                        <p:nvPr/>
                      </p:nvSpPr>
                      <p:spPr>
                        <a:xfrm>
                          <a:off x="1837" y="1745"/>
                          <a:ext cx="79"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07" name="椭圆 2590806"/>
                        <p:cNvSpPr/>
                        <p:nvPr/>
                      </p:nvSpPr>
                      <p:spPr>
                        <a:xfrm>
                          <a:off x="1843" y="1744"/>
                          <a:ext cx="79" cy="69"/>
                        </a:xfrm>
                        <a:prstGeom prst="ellipse">
                          <a:avLst/>
                        </a:prstGeom>
                        <a:solidFill>
                          <a:srgbClr val="FFFF00"/>
                        </a:solidFill>
                        <a:ln w="9525">
                          <a:noFill/>
                        </a:ln>
                      </p:spPr>
                      <p:txBody>
                        <a:bodyPr/>
                        <a:p>
                          <a:pPr eaLnBrk="1" hangingPunct="1">
                            <a:lnSpc>
                              <a:spcPct val="90000"/>
                            </a:lnSpc>
                          </a:pPr>
                          <a:endParaRPr lang="zh-CN" altLang="en-US" b="1">
                            <a:solidFill>
                              <a:srgbClr val="333399"/>
                            </a:solidFill>
                          </a:endParaRPr>
                        </a:p>
                      </p:txBody>
                    </p:sp>
                  </p:grpSp>
                </p:grpSp>
              </p:grpSp>
              <p:grpSp>
                <p:nvGrpSpPr>
                  <p:cNvPr id="2590808" name="组合 2590807"/>
                  <p:cNvGrpSpPr/>
                  <p:nvPr/>
                </p:nvGrpSpPr>
                <p:grpSpPr>
                  <a:xfrm>
                    <a:off x="2001" y="1902"/>
                    <a:ext cx="362" cy="274"/>
                    <a:chOff x="2001" y="1902"/>
                    <a:chExt cx="362" cy="274"/>
                  </a:xfrm>
                </p:grpSpPr>
                <p:grpSp>
                  <p:nvGrpSpPr>
                    <p:cNvPr id="2590809" name="组合 2590808"/>
                    <p:cNvGrpSpPr/>
                    <p:nvPr/>
                  </p:nvGrpSpPr>
                  <p:grpSpPr>
                    <a:xfrm>
                      <a:off x="2001" y="1993"/>
                      <a:ext cx="95" cy="94"/>
                      <a:chOff x="2001" y="1993"/>
                      <a:chExt cx="95" cy="94"/>
                    </a:xfrm>
                  </p:grpSpPr>
                  <p:sp>
                    <p:nvSpPr>
                      <p:cNvPr id="2590810" name="椭圆 2590809"/>
                      <p:cNvSpPr/>
                      <p:nvPr/>
                    </p:nvSpPr>
                    <p:spPr>
                      <a:xfrm>
                        <a:off x="2001" y="1998"/>
                        <a:ext cx="84" cy="8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11" name="椭圆 2590810"/>
                      <p:cNvSpPr/>
                      <p:nvPr/>
                    </p:nvSpPr>
                    <p:spPr>
                      <a:xfrm>
                        <a:off x="2013" y="1993"/>
                        <a:ext cx="83" cy="9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0812" name="组合 2590811"/>
                    <p:cNvGrpSpPr/>
                    <p:nvPr/>
                  </p:nvGrpSpPr>
                  <p:grpSpPr>
                    <a:xfrm>
                      <a:off x="2063" y="1902"/>
                      <a:ext cx="300" cy="274"/>
                      <a:chOff x="2063" y="1902"/>
                      <a:chExt cx="300" cy="274"/>
                    </a:xfrm>
                  </p:grpSpPr>
                  <p:grpSp>
                    <p:nvGrpSpPr>
                      <p:cNvPr id="2590813" name="组合 2590812"/>
                      <p:cNvGrpSpPr/>
                      <p:nvPr/>
                    </p:nvGrpSpPr>
                    <p:grpSpPr>
                      <a:xfrm>
                        <a:off x="2065" y="1909"/>
                        <a:ext cx="298" cy="267"/>
                        <a:chOff x="2065" y="1909"/>
                        <a:chExt cx="298" cy="267"/>
                      </a:xfrm>
                    </p:grpSpPr>
                    <p:grpSp>
                      <p:nvGrpSpPr>
                        <p:cNvPr id="2590814" name="组合 2590813"/>
                        <p:cNvGrpSpPr/>
                        <p:nvPr/>
                      </p:nvGrpSpPr>
                      <p:grpSpPr>
                        <a:xfrm>
                          <a:off x="2065" y="1909"/>
                          <a:ext cx="298" cy="267"/>
                          <a:chOff x="2065" y="1909"/>
                          <a:chExt cx="298" cy="267"/>
                        </a:xfrm>
                      </p:grpSpPr>
                      <p:sp>
                        <p:nvSpPr>
                          <p:cNvPr id="2590815" name="椭圆 2590814"/>
                          <p:cNvSpPr/>
                          <p:nvPr/>
                        </p:nvSpPr>
                        <p:spPr>
                          <a:xfrm>
                            <a:off x="2065" y="1954"/>
                            <a:ext cx="196" cy="17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16" name="椭圆 2590815"/>
                          <p:cNvSpPr/>
                          <p:nvPr/>
                        </p:nvSpPr>
                        <p:spPr>
                          <a:xfrm>
                            <a:off x="2313" y="2037"/>
                            <a:ext cx="48" cy="5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17" name="椭圆 2590816"/>
                          <p:cNvSpPr/>
                          <p:nvPr/>
                        </p:nvSpPr>
                        <p:spPr>
                          <a:xfrm>
                            <a:off x="2258" y="2096"/>
                            <a:ext cx="47" cy="5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18" name="椭圆 2590817"/>
                          <p:cNvSpPr/>
                          <p:nvPr/>
                        </p:nvSpPr>
                        <p:spPr>
                          <a:xfrm>
                            <a:off x="2192" y="2131"/>
                            <a:ext cx="44" cy="45"/>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19" name="椭圆 2590818"/>
                          <p:cNvSpPr/>
                          <p:nvPr/>
                        </p:nvSpPr>
                        <p:spPr>
                          <a:xfrm>
                            <a:off x="2318" y="1972"/>
                            <a:ext cx="45" cy="47"/>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0820" name="椭圆 2590819"/>
                          <p:cNvSpPr/>
                          <p:nvPr/>
                        </p:nvSpPr>
                        <p:spPr>
                          <a:xfrm>
                            <a:off x="2211" y="1909"/>
                            <a:ext cx="63"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sp>
                      <p:nvSpPr>
                        <p:cNvPr id="2590821" name="任意多边形 2590820"/>
                        <p:cNvSpPr/>
                        <p:nvPr/>
                      </p:nvSpPr>
                      <p:spPr>
                        <a:xfrm>
                          <a:off x="2131" y="1913"/>
                          <a:ext cx="211" cy="254"/>
                        </a:xfrm>
                        <a:custGeom>
                          <a:avLst/>
                          <a:gdLst/>
                          <a:ahLst/>
                          <a:cxnLst/>
                          <a:pathLst>
                            <a:path w="211" h="254">
                              <a:moveTo>
                                <a:pt x="21" y="41"/>
                              </a:moveTo>
                              <a:lnTo>
                                <a:pt x="97" y="0"/>
                              </a:lnTo>
                              <a:lnTo>
                                <a:pt x="134" y="55"/>
                              </a:lnTo>
                              <a:lnTo>
                                <a:pt x="97" y="79"/>
                              </a:lnTo>
                              <a:lnTo>
                                <a:pt x="204" y="59"/>
                              </a:lnTo>
                              <a:lnTo>
                                <a:pt x="211" y="104"/>
                              </a:lnTo>
                              <a:lnTo>
                                <a:pt x="138" y="118"/>
                              </a:lnTo>
                              <a:lnTo>
                                <a:pt x="204" y="122"/>
                              </a:lnTo>
                              <a:lnTo>
                                <a:pt x="203" y="173"/>
                              </a:lnTo>
                              <a:lnTo>
                                <a:pt x="136" y="164"/>
                              </a:lnTo>
                              <a:lnTo>
                                <a:pt x="166" y="190"/>
                              </a:lnTo>
                              <a:lnTo>
                                <a:pt x="136" y="226"/>
                              </a:lnTo>
                              <a:lnTo>
                                <a:pt x="94" y="204"/>
                              </a:lnTo>
                              <a:lnTo>
                                <a:pt x="104" y="236"/>
                              </a:lnTo>
                              <a:lnTo>
                                <a:pt x="66" y="254"/>
                              </a:lnTo>
                              <a:lnTo>
                                <a:pt x="0" y="212"/>
                              </a:lnTo>
                              <a:lnTo>
                                <a:pt x="21" y="41"/>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0822" name="组合 2590821"/>
                      <p:cNvGrpSpPr/>
                      <p:nvPr/>
                    </p:nvGrpSpPr>
                    <p:grpSpPr>
                      <a:xfrm>
                        <a:off x="2063" y="1902"/>
                        <a:ext cx="298" cy="267"/>
                        <a:chOff x="2063" y="1902"/>
                        <a:chExt cx="298" cy="267"/>
                      </a:xfrm>
                    </p:grpSpPr>
                    <p:grpSp>
                      <p:nvGrpSpPr>
                        <p:cNvPr id="2590823" name="组合 2590822"/>
                        <p:cNvGrpSpPr/>
                        <p:nvPr/>
                      </p:nvGrpSpPr>
                      <p:grpSpPr>
                        <a:xfrm>
                          <a:off x="2063" y="1902"/>
                          <a:ext cx="298" cy="267"/>
                          <a:chOff x="2063" y="1902"/>
                          <a:chExt cx="298" cy="267"/>
                        </a:xfrm>
                      </p:grpSpPr>
                      <p:sp>
                        <p:nvSpPr>
                          <p:cNvPr id="2590824" name="椭圆 2590823"/>
                          <p:cNvSpPr/>
                          <p:nvPr/>
                        </p:nvSpPr>
                        <p:spPr>
                          <a:xfrm>
                            <a:off x="2063" y="1947"/>
                            <a:ext cx="195" cy="179"/>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25" name="椭圆 2590824"/>
                          <p:cNvSpPr/>
                          <p:nvPr/>
                        </p:nvSpPr>
                        <p:spPr>
                          <a:xfrm>
                            <a:off x="2310" y="2030"/>
                            <a:ext cx="48" cy="5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26" name="椭圆 2590825"/>
                          <p:cNvSpPr/>
                          <p:nvPr/>
                        </p:nvSpPr>
                        <p:spPr>
                          <a:xfrm>
                            <a:off x="2256" y="2089"/>
                            <a:ext cx="47" cy="5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27" name="椭圆 2590826"/>
                          <p:cNvSpPr/>
                          <p:nvPr/>
                        </p:nvSpPr>
                        <p:spPr>
                          <a:xfrm>
                            <a:off x="2190" y="2124"/>
                            <a:ext cx="44" cy="45"/>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28" name="椭圆 2590827"/>
                          <p:cNvSpPr/>
                          <p:nvPr/>
                        </p:nvSpPr>
                        <p:spPr>
                          <a:xfrm>
                            <a:off x="2316" y="1965"/>
                            <a:ext cx="45" cy="4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29" name="椭圆 2590828"/>
                          <p:cNvSpPr/>
                          <p:nvPr/>
                        </p:nvSpPr>
                        <p:spPr>
                          <a:xfrm>
                            <a:off x="2209" y="1902"/>
                            <a:ext cx="62" cy="69"/>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sp>
                      <p:nvSpPr>
                        <p:cNvPr id="2590830" name="任意多边形 2590829"/>
                        <p:cNvSpPr/>
                        <p:nvPr/>
                      </p:nvSpPr>
                      <p:spPr>
                        <a:xfrm>
                          <a:off x="2129" y="1906"/>
                          <a:ext cx="211" cy="254"/>
                        </a:xfrm>
                        <a:custGeom>
                          <a:avLst/>
                          <a:gdLst/>
                          <a:ahLst/>
                          <a:cxnLst/>
                          <a:pathLst>
                            <a:path w="211" h="254">
                              <a:moveTo>
                                <a:pt x="21" y="41"/>
                              </a:moveTo>
                              <a:lnTo>
                                <a:pt x="96" y="0"/>
                              </a:lnTo>
                              <a:lnTo>
                                <a:pt x="134" y="55"/>
                              </a:lnTo>
                              <a:lnTo>
                                <a:pt x="96" y="79"/>
                              </a:lnTo>
                              <a:lnTo>
                                <a:pt x="204" y="59"/>
                              </a:lnTo>
                              <a:lnTo>
                                <a:pt x="211" y="104"/>
                              </a:lnTo>
                              <a:lnTo>
                                <a:pt x="138" y="118"/>
                              </a:lnTo>
                              <a:lnTo>
                                <a:pt x="204" y="122"/>
                              </a:lnTo>
                              <a:lnTo>
                                <a:pt x="202" y="173"/>
                              </a:lnTo>
                              <a:lnTo>
                                <a:pt x="135" y="164"/>
                              </a:lnTo>
                              <a:lnTo>
                                <a:pt x="166" y="190"/>
                              </a:lnTo>
                              <a:lnTo>
                                <a:pt x="136" y="226"/>
                              </a:lnTo>
                              <a:lnTo>
                                <a:pt x="94" y="204"/>
                              </a:lnTo>
                              <a:lnTo>
                                <a:pt x="103" y="236"/>
                              </a:lnTo>
                              <a:lnTo>
                                <a:pt x="66" y="254"/>
                              </a:lnTo>
                              <a:lnTo>
                                <a:pt x="0" y="212"/>
                              </a:lnTo>
                              <a:lnTo>
                                <a:pt x="21" y="41"/>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0831" name="组合 2590830"/>
                      <p:cNvGrpSpPr/>
                      <p:nvPr/>
                    </p:nvGrpSpPr>
                    <p:grpSpPr>
                      <a:xfrm>
                        <a:off x="2103" y="2016"/>
                        <a:ext cx="90" cy="64"/>
                        <a:chOff x="2103" y="2016"/>
                        <a:chExt cx="90" cy="64"/>
                      </a:xfrm>
                    </p:grpSpPr>
                    <p:sp>
                      <p:nvSpPr>
                        <p:cNvPr id="2590832" name="直接连接符 2590831"/>
                        <p:cNvSpPr/>
                        <p:nvPr/>
                      </p:nvSpPr>
                      <p:spPr>
                        <a:xfrm flipV="1">
                          <a:off x="2113" y="2016"/>
                          <a:ext cx="73" cy="5"/>
                        </a:xfrm>
                        <a:prstGeom prst="line">
                          <a:avLst/>
                        </a:prstGeom>
                        <a:ln w="14288" cap="flat" cmpd="sng">
                          <a:solidFill>
                            <a:srgbClr val="000000"/>
                          </a:solidFill>
                          <a:prstDash val="solid"/>
                          <a:headEnd type="none" w="med" len="med"/>
                          <a:tailEnd type="none" w="med" len="med"/>
                        </a:ln>
                      </p:spPr>
                    </p:sp>
                    <p:sp>
                      <p:nvSpPr>
                        <p:cNvPr id="2590833" name="直接连接符 2590832"/>
                        <p:cNvSpPr/>
                        <p:nvPr/>
                      </p:nvSpPr>
                      <p:spPr>
                        <a:xfrm>
                          <a:off x="2103" y="2053"/>
                          <a:ext cx="90" cy="27"/>
                        </a:xfrm>
                        <a:prstGeom prst="line">
                          <a:avLst/>
                        </a:prstGeom>
                        <a:ln w="14288" cap="flat" cmpd="sng">
                          <a:solidFill>
                            <a:srgbClr val="000000"/>
                          </a:solidFill>
                          <a:prstDash val="solid"/>
                          <a:headEnd type="none" w="med" len="med"/>
                          <a:tailEnd type="none" w="med" len="med"/>
                        </a:ln>
                      </p:spPr>
                    </p:sp>
                  </p:grpSp>
                </p:grpSp>
              </p:grpSp>
            </p:grpSp>
          </p:grpSp>
        </p:grpSp>
        <p:grpSp>
          <p:nvGrpSpPr>
            <p:cNvPr id="2590834" name="组合 2590833"/>
            <p:cNvGrpSpPr/>
            <p:nvPr/>
          </p:nvGrpSpPr>
          <p:grpSpPr>
            <a:xfrm>
              <a:off x="2560" y="1526"/>
              <a:ext cx="411" cy="291"/>
              <a:chOff x="2560" y="1526"/>
              <a:chExt cx="411" cy="291"/>
            </a:xfrm>
          </p:grpSpPr>
          <p:sp>
            <p:nvSpPr>
              <p:cNvPr id="2590835" name="椭圆 2590834"/>
              <p:cNvSpPr/>
              <p:nvPr/>
            </p:nvSpPr>
            <p:spPr>
              <a:xfrm>
                <a:off x="2560" y="1526"/>
                <a:ext cx="30" cy="25"/>
              </a:xfrm>
              <a:prstGeom prst="ellipse">
                <a:avLst/>
              </a:prstGeom>
              <a:solidFill>
                <a:srgbClr val="008000"/>
              </a:solidFill>
              <a:ln w="9525">
                <a:noFill/>
              </a:ln>
            </p:spPr>
            <p:txBody>
              <a:bodyPr/>
              <a:p>
                <a:pPr eaLnBrk="1" hangingPunct="1">
                  <a:lnSpc>
                    <a:spcPct val="90000"/>
                  </a:lnSpc>
                </a:pPr>
                <a:endParaRPr lang="zh-CN" altLang="en-US" b="1">
                  <a:solidFill>
                    <a:srgbClr val="333399"/>
                  </a:solidFill>
                </a:endParaRPr>
              </a:p>
            </p:txBody>
          </p:sp>
          <p:sp>
            <p:nvSpPr>
              <p:cNvPr id="2590836" name="任意多边形 2590835"/>
              <p:cNvSpPr/>
              <p:nvPr/>
            </p:nvSpPr>
            <p:spPr>
              <a:xfrm>
                <a:off x="2564" y="1527"/>
                <a:ext cx="237" cy="165"/>
              </a:xfrm>
              <a:custGeom>
                <a:avLst/>
                <a:gdLst/>
                <a:ahLst/>
                <a:cxnLst/>
                <a:pathLst>
                  <a:path w="237" h="165">
                    <a:moveTo>
                      <a:pt x="18" y="0"/>
                    </a:moveTo>
                    <a:lnTo>
                      <a:pt x="237" y="139"/>
                    </a:lnTo>
                    <a:lnTo>
                      <a:pt x="212" y="165"/>
                    </a:lnTo>
                    <a:lnTo>
                      <a:pt x="0" y="20"/>
                    </a:lnTo>
                    <a:lnTo>
                      <a:pt x="18" y="0"/>
                    </a:lnTo>
                    <a:close/>
                  </a:path>
                </a:pathLst>
              </a:custGeom>
              <a:solidFill>
                <a:srgbClr val="008000"/>
              </a:solidFill>
              <a:ln w="9525">
                <a:noFill/>
              </a:ln>
            </p:spPr>
            <p:txBody>
              <a:bodyPr/>
              <a:p>
                <a:pPr eaLnBrk="1" hangingPunct="1">
                  <a:lnSpc>
                    <a:spcPct val="90000"/>
                  </a:lnSpc>
                </a:pPr>
                <a:endParaRPr lang="zh-CN" altLang="en-US" b="1">
                  <a:solidFill>
                    <a:srgbClr val="333399"/>
                  </a:solidFill>
                </a:endParaRPr>
              </a:p>
            </p:txBody>
          </p:sp>
          <p:sp>
            <p:nvSpPr>
              <p:cNvPr id="2590837" name="任意多边形 2590836"/>
              <p:cNvSpPr/>
              <p:nvPr/>
            </p:nvSpPr>
            <p:spPr>
              <a:xfrm>
                <a:off x="2772" y="1668"/>
                <a:ext cx="166" cy="127"/>
              </a:xfrm>
              <a:custGeom>
                <a:avLst/>
                <a:gdLst/>
                <a:ahLst/>
                <a:cxnLst/>
                <a:pathLst>
                  <a:path w="166" h="127">
                    <a:moveTo>
                      <a:pt x="27" y="0"/>
                    </a:moveTo>
                    <a:lnTo>
                      <a:pt x="166" y="86"/>
                    </a:lnTo>
                    <a:lnTo>
                      <a:pt x="138" y="127"/>
                    </a:lnTo>
                    <a:lnTo>
                      <a:pt x="0" y="23"/>
                    </a:lnTo>
                    <a:lnTo>
                      <a:pt x="27" y="0"/>
                    </a:lnTo>
                    <a:close/>
                  </a:path>
                </a:pathLst>
              </a:custGeom>
              <a:solidFill>
                <a:srgbClr val="0000FF"/>
              </a:solidFill>
              <a:ln w="9525">
                <a:noFill/>
              </a:ln>
            </p:spPr>
            <p:txBody>
              <a:bodyPr/>
              <a:p>
                <a:pPr eaLnBrk="1" hangingPunct="1">
                  <a:lnSpc>
                    <a:spcPct val="90000"/>
                  </a:lnSpc>
                </a:pPr>
                <a:endParaRPr lang="zh-CN" altLang="en-US" b="1">
                  <a:solidFill>
                    <a:srgbClr val="333399"/>
                  </a:solidFill>
                </a:endParaRPr>
              </a:p>
            </p:txBody>
          </p:sp>
          <p:sp>
            <p:nvSpPr>
              <p:cNvPr id="2590838" name="椭圆 2590837"/>
              <p:cNvSpPr/>
              <p:nvPr/>
            </p:nvSpPr>
            <p:spPr>
              <a:xfrm>
                <a:off x="2766" y="1664"/>
                <a:ext cx="43" cy="32"/>
              </a:xfrm>
              <a:prstGeom prst="ellipse">
                <a:avLst/>
              </a:prstGeom>
              <a:solidFill>
                <a:srgbClr val="0000FF"/>
              </a:solidFill>
              <a:ln w="9525">
                <a:noFill/>
              </a:ln>
            </p:spPr>
            <p:txBody>
              <a:bodyPr/>
              <a:p>
                <a:pPr eaLnBrk="1" hangingPunct="1">
                  <a:lnSpc>
                    <a:spcPct val="90000"/>
                  </a:lnSpc>
                </a:pPr>
                <a:endParaRPr lang="zh-CN" altLang="en-US" b="1">
                  <a:solidFill>
                    <a:srgbClr val="333399"/>
                  </a:solidFill>
                </a:endParaRPr>
              </a:p>
            </p:txBody>
          </p:sp>
          <p:sp>
            <p:nvSpPr>
              <p:cNvPr id="2590839" name="椭圆 2590838"/>
              <p:cNvSpPr/>
              <p:nvPr/>
            </p:nvSpPr>
            <p:spPr>
              <a:xfrm>
                <a:off x="2905" y="1750"/>
                <a:ext cx="66" cy="6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0840" name="椭圆 2590839"/>
              <p:cNvSpPr/>
              <p:nvPr/>
            </p:nvSpPr>
            <p:spPr>
              <a:xfrm>
                <a:off x="2915" y="1760"/>
                <a:ext cx="47" cy="48"/>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grpSp>
      <p:grpSp>
        <p:nvGrpSpPr>
          <p:cNvPr id="2590841" name="组合 2590840"/>
          <p:cNvGrpSpPr/>
          <p:nvPr/>
        </p:nvGrpSpPr>
        <p:grpSpPr>
          <a:xfrm>
            <a:off x="3259138" y="1628775"/>
            <a:ext cx="5040312" cy="996950"/>
            <a:chOff x="1917" y="709"/>
            <a:chExt cx="3176" cy="628"/>
          </a:xfrm>
        </p:grpSpPr>
        <p:sp>
          <p:nvSpPr>
            <p:cNvPr id="2590842" name="云形标注 2590841"/>
            <p:cNvSpPr/>
            <p:nvPr/>
          </p:nvSpPr>
          <p:spPr>
            <a:xfrm flipV="1">
              <a:off x="1917" y="709"/>
              <a:ext cx="3176" cy="628"/>
            </a:xfrm>
            <a:prstGeom prst="cloudCallout">
              <a:avLst>
                <a:gd name="adj1" fmla="val -41755"/>
                <a:gd name="adj2" fmla="val -114491"/>
              </a:avLst>
            </a:prstGeom>
            <a:solidFill>
              <a:srgbClr val="FAFAFA"/>
            </a:solidFill>
            <a:ln w="22225" cap="flat" cmpd="sng">
              <a:solidFill>
                <a:srgbClr val="00CCFF"/>
              </a:solidFill>
              <a:prstDash val="solid"/>
              <a:headEnd type="none" w="med" len="med"/>
              <a:tailEnd type="none" w="med" len="med"/>
            </a:ln>
          </p:spPr>
          <p:txBody>
            <a:bodyPr rot="10800000" anchor="ctr" anchorCtr="0"/>
            <a:p>
              <a:pPr algn="ctr" eaLnBrk="1" hangingPunct="1">
                <a:lnSpc>
                  <a:spcPct val="100000"/>
                </a:lnSpc>
              </a:pPr>
              <a:endParaRPr sz="4400" b="1" dirty="0">
                <a:solidFill>
                  <a:schemeClr val="tx1"/>
                </a:solidFill>
                <a:effectLst>
                  <a:outerShdw blurRad="38100" dist="38100" dir="2700000">
                    <a:srgbClr val="C0C0C0"/>
                  </a:outerShdw>
                </a:effectLst>
                <a:latin typeface="Times New Roman" panose="02020603050405020304" pitchFamily="18" charset="0"/>
                <a:ea typeface="黑体" panose="02010609060101010101" pitchFamily="49" charset="-122"/>
              </a:endParaRPr>
            </a:p>
          </p:txBody>
        </p:sp>
        <p:sp>
          <p:nvSpPr>
            <p:cNvPr id="2590843" name="文本框 2590842"/>
            <p:cNvSpPr txBox="1"/>
            <p:nvPr/>
          </p:nvSpPr>
          <p:spPr>
            <a:xfrm>
              <a:off x="2193" y="845"/>
              <a:ext cx="2853" cy="365"/>
            </a:xfrm>
            <a:prstGeom prst="rect">
              <a:avLst/>
            </a:prstGeom>
            <a:noFill/>
            <a:ln w="9525">
              <a:noFill/>
            </a:ln>
          </p:spPr>
          <p:txBody>
            <a:bodyPr>
              <a:spAutoFit/>
            </a:bodyPr>
            <a:p>
              <a:pPr eaLnBrk="1" hangingPunct="1">
                <a:lnSpc>
                  <a:spcPct val="100000"/>
                </a:lnSpc>
              </a:pPr>
              <a:r>
                <a:rPr lang="zh-CN" altLang="en-US" sz="32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什么是</a:t>
              </a:r>
              <a:r>
                <a:rPr lang="zh-CN" altLang="en-US" sz="3200" b="1">
                  <a:solidFill>
                    <a:srgbClr val="FF0000"/>
                  </a:solidFill>
                  <a:effectLst>
                    <a:outerShdw blurRad="38100" dist="38100" dir="2700000">
                      <a:srgbClr val="C0C0C0"/>
                    </a:outerShdw>
                  </a:effectLst>
                  <a:latin typeface="굴림" pitchFamily="34" charset="-127"/>
                  <a:ea typeface="굴림" pitchFamily="34" charset="-127"/>
                </a:rPr>
                <a:t>〞</a:t>
              </a:r>
              <a:r>
                <a:rPr lang="zh-CN" altLang="en-US" sz="3200" b="1" dirty="0">
                  <a:solidFill>
                    <a:srgbClr val="FF0000"/>
                  </a:solidFill>
                  <a:effectLst>
                    <a:outerShdw blurRad="38100" dist="38100" dir="2700000">
                      <a:srgbClr val="C0C0C0"/>
                    </a:outerShdw>
                  </a:effectLst>
                  <a:latin typeface="굴림" pitchFamily="34" charset="-127"/>
                  <a:ea typeface="楷体_GB2312" pitchFamily="49" charset="-122"/>
                </a:rPr>
                <a:t>中值滤波</a:t>
              </a:r>
              <a:r>
                <a:rPr lang="zh-CN" altLang="en-US" sz="3200" b="1">
                  <a:solidFill>
                    <a:srgbClr val="FF0000"/>
                  </a:solidFill>
                  <a:effectLst>
                    <a:outerShdw blurRad="38100" dist="38100" dir="2700000">
                      <a:srgbClr val="C0C0C0"/>
                    </a:outerShdw>
                  </a:effectLst>
                  <a:latin typeface="굴림" pitchFamily="34" charset="-127"/>
                  <a:ea typeface="굴림" pitchFamily="34" charset="-127"/>
                </a:rPr>
                <a:t>〞</a:t>
              </a:r>
              <a:r>
                <a:rPr lang="zh-CN" altLang="en-US" sz="1800" b="0">
                  <a:solidFill>
                    <a:schemeClr val="tx1"/>
                  </a:solidFill>
                  <a:effectLst>
                    <a:outerShdw blurRad="38100" dist="38100" dir="2700000">
                      <a:srgbClr val="C0C0C0"/>
                    </a:outerShdw>
                  </a:effectLst>
                  <a:latin typeface="굴림" pitchFamily="34" charset="-127"/>
                  <a:ea typeface="굴림" pitchFamily="34" charset="-127"/>
                </a:rPr>
                <a:t> </a:t>
              </a:r>
              <a:r>
                <a:rPr lang="zh-CN" altLang="en-US" sz="3200" b="1" dirty="0">
                  <a:solidFill>
                    <a:srgbClr val="FF0000"/>
                  </a:solidFill>
                  <a:effectLst>
                    <a:outerShdw blurRad="38100" dist="38100" dir="2700000">
                      <a:srgbClr val="C0C0C0"/>
                    </a:outerShdw>
                  </a:effectLst>
                  <a:latin typeface="Times New Roman" panose="02020603050405020304" pitchFamily="18" charset="0"/>
                  <a:ea typeface="黑体" panose="02010609060101010101" pitchFamily="49" charset="-122"/>
                </a:rPr>
                <a:t>？</a:t>
              </a:r>
              <a:endParaRPr lang="zh-CN" altLang="en-US" sz="3200" b="1" dirty="0">
                <a:solidFill>
                  <a:srgbClr val="FF0000"/>
                </a:solidFill>
                <a:effectLst>
                  <a:outerShdw blurRad="38100" dist="38100" dir="2700000">
                    <a:srgbClr val="C0C0C0"/>
                  </a:outerShdw>
                </a:effectLst>
                <a:latin typeface="Times New Roman" panose="02020603050405020304" pitchFamily="18" charset="0"/>
                <a:ea typeface="黑体" panose="02010609060101010101" pitchFamily="49" charset="-122"/>
              </a:endParaRPr>
            </a:p>
          </p:txBody>
        </p:sp>
      </p:grpSp>
      <p:sp>
        <p:nvSpPr>
          <p:cNvPr id="2590844" name="下箭头 2590843"/>
          <p:cNvSpPr/>
          <p:nvPr/>
        </p:nvSpPr>
        <p:spPr>
          <a:xfrm>
            <a:off x="5059363" y="3284538"/>
            <a:ext cx="936625" cy="1223962"/>
          </a:xfrm>
          <a:prstGeom prst="downArrow">
            <a:avLst>
              <a:gd name="adj1" fmla="val 50000"/>
              <a:gd name="adj2" fmla="val 32669"/>
            </a:avLst>
          </a:prstGeom>
          <a:solidFill>
            <a:schemeClr val="hlink"/>
          </a:solidFill>
          <a:ln w="9525" cap="flat" cmpd="sng">
            <a:solidFill>
              <a:schemeClr val="tx1"/>
            </a:solidFill>
            <a:prstDash val="solid"/>
            <a:miter/>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0845" name="矩形 2590844"/>
          <p:cNvSpPr/>
          <p:nvPr/>
        </p:nvSpPr>
        <p:spPr>
          <a:xfrm>
            <a:off x="484188" y="4795838"/>
            <a:ext cx="8278812" cy="1296987"/>
          </a:xfrm>
          <a:prstGeom prst="rect">
            <a:avLst/>
          </a:prstGeom>
          <a:solidFill>
            <a:schemeClr val="accent1"/>
          </a:solidFill>
          <a:ln w="9525" cap="flat" cmpd="sng">
            <a:solidFill>
              <a:schemeClr val="tx1"/>
            </a:solidFill>
            <a:prstDash val="solid"/>
            <a:miter/>
            <a:headEnd type="none" w="med" len="med"/>
            <a:tailEnd type="none" w="med" len="med"/>
          </a:ln>
          <a:effectLst>
            <a:outerShdw dist="107763" dir="2699999" algn="ctr" rotWithShape="0">
              <a:schemeClr val="bg2">
                <a:alpha val="50000"/>
              </a:schemeClr>
            </a:outerShdw>
          </a:effectLst>
        </p:spPr>
        <p:txBody>
          <a:bodyPr wrap="none" anchor="ctr" anchorCtr="0"/>
          <a:p>
            <a:pPr eaLnBrk="1" hangingPunct="1">
              <a:lnSpc>
                <a:spcPct val="100000"/>
              </a:lnSpc>
            </a:pPr>
            <a:r>
              <a:rPr lang="zh-CN" altLang="en-US" sz="2400" b="1" dirty="0">
                <a:solidFill>
                  <a:schemeClr val="tx1"/>
                </a:solidFill>
                <a:effectLst>
                  <a:outerShdw blurRad="38100" dist="38100" dir="2700000">
                    <a:srgbClr val="FFFFFF"/>
                  </a:outerShdw>
                </a:effectLst>
                <a:latin typeface="楷体_GB2312" pitchFamily="49" charset="-122"/>
                <a:ea typeface="楷体_GB2312" pitchFamily="49" charset="-122"/>
              </a:rPr>
              <a:t>中值滤波：对某一个被测量连续采样</a:t>
            </a:r>
            <a:r>
              <a:rPr lang="en-US" altLang="zh-CN" sz="2400" b="1" i="1">
                <a:solidFill>
                  <a:schemeClr val="tx1"/>
                </a:solidFill>
                <a:effectLst>
                  <a:outerShdw blurRad="38100" dist="38100" dir="2700000">
                    <a:srgbClr val="FFFFFF"/>
                  </a:outerShdw>
                </a:effectLst>
                <a:latin typeface="Times New Roman" panose="02020603050405020304" pitchFamily="18" charset="0"/>
                <a:ea typeface="楷体_GB2312" pitchFamily="49" charset="-122"/>
              </a:rPr>
              <a:t>n</a:t>
            </a:r>
            <a:r>
              <a:rPr lang="zh-CN" altLang="en-US" sz="2400" b="1" dirty="0">
                <a:solidFill>
                  <a:schemeClr val="tx1"/>
                </a:solidFill>
                <a:effectLst>
                  <a:outerShdw blurRad="38100" dist="38100" dir="2700000">
                    <a:srgbClr val="FFFFFF"/>
                  </a:outerShdw>
                </a:effectLst>
                <a:latin typeface="Times New Roman" panose="02020603050405020304" pitchFamily="18" charset="0"/>
                <a:ea typeface="楷体_GB2312" pitchFamily="49" charset="-122"/>
              </a:rPr>
              <a:t>（奇数）</a:t>
            </a:r>
            <a:r>
              <a:rPr lang="zh-CN" altLang="en-US" sz="2400" b="1" dirty="0">
                <a:solidFill>
                  <a:schemeClr val="tx1"/>
                </a:solidFill>
                <a:effectLst>
                  <a:outerShdw blurRad="38100" dist="38100" dir="2700000">
                    <a:srgbClr val="FFFFFF"/>
                  </a:outerShdw>
                </a:effectLst>
                <a:latin typeface="楷体_GB2312" pitchFamily="49" charset="-122"/>
                <a:ea typeface="楷体_GB2312" pitchFamily="49" charset="-122"/>
              </a:rPr>
              <a:t>次，把</a:t>
            </a:r>
            <a:r>
              <a:rPr lang="en-US" altLang="zh-CN" sz="2400" b="1" i="1">
                <a:solidFill>
                  <a:schemeClr val="tx1"/>
                </a:solidFill>
                <a:effectLst>
                  <a:outerShdw blurRad="38100" dist="38100" dir="2700000">
                    <a:srgbClr val="FFFFFF"/>
                  </a:outerShdw>
                </a:effectLst>
                <a:latin typeface="Times New Roman" panose="02020603050405020304" pitchFamily="18" charset="0"/>
                <a:ea typeface="楷体_GB2312" pitchFamily="49" charset="-122"/>
              </a:rPr>
              <a:t>n</a:t>
            </a:r>
            <a:r>
              <a:rPr lang="zh-CN" altLang="en-US" sz="2400" b="1" dirty="0">
                <a:solidFill>
                  <a:schemeClr val="tx1"/>
                </a:solidFill>
                <a:effectLst>
                  <a:outerShdw blurRad="38100" dist="38100" dir="2700000">
                    <a:srgbClr val="FFFFFF"/>
                  </a:outerShdw>
                </a:effectLst>
                <a:latin typeface="楷体_GB2312" pitchFamily="49" charset="-122"/>
                <a:ea typeface="楷体_GB2312" pitchFamily="49" charset="-122"/>
              </a:rPr>
              <a:t>个采</a:t>
            </a:r>
            <a:endParaRPr lang="zh-CN" altLang="en-US" sz="2400" b="1" dirty="0">
              <a:solidFill>
                <a:schemeClr val="tx1"/>
              </a:solidFill>
              <a:effectLst>
                <a:outerShdw blurRad="38100" dist="38100" dir="2700000">
                  <a:srgbClr val="FFFFFF"/>
                </a:outerShdw>
              </a:effectLst>
              <a:latin typeface="楷体_GB2312" pitchFamily="49" charset="-122"/>
              <a:ea typeface="楷体_GB2312" pitchFamily="49" charset="-122"/>
            </a:endParaRPr>
          </a:p>
          <a:p>
            <a:pPr eaLnBrk="1" hangingPunct="1">
              <a:lnSpc>
                <a:spcPct val="100000"/>
              </a:lnSpc>
            </a:pPr>
            <a:r>
              <a:rPr lang="zh-CN" altLang="en-US" sz="2400" b="1" dirty="0">
                <a:solidFill>
                  <a:schemeClr val="tx1"/>
                </a:solidFill>
                <a:effectLst>
                  <a:outerShdw blurRad="38100" dist="38100" dir="2700000">
                    <a:srgbClr val="FFFFFF"/>
                  </a:outerShdw>
                </a:effectLst>
                <a:latin typeface="楷体_GB2312" pitchFamily="49" charset="-122"/>
                <a:ea typeface="楷体_GB2312" pitchFamily="49" charset="-122"/>
              </a:rPr>
              <a:t>样值从小到大排队，</a:t>
            </a:r>
            <a:r>
              <a:rPr lang="zh-CN" altLang="en-US" sz="2400" b="1" dirty="0">
                <a:solidFill>
                  <a:schemeClr val="tx1"/>
                </a:solidFill>
                <a:effectLst>
                  <a:outerShdw blurRad="38100" dist="38100" dir="2700000">
                    <a:srgbClr val="FFFFFF"/>
                  </a:outerShdw>
                </a:effectLst>
                <a:latin typeface="Arial" panose="020B0604020202020204" pitchFamily="34" charset="0"/>
                <a:ea typeface="楷体_GB2312" pitchFamily="49" charset="-122"/>
              </a:rPr>
              <a:t>再取中间值作为本次采样值。</a:t>
            </a:r>
            <a:endParaRPr lang="zh-CN" altLang="en-US" sz="2400" b="1" dirty="0">
              <a:solidFill>
                <a:schemeClr val="tx1"/>
              </a:solidFill>
              <a:effectLst>
                <a:outerShdw blurRad="38100" dist="38100" dir="2700000">
                  <a:srgbClr val="FFFFFF"/>
                </a:outerShdw>
              </a:effectLst>
              <a:latin typeface="Arial" panose="020B0604020202020204" pitchFamily="34" charset="0"/>
              <a:ea typeface="楷体_GB2312" pitchFamily="49" charset="-122"/>
            </a:endParaRPr>
          </a:p>
        </p:txBody>
      </p:sp>
      <p:sp>
        <p:nvSpPr>
          <p:cNvPr id="2590847" name="文本框 2590846"/>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0722"/>
                                        </p:tgtEl>
                                        <p:attrNameLst>
                                          <p:attrName>style.visibility</p:attrName>
                                        </p:attrNameLst>
                                      </p:cBhvr>
                                      <p:to>
                                        <p:strVal val="visible"/>
                                      </p:to>
                                    </p:set>
                                    <p:animEffect transition="in" filter="dissolve">
                                      <p:cBhvr>
                                        <p:cTn id="7" dur="500"/>
                                        <p:tgtEl>
                                          <p:spTgt spid="259072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590723"/>
                                        </p:tgtEl>
                                        <p:attrNameLst>
                                          <p:attrName>style.visibility</p:attrName>
                                        </p:attrNameLst>
                                      </p:cBhvr>
                                      <p:to>
                                        <p:strVal val="visible"/>
                                      </p:to>
                                    </p:set>
                                    <p:anim calcmode="lin" valueType="num">
                                      <p:cBhvr additive="base">
                                        <p:cTn id="12" dur="500" fill="hold"/>
                                        <p:tgtEl>
                                          <p:spTgt spid="2590723"/>
                                        </p:tgtEl>
                                        <p:attrNameLst>
                                          <p:attrName>ppt_x</p:attrName>
                                        </p:attrNameLst>
                                      </p:cBhvr>
                                      <p:tavLst>
                                        <p:tav tm="0">
                                          <p:val>
                                            <p:strVal val="0-#ppt_w/2"/>
                                          </p:val>
                                        </p:tav>
                                        <p:tav tm="100000">
                                          <p:val>
                                            <p:strVal val="#ppt_x"/>
                                          </p:val>
                                        </p:tav>
                                      </p:tavLst>
                                    </p:anim>
                                    <p:anim calcmode="lin" valueType="num">
                                      <p:cBhvr additive="base">
                                        <p:cTn id="13" dur="500" fill="hold"/>
                                        <p:tgtEl>
                                          <p:spTgt spid="259072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1" name="push.wav"/>
                                        </p:tgtEl>
                                      </p:cMediaNode>
                                    </p:audio>
                                  </p:subTnLst>
                                </p:cTn>
                              </p:par>
                              <p:par>
                                <p:cTn id="14" presetID="22" presetClass="entr" presetSubtype="4" fill="hold" nodeType="withEffect">
                                  <p:stCondLst>
                                    <p:cond delay="0"/>
                                  </p:stCondLst>
                                  <p:childTnLst>
                                    <p:set>
                                      <p:cBhvr>
                                        <p:cTn id="15" dur="1" fill="hold">
                                          <p:stCondLst>
                                            <p:cond delay="0"/>
                                          </p:stCondLst>
                                        </p:cTn>
                                        <p:tgtEl>
                                          <p:spTgt spid="2590841"/>
                                        </p:tgtEl>
                                        <p:attrNameLst>
                                          <p:attrName>style.visibility</p:attrName>
                                        </p:attrNameLst>
                                      </p:cBhvr>
                                      <p:to>
                                        <p:strVal val="visible"/>
                                      </p:to>
                                    </p:set>
                                    <p:animEffect transition="in" filter="wipe(down)">
                                      <p:cBhvr>
                                        <p:cTn id="16" dur="500"/>
                                        <p:tgtEl>
                                          <p:spTgt spid="2590841"/>
                                        </p:tgtEl>
                                      </p:cBhvr>
                                    </p:animEffect>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nodeType="clickEffect">
                                  <p:stCondLst>
                                    <p:cond delay="0"/>
                                  </p:stCondLst>
                                  <p:childTnLst>
                                    <p:set>
                                      <p:cBhvr>
                                        <p:cTn id="20" dur="1" fill="hold">
                                          <p:stCondLst>
                                            <p:cond delay="0"/>
                                          </p:stCondLst>
                                        </p:cTn>
                                        <p:tgtEl>
                                          <p:spTgt spid="2590844"/>
                                        </p:tgtEl>
                                        <p:attrNameLst>
                                          <p:attrName>style.visibility</p:attrName>
                                        </p:attrNameLst>
                                      </p:cBhvr>
                                      <p:to>
                                        <p:strVal val="visible"/>
                                      </p:to>
                                    </p:set>
                                    <p:animEffect transition="in" filter="fade">
                                      <p:cBhvr>
                                        <p:cTn id="21" dur="500"/>
                                        <p:tgtEl>
                                          <p:spTgt spid="2590844"/>
                                        </p:tgtEl>
                                      </p:cBhvr>
                                    </p:animEffect>
                                    <p:anim calcmode="lin" valueType="num">
                                      <p:cBhvr>
                                        <p:cTn id="22" dur="500" fill="hold"/>
                                        <p:tgtEl>
                                          <p:spTgt spid="2590844"/>
                                        </p:tgtEl>
                                        <p:attrNameLst>
                                          <p:attrName>ppt_x</p:attrName>
                                        </p:attrNameLst>
                                      </p:cBhvr>
                                      <p:tavLst>
                                        <p:tav tm="0">
                                          <p:val>
                                            <p:strVal val="#ppt_x"/>
                                          </p:val>
                                        </p:tav>
                                        <p:tav tm="100000">
                                          <p:val>
                                            <p:strVal val="#ppt_x"/>
                                          </p:val>
                                        </p:tav>
                                      </p:tavLst>
                                    </p:anim>
                                    <p:anim calcmode="lin" valueType="num">
                                      <p:cBhvr>
                                        <p:cTn id="23" dur="500" fill="hold"/>
                                        <p:tgtEl>
                                          <p:spTgt spid="259084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590845"/>
                                        </p:tgtEl>
                                        <p:attrNameLst>
                                          <p:attrName>style.visibility</p:attrName>
                                        </p:attrNameLst>
                                      </p:cBhvr>
                                      <p:to>
                                        <p:strVal val="visible"/>
                                      </p:to>
                                    </p:set>
                                    <p:animEffect transition="in" filter="dissolve">
                                      <p:cBhvr>
                                        <p:cTn id="28" dur="500"/>
                                        <p:tgtEl>
                                          <p:spTgt spid="25908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0722" grpId="0"/>
      <p:bldP spid="2590845" grpId="0" bldLvl="0" animBg="1"/>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591746" name="图片 2591745"/>
          <p:cNvPicPr>
            <a:picLocks noChangeAspect="1"/>
          </p:cNvPicPr>
          <p:nvPr/>
        </p:nvPicPr>
        <p:blipFill>
          <a:blip r:embed="rId1"/>
          <a:stretch>
            <a:fillRect/>
          </a:stretch>
        </p:blipFill>
        <p:spPr>
          <a:xfrm>
            <a:off x="6462713" y="765175"/>
            <a:ext cx="2357437" cy="5435600"/>
          </a:xfrm>
          <a:prstGeom prst="rect">
            <a:avLst/>
          </a:prstGeom>
          <a:noFill/>
          <a:ln w="9525">
            <a:noFill/>
          </a:ln>
        </p:spPr>
      </p:pic>
      <p:sp>
        <p:nvSpPr>
          <p:cNvPr id="2591748" name="矩形 2591747"/>
          <p:cNvSpPr/>
          <p:nvPr/>
        </p:nvSpPr>
        <p:spPr>
          <a:xfrm>
            <a:off x="396875" y="1273175"/>
            <a:ext cx="5738813" cy="946150"/>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入口条件：</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次采样值存在一维数组</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2800" b="1">
                <a:solidFill>
                  <a:schemeClr val="accent2"/>
                </a:solidFill>
                <a:effectLst>
                  <a:outerShdw blurRad="38100" dist="38100" dir="2700000">
                    <a:srgbClr val="C0C0C0"/>
                  </a:outerShdw>
                </a:effectLst>
                <a:latin typeface="楷体_GB2312" pitchFamily="49" charset="-122"/>
                <a:ea typeface="楷体_GB2312" pitchFamily="49" charset="-122"/>
              </a:rPr>
              <a:t>          </a:t>
            </a:r>
            <a:r>
              <a:rPr lang="en-US" altLang="zh-CN" sz="2800" b="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S(</a:t>
            </a:r>
            <a:r>
              <a:rPr lang="en-US" altLang="zh-CN" sz="2800" b="1" i="1" err="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中。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1749" name="矩形 2591748"/>
          <p:cNvSpPr/>
          <p:nvPr/>
        </p:nvSpPr>
        <p:spPr>
          <a:xfrm>
            <a:off x="388938" y="2627313"/>
            <a:ext cx="6054725" cy="946150"/>
          </a:xfrm>
          <a:prstGeom prst="rect">
            <a:avLst/>
          </a:prstGeom>
          <a:noFill/>
          <a:ln w="9525">
            <a:noFill/>
          </a:ln>
        </p:spPr>
        <p:txBody>
          <a:bodyPr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出口条件：滤波后的采样值存于</a:t>
            </a: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DA</a:t>
            </a:r>
            <a:endPar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endParaRPr>
          </a:p>
          <a:p>
            <a:pPr eaLnBrk="1" hangingPunct="1">
              <a:lnSpc>
                <a:spcPct val="100000"/>
              </a:lnSpc>
            </a:pPr>
            <a:r>
              <a:rPr lang="en-US" altLang="zh-CN" sz="2800" b="1">
                <a:solidFill>
                  <a:srgbClr val="3333FF"/>
                </a:solidFill>
                <a:effectLst>
                  <a:outerShdw blurRad="38100" dist="38100" dir="2700000">
                    <a:srgbClr val="C0C0C0"/>
                  </a:outerShdw>
                </a:effectLst>
                <a:latin typeface="Times New Roman" panose="02020603050405020304" pitchFamily="18" charset="0"/>
                <a:ea typeface="楷体_GB2312" pitchFamily="49" charset="-122"/>
              </a:rPr>
              <a:t>                    </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变量中。 </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91750" name="矩形 2591749"/>
          <p:cNvSpPr/>
          <p:nvPr/>
        </p:nvSpPr>
        <p:spPr>
          <a:xfrm>
            <a:off x="396875" y="4437063"/>
            <a:ext cx="5110163" cy="946150"/>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28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中值滤波过程程序</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defTabSz="914400" eaLnBrk="1" hangingPunct="1">
              <a:lnSpc>
                <a:spcPct val="100000"/>
              </a:lnSpc>
              <a:tabLst>
                <a:tab pos="-1295400" algn="l"/>
              </a:tabLst>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Quick BASIC</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）清单如下：</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1752" name="文本框 2591751"/>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1748">
                                            <p:txEl>
                                              <p:charRg st="0" end="17"/>
                                            </p:txEl>
                                          </p:spTgt>
                                        </p:tgtEl>
                                        <p:attrNameLst>
                                          <p:attrName>style.visibility</p:attrName>
                                        </p:attrNameLst>
                                      </p:cBhvr>
                                      <p:to>
                                        <p:strVal val="visible"/>
                                      </p:to>
                                    </p:set>
                                    <p:animEffect transition="in" filter="dissolve">
                                      <p:cBhvr>
                                        <p:cTn id="7" dur="500"/>
                                        <p:tgtEl>
                                          <p:spTgt spid="2591748">
                                            <p:txEl>
                                              <p:charRg st="0" end="17"/>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91748">
                                            <p:txEl>
                                              <p:charRg st="17" end="35"/>
                                            </p:txEl>
                                          </p:spTgt>
                                        </p:tgtEl>
                                        <p:attrNameLst>
                                          <p:attrName>style.visibility</p:attrName>
                                        </p:attrNameLst>
                                      </p:cBhvr>
                                      <p:to>
                                        <p:strVal val="visible"/>
                                      </p:to>
                                    </p:set>
                                    <p:animEffect transition="in" filter="dissolve">
                                      <p:cBhvr>
                                        <p:cTn id="10" dur="500"/>
                                        <p:tgtEl>
                                          <p:spTgt spid="2591748">
                                            <p:txEl>
                                              <p:charRg st="17" end="3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591749">
                                            <p:txEl>
                                              <p:charRg st="0" end="17"/>
                                            </p:txEl>
                                          </p:spTgt>
                                        </p:tgtEl>
                                        <p:attrNameLst>
                                          <p:attrName>style.visibility</p:attrName>
                                        </p:attrNameLst>
                                      </p:cBhvr>
                                      <p:to>
                                        <p:strVal val="visible"/>
                                      </p:to>
                                    </p:set>
                                    <p:animEffect transition="in" filter="dissolve">
                                      <p:cBhvr>
                                        <p:cTn id="15" dur="500"/>
                                        <p:tgtEl>
                                          <p:spTgt spid="2591749">
                                            <p:txEl>
                                              <p:charRg st="0" end="17"/>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591749">
                                            <p:txEl>
                                              <p:charRg st="17" end="43"/>
                                            </p:txEl>
                                          </p:spTgt>
                                        </p:tgtEl>
                                        <p:attrNameLst>
                                          <p:attrName>style.visibility</p:attrName>
                                        </p:attrNameLst>
                                      </p:cBhvr>
                                      <p:to>
                                        <p:strVal val="visible"/>
                                      </p:to>
                                    </p:set>
                                    <p:animEffect transition="in" filter="dissolve">
                                      <p:cBhvr>
                                        <p:cTn id="18" dur="500"/>
                                        <p:tgtEl>
                                          <p:spTgt spid="2591749">
                                            <p:txEl>
                                              <p:charRg st="17" end="4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591750">
                                            <p:txEl>
                                              <p:charRg st="0" end="13"/>
                                            </p:txEl>
                                          </p:spTgt>
                                        </p:tgtEl>
                                        <p:attrNameLst>
                                          <p:attrName>style.visibility</p:attrName>
                                        </p:attrNameLst>
                                      </p:cBhvr>
                                      <p:to>
                                        <p:strVal val="visible"/>
                                      </p:to>
                                    </p:set>
                                    <p:animEffect transition="in" filter="dissolve">
                                      <p:cBhvr>
                                        <p:cTn id="23" dur="500"/>
                                        <p:tgtEl>
                                          <p:spTgt spid="2591750">
                                            <p:txEl>
                                              <p:charRg st="0" end="13"/>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591750">
                                            <p:txEl>
                                              <p:charRg st="13" end="32"/>
                                            </p:txEl>
                                          </p:spTgt>
                                        </p:tgtEl>
                                        <p:attrNameLst>
                                          <p:attrName>style.visibility</p:attrName>
                                        </p:attrNameLst>
                                      </p:cBhvr>
                                      <p:to>
                                        <p:strVal val="visible"/>
                                      </p:to>
                                    </p:set>
                                    <p:animEffect transition="in" filter="dissolve">
                                      <p:cBhvr>
                                        <p:cTn id="26" dur="500"/>
                                        <p:tgtEl>
                                          <p:spTgt spid="2591750">
                                            <p:txEl>
                                              <p:charRg st="13" end="3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1748" grpId="0" uiExpand="1" build="p"/>
      <p:bldP spid="2591749" grpId="0" uiExpand="1" build="p"/>
      <p:bldP spid="2591750" grpId="0" uiExpand="1" build="p"/>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2770" name="矩形 2592769"/>
          <p:cNvSpPr/>
          <p:nvPr/>
        </p:nvSpPr>
        <p:spPr>
          <a:xfrm>
            <a:off x="396875" y="592138"/>
            <a:ext cx="8135938" cy="5732462"/>
          </a:xfrm>
          <a:prstGeom prst="rect">
            <a:avLst/>
          </a:prstGeom>
          <a:noFill/>
          <a:ln w="9525">
            <a:noFill/>
          </a:ln>
        </p:spPr>
        <p:txBody>
          <a:bodyPr anchor="ctr" anchorCtr="0">
            <a:spAutoFit/>
          </a:bodyPr>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SUB  ZHOZI ( N, S( ), DA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FOR  I = 1  TO  N</a:t>
            </a: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FOR  J = I+1  TO  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IF  S(I) &lt;= S(J)  THEN  20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T = S(I)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S(I) = S(J)</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S(J) = T</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20	    		NEXT  J</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NEXT  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DA = S(INT(N / 2 + 0.5))</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2700"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END  SUB</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92772" name="文本框 2592771"/>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3794" name="矩形 2593793"/>
          <p:cNvSpPr/>
          <p:nvPr/>
        </p:nvSpPr>
        <p:spPr>
          <a:xfrm>
            <a:off x="684213" y="2562225"/>
            <a:ext cx="2041525" cy="579438"/>
          </a:xfrm>
          <a:prstGeom prst="rect">
            <a:avLst/>
          </a:prstGeom>
          <a:noFill/>
          <a:ln w="9525">
            <a:noFill/>
          </a:ln>
        </p:spPr>
        <p:txBody>
          <a:bodyPr wrap="none" anchor="t"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中值滤波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93795" name="左大括号 2593794"/>
          <p:cNvSpPr/>
          <p:nvPr/>
        </p:nvSpPr>
        <p:spPr>
          <a:xfrm>
            <a:off x="2557463" y="1989138"/>
            <a:ext cx="142875" cy="1727200"/>
          </a:xfrm>
          <a:prstGeom prst="leftBrace">
            <a:avLst>
              <a:gd name="adj1" fmla="val 100740"/>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3796" name="矩形 2593795"/>
          <p:cNvSpPr/>
          <p:nvPr/>
        </p:nvSpPr>
        <p:spPr>
          <a:xfrm>
            <a:off x="2844800" y="1701800"/>
            <a:ext cx="5975350" cy="579438"/>
          </a:xfrm>
          <a:prstGeom prst="rect">
            <a:avLst/>
          </a:prstGeom>
          <a:noFill/>
          <a:ln w="9525">
            <a:noFill/>
          </a:ln>
        </p:spPr>
        <p:txBody>
          <a:bodyPr>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适宜：去除脉动性质的干扰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93797" name="矩形 2593796"/>
          <p:cNvSpPr/>
          <p:nvPr/>
        </p:nvSpPr>
        <p:spPr>
          <a:xfrm>
            <a:off x="2844800" y="3370263"/>
            <a:ext cx="6046788" cy="1066800"/>
          </a:xfrm>
          <a:prstGeom prst="rect">
            <a:avLst/>
          </a:prstGeom>
          <a:noFill/>
          <a:ln w="9525">
            <a:noFill/>
          </a:ln>
        </p:spPr>
        <p:txBody>
          <a:bodyPr>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不适宜：快速变化的过程参数</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               如流量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93799" name="文本框 2593798"/>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3794"/>
                                        </p:tgtEl>
                                        <p:attrNameLst>
                                          <p:attrName>style.visibility</p:attrName>
                                        </p:attrNameLst>
                                      </p:cBhvr>
                                      <p:to>
                                        <p:strVal val="visible"/>
                                      </p:to>
                                    </p:set>
                                    <p:animEffect transition="in" filter="dissolve">
                                      <p:cBhvr>
                                        <p:cTn id="7" dur="500"/>
                                        <p:tgtEl>
                                          <p:spTgt spid="259379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593795"/>
                                        </p:tgtEl>
                                        <p:attrNameLst>
                                          <p:attrName>style.visibility</p:attrName>
                                        </p:attrNameLst>
                                      </p:cBhvr>
                                      <p:to>
                                        <p:strVal val="visible"/>
                                      </p:to>
                                    </p:set>
                                    <p:animEffect transition="in" filter="wipe(up)">
                                      <p:cBhvr>
                                        <p:cTn id="12" dur="500"/>
                                        <p:tgtEl>
                                          <p:spTgt spid="259379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93796"/>
                                        </p:tgtEl>
                                        <p:attrNameLst>
                                          <p:attrName>style.visibility</p:attrName>
                                        </p:attrNameLst>
                                      </p:cBhvr>
                                      <p:to>
                                        <p:strVal val="visible"/>
                                      </p:to>
                                    </p:set>
                                    <p:animEffect transition="in" filter="wipe(left)">
                                      <p:cBhvr>
                                        <p:cTn id="17" dur="500"/>
                                        <p:tgtEl>
                                          <p:spTgt spid="259379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93797">
                                            <p:txEl>
                                              <p:charRg st="0" end="14"/>
                                            </p:txEl>
                                          </p:spTgt>
                                        </p:tgtEl>
                                        <p:attrNameLst>
                                          <p:attrName>style.visibility</p:attrName>
                                        </p:attrNameLst>
                                      </p:cBhvr>
                                      <p:to>
                                        <p:strVal val="visible"/>
                                      </p:to>
                                    </p:set>
                                    <p:animEffect transition="in" filter="wipe(left)">
                                      <p:cBhvr>
                                        <p:cTn id="22" dur="500"/>
                                        <p:tgtEl>
                                          <p:spTgt spid="2593797">
                                            <p:txEl>
                                              <p:charRg st="0" end="14"/>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593797">
                                            <p:txEl>
                                              <p:charRg st="14" end="37"/>
                                            </p:txEl>
                                          </p:spTgt>
                                        </p:tgtEl>
                                        <p:attrNameLst>
                                          <p:attrName>style.visibility</p:attrName>
                                        </p:attrNameLst>
                                      </p:cBhvr>
                                      <p:to>
                                        <p:strVal val="visible"/>
                                      </p:to>
                                    </p:set>
                                    <p:animEffect transition="in" filter="wipe(left)">
                                      <p:cBhvr>
                                        <p:cTn id="25" dur="500"/>
                                        <p:tgtEl>
                                          <p:spTgt spid="2593797">
                                            <p:txEl>
                                              <p:charRg st="14" end="3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3794" grpId="0"/>
      <p:bldP spid="2593796" grpId="0"/>
      <p:bldP spid="2593797" grpId="0" uiExpand="1" build="p"/>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4818" name="矩形 2594817"/>
          <p:cNvSpPr/>
          <p:nvPr/>
        </p:nvSpPr>
        <p:spPr>
          <a:xfrm>
            <a:off x="755650" y="908050"/>
            <a:ext cx="6302375" cy="579438"/>
          </a:xfrm>
          <a:prstGeom prst="rect">
            <a:avLst/>
          </a:prstGeom>
          <a:noFill/>
          <a:ln w="9525">
            <a:noFill/>
          </a:ln>
        </p:spPr>
        <p:txBody>
          <a:bodyPr wrap="none" anchor="ctr" anchorCtr="0">
            <a:spAutoFit/>
          </a:bodyPr>
          <a:p>
            <a:pPr eaLnBrk="1" hangingPunct="1">
              <a:lnSpc>
                <a:spcPct val="100000"/>
              </a:lnSpc>
            </a:pPr>
            <a:r>
              <a:rPr lang="en-US" altLang="zh-CN" sz="3200" b="1">
                <a:solidFill>
                  <a:schemeClr val="accent2"/>
                </a:solidFill>
                <a:effectLst>
                  <a:outerShdw blurRad="38100" dist="38100" dir="2700000">
                    <a:srgbClr val="C0C0C0"/>
                  </a:outerShdw>
                </a:effectLst>
                <a:latin typeface="Arial Black" panose="020B0A04020102020204" pitchFamily="34" charset="0"/>
                <a:ea typeface="楷体_GB2312" pitchFamily="49" charset="-122"/>
              </a:rPr>
              <a:t>2.</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算术平均值法：应用极其广泛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pSp>
        <p:nvGrpSpPr>
          <p:cNvPr id="2594819" name="组合 2594818"/>
          <p:cNvGrpSpPr/>
          <p:nvPr/>
        </p:nvGrpSpPr>
        <p:grpSpPr>
          <a:xfrm>
            <a:off x="1670050" y="2690813"/>
            <a:ext cx="1871663" cy="1800225"/>
            <a:chOff x="1246" y="1102"/>
            <a:chExt cx="1725" cy="1874"/>
          </a:xfrm>
        </p:grpSpPr>
        <p:grpSp>
          <p:nvGrpSpPr>
            <p:cNvPr id="2594820" name="组合 2594819"/>
            <p:cNvGrpSpPr/>
            <p:nvPr/>
          </p:nvGrpSpPr>
          <p:grpSpPr>
            <a:xfrm>
              <a:off x="1246" y="1102"/>
              <a:ext cx="1407" cy="1874"/>
              <a:chOff x="1246" y="1102"/>
              <a:chExt cx="1407" cy="1874"/>
            </a:xfrm>
          </p:grpSpPr>
          <p:grpSp>
            <p:nvGrpSpPr>
              <p:cNvPr id="2594821" name="组合 2594820"/>
              <p:cNvGrpSpPr/>
              <p:nvPr/>
            </p:nvGrpSpPr>
            <p:grpSpPr>
              <a:xfrm>
                <a:off x="1504" y="1102"/>
                <a:ext cx="448" cy="666"/>
                <a:chOff x="1504" y="1102"/>
                <a:chExt cx="448" cy="666"/>
              </a:xfrm>
            </p:grpSpPr>
            <p:grpSp>
              <p:nvGrpSpPr>
                <p:cNvPr id="2594822" name="组合 2594821"/>
                <p:cNvGrpSpPr/>
                <p:nvPr/>
              </p:nvGrpSpPr>
              <p:grpSpPr>
                <a:xfrm>
                  <a:off x="1557" y="1399"/>
                  <a:ext cx="395" cy="369"/>
                  <a:chOff x="1557" y="1399"/>
                  <a:chExt cx="395" cy="369"/>
                </a:xfrm>
              </p:grpSpPr>
              <p:grpSp>
                <p:nvGrpSpPr>
                  <p:cNvPr id="2594823" name="组合 2594822"/>
                  <p:cNvGrpSpPr/>
                  <p:nvPr/>
                </p:nvGrpSpPr>
                <p:grpSpPr>
                  <a:xfrm>
                    <a:off x="1585" y="1411"/>
                    <a:ext cx="367" cy="357"/>
                    <a:chOff x="1585" y="1411"/>
                    <a:chExt cx="367" cy="357"/>
                  </a:xfrm>
                </p:grpSpPr>
                <p:grpSp>
                  <p:nvGrpSpPr>
                    <p:cNvPr id="2594824" name="组合 2594823"/>
                    <p:cNvGrpSpPr/>
                    <p:nvPr/>
                  </p:nvGrpSpPr>
                  <p:grpSpPr>
                    <a:xfrm>
                      <a:off x="1585" y="1411"/>
                      <a:ext cx="367" cy="357"/>
                      <a:chOff x="1585" y="1411"/>
                      <a:chExt cx="367" cy="357"/>
                    </a:xfrm>
                  </p:grpSpPr>
                  <p:grpSp>
                    <p:nvGrpSpPr>
                      <p:cNvPr id="2594825" name="组合 2594824"/>
                      <p:cNvGrpSpPr/>
                      <p:nvPr/>
                    </p:nvGrpSpPr>
                    <p:grpSpPr>
                      <a:xfrm>
                        <a:off x="1585" y="1411"/>
                        <a:ext cx="367" cy="357"/>
                        <a:chOff x="1585" y="1411"/>
                        <a:chExt cx="367" cy="357"/>
                      </a:xfrm>
                    </p:grpSpPr>
                    <p:sp>
                      <p:nvSpPr>
                        <p:cNvPr id="2594826" name="任意多边形 2594825"/>
                        <p:cNvSpPr/>
                        <p:nvPr/>
                      </p:nvSpPr>
                      <p:spPr>
                        <a:xfrm>
                          <a:off x="1619" y="1411"/>
                          <a:ext cx="327" cy="357"/>
                        </a:xfrm>
                        <a:custGeom>
                          <a:avLst/>
                          <a:gdLst/>
                          <a:ahLst/>
                          <a:cxnLst/>
                          <a:pathLst>
                            <a:path w="327" h="357">
                              <a:moveTo>
                                <a:pt x="281" y="27"/>
                              </a:moveTo>
                              <a:lnTo>
                                <a:pt x="274" y="17"/>
                              </a:lnTo>
                              <a:lnTo>
                                <a:pt x="255" y="0"/>
                              </a:lnTo>
                              <a:lnTo>
                                <a:pt x="144" y="9"/>
                              </a:lnTo>
                              <a:lnTo>
                                <a:pt x="45" y="90"/>
                              </a:lnTo>
                              <a:lnTo>
                                <a:pt x="0" y="206"/>
                              </a:lnTo>
                              <a:lnTo>
                                <a:pt x="16" y="231"/>
                              </a:lnTo>
                              <a:lnTo>
                                <a:pt x="64" y="283"/>
                              </a:lnTo>
                              <a:lnTo>
                                <a:pt x="63" y="293"/>
                              </a:lnTo>
                              <a:lnTo>
                                <a:pt x="65" y="304"/>
                              </a:lnTo>
                              <a:lnTo>
                                <a:pt x="72" y="311"/>
                              </a:lnTo>
                              <a:lnTo>
                                <a:pt x="82" y="318"/>
                              </a:lnTo>
                              <a:lnTo>
                                <a:pt x="92" y="325"/>
                              </a:lnTo>
                              <a:lnTo>
                                <a:pt x="102" y="331"/>
                              </a:lnTo>
                              <a:lnTo>
                                <a:pt x="114" y="337"/>
                              </a:lnTo>
                              <a:lnTo>
                                <a:pt x="126" y="343"/>
                              </a:lnTo>
                              <a:lnTo>
                                <a:pt x="138" y="346"/>
                              </a:lnTo>
                              <a:lnTo>
                                <a:pt x="154" y="351"/>
                              </a:lnTo>
                              <a:lnTo>
                                <a:pt x="168" y="354"/>
                              </a:lnTo>
                              <a:lnTo>
                                <a:pt x="182" y="357"/>
                              </a:lnTo>
                              <a:lnTo>
                                <a:pt x="195" y="353"/>
                              </a:lnTo>
                              <a:lnTo>
                                <a:pt x="203" y="350"/>
                              </a:lnTo>
                              <a:lnTo>
                                <a:pt x="213" y="341"/>
                              </a:lnTo>
                              <a:lnTo>
                                <a:pt x="220" y="336"/>
                              </a:lnTo>
                              <a:lnTo>
                                <a:pt x="228" y="341"/>
                              </a:lnTo>
                              <a:lnTo>
                                <a:pt x="238" y="346"/>
                              </a:lnTo>
                              <a:lnTo>
                                <a:pt x="255" y="349"/>
                              </a:lnTo>
                              <a:lnTo>
                                <a:pt x="267" y="344"/>
                              </a:lnTo>
                              <a:lnTo>
                                <a:pt x="276" y="336"/>
                              </a:lnTo>
                              <a:lnTo>
                                <a:pt x="283" y="326"/>
                              </a:lnTo>
                              <a:lnTo>
                                <a:pt x="288" y="312"/>
                              </a:lnTo>
                              <a:lnTo>
                                <a:pt x="327" y="259"/>
                              </a:lnTo>
                              <a:lnTo>
                                <a:pt x="292" y="185"/>
                              </a:lnTo>
                              <a:lnTo>
                                <a:pt x="281" y="27"/>
                              </a:lnTo>
                              <a:close/>
                            </a:path>
                          </a:pathLst>
                        </a:cu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4827" name="椭圆 2594826"/>
                        <p:cNvSpPr/>
                        <p:nvPr/>
                      </p:nvSpPr>
                      <p:spPr>
                        <a:xfrm>
                          <a:off x="1585" y="1572"/>
                          <a:ext cx="72" cy="7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4828" name="椭圆 2594827"/>
                        <p:cNvSpPr/>
                        <p:nvPr/>
                      </p:nvSpPr>
                      <p:spPr>
                        <a:xfrm>
                          <a:off x="1638" y="1611"/>
                          <a:ext cx="83" cy="84"/>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4829" name="椭圆 2594828"/>
                        <p:cNvSpPr/>
                        <p:nvPr/>
                      </p:nvSpPr>
                      <p:spPr>
                        <a:xfrm>
                          <a:off x="1844" y="1613"/>
                          <a:ext cx="108" cy="11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4830" name="椭圆 2594829"/>
                        <p:cNvSpPr/>
                        <p:nvPr/>
                      </p:nvSpPr>
                      <p:spPr>
                        <a:xfrm>
                          <a:off x="1819" y="1672"/>
                          <a:ext cx="92" cy="9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grpSp>
                  <p:grpSp>
                    <p:nvGrpSpPr>
                      <p:cNvPr id="2594831" name="组合 2594830"/>
                      <p:cNvGrpSpPr/>
                      <p:nvPr/>
                    </p:nvGrpSpPr>
                    <p:grpSpPr>
                      <a:xfrm>
                        <a:off x="1602" y="1572"/>
                        <a:ext cx="337" cy="124"/>
                        <a:chOff x="1602" y="1572"/>
                        <a:chExt cx="337" cy="124"/>
                      </a:xfrm>
                    </p:grpSpPr>
                    <p:sp>
                      <p:nvSpPr>
                        <p:cNvPr id="2594832" name="椭圆 2594831"/>
                        <p:cNvSpPr/>
                        <p:nvPr/>
                      </p:nvSpPr>
                      <p:spPr>
                        <a:xfrm>
                          <a:off x="1742" y="1572"/>
                          <a:ext cx="113" cy="11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33" name="椭圆 2594832"/>
                        <p:cNvSpPr/>
                        <p:nvPr/>
                      </p:nvSpPr>
                      <p:spPr>
                        <a:xfrm>
                          <a:off x="1602" y="1589"/>
                          <a:ext cx="47" cy="43"/>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34" name="椭圆 2594833"/>
                        <p:cNvSpPr/>
                        <p:nvPr/>
                      </p:nvSpPr>
                      <p:spPr>
                        <a:xfrm>
                          <a:off x="1816" y="1631"/>
                          <a:ext cx="123" cy="65"/>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35" name="椭圆 2594834"/>
                        <p:cNvSpPr/>
                        <p:nvPr/>
                      </p:nvSpPr>
                      <p:spPr>
                        <a:xfrm>
                          <a:off x="1823" y="1629"/>
                          <a:ext cx="116" cy="57"/>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sp>
                      <p:nvSpPr>
                        <p:cNvPr id="2594836" name="椭圆 2594835"/>
                        <p:cNvSpPr/>
                        <p:nvPr/>
                      </p:nvSpPr>
                      <p:spPr>
                        <a:xfrm>
                          <a:off x="1603" y="1594"/>
                          <a:ext cx="47" cy="41"/>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sp>
                      <p:nvSpPr>
                        <p:cNvPr id="2594837" name="椭圆 2594836"/>
                        <p:cNvSpPr/>
                        <p:nvPr/>
                      </p:nvSpPr>
                      <p:spPr>
                        <a:xfrm>
                          <a:off x="1733" y="1580"/>
                          <a:ext cx="115" cy="98"/>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sp>
                      <p:nvSpPr>
                        <p:cNvPr id="2594838" name="椭圆 2594837"/>
                        <p:cNvSpPr/>
                        <p:nvPr/>
                      </p:nvSpPr>
                      <p:spPr>
                        <a:xfrm>
                          <a:off x="1743" y="1580"/>
                          <a:ext cx="116" cy="93"/>
                        </a:xfrm>
                        <a:prstGeom prst="ellipse">
                          <a:avLst/>
                        </a:prstGeom>
                        <a:solidFill>
                          <a:srgbClr val="FF7F7F"/>
                        </a:solidFill>
                        <a:ln w="9525">
                          <a:noFill/>
                        </a:ln>
                      </p:spPr>
                      <p:txBody>
                        <a:bodyPr/>
                        <a:p>
                          <a:pPr eaLnBrk="1" hangingPunct="1">
                            <a:lnSpc>
                              <a:spcPct val="90000"/>
                            </a:lnSpc>
                          </a:pPr>
                          <a:endParaRPr lang="zh-CN" altLang="en-US" b="1">
                            <a:solidFill>
                              <a:srgbClr val="333399"/>
                            </a:solidFill>
                          </a:endParaRPr>
                        </a:p>
                      </p:txBody>
                    </p:sp>
                  </p:grpSp>
                </p:grpSp>
                <p:grpSp>
                  <p:nvGrpSpPr>
                    <p:cNvPr id="2594839" name="组合 2594838"/>
                    <p:cNvGrpSpPr/>
                    <p:nvPr/>
                  </p:nvGrpSpPr>
                  <p:grpSpPr>
                    <a:xfrm>
                      <a:off x="1795" y="1431"/>
                      <a:ext cx="152" cy="209"/>
                      <a:chOff x="1795" y="1431"/>
                      <a:chExt cx="152" cy="209"/>
                    </a:xfrm>
                  </p:grpSpPr>
                  <p:grpSp>
                    <p:nvGrpSpPr>
                      <p:cNvPr id="2594840" name="组合 2594839"/>
                      <p:cNvGrpSpPr/>
                      <p:nvPr/>
                    </p:nvGrpSpPr>
                    <p:grpSpPr>
                      <a:xfrm>
                        <a:off x="1795" y="1431"/>
                        <a:ext cx="132" cy="153"/>
                        <a:chOff x="1795" y="1431"/>
                        <a:chExt cx="132" cy="153"/>
                      </a:xfrm>
                    </p:grpSpPr>
                    <p:grpSp>
                      <p:nvGrpSpPr>
                        <p:cNvPr id="2594841" name="组合 2594840"/>
                        <p:cNvGrpSpPr/>
                        <p:nvPr/>
                      </p:nvGrpSpPr>
                      <p:grpSpPr>
                        <a:xfrm>
                          <a:off x="1795" y="1431"/>
                          <a:ext cx="132" cy="153"/>
                          <a:chOff x="1795" y="1431"/>
                          <a:chExt cx="132" cy="153"/>
                        </a:xfrm>
                      </p:grpSpPr>
                      <p:grpSp>
                        <p:nvGrpSpPr>
                          <p:cNvPr id="2594842" name="组合 2594841"/>
                          <p:cNvGrpSpPr/>
                          <p:nvPr/>
                        </p:nvGrpSpPr>
                        <p:grpSpPr>
                          <a:xfrm>
                            <a:off x="1795" y="1447"/>
                            <a:ext cx="132" cy="137"/>
                            <a:chOff x="1795" y="1447"/>
                            <a:chExt cx="132" cy="137"/>
                          </a:xfrm>
                        </p:grpSpPr>
                        <p:sp>
                          <p:nvSpPr>
                            <p:cNvPr id="2594843" name="椭圆 2594842"/>
                            <p:cNvSpPr/>
                            <p:nvPr/>
                          </p:nvSpPr>
                          <p:spPr>
                            <a:xfrm>
                              <a:off x="1795" y="1447"/>
                              <a:ext cx="90" cy="137"/>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44" name="椭圆 2594843"/>
                            <p:cNvSpPr/>
                            <p:nvPr/>
                          </p:nvSpPr>
                          <p:spPr>
                            <a:xfrm>
                              <a:off x="1865" y="1447"/>
                              <a:ext cx="62" cy="122"/>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4845" name="组合 2594844"/>
                          <p:cNvGrpSpPr/>
                          <p:nvPr/>
                        </p:nvGrpSpPr>
                        <p:grpSpPr>
                          <a:xfrm>
                            <a:off x="1802" y="1452"/>
                            <a:ext cx="124" cy="132"/>
                            <a:chOff x="1802" y="1452"/>
                            <a:chExt cx="124" cy="132"/>
                          </a:xfrm>
                        </p:grpSpPr>
                        <p:sp>
                          <p:nvSpPr>
                            <p:cNvPr id="2594846" name="椭圆 2594845"/>
                            <p:cNvSpPr/>
                            <p:nvPr/>
                          </p:nvSpPr>
                          <p:spPr>
                            <a:xfrm>
                              <a:off x="1802" y="1453"/>
                              <a:ext cx="81" cy="131"/>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847" name="椭圆 2594846"/>
                            <p:cNvSpPr/>
                            <p:nvPr/>
                          </p:nvSpPr>
                          <p:spPr>
                            <a:xfrm>
                              <a:off x="1863" y="1452"/>
                              <a:ext cx="63" cy="12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4848" name="组合 2594847"/>
                          <p:cNvGrpSpPr/>
                          <p:nvPr/>
                        </p:nvGrpSpPr>
                        <p:grpSpPr>
                          <a:xfrm>
                            <a:off x="1822" y="1431"/>
                            <a:ext cx="86" cy="47"/>
                            <a:chOff x="1822" y="1431"/>
                            <a:chExt cx="86" cy="47"/>
                          </a:xfrm>
                        </p:grpSpPr>
                        <p:sp>
                          <p:nvSpPr>
                            <p:cNvPr id="2594849" name="任意多边形 2594848"/>
                            <p:cNvSpPr/>
                            <p:nvPr/>
                          </p:nvSpPr>
                          <p:spPr>
                            <a:xfrm>
                              <a:off x="1880" y="1431"/>
                              <a:ext cx="28" cy="46"/>
                            </a:xfrm>
                            <a:custGeom>
                              <a:avLst/>
                              <a:gdLst/>
                              <a:ahLst/>
                              <a:cxnLst/>
                              <a:pathLst>
                                <a:path w="28" h="46">
                                  <a:moveTo>
                                    <a:pt x="0" y="29"/>
                                  </a:moveTo>
                                  <a:lnTo>
                                    <a:pt x="7" y="46"/>
                                  </a:lnTo>
                                  <a:lnTo>
                                    <a:pt x="28" y="15"/>
                                  </a:lnTo>
                                  <a:lnTo>
                                    <a:pt x="20" y="0"/>
                                  </a:lnTo>
                                  <a:lnTo>
                                    <a:pt x="0" y="29"/>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50" name="任意多边形 2594849"/>
                            <p:cNvSpPr/>
                            <p:nvPr/>
                          </p:nvSpPr>
                          <p:spPr>
                            <a:xfrm>
                              <a:off x="1822" y="1434"/>
                              <a:ext cx="58" cy="44"/>
                            </a:xfrm>
                            <a:custGeom>
                              <a:avLst/>
                              <a:gdLst/>
                              <a:ahLst/>
                              <a:cxnLst/>
                              <a:pathLst>
                                <a:path w="58" h="44">
                                  <a:moveTo>
                                    <a:pt x="8" y="0"/>
                                  </a:moveTo>
                                  <a:lnTo>
                                    <a:pt x="58" y="30"/>
                                  </a:lnTo>
                                  <a:lnTo>
                                    <a:pt x="54" y="44"/>
                                  </a:lnTo>
                                  <a:lnTo>
                                    <a:pt x="0" y="18"/>
                                  </a:lnTo>
                                  <a:lnTo>
                                    <a:pt x="8" y="0"/>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grpSp>
                      <p:nvGrpSpPr>
                        <p:cNvPr id="2594851" name="组合 2594850"/>
                        <p:cNvGrpSpPr/>
                        <p:nvPr/>
                      </p:nvGrpSpPr>
                      <p:grpSpPr>
                        <a:xfrm>
                          <a:off x="1857" y="1523"/>
                          <a:ext cx="69" cy="56"/>
                          <a:chOff x="1857" y="1523"/>
                          <a:chExt cx="69" cy="56"/>
                        </a:xfrm>
                      </p:grpSpPr>
                      <p:grpSp>
                        <p:nvGrpSpPr>
                          <p:cNvPr id="2594852" name="组合 2594851"/>
                          <p:cNvGrpSpPr/>
                          <p:nvPr/>
                        </p:nvGrpSpPr>
                        <p:grpSpPr>
                          <a:xfrm>
                            <a:off x="1857" y="1523"/>
                            <a:ext cx="29" cy="56"/>
                            <a:chOff x="1857" y="1523"/>
                            <a:chExt cx="29" cy="56"/>
                          </a:xfrm>
                        </p:grpSpPr>
                        <p:sp>
                          <p:nvSpPr>
                            <p:cNvPr id="2594853" name="椭圆 2594852"/>
                            <p:cNvSpPr/>
                            <p:nvPr/>
                          </p:nvSpPr>
                          <p:spPr>
                            <a:xfrm>
                              <a:off x="1861" y="1523"/>
                              <a:ext cx="25" cy="56"/>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54" name="任意多边形 2594853"/>
                            <p:cNvSpPr/>
                            <p:nvPr/>
                          </p:nvSpPr>
                          <p:spPr>
                            <a:xfrm>
                              <a:off x="1857" y="1540"/>
                              <a:ext cx="13" cy="7"/>
                            </a:xfrm>
                            <a:custGeom>
                              <a:avLst/>
                              <a:gdLst/>
                              <a:ahLst/>
                              <a:cxnLst/>
                              <a:pathLst>
                                <a:path w="13" h="7">
                                  <a:moveTo>
                                    <a:pt x="3" y="0"/>
                                  </a:moveTo>
                                  <a:lnTo>
                                    <a:pt x="13" y="7"/>
                                  </a:lnTo>
                                  <a:lnTo>
                                    <a:pt x="0" y="7"/>
                                  </a:lnTo>
                                  <a:lnTo>
                                    <a:pt x="3" y="0"/>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4855" name="组合 2594854"/>
                          <p:cNvGrpSpPr/>
                          <p:nvPr/>
                        </p:nvGrpSpPr>
                        <p:grpSpPr>
                          <a:xfrm>
                            <a:off x="1898" y="1523"/>
                            <a:ext cx="28" cy="56"/>
                            <a:chOff x="1898" y="1523"/>
                            <a:chExt cx="28" cy="56"/>
                          </a:xfrm>
                        </p:grpSpPr>
                        <p:sp>
                          <p:nvSpPr>
                            <p:cNvPr id="2594856" name="椭圆 2594855"/>
                            <p:cNvSpPr/>
                            <p:nvPr/>
                          </p:nvSpPr>
                          <p:spPr>
                            <a:xfrm>
                              <a:off x="1901" y="1523"/>
                              <a:ext cx="25" cy="56"/>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57" name="任意多边形 2594856"/>
                            <p:cNvSpPr/>
                            <p:nvPr/>
                          </p:nvSpPr>
                          <p:spPr>
                            <a:xfrm>
                              <a:off x="1898" y="1540"/>
                              <a:ext cx="13" cy="7"/>
                            </a:xfrm>
                            <a:custGeom>
                              <a:avLst/>
                              <a:gdLst/>
                              <a:ahLst/>
                              <a:cxnLst/>
                              <a:pathLst>
                                <a:path w="13" h="7">
                                  <a:moveTo>
                                    <a:pt x="2" y="0"/>
                                  </a:moveTo>
                                  <a:lnTo>
                                    <a:pt x="13" y="7"/>
                                  </a:lnTo>
                                  <a:lnTo>
                                    <a:pt x="0" y="7"/>
                                  </a:lnTo>
                                  <a:lnTo>
                                    <a:pt x="2" y="0"/>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grpSp>
                  <p:grpSp>
                    <p:nvGrpSpPr>
                      <p:cNvPr id="2594858" name="组合 2594857"/>
                      <p:cNvGrpSpPr/>
                      <p:nvPr/>
                    </p:nvGrpSpPr>
                    <p:grpSpPr>
                      <a:xfrm>
                        <a:off x="1857" y="1564"/>
                        <a:ext cx="90" cy="76"/>
                        <a:chOff x="1857" y="1564"/>
                        <a:chExt cx="90" cy="76"/>
                      </a:xfrm>
                    </p:grpSpPr>
                    <p:sp>
                      <p:nvSpPr>
                        <p:cNvPr id="2594859" name="椭圆 2594858"/>
                        <p:cNvSpPr/>
                        <p:nvPr/>
                      </p:nvSpPr>
                      <p:spPr>
                        <a:xfrm>
                          <a:off x="1857" y="1571"/>
                          <a:ext cx="85"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60" name="椭圆 2594859"/>
                        <p:cNvSpPr/>
                        <p:nvPr/>
                      </p:nvSpPr>
                      <p:spPr>
                        <a:xfrm>
                          <a:off x="1862" y="1564"/>
                          <a:ext cx="85" cy="71"/>
                        </a:xfrm>
                        <a:prstGeom prst="ellipse">
                          <a:avLst/>
                        </a:prstGeom>
                        <a:solidFill>
                          <a:srgbClr val="FF9F9F"/>
                        </a:solidFill>
                        <a:ln w="9525">
                          <a:noFill/>
                        </a:ln>
                      </p:spPr>
                      <p:txBody>
                        <a:bodyPr/>
                        <a:p>
                          <a:pPr eaLnBrk="1" hangingPunct="1">
                            <a:lnSpc>
                              <a:spcPct val="90000"/>
                            </a:lnSpc>
                          </a:pPr>
                          <a:endParaRPr lang="zh-CN" altLang="en-US" b="1">
                            <a:solidFill>
                              <a:srgbClr val="333399"/>
                            </a:solidFill>
                          </a:endParaRPr>
                        </a:p>
                      </p:txBody>
                    </p:sp>
                  </p:grpSp>
                </p:grpSp>
              </p:grpSp>
              <p:sp>
                <p:nvSpPr>
                  <p:cNvPr id="2594861" name="任意多边形 2594860"/>
                  <p:cNvSpPr/>
                  <p:nvPr/>
                </p:nvSpPr>
                <p:spPr>
                  <a:xfrm>
                    <a:off x="1557" y="1399"/>
                    <a:ext cx="249" cy="195"/>
                  </a:xfrm>
                  <a:custGeom>
                    <a:avLst/>
                    <a:gdLst/>
                    <a:ahLst/>
                    <a:cxnLst/>
                    <a:pathLst>
                      <a:path w="249" h="195">
                        <a:moveTo>
                          <a:pt x="31" y="34"/>
                        </a:moveTo>
                        <a:lnTo>
                          <a:pt x="18" y="50"/>
                        </a:lnTo>
                        <a:lnTo>
                          <a:pt x="8" y="66"/>
                        </a:lnTo>
                        <a:lnTo>
                          <a:pt x="2" y="87"/>
                        </a:lnTo>
                        <a:lnTo>
                          <a:pt x="0" y="111"/>
                        </a:lnTo>
                        <a:lnTo>
                          <a:pt x="1" y="129"/>
                        </a:lnTo>
                        <a:lnTo>
                          <a:pt x="7" y="148"/>
                        </a:lnTo>
                        <a:lnTo>
                          <a:pt x="14" y="166"/>
                        </a:lnTo>
                        <a:lnTo>
                          <a:pt x="25" y="183"/>
                        </a:lnTo>
                        <a:lnTo>
                          <a:pt x="35" y="195"/>
                        </a:lnTo>
                        <a:lnTo>
                          <a:pt x="43" y="187"/>
                        </a:lnTo>
                        <a:lnTo>
                          <a:pt x="53" y="180"/>
                        </a:lnTo>
                        <a:lnTo>
                          <a:pt x="65" y="177"/>
                        </a:lnTo>
                        <a:lnTo>
                          <a:pt x="76" y="174"/>
                        </a:lnTo>
                        <a:lnTo>
                          <a:pt x="89" y="175"/>
                        </a:lnTo>
                        <a:lnTo>
                          <a:pt x="102" y="179"/>
                        </a:lnTo>
                        <a:lnTo>
                          <a:pt x="113" y="186"/>
                        </a:lnTo>
                        <a:lnTo>
                          <a:pt x="121" y="188"/>
                        </a:lnTo>
                        <a:lnTo>
                          <a:pt x="120" y="164"/>
                        </a:lnTo>
                        <a:lnTo>
                          <a:pt x="124" y="146"/>
                        </a:lnTo>
                        <a:lnTo>
                          <a:pt x="130" y="129"/>
                        </a:lnTo>
                        <a:lnTo>
                          <a:pt x="139" y="113"/>
                        </a:lnTo>
                        <a:lnTo>
                          <a:pt x="150" y="98"/>
                        </a:lnTo>
                        <a:lnTo>
                          <a:pt x="160" y="83"/>
                        </a:lnTo>
                        <a:lnTo>
                          <a:pt x="176" y="67"/>
                        </a:lnTo>
                        <a:lnTo>
                          <a:pt x="190" y="54"/>
                        </a:lnTo>
                        <a:lnTo>
                          <a:pt x="207" y="43"/>
                        </a:lnTo>
                        <a:lnTo>
                          <a:pt x="225" y="33"/>
                        </a:lnTo>
                        <a:lnTo>
                          <a:pt x="249" y="20"/>
                        </a:lnTo>
                        <a:lnTo>
                          <a:pt x="142" y="0"/>
                        </a:lnTo>
                        <a:lnTo>
                          <a:pt x="31" y="34"/>
                        </a:lnTo>
                        <a:close/>
                      </a:path>
                    </a:pathLst>
                  </a:custGeom>
                  <a:solidFill>
                    <a:srgbClr val="5F5F5F"/>
                  </a:solidFill>
                  <a:ln w="9525">
                    <a:noFill/>
                  </a:ln>
                </p:spPr>
                <p:txBody>
                  <a:bodyPr/>
                  <a:p>
                    <a:pPr eaLnBrk="1" hangingPunct="1">
                      <a:lnSpc>
                        <a:spcPct val="90000"/>
                      </a:lnSpc>
                    </a:pPr>
                    <a:endParaRPr lang="zh-CN" altLang="en-US" b="1">
                      <a:solidFill>
                        <a:srgbClr val="333399"/>
                      </a:solidFill>
                    </a:endParaRPr>
                  </a:p>
                </p:txBody>
              </p:sp>
            </p:grpSp>
            <p:grpSp>
              <p:nvGrpSpPr>
                <p:cNvPr id="2594862" name="组合 2594861"/>
                <p:cNvGrpSpPr/>
                <p:nvPr/>
              </p:nvGrpSpPr>
              <p:grpSpPr>
                <a:xfrm>
                  <a:off x="1504" y="1102"/>
                  <a:ext cx="440" cy="424"/>
                  <a:chOff x="1504" y="1102"/>
                  <a:chExt cx="440" cy="424"/>
                </a:xfrm>
              </p:grpSpPr>
              <p:grpSp>
                <p:nvGrpSpPr>
                  <p:cNvPr id="2594863" name="组合 2594862"/>
                  <p:cNvGrpSpPr/>
                  <p:nvPr/>
                </p:nvGrpSpPr>
                <p:grpSpPr>
                  <a:xfrm>
                    <a:off x="1589" y="1102"/>
                    <a:ext cx="316" cy="194"/>
                    <a:chOff x="1589" y="1102"/>
                    <a:chExt cx="316" cy="194"/>
                  </a:xfrm>
                </p:grpSpPr>
                <p:sp>
                  <p:nvSpPr>
                    <p:cNvPr id="2594864" name="任意多边形 2594863"/>
                    <p:cNvSpPr/>
                    <p:nvPr/>
                  </p:nvSpPr>
                  <p:spPr>
                    <a:xfrm>
                      <a:off x="1589" y="1122"/>
                      <a:ext cx="313" cy="174"/>
                    </a:xfrm>
                    <a:custGeom>
                      <a:avLst/>
                      <a:gdLst/>
                      <a:ahLst/>
                      <a:cxnLst/>
                      <a:pathLst>
                        <a:path w="313" h="174">
                          <a:moveTo>
                            <a:pt x="0" y="0"/>
                          </a:moveTo>
                          <a:lnTo>
                            <a:pt x="8" y="174"/>
                          </a:lnTo>
                          <a:lnTo>
                            <a:pt x="304" y="173"/>
                          </a:lnTo>
                          <a:lnTo>
                            <a:pt x="313" y="0"/>
                          </a:lnTo>
                          <a:lnTo>
                            <a:pt x="0" y="0"/>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sp>
                  <p:nvSpPr>
                    <p:cNvPr id="2594865" name="椭圆 2594864"/>
                    <p:cNvSpPr/>
                    <p:nvPr/>
                  </p:nvSpPr>
                  <p:spPr>
                    <a:xfrm>
                      <a:off x="1589" y="1102"/>
                      <a:ext cx="316" cy="42"/>
                    </a:xfrm>
                    <a:prstGeom prst="ellipse">
                      <a:avLst/>
                    </a:prstGeom>
                    <a:solidFill>
                      <a:srgbClr val="9F3FDF"/>
                    </a:solidFill>
                    <a:ln w="9525">
                      <a:noFill/>
                    </a:ln>
                  </p:spPr>
                  <p:txBody>
                    <a:bodyPr/>
                    <a:p>
                      <a:pPr eaLnBrk="1" hangingPunct="1">
                        <a:lnSpc>
                          <a:spcPct val="90000"/>
                        </a:lnSpc>
                      </a:pPr>
                      <a:endParaRPr lang="zh-CN" altLang="en-US" b="1">
                        <a:solidFill>
                          <a:srgbClr val="333399"/>
                        </a:solidFill>
                      </a:endParaRPr>
                    </a:p>
                  </p:txBody>
                </p:sp>
              </p:grpSp>
              <p:grpSp>
                <p:nvGrpSpPr>
                  <p:cNvPr id="2594866" name="组合 2594865"/>
                  <p:cNvGrpSpPr/>
                  <p:nvPr/>
                </p:nvGrpSpPr>
                <p:grpSpPr>
                  <a:xfrm>
                    <a:off x="1504" y="1223"/>
                    <a:ext cx="440" cy="303"/>
                    <a:chOff x="1504" y="1223"/>
                    <a:chExt cx="440" cy="303"/>
                  </a:xfrm>
                </p:grpSpPr>
                <p:grpSp>
                  <p:nvGrpSpPr>
                    <p:cNvPr id="2594867" name="组合 2594866"/>
                    <p:cNvGrpSpPr/>
                    <p:nvPr/>
                  </p:nvGrpSpPr>
                  <p:grpSpPr>
                    <a:xfrm>
                      <a:off x="1595" y="1223"/>
                      <a:ext cx="303" cy="196"/>
                      <a:chOff x="1595" y="1223"/>
                      <a:chExt cx="303" cy="196"/>
                    </a:xfrm>
                  </p:grpSpPr>
                  <p:sp>
                    <p:nvSpPr>
                      <p:cNvPr id="2594868" name="任意多边形 2594867"/>
                      <p:cNvSpPr/>
                      <p:nvPr/>
                    </p:nvSpPr>
                    <p:spPr>
                      <a:xfrm>
                        <a:off x="1595" y="1260"/>
                        <a:ext cx="300" cy="159"/>
                      </a:xfrm>
                      <a:custGeom>
                        <a:avLst/>
                        <a:gdLst/>
                        <a:ahLst/>
                        <a:cxnLst/>
                        <a:pathLst>
                          <a:path w="300" h="159">
                            <a:moveTo>
                              <a:pt x="0" y="0"/>
                            </a:moveTo>
                            <a:lnTo>
                              <a:pt x="8" y="151"/>
                            </a:lnTo>
                            <a:lnTo>
                              <a:pt x="294" y="159"/>
                            </a:lnTo>
                            <a:lnTo>
                              <a:pt x="300" y="0"/>
                            </a:lnTo>
                            <a:lnTo>
                              <a:pt x="0" y="0"/>
                            </a:lnTo>
                            <a:close/>
                          </a:path>
                        </a:pathLst>
                      </a:custGeom>
                      <a:solidFill>
                        <a:srgbClr val="FF0000"/>
                      </a:solidFill>
                      <a:ln w="9525">
                        <a:noFill/>
                      </a:ln>
                    </p:spPr>
                    <p:txBody>
                      <a:bodyPr/>
                      <a:p>
                        <a:pPr eaLnBrk="1" hangingPunct="1">
                          <a:lnSpc>
                            <a:spcPct val="90000"/>
                          </a:lnSpc>
                        </a:pPr>
                        <a:endParaRPr lang="zh-CN" altLang="en-US" b="1">
                          <a:solidFill>
                            <a:srgbClr val="333399"/>
                          </a:solidFill>
                        </a:endParaRPr>
                      </a:p>
                    </p:txBody>
                  </p:sp>
                  <p:sp>
                    <p:nvSpPr>
                      <p:cNvPr id="2594869" name="椭圆 2594868"/>
                      <p:cNvSpPr/>
                      <p:nvPr/>
                    </p:nvSpPr>
                    <p:spPr>
                      <a:xfrm>
                        <a:off x="1597" y="1223"/>
                        <a:ext cx="301" cy="80"/>
                      </a:xfrm>
                      <a:prstGeom prst="ellipse">
                        <a:avLst/>
                      </a:prstGeom>
                      <a:solidFill>
                        <a:srgbClr val="FF0000"/>
                      </a:solidFill>
                      <a:ln w="9525">
                        <a:noFill/>
                      </a:ln>
                    </p:spPr>
                    <p:txBody>
                      <a:bodyPr/>
                      <a:p>
                        <a:pPr eaLnBrk="1" hangingPunct="1">
                          <a:lnSpc>
                            <a:spcPct val="90000"/>
                          </a:lnSpc>
                        </a:pPr>
                        <a:endParaRPr lang="zh-CN" altLang="en-US" b="1">
                          <a:solidFill>
                            <a:srgbClr val="333399"/>
                          </a:solidFill>
                        </a:endParaRPr>
                      </a:p>
                    </p:txBody>
                  </p:sp>
                </p:grpSp>
                <p:sp>
                  <p:nvSpPr>
                    <p:cNvPr id="2594870" name="任意多边形 2594869"/>
                    <p:cNvSpPr/>
                    <p:nvPr/>
                  </p:nvSpPr>
                  <p:spPr>
                    <a:xfrm>
                      <a:off x="1504" y="1388"/>
                      <a:ext cx="440" cy="138"/>
                    </a:xfrm>
                    <a:custGeom>
                      <a:avLst/>
                      <a:gdLst/>
                      <a:ahLst/>
                      <a:cxnLst/>
                      <a:pathLst>
                        <a:path w="440" h="138">
                          <a:moveTo>
                            <a:pt x="98" y="3"/>
                          </a:moveTo>
                          <a:lnTo>
                            <a:pt x="122" y="0"/>
                          </a:lnTo>
                          <a:lnTo>
                            <a:pt x="155" y="0"/>
                          </a:lnTo>
                          <a:lnTo>
                            <a:pt x="193" y="3"/>
                          </a:lnTo>
                          <a:lnTo>
                            <a:pt x="227" y="8"/>
                          </a:lnTo>
                          <a:lnTo>
                            <a:pt x="262" y="14"/>
                          </a:lnTo>
                          <a:lnTo>
                            <a:pt x="298" y="20"/>
                          </a:lnTo>
                          <a:lnTo>
                            <a:pt x="324" y="24"/>
                          </a:lnTo>
                          <a:lnTo>
                            <a:pt x="344" y="25"/>
                          </a:lnTo>
                          <a:lnTo>
                            <a:pt x="372" y="24"/>
                          </a:lnTo>
                          <a:lnTo>
                            <a:pt x="398" y="23"/>
                          </a:lnTo>
                          <a:lnTo>
                            <a:pt x="416" y="20"/>
                          </a:lnTo>
                          <a:lnTo>
                            <a:pt x="440" y="18"/>
                          </a:lnTo>
                          <a:lnTo>
                            <a:pt x="440" y="31"/>
                          </a:lnTo>
                          <a:lnTo>
                            <a:pt x="417" y="34"/>
                          </a:lnTo>
                          <a:lnTo>
                            <a:pt x="389" y="36"/>
                          </a:lnTo>
                          <a:lnTo>
                            <a:pt x="355" y="37"/>
                          </a:lnTo>
                          <a:lnTo>
                            <a:pt x="316" y="36"/>
                          </a:lnTo>
                          <a:lnTo>
                            <a:pt x="278" y="36"/>
                          </a:lnTo>
                          <a:lnTo>
                            <a:pt x="239" y="34"/>
                          </a:lnTo>
                          <a:lnTo>
                            <a:pt x="201" y="34"/>
                          </a:lnTo>
                          <a:lnTo>
                            <a:pt x="173" y="36"/>
                          </a:lnTo>
                          <a:lnTo>
                            <a:pt x="147" y="40"/>
                          </a:lnTo>
                          <a:lnTo>
                            <a:pt x="124" y="47"/>
                          </a:lnTo>
                          <a:lnTo>
                            <a:pt x="104" y="57"/>
                          </a:lnTo>
                          <a:lnTo>
                            <a:pt x="87" y="67"/>
                          </a:lnTo>
                          <a:lnTo>
                            <a:pt x="72" y="82"/>
                          </a:lnTo>
                          <a:lnTo>
                            <a:pt x="62" y="96"/>
                          </a:lnTo>
                          <a:lnTo>
                            <a:pt x="55" y="109"/>
                          </a:lnTo>
                          <a:lnTo>
                            <a:pt x="54" y="123"/>
                          </a:lnTo>
                          <a:lnTo>
                            <a:pt x="55" y="138"/>
                          </a:lnTo>
                          <a:lnTo>
                            <a:pt x="40" y="135"/>
                          </a:lnTo>
                          <a:lnTo>
                            <a:pt x="29" y="130"/>
                          </a:lnTo>
                          <a:lnTo>
                            <a:pt x="16" y="120"/>
                          </a:lnTo>
                          <a:lnTo>
                            <a:pt x="7" y="109"/>
                          </a:lnTo>
                          <a:lnTo>
                            <a:pt x="1" y="96"/>
                          </a:lnTo>
                          <a:lnTo>
                            <a:pt x="0" y="80"/>
                          </a:lnTo>
                          <a:lnTo>
                            <a:pt x="1" y="66"/>
                          </a:lnTo>
                          <a:lnTo>
                            <a:pt x="5" y="53"/>
                          </a:lnTo>
                          <a:lnTo>
                            <a:pt x="12" y="43"/>
                          </a:lnTo>
                          <a:lnTo>
                            <a:pt x="21" y="34"/>
                          </a:lnTo>
                          <a:lnTo>
                            <a:pt x="33" y="26"/>
                          </a:lnTo>
                          <a:lnTo>
                            <a:pt x="48" y="18"/>
                          </a:lnTo>
                          <a:lnTo>
                            <a:pt x="63" y="12"/>
                          </a:lnTo>
                          <a:lnTo>
                            <a:pt x="80" y="7"/>
                          </a:lnTo>
                          <a:lnTo>
                            <a:pt x="98" y="3"/>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grpSp>
            </p:grpSp>
          </p:grpSp>
          <p:grpSp>
            <p:nvGrpSpPr>
              <p:cNvPr id="2594871" name="组合 2594870"/>
              <p:cNvGrpSpPr/>
              <p:nvPr/>
            </p:nvGrpSpPr>
            <p:grpSpPr>
              <a:xfrm>
                <a:off x="1246" y="1334"/>
                <a:ext cx="1407" cy="1642"/>
                <a:chOff x="1246" y="1334"/>
                <a:chExt cx="1407" cy="1642"/>
              </a:xfrm>
            </p:grpSpPr>
            <p:grpSp>
              <p:nvGrpSpPr>
                <p:cNvPr id="2594872" name="组合 2594871"/>
                <p:cNvGrpSpPr/>
                <p:nvPr/>
              </p:nvGrpSpPr>
              <p:grpSpPr>
                <a:xfrm>
                  <a:off x="1485" y="2660"/>
                  <a:ext cx="902" cy="316"/>
                  <a:chOff x="1485" y="2660"/>
                  <a:chExt cx="902" cy="316"/>
                </a:xfrm>
              </p:grpSpPr>
              <p:sp>
                <p:nvSpPr>
                  <p:cNvPr id="2594873" name="任意多边形 2594872"/>
                  <p:cNvSpPr/>
                  <p:nvPr/>
                </p:nvSpPr>
                <p:spPr>
                  <a:xfrm>
                    <a:off x="1974" y="2691"/>
                    <a:ext cx="413" cy="222"/>
                  </a:xfrm>
                  <a:custGeom>
                    <a:avLst/>
                    <a:gdLst/>
                    <a:ahLst/>
                    <a:cxnLst/>
                    <a:pathLst>
                      <a:path w="413" h="222">
                        <a:moveTo>
                          <a:pt x="53" y="7"/>
                        </a:moveTo>
                        <a:lnTo>
                          <a:pt x="41" y="15"/>
                        </a:lnTo>
                        <a:lnTo>
                          <a:pt x="31" y="28"/>
                        </a:lnTo>
                        <a:lnTo>
                          <a:pt x="19" y="46"/>
                        </a:lnTo>
                        <a:lnTo>
                          <a:pt x="10" y="62"/>
                        </a:lnTo>
                        <a:lnTo>
                          <a:pt x="4" y="81"/>
                        </a:lnTo>
                        <a:lnTo>
                          <a:pt x="0" y="105"/>
                        </a:lnTo>
                        <a:lnTo>
                          <a:pt x="4" y="126"/>
                        </a:lnTo>
                        <a:lnTo>
                          <a:pt x="13" y="151"/>
                        </a:lnTo>
                        <a:lnTo>
                          <a:pt x="24" y="156"/>
                        </a:lnTo>
                        <a:lnTo>
                          <a:pt x="49" y="154"/>
                        </a:lnTo>
                        <a:lnTo>
                          <a:pt x="53" y="170"/>
                        </a:lnTo>
                        <a:lnTo>
                          <a:pt x="60" y="189"/>
                        </a:lnTo>
                        <a:lnTo>
                          <a:pt x="72" y="196"/>
                        </a:lnTo>
                        <a:lnTo>
                          <a:pt x="94" y="206"/>
                        </a:lnTo>
                        <a:lnTo>
                          <a:pt x="118" y="213"/>
                        </a:lnTo>
                        <a:lnTo>
                          <a:pt x="146" y="219"/>
                        </a:lnTo>
                        <a:lnTo>
                          <a:pt x="172" y="222"/>
                        </a:lnTo>
                        <a:lnTo>
                          <a:pt x="202" y="220"/>
                        </a:lnTo>
                        <a:lnTo>
                          <a:pt x="232" y="218"/>
                        </a:lnTo>
                        <a:lnTo>
                          <a:pt x="261" y="213"/>
                        </a:lnTo>
                        <a:lnTo>
                          <a:pt x="293" y="206"/>
                        </a:lnTo>
                        <a:lnTo>
                          <a:pt x="323" y="197"/>
                        </a:lnTo>
                        <a:lnTo>
                          <a:pt x="347" y="186"/>
                        </a:lnTo>
                        <a:lnTo>
                          <a:pt x="368" y="174"/>
                        </a:lnTo>
                        <a:lnTo>
                          <a:pt x="389" y="158"/>
                        </a:lnTo>
                        <a:lnTo>
                          <a:pt x="401" y="144"/>
                        </a:lnTo>
                        <a:lnTo>
                          <a:pt x="409" y="130"/>
                        </a:lnTo>
                        <a:lnTo>
                          <a:pt x="413" y="118"/>
                        </a:lnTo>
                        <a:lnTo>
                          <a:pt x="410" y="104"/>
                        </a:lnTo>
                        <a:lnTo>
                          <a:pt x="405" y="90"/>
                        </a:lnTo>
                        <a:lnTo>
                          <a:pt x="397" y="80"/>
                        </a:lnTo>
                        <a:lnTo>
                          <a:pt x="387" y="73"/>
                        </a:lnTo>
                        <a:lnTo>
                          <a:pt x="374" y="68"/>
                        </a:lnTo>
                        <a:lnTo>
                          <a:pt x="350" y="61"/>
                        </a:lnTo>
                        <a:lnTo>
                          <a:pt x="311" y="50"/>
                        </a:lnTo>
                        <a:lnTo>
                          <a:pt x="271" y="38"/>
                        </a:lnTo>
                        <a:lnTo>
                          <a:pt x="234" y="28"/>
                        </a:lnTo>
                        <a:lnTo>
                          <a:pt x="211" y="24"/>
                        </a:lnTo>
                        <a:lnTo>
                          <a:pt x="202" y="15"/>
                        </a:lnTo>
                        <a:lnTo>
                          <a:pt x="179" y="0"/>
                        </a:lnTo>
                        <a:lnTo>
                          <a:pt x="53" y="7"/>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874" name="任意多边形 2594873"/>
                  <p:cNvSpPr/>
                  <p:nvPr/>
                </p:nvSpPr>
                <p:spPr>
                  <a:xfrm>
                    <a:off x="1485" y="2660"/>
                    <a:ext cx="427" cy="316"/>
                  </a:xfrm>
                  <a:custGeom>
                    <a:avLst/>
                    <a:gdLst/>
                    <a:ahLst/>
                    <a:cxnLst/>
                    <a:pathLst>
                      <a:path w="427" h="316">
                        <a:moveTo>
                          <a:pt x="257" y="3"/>
                        </a:moveTo>
                        <a:lnTo>
                          <a:pt x="238" y="16"/>
                        </a:lnTo>
                        <a:lnTo>
                          <a:pt x="211" y="31"/>
                        </a:lnTo>
                        <a:lnTo>
                          <a:pt x="184" y="49"/>
                        </a:lnTo>
                        <a:lnTo>
                          <a:pt x="165" y="62"/>
                        </a:lnTo>
                        <a:lnTo>
                          <a:pt x="145" y="75"/>
                        </a:lnTo>
                        <a:lnTo>
                          <a:pt x="126" y="86"/>
                        </a:lnTo>
                        <a:lnTo>
                          <a:pt x="105" y="101"/>
                        </a:lnTo>
                        <a:lnTo>
                          <a:pt x="77" y="118"/>
                        </a:lnTo>
                        <a:lnTo>
                          <a:pt x="47" y="135"/>
                        </a:lnTo>
                        <a:lnTo>
                          <a:pt x="36" y="142"/>
                        </a:lnTo>
                        <a:lnTo>
                          <a:pt x="25" y="157"/>
                        </a:lnTo>
                        <a:lnTo>
                          <a:pt x="15" y="174"/>
                        </a:lnTo>
                        <a:lnTo>
                          <a:pt x="7" y="196"/>
                        </a:lnTo>
                        <a:lnTo>
                          <a:pt x="2" y="215"/>
                        </a:lnTo>
                        <a:lnTo>
                          <a:pt x="0" y="235"/>
                        </a:lnTo>
                        <a:lnTo>
                          <a:pt x="0" y="257"/>
                        </a:lnTo>
                        <a:lnTo>
                          <a:pt x="2" y="277"/>
                        </a:lnTo>
                        <a:lnTo>
                          <a:pt x="8" y="296"/>
                        </a:lnTo>
                        <a:lnTo>
                          <a:pt x="13" y="302"/>
                        </a:lnTo>
                        <a:lnTo>
                          <a:pt x="26" y="309"/>
                        </a:lnTo>
                        <a:lnTo>
                          <a:pt x="45" y="314"/>
                        </a:lnTo>
                        <a:lnTo>
                          <a:pt x="73" y="316"/>
                        </a:lnTo>
                        <a:lnTo>
                          <a:pt x="104" y="315"/>
                        </a:lnTo>
                        <a:lnTo>
                          <a:pt x="138" y="312"/>
                        </a:lnTo>
                        <a:lnTo>
                          <a:pt x="169" y="308"/>
                        </a:lnTo>
                        <a:lnTo>
                          <a:pt x="199" y="302"/>
                        </a:lnTo>
                        <a:lnTo>
                          <a:pt x="231" y="295"/>
                        </a:lnTo>
                        <a:lnTo>
                          <a:pt x="260" y="287"/>
                        </a:lnTo>
                        <a:lnTo>
                          <a:pt x="283" y="272"/>
                        </a:lnTo>
                        <a:lnTo>
                          <a:pt x="303" y="247"/>
                        </a:lnTo>
                        <a:lnTo>
                          <a:pt x="318" y="221"/>
                        </a:lnTo>
                        <a:lnTo>
                          <a:pt x="332" y="196"/>
                        </a:lnTo>
                        <a:lnTo>
                          <a:pt x="348" y="175"/>
                        </a:lnTo>
                        <a:lnTo>
                          <a:pt x="362" y="157"/>
                        </a:lnTo>
                        <a:lnTo>
                          <a:pt x="381" y="149"/>
                        </a:lnTo>
                        <a:lnTo>
                          <a:pt x="401" y="136"/>
                        </a:lnTo>
                        <a:lnTo>
                          <a:pt x="417" y="124"/>
                        </a:lnTo>
                        <a:lnTo>
                          <a:pt x="423" y="104"/>
                        </a:lnTo>
                        <a:lnTo>
                          <a:pt x="426" y="83"/>
                        </a:lnTo>
                        <a:lnTo>
                          <a:pt x="427" y="66"/>
                        </a:lnTo>
                        <a:lnTo>
                          <a:pt x="421" y="50"/>
                        </a:lnTo>
                        <a:lnTo>
                          <a:pt x="411" y="36"/>
                        </a:lnTo>
                        <a:lnTo>
                          <a:pt x="402" y="24"/>
                        </a:lnTo>
                        <a:lnTo>
                          <a:pt x="390" y="13"/>
                        </a:lnTo>
                        <a:lnTo>
                          <a:pt x="369" y="0"/>
                        </a:lnTo>
                        <a:lnTo>
                          <a:pt x="257" y="3"/>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4875" name="组合 2594874"/>
                <p:cNvGrpSpPr/>
                <p:nvPr/>
              </p:nvGrpSpPr>
              <p:grpSpPr>
                <a:xfrm>
                  <a:off x="1246" y="1334"/>
                  <a:ext cx="1407" cy="1392"/>
                  <a:chOff x="1246" y="1334"/>
                  <a:chExt cx="1407" cy="1392"/>
                </a:xfrm>
              </p:grpSpPr>
              <p:grpSp>
                <p:nvGrpSpPr>
                  <p:cNvPr id="2594876" name="组合 2594875"/>
                  <p:cNvGrpSpPr/>
                  <p:nvPr/>
                </p:nvGrpSpPr>
                <p:grpSpPr>
                  <a:xfrm>
                    <a:off x="1246" y="1334"/>
                    <a:ext cx="1407" cy="1392"/>
                    <a:chOff x="1246" y="1334"/>
                    <a:chExt cx="1407" cy="1392"/>
                  </a:xfrm>
                </p:grpSpPr>
                <p:grpSp>
                  <p:nvGrpSpPr>
                    <p:cNvPr id="2594877" name="组合 2594876"/>
                    <p:cNvGrpSpPr/>
                    <p:nvPr/>
                  </p:nvGrpSpPr>
                  <p:grpSpPr>
                    <a:xfrm>
                      <a:off x="2311" y="1334"/>
                      <a:ext cx="342" cy="291"/>
                      <a:chOff x="2311" y="1334"/>
                      <a:chExt cx="342" cy="291"/>
                    </a:xfrm>
                  </p:grpSpPr>
                  <p:sp>
                    <p:nvSpPr>
                      <p:cNvPr id="2594878" name="任意多边形 2594877"/>
                      <p:cNvSpPr/>
                      <p:nvPr/>
                    </p:nvSpPr>
                    <p:spPr>
                      <a:xfrm>
                        <a:off x="2311" y="1334"/>
                        <a:ext cx="342" cy="291"/>
                      </a:xfrm>
                      <a:custGeom>
                        <a:avLst/>
                        <a:gdLst/>
                        <a:ahLst/>
                        <a:cxnLst/>
                        <a:pathLst>
                          <a:path w="342" h="291">
                            <a:moveTo>
                              <a:pt x="0" y="186"/>
                            </a:moveTo>
                            <a:lnTo>
                              <a:pt x="16" y="177"/>
                            </a:lnTo>
                            <a:lnTo>
                              <a:pt x="36" y="169"/>
                            </a:lnTo>
                            <a:lnTo>
                              <a:pt x="57" y="160"/>
                            </a:lnTo>
                            <a:lnTo>
                              <a:pt x="60" y="141"/>
                            </a:lnTo>
                            <a:lnTo>
                              <a:pt x="66" y="121"/>
                            </a:lnTo>
                            <a:lnTo>
                              <a:pt x="71" y="105"/>
                            </a:lnTo>
                            <a:lnTo>
                              <a:pt x="79" y="87"/>
                            </a:lnTo>
                            <a:lnTo>
                              <a:pt x="91" y="71"/>
                            </a:lnTo>
                            <a:lnTo>
                              <a:pt x="102" y="61"/>
                            </a:lnTo>
                            <a:lnTo>
                              <a:pt x="112" y="53"/>
                            </a:lnTo>
                            <a:lnTo>
                              <a:pt x="125" y="47"/>
                            </a:lnTo>
                            <a:lnTo>
                              <a:pt x="142" y="42"/>
                            </a:lnTo>
                            <a:lnTo>
                              <a:pt x="163" y="40"/>
                            </a:lnTo>
                            <a:lnTo>
                              <a:pt x="188" y="42"/>
                            </a:lnTo>
                            <a:lnTo>
                              <a:pt x="191" y="27"/>
                            </a:lnTo>
                            <a:lnTo>
                              <a:pt x="197" y="12"/>
                            </a:lnTo>
                            <a:lnTo>
                              <a:pt x="213" y="7"/>
                            </a:lnTo>
                            <a:lnTo>
                              <a:pt x="230" y="3"/>
                            </a:lnTo>
                            <a:lnTo>
                              <a:pt x="251" y="0"/>
                            </a:lnTo>
                            <a:lnTo>
                              <a:pt x="260" y="2"/>
                            </a:lnTo>
                            <a:lnTo>
                              <a:pt x="268" y="6"/>
                            </a:lnTo>
                            <a:lnTo>
                              <a:pt x="273" y="11"/>
                            </a:lnTo>
                            <a:lnTo>
                              <a:pt x="275" y="18"/>
                            </a:lnTo>
                            <a:lnTo>
                              <a:pt x="274" y="27"/>
                            </a:lnTo>
                            <a:lnTo>
                              <a:pt x="270" y="36"/>
                            </a:lnTo>
                            <a:lnTo>
                              <a:pt x="263" y="45"/>
                            </a:lnTo>
                            <a:lnTo>
                              <a:pt x="256" y="49"/>
                            </a:lnTo>
                            <a:lnTo>
                              <a:pt x="244" y="57"/>
                            </a:lnTo>
                            <a:lnTo>
                              <a:pt x="233" y="61"/>
                            </a:lnTo>
                            <a:lnTo>
                              <a:pt x="234" y="72"/>
                            </a:lnTo>
                            <a:lnTo>
                              <a:pt x="246" y="74"/>
                            </a:lnTo>
                            <a:lnTo>
                              <a:pt x="258" y="78"/>
                            </a:lnTo>
                            <a:lnTo>
                              <a:pt x="270" y="82"/>
                            </a:lnTo>
                            <a:lnTo>
                              <a:pt x="281" y="90"/>
                            </a:lnTo>
                            <a:lnTo>
                              <a:pt x="289" y="99"/>
                            </a:lnTo>
                            <a:lnTo>
                              <a:pt x="293" y="114"/>
                            </a:lnTo>
                            <a:lnTo>
                              <a:pt x="290" y="130"/>
                            </a:lnTo>
                            <a:lnTo>
                              <a:pt x="307" y="131"/>
                            </a:lnTo>
                            <a:lnTo>
                              <a:pt x="326" y="134"/>
                            </a:lnTo>
                            <a:lnTo>
                              <a:pt x="334" y="146"/>
                            </a:lnTo>
                            <a:lnTo>
                              <a:pt x="340" y="169"/>
                            </a:lnTo>
                            <a:lnTo>
                              <a:pt x="342" y="190"/>
                            </a:lnTo>
                            <a:lnTo>
                              <a:pt x="341" y="210"/>
                            </a:lnTo>
                            <a:lnTo>
                              <a:pt x="337" y="230"/>
                            </a:lnTo>
                            <a:lnTo>
                              <a:pt x="330" y="252"/>
                            </a:lnTo>
                            <a:lnTo>
                              <a:pt x="323" y="270"/>
                            </a:lnTo>
                            <a:lnTo>
                              <a:pt x="317" y="286"/>
                            </a:lnTo>
                            <a:lnTo>
                              <a:pt x="295" y="290"/>
                            </a:lnTo>
                            <a:lnTo>
                              <a:pt x="276" y="291"/>
                            </a:lnTo>
                            <a:lnTo>
                              <a:pt x="262" y="289"/>
                            </a:lnTo>
                            <a:lnTo>
                              <a:pt x="246" y="283"/>
                            </a:lnTo>
                            <a:lnTo>
                              <a:pt x="229" y="278"/>
                            </a:lnTo>
                            <a:lnTo>
                              <a:pt x="210" y="281"/>
                            </a:lnTo>
                            <a:lnTo>
                              <a:pt x="196" y="284"/>
                            </a:lnTo>
                            <a:lnTo>
                              <a:pt x="175" y="286"/>
                            </a:lnTo>
                            <a:lnTo>
                              <a:pt x="156" y="284"/>
                            </a:lnTo>
                            <a:lnTo>
                              <a:pt x="138" y="279"/>
                            </a:lnTo>
                            <a:lnTo>
                              <a:pt x="119" y="271"/>
                            </a:lnTo>
                            <a:lnTo>
                              <a:pt x="106" y="263"/>
                            </a:lnTo>
                            <a:lnTo>
                              <a:pt x="93" y="256"/>
                            </a:lnTo>
                            <a:lnTo>
                              <a:pt x="83" y="264"/>
                            </a:lnTo>
                            <a:lnTo>
                              <a:pt x="71" y="271"/>
                            </a:lnTo>
                            <a:lnTo>
                              <a:pt x="55" y="277"/>
                            </a:lnTo>
                            <a:lnTo>
                              <a:pt x="0" y="186"/>
                            </a:lnTo>
                            <a:close/>
                          </a:path>
                        </a:pathLst>
                      </a:custGeom>
                      <a:solidFill>
                        <a:srgbClr val="FFFFFF"/>
                      </a:solid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4879" name="任意多边形 2594878"/>
                      <p:cNvSpPr/>
                      <p:nvPr/>
                    </p:nvSpPr>
                    <p:spPr>
                      <a:xfrm>
                        <a:off x="2416" y="1436"/>
                        <a:ext cx="54" cy="72"/>
                      </a:xfrm>
                      <a:custGeom>
                        <a:avLst/>
                        <a:gdLst/>
                        <a:ahLst/>
                        <a:cxnLst/>
                        <a:pathLst>
                          <a:path w="54" h="72">
                            <a:moveTo>
                              <a:pt x="0" y="72"/>
                            </a:moveTo>
                            <a:lnTo>
                              <a:pt x="23" y="22"/>
                            </a:lnTo>
                            <a:lnTo>
                              <a:pt x="54" y="0"/>
                            </a:lnTo>
                          </a:path>
                        </a:pathLst>
                      </a:custGeom>
                      <a:no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4880" name="任意多边形 2594879"/>
                      <p:cNvSpPr/>
                      <p:nvPr/>
                    </p:nvSpPr>
                    <p:spPr>
                      <a:xfrm>
                        <a:off x="2439" y="1462"/>
                        <a:ext cx="72" cy="62"/>
                      </a:xfrm>
                      <a:custGeom>
                        <a:avLst/>
                        <a:gdLst/>
                        <a:ahLst/>
                        <a:cxnLst/>
                        <a:pathLst>
                          <a:path w="72" h="62">
                            <a:moveTo>
                              <a:pt x="0" y="62"/>
                            </a:moveTo>
                            <a:lnTo>
                              <a:pt x="28" y="17"/>
                            </a:lnTo>
                            <a:lnTo>
                              <a:pt x="72" y="0"/>
                            </a:lnTo>
                          </a:path>
                        </a:pathLst>
                      </a:custGeom>
                      <a:noFill/>
                      <a:ln w="14288" cap="flat" cmpd="sng">
                        <a:solidFill>
                          <a:srgbClr val="000000"/>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grpSp>
                <p:grpSp>
                  <p:nvGrpSpPr>
                    <p:cNvPr id="2594881" name="组合 2594880"/>
                    <p:cNvGrpSpPr/>
                    <p:nvPr/>
                  </p:nvGrpSpPr>
                  <p:grpSpPr>
                    <a:xfrm>
                      <a:off x="1246" y="1512"/>
                      <a:ext cx="1131" cy="1214"/>
                      <a:chOff x="1246" y="1512"/>
                      <a:chExt cx="1131" cy="1214"/>
                    </a:xfrm>
                  </p:grpSpPr>
                  <p:grpSp>
                    <p:nvGrpSpPr>
                      <p:cNvPr id="2594882" name="组合 2594881"/>
                      <p:cNvGrpSpPr/>
                      <p:nvPr/>
                    </p:nvGrpSpPr>
                    <p:grpSpPr>
                      <a:xfrm>
                        <a:off x="1246" y="1512"/>
                        <a:ext cx="1131" cy="1214"/>
                        <a:chOff x="1246" y="1512"/>
                        <a:chExt cx="1131" cy="1214"/>
                      </a:xfrm>
                    </p:grpSpPr>
                    <p:grpSp>
                      <p:nvGrpSpPr>
                        <p:cNvPr id="2594883" name="组合 2594882"/>
                        <p:cNvGrpSpPr/>
                        <p:nvPr/>
                      </p:nvGrpSpPr>
                      <p:grpSpPr>
                        <a:xfrm>
                          <a:off x="1246" y="1731"/>
                          <a:ext cx="639" cy="491"/>
                          <a:chOff x="1246" y="1731"/>
                          <a:chExt cx="639" cy="491"/>
                        </a:xfrm>
                      </p:grpSpPr>
                      <p:sp>
                        <p:nvSpPr>
                          <p:cNvPr id="2594884" name="任意多边形 2594883"/>
                          <p:cNvSpPr/>
                          <p:nvPr/>
                        </p:nvSpPr>
                        <p:spPr>
                          <a:xfrm>
                            <a:off x="1460" y="1862"/>
                            <a:ext cx="425" cy="360"/>
                          </a:xfrm>
                          <a:custGeom>
                            <a:avLst/>
                            <a:gdLst/>
                            <a:ahLst/>
                            <a:cxnLst/>
                            <a:pathLst>
                              <a:path w="425" h="360">
                                <a:moveTo>
                                  <a:pt x="0" y="195"/>
                                </a:moveTo>
                                <a:lnTo>
                                  <a:pt x="17" y="201"/>
                                </a:lnTo>
                                <a:lnTo>
                                  <a:pt x="28" y="209"/>
                                </a:lnTo>
                                <a:lnTo>
                                  <a:pt x="41" y="219"/>
                                </a:lnTo>
                                <a:lnTo>
                                  <a:pt x="50" y="231"/>
                                </a:lnTo>
                                <a:lnTo>
                                  <a:pt x="59" y="245"/>
                                </a:lnTo>
                                <a:lnTo>
                                  <a:pt x="69" y="262"/>
                                </a:lnTo>
                                <a:lnTo>
                                  <a:pt x="78" y="280"/>
                                </a:lnTo>
                                <a:lnTo>
                                  <a:pt x="87" y="294"/>
                                </a:lnTo>
                                <a:lnTo>
                                  <a:pt x="96" y="308"/>
                                </a:lnTo>
                                <a:lnTo>
                                  <a:pt x="106" y="322"/>
                                </a:lnTo>
                                <a:lnTo>
                                  <a:pt x="122" y="336"/>
                                </a:lnTo>
                                <a:lnTo>
                                  <a:pt x="135" y="346"/>
                                </a:lnTo>
                                <a:lnTo>
                                  <a:pt x="153" y="353"/>
                                </a:lnTo>
                                <a:lnTo>
                                  <a:pt x="171" y="357"/>
                                </a:lnTo>
                                <a:lnTo>
                                  <a:pt x="194" y="360"/>
                                </a:lnTo>
                                <a:lnTo>
                                  <a:pt x="214" y="359"/>
                                </a:lnTo>
                                <a:lnTo>
                                  <a:pt x="236" y="353"/>
                                </a:lnTo>
                                <a:lnTo>
                                  <a:pt x="350" y="307"/>
                                </a:lnTo>
                                <a:lnTo>
                                  <a:pt x="425" y="175"/>
                                </a:lnTo>
                                <a:lnTo>
                                  <a:pt x="425" y="40"/>
                                </a:lnTo>
                                <a:lnTo>
                                  <a:pt x="354" y="0"/>
                                </a:lnTo>
                                <a:lnTo>
                                  <a:pt x="288" y="77"/>
                                </a:lnTo>
                                <a:lnTo>
                                  <a:pt x="0" y="195"/>
                                </a:lnTo>
                                <a:close/>
                              </a:path>
                            </a:pathLst>
                          </a:custGeom>
                          <a:solidFill>
                            <a:srgbClr val="800000"/>
                          </a:solidFill>
                          <a:ln w="9525">
                            <a:noFill/>
                          </a:ln>
                        </p:spPr>
                        <p:txBody>
                          <a:bodyPr/>
                          <a:p>
                            <a:pPr eaLnBrk="1" hangingPunct="1">
                              <a:lnSpc>
                                <a:spcPct val="90000"/>
                              </a:lnSpc>
                            </a:pPr>
                            <a:endParaRPr lang="zh-CN" altLang="en-US" b="1">
                              <a:solidFill>
                                <a:srgbClr val="333399"/>
                              </a:solidFill>
                            </a:endParaRPr>
                          </a:p>
                        </p:txBody>
                      </p:sp>
                      <p:sp>
                        <p:nvSpPr>
                          <p:cNvPr id="2594885" name="任意多边形 2594884"/>
                          <p:cNvSpPr/>
                          <p:nvPr/>
                        </p:nvSpPr>
                        <p:spPr>
                          <a:xfrm>
                            <a:off x="1305" y="1731"/>
                            <a:ext cx="514" cy="188"/>
                          </a:xfrm>
                          <a:custGeom>
                            <a:avLst/>
                            <a:gdLst/>
                            <a:ahLst/>
                            <a:cxnLst/>
                            <a:pathLst>
                              <a:path w="514" h="188">
                                <a:moveTo>
                                  <a:pt x="159" y="179"/>
                                </a:moveTo>
                                <a:lnTo>
                                  <a:pt x="15" y="188"/>
                                </a:lnTo>
                                <a:lnTo>
                                  <a:pt x="0" y="158"/>
                                </a:lnTo>
                                <a:lnTo>
                                  <a:pt x="26" y="163"/>
                                </a:lnTo>
                                <a:lnTo>
                                  <a:pt x="43" y="162"/>
                                </a:lnTo>
                                <a:lnTo>
                                  <a:pt x="63" y="161"/>
                                </a:lnTo>
                                <a:lnTo>
                                  <a:pt x="87" y="156"/>
                                </a:lnTo>
                                <a:lnTo>
                                  <a:pt x="108" y="149"/>
                                </a:lnTo>
                                <a:lnTo>
                                  <a:pt x="129" y="141"/>
                                </a:lnTo>
                                <a:lnTo>
                                  <a:pt x="148" y="130"/>
                                </a:lnTo>
                                <a:lnTo>
                                  <a:pt x="165" y="119"/>
                                </a:lnTo>
                                <a:lnTo>
                                  <a:pt x="178" y="108"/>
                                </a:lnTo>
                                <a:lnTo>
                                  <a:pt x="191" y="93"/>
                                </a:lnTo>
                                <a:lnTo>
                                  <a:pt x="204" y="77"/>
                                </a:lnTo>
                                <a:lnTo>
                                  <a:pt x="215" y="62"/>
                                </a:lnTo>
                                <a:lnTo>
                                  <a:pt x="226" y="47"/>
                                </a:lnTo>
                                <a:lnTo>
                                  <a:pt x="238" y="34"/>
                                </a:lnTo>
                                <a:lnTo>
                                  <a:pt x="252" y="23"/>
                                </a:lnTo>
                                <a:lnTo>
                                  <a:pt x="267" y="13"/>
                                </a:lnTo>
                                <a:lnTo>
                                  <a:pt x="285" y="7"/>
                                </a:lnTo>
                                <a:lnTo>
                                  <a:pt x="303" y="4"/>
                                </a:lnTo>
                                <a:lnTo>
                                  <a:pt x="324" y="1"/>
                                </a:lnTo>
                                <a:lnTo>
                                  <a:pt x="345" y="0"/>
                                </a:lnTo>
                                <a:lnTo>
                                  <a:pt x="367" y="1"/>
                                </a:lnTo>
                                <a:lnTo>
                                  <a:pt x="387" y="4"/>
                                </a:lnTo>
                                <a:lnTo>
                                  <a:pt x="410" y="6"/>
                                </a:lnTo>
                                <a:lnTo>
                                  <a:pt x="432" y="10"/>
                                </a:lnTo>
                                <a:lnTo>
                                  <a:pt x="455" y="13"/>
                                </a:lnTo>
                                <a:lnTo>
                                  <a:pt x="476" y="17"/>
                                </a:lnTo>
                                <a:lnTo>
                                  <a:pt x="501" y="20"/>
                                </a:lnTo>
                                <a:lnTo>
                                  <a:pt x="514" y="63"/>
                                </a:lnTo>
                                <a:lnTo>
                                  <a:pt x="320" y="93"/>
                                </a:lnTo>
                                <a:lnTo>
                                  <a:pt x="159" y="179"/>
                                </a:lnTo>
                                <a:close/>
                              </a:path>
                            </a:pathLst>
                          </a:custGeom>
                          <a:solidFill>
                            <a:srgbClr val="FF1F3F"/>
                          </a:solidFill>
                          <a:ln w="9525">
                            <a:noFill/>
                          </a:ln>
                        </p:spPr>
                        <p:txBody>
                          <a:bodyPr/>
                          <a:p>
                            <a:pPr eaLnBrk="1" hangingPunct="1">
                              <a:lnSpc>
                                <a:spcPct val="90000"/>
                              </a:lnSpc>
                            </a:pPr>
                            <a:endParaRPr lang="zh-CN" altLang="en-US" b="1">
                              <a:solidFill>
                                <a:srgbClr val="333399"/>
                              </a:solidFill>
                            </a:endParaRPr>
                          </a:p>
                        </p:txBody>
                      </p:sp>
                      <p:sp>
                        <p:nvSpPr>
                          <p:cNvPr id="2594886" name="任意多边形 2594885"/>
                          <p:cNvSpPr/>
                          <p:nvPr/>
                        </p:nvSpPr>
                        <p:spPr>
                          <a:xfrm>
                            <a:off x="1246" y="1777"/>
                            <a:ext cx="574" cy="290"/>
                          </a:xfrm>
                          <a:custGeom>
                            <a:avLst/>
                            <a:gdLst/>
                            <a:ahLst/>
                            <a:cxnLst/>
                            <a:pathLst>
                              <a:path w="574" h="290">
                                <a:moveTo>
                                  <a:pt x="547" y="6"/>
                                </a:moveTo>
                                <a:lnTo>
                                  <a:pt x="525" y="3"/>
                                </a:lnTo>
                                <a:lnTo>
                                  <a:pt x="504" y="1"/>
                                </a:lnTo>
                                <a:lnTo>
                                  <a:pt x="483" y="0"/>
                                </a:lnTo>
                                <a:lnTo>
                                  <a:pt x="452" y="3"/>
                                </a:lnTo>
                                <a:lnTo>
                                  <a:pt x="426" y="6"/>
                                </a:lnTo>
                                <a:lnTo>
                                  <a:pt x="397" y="11"/>
                                </a:lnTo>
                                <a:lnTo>
                                  <a:pt x="373" y="17"/>
                                </a:lnTo>
                                <a:lnTo>
                                  <a:pt x="351" y="25"/>
                                </a:lnTo>
                                <a:lnTo>
                                  <a:pt x="337" y="36"/>
                                </a:lnTo>
                                <a:lnTo>
                                  <a:pt x="323" y="47"/>
                                </a:lnTo>
                                <a:lnTo>
                                  <a:pt x="307" y="60"/>
                                </a:lnTo>
                                <a:lnTo>
                                  <a:pt x="296" y="71"/>
                                </a:lnTo>
                                <a:lnTo>
                                  <a:pt x="283" y="79"/>
                                </a:lnTo>
                                <a:lnTo>
                                  <a:pt x="265" y="91"/>
                                </a:lnTo>
                                <a:lnTo>
                                  <a:pt x="245" y="102"/>
                                </a:lnTo>
                                <a:lnTo>
                                  <a:pt x="227" y="110"/>
                                </a:lnTo>
                                <a:lnTo>
                                  <a:pt x="206" y="117"/>
                                </a:lnTo>
                                <a:lnTo>
                                  <a:pt x="186" y="122"/>
                                </a:lnTo>
                                <a:lnTo>
                                  <a:pt x="164" y="125"/>
                                </a:lnTo>
                                <a:lnTo>
                                  <a:pt x="142" y="126"/>
                                </a:lnTo>
                                <a:lnTo>
                                  <a:pt x="121" y="125"/>
                                </a:lnTo>
                                <a:lnTo>
                                  <a:pt x="100" y="124"/>
                                </a:lnTo>
                                <a:lnTo>
                                  <a:pt x="77" y="119"/>
                                </a:lnTo>
                                <a:lnTo>
                                  <a:pt x="57" y="116"/>
                                </a:lnTo>
                                <a:lnTo>
                                  <a:pt x="37" y="109"/>
                                </a:lnTo>
                                <a:lnTo>
                                  <a:pt x="17" y="97"/>
                                </a:lnTo>
                                <a:lnTo>
                                  <a:pt x="3" y="86"/>
                                </a:lnTo>
                                <a:lnTo>
                                  <a:pt x="1" y="99"/>
                                </a:lnTo>
                                <a:lnTo>
                                  <a:pt x="0" y="115"/>
                                </a:lnTo>
                                <a:lnTo>
                                  <a:pt x="0" y="129"/>
                                </a:lnTo>
                                <a:lnTo>
                                  <a:pt x="2" y="144"/>
                                </a:lnTo>
                                <a:lnTo>
                                  <a:pt x="6" y="159"/>
                                </a:lnTo>
                                <a:lnTo>
                                  <a:pt x="11" y="176"/>
                                </a:lnTo>
                                <a:lnTo>
                                  <a:pt x="20" y="190"/>
                                </a:lnTo>
                                <a:lnTo>
                                  <a:pt x="28" y="204"/>
                                </a:lnTo>
                                <a:lnTo>
                                  <a:pt x="39" y="216"/>
                                </a:lnTo>
                                <a:lnTo>
                                  <a:pt x="50" y="228"/>
                                </a:lnTo>
                                <a:lnTo>
                                  <a:pt x="62" y="237"/>
                                </a:lnTo>
                                <a:lnTo>
                                  <a:pt x="75" y="247"/>
                                </a:lnTo>
                                <a:lnTo>
                                  <a:pt x="92" y="256"/>
                                </a:lnTo>
                                <a:lnTo>
                                  <a:pt x="108" y="263"/>
                                </a:lnTo>
                                <a:lnTo>
                                  <a:pt x="126" y="270"/>
                                </a:lnTo>
                                <a:lnTo>
                                  <a:pt x="143" y="276"/>
                                </a:lnTo>
                                <a:lnTo>
                                  <a:pt x="164" y="282"/>
                                </a:lnTo>
                                <a:lnTo>
                                  <a:pt x="186" y="287"/>
                                </a:lnTo>
                                <a:lnTo>
                                  <a:pt x="212" y="289"/>
                                </a:lnTo>
                                <a:lnTo>
                                  <a:pt x="237" y="290"/>
                                </a:lnTo>
                                <a:lnTo>
                                  <a:pt x="254" y="289"/>
                                </a:lnTo>
                                <a:lnTo>
                                  <a:pt x="278" y="287"/>
                                </a:lnTo>
                                <a:lnTo>
                                  <a:pt x="301" y="283"/>
                                </a:lnTo>
                                <a:lnTo>
                                  <a:pt x="330" y="277"/>
                                </a:lnTo>
                                <a:lnTo>
                                  <a:pt x="351" y="270"/>
                                </a:lnTo>
                                <a:lnTo>
                                  <a:pt x="372" y="263"/>
                                </a:lnTo>
                                <a:lnTo>
                                  <a:pt x="391" y="256"/>
                                </a:lnTo>
                                <a:lnTo>
                                  <a:pt x="413" y="247"/>
                                </a:lnTo>
                                <a:lnTo>
                                  <a:pt x="439" y="234"/>
                                </a:lnTo>
                                <a:lnTo>
                                  <a:pt x="462" y="221"/>
                                </a:lnTo>
                                <a:lnTo>
                                  <a:pt x="482" y="209"/>
                                </a:lnTo>
                                <a:lnTo>
                                  <a:pt x="504" y="195"/>
                                </a:lnTo>
                                <a:lnTo>
                                  <a:pt x="525" y="178"/>
                                </a:lnTo>
                                <a:lnTo>
                                  <a:pt x="568" y="87"/>
                                </a:lnTo>
                                <a:lnTo>
                                  <a:pt x="574" y="51"/>
                                </a:lnTo>
                                <a:lnTo>
                                  <a:pt x="547" y="6"/>
                                </a:lnTo>
                                <a:close/>
                              </a:path>
                            </a:pathLst>
                          </a:custGeom>
                          <a:solidFill>
                            <a:srgbClr val="FF0000"/>
                          </a:solidFill>
                          <a:ln w="9525">
                            <a:noFill/>
                          </a:ln>
                        </p:spPr>
                        <p:txBody>
                          <a:bodyPr/>
                          <a:p>
                            <a:pPr eaLnBrk="1" hangingPunct="1">
                              <a:lnSpc>
                                <a:spcPct val="90000"/>
                              </a:lnSpc>
                            </a:pPr>
                            <a:endParaRPr lang="zh-CN" altLang="en-US" b="1">
                              <a:solidFill>
                                <a:srgbClr val="333399"/>
                              </a:solidFill>
                            </a:endParaRPr>
                          </a:p>
                        </p:txBody>
                      </p:sp>
                    </p:grpSp>
                    <p:grpSp>
                      <p:nvGrpSpPr>
                        <p:cNvPr id="2594887" name="组合 2594886"/>
                        <p:cNvGrpSpPr/>
                        <p:nvPr/>
                      </p:nvGrpSpPr>
                      <p:grpSpPr>
                        <a:xfrm>
                          <a:off x="1622" y="1512"/>
                          <a:ext cx="755" cy="1214"/>
                          <a:chOff x="1622" y="1512"/>
                          <a:chExt cx="755" cy="1214"/>
                        </a:xfrm>
                      </p:grpSpPr>
                      <p:grpSp>
                        <p:nvGrpSpPr>
                          <p:cNvPr id="2594888" name="组合 2594887"/>
                          <p:cNvGrpSpPr/>
                          <p:nvPr/>
                        </p:nvGrpSpPr>
                        <p:grpSpPr>
                          <a:xfrm>
                            <a:off x="1622" y="1512"/>
                            <a:ext cx="755" cy="1214"/>
                            <a:chOff x="1622" y="1512"/>
                            <a:chExt cx="755" cy="1214"/>
                          </a:xfrm>
                        </p:grpSpPr>
                        <p:grpSp>
                          <p:nvGrpSpPr>
                            <p:cNvPr id="2594889" name="组合 2594888"/>
                            <p:cNvGrpSpPr/>
                            <p:nvPr/>
                          </p:nvGrpSpPr>
                          <p:grpSpPr>
                            <a:xfrm>
                              <a:off x="1728" y="1512"/>
                              <a:ext cx="649" cy="1214"/>
                              <a:chOff x="1728" y="1512"/>
                              <a:chExt cx="649" cy="1214"/>
                            </a:xfrm>
                          </p:grpSpPr>
                          <p:grpSp>
                            <p:nvGrpSpPr>
                              <p:cNvPr id="2594890" name="组合 2594889"/>
                              <p:cNvGrpSpPr/>
                              <p:nvPr/>
                            </p:nvGrpSpPr>
                            <p:grpSpPr>
                              <a:xfrm>
                                <a:off x="1898" y="1512"/>
                                <a:ext cx="479" cy="969"/>
                                <a:chOff x="1898" y="1512"/>
                                <a:chExt cx="479" cy="969"/>
                              </a:xfrm>
                            </p:grpSpPr>
                            <p:sp>
                              <p:nvSpPr>
                                <p:cNvPr id="2594891" name="任意多边形 2594890"/>
                                <p:cNvSpPr/>
                                <p:nvPr/>
                              </p:nvSpPr>
                              <p:spPr>
                                <a:xfrm>
                                  <a:off x="1961" y="1512"/>
                                  <a:ext cx="416" cy="306"/>
                                </a:xfrm>
                                <a:custGeom>
                                  <a:avLst/>
                                  <a:gdLst/>
                                  <a:ahLst/>
                                  <a:cxnLst/>
                                  <a:pathLst>
                                    <a:path w="416" h="306">
                                      <a:moveTo>
                                        <a:pt x="0" y="215"/>
                                      </a:moveTo>
                                      <a:lnTo>
                                        <a:pt x="19" y="206"/>
                                      </a:lnTo>
                                      <a:lnTo>
                                        <a:pt x="57" y="190"/>
                                      </a:lnTo>
                                      <a:lnTo>
                                        <a:pt x="91" y="174"/>
                                      </a:lnTo>
                                      <a:lnTo>
                                        <a:pt x="123" y="163"/>
                                      </a:lnTo>
                                      <a:lnTo>
                                        <a:pt x="150" y="152"/>
                                      </a:lnTo>
                                      <a:lnTo>
                                        <a:pt x="175" y="143"/>
                                      </a:lnTo>
                                      <a:lnTo>
                                        <a:pt x="196" y="125"/>
                                      </a:lnTo>
                                      <a:lnTo>
                                        <a:pt x="223" y="104"/>
                                      </a:lnTo>
                                      <a:lnTo>
                                        <a:pt x="249" y="84"/>
                                      </a:lnTo>
                                      <a:lnTo>
                                        <a:pt x="275" y="66"/>
                                      </a:lnTo>
                                      <a:lnTo>
                                        <a:pt x="296" y="48"/>
                                      </a:lnTo>
                                      <a:lnTo>
                                        <a:pt x="318" y="26"/>
                                      </a:lnTo>
                                      <a:lnTo>
                                        <a:pt x="346" y="0"/>
                                      </a:lnTo>
                                      <a:lnTo>
                                        <a:pt x="362" y="18"/>
                                      </a:lnTo>
                                      <a:lnTo>
                                        <a:pt x="377" y="39"/>
                                      </a:lnTo>
                                      <a:lnTo>
                                        <a:pt x="395" y="67"/>
                                      </a:lnTo>
                                      <a:lnTo>
                                        <a:pt x="407" y="84"/>
                                      </a:lnTo>
                                      <a:lnTo>
                                        <a:pt x="416" y="100"/>
                                      </a:lnTo>
                                      <a:lnTo>
                                        <a:pt x="399" y="117"/>
                                      </a:lnTo>
                                      <a:lnTo>
                                        <a:pt x="377" y="134"/>
                                      </a:lnTo>
                                      <a:lnTo>
                                        <a:pt x="357" y="151"/>
                                      </a:lnTo>
                                      <a:lnTo>
                                        <a:pt x="339" y="167"/>
                                      </a:lnTo>
                                      <a:lnTo>
                                        <a:pt x="318" y="180"/>
                                      </a:lnTo>
                                      <a:lnTo>
                                        <a:pt x="297" y="196"/>
                                      </a:lnTo>
                                      <a:lnTo>
                                        <a:pt x="274" y="210"/>
                                      </a:lnTo>
                                      <a:lnTo>
                                        <a:pt x="256" y="220"/>
                                      </a:lnTo>
                                      <a:lnTo>
                                        <a:pt x="234" y="232"/>
                                      </a:lnTo>
                                      <a:lnTo>
                                        <a:pt x="211" y="244"/>
                                      </a:lnTo>
                                      <a:lnTo>
                                        <a:pt x="196" y="252"/>
                                      </a:lnTo>
                                      <a:lnTo>
                                        <a:pt x="177" y="264"/>
                                      </a:lnTo>
                                      <a:lnTo>
                                        <a:pt x="158" y="276"/>
                                      </a:lnTo>
                                      <a:lnTo>
                                        <a:pt x="142" y="288"/>
                                      </a:lnTo>
                                      <a:lnTo>
                                        <a:pt x="115" y="306"/>
                                      </a:lnTo>
                                      <a:lnTo>
                                        <a:pt x="51" y="289"/>
                                      </a:lnTo>
                                      <a:lnTo>
                                        <a:pt x="0" y="215"/>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sp>
                              <p:nvSpPr>
                                <p:cNvPr id="2594892" name="任意多边形 2594891"/>
                                <p:cNvSpPr/>
                                <p:nvPr/>
                              </p:nvSpPr>
                              <p:spPr>
                                <a:xfrm>
                                  <a:off x="1939" y="1729"/>
                                  <a:ext cx="184" cy="245"/>
                                </a:xfrm>
                                <a:custGeom>
                                  <a:avLst/>
                                  <a:gdLst/>
                                  <a:ahLst/>
                                  <a:cxnLst/>
                                  <a:pathLst>
                                    <a:path w="184" h="245">
                                      <a:moveTo>
                                        <a:pt x="0" y="1"/>
                                      </a:moveTo>
                                      <a:lnTo>
                                        <a:pt x="79" y="0"/>
                                      </a:lnTo>
                                      <a:lnTo>
                                        <a:pt x="79" y="60"/>
                                      </a:lnTo>
                                      <a:lnTo>
                                        <a:pt x="135" y="44"/>
                                      </a:lnTo>
                                      <a:lnTo>
                                        <a:pt x="142" y="108"/>
                                      </a:lnTo>
                                      <a:lnTo>
                                        <a:pt x="183" y="223"/>
                                      </a:lnTo>
                                      <a:lnTo>
                                        <a:pt x="184" y="242"/>
                                      </a:lnTo>
                                      <a:lnTo>
                                        <a:pt x="172" y="245"/>
                                      </a:lnTo>
                                      <a:lnTo>
                                        <a:pt x="129" y="185"/>
                                      </a:lnTo>
                                      <a:lnTo>
                                        <a:pt x="41" y="101"/>
                                      </a:lnTo>
                                      <a:lnTo>
                                        <a:pt x="5" y="77"/>
                                      </a:lnTo>
                                      <a:lnTo>
                                        <a:pt x="0" y="1"/>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sp>
                              <p:nvSpPr>
                                <p:cNvPr id="2594893" name="任意多边形 2594892"/>
                                <p:cNvSpPr/>
                                <p:nvPr/>
                              </p:nvSpPr>
                              <p:spPr>
                                <a:xfrm>
                                  <a:off x="1898" y="2158"/>
                                  <a:ext cx="166" cy="323"/>
                                </a:xfrm>
                                <a:custGeom>
                                  <a:avLst/>
                                  <a:gdLst/>
                                  <a:ahLst/>
                                  <a:cxnLst/>
                                  <a:pathLst>
                                    <a:path w="166" h="323">
                                      <a:moveTo>
                                        <a:pt x="166" y="33"/>
                                      </a:moveTo>
                                      <a:lnTo>
                                        <a:pt x="162" y="44"/>
                                      </a:lnTo>
                                      <a:lnTo>
                                        <a:pt x="159" y="54"/>
                                      </a:lnTo>
                                      <a:lnTo>
                                        <a:pt x="152" y="63"/>
                                      </a:lnTo>
                                      <a:lnTo>
                                        <a:pt x="143" y="71"/>
                                      </a:lnTo>
                                      <a:lnTo>
                                        <a:pt x="134" y="78"/>
                                      </a:lnTo>
                                      <a:lnTo>
                                        <a:pt x="123" y="85"/>
                                      </a:lnTo>
                                      <a:lnTo>
                                        <a:pt x="114" y="91"/>
                                      </a:lnTo>
                                      <a:lnTo>
                                        <a:pt x="102" y="98"/>
                                      </a:lnTo>
                                      <a:lnTo>
                                        <a:pt x="87" y="109"/>
                                      </a:lnTo>
                                      <a:lnTo>
                                        <a:pt x="76" y="118"/>
                                      </a:lnTo>
                                      <a:lnTo>
                                        <a:pt x="69" y="126"/>
                                      </a:lnTo>
                                      <a:lnTo>
                                        <a:pt x="61" y="137"/>
                                      </a:lnTo>
                                      <a:lnTo>
                                        <a:pt x="54" y="150"/>
                                      </a:lnTo>
                                      <a:lnTo>
                                        <a:pt x="49" y="164"/>
                                      </a:lnTo>
                                      <a:lnTo>
                                        <a:pt x="44" y="178"/>
                                      </a:lnTo>
                                      <a:lnTo>
                                        <a:pt x="42" y="192"/>
                                      </a:lnTo>
                                      <a:lnTo>
                                        <a:pt x="41" y="209"/>
                                      </a:lnTo>
                                      <a:lnTo>
                                        <a:pt x="42" y="226"/>
                                      </a:lnTo>
                                      <a:lnTo>
                                        <a:pt x="43" y="243"/>
                                      </a:lnTo>
                                      <a:lnTo>
                                        <a:pt x="48" y="258"/>
                                      </a:lnTo>
                                      <a:lnTo>
                                        <a:pt x="54" y="274"/>
                                      </a:lnTo>
                                      <a:lnTo>
                                        <a:pt x="63" y="285"/>
                                      </a:lnTo>
                                      <a:lnTo>
                                        <a:pt x="75" y="300"/>
                                      </a:lnTo>
                                      <a:lnTo>
                                        <a:pt x="87" y="310"/>
                                      </a:lnTo>
                                      <a:lnTo>
                                        <a:pt x="102" y="323"/>
                                      </a:lnTo>
                                      <a:lnTo>
                                        <a:pt x="82" y="320"/>
                                      </a:lnTo>
                                      <a:lnTo>
                                        <a:pt x="70" y="313"/>
                                      </a:lnTo>
                                      <a:lnTo>
                                        <a:pt x="60" y="305"/>
                                      </a:lnTo>
                                      <a:lnTo>
                                        <a:pt x="48" y="296"/>
                                      </a:lnTo>
                                      <a:lnTo>
                                        <a:pt x="38" y="287"/>
                                      </a:lnTo>
                                      <a:lnTo>
                                        <a:pt x="29" y="278"/>
                                      </a:lnTo>
                                      <a:lnTo>
                                        <a:pt x="22" y="269"/>
                                      </a:lnTo>
                                      <a:lnTo>
                                        <a:pt x="14" y="256"/>
                                      </a:lnTo>
                                      <a:lnTo>
                                        <a:pt x="5" y="243"/>
                                      </a:lnTo>
                                      <a:lnTo>
                                        <a:pt x="0" y="226"/>
                                      </a:lnTo>
                                      <a:lnTo>
                                        <a:pt x="73" y="31"/>
                                      </a:lnTo>
                                      <a:lnTo>
                                        <a:pt x="106" y="0"/>
                                      </a:lnTo>
                                      <a:lnTo>
                                        <a:pt x="147" y="5"/>
                                      </a:lnTo>
                                      <a:lnTo>
                                        <a:pt x="162" y="18"/>
                                      </a:lnTo>
                                      <a:lnTo>
                                        <a:pt x="166" y="33"/>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grpSp>
                          <p:sp>
                            <p:nvSpPr>
                              <p:cNvPr id="2594894" name="任意多边形 2594893"/>
                              <p:cNvSpPr/>
                              <p:nvPr/>
                            </p:nvSpPr>
                            <p:spPr>
                              <a:xfrm>
                                <a:off x="1728" y="1795"/>
                                <a:ext cx="444" cy="931"/>
                              </a:xfrm>
                              <a:custGeom>
                                <a:avLst/>
                                <a:gdLst/>
                                <a:ahLst/>
                                <a:cxnLst/>
                                <a:pathLst>
                                  <a:path w="444" h="931">
                                    <a:moveTo>
                                      <a:pt x="219" y="0"/>
                                    </a:moveTo>
                                    <a:lnTo>
                                      <a:pt x="251" y="21"/>
                                    </a:lnTo>
                                    <a:lnTo>
                                      <a:pt x="279" y="44"/>
                                    </a:lnTo>
                                    <a:lnTo>
                                      <a:pt x="309" y="69"/>
                                    </a:lnTo>
                                    <a:lnTo>
                                      <a:pt x="335" y="98"/>
                                    </a:lnTo>
                                    <a:lnTo>
                                      <a:pt x="361" y="126"/>
                                    </a:lnTo>
                                    <a:lnTo>
                                      <a:pt x="381" y="150"/>
                                    </a:lnTo>
                                    <a:lnTo>
                                      <a:pt x="389" y="163"/>
                                    </a:lnTo>
                                    <a:lnTo>
                                      <a:pt x="421" y="350"/>
                                    </a:lnTo>
                                    <a:lnTo>
                                      <a:pt x="421" y="804"/>
                                    </a:lnTo>
                                    <a:lnTo>
                                      <a:pt x="430" y="857"/>
                                    </a:lnTo>
                                    <a:lnTo>
                                      <a:pt x="444" y="884"/>
                                    </a:lnTo>
                                    <a:lnTo>
                                      <a:pt x="411" y="916"/>
                                    </a:lnTo>
                                    <a:lnTo>
                                      <a:pt x="345" y="931"/>
                                    </a:lnTo>
                                    <a:lnTo>
                                      <a:pt x="295" y="921"/>
                                    </a:lnTo>
                                    <a:lnTo>
                                      <a:pt x="306" y="815"/>
                                    </a:lnTo>
                                    <a:lnTo>
                                      <a:pt x="313" y="737"/>
                                    </a:lnTo>
                                    <a:lnTo>
                                      <a:pt x="333" y="541"/>
                                    </a:lnTo>
                                    <a:lnTo>
                                      <a:pt x="338" y="440"/>
                                    </a:lnTo>
                                    <a:lnTo>
                                      <a:pt x="337" y="421"/>
                                    </a:lnTo>
                                    <a:lnTo>
                                      <a:pt x="336" y="406"/>
                                    </a:lnTo>
                                    <a:lnTo>
                                      <a:pt x="332" y="390"/>
                                    </a:lnTo>
                                    <a:lnTo>
                                      <a:pt x="328" y="380"/>
                                    </a:lnTo>
                                    <a:lnTo>
                                      <a:pt x="318" y="371"/>
                                    </a:lnTo>
                                    <a:lnTo>
                                      <a:pt x="307" y="368"/>
                                    </a:lnTo>
                                    <a:lnTo>
                                      <a:pt x="295" y="365"/>
                                    </a:lnTo>
                                    <a:lnTo>
                                      <a:pt x="280" y="367"/>
                                    </a:lnTo>
                                    <a:lnTo>
                                      <a:pt x="270" y="370"/>
                                    </a:lnTo>
                                    <a:lnTo>
                                      <a:pt x="260" y="380"/>
                                    </a:lnTo>
                                    <a:lnTo>
                                      <a:pt x="250" y="396"/>
                                    </a:lnTo>
                                    <a:lnTo>
                                      <a:pt x="193" y="539"/>
                                    </a:lnTo>
                                    <a:lnTo>
                                      <a:pt x="165" y="607"/>
                                    </a:lnTo>
                                    <a:lnTo>
                                      <a:pt x="139" y="776"/>
                                    </a:lnTo>
                                    <a:lnTo>
                                      <a:pt x="138" y="909"/>
                                    </a:lnTo>
                                    <a:lnTo>
                                      <a:pt x="0" y="887"/>
                                    </a:lnTo>
                                    <a:lnTo>
                                      <a:pt x="19" y="846"/>
                                    </a:lnTo>
                                    <a:lnTo>
                                      <a:pt x="29" y="790"/>
                                    </a:lnTo>
                                    <a:lnTo>
                                      <a:pt x="69" y="658"/>
                                    </a:lnTo>
                                    <a:lnTo>
                                      <a:pt x="108" y="522"/>
                                    </a:lnTo>
                                    <a:lnTo>
                                      <a:pt x="146" y="398"/>
                                    </a:lnTo>
                                    <a:lnTo>
                                      <a:pt x="217" y="298"/>
                                    </a:lnTo>
                                    <a:lnTo>
                                      <a:pt x="210" y="151"/>
                                    </a:lnTo>
                                    <a:lnTo>
                                      <a:pt x="132" y="7"/>
                                    </a:lnTo>
                                    <a:lnTo>
                                      <a:pt x="219" y="0"/>
                                    </a:lnTo>
                                    <a:close/>
                                  </a:path>
                                </a:pathLst>
                              </a:custGeom>
                              <a:solidFill>
                                <a:srgbClr val="9F3FDF"/>
                              </a:solidFill>
                              <a:ln w="9525">
                                <a:noFill/>
                              </a:ln>
                            </p:spPr>
                            <p:txBody>
                              <a:bodyPr/>
                              <a:p>
                                <a:pPr eaLnBrk="1" hangingPunct="1">
                                  <a:lnSpc>
                                    <a:spcPct val="90000"/>
                                  </a:lnSpc>
                                </a:pPr>
                                <a:endParaRPr lang="zh-CN" altLang="en-US" b="1">
                                  <a:solidFill>
                                    <a:srgbClr val="333399"/>
                                  </a:solidFill>
                                </a:endParaRPr>
                              </a:p>
                            </p:txBody>
                          </p:sp>
                        </p:grpSp>
                        <p:sp>
                          <p:nvSpPr>
                            <p:cNvPr id="2594895" name="任意多边形 2594894"/>
                            <p:cNvSpPr/>
                            <p:nvPr/>
                          </p:nvSpPr>
                          <p:spPr>
                            <a:xfrm>
                              <a:off x="1622" y="1795"/>
                              <a:ext cx="336" cy="633"/>
                            </a:xfrm>
                            <a:custGeom>
                              <a:avLst/>
                              <a:gdLst/>
                              <a:ahLst/>
                              <a:cxnLst/>
                              <a:pathLst>
                                <a:path w="336" h="633">
                                  <a:moveTo>
                                    <a:pt x="135" y="0"/>
                                  </a:moveTo>
                                  <a:lnTo>
                                    <a:pt x="234" y="0"/>
                                  </a:lnTo>
                                  <a:lnTo>
                                    <a:pt x="252" y="18"/>
                                  </a:lnTo>
                                  <a:lnTo>
                                    <a:pt x="264" y="32"/>
                                  </a:lnTo>
                                  <a:lnTo>
                                    <a:pt x="277" y="53"/>
                                  </a:lnTo>
                                  <a:lnTo>
                                    <a:pt x="290" y="74"/>
                                  </a:lnTo>
                                  <a:lnTo>
                                    <a:pt x="301" y="97"/>
                                  </a:lnTo>
                                  <a:lnTo>
                                    <a:pt x="312" y="119"/>
                                  </a:lnTo>
                                  <a:lnTo>
                                    <a:pt x="323" y="139"/>
                                  </a:lnTo>
                                  <a:lnTo>
                                    <a:pt x="333" y="160"/>
                                  </a:lnTo>
                                  <a:lnTo>
                                    <a:pt x="336" y="180"/>
                                  </a:lnTo>
                                  <a:lnTo>
                                    <a:pt x="331" y="295"/>
                                  </a:lnTo>
                                  <a:lnTo>
                                    <a:pt x="323" y="316"/>
                                  </a:lnTo>
                                  <a:lnTo>
                                    <a:pt x="314" y="335"/>
                                  </a:lnTo>
                                  <a:lnTo>
                                    <a:pt x="305" y="351"/>
                                  </a:lnTo>
                                  <a:lnTo>
                                    <a:pt x="293" y="367"/>
                                  </a:lnTo>
                                  <a:lnTo>
                                    <a:pt x="280" y="382"/>
                                  </a:lnTo>
                                  <a:lnTo>
                                    <a:pt x="263" y="395"/>
                                  </a:lnTo>
                                  <a:lnTo>
                                    <a:pt x="246" y="406"/>
                                  </a:lnTo>
                                  <a:lnTo>
                                    <a:pt x="225" y="415"/>
                                  </a:lnTo>
                                  <a:lnTo>
                                    <a:pt x="205" y="423"/>
                                  </a:lnTo>
                                  <a:lnTo>
                                    <a:pt x="184" y="431"/>
                                  </a:lnTo>
                                  <a:lnTo>
                                    <a:pt x="164" y="440"/>
                                  </a:lnTo>
                                  <a:lnTo>
                                    <a:pt x="145" y="446"/>
                                  </a:lnTo>
                                  <a:lnTo>
                                    <a:pt x="123" y="454"/>
                                  </a:lnTo>
                                  <a:lnTo>
                                    <a:pt x="107" y="461"/>
                                  </a:lnTo>
                                  <a:lnTo>
                                    <a:pt x="90" y="470"/>
                                  </a:lnTo>
                                  <a:lnTo>
                                    <a:pt x="73" y="482"/>
                                  </a:lnTo>
                                  <a:lnTo>
                                    <a:pt x="59" y="495"/>
                                  </a:lnTo>
                                  <a:lnTo>
                                    <a:pt x="47" y="509"/>
                                  </a:lnTo>
                                  <a:lnTo>
                                    <a:pt x="37" y="526"/>
                                  </a:lnTo>
                                  <a:lnTo>
                                    <a:pt x="29" y="543"/>
                                  </a:lnTo>
                                  <a:lnTo>
                                    <a:pt x="21" y="564"/>
                                  </a:lnTo>
                                  <a:lnTo>
                                    <a:pt x="15" y="582"/>
                                  </a:lnTo>
                                  <a:lnTo>
                                    <a:pt x="10" y="604"/>
                                  </a:lnTo>
                                  <a:lnTo>
                                    <a:pt x="7" y="627"/>
                                  </a:lnTo>
                                  <a:lnTo>
                                    <a:pt x="4" y="633"/>
                                  </a:lnTo>
                                  <a:lnTo>
                                    <a:pt x="0" y="585"/>
                                  </a:lnTo>
                                  <a:lnTo>
                                    <a:pt x="2" y="551"/>
                                  </a:lnTo>
                                  <a:lnTo>
                                    <a:pt x="4" y="525"/>
                                  </a:lnTo>
                                  <a:lnTo>
                                    <a:pt x="9" y="506"/>
                                  </a:lnTo>
                                  <a:lnTo>
                                    <a:pt x="14" y="486"/>
                                  </a:lnTo>
                                  <a:lnTo>
                                    <a:pt x="23" y="470"/>
                                  </a:lnTo>
                                  <a:lnTo>
                                    <a:pt x="32" y="456"/>
                                  </a:lnTo>
                                  <a:lnTo>
                                    <a:pt x="42" y="442"/>
                                  </a:lnTo>
                                  <a:lnTo>
                                    <a:pt x="56" y="427"/>
                                  </a:lnTo>
                                  <a:lnTo>
                                    <a:pt x="69" y="415"/>
                                  </a:lnTo>
                                  <a:lnTo>
                                    <a:pt x="85" y="401"/>
                                  </a:lnTo>
                                  <a:lnTo>
                                    <a:pt x="102" y="385"/>
                                  </a:lnTo>
                                  <a:lnTo>
                                    <a:pt x="122" y="368"/>
                                  </a:lnTo>
                                  <a:lnTo>
                                    <a:pt x="139" y="352"/>
                                  </a:lnTo>
                                  <a:lnTo>
                                    <a:pt x="154" y="336"/>
                                  </a:lnTo>
                                  <a:lnTo>
                                    <a:pt x="167" y="319"/>
                                  </a:lnTo>
                                  <a:lnTo>
                                    <a:pt x="178" y="303"/>
                                  </a:lnTo>
                                  <a:lnTo>
                                    <a:pt x="188" y="286"/>
                                  </a:lnTo>
                                  <a:lnTo>
                                    <a:pt x="197" y="268"/>
                                  </a:lnTo>
                                  <a:lnTo>
                                    <a:pt x="205" y="248"/>
                                  </a:lnTo>
                                  <a:lnTo>
                                    <a:pt x="210" y="233"/>
                                  </a:lnTo>
                                  <a:lnTo>
                                    <a:pt x="135" y="0"/>
                                  </a:lnTo>
                                  <a:close/>
                                </a:path>
                              </a:pathLst>
                            </a:custGeom>
                            <a:solidFill>
                              <a:srgbClr val="5F009F"/>
                            </a:solidFill>
                            <a:ln w="9525">
                              <a:noFill/>
                            </a:ln>
                          </p:spPr>
                          <p:txBody>
                            <a:bodyPr/>
                            <a:p>
                              <a:pPr eaLnBrk="1" hangingPunct="1">
                                <a:lnSpc>
                                  <a:spcPct val="90000"/>
                                </a:lnSpc>
                              </a:pPr>
                              <a:endParaRPr lang="zh-CN" altLang="en-US" b="1">
                                <a:solidFill>
                                  <a:srgbClr val="333399"/>
                                </a:solidFill>
                              </a:endParaRPr>
                            </a:p>
                          </p:txBody>
                        </p:sp>
                      </p:grpSp>
                      <p:grpSp>
                        <p:nvGrpSpPr>
                          <p:cNvPr id="2594896" name="组合 2594895"/>
                          <p:cNvGrpSpPr/>
                          <p:nvPr/>
                        </p:nvGrpSpPr>
                        <p:grpSpPr>
                          <a:xfrm>
                            <a:off x="1684" y="1807"/>
                            <a:ext cx="394" cy="299"/>
                            <a:chOff x="1684" y="1807"/>
                            <a:chExt cx="394" cy="299"/>
                          </a:xfrm>
                        </p:grpSpPr>
                        <p:sp>
                          <p:nvSpPr>
                            <p:cNvPr id="2594897" name="任意多边形 2594896"/>
                            <p:cNvSpPr/>
                            <p:nvPr/>
                          </p:nvSpPr>
                          <p:spPr>
                            <a:xfrm>
                              <a:off x="1684" y="1807"/>
                              <a:ext cx="337" cy="294"/>
                            </a:xfrm>
                            <a:custGeom>
                              <a:avLst/>
                              <a:gdLst/>
                              <a:ahLst/>
                              <a:cxnLst/>
                              <a:pathLst>
                                <a:path w="337" h="294">
                                  <a:moveTo>
                                    <a:pt x="99" y="8"/>
                                  </a:moveTo>
                                  <a:lnTo>
                                    <a:pt x="84" y="3"/>
                                  </a:lnTo>
                                  <a:lnTo>
                                    <a:pt x="64" y="0"/>
                                  </a:lnTo>
                                  <a:lnTo>
                                    <a:pt x="46" y="2"/>
                                  </a:lnTo>
                                  <a:lnTo>
                                    <a:pt x="28" y="7"/>
                                  </a:lnTo>
                                  <a:lnTo>
                                    <a:pt x="14" y="16"/>
                                  </a:lnTo>
                                  <a:lnTo>
                                    <a:pt x="7" y="27"/>
                                  </a:lnTo>
                                  <a:lnTo>
                                    <a:pt x="3" y="42"/>
                                  </a:lnTo>
                                  <a:lnTo>
                                    <a:pt x="0" y="56"/>
                                  </a:lnTo>
                                  <a:lnTo>
                                    <a:pt x="1" y="70"/>
                                  </a:lnTo>
                                  <a:lnTo>
                                    <a:pt x="4" y="87"/>
                                  </a:lnTo>
                                  <a:lnTo>
                                    <a:pt x="7" y="108"/>
                                  </a:lnTo>
                                  <a:lnTo>
                                    <a:pt x="11" y="118"/>
                                  </a:lnTo>
                                  <a:lnTo>
                                    <a:pt x="28" y="127"/>
                                  </a:lnTo>
                                  <a:lnTo>
                                    <a:pt x="43" y="135"/>
                                  </a:lnTo>
                                  <a:lnTo>
                                    <a:pt x="57" y="144"/>
                                  </a:lnTo>
                                  <a:lnTo>
                                    <a:pt x="71" y="154"/>
                                  </a:lnTo>
                                  <a:lnTo>
                                    <a:pt x="85" y="166"/>
                                  </a:lnTo>
                                  <a:lnTo>
                                    <a:pt x="98" y="177"/>
                                  </a:lnTo>
                                  <a:lnTo>
                                    <a:pt x="111" y="187"/>
                                  </a:lnTo>
                                  <a:lnTo>
                                    <a:pt x="125" y="203"/>
                                  </a:lnTo>
                                  <a:lnTo>
                                    <a:pt x="139" y="220"/>
                                  </a:lnTo>
                                  <a:lnTo>
                                    <a:pt x="152" y="236"/>
                                  </a:lnTo>
                                  <a:lnTo>
                                    <a:pt x="157" y="240"/>
                                  </a:lnTo>
                                  <a:lnTo>
                                    <a:pt x="179" y="247"/>
                                  </a:lnTo>
                                  <a:lnTo>
                                    <a:pt x="209" y="257"/>
                                  </a:lnTo>
                                  <a:lnTo>
                                    <a:pt x="237" y="269"/>
                                  </a:lnTo>
                                  <a:lnTo>
                                    <a:pt x="263" y="280"/>
                                  </a:lnTo>
                                  <a:lnTo>
                                    <a:pt x="285" y="287"/>
                                  </a:lnTo>
                                  <a:lnTo>
                                    <a:pt x="313" y="294"/>
                                  </a:lnTo>
                                  <a:lnTo>
                                    <a:pt x="337" y="294"/>
                                  </a:lnTo>
                                  <a:lnTo>
                                    <a:pt x="323" y="161"/>
                                  </a:lnTo>
                                  <a:lnTo>
                                    <a:pt x="293" y="164"/>
                                  </a:lnTo>
                                  <a:lnTo>
                                    <a:pt x="267" y="160"/>
                                  </a:lnTo>
                                  <a:lnTo>
                                    <a:pt x="245" y="155"/>
                                  </a:lnTo>
                                  <a:lnTo>
                                    <a:pt x="225" y="151"/>
                                  </a:lnTo>
                                  <a:lnTo>
                                    <a:pt x="210" y="139"/>
                                  </a:lnTo>
                                  <a:lnTo>
                                    <a:pt x="196" y="128"/>
                                  </a:lnTo>
                                  <a:lnTo>
                                    <a:pt x="178" y="116"/>
                                  </a:lnTo>
                                  <a:lnTo>
                                    <a:pt x="162" y="107"/>
                                  </a:lnTo>
                                  <a:lnTo>
                                    <a:pt x="153" y="101"/>
                                  </a:lnTo>
                                  <a:lnTo>
                                    <a:pt x="143" y="80"/>
                                  </a:lnTo>
                                  <a:lnTo>
                                    <a:pt x="127" y="57"/>
                                  </a:lnTo>
                                  <a:lnTo>
                                    <a:pt x="116" y="34"/>
                                  </a:lnTo>
                                  <a:lnTo>
                                    <a:pt x="99" y="8"/>
                                  </a:lnTo>
                                  <a:close/>
                                </a:path>
                              </a:pathLst>
                            </a:custGeom>
                            <a:solidFill>
                              <a:srgbClr val="BF5FFF"/>
                            </a:solidFill>
                            <a:ln w="9525">
                              <a:noFill/>
                            </a:ln>
                          </p:spPr>
                          <p:txBody>
                            <a:bodyPr/>
                            <a:p>
                              <a:pPr eaLnBrk="1" hangingPunct="1">
                                <a:lnSpc>
                                  <a:spcPct val="90000"/>
                                </a:lnSpc>
                              </a:pPr>
                              <a:endParaRPr lang="zh-CN" altLang="en-US" b="1">
                                <a:solidFill>
                                  <a:srgbClr val="333399"/>
                                </a:solidFill>
                              </a:endParaRPr>
                            </a:p>
                          </p:txBody>
                        </p:sp>
                        <p:sp>
                          <p:nvSpPr>
                            <p:cNvPr id="2594898" name="椭圆 2594897"/>
                            <p:cNvSpPr/>
                            <p:nvPr/>
                          </p:nvSpPr>
                          <p:spPr>
                            <a:xfrm>
                              <a:off x="1965" y="1967"/>
                              <a:ext cx="113" cy="139"/>
                            </a:xfrm>
                            <a:prstGeom prst="ellipse">
                              <a:avLst/>
                            </a:prstGeom>
                            <a:solidFill>
                              <a:srgbClr val="5F009F"/>
                            </a:solidFill>
                            <a:ln w="9525">
                              <a:noFill/>
                            </a:ln>
                          </p:spPr>
                          <p:txBody>
                            <a:bodyPr/>
                            <a:p>
                              <a:pPr eaLnBrk="1" hangingPunct="1">
                                <a:lnSpc>
                                  <a:spcPct val="90000"/>
                                </a:lnSpc>
                              </a:pPr>
                              <a:endParaRPr lang="zh-CN" altLang="en-US" b="1">
                                <a:solidFill>
                                  <a:srgbClr val="333399"/>
                                </a:solidFill>
                              </a:endParaRPr>
                            </a:p>
                          </p:txBody>
                        </p:sp>
                      </p:grpSp>
                    </p:grpSp>
                  </p:grpSp>
                  <p:grpSp>
                    <p:nvGrpSpPr>
                      <p:cNvPr id="2594899" name="组合 2594898"/>
                      <p:cNvGrpSpPr/>
                      <p:nvPr/>
                    </p:nvGrpSpPr>
                    <p:grpSpPr>
                      <a:xfrm>
                        <a:off x="1786" y="1712"/>
                        <a:ext cx="196" cy="141"/>
                        <a:chOff x="1786" y="1712"/>
                        <a:chExt cx="196" cy="141"/>
                      </a:xfrm>
                    </p:grpSpPr>
                    <p:sp>
                      <p:nvSpPr>
                        <p:cNvPr id="2594900" name="任意多边形 2594899"/>
                        <p:cNvSpPr/>
                        <p:nvPr/>
                      </p:nvSpPr>
                      <p:spPr>
                        <a:xfrm>
                          <a:off x="1786" y="1712"/>
                          <a:ext cx="196" cy="141"/>
                        </a:xfrm>
                        <a:custGeom>
                          <a:avLst/>
                          <a:gdLst/>
                          <a:ahLst/>
                          <a:cxnLst/>
                          <a:pathLst>
                            <a:path w="196" h="141">
                              <a:moveTo>
                                <a:pt x="108" y="39"/>
                              </a:moveTo>
                              <a:lnTo>
                                <a:pt x="127" y="2"/>
                              </a:lnTo>
                              <a:lnTo>
                                <a:pt x="141" y="0"/>
                              </a:lnTo>
                              <a:lnTo>
                                <a:pt x="154" y="3"/>
                              </a:lnTo>
                              <a:lnTo>
                                <a:pt x="167" y="7"/>
                              </a:lnTo>
                              <a:lnTo>
                                <a:pt x="178" y="15"/>
                              </a:lnTo>
                              <a:lnTo>
                                <a:pt x="186" y="25"/>
                              </a:lnTo>
                              <a:lnTo>
                                <a:pt x="193" y="37"/>
                              </a:lnTo>
                              <a:lnTo>
                                <a:pt x="196" y="52"/>
                              </a:lnTo>
                              <a:lnTo>
                                <a:pt x="195" y="70"/>
                              </a:lnTo>
                              <a:lnTo>
                                <a:pt x="189" y="84"/>
                              </a:lnTo>
                              <a:lnTo>
                                <a:pt x="182" y="97"/>
                              </a:lnTo>
                              <a:lnTo>
                                <a:pt x="175" y="106"/>
                              </a:lnTo>
                              <a:lnTo>
                                <a:pt x="168" y="115"/>
                              </a:lnTo>
                              <a:lnTo>
                                <a:pt x="104" y="88"/>
                              </a:lnTo>
                              <a:lnTo>
                                <a:pt x="87" y="95"/>
                              </a:lnTo>
                              <a:lnTo>
                                <a:pt x="42" y="141"/>
                              </a:lnTo>
                              <a:lnTo>
                                <a:pt x="31" y="135"/>
                              </a:lnTo>
                              <a:lnTo>
                                <a:pt x="24" y="129"/>
                              </a:lnTo>
                              <a:lnTo>
                                <a:pt x="17" y="121"/>
                              </a:lnTo>
                              <a:lnTo>
                                <a:pt x="10" y="110"/>
                              </a:lnTo>
                              <a:lnTo>
                                <a:pt x="3" y="97"/>
                              </a:lnTo>
                              <a:lnTo>
                                <a:pt x="0" y="82"/>
                              </a:lnTo>
                              <a:lnTo>
                                <a:pt x="0" y="65"/>
                              </a:lnTo>
                              <a:lnTo>
                                <a:pt x="2" y="51"/>
                              </a:lnTo>
                              <a:lnTo>
                                <a:pt x="5" y="37"/>
                              </a:lnTo>
                              <a:lnTo>
                                <a:pt x="10" y="28"/>
                              </a:lnTo>
                              <a:lnTo>
                                <a:pt x="16" y="17"/>
                              </a:lnTo>
                              <a:lnTo>
                                <a:pt x="76" y="42"/>
                              </a:lnTo>
                              <a:lnTo>
                                <a:pt x="108" y="39"/>
                              </a:lnTo>
                              <a:close/>
                            </a:path>
                          </a:pathLst>
                        </a:custGeom>
                        <a:solidFill>
                          <a:srgbClr val="FFFF00"/>
                        </a:solidFill>
                        <a:ln w="9525">
                          <a:noFill/>
                        </a:ln>
                      </p:spPr>
                      <p:txBody>
                        <a:bodyPr/>
                        <a:p>
                          <a:pPr eaLnBrk="1" hangingPunct="1">
                            <a:lnSpc>
                              <a:spcPct val="90000"/>
                            </a:lnSpc>
                          </a:pPr>
                          <a:endParaRPr lang="zh-CN" altLang="en-US" b="1">
                            <a:solidFill>
                              <a:srgbClr val="333399"/>
                            </a:solidFill>
                          </a:endParaRPr>
                        </a:p>
                      </p:txBody>
                    </p:sp>
                    <p:sp>
                      <p:nvSpPr>
                        <p:cNvPr id="2594901" name="椭圆 2594900"/>
                        <p:cNvSpPr/>
                        <p:nvPr/>
                      </p:nvSpPr>
                      <p:spPr>
                        <a:xfrm>
                          <a:off x="1849" y="1744"/>
                          <a:ext cx="79"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02" name="椭圆 2594901"/>
                        <p:cNvSpPr/>
                        <p:nvPr/>
                      </p:nvSpPr>
                      <p:spPr>
                        <a:xfrm>
                          <a:off x="1837" y="1745"/>
                          <a:ext cx="79"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03" name="椭圆 2594902"/>
                        <p:cNvSpPr/>
                        <p:nvPr/>
                      </p:nvSpPr>
                      <p:spPr>
                        <a:xfrm>
                          <a:off x="1843" y="1744"/>
                          <a:ext cx="79" cy="69"/>
                        </a:xfrm>
                        <a:prstGeom prst="ellipse">
                          <a:avLst/>
                        </a:prstGeom>
                        <a:solidFill>
                          <a:srgbClr val="FFFF00"/>
                        </a:solidFill>
                        <a:ln w="9525">
                          <a:noFill/>
                        </a:ln>
                      </p:spPr>
                      <p:txBody>
                        <a:bodyPr/>
                        <a:p>
                          <a:pPr eaLnBrk="1" hangingPunct="1">
                            <a:lnSpc>
                              <a:spcPct val="90000"/>
                            </a:lnSpc>
                          </a:pPr>
                          <a:endParaRPr lang="zh-CN" altLang="en-US" b="1">
                            <a:solidFill>
                              <a:srgbClr val="333399"/>
                            </a:solidFill>
                          </a:endParaRPr>
                        </a:p>
                      </p:txBody>
                    </p:sp>
                  </p:grpSp>
                </p:grpSp>
              </p:grpSp>
              <p:grpSp>
                <p:nvGrpSpPr>
                  <p:cNvPr id="2594904" name="组合 2594903"/>
                  <p:cNvGrpSpPr/>
                  <p:nvPr/>
                </p:nvGrpSpPr>
                <p:grpSpPr>
                  <a:xfrm>
                    <a:off x="2001" y="1902"/>
                    <a:ext cx="362" cy="274"/>
                    <a:chOff x="2001" y="1902"/>
                    <a:chExt cx="362" cy="274"/>
                  </a:xfrm>
                </p:grpSpPr>
                <p:grpSp>
                  <p:nvGrpSpPr>
                    <p:cNvPr id="2594905" name="组合 2594904"/>
                    <p:cNvGrpSpPr/>
                    <p:nvPr/>
                  </p:nvGrpSpPr>
                  <p:grpSpPr>
                    <a:xfrm>
                      <a:off x="2001" y="1993"/>
                      <a:ext cx="95" cy="94"/>
                      <a:chOff x="2001" y="1993"/>
                      <a:chExt cx="95" cy="94"/>
                    </a:xfrm>
                  </p:grpSpPr>
                  <p:sp>
                    <p:nvSpPr>
                      <p:cNvPr id="2594906" name="椭圆 2594905"/>
                      <p:cNvSpPr/>
                      <p:nvPr/>
                    </p:nvSpPr>
                    <p:spPr>
                      <a:xfrm>
                        <a:off x="2001" y="1998"/>
                        <a:ext cx="84" cy="8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07" name="椭圆 2594906"/>
                      <p:cNvSpPr/>
                      <p:nvPr/>
                    </p:nvSpPr>
                    <p:spPr>
                      <a:xfrm>
                        <a:off x="2013" y="1993"/>
                        <a:ext cx="83" cy="9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4908" name="组合 2594907"/>
                    <p:cNvGrpSpPr/>
                    <p:nvPr/>
                  </p:nvGrpSpPr>
                  <p:grpSpPr>
                    <a:xfrm>
                      <a:off x="2063" y="1902"/>
                      <a:ext cx="300" cy="274"/>
                      <a:chOff x="2063" y="1902"/>
                      <a:chExt cx="300" cy="274"/>
                    </a:xfrm>
                  </p:grpSpPr>
                  <p:grpSp>
                    <p:nvGrpSpPr>
                      <p:cNvPr id="2594909" name="组合 2594908"/>
                      <p:cNvGrpSpPr/>
                      <p:nvPr/>
                    </p:nvGrpSpPr>
                    <p:grpSpPr>
                      <a:xfrm>
                        <a:off x="2065" y="1909"/>
                        <a:ext cx="298" cy="267"/>
                        <a:chOff x="2065" y="1909"/>
                        <a:chExt cx="298" cy="267"/>
                      </a:xfrm>
                    </p:grpSpPr>
                    <p:grpSp>
                      <p:nvGrpSpPr>
                        <p:cNvPr id="2594910" name="组合 2594909"/>
                        <p:cNvGrpSpPr/>
                        <p:nvPr/>
                      </p:nvGrpSpPr>
                      <p:grpSpPr>
                        <a:xfrm>
                          <a:off x="2065" y="1909"/>
                          <a:ext cx="298" cy="267"/>
                          <a:chOff x="2065" y="1909"/>
                          <a:chExt cx="298" cy="267"/>
                        </a:xfrm>
                      </p:grpSpPr>
                      <p:sp>
                        <p:nvSpPr>
                          <p:cNvPr id="2594911" name="椭圆 2594910"/>
                          <p:cNvSpPr/>
                          <p:nvPr/>
                        </p:nvSpPr>
                        <p:spPr>
                          <a:xfrm>
                            <a:off x="2065" y="1954"/>
                            <a:ext cx="196" cy="17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12" name="椭圆 2594911"/>
                          <p:cNvSpPr/>
                          <p:nvPr/>
                        </p:nvSpPr>
                        <p:spPr>
                          <a:xfrm>
                            <a:off x="2313" y="2037"/>
                            <a:ext cx="48" cy="5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13" name="椭圆 2594912"/>
                          <p:cNvSpPr/>
                          <p:nvPr/>
                        </p:nvSpPr>
                        <p:spPr>
                          <a:xfrm>
                            <a:off x="2258" y="2096"/>
                            <a:ext cx="47" cy="50"/>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14" name="椭圆 2594913"/>
                          <p:cNvSpPr/>
                          <p:nvPr/>
                        </p:nvSpPr>
                        <p:spPr>
                          <a:xfrm>
                            <a:off x="2192" y="2131"/>
                            <a:ext cx="44" cy="45"/>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15" name="椭圆 2594914"/>
                          <p:cNvSpPr/>
                          <p:nvPr/>
                        </p:nvSpPr>
                        <p:spPr>
                          <a:xfrm>
                            <a:off x="2318" y="1972"/>
                            <a:ext cx="45" cy="47"/>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sp>
                        <p:nvSpPr>
                          <p:cNvPr id="2594916" name="椭圆 2594915"/>
                          <p:cNvSpPr/>
                          <p:nvPr/>
                        </p:nvSpPr>
                        <p:spPr>
                          <a:xfrm>
                            <a:off x="2211" y="1909"/>
                            <a:ext cx="63" cy="69"/>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sp>
                      <p:nvSpPr>
                        <p:cNvPr id="2594917" name="任意多边形 2594916"/>
                        <p:cNvSpPr/>
                        <p:nvPr/>
                      </p:nvSpPr>
                      <p:spPr>
                        <a:xfrm>
                          <a:off x="2131" y="1913"/>
                          <a:ext cx="211" cy="254"/>
                        </a:xfrm>
                        <a:custGeom>
                          <a:avLst/>
                          <a:gdLst/>
                          <a:ahLst/>
                          <a:cxnLst/>
                          <a:pathLst>
                            <a:path w="211" h="254">
                              <a:moveTo>
                                <a:pt x="21" y="41"/>
                              </a:moveTo>
                              <a:lnTo>
                                <a:pt x="97" y="0"/>
                              </a:lnTo>
                              <a:lnTo>
                                <a:pt x="134" y="55"/>
                              </a:lnTo>
                              <a:lnTo>
                                <a:pt x="97" y="79"/>
                              </a:lnTo>
                              <a:lnTo>
                                <a:pt x="204" y="59"/>
                              </a:lnTo>
                              <a:lnTo>
                                <a:pt x="211" y="104"/>
                              </a:lnTo>
                              <a:lnTo>
                                <a:pt x="138" y="118"/>
                              </a:lnTo>
                              <a:lnTo>
                                <a:pt x="204" y="122"/>
                              </a:lnTo>
                              <a:lnTo>
                                <a:pt x="203" y="173"/>
                              </a:lnTo>
                              <a:lnTo>
                                <a:pt x="136" y="164"/>
                              </a:lnTo>
                              <a:lnTo>
                                <a:pt x="166" y="190"/>
                              </a:lnTo>
                              <a:lnTo>
                                <a:pt x="136" y="226"/>
                              </a:lnTo>
                              <a:lnTo>
                                <a:pt x="94" y="204"/>
                              </a:lnTo>
                              <a:lnTo>
                                <a:pt x="104" y="236"/>
                              </a:lnTo>
                              <a:lnTo>
                                <a:pt x="66" y="254"/>
                              </a:lnTo>
                              <a:lnTo>
                                <a:pt x="0" y="212"/>
                              </a:lnTo>
                              <a:lnTo>
                                <a:pt x="21" y="41"/>
                              </a:lnTo>
                              <a:close/>
                            </a:path>
                          </a:pathLst>
                        </a:custGeom>
                        <a:solidFill>
                          <a:srgbClr val="000000"/>
                        </a:solidFill>
                        <a:ln w="9525">
                          <a:noFill/>
                        </a:ln>
                      </p:spPr>
                      <p:txBody>
                        <a:bodyPr/>
                        <a:p>
                          <a:pPr eaLnBrk="1" hangingPunct="1">
                            <a:lnSpc>
                              <a:spcPct val="90000"/>
                            </a:lnSpc>
                          </a:pPr>
                          <a:endParaRPr lang="zh-CN" altLang="en-US" b="1">
                            <a:solidFill>
                              <a:srgbClr val="333399"/>
                            </a:solidFill>
                          </a:endParaRPr>
                        </a:p>
                      </p:txBody>
                    </p:sp>
                  </p:grpSp>
                  <p:grpSp>
                    <p:nvGrpSpPr>
                      <p:cNvPr id="2594918" name="组合 2594917"/>
                      <p:cNvGrpSpPr/>
                      <p:nvPr/>
                    </p:nvGrpSpPr>
                    <p:grpSpPr>
                      <a:xfrm>
                        <a:off x="2063" y="1902"/>
                        <a:ext cx="298" cy="267"/>
                        <a:chOff x="2063" y="1902"/>
                        <a:chExt cx="298" cy="267"/>
                      </a:xfrm>
                    </p:grpSpPr>
                    <p:grpSp>
                      <p:nvGrpSpPr>
                        <p:cNvPr id="2594919" name="组合 2594918"/>
                        <p:cNvGrpSpPr/>
                        <p:nvPr/>
                      </p:nvGrpSpPr>
                      <p:grpSpPr>
                        <a:xfrm>
                          <a:off x="2063" y="1902"/>
                          <a:ext cx="298" cy="267"/>
                          <a:chOff x="2063" y="1902"/>
                          <a:chExt cx="298" cy="267"/>
                        </a:xfrm>
                      </p:grpSpPr>
                      <p:sp>
                        <p:nvSpPr>
                          <p:cNvPr id="2594920" name="椭圆 2594919"/>
                          <p:cNvSpPr/>
                          <p:nvPr/>
                        </p:nvSpPr>
                        <p:spPr>
                          <a:xfrm>
                            <a:off x="2063" y="1947"/>
                            <a:ext cx="195" cy="179"/>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21" name="椭圆 2594920"/>
                          <p:cNvSpPr/>
                          <p:nvPr/>
                        </p:nvSpPr>
                        <p:spPr>
                          <a:xfrm>
                            <a:off x="2310" y="2030"/>
                            <a:ext cx="48" cy="5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22" name="椭圆 2594921"/>
                          <p:cNvSpPr/>
                          <p:nvPr/>
                        </p:nvSpPr>
                        <p:spPr>
                          <a:xfrm>
                            <a:off x="2256" y="2089"/>
                            <a:ext cx="47" cy="50"/>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23" name="椭圆 2594922"/>
                          <p:cNvSpPr/>
                          <p:nvPr/>
                        </p:nvSpPr>
                        <p:spPr>
                          <a:xfrm>
                            <a:off x="2190" y="2124"/>
                            <a:ext cx="44" cy="45"/>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24" name="椭圆 2594923"/>
                          <p:cNvSpPr/>
                          <p:nvPr/>
                        </p:nvSpPr>
                        <p:spPr>
                          <a:xfrm>
                            <a:off x="2316" y="1965"/>
                            <a:ext cx="45" cy="4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25" name="椭圆 2594924"/>
                          <p:cNvSpPr/>
                          <p:nvPr/>
                        </p:nvSpPr>
                        <p:spPr>
                          <a:xfrm>
                            <a:off x="2209" y="1902"/>
                            <a:ext cx="62" cy="69"/>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grpSp>
                    <p:sp>
                      <p:nvSpPr>
                        <p:cNvPr id="2594926" name="任意多边形 2594925"/>
                        <p:cNvSpPr/>
                        <p:nvPr/>
                      </p:nvSpPr>
                      <p:spPr>
                        <a:xfrm>
                          <a:off x="2129" y="1906"/>
                          <a:ext cx="211" cy="254"/>
                        </a:xfrm>
                        <a:custGeom>
                          <a:avLst/>
                          <a:gdLst/>
                          <a:ahLst/>
                          <a:cxnLst/>
                          <a:pathLst>
                            <a:path w="211" h="254">
                              <a:moveTo>
                                <a:pt x="21" y="41"/>
                              </a:moveTo>
                              <a:lnTo>
                                <a:pt x="96" y="0"/>
                              </a:lnTo>
                              <a:lnTo>
                                <a:pt x="134" y="55"/>
                              </a:lnTo>
                              <a:lnTo>
                                <a:pt x="96" y="79"/>
                              </a:lnTo>
                              <a:lnTo>
                                <a:pt x="204" y="59"/>
                              </a:lnTo>
                              <a:lnTo>
                                <a:pt x="211" y="104"/>
                              </a:lnTo>
                              <a:lnTo>
                                <a:pt x="138" y="118"/>
                              </a:lnTo>
                              <a:lnTo>
                                <a:pt x="204" y="122"/>
                              </a:lnTo>
                              <a:lnTo>
                                <a:pt x="202" y="173"/>
                              </a:lnTo>
                              <a:lnTo>
                                <a:pt x="135" y="164"/>
                              </a:lnTo>
                              <a:lnTo>
                                <a:pt x="166" y="190"/>
                              </a:lnTo>
                              <a:lnTo>
                                <a:pt x="136" y="226"/>
                              </a:lnTo>
                              <a:lnTo>
                                <a:pt x="94" y="204"/>
                              </a:lnTo>
                              <a:lnTo>
                                <a:pt x="103" y="236"/>
                              </a:lnTo>
                              <a:lnTo>
                                <a:pt x="66" y="254"/>
                              </a:lnTo>
                              <a:lnTo>
                                <a:pt x="0" y="212"/>
                              </a:lnTo>
                              <a:lnTo>
                                <a:pt x="21" y="41"/>
                              </a:lnTo>
                              <a:close/>
                            </a:path>
                          </a:pathLst>
                        </a:custGeom>
                        <a:solidFill>
                          <a:srgbClr val="FFFFFF"/>
                        </a:solidFill>
                        <a:ln w="9525">
                          <a:noFill/>
                        </a:ln>
                      </p:spPr>
                      <p:txBody>
                        <a:bodyPr/>
                        <a:p>
                          <a:pPr eaLnBrk="1" hangingPunct="1">
                            <a:lnSpc>
                              <a:spcPct val="90000"/>
                            </a:lnSpc>
                          </a:pPr>
                          <a:endParaRPr lang="zh-CN" altLang="en-US" b="1">
                            <a:solidFill>
                              <a:srgbClr val="333399"/>
                            </a:solidFill>
                          </a:endParaRPr>
                        </a:p>
                      </p:txBody>
                    </p:sp>
                  </p:grpSp>
                  <p:grpSp>
                    <p:nvGrpSpPr>
                      <p:cNvPr id="2594927" name="组合 2594926"/>
                      <p:cNvGrpSpPr/>
                      <p:nvPr/>
                    </p:nvGrpSpPr>
                    <p:grpSpPr>
                      <a:xfrm>
                        <a:off x="2103" y="2016"/>
                        <a:ext cx="90" cy="64"/>
                        <a:chOff x="2103" y="2016"/>
                        <a:chExt cx="90" cy="64"/>
                      </a:xfrm>
                    </p:grpSpPr>
                    <p:sp>
                      <p:nvSpPr>
                        <p:cNvPr id="2594928" name="直接连接符 2594927"/>
                        <p:cNvSpPr/>
                        <p:nvPr/>
                      </p:nvSpPr>
                      <p:spPr>
                        <a:xfrm flipV="1">
                          <a:off x="2113" y="2016"/>
                          <a:ext cx="73" cy="5"/>
                        </a:xfrm>
                        <a:prstGeom prst="line">
                          <a:avLst/>
                        </a:prstGeom>
                        <a:ln w="14288" cap="flat" cmpd="sng">
                          <a:solidFill>
                            <a:srgbClr val="000000"/>
                          </a:solidFill>
                          <a:prstDash val="solid"/>
                          <a:headEnd type="none" w="med" len="med"/>
                          <a:tailEnd type="none" w="med" len="med"/>
                        </a:ln>
                      </p:spPr>
                    </p:sp>
                    <p:sp>
                      <p:nvSpPr>
                        <p:cNvPr id="2594929" name="直接连接符 2594928"/>
                        <p:cNvSpPr/>
                        <p:nvPr/>
                      </p:nvSpPr>
                      <p:spPr>
                        <a:xfrm>
                          <a:off x="2103" y="2053"/>
                          <a:ext cx="90" cy="27"/>
                        </a:xfrm>
                        <a:prstGeom prst="line">
                          <a:avLst/>
                        </a:prstGeom>
                        <a:ln w="14288" cap="flat" cmpd="sng">
                          <a:solidFill>
                            <a:srgbClr val="000000"/>
                          </a:solidFill>
                          <a:prstDash val="solid"/>
                          <a:headEnd type="none" w="med" len="med"/>
                          <a:tailEnd type="none" w="med" len="med"/>
                        </a:ln>
                      </p:spPr>
                    </p:sp>
                  </p:grpSp>
                </p:grpSp>
              </p:grpSp>
            </p:grpSp>
          </p:grpSp>
        </p:grpSp>
        <p:grpSp>
          <p:nvGrpSpPr>
            <p:cNvPr id="2594930" name="组合 2594929"/>
            <p:cNvGrpSpPr/>
            <p:nvPr/>
          </p:nvGrpSpPr>
          <p:grpSpPr>
            <a:xfrm>
              <a:off x="2560" y="1526"/>
              <a:ext cx="411" cy="291"/>
              <a:chOff x="2560" y="1526"/>
              <a:chExt cx="411" cy="291"/>
            </a:xfrm>
          </p:grpSpPr>
          <p:sp>
            <p:nvSpPr>
              <p:cNvPr id="2594931" name="椭圆 2594930"/>
              <p:cNvSpPr/>
              <p:nvPr/>
            </p:nvSpPr>
            <p:spPr>
              <a:xfrm>
                <a:off x="2560" y="1526"/>
                <a:ext cx="30" cy="25"/>
              </a:xfrm>
              <a:prstGeom prst="ellipse">
                <a:avLst/>
              </a:prstGeom>
              <a:solidFill>
                <a:srgbClr val="008000"/>
              </a:solidFill>
              <a:ln w="9525">
                <a:noFill/>
              </a:ln>
            </p:spPr>
            <p:txBody>
              <a:bodyPr/>
              <a:p>
                <a:pPr eaLnBrk="1" hangingPunct="1">
                  <a:lnSpc>
                    <a:spcPct val="90000"/>
                  </a:lnSpc>
                </a:pPr>
                <a:endParaRPr lang="zh-CN" altLang="en-US" b="1">
                  <a:solidFill>
                    <a:srgbClr val="333399"/>
                  </a:solidFill>
                </a:endParaRPr>
              </a:p>
            </p:txBody>
          </p:sp>
          <p:sp>
            <p:nvSpPr>
              <p:cNvPr id="2594932" name="任意多边形 2594931"/>
              <p:cNvSpPr/>
              <p:nvPr/>
            </p:nvSpPr>
            <p:spPr>
              <a:xfrm>
                <a:off x="2564" y="1527"/>
                <a:ext cx="237" cy="165"/>
              </a:xfrm>
              <a:custGeom>
                <a:avLst/>
                <a:gdLst/>
                <a:ahLst/>
                <a:cxnLst/>
                <a:pathLst>
                  <a:path w="237" h="165">
                    <a:moveTo>
                      <a:pt x="18" y="0"/>
                    </a:moveTo>
                    <a:lnTo>
                      <a:pt x="237" y="139"/>
                    </a:lnTo>
                    <a:lnTo>
                      <a:pt x="212" y="165"/>
                    </a:lnTo>
                    <a:lnTo>
                      <a:pt x="0" y="20"/>
                    </a:lnTo>
                    <a:lnTo>
                      <a:pt x="18" y="0"/>
                    </a:lnTo>
                    <a:close/>
                  </a:path>
                </a:pathLst>
              </a:custGeom>
              <a:solidFill>
                <a:srgbClr val="008000"/>
              </a:solidFill>
              <a:ln w="9525">
                <a:noFill/>
              </a:ln>
            </p:spPr>
            <p:txBody>
              <a:bodyPr/>
              <a:p>
                <a:pPr eaLnBrk="1" hangingPunct="1">
                  <a:lnSpc>
                    <a:spcPct val="90000"/>
                  </a:lnSpc>
                </a:pPr>
                <a:endParaRPr lang="zh-CN" altLang="en-US" b="1">
                  <a:solidFill>
                    <a:srgbClr val="333399"/>
                  </a:solidFill>
                </a:endParaRPr>
              </a:p>
            </p:txBody>
          </p:sp>
          <p:sp>
            <p:nvSpPr>
              <p:cNvPr id="2594933" name="任意多边形 2594932"/>
              <p:cNvSpPr/>
              <p:nvPr/>
            </p:nvSpPr>
            <p:spPr>
              <a:xfrm>
                <a:off x="2772" y="1668"/>
                <a:ext cx="166" cy="127"/>
              </a:xfrm>
              <a:custGeom>
                <a:avLst/>
                <a:gdLst/>
                <a:ahLst/>
                <a:cxnLst/>
                <a:pathLst>
                  <a:path w="166" h="127">
                    <a:moveTo>
                      <a:pt x="27" y="0"/>
                    </a:moveTo>
                    <a:lnTo>
                      <a:pt x="166" y="86"/>
                    </a:lnTo>
                    <a:lnTo>
                      <a:pt x="138" y="127"/>
                    </a:lnTo>
                    <a:lnTo>
                      <a:pt x="0" y="23"/>
                    </a:lnTo>
                    <a:lnTo>
                      <a:pt x="27" y="0"/>
                    </a:lnTo>
                    <a:close/>
                  </a:path>
                </a:pathLst>
              </a:custGeom>
              <a:solidFill>
                <a:srgbClr val="0000FF"/>
              </a:solidFill>
              <a:ln w="9525">
                <a:noFill/>
              </a:ln>
            </p:spPr>
            <p:txBody>
              <a:bodyPr/>
              <a:p>
                <a:pPr eaLnBrk="1" hangingPunct="1">
                  <a:lnSpc>
                    <a:spcPct val="90000"/>
                  </a:lnSpc>
                </a:pPr>
                <a:endParaRPr lang="zh-CN" altLang="en-US" b="1">
                  <a:solidFill>
                    <a:srgbClr val="333399"/>
                  </a:solidFill>
                </a:endParaRPr>
              </a:p>
            </p:txBody>
          </p:sp>
          <p:sp>
            <p:nvSpPr>
              <p:cNvPr id="2594934" name="椭圆 2594933"/>
              <p:cNvSpPr/>
              <p:nvPr/>
            </p:nvSpPr>
            <p:spPr>
              <a:xfrm>
                <a:off x="2766" y="1664"/>
                <a:ext cx="43" cy="32"/>
              </a:xfrm>
              <a:prstGeom prst="ellipse">
                <a:avLst/>
              </a:prstGeom>
              <a:solidFill>
                <a:srgbClr val="0000FF"/>
              </a:solidFill>
              <a:ln w="9525">
                <a:noFill/>
              </a:ln>
            </p:spPr>
            <p:txBody>
              <a:bodyPr/>
              <a:p>
                <a:pPr eaLnBrk="1" hangingPunct="1">
                  <a:lnSpc>
                    <a:spcPct val="90000"/>
                  </a:lnSpc>
                </a:pPr>
                <a:endParaRPr lang="zh-CN" altLang="en-US" b="1">
                  <a:solidFill>
                    <a:srgbClr val="333399"/>
                  </a:solidFill>
                </a:endParaRPr>
              </a:p>
            </p:txBody>
          </p:sp>
          <p:sp>
            <p:nvSpPr>
              <p:cNvPr id="2594935" name="椭圆 2594934"/>
              <p:cNvSpPr/>
              <p:nvPr/>
            </p:nvSpPr>
            <p:spPr>
              <a:xfrm>
                <a:off x="2905" y="1750"/>
                <a:ext cx="66" cy="67"/>
              </a:xfrm>
              <a:prstGeom prst="ellipse">
                <a:avLst/>
              </a:prstGeom>
              <a:solidFill>
                <a:srgbClr val="FFFFFF"/>
              </a:solidFill>
              <a:ln w="9525">
                <a:noFill/>
              </a:ln>
            </p:spPr>
            <p:txBody>
              <a:bodyPr/>
              <a:p>
                <a:pPr eaLnBrk="1" hangingPunct="1">
                  <a:lnSpc>
                    <a:spcPct val="90000"/>
                  </a:lnSpc>
                </a:pPr>
                <a:endParaRPr lang="zh-CN" altLang="en-US" b="1">
                  <a:solidFill>
                    <a:srgbClr val="333399"/>
                  </a:solidFill>
                </a:endParaRPr>
              </a:p>
            </p:txBody>
          </p:sp>
          <p:sp>
            <p:nvSpPr>
              <p:cNvPr id="2594936" name="椭圆 2594935"/>
              <p:cNvSpPr/>
              <p:nvPr/>
            </p:nvSpPr>
            <p:spPr>
              <a:xfrm>
                <a:off x="2915" y="1760"/>
                <a:ext cx="47" cy="48"/>
              </a:xfrm>
              <a:prstGeom prst="ellipse">
                <a:avLst/>
              </a:prstGeom>
              <a:solidFill>
                <a:srgbClr val="000000"/>
              </a:solidFill>
              <a:ln w="9525">
                <a:noFill/>
              </a:ln>
            </p:spPr>
            <p:txBody>
              <a:bodyPr/>
              <a:p>
                <a:pPr eaLnBrk="1" hangingPunct="1">
                  <a:lnSpc>
                    <a:spcPct val="90000"/>
                  </a:lnSpc>
                </a:pPr>
                <a:endParaRPr lang="zh-CN" altLang="en-US" b="1">
                  <a:solidFill>
                    <a:srgbClr val="333399"/>
                  </a:solidFill>
                </a:endParaRPr>
              </a:p>
            </p:txBody>
          </p:sp>
        </p:grpSp>
      </p:grpSp>
      <p:grpSp>
        <p:nvGrpSpPr>
          <p:cNvPr id="2594937" name="组合 2594936"/>
          <p:cNvGrpSpPr/>
          <p:nvPr/>
        </p:nvGrpSpPr>
        <p:grpSpPr>
          <a:xfrm>
            <a:off x="3276600" y="1628775"/>
            <a:ext cx="5353050" cy="996950"/>
            <a:chOff x="2043" y="1071"/>
            <a:chExt cx="3373" cy="628"/>
          </a:xfrm>
        </p:grpSpPr>
        <p:sp>
          <p:nvSpPr>
            <p:cNvPr id="2594938" name="云形标注 2594937"/>
            <p:cNvSpPr/>
            <p:nvPr/>
          </p:nvSpPr>
          <p:spPr>
            <a:xfrm flipV="1">
              <a:off x="2043" y="1071"/>
              <a:ext cx="3176" cy="628"/>
            </a:xfrm>
            <a:prstGeom prst="cloudCallout">
              <a:avLst>
                <a:gd name="adj1" fmla="val -41815"/>
                <a:gd name="adj2" fmla="val -114491"/>
              </a:avLst>
            </a:prstGeom>
            <a:solidFill>
              <a:srgbClr val="FAFAFA"/>
            </a:solidFill>
            <a:ln w="22225" cap="flat" cmpd="sng">
              <a:solidFill>
                <a:srgbClr val="00CCFF"/>
              </a:solidFill>
              <a:prstDash val="solid"/>
              <a:headEnd type="none" w="med" len="med"/>
              <a:tailEnd type="none" w="med" len="med"/>
            </a:ln>
          </p:spPr>
          <p:txBody>
            <a:bodyPr rot="10800000" anchor="ctr" anchorCtr="0"/>
            <a:p>
              <a:pPr algn="ctr" eaLnBrk="1" hangingPunct="1">
                <a:lnSpc>
                  <a:spcPct val="100000"/>
                </a:lnSpc>
              </a:pPr>
              <a:endParaRPr sz="4400" b="1" dirty="0">
                <a:solidFill>
                  <a:schemeClr val="tx1"/>
                </a:solidFill>
                <a:effectLst>
                  <a:outerShdw blurRad="38100" dist="38100" dir="2700000">
                    <a:srgbClr val="C0C0C0"/>
                  </a:outerShdw>
                </a:effectLst>
                <a:latin typeface="Times New Roman" panose="02020603050405020304" pitchFamily="18" charset="0"/>
                <a:ea typeface="黑体" panose="02010609060101010101" pitchFamily="49" charset="-122"/>
              </a:endParaRPr>
            </a:p>
          </p:txBody>
        </p:sp>
        <p:sp>
          <p:nvSpPr>
            <p:cNvPr id="2594939" name="文本框 2594938"/>
            <p:cNvSpPr txBox="1"/>
            <p:nvPr/>
          </p:nvSpPr>
          <p:spPr>
            <a:xfrm>
              <a:off x="2269" y="1197"/>
              <a:ext cx="3147" cy="365"/>
            </a:xfrm>
            <a:prstGeom prst="rect">
              <a:avLst/>
            </a:prstGeom>
            <a:noFill/>
            <a:ln w="9525">
              <a:noFill/>
            </a:ln>
          </p:spPr>
          <p:txBody>
            <a:bodyPr>
              <a:spAutoFit/>
            </a:bodyPr>
            <a:p>
              <a:pPr eaLnBrk="1" hangingPunct="1">
                <a:lnSpc>
                  <a:spcPct val="100000"/>
                </a:lnSpc>
              </a:pPr>
              <a:r>
                <a:rPr lang="zh-CN" altLang="en-US" sz="32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什么是</a:t>
              </a:r>
              <a:r>
                <a:rPr lang="zh-CN" altLang="en-US" sz="3200" b="1">
                  <a:solidFill>
                    <a:srgbClr val="FF0000"/>
                  </a:solidFill>
                  <a:effectLst>
                    <a:outerShdw blurRad="38100" dist="38100" dir="2700000">
                      <a:srgbClr val="C0C0C0"/>
                    </a:outerShdw>
                  </a:effectLst>
                  <a:latin typeface="굴림" pitchFamily="34" charset="-127"/>
                  <a:ea typeface="굴림" pitchFamily="34" charset="-127"/>
                </a:rPr>
                <a:t>〞</a:t>
              </a:r>
              <a:r>
                <a:rPr lang="zh-CN" altLang="en-US" sz="3200" b="1" dirty="0">
                  <a:solidFill>
                    <a:srgbClr val="FF0000"/>
                  </a:solidFill>
                  <a:effectLst>
                    <a:outerShdw blurRad="38100" dist="38100" dir="2700000">
                      <a:srgbClr val="C0C0C0"/>
                    </a:outerShdw>
                  </a:effectLst>
                  <a:latin typeface="굴림" pitchFamily="34" charset="-127"/>
                  <a:ea typeface="楷体_GB2312" pitchFamily="49" charset="-122"/>
                </a:rPr>
                <a:t>平均值滤波</a:t>
              </a:r>
              <a:r>
                <a:rPr lang="zh-CN" altLang="en-US" sz="3200" b="1">
                  <a:solidFill>
                    <a:srgbClr val="FF0000"/>
                  </a:solidFill>
                  <a:effectLst>
                    <a:outerShdw blurRad="38100" dist="38100" dir="2700000">
                      <a:srgbClr val="C0C0C0"/>
                    </a:outerShdw>
                  </a:effectLst>
                  <a:latin typeface="굴림" pitchFamily="34" charset="-127"/>
                  <a:ea typeface="굴림" pitchFamily="34" charset="-127"/>
                </a:rPr>
                <a:t>〞</a:t>
              </a:r>
              <a:r>
                <a:rPr lang="zh-CN" altLang="en-US" sz="1800" b="0">
                  <a:solidFill>
                    <a:schemeClr val="tx1"/>
                  </a:solidFill>
                  <a:effectLst>
                    <a:outerShdw blurRad="38100" dist="38100" dir="2700000">
                      <a:srgbClr val="C0C0C0"/>
                    </a:outerShdw>
                  </a:effectLst>
                  <a:latin typeface="굴림" pitchFamily="34" charset="-127"/>
                  <a:ea typeface="굴림" pitchFamily="34" charset="-127"/>
                </a:rPr>
                <a:t> </a:t>
              </a:r>
              <a:r>
                <a:rPr lang="zh-CN" altLang="en-US" sz="3200" b="1" dirty="0">
                  <a:solidFill>
                    <a:srgbClr val="FF0000"/>
                  </a:solidFill>
                  <a:effectLst>
                    <a:outerShdw blurRad="38100" dist="38100" dir="2700000">
                      <a:srgbClr val="C0C0C0"/>
                    </a:outerShdw>
                  </a:effectLst>
                  <a:latin typeface="Times New Roman" panose="02020603050405020304" pitchFamily="18" charset="0"/>
                  <a:ea typeface="黑体" panose="02010609060101010101" pitchFamily="49" charset="-122"/>
                </a:rPr>
                <a:t>？</a:t>
              </a:r>
              <a:endParaRPr lang="zh-CN" altLang="en-US" sz="3200" b="1" dirty="0">
                <a:solidFill>
                  <a:srgbClr val="FF0000"/>
                </a:solidFill>
                <a:effectLst>
                  <a:outerShdw blurRad="38100" dist="38100" dir="2700000">
                    <a:srgbClr val="C0C0C0"/>
                  </a:outerShdw>
                </a:effectLst>
                <a:latin typeface="Times New Roman" panose="02020603050405020304" pitchFamily="18" charset="0"/>
                <a:ea typeface="黑体" panose="02010609060101010101" pitchFamily="49" charset="-122"/>
              </a:endParaRPr>
            </a:p>
          </p:txBody>
        </p:sp>
      </p:grpSp>
      <p:sp>
        <p:nvSpPr>
          <p:cNvPr id="2594940" name="下箭头 2594939"/>
          <p:cNvSpPr/>
          <p:nvPr/>
        </p:nvSpPr>
        <p:spPr>
          <a:xfrm>
            <a:off x="5075238" y="3084513"/>
            <a:ext cx="936625" cy="1223962"/>
          </a:xfrm>
          <a:prstGeom prst="downArrow">
            <a:avLst>
              <a:gd name="adj1" fmla="val 50000"/>
              <a:gd name="adj2" fmla="val 32669"/>
            </a:avLst>
          </a:prstGeom>
          <a:solidFill>
            <a:schemeClr val="hlink"/>
          </a:solidFill>
          <a:ln w="9525" cap="flat" cmpd="sng">
            <a:solidFill>
              <a:schemeClr val="tx1"/>
            </a:solidFill>
            <a:prstDash val="solid"/>
            <a:miter/>
            <a:headEnd type="none" w="med" len="med"/>
            <a:tailEnd type="none" w="med" len="med"/>
          </a:ln>
        </p:spPr>
        <p:txBody>
          <a:bodyPr/>
          <a:p>
            <a:pPr eaLnBrk="1" hangingPunct="1">
              <a:lnSpc>
                <a:spcPct val="90000"/>
              </a:lnSpc>
            </a:pPr>
            <a:endParaRPr lang="zh-CN" altLang="en-US" b="1">
              <a:solidFill>
                <a:srgbClr val="333399"/>
              </a:solidFill>
            </a:endParaRPr>
          </a:p>
        </p:txBody>
      </p:sp>
      <p:grpSp>
        <p:nvGrpSpPr>
          <p:cNvPr id="2594941" name="组合 2594940"/>
          <p:cNvGrpSpPr/>
          <p:nvPr/>
        </p:nvGrpSpPr>
        <p:grpSpPr>
          <a:xfrm>
            <a:off x="434975" y="4560888"/>
            <a:ext cx="8351838" cy="1657350"/>
            <a:chOff x="340" y="2886"/>
            <a:chExt cx="5216" cy="1044"/>
          </a:xfrm>
        </p:grpSpPr>
        <p:sp>
          <p:nvSpPr>
            <p:cNvPr id="2594942" name="矩形 2594941"/>
            <p:cNvSpPr/>
            <p:nvPr/>
          </p:nvSpPr>
          <p:spPr>
            <a:xfrm>
              <a:off x="340" y="2886"/>
              <a:ext cx="5216" cy="1044"/>
            </a:xfrm>
            <a:prstGeom prst="rect">
              <a:avLst/>
            </a:prstGeom>
            <a:solidFill>
              <a:schemeClr val="accent1"/>
            </a:solidFill>
            <a:ln w="9525" cap="flat" cmpd="sng">
              <a:solidFill>
                <a:schemeClr val="tx1"/>
              </a:solidFill>
              <a:prstDash val="solid"/>
              <a:miter/>
              <a:headEnd type="none" w="med" len="med"/>
              <a:tailEnd type="none" w="med" len="med"/>
            </a:ln>
            <a:effectLst>
              <a:outerShdw dist="107763" dir="2699999" algn="ctr" rotWithShape="0">
                <a:schemeClr val="bg2">
                  <a:alpha val="50000"/>
                </a:schemeClr>
              </a:outerShdw>
            </a:effectLst>
          </p:spPr>
          <p:txBody>
            <a:bodyPr wrap="none" anchor="ctr" anchorCtr="0"/>
            <a:p>
              <a:pPr eaLnBrk="1" hangingPunct="1">
                <a:lnSpc>
                  <a:spcPct val="100000"/>
                </a:lnSpc>
              </a:pPr>
              <a:r>
                <a:rPr lang="en-US" altLang="zh-CN" sz="3200" b="1" dirty="0">
                  <a:solidFill>
                    <a:schemeClr val="tx1"/>
                  </a:solidFill>
                  <a:effectLst>
                    <a:outerShdw blurRad="38100" dist="38100" dir="2700000">
                      <a:srgbClr val="FFFFFF"/>
                    </a:outerShdw>
                  </a:effectLst>
                  <a:latin typeface="楷体_GB2312" pitchFamily="49" charset="-122"/>
                  <a:ea typeface="楷体_GB2312" pitchFamily="49" charset="-122"/>
                </a:rPr>
                <a:t> </a:t>
              </a: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平均值滤波 </a:t>
              </a:r>
              <a:r>
                <a:rPr lang="en-US" altLang="zh-CN" sz="3200" b="1">
                  <a:solidFill>
                    <a:schemeClr val="tx1"/>
                  </a:solidFill>
                  <a:effectLst>
                    <a:outerShdw blurRad="38100" dist="38100" dir="2700000">
                      <a:srgbClr val="FFFFFF"/>
                    </a:outerShdw>
                  </a:effectLst>
                  <a:latin typeface="楷体_GB2312" pitchFamily="49" charset="-122"/>
                  <a:ea typeface="楷体_GB2312" pitchFamily="49" charset="-122"/>
                </a:rPr>
                <a:t>-- </a:t>
              </a:r>
              <a:r>
                <a:rPr lang="zh-CN" altLang="en-US" sz="3200" b="1" dirty="0">
                  <a:solidFill>
                    <a:schemeClr val="tx1"/>
                  </a:solidFill>
                  <a:effectLst>
                    <a:outerShdw blurRad="38100" dist="38100" dir="2700000">
                      <a:srgbClr val="FFFFFF"/>
                    </a:outerShdw>
                  </a:effectLst>
                  <a:latin typeface="Arial" panose="020B0604020202020204" pitchFamily="34" charset="0"/>
                  <a:ea typeface="楷体_GB2312" pitchFamily="49" charset="-122"/>
                </a:rPr>
                <a:t>寻找一个</a:t>
              </a:r>
              <a:r>
                <a:rPr lang="en-US" altLang="zh-CN" sz="3200" b="1" i="1">
                  <a:solidFill>
                    <a:schemeClr val="tx1"/>
                  </a:solidFill>
                  <a:effectLst>
                    <a:outerShdw blurRad="38100" dist="38100" dir="2700000">
                      <a:srgbClr val="FFFFFF"/>
                    </a:outerShdw>
                  </a:effectLst>
                  <a:latin typeface="Times New Roman" panose="02020603050405020304" pitchFamily="18" charset="0"/>
                  <a:ea typeface="楷体_GB2312" pitchFamily="49" charset="-122"/>
                </a:rPr>
                <a:t>Y </a:t>
              </a:r>
              <a:r>
                <a:rPr lang="zh-CN" altLang="en-US" sz="3200" b="1" dirty="0">
                  <a:solidFill>
                    <a:schemeClr val="tx1"/>
                  </a:solidFill>
                  <a:effectLst>
                    <a:outerShdw blurRad="38100" dist="38100" dir="2700000">
                      <a:srgbClr val="FFFFFF"/>
                    </a:outerShdw>
                  </a:effectLst>
                  <a:latin typeface="Arial" panose="020B0604020202020204" pitchFamily="34" charset="0"/>
                  <a:ea typeface="楷体_GB2312" pitchFamily="49" charset="-122"/>
                </a:rPr>
                <a:t>作为本次采样的</a:t>
              </a:r>
              <a:endParaRPr lang="zh-CN" altLang="en-US" sz="3200" b="1" dirty="0">
                <a:solidFill>
                  <a:schemeClr val="tx1"/>
                </a:solidFill>
                <a:effectLst>
                  <a:outerShdw blurRad="38100" dist="38100" dir="2700000">
                    <a:srgbClr val="FFFFFF"/>
                  </a:outerShdw>
                </a:effectLst>
                <a:latin typeface="Arial" panose="020B0604020202020204" pitchFamily="34" charset="0"/>
                <a:ea typeface="楷体_GB2312" pitchFamily="49" charset="-122"/>
              </a:endParaRPr>
            </a:p>
            <a:p>
              <a:pPr eaLnBrk="1" hangingPunct="1">
                <a:lnSpc>
                  <a:spcPct val="100000"/>
                </a:lnSpc>
              </a:pPr>
              <a:r>
                <a:rPr lang="zh-CN" altLang="en-US" sz="3200" b="1" dirty="0">
                  <a:solidFill>
                    <a:schemeClr val="tx1"/>
                  </a:solidFill>
                  <a:effectLst>
                    <a:outerShdw blurRad="38100" dist="38100" dir="2700000">
                      <a:srgbClr val="FFFFFF"/>
                    </a:outerShdw>
                  </a:effectLst>
                  <a:latin typeface="Arial" panose="020B0604020202020204" pitchFamily="34" charset="0"/>
                  <a:ea typeface="楷体_GB2312" pitchFamily="49" charset="-122"/>
                </a:rPr>
                <a:t>                           平均值，</a:t>
              </a: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使该值与本次各采</a:t>
              </a:r>
              <a:endPar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endParaRPr>
            </a:p>
            <a:p>
              <a:pPr eaLnBrk="1" hangingPunct="1">
                <a:lnSpc>
                  <a:spcPct val="100000"/>
                </a:lnSpc>
              </a:pP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               样值间误差的平方和最小。</a:t>
              </a:r>
              <a:endPar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endParaRPr>
            </a:p>
          </p:txBody>
        </p:sp>
        <p:sp>
          <p:nvSpPr>
            <p:cNvPr id="2594943" name="直接连接符 2594942"/>
            <p:cNvSpPr/>
            <p:nvPr/>
          </p:nvSpPr>
          <p:spPr>
            <a:xfrm>
              <a:off x="3379" y="2976"/>
              <a:ext cx="181" cy="0"/>
            </a:xfrm>
            <a:prstGeom prst="line">
              <a:avLst/>
            </a:prstGeom>
            <a:ln w="25400" cap="flat" cmpd="sng">
              <a:solidFill>
                <a:schemeClr val="tx1"/>
              </a:solidFill>
              <a:prstDash val="solid"/>
              <a:headEnd type="none" w="med" len="med"/>
              <a:tailEnd type="none" w="med" len="med"/>
            </a:ln>
          </p:spPr>
        </p:sp>
      </p:grpSp>
      <p:sp>
        <p:nvSpPr>
          <p:cNvPr id="2594945" name="文本框 259494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4818"/>
                                        </p:tgtEl>
                                        <p:attrNameLst>
                                          <p:attrName>style.visibility</p:attrName>
                                        </p:attrNameLst>
                                      </p:cBhvr>
                                      <p:to>
                                        <p:strVal val="visible"/>
                                      </p:to>
                                    </p:set>
                                    <p:animEffect transition="in" filter="dissolve">
                                      <p:cBhvr>
                                        <p:cTn id="7" dur="500"/>
                                        <p:tgtEl>
                                          <p:spTgt spid="2594818"/>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2594819"/>
                                        </p:tgtEl>
                                        <p:attrNameLst>
                                          <p:attrName>style.visibility</p:attrName>
                                        </p:attrNameLst>
                                      </p:cBhvr>
                                      <p:to>
                                        <p:strVal val="visible"/>
                                      </p:to>
                                    </p:set>
                                    <p:anim calcmode="lin" valueType="num">
                                      <p:cBhvr additive="base">
                                        <p:cTn id="12" dur="500" fill="hold"/>
                                        <p:tgtEl>
                                          <p:spTgt spid="2594819"/>
                                        </p:tgtEl>
                                        <p:attrNameLst>
                                          <p:attrName>ppt_x</p:attrName>
                                        </p:attrNameLst>
                                      </p:cBhvr>
                                      <p:tavLst>
                                        <p:tav tm="0">
                                          <p:val>
                                            <p:strVal val="0-#ppt_w/2"/>
                                          </p:val>
                                        </p:tav>
                                        <p:tav tm="100000">
                                          <p:val>
                                            <p:strVal val="#ppt_x"/>
                                          </p:val>
                                        </p:tav>
                                      </p:tavLst>
                                    </p:anim>
                                    <p:anim calcmode="lin" valueType="num">
                                      <p:cBhvr additive="base">
                                        <p:cTn id="13" dur="500" fill="hold"/>
                                        <p:tgtEl>
                                          <p:spTgt spid="2594819"/>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1" name="push.wav"/>
                                        </p:tgtEl>
                                      </p:cMediaNode>
                                    </p:audio>
                                  </p:subTnLst>
                                </p:cTn>
                              </p:par>
                              <p:par>
                                <p:cTn id="14" presetID="22" presetClass="entr" presetSubtype="4" fill="hold" nodeType="withEffect">
                                  <p:stCondLst>
                                    <p:cond delay="0"/>
                                  </p:stCondLst>
                                  <p:childTnLst>
                                    <p:set>
                                      <p:cBhvr>
                                        <p:cTn id="15" dur="1" fill="hold">
                                          <p:stCondLst>
                                            <p:cond delay="0"/>
                                          </p:stCondLst>
                                        </p:cTn>
                                        <p:tgtEl>
                                          <p:spTgt spid="2594937"/>
                                        </p:tgtEl>
                                        <p:attrNameLst>
                                          <p:attrName>style.visibility</p:attrName>
                                        </p:attrNameLst>
                                      </p:cBhvr>
                                      <p:to>
                                        <p:strVal val="visible"/>
                                      </p:to>
                                    </p:set>
                                    <p:animEffect transition="in" filter="wipe(down)">
                                      <p:cBhvr>
                                        <p:cTn id="16" dur="500"/>
                                        <p:tgtEl>
                                          <p:spTgt spid="2594937"/>
                                        </p:tgtEl>
                                      </p:cBhvr>
                                    </p:animEffect>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nodeType="clickEffect">
                                  <p:stCondLst>
                                    <p:cond delay="0"/>
                                  </p:stCondLst>
                                  <p:childTnLst>
                                    <p:set>
                                      <p:cBhvr>
                                        <p:cTn id="20" dur="1" fill="hold">
                                          <p:stCondLst>
                                            <p:cond delay="0"/>
                                          </p:stCondLst>
                                        </p:cTn>
                                        <p:tgtEl>
                                          <p:spTgt spid="2594940"/>
                                        </p:tgtEl>
                                        <p:attrNameLst>
                                          <p:attrName>style.visibility</p:attrName>
                                        </p:attrNameLst>
                                      </p:cBhvr>
                                      <p:to>
                                        <p:strVal val="visible"/>
                                      </p:to>
                                    </p:set>
                                    <p:animEffect transition="in" filter="fade">
                                      <p:cBhvr>
                                        <p:cTn id="21" dur="500"/>
                                        <p:tgtEl>
                                          <p:spTgt spid="2594940"/>
                                        </p:tgtEl>
                                      </p:cBhvr>
                                    </p:animEffect>
                                    <p:anim calcmode="lin" valueType="num">
                                      <p:cBhvr>
                                        <p:cTn id="22" dur="500" fill="hold"/>
                                        <p:tgtEl>
                                          <p:spTgt spid="2594940"/>
                                        </p:tgtEl>
                                        <p:attrNameLst>
                                          <p:attrName>ppt_x</p:attrName>
                                        </p:attrNameLst>
                                      </p:cBhvr>
                                      <p:tavLst>
                                        <p:tav tm="0">
                                          <p:val>
                                            <p:strVal val="#ppt_x"/>
                                          </p:val>
                                        </p:tav>
                                        <p:tav tm="100000">
                                          <p:val>
                                            <p:strVal val="#ppt_x"/>
                                          </p:val>
                                        </p:tav>
                                      </p:tavLst>
                                    </p:anim>
                                    <p:anim calcmode="lin" valueType="num">
                                      <p:cBhvr>
                                        <p:cTn id="23" dur="500" fill="hold"/>
                                        <p:tgtEl>
                                          <p:spTgt spid="259494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2594941"/>
                                        </p:tgtEl>
                                        <p:attrNameLst>
                                          <p:attrName>style.visibility</p:attrName>
                                        </p:attrNameLst>
                                      </p:cBhvr>
                                      <p:to>
                                        <p:strVal val="visible"/>
                                      </p:to>
                                    </p:set>
                                    <p:animEffect transition="in" filter="blinds(horizontal)">
                                      <p:cBhvr>
                                        <p:cTn id="28" dur="500"/>
                                        <p:tgtEl>
                                          <p:spTgt spid="25949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4818" grpId="0"/>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595842" name="组合 2595841"/>
          <p:cNvGrpSpPr/>
          <p:nvPr/>
        </p:nvGrpSpPr>
        <p:grpSpPr>
          <a:xfrm>
            <a:off x="1260475" y="908050"/>
            <a:ext cx="7388225" cy="1050925"/>
            <a:chOff x="522" y="754"/>
            <a:chExt cx="4655" cy="662"/>
          </a:xfrm>
        </p:grpSpPr>
        <p:graphicFrame>
          <p:nvGraphicFramePr>
            <p:cNvPr id="2595843" name="对象 2595842"/>
            <p:cNvGraphicFramePr/>
            <p:nvPr/>
          </p:nvGraphicFramePr>
          <p:xfrm>
            <a:off x="522" y="754"/>
            <a:ext cx="3357" cy="662"/>
          </p:xfrm>
          <a:graphic>
            <a:graphicData uri="http://schemas.openxmlformats.org/presentationml/2006/ole">
              <mc:AlternateContent xmlns:mc="http://schemas.openxmlformats.org/markup-compatibility/2006">
                <mc:Choice xmlns:v="urn:schemas-microsoft-com:vml" Requires="v">
                  <p:oleObj spid="_x0000_s3089" name="" r:id="rId1" imgW="2286000" imgH="431800" progId="Equation.3">
                    <p:embed/>
                  </p:oleObj>
                </mc:Choice>
                <mc:Fallback>
                  <p:oleObj name="" r:id="rId1" imgW="2286000" imgH="431800" progId="Equation.3">
                    <p:embed/>
                    <p:pic>
                      <p:nvPicPr>
                        <p:cNvPr id="0" name="图片 3088"/>
                        <p:cNvPicPr/>
                        <p:nvPr/>
                      </p:nvPicPr>
                      <p:blipFill>
                        <a:blip r:embed="rId2"/>
                        <a:stretch>
                          <a:fillRect/>
                        </a:stretch>
                      </p:blipFill>
                      <p:spPr>
                        <a:xfrm>
                          <a:off x="522" y="754"/>
                          <a:ext cx="3357" cy="662"/>
                        </a:xfrm>
                        <a:prstGeom prst="rect">
                          <a:avLst/>
                        </a:prstGeom>
                        <a:noFill/>
                        <a:ln w="38100">
                          <a:noFill/>
                          <a:miter/>
                        </a:ln>
                      </p:spPr>
                    </p:pic>
                  </p:oleObj>
                </mc:Fallback>
              </mc:AlternateContent>
            </a:graphicData>
          </a:graphic>
        </p:graphicFrame>
        <p:sp>
          <p:nvSpPr>
            <p:cNvPr id="2595844" name="矩形 2595843"/>
            <p:cNvSpPr/>
            <p:nvPr/>
          </p:nvSpPr>
          <p:spPr>
            <a:xfrm>
              <a:off x="4332" y="890"/>
              <a:ext cx="845" cy="327"/>
            </a:xfrm>
            <a:prstGeom prst="rect">
              <a:avLst/>
            </a:prstGeom>
            <a:noFill/>
            <a:ln w="9525">
              <a:noFill/>
            </a:ln>
          </p:spPr>
          <p:txBody>
            <a:bodyPr wrap="none" anchor="ctr" anchorCtr="0">
              <a:spAutoFit/>
            </a:bodyPr>
            <a:p>
              <a:pPr eaLnBrk="1" hangingPunct="1">
                <a:lnSpc>
                  <a:spcPct val="100000"/>
                </a:lnSpc>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( 10-8 )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595845" name="矩形 2595844"/>
          <p:cNvSpPr/>
          <p:nvPr/>
        </p:nvSpPr>
        <p:spPr>
          <a:xfrm>
            <a:off x="755650" y="2276475"/>
            <a:ext cx="5284788" cy="579438"/>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由一元函数求极值原理有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grpSp>
        <p:nvGrpSpPr>
          <p:cNvPr id="2595846" name="组合 2595845"/>
          <p:cNvGrpSpPr/>
          <p:nvPr/>
        </p:nvGrpSpPr>
        <p:grpSpPr>
          <a:xfrm>
            <a:off x="1331913" y="3213100"/>
            <a:ext cx="7316787" cy="1054100"/>
            <a:chOff x="839" y="2115"/>
            <a:chExt cx="4610" cy="664"/>
          </a:xfrm>
        </p:grpSpPr>
        <p:graphicFrame>
          <p:nvGraphicFramePr>
            <p:cNvPr id="2595847" name="对象 2595846"/>
            <p:cNvGraphicFramePr/>
            <p:nvPr/>
          </p:nvGraphicFramePr>
          <p:xfrm>
            <a:off x="839" y="2115"/>
            <a:ext cx="1678" cy="664"/>
          </p:xfrm>
          <a:graphic>
            <a:graphicData uri="http://schemas.openxmlformats.org/presentationml/2006/ole">
              <mc:AlternateContent xmlns:mc="http://schemas.openxmlformats.org/markup-compatibility/2006">
                <mc:Choice xmlns:v="urn:schemas-microsoft-com:vml" Requires="v">
                  <p:oleObj spid="_x0000_s3088" name="" r:id="rId3" imgW="837565" imgH="431800" progId="Equation.3">
                    <p:embed/>
                  </p:oleObj>
                </mc:Choice>
                <mc:Fallback>
                  <p:oleObj name="" r:id="rId3" imgW="837565" imgH="431800" progId="Equation.3">
                    <p:embed/>
                    <p:pic>
                      <p:nvPicPr>
                        <p:cNvPr id="0" name="图片 3087"/>
                        <p:cNvPicPr/>
                        <p:nvPr/>
                      </p:nvPicPr>
                      <p:blipFill>
                        <a:blip r:embed="rId4"/>
                        <a:stretch>
                          <a:fillRect/>
                        </a:stretch>
                      </p:blipFill>
                      <p:spPr>
                        <a:xfrm>
                          <a:off x="839" y="2115"/>
                          <a:ext cx="1678" cy="664"/>
                        </a:xfrm>
                        <a:prstGeom prst="rect">
                          <a:avLst/>
                        </a:prstGeom>
                        <a:noFill/>
                        <a:ln w="38100">
                          <a:noFill/>
                          <a:miter/>
                        </a:ln>
                      </p:spPr>
                    </p:pic>
                  </p:oleObj>
                </mc:Fallback>
              </mc:AlternateContent>
            </a:graphicData>
          </a:graphic>
        </p:graphicFrame>
        <p:sp>
          <p:nvSpPr>
            <p:cNvPr id="2595848" name="矩形 2595847"/>
            <p:cNvSpPr/>
            <p:nvPr/>
          </p:nvSpPr>
          <p:spPr>
            <a:xfrm>
              <a:off x="4604" y="2248"/>
              <a:ext cx="845" cy="327"/>
            </a:xfrm>
            <a:prstGeom prst="rect">
              <a:avLst/>
            </a:prstGeom>
            <a:noFill/>
            <a:ln w="9525">
              <a:noFill/>
            </a:ln>
          </p:spPr>
          <p:txBody>
            <a:bodyPr wrap="none" anchor="ctr" anchorCtr="0">
              <a:spAutoFit/>
            </a:bodyPr>
            <a:p>
              <a:pPr eaLnBrk="1" hangingPunct="1">
                <a:lnSpc>
                  <a:spcPct val="100000"/>
                </a:lnSpc>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( 10-9 )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595849" name="矩形 2595848"/>
          <p:cNvSpPr/>
          <p:nvPr/>
        </p:nvSpPr>
        <p:spPr>
          <a:xfrm>
            <a:off x="828675" y="4576763"/>
            <a:ext cx="1257300" cy="519112"/>
          </a:xfrm>
          <a:prstGeom prst="rect">
            <a:avLst/>
          </a:prstGeom>
          <a:noFill/>
          <a:ln w="9525">
            <a:noFill/>
          </a:ln>
        </p:spPr>
        <p:txBody>
          <a:bodyPr wrap="none"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式中  </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grpSp>
        <p:nvGrpSpPr>
          <p:cNvPr id="2595850" name="组合 2595849"/>
          <p:cNvGrpSpPr/>
          <p:nvPr/>
        </p:nvGrpSpPr>
        <p:grpSpPr>
          <a:xfrm>
            <a:off x="1908175" y="4595813"/>
            <a:ext cx="5432425" cy="519112"/>
            <a:chOff x="1202" y="2986"/>
            <a:chExt cx="3423" cy="327"/>
          </a:xfrm>
        </p:grpSpPr>
        <p:sp>
          <p:nvSpPr>
            <p:cNvPr id="2595851" name="矩形 2595850"/>
            <p:cNvSpPr/>
            <p:nvPr/>
          </p:nvSpPr>
          <p:spPr>
            <a:xfrm>
              <a:off x="1202" y="2986"/>
              <a:ext cx="3423" cy="327"/>
            </a:xfrm>
            <a:prstGeom prst="rect">
              <a:avLst/>
            </a:prstGeom>
            <a:noFill/>
            <a:ln w="9525">
              <a:noFill/>
            </a:ln>
          </p:spPr>
          <p:txBody>
            <a:bodyPr wrap="none" anchor="ctr" anchorCtr="0">
              <a:spAutoFit/>
            </a:bodyPr>
            <a:p>
              <a:pPr eaLnBrk="1" hangingPunct="1">
                <a:lnSpc>
                  <a:spcPct val="100000"/>
                </a:lnSpc>
              </a:pPr>
              <a:r>
                <a:rPr lang="en-US" altLang="zh-CN" sz="2800" b="0" i="1">
                  <a:solidFill>
                    <a:schemeClr val="accent2"/>
                  </a:solidFill>
                  <a:latin typeface="Times New Roman" panose="02020603050405020304" pitchFamily="18" charset="0"/>
                  <a:ea typeface="宋体" panose="02010600030101010101" pitchFamily="2" charset="-122"/>
                </a:rPr>
                <a:t>Y </a:t>
              </a:r>
              <a:r>
                <a:rPr lang="en-US" altLang="zh-CN" sz="2800" b="0">
                  <a:solidFill>
                    <a:schemeClr val="accent2"/>
                  </a:solidFill>
                  <a:latin typeface="Arial" panose="020B0604020202020204" pitchFamily="34" charset="0"/>
                  <a:ea typeface="楷体_GB2312" pitchFamily="49" charset="-122"/>
                </a:rPr>
                <a:t>—</a:t>
              </a:r>
              <a:r>
                <a:rPr lang="en-US" altLang="zh-CN" sz="2800" b="0">
                  <a:solidFill>
                    <a:schemeClr val="accent2"/>
                  </a:solidFill>
                  <a:latin typeface="楷体_GB2312" pitchFamily="49" charset="-122"/>
                  <a:ea typeface="楷体_GB2312" pitchFamily="49" charset="-122"/>
                </a:rPr>
                <a:t> </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次采样值的算术平均值； </a:t>
              </a:r>
              <a:r>
                <a:rPr lang="zh-CN" altLang="en-US" sz="1800" b="0" dirty="0">
                  <a:solidFill>
                    <a:schemeClr val="accent2"/>
                  </a:solidFill>
                  <a:latin typeface="Arial" panose="020B0604020202020204" pitchFamily="34" charset="0"/>
                  <a:ea typeface="宋体" panose="02010600030101010101" pitchFamily="2" charset="-122"/>
                </a:rPr>
                <a:t> </a:t>
              </a:r>
              <a:endParaRPr lang="zh-CN" altLang="en-US" sz="1800" b="0" dirty="0">
                <a:solidFill>
                  <a:schemeClr val="accent2"/>
                </a:solidFill>
                <a:latin typeface="Arial" panose="020B0604020202020204" pitchFamily="34" charset="0"/>
                <a:ea typeface="宋体" panose="02010600030101010101" pitchFamily="2" charset="-122"/>
              </a:endParaRPr>
            </a:p>
          </p:txBody>
        </p:sp>
        <p:sp>
          <p:nvSpPr>
            <p:cNvPr id="2595852" name="直接连接符 2595851"/>
            <p:cNvSpPr/>
            <p:nvPr/>
          </p:nvSpPr>
          <p:spPr>
            <a:xfrm>
              <a:off x="1293" y="3044"/>
              <a:ext cx="136" cy="0"/>
            </a:xfrm>
            <a:prstGeom prst="line">
              <a:avLst/>
            </a:prstGeom>
            <a:ln w="22225" cap="flat" cmpd="sng">
              <a:solidFill>
                <a:schemeClr val="accent2"/>
              </a:solidFill>
              <a:prstDash val="solid"/>
              <a:headEnd type="none" w="med" len="med"/>
              <a:tailEnd type="none" w="med" len="med"/>
            </a:ln>
          </p:spPr>
        </p:sp>
      </p:grpSp>
      <p:sp>
        <p:nvSpPr>
          <p:cNvPr id="2595853" name="矩形 2595852"/>
          <p:cNvSpPr/>
          <p:nvPr/>
        </p:nvSpPr>
        <p:spPr>
          <a:xfrm>
            <a:off x="1892300" y="5141913"/>
            <a:ext cx="3975100" cy="519112"/>
          </a:xfrm>
          <a:prstGeom prst="rect">
            <a:avLst/>
          </a:prstGeom>
          <a:noFill/>
          <a:ln w="9525">
            <a:noFill/>
          </a:ln>
        </p:spPr>
        <p:txBody>
          <a:bodyPr anchor="ctr" anchorCtr="0">
            <a:spAutoFit/>
          </a:bodyPr>
          <a:p>
            <a:pPr defTabSz="914400" eaLnBrk="1" hangingPunct="1">
              <a:lnSpc>
                <a:spcPct val="100000"/>
              </a:lnSpc>
              <a:tabLst>
                <a:tab pos="-1346200" algn="l"/>
                <a:tab pos="-1295400" algn="l"/>
              </a:tabLst>
            </a:pP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0">
                <a:solidFill>
                  <a:schemeClr val="accent2"/>
                </a:solidFill>
                <a:latin typeface="Arial" panose="020B0604020202020204" pitchFamily="34" charset="0"/>
                <a:ea typeface="楷体_GB2312" pitchFamily="49" charset="-122"/>
              </a:rPr>
              <a:t>—</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第</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i</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次采样值；</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5854" name="矩形 2595853"/>
          <p:cNvSpPr/>
          <p:nvPr/>
        </p:nvSpPr>
        <p:spPr>
          <a:xfrm>
            <a:off x="1935163" y="5718175"/>
            <a:ext cx="3284537" cy="519113"/>
          </a:xfrm>
          <a:prstGeom prst="rect">
            <a:avLst/>
          </a:prstGeom>
          <a:noFill/>
          <a:ln w="9525">
            <a:noFill/>
          </a:ln>
        </p:spPr>
        <p:txBody>
          <a:bodyPr anchor="ctr" anchorCtr="0">
            <a:spAutoFit/>
          </a:bodyPr>
          <a:p>
            <a:pPr eaLnBrk="1" hangingPunct="1">
              <a:lnSpc>
                <a:spcPct val="100000"/>
              </a:lnSpc>
            </a:pP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0">
                <a:solidFill>
                  <a:schemeClr val="accent2"/>
                </a:solidFill>
                <a:latin typeface="Arial" panose="020B0604020202020204" pitchFamily="34" charset="0"/>
                <a:ea typeface="楷体_GB2312" pitchFamily="49" charset="-122"/>
              </a:rPr>
              <a:t>—</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采样次数。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5856" name="文本框 259585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5842"/>
                                        </p:tgtEl>
                                        <p:attrNameLst>
                                          <p:attrName>style.visibility</p:attrName>
                                        </p:attrNameLst>
                                      </p:cBhvr>
                                      <p:to>
                                        <p:strVal val="visible"/>
                                      </p:to>
                                    </p:set>
                                    <p:animEffect transition="in" filter="dissolve">
                                      <p:cBhvr>
                                        <p:cTn id="7" dur="500"/>
                                        <p:tgtEl>
                                          <p:spTgt spid="25958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95845"/>
                                        </p:tgtEl>
                                        <p:attrNameLst>
                                          <p:attrName>style.visibility</p:attrName>
                                        </p:attrNameLst>
                                      </p:cBhvr>
                                      <p:to>
                                        <p:strVal val="visible"/>
                                      </p:to>
                                    </p:set>
                                    <p:animEffect transition="in" filter="dissolve">
                                      <p:cBhvr>
                                        <p:cTn id="12" dur="500"/>
                                        <p:tgtEl>
                                          <p:spTgt spid="259584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95846"/>
                                        </p:tgtEl>
                                        <p:attrNameLst>
                                          <p:attrName>style.visibility</p:attrName>
                                        </p:attrNameLst>
                                      </p:cBhvr>
                                      <p:to>
                                        <p:strVal val="visible"/>
                                      </p:to>
                                    </p:set>
                                    <p:animEffect transition="in" filter="wipe(left)">
                                      <p:cBhvr>
                                        <p:cTn id="17" dur="500"/>
                                        <p:tgtEl>
                                          <p:spTgt spid="259584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95849"/>
                                        </p:tgtEl>
                                        <p:attrNameLst>
                                          <p:attrName>style.visibility</p:attrName>
                                        </p:attrNameLst>
                                      </p:cBhvr>
                                      <p:to>
                                        <p:strVal val="visible"/>
                                      </p:to>
                                    </p:set>
                                    <p:animEffect transition="in" filter="dissolve">
                                      <p:cBhvr>
                                        <p:cTn id="22" dur="500"/>
                                        <p:tgtEl>
                                          <p:spTgt spid="2595849"/>
                                        </p:tgtEl>
                                      </p:cBhvr>
                                    </p:animEffect>
                                  </p:childTnLst>
                                </p:cTn>
                              </p:par>
                              <p:par>
                                <p:cTn id="23" presetID="9" presetClass="entr" presetSubtype="0" fill="hold" nodeType="withEffect">
                                  <p:stCondLst>
                                    <p:cond delay="0"/>
                                  </p:stCondLst>
                                  <p:childTnLst>
                                    <p:set>
                                      <p:cBhvr>
                                        <p:cTn id="24" dur="1" fill="hold">
                                          <p:stCondLst>
                                            <p:cond delay="0"/>
                                          </p:stCondLst>
                                        </p:cTn>
                                        <p:tgtEl>
                                          <p:spTgt spid="2595850"/>
                                        </p:tgtEl>
                                        <p:attrNameLst>
                                          <p:attrName>style.visibility</p:attrName>
                                        </p:attrNameLst>
                                      </p:cBhvr>
                                      <p:to>
                                        <p:strVal val="visible"/>
                                      </p:to>
                                    </p:set>
                                    <p:animEffect transition="in" filter="dissolve">
                                      <p:cBhvr>
                                        <p:cTn id="25" dur="500"/>
                                        <p:tgtEl>
                                          <p:spTgt spid="2595850"/>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595853"/>
                                        </p:tgtEl>
                                        <p:attrNameLst>
                                          <p:attrName>style.visibility</p:attrName>
                                        </p:attrNameLst>
                                      </p:cBhvr>
                                      <p:to>
                                        <p:strVal val="visible"/>
                                      </p:to>
                                    </p:set>
                                    <p:animEffect transition="in" filter="dissolve">
                                      <p:cBhvr>
                                        <p:cTn id="28" dur="500"/>
                                        <p:tgtEl>
                                          <p:spTgt spid="2595853"/>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595854"/>
                                        </p:tgtEl>
                                        <p:attrNameLst>
                                          <p:attrName>style.visibility</p:attrName>
                                        </p:attrNameLst>
                                      </p:cBhvr>
                                      <p:to>
                                        <p:strVal val="visible"/>
                                      </p:to>
                                    </p:set>
                                    <p:animEffect transition="in" filter="dissolve">
                                      <p:cBhvr>
                                        <p:cTn id="31" dur="500"/>
                                        <p:tgtEl>
                                          <p:spTgt spid="25958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5845" grpId="0"/>
      <p:bldP spid="2595849" grpId="0"/>
      <p:bldP spid="2595853" grpId="0"/>
      <p:bldP spid="2595854" grpId="0"/>
    </p:bld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6866" name="矩形 2596865"/>
          <p:cNvSpPr/>
          <p:nvPr/>
        </p:nvSpPr>
        <p:spPr>
          <a:xfrm>
            <a:off x="612775" y="981075"/>
            <a:ext cx="7900988" cy="519113"/>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入口条件：</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次采样值已存于一维数组</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chemeClr val="accent2"/>
                </a:solidFill>
                <a:effectLst>
                  <a:outerShdw blurRad="38100" dist="38100" dir="2700000">
                    <a:srgbClr val="C0C0C0"/>
                  </a:outerShdw>
                </a:effectLst>
                <a:latin typeface="楷体_GB2312" pitchFamily="49" charset="-122"/>
                <a:ea typeface="楷体_GB2312" pitchFamily="49" charset="-122"/>
              </a:rPr>
              <a:t>)</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中。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6867" name="矩形 2596866"/>
          <p:cNvSpPr/>
          <p:nvPr/>
        </p:nvSpPr>
        <p:spPr>
          <a:xfrm>
            <a:off x="596900" y="1773238"/>
            <a:ext cx="6308725" cy="519112"/>
          </a:xfrm>
          <a:prstGeom prst="rect">
            <a:avLst/>
          </a:prstGeom>
          <a:noFill/>
          <a:ln w="9525">
            <a:noFill/>
          </a:ln>
        </p:spPr>
        <p:txBody>
          <a:bodyPr wrap="none" anchor="ctr" anchorCtr="0">
            <a:spAutoFit/>
          </a:bodyPr>
          <a:p>
            <a:pPr defTabSz="914400" eaLnBrk="1" hangingPunct="1">
              <a:lnSpc>
                <a:spcPct val="100000"/>
              </a:lnSpc>
              <a:tabLst>
                <a:tab pos="-1346200" algn="l"/>
                <a:tab pos="-1295400" algn="l"/>
              </a:tabLst>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出口条件：算术平均值存于</a:t>
            </a:r>
            <a:r>
              <a:rPr lang="en-US" altLang="zh-CN" sz="28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Y</a:t>
            </a: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变量中。 </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96868" name="矩形 2596867"/>
          <p:cNvSpPr/>
          <p:nvPr/>
        </p:nvSpPr>
        <p:spPr>
          <a:xfrm>
            <a:off x="612775" y="2565400"/>
            <a:ext cx="7839075" cy="519113"/>
          </a:xfrm>
          <a:prstGeom prst="rect">
            <a:avLst/>
          </a:prstGeom>
          <a:noFill/>
          <a:ln w="9525">
            <a:noFill/>
          </a:ln>
        </p:spPr>
        <p:txBody>
          <a:bodyPr wrap="none" anchor="ctr" anchorCtr="0">
            <a:spAutoFit/>
          </a:bodyPr>
          <a:p>
            <a:pPr defTabSz="914400" eaLnBrk="1" hangingPunct="1">
              <a:lnSpc>
                <a:spcPct val="100000"/>
              </a:lnSpc>
              <a:tabLst>
                <a:tab pos="-1346200" algn="l"/>
                <a:tab pos="-1295400" algn="l"/>
              </a:tabLst>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算术平均过程程序（</a:t>
            </a:r>
            <a:r>
              <a:rPr lang="en-US" altLang="zh-CN" sz="28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Quick BASIC</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）清单如下： </a:t>
            </a:r>
            <a:endPar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6869" name="矩形 2596868"/>
          <p:cNvSpPr/>
          <p:nvPr/>
        </p:nvSpPr>
        <p:spPr>
          <a:xfrm>
            <a:off x="1370013" y="3255963"/>
            <a:ext cx="4210050" cy="3035300"/>
          </a:xfrm>
          <a:prstGeom prst="rect">
            <a:avLst/>
          </a:prstGeom>
          <a:noFill/>
          <a:ln w="9525">
            <a:noFill/>
          </a:ln>
        </p:spPr>
        <p:txBody>
          <a:bodyPr wrap="none" lIns="-14283" bIns="0" anchor="ctr" anchorCtr="0">
            <a:spAutoFit/>
          </a:bodyPr>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SUB  PINJUN ( N, X( ), Y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 = 0</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FOR  I=1  TO  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A=A + X (I)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NEXT  I</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Y= A / N</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00000"/>
              </a:lnSpc>
              <a:tabLst>
                <a:tab pos="-1346200" algn="l"/>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END SUB</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596871" name="文本框 2596870"/>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6866"/>
                                        </p:tgtEl>
                                        <p:attrNameLst>
                                          <p:attrName>style.visibility</p:attrName>
                                        </p:attrNameLst>
                                      </p:cBhvr>
                                      <p:to>
                                        <p:strVal val="visible"/>
                                      </p:to>
                                    </p:set>
                                    <p:animEffect transition="in" filter="dissolve">
                                      <p:cBhvr>
                                        <p:cTn id="7" dur="500"/>
                                        <p:tgtEl>
                                          <p:spTgt spid="25968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96867"/>
                                        </p:tgtEl>
                                        <p:attrNameLst>
                                          <p:attrName>style.visibility</p:attrName>
                                        </p:attrNameLst>
                                      </p:cBhvr>
                                      <p:to>
                                        <p:strVal val="visible"/>
                                      </p:to>
                                    </p:set>
                                    <p:animEffect transition="in" filter="dissolve">
                                      <p:cBhvr>
                                        <p:cTn id="12" dur="500"/>
                                        <p:tgtEl>
                                          <p:spTgt spid="259686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96868"/>
                                        </p:tgtEl>
                                        <p:attrNameLst>
                                          <p:attrName>style.visibility</p:attrName>
                                        </p:attrNameLst>
                                      </p:cBhvr>
                                      <p:to>
                                        <p:strVal val="visible"/>
                                      </p:to>
                                    </p:set>
                                    <p:animEffect transition="in" filter="dissolve">
                                      <p:cBhvr>
                                        <p:cTn id="17" dur="500"/>
                                        <p:tgtEl>
                                          <p:spTgt spid="259686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96869"/>
                                        </p:tgtEl>
                                        <p:attrNameLst>
                                          <p:attrName>style.visibility</p:attrName>
                                        </p:attrNameLst>
                                      </p:cBhvr>
                                      <p:to>
                                        <p:strVal val="visible"/>
                                      </p:to>
                                    </p:set>
                                    <p:animEffect transition="in" filter="dissolve">
                                      <p:cBhvr>
                                        <p:cTn id="22" dur="500"/>
                                        <p:tgtEl>
                                          <p:spTgt spid="2596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6866" grpId="0"/>
      <p:bldP spid="2596867" grpId="0"/>
      <p:bldP spid="2596868" grpId="0"/>
      <p:bldP spid="2596869" grpId="0"/>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7890" name="矩形 2597889"/>
          <p:cNvSpPr/>
          <p:nvPr/>
        </p:nvSpPr>
        <p:spPr>
          <a:xfrm>
            <a:off x="755650" y="1125538"/>
            <a:ext cx="2428875"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使用对象：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7891" name="矩形 2597890"/>
          <p:cNvSpPr/>
          <p:nvPr/>
        </p:nvSpPr>
        <p:spPr>
          <a:xfrm>
            <a:off x="2828925" y="1133475"/>
            <a:ext cx="6062663" cy="1554163"/>
          </a:xfrm>
          <a:prstGeom prst="rect">
            <a:avLst/>
          </a:prstGeom>
          <a:noFill/>
          <a:ln w="9525">
            <a:noFill/>
          </a:ln>
        </p:spPr>
        <p:txBody>
          <a:bodyPr>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适用于对压力、流量一类信号的</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pP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平滑处理，因为这类信号在某一数值范围附近作上下波动。</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597892" name="矩形 2597891"/>
          <p:cNvSpPr/>
          <p:nvPr/>
        </p:nvSpPr>
        <p:spPr>
          <a:xfrm>
            <a:off x="812800" y="3154363"/>
            <a:ext cx="3255963" cy="1066800"/>
          </a:xfrm>
          <a:prstGeom prst="rect">
            <a:avLst/>
          </a:prstGeom>
          <a:noFill/>
          <a:ln w="9525">
            <a:noFill/>
          </a:ln>
        </p:spPr>
        <p:txBody>
          <a:bodyPr>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对信号平滑效果</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取决于</a:t>
            </a:r>
            <a:r>
              <a:rPr lang="en-US" altLang="zh-CN" sz="32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3200" b="1">
                <a:solidFill>
                  <a:srgbClr val="3333FF"/>
                </a:solidFill>
                <a:effectLst>
                  <a:outerShdw blurRad="38100" dist="38100" dir="2700000">
                    <a:srgbClr val="C0C0C0"/>
                  </a:outerShdw>
                </a:effectLst>
                <a:latin typeface="楷体_GB2312" pitchFamily="49" charset="-122"/>
                <a:ea typeface="楷体_GB2312" pitchFamily="49" charset="-122"/>
              </a:rPr>
              <a:t>  </a:t>
            </a:r>
            <a:endParaRPr lang="en-US" altLang="zh-CN" sz="3200" b="1">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597893" name="左大括号 2597892"/>
          <p:cNvSpPr/>
          <p:nvPr/>
        </p:nvSpPr>
        <p:spPr>
          <a:xfrm>
            <a:off x="3924300" y="2997200"/>
            <a:ext cx="215900" cy="1584325"/>
          </a:xfrm>
          <a:prstGeom prst="leftBrace">
            <a:avLst>
              <a:gd name="adj1" fmla="val 61151"/>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597894" name="矩形 2597893"/>
          <p:cNvSpPr/>
          <p:nvPr/>
        </p:nvSpPr>
        <p:spPr>
          <a:xfrm>
            <a:off x="4356100" y="2768600"/>
            <a:ext cx="4762500" cy="579438"/>
          </a:xfrm>
          <a:prstGeom prst="rect">
            <a:avLst/>
          </a:prstGeom>
          <a:noFill/>
          <a:ln w="9525">
            <a:noFill/>
          </a:ln>
        </p:spPr>
        <p:txBody>
          <a:bodyPr wrap="none" anchor="t" anchorCtr="0">
            <a:spAutoFit/>
          </a:bodyPr>
          <a:p>
            <a:pPr eaLnBrk="1" hangingPunct="1">
              <a:lnSpc>
                <a:spcPct val="100000"/>
              </a:lnSpc>
            </a:pPr>
            <a:r>
              <a:rPr lang="en-US" altLang="zh-CN" sz="32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3200" b="1">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平滑度</a:t>
            </a:r>
            <a:r>
              <a:rPr lang="en-US" altLang="zh-CN" sz="32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灵敏度</a:t>
            </a:r>
            <a:r>
              <a:rPr lang="en-US" altLang="zh-CN" sz="32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7895" name="矩形 2597894"/>
          <p:cNvSpPr/>
          <p:nvPr/>
        </p:nvSpPr>
        <p:spPr>
          <a:xfrm>
            <a:off x="4333875" y="4217988"/>
            <a:ext cx="4762500" cy="579437"/>
          </a:xfrm>
          <a:prstGeom prst="rect">
            <a:avLst/>
          </a:prstGeom>
          <a:noFill/>
          <a:ln w="9525">
            <a:noFill/>
          </a:ln>
        </p:spPr>
        <p:txBody>
          <a:bodyPr wrap="none" anchor="t" anchorCtr="0">
            <a:spAutoFit/>
          </a:bodyPr>
          <a:p>
            <a:pPr eaLnBrk="1" hangingPunct="1">
              <a:lnSpc>
                <a:spcPct val="100000"/>
              </a:lnSpc>
            </a:pPr>
            <a:r>
              <a:rPr lang="en-US" altLang="zh-CN" sz="32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N</a:t>
            </a:r>
            <a:r>
              <a:rPr lang="en-US" altLang="en-US" sz="3200" b="1">
                <a:solidFill>
                  <a:srgbClr val="FF0000"/>
                </a:solidFill>
                <a:effectLst>
                  <a:outerShdw blurRad="38100" dist="38100" dir="2700000">
                    <a:srgbClr val="C0C0C0"/>
                  </a:outerShdw>
                </a:effectLst>
                <a:latin typeface="Arial" panose="020B0604020202020204" pitchFamily="34" charset="0"/>
                <a:ea typeface="楷体_GB2312" pitchFamily="49" charset="-122"/>
              </a:rPr>
              <a:t>↓</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平滑度</a:t>
            </a:r>
            <a:r>
              <a:rPr lang="en-US" altLang="zh-CN" sz="32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灵敏度</a:t>
            </a:r>
            <a:r>
              <a:rPr lang="en-US" altLang="zh-CN" sz="3200" b="1" dirty="0">
                <a:solidFill>
                  <a:srgbClr val="FF0000"/>
                </a:solidFill>
                <a:effectLst>
                  <a:outerShdw blurRad="38100" dist="38100" dir="2700000">
                    <a:srgbClr val="C0C0C0"/>
                  </a:outerShdw>
                </a:effectLst>
                <a:latin typeface="楷体_GB2312" pitchFamily="49" charset="-122"/>
                <a:ea typeface="楷体_GB2312" pitchFamily="49" charset="-122"/>
              </a:rPr>
              <a:t>↑</a:t>
            </a: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7896" name="矩形 2597895"/>
          <p:cNvSpPr/>
          <p:nvPr/>
        </p:nvSpPr>
        <p:spPr>
          <a:xfrm>
            <a:off x="828675" y="5338763"/>
            <a:ext cx="7920038" cy="579437"/>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通常：流量</a:t>
            </a:r>
            <a:r>
              <a:rPr lang="en-US" altLang="zh-CN" sz="32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 </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 12</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，压力</a:t>
            </a:r>
            <a:r>
              <a:rPr lang="en-US" altLang="zh-CN" sz="32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 = 4</a:t>
            </a:r>
            <a:r>
              <a:rPr lang="zh-CN" altLang="en-US" sz="32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rPr>
              <a:t>，温度</a:t>
            </a:r>
            <a:r>
              <a:rPr lang="en-US" altLang="zh-CN" sz="32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 = 1</a:t>
            </a:r>
            <a:endParaRPr lang="en-US" altLang="zh-CN" sz="3200" b="1" dirty="0">
              <a:solidFill>
                <a:schemeClr val="tx1"/>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2597898" name="文本框 259789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7890"/>
                                        </p:tgtEl>
                                        <p:attrNameLst>
                                          <p:attrName>style.visibility</p:attrName>
                                        </p:attrNameLst>
                                      </p:cBhvr>
                                      <p:to>
                                        <p:strVal val="visible"/>
                                      </p:to>
                                    </p:set>
                                    <p:animEffect transition="in" filter="dissolve">
                                      <p:cBhvr>
                                        <p:cTn id="7" dur="500"/>
                                        <p:tgtEl>
                                          <p:spTgt spid="259789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97891">
                                            <p:txEl>
                                              <p:charRg st="0" end="15"/>
                                            </p:txEl>
                                          </p:spTgt>
                                        </p:tgtEl>
                                        <p:attrNameLst>
                                          <p:attrName>style.visibility</p:attrName>
                                        </p:attrNameLst>
                                      </p:cBhvr>
                                      <p:to>
                                        <p:strVal val="visible"/>
                                      </p:to>
                                    </p:set>
                                    <p:animEffect transition="in" filter="dissolve">
                                      <p:cBhvr>
                                        <p:cTn id="12" dur="500"/>
                                        <p:tgtEl>
                                          <p:spTgt spid="2597891">
                                            <p:txEl>
                                              <p:charRg st="0" end="15"/>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597891">
                                            <p:txEl>
                                              <p:charRg st="15" end="42"/>
                                            </p:txEl>
                                          </p:spTgt>
                                        </p:tgtEl>
                                        <p:attrNameLst>
                                          <p:attrName>style.visibility</p:attrName>
                                        </p:attrNameLst>
                                      </p:cBhvr>
                                      <p:to>
                                        <p:strVal val="visible"/>
                                      </p:to>
                                    </p:set>
                                    <p:animEffect transition="in" filter="dissolve">
                                      <p:cBhvr>
                                        <p:cTn id="15" dur="500"/>
                                        <p:tgtEl>
                                          <p:spTgt spid="2597891">
                                            <p:txEl>
                                              <p:charRg st="15" end="4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97892">
                                            <p:txEl>
                                              <p:charRg st="0" end="8"/>
                                            </p:txEl>
                                          </p:spTgt>
                                        </p:tgtEl>
                                        <p:attrNameLst>
                                          <p:attrName>style.visibility</p:attrName>
                                        </p:attrNameLst>
                                      </p:cBhvr>
                                      <p:to>
                                        <p:strVal val="visible"/>
                                      </p:to>
                                    </p:set>
                                    <p:animEffect transition="in" filter="wipe(left)">
                                      <p:cBhvr>
                                        <p:cTn id="20" dur="500"/>
                                        <p:tgtEl>
                                          <p:spTgt spid="2597892">
                                            <p:txEl>
                                              <p:charRg st="0" end="8"/>
                                            </p:txEl>
                                          </p:spTgt>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2597892">
                                            <p:txEl>
                                              <p:charRg st="8" end="18"/>
                                            </p:txEl>
                                          </p:spTgt>
                                        </p:tgtEl>
                                        <p:attrNameLst>
                                          <p:attrName>style.visibility</p:attrName>
                                        </p:attrNameLst>
                                      </p:cBhvr>
                                      <p:to>
                                        <p:strVal val="visible"/>
                                      </p:to>
                                    </p:set>
                                    <p:animEffect transition="in" filter="wipe(left)">
                                      <p:cBhvr>
                                        <p:cTn id="23" dur="500"/>
                                        <p:tgtEl>
                                          <p:spTgt spid="2597892">
                                            <p:txEl>
                                              <p:charRg st="8" end="18"/>
                                            </p:txEl>
                                          </p:spTgt>
                                        </p:tgtEl>
                                      </p:cBhvr>
                                    </p:animEffect>
                                  </p:childTnLst>
                                </p:cTn>
                              </p:par>
                              <p:par>
                                <p:cTn id="24" presetID="22" presetClass="entr" presetSubtype="1" fill="hold" nodeType="withEffect">
                                  <p:stCondLst>
                                    <p:cond delay="0"/>
                                  </p:stCondLst>
                                  <p:childTnLst>
                                    <p:set>
                                      <p:cBhvr>
                                        <p:cTn id="25" dur="1" fill="hold">
                                          <p:stCondLst>
                                            <p:cond delay="0"/>
                                          </p:stCondLst>
                                        </p:cTn>
                                        <p:tgtEl>
                                          <p:spTgt spid="2597893"/>
                                        </p:tgtEl>
                                        <p:attrNameLst>
                                          <p:attrName>style.visibility</p:attrName>
                                        </p:attrNameLst>
                                      </p:cBhvr>
                                      <p:to>
                                        <p:strVal val="visible"/>
                                      </p:to>
                                    </p:set>
                                    <p:animEffect transition="in" filter="wipe(up)">
                                      <p:cBhvr>
                                        <p:cTn id="26" dur="500"/>
                                        <p:tgtEl>
                                          <p:spTgt spid="2597893"/>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597894"/>
                                        </p:tgtEl>
                                        <p:attrNameLst>
                                          <p:attrName>style.visibility</p:attrName>
                                        </p:attrNameLst>
                                      </p:cBhvr>
                                      <p:to>
                                        <p:strVal val="visible"/>
                                      </p:to>
                                    </p:set>
                                    <p:animEffect transition="in" filter="wipe(left)">
                                      <p:cBhvr>
                                        <p:cTn id="31" dur="500"/>
                                        <p:tgtEl>
                                          <p:spTgt spid="259789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597895"/>
                                        </p:tgtEl>
                                        <p:attrNameLst>
                                          <p:attrName>style.visibility</p:attrName>
                                        </p:attrNameLst>
                                      </p:cBhvr>
                                      <p:to>
                                        <p:strVal val="visible"/>
                                      </p:to>
                                    </p:set>
                                    <p:animEffect transition="in" filter="wipe(left)">
                                      <p:cBhvr>
                                        <p:cTn id="36" dur="500"/>
                                        <p:tgtEl>
                                          <p:spTgt spid="259789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597896"/>
                                        </p:tgtEl>
                                        <p:attrNameLst>
                                          <p:attrName>style.visibility</p:attrName>
                                        </p:attrNameLst>
                                      </p:cBhvr>
                                      <p:to>
                                        <p:strVal val="visible"/>
                                      </p:to>
                                    </p:set>
                                    <p:animEffect transition="in" filter="dissolve">
                                      <p:cBhvr>
                                        <p:cTn id="41" dur="500"/>
                                        <p:tgtEl>
                                          <p:spTgt spid="2597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7890" grpId="0"/>
      <p:bldP spid="2597891" grpId="0" uiExpand="1" build="p"/>
      <p:bldP spid="2597892" grpId="0" uiExpand="1" build="p"/>
      <p:bldP spid="2597894" grpId="0"/>
      <p:bldP spid="2597895" grpId="0"/>
      <p:bldP spid="2597896" grpId="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8914" name="矩形 2598913"/>
          <p:cNvSpPr/>
          <p:nvPr/>
        </p:nvSpPr>
        <p:spPr>
          <a:xfrm>
            <a:off x="612775" y="1052513"/>
            <a:ext cx="4073525" cy="579437"/>
          </a:xfrm>
          <a:prstGeom prst="rect">
            <a:avLst/>
          </a:prstGeom>
          <a:noFill/>
          <a:ln w="9525">
            <a:noFill/>
          </a:ln>
        </p:spPr>
        <p:txBody>
          <a:bodyPr wrap="none" anchor="ctr" anchorCtr="0">
            <a:spAutoFit/>
          </a:bodyPr>
          <a:p>
            <a:pPr defTabSz="914400" eaLnBrk="1" hangingPunct="1">
              <a:lnSpc>
                <a:spcPct val="100000"/>
              </a:lnSpc>
              <a:tabLst>
                <a:tab pos="-1346200" algn="l"/>
                <a:tab pos="-1295400" algn="l"/>
              </a:tabLst>
            </a:pPr>
            <a:r>
              <a:rPr lang="en-US" altLang="zh-CN" sz="3200" b="1">
                <a:solidFill>
                  <a:schemeClr val="accent2"/>
                </a:solidFill>
                <a:effectLst>
                  <a:outerShdw blurRad="38100" dist="38100" dir="2700000">
                    <a:srgbClr val="C0C0C0"/>
                  </a:outerShdw>
                </a:effectLst>
                <a:latin typeface="Arial Black" panose="020B0A04020102020204" pitchFamily="34" charset="0"/>
                <a:ea typeface="楷体_GB2312" pitchFamily="49" charset="-122"/>
              </a:rPr>
              <a:t>3.</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加权平均滤波法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598915" name="矩形 2598914"/>
          <p:cNvSpPr/>
          <p:nvPr/>
        </p:nvSpPr>
        <p:spPr>
          <a:xfrm>
            <a:off x="684213" y="1844675"/>
            <a:ext cx="4191000" cy="579438"/>
          </a:xfrm>
          <a:prstGeom prst="rect">
            <a:avLst/>
          </a:prstGeom>
          <a:noFill/>
          <a:ln w="9525">
            <a:noFill/>
          </a:ln>
        </p:spPr>
        <p:txBody>
          <a:bodyPr wrap="none" anchor="ctr" anchorCtr="0">
            <a:spAutoFit/>
          </a:bodyPr>
          <a:p>
            <a:pPr defTabSz="914400" eaLnBrk="1" hangingPunct="1">
              <a:lnSpc>
                <a:spcPct val="100000"/>
              </a:lnSpc>
              <a:tabLst>
                <a:tab pos="-1346200" algn="l"/>
                <a:tab pos="-1295400" algn="l"/>
              </a:tabLst>
            </a:pPr>
            <a:r>
              <a:rPr lang="zh-CN" altLang="en-US" sz="28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采用加权递推平均法：</a:t>
            </a: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graphicFrame>
        <p:nvGraphicFramePr>
          <p:cNvPr id="2598916" name="对象 2598915"/>
          <p:cNvGraphicFramePr/>
          <p:nvPr/>
        </p:nvGraphicFramePr>
        <p:xfrm>
          <a:off x="1189038" y="2708275"/>
          <a:ext cx="7343775" cy="715963"/>
        </p:xfrm>
        <a:graphic>
          <a:graphicData uri="http://schemas.openxmlformats.org/presentationml/2006/ole">
            <mc:AlternateContent xmlns:mc="http://schemas.openxmlformats.org/markup-compatibility/2006">
              <mc:Choice xmlns:v="urn:schemas-microsoft-com:vml" Requires="v">
                <p:oleObj spid="_x0000_s3095" name="" r:id="rId1" imgW="2184400" imgH="241300" progId="Equation.3">
                  <p:embed/>
                </p:oleObj>
              </mc:Choice>
              <mc:Fallback>
                <p:oleObj name="" r:id="rId1" imgW="2184400" imgH="241300" progId="Equation.3">
                  <p:embed/>
                  <p:pic>
                    <p:nvPicPr>
                      <p:cNvPr id="0" name="图片 3094"/>
                      <p:cNvPicPr/>
                      <p:nvPr/>
                    </p:nvPicPr>
                    <p:blipFill>
                      <a:blip r:embed="rId2"/>
                      <a:stretch>
                        <a:fillRect/>
                      </a:stretch>
                    </p:blipFill>
                    <p:spPr>
                      <a:xfrm>
                        <a:off x="1189038" y="2708275"/>
                        <a:ext cx="7343775" cy="715963"/>
                      </a:xfrm>
                      <a:prstGeom prst="rect">
                        <a:avLst/>
                      </a:prstGeom>
                      <a:noFill/>
                      <a:ln w="38100">
                        <a:noFill/>
                        <a:miter/>
                      </a:ln>
                    </p:spPr>
                  </p:pic>
                </p:oleObj>
              </mc:Fallback>
            </mc:AlternateContent>
          </a:graphicData>
        </a:graphic>
      </p:graphicFrame>
      <p:sp>
        <p:nvSpPr>
          <p:cNvPr id="2598917" name="矩形 2598916"/>
          <p:cNvSpPr/>
          <p:nvPr/>
        </p:nvSpPr>
        <p:spPr>
          <a:xfrm>
            <a:off x="755650" y="3713163"/>
            <a:ext cx="7620000" cy="519112"/>
          </a:xfrm>
          <a:prstGeom prst="rect">
            <a:avLst/>
          </a:prstGeom>
          <a:noFill/>
          <a:ln w="9525">
            <a:noFill/>
          </a:ln>
        </p:spPr>
        <p:txBody>
          <a:bodyPr wrap="none" anchor="ctr" anchorCtr="0">
            <a:spAutoFit/>
          </a:bodyPr>
          <a:p>
            <a:pPr eaLnBrk="1" hangingPunct="1">
              <a:lnSpc>
                <a:spcPct val="100000"/>
              </a:lnSpc>
            </a:pP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式中 </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0</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a</a:t>
            </a:r>
            <a:r>
              <a:rPr lang="en-US" altLang="zh-CN" sz="2800" b="1" baseline="-2500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2800" b="1" dirty="0">
                <a:solidFill>
                  <a:schemeClr val="accent2"/>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accent2"/>
                </a:solidFill>
                <a:latin typeface="宋体" panose="02010600030101010101" pitchFamily="2" charset="-122"/>
                <a:ea typeface="楷体_GB2312" pitchFamily="49" charset="-122"/>
              </a:rPr>
              <a:t>…</a:t>
            </a:r>
            <a:r>
              <a:rPr lang="en-US" altLang="zh-CN" sz="2800" b="0">
                <a:solidFill>
                  <a:schemeClr val="accent2"/>
                </a:solidFill>
                <a:latin typeface="宋体" panose="02010600030101010101" pitchFamily="2" charset="-122"/>
                <a:ea typeface="宋体" panose="02010600030101010101" pitchFamily="2" charset="-122"/>
              </a:rPr>
              <a:t> </a:t>
            </a:r>
            <a:r>
              <a:rPr lang="zh-CN" altLang="en-US" sz="2800" b="0" dirty="0">
                <a:solidFill>
                  <a:schemeClr val="accent2"/>
                </a:solidFill>
                <a:latin typeface="宋体" panose="02010600030101010101" pitchFamily="2" charset="-122"/>
                <a:ea typeface="宋体" panose="02010600030101010101" pitchFamily="2" charset="-122"/>
              </a:rPr>
              <a:t>、</a:t>
            </a:r>
            <a:r>
              <a:rPr lang="en-US" altLang="zh-CN" sz="2800" b="1" i="1">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a</a:t>
            </a:r>
            <a:r>
              <a:rPr lang="en-US" altLang="zh-CN" sz="2800" b="1" i="1" baseline="-25000">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n</a:t>
            </a:r>
            <a:r>
              <a:rPr lang="zh-CN" altLang="en-US" sz="28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均为常数且应满足下式</a:t>
            </a:r>
            <a:r>
              <a:rPr lang="zh-CN" altLang="en-US" sz="2800" b="0" dirty="0">
                <a:solidFill>
                  <a:schemeClr val="accent2"/>
                </a:solidFill>
                <a:latin typeface="Arial" panose="020B0604020202020204" pitchFamily="34" charset="0"/>
                <a:ea typeface="宋体" panose="02010600030101010101" pitchFamily="2" charset="-122"/>
              </a:rPr>
              <a:t> </a:t>
            </a:r>
            <a:r>
              <a:rPr lang="zh-CN" altLang="en-US" sz="28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28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598918" name="对象 2598917"/>
          <p:cNvGraphicFramePr/>
          <p:nvPr/>
        </p:nvGraphicFramePr>
        <p:xfrm>
          <a:off x="1116013" y="4652963"/>
          <a:ext cx="4679950" cy="1257300"/>
        </p:xfrm>
        <a:graphic>
          <a:graphicData uri="http://schemas.openxmlformats.org/presentationml/2006/ole">
            <mc:AlternateContent xmlns:mc="http://schemas.openxmlformats.org/markup-compatibility/2006">
              <mc:Choice xmlns:v="urn:schemas-microsoft-com:vml" Requires="v">
                <p:oleObj spid="_x0000_s3097" name="" r:id="rId3" imgW="1676400" imgH="469900" progId="Equation.3">
                  <p:embed/>
                </p:oleObj>
              </mc:Choice>
              <mc:Fallback>
                <p:oleObj name="" r:id="rId3" imgW="1676400" imgH="469900" progId="Equation.3">
                  <p:embed/>
                  <p:pic>
                    <p:nvPicPr>
                      <p:cNvPr id="0" name="图片 3096"/>
                      <p:cNvPicPr/>
                      <p:nvPr/>
                    </p:nvPicPr>
                    <p:blipFill>
                      <a:blip r:embed="rId4"/>
                      <a:stretch>
                        <a:fillRect/>
                      </a:stretch>
                    </p:blipFill>
                    <p:spPr>
                      <a:xfrm>
                        <a:off x="1116013" y="4652963"/>
                        <a:ext cx="4679950" cy="1257300"/>
                      </a:xfrm>
                      <a:prstGeom prst="rect">
                        <a:avLst/>
                      </a:prstGeom>
                      <a:noFill/>
                      <a:ln w="38100">
                        <a:noFill/>
                        <a:miter/>
                      </a:ln>
                    </p:spPr>
                  </p:pic>
                </p:oleObj>
              </mc:Fallback>
            </mc:AlternateContent>
          </a:graphicData>
        </a:graphic>
      </p:graphicFrame>
      <p:sp>
        <p:nvSpPr>
          <p:cNvPr id="2598920" name="文本框 259891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8914"/>
                                        </p:tgtEl>
                                        <p:attrNameLst>
                                          <p:attrName>style.visibility</p:attrName>
                                        </p:attrNameLst>
                                      </p:cBhvr>
                                      <p:to>
                                        <p:strVal val="visible"/>
                                      </p:to>
                                    </p:set>
                                    <p:animEffect transition="in" filter="dissolve">
                                      <p:cBhvr>
                                        <p:cTn id="7" dur="500"/>
                                        <p:tgtEl>
                                          <p:spTgt spid="25989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98915"/>
                                        </p:tgtEl>
                                        <p:attrNameLst>
                                          <p:attrName>style.visibility</p:attrName>
                                        </p:attrNameLst>
                                      </p:cBhvr>
                                      <p:to>
                                        <p:strVal val="visible"/>
                                      </p:to>
                                    </p:set>
                                    <p:animEffect transition="in" filter="dissolve">
                                      <p:cBhvr>
                                        <p:cTn id="12" dur="500"/>
                                        <p:tgtEl>
                                          <p:spTgt spid="25989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598916"/>
                                        </p:tgtEl>
                                        <p:attrNameLst>
                                          <p:attrName>style.visibility</p:attrName>
                                        </p:attrNameLst>
                                      </p:cBhvr>
                                      <p:to>
                                        <p:strVal val="visible"/>
                                      </p:to>
                                    </p:set>
                                    <p:animEffect transition="in" filter="wipe(left)">
                                      <p:cBhvr>
                                        <p:cTn id="17" dur="500"/>
                                        <p:tgtEl>
                                          <p:spTgt spid="259891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98917"/>
                                        </p:tgtEl>
                                        <p:attrNameLst>
                                          <p:attrName>style.visibility</p:attrName>
                                        </p:attrNameLst>
                                      </p:cBhvr>
                                      <p:to>
                                        <p:strVal val="visible"/>
                                      </p:to>
                                    </p:set>
                                    <p:animEffect transition="in" filter="dissolve">
                                      <p:cBhvr>
                                        <p:cTn id="22" dur="500"/>
                                        <p:tgtEl>
                                          <p:spTgt spid="25989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598918"/>
                                        </p:tgtEl>
                                        <p:attrNameLst>
                                          <p:attrName>style.visibility</p:attrName>
                                        </p:attrNameLst>
                                      </p:cBhvr>
                                      <p:to>
                                        <p:strVal val="visible"/>
                                      </p:to>
                                    </p:set>
                                    <p:animEffect transition="in" filter="wipe(up)">
                                      <p:cBhvr>
                                        <p:cTn id="27" dur="500"/>
                                        <p:tgtEl>
                                          <p:spTgt spid="25989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8914" grpId="0"/>
      <p:bldP spid="2598915" grpId="0"/>
      <p:bldP spid="2598917" grpId="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99938" name="矩形 2599937"/>
          <p:cNvSpPr/>
          <p:nvPr/>
        </p:nvSpPr>
        <p:spPr>
          <a:xfrm>
            <a:off x="684213" y="981075"/>
            <a:ext cx="7486650" cy="579438"/>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采</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用加权系数法选</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常数</a:t>
            </a:r>
            <a:r>
              <a:rPr lang="en-US" altLang="zh-CN" sz="3200" b="1" i="1">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a</a:t>
            </a:r>
            <a:r>
              <a:rPr lang="en-US" altLang="zh-CN" sz="3200" b="1" baseline="-25000">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0</a:t>
            </a:r>
            <a:r>
              <a:rPr lang="zh-CN" altLang="en-US" sz="3200" b="1" dirty="0">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3200" b="1" i="1">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a</a:t>
            </a:r>
            <a:r>
              <a:rPr lang="en-US" altLang="zh-CN" sz="3200" b="1" baseline="-25000">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zh-CN" altLang="en-US" sz="3200" b="1" dirty="0">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3200" b="1">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3200" b="0">
                <a:solidFill>
                  <a:schemeClr val="accent2"/>
                </a:solidFill>
                <a:latin typeface="Arial" panose="020B0604020202020204" pitchFamily="34" charset="0"/>
                <a:ea typeface="宋体" panose="02010600030101010101" pitchFamily="2" charset="-122"/>
              </a:rPr>
              <a:t> </a:t>
            </a:r>
            <a:r>
              <a:rPr lang="zh-CN" altLang="en-US" sz="3200" b="0" dirty="0">
                <a:solidFill>
                  <a:schemeClr val="accent2"/>
                </a:solidFill>
                <a:latin typeface="Arial" panose="020B0604020202020204" pitchFamily="34" charset="0"/>
                <a:ea typeface="宋体" panose="02010600030101010101" pitchFamily="2" charset="-122"/>
              </a:rPr>
              <a:t>、</a:t>
            </a:r>
            <a:r>
              <a:rPr lang="en-US" altLang="zh-CN" sz="3200" b="1" i="1">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a</a:t>
            </a:r>
            <a:r>
              <a:rPr lang="en-US" altLang="zh-CN" sz="3200" b="1" i="1" baseline="-25000">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rPr>
              <a:t>n</a:t>
            </a:r>
            <a:endParaRPr lang="en-US" altLang="zh-CN" sz="3200" b="1" i="1" baseline="-25000">
              <a:solidFill>
                <a:schemeClr val="accent2"/>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aphicFrame>
        <p:nvGraphicFramePr>
          <p:cNvPr id="2599939" name="对象 2599938"/>
          <p:cNvGraphicFramePr/>
          <p:nvPr/>
        </p:nvGraphicFramePr>
        <p:xfrm>
          <a:off x="1981200" y="1628775"/>
          <a:ext cx="1727200" cy="962025"/>
        </p:xfrm>
        <a:graphic>
          <a:graphicData uri="http://schemas.openxmlformats.org/presentationml/2006/ole">
            <mc:AlternateContent xmlns:mc="http://schemas.openxmlformats.org/markup-compatibility/2006">
              <mc:Choice xmlns:v="urn:schemas-microsoft-com:vml" Requires="v">
                <p:oleObj spid="_x0000_s3094" name="" r:id="rId1" imgW="482600" imgH="393700" progId="Equation.3">
                  <p:embed/>
                </p:oleObj>
              </mc:Choice>
              <mc:Fallback>
                <p:oleObj name="" r:id="rId1" imgW="482600" imgH="393700" progId="Equation.3">
                  <p:embed/>
                  <p:pic>
                    <p:nvPicPr>
                      <p:cNvPr id="0" name="图片 3093"/>
                      <p:cNvPicPr/>
                      <p:nvPr/>
                    </p:nvPicPr>
                    <p:blipFill>
                      <a:blip r:embed="rId2"/>
                      <a:stretch>
                        <a:fillRect/>
                      </a:stretch>
                    </p:blipFill>
                    <p:spPr>
                      <a:xfrm>
                        <a:off x="1981200" y="1628775"/>
                        <a:ext cx="1727200" cy="962025"/>
                      </a:xfrm>
                      <a:prstGeom prst="rect">
                        <a:avLst/>
                      </a:prstGeom>
                      <a:noFill/>
                      <a:ln w="38100">
                        <a:noFill/>
                        <a:miter/>
                      </a:ln>
                    </p:spPr>
                  </p:pic>
                </p:oleObj>
              </mc:Fallback>
            </mc:AlternateContent>
          </a:graphicData>
        </a:graphic>
      </p:graphicFrame>
      <p:graphicFrame>
        <p:nvGraphicFramePr>
          <p:cNvPr id="2599940" name="对象 2599939"/>
          <p:cNvGraphicFramePr/>
          <p:nvPr/>
        </p:nvGraphicFramePr>
        <p:xfrm>
          <a:off x="1981200" y="2744788"/>
          <a:ext cx="2349500" cy="587375"/>
        </p:xfrm>
        <a:graphic>
          <a:graphicData uri="http://schemas.openxmlformats.org/presentationml/2006/ole">
            <mc:AlternateContent xmlns:mc="http://schemas.openxmlformats.org/markup-compatibility/2006">
              <mc:Choice xmlns:v="urn:schemas-microsoft-com:vml" Requires="v">
                <p:oleObj spid="_x0000_s3098" name="" r:id="rId3" imgW="761365" imgH="228600" progId="Equation.3">
                  <p:embed/>
                </p:oleObj>
              </mc:Choice>
              <mc:Fallback>
                <p:oleObj name="" r:id="rId3" imgW="761365" imgH="228600" progId="Equation.3">
                  <p:embed/>
                  <p:pic>
                    <p:nvPicPr>
                      <p:cNvPr id="0" name="图片 3097"/>
                      <p:cNvPicPr/>
                      <p:nvPr/>
                    </p:nvPicPr>
                    <p:blipFill>
                      <a:blip r:embed="rId4"/>
                      <a:stretch>
                        <a:fillRect/>
                      </a:stretch>
                    </p:blipFill>
                    <p:spPr>
                      <a:xfrm>
                        <a:off x="1981200" y="2744788"/>
                        <a:ext cx="2349500" cy="587375"/>
                      </a:xfrm>
                      <a:prstGeom prst="rect">
                        <a:avLst/>
                      </a:prstGeom>
                      <a:noFill/>
                      <a:ln w="38100">
                        <a:noFill/>
                        <a:miter/>
                      </a:ln>
                    </p:spPr>
                  </p:pic>
                </p:oleObj>
              </mc:Fallback>
            </mc:AlternateContent>
          </a:graphicData>
        </a:graphic>
      </p:graphicFrame>
      <p:sp>
        <p:nvSpPr>
          <p:cNvPr id="2599941" name="矩形 2599940"/>
          <p:cNvSpPr/>
          <p:nvPr/>
        </p:nvSpPr>
        <p:spPr>
          <a:xfrm>
            <a:off x="2844800" y="3176588"/>
            <a:ext cx="311150" cy="1006475"/>
          </a:xfrm>
          <a:prstGeom prst="rect">
            <a:avLst/>
          </a:prstGeom>
          <a:noFill/>
          <a:ln w="9525">
            <a:noFill/>
          </a:ln>
        </p:spPr>
        <p:txBody>
          <a:bodyPr wrap="none" anchor="ctr" anchorCtr="0">
            <a:spAutoFit/>
          </a:bodyPr>
          <a:p>
            <a:pPr defTabSz="914400" eaLnBrk="1" hangingPunct="1">
              <a:lnSpc>
                <a:spcPct val="100000"/>
              </a:lnSpc>
              <a:tabLst>
                <a:tab pos="-1346200" algn="l"/>
                <a:tab pos="-1295400" algn="l"/>
              </a:tabLst>
            </a:pPr>
            <a:r>
              <a:rPr lang="en-US" altLang="zh-CN" sz="2000" b="0">
                <a:solidFill>
                  <a:schemeClr val="tx1"/>
                </a:solidFill>
                <a:latin typeface="宋体" panose="02010600030101010101" pitchFamily="2" charset="-122"/>
                <a:ea typeface="宋体" panose="02010600030101010101" pitchFamily="2" charset="-122"/>
              </a:rPr>
              <a:t>.</a:t>
            </a:r>
            <a:endParaRPr lang="en-US" altLang="zh-CN" sz="2000" b="0">
              <a:solidFill>
                <a:schemeClr val="tx1"/>
              </a:solidFill>
              <a:latin typeface="宋体" panose="02010600030101010101" pitchFamily="2" charset="-122"/>
              <a:ea typeface="宋体" panose="02010600030101010101" pitchFamily="2" charset="-122"/>
            </a:endParaRPr>
          </a:p>
          <a:p>
            <a:pPr defTabSz="914400" eaLnBrk="1" hangingPunct="1">
              <a:lnSpc>
                <a:spcPct val="100000"/>
              </a:lnSpc>
              <a:tabLst>
                <a:tab pos="-1346200" algn="l"/>
                <a:tab pos="-1295400" algn="l"/>
              </a:tabLst>
            </a:pPr>
            <a:r>
              <a:rPr lang="en-US" altLang="zh-CN" sz="2000" b="0">
                <a:solidFill>
                  <a:schemeClr val="tx1"/>
                </a:solidFill>
                <a:latin typeface="宋体" panose="02010600030101010101" pitchFamily="2" charset="-122"/>
                <a:ea typeface="宋体" panose="02010600030101010101" pitchFamily="2" charset="-122"/>
              </a:rPr>
              <a:t>.</a:t>
            </a:r>
            <a:endParaRPr lang="en-US" altLang="zh-CN" sz="2000" b="0">
              <a:solidFill>
                <a:schemeClr val="tx1"/>
              </a:solidFill>
              <a:latin typeface="宋体" panose="02010600030101010101" pitchFamily="2" charset="-122"/>
              <a:ea typeface="宋体" panose="02010600030101010101" pitchFamily="2" charset="-122"/>
            </a:endParaRPr>
          </a:p>
          <a:p>
            <a:pPr defTabSz="914400" eaLnBrk="1" hangingPunct="1">
              <a:lnSpc>
                <a:spcPct val="100000"/>
              </a:lnSpc>
              <a:tabLst>
                <a:tab pos="-1346200" algn="l"/>
                <a:tab pos="-1295400" algn="l"/>
              </a:tabLst>
            </a:pPr>
            <a:r>
              <a:rPr lang="en-US" altLang="zh-CN" sz="2000" b="0">
                <a:solidFill>
                  <a:schemeClr val="tx1"/>
                </a:solidFill>
                <a:latin typeface="宋体" panose="02010600030101010101" pitchFamily="2" charset="-122"/>
                <a:ea typeface="宋体" panose="02010600030101010101" pitchFamily="2" charset="-122"/>
              </a:rPr>
              <a:t>.</a:t>
            </a:r>
            <a:endParaRPr lang="en-US" altLang="zh-CN" sz="2000" b="0">
              <a:solidFill>
                <a:schemeClr val="tx1"/>
              </a:solidFill>
              <a:latin typeface="宋体" panose="02010600030101010101" pitchFamily="2" charset="-122"/>
              <a:ea typeface="宋体" panose="02010600030101010101" pitchFamily="2" charset="-122"/>
            </a:endParaRPr>
          </a:p>
        </p:txBody>
      </p:sp>
      <p:graphicFrame>
        <p:nvGraphicFramePr>
          <p:cNvPr id="2599942" name="对象 2599941"/>
          <p:cNvGraphicFramePr/>
          <p:nvPr/>
        </p:nvGraphicFramePr>
        <p:xfrm>
          <a:off x="1763713" y="4184650"/>
          <a:ext cx="3094037" cy="639763"/>
        </p:xfrm>
        <a:graphic>
          <a:graphicData uri="http://schemas.openxmlformats.org/presentationml/2006/ole">
            <mc:AlternateContent xmlns:mc="http://schemas.openxmlformats.org/markup-compatibility/2006">
              <mc:Choice xmlns:v="urn:schemas-microsoft-com:vml" Requires="v">
                <p:oleObj spid="_x0000_s3096" name="" r:id="rId5" imgW="876300" imgH="228600" progId="Equation.3">
                  <p:embed/>
                </p:oleObj>
              </mc:Choice>
              <mc:Fallback>
                <p:oleObj name="" r:id="rId5" imgW="876300" imgH="228600" progId="Equation.3">
                  <p:embed/>
                  <p:pic>
                    <p:nvPicPr>
                      <p:cNvPr id="0" name="图片 3095"/>
                      <p:cNvPicPr/>
                      <p:nvPr/>
                    </p:nvPicPr>
                    <p:blipFill>
                      <a:blip r:embed="rId6"/>
                      <a:stretch>
                        <a:fillRect/>
                      </a:stretch>
                    </p:blipFill>
                    <p:spPr>
                      <a:xfrm>
                        <a:off x="1763713" y="4184650"/>
                        <a:ext cx="3094037" cy="639763"/>
                      </a:xfrm>
                      <a:prstGeom prst="rect">
                        <a:avLst/>
                      </a:prstGeom>
                      <a:noFill/>
                      <a:ln w="38100">
                        <a:noFill/>
                        <a:miter/>
                      </a:ln>
                    </p:spPr>
                  </p:pic>
                </p:oleObj>
              </mc:Fallback>
            </mc:AlternateContent>
          </a:graphicData>
        </a:graphic>
      </p:graphicFrame>
      <p:sp>
        <p:nvSpPr>
          <p:cNvPr id="2599943" name="矩形 2599942"/>
          <p:cNvSpPr/>
          <p:nvPr/>
        </p:nvSpPr>
        <p:spPr>
          <a:xfrm>
            <a:off x="900113" y="5006975"/>
            <a:ext cx="5715000" cy="1117600"/>
          </a:xfrm>
          <a:prstGeom prst="rect">
            <a:avLst/>
          </a:prstGeom>
          <a:noFill/>
          <a:ln w="9525">
            <a:noFill/>
          </a:ln>
        </p:spPr>
        <p:txBody>
          <a:bodyPr wrap="none" anchor="ctr" anchorCtr="0">
            <a:spAutoFit/>
          </a:bodyPr>
          <a:p>
            <a:pPr eaLnBrk="1" hangingPunct="1">
              <a:lnSpc>
                <a:spcPct val="120000"/>
              </a:lnSpc>
            </a:pP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其中 </a:t>
            </a:r>
            <a:r>
              <a:rPr lang="en-US" altLang="zh-CN" sz="28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1+</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e</a:t>
            </a:r>
            <a:r>
              <a:rPr lang="en-US" altLang="zh-CN" sz="2800" b="1" baseline="30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a:t>
            </a:r>
            <a:r>
              <a:rPr lang="el-GR" altLang="zh-CN" sz="2800" b="1" i="1" baseline="30000"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cs typeface="Arial" panose="020B0604020202020204" pitchFamily="34" charset="0"/>
              </a:rPr>
              <a:t>τ</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cs typeface="Arial" panose="020B0604020202020204" pitchFamily="34" charset="0"/>
              </a:rPr>
              <a:t>+</a:t>
            </a:r>
            <a:r>
              <a:rPr lang="en-US" altLang="zh-CN" sz="2800" b="1" i="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cs typeface="Arial" panose="020B0604020202020204" pitchFamily="34" charset="0"/>
              </a:rPr>
              <a:t>e</a:t>
            </a:r>
            <a:r>
              <a:rPr lang="en-US" altLang="zh-CN" sz="2800" b="1" baseline="30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cs typeface="Arial" panose="020B0604020202020204" pitchFamily="34" charset="0"/>
              </a:rPr>
              <a:t>-2 </a:t>
            </a:r>
            <a:r>
              <a:rPr lang="el-GR" altLang="zh-CN" sz="2800" b="1" i="1" baseline="30000"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τ</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n-US" altLang="zh-CN" sz="2800" b="0">
                <a:solidFill>
                  <a:schemeClr val="tx1"/>
                </a:solidFill>
                <a:latin typeface="宋体" panose="02010600030101010101" pitchFamily="2" charset="-122"/>
                <a:ea typeface="宋体" panose="02010600030101010101" pitchFamily="2" charset="-122"/>
              </a:rPr>
              <a:t>…</a:t>
            </a:r>
            <a:r>
              <a:rPr lang="en-US" altLang="zh-CN" sz="2800" b="1">
                <a:solidFill>
                  <a:schemeClr val="tx1"/>
                </a:solidFill>
                <a:latin typeface="Times New Roman" panose="02020603050405020304" pitchFamily="18" charset="0"/>
                <a:ea typeface="宋体" panose="02010600030101010101" pitchFamily="2" charset="-122"/>
              </a:rPr>
              <a:t>+</a:t>
            </a:r>
            <a:r>
              <a:rPr lang="en-US" altLang="zh-CN" sz="2800" b="1" i="1">
                <a:solidFill>
                  <a:schemeClr val="tx1"/>
                </a:solidFill>
                <a:latin typeface="Times New Roman" panose="02020603050405020304" pitchFamily="18" charset="0"/>
                <a:ea typeface="宋体" panose="02010600030101010101" pitchFamily="2" charset="-122"/>
              </a:rPr>
              <a:t>e</a:t>
            </a:r>
            <a:r>
              <a:rPr lang="en-US" altLang="zh-CN" sz="2800" b="1" baseline="30000">
                <a:solidFill>
                  <a:schemeClr val="tx1"/>
                </a:solidFill>
                <a:latin typeface="Times New Roman" panose="02020603050405020304" pitchFamily="18" charset="0"/>
                <a:ea typeface="宋体" panose="02010600030101010101" pitchFamily="2" charset="-122"/>
              </a:rPr>
              <a:t>-N</a:t>
            </a:r>
            <a:r>
              <a:rPr lang="el-GR" altLang="zh-CN" sz="2800" b="1" i="1" baseline="30000"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τ</a:t>
            </a:r>
            <a:r>
              <a:rPr lang="en-US" altLang="zh-CN" sz="2800" b="1" baseline="30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endParaRPr lang="en-US" altLang="zh-CN" sz="2800" b="1" baseline="30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eaLnBrk="1" hangingPunct="1">
              <a:lnSpc>
                <a:spcPct val="120000"/>
              </a:lnSpc>
            </a:pPr>
            <a:r>
              <a:rPr lang="en-US" altLang="zh-CN" sz="2800" b="1" baseline="3000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t>
            </a:r>
            <a:r>
              <a:rPr lang="el-GR" altLang="zh-CN" sz="2800" b="1" i="1" dirty="0">
                <a:solidFill>
                  <a:schemeClr val="tx1"/>
                </a:solidFill>
                <a:effectLst>
                  <a:outerShdw blurRad="38100" dist="38100" dir="2700000">
                    <a:srgbClr val="C0C0C0"/>
                  </a:outerShdw>
                </a:effectLst>
                <a:latin typeface="楷体_GB2312" pitchFamily="49" charset="-122"/>
                <a:ea typeface="楷体_GB2312" pitchFamily="49" charset="-122"/>
              </a:rPr>
              <a:t>τ</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控制对象的纯滞后时间</a:t>
            </a:r>
            <a:r>
              <a:rPr lang="zh-CN" altLang="en-US" sz="1800" b="0" dirty="0">
                <a:solidFill>
                  <a:schemeClr val="tx1"/>
                </a:solidFill>
                <a:latin typeface="Arial" panose="020B0604020202020204" pitchFamily="34" charset="0"/>
                <a:ea typeface="宋体" panose="02010600030101010101" pitchFamily="2" charset="-122"/>
              </a:rPr>
              <a:t> </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 </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599945" name="文本框 259994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99938"/>
                                        </p:tgtEl>
                                        <p:attrNameLst>
                                          <p:attrName>style.visibility</p:attrName>
                                        </p:attrNameLst>
                                      </p:cBhvr>
                                      <p:to>
                                        <p:strVal val="visible"/>
                                      </p:to>
                                    </p:set>
                                    <p:animEffect transition="in" filter="dissolve">
                                      <p:cBhvr>
                                        <p:cTn id="7" dur="500"/>
                                        <p:tgtEl>
                                          <p:spTgt spid="259993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99939"/>
                                        </p:tgtEl>
                                        <p:attrNameLst>
                                          <p:attrName>style.visibility</p:attrName>
                                        </p:attrNameLst>
                                      </p:cBhvr>
                                      <p:to>
                                        <p:strVal val="visible"/>
                                      </p:to>
                                    </p:set>
                                    <p:animEffect transition="in" filter="wipe(left)">
                                      <p:cBhvr>
                                        <p:cTn id="12" dur="500"/>
                                        <p:tgtEl>
                                          <p:spTgt spid="2599939"/>
                                        </p:tgtEl>
                                      </p:cBhvr>
                                    </p:animEffect>
                                  </p:childTnLst>
                                </p:cTn>
                              </p:par>
                              <p:par>
                                <p:cTn id="13" presetID="22" presetClass="entr" presetSubtype="8" fill="hold" nodeType="withEffect">
                                  <p:stCondLst>
                                    <p:cond delay="0"/>
                                  </p:stCondLst>
                                  <p:childTnLst>
                                    <p:set>
                                      <p:cBhvr>
                                        <p:cTn id="14" dur="1" fill="hold">
                                          <p:stCondLst>
                                            <p:cond delay="0"/>
                                          </p:stCondLst>
                                        </p:cTn>
                                        <p:tgtEl>
                                          <p:spTgt spid="2599940"/>
                                        </p:tgtEl>
                                        <p:attrNameLst>
                                          <p:attrName>style.visibility</p:attrName>
                                        </p:attrNameLst>
                                      </p:cBhvr>
                                      <p:to>
                                        <p:strVal val="visible"/>
                                      </p:to>
                                    </p:set>
                                    <p:animEffect transition="in" filter="wipe(left)">
                                      <p:cBhvr>
                                        <p:cTn id="15" dur="500"/>
                                        <p:tgtEl>
                                          <p:spTgt spid="2599940"/>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2599941"/>
                                        </p:tgtEl>
                                        <p:attrNameLst>
                                          <p:attrName>style.visibility</p:attrName>
                                        </p:attrNameLst>
                                      </p:cBhvr>
                                      <p:to>
                                        <p:strVal val="visible"/>
                                      </p:to>
                                    </p:set>
                                    <p:animEffect transition="in" filter="wipe(up)">
                                      <p:cBhvr>
                                        <p:cTn id="18" dur="500"/>
                                        <p:tgtEl>
                                          <p:spTgt spid="2599941"/>
                                        </p:tgtEl>
                                      </p:cBhvr>
                                    </p:animEffect>
                                  </p:childTnLst>
                                </p:cTn>
                              </p:par>
                              <p:par>
                                <p:cTn id="19" presetID="22" presetClass="entr" presetSubtype="8" fill="hold" nodeType="withEffect">
                                  <p:stCondLst>
                                    <p:cond delay="0"/>
                                  </p:stCondLst>
                                  <p:childTnLst>
                                    <p:set>
                                      <p:cBhvr>
                                        <p:cTn id="20" dur="1" fill="hold">
                                          <p:stCondLst>
                                            <p:cond delay="0"/>
                                          </p:stCondLst>
                                        </p:cTn>
                                        <p:tgtEl>
                                          <p:spTgt spid="2599942"/>
                                        </p:tgtEl>
                                        <p:attrNameLst>
                                          <p:attrName>style.visibility</p:attrName>
                                        </p:attrNameLst>
                                      </p:cBhvr>
                                      <p:to>
                                        <p:strVal val="visible"/>
                                      </p:to>
                                    </p:set>
                                    <p:animEffect transition="in" filter="wipe(left)">
                                      <p:cBhvr>
                                        <p:cTn id="21" dur="500"/>
                                        <p:tgtEl>
                                          <p:spTgt spid="2599942"/>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599943">
                                            <p:txEl>
                                              <p:charRg st="0" end="26"/>
                                            </p:txEl>
                                          </p:spTgt>
                                        </p:tgtEl>
                                        <p:attrNameLst>
                                          <p:attrName>style.visibility</p:attrName>
                                        </p:attrNameLst>
                                      </p:cBhvr>
                                      <p:to>
                                        <p:strVal val="visible"/>
                                      </p:to>
                                    </p:set>
                                    <p:animEffect transition="in" filter="dissolve">
                                      <p:cBhvr>
                                        <p:cTn id="24" dur="500"/>
                                        <p:tgtEl>
                                          <p:spTgt spid="2599943">
                                            <p:txEl>
                                              <p:charRg st="0" end="2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599943">
                                            <p:txEl>
                                              <p:charRg st="26" end="57"/>
                                            </p:txEl>
                                          </p:spTgt>
                                        </p:tgtEl>
                                        <p:attrNameLst>
                                          <p:attrName>style.visibility</p:attrName>
                                        </p:attrNameLst>
                                      </p:cBhvr>
                                      <p:to>
                                        <p:strVal val="visible"/>
                                      </p:to>
                                    </p:set>
                                    <p:animEffect transition="in" filter="dissolve">
                                      <p:cBhvr>
                                        <p:cTn id="29" dur="500"/>
                                        <p:tgtEl>
                                          <p:spTgt spid="2599943">
                                            <p:txEl>
                                              <p:charRg st="26" end="5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9938" grpId="0"/>
      <p:bldP spid="2599941" grpId="0"/>
      <p:bldP spid="2599943" grpId="0" uiExpand="1" build="p"/>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0962" name="矩形 2600961"/>
          <p:cNvSpPr/>
          <p:nvPr/>
        </p:nvSpPr>
        <p:spPr>
          <a:xfrm>
            <a:off x="612775" y="1044575"/>
            <a:ext cx="2336800" cy="579438"/>
          </a:xfrm>
          <a:prstGeom prst="rect">
            <a:avLst/>
          </a:prstGeom>
          <a:noFill/>
          <a:ln w="9525">
            <a:noFill/>
          </a:ln>
        </p:spPr>
        <p:txBody>
          <a:bodyPr wrap="none" anchor="ctr" anchorCtr="0">
            <a:spAutoFit/>
          </a:bodyPr>
          <a:p>
            <a:pPr eaLnBrk="1" hangingPunct="1">
              <a:lnSpc>
                <a:spcPct val="100000"/>
              </a:lnSpc>
              <a:buNone/>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使用场合：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0963" name="矩形 2600962"/>
          <p:cNvSpPr/>
          <p:nvPr/>
        </p:nvSpPr>
        <p:spPr>
          <a:xfrm>
            <a:off x="2628900" y="1014413"/>
            <a:ext cx="6302375" cy="1066800"/>
          </a:xfrm>
          <a:prstGeom prst="rect">
            <a:avLst/>
          </a:prstGeom>
          <a:noFill/>
          <a:ln w="9525">
            <a:noFill/>
          </a:ln>
        </p:spPr>
        <p:txBody>
          <a:bodyPr wrap="none" anchor="t" anchorCtr="0">
            <a:spAutoFit/>
          </a:bodyPr>
          <a:p>
            <a:pPr eaLnBrk="1" hangingPunct="1">
              <a:lnSpc>
                <a:spcPct val="100000"/>
              </a:lnSpc>
              <a:buNone/>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适用系统纯滞后时间常数</a:t>
            </a:r>
            <a:r>
              <a:rPr lang="el-GR" altLang="zh-CN" sz="3200" b="1" i="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τ</a:t>
            </a:r>
            <a:r>
              <a:rPr lang="zh-CN" altLang="el-GR"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较大、</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buNone/>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采样周期较短的过程。</a:t>
            </a:r>
            <a:r>
              <a:rPr lang="zh-CN" altLang="en-US" sz="1800" b="0" dirty="0">
                <a:solidFill>
                  <a:schemeClr val="accent2"/>
                </a:solidFill>
                <a:latin typeface="Arial" panose="020B0604020202020204" pitchFamily="34" charset="0"/>
                <a:ea typeface="宋体" panose="02010600030101010101" pitchFamily="2" charset="-122"/>
              </a:rPr>
              <a:t>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0964" name="矩形 2600963"/>
          <p:cNvSpPr/>
          <p:nvPr/>
        </p:nvSpPr>
        <p:spPr>
          <a:xfrm>
            <a:off x="684213" y="2459038"/>
            <a:ext cx="1612900" cy="579437"/>
          </a:xfrm>
          <a:prstGeom prst="rect">
            <a:avLst/>
          </a:prstGeom>
          <a:noFill/>
          <a:ln w="9525">
            <a:noFill/>
          </a:ln>
        </p:spPr>
        <p:txBody>
          <a:bodyPr wrap="none"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优点：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00965" name="矩形 2600964"/>
          <p:cNvSpPr/>
          <p:nvPr/>
        </p:nvSpPr>
        <p:spPr>
          <a:xfrm>
            <a:off x="1885950" y="2466975"/>
            <a:ext cx="7005638" cy="1554163"/>
          </a:xfrm>
          <a:prstGeom prst="rect">
            <a:avLst/>
          </a:prstGeom>
          <a:noFill/>
          <a:ln w="9525">
            <a:noFill/>
          </a:ln>
        </p:spPr>
        <p:txBody>
          <a:bodyPr anchor="ctr" anchorCtr="0">
            <a:spAutoFit/>
          </a:bodyPr>
          <a:p>
            <a:pPr indent="12700"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对以不同采样时间得到的采样值分别</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indent="12700"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给予不同的权系数，能迅速反应系统</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indent="12700"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当前所受干扰的严重程度。</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0966" name="矩形 2600965"/>
          <p:cNvSpPr/>
          <p:nvPr/>
        </p:nvSpPr>
        <p:spPr>
          <a:xfrm>
            <a:off x="755650" y="4845050"/>
            <a:ext cx="1409700" cy="579438"/>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缺点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0967" name="矩形 2600966"/>
          <p:cNvSpPr/>
          <p:nvPr/>
        </p:nvSpPr>
        <p:spPr>
          <a:xfrm>
            <a:off x="1836738" y="4437063"/>
            <a:ext cx="6838950" cy="579437"/>
          </a:xfrm>
          <a:prstGeom prst="rect">
            <a:avLst/>
          </a:prstGeom>
          <a:noFill/>
          <a:ln w="9525">
            <a:noFill/>
          </a:ln>
        </p:spPr>
        <p:txBody>
          <a:bodyPr anchor="ctr" anchorCtr="0">
            <a:spAutoFit/>
          </a:bodyPr>
          <a:p>
            <a:pPr eaLnBrk="1" hangingPunct="1">
              <a:lnSpc>
                <a:spcPct val="100000"/>
              </a:lnSpc>
            </a:pPr>
            <a:r>
              <a:rPr lang="en-US" altLang="zh-CN" sz="3200" b="1" dirty="0">
                <a:solidFill>
                  <a:schemeClr val="tx1"/>
                </a:solidFill>
                <a:effectLst>
                  <a:outerShdw blurRad="38100" dist="38100" dir="2700000">
                    <a:srgbClr val="C0C0C0"/>
                  </a:outerShdw>
                </a:effectLst>
                <a:latin typeface="楷体_GB2312" pitchFamily="49" charset="-122"/>
                <a:ea typeface="楷体_GB2312" pitchFamily="49" charset="-122"/>
              </a:rPr>
              <a:t>①</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需要测试不同过程的纯滞后时间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600968" name="矩形 2600967"/>
          <p:cNvSpPr/>
          <p:nvPr/>
        </p:nvSpPr>
        <p:spPr>
          <a:xfrm>
            <a:off x="1836738" y="5300663"/>
            <a:ext cx="7323137" cy="579437"/>
          </a:xfrm>
          <a:prstGeom prst="rect">
            <a:avLst/>
          </a:prstGeom>
          <a:noFill/>
          <a:ln w="9525">
            <a:noFill/>
          </a:ln>
        </p:spPr>
        <p:txBody>
          <a:bodyPr wrap="none" anchor="ctr" anchorCtr="0">
            <a:spAutoFit/>
          </a:bodyPr>
          <a:p>
            <a:pPr eaLnBrk="1" hangingPunct="1">
              <a:lnSpc>
                <a:spcPct val="100000"/>
              </a:lnSpc>
            </a:pPr>
            <a:r>
              <a:rPr lang="en-US" altLang="zh-CN" sz="3200" b="1" dirty="0">
                <a:solidFill>
                  <a:schemeClr val="tx1"/>
                </a:solidFill>
                <a:effectLst>
                  <a:outerShdw blurRad="38100" dist="38100" dir="2700000">
                    <a:srgbClr val="C0C0C0"/>
                  </a:outerShdw>
                </a:effectLst>
                <a:latin typeface="楷体_GB2312" pitchFamily="49" charset="-122"/>
                <a:ea typeface="楷体_GB2312" pitchFamily="49" charset="-122"/>
              </a:rPr>
              <a:t>②</a:t>
            </a: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计算量大，降低了系统的处理速度。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600969" name="左大括号 2600968"/>
          <p:cNvSpPr/>
          <p:nvPr/>
        </p:nvSpPr>
        <p:spPr>
          <a:xfrm>
            <a:off x="1763713" y="4724400"/>
            <a:ext cx="71437" cy="936625"/>
          </a:xfrm>
          <a:prstGeom prst="leftBrace">
            <a:avLst>
              <a:gd name="adj1" fmla="val 109260"/>
              <a:gd name="adj2" fmla="val 50000"/>
            </a:avLst>
          </a:prstGeom>
          <a:noFill/>
          <a:ln w="22225" cap="flat" cmpd="sng">
            <a:solidFill>
              <a:schemeClr val="accent2"/>
            </a:solidFill>
            <a:prstDash val="solid"/>
            <a:headEnd type="none" w="med" len="med"/>
            <a:tailEnd type="none" w="med" len="med"/>
          </a:ln>
        </p:spPr>
        <p:txBody>
          <a:bodyPr/>
          <a:p>
            <a:pPr eaLnBrk="1" hangingPunct="1">
              <a:lnSpc>
                <a:spcPct val="90000"/>
              </a:lnSpc>
            </a:pPr>
            <a:endParaRPr lang="zh-CN" altLang="en-US" b="1">
              <a:solidFill>
                <a:srgbClr val="333399"/>
              </a:solidFill>
            </a:endParaRPr>
          </a:p>
        </p:txBody>
      </p:sp>
      <p:sp>
        <p:nvSpPr>
          <p:cNvPr id="2600971" name="文本框 2600970"/>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0962"/>
                                        </p:tgtEl>
                                        <p:attrNameLst>
                                          <p:attrName>style.visibility</p:attrName>
                                        </p:attrNameLst>
                                      </p:cBhvr>
                                      <p:to>
                                        <p:strVal val="visible"/>
                                      </p:to>
                                    </p:set>
                                    <p:animEffect transition="in" filter="dissolve">
                                      <p:cBhvr>
                                        <p:cTn id="7" dur="500"/>
                                        <p:tgtEl>
                                          <p:spTgt spid="26009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600963">
                                            <p:txEl>
                                              <p:charRg st="0" end="16"/>
                                            </p:txEl>
                                          </p:spTgt>
                                        </p:tgtEl>
                                        <p:attrNameLst>
                                          <p:attrName>style.visibility</p:attrName>
                                        </p:attrNameLst>
                                      </p:cBhvr>
                                      <p:to>
                                        <p:strVal val="visible"/>
                                      </p:to>
                                    </p:set>
                                    <p:animEffect transition="in" filter="dissolve">
                                      <p:cBhvr>
                                        <p:cTn id="12" dur="500"/>
                                        <p:tgtEl>
                                          <p:spTgt spid="2600963">
                                            <p:txEl>
                                              <p:charRg st="0" end="16"/>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600963">
                                            <p:txEl>
                                              <p:charRg st="16" end="28"/>
                                            </p:txEl>
                                          </p:spTgt>
                                        </p:tgtEl>
                                        <p:attrNameLst>
                                          <p:attrName>style.visibility</p:attrName>
                                        </p:attrNameLst>
                                      </p:cBhvr>
                                      <p:to>
                                        <p:strVal val="visible"/>
                                      </p:to>
                                    </p:set>
                                    <p:animEffect transition="in" filter="dissolve">
                                      <p:cBhvr>
                                        <p:cTn id="15" dur="500"/>
                                        <p:tgtEl>
                                          <p:spTgt spid="2600963">
                                            <p:txEl>
                                              <p:charRg st="16" end="28"/>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600964"/>
                                        </p:tgtEl>
                                        <p:attrNameLst>
                                          <p:attrName>style.visibility</p:attrName>
                                        </p:attrNameLst>
                                      </p:cBhvr>
                                      <p:to>
                                        <p:strVal val="visible"/>
                                      </p:to>
                                    </p:set>
                                    <p:animEffect transition="in" filter="dissolve">
                                      <p:cBhvr>
                                        <p:cTn id="20" dur="500"/>
                                        <p:tgtEl>
                                          <p:spTgt spid="260096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600965">
                                            <p:txEl>
                                              <p:charRg st="0" end="17"/>
                                            </p:txEl>
                                          </p:spTgt>
                                        </p:tgtEl>
                                        <p:attrNameLst>
                                          <p:attrName>style.visibility</p:attrName>
                                        </p:attrNameLst>
                                      </p:cBhvr>
                                      <p:to>
                                        <p:strVal val="visible"/>
                                      </p:to>
                                    </p:set>
                                    <p:animEffect transition="in" filter="dissolve">
                                      <p:cBhvr>
                                        <p:cTn id="25" dur="500"/>
                                        <p:tgtEl>
                                          <p:spTgt spid="2600965">
                                            <p:txEl>
                                              <p:charRg st="0" end="17"/>
                                            </p:txEl>
                                          </p:spTgt>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600965">
                                            <p:txEl>
                                              <p:charRg st="17" end="34"/>
                                            </p:txEl>
                                          </p:spTgt>
                                        </p:tgtEl>
                                        <p:attrNameLst>
                                          <p:attrName>style.visibility</p:attrName>
                                        </p:attrNameLst>
                                      </p:cBhvr>
                                      <p:to>
                                        <p:strVal val="visible"/>
                                      </p:to>
                                    </p:set>
                                    <p:animEffect transition="in" filter="dissolve">
                                      <p:cBhvr>
                                        <p:cTn id="28" dur="500"/>
                                        <p:tgtEl>
                                          <p:spTgt spid="2600965">
                                            <p:txEl>
                                              <p:charRg st="17" end="34"/>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600965">
                                            <p:txEl>
                                              <p:charRg st="34" end="47"/>
                                            </p:txEl>
                                          </p:spTgt>
                                        </p:tgtEl>
                                        <p:attrNameLst>
                                          <p:attrName>style.visibility</p:attrName>
                                        </p:attrNameLst>
                                      </p:cBhvr>
                                      <p:to>
                                        <p:strVal val="visible"/>
                                      </p:to>
                                    </p:set>
                                    <p:animEffect transition="in" filter="dissolve">
                                      <p:cBhvr>
                                        <p:cTn id="31" dur="500"/>
                                        <p:tgtEl>
                                          <p:spTgt spid="2600965">
                                            <p:txEl>
                                              <p:charRg st="34" end="47"/>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600966"/>
                                        </p:tgtEl>
                                        <p:attrNameLst>
                                          <p:attrName>style.visibility</p:attrName>
                                        </p:attrNameLst>
                                      </p:cBhvr>
                                      <p:to>
                                        <p:strVal val="visible"/>
                                      </p:to>
                                    </p:set>
                                    <p:animEffect transition="in" filter="wipe(left)">
                                      <p:cBhvr>
                                        <p:cTn id="36" dur="500"/>
                                        <p:tgtEl>
                                          <p:spTgt spid="2600966"/>
                                        </p:tgtEl>
                                      </p:cBhvr>
                                    </p:animEffect>
                                  </p:childTnLst>
                                </p:cTn>
                              </p:par>
                            </p:childTnLst>
                          </p:cTn>
                        </p:par>
                        <p:par>
                          <p:cTn id="37" fill="hold">
                            <p:stCondLst>
                              <p:cond delay="500"/>
                            </p:stCondLst>
                            <p:childTnLst>
                              <p:par>
                                <p:cTn id="38" presetID="22" presetClass="entr" presetSubtype="1" fill="hold" nodeType="afterEffect">
                                  <p:stCondLst>
                                    <p:cond delay="0"/>
                                  </p:stCondLst>
                                  <p:childTnLst>
                                    <p:set>
                                      <p:cBhvr>
                                        <p:cTn id="39" dur="1" fill="hold">
                                          <p:stCondLst>
                                            <p:cond delay="0"/>
                                          </p:stCondLst>
                                        </p:cTn>
                                        <p:tgtEl>
                                          <p:spTgt spid="2600969"/>
                                        </p:tgtEl>
                                        <p:attrNameLst>
                                          <p:attrName>style.visibility</p:attrName>
                                        </p:attrNameLst>
                                      </p:cBhvr>
                                      <p:to>
                                        <p:strVal val="visible"/>
                                      </p:to>
                                    </p:set>
                                    <p:animEffect transition="in" filter="wipe(up)">
                                      <p:cBhvr>
                                        <p:cTn id="40" dur="500"/>
                                        <p:tgtEl>
                                          <p:spTgt spid="260096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2600967"/>
                                        </p:tgtEl>
                                        <p:attrNameLst>
                                          <p:attrName>style.visibility</p:attrName>
                                        </p:attrNameLst>
                                      </p:cBhvr>
                                      <p:to>
                                        <p:strVal val="visible"/>
                                      </p:to>
                                    </p:set>
                                    <p:animEffect transition="in" filter="wipe(left)">
                                      <p:cBhvr>
                                        <p:cTn id="45" dur="500"/>
                                        <p:tgtEl>
                                          <p:spTgt spid="2600967"/>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2600968"/>
                                        </p:tgtEl>
                                        <p:attrNameLst>
                                          <p:attrName>style.visibility</p:attrName>
                                        </p:attrNameLst>
                                      </p:cBhvr>
                                      <p:to>
                                        <p:strVal val="visible"/>
                                      </p:to>
                                    </p:set>
                                    <p:animEffect transition="in" filter="wipe(left)">
                                      <p:cBhvr>
                                        <p:cTn id="48" dur="500"/>
                                        <p:tgtEl>
                                          <p:spTgt spid="2600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0962" grpId="0"/>
      <p:bldP spid="2600963" grpId="0" uiExpand="1" build="p"/>
      <p:bldP spid="2600964" grpId="0"/>
      <p:bldP spid="2600965" grpId="0" uiExpand="1" build="p"/>
      <p:bldP spid="2600966" grpId="0"/>
      <p:bldP spid="2600967" grpId="0"/>
      <p:bldP spid="2600968" grpId="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1986" name="矩形 2601985"/>
          <p:cNvSpPr/>
          <p:nvPr/>
        </p:nvSpPr>
        <p:spPr>
          <a:xfrm>
            <a:off x="755650" y="1125538"/>
            <a:ext cx="7127875" cy="579437"/>
          </a:xfrm>
          <a:prstGeom prst="rect">
            <a:avLst/>
          </a:prstGeom>
          <a:noFill/>
          <a:ln w="9525">
            <a:noFill/>
          </a:ln>
        </p:spPr>
        <p:txBody>
          <a:bodyPr anchor="ctr" anchorCtr="0">
            <a:spAutoFit/>
          </a:bodyPr>
          <a:p>
            <a:pPr defTabSz="914400" eaLnBrk="1" hangingPunct="1">
              <a:lnSpc>
                <a:spcPct val="100000"/>
              </a:lnSpc>
              <a:tabLst>
                <a:tab pos="-1295400" algn="l"/>
              </a:tabLst>
            </a:pPr>
            <a:r>
              <a:rPr lang="en-US" altLang="zh-CN" sz="3200" b="1">
                <a:solidFill>
                  <a:schemeClr val="accent2"/>
                </a:solidFill>
                <a:effectLst>
                  <a:outerShdw blurRad="38100" dist="38100" dir="2700000">
                    <a:srgbClr val="C0C0C0"/>
                  </a:outerShdw>
                </a:effectLst>
                <a:latin typeface="Arial Black" panose="020B0A04020102020204" pitchFamily="34" charset="0"/>
                <a:ea typeface="楷体_GB2312" pitchFamily="49" charset="-122"/>
              </a:rPr>
              <a:t>4.</a:t>
            </a:r>
            <a:r>
              <a:rPr lang="en-US" altLang="zh-CN" sz="3200" b="1">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一阶滞后滤波法（惯性滤波法）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1987" name="矩形 2601986"/>
          <p:cNvSpPr/>
          <p:nvPr/>
        </p:nvSpPr>
        <p:spPr>
          <a:xfrm>
            <a:off x="828675" y="2060575"/>
            <a:ext cx="7918450" cy="1066800"/>
          </a:xfrm>
          <a:prstGeom prst="rect">
            <a:avLst/>
          </a:prstGeom>
          <a:noFill/>
          <a:ln w="9525">
            <a:noFill/>
          </a:ln>
        </p:spPr>
        <p:txBody>
          <a:bodyPr anchor="ctr" anchorCtr="0">
            <a:spAutoFit/>
          </a:bodyPr>
          <a:p>
            <a:pPr eaLnBrk="1" hangingPunct="1">
              <a:lnSpc>
                <a:spcPct val="100000"/>
              </a:lnSpc>
            </a:pPr>
            <a:r>
              <a:rPr lang="en-US" altLang="zh-CN" sz="32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在模拟量输入通道中，常用一阶低通</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en-US" altLang="zh-CN" sz="3200" b="1" i="1">
                <a:solidFill>
                  <a:srgbClr val="3333FF"/>
                </a:solidFill>
                <a:effectLst>
                  <a:outerShdw blurRad="38100" dist="38100" dir="2700000">
                    <a:srgbClr val="C0C0C0"/>
                  </a:outerShdw>
                </a:effectLst>
                <a:latin typeface="Times New Roman" panose="02020603050405020304" pitchFamily="18" charset="0"/>
                <a:ea typeface="楷体_GB2312" pitchFamily="49" charset="-122"/>
              </a:rPr>
              <a:t>RC</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滤波器来削弱干扰。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pic>
        <p:nvPicPr>
          <p:cNvPr id="2601988" name="图片 2601987"/>
          <p:cNvPicPr>
            <a:picLocks noChangeAspect="1"/>
          </p:cNvPicPr>
          <p:nvPr/>
        </p:nvPicPr>
        <p:blipFill>
          <a:blip r:embed="rId1"/>
          <a:stretch>
            <a:fillRect/>
          </a:stretch>
        </p:blipFill>
        <p:spPr>
          <a:xfrm>
            <a:off x="2124075" y="3500438"/>
            <a:ext cx="4464050" cy="1743075"/>
          </a:xfrm>
          <a:prstGeom prst="rect">
            <a:avLst/>
          </a:prstGeom>
          <a:noFill/>
          <a:ln w="9525">
            <a:noFill/>
          </a:ln>
        </p:spPr>
      </p:pic>
      <p:graphicFrame>
        <p:nvGraphicFramePr>
          <p:cNvPr id="2601989" name="表格 2601988"/>
          <p:cNvGraphicFramePr/>
          <p:nvPr/>
        </p:nvGraphicFramePr>
        <p:xfrm>
          <a:off x="2773363" y="5516563"/>
          <a:ext cx="4030663" cy="517525"/>
        </p:xfrm>
        <a:graphic>
          <a:graphicData uri="http://schemas.openxmlformats.org/drawingml/2006/table">
            <a:tbl>
              <a:tblPr/>
              <a:tblGrid>
                <a:gridCol w="4030663"/>
              </a:tblGrid>
              <a:tr h="517525">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algn="just" defTabSz="914400">
                        <a:spcBef>
                          <a:spcPct val="0"/>
                        </a:spcBef>
                        <a:buNone/>
                      </a:pPr>
                      <a:r>
                        <a:rPr lang="zh-CN" altLang="en-US" b="0" dirty="0">
                          <a:effectLst>
                            <a:outerShdw blurRad="38100" dist="38100" dir="2700000">
                              <a:srgbClr val="C0C0C0"/>
                            </a:outerShdw>
                          </a:effectLst>
                          <a:latin typeface="楷体_GB2312" pitchFamily="49" charset="-122"/>
                          <a:ea typeface="楷体_GB2312" pitchFamily="49" charset="-122"/>
                        </a:rPr>
                        <a:t>图</a:t>
                      </a:r>
                      <a:r>
                        <a:rPr lang="en-US" altLang="zh-CN" b="0">
                          <a:effectLst>
                            <a:outerShdw blurRad="38100" dist="38100" dir="2700000">
                              <a:srgbClr val="C0C0C0"/>
                            </a:outerShdw>
                          </a:effectLst>
                          <a:latin typeface="Times New Roman" panose="02020603050405020304" pitchFamily="18" charset="0"/>
                          <a:ea typeface="楷体_GB2312" pitchFamily="49" charset="-122"/>
                        </a:rPr>
                        <a:t>10.6 </a:t>
                      </a:r>
                      <a:r>
                        <a:rPr lang="en-US" altLang="zh-CN" b="0">
                          <a:effectLst>
                            <a:outerShdw blurRad="38100" dist="38100" dir="2700000">
                              <a:srgbClr val="C0C0C0"/>
                            </a:outerShdw>
                          </a:effectLst>
                          <a:latin typeface="楷体_GB2312" pitchFamily="49" charset="-122"/>
                          <a:ea typeface="楷体_GB2312" pitchFamily="49" charset="-122"/>
                        </a:rPr>
                        <a:t> </a:t>
                      </a:r>
                      <a:r>
                        <a:rPr lang="zh-CN" altLang="en-US" b="0" dirty="0">
                          <a:effectLst>
                            <a:outerShdw blurRad="38100" dist="38100" dir="2700000">
                              <a:srgbClr val="C0C0C0"/>
                            </a:outerShdw>
                          </a:effectLst>
                          <a:latin typeface="楷体_GB2312" pitchFamily="49" charset="-122"/>
                          <a:ea typeface="楷体_GB2312" pitchFamily="49" charset="-122"/>
                        </a:rPr>
                        <a:t>低通滤波器</a:t>
                      </a:r>
                      <a:endParaRPr lang="zh-CN" altLang="en-US" b="0" dirty="0">
                        <a:effectLst>
                          <a:outerShdw blurRad="38100" dist="38100" dir="2700000">
                            <a:srgbClr val="C0C0C0"/>
                          </a:outerShdw>
                        </a:effectLst>
                        <a:latin typeface="楷体_GB2312" pitchFamily="49" charset="-122"/>
                        <a:ea typeface="楷体_GB2312" pitchFamily="49" charset="-122"/>
                      </a:endParaRPr>
                    </a:p>
                  </a:txBody>
                  <a:tcPr>
                    <a:lnL cap="flat">
                      <a:noFill/>
                    </a:lnL>
                    <a:lnR cap="flat">
                      <a:noFill/>
                    </a:lnR>
                    <a:lnT cap="flat">
                      <a:noFill/>
                    </a:lnT>
                    <a:lnB cap="flat">
                      <a:noFill/>
                    </a:lnB>
                    <a:lnTlToBr>
                      <a:noFill/>
                    </a:lnTlToBr>
                    <a:lnBlToTr>
                      <a:noFill/>
                    </a:lnBlToTr>
                    <a:noFill/>
                  </a:tcPr>
                </a:tc>
              </a:tr>
            </a:tbl>
          </a:graphicData>
        </a:graphic>
      </p:graphicFrame>
      <p:sp>
        <p:nvSpPr>
          <p:cNvPr id="2601996" name="文本框 2601995"/>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1986"/>
                                        </p:tgtEl>
                                        <p:attrNameLst>
                                          <p:attrName>style.visibility</p:attrName>
                                        </p:attrNameLst>
                                      </p:cBhvr>
                                      <p:to>
                                        <p:strVal val="visible"/>
                                      </p:to>
                                    </p:set>
                                    <p:animEffect transition="in" filter="dissolve">
                                      <p:cBhvr>
                                        <p:cTn id="7" dur="500"/>
                                        <p:tgtEl>
                                          <p:spTgt spid="26019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601987">
                                            <p:txEl>
                                              <p:charRg st="0" end="20"/>
                                            </p:txEl>
                                          </p:spTgt>
                                        </p:tgtEl>
                                        <p:attrNameLst>
                                          <p:attrName>style.visibility</p:attrName>
                                        </p:attrNameLst>
                                      </p:cBhvr>
                                      <p:to>
                                        <p:strVal val="visible"/>
                                      </p:to>
                                    </p:set>
                                    <p:animEffect transition="in" filter="dissolve">
                                      <p:cBhvr>
                                        <p:cTn id="12" dur="500"/>
                                        <p:tgtEl>
                                          <p:spTgt spid="2601987">
                                            <p:txEl>
                                              <p:charRg st="0" end="20"/>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601987">
                                            <p:txEl>
                                              <p:charRg st="20" end="33"/>
                                            </p:txEl>
                                          </p:spTgt>
                                        </p:tgtEl>
                                        <p:attrNameLst>
                                          <p:attrName>style.visibility</p:attrName>
                                        </p:attrNameLst>
                                      </p:cBhvr>
                                      <p:to>
                                        <p:strVal val="visible"/>
                                      </p:to>
                                    </p:set>
                                    <p:animEffect transition="in" filter="dissolve">
                                      <p:cBhvr>
                                        <p:cTn id="15" dur="500"/>
                                        <p:tgtEl>
                                          <p:spTgt spid="2601987">
                                            <p:txEl>
                                              <p:charRg st="20" end="3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2601988"/>
                                        </p:tgtEl>
                                        <p:attrNameLst>
                                          <p:attrName>style.visibility</p:attrName>
                                        </p:attrNameLst>
                                      </p:cBhvr>
                                      <p:to>
                                        <p:strVal val="visible"/>
                                      </p:to>
                                    </p:set>
                                    <p:anim calcmode="lin" valueType="num">
                                      <p:cBhvr>
                                        <p:cTn id="20" dur="500" fill="hold"/>
                                        <p:tgtEl>
                                          <p:spTgt spid="2601988"/>
                                        </p:tgtEl>
                                        <p:attrNameLst>
                                          <p:attrName>ppt_w</p:attrName>
                                        </p:attrNameLst>
                                      </p:cBhvr>
                                      <p:tavLst>
                                        <p:tav tm="0">
                                          <p:val>
                                            <p:fltVal val="0.000000"/>
                                          </p:val>
                                        </p:tav>
                                        <p:tav tm="100000">
                                          <p:val>
                                            <p:strVal val="#ppt_w"/>
                                          </p:val>
                                        </p:tav>
                                      </p:tavLst>
                                    </p:anim>
                                    <p:anim calcmode="lin" valueType="num">
                                      <p:cBhvr>
                                        <p:cTn id="21" dur="500" fill="hold"/>
                                        <p:tgtEl>
                                          <p:spTgt spid="2601988"/>
                                        </p:tgtEl>
                                        <p:attrNameLst>
                                          <p:attrName>ppt_h</p:attrName>
                                        </p:attrNameLst>
                                      </p:cBhvr>
                                      <p:tavLst>
                                        <p:tav tm="0">
                                          <p:val>
                                            <p:fltVal val="0.000000"/>
                                          </p:val>
                                        </p:tav>
                                        <p:tav tm="100000">
                                          <p:val>
                                            <p:strVal val="#ppt_h"/>
                                          </p:val>
                                        </p:tav>
                                      </p:tavLst>
                                    </p:anim>
                                    <p:animEffect transition="in" filter="fade">
                                      <p:cBhvr>
                                        <p:cTn id="22" dur="500"/>
                                        <p:tgtEl>
                                          <p:spTgt spid="2601988"/>
                                        </p:tgtEl>
                                      </p:cBhvr>
                                    </p:animEffect>
                                  </p:childTnLst>
                                </p:cTn>
                              </p:par>
                              <p:par>
                                <p:cTn id="23" presetID="53" presetClass="entr" presetSubtype="16" fill="hold" nodeType="withEffect">
                                  <p:stCondLst>
                                    <p:cond delay="0"/>
                                  </p:stCondLst>
                                  <p:childTnLst>
                                    <p:set>
                                      <p:cBhvr>
                                        <p:cTn id="24" dur="1" fill="hold">
                                          <p:stCondLst>
                                            <p:cond delay="0"/>
                                          </p:stCondLst>
                                        </p:cTn>
                                        <p:tgtEl>
                                          <p:spTgt spid="2601989"/>
                                        </p:tgtEl>
                                        <p:attrNameLst>
                                          <p:attrName>style.visibility</p:attrName>
                                        </p:attrNameLst>
                                      </p:cBhvr>
                                      <p:to>
                                        <p:strVal val="visible"/>
                                      </p:to>
                                    </p:set>
                                    <p:anim calcmode="lin" valueType="num">
                                      <p:cBhvr>
                                        <p:cTn id="25" dur="500" fill="hold"/>
                                        <p:tgtEl>
                                          <p:spTgt spid="2601989"/>
                                        </p:tgtEl>
                                        <p:attrNameLst>
                                          <p:attrName>ppt_w</p:attrName>
                                        </p:attrNameLst>
                                      </p:cBhvr>
                                      <p:tavLst>
                                        <p:tav tm="0">
                                          <p:val>
                                            <p:fltVal val="0.000000"/>
                                          </p:val>
                                        </p:tav>
                                        <p:tav tm="100000">
                                          <p:val>
                                            <p:strVal val="#ppt_w"/>
                                          </p:val>
                                        </p:tav>
                                      </p:tavLst>
                                    </p:anim>
                                    <p:anim calcmode="lin" valueType="num">
                                      <p:cBhvr>
                                        <p:cTn id="26" dur="500" fill="hold"/>
                                        <p:tgtEl>
                                          <p:spTgt spid="2601989"/>
                                        </p:tgtEl>
                                        <p:attrNameLst>
                                          <p:attrName>ppt_h</p:attrName>
                                        </p:attrNameLst>
                                      </p:cBhvr>
                                      <p:tavLst>
                                        <p:tav tm="0">
                                          <p:val>
                                            <p:fltVal val="0.000000"/>
                                          </p:val>
                                        </p:tav>
                                        <p:tav tm="100000">
                                          <p:val>
                                            <p:strVal val="#ppt_h"/>
                                          </p:val>
                                        </p:tav>
                                      </p:tavLst>
                                    </p:anim>
                                    <p:animEffect transition="in" filter="fade">
                                      <p:cBhvr>
                                        <p:cTn id="27" dur="500"/>
                                        <p:tgtEl>
                                          <p:spTgt spid="26019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1986" grpId="0"/>
      <p:bldP spid="2601987" grpId="0" uiExpand="1" build="p"/>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4035" name="矩形 2604034"/>
          <p:cNvSpPr/>
          <p:nvPr/>
        </p:nvSpPr>
        <p:spPr>
          <a:xfrm>
            <a:off x="684213" y="1822450"/>
            <a:ext cx="8080375" cy="1066800"/>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原因在于大时间常数、高精度的</a:t>
            </a:r>
            <a:r>
              <a:rPr lang="en-US" altLang="zh-CN" sz="3200" b="1" i="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RC</a:t>
            </a:r>
            <a:r>
              <a:rPr lang="zh-CN" altLang="en-US" sz="3200" b="1" dirty="0">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网络</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不易制作：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4037" name="矩形 2604036"/>
          <p:cNvSpPr/>
          <p:nvPr/>
        </p:nvSpPr>
        <p:spPr>
          <a:xfrm>
            <a:off x="2484438" y="3068638"/>
            <a:ext cx="4246562" cy="1295400"/>
          </a:xfrm>
          <a:prstGeom prst="rect">
            <a:avLst/>
          </a:prstGeom>
          <a:solidFill>
            <a:schemeClr val="accent1"/>
          </a:solidFill>
          <a:ln w="9525" cap="flat" cmpd="sng">
            <a:solidFill>
              <a:schemeClr val="tx1"/>
            </a:solidFill>
            <a:prstDash val="solid"/>
            <a:miter/>
            <a:headEnd type="none" w="med" len="med"/>
            <a:tailEnd type="none" w="med" len="med"/>
          </a:ln>
          <a:effectLst>
            <a:outerShdw dist="107763" dir="2699999" algn="ctr" rotWithShape="0">
              <a:schemeClr val="bg2">
                <a:alpha val="50000"/>
              </a:schemeClr>
            </a:outerShdw>
          </a:effectLst>
        </p:spPr>
        <p:txBody>
          <a:bodyPr wrap="none" anchor="ctr" anchorCtr="0"/>
          <a:p>
            <a:pPr eaLnBrk="1" hangingPunct="1">
              <a:lnSpc>
                <a:spcPct val="100000"/>
              </a:lnSpc>
            </a:pPr>
            <a:r>
              <a:rPr lang="en-US" altLang="zh-CN" sz="3200" b="0">
                <a:solidFill>
                  <a:schemeClr val="tx1"/>
                </a:solidFill>
                <a:latin typeface="Arial" panose="020B0604020202020204" pitchFamily="34" charset="0"/>
                <a:ea typeface="宋体" panose="02010600030101010101" pitchFamily="2" charset="-122"/>
              </a:rPr>
              <a:t>	</a:t>
            </a:r>
            <a:r>
              <a:rPr lang="en-US" altLang="zh-CN" sz="3200" b="1">
                <a:solidFill>
                  <a:schemeClr val="tx1"/>
                </a:solidFill>
                <a:effectLst>
                  <a:outerShdw blurRad="38100" dist="38100" dir="2700000">
                    <a:srgbClr val="FFFFFF"/>
                  </a:outerShdw>
                </a:effectLst>
                <a:latin typeface="楷体_GB2312" pitchFamily="49" charset="-122"/>
                <a:ea typeface="楷体_GB2312" pitchFamily="49" charset="-122"/>
              </a:rPr>
              <a:t>①</a:t>
            </a:r>
            <a:r>
              <a:rPr lang="en-US" altLang="zh-CN" sz="3200" b="1">
                <a:solidFill>
                  <a:schemeClr val="tx1"/>
                </a:solidFill>
                <a:effectLst>
                  <a:outerShdw blurRad="38100" dist="38100" dir="2700000">
                    <a:srgbClr val="FFFFFF"/>
                  </a:outerShdw>
                </a:effectLst>
                <a:latin typeface="Arial" panose="020B0604020202020204" pitchFamily="34" charset="0"/>
                <a:ea typeface="宋体" panose="02010600030101010101" pitchFamily="2" charset="-122"/>
              </a:rPr>
              <a:t> </a:t>
            </a:r>
            <a:r>
              <a:rPr lang="el-GR" altLang="zh-CN" sz="3200" b="1" i="1" dirty="0">
                <a:solidFill>
                  <a:schemeClr val="tx1"/>
                </a:solidFill>
                <a:effectLst>
                  <a:outerShdw blurRad="38100" dist="38100" dir="2700000">
                    <a:srgbClr val="FFFFFF"/>
                  </a:outerShdw>
                </a:effectLst>
                <a:latin typeface="Arial Black" panose="020B0A04020102020204" pitchFamily="34" charset="0"/>
                <a:ea typeface="宋体" panose="02010600030101010101" pitchFamily="2" charset="-122"/>
                <a:cs typeface="Arial" panose="020B0604020202020204" pitchFamily="34" charset="0"/>
              </a:rPr>
              <a:t>τ</a:t>
            </a:r>
            <a:r>
              <a:rPr lang="el-GR" altLang="zh-CN" sz="3200" b="1" dirty="0">
                <a:solidFill>
                  <a:schemeClr val="tx1"/>
                </a:solidFill>
                <a:effectLst>
                  <a:outerShdw blurRad="38100" dist="38100" dir="2700000">
                    <a:srgbClr val="FFFFFF"/>
                  </a:outerShdw>
                </a:effectLst>
                <a:latin typeface="楷体_GB2312" pitchFamily="49" charset="-122"/>
                <a:ea typeface="楷体_GB2312" pitchFamily="49" charset="-122"/>
              </a:rPr>
              <a:t>↑</a:t>
            </a:r>
            <a:r>
              <a:rPr lang="en-US" altLang="zh-CN" sz="3200" b="0">
                <a:solidFill>
                  <a:schemeClr val="tx1"/>
                </a:solidFill>
                <a:latin typeface="Arial" panose="020B0604020202020204" pitchFamily="34" charset="0"/>
                <a:ea typeface="宋体" panose="02010600030101010101" pitchFamily="2" charset="-122"/>
              </a:rPr>
              <a:t>  </a:t>
            </a:r>
            <a:r>
              <a:rPr lang="en-US" altLang="zh-CN" sz="3200" b="0" i="1">
                <a:solidFill>
                  <a:schemeClr val="tx1"/>
                </a:solidFill>
                <a:latin typeface="Times New Roman" panose="02020603050405020304" pitchFamily="18" charset="0"/>
                <a:ea typeface="宋体" panose="02010600030101010101" pitchFamily="2" charset="-122"/>
              </a:rPr>
              <a:t> </a:t>
            </a:r>
            <a:r>
              <a:rPr lang="en-US" altLang="zh-CN" sz="3200" b="1" i="1">
                <a:solidFill>
                  <a:schemeClr val="tx1"/>
                </a:solidFill>
                <a:effectLst>
                  <a:outerShdw blurRad="38100" dist="38100" dir="2700000">
                    <a:srgbClr val="FFFFFF"/>
                  </a:outerShdw>
                </a:effectLst>
                <a:latin typeface="Times New Roman" panose="02020603050405020304" pitchFamily="18" charset="0"/>
                <a:ea typeface="宋体" panose="02010600030101010101" pitchFamily="2" charset="-122"/>
              </a:rPr>
              <a:t>R</a:t>
            </a:r>
            <a:r>
              <a:rPr lang="el-GR" altLang="zh-CN" sz="3200" b="1" dirty="0">
                <a:solidFill>
                  <a:schemeClr val="tx1"/>
                </a:solidFill>
                <a:effectLst>
                  <a:outerShdw blurRad="38100" dist="38100" dir="2700000">
                    <a:srgbClr val="FFFFFF"/>
                  </a:outerShdw>
                </a:effectLst>
                <a:latin typeface="楷体_GB2312" pitchFamily="49" charset="-122"/>
                <a:ea typeface="楷体_GB2312" pitchFamily="49" charset="-122"/>
              </a:rPr>
              <a:t>↑</a:t>
            </a:r>
            <a:endParaRPr lang="en-US" altLang="zh-CN" sz="3200" b="1">
              <a:solidFill>
                <a:schemeClr val="tx1"/>
              </a:solidFill>
              <a:effectLst>
                <a:outerShdw blurRad="38100" dist="38100" dir="2700000">
                  <a:srgbClr val="FFFFFF"/>
                </a:outerShdw>
              </a:effectLst>
              <a:latin typeface="楷体_GB2312" pitchFamily="49" charset="-122"/>
              <a:ea typeface="楷体_GB2312" pitchFamily="49" charset="-122"/>
            </a:endParaRPr>
          </a:p>
          <a:p>
            <a:pPr eaLnBrk="1" hangingPunct="1">
              <a:lnSpc>
                <a:spcPct val="130000"/>
              </a:lnSpc>
            </a:pPr>
            <a:r>
              <a:rPr lang="en-US" altLang="zh-CN" sz="3200" b="0">
                <a:solidFill>
                  <a:schemeClr val="tx1"/>
                </a:solidFill>
                <a:latin typeface="Arial" panose="020B0604020202020204" pitchFamily="34" charset="0"/>
                <a:ea typeface="宋体" panose="02010600030101010101" pitchFamily="2" charset="-122"/>
              </a:rPr>
              <a:t>	</a:t>
            </a:r>
            <a:r>
              <a:rPr lang="el-GR" altLang="zh-CN" sz="3200" b="1" dirty="0">
                <a:solidFill>
                  <a:schemeClr val="tx1"/>
                </a:solidFill>
                <a:effectLst>
                  <a:outerShdw blurRad="38100" dist="38100" dir="2700000">
                    <a:srgbClr val="FFFFFF"/>
                  </a:outerShdw>
                </a:effectLst>
                <a:latin typeface="楷体_GB2312" pitchFamily="49" charset="-122"/>
                <a:ea typeface="楷体_GB2312" pitchFamily="49" charset="-122"/>
              </a:rPr>
              <a:t>②</a:t>
            </a:r>
            <a:r>
              <a:rPr lang="en-US" altLang="zh-CN" sz="3200" b="1">
                <a:solidFill>
                  <a:schemeClr val="tx1"/>
                </a:solidFill>
                <a:effectLst>
                  <a:outerShdw blurRad="38100" dist="38100" dir="2700000">
                    <a:srgbClr val="FFFFFF"/>
                  </a:outerShdw>
                </a:effectLst>
                <a:latin typeface="楷体_GB2312" pitchFamily="49" charset="-122"/>
                <a:ea typeface="楷体_GB2312" pitchFamily="49" charset="-122"/>
              </a:rPr>
              <a:t> </a:t>
            </a:r>
            <a:r>
              <a:rPr lang="en-US" altLang="zh-CN" sz="3200" b="0">
                <a:solidFill>
                  <a:schemeClr val="tx1"/>
                </a:solidFill>
                <a:latin typeface="Arial" panose="020B0604020202020204" pitchFamily="34" charset="0"/>
                <a:ea typeface="宋体" panose="02010600030101010101" pitchFamily="2" charset="-122"/>
              </a:rPr>
              <a:t> </a:t>
            </a:r>
            <a:r>
              <a:rPr lang="zh-CN" altLang="en-US" sz="3200" b="1" dirty="0">
                <a:solidFill>
                  <a:schemeClr val="tx1"/>
                </a:solidFill>
                <a:effectLst>
                  <a:outerShdw blurRad="38100" dist="38100" dir="2700000">
                    <a:srgbClr val="FFFFFF"/>
                  </a:outerShdw>
                </a:effectLst>
                <a:latin typeface="Arial" panose="020B0604020202020204" pitchFamily="34" charset="0"/>
                <a:ea typeface="楷体_GB2312" pitchFamily="49" charset="-122"/>
              </a:rPr>
              <a:t>漏电流</a:t>
            </a:r>
            <a:r>
              <a:rPr lang="el-GR" altLang="zh-CN" sz="3200" b="1" dirty="0">
                <a:solidFill>
                  <a:schemeClr val="tx1"/>
                </a:solidFill>
                <a:effectLst>
                  <a:outerShdw blurRad="38100" dist="38100" dir="2700000">
                    <a:srgbClr val="FFFFFF"/>
                  </a:outerShdw>
                </a:effectLst>
                <a:latin typeface="楷体_GB2312" pitchFamily="49" charset="-122"/>
                <a:ea typeface="楷体_GB2312" pitchFamily="49" charset="-122"/>
              </a:rPr>
              <a:t>↑</a:t>
            </a:r>
            <a:endParaRPr lang="el-GR" altLang="zh-CN" sz="3200" b="1" dirty="0">
              <a:solidFill>
                <a:schemeClr val="tx1"/>
              </a:solidFill>
              <a:effectLst>
                <a:outerShdw blurRad="38100" dist="38100" dir="2700000">
                  <a:srgbClr val="FFFFFF"/>
                </a:outerShdw>
              </a:effectLst>
              <a:latin typeface="楷体_GB2312" pitchFamily="49" charset="-122"/>
              <a:ea typeface="楷体_GB2312" pitchFamily="49" charset="-122"/>
            </a:endParaRPr>
          </a:p>
        </p:txBody>
      </p:sp>
      <p:sp>
        <p:nvSpPr>
          <p:cNvPr id="2604038" name="矩形 2604037"/>
          <p:cNvSpPr/>
          <p:nvPr/>
        </p:nvSpPr>
        <p:spPr>
          <a:xfrm>
            <a:off x="792163" y="4911725"/>
            <a:ext cx="7972425" cy="1066800"/>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而惯性滤波法是一种以数字形式实现低通滤波的动态滤波方法，可克服上述缺点。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4040" name="文本框 2604039"/>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2604041" name="矩形 2604040"/>
          <p:cNvSpPr/>
          <p:nvPr/>
        </p:nvSpPr>
        <p:spPr>
          <a:xfrm>
            <a:off x="684213" y="1049338"/>
            <a:ext cx="8312150" cy="579437"/>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不宜用这种模拟方法对低频干扰进行滤波。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4041"/>
                                        </p:tgtEl>
                                        <p:attrNameLst>
                                          <p:attrName>style.visibility</p:attrName>
                                        </p:attrNameLst>
                                      </p:cBhvr>
                                      <p:to>
                                        <p:strVal val="visible"/>
                                      </p:to>
                                    </p:set>
                                    <p:animEffect transition="in" filter="dissolve">
                                      <p:cBhvr>
                                        <p:cTn id="7" dur="500"/>
                                        <p:tgtEl>
                                          <p:spTgt spid="260404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604035"/>
                                        </p:tgtEl>
                                        <p:attrNameLst>
                                          <p:attrName>style.visibility</p:attrName>
                                        </p:attrNameLst>
                                      </p:cBhvr>
                                      <p:to>
                                        <p:strVal val="visible"/>
                                      </p:to>
                                    </p:set>
                                    <p:animEffect transition="in" filter="wipe(left)">
                                      <p:cBhvr>
                                        <p:cTn id="12" dur="500"/>
                                        <p:tgtEl>
                                          <p:spTgt spid="26040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604037"/>
                                        </p:tgtEl>
                                        <p:attrNameLst>
                                          <p:attrName>style.visibility</p:attrName>
                                        </p:attrNameLst>
                                      </p:cBhvr>
                                      <p:to>
                                        <p:strVal val="visible"/>
                                      </p:to>
                                    </p:set>
                                    <p:animEffect transition="in" filter="dissolve">
                                      <p:cBhvr>
                                        <p:cTn id="17" dur="500"/>
                                        <p:tgtEl>
                                          <p:spTgt spid="26040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604038"/>
                                        </p:tgtEl>
                                        <p:attrNameLst>
                                          <p:attrName>style.visibility</p:attrName>
                                        </p:attrNameLst>
                                      </p:cBhvr>
                                      <p:to>
                                        <p:strVal val="visible"/>
                                      </p:to>
                                    </p:set>
                                    <p:animEffect transition="in" filter="wipe(left)">
                                      <p:cBhvr>
                                        <p:cTn id="22" dur="500"/>
                                        <p:tgtEl>
                                          <p:spTgt spid="26040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4035" grpId="0"/>
      <p:bldP spid="2604037" grpId="0" bldLvl="0" animBg="1"/>
      <p:bldP spid="2604038" grpId="0"/>
      <p:bldP spid="2604041" grpId="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6082" name="矩形 2606081"/>
          <p:cNvSpPr/>
          <p:nvPr/>
        </p:nvSpPr>
        <p:spPr>
          <a:xfrm>
            <a:off x="828675" y="836613"/>
            <a:ext cx="2419350" cy="579437"/>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适用场合：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6083" name="矩形 2606082"/>
          <p:cNvSpPr/>
          <p:nvPr/>
        </p:nvSpPr>
        <p:spPr>
          <a:xfrm>
            <a:off x="2844800" y="863600"/>
            <a:ext cx="3548063" cy="579438"/>
          </a:xfrm>
          <a:prstGeom prst="rect">
            <a:avLst/>
          </a:prstGeom>
          <a:noFill/>
          <a:ln w="9525">
            <a:noFill/>
          </a:ln>
        </p:spPr>
        <p:txBody>
          <a:bodyPr wrap="none" anchor="t"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滤波常数要求大。 </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6084" name="矩形 2606083"/>
          <p:cNvSpPr/>
          <p:nvPr/>
        </p:nvSpPr>
        <p:spPr>
          <a:xfrm>
            <a:off x="828675" y="1484313"/>
            <a:ext cx="4606925" cy="579437"/>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惯性滤波的表达式为</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grpSp>
        <p:nvGrpSpPr>
          <p:cNvPr id="2606085" name="组合 2606084"/>
          <p:cNvGrpSpPr/>
          <p:nvPr/>
        </p:nvGrpSpPr>
        <p:grpSpPr>
          <a:xfrm>
            <a:off x="1404938" y="2205038"/>
            <a:ext cx="7019925" cy="776287"/>
            <a:chOff x="885" y="2069"/>
            <a:chExt cx="4423" cy="489"/>
          </a:xfrm>
        </p:grpSpPr>
        <p:graphicFrame>
          <p:nvGraphicFramePr>
            <p:cNvPr id="2606086" name="对象 2606085"/>
            <p:cNvGraphicFramePr/>
            <p:nvPr/>
          </p:nvGraphicFramePr>
          <p:xfrm>
            <a:off x="885" y="2069"/>
            <a:ext cx="3129" cy="489"/>
          </p:xfrm>
          <a:graphic>
            <a:graphicData uri="http://schemas.openxmlformats.org/presentationml/2006/ole">
              <mc:AlternateContent xmlns:mc="http://schemas.openxmlformats.org/markup-compatibility/2006">
                <mc:Choice xmlns:v="urn:schemas-microsoft-com:vml" Requires="v">
                  <p:oleObj spid="_x0000_s3090" name="" r:id="rId1" imgW="1497965" imgH="241300" progId="Equation.3">
                    <p:embed/>
                  </p:oleObj>
                </mc:Choice>
                <mc:Fallback>
                  <p:oleObj name="" r:id="rId1" imgW="1497965" imgH="241300" progId="Equation.3">
                    <p:embed/>
                    <p:pic>
                      <p:nvPicPr>
                        <p:cNvPr id="0" name="图片 3089"/>
                        <p:cNvPicPr/>
                        <p:nvPr/>
                      </p:nvPicPr>
                      <p:blipFill>
                        <a:blip r:embed="rId2"/>
                        <a:stretch>
                          <a:fillRect/>
                        </a:stretch>
                      </p:blipFill>
                      <p:spPr>
                        <a:xfrm>
                          <a:off x="885" y="2069"/>
                          <a:ext cx="3129" cy="489"/>
                        </a:xfrm>
                        <a:prstGeom prst="rect">
                          <a:avLst/>
                        </a:prstGeom>
                        <a:noFill/>
                        <a:ln w="38100">
                          <a:noFill/>
                          <a:miter/>
                        </a:ln>
                      </p:spPr>
                    </p:pic>
                  </p:oleObj>
                </mc:Fallback>
              </mc:AlternateContent>
            </a:graphicData>
          </a:graphic>
        </p:graphicFrame>
        <p:sp>
          <p:nvSpPr>
            <p:cNvPr id="2606087" name="矩形 2606086"/>
            <p:cNvSpPr/>
            <p:nvPr/>
          </p:nvSpPr>
          <p:spPr>
            <a:xfrm>
              <a:off x="4407" y="2143"/>
              <a:ext cx="901" cy="327"/>
            </a:xfrm>
            <a:prstGeom prst="rect">
              <a:avLst/>
            </a:prstGeom>
            <a:noFill/>
            <a:ln w="9525">
              <a:noFill/>
            </a:ln>
          </p:spPr>
          <p:txBody>
            <a:bodyPr wrap="none" anchor="ctr" anchorCtr="0">
              <a:spAutoFit/>
            </a:bodyPr>
            <a:p>
              <a:pPr defTabSz="914400" eaLnBrk="1" hangingPunct="1">
                <a:lnSpc>
                  <a:spcPct val="10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( 10-11 )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606088" name="矩形 2606087"/>
          <p:cNvSpPr/>
          <p:nvPr/>
        </p:nvSpPr>
        <p:spPr>
          <a:xfrm>
            <a:off x="539750" y="3068638"/>
            <a:ext cx="1296988" cy="519112"/>
          </a:xfrm>
          <a:prstGeom prst="rect">
            <a:avLst/>
          </a:prstGeom>
          <a:noFill/>
          <a:ln w="9525">
            <a:noFill/>
          </a:ln>
        </p:spPr>
        <p:txBody>
          <a:bodyPr anchor="ctr" anchorCtr="0">
            <a:spAutoFit/>
          </a:bodyPr>
          <a:p>
            <a:pPr eaLnBrk="1" hangingPunct="1">
              <a:lnSpc>
                <a:spcPct val="100000"/>
              </a:lnSpc>
            </a:pPr>
            <a:r>
              <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rPr>
              <a:t>式中 </a:t>
            </a:r>
            <a:endParaRPr lang="zh-CN" altLang="en-US" sz="28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grpSp>
        <p:nvGrpSpPr>
          <p:cNvPr id="2606089" name="组合 2606088"/>
          <p:cNvGrpSpPr/>
          <p:nvPr/>
        </p:nvGrpSpPr>
        <p:grpSpPr>
          <a:xfrm>
            <a:off x="1620838" y="3121025"/>
            <a:ext cx="3430587" cy="519113"/>
            <a:chOff x="1021" y="2248"/>
            <a:chExt cx="2162" cy="327"/>
          </a:xfrm>
        </p:grpSpPr>
        <p:sp>
          <p:nvSpPr>
            <p:cNvPr id="2606090" name="矩形 2606089"/>
            <p:cNvSpPr/>
            <p:nvPr/>
          </p:nvSpPr>
          <p:spPr>
            <a:xfrm>
              <a:off x="1021" y="2248"/>
              <a:ext cx="2162" cy="327"/>
            </a:xfrm>
            <a:prstGeom prst="rect">
              <a:avLst/>
            </a:prstGeom>
            <a:noFill/>
            <a:ln w="9525">
              <a:noFill/>
            </a:ln>
          </p:spPr>
          <p:txBody>
            <a:bodyPr wrap="none" anchor="ctr" anchorCtr="0">
              <a:spAutoFit/>
            </a:bodyPr>
            <a:p>
              <a:pPr eaLnBrk="1" hangingPunct="1">
                <a:lnSpc>
                  <a:spcPct val="100000"/>
                </a:lnSpc>
              </a:pP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28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第</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次采样值； </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606091" name="直接连接符 2606090"/>
            <p:cNvSpPr/>
            <p:nvPr/>
          </p:nvSpPr>
          <p:spPr>
            <a:xfrm>
              <a:off x="1111" y="2296"/>
              <a:ext cx="137" cy="0"/>
            </a:xfrm>
            <a:prstGeom prst="line">
              <a:avLst/>
            </a:prstGeom>
            <a:ln w="22225" cap="flat" cmpd="sng">
              <a:solidFill>
                <a:schemeClr val="tx1"/>
              </a:solidFill>
              <a:prstDash val="solid"/>
              <a:headEnd type="none" w="med" len="med"/>
              <a:tailEnd type="none" w="med" len="med"/>
            </a:ln>
          </p:spPr>
        </p:sp>
      </p:grpSp>
      <p:grpSp>
        <p:nvGrpSpPr>
          <p:cNvPr id="2606092" name="组合 2606091"/>
          <p:cNvGrpSpPr/>
          <p:nvPr/>
        </p:nvGrpSpPr>
        <p:grpSpPr>
          <a:xfrm>
            <a:off x="1454150" y="3738563"/>
            <a:ext cx="4129088" cy="519112"/>
            <a:chOff x="1066" y="2747"/>
            <a:chExt cx="2602" cy="327"/>
          </a:xfrm>
        </p:grpSpPr>
        <p:sp>
          <p:nvSpPr>
            <p:cNvPr id="2606093" name="矩形 2606092"/>
            <p:cNvSpPr/>
            <p:nvPr/>
          </p:nvSpPr>
          <p:spPr>
            <a:xfrm>
              <a:off x="1066" y="2747"/>
              <a:ext cx="2602" cy="327"/>
            </a:xfrm>
            <a:prstGeom prst="rect">
              <a:avLst/>
            </a:prstGeom>
            <a:noFill/>
            <a:ln w="9525">
              <a:noFill/>
            </a:ln>
          </p:spPr>
          <p:txBody>
            <a:bodyPr wrap="none" anchor="ctr" anchorCtr="0">
              <a:spAutoFit/>
            </a:bodyPr>
            <a:p>
              <a:pPr eaLnBrk="1" hangingPunct="1">
                <a:lnSpc>
                  <a:spcPct val="100000"/>
                </a:lnSpc>
              </a:pP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i="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1</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上次滤波输出值； </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606094" name="直接连接符 2606093"/>
            <p:cNvSpPr/>
            <p:nvPr/>
          </p:nvSpPr>
          <p:spPr>
            <a:xfrm>
              <a:off x="1157" y="2805"/>
              <a:ext cx="136" cy="0"/>
            </a:xfrm>
            <a:prstGeom prst="line">
              <a:avLst/>
            </a:prstGeom>
            <a:ln w="22225" cap="flat" cmpd="sng">
              <a:solidFill>
                <a:schemeClr val="tx1"/>
              </a:solidFill>
              <a:prstDash val="solid"/>
              <a:headEnd type="none" w="med" len="med"/>
              <a:tailEnd type="none" w="med" len="med"/>
            </a:ln>
          </p:spPr>
        </p:sp>
      </p:grpSp>
      <p:grpSp>
        <p:nvGrpSpPr>
          <p:cNvPr id="2606095" name="组合 2606094"/>
          <p:cNvGrpSpPr/>
          <p:nvPr/>
        </p:nvGrpSpPr>
        <p:grpSpPr>
          <a:xfrm>
            <a:off x="1635125" y="4365625"/>
            <a:ext cx="5197475" cy="519113"/>
            <a:chOff x="1066" y="2747"/>
            <a:chExt cx="3275" cy="327"/>
          </a:xfrm>
        </p:grpSpPr>
        <p:sp>
          <p:nvSpPr>
            <p:cNvPr id="2606096" name="矩形 2606095"/>
            <p:cNvSpPr/>
            <p:nvPr/>
          </p:nvSpPr>
          <p:spPr>
            <a:xfrm>
              <a:off x="1066" y="2747"/>
              <a:ext cx="3275" cy="327"/>
            </a:xfrm>
            <a:prstGeom prst="rect">
              <a:avLst/>
            </a:prstGeom>
            <a:noFill/>
            <a:ln w="9525">
              <a:noFill/>
            </a:ln>
          </p:spPr>
          <p:txBody>
            <a:bodyPr wrap="none" anchor="ctr" anchorCtr="0">
              <a:spAutoFit/>
            </a:bodyPr>
            <a:p>
              <a:pPr eaLnBrk="1" hangingPunct="1">
                <a:lnSpc>
                  <a:spcPct val="100000"/>
                </a:lnSpc>
              </a:pPr>
              <a:r>
                <a:rPr lang="en-US" altLang="zh-CN" sz="28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28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第</a:t>
              </a:r>
              <a:r>
                <a:rPr lang="en-US" altLang="zh-CN" sz="28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次采样后滤波输出值； </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sp>
          <p:nvSpPr>
            <p:cNvPr id="2606097" name="直接连接符 2606096"/>
            <p:cNvSpPr/>
            <p:nvPr/>
          </p:nvSpPr>
          <p:spPr>
            <a:xfrm>
              <a:off x="1157" y="2805"/>
              <a:ext cx="136" cy="0"/>
            </a:xfrm>
            <a:prstGeom prst="line">
              <a:avLst/>
            </a:prstGeom>
            <a:ln w="22225" cap="flat" cmpd="sng">
              <a:solidFill>
                <a:schemeClr val="tx1"/>
              </a:solidFill>
              <a:prstDash val="solid"/>
              <a:headEnd type="none" w="med" len="med"/>
              <a:tailEnd type="none" w="med" len="med"/>
            </a:ln>
          </p:spPr>
        </p:sp>
      </p:grpSp>
      <p:sp>
        <p:nvSpPr>
          <p:cNvPr id="2606098" name="矩形 2606097"/>
          <p:cNvSpPr/>
          <p:nvPr/>
        </p:nvSpPr>
        <p:spPr>
          <a:xfrm>
            <a:off x="1620838" y="5081588"/>
            <a:ext cx="3575050" cy="519112"/>
          </a:xfrm>
          <a:prstGeom prst="rect">
            <a:avLst/>
          </a:prstGeom>
          <a:noFill/>
          <a:ln w="9525">
            <a:noFill/>
          </a:ln>
        </p:spPr>
        <p:txBody>
          <a:bodyPr wrap="none" anchor="ctr" anchorCtr="0">
            <a:spAutoFit/>
          </a:bodyPr>
          <a:p>
            <a:pPr eaLnBrk="1" hangingPunct="1">
              <a:lnSpc>
                <a:spcPct val="100000"/>
              </a:lnSpc>
            </a:pPr>
            <a:r>
              <a:rPr lang="el-GR" altLang="zh-CN" sz="2800" b="1" i="1" dirty="0">
                <a:solidFill>
                  <a:schemeClr val="tx1"/>
                </a:solidFill>
                <a:effectLst>
                  <a:outerShdw blurRad="38100" dist="38100" dir="2700000">
                    <a:srgbClr val="C0C0C0"/>
                  </a:outerShdw>
                </a:effectLst>
                <a:latin typeface="楷体_GB2312" pitchFamily="49" charset="-122"/>
                <a:ea typeface="楷体_GB2312" pitchFamily="49" charset="-122"/>
              </a:rPr>
              <a:t>α</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rPr>
              <a:t>滤波平滑系数， </a:t>
            </a:r>
            <a:endParaRPr lang="zh-CN" altLang="en-US" sz="28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606099" name="对象 2606098"/>
          <p:cNvGraphicFramePr/>
          <p:nvPr/>
        </p:nvGraphicFramePr>
        <p:xfrm>
          <a:off x="5003800" y="4789488"/>
          <a:ext cx="2735263" cy="1257300"/>
        </p:xfrm>
        <a:graphic>
          <a:graphicData uri="http://schemas.openxmlformats.org/presentationml/2006/ole">
            <mc:AlternateContent xmlns:mc="http://schemas.openxmlformats.org/markup-compatibility/2006">
              <mc:Choice xmlns:v="urn:schemas-microsoft-com:vml" Requires="v">
                <p:oleObj spid="_x0000_s3091" name="" r:id="rId3" imgW="609600" imgH="368300" progId="Equation.3">
                  <p:embed/>
                </p:oleObj>
              </mc:Choice>
              <mc:Fallback>
                <p:oleObj name="" r:id="rId3" imgW="609600" imgH="368300" progId="Equation.3">
                  <p:embed/>
                  <p:pic>
                    <p:nvPicPr>
                      <p:cNvPr id="0" name="图片 3090"/>
                      <p:cNvPicPr/>
                      <p:nvPr/>
                    </p:nvPicPr>
                    <p:blipFill>
                      <a:blip r:embed="rId4"/>
                      <a:stretch>
                        <a:fillRect/>
                      </a:stretch>
                    </p:blipFill>
                    <p:spPr>
                      <a:xfrm>
                        <a:off x="5003800" y="4789488"/>
                        <a:ext cx="2735263" cy="1257300"/>
                      </a:xfrm>
                      <a:prstGeom prst="rect">
                        <a:avLst/>
                      </a:prstGeom>
                      <a:noFill/>
                      <a:ln w="38100">
                        <a:noFill/>
                        <a:miter/>
                      </a:ln>
                    </p:spPr>
                  </p:pic>
                </p:oleObj>
              </mc:Fallback>
            </mc:AlternateContent>
          </a:graphicData>
        </a:graphic>
      </p:graphicFrame>
      <p:sp>
        <p:nvSpPr>
          <p:cNvPr id="2606100" name="矩形 2606099"/>
          <p:cNvSpPr/>
          <p:nvPr/>
        </p:nvSpPr>
        <p:spPr>
          <a:xfrm>
            <a:off x="1603375" y="5800725"/>
            <a:ext cx="4467225" cy="519113"/>
          </a:xfrm>
          <a:prstGeom prst="rect">
            <a:avLst/>
          </a:prstGeom>
          <a:noFill/>
          <a:ln w="9525">
            <a:noFill/>
          </a:ln>
        </p:spPr>
        <p:txBody>
          <a:bodyPr wrap="none" anchor="ctr" anchorCtr="0">
            <a:spAutoFit/>
          </a:bodyPr>
          <a:p>
            <a:pPr defTabSz="914400" eaLnBrk="1" hangingPunct="1">
              <a:lnSpc>
                <a:spcPct val="100000"/>
              </a:lnSpc>
              <a:buNone/>
              <a:tabLst>
                <a:tab pos="-1295400" algn="l"/>
              </a:tabLst>
            </a:pPr>
            <a:r>
              <a:rPr lang="el-GR" altLang="zh-CN" sz="2800" b="1" i="1" dirty="0">
                <a:solidFill>
                  <a:schemeClr val="tx1"/>
                </a:solidFill>
                <a:effectLst>
                  <a:outerShdw blurRad="38100" dist="38100" dir="2700000">
                    <a:srgbClr val="C0C0C0"/>
                  </a:outerShdw>
                </a:effectLst>
                <a:latin typeface="Arial" panose="020B0604020202020204" pitchFamily="34" charset="0"/>
                <a:ea typeface="楷体_GB2312" pitchFamily="49" charset="-122"/>
              </a:rPr>
              <a:t>τ</a:t>
            </a:r>
            <a:r>
              <a:rPr lang="en-US" altLang="zh-CN" sz="2800" b="1">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rPr>
              <a:t>滤波环节的时间常数；</a:t>
            </a:r>
            <a:endParaRPr lang="zh-CN" altLang="en-US" sz="28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6102" name="文本框 2606101"/>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6082"/>
                                        </p:tgtEl>
                                        <p:attrNameLst>
                                          <p:attrName>style.visibility</p:attrName>
                                        </p:attrNameLst>
                                      </p:cBhvr>
                                      <p:to>
                                        <p:strVal val="visible"/>
                                      </p:to>
                                    </p:set>
                                    <p:animEffect transition="in" filter="dissolve">
                                      <p:cBhvr>
                                        <p:cTn id="7" dur="500"/>
                                        <p:tgtEl>
                                          <p:spTgt spid="26060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606083"/>
                                        </p:tgtEl>
                                        <p:attrNameLst>
                                          <p:attrName>style.visibility</p:attrName>
                                        </p:attrNameLst>
                                      </p:cBhvr>
                                      <p:to>
                                        <p:strVal val="visible"/>
                                      </p:to>
                                    </p:set>
                                    <p:animEffect transition="in" filter="dissolve">
                                      <p:cBhvr>
                                        <p:cTn id="12" dur="500"/>
                                        <p:tgtEl>
                                          <p:spTgt spid="260608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606084"/>
                                        </p:tgtEl>
                                        <p:attrNameLst>
                                          <p:attrName>style.visibility</p:attrName>
                                        </p:attrNameLst>
                                      </p:cBhvr>
                                      <p:to>
                                        <p:strVal val="visible"/>
                                      </p:to>
                                    </p:set>
                                    <p:animEffect transition="in" filter="dissolve">
                                      <p:cBhvr>
                                        <p:cTn id="17" dur="500"/>
                                        <p:tgtEl>
                                          <p:spTgt spid="260608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606085"/>
                                        </p:tgtEl>
                                        <p:attrNameLst>
                                          <p:attrName>style.visibility</p:attrName>
                                        </p:attrNameLst>
                                      </p:cBhvr>
                                      <p:to>
                                        <p:strVal val="visible"/>
                                      </p:to>
                                    </p:set>
                                    <p:animEffect transition="in" filter="wipe(left)">
                                      <p:cBhvr>
                                        <p:cTn id="22" dur="500"/>
                                        <p:tgtEl>
                                          <p:spTgt spid="260608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606088"/>
                                        </p:tgtEl>
                                        <p:attrNameLst>
                                          <p:attrName>style.visibility</p:attrName>
                                        </p:attrNameLst>
                                      </p:cBhvr>
                                      <p:to>
                                        <p:strVal val="visible"/>
                                      </p:to>
                                    </p:set>
                                    <p:animEffect transition="in" filter="dissolve">
                                      <p:cBhvr>
                                        <p:cTn id="27" dur="500"/>
                                        <p:tgtEl>
                                          <p:spTgt spid="260608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606089"/>
                                        </p:tgtEl>
                                        <p:attrNameLst>
                                          <p:attrName>style.visibility</p:attrName>
                                        </p:attrNameLst>
                                      </p:cBhvr>
                                      <p:to>
                                        <p:strVal val="visible"/>
                                      </p:to>
                                    </p:set>
                                    <p:animEffect transition="in" filter="dissolve">
                                      <p:cBhvr>
                                        <p:cTn id="32" dur="500"/>
                                        <p:tgtEl>
                                          <p:spTgt spid="2606089"/>
                                        </p:tgtEl>
                                      </p:cBhvr>
                                    </p:animEffect>
                                  </p:childTnLst>
                                </p:cTn>
                              </p:par>
                              <p:par>
                                <p:cTn id="33" presetID="9" presetClass="entr" presetSubtype="0" fill="hold" nodeType="withEffect">
                                  <p:stCondLst>
                                    <p:cond delay="0"/>
                                  </p:stCondLst>
                                  <p:childTnLst>
                                    <p:set>
                                      <p:cBhvr>
                                        <p:cTn id="34" dur="1" fill="hold">
                                          <p:stCondLst>
                                            <p:cond delay="0"/>
                                          </p:stCondLst>
                                        </p:cTn>
                                        <p:tgtEl>
                                          <p:spTgt spid="2606092"/>
                                        </p:tgtEl>
                                        <p:attrNameLst>
                                          <p:attrName>style.visibility</p:attrName>
                                        </p:attrNameLst>
                                      </p:cBhvr>
                                      <p:to>
                                        <p:strVal val="visible"/>
                                      </p:to>
                                    </p:set>
                                    <p:animEffect transition="in" filter="dissolve">
                                      <p:cBhvr>
                                        <p:cTn id="35" dur="500"/>
                                        <p:tgtEl>
                                          <p:spTgt spid="2606092"/>
                                        </p:tgtEl>
                                      </p:cBhvr>
                                    </p:animEffect>
                                  </p:childTnLst>
                                </p:cTn>
                              </p:par>
                              <p:par>
                                <p:cTn id="36" presetID="9" presetClass="entr" presetSubtype="0" fill="hold" nodeType="withEffect">
                                  <p:stCondLst>
                                    <p:cond delay="0"/>
                                  </p:stCondLst>
                                  <p:childTnLst>
                                    <p:set>
                                      <p:cBhvr>
                                        <p:cTn id="37" dur="1" fill="hold">
                                          <p:stCondLst>
                                            <p:cond delay="0"/>
                                          </p:stCondLst>
                                        </p:cTn>
                                        <p:tgtEl>
                                          <p:spTgt spid="2606095"/>
                                        </p:tgtEl>
                                        <p:attrNameLst>
                                          <p:attrName>style.visibility</p:attrName>
                                        </p:attrNameLst>
                                      </p:cBhvr>
                                      <p:to>
                                        <p:strVal val="visible"/>
                                      </p:to>
                                    </p:set>
                                    <p:animEffect transition="in" filter="dissolve">
                                      <p:cBhvr>
                                        <p:cTn id="38" dur="500"/>
                                        <p:tgtEl>
                                          <p:spTgt spid="2606095"/>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606098"/>
                                        </p:tgtEl>
                                        <p:attrNameLst>
                                          <p:attrName>style.visibility</p:attrName>
                                        </p:attrNameLst>
                                      </p:cBhvr>
                                      <p:to>
                                        <p:strVal val="visible"/>
                                      </p:to>
                                    </p:set>
                                    <p:animEffect transition="in" filter="dissolve">
                                      <p:cBhvr>
                                        <p:cTn id="41" dur="500"/>
                                        <p:tgtEl>
                                          <p:spTgt spid="2606098"/>
                                        </p:tgtEl>
                                      </p:cBhvr>
                                    </p:animEffect>
                                  </p:childTnLst>
                                </p:cTn>
                              </p:par>
                              <p:par>
                                <p:cTn id="42" presetID="9" presetClass="entr" presetSubtype="0" fill="hold" nodeType="withEffect">
                                  <p:stCondLst>
                                    <p:cond delay="0"/>
                                  </p:stCondLst>
                                  <p:childTnLst>
                                    <p:set>
                                      <p:cBhvr>
                                        <p:cTn id="43" dur="1" fill="hold">
                                          <p:stCondLst>
                                            <p:cond delay="0"/>
                                          </p:stCondLst>
                                        </p:cTn>
                                        <p:tgtEl>
                                          <p:spTgt spid="2606099"/>
                                        </p:tgtEl>
                                        <p:attrNameLst>
                                          <p:attrName>style.visibility</p:attrName>
                                        </p:attrNameLst>
                                      </p:cBhvr>
                                      <p:to>
                                        <p:strVal val="visible"/>
                                      </p:to>
                                    </p:set>
                                    <p:animEffect transition="in" filter="dissolve">
                                      <p:cBhvr>
                                        <p:cTn id="44" dur="500"/>
                                        <p:tgtEl>
                                          <p:spTgt spid="2606099"/>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606100"/>
                                        </p:tgtEl>
                                        <p:attrNameLst>
                                          <p:attrName>style.visibility</p:attrName>
                                        </p:attrNameLst>
                                      </p:cBhvr>
                                      <p:to>
                                        <p:strVal val="visible"/>
                                      </p:to>
                                    </p:set>
                                    <p:animEffect transition="in" filter="dissolve">
                                      <p:cBhvr>
                                        <p:cTn id="47" dur="500"/>
                                        <p:tgtEl>
                                          <p:spTgt spid="2606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6082" grpId="0"/>
      <p:bldP spid="2606083" grpId="0"/>
      <p:bldP spid="2606084" grpId="0"/>
      <p:bldP spid="2606088" grpId="0"/>
      <p:bldP spid="2606098" grpId="0"/>
      <p:bldP spid="2606100" grpId="0"/>
    </p:bld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7107" name="矩形 2607106"/>
          <p:cNvSpPr/>
          <p:nvPr/>
        </p:nvSpPr>
        <p:spPr>
          <a:xfrm>
            <a:off x="684213" y="1260475"/>
            <a:ext cx="2428875" cy="579438"/>
          </a:xfrm>
          <a:prstGeom prst="rect">
            <a:avLst/>
          </a:prstGeom>
          <a:noFill/>
          <a:ln w="9525">
            <a:noFill/>
          </a:ln>
        </p:spPr>
        <p:txBody>
          <a:bodyPr wrap="none"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入口条件：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grpSp>
        <p:nvGrpSpPr>
          <p:cNvPr id="2607108" name="组合 2607107"/>
          <p:cNvGrpSpPr/>
          <p:nvPr/>
        </p:nvGrpSpPr>
        <p:grpSpPr>
          <a:xfrm>
            <a:off x="2628900" y="1293813"/>
            <a:ext cx="6062663" cy="1554162"/>
            <a:chOff x="1646" y="652"/>
            <a:chExt cx="3820" cy="979"/>
          </a:xfrm>
        </p:grpSpPr>
        <p:sp>
          <p:nvSpPr>
            <p:cNvPr id="2607109" name="矩形 2607108"/>
            <p:cNvSpPr/>
            <p:nvPr/>
          </p:nvSpPr>
          <p:spPr>
            <a:xfrm>
              <a:off x="1646" y="652"/>
              <a:ext cx="3820" cy="979"/>
            </a:xfrm>
            <a:prstGeom prst="rect">
              <a:avLst/>
            </a:prstGeom>
            <a:noFill/>
            <a:ln w="9525">
              <a:noFill/>
            </a:ln>
          </p:spPr>
          <p:txBody>
            <a:bodyPr wrap="none" anchor="ctr" anchorCtr="0">
              <a:spAutoFit/>
            </a:bodyPr>
            <a:p>
              <a:pPr eaLnBrk="1" hangingPunct="1">
                <a:lnSpc>
                  <a:spcPct val="100000"/>
                </a:lnSpc>
                <a:buNone/>
              </a:pPr>
              <a:r>
                <a:rPr lang="el-GR" altLang="zh-CN" sz="3200" b="1" i="1" dirty="0">
                  <a:solidFill>
                    <a:schemeClr val="tx1"/>
                  </a:solidFill>
                  <a:effectLst>
                    <a:outerShdw blurRad="38100" dist="38100" dir="2700000">
                      <a:srgbClr val="C0C0C0"/>
                    </a:outerShdw>
                  </a:effectLst>
                  <a:latin typeface="Arial" panose="020B0604020202020204" pitchFamily="34" charset="0"/>
                  <a:ea typeface="楷体_GB2312" pitchFamily="49" charset="-122"/>
                </a:rPr>
                <a:t>τ</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存于</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TAO</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变量中</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采样周期</a:t>
              </a:r>
              <a:r>
                <a:rPr lang="en-US" altLang="zh-CN" sz="32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T</a:t>
              </a:r>
              <a:r>
                <a:rPr lang="en-US" altLang="zh-CN" sz="32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S</a:t>
              </a:r>
              <a:endParaRPr lang="en-US" altLang="zh-CN" sz="32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endParaRPr>
            </a:p>
            <a:p>
              <a:pPr eaLnBrk="1" hangingPunct="1">
                <a:lnSpc>
                  <a:spcPct val="100000"/>
                </a:lnSpc>
                <a:buNone/>
              </a:pP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存于</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T</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变量中</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采样值</a:t>
              </a:r>
              <a:r>
                <a:rPr lang="en-US" altLang="zh-CN" sz="3200" b="1" i="1"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X</a:t>
              </a:r>
              <a:r>
                <a:rPr lang="en-US" altLang="zh-CN" sz="3200" b="1" i="1" baseline="-25000" err="1">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存于</a:t>
              </a:r>
              <a:r>
                <a:rPr lang="en-US" altLang="zh-CN" sz="3200" b="1">
                  <a:solidFill>
                    <a:schemeClr val="tx1"/>
                  </a:solidFill>
                  <a:effectLst>
                    <a:outerShdw blurRad="38100" dist="38100" dir="2700000">
                      <a:srgbClr val="C0C0C0"/>
                    </a:outerShdw>
                  </a:effectLst>
                  <a:latin typeface="Times New Roman" panose="02020603050405020304" pitchFamily="18" charset="0"/>
                  <a:ea typeface="楷体_GB2312" pitchFamily="49" charset="-122"/>
                </a:rPr>
                <a:t>X</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变</a:t>
              </a:r>
              <a:endPar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00000"/>
                </a:lnSpc>
                <a:buNone/>
              </a:pP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量中，</a:t>
              </a:r>
              <a:r>
                <a:rPr lang="en-US" altLang="zh-CN" sz="3200" b="1" i="1">
                  <a:solidFill>
                    <a:schemeClr val="tx1"/>
                  </a:solidFill>
                  <a:effectLst>
                    <a:outerShdw blurRad="38100" dist="38100" dir="2700000">
                      <a:srgbClr val="C0C0C0"/>
                    </a:outerShdw>
                  </a:effectLst>
                  <a:latin typeface="Times New Roman" panose="02020603050405020304" pitchFamily="18" charset="0"/>
                  <a:ea typeface="楷体_GB2312" pitchFamily="49" charset="-122"/>
                </a:rPr>
                <a:t>Y</a:t>
              </a:r>
              <a:r>
                <a:rPr lang="en-US" altLang="zh-CN" sz="3200" b="1" i="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n</a:t>
              </a:r>
              <a:r>
                <a:rPr lang="en-US" altLang="zh-CN" sz="3200" b="1" baseline="-25000">
                  <a:solidFill>
                    <a:schemeClr val="tx1"/>
                  </a:solidFill>
                  <a:effectLst>
                    <a:outerShdw blurRad="38100" dist="38100" dir="2700000">
                      <a:srgbClr val="C0C0C0"/>
                    </a:outerShdw>
                  </a:effectLst>
                  <a:latin typeface="Times New Roman" panose="02020603050405020304" pitchFamily="18" charset="0"/>
                  <a:ea typeface="楷体_GB2312" pitchFamily="49" charset="-122"/>
                </a:rPr>
                <a:t>-1</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存在</a:t>
              </a:r>
              <a:r>
                <a:rPr lang="en-US" altLang="zh-CN" sz="3200" b="1">
                  <a:solidFill>
                    <a:schemeClr val="tx1"/>
                  </a:solidFill>
                  <a:effectLst>
                    <a:outerShdw blurRad="38100" dist="38100" dir="2700000">
                      <a:srgbClr val="C0C0C0"/>
                    </a:outerShdw>
                  </a:effectLst>
                  <a:latin typeface="Arial" panose="020B0604020202020204" pitchFamily="34" charset="0"/>
                  <a:ea typeface="楷体_GB2312" pitchFamily="49" charset="-122"/>
                </a:rPr>
                <a:t>DA1</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变量。 </a:t>
              </a:r>
              <a:r>
                <a:rPr lang="zh-CN" altLang="en-US" sz="3200" b="1">
                  <a:solidFill>
                    <a:schemeClr val="tx1"/>
                  </a:solidFill>
                  <a:effectLst>
                    <a:outerShdw blurRad="38100" dist="38100" dir="2700000">
                      <a:srgbClr val="C0C0C0"/>
                    </a:outerShdw>
                  </a:effectLst>
                  <a:latin typeface="Arial" panose="020B0604020202020204" pitchFamily="34" charset="0"/>
                  <a:ea typeface="楷体_GB2312" pitchFamily="49" charset="-122"/>
                </a:rPr>
                <a:t>  </a:t>
              </a:r>
              <a:endParaRPr lang="zh-CN" altLang="en-US" sz="3200" b="1">
                <a:solidFill>
                  <a:schemeClr val="tx1"/>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7110" name="直接连接符 2607109"/>
            <p:cNvSpPr/>
            <p:nvPr/>
          </p:nvSpPr>
          <p:spPr>
            <a:xfrm>
              <a:off x="2498" y="1334"/>
              <a:ext cx="181" cy="0"/>
            </a:xfrm>
            <a:prstGeom prst="line">
              <a:avLst/>
            </a:prstGeom>
            <a:ln w="22225" cap="flat" cmpd="sng">
              <a:solidFill>
                <a:schemeClr val="tx1"/>
              </a:solidFill>
              <a:prstDash val="solid"/>
              <a:headEnd type="none" w="med" len="med"/>
              <a:tailEnd type="none" w="med" len="med"/>
            </a:ln>
          </p:spPr>
        </p:sp>
        <p:sp>
          <p:nvSpPr>
            <p:cNvPr id="2607111" name="直接连接符 2607110"/>
            <p:cNvSpPr/>
            <p:nvPr/>
          </p:nvSpPr>
          <p:spPr>
            <a:xfrm>
              <a:off x="4226" y="1026"/>
              <a:ext cx="181" cy="0"/>
            </a:xfrm>
            <a:prstGeom prst="line">
              <a:avLst/>
            </a:prstGeom>
            <a:ln w="22225" cap="flat" cmpd="sng">
              <a:solidFill>
                <a:schemeClr val="tx1"/>
              </a:solidFill>
              <a:prstDash val="solid"/>
              <a:headEnd type="none" w="med" len="med"/>
              <a:tailEnd type="none" w="med" len="med"/>
            </a:ln>
          </p:spPr>
        </p:sp>
      </p:grpSp>
      <p:sp>
        <p:nvSpPr>
          <p:cNvPr id="2607112" name="矩形 2607111"/>
          <p:cNvSpPr/>
          <p:nvPr/>
        </p:nvSpPr>
        <p:spPr>
          <a:xfrm>
            <a:off x="684213" y="3386138"/>
            <a:ext cx="2428875" cy="579437"/>
          </a:xfrm>
          <a:prstGeom prst="rect">
            <a:avLst/>
          </a:prstGeom>
          <a:noFill/>
          <a:ln w="9525">
            <a:noFill/>
          </a:ln>
        </p:spPr>
        <p:txBody>
          <a:bodyPr wrap="none"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出口条件：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grpSp>
        <p:nvGrpSpPr>
          <p:cNvPr id="2607113" name="组合 2607112"/>
          <p:cNvGrpSpPr/>
          <p:nvPr/>
        </p:nvGrpSpPr>
        <p:grpSpPr>
          <a:xfrm>
            <a:off x="2724150" y="3421063"/>
            <a:ext cx="3430588" cy="579437"/>
            <a:chOff x="1671" y="2059"/>
            <a:chExt cx="2162" cy="365"/>
          </a:xfrm>
        </p:grpSpPr>
        <p:sp>
          <p:nvSpPr>
            <p:cNvPr id="2607114" name="矩形 2607113"/>
            <p:cNvSpPr/>
            <p:nvPr/>
          </p:nvSpPr>
          <p:spPr>
            <a:xfrm>
              <a:off x="1671" y="2059"/>
              <a:ext cx="2162" cy="365"/>
            </a:xfrm>
            <a:prstGeom prst="rect">
              <a:avLst/>
            </a:prstGeom>
            <a:noFill/>
            <a:ln w="9525">
              <a:noFill/>
            </a:ln>
          </p:spPr>
          <p:txBody>
            <a:bodyPr wrap="none" anchor="ctr" anchorCtr="0">
              <a:spAutoFit/>
            </a:bodyPr>
            <a:p>
              <a:pPr eaLnBrk="1" hangingPunct="1">
                <a:lnSpc>
                  <a:spcPct val="100000"/>
                </a:lnSpc>
              </a:pPr>
              <a:r>
                <a:rPr lang="en-US" altLang="zh-CN" sz="3200" b="1" i="1"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Y</a:t>
              </a:r>
              <a:r>
                <a:rPr lang="en-US" altLang="zh-CN" sz="3200" b="1" i="1" baseline="-25000" err="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n</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存在</a:t>
              </a:r>
              <a:r>
                <a:rPr lang="en-US" altLang="zh-CN" sz="3200" b="1">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DA2</a:t>
              </a:r>
              <a:r>
                <a:rPr lang="zh-CN" altLang="en-US" sz="3200" b="1" dirty="0">
                  <a:solidFill>
                    <a:schemeClr val="tx1"/>
                  </a:solidFill>
                  <a:effectLst>
                    <a:outerShdw blurRad="38100" dist="38100" dir="2700000">
                      <a:srgbClr val="C0C0C0"/>
                    </a:outerShdw>
                  </a:effectLst>
                  <a:latin typeface="Arial" panose="020B0604020202020204" pitchFamily="34" charset="0"/>
                  <a:ea typeface="楷体_GB2312" pitchFamily="49" charset="-122"/>
                </a:rPr>
                <a:t>变量</a:t>
              </a:r>
              <a:r>
                <a:rPr lang="zh-CN" altLang="en-US" sz="32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rPr>
                <a:t>。</a:t>
              </a:r>
              <a:endParaRPr lang="zh-CN" altLang="en-US" sz="3200" b="1" dirty="0">
                <a:solidFill>
                  <a:schemeClr val="tx1"/>
                </a:solidFill>
                <a:effectLst>
                  <a:outerShdw blurRad="38100" dist="38100" dir="2700000">
                    <a:srgbClr val="C0C0C0"/>
                  </a:outerShdw>
                </a:effectLst>
                <a:latin typeface="Arial" panose="020B0604020202020204" pitchFamily="34" charset="0"/>
                <a:ea typeface="宋体" panose="02010600030101010101" pitchFamily="2" charset="-122"/>
              </a:endParaRPr>
            </a:p>
          </p:txBody>
        </p:sp>
        <p:sp>
          <p:nvSpPr>
            <p:cNvPr id="2607115" name="直接连接符 2607114"/>
            <p:cNvSpPr/>
            <p:nvPr/>
          </p:nvSpPr>
          <p:spPr>
            <a:xfrm>
              <a:off x="1752" y="2115"/>
              <a:ext cx="181" cy="0"/>
            </a:xfrm>
            <a:prstGeom prst="line">
              <a:avLst/>
            </a:prstGeom>
            <a:ln w="22225" cap="flat" cmpd="sng">
              <a:solidFill>
                <a:schemeClr val="tx1"/>
              </a:solidFill>
              <a:prstDash val="solid"/>
              <a:headEnd type="none" w="med" len="med"/>
              <a:tailEnd type="none" w="med" len="med"/>
            </a:ln>
          </p:spPr>
        </p:sp>
      </p:grpSp>
      <p:sp>
        <p:nvSpPr>
          <p:cNvPr id="2607116" name="矩形 2607115"/>
          <p:cNvSpPr/>
          <p:nvPr/>
        </p:nvSpPr>
        <p:spPr>
          <a:xfrm>
            <a:off x="755650" y="4721225"/>
            <a:ext cx="5903913" cy="579438"/>
          </a:xfrm>
          <a:prstGeom prst="rect">
            <a:avLst/>
          </a:prstGeom>
          <a:noFill/>
          <a:ln w="9525">
            <a:noFill/>
          </a:ln>
        </p:spPr>
        <p:txBody>
          <a:bodyPr>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惯性滤波过程程序如下：</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7117" name="文本框 2607116"/>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7107"/>
                                        </p:tgtEl>
                                        <p:attrNameLst>
                                          <p:attrName>style.visibility</p:attrName>
                                        </p:attrNameLst>
                                      </p:cBhvr>
                                      <p:to>
                                        <p:strVal val="visible"/>
                                      </p:to>
                                    </p:set>
                                    <p:animEffect transition="in" filter="dissolve">
                                      <p:cBhvr>
                                        <p:cTn id="7" dur="500"/>
                                        <p:tgtEl>
                                          <p:spTgt spid="2607107"/>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2607108"/>
                                        </p:tgtEl>
                                        <p:attrNameLst>
                                          <p:attrName>style.visibility</p:attrName>
                                        </p:attrNameLst>
                                      </p:cBhvr>
                                      <p:to>
                                        <p:strVal val="visible"/>
                                      </p:to>
                                    </p:set>
                                    <p:animEffect transition="in" filter="blinds(horizontal)">
                                      <p:cBhvr>
                                        <p:cTn id="12" dur="500"/>
                                        <p:tgtEl>
                                          <p:spTgt spid="260710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607112"/>
                                        </p:tgtEl>
                                        <p:attrNameLst>
                                          <p:attrName>style.visibility</p:attrName>
                                        </p:attrNameLst>
                                      </p:cBhvr>
                                      <p:to>
                                        <p:strVal val="visible"/>
                                      </p:to>
                                    </p:set>
                                    <p:animEffect transition="in" filter="dissolve">
                                      <p:cBhvr>
                                        <p:cTn id="17" dur="500"/>
                                        <p:tgtEl>
                                          <p:spTgt spid="26071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07113"/>
                                        </p:tgtEl>
                                        <p:attrNameLst>
                                          <p:attrName>style.visibility</p:attrName>
                                        </p:attrNameLst>
                                      </p:cBhvr>
                                      <p:to>
                                        <p:strVal val="visible"/>
                                      </p:to>
                                    </p:set>
                                    <p:animEffect transition="in" filter="dissolve">
                                      <p:cBhvr>
                                        <p:cTn id="22" dur="500"/>
                                        <p:tgtEl>
                                          <p:spTgt spid="26071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607116"/>
                                        </p:tgtEl>
                                        <p:attrNameLst>
                                          <p:attrName>style.visibility</p:attrName>
                                        </p:attrNameLst>
                                      </p:cBhvr>
                                      <p:to>
                                        <p:strVal val="visible"/>
                                      </p:to>
                                    </p:set>
                                    <p:animEffect transition="in" filter="dissolve">
                                      <p:cBhvr>
                                        <p:cTn id="27" dur="500"/>
                                        <p:tgtEl>
                                          <p:spTgt spid="2607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7107" grpId="0"/>
      <p:bldP spid="2607112" grpId="0"/>
      <p:bldP spid="2607116"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8131" name="矩形 2608130"/>
          <p:cNvSpPr/>
          <p:nvPr/>
        </p:nvSpPr>
        <p:spPr>
          <a:xfrm>
            <a:off x="900113" y="1052513"/>
            <a:ext cx="6475412" cy="2143125"/>
          </a:xfrm>
          <a:prstGeom prst="rect">
            <a:avLst/>
          </a:prstGeom>
          <a:noFill/>
          <a:ln w="9525">
            <a:noFill/>
          </a:ln>
        </p:spPr>
        <p:txBody>
          <a:bodyPr wrap="none" anchor="ctr" anchorCtr="0">
            <a:spAutoFit/>
          </a:bodyPr>
          <a:p>
            <a:pPr indent="14605"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SUB  GXLBO ( TAO, T, X, DA1, DA2 )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ALF=TAO</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 /</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(TAO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T)</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DA2= ( 1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ALF )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X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ALF </a:t>
            </a:r>
            <a:r>
              <a:rPr lang="en-US" altLang="zh-CN" sz="2800" b="1">
                <a:solidFill>
                  <a:schemeClr val="tx1"/>
                </a:solidFill>
                <a:effectLst>
                  <a:outerShdw blurRad="38100" dist="38100" dir="2700000">
                    <a:srgbClr val="C0C0C0"/>
                  </a:outerShdw>
                </a:effectLst>
                <a:latin typeface="楷体_GB2312" pitchFamily="49" charset="-122"/>
                <a:ea typeface="楷体_GB2312" pitchFamily="49" charset="-122"/>
              </a:rPr>
              <a:t>*</a:t>
            </a: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DA1</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a:p>
            <a:pPr indent="14605" defTabSz="914400" eaLnBrk="1" hangingPunct="1">
              <a:lnSpc>
                <a:spcPct val="120000"/>
              </a:lnSpc>
              <a:tabLst>
                <a:tab pos="-1295400" algn="l"/>
              </a:tabLst>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END  SUB</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
        <p:nvSpPr>
          <p:cNvPr id="2608132" name="矩形 2608131"/>
          <p:cNvSpPr/>
          <p:nvPr/>
        </p:nvSpPr>
        <p:spPr>
          <a:xfrm>
            <a:off x="523875" y="3724275"/>
            <a:ext cx="8345488" cy="1844675"/>
          </a:xfrm>
          <a:prstGeom prst="rect">
            <a:avLst/>
          </a:prstGeom>
          <a:noFill/>
          <a:ln w="9525">
            <a:noFill/>
          </a:ln>
        </p:spPr>
        <p:txBody>
          <a:bodyPr wrap="none" anchor="ctr" anchorCtr="0">
            <a:spAutoFit/>
          </a:bodyPr>
          <a:p>
            <a:pPr eaLnBrk="1" hangingPunct="1">
              <a:lnSpc>
                <a:spcPct val="120000"/>
              </a:lnSpc>
            </a:pP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该方法适用于波动频繁的被测量的滤波，</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它能很好地消除周期性干扰，但也带来了相</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位滞后，滞后角的大小与</a:t>
            </a:r>
            <a:r>
              <a:rPr lang="el-GR" altLang="zh-CN" sz="3200" b="1" i="1" dirty="0">
                <a:solidFill>
                  <a:schemeClr val="accent2"/>
                </a:solidFill>
                <a:effectLst>
                  <a:outerShdw blurRad="38100" dist="38100" dir="2700000">
                    <a:srgbClr val="C0C0C0"/>
                  </a:outerShdw>
                </a:effectLst>
                <a:latin typeface="楷体_GB2312" pitchFamily="49" charset="-122"/>
                <a:ea typeface="楷体_GB2312" pitchFamily="49" charset="-122"/>
              </a:rPr>
              <a:t>α</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的选择有关。</a:t>
            </a:r>
            <a:r>
              <a:rPr lang="zh-CN" altLang="en-US" sz="1800" b="0" dirty="0">
                <a:solidFill>
                  <a:schemeClr val="accent2"/>
                </a:solidFill>
                <a:latin typeface="Arial" panose="020B0604020202020204" pitchFamily="34" charset="0"/>
                <a:ea typeface="宋体" panose="02010600030101010101" pitchFamily="2" charset="-122"/>
              </a:rPr>
              <a:t> </a:t>
            </a:r>
            <a:r>
              <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08133" name="文本框 2608132"/>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8131"/>
                                        </p:tgtEl>
                                        <p:attrNameLst>
                                          <p:attrName>style.visibility</p:attrName>
                                        </p:attrNameLst>
                                      </p:cBhvr>
                                      <p:to>
                                        <p:strVal val="visible"/>
                                      </p:to>
                                    </p:set>
                                    <p:animEffect transition="in" filter="dissolve">
                                      <p:cBhvr>
                                        <p:cTn id="7" dur="500"/>
                                        <p:tgtEl>
                                          <p:spTgt spid="260813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608132"/>
                                        </p:tgtEl>
                                        <p:attrNameLst>
                                          <p:attrName>style.visibility</p:attrName>
                                        </p:attrNameLst>
                                      </p:cBhvr>
                                      <p:to>
                                        <p:strVal val="visible"/>
                                      </p:to>
                                    </p:set>
                                    <p:animEffect transition="in" filter="dissolve">
                                      <p:cBhvr>
                                        <p:cTn id="12" dur="500"/>
                                        <p:tgtEl>
                                          <p:spTgt spid="2608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8131" grpId="0"/>
      <p:bldP spid="2608132" grpId="0"/>
    </p:bld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09155" name="矩形 2609154"/>
          <p:cNvSpPr/>
          <p:nvPr/>
        </p:nvSpPr>
        <p:spPr>
          <a:xfrm>
            <a:off x="612775" y="833438"/>
            <a:ext cx="5246688" cy="579437"/>
          </a:xfrm>
          <a:prstGeom prst="rect">
            <a:avLst/>
          </a:prstGeom>
          <a:noFill/>
          <a:ln w="9525">
            <a:noFill/>
          </a:ln>
        </p:spPr>
        <p:txBody>
          <a:bodyPr wrap="none" anchor="ctr" anchorCtr="0">
            <a:spAutoFit/>
          </a:bodyPr>
          <a:p>
            <a:pPr defTabSz="914400" eaLnBrk="1" hangingPunct="1">
              <a:lnSpc>
                <a:spcPct val="100000"/>
              </a:lnSpc>
              <a:tabLst>
                <a:tab pos="-1295400" algn="l"/>
              </a:tabLst>
            </a:pPr>
            <a:r>
              <a:rPr lang="en-US" altLang="zh-CN" sz="3200" b="1">
                <a:solidFill>
                  <a:schemeClr val="accent2"/>
                </a:solidFill>
                <a:effectLst>
                  <a:outerShdw blurRad="38100" dist="38100" dir="2700000">
                    <a:srgbClr val="C0C0C0"/>
                  </a:outerShdw>
                </a:effectLst>
                <a:latin typeface="Arial Black" panose="020B0A04020102020204" pitchFamily="34" charset="0"/>
                <a:ea typeface="宋体" panose="02010600030101010101" pitchFamily="2" charset="-122"/>
              </a:rPr>
              <a:t>5.</a:t>
            </a:r>
            <a:r>
              <a:rPr lang="en-US" altLang="zh-CN" sz="3200" b="1">
                <a:solidFill>
                  <a:schemeClr val="accent2"/>
                </a:solidFill>
                <a:effectLst>
                  <a:outerShdw blurRad="38100" dist="38100" dir="2700000">
                    <a:srgbClr val="C0C0C0"/>
                  </a:outerShdw>
                </a:effectLst>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防脉冲干扰复合滤波法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09278" name="矩形 2609277"/>
          <p:cNvSpPr/>
          <p:nvPr/>
        </p:nvSpPr>
        <p:spPr>
          <a:xfrm>
            <a:off x="412750" y="4076700"/>
            <a:ext cx="8478838" cy="1641475"/>
          </a:xfrm>
          <a:prstGeom prst="rect">
            <a:avLst/>
          </a:prstGeom>
          <a:solidFill>
            <a:schemeClr val="accent1"/>
          </a:solidFill>
          <a:ln w="9525" cap="flat" cmpd="sng">
            <a:solidFill>
              <a:schemeClr val="tx1"/>
            </a:solidFill>
            <a:prstDash val="solid"/>
            <a:miter/>
            <a:headEnd type="none" w="med" len="med"/>
            <a:tailEnd type="none" w="med" len="med"/>
          </a:ln>
          <a:effectLst>
            <a:outerShdw dist="107763" dir="2699999" algn="ctr" rotWithShape="0">
              <a:schemeClr val="bg2">
                <a:alpha val="50000"/>
              </a:schemeClr>
            </a:outerShdw>
          </a:effectLst>
        </p:spPr>
        <p:txBody>
          <a:bodyPr wrap="none" anchor="ctr" anchorCtr="0"/>
          <a:p>
            <a:pPr eaLnBrk="1" hangingPunct="1">
              <a:lnSpc>
                <a:spcPct val="100000"/>
              </a:lnSpc>
            </a:pPr>
            <a:r>
              <a:rPr lang="en-US" altLang="zh-CN" sz="3200" b="1" dirty="0">
                <a:solidFill>
                  <a:schemeClr val="tx1"/>
                </a:solidFill>
                <a:effectLst>
                  <a:outerShdw blurRad="38100" dist="38100" dir="2700000">
                    <a:srgbClr val="FFFFFF"/>
                  </a:outerShdw>
                </a:effectLst>
                <a:latin typeface="楷体_GB2312" pitchFamily="49" charset="-122"/>
                <a:ea typeface="楷体_GB2312" pitchFamily="49" charset="-122"/>
              </a:rPr>
              <a:t> </a:t>
            </a: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复合滤波 </a:t>
            </a:r>
            <a:r>
              <a:rPr lang="en-US" altLang="zh-CN" sz="3200" b="1">
                <a:solidFill>
                  <a:schemeClr val="tx1"/>
                </a:solidFill>
                <a:effectLst>
                  <a:outerShdw blurRad="38100" dist="38100" dir="2700000">
                    <a:srgbClr val="FFFFFF"/>
                  </a:outerShdw>
                </a:effectLst>
                <a:latin typeface="楷体_GB2312" pitchFamily="49" charset="-122"/>
                <a:ea typeface="楷体_GB2312" pitchFamily="49" charset="-122"/>
              </a:rPr>
              <a:t>-- </a:t>
            </a: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先用中值滤波处理因脉冲干扰</a:t>
            </a:r>
            <a:endPar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endParaRPr>
          </a:p>
          <a:p>
            <a:pPr eaLnBrk="1" hangingPunct="1">
              <a:lnSpc>
                <a:spcPct val="100000"/>
              </a:lnSpc>
            </a:pP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             而有偏差的采样值，再把滤波</a:t>
            </a:r>
            <a:endPar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endParaRPr>
          </a:p>
          <a:p>
            <a:pPr eaLnBrk="1" hangingPunct="1">
              <a:lnSpc>
                <a:spcPct val="100000"/>
              </a:lnSpc>
            </a:pPr>
            <a:r>
              <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rPr>
              <a:t>             后的采样值做算术平均。  </a:t>
            </a:r>
            <a:endParaRPr lang="zh-CN" altLang="en-US" sz="3200" b="1" dirty="0">
              <a:solidFill>
                <a:schemeClr val="tx1"/>
              </a:solidFill>
              <a:effectLst>
                <a:outerShdw blurRad="38100" dist="38100" dir="2700000">
                  <a:srgbClr val="FFFFFF"/>
                </a:outerShdw>
              </a:effectLst>
              <a:latin typeface="楷体_GB2312" pitchFamily="49" charset="-122"/>
              <a:ea typeface="楷体_GB2312" pitchFamily="49" charset="-122"/>
            </a:endParaRPr>
          </a:p>
        </p:txBody>
      </p:sp>
      <p:sp>
        <p:nvSpPr>
          <p:cNvPr id="2609279" name="文本框 2609278"/>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
        <p:nvSpPr>
          <p:cNvPr id="2609280" name="矩形 2609279"/>
          <p:cNvSpPr/>
          <p:nvPr/>
        </p:nvSpPr>
        <p:spPr>
          <a:xfrm>
            <a:off x="900113" y="1773238"/>
            <a:ext cx="7415212" cy="1630362"/>
          </a:xfrm>
          <a:prstGeom prst="rect">
            <a:avLst/>
          </a:prstGeom>
          <a:noFill/>
          <a:ln w="9525">
            <a:noFill/>
          </a:ln>
        </p:spPr>
        <p:txBody>
          <a:bodyPr anchor="ctr" anchorCtr="0">
            <a:spAutoFit/>
          </a:bodyPr>
          <a:p>
            <a:pPr indent="14605" defTabSz="914400" eaLnBrk="1" hangingPunct="1">
              <a:lnSpc>
                <a:spcPct val="120000"/>
              </a:lnSpc>
              <a:tabLst>
                <a:tab pos="-1295400" algn="l"/>
              </a:tabLst>
            </a:pPr>
            <a:r>
              <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算术平均值法不易消除脉冲干扰引起的采样偏差，中值滤波法由于采样点数的限制，应用范围有限。</a:t>
            </a:r>
            <a:endParaRPr lang="zh-CN" altLang="en-US" sz="2800" b="1" dirty="0">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09155"/>
                                        </p:tgtEl>
                                        <p:attrNameLst>
                                          <p:attrName>style.visibility</p:attrName>
                                        </p:attrNameLst>
                                      </p:cBhvr>
                                      <p:to>
                                        <p:strVal val="visible"/>
                                      </p:to>
                                    </p:set>
                                    <p:animEffect transition="in" filter="dissolve">
                                      <p:cBhvr>
                                        <p:cTn id="7" dur="500"/>
                                        <p:tgtEl>
                                          <p:spTgt spid="2609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609280">
                                            <p:txEl>
                                              <p:charRg st="0" end="45"/>
                                            </p:txEl>
                                          </p:spTgt>
                                        </p:tgtEl>
                                        <p:attrNameLst>
                                          <p:attrName>style.visibility</p:attrName>
                                        </p:attrNameLst>
                                      </p:cBhvr>
                                      <p:to>
                                        <p:strVal val="visible"/>
                                      </p:to>
                                    </p:set>
                                    <p:animEffect transition="in" filter="wipe(left)">
                                      <p:cBhvr>
                                        <p:cTn id="12" dur="500"/>
                                        <p:tgtEl>
                                          <p:spTgt spid="2609280">
                                            <p:txEl>
                                              <p:charRg st="0" end="45"/>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609278"/>
                                        </p:tgtEl>
                                        <p:attrNameLst>
                                          <p:attrName>style.visibility</p:attrName>
                                        </p:attrNameLst>
                                      </p:cBhvr>
                                      <p:to>
                                        <p:strVal val="visible"/>
                                      </p:to>
                                    </p:set>
                                    <p:animEffect transition="in" filter="dissolve">
                                      <p:cBhvr>
                                        <p:cTn id="17" dur="500"/>
                                        <p:tgtEl>
                                          <p:spTgt spid="2609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9155" grpId="0"/>
      <p:bldP spid="2609278" grpId="0" bldLvl="0" animBg="1"/>
      <p:bldP spid="2609280" grpId="0" build="p"/>
    </p:bld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0179" name="矩形 2610178"/>
          <p:cNvSpPr/>
          <p:nvPr/>
        </p:nvSpPr>
        <p:spPr>
          <a:xfrm>
            <a:off x="684213" y="1196975"/>
            <a:ext cx="6335712" cy="579438"/>
          </a:xfrm>
          <a:prstGeom prst="rect">
            <a:avLst/>
          </a:prstGeom>
          <a:noFill/>
          <a:ln w="9525">
            <a:noFill/>
          </a:ln>
        </p:spPr>
        <p:txBody>
          <a:bodyPr anchor="ctr" anchorCtr="0">
            <a:spAutoFit/>
          </a:bodyPr>
          <a:p>
            <a:pPr defTabSz="914400" eaLnBrk="1" hangingPunct="1">
              <a:lnSpc>
                <a:spcPct val="100000"/>
              </a:lnSpc>
              <a:tabLst>
                <a:tab pos="-1295400" algn="l"/>
              </a:tabLst>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复合滤波法原理可用下式表示  </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p:txBody>
      </p:sp>
      <p:grpSp>
        <p:nvGrpSpPr>
          <p:cNvPr id="2610180" name="组合 2610179"/>
          <p:cNvGrpSpPr/>
          <p:nvPr/>
        </p:nvGrpSpPr>
        <p:grpSpPr>
          <a:xfrm>
            <a:off x="684213" y="2076450"/>
            <a:ext cx="6632575" cy="631825"/>
            <a:chOff x="476" y="1434"/>
            <a:chExt cx="4179" cy="398"/>
          </a:xfrm>
        </p:grpSpPr>
        <p:sp>
          <p:nvSpPr>
            <p:cNvPr id="2610181" name="矩形 2610180"/>
            <p:cNvSpPr/>
            <p:nvPr/>
          </p:nvSpPr>
          <p:spPr>
            <a:xfrm>
              <a:off x="476" y="1434"/>
              <a:ext cx="502" cy="365"/>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若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610182" name="对象 2610181"/>
            <p:cNvGraphicFramePr/>
            <p:nvPr/>
          </p:nvGraphicFramePr>
          <p:xfrm>
            <a:off x="890" y="1444"/>
            <a:ext cx="3765" cy="388"/>
          </p:xfrm>
          <a:graphic>
            <a:graphicData uri="http://schemas.openxmlformats.org/presentationml/2006/ole">
              <mc:AlternateContent xmlns:mc="http://schemas.openxmlformats.org/markup-compatibility/2006">
                <mc:Choice xmlns:v="urn:schemas-microsoft-com:vml" Requires="v">
                  <p:oleObj spid="_x0000_s3092" name="" r:id="rId1" imgW="2120900" imgH="228600" progId="Equation.3">
                    <p:embed/>
                  </p:oleObj>
                </mc:Choice>
                <mc:Fallback>
                  <p:oleObj name="" r:id="rId1" imgW="2120900" imgH="228600" progId="Equation.3">
                    <p:embed/>
                    <p:pic>
                      <p:nvPicPr>
                        <p:cNvPr id="0" name="图片 3091"/>
                        <p:cNvPicPr/>
                        <p:nvPr/>
                      </p:nvPicPr>
                      <p:blipFill>
                        <a:blip r:embed="rId2"/>
                        <a:stretch>
                          <a:fillRect/>
                        </a:stretch>
                      </p:blipFill>
                      <p:spPr>
                        <a:xfrm>
                          <a:off x="890" y="1444"/>
                          <a:ext cx="3765" cy="388"/>
                        </a:xfrm>
                        <a:prstGeom prst="rect">
                          <a:avLst/>
                        </a:prstGeom>
                        <a:noFill/>
                        <a:ln w="38100">
                          <a:noFill/>
                          <a:miter/>
                        </a:ln>
                      </p:spPr>
                    </p:pic>
                  </p:oleObj>
                </mc:Fallback>
              </mc:AlternateContent>
            </a:graphicData>
          </a:graphic>
        </p:graphicFrame>
      </p:grpSp>
      <p:grpSp>
        <p:nvGrpSpPr>
          <p:cNvPr id="2610183" name="组合 2610182"/>
          <p:cNvGrpSpPr/>
          <p:nvPr/>
        </p:nvGrpSpPr>
        <p:grpSpPr>
          <a:xfrm>
            <a:off x="684213" y="2997200"/>
            <a:ext cx="8215312" cy="631825"/>
            <a:chOff x="431" y="1888"/>
            <a:chExt cx="5176" cy="398"/>
          </a:xfrm>
        </p:grpSpPr>
        <p:sp>
          <p:nvSpPr>
            <p:cNvPr id="2610184" name="矩形 2610183"/>
            <p:cNvSpPr/>
            <p:nvPr/>
          </p:nvSpPr>
          <p:spPr>
            <a:xfrm>
              <a:off x="431" y="1888"/>
              <a:ext cx="889" cy="365"/>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rPr>
                <a:t>则    </a:t>
              </a:r>
              <a:endParaRPr lang="zh-CN" altLang="en-US" sz="3200" b="1" dirty="0">
                <a:solidFill>
                  <a:schemeClr val="tx1"/>
                </a:solidFill>
                <a:effectLst>
                  <a:outerShdw blurRad="38100" dist="38100" dir="2700000">
                    <a:srgbClr val="C0C0C0"/>
                  </a:outerShdw>
                </a:effectLst>
                <a:latin typeface="楷体_GB2312" pitchFamily="49" charset="-122"/>
                <a:ea typeface="楷体_GB2312" pitchFamily="49" charset="-122"/>
              </a:endParaRPr>
            </a:p>
          </p:txBody>
        </p:sp>
        <p:graphicFrame>
          <p:nvGraphicFramePr>
            <p:cNvPr id="2610185" name="对象 2610184"/>
            <p:cNvGraphicFramePr/>
            <p:nvPr/>
          </p:nvGraphicFramePr>
          <p:xfrm>
            <a:off x="838" y="1956"/>
            <a:ext cx="3675" cy="330"/>
          </p:xfrm>
          <a:graphic>
            <a:graphicData uri="http://schemas.openxmlformats.org/presentationml/2006/ole">
              <mc:AlternateContent xmlns:mc="http://schemas.openxmlformats.org/markup-compatibility/2006">
                <mc:Choice xmlns:v="urn:schemas-microsoft-com:vml" Requires="v">
                  <p:oleObj spid="_x0000_s3093" name="" r:id="rId3" imgW="2120900" imgH="203200" progId="Equation.3">
                    <p:embed/>
                  </p:oleObj>
                </mc:Choice>
                <mc:Fallback>
                  <p:oleObj name="" r:id="rId3" imgW="2120900" imgH="203200" progId="Equation.3">
                    <p:embed/>
                    <p:pic>
                      <p:nvPicPr>
                        <p:cNvPr id="0" name="图片 3092"/>
                        <p:cNvPicPr/>
                        <p:nvPr/>
                      </p:nvPicPr>
                      <p:blipFill>
                        <a:blip r:embed="rId4"/>
                        <a:stretch>
                          <a:fillRect/>
                        </a:stretch>
                      </p:blipFill>
                      <p:spPr>
                        <a:xfrm>
                          <a:off x="838" y="1956"/>
                          <a:ext cx="3675" cy="330"/>
                        </a:xfrm>
                        <a:prstGeom prst="rect">
                          <a:avLst/>
                        </a:prstGeom>
                        <a:noFill/>
                        <a:ln w="38100">
                          <a:noFill/>
                          <a:miter/>
                        </a:ln>
                      </p:spPr>
                    </p:pic>
                  </p:oleObj>
                </mc:Fallback>
              </mc:AlternateContent>
            </a:graphicData>
          </a:graphic>
        </p:graphicFrame>
        <p:sp>
          <p:nvSpPr>
            <p:cNvPr id="2610186" name="矩形 2610185"/>
            <p:cNvSpPr/>
            <p:nvPr/>
          </p:nvSpPr>
          <p:spPr>
            <a:xfrm>
              <a:off x="4650" y="1913"/>
              <a:ext cx="957" cy="327"/>
            </a:xfrm>
            <a:prstGeom prst="rect">
              <a:avLst/>
            </a:prstGeom>
            <a:noFill/>
            <a:ln w="9525">
              <a:noFill/>
            </a:ln>
          </p:spPr>
          <p:txBody>
            <a:bodyPr wrap="none" anchor="ctr" anchorCtr="0">
              <a:spAutoFit/>
            </a:bodyPr>
            <a:p>
              <a:pPr eaLnBrk="1" hangingPunct="1">
                <a:lnSpc>
                  <a:spcPct val="100000"/>
                </a:lnSpc>
              </a:pPr>
              <a:r>
                <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rPr>
                <a:t>( 10-12 ) </a:t>
              </a:r>
              <a:endParaRPr lang="en-US" altLang="zh-CN" sz="2800" b="1">
                <a:solidFill>
                  <a:schemeClr val="tx1"/>
                </a:solidFill>
                <a:effectLst>
                  <a:outerShdw blurRad="38100" dist="38100" dir="2700000">
                    <a:srgbClr val="C0C0C0"/>
                  </a:outerShdw>
                </a:effectLst>
                <a:latin typeface="Times New Roman" panose="02020603050405020304" pitchFamily="18" charset="0"/>
                <a:ea typeface="宋体" panose="02010600030101010101" pitchFamily="2" charset="-122"/>
              </a:endParaRPr>
            </a:p>
          </p:txBody>
        </p:sp>
      </p:grpSp>
      <p:sp>
        <p:nvSpPr>
          <p:cNvPr id="2610187" name="矩形 2610186"/>
          <p:cNvSpPr/>
          <p:nvPr/>
        </p:nvSpPr>
        <p:spPr>
          <a:xfrm>
            <a:off x="701675" y="4210050"/>
            <a:ext cx="7037388" cy="579438"/>
          </a:xfrm>
          <a:prstGeom prst="rect">
            <a:avLst/>
          </a:prstGeom>
          <a:noFill/>
          <a:ln w="9525">
            <a:noFill/>
          </a:ln>
        </p:spPr>
        <p:txBody>
          <a:bodyPr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复合滤波法流程图，如图</a:t>
            </a:r>
            <a:r>
              <a:rPr lang="en-US" altLang="zh-CN" sz="3200" b="1">
                <a:solidFill>
                  <a:schemeClr val="accent2"/>
                </a:solidFill>
                <a:effectLst>
                  <a:outerShdw blurRad="38100" dist="38100" dir="2700000">
                    <a:srgbClr val="C0C0C0"/>
                  </a:outerShdw>
                </a:effectLst>
                <a:latin typeface="Times New Roman" panose="02020603050405020304" pitchFamily="18" charset="0"/>
                <a:ea typeface="楷体_GB2312" pitchFamily="49" charset="-122"/>
              </a:rPr>
              <a:t>10-7</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所示。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0188" name="文本框 261018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10179"/>
                                        </p:tgtEl>
                                        <p:attrNameLst>
                                          <p:attrName>style.visibility</p:attrName>
                                        </p:attrNameLst>
                                      </p:cBhvr>
                                      <p:to>
                                        <p:strVal val="visible"/>
                                      </p:to>
                                    </p:set>
                                    <p:animEffect transition="in" filter="dissolve">
                                      <p:cBhvr>
                                        <p:cTn id="7" dur="500"/>
                                        <p:tgtEl>
                                          <p:spTgt spid="261017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610180"/>
                                        </p:tgtEl>
                                        <p:attrNameLst>
                                          <p:attrName>style.visibility</p:attrName>
                                        </p:attrNameLst>
                                      </p:cBhvr>
                                      <p:to>
                                        <p:strVal val="visible"/>
                                      </p:to>
                                    </p:set>
                                    <p:animEffect transition="in" filter="wipe(left)">
                                      <p:cBhvr>
                                        <p:cTn id="12" dur="500"/>
                                        <p:tgtEl>
                                          <p:spTgt spid="261018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10183"/>
                                        </p:tgtEl>
                                        <p:attrNameLst>
                                          <p:attrName>style.visibility</p:attrName>
                                        </p:attrNameLst>
                                      </p:cBhvr>
                                      <p:to>
                                        <p:strVal val="visible"/>
                                      </p:to>
                                    </p:set>
                                    <p:animEffect transition="in" filter="wipe(left)">
                                      <p:cBhvr>
                                        <p:cTn id="17" dur="500"/>
                                        <p:tgtEl>
                                          <p:spTgt spid="261018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610187"/>
                                        </p:tgtEl>
                                        <p:attrNameLst>
                                          <p:attrName>style.visibility</p:attrName>
                                        </p:attrNameLst>
                                      </p:cBhvr>
                                      <p:to>
                                        <p:strVal val="visible"/>
                                      </p:to>
                                    </p:set>
                                    <p:animEffect transition="in" filter="dissolve">
                                      <p:cBhvr>
                                        <p:cTn id="22" dur="500"/>
                                        <p:tgtEl>
                                          <p:spTgt spid="2610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0179" grpId="0"/>
      <p:bldP spid="2610187" grpId="0"/>
    </p:bld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611202" name="图片 2611201"/>
          <p:cNvPicPr>
            <a:picLocks noChangeAspect="1"/>
          </p:cNvPicPr>
          <p:nvPr/>
        </p:nvPicPr>
        <p:blipFill>
          <a:blip r:embed="rId1"/>
          <a:stretch>
            <a:fillRect/>
          </a:stretch>
        </p:blipFill>
        <p:spPr>
          <a:xfrm>
            <a:off x="5722938" y="836613"/>
            <a:ext cx="2663825" cy="4897437"/>
          </a:xfrm>
          <a:prstGeom prst="rect">
            <a:avLst/>
          </a:prstGeom>
          <a:noFill/>
          <a:ln w="9525">
            <a:noFill/>
          </a:ln>
        </p:spPr>
      </p:pic>
      <p:graphicFrame>
        <p:nvGraphicFramePr>
          <p:cNvPr id="2611216" name="表格 2611215"/>
          <p:cNvGraphicFramePr/>
          <p:nvPr/>
        </p:nvGraphicFramePr>
        <p:xfrm>
          <a:off x="5291138" y="5805488"/>
          <a:ext cx="3529013" cy="395288"/>
        </p:xfrm>
        <a:graphic>
          <a:graphicData uri="http://schemas.openxmlformats.org/drawingml/2006/table">
            <a:tbl>
              <a:tblPr/>
              <a:tblGrid>
                <a:gridCol w="3529013"/>
              </a:tblGrid>
              <a:tr h="395288">
                <a:tc>
                  <a:txBody>
                    <a:bodyPr/>
                    <a:lstStyle>
                      <a:lvl1pPr marL="254000" lvl="0" indent="-2540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u="none" kern="1200" baseline="0">
                          <a:solidFill>
                            <a:srgbClr val="000066"/>
                          </a:solidFill>
                          <a:latin typeface="Arial" panose="020B0604020202020204" pitchFamily="34" charset="0"/>
                          <a:ea typeface="宋体" panose="02010600030101010101" pitchFamily="2" charset="-122"/>
                        </a:defRPr>
                      </a:lvl1pPr>
                      <a:lvl2pPr marL="609600" lvl="1"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2pPr>
                      <a:lvl3pPr marL="1017905" lvl="2" indent="-2032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3pPr>
                      <a:lvl4pPr marL="1600200" lvl="3"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4pPr>
                      <a:lvl5pPr marL="2057400" lvl="4" indent="-228600" algn="l" defTabSz="678180" rtl="0" eaLnBrk="1" fontAlgn="base" latinLnBrk="0" hangingPunct="1">
                        <a:lnSpc>
                          <a:spcPct val="100000"/>
                        </a:lnSpc>
                        <a:spcBef>
                          <a:spcPct val="50000"/>
                        </a:spcBef>
                        <a:spcAft>
                          <a:spcPct val="0"/>
                        </a:spcAft>
                        <a:buClrTx/>
                        <a:buSzPct val="75000"/>
                        <a:buFont typeface="Wingdings" panose="05000000000000000000" pitchFamily="2" charset="2"/>
                        <a:buChar char="l"/>
                        <a:defRPr sz="1800" b="1" i="0" u="none" kern="1200" baseline="0">
                          <a:solidFill>
                            <a:srgbClr val="000066"/>
                          </a:solidFill>
                          <a:latin typeface="Arial" panose="020B0604020202020204" pitchFamily="34" charset="0"/>
                          <a:ea typeface="宋体" panose="02010600030101010101" pitchFamily="2" charset="-122"/>
                        </a:defRPr>
                      </a:lvl5pPr>
                    </a:lstStyle>
                    <a:p>
                      <a:pPr marL="0" lvl="0" indent="0" algn="ctr" defTabSz="914400">
                        <a:spcBef>
                          <a:spcPct val="0"/>
                        </a:spcBef>
                        <a:buNone/>
                      </a:pPr>
                      <a:r>
                        <a:rPr lang="zh-CN" altLang="en-US" sz="2000" b="0" dirty="0">
                          <a:effectLst>
                            <a:outerShdw blurRad="38100" dist="38100" dir="2700000">
                              <a:srgbClr val="C0C0C0"/>
                            </a:outerShdw>
                          </a:effectLst>
                          <a:latin typeface="楷体_GB2312" pitchFamily="49" charset="-122"/>
                          <a:ea typeface="楷体_GB2312" pitchFamily="49" charset="-122"/>
                        </a:rPr>
                        <a:t>图</a:t>
                      </a:r>
                      <a:r>
                        <a:rPr lang="en-US" altLang="zh-CN" sz="2000" b="0">
                          <a:effectLst>
                            <a:outerShdw blurRad="38100" dist="38100" dir="2700000">
                              <a:srgbClr val="C0C0C0"/>
                            </a:outerShdw>
                          </a:effectLst>
                          <a:latin typeface="Times New Roman" panose="02020603050405020304" pitchFamily="18" charset="0"/>
                          <a:ea typeface="楷体_GB2312" pitchFamily="49" charset="-122"/>
                        </a:rPr>
                        <a:t>10-7</a:t>
                      </a:r>
                      <a:r>
                        <a:rPr lang="en-US" altLang="zh-CN" sz="2000" b="0">
                          <a:effectLst>
                            <a:outerShdw blurRad="38100" dist="38100" dir="2700000">
                              <a:srgbClr val="C0C0C0"/>
                            </a:outerShdw>
                          </a:effectLst>
                          <a:latin typeface="楷体_GB2312" pitchFamily="49" charset="-122"/>
                          <a:ea typeface="楷体_GB2312" pitchFamily="49" charset="-122"/>
                        </a:rPr>
                        <a:t> </a:t>
                      </a:r>
                      <a:r>
                        <a:rPr lang="zh-CN" altLang="en-US" sz="2000" b="0" dirty="0">
                          <a:effectLst>
                            <a:outerShdw blurRad="38100" dist="38100" dir="2700000">
                              <a:srgbClr val="C0C0C0"/>
                            </a:outerShdw>
                          </a:effectLst>
                          <a:latin typeface="楷体_GB2312" pitchFamily="49" charset="-122"/>
                          <a:ea typeface="楷体_GB2312" pitchFamily="49" charset="-122"/>
                        </a:rPr>
                        <a:t>复合滤波程序框图</a:t>
                      </a:r>
                      <a:r>
                        <a:rPr lang="zh-CN" altLang="en-US" sz="1600" b="0" dirty="0">
                          <a:effectLst>
                            <a:outerShdw blurRad="38100" dist="38100" dir="2700000">
                              <a:srgbClr val="C0C0C0"/>
                            </a:outerShdw>
                          </a:effectLst>
                          <a:latin typeface="楷体_GB2312" pitchFamily="49" charset="-122"/>
                          <a:ea typeface="楷体_GB2312" pitchFamily="49" charset="-122"/>
                        </a:rPr>
                        <a:t> </a:t>
                      </a:r>
                      <a:endParaRPr lang="zh-CN" altLang="en-US" sz="1600" b="0" dirty="0">
                        <a:effectLst>
                          <a:outerShdw blurRad="38100" dist="38100" dir="2700000">
                            <a:srgbClr val="C0C0C0"/>
                          </a:outerShdw>
                        </a:effectLst>
                        <a:latin typeface="楷体_GB2312" pitchFamily="49" charset="-122"/>
                        <a:ea typeface="楷体_GB2312" pitchFamily="49" charset="-122"/>
                      </a:endParaRPr>
                    </a:p>
                  </a:txBody>
                  <a:tcPr>
                    <a:lnL cap="flat">
                      <a:noFill/>
                    </a:lnL>
                    <a:lnR cap="flat">
                      <a:noFill/>
                    </a:lnR>
                    <a:lnT cap="flat">
                      <a:noFill/>
                    </a:lnT>
                    <a:lnB cap="flat">
                      <a:noFill/>
                    </a:lnB>
                    <a:lnTlToBr>
                      <a:noFill/>
                    </a:lnTlToBr>
                    <a:lnBlToTr>
                      <a:noFill/>
                    </a:lnBlToTr>
                    <a:noFill/>
                  </a:tcPr>
                </a:tc>
              </a:tr>
            </a:tbl>
          </a:graphicData>
        </a:graphic>
      </p:graphicFrame>
      <p:sp>
        <p:nvSpPr>
          <p:cNvPr id="2611210" name="矩形 2611209"/>
          <p:cNvSpPr/>
          <p:nvPr/>
        </p:nvSpPr>
        <p:spPr>
          <a:xfrm>
            <a:off x="738188" y="981075"/>
            <a:ext cx="1817687" cy="579438"/>
          </a:xfrm>
          <a:prstGeom prst="rect">
            <a:avLst/>
          </a:prstGeom>
          <a:noFill/>
          <a:ln w="9525">
            <a:noFill/>
          </a:ln>
        </p:spPr>
        <p:txBody>
          <a:bodyPr wrap="none"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优点：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1211" name="矩形 2611210"/>
          <p:cNvSpPr/>
          <p:nvPr/>
        </p:nvSpPr>
        <p:spPr>
          <a:xfrm>
            <a:off x="1836738" y="884238"/>
            <a:ext cx="3663950" cy="1844675"/>
          </a:xfrm>
          <a:prstGeom prst="rect">
            <a:avLst/>
          </a:prstGeom>
          <a:noFill/>
          <a:ln w="9525">
            <a:noFill/>
          </a:ln>
        </p:spPr>
        <p:txBody>
          <a:bodyPr anchor="ctr" anchorCtr="0">
            <a:spAutoFit/>
          </a:bodyPr>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既可以去掉脉冲干</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扰，</a:t>
            </a: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又可对采样值</a:t>
            </a:r>
            <a:endPar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Arial" panose="020B0604020202020204" pitchFamily="34" charset="0"/>
                <a:ea typeface="楷体_GB2312" pitchFamily="49" charset="-122"/>
              </a:rPr>
              <a:t>进行平滑处理。</a:t>
            </a:r>
            <a:r>
              <a:rPr lang="zh-CN" altLang="en-US" sz="1800" b="0" dirty="0">
                <a:solidFill>
                  <a:schemeClr val="accent2"/>
                </a:solidFill>
                <a:latin typeface="Arial" panose="020B0604020202020204" pitchFamily="34" charset="0"/>
                <a:ea typeface="宋体" panose="02010600030101010101" pitchFamily="2"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1212" name="矩形 2611211"/>
          <p:cNvSpPr/>
          <p:nvPr/>
        </p:nvSpPr>
        <p:spPr>
          <a:xfrm>
            <a:off x="763588" y="3736975"/>
            <a:ext cx="4535487" cy="2428875"/>
          </a:xfrm>
          <a:prstGeom prst="rect">
            <a:avLst/>
          </a:prstGeom>
          <a:noFill/>
          <a:ln w="9525">
            <a:noFill/>
          </a:ln>
        </p:spPr>
        <p:txBody>
          <a:bodyPr anchor="ctr" anchorCtr="0">
            <a:spAutoFit/>
          </a:bodyPr>
          <a:p>
            <a:pPr eaLnBrk="1" hangingPunct="1">
              <a:lnSpc>
                <a:spcPct val="120000"/>
              </a:lnSpc>
            </a:pP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在高、低速数据采</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集系统中，它都能削弱</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干扰，提高数据处理质</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量。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1213" name="矩形 2611212"/>
          <p:cNvSpPr/>
          <p:nvPr/>
        </p:nvSpPr>
        <p:spPr>
          <a:xfrm>
            <a:off x="755650" y="2897188"/>
            <a:ext cx="1817688" cy="579437"/>
          </a:xfrm>
          <a:prstGeom prst="rect">
            <a:avLst/>
          </a:prstGeom>
          <a:noFill/>
          <a:ln w="9525">
            <a:noFill/>
          </a:ln>
        </p:spPr>
        <p:txBody>
          <a:bodyPr wrap="none"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缺点：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1214" name="矩形 2611213"/>
          <p:cNvSpPr/>
          <p:nvPr/>
        </p:nvSpPr>
        <p:spPr>
          <a:xfrm>
            <a:off x="1620838" y="2824163"/>
            <a:ext cx="3663950" cy="676275"/>
          </a:xfrm>
          <a:prstGeom prst="rect">
            <a:avLst/>
          </a:prstGeom>
          <a:noFill/>
          <a:ln w="9525">
            <a:noFill/>
          </a:ln>
        </p:spPr>
        <p:txBody>
          <a:bodyPr anchor="ctr" anchorCtr="0">
            <a:spAutoFit/>
          </a:bodyPr>
          <a:p>
            <a:pPr eaLnBrk="1" hangingPunct="1">
              <a:lnSpc>
                <a:spcPct val="120000"/>
              </a:lnSpc>
            </a:pPr>
            <a:r>
              <a:rPr lang="en-US" altLang="zh-CN" sz="1800" b="0" dirty="0">
                <a:solidFill>
                  <a:schemeClr val="accent2"/>
                </a:solidFill>
                <a:latin typeface="Arial" panose="020B0604020202020204" pitchFamily="34" charset="0"/>
                <a:ea typeface="宋体" panose="02010600030101010101" pitchFamily="2" charset="-122"/>
              </a:rPr>
              <a:t> </a:t>
            </a: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计算时间稍长。</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1215" name="文本框 2611214"/>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11202"/>
                                        </p:tgtEl>
                                        <p:attrNameLst>
                                          <p:attrName>style.visibility</p:attrName>
                                        </p:attrNameLst>
                                      </p:cBhvr>
                                      <p:to>
                                        <p:strVal val="visible"/>
                                      </p:to>
                                    </p:set>
                                    <p:animEffect transition="in" filter="dissolve">
                                      <p:cBhvr>
                                        <p:cTn id="7" dur="500"/>
                                        <p:tgtEl>
                                          <p:spTgt spid="2611202"/>
                                        </p:tgtEl>
                                      </p:cBhvr>
                                    </p:animEffect>
                                  </p:childTnLst>
                                </p:cTn>
                              </p:par>
                              <p:par>
                                <p:cTn id="8" presetID="9" presetClass="entr" presetSubtype="0" fill="hold" nodeType="withEffect">
                                  <p:stCondLst>
                                    <p:cond delay="0"/>
                                  </p:stCondLst>
                                  <p:childTnLst>
                                    <p:set>
                                      <p:cBhvr>
                                        <p:cTn id="9" dur="1" fill="hold">
                                          <p:stCondLst>
                                            <p:cond delay="0"/>
                                          </p:stCondLst>
                                        </p:cTn>
                                        <p:tgtEl>
                                          <p:spTgt spid="2611216"/>
                                        </p:tgtEl>
                                        <p:attrNameLst>
                                          <p:attrName>style.visibility</p:attrName>
                                        </p:attrNameLst>
                                      </p:cBhvr>
                                      <p:to>
                                        <p:strVal val="visible"/>
                                      </p:to>
                                    </p:set>
                                    <p:animEffect transition="in" filter="dissolve">
                                      <p:cBhvr>
                                        <p:cTn id="10" dur="500"/>
                                        <p:tgtEl>
                                          <p:spTgt spid="261121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611210"/>
                                        </p:tgtEl>
                                        <p:attrNameLst>
                                          <p:attrName>style.visibility</p:attrName>
                                        </p:attrNameLst>
                                      </p:cBhvr>
                                      <p:to>
                                        <p:strVal val="visible"/>
                                      </p:to>
                                    </p:set>
                                    <p:animEffect transition="in" filter="dissolve">
                                      <p:cBhvr>
                                        <p:cTn id="15" dur="500"/>
                                        <p:tgtEl>
                                          <p:spTgt spid="26112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611211"/>
                                        </p:tgtEl>
                                        <p:attrNameLst>
                                          <p:attrName>style.visibility</p:attrName>
                                        </p:attrNameLst>
                                      </p:cBhvr>
                                      <p:to>
                                        <p:strVal val="visible"/>
                                      </p:to>
                                    </p:set>
                                    <p:animEffect transition="in" filter="dissolve">
                                      <p:cBhvr>
                                        <p:cTn id="20" dur="500"/>
                                        <p:tgtEl>
                                          <p:spTgt spid="2611211"/>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611213"/>
                                        </p:tgtEl>
                                        <p:attrNameLst>
                                          <p:attrName>style.visibility</p:attrName>
                                        </p:attrNameLst>
                                      </p:cBhvr>
                                      <p:to>
                                        <p:strVal val="visible"/>
                                      </p:to>
                                    </p:set>
                                    <p:animEffect transition="in" filter="dissolve">
                                      <p:cBhvr>
                                        <p:cTn id="25" dur="500"/>
                                        <p:tgtEl>
                                          <p:spTgt spid="261121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611214">
                                            <p:txEl>
                                              <p:charRg st="0" end="10"/>
                                            </p:txEl>
                                          </p:spTgt>
                                        </p:tgtEl>
                                        <p:attrNameLst>
                                          <p:attrName>style.visibility</p:attrName>
                                        </p:attrNameLst>
                                      </p:cBhvr>
                                      <p:to>
                                        <p:strVal val="visible"/>
                                      </p:to>
                                    </p:set>
                                    <p:animEffect transition="in" filter="dissolve">
                                      <p:cBhvr>
                                        <p:cTn id="30" dur="500"/>
                                        <p:tgtEl>
                                          <p:spTgt spid="2611214">
                                            <p:txEl>
                                              <p:charRg st="0" end="1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2611212"/>
                                        </p:tgtEl>
                                        <p:attrNameLst>
                                          <p:attrName>style.visibility</p:attrName>
                                        </p:attrNameLst>
                                      </p:cBhvr>
                                      <p:to>
                                        <p:strVal val="visible"/>
                                      </p:to>
                                    </p:set>
                                    <p:animEffect transition="in" filter="dissolve">
                                      <p:cBhvr>
                                        <p:cTn id="35" dur="500"/>
                                        <p:tgtEl>
                                          <p:spTgt spid="2611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1210" grpId="0"/>
      <p:bldP spid="2611211" grpId="0"/>
      <p:bldP spid="2611212" grpId="0"/>
      <p:bldP spid="2611213" grpId="0"/>
      <p:bldP spid="2611214" grpId="0" build="p"/>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2227" name="矩形 2612226"/>
          <p:cNvSpPr/>
          <p:nvPr/>
        </p:nvSpPr>
        <p:spPr>
          <a:xfrm>
            <a:off x="755650" y="1196975"/>
            <a:ext cx="3654425" cy="579438"/>
          </a:xfrm>
          <a:prstGeom prst="rect">
            <a:avLst/>
          </a:prstGeom>
          <a:noFill/>
          <a:ln w="9525">
            <a:noFill/>
          </a:ln>
        </p:spPr>
        <p:txBody>
          <a:bodyPr wrap="none" anchor="ctr" anchorCtr="0">
            <a:spAutoFit/>
          </a:bodyPr>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值得说明的是：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2228" name="矩形 2612227"/>
          <p:cNvSpPr/>
          <p:nvPr/>
        </p:nvSpPr>
        <p:spPr>
          <a:xfrm>
            <a:off x="3560763" y="1192213"/>
            <a:ext cx="5402262" cy="1066800"/>
          </a:xfrm>
          <a:prstGeom prst="rect">
            <a:avLst/>
          </a:prstGeom>
          <a:noFill/>
          <a:ln w="9525">
            <a:noFill/>
          </a:ln>
        </p:spPr>
        <p:txBody>
          <a:bodyPr anchor="ctr" anchorCtr="0">
            <a:spAutoFit/>
          </a:bodyPr>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要根据实际情况正确选择数字滤波方法。 </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2229" name="矩形 2612228"/>
          <p:cNvSpPr/>
          <p:nvPr/>
        </p:nvSpPr>
        <p:spPr>
          <a:xfrm>
            <a:off x="665163" y="2811463"/>
            <a:ext cx="8081962" cy="1554162"/>
          </a:xfrm>
          <a:prstGeom prst="rect">
            <a:avLst/>
          </a:prstGeom>
          <a:noFill/>
          <a:ln w="9525">
            <a:noFill/>
          </a:ln>
        </p:spPr>
        <p:txBody>
          <a:bodyPr anchor="ctr" anchorCtr="0">
            <a:spAutoFit/>
          </a:bodyPr>
          <a:p>
            <a:pPr eaLnBrk="1" hangingPunct="1">
              <a:lnSpc>
                <a:spcPct val="100000"/>
              </a:lnSpc>
            </a:pP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如在自动调节系统中，不恰当地采用数</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字滤波会把偏差值滤掉，使系统失去调节作</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用。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2230" name="矩形 2612229"/>
          <p:cNvSpPr/>
          <p:nvPr/>
        </p:nvSpPr>
        <p:spPr>
          <a:xfrm>
            <a:off x="684213" y="4868863"/>
            <a:ext cx="8135937" cy="1066800"/>
          </a:xfrm>
          <a:prstGeom prst="rect">
            <a:avLst/>
          </a:prstGeom>
          <a:noFill/>
          <a:ln w="9525">
            <a:noFill/>
          </a:ln>
        </p:spPr>
        <p:txBody>
          <a:bodyPr anchor="ctr" anchorCtr="0">
            <a:spAutoFit/>
          </a:bodyPr>
          <a:p>
            <a:pPr indent="12700" defTabSz="914400" eaLnBrk="1" hangingPunct="1">
              <a:lnSpc>
                <a:spcPct val="100000"/>
              </a:lnSpc>
              <a:tabLst>
                <a:tab pos="-1295400" algn="l"/>
              </a:tabLst>
            </a:pPr>
            <a:r>
              <a:rPr lang="en-US" altLang="zh-CN"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       </a:t>
            </a: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一定要根据实验来确定，千万不要凭想</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a:p>
            <a:pPr indent="12700" defTabSz="914400" eaLnBrk="1" hangingPunct="1">
              <a:lnSpc>
                <a:spcPct val="100000"/>
              </a:lnSpc>
              <a:tabLst>
                <a:tab pos="-1295400" algn="l"/>
              </a:tabLst>
            </a:pPr>
            <a:r>
              <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rPr>
              <a:t>象行事。</a:t>
            </a:r>
            <a:endParaRPr lang="zh-CN" altLang="en-US" sz="3200" b="1" dirty="0">
              <a:solidFill>
                <a:srgbClr val="3333FF"/>
              </a:solidFill>
              <a:effectLst>
                <a:outerShdw blurRad="38100" dist="38100" dir="2700000">
                  <a:srgbClr val="C0C0C0"/>
                </a:outerShdw>
              </a:effectLst>
              <a:latin typeface="Arial" panose="020B0604020202020204" pitchFamily="34" charset="0"/>
              <a:ea typeface="楷体_GB2312" pitchFamily="49" charset="-122"/>
            </a:endParaRPr>
          </a:p>
        </p:txBody>
      </p:sp>
      <p:sp>
        <p:nvSpPr>
          <p:cNvPr id="2612231" name="文本框 2612230"/>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10.2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采样数据的数字滤波</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12227"/>
                                        </p:tgtEl>
                                        <p:attrNameLst>
                                          <p:attrName>style.visibility</p:attrName>
                                        </p:attrNameLst>
                                      </p:cBhvr>
                                      <p:to>
                                        <p:strVal val="visible"/>
                                      </p:to>
                                    </p:set>
                                    <p:animEffect transition="in" filter="dissolve">
                                      <p:cBhvr>
                                        <p:cTn id="7" dur="500"/>
                                        <p:tgtEl>
                                          <p:spTgt spid="26122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612228"/>
                                        </p:tgtEl>
                                        <p:attrNameLst>
                                          <p:attrName>style.visibility</p:attrName>
                                        </p:attrNameLst>
                                      </p:cBhvr>
                                      <p:to>
                                        <p:strVal val="visible"/>
                                      </p:to>
                                    </p:set>
                                    <p:animEffect transition="in" filter="dissolve">
                                      <p:cBhvr>
                                        <p:cTn id="12" dur="500"/>
                                        <p:tgtEl>
                                          <p:spTgt spid="26122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612229"/>
                                        </p:tgtEl>
                                        <p:attrNameLst>
                                          <p:attrName>style.visibility</p:attrName>
                                        </p:attrNameLst>
                                      </p:cBhvr>
                                      <p:to>
                                        <p:strVal val="visible"/>
                                      </p:to>
                                    </p:set>
                                    <p:animEffect transition="in" filter="dissolve">
                                      <p:cBhvr>
                                        <p:cTn id="17" dur="500"/>
                                        <p:tgtEl>
                                          <p:spTgt spid="261222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612230">
                                            <p:txEl>
                                              <p:charRg st="0" end="25"/>
                                            </p:txEl>
                                          </p:spTgt>
                                        </p:tgtEl>
                                        <p:attrNameLst>
                                          <p:attrName>style.visibility</p:attrName>
                                        </p:attrNameLst>
                                      </p:cBhvr>
                                      <p:to>
                                        <p:strVal val="visible"/>
                                      </p:to>
                                    </p:set>
                                    <p:animEffect transition="in" filter="dissolve">
                                      <p:cBhvr>
                                        <p:cTn id="22" dur="500"/>
                                        <p:tgtEl>
                                          <p:spTgt spid="2612230">
                                            <p:txEl>
                                              <p:charRg st="0" end="25"/>
                                            </p:txEl>
                                          </p:spTgt>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612230">
                                            <p:txEl>
                                              <p:charRg st="25" end="30"/>
                                            </p:txEl>
                                          </p:spTgt>
                                        </p:tgtEl>
                                        <p:attrNameLst>
                                          <p:attrName>style.visibility</p:attrName>
                                        </p:attrNameLst>
                                      </p:cBhvr>
                                      <p:to>
                                        <p:strVal val="visible"/>
                                      </p:to>
                                    </p:set>
                                    <p:animEffect transition="in" filter="dissolve">
                                      <p:cBhvr>
                                        <p:cTn id="25" dur="500"/>
                                        <p:tgtEl>
                                          <p:spTgt spid="2612230">
                                            <p:txEl>
                                              <p:charRg st="25" end="3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2227" grpId="0"/>
      <p:bldP spid="2612228" grpId="0"/>
      <p:bldP spid="2612229" grpId="0"/>
      <p:bldP spid="2612230" grpId="0" uiExpand="1" build="p"/>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3250" name="文本框 2613249"/>
          <p:cNvSpPr txBox="1"/>
          <p:nvPr/>
        </p:nvSpPr>
        <p:spPr>
          <a:xfrm>
            <a:off x="684213" y="1125538"/>
            <a:ext cx="7812087" cy="4381500"/>
          </a:xfrm>
          <a:prstGeom prst="rect">
            <a:avLst/>
          </a:prstGeom>
          <a:noFill/>
          <a:ln w="9525">
            <a:noFill/>
          </a:ln>
        </p:spPr>
        <p:txBody>
          <a:bodyPr lIns="0" tIns="0" rIns="0" bIns="0">
            <a:spAutoFit/>
          </a:bodyPr>
          <a:p>
            <a:pPr eaLnBrk="1" hangingPunct="1">
              <a:lnSpc>
                <a:spcPct val="120000"/>
              </a:lnSpc>
              <a:spcBef>
                <a:spcPct val="30000"/>
              </a:spcBef>
            </a:pPr>
            <a:r>
              <a:rPr lang="en-US" altLang="zh-CN" sz="3200" b="1" dirty="0">
                <a:solidFill>
                  <a:schemeClr val="accent2"/>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采样数据中的奇异项</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是指采样数据序列中有明显错误（丢失或粗大）的个别数据。</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这此数据的存在，会使数据处理后的误差大大增加，因此必须剔除奇异项。　</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rPr>
              <a:t>    在采样数据序列中确定哪些是奇异项，要根据具体的被测物理过程和数据采集系统的精度而定。</a:t>
            </a:r>
            <a:endParaRPr lang="zh-CN" altLang="en-US" sz="3200" b="1" dirty="0">
              <a:solidFill>
                <a:schemeClr val="accent2"/>
              </a:solidFill>
              <a:effectLst>
                <a:outerShdw blurRad="38100" dist="38100" dir="2700000">
                  <a:srgbClr val="C0C0C0"/>
                </a:outerShdw>
              </a:effectLst>
              <a:latin typeface="楷体_GB2312" pitchFamily="49" charset="-122"/>
              <a:ea typeface="楷体_GB2312" pitchFamily="49" charset="-122"/>
            </a:endParaRPr>
          </a:p>
        </p:txBody>
      </p:sp>
      <p:sp>
        <p:nvSpPr>
          <p:cNvPr id="2613252" name="文本框 2613251"/>
          <p:cNvSpPr txBox="1"/>
          <p:nvPr/>
        </p:nvSpPr>
        <p:spPr>
          <a:xfrm>
            <a:off x="1008063" y="49213"/>
            <a:ext cx="7307262"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10.3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剔除采样数据中的奇异项</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2613250">
                                            <p:txEl>
                                              <p:charRg st="0" end="41"/>
                                            </p:txEl>
                                          </p:spTgt>
                                        </p:tgtEl>
                                        <p:attrNameLst>
                                          <p:attrName>style.visibility</p:attrName>
                                        </p:attrNameLst>
                                      </p:cBhvr>
                                      <p:to>
                                        <p:strVal val="visible"/>
                                      </p:to>
                                    </p:set>
                                    <p:anim to="" calcmode="lin" valueType="num">
                                      <p:cBhvr>
                                        <p:cTn id="7" dur="1" fill="hold"/>
                                        <p:tgtEl>
                                          <p:spTgt spid="2613250">
                                            <p:txEl>
                                              <p:charRg st="0" end="41"/>
                                            </p:txEl>
                                          </p:spTgt>
                                        </p:tgtEl>
                                        <p:attrNameLst>
                                          <p:attrName>style.visibility</p:attrName>
                                        </p:attrNameLst>
                                      </p:cBhvr>
                                    </p:anim>
                                  </p:childTnLst>
                                </p:cTn>
                              </p:par>
                            </p:childTnLst>
                          </p:cTn>
                        </p:par>
                      </p:childTnLst>
                    </p:cTn>
                  </p:par>
                  <p:par>
                    <p:cTn id="8" fill="hold">
                      <p:stCondLst>
                        <p:cond delay="indefinite"/>
                      </p:stCondLst>
                      <p:childTnLst>
                        <p:par>
                          <p:cTn id="9" fill="hold">
                            <p:stCondLst>
                              <p:cond delay="0"/>
                            </p:stCondLst>
                            <p:childTnLst>
                              <p:par>
                                <p:cTn id="10" presetID="24" presetClass="entr" presetSubtype="0" fill="hold" grpId="0" nodeType="clickEffect">
                                  <p:stCondLst>
                                    <p:cond delay="0"/>
                                  </p:stCondLst>
                                  <p:childTnLst>
                                    <p:set>
                                      <p:cBhvr>
                                        <p:cTn id="11" dur="1" fill="hold">
                                          <p:stCondLst>
                                            <p:cond delay="0"/>
                                          </p:stCondLst>
                                        </p:cTn>
                                        <p:tgtEl>
                                          <p:spTgt spid="2613250">
                                            <p:txEl>
                                              <p:charRg st="41" end="80"/>
                                            </p:txEl>
                                          </p:spTgt>
                                        </p:tgtEl>
                                        <p:attrNameLst>
                                          <p:attrName>style.visibility</p:attrName>
                                        </p:attrNameLst>
                                      </p:cBhvr>
                                      <p:to>
                                        <p:strVal val="visible"/>
                                      </p:to>
                                    </p:set>
                                    <p:anim to="" calcmode="lin" valueType="num">
                                      <p:cBhvr>
                                        <p:cTn id="12" dur="1" fill="hold"/>
                                        <p:tgtEl>
                                          <p:spTgt spid="2613250">
                                            <p:txEl>
                                              <p:charRg st="41" end="80"/>
                                            </p:txEl>
                                          </p:spTgt>
                                        </p:tgtEl>
                                        <p:attrNameLst>
                                          <p:attrName>style.visibility</p:attrName>
                                        </p:attrNameLst>
                                      </p:cBhvr>
                                    </p:anim>
                                  </p:childTnLst>
                                </p:cTn>
                              </p:par>
                            </p:childTnLst>
                          </p:cTn>
                        </p:par>
                      </p:childTnLst>
                    </p:cTn>
                  </p:par>
                  <p:par>
                    <p:cTn id="13" fill="hold">
                      <p:stCondLst>
                        <p:cond delay="indefinite"/>
                      </p:stCondLst>
                      <p:childTnLst>
                        <p:par>
                          <p:cTn id="14" fill="hold">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2613250">
                                            <p:txEl>
                                              <p:charRg st="80" end="127"/>
                                            </p:txEl>
                                          </p:spTgt>
                                        </p:tgtEl>
                                        <p:attrNameLst>
                                          <p:attrName>style.visibility</p:attrName>
                                        </p:attrNameLst>
                                      </p:cBhvr>
                                      <p:to>
                                        <p:strVal val="visible"/>
                                      </p:to>
                                    </p:set>
                                    <p:anim to="" calcmode="lin" valueType="num">
                                      <p:cBhvr>
                                        <p:cTn id="17" dur="1" fill="hold"/>
                                        <p:tgtEl>
                                          <p:spTgt spid="2613250">
                                            <p:txEl>
                                              <p:charRg st="80" end="127"/>
                                            </p:txEl>
                                          </p:spTgt>
                                        </p:tgtEl>
                                        <p:attrNameLst>
                                          <p:attrName>style.visibility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3250" grpId="0" uiExpand="1" build="p"/>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4274" name="矩形 2614273"/>
          <p:cNvSpPr/>
          <p:nvPr/>
        </p:nvSpPr>
        <p:spPr>
          <a:xfrm>
            <a:off x="612775" y="2205038"/>
            <a:ext cx="7920038" cy="1844675"/>
          </a:xfrm>
          <a:prstGeom prst="rect">
            <a:avLst/>
          </a:prstGeom>
          <a:noFill/>
          <a:ln w="9525">
            <a:noFill/>
          </a:ln>
        </p:spPr>
        <p:txBody>
          <a:bodyPr>
            <a:spAutoFit/>
          </a:bodyPr>
          <a:p>
            <a:pPr eaLnBrk="1" hangingPunct="1">
              <a:lnSpc>
                <a:spcPct val="12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剔除奇异项的方法，一般可选用差分法、多项式逼近和最小二乘法。它们之间的区别只是在于所选的算法上，其它方面大致相同。</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4276" name="文本框 2614275"/>
          <p:cNvSpPr txBox="1"/>
          <p:nvPr/>
        </p:nvSpPr>
        <p:spPr>
          <a:xfrm>
            <a:off x="1008063" y="49213"/>
            <a:ext cx="7307262"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10.3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剔除采样数据中的奇异项</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14274"/>
                                        </p:tgtEl>
                                        <p:attrNameLst>
                                          <p:attrName>style.visibility</p:attrName>
                                        </p:attrNameLst>
                                      </p:cBhvr>
                                      <p:to>
                                        <p:strVal val="visible"/>
                                      </p:to>
                                    </p:set>
                                    <p:animEffect transition="in" filter="dissolve">
                                      <p:cBhvr>
                                        <p:cTn id="7" dur="500"/>
                                        <p:tgtEl>
                                          <p:spTgt spid="2614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4274" grpId="0"/>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5298" name="文本框 2615297"/>
          <p:cNvSpPr txBox="1"/>
          <p:nvPr/>
        </p:nvSpPr>
        <p:spPr>
          <a:xfrm>
            <a:off x="720725" y="1125538"/>
            <a:ext cx="8027988" cy="4527550"/>
          </a:xfrm>
          <a:prstGeom prst="rect">
            <a:avLst/>
          </a:prstGeom>
          <a:noFill/>
          <a:ln w="9525">
            <a:noFill/>
          </a:ln>
        </p:spPr>
        <p:txBody>
          <a:bodyPr lIns="0" tIns="0" rIns="0" bIns="0">
            <a:spAutoFit/>
          </a:bodyPr>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待处理数据，通常包含两种分量：</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en-US" altLang="zh-CN" sz="3200" b="1">
                <a:solidFill>
                  <a:srgbClr val="3333FF"/>
                </a:solidFill>
                <a:effectLst>
                  <a:outerShdw blurRad="38100" dist="38100" dir="2700000">
                    <a:srgbClr val="C0C0C0"/>
                  </a:outerShdw>
                </a:effectLst>
                <a:latin typeface="楷体_GB2312" pitchFamily="49" charset="-122"/>
                <a:ea typeface="楷体_GB2312" pitchFamily="49" charset="-122"/>
              </a:rPr>
              <a:t>1</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）周期大于数据采样周期的频率成分，称为</a:t>
            </a:r>
            <a:r>
              <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rPr>
              <a:t>趋势项</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a:t>
            </a:r>
            <a:endParaRPr lang="zh-CN" altLang="en-US" sz="3200" b="1">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en-US" altLang="zh-CN" sz="3200" b="1">
                <a:solidFill>
                  <a:srgbClr val="3333FF"/>
                </a:solidFill>
                <a:effectLst>
                  <a:outerShdw blurRad="38100" dist="38100" dir="2700000">
                    <a:srgbClr val="C0C0C0"/>
                  </a:outerShdw>
                </a:effectLst>
                <a:latin typeface="楷体_GB2312" pitchFamily="49" charset="-122"/>
                <a:ea typeface="楷体_GB2312" pitchFamily="49" charset="-122"/>
              </a:rPr>
              <a:t>2</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）周期小于数据采样周期的频率成分，称为</a:t>
            </a:r>
            <a:r>
              <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rPr>
              <a:t>交变分量</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在数据处理时，并不在任何情况下都需要两种分量。</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5300" name="文本框 2615299"/>
          <p:cNvSpPr txBox="1"/>
          <p:nvPr/>
        </p:nvSpPr>
        <p:spPr>
          <a:xfrm>
            <a:off x="827088" y="49213"/>
            <a:ext cx="7488237"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10.4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去除或提取采样数据趋势项</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499"/>
                                          </p:stCondLst>
                                        </p:cTn>
                                        <p:tgtEl>
                                          <p:spTgt spid="2615298">
                                            <p:txEl>
                                              <p:charRg st="0" end="19"/>
                                            </p:txEl>
                                          </p:spTgt>
                                        </p:tgtEl>
                                        <p:attrNameLst>
                                          <p:attrName>style.visibility</p:attrName>
                                        </p:attrNameLst>
                                      </p:cBhvr>
                                      <p:to>
                                        <p:strVal val="visible"/>
                                      </p:to>
                                    </p:set>
                                    <p:anim to="" calcmode="lin" valueType="num">
                                      <p:cBhvr>
                                        <p:cTn id="7" dur="1" fill="hold"/>
                                        <p:tgtEl>
                                          <p:spTgt spid="2615298">
                                            <p:txEl>
                                              <p:charRg st="0" end="19"/>
                                            </p:txEl>
                                          </p:spTgt>
                                        </p:tgtEl>
                                        <p:attrNameLst>
                                          <p:attrName>style.visibility</p:attrName>
                                        </p:attrNameLst>
                                      </p:cBhvr>
                                    </p:anim>
                                  </p:childTnLst>
                                </p:cTn>
                              </p:par>
                            </p:childTnLst>
                          </p:cTn>
                        </p:par>
                      </p:childTnLst>
                    </p:cTn>
                  </p:par>
                  <p:par>
                    <p:cTn id="8" fill="hold">
                      <p:stCondLst>
                        <p:cond delay="indefinite"/>
                      </p:stCondLst>
                      <p:childTnLst>
                        <p:par>
                          <p:cTn id="9" fill="hold">
                            <p:stCondLst>
                              <p:cond delay="0"/>
                            </p:stCondLst>
                            <p:childTnLst>
                              <p:par>
                                <p:cTn id="10" presetID="24" presetClass="entr" presetSubtype="0" fill="hold" grpId="0" nodeType="clickEffect">
                                  <p:stCondLst>
                                    <p:cond delay="0"/>
                                  </p:stCondLst>
                                  <p:childTnLst>
                                    <p:set>
                                      <p:cBhvr>
                                        <p:cTn id="11" dur="1" fill="hold">
                                          <p:stCondLst>
                                            <p:cond delay="499"/>
                                          </p:stCondLst>
                                        </p:cTn>
                                        <p:tgtEl>
                                          <p:spTgt spid="2615298">
                                            <p:txEl>
                                              <p:charRg st="19" end="48"/>
                                            </p:txEl>
                                          </p:spTgt>
                                        </p:tgtEl>
                                        <p:attrNameLst>
                                          <p:attrName>style.visibility</p:attrName>
                                        </p:attrNameLst>
                                      </p:cBhvr>
                                      <p:to>
                                        <p:strVal val="visible"/>
                                      </p:to>
                                    </p:set>
                                    <p:anim to="" calcmode="lin" valueType="num">
                                      <p:cBhvr>
                                        <p:cTn id="12" dur="1" fill="hold"/>
                                        <p:tgtEl>
                                          <p:spTgt spid="2615298">
                                            <p:txEl>
                                              <p:charRg st="19" end="48"/>
                                            </p:txEl>
                                          </p:spTgt>
                                        </p:tgtEl>
                                        <p:attrNameLst>
                                          <p:attrName>style.visibility</p:attrName>
                                        </p:attrNameLst>
                                      </p:cBhvr>
                                    </p:anim>
                                  </p:childTnLst>
                                </p:cTn>
                              </p:par>
                            </p:childTnLst>
                          </p:cTn>
                        </p:par>
                      </p:childTnLst>
                    </p:cTn>
                  </p:par>
                  <p:par>
                    <p:cTn id="13" fill="hold">
                      <p:stCondLst>
                        <p:cond delay="indefinite"/>
                      </p:stCondLst>
                      <p:childTnLst>
                        <p:par>
                          <p:cTn id="14" fill="hold">
                            <p:stCondLst>
                              <p:cond delay="0"/>
                            </p:stCondLst>
                            <p:childTnLst>
                              <p:par>
                                <p:cTn id="15" presetID="24" presetClass="entr" presetSubtype="0" fill="hold" grpId="0" nodeType="clickEffect">
                                  <p:stCondLst>
                                    <p:cond delay="0"/>
                                  </p:stCondLst>
                                  <p:childTnLst>
                                    <p:set>
                                      <p:cBhvr>
                                        <p:cTn id="16" dur="1" fill="hold">
                                          <p:stCondLst>
                                            <p:cond delay="499"/>
                                          </p:stCondLst>
                                        </p:cTn>
                                        <p:tgtEl>
                                          <p:spTgt spid="2615298">
                                            <p:txEl>
                                              <p:charRg st="48" end="78"/>
                                            </p:txEl>
                                          </p:spTgt>
                                        </p:tgtEl>
                                        <p:attrNameLst>
                                          <p:attrName>style.visibility</p:attrName>
                                        </p:attrNameLst>
                                      </p:cBhvr>
                                      <p:to>
                                        <p:strVal val="visible"/>
                                      </p:to>
                                    </p:set>
                                    <p:anim to="" calcmode="lin" valueType="num">
                                      <p:cBhvr>
                                        <p:cTn id="17" dur="1" fill="hold"/>
                                        <p:tgtEl>
                                          <p:spTgt spid="2615298">
                                            <p:txEl>
                                              <p:charRg st="48" end="78"/>
                                            </p:txEl>
                                          </p:spTgt>
                                        </p:tgtEl>
                                        <p:attrNameLst>
                                          <p:attrName>style.visibility</p:attrName>
                                        </p:attrNameLst>
                                      </p:cBhvr>
                                    </p:anim>
                                  </p:childTnLst>
                                </p:cTn>
                              </p:par>
                            </p:childTnLst>
                          </p:cTn>
                        </p:par>
                      </p:childTnLst>
                    </p:cTn>
                  </p:par>
                  <p:par>
                    <p:cTn id="18" fill="hold">
                      <p:stCondLst>
                        <p:cond delay="indefinite"/>
                      </p:stCondLst>
                      <p:childTnLst>
                        <p:par>
                          <p:cTn id="19" fill="hold">
                            <p:stCondLst>
                              <p:cond delay="0"/>
                            </p:stCondLst>
                            <p:childTnLst>
                              <p:par>
                                <p:cTn id="20" presetID="24" presetClass="entr" presetSubtype="0" fill="hold" grpId="0" nodeType="clickEffect">
                                  <p:stCondLst>
                                    <p:cond delay="0"/>
                                  </p:stCondLst>
                                  <p:childTnLst>
                                    <p:set>
                                      <p:cBhvr>
                                        <p:cTn id="21" dur="1" fill="hold">
                                          <p:stCondLst>
                                            <p:cond delay="499"/>
                                          </p:stCondLst>
                                        </p:cTn>
                                        <p:tgtEl>
                                          <p:spTgt spid="2615298">
                                            <p:txEl>
                                              <p:charRg st="78" end="105"/>
                                            </p:txEl>
                                          </p:spTgt>
                                        </p:tgtEl>
                                        <p:attrNameLst>
                                          <p:attrName>style.visibility</p:attrName>
                                        </p:attrNameLst>
                                      </p:cBhvr>
                                      <p:to>
                                        <p:strVal val="visible"/>
                                      </p:to>
                                    </p:set>
                                    <p:anim to="" calcmode="lin" valueType="num">
                                      <p:cBhvr>
                                        <p:cTn id="22" dur="1" fill="hold"/>
                                        <p:tgtEl>
                                          <p:spTgt spid="2615298">
                                            <p:txEl>
                                              <p:charRg st="78" end="105"/>
                                            </p:txEl>
                                          </p:spTgt>
                                        </p:tgtEl>
                                        <p:attrNameLst>
                                          <p:attrName>style.visibility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5298" grpId="0" uiExpand="1" build="p"/>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6322" name="矩形 2616321"/>
          <p:cNvSpPr/>
          <p:nvPr/>
        </p:nvSpPr>
        <p:spPr>
          <a:xfrm>
            <a:off x="647700" y="1628775"/>
            <a:ext cx="8064500" cy="3016250"/>
          </a:xfrm>
          <a:prstGeom prst="rect">
            <a:avLst/>
          </a:prstGeom>
          <a:noFill/>
          <a:ln w="9525">
            <a:noFill/>
          </a:ln>
        </p:spPr>
        <p:txBody>
          <a:bodyPr>
            <a:spAutoFit/>
          </a:bodyPr>
          <a:p>
            <a:pPr eaLnBrk="1" hangingPunct="1">
              <a:lnSpc>
                <a:spcPct val="100000"/>
              </a:lnSpc>
            </a:pPr>
            <a:r>
              <a:rPr lang="en-US" altLang="zh-CN" sz="3200" b="1" dirty="0">
                <a:solidFill>
                  <a:srgbClr val="3333FF"/>
                </a:solidFill>
                <a:effectLst>
                  <a:outerShdw blurRad="38100" dist="38100" dir="2700000">
                    <a:srgbClr val="C0C0C0"/>
                  </a:outerShdw>
                </a:effectLst>
                <a:latin typeface="楷体_GB2312" pitchFamily="49" charset="-122"/>
                <a:ea typeface="楷体_GB2312" pitchFamily="49" charset="-122"/>
              </a:rPr>
              <a:t>   </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有时对趋势项感兴趣，要提取趋势项；</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有时对交变分量感兴趣，要去除趋势项。</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00000"/>
              </a:lnSpc>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去除或提取采样数据的趋势项的方法有两种：平均斜率法和</a:t>
            </a:r>
            <a:r>
              <a:rPr lang="zh-CN" altLang="en-US" sz="3200" b="1" dirty="0">
                <a:solidFill>
                  <a:srgbClr val="FF0000"/>
                </a:solidFill>
                <a:effectLst>
                  <a:outerShdw blurRad="38100" dist="38100" dir="2700000">
                    <a:srgbClr val="C0C0C0"/>
                  </a:outerShdw>
                </a:effectLst>
                <a:latin typeface="楷体_GB2312" pitchFamily="49" charset="-122"/>
                <a:ea typeface="楷体_GB2312" pitchFamily="49" charset="-122"/>
              </a:rPr>
              <a:t>最小二乘法</a:t>
            </a: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。后者的处理精度高于前者。</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6324" name="文本框 2616323"/>
          <p:cNvSpPr txBox="1"/>
          <p:nvPr/>
        </p:nvSpPr>
        <p:spPr>
          <a:xfrm>
            <a:off x="827088" y="49213"/>
            <a:ext cx="7488237"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10.4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去除或提取采样数据趋势项</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16322">
                                            <p:txEl>
                                              <p:charRg st="0" end="21"/>
                                            </p:txEl>
                                          </p:spTgt>
                                        </p:tgtEl>
                                        <p:attrNameLst>
                                          <p:attrName>style.visibility</p:attrName>
                                        </p:attrNameLst>
                                      </p:cBhvr>
                                      <p:to>
                                        <p:strVal val="visible"/>
                                      </p:to>
                                    </p:set>
                                    <p:animEffect transition="in" filter="dissolve">
                                      <p:cBhvr>
                                        <p:cTn id="7" dur="500"/>
                                        <p:tgtEl>
                                          <p:spTgt spid="2616322">
                                            <p:txEl>
                                              <p:charRg st="0" end="2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616322">
                                            <p:txEl>
                                              <p:charRg st="21" end="43"/>
                                            </p:txEl>
                                          </p:spTgt>
                                        </p:tgtEl>
                                        <p:attrNameLst>
                                          <p:attrName>style.visibility</p:attrName>
                                        </p:attrNameLst>
                                      </p:cBhvr>
                                      <p:to>
                                        <p:strVal val="visible"/>
                                      </p:to>
                                    </p:set>
                                    <p:animEffect transition="in" filter="dissolve">
                                      <p:cBhvr>
                                        <p:cTn id="10" dur="500"/>
                                        <p:tgtEl>
                                          <p:spTgt spid="2616322">
                                            <p:txEl>
                                              <p:charRg st="21" end="4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616322">
                                            <p:txEl>
                                              <p:charRg st="44" end="91"/>
                                            </p:txEl>
                                          </p:spTgt>
                                        </p:tgtEl>
                                        <p:attrNameLst>
                                          <p:attrName>style.visibility</p:attrName>
                                        </p:attrNameLst>
                                      </p:cBhvr>
                                      <p:to>
                                        <p:strVal val="visible"/>
                                      </p:to>
                                    </p:set>
                                    <p:animEffect transition="in" filter="dissolve">
                                      <p:cBhvr>
                                        <p:cTn id="15" dur="500"/>
                                        <p:tgtEl>
                                          <p:spTgt spid="2616322">
                                            <p:txEl>
                                              <p:charRg st="44" end="9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7346" name="文本框 2617345"/>
          <p:cNvSpPr txBox="1"/>
          <p:nvPr/>
        </p:nvSpPr>
        <p:spPr>
          <a:xfrm>
            <a:off x="503238" y="1125538"/>
            <a:ext cx="8497887" cy="4381500"/>
          </a:xfrm>
          <a:prstGeom prst="rect">
            <a:avLst/>
          </a:prstGeom>
          <a:noFill/>
          <a:ln w="9525">
            <a:noFill/>
          </a:ln>
        </p:spPr>
        <p:txBody>
          <a:bodyPr lIns="0" tIns="0" rIns="0" bIns="0">
            <a:spAutoFit/>
          </a:bodyPr>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采样数据中往往叠加有噪声。</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噪声有两大类：周期性噪声和随机性噪声</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由于随机干扰的存在，使得用采样离散数据绘成的曲线呈现折线形状，很不光滑。表明采样数据中的高频成分比较丰富。为削弱干扰的影响，提高曲线的光滑度，常需要对采样数据进行平滑处理。</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7348" name="文本框 2617347"/>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10.5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采样数据的平滑处理</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499"/>
                                          </p:stCondLst>
                                        </p:cTn>
                                        <p:tgtEl>
                                          <p:spTgt spid="2617346">
                                            <p:txEl>
                                              <p:charRg st="0" end="17"/>
                                            </p:txEl>
                                          </p:spTgt>
                                        </p:tgtEl>
                                        <p:attrNameLst>
                                          <p:attrName>style.visibility</p:attrName>
                                        </p:attrNameLst>
                                      </p:cBhvr>
                                      <p:to>
                                        <p:strVal val="visible"/>
                                      </p:to>
                                    </p:set>
                                    <p:anim to="" calcmode="lin" valueType="num">
                                      <p:cBhvr>
                                        <p:cTn id="7" dur="1" fill="hold"/>
                                        <p:tgtEl>
                                          <p:spTgt spid="2617346">
                                            <p:txEl>
                                              <p:charRg st="0" end="17"/>
                                            </p:txEl>
                                          </p:spTgt>
                                        </p:tgtEl>
                                        <p:attrNameLst>
                                          <p:attrName>style.visibility</p:attrName>
                                        </p:attrNameLst>
                                      </p:cBhvr>
                                    </p:anim>
                                  </p:childTnLst>
                                </p:cTn>
                              </p:par>
                            </p:childTnLst>
                          </p:cTn>
                        </p:par>
                      </p:childTnLst>
                    </p:cTn>
                  </p:par>
                  <p:par>
                    <p:cTn id="8" fill="hold">
                      <p:stCondLst>
                        <p:cond delay="indefinite"/>
                      </p:stCondLst>
                      <p:childTnLst>
                        <p:par>
                          <p:cTn id="9" fill="hold">
                            <p:stCondLst>
                              <p:cond delay="0"/>
                            </p:stCondLst>
                            <p:childTnLst>
                              <p:par>
                                <p:cTn id="10" presetID="24" presetClass="entr" presetSubtype="0" fill="hold" grpId="0" nodeType="clickEffect">
                                  <p:stCondLst>
                                    <p:cond delay="0"/>
                                  </p:stCondLst>
                                  <p:childTnLst>
                                    <p:set>
                                      <p:cBhvr>
                                        <p:cTn id="11" dur="1" fill="hold">
                                          <p:stCondLst>
                                            <p:cond delay="499"/>
                                          </p:stCondLst>
                                        </p:cTn>
                                        <p:tgtEl>
                                          <p:spTgt spid="2617346">
                                            <p:txEl>
                                              <p:charRg st="17" end="40"/>
                                            </p:txEl>
                                          </p:spTgt>
                                        </p:tgtEl>
                                        <p:attrNameLst>
                                          <p:attrName>style.visibility</p:attrName>
                                        </p:attrNameLst>
                                      </p:cBhvr>
                                      <p:to>
                                        <p:strVal val="visible"/>
                                      </p:to>
                                    </p:set>
                                    <p:anim to="" calcmode="lin" valueType="num">
                                      <p:cBhvr>
                                        <p:cTn id="12" dur="1" fill="hold"/>
                                        <p:tgtEl>
                                          <p:spTgt spid="2617346">
                                            <p:txEl>
                                              <p:charRg st="17" end="40"/>
                                            </p:txEl>
                                          </p:spTgt>
                                        </p:tgtEl>
                                        <p:attrNameLst>
                                          <p:attrName>style.visibility</p:attrName>
                                        </p:attrNameLst>
                                      </p:cBhvr>
                                    </p:anim>
                                  </p:childTnLst>
                                </p:cTn>
                              </p:par>
                            </p:childTnLst>
                          </p:cTn>
                        </p:par>
                      </p:childTnLst>
                    </p:cTn>
                  </p:par>
                  <p:par>
                    <p:cTn id="13" fill="hold">
                      <p:stCondLst>
                        <p:cond delay="indefinite"/>
                      </p:stCondLst>
                      <p:childTnLst>
                        <p:par>
                          <p:cTn id="14" fill="hold">
                            <p:stCondLst>
                              <p:cond delay="0"/>
                            </p:stCondLst>
                            <p:childTnLst>
                              <p:par>
                                <p:cTn id="15" presetID="24" presetClass="entr" presetSubtype="0" fill="hold" grpId="0" nodeType="clickEffect">
                                  <p:stCondLst>
                                    <p:cond delay="0"/>
                                  </p:stCondLst>
                                  <p:childTnLst>
                                    <p:set>
                                      <p:cBhvr>
                                        <p:cTn id="16" dur="1" fill="hold">
                                          <p:stCondLst>
                                            <p:cond delay="499"/>
                                          </p:stCondLst>
                                        </p:cTn>
                                        <p:tgtEl>
                                          <p:spTgt spid="2617346">
                                            <p:txEl>
                                              <p:charRg st="40" end="131"/>
                                            </p:txEl>
                                          </p:spTgt>
                                        </p:tgtEl>
                                        <p:attrNameLst>
                                          <p:attrName>style.visibility</p:attrName>
                                        </p:attrNameLst>
                                      </p:cBhvr>
                                      <p:to>
                                        <p:strVal val="visible"/>
                                      </p:to>
                                    </p:set>
                                    <p:anim to="" calcmode="lin" valueType="num">
                                      <p:cBhvr>
                                        <p:cTn id="17" dur="1" fill="hold"/>
                                        <p:tgtEl>
                                          <p:spTgt spid="2617346">
                                            <p:txEl>
                                              <p:charRg st="40" end="131"/>
                                            </p:txEl>
                                          </p:spTgt>
                                        </p:tgtEl>
                                        <p:attrNameLst>
                                          <p:attrName>style.visibility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7346" grpId="0" uiExpand="1" build="p"/>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18370" name="矩形 2618369"/>
          <p:cNvSpPr/>
          <p:nvPr/>
        </p:nvSpPr>
        <p:spPr>
          <a:xfrm>
            <a:off x="611188" y="1341438"/>
            <a:ext cx="8064500" cy="3159125"/>
          </a:xfrm>
          <a:prstGeom prst="rect">
            <a:avLst/>
          </a:prstGeom>
          <a:noFill/>
          <a:ln w="9525">
            <a:noFill/>
          </a:ln>
        </p:spPr>
        <p:txBody>
          <a:bodyPr>
            <a:spAutoFit/>
          </a:bodyPr>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常用的平滑处理方法有：平均法、五点三次平滑法和样条函数法等。</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a:p>
            <a:pPr eaLnBrk="1" hangingPunct="1">
              <a:lnSpc>
                <a:spcPct val="120000"/>
              </a:lnSpc>
              <a:spcBef>
                <a:spcPct val="30000"/>
              </a:spcBef>
            </a:pPr>
            <a:r>
              <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rPr>
              <a:t>　  数据平滑处理的原则是：通过数据平滑处理，既要削弱干扰成分，又要保持原有曲线的变化特性。</a:t>
            </a:r>
            <a:endParaRPr lang="zh-CN" altLang="en-US" sz="3200" b="1" dirty="0">
              <a:solidFill>
                <a:srgbClr val="3333FF"/>
              </a:solidFill>
              <a:effectLst>
                <a:outerShdw blurRad="38100" dist="38100" dir="2700000">
                  <a:srgbClr val="C0C0C0"/>
                </a:outerShdw>
              </a:effectLst>
              <a:latin typeface="楷体_GB2312" pitchFamily="49" charset="-122"/>
              <a:ea typeface="楷体_GB2312" pitchFamily="49" charset="-122"/>
            </a:endParaRPr>
          </a:p>
        </p:txBody>
      </p:sp>
      <p:sp>
        <p:nvSpPr>
          <p:cNvPr id="2618372" name="文本框 2618371"/>
          <p:cNvSpPr txBox="1"/>
          <p:nvPr/>
        </p:nvSpPr>
        <p:spPr>
          <a:xfrm>
            <a:off x="1403350" y="49213"/>
            <a:ext cx="6911975" cy="641350"/>
          </a:xfrm>
          <a:prstGeom prst="rect">
            <a:avLst/>
          </a:prstGeom>
          <a:noFill/>
          <a:ln w="9525">
            <a:noFill/>
          </a:ln>
        </p:spPr>
        <p:txBody>
          <a:bodyPr>
            <a:spAutoFit/>
          </a:bodyPr>
          <a:p>
            <a:pPr eaLnBrk="1" hangingPunct="1">
              <a:lnSpc>
                <a:spcPct val="90000"/>
              </a:lnSpc>
            </a:pPr>
            <a:r>
              <a:rPr lang="en-US" altLang="zh-CN" sz="4000" b="1">
                <a:solidFill>
                  <a:srgbClr val="FF0000"/>
                </a:solidFill>
                <a:effectLst>
                  <a:outerShdw blurRad="38100" dist="38100" dir="2700000">
                    <a:srgbClr val="C0C0C0"/>
                  </a:outerShdw>
                </a:effectLst>
                <a:latin typeface="Times New Roman" panose="02020603050405020304" pitchFamily="18" charset="0"/>
                <a:ea typeface="楷体_GB2312" pitchFamily="49" charset="-122"/>
              </a:rPr>
              <a:t>10.5  </a:t>
            </a:r>
            <a:r>
              <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rPr>
              <a:t>采样数据的平滑处理</a:t>
            </a:r>
            <a:endParaRPr lang="zh-CN" altLang="en-US" sz="4000" b="1" dirty="0">
              <a:solidFill>
                <a:srgbClr val="FF0000"/>
              </a:solidFill>
              <a:effectLst>
                <a:outerShdw blurRad="38100" dist="38100" dir="2700000">
                  <a:srgbClr val="C0C0C0"/>
                </a:outerShdw>
              </a:effectLst>
              <a:latin typeface="Times New Roman" panose="02020603050405020304" pitchFamily="18" charset="0"/>
              <a:ea typeface="楷体_GB2312" pitchFamily="49" charset="-122"/>
            </a:endParaRPr>
          </a:p>
        </p:txBody>
      </p:sp>
    </p:spTree>
  </p:cSld>
  <p:clrMapOvr>
    <a:masterClrMapping/>
  </p:clrMapOvr>
  <p:transition spd="med">
    <p:strip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18370">
                                            <p:txEl>
                                              <p:charRg st="0" end="34"/>
                                            </p:txEl>
                                          </p:spTgt>
                                        </p:tgtEl>
                                        <p:attrNameLst>
                                          <p:attrName>style.visibility</p:attrName>
                                        </p:attrNameLst>
                                      </p:cBhvr>
                                      <p:to>
                                        <p:strVal val="visible"/>
                                      </p:to>
                                    </p:set>
                                    <p:animEffect transition="in" filter="dissolve">
                                      <p:cBhvr>
                                        <p:cTn id="7" dur="500"/>
                                        <p:tgtEl>
                                          <p:spTgt spid="2618370">
                                            <p:txEl>
                                              <p:charRg st="0" end="34"/>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18370">
                                            <p:txEl>
                                              <p:charRg st="34" end="81"/>
                                            </p:txEl>
                                          </p:spTgt>
                                        </p:tgtEl>
                                        <p:attrNameLst>
                                          <p:attrName>style.visibility</p:attrName>
                                        </p:attrNameLst>
                                      </p:cBhvr>
                                      <p:to>
                                        <p:strVal val="visible"/>
                                      </p:to>
                                    </p:set>
                                    <p:animEffect transition="in" filter="dissolve">
                                      <p:cBhvr>
                                        <p:cTn id="12" dur="500"/>
                                        <p:tgtEl>
                                          <p:spTgt spid="2618370">
                                            <p:txEl>
                                              <p:charRg st="34" end="8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默认设计模板">
  <a:themeElements>
    <a:clrScheme name="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none" lIns="91440" tIns="45720" rIns="91440" bIns="45720" numCol="1" anchor="ctr" anchorCtr="0" compatLnSpc="1">
        <a:spAutoFit/>
      </a:bodyPr>
      <a:lstStyle>
        <a:defPPr marL="0" marR="0" indent="0" algn="ctr" defTabSz="914400" rtl="0" eaLnBrk="1" fontAlgn="base" latinLnBrk="0" hangingPunct="1">
          <a:lnSpc>
            <a:spcPct val="90000"/>
          </a:lnSpc>
          <a:spcBef>
            <a:spcPct val="0"/>
          </a:spcBef>
          <a:spcAft>
            <a:spcPct val="0"/>
          </a:spcAft>
          <a:buClrTx/>
          <a:buSzTx/>
          <a:buFontTx/>
          <a:buNone/>
          <a:defRPr kumimoji="1" lang="zh-CN" altLang="en-US" sz="3600" b="0" i="0" u="none" strike="noStrike" cap="none" normalizeH="0" baseline="0" smtClean="0">
            <a:ln>
              <a:noFill/>
            </a:ln>
            <a:solidFill>
              <a:srgbClr val="333399"/>
            </a:solidFill>
            <a:effectLst/>
            <a:latin typeface="Times New Roman" panose="02020603050405020304" pitchFamily="18" charset="0"/>
            <a:ea typeface="楷体_GB2312" pitchFamily="49" charset="-122"/>
          </a:defRPr>
        </a:defPPr>
      </a:lstStyle>
    </a:spDef>
    <a:lnDef>
      <a:spPr bwMode="auto">
        <a:xfrm>
          <a:off x="0" y="0"/>
          <a:ext cx="1" cy="1"/>
        </a:xfrm>
        <a:custGeom>
          <a:avLst/>
          <a:gdLst/>
          <a:ahLst/>
          <a:cxnLst/>
          <a:rect l="0" t="0" r="0" b="0"/>
          <a:pathLst/>
        </a:custGeom>
        <a:noFill/>
        <a:ln>
          <a:noFill/>
        </a:ln>
      </a:spPr>
      <a:bodyPr vert="horz" wrap="none" lIns="91440" tIns="45720" rIns="91440" bIns="45720" numCol="1" anchor="ctr" anchorCtr="0" compatLnSpc="1">
        <a:spAutoFit/>
      </a:bodyPr>
      <a:lstStyle>
        <a:defPPr marL="0" marR="0" indent="0" algn="ctr" defTabSz="914400" rtl="0" eaLnBrk="1" fontAlgn="base" latinLnBrk="0" hangingPunct="1">
          <a:lnSpc>
            <a:spcPct val="90000"/>
          </a:lnSpc>
          <a:spcBef>
            <a:spcPct val="0"/>
          </a:spcBef>
          <a:spcAft>
            <a:spcPct val="0"/>
          </a:spcAft>
          <a:buClrTx/>
          <a:buSzTx/>
          <a:buFontTx/>
          <a:buNone/>
          <a:defRPr kumimoji="1" lang="zh-CN" altLang="en-US" sz="3600" b="0" i="0" u="none" strike="noStrike" cap="none" normalizeH="0" baseline="0" smtClean="0">
            <a:ln>
              <a:noFill/>
            </a:ln>
            <a:solidFill>
              <a:srgbClr val="333399"/>
            </a:solidFill>
            <a:effectLst/>
            <a:latin typeface="Times New Roman" panose="02020603050405020304" pitchFamily="18" charset="0"/>
            <a:ea typeface="楷体_GB2312" pitchFamily="49" charset="-122"/>
          </a:defRPr>
        </a:defPPr>
      </a:lstStyle>
    </a:lnDef>
  </a:objectDefaults>
  <a:extraClrSchemeLst>
    <a:extraClrScheme>
      <a:clrScheme name="默认设计模板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默认设计模板">
  <a:themeElements>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raClrSchemeLst>
    <a:extraClrScheme>
      <a:clrScheme name="1_默认设计模板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默认设计模板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默认设计模板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默认设计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默认设计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默认设计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默认设计模板">
  <a:themeElements>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rgbClr val="FF6600"/>
          </a:solidFill>
          <a:prstDash val="solid"/>
          <a:round/>
          <a:headEnd type="none" w="med" len="med"/>
          <a:tailEnd type="none" w="med" len="med"/>
        </a:ln>
        <a:effectLst>
          <a:outerShdw dist="107763" dir="13500000" algn="ctr" rotWithShape="0">
            <a:schemeClr val="bg2"/>
          </a:outerShdw>
        </a:effectLst>
      </a:spPr>
      <a:bodyPr vert="horz" wrap="non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1" lang="zh-CN" altLang="en-US" sz="3600" b="1" i="0" u="none" strike="noStrike" cap="none" normalizeH="0" baseline="0" smtClean="0">
            <a:ln>
              <a:noFill/>
            </a:ln>
            <a:solidFill>
              <a:srgbClr val="333399"/>
            </a:solidFill>
            <a:effectLst/>
            <a:latin typeface="楷体_GB2312" pitchFamily="49" charset="-122"/>
            <a:ea typeface="楷体_GB2312" pitchFamily="49" charset="-122"/>
          </a:defRPr>
        </a:defPPr>
      </a:lstStyle>
    </a:spDef>
    <a:lnDef>
      <a:spPr bwMode="auto">
        <a:xfrm>
          <a:off x="0" y="0"/>
          <a:ext cx="1" cy="1"/>
        </a:xfrm>
        <a:custGeom>
          <a:avLst/>
          <a:gdLst/>
          <a:ahLst/>
          <a:cxnLst/>
          <a:rect l="0" t="0" r="0" b="0"/>
          <a:pathLst/>
        </a:custGeom>
        <a:noFill/>
        <a:ln w="9525" cap="flat" cmpd="sng" algn="ctr">
          <a:solidFill>
            <a:srgbClr val="FF6600"/>
          </a:solidFill>
          <a:prstDash val="solid"/>
          <a:round/>
          <a:headEnd type="none" w="med" len="med"/>
          <a:tailEnd type="none" w="med" len="med"/>
        </a:ln>
        <a:effectLst>
          <a:outerShdw dist="107763" dir="13500000" algn="ctr" rotWithShape="0">
            <a:schemeClr val="bg2"/>
          </a:outerShdw>
        </a:effectLst>
      </a:spPr>
      <a:bodyPr vert="horz" wrap="non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1" lang="zh-CN" altLang="en-US" sz="3600" b="1" i="0" u="none" strike="noStrike" cap="none" normalizeH="0" baseline="0" smtClean="0">
            <a:ln>
              <a:noFill/>
            </a:ln>
            <a:solidFill>
              <a:srgbClr val="333399"/>
            </a:solidFill>
            <a:effectLst/>
            <a:latin typeface="楷体_GB2312" pitchFamily="49" charset="-122"/>
            <a:ea typeface="楷体_GB2312" pitchFamily="49" charset="-122"/>
          </a:defRPr>
        </a:defPPr>
      </a:lstStyle>
    </a:lnDef>
  </a:objectDefaults>
  <a:extraClrSchemeLst>
    <a:extraClrScheme>
      <a:clrScheme name="1_默认设计模板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默认设计模板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默认设计模板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默认设计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默认设计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默认设计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默认设计模板">
  <a:themeElements>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a:noFill/>
        </a:ln>
      </a:spPr>
      <a:bodyPr vert="horz" wrap="square" lIns="91440" tIns="45720" rIns="91440" bIns="45720" numCol="1" anchor="t" anchorCtr="0" compatLnSpc="1"/>
      <a:lstStyle>
        <a:defPPr marL="0" marR="0" indent="0" algn="l" defTabSz="914400" rtl="0" eaLnBrk="1" fontAlgn="base" latinLnBrk="0" hangingPunct="1">
          <a:lnSpc>
            <a:spcPct val="90000"/>
          </a:lnSpc>
          <a:spcBef>
            <a:spcPct val="0"/>
          </a:spcBef>
          <a:spcAft>
            <a:spcPct val="0"/>
          </a:spcAft>
          <a:buClrTx/>
          <a:buSzTx/>
          <a:buFontTx/>
          <a:buNone/>
          <a:defRPr kumimoji="1" lang="zh-CN" altLang="en-US" sz="2000" b="1" i="0" u="none" strike="noStrike" cap="none" normalizeH="0" baseline="0" smtClean="0">
            <a:ln>
              <a:noFill/>
            </a:ln>
            <a:solidFill>
              <a:srgbClr val="333399"/>
            </a:solidFill>
            <a:effectLst/>
            <a:latin typeface="Times New Roman" panose="02020603050405020304" pitchFamily="18" charset="0"/>
            <a:ea typeface="楷体_GB2312" pitchFamily="49" charset="-122"/>
          </a:defRPr>
        </a:defPPr>
      </a:lstStyle>
    </a:spDef>
    <a:lnDef>
      <a:spPr bwMode="auto">
        <a:xfrm>
          <a:off x="0" y="0"/>
          <a:ext cx="1" cy="1"/>
        </a:xfrm>
        <a:custGeom>
          <a:avLst/>
          <a:gdLst/>
          <a:ahLst/>
          <a:cxnLst/>
          <a:rect l="0" t="0" r="0" b="0"/>
          <a:pathLst/>
        </a:custGeom>
        <a:solidFill>
          <a:schemeClr val="accent1"/>
        </a:solidFill>
        <a:ln>
          <a:noFill/>
        </a:ln>
      </a:spPr>
      <a:bodyPr vert="horz" wrap="square" lIns="91440" tIns="45720" rIns="91440" bIns="45720" numCol="1" anchor="t" anchorCtr="0" compatLnSpc="1"/>
      <a:lstStyle>
        <a:defPPr marL="0" marR="0" indent="0" algn="l" defTabSz="914400" rtl="0" eaLnBrk="1" fontAlgn="base" latinLnBrk="0" hangingPunct="1">
          <a:lnSpc>
            <a:spcPct val="90000"/>
          </a:lnSpc>
          <a:spcBef>
            <a:spcPct val="0"/>
          </a:spcBef>
          <a:spcAft>
            <a:spcPct val="0"/>
          </a:spcAft>
          <a:buClrTx/>
          <a:buSzTx/>
          <a:buFontTx/>
          <a:buNone/>
          <a:defRPr kumimoji="1" lang="zh-CN" altLang="en-US" sz="2000" b="1" i="0" u="none" strike="noStrike" cap="none" normalizeH="0" baseline="0" smtClean="0">
            <a:ln>
              <a:noFill/>
            </a:ln>
            <a:solidFill>
              <a:srgbClr val="333399"/>
            </a:solidFill>
            <a:effectLst/>
            <a:latin typeface="Times New Roman" panose="02020603050405020304" pitchFamily="18" charset="0"/>
            <a:ea typeface="楷体_GB2312" pitchFamily="49" charset="-122"/>
          </a:defRPr>
        </a:defPPr>
      </a:lstStyle>
    </a:lnDef>
  </a:objectDefaults>
  <a:extraClrSchemeLst>
    <a:extraClrScheme>
      <a:clrScheme name="1_默认设计模板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默认设计模板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默认设计模板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默认设计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默认设计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默认设计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默认设计模板">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7"/>
      </a:accent6>
      <a:hlink>
        <a:srgbClr val="CCCCFF"/>
      </a:hlink>
      <a:folHlink>
        <a:srgbClr val="B2B2B2"/>
      </a:folHlink>
    </a:clrScheme>
    <a:fontScheme name="">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raClrSchemeLst>
    <a:extraClrScheme>
      <a:clrScheme name="">
        <a:dk1>
          <a:srgbClr val="FFFFFF"/>
        </a:dk1>
        <a:lt1>
          <a:srgbClr val="0000FF"/>
        </a:lt1>
        <a:dk2>
          <a:srgbClr val="FFFF00"/>
        </a:dk2>
        <a:lt2>
          <a:srgbClr val="000000"/>
        </a:lt2>
        <a:accent1>
          <a:srgbClr val="FF9900"/>
        </a:accent1>
        <a:accent2>
          <a:srgbClr val="00FFFF"/>
        </a:accent2>
        <a:accent3>
          <a:srgbClr val="AAAAFF"/>
        </a:accent3>
        <a:accent4>
          <a:srgbClr val="DCDCDC"/>
        </a:accent4>
        <a:accent5>
          <a:srgbClr val="FFCAAA"/>
        </a:accent5>
        <a:accent6>
          <a:srgbClr val="00E5E5"/>
        </a:accent6>
        <a:hlink>
          <a:srgbClr val="FF0000"/>
        </a:hlink>
        <a:folHlink>
          <a:srgbClr val="969696"/>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7"/>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27272"/>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2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9"/>
        </a:accent5>
        <a:accent6>
          <a:srgbClr val="0000E5"/>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BE5"/>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9E5B7"/>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91151</Words>
  <Application>WPS 演示</Application>
  <PresentationFormat>全屏显示(4:3)</PresentationFormat>
  <Paragraphs>14869</Paragraphs>
  <Slides>530</Slides>
  <Notes>2</Notes>
  <HiddenSlides>0</HiddenSlides>
  <MMClips>0</MMClips>
  <ScaleCrop>false</ScaleCrop>
  <HeadingPairs>
    <vt:vector size="8" baseType="variant">
      <vt:variant>
        <vt:lpstr>已用的字体</vt:lpstr>
      </vt:variant>
      <vt:variant>
        <vt:i4>33</vt:i4>
      </vt:variant>
      <vt:variant>
        <vt:lpstr>主题</vt:lpstr>
      </vt:variant>
      <vt:variant>
        <vt:i4>5</vt:i4>
      </vt:variant>
      <vt:variant>
        <vt:lpstr>嵌入 OLE 服务器</vt:lpstr>
      </vt:variant>
      <vt:variant>
        <vt:i4>310</vt:i4>
      </vt:variant>
      <vt:variant>
        <vt:lpstr>幻灯片标题</vt:lpstr>
      </vt:variant>
      <vt:variant>
        <vt:i4>530</vt:i4>
      </vt:variant>
    </vt:vector>
  </HeadingPairs>
  <TitlesOfParts>
    <vt:vector size="878" baseType="lpstr">
      <vt:lpstr>Arial</vt:lpstr>
      <vt:lpstr>宋体</vt:lpstr>
      <vt:lpstr>Wingdings</vt:lpstr>
      <vt:lpstr>Times New Roman</vt:lpstr>
      <vt:lpstr>楷体_GB2312</vt:lpstr>
      <vt:lpstr>新宋体</vt:lpstr>
      <vt:lpstr>华文新魏</vt:lpstr>
      <vt:lpstr>黑体</vt:lpstr>
      <vt:lpstr>Arial Black</vt:lpstr>
      <vt:lpstr>Gulim</vt:lpstr>
      <vt:lpstr>Malgun Gothic</vt:lpstr>
      <vt:lpstr>Symbol</vt:lpstr>
      <vt:lpstr>微软雅黑</vt:lpstr>
      <vt:lpstr>Arial Unicode MS</vt:lpstr>
      <vt:lpstr>Times New Roman</vt:lpstr>
      <vt:lpstr>굴림</vt:lpstr>
      <vt:lpstr>Symbol</vt:lpstr>
      <vt:lpstr>Wingdings</vt:lpstr>
      <vt:lpstr>楷体_GB2312</vt:lpstr>
      <vt:lpstr>굴림</vt:lpstr>
      <vt:lpstr>KSOF3FB35F8F</vt:lpstr>
      <vt:lpstr>方正楷体_GB2312</vt:lpstr>
      <vt:lpstr>KSOFD1D2A08D</vt:lpstr>
      <vt:lpstr>Arial Unicode MS</vt:lpstr>
      <vt:lpstr>Fixedsys</vt:lpstr>
      <vt:lpstr>Verdana</vt:lpstr>
      <vt:lpstr>KSOF3FA5480E</vt:lpstr>
      <vt:lpstr>MS PGothic</vt:lpstr>
      <vt:lpstr>Adobe 黑体 Std R</vt:lpstr>
      <vt:lpstr>KSOFAA5B1E64</vt:lpstr>
      <vt:lpstr>KSOFAA5B92C3</vt:lpstr>
      <vt:lpstr>华文中宋</vt:lpstr>
      <vt:lpstr>Monotype Sorts</vt:lpstr>
      <vt:lpstr>默认设计模板</vt:lpstr>
      <vt:lpstr>1_默认设计模板</vt:lpstr>
      <vt:lpstr>2_默认设计模板</vt:lpstr>
      <vt:lpstr>3_默认设计模板</vt:lpstr>
      <vt:lpstr>4_默认设计模板</vt:lpstr>
      <vt:lpstr>Visio.Drawing.11</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Visio.Drawing.11</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Equation.3</vt:lpstr>
      <vt:lpstr>Equation.3</vt:lpstr>
      <vt:lpstr>Equation.3</vt:lpstr>
      <vt:lpstr>Equation.3</vt:lpstr>
      <vt:lpstr>Visio.Drawing.11</vt:lpstr>
      <vt:lpstr>Equation.3</vt:lpstr>
      <vt:lpstr>Equation.3</vt:lpstr>
      <vt:lpstr>Visio.Drawing.11</vt:lpstr>
      <vt:lpstr>Equation.3</vt:lpstr>
      <vt:lpstr>Equation.DSMT4</vt:lpstr>
      <vt:lpstr>Equation.3</vt:lpstr>
      <vt:lpstr>Equation.3</vt:lpstr>
      <vt:lpstr>Visio.Drawing.11</vt:lpstr>
      <vt:lpstr>Equation.3</vt:lpstr>
      <vt:lpstr>Equation.3</vt:lpstr>
      <vt:lpstr>Equation.3</vt:lpstr>
      <vt:lpstr>Visio.Drawing.11</vt:lpstr>
      <vt:lpstr>Equation.3</vt:lpstr>
      <vt:lpstr>Visio.Drawing.11</vt:lpstr>
      <vt:lpstr>Equation.3</vt:lpstr>
      <vt:lpstr>Equation.DSMT4</vt:lpstr>
      <vt:lpstr>Visio.Drawing.11</vt:lpstr>
      <vt:lpstr>Equation.3</vt:lpstr>
      <vt:lpstr>Equation.3</vt:lpstr>
      <vt:lpstr>Equation.3</vt:lpstr>
      <vt:lpstr>Equation.3</vt:lpstr>
      <vt:lpstr>Equation.3</vt:lpstr>
      <vt:lpstr>Equation.3</vt:lpstr>
      <vt:lpstr>Equation.3</vt:lpstr>
      <vt:lpstr>Equation.3</vt:lpstr>
      <vt:lpstr>Equation.DSMT4</vt:lpstr>
      <vt:lpstr>Equation.3</vt:lpstr>
      <vt:lpstr>Equation.DSMT4</vt:lpstr>
      <vt:lpstr>Equation.DSMT4</vt:lpstr>
      <vt:lpstr>Equation.3</vt:lpstr>
      <vt:lpstr>Equation.3</vt:lpstr>
      <vt:lpstr>Equation.3</vt:lpstr>
      <vt:lpstr>Equation.3</vt:lpstr>
      <vt:lpstr>Equation.3</vt:lpstr>
      <vt:lpstr>Equation.3</vt:lpstr>
      <vt:lpstr>Equation.3</vt:lpstr>
      <vt:lpstr>Equation.3</vt:lpstr>
      <vt:lpstr>Equation.DSMT4</vt:lpstr>
      <vt:lpstr>Equation.DSMT4</vt:lpstr>
      <vt:lpstr>Equation.3</vt:lpstr>
      <vt:lpstr>Equation.3</vt:lpstr>
      <vt:lpstr>Equation.DSMT4</vt:lpstr>
      <vt:lpstr>Equation.3</vt:lpstr>
      <vt:lpstr>Equation.3</vt:lpstr>
      <vt:lpstr>Equation.3</vt:lpstr>
      <vt:lpstr>Equation.3</vt:lpstr>
      <vt:lpstr>Equation.3</vt:lpstr>
      <vt:lpstr>Equation.3</vt:lpstr>
      <vt:lpstr>Equation.DSMT4</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Visio.Drawing.11</vt:lpstr>
      <vt:lpstr>Equation.DSMT4</vt:lpstr>
      <vt:lpstr>Equation.3</vt:lpstr>
      <vt:lpstr>Equation.DSMT4</vt:lpstr>
      <vt:lpstr>Equation.DSMT4</vt:lpstr>
      <vt:lpstr>Equation.3</vt:lpstr>
      <vt:lpstr>Equation.3</vt:lpstr>
      <vt:lpstr>Equation.DSMT4</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Equation.3</vt:lpstr>
      <vt:lpstr>MSDraw</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Equation.DSMT4</vt:lpstr>
      <vt:lpstr>Equation.DSMT4</vt:lpstr>
      <vt:lpstr>Equation.DSMT4</vt:lpstr>
      <vt:lpstr>Visio.Drawing.11</vt:lpstr>
      <vt:lpstr>Equation.DSMT4</vt:lpstr>
      <vt:lpstr>Equation.DSMT4</vt:lpstr>
      <vt:lpstr>Equation.DSMT4</vt:lpstr>
      <vt:lpstr>Word.Picture.8</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MSDraw</vt:lpstr>
      <vt:lpstr>Equation.DSMT4</vt:lpstr>
      <vt:lpstr>Equation.DSMT4</vt:lpstr>
      <vt:lpstr>Equation.DSMT4</vt:lpstr>
      <vt:lpstr>Equation.DSMT4</vt:lpstr>
      <vt:lpstr>Equation.DSMT4</vt:lpstr>
      <vt:lpstr>Equation.DSMT4</vt:lpstr>
      <vt:lpstr>Equation.DSMT4</vt:lpstr>
      <vt:lpstr>Equation.DSMT4</vt:lpstr>
      <vt:lpstr>Visio.Drawing.11</vt:lpstr>
      <vt:lpstr>Equation.DSMT4</vt:lpstr>
      <vt:lpstr>MSDraw</vt:lpstr>
      <vt:lpstr>Equation.DSMT4</vt:lpstr>
      <vt:lpstr>Visio.Drawing.11</vt:lpstr>
      <vt:lpstr>Equation.DSMT4</vt:lpstr>
      <vt:lpstr>Equation.DSMT4</vt:lpstr>
      <vt:lpstr>Equation.DSMT4</vt:lpstr>
      <vt:lpstr>Equation.DSMT4</vt:lpstr>
      <vt:lpstr>Equation.DSMT4</vt:lpstr>
      <vt:lpstr>Equation.DSMT4</vt:lpstr>
      <vt:lpstr>Equation.DSMT4</vt:lpstr>
      <vt:lpstr>Equation.DSMT4</vt:lpstr>
      <vt:lpstr>Equation.3</vt:lpstr>
      <vt:lpstr>Equation.DSMT4</vt:lpstr>
      <vt:lpstr>Equation.DSMT4</vt:lpstr>
      <vt:lpstr>Equation.DSMT4</vt:lpstr>
      <vt:lpstr>Equation.DSMT4</vt:lpstr>
      <vt:lpstr>Equation.DSMT4</vt:lpstr>
      <vt:lpstr>Equation.DSMT4</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Equation.3</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
  <cp:lastModifiedBy>fz</cp:lastModifiedBy>
  <cp:revision>787</cp:revision>
  <dcterms:created xsi:type="dcterms:W3CDTF">2001-06-18T05:13:16Z</dcterms:created>
  <dcterms:modified xsi:type="dcterms:W3CDTF">2026-06-15T10:28:15Z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2052-12.1.0.26895</vt:lpwstr>
  </property>
  <property fmtid="{D5CDD505-2E9C-101B-9397-08002B2CF9AE}" pid="3" name="ICV">
    <vt:lpwstr>D5143E77FD254DEBBFEBD5AFE60A6FDB_13</vt:lpwstr>
  </property>
</Properties>
</file>